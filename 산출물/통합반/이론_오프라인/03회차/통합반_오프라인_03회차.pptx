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제목 → 부제 → 아이콘 셋(절차 · 결정표 · 비교)</a:t>
            </a:r>
          </a:p>
          <a:p>
            <a:r>
              <a:t>· 앞서 SOP를 설비 모델에 이었다 → 오늘은 그 조건으로 「지금 이 조치를 해도 되나」와 「어느 쪽이 나은가」를 판정</a:t>
            </a:r>
          </a:p>
          <a:p>
            <a:r>
              <a:t>· 오늘의 흐름: 이론 → 조건표와 What-if → 판정 기능 구현 → 성과 비교와 경계 · 누락 검증</a:t>
            </a:r>
          </a:p>
          <a:p>
            <a:r>
              <a:t>[다음] 학습목표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 → 넷째 카드 강조</a:t>
            </a:r>
          </a:p>
          <a:p>
            <a:r>
              <a:t>· 1 SOP와 DMN: 「팬 속도를 100 %로」는 값 없이 읽히지만 「원격 자동일 때만」은 지금 모드를 알아야 참 · 거짓이 난다</a:t>
            </a:r>
          </a:p>
          <a:p>
            <a:r>
              <a:t>· 2 조건과 출력: 「넘으면」과 「이상이면」은 기준값에서 갈린다</a:t>
            </a:r>
          </a:p>
          <a:p>
            <a:r>
              <a:t>· 3 여러 규칙과 모르는 값: 제외 · 감점 · 경고가 함께 맞으면 모두 남기고, 못 읽은 값은 0이나 통과로 채우지 않는다</a:t>
            </a:r>
          </a:p>
          <a:p>
            <a:r>
              <a:t>· 4 성과 비교: 해도 되는지 가린 뒤에야 더 나은 쪽을 견준다 — 섞으면 위험한 조치가 뽑힌다</a:t>
            </a:r>
          </a:p>
          <a:p>
            <a:r>
              <a:t>[다음] 목차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네 줄 위에서 아래로</a:t>
            </a:r>
          </a:p>
          <a:p>
            <a:r>
              <a:t>· 01 같은 조치도 운전 모드에 따라 쓸 수 없다 → 그 조건을 표로</a:t>
            </a:r>
          </a:p>
          <a:p>
            <a:r>
              <a:t>· 02 조건 한 줄을 적는 법과 출력의 종류</a:t>
            </a:r>
          </a:p>
          <a:p>
            <a:r>
              <a:t>· 03 여러 행이 함께 맞을 때, 값을 못 읽었을 때, 근거를 남길 때</a:t>
            </a:r>
          </a:p>
          <a:p>
            <a:r>
              <a:t>· 04 남은 후보끼리 득실을 견주고 가정값으로 다시 계산</a:t>
            </a:r>
          </a:p>
          <a:p>
            <a:r>
              <a:t>[다음] 순서는 SOP, 판정은 결정표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앞서 설비 모델에 이은 팬 최대 운전 절차 — 언제나 쓸 수 있나</a:t>
            </a:r>
          </a:p>
          <a:p>
            <a:r>
              <a:t>· 운전 모드에 따라 후보가 빠지는 예 → SOP와 DMN의 몫 → 판단에 쓰는 값과 결정표의 구조</a:t>
            </a:r>
          </a:p>
          <a:p>
            <a:r>
              <a:t>[다음] 운전 모드에 따른 원격 조치의 가능 여부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세로 세 칸(원격 자동 · 원격 수동 · 현장 제어)과 그 아래 조작 주체 → 왼쪽 원격 제어 후보 줄 → 맨 아래 정비 작업지시 후보 줄, 체크와 가위표</a:t>
            </a:r>
          </a:p>
          <a:p>
            <a:r>
              <a:t>· 운전 모드 = 설비가 누구의 조작을 받을지 정하는 PLC의 상태</a:t>
            </a:r>
          </a:p>
          <a:p>
            <a:r>
              <a:t>· 원격 자동: 상위 시스템(승인된 조치를 명령으로 내리는 위쪽 계층)의 명령을 받는다. 쿨러 사건 당시 → 원격 제어 후보 셋이 남는다</a:t>
            </a:r>
          </a:p>
          <a:p>
            <a:r>
              <a:t>· 원격 수동(운전원이 운전 화면에서 직접 조작) · 현장 제어(현장 패널): 자동 추천의 명령이 끼어들면 예상 못 한 방향으로 움직일 수 있어 원격 제어 후보를 뺀다</a:t>
            </a:r>
          </a:p>
          <a:p>
            <a:r>
              <a:t>· 셋째 후보도 빠진다: 이름에 야간 핀 세척이 붙어도 지금 부하를 낮추는 동작이 있다 → 이름이 아니라 바꾸는 설정을 본다</a:t>
            </a:r>
          </a:p>
          <a:p>
            <a:r>
              <a:t>· 정비 작업지시 등록은 세 모드 모두 남는다. 등록과 세척 시작은 다르다 → 실제 세척은 정지 · 잠금 뒤</a:t>
            </a:r>
          </a:p>
          <a:p>
            <a:r>
              <a:t>· 규칙과 PLC 검사는 자리가 다르다: 규칙은 쓸 수 없는 후보를 추천 단계에서 미리 빼 사람이 그런 안을 놓고 고민 · 승인하지 않게, PLC는 잘못 내려온 명령을 설비 바로 앞에서 막는 마지막 보호 → 한쪽이 있다고 다른 쪽을 빼지 않는다</a:t>
            </a:r>
          </a:p>
          <a:p>
            <a:r>
              <a:t>[다음] SOP와 DMN의 차이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SOP → 오른쪽 강조한 DMN의 원문 → 옮긴 조건 → 두 칸의 마지막 줄</a:t>
            </a:r>
          </a:p>
          <a:p>
            <a:r>
              <a:t>· 조건이 여러 절에 문장으로 흩어져 있으면: 급할 때 놓치고, 「24시간을 넘겼다면」이 정확히 24시간을 포함하는지 사람마다 다르고, 무엇을 확인했는지 남지 않는다</a:t>
            </a:r>
          </a:p>
          <a:p>
            <a:r>
              <a:t>· SOP는 어떻게 작업하나(순서), DMN = 업무 의사결정을 정의하는 표준(국제 표준 단체 OMG). 결정표로 어떤 입력 조건에 어떤 답을 낼지 표로</a:t>
            </a:r>
          </a:p>
          <a:p>
            <a:r>
              <a:t>· 「원격 자동이 아닐 때 원격 조치를 쓰지 않는다」 → 비교할 것 운전 모드, 기준 원격 자동, 다르면 제외(출력 = 조건이 맞을 때 내는 답). 원격 자동이면 안 맞고, 수동이면 맞는다</a:t>
            </a:r>
          </a:p>
          <a:p>
            <a:r>
              <a:t>· 조건은 판단 시점의 값과 견주어야 참 · 거짓이 정해진다. 순서 문장은 값 없이 읽힌다</a:t>
            </a:r>
          </a:p>
          <a:p>
            <a:r>
              <a:t>· 서로를 대신하지 않는다: 절차에도 모드 확인 단계가 남는다. 쿨러 사건에서도 승인 순간 시스템이 모드 · 상태를 다시 읽어 원격 자동 · 운전 중을 확인한 뒤 명령을 보냈다</a:t>
            </a:r>
          </a:p>
          <a:p>
            <a:r>
              <a:t>[다음] 입력 데이터(InputData)와 값의 출처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네 줄: 운전 모드 → 강조한 팬 100 % 연속 운전 시간 → 조치 후 예측 유온 → 긴급 오더 남은 시간, 줄마다 출처와 쿨러 사건 값</a:t>
            </a:r>
          </a:p>
          <a:p>
            <a:r>
              <a:t>· 입력 데이터 = 판단에 필요한 값의 항목. 결정표가 아는 건 이름과 기준뿐, 값은 판단 순간 정해진 출처에서 → 같은 표로 매번 다른 상황 판정</a:t>
            </a:r>
          </a:p>
          <a:p>
            <a:r>
              <a:t>· 운전 모드: PLC 현재 상태(쿨러 사건 원격 자동)</a:t>
            </a:r>
          </a:p>
          <a:p>
            <a:r>
              <a:t>· 팬 최대 연속 운전 시간: 지금 팬 속도로는 모르고 운전 이력을 거슬러 계산(99 % 이상으로 이어서 돈 시간). 지금 최대로 돈다 ≠ 하루 넘게 계속 돌았다. 기준은 24 h 초과</a:t>
            </a:r>
          </a:p>
          <a:p>
            <a:r>
              <a:t>· 예측 유온: 관측값이 아니라 후보마다 계산한 값(팬 최대 운전 49.8 ℃, 기준 55 ℃보다 5도쯤 낮음)</a:t>
            </a:r>
          </a:p>
          <a:p>
            <a:r>
              <a:t>· 긴급 오더 남은 시간: 생산 오더에서, 쿨러 사건 5.98 h(여섯 시간이 채 안 됨). 운전 조건엔 걸릴 게 없었지만 납기가 가깝다는 업무 조건이 함께</a:t>
            </a:r>
          </a:p>
          <a:p>
            <a:r>
              <a:t>· 출처를 적으면 예측 자리에 현재 온도를 넣는 실수가 준다. 쿨러 사건의 0 h는 팬이 60 %라 계산된 값 — 기록을 얻지 못한 경우(미확인)와 다르다</a:t>
            </a:r>
          </a:p>
          <a:p>
            <a:r>
              <a:t>[다음] 결정(Decision) · 결정표(DecisionTable) · 규칙(Rule)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맨 위 결정(물음) → 규칙 두 행과 적용 절차 → 아래 입력(원격 자동 · 30 h)과 결과 → 오른쪽 넷째 점</a:t>
            </a:r>
          </a:p>
          <a:p>
            <a:r>
              <a:t>· 결정 = 답할 물음(후보 가운데 규정상 쓸 수 없거나 감점할 것은?) → 규정 적합성</a:t>
            </a:r>
          </a:p>
          <a:p>
            <a:r>
              <a:t>· 결정표 = 그 물음에 답하는 규칙 모음, 규칙 = 표의 한 행(조건 → 출력). 행마다 걸리는 절차가 적힌다(첫 행은 원격 제어 셋, 둘째 행은 팬을 올리는 둘)</a:t>
            </a:r>
          </a:p>
          <a:p>
            <a:r>
              <a:t>· 입력(가정): 원격 자동, 팬 최대 30시간 → 첫 행 안 맞음, 둘째 행 맞음(30 &gt; 24) → 팬 수명 손실 감점 20만 원. 각 행이 필요한 항목만 검사</a:t>
            </a:r>
          </a:p>
          <a:p>
            <a:r>
              <a:t>· 둘째 행엔 운전 모드 조건이 없다 = 그 입력을 검사하지 않는다는 뜻이지 값을 모른다는 뜻이 아니다 → 모드를 못 읽어도 이 행의 판정은 안 흔들린다</a:t>
            </a:r>
          </a:p>
          <a:p>
            <a:r>
              <a:t>· 놀이공원 탑승 기준표처럼 누가 판정해도 같다. 다만 결정표는 값의 출처 · 규칙의 근거 · 여러 행이 맞을 때까지 정한다</a:t>
            </a:r>
          </a:p>
          <a:p>
            <a:r>
              <a:t>· HYD의 추천 AI도 규칙 문장을 그때그때 해석하지 않고 평가 함수(표를 읽어 판정을 계산하는 프로그램)의 결과를 근거로 → 같은 그래프 · 같은 입력이면 언제나 같은 판정</a:t>
            </a:r>
          </a:p>
          <a:p>
            <a:r>
              <a:t>[다음] 조건을 입력 · 연산자 · 기준값으로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「24시간을 넘겼다면」에 정확히 24시간은 들어가나</a:t>
            </a:r>
          </a:p>
          <a:p>
            <a:r>
              <a:t>· 조건의 세 부분과 연산자 → 경계의 포함 여부 → AND · OR 묶음 → 규칙이 내는 출력 차례로</a:t>
            </a:r>
          </a:p>
          <a:p>
            <a:r>
              <a:t>[다음] 조건의 세 부분과 비교 연산자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첫 줄(조건의 세 부분) → 아래 여섯 연산자, 가운데 HYD 실제 조건 → 오른쪽 단위 · 자료형</a:t>
            </a:r>
          </a:p>
          <a:p>
            <a:r>
              <a:t>· 조건 = 입력 · 연산자(비교 방법) · 기준값. 「팬 최대 연속 운전이 24시간을 넘었으면」 → 연속 운전 시간 · 크다(&gt;) · 24</a:t>
            </a:r>
          </a:p>
          <a:p>
            <a:r>
              <a:t>· 같다 · 다르다는 운전 모드처럼 이름으로 된 값에도. 크기 비교는 초과 · 이상 · 미만 · 이하를 구별</a:t>
            </a:r>
          </a:p>
          <a:p>
            <a:r>
              <a:t>· 「초과」와 「이상」은 말로 비슷하지만 기준값과 정확히 같은 입력에서 결과가 갈린다</a:t>
            </a:r>
          </a:p>
          <a:p>
            <a:r>
              <a:t>· 미만 예: 완료 확인 기준 「유온 55 ℃ 미만」도 식 한 줄 → 사람이 읽는 문장과 컴퓨터가 검사하는 식이 짝</a:t>
            </a:r>
          </a:p>
          <a:p>
            <a:r>
              <a:t>· 같다 · 이하 예는 정기 정비 규칙: 이상 패턴이 정기 정비 도래인지, 납기까지 남은 시간이 하루 이하인지</a:t>
            </a:r>
          </a:p>
          <a:p>
            <a:r>
              <a:t>· 단위와 자료형도 맞춘다(원문은 시간인데 입력이 분이면 숫자만 비교 금지, 문자열 · 숫자 구별). 순서: 비교할 값 → 같은 단위의 기준값 → 원문 포함 여부에 맞는 부호</a:t>
            </a:r>
          </a:p>
          <a:p>
            <a:r>
              <a:t>[다음] 임계값과 경계의 포함 여부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축(예측 유온 55 ℃ 이상) → 아래 축(연속 운전 24 h 초과), 기준값 점(채움 · 비움) → 축 아래 세 시험 입력</a:t>
            </a:r>
          </a:p>
          <a:p>
            <a:r>
              <a:t>· 생각할 시간(약 8초): 두 줄의 기준값에서 조건이 맞는지</a:t>
            </a:r>
          </a:p>
          <a:p>
            <a:r>
              <a:t>· 막대 = 조건에 맞는 구간. 위 「이상」은 정확히 55 ℃도 포함(점 채움): 54.9 안 맞음 · 55.0 맞음 · 55.1 맞음</a:t>
            </a:r>
          </a:p>
          <a:p>
            <a:r>
              <a:t>· 아래 「넘으면」은 정확히 24 h를 포함하지 않음(점 비움): 23.9 안 맞음 · 24.0 안 맞음 · 24.1 맞음</a:t>
            </a:r>
          </a:p>
          <a:p>
            <a:r>
              <a:t>· 임계값 = 판정이 갈리는 기준. 기준에서 먼 값은 등호가 있든 없든 결과가 같아 부호가 틀려도 모르고 지나간다 → 바로 아래 · 같은 값 · 바로 위를 시험</a:t>
            </a:r>
          </a:p>
          <a:p>
            <a:r>
              <a:t>· 정확히 하루일 때 감점이 없다고 그 뒤로 계속 운전해도 된다는 뜻이 아니다 → 매뉴얼의 연속 운전 제한과 작업 확인은 그대로</a:t>
            </a:r>
          </a:p>
          <a:p>
            <a:r>
              <a:t>[다음] 범위와 복수 조건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맨 위 범위 예 → 가운데 실제 AND 행(정기 정비)과 두 입력 → 맨 아래 OR(행 둘), 오른쪽 넷째 점</a:t>
            </a:r>
          </a:p>
          <a:p>
            <a:r>
              <a:t>· 범위: 하한보다 큰지 · 상한보다 작은지를 따로 검사하고 둘 다 맞아야 = AND. 50 ℃ 안 맞음, 60 ℃ 맞음, 66 ℃ 안 맞음. 끝마다 포함 여부를 부호로</a:t>
            </a:r>
          </a:p>
          <a:p>
            <a:r>
              <a:t>· 이 온도 범위는 묶는 법의 예일 뿐 — 그 구간만으로 쿨러 경보가 나지 않는다(경보는 냉각 효율 70 % 미만 · 상승 추세도 본다)</a:t>
            </a:r>
          </a:p>
          <a:p>
            <a:r>
              <a:t>· 실제 AND 행(정기 정비): 패턴이 정비 도래 + 지난 정비 뒤 운전시간 1,800 h 이상 → 정비 방안 후보 선택. 1,950 h는 맞고 1,700 h는 안 맞음(패턴이 같아도) → 예방 정비는 도래했을 때만 후보</a:t>
            </a:r>
          </a:p>
          <a:p>
            <a:r>
              <a:t>· OR: 하나만 맞아도 같은 결과면 조건을 두 행으로 나누고 같은 출력을 둔다. 둘이 함께 맞으면 두 행 모두 결과를 낼 수도</a:t>
            </a:r>
          </a:p>
          <a:p>
            <a:r>
              <a:t>· 원문이 「그리고」인지 「또는」인지부터 가린다</a:t>
            </a:r>
          </a:p>
          <a:p>
            <a:r>
              <a:t>[다음] 후보 선택 · 제외 · 감점 · 경고 · 순위의 출력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줄: 후보 선택 → 강조한 제외 → 감점 → 경고 → 순위, 첫 칸의 결정표 이름 · 가운데 실제 규칙 · 오른쪽 「후보는」</a:t>
            </a:r>
          </a:p>
          <a:p>
            <a:r>
              <a:t>· 결정표는 답할 물음마다 따로 있다(후보 선택 표 · 규정 적합성 표 · 순위 결정표)</a:t>
            </a:r>
          </a:p>
          <a:p>
            <a:r>
              <a:t>· 후보 선택: 고장 유형이 냉각 성능 상실이라 완화 셋, 원인이 핀 오염이라 핀 세척 → 그래프에서 그 고장 유형에 이어진 조치가 남고 원인 한정 조치는 원인이 맞을 때만 → 후보 넷. 후보에 올라도 실행 허가가 아니다</a:t>
            </a:r>
          </a:p>
          <a:p>
            <a:r>
              <a:t>· 제외: 비교 대상에서 뺀다(수동 운전 중 원격 제어). 냉각 효과가 아무리 좋아도 점수로 되살리지 않는다</a:t>
            </a:r>
          </a:p>
          <a:p>
            <a:r>
              <a:t>· 감점: 남기되 부담을 반영(팬 최대 24 h 초과 → 20만 원, 팬을 올리는 두 조치에만). 경고: 남기되 「온도가 충분히 안 내려갈 수 있다」를 승인자에게(예측 55 ℃ 이상, 모든 후보)</a:t>
            </a:r>
          </a:p>
          <a:p>
            <a:r>
              <a:t>· 순위: 남은 후보에 점수를 매길 식의 묶음 = 순위 정책, 표의 행 하나가 그 정책을 담는다. 감점 · 경고도 그 안의 점수 성분</a:t>
            </a:r>
          </a:p>
          <a:p>
            <a:r>
              <a:t>· 적용 대상도 따로 적는다: 팬을 그대로 두는 야간 세척까지 팬 수명 감점을 주면 식은 맞아도 규칙의 뜻이 틀린다</a:t>
            </a:r>
          </a:p>
          <a:p>
            <a:r>
              <a:t>[다음] 여러 규칙과 모르는 값의 처리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제외 · 감점 · 경고가 한 후보에 함께 걸리면 무엇이 남나, 운전 이력을 못 읽으면 0시간으로 보나</a:t>
            </a:r>
          </a:p>
          <a:p>
            <a:r>
              <a:t>· 여러 행이 맞는 경우 → 못 읽은 값 → 판정의 근거를 남기는 기록 차례로</a:t>
            </a:r>
          </a:p>
          <a:p>
            <a:r>
              <a:t>[다음] Hit Policy와 Collect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위 입력(가정) → 가운데 세 규칙의 맞음 여부 → 아래 결과 세 칸 → 오른쪽 넷째 점</a:t>
            </a:r>
          </a:p>
          <a:p>
            <a:r>
              <a:t>· 입력(가정, 실제 쿨러 사건은 0 h · 기준 아래): 원격 자동, 팬 최대 30 h, 예측 유온 56 ℃ → 감점 행과 경고 행이 함께 맞음. 표가 잘못된 게 아니라 이 입력엔 둘 다 해당</a:t>
            </a:r>
          </a:p>
          <a:p>
            <a:r>
              <a:t>· hit = 행이 맞는 것. Hit Policy = 여러 행이 맞을 때 무엇을 답으로 삼을지 표마다 정한 방식. 이 표는 Collect = 맞은 행의 출력을 전부 모은다</a:t>
            </a:r>
          </a:p>
          <a:p>
            <a:r>
              <a:t>· 결과 세 칸: 감점 · 경고 · 제외 사유(빈칸) → 후보는 남아 감점과 경고를 가진 채 비교된다</a:t>
            </a:r>
          </a:p>
          <a:p>
            <a:r>
              <a:t>· 모드도 수동이었다면 제외 사유까지 모이고 그 후보는 추천에서 빠진다(사유는 남김)</a:t>
            </a:r>
          </a:p>
          <a:p>
            <a:r>
              <a:t>· 처음 맞은 행에서 멈추면 감점만 받고 경고를 놓친다 → 규칙을 바르게 적어도 표를 읽는 방식이 틀리면 결과가 달라진다. 표의 정책도 함께 정한다</a:t>
            </a:r>
          </a:p>
          <a:p>
            <a:r>
              <a:t>[다음] 값을 얻지 못한 입력의 처리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네 줄: 강조한 제외 · 감점 규칙의 값을 모름 → 같은 행의 다른 조건이 거짓 → 경고 규칙의 값을 모름 → 모든 후보 제외, 오른쪽 규칙 종류</a:t>
            </a:r>
          </a:p>
          <a:p>
            <a:r>
              <a:t>· 통신이 끊겨 운전 모드를 못 읽었다 → 원격 자동이든 수동이든 찍어 넣지 않는다. 모르는 상태</a:t>
            </a:r>
          </a:p>
          <a:p>
            <a:r>
              <a:t>· 제외 · 감점 규칙의 값을 모르면 안전한 쪽으로 제외, 사유 「확인되지 않은 조건」 → 모드를 확인 못 했는데 원격 제어가 된다고 판단하지 않는다</a:t>
            </a:r>
          </a:p>
          <a:p>
            <a:r>
              <a:t>· 경고 규칙의 값(예측 유온)이 없으면 확인되지 않았다는 경고를 남긴다 → 입력이 없다는 사실을 감추지 않는다</a:t>
            </a:r>
          </a:p>
          <a:p>
            <a:r>
              <a:t>· 한 행에 조건이 여럿이면 아는 조건도 본다: 「조치가 제어 종류 그리고 모드가 원격 자동 아님」에서 작업지시 후보는 앞 조건이 이미 거짓 → 모드를 몰라도 이 규칙 때문에 빠지지 않는다. 다른 조건이 다 맞고 하나만 모를 때 확인 불가 처리</a:t>
            </a:r>
          </a:p>
          <a:p>
            <a:r>
              <a:t>· 빈 값을 0으로 채우면: 연속 운전 이력이 없는데 0을 넣으면 제한을 안 넘었다고 판정 → 「확인할 수 없다」가 「문제없다」로 바뀐다</a:t>
            </a:r>
          </a:p>
          <a:p>
            <a:r>
              <a:t>· 모든 후보가 빠짐: 값을 몰라서일 수도, 값을 알아도(보호 정지 TRIP이면 리셋 외 모두 제외). 추천을 내지 않고 사유를 보이며, 빈 추천을 피하려 조건을 몰래 완화하지 않는다</a:t>
            </a:r>
          </a:p>
          <a:p>
            <a:r>
              <a:t>[다음] 판정의 근거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맨 위 걸린 규칙 기록(규칙 · 판정 · 조건 · 크기 · 지표 · 근거 절) → 가운데 판단에 쓴 값 → 맨 아래 원문, 오른쪽 강조한 trace</a:t>
            </a:r>
          </a:p>
          <a:p>
            <a:r>
              <a:t>· 제외 · 감점 결과만 받으면 운전원은 무엇을 확인하나: 걸린 조건, 그때 입력, 규칙이 어디서 왔나</a:t>
            </a:r>
          </a:p>
          <a:p>
            <a:r>
              <a:t>· 기록: 규칙(팬 24시간 초과), 판정 감점, 조건, 크기 20만 원, 깎이는 성과 지표(정비 비용 — 성과 지표 = 회사가 성과를 재는 항목), 근거 절 HM-8.8</a:t>
            </a:r>
          </a:p>
          <a:p>
            <a:r>
              <a:t>· 근거 두 갈래 ① 지식 출처(DMN 용어, 규칙의 근거 문서): 근거 절을 따라 원문에 닿는다. 제외 · 감점 규칙 모두 같은 절에서 → 조건 자체가 타당한지 따질 때</a:t>
            </a:r>
          </a:p>
          <a:p>
            <a:r>
              <a:t>· ② 이번 판정 기록: 그때 입력값(운전 이력 30 h, 조회 시각), 맞은 규칙, 출력 · 사유, 맞지 않은 행까지(trace). 후보 선택 표에서 어느 행이 이 조치를 골랐는지도(쿨러 사건 추천안: 즉시 완화 후보, 근거 즉시 완화 절)</a:t>
            </a:r>
          </a:p>
          <a:p>
            <a:r>
              <a:t>· 지금 센서를 다시 읽어서는 과거 판단을 재현 못 한다: 지금은 원격 자동인데 조금 전 제외됐다면 당시 모드 기록이 있어야 둘 다 설명</a:t>
            </a:r>
          </a:p>
          <a:p>
            <a:r>
              <a:t>· 출처만 있고 입력 기록이 없으면 규칙은 읽어도 그때 왜 적용됐는지 모른다 → 출처와 적용 값을 함께</a:t>
            </a:r>
          </a:p>
          <a:p>
            <a:r>
              <a:t>[다음] 허용된 후보의 성과 비교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유온을 가장 많이 낮추는 조치가 가장 좋은 조치인가</a:t>
            </a:r>
          </a:p>
          <a:p>
            <a:r>
              <a:t>· 가능 여부와 효과 비교를 나누는 까닭 → 득실의 경로와 항목 → 쿨러 사건의 순위 → What-if → 마지막은 조치 뒤 재관측</a:t>
            </a:r>
          </a:p>
          <a:p>
            <a:r>
              <a:t>[다음] 가능 여부를 가리는 규칙과 효과를 견주는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가능 여부를 가리는 규칙 → 오른쪽 강조한 효과와 비용을 견주는 기준, 각 칸 마지막 줄(섞으면)</a:t>
            </a:r>
          </a:p>
          <a:p>
            <a:r>
              <a:t>· 해도 되는지 가르는 조건 ≠ 가능한 후보 중 어느 쪽이 나은지 견주는 기준</a:t>
            </a:r>
          </a:p>
          <a:p>
            <a:r>
              <a:t>· 왼쪽: 수동 조작 중인 설비에 원격 명령 금지 같은 조건. 통과 아니면 제외, 생산 효과가 커도 못 넘는다(무재해 운전처럼 금액과 맞바꾸지 않는 선). 제외된 후보는 점수 경쟁에 끼지 않는다</a:t>
            </a:r>
          </a:p>
          <a:p>
            <a:r>
              <a:t>· 오른쪽: 통과한 후보의 득실. 팬을 올리면 냉각엔 도움, 전력은 늘어남 → 한쪽 손해를 다른 쪽 이득이 메울 수 있어 함께 비교. 감점 · 경고도 여기서 점수 성분</a:t>
            </a:r>
          </a:p>
          <a:p>
            <a:r>
              <a:t>· 섞으면: 안전 조건을 작은 감점으로 바꾸면 다른 점수가 덮어 버리고, 비용이 든다는 이유로 후보를 빼면 고를 조치가 남지 않는다</a:t>
            </a:r>
          </a:p>
          <a:p>
            <a:r>
              <a:t>· 결정표에서 출력 종류를 나눈 까닭이 이것: 먼저 허용 범위를 지키고 그 안에서 더 나은 조치를</a:t>
            </a:r>
          </a:p>
          <a:p>
            <a:r>
              <a:t>[다음] 조치가 성과 지표에 닿는 경로와 상충(Trade-off)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조치(팬 최대 + 부하 80 %) → 첫 화살표 두 갈래(팬 속도 · 펌프 부하) → 가운데 유온 → 오른쪽 강조한 인터록 여유(파란 갈래) → 전력 사용량 · 생산량 → 납기 준수율(남색 갈래)</a:t>
            </a:r>
          </a:p>
          <a:p>
            <a:r>
              <a:t>· 첫 화살표(AFFECTS) = 조치가 처음 건드리는 설비의 값(팬 60 → 100 %, 부하 90 → 80 %). 그 뒤 값과 지표를 잇는 건 영향 관계</a:t>
            </a:r>
          </a:p>
          <a:p>
            <a:r>
              <a:t>· 얻는 쪽(파랑): 팬을 더 돌리고 부하를 낮추면 유온이 내려가고 → 인터록 여유가 커진다</a:t>
            </a:r>
          </a:p>
          <a:p>
            <a:r>
              <a:t>· 잃는 쪽(남색): 팬을 더 돌린 만큼 전력 사용 증가, 부하를 낮추면 생산량 감소 → 납기 부담</a:t>
            </a:r>
          </a:p>
          <a:p>
            <a:r>
              <a:t>· 상충 = 한쪽에서 얻는 효과와 다른 쪽에서 잃는 것이 함께 생기는 관계</a:t>
            </a:r>
          </a:p>
          <a:p>
            <a:r>
              <a:t>· 온도가 내려가는 길만 따라가면 이 조치가 제일 좋아 보인다 → 생산 · 전력 쪽까지 따라가야 전체 득실</a:t>
            </a:r>
          </a:p>
          <a:p>
            <a:r>
              <a:t>· 납기에 미치는 실제 크기는 남은 주문 · 시간 같은 업무 조건이 있어야 계산 → 방향을 먼저 찾고 필요한 값을 가져와 비교</a:t>
            </a:r>
          </a:p>
          <a:p>
            <a:r>
              <a:t>[다음] 즉시 제어 · 작업지시 · 정비의 손익 항목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여섯 줄: 손익 항목 → 가운데 계산과 원천 → 오른쪽 해당 후보, 강조한 정비 정지 · 작업비</a:t>
            </a:r>
          </a:p>
          <a:p>
            <a:r>
              <a:t>· 식을 외우기보다 항목마다 어떤 기록을 가져와야 계산되는지</a:t>
            </a:r>
          </a:p>
          <a:p>
            <a:r>
              <a:t>· 생산 감소: 시간당 생산 가치 × (기간 × 평소 부하 90 % 대비 낮춘 비율 + 작업 정지 시간). 부하를 낮춘 비율만큼 생산도 준다는 가정. 감산과 정지의 영향을 단순히 더한다(겹치는 시간 · 실제 야간 정비 시점은 따로 계산 안 함)</a:t>
            </a:r>
          </a:p>
          <a:p>
            <a:r>
              <a:t>· 납기 지연 위약금: 계약의 시간당 위약금 × 실제로 납기를 넘긴 시간. 느려졌다는 사실만으로 위약금이 생기지 않는다. 이 위약금(오더 계약, 시간당) ≠ 앞 그림의 납기 준수율(성과 지표)</a:t>
            </a:r>
          </a:p>
          <a:p>
            <a:r>
              <a:t>· 품질 위험(예측 유온 55 ℃ 이상일 때 불량 확률 × 클레임 금액), 에너지비(추가 전력 × 운전 시간 × 전력 단가) — 다 「비용」이어도 원천 · 기준이 다르다</a:t>
            </a:r>
          </a:p>
          <a:p>
            <a:r>
              <a:t>· 정비: 정지 시간 · 작업비는 정비 관리 시스템의 표준 작업(계획 시간 ≠ 실제 복구 시간). 설비별 핀 세척 기준(3 h · 40만 원)이 있어도 적용할 조치의 표준 작업이 없으면 손익을 확정하지 않는다 — 빈자리를 임의로 채우지 않는다</a:t>
            </a:r>
          </a:p>
          <a:p>
            <a:r>
              <a:t>· 고장 위험: 고장 비용 × 어림한 확률. 근본 조치 뒤 위험 0은 계산의 가정 → 원천과 가정을 함께 남기고 확인된 지출과 위험 추정을 구분. 항목별 금액을 더해 줄 세운 것 = 손익 순위</a:t>
            </a:r>
          </a:p>
          <a:p>
            <a:r>
              <a:t>[다음] 쿨러 사건 네 후보의 예측 유온과 판단 순위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그래프의 막대(예측 유온)와 위 순위 → 55 ℃ 점선 → 오른쪽 넷: 강조한 1순위 → 공동 2순위 → 4순위 핀 세척 → 입력</a:t>
            </a:r>
          </a:p>
          <a:p>
            <a:r>
              <a:t>· 판단 순위 = 순위 정책의 점수로 매긴 순서(추천안은 이것으로). 손익 순위는 따로 계산해 참고로</a:t>
            </a:r>
          </a:p>
          <a:p>
            <a:r>
              <a:t>· 생각할 시간(약 10초): 예측 유온이 가장 낮은 후보가 1순위인가</a:t>
            </a:r>
          </a:p>
          <a:p>
            <a:r>
              <a:t>· 가장 낮은 건 셋째 막대(팬 + 부하 낮춤)인데 공동 2순위. 1순위는 팬만 최대로 돌려 생산을 유지하는 팬 최대 운전(점수 +3.38, 승인 운전원) → 냉각 하나로 매긴 순서가 아니다</a:t>
            </a:r>
          </a:p>
          <a:p>
            <a:r>
              <a:t>· 부하를 줄이는 두 후보는 같은 점수 +2.75 → 공동 2순위. 그래프에서 위에 있다고 우열이 아니다</a:t>
            </a:r>
          </a:p>
          <a:p>
            <a:r>
              <a:t>· 핀 세척은 왜 예측이 높나: 이 시점 시스템의 동작은 정비 작업지시 등록 — 제어 상태가 바로 바뀌거나 세척이 끝난 게 아니다 → 55 ℃를 넘어 경고, 점수 -1.58로 4순위. 「세척을 마쳐도 냉각이 안 된다」로 읽지 않는다</a:t>
            </a:r>
          </a:p>
          <a:p>
            <a:r>
              <a:t>· 입력: 원격 자동이라 제외 없음, 팬 100 % 연속 0 h, 납기 5.98 h · 위약금 120만 원/h, 고온 로트 있음 → 생산 유지 가치가 반영된 상황. 점수가 낮다고 영원히 쓸모없다는 뜻도, 음수가 그만큼 금전 손실이라는 뜻도 아니다 — 지금 입력과 정책의 비교 결과</a:t>
            </a:r>
          </a:p>
          <a:p>
            <a:r>
              <a:t>[다음] What-if 분석과 가정값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위 원본 → 가운데 강조한 판단 한 건의 사본 → 사본 아래 가정값 손잡이 → 오른쪽 위 기준 결과 · 오른쪽 아래 강조한 시험 결과 → 왼쪽 아래 원본 그대로</a:t>
            </a:r>
          </a:p>
          <a:p>
            <a:r>
              <a:t>· What-if 분석 = 실제 주문의 납기를 건드리지 않고, 지금 판단 한 건을 복사해 가정값으로 다시 계산</a:t>
            </a:r>
          </a:p>
          <a:p>
            <a:r>
              <a:t>· 원본: 지식 그래프 · 업무 데이터 · 순위 정책. 사본: 비교할 후보 · 규칙 · 입력값</a:t>
            </a:r>
          </a:p>
          <a:p>
            <a:r>
              <a:t>· 가정값: 납기 · 위약금 · 감점 기준 · 관점 중요도(성과 관점마다 비중을 바꾸면 성과 지표 점수를 그 비중으로 다시 계산)</a:t>
            </a:r>
          </a:p>
          <a:p>
            <a:r>
              <a:t>· 시험 결과를 기준 결과와 비교: 어느 후보의 어느 성분이 달라졌나, 순위가 바뀌었나, 금액 손익은 어떤가</a:t>
            </a:r>
          </a:p>
          <a:p>
            <a:r>
              <a:t>· 원본이 그대로인지 확인(unchanged). 이 시험으로 실제 설비 명령이나 주문 데이터가 바뀌면 가정 분석이 아니다</a:t>
            </a:r>
          </a:p>
          <a:p>
            <a:r>
              <a:t>· 한 번에 여러 값을 바꾸면 까닭을 가리기 어렵다 → 하나씩 바꾸고, 함께 바꿀 땐 무엇을 유지 · 변경했는지 기록. 성과 지표의 목표값을 바꾸면 달성 판정은 달라져도 이미 측정한 실제 온도는 그대로</a:t>
            </a:r>
          </a:p>
          <a:p>
            <a:r>
              <a:t>[다음] 예측을 조치 뒤의 관측으로 확인하기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단계 네 칸 왼쪽부터: 전제 확인 → 근거 있는 추천안 → 사람의 승인 · 거절 → 강조한 조치 뒤 재관측</a:t>
            </a:r>
          </a:p>
          <a:p>
            <a:r>
              <a:t>· 추천안도 What-if도 판단을 돕는 계산. 현장에서 정말 그 결과가 나왔는지는 조치 뒤 관측으로 → 마지막 단계는 예측이 아니라 재관측</a:t>
            </a:r>
          </a:p>
          <a:p>
            <a:r>
              <a:t>· 전제 확인: 운전 모드 · 입력 · 예측 모델. 온도 예측은 외기와 오염이 지금처럼 이어진다고 본 계산 → 주변 조건이 바뀌면 결과도 달라진다</a:t>
            </a:r>
          </a:p>
          <a:p>
            <a:r>
              <a:t>· 추천안: 전제 · 규칙 · 점수 · 출처를 붙인다. 손익엔 운전 시간 · 고장 확률 같은 가정이 든다</a:t>
            </a:r>
          </a:p>
          <a:p>
            <a:r>
              <a:t>· 승인 · 거절: 어느 가정이 현실에 가까운지는 사람이 판단. 승인 1회 뒤 프로세스 엔진이 실행하고 실제 값을 다시 읽는다</a:t>
            </a:r>
          </a:p>
          <a:p>
            <a:r>
              <a:t>· 재관측의 두 완료 기준: 완화 성공 = 15분 동안 유온 55 ℃ 미만 · 경보 해제 유지, 정비 완료 = 핀 세척 재가동 뒤 냉각 효율 80 % 이상. 예측이 맞았는지도 이 관측으로</a:t>
            </a:r>
          </a:p>
          <a:p>
            <a:r>
              <a:t>· 결과가 예측과 다르면 입력 · 전제 · 실행 기록을 다시 본다 → 조치 선택은 점수 큰 줄 고르기가 아니라 절차 → 가능 여부 → 득실 → 사람 승인 → 실제 효과 확인</a:t>
            </a:r>
          </a:p>
          <a:p>
            <a:r>
              <a:t>[다음] 복습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네 장: 위 줄 상황 → 아래 줄 찾을 근거, 왼쪽부터</a:t>
            </a:r>
          </a:p>
          <a:p>
            <a:r>
              <a:t>· 오늘 다룬 기준이 어떤 질문에 답하는지 SOP · DMN · 성과 비교 · What-if로</a:t>
            </a:r>
          </a:p>
          <a:p>
            <a:r>
              <a:t>· 생각할 시간(약 15초): 네 상황에 먼저 필요한 개념을 고른다</a:t>
            </a:r>
          </a:p>
          <a:p>
            <a:r>
              <a:t>· 핀 세척이 끝났나 → SOP: 명령을 보냈느냐가 아니라 재가동 뒤 확인할 완료 기준</a:t>
            </a:r>
          </a:p>
          <a:p>
            <a:r>
              <a:t>· 수동 운전 중 팬을 올려도 되나 → DMN 조건 판단: 지금 모드와 원격 조치 제외 조건. 온도를 잘 낮추는 안이라도 수행 가능 여부부터</a:t>
            </a:r>
          </a:p>
          <a:p>
            <a:r>
              <a:t>· 냉각 효과와 생산 감소를 견주기 → 성과 비교: 생산 · 납기까지의 득실 경로. 납기가 더 멀다면 → What-if: 기준 입력은 고정, 납기만 바꿔 다시 계산</a:t>
            </a:r>
          </a:p>
          <a:p>
            <a:r>
              <a:t>· 한 선택에 넷이 같이 쓰일 수 있지만 답하는 질문이 다르다: 절차를 안다 ≠ 지금 실행 가능, 실행 가능 ≠ 가장 좋음, 가장 좋게 계산돼도 가정이 바뀌면 다시 → 막히면 지금 답하려는 질문부터</a:t>
            </a:r>
          </a:p>
          <a:p>
            <a:r>
              <a:t>[다음] 오늘 다룬 핵심 개념과 주요 용어 정리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일곱 줄을 위에서부터, 정식 명칭은 화면에 맡기고 뜻만</a:t>
            </a:r>
          </a:p>
          <a:p>
            <a:r>
              <a:t>· SOP = 작업을 안전하고 같은 방식으로 하도록 정한 표준 작업 절차, DMN = 업무의 의사결정을 표와 모델로 정의하는 표준</a:t>
            </a:r>
          </a:p>
          <a:p>
            <a:r>
              <a:t>· 결정표 = 입력 조건의 조합마다 출력을 정한 표, 임계값 = 판정이 갈리는 기준값, Hit Policy = 여러 규칙이 함께 맞을 때 결과를 고르는 방식</a:t>
            </a:r>
          </a:p>
          <a:p>
            <a:r>
              <a:t>· 상충 = 한 조치가 어떤 성과에는 이롭고 다른 성과에는 불리한 관계, What-if 분석 = 가정값을 바꿔 결과를 견주는 분석</a:t>
            </a:r>
          </a:p>
          <a:p>
            <a:r>
              <a:t>[다음] Review Quiz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간지 제목 → 부제</a:t>
            </a:r>
          </a:p>
          <a:p>
            <a:r>
              <a:t>· 배운 것을 판단에 쓸 수 있는지 세 문제로 확인</a:t>
            </a:r>
          </a:p>
          <a:p>
            <a:r>
              <a:t>· 세 문제: 운전 상태와 조치의 가능 여부, 여러 규칙이 함께 맞을 때, 가능 여부의 규칙과 성과 비교</a:t>
            </a:r>
          </a:p>
          <a:p>
            <a:r>
              <a:t>· 문제마다 무엇을 먼저 검사해야 하는지 생각하고 고르기. 정답과 까닭은 세 문제를 다 푼 뒤</a:t>
            </a:r>
          </a:p>
          <a:p>
            <a:r>
              <a:t>[다음] Quiz 1. 운전 상태와 조치의 가능 여부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상황(원인 핀 오염, 수동 조작이 들어와 원격 수동) → 물음 → 보기 넷</a:t>
            </a:r>
          </a:p>
          <a:p>
            <a:r>
              <a:t>· 보기 요지: ① 팬 최대 운전(유온을 경보 기준 아래로) ② 팬 최대 + 부하 80 %(가장 많이 내림) ③ 핀 세척이 작업지시 후보로 남고 세척은 정지 · 잠금 뒤 ④ 부하 70 % + 야간 핀 세척(팬을 안 건드림)</a:t>
            </a:r>
          </a:p>
          <a:p>
            <a:r>
              <a:t>· 생각할 거리: 온도를 얼마나 내리느냐보다 각 조치가 어떤 동작을 하는지와 지금 운전 모드를 대조</a:t>
            </a:r>
          </a:p>
          <a:p>
            <a:r>
              <a:t>· 생각할 시간 약 20초</a:t>
            </a:r>
          </a:p>
          <a:p>
            <a:r>
              <a:t>[다음] Quiz 2. 여러 규칙이 함께 맞았을 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상황(Collect 규정 표, 원격 자동 · 팬 연속 30 h · 팬 최대 운전 예측 56 ℃) → 물음 → 보기 넷</a:t>
            </a:r>
          </a:p>
          <a:p>
            <a:r>
              <a:t>· 보기 요지: ① 감점 20만 원과 경고가 함께 ② 위쪽 감점 규칙만 ③ 두 규칙이 함께 맞아 결정표 오류 ④ 감점과 경고가 겹쳐 후보 제외</a:t>
            </a:r>
          </a:p>
          <a:p>
            <a:r>
              <a:t>· 생각할 거리: 어느 규칙이 맞았나, 맞은 출력을 Collect가 어떻게 다루나</a:t>
            </a:r>
          </a:p>
          <a:p>
            <a:r>
              <a:t>· 생각할 시간 약 20초</a:t>
            </a:r>
          </a:p>
          <a:p>
            <a:r>
              <a:t>[다음] Quiz 3. 가능 여부의 규칙과 성과의 비교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상황(팬 최대 + 부하 80 %, 예측 44.6 ℃로 가장 낮은데 공동 2순위) → 물음 → 보기 넷</a:t>
            </a:r>
          </a:p>
          <a:p>
            <a:r>
              <a:t>· 보기 요지: ① 운전 모드 규칙으로 제외 ② 예측 유온이 낮을수록 점수가 낮다 ③ 승인 역할 직급이 더 높다 ④ 부하를 낮춰 생산이 줄어 납기에서 잃은 것이 예측에서 얻은 것보다 컸다</a:t>
            </a:r>
          </a:p>
          <a:p>
            <a:r>
              <a:t>· 생각할 거리: 가능 여부를 가르는 규칙과 통과한 후보를 견주는 성과 기준을 나눠서</a:t>
            </a:r>
          </a:p>
          <a:p>
            <a:r>
              <a:t>· 생각할 시간 약 20초</a:t>
            </a:r>
          </a:p>
          <a:p>
            <a:r>
              <a:t>[다음] 정답과 판단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줄: 문항 → 판단 기준 → 정답</a:t>
            </a:r>
          </a:p>
          <a:p>
            <a:r>
              <a:t>· Q1 정답 3: 수동 조작 중엔 원격 설비 제어 후보를 모두 뺀다. 1 · 2는 효과가 좋아도 모드에서 빠지고, 4도 팬은 안 건드리지만 부하를 원격으로 낮추는 제어라 빠진다. 작업지시인 핀 세척만 남되, 남았다고 바로 세척해도 된다는 뜻이 아니다 — 세우고 잠근 뒤</a:t>
            </a:r>
          </a:p>
          <a:p>
            <a:r>
              <a:t>· Q2 정답 1: 원격 자동이라 제외는 안 맞고 감점 · 경고 두 행이 맞음 → Collect는 모두 모은다. 2는 처음 맞은 행에서 멈출 때의 답, 3은 한 행만 맞아야 하는 표일 때의 답, 4처럼 감점 · 경고가 후보를 빼지 않는다(제외 출력은 따로)</a:t>
            </a:r>
          </a:p>
          <a:p>
            <a:r>
              <a:t>· Q3 정답 4: 네 후보 모두 규칙을 통과(1 틀림), 예측 유온이 낮을수록 점수는 오히려 높다(2 틀림), 승인 역할은 넷 중 셋이 같은 운전원(3 까닭 아님). 유온은 더 낮춰도 부하를 줄인 만큼 생산이 줄어 납기에서 잃는다 → 냉각 효과 최대 ≠ 종합 점수 최고</a:t>
            </a:r>
          </a:p>
          <a:p>
            <a:r>
              <a:t>· 이어지는 실습: 포털 What-if에서 운전 조건을 바꿔 허용 · 제외와 순위 변화를 보고, 제공 SOP에서 입력 · 단위 · 경계 · 출처를 뽑아 결정표를 만든다. 그 결정표로 허용 · 제외와 사유를 내는 판정 기능을 만들어 정상 · 경계값 · 여러 규칙 · 금지 조건을 조건표와 대조한다</a:t>
            </a:r>
          </a:p>
          <a:p>
            <a:r>
              <a:t>· 허용된 후보만 비용 · 생산 · 품질 · 에너지로 견주고, 경계값 · 필수 정보 누락에 결과가 어떻게 달라지는지와 추천과 실행 승인의 차이를 확인한다 — 진행은 핸즈온 가이드</a:t>
            </a:r>
          </a:p>
          <a:p>
            <a:r>
              <a:t>· 다음 회차: 이 조건의 원문을 추출 · 검토해 근거 지식을 보강한다</a:t>
            </a:r>
          </a:p>
          <a:p>
            <a:r>
              <a:t>[다음] 실습으로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167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00784"/>
            <a:ext cx="7863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통합반 오프라인 3회차 · 안전한 조치와 성과 비교 기능 만들기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8"/>
            <a:ext cx="84124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안전한 판단 규칙과</a:t>
            </a:r>
          </a:p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성과 비교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07408"/>
            <a:ext cx="8412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900" b="0">
                <a:solidFill>
                  <a:srgbClr val="C6D0DE"/>
                </a:solidFill>
                <a:latin typeface="맑은 고딕"/>
                <a:ea typeface="맑은 고딕"/>
                <a:cs typeface="맑은 고딕"/>
              </a:rPr>
              <a:t>입력 조건으로 조치의 허용 · 제외와 그 이유를 가리고, 허용된 후보끼리 성과를 견준다</a:t>
            </a:r>
          </a:p>
        </p:txBody>
      </p:sp>
      <p:pic>
        <p:nvPicPr>
          <p:cNvPr id="7" name="로고:uEngine" descr="logo-uengine_FFFFFF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669280"/>
            <a:ext cx="1325880" cy="2751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464040" y="118871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list-check" descr="list-check_5CB8F2_1.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784" y="1426463"/>
            <a:ext cx="713232" cy="713232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>
          <a:xfrm>
            <a:off x="9902952" y="245059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64040" y="283463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table" descr="table_5CB8F2_1.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3072383"/>
            <a:ext cx="713232" cy="713232"/>
          </a:xfrm>
          <a:prstGeom prst="rect">
            <a:avLst/>
          </a:prstGeom>
        </p:spPr>
      </p:pic>
      <p:sp>
        <p:nvSpPr>
          <p:cNvPr id="13" name="Down Arrow 12"/>
          <p:cNvSpPr/>
          <p:nvPr/>
        </p:nvSpPr>
        <p:spPr>
          <a:xfrm>
            <a:off x="9902952" y="409651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4040" y="4480560"/>
            <a:ext cx="1188720" cy="1188720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scale" descr="scale_13294B_1.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4718304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작업 순서와 판단 조건을 가르고, 조건을 결정표로 옮겨 허용 · 제외를 정한 뒤, 허용된 후보의 성과를 견준다.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77668"/>
            <a:ext cx="2567863" cy="362737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8837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list-numbers" descr="list-numbers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532456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201797"/>
            <a:ext cx="2238679" cy="210032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SOP와 DMN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순서는 절차, 판정은 결정표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판단 시점의 값으로 가린다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375275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75275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177668"/>
            <a:ext cx="2567863" cy="362737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378837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table" descr="tabl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532456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201797"/>
            <a:ext cx="2238679" cy="210032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조건과 출력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입력 · 연산자 · 기준값으로 적는다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경계값의 포함 여부를 시험한다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375275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375275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177668"/>
            <a:ext cx="2567863" cy="362737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378837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filter" descr="filter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532456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201797"/>
            <a:ext cx="2238679" cy="210032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판정 규칙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맞은 규칙을 모두 모은다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모르는 값은 통과가 아니다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375275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375275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177668"/>
            <a:ext cx="2567863" cy="362737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378837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scale" descr="scale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532456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201797"/>
            <a:ext cx="2238679" cy="210032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성과 비교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허용된 후보끼리만 견준다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비용 · 생산 · 품질 · 에너지를 읽는다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375275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375275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비교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3172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233172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순서는 SOP, 판정은 결정표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88575" y="255117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255117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5409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63239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3063239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조건을 입력 · 연산자 · 기준값으로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88575" y="328269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8575" y="328269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85615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79476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여러 규칙과 모르는 값의 처리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88575" y="401421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8575" y="401421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1713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52628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452628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허용된 후보의 성과 비교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88575" y="47457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8575" y="47457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순서는 SOP, 판정은 결정표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절차 속 조건 문장을 판단 시점의 값에 대어 참 · 거짓을 가리는 결정표로 옮긴다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 모드에 따른 원격 조치의 가능 여부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팬 최대 운전도 운전 모드가 원격 자동일 때만 후보에 남고, 원격 수동과 현장 제어에서는 제외된다.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pic>
        <p:nvPicPr>
          <p:cNvPr id="6" name="삽화:운전모드_후보.svg" descr="illust_7389312918247533978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23" y="1627632"/>
            <a:ext cx="10619248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88859" y="1953825"/>
            <a:ext cx="169907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 모드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plc_mode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9508" y="2540029"/>
            <a:ext cx="1964560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REMOTE_AUTO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원격 자동 · 쿨러 사건 당시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5123" y="2540029"/>
            <a:ext cx="1964560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REMOTE_MANUAL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원격 수동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70119" y="2540029"/>
            <a:ext cx="1964560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LOCAL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현장 제어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9508" y="3849532"/>
            <a:ext cx="1964560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상위 시스템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보낸 명령을 받는다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5123" y="3849532"/>
            <a:ext cx="1964560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 화면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운전원이 수동으로 조작한다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70119" y="3849532"/>
            <a:ext cx="1964560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현장 패널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작업자가 직접 제어한다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19822" y="4691018"/>
            <a:ext cx="2123849" cy="848487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원격 제어 후보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0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SOP-COOL-11 · 12 · 13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0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속도 · 펌프 부하 · HM-8.8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9822" y="5532504"/>
            <a:ext cx="2123849" cy="848487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정비 작업지시 후보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SOP-COOL-14 · HM-8.7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세척은 정지 · LOCAL · 잠금 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7001" y="3192417"/>
            <a:ext cx="1592887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후보에 남는다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7001" y="3769165"/>
            <a:ext cx="1592887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후보에서 빠진다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SOP와 DMN의 차이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절차의 순서는 SOP에 두고, 지금 해도 되는지를 가르는 조건은 DMN의 결정표로 옮겨 현재값에 대어 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79078"/>
            <a:ext cx="5181447" cy="3424555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480246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list-numbers" descr="list-numbers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633865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480246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SOP(표준 작업 절차)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30638"/>
            <a:ext cx="4632807" cy="182435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답하는 물음: 어떻게 하는가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원문: 「2. 팬 속도를 100 %로 올린다.」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수행 순서를 문장으로 정한다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수행할 때도 1단계처럼 현재 상태를 확인한다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246433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46433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순서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279078"/>
            <a:ext cx="5181447" cy="3424555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480246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table" descr="tabl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633865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480246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DMN(Decision Model and Notation)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330638"/>
            <a:ext cx="4632807" cy="182435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업무 의사결정을 정의하는 OMG의 표준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원문: 「원격 조치(SOP-COOL-11~13)는 REMOTE_AUTO가 아닐 때 쓰지 않는다.」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옮긴 조건: plc_mode != REMOTE_AUTO → 제외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판단 시점의 값과 견주어야 참 · 거짓이 정해진다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246433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246433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조건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 데이터(InputData)와 값의 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입력 데이터(InputData)는 판단에 쓰는 값의 항목이며, 현재 상태 · 운전 이력 · 예측 · 업무 조건에서 얻는다.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PLC 운전 모드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plc_mode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1627632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REMOTE_AUTO · REMOTE_MANUAL · LOCAL 가운데 하나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사건: REMOTE_AUTO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출처: SCADA · PLC 상태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00350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836925"/>
            <a:ext cx="11094415" cy="1126998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09494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100 % 연속 운전 시간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fan100_hours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2809494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팬이 99 % 이상으로 지금까지 이어서 돈 시간. 기록이 없으면 0이 아니라 미확인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기준 &gt; 24 h · 쿨러 사건: 0 h(팬 60 %)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출처: 운전 이력 · 시계열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91356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후 예측 유온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forecast_ts1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3991356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 조치를 했을 때 유온이 머물 값. 후보마다 따로 계산한다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기준 &gt;= 55 ℃ · 팬 최대 운전 49.8 ℃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출처: 예측 계산 · 설비 모델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4074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73218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긴급 오더 남은 시간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order_due_h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5173218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조회 시각부터 납기 일시까지 남은 시간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사건: 5.98 h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출처: MES · 생산 오더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결정(Decision) · 결정표(DecisionTable) · 규칙(Rule)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결정표는 물음 하나에 답하는 규칙의 행 모음이며, 입력 값을 행마다 대어 조건이 맞는 행의 출력을 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73936"/>
            <a:ext cx="6766560" cy="443484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6"/>
            <a:ext cx="6400800" cy="4160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Decision  dec:compliance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후보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가운데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규정상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없거나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감점할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것은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무엇인가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?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DecisionTable  dt:compliance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Rule 1  plc_mode != 'REMOTE_AUTO'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제외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SOP-COOL-11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12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13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Rule 2  fan100_hours &gt; 24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감점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SOP-COOL-11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12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입력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REMOTE_AUTO,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연속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30 h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Rule 1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맞지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않음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원격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자동이다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Rule 2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맞음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(30 &gt; 24)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감점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7393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결정(Decision)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판단해 답할 물음이다. 이 예에서는 규정 적합성을 묻는다.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8264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결정표(DecisionTable)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물음에 답하는 규칙의 모음. 같은 입력이면 누가 대어도 같은 결과가 나온다.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규칙(Rule)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표의 한 행. 조건이 모두 맞으면 출력을 내고, 맞지 않으면 아무것도 내지 않는다.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0006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비운 칸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Rule 2는 운전 모드를 보지 않는다. 보지 않는 입력과 값을 모르는 입력은 다르다.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조건을 입력 · 연산자 · 기준값으로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조건 한 줄을 적는 법, 경계의 포함 여부, 여러 조건의 묶음, 규칙이 내는 출력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조건의 세 부분과 비교 연산자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조건 하나는 입력 · 연산자 · 기준값으로 적고, 여섯 연산자 가운데 무엇을 쓰느냐가 판정의 경계를 정한다.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연산자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뜻과 HYD의 조건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단위 · 자료형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조건의 세 부분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입력 fan100_hours · 연산자 &gt; · 기준값 24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「24시간을 넘겼다면」을 옮긴 조건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h · 숫자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79845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647841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==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647841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같다 — pattern == 'PM_DUE'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이상 패턴이 정기 정비 도래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647841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문자열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97718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265714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!=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265714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다르다 — plc_mode != 'REMOTE_AUTO'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265714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문자열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15591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883587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883587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크다(초과) — fan100_hours &gt; 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3883587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 · 숫자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533464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501460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&gt;=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501460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크거나 같다(이상) — forecast_ts1 &gt;= 55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4501460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℃ · 숫자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151337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119333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&lt;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119333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작다(미만) — ts1 &lt; 55, HM-8.6 회복 판정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495" y="5119333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℃ · 숫자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769210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737206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&lt;=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5737206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작거나 같다(이하) — order_due &lt;= 24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정기 정비 규칙의 납기 조건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48495" y="5737206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 · 숫자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임계값과 경계의 포함 여부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「이상」은 기준값을 포함하고 「넘으면」은 포함하지 않으므로, 기준값과 바로 아래 · 위의 세 값을 넣어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pic>
        <p:nvPicPr>
          <p:cNvPr id="6" name="삽화:수직선_경계.svg" descr="illust_2521092353574500616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23" y="1627632"/>
            <a:ext cx="10619248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92416" y="2029465"/>
            <a:ext cx="2654812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forecast_ts1 &gt;= 55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조치 후 예측 유온 55 ℃ 이상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2416" y="2714945"/>
            <a:ext cx="2654812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임계값(Threshold) 55 ℃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이상: 기준값 포함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39219" y="3329513"/>
            <a:ext cx="955732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54.9 ℃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맞지 않음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10868" y="3329513"/>
            <a:ext cx="955732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55.0 ℃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맞음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82517" y="3329513"/>
            <a:ext cx="955732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55.1 ℃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맞음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2416" y="4156816"/>
            <a:ext cx="2654812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fan100_hours &gt; 24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연속 운전이 24시간을 넘겼다면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2416" y="4889571"/>
            <a:ext cx="2654812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임계값(Threshold) 24 h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넘으면: 기준값 제외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39219" y="5523049"/>
            <a:ext cx="955732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23.9 h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맞지 않음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0868" y="5523049"/>
            <a:ext cx="955732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24.0 h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맞지 않음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82517" y="5523049"/>
            <a:ext cx="955732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24.1 h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맞음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범위와 복수 조건: AND · 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범위는 하한과 상한의 두 검사를 한 행에 AND로 묶고, 하나만 맞아도 되는 조건은 같은 출력의 행 둘로 나눈다.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82394"/>
            <a:ext cx="6766560" cy="4217924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9554"/>
            <a:ext cx="6400800" cy="39436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범위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검사를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행에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55 &lt; ts1  AND  ts1 &lt; 65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50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℃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맞지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않음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60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℃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맞음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66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℃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맞지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않음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실제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AND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행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rule:ac-pm-due-options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pattern == 'PM_DUE'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AND hours_since_pm &gt;= 1800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SELECT  SOP-PM-11 ~ 14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입력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PM_DUE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1,950 h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맞음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입력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PM_DUE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1,700 h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맞지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않음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OR: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같은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출력의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행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행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A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출력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X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행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B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출력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882394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하한 · 상한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범위의 두 끝. 끝마다 포함 여부를 따로 정한다.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36875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AND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한 행에 적은 검사는 모두 맞아야 출력을 낸다.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OR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행을 나누어 적는다. 두 행이 함께 맞을 수도 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045837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범위와 경보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55~65 ℃ 구간만으로 경보가 나지 않는다. 경보는 냉각 효율 70 % 미만과 상승 추세도 본다.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후보 선택 · 제외 · 감점 · 경고 · 순위의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규칙의 출력은 후보 선택 · 제외 · 감점 · 경고 · 순위의 다섯이며, 후보에 오른 것이 실행 허가는 아니다.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출력(effect) · 결정표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HYD의 실제 규칙과 근거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후보는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후보 선택 SELECT / 후보 선택 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failure_mode == 'fm:cooler-performance-loss' → SOP-COOL-11 · 12 · 13 (HM-8.5)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cause == 'cause:cooler-fin-fouling' → SOP-COOL-14 (HM-8.7)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올린다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제외 EXCLUDE</a:t>
            </a: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 / 규정 적합성 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plc_mode != 'REMOTE_AUTO' → SOP-COOL-11 · 12 · 13 (HM-8.8)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뺀다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점수로 되살리지 않는다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감점 PENALTY / 규정 적합성 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fan100_hours &gt; 24 → 팬 최대 운전 조치만 20만 원 감점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적용 대상: SOP-COOL-11 · 12 (HM-8.8)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남기고 깎는다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경고 WARN / 규정 적합성 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forecast_ts1 &gt;= 55 → 모든 후보 (HM-8.6)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「경보 해제에 실패할 수 있으므로 다른 조치와 비교한다」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남기고 알린다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순위 RANK / 순위 결정표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남은 후보에 점수를 매길 식의 묶음, 순위 정책을 담는다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점수로 견준다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여러 규칙과 모르는 값의 처리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여러 행이 함께 맞을 때, 값을 얻지 못했을 때, 판정의 근거를 남길 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Hit Policy와 Collect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Hit Policy는 여러 행이 맞을 때의 처리 방식이며, Collect는 맞은 행의 출력을 빠짐없이 모아 답으로 삼는다.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82394"/>
            <a:ext cx="6766560" cy="4217924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9554"/>
            <a:ext cx="6400800" cy="39436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입력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SOP-COOL-11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plc_mode      = 'REMOTE_AUTO'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fan100_hours  = 30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forecast_ts1  = 56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규정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적합성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Hit Policy COLLECT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Rule 1  plc_mode != 'REMOTE_AUTO'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맞지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않음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Rule 2  fan100_hours &gt; 24 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맞음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Rule 3  forecast_ts1 &gt;= 55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맞음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penalties   [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감점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(HM-8.8)]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warnings    [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예측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55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℃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(HM-8.6)]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violations  []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후보에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남는다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882394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Hit Policy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한 입력에 여러 행이 맞을(hit) 때 무엇을 답으로 삼을지 표마다 정한 방식이다.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36875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Collect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맞은 행의 출력을 모두 모은다. 감점과 경고가 함께 남는다.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제외도 모인다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Rule 1도 맞았다면 제외가 함께 모이고, 그 후보를 추천에서 제외하고 사유를 남긴다.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045837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처음 맞은 행에서 멈추면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감점만 보고 경고를 놓친다.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값을 얻지 못한 입력의 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값을 모르는 조건을 통과로 치면 위험한 조치가 남으므로, 같은 행의 다른 조건과 규칙의 종류로 처리를 가른다.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55064"/>
            <a:ext cx="11094415" cy="1126998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제외 · 감점 규칙의 값을 모른다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EXCLUDE · PENALTY 규칙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627632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예: 통신이 끊겨 plc_mode를 읽지 못했다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처리: 「확인되지 않은 조건 (plc_mode)」 — 제외 쪽으로 처리한다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00350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09494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행의 다른 조건이 거짓이다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AND로 묶인 한 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2809494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예: skill_kind == 'control' AND plc_mode != 'REMOTE_AUTO'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작업지시 후보는 앞 조건이 거짓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처리: 규칙이 맞지 않는다 · 모르는 값은 상관없다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91356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경고 규칙의 값을 모른다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WARN 규칙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3991356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예: 경고 조건의 입력이 비었다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처리: 「확인되지 않은 조건」을 경고로 남긴다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4074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73218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모든 후보가 제외되었다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후보 전체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5173218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예: 원격 제어 후보만 있는데 운전 모드를 모른다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예: 설비가 보호 정지(TRIP) — 리셋 외 후보 제외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처리: 추천을 내지 않고 제외 사유를 보인다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판정의 근거: 지식 출처와 결과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걸린 규칙 · 조건 · 판정 · 출처와 그때 읽은 값이 한 묶음으로 남아야 승인하는 사람이 근거 원문까지 되짚는다.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90852"/>
            <a:ext cx="6766560" cy="4001008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28012"/>
            <a:ext cx="6400800" cy="37266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걸린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규칙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rule      rule:cmp-fan100-over-24h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effect    PENALTY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when      fan100_hours &gt; 24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penalty   20   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measure   msr:maint-cost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sources   ["HM-8.8"]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판단에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fan100_hours = 30   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,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시각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HM-8.8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24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시간을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넘겼다면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조치는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수명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손실로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감점해서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비교한다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990852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출처(Knowledge Source)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규칙의 권위 있는 근거 문서. 규칙은 DERIVED_FROM으로 매뉴얼의 절을 가리킨다.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91104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rule · when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어느 규칙이 어떤 조건으로 걸렸는가.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effect · penalty · measure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판정의 종류와 크기, 깎이는 지표.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4991608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trace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맞은 행 · 맞지 않은 행 · 모르는 값까지 후보 선택·규정 표의 행별 평가 기록.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허용된 후보의 성과 비교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규칙을 통과한 후보끼리 득실을 견주고 가정값으로 다시 계산한다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가능 여부를 가리는 규칙과 효과를 견주는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안전 조건을 점수에 섞으면 위험한 조치가 뽑힐 수 있고, 견줄 값을 제외 조건에 넣으면 고를 조치가 남지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79078"/>
            <a:ext cx="5181447" cy="3424555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480246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shield-check" descr="shield-che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633865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480246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가능 여부를 가리는 규칙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30638"/>
            <a:ext cx="4632807" cy="182435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조건에 걸리면 후보에서 빠진다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다른 점수가 높아도 되살아나지 않는다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안전과 규정은 금액과 맞바꾸지 않는다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섞으면: 넘으면 안 되는 선이 점수에 묻힌다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246433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46433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통과 또는 제외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279078"/>
            <a:ext cx="5181447" cy="3424555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480246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scale" descr="scal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633865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480246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효과와 비용을 견주는 기준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330638"/>
            <a:ext cx="4632807" cy="182435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통과한 후보끼리 점수로 비교한다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한 항목의 손해를 다른 항목의 이득이 메울 수 있다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감점 · 경고는 이쪽에서 점수의 성분이 된다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섞으면: 비용이 조금만 들어도 빠져 남는 후보가 없다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246433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246433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더 낫거나 못하다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조치가 성과 지표에 닿는 경로와 상충(Trade-off)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팬을 올리고 부하를 내리면 냉각에는 도움이 되지만, 전력 사용이 늘고 생산 감소는 납기에 부담을 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pic>
        <p:nvPicPr>
          <p:cNvPr id="6" name="삽화:성과경로_6.svg" descr="illust_7658143600817636496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3828" y="4345914"/>
            <a:ext cx="1963709" cy="82524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최대 운전과 부하 80 %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SOP-COOL-12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4831" y="2818948"/>
            <a:ext cx="1636424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속도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60 → 100 %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5749" y="5721601"/>
            <a:ext cx="1636424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펌프 부하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90 → 80 %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0395" y="4227728"/>
            <a:ext cx="152732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0395" y="5721601"/>
            <a:ext cx="152732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생산량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6845" y="2601486"/>
            <a:ext cx="218189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전력 사용량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6845" y="4227728"/>
            <a:ext cx="218189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인터록 여유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6845" y="5721601"/>
            <a:ext cx="218189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납기 준수율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50239" y="2610941"/>
            <a:ext cx="1200044" cy="32943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AFFECTS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99454" y="2681852"/>
            <a:ext cx="1418234" cy="32943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INFLUENCES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즉시 제어 · 작업지시 · 정비의 손익 항목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후보의 손익은 생산 · 납기 · 품질 · 전력 · 정비 정지를 원천과 함께 계산하고, 출처가 없으면 미확인으로 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손익 항목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계산과 원천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해당하는 후보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생산 감소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시간당 생산 가치 × (기간 × (1 - 부하/90) + 작업 정지 시간)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MES · CMMS 표준 작업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부하를 낮추거나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설비를 세우는 후보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82824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50820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납기 지연 위약금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50820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위약금(만원/h) × 납기를 넘긴 시간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ERP 계약 · MES 오더 잔량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750820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생산 속도가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줄어드는 후보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03676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1672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품질 클레임 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71672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불량 확률 × 클레임 금액(예측 유온 55 ℃ 이상)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QMS 고온 로트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471672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예측 유온이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높은 후보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24528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92524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에너지비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192524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최대 추가 전력 × 운전 시간 × 전력 단가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192524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팬을 올리는 후보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45380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913376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정비 정지 · 작업비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913376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CMMS 설비별 기준: 핀 세척 3 h · 40만 원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조치별 표준 작업이 없으면 손익 미확인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4913376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작업지시를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거는 후보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66623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63422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고장 위험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63422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ERP 고장 비용 × min(1, 기간 ÷ CMMS MTBF)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확률식과 근본 조치의 0 처리는 가정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495" y="563422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남는 후보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사건 네 후보의 예측 유온과 판단 순위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유온을 가장 낮추는 안은 공동 2순위였고, 냉각 효과와 생산 유지를 함께 얻는 팬 최대 운전이 1순위였다.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pic>
        <p:nvPicPr>
          <p:cNvPr id="6" name="Picture 5" descr="그래프_조치후보_예측유온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82496"/>
            <a:ext cx="7223760" cy="4572000"/>
          </a:xfrm>
          <a:prstGeom prst="rect">
            <a:avLst/>
          </a:prstGeom>
          <a:ln w="12700">
            <a:solidFill>
              <a:srgbClr val="D3D9E1"/>
            </a:solidFill>
          </a:ln>
        </p:spPr>
      </p:pic>
      <p:sp>
        <p:nvSpPr>
          <p:cNvPr id="7" name="Oval 6"/>
          <p:cNvSpPr/>
          <p:nvPr/>
        </p:nvSpPr>
        <p:spPr>
          <a:xfrm>
            <a:off x="8138160" y="1682496"/>
            <a:ext cx="347472" cy="347472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682496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627632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1순위 팬 최대 운전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SOP-COOL-11 · 생산 유지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점수 +3.38 · 승인 운전원</a:t>
            </a:r>
          </a:p>
        </p:txBody>
      </p:sp>
      <p:sp>
        <p:nvSpPr>
          <p:cNvPr id="10" name="Oval 9"/>
          <p:cNvSpPr/>
          <p:nvPr/>
        </p:nvSpPr>
        <p:spPr>
          <a:xfrm>
            <a:off x="8138160" y="2852928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852928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798064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공동 2순위 두 후보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SOP-COOL-13 · 12 · 생산 감산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점수 +2.75 · 승인 운전원</a:t>
            </a:r>
          </a:p>
        </p:txBody>
      </p:sp>
      <p:sp>
        <p:nvSpPr>
          <p:cNvPr id="13" name="Oval 12"/>
          <p:cNvSpPr/>
          <p:nvPr/>
        </p:nvSpPr>
        <p:spPr>
          <a:xfrm>
            <a:off x="8138160" y="4023359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4023359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968496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4순위 쿨러 핀 세척 · 경고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SOP-COOL-14 · 예측 유온 ≥ 55 ℃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점수 -1.58 · 승인 설비보전팀장</a:t>
            </a:r>
          </a:p>
        </p:txBody>
      </p:sp>
      <p:sp>
        <p:nvSpPr>
          <p:cNvPr id="16" name="Oval 15"/>
          <p:cNvSpPr/>
          <p:nvPr/>
        </p:nvSpPr>
        <p:spPr>
          <a:xfrm>
            <a:off x="8138160" y="5193792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5193792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5138928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원격 자동 · 팬 60 %(100 % 연속 0 h)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납기 5.98 h · 위약금 120만 원/h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고온 로트 있음 · 제외된 후보 없음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What-if 분석과 가정값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What-if 분석은 판단 한 건을 사본으로 떠서 값 하나를 가정값으로 바꾸고 순위와 손익을 다시 계산한다.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pic>
        <p:nvPicPr>
          <p:cNvPr id="6" name="삽화:가정분석_3.svg" descr="illust_134456005505135319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1104" y="1627632"/>
            <a:ext cx="2290993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 그래프 · 업무 DB · 순위 정책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68484" y="1816729"/>
            <a:ext cx="240008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판단 한 건의 사본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후보 · 규칙 · 입력 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9390" y="5645962"/>
            <a:ext cx="2618278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가정값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납기 · 위약금 · 감점 기준 · 관점 중요도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6805" y="1627632"/>
            <a:ext cx="2618278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기준 결과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2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지금 값의 판단 순위 · 손익 순위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6805" y="5598688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시험 결과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가정값으로 다시 계산한 순위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104" y="5645962"/>
            <a:ext cx="2290993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원본 그대로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unchanged: true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예측을 조치 뒤의 관측으로 확인하기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예측과 What-if는 가정과 모델의 계산이므로, 추천안은 사람이 승인하고 결과는 조치 뒤의 재관측으로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5441" y="2716720"/>
            <a:ext cx="8320811" cy="3657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01101" y="2300668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1101" y="2300668"/>
            <a:ext cx="8686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1" y="3352228"/>
            <a:ext cx="2627299" cy="232981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전제 확인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 모드 · 입력 값 · 예측 모델을 확인한다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예측은 지금의 외기 · 오염이 그대로라고 본 계산이다</a:t>
            </a:r>
          </a:p>
        </p:txBody>
      </p:sp>
      <p:sp>
        <p:nvSpPr>
          <p:cNvPr id="10" name="Oval 9"/>
          <p:cNvSpPr/>
          <p:nvPr/>
        </p:nvSpPr>
        <p:spPr>
          <a:xfrm>
            <a:off x="4274705" y="2300668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4705" y="2300668"/>
            <a:ext cx="8686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5395" y="3352228"/>
            <a:ext cx="2627299" cy="232981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 있는 추천안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규칙 · 점수 · 출처를 붙인 추천안을 낸다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손익에는 운전 시간과 고장 확률 등의 가정이 든다</a:t>
            </a:r>
          </a:p>
        </p:txBody>
      </p:sp>
      <p:sp>
        <p:nvSpPr>
          <p:cNvPr id="13" name="Oval 12"/>
          <p:cNvSpPr/>
          <p:nvPr/>
        </p:nvSpPr>
        <p:spPr>
          <a:xfrm>
            <a:off x="7048309" y="2300668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8309" y="2300668"/>
            <a:ext cx="8686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8999" y="3352228"/>
            <a:ext cx="2627299" cy="232981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사람의 승인 · 거절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어느 가정이 현실에 가까운지는 사람이 판단한다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1회 뒤에 실행된다</a:t>
            </a:r>
          </a:p>
        </p:txBody>
      </p:sp>
      <p:sp>
        <p:nvSpPr>
          <p:cNvPr id="16" name="Oval 15"/>
          <p:cNvSpPr/>
          <p:nvPr/>
        </p:nvSpPr>
        <p:spPr>
          <a:xfrm>
            <a:off x="9821913" y="2300668"/>
            <a:ext cx="868680" cy="86868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21913" y="2300668"/>
            <a:ext cx="8686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42603" y="3352228"/>
            <a:ext cx="2627299" cy="232981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뒤 재관측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15분 동안 TS1 55 ℃ 미만 · 경보 해제 상태 유지 = 완화 성공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핀 세척은 재가동 뒤 CE 80 % 이상 = 정비 완료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복습: 조치를 고를 때 구분하는 네 가지 판단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조치의 수행 방법 · 가능 여부 · 성과 비교 · 가정 변경은 서로 다른 판단이며, 각각에 맞는 근거가 필요하다.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42239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856232"/>
            <a:ext cx="5001768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완료 여부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386584"/>
            <a:ext cx="500176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핀 세척의 완료 여부를 확인한다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935224"/>
            <a:ext cx="500176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재가동 뒤 확인할 매뉴얼의 완료 기준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42239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856232"/>
            <a:ext cx="5001768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가능 여부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386584"/>
            <a:ext cx="500176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수동 운전 중 팬 최대 운전을 고른다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935224"/>
            <a:ext cx="500176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현재 운전 모드와 원격 조치 제외 조건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2239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4187952"/>
            <a:ext cx="5001768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성과 비교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4718304"/>
            <a:ext cx="500176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효과와 생산 감소를 견준다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5266944"/>
            <a:ext cx="500176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성과 목표와 지표, 조치의 득실 경로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023360"/>
            <a:ext cx="542239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4187952"/>
            <a:ext cx="5001768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가정 변경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4718304"/>
            <a:ext cx="500176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납기가 더 멀다면 결과를 비교한다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5266944"/>
            <a:ext cx="500176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고정한 기준 입력과 바꿔 넣은 가정값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오늘 다룬 핵심 개념과 주요 용어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판정과 성과 비교에서 풀어 쓴 약어와 핵심 용어의 정식 명칭과 뜻을 한곳에 모은다.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용어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844265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정식 명칭 · 풀이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61972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29968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029968"/>
            <a:ext cx="835121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Standard Operating Procedure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작업을 안전하고 같은 방식으로 하도록 정한 표준 작업 절차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79845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47841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DMN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647841"/>
            <a:ext cx="835121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Decision Model and Notation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업무의 의사결정을 표와 모델로 정의하는 표준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97718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265714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결정표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265714"/>
            <a:ext cx="835121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Decision Table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입력 조건의 조합마다 출력을 정한 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15591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883587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임계값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883587"/>
            <a:ext cx="835121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Threshold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조건의 판정이 갈리는 기준값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33464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501460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Hit 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501460"/>
            <a:ext cx="835121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Hit Policy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여러 규칙이 함께 맞을 때 결과를 고르는 방식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151337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119333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상충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119333"/>
            <a:ext cx="835121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Trade-off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한 조치가 어떤 성과에는 이롭고 다른 성과에는 불리한 관계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769210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737206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What-if 분석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737206"/>
            <a:ext cx="835121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What-if Analysis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가정값을 바꿔 결과가 어떻게 달라지는지 견주는 분석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Review Quiz: 핵심 흐름 되짚어보기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배운 내용을 바탕으로 정답을 맞혀 보세요.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1. 운전 상태와 조치의 가능 여부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HYD-01의 쿨러 성능 저하 경보에서 원인은 쿨러 핀 오염이고, 수동 조작이 들어와 운전 모드는 REMOTE_MANUAL이다.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상태에서 조치 후보에 남는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최대 운전 — 유온을 경보 기준 아래로 내리므로 남는다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최대 운전과 부하 80 % — 유온을 가장 많이 내리므로 남는다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세척 — 작업지시 후보로 남고, 세척은 정지와 잠금 뒤에 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부하 70 %와 야간 핀 세척 — 팬을 건드리지 않으므로 남는다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2. 여러 규칙이 함께 맞았을 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Hit Policy가 Collect인 규정 적합성 표에 원격 자동, 팬 100 % 연속 30 h, 「팬 최대 운전」 예측 유온 56 ℃를 넣었다.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후보에 내려지는 판정은?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감점 20만 원과 경고가 함께 붙는다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표의 위쪽에 있는 감점 규칙만 적용된다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두 규칙이 함께 맞았으므로 결정표의 오류로 처리된다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감점과 경고가 겹쳤으므로 후보에서 제외된다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3. 가능 여부의 규칙과 성과의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사건에서 「팬 최대 운전과 부하 80 %」는 예측 유온이 44.6 ℃로 가장 낮았으나 네 후보 가운데 공동 2순위였다.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 까닭으로 가장 알맞은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 모드 규칙에 걸려 후보에서 제외되었기 때문이다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예측 유온이 낮을수록 점수가 낮게 매겨지기 때문이다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승인할 역할의 직급이 더 높은 조치였기 때문이다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부하를 낮춰 생산이 줄어 납기에서 잃은 것이 예측에서 얻은 것보다 컸기 때문이다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정답과 판단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 문항은 조치의 가능 여부, 여러 규칙의 처리, 규칙과 성과 비교의 경계를 올바른 기준으로 판단하는지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원격으로 보내는 설비 제어는 원격 자동에서만 남는다. 정비 작업지시는 운전 모드와 관계없이 남지만, 세척은 정지와 잠금 뒤에 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Collect는 맞은 행의 출력을 모두 모은다. 감점과 경고가 함께 붙고 제외는 맞지 않았다.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네 후보 모두 규칙을 통과했다. 순위는 예측에서 얻은 것과 납기에서 잃은 것을 견준 결과이다.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