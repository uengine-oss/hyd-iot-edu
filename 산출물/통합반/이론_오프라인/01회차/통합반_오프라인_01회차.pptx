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오늘의 흐름: 이론 → 포털 시연과 관계 그림 그리기 → Cypher 연습 → 설비 모델 적재 · 조회</a:t>
            </a:r>
          </a:p>
          <a:p>
            <a:r>
              <a:t>· 이론의 줄기: HYD와 쿨러 사건의 완성 흐름 → 데이터가 올라가고 명령이 내려가는 구조 → 판단에 지식이 필요한 이유 → 판단 근거를 관계로 적는 온톨로지 → 포털의 화면과 과정의 길</a:t>
            </a:r>
          </a:p>
          <a:p>
            <a:r>
              <a:t>[다음] 오늘 할 수 있게 될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완성 흐름: HYD는 유압 설비와 업무 시스템을 잇는 시스템. 쿨러 사건 한 건에서 경보 → 추천 → 승인 → 명령 → 확인을 누가 맡았는지 말할 수 있으면 된다</a:t>
            </a:r>
          </a:p>
          <a:p>
            <a:r>
              <a:t>· 2 구조: 값이 올라가는 길과 명령이 내려가는 길. 명령이 처리됐다는 것과 설비가 회복됐다는 것은 따로 확인한다</a:t>
            </a:r>
          </a:p>
          <a:p>
            <a:r>
              <a:t>· 3 지식과 관계: 경보 값만으로는 원인을 못 가린다 → 원인과 조치의 연결을 관계로 적은 지식이 필요하다</a:t>
            </a:r>
          </a:p>
          <a:p>
            <a:r>
              <a:t>· 4 포털과 과정의 길: 포털 네 화면이 각각 답하는 물음, 그리고 관계 모델 → 에이전트 → 업무 흐름의 차례</a:t>
            </a:r>
          </a:p>
          <a:p>
            <a:r>
              <a:t>[다음] 오늘의 다섯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 위에서 아래로</a:t>
            </a:r>
          </a:p>
          <a:p>
            <a:r>
              <a:t>· 01 HYD가 잇는 것, 그리고 쿨러 사건 한 건을 끝까지</a:t>
            </a:r>
          </a:p>
          <a:p>
            <a:r>
              <a:t>· 02 그 흐름을 만든 시스템의 계층과 두 경로</a:t>
            </a:r>
          </a:p>
          <a:p>
            <a:r>
              <a:t>· 03 경보 값에서 원인과 조치까지 무엇이 더 필요한가</a:t>
            </a:r>
          </a:p>
          <a:p>
            <a:r>
              <a:t>· 04 그 연결을 관계로 적는 온톨로지와 지식 그래프</a:t>
            </a:r>
          </a:p>
          <a:p>
            <a:r>
              <a:t>· 05 포털 네 화면의 역할과 과정 전체의 길</a:t>
            </a:r>
          </a:p>
          <a:p>
            <a:r>
              <a:t>[다음] HYD는 무엇과 무엇을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HYD는 무엇과 무엇을 잇는 시스템이고, 기름 온도가 오른 그 순간부터 무엇이 누구에 의해 어떤 순서로 일어났나</a:t>
            </a:r>
          </a:p>
          <a:p>
            <a:r>
              <a:t>· 부분부터 배우면 왜 필요한지 놓친다 → 시스템이 잇는 것과 완성된 흐름을 먼저 본다</a:t>
            </a:r>
          </a:p>
          <a:p>
            <a:r>
              <a:t>[다음] 설비와 업무를 잇는 HYD의 세 영역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띠 유압 설비 → 오른쪽 띠 업무 시스템 → 가운데 띠 판단과 처리, 그다음 화살표를 쿨러 사건 순서로</a:t>
            </a:r>
          </a:p>
          <a:p>
            <a:r>
              <a:t>· HYD = 이 과정의 강의와 실습을 위해 만든 시스템. 유압 파워팩 세 대(HYD-01 · 02 · 03)와 생산 · 구매 · 정비 업무 시스템을 하나로 연결했다</a:t>
            </a:r>
          </a:p>
          <a:p>
            <a:r>
              <a:t>· 왼쪽 유압 설비: 센서가 유온 · 압력 · 진동을 재고, PLC(설비를 직접 제어하는 산업용 제어기)가 팬 속도 같은 설정값을 설비에 적용한다</a:t>
            </a:r>
          </a:p>
          <a:p>
            <a:r>
              <a:t>· 오른쪽 업무 시스템: 생산 관리에는 생산 오더와 납기, 구매 관리에는 부품 재고와 발주, 정비 관리에는 점검 일정과 작업지시가 있다</a:t>
            </a:r>
          </a:p>
          <a:p>
            <a:r>
              <a:t>· 가운데가 둘을 잇는다: 센서 값에서 감지 서비스가 이상을 알아채 경보를 내면 처리할 건이 열리고, 에이전트가 그 건을 받아 지식과 납기를 조회해 추천안을 만든다. 사람이 승인하면 프로세스가 설비 명령과 작업지시를 내보낸다(값이 올라오는 자세한 길은 다음 단원)</a:t>
            </a:r>
          </a:p>
          <a:p>
            <a:r>
              <a:t>· 왜 잇나: 쿨러 핀을 세척하려면 설비를 멈춰야 하고, 멈추면 납기에 영향 → 설비 값만으로는 조치 시점을 정하지 못한다</a:t>
            </a:r>
          </a:p>
          <a:p>
            <a:r>
              <a:t>· 일이 업무 쪽에서 시작되기도 한다: 정비 점검이 다가오거나 부품 재고가 기준보다 줄어도 같은 순서(추천 → 승인 → 처리)로 처리한다</a:t>
            </a:r>
          </a:p>
          <a:p>
            <a:r>
              <a:t>· 이 완성된 시스템에서 흐름을 먼저 보고, 과정 동안 같은 기능을 하나씩 직접 만들어 본다</a:t>
            </a:r>
          </a:p>
          <a:p>
            <a:r>
              <a:t>[다음] 그 위에서 일어난 쿨러 사건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시각 · 수치는 이 기록 값으로 읽는다. 경보 기준 55 ℃ 같은 기준값은 이 수업용 설비에 정한 값이다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앞 장 구조도로 읽으면: 감지 서비스(값에서 이상을 알아채는 기능)가 경보 → 에이전트가 약 94초 동안 원인을 가리고 추천안 → 운전원 승인 → 프로세스가 명령을 보내고 다시 관측 → 남은 핀 세척은 작업지시로 따로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이 흐름을 만든 시스템의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쿨러 사건의 유온 값은 어떤 길로 올라와 경보가 되었고, 승인된 명령은 어떤 길로 설비에 닿았나</a:t>
            </a:r>
          </a:p>
          <a:p>
            <a:r>
              <a:t>· 앞 단원의 흐름을 만든 부분들: 재는 것, 제어하는 것, 모으고 알아채는 것, 판단하고 승인하는 것</a:t>
            </a:r>
          </a:p>
          <a:p>
            <a:r>
              <a:t>· 설비 · 센서 · PLC의 역할과 계측 지점 → 값이 올라가고 명령이 내려가는 두 길 → 경보가 나는 방식 → 판단 · 추천 · 승인 · 실행을 맡는 맨 위 계층 → 명령과 그 확인 → 기록을 잇는 식별자를 차례로 짚고, 단원 끝에서 아홉 기능 계층과 세 보안 영역의 전체 지도로 묶는다</a:t>
            </a:r>
          </a:p>
          <a:p>
            <a:r>
              <a:t>[다음] 값을 재고 제어하는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값이 올라가는 길과 명령이 내려오는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위 띠: OT = 설비를 움직이는 운영 기술 영역, IT = 데이터를 다루는 정보 기술 영역, DMZ = 둘 사이에서 드나드는 데이터와 명령을 검사하는 완충 구역</a:t>
            </a:r>
          </a:p>
          <a:p>
            <a:r>
              <a:t>· 엣지 게이트웨이 = PLC 값을 이름 붙은 메시지로 바꿔 내보내는 곳, 브로커 = 메시지를 받아 구독하는 곳에 나눠 주는 중개 서버(MQTT는 그 메시지 규약), 이벤트 로그 = 메시지를 순서대로 기록해 다시 읽게 하는 곳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그 길로 올라온 값에서 경보는 언제 울리나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경보 뒤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시스템을 하는 일로 아래에서부터 아홉 층으로 나눈다(설비가 1층). 판단 · 추천 · 승인 · 실행이 맨 위 세 층(7~9)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정상(인터록 = 위험 조건에서 다른 명령보다 앞서 설비를 안전한 상태로 돌리는 PLC의 보호 동작, PASS = 막을 조건이 없었다).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화면(지금 값을 보고 조작)은 OT, 분석 화면(저장한 이력을 그래프로 봄)은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경보 값만으로 원인과 조치를 정할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첫 단원 그래프에서 유온은 내려왔지만 냉각 효율은 55 %에 머물렀다. 원인은 핀 오염이고 팬 운전을 먼저 한다는 판단은 무엇에 근거했나</a:t>
            </a:r>
          </a:p>
          <a:p>
            <a:r>
              <a:t>· 값과 정보와 지식의 차이 → 증거로 원인 후보를 가리는 법 → 완화 조치와 근본 조치 → 흩어진 정보와 AI에게 묻는 두 방식</a:t>
            </a:r>
          </a:p>
          <a:p>
            <a:r>
              <a:t>[다음] 값 · 정보 · 지식의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쿨러 사건에서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시계열 저장소(TSDB, Time Series Database) = 계측값을 시각 순서로 쌓아 두고 시각으로 찾는 저장소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흩어진 정보를 AI에게 그대로 물으면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앞 단원에서 본 증상 → 원인 → 조치의 연결을 사람과 AI가 같은 뜻으로 쓰려면 어떻게 적어야 하나</a:t>
            </a:r>
          </a:p>
          <a:p>
            <a:r>
              <a:t>· 온톨로지의 정의 → 온톨로지 · 지식 그래프 · 그래프 DB · 관계 그림의 구분 → 관계를 문장으로 읽기 → HYD 지식 그래프 지도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이 지도와 쿨러 사건이 포털 어디에 보이나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쿨러 사건 한 건을 처리한 기능들을 포털에서는 어디서 보고, 과정에서는 어떤 차례로 직접 만드나</a:t>
            </a:r>
          </a:p>
          <a:p>
            <a:r>
              <a:t>· 포털 네 화면의 역할 → 지식 모델과 에이전트 · 사람 · 프로세스가 나눠 맡는 일 → 과정 전체의 길</a:t>
            </a:r>
          </a:p>
          <a:p>
            <a:r>
              <a:t>[다음] 포털의 네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메뉴 이름 → 오른쪽 물음</a:t>
            </a:r>
          </a:p>
          <a:p>
            <a:r>
              <a:t>· 설비 화면: 결함 시뮬레이션은 설비 카드와 탐지 단계(감시 중 → 이상 징후 → 경보), 실시간 모니터링은 유온 · 냉각 효율의 추세, 이상 확인 · 조치는 경보와 그 처리</a:t>
            </a:r>
          </a:p>
          <a:p>
            <a:r>
              <a:t>· 지식 지도: 수업 기준 지식의 대상과 연결 — 앞 단원의 지식 그래프 지도가 이 화면에 있다</a:t>
            </a:r>
          </a:p>
          <a:p>
            <a:r>
              <a:t>· 에이전트: 추천안을 만드는 AI의 목표 · 도구 · 스킬, 그리고 질문에 답할 때 쓴 근거(실행한 조회와 그 결과)</a:t>
            </a:r>
          </a:p>
          <a:p>
            <a:r>
              <a:t>· 내 작업함 · 처리 건: 사람에게 맡겨진 승인 대기 일, 처리 건의 추천안 · 근거 · 지나온 단계와 기록</a:t>
            </a:r>
          </a:p>
          <a:p>
            <a:r>
              <a:t>· 쿨러 사건 한 건이 지나는 순서: 경보는 설비 화면(이상 확인 · 조치) → 추천안과 근거는 처리 건, 그 근거의 연결은 지식 지도 → 승인은 내 작업함 → 결과는 다시 설비 화면</a:t>
            </a:r>
          </a:p>
          <a:p>
            <a:r>
              <a:t>[다음] 이 화면들 뒤에서 나눠 맡는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이 다섯 걸음을 과정에서 만드는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관계 모델 → 에이전트 → 업무 흐름</a:t>
            </a:r>
          </a:p>
          <a:p>
            <a:r>
              <a:t>· 까닭: 에이전트는 조회할 관계 모델이 있어야 근거를 댈 수 있고, 업무 흐름에 들어가야 추천이 승인 · 실행으로 이어진다</a:t>
            </a:r>
          </a:p>
          <a:p>
            <a:r>
              <a:t>· 관계 모델: 설비 · 센서 · 고장 · 조치를 설비 모델로 세우고, 작업 절차 · 판단 규칙 · 문서 근거까지 붙여 판단의 기준을 만든다</a:t>
            </a:r>
          </a:p>
          <a:p>
            <a:r>
              <a:t>· 에이전트: 그 기준을 조회해 원인 진단 · 품질 접수 · 센서 시각화처럼 서로 다른 일을 하게 하고, 필요하면 사람에게 묻고, 명세대로 동작하는지 검증한다</a:t>
            </a:r>
          </a:p>
          <a:p>
            <a:r>
              <a:t>· 업무 흐름: 추천안이 승인 · 명령 · 확인 · 보고로 끝나도록 업무 흐름도로 잇고, 냉각에 이어 정비 · 구매에도 적용한 뒤 마지막에 교대 인수인계 한 건을 완성한다. 과정 끝에는 에이전트 작업을 넣을 수 있는 업무 프로세스 제품(ProcessGPT)의 시연이 있다</a:t>
            </a:r>
          </a:p>
          <a:p>
            <a:r>
              <a:t>· 약어는 이름만: SOP = 표준 작업 절차(Standard Operating Procedure), MCP = AI에 외부 도구 · 데이터를 붙이는 연결 규격(Model Context Protocol), BPMN = 업무 흐름 표기 표준(Business Process Model and Notation). 뜻은 그 회차에서 다룬다</a:t>
            </a:r>
          </a:p>
          <a:p>
            <a:r>
              <a:t>· 앞 장의 다섯 걸음(정의 → 조회 → 판단 → 승인 → 실행 · 확인)을 과정을 따라 하나씩 직접 만든다</a:t>
            </a:r>
          </a:p>
          <a:p>
            <a:r>
              <a:t>[다음] 오늘 따라간 사건의 기록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오늘 따라간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약어와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줄을 위에서부터, 정식 명칭은 화면에 맡기고 뜻만</a:t>
            </a:r>
          </a:p>
          <a:p>
            <a:r>
              <a:t>· OT = 설비를 움직이는 운영 기술, IT = 데이터를 다루는 정보 기술, DMZ = 둘 사이에서 드나드는 데이터와 명령을 검사하는 완충 구역</a:t>
            </a:r>
          </a:p>
          <a:p>
            <a:r>
              <a:t>· PLC = 센서 값을 읽고 정해진 논리로 설비를 직접 제어, MQTT = 발행자의 메시지를 브로커가 구독자에게 전달하는 가벼운 메시지 규약, SCADA = 설비 데이터를 모아 감시 · 원격 제어</a:t>
            </a:r>
          </a:p>
          <a:p>
            <a:r>
              <a:t>· CEP = 값 하나가 선을 넘었는지가 아니라 여러 값 · 추세 · 지속 시간을 함께 보고 이상을 알아챈다</a:t>
            </a:r>
          </a:p>
          <a:p>
            <a:r>
              <a:t>· HITL = 자동 처리 중간에 사람이 승인 · 거절로 결정, MES = 생산 지시 · 실적 · 납기를 관리</a:t>
            </a:r>
          </a:p>
          <a:p>
            <a:r>
              <a:t>· 온톨로지 = 공통 정의, 지식 그래프 = 그 정의에 맞춰 실제 대상과 관계를 채운 지식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· 이어지는 실습: 강사가 포털에서 쿨러 사건을 경보부터 결과 확인까지 보여 주면 추천 · 승인 · 실행을 구별해 보고, 방금 본 대상을 관계 그림으로 그려 화살표마다 문장으로 읽는다</a:t>
            </a:r>
          </a:p>
          <a:p>
            <a:r>
              <a:t>· 이어서 연습용 Neo4j DB에서 Cypher로 그래프를 만들고 · 찾고 · 고치고 · 지운 뒤 다시 조회한다. 설비 모델 실습에서는 같은 대상의 식별자와 관계를 확인해 적재 · 조회하고, 모델이 형식에 맞는지 검사하는 것과 원자료의 뜻과 맞는지 확인하는 것을 나눠 본다 — 진행은 핸즈온 가이드</a:t>
            </a:r>
          </a:p>
          <a:p>
            <a:r>
              <a:t>· 다음 회차: 이 설비 모델로 적재 · 조회 기능을 직접 만들고 작업 절차(SOP)를 잇는다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1회차 · HYD 전체 흐름을 확인하고 설비 관계 표현하기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시스템과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과정의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HYD의 완성 흐름을 따라가며, 판단 근거를 관계로 적어야 하는 까닭을 이해한다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완성 흐름과 구조를 확인하고, 판단 근거를 관계로 읽으며, 과정에서 만들 것의 차례를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흐름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HYD가 무엇과 무엇을 잇는지 말한다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경보부터 확인까지 누가 무엇을 했는지 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구조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올라가는 길과 명령이 내려가는 길을 짚는다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처리와 설비 회복을 구별한다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관계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조치를 정하는 데 지식이 필요한 까닭을 든다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관계를 이름과 방향이 있는 문장으로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포털과 과정의 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네 화면이 맡는 일을 구별한다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과정에서 만들 것의 차례를 말한다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HYD와 쿨러 사건의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근거를 관계로 적는 온톨로지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HYD와 쿨러 사건의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설비와 업무 시스템을 잇는 HYD와, 쿨러 사건 한 건이 끝까지 지나간 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설비와 업무 시스템을 연결한 수업용 시스템 HYD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조치는 납기와 정비 일정에 영향을 주므로, HYD는 유압 설비와 업무 시스템을 하나로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유압 설비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· 압력 · 진동을 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02 ·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설정값을 설비에 적용한다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판단과 처리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업무 값을 조회해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추천한다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담당자가 추천안을 보고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일을 실행하고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관리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오더와 납기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관리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재고와 발주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관리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일정과 작업지시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650949" y="3240024"/>
            <a:ext cx="0" cy="347472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985723" y="3276600"/>
            <a:ext cx="62865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물리량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730087" y="3240024"/>
            <a:ext cx="0" cy="347472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5064861" y="3276600"/>
            <a:ext cx="62865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730087" y="4742688"/>
            <a:ext cx="0" cy="347472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5198211" y="4779264"/>
            <a:ext cx="4953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301898" y="5814060"/>
            <a:ext cx="1508760" cy="0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3164738" y="5832348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2382469" y="4742688"/>
            <a:ext cx="0" cy="347472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2419045" y="4779264"/>
            <a:ext cx="62865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설정값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센서에서 판단과 승인을 거쳐 다시 설비로 돌아오는 계층과 두 경로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설비_유압파워팩.svg" descr="illust_7660548478226995182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데이터_명령_두경로.svg" descr="illust_437852897210068980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pic>
        <p:nvPicPr>
          <p:cNvPr id="6" name="삽화:계층_0_전체.svg" descr="illust_7918590712665652434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값만으로는 원인과 조치를 정할 수 없는 까닭과, 판단에 쓰이는 정보가 놓인 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흩어진정보.svg" descr="illust_404375851063354437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근거를 관계로 적는 온톨로지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증거 · 조치를 잇는 공통 정의와 관계 그림 · 지식 그래프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Picture 5" descr="illust_9137410470384451560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지식그래프_지도.svg" descr="illust_5344833654181461959_17930038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네 화면의 역할과, 관계 모델에서 업무 흐름까지 가는 과정 전체의 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볼 네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포털은 상태 · 지식 · 추천 · 사람의 일을 화면마다 나누어, 사건이 어디까지 왔고 무엇에 근거했는지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실시간 모니터링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확인 ·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설비가 지금 어떤 상태이고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났는가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쓴 대상들은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어떻게 이어져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에이전트에게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목표 · 도구로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근거로 추천하는가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 · 처리 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승인할 일은 무엇이고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건은 어디까지 왔는가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과정의 길: 관계 모델에서 업무 흐름까지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관계 모델이 있어야 근거를 대고 업무 흐름에 들어가야 실행되므로, 과정은 이 순서로 쌓는다.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모델의 적재 ·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절차(SOP)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 성과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지식의 추출 · 검토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품질 · 시각화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외부 도구(MCP)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명세 · 행동 검증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흐름도(BPMN) 설계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· 정비 · 구매 흐름 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 완성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ProcessGPT 시연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약어와 지식 모델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CEP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 · 추세 · 지속 시간의 조합으로 이상을 알아채는 처리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지식 그래프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Ontology · Knowledge Graph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 · 속성 · 관계 · 제약을 정한 공통 정의와, 그 정의에 맞춰 실제 대상을 채운 지식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