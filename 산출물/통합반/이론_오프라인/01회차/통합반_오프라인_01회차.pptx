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오늘의 흐름: 이론 → 포털 시연과 관계도 → Cypher 연습 → 설비 모델 적재 · 조회</a:t>
            </a:r>
          </a:p>
          <a:p>
            <a:r>
              <a:t>· 줄기: 완성 흐름 → 시스템 구조 → 지식이 필요한 이유 → 그래프로 다루는 말 → 포털과 과정의 길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완성 흐름: 끝까지 한 번 본 뒤 부분으로 들어간다 — 추천과 승인과 실행은 주체가 다르다</a:t>
            </a:r>
          </a:p>
          <a:p>
            <a:r>
              <a:t>· 2 구조: 값이 올라가는 길과 명령이 내려가는 길, 명령이 처리됐다는 것과 설비가 회복됐다는 것은 다른 확인</a:t>
            </a:r>
          </a:p>
          <a:p>
            <a:r>
              <a:t>· 3 지식과 관계: 경보 값만으로 원인을 못 가린다 → 관계로 적은 지식, 그 관계를 그래프와 Cypher로 다룬다</a:t>
            </a:r>
          </a:p>
          <a:p>
            <a:r>
              <a:t>· 4 포털과 과정의 길: 포털 네 화면이 각각 답하는 물음, 그리고 과정 전체가 어디로 가는지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 위에서 아래로</a:t>
            </a:r>
          </a:p>
          <a:p>
            <a:r>
              <a:t>· 01 쿨러 사건 한 건을 끝까지</a:t>
            </a:r>
          </a:p>
          <a:p>
            <a:r>
              <a:t>· 02 그 흐름을 만든 시스템의 계층과 두 경로</a:t>
            </a:r>
          </a:p>
          <a:p>
            <a:r>
              <a:t>· 03 경보 값에서 원인과 조치까지 무엇이 더 필요한가 → 온톨로지와 관계</a:t>
            </a:r>
          </a:p>
          <a:p>
            <a:r>
              <a:t>· 04 관계를 저장하고 찾는 말(노드 · 레이블 · Cypher)</a:t>
            </a:r>
          </a:p>
          <a:p>
            <a:r>
              <a:t>· 05 포털 네 화면의 역할과 과정 전체의 길</a:t>
            </a:r>
          </a:p>
          <a:p>
            <a:r>
              <a:t>[다음] HYD의 완성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HYD = 유압 설비와 업무 시스템을 연결한 수업용 시스템 — 그 위에서 쿨러 사건 한 건이 끝까지 돈다</a:t>
            </a:r>
          </a:p>
          <a:p>
            <a:r>
              <a:t>· 부분부터 배우면 왜 필요한지 놓친다 → 완성된 흐름을 먼저</a:t>
            </a:r>
          </a:p>
          <a:p>
            <a:r>
              <a:t>· 물음: 기름 온도가 오른 그 순간부터 무엇이, 누구에 의해, 어떤 순서로 일어났나</a:t>
            </a:r>
          </a:p>
          <a:p>
            <a:r>
              <a:t>[다음] 경보 이후의 판단과 승인, 조치 뒤의 변화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데이터가 올라가고 명령이 내려가는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앞 단원의 흐름을 만든 부품들: 재는 것, 제어하는 것, 모으고 감지하는 것, 판단하고 승인하는 것</a:t>
            </a:r>
          </a:p>
          <a:p>
            <a:r>
              <a:t>· 여기서는 두 경로와 위 세 계층(7~9)을 짚고, 단원 끝에서 아홉 기능 계층과 세 보안 영역의 전체 지도로 묶는다</a:t>
            </a:r>
          </a:p>
          <a:p>
            <a:r>
              <a:t>[다음] 설비·센서·PLC·관제의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유압 파워팩 HYD-01의 구성과 유온 TS1의 계측 지점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데이터 수집과 승인된 자동 명령의 두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Layer 7~9 · 지식·추천·승인·실행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PLC에 닿는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명령·확인 응답·재관측의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식별자로 이어지는 판단과 작업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판단에 지식이 필요한 이유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유온이 올랐다는 것을 알면 무엇을 할지도 정해지나</a:t>
            </a:r>
          </a:p>
          <a:p>
            <a:r>
              <a:t>· 이 단원 끝에서 관계를 문장으로 읽는 법까지</a:t>
            </a:r>
          </a:p>
          <a:p>
            <a:r>
              <a:t>[다음] 데이터, 정보, 지식과 판단의 네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원인 후보와 증거의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완화 조치와 근본 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쿨러 사건에서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판단에 쓰이는 정보가 놓인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AI에게 그대로 묻는 방식과 지식을 조회하게 하는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온톨로지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노드·관계·방향을 문장으로 읽는다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HYD 지식 그래프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관계를 그래프로 다루는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관계도는 사람이 보는 그림, 그래프 DB는 같은 연결을 저장하고 찾는 도구</a:t>
            </a:r>
          </a:p>
          <a:p>
            <a:r>
              <a:t>· 클래스 = 공통 특성을 가진 대상의 유형, 인스턴스 = 그 유형에 속하는 실제 개별 대상 — 앞 단원 온톨로지의 「종류」(센서 · 증상 · 원인)가 클래스, 유온 센서 하나가 센서 클래스의 인스턴스</a:t>
            </a:r>
          </a:p>
          <a:p>
            <a:r>
              <a:t>[다음] 노드 · 레이블 · 관계 · 속성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센서 노드와 속성 상자 → 아래 상태 변수 노드와 속성 상자 → 가운데 읽는 관계</a:t>
            </a:r>
          </a:p>
          <a:p>
            <a:r>
              <a:t>· 노드 = 원 하나(인스턴스), 레이블 = 원에 붙인 종류 이름표(클래스 이름)</a:t>
            </a:r>
          </a:p>
          <a:p>
            <a:r>
              <a:t>· 유온 센서 노드: 레이블 센서, 속성은 이름-값 짝(식별자 · 이름 · 태그)</a:t>
            </a:r>
          </a:p>
          <a:p>
            <a:r>
              <a:t>· 유온 노드: 레이블 상태 변수, 한계 · 단위를 속성으로. 관계엔 유형 이름과 방향이 함께 저장</a:t>
            </a:r>
          </a:p>
          <a:p>
            <a:r>
              <a:t>· 설계 말과 대응: 대상 하나(인스턴스) → 노드, 대상의 종류(클래스) → 레이블, 관계 · 속성은 그대로</a:t>
            </a:r>
          </a:p>
          <a:p>
            <a:r>
              <a:t>[다음] Cypher 쿼리와 실행 화면의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질의 → 강조한 Cypher 쿼리와 예 → 질의 실행 화면</a:t>
            </a:r>
          </a:p>
          <a:p>
            <a:r>
              <a:t>· 질의(쿼리) = DB에 보내는 요청 한 건. 쿨러 사건에서 경보로부터 원인 후보를 찾은 것도 그래프에 보낸 질의</a:t>
            </a:r>
          </a:p>
          <a:p>
            <a:r>
              <a:t>· Cypher = 찾거나 만들 노드와 관계의 모양을 패턴으로 적는 그래프 DB 질의 언어. 쿨러의 센서를 찾으려면 구성 요소 → 센서 연결 모양을 그대로 적는다</a:t>
            </a:r>
          </a:p>
          <a:p>
            <a:r>
              <a:t>· 실행 화면(예: Neo4j Browser): 질의를 입력 · 실행하고 결과를 표와 그래프로 본다. 언어 = 요청 내용, 실행 화면 = 보내고 받는 창구</a:t>
            </a:r>
          </a:p>
          <a:p>
            <a:r>
              <a:t>· 포털 지식 지도 ≠ 실행 화면: 지식 지도는 HYD 기준 지식의 속성 · 연결을 골라 따라가 보는 곳, 실행 화면은 직접 조건을 적어 조회하거나 허용 범위에서 만든다</a:t>
            </a:r>
          </a:p>
          <a:p>
            <a:r>
              <a:t>[다음] 노드 · 관계 · 변수 · 속성 조건의 표기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연결 그림 → 아래 표기를 위아래로 맞춰: 둥근 괄호 · 콜론 뒤 레이블 → 대괄호 관계와 화살표 → 콜론 앞 변수 → 중괄호 속성 조건</a:t>
            </a:r>
          </a:p>
          <a:p>
            <a:r>
              <a:t>· 둥근 괄호 = 노드, 콜론 뒤 = 레이블(센서 · 상태 변수), 대괄호 = 관계 유형, 선과 화살표 = 방향</a:t>
            </a:r>
          </a:p>
          <a:p>
            <a:r>
              <a:t>· 변수 = 쿼리 안에서 찾은 노드를 다시 부르는 짧은 이름. 변수에 점 + 속성 이름이면 그 값을 읽는다. 대상의 고유 식별자와 역할이 다르다</a:t>
            </a:r>
          </a:p>
          <a:p>
            <a:r>
              <a:t>· 중괄호 = 속성 조건: 센서 전부가 아니라 태그가 TS1인 센서로 좁힌다. 레이블로 종류, 속성 조건으로 대상</a:t>
            </a:r>
          </a:p>
          <a:p>
            <a:r>
              <a:t>· 태그 조건 결과가 지금 하나여도 늘 하나라는 보장은 없다 → 특정 대상을 계속 가리킬 땐 식별자를 조건으로</a:t>
            </a:r>
          </a:p>
          <a:p>
            <a:r>
              <a:t>· 적는 순서: 그림의 양 끝과 방향 먼저 → 필요한 만큼만 조건으로 좁힌다</a:t>
            </a:r>
          </a:p>
          <a:p>
            <a:r>
              <a:t>[다음] MATCH · RETURN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두 줄 → RETURN → 아래 결과 두 행 → 오른쪽 강조한 행의 수</a:t>
            </a:r>
          </a:p>
          <a:p>
            <a:r>
              <a:t>· 절 = 쿼리를 하는 일별로 나눈 한 부분. MATCH = 찾을 패턴(이름이 오일 쿨러인 구성 요소에서 계측 관계로 이어진 센서)</a:t>
            </a:r>
          </a:p>
          <a:p>
            <a:r>
              <a:t>· RETURN = 돌려받을 항목(구성 요소 이름 · 센서 태그 → 결과 두 열)</a:t>
            </a:r>
          </a:p>
          <a:p>
            <a:r>
              <a:t>· 결과: 쿨러-유온 센서, 쿨러-냉각 효율 채널 → 두 연결이 각각 패턴에 맞아 두 행</a:t>
            </a:r>
          </a:p>
          <a:p>
            <a:r>
              <a:t>· 쿨러 이름이 두 번 나와도 같은 노드. 이름 반복 ≠ 노드 중복</a:t>
            </a:r>
          </a:p>
          <a:p>
            <a:r>
              <a:t>· 개수를 적지 않았다: 조건에 맞는 연결이 실제로 둘이라 두 행 → 한 행이 무엇을 나타내는지 알면 여러 행을 중복 데이터로 오해하지 않는다</a:t>
            </a:r>
          </a:p>
          <a:p>
            <a:r>
              <a:t>[다음] 포털의 화면과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포털의 각 화면이 어떤 물음에 답하는지 가른다</a:t>
            </a:r>
          </a:p>
          <a:p>
            <a:r>
              <a:t>· 그리고 오늘 시작한 관계 모델이 과정 끝에 어디에 쓰이는지</a:t>
            </a:r>
          </a:p>
          <a:p>
            <a:r>
              <a:t>[다음] 포털에서 볼 네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실제 메뉴 이름 → 오른쪽 물음</a:t>
            </a:r>
          </a:p>
          <a:p>
            <a:r>
              <a:t>· 설비 화면: 결함 시뮬레이션에서 쿨러 열화를 넣고, 실시간 모니터링에서 유온 · 냉각 효율 그래프를, 이상 확인 · 조치에서 경보와 사건을 본다</a:t>
            </a:r>
          </a:p>
          <a:p>
            <a:r>
              <a:t>· 지식 지도: HYD 기준 지식에서 대상을 골라 연결을 따라간다 — 앞 단원의 그래프와 같은 구조를 화면으로</a:t>
            </a:r>
          </a:p>
          <a:p>
            <a:r>
              <a:t>· 에이전트: 추천을 만드는 AI의 목표 · 지침 · 도구를 보고, 질문해 무엇을 근거로 답하는지 확인</a:t>
            </a:r>
          </a:p>
          <a:p>
            <a:r>
              <a:t>· 내 작업함 · 처리 건: 사람에게 맡겨진 승인 대기 일, 처리 건의 단계와 기록</a:t>
            </a:r>
          </a:p>
          <a:p>
            <a:r>
              <a:t>· 사건 한 건이 지나는 순서: 경보는 설비 화면 → 추천과 근거는 에이전트 · 지식 지도 → 승인은 작업함 → 결과는 다시 설비 화면</a:t>
            </a:r>
          </a:p>
          <a:p>
            <a:r>
              <a:t>[다음] 지식 모델이 판단과 업무에 쓰이는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관계 모델 → 에이전트 → 업무 흐름</a:t>
            </a:r>
          </a:p>
          <a:p>
            <a:r>
              <a:t>· 관계 모델: 오늘 그린 관계도를 설비 모델로 → 작업 절차 · 판단 규칙 · 문서 근거까지 붙여 판단의 기준을 세운다</a:t>
            </a:r>
          </a:p>
          <a:p>
            <a:r>
              <a:t>· 에이전트: 그 기준을 조회해 원인 · 점검 · 품질 같은 서로 다른 일을 하게 하고, 사람에게 묻고 명세대로 동작하는지 검증</a:t>
            </a:r>
          </a:p>
          <a:p>
            <a:r>
              <a:t>· 업무 흐름: 추천이 승인 · 명령 · 확인 · 보고로 끝나도록 BPMN으로 잇고, 마지막에 교대 인수인계 한 건을 완성</a:t>
            </a:r>
          </a:p>
          <a:p>
            <a:r>
              <a:t>· 앞 장의 다섯 걸음(정의 → 조회 → 판단 → 승인 → 실행 · 확인)을 과정을 따라 하나씩 직접 만든다</a:t>
            </a:r>
          </a:p>
          <a:p>
            <a:r>
              <a:t>[다음] 경보·판단·승인·실행 기록의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오늘 따라간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· 이 기록들도 그래프에서는 노드와 관계: 경보 · 추천안 · 승인 · 명령을 관계로 이어 두면 「이 승인은 어떤 증거에서 나왔나」를 MATCH 패턴으로 찾고 RETURN의 행으로 읽는다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줄을 위에서부터, 정식 명칭은 화면에 맡기고 뜻만</a:t>
            </a:r>
          </a:p>
          <a:p>
            <a:r>
              <a:t>· OT = 설비를 감시 · 제어하는 운영 기술, IT = 데이터를 다루는 정보 기술, DMZ = 둘 사이에서 드나드는 데이터와 명령을 검사하는 완충 구역</a:t>
            </a:r>
          </a:p>
          <a:p>
            <a:r>
              <a:t>· PLC = 센서 값을 읽고 정해진 논리로 설비를 직접 제어, SCADA = 설비 데이터를 모아 감시 · 원격 제어</a:t>
            </a:r>
          </a:p>
          <a:p>
            <a:r>
              <a:t>· HITL = 자동 처리 중간에 사람이 승인 · 거절로 결정, MES = 생산 지시 · 실적 · 납기를 관리</a:t>
            </a:r>
          </a:p>
          <a:p>
            <a:r>
              <a:t>· 클래스 = 공통 특성을 가진 대상의 유형, 인스턴스 = 그 유형에 속하는 실제 개별 대상</a:t>
            </a:r>
          </a:p>
          <a:p>
            <a:r>
              <a:t>· 레이블 = 노드의 종류 이름, Cypher 쿼리 = 노드와 관계의 패턴으로 그래프를 조회하고 만드는 문장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Quiz 1. 경보 이후의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Quiz 2. 관계의 이름과 방향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Quiz 3. 추천과 실행의 책임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· 이어지는 실습: 포털 시연에서 쿨러 사건을 경보부터 결과 확인까지 따라가며 추천 · 승인 · 실행을 가르고, 본 대상을 관계도로 그려 화살표마다 문장으로 읽는다</a:t>
            </a:r>
          </a:p>
          <a:p>
            <a:r>
              <a:t>· Cypher는 별도 랩 DB에서 만들고 · 찾고 · 고치고 · 지운 뒤 다시 조회한다. 설비 모델 실습에서는 식별자와 관계를 확인해 적재하고, 구조와 원자료의 뜻을 따로 대조한다 — 진행은 핸즈온 가이드</a:t>
            </a:r>
          </a:p>
          <a:p>
            <a:r>
              <a:t>· 다음 회차: 이 설비 모델로 적재 · 조회 기능을 직접 만들고 SOP를 잇는다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png"/><Relationship Id="rId4" Type="http://schemas.openxmlformats.org/officeDocument/2006/relationships/image" Target="../media/image28.png"/><Relationship Id="rId5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1회차 · HYD 전체 흐름을 확인하고 설비 관계 표현하기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시스템과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과정의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경보에서 결과 확인까지의 완성 흐름을 보고, 판단 근거를 관계와 그래프로 다룰 준비를 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완성 흐름과 구조를 확인하고, 판단 근거를 관계와 그래프로 다루며 이번 과정의 길을 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흐름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사건의 경보에서 결과 확인까지 따라간다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 · 승인 · 실행을 구별한다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구조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올라가는 길과 명령이 내려가는 길을 짚는다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처리와 설비 회복을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관계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조치에 지식이 필요한 까닭을 든다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관계를 문장과 Cypher 패턴으로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포털과 과정의 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네 화면의 역할을 가른다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모델에서 업무 흐름까지의 길을 잡는다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건이 경보에서 결과 확인까지 어떻게 이어졌는지 먼저 끝까지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센서에서 판단과 승인을 거쳐 다시 설비로 돌아오는 계층과 두 경로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설비_유압파워팩.svg" descr="illust_729006735899401938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데이터_명령_두경로.svg" descr="illust_254365992589859639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계층_0_전체.svg" descr="illust_179447520568581917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값만으로는 원인과 조치를 정할 수 없는 까닭과, 그 연결을 관계로 적는 온톨로지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흩어진정보.svg" descr="illust_818470787481087903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Picture 5" descr="illust_294245841143577952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지식그래프_지도.svg" descr="illust_243976175493222660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관계도가 그래프 DB에 저장되는 모양과 Cypher로 적는 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레이블 · 관계 ·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DB는 인스턴스를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로, 클래스 이름을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(Label)로, 값을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속성그래프_대각.svg" descr="illust_11747913921610443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4248" y="2823676"/>
            <a:ext cx="169907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3989" y="4705200"/>
            <a:ext cx="169907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85253" y="2128741"/>
            <a:ext cx="3185774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'sen:ts1'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 센서'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'TS1'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84" y="4492465"/>
            <a:ext cx="2601715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'sv:ts1'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 · unit: '℃'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3144" y="4185181"/>
            <a:ext cx="1274309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쿼리와 실행 화면의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그래프는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 쿼리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꺼내고 만들며, 쿼리는 찾을 노드와 관계의 모양을 글자로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질의(Query)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보내는 요청 한 건이다. 무엇을 찾거나 만들지를 적는다.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경보로부터 원인 후보를 찾은 것도 그래프에 보낸 질의였다.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쿼리(Cypher 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적은 질의이다. Cypher는 요청을 노드와 관계의 패턴(Pattern)으로 적는 그래프 DB 질의 언어이다.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(c:Component)-[:MONITORED_BY]-&gt;(s:Sensor)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 실행 화면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쓰는 창구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질의를 입력해 실행하고 결과를 표와 그래프로 보는 화면이다.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Neo4j Browser 같은 것이 있으며, 포털의 지식 지도와는 별개이다.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· 변수 · 속성 조건의 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(Variable)는 찾은 대상을 다시 부르는 이름이며, 속성 조건으로 검색 대상을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표기_그래프.svg" descr="illust_677899634091741200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52562" y="2440753"/>
            <a:ext cx="14123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11726" y="2440753"/>
            <a:ext cx="1539790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6650" y="2147651"/>
            <a:ext cx="106192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3470" y="4960482"/>
            <a:ext cx="36105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(s:Sensor {tag: 'TS1'})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5332" y="4960482"/>
            <a:ext cx="1964560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-[:OBSERVES]-&gt;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1831" y="4960482"/>
            <a:ext cx="3079581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(v:StateVariable)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패턴과 결과의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MATCH는 패턴에 맞는 연결을 찾고, RETURN은 그 결과에서 돌려받을 항목을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오일 쿨러인 구성 요소에서 계측 관계로 이어진 센서를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이름과 센서 태그를 결과의 두 열로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행의 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하나에 계측 채널 둘이 연결되어 결과는 두 행이다.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행과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행의 오일 쿨러는 같은 노드이다. 이름의 반복이 노드의 중복을 뜻하지 않는다.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네 화면의 역할과, 관계 모델에서 업무 흐름까지 가는 과정 전체의 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볼 네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포털의 화면은 설비의 지금 상태, 판단에 쓴 지식, 추천하는 에이전트, 사람이 처리할 일을 나누어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실시간 모니터링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확인 ·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설비가 지금 어떤 상태이고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났는가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쓴 설비 · 센서 · 고장 · 조치는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어떻게 이어져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에이전트에게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목표 · 도구 · 근거로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추천하는가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 · 처리 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승인할 일은 무엇이고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건은 어디까지 왔는가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과정의 길: 관계 모델에서 업무 흐름까지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모델을 세우고, 그 근거를 조회하는 에이전트를 만든 뒤, 승인과 실행의 업무 흐름으로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센서 · 부품 모델의 적재와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연결, 판단 규칙과 성과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문서에서 조건을 추출 · 검토해 반영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품질 · 시각화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MCP 도구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명세 · 행동 검증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BPMN의 역할 · 분기 · 지연과 실행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· 정비 · 구매 시나리오의 실행과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 완성과 ProcessGPT 시연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약어와 그래프를 다루는 말의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 ·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특성을 가진 대상의 유형과, 그 유형에 속하는 실제 개별 대상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Label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DB에서 노드의 종류를 나타내는 이름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