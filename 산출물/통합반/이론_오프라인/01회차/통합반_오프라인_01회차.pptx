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셋(온도 상승 · 관계 · 사람 승인)</a:t>
            </a:r>
          </a:p>
          <a:p>
            <a:r>
              <a:t>· 오늘 네 교시: 이론 50분 → 포털 시연과 관계도 → Cypher 연습 → 설비 모델 적재 · 조회</a:t>
            </a:r>
          </a:p>
          <a:p>
            <a:r>
              <a:t>· 이론은 온라인 1회차와 같은 교재의 장에서 오늘 실습에 필요한 핵심만 골라 잇는다</a:t>
            </a:r>
          </a:p>
          <a:p>
            <a:r>
              <a:t>· 줄기: 완성 흐름 → 시스템 구조 → 지식이 필요한 이유 → 그래프로 다루는 말 → 포털과 과정의 길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완성 흐름: 끝까지 한 번 본 뒤 부분으로 들어간다 — 추천과 승인과 실행은 주체가 다르다</a:t>
            </a:r>
          </a:p>
          <a:p>
            <a:r>
              <a:t>· 2 구조: 값이 올라가는 길과 명령이 내려가는 길, 명령이 처리됐다는 것과 설비가 회복됐다는 것은 다른 확인</a:t>
            </a:r>
          </a:p>
          <a:p>
            <a:r>
              <a:t>· 3 지식과 관계: 경보 값만으로 원인을 못 가린다 → 관계로 적은 지식, 그 관계를 그래프와 Cypher로 다룬다(3 · 4교시 실습)</a:t>
            </a:r>
          </a:p>
          <a:p>
            <a:r>
              <a:t>· 4 포털과 과정의 길: 다음 교시 시연에서 열 네 화면, 그리고 열 번의 수업이 어디로 가는지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다섯 줄 위에서 아래로</a:t>
            </a:r>
          </a:p>
          <a:p>
            <a:r>
              <a:t>· 01 쿨러 사건 한 건을 끝까지</a:t>
            </a:r>
          </a:p>
          <a:p>
            <a:r>
              <a:t>· 02 그 흐름을 만든 시스템의 계층과 두 경로</a:t>
            </a:r>
          </a:p>
          <a:p>
            <a:r>
              <a:t>· 03 경보 값에서 원인과 조치까지 무엇이 더 필요한가 → 온톨로지와 관계</a:t>
            </a:r>
          </a:p>
          <a:p>
            <a:r>
              <a:t>· 04 관계를 저장하고 찾는 말(노드 · 레이블 · Cypher) — 3교시 실습의 바탕</a:t>
            </a:r>
          </a:p>
          <a:p>
            <a:r>
              <a:t>· 05 시연에서 열 포털 화면과 과정 전체의 길, 오늘 실습</a:t>
            </a:r>
          </a:p>
          <a:p>
            <a:r>
              <a:t>[다음] HYD의 완성 흐름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부분부터 배우면 왜 필요한지 놓친다 → 완성된 흐름을 먼저</a:t>
            </a:r>
          </a:p>
          <a:p>
            <a:r>
              <a:t>· 물음: 기름 온도가 오른 그 순간부터 무엇이, 누구에 의해, 어떤 순서로 일어났나</a:t>
            </a:r>
          </a:p>
          <a:p>
            <a:r>
              <a:t>[다음] 경보 이후의 판단과 승인, 조치 뒤의 변화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유온 · 아래 냉각 효율 → 경보 지점과 승인 지점 사이 구간 → 승인 뒤 유온 하강 → 마지막 경보 해제 지점의 냉각 효율</a:t>
            </a:r>
          </a:p>
          <a:p>
            <a:r>
              <a:t>· 교재에 보관한 사건 기록이다. 단계는 실습과 비교하되 시각 · 수치는 이 기록 값으로 읽는다</a:t>
            </a:r>
          </a:p>
          <a:p>
            <a:r>
              <a:t>· 경보 11:13:08(유온 55.71 ℃ · 냉각 효율 46.2 %) → 승인 11:14:56까지 약 1분 48초: 원인 가리고 조치 비교 약 94초 + 승인 대기 약 13초. 그동안 유온은 61.8 ℃까지 계속 상승</a:t>
            </a:r>
          </a:p>
          <a:p>
            <a:r>
              <a:t>· 팬 최대 운전 승인 → 명령 11:14:57 → 유온 하강 → 경보 해제 11:15:52</a:t>
            </a:r>
          </a:p>
          <a:p>
            <a:r>
              <a:t>· 그러나 냉각 효율은 55 %로 기준 70 % 아래에 남았다</a:t>
            </a:r>
          </a:p>
          <a:p>
            <a:r>
              <a:t>· 체온계로 열은 알아도 원인은 따로 확인하듯, 경보만으로 쿨러 어디가 문제인지 모른다. 온도가 내려가도 문제 전부가 풀린 것은 아니다</a:t>
            </a:r>
          </a:p>
          <a:p>
            <a:r>
              <a:t>[다음] 경보·판단·승인·실행 기록의 구별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줄의 왼쪽 기록 → 오른쪽 다섯 판단 중 고르기, 특히 아래 두 줄</a:t>
            </a:r>
          </a:p>
          <a:p>
            <a:r>
              <a:t>· 앞 장의 처리 과정에 남은 쿨러 사건의 기록이 각각 무엇을 확인하는지 구별</a:t>
            </a:r>
          </a:p>
          <a:p>
            <a:r>
              <a:t>· 생각할 시간(약 20초): 다섯 기록을 경보 · 원인 진단 · 실행 승인 · 명령 처리 · 완화 확인에 잇는다</a:t>
            </a:r>
          </a:p>
          <a:p>
            <a:r>
              <a:t>· 1 경보(조건 성립), 2 원인 진단(평균값을 판별 기준에 대조 — 경보만으로는 못 얻는 결론), 3 실행 승인(운전원이 추천안 검토 후 결정), 4 명령 처리(PLC 응답 · 인터록 정상), 5 완화 확인(유온 하락 · 경보 해제)</a:t>
            </a:r>
          </a:p>
          <a:p>
            <a:r>
              <a:t>· 넷째가 있어도 다섯째는 없을 수 있다: 명령은 처리됐지만 냉각 효과를 못 얻은 경우</a:t>
            </a:r>
          </a:p>
          <a:p>
            <a:r>
              <a:t>· 다섯째가 나와도 핀 세척이 끝난 것은 아니다: 오염은 남고 근본 조치는 별도 작업지시 → 남은 일을 놓치지 않으려면 기록의 역할을 구별</a:t>
            </a:r>
          </a:p>
          <a:p>
            <a:r>
              <a:t>[다음] 데이터가 올라가고 명령이 내려가는 구조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앞 단원의 흐름을 만든 부품들: 재는 것, 제어하는 것, 모으고 감지하는 것, 판단하고 승인하는 것</a:t>
            </a:r>
          </a:p>
          <a:p>
            <a:r>
              <a:t>· 끝에서 한 장으로 다시 묶는다(아홉 기능 계층과 세 보안 영역)</a:t>
            </a:r>
          </a:p>
          <a:p>
            <a:r>
              <a:t>[다음] 설비·센서·PLC·관제의 역할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항목 위에서부터 설비 → 센서 → PLC → 강조한 관제</a:t>
            </a:r>
          </a:p>
          <a:p>
            <a:r>
              <a:t>· 설비: 압력 · 온도 · 진동 같은 물리량이 생기는 대상</a:t>
            </a:r>
          </a:p>
          <a:p>
            <a:r>
              <a:t>· 센서: 물리량을 전기 신호로 바꿔 계측값을 낸다(유온 센서 = 기름 온도)</a:t>
            </a:r>
          </a:p>
          <a:p>
            <a:r>
              <a:t>· PLC: 계측값을 읽고 제어 출력을 정하는 산업용 제어기(예: 팬 속도 설정을 설비에 반영). 재는 일과 제어하는 일은 나뉜다</a:t>
            </a:r>
          </a:p>
          <a:p>
            <a:r>
              <a:t>· SCADA: 설비 데이터를 모아 감시 · 제어하는 시스템. 운전원은 그 화면에서 보고 조작</a:t>
            </a:r>
          </a:p>
          <a:p>
            <a:r>
              <a:t>· 사람이 화면을 보는 동안에도 PLC는 계속 읽고 제어한다 → 사람이 계속 봐야만 제어되는 것이 아니다</a:t>
            </a:r>
          </a:p>
          <a:p>
            <a:r>
              <a:t>[다음] 유압 파워팩 HYD-01의 구성과 유온 TS1의 계측 지점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탱크 → 펌프 → 위 구동부 → 쿨러 · 팬 → 강조한 유온 TS1 → 압력 · 진동 이름표</a:t>
            </a:r>
          </a:p>
          <a:p>
            <a:r>
              <a:t>· 흐름: 탱크 → 펌프가 압력을 만든다 → 구동부를 움직인다 → 데워진 기름은 오일 쿨러에서 식어 탱크로</a:t>
            </a:r>
          </a:p>
          <a:p>
            <a:r>
              <a:t>· 팬이 쿨러 핀(얇은 금속판) 사이로 바람을 보내 열을 공기로 내보낸다</a:t>
            </a:r>
          </a:p>
          <a:p>
            <a:r>
              <a:t>· 유온 = 쿨러 들어가기 직전 기름 온도. 냉각이 부족하면 여기서 오른다</a:t>
            </a:r>
          </a:p>
          <a:p>
            <a:r>
              <a:t>· 태그 = 계측값에 붙인 이름(유온 · 토출 압력 · 팬 진동). 값을 고를 때 이 이름을 쓴다</a:t>
            </a:r>
          </a:p>
          <a:p>
            <a:r>
              <a:t>· 그림의 정상값(약 48 ℃ · 182 bar · 0.6 mm/s)은 이상 때 비교할 기준</a:t>
            </a:r>
          </a:p>
          <a:p>
            <a:r>
              <a:t>· 들어오는 열 &gt; 빠지는 열이면 유온 상승. 온도계만으로 쿨러 막힘인지 팬 문제인지는 모른다</a:t>
            </a:r>
          </a:p>
          <a:p>
            <a:r>
              <a:t>[다음] 데이터 수집과 승인된 자동 명령의 두 경로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그림 위쪽 줄 왼쪽 → 오른쪽(올라가는 길), 아래쪽 줄 오른쪽 → 왼쪽(내려가는 길), 위 영역 띠</a:t>
            </a:r>
          </a:p>
          <a:p>
            <a:r>
              <a:t>· 올라가는 길: PLC 유온 → 엣지 → MQTT 브로커 → DMZ 수집 서비스 → IT 이벤트 로그 → 감지 서비스가 이상 판단</a:t>
            </a:r>
          </a:p>
          <a:p>
            <a:r>
              <a:t>· 내려가는 길: IT 프로세스 엔진의 승인된 팬 속도 명령 → 이벤트 로그 명령 토픽 → DMZ 명령 관문 검사 → 브로커 · 엣지 → PLC 팬 속도 설정값</a:t>
            </a:r>
          </a:p>
          <a:p>
            <a:r>
              <a:t>· 브로커와 엣지는 두 길에 함께 쓰이지만 수집과 자동 명령은 분리</a:t>
            </a:r>
          </a:p>
          <a:p>
            <a:r>
              <a:t>· 수집 서비스는 OT로 발행하지 않고, 자동 명령은 관문과 PLC 검사를 거친다 → 값 읽기와 설비 움직이기는 다르다</a:t>
            </a:r>
          </a:p>
          <a:p>
            <a:r>
              <a:t>[다음] Layer 7~9 · 지식·추천·승인·실행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레이어 7 → 8 → 강조한 9, 각 칸의 쿨러 사건 예</a:t>
            </a:r>
          </a:p>
          <a:p>
            <a:r>
              <a:t>· 레이어 7 온톨로지 · 원인분석: 증상 · 고장 유형 · 원인 · 조치의 관계와 판별 기준을 지식으로 보관(그래프 DB, 예: Neo4j)</a:t>
            </a:r>
          </a:p>
          <a:p>
            <a:r>
              <a:t>· 고장 유형 = 어떤 기능을 잃었나. 쿨러 사건은 냉각 성능 상실 → 원인 후보와 증거로 잇는다</a:t>
            </a:r>
          </a:p>
          <a:p>
            <a:r>
              <a:t>· 레이어 8 AI 에이전트: 지식과 데이터를 조회해 진단하고 추천안 작성(핀 오염 진단 → 팬 최대 운전 추천). 설비 명령 권한 · 수단은 없다</a:t>
            </a:r>
          </a:p>
          <a:p>
            <a:r>
              <a:t>· 레이어 9 승인과 프로세스: HITL = 사람의 판단을 거쳐 실행. 담당자가 추천안과 근거를 보고 승인 · 거절</a:t>
            </a:r>
          </a:p>
          <a:p>
            <a:r>
              <a:t>· 프로세스 엔진이 승인된 조치만 명령으로 만들고 결과 확인</a:t>
            </a:r>
          </a:p>
          <a:p>
            <a:r>
              <a:t>· 까닭: 팬 속도 · 부하 변경은 설비 상태와 생산에 영향 → 추천만으로 명령을 내보내지 않는다</a:t>
            </a:r>
          </a:p>
          <a:p>
            <a:r>
              <a:t>[다음] 승인된 명령이 PLC에 닿는 경로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파이프라인 왼쪽 프로세스 엔진부터 오른쪽 PLC까지, 위 영역 띠(IT · DMZ · OT) → 강조한 명령 관문 · PLC</a:t>
            </a:r>
          </a:p>
          <a:p>
            <a:r>
              <a:t>· 명령은 수집 경로와 다른 길로 내려간다</a:t>
            </a:r>
          </a:p>
          <a:p>
            <a:r>
              <a:t>· IT: 프로세스 엔진이 명령 생성 → 이벤트 로그의 명령 토픽에 기록</a:t>
            </a:r>
          </a:p>
          <a:p>
            <a:r>
              <a:t>· DMZ: 명령 관문이 기록을 읽어 명령 내용과 승인 기록 검사 → 통과한 것만 OT로</a:t>
            </a:r>
          </a:p>
          <a:p>
            <a:r>
              <a:t>· OT: 브로커가 자동 명령 토픽으로 전달 → 엣지가 PLC에 넘김 → PLC가 설비 상태를 다시 검사한 뒤 설정값 적용</a:t>
            </a:r>
          </a:p>
          <a:p>
            <a:r>
              <a:t>· 심층 방어 = 한 곳에 의존하지 않고 여러 겹으로 보호. 내용이 정상이어도 지금 설비에 못 쓸 수 있어 관문과 PLC가 각자 다른 위험까지 본다</a:t>
            </a:r>
          </a:p>
          <a:p>
            <a:r>
              <a:t>[다음] 명령·확인 응답·재관측의 구별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명령 → 가운데 PLC 확인 응답 → 아래 재관측</a:t>
            </a:r>
          </a:p>
          <a:p>
            <a:r>
              <a:t>· 세 질문을 따로: 요청을 보냈나, 실제로 처리됐나, 그 결과 온도가 내려갔나</a:t>
            </a:r>
          </a:p>
          <a:p>
            <a:r>
              <a:t>· 명령: 팬 속도 60 % → 100 %, 승인자, 유효 시각(만료 뒤에는 실행 거절). 명령 번호로 다른 요청과 구별</a:t>
            </a:r>
          </a:p>
          <a:p>
            <a:r>
              <a:t>· ACK(확인 응답) = 처리 결과. 실행 완료 + 인터록 정상. 운전 상태 메시지에 실려 돌아오고, 프로세스 엔진이 번호로 자기 명령의 응답인지 맞춘다</a:t>
            </a:r>
          </a:p>
          <a:p>
            <a:r>
              <a:t>· 재관측: 유온 61.4 → 51.5 ℃, 경보 해제 = 원하는 냉각 효과의 확인</a:t>
            </a:r>
          </a:p>
          <a:p>
            <a:r>
              <a:t>· 처리 응답 ≠ 회복: 완료 응답인데 유온이 계속 오르면 문제는 미해결. 온도만 내려갔다고 명령이 실행됐다고 단정도 못 한다</a:t>
            </a:r>
          </a:p>
          <a:p>
            <a:r>
              <a:t>[다음] 식별자로 이어지는 판단과 작업 기록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위에서부터, 가운데 식별자 열은 철자 말고 연결만 → 강조한 판단 줄</a:t>
            </a:r>
          </a:p>
          <a:p>
            <a:r>
              <a:t>· 같은 쿨러 사건이라도 경보 · 판단 · 명령 · 작업지시는 따로 남는다 → 번호로 연결해야 어떤 판단에서 나온 조치인지 찾는다</a:t>
            </a:r>
          </a:p>
          <a:p>
            <a:r>
              <a:t>· 경보 = 이상 조건이 성립했다는 기록(당시 값). 사건 = 그 경보를 처리하는 업무 한 건(진행 상태)</a:t>
            </a:r>
          </a:p>
          <a:p>
            <a:r>
              <a:t>· 판단 = 원인 진단 · 조치 추천. 승인 뒤 팬 속도 명령, 남은 오염을 없앨 핀 세척 작업지시</a:t>
            </a:r>
          </a:p>
          <a:p>
            <a:r>
              <a:t>· 작업지시가 판단을 참조하면 정비 담당자가 원인 · 근거를 확인하고 경보 · 당시 계측값까지 돌아간다</a:t>
            </a:r>
          </a:p>
          <a:p>
            <a:r>
              <a:t>· 팬 속도 변경 완료 ≠ 핀 세척 완료. 같은 사건으로 잇되 명령 완료와 정비 완료는 따로 확인</a:t>
            </a:r>
          </a:p>
          <a:p>
            <a:r>
              <a:t>[다음] 지나온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세로 아홉 계층을 아래 · 가운데 · 위 세 묶음으로 → 오른쪽 세 영역 점 → 관제 계층의 두 점</a:t>
            </a:r>
          </a:p>
          <a:p>
            <a:r>
              <a:t>· 아래(1~3): 값을 만들고 전달 — 설비 · 제어기, 엣지 · 브로커, 이벤트 로그</a:t>
            </a:r>
          </a:p>
          <a:p>
            <a:r>
              <a:t>· 가운데(4~6): 흐르는 값을 감지, 이력 저장, 사람에게 보여 줌</a:t>
            </a:r>
          </a:p>
          <a:p>
            <a:r>
              <a:t>· 위(7~9): 지식을 조회해 추천, 사람이 승인한 일을 실행</a:t>
            </a:r>
          </a:p>
          <a:p>
            <a:r>
              <a:t>· 관제 계층: 운전 화면은 OT, 분석 화면은 IT → 같은 계층이라도 필요한 연결이 달라 영역이 다르다</a:t>
            </a:r>
          </a:p>
          <a:p>
            <a:r>
              <a:t>· 계층 = 하는 일, 보안 영역 = 망 위의 위치와 연결 범위</a:t>
            </a:r>
          </a:p>
          <a:p>
            <a:r>
              <a:t>[다음] 판단에 지식이 필요한 이유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유온이 올랐다는 것을 알면 무엇을 할지도 정해지나</a:t>
            </a:r>
          </a:p>
          <a:p>
            <a:r>
              <a:t>· 이 단원 끝에서 관계를 문장으로 읽는 법 → 2교시 관계도 실습으로 이어진다</a:t>
            </a:r>
          </a:p>
          <a:p>
            <a:r>
              <a:t>[다음] 데이터, 정보, 지식과 판단의 네 질문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첫 줄 데이터 → 둘 · 셋째 줄 정보 → 강조한 아래 두 줄 지식, 오른쪽 질문 열</a:t>
            </a:r>
          </a:p>
          <a:p>
            <a:r>
              <a:t>· 데이터 = 관측 · 기록한 값. 46.2만으로는 무엇을 잰 값인지 모른다</a:t>
            </a:r>
          </a:p>
          <a:p>
            <a:r>
              <a:t>· 정보 = 데이터 + 대상 · 단위 · 기준 같은 맥락 → 「지금 얼마인가」, 「기준 70 %를 벗어났나」에 답한다</a:t>
            </a:r>
          </a:p>
          <a:p>
            <a:r>
              <a:t>· 지식 = 정보와 정보 사이의 관계: 냉각 효율 낮음 + 팬 진동 정상 → 핀 오염(왜 벗어났나), 핀 오염 → 세척(무엇을 할까)</a:t>
            </a:r>
          </a:p>
          <a:p>
            <a:r>
              <a:t>· 판단에는 어떤 정보를 함께 보고, 어떻게 해석하고, 어떤 조치가 맞는지를 아는 지식이 필요</a:t>
            </a:r>
          </a:p>
          <a:p>
            <a:r>
              <a:t>[다음] 원인 후보와 증거의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강조한 핀 오염 → 팬 구동 불량 → 주변 온도 상승, 가운데 판별 기준 칸 → 오른쪽 판단</a:t>
            </a:r>
          </a:p>
          <a:p>
            <a:r>
              <a:t>· 유온 상승만으로는 세 후보(핀 막힘 · 팬이 제 속도 못 냄 · 주변 공기가 더움)를 구별 못 한다</a:t>
            </a:r>
          </a:p>
          <a:p>
            <a:r>
              <a:t>· 증거 = 무엇을 어느 구간에서 읽어 어떤 기준과 비교할지. 원인을 가리는 그 기준 = 판별 기준</a:t>
            </a:r>
          </a:p>
          <a:p>
            <a:r>
              <a:t>· 핀 오염: 냉각 효율 30초 평균 &lt; 70 % (46.2 %) 이고 팬 진동 2분 평균 &lt; 0.9 mm/s (0.575) → 두 조건 충족</a:t>
            </a:r>
          </a:p>
          <a:p>
            <a:r>
              <a:t>· 팬 구동 불량: 팬 진동 2분 평균 ≥ 0.9 mm/s 여야 하는데 0.575 → 해당 없음. 주변 온도: 캐비닛 온도 2분 평균 ≥ 35 ℃ 여야 하는데 28 ℃ → 해당 없음</a:t>
            </a:r>
          </a:p>
          <a:p>
            <a:r>
              <a:t>· 같은 팬 진동 값이 두 후보를 가른다: 낮은 진동은 핀 오염 조건에 맞고 팬 구동 불량 조건에는 안 맞는다</a:t>
            </a:r>
          </a:p>
          <a:p>
            <a:r>
              <a:t>· 비교한 값은 순간값이 아니라 구간 평균. 다시 판단하려면 어떤 값 · 어느 구간 · 무엇과 비교했는지 알아야 한다</a:t>
            </a:r>
          </a:p>
          <a:p>
            <a:r>
              <a:t>[다음] 완화 조치와 근본 조치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완화 조치 → 오른쪽 강조한 근본 조치, 각 카드 끝 줄</a:t>
            </a:r>
          </a:p>
          <a:p>
            <a:r>
              <a:t>· 쿨러 사건에서 먼저 실행한 것은 팬 최대 운전: 당장 오르는 유온을 낮추는 일과 오염을 없애는 일은 다르다</a:t>
            </a:r>
          </a:p>
          <a:p>
            <a:r>
              <a:t>· 완화 조치: 팬을 더 돌려 유온을 우선 낮춤. 오염은 그대로라 냉각 효율 55 %로 기준 미달(그래프에서 온도는 내려왔는데 효율이 회복 안 된 까닭)</a:t>
            </a:r>
          </a:p>
          <a:p>
            <a:r>
              <a:t>· 근본 조치: 막힌 핀 세척으로 원인 제거. 설비를 멈춰야 하므로 정지 시간을 잡고 별도 작업지시로</a:t>
            </a:r>
          </a:p>
          <a:p>
            <a:r>
              <a:t>· 완화는 정비할 여유를 벌어 줄 뿐: 매뉴얼은 팬 최대 운전을 연속 24시간 이내로 제한(팬 수명)</a:t>
            </a:r>
          </a:p>
          <a:p>
            <a:r>
              <a:t>· 승인 책임도 다르다: 팬 최대 운전은 운전원, 설비를 세우는 핀 세척은 작업지시로 설비보전팀장</a:t>
            </a:r>
          </a:p>
          <a:p>
            <a:r>
              <a:t>[다음] 판단에 쓰이는 정보가 놓인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경보 → 왼쪽 위 시계열 저장소 → 왼쪽 아래 운전 상태 → 오른쪽 위 매뉴얼 → 오른쪽 아래 MES, 점선</a:t>
            </a:r>
          </a:p>
          <a:p>
            <a:r>
              <a:t>· 점선 = 경보와 네 자료 사이의 연결을 아직 정리하지 않은 상태</a:t>
            </a:r>
          </a:p>
          <a:p>
            <a:r>
              <a:t>· 왼쪽 둘은 설비가 움직이는 동안 바뀌는 정보: 저장소의 냉각 효율 · 캐비닛 온도, 운전 상태의 원격 자동 여부 · 팬 속도</a:t>
            </a:r>
          </a:p>
          <a:p>
            <a:r>
              <a:t>· 매뉴얼: 원인별로 어떤 값을 비교할지 기준</a:t>
            </a:r>
          </a:p>
          <a:p>
            <a:r>
              <a:t>· MES = 생산 지시 · 실적 · 납기를 관리하는 제조 실행 시스템. 긴급 오더 납기까지 약 6시간(5.98시간)</a:t>
            </a:r>
          </a:p>
          <a:p>
            <a:r>
              <a:t>· 생산 일정이 필요한 까닭: 핀 세척은 설비를 멈춘다 → 원인을 없앨 조치라도 지금 멈추면 납기 영향을 본다</a:t>
            </a:r>
          </a:p>
          <a:p>
            <a:r>
              <a:t>· 원인 판단 자료와 조치 시점 결정 자료가 서로 다른 곳에 있다. 매뉴얼 기준이 어느 저장소의 어떤 값과 이어지는지 알아야 하나의 판단에 쓴다</a:t>
            </a:r>
          </a:p>
          <a:p>
            <a:r>
              <a:t>[다음] AI에게 그대로 묻는 방식과 지식을 조회하게 하는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「그대로 묻는다」 → 오른쪽 강조한 「지식을 조회하게 한다」, 마지막 줄 쿨러 사건 기록</a:t>
            </a:r>
          </a:p>
          <a:p>
            <a:r>
              <a:t>· 그대로 물으면 일반 유압 지식으로 그럴듯한 답. 이 설비의 매뉴얼 · 판별 기준 · 현재 값을 모르니 지금 설비에 맞는지 확인할 방법이 없다</a:t>
            </a:r>
          </a:p>
          <a:p>
            <a:r>
              <a:t>· 조회 방식: 지식에 적힌 원인 후보 · 판별 기준 조회 → 정해진 조회 방법으로 저장소 값을 읽어 대조 → 쓴 기준과 값을 기록</a:t>
            </a:r>
          </a:p>
          <a:p>
            <a:r>
              <a:t>· 평균만 보지 않고 관측이 충분한지, 긴 틈은 없는지 확인. 쿨러 사건: 팬 진동 2분 구간 값 120개(거의 매초 하나), 가장 긴 틈 약 1초</a:t>
            </a:r>
          </a:p>
          <a:p>
            <a:r>
              <a:t>· 몇 개 남은 값으로도 평균은 나오지만 관측 못 한 동안의 상태는 모른다 → 값이 오래됐거나 관측이 부족하면 판정 보류</a:t>
            </a:r>
          </a:p>
          <a:p>
            <a:r>
              <a:t>· 증거를 읽는 조회문은 AI가 즉석에서 만들지 않고 지식에 적힌 것을 쓴다 → 결과를 다시 확인할 수 있다</a:t>
            </a:r>
          </a:p>
          <a:p>
            <a:r>
              <a:t>[다음] 온톨로지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정의 칸 → 종류 → 속성 → 관계 → 제약</a:t>
            </a:r>
          </a:p>
          <a:p>
            <a:r>
              <a:t>· 온톨로지 = 한 분야의 대상과 관계를 명시적으로 정의한 지식 모델. 「명시적」 = 읽는 사람이 짐작하게 두지 않는다</a:t>
            </a:r>
          </a:p>
          <a:p>
            <a:r>
              <a:t>· 종류: 오일 쿨러는 구성 요소, 유온 센서는 센서, 유온 상승은 증상, 핀 오염은 원인 → 이름이 있어도 같은 종류가 아니다</a:t>
            </a:r>
          </a:p>
          <a:p>
            <a:r>
              <a:t>· 속성 = 대상이 갖는 값의 항목: 유온의 단위 ℃ · 정상값 48 ℃ · 한계 65 ℃</a:t>
            </a:r>
          </a:p>
          <a:p>
            <a:r>
              <a:t>· 관계 = 이름과 방향으로 뜻을 정한다: 냉각 성능 상실 → 팬 최대 운전은 「완화된다」, → 핀 세척은 「근본적으로 해결된다」. 선만 그으면 같아 보이지만 이름이 차이를 드러낸다</a:t>
            </a:r>
          </a:p>
          <a:p>
            <a:r>
              <a:t>· 제약 = 올바른 연결의 조건: 「일으킨다」는 원인 → 고장 유형. 증상과 조치를 넣으면 양 끝 종류가 맞지 않아 잘못된 연결을 찾는다</a:t>
            </a:r>
          </a:p>
          <a:p>
            <a:r>
              <a:t>· 정의를 적는 일 ≠ 실제 검사. 제약이 기준을 주고 검증 단계가 적용한다</a:t>
            </a:r>
          </a:p>
          <a:p>
            <a:r>
              <a:t>[다음] 노드·관계·방향을 문장으로 읽는다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노드 → 오른쪽 노드 → 가운데 화살표와 이름 → 강조한 방향 설명</a:t>
            </a:r>
          </a:p>
          <a:p>
            <a:r>
              <a:t>· 노드 = 대상 하나(원). 관계 = 두 노드를 잇는 이름 붙은 화살표</a:t>
            </a:r>
          </a:p>
          <a:p>
            <a:r>
              <a:t>· 출발 노드 = 주어, 관계 = 서술어, 도착 노드 = 목적어 → 「핀 오염은 냉각 성능 상실을 일으킨다」</a:t>
            </a:r>
          </a:p>
          <a:p>
            <a:r>
              <a:t>· 거꾸로 그리면 「냉각 성능 상실이 핀 오염을 일으킨다」 — 선은 같아도 원인과 결과가 뒤집힌다 → 방향도 뜻의 일부</a:t>
            </a:r>
          </a:p>
          <a:p>
            <a:r>
              <a:t>· 다른 관계도 같은 방식: 「유온 상승은 냉각 성능 상실을 가리킨다」, 「냉각 성능 상실은 팬 최대 운전으로 완화된다」</a:t>
            </a:r>
          </a:p>
          <a:p>
            <a:r>
              <a:t>· 문장으로 읽기 = 그림 점검법: 말이 자연스러운지, 사실과 맞는지, 양 끝 대상의 종류가 맞는지</a:t>
            </a:r>
          </a:p>
          <a:p>
            <a:r>
              <a:t>[다음] HYD 지식 그래프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진한 고장 유형 → 왼쪽 아래 증상 → 오른쪽 위 원인 → 왼쪽 위 구성 요소 · 설비 · 센서 → 오른쪽 아래 조치 방법 → 매뉴얼 절</a:t>
            </a:r>
          </a:p>
          <a:p>
            <a:r>
              <a:t>· 증상 · 원인 · 조치 · 구성 요소가 모두 고장 유형(쿨러 냉각 성능 상실)에 직접 연결된다</a:t>
            </a:r>
          </a:p>
          <a:p>
            <a:r>
              <a:t>· 증상(관측한 모습): 유온 상승이 냉각 성능 상실을 가리킨다. 원인(왜): 핀 오염이 일으킨다 → 둘이 고장 유형에서 만난다</a:t>
            </a:r>
          </a:p>
          <a:p>
            <a:r>
              <a:t>· 한 고장 유형에 원인은 여럿일 수 있다 → 후보를 모은 뒤 증거로 구별</a:t>
            </a:r>
          </a:p>
          <a:p>
            <a:r>
              <a:t>· 구성 요소: 냉각 성능 상실은 오일 쿨러에서 발생. 그 바깥에 설비와 센서 → 어느 설비의 어느 값을 볼지 찾는다</a:t>
            </a:r>
          </a:p>
          <a:p>
            <a:r>
              <a:t>· 조치: 팬 최대 운전으로 완화 → 매뉴얼 절이 문서 근거(실제로는 조치 단계를 거치며, 지도는 화살표 하나로 줄임)</a:t>
            </a:r>
          </a:p>
          <a:p>
            <a:r>
              <a:t>· 기능을 잃은 곳(오일 쿨러)과 원인(팬 · 주변 공기일 수도)은 따로 확인. 같은 정의 · 판별 기준이 맞는 설비면 그 설비 값으로 이 진단 지식을 쓴다</a:t>
            </a:r>
          </a:p>
          <a:p>
            <a:r>
              <a:t>[다음] 관계를 그래프로 다루는 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관계도는 사람이 보는 그림, 그래프 DB는 같은 연결을 저장하고 찾는 도구</a:t>
            </a:r>
          </a:p>
          <a:p>
            <a:r>
              <a:t>· 3교시에 별도 Neo4j 랩 DB에서 직접 만들고 찾고 고치고 지운다 → 여기서는 읽는 법만</a:t>
            </a:r>
          </a:p>
          <a:p>
            <a:r>
              <a:t>[다음] 노드 · 레이블 · 관계 · 속성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센서 노드와 속성 상자 → 아래 상태 변수 노드와 속성 상자 → 가운데 읽는 관계</a:t>
            </a:r>
          </a:p>
          <a:p>
            <a:r>
              <a:t>· 노드 = 원 하나(인스턴스), 레이블 = 원에 붙인 종류 이름표(클래스 이름)</a:t>
            </a:r>
          </a:p>
          <a:p>
            <a:r>
              <a:t>· 유온 센서 노드: 레이블 센서, 속성은 이름-값 짝(식별자 · 이름 · 태그)</a:t>
            </a:r>
          </a:p>
          <a:p>
            <a:r>
              <a:t>· 유온 노드: 레이블 상태 변수, 한계 · 단위를 속성으로. 관계엔 유형 이름과 방향이 함께 저장</a:t>
            </a:r>
          </a:p>
          <a:p>
            <a:r>
              <a:t>· 설계 말과 대응: 대상 하나(인스턴스) → 노드, 대상의 종류(클래스) → 레이블, 관계 · 속성은 그대로. 공급 조건 같은 관계의 속성은 관계 쪽에 저장</a:t>
            </a:r>
          </a:p>
          <a:p>
            <a:r>
              <a:t>[다음] Cypher 쿼리와 실행 화면의 역할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질의 → 강조한 Cypher 쿼리와 예 → 질의 실행 화면</a:t>
            </a:r>
          </a:p>
          <a:p>
            <a:r>
              <a:t>· 질의(쿼리) = DB에 보내는 요청 한 건. 쿨러 사건에서 경보로부터 원인 후보를 찾은 것도 그래프에 보낸 질의</a:t>
            </a:r>
          </a:p>
          <a:p>
            <a:r>
              <a:t>· Cypher = 찾거나 만들 노드와 관계의 모양을 패턴으로 적는 그래프 DB 질의 언어. 쿨러의 센서를 찾으려면 구성 요소 → 센서 연결 모양을 그대로 적는다</a:t>
            </a:r>
          </a:p>
          <a:p>
            <a:r>
              <a:t>· 실행 화면(예: Neo4j Browser): 질의를 입력 · 실행하고 결과를 표와 그래프로 본다. 언어 = 요청 내용, 실행 화면 = 보내고 받는 창구</a:t>
            </a:r>
          </a:p>
          <a:p>
            <a:r>
              <a:t>· 포털 지식 지도 ≠ 실행 화면: 지식 지도는 HYD 기준 지식의 속성 · 연결을 골라 따라가 보는 곳, 실행 화면은 직접 조건을 적어 조회하거나 허용 범위에서 만든다</a:t>
            </a:r>
          </a:p>
          <a:p>
            <a:r>
              <a:t>[다음] 노드 · 관계 · 변수 · 속성 조건의 표기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연결 그림 → 아래 표기를 위아래로 맞춰: 둥근 괄호 · 콜론 뒤 레이블 → 대괄호 관계와 화살표 → 콜론 앞 변수 → 중괄호 속성 조건</a:t>
            </a:r>
          </a:p>
          <a:p>
            <a:r>
              <a:t>· 둥근 괄호 = 노드, 콜론 뒤 = 레이블(센서 · 상태 변수), 대괄호 = 관계 유형, 선과 화살표 = 방향</a:t>
            </a:r>
          </a:p>
          <a:p>
            <a:r>
              <a:t>· 변수 = 쿼리 안에서 찾은 노드를 다시 부르는 짧은 이름. 변수에 점 + 속성 이름이면 그 값을 읽는다. 대상의 고유 식별자와 역할이 다르다</a:t>
            </a:r>
          </a:p>
          <a:p>
            <a:r>
              <a:t>· 중괄호 = 속성 조건: 센서 전부가 아니라 태그가 TS1인 센서로 좁힌다. 레이블로 종류, 속성 조건으로 대상</a:t>
            </a:r>
          </a:p>
          <a:p>
            <a:r>
              <a:t>· 태그 조건 결과가 지금 하나여도 늘 하나라는 보장은 없다 → 특정 대상을 계속 가리킬 땐 식별자를 조건으로</a:t>
            </a:r>
          </a:p>
          <a:p>
            <a:r>
              <a:t>· 적는 순서: 그림의 양 끝과 방향 먼저 → 필요한 만큼만 조건으로 좁힌다</a:t>
            </a:r>
          </a:p>
          <a:p>
            <a:r>
              <a:t>[다음] MATCH · RETURN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MATCH 두 줄 → RETURN → 아래 결과 두 행 → 오른쪽 강조한 행의 수</a:t>
            </a:r>
          </a:p>
          <a:p>
            <a:r>
              <a:t>· 절 = 쿼리를 하는 일별로 나눈 한 부분. MATCH = 찾을 패턴(이름이 오일 쿨러인 구성 요소에서 계측 관계로 이어진 센서)</a:t>
            </a:r>
          </a:p>
          <a:p>
            <a:r>
              <a:t>· RETURN = 돌려받을 항목(구성 요소 이름 · 센서 태그 → 결과 두 열)</a:t>
            </a:r>
          </a:p>
          <a:p>
            <a:r>
              <a:t>· 결과: 쿨러-유온 센서, 쿨러-냉각 효율 채널 → 두 연결이 각각 패턴에 맞아 두 행</a:t>
            </a:r>
          </a:p>
          <a:p>
            <a:r>
              <a:t>· 쿨러 이름이 두 번 나와도 같은 노드. 이름 반복 ≠ 노드 중복</a:t>
            </a:r>
          </a:p>
          <a:p>
            <a:r>
              <a:t>· 개수를 적지 않았다: 조건에 맞는 연결이 실제로 둘이라 두 행 → 한 행이 무엇을 나타내는지 알면 여러 행을 중복 데이터로 오해하지 않는다</a:t>
            </a:r>
          </a:p>
          <a:p>
            <a:r>
              <a:t>[다음] 포털의 화면과 이번 과정의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다음 교시 포털 시연에서 무엇을 어디서 볼지 미리 정해 둔다</a:t>
            </a:r>
          </a:p>
          <a:p>
            <a:r>
              <a:t>· 그리고 오늘 시작한 관계 모델이 과정 끝에 어디에 쓰이는지</a:t>
            </a:r>
          </a:p>
          <a:p>
            <a:r>
              <a:t>[다음] 포털에서 볼 네 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 위에서부터, 가운데 실제 메뉴 이름 → 오른쪽 물음</a:t>
            </a:r>
          </a:p>
          <a:p>
            <a:r>
              <a:t>· 설비 화면: 결함 시뮬레이션에서 쿨러 열화를 넣고, 실시간 모니터링에서 유온 · 냉각 효율 그래프를, 이상 확인 · 조치에서 경보와 사건을 본다</a:t>
            </a:r>
          </a:p>
          <a:p>
            <a:r>
              <a:t>· 지식 지도: HYD 기준 지식에서 대상을 골라 연결을 따라간다 — 앞 단원의 그래프와 같은 구조를 화면으로</a:t>
            </a:r>
          </a:p>
          <a:p>
            <a:r>
              <a:t>· 에이전트: 추천을 만드는 AI의 목표 · 지침 · 도구를 보고, 질문해 무엇을 근거로 답하는지 확인</a:t>
            </a:r>
          </a:p>
          <a:p>
            <a:r>
              <a:t>· 내 작업함 · 처리 건: 사람에게 맡겨진 승인 대기 일, 처리 건의 단계와 기록</a:t>
            </a:r>
          </a:p>
          <a:p>
            <a:r>
              <a:t>· 다음 교시 시연 순서: 경보는 설비 화면 → 추천과 근거는 에이전트 · 지식 지도 → 승인은 작업함 → 결과는 다시 설비 화면</a:t>
            </a:r>
          </a:p>
          <a:p>
            <a:r>
              <a:t>[다음] 지식 모델이 판단과 업무에 쓰이는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걸음 위에서부터: 강조한 정의 → 조회 → 판단 → 승인 → 실행 · 확인</a:t>
            </a:r>
          </a:p>
          <a:p>
            <a:r>
              <a:t>· 정의: 온톨로지가 종류 · 속성 · 관계 · 제약 = 공통 기준</a:t>
            </a:r>
          </a:p>
          <a:p>
            <a:r>
              <a:t>· 조회: 경보에서 관계를 따라 원인 후보와 증거. 판단: 에이전트가 실제 값을 대조해 추천안과 근거</a:t>
            </a:r>
          </a:p>
          <a:p>
            <a:r>
              <a:t>· 승인: 담당자가 승인 · 거절. 승인 때도 현재 상태 재확인(유온 61.8 ℃ · 원격 자동 · 운전 중) — 추천안을 만드는 동안 설비는 계속 움직였다</a:t>
            </a:r>
          </a:p>
          <a:p>
            <a:r>
              <a:t>· 거절: 그 추천안의 명령을 만들지 않고 거절 기록. 거절 기록 자체가 설비 정지 명령은 아니다</a:t>
            </a:r>
          </a:p>
          <a:p>
            <a:r>
              <a:t>· 실행 · 확인: 프로세스가 승인된 조치를 명령으로 내리고 재관측. 완화를 확인 못 하면 사람에게 다시. 명령 실행과 설비 회복은 구별</a:t>
            </a:r>
          </a:p>
          <a:p>
            <a:r>
              <a:t>[다음] 이번 과정의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왼쪽 강조한 관계 모델 → 에이전트 → 업무 흐름, 각 칸의 회차</a:t>
            </a:r>
          </a:p>
          <a:p>
            <a:r>
              <a:t>· 관계 모델(1~4): 오늘 그린 관계도를 설비 모델로 → 작업 절차 · 판단 규칙 · 문서 근거까지 붙여 판단의 기준을 세운다</a:t>
            </a:r>
          </a:p>
          <a:p>
            <a:r>
              <a:t>· 에이전트(5~7): 그 기준을 조회해 원인 · 점검 · 품질 같은 서로 다른 일을 하게 하고, 사람에게 묻고 명세대로 동작하는지 검증</a:t>
            </a:r>
          </a:p>
          <a:p>
            <a:r>
              <a:t>· 업무 흐름(8~10): 추천이 승인 · 명령 · 확인 · 보고로 끝나도록 BPMN으로 잇고, 마지막에 교대 인수인계 한 건을 완성</a:t>
            </a:r>
          </a:p>
          <a:p>
            <a:r>
              <a:t>· 앞 장의 다섯 걸음(정의 → 조회 → 판단 → 승인 → 실행 · 확인)을 열 번에 나눠 직접 만든다</a:t>
            </a:r>
          </a:p>
          <a:p>
            <a:r>
              <a:t>[다음] 오늘의 실습과 남길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교시 → 실습 → 남길 결과, 강조한 4교시</a:t>
            </a:r>
          </a:p>
          <a:p>
            <a:r>
              <a:t>· 2교시: 강사가 포털에서 쿨러 열화를 처리하는 동안 앞의 네 화면을 따라가고, arrows.app에 본 대상을 노드와 관계로 그려 화살표마다 문장으로 읽는다</a:t>
            </a:r>
          </a:p>
          <a:p>
            <a:r>
              <a:t>· 3교시: 별도 Neo4j 랩 DB에서 만들고 찾고 고친 뒤 연습 데이터만 지우고 다시 조회 — 수업 시스템의 기준 지식은 건드리지 않는다</a:t>
            </a:r>
          </a:p>
          <a:p>
            <a:r>
              <a:t>· 4교시: 제공 자료에서 같은 대상의 식별자와 관계를 확인해 작은 모델로, 적재 뒤 설비별 센서 · 부품을 조회. 구조가 맞는지와 원자료의 뜻과 맞는지는 따로 확인</a:t>
            </a:r>
          </a:p>
          <a:p>
            <a:r>
              <a:t>· 진행은 실습마다 핸즈온 가이드를 따른다. 다음 회차에 적재 · 조회 기능을 직접 만들고 SOP를 잇는다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오프라인 1회차 · HYD 전체 흐름을 확인하고 설비 관계 표현하기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 시스템과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이번 과정의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경보에서 결과 확인까지의 완성 흐름을 보고, 판단 근거를 관계와 그래프로 다룰 준비를 한다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temperature-plus" descr="temperature-plus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topology-star-3" descr="topology-star-3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HYD의 완성 흐름과 구조를 확인하고, 판단 근거를 관계와 그래프로 다루며 이번 과정의 길을 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82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layer-play" descr="player-pla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719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완성 흐름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사건의 경보에서 결과 확인까지 따라간다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 · 승인 · 실행을 구별한다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흐름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82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itemap" descr="sitema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71902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 구조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올라가는 길과 명령이 내려가는 길을 짚는다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명령 처리와 설비 회복을 가른다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82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topology-star-3" descr="topology-star-3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71902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관계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원인과 조치에 지식이 필요한 까닭을 든다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관계를 문장과 Cypher 패턴으로 읽는다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7114"/>
            <a:ext cx="2567863" cy="33484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828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route" descr="route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71902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41242"/>
            <a:ext cx="2238679" cy="18214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포털과 과정의 길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포털 네 화면의 역할을 가른다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관계 모델에서 업무 흐름까지의 길을 잡는다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582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582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9659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HYD의 완성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18541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18541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883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6974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데이터가 올라가고 명령이 내려가는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29169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9169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198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42900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지식이 필요한 이유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36484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36484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513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1605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관계를 그래프로 다루는 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3799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3799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828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89204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포털의 화면과 이번 과정의 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5111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5111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HYD의 완성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 한 건이 경보에서 결과 확인까지 어떻게 이어졌는지 먼저 끝까지 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이후의 판단과 승인, 조치 뒤의 변화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교재에 보관한 사건 기록으로, 경보 뒤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을 가려 조치를 정하고 조치 뒤 변화를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pic>
        <p:nvPicPr>
          <p:cNvPr id="6" name="Picture 5" descr="그래프_쿨러열화_TS1_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82496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824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27632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발생 11:13:08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55.71 ℃, 냉각 효율 46.2 %.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감지 서비스의 경보 조건이 성립했다.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852928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529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98064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→ 승인 · 108초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원인을 가리고 조치안을 비교하는 데 약 94초, 승인을 기다리는 데 약 13초. 유온은 61.8 ℃까지 올랐다.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023359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59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224528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승인 11:14:56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운전원이 「팬 최대 운전」을 승인했다. 명령 전송은 11:14:57이다.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519379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19379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394960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해제 11:15:52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유온은 내려갔으나 냉각 효율은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55 %로, 기준 70 %에 못 미친다.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경보·판단·승인·실행 기록의 구별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사건의 기록도 답하는 질문이 다르며, 각 기록의 근거를 연결해야 조치의 이유와 결과를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기록에 남은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연결할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상승·냉각 효율 저하의 조건 성립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· 원인 진단 · 실행 승인 · 명령 처리 · 완화 확인 중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기록으로 확인할 수 있는 것은 무엇인가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진동·냉각 효율의 평균이 핀 오염 기준에 맞음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94990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운전원이 팬 최대 운전을 승인함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60012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PLC의 응답: DONE · 인터록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25035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뒤 유온 하락·경보 CLEAR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90057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데이터가 올라가고 명령이 내려가는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· 센서에서 판단과 승인을 거쳐 다시 설비로 돌아오는 계층과 두 경로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설비·센서·PLC·관제의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설비의 물리량은 센서에서 계측값이 되고, PLC의 제어와 관제 화면의 감시·조작에 쓰인다.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압력·온도·진동 같은 물리량이 생기는 대상이다.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HYD-01에서는 작동유가 순환하며 압력과 온도가 변한다.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센서(Sensor)는 물리량을 전기 신호로 바꿔 계측값을 내놓는다.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TS1은 쿨러 입구의 작동유 온도이다.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PLC(Programmable Logic Controller)는 계측값을 읽고 제어 출력을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HYD-01의 팬 속도와 펌프 부하 설정값을 설비에 반영한다.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5200650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감시·조작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SCADA(Supervisory Control and Data Acquisition)는 설비를 감시·제어하는 시스템이다.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화면에서 계측값을 보고 조작한다.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유압 파워팩 HYD-01의 구성과 유온 TS1의 계측 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계측값을 구별하는 이름이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태그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(Tag)이며, 유온 TS1은 일을 마치고 쿨러로 들어가는 작동유의 온도이다.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pic>
        <p:nvPicPr>
          <p:cNvPr id="6" name="삽화:설비_유압파워팩.svg" descr="illust_314172924720116505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41122" y="5315041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탱크(Tank)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작동유 탱크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5674" y="3116778"/>
            <a:ext cx="16364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펌프(Pump)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모터 · 펌프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8540" y="1901823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압력(Pressure)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PS1 · 182 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1353" y="1807275"/>
            <a:ext cx="196370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부하(Load)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유압 구동부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0372" y="2762219"/>
            <a:ext cx="207280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유온(Temperature)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 · 48 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5869" y="5244129"/>
            <a:ext cx="240008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쿨러(Cooler)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9627" y="3944081"/>
            <a:ext cx="141823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팬(Fan)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1433" y="5740511"/>
            <a:ext cx="185461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진동(Vibration)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VS1 · 0.6 mm/s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수집과 승인된 자동 명령의 두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데이터는 OT에서 IT로 수집하고, 승인된 자동 명령은 별도 경로의 검사를 거쳐 설비에 적용한다.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pic>
        <p:nvPicPr>
          <p:cNvPr id="6" name="삽화:데이터_명령_두경로.svg" descr="illust_782598252622262410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72473"/>
            <a:ext cx="11094414" cy="44377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6000" y="1816851"/>
            <a:ext cx="4992486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3736" y="1816851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786" y="1816851"/>
            <a:ext cx="33283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529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5635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4741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3736" y="2327194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수집 서비스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842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plant.tag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1948" y="2327194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감지 서비스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529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5635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FanSpeedSP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4741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3736" y="5544573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842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action.cmd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1948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FAN_SET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7~9 · 지식·추천·승인·실행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지식과 데이터를 조회한 에이전트는 조치를 추천하며, 사람이 승인한 조치만 프로세스 엔진이 실행한다.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 · 온톨로지·원인분석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판단의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증상·고장 유형·원인·조치의 관계와 판별 기준을 지식으로 보관한다.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성능 상실(고장 유형) → 원인 후보와 증거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역할에는 Neo4j 같은 그래프 DB가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8 · AI 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진단과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지식과 데이터를 조회해 원인을 진단하고 조치안을 추천한다.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진단 → 팬 최대 운전 추천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명령을 보낼 권한과 수단은 없다.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7045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9 · 승인과 프로세스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승인과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HITL(Human-in-the-Loop): 사람의 판단을 거쳐 실행하는 구조이다.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추천과 근거를 보고 승인하거나 거절한다.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엔진은 승인된 조치를 명령으로 만들고 결과를 확인한다.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명령이 PLC에 닿는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승인된 명령은 명령 관문과 PLC의 검사를 모두 거치는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심층 방어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(Defense in Depth)로 보호된다.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" y="2454085"/>
            <a:ext cx="3570122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2508949"/>
            <a:ext cx="357012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0786" y="2454085"/>
            <a:ext cx="1721053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0786" y="2508949"/>
            <a:ext cx="1721053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9855" y="2454085"/>
            <a:ext cx="5419191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9855" y="2508949"/>
            <a:ext cx="5419191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73174" y="3776090"/>
            <a:ext cx="9245346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278837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2492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15" name="Oval 14"/>
          <p:cNvSpPr/>
          <p:nvPr/>
        </p:nvSpPr>
        <p:spPr>
          <a:xfrm>
            <a:off x="992416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settings" descr="setting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180" y="3599248"/>
            <a:ext cx="499988" cy="4999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79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승인된 조치를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명령으로 만든다</a:t>
            </a:r>
          </a:p>
        </p:txBody>
      </p:sp>
      <p:sp>
        <p:nvSpPr>
          <p:cNvPr id="18" name="Chevron 17"/>
          <p:cNvSpPr/>
          <p:nvPr/>
        </p:nvSpPr>
        <p:spPr>
          <a:xfrm>
            <a:off x="4127906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1561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읽기</a:t>
            </a:r>
          </a:p>
        </p:txBody>
      </p:sp>
      <p:sp>
        <p:nvSpPr>
          <p:cNvPr id="20" name="Oval 19"/>
          <p:cNvSpPr/>
          <p:nvPr/>
        </p:nvSpPr>
        <p:spPr>
          <a:xfrm>
            <a:off x="2841485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아이콘:stack" descr="sta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249" y="3599248"/>
            <a:ext cx="499988" cy="4999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89149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action.cmd에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명령을 남긴다</a:t>
            </a:r>
          </a:p>
        </p:txBody>
      </p:sp>
      <p:sp>
        <p:nvSpPr>
          <p:cNvPr id="23" name="Chevron 22"/>
          <p:cNvSpPr/>
          <p:nvPr/>
        </p:nvSpPr>
        <p:spPr>
          <a:xfrm>
            <a:off x="5976975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60630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25" name="Oval 24"/>
          <p:cNvSpPr/>
          <p:nvPr/>
        </p:nvSpPr>
        <p:spPr>
          <a:xfrm>
            <a:off x="4690555" y="3368485"/>
            <a:ext cx="961515" cy="961515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shield" descr="shiel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318" y="3599248"/>
            <a:ext cx="499988" cy="4999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38218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기록 검사</a:t>
            </a:r>
          </a:p>
        </p:txBody>
      </p:sp>
      <p:sp>
        <p:nvSpPr>
          <p:cNvPr id="28" name="Chevron 27"/>
          <p:cNvSpPr/>
          <p:nvPr/>
        </p:nvSpPr>
        <p:spPr>
          <a:xfrm>
            <a:off x="7826044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9700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전달</a:t>
            </a:r>
          </a:p>
        </p:txBody>
      </p:sp>
      <p:sp>
        <p:nvSpPr>
          <p:cNvPr id="30" name="Oval 29"/>
          <p:cNvSpPr/>
          <p:nvPr/>
        </p:nvSpPr>
        <p:spPr>
          <a:xfrm>
            <a:off x="6539624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아이콘:broadcast" descr="broadcas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388" y="3599248"/>
            <a:ext cx="499988" cy="4999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87287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cmd/auto로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전달한다</a:t>
            </a:r>
          </a:p>
        </p:txBody>
      </p:sp>
      <p:sp>
        <p:nvSpPr>
          <p:cNvPr id="33" name="Chevron 32"/>
          <p:cNvSpPr/>
          <p:nvPr/>
        </p:nvSpPr>
        <p:spPr>
          <a:xfrm>
            <a:off x="9675114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8769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설정 쓰기</a:t>
            </a:r>
          </a:p>
        </p:txBody>
      </p:sp>
      <p:sp>
        <p:nvSpPr>
          <p:cNvPr id="35" name="Oval 34"/>
          <p:cNvSpPr/>
          <p:nvPr/>
        </p:nvSpPr>
        <p:spPr>
          <a:xfrm>
            <a:off x="8388693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아이콘:plug-connected" descr="plug-connected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457" y="3599248"/>
            <a:ext cx="499988" cy="4999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36356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명령을 받아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PLC에 넘긴다</a:t>
            </a:r>
          </a:p>
        </p:txBody>
      </p:sp>
      <p:sp>
        <p:nvSpPr>
          <p:cNvPr id="38" name="Oval 37"/>
          <p:cNvSpPr/>
          <p:nvPr/>
        </p:nvSpPr>
        <p:spPr>
          <a:xfrm>
            <a:off x="10237762" y="3368485"/>
            <a:ext cx="961515" cy="961515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아이콘:cpu" descr="cpu_13294B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8526" y="3599248"/>
            <a:ext cx="499988" cy="4999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885426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상태를 검사해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설정값을 적용한다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명령·확인 응답·재관측의 구별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PLC의 확인 응답은 명령 처리 결과를 알리며, 설비가 회복되었는지는 계측값을 다시 읽어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명령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11:14:57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cmdId       CMD-1010-0001-b94a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asset       HYD-01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incident    INC-1010-01-d55a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actions     FAN_SET fan_pct 100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approvedBy  user:kim-op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expiresAt   11:16:57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응답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11:14:58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cmdId       CMD-1010-0001-b94a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result      DONE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interlock   PASS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        61.4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51.5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       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11:14:56에 승인한 팬 최대 운전이다. 팬 속도를 60 %에서 100 %로 올린다.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cmdId와 만료 시각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cmdId는 같은 명령을 식별한다. PLC가 중복을 검사하며 expiresAt 뒤에는 실행을 거절한다.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응답(ACK)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Acknowledgement: 처리 결과의 확인이다. DONE은 실행 완료, PASS는 인터록 정상이다.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응답은 회복 판정과 다르다. 유온의 회복 기준과 경보 CLEAR를 함께 확인한다.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이어지는 판단과 작업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경보·사건·판단·명령·작업지시를 식별자로 연결하면, 실행 결과에서 판단 근거까지 거슬러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남기는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경보(Alert)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ALT-hyd01-0014-e0a1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발생 조건과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당시의 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사건(Incident)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INC-1010-01-d55a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처리의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진행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판단(Decision)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DEC-1010-002-408b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 진단과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추천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명령(Command)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CMD-1010-0001-b94a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변경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작업지시(Work Order)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WO-1010-C058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기록 참조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지나온 길: 아홉 기능 계층과 세 보안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시스템을 하는 일로 나누면 아홉 기능 계층이고, 각 요소가 놓인 망으로 나누면 세 보안 영역이다.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pic>
        <p:nvPicPr>
          <p:cNvPr id="6" name="삽화:계층_0_전체.svg" descr="illust_2809898936783627628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0195" y="1641814"/>
            <a:ext cx="8945785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OT: Operational Technology · DMZ: Demilitarized Zone · IT: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9621" y="1641814"/>
            <a:ext cx="600022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822" y="1641814"/>
            <a:ext cx="65456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0570" y="1641814"/>
            <a:ext cx="600022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1144" y="2020010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9 · 프로세스 · 승인 ·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1144" y="25022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8 · AI 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144" y="29844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 · 온톨로지 · 원인분석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1144" y="34666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6 · 관제 · SCADA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1144" y="39488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5 · 시계열 저장소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1144" y="44310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4 · 스트림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1144" y="49132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3 · 이벤트 백본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1144" y="53954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2 · IoT 미들웨어 · MQTT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1144" y="5877607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1 · 센서 네트워크 · 설비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지식이 필요한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값만으로는 원인과 조치를 정할 수 없는 까닭과, 그 연결을 관계로 적는 온톨로지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데이터, 정보, 지식과 판단의 네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값과 이상 여부는 정보로 알 수 있지만, 원인을 가리고 조치를 정하려면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사건의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답하는 질문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잰 값인지, 단위와 기준을 알 수 없다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답할 수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HYD-01의 냉각 효율이 46.2 %이다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단위가 붙었다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 얼마인가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효율이 기준 70 %보다 낮다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기준이 붙었다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벗어났는가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 감지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효율이 낮고 팬 진동이 정상이면 쿨러 핀 오염이다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정보가 원인으로 이어졌다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왜 벗어났는가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고장 진단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오염이면 핀을 세척한다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원인이 조치로 이어졌다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무엇을 할 것인가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판단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후보와 증거의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증거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(Evidence)는 확인할 값과 판별 기준이며, 실제 값을 대조해 같은 경보의 원인 후보를 가린다.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 후보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판별 기준과 실제 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CE의 30초 평균 &lt; 70 % → 46.2 %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VS1의 2분 평균 &lt; 0.9 mm/s → 0.575 mm/s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두 조건 충족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VS1의 2분 평균 ≥ 0.9 mm/s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평균 0.575 mm/s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TS4의 2분 평균 ≥ 35 ℃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평균 28 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완화 조치와 근본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증상을 우선 낮추는 완화 조치와 원인을 없애는 근본 조치는 서로 다른 조치이다.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ropeller" descr="propell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완화 조치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팬을 최대로 돌려 유온을 우선 낮춘다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쿨러의 핀은 여전히 막혀 있다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효율 55 %: 기준 미달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100 % 연속 운전: 24시간 이내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ol" descr="too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근본 조치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막힌 핀을 세척해 원인을 없앤다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설비를 멈추고 해야 하는 작업이다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작업지시로 따로 등록된다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설비보전팀장이 승인한다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쓰이는 정보가 놓인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가리고 조치를 정하는 데 필요한 정보는 서로 다른 시스템과 문서에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흩어져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6" name="삽화:흩어진정보.svg" descr="illust_8128912894914398615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7471" y="30222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저장소(TSDB)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CE 46.2 % · TS4 28 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7471" y="52441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상태(Status)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REMOTE_AUTO · 팬 60 %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0466" y="30222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매뉴얼(Manual)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3181" y="5244129"/>
            <a:ext cx="370922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MES(Manufacturing Execution System)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오더 납기 · 5.98시간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7613" y="4298640"/>
            <a:ext cx="283646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경보(Alert)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 · 냉각 효율 저하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그대로 묻는 방식과 지식을 조회하게 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AI가 설비의 지식과 현재 값을 조회하고 기록해야, 답이 무엇에 근거했는지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chatbot" descr="message-chat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그대로 묻는다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일반적인 유압 설비 지식으로 그럴듯한 답을 낸다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설비의 매뉴얼과 판별 기준을 알지 못한다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현재 센서 값을 보지 못한다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답의 근거를 확인할 방법이 없다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1874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근거를 확인할 수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eport-search" descr="report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지식을 조회하게 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적어 둔 관계를 따라 원인 후보와 판별 기준을 찾는다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기준에 적힌 값을 저장소에서 읽어 대조한다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오래되었거나 비어 있으면 판정을 보류한다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어떤 지식과 값으로 판단했는지 기록에 남는다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사건: 팬 진동 2분 구간의 값 120개, 가장 긴 틈 약 1초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남는다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온톨로지: 공통 의미를 정의하는 지식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대상의 종류·속성·관계·제약을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명시적으로 정의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 사람과 컴퓨터가 함께 쓰는 지식 모델이다.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890625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온톨로지(Ontology)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공통 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분야의 대상과 관계를 정해진 형식으로 정의한 지식 모델이다.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「쿨러 핀 오염」이 누구에게나 같은 대상을 뜻하게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397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7312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대상의 갈래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57312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쪽: 설비·구성 요소·센서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진단 쪽: 이상 패턴·증상·고장 유형·원인·증거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쪽: 조치 방법·근거 문서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0946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1861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속성(Property)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값의 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51861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대상이 갖는 값을 담는 항목이다.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유온: 단위 ℃ · 정상값 48 ℃ · 한계 65 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549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6410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관계(Relationship)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이름과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446410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이름과 방향으로 대상 사이의 뜻을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MITIGATED_BY → 팬 최대 운전: 우선 완화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REMEDIED_BY → 쿨러 핀 세척: 근본 조치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0044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0959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제약(Constraint)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검사할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540959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 양 끝의 종류 등 올바른 연결의 조건을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CAUSES는 원인에서 고장 유형으로 잇는다.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정의한 제약은 잘못된 연결을 검사할 기준이 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노드·관계·방향을 문장으로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대상은 노드, 연결은 이름과 방향을 가진 관계로 나타내며, 주어·서술어·목적어로 읽어 뜻을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pic>
        <p:nvPicPr>
          <p:cNvPr id="6" name="Picture 5" descr="illust_1699370336140675324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03348"/>
            <a:ext cx="7223760" cy="3130296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9164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3677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노드(Node)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 하나를 나타낸다. 왼쪽은 쿨러 핀 오염, 오른쪽은 쿨러 냉각 성능 상실이다.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3246120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2461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19125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관계(Relationship)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노드를 잇는 이름 있는 연결이다. 이 화살표의 이름 CAUSES는 「일으킨다」이다.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80060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80060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4573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방향(Direction)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출발 노드가 주어, 관계가 서술어, 도착 노드가 목적어다. 「핀 오염은 냉각 성능 상실을 일으킨다」로 읽는다.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 지식 그래프 지도: 설비 쪽과 진단 · 조치 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증상·원인·조치·구성 요소는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고장 유형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 직접 연결되고, 설비·센서·매뉴얼은 그 바깥에 연결된다.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pic>
        <p:nvPicPr>
          <p:cNvPr id="6" name="삽화:지식그래프_지도.svg" descr="illust_2807940039841128142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2060" y="2303657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(Asset)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8466" y="2303657"/>
            <a:ext cx="11681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(Component)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7976" y="5281949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(Sensor)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671" y="5281949"/>
            <a:ext cx="1104401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(Symptom)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278" y="3721891"/>
            <a:ext cx="1380502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(FailureMode)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9065" y="2199653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(Cause)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6508" y="5367043"/>
            <a:ext cx="1104401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4705" y="3721891"/>
            <a:ext cx="145483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(ManualSection)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579" y="2157106"/>
            <a:ext cx="159288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0006" y="3546975"/>
            <a:ext cx="150793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MONITORED_BY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3261" y="5575051"/>
            <a:ext cx="142297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OBSERVED_BY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9311" y="4969937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9881" y="3268056"/>
            <a:ext cx="101944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5161" y="2733854"/>
            <a:ext cx="1253071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OCCURS_IN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9814" y="5050304"/>
            <a:ext cx="150793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3124" y="5003029"/>
            <a:ext cx="1348644" cy="4688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관계를 그래프로 다루는 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관계도가 그래프 DB에 저장되는 모양과 Cypher로 적는 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 · 레이블 · 관계 · 속성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그래프 DB는 인스턴스를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노드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로, 클래스 이름을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레이블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(Label)로, 값을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속성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저장한다.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pic>
        <p:nvPicPr>
          <p:cNvPr id="6" name="삽화:속성그래프_대각.svg" descr="illust_6912833242524673372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24248" y="2823676"/>
            <a:ext cx="169907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:Sensor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노드(Node)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3989" y="4705200"/>
            <a:ext cx="1699079" cy="825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:StateVariable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노드(Node)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5253" y="2128741"/>
            <a:ext cx="3185774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속성(Property)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id: 'sen:ts1'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name: '유온 센서'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tag: 'TS1'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84" y="4492465"/>
            <a:ext cx="2601715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속성(Property)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id: 'sv:ts1'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name: '유온'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limit: 65 · unit: '℃'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3144" y="4185181"/>
            <a:ext cx="1274309" cy="32943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Cypher 쿼리와 실행 화면의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저장된 그래프는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Cypher 쿼리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로 꺼내고 만들며, 쿼리는 찾을 노드와 관계의 모양을 글자로 적는다.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질의(Query)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데이터베이스에 보내는 요청 한 건이다. 무엇을 찾거나 만들지를 적는다.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사건에서 경보로부터 원인 후보를 찾은 것도 그래프에 보낸 질의였다.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Cypher 쿼리(Cypher Query)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Cypher로 적은 질의이다. Cypher는 요청을 노드와 관계의 패턴(Pattern)으로 적는 그래프 DB 질의 언어이다.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(c:Component)-[:MONITORED_BY]-&gt;(s:Sensor)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질의 실행 화면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사람이 쓰는 창구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질의를 입력해 실행하고 결과를 표와 그래프로 보는 화면이다.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Neo4j Browser 같은 것이 있으며, 포털의 지식 지도와는 별개이다.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 · 관계 · 변수 · 속성 조건의 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변수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(Variable)는 찾은 대상을 다시 부르는 이름이며, 속성 조건으로 검색 대상을 좁힌다.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6" name="삽화:표기_그래프.svg" descr="illust_1483636615377730797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52562" y="2440753"/>
            <a:ext cx="141235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11726" y="2440753"/>
            <a:ext cx="1539790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StateVariable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6650" y="2147651"/>
            <a:ext cx="1061924" cy="32943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3470" y="4960482"/>
            <a:ext cx="361054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(s:Sensor {tag: 'TS1'})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5332" y="4960482"/>
            <a:ext cx="1964560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-[:OBSERVES]-&gt;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1831" y="4960482"/>
            <a:ext cx="3079581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(v:StateVariable)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MATCH · RETURN: 패턴과 결과의 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MATCH는 패턴에 맞는 연결을 찾고, RETURN은 그 결과에서 돌려받을 항목을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MATCH (c:Component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-[:MONITORED_BY]-&gt;(s:Sensor)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RETURN c.name, s.tag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c.name         s.tag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"TS1"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   "CE"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MATCH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이름이 오일 쿨러인 구성 요소에서 계측 관계로 이어진 센서를 찾는다.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RETURN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구성 요소 이름과 센서 태그를 결과의 두 열로 받는다.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행의 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하나에 계측 채널 둘이 연결되어 결과는 두 행이다.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행과 노드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행의 오일 쿨러는 같은 노드이다. 이름의 반복이 노드의 중복을 뜻하지 않는다.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포털의 화면과 이번 과정의 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시연에서 열 네 화면과, 관계 모델에서 업무 흐름까지 가는 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포털에서 볼 네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포털의 화면은 설비의 지금 상태, 판단에 쓴 지식, 추천하는 에이전트, 사람이 처리할 일을 나누어 보여 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포털 메뉴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답하는 물음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결함 시뮬레이션 · 실시간 모니터링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이상 확인 · 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설비가 지금 어떤 상태이고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경보가 났는가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판단에 쓴 설비 · 센서 · 고장 · 조치는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어떻게 이어져 있는가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 · 에이전트에게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어떤 목표 · 도구 · 근거로</a:t>
            </a:r>
          </a:p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가리고 조치를 추천하는가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작업함 · 처리 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사람이 승인할 일은 무엇이고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처리 건은 어디까지 왔는가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모델이 판단과 업무에 쓰이는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판단의 기준을 주고, 에이전트·담당자·프로세스는 추천·승인·실행과 확인을 나누어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걸음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맡은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확인과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온톨로지가 대상의 종류·속성·관계·제약을 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공통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경보에서 관계를 따라 원인 후보와 증거를 찾는다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확인할 대상과 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실제 값을 기준과 대조해 조치를 추천한다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추천안과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승인하거나 거절한다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시 재확인: 유온 61.8 ℃ · 원격 자동 · 운전 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거절: 명령 없음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 기록을 남김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실행·확인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프로세스가 승인된 조치를 명령으로 내려보내고 재관측한다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완화하지 못하면 사람에게 다시 넘긴다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실행과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회복은 구별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이번 과정의 길: 관계 모델에서 업무 흐름까지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 모델을 세우고, 그 근거를 조회하는 에이전트를 만든 뒤, 승인과 실행의 업무 흐름으로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32203"/>
            <a:ext cx="3442106" cy="3718305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3933" y="23150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552" y="24687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119755"/>
            <a:ext cx="3295802" cy="265760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모델 · 1~4회차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· 센서 · 부품 모델의 적재와 조회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 연결, 판단 규칙과 성과 비교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문서에서 조건을 추출 · 검토해 반영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54754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4794" y="2132203"/>
            <a:ext cx="3442106" cy="3718305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30087" y="23150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706" y="2468702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7946" y="3119755"/>
            <a:ext cx="3295802" cy="265760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· 5~7회차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· 품질 · 시각화 에이전트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스킬과 MCP 도구 연결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 · 명세 · 행동 검증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0908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0948" y="2132203"/>
            <a:ext cx="3442106" cy="3718305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6242" y="23150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route" descr="rout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861" y="2468702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74100" y="3119755"/>
            <a:ext cx="3295802" cy="265760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흐름 · 8~10회차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BPMN의 역할 · 분기 · 지연과 실행 연결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· 정비 · 구매 시나리오의 실행과 검증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교대 인수인계 완성과 ProcessGPT 시연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오늘의 실습과 남길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이론 뒤 세 교시는 시연을 보며 관계도를 그리고, Cypher로 그래프를 다룬 뒤, 설비 모델을 적재 · 조회한다.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남길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포털 시연으로 완성 흐름을 확인하고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관계도 그리기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 · 승인 · 실행 구별,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문장으로 읽은 관계도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3교시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Cypher로 그래프 생성 · 조회 · 수정 · 삭제하기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랩 DB의 예제와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정리 뒤 재조회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관계도를 설비 모델로 옮기고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적재 · 조회 결과 확인하기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센서 · 부품 조회 결과,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구조 · 의미 대조 구별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