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인제스천의 과정이에요. 원천 자료가 지식이 되기까지의 일곱 단계를 설명할 수 있어야 하고요, 그 가운데 어디를 LLM이 맡고 어디를 정해진 코드와 사람이 맡는지도 가릴 수 있어야 합니다. LLM은 카드에 적힌 대로 언어 모델, 그러니까 글을 읽고 문장을 만들어 내는 AI 모델이에요. 두 번째 카드는 검토와 출처예요. 추출에서 생길 수 있는 오류를 원문과 대조해서 찾고, 지식이 어느 문서의 어느 구간에서 왔는지 되짚습니다. 세 번째는 지식과 값의 구분입니다. 지식 그래프에 등록할 것과, 판단하는 순간 원천에서 읽을 값을 나누는 거죠. 마지막 카드는 실습과 정리예요. 직접 추출하고 검토한 지식을 그래프에 반영하고, 지금까지 만든 지식이 쿨러 사건의 판단 어디에 쓰였는지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앞에서 추천안을 확인한 포털에는 문서 지식이 이미 등록돼 있습니다. 이제는 그 지식을 어떻게 들여오는지 보려는 거예요. 별도 교육 환경의 초기 상태와 문서 등록 여부를 확인하고, 새 문서 등록이나 같은 문서의 판본 검토로 진행합니다. 추천안이 원인과 출처를 말할 수 있었던 건, 이처럼 문서를 지식으로 옮겨 두었기 때문이죠.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70 %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오른쪽 첫 점의 둘째 문장이 그 뜻이에요. 둘째 묶음은 원문 보존이에요. 조건과 금지, 역할과 순서, 수치와 승인을 원문 그대로 두고, 근거 없는 조치나 새 단계를 보태지 말라고 합니다. 셋째 묶음이 오른쪽에서 강조한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둘째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점선으로 그린 하늘색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60 %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이런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앞의 둘은, 손으로 옮길 때의 누락에서 봤듯 결과에 틀린 글자가 없거나 숫자 자리에 숫자가 있고요, 뒤의 둘도 항목은 다 채워져 있거든요.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가운데에는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100 %로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쪽인지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밝게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3회차에서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70 %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46 %로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시간을 넘었는지 검사해요. 그 운전시간이 입력 데이터고, 입력 데이터는 정비 관리 시스템을 출처로 삼습니다. 그럼 값 자체는 어디 있을까요? 왼쪽 아래 정비 계수기 표에 그대로 있어요.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39~40장 통합 발화는 39장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각 회차의 주제, 칸 아래에는 결과물이 적혀 있어요. 맨 왼쪽, 1회차의 결과물은 손으로 그린 관계 그림이었습니다. 왜 관계로 적어야 하는지를 확인한 그림이죠. 두 번째 칸, 2회차에는 그 그림에 클래스와 식별자라는 틀이 생겼고, 그래프 DB에 들어갔어요. 세 번째 칸, 3회차에는 포털에 등록된 절차·규칙·지표의 관계를 살펴보고, 조건표와 판단 기능으로 그 기준을 적용했죠. 그리고 네 번째 칸, 이번 회차에 문서에서 온 원인과 증거가 출처와 함께 더해졌습니다. 칸마다 하늘색으로 칠한 부분이 그 회차에 새로 더해진 거예요. 오른쪽 끝의 에이전트는 이 지식을 쓰는 쪽인데, 정리의 끝에서 다시 만납니다. 이렇게 놓고 보면, 앞 칸의 결과물이 다음 칸의 바탕이 되고 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점선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설비에서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입력은 작업 조건이 정리된 절차 자료였습니다. 화면은 절차 자료의 문장이 화살표를 따라 각각 어떤 결과물로 옮겨지는지 보여 줘요. 첫 줄은 수행 단계입니다. 팬 속도를 100 %로 올린다는 문장이 조치 방법의 작업 단계가 되었어요. 냉각 성능 상실을 완화하는 팬 최대 운전이라는 조치 방법이 있고, 그 방법이 이 단계를 갖는 거죠. 둘째 줄은 금지 사항입니다. 펌프 부하를 60 % 아래로 내리지 않는다는 문장이에요. 익숙하죠? 이번 회차에 경고로 본 바로 그 문장입니다. 이건 판단 규칙이 되지 않았고, 부하 설정의 하한 60 %라는 조치의 한계로 남았어요. 셋째 줄은 전제 조건입니다. 원격 자동이 아닐 때는 원격 조치를 쓰지 않는다는 매뉴얼 8절의 문장이 제외 규칙이 되었습니다. 이제 화살표 오른쪽의 물음을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3회차에서는 성과 지표와 조치가 그 지표에 닿는 길도 비교했습니다. 이 화면은 포털에 등록된 영향 관계예요. 직접 만든 판단 기능에서는 제공 값과 계산식으로 손실을 비교했으며, 그 결과를 그래프에 모두 적재한 것은 아닙니다.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3회차가 지식이 들어갈 자리를 만들었다면, 이번 회차는 그 자리를 채우는 방법을 다뤘습니다. 화면 왼쪽부터 원문, 항목마다 인용이 붙은 후보, 사람이 확인한 지식, 그리고 출처를 가진 지식이에요. 그 방법으로 만든 이번 회차의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70 %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70 %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그런데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70 %는 지식이고, 계기에 뜬 약 46 %는 읽은 값입니다. 둘은 서로 다른 곳에 있다가, 판단하는 순간에만 만나죠. 읽은 값이 기준보다 훨씬 낮습니다. 그런데 맨 위 핀 오염 카드를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카드마다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3회차에 본 네 후보의 예측 유온과 순위예요. 먼저 판단 규칙이 후보를 걸렀습니다. 오른쪽 첫 칸처럼,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마지막 칸처럼 나머지 셋도 대안으로 추천과 함께 제시됐어요. 왜 이 조치가 추천이 됐는지는, 진 후보와 나란히 놓아야 보이니까요. 왜 그런 순위였는지는 3회차에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보겠습니다.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판정 방식이 필요하다면 평가 프로그램도 함께 검토해야 합니다. 그런데 규칙만 있으면 왜 그런 기준인지 설명할 수가 없어요. 반대로 문장만 있으면 판정에 쓸 수가 없고요. 그래서 둘을 함께 둡니다. 두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장은 답을 확인할 근거를 줍니다. 등록된 관계, 규칙의 판정, 원천에서 읽은 값에 설명이 맞는지 대조할 수 있어요. 이런 구조가 있다는 것만으로 생성된 설명의 정확성이 보장되는 것은 아닙니다.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셋째 줄처럼, 걸린 규칙과 그 근거도 결과에 함께 남습니다. 추천안에 붙어 나온 규칙 줄이 바로 그거죠. 오른쪽 카드, 값의 자리는 값을 어디서 읽을지 알려 줍니다. 어디서 언제 읽었는지도 남아요. 값이 비었거나 사용할 수 없으면 정상으로 채우지 않고 정해 둔 미확인 처리를 따릅니다. HYD에서는 규칙의 종류와 다른 조건에 따라 제외나 경고로 남겼죠. 우리가 만든 랩에서는 미해결 입력이 있는 후보를 보류합니다. 어느 정책을 적용했는지가 결과에 드러나야 해요.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LLM의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표의 네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오른쪽 칸처럼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70 %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첫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두 번째 문제의 정답은 4번입니다. 1번, 2번, 3번은 검토해서 관리하는 기준과 절차, 관계에 관한 지식이에요. 4번의 평균값만 매초 바뀌는 측정값이라, 판단하는 순간 원천에서 읽습니다. 세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현장 문서에 적힌 내용을 검증해서, 판단 근거로 믿고 쓸 수 있는 지식으로 만드는 과정을 다룹니다. 지난 회차까지 우리는 지식을 담을 구조를 설계했고, 그 구조에 조치 절차와 판단 규칙을 이어 봤죠. 그런데 하나 생각해 볼 게 있어요. 그 원인이나 절차, 기준은 처음부터 그래프 안에 있었을까요? 아니죠. 원래는 매뉴얼에 문장으로 적혀 있었습니다. 그렇다면 사람이 읽는 문장을, 판단에 믿고 쓸 수 있는 지식으로 바꾸려면 무엇이 필요할까요? 이번 회차에는 그 문장이 출처를 가진 지식이 되기까지를 따라가 보고, 실습에서 직접 추출하고 검토해서 그래프에 넣어 봅니다. 그리고 마지막에는 1회차부터 4회차까지 만든 것을 하나의 흐름으로 정리하겠습니다. 이번 시간에는 그 가운데 첫 부분을 다룹니다. 문서가 지식이 되는 일곱 단계와, 지식과 값의 경계까지 살펴보고, 이어질 세 실습의 목표와 결과물을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화면에 보이는 순서대로 갑니다. 위의 여섯 줄은 문서가 지식이 되는 과정이에요. 인제스천이 무엇인지부터 보고, 원문을 보관해서 구조를 가리고, LLM이 후보를 뽑아 기존 대상에 잇고, 원문과 대조해 사람이 검토하고, 출처를 붙여 넣기까지 차례로 따라갑니다. 여섯 번째 줄에서는 지식 그래프에 넣을 것과 넣지 않을 값을 가르고요. 일곱 번째 줄은 실습 세 개입니다. 앞에서 본 과정을 매뉴얼 등록, 지식 추출, 그래프 반영으로 직접 해 봐요. 마지막 두 줄에서는 네 회차 동안 만든 결과물을 모아서, 쿨러 사건의 판단 어디에 쓰였는지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두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세 번째 단원은 LLM 추출과 스키마 ·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네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다섯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직접 해 볼 차례입니다. 첫 실습에서 무엇을 하고 무엇을 남기는지, 화면의 카드로 정리해 볼게요. 화면 첫 카드가 목표와 입력이에요. 별도 교육 환경에서 구조 지식과 문서의 등록 상태부터 확인합니다. 이미 등록된 문서는 같은 식별자의 판본으로 다뤄요. 고장과 원인과 조치의 지식을 원문과 대조해 등록하는 게 목표입니다. 가운데 두 카드가 할 일의 범위입니다. 두 번째 카드, 추출과 대조부터요. 먼저 매뉴얼을 올려서 원문을 보관하고, 추출을 요청해요. 추출이 끝나면 단계 문장을 원문 인용과 나란히 놓고 읽습니다. 할 일의 중심은 바로 이 검토예요. 부정 조건, 단위, 단계의 순서, 대상 설비가 원문과 같은지 보고, 다르면 고칩니다. 세 번째 카드는 승인과 확인이에요. 검토를 마쳤다고 표시하고 적재한 뒤에는, 지식 지도에서 조치와 원인과 근거 문서가 이어졌는지 확인합니다. 데이터 연결 화면에서는 판단 기준과 원천의 지금 값이 각각 어디에 놓였는지 견주어 보겠습니다. 앞에서 그은 지식과 값의 경계를 실제 화면에서 확인하는 자리예요. 마지막 카드가 산출물과 성공 기준입니다. 남길 것은 고친 곳과 그 근거 인용을 적은 검토 기록이에요. 조치 방법에서 근거 절까지 관계가 이어지고, 판단 기준과 값의 원천을 구분해 적었으면 성공입니다. 첫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사용하게 될 추출 과정을 직접 구성합니다. 포털에서 결과를 검토하는 데서 한 걸음 더 들어가, 실습용 매뉴얼과 작업 절차 자료에서 출처가 붙은 검토용 데이터를 바이브 코딩으로 만듭니다. 화면의 카드 순서대로 갈게요. 첫 카드가 입력입니다. 실습용 매뉴얼과 작업 절차 자료를 읽고 표, 절차 번호, 예외 조건, 수치, 부품 정보, 개정 사항을 확인해요. 가운데 두 카드가 할 일의 범위입니다. 먼저 증상과 원인과 조치와 수행 조건을 스키마에 맞춰 뽑도록 지시해요. 이때 후보마다 문서 식별자, 쪽이나 구간, 원문 인용이 붙어 나오게 해야 합니다. 원문에 없는 것은 만들지 말고 경고로 남기라는 약속도 함께 넣겠습니다. 이론에서 본 추출 지시문의 약속을, 여기서는 제가 직접 쓰는 겁니다. 결과가 나오면 원문과 나란히 놓고, 빠진 조건이나 틀린 수치, 틀린 연결을 고칩니다. 마지막 카드가 산출물과 성공 기준이에요. 남길 것은 그다음 실습의 적재에 쓸 검토용 파일입니다. 모든 후보의 인용이 원문에 실제로 있고, 부정 조건과 단위가 원문과 같으면 성공이에요. 이 파일이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두 번째 실습에서 만들 검토용 파일을 받아, 지식을 실습용 그래프 DB에 반영하는 활동입니다. 후보를 검토하고, 기존 대상에 잇고, 넣은 뒤 확인하는 일을 맡아요. 순서는 이번 회차에 배운 인제스천의 단계 그대로입니다. 화면 첫 카드가 입력과 검토입니다. 그 검토용 파일의 후보를 원문과 대조해서 채택할 것, 고칠 것, 뺄 것을 정해요. 가운데 두 카드가 할 일의 범위예요. 두 번째 카드는 매핑입니다. 2회차에 직접 설계한 설비 모델과, 3회차의 조치와 규칙 구조에 후보를 잇는 거죠. 이미 등록된 대상은 새로 만들지 않고 그 식별자로 가리킵니다. 세 번째 카드의 적재 코드는 바이브 코딩으로 만들고, 검토한 항목만 넣어요. 마지막 카드가 산출물과 성공 기준입니다. 남는 것은 문서에서 온 지식이 더해진, 보강된 그래프예요. 고장 유형 하나에서 출발해 원인과 조치와 판단 규칙, 원문 출처까지 조회되고, 같은 대상이 둘로 생기지 않고, 뺀 후보가 그래프에 없으면 성공입니다. 넣은 개수만 보지 말고, 팬 최대 운전의 절차와 제한을 근거까지 답할 수 있는지도 확인합니다. 답이 빠지면 구조, 적재된 내용, 조회 경로 중 어디가 원인인지 찾아 고친 뒤 다시 조회해요. 세 실습은 포털에서 전체 과정을 확인하고, 추출 기능을 만든 다음, 검토한 결과를 그래프에 반영하는 순서입니다. 이제 첫 번째 활동인 포털의 매뉴얼 등록부터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네 회차에 걸쳐 만든 것을 하나의 흐름으로 정리하고, 이번 회차를 마무리합니다. 앞의 세 실습에서는 매뉴얼의 지식을 직접 추출하고 검토해서 그래프에 넣어 봤죠. 1회차부터 4회차까지, 같은 구조 위에서 지식 그래프가 어떻게 자라 왔는지를 이제 하나로 놓고 보겠습니다.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배운 내용을 스스로 판단에 쓸 수 있는지 퀴즈 세 문제로 확인해 보겠습니다. 이름을 외웠는지보다, 각 상황에서 무엇을 근거로 판단하는지가 중요해요. 문제마다 보기를 읽고 나면 잠깐 멈추고 답을 골라 보세요. 정답과 까닭은 세 문제를 다 푼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3.png"/><Relationship Id="rId4" Type="http://schemas.openxmlformats.org/officeDocument/2006/relationships/image" Target="../media/image23.png"/><Relationship Id="rId5" Type="http://schemas.openxmlformats.org/officeDocument/2006/relationships/image" Target="../media/image42.png"/><Relationship Id="rId6"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2.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3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6.png"/><Relationship Id="rId4"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언어 모델(LLM)과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5644888059056221285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81525422746495216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370095615149874870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3433315837248579538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3042901568452845633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입력데이터_자리.svg" descr="illust_726803416275326777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구조·문서 등록 상태를 확인한 교육 환경</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적은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절차 · 제한 질문에 근거 절까지 답한다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a:t>
            </a:r>
          </a:p>
          <a:p>
            <a:pPr algn="l" eaLnBrk="0">
              <a:lnSpc>
                <a:spcPct val="110000"/>
              </a:lnSpc>
            </a:pPr>
            <a:r>
              <a:rPr sz="3400" b="1">
                <a:solidFill>
                  <a:srgbClr val="13294B"/>
                </a:solidFill>
                <a:latin typeface="맑은 고딕"/>
                <a:ea typeface="맑은 고딕"/>
                <a:cs typeface="맑은 고딕"/>
              </a:rPr>
              <a:t>문서에서 지식 추출하기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실습용 매뉴얼 · 작업 절차 자료</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34816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검토</a:t>
            </a:r>
          </a:p>
          <a:p>
            <a:pPr algn="l" eaLnBrk="0" marL="154305" indent="-154305">
              <a:lnSpc>
                <a:spcPct val="110000"/>
              </a:lnSpc>
              <a:spcAft>
                <a:spcPts val="400"/>
              </a:spcAft>
            </a:pPr>
            <a:r>
              <a:rPr sz="1350" b="0">
                <a:solidFill>
                  <a:srgbClr val="1F2A3A"/>
                </a:solidFill>
                <a:latin typeface="맑은 고딕"/>
                <a:ea typeface="맑은 고딕"/>
                <a:cs typeface="맑은 고딕"/>
              </a:rPr>
              <a:t>• 출처가 붙은 검토용 데이터</a:t>
            </a:r>
          </a:p>
          <a:p>
            <a:pPr algn="l" eaLnBrk="0" marL="154305" indent="-154305">
              <a:lnSpc>
                <a:spcPct val="110000"/>
              </a:lnSpc>
              <a:spcAft>
                <a:spcPts val="400"/>
              </a:spcAft>
            </a:pPr>
            <a:r>
              <a:rPr sz="1350" b="0">
                <a:solidFill>
                  <a:srgbClr val="1F2A3A"/>
                </a:solidFill>
                <a:latin typeface="맑은 고딕"/>
                <a:ea typeface="맑은 고딕"/>
                <a:cs typeface="맑은 고딕"/>
              </a:rPr>
              <a:t>• 후보를 원문과 대조해</a:t>
            </a:r>
          </a:p>
          <a:p>
            <a:pPr algn="l" eaLnBrk="0" marL="154305" indent="-154305">
              <a:lnSpc>
                <a:spcPct val="110000"/>
              </a:lnSpc>
              <a:spcAft>
                <a:spcPts val="400"/>
              </a:spcAft>
            </a:pPr>
            <a:r>
              <a:rPr sz="1350" b="0">
                <a:solidFill>
                  <a:srgbClr val="1F2A3A"/>
                </a:solidFill>
                <a:latin typeface="맑은 고딕"/>
                <a:ea typeface="맑은 고딕"/>
                <a:cs typeface="맑은 고딕"/>
              </a:rPr>
              <a:t>• 채택 · 수정 · 제외 · 보류를 정한다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매핑</a:t>
            </a:r>
          </a:p>
          <a:p>
            <a:pPr algn="l" eaLnBrk="0" marL="154305" indent="-154305">
              <a:lnSpc>
                <a:spcPct val="110000"/>
              </a:lnSpc>
              <a:spcAft>
                <a:spcPts val="400"/>
              </a:spcAft>
            </a:pPr>
            <a:r>
              <a:rPr sz="1350" b="0">
                <a:solidFill>
                  <a:srgbClr val="1F2A3A"/>
                </a:solidFill>
                <a:latin typeface="맑은 고딕"/>
                <a:ea typeface="맑은 고딕"/>
                <a:cs typeface="맑은 고딕"/>
              </a:rPr>
              <a:t>• 설비 모델과 조치 · 규칙의 구조에 잇는다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5031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적재</a:t>
            </a:r>
          </a:p>
          <a:p>
            <a:pPr algn="l" eaLnBrk="0" marL="154305" indent="-154305">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eaLnBrk="0" marL="154305" indent="-154305">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보강된 그래프: 고장 유형 → 원인 · 조치 · 판단 규칙 · 원문 출처가 조회된다</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질문을 근거와 대조한다</a:t>
            </a:r>
          </a:p>
          <a:p>
            <a:pPr algn="l" eaLnBrk="0" marL="154305" indent="-154305">
              <a:lnSpc>
                <a:spcPct val="110000"/>
              </a:lnSpc>
              <a:spcAft>
                <a:spcPts val="400"/>
              </a:spcAft>
            </a:pPr>
            <a:r>
              <a:rPr sz="1350" b="0">
                <a:solidFill>
                  <a:srgbClr val="1F2A3A"/>
                </a:solidFill>
                <a:latin typeface="맑은 고딕"/>
                <a:ea typeface="맑은 고딕"/>
                <a:cs typeface="맑은 고딕"/>
              </a:rPr>
              <a:t>• 중복 대상과 제외 후보가 없다</a:t>
            </a:r>
          </a:p>
        </p:txBody>
      </p:sp>
      <p:sp>
        <p:nvSpPr>
          <p:cNvPr id="28" name="Rounded Rectangle 27"/>
          <p:cNvSpPr/>
          <p:nvPr/>
        </p:nvSpPr>
        <p:spPr>
          <a:xfrm>
            <a:off x="9303791" y="550310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네일차_흐름.svg" descr="illust_24288056211606834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관계.svg" descr="illust_890320020743846751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두층_3.svg" descr="illust_8246648576783982549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TextBox 5"/>
          <p:cNvSpPr txBox="1"/>
          <p:nvPr/>
        </p:nvSpPr>
        <p:spPr>
          <a:xfrm>
            <a:off x="640080" y="1737360"/>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단계</a:t>
            </a:r>
          </a:p>
        </p:txBody>
      </p:sp>
      <p:sp>
        <p:nvSpPr>
          <p:cNvPr id="7" name="TextBox 6"/>
          <p:cNvSpPr txBox="1"/>
          <p:nvPr/>
        </p:nvSpPr>
        <p:spPr>
          <a:xfrm>
            <a:off x="640080" y="2185415"/>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「2. 팬 속도를 100 %로 올린다.」</a:t>
            </a:r>
          </a:p>
        </p:txBody>
      </p:sp>
      <p:sp>
        <p:nvSpPr>
          <p:cNvPr id="8" name="Right Arrow 7"/>
          <p:cNvSpPr/>
          <p:nvPr/>
        </p:nvSpPr>
        <p:spPr>
          <a:xfrm>
            <a:off x="4709160" y="2212848"/>
            <a:ext cx="502920" cy="292608"/>
          </a:xfrm>
          <a:prstGeom prst="rightArrow">
            <a:avLst/>
          </a:prstGeom>
          <a:solidFill>
            <a:srgbClr val="1A6FC4"/>
          </a:solidFill>
          <a:ln>
            <a:noFill/>
          </a:ln>
        </p:spPr>
        <p:txBody>
          <a:bodyPr rtlCol="0" anchor="ctr"/>
          <a:lstStyle/>
          <a:p>
            <a:pPr algn="ctr"/>
          </a:p>
        </p:txBody>
      </p:sp>
      <p:sp>
        <p:nvSpPr>
          <p:cNvPr id="9" name="TextBox 8"/>
          <p:cNvSpPr txBox="1"/>
          <p:nvPr/>
        </p:nvSpPr>
        <p:spPr>
          <a:xfrm>
            <a:off x="5532120" y="1737360"/>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어떻게 하는가</a:t>
            </a:r>
          </a:p>
        </p:txBody>
      </p:sp>
      <p:sp>
        <p:nvSpPr>
          <p:cNvPr id="10" name="TextBox 9"/>
          <p:cNvSpPr txBox="1"/>
          <p:nvPr/>
        </p:nvSpPr>
        <p:spPr>
          <a:xfrm>
            <a:off x="5532120" y="2157984"/>
            <a:ext cx="5852160" cy="301752"/>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조치 방법의 작업 단계</a:t>
            </a:r>
          </a:p>
        </p:txBody>
      </p:sp>
      <p:sp>
        <p:nvSpPr>
          <p:cNvPr id="11" name="Rounded Rectangle 10"/>
          <p:cNvSpPr/>
          <p:nvPr/>
        </p:nvSpPr>
        <p:spPr>
          <a:xfrm>
            <a:off x="5532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2" name="TextBox 11"/>
          <p:cNvSpPr txBox="1"/>
          <p:nvPr/>
        </p:nvSpPr>
        <p:spPr>
          <a:xfrm>
            <a:off x="5568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냉각 성능 상실</a:t>
            </a:r>
          </a:p>
        </p:txBody>
      </p:sp>
      <p:sp>
        <p:nvSpPr>
          <p:cNvPr id="13" name="Rounded Rectangle 12"/>
          <p:cNvSpPr/>
          <p:nvPr/>
        </p:nvSpPr>
        <p:spPr>
          <a:xfrm>
            <a:off x="7818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4" name="TextBox 13"/>
          <p:cNvSpPr txBox="1"/>
          <p:nvPr/>
        </p:nvSpPr>
        <p:spPr>
          <a:xfrm>
            <a:off x="7854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팬 최대 운전</a:t>
            </a:r>
          </a:p>
        </p:txBody>
      </p:sp>
      <p:sp>
        <p:nvSpPr>
          <p:cNvPr id="15" name="Rounded Rectangle 14"/>
          <p:cNvSpPr/>
          <p:nvPr/>
        </p:nvSpPr>
        <p:spPr>
          <a:xfrm>
            <a:off x="10104120" y="2670048"/>
            <a:ext cx="114300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6" name="TextBox 15"/>
          <p:cNvSpPr txBox="1"/>
          <p:nvPr/>
        </p:nvSpPr>
        <p:spPr>
          <a:xfrm>
            <a:off x="10140696" y="2724912"/>
            <a:ext cx="106984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2단계</a:t>
            </a:r>
          </a:p>
        </p:txBody>
      </p:sp>
      <p:sp>
        <p:nvSpPr>
          <p:cNvPr id="17" name="TextBox 16"/>
          <p:cNvSpPr txBox="1"/>
          <p:nvPr/>
        </p:nvSpPr>
        <p:spPr>
          <a:xfrm>
            <a:off x="6885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MITIGATED_BY</a:t>
            </a:r>
          </a:p>
        </p:txBody>
      </p:sp>
      <p:sp>
        <p:nvSpPr>
          <p:cNvPr id="18" name="Right Arrow 17"/>
          <p:cNvSpPr/>
          <p:nvPr/>
        </p:nvSpPr>
        <p:spPr>
          <a:xfrm>
            <a:off x="7114032" y="2807208"/>
            <a:ext cx="640080" cy="109728"/>
          </a:xfrm>
          <a:prstGeom prst="rightArrow">
            <a:avLst/>
          </a:prstGeom>
          <a:solidFill>
            <a:srgbClr val="1A6FC4"/>
          </a:solidFill>
          <a:ln>
            <a:noFill/>
          </a:ln>
        </p:spPr>
        <p:txBody>
          <a:bodyPr rtlCol="0" anchor="ctr"/>
          <a:lstStyle/>
          <a:p>
            <a:pPr algn="ctr"/>
          </a:p>
        </p:txBody>
      </p:sp>
      <p:sp>
        <p:nvSpPr>
          <p:cNvPr id="19" name="TextBox 18"/>
          <p:cNvSpPr txBox="1"/>
          <p:nvPr/>
        </p:nvSpPr>
        <p:spPr>
          <a:xfrm>
            <a:off x="9171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HAS_STEP</a:t>
            </a:r>
          </a:p>
        </p:txBody>
      </p:sp>
      <p:sp>
        <p:nvSpPr>
          <p:cNvPr id="20" name="Right Arrow 19"/>
          <p:cNvSpPr/>
          <p:nvPr/>
        </p:nvSpPr>
        <p:spPr>
          <a:xfrm>
            <a:off x="9400032" y="2807208"/>
            <a:ext cx="640080" cy="109728"/>
          </a:xfrm>
          <a:prstGeom prst="rightArrow">
            <a:avLst/>
          </a:prstGeom>
          <a:solidFill>
            <a:srgbClr val="1A6FC4"/>
          </a:solidFill>
          <a:ln>
            <a:noFill/>
          </a:ln>
        </p:spPr>
        <p:txBody>
          <a:bodyPr rtlCol="0" anchor="ctr"/>
          <a:lstStyle/>
          <a:p>
            <a:pPr algn="ctr"/>
          </a:p>
        </p:txBody>
      </p:sp>
      <p:sp>
        <p:nvSpPr>
          <p:cNvPr id="21" name="TextBox 20"/>
          <p:cNvSpPr txBox="1"/>
          <p:nvPr/>
        </p:nvSpPr>
        <p:spPr>
          <a:xfrm>
            <a:off x="640080" y="3236976"/>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금지 사항</a:t>
            </a:r>
          </a:p>
        </p:txBody>
      </p:sp>
      <p:sp>
        <p:nvSpPr>
          <p:cNvPr id="22" name="TextBox 21"/>
          <p:cNvSpPr txBox="1"/>
          <p:nvPr/>
        </p:nvSpPr>
        <p:spPr>
          <a:xfrm>
            <a:off x="640080" y="3685032"/>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「펌프 부하는 60 % 아래로 내리지 않는다.」</a:t>
            </a:r>
          </a:p>
        </p:txBody>
      </p:sp>
      <p:sp>
        <p:nvSpPr>
          <p:cNvPr id="23" name="Right Arrow 22"/>
          <p:cNvSpPr/>
          <p:nvPr/>
        </p:nvSpPr>
        <p:spPr>
          <a:xfrm>
            <a:off x="4709160" y="3712464"/>
            <a:ext cx="502920" cy="292608"/>
          </a:xfrm>
          <a:prstGeom prst="rightArrow">
            <a:avLst/>
          </a:prstGeom>
          <a:solidFill>
            <a:srgbClr val="1A6FC4"/>
          </a:solidFill>
          <a:ln>
            <a:noFill/>
          </a:ln>
        </p:spPr>
        <p:txBody>
          <a:bodyPr rtlCol="0" anchor="ctr"/>
          <a:lstStyle/>
          <a:p>
            <a:pPr algn="ctr"/>
          </a:p>
        </p:txBody>
      </p:sp>
      <p:sp>
        <p:nvSpPr>
          <p:cNvPr id="24" name="TextBox 23"/>
          <p:cNvSpPr txBox="1"/>
          <p:nvPr/>
        </p:nvSpPr>
        <p:spPr>
          <a:xfrm>
            <a:off x="5532120" y="3236976"/>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무엇을 하면 안 되는가</a:t>
            </a:r>
          </a:p>
        </p:txBody>
      </p:sp>
      <p:sp>
        <p:nvSpPr>
          <p:cNvPr id="25" name="TextBox 24"/>
          <p:cNvSpPr txBox="1"/>
          <p:nvPr/>
        </p:nvSpPr>
        <p:spPr>
          <a:xfrm>
            <a:off x="5532120" y="3694176"/>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조치의 한계: 펌프 부하 설정의 하한 60 %</a:t>
            </a:r>
          </a:p>
        </p:txBody>
      </p:sp>
      <p:sp>
        <p:nvSpPr>
          <p:cNvPr id="26" name="TextBox 25"/>
          <p:cNvSpPr txBox="1"/>
          <p:nvPr/>
        </p:nvSpPr>
        <p:spPr>
          <a:xfrm>
            <a:off x="640080" y="4736592"/>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전제 조건</a:t>
            </a:r>
          </a:p>
        </p:txBody>
      </p:sp>
      <p:sp>
        <p:nvSpPr>
          <p:cNvPr id="27" name="TextBox 26"/>
          <p:cNvSpPr txBox="1"/>
          <p:nvPr/>
        </p:nvSpPr>
        <p:spPr>
          <a:xfrm>
            <a:off x="640080" y="5184648"/>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「원격 조치(SOP-COOL-11~13)는 REMOTE_AUTO가 아닐 때 쓰지 않는다.」</a:t>
            </a:r>
          </a:p>
        </p:txBody>
      </p:sp>
      <p:sp>
        <p:nvSpPr>
          <p:cNvPr id="28" name="Right Arrow 27"/>
          <p:cNvSpPr/>
          <p:nvPr/>
        </p:nvSpPr>
        <p:spPr>
          <a:xfrm>
            <a:off x="4709160" y="5212079"/>
            <a:ext cx="502920" cy="292608"/>
          </a:xfrm>
          <a:prstGeom prst="rightArrow">
            <a:avLst/>
          </a:prstGeom>
          <a:solidFill>
            <a:srgbClr val="1A6FC4"/>
          </a:solidFill>
          <a:ln>
            <a:noFill/>
          </a:ln>
        </p:spPr>
        <p:txBody>
          <a:bodyPr rtlCol="0" anchor="ctr"/>
          <a:lstStyle/>
          <a:p>
            <a:pPr algn="ctr"/>
          </a:p>
        </p:txBody>
      </p:sp>
      <p:sp>
        <p:nvSpPr>
          <p:cNvPr id="29" name="TextBox 28"/>
          <p:cNvSpPr txBox="1"/>
          <p:nvPr/>
        </p:nvSpPr>
        <p:spPr>
          <a:xfrm>
            <a:off x="5532120" y="4736592"/>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언제 할 수 있는가</a:t>
            </a:r>
          </a:p>
        </p:txBody>
      </p:sp>
      <p:sp>
        <p:nvSpPr>
          <p:cNvPr id="30" name="TextBox 29"/>
          <p:cNvSpPr txBox="1"/>
          <p:nvPr/>
        </p:nvSpPr>
        <p:spPr>
          <a:xfrm>
            <a:off x="5532120" y="5193792"/>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판단 규칙: plc_mode != REMOTE_AUTO → 제외 (근거 HM-8.8)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성과경로_5.svg" descr="illust_158687364118683184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세층.svg" descr="illust_5114876978319934175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경로_3.svg" descr="illust_434666915404428102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삽화:원인후보.svg" descr="illust_669406630049013272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관계·규칙의 판정·원천의 값은 에이전트가 만든 설명을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쓸 수 없는 값은 미확인 처리와 사유를 남긴다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