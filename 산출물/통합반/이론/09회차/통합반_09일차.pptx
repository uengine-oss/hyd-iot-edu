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추천안이 나왔다고 설비가 좋아지지 않는다. 승인 · 명령 · 결과 확인은 누가 어떤 순서로 잇나</a:t>
            </a:r>
          </a:p>
          <a:p>
            <a:r>
              <a:t>· 답: 순서와 책임을 프로세스로 정의하고, 누구나 같은 뜻으로 읽는 표준 그림(BPMN)으로 그린다</a:t>
            </a:r>
          </a:p>
          <a:p>
            <a:r>
              <a:t>· 실습: 직접 그린 그림을 포털에 등록된 실행 흐름과 견주고, 준비된 시나리오로 실제 실행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비즈니스 프로세스와 BPM: 작업 하나와 시작부터 끝까지의 업무를 구분, 시작 조건 · 입력 · 출력 · 책임자 · 완료 조건 정의, 고쳐 가는 방법</a:t>
            </a:r>
          </a:p>
          <a:p>
            <a:r>
              <a:t>· BPMN 표기: 이벤트 · 작업 · 게이트웨이 · 레인 · 타이머를 그림에서 읽기, 승인 · 거절의 갈림과 책임 배치</a:t>
            </a:r>
          </a:p>
          <a:p>
            <a:r>
              <a:t>· 프로세스 오케스트레이션: 정의와 인스턴스, 토큰과 변수, 실행 상태 · 판본 · 감사 기록</a:t>
            </a:r>
          </a:p>
          <a:p>
            <a:r>
              <a:t>· 실습: 승인 절차 · 긴급 대응을 직접 그리고, 등록된 기준 흐름과 견주고, 처리 건 기록 확인</a:t>
            </a:r>
          </a:p>
          <a:p>
            <a:r>
              <a:t>[다음] 단원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단원 → 4 · 5번 → 6~8번 → 9번 실습</a:t>
            </a:r>
          </a:p>
          <a:p>
            <a:r>
              <a:t>· 1~3: 업무를 프로세스로 정의하고 관리</a:t>
            </a:r>
          </a:p>
          <a:p>
            <a:r>
              <a:t>· 4~5: 프로세스를 BPMN 그림으로 표현</a:t>
            </a:r>
          </a:p>
          <a:p>
            <a:r>
              <a:t>· 6~8: 그림이 실제로 실행되는 방식</a:t>
            </a:r>
          </a:p>
          <a:p>
            <a:r>
              <a:t>· 9: 승인 절차 그리기 → 긴급 대응 그리기 → 실행 흐름과 연결 비교 → 냉각 대응 시나리오 실행</a:t>
            </a:r>
          </a:p>
          <a:p>
            <a:r>
              <a:t>[다음] 추천안이 나온 시점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출발점: 쿨러 성능 저하 경보 → 원인 쿨러 핀 오염 → 팬 최대 운전 추천. 추천안이 나왔으니 끝인가?</a:t>
            </a:r>
          </a:p>
          <a:p>
            <a:r>
              <a:t>· 단원의 물음: 무엇이 남아 있고, 남은 일은 무엇이 이어 주나</a:t>
            </a:r>
          </a:p>
          <a:p>
            <a:r>
              <a:t>· 다룰 것: 남은 다섯 가지 일, 맡는 쪽과 순서, 이어 주는 것이 없을 때, 판단과 정해 둘 순서, 비즈니스 프로세스 · 처리 건, Task와 End-to-End, SOP와의 범위</a:t>
            </a:r>
          </a:p>
          <a:p>
            <a:r>
              <a:t>[다음] 추천 뒤에 남은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한 줄 그림: 진한 경보 · 추천 → 회색 칸을 오른쪽으로</a:t>
            </a:r>
          </a:p>
          <a:p>
            <a:r>
              <a:t>· 추천안이 나온 시점에는 경보 · 추천 두 칸만 끝났다. 냉각 명령은 아직 안 나갔다</a:t>
            </a:r>
          </a:p>
          <a:p>
            <a:r>
              <a:t>· 쿨러 사건: 승인하던 순간의 유온이 경보 때보다 더 올라 있었다 — 추천안이 화면에 머무는 동안에도 설비는 기다려 주지 않는다</a:t>
            </a:r>
          </a:p>
          <a:p>
            <a:r>
              <a:t>· 남은 일: 운전원 승인 → 냉각 명령(팬 100 %) → 재관측(유온 회복 확인) → 작업지시 등록(근본 조치 핀 세척, 팬 최대 운전은 완화 조치) → 결과 보고</a:t>
            </a:r>
          </a:p>
          <a:p>
            <a:r>
              <a:t>· 에이전트가 한 일은 앞쪽 일부. 뒤의 실행과 확인이 이어져야 결과를 안다</a:t>
            </a:r>
          </a:p>
          <a:p>
            <a:r>
              <a:t>[다음]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왼쪽부터, 칸마다 맨 윗줄(맡는 쪽)</a:t>
            </a:r>
          </a:p>
          <a:p>
            <a:r>
              <a:t>· 승인: 운전원, 추천안 검토 후 승인 · 거절</a:t>
            </a:r>
          </a:p>
          <a:p>
            <a:r>
              <a:t>· 냉각 명령: SCADA, 승인된 조치를 PLC에</a:t>
            </a:r>
          </a:p>
          <a:p>
            <a:r>
              <a:t>· 재관측: 처리를 이끄는 시스템(뒤에서 프로세스 엔진), 유온 55 ℃ 미만(이 경보의 회복 기준)과 경보 해제 확인</a:t>
            </a:r>
          </a:p>
          <a:p>
            <a:r>
              <a:t>· 명령 처리 ≠ 유온 회복: 명령이 처리돼도 냉각 효과는 없을 수 있어 확인을 따로 둔다</a:t>
            </a:r>
          </a:p>
          <a:p>
            <a:r>
              <a:t>· 작업지시 등록: CMMS(설비 보전 관리 시스템), 핀 세척. 결과 보고: 처리를 이끄는 시스템</a:t>
            </a:r>
          </a:p>
          <a:p>
            <a:r>
              <a:t>· 앞의 결과를 받아야 다음이 시작된다(승인 → 명령 → 재관측)</a:t>
            </a:r>
          </a:p>
          <a:p>
            <a:r>
              <a:t>[다음] 사이를 잇는 것이 없다면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멈춘다(순서): 운전원이 모르면 승인이 없고, 재관측은 누군가 기억해야 한다. 재관측은 명령 뒤 한동안 지켜봐야 끝나는 일</a:t>
            </a:r>
          </a:p>
          <a:p>
            <a:r>
              <a:t>· 흩어진다(책임): 누가 승인하는지, 응답이 없으면 어떻게 할지 정해져 있지 않아 다들 누군가 했겠지 하고 넘어간다</a:t>
            </a:r>
          </a:p>
          <a:p>
            <a:r>
              <a:t>· 남지 않는다(기록): 어디까지 왔고 무엇으로 끝났는지 한곳에서 못 본다. 나중에 사람마다 물어야 한다</a:t>
            </a:r>
          </a:p>
          <a:p>
            <a:r>
              <a:t>· 일 하나하나를 잘하는 것 ≠ 일 전체가 끝까지 가는 것</a:t>
            </a:r>
          </a:p>
          <a:p>
            <a:r>
              <a:t>[다음] 에이전트에게 맡기면?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에이전트가 하는 일 → 오른쪽 정해 두어야 하는 일(강조)</a:t>
            </a:r>
          </a:p>
          <a:p>
            <a:r>
              <a:t>· 에이전트: 지식과 값을 읽어 원인을 가리고 후보를 견주어 추천. 같은 입력에도 과정 · 표현 · 걸리는 시간이 달라질 수 있다(지침과 다른 순서로 도구를 부른 처리 건도 있었다)</a:t>
            </a:r>
          </a:p>
          <a:p>
            <a:r>
              <a:t>· 정해 둘 일: 승인 전 설비 명령 없음, 승인은 정해진 역할만, 명령 뒤 유온 재확인 — 매번 똑같이 지켜야 하는 약속</a:t>
            </a:r>
          </a:p>
          <a:p>
            <a:r>
              <a:t>· 판단의 과정은 달라도 권한과 선행 조건은 매번 지켜져야 한다. HYD는 지침에 더해 프로세스와 서버 검사로 지킨다</a:t>
            </a:r>
          </a:p>
          <a:p>
            <a:r>
              <a:t>[다음] 그 틀의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HYD 예 → 셋째 줄 처리 건</a:t>
            </a:r>
          </a:p>
          <a:p>
            <a:r>
              <a:t>· 비즈니스 프로세스(Business Process): 원하는 결과를 내기 위해 관련된 작업과 흐름을 정한 묶음. 시작하는 사건과 끝났다고 보는 조건이 있다 — 작업 목록이 아니다</a:t>
            </a:r>
          </a:p>
          <a:p>
            <a:r>
              <a:t>· 긴급 대응 프로세스: 쿨러 성능 저하 경보에서 시작해 결과 보고로 끝남, 추천안 · 승인 · 명령 · 기록이 한 순서로</a:t>
            </a:r>
          </a:p>
          <a:p>
            <a:r>
              <a:t>· 처리 건: 경보 한 건에 대해 틀이 실제로 한 번 수행되는 것. 쿨러 사건 = 처리 건 하나</a:t>
            </a:r>
          </a:p>
          <a:p>
            <a:r>
              <a:t>· 틀은 하나라 정해 둔 조건 · 책임대로 진행되고, 건은 경보마다 따로 열려 진행과 결말을 건마다 본다</a:t>
            </a:r>
          </a:p>
          <a:p>
            <a:r>
              <a:t>[다음] 작업 하나와 전체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한 줄 그림(이번에는 모두 진함) → 위쪽 짧은 괄호(Task) → 아래쪽 긴 괄호(End-to-End), 괄호마다 끝난 시점 줄</a:t>
            </a:r>
          </a:p>
          <a:p>
            <a:r>
              <a:t>· Task: 프로세스 안의 작업 하나(에이전트의 원인 진단 · 조치 제안)</a:t>
            </a:r>
          </a:p>
          <a:p>
            <a:r>
              <a:t>· End-to-End(종단 간): 시작 사건에서 최종 결과까지 전체</a:t>
            </a:r>
          </a:p>
          <a:p>
            <a:r>
              <a:t>· Task가 끝났을 때: 설비 명령 없음, 완화 효과 미확인. End-to-End가 끝났을 때: 명령 CMD-…b94a, 유온 51.5 ℃, 작업지시 WO-…C058</a:t>
            </a:r>
          </a:p>
          <a:p>
            <a:r>
              <a:t>· 에이전트 Task가 처리 건 시간의 절반 남짓을 썼는데도 실행과 확인이 남아 있었다</a:t>
            </a:r>
          </a:p>
          <a:p>
            <a:r>
              <a:t>· 업무 완료는 End-to-End로 판단. 이 처리 건은 핀 세척 작업지시 등록 · 보고에서 끝나며 실제 세척 완료까지는 아니다. 개선을 비교할 때 시작과 끝을 같게</a:t>
            </a:r>
          </a:p>
          <a:p>
            <a:r>
              <a:t>[다음] SOP와의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프로세스(강조)</a:t>
            </a:r>
          </a:p>
          <a:p>
            <a:r>
              <a:t>· 이 사례의 SOP: 조치 하나(팬 최대 운전)의 수행 단계 · 조건 · 완료 확인 기준</a:t>
            </a:r>
          </a:p>
          <a:p>
            <a:r>
              <a:t>· 프로세스: 시작 사건에서 최종 결과까지, 작업의 순서 · 갈림 · 책임자 · 끝나는 조건(경보 → 추천 → 승인 → 명령 → 재관측 → 보고)</a:t>
            </a:r>
          </a:p>
          <a:p>
            <a:r>
              <a:t>· SOP가 늘 작은 조치 하나만 다루는 것은 아니다(조직에 따라 넓은 절차도 SOP). 이름보다 역할</a:t>
            </a:r>
          </a:p>
          <a:p>
            <a:r>
              <a:t>· 프로세스의 승인 작업에서 SOP로 정해 둔 조치를 검토한다</a:t>
            </a:r>
          </a:p>
          <a:p>
            <a:r>
              <a:t>[다음] 프로세스를 세울 때 정할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비즈니스 프로세스 하나를 세운다는 건 무엇을 정하는 일인가</a:t>
            </a:r>
          </a:p>
          <a:p>
            <a:r>
              <a:t>· 다룰 것: 다섯 가지(시작 조건 · 입력 · 출력 · 책임자 · 완료 조건)를 긴급 대응 프로세스에 대어 보기, 프로세스가 에이전트 밖에서 보장하는 것, 지식 그래프의 프로세스</a:t>
            </a:r>
          </a:p>
          <a:p>
            <a:r>
              <a:t>[다음] 다섯 가지와 그 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가운데 열(답하는 물음) → 오른쪽 열(긴급 대응의 답)</a:t>
            </a:r>
          </a:p>
          <a:p>
            <a:r>
              <a:t>· 시작 조건 = 쿨러 성능 저하 경보. 입력 = 설비 HYD-01 · 경보 내용. 출력 = 결과 보고, 조건을 충족한 경로의 작업지시</a:t>
            </a:r>
          </a:p>
          <a:p>
            <a:r>
              <a:t>· 책임자 = 에이전트 · 운전원 · 시스템. 완료 조건 = 남은 흐름 없이 정해 둔 끝까지 마무리, 결과 확인</a:t>
            </a:r>
          </a:p>
          <a:p>
            <a:r>
              <a:t>· 한 갈래만 끝나고 다른 일이 남으면 전체는 진행 중. 끝났다는 상태 ≠ 원하는 결과를 얻었다</a:t>
            </a:r>
          </a:p>
          <a:p>
            <a:r>
              <a:t>· 다섯 가지는 실행 전에 정한다 — 일이 벌어진 뒤 정하면 멈춤 · 흩어진 책임이 그대로 생긴다</a:t>
            </a:r>
          </a:p>
          <a:p>
            <a:r>
              <a:t>[다음] 시작 조건과 입력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메시지 → 오른쪽 첫 줄 pattern → 둘째 줄 asset · alertId → 마지막 줄</a:t>
            </a:r>
          </a:p>
          <a:p>
            <a:r>
              <a:t>· 사람이 여는 게 아니라 경보 메시지 도착이 시작 조건. pattern이 COOLER_DEGRADATION인 경보가 긴급 대응 프로세스를 연다</a:t>
            </a:r>
          </a:p>
          <a:p>
            <a:r>
              <a:t>· 설비 · 경보 식별자가 처리 건 입력으로 실리고, 경보 메시지 전체도 함께 실린다 → 뒤 작업들이 출발점의 경보 내용을 같이 참조. 시작 입력과 나중 관측은 같은 시점 값이 아니다</a:t>
            </a:r>
          </a:p>
          <a:p>
            <a:r>
              <a:t>· 한 경보에 한 건: 같은 운영 영역에서 같은 정의 · 사건 식별자로 열린 처리 건이 있으면 새로 열지 않는다(중복 전달 대비)</a:t>
            </a:r>
          </a:p>
          <a:p>
            <a:r>
              <a:t>· 시작 중복 방지만으로 외부 명령의 정확히 한 번 실행이 보장되지 않는다 — 받는 쪽 중복 검사와 결과 확인도</a:t>
            </a:r>
          </a:p>
          <a:p>
            <a:r>
              <a:t>[다음]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왼쪽부터, 칸마다 받는 것 → 내는 것</a:t>
            </a:r>
          </a:p>
          <a:p>
            <a:r>
              <a:t>· 원인 진단 · 냉각 조치 제안: 경보 → 원인과 추천안</a:t>
            </a:r>
          </a:p>
          <a:p>
            <a:r>
              <a:t>· 운전원 승인: 추천안 → 승인 또는 거절</a:t>
            </a:r>
          </a:p>
          <a:p>
            <a:r>
              <a:t>· 냉각 명령: 승인된 조치 → 명령의 처리 결과. 재관측: 명령의 완료 → 회복 여부</a:t>
            </a:r>
          </a:p>
          <a:p>
            <a:r>
              <a:t>· 앞 칸의 출력이 다음 칸의 입력(사슬). 실행 때도 작업마다 내겠다고 정한 값만 다음으로(HYD의 변수 전달 규칙)</a:t>
            </a:r>
          </a:p>
          <a:p>
            <a:r>
              <a:t>· 에이전트가 추천안을 못 내면 운전원은 승인할 것이 없어 흐름이 멈춘다</a:t>
            </a:r>
          </a:p>
          <a:p>
            <a:r>
              <a:t>[다음] 책임자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역할로 정한다: 사람 이름이 아닌 운전원 같은 역할 → 교대해도 흐름은 그대로, 실제 구성원 · 배정은 따로 관리</a:t>
            </a:r>
          </a:p>
          <a:p>
            <a:r>
              <a:t>· 조치별 승인 역할: 팬 최대 운전은 운전원, 핀 세척은 설비보전팀장. HYD는 지정 역할 또는 엄격히 높은 등급 허용, 같은 등급의 다른 역할은 자동 허용 아님, 계정이 그 역할 구성원인지 확인</a:t>
            </a:r>
          </a:p>
          <a:p>
            <a:r>
              <a:t>· 작업 배정 ≠ 조치 승인 권한, 함께 확인</a:t>
            </a:r>
          </a:p>
          <a:p>
            <a:r>
              <a:t>· 수행 주체 셋(사람 · 에이전트 · 시스템). 에이전트가 맡아도 조직의 최종 책임은 사람에게</a:t>
            </a:r>
          </a:p>
          <a:p>
            <a:r>
              <a:t>· 작업마다 수행 주체를 정해 누구 차례인지, 어디서 지연되는지 찾는다</a:t>
            </a:r>
          </a:p>
          <a:p>
            <a:r>
              <a:t>[다음] 완료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오른쪽 열(설비 명령)</a:t>
            </a:r>
          </a:p>
          <a:p>
            <a:r>
              <a:t>· 승인 · 유온 회복: 작업지시 등록 + 정상 보고로 닫힘(쿨러 사건), 명령 1건</a:t>
            </a:r>
          </a:p>
          <a:p>
            <a:r>
              <a:t>· 승인 · 회복 미달: 미달 보고로 닫힘 — 회복 못 한 것도 결과</a:t>
            </a:r>
          </a:p>
          <a:p>
            <a:r>
              <a:t>· 거절: 거절 보고로 닫힘, 설비 명령 없음. 명령 여부는 명령 단계 · 실행 기록으로도 대조</a:t>
            </a:r>
          </a:p>
          <a:p>
            <a:r>
              <a:t>· 응답 없음: 닫히지 않는다. 업무 10분이 지나면 지연 알림만 보내고 승인을 계속 기다린다</a:t>
            </a:r>
          </a:p>
          <a:p>
            <a:r>
              <a:t>· 시간이 지났다고 자동 승인 · 자동 거절하지 않는다. 사람의 결정이 필요한 자리는 결정할 때까지 기다린다</a:t>
            </a:r>
          </a:p>
          <a:p>
            <a:r>
              <a:t>· 미달 · 거절로 닫혀도 설비 문제가 해결된 것은 아니다 — 후속 확인 · 재요청 담당과 절차는 따로</a:t>
            </a:r>
          </a:p>
          <a:p>
            <a:r>
              <a:t>[다음] 이 약속을 무엇이 지키나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순서: 냉각 명령 작업은 승인 작업이 승인으로 끝난 뒤에만 열린다. 승인 단계가 빠진 흐름, 거절 갈래에서 설비 효과가 나가는 흐름은 등록 단계에서 받지 않는다(실습에서 볼 기준 흐름도 이 검사를 거쳐 등록됨)</a:t>
            </a:r>
          </a:p>
          <a:p>
            <a:r>
              <a:t>· 책임: 작업 담당과 조치별 승인 권한 확인, 권한을 충족 못 한 승인은 거부되고 기록</a:t>
            </a:r>
          </a:p>
          <a:p>
            <a:r>
              <a:t>· 기록: 어느 경보로 열렸고 누가 승인했고 어디서 끝났는지가 처리 건에</a:t>
            </a:r>
          </a:p>
          <a:p>
            <a:r>
              <a:t>· 에이전트 쪽: 연결한 업무 도구는 조회 · 판단 제출 중심, 판단에 명령을 담아도 받아들여지지 않는다. 명령은 승인 뒤 프로세스 쪽에서만</a:t>
            </a:r>
          </a:p>
          <a:p>
            <a:r>
              <a:t>· 그림에 승인 상자를 넣는 것만으로 보장되지 않는다 — 정의 · 등록 검사 · 실행 시 권한 · 조건 검사가 함께</a:t>
            </a:r>
          </a:p>
          <a:p>
            <a:r>
              <a:t>[다음] 이 업무는 무엇을 위해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노드(설비 이상 조치) → 왼쪽 HYD-01 → 오른쪽 전략 목표 셋</a:t>
            </a:r>
          </a:p>
          <a:p>
            <a:r>
              <a:t>· 지식 그래프의 Process 클래스와 그 인스턴스 「설비 이상 조치」. 긴급 대응 프로세스와는 다른, 그래프에 원래 있는 업무 — 목적을 적는 방식만 본다</a:t>
            </a:r>
          </a:p>
          <a:p>
            <a:r>
              <a:t>· ACTS_ON → HYD-01(대상 설비), ACHIEVES → 설비 가용성 확보 · 무재해 운전 · 납기 신뢰</a:t>
            </a:r>
          </a:p>
          <a:p>
            <a:r>
              <a:t>· 목적이 적혀 있으면 고칠 때 지킬 것이 분명: 승인 단계를 빼자는 의견은 무재해 운전에 비춰 받아들일 수 없다</a:t>
            </a:r>
          </a:p>
          <a:p>
            <a:r>
              <a:t>· 다섯 가지 + 목적 = 프로세스 하나가 세워진다</a:t>
            </a:r>
          </a:p>
          <a:p>
            <a:r>
              <a:t>[다음] 세운 프로세스를 고쳐 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목표 · 설비 · 조직이 바뀌는데 정의한 프로세스를 어떻게 계속 고쳐 가나, 고칠 곳은 어떻게 찾나</a:t>
            </a:r>
          </a:p>
          <a:p>
            <a:r>
              <a:t>· 다룰 것: BPM의 정의, 생애주기 다섯 단계, 단계별로 하는 일, AS-IS와 TO-BE</a:t>
            </a:r>
          </a:p>
          <a:p>
            <a:r>
              <a:t>[다음] BPM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대상 → 셋째 줄 예</a:t>
            </a:r>
          </a:p>
          <a:p>
            <a:r>
              <a:t>· BPM(Business Process Management): 프로세스를 분석 · 설계 · 실행하고 결과를 보며 고쳐 가는 관리 방법. 한 번 만들고 끝내지 않고 계속 다듬는 대상으로 본다</a:t>
            </a:r>
          </a:p>
          <a:p>
            <a:r>
              <a:t>· 대상은 작업 하나의 효율이 아니라 End-to-End 흐름 전체</a:t>
            </a:r>
          </a:p>
          <a:p>
            <a:r>
              <a:t>· 까닭: 에이전트 판단이 빨라져도 승인 대기가 대부분이면 전체 개선은 작다</a:t>
            </a:r>
          </a:p>
          <a:p>
            <a:r>
              <a:t>[다음] 생애주기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가운데 분석에서 시계 방향 → 파란 화살표(개선 → 분석)</a:t>
            </a:r>
          </a:p>
          <a:p>
            <a:r>
              <a:t>· 분석(돋보기): 지금의 업무 조사. 설계(흐름 그림): 바꿀 흐름 그리기. 실행(재생): 그린 대로 수행. 모니터링(관측 화면): 결과 지켜보기. 개선(오르는 막대): 문제 찾아 고치기</a:t>
            </a:r>
          </a:p>
          <a:p>
            <a:r>
              <a:t>· 자료마다 단계 이름 · 묶음은 달라도 실행 결과를 다음 개선에 반영한다는 원리는 같다</a:t>
            </a:r>
          </a:p>
          <a:p>
            <a:r>
              <a:t>· 개선 → 분석 화살표만 파랗다: 고친 내용이 다시 분석 대상</a:t>
            </a:r>
          </a:p>
          <a:p>
            <a:r>
              <a:t>· 고리 = 끝없이가 아니라 업무와 환경이 바뀌는 한 계속</a:t>
            </a:r>
          </a:p>
          <a:p>
            <a:r>
              <a:t>[다음] 단계마다 하는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단계 → 가운데 하는 일 → 오른쪽 쿨러 사건</a:t>
            </a:r>
          </a:p>
          <a:p>
            <a:r>
              <a:t>· 분석: 시작 조건 · 책임자 · 완료 조건과 끊기는 자리(경보가 열고 운전원이 승인)</a:t>
            </a:r>
          </a:p>
          <a:p>
            <a:r>
              <a:t>· 설계: 경보 → 추천 → 승인 → 명령 → 재관측 → 보고를 그림으로</a:t>
            </a:r>
          </a:p>
          <a:p>
            <a:r>
              <a:t>· 실행: 등록 · 배포해 실제 경보에서 수행, 경보 한 건에 처리 건 하나</a:t>
            </a:r>
          </a:p>
          <a:p>
            <a:r>
              <a:t>· 모니터링: 처리 건마다 담당 · 대기 · 걸린 시간 · 결과(운전원 승인의 대기, 재관측 결과) — 단계마다 기록에 남은 값을 읽는 일</a:t>
            </a:r>
          </a:p>
          <a:p>
            <a:r>
              <a:t>· 개선: 고쳐 다시 등록. HYD에서 고친 흐름은 다음 경보의 처리 건부터(진행 중인 건은 그대로, 판본에서 다시)</a:t>
            </a:r>
          </a:p>
          <a:p>
            <a:r>
              <a:t>· 오래 걸린 단계를 곧바로 없앨 대상으로 보지 않는다: 효과 관측에 필요한 시간인지 몰라서 기다린 시간인지 가린다</a:t>
            </a:r>
          </a:p>
          <a:p>
            <a:r>
              <a:t>[다음] AS-IS와 TO-BE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줄 AS-IS(흐린 마지막 선) → 아래 줄 TO-BE</a:t>
            </a:r>
          </a:p>
          <a:p>
            <a:r>
              <a:t>· AS-IS: 지금 일하는 방식을 있는 그대로. TO-BE: 바꾸려는 방식</a:t>
            </a:r>
          </a:p>
          <a:p>
            <a:r>
              <a:t>· 위 줄은 어느 현장의 실제가 아닌 일반적인 예: 경보 → 운전원 → 전화 → 보전 담당, 그다음이 분명하지 않다(흐린 선)</a:t>
            </a:r>
          </a:p>
          <a:p>
            <a:r>
              <a:t>· 아래 줄: 경보 → 추천 → 승인 → 명령. 도형의 뜻은 다음 단원, 지금은 순서와 갈림이 드러난다는 것만</a:t>
            </a:r>
          </a:p>
          <a:p>
            <a:r>
              <a:t>· AS-IS는 엉성해도 있는 그대로 — 끊기는 곳을 찾고, 바꾼 뒤 나아진 것을 견주는 기준</a:t>
            </a:r>
          </a:p>
          <a:p>
            <a:r>
              <a:t>[다음] 두 그림을 견주면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AS-IS 세 줄 → 오른쪽 TO-BE 세 줄, 같은 줄끼리</a:t>
            </a:r>
          </a:p>
          <a:p>
            <a:r>
              <a:t>· AS-IS 세 줄 = 첫 단원의 세 문제(멈춤 · 흩어진 책임 · 기록 없음): 전화로 담당 찾기, 확인을 각자 기억, 결정을 물어봐야 앎</a:t>
            </a:r>
          </a:p>
          <a:p>
            <a:r>
              <a:t>· TO-BE: 운전원 앞에 놓이는 승인 작업, 정해진 순서로 열리는 명령 · 재관측, 처리 건에 남는 승인 역할과 결과</a:t>
            </a:r>
          </a:p>
          <a:p>
            <a:r>
              <a:t>· 사람이 기억 · 전화로 잇던 자리가 작업 · 순서 · 기록으로 = 분석의 결과</a:t>
            </a:r>
          </a:p>
          <a:p>
            <a:r>
              <a:t>· 그림을 바꿨다고 개선이 입증되지 않는다: 누락 확인 · 대기 · 재작업 감소와 결과를 운영 기록으로 비교</a:t>
            </a:r>
          </a:p>
          <a:p>
            <a:r>
              <a:t>[다음] TO-BE를 누구나 같은 뜻으로 읽게 그리기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그리는 사람마다 도형의 뜻이 다르면 같은 그림을 다르게 이해한다. 누구나 같은 뜻으로 읽는 그림은 어떻게 그리나</a:t>
            </a:r>
          </a:p>
          <a:p>
            <a:r>
              <a:t>· 다룰 것: 문장으로 적은 프로세스의 한계, BPMN 표준, 요소 세 묶음, 긴급 대응 그림, 이벤트 · 작업 · 시퀀스 흐름 · 배타 게이트웨이 · 조건과 기본 흐름</a:t>
            </a:r>
          </a:p>
          <a:p>
            <a:r>
              <a:t>[다음] 문장으로 적으면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문장 → 오른쪽 세 줄</a:t>
            </a:r>
          </a:p>
          <a:p>
            <a:r>
              <a:t>· 내용은 틀리지 않았지만 한 번에 읽히지 않는다</a:t>
            </a:r>
          </a:p>
          <a:p>
            <a:r>
              <a:t>· 갈림이 묻힌다: 승인하면 · 정상이면 · 아니면 · 거절하면이 문장에 흩어져 갈래 수를 세기 어렵다</a:t>
            </a:r>
          </a:p>
          <a:p>
            <a:r>
              <a:t>· 책임자가 묻힌다: 재관측과 보고를 누가 하는지 없다</a:t>
            </a:r>
          </a:p>
          <a:p>
            <a:r>
              <a:t>· 다르게 읽힌다: 승인이 10분 넘게 안 오면 알림 — 알림 뒤에도 기다리나, 끝나나?</a:t>
            </a:r>
          </a:p>
          <a:p>
            <a:r>
              <a:t>· 사람에게도 문제, 실행할 소프트웨어에게는 더 큰 문제 → 도형마다 뜻을 약속한 표기가 필요</a:t>
            </a:r>
          </a:p>
          <a:p>
            <a:r>
              <a:t>[다음] 그 약속,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정한 곳 → 셋째 줄 읽는 쪽</a:t>
            </a:r>
          </a:p>
          <a:p>
            <a:r>
              <a:t>· BPMN(Business Process Model and Notation): 도형 모양과 선 종류마다 뜻을 정한 업무 프로세스 표기 표준</a:t>
            </a:r>
          </a:p>
          <a:p>
            <a:r>
              <a:t>· DMN을 정한 OMG가 관리, BPMN 2.0은 국제 표준 ISO/IEC 19510</a:t>
            </a:r>
          </a:p>
          <a:p>
            <a:r>
              <a:t>· 현업은 순서 · 책임을 확인하고, 구현자는 같은 모델에서 실행할 흐름(지원 요소 · 조건 · 연결)을 검토</a:t>
            </a:r>
          </a:p>
          <a:p>
            <a:r>
              <a:t>· 모든 BPMN 그림이 바로 실행되지는 않는다: 설명용 모델과 실행용 모델, 제품마다 지원 범위</a:t>
            </a:r>
          </a:p>
          <a:p>
            <a:r>
              <a:t>· HYD: 편집기에서 그린 파일을 가져와 지원 범위 검사 + 에이전트 · 시스템 연결 → 실행 정의. 실습은 이렇게 등록된 기준 흐름과 내 그림을 견준다</a:t>
            </a:r>
          </a:p>
          <a:p>
            <a:r>
              <a:t>[다음] 기본 도형의 세 묶음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흐름 객체 → 가운데 연결 객체 → 오른쪽 스윔레인</a:t>
            </a:r>
          </a:p>
          <a:p>
            <a:r>
              <a:t>· 흐름 객체(Flow Objects): 일어나는 일. 원 = 이벤트, 둥근 사각형 = 작업, 마름모 = 게이트웨이</a:t>
            </a:r>
          </a:p>
          <a:p>
            <a:r>
              <a:t>· 연결 객체(Connecting Objects): 잇는 선. 실선 화살표(시퀀스 흐름)와 끝이 빈 점선 화살표(메시지 흐름)는 뜻이 다르다</a:t>
            </a:r>
          </a:p>
          <a:p>
            <a:r>
              <a:t>· 스윔레인(Swimlanes): 누가 맡는지 나누는 칸(풀과 레인)</a:t>
            </a:r>
          </a:p>
          <a:p>
            <a:r>
              <a:t>· 표준에는 데이터 · 주석 묶음도 있지만 흐름을 읽는 데는 이 셋</a:t>
            </a:r>
          </a:p>
          <a:p>
            <a:r>
              <a:t>· 이 단원: 흐름 객체와 실선, 다음 단원: 칸과 점선</a:t>
            </a:r>
          </a:p>
          <a:p>
            <a:r>
              <a:t>[다음] 긴급 대응의 전체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 이름(담당자 · 에이전트 · 시스템) → 봉투 원(시작) → 진단 · 제안 → 위로 운전원 승인 → 「승인?」 → 아래 시스템 칸 → 「유온 정상?」 → 끝들. 학생이 화살표를 눈으로 따라갈 시간(약 10초)</a:t>
            </a:r>
          </a:p>
          <a:p>
            <a:r>
              <a:t>· 시작: 쿨러 과열 경보(= 쿨러 성능 저하 경보 도착)</a:t>
            </a:r>
          </a:p>
          <a:p>
            <a:r>
              <a:t>· 「승인?」 = 승인 여부 게이트웨이: 승인은 냉각 명령 → 재관측 → 「유온 정상?」 = 유온 정상 여부 게이트웨이 → 정상이면 작업지시 · 정상 보고, 아니면 미달 보고</a:t>
            </a:r>
          </a:p>
          <a:p>
            <a:r>
              <a:t>· 다른 갈래: 승인 여부 게이트웨이에서 오른쪽으로 나갔다 내려가는 선(거절), 운전원 승인 테두리의 작은 시계에서 나가는 선(지연 알림) — 뒤에서</a:t>
            </a:r>
          </a:p>
          <a:p>
            <a:r>
              <a:t>· 갈림 둘, 끝 셋</a:t>
            </a:r>
          </a:p>
          <a:p>
            <a:r>
              <a:t>[다음] 도형을 하나씩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셋의 테두리를 왼쪽부터 견주기</a:t>
            </a:r>
          </a:p>
          <a:p>
            <a:r>
              <a:t>· 시작 이벤트(Start Event): 가는 테두리, 프로세스를 여는 사건</a:t>
            </a:r>
          </a:p>
          <a:p>
            <a:r>
              <a:t>· 메시지 시작 이벤트(Message Start Event): 안에 봉투, 메시지를 받으면 연다 — 쿨러 과열 경보(시작 조건이 원 하나로)</a:t>
            </a:r>
          </a:p>
          <a:p>
            <a:r>
              <a:t>· 끝 이벤트(End Event): 굵은 테두리, 한 갈래를 닫는 사건. 긴급 대응에는 끝 · 거절 종결 · 알림 셋</a:t>
            </a:r>
          </a:p>
          <a:p>
            <a:r>
              <a:t>· 일반 끝 이벤트는 도착한 갈래만 마친다: 알림 갈래가 끝나도 승인이 남으면 처리 건은 안 끝남</a:t>
            </a:r>
          </a:p>
          <a:p>
            <a:r>
              <a:t>· 정상과 미달은 같은 끝으로 모인다 → 어떤 끝 + 결과 보고를 함께 읽는다</a:t>
            </a:r>
          </a:p>
          <a:p>
            <a:r>
              <a:t>[다음] 작업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상자 셋의 왼쪽 위 표식: 가운데 → 오른쪽 → 왼쪽</a:t>
            </a:r>
          </a:p>
          <a:p>
            <a:r>
              <a:t>· 작업(Task): 그 모델에서 내부 절차를 더 펼치지 않는 활동 단위. 실제로 더 작은 행동이 없다는 뜻은 아니다</a:t>
            </a:r>
          </a:p>
          <a:p>
            <a:r>
              <a:t>· 사용자 작업(User Task, 사람 표식): 운전원 승인 — 전체 그림에서 하나뿐, 사람이 결정하는 자리를 바로 찾는다</a:t>
            </a:r>
          </a:p>
          <a:p>
            <a:r>
              <a:t>· 서비스 작업(Service Task, 톱니 표식): 냉각 명령, 시스템이 자동 수행</a:t>
            </a:r>
          </a:p>
          <a:p>
            <a:r>
              <a:t>· 표식 없는 작업: 원인 진단 · 냉각 조치 제안. BPMN 표준에 에이전트 작업 요소가 없어, HYD는 표식 없는 작업으로 그리고 맡을 에이전트는 연결할 때 정한다 — 셋째 실습에서 매핑 자료로</a:t>
            </a:r>
          </a:p>
          <a:p>
            <a:r>
              <a:t>[다음] 잇는 선과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운전원 승인 → 실선 화살표 → 가위표 마름모 → 위쪽 냉각 명령 · 아래쪽 거절 보고</a:t>
            </a:r>
          </a:p>
          <a:p>
            <a:r>
              <a:t>· 시퀀스 흐름(Sequence Flow): 작업을 잇는 실선 화살표, 방향 = 순서</a:t>
            </a:r>
          </a:p>
          <a:p>
            <a:r>
              <a:t>· 게이트웨이: 흐름이 갈라지거나 합쳐지는 지점. 배타 게이트웨이(Exclusive Gateway, 가위표): 조건이 참인 한 갈래로만</a:t>
            </a:r>
          </a:p>
          <a:p>
            <a:r>
              <a:t>· 승인이면 냉각 명령, 거절이면 거절 보고 — 동시에 양쪽으로 가지 않는다</a:t>
            </a:r>
          </a:p>
          <a:p>
            <a:r>
              <a:t>· 조건 없는 선을 한 작업에서 두 갈래로 뽑으면 두 경로가 함께 진행될 수 있다. 표준에는 조건부 시퀀스 흐름도 있지만, HYD는 마름모 없이 갈라진 흐름을 등록받지 않는다</a:t>
            </a:r>
          </a:p>
          <a:p>
            <a:r>
              <a:t>[다음] 어느 쪽으로 갈지 정하는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열(조건)</a:t>
            </a:r>
          </a:p>
          <a:p>
            <a:r>
              <a:t>· 승인? → 냉각 명령: approval == '승인'(운전원 승인이 낸 값)</a:t>
            </a:r>
          </a:p>
          <a:p>
            <a:r>
              <a:t>· 유온 정상? → 작업지시 등록: recovered == True(재관측이 낸 값)</a:t>
            </a:r>
          </a:p>
          <a:p>
            <a:r>
              <a:t>· 둘째 · 넷째 줄 = 기본 흐름(Default Flow): 어느 조건도 참이 아닐 때 가는 선, 출발 자리에 짧은 빗금</a:t>
            </a:r>
          </a:p>
          <a:p>
            <a:r>
              <a:t>· 갈림은 앞 작업의 값을 견주는 식으로 정한다. 누가 해석하거나 모델에게 맡기지 않는다 → 같은 정의 · 같은 값이면 같은 갈래, 기록으로 설명 가능</a:t>
            </a:r>
          </a:p>
          <a:p>
            <a:r>
              <a:t>· 기본 흐름이 없는데 조건이 다 거짓이면 흐름이 멈추고 사유가 남는다. 조건이 동시에 참일 수 있는지도 본다. 기본 흐름은 누락 입력을 정상으로 처리하는 장치가 아니다</a:t>
            </a:r>
          </a:p>
          <a:p>
            <a:r>
              <a:t>· 판단은 에이전트, 갈림은 정해진 조건</a:t>
            </a:r>
          </a:p>
          <a:p>
            <a:r>
              <a:t>[다음] 누가 맡나, 응답이 없으면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작업은 누가 맡나, 운전원이 응답하지 않으면 어떻게 되나</a:t>
            </a:r>
          </a:p>
          <a:p>
            <a:r>
              <a:t>· 책임자와 완료 조건이 그림의 어디에 들어가는지 찾는다</a:t>
            </a:r>
          </a:p>
          <a:p>
            <a:r>
              <a:t>· 다룰 것: 풀과 레인, 책임 배치, 메시지 흐름, 경계 이벤트와 타이머, 승인을 받는 자리, 세 경로, 병렬 게이트웨이와 하위 프로세스</a:t>
            </a:r>
          </a:p>
          <a:p>
            <a:r>
              <a:t>[다음] 풀과 레인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바깥 테두리(풀) → 안의 칸(레인) 셋 → 칸마다 놓인 작업</a:t>
            </a:r>
          </a:p>
          <a:p>
            <a:r>
              <a:t>· 풀(Pool): 참여자 하나의 영역(조직 · 시스템)</a:t>
            </a:r>
          </a:p>
          <a:p>
            <a:r>
              <a:t>· 레인(Lane): 풀 안 활동을 묶는 칸, 여기서는 담당 역할. 진단 → 에이전트, 승인 → 담당자, 냉각 명령 → 시스템</a:t>
            </a:r>
          </a:p>
          <a:p>
            <a:r>
              <a:t>· 레인의 기준은 모델을 만드는 사람이 정한다. 상자를 옮겨도 실제 권한 · 담당 시스템은 바뀌지 않는다</a:t>
            </a:r>
          </a:p>
          <a:p>
            <a:r>
              <a:t>· HYD: 칸 이름이 역할 이름과 맞으면 연결을 제안하고 사람이 바꿀 수 있다, 레인과 담당의 어긋남도 검사</a:t>
            </a:r>
          </a:p>
          <a:p>
            <a:r>
              <a:t>· 같은 풀 안은 레인이 달라도 시퀀스 흐름, 다른 풀 사이는 메시지 흐름</a:t>
            </a:r>
          </a:p>
          <a:p>
            <a:r>
              <a:t>[다음] 실제로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가운데 열(맡는 쪽) → 오른쪽 열(레인)</a:t>
            </a:r>
          </a:p>
          <a:p>
            <a:r>
              <a:t>· 원인 진단 · 냉각 조치 제안: 냉각 긴급 대응 에이전트(agent:cooling), 에이전트 레인</a:t>
            </a:r>
          </a:p>
          <a:p>
            <a:r>
              <a:t>· 운전원 승인: 운전원 역할(role:operator), 담당자 레인</a:t>
            </a:r>
          </a:p>
          <a:p>
            <a:r>
              <a:t>· 냉각 명령 SCADA, 재관측 · 결과 보고 프로세스(처리를 이끄는 시스템), 작업지시 등록 CMMS — 모두 시스템 레인</a:t>
            </a:r>
          </a:p>
          <a:p>
            <a:r>
              <a:t>· 판단은 에이전트, 결정은 담당자, 실행과 기록은 시스템. 냉각 명령 앞에 반드시 사람의 승인 — 추천과 실행의 책임 경계가 칸으로</a:t>
            </a:r>
          </a:p>
          <a:p>
            <a:r>
              <a:t>· 실제 연결과 권한이 그 배치를 따르는지 확인</a:t>
            </a:r>
          </a:p>
          <a:p>
            <a:r>
              <a:t>[다음] 참여자가 둘이면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풀(설비 운영 조직) · 아래 풀(부품 공급사) → 풀 안 실선 → 풀 사이 점선</a:t>
            </a:r>
          </a:p>
          <a:p>
            <a:r>
              <a:t>· 일반적인 예: 운영 조직이 공급사에 발주</a:t>
            </a:r>
          </a:p>
          <a:p>
            <a:r>
              <a:t>· 풀 안 순서는 시퀀스 흐름(실선), 풀 사이 주고받음은 메시지 흐름(Message Flow, 점선 · 출발 쪽 작은 원 · 빈 화살촉): 발주서, 납기 회신</a:t>
            </a:r>
          </a:p>
          <a:p>
            <a:r>
              <a:t>· 시퀀스 흐름 = 한 참여자 안의 정해진 순서, 메시지 흐름 = 서로 다른 참여자의 통신. 선을 그었다고 실제 전송 연결이 생기지는 않는다</a:t>
            </a:r>
          </a:p>
          <a:p>
            <a:r>
              <a:t>· 긴급 대응은 풀 하나에 레인 셋이라 메시지 흐름이 없다. HYD는 풀이 둘인 그림을 실행 흐름으로 받지 않는다 → 실습도 풀 하나</a:t>
            </a:r>
          </a:p>
          <a:p>
            <a:r>
              <a:t>[다음] 응답이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그림 모두 작업 아래 테두리의 시계 원 → 왼쪽(실선 겹테두리) → 오른쪽(점선 겹테두리)</a:t>
            </a:r>
          </a:p>
          <a:p>
            <a:r>
              <a:t>· 경계 이벤트: 작업 테두리에 붙어, 그 작업이 진행 중일 때만 살아 있다. 작업이 기한 안에 끝나면 함께 거둬진다</a:t>
            </a:r>
          </a:p>
          <a:p>
            <a:r>
              <a:t>· 타이머: 정한 기간이 지나면 발생</a:t>
            </a:r>
          </a:p>
          <a:p>
            <a:r>
              <a:t>· 중단형(Interrupting, 실선): 작업을 끊고 다른 가지로 → 위 작업이 흐리고 가위표</a:t>
            </a:r>
          </a:p>
          <a:p>
            <a:r>
              <a:t>· 비중단형(Non-interrupting, 점선): 작업은 그대로 두고 가지를 하나 더 → 위 작업이 진한 채</a:t>
            </a:r>
          </a:p>
          <a:p>
            <a:r>
              <a:t>· 실선이냐 점선이냐가 「알림 뒤에도 기다리나」의 답</a:t>
            </a:r>
          </a:p>
          <a:p>
            <a:r>
              <a:t>· HYD 가져오기는 작업의 경계 타이머만 지원, 흐름 중간의 타이머는 받지 않는다 → 실습도 테두리에</a:t>
            </a:r>
          </a:p>
          <a:p>
            <a:r>
              <a:t>[다음] 승인을 받는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운전원 승인 → 「승인?」 → 오른쪽 냉각 명령 · 아래 거절 보고 → 거절 종결 → 승인 테두리의 「승인 지연」 → 왼쪽 아래 알림</a:t>
            </a:r>
          </a:p>
          <a:p>
            <a:r>
              <a:t>· 승인이면 냉각 명령, 거절이면 거절 보고 → 거절 종결</a:t>
            </a:r>
          </a:p>
          <a:p>
            <a:r>
              <a:t>· 승인 지연: 비중단형 경계 타이머, 기한 10분. PT10M = 기간 표기 국제 표준(P 기간, T 뒤 10M = 10분). 매핑 자료에도 이 꼴</a:t>
            </a:r>
          </a:p>
          <a:p>
            <a:r>
              <a:t>· 기한이 지나면 승인 지연 알림 가지만 열리고 승인 작업은 계속 기다린다 = 완료 조건의 「응답 없음」</a:t>
            </a:r>
          </a:p>
          <a:p>
            <a:r>
              <a:t>· 실선이었다면 10분에 승인 작업이 끊겨 운전원이 더 이상 승인할 수 없다</a:t>
            </a:r>
          </a:p>
          <a:p>
            <a:r>
              <a:t>· 실선도 틀린 설계가 아니다: HYD 기준 흐름은 10분이 지나면 작업을 끊고 상급자를 부른다. 결정을 넘길지, 같은 사람을 기다릴지는 설계자가 정한다</a:t>
            </a:r>
          </a:p>
          <a:p>
            <a:r>
              <a:t>[다음] 같은 그림 위의 경로들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왼쪽부터, 카드마다 꼬리표(닿는 끝)</a:t>
            </a:r>
          </a:p>
          <a:p>
            <a:r>
              <a:t>· 승인 · 회복: 냉각 명령 → 재관측 → 유온 정상 여부 → 작업지시 등록 → 정상 보고 → 「끝」(쿨러 사건)</a:t>
            </a:r>
          </a:p>
          <a:p>
            <a:r>
              <a:t>· 거절: 승인 여부 게이트웨이 → 거절 보고 → 「거절 종결」, 냉각 명령 선은 지나지 않는다</a:t>
            </a:r>
          </a:p>
          <a:p>
            <a:r>
              <a:t>· 응답 없음: 승인 지연 타이머 → 알림 → 「알림」, 운전원 승인은 열린 채</a:t>
            </a:r>
          </a:p>
          <a:p>
            <a:r>
              <a:t>· 끝 이벤트 셋과 세 경로가 짝. 다만 알림에 닿아도 승인 작업이 열려 있어 처리 건 전체는 안 끝남</a:t>
            </a:r>
          </a:p>
          <a:p>
            <a:r>
              <a:t>· 그림 하나에 갈림과 끝을 모두 담아 처리 건마다 어떤 경로를 지났는지 설명</a:t>
            </a:r>
          </a:p>
          <a:p>
            <a:r>
              <a:t>[다음] 커지면 쓰는 두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더하기표 마름모 → 합류 → 오른쪽 접힌 모양 · 펼친 모양</a:t>
            </a:r>
          </a:p>
          <a:p>
            <a:r>
              <a:t>· 병렬 게이트웨이(Parallel Gateway): 나가는 모든 갈래로 함께 보내고, 합류 마름모에서 모든 갈래가 끝날 때까지 기다린다(배타는 한 갈래만)</a:t>
            </a:r>
          </a:p>
          <a:p>
            <a:r>
              <a:t>· 하위 프로세스(Sub-Process): 여러 작업의 흐름을 작업 하나처럼 접어 그림. 아래 가운데 더하기 표식 = 안에 흐름이 있다</a:t>
            </a:r>
          </a:p>
          <a:p>
            <a:r>
              <a:t>· 개념만 소개: 긴급 대응에는 둘 다 안 쓰였고 실습에서도 펼쳐서 한 흐름으로 그린다</a:t>
            </a:r>
          </a:p>
          <a:p>
            <a:r>
              <a:t>· 레인(누가 맡나)과 타이머(응답이 늦을 때)까지 넣어 긴급 대응 그림 완성</a:t>
            </a:r>
          </a:p>
          <a:p>
            <a:r>
              <a:t>[다음] 그림을 실행하는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그림은 설계도다. 경보가 왔을 때 그림대로 일이 일어나게 하는 실행 주체는 무엇이고, 처리 건이 지금 어디까지 왔는지는 어떻게 아나</a:t>
            </a:r>
          </a:p>
          <a:p>
            <a:r>
              <a:t>· 직접 작도 실습은 이론 뒤에</a:t>
            </a:r>
          </a:p>
          <a:p>
            <a:r>
              <a:t>· 다룰 것: 그림만으로는 안 되는 일, 프로세스 엔진과 오케스트레이션, 정의와 인스턴스, 토큰, 승인 대기, 토큰이 둘이 되는 순간</a:t>
            </a:r>
          </a:p>
          <a:p>
            <a:r>
              <a:t>[다음] 실행 주체가 할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다음 작업 열기(순서): 추천안이 제출되면 운전원 앞에 승인 작업을 놓는다</a:t>
            </a:r>
          </a:p>
          <a:p>
            <a:r>
              <a:t>· 결과 넘기기(데이터): 승인 결과를 승인 여부 게이트웨이에, 재관측 판정을 다음 갈림에</a:t>
            </a:r>
          </a:p>
          <a:p>
            <a:r>
              <a:t>· 위치 기억하기(상태): 운전원이 한참 뒤 응답해도 어디까지 왔는지 잊지 않는다</a:t>
            </a:r>
          </a:p>
          <a:p>
            <a:r>
              <a:t>· 사람이 챙기면 AS-IS로 돌아간다 → 그림을 읽고 대신 해 줄 실행 주체가 필요</a:t>
            </a:r>
          </a:p>
          <a:p>
            <a:r>
              <a:t>[다음] 그 실행 주체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프로세스 엔진 → 둘째 줄 오케스트레이션 → 셋째 줄 비유</a:t>
            </a:r>
          </a:p>
          <a:p>
            <a:r>
              <a:t>· 프로세스 엔진(Process Engine): 프로세스 정의를 읽어 그대로 실행하는 소프트웨어. 앞에서 「처리를 이끄는 시스템」이라 부른 것(재관측 · 결과 보고 담당)</a:t>
            </a:r>
          </a:p>
          <a:p>
            <a:r>
              <a:t>· 오케스트레이션(Orchestration): 중앙의 조정자가 작업 순서와 호출을 이끄는 방식. 각자는 자기 작업만, 다음 차례는 엔진 → 진행 위치와 누가 무엇을 했는지를 한 곳에서</a:t>
            </a:r>
          </a:p>
          <a:p>
            <a:r>
              <a:t>· 비유 지휘자: 닮은 점 연주자는 자기 악기만 · 차례는 지휘자, 다른 점 엔진은 결과를 받아 넘기고 기록까지</a:t>
            </a:r>
          </a:p>
          <a:p>
            <a:r>
              <a:t>· 중앙 = 조정 책임이 한곳, 컴퓨터 한 대라는 뜻은 아니다. 연결 시스템 실패 시 멈추거나 대응 경로로, 진행 상태 · 실패 이유 · 재처리 기준이 남아야</a:t>
            </a:r>
          </a:p>
          <a:p>
            <a:r>
              <a:t>[다음] 엔진이 다루는 두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설계도 한 장(정의) → 오른쪽 세 줄(인스턴스)</a:t>
            </a:r>
          </a:p>
          <a:p>
            <a:r>
              <a:t>· 프로세스 정의(Process Definition): 요소 · 선 · 조건을 담은 설계도. 긴급 대응은 c3_cooling 한 장</a:t>
            </a:r>
          </a:p>
          <a:p>
            <a:r>
              <a:t>· 프로세스 인스턴스(Process Instance): 그 설계도에 따라 실제로 실행되는 한 건 = 처리 건. 경보마다 하나</a:t>
            </a:r>
          </a:p>
          <a:p>
            <a:r>
              <a:t>· 오른쪽 맨 위: 쿨러 사건(끝까지 지나감), 가운데: 거절로 끝난 건, 맨 아래: 승인 대기 중이던 순간</a:t>
            </a:r>
          </a:p>
          <a:p>
            <a:r>
              <a:t>· 같은 설계도에서 나와도 인스턴스마다 다르게 진행</a:t>
            </a:r>
          </a:p>
          <a:p>
            <a:r>
              <a:t>[다음] 지금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운전원 승인 오른쪽 위의 파란 점</a:t>
            </a:r>
          </a:p>
          <a:p>
            <a:r>
              <a:t>· 토큰(Token): 프로세스의 현재 위치 표식. 시작 이벤트에서 생겨, 작업이 끝날 때마다 선을 따라 옮기고, 게이트웨이에선 참인 선, 끝 이벤트에서 사라진다</a:t>
            </a:r>
          </a:p>
          <a:p>
            <a:r>
              <a:t>· 지금은 운전원 승인에 있음: 에이전트 작업은 끝났고 냉각 명령엔 아직 — 운전원 차례</a:t>
            </a:r>
          </a:p>
          <a:p>
            <a:r>
              <a:t>· 쿨러 사건: 에이전트 단계에 오래, 승인은 짧게, 냉각 명령은 순식간, 재관측에서 다시 한동안 → 단계마다 닿은 시각 · 끝난 시각이 토큰의 흔적 = 모니터링이 읽는 것</a:t>
            </a:r>
          </a:p>
          <a:p>
            <a:r>
              <a:t>· 병렬 게이트웨이: 토큰이 갈래 수만큼 나뉘고 합류에서 하나로</a:t>
            </a:r>
          </a:p>
          <a:p>
            <a:r>
              <a:t>· BPMN 실행 설명의 표준 개념. HYD 화면엔 토큰이란 물체 대신 열린 단계와 기록. 언어 모델의 입력 토큰과 다른 개념</a:t>
            </a:r>
          </a:p>
          <a:p>
            <a:r>
              <a:t>[다음] 실제 기록에서 본 승인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맨 위 status → 둘째 줄 current_activity_ids → 아래 단계 상태 다섯 줄</a:t>
            </a:r>
          </a:p>
          <a:p>
            <a:r>
              <a:t>· 쿨러 사건과 같은 정의에서 열렸지만 운전원이 한동안 응답하지 않은 다른 처리 건</a:t>
            </a:r>
          </a:p>
          <a:p>
            <a:r>
              <a:t>· RUNNING: 아직 안 끝남. 열린 단계 T_approve(운전원 승인) = 토큰의 자리</a:t>
            </a:r>
          </a:p>
          <a:p>
            <a:r>
              <a:t>· 단계: 그림의 작업이 이 처리 건에서 실제로 실행되는 자리. T_agent DONE, T_approve IN_PROGRESS, 나머지 TODO</a:t>
            </a:r>
          </a:p>
          <a:p>
            <a:r>
              <a:t>· 닿지 않은 단계도 처음부터 기록에 있다(열릴 때 미리 만든다) → 남은 일까지 보인다</a:t>
            </a:r>
          </a:p>
          <a:p>
            <a:r>
              <a:t>· 승인 대기는 오류가 아니라 정상 실행 상태. 다만 담당자 부재 · 알림 실패로 길어졌는지는 따로</a:t>
            </a:r>
          </a:p>
          <a:p>
            <a:r>
              <a:t>[다음] 토큰이 둘이 되는 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파란 점 둘: 운전원 승인의 처음 토큰 → 왼쪽 아래 승인 지연 알림의 둘째 토큰</a:t>
            </a:r>
          </a:p>
          <a:p>
            <a:r>
              <a:t>· 같은 처리 건, 기한이 지나도록 응답 없음 → 비중단형 타이머가 가지를 하나 더 열며 토큰이 하나 더</a:t>
            </a:r>
          </a:p>
          <a:p>
            <a:r>
              <a:t>· 처음 토큰은 운전원 승인에 그대로 → 알림 뒤에도 처리 건은 닫히지 않는다</a:t>
            </a:r>
          </a:p>
          <a:p>
            <a:r>
              <a:t>· 그림은 알림 가지가 진행되는 순간. 저장된 대기 스냅샷에서는 알림 단계는 이미 끝났고 승인만 진행 중 — 알림이 생긴 사실과 지금 열린 단계 수를 구분</a:t>
            </a:r>
          </a:p>
          <a:p>
            <a:r>
              <a:t>· 운전원은 여전히 승인 · 거절 가능, 이 처리 건은 뒤에 거절로 닫혔다</a:t>
            </a:r>
          </a:p>
          <a:p>
            <a:r>
              <a:t>[다음] 작업 사이에 오가는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승인 여부 게이트웨이가 승인인지 알려면 앞 작업의 결과를 받아야 한다. 결과는 다음 작업으로 어떻게 전해지고, 에이전트의 판단은 흐름의 어디에 놓이나</a:t>
            </a:r>
          </a:p>
          <a:p>
            <a:r>
              <a:t>· 다룰 것: 프로세스 변수, 작업 종류별로 엔진이 기다리는 것, 에이전트 단계 안, 결과를 잇는 순서</a:t>
            </a:r>
          </a:p>
          <a:p>
            <a:r>
              <a:t>[다음] 프로세스 변수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변수 → 가운데 만드는 단계 → 오른쪽 사건 결과 대응</a:t>
            </a:r>
          </a:p>
          <a:p>
            <a:r>
              <a:t>· 프로세스 변수(Process Variable): 인스턴스가 지니고 다니는 이름 붙은 값. 오른쪽 열은 변수 원문이 아니라 쿨러 사건 결과를 뜻에 대응시킨 예</a:t>
            </a:r>
          </a:p>
          <a:p>
            <a:r>
              <a:t>· cause(에이전트 단계): 쿨러 핀 오염. approval(운전원 승인): 승인 → 승인 여부 게이트웨이가 읽는다. chosen_skill: 팬 최대 운전</a:t>
            </a:r>
          </a:p>
          <a:p>
            <a:r>
              <a:t>· recovered(재관측): 회복 → 유온 정상 여부 게이트웨이가 읽는다. work_order(작업지시 등록): WO-…C058, 정상 보고 문장에도 들어간다</a:t>
            </a:r>
          </a:p>
          <a:p>
            <a:r>
              <a:t>· 변수마다 만든 단계가 함께 기록 → 이상한 값을 거슬러 올라간다</a:t>
            </a:r>
          </a:p>
          <a:p>
            <a:r>
              <a:t>· 누가 · 어느 역할로 승인했는지는 승인 순간 시스템이 채운다. 에이전트가 대신 쓸 수 없다 — 책임 값은 책임진 쪽의 행동으로만</a:t>
            </a:r>
          </a:p>
          <a:p>
            <a:r>
              <a:t>[다음] 작업 종류별로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사용자 작업(운전원 승인): 담당 역할의 작업함에 놓고 승인 · 거절을 기다린다</a:t>
            </a:r>
          </a:p>
          <a:p>
            <a:r>
              <a:t>· 서비스 작업(냉각 명령 · 재관측 · 작업지시 등록): 엔진이 시스템을 호출, 결과와 완료 조건 확인. 호출 실패 · 결과 누락을 성공으로 넘기지 않는다</a:t>
            </a:r>
          </a:p>
          <a:p>
            <a:r>
              <a:t>· 에이전트 단계(원인 진단 · 냉각 조치 제안): 지정된 에이전트에게 맡기고 추천안 제출을 기다린다. 에이전트가 다음 작업을 직접 열지 않는다 — 제출 · 검사 뒤 엔진이 연다. 제출과 진행을 따로 기록</a:t>
            </a:r>
          </a:p>
          <a:p>
            <a:r>
              <a:t>· 어느 경우든 작업이 끝나야 토큰이 넘어간다. 승인도 역할 확인 + 다음 단계로 전달된 뒤에야 냉각 명령, 전달 실패면 넘어가지 않는다</a:t>
            </a:r>
          </a:p>
          <a:p>
            <a:r>
              <a:t>[다음] 에이전트 단계 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</a:t>
            </a:r>
          </a:p>
          <a:p>
            <a:r>
              <a:t>· 작업 입력: 설비 · 경보 패턴 · 경보 식별자</a:t>
            </a:r>
          </a:p>
          <a:p>
            <a:r>
              <a:t>· diagnose: 지식 그래프의 원인 후보 · 증거를 따라가고 센서 값을 읽어 원인을 가린다 — 온톨로지가 쓰이는 자리</a:t>
            </a:r>
          </a:p>
          <a:p>
            <a:r>
              <a:t>· 업무 DB 조회(필요하면): 납기가 걸린 생산 오더와 출하 대기 품질 로트. 부하를 낮추는 후보는 생산에 영향 → 같은 조치라도 손익이 달라진다. 읽기만</a:t>
            </a:r>
          </a:p>
          <a:p>
            <a:r>
              <a:t>· evaluate_cards: SOP 조치 넷을 판단 규칙 · 성과 기준으로 견주어 순위(업무 값이 점수에 들어가는 곳)</a:t>
            </a:r>
          </a:p>
          <a:p>
            <a:r>
              <a:t>· submit_decision: 추천안 제출, 판단 기록 번호 DEC-…408b</a:t>
            </a:r>
          </a:p>
          <a:p>
            <a:r>
              <a:t>· 화면은 스킬이 안내하는 순서, 실제 호출 순서와 근거는 실행 기록으로. 추천안엔 팬 최대 운전 1위, 공동 2순위 둘, 쿨러 핀 세척 — 승인자가 무엇을 두고 고르는지 알게</a:t>
            </a:r>
          </a:p>
          <a:p>
            <a:r>
              <a:t>[다음] 단계 밖으로 이어진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오른쪽 열(낸 것) 위에서 아래로</a:t>
            </a:r>
          </a:p>
          <a:p>
            <a:r>
              <a:t>· 에이전트 단계: 경보 → 원인 쿨러 핀 오염 · 추천 팬 최대 운전(진단 · 추천을 위한 자료는 여기서 읽음)</a:t>
            </a:r>
          </a:p>
          <a:p>
            <a:r>
              <a:t>· 운전원 승인 11:14:56, 팬 속도 100 % → 냉각 명령 CMD-…b94a, 인터록 PASS(안전 연동 검사 통과)</a:t>
            </a:r>
          </a:p>
          <a:p>
            <a:r>
              <a:t>· 재관측: 유온 61.4 → 51.5 ℃, 회복 기준 55 ℃ 미만 · 경보 해제 → 작업지시 WO-…C058 → 정상 보고(이상 완화 · 경보 해제)</a:t>
            </a:r>
          </a:p>
          <a:p>
            <a:r>
              <a:t>· 승인 검사 · 재관측은 실행 시점의 자료를 다시 확인</a:t>
            </a:r>
          </a:p>
          <a:p>
            <a:r>
              <a:t>· 무엇을 읽을지는 에이전트가, 결과가 어떤 순서로 누구에게 가는지는 프로세스가 정한다 — 판단은 한 단계, 결과는 변수로 다음 작업에</a:t>
            </a:r>
          </a:p>
          <a:p>
            <a:r>
              <a:t>[다음] 끝난 처리 건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끝난 처리 건에서 무엇을 확인해야 하나 — 결말을 어떻게 판정하나, 흐름을 고치면 언제부터 바뀌나, 누가 무엇을 결정했나</a:t>
            </a:r>
          </a:p>
          <a:p>
            <a:r>
              <a:t>· 다룰 것: 실행 상태 두 층, COMPLETED와 성공, 판본과 배포, 감사 기록과 처리 기록</a:t>
            </a:r>
          </a:p>
          <a:p>
            <a:r>
              <a:t>[다음] 실행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줄(처리 건) → 아래 두 줄(단계)</a:t>
            </a:r>
          </a:p>
          <a:p>
            <a:r>
              <a:t>· 처리 건: RUNNING 진행 중(승인 대기 중에도), COMPLETED 필요한 흐름이 끝나 실행 완료(끝남). 이 사례에서 고른 둘이지 전체 목록이 아니다</a:t>
            </a:r>
          </a:p>
          <a:p>
            <a:r>
              <a:t>· 단계: IN_PROGRESS 열림 · DONE 끝남 · TODO 아직 닿지 않음</a:t>
            </a:r>
          </a:p>
          <a:p>
            <a:r>
              <a:t>· CANCELLED(취소됨): 이 예에서는 게이트웨이에서 선택되지 않은 갈래의 단계. 거절된 처리 건의 냉각 명령</a:t>
            </a:r>
          </a:p>
          <a:p>
            <a:r>
              <a:t>· 처리 건 상태만으로 업무 결과는 모른다. 어디서 기다리는지, 어느 갈래로 갔는지는 단계 상태로</a:t>
            </a:r>
          </a:p>
          <a:p>
            <a:r>
              <a:t>[다음] 끝났다와 잘됐다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맨 위 줄(status) 견주기 → 아래 줄들 → 왼쪽 칸 마지막 줄</a:t>
            </a:r>
          </a:p>
          <a:p>
            <a:r>
              <a:t>· 둘 다 COMPLETED</a:t>
            </a:r>
          </a:p>
          <a:p>
            <a:r>
              <a:t>· 승인된 처리 건: end_event E_end, 정상 보고, 설비 명령 1건</a:t>
            </a:r>
          </a:p>
          <a:p>
            <a:r>
              <a:t>· 거절된 처리 건: E_rejected(거절 종결), 거절 보고(기록의 값은 반려), 설비 명령 없음, 냉각 명령 · 재관측 · 작업지시 등록은 CANCELLED</a:t>
            </a:r>
          </a:p>
          <a:p>
            <a:r>
              <a:t>· COMPLETED = 실행이 끝났다는 뜻일 뿐, 업무 결과는 닿은 끝 이벤트와 결과 보고로</a:t>
            </a:r>
          </a:p>
          <a:p>
            <a:r>
              <a:t>· 승인했는데 회복 미달이어도 끝 이벤트는 E_end — 결과 보고가 정상인지 미달인지로 구분</a:t>
            </a:r>
          </a:p>
          <a:p>
            <a:r>
              <a:t>[다음] 고친 흐름은 언제부터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등록: 고친 정의를 새 판본으로 저장, 저장된 판본은 고치지 않는다 — 지난 처리 건이 어떤 판본으로 돌았는지 되짚으려고</a:t>
            </a:r>
          </a:p>
          <a:p>
            <a:r>
              <a:t>· 배포: 경보를 받을 판본(흐름)을 지정. 같은 운영 영역에서 같은 경보를 받는 흐름이 여럿이면 가장 최근 배포가 받는다, 모두 거두면 HYD의 기준 흐름이 받는다</a:t>
            </a:r>
          </a:p>
          <a:p>
            <a:r>
              <a:t>· 실행: 배포 뒤 경보가 오면 그 판본으로 처리 건이 열린다. 수업에서는 이미 배포된 흐름으로 처리 건을 연다</a:t>
            </a:r>
          </a:p>
          <a:p>
            <a:r>
              <a:t>· 판본 고정: 열린 처리 건은 열릴 때의 판본으로 끝까지. 센서 값 · 지식 · 서비스까지 얼리는 것은 아니며 승인 때 현재 조건 재확인은 그대로</a:t>
            </a:r>
          </a:p>
          <a:p>
            <a:r>
              <a:t>[다음] 결정의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오른쪽 열(구분): 위 셋 → 아래 셋 → 맨 아래 줄</a:t>
            </a:r>
          </a:p>
          <a:p>
            <a:r>
              <a:t>· 처리 기록(처리 건 안의 일): APPROVAL_ACCEPTED(승인 접수, 승인 역할과 판단 id → 어느 추천안 · 어떤 근거였는지 거슬러), APPROVAL_DELIVERY(승인이 다음 단계로 전달), RESULT_REPORT(보고 본문)</a:t>
            </a:r>
          </a:p>
          <a:p>
            <a:r>
              <a:t>· 감사 기록(Audit Log, 처리 건 밖까지): INSTANCE_STARTED, DEFINITION_DEPLOYED, DECISION_DENIED(승인 역할이 아닌 쪽의 시도가 거부됨)</a:t>
            </a:r>
          </a:p>
          <a:p>
            <a:r>
              <a:t>· 끝난 처리 건을 되짚을 때: 상태 + 판본 + 두 기록 → 어떻게 끝났는지와 누가 무엇을 결정했는지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네 실습의 흐름: 업무를 그림으로 표현 → 실제 실행 흐름과 견주기 → 처리 건 기록에서 결과 확인</a:t>
            </a:r>
          </a:p>
          <a:p>
            <a:r>
              <a:t>· 첫 실습: 작은 정비 요청 승인 절차를 웹 BPMN 편집기(bpmn.io)로</a:t>
            </a:r>
          </a:p>
          <a:p>
            <a:r>
              <a:t>· 이론의 연결: 시작 · 끝 이벤트, 사용자 작업, 배타 게이트웨이, 끝마다 갈래가 닿기</a:t>
            </a:r>
          </a:p>
          <a:p>
            <a:r>
              <a:t>[다음] 첫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입력과 도구: 정비 요청 한 건의 작은 업무, 웹 BPMN 편집기에서 요소를 놓고 선으로 잇기(팔레트 · 배치 · 연결 · 속성 · 저장 · 열기)</a:t>
            </a:r>
          </a:p>
          <a:p>
            <a:r>
              <a:t>· 그릴 흐름: 정비 요청 → 담당자 확인 → 승인 여부 → 승인 종료 · 반려 종료</a:t>
            </a:r>
          </a:p>
          <a:p>
            <a:r>
              <a:t>· 산출물: .bpmn 파일 하나, 저장 뒤 다시 열어도 같은 그림</a:t>
            </a:r>
          </a:p>
          <a:p>
            <a:r>
              <a:t>· 성공 기준: 게이트웨이의 두 갈래가 각각 끝 이벤트에 닿고, 끊긴 선 · 이름 없는 갈래가 없다</a:t>
            </a:r>
          </a:p>
          <a:p>
            <a:r>
              <a:t>· 핵심은 조작이 아니라 누가 무엇을 결정하고 어디서 끝나는지를 남이 읽을 수 있게</a:t>
            </a:r>
          </a:p>
          <a:p>
            <a:r>
              <a:t>[다음] 둘째 실습: 긴급 대응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첫 실습의 조작으로 긴급 대응 프로세스를 그린다. 이번 회차에 읽은 그림이 기준, 레인과 타이머가 더해진다</a:t>
            </a:r>
          </a:p>
          <a:p>
            <a:r>
              <a:t>· 확인점: 거절했는데 명령으로 이어지지 않는가, 알림이 끝났다고 승인까지 끝난 것으로 그리지 않았는가</a:t>
            </a:r>
          </a:p>
          <a:p>
            <a:r>
              <a:t>[다음] 둘째 실습의 완성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첫 실습의 편집기 조작, 이번 회차에 읽은 긴급 대응 그림</a:t>
            </a:r>
          </a:p>
          <a:p>
            <a:r>
              <a:t>· 그릴 범위: 풀 하나를 담당자 · 에이전트 · 시스템 세 레인으로, 경보 → 진단 · 제안 → 승인 → 냉각 명령 → 재관측 → 작업지시 · 보고. 승인 · 거절, 회복 · 미달 분기, 승인을 끊지 않는 비중단형 지연 알림</a:t>
            </a:r>
          </a:p>
          <a:p>
            <a:r>
              <a:t>· 산출물: 긴급 대응 .bpmn, 다음 비교 실습에서 그대로</a:t>
            </a:r>
          </a:p>
          <a:p>
            <a:r>
              <a:t>· 성공 기준: 완성 그림과 요소 · 갈림 · 타이머 종류가 같고, 모든 갈래가 끝 이벤트에 닿는다</a:t>
            </a:r>
          </a:p>
          <a:p>
            <a:r>
              <a:t>[다음] 셋째 실습: 실행 흐름과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그린 그림을 포털에 등록된 기준 흐름과 견준다. BPMN에는 흐름이 있지만, 어떤 에이전트 · 어느 역할 · 어떤 서비스로 실행할지는 실행 정의가 정한다</a:t>
            </a:r>
          </a:p>
          <a:p>
            <a:r>
              <a:t>· 주의: 내 그림을 새로 등록하거나 배포하지 않는다. 이미 등록된 흐름과 견주는 데까지</a:t>
            </a:r>
          </a:p>
          <a:p>
            <a:r>
              <a:t>[다음] 셋째 실습의 비교 대상과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칸 왼쪽부터(입력 → 찾을 연결 → 산출물) → 아래 성공 기준 칸</a:t>
            </a:r>
          </a:p>
          <a:p>
            <a:r>
              <a:t>· 입력: 내가 그린 긴급 대응 BPMN, 포털에 등록된 기준 흐름, 제공 매핑 자료</a:t>
            </a:r>
          </a:p>
          <a:p>
            <a:r>
              <a:t>· 찾을 연결: 시작 이벤트가 어떤 경보로 열리나, 에이전트 단계는 어느 에이전트, 운전원 승인 · 설비 명령 · 재관측은 어떤 실행 기능에</a:t>
            </a:r>
          </a:p>
          <a:p>
            <a:r>
              <a:t>· 산출물: 그린 작업마다 대응하는 실행 기능을 표시한 대응표. 내 그림에만 있는 것, 이름은 같아도 연결이 다른 것도 그대로</a:t>
            </a:r>
          </a:p>
          <a:p>
            <a:r>
              <a:t>· 성공 기준: 그림 파일과 실행 정의를 구분해 말한다 — 선에 승인이라고 이름 붙이는 것 ≠ 실행 정의에 승인 조건이 있는 것</a:t>
            </a:r>
          </a:p>
          <a:p>
            <a:r>
              <a:t>[다음] 마지막 실습: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포털의 준비된 냉각 대응 시나리오 A를 실행해 처리 건 한 건이 실제로 어떻게 진행되는지 따라간다</a:t>
            </a:r>
          </a:p>
          <a:p>
            <a:r>
              <a:t>· 앞 실습의 대응표를 옆에 두고 시작</a:t>
            </a:r>
          </a:p>
          <a:p>
            <a:r>
              <a:t>· 이론의 연결: 정의 · 인스턴스 · 단계 상태 · 판본 · 처리 기록, COMPLETED와 성공</a:t>
            </a:r>
          </a:p>
          <a:p>
            <a:r>
              <a:t>[다음] 실행해 확인할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칸 왼쪽부터(입력 → 따라갈 범위 → 산출물) → 아래 성공 기준 칸</a:t>
            </a:r>
          </a:p>
          <a:p>
            <a:r>
              <a:t>· 입력: 준비된 냉각 대응 시나리오 A, 앞 실습의 대응표</a:t>
            </a:r>
          </a:p>
          <a:p>
            <a:r>
              <a:t>· 따라갈 범위: 같은 처리 건의 판단 → 운전원 승인 → 명령 → 재관측 → 보고. 두 쌍은 따로: 명령 처리 ≠ 온도 회복, 작업지시 등록 ≠ 정비 완료</a:t>
            </a:r>
          </a:p>
          <a:p>
            <a:r>
              <a:t>· 산출물: 처리 건 한 건의 정의 · 판본 · 단계 기록. 승인 대기 · 거절 · 보류는 이번 실제 기록인지 제공 사례인지 구분</a:t>
            </a:r>
          </a:p>
          <a:p>
            <a:r>
              <a:t>· 성공 기준: 승인 대기와 끝남을 단계 상태로 구별해 말하고, 내 BPMN에서 해당 작업을 찾아 실제 결과와 잇는다</a:t>
            </a:r>
          </a:p>
          <a:p>
            <a:r>
              <a:t>[다음] 실습 뒤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장면 → 가운데 프로세스의 말 → 오른쪽 헷갈리는 짝. 실습 기록으로 승인 대기와 끝난 상태를 먼저 구별하게 한 뒤, 학생이 먼저 말해 보게 한다(약 20초)</a:t>
            </a:r>
          </a:p>
          <a:p>
            <a:r>
              <a:t>· 경보 도착 · 처리 건 열림: 메시지 시작 이벤트, 정의에서 인스턴스 하나(정의 ↔ 인스턴스)</a:t>
            </a:r>
          </a:p>
          <a:p>
            <a:r>
              <a:t>· 추천안 나옴 · 팬은 그대로: Task 하나 끝남, End-to-End는 진행 중</a:t>
            </a:r>
          </a:p>
          <a:p>
            <a:r>
              <a:t>· 운전원 승인에서 기다림: 토큰이 사용자 작업에 머문 RUNNING(승인 대기 ↔ 오류)</a:t>
            </a:r>
          </a:p>
          <a:p>
            <a:r>
              <a:t>· 승인 쪽으로 감: approval 변수를 읽는 조건(에이전트의 판단 ↔ 갈림의 조건)</a:t>
            </a:r>
          </a:p>
          <a:p>
            <a:r>
              <a:t>· 기한 안에 승인: 비중단형 타이머가 함께 거둬짐, 늦었다면 알림 가지만(알림 ↔ 종료). 정상 보고로 끝남: E_end · COMPLETED(COMPLETED ↔ 성공 — 거절 건도 COMPLETED)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비즈니스 프로세스: 결과를 내기 위한 작업과 흐름의 묶음. BPM: 분석 · 설계 · 실행 · 모니터링 · 개선으로 되풀이해 관리</a:t>
            </a:r>
          </a:p>
          <a:p>
            <a:r>
              <a:t>· BPMN: 도형과 선의 뜻을 정한 업무 프로세스 표기 표준. 경계 이벤트(Boundary Event): 작업 테두리에 붙어 진행 중에 생기는 일에 반응</a:t>
            </a:r>
          </a:p>
          <a:p>
            <a:r>
              <a:t>· 프로세스 엔진: 정의를 읽어 작업을 차례로 열고 결과를 넘기는 소프트웨어. 오케스트레이션: 중앙 조정자가 순서와 호출을 이끄는 방식</a:t>
            </a:r>
          </a:p>
          <a:p>
            <a:r>
              <a:t>· 프로세스 인스턴스: 정의에 따라 실행되는 한 건(처리 건). 토큰: 지금 위치 표식. 프로세스 변수: 인스턴스가 지니는 이름 붙은 값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용어 암기보다 기록과 그림을 보고 무슨 일이 일어났는지 설명할 수 있는지</a:t>
            </a:r>
          </a:p>
          <a:p>
            <a:r>
              <a:t>· 문제마다 고를 시간, 정답과 까닭은 세 문항 뒤에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처리 건 RUNNING, 열린 단계는 운전원 승인, 승인 지연 알림은 이미 나갔다</a:t>
            </a:r>
          </a:p>
          <a:p>
            <a:r>
              <a:t>· 물음: 이 처리 건에 대한 옳은 설명은?</a:t>
            </a:r>
          </a:p>
          <a:p>
            <a:r>
              <a:t>· 생각할 거리: 승인 지연 타이머의 종류(중단형 · 비중단형)와 처리 건의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COMPLETED · E_rejected, 냉각 명령 단계는 선택되지 않아 CANCELLED</a:t>
            </a:r>
          </a:p>
          <a:p>
            <a:r>
              <a:t>· 물음: 냉각 명령이 설비에 나갔는지 판단한 것으로 옳은 것은?</a:t>
            </a:r>
          </a:p>
          <a:p>
            <a:r>
              <a:t>· 생각할 거리: 처리 건 상태 · 끝 이벤트 · 단계 상태가 각각 무엇을 알려 주나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에이전트가 팬 최대 운전 추천안을 제출, 처리 건은 운전원 승인에서 대기</a:t>
            </a:r>
          </a:p>
          <a:p>
            <a:r>
              <a:t>· 물음: 유효한 승인과 실행 조건 검사를 거친 뒤 냉각 명령 작업을 여는 것은?</a:t>
            </a:r>
          </a:p>
          <a:p>
            <a:r>
              <a:t>· 생각할 거리: 추천하는 쪽 · 결정하는 쪽 · 다음 작업을 여는 쪽 · 명령을 전하는 쪽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3번: 비중단형 타이머라 알림 가지만 끝나고 승인 작업은 열린 채 기다린다. 1 · 4번은 알림 가지의 끝을 처리 건의 끝으로 혼동, 2번처럼 기한이 지났다고 자동 실행되지 않는다</a:t>
            </a:r>
          </a:p>
          <a:p>
            <a:r>
              <a:t>· Quiz 2 정답 1번: COMPLETED는 실행이 끝났다는 뜻일 뿐, 끝 이벤트 E_rejected와 냉각 명령 CANCELLED로 명령이 안 나갔다고 읽는다. 2번 끝남=성공 혼동, 3번 추천과 실행 혼동, 4번 남은 기록을 안 읽음</a:t>
            </a:r>
          </a:p>
          <a:p>
            <a:r>
              <a:t>· Quiz 3 정답 4번 프로세스 엔진: 에이전트는 추천까지, 운전원은 승인까지, SCADA는 열린 명령을 PLC에 전함. 작업이 열린 것 ≠ 명령 처리 성공. 3번은 결정하는 쪽과 여는 쪽 혼동</a:t>
            </a:r>
          </a:p>
          <a:p>
            <a:r>
              <a:t>· 맺음: 추천이 승인 · 실행 · 확인을 거쳐 끝난 업무가 되기까지를 프로세스로 정의하고, 그리고, 실행 기록으로 읽었다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Relationship Id="rId4" Type="http://schemas.openxmlformats.org/officeDocument/2006/relationships/image" Target="../media/image10.png"/><Relationship Id="rId5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0.png"/><Relationship Id="rId4" Type="http://schemas.openxmlformats.org/officeDocument/2006/relationships/image" Target="../media/image43.png"/><Relationship Id="rId5" Type="http://schemas.openxmlformats.org/officeDocument/2006/relationships/image" Target="../media/image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8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2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3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8.png"/><Relationship Id="rId4" Type="http://schemas.openxmlformats.org/officeDocument/2006/relationships/image" Target="../media/image20.png"/><Relationship Id="rId5" Type="http://schemas.openxmlformats.org/officeDocument/2006/relationships/image" Target="../media/image51.png"/><Relationship Id="rId6" Type="http://schemas.openxmlformats.org/officeDocument/2006/relationships/image" Target="../media/image3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AI와 사람이 함께 일하는 업무 프로세스를 직접 설계하고 실행하기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AI와 사람이 함께 일하는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프로세스의 설계와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추천안이 승인과 실행을 거쳐 끝난 업무가 되기까지를 프로세스로 정의하고, BPMN으로 그려 실행한다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ute" descr="rout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itemap" descr="sitemap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play" descr="player-play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끝난 업무가 되기까지의 순서와 책임을 프로세스로 정의하고, BPMN으로 그려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281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프로세스와 BPM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하나와 시작부터 끝까지의 업무를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조건 · 입력 · 출력 · 책임자 · 완료 조건을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4919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4919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정의와 관리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281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표기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이벤트 · 작업 · 게이트웨이 · 레인 · 타이머를 그림에서 읽는다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승인과 거절의 갈림과 책임 배치를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2919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281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오케스트레이션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정의와 인스턴스, 토큰과 변수로 처리 건의 진행을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상태 · 판본 · 감사 기록을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28024"/>
            <a:ext cx="2567863" cy="352666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2919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pencil" descr="penci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281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2152"/>
            <a:ext cx="2238679" cy="199961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절차와 긴급 대응 프로세스를 직접 그린다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기준 흐름과 견주고 처리 건의 기록을 확인한다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491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491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업무와 비즈니스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프로세스를 정의하는 다섯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생애주기와 AS-IS · TO-BE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이벤트 · 작업 · 게이트웨이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레인 · 메시지 흐름 · 타이머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 처리 건의 진행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변수와 에이전트 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 · 판본 · 감사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절차 작성 · 긴급 대응 작도 · 연결 비교 · 실행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업무와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명령 · 확인 · 보고를 누가 어떤 순서로 잇는가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다섯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만든 뒤에도 승인, 냉각 명령, 효과 확인, 작업지시와 결과 보고가 남아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남은일_추천뒤.svg" descr="illust_417839315344224738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8373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2060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5747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9434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유온의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0495" y="418045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23276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일을 맡는 쪽과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사람과 시스템이 맡은 작업은 필요한 앞 단계의 결과를 받아 정해진 순서로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64688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검토해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nd" descr="se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64688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보낸다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eye" descr="ey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64688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처리를 이끄는 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 ℃ 미만과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해제를 확인한다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ol" descr="too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64688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보전 관리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세척을 등록한다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310383"/>
            <a:ext cx="1911644" cy="336194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49326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64688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297936"/>
            <a:ext cx="1765340" cy="2301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처리를 이끄는 시스템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처리한 내용과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알린다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일과 일 사이를 잇는 것이 없을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일과 일 사이를 이어 주는 것이 없으면 추천안은 화면에 머물고, 누가 무엇을 기다리는지 아무도 알지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ourglass" descr="hourglas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나와도 승인을 요청받은 사람이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재관측은 누군가 기억해야 이루어진다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-2" descr="arrows-split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흩어진다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승인하는지, 응답이 없으면 어떻게 되는지가 정해져 있지 않다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search" descr="file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남지 않는다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진행되었고 무엇으로 끝났는지를 한곳에서 볼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판단과 정해 두어야 하는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상황에 따른 판단과 반드시 지킬 권한·선행 조건을 나누고, 프로세스와 실행 검사로 약속을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6870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2232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지식과 값을 읽어 원인을 가린다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후보를 견주어 하나를 추천한다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입력에도 과정과 표현이 달라질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97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97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6870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2232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 두어야 하는 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전에는 설비 명령이 나가지 않는다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정해진 역할만 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뒤에는 유온을 다시 읽어 회복을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순서와 책임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비즈니스 프로세스는 원하는 결과를 내기 위해 관련된 작업과 흐름을 정한 묶음이다.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조직이 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시작하는 사건이 있고 끝났다고 보는 조건이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경보에서 시작해 결과 보고로 끝난다.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추천안, 운전원의 승인, 시스템의 명령과 기록이 한 순서로 이어진다.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실행되는 한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경보 한 건에 대해 실제로 수행되는 한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하나로 진행되었다.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Task는 작업 하나이고 End-to-End는 시작 사건에서 최종 결과까지의 전체이며, 업무의 완료는 End-to-End로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pic>
        <p:nvPicPr>
          <p:cNvPr id="6" name="삽화:남은일_종단.svg" descr="illust_161371385470875052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468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1155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4842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8529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2216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18045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9590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2371" y="4180453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79" y="1816729"/>
            <a:ext cx="3927418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시점: 추천 완료, 명령·효과 확인은 남음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시간: 처리 건 전체의 절반 남짓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2999" y="5409590"/>
            <a:ext cx="654569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시점: 명령 CMD-1010-0001-b94a, 유온 51.5 ℃, 작업지시 WO-1010-C058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프로세스의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SOP는 조치의 수행 기준을, 프로세스는 그 조치를 포함한 업무의 순서와 책임을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사례의 범위: 조치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수행 단계, 조건, 완료 확인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SOP-COOL-11 팬 최대 운전의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절차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시작 사건에서 최종 결과까지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작업의 순서, 갈림, 책임자, 끝나는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경보, 추천, 승인, 명령, 재관측, 보고의 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흐름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프로세스를 정의하는 다섯 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조건 · 입력 · 출력 · 책임자 · 완료 조건을 실행 전에 정해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가지와 긴급 대응 프로세스의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수업에서는 시작 조건, 입력, 출력, 수행 주체와 완료 조건을 중심으로 프로세스를 정의한다.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무엇이 일어나면 시작하는가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시작할 때 무엇을 받는가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HYD-01, 경보의 내용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끝났을 때 무엇이 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보고, 조건에 따른 작업지시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누가 맡는가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에이전트, 운전원,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무엇으로 끝났다고 보는가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흐름 없이 마치고 결과를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조건과 입력: 경보 메시지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사람이 시작시키지 않고 경보 메시지가 도착하면 열리며, 그 경보의 내용이 입력이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값이 COOLER_DEGRADATION인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프로세스를 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 · 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경보의 식별자가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입력으로 실린다.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경보에 한 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정의·사건 식별자의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중복 시작을 막는다.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출력과 입력의 연쇄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 작업의 출력이 다음 작업의 입력이 되므로, 작업 하나가 정해진 출력을 내지 못하면 흐름은 그 자리에서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025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원인과 추천안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0253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승인 또는 거절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489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nd" descr="se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0253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승인된 조치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명령의 처리 결과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66035"/>
            <a:ext cx="2485567" cy="2850641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489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eye" descr="ey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0253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53587"/>
            <a:ext cx="2339263" cy="178993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것: 명령의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내는 것: 회복 여부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책임자: 사람, 에이전트, 시스템의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역할과 실제 수행 주체를 연결하고, 작업 배정과 조치 승인 권한을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역할로 정한다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책임자를 사람의 이름이 아니라 운전원 같은 역할로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근무자가 바뀌어도 프로세스는 그대로 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조치별 지정 역할과 허용 등급을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s" descr="us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주체를 나눈다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사람·에이전트·시스템이 작업을 맡는다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조직의 최종 책임까지 기계로 넘기지는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02389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02389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종류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0554"/>
            <a:ext cx="3515258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4682"/>
            <a:ext cx="3186074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작업마다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작업마다 수행 주체를 정해 누구의 응답을 기다리는지 알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조건: 프로세스가 닫히는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조건은 정상으로 끝난 경우뿐 아니라 거절되거나 회복에 미달한 경우에 업무가 어떻게 닫히는지도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닫히는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승인, 유온 회복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작업지시를 등록하고 결과 보고: 정상으로 닫힌다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승인, 회복 미달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보고: 미달로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보고: 거절로 닫힌다 — 「설비 명령은 내지 않았습니다」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닫히지 않는다. 업무 10분 뒤 지연 알림만 보내고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에이전트 밖에서 보장하는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흐름 등록 검사와 실행 시 권한·조건 검사로 승인 없는 명령을 막고 처리 근거를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 작업은 승인 작업이 승인으로 끝난 뒤에만 열린다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승인이 빠지거나 거절 갈래에서 효과가 나가는 흐름은 받아들이지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담당과 조치별 승인 권한을 확인한다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권한을 충족하지 못한 승인은 거부되고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경보로 열려 누가 승인했고 어디서 끝났는지가 처리 건에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그래프는 프로세스를 대상 설비와 전략 목표에 이어 두어, 그 업무가 무엇을 위해 도는지 조회하게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8" name="Oval 7"/>
          <p:cNvSpPr/>
          <p:nvPr/>
        </p:nvSpPr>
        <p:spPr>
          <a:xfrm>
            <a:off x="3917179" y="3122676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3879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이상 조치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가용성 확보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sp>
        <p:nvSpPr>
          <p:cNvPr id="14" name="Oval 13"/>
          <p:cNvSpPr/>
          <p:nvPr/>
        </p:nvSpPr>
        <p:spPr>
          <a:xfrm>
            <a:off x="7660001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61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59152" y="3991356"/>
            <a:ext cx="151230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612787" y="3625596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2787" y="3625596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ACTS_ON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635021" y="2845679"/>
            <a:ext cx="2019023" cy="80648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6079972" y="2883161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9972" y="2883161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00259" y="3991356"/>
            <a:ext cx="4132284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201840" y="3625596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1840" y="3625596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35021" y="4330547"/>
            <a:ext cx="2019023" cy="80648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079972" y="4368030"/>
            <a:ext cx="11291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9972" y="4368030"/>
            <a:ext cx="11291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ACHIEVES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 · TO-BE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정의한 프로세스를 분석 · 설계 · 실행 · 모니터링 · 개선으로 고쳐 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BPM: 프로세스를 관리하는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설비와 조직과 목표가 바뀌면 프로세스도 달라져야 하므로, 프로세스를 만들고 고쳐 가는 일 전체가 관리의 대상이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프로세스를 분석하고 설계해 실행하고, 결과를 보며 고쳐 가는 관리 방법이다.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한 번 만들고 끝내는 것이 아니라 계속 다듬는 대상으로 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다루는 대상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하나의 효율이 아니라 시작 사건에서 최종 결과까지의 흐름 전체이다.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전체를 보는 까닭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판단이 빨라져도 승인이 늘 늦으면 전체 개선은 작을 수 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생애주기: 다섯 단계의 되풀이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여기서는 BPM을 다섯 활동으로 묶어 보고, 실행에서 확인한 결과를 다음 분석과 개선에 반영한다.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BPM주기.svg" descr="illust_32340674890927075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2904042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업무를 조사한다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9601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바꿀 흐름을 그린다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517321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그린 대로 수행한다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6574" y="517321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결과를 지켜본다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195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문제를 찾아 고친다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단계에서 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 대어 보면 분석과 설계는 프로세스의 정의를 내고, 실행과 모니터링은 처리 건의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업무를 읽어 시작 조건, 책임자, 완료 조건과 끊기는 자리를 가려낸다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열고 운전원이 승인한다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바꾸려는 흐름을 그림으로 그린다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경보, 추천, 승인, 명령,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재관측, 보고의 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그림을 등록하고 배포해 실제 경보에서 수행되게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하나가 열렸다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모니터링 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건마다 단계의 담당, 대기, 걸린 시간, 결과를 지켜본다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승인의 대기와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재관측의 결과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 Optimization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결과에서 찾은 문제를 반영해 흐름을 고쳐 다시 등록한다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고친 흐름은 다음 경보의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건부터 쓰인다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AS-IS와 TO-BE: 지금의 방식과 바꾸려는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분석은 지금의 방식인 AS-IS를 그려 문제를 찾는 일이고, 설계는 바꾸려는 방식인 TO-BE를 그리는 일이다.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현재와목표.svg" descr="illust_734422897217749532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573121"/>
            <a:ext cx="174551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방식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8384" y="4842296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바꾸려는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22999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9436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6783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4126" y="356588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보전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6685" y="5078669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4037" y="5078669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1411" y="5078669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AS-IS와 TO-BE를 견주어 얻는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그림을 견주면 사람이 기억으로 잇던 자리가 드러나고, 그 자리가 프로세스의 작업과 갈림이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일반적인 AS-IS의 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경보를 본 운전원이 전화로 담당을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뒤의 확인은 각자 기억해서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언제 결정했는지는 물어보아야 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잇는다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TO-BE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오면 추천안이 승인 작업으로 운전원에게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뒤의 명령과 재관측은 정해진 순서로 열린다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역할과 결과가 처리 건에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잇는다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갈림을 누구나 같은 뜻으로 읽게 하는 도형과 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문장에는 담당과 알림 뒤의 처리가 빠져 있어, 갈림과 대기를 함께 확인할 표현이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제안한다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재관측하는데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등록하고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보고하며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보고하고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갈림이 묻힌다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「~하면」과 「아니면」이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 속에 흩어져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책임자가 묻힌다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재관측과 보고를 누가 하는지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적혀 있지 않다.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다르게 읽힌다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승인을 기다리는지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문장만으로는 알 수 없다.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업무 프로세스의 표기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BPMN은 업무 프로세스를 누구나 같은 뜻으로 읽도록 도형과 선의 의미를 정해 둔 표기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프로세스를 그림으로 나타내는 표기 표준이다.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도형의 모양과 선의 종류마다 뜻이 정해져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국제 표준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DMN을 정한 OMG가 정했고, BPMN 2.0은 국제 표준 ISO/IEC 19510이기도 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현업은 업무 흐름을 확인하고, 구현자는 지원 요소·조건·실행 연결을 검증한다.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요소의 세 묶음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BPMN의 기본 도형은 일어나는 일인 흐름 객체, 그것을 잇는 연결 객체, 맡는 쪽을 나누는 스윔레인으로 묶인다.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요소묶음.svg" descr="illust_449788589654511388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8396" y="238402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흐름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5812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Connecting 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384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스윔레인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Swimlanes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475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3890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030" y="4511375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191" y="375498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2191" y="5078669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7764" y="512594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BPMN으로 그리면 문장에 묻혀 있던 맡는 쪽과 갈림 둘, 끝 셋이 레인 셋 위의 도형으로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pic>
        <p:nvPicPr>
          <p:cNvPr id="6" name="삽화:흐름_전체.svg" descr="illust_403197236446040745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282238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37762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5674" y="3476064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6797" y="3648616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이벤트: 프로세스를 여는 사건과 닫는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이벤트는 흐름을 열고 일반 끝 이벤트는 도착한 갈래를 마치며, 전체 종료는 남은 흐름도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pic>
        <p:nvPicPr>
          <p:cNvPr id="6" name="삽화:이벤트.svg" descr="illust_26005354333590467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4464100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프로세스를 여는 사건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4464100"/>
            <a:ext cx="327284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메시지를 받으면 연다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쿨러 과열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5923" y="4464100"/>
            <a:ext cx="283646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End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갈래를 닫는 사건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끝, 거절 종결, 알림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작업: 사용자 작업과 서비스 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Task는 해당 모델에서 내부 절차를 더 펼치지 않은 활동이며, 표식은 작업의 종류를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pic>
        <p:nvPicPr>
          <p:cNvPr id="6" name="삽화:작업종류.svg" descr="illust_53430116846264923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9312" y="3187689"/>
            <a:ext cx="218189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3993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578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36955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 · 표식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6708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User Task · 사람 표식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294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Service Task · 톱니 표식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흐름과 배타 게이트웨이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순서는 실선 화살표인 시퀀스 흐름으로 잇고, 갈림은 조건이 참인 한 갈래만 고르는 배타 게이트웨이로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pic>
        <p:nvPicPr>
          <p:cNvPr id="6" name="삽화:게이트웨이.svg" descr="illust_909790463363852467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68407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0341" y="1911278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126" y="5244129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4960" y="271494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584" y="4913208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0283" y="332951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Sequence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79" y="4558649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Exclusive Gateway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갈림의 조건과 기본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정의의 조건식과 같은 변수 값으로 갈림을 판단하고, 맞는 조건이 없으면 기본 흐름을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나가는 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 → 작업지시 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recovered ==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아니오 → 결과 보고: 미달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메시지 흐름 ·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맡는지와 기다리는 동안 생기는 일을 그림에 담는다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레인: 참여자와 책임의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참여자를 나타내고 레인은 활동을 구분하며, 이 사례에서는 레인의 역할과 실제 수행 주체를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pic>
        <p:nvPicPr>
          <p:cNvPr id="6" name="삽화:풀과레인.svg" descr="illust_1893423154676414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3873" y="288040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3873" y="427500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3873" y="564596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2147" y="3731346"/>
            <a:ext cx="163642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2240" y="2478572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9601" y="5267766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948" y="2005827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참여자 하나의 영역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9423" y="4936845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역할 구분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사람, 에이전트, 시스템의 책임 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판단은 에이전트 레인에, 결정은 담당자 레인에, 실행과 기록은 시스템 레인에 놓여 설비 명령 앞에 사람의 승인이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· agent:cooling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 · role:operator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· sys:scada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· sys:cmms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흐름: 풀과 풀 사이의 주고받음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참여자가 둘이면 풀을 따로 그리고, 풀 사이의 주고받음은 점선의 메시지 흐름으로 그려 풀 안의 순서와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pic>
        <p:nvPicPr>
          <p:cNvPr id="6" name="삽화:메시지흐름.svg" descr="illust_474936546755955738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35745" y="247857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8607" y="247857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6721" y="522049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주문 접수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51" y="1852185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풀: 설비 운영 조직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5936" y="4605924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풀: 부품 공급사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2151" y="3707709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3904" y="3896807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61" y="3896807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회신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6721" y="2809494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이벤트와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작업이 끝나기를 기다리는 동안 생기는 일은 테두리에 붙인 경계 이벤트로 그리고, 기간의 경과는 타이머로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경계타이머.svg" descr="illust_506604071152416253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Interrupting · 실선 겹테두리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322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Non-interrupting · 점선 겹테두리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8384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끊긴 작업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3132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계속되는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7591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2338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작업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받는 자리의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작업에는 승인과 거절을 가르는 게이트웨이와, 응답이 늦을 때 알림 가지를 여는 비중단형 타이머가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승인자리.svg" descr="illust_23145761952243341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714945"/>
            <a:ext cx="152732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849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860" y="213583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050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1277" y="3754983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비중단형 · PT10M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32214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098" y="5598688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656" y="5598688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그림 위의 세 가지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승인·회복, 거절, 지연 알림의 경로를 구별하고 알림 뒤에도 남아 있는 승인 대기를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승인·회복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냉각 명령으로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유온 정상? 게이트웨이를 지난다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등록, 결과 보고: 정상을 거친다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명령으로 가는 선은 지나지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 타이머가 승인 지연 알림을 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승인은 열린 채로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병렬 게이트웨이와 하위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독립된 작업을 함께 진행할 때는 병렬 게이트웨이를, 내부 흐름을 묶어 볼 때는 하위 프로세스를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pic>
        <p:nvPicPr>
          <p:cNvPr id="6" name="삽화:병렬과하위.svg" descr="illust_34448407766518214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2313111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병렬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Parallel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322" y="2313111"/>
            <a:ext cx="458198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하위 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Sub-Process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339" y="4546831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합류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59601" y="332951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접힌 모양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9556" y="4416826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펼친 모양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진행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그림을 읽어 작업을 차례로 여는 실행 주체와, 처리 건이 지금 어디에 있는지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그림만으로는 일어나지 않는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 그림은 설계도여서, 그림대로 다음 작업을 열고 결과를 넘기고 진행 위치를 기억하는 실행 주체가 따로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작업 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제출이 끝나면 운전원에게 승인 작업을 놓는다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right-left" descr="arrows-right-lef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넘기기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승인의 결과를 게이트웨이에, 재관측의 판정을 다음 갈림에 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위치 기억하기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어디까지 왔는지를 잊지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엔진이 정의를 읽어 작업을 차례로 열며, 한 주체가 전체 순서를 이끄는 이 방식이 오케스트레이션이다.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프로세스의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HYD에서는 이 엔진이 정의의 조건에 따라 경보로 열린 처리 건의 진행을 관리한다.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사람, 에이전트, 시스템은 자기 작업만 하고 다음 차례는 엔진이 정한다.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오케스트라의 지휘자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연주자는 자기 악기만 맡고 들어올 차례는 지휘자가 알린다.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엔진은 작업의 결과를 받아 다음 작업에 넘기고 기록한다.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정의와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정의는 설계도 하나이고, 경보가 올 때마다 그 정의에서 프로세스 인스턴스가 하나씩 만들어져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정의와인스턴스.svg" descr="illust_807597096156421960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6565" y="1982190"/>
            <a:ext cx="392741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 · 설계도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3850" y="4653198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프로세스의 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9512" y="1627632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 · 실행되는 한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8607" y="2407660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4f93a9d0… 쿨러 사건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607" y="3792803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94a9231b… 거절로 끝남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417" y="5173218"/>
            <a:ext cx="414560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bede0d2e… 승인 대기 중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프로세스의 현재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토큰은 프로세스의 현재 위치를 나타내는 표식으로, 시작 이벤트에서 생겨 끝 이벤트에서 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흐름_토큰_승인대기.svg" descr="illust_182073993682860862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41322" y="1769455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Token · 프로세스의 현재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6588" y="3424062"/>
            <a:ext cx="87275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50550" y="3376787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대기: 토큰이 사용자 작업에 머문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대기는 멈춤이나 오류가 아니라, 토큰이 사용자 작업에 머물러 사람의 결정을 기다리는 정상적인 실행 상태이다.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"status": "RUNNING",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"current_activity_ids":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T_reobs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T_wo       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끝나지 않았으므로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열려 있는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있는 곳이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T_approve, 운전원 승인이다.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그림의 작업 하나가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건마다 단계 하나가 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토큰이 둘이 되는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비중단형 타이머의 알림 가지가 진행되는 동안 토큰이 둘이며, 알림이 끝나면 승인 대기만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흐름_토큰_둘.svg" descr="illust_318154085613851386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3948" y="4977028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0417" y="1769455"/>
            <a:ext cx="414560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처음의 토큰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7502" y="4842296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둘째 토큰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작업의 결과가 다음 작업으로 전해지는 길과, 에이전트 단계가 맡는 범위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변수(Process Variable)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변수는 인스턴스가 지니는 이름 붙은 값으로, 앞 작업의 출력이 뒤 작업의 입력과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만드는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결과와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게이트웨이가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chosen_skill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회복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정상? 게이트웨이가 읽는다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작업의 종류에 따라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작업의 종류에 따라 사람의 응답, 시스템의 처리 결과, 에이전트의 제출을 기다린 뒤 토큰을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 역할의 작업함에 놓인다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승인하거나 거절하면 끝난다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7594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Task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ettings" descr="setting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해당 시스템을 호출한다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결과와 완료 조건을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31368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3136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Service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진단 · 냉각 조치 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지정된 에이전트에게 맡겨진다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정해진 결과 제출·검사 뒤 진행한다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안에서 읽는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스킬이 안내하는 자료 확인과 추천 제출을 한 단계 안에 두고, 실제 호출 순서와 근거는 실행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패턴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식별자를 읽는다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값으로 원인을 가린다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(필요하면) 납기 오더와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로트를 읽는다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evaluate_cards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조치 넷을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기준으로 견준다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send" descr="sen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submit_decision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프로세스가 에이전트의 결과를 잇는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추천을 위한 조회는 에이전트 단계가 맡고, 이후에도 현재 조건과 효과를 확인하며 결과를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쿨러 핀 오염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팬 최대 운전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추천안(추천과 대안)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인터록 PASS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명령의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 ℃ 미만 · 경보 해제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위의 결과 전부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완화 · 경보 해제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결말과 판본, 결정의 기록을 읽는다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상태: 처리 건의 상태와 단계의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처리 건 상태와 단계 상태를 나눠 읽고, 완료·취소의 구체적인 사유는 결과와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열려 진행 중이다. 승인을 기다리는 동안에도 이 상태이다.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흐름이 끝나 처리 건의 실행이 완료됐다.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단계가 열려 있다, 끝났다, 아직 닿지 않았다.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사례에서는 선택되지 않은 갈래의 단계다.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거절된 처리 건의 냉각 명령이 이 상태로 남는다.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COMPLETED는 성공을 뜻하지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 처리 건도 상태는 COMPLETED이므로, 업무의 결과는 닿은 끝 이벤트와 결과 보고의 내용으로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E_end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정상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1건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회복에 미달해도 end_event는 E_end이고 결과 보고가 미달이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E_rejected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거절(기록의 값은 반려)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없음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등록은 CANCELLED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판본과 배포: 고친 프로세스가 적용되는 시점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프로세스는 새 판본으로 배포해야 다음 경보부터 적용되고, 열린 처리 건은 열릴 때의 판본으로 끝까지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저장한다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저장된 판본은 고치지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경보를 받을 판본을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cket" descr="rocke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오면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배포된 판본으로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고정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열린 처리 건은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판본을 유지한다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실행 조건은 재확인한다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기록(Audit Log)과 처리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안의 진행은 처리 기록에, 처리 건의 시작과 배포와 거부된 승인은 감사 기록에 남아 결정을 뒤에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APPROVAL_ACCEPTED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접수될 때. 승인한 역할과 판단 id가 담긴다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다음 단계로 전달될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RESULT_REPORT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보고가 나갈 때. 보고의 본문이 담긴다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INSTANCE_STARTED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열릴 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DEFINITION_DEPLOYED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판본이 배포될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DECISION_DENIED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역할이 아닌 쪽이 승인을 시도해 거부될 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간단한 승인 절차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절차 한 장의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요청의 승인 절차를 시작 · 작업 · 게이트웨이 · 끝 둘로 그려, 모든 갈래가 끝에 닿는 BPMN 파일을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 한 건을 받는 작은 업무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웹 BPMN 편집기에서 요소를 놓고 선으로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fork" descr="git-for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흐름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 → 담당자 확인 → 승인 여부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종료와 반려 종료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.bpmn 파일 하나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저장한 뒤 다시 열어도 같은 그림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게이트웨이의 두 갈래가 각각 끝 이벤트에 닿는다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끊긴 선과 이름 없는 갈래가 없다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긴급 대응 프로세스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 그림의 완성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경보에서 결과 보고까지를 세 레인에 나누어 그리고, 승인의 갈림과 끊지 않는 지연 알림을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첫 실습에서 익힐 편집기 조작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회차에 읽은 긴급 대응 프로세스의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범위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레인에 작업 배치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승인·거절, 회복·미달 분기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승인을 끊지 않는 지연 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대응 프로세스의 .bpmn 파일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실습에서 그대로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그림과 요소 · 갈림 · 타이머의 종류가 같다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갈래가 끝 이벤트에 닿는다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작성한 BPMN과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실행 흐름의 연결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그린 작업과 실행 기능의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그린 설비 대응 흐름을 포털의 기준 흐름 · 제공 매핑과 견주어, 그린 작업마다 대응하는 실행 기능을 표시한다.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그린 긴급 대응 BPMN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 등록된 기준 흐름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매핑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비교 대상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 · 에이전트 단계 ·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 · 설비 명령 ·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재관측의 연결을 찾는다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내가 그린 작업마다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대응하는 실행 기능을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표시한 대응표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대응표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파일과 실행 정의를 구분해 말한다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대응하지 않거나 다른 곳을 그대로 적는다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이벤트로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확인할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냉각 대응 시나리오 A로 처리 건 하나를 따라가고, 실제 정의 · 판본 · 결과를 내가 그린 작업과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준비된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대응 시나리오 A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실습의 대응표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운전원 승인 → 명령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→ 재관측 → 보고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처리와 온도 회복을 따로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작업지시와 정비 완료를 따로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건의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판본 · 단계 기록</a:t>
            </a:r>
          </a:p>
          <a:p>
            <a:pPr algn="l" eaLnBrk="0">
              <a:lnSpc>
                <a:spcPct val="110000"/>
              </a:lnSpc>
            </a:pPr>
            <a:r>
              <a:rPr sz="15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보류는 제공 사례와 구분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대기와 끝남을 단계의 상태로 구별해 말한다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내가 그린 BPMN에서 해당 작업을 찾아 실제 결과와 잇는다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쿨러 사건 한 건을 프로세스로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프로세스의 어느 개념인지 가려 읽으면, 헷갈리기 쉬운 짝이 서로 다른 일임이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프로세스의 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경보가 도착해 처리 건이 열렸다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정의에서 인스턴스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인스턴스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나왔지만 팬은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 하나가 끝났다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Task와 End-to-End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승인에서 기다린다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대기와 오류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 게이트웨이에서 승인 쪽으로 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변수를 읽는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판단과 갈림의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기한 안에 승인했다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타이머가 함께 거둬짐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늦었다면 알림 가지만 열림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알림과 종료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정상으로 끝났다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COMPLETED와 성공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분석 · 설계 · 실행 · 모니터링 · 개선으로 되풀이해 관리하는 방법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 그 작업이 진행 중일 때 생기는 일에 반응하는 이벤트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작업을 차례로 열고 결과를 넘기는 소프트웨어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실행되는 한 건, HYD의 처리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중인 프로세스가 지금 어디에 있는지를 나타내는 표식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인스턴스가 지니고 다니는 이름 붙은 값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승인 지연 알림이 나간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건의 상태가 RUNNING이고 열려 있는 단계가 운전원 승인이며, 승인 지연 알림은 이미 나갔다.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알림이 나갔으므로 처리 건은 거절로 닫혔다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지났으므로 냉각 명령이 자동으로 나갔다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열린 채로 남아 운전원의 결정을 기다린다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가지가 끝났으므로 처리 건도 완료되었다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설비 명령이 나갔는지를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건은 COMPLETED·E_rejected이며, 냉각 명령 단계는 선택되지 않아 CANCELLED로 기록됐다.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건에서 냉각 명령이 설비에 나갔는지를 판단한 것으로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이벤트가 E_rejected이고 냉각 명령 단계가 CANCELLED이므로 나가지 않았다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status가 COMPLETED이므로 명령이 나가 유온이 회복되었다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단계가 DONE이므로 추천대로 명령이 나갔다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기록으로는 알 수 없으므로 에이전트에게 다시 판단을 맡긴다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냉각 명령 작업을 여는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팬 최대 운전을 권하는 추천안을 제출했고, 처리 건은 운전원 승인에서 기다리고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승인과 필요한 실행 조건 검사를 거친 뒤 냉각 명령 작업을 여는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제출한 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 PLC에 전하는 SCADA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운전원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처리 건의 상태, 판단의 근거가 되는 기록, 작업을 여는 책임의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타이머는 비중단형이다. 알림 가지만 끝나고 승인 작업은 열린 채로 기다린다.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COMPLETED는 실행이 끝났다는 뜻이다. 결과는 끝 이벤트와 단계의 상태로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추천까지, 운전원은 승인까지 한다. 승인·실행 조건을 확인해 다음 작업을 여는 것은 엔진이다.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