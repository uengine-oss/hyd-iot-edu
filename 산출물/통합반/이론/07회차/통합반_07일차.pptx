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이번 회차에서는 에이전트가 낸 추천을 사람이 결정하는 자리, 그리고 요구사항이 바뀌어도 기존 기능을 지키는 방법을 배우겠습니다. 지금 에이전트는 꽤 많은 일을 합니다. 업무 지침을 읽고, 여러 도구를 불러서, 추천안까지 만들어 내죠. 그런데 그 추천, 바로 실행해도 될까요? 물음이 하나 더 있어요. 그 에이전트에 새 기능을 붙였을 때, 원래 되던 일이 여전히 되는지는 어떻게 알 수 있을까요? 이 두 물음에 차례로 답해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이번 회차의 학습목표부터 볼게요. 화면에 카드가 네 장 있죠. 첫 카드는 사람이 개입하는 자리예요. 자동으로 처리해도 되는 일과 사람이 결정해야 하는 일을 가르고, 사람이 언제 끼어드는지 설명할 수 있으면 됩니다. 둘째 카드는 권한과 결정 기록입니다. 누가 승인할 수 있는지를 역할과 등급으로 가리고, 승인하는 순간 무엇이 남는지 짚어 볼 거예요. 셋째 카드는 검토와 승인의 구분이고요. 자동 검사나 다른 AI의 검토가 사람의 승인과 어떻게 다른지 가립니다. 마지막 카드가 이번 회차 뒤쪽의 주제예요. 바뀐 요구를 명세로 옮기고, 고친 뒤에는 기존 요청과 새 요청을 함께 다시 실행해서 기존 기능이 지켜졌는지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회차는 화면에 보이는 여섯 단원 순서로 갑니다. 위의 두 단원은 사람이 결정하는 자리를 다뤄요. 첫 단원에서 사람이 끼어드는 지점을 찾고, 두 번째 단원에서 승인 권한과 AI의 검토를 가립니다. 두 번째 단원 옆에 이론 · 실습이라고 적혀 있죠? 그 뒤에 실습 세 개를 붙여서, 승인과 질문과 검토를 직접 다뤄 봅니다. 아래 네 단원은 요구사항이 바뀔 때의 이야기예요. 한 문장 요청이 무엇을 흔들 수 있는지 보고, 명세 주도 개발, 그리고 명세의 요소인 계약과 금지 조건, 수용 기준을 차례로 익힙니다. 마지막 단원에서 그 명세로 실제 변경을 확인하고, 실습 두 개로 직접 해 봅니다. 이번 시간에는 위의 두 단원을 다룹니다. 사람이 결정하는 자리와 승인 권한, AI의 검토를 보고, 이어지는 세 실습에서 무엇을 할지까지 정리하겠습니다.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단원부터 시작하죠. 주제는 사람이 결정하는 자리입니다. 쿨러 사건 기억나시죠? 에이전트가 원인을 가리고, 조치 후보를 비교해서 추천안을 냈습니다. 그런데 그 추천안이 올라온 다음에는 누가 무엇을 결정할까요? 아무도 결정하지 않으면 어떻게 될까요? 여기에 에이전트가 일하는 도중에 사람에게 묻거나 멈추는 때까지 넓혀서, 사람이 끼어드는 자리를 하나씩 찾아보겠습니다.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 왼쪽부터 볼게요. 에이전트가 있고, 그 옆에 겹쳐 놓은 카드가 추천안이에요. 추천 하나에, 그보다 점수가 낮은 대안이 셋 들어 있었죠. 이 추천안은 실행되지 않은 채로 담당자에게 올라갔습니다. 아래쪽 시간 축을 보세요. 칠해 둔 구간이 승인을 기다린 시간인데, 약 13초입니다. 그 구간이 끝나는 자리에서 운전원이 승인했어요. 담당자 옆에 적힌 승인 시각과, 오른쪽 설비 명령 옆에 적힌 시각을 견줘 보세요. 팬을 최대로 돌리는 설비 명령은 승인 직후에야 만들어졌습니다. 담당자 오른쪽에서는 길이 둘로 갈리죠. 위쪽이 실제로 일어난 승인이에요. 아래쪽은 같은 자리에서 거절했다면 갔을 길입니다. 에이전트는 원인을 가리고 후보를 견주느라, 승인을 기다린 시간보다 훨씬 오래 일했어요. 그런데 설비를 실제로 바꾼 출발점은 그 결과물이 아니었습니다. 그 뒤에 온 사람의 승인이었죠. 그렇다면 왜 굳이 이 자리에 사람이 있어야 할까요?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왼쪽은 값을 조회하고, 원인을 판단하고, 후보를 비교하고, 형식을 검사하는 일입니다. 오른쪽은 그 추천을 실제 조치로 넘길지 결정하는 자리예요. 둘을 가르는 까닭은 틀렸을 때 미치는 영향과 책임이 다르기 때문입니다. 조회나 계산을 다시 해 볼 수는 있어요. 하지만 틀린 조회 결과를 근거로 결정을 내리면 뒤의 조치도 잘못될 수 있습니다. 읽기 도구라도 정보가 노출될 수 있고, 실행 기록이나 비용은 남을 수 있죠. 자동 처리라는 말이 영향이 없다는 뜻은 아닙니다. 팬 속도를 바꾸거나 정비 작업을 지시하면 설비와 업무의 상태가 바뀝니다. 뒤늦게 명령을 취소해도 이미 지난 운전 시간이나 투입한 작업까지 없앨 수는 없어요. 그래서 HYD에서는 추천과 실행 사이에 담당자가 판단할 자리를 둡니다. HITL, Human-in-the-Loop는 자동화 과정에 사람의 확인이나 결정을 넣는 방식입니다. 사람의 참여는 승인뿐 아니라 빠진 정보를 답하거나 결과를 바로잡는 형태일 수도 있어요. 이 회차에서는 HYD의 승인과 질문, 멈춘 작업의 처리로 그 원리를 보겠습니다. 사람이 버튼을 누른다고 결정의 품질이 저절로 보장되지는 않습니다. 판단할 근거를 볼 수 있어야 하고, 다른 안을 선택하거나 거절할 권한과 시간도 있어야 해요. 자동화가 만든 결과를 사람이 검토할 수 있는 형태로 넘기는 것까지가 이 구조의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자리가 승인 하나뿐일까요? 아닙니다. 여기서는 HYD의 대표적인 세 지점을 보겠습니다. 그림 위쪽 띠는 처리의 구간으로, 왼쪽부터 에이전트 단계, 승인 단계, 시스템 실행 순서입니다. 그 아래 세 장면이 사람이 끼어드는 자리예요. 시간 순서대로 왼쪽부터 보겠습니다. 점선을 따라가 보면, 왼쪽 두 장면은 위쪽 띠의 에이전트 단계에 이어져 있죠. 에이전트가 일하는 동안에 생기는 자리예요. 맨 왼쪽은 에이전트의 질문입니다. 필요한 업무 정보가 빠졌을 때 에이전트가 묻고 기다리다가, 담당자가 답하면 이어서 처리해요. 가운데는 멈춘 작업 닫기입니다. 에이전트 작업이 한도를 넘기거나 실행이 실패해서 멈추면, 이건 저절로 끝나지 않아요. 그래서 담당자가 사유를 적고 닫습니다. 맨 오른쪽은 승인 단계에 이어져 있습니다. 추천안이 나온 뒤, 실행하기 전에 승인 역할의 담당자가 승인하거나 거절하는 자리죠. 앞에서 본 그 자리예요. 셋 가운데 무게가 가장 큰 게 승인 단계입니다. 현장을 바꾸는 명령으로 곧바로 이어지는 자리니까요. 그래서 승인부터 보고, 그다음에 질문, 마지막에 멈춘 작업 닫기 순서로 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들어가기 전에 말 하나만 정리할게요. 처리 건은 시작부터 종료까지 상태와 기록을 묶어 관리하는 업무 한 건입니다. 지금 보는 쿨러 사례에서는 경보 하나로 열렸어요. 승인과 거절이 이 처리 건에 무엇을 남기는지 화면에서 견줘 보죠. 왼쪽은 쿨러 사건의 실제 기록입니다. 승인 후 현재 조건 검사도 통과한 경우예요. 승인 직후에 팬 속도 명령이 나갔습니다. 다시 관측해 보니 유온이 회복 기준인 55도 아래로 내려와 있었어요. 그래서 경보가 해제됐고, 그다음에 핀 세척 작업지시가 등록됐습니다. 승인 하나에서 명령, 확인, 후속 작업이 차례로 이어진 거예요. 오른쪽은 거절입니다. 거절할 때는 사유를 꼭 적어야 해요. 사유가 비어 있으면 거절 자체가 받아들여지지 않습니다. 거절이 접수되면 설비 명령도, 업무 처리도, 메일도 하나도 만들어지지 않아요. 다만 거절 사유와 상태 변경도 기록이므로, 아무 기록도 쓰지 않는다는 뜻은 아닙니다. 여기서 0건이라는 것은 설비 명령과 후속 업무 실행, 발송을 말해요. 결과 보고에는 아래 따옴표 안의 문장처럼 남습니다. 담당자가 거절했고, 사유는 무엇이고, 설비 명령은 내지 않았다는 내용이죠. 이 처리 건과 사건은 반려로 닫힙니다. 그렇다고 물리적인 고장까지 해결된 것은 아니에요. 거절로 끝났다는 기록과 설비의 실제 상태는 구별해야 합니다. 거절이라고 해서 아무 일도 없었던 게 아니에요. 누가, 왜 실행하지 않기로 했는지가 기록으로 남는 결정입니다.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담당자가 승인도 거절도 안 하면 어떻게 될까요? 그림 위쪽의 시간 축을 따라가 볼게요. 맨 왼쪽에서 승인 요청이 올라왔는데, 아무도 답하지 않습니다. HYD의 이 흐름에는 지연 알림 기한이 10분으로 정해져 있어요. 수업 환경의 20배속에서는 실제 30초에 해당합니다. 업무상 설정값과 화면에서 기다리는 실제 시간을 구분해 주세요. 10분이 지나면 가운데 종 그림처럼 승인 지연 알림이 나갑니다. 문구는 이래요. 승인 대기 중, 승인하거나 거절할 때까지 기다립니다. 여기서 눈여겨볼 건 아래쪽 띠예요. 알림이 나간 뒤에도 띠가 끊기지 않죠? 승인 작업이 열린 채로 남아 있다는 뜻입니다. 시스템이 대신 승인하거나 거절하지 않아요. 몇 시간이 지나도 스스로 끝나지 않고요. 맨 오른쪽처럼 뒤늦게 들어온 승인도 접수할 수 있습니다. 다만 지금의 조건에서 그 조치를 실행할 수 있는지는 다시 확인합니다. 알림 뒤에 거절해도 그대로 받아들여지고요. 쿨러 사건은 약 13초 만에 승인돼서 이 알림이 나가지 않았어요. 기한이 지났다고 자동으로 승인된다면, 사람이 결정하는 자리를 둔 의미가 없겠죠. 알림은 재촉일 뿐이고, 결정은 여전히 사람의 몫입니다.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두 자리 가운데 먼저, 에이전트가 사람에게 묻는 실제 장면을 보죠. 화면 첫 칸을 보면, 요청에 조회할 대상 설비가 빠져 있었습니다. 후보 설비가 여럿이라서, 도구로 조회해 봐도 어느 설비를 말하는지 정할 수가 없었죠. 둘째 칸에서 에이전트는 설비를 짐작하지 않았어요. 설비를 잘못 고른 채 결과를 내면, 담당자는 엉뚱한 설비의 근거를 보고 결정하게 되니까요. 대신 조회할 대상 설비를 선택해 달라고 묻고, 멈췄습니다. 질문에는 두 번째 설비와 세 번째 설비라는 선택지도 붙였고요. 이 질문은 일을 끝낸 결과가 아니라, 결과 대신 내는 요청입니다. 셋째 칸에서 담당자가 두 번째 설비를 골랐습니다. 한 질문에는 한 번만 답할 수 있어요. 이미 답한 질문에 또 답하면 받아들여지지 않습니다. 넷째 칸이 중요합니다. 이 기록에서는 같은 대화의 문맥을 이어서 업무 DB를 조회했고, 선택한 두 번째 설비의 결과를 냈습니다. 프로그램의 실행 위치를 그대로 복원하는 방식과는 구별해야 해요. 시스템이 답을 넣어 에이전트를 다시 실행하는 것이므로, 지시만으로 중복 작업이 절대 없다고 보장할 수는 없습니다. 시스템이 에이전트에게 주는 지시도 그렇게 적혀 있어요. 응답을 반영해서 중단된 지점부터 계속하고, 이미 끝낸 작업은 다시 하지 말라고요. 다만 에이전트가 언제나 묻는 건 아닙니다. 묻는 조건이 정해져 있고, 같은 상황에서도 모델에 따라 묻지 않고 끝낸 기록이 있어요.</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무엇을 물어도 될까요? 모르는 거라고 뭐든 물어도 되는 건 아닙니다. 화면 왼쪽이 물어도 되는 것이에요. 대상 설비, 수량, 사유처럼 요청에서 빠진 업무 정보죠. 단, 조건이 하나 붙어요. 연결된 도구로 조회해도 확인할 수 없는 것이어야 합니다. 이렇게 받은 답은 그 빈칸을 채우는 입력이 되고요. 오른쪽은 질문으로 바꿀 수 없는 것입니다. 우선 도구로 읽을 수 있는 값은 묻지 않아요. 지금 유온이 몇 도인지는 사람에게 물을 게 아니라 도구로 조회할 값이죠. 그 아래 따옴표 두 줄은 에이전트에게 주는 작업 지시의 원문이에요. 질문을 도구 접근이 막혔을 때나, 설비 조치 승인을 피해 가는 데 쓰지 말라고 적혀 있습니다. 그리고 마지막 줄에서, 답변은 실행 권한을 바꾸지 않는다고 적혀 있어요. 이 문장은 에이전트에게 주는 지침이고, 실제 허용 여부는 서버의 권한 검사와 별도 승인 경로가 통제합니다. 허용되지 않은 도구를 쓰게 해 달라고 물어도, 사람이 괜찮다고 답해도, 권한은 그대로라는 뜻입니다. 그래서 담당자가 답에 진행해도 된다고 적었더라도 승인이 아니에요. 빈칸을 채운 답일 뿐이고, 승인은 승인 단계에서 따로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마지막 자리는 멈춘 작업을 닫는 일입니다. 화면의 네 단계를 왼쪽부터 따라가 볼게요. 첫째, 작업이 멈춥니다. 5회차에서 본 한도 기억나시죠? 한 번 실행에 쓸 수 있는 시간에 상한이 있었고, 결과 형식을 고치는 교정은 두 번까지였어요. 이 한도를 넘기거나 실행이 실패하면 정상 결과를 제출하지 못한 채 작업이 멈출 수 있습니다. 그전에 조회나 판단 제출 같은 일부 행동이 있었을 수도 있으므로, 결과 파일이 없다고 아무 행동도 없었다고 보지는 마세요. 그대로 두면 작업도, 처리 건도 끝나지 않아요. 둘째, 담당자가 처리 기록을 읽어요. 어디까지 진행했고 왜 멈췄는지 확인하는 거죠. 셋째, 사유를 적고 닫습니다. 닫은 사람과 사유가 기록에 남고, 그 작업은 취소로 표시돼요. 다만 닫을 수 있는 건 멈춘 작업뿐입니다. 사람이 할 작업이나 아직 진행 중인 작업은 닫히지 않아요. 넷째, 다른 열린 일이 없으면 처리 건이 끝나요. 이때는 사람이 닫았다는 표시와 함께 끝납니다. 닫기는 업무 상태를 정리하는 행위이고, 이미 실행된 일이 있다면 그것을 자동으로 되돌리는 행위는 아닙니다. 이 마지막 표시가 기록을 읽는 사람한테는 중요해요. 조치를 마쳐서 끝난 처리 건인지, 더 갈 수 없어서 사람이 닫은 처리 건인지가 구분돼야 나중에 거슬러 볼 수 있으니까요.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기다리는 장면이 여러 번 나왔죠. 승인을 기다리고, 답을 기다리고, 멈춘 작업도 있었고요. 이런 기다림을 흔히 보류라고 부릅니다. 그런데 이 시스템에는 사람이 누르는 보류 버튼이 따로 없어요. 대신 보류라고 부를 만한 상황이 세 가지 있고, 누가 미뤘느냐에 따라 할 일이 다릅니다. 표의 가운데 열, 누가 미뤘는지를 보세요. 첫째 줄은 응답 없음이에요. 담당자가 아직 결정하지 않은 경우라, 승인하거나 거절하면 됩니다. 둘째 줄은 에이전트의 보류입니다. 5회차에서 봤던, 근거가 모자라서 결과를 내지 않고 멈춘 경우예요. 값이 묵었거나 읽지 못했을 때죠. 이때는 빠진 근거와 멈춘 사유를 먼저 확인하고, 지원되는 재처리 경로로 새 값을 읽어 다시 판단하거나 작업을 닫습니다. 화면의 모든 대기 상태에 같은 재평가 버튼이 있다는 뜻은 아니에요. 셋째 줄은 앞에서 본 에이전트의 질문이에요. 필요한 업무 정보가 없어서 묻고 기다리는 거죠. 담당자는 답하면 되고요. 보류 중이라는 말을 들으면, 누가 왜 미뤘는지부터 확인해야 합니다. 그래야 승인할지, 재평가를 요청할지, 답할지가 정해지거든요. 이렇게 해서 처음 물음에 답이 나왔습니다. 추천안이 올라오면 승인 역할의 담당자가 승인하거나 거절하고, 아무도 결정하지 않으면 알림만 나간 채 기다려요. 여기에 일하는 도중의 질문과 멈춘 작업 닫기까지, 사람이 결정하는 세 자리를 모두 찾았습니다.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개입할 자리를 찾았으니, 이번에는 누가 그 자리에 설 수 있는지 보겠습니다. 승인 화면을 볼 수 있다는 것과 조치를 승인할 권한이 있다는 것은 다르죠. 조치마다 승인 역할을 어떻게 정하는지, 결정할 때 무엇을 남기는지 차례로 보겠습니다. 그 뒤에는 시스템의 자동 검사나 다른 AI의 검토를 사람의 승인과 구별해 볼 거예요.</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첫 카드에는 조치마다 필요한 승인 역할이 나옵니다. 팬 최대 운전은 운전원, 쿨러 핀 세척은 설비보전팀장입니다. 같은 사건에서 나온 후보라도 실제로 할 일이 다르니 승인 역할도 다를 수 있어요. 둘째 카드는 HYD가 역할에 붙인 등급입니다. 운전원은 1, 생산관리자와 설비보전팀장, 구매팀장과 품질팀장은 2, 공장장은 3입니다. 이 숫자는 HYD의 권한 정책을 표현하는 값이지, 모든 회사에 적용되는 표준 등급은 아닙니다. 셋째 카드에서 시스템이 확인하는 두 가지를 보세요. 먼저 승인하는 사람이 자신이 선택한 역할의 실제 구성원인지 확인합니다. 역할 이름을 직접 입력했다고 그 역할을 얻는 것은 아니에요. 다음으로 그 역할이 조치에 지정된 승인 역할과 같은지, 아니면 그보다 높은 등급인지 검사합니다. 같은 등급이면 무조건 대신 승인할 수 있다는 뜻도 아닙니다. 설비보전팀장에게 지정된 조치를 같은 등급의 생산관리자가 승인하는 것은, 지정된 역할도 아니고 더 높은 등급도 아니므로 이 규칙으로는 허용되지 않습니다. 반면 더 높은 등급의 역할을 가진 구성원은 승인 후보가 될 수 있죠. 실제 승인에는 조치가 현재 실행 가능한지 등 다른 검사도 통과해야 합니다. 마지막 카드의 회사 결재선은 이해를 돕는 비유입니다. 중요한 것은 사람 이름을 추천안에 적는 데서 끝내지 않고, 조직의 역할 정보와 조치의 요구 권한을 시스템이 대조한다는 점이에요. 거절 역시 이 판단을 결정할 수 있는 권한을 확인하고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있는 사람이 결정을 내렸다면 나중에도 그 결정을 확인할 수 있어야 합니다. 표는 쿨러 사건에서 남긴 결정 기록이에요. 이런 이력을 감사 기록, Audit Trail이라고 부릅니다. 누가 언제 무엇을 결정했는지 거슬러 확인하는 자료라는 뜻입니다. 첫 줄은 승인한 사람과 역할입니다. 이 값은 승인 요청을 검증한 시스템이 남깁니다. 에이전트가 결과에 누군가의 이름을 적는 것으로 채울 수 있는 승인 기록이 아니에요. 둘째 줄은 고른 안입니다. 나중에 추천안이 바뀌어도 당시 무엇을 승인했는지 알 수 있도록 사본을 남기고, 추천한 안을 그대로 골랐는지 다른 안을 골랐는지도 구별합니다. 승인 여부만 참으로 저장하면 무엇을 허락했는지는 알 수 없겠죠. 셋째 줄은 접수 시각과 기다린 시간입니다. 이 사례에서는 요청 뒤 약 13초에 승인이 들어왔습니다. 넷째 줄에는 그때 다시 확인한 값이 있어요. 유온은 약 62도였고, 원격 자동 모드에서 운전 중이었습니다. 추천을 계산한 순간의 값과 승인 시점의 값은 다를 수 있으므로 어느 시점의 근거인지 함께 남기는 겁니다. 다만 기록이 있다는 사실과 결정이 옳았다는 것은 별개입니다. 이 기록은 결정의 경위와 근거를 검토하게 해 줍니다. 값이 바뀐 지금도 그 조치를 실행해도 되는지는 다음 검사에서 확인해야 해요.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추천과 승인 사이에도 설비는 계속 움직입니다. 그래서 사람이 고른 안을 곧바로 명령으로 바꾸기 전에, HYD는 현재 조건을 다시 확인합니다. 화면의 네 칸을 순서대로 보죠. 첫째는 승인 요청을 받는 자리입니다. 담당자가 어떤 역할로 무엇을 골랐는지 받습니다. 둘째는 원천에서 현재 값을 다시 읽는 자리예요. 유온과 운전 모드, 필요한 업무 값을 확인합니다. 추천 때 본 자료를 그대로 다시 보여 주는 것과는 다릅니다. 셋째는 규칙을 다시 적용하는 단계입니다. 선택한 조치가 지금도 허용되는지, 필수 근거를 읽었는지, 승인할 때 보여 준 조치 내용이 바뀌지 않았는지 확인해요. 값이 조금만 달라도 모두 거절하는 것은 아닙니다. 변한 값이 규칙 판정이나 동의한 조치의 내용에 어떤 영향을 주는지가 중요합니다. 넷째는 넘기거나 멈추는 자리입니다. 조건을 통과하면 승인된 조치를 다음 실행 단계로 넘깁니다. 실행 가능 여부나 중요한 근거가 달라졌다면 명령을 내지 않고 다시 판단해 사람에게 검토받도록 합니다. 원천에 연결하지 못해서 확인할 수 없는 경우도 통과로 치지 않아요. 이 검사는 사람이 내린 결정을 대신하지 않습니다. 사람이 승인한 조건이 현재도 성립하는지 확인하는 역할이에요. 승인과 재확인을 통과했더라도 뒤의 명령 전달이나 실제 조치가 실패할 수 있으므로, 실행 결과와 재관측까지 따로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방금 본 검사는 사람이 안을 고른 뒤 실행에 넘기기 전의 검사였습니다. 사람에게 추천안을 올리기 전에도 자동 검사가 하나 더 있어요. 가드레일입니다. 가드레일은 시스템의 입력이나 출력, 행동이 정한 경계를 지키는지 확인하는 장치를 넓게 부르는 말입니다. 구현에 따라 규칙 검사나 모델 기반 검토 등을 쓸 수 있어요. 여기서 보는 HYD의 추천안 가드레일은 모델에게 다시 의견을 묻는 대신 코드에 정한 규칙을 검사합니다. 화면의 둘째 줄이 그 검사 항목입니다. 후보를 고른 규칙의 인용이 있는지, 참고용 절차가 실행할 안으로 섞이지 않았는지 봅니다. 추천한 조치가 제외 규칙에 걸리는지, 승인 역할과 SOP 단계가 갖춰졌는지도 확인합니다. 예를 들어 추천할 수 없는 참고 절차가 끼어 있다면 그 상태로 담당자에게 올리지 않는 거예요. 셋째 줄처럼 위반한 추천안은 제출을 거부합니다. 다만 검사 항목을 통과했다고 인용한 근거의 의미까지 모두 맞거나, 현실의 모든 위험이 없다고 증명된 것은 아닙니다. 자동 검사가 무엇을 확인하는지 알아야 통과의 의미도 정확히 읽을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그림에는 추천안이 실행으로 가기 전에 통과하는 두 자리가 있습니다. 하나는 가드레일, 다른 하나는 사람의 승인입니다. 아래에 따로 적힌 AI의 검토도 함께 구별해 볼게요. 가드레일 통과는 정해 둔 자동 검사에서 위반이 발견되지 않았다는 뜻입니다. 다른 에이전트가 초안을 검토해 문제없다고 말한 것은 그 검토가 내놓은 의견이에요. 확인한 근거와 빠뜨린 부분을 따로 읽어야 합니다. AI의 의견만으로 시스템의 제출 조건을 통과했다고 보거나 승인됐다고 처리하지 않습니다. HYD에서 실행을 허락하는 결정은 권한 있는 담당자의 승인입니다. 담당자는 추천 이유와 대안, 근거의 한계까지 보고 결정해야 해요. 둘 이상의 AI가 같은 의견을 냈어도 사람의 승인 항목이 자동으로 채워지는 것은 아닙니다. 그림은 제출 검사와 승인이라는 역할을 간단히 나눈 것입니다. 실제 실행에는 방금 본 현재 조건 재검사와 실행 단계의 확인도 붙습니다. 따라서 승인 기록은 필요한 결정 근거지만, 그것 하나로 모든 실행 조건이 갖춰졌다고 결론 내리지는 마세요. 이렇게 권한은 누가 결정할지를 정하고, 기록은 무엇을 결정했는지를 남기며, 자동 검사는 정해진 조건을 확인합니다. 이 셋을 나누어야 검토를 승인으로 잘못 읽지 않을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사람이 결정하는 세 자리와 승인할 수 있는 역할, 그리고 승인 앞뒤의 두 관문을 따라왔죠. 이제 그걸 직접 해 볼 차례입니다. 첫 실습에서 무엇을 하고, 무엇을 확인하면 되는지부터 정리해 볼게요. 화면 표의 첫 줄부터 볼게요. 처리 건과 내 작업함에서 승인을 기다리는 건을 열고, 올라온 추천안과 그 조치의 승인 역할을 먼저 확인하겠습니다. 그다음 권한이 있는 역할로 승인하거나, 사유를 적어서 거절합니다. 결정한 뒤에는 처리 기록을 열어, 흐름의 상태가 어떻게 바뀌었는지 읽어 보겠습니다. 셋째 줄에서는 지정된 역할도 아니고 더 높은 등급도 아닌, 권한 없는 역할로 결정을 시도합니다. 그 요청이 받아들여지지 않는지 확인하겠습니다. 성공 기준은 표의 오른쪽 열이에요. 대기 건의 승인 역할을 말할 수 있고, 결정에 따라 흐름의 상태가 어떻게 바뀌었는지 처리 기록에서 짚을 수 있으면 됩니다. 권한 없는 결정이 받아들여지지 않은 까닭은 앞에서 본 두 가지 검사로 설명하고요. 그리고 승인한 건과 거절한 건에서 명령과 작업지시가 생겼는지, 처리 건이 어떤 모양으로 끝났는지 그 차이를 설명할 수 있어야 해요. 이것이 첫 실습입니다. 이어지는 두 실습은 정보를 묻는 일과 AI끼리 검토하는 일을 나누어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실습은 사람에게 묻는 에이전트를 만드는 활동입니다. 첫 실습이 사람의 결정과 상태 변화를 보는 활동이라면, 이번에는 에이전트 쪽에서 정보의 빈칸을 다룹니다. 정보가 빠진 요청을 받으면 짐작하지 않고 확인 질문을 내는 에이전트예요. 이 활동에 사용할 기존 업무 요청 에이전트를 재사용해 자연어로 수정을 요청합니다. 여기서 바꾸는 것은 요청 처리 방식이며 온톨로지나 SOP를 다시 만드는 것이 아닙니다. 표의 첫 줄처럼 부품 수량이나 긴급 사유, 승인권자가 빠진 요청을 에이전트에 넣어 보겠습니다. 목표는 에이전트가 빠진 값을 짐작해서 채우지 않는 거예요. 대신 무엇이 왜 필요한지 묻는 질문을 내야 합니다. 답을 넣으면 같은 요청을 다시 판단하게 하고, 질문하기 전과 답변한 뒤의 상태를 기록으로 남기겠습니다. 온톨로지와 SOP는 새로 만들지 않고, 이미 있는 것을 그대로 씁니다. 성공 기준은 표의 오른쪽 열이에요. 다시 판단할 때 답한 값만 반영하고, 답에 승인 같은 말이 섞여도 그걸 승인으로 받아들이지 않으면 됩니다. 질문 전과 답변 뒤의 상태 변화는 기록으로 대조할 수 있어야 하고요. 승인권자에 대한 정보를 답으로 받아도 실제 권한은 역할 정보와 대조해야 합니다. 답에 이름을 적었다는 이유로 권한을 만들어 주면 안 되겠죠.</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실습은 에이전트 둘이 제안과 검토를 나눠 맡는 활동입니다. 방금 안내한 확인 질문은 사람에게 부족한 정보를 받는 것이고, 여기서는 작성한 초안을 다른 역할이 다시 살펴봅니다. 작성 역할의 에이전트가 업무 요청의 초안을 만듭니다. 검토 역할의 에이전트는 작성 역할과 따로, 근거와 수량과 승인 정보가 빠지지 않았는지 검토해서 의견을 내요. 그 의견에 따라 초안을 고치면 수정본이 됩니다. 이 실습의 요점은 위쪽 흐름 아래에 따로 둔 승인 항목이에요. AI끼리 검토한 결과와, 사람이 최종 승인했는지는 서로 다른 항목에 남겨야 합니다. 왜일까요? 검토가 통과했다는 표시가 승인처럼 읽히면, 앞에서 가른 두 관문이 한 칸에 섞여 버리거든요. 성공 기준은 세 가지예요. 검토 의견이 실제로 빠진 것을 짚었는지, 그 의견이 수정본에 반영됐는지, 그리고 검토 결과와 사람의 승인 여부가 따로 남아 검토가 승인으로 읽히지 않는지입니다. 서로 다른 역할이라고 오류까지 독립적이라는 보장은 없습니다. 같은 자료의 오류를 함께 놓칠 수도 있으니 검토 의견을 원래 근거와 대조하겠습니다. 세 실습의 목표를 모두 살펴봤습니다. 이제 승인과 질문, 제안과 검토를 안내한 순서로 직접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시간에는 요구사항이 바뀌어도 기존 기능을 지키는 방법을, 목차의 아래 네 단원으로 다룹니다. 앞의 세 실습에서 남긴 승인 기록과 질문 전후 상태, 검토 의견을 떠올려 보세요. 이렇게 기능을 더할 때마다 이번 회차 처음의 두 번째 물음이 따라옵니다. 원래 되던 일은 여전히 될까요? 세 번째 단원, 요구사항 변경과 바이브 코딩은 여기서 출발해요. 쿨러 사건의 에이전트는 지금 잘 동작하고, 그 결과를 사람이 승인하는 자리도 정해져 있습니다. 여기에 새 요구가 딱 한 문장 붙으면, 무엇이 흔들릴 수 있을까요? 요청을 그대로 AI에게 맡기는 방식과, 그 방식이 남기는 빈자리를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요구가 하나 들어왔다고 해 볼게요. 화면 가운데 문장입니다. 긴급한 경보는 빨리 처리되게 해 달라는 거죠. 지금 에이전트는 경보를 받고, 원인을 가리고, 추천안을 내고, 승인을 기다립니다. 이 흐름의 어디를 바꾸라는 걸까요? 뜻은 알 것 같죠. 그런데 막상 구현하려고 보면 정해지지 않은 게 세 가지 있어요. 아래 세 칸입니다. 칸마다 물음표 아이콘이 붙어 있죠. 이 문장에 적혀 있지 않은 것이라는 표시예요. 첫째, 긴급의 기준이 없습니다. 어떤 경보가 긴급한지 정해지지 않았어요. 같은 말을 들어도 사람마다 떠올리는 경보가 다를 수 있죠. 둘째, 빨라지는 방법이 맡겨져 있어요. 무엇을 바꿔서 빠르게 할지는 받는 쪽이 정해야 합니다. 셋째, 그대로 둘 것이 빠져 있어요. 건드리면 안 되는 것에 대해서는 아무 말이 없습니다. 셋 가운데 가장 무거운 건 셋째예요. 요청한 사람한테는 너무 당연해서 안 적은 거거든요. 승인 없이 설비를 움직이면 안 된다는 것까지 굳이 말하지는 않잖아요. 이번 회차 앞에서 본 것들, 승인 역할을 가리는 검사나 거절하면 명령이 나가지 않는 동작도 모두 이 그대로 둘 것에 들어갑니다. 하지만 받는 쪽은 그 당연한 것까지 구현할 수 있는 형태로 풀어야 합니다. 그럼 이 문장을 그대로 AI에게 주면 어떻게 될까요?</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자연어로 원하는 것을 말하고 AI가 만든 코드를 실행해 보며 고쳐 가는 방식을 바이브 코딩이라고 부릅니다. 이 말은 쓰이는 범위가 넓습니다. 여기서는 상세한 명세와 체계적인 코드 검토 없이, 실행 결과를 보며 요청을 이어 가는 경우를 살펴볼게요. AI에게 자연어로 부탁하는 모든 개발이 이런 방식이라는 뜻은 아닙니다. 첫 줄처럼 빠르게 시도하고 결과를 볼 수 있다는 장점이 있습니다. 다만 작은 시제품이어도 입력 정보나 외부 연결에 따라 영향이 달라지므로, 작다는 이유만으로 검증이 불필요해지는 것은 아니에요. 둘째 줄은 요청에서 빠진 부분입니다. 출력 형식, 예외 처리, 기존 동작의 유지 조건을 적지 않으면 AI가 문맥과 코드로 추정해 채울 수 있어요. 질문으로 확인할 수도 있지만, 반드시 그렇게 한다고 기대할 수는 없습니다. 셋째 줄의 기존 시스템에서는 이 추정이 특히 문제가 됩니다. 결과를 읽는 다른 프로그램과 지켜야 할 승인 규칙이 이미 있기 때문이에요. 한 번 실행해 원하는 표시가 나왔다는 것만으로 그 약속까지 지켰다고 볼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한 문장을 구현하려고 보면 해석이 갈립니다. 왼쪽 말풍선이 변경 요청이고요, 여기서 오른쪽으로 세 갈래가 나와요. 갈래 끝마다 그림이 하나씩 있으니, 그림과 같이 보세요. 위쪽은 출력 형식입니다. 끝에 있는 결과 문서를 보면 줄 하나가 달라져 있죠. 결과에 긴급하다는 표시만 더할 수도 있어요. 그러면서 기존 항목의 이름이나 뜻까지 바꿀 수도 있고요. 가운데는 승인 조건이에요. 그림도 사람을 건너뛰어 가는 길로 그려져 있습니다. 빨리 처리하라는 말을, 승인을 기다리지 말라는 뜻으로 읽을 수 있거든요. 승인하는 역할을 낮추라는 뜻으로 읽을 수도 있고요. 그러면 앞에서 본 등급의 경계가 무너집니다. 설비를 멈추고 하는 핀 세척을, 급하다는 이유로 운전원이 승인하게 되는 거죠. 아래쪽은 기존 요청의 처리입니다. 이전 문서와 달라진 문서가 그려져 있어요. 긴급하지 않은 경보는 이전과 같은 결과를 내야 하죠. 그런데 고치는 김에 그 결과까지 달라질 수 있어요. 이 셋은 실제로 일어난 일이 아니라, 일어날 수 있는 해석입니다. 문제는 셋 다 터무니없는 해석이 아니라는 거예요. 요청 문장만으로는 어느 쪽이 맞는지 정할 수가 없습니다. 특히 가운데를 보세요. 앞에서 공들여 본 승인이라는 관문을, 구현을 잘못 바꾸면 훼손할 수 있는 자리예요. 기존 HYD는 승인 없는 실행 경로를 등록 단계에서도 검사하므로, 모호한 요청 하나만으로 실제 승인이 곧바로 우회된다는 뜻은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갈래 가운데 하나만 끝까지 따라가 볼게요. 출력 형식이 흔들리면 무슨 일이 생길까요? 에이전트가 낸 결과는 혼자 쓰이지 않습니다. 화면의 파이프라인처럼, 뒤에서 여러 곳이 읽어요. 첫 칸은 결과 객체입니다. 5회차에서 본 추천안의 다섯 항목이죠. 둘째 칸은 형식 검사예요. 정해진 이름의 항목이 다 있는지 봅니다. 없으면 에이전트한테 형식을 고쳐서 다시 내라고 돌려보내요. 셋째 칸은 사건 기록입니다. 결과 가운데 진단 가이드 카드를 사건에 싣죠. 이 카드는 나중에 승인할 수 있는 조치의 범위가 됩니다. 카드가 없으면 사건이 설비 명령의 승인을 받지 않아요. 넷째 칸은 승인 화면이에요. 판단 번호가 든 항목을 이름으로 찾아서, 그 번호로 추천안을 불러와 담당자에게 보여 줍니다. 세 곳 모두 항목을 이름으로 읽습니다. 프로그램은 정해진 이름 그대로만 찾아요. 한 글자만 달라도 없는 항목이 되는 거죠. 긴급 표시를 넣다가 이 이름 가운데 하나를 바꿨다고 해 보죠. 고친 사람 눈에는 이름 하나 다듬은 것뿐입니다. 사건 기록과 승인 화면은 에이전트 바깥, 시스템 쪽에 있어서, 에이전트의 코드만 들여다봐서는 누가 이 이름을 읽는지가 보이지 않거든요. 그 항목을 사용하는 단계는 기대한 값을 찾지 못할 수 있어요. 형식 검사에서 먼저 막히면 뒤 단계에 도달하지 않을 수도 있고요. 그렇다면 이런 일은 고친 뒤에 돌려 보면 알 수 있지 않을까요?</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물론 고친 뒤에 돌려 보기는 하죠. 그리고 모호한 요청으로 고쳤다고 결과가 꼭 틀리는 것도 아닙니다. 문제는 무엇을 돌려 보느냐예요. 왼쪽이 실행해 본 것입니다. 긴급한 경보 한 건을 넣었더니 추천안이 나오고, 긴급하다는 표시도 보여요. 요청한 기능은 된 것 같죠. 고친 사람은 대개 여기서 끝났다고 봅니다. 오른쪽 칸은 아이콘의 눈에 빗금이 그어져 있죠. 실행해 보지 않은 것이에요. 긴급하지 않은 경보의 결과 항목이 이전과 같은지, 추천안이 여전히 승인을 기다리는지, 하지 않기로 한 일을 여전히 하지 않는지요. 앞에서 본 세 갈래와 그대로 겹치죠. 왼쪽은 요청 문장에 적혀 있었어요. 오른쪽은 적혀 있지 않았고요. 무엇이 그대로여야 하는지 적어 둔 곳이 없으니, 실행해 볼 생각조차 못 하는 겁니다. 새 기능이 된다는 것과 기존 기능이 그대로라는 것, 이 둘은 따로 확인해야 하는 일이에요.</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무엇이 그대로여야 하는지는 언제, 어디에 적어 둬야 할까요? 네 번째 단원, 명세 주도 개발이 여기에 답합니다. 고친 다음이 아니라, 고치기 전에 문서로 정해 두는 거예요. 그 방식이 무엇인지에서 출발해서, 바이브 코딩과 무엇이 다른지, 그 문서에 무엇을 적는지까지 짚어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SDD, Spec-Driven Development는 요구사항, 입력과 출력의 계약, 금지 조건, 수용 기준을 구현하기 전에 명세로 정하는 개발 방식입니다. 우리말로는 명세 주도 개발이라고 해요. 이름 그대로 명세가 개발을 이끈다는 뜻이죠. 구현할 때도, 다 됐는지 확인할 때도 이 명세가 기준입니다. 정의 안에 낯선 말이 몇 들어 있죠. 계약, 금지 조건, 수용 기준은 뒤에서 하나씩 풀어 볼 거예요. 둘째 줄이 명세예요. 만들 것이 무엇을 받아서, 무엇을 내고, 무엇을 하지 않는지를 적은 문서입니다. 여기서 중요한 건, 사람과 AI가 같은 문서를 본다는 점이에요. 사람은 이 문서로 무엇이 맞는지 판단하고, AI는 이 문서를 받아서 구현합니다. 셋째 줄은 그 문서를 두는 곳이에요. 프로젝트 안에 spec.md 같은 파일로 두고 코드와 함께 변경을 관리할 수 있습니다. 파일 이름이나 다섯 항목의 틀이 모든 SDD 도구에 공통인 의무는 아니에요. 이 수업에서 쓸 명세의 구성입니다. 이번 회차 마지막 실습에서 여러분이 고칠 파일도 이 이름이에요.</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바이브 코딩과 SDD, 뭐가 다를까요? AI를 쓰느냐 마느냐가 아닙니다. 순서예요. 두 칸의 꼬리표를 보세요. 왼쪽은 요청에서 바로 코드로 가고, 오른쪽은 요청에서 명세를 거쳐 코드로 갑니다. 왼쪽은 명세를 남기지 않고 요청 한 문장으로 바로 구현하는 경우예요. 해석은 AI가 그때그때 정하고요. 실행해 보고 마음에 안 들면 다시 요청하는데, 요청할 때마다 해석이 또 달라질 수 있습니다. 기존 기능을 지킬 조건을 기록하지 않았다면, 다음 변경 때 다시 확인하기가 어렵습니다. SDD에서는 요청을 받으면 명세부터 고칩니다. 코드를 고쳐 놓고 문서를 나중에 맞추는 게 아니에요. AI가 명세 초안을 도울 수도 있지만, 무엇을 만들고 지킬지는 사람이 검토해 확정합니다. 구현과 검증은 그 명세를 기준으로 진행하죠. 그래서 달라지는 것과 지킬 것이 문서로 남습니다. 구현은 두 방식 모두 AI에게 맡길 수 있어요. 순서가 바뀌면서 달라지는 건 두 가지입니다. 해석을 누가 정하느냐, 그리고 그 해석이 남느냐예요.</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명세에는 무엇을 적을까요? 다섯 가지입니다. 왼쪽 그림이 명세 문서 한 쪽이에요. 다섯 구획으로 칠해 뒀고, 오른쪽에 구획마다 이름을 달아 놨습니다. 맨 위는 요구사항이에요. 무엇을 하는지, 이번에 무엇이 달라지는지 적습니다. 그 아래 둘은 계약입니다. 입력 계약은 어떤 입력을 어떤 형식으로 받는지, 출력 계약은 어떤 항목을 어떤 형식으로 내는지 정해요. 넷째는 금지 조건이에요. 어떤 요구가 더해져도 하지 않을 일입니다. 다섯째는 수용 기준이고요. 무엇이 확인되면 다 된 것으로 볼지를 적습니다. 이름은 딱딱해 보여도 묻는 건 단순해요. 무엇을 하나, 무엇을 받나, 무엇을 내나, 무엇을 안 하나, 언제 끝났다고 보나. 그럼 앞의 그 한 문장, 긴급한 경보를 빨리 처리해 달라는 요청에는 이 가운데 무엇이 들어 있었을까요? 요구사항의 일부뿐이었습니다. 앞에서 가장 무겁다고 한 빈칸, 그대로 둘 것은 입력·출력 계약에도 적고, 아래쪽 금지 조건과 수용 기준에서도 확인할 내용이에요. 오른쪽 이름에서도 금지 조건과 수용 기준을 굵게 강조해 뒀죠.</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단원은 계약과 금지 조건, 수용 기준입니다. 한 문장의 요청에 빠져 있던 나머지 넷은 어디서 찾을 수 있을까요? 사실 쿨러 사건의 시스템에서는 이미 여러 장치가 그 일을 하고 있어요. 명세 파일 하나로 모여 있지 않을 뿐이죠. 받는 입력과 내는 출력, 하지 않을 일, 다 되었는지를 가르는 조건 순서로 하나씩 찾아가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계약이라는 말부터 풀어 볼게요. 계약, Contract는 데이터를 주는 쪽과 받는 쪽이 지키기로 한 항목과 형식, 뜻과 처리 조건입니다. 그림을 보면 에이전트가 가운데 있습니다. 받기도 하고 내보내기도 하니까, 계약이 둘이에요. 왼쪽이 입력 계약입니다. 처리 건이 에이전트에게 무엇을 주는지 정하죠. 위에 적힌 것처럼 설비, 경보, 사건 번호가 들어와요. 오른쪽이 출력 계약이에요. 에이전트가 무엇을 내는지 정하고, 승인 화면과 뒤 단계가 그걸 읽습니다. 원인, 추천, 판단 번호가 나가죠. 아래 받침선은 두 계약을 묶어 계약이라고 이름 붙인 자리예요. 화면 위 메시지처럼, 기존 계약을 깨는 변경을 한쪽에만 적용하면 다른 쪽이 읽거나 처리하지 못할 수 있습니다. 앞에서 본 이름 바꾸기가 바로 이 얘기예요. 그래서 계약은 에이전트 혼자 지키는 게 아닙니다. 양쪽이 함께 지키는 거예요. 거꾸로 보면 계약은 자유도 줍니다. 외부에 약속한 항목의 이름과 형식, 뜻과 동작을 유지하면 안쪽의 도구나 구현 방식을 바꿀 여지가 생깁니다. 다만 호출 순서를 바꿔 중복 실행이 생기거나 권한과 응답 조건이 달라지면, 겉모양이 같아도 같은 계약을 지켰다고 할 수 없어요. 무엇을 고쳐도 되고 무엇은 함부로 고치면 안 되는지, 그 경계를 계약이 그어 줍니다.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입력 계약이 실제로 어떻게 생겼는지 볼게요. 쿨러 성능 저하 시나리오의 다른 실행에서 에이전트가 받은 입력입니다. 앞에서 본 승인 시각의 기록과 같은 한 건으로 합쳐 읽지 마세요. 왼쪽 코드를 보면 항목이 셋이에요. 첫째는 대상 설비입니다. 유압 설비 HYD-01이죠. 둘째는 경보예요. 안에 경보 번호와 경보의 유형이 들어 있습니다. 유형은 쿨러 성능 저하고요. 번호의 뒷자리와 그 아래 다른 항목은 화면에서 줄여 뒀어요. 셋째는 이 경보가 속한 사건의 번호입니다. 오른쪽 넷째 짚을 점을 보세요. 유온이나 냉각 효율 같은 값은 입력에 없습니다. 왜일까요? 이런 값은 계속 변하니까, 에이전트가 판단하는 순간에 도구로 직접 읽거든요. 경보 때의 유온을 입력에 담는 설계도 가능하지만, 그 값을 쓰려면 관측 시각과 최신성 조건을 함께 정해야 합니다. 오래된 값을 현재 값처럼 쓰면 문제가 되겠죠. 앞에서 승인할 때 값을 다시 읽었던 것과 같은 까닭이죠. 이 HYD 입력 예는 주로 무엇에 대해 일할지 정하고, 변하는 값은 별도로 조회하는 선택을 한 것입니다. 모든 입력 계약이 값 자체를 제외해야 하는 것은 아니에요.</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이번엔 출력 계약입니다. 다섯 항목마다 세 가지를 정해요. 이름, 형식, 그리고 뜻입니다. 표의 세 열이 바로 그거예요. 첫째와 둘째 줄은 원인과 고장 유형입니다. 형식은 지식 그래프의 식별자예요. 이 기록에서는 쿨러 핀 오염과 쿨러 냉각 성능 상실을 가리키는 식별자가 들어갔습니다. 셋째 줄은 진단 결과의 가이드 카드예요. 앞에서 본 것처럼, 사건 기록에 실려서 승인할 수 있는 조치의 범위가 됩니다. 넷째 줄이 판단이에요. 강조해 둔 줄이죠. 안에 1순위로 추천하는 조치, 그 이유를 적은 설명, 후보의 순서가 들어 있습니다. 이 기록의 추천은 팬 최대 운전이었어요. 다섯째 줄은 판단을 제출하고 돌려받은 번호입니다. 승인 화면이 이 번호로 추천안을 찾죠. 이렇게 적어 두면 변경을 두 가지로 가를 수 있어요. 긴급 여부를 새 항목으로 더하는 건 계약을 넓히는 변경입니다. 기존 소비자가 추가 항목을 허용하고 기존 항목의 의미와 동작이 유지된다면 호환될 수 있어요. 알 수 없는 항목을 거부하는 검사나 고정된 결과 비교가 있다면 추가만 해도 실패할 수 있으므로 실제 소비자와 함께 확인해야 합니다. 반대로 추천 항목의 이름이나 뜻을 바꾸는 건 계약을 깨는 변경이에요. 이름이 바뀌면 읽던 쪽이 더는 못 읽습니다. 이렇게 읽던 쪽을 깨뜨리는 변경을 업계에서는 Breaking Change라고 부릅니다. 그 둘을 가르는 기준이, 이 표에 적힌 이름과 형식과 뜻이에요. 그럼 이름은 그대로 두고 뜻만 바꾸면 어떻게 될까요? 추천이라는 이름은 둔 채, 그 안에 1순위 조치 대신 가장 빨리 끝나는 조치를 넣기로 했다고 해 보죠. 빨리 처리하라는 말을 그렇게 읽을 수도 있으니까요. 승인 화면은 아무 문제없이 읽어서, 그 조치를 1순위처럼 담당자에게 보여 줍니다. 이름이 바뀌면 어디선가 멈추기라도 하는데, 뜻이 바뀌어도 형식 검사에서는 드러나지 않을 수 있어요. 의미와 기대 행동을 확인하는 검사가 필요한 이유입니다. 표에 셋째 열, 뜻을 따로 적어 두는 까닭입니다. 그래야 이런 변경도 계약을 깬 것으로 가려낼 수 있어요.</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계약 다음은 하지 않을 일입니다. 쿨러 사건의 에이전트가 읽는 작업 규칙에는 절대 금지라는 절이 따로 있어요. 왼쪽이 그 원문입니다. 세 줄을 차례로 볼게요. 첫째 줄은 설비 명령, 업무 시스템의 조치 실행, 그리고 사람 대신 승인하는 일을 금지합니다. 사람이 승인하기 전에는 어떤 조치도 실행하지 않는다고 덧붙어 있죠. 첫 단원에서 본 그 경계를, 에이전트가 읽는 글에도 적어 둔 거예요. 둘째 줄은 온톨로지의 스키마와 규칙, 스킬을 고치지 못하게 해요. 지식 그래프는 조회 도구로 읽기만 합니다. 이 줄의 까닭은 가드레일을 떠올리면 보여요. 가드레일이 대어 보던 제외 규칙도, 조치마다 붙은 승인 역할도 모두 이 지식 그래프에 들어 있었죠. 에이전트가 그걸 고칠 수 있다면, 자기를 검사할 기준을 자기가 바꾸는 셈이 됩니다. 셋째 줄은 판단 제출 도구에 관한 거예요. 6회차 도구 목록에서 본 그 도구죠. 이 도구는 고를 안을 올리는 일만 허용하고, 설비나 업무 조치의 승인이나 실행이 아니라고 못 박습니다. 이름에 제출이 들어 있으니까, 실행으로 오해하지 않게 적어 둔 거예요. 이런 글은 업무 지침이고, 실제 금지는 허용 도구 목록과 서버 권한, 승인 경로의 검사로 뒷받침해야 합니다. 눈여겨볼 건, 이 절이 원인을 가리고 조치를 견주는 업무 절차와 따로 적혀 있다는 점입니다. 절차는 해야 할 일이고, 이 절은 하지 않을 일이에요. 왜 굳이 따로 적었을까요?</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따로 적는 까닭은, 요구사항과 금지 조건이 시간이 지나면서 바뀌는 방식이 다르기 때문이에요. 왼쪽 요구사항에는 해야 할 일을 적습니다. 변경 요청이 올 때마다 줄이 늘어나요. 원인을 가리고 조치 후보를 견주어 추천안을 낸다는 원래 줄이 있고, 여기에 긴급한 경보에는 긴급 여부를 함께 낸다는 줄이 새로 붙죠. 오른쪽 금지 조건에는 어떤 요구가 더해져도 하지 않을 일을 적어요. 이번 기능 추가에서는 그대로 유지해야 할 조건입니다. 정책 자체를 바꿀 필요가 있다면 별도의 책임 있는 검토와 승인을 거쳐 바꾸는 것이지, 기능 추가에 묻어서 없애지 않습니다. 예로 적힌 줄을 보세요. 사람이 승인하기 전에는 어떤 조치도 실행하지 않는다. 방금 본 그 문장이죠. 둘을 섞어 적으면, 어느 줄은 늘려도 되고 어느 줄은 지켜야 하는지 가리기 어려워요. 따로 적어 두면 이렇게 작동합니다. 긴급한 경보를 빨리 처리하라는 요구가 와도, 명세에는 승인 전에는 어떤 조치도 실행하지 않는다고 적혀 있죠. 그러면 승인 생략이라는 해석이 명세에 어긋난다고 가릴 수 있습니다. 실제 구현이 그 금지를 지켰는지는 실행되는 검사로 확인해야 해요. 다음에 다른 요구가 붙어도 마찬가지예요. 요구사항의 줄은 그 요구 하나에만 쓰이지만, 금지 조건 한 줄은 앞으로 붙을 모든 요구에 똑같이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수용 기준입니다. 수용 기준, Acceptance Criteria는 구현이 요구를 채웠다고 받아들이는 조건이에요. 쉽게 말하면, 무엇을 보고 다 됐다고 말할 거냐는 문제입니다. 첫째 줄의 둘째 문장이 핵심이에요. 실행해 보고 참인지 거짓인지 가를 수 있는 문장으로 적어야 합니다. 기준이 없으면 어떻게 될까요? 만든 사람이 된 것 같다고 하면 끝이죠. 기준이 있으면 다릅니다. 적어 둔 문장이 하나하나 참으로 나와야 끝이에요. 둘째 줄은 무엇을 적느냐입니다. 어떤 상황에서 어떤 결과가 나와야 하는지를, 한 문장에 하나씩 적어요. 셋째 줄은 언제 쓰이느냐예요. 구현하기 전에는 무엇을 만들지의 기준이 되고, 구현한 뒤에는 다 됐는지 확인하는 항목이 됩니다. 같은 문장이 두 번 일하는 거죠. 그래서 수용 기준은 구현한 뒤가 아니라 구현하기 전에 적습니다. 구현한 뒤에 적으면 이미 나온 결과에 기준을 맞추게 되거든요. 그렇게 되면 잘못 나온 결과도 정답으로 인정할 위험이 생깁니다. 이미 구현한 뒤라도 원래 요구와 근거를 바탕으로 기준을 세울 수 있지만, 현재 결과를 그대로 정답으로 옮겨 적어서는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참과 거짓으로 가를 수 있게 적는다는 게, 생각보다 까다로워요. 양쪽 문장을 나란히 놓고 보죠. 왼쪽부터요. 거절이 잘 처리된다. 긴급한 경보가 빨리 처리된다. 그럴듯하죠? 그런데 잘은 어느 정도이고, 빨리는 얼마일까요? 이 문장에는 판정할 기준이 없습니다. 그래서 실행한 사람마다 판정이 달라져요. 어떤 사람은 잘 됐다고 하고, 어떤 사람은 아니라고 하겠죠. 오른쪽은 다릅니다. 거절하면 설비 명령이 0건이다. 실행한 뒤에 명령 수를 세면 돼요. 0이면 참, 하나라도 있으면 거짓이죠. 긴급한 경보의 추천안도 승인 대기 상태가 된다. 이건 처리 건의 상태를 대조하면 됩니다. 같은 입력과 조건에서 같은 항목을 확인하면 판정을 일관되게 할 수 있어요. 오른쪽 문장에는 숫자나 상태의 이름처럼, 세거나 견줄 대상이 들어 있죠. 수용 기준을 쓰고 나면 스스로 물어보세요. 무엇을 세면 되지? 무엇을 무엇과 견주면 되지? 답이 안 나오면, 상황과 기대 결과를 적은 문장으로 다시 쓰면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거절하면 설비 명령이 0건이라는 문장, 어디서 본 것 같지 않나요? 첫 단원에서 승인 단계를 다룰 때 이미 봤습니다. 그 승인 단계의 동작은 우연히 그렇게 된 게 아니에요. 상황마다 확인되어야 하는 결과가 정해져 있고, 저장소에는 준비한 입력과 실행 대역으로 이 결과를 확인하는 자동 시험이 있습니다. 오늘 학생 계정의 실제 실행을 새로 확인했다는 뜻은 아닙니다. 표의 다섯 줄이 바로 그거예요. 첫 줄, 이 시험의 실행 조건에서 권한 있는 담당자가 승인하면 승인한 사람과 역할이 기록되고, 처리 건이 끝까지 처리됩니다. 둘째 줄은 강조해 둔 줄이죠. 사유를 적고 거절하면 설비 명령과 업무 처리가 0건이고, 처리 건은 반려로 닫혀요. 셋째 줄, 사유 없이 거절하거나 권한 없는 역할로 거절하면, 그 요청 자체가 받아들여지지 않습니다. 넷째 줄, 응답이 없으면 지연 알림만 나가고 처리 건은 계속 기다려요. 다섯째 줄, 알림 뒤에 승인해도 현재 실행 조건을 충족하면 정상으로 처리됩니다. 다섯 줄 모두 이런 상황이면 이런 결과라는 꼴이죠. 앞에서 말로 들은 승인 규칙이, 실제로는 이렇게 판정할 수 있는 문장으로 적혀 있는 겁니다. 그래서 승인 단계를 고치다가 이 가운데 하나라도 달라지면, 그 조건을 실제로 검사하는 시험을 실행하면 차이를 찾을 수 있습니다. 시험에 없는 모든 경우까지 보장하는 것은 아니에요. 오른쪽 구분 열도 한번 보세요. 일이 순조롭게 풀리는 승인은 첫 줄 하나뿐이에요. 나머지 넷은 거절하거나, 사유나 권한을 빠뜨리거나, 답이 없거나, 늦은 경우죠. 잘 되는 경우만 적어 두면, 거절했는데 명령이 나가는 것 같은 사고는 확인할 길이 없습니다. 그래서 수용 기준에는 거절과 누락, 지연처럼 중요한 예외도 적어 둡니다. 빠뜨린 상황이 발견되면 그 기준과 검사를 보완하고요. 이렇게 해서 입력과 출력의 계약, 금지 조건, 수용 기준을 모두 실제 대상에서 찾았습니다.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이론 단원은 명세에 따른 구현과 변경의 확인입니다. 처음의 그 한 문장 기억하시죠? 긴급한 경보는 빨리 처리되게 해 달라는 요청이요. 이걸 명세로 다시 쓰면 어떻게 될까요? 그 명세를 기준으로 구현을 맡기고, 고친 뒤에는 무엇을 다시 실행해야 하는지까지 따라가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한 문장을 명세로 옮기면 왼쪽처럼 됩니다. 제목처럼 긴급 표시를 추가하는 명세이고, 설명을 위해 써 본 예예요. 다섯 구획을 위에서부터 읽어 볼게요. 여기서는 먼저 긴급 여부를 구분해 표시하는 작은 변경으로 범위를 합의한 예입니다. 처리 속도를 실제로 높인다는 요구까지 완성한 것은 아닙니다. 요구사항에서는 긴급 경보를, 판단할 때 읽은 유온이 60도 이상인 쿨러 성능 저하 경보로 정했습니다. 운전 화면의 유온 높음 경고는 60도 초과이고, 여기서는 60도 이상을 교육용 긴급 표시 조건으로 정했습니다. 따라서 정확히 60도에서 두 조건은 다릅니다. 설비를 멈추는 인터록 선보다는 낮아서, 멈추기 전에 먼저 움직이자는 기준으로 고른 예입니다. 긴급의 기준을 말이 아니라 수치로 정한 거죠. 그리고 긴급 경보의 추천안에는 긴급 여부를 함께 낸다고 적었습니다. 그런데 왜 판단할 때 읽은 값이라고까지 적었을까요? 쿨러 사건에 대어 보면 보여요. 경보가 났을 때 유온은 60도 아래였습니다. 그런데 승인할 때 다시 읽은 값은 60도를 넘었죠. 이 예시 기준에 적용하면 같은 사건도 어느 시점의 값을 쓰느냐에 따라 분류가 달라질 수 있습니다. 실제 기록에 이미 긴급 항목이 구현돼 있었다는 뜻은 아니에요. 잴 때를 적어 두지 않으면, 나중에 수용 기준으로 판정할 수가 없습니다. 입력 계약에는 설비, 경보, 사건 번호의 세 항목을 바꾸지 않는다고 적었어요. 긴급 여부를 가리려고 유온을 입력에 실을 필요는 없습니다. 앞에서 본 것처럼, 유온은 판단하는 순간 도구로 읽으니까요. 출력 계약에서는 먼저, 기존 다섯 항목의 이름과 형식을 바꾸지 않는다고 적었어요. 그다음에 긴급 여부를 담는 항목 하나를 참이나 거짓으로 더합니다. 일반 경보에도 거짓을 내고, 긴급 조건을 만족하면 참을 냅니다. 이 확장을 받는 쪽이 허용하는지 먼저 확인하고 출력 검사도 맞춰야 합니다. 금지 조건에는 두 줄이 있어요. 긴급 경보도 승인 전에는 조치를 실행하지 않는다. 그리고 필수 값을 읽지 못해도 짐작해 채우지 않는다. 둘째 줄은 왜 넣었을까요? 빨리 처리하라는 말은, 값을 기다리지 말고 있는 값으로라도 채워서 빨리 내라는 뜻으로도 읽힐 수 있거든요. 수용 기준에는 세 줄을 적었습니다. 고정된 입력과 조회 자료에서 일반 경보의 기존 항목은 같은 뜻과 처리 결과를 유지한다. 긴급 경보의 추천안도 승인 대기 상태가 된다. 필수 값을 읽지 못한 경보는 결과 없이 보류된다. 마지막 줄은 앞에서 본 에이전트의 보류를, 긴급하다는 이유로 건너뛰지 못하게 지키는 줄이에요. 앞에서 갈렸던 세 갈래를 떠올려 보세요. 출력 형식, 승인 조건, 기존 요청의 처리였죠. 오른쪽 짚을 점처럼, 그 세 갈래가 각각 출력 계약, 금지 조건, 수용 기준의 줄에서 정해졌습니다. 해석을 AI가 아니라 명세가 정한 거예요. 실제 처리 시간을 줄이는 요구가 남아 있다면, 어느 구간을 얼마나 줄일지와 승인 대기를 어떻게 다룰지 별도로 합의해야 합니다. 표시를 추가한 것만으로 빨라졌다고 결론 내리면 안 되겠죠.</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쓴 다음, 구현까지는 어떤 순서로 갈까요? 화면의 네 칸입니다. 첫째, 명세를 고칩니다. 무엇이 달라지고 무엇을 지킬지 적어요. 둘째, 구현을 맡깁니다. 이때 AI에게 주는 건 처음의 한 문장이 아니에요. 방금 본 명세입니다. AI는 그 명세를 기준으로 코드를 고치죠. 셋째는 강조해 둔 칸인데요, 수용 기준으로 확인합니다. 기준마다 실행해 보고 참인지 거짓인지 가려요. 넷째, 어긋난 곳을 고칩니다. 이 칸의 아이콘이 되돌아가는 화살표죠. 수용 기준 하나가 거짓으로 나왔다고 해 볼게요. 그러면 둘 중 하나예요. 구현이 명세와 다르면 구현을 고치고, 명세에 빠진 게 있었다면 요구를 다시 확인해 명세를 고칩니다. 검사를 통과시키려고 기대 결과를 현재 구현에 맞춰 낮추는 것은 아닙니다. 한 문장만 줬을 때를 떠올려 보세요. 결과가 마음에 안 들어도, 구현이 틀린 건지 요청이 모자랐던 건지 가릴 기준이 없었죠. 명세가 있으면 그 기준이 문서로 남고, 명세 자체에 빠진 것도 드러나요. 그래서 명세는 한 번 쓰고 끝내는 문서가 아닙니다. 고쳐 가는 문서예요.</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하지만 명세는 문서라서, 안 읽으면 그만이에요. 그래서 명세에 적은 건 실행되는 검사로 옮겨 둬야 힘을 가집니다. 바꾸지 말라고 적어 두는 것과, 바뀌면 실패하는 검사가 있는 건 다르니까요. 화면의 두 가지는 이 시스템에 실제로 있는 장치예요. 왼쪽은 기대 결과의 저장이에요. 같은 경보에 대해 추천안이 어떻게 나와야 하는지를 저장해 둡니다. 무언가를 고친 뒤에는 새 결과를 이 저장본과 견줘요. 달라진 곳이 있으면 바로 드러나죠. 저장해 둔 기대 결과는, 결과를 일부러 바꿀 때만 근거와 함께 갱신합니다. 다르게 나올 때마다 새 결과로 덮어쓰면, 저장본이 더는 기준 노릇을 못 하니까요. 오른쪽은 금지 조건의 고정이에요. 쿨러 사건 에이전트의 작업 규칙을 고정해 두고, 기준 파일의 바이트와 달라지면 검사가 실패하게 해 뒀습니다. 이것은 글이 보존됐는지 검사하는 것이고, 에이전트가 실행 중 그 글을 항상 지켰다는 검사는 아닙니다. 앞에서 본 절대 금지 절이, 무언가를 고치는 도중에 빠지는 일을 막는 거예요. 한 글자까지 보는 데에도 까닭이 있어요. 금지 문장은 낱말 하나만 빠져도 뜻이 달라집니다. 사람 대신 승인이라는 말 하나가 지워지면, 그 금지가 통째로 사라지죠. 어떤 고침이 해가 없는지를 검사가 대신 가려 줄 수는 없어요. 그래서 달라지기만 하면 일단 멈추고, 사람이 보고 판단하게 하는 겁니다. 이런 검사가 있으면 무엇을 확인해야 하는지 사람이 매번 기억하지 않아도 됩니다. 변경 뒤 검사를 실제로 실행하면 저장된 기준과 대조할 수 있으니까요. 자동 검사가 있다는 것과 매 변경마다 실행됐다는 것도 구별해야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구현을 마쳤으면 다시 실행해 봐야죠. 새 요청만이 아니라 기존 요청도 함께요. 화면의 세 카드가 그 세 경우예요. 첫 카드는 기존 요청입니다. 긴급하지 않은 경보를 넣어요. 같은 입력과 고정한 조회 자료에서 기존 항목의 의미와 처리 결과가 유지되고, 승인 대기가 되어야 합니다. 새 긴급 여부 항목은 거짓이어야 해요. 그대로여야 하는 경우죠. 가운데 카드는 새 요청이에요. 판단할 때 유온이 60도 이상인 경보를 넣습니다. 긴급 여부가 참이고, 그래도 승인 대기가 되어야 해요. 이건 달라져야 하는 경우입니다. 긴급하다고 승인을 건너뛰지는 않는 거죠. 셋째 카드는 필수 값이 없는 경우예요. 필수 값을 읽지 못한 경보를 넣습니다. 그러면 결과를 채우지 않고 보류해야 해요. 값을 읽지 못하면 지어내지 않는다는 규칙은, 긴급하든 아니든 같으니까요. 세 카드가 어디서 왔는지도 보세요. 모두 앞에서 쓴 명세에서 나왔어요. 첫 카드는 수용 기준의 첫 줄, 가운데 카드는 요구사항의 긴급 기준과 수용 기준의 둘째 줄, 셋째 카드는 금지 조건의 둘째 줄과 수용 기준의 셋째 줄이죠. 명세에 적은 줄이 그대로 다시 실행해 볼 경우가 된 겁니다. 카드 아래 꼬리표를 보면, 셋 가운데 달라져야 하는 건 하나뿐이에요. 나머지 둘은 그대로여야 하고요. 새 기능만 실행해서는 바로 이 그대로여야 하는 쪽을 놓쳤던 겁니다. 그래서 확인할 때 쓴 입력과 기대 결과는 저장해 둬요. 조회 자료와 비교할 항목도 함께 저장합니다. 판단 번호와 시각처럼 실행마다 달라지는 값은 글자 그대로 같아야 하는 값과 구분해야 해요. 긴급 기준인 60도 바로 아래와 정확히 60도인 경우도 넣으면 경계 조건을 확인할 수 있습니다. 다음 회차에는 이 입력과 기대 결과를 검증 시나리오로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한 문장의 요청이 무엇을 흔들 수 있는지, 그리고 명세와 수용 기준으로 그 흔들림을 어떻게 잡는지 따라왔죠. 이번에는 그걸 직접 확인해 볼 차례입니다. 먼저 명세 없이, 모호한 요청으로 기능을 더했을 때 무엇이 달라지는지 봅니다. 실습용 기존 업무 요청 에이전트에 긴급 정비 조건을 더해 볼 거예요. 이론에서는 쿨러 사건의 에이전트에 긴급한 경보를 붙여 봤죠. 실습에서는 같은 꼴의 요구를 긴급 정비 조건으로 붙입니다. 표의 첫 줄부터요. 고치기 전 버전으로 기존 일반 요청을 실행해서, 그 출력을 비교의 기준으로 남겨 두겠습니다. 그다음 긴급 정비 조건을 한두 문장의 모호한 요청으로, 바이브 코딩해서 더합니다. 그리고 일반 요청과 긴급 요청을 두 버전에 똑같이 넣어 보겠습니다. 결과 항목과 승인 조건이 어디가 달라졌는지 찾는 거예요. 성공 기준은 출력 항목과 승인 조건에서 달라진 곳을 찾아내는 거예요. 물론 달라진 곳이 없을 수도 있습니다. 그때는 실패를 일부러 만들지는 않겠습니다. 두 버전의 동작을 있는 그대로 견준 기록도 결과입니다. 실행마다 조회 자료까지 달라지면 코드 변경의 영향인지 구분하기 어려워요. 같은 입력과 비교 가능한 자료를 사용하고, 일부러 바꾼 항목과 그대로 둘 항목을 나누어 기록하겠습니다.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이어서 할 마지막 실습은 명세를 먼저 고쳐 기능을 더하는 활동입니다. 앞 실습에서는 모호한 요청으로 수정한 버전의 차이를 기록하게 됩니다. 같은 프로젝트에서 이번에는 순서를 바꿔, 명세를 먼저 갱신하고 그 명세대로 기능을 더해요. 표의 첫 줄이 spec.md에 적을 것들이에요. 기존 일반 정비를 어떻게 처리하는지, 긴급 조건은 무엇인지, 값이 들어오지 않으면 보류한다는 것, 승인 없이 확정하지 않는다는 것, 그리고 결과 형식과 수용 기준이에요. 그 명세를 함께 주고 코드를 고친 다음, 기존 일반 요청과 추가한 긴급 요청을 다시 실행하겠습니다. 수용 기준마다 참인지 거짓인지 가리면 됩니다. 마지막으로 두 요청의 입력과 기대 결과를 저장하겠습니다. 다음 회차의 검증 재료가 됩니다. 지킬 것과 달라질 것이 명세에 적혀 있고, 수용 기준마다 참과 거짓이 판정되고, 입력과 기대 결과 파일이 남으면 성공입니다. 두 실습의 목표를 모두 살펴봤습니다. 이제 모호한 변경의 비교부터 명세에 따른 수정까지 순서대로 진행하겠습니다. 끝나면 결과를 바탕으로 복습과 퀴즈를 이어갑니다.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 남긴 변경 전후 기록과 명세를 바탕으로 이번 회차를 마무리하겠습니다. 복습과 용어 정리, 퀴즈로 배운 것을 되짚어 볼게요. 먼저 복습입니다. 결정의 자리와 바뀐 요구의 확인을 다섯 상황에 대어 볼 거예요. 표의 왼쪽 상황마다, 가운데 열에서 먼저 무엇을 갈라야 하는지 골라 보세요. 오른쪽 근거는 가린 채로 생각해 보시고요. 첫째, 추천안이 올라온 지 10분이 지나도록 결정이 없습니다. 이건 사람의 대기예요. 에이전트가 멈춘 게 아닙니다. 지연 알림만 나가고, 승인 작업은 열린 채로 담당자를 기다리죠. 둘째, 에이전트가 대상 설비를 묻고 멈췄어요. 업무 정보를 묻는 질문입니다. 답은 빠진 값만 채우고, 승인은 승인 단계에서 따로 받아요. 셋째, 쿨러 사건의 추천안이 가드레일을 통과했습니다. 올려도 된다는 확인일 뿐이에요. 실행해도 되는지는 운전원이 승인하면서 남긴 결정 기록에서 확인합니다. 누가, 어떤 역할로, 승인 순간 어떤 값을 다시 보고 결정했는지가 거기 남아 있죠. 넷째, 긴급 표시를 넣으면서 추천 항목의 이름을 바꾸려 해요. 계약을 깨는 변경이죠. 출력 계약의 이름과 형식과 뜻을 보면 가를 수 있습니다. 기존 이름과 뜻을 유지하며 확장할 수 있는지, 소비자가 추가 항목을 받아들이는지 확인해야 해요. 다섯째, 고친 뒤 긴급 경보 한 건만 실행해 봤습니다. 새 기능만 확인한 거예요. 기존 요청과 긴급 요청, 보류할 요청의 수용 기준을 함께 다시 실행해야, 기존 기능이 지켜졌는지 알 수 있습니다. 다섯 상황을 묶어 보면, 앞의 셋은 누가 결정하고 무엇이 결정이 아닌지를 묻고 있어요. 뒤의 둘은 무엇이 달라져도 되고, 무엇이 그대로여야 하는지를 묻고요.</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이어서 용어 정리입니다. 이번 회차에 다룬 일곱 개념의 이름과 뜻을 표 한 장에 모았어요. 영문 정식 명칭은 화면에 있으니, 저는 뜻을 짚겠습니다. HITL은 자동 처리의 정해진 지점에 사람의 결정을 넣는 방식이에요. 가드레일은 입력과 출력, 행동이 정한 경계를 지키도록 검사하는 장치입니다. 이 회차에서는 HYD 추천안의 규칙 검사를 봤고요. 바이브 코딩은 자연어 요청과 실행 결과를 중심으로 AI가 만든 코드를 고쳐 가는 방식으로 다뤘습니다. 여기서 비교한 것은 명세와 체계적인 검토가 생략된 경우예요. SDD는 구현하기 전에 명세를 정하고, 그 명세로 구현하고 확인하는 개발 방식이죠. 명세는 무엇을 받아 무엇을 내고, 무엇을 하지 않는지 적은 문서예요. 계약은 주는 쪽과 받는 쪽이 지키기로 한 항목과 형식, 뜻과 처리 조건이고요. 마지막으로 수용 기준은 구현이 끝났는지를 참과 거짓으로 가를 수 있게 적은 조건입니다.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용어까지 짚었으니, 퀴즈 세 문제로 배운 내용을 판단에 쓸 수 있는지 확인해 볼게요. 문항마다 무엇이 결정이고 무엇이 확인인지, 무엇을 세거나 대조하면 되는지 생각하면서 답을 골라 보세요. 정답과 까닭은 세 문항을 다 본 다음에 같이 확인하겠습니다.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문제예요. 추천안이 가드레일을 통과했습니다. 검토를 맡은 다른 에이전트도 근거와 수량에 빠진 게 없다는 의견을 냈고요. 이 중에서 사람이 실행을 허락했다는 결정 근거는 무엇일까요? 실제 실행 전에는 현재 조건도 다시 확인해야 합니다. 1번, 추천안이 가드레일을 통과했다는 사실. 2번, 승인 역할의 담당자가 승인했다는 기록. 3번, 검토 에이전트가 낸 문제없다는 의견. 4번, 통과와 검토 의견이 모두 갖추어졌다는 사실.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문제입니다. 에이전트가 요청에 빠진 부품 수량을 물었어요. 담당자가 10개라고 답하면서, 급하니까 승인한 것으로 하고 진행하라고 덧붙였습니다. 이 답을 받은 뒤의 올바른 처리는 무엇일까요? 1번, 담당자가 승인할 뜻을 밝혔으므로 승인 단계를 건너뛰고 실행한다. 2번, 답에 승인이 섞였으므로 답을 버리고 수량을 짐작해 채운다. 3번, 결정 기록의 승인한 사람 칸에 담당자를 에이전트가 적어 넣는다. 4번, 수량만 업무 정보로 받아 이어 가고, 승인은 승인 단계에서 받는다.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문제예요. 긴급한 경보는 빨리 처리되게 해 달라는 요청을 명세로 옮기면서, 수용 기준을 적으려고 합니다. 수용 기준으로 알맞은 문장은 어느 것일까요? 1번, 긴급한 경보는 일반 경보보다 눈에 띄게 빨리 처리된다. 2번, 긴급한 경보의 추천안은 상황에 맞는 조치를 담고 있다. 3번, 같은 입력과 조회 자료에서 일반 경보의 기존 결과 항목은 정한 기대값과 일치한다. 4번, 긴급한 경보에서는 승인 절차가 알맞게 간소화된다.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정답을 확인해 볼게요. 고른 답과 그 까닭을 같이 대조해 보세요. 첫 문제의 정답은 2번, 승인 역할의 담당자가 승인했다는 기록입니다. 가드레일 통과는 정해 둔 검사 결과이고, AI의 검토는 확인할 의견입니다. 이 HYD 승인 경로에서 사람의 실행 허락은 승인 기록으로 확인합니다. 실제 명령으로 넘기기 전에는 현재 조건 재검사도 통과해야 해요. 4번이 헷갈렸을 수 있습니다. 두 번이나 확인했으니 그럴듯하죠. 하지만 확인을 몇 번 겹쳐도 결정이 되지는 않아요. 두 번째 정답은 4번이에요. 수량만 업무 정보로 받아 이어 가고, 승인은 승인 단계에서 받습니다. 답이 채울 수 있는 건 빠진 업무 정보뿐이고, 답변은 실행 권한을 바꾸지 않아요. 1번은 답을 승인으로 바꿔 쓴 거고, 3번은 시스템만 적는 칸을 에이전트가 채운 겁니다. 2번은 받은 수량까지 버리고 짐작으로 채웠으니, 질문한 의미가 없어지죠. 세 번째 정답은 3번입니다. 입력과 조회 자료를 같게 두고, 일반 경보의 기존 결과 항목을 미리 정한 기대값과 대조하면 참과 거짓을 가를 수 있죠. 실행마다 새로 생기는 번호나 시각은 별도 비교 규칙으로 확인합니다. 1번은 눈에 띄게가 얼마만큼인지 정해져 있지 않고, 2번은 상황에 맞는다는 걸 판정할 수가 없어요. 4번은 판정할 기준도 없지만, 그보다 먼저 금지 조건에 어긋납니다. 여기까지가 이번 회차입니다. 다음 회차에서는 마지막 실습에서 저장한 입력과 기대 결과로, 에이전트의 행동을 실제로 검증해 보겠습니다. 상황과 행동, 기대 결과를 시나리오로 적고, 반복해서 돌려 보면서 새 기능과 기존 기능이 함께 지켜지는지 확인할 거예요. 이번 회차도 수고 많으셨습니다.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20~21장 통합 발화는 20장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22~23장 통합 발화는 22장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24~25장 통합 발화는 24장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50~51장 통합 발화는 50장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52~53장 통합 발화는 52장 발표자 노트를 따른다.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7.png"/><Relationship Id="rId6"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3.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5.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8.png"/><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8.png"/><Relationship Id="rId4" Type="http://schemas.openxmlformats.org/officeDocument/2006/relationships/image" Target="../media/image40.png"/><Relationship Id="rId5" Type="http://schemas.openxmlformats.org/officeDocument/2006/relationships/image" Target="../media/image30.png"/><Relationship Id="rId6"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2.png"/><Relationship Id="rId4"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20.png"/><Relationship Id="rId4" Type="http://schemas.openxmlformats.org/officeDocument/2006/relationships/image" Target="../media/image43.png"/><Relationship Id="rId5"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사람의 판단과 명확한 요구사항으로 AI 업무의 신뢰성 높이기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사람의 승인과</a:t>
            </a:r>
          </a:p>
          <a:p>
            <a:pPr algn="l" eaLnBrk="0">
              <a:lnSpc>
                <a:spcPct val="110000"/>
              </a:lnSpc>
            </a:pPr>
            <a:r>
              <a:rPr sz="4000" b="1">
                <a:solidFill>
                  <a:srgbClr val="FFFFFF"/>
                </a:solidFill>
                <a:latin typeface="맑은 고딕"/>
                <a:ea typeface="맑은 고딕"/>
                <a:cs typeface="맑은 고딕"/>
              </a:rPr>
              <a:t>명세 주도 개발</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에이전트의 추천을 사람이 결정하는 자리를 설계하고, 요구사항이 바뀌어도 기존 기능을 지키는 명세를 쓴다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hield-check" descr="shield-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file-text" descr="file-tex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에이전트의 추천을 사람이 결정하는 자리와 책임을 가르고, 바뀐 요구를 명세로 옮겨 기존 기능을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0734"/>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474353"/>
            <a:ext cx="424281" cy="424281"/>
          </a:xfrm>
          <a:prstGeom prst="rect">
            <a:avLst/>
          </a:prstGeom>
        </p:spPr>
      </p:pic>
      <p:sp>
        <p:nvSpPr>
          <p:cNvPr id="9" name="TextBox 8"/>
          <p:cNvSpPr txBox="1"/>
          <p:nvPr/>
        </p:nvSpPr>
        <p:spPr>
          <a:xfrm>
            <a:off x="713232"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사람이 개입하는 자리</a:t>
            </a:r>
          </a:p>
          <a:p>
            <a:pPr algn="l" eaLnBrk="0" marL="177165" indent="-177165">
              <a:lnSpc>
                <a:spcPct val="110000"/>
              </a:lnSpc>
              <a:spcAft>
                <a:spcPts val="400"/>
              </a:spcAft>
            </a:pPr>
            <a:r>
              <a:rPr sz="1550" b="0">
                <a:solidFill>
                  <a:srgbClr val="1F2A3A"/>
                </a:solidFill>
                <a:latin typeface="맑은 고딕"/>
                <a:ea typeface="맑은 고딕"/>
                <a:cs typeface="맑은 고딕"/>
              </a:rPr>
              <a:t>• 자동 처리와 사람의 결정을 가른다</a:t>
            </a:r>
          </a:p>
          <a:p>
            <a:pPr algn="l" eaLnBrk="0" marL="177165" indent="-177165">
              <a:lnSpc>
                <a:spcPct val="110000"/>
              </a:lnSpc>
              <a:spcAft>
                <a:spcPts val="400"/>
              </a:spcAft>
            </a:pPr>
            <a:r>
              <a:rPr sz="1550" b="0">
                <a:solidFill>
                  <a:srgbClr val="1F2A3A"/>
                </a:solidFill>
                <a:latin typeface="맑은 고딕"/>
                <a:ea typeface="맑은 고딕"/>
                <a:cs typeface="맑은 고딕"/>
              </a:rPr>
              <a:t>• 승인 · 대기 · 질문 · 닫기의 때를 설명한다</a:t>
            </a:r>
          </a:p>
        </p:txBody>
      </p:sp>
      <p:sp>
        <p:nvSpPr>
          <p:cNvPr id="10" name="Rounded Rectangle 9"/>
          <p:cNvSpPr/>
          <p:nvPr/>
        </p:nvSpPr>
        <p:spPr>
          <a:xfrm>
            <a:off x="777240" y="5433377"/>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33377"/>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개입 지점</a:t>
            </a:r>
          </a:p>
        </p:txBody>
      </p:sp>
      <p:sp>
        <p:nvSpPr>
          <p:cNvPr id="12" name="Rounded Rectangle 11"/>
          <p:cNvSpPr/>
          <p:nvPr/>
        </p:nvSpPr>
        <p:spPr>
          <a:xfrm>
            <a:off x="3390823"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0734"/>
            <a:ext cx="731520" cy="731520"/>
          </a:xfrm>
          <a:prstGeom prst="ellipse">
            <a:avLst/>
          </a:prstGeom>
          <a:solidFill>
            <a:srgbClr val="E7F3FD"/>
          </a:solidFill>
          <a:ln>
            <a:noFill/>
          </a:ln>
        </p:spPr>
        <p:txBody>
          <a:bodyPr rtlCol="0" anchor="ctr"/>
          <a:lstStyle/>
          <a:p>
            <a:pPr algn="ctr"/>
          </a:p>
        </p:txBody>
      </p:sp>
      <p:pic>
        <p:nvPicPr>
          <p:cNvPr id="14" name="아이콘:id" descr="id_13294B_1.6.png"/>
          <p:cNvPicPr>
            <a:picLocks noChangeAspect="1"/>
          </p:cNvPicPr>
          <p:nvPr/>
        </p:nvPicPr>
        <p:blipFill>
          <a:blip r:embed="rId4"/>
          <a:stretch>
            <a:fillRect/>
          </a:stretch>
        </p:blipFill>
        <p:spPr>
          <a:xfrm>
            <a:off x="3773043" y="2474353"/>
            <a:ext cx="424281" cy="424281"/>
          </a:xfrm>
          <a:prstGeom prst="rect">
            <a:avLst/>
          </a:prstGeom>
        </p:spPr>
      </p:pic>
      <p:sp>
        <p:nvSpPr>
          <p:cNvPr id="15" name="TextBox 14"/>
          <p:cNvSpPr txBox="1"/>
          <p:nvPr/>
        </p:nvSpPr>
        <p:spPr>
          <a:xfrm>
            <a:off x="3555415"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권한과 결정 기록</a:t>
            </a:r>
          </a:p>
          <a:p>
            <a:pPr algn="l" eaLnBrk="0" marL="177165" indent="-177165">
              <a:lnSpc>
                <a:spcPct val="110000"/>
              </a:lnSpc>
              <a:spcAft>
                <a:spcPts val="400"/>
              </a:spcAft>
            </a:pPr>
            <a:r>
              <a:rPr sz="1550" b="0">
                <a:solidFill>
                  <a:srgbClr val="1F2A3A"/>
                </a:solidFill>
                <a:latin typeface="맑은 고딕"/>
                <a:ea typeface="맑은 고딕"/>
                <a:cs typeface="맑은 고딕"/>
              </a:rPr>
              <a:t>• 승인할 수 있는 사람을 역할과 등급으로 가린다</a:t>
            </a:r>
          </a:p>
          <a:p>
            <a:pPr algn="l" eaLnBrk="0" marL="177165" indent="-177165">
              <a:lnSpc>
                <a:spcPct val="110000"/>
              </a:lnSpc>
              <a:spcAft>
                <a:spcPts val="400"/>
              </a:spcAft>
            </a:pPr>
            <a:r>
              <a:rPr sz="1550" b="0">
                <a:solidFill>
                  <a:srgbClr val="1F2A3A"/>
                </a:solidFill>
                <a:latin typeface="맑은 고딕"/>
                <a:ea typeface="맑은 고딕"/>
                <a:cs typeface="맑은 고딕"/>
              </a:rPr>
              <a:t>• 결정 기록에 남는 것을 짚는다</a:t>
            </a:r>
          </a:p>
        </p:txBody>
      </p:sp>
      <p:sp>
        <p:nvSpPr>
          <p:cNvPr id="16" name="Rounded Rectangle 15"/>
          <p:cNvSpPr/>
          <p:nvPr/>
        </p:nvSpPr>
        <p:spPr>
          <a:xfrm>
            <a:off x="3619423" y="54333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책임</a:t>
            </a:r>
          </a:p>
        </p:txBody>
      </p:sp>
      <p:sp>
        <p:nvSpPr>
          <p:cNvPr id="18" name="Rounded Rectangle 17"/>
          <p:cNvSpPr/>
          <p:nvPr/>
        </p:nvSpPr>
        <p:spPr>
          <a:xfrm>
            <a:off x="6233007"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0734"/>
            <a:ext cx="731520" cy="731520"/>
          </a:xfrm>
          <a:prstGeom prst="ellipse">
            <a:avLst/>
          </a:prstGeom>
          <a:solidFill>
            <a:srgbClr val="E7F3FD"/>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6615226" y="2474353"/>
            <a:ext cx="424281" cy="424281"/>
          </a:xfrm>
          <a:prstGeom prst="rect">
            <a:avLst/>
          </a:prstGeom>
        </p:spPr>
      </p:pic>
      <p:sp>
        <p:nvSpPr>
          <p:cNvPr id="21" name="TextBox 20"/>
          <p:cNvSpPr txBox="1"/>
          <p:nvPr/>
        </p:nvSpPr>
        <p:spPr>
          <a:xfrm>
            <a:off x="6397599"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검토와 승인의 구분</a:t>
            </a:r>
          </a:p>
          <a:p>
            <a:pPr algn="l" eaLnBrk="0" marL="177165" indent="-177165">
              <a:lnSpc>
                <a:spcPct val="110000"/>
              </a:lnSpc>
              <a:spcAft>
                <a:spcPts val="400"/>
              </a:spcAft>
            </a:pPr>
            <a:r>
              <a:rPr sz="1550" b="0">
                <a:solidFill>
                  <a:srgbClr val="1F2A3A"/>
                </a:solidFill>
                <a:latin typeface="맑은 고딕"/>
                <a:ea typeface="맑은 고딕"/>
                <a:cs typeface="맑은 고딕"/>
              </a:rPr>
              <a:t>• 가드레일의 통과와 AI의 검토를</a:t>
            </a:r>
          </a:p>
          <a:p>
            <a:pPr algn="l" eaLnBrk="0" marL="177165" indent="-177165">
              <a:lnSpc>
                <a:spcPct val="110000"/>
              </a:lnSpc>
              <a:spcAft>
                <a:spcPts val="400"/>
              </a:spcAft>
            </a:pPr>
            <a:r>
              <a:rPr sz="1550" b="0">
                <a:solidFill>
                  <a:srgbClr val="1F2A3A"/>
                </a:solidFill>
                <a:latin typeface="맑은 고딕"/>
                <a:ea typeface="맑은 고딕"/>
                <a:cs typeface="맑은 고딕"/>
              </a:rPr>
              <a:t>• 사람의 승인과 구분한다</a:t>
            </a:r>
          </a:p>
        </p:txBody>
      </p:sp>
      <p:sp>
        <p:nvSpPr>
          <p:cNvPr id="22" name="Rounded Rectangle 21"/>
          <p:cNvSpPr/>
          <p:nvPr/>
        </p:nvSpPr>
        <p:spPr>
          <a:xfrm>
            <a:off x="6461607" y="543337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119566"/>
            <a:ext cx="2567863" cy="374357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0734"/>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474353"/>
            <a:ext cx="424281" cy="424281"/>
          </a:xfrm>
          <a:prstGeom prst="rect">
            <a:avLst/>
          </a:prstGeom>
        </p:spPr>
      </p:pic>
      <p:sp>
        <p:nvSpPr>
          <p:cNvPr id="27" name="TextBox 26"/>
          <p:cNvSpPr txBox="1"/>
          <p:nvPr/>
        </p:nvSpPr>
        <p:spPr>
          <a:xfrm>
            <a:off x="9239783"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명세로 지키는 기존 기능</a:t>
            </a:r>
          </a:p>
          <a:p>
            <a:pPr algn="l" eaLnBrk="0" marL="177165" indent="-177165">
              <a:lnSpc>
                <a:spcPct val="110000"/>
              </a:lnSpc>
              <a:spcAft>
                <a:spcPts val="400"/>
              </a:spcAft>
            </a:pPr>
            <a:r>
              <a:rPr sz="1550" b="0">
                <a:solidFill>
                  <a:srgbClr val="1F2A3A"/>
                </a:solidFill>
                <a:latin typeface="맑은 고딕"/>
                <a:ea typeface="맑은 고딕"/>
                <a:cs typeface="맑은 고딕"/>
              </a:rPr>
              <a:t>• 변경 요청을 명세의 요소로 옮긴다</a:t>
            </a:r>
          </a:p>
          <a:p>
            <a:pPr algn="l" eaLnBrk="0" marL="177165" indent="-177165">
              <a:lnSpc>
                <a:spcPct val="110000"/>
              </a:lnSpc>
              <a:spcAft>
                <a:spcPts val="400"/>
              </a:spcAft>
            </a:pPr>
            <a:r>
              <a:rPr sz="1550" b="0">
                <a:solidFill>
                  <a:srgbClr val="1F2A3A"/>
                </a:solidFill>
                <a:latin typeface="맑은 고딕"/>
                <a:ea typeface="맑은 고딕"/>
                <a:cs typeface="맑은 고딕"/>
              </a:rPr>
              <a:t>• 기존 요청과 새 요청을 함께 다시 실행한다</a:t>
            </a:r>
          </a:p>
        </p:txBody>
      </p:sp>
      <p:sp>
        <p:nvSpPr>
          <p:cNvPr id="28" name="Rounded Rectangle 27"/>
          <p:cNvSpPr/>
          <p:nvPr/>
        </p:nvSpPr>
        <p:spPr>
          <a:xfrm>
            <a:off x="9303791" y="543337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명세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HITL: 사람이 결정하는 자리</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권한 · 결정 기록과 AI의 검토</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요구사항 변경과 바이브 코딩</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SDD: 명세 주도 개발</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계약 · 금지 조건 · 수용 기준</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명세에 따른 구현과 변경의 확인</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33" name="TextBox 3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HITL: 사람이 결정하는 자리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추천안이 나온 뒤의 승인 · 거절 · 대기, 그리고 에이전트가 사람에게 묻고 멈추는 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추천안이 나온 뒤: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설비 명령은 추천안이 아니라 약 13초 뒤 담당자의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에서 출발했다.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갈림.svg" descr="illust_3491671647120482258_17922283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담당자</a:t>
            </a:r>
          </a:p>
          <a:p>
            <a:pPr algn="ctr" eaLnBrk="0">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명령 11:14:57</a:t>
            </a:r>
          </a:p>
          <a:p>
            <a:pPr algn="ctr" eaLnBrk="0">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없는 종료</a:t>
            </a:r>
          </a:p>
          <a:p>
            <a:pPr algn="ctr" eaLnBrk="0">
              <a:lnSpc>
                <a:spcPct val="110000"/>
              </a:lnSpc>
              <a:spcAft>
                <a:spcPts val="100"/>
              </a:spcAft>
            </a:pPr>
            <a:r>
              <a:rPr sz="1300" b="0">
                <a:solidFill>
                  <a:srgbClr val="556175"/>
                </a:solidFill>
                <a:latin typeface="맑은 고딕"/>
                <a:ea typeface="맑은 고딕"/>
                <a:cs typeface="맑은 고딕"/>
              </a:rPr>
              <a:t>거절 사유 기록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HITL(Human-in-the-Loop): 자동 처리와 사람의 결정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HITL은 자동화 과정에 사람의 확인과 결정을 넣으며, HYD는 추천과 실행 사이에 책임 있는 승인 단계를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33459"/>
            <a:ext cx="5181447" cy="2915793"/>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34627"/>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888246"/>
            <a:ext cx="424281" cy="424281"/>
          </a:xfrm>
          <a:prstGeom prst="rect">
            <a:avLst/>
          </a:prstGeom>
        </p:spPr>
      </p:pic>
      <p:sp>
        <p:nvSpPr>
          <p:cNvPr id="9" name="TextBox 8"/>
          <p:cNvSpPr txBox="1"/>
          <p:nvPr/>
        </p:nvSpPr>
        <p:spPr>
          <a:xfrm>
            <a:off x="1691640" y="273462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585019"/>
            <a:ext cx="4632807" cy="1315593"/>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값의 조회, 원인 판정, 후보 비교, 형식 검사</a:t>
            </a:r>
          </a:p>
          <a:p>
            <a:pPr algn="l" eaLnBrk="0" marL="188595" indent="-188595">
              <a:lnSpc>
                <a:spcPct val="110000"/>
              </a:lnSpc>
              <a:spcAft>
                <a:spcPts val="600"/>
              </a:spcAft>
            </a:pPr>
            <a:r>
              <a:rPr sz="1650" b="0">
                <a:solidFill>
                  <a:srgbClr val="1F2A3A"/>
                </a:solidFill>
                <a:latin typeface="맑은 고딕"/>
                <a:ea typeface="맑은 고딕"/>
                <a:cs typeface="맑은 고딕"/>
              </a:rPr>
              <a:t>• 재시도 전 결과의 영향도 확인한다</a:t>
            </a:r>
          </a:p>
          <a:p>
            <a:pPr algn="l" eaLnBrk="0" marL="188595" indent="-188595">
              <a:lnSpc>
                <a:spcPct val="110000"/>
              </a:lnSpc>
              <a:spcAft>
                <a:spcPts val="600"/>
              </a:spcAft>
            </a:pPr>
            <a:r>
              <a:rPr sz="1650" b="0">
                <a:solidFill>
                  <a:srgbClr val="1F2A3A"/>
                </a:solidFill>
                <a:latin typeface="맑은 고딕"/>
                <a:ea typeface="맑은 고딕"/>
                <a:cs typeface="맑은 고딕"/>
              </a:rPr>
              <a:t>• 조회에도 정보 노출 · 비용이 있다</a:t>
            </a:r>
          </a:p>
        </p:txBody>
      </p:sp>
      <p:sp>
        <p:nvSpPr>
          <p:cNvPr id="11" name="Rounded Rectangle 10"/>
          <p:cNvSpPr/>
          <p:nvPr/>
        </p:nvSpPr>
        <p:spPr>
          <a:xfrm>
            <a:off x="868680" y="4992052"/>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92052"/>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33459"/>
            <a:ext cx="5181447" cy="2915793"/>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34627"/>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888246"/>
            <a:ext cx="424281" cy="424281"/>
          </a:xfrm>
          <a:prstGeom prst="rect">
            <a:avLst/>
          </a:prstGeom>
        </p:spPr>
      </p:pic>
      <p:sp>
        <p:nvSpPr>
          <p:cNvPr id="16" name="TextBox 15"/>
          <p:cNvSpPr txBox="1"/>
          <p:nvPr/>
        </p:nvSpPr>
        <p:spPr>
          <a:xfrm>
            <a:off x="7604607" y="273462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585019"/>
            <a:ext cx="4632807" cy="1315593"/>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설비 명령, 작업지시처럼 현장을 바꾸는 일</a:t>
            </a:r>
          </a:p>
          <a:p>
            <a:pPr algn="l" eaLnBrk="0" marL="188595" indent="-188595">
              <a:lnSpc>
                <a:spcPct val="110000"/>
              </a:lnSpc>
              <a:spcAft>
                <a:spcPts val="600"/>
              </a:spcAft>
            </a:pPr>
            <a:r>
              <a:rPr sz="1650" b="0">
                <a:solidFill>
                  <a:srgbClr val="1F2A3A"/>
                </a:solidFill>
                <a:latin typeface="맑은 고딕"/>
                <a:ea typeface="맑은 고딕"/>
                <a:cs typeface="맑은 고딕"/>
              </a:rPr>
              <a:t>• 실행하면 설비의 상태와 생산이 달라진다</a:t>
            </a:r>
          </a:p>
          <a:p>
            <a:pPr algn="l" eaLnBrk="0" marL="188595" indent="-188595">
              <a:lnSpc>
                <a:spcPct val="110000"/>
              </a:lnSpc>
              <a:spcAft>
                <a:spcPts val="600"/>
              </a:spcAft>
            </a:pPr>
            <a:r>
              <a:rPr sz="1650" b="0">
                <a:solidFill>
                  <a:srgbClr val="1F2A3A"/>
                </a:solidFill>
                <a:latin typeface="맑은 고딕"/>
                <a:ea typeface="맑은 고딕"/>
                <a:cs typeface="맑은 고딕"/>
              </a:rPr>
              <a:t>• 결과를 책임질 역할이 정해져 있다</a:t>
            </a:r>
          </a:p>
        </p:txBody>
      </p:sp>
      <p:sp>
        <p:nvSpPr>
          <p:cNvPr id="18" name="Rounded Rectangle 17"/>
          <p:cNvSpPr/>
          <p:nvPr/>
        </p:nvSpPr>
        <p:spPr>
          <a:xfrm>
            <a:off x="6781647" y="4992052"/>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92052"/>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대표적인 개입 지점은 승인 단계, 정보가 부족할 때의 질문, 멈춘 작업의 닫기이다.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pic>
        <p:nvPicPr>
          <p:cNvPr id="6" name="삽화:세지점.svg" descr="illust_3358697326871813391_17922283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에이전트의 질문</a:t>
            </a:r>
          </a:p>
          <a:p>
            <a:pPr algn="ctr" eaLnBrk="0">
              <a:lnSpc>
                <a:spcPct val="110000"/>
              </a:lnSpc>
              <a:spcAft>
                <a:spcPts val="100"/>
              </a:spcAft>
            </a:pPr>
            <a:r>
              <a:rPr sz="1100" b="0">
                <a:solidFill>
                  <a:srgbClr val="556175"/>
                </a:solidFill>
                <a:latin typeface="맑은 고딕"/>
                <a:ea typeface="맑은 고딕"/>
                <a:cs typeface="맑은 고딕"/>
              </a:rPr>
              <a:t>필수 업무 정보의 누락</a:t>
            </a:r>
          </a:p>
        </p:txBody>
      </p:sp>
      <p:sp>
        <p:nvSpPr>
          <p:cNvPr id="11" name="TextBox 10"/>
          <p:cNvSpPr txBox="1"/>
          <p:nvPr/>
        </p:nvSpPr>
        <p:spPr>
          <a:xfrm>
            <a:off x="4623065" y="5267766"/>
            <a:ext cx="2836468" cy="507618"/>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멈춘 작업 닫기</a:t>
            </a:r>
          </a:p>
          <a:p>
            <a:pPr algn="ctr" eaLnBrk="0">
              <a:lnSpc>
                <a:spcPct val="110000"/>
              </a:lnSpc>
              <a:spcAft>
                <a:spcPts val="100"/>
              </a:spcAft>
            </a:pPr>
            <a:r>
              <a:rPr sz="1100" b="0">
                <a:solidFill>
                  <a:srgbClr val="556175"/>
                </a:solidFill>
                <a:latin typeface="맑은 고딕"/>
                <a:ea typeface="맑은 고딕"/>
                <a:cs typeface="맑은 고딕"/>
              </a:rPr>
              <a:t>한도 초과 · 실행 실패</a:t>
            </a:r>
          </a:p>
        </p:txBody>
      </p:sp>
      <p:sp>
        <p:nvSpPr>
          <p:cNvPr id="12" name="TextBox 11"/>
          <p:cNvSpPr txBox="1"/>
          <p:nvPr/>
        </p:nvSpPr>
        <p:spPr>
          <a:xfrm>
            <a:off x="7950461" y="5267766"/>
            <a:ext cx="3272848" cy="507618"/>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승인과 거절</a:t>
            </a:r>
          </a:p>
          <a:p>
            <a:pPr algn="ctr" eaLnBrk="0">
              <a:lnSpc>
                <a:spcPct val="110000"/>
              </a:lnSpc>
              <a:spcAft>
                <a:spcPts val="100"/>
              </a:spcAft>
            </a:pPr>
            <a:r>
              <a:rPr sz="1100" b="0">
                <a:solidFill>
                  <a:srgbClr val="556175"/>
                </a:solidFill>
                <a:latin typeface="맑은 고딕"/>
                <a:ea typeface="맑은 고딕"/>
                <a:cs typeface="맑은 고딕"/>
              </a:rPr>
              <a:t>승인 역할의 담당자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승인과 거절이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사례는 승인과 현재 조건 검사를 거쳐 실행됐고, 거절 경로는 조치 없이 반려 기록을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344674"/>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1초 뒤 팬 속도 100 % 명령이 나간다</a:t>
            </a:r>
          </a:p>
          <a:p>
            <a:pPr algn="l" eaLnBrk="0" marL="205740" indent="-205740">
              <a:lnSpc>
                <a:spcPct val="110000"/>
              </a:lnSpc>
              <a:spcAft>
                <a:spcPts val="600"/>
              </a:spcAft>
            </a:pPr>
            <a:r>
              <a:rPr sz="1800" b="0">
                <a:solidFill>
                  <a:srgbClr val="1F2A3A"/>
                </a:solidFill>
                <a:latin typeface="맑은 고딕"/>
                <a:ea typeface="맑은 고딕"/>
                <a:cs typeface="맑은 고딕"/>
              </a:rPr>
              <a:t>• 재관측에서 유온 51.5 ℃, 경보가 해제된다</a:t>
            </a:r>
          </a:p>
          <a:p>
            <a:pPr algn="l" eaLnBrk="0" marL="205740" indent="-205740">
              <a:lnSpc>
                <a:spcPct val="110000"/>
              </a:lnSpc>
              <a:spcAft>
                <a:spcPts val="600"/>
              </a:spcAft>
            </a:pPr>
            <a:r>
              <a:rPr sz="180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382006"/>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382006"/>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2143505"/>
            <a:ext cx="5181447" cy="3695700"/>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344674"/>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사유를 적어야 거절이 받아들여진다</a:t>
            </a:r>
          </a:p>
          <a:p>
            <a:pPr algn="l" eaLnBrk="0" marL="205740" indent="-205740">
              <a:lnSpc>
                <a:spcPct val="110000"/>
              </a:lnSpc>
              <a:spcAft>
                <a:spcPts val="600"/>
              </a:spcAft>
            </a:pPr>
            <a:r>
              <a:rPr sz="1800" b="0">
                <a:solidFill>
                  <a:srgbClr val="1F2A3A"/>
                </a:solidFill>
                <a:latin typeface="맑은 고딕"/>
                <a:ea typeface="맑은 고딕"/>
                <a:cs typeface="맑은 고딕"/>
              </a:rPr>
              <a:t>• 조치 명령 · 후속 업무 · 메일은 0건이다</a:t>
            </a:r>
          </a:p>
          <a:p>
            <a:pPr algn="l" eaLnBrk="0" marL="205740" indent="-205740">
              <a:lnSpc>
                <a:spcPct val="110000"/>
              </a:lnSpc>
              <a:spcAft>
                <a:spcPts val="600"/>
              </a:spcAft>
            </a:pPr>
            <a:r>
              <a:rPr sz="1800" b="0">
                <a:solidFill>
                  <a:srgbClr val="1F2A3A"/>
                </a:solidFill>
                <a:latin typeface="맑은 고딕"/>
                <a:ea typeface="맑은 고딕"/>
                <a:cs typeface="맑은 고딕"/>
              </a:rPr>
              <a:t>• 「담당자가 거절했습니다 — 사유: … 설비 명령은 내지 않았습니다」</a:t>
            </a:r>
          </a:p>
        </p:txBody>
      </p:sp>
      <p:sp>
        <p:nvSpPr>
          <p:cNvPr id="18" name="Rounded Rectangle 17"/>
          <p:cNvSpPr/>
          <p:nvPr/>
        </p:nvSpPr>
        <p:spPr>
          <a:xfrm>
            <a:off x="6781647" y="5382006"/>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3820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응답이 없을 때: 지연 알림과 대기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승인 지연 기한은 10분이며, 수업 20배속에서는 실제 30초 뒤 알림만 내고 결정을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pic>
        <p:nvPicPr>
          <p:cNvPr id="6" name="삽화:무응답.svg" descr="illust_884278639612399787_17922283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73850" y="1674906"/>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요청</a:t>
            </a:r>
          </a:p>
          <a:p>
            <a:pPr algn="ctr" eaLnBrk="0">
              <a:lnSpc>
                <a:spcPct val="110000"/>
              </a:lnSpc>
              <a:spcAft>
                <a:spcPts val="100"/>
              </a:spcAft>
            </a:pPr>
            <a:r>
              <a:rPr sz="1300" b="0">
                <a:solidFill>
                  <a:srgbClr val="556175"/>
                </a:solidFill>
                <a:latin typeface="맑은 고딕"/>
                <a:ea typeface="맑은 고딕"/>
                <a:cs typeface="맑은 고딕"/>
              </a:rPr>
              <a:t>추천안</a:t>
            </a:r>
          </a:p>
        </p:txBody>
      </p:sp>
      <p:sp>
        <p:nvSpPr>
          <p:cNvPr id="8" name="TextBox 7"/>
          <p:cNvSpPr txBox="1"/>
          <p:nvPr/>
        </p:nvSpPr>
        <p:spPr>
          <a:xfrm>
            <a:off x="4863074" y="1674906"/>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 지연 알림</a:t>
            </a:r>
          </a:p>
          <a:p>
            <a:pPr algn="ctr" eaLnBrk="0">
              <a:lnSpc>
                <a:spcPct val="110000"/>
              </a:lnSpc>
              <a:spcAft>
                <a:spcPts val="100"/>
              </a:spcAft>
            </a:pPr>
            <a:r>
              <a:rPr sz="1300" b="0">
                <a:solidFill>
                  <a:srgbClr val="556175"/>
                </a:solidFill>
                <a:latin typeface="맑은 고딕"/>
                <a:ea typeface="맑은 고딕"/>
                <a:cs typeface="맑은 고딕"/>
              </a:rPr>
              <a:t>기한 10분</a:t>
            </a:r>
          </a:p>
        </p:txBody>
      </p:sp>
      <p:sp>
        <p:nvSpPr>
          <p:cNvPr id="9" name="TextBox 8"/>
          <p:cNvSpPr txBox="1"/>
          <p:nvPr/>
        </p:nvSpPr>
        <p:spPr>
          <a:xfrm>
            <a:off x="8277746" y="1674906"/>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뒤늦은 승인</a:t>
            </a:r>
          </a:p>
          <a:p>
            <a:pPr algn="ctr" eaLnBrk="0">
              <a:lnSpc>
                <a:spcPct val="110000"/>
              </a:lnSpc>
              <a:spcAft>
                <a:spcPts val="100"/>
              </a:spcAft>
            </a:pPr>
            <a:r>
              <a:rPr sz="1300" b="0">
                <a:solidFill>
                  <a:srgbClr val="556175"/>
                </a:solidFill>
                <a:latin typeface="맑은 고딕"/>
                <a:ea typeface="맑은 고딕"/>
                <a:cs typeface="맑은 고딕"/>
              </a:rPr>
              <a:t>현재 조건 재검사</a:t>
            </a:r>
          </a:p>
        </p:txBody>
      </p:sp>
      <p:sp>
        <p:nvSpPr>
          <p:cNvPr id="10" name="TextBox 9"/>
          <p:cNvSpPr txBox="1"/>
          <p:nvPr/>
        </p:nvSpPr>
        <p:spPr>
          <a:xfrm>
            <a:off x="3510297" y="3896807"/>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응답 없음</a:t>
            </a:r>
          </a:p>
        </p:txBody>
      </p:sp>
      <p:sp>
        <p:nvSpPr>
          <p:cNvPr id="11" name="TextBox 10"/>
          <p:cNvSpPr txBox="1"/>
          <p:nvPr/>
        </p:nvSpPr>
        <p:spPr>
          <a:xfrm>
            <a:off x="3368473" y="5409590"/>
            <a:ext cx="501836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열린 승인 작업</a:t>
            </a:r>
          </a:p>
          <a:p>
            <a:pPr algn="ctr" eaLnBrk="0">
              <a:lnSpc>
                <a:spcPct val="110000"/>
              </a:lnSpc>
              <a:spcAft>
                <a:spcPts val="100"/>
              </a:spcAft>
            </a:pPr>
            <a:r>
              <a:rPr sz="1300" b="0">
                <a:solidFill>
                  <a:srgbClr val="556175"/>
                </a:solidFill>
                <a:latin typeface="맑은 고딕"/>
                <a:ea typeface="맑은 고딕"/>
                <a:cs typeface="맑은 고딕"/>
              </a:rPr>
              <a:t>알림 뒤에도 승인 · 거절 가능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필수 업무 정보를 도구로 확인할 수 없으면 질문하고, 답을 받은 뒤 같은 대화의 문맥으로 재개한다.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정보가 없다</a:t>
            </a:r>
          </a:p>
          <a:p>
            <a:pPr algn="ctr" eaLnBrk="0">
              <a:lnSpc>
                <a:spcPct val="110000"/>
              </a:lnSpc>
              <a:spcAft>
                <a:spcPts val="400"/>
              </a:spcAft>
            </a:pPr>
            <a:r>
              <a:rPr sz="1650" b="0">
                <a:solidFill>
                  <a:srgbClr val="1F2A3A"/>
                </a:solidFill>
                <a:latin typeface="맑은 고딕"/>
                <a:ea typeface="맑은 고딕"/>
                <a:cs typeface="맑은 고딕"/>
              </a:rPr>
              <a:t>조회할 대상 설비가</a:t>
            </a:r>
          </a:p>
          <a:p>
            <a:pPr algn="ctr" eaLnBrk="0">
              <a:lnSpc>
                <a:spcPct val="110000"/>
              </a:lnSpc>
              <a:spcAft>
                <a:spcPts val="400"/>
              </a:spcAft>
            </a:pPr>
            <a:r>
              <a:rPr sz="1650" b="0">
                <a:solidFill>
                  <a:srgbClr val="1F2A3A"/>
                </a:solidFill>
                <a:latin typeface="맑은 고딕"/>
                <a:ea typeface="맑은 고딕"/>
                <a:cs typeface="맑은 고딕"/>
              </a:rPr>
              <a:t>요청에 없고</a:t>
            </a:r>
          </a:p>
          <a:p>
            <a:pPr algn="ctr" eaLnBrk="0">
              <a:lnSpc>
                <a:spcPct val="110000"/>
              </a:lnSpc>
              <a:spcAft>
                <a:spcPts val="400"/>
              </a:spcAft>
            </a:pPr>
            <a:r>
              <a:rPr sz="1650" b="0">
                <a:solidFill>
                  <a:srgbClr val="1F2A3A"/>
                </a:solidFill>
                <a:latin typeface="맑은 고딕"/>
                <a:ea typeface="맑은 고딕"/>
                <a:cs typeface="맑은 고딕"/>
              </a:rPr>
              <a:t>도구로도 정할 수 없다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570734"/>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묻고 멈춘다</a:t>
            </a:r>
          </a:p>
          <a:p>
            <a:pPr algn="ctr" eaLnBrk="0">
              <a:lnSpc>
                <a:spcPct val="110000"/>
              </a:lnSpc>
              <a:spcAft>
                <a:spcPts val="400"/>
              </a:spcAft>
            </a:pPr>
            <a:r>
              <a:rPr sz="1650" b="0">
                <a:solidFill>
                  <a:srgbClr val="1F2A3A"/>
                </a:solidFill>
                <a:latin typeface="맑은 고딕"/>
                <a:ea typeface="맑은 고딕"/>
                <a:cs typeface="맑은 고딕"/>
              </a:rPr>
              <a:t>「조회할 대상 설비를</a:t>
            </a:r>
          </a:p>
          <a:p>
            <a:pPr algn="ctr" eaLnBrk="0">
              <a:lnSpc>
                <a:spcPct val="110000"/>
              </a:lnSpc>
              <a:spcAft>
                <a:spcPts val="400"/>
              </a:spcAft>
            </a:pPr>
            <a:r>
              <a:rPr sz="1650" b="0">
                <a:solidFill>
                  <a:srgbClr val="1F2A3A"/>
                </a:solidFill>
                <a:latin typeface="맑은 고딕"/>
                <a:ea typeface="맑은 고딕"/>
                <a:cs typeface="맑은 고딕"/>
              </a:rPr>
              <a:t>선택해 주세요.」</a:t>
            </a:r>
          </a:p>
          <a:p>
            <a:pPr algn="ctr" eaLnBrk="0">
              <a:lnSpc>
                <a:spcPct val="110000"/>
              </a:lnSpc>
              <a:spcAft>
                <a:spcPts val="400"/>
              </a:spcAft>
            </a:pPr>
            <a:r>
              <a:rPr sz="16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담당자가 답한다</a:t>
            </a:r>
          </a:p>
          <a:p>
            <a:pPr algn="ctr" eaLnBrk="0">
              <a:lnSpc>
                <a:spcPct val="110000"/>
              </a:lnSpc>
              <a:spcAft>
                <a:spcPts val="400"/>
              </a:spcAft>
            </a:pPr>
            <a:r>
              <a:rPr sz="1650" b="0">
                <a:solidFill>
                  <a:srgbClr val="1F2A3A"/>
                </a:solidFill>
                <a:latin typeface="맑은 고딕"/>
                <a:ea typeface="맑은 고딕"/>
                <a:cs typeface="맑은 고딕"/>
              </a:rPr>
              <a:t>「HYD-02」</a:t>
            </a:r>
          </a:p>
          <a:p>
            <a:pPr algn="ctr" eaLnBrk="0">
              <a:lnSpc>
                <a:spcPct val="110000"/>
              </a:lnSpc>
              <a:spcAft>
                <a:spcPts val="400"/>
              </a:spcAft>
            </a:pPr>
            <a:r>
              <a:rPr sz="1650" b="0">
                <a:solidFill>
                  <a:srgbClr val="1F2A3A"/>
                </a:solidFill>
                <a:latin typeface="맑은 고딕"/>
                <a:ea typeface="맑은 고딕"/>
                <a:cs typeface="맑은 고딕"/>
              </a:rPr>
              <a:t>한 질문에</a:t>
            </a:r>
          </a:p>
          <a:p>
            <a:pPr algn="ctr" eaLnBrk="0">
              <a:lnSpc>
                <a:spcPct val="110000"/>
              </a:lnSpc>
              <a:spcAft>
                <a:spcPts val="400"/>
              </a:spcAft>
            </a:pPr>
            <a:r>
              <a:rPr sz="1650" b="0">
                <a:solidFill>
                  <a:srgbClr val="1F2A3A"/>
                </a:solidFill>
                <a:latin typeface="맑은 고딕"/>
                <a:ea typeface="맑은 고딕"/>
                <a:cs typeface="맑은 고딕"/>
              </a:rPr>
              <a:t>답은 한 번</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570734"/>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이어서 처리한다</a:t>
            </a:r>
          </a:p>
          <a:p>
            <a:pPr algn="ctr" eaLnBrk="0">
              <a:lnSpc>
                <a:spcPct val="110000"/>
              </a:lnSpc>
              <a:spcAft>
                <a:spcPts val="400"/>
              </a:spcAft>
            </a:pPr>
            <a:r>
              <a:rPr sz="1650" b="0">
                <a:solidFill>
                  <a:srgbClr val="1F2A3A"/>
                </a:solidFill>
                <a:latin typeface="맑은 고딕"/>
                <a:ea typeface="맑은 고딕"/>
                <a:cs typeface="맑은 고딕"/>
              </a:rPr>
              <a:t>답을 반영해 재실행하여</a:t>
            </a:r>
          </a:p>
          <a:p>
            <a:pPr algn="ctr" eaLnBrk="0">
              <a:lnSpc>
                <a:spcPct val="110000"/>
              </a:lnSpc>
              <a:spcAft>
                <a:spcPts val="400"/>
              </a:spcAft>
            </a:pPr>
            <a:r>
              <a:rPr sz="1650" b="0">
                <a:solidFill>
                  <a:srgbClr val="1F2A3A"/>
                </a:solidFill>
                <a:latin typeface="맑은 고딕"/>
                <a:ea typeface="맑은 고딕"/>
                <a:cs typeface="맑은 고딕"/>
              </a:rPr>
              <a:t>업무 DB를 조회하고</a:t>
            </a:r>
          </a:p>
          <a:p>
            <a:pPr algn="ctr" eaLnBrk="0">
              <a:lnSpc>
                <a:spcPct val="110000"/>
              </a:lnSpc>
              <a:spcAft>
                <a:spcPts val="400"/>
              </a:spcAft>
            </a:pPr>
            <a:r>
              <a:rPr sz="1650" b="0">
                <a:solidFill>
                  <a:srgbClr val="1F2A3A"/>
                </a:solidFill>
                <a:latin typeface="맑은 고딕"/>
                <a:ea typeface="맑은 고딕"/>
                <a:cs typeface="맑은 고딕"/>
              </a:rPr>
              <a:t>HYD-02의 결과를 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질문으로 채우는 것과 바꾸지 못하는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업무 정보의 답은 승인이나 도구 권한을 대신하지 않으며, 실제 권한은 시스템이 별도로 검사한다.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묻는다</a:t>
            </a:r>
          </a:p>
        </p:txBody>
      </p:sp>
      <p:sp>
        <p:nvSpPr>
          <p:cNvPr id="10" name="TextBox 9"/>
          <p:cNvSpPr txBox="1"/>
          <p:nvPr/>
        </p:nvSpPr>
        <p:spPr>
          <a:xfrm>
            <a:off x="822959" y="3214433"/>
            <a:ext cx="4632807" cy="2056765"/>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대상 설비, 수량, 사유처럼 요청에서 빠진 업무 정보</a:t>
            </a:r>
          </a:p>
          <a:p>
            <a:pPr algn="l" eaLnBrk="0" marL="194310" indent="-194310">
              <a:lnSpc>
                <a:spcPct val="110000"/>
              </a:lnSpc>
              <a:spcAft>
                <a:spcPts val="600"/>
              </a:spcAft>
            </a:pPr>
            <a:r>
              <a:rPr sz="1700" b="0">
                <a:solidFill>
                  <a:srgbClr val="1F2A3A"/>
                </a:solidFill>
                <a:latin typeface="맑은 고딕"/>
                <a:ea typeface="맑은 고딕"/>
                <a:cs typeface="맑은 고딕"/>
              </a:rPr>
              <a:t>• 연결된 도구로 조회해도 확인할 수 없는 것</a:t>
            </a:r>
          </a:p>
          <a:p>
            <a:pPr algn="l" eaLnBrk="0" marL="194310" indent="-194310">
              <a:lnSpc>
                <a:spcPct val="110000"/>
              </a:lnSpc>
              <a:spcAft>
                <a:spcPts val="600"/>
              </a:spcAft>
            </a:pPr>
            <a:r>
              <a:rPr sz="1700" b="0">
                <a:solidFill>
                  <a:srgbClr val="1F2A3A"/>
                </a:solidFill>
                <a:latin typeface="맑은 고딕"/>
                <a:ea typeface="맑은 고딕"/>
                <a:cs typeface="맑은 고딕"/>
              </a:rPr>
              <a:t>• 답은 그 값을 채우는 입력이 된다</a:t>
            </a:r>
          </a:p>
        </p:txBody>
      </p:sp>
      <p:sp>
        <p:nvSpPr>
          <p:cNvPr id="11" name="Rounded Rectangle 10"/>
          <p:cNvSpPr/>
          <p:nvPr/>
        </p:nvSpPr>
        <p:spPr>
          <a:xfrm>
            <a:off x="868680" y="5362638"/>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 정보</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바꾸지 못한다</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도구로 읽을 수 있는 값은 묻지 않고 조회한다</a:t>
            </a:r>
          </a:p>
          <a:p>
            <a:pPr algn="l" eaLnBrk="0" marL="200025" indent="-200025">
              <a:lnSpc>
                <a:spcPct val="110000"/>
              </a:lnSpc>
              <a:spcAft>
                <a:spcPts val="600"/>
              </a:spcAft>
            </a:pPr>
            <a:r>
              <a:rPr sz="1750" b="0">
                <a:solidFill>
                  <a:srgbClr val="1F2A3A"/>
                </a:solidFill>
                <a:latin typeface="맑은 고딕"/>
                <a:ea typeface="맑은 고딕"/>
                <a:cs typeface="맑은 고딕"/>
              </a:rPr>
              <a:t>• 「도구 접근 거절이나 설비 조치 승인 우회에는 쓰지 마세요」</a:t>
            </a:r>
          </a:p>
          <a:p>
            <a:pPr algn="l" eaLnBrk="0" marL="200025" indent="-200025">
              <a:lnSpc>
                <a:spcPct val="110000"/>
              </a:lnSpc>
              <a:spcAft>
                <a:spcPts val="600"/>
              </a:spcAft>
            </a:pPr>
            <a:r>
              <a:rPr sz="1750" b="0">
                <a:solidFill>
                  <a:srgbClr val="1F2A3A"/>
                </a:solidFill>
                <a:latin typeface="맑은 고딕"/>
                <a:ea typeface="맑은 고딕"/>
                <a:cs typeface="맑은 고딕"/>
              </a:rPr>
              <a:t>• 「답변은 실행 권한을 바꾸지 않습니다」</a:t>
            </a:r>
          </a:p>
        </p:txBody>
      </p:sp>
      <p:sp>
        <p:nvSpPr>
          <p:cNvPr id="18" name="Rounded Rectangle 17"/>
          <p:cNvSpPr/>
          <p:nvPr/>
        </p:nvSpPr>
        <p:spPr>
          <a:xfrm>
            <a:off x="6781647" y="536263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권한과 승인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멈춘 작업 닫기: 끝나지 않는 작업을 사람이 끝낸다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멈춘 작업은 기록과 사유를 확인해 닫으며, 정상 결과가 없다는 사실과 아무 행동도 없었다는 판단을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ectangle 5"/>
          <p:cNvSpPr/>
          <p:nvPr/>
        </p:nvSpPr>
        <p:spPr>
          <a:xfrm>
            <a:off x="1935441" y="2844546"/>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428494"/>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layer-stop" descr="player-stop_13294B_1.6.png"/>
          <p:cNvPicPr>
            <a:picLocks noChangeAspect="1"/>
          </p:cNvPicPr>
          <p:nvPr/>
        </p:nvPicPr>
        <p:blipFill>
          <a:blip r:embed="rId3"/>
          <a:stretch>
            <a:fillRect/>
          </a:stretch>
        </p:blipFill>
        <p:spPr>
          <a:xfrm>
            <a:off x="1718271" y="2645664"/>
            <a:ext cx="434340" cy="434340"/>
          </a:xfrm>
          <a:prstGeom prst="rect">
            <a:avLst/>
          </a:prstGeom>
        </p:spPr>
      </p:pic>
      <p:sp>
        <p:nvSpPr>
          <p:cNvPr id="9" name="Oval 8"/>
          <p:cNvSpPr/>
          <p:nvPr/>
        </p:nvSpPr>
        <p:spPr>
          <a:xfrm>
            <a:off x="2095461" y="2382774"/>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382774"/>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480054"/>
            <a:ext cx="2627299" cy="2074164"/>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작업이 멈춘다</a:t>
            </a:r>
          </a:p>
          <a:p>
            <a:pPr algn="ctr" eaLnBrk="0">
              <a:lnSpc>
                <a:spcPct val="110000"/>
              </a:lnSpc>
              <a:spcAft>
                <a:spcPts val="400"/>
              </a:spcAft>
            </a:pPr>
            <a:r>
              <a:rPr sz="1650" b="0">
                <a:solidFill>
                  <a:srgbClr val="1F2A3A"/>
                </a:solidFill>
                <a:latin typeface="맑은 고딕"/>
                <a:ea typeface="맑은 고딕"/>
                <a:cs typeface="맑은 고딕"/>
              </a:rPr>
              <a:t>한도 초과(실행 1,800초 · 형식 교정 2회)</a:t>
            </a:r>
          </a:p>
          <a:p>
            <a:pPr algn="ctr" eaLnBrk="0">
              <a:lnSpc>
                <a:spcPct val="110000"/>
              </a:lnSpc>
              <a:spcAft>
                <a:spcPts val="400"/>
              </a:spcAft>
            </a:pPr>
            <a:r>
              <a:rPr sz="1650" b="0">
                <a:solidFill>
                  <a:srgbClr val="1F2A3A"/>
                </a:solidFill>
                <a:latin typeface="맑은 고딕"/>
                <a:ea typeface="맑은 고딕"/>
                <a:cs typeface="맑은 고딕"/>
              </a:rPr>
              <a:t>또는 실행 실패</a:t>
            </a:r>
          </a:p>
          <a:p>
            <a:pPr algn="ctr" eaLnBrk="0">
              <a:lnSpc>
                <a:spcPct val="110000"/>
              </a:lnSpc>
              <a:spcAft>
                <a:spcPts val="400"/>
              </a:spcAft>
            </a:pPr>
            <a:r>
              <a:rPr sz="1650" b="0">
                <a:solidFill>
                  <a:srgbClr val="1F2A3A"/>
                </a:solidFill>
                <a:latin typeface="맑은 고딕"/>
                <a:ea typeface="맑은 고딕"/>
                <a:cs typeface="맑은 고딕"/>
              </a:rPr>
              <a:t>정상 결과 미제출 상태</a:t>
            </a:r>
          </a:p>
        </p:txBody>
      </p:sp>
      <p:sp>
        <p:nvSpPr>
          <p:cNvPr id="12" name="Oval 11"/>
          <p:cNvSpPr/>
          <p:nvPr/>
        </p:nvSpPr>
        <p:spPr>
          <a:xfrm>
            <a:off x="4274705" y="2428494"/>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91875" y="2645664"/>
            <a:ext cx="434340" cy="434340"/>
          </a:xfrm>
          <a:prstGeom prst="rect">
            <a:avLst/>
          </a:prstGeom>
        </p:spPr>
      </p:pic>
      <p:sp>
        <p:nvSpPr>
          <p:cNvPr id="14" name="Oval 13"/>
          <p:cNvSpPr/>
          <p:nvPr/>
        </p:nvSpPr>
        <p:spPr>
          <a:xfrm>
            <a:off x="4869065" y="2382774"/>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382774"/>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480054"/>
            <a:ext cx="2627299" cy="2074164"/>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담당자가 기록을 읽는다</a:t>
            </a:r>
          </a:p>
          <a:p>
            <a:pPr algn="ctr" eaLnBrk="0">
              <a:lnSpc>
                <a:spcPct val="110000"/>
              </a:lnSpc>
              <a:spcAft>
                <a:spcPts val="400"/>
              </a:spcAft>
            </a:pPr>
            <a:r>
              <a:rPr sz="1650" b="0">
                <a:solidFill>
                  <a:srgbClr val="1F2A3A"/>
                </a:solidFill>
                <a:latin typeface="맑은 고딕"/>
                <a:ea typeface="맑은 고딕"/>
                <a:cs typeface="맑은 고딕"/>
              </a:rPr>
              <a:t>어디까지 진행했는가</a:t>
            </a:r>
          </a:p>
          <a:p>
            <a:pPr algn="ctr" eaLnBrk="0">
              <a:lnSpc>
                <a:spcPct val="110000"/>
              </a:lnSpc>
              <a:spcAft>
                <a:spcPts val="400"/>
              </a:spcAft>
            </a:pPr>
            <a:r>
              <a:rPr sz="1650" b="0">
                <a:solidFill>
                  <a:srgbClr val="1F2A3A"/>
                </a:solidFill>
                <a:latin typeface="맑은 고딕"/>
                <a:ea typeface="맑은 고딕"/>
                <a:cs typeface="맑은 고딕"/>
              </a:rPr>
              <a:t>왜 멈췄는가</a:t>
            </a:r>
          </a:p>
          <a:p>
            <a:pPr algn="ctr" eaLnBrk="0">
              <a:lnSpc>
                <a:spcPct val="110000"/>
              </a:lnSpc>
              <a:spcAft>
                <a:spcPts val="400"/>
              </a:spcAft>
            </a:pPr>
            <a:r>
              <a:rPr sz="1650" b="0">
                <a:solidFill>
                  <a:srgbClr val="1F2A3A"/>
                </a:solidFill>
                <a:latin typeface="맑은 고딕"/>
                <a:ea typeface="맑은 고딕"/>
                <a:cs typeface="맑은 고딕"/>
              </a:rPr>
              <a:t>처리 기록에서 확인</a:t>
            </a:r>
          </a:p>
        </p:txBody>
      </p:sp>
      <p:sp>
        <p:nvSpPr>
          <p:cNvPr id="17" name="Oval 16"/>
          <p:cNvSpPr/>
          <p:nvPr/>
        </p:nvSpPr>
        <p:spPr>
          <a:xfrm>
            <a:off x="7048309" y="2428494"/>
            <a:ext cx="868680" cy="86868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265479" y="2645664"/>
            <a:ext cx="434340" cy="434340"/>
          </a:xfrm>
          <a:prstGeom prst="rect">
            <a:avLst/>
          </a:prstGeom>
        </p:spPr>
      </p:pic>
      <p:sp>
        <p:nvSpPr>
          <p:cNvPr id="19" name="Oval 18"/>
          <p:cNvSpPr/>
          <p:nvPr/>
        </p:nvSpPr>
        <p:spPr>
          <a:xfrm>
            <a:off x="7642669" y="2382774"/>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382774"/>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480054"/>
            <a:ext cx="2627299" cy="2074164"/>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사유를 적고 닫는다</a:t>
            </a:r>
          </a:p>
          <a:p>
            <a:pPr algn="ctr" eaLnBrk="0">
              <a:lnSpc>
                <a:spcPct val="110000"/>
              </a:lnSpc>
              <a:spcAft>
                <a:spcPts val="400"/>
              </a:spcAft>
            </a:pPr>
            <a:r>
              <a:rPr sz="1650" b="0">
                <a:solidFill>
                  <a:srgbClr val="1F2A3A"/>
                </a:solidFill>
                <a:latin typeface="맑은 고딕"/>
                <a:ea typeface="맑은 고딕"/>
                <a:cs typeface="맑은 고딕"/>
              </a:rPr>
              <a:t>닫은 사람 · 사유 기록</a:t>
            </a:r>
          </a:p>
          <a:p>
            <a:pPr algn="ctr" eaLnBrk="0">
              <a:lnSpc>
                <a:spcPct val="110000"/>
              </a:lnSpc>
              <a:spcAft>
                <a:spcPts val="400"/>
              </a:spcAft>
            </a:pPr>
            <a:r>
              <a:rPr sz="1650" b="0">
                <a:solidFill>
                  <a:srgbClr val="1F2A3A"/>
                </a:solidFill>
                <a:latin typeface="맑은 고딕"/>
                <a:ea typeface="맑은 고딕"/>
                <a:cs typeface="맑은 고딕"/>
              </a:rPr>
              <a:t>그 작업은 취소 표시</a:t>
            </a:r>
          </a:p>
          <a:p>
            <a:pPr algn="ctr" eaLnBrk="0">
              <a:lnSpc>
                <a:spcPct val="110000"/>
              </a:lnSpc>
              <a:spcAft>
                <a:spcPts val="400"/>
              </a:spcAft>
            </a:pPr>
            <a:r>
              <a:rPr sz="1650" b="0">
                <a:solidFill>
                  <a:srgbClr val="1F2A3A"/>
                </a:solidFill>
                <a:latin typeface="맑은 고딕"/>
                <a:ea typeface="맑은 고딕"/>
                <a:cs typeface="맑은 고딕"/>
              </a:rPr>
              <a:t>사람 작업 · 진행 중인 작업은 제외</a:t>
            </a:r>
          </a:p>
        </p:txBody>
      </p:sp>
      <p:sp>
        <p:nvSpPr>
          <p:cNvPr id="22" name="Oval 21"/>
          <p:cNvSpPr/>
          <p:nvPr/>
        </p:nvSpPr>
        <p:spPr>
          <a:xfrm>
            <a:off x="9821913" y="2428494"/>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039083" y="2645664"/>
            <a:ext cx="434340" cy="434340"/>
          </a:xfrm>
          <a:prstGeom prst="rect">
            <a:avLst/>
          </a:prstGeom>
        </p:spPr>
      </p:pic>
      <p:sp>
        <p:nvSpPr>
          <p:cNvPr id="24" name="Oval 23"/>
          <p:cNvSpPr/>
          <p:nvPr/>
        </p:nvSpPr>
        <p:spPr>
          <a:xfrm>
            <a:off x="10416273" y="2382774"/>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382774"/>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480054"/>
            <a:ext cx="2627299" cy="2074164"/>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처리 건이 끝난다</a:t>
            </a:r>
          </a:p>
          <a:p>
            <a:pPr algn="ctr" eaLnBrk="0">
              <a:lnSpc>
                <a:spcPct val="110000"/>
              </a:lnSpc>
              <a:spcAft>
                <a:spcPts val="400"/>
              </a:spcAft>
            </a:pPr>
            <a:r>
              <a:rPr sz="1650" b="0">
                <a:solidFill>
                  <a:srgbClr val="1F2A3A"/>
                </a:solidFill>
                <a:latin typeface="맑은 고딕"/>
                <a:ea typeface="맑은 고딕"/>
                <a:cs typeface="맑은 고딕"/>
              </a:rPr>
              <a:t>다른 열린 일이 없을 때</a:t>
            </a:r>
          </a:p>
          <a:p>
            <a:pPr algn="ctr" eaLnBrk="0">
              <a:lnSpc>
                <a:spcPct val="110000"/>
              </a:lnSpc>
              <a:spcAft>
                <a:spcPts val="400"/>
              </a:spcAft>
            </a:pPr>
            <a:r>
              <a:rPr sz="1650" b="0">
                <a:solidFill>
                  <a:srgbClr val="1F2A3A"/>
                </a:solidFill>
                <a:latin typeface="맑은 고딕"/>
                <a:ea typeface="맑은 고딕"/>
                <a:cs typeface="맑은 고딕"/>
              </a:rPr>
              <a:t>「사람이 닫음」 표시</a:t>
            </a:r>
          </a:p>
          <a:p>
            <a:pPr algn="ctr" eaLnBrk="0">
              <a:lnSpc>
                <a:spcPct val="110000"/>
              </a:lnSpc>
              <a:spcAft>
                <a:spcPts val="400"/>
              </a:spcAft>
            </a:pPr>
            <a:r>
              <a:rPr sz="1650" b="0">
                <a:solidFill>
                  <a:srgbClr val="1F2A3A"/>
                </a:solidFill>
                <a:latin typeface="맑은 고딕"/>
                <a:ea typeface="맑은 고딕"/>
                <a:cs typeface="맑은 고딕"/>
              </a:rPr>
              <a:t>업무 완료와 구분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기다림과 멈춤은 원인이 다르므로, 상태와 사유를 읽고 지원되는 처리 경로를 고른다.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담당자</a:t>
            </a:r>
          </a:p>
          <a:p>
            <a:pPr algn="l" eaLnBrk="0">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a:t>
            </a:r>
          </a:p>
          <a:p>
            <a:pPr algn="l" eaLnBrk="0">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근거를 확인해 재처리하거나</a:t>
            </a:r>
          </a:p>
          <a:p>
            <a:pPr algn="l" eaLnBrk="0">
              <a:lnSpc>
                <a:spcPct val="110000"/>
              </a:lnSpc>
            </a:pPr>
            <a:r>
              <a:rPr sz="1250" b="1">
                <a:solidFill>
                  <a:srgbClr val="556175"/>
                </a:solidFill>
                <a:latin typeface="맑은 고딕"/>
                <a:ea typeface="맑은 고딕"/>
                <a:cs typeface="맑은 고딕"/>
              </a:rPr>
              <a:t>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a:t>
            </a:r>
          </a:p>
          <a:p>
            <a:pPr algn="l" eaLnBrk="0">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승인 권한 · 결정 기록과</a:t>
            </a:r>
          </a:p>
          <a:p>
            <a:pPr algn="l" eaLnBrk="0">
              <a:lnSpc>
                <a:spcPct val="110000"/>
              </a:lnSpc>
            </a:pPr>
            <a:r>
              <a:rPr sz="3400" b="1">
                <a:solidFill>
                  <a:srgbClr val="13294B"/>
                </a:solidFill>
                <a:latin typeface="맑은 고딕"/>
                <a:ea typeface="맑은 고딕"/>
                <a:cs typeface="맑은 고딕"/>
              </a:rPr>
              <a:t>AI의 검토</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승인할 수 있는 사람, 승인이 남기는 기록, 자동 검사와 사람의 승인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역할과 등급: 승인할 수 있는 사람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실제 역할 구성원인지와 지정 역할 또는 더 높은 등급인지를 검사하며, 같은 등급의 다른 역할은 구별한다.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64764"/>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718384"/>
            <a:ext cx="424281" cy="424281"/>
          </a:xfrm>
          <a:prstGeom prst="rect">
            <a:avLst/>
          </a:prstGeom>
        </p:spPr>
      </p:pic>
      <p:sp>
        <p:nvSpPr>
          <p:cNvPr id="9" name="TextBox 8"/>
          <p:cNvSpPr txBox="1"/>
          <p:nvPr/>
        </p:nvSpPr>
        <p:spPr>
          <a:xfrm>
            <a:off x="713232"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조치마다 승인 역할</a:t>
            </a:r>
          </a:p>
          <a:p>
            <a:pPr algn="l" eaLnBrk="0" marL="154305" indent="-154305">
              <a:lnSpc>
                <a:spcPct val="110000"/>
              </a:lnSpc>
              <a:spcAft>
                <a:spcPts val="400"/>
              </a:spcAft>
            </a:pPr>
            <a:r>
              <a:rPr sz="1350" b="0">
                <a:solidFill>
                  <a:srgbClr val="1F2A3A"/>
                </a:solidFill>
                <a:latin typeface="맑은 고딕"/>
                <a:ea typeface="맑은 고딕"/>
                <a:cs typeface="맑은 고딕"/>
              </a:rPr>
              <a:t>• 팬 최대 운전: 운전원</a:t>
            </a:r>
          </a:p>
          <a:p>
            <a:pPr algn="l" eaLnBrk="0" marL="154305" indent="-154305">
              <a:lnSpc>
                <a:spcPct val="110000"/>
              </a:lnSpc>
              <a:spcAft>
                <a:spcPts val="400"/>
              </a:spcAft>
            </a:pPr>
            <a:r>
              <a:rPr sz="135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189347"/>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3390823"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64764"/>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3773043" y="2718384"/>
            <a:ext cx="424281" cy="424281"/>
          </a:xfrm>
          <a:prstGeom prst="rect">
            <a:avLst/>
          </a:prstGeom>
        </p:spPr>
      </p:pic>
      <p:sp>
        <p:nvSpPr>
          <p:cNvPr id="15" name="TextBox 14"/>
          <p:cNvSpPr txBox="1"/>
          <p:nvPr/>
        </p:nvSpPr>
        <p:spPr>
          <a:xfrm>
            <a:off x="3555415"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역할의 등급</a:t>
            </a:r>
          </a:p>
          <a:p>
            <a:pPr algn="l" eaLnBrk="0" marL="154305" indent="-154305">
              <a:lnSpc>
                <a:spcPct val="110000"/>
              </a:lnSpc>
              <a:spcAft>
                <a:spcPts val="400"/>
              </a:spcAft>
            </a:pPr>
            <a:r>
              <a:rPr sz="1350" b="0">
                <a:solidFill>
                  <a:srgbClr val="1F2A3A"/>
                </a:solidFill>
                <a:latin typeface="맑은 고딕"/>
                <a:ea typeface="맑은 고딕"/>
                <a:cs typeface="맑은 고딕"/>
              </a:rPr>
              <a:t>• 운전원 1</a:t>
            </a:r>
          </a:p>
          <a:p>
            <a:pPr algn="l" eaLnBrk="0" marL="154305" indent="-154305">
              <a:lnSpc>
                <a:spcPct val="110000"/>
              </a:lnSpc>
              <a:spcAft>
                <a:spcPts val="400"/>
              </a:spcAft>
            </a:pPr>
            <a:r>
              <a:rPr sz="1350" b="0">
                <a:solidFill>
                  <a:srgbClr val="1F2A3A"/>
                </a:solidFill>
                <a:latin typeface="맑은 고딕"/>
                <a:ea typeface="맑은 고딕"/>
                <a:cs typeface="맑은 고딕"/>
              </a:rPr>
              <a:t>• 생산관리자 · 설비보전팀장 · 구매팀장 · 품질팀장 2</a:t>
            </a:r>
          </a:p>
          <a:p>
            <a:pPr algn="l" eaLnBrk="0" marL="154305" indent="-154305">
              <a:lnSpc>
                <a:spcPct val="110000"/>
              </a:lnSpc>
              <a:spcAft>
                <a:spcPts val="400"/>
              </a:spcAft>
            </a:pPr>
            <a:r>
              <a:rPr sz="1350" b="0">
                <a:solidFill>
                  <a:srgbClr val="1F2A3A"/>
                </a:solidFill>
                <a:latin typeface="맑은 고딕"/>
                <a:ea typeface="맑은 고딕"/>
                <a:cs typeface="맑은 고딕"/>
              </a:rPr>
              <a:t>• 공장장 3</a:t>
            </a:r>
          </a:p>
        </p:txBody>
      </p:sp>
      <p:sp>
        <p:nvSpPr>
          <p:cNvPr id="16" name="Rounded Rectangle 15"/>
          <p:cNvSpPr/>
          <p:nvPr/>
        </p:nvSpPr>
        <p:spPr>
          <a:xfrm>
            <a:off x="3619423" y="5189347"/>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89347"/>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6233007" y="2363596"/>
            <a:ext cx="2567863" cy="3255518"/>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564764"/>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6615226" y="2718384"/>
            <a:ext cx="424281" cy="424281"/>
          </a:xfrm>
          <a:prstGeom prst="rect">
            <a:avLst/>
          </a:prstGeom>
        </p:spPr>
      </p:pic>
      <p:sp>
        <p:nvSpPr>
          <p:cNvPr id="21" name="TextBox 20"/>
          <p:cNvSpPr txBox="1"/>
          <p:nvPr/>
        </p:nvSpPr>
        <p:spPr>
          <a:xfrm>
            <a:off x="6397599"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두 가지 검사</a:t>
            </a:r>
          </a:p>
          <a:p>
            <a:pPr algn="l" eaLnBrk="0" marL="154305" indent="-154305">
              <a:lnSpc>
                <a:spcPct val="110000"/>
              </a:lnSpc>
              <a:spcAft>
                <a:spcPts val="400"/>
              </a:spcAft>
            </a:pPr>
            <a:r>
              <a:rPr sz="1350" b="0">
                <a:solidFill>
                  <a:srgbClr val="1F2A3A"/>
                </a:solidFill>
                <a:latin typeface="맑은 고딕"/>
                <a:ea typeface="맑은 고딕"/>
                <a:cs typeface="맑은 고딕"/>
              </a:rPr>
              <a:t>• 승인하는 사람이 내세운 역할의 구성원인가</a:t>
            </a:r>
          </a:p>
          <a:p>
            <a:pPr algn="l" eaLnBrk="0" marL="154305" indent="-154305">
              <a:lnSpc>
                <a:spcPct val="110000"/>
              </a:lnSpc>
              <a:spcAft>
                <a:spcPts val="400"/>
              </a:spcAft>
            </a:pPr>
            <a:r>
              <a:rPr sz="1350" b="0">
                <a:solidFill>
                  <a:srgbClr val="1F2A3A"/>
                </a:solidFill>
                <a:latin typeface="맑은 고딕"/>
                <a:ea typeface="맑은 고딕"/>
                <a:cs typeface="맑은 고딕"/>
              </a:rPr>
              <a:t>• 그 역할이 승인 역할이거나 더 높은 등급인가</a:t>
            </a:r>
          </a:p>
        </p:txBody>
      </p:sp>
      <p:sp>
        <p:nvSpPr>
          <p:cNvPr id="22" name="Rounded Rectangle 21"/>
          <p:cNvSpPr/>
          <p:nvPr/>
        </p:nvSpPr>
        <p:spPr>
          <a:xfrm>
            <a:off x="6461607" y="5189347"/>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경계</a:t>
            </a:r>
          </a:p>
        </p:txBody>
      </p:sp>
      <p:sp>
        <p:nvSpPr>
          <p:cNvPr id="24" name="Rounded Rectangle 23"/>
          <p:cNvSpPr/>
          <p:nvPr/>
        </p:nvSpPr>
        <p:spPr>
          <a:xfrm>
            <a:off x="9075191" y="2363596"/>
            <a:ext cx="2567863" cy="3255518"/>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564764"/>
            <a:ext cx="731520" cy="731520"/>
          </a:xfrm>
          <a:prstGeom prst="ellipse">
            <a:avLst/>
          </a:prstGeom>
          <a:solidFill>
            <a:srgbClr val="E7F3FD"/>
          </a:solidFill>
          <a:ln>
            <a:noFill/>
          </a:ln>
        </p:spPr>
        <p:txBody>
          <a:bodyPr rtlCol="0" anchor="ctr"/>
          <a:lstStyle/>
          <a:p>
            <a:pPr algn="ctr"/>
          </a:p>
        </p:txBody>
      </p:sp>
      <p:pic>
        <p:nvPicPr>
          <p:cNvPr id="26" name="아이콘:writing-sign" descr="writing-sign_13294B_1.6.png"/>
          <p:cNvPicPr>
            <a:picLocks noChangeAspect="1"/>
          </p:cNvPicPr>
          <p:nvPr/>
        </p:nvPicPr>
        <p:blipFill>
          <a:blip r:embed="rId6"/>
          <a:stretch>
            <a:fillRect/>
          </a:stretch>
        </p:blipFill>
        <p:spPr>
          <a:xfrm>
            <a:off x="9457410" y="2718384"/>
            <a:ext cx="424281" cy="424281"/>
          </a:xfrm>
          <a:prstGeom prst="rect">
            <a:avLst/>
          </a:prstGeom>
        </p:spPr>
      </p:pic>
      <p:sp>
        <p:nvSpPr>
          <p:cNvPr id="27" name="TextBox 26"/>
          <p:cNvSpPr txBox="1"/>
          <p:nvPr/>
        </p:nvSpPr>
        <p:spPr>
          <a:xfrm>
            <a:off x="9239783" y="3387724"/>
            <a:ext cx="2238679" cy="1728470"/>
          </a:xfrm>
          <a:prstGeom prst="rect">
            <a:avLst/>
          </a:prstGeom>
          <a:noFill/>
        </p:spPr>
        <p:txBody>
          <a:bodyPr wrap="square" anchor="t"/>
          <a:lstStyle/>
          <a:p>
            <a:pPr algn="l" eaLnBrk="0">
              <a:lnSpc>
                <a:spcPct val="110000"/>
              </a:lnSpc>
              <a:spcAft>
                <a:spcPts val="400"/>
              </a:spcAft>
            </a:pPr>
            <a:r>
              <a:rPr sz="1750" b="1">
                <a:solidFill>
                  <a:srgbClr val="13294B"/>
                </a:solidFill>
                <a:latin typeface="맑은 고딕"/>
                <a:ea typeface="맑은 고딕"/>
                <a:cs typeface="맑은 고딕"/>
              </a:rPr>
              <a:t>비유: 회사의 결재선</a:t>
            </a:r>
          </a:p>
          <a:p>
            <a:pPr algn="l" eaLnBrk="0" marL="154305" indent="-154305">
              <a:lnSpc>
                <a:spcPct val="110000"/>
              </a:lnSpc>
              <a:spcAft>
                <a:spcPts val="400"/>
              </a:spcAft>
            </a:pPr>
            <a:r>
              <a:rPr sz="1350" b="0">
                <a:solidFill>
                  <a:srgbClr val="1F2A3A"/>
                </a:solidFill>
                <a:latin typeface="맑은 고딕"/>
                <a:ea typeface="맑은 고딕"/>
                <a:cs typeface="맑은 고딕"/>
              </a:rPr>
              <a:t>• 닮은 점: 일마다 결재할 자리가 정해져 있다</a:t>
            </a:r>
          </a:p>
          <a:p>
            <a:pPr algn="l" eaLnBrk="0" marL="154305" indent="-154305">
              <a:lnSpc>
                <a:spcPct val="110000"/>
              </a:lnSpc>
              <a:spcAft>
                <a:spcPts val="400"/>
              </a:spcAft>
            </a:pPr>
            <a:r>
              <a:rPr sz="1350" b="0">
                <a:solidFill>
                  <a:srgbClr val="1F2A3A"/>
                </a:solidFill>
                <a:latin typeface="맑은 고딕"/>
                <a:ea typeface="맑은 고딕"/>
                <a:cs typeface="맑은 고딕"/>
              </a:rPr>
              <a:t>• 다른 점: 규칙은 지식 그래프에 있고 시스템이 검사한다</a:t>
            </a:r>
          </a:p>
        </p:txBody>
      </p:sp>
      <p:sp>
        <p:nvSpPr>
          <p:cNvPr id="28" name="Rounded Rectangle 27"/>
          <p:cNvSpPr/>
          <p:nvPr/>
        </p:nvSpPr>
        <p:spPr>
          <a:xfrm>
            <a:off x="9303791" y="5189347"/>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18934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비유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결정 기록: 승인하는 순간 남는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결정 기록은 결정의 책임을 남기는 </a:t>
            </a:r>
            <a:r>
              <a:rPr sz="1600" b="1">
                <a:solidFill>
                  <a:srgbClr val="1A6FC4"/>
                </a:solidFill>
                <a:latin typeface="맑은 고딕"/>
                <a:ea typeface="맑은 고딕"/>
                <a:cs typeface="맑은 고딕"/>
              </a:rPr>
              <a:t>감사 기록(Audit Trail)</a:t>
            </a:r>
            <a:r>
              <a:rPr sz="1600" b="0">
                <a:solidFill>
                  <a:srgbClr val="556175"/>
                </a:solidFill>
                <a:latin typeface="맑은 고딕"/>
                <a:ea typeface="맑은 고딕"/>
                <a:cs typeface="맑은 고딕"/>
              </a:rPr>
              <a:t>이어서, 승인한 사람과 역할은 시스템만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것</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정해진 방식</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승인한 사람과 역할</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승인을 받은 시스템이 적는다</a:t>
            </a:r>
          </a:p>
          <a:p>
            <a:pPr algn="l" eaLnBrk="0">
              <a:lnSpc>
                <a:spcPct val="110000"/>
              </a:lnSpc>
            </a:pPr>
            <a:r>
              <a:rPr sz="1400" b="0">
                <a:solidFill>
                  <a:srgbClr val="1F2A3A"/>
                </a:solidFill>
                <a:latin typeface="맑은 고딕"/>
                <a:ea typeface="맑은 고딕"/>
                <a:cs typeface="맑은 고딕"/>
              </a:rPr>
              <a:t>에이전트의 출력으로는 채울 수 없다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고른 안</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고른 안의 사본과 함께</a:t>
            </a:r>
          </a:p>
          <a:p>
            <a:pPr algn="l" eaLnBrk="0">
              <a:lnSpc>
                <a:spcPct val="110000"/>
              </a:lnSpc>
            </a:pPr>
            <a:r>
              <a:rPr sz="1400" b="0">
                <a:solidFill>
                  <a:srgbClr val="1F2A3A"/>
                </a:solidFill>
                <a:latin typeface="맑은 고딕"/>
                <a:ea typeface="맑은 고딕"/>
                <a:cs typeface="맑은 고딕"/>
              </a:rPr>
              <a:t>추천안 그대로인지 대신 골랐는지가 남는다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최대 운전</a:t>
            </a:r>
          </a:p>
          <a:p>
            <a:pPr algn="l" eaLnBrk="0">
              <a:lnSpc>
                <a:spcPct val="110000"/>
              </a:lnSpc>
            </a:pPr>
            <a:r>
              <a:rPr sz="1250" b="1">
                <a:solidFill>
                  <a:srgbClr val="556175"/>
                </a:solidFill>
                <a:latin typeface="맑은 고딕"/>
                <a:ea typeface="맑은 고딕"/>
                <a:cs typeface="맑은 고딕"/>
              </a:rPr>
              <a:t>추천안 그대로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시각과 기다린 시간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접수된 때와</a:t>
            </a:r>
          </a:p>
          <a:p>
            <a:pPr algn="l" eaLnBrk="0">
              <a:lnSpc>
                <a:spcPct val="110000"/>
              </a:lnSpc>
            </a:pPr>
            <a:r>
              <a:rPr sz="1400" b="0">
                <a:solidFill>
                  <a:srgbClr val="1F2A3A"/>
                </a:solidFill>
                <a:latin typeface="맑은 고딕"/>
                <a:ea typeface="맑은 고딕"/>
                <a:cs typeface="맑은 고딕"/>
              </a:rPr>
              <a:t>승인 요청부터 기다린 시간</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11:14:56</a:t>
            </a:r>
          </a:p>
          <a:p>
            <a:pPr algn="l" eaLnBrk="0">
              <a:lnSpc>
                <a:spcPct val="110000"/>
              </a:lnSpc>
            </a:pPr>
            <a:r>
              <a:rPr sz="1250" b="1">
                <a:solidFill>
                  <a:srgbClr val="556175"/>
                </a:solidFill>
                <a:latin typeface="맑은 고딕"/>
                <a:ea typeface="맑은 고딕"/>
                <a:cs typeface="맑은 고딕"/>
              </a:rPr>
              <a:t>약 13초</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순간 다시 확인한 값</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 때의 값이 아니라</a:t>
            </a:r>
          </a:p>
          <a:p>
            <a:pPr algn="l" eaLnBrk="0">
              <a:lnSpc>
                <a:spcPct val="110000"/>
              </a:lnSpc>
            </a:pPr>
            <a:r>
              <a:rPr sz="1400" b="0">
                <a:solidFill>
                  <a:srgbClr val="1F2A3A"/>
                </a:solidFill>
                <a:latin typeface="맑은 고딕"/>
                <a:ea typeface="맑은 고딕"/>
                <a:cs typeface="맑은 고딕"/>
              </a:rPr>
              <a:t>승인할 때 다시 읽은 값</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유온 61.8 ℃</a:t>
            </a:r>
          </a:p>
          <a:p>
            <a:pPr algn="l" eaLnBrk="0">
              <a:lnSpc>
                <a:spcPct val="110000"/>
              </a:lnSpc>
            </a:pPr>
            <a:r>
              <a:rPr sz="1250" b="1">
                <a:solidFill>
                  <a:srgbClr val="1A6FC4"/>
                </a:solidFill>
                <a:latin typeface="맑은 고딕"/>
                <a:ea typeface="맑은 고딕"/>
                <a:cs typeface="맑은 고딕"/>
              </a:rPr>
              <a:t>원격 자동, 운전 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뒤의 재확인: 지금도 실행할 수 있는가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HYD는 실행 전 현재 근거와 규칙을 다시 확인하며, 실행 조건이나 동의한 내용이 달라졌으면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186432"/>
            <a:ext cx="2485567" cy="3609848"/>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369312"/>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579283" y="2522931"/>
            <a:ext cx="424281" cy="424281"/>
          </a:xfrm>
          <a:prstGeom prst="rect">
            <a:avLst/>
          </a:prstGeom>
        </p:spPr>
      </p:pic>
      <p:sp>
        <p:nvSpPr>
          <p:cNvPr id="9" name="TextBox 8"/>
          <p:cNvSpPr txBox="1"/>
          <p:nvPr/>
        </p:nvSpPr>
        <p:spPr>
          <a:xfrm>
            <a:off x="621792" y="3173984"/>
            <a:ext cx="2339263" cy="2549143"/>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승인 요청</a:t>
            </a:r>
          </a:p>
          <a:p>
            <a:pPr algn="ctr" eaLnBrk="0">
              <a:lnSpc>
                <a:spcPct val="110000"/>
              </a:lnSpc>
              <a:spcAft>
                <a:spcPts val="400"/>
              </a:spcAft>
            </a:pPr>
            <a:r>
              <a:rPr sz="1550" b="0">
                <a:solidFill>
                  <a:srgbClr val="1F2A3A"/>
                </a:solidFill>
                <a:latin typeface="맑은 고딕"/>
                <a:ea typeface="맑은 고딕"/>
                <a:cs typeface="맑은 고딕"/>
              </a:rPr>
              <a:t>담당자가 고른 안과</a:t>
            </a:r>
          </a:p>
          <a:p>
            <a:pPr algn="ctr" eaLnBrk="0">
              <a:lnSpc>
                <a:spcPct val="110000"/>
              </a:lnSpc>
              <a:spcAft>
                <a:spcPts val="400"/>
              </a:spcAft>
            </a:pPr>
            <a:r>
              <a:rPr sz="1550" b="0">
                <a:solidFill>
                  <a:srgbClr val="1F2A3A"/>
                </a:solidFill>
                <a:latin typeface="맑은 고딕"/>
                <a:ea typeface="맑은 고딕"/>
                <a:cs typeface="맑은 고딕"/>
              </a:rPr>
              <a:t>역할을 받는다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186432"/>
            <a:ext cx="2485567" cy="3609848"/>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369312"/>
            <a:ext cx="731520" cy="731520"/>
          </a:xfrm>
          <a:prstGeom prst="ellipse">
            <a:avLst/>
          </a:prstGeom>
          <a:solidFill>
            <a:srgbClr val="FFFFFF"/>
          </a:solidFill>
          <a:ln>
            <a:noFill/>
          </a:ln>
        </p:spPr>
        <p:txBody>
          <a:bodyPr rtlCol="0" anchor="ctr"/>
          <a:lstStyle/>
          <a:p>
            <a:pPr algn="ctr"/>
          </a:p>
        </p:txBody>
      </p:sp>
      <p:pic>
        <p:nvPicPr>
          <p:cNvPr id="13" name="아이콘:refresh" descr="refresh_13294B_1.6.png"/>
          <p:cNvPicPr>
            <a:picLocks noChangeAspect="1"/>
          </p:cNvPicPr>
          <p:nvPr/>
        </p:nvPicPr>
        <p:blipFill>
          <a:blip r:embed="rId4"/>
          <a:stretch>
            <a:fillRect/>
          </a:stretch>
        </p:blipFill>
        <p:spPr>
          <a:xfrm>
            <a:off x="4448898" y="2522931"/>
            <a:ext cx="424281" cy="424281"/>
          </a:xfrm>
          <a:prstGeom prst="rect">
            <a:avLst/>
          </a:prstGeom>
        </p:spPr>
      </p:pic>
      <p:sp>
        <p:nvSpPr>
          <p:cNvPr id="14" name="TextBox 13"/>
          <p:cNvSpPr txBox="1"/>
          <p:nvPr/>
        </p:nvSpPr>
        <p:spPr>
          <a:xfrm>
            <a:off x="3491407" y="3173984"/>
            <a:ext cx="2339263" cy="2549143"/>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지금의 값을 읽는다</a:t>
            </a:r>
          </a:p>
          <a:p>
            <a:pPr algn="ctr" eaLnBrk="0">
              <a:lnSpc>
                <a:spcPct val="110000"/>
              </a:lnSpc>
              <a:spcAft>
                <a:spcPts val="400"/>
              </a:spcAft>
            </a:pPr>
            <a:r>
              <a:rPr sz="1550" b="0">
                <a:solidFill>
                  <a:srgbClr val="1F2A3A"/>
                </a:solidFill>
                <a:latin typeface="맑은 고딕"/>
                <a:ea typeface="맑은 고딕"/>
                <a:cs typeface="맑은 고딕"/>
              </a:rPr>
              <a:t>추천 때가 아니라</a:t>
            </a:r>
          </a:p>
          <a:p>
            <a:pPr algn="ctr" eaLnBrk="0">
              <a:lnSpc>
                <a:spcPct val="110000"/>
              </a:lnSpc>
              <a:spcAft>
                <a:spcPts val="400"/>
              </a:spcAft>
            </a:pPr>
            <a:r>
              <a:rPr sz="1550" b="0">
                <a:solidFill>
                  <a:srgbClr val="1F2A3A"/>
                </a:solidFill>
                <a:latin typeface="맑은 고딕"/>
                <a:ea typeface="맑은 고딕"/>
                <a:cs typeface="맑은 고딕"/>
              </a:rPr>
              <a:t>지금의 유온, 운전 모드,</a:t>
            </a:r>
          </a:p>
          <a:p>
            <a:pPr algn="ctr" eaLnBrk="0">
              <a:lnSpc>
                <a:spcPct val="110000"/>
              </a:lnSpc>
              <a:spcAft>
                <a:spcPts val="400"/>
              </a:spcAft>
            </a:pPr>
            <a:r>
              <a:rPr sz="1550" b="0">
                <a:solidFill>
                  <a:srgbClr val="1F2A3A"/>
                </a:solidFill>
                <a:latin typeface="맑은 고딕"/>
                <a:ea typeface="맑은 고딕"/>
                <a:cs typeface="맑은 고딕"/>
              </a:rPr>
              <a:t>업무 값을 다시 읽는다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186432"/>
            <a:ext cx="2485567" cy="3609848"/>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369312"/>
            <a:ext cx="731520" cy="731520"/>
          </a:xfrm>
          <a:prstGeom prst="ellipse">
            <a:avLst/>
          </a:prstGeom>
          <a:solidFill>
            <a:srgbClr val="FFFFFF"/>
          </a:solidFill>
          <a:ln>
            <a:noFill/>
          </a:ln>
        </p:spPr>
        <p:txBody>
          <a:bodyPr rtlCol="0" anchor="ctr"/>
          <a:lstStyle/>
          <a:p>
            <a:pPr algn="ctr"/>
          </a:p>
        </p:txBody>
      </p:sp>
      <p:pic>
        <p:nvPicPr>
          <p:cNvPr id="18" name="아이콘:checklist" descr="checklist_13294B_1.6.png"/>
          <p:cNvPicPr>
            <a:picLocks noChangeAspect="1"/>
          </p:cNvPicPr>
          <p:nvPr/>
        </p:nvPicPr>
        <p:blipFill>
          <a:blip r:embed="rId5"/>
          <a:stretch>
            <a:fillRect/>
          </a:stretch>
        </p:blipFill>
        <p:spPr>
          <a:xfrm>
            <a:off x="7318514" y="2522931"/>
            <a:ext cx="424281" cy="424281"/>
          </a:xfrm>
          <a:prstGeom prst="rect">
            <a:avLst/>
          </a:prstGeom>
        </p:spPr>
      </p:pic>
      <p:sp>
        <p:nvSpPr>
          <p:cNvPr id="19" name="TextBox 18"/>
          <p:cNvSpPr txBox="1"/>
          <p:nvPr/>
        </p:nvSpPr>
        <p:spPr>
          <a:xfrm>
            <a:off x="6361023" y="3173984"/>
            <a:ext cx="2339263" cy="2549143"/>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규칙에 다시 대 본다</a:t>
            </a:r>
          </a:p>
          <a:p>
            <a:pPr algn="ctr" eaLnBrk="0">
              <a:lnSpc>
                <a:spcPct val="110000"/>
              </a:lnSpc>
              <a:spcAft>
                <a:spcPts val="400"/>
              </a:spcAft>
            </a:pPr>
            <a:r>
              <a:rPr sz="1550" b="0">
                <a:solidFill>
                  <a:srgbClr val="1F2A3A"/>
                </a:solidFill>
                <a:latin typeface="맑은 고딕"/>
                <a:ea typeface="맑은 고딕"/>
                <a:cs typeface="맑은 고딕"/>
              </a:rPr>
              <a:t>그 안이 지금도</a:t>
            </a:r>
          </a:p>
          <a:p>
            <a:pPr algn="ctr" eaLnBrk="0">
              <a:lnSpc>
                <a:spcPct val="110000"/>
              </a:lnSpc>
              <a:spcAft>
                <a:spcPts val="400"/>
              </a:spcAft>
            </a:pPr>
            <a:r>
              <a:rPr sz="1550" b="0">
                <a:solidFill>
                  <a:srgbClr val="1F2A3A"/>
                </a:solidFill>
                <a:latin typeface="맑은 고딕"/>
                <a:ea typeface="맑은 고딕"/>
                <a:cs typeface="맑은 고딕"/>
              </a:rPr>
              <a:t>제외 규칙에 걸리지 않고</a:t>
            </a:r>
          </a:p>
          <a:p>
            <a:pPr algn="ctr" eaLnBrk="0">
              <a:lnSpc>
                <a:spcPct val="110000"/>
              </a:lnSpc>
              <a:spcAft>
                <a:spcPts val="400"/>
              </a:spcAft>
            </a:pPr>
            <a:r>
              <a:rPr sz="1550" b="0">
                <a:solidFill>
                  <a:srgbClr val="1F2A3A"/>
                </a:solidFill>
                <a:latin typeface="맑은 고딕"/>
                <a:ea typeface="맑은 고딕"/>
                <a:cs typeface="맑은 고딕"/>
              </a:rPr>
              <a:t>근거가 갖춰졌는가</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186432"/>
            <a:ext cx="2485567" cy="3609848"/>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369312"/>
            <a:ext cx="731520" cy="731520"/>
          </a:xfrm>
          <a:prstGeom prst="ellipse">
            <a:avLst/>
          </a:prstGeom>
          <a:solidFill>
            <a:srgbClr val="5CB8F2"/>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10188130" y="2522931"/>
            <a:ext cx="424281" cy="424281"/>
          </a:xfrm>
          <a:prstGeom prst="rect">
            <a:avLst/>
          </a:prstGeom>
        </p:spPr>
      </p:pic>
      <p:sp>
        <p:nvSpPr>
          <p:cNvPr id="24" name="TextBox 23"/>
          <p:cNvSpPr txBox="1"/>
          <p:nvPr/>
        </p:nvSpPr>
        <p:spPr>
          <a:xfrm>
            <a:off x="9230639" y="3173984"/>
            <a:ext cx="2339263" cy="2549143"/>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넘기거나 멈춘다</a:t>
            </a:r>
          </a:p>
          <a:p>
            <a:pPr algn="ctr" eaLnBrk="0">
              <a:lnSpc>
                <a:spcPct val="110000"/>
              </a:lnSpc>
              <a:spcAft>
                <a:spcPts val="400"/>
              </a:spcAft>
            </a:pPr>
            <a:r>
              <a:rPr sz="1550" b="0">
                <a:solidFill>
                  <a:srgbClr val="1F2A3A"/>
                </a:solidFill>
                <a:latin typeface="맑은 고딕"/>
                <a:ea typeface="맑은 고딕"/>
                <a:cs typeface="맑은 고딕"/>
              </a:rPr>
              <a:t>통과하면 명령과</a:t>
            </a:r>
          </a:p>
          <a:p>
            <a:pPr algn="ctr" eaLnBrk="0">
              <a:lnSpc>
                <a:spcPct val="110000"/>
              </a:lnSpc>
              <a:spcAft>
                <a:spcPts val="400"/>
              </a:spcAft>
            </a:pPr>
            <a:r>
              <a:rPr sz="1550" b="0">
                <a:solidFill>
                  <a:srgbClr val="1F2A3A"/>
                </a:solidFill>
                <a:latin typeface="맑은 고딕"/>
                <a:ea typeface="맑은 고딕"/>
                <a:cs typeface="맑은 고딕"/>
              </a:rPr>
              <a:t>작업지시로 넘긴다</a:t>
            </a:r>
          </a:p>
          <a:p>
            <a:pPr algn="ctr" eaLnBrk="0">
              <a:lnSpc>
                <a:spcPct val="110000"/>
              </a:lnSpc>
              <a:spcAft>
                <a:spcPts val="400"/>
              </a:spcAft>
            </a:pPr>
            <a:r>
              <a:rPr sz="1550" b="0">
                <a:solidFill>
                  <a:srgbClr val="1F2A3A"/>
                </a:solidFill>
                <a:latin typeface="맑은 고딕"/>
                <a:ea typeface="맑은 고딕"/>
                <a:cs typeface="맑은 고딕"/>
              </a:rPr>
              <a:t>중요한 조건이 달라졌으면</a:t>
            </a:r>
          </a:p>
          <a:p>
            <a:pPr algn="ctr" eaLnBrk="0">
              <a:lnSpc>
                <a:spcPct val="110000"/>
              </a:lnSpc>
              <a:spcAft>
                <a:spcPts val="400"/>
              </a:spcAft>
            </a:pPr>
            <a:r>
              <a:rPr sz="1550" b="0">
                <a:solidFill>
                  <a:srgbClr val="1F2A3A"/>
                </a:solidFill>
                <a:latin typeface="맑은 고딕"/>
                <a:ea typeface="맑은 고딕"/>
                <a:cs typeface="맑은 고딕"/>
              </a:rPr>
              <a:t>새 판단과</a:t>
            </a:r>
          </a:p>
          <a:p>
            <a:pPr algn="ctr" eaLnBrk="0">
              <a:lnSpc>
                <a:spcPct val="110000"/>
              </a:lnSpc>
              <a:spcAft>
                <a:spcPts val="400"/>
              </a:spcAft>
            </a:pPr>
            <a:r>
              <a:rPr sz="1550" b="0">
                <a:solidFill>
                  <a:srgbClr val="1F2A3A"/>
                </a:solidFill>
                <a:latin typeface="맑은 고딕"/>
                <a:ea typeface="맑은 고딕"/>
                <a:cs typeface="맑은 고딕"/>
              </a:rPr>
              <a:t>승인을 요구한다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가드레일: 추천안이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가드레일은 정한 경계를 확인하는 장치이며, 여기서는 HYD 추천안의 코드 기반 규칙 검사를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가드레일</a:t>
            </a:r>
          </a:p>
          <a:p>
            <a:pPr algn="l" eaLnBrk="0">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입력 · 출력 · 행동이 정한 경계를 지키는지 확인하는 장치이다.</a:t>
            </a:r>
          </a:p>
          <a:p>
            <a:pPr algn="l" eaLnBrk="0">
              <a:lnSpc>
                <a:spcPct val="110000"/>
              </a:lnSpc>
              <a:spcAft>
                <a:spcPts val="300"/>
              </a:spcAft>
            </a:pPr>
            <a:r>
              <a:rPr sz="1400" b="0">
                <a:solidFill>
                  <a:srgbClr val="1F2A3A"/>
                </a:solidFill>
                <a:latin typeface="맑은 고딕"/>
                <a:ea typeface="맑은 고딕"/>
                <a:cs typeface="맑은 고딕"/>
              </a:rPr>
              <a:t>HYD의 이 검사는 모델의 의견 대신 코드의 규칙을 적용한다.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추천안에서 검사하는 것</a:t>
            </a:r>
          </a:p>
          <a:p>
            <a:pPr algn="l" eaLnBrk="0">
              <a:lnSpc>
                <a:spcPct val="110000"/>
              </a:lnSpc>
              <a:spcAft>
                <a:spcPts val="200"/>
              </a:spcAft>
            </a:pPr>
            <a:r>
              <a:rPr sz="1150" b="0">
                <a:solidFill>
                  <a:srgbClr val="556175"/>
                </a:solidFill>
                <a:latin typeface="맑은 고딕"/>
                <a:ea typeface="맑은 고딕"/>
                <a:cs typeface="맑은 고딕"/>
              </a:rPr>
              <a:t>규칙 · 역할 · 단계</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후보마다 고른 규칙의 인용</a:t>
            </a:r>
          </a:p>
          <a:p>
            <a:pPr algn="l" eaLnBrk="0">
              <a:lnSpc>
                <a:spcPct val="110000"/>
              </a:lnSpc>
              <a:spcAft>
                <a:spcPts val="300"/>
              </a:spcAft>
            </a:pPr>
            <a:r>
              <a:rPr sz="1400" b="0">
                <a:solidFill>
                  <a:srgbClr val="1F2A3A"/>
                </a:solidFill>
                <a:latin typeface="맑은 고딕"/>
                <a:ea typeface="맑은 고딕"/>
                <a:cs typeface="맑은 고딕"/>
              </a:rPr>
              <a:t>참고용 절차의 섞임</a:t>
            </a:r>
          </a:p>
          <a:p>
            <a:pPr algn="l" eaLnBrk="0">
              <a:lnSpc>
                <a:spcPct val="110000"/>
              </a:lnSpc>
              <a:spcAft>
                <a:spcPts val="300"/>
              </a:spcAft>
            </a:pPr>
            <a:r>
              <a:rPr sz="1400" b="0">
                <a:solidFill>
                  <a:srgbClr val="1F2A3A"/>
                </a:solidFill>
                <a:latin typeface="맑은 고딕"/>
                <a:ea typeface="맑은 고딕"/>
                <a:cs typeface="맑은 고딕"/>
              </a:rPr>
              <a:t>추천의 제외 규칙 위반</a:t>
            </a:r>
          </a:p>
          <a:p>
            <a:pPr algn="l" eaLnBrk="0">
              <a:lnSpc>
                <a:spcPct val="110000"/>
              </a:lnSpc>
              <a:spcAft>
                <a:spcPts val="300"/>
              </a:spcAft>
            </a:pPr>
            <a:r>
              <a:rPr sz="1400" b="0">
                <a:solidFill>
                  <a:srgbClr val="1F2A3A"/>
                </a:solidFill>
                <a:latin typeface="맑은 고딕"/>
                <a:ea typeface="맑은 고딕"/>
                <a:cs typeface="맑은 고딕"/>
              </a:rPr>
              <a:t>승인 역할과 SOP 단계</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어겼을 때</a:t>
            </a:r>
          </a:p>
          <a:p>
            <a:pPr algn="l" eaLnBrk="0">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추천안은 제출되지 않아 승인 화면에 올라가지 않는다.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가드레일의 통과, AI의 검토,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자동 검사와 AI의 의견은 사람의 승인이 아니며, 승인한 조치도 실행 전 현재 조건을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pic>
        <p:nvPicPr>
          <p:cNvPr id="6" name="삽화:두관문.svg" descr="illust_1510590460661206116_17922283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가드레일</a:t>
            </a:r>
          </a:p>
          <a:p>
            <a:pPr algn="ctr" eaLnBrk="0">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사람의 승인</a:t>
            </a:r>
          </a:p>
          <a:p>
            <a:pPr algn="ctr" eaLnBrk="0">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실행 단계</a:t>
            </a:r>
          </a:p>
        </p:txBody>
      </p:sp>
      <p:sp>
        <p:nvSpPr>
          <p:cNvPr id="14" name="TextBox 13"/>
          <p:cNvSpPr txBox="1"/>
          <p:nvPr/>
        </p:nvSpPr>
        <p:spPr>
          <a:xfrm>
            <a:off x="5659467" y="5362315"/>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제출 거부</a:t>
            </a:r>
          </a:p>
          <a:p>
            <a:pPr algn="ctr" eaLnBrk="0">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없는 종료</a:t>
            </a:r>
          </a:p>
          <a:p>
            <a:pPr algn="ctr" eaLnBrk="0">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AI의 검토</a:t>
            </a:r>
          </a:p>
          <a:p>
            <a:pPr algn="ctr" eaLnBrk="0">
              <a:lnSpc>
                <a:spcPct val="110000"/>
              </a:lnSpc>
              <a:spcAft>
                <a:spcPts val="100"/>
              </a:spcAft>
            </a:pPr>
            <a:r>
              <a:rPr sz="1300" b="0">
                <a:solidFill>
                  <a:srgbClr val="556175"/>
                </a:solidFill>
                <a:latin typeface="맑은 고딕"/>
                <a:ea typeface="맑은 고딕"/>
                <a:cs typeface="맑은 고딕"/>
              </a:rPr>
              <a:t>자기 검토 ·</a:t>
            </a:r>
          </a:p>
          <a:p>
            <a:pPr algn="ctr" eaLnBrk="0">
              <a:lnSpc>
                <a:spcPct val="110000"/>
              </a:lnSpc>
              <a:spcAft>
                <a:spcPts val="100"/>
              </a:spcAft>
            </a:pPr>
            <a:r>
              <a:rPr sz="1300" b="0">
                <a:solidFill>
                  <a:srgbClr val="556175"/>
                </a:solidFill>
                <a:latin typeface="맑은 고딕"/>
                <a:ea typeface="맑은 고딕"/>
                <a:cs typeface="맑은 고딕"/>
              </a:rPr>
              <a:t>다른 에이전트의 검토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승인과 거절이 처리 결과를</a:t>
            </a:r>
          </a:p>
          <a:p>
            <a:pPr algn="l" eaLnBrk="0">
              <a:lnSpc>
                <a:spcPct val="110000"/>
              </a:lnSpc>
            </a:pPr>
            <a:r>
              <a:rPr sz="3400" b="1">
                <a:solidFill>
                  <a:srgbClr val="13294B"/>
                </a:solidFill>
                <a:latin typeface="맑은 고딕"/>
                <a:ea typeface="맑은 고딕"/>
                <a:cs typeface="맑은 고딕"/>
              </a:rPr>
              <a:t>바꾸는 과정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승인 대기 건의 역할을 확인하고, 승인과 거절이 처리 건에 남기는 결과를 견준다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승인 대기 건의 결정과 결과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대기 건을 권한 있는 역할로 결정하고, 승인과 거절이 처리 건의 상태와 기록에 남긴 차이를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확인할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대기 건</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건과 내 작업함에서 추천안과</a:t>
            </a:r>
          </a:p>
          <a:p>
            <a:pPr algn="l" eaLnBrk="0">
              <a:lnSpc>
                <a:spcPct val="110000"/>
              </a:lnSpc>
            </a:pPr>
            <a:r>
              <a:rPr sz="1400" b="0">
                <a:solidFill>
                  <a:srgbClr val="1F2A3A"/>
                </a:solidFill>
                <a:latin typeface="맑은 고딕"/>
                <a:ea typeface="맑은 고딕"/>
                <a:cs typeface="맑은 고딕"/>
              </a:rPr>
              <a:t>그 조치의 승인 역할을 확인한다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대기 건의 승인 역할을</a:t>
            </a:r>
          </a:p>
          <a:p>
            <a:pPr algn="l" eaLnBrk="0">
              <a:lnSpc>
                <a:spcPct val="110000"/>
              </a:lnSpc>
            </a:pPr>
            <a:r>
              <a:rPr sz="1250" b="1">
                <a:solidFill>
                  <a:srgbClr val="556175"/>
                </a:solidFill>
                <a:latin typeface="맑은 고딕"/>
                <a:ea typeface="맑은 고딕"/>
                <a:cs typeface="맑은 고딕"/>
              </a:rPr>
              <a:t>말할 수 있음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있는 결정</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권한 있는 역할로 승인하거나</a:t>
            </a:r>
          </a:p>
          <a:p>
            <a:pPr algn="l" eaLnBrk="0">
              <a:lnSpc>
                <a:spcPct val="110000"/>
              </a:lnSpc>
            </a:pPr>
            <a:r>
              <a:rPr sz="1400" b="0">
                <a:solidFill>
                  <a:srgbClr val="1F2A3A"/>
                </a:solidFill>
                <a:latin typeface="맑은 고딕"/>
                <a:ea typeface="맑은 고딕"/>
                <a:cs typeface="맑은 고딕"/>
              </a:rPr>
              <a:t>사유를 적어 거절한다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결정과 흐름 상태의 변화가</a:t>
            </a:r>
          </a:p>
          <a:p>
            <a:pPr algn="l" eaLnBrk="0">
              <a:lnSpc>
                <a:spcPct val="110000"/>
              </a:lnSpc>
            </a:pPr>
            <a:r>
              <a:rPr sz="1250" b="1">
                <a:solidFill>
                  <a:srgbClr val="556175"/>
                </a:solidFill>
                <a:latin typeface="맑은 고딕"/>
                <a:ea typeface="맑은 고딕"/>
                <a:cs typeface="맑은 고딕"/>
              </a:rPr>
              <a:t>처리 기록에 남음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없는 역할</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지정 역할도 더 높은 등급도</a:t>
            </a:r>
          </a:p>
          <a:p>
            <a:pPr algn="l" eaLnBrk="0">
              <a:lnSpc>
                <a:spcPct val="110000"/>
              </a:lnSpc>
            </a:pPr>
            <a:r>
              <a:rPr sz="1400" b="0">
                <a:solidFill>
                  <a:srgbClr val="1F2A3A"/>
                </a:solidFill>
                <a:latin typeface="맑은 고딕"/>
                <a:ea typeface="맑은 고딕"/>
                <a:cs typeface="맑은 고딕"/>
              </a:rPr>
              <a:t>아닌 역할로 결정을 시도한다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받아들여지지 않는 까닭을</a:t>
            </a:r>
          </a:p>
          <a:p>
            <a:pPr algn="l" eaLnBrk="0">
              <a:lnSpc>
                <a:spcPct val="110000"/>
              </a:lnSpc>
            </a:pPr>
            <a:r>
              <a:rPr sz="1250" b="1">
                <a:solidFill>
                  <a:srgbClr val="556175"/>
                </a:solidFill>
                <a:latin typeface="맑은 고딕"/>
                <a:ea typeface="맑은 고딕"/>
                <a:cs typeface="맑은 고딕"/>
              </a:rPr>
              <a:t>설명함</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완성본 확인</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승인한 건과 거절한 건의</a:t>
            </a:r>
          </a:p>
          <a:p>
            <a:pPr algn="l" eaLnBrk="0">
              <a:lnSpc>
                <a:spcPct val="110000"/>
              </a:lnSpc>
            </a:pPr>
            <a:r>
              <a:rPr sz="1400" b="0">
                <a:solidFill>
                  <a:srgbClr val="1F2A3A"/>
                </a:solidFill>
                <a:latin typeface="맑은 고딕"/>
                <a:ea typeface="맑은 고딕"/>
                <a:cs typeface="맑은 고딕"/>
              </a:rPr>
              <a:t>처리 기록을 나란히 본다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명령 · 작업지시의 유무와</a:t>
            </a:r>
          </a:p>
          <a:p>
            <a:pPr algn="l" eaLnBrk="0">
              <a:lnSpc>
                <a:spcPct val="110000"/>
              </a:lnSpc>
            </a:pPr>
            <a:r>
              <a:rPr sz="1250" b="1">
                <a:solidFill>
                  <a:srgbClr val="1A6FC4"/>
                </a:solidFill>
                <a:latin typeface="맑은 고딕"/>
                <a:ea typeface="맑은 고딕"/>
                <a:cs typeface="맑은 고딕"/>
              </a:rPr>
              <a:t>끝난 모양의 차이를 설명함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정보가 부족하면 질문하고</a:t>
            </a:r>
          </a:p>
          <a:p>
            <a:pPr algn="l" eaLnBrk="0">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기존 업무 요청 에이전트가 빠진 정보를 확정하지 않고 확인 질문을 내도록 수정한다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확인 질문과 재처리의 전후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빠진 정보를 확정하지 않고 확인 질문을 내게 고친 뒤, 추가 입력으로 다시 판단한 결과와 전후 상태를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입력과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정보가 빠진 요청</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부품 수량 · 긴급 사유 · 승인권자가</a:t>
            </a:r>
          </a:p>
          <a:p>
            <a:pPr algn="l" eaLnBrk="0">
              <a:lnSpc>
                <a:spcPct val="110000"/>
              </a:lnSpc>
            </a:pPr>
            <a:r>
              <a:rPr sz="1400" b="0">
                <a:solidFill>
                  <a:srgbClr val="1F2A3A"/>
                </a:solidFill>
                <a:latin typeface="맑은 고딕"/>
                <a:ea typeface="맑은 고딕"/>
                <a:cs typeface="맑은 고딕"/>
              </a:rPr>
              <a:t>빠진 요청을 에이전트에 준다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빠진 값을</a:t>
            </a:r>
          </a:p>
          <a:p>
            <a:pPr algn="l" eaLnBrk="0">
              <a:lnSpc>
                <a:spcPct val="110000"/>
              </a:lnSpc>
            </a:pPr>
            <a:r>
              <a:rPr sz="1250" b="1">
                <a:solidFill>
                  <a:srgbClr val="556175"/>
                </a:solidFill>
                <a:latin typeface="맑은 고딕"/>
                <a:ea typeface="맑은 고딕"/>
                <a:cs typeface="맑은 고딕"/>
              </a:rPr>
              <a:t>지어내지 않음</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확인 질문</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빠진 값을 확정하지 않고</a:t>
            </a:r>
          </a:p>
          <a:p>
            <a:pPr algn="l" eaLnBrk="0">
              <a:lnSpc>
                <a:spcPct val="110000"/>
              </a:lnSpc>
            </a:pPr>
            <a:r>
              <a:rPr sz="1400" b="0">
                <a:solidFill>
                  <a:srgbClr val="1F2A3A"/>
                </a:solidFill>
                <a:latin typeface="맑은 고딕"/>
                <a:ea typeface="맑은 고딕"/>
                <a:cs typeface="맑은 고딕"/>
              </a:rPr>
              <a:t>담당자에게 물을 질문을 내게 고친다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무엇이 왜 필요한지</a:t>
            </a:r>
          </a:p>
          <a:p>
            <a:pPr algn="l" eaLnBrk="0">
              <a:lnSpc>
                <a:spcPct val="110000"/>
              </a:lnSpc>
            </a:pPr>
            <a:r>
              <a:rPr sz="1250" b="1">
                <a:solidFill>
                  <a:srgbClr val="1A6FC4"/>
                </a:solidFill>
                <a:latin typeface="맑은 고딕"/>
                <a:ea typeface="맑은 고딕"/>
                <a:cs typeface="맑은 고딕"/>
              </a:rPr>
              <a:t>질문에 드러남</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다시 판단</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추가 입력을 받아</a:t>
            </a:r>
          </a:p>
          <a:p>
            <a:pPr algn="l" eaLnBrk="0">
              <a:lnSpc>
                <a:spcPct val="110000"/>
              </a:lnSpc>
            </a:pPr>
            <a:r>
              <a:rPr sz="1400" b="0">
                <a:solidFill>
                  <a:srgbClr val="1F2A3A"/>
                </a:solidFill>
                <a:latin typeface="맑은 고딕"/>
                <a:ea typeface="맑은 고딕"/>
                <a:cs typeface="맑은 고딕"/>
              </a:rPr>
              <a:t>같은 요청을 다시 처리한다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답한 값만 반영하고</a:t>
            </a:r>
          </a:p>
          <a:p>
            <a:pPr algn="l" eaLnBrk="0">
              <a:lnSpc>
                <a:spcPct val="110000"/>
              </a:lnSpc>
            </a:pPr>
            <a:r>
              <a:rPr sz="1250" b="1">
                <a:solidFill>
                  <a:srgbClr val="556175"/>
                </a:solidFill>
                <a:latin typeface="맑은 고딕"/>
                <a:ea typeface="맑은 고딕"/>
                <a:cs typeface="맑은 고딕"/>
              </a:rPr>
              <a:t>답에 섞인 승인은</a:t>
            </a:r>
          </a:p>
          <a:p>
            <a:pPr algn="l" eaLnBrk="0">
              <a:lnSpc>
                <a:spcPct val="110000"/>
              </a:lnSpc>
            </a:pPr>
            <a:r>
              <a:rPr sz="1250" b="1">
                <a:solidFill>
                  <a:srgbClr val="556175"/>
                </a:solidFill>
                <a:latin typeface="맑은 고딕"/>
                <a:ea typeface="맑은 고딕"/>
                <a:cs typeface="맑은 고딕"/>
              </a:rPr>
              <a:t>승인으로 받지 않음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전후 기록</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질문 전과 답변 뒤의 상태를 남긴다</a:t>
            </a:r>
          </a:p>
          <a:p>
            <a:pPr algn="l" eaLnBrk="0">
              <a:lnSpc>
                <a:spcPct val="110000"/>
              </a:lnSpc>
            </a:pPr>
            <a:r>
              <a:rPr sz="1400" b="0">
                <a:solidFill>
                  <a:srgbClr val="1F2A3A"/>
                </a:solidFill>
                <a:latin typeface="맑은 고딕"/>
                <a:ea typeface="맑은 고딕"/>
                <a:cs typeface="맑은 고딕"/>
              </a:rPr>
              <a:t>온톨로지와 SOP는 그대로 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상태 변화를</a:t>
            </a:r>
          </a:p>
          <a:p>
            <a:pPr algn="l" eaLnBrk="0">
              <a:lnSpc>
                <a:spcPct val="110000"/>
              </a:lnSpc>
            </a:pPr>
            <a:r>
              <a:rPr sz="1250" b="1">
                <a:solidFill>
                  <a:srgbClr val="556175"/>
                </a:solidFill>
                <a:latin typeface="맑은 고딕"/>
                <a:ea typeface="맑은 고딕"/>
                <a:cs typeface="맑은 고딕"/>
              </a:rPr>
              <a:t>기록으로 대조함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제안과 검토를 나누어 맡는</a:t>
            </a:r>
          </a:p>
          <a:p>
            <a:pPr algn="l" eaLnBrk="0">
              <a:lnSpc>
                <a:spcPct val="110000"/>
              </a:lnSpc>
            </a:pPr>
            <a:r>
              <a:rPr sz="3400" b="1">
                <a:solidFill>
                  <a:srgbClr val="13294B"/>
                </a:solidFill>
                <a:latin typeface="맑은 고딕"/>
                <a:ea typeface="맑은 고딕"/>
                <a:cs typeface="맑은 고딕"/>
              </a:rPr>
              <a:t>두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작성 역할의 초안을 검토 역할이 따로 검토하고, 그 결과를 사람의 승인과 다른 항목에 남긴다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초안 · 검토 의견 · 수정본과 승인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작성과 검토의 역할을 나누되 검토 의견을 근거와 대조하고, 사람의 최종 승인 여부는 따로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94360" y="1874519"/>
            <a:ext cx="3429000" cy="269748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77240" y="2103120"/>
            <a:ext cx="3063240"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작성 역할</a:t>
            </a:r>
          </a:p>
        </p:txBody>
      </p:sp>
      <p:sp>
        <p:nvSpPr>
          <p:cNvPr id="8" name="TextBox 7"/>
          <p:cNvSpPr txBox="1"/>
          <p:nvPr/>
        </p:nvSpPr>
        <p:spPr>
          <a:xfrm>
            <a:off x="777240" y="2743200"/>
            <a:ext cx="3063240" cy="960120"/>
          </a:xfrm>
          <a:prstGeom prst="rect">
            <a:avLst/>
          </a:prstGeom>
          <a:noFill/>
        </p:spPr>
        <p:txBody>
          <a:bodyPr wrap="square" anchor="t"/>
          <a:lstStyle/>
          <a:p>
            <a:pPr algn="l" eaLnBrk="0">
              <a:lnSpc>
                <a:spcPct val="110000"/>
              </a:lnSpc>
            </a:pPr>
            <a:r>
              <a:rPr sz="1700" b="0">
                <a:solidFill>
                  <a:srgbClr val="13294B"/>
                </a:solidFill>
                <a:latin typeface="맑은 고딕"/>
                <a:ea typeface="맑은 고딕"/>
                <a:cs typeface="맑은 고딕"/>
              </a:rPr>
              <a:t>업무 요청의 초안을 만든다</a:t>
            </a:r>
          </a:p>
        </p:txBody>
      </p:sp>
      <p:sp>
        <p:nvSpPr>
          <p:cNvPr id="9" name="TextBox 8"/>
          <p:cNvSpPr txBox="1"/>
          <p:nvPr/>
        </p:nvSpPr>
        <p:spPr>
          <a:xfrm>
            <a:off x="777240" y="3977639"/>
            <a:ext cx="3063240" cy="411480"/>
          </a:xfrm>
          <a:prstGeom prst="rect">
            <a:avLst/>
          </a:prstGeom>
          <a:noFill/>
        </p:spPr>
        <p:txBody>
          <a:bodyPr wrap="square" anchor="t"/>
          <a:lstStyle/>
          <a:p>
            <a:pPr algn="l" eaLnBrk="0">
              <a:lnSpc>
                <a:spcPct val="110000"/>
              </a:lnSpc>
            </a:pPr>
            <a:r>
              <a:rPr sz="1600" b="1">
                <a:solidFill>
                  <a:srgbClr val="1A6FC4"/>
                </a:solidFill>
                <a:latin typeface="맑은 고딕"/>
                <a:ea typeface="맑은 고딕"/>
                <a:cs typeface="맑은 고딕"/>
              </a:rPr>
              <a:t>초안</a:t>
            </a:r>
          </a:p>
        </p:txBody>
      </p:sp>
      <p:sp>
        <p:nvSpPr>
          <p:cNvPr id="10" name="Right Arrow 9"/>
          <p:cNvSpPr/>
          <p:nvPr/>
        </p:nvSpPr>
        <p:spPr>
          <a:xfrm>
            <a:off x="4114800" y="3108960"/>
            <a:ext cx="201168" cy="164592"/>
          </a:xfrm>
          <a:prstGeom prst="rightArrow">
            <a:avLst/>
          </a:prstGeom>
          <a:solidFill>
            <a:srgbClr val="1A6FC4"/>
          </a:solidFill>
          <a:ln>
            <a:noFill/>
          </a:ln>
        </p:spPr>
        <p:txBody>
          <a:bodyPr rtlCol="0" anchor="ctr"/>
          <a:lstStyle/>
          <a:p>
            <a:pPr algn="ctr"/>
          </a:p>
        </p:txBody>
      </p:sp>
      <p:sp>
        <p:nvSpPr>
          <p:cNvPr id="11" name="Rounded Rectangle 10"/>
          <p:cNvSpPr/>
          <p:nvPr/>
        </p:nvSpPr>
        <p:spPr>
          <a:xfrm>
            <a:off x="4389120" y="1874519"/>
            <a:ext cx="3429000" cy="269748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12" name="TextBox 11"/>
          <p:cNvSpPr txBox="1"/>
          <p:nvPr/>
        </p:nvSpPr>
        <p:spPr>
          <a:xfrm>
            <a:off x="4572000" y="2103120"/>
            <a:ext cx="3063240"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검토 역할</a:t>
            </a:r>
          </a:p>
        </p:txBody>
      </p:sp>
      <p:sp>
        <p:nvSpPr>
          <p:cNvPr id="13" name="TextBox 12"/>
          <p:cNvSpPr txBox="1"/>
          <p:nvPr/>
        </p:nvSpPr>
        <p:spPr>
          <a:xfrm>
            <a:off x="4572000" y="2743200"/>
            <a:ext cx="3063240" cy="960120"/>
          </a:xfrm>
          <a:prstGeom prst="rect">
            <a:avLst/>
          </a:prstGeom>
          <a:noFill/>
        </p:spPr>
        <p:txBody>
          <a:bodyPr wrap="square" anchor="t"/>
          <a:lstStyle/>
          <a:p>
            <a:pPr algn="l" eaLnBrk="0">
              <a:lnSpc>
                <a:spcPct val="110000"/>
              </a:lnSpc>
            </a:pPr>
            <a:r>
              <a:rPr sz="1700" b="0">
                <a:solidFill>
                  <a:srgbClr val="13294B"/>
                </a:solidFill>
                <a:latin typeface="맑은 고딕"/>
                <a:ea typeface="맑은 고딕"/>
                <a:cs typeface="맑은 고딕"/>
              </a:rPr>
              <a:t>근거 · 수량 · 승인 정보의 누락을</a:t>
            </a:r>
          </a:p>
          <a:p>
            <a:pPr algn="l" eaLnBrk="0">
              <a:lnSpc>
                <a:spcPct val="110000"/>
              </a:lnSpc>
            </a:pPr>
            <a:r>
              <a:rPr sz="1700" b="0">
                <a:solidFill>
                  <a:srgbClr val="13294B"/>
                </a:solidFill>
                <a:latin typeface="맑은 고딕"/>
                <a:ea typeface="맑은 고딕"/>
                <a:cs typeface="맑은 고딕"/>
              </a:rPr>
              <a:t>작성 역할과 따로 검토한다</a:t>
            </a:r>
          </a:p>
        </p:txBody>
      </p:sp>
      <p:sp>
        <p:nvSpPr>
          <p:cNvPr id="14" name="TextBox 13"/>
          <p:cNvSpPr txBox="1"/>
          <p:nvPr/>
        </p:nvSpPr>
        <p:spPr>
          <a:xfrm>
            <a:off x="4572000" y="3977639"/>
            <a:ext cx="3063240" cy="411480"/>
          </a:xfrm>
          <a:prstGeom prst="rect">
            <a:avLst/>
          </a:prstGeom>
          <a:noFill/>
        </p:spPr>
        <p:txBody>
          <a:bodyPr wrap="square" anchor="t"/>
          <a:lstStyle/>
          <a:p>
            <a:pPr algn="l" eaLnBrk="0">
              <a:lnSpc>
                <a:spcPct val="110000"/>
              </a:lnSpc>
            </a:pPr>
            <a:r>
              <a:rPr sz="1600" b="1">
                <a:solidFill>
                  <a:srgbClr val="1A6FC4"/>
                </a:solidFill>
                <a:latin typeface="맑은 고딕"/>
                <a:ea typeface="맑은 고딕"/>
                <a:cs typeface="맑은 고딕"/>
              </a:rPr>
              <a:t>누락을 짚은 검토 의견</a:t>
            </a:r>
          </a:p>
        </p:txBody>
      </p:sp>
      <p:sp>
        <p:nvSpPr>
          <p:cNvPr id="15" name="Right Arrow 14"/>
          <p:cNvSpPr/>
          <p:nvPr/>
        </p:nvSpPr>
        <p:spPr>
          <a:xfrm>
            <a:off x="7909560" y="3108960"/>
            <a:ext cx="201168" cy="164592"/>
          </a:xfrm>
          <a:prstGeom prst="rightArrow">
            <a:avLst/>
          </a:prstGeom>
          <a:solidFill>
            <a:srgbClr val="1A6FC4"/>
          </a:solidFill>
          <a:ln>
            <a:noFill/>
          </a:ln>
        </p:spPr>
        <p:txBody>
          <a:bodyPr rtlCol="0" anchor="ctr"/>
          <a:lstStyle/>
          <a:p>
            <a:pPr algn="ctr"/>
          </a:p>
        </p:txBody>
      </p:sp>
      <p:sp>
        <p:nvSpPr>
          <p:cNvPr id="16" name="Rounded Rectangle 15"/>
          <p:cNvSpPr/>
          <p:nvPr/>
        </p:nvSpPr>
        <p:spPr>
          <a:xfrm>
            <a:off x="8183880" y="1874519"/>
            <a:ext cx="3429000" cy="2697480"/>
          </a:xfrm>
          <a:prstGeom prst="roundRect">
            <a:avLst>
              <a:gd name="adj" fmla="val 6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8366760" y="2103120"/>
            <a:ext cx="3063240" cy="411480"/>
          </a:xfrm>
          <a:prstGeom prst="rect">
            <a:avLst/>
          </a:prstGeom>
          <a:noFill/>
        </p:spPr>
        <p:txBody>
          <a:bodyPr wrap="square" anchor="t"/>
          <a:lstStyle/>
          <a:p>
            <a:pPr algn="l" eaLnBrk="0">
              <a:lnSpc>
                <a:spcPct val="110000"/>
              </a:lnSpc>
            </a:pPr>
            <a:r>
              <a:rPr sz="2100" b="1">
                <a:solidFill>
                  <a:srgbClr val="13294B"/>
                </a:solidFill>
                <a:latin typeface="맑은 고딕"/>
                <a:ea typeface="맑은 고딕"/>
                <a:cs typeface="맑은 고딕"/>
              </a:rPr>
              <a:t>수정</a:t>
            </a:r>
          </a:p>
        </p:txBody>
      </p:sp>
      <p:sp>
        <p:nvSpPr>
          <p:cNvPr id="18" name="TextBox 17"/>
          <p:cNvSpPr txBox="1"/>
          <p:nvPr/>
        </p:nvSpPr>
        <p:spPr>
          <a:xfrm>
            <a:off x="8366760" y="2743200"/>
            <a:ext cx="3063240" cy="960120"/>
          </a:xfrm>
          <a:prstGeom prst="rect">
            <a:avLst/>
          </a:prstGeom>
          <a:noFill/>
        </p:spPr>
        <p:txBody>
          <a:bodyPr wrap="square" anchor="t"/>
          <a:lstStyle/>
          <a:p>
            <a:pPr algn="l" eaLnBrk="0">
              <a:lnSpc>
                <a:spcPct val="110000"/>
              </a:lnSpc>
            </a:pPr>
            <a:r>
              <a:rPr sz="1700" b="0">
                <a:solidFill>
                  <a:srgbClr val="13294B"/>
                </a:solidFill>
                <a:latin typeface="맑은 고딕"/>
                <a:ea typeface="맑은 고딕"/>
                <a:cs typeface="맑은 고딕"/>
              </a:rPr>
              <a:t>검토 의견에 따라 초안을 고친다</a:t>
            </a:r>
          </a:p>
        </p:txBody>
      </p:sp>
      <p:sp>
        <p:nvSpPr>
          <p:cNvPr id="19" name="TextBox 18"/>
          <p:cNvSpPr txBox="1"/>
          <p:nvPr/>
        </p:nvSpPr>
        <p:spPr>
          <a:xfrm>
            <a:off x="8366760" y="3977639"/>
            <a:ext cx="3063240" cy="411480"/>
          </a:xfrm>
          <a:prstGeom prst="rect">
            <a:avLst/>
          </a:prstGeom>
          <a:noFill/>
        </p:spPr>
        <p:txBody>
          <a:bodyPr wrap="square" anchor="t"/>
          <a:lstStyle/>
          <a:p>
            <a:pPr algn="l" eaLnBrk="0">
              <a:lnSpc>
                <a:spcPct val="110000"/>
              </a:lnSpc>
            </a:pPr>
            <a:r>
              <a:rPr sz="1600" b="1">
                <a:solidFill>
                  <a:srgbClr val="1A6FC4"/>
                </a:solidFill>
                <a:latin typeface="맑은 고딕"/>
                <a:ea typeface="맑은 고딕"/>
                <a:cs typeface="맑은 고딕"/>
              </a:rPr>
              <a:t>의견이 반영된 수정본</a:t>
            </a:r>
          </a:p>
        </p:txBody>
      </p:sp>
      <p:sp>
        <p:nvSpPr>
          <p:cNvPr id="20" name="Rounded Rectangle 19"/>
          <p:cNvSpPr/>
          <p:nvPr/>
        </p:nvSpPr>
        <p:spPr>
          <a:xfrm>
            <a:off x="594360" y="5029200"/>
            <a:ext cx="11018520" cy="1143000"/>
          </a:xfrm>
          <a:prstGeom prst="roundRect">
            <a:avLst>
              <a:gd name="adj" fmla="val 6000"/>
            </a:avLst>
          </a:prstGeom>
          <a:solidFill>
            <a:srgbClr val="E7F3FD"/>
          </a:solidFill>
          <a:ln w="12700">
            <a:solidFill>
              <a:srgbClr val="D3D9E1"/>
            </a:solidFill>
          </a:ln>
        </p:spPr>
        <p:txBody>
          <a:bodyPr rtlCol="0" anchor="ctr"/>
          <a:lstStyle/>
          <a:p>
            <a:pPr algn="ctr"/>
          </a:p>
        </p:txBody>
      </p:sp>
      <p:sp>
        <p:nvSpPr>
          <p:cNvPr id="21" name="TextBox 20"/>
          <p:cNvSpPr txBox="1"/>
          <p:nvPr/>
        </p:nvSpPr>
        <p:spPr>
          <a:xfrm>
            <a:off x="822960" y="5285232"/>
            <a:ext cx="2743200" cy="411480"/>
          </a:xfrm>
          <a:prstGeom prst="rect">
            <a:avLst/>
          </a:prstGeom>
          <a:noFill/>
        </p:spPr>
        <p:txBody>
          <a:bodyPr wrap="square" anchor="t"/>
          <a:lstStyle/>
          <a:p>
            <a:pPr algn="l" eaLnBrk="0">
              <a:lnSpc>
                <a:spcPct val="110000"/>
              </a:lnSpc>
            </a:pPr>
            <a:r>
              <a:rPr sz="2000" b="1">
                <a:solidFill>
                  <a:srgbClr val="13294B"/>
                </a:solidFill>
                <a:latin typeface="맑은 고딕"/>
                <a:ea typeface="맑은 고딕"/>
                <a:cs typeface="맑은 고딕"/>
              </a:rPr>
              <a:t>검토와 승인의 구분</a:t>
            </a:r>
          </a:p>
        </p:txBody>
      </p:sp>
      <p:sp>
        <p:nvSpPr>
          <p:cNvPr id="22" name="TextBox 21"/>
          <p:cNvSpPr txBox="1"/>
          <p:nvPr/>
        </p:nvSpPr>
        <p:spPr>
          <a:xfrm>
            <a:off x="3657600" y="5257800"/>
            <a:ext cx="5394960" cy="685800"/>
          </a:xfrm>
          <a:prstGeom prst="rect">
            <a:avLst/>
          </a:prstGeom>
          <a:noFill/>
        </p:spPr>
        <p:txBody>
          <a:bodyPr wrap="square" anchor="t"/>
          <a:lstStyle/>
          <a:p>
            <a:pPr algn="l" eaLnBrk="0">
              <a:lnSpc>
                <a:spcPct val="110000"/>
              </a:lnSpc>
            </a:pPr>
            <a:r>
              <a:rPr sz="1700" b="0">
                <a:solidFill>
                  <a:srgbClr val="13294B"/>
                </a:solidFill>
                <a:latin typeface="맑은 고딕"/>
                <a:ea typeface="맑은 고딕"/>
                <a:cs typeface="맑은 고딕"/>
              </a:rPr>
              <a:t>AI 사이의 검토 결과와 사람의 최종 승인 여부를 서로 다른 항목에 남긴다</a:t>
            </a:r>
          </a:p>
        </p:txBody>
      </p:sp>
      <p:sp>
        <p:nvSpPr>
          <p:cNvPr id="23" name="TextBox 22"/>
          <p:cNvSpPr txBox="1"/>
          <p:nvPr/>
        </p:nvSpPr>
        <p:spPr>
          <a:xfrm>
            <a:off x="9235440" y="5285232"/>
            <a:ext cx="2148840" cy="640080"/>
          </a:xfrm>
          <a:prstGeom prst="rect">
            <a:avLst/>
          </a:prstGeom>
          <a:noFill/>
        </p:spPr>
        <p:txBody>
          <a:bodyPr wrap="square" anchor="t"/>
          <a:lstStyle/>
          <a:p>
            <a:pPr algn="l" eaLnBrk="0">
              <a:lnSpc>
                <a:spcPct val="110000"/>
              </a:lnSpc>
            </a:pPr>
            <a:r>
              <a:rPr sz="1600" b="1">
                <a:solidFill>
                  <a:srgbClr val="1A6FC4"/>
                </a:solidFill>
                <a:latin typeface="맑은 고딕"/>
                <a:ea typeface="맑은 고딕"/>
                <a:cs typeface="맑은 고딕"/>
              </a:rPr>
              <a:t>검토가 승인으로 읽히지 않음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요구사항 변경과 바이브 코딩</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잘 동작하는 에이전트에 한 문장의 새 요구가 붙을 때 흔들릴 수 있는 자리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「긴급한 경보는 빨리</a:t>
            </a:r>
          </a:p>
          <a:p>
            <a:pPr algn="ctr" eaLnBrk="0">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긴급의 기준</a:t>
            </a:r>
          </a:p>
          <a:p>
            <a:pPr algn="l" eaLnBrk="0">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빨라지는 방법</a:t>
            </a:r>
          </a:p>
          <a:p>
            <a:pPr algn="l" eaLnBrk="0">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그대로 둘 것</a:t>
            </a:r>
          </a:p>
          <a:p>
            <a:pPr algn="l" eaLnBrk="0">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바이브 코딩: 자연어 요청으로 구현을 맡기는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바이브 코딩의 다양한 쓰임 중, 여기서는 명세와 체계적 검토 없이 요청과 실행 결과로 고치는 경우를 살펴본다.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바이브 코딩</a:t>
            </a:r>
          </a:p>
          <a:p>
            <a:pPr algn="l" eaLnBrk="0">
              <a:lnSpc>
                <a:spcPct val="110000"/>
              </a:lnSpc>
              <a:spcAft>
                <a:spcPts val="200"/>
              </a:spcAft>
            </a:pPr>
            <a:r>
              <a:rPr sz="1150" b="0">
                <a:solidFill>
                  <a:srgbClr val="556175"/>
                </a:solidFill>
                <a:latin typeface="맑은 고딕"/>
                <a:ea typeface="맑은 고딕"/>
                <a:cs typeface="맑은 고딕"/>
              </a:rPr>
              <a:t>Vibe Coding</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자연어 요청과 실행 결과를 중심으로 AI가 만든 코드를 고쳐 가는 방식이다.</a:t>
            </a:r>
          </a:p>
          <a:p>
            <a:pPr algn="l" eaLnBrk="0">
              <a:lnSpc>
                <a:spcPct val="110000"/>
              </a:lnSpc>
              <a:spcAft>
                <a:spcPts val="300"/>
              </a:spcAft>
            </a:pPr>
            <a:r>
              <a:rPr sz="1400" b="0">
                <a:solidFill>
                  <a:srgbClr val="1F2A3A"/>
                </a:solidFill>
                <a:latin typeface="맑은 고딕"/>
                <a:ea typeface="맑은 고딕"/>
                <a:cs typeface="맑은 고딕"/>
              </a:rPr>
              <a:t>여기서는 명세와 체계적인 검토가 생략된 경우를 다룬다.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요청에 없는 부분</a:t>
            </a:r>
          </a:p>
          <a:p>
            <a:pPr algn="l" eaLnBrk="0">
              <a:lnSpc>
                <a:spcPct val="110000"/>
              </a:lnSpc>
              <a:spcAft>
                <a:spcPts val="200"/>
              </a:spcAft>
            </a:pPr>
            <a:r>
              <a:rPr sz="1150" b="0">
                <a:solidFill>
                  <a:srgbClr val="556175"/>
                </a:solidFill>
                <a:latin typeface="맑은 고딕"/>
                <a:ea typeface="맑은 고딕"/>
                <a:cs typeface="맑은 고딕"/>
              </a:rPr>
              <a:t>AI가 채운다</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출력의 형식, 예외의 처리, 기존 기능의 보존처럼 요청에 적지 않은 것은 AI가 추정해 채울 수 있다.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기존 시스템에 붙일 때</a:t>
            </a:r>
          </a:p>
          <a:p>
            <a:pPr algn="l" eaLnBrk="0">
              <a:lnSpc>
                <a:spcPct val="110000"/>
              </a:lnSpc>
              <a:spcAft>
                <a:spcPts val="200"/>
              </a:spcAft>
            </a:pPr>
            <a:r>
              <a:rPr sz="1150" b="0">
                <a:solidFill>
                  <a:srgbClr val="556175"/>
                </a:solidFill>
                <a:latin typeface="맑은 고딕"/>
                <a:ea typeface="맑은 고딕"/>
                <a:cs typeface="맑은 고딕"/>
              </a:rPr>
              <a:t>지킬 것이 있다</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이미 결과를 읽는 쪽과 지켜야 할 규칙이 있어, AI가 채운 빈자리가 그것과 어긋날 수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pic>
        <p:nvPicPr>
          <p:cNvPr id="6" name="삽화:세해석.svg" descr="illust_650349679019343838_17922283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요청</a:t>
            </a:r>
          </a:p>
          <a:p>
            <a:pPr algn="ctr" eaLnBrk="0">
              <a:lnSpc>
                <a:spcPct val="110000"/>
              </a:lnSpc>
              <a:spcAft>
                <a:spcPts val="100"/>
              </a:spcAft>
            </a:pPr>
            <a:r>
              <a:rPr sz="1300" b="0">
                <a:solidFill>
                  <a:srgbClr val="556175"/>
                </a:solidFill>
                <a:latin typeface="맑은 고딕"/>
                <a:ea typeface="맑은 고딕"/>
                <a:cs typeface="맑은 고딕"/>
              </a:rPr>
              <a:t>「긴급한 경보는 빨리</a:t>
            </a:r>
          </a:p>
          <a:p>
            <a:pPr algn="ctr" eaLnBrk="0">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출력 형식</a:t>
            </a:r>
          </a:p>
          <a:p>
            <a:pPr algn="ctr" eaLnBrk="0">
              <a:lnSpc>
                <a:spcPct val="110000"/>
              </a:lnSpc>
              <a:spcAft>
                <a:spcPts val="100"/>
              </a:spcAft>
            </a:pPr>
            <a:r>
              <a:rPr sz="1300" b="0">
                <a:solidFill>
                  <a:srgbClr val="556175"/>
                </a:solidFill>
                <a:latin typeface="맑은 고딕"/>
                <a:ea typeface="맑은 고딕"/>
                <a:cs typeface="맑은 고딕"/>
              </a:rPr>
              <a:t>긴급 표시의 추가 ·</a:t>
            </a:r>
          </a:p>
          <a:p>
            <a:pPr algn="ctr" eaLnBrk="0">
              <a:lnSpc>
                <a:spcPct val="110000"/>
              </a:lnSpc>
              <a:spcAft>
                <a:spcPts val="100"/>
              </a:spcAft>
            </a:pPr>
            <a:r>
              <a:rPr sz="1300" b="0">
                <a:solidFill>
                  <a:srgbClr val="556175"/>
                </a:solidFill>
                <a:latin typeface="맑은 고딕"/>
                <a:ea typeface="맑은 고딕"/>
                <a:cs typeface="맑은 고딕"/>
              </a:rPr>
              <a:t>기존 항목의 이름과 뜻</a:t>
            </a:r>
          </a:p>
        </p:txBody>
      </p:sp>
      <p:sp>
        <p:nvSpPr>
          <p:cNvPr id="9" name="TextBox 8"/>
          <p:cNvSpPr txBox="1"/>
          <p:nvPr/>
        </p:nvSpPr>
        <p:spPr>
          <a:xfrm>
            <a:off x="6532227" y="3565885"/>
            <a:ext cx="4800177"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 조건</a:t>
            </a:r>
          </a:p>
          <a:p>
            <a:pPr algn="ctr" eaLnBrk="0">
              <a:lnSpc>
                <a:spcPct val="110000"/>
              </a:lnSpc>
              <a:spcAft>
                <a:spcPts val="100"/>
              </a:spcAft>
            </a:pPr>
            <a:r>
              <a:rPr sz="1300" b="0">
                <a:solidFill>
                  <a:srgbClr val="556175"/>
                </a:solidFill>
                <a:latin typeface="맑은 고딕"/>
                <a:ea typeface="맑은 고딕"/>
                <a:cs typeface="맑은 고딕"/>
              </a:rPr>
              <a:t>승인 대기의 생략 ·</a:t>
            </a:r>
          </a:p>
          <a:p>
            <a:pPr algn="ctr" eaLnBrk="0">
              <a:lnSpc>
                <a:spcPct val="110000"/>
              </a:lnSpc>
              <a:spcAft>
                <a:spcPts val="100"/>
              </a:spcAft>
            </a:pPr>
            <a:r>
              <a:rPr sz="1300" b="0">
                <a:solidFill>
                  <a:srgbClr val="556175"/>
                </a:solidFill>
                <a:latin typeface="맑은 고딕"/>
                <a:ea typeface="맑은 고딕"/>
                <a:cs typeface="맑은 고딕"/>
              </a:rPr>
              <a:t>승인하는 역할</a:t>
            </a:r>
          </a:p>
        </p:txBody>
      </p:sp>
      <p:sp>
        <p:nvSpPr>
          <p:cNvPr id="10" name="TextBox 9"/>
          <p:cNvSpPr txBox="1"/>
          <p:nvPr/>
        </p:nvSpPr>
        <p:spPr>
          <a:xfrm>
            <a:off x="6532227" y="5173218"/>
            <a:ext cx="480017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기존 요청의 처리</a:t>
            </a:r>
          </a:p>
          <a:p>
            <a:pPr algn="ctr" eaLnBrk="0">
              <a:lnSpc>
                <a:spcPct val="110000"/>
              </a:lnSpc>
              <a:spcAft>
                <a:spcPts val="100"/>
              </a:spcAft>
            </a:pPr>
            <a:r>
              <a:rPr sz="1300" b="0">
                <a:solidFill>
                  <a:srgbClr val="556175"/>
                </a:solidFill>
                <a:latin typeface="맑은 고딕"/>
                <a:ea typeface="맑은 고딕"/>
                <a:cs typeface="맑은 고딕"/>
              </a:rPr>
              <a:t>긴급하지 않은 경보의 결과</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결과 항목을 이름으로 읽는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출력 항목의 이름은 형식 검사 · 사건 기록 · 승인 화면의 약속이므로, 변경할 때 소비자를 함께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ectangle 5"/>
          <p:cNvSpPr/>
          <p:nvPr/>
        </p:nvSpPr>
        <p:spPr>
          <a:xfrm>
            <a:off x="1935441" y="3566096"/>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341081"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braces" descr="braces_13294B_1.6.png"/>
          <p:cNvPicPr>
            <a:picLocks noChangeAspect="1"/>
          </p:cNvPicPr>
          <p:nvPr/>
        </p:nvPicPr>
        <p:blipFill>
          <a:blip r:embed="rId3"/>
          <a:stretch>
            <a:fillRect/>
          </a:stretch>
        </p:blipFill>
        <p:spPr>
          <a:xfrm>
            <a:off x="1626374" y="3330181"/>
            <a:ext cx="618134" cy="618134"/>
          </a:xfrm>
          <a:prstGeom prst="rect">
            <a:avLst/>
          </a:prstGeom>
        </p:spPr>
      </p:pic>
      <p:sp>
        <p:nvSpPr>
          <p:cNvPr id="10" name="TextBox 9"/>
          <p:cNvSpPr txBox="1"/>
          <p:nvPr/>
        </p:nvSpPr>
        <p:spPr>
          <a:xfrm>
            <a:off x="640079"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결과 객체</a:t>
            </a:r>
          </a:p>
          <a:p>
            <a:pPr algn="ctr" eaLnBrk="0">
              <a:lnSpc>
                <a:spcPct val="110000"/>
              </a:lnSpc>
              <a:spcAft>
                <a:spcPts val="400"/>
              </a:spcAft>
            </a:pPr>
            <a:r>
              <a:rPr sz="1300" b="0">
                <a:solidFill>
                  <a:srgbClr val="1F2A3A"/>
                </a:solidFill>
                <a:latin typeface="맑은 고딕"/>
                <a:ea typeface="맑은 고딕"/>
                <a:cs typeface="맑은 고딕"/>
              </a:rPr>
              <a:t>에이전트가 낸</a:t>
            </a:r>
          </a:p>
          <a:p>
            <a:pPr algn="ctr" eaLnBrk="0">
              <a:lnSpc>
                <a:spcPct val="110000"/>
              </a:lnSpc>
              <a:spcAft>
                <a:spcPts val="400"/>
              </a:spcAft>
            </a:pPr>
            <a:r>
              <a:rPr sz="1300" b="0">
                <a:solidFill>
                  <a:srgbClr val="1F2A3A"/>
                </a:solidFill>
                <a:latin typeface="맑은 고딕"/>
                <a:ea typeface="맑은 고딕"/>
                <a:cs typeface="맑은 고딕"/>
              </a:rPr>
              <a:t>다섯 항목</a:t>
            </a:r>
          </a:p>
        </p:txBody>
      </p:sp>
      <p:sp>
        <p:nvSpPr>
          <p:cNvPr id="11" name="Chevron 10"/>
          <p:cNvSpPr/>
          <p:nvPr/>
        </p:nvSpPr>
        <p:spPr>
          <a:xfrm>
            <a:off x="5976975"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4114685"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399978" y="3330181"/>
            <a:ext cx="618134" cy="618134"/>
          </a:xfrm>
          <a:prstGeom prst="rect">
            <a:avLst/>
          </a:prstGeom>
        </p:spPr>
      </p:pic>
      <p:sp>
        <p:nvSpPr>
          <p:cNvPr id="14" name="TextBox 13"/>
          <p:cNvSpPr txBox="1"/>
          <p:nvPr/>
        </p:nvSpPr>
        <p:spPr>
          <a:xfrm>
            <a:off x="3413683"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형식 검사</a:t>
            </a:r>
          </a:p>
          <a:p>
            <a:pPr algn="ctr" eaLnBrk="0">
              <a:lnSpc>
                <a:spcPct val="110000"/>
              </a:lnSpc>
              <a:spcAft>
                <a:spcPts val="400"/>
              </a:spcAft>
            </a:pPr>
            <a:r>
              <a:rPr sz="1300" b="0">
                <a:solidFill>
                  <a:srgbClr val="1F2A3A"/>
                </a:solidFill>
                <a:latin typeface="맑은 고딕"/>
                <a:ea typeface="맑은 고딕"/>
                <a:cs typeface="맑은 고딕"/>
              </a:rPr>
              <a:t>정해진 이름의 항목이</a:t>
            </a:r>
          </a:p>
          <a:p>
            <a:pPr algn="ctr" eaLnBrk="0">
              <a:lnSpc>
                <a:spcPct val="110000"/>
              </a:lnSpc>
              <a:spcAft>
                <a:spcPts val="400"/>
              </a:spcAft>
            </a:pPr>
            <a:r>
              <a:rPr sz="1300" b="0">
                <a:solidFill>
                  <a:srgbClr val="1F2A3A"/>
                </a:solidFill>
                <a:latin typeface="맑은 고딕"/>
                <a:ea typeface="맑은 고딕"/>
                <a:cs typeface="맑은 고딕"/>
              </a:rPr>
              <a:t>있는지 본다</a:t>
            </a:r>
          </a:p>
        </p:txBody>
      </p:sp>
      <p:sp>
        <p:nvSpPr>
          <p:cNvPr id="15" name="Chevron 14"/>
          <p:cNvSpPr/>
          <p:nvPr/>
        </p:nvSpPr>
        <p:spPr>
          <a:xfrm>
            <a:off x="8750579"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688828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7" name="아이콘:file-description" descr="file-description_13294B_1.6.png"/>
          <p:cNvPicPr>
            <a:picLocks noChangeAspect="1"/>
          </p:cNvPicPr>
          <p:nvPr/>
        </p:nvPicPr>
        <p:blipFill>
          <a:blip r:embed="rId5"/>
          <a:stretch>
            <a:fillRect/>
          </a:stretch>
        </p:blipFill>
        <p:spPr>
          <a:xfrm>
            <a:off x="7173582" y="3330181"/>
            <a:ext cx="618134" cy="618134"/>
          </a:xfrm>
          <a:prstGeom prst="rect">
            <a:avLst/>
          </a:prstGeom>
        </p:spPr>
      </p:pic>
      <p:sp>
        <p:nvSpPr>
          <p:cNvPr id="18" name="TextBox 17"/>
          <p:cNvSpPr txBox="1"/>
          <p:nvPr/>
        </p:nvSpPr>
        <p:spPr>
          <a:xfrm>
            <a:off x="6187287"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사건 기록</a:t>
            </a:r>
          </a:p>
          <a:p>
            <a:pPr algn="ctr" eaLnBrk="0">
              <a:lnSpc>
                <a:spcPct val="110000"/>
              </a:lnSpc>
              <a:spcAft>
                <a:spcPts val="400"/>
              </a:spcAft>
            </a:pPr>
            <a:r>
              <a:rPr sz="1300" b="0">
                <a:solidFill>
                  <a:srgbClr val="1F2A3A"/>
                </a:solidFill>
                <a:latin typeface="맑은 고딕"/>
                <a:ea typeface="맑은 고딕"/>
                <a:cs typeface="맑은 고딕"/>
              </a:rPr>
              <a:t>진단 가이드 카드를 실어</a:t>
            </a:r>
          </a:p>
          <a:p>
            <a:pPr algn="ctr" eaLnBrk="0">
              <a:lnSpc>
                <a:spcPct val="110000"/>
              </a:lnSpc>
              <a:spcAft>
                <a:spcPts val="400"/>
              </a:spcAft>
            </a:pPr>
            <a:r>
              <a:rPr sz="1300" b="0">
                <a:solidFill>
                  <a:srgbClr val="1F2A3A"/>
                </a:solidFill>
                <a:latin typeface="맑은 고딕"/>
                <a:ea typeface="맑은 고딕"/>
                <a:cs typeface="맑은 고딕"/>
              </a:rPr>
              <a:t>승인할 조치의 범위로 쓴다</a:t>
            </a:r>
          </a:p>
        </p:txBody>
      </p:sp>
      <p:sp>
        <p:nvSpPr>
          <p:cNvPr id="19" name="Oval 18"/>
          <p:cNvSpPr/>
          <p:nvPr/>
        </p:nvSpPr>
        <p:spPr>
          <a:xfrm>
            <a:off x="9661893"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20" name="아이콘:device-desktop" descr="device-desktop_13294B_1.6.png"/>
          <p:cNvPicPr>
            <a:picLocks noChangeAspect="1"/>
          </p:cNvPicPr>
          <p:nvPr/>
        </p:nvPicPr>
        <p:blipFill>
          <a:blip r:embed="rId6"/>
          <a:stretch>
            <a:fillRect/>
          </a:stretch>
        </p:blipFill>
        <p:spPr>
          <a:xfrm>
            <a:off x="9947186" y="3330181"/>
            <a:ext cx="618134" cy="618134"/>
          </a:xfrm>
          <a:prstGeom prst="rect">
            <a:avLst/>
          </a:prstGeom>
        </p:spPr>
      </p:pic>
      <p:sp>
        <p:nvSpPr>
          <p:cNvPr id="21" name="TextBox 20"/>
          <p:cNvSpPr txBox="1"/>
          <p:nvPr/>
        </p:nvSpPr>
        <p:spPr>
          <a:xfrm>
            <a:off x="8960891"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승인 화면</a:t>
            </a:r>
          </a:p>
          <a:p>
            <a:pPr algn="ctr" eaLnBrk="0">
              <a:lnSpc>
                <a:spcPct val="110000"/>
              </a:lnSpc>
              <a:spcAft>
                <a:spcPts val="400"/>
              </a:spcAft>
            </a:pPr>
            <a:r>
              <a:rPr sz="1300" b="0">
                <a:solidFill>
                  <a:srgbClr val="1F2A3A"/>
                </a:solidFill>
                <a:latin typeface="맑은 고딕"/>
                <a:ea typeface="맑은 고딕"/>
                <a:cs typeface="맑은 고딕"/>
              </a:rPr>
              <a:t>판단 번호로 판단을 찾아</a:t>
            </a:r>
          </a:p>
          <a:p>
            <a:pPr algn="ctr" eaLnBrk="0">
              <a:lnSpc>
                <a:spcPct val="110000"/>
              </a:lnSpc>
              <a:spcAft>
                <a:spcPts val="400"/>
              </a:spcAft>
            </a:pPr>
            <a:r>
              <a:rPr sz="1300" b="0">
                <a:solidFill>
                  <a:srgbClr val="1F2A3A"/>
                </a:solidFill>
                <a:latin typeface="맑은 고딕"/>
                <a:ea typeface="맑은 고딕"/>
                <a:cs typeface="맑은 고딕"/>
              </a:rPr>
              <a:t>추천안을 보인다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새 기능만 실행해 본 확인이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고친 뒤에 새 기능만 실행해 보는 확인으로는 기존 요청과 승인 조건이 달라졌는지가 드러나지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568321"/>
            <a:ext cx="5181447" cy="284607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6948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23108"/>
            <a:ext cx="424281" cy="424281"/>
          </a:xfrm>
          <a:prstGeom prst="rect">
            <a:avLst/>
          </a:prstGeom>
        </p:spPr>
      </p:pic>
      <p:sp>
        <p:nvSpPr>
          <p:cNvPr id="9" name="TextBox 8"/>
          <p:cNvSpPr txBox="1"/>
          <p:nvPr/>
        </p:nvSpPr>
        <p:spPr>
          <a:xfrm>
            <a:off x="1691640"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실행해 본 것</a:t>
            </a:r>
          </a:p>
        </p:txBody>
      </p:sp>
      <p:sp>
        <p:nvSpPr>
          <p:cNvPr id="10" name="TextBox 9"/>
          <p:cNvSpPr txBox="1"/>
          <p:nvPr/>
        </p:nvSpPr>
        <p:spPr>
          <a:xfrm>
            <a:off x="822959" y="3619881"/>
            <a:ext cx="4632807" cy="124587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긴급한 경보 한 건을 넣는다</a:t>
            </a:r>
          </a:p>
          <a:p>
            <a:pPr algn="l" eaLnBrk="0" marL="171450" indent="-171450">
              <a:lnSpc>
                <a:spcPct val="110000"/>
              </a:lnSpc>
              <a:spcAft>
                <a:spcPts val="600"/>
              </a:spcAft>
            </a:pPr>
            <a:r>
              <a:rPr sz="1500" b="0">
                <a:solidFill>
                  <a:srgbClr val="1F2A3A"/>
                </a:solidFill>
                <a:latin typeface="맑은 고딕"/>
                <a:ea typeface="맑은 고딕"/>
                <a:cs typeface="맑은 고딕"/>
              </a:rPr>
              <a:t>• 추천안이 나오고 긴급하다는 표시도 보인다</a:t>
            </a:r>
          </a:p>
          <a:p>
            <a:pPr algn="l" eaLnBrk="0" marL="171450" indent="-171450">
              <a:lnSpc>
                <a:spcPct val="110000"/>
              </a:lnSpc>
              <a:spcAft>
                <a:spcPts val="600"/>
              </a:spcAft>
            </a:pPr>
            <a:r>
              <a:rPr sz="1500" b="0">
                <a:solidFill>
                  <a:srgbClr val="1F2A3A"/>
                </a:solidFill>
                <a:latin typeface="맑은 고딕"/>
                <a:ea typeface="맑은 고딕"/>
                <a:cs typeface="맑은 고딕"/>
              </a:rPr>
              <a:t>• 요청한 기능은 된 것으로 보인다</a:t>
            </a:r>
          </a:p>
        </p:txBody>
      </p:sp>
      <p:sp>
        <p:nvSpPr>
          <p:cNvPr id="11" name="Rounded Rectangle 10"/>
          <p:cNvSpPr/>
          <p:nvPr/>
        </p:nvSpPr>
        <p:spPr>
          <a:xfrm>
            <a:off x="868680" y="4957191"/>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57191"/>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새 기능</a:t>
            </a:r>
          </a:p>
        </p:txBody>
      </p:sp>
      <p:sp>
        <p:nvSpPr>
          <p:cNvPr id="13" name="Rounded Rectangle 12"/>
          <p:cNvSpPr/>
          <p:nvPr/>
        </p:nvSpPr>
        <p:spPr>
          <a:xfrm>
            <a:off x="6461607" y="2568321"/>
            <a:ext cx="5181447" cy="284607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69489"/>
            <a:ext cx="731520" cy="731520"/>
          </a:xfrm>
          <a:prstGeom prst="ellipse">
            <a:avLst/>
          </a:prstGeom>
          <a:solidFill>
            <a:srgbClr val="5CB8F2"/>
          </a:solidFill>
          <a:ln>
            <a:noFill/>
          </a:ln>
        </p:spPr>
        <p:txBody>
          <a:bodyPr rtlCol="0" anchor="ctr"/>
          <a:lstStyle/>
          <a:p>
            <a:pPr algn="ctr"/>
          </a:p>
        </p:txBody>
      </p:sp>
      <p:pic>
        <p:nvPicPr>
          <p:cNvPr id="15" name="아이콘:eye-off" descr="eye-off_13294B_1.6.png"/>
          <p:cNvPicPr>
            <a:picLocks noChangeAspect="1"/>
          </p:cNvPicPr>
          <p:nvPr/>
        </p:nvPicPr>
        <p:blipFill>
          <a:blip r:embed="rId4"/>
          <a:stretch>
            <a:fillRect/>
          </a:stretch>
        </p:blipFill>
        <p:spPr>
          <a:xfrm>
            <a:off x="6889546" y="2923108"/>
            <a:ext cx="424281" cy="424281"/>
          </a:xfrm>
          <a:prstGeom prst="rect">
            <a:avLst/>
          </a:prstGeom>
        </p:spPr>
      </p:pic>
      <p:sp>
        <p:nvSpPr>
          <p:cNvPr id="16" name="TextBox 15"/>
          <p:cNvSpPr txBox="1"/>
          <p:nvPr/>
        </p:nvSpPr>
        <p:spPr>
          <a:xfrm>
            <a:off x="7604607"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실행해 보지 않은 것</a:t>
            </a:r>
          </a:p>
        </p:txBody>
      </p:sp>
      <p:sp>
        <p:nvSpPr>
          <p:cNvPr id="17" name="TextBox 16"/>
          <p:cNvSpPr txBox="1"/>
          <p:nvPr/>
        </p:nvSpPr>
        <p:spPr>
          <a:xfrm>
            <a:off x="6735927" y="3619881"/>
            <a:ext cx="4632807" cy="124587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긴급하지 않은 경보의 결과 항목이 이전과 같은가</a:t>
            </a:r>
          </a:p>
          <a:p>
            <a:pPr algn="l" eaLnBrk="0" marL="171450" indent="-171450">
              <a:lnSpc>
                <a:spcPct val="110000"/>
              </a:lnSpc>
              <a:spcAft>
                <a:spcPts val="600"/>
              </a:spcAft>
            </a:pPr>
            <a:r>
              <a:rPr sz="1500" b="0">
                <a:solidFill>
                  <a:srgbClr val="1F2A3A"/>
                </a:solidFill>
                <a:latin typeface="맑은 고딕"/>
                <a:ea typeface="맑은 고딕"/>
                <a:cs typeface="맑은 고딕"/>
              </a:rPr>
              <a:t>• 추천안이 여전히 승인을 기다리는가</a:t>
            </a:r>
          </a:p>
          <a:p>
            <a:pPr algn="l" eaLnBrk="0" marL="171450" indent="-171450">
              <a:lnSpc>
                <a:spcPct val="110000"/>
              </a:lnSpc>
              <a:spcAft>
                <a:spcPts val="600"/>
              </a:spcAft>
            </a:pPr>
            <a:r>
              <a:rPr sz="1500" b="0">
                <a:solidFill>
                  <a:srgbClr val="1F2A3A"/>
                </a:solidFill>
                <a:latin typeface="맑은 고딕"/>
                <a:ea typeface="맑은 고딕"/>
                <a:cs typeface="맑은 고딕"/>
              </a:rPr>
              <a:t>• 하지 않기로 한 일을 여전히 하지 않는가</a:t>
            </a:r>
          </a:p>
        </p:txBody>
      </p:sp>
      <p:sp>
        <p:nvSpPr>
          <p:cNvPr id="18" name="Rounded Rectangle 17"/>
          <p:cNvSpPr/>
          <p:nvPr/>
        </p:nvSpPr>
        <p:spPr>
          <a:xfrm>
            <a:off x="6781647" y="4957191"/>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57191"/>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기존 기능</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SDD: 명세 주도 개발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무엇을 만들고 무엇을 지킬지를 구현 전에 정해 두는 개발 방식</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SDD(Spec-Driven Development)와 명세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SDD는 무엇을 만들고 지킬지 명세로 정하고 구현과 검증의 기준으로 삼으며, 세부 문서 형식은 도구마다 다를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SDD</a:t>
            </a:r>
          </a:p>
          <a:p>
            <a:pPr algn="l" eaLnBrk="0">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3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eaLnBrk="0">
              <a:lnSpc>
                <a:spcPct val="110000"/>
              </a:lnSpc>
              <a:spcAft>
                <a:spcPts val="300"/>
              </a:spcAft>
            </a:pPr>
            <a:r>
              <a:rPr sz="13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명세</a:t>
            </a:r>
          </a:p>
          <a:p>
            <a:pPr algn="l" eaLnBrk="0">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eaLnBrk="0">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놓이는 곳</a:t>
            </a:r>
          </a:p>
          <a:p>
            <a:pPr algn="l" eaLnBrk="0">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 수업은 spec.md를 코드와 함께 관리한다. 파일 이름 자체가 공통 표준은 아니다.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요청에서 코드까지의 순서: 바이브 코딩과 SDD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 사용 여부보다 명세를 검토하고 변경과 검증의 기준으로 유지하는지가 두 작업 방식의 차이를 만든다.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414015"/>
            <a:ext cx="5181447" cy="315468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15184"/>
            <a:ext cx="731520" cy="731520"/>
          </a:xfrm>
          <a:prstGeom prst="ellipse">
            <a:avLst/>
          </a:prstGeom>
          <a:solidFill>
            <a:srgbClr val="FFFFFF"/>
          </a:solidFill>
          <a:ln>
            <a:noFill/>
          </a:ln>
        </p:spPr>
        <p:txBody>
          <a:bodyPr rtlCol="0" anchor="ctr"/>
          <a:lstStyle/>
          <a:p>
            <a:pPr algn="ctr"/>
          </a:p>
        </p:txBody>
      </p:sp>
      <p:pic>
        <p:nvPicPr>
          <p:cNvPr id="8" name="아이콘:bolt" descr="bolt_13294B_1.6.png"/>
          <p:cNvPicPr>
            <a:picLocks noChangeAspect="1"/>
          </p:cNvPicPr>
          <p:nvPr/>
        </p:nvPicPr>
        <p:blipFill>
          <a:blip r:embed="rId3"/>
          <a:stretch>
            <a:fillRect/>
          </a:stretch>
        </p:blipFill>
        <p:spPr>
          <a:xfrm>
            <a:off x="976579" y="2768803"/>
            <a:ext cx="424281" cy="424281"/>
          </a:xfrm>
          <a:prstGeom prst="rect">
            <a:avLst/>
          </a:prstGeom>
        </p:spPr>
      </p:pic>
      <p:sp>
        <p:nvSpPr>
          <p:cNvPr id="9" name="TextBox 8"/>
          <p:cNvSpPr txBox="1"/>
          <p:nvPr/>
        </p:nvSpPr>
        <p:spPr>
          <a:xfrm>
            <a:off x="1691640" y="261518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명세를 생략한 변경</a:t>
            </a:r>
          </a:p>
        </p:txBody>
      </p:sp>
      <p:sp>
        <p:nvSpPr>
          <p:cNvPr id="10" name="TextBox 9"/>
          <p:cNvSpPr txBox="1"/>
          <p:nvPr/>
        </p:nvSpPr>
        <p:spPr>
          <a:xfrm>
            <a:off x="822959" y="3465575"/>
            <a:ext cx="4632807" cy="155448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요청 한 문장을 그대로 AI에게 준다</a:t>
            </a:r>
          </a:p>
          <a:p>
            <a:pPr algn="l" eaLnBrk="0" marL="171450" indent="-171450">
              <a:lnSpc>
                <a:spcPct val="110000"/>
              </a:lnSpc>
              <a:spcAft>
                <a:spcPts val="600"/>
              </a:spcAft>
            </a:pPr>
            <a:r>
              <a:rPr sz="1500" b="0">
                <a:solidFill>
                  <a:srgbClr val="1F2A3A"/>
                </a:solidFill>
                <a:latin typeface="맑은 고딕"/>
                <a:ea typeface="맑은 고딕"/>
                <a:cs typeface="맑은 고딕"/>
              </a:rPr>
              <a:t>• 해석은 AI가 그때그때 정한다</a:t>
            </a:r>
          </a:p>
          <a:p>
            <a:pPr algn="l" eaLnBrk="0" marL="171450" indent="-171450">
              <a:lnSpc>
                <a:spcPct val="110000"/>
              </a:lnSpc>
              <a:spcAft>
                <a:spcPts val="600"/>
              </a:spcAft>
            </a:pPr>
            <a:r>
              <a:rPr sz="1500" b="0">
                <a:solidFill>
                  <a:srgbClr val="1F2A3A"/>
                </a:solidFill>
                <a:latin typeface="맑은 고딕"/>
                <a:ea typeface="맑은 고딕"/>
                <a:cs typeface="맑은 고딕"/>
              </a:rPr>
              <a:t>• 실행해 보고 마음에 들지 않으면 다시 요청한다</a:t>
            </a:r>
          </a:p>
          <a:p>
            <a:pPr algn="l" eaLnBrk="0" marL="171450" indent="-171450">
              <a:lnSpc>
                <a:spcPct val="110000"/>
              </a:lnSpc>
              <a:spcAft>
                <a:spcPts val="600"/>
              </a:spcAft>
            </a:pPr>
            <a:r>
              <a:rPr sz="1500" b="0">
                <a:solidFill>
                  <a:srgbClr val="1F2A3A"/>
                </a:solidFill>
                <a:latin typeface="맑은 고딕"/>
                <a:ea typeface="맑은 고딕"/>
                <a:cs typeface="맑은 고딕"/>
              </a:rPr>
              <a:t>• 기존 기능의 기준을 기록하지 않으면 놓치기 쉽다</a:t>
            </a:r>
          </a:p>
        </p:txBody>
      </p:sp>
      <p:sp>
        <p:nvSpPr>
          <p:cNvPr id="11" name="Rounded Rectangle 10"/>
          <p:cNvSpPr/>
          <p:nvPr/>
        </p:nvSpPr>
        <p:spPr>
          <a:xfrm>
            <a:off x="868680" y="5111496"/>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11149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요청 → 코드</a:t>
            </a:r>
          </a:p>
        </p:txBody>
      </p:sp>
      <p:sp>
        <p:nvSpPr>
          <p:cNvPr id="13" name="Rounded Rectangle 12"/>
          <p:cNvSpPr/>
          <p:nvPr/>
        </p:nvSpPr>
        <p:spPr>
          <a:xfrm>
            <a:off x="6461607" y="2414015"/>
            <a:ext cx="5181447" cy="315468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15184"/>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768803"/>
            <a:ext cx="424281" cy="424281"/>
          </a:xfrm>
          <a:prstGeom prst="rect">
            <a:avLst/>
          </a:prstGeom>
        </p:spPr>
      </p:pic>
      <p:sp>
        <p:nvSpPr>
          <p:cNvPr id="16" name="TextBox 15"/>
          <p:cNvSpPr txBox="1"/>
          <p:nvPr/>
        </p:nvSpPr>
        <p:spPr>
          <a:xfrm>
            <a:off x="7604607" y="261518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SDD</a:t>
            </a:r>
          </a:p>
        </p:txBody>
      </p:sp>
      <p:sp>
        <p:nvSpPr>
          <p:cNvPr id="17" name="TextBox 16"/>
          <p:cNvSpPr txBox="1"/>
          <p:nvPr/>
        </p:nvSpPr>
        <p:spPr>
          <a:xfrm>
            <a:off x="6735927" y="3465575"/>
            <a:ext cx="4632807" cy="155448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요청을 받으면 명세부터 고친다</a:t>
            </a:r>
          </a:p>
          <a:p>
            <a:pPr algn="l" eaLnBrk="0" marL="171450" indent="-171450">
              <a:lnSpc>
                <a:spcPct val="110000"/>
              </a:lnSpc>
              <a:spcAft>
                <a:spcPts val="600"/>
              </a:spcAft>
            </a:pPr>
            <a:r>
              <a:rPr sz="1500" b="0">
                <a:solidFill>
                  <a:srgbClr val="1F2A3A"/>
                </a:solidFill>
                <a:latin typeface="맑은 고딕"/>
                <a:ea typeface="맑은 고딕"/>
                <a:cs typeface="맑은 고딕"/>
              </a:rPr>
              <a:t>• AI의 초안도 사람이 검토해 요구를 확정한다</a:t>
            </a:r>
          </a:p>
          <a:p>
            <a:pPr algn="l" eaLnBrk="0" marL="171450" indent="-171450">
              <a:lnSpc>
                <a:spcPct val="110000"/>
              </a:lnSpc>
              <a:spcAft>
                <a:spcPts val="600"/>
              </a:spcAft>
            </a:pPr>
            <a:r>
              <a:rPr sz="1500" b="0">
                <a:solidFill>
                  <a:srgbClr val="1F2A3A"/>
                </a:solidFill>
                <a:latin typeface="맑은 고딕"/>
                <a:ea typeface="맑은 고딕"/>
                <a:cs typeface="맑은 고딕"/>
              </a:rPr>
              <a:t>• AI는 명세를 기준으로 구현한다</a:t>
            </a:r>
          </a:p>
          <a:p>
            <a:pPr algn="l" eaLnBrk="0" marL="171450" indent="-171450">
              <a:lnSpc>
                <a:spcPct val="110000"/>
              </a:lnSpc>
              <a:spcAft>
                <a:spcPts val="600"/>
              </a:spcAft>
            </a:pPr>
            <a:r>
              <a:rPr sz="1500" b="0">
                <a:solidFill>
                  <a:srgbClr val="1F2A3A"/>
                </a:solidFill>
                <a:latin typeface="맑은 고딕"/>
                <a:ea typeface="맑은 고딕"/>
                <a:cs typeface="맑은 고딕"/>
              </a:rPr>
              <a:t>• 달라지는 것과 지킬 것이 문서로 남는다</a:t>
            </a:r>
          </a:p>
        </p:txBody>
      </p:sp>
      <p:sp>
        <p:nvSpPr>
          <p:cNvPr id="18" name="Rounded Rectangle 17"/>
          <p:cNvSpPr/>
          <p:nvPr/>
        </p:nvSpPr>
        <p:spPr>
          <a:xfrm>
            <a:off x="6781647" y="5111496"/>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111496"/>
            <a:ext cx="1767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요청 → 명세 → 코드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수업의 명세에는 요구사항, 입력 · 출력 계약, 금지 조건, 수용 기준을 함께 적어 해석과 확인의 기준을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pic>
        <p:nvPicPr>
          <p:cNvPr id="6" name="삽화:명세문서.svg" descr="illust_3767514584891936545_179222832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요구사항</a:t>
            </a:r>
          </a:p>
          <a:p>
            <a:pPr algn="ctr" eaLnBrk="0">
              <a:lnSpc>
                <a:spcPct val="110000"/>
              </a:lnSpc>
              <a:spcAft>
                <a:spcPts val="100"/>
              </a:spcAft>
            </a:pPr>
            <a:r>
              <a:rPr sz="1300" b="0">
                <a:solidFill>
                  <a:srgbClr val="556175"/>
                </a:solidFill>
                <a:latin typeface="맑은 고딕"/>
                <a:ea typeface="맑은 고딕"/>
                <a:cs typeface="맑은 고딕"/>
              </a:rPr>
              <a:t>할 일과 이번에 달라지는 것</a:t>
            </a:r>
          </a:p>
        </p:txBody>
      </p:sp>
      <p:sp>
        <p:nvSpPr>
          <p:cNvPr id="8" name="TextBox 7"/>
          <p:cNvSpPr txBox="1"/>
          <p:nvPr/>
        </p:nvSpPr>
        <p:spPr>
          <a:xfrm>
            <a:off x="6204942" y="2974954"/>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 계약</a:t>
            </a:r>
          </a:p>
          <a:p>
            <a:pPr algn="ctr" eaLnBrk="0">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6204942" y="377862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출력 계약</a:t>
            </a:r>
          </a:p>
          <a:p>
            <a:pPr algn="ctr" eaLnBrk="0">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0" name="TextBox 9"/>
          <p:cNvSpPr txBox="1"/>
          <p:nvPr/>
        </p:nvSpPr>
        <p:spPr>
          <a:xfrm>
            <a:off x="6204942" y="4605924"/>
            <a:ext cx="523655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금지 조건</a:t>
            </a:r>
          </a:p>
          <a:p>
            <a:pPr algn="ctr" eaLnBrk="0">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수용 기준</a:t>
            </a:r>
          </a:p>
          <a:p>
            <a:pPr algn="ctr" eaLnBrk="0">
              <a:lnSpc>
                <a:spcPct val="110000"/>
              </a:lnSpc>
              <a:spcAft>
                <a:spcPts val="100"/>
              </a:spcAft>
            </a:pPr>
            <a:r>
              <a:rPr sz="1300" b="0">
                <a:solidFill>
                  <a:srgbClr val="556175"/>
                </a:solidFill>
                <a:latin typeface="맑은 고딕"/>
                <a:ea typeface="맑은 고딕"/>
                <a:cs typeface="맑은 고딕"/>
              </a:rPr>
              <a:t>다 되었다고 볼 조건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계약 · 금지 조건 · 수용 기준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에이전트에 실제로 있는 계약과 금지 조건, 승인 단계가 지키는 수용 기준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계약: 주는 쪽과 받는 쪽이 지키는 항목과 형식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계약은 주고받는 항목의 이름 · 형식 · 뜻과 처리 조건을 정하며, 소비자를 깨는 변경은 함께 조율해야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pic>
        <p:nvPicPr>
          <p:cNvPr id="6" name="삽화:계약.svg" descr="illust_6831517719404291084_179222831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a:t>
            </a:r>
          </a:p>
          <a:p>
            <a:pPr algn="ctr" eaLnBrk="0">
              <a:lnSpc>
                <a:spcPct val="110000"/>
              </a:lnSpc>
              <a:spcAft>
                <a:spcPts val="100"/>
              </a:spcAft>
            </a:pPr>
            <a:r>
              <a:rPr sz="1300" b="0">
                <a:solidFill>
                  <a:srgbClr val="556175"/>
                </a:solidFill>
                <a:latin typeface="맑은 고딕"/>
                <a:ea typeface="맑은 고딕"/>
                <a:cs typeface="맑은 고딕"/>
              </a:rPr>
              <a:t>입력을 주는 쪽</a:t>
            </a:r>
          </a:p>
        </p:txBody>
      </p:sp>
      <p:sp>
        <p:nvSpPr>
          <p:cNvPr id="8" name="TextBox 7"/>
          <p:cNvSpPr txBox="1"/>
          <p:nvPr/>
        </p:nvSpPr>
        <p:spPr>
          <a:xfrm>
            <a:off x="2670266" y="455864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입력 계약</a:t>
            </a:r>
          </a:p>
          <a:p>
            <a:pPr algn="ctr" eaLnBrk="0">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5441277" y="455864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10" name="TextBox 9"/>
          <p:cNvSpPr txBox="1"/>
          <p:nvPr/>
        </p:nvSpPr>
        <p:spPr>
          <a:xfrm>
            <a:off x="7121340" y="455864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출력 계약</a:t>
            </a:r>
          </a:p>
          <a:p>
            <a:pPr algn="ctr" eaLnBrk="0">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1" name="TextBox 10"/>
          <p:cNvSpPr txBox="1"/>
          <p:nvPr/>
        </p:nvSpPr>
        <p:spPr>
          <a:xfrm>
            <a:off x="9423243" y="4558649"/>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화면과 뒤 단계</a:t>
            </a:r>
          </a:p>
          <a:p>
            <a:pPr algn="ctr" eaLnBrk="0">
              <a:lnSpc>
                <a:spcPct val="110000"/>
              </a:lnSpc>
              <a:spcAft>
                <a:spcPts val="100"/>
              </a:spcAft>
            </a:pPr>
            <a:r>
              <a:rPr sz="1300" b="0">
                <a:solidFill>
                  <a:srgbClr val="556175"/>
                </a:solidFill>
                <a:latin typeface="맑은 고딕"/>
                <a:ea typeface="맑은 고딕"/>
                <a:cs typeface="맑은 고딕"/>
              </a:rPr>
              <a:t>결과를 읽는 쪽</a:t>
            </a:r>
          </a:p>
        </p:txBody>
      </p:sp>
      <p:sp>
        <p:nvSpPr>
          <p:cNvPr id="12" name="TextBox 11"/>
          <p:cNvSpPr txBox="1"/>
          <p:nvPr/>
        </p:nvSpPr>
        <p:spPr>
          <a:xfrm>
            <a:off x="2670266" y="243129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경보, 사건 번호</a:t>
            </a:r>
          </a:p>
        </p:txBody>
      </p:sp>
      <p:sp>
        <p:nvSpPr>
          <p:cNvPr id="13" name="TextBox 12"/>
          <p:cNvSpPr txBox="1"/>
          <p:nvPr/>
        </p:nvSpPr>
        <p:spPr>
          <a:xfrm>
            <a:off x="7121340" y="243129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추천, 판단 번호</a:t>
            </a:r>
          </a:p>
        </p:txBody>
      </p:sp>
      <p:sp>
        <p:nvSpPr>
          <p:cNvPr id="14" name="TextBox 13"/>
          <p:cNvSpPr txBox="1"/>
          <p:nvPr/>
        </p:nvSpPr>
        <p:spPr>
          <a:xfrm>
            <a:off x="3695758" y="5598688"/>
            <a:ext cx="480017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계약(Contract)</a:t>
            </a:r>
          </a:p>
          <a:p>
            <a:pPr algn="ctr" eaLnBrk="0">
              <a:lnSpc>
                <a:spcPct val="110000"/>
              </a:lnSpc>
              <a:spcAft>
                <a:spcPts val="100"/>
              </a:spcAft>
            </a:pPr>
            <a:r>
              <a:rPr sz="1300" b="0">
                <a:solidFill>
                  <a:srgbClr val="556175"/>
                </a:solidFill>
                <a:latin typeface="맑은 고딕"/>
                <a:ea typeface="맑은 고딕"/>
                <a:cs typeface="맑은 고딕"/>
              </a:rPr>
              <a:t>입력 계약 · 출력 계약</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입력 계약의 실제: 쿨러 성능 저하 경보의 입력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 HYD 입력 예는 대상과 사건을 지정하고 변하는 값은 도구로 조회하며, 앞 승인 기록과는 다른 실행이다.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"asset": "HYD-01",</a:t>
            </a:r>
          </a:p>
          <a:p>
            <a:pPr algn="l" eaLnBrk="0">
              <a:lnSpc>
                <a:spcPct val="110000"/>
              </a:lnSpc>
              <a:spcAft>
                <a:spcPts val="200"/>
              </a:spcAft>
            </a:pPr>
            <a:r>
              <a:rPr sz="1300" b="0">
                <a:solidFill>
                  <a:srgbClr val="E8EEF6"/>
                </a:solidFill>
                <a:latin typeface="Consolas"/>
                <a:ea typeface="맑은 고딕"/>
                <a:cs typeface="맑은 고딕"/>
              </a:rPr>
              <a:t>  "alert": {</a:t>
            </a:r>
          </a:p>
          <a:p>
            <a:pPr algn="l" eaLnBrk="0">
              <a:lnSpc>
                <a:spcPct val="110000"/>
              </a:lnSpc>
              <a:spcAft>
                <a:spcPts val="200"/>
              </a:spcAft>
            </a:pPr>
            <a:r>
              <a:rPr sz="1300" b="0">
                <a:solidFill>
                  <a:srgbClr val="E8EEF6"/>
                </a:solidFill>
                <a:latin typeface="Consolas"/>
                <a:ea typeface="맑은 고딕"/>
                <a:cs typeface="맑은 고딕"/>
              </a:rPr>
              <a:t>    "alertId": "ALT-hyd01-</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"incident": "INC-1010-</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asset</a:t>
            </a:r>
          </a:p>
          <a:p>
            <a:pPr algn="l" eaLnBrk="0">
              <a:lnSpc>
                <a:spcPct val="110000"/>
              </a:lnSpc>
              <a:spcAft>
                <a:spcPts val="400"/>
              </a:spcAft>
            </a:pPr>
            <a:r>
              <a:rPr sz="1400" b="0">
                <a:solidFill>
                  <a:srgbClr val="1F2A3A"/>
                </a:solidFill>
                <a:latin typeface="맑은 고딕"/>
                <a:ea typeface="맑은 고딕"/>
                <a:cs typeface="맑은 고딕"/>
              </a:rPr>
              <a:t>대상 설비의 식별자이다.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alert</a:t>
            </a:r>
          </a:p>
          <a:p>
            <a:pPr algn="l" eaLnBrk="0">
              <a:lnSpc>
                <a:spcPct val="110000"/>
              </a:lnSpc>
              <a:spcAft>
                <a:spcPts val="400"/>
              </a:spcAft>
            </a:pPr>
            <a:r>
              <a:rPr sz="1400" b="0">
                <a:solidFill>
                  <a:srgbClr val="1F2A3A"/>
                </a:solidFill>
                <a:latin typeface="맑은 고딕"/>
                <a:ea typeface="맑은 고딕"/>
                <a:cs typeface="맑은 고딕"/>
              </a:rPr>
              <a:t>경보 번호와 경보의 유형을 담는다.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incident</a:t>
            </a:r>
          </a:p>
          <a:p>
            <a:pPr algn="l" eaLnBrk="0">
              <a:lnSpc>
                <a:spcPct val="110000"/>
              </a:lnSpc>
              <a:spcAft>
                <a:spcPts val="400"/>
              </a:spcAft>
            </a:pPr>
            <a:r>
              <a:rPr sz="1400" b="0">
                <a:solidFill>
                  <a:srgbClr val="1F2A3A"/>
                </a:solidFill>
                <a:latin typeface="맑은 고딕"/>
                <a:ea typeface="맑은 고딕"/>
                <a:cs typeface="맑은 고딕"/>
              </a:rPr>
              <a:t>이 경보가 속한 사건의 번호이다.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정해진 세 항목</a:t>
            </a:r>
          </a:p>
          <a:p>
            <a:pPr algn="l" eaLnBrk="0">
              <a:lnSpc>
                <a:spcPct val="110000"/>
              </a:lnSpc>
              <a:spcAft>
                <a:spcPts val="400"/>
              </a:spcAft>
            </a:pPr>
            <a:r>
              <a:rPr sz="1400" b="0">
                <a:solidFill>
                  <a:srgbClr val="1F2A3A"/>
                </a:solidFill>
                <a:latin typeface="맑은 고딕"/>
                <a:ea typeface="맑은 고딕"/>
                <a:cs typeface="맑은 고딕"/>
              </a:rPr>
              <a:t>유온 같은 값은 입력에 없으며 에이전트가 도구로 읽는다.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 계약: 항목마다 정하는 이름, 형식, 뜻</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이름 · 형식 · 뜻을 함께 지키고 소비자의 허용 범위를 확인해야 하며, 새 항목의 추가도 호환성 검증이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이름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형식과 예</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cause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그래프의 식별자</a:t>
            </a:r>
          </a:p>
          <a:p>
            <a:pPr algn="l" eaLnBrk="0">
              <a:lnSpc>
                <a:spcPct val="110000"/>
              </a:lnSpc>
            </a:pPr>
            <a:r>
              <a:rPr sz="1400" b="0">
                <a:solidFill>
                  <a:srgbClr val="1F2A3A"/>
                </a:solidFill>
                <a:latin typeface="맑은 고딕"/>
                <a:ea typeface="맑은 고딕"/>
                <a:cs typeface="맑은 고딕"/>
              </a:rPr>
              <a:t>cause:cooler-fin-fouling</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진단한 원인</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failure_mode</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그래프의 식별자</a:t>
            </a:r>
          </a:p>
          <a:p>
            <a:pPr algn="l" eaLnBrk="0">
              <a:lnSpc>
                <a:spcPct val="110000"/>
              </a:lnSpc>
            </a:pPr>
            <a:r>
              <a:rPr sz="1400" b="0">
                <a:solidFill>
                  <a:srgbClr val="1F2A3A"/>
                </a:solidFill>
                <a:latin typeface="맑은 고딕"/>
                <a:ea typeface="맑은 고딕"/>
                <a:cs typeface="맑은 고딕"/>
              </a:rPr>
              <a:t>fm:cooler-performance-loss</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고장 유형</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guide_card</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진단 결과의 가이드 카드</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사건 기록에 실려</a:t>
            </a:r>
          </a:p>
          <a:p>
            <a:pPr algn="l" eaLnBrk="0">
              <a:lnSpc>
                <a:spcPct val="110000"/>
              </a:lnSpc>
            </a:pPr>
            <a:r>
              <a:rPr sz="1250" b="1">
                <a:solidFill>
                  <a:srgbClr val="556175"/>
                </a:solidFill>
                <a:latin typeface="맑은 고딕"/>
                <a:ea typeface="맑은 고딕"/>
                <a:cs typeface="맑은 고딕"/>
              </a:rPr>
              <a:t>승인할 조치의 범위가 된다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recommended · explanation · order</a:t>
            </a:r>
          </a:p>
          <a:p>
            <a:pPr algn="l" eaLnBrk="0">
              <a:lnSpc>
                <a:spcPct val="110000"/>
              </a:lnSpc>
            </a:pPr>
            <a:r>
              <a:rPr sz="1400" b="0">
                <a:solidFill>
                  <a:srgbClr val="1F2A3A"/>
                </a:solidFill>
                <a:latin typeface="맑은 고딕"/>
                <a:ea typeface="맑은 고딕"/>
                <a:cs typeface="맑은 고딕"/>
              </a:rPr>
              <a:t>추천: skill:sop-cool-11</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1순위 조치, 설명,</a:t>
            </a:r>
          </a:p>
          <a:p>
            <a:pPr algn="l" eaLnBrk="0">
              <a:lnSpc>
                <a:spcPct val="110000"/>
              </a:lnSpc>
            </a:pPr>
            <a:r>
              <a:rPr sz="1250" b="1">
                <a:solidFill>
                  <a:srgbClr val="1A6FC4"/>
                </a:solidFill>
                <a:latin typeface="맑은 고딕"/>
                <a:ea typeface="맑은 고딕"/>
                <a:cs typeface="맑은 고딕"/>
              </a:rPr>
              <a:t>후보의 순서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decision_id</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제출하고 받은 번호</a:t>
            </a:r>
          </a:p>
          <a:p>
            <a:pPr algn="l" eaLnBrk="0">
              <a:lnSpc>
                <a:spcPct val="110000"/>
              </a:lnSpc>
            </a:pPr>
            <a:r>
              <a:rPr sz="1400" b="0">
                <a:solidFill>
                  <a:srgbClr val="1F2A3A"/>
                </a:solidFill>
                <a:latin typeface="맑은 고딕"/>
                <a:ea typeface="맑은 고딕"/>
                <a:cs typeface="맑은 고딕"/>
              </a:rPr>
              <a:t>DEC-1010-…</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 판단을 가리키는 번호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금지 조건의 실제: 작업 규칙의 「절대 금지」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업무 지침의 금지 조건은 실제 도구 권한과 승인 경로의 검사로 뒷받침해야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r>
              <a:rPr sz="1300" b="0">
                <a:solidFill>
                  <a:srgbClr val="E8EEF6"/>
                </a:solidFill>
                <a:latin typeface="Consolas"/>
                <a:ea typeface="맑은 고딕"/>
                <a:cs typeface="맑은 고딕"/>
              </a:rPr>
              <a:t>(PLC </a:t>
            </a:r>
            <a:r>
              <a:rPr sz="1300" b="0">
                <a:solidFill>
                  <a:srgbClr val="E8EEF6"/>
                </a:solidFill>
                <a:latin typeface="맑은 고딕"/>
                <a:ea typeface="맑은 고딕"/>
                <a:cs typeface="맑은 고딕"/>
              </a:rPr>
              <a:t>쓰기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어떤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않습니다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온톨로지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스키마·규칙·스킬의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수정</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Neo4j</a:t>
            </a:r>
            <a:r>
              <a:rPr sz="1300" b="0">
                <a:solidFill>
                  <a:srgbClr val="E8EEF6"/>
                </a:solidFill>
                <a:latin typeface="맑은 고딕"/>
                <a:ea typeface="맑은 고딕"/>
                <a:cs typeface="맑은 고딕"/>
              </a:rPr>
              <a:t>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사용합니다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hyd-dmn.submit_decision</a:t>
            </a:r>
            <a:r>
              <a:rPr sz="1300" b="0">
                <a:solidFill>
                  <a:srgbClr val="E8EEF6"/>
                </a:solidFill>
                <a:latin typeface="맑은 고딕"/>
                <a:ea typeface="맑은 고딕"/>
                <a:cs typeface="맑은 고딕"/>
              </a:rPr>
              <a:t>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선택할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허용합니다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승인이나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첫째 줄</a:t>
            </a:r>
          </a:p>
          <a:p>
            <a:pPr algn="l" eaLnBrk="0">
              <a:lnSpc>
                <a:spcPct val="110000"/>
              </a:lnSpc>
              <a:spcAft>
                <a:spcPts val="400"/>
              </a:spcAft>
            </a:pPr>
            <a:r>
              <a:rPr sz="1400" b="0">
                <a:solidFill>
                  <a:srgbClr val="1F2A3A"/>
                </a:solidFill>
                <a:latin typeface="맑은 고딕"/>
                <a:ea typeface="맑은 고딕"/>
                <a:cs typeface="맑은 고딕"/>
              </a:rPr>
              <a:t>설비 명령, 업무 조치의 실행, 승인의 대행을 금지한다.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둘째 줄</a:t>
            </a:r>
          </a:p>
          <a:p>
            <a:pPr algn="l" eaLnBrk="0">
              <a:lnSpc>
                <a:spcPct val="110000"/>
              </a:lnSpc>
              <a:spcAft>
                <a:spcPts val="400"/>
              </a:spcAft>
            </a:pPr>
            <a:r>
              <a:rPr sz="1400" b="0">
                <a:solidFill>
                  <a:srgbClr val="1F2A3A"/>
                </a:solidFill>
                <a:latin typeface="맑은 고딕"/>
                <a:ea typeface="맑은 고딕"/>
                <a:cs typeface="맑은 고딕"/>
              </a:rPr>
              <a:t>지식 그래프의 스키마와 규칙, 스킬을 고치지 못하게 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셋째 줄</a:t>
            </a:r>
          </a:p>
          <a:p>
            <a:pPr algn="l" eaLnBrk="0">
              <a:lnSpc>
                <a:spcPct val="110000"/>
              </a:lnSpc>
              <a:spcAft>
                <a:spcPts val="400"/>
              </a:spcAft>
            </a:pPr>
            <a:r>
              <a:rPr sz="1400" b="0">
                <a:solidFill>
                  <a:srgbClr val="1F2A3A"/>
                </a:solidFill>
                <a:latin typeface="맑은 고딕"/>
                <a:ea typeface="맑은 고딕"/>
                <a:cs typeface="맑은 고딕"/>
              </a:rPr>
              <a:t>판단 제출은 고를 안을 올리는 일이며 승인도 실행도 아님을 못 박는다.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기능 추가에서 유지할 금지 조건을 따로 적고 검사하며, 정책 자체의 변경은 별도의 검토로 다룬다.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56966"/>
            <a:ext cx="4632807" cy="2171700"/>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해야 할 일을 적는다</a:t>
            </a:r>
          </a:p>
          <a:p>
            <a:pPr algn="l" eaLnBrk="0" marL="160020" indent="-160020">
              <a:lnSpc>
                <a:spcPct val="110000"/>
              </a:lnSpc>
              <a:spcAft>
                <a:spcPts val="600"/>
              </a:spcAft>
            </a:pPr>
            <a:r>
              <a:rPr sz="1400" b="0">
                <a:solidFill>
                  <a:srgbClr val="1F2A3A"/>
                </a:solidFill>
                <a:latin typeface="맑은 고딕"/>
                <a:ea typeface="맑은 고딕"/>
                <a:cs typeface="맑은 고딕"/>
              </a:rPr>
              <a:t>• 변경 요청이 올 때마다 줄이 늘어난다</a:t>
            </a:r>
          </a:p>
          <a:p>
            <a:pPr algn="l" eaLnBrk="0" marL="160020" indent="-160020">
              <a:lnSpc>
                <a:spcPct val="110000"/>
              </a:lnSpc>
              <a:spcAft>
                <a:spcPts val="600"/>
              </a:spcAft>
            </a:pPr>
            <a:r>
              <a:rPr sz="1400" b="0">
                <a:solidFill>
                  <a:srgbClr val="1F2A3A"/>
                </a:solidFill>
                <a:latin typeface="맑은 고딕"/>
                <a:ea typeface="맑은 고딕"/>
                <a:cs typeface="맑은 고딕"/>
              </a:rPr>
              <a:t>• 예: 원인을 가리고 조치 후보를 견주어 추천안을 낸다</a:t>
            </a:r>
          </a:p>
          <a:p>
            <a:pPr algn="l" eaLnBrk="0" marL="160020" indent="-160020">
              <a:lnSpc>
                <a:spcPct val="110000"/>
              </a:lnSpc>
              <a:spcAft>
                <a:spcPts val="600"/>
              </a:spcAft>
            </a:pPr>
            <a:r>
              <a:rPr sz="140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420106"/>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어떤 요구가 더해져도 하지 않을 일을 적는다</a:t>
            </a:r>
          </a:p>
          <a:p>
            <a:pPr algn="l" eaLnBrk="0" marL="171450" indent="-171450">
              <a:lnSpc>
                <a:spcPct val="110000"/>
              </a:lnSpc>
              <a:spcAft>
                <a:spcPts val="600"/>
              </a:spcAft>
            </a:pPr>
            <a:r>
              <a:rPr sz="1500" b="0">
                <a:solidFill>
                  <a:srgbClr val="1F2A3A"/>
                </a:solidFill>
                <a:latin typeface="맑은 고딕"/>
                <a:ea typeface="맑은 고딕"/>
                <a:cs typeface="맑은 고딕"/>
              </a:rPr>
              <a:t>• 이번 기능 추가에서는 유지한다</a:t>
            </a:r>
          </a:p>
          <a:p>
            <a:pPr algn="l" eaLnBrk="0" marL="171450" indent="-171450">
              <a:lnSpc>
                <a:spcPct val="110000"/>
              </a:lnSpc>
              <a:spcAft>
                <a:spcPts val="600"/>
              </a:spcAft>
            </a:pPr>
            <a:r>
              <a:rPr sz="1500" b="0">
                <a:solidFill>
                  <a:srgbClr val="1F2A3A"/>
                </a:solidFill>
                <a:latin typeface="맑은 고딕"/>
                <a:ea typeface="맑은 고딕"/>
                <a:cs typeface="맑은 고딕"/>
              </a:rPr>
              <a:t>• 예: 사람이 승인하기 전에는 어떤 조치도 실행하지 않는다</a:t>
            </a:r>
          </a:p>
          <a:p>
            <a:pPr algn="l" eaLnBrk="0" marL="171450" indent="-171450">
              <a:lnSpc>
                <a:spcPct val="110000"/>
              </a:lnSpc>
              <a:spcAft>
                <a:spcPts val="600"/>
              </a:spcAft>
            </a:pPr>
            <a:r>
              <a:rPr sz="1500" b="0">
                <a:solidFill>
                  <a:srgbClr val="1F2A3A"/>
                </a:solidFill>
                <a:latin typeface="맑은 고딕"/>
                <a:ea typeface="맑은 고딕"/>
                <a:cs typeface="맑은 고딕"/>
              </a:rPr>
              <a:t>• 승인 생략이 명세 위반인지 가르고 실제 검사로 확인한다</a:t>
            </a:r>
          </a:p>
        </p:txBody>
      </p:sp>
      <p:sp>
        <p:nvSpPr>
          <p:cNvPr id="18" name="Rounded Rectangle 17"/>
          <p:cNvSpPr/>
          <p:nvPr/>
        </p:nvSpPr>
        <p:spPr>
          <a:xfrm>
            <a:off x="6781647" y="5420106"/>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수용 기준</a:t>
            </a:r>
          </a:p>
          <a:p>
            <a:pPr algn="l" eaLnBrk="0">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eaLnBrk="0">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적는 내용</a:t>
            </a:r>
          </a:p>
          <a:p>
            <a:pPr algn="l" eaLnBrk="0">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쓰이는 때</a:t>
            </a:r>
          </a:p>
          <a:p>
            <a:pPr algn="l" eaLnBrk="0">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35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판정할 수 있는 문장과 판정할 수 없는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「잘 처리된다」 같은 문장은 실행해 보아도 맞았는지 가릴 수 없어, 상황과 기대 결과를 적은 문장으로 바꾸어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판정할 수 없는 문장</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「거절이 잘 처리된다」</a:t>
            </a:r>
          </a:p>
          <a:p>
            <a:pPr algn="l" eaLnBrk="0" marL="205740" indent="-205740">
              <a:lnSpc>
                <a:spcPct val="110000"/>
              </a:lnSpc>
              <a:spcAft>
                <a:spcPts val="600"/>
              </a:spcAft>
            </a:pPr>
            <a:r>
              <a:rPr sz="1800" b="0">
                <a:solidFill>
                  <a:srgbClr val="1F2A3A"/>
                </a:solidFill>
                <a:latin typeface="맑은 고딕"/>
                <a:ea typeface="맑은 고딕"/>
                <a:cs typeface="맑은 고딕"/>
              </a:rPr>
              <a:t>• 「긴급한 경보가 빨리 처리된다」</a:t>
            </a:r>
          </a:p>
          <a:p>
            <a:pPr algn="l" eaLnBrk="0" marL="205740" indent="-205740">
              <a:lnSpc>
                <a:spcPct val="110000"/>
              </a:lnSpc>
              <a:spcAft>
                <a:spcPts val="600"/>
              </a:spcAft>
            </a:pPr>
            <a:r>
              <a:rPr sz="1800" b="0">
                <a:solidFill>
                  <a:srgbClr val="1F2A3A"/>
                </a:solidFill>
                <a:latin typeface="맑은 고딕"/>
                <a:ea typeface="맑은 고딕"/>
                <a:cs typeface="맑은 고딕"/>
              </a:rPr>
              <a:t>• 실행한 사람마다 판정이 달라진다</a:t>
            </a:r>
          </a:p>
        </p:txBody>
      </p:sp>
      <p:sp>
        <p:nvSpPr>
          <p:cNvPr id="11" name="Rounded Rectangle 10"/>
          <p:cNvSpPr/>
          <p:nvPr/>
        </p:nvSpPr>
        <p:spPr>
          <a:xfrm>
            <a:off x="868680" y="5382006"/>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모호하다</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checks" descr="checks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판정할 수 있는 문장</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「거절하면 설비 명령이 0건이다」</a:t>
            </a:r>
          </a:p>
          <a:p>
            <a:pPr algn="l" eaLnBrk="0" marL="205740" indent="-205740">
              <a:lnSpc>
                <a:spcPct val="110000"/>
              </a:lnSpc>
              <a:spcAft>
                <a:spcPts val="600"/>
              </a:spcAft>
            </a:pPr>
            <a:r>
              <a:rPr sz="1800" b="0">
                <a:solidFill>
                  <a:srgbClr val="1F2A3A"/>
                </a:solidFill>
                <a:latin typeface="맑은 고딕"/>
                <a:ea typeface="맑은 고딕"/>
                <a:cs typeface="맑은 고딕"/>
              </a:rPr>
              <a:t>• 「긴급한 경보의 추천안도 승인 대기 상태가 된다」</a:t>
            </a:r>
          </a:p>
          <a:p>
            <a:pPr algn="l" eaLnBrk="0" marL="205740" indent="-205740">
              <a:lnSpc>
                <a:spcPct val="110000"/>
              </a:lnSpc>
              <a:spcAft>
                <a:spcPts val="600"/>
              </a:spcAft>
            </a:pPr>
            <a:r>
              <a:rPr sz="1800" b="0">
                <a:solidFill>
                  <a:srgbClr val="1F2A3A"/>
                </a:solidFill>
                <a:latin typeface="맑은 고딕"/>
                <a:ea typeface="맑은 고딕"/>
                <a:cs typeface="맑은 고딕"/>
              </a:rPr>
              <a:t>• 같은 입력과 조건에서 같은 항목을 확인한다</a:t>
            </a:r>
          </a:p>
        </p:txBody>
      </p:sp>
      <p:sp>
        <p:nvSpPr>
          <p:cNvPr id="18" name="Rounded Rectangle 17"/>
          <p:cNvSpPr/>
          <p:nvPr/>
        </p:nvSpPr>
        <p:spPr>
          <a:xfrm>
            <a:off x="6781647" y="5382006"/>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참 또는 거짓</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단계가 지키는 수용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자동 시험은 준비한 입력과 실행 대역에서 승인 · 거절 · 지연의 기대 결과를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확인되어야 하는 결과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있는 승인 / 실행 조건 충족</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승인한 사람과 역할이 기록되고 처리 건이 끝까지 처리된다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사유를 적고 거절한다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명령과 업무 처리가 0건이고 처리 건은 반려로 닫힌다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거절</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 없이, 또는 권한 없는 역할로 거절한다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요청이 받아들여지지 않는다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사유 · 권한 없음</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응답하지 않는다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지연 알림만 나가고 처리 건은 계속 기다린다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무응답</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알림 뒤에 승인한다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현재 조건도 통과하면 정상 처리된다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늦은 승인</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명세에 따른 구현과</a:t>
            </a:r>
          </a:p>
          <a:p>
            <a:pPr algn="l" eaLnBrk="0">
              <a:lnSpc>
                <a:spcPct val="110000"/>
              </a:lnSpc>
            </a:pPr>
            <a:r>
              <a:rPr sz="3400" b="1">
                <a:solidFill>
                  <a:srgbClr val="13294B"/>
                </a:solidFill>
                <a:latin typeface="맑은 고딕"/>
                <a:ea typeface="맑은 고딕"/>
                <a:cs typeface="맑은 고딕"/>
              </a:rPr>
              <a:t>변경의 확인</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요청을 명세로 다시 쓰고, 명세대로 구현한 뒤 두 요청을 함께 확인한다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 여부 표시를 추가하는 교육용 예시이며, 실제 처리 시간을 줄이는 요구는 별도로 정의해야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773936"/>
            <a:ext cx="6766560" cy="4434840"/>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1911096"/>
            <a:ext cx="6400800" cy="416052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표시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속도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개선은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별도</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번호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뜻</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a:t>
            </a:r>
          </a:p>
          <a:p>
            <a:pPr algn="l" eaLnBrk="0">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일반</a:t>
            </a:r>
            <a:r>
              <a:rPr sz="1300" b="0">
                <a:solidFill>
                  <a:srgbClr val="E8EEF6"/>
                </a:solidFill>
                <a:latin typeface="Consolas"/>
                <a:ea typeface="맑은 고딕"/>
                <a:cs typeface="맑은 고딕"/>
              </a:rPr>
              <a:t> false,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true</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소비자의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허용을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먼저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확인</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자료에서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의미와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동작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실패</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없이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a:t>
            </a:r>
          </a:p>
        </p:txBody>
      </p:sp>
      <p:sp>
        <p:nvSpPr>
          <p:cNvPr id="8" name="TextBox 7"/>
          <p:cNvSpPr txBox="1"/>
          <p:nvPr/>
        </p:nvSpPr>
        <p:spPr>
          <a:xfrm>
            <a:off x="7635240" y="177393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요구사항</a:t>
            </a:r>
          </a:p>
          <a:p>
            <a:pPr algn="l" eaLnBrk="0">
              <a:lnSpc>
                <a:spcPct val="110000"/>
              </a:lnSpc>
              <a:spcAft>
                <a:spcPts val="400"/>
              </a:spcAft>
            </a:pPr>
            <a:r>
              <a:rPr sz="1400" b="0">
                <a:solidFill>
                  <a:srgbClr val="1F2A3A"/>
                </a:solidFill>
                <a:latin typeface="맑은 고딕"/>
                <a:ea typeface="맑은 고딕"/>
                <a:cs typeface="맑은 고딕"/>
              </a:rPr>
              <a:t>어떤 경보가 긴급한가: 잴 때와 수치로 정했다. 교육용은 60 ℃ 이상, 실제 경고는 60 ℃ 초과다.</a:t>
            </a:r>
          </a:p>
        </p:txBody>
      </p:sp>
      <p:sp>
        <p:nvSpPr>
          <p:cNvPr id="9" name="TextBox 8"/>
          <p:cNvSpPr txBox="1"/>
          <p:nvPr/>
        </p:nvSpPr>
        <p:spPr>
          <a:xfrm>
            <a:off x="7635240" y="288264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입력 · 출력 계약</a:t>
            </a:r>
          </a:p>
          <a:p>
            <a:pPr algn="l" eaLnBrk="0">
              <a:lnSpc>
                <a:spcPct val="110000"/>
              </a:lnSpc>
              <a:spcAft>
                <a:spcPts val="400"/>
              </a:spcAft>
            </a:pPr>
            <a:r>
              <a:rPr sz="1400" b="0">
                <a:solidFill>
                  <a:srgbClr val="1F2A3A"/>
                </a:solidFill>
                <a:latin typeface="맑은 고딕"/>
                <a:ea typeface="맑은 고딕"/>
                <a:cs typeface="맑은 고딕"/>
              </a:rPr>
              <a:t>입력과 기존 의미는 유지하고 항목 하나를 더한다. 소비자의 허용 범위를 확인한다.</a:t>
            </a:r>
          </a:p>
        </p:txBody>
      </p:sp>
      <p:sp>
        <p:nvSpPr>
          <p:cNvPr id="10" name="TextBox 9"/>
          <p:cNvSpPr txBox="1"/>
          <p:nvPr/>
        </p:nvSpPr>
        <p:spPr>
          <a:xfrm>
            <a:off x="7635240" y="399135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금지 조건</a:t>
            </a:r>
          </a:p>
          <a:p>
            <a:pPr algn="l" eaLnBrk="0">
              <a:lnSpc>
                <a:spcPct val="110000"/>
              </a:lnSpc>
              <a:spcAft>
                <a:spcPts val="400"/>
              </a:spcAft>
            </a:pPr>
            <a:r>
              <a:rPr sz="1400" b="0">
                <a:solidFill>
                  <a:srgbClr val="1F2A3A"/>
                </a:solidFill>
                <a:latin typeface="맑은 고딕"/>
                <a:ea typeface="맑은 고딕"/>
                <a:cs typeface="맑은 고딕"/>
              </a:rPr>
              <a:t>승인을 건너뛰는가: 건너뛰지 않고, 모르는 값을 짐작하지도 않는다.</a:t>
            </a:r>
          </a:p>
        </p:txBody>
      </p:sp>
      <p:sp>
        <p:nvSpPr>
          <p:cNvPr id="11" name="TextBox 10"/>
          <p:cNvSpPr txBox="1"/>
          <p:nvPr/>
        </p:nvSpPr>
        <p:spPr>
          <a:xfrm>
            <a:off x="7635240" y="5100066"/>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수용 기준</a:t>
            </a:r>
          </a:p>
          <a:p>
            <a:pPr algn="l" eaLnBrk="0">
              <a:lnSpc>
                <a:spcPct val="110000"/>
              </a:lnSpc>
              <a:spcAft>
                <a:spcPts val="400"/>
              </a:spcAft>
            </a:pPr>
            <a:r>
              <a:rPr sz="1400" b="0">
                <a:solidFill>
                  <a:srgbClr val="1F2A3A"/>
                </a:solidFill>
                <a:latin typeface="맑은 고딕"/>
                <a:ea typeface="맑은 고딕"/>
                <a:cs typeface="맑은 고딕"/>
              </a:rPr>
              <a:t>고정한 입력 · 조회 자료로 기존 동작과 긴급 여부, 보류를 확인한다.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명세를 기준 문서로 삼는 구현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AI에게 구현을 맡길 때 명세를 함께 주면, 결과가 어긋났을 때 구현과 명세 가운데 고칠 쪽을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105088"/>
            <a:ext cx="2485567" cy="377253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28796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441587"/>
            <a:ext cx="424281" cy="424281"/>
          </a:xfrm>
          <a:prstGeom prst="rect">
            <a:avLst/>
          </a:prstGeom>
        </p:spPr>
      </p:pic>
      <p:sp>
        <p:nvSpPr>
          <p:cNvPr id="9" name="TextBox 8"/>
          <p:cNvSpPr txBox="1"/>
          <p:nvPr/>
        </p:nvSpPr>
        <p:spPr>
          <a:xfrm>
            <a:off x="621792"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명세를 고친다</a:t>
            </a:r>
          </a:p>
          <a:p>
            <a:pPr algn="ctr" eaLnBrk="0">
              <a:lnSpc>
                <a:spcPct val="110000"/>
              </a:lnSpc>
              <a:spcAft>
                <a:spcPts val="400"/>
              </a:spcAft>
            </a:pPr>
            <a:r>
              <a:rPr sz="1650" b="0">
                <a:solidFill>
                  <a:srgbClr val="1F2A3A"/>
                </a:solidFill>
                <a:latin typeface="맑은 고딕"/>
                <a:ea typeface="맑은 고딕"/>
                <a:cs typeface="맑은 고딕"/>
              </a:rPr>
              <a:t>달라지는 것과</a:t>
            </a:r>
          </a:p>
          <a:p>
            <a:pPr algn="ctr" eaLnBrk="0">
              <a:lnSpc>
                <a:spcPct val="110000"/>
              </a:lnSpc>
              <a:spcAft>
                <a:spcPts val="400"/>
              </a:spcAft>
            </a:pPr>
            <a:r>
              <a:rPr sz="1650" b="0">
                <a:solidFill>
                  <a:srgbClr val="1F2A3A"/>
                </a:solidFill>
                <a:latin typeface="맑은 고딕"/>
                <a:ea typeface="맑은 고딕"/>
                <a:cs typeface="맑은 고딕"/>
              </a:rPr>
              <a:t>지킬 것을 적는다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105088"/>
            <a:ext cx="2485567" cy="377253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287968"/>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441587"/>
            <a:ext cx="424281" cy="424281"/>
          </a:xfrm>
          <a:prstGeom prst="rect">
            <a:avLst/>
          </a:prstGeom>
        </p:spPr>
      </p:pic>
      <p:sp>
        <p:nvSpPr>
          <p:cNvPr id="14" name="TextBox 13"/>
          <p:cNvSpPr txBox="1"/>
          <p:nvPr/>
        </p:nvSpPr>
        <p:spPr>
          <a:xfrm>
            <a:off x="3491407"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구현을 맡긴다</a:t>
            </a:r>
          </a:p>
          <a:p>
            <a:pPr algn="ctr" eaLnBrk="0">
              <a:lnSpc>
                <a:spcPct val="110000"/>
              </a:lnSpc>
              <a:spcAft>
                <a:spcPts val="400"/>
              </a:spcAft>
            </a:pPr>
            <a:r>
              <a:rPr sz="1650" b="0">
                <a:solidFill>
                  <a:srgbClr val="1F2A3A"/>
                </a:solidFill>
                <a:latin typeface="맑은 고딕"/>
                <a:ea typeface="맑은 고딕"/>
                <a:cs typeface="맑은 고딕"/>
              </a:rPr>
              <a:t>명세를 함께 주고</a:t>
            </a:r>
          </a:p>
          <a:p>
            <a:pPr algn="ctr" eaLnBrk="0">
              <a:lnSpc>
                <a:spcPct val="110000"/>
              </a:lnSpc>
              <a:spcAft>
                <a:spcPts val="400"/>
              </a:spcAft>
            </a:pPr>
            <a:r>
              <a:rPr sz="1650" b="0">
                <a:solidFill>
                  <a:srgbClr val="1F2A3A"/>
                </a:solidFill>
                <a:latin typeface="맑은 고딕"/>
                <a:ea typeface="맑은 고딕"/>
                <a:cs typeface="맑은 고딕"/>
              </a:rPr>
              <a:t>AI가 코드를 고친다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105088"/>
            <a:ext cx="2485567" cy="377253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287968"/>
            <a:ext cx="731520" cy="731520"/>
          </a:xfrm>
          <a:prstGeom prst="ellipse">
            <a:avLst/>
          </a:prstGeom>
          <a:solidFill>
            <a:srgbClr val="5CB8F2"/>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7318514" y="2441587"/>
            <a:ext cx="424281" cy="424281"/>
          </a:xfrm>
          <a:prstGeom prst="rect">
            <a:avLst/>
          </a:prstGeom>
        </p:spPr>
      </p:pic>
      <p:sp>
        <p:nvSpPr>
          <p:cNvPr id="19" name="TextBox 18"/>
          <p:cNvSpPr txBox="1"/>
          <p:nvPr/>
        </p:nvSpPr>
        <p:spPr>
          <a:xfrm>
            <a:off x="6361023"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수용 기준으로 확인한다</a:t>
            </a:r>
          </a:p>
          <a:p>
            <a:pPr algn="ctr" eaLnBrk="0">
              <a:lnSpc>
                <a:spcPct val="110000"/>
              </a:lnSpc>
              <a:spcAft>
                <a:spcPts val="400"/>
              </a:spcAft>
            </a:pPr>
            <a:r>
              <a:rPr sz="1650" b="0">
                <a:solidFill>
                  <a:srgbClr val="1F2A3A"/>
                </a:solidFill>
                <a:latin typeface="맑은 고딕"/>
                <a:ea typeface="맑은 고딕"/>
                <a:cs typeface="맑은 고딕"/>
              </a:rPr>
              <a:t>기준마다 실행해</a:t>
            </a:r>
          </a:p>
          <a:p>
            <a:pPr algn="ctr" eaLnBrk="0">
              <a:lnSpc>
                <a:spcPct val="110000"/>
              </a:lnSpc>
              <a:spcAft>
                <a:spcPts val="400"/>
              </a:spcAft>
            </a:pPr>
            <a:r>
              <a:rPr sz="1650" b="0">
                <a:solidFill>
                  <a:srgbClr val="1F2A3A"/>
                </a:solidFill>
                <a:latin typeface="맑은 고딕"/>
                <a:ea typeface="맑은 고딕"/>
                <a:cs typeface="맑은 고딕"/>
              </a:rPr>
              <a:t>참과 거짓을 가린다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105088"/>
            <a:ext cx="2485567" cy="377253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287968"/>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441587"/>
            <a:ext cx="424281" cy="424281"/>
          </a:xfrm>
          <a:prstGeom prst="rect">
            <a:avLst/>
          </a:prstGeom>
        </p:spPr>
      </p:pic>
      <p:sp>
        <p:nvSpPr>
          <p:cNvPr id="24" name="TextBox 23"/>
          <p:cNvSpPr txBox="1"/>
          <p:nvPr/>
        </p:nvSpPr>
        <p:spPr>
          <a:xfrm>
            <a:off x="9230639"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어긋난 곳을 고친다</a:t>
            </a:r>
          </a:p>
          <a:p>
            <a:pPr algn="ctr" eaLnBrk="0">
              <a:lnSpc>
                <a:spcPct val="110000"/>
              </a:lnSpc>
              <a:spcAft>
                <a:spcPts val="400"/>
              </a:spcAft>
            </a:pPr>
            <a:r>
              <a:rPr sz="1650" b="0">
                <a:solidFill>
                  <a:srgbClr val="1F2A3A"/>
                </a:solidFill>
                <a:latin typeface="맑은 고딕"/>
                <a:ea typeface="맑은 고딕"/>
                <a:cs typeface="맑은 고딕"/>
              </a:rPr>
              <a:t>구현이 틀렸으면 구현을,</a:t>
            </a:r>
          </a:p>
          <a:p>
            <a:pPr algn="ctr" eaLnBrk="0">
              <a:lnSpc>
                <a:spcPct val="110000"/>
              </a:lnSpc>
              <a:spcAft>
                <a:spcPts val="400"/>
              </a:spcAft>
            </a:pPr>
            <a:r>
              <a:rPr sz="1650" b="0">
                <a:solidFill>
                  <a:srgbClr val="1F2A3A"/>
                </a:solidFill>
                <a:latin typeface="맑은 고딕"/>
                <a:ea typeface="맑은 고딕"/>
                <a:cs typeface="맑은 고딕"/>
              </a:rPr>
              <a:t>명세에 빠진 것이 있으면</a:t>
            </a:r>
          </a:p>
          <a:p>
            <a:pPr algn="ctr" eaLnBrk="0">
              <a:lnSpc>
                <a:spcPct val="110000"/>
              </a:lnSpc>
              <a:spcAft>
                <a:spcPts val="400"/>
              </a:spcAft>
            </a:pPr>
            <a:r>
              <a:rPr sz="1650" b="0">
                <a:solidFill>
                  <a:srgbClr val="1F2A3A"/>
                </a:solidFill>
                <a:latin typeface="맑은 고딕"/>
                <a:ea typeface="맑은 고딕"/>
                <a:cs typeface="맑은 고딕"/>
              </a:rPr>
              <a:t>명세를 고친다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명세를 실행되는 검사로 옮긴 두 가지 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HYD의 기대 결과 비교와 규칙 글 보존 검사는 서로 다른 대상을 확인하며, 변경 뒤 실제로 실행해야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camera" descr="camera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기대 결과의 저장</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같은 경보에 대한 추천안의 기대 결과를 저장해 둔다</a:t>
            </a:r>
          </a:p>
          <a:p>
            <a:pPr algn="l" eaLnBrk="0" marL="205740" indent="-205740">
              <a:lnSpc>
                <a:spcPct val="110000"/>
              </a:lnSpc>
              <a:spcAft>
                <a:spcPts val="600"/>
              </a:spcAft>
            </a:pPr>
            <a:r>
              <a:rPr sz="1800" b="0">
                <a:solidFill>
                  <a:srgbClr val="1F2A3A"/>
                </a:solidFill>
                <a:latin typeface="맑은 고딕"/>
                <a:ea typeface="맑은 고딕"/>
                <a:cs typeface="맑은 고딕"/>
              </a:rPr>
              <a:t>• 변경 뒤의 결과를 저장한 것과 견준다</a:t>
            </a:r>
          </a:p>
          <a:p>
            <a:pPr algn="l" eaLnBrk="0" marL="205740" indent="-205740">
              <a:lnSpc>
                <a:spcPct val="110000"/>
              </a:lnSpc>
              <a:spcAft>
                <a:spcPts val="600"/>
              </a:spcAft>
            </a:pPr>
            <a:r>
              <a:rPr sz="1800" b="0">
                <a:solidFill>
                  <a:srgbClr val="1F2A3A"/>
                </a:solidFill>
                <a:latin typeface="맑은 고딕"/>
                <a:ea typeface="맑은 고딕"/>
                <a:cs typeface="맑은 고딕"/>
              </a:rPr>
              <a:t>• 결과를 일부러 바꿀 때에만 근거와 함께 갱신한다</a:t>
            </a:r>
          </a:p>
        </p:txBody>
      </p:sp>
      <p:sp>
        <p:nvSpPr>
          <p:cNvPr id="11" name="Rounded Rectangle 10"/>
          <p:cNvSpPr/>
          <p:nvPr/>
        </p:nvSpPr>
        <p:spPr>
          <a:xfrm>
            <a:off x="868680" y="538200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출력의 보존</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금지 조건의 고정</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쿨러 사건 에이전트의 작업 규칙을 고정해 둔다</a:t>
            </a:r>
          </a:p>
          <a:p>
            <a:pPr algn="l" eaLnBrk="0" marL="205740" indent="-205740">
              <a:lnSpc>
                <a:spcPct val="110000"/>
              </a:lnSpc>
              <a:spcAft>
                <a:spcPts val="600"/>
              </a:spcAft>
            </a:pPr>
            <a:r>
              <a:rPr sz="1800" b="0">
                <a:solidFill>
                  <a:srgbClr val="1F2A3A"/>
                </a:solidFill>
                <a:latin typeface="맑은 고딕"/>
                <a:ea typeface="맑은 고딕"/>
                <a:cs typeface="맑은 고딕"/>
              </a:rPr>
              <a:t>• 한 글자라도 달라지면 검사가 실패한다</a:t>
            </a:r>
          </a:p>
          <a:p>
            <a:pPr algn="l" eaLnBrk="0" marL="205740" indent="-205740">
              <a:lnSpc>
                <a:spcPct val="110000"/>
              </a:lnSpc>
              <a:spcAft>
                <a:spcPts val="600"/>
              </a:spcAft>
            </a:pPr>
            <a:r>
              <a:rPr sz="1800" b="0">
                <a:solidFill>
                  <a:srgbClr val="1F2A3A"/>
                </a:solidFill>
                <a:latin typeface="맑은 고딕"/>
                <a:ea typeface="맑은 고딕"/>
                <a:cs typeface="맑은 고딕"/>
              </a:rPr>
              <a:t>• 글의 보존을 확인하며 실제 준수 검사는 별도다</a:t>
            </a:r>
          </a:p>
        </p:txBody>
      </p:sp>
      <p:sp>
        <p:nvSpPr>
          <p:cNvPr id="18" name="Rounded Rectangle 17"/>
          <p:cNvSpPr/>
          <p:nvPr/>
        </p:nvSpPr>
        <p:spPr>
          <a:xfrm>
            <a:off x="6781647" y="538200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금지 조건의 보존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변경 뒤의 확인: 기존 요청과 새 요청을 함께 실행한다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기존 · 긴급 · 누락 사례를 같은 입력과 조회 자료로 확인하고, 실행마다 바뀌는 번호 · 시각은 비교 규칙을 나눈다.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410079"/>
            <a:ext cx="3515258" cy="316255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1247"/>
            <a:ext cx="731520" cy="731520"/>
          </a:xfrm>
          <a:prstGeom prst="ellipse">
            <a:avLst/>
          </a:prstGeom>
          <a:solidFill>
            <a:srgbClr val="E7F3FD"/>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930859" y="2764866"/>
            <a:ext cx="424281" cy="424281"/>
          </a:xfrm>
          <a:prstGeom prst="rect">
            <a:avLst/>
          </a:prstGeom>
        </p:spPr>
      </p:pic>
      <p:sp>
        <p:nvSpPr>
          <p:cNvPr id="9" name="TextBox 8"/>
          <p:cNvSpPr txBox="1"/>
          <p:nvPr/>
        </p:nvSpPr>
        <p:spPr>
          <a:xfrm>
            <a:off x="713232" y="3434207"/>
            <a:ext cx="3186074" cy="163550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기존 요청</a:t>
            </a:r>
          </a:p>
          <a:p>
            <a:pPr algn="l" eaLnBrk="0" marL="171450" indent="-171450">
              <a:lnSpc>
                <a:spcPct val="110000"/>
              </a:lnSpc>
              <a:spcAft>
                <a:spcPts val="400"/>
              </a:spcAft>
            </a:pPr>
            <a:r>
              <a:rPr sz="1500" b="0">
                <a:solidFill>
                  <a:srgbClr val="1F2A3A"/>
                </a:solidFill>
                <a:latin typeface="맑은 고딕"/>
                <a:ea typeface="맑은 고딕"/>
                <a:cs typeface="맑은 고딕"/>
              </a:rPr>
              <a:t>• 입력: 긴급하지 않은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기존 의미 · 동작 유지, urgent=false, 승인 대기</a:t>
            </a:r>
          </a:p>
        </p:txBody>
      </p:sp>
      <p:sp>
        <p:nvSpPr>
          <p:cNvPr id="10" name="Rounded Rectangle 9"/>
          <p:cNvSpPr/>
          <p:nvPr/>
        </p:nvSpPr>
        <p:spPr>
          <a:xfrm>
            <a:off x="777240" y="5142865"/>
            <a:ext cx="14782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2865"/>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그대로여야 한다</a:t>
            </a:r>
          </a:p>
        </p:txBody>
      </p:sp>
      <p:sp>
        <p:nvSpPr>
          <p:cNvPr id="12" name="Rounded Rectangle 11"/>
          <p:cNvSpPr/>
          <p:nvPr/>
        </p:nvSpPr>
        <p:spPr>
          <a:xfrm>
            <a:off x="4338218" y="2410079"/>
            <a:ext cx="3515258" cy="316255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11247"/>
            <a:ext cx="731520" cy="731520"/>
          </a:xfrm>
          <a:prstGeom prst="ellipse">
            <a:avLst/>
          </a:prstGeom>
          <a:solidFill>
            <a:srgbClr val="5CB8F2"/>
          </a:solidFill>
          <a:ln>
            <a:noFill/>
          </a:ln>
        </p:spPr>
        <p:txBody>
          <a:bodyPr rtlCol="0" anchor="ctr"/>
          <a:lstStyle/>
          <a:p>
            <a:pPr algn="ctr"/>
          </a:p>
        </p:txBody>
      </p:sp>
      <p:pic>
        <p:nvPicPr>
          <p:cNvPr id="14" name="아이콘:urgent" descr="urgent_13294B_1.6.png"/>
          <p:cNvPicPr>
            <a:picLocks noChangeAspect="1"/>
          </p:cNvPicPr>
          <p:nvPr/>
        </p:nvPicPr>
        <p:blipFill>
          <a:blip r:embed="rId4"/>
          <a:stretch>
            <a:fillRect/>
          </a:stretch>
        </p:blipFill>
        <p:spPr>
          <a:xfrm>
            <a:off x="4720437" y="2764866"/>
            <a:ext cx="424281" cy="424281"/>
          </a:xfrm>
          <a:prstGeom prst="rect">
            <a:avLst/>
          </a:prstGeom>
        </p:spPr>
      </p:pic>
      <p:sp>
        <p:nvSpPr>
          <p:cNvPr id="15" name="TextBox 14"/>
          <p:cNvSpPr txBox="1"/>
          <p:nvPr/>
        </p:nvSpPr>
        <p:spPr>
          <a:xfrm>
            <a:off x="4502810" y="3434207"/>
            <a:ext cx="3186074" cy="163550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새 요청</a:t>
            </a:r>
          </a:p>
          <a:p>
            <a:pPr algn="l" eaLnBrk="0" marL="171450" indent="-171450">
              <a:lnSpc>
                <a:spcPct val="110000"/>
              </a:lnSpc>
              <a:spcAft>
                <a:spcPts val="400"/>
              </a:spcAft>
            </a:pPr>
            <a:r>
              <a:rPr sz="1500" b="0">
                <a:solidFill>
                  <a:srgbClr val="1F2A3A"/>
                </a:solidFill>
                <a:latin typeface="맑은 고딕"/>
                <a:ea typeface="맑은 고딕"/>
                <a:cs typeface="맑은 고딕"/>
              </a:rPr>
              <a:t>• 입력: 판단할 때 유온이 60 ℃ 이상인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urgent=true이고 승인 대기가 된다</a:t>
            </a:r>
          </a:p>
        </p:txBody>
      </p:sp>
      <p:sp>
        <p:nvSpPr>
          <p:cNvPr id="16" name="Rounded Rectangle 15"/>
          <p:cNvSpPr/>
          <p:nvPr/>
        </p:nvSpPr>
        <p:spPr>
          <a:xfrm>
            <a:off x="4566818" y="5142865"/>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2865"/>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달라져야 한다</a:t>
            </a:r>
          </a:p>
        </p:txBody>
      </p:sp>
      <p:sp>
        <p:nvSpPr>
          <p:cNvPr id="18" name="Rounded Rectangle 17"/>
          <p:cNvSpPr/>
          <p:nvPr/>
        </p:nvSpPr>
        <p:spPr>
          <a:xfrm>
            <a:off x="8127796" y="2410079"/>
            <a:ext cx="3515258" cy="316255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11247"/>
            <a:ext cx="731520" cy="731520"/>
          </a:xfrm>
          <a:prstGeom prst="ellipse">
            <a:avLst/>
          </a:prstGeom>
          <a:solidFill>
            <a:srgbClr val="E7F3FD"/>
          </a:solidFill>
          <a:ln>
            <a:noFill/>
          </a:ln>
        </p:spPr>
        <p:txBody>
          <a:bodyPr rtlCol="0" anchor="ctr"/>
          <a:lstStyle/>
          <a:p>
            <a:pPr algn="ctr"/>
          </a:p>
        </p:txBody>
      </p:sp>
      <p:pic>
        <p:nvPicPr>
          <p:cNvPr id="20" name="아이콘:player-stop" descr="player-stop_13294B_1.6.png"/>
          <p:cNvPicPr>
            <a:picLocks noChangeAspect="1"/>
          </p:cNvPicPr>
          <p:nvPr/>
        </p:nvPicPr>
        <p:blipFill>
          <a:blip r:embed="rId5"/>
          <a:stretch>
            <a:fillRect/>
          </a:stretch>
        </p:blipFill>
        <p:spPr>
          <a:xfrm>
            <a:off x="8510016" y="2764866"/>
            <a:ext cx="424281" cy="424281"/>
          </a:xfrm>
          <a:prstGeom prst="rect">
            <a:avLst/>
          </a:prstGeom>
        </p:spPr>
      </p:pic>
      <p:sp>
        <p:nvSpPr>
          <p:cNvPr id="21" name="TextBox 20"/>
          <p:cNvSpPr txBox="1"/>
          <p:nvPr/>
        </p:nvSpPr>
        <p:spPr>
          <a:xfrm>
            <a:off x="8292388" y="3434207"/>
            <a:ext cx="3186074" cy="1635505"/>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필수 값이 없는 경우</a:t>
            </a:r>
          </a:p>
          <a:p>
            <a:pPr algn="l" eaLnBrk="0" marL="171450" indent="-171450">
              <a:lnSpc>
                <a:spcPct val="110000"/>
              </a:lnSpc>
              <a:spcAft>
                <a:spcPts val="400"/>
              </a:spcAft>
            </a:pPr>
            <a:r>
              <a:rPr sz="1500" b="0">
                <a:solidFill>
                  <a:srgbClr val="1F2A3A"/>
                </a:solidFill>
                <a:latin typeface="맑은 고딕"/>
                <a:ea typeface="맑은 고딕"/>
                <a:cs typeface="맑은 고딕"/>
              </a:rPr>
              <a:t>• 입력: 필수 값을 읽지 못한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결과를 채우지 않고 보류한다</a:t>
            </a:r>
          </a:p>
        </p:txBody>
      </p:sp>
      <p:sp>
        <p:nvSpPr>
          <p:cNvPr id="22" name="Rounded Rectangle 21"/>
          <p:cNvSpPr/>
          <p:nvPr/>
        </p:nvSpPr>
        <p:spPr>
          <a:xfrm>
            <a:off x="8356396" y="5142865"/>
            <a:ext cx="14782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2865"/>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그대로여야 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모호한 요청으로 기능을</a:t>
            </a:r>
          </a:p>
          <a:p>
            <a:pPr algn="l" eaLnBrk="0">
              <a:lnSpc>
                <a:spcPct val="110000"/>
              </a:lnSpc>
            </a:pPr>
            <a:r>
              <a:rPr sz="3400" b="1">
                <a:solidFill>
                  <a:srgbClr val="13294B"/>
                </a:solidFill>
                <a:latin typeface="맑은 고딕"/>
                <a:ea typeface="맑은 고딕"/>
                <a:cs typeface="맑은 고딕"/>
              </a:rPr>
              <a:t>추가했을 때의 변화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실습용 기존 업무 요청 에이전트에 긴급 정비 조건을 더하고, 같은 요청으로 변경 전후를 견준다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두 버전의 출력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모호한 요청으로 고친 버전과 고치기 전 버전에 같은 요청을 넣어 출력과 승인 조건의 차이를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입력과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고치기 전 버전</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기존 일반 요청을 실행해</a:t>
            </a:r>
          </a:p>
          <a:p>
            <a:pPr algn="l" eaLnBrk="0">
              <a:lnSpc>
                <a:spcPct val="110000"/>
              </a:lnSpc>
            </a:pPr>
            <a:r>
              <a:rPr sz="1400" b="0">
                <a:solidFill>
                  <a:srgbClr val="1F2A3A"/>
                </a:solidFill>
                <a:latin typeface="맑은 고딕"/>
                <a:ea typeface="맑은 고딕"/>
                <a:cs typeface="맑은 고딕"/>
              </a:rPr>
              <a:t>출력을 남겨 둔다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비교의 기준이 되는</a:t>
            </a:r>
          </a:p>
          <a:p>
            <a:pPr algn="l" eaLnBrk="0">
              <a:lnSpc>
                <a:spcPct val="110000"/>
              </a:lnSpc>
            </a:pPr>
            <a:r>
              <a:rPr sz="1250" b="1">
                <a:solidFill>
                  <a:srgbClr val="556175"/>
                </a:solidFill>
                <a:latin typeface="맑은 고딕"/>
                <a:ea typeface="맑은 고딕"/>
                <a:cs typeface="맑은 고딕"/>
              </a:rPr>
              <a:t>출력</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모호한 변경</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긴급 정비 조건을</a:t>
            </a:r>
          </a:p>
          <a:p>
            <a:pPr algn="l" eaLnBrk="0">
              <a:lnSpc>
                <a:spcPct val="110000"/>
              </a:lnSpc>
            </a:pPr>
            <a:r>
              <a:rPr sz="1400" b="0">
                <a:solidFill>
                  <a:srgbClr val="1F2A3A"/>
                </a:solidFill>
                <a:latin typeface="맑은 고딕"/>
                <a:ea typeface="맑은 고딕"/>
                <a:cs typeface="맑은 고딕"/>
              </a:rPr>
              <a:t>한두 문장의 요청으로 바이브 코딩해 더한다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고친 버전</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같은 요청으로 비교</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일반 · 긴급 요청과 조회 자료를</a:t>
            </a:r>
          </a:p>
          <a:p>
            <a:pPr algn="l" eaLnBrk="0">
              <a:lnSpc>
                <a:spcPct val="110000"/>
              </a:lnSpc>
            </a:pPr>
            <a:r>
              <a:rPr sz="1400" b="0">
                <a:solidFill>
                  <a:srgbClr val="1F2A3A"/>
                </a:solidFill>
                <a:latin typeface="맑은 고딕"/>
                <a:ea typeface="맑은 고딕"/>
                <a:cs typeface="맑은 고딕"/>
              </a:rPr>
              <a:t>같게 두고 두 버전에서 실행한다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출력 항목과</a:t>
            </a:r>
          </a:p>
          <a:p>
            <a:pPr algn="l" eaLnBrk="0">
              <a:lnSpc>
                <a:spcPct val="110000"/>
              </a:lnSpc>
            </a:pPr>
            <a:r>
              <a:rPr sz="1250" b="1">
                <a:solidFill>
                  <a:srgbClr val="1A6FC4"/>
                </a:solidFill>
                <a:latin typeface="맑은 고딕"/>
                <a:ea typeface="맑은 고딕"/>
                <a:cs typeface="맑은 고딕"/>
              </a:rPr>
              <a:t>승인 조건의 차이</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차이가 없을 때</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실패를 만들지 않고</a:t>
            </a:r>
          </a:p>
          <a:p>
            <a:pPr algn="l" eaLnBrk="0">
              <a:lnSpc>
                <a:spcPct val="110000"/>
              </a:lnSpc>
            </a:pPr>
            <a:r>
              <a:rPr sz="1400" b="0">
                <a:solidFill>
                  <a:srgbClr val="1F2A3A"/>
                </a:solidFill>
                <a:latin typeface="맑은 고딕"/>
                <a:ea typeface="맑은 고딕"/>
                <a:cs typeface="맑은 고딕"/>
              </a:rPr>
              <a:t>두 버전의 동작을 그대로 견준다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있는 그대로의</a:t>
            </a:r>
          </a:p>
          <a:p>
            <a:pPr algn="l" eaLnBrk="0">
              <a:lnSpc>
                <a:spcPct val="110000"/>
              </a:lnSpc>
            </a:pPr>
            <a:r>
              <a:rPr sz="1250" b="1">
                <a:solidFill>
                  <a:srgbClr val="556175"/>
                </a:solidFill>
                <a:latin typeface="맑은 고딕"/>
                <a:ea typeface="맑은 고딕"/>
                <a:cs typeface="맑은 고딕"/>
              </a:rPr>
              <a:t>비교 기록</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명세를 갱신해 기존 기능을</a:t>
            </a:r>
          </a:p>
          <a:p>
            <a:pPr algn="l" eaLnBrk="0">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프로젝트의 spec.md에 지킬 것과 달라질 것을 적고, 그 명세대로 고쳐 다시 실행한다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spec.md 갱신과 두 요청의 재실행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spec.md에 지킬 것과 달라질 것을 적고 그 명세대로 고친 뒤, 두 요청의 결과와 입력 · 기대 결과를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spec.md</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기존 일반 정비 처리 · 긴급 조건</a:t>
            </a:r>
          </a:p>
          <a:p>
            <a:pPr algn="l" eaLnBrk="0">
              <a:lnSpc>
                <a:spcPct val="110000"/>
              </a:lnSpc>
            </a:pPr>
            <a:r>
              <a:rPr sz="1400" b="0">
                <a:solidFill>
                  <a:srgbClr val="1F2A3A"/>
                </a:solidFill>
                <a:latin typeface="맑은 고딕"/>
                <a:ea typeface="맑은 고딕"/>
                <a:cs typeface="맑은 고딕"/>
              </a:rPr>
              <a:t>미입력 시 보류 · 승인 없이 확정 금지</a:t>
            </a:r>
          </a:p>
          <a:p>
            <a:pPr algn="l" eaLnBrk="0">
              <a:lnSpc>
                <a:spcPct val="110000"/>
              </a:lnSpc>
            </a:pPr>
            <a:r>
              <a:rPr sz="1400" b="0">
                <a:solidFill>
                  <a:srgbClr val="1F2A3A"/>
                </a:solidFill>
                <a:latin typeface="맑은 고딕"/>
                <a:ea typeface="맑은 고딕"/>
                <a:cs typeface="맑은 고딕"/>
              </a:rPr>
              <a:t>결과 형식 · 수용 기준을 적는다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지킬 것과 달라질 것이</a:t>
            </a:r>
          </a:p>
          <a:p>
            <a:pPr algn="l" eaLnBrk="0">
              <a:lnSpc>
                <a:spcPct val="110000"/>
              </a:lnSpc>
            </a:pPr>
            <a:r>
              <a:rPr sz="1250" b="1">
                <a:solidFill>
                  <a:srgbClr val="1A6FC4"/>
                </a:solidFill>
                <a:latin typeface="맑은 고딕"/>
                <a:ea typeface="맑은 고딕"/>
                <a:cs typeface="맑은 고딕"/>
              </a:rPr>
              <a:t>문서에 있음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명세대로 수정</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명세를 함께 주고 코드를 고친다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수정한 코드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다시 실행</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기존 일반 요청과</a:t>
            </a:r>
          </a:p>
          <a:p>
            <a:pPr algn="l" eaLnBrk="0">
              <a:lnSpc>
                <a:spcPct val="110000"/>
              </a:lnSpc>
            </a:pPr>
            <a:r>
              <a:rPr sz="1400" b="0">
                <a:solidFill>
                  <a:srgbClr val="1F2A3A"/>
                </a:solidFill>
                <a:latin typeface="맑은 고딕"/>
                <a:ea typeface="맑은 고딕"/>
                <a:cs typeface="맑은 고딕"/>
              </a:rPr>
              <a:t>추가한 긴급 요청을 실행한다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수용 기준마다</a:t>
            </a:r>
          </a:p>
          <a:p>
            <a:pPr algn="l" eaLnBrk="0">
              <a:lnSpc>
                <a:spcPct val="110000"/>
              </a:lnSpc>
            </a:pPr>
            <a:r>
              <a:rPr sz="1250" b="1">
                <a:solidFill>
                  <a:srgbClr val="556175"/>
                </a:solidFill>
                <a:latin typeface="맑은 고딕"/>
                <a:ea typeface="맑은 고딕"/>
                <a:cs typeface="맑은 고딕"/>
              </a:rPr>
              <a:t>참 · 거짓 판정</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저장</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입력 · 조회 자료 · 기대 결과와</a:t>
            </a:r>
          </a:p>
          <a:p>
            <a:pPr algn="l" eaLnBrk="0">
              <a:lnSpc>
                <a:spcPct val="110000"/>
              </a:lnSpc>
            </a:pPr>
            <a:r>
              <a:rPr sz="1400" b="0">
                <a:solidFill>
                  <a:srgbClr val="1F2A3A"/>
                </a:solidFill>
                <a:latin typeface="맑은 고딕"/>
                <a:ea typeface="맑은 고딕"/>
                <a:cs typeface="맑은 고딕"/>
              </a:rPr>
              <a:t>비교할 항목을 함께 남긴다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입력 · 기대 결과 파일</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결정의 자리와 바뀐 요구의 확인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결정, 에이전트의 멈춤, 자동 검사, 계약의 변경, 변경의 확인은 서로 다른 판단이며 각각 확인할 근거가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가를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확인할 근거</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추천안이 올라온 지 10분이 지나도록 결정이 없다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사람의 대기인가,</a:t>
            </a:r>
          </a:p>
          <a:p>
            <a:pPr algn="l" eaLnBrk="0">
              <a:lnSpc>
                <a:spcPct val="110000"/>
              </a:lnSpc>
            </a:pPr>
            <a:r>
              <a:rPr sz="1400" b="0">
                <a:solidFill>
                  <a:srgbClr val="1F2A3A"/>
                </a:solidFill>
                <a:latin typeface="맑은 고딕"/>
                <a:ea typeface="맑은 고딕"/>
                <a:cs typeface="맑은 고딕"/>
              </a:rPr>
              <a:t>에이전트의 멈춤인가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지연 알림만 나가고</a:t>
            </a:r>
          </a:p>
          <a:p>
            <a:pPr algn="l" eaLnBrk="0">
              <a:lnSpc>
                <a:spcPct val="110000"/>
              </a:lnSpc>
            </a:pPr>
            <a:r>
              <a:rPr sz="1250" b="1">
                <a:solidFill>
                  <a:srgbClr val="556175"/>
                </a:solidFill>
                <a:latin typeface="맑은 고딕"/>
                <a:ea typeface="맑은 고딕"/>
                <a:cs typeface="맑은 고딕"/>
              </a:rPr>
              <a:t>승인 작업은 열린 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에이전트가 대상 설비를 묻고 멈췄다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정보인가,</a:t>
            </a:r>
          </a:p>
          <a:p>
            <a:pPr algn="l" eaLnBrk="0">
              <a:lnSpc>
                <a:spcPct val="110000"/>
              </a:lnSpc>
            </a:pPr>
            <a:r>
              <a:rPr sz="1400" b="0">
                <a:solidFill>
                  <a:srgbClr val="1F2A3A"/>
                </a:solidFill>
                <a:latin typeface="맑은 고딕"/>
                <a:ea typeface="맑은 고딕"/>
                <a:cs typeface="맑은 고딕"/>
              </a:rPr>
              <a:t>승인인가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답은 빠진 값만 채우고</a:t>
            </a:r>
          </a:p>
          <a:p>
            <a:pPr algn="l" eaLnBrk="0">
              <a:lnSpc>
                <a:spcPct val="110000"/>
              </a:lnSpc>
            </a:pPr>
            <a:r>
              <a:rPr sz="1250" b="1">
                <a:solidFill>
                  <a:srgbClr val="556175"/>
                </a:solidFill>
                <a:latin typeface="맑은 고딕"/>
                <a:ea typeface="맑은 고딕"/>
                <a:cs typeface="맑은 고딕"/>
              </a:rPr>
              <a:t>승인은 승인 단계에서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쿨러 사건의 추천안이 가드레일을 통과했다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올려도 되는가,</a:t>
            </a:r>
          </a:p>
          <a:p>
            <a:pPr algn="l" eaLnBrk="0">
              <a:lnSpc>
                <a:spcPct val="110000"/>
              </a:lnSpc>
            </a:pPr>
            <a:r>
              <a:rPr sz="1400" b="0">
                <a:solidFill>
                  <a:srgbClr val="1F2A3A"/>
                </a:solidFill>
                <a:latin typeface="맑은 고딕"/>
                <a:ea typeface="맑은 고딕"/>
                <a:cs typeface="맑은 고딕"/>
              </a:rPr>
              <a:t>실행해도 되는가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결정 기록과</a:t>
            </a:r>
          </a:p>
          <a:p>
            <a:pPr algn="l" eaLnBrk="0">
              <a:lnSpc>
                <a:spcPct val="110000"/>
              </a:lnSpc>
            </a:pPr>
            <a:r>
              <a:rPr sz="1250" b="1">
                <a:solidFill>
                  <a:srgbClr val="556175"/>
                </a:solidFill>
                <a:latin typeface="맑은 고딕"/>
                <a:ea typeface="맑은 고딕"/>
                <a:cs typeface="맑은 고딕"/>
              </a:rPr>
              <a:t>실행 전 현재 조건 검사</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긴급 표시를 넣으며 추천 항목의 이름을 바꾸려 한다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계약을 넓히는가,</a:t>
            </a:r>
          </a:p>
          <a:p>
            <a:pPr algn="l" eaLnBrk="0">
              <a:lnSpc>
                <a:spcPct val="110000"/>
              </a:lnSpc>
            </a:pPr>
            <a:r>
              <a:rPr sz="1400" b="0">
                <a:solidFill>
                  <a:srgbClr val="1F2A3A"/>
                </a:solidFill>
                <a:latin typeface="맑은 고딕"/>
                <a:ea typeface="맑은 고딕"/>
                <a:cs typeface="맑은 고딕"/>
              </a:rPr>
              <a:t>깨는가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출력 계약의</a:t>
            </a:r>
          </a:p>
          <a:p>
            <a:pPr algn="l" eaLnBrk="0">
              <a:lnSpc>
                <a:spcPct val="110000"/>
              </a:lnSpc>
            </a:pPr>
            <a:r>
              <a:rPr sz="1250" b="1">
                <a:solidFill>
                  <a:srgbClr val="556175"/>
                </a:solidFill>
                <a:latin typeface="맑은 고딕"/>
                <a:ea typeface="맑은 고딕"/>
                <a:cs typeface="맑은 고딕"/>
              </a:rPr>
              <a:t>이름 · 형식 · 뜻</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고친 뒤 긴급 경보 한 건만 실행해 보았다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새 기능의 확인인가,</a:t>
            </a:r>
          </a:p>
          <a:p>
            <a:pPr algn="l" eaLnBrk="0">
              <a:lnSpc>
                <a:spcPct val="110000"/>
              </a:lnSpc>
            </a:pPr>
            <a:r>
              <a:rPr sz="1400" b="0">
                <a:solidFill>
                  <a:srgbClr val="1F2A3A"/>
                </a:solidFill>
                <a:latin typeface="맑은 고딕"/>
                <a:ea typeface="맑은 고딕"/>
                <a:cs typeface="맑은 고딕"/>
              </a:rPr>
              <a:t>기존 기능의 확인인가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00" b="1">
                <a:solidFill>
                  <a:srgbClr val="1A6FC4"/>
                </a:solidFill>
                <a:latin typeface="맑은 고딕"/>
                <a:ea typeface="맑은 고딕"/>
                <a:cs typeface="맑은 고딕"/>
              </a:rPr>
              <a:t>기존 · 긴급 · 보류 요청의</a:t>
            </a:r>
          </a:p>
          <a:p>
            <a:pPr algn="l" eaLnBrk="0">
              <a:lnSpc>
                <a:spcPct val="110000"/>
              </a:lnSpc>
            </a:pPr>
            <a:r>
              <a:rPr sz="1200" b="1">
                <a:solidFill>
                  <a:srgbClr val="1A6FC4"/>
                </a:solidFill>
                <a:latin typeface="맑은 고딕"/>
                <a:ea typeface="맑은 고딕"/>
                <a:cs typeface="맑은 고딕"/>
              </a:rPr>
              <a:t>수용 기준</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결정과 명세에 관한 핵심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HITL</a:t>
            </a:r>
          </a:p>
        </p:txBody>
      </p:sp>
      <p:sp>
        <p:nvSpPr>
          <p:cNvPr id="11" name="TextBox 10"/>
          <p:cNvSpPr txBox="1"/>
          <p:nvPr/>
        </p:nvSpPr>
        <p:spPr>
          <a:xfrm>
            <a:off x="3200400" y="2029968"/>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Human-in-the-Loop</a:t>
            </a:r>
          </a:p>
          <a:p>
            <a:pPr algn="l" eaLnBrk="0">
              <a:lnSpc>
                <a:spcPct val="110000"/>
              </a:lnSpc>
            </a:pPr>
            <a:r>
              <a:rPr sz="1400" b="0">
                <a:solidFill>
                  <a:srgbClr val="1F2A3A"/>
                </a:solidFill>
                <a:latin typeface="맑은 고딕"/>
                <a:ea typeface="맑은 고딕"/>
                <a:cs typeface="맑은 고딕"/>
              </a:rPr>
              <a:t>자동 처리의 정해진 지점에 사람의 결정을 넣는 방식</a:t>
            </a:r>
          </a:p>
        </p:txBody>
      </p:sp>
      <p:sp>
        <p:nvSpPr>
          <p:cNvPr id="12" name="Rounded Rectangle 11"/>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가드레일</a:t>
            </a:r>
          </a:p>
        </p:txBody>
      </p:sp>
      <p:sp>
        <p:nvSpPr>
          <p:cNvPr id="14" name="TextBox 13"/>
          <p:cNvSpPr txBox="1"/>
          <p:nvPr/>
        </p:nvSpPr>
        <p:spPr>
          <a:xfrm>
            <a:off x="3200400" y="2647841"/>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Guardrail</a:t>
            </a:r>
          </a:p>
          <a:p>
            <a:pPr algn="l" eaLnBrk="0">
              <a:lnSpc>
                <a:spcPct val="110000"/>
              </a:lnSpc>
            </a:pPr>
            <a:r>
              <a:rPr sz="1400" b="0">
                <a:solidFill>
                  <a:srgbClr val="1F2A3A"/>
                </a:solidFill>
                <a:latin typeface="맑은 고딕"/>
                <a:ea typeface="맑은 고딕"/>
                <a:cs typeface="맑은 고딕"/>
              </a:rPr>
              <a:t>입력 · 출력 · 행동이 정한 경계를 지키도록 확인하는 장치</a:t>
            </a:r>
          </a:p>
        </p:txBody>
      </p:sp>
      <p:sp>
        <p:nvSpPr>
          <p:cNvPr id="15" name="Rounded Rectangle 14"/>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바이브 코딩</a:t>
            </a:r>
          </a:p>
        </p:txBody>
      </p:sp>
      <p:sp>
        <p:nvSpPr>
          <p:cNvPr id="17" name="TextBox 16"/>
          <p:cNvSpPr txBox="1"/>
          <p:nvPr/>
        </p:nvSpPr>
        <p:spPr>
          <a:xfrm>
            <a:off x="3200400" y="3265714"/>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Vibe Coding</a:t>
            </a:r>
          </a:p>
          <a:p>
            <a:pPr algn="l" eaLnBrk="0">
              <a:lnSpc>
                <a:spcPct val="110000"/>
              </a:lnSpc>
            </a:pPr>
            <a:r>
              <a:rPr sz="1400" b="0">
                <a:solidFill>
                  <a:srgbClr val="1F2A3A"/>
                </a:solidFill>
                <a:latin typeface="맑은 고딕"/>
                <a:ea typeface="맑은 고딕"/>
                <a:cs typeface="맑은 고딕"/>
              </a:rPr>
              <a:t>자연어 요청과 실행 결과를 중심으로 AI가 만든 코드를 고치는 방식</a:t>
            </a:r>
          </a:p>
        </p:txBody>
      </p:sp>
      <p:sp>
        <p:nvSpPr>
          <p:cNvPr id="18" name="Rounded Rectangle 17"/>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SDD</a:t>
            </a:r>
          </a:p>
        </p:txBody>
      </p:sp>
      <p:sp>
        <p:nvSpPr>
          <p:cNvPr id="20" name="TextBox 19"/>
          <p:cNvSpPr txBox="1"/>
          <p:nvPr/>
        </p:nvSpPr>
        <p:spPr>
          <a:xfrm>
            <a:off x="3200400" y="3883587"/>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Spec-Driven Development</a:t>
            </a:r>
          </a:p>
          <a:p>
            <a:pPr algn="l" eaLnBrk="0">
              <a:lnSpc>
                <a:spcPct val="110000"/>
              </a:lnSpc>
            </a:pPr>
            <a:r>
              <a:rPr sz="1400" b="0">
                <a:solidFill>
                  <a:srgbClr val="1F2A3A"/>
                </a:solidFill>
                <a:latin typeface="맑은 고딕"/>
                <a:ea typeface="맑은 고딕"/>
                <a:cs typeface="맑은 고딕"/>
              </a:rPr>
              <a:t>구현 전에 명세를 정하고 그 명세로 구현과 확인을 하는 개발 방식</a:t>
            </a:r>
          </a:p>
        </p:txBody>
      </p:sp>
      <p:sp>
        <p:nvSpPr>
          <p:cNvPr id="21" name="Rounded Rectangle 20"/>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명세</a:t>
            </a:r>
          </a:p>
        </p:txBody>
      </p:sp>
      <p:sp>
        <p:nvSpPr>
          <p:cNvPr id="23" name="TextBox 22"/>
          <p:cNvSpPr txBox="1"/>
          <p:nvPr/>
        </p:nvSpPr>
        <p:spPr>
          <a:xfrm>
            <a:off x="3200400" y="4501460"/>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Specification</a:t>
            </a:r>
          </a:p>
          <a:p>
            <a:pPr algn="l" eaLnBrk="0">
              <a:lnSpc>
                <a:spcPct val="110000"/>
              </a:lnSpc>
            </a:pPr>
            <a:r>
              <a:rPr sz="1400" b="0">
                <a:solidFill>
                  <a:srgbClr val="1F2A3A"/>
                </a:solidFill>
                <a:latin typeface="맑은 고딕"/>
                <a:ea typeface="맑은 고딕"/>
                <a:cs typeface="맑은 고딕"/>
              </a:rPr>
              <a:t>무엇을 받아 무엇을 내고 무엇을 하지 않는지 적은 문서</a:t>
            </a:r>
          </a:p>
        </p:txBody>
      </p:sp>
      <p:sp>
        <p:nvSpPr>
          <p:cNvPr id="24" name="Rounded Rectangle 23"/>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계약</a:t>
            </a:r>
          </a:p>
        </p:txBody>
      </p:sp>
      <p:sp>
        <p:nvSpPr>
          <p:cNvPr id="26" name="TextBox 25"/>
          <p:cNvSpPr txBox="1"/>
          <p:nvPr/>
        </p:nvSpPr>
        <p:spPr>
          <a:xfrm>
            <a:off x="3200400" y="5119333"/>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Contract</a:t>
            </a:r>
          </a:p>
          <a:p>
            <a:pPr algn="l" eaLnBrk="0">
              <a:lnSpc>
                <a:spcPct val="110000"/>
              </a:lnSpc>
            </a:pPr>
            <a:r>
              <a:rPr sz="1400" b="0">
                <a:solidFill>
                  <a:srgbClr val="1F2A3A"/>
                </a:solidFill>
                <a:latin typeface="맑은 고딕"/>
                <a:ea typeface="맑은 고딕"/>
                <a:cs typeface="맑은 고딕"/>
              </a:rPr>
              <a:t>주고받는 항목 · 형식 · 뜻과 처리 조건의 약속</a:t>
            </a:r>
          </a:p>
        </p:txBody>
      </p:sp>
      <p:sp>
        <p:nvSpPr>
          <p:cNvPr id="27" name="Rounded Rectangle 26"/>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수용 기준</a:t>
            </a:r>
          </a:p>
        </p:txBody>
      </p:sp>
      <p:sp>
        <p:nvSpPr>
          <p:cNvPr id="29" name="TextBox 28"/>
          <p:cNvSpPr txBox="1"/>
          <p:nvPr/>
        </p:nvSpPr>
        <p:spPr>
          <a:xfrm>
            <a:off x="3200400" y="5737206"/>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Acceptance Criteria</a:t>
            </a:r>
          </a:p>
          <a:p>
            <a:pPr algn="l" eaLnBrk="0">
              <a:lnSpc>
                <a:spcPct val="110000"/>
              </a:lnSpc>
            </a:pPr>
            <a:r>
              <a:rPr sz="1400" b="0">
                <a:solidFill>
                  <a:srgbClr val="1F2A3A"/>
                </a:solidFill>
                <a:latin typeface="맑은 고딕"/>
                <a:ea typeface="맑은 고딕"/>
                <a:cs typeface="맑은 고딕"/>
              </a:rPr>
              <a:t>구현이 끝났는지를 참과 거짓으로 가를 수 있게 적은 조건</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중에서 사람이 실행을 허락했다는 결정 근거는?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역할의 담당자가 승인했다는 기록</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검토 에이전트가 낸 문제없다는 의견</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통과와 검토 의견이 모두 갖추어졌다는 사실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승인이 섞인 답변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요청에 빠진 부품 수량을 물었고, 담당자가 「10개. 급하니 승인한 것으로 하고 진행해」라고 답했다.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답을 받은 뒤의 올바른 처리는?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담당자가 승인할 뜻을 밝혔으므로 승인 단계를 건너뛰고 실행한다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답에 승인이 섞였으므로 답을 버리고 수량을 짐작해 채운다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결정 기록의 승인한 사람 칸에 담당자를 에이전트가 적어 넣는다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수량만 업무 정보로 받아 이어 가고, 승인은 승인 단계에서 받는다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같은 입력 · 조회 자료에서 일반 경보의 기존 항목은 정한 기대값과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검토와 승인, 답변과 승인, 판정할 수 있는 문장과 없는 문장을 올바르게 구분하는지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가드레일 통과는 자동 검사 결과이며, AI 검토는 의견이다. HYD의 실행 허락은 승인 기록으로 확인하고, 현재 조건도 다시 검사한다.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답변에서 받는 것은 업무 정보뿐이다. 답변은 승인이 되지 않고, 결정 기록은 승인을 받은 시스템만 적는다.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같은 입력과 조회 자료에서 정한 기대값과 대조해 판정한다. 나머지는 판정할 기준이 없다.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