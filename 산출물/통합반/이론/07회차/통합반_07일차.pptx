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부제(사람이 결정하는 자리 · 기존 기능을 지키는 명세)</a:t>
            </a:r>
          </a:p>
          <a:p>
            <a:r>
              <a:t>· 이 회차: 에이전트가 낸 추천을 사람이 결정하는 자리, 요구사항이 바뀌어도 기존 기능을 지키는 법</a:t>
            </a:r>
          </a:p>
          <a:p>
            <a:r>
              <a:t>· 에이전트는 지침을 읽고 도구를 불러 추천안까지 만든다</a:t>
            </a:r>
          </a:p>
          <a:p>
            <a:r>
              <a:t>· 물음 하나: 그 추천을 바로 실행해도 되나</a:t>
            </a:r>
          </a:p>
          <a:p>
            <a:r>
              <a:t>· 물음 둘: 에이전트에 새 기능을 붙였을 때 원래 되던 일이 여전히 되는지 어떻게 아나</a:t>
            </a:r>
          </a:p>
          <a:p>
            <a:r>
              <a:t>· 두 물음에 차례로 답한다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카드(명세) 강조</a:t>
            </a:r>
          </a:p>
          <a:p>
            <a:r>
              <a:t>· 1 사람이 개입하는 자리: 자동으로 처리할 일과 사람이 결정할 일을 가르고, 승인 · 대기 · 질문 · 닫기의 때를 설명</a:t>
            </a:r>
          </a:p>
          <a:p>
            <a:r>
              <a:t>· 2 권한과 결정 기록: 누가 승인할 수 있는지 역할과 등급으로, 승인하는 순간 무엇이 남는지</a:t>
            </a:r>
          </a:p>
          <a:p>
            <a:r>
              <a:t>· 3 검토와 승인의 구분: 자동 검사(가드레일)나 다른 AI의 검토가 사람의 승인과 어떻게 다른지</a:t>
            </a:r>
          </a:p>
          <a:p>
            <a:r>
              <a:t>· 4 명세로 지키는 기존 기능(회차 뒤쪽): 바뀐 요구를 명세로 옮기고, 고친 뒤 기존 요청과 새 요청을 함께 다시 실행해 확인</a:t>
            </a:r>
          </a:p>
          <a:p>
            <a:r>
              <a:t>[다음] 여섯 단원의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두 단원 → 아래 네 단원, 오른쪽 이론 · 실습 표시</a:t>
            </a:r>
          </a:p>
          <a:p>
            <a:r>
              <a:t>· 위 두 단원(사람이 결정하는 자리): 개입 지점 찾기 → 승인 권한과 AI 검토 가르기. 둘째 단원 뒤 실습 셋(승인 · 질문 · 검토)</a:t>
            </a:r>
          </a:p>
          <a:p>
            <a:r>
              <a:t>· 아래 네 단원(요구사항이 바뀔 때): 한 문장 요청이 무엇을 흔드나 → 명세 주도 개발 → 계약 · 금지 조건 · 수용 기준 → 명세로 실제 변경 확인, 실습 둘</a:t>
            </a:r>
          </a:p>
          <a:p>
            <a:r>
              <a:t>· 첫 묶음: 위 두 단원과 이어지는 세 실습의 할 일까지</a:t>
            </a:r>
          </a:p>
          <a:p>
            <a:r>
              <a:t>[다음] 첫 단원, 사람이 결정하는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쿨러 사건: 에이전트가 원인을 가리고 후보를 비교해 추천안을 냈다</a:t>
            </a:r>
          </a:p>
          <a:p>
            <a:r>
              <a:t>· 물음: 추천안이 올라온 다음엔 누가 무엇을 결정하나, 아무도 결정하지 않으면 어떻게 되나</a:t>
            </a:r>
          </a:p>
          <a:p>
            <a:r>
              <a:t>· 범위를 넓혀: 에이전트가 일하는 도중 사람에게 묻거나 멈추는 때까지 → 사람이 끼어드는 자리를 하나씩 찾는다</a:t>
            </a:r>
          </a:p>
          <a:p>
            <a:r>
              <a:t>[다음] 추천안이 나온 뒤의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추천안(겹친 카드) → 강조한 담당자 → 아래 시간 축 승인 대기 구간 → 오른쪽 위 승인 길(설비 명령 → 재관측 · 작업지시) · 아래 거절 길</a:t>
            </a:r>
          </a:p>
          <a:p>
            <a:r>
              <a:t>· 추천안 = 추천 하나 + 점수 낮은 대안 셋. 실행되지 않은 채 담당자에게 올라갔다</a:t>
            </a:r>
          </a:p>
          <a:p>
            <a:r>
              <a:t>· 승인 대기 약 13초 → 11:14:56 운전원 승인 → 11:14:57 팬 속도 100 % 설비 명령. 명령은 승인 직후에야 만들어졌다</a:t>
            </a:r>
          </a:p>
          <a:p>
            <a:r>
              <a:t>· 담당자 오른쪽에서 길이 둘: 위는 실제로 일어난 승인, 아래는 거절했다면 갔을 길(명령 없는 종료, 거절 사유 기록)</a:t>
            </a:r>
          </a:p>
          <a:p>
            <a:r>
              <a:t>· 에이전트는 승인 대기보다 훨씬 오래 일했지만, 설비를 실제로 바꾼 출발점은 그 결과물이 아니라 그 뒤의 사람의 승인</a:t>
            </a:r>
          </a:p>
          <a:p>
            <a:r>
              <a:t>· 물음: 왜 굳이 이 자리에 사람이 있어야 하나</a:t>
            </a:r>
          </a:p>
          <a:p>
            <a:r>
              <a:t>[다음] 자동 처리와 사람의 결정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자동으로 처리한다 → 오른쪽 강조한 사람이 결정한다, 각 칸 끝 줄</a:t>
            </a:r>
          </a:p>
          <a:p>
            <a:r>
              <a:t>· 왼쪽(에이전트 · 시스템): 값 조회, 원인 판정, 후보 비교, 형식 검사. 오른쪽(승인 역할의 담당자): 그 추천을 실제 조치로 넘길지 결정</a:t>
            </a:r>
          </a:p>
          <a:p>
            <a:r>
              <a:t>· 가르는 까닭 = 틀렸을 때의 영향과 책임이 다르다</a:t>
            </a:r>
          </a:p>
          <a:p>
            <a:r>
              <a:t>· 조회 · 계산은 다시 해 볼 수 있지만 틀린 결과로 결정하면 뒤 조치도 잘못된다. 읽기 도구도 정보 노출 · 실행 기록 · 비용이 남는다 → 「자동 처리 = 영향 없음」이 아니다</a:t>
            </a:r>
          </a:p>
          <a:p>
            <a:r>
              <a:t>· 팬 속도 변경 · 정비 지시는 설비와 업무 상태를 바꾼다. 뒤늦게 취소해도 지난 운전 시간 · 투입한 작업은 못 없앤다 → 추천과 실행 사이에 담당자가 판단할 자리</a:t>
            </a:r>
          </a:p>
          <a:p>
            <a:r>
              <a:t>· HITL(Human-in-the-Loop) = 자동화 과정에 사람의 확인 · 결정을 넣는 방식. 승인뿐 아니라 빠진 정보에 답하거나 결과를 바로잡는 형태도</a:t>
            </a:r>
          </a:p>
          <a:p>
            <a:r>
              <a:t>· 버튼을 누른다고 결정의 품질이 보장되지 않는다: 근거를 볼 수 있어야 하고, 다른 안을 고르거나 거절할 권한과 시간도 있어야 → 검토할 수 있는 형태로 넘기는 것까지가 구조의 역할</a:t>
            </a:r>
          </a:p>
          <a:p>
            <a:r>
              <a:t>[다음] 사람이 끼어드는 자리는 승인 하나뿐인가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띠(에이전트 단계 → 승인 단계 → 시스템 실행) → 아래 세 장면 왼쪽부터, 점선으로 띠와 잇기</a:t>
            </a:r>
          </a:p>
          <a:p>
            <a:r>
              <a:t>· 왼쪽 두 장면은 에이전트 단계에 이어진다(일하는 동안 생기는 자리)</a:t>
            </a:r>
          </a:p>
          <a:p>
            <a:r>
              <a:t>· 에이전트의 질문: 필수 업무 정보가 빠졌을 때 묻고 기다리다 답을 받으면 이어서 처리</a:t>
            </a:r>
          </a:p>
          <a:p>
            <a:r>
              <a:t>· 멈춘 작업 닫기: 한도 초과나 실행 실패로 멈추면 저절로 끝나지 않는다 → 담당자가 사유를 적고 닫는다</a:t>
            </a:r>
          </a:p>
          <a:p>
            <a:r>
              <a:t>· 승인과 거절(승인 단계에 이어짐): 추천안 뒤, 실행 전에 승인 역할의 담당자가 승인하거나 거절</a:t>
            </a:r>
          </a:p>
          <a:p>
            <a:r>
              <a:t>· 무게가 가장 큰 건 승인(현장을 바꾸는 명령으로 곧바로 이어짐) → 순서: 승인 → 질문 → 멈춘 작업 닫기</a:t>
            </a:r>
          </a:p>
          <a:p>
            <a:r>
              <a:t>[다음] 승인과 거절이 남기는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승인(쿨러 사건 실제 기록) → 오른쪽 거절, 따옴표 문장, 각 칸 끝 줄</a:t>
            </a:r>
          </a:p>
          <a:p>
            <a:r>
              <a:t>· 처리 건 = 시작부터 종료까지 상태와 기록을 묶어 관리하는 업무 한 건(쿨러 사례는 경보 하나로 열림)</a:t>
            </a:r>
          </a:p>
          <a:p>
            <a:r>
              <a:t>· 승인: 승인 후 현재 조건 검사도 통과 → 1초 뒤 팬 속도 100 % 명령 → 재관측에서 유온 51.5 ℃(회복 기준 55 ℃ 아래) · 경보 해제 → 작업지시 WO-1010-C058 등록</a:t>
            </a:r>
          </a:p>
          <a:p>
            <a:r>
              <a:t>· 거절: 사유를 꼭 적어야 받아들여진다(비면 거절 자체가 안 됨). 접수되면 설비 명령 · 후속 업무 · 메일 0건</a:t>
            </a:r>
          </a:p>
          <a:p>
            <a:r>
              <a:t>· 0건은 실행 · 발송이 없다는 뜻이지 기록이 없다는 뜻이 아니다 — 거절 사유와 상태 변경은 기록. 결과 보고: 「담당자가 거절했습니다 — 사유: … 설비 명령은 내지 않았습니다」</a:t>
            </a:r>
          </a:p>
          <a:p>
            <a:r>
              <a:t>· 처리 건과 사건은 반려로 닫힌다(거절의 기록 값). 그렇다고 물리적 고장이 해결된 건 아니다 → 거절로 끝났다는 기록과 설비의 실제 상태는 구별</a:t>
            </a:r>
          </a:p>
          <a:p>
            <a:r>
              <a:t>· 거절도 누가 왜 실행하지 않기로 했는지가 남는 결정</a:t>
            </a:r>
          </a:p>
          <a:p>
            <a:r>
              <a:t>[다음] 아무도 결정하지 않으면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시간 축 왼쪽부터: 승인 요청 → 응답 없음 → 가운데 강조한 승인 지연 알림(종) → 오른쪽 뒤늦은 승인, 시간 축 위 끊기지 않는 띠</a:t>
            </a:r>
          </a:p>
          <a:p>
            <a:r>
              <a:t>· 승인도 거절도 없을 때: 이 흐름의 지연 알림 기한은 10분(업무상 설정값)</a:t>
            </a:r>
          </a:p>
          <a:p>
            <a:r>
              <a:t>· 기한이 지나면 알림: 「승인 대기 중, 승인하거나 거절할 때까지 기다립니다」</a:t>
            </a:r>
          </a:p>
          <a:p>
            <a:r>
              <a:t>· 띠가 끊기지 않는다 = 승인 작업이 열린 채 남는다. 시스템이 대신 승인 · 거절하지 않고, 몇 시간이 지나도 스스로 끝나지 않는다</a:t>
            </a:r>
          </a:p>
          <a:p>
            <a:r>
              <a:t>· 뒤늦은 승인도 접수하되, 지금 조건에서 그 조치를 실행할 수 있는지 다시 확인. 알림 뒤 거절도 그대로 받아들인다</a:t>
            </a:r>
          </a:p>
          <a:p>
            <a:r>
              <a:t>· 쿨러 사건은 약 13초 만에 승인돼 알림이 나가지 않았다</a:t>
            </a:r>
          </a:p>
          <a:p>
            <a:r>
              <a:t>· 기한이 지났다고 자동 승인되면 사람이 결정하는 자리를 둔 의미가 없다 → 알림은 재촉일 뿐, 결정은 사람의 몫</a:t>
            </a:r>
          </a:p>
          <a:p>
            <a:r>
              <a:t>[다음] 에이전트가 사람에게 묻는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정보가 없다 → 강조한 묻고 멈춘다 → 담당자가 답한다 → 이어서 처리한다</a:t>
            </a:r>
          </a:p>
          <a:p>
            <a:r>
              <a:t>· 요청에 조회할 대상 설비가 빠졌고, 후보가 여럿이라 도구로 조회해도 어느 설비인지 정할 수 없었다</a:t>
            </a:r>
          </a:p>
          <a:p>
            <a:r>
              <a:t>· 에이전트는 짐작하지 않았다(잘못 고른 채 결과를 내면 담당자가 엉뚱한 설비의 근거로 결정) → 「조회할 대상 설비를 선택해 주세요」, 선택지 HYD-02 · HYD-03을 붙여 묻고 멈춤. 질문 = 결과 대신 내는 요청</a:t>
            </a:r>
          </a:p>
          <a:p>
            <a:r>
              <a:t>· 담당자가 HYD-02 선택. 한 질문에 답은 한 번(이미 답한 질문에 또 답하면 안 받음)</a:t>
            </a:r>
          </a:p>
          <a:p>
            <a:r>
              <a:t>· 같은 대화의 문맥을 이어 업무 DB를 조회하고 HYD-02의 결과를 냈다. 프로그램 실행 위치를 그대로 복원하는 게 아니라 시스템이 답을 넣어 에이전트를 다시 실행 → 지시(「응답을 반영해 중단된 지점부터 계속, 끝낸 작업은 다시 하지 말라」)만으로 중복 작업이 절대 없다고 보장 못 한다</a:t>
            </a:r>
          </a:p>
          <a:p>
            <a:r>
              <a:t>· 언제나 묻는 건 아니다: 묻는 조건이 정해져 있고, 같은 상황에서도 모델에 따라 묻지 않고 끝낸 기록이 있다</a:t>
            </a:r>
          </a:p>
          <a:p>
            <a:r>
              <a:t>[다음] 무엇을 물어도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묻는다 → 오른쪽 강조한 바꾸지 못한다, 오른쪽 따옴표 두 줄</a:t>
            </a:r>
          </a:p>
          <a:p>
            <a:r>
              <a:t>· 물어도 되는 것: 대상 설비 · 수량 · 사유처럼 요청에서 빠진 업무 정보. 단, 연결된 도구로 조회해도 확인할 수 없는 것. 답은 그 빈칸을 채우는 입력</a:t>
            </a:r>
          </a:p>
          <a:p>
            <a:r>
              <a:t>· 묻지 않는 것: 도구로 읽을 수 있는 값(지금 유온은 사람에게 묻지 않고 조회)</a:t>
            </a:r>
          </a:p>
          <a:p>
            <a:r>
              <a:t>· 작업 지시 원문: 「도구 접근 거절이나 설비 조치 승인 우회에는 쓰지 마세요」, 「답변은 실행 권한을 바꾸지 않습니다」</a:t>
            </a:r>
          </a:p>
          <a:p>
            <a:r>
              <a:t>· 이 문장은 에이전트 지침이고, 실제 허용 여부는 서버의 권한 검사와 별도 승인 경로가 통제 → 허용 안 된 도구를 쓰게 해 달라고 묻고 사람이 괜찮다고 답해도 권한은 그대로</a:t>
            </a:r>
          </a:p>
          <a:p>
            <a:r>
              <a:t>· 담당자가 답에 「진행해도 된다」고 적어도 승인이 아니다 — 빈칸을 채운 답일 뿐, 승인은 승인 단계에서 따로</a:t>
            </a:r>
          </a:p>
          <a:p>
            <a:r>
              <a:t>[다음] 멈춘 작업을 사람이 끝내기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작업이 멈춘다 → 담당자가 기록을 읽는다 → 강조한 사유를 적고 닫는다 → 처리 건이 끝난다</a:t>
            </a:r>
          </a:p>
          <a:p>
            <a:r>
              <a:t>· 멈추는 경우: 한도 초과(실행 1,800초 · 형식 교정 2회) 또는 실행 실패 → 정상 결과를 제출하지 못한 채 멈춤</a:t>
            </a:r>
          </a:p>
          <a:p>
            <a:r>
              <a:t>· 그전에 조회나 판단 제출 같은 일부 행동이 있었을 수 있다 → 결과 파일이 없다고 아무 행동도 없었다고 보지 않는다. 그대로 두면 작업도 처리 건도 안 끝난다</a:t>
            </a:r>
          </a:p>
          <a:p>
            <a:r>
              <a:t>· 담당자가 처리 기록을 읽어 어디까지 진행했고 왜 멈췄는지 확인</a:t>
            </a:r>
          </a:p>
          <a:p>
            <a:r>
              <a:t>· 사유를 적고 닫는다: 닫은 사람과 사유가 남고 그 작업은 취소 표시. 닫을 수 있는 건 멈춘 작업뿐(사람이 할 작업, 진행 중인 작업은 안 닫힌다)</a:t>
            </a:r>
          </a:p>
          <a:p>
            <a:r>
              <a:t>· 다른 열린 일이 없으면 처리 건이 「사람이 닫음」 표시와 함께 끝난다. 닫기는 업무 상태 정리이지 이미 실행된 일을 자동으로 되돌리는 행위가 아니다</a:t>
            </a:r>
          </a:p>
          <a:p>
            <a:r>
              <a:t>· 이 표시가 중요한 까닭: 조치를 마쳐서 끝난 건인지, 더 갈 수 없어 사람이 닫은 건인지 구분돼야 나중에 거슬러 본다</a:t>
            </a:r>
          </a:p>
          <a:p>
            <a:r>
              <a:t>[다음] 「보류」라는 말이 가리키는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응답 없음 → 에이전트의 보류 → 강조한 에이전트의 질문, 가운데 「미룬 쪽과 까닭」 열</a:t>
            </a:r>
          </a:p>
          <a:p>
            <a:r>
              <a:t>· 기다림을 흔히 보류라 부르지만 이 시스템엔 사람이 누르는 보류 버튼이 따로 없다 → 보류라 부를 상황이 셋, 누가 미뤘느냐에 따라 할 일이 다르다</a:t>
            </a:r>
          </a:p>
          <a:p>
            <a:r>
              <a:t>· 응답 없음: 담당자가 아직 결정 안 함 → 승인하거나 거절</a:t>
            </a:r>
          </a:p>
          <a:p>
            <a:r>
              <a:t>· 에이전트의 보류: 근거가 모자라 결과를 내지 않고 멈춤(값이 묵었거나 못 읽음) → 빠진 근거와 멈춘 사유를 확인하고, 지원되는 재처리 경로로 새 값을 읽어 다시 판단하거나 닫는다. 모든 대기 상태에 같은 재평가 버튼이 있다는 뜻은 아니다</a:t>
            </a:r>
          </a:p>
          <a:p>
            <a:r>
              <a:t>· 에이전트의 질문: 필수 업무 정보가 없어 묻고 기다림 → 답한다</a:t>
            </a:r>
          </a:p>
          <a:p>
            <a:r>
              <a:t>· 「보류 중」을 들으면 누가 왜 미뤘는지부터</a:t>
            </a:r>
          </a:p>
          <a:p>
            <a:r>
              <a:t>· 단원 답: 추천안이 오르면 승인 역할 담당자가 승인 · 거절, 아무도 결정 안 하면 알림만 나가고 기다린다. 여기에 일하는 도중의 질문과 멈춘 작업 닫기까지 세 자리</a:t>
            </a:r>
          </a:p>
          <a:p>
            <a:r>
              <a:t>[다음] 누가 그 자리에 설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· 이론 · 실습 표시 → 부제</a:t>
            </a:r>
          </a:p>
          <a:p>
            <a:r>
              <a:t>· 개입할 자리를 찾았으니 누가 그 자리에 설 수 있는지</a:t>
            </a:r>
          </a:p>
          <a:p>
            <a:r>
              <a:t>· 승인 화면을 볼 수 있다 ≠ 조치를 승인할 권한이 있다</a:t>
            </a:r>
          </a:p>
          <a:p>
            <a:r>
              <a:t>· 순서: 조치마다 승인 역할을 어떻게 정하나 → 결정할 때 무엇을 남기나 → 시스템의 자동 검사 · 다른 AI의 검토를 사람의 승인과 구별</a:t>
            </a:r>
          </a:p>
          <a:p>
            <a:r>
              <a:t>· 단원 끝에 실습 셋</a:t>
            </a:r>
          </a:p>
          <a:p>
            <a:r>
              <a:t>[다음] 승인 역할과 등급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조치마다 승인 역할 → 역할의 등급 → 강조한 두 가지 검사 → 비유(회사의 결재선)</a:t>
            </a:r>
          </a:p>
          <a:p>
            <a:r>
              <a:t>· 조치마다 승인 역할: 팬 최대 운전은 운전원, 쿨러 핀 세척은 설비보전팀장 — 같은 사건의 후보라도 할 일이 다르면 역할도 다르다</a:t>
            </a:r>
          </a:p>
          <a:p>
            <a:r>
              <a:t>· HYD의 등급: 운전원 1, 생산관리자 · 설비보전팀장 · 구매팀장 · 품질팀장 2, 공장장 3. HYD 권한 정책의 값이지 모든 회사의 표준 등급이 아니다</a:t>
            </a:r>
          </a:p>
          <a:p>
            <a:r>
              <a:t>· 검사 ①: 승인하는 사람이 자신이 내세운 역할의 실제 구성원인가(역할 이름을 입력했다고 그 역할을 얻지 않는다). ②: 그 역할이 지정 승인 역할이거나 더 높은 등급인가</a:t>
            </a:r>
          </a:p>
          <a:p>
            <a:r>
              <a:t>· 같은 등급이면 대신 승인 가능? 아니다: 설비보전팀장 조치를 같은 등급 생산관리자가 승인하는 건 지정 역할도, 더 높은 등급도 아니라 허용 안 된다. 더 높은 등급의 구성원은 후보가 될 수 있고, 실제 승인엔 실행 가능 여부 등 다른 검사도 통과해야</a:t>
            </a:r>
          </a:p>
          <a:p>
            <a:r>
              <a:t>· 결재선 비유: 일마다 결재 자리가 정해진 점은 닮고, 규칙이 지식 그래프에 있고 시스템이 대조한다는 점이 다르다. 거절도 결정할 권한을 확인하고 받는다</a:t>
            </a:r>
          </a:p>
          <a:p>
            <a:r>
              <a:t>[다음] 승인하는 순간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승인한 사람과 역할 → 고른 안 → 시각과 기다린 시간 → 강조한 승인 순간 다시 확인한 값, 오른쪽 쿨러 사건 열</a:t>
            </a:r>
          </a:p>
          <a:p>
            <a:r>
              <a:t>· 감사 기록(Audit Trail) = 누가 언제 무엇을 결정했는지 거슬러 확인하는 이력</a:t>
            </a:r>
          </a:p>
          <a:p>
            <a:r>
              <a:t>· 승인한 사람과 역할: 승인 요청을 검증한 시스템이 남긴다. 에이전트가 결과에 이름을 적어 채울 수 있는 기록이 아니다(쿨러: 운전원)</a:t>
            </a:r>
          </a:p>
          <a:p>
            <a:r>
              <a:t>· 고른 안: 고른 안의 사본 + 추천안 그대로인지 다른 안을 골랐는지(쿨러: 팬 최대 운전, 추천안 그대로). 승인 여부만 참으로 저장하면 무엇을 허락했는지 모른다</a:t>
            </a:r>
          </a:p>
          <a:p>
            <a:r>
              <a:t>· 접수 시각과 기다린 시간: 11:14:56, 요청 뒤 약 13초</a:t>
            </a:r>
          </a:p>
          <a:p>
            <a:r>
              <a:t>· 승인 순간 다시 확인한 값: 유온 61.8 ℃, 원격 자동 · 운전 중 — 추천을 계산한 순간과 승인 시점의 값은 다를 수 있어 어느 시점의 근거인지 함께</a:t>
            </a:r>
          </a:p>
          <a:p>
            <a:r>
              <a:t>· 기록이 있다 ≠ 결정이 옳았다: 기록은 경위와 근거를 검토하게 해 줄 뿐. 값이 바뀐 지금도 실행해도 되는지는 다음 검사에서</a:t>
            </a:r>
          </a:p>
          <a:p>
            <a:r>
              <a:t>[다음] 승인 뒤, 지금도 실행할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승인 요청 → 지금의 값을 읽는다 → 규칙에 다시 대 본다 → 강조한 넘기거나 멈춘다</a:t>
            </a:r>
          </a:p>
          <a:p>
            <a:r>
              <a:t>· 추천과 승인 사이에도 설비는 계속 움직인다 → 고른 안을 명령으로 바꾸기 전에 현재 조건을 다시 확인</a:t>
            </a:r>
          </a:p>
          <a:p>
            <a:r>
              <a:t>· 승인 요청: 담당자가 어떤 역할로 무엇을 골랐나</a:t>
            </a:r>
          </a:p>
          <a:p>
            <a:r>
              <a:t>· 원천에서 현재 값(유온 · 운전 모드 · 필요한 업무 값)을 다시 읽는다 — 추천 때 본 자료를 다시 보여 주는 것과 다르다</a:t>
            </a:r>
          </a:p>
          <a:p>
            <a:r>
              <a:t>· 규칙 재적용: 선택한 조치가 지금도 허용되나, 필수 근거를 읽었나, 승인 때 보여 준 조치 내용이 안 바뀌었나. 값이 조금만 달라도 모두 거절하는 게 아니라 판정 · 동의한 내용에 영향을 주는지가 중요</a:t>
            </a:r>
          </a:p>
          <a:p>
            <a:r>
              <a:t>· 통과하면 다음 실행 단계로. 실행 가능 여부나 중요한 근거가 달라졌으면 명령을 내지 않고 다시 판단해 사람 검토로. 원천에 연결 못 해 확인할 수 없는 경우도 통과로 치지 않는다</a:t>
            </a:r>
          </a:p>
          <a:p>
            <a:r>
              <a:t>· 이 검사는 사람의 결정을 대신하지 않고 승인한 조건이 지금도 성립하는지 확인. 통과해도 명령 전달 · 실제 조치는 실패할 수 있어 실행 결과와 재관측까지 따로</a:t>
            </a:r>
          </a:p>
          <a:p>
            <a:r>
              <a:t>[다음] 추천안을 올리기 전의 자동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가드레일 정의 → 추천안에서 검사하는 것 → 어겼을 때</a:t>
            </a:r>
          </a:p>
          <a:p>
            <a:r>
              <a:t>· 앞 검사는 사람이 고른 뒤 실행 전, 이번 건 사람에게 추천안을 올리기 전의 자동 검사</a:t>
            </a:r>
          </a:p>
          <a:p>
            <a:r>
              <a:t>· 가드레일 = 입력 · 출력 · 행동이 정한 경계를 지키는지 확인하는 장치를 넓게 부르는 말. 규칙 검사나 모델 기반 검토 등으로 구현. HYD의 추천안 가드레일은 모델에게 다시 의견을 묻지 않고 코드에 정한 규칙을 검사</a:t>
            </a:r>
          </a:p>
          <a:p>
            <a:r>
              <a:t>· 검사 항목: 후보마다 고른 규칙의 인용이 있나, 참고용 절차가 실행할 안으로 섞이지 않았나, 추천이 제외 규칙에 걸리나, 승인 역할과 SOP 단계가 갖춰졌나(예: 추천할 수 없는 참고 절차가 끼면 올리지 않음)</a:t>
            </a:r>
          </a:p>
          <a:p>
            <a:r>
              <a:t>· 어기면 추천안 제출 거부 → 승인 화면에 오르지 않는다</a:t>
            </a:r>
          </a:p>
          <a:p>
            <a:r>
              <a:t>· 통과 ≠ 인용 근거의 의미까지 맞음, 현실의 모든 위험이 없음 → 자동 검사가 무엇을 확인하는지 알아야 통과의 의미를 정확히 읽는다</a:t>
            </a:r>
          </a:p>
          <a:p>
            <a:r>
              <a:t>[다음] 통과 · AI 검토 · 사람 승인의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 → 위 두 관문(가드레일 → 강조한 사람의 승인) → 실행 단계, 아래 제출 거부 · 명령 없는 종료 → 왼쪽 아래 AI의 검토</a:t>
            </a:r>
          </a:p>
          <a:p>
            <a:r>
              <a:t>· 추천안이 실행으로 가기 전 통과하는 두 자리: 가드레일과 사람의 승인. 아래 AI의 검토도 함께 구별</a:t>
            </a:r>
          </a:p>
          <a:p>
            <a:r>
              <a:t>· 가드레일 통과 = 정해 둔 자동 검사에서 위반이 발견되지 않았다는 뜻</a:t>
            </a:r>
          </a:p>
          <a:p>
            <a:r>
              <a:t>· 다른 에이전트가 「문제없다」고 한 것 = 그 검토의 의견. 확인한 근거와 빠뜨린 부분을 따로 읽는다. AI 의견만으로 제출 조건 통과나 승인으로 처리하지 않는다</a:t>
            </a:r>
          </a:p>
          <a:p>
            <a:r>
              <a:t>· HYD에서 실행을 허락하는 결정 = 권한 있는 담당자의 승인. 추천 이유 · 대안 · 근거의 한계까지 보고 결정. AI 둘이 같은 의견이어도 승인 항목이 자동으로 채워지지 않는다</a:t>
            </a:r>
          </a:p>
          <a:p>
            <a:r>
              <a:t>· 그림은 역할을 간단히 나눈 것: 실제 실행엔 현재 조건 재검사와 실행 단계 확인도 붙는다 → 승인 기록 하나로 모든 조건이 갖춰졌다고 결론 내지 않는다</a:t>
            </a:r>
          </a:p>
          <a:p>
            <a:r>
              <a:t>· 권한은 누가 결정할지, 기록은 무엇을 결정했는지, 자동 검사는 정해진 조건을 → 셋을 나눠야 검토를 승인으로 잘못 읽지 않는다</a:t>
            </a:r>
          </a:p>
          <a:p>
            <a:r>
              <a:t>[다음] 직접 확인하는 첫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사람이 결정하는 세 자리, 승인 역할, 승인 앞뒤의 두 관문을 직접 확인</a:t>
            </a:r>
          </a:p>
          <a:p>
            <a:r>
              <a:t>· 첫 실습: 승인과 거절이 처리 결과를 어떻게 바꾸는지 처리 기록과 실행 이력으로 본다</a:t>
            </a:r>
          </a:p>
          <a:p>
            <a:r>
              <a:t>· 앞 이론과의 연결: 승인 · 거절이 남기는 결과(명령 · 작업지시 유무, 반려로 닫힘), 대기와 결정, 승인 역할</a:t>
            </a:r>
          </a:p>
          <a:p>
            <a:r>
              <a:t>· 이어지는 두 실습: 정보를 묻는 일, AI끼리 검토하는 일</a:t>
            </a:r>
          </a:p>
          <a:p>
            <a:r>
              <a:t>[다음] 확인할 대상과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 대기 건 → 승인 · 거절 사례 → 대기와 완료 → 강조한 승인 없는 추천, 오른쪽 성공 기준</a:t>
            </a:r>
          </a:p>
          <a:p>
            <a:r>
              <a:t>· 목표: 승인 대기 건의 역할과 근거를 읽고, 승인 · 거절 사례의 처리 결과와 실행 이력에서 결정이 바꾼 것을 대조</a:t>
            </a:r>
          </a:p>
          <a:p>
            <a:r>
              <a:t>· 입력: 포털의 처리 건과 내 작업함의 승인 대기 작업, 수업용 승인 사례와 거절 사례</a:t>
            </a:r>
          </a:p>
          <a:p>
            <a:r>
              <a:t>· 대기 건: 담당 역할과 추천 근거를 먼저 읽는다 → 말할 수 있으면 성공</a:t>
            </a:r>
          </a:p>
          <a:p>
            <a:r>
              <a:t>· 승인 · 거절 사례를 나란히: 명령 · 작업지시가 생겼는지, 처리 건이 어떤 모양으로 끝났는지 설명</a:t>
            </a:r>
          </a:p>
          <a:p>
            <a:r>
              <a:t>· 대기 상태(결정을 기다림)와 완료 상태(결정 뒤 끝남)를 처리 기록에서 짚는다</a:t>
            </a:r>
          </a:p>
          <a:p>
            <a:r>
              <a:t>· 요점: 승인하지 않은 추천안이 설비 명령이나 업무 처리로 이어지지 않았음을 실행 이력으로 보인다(승인이 없으면 명령도 없다)</a:t>
            </a:r>
          </a:p>
          <a:p>
            <a:r>
              <a:t>[다음] 둘째 실습, 묻는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사람에게 묻는 에이전트를 만든다. 첫 실습이 사람의 결정과 상태 변화를 봤다면, 이번엔 에이전트 쪽에서 정보의 빈칸을 다룬다</a:t>
            </a:r>
          </a:p>
          <a:p>
            <a:r>
              <a:t>· 출발점: 원인 · 점검 계획을 이어받은 점검 요청 처리 시작본. 요청 한 건 = 이 경보의 원인 후보와 점검 순서를 내 달라는 부탁, 칸을 다 채우지 않은 요청이 섞여 있다</a:t>
            </a:r>
          </a:p>
          <a:p>
            <a:r>
              <a:t>· 앞 이론과의 연결: 에이전트의 질문(도구로 정할 수 없는 정보만 묻기), 답은 권한을 바꾸지 않는다</a:t>
            </a:r>
          </a:p>
          <a:p>
            <a:r>
              <a:t>· 이 점검 요청 프로젝트는 뒤의 역할 분담과 명세 변경 실습에서도 이어서 쓴다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점검 요청과 센서 사례 → 강조한 조회 먼저, 질문은 그다음 → 같은 요청으로 재개 → 전후 비교, 오른쪽 성공 기준</a:t>
            </a:r>
          </a:p>
          <a:p>
            <a:r>
              <a:t>· 목표: 도구로 확인할 수 있는 값은 먼저 조회하고 빠지거나 어긋난 정보만 물은 뒤, 답을 같은 요청에 이어 다시 판단</a:t>
            </a:r>
          </a:p>
          <a:p>
            <a:r>
              <a:t>· 입력: 설비 · 경보 · 센서 사례가 빠졌거나 서로 어긋난 점검 요청</a:t>
            </a:r>
          </a:p>
          <a:p>
            <a:r>
              <a:t>· 할 일: 빠진 값을 짐작해 채우지 않기. 비었다고 바로 묻지도 않기 — 자료에서 찾을 수 있으면 조회, 그래도 정할 수 없거나 맞지 않는 정보만 묻게 고친다. 질문엔 무엇이 왜 필요한지</a:t>
            </a:r>
          </a:p>
          <a:p>
            <a:r>
              <a:t>· 재개: 답을 같은 요청 번호에 이어 다시 판단. 여러 요청이 기다리니 한 요청의 답이 다른 요청에 섞이지 않는지 꼭 확인</a:t>
            </a:r>
          </a:p>
          <a:p>
            <a:r>
              <a:t>· 결과물: 답변 전후의 근거 · 미확인 · 처리 상태를 나란히 놓은 대조</a:t>
            </a:r>
          </a:p>
          <a:p>
            <a:r>
              <a:t>· 성공 기준: 빠진 값을 지어내지 않음, 질문에 까닭이 드러남, 답이 제 요청에만 반영. 답에 「승인」 같은 말이 섞여도 승인으로 받지 않는다(정보의 답 ≠ 실제 승인)</a:t>
            </a:r>
          </a:p>
          <a:p>
            <a:r>
              <a:t>[다음] 셋째 실습, 작성과 검토를 나눈 두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에이전트 둘이 제안과 검토를 나눠 맡는다. 확인 질문이 사람에게서 부족한 정보를 받는 것이라면, 여기선 작성한 초안을 다른 역할이 다시 살핀다</a:t>
            </a:r>
          </a:p>
          <a:p>
            <a:r>
              <a:t>· 같은 점검 요청 프로젝트에 작성 역할과 검토 역할을 구현</a:t>
            </a:r>
          </a:p>
          <a:p>
            <a:r>
              <a:t>· 앞 이론과의 연결: 가드레일 · AI 검토 · 사람 승인의 구별 — 검토 통과가 승인처럼 읽히면 두 관문이 한 칸에 섞인다</a:t>
            </a:r>
          </a:p>
          <a:p>
            <a:r>
              <a:t>· 서로 다른 역할이라고 오류까지 독립적이라는 보장은 없다 → 같은 오류를 함께 놓칠 수 있어 검토 의견도 원자료로 다시 확인</a:t>
            </a:r>
          </a:p>
          <a:p>
            <a:r>
              <a:t>· 세 실습 순서: 승인 → 질문 → 제안과 검토</a:t>
            </a:r>
          </a:p>
          <a:p>
            <a:r>
              <a:t>[다음] 흐름과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작성 역할 → 검토 역할 → 수정 → 강조한 종료 조건과 승인, 칸마다 결과물</a:t>
            </a:r>
          </a:p>
          <a:p>
            <a:r>
              <a:t>· 목표: 작성과 검토를 나누되 검토 의견을 원자료와 대조하고, 수정을 끝낼 조건과 사람의 최종 승인은 따로 둔다</a:t>
            </a:r>
          </a:p>
          <a:p>
            <a:r>
              <a:t>· 작성 역할: 점검 요청에 대한 점검 초안</a:t>
            </a:r>
          </a:p>
          <a:p>
            <a:r>
              <a:t>· 검토 역할: 작성 역할과 따로 초안을 원자료와 대조해 근거 누락 · 불일치 · 근거 없는 추정을 짚는 의견</a:t>
            </a:r>
          </a:p>
          <a:p>
            <a:r>
              <a:t>· 수정: 지적에 따라 고치고 고친 내용과 남은 확인을 기록</a:t>
            </a:r>
          </a:p>
          <a:p>
            <a:r>
              <a:t>· 종료 조건을 먼저 정한다(안 정하면 검토와 수정이 끝없이 되풀이). 두 AI의 동의와 사람의 최종 승인은 다른 항목에 남긴다</a:t>
            </a:r>
          </a:p>
          <a:p>
            <a:r>
              <a:t>· 성공 기준: 검토 의견이 원자료에 비춰 실제로 빠지거나 어긋난 것을 짚었나, 의견이 수정본에 반영되고 남은 확인이 기록됐나, 두 AI의 동의가 승인으로 읽히지 않나. 지적할 게 없으면 억지로 반려를 만들지 않고 「문제 없음」도 근거와 함께</a:t>
            </a:r>
          </a:p>
          <a:p>
            <a:r>
              <a:t>[다음] 실습 뒤, 요구사항이 바뀔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이 묶음: 요구사항이 바뀌어도 기존 기능을 지키는 법(목차 아래 네 단원)</a:t>
            </a:r>
          </a:p>
          <a:p>
            <a:r>
              <a:t>· 앞 실습에서 남긴 승인 기록 · 질문 전후 상태 · 검토 의견 — 기능을 더할 때마다 회차 처음의 둘째 물음이 따라온다: 원래 되던 일은 여전히 되나</a:t>
            </a:r>
          </a:p>
          <a:p>
            <a:r>
              <a:t>· 출발: 쿨러 사건 에이전트는 잘 동작하고 승인 자리도 정해져 있다. 여기에 새 요구가 딱 한 문장 붙으면 무엇이 흔들리나</a:t>
            </a:r>
          </a:p>
          <a:p>
            <a:r>
              <a:t>· 요청을 그대로 AI에 맡기는 방식과 그 방식이 남기는 빈자리를 따라간다</a:t>
            </a:r>
          </a:p>
          <a:p>
            <a:r>
              <a:t>[다음] 새 요구 한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 문장 → 아래 세 칸(물음표 아이콘)</a:t>
            </a:r>
          </a:p>
          <a:p>
            <a:r>
              <a:t>· 「긴급한 경보는 빨리 처리되게 해 주세요」 — 경보 → 원인 → 추천안 → 승인 대기 흐름의 어디를 바꾸라는 걸까</a:t>
            </a:r>
          </a:p>
          <a:p>
            <a:r>
              <a:t>· 뜻은 알 것 같아도 구현하려면 정해지지 않은 것 셋(문장에 적혀 있지 않다는 물음표)</a:t>
            </a:r>
          </a:p>
          <a:p>
            <a:r>
              <a:t>· 긴급의 기준: 어떤 경보가 긴급한지 없다. 사람마다 떠올리는 경보가 다를 수 있다</a:t>
            </a:r>
          </a:p>
          <a:p>
            <a:r>
              <a:t>· 빨라지는 방법: 무엇을 바꿔 빠르게 할지 받는 쪽에 맡겨졌다</a:t>
            </a:r>
          </a:p>
          <a:p>
            <a:r>
              <a:t>· 그대로 둘 것: 건드리면 안 되는 것이 언급되지 않았다 — 가장 무겁다. 요청자에겐 너무 당연해서 안 적은 것(승인 없이 설비를 움직이면 안 된다, 승인 역할 검사, 거절하면 명령이 안 나감) → 받는 쪽은 그 당연한 것까지 구현할 수 있는 형태로 풀어야</a:t>
            </a:r>
          </a:p>
          <a:p>
            <a:r>
              <a:t>[다음] 이 문장을 그대로 AI에 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바이브 코딩 정의 → 요청에 없는 부분 → 기존 시스템에 붙일 때</a:t>
            </a:r>
          </a:p>
          <a:p>
            <a:r>
              <a:t>· 바이브 코딩 = 자연어 요청과 실행 결과를 중심으로 AI가 만든 코드를 고쳐 가는 방식. 쓰이는 범위가 넓다 — 여기선 상세한 명세와 체계적 코드 검토 없이 실행 결과로 요청을 이어 가는 경우만. AI에게 자연어로 부탁하는 모든 개발이 이런 건 아니다</a:t>
            </a:r>
          </a:p>
          <a:p>
            <a:r>
              <a:t>· 장점: 빠르게 시도하고 결과를 본다. 작은 시제품이어도 입력 정보나 외부 연결에 따라 영향이 달라 작다고 검증이 불필요해지진 않는다</a:t>
            </a:r>
          </a:p>
          <a:p>
            <a:r>
              <a:t>· 요청에 없는 부분(출력 형식, 예외 처리, 기존 동작 유지 조건)은 AI가 문맥과 코드로 추정해 채울 수 있다. 질문으로 확인할 수도 있지만 반드시 그럴 거라 기대 못 한다</a:t>
            </a:r>
          </a:p>
          <a:p>
            <a:r>
              <a:t>· 기존 시스템에선 이 추정이 특히 문제: 결과를 읽는 다른 프로그램과 지킬 승인 규칙이 이미 있다 → 한 번 실행해 원하는 표시가 나왔다고 그 약속까지 지켰다고 볼 수 없다</a:t>
            </a:r>
          </a:p>
          <a:p>
            <a:r>
              <a:t>[다음] 한 문장의 세 해석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변경 요청 말풍선 → 오른쪽 세 갈래(출력 형식 → 강조한 승인 조건 → 기존 요청의 처리), 갈래 끝 그림</a:t>
            </a:r>
          </a:p>
          <a:p>
            <a:r>
              <a:t>· 출력 형식: 결과에 긴급 표시만 더할 수도, 기존 항목의 이름 · 뜻까지 바꿀 수도(결과 문서의 줄 하나가 달라진 그림)</a:t>
            </a:r>
          </a:p>
          <a:p>
            <a:r>
              <a:t>· 승인 조건(사람을 건너뛰는 길 그림): 「빨리」를 승인을 기다리지 말라로, 또는 승인 역할을 낮추라로 읽을 수 있다 → 등급 경계가 무너진다(설비를 세우는 핀 세척을 급하다고 운전원이 승인)</a:t>
            </a:r>
          </a:p>
          <a:p>
            <a:r>
              <a:t>· 기존 요청의 처리: 긴급하지 않은 경보는 이전과 같은 결과여야 하는데 고치는 김에 달라질 수 있다</a:t>
            </a:r>
          </a:p>
          <a:p>
            <a:r>
              <a:t>· 셋은 실제로 일어난 일이 아니라 일어날 수 있는 해석. 셋 다 터무니없지 않아 요청 문장만으로 어느 쪽인지 못 정한다</a:t>
            </a:r>
          </a:p>
          <a:p>
            <a:r>
              <a:t>· 특히 승인 조건은 공들여 본 관문을 구현을 잘못 바꾸면 훼손할 수 있는 자리. 다만 HYD는 승인 없는 실행 경로를 등록 단계에서도 검사하므로 모호한 요청 하나로 곧바로 우회되진 않는다</a:t>
            </a:r>
          </a:p>
          <a:p>
            <a:r>
              <a:t>[다음] 출력 형식이 흔들리면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네 칸: 결과 객체 → 형식 검사 → 사건 기록 → 강조한 승인 화면</a:t>
            </a:r>
          </a:p>
          <a:p>
            <a:r>
              <a:t>· 에이전트의 결과는 혼자 쓰이지 않고 뒤에서 여러 곳이 읽는다</a:t>
            </a:r>
          </a:p>
          <a:p>
            <a:r>
              <a:t>· 결과 객체: 추천안의 다섯 항목</a:t>
            </a:r>
          </a:p>
          <a:p>
            <a:r>
              <a:t>· 형식 검사: 정해진 이름의 항목이 다 있나, 없으면 형식을 고쳐 다시 내라고 돌려보낸다</a:t>
            </a:r>
          </a:p>
          <a:p>
            <a:r>
              <a:t>· 사건 기록: 진단 가이드 카드를 사건에 싣는다 → 나중에 승인할 수 있는 조치의 범위. 카드가 없으면 사건이 설비 명령의 승인을 받지 않는다</a:t>
            </a:r>
          </a:p>
          <a:p>
            <a:r>
              <a:t>· 승인 화면: 판단 번호가 든 항목을 이름으로 찾아 그 번호로 추천안을 불러와 담당자에게</a:t>
            </a:r>
          </a:p>
          <a:p>
            <a:r>
              <a:t>· 세 곳 모두 항목을 이름으로 읽는다 — 한 글자만 달라도 없는 항목. 긴급 표시를 넣다 이름 하나를 바꾸면 고친 사람 눈엔 다듬은 것뿐이지만, 사건 기록 · 승인 화면은 에이전트 바깥(시스템 쪽)이라 에이전트 코드만 봐선 누가 읽는지 안 보인다 → 기대한 값을 못 찾거나 형식 검사에서 먼저 막혀 뒤 단계에 닿지 않을 수도</a:t>
            </a:r>
          </a:p>
          <a:p>
            <a:r>
              <a:t>[다음] 고친 뒤 돌려 보면 알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실행해 본 것(눈) → 오른쪽 강조한 실행해 보지 않은 것(빗금 그은 눈), 각 칸 끝 줄</a:t>
            </a:r>
          </a:p>
          <a:p>
            <a:r>
              <a:t>· 고친 뒤 돌려 보기는 한다. 모호한 요청으로 고쳤다고 꼭 틀리는 것도 아니다 — 문제는 무엇을 돌려 보느냐</a:t>
            </a:r>
          </a:p>
          <a:p>
            <a:r>
              <a:t>· 실행해 본 것: 긴급 경보 한 건 → 추천안과 긴급 표시가 보인다 → 요청한 기능은 된 것 같아 대개 여기서 끝</a:t>
            </a:r>
          </a:p>
          <a:p>
            <a:r>
              <a:t>· 실행해 보지 않은 것: 긴급하지 않은 경보의 결과 항목이 이전과 같나, 추천안이 여전히 승인을 기다리나, 하지 않기로 한 일을 여전히 안 하나 → 앞의 세 갈래와 그대로 겹친다</a:t>
            </a:r>
          </a:p>
          <a:p>
            <a:r>
              <a:t>· 왼쪽은 요청 문장에 적혀 있었고 오른쪽은 없었다 → 무엇이 그대로여야 하는지 적어 둔 곳이 없으니 실행해 볼 생각조차 못 한다</a:t>
            </a:r>
          </a:p>
          <a:p>
            <a:r>
              <a:t>· 새 기능이 된다 ≠ 기존 기능이 그대로다 → 따로 확인할 일</a:t>
            </a:r>
          </a:p>
          <a:p>
            <a:r>
              <a:t>[다음] 무엇이 그대로여야 하는지 언제 어디에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물음: 무엇이 그대로여야 하는지는 언제, 어디에 적어 둬야 하나</a:t>
            </a:r>
          </a:p>
          <a:p>
            <a:r>
              <a:t>· 답의 방향: 고친 다음이 아니라 고치기 전에 문서로 정해 둔다 = 명세 주도 개발</a:t>
            </a:r>
          </a:p>
          <a:p>
            <a:r>
              <a:t>· 순서: 그 방식이 무엇인지 → 바이브 코딩과 무엇이 다른지 → 그 문서에 무엇을 적는지</a:t>
            </a:r>
          </a:p>
          <a:p>
            <a:r>
              <a:t>[다음] SDD와 명세의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SDD 정의 → 명세 → 놓이는 곳(spec.md)</a:t>
            </a:r>
          </a:p>
          <a:p>
            <a:r>
              <a:t>· SDD(Spec-Driven Development, 명세 주도 개발) = 요구사항, 입력과 출력의 계약, 금지 조건, 수용 기준을 구현 전에 명세로 정하는 개발 방식. 구현도 확인도 그 명세가 기준</a:t>
            </a:r>
          </a:p>
          <a:p>
            <a:r>
              <a:t>· 계약 · 금지 조건 · 수용 기준은 뒤에서 하나씩</a:t>
            </a:r>
          </a:p>
          <a:p>
            <a:r>
              <a:t>· 명세 = 만들 것이 무엇을 받아 무엇을 내고 무엇을 하지 않는지 적은 문서. 사람과 AI가 같은 문서를 본다 — 사람은 무엇이 맞는지 판단, AI는 받아서 구현</a:t>
            </a:r>
          </a:p>
          <a:p>
            <a:r>
              <a:t>· 놓이는 곳: 프로젝트 안 spec.md 같은 파일로 코드와 함께 변경 관리. 파일 이름이나 다섯 항목 틀이 모든 SDD 도구의 공통 의무는 아니다(이 수업에서 쓸 구성). 마지막 실습에서 고칠 파일도 이 이름</a:t>
            </a:r>
          </a:p>
          <a:p>
            <a:r>
              <a:t>[다음] 바이브 코딩과 SDD의 순서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명세를 생략한 변경 → 오른쪽 강조한 SDD, 두 칸 꼬리표(요청 → 코드/요청 → 명세 → 코드)</a:t>
            </a:r>
          </a:p>
          <a:p>
            <a:r>
              <a:t>· 차이는 AI를 쓰느냐가 아니라 순서</a:t>
            </a:r>
          </a:p>
          <a:p>
            <a:r>
              <a:t>· 왼쪽: 요청 한 문장을 그대로 AI에. 해석은 AI가 그때그때, 마음에 안 들면 다시 요청 — 요청할 때마다 해석이 또 달라질 수 있다. 기존 기능을 지킬 조건을 기록하지 않으면 다음 변경 때 다시 확인하기 어렵다</a:t>
            </a:r>
          </a:p>
          <a:p>
            <a:r>
              <a:t>· SDD: 요청을 받으면 명세부터 고친다(코드를 고치고 문서를 나중에 맞추는 게 아니다). AI가 초안을 도와도 무엇을 만들고 지킬지는 사람이 검토해 확정. 구현과 검증은 그 명세를 기준으로 → 달라지는 것과 지킬 것이 문서로 남는다</a:t>
            </a:r>
          </a:p>
          <a:p>
            <a:r>
              <a:t>· 구현은 두 방식 모두 AI에 맡길 수 있다. 순서가 바뀌며 달라지는 두 가지: 해석을 누가 정하나, 그 해석이 남나</a:t>
            </a:r>
          </a:p>
          <a:p>
            <a:r>
              <a:t>[다음] 명세에 적는 다섯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 그림의 다섯 구획 → 오른쪽 이름표 위에서부터, 강조한 금지 조건 · 수용 기준</a:t>
            </a:r>
          </a:p>
          <a:p>
            <a:r>
              <a:t>· 요구사항: 무엇을 하는지, 이번에 무엇이 달라지는지</a:t>
            </a:r>
          </a:p>
          <a:p>
            <a:r>
              <a:t>· 입력 계약: 어떤 입력을 어떤 형식으로 받나. 출력 계약: 어떤 항목을 어떤 형식으로 내나</a:t>
            </a:r>
          </a:p>
          <a:p>
            <a:r>
              <a:t>· 금지 조건: 어떤 요구가 더해져도 하지 않을 일</a:t>
            </a:r>
          </a:p>
          <a:p>
            <a:r>
              <a:t>· 수용 기준: 무엇이 확인되면 다 된 것으로 보나</a:t>
            </a:r>
          </a:p>
          <a:p>
            <a:r>
              <a:t>· 묻는 건 단순: 무엇을 하나, 받나, 내나, 안 하나, 언제 끝났다고 보나</a:t>
            </a:r>
          </a:p>
          <a:p>
            <a:r>
              <a:t>· 「긴급 경보를 빨리」 요청엔 요구사항의 일부뿐. 가장 무거운 빈칸 「그대로 둘 것」은 입력 · 출력 계약에도 적고 금지 조건 · 수용 기준에서도 확인 → 그래서 두 이름을 굵게 강조</a:t>
            </a:r>
          </a:p>
          <a:p>
            <a:r>
              <a:t>[다음] 빠진 넷을 실제 시스템에서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물음: 한 문장 요청에 빠져 있던 나머지 넷은 어디서 찾나</a:t>
            </a:r>
          </a:p>
          <a:p>
            <a:r>
              <a:t>· 쿨러 사건의 시스템에선 이미 여러 장치가 그 일을 하고 있다 — 명세 파일 하나로 모여 있지 않을 뿐</a:t>
            </a:r>
          </a:p>
          <a:p>
            <a:r>
              <a:t>· 순서: 받는 입력과 내는 출력(계약) → 하지 않을 일(금지 조건) → 다 되었는지를 가르는 조건(수용 기준)</a:t>
            </a:r>
          </a:p>
          <a:p>
            <a:r>
              <a:t>[다음] 계약이란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에이전트 → 왼쪽 처리 건과 강조한 입력 계약 → 오른쪽 강조한 출력 계약과 승인 화면 · 뒤 단계, 위 항목들 → 맨 아래 계약</a:t>
            </a:r>
          </a:p>
          <a:p>
            <a:r>
              <a:t>· 계약(Contract) = 데이터를 주는 쪽과 받는 쪽이 지키기로 한 항목 · 형식 · 뜻 · 처리 조건</a:t>
            </a:r>
          </a:p>
          <a:p>
            <a:r>
              <a:t>· 에이전트는 받기도 내보내기도 하니 계약이 둘</a:t>
            </a:r>
          </a:p>
          <a:p>
            <a:r>
              <a:t>· 입력 계약: 처리 건이 에이전트에게 주는 것(설비 · 경보 · 사건 번호)</a:t>
            </a:r>
          </a:p>
          <a:p>
            <a:r>
              <a:t>· 출력 계약: 에이전트가 내는 것(원인 · 추천 · 판단 번호), 승인 화면과 뒤 단계가 읽는다</a:t>
            </a:r>
          </a:p>
          <a:p>
            <a:r>
              <a:t>· 기존 계약을 깨는 변경을 한쪽에만 적용하면 다른 쪽이 읽거나 처리 못 한다(앞의 이름 바꾸기) → 계약은 양쪽이 함께 지킨다</a:t>
            </a:r>
          </a:p>
          <a:p>
            <a:r>
              <a:t>· 계약은 자유도 준다: 외부에 약속한 항목의 이름 · 형식 · 뜻 · 동작을 유지하면 안쪽의 도구나 구현을 바꿀 여지. 다만 호출 순서를 바꿔 중복 실행이 생기거나 권한 · 응답 조건이 달라지면 겉모양이 같아도 같은 계약이 아니다 → 고쳐도 되는 것과 함부로 고치면 안 되는 것의 경계</a:t>
            </a:r>
          </a:p>
          <a:p>
            <a:r>
              <a:t>[다음] 입력 계약의 실제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코드의 세 항목 asset · alert · incident → 오른쪽 넷째 짚을 점(정해진 세 항목)</a:t>
            </a:r>
          </a:p>
          <a:p>
            <a:r>
              <a:t>· 쿨러 성능 저하 시나리오의 다른 실행에서 에이전트가 받은 입력. 앞의 승인 시각 기록과 같은 한 건으로 합쳐 읽지 않는다</a:t>
            </a:r>
          </a:p>
          <a:p>
            <a:r>
              <a:t>· asset: 대상 설비 HYD-01. alert: 경보 번호와 유형(COOLER_DEGRADATION, 쿨러 성능 저하). 번호 뒷자리 · 아래 항목은 화면에서 줄임. incident: 이 경보가 속한 사건 번호</a:t>
            </a:r>
          </a:p>
          <a:p>
            <a:r>
              <a:t>· 유온 · 냉각 효율 같은 값은 입력에 없다 — 계속 변하므로 에이전트가 판단하는 순간 도구로 직접 읽는다</a:t>
            </a:r>
          </a:p>
          <a:p>
            <a:r>
              <a:t>· 경보 때 값을 입력에 담는 설계도 가능하나, 그러면 관측 시각과 최신성 조건을 함께 정해야 한다(오래된 값을 현재 값처럼 쓰면 문제). 승인 때 값을 다시 읽은 것과 같은 까닭</a:t>
            </a:r>
          </a:p>
          <a:p>
            <a:r>
              <a:t>· 이 HYD 입력 예의 선택: 무엇에 대해 일할지만 정하고 변하는 값은 따로 조회. 모든 입력 계약이 값을 빼야 하는 건 아니다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세 열(이름 · 형식과 예 · 뜻) → 다섯 줄, 강조한 decision 줄</a:t>
            </a:r>
          </a:p>
          <a:p>
            <a:r>
              <a:t>· 출력 계약은 항목마다 이름 · 형식 · 뜻 세 가지를 정한다</a:t>
            </a:r>
          </a:p>
          <a:p>
            <a:r>
              <a:t>· cause · failure_mode: 지식 그래프 식별자. 이 기록에선 쿨러 핀 오염, 쿨러 냉각 성능 상실</a:t>
            </a:r>
          </a:p>
          <a:p>
            <a:r>
              <a:t>· guide_card: 진단 결과의 가이드 카드, 사건 기록에 실려 승인할 조치의 범위가 된다</a:t>
            </a:r>
          </a:p>
          <a:p>
            <a:r>
              <a:t>· decision: 1순위 추천 조치 · 설명 · 후보 순서. 이 기록의 추천은 팬 최대 운전(skill:sop-cool-11). decision_id: 제출하고 받은 번호, 승인 화면이 이 번호로 추천안을 찾는다</a:t>
            </a:r>
          </a:p>
          <a:p>
            <a:r>
              <a:t>· 변경 가르기: 긴급 여부 항목을 더하는 것은 계약을 넓히는 변경 — 소비자가 추가 항목을 허용하고 기존 의미 · 동작이 유지되면 호환 가능. 알 수 없는 항목을 거부하는 검사나 고정 결과 비교가 있으면 추가만으로도 실패 → 실제 소비자와 함께 확인</a:t>
            </a:r>
          </a:p>
          <a:p>
            <a:r>
              <a:t>· 추천 항목의 이름 · 뜻을 바꾸면 계약을 깨는 변경(Breaking Change)</a:t>
            </a:r>
          </a:p>
          <a:p>
            <a:r>
              <a:t>· 이름은 두고 뜻만 바꾸면(1순위 대신 가장 빨리 끝나는 조치) 승인 화면은 문제없이 읽고 1순위처럼 보여 준다 — 형식 검사로 안 드러남 → 의미 · 기대 행동 검사가 필요, 그래서 셋째 열 「뜻」을 적는다</a:t>
            </a:r>
          </a:p>
          <a:p>
            <a:r>
              <a:t>[다음] 하지 않을 일, 절대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규칙 원문 「## 절대 금지」 세 줄 → 오른쪽 요소, 강조한 셋째 줄</a:t>
            </a:r>
          </a:p>
          <a:p>
            <a:r>
              <a:t>· 쿨러 사건 에이전트가 읽는 작업 규칙에 따로 있는 절</a:t>
            </a:r>
          </a:p>
          <a:p>
            <a:r>
              <a:t>· 첫째 줄: 설비 명령(PLC 쓰기) · 업무 시스템 조치 실행 · 사람 대신 승인 금지. 승인 전에는 어떤 조치도 실행 안 함 — 첫 단원의 경계를 에이전트가 읽는 글에도 적은 것</a:t>
            </a:r>
          </a:p>
          <a:p>
            <a:r>
              <a:t>· 둘째 줄: 온톨로지 스키마 · 규칙 · 스킬 수정 금지, Neo4j는 조회만. 까닭: 가드레일이 대어 보던 제외 규칙도, 조치별 승인 역할도 이 지식 그래프에 있다 → 고칠 수 있으면 자기를 검사할 기준을 자기가 바꾸는 셈</a:t>
            </a:r>
          </a:p>
          <a:p>
            <a:r>
              <a:t>· 셋째 줄: 판단 제출 도구(hyd-dmn.submit_decision)는 고를 카드를 올리는 일만, 승인도 실행도 아님 — 이름에 「제출」이 있어 실행으로 오해하지 않게</a:t>
            </a:r>
          </a:p>
          <a:p>
            <a:r>
              <a:t>· 이런 글은 업무 지침. 실제 금지는 허용 도구 목록 · 서버 권한 · 승인 경로 검사로 뒷받침해야 한다</a:t>
            </a:r>
          </a:p>
          <a:p>
            <a:r>
              <a:t>· 이 절은 원인을 가리고 조치를 견주는 업무 절차와 따로 적혀 있다. 절차 = 해야 할 일, 이 절 = 하지 않을 일. 왜 따로? 하고 물으며 넘긴다</a:t>
            </a:r>
          </a:p>
          <a:p>
            <a:r>
              <a:t>[다음] 따로 적는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요구사항(꼬리표 늘어난다) → 오른쪽 강조한 금지 조건(꼬리표 남는다)</a:t>
            </a:r>
          </a:p>
          <a:p>
            <a:r>
              <a:t>· 따로 적는 까닭: 둘이 시간에 따라 바뀌는 방식이 다르다</a:t>
            </a:r>
          </a:p>
          <a:p>
            <a:r>
              <a:t>· 요구사항: 해야 할 일. 변경 요청마다 줄이 는다 — 원래 줄(원인을 가리고 조치 후보를 견주어 추천안) + 새 줄(긴급 경보엔 긴급 여부도)</a:t>
            </a:r>
          </a:p>
          <a:p>
            <a:r>
              <a:t>· 금지 조건: 어떤 요구가 더해져도 하지 않을 일. 이번 기능 추가에서 그대로 유지. 정책 자체를 바꿀 필요가 있으면 별도의 책임 있는 검토 · 승인으로 바꾸지, 기능 추가에 묻어 없애지 않는다</a:t>
            </a:r>
          </a:p>
          <a:p>
            <a:r>
              <a:t>· 예: 「승인 전에는 어떤 조치도 실행하지 않는다」(방금 본 그 문장)</a:t>
            </a:r>
          </a:p>
          <a:p>
            <a:r>
              <a:t>· 섞어 적으면 늘려도 되는 줄과 지킬 줄을 가리기 어렵다. 따로 적으면 「긴급이니 빨리」 요구에도 승인 생략 해석이 명세 위반임을 가릴 수 있다. 실제 구현이 지켰는지는 실행되는 검사로 확인</a:t>
            </a:r>
          </a:p>
          <a:p>
            <a:r>
              <a:t>· 요구사항 한 줄은 그 요구 하나에만, 금지 조건 한 줄은 앞으로 붙을 모든 요구에 똑같이 걸린다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첫째 줄 수용 기준(Acceptance Criteria) → 적는 내용 → 쓰이는 때, 오른쪽 꼬리표</a:t>
            </a:r>
          </a:p>
          <a:p>
            <a:r>
              <a:t>· 수용 기준 = 구현이 요구를 채웠다고 받아들이는 조건. 쉽게: 무엇을 보고 다 됐다고 말할 건가</a:t>
            </a:r>
          </a:p>
          <a:p>
            <a:r>
              <a:t>· 핵심은 첫째 줄 둘째 문장: 실행해 보고 참 · 거짓을 가를 수 있는 문장으로. 기준이 없으면 만든 사람이 「된 것 같다」면 끝, 있으면 문장이 하나하나 참이어야 끝</a:t>
            </a:r>
          </a:p>
          <a:p>
            <a:r>
              <a:t>· 적는 내용: 어떤 상황에서 어떤 결과가 나와야 하는지, 한 문장에 하나씩</a:t>
            </a:r>
          </a:p>
          <a:p>
            <a:r>
              <a:t>· 쓰이는 때: 구현 전엔 무엇을 만들지의 기준, 구현 뒤엔 다 됐는지 확인 항목 — 같은 문장이 두 번 일한다</a:t>
            </a:r>
          </a:p>
          <a:p>
            <a:r>
              <a:t>· 그래서 구현 전에 적는다. 뒤에 적으면 나온 결과에 기준을 맞추게 돼 잘못된 결과도 정답으로 인정할 위험. 이미 구현한 뒤라도 원래 요구와 근거로 기준을 세울 수 있지만 현재 결과를 그대로 정답으로 옮겨 적지 않는다</a:t>
            </a:r>
          </a:p>
          <a:p>
            <a:r>
              <a:t>[다음] 판정할 수 있는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판정할 수 없는 문장(모호하다) → 오른쪽 강조한 판정할 수 있는 문장(참 또는 거짓)</a:t>
            </a:r>
          </a:p>
          <a:p>
            <a:r>
              <a:t>· 왼쪽: 「거절이 잘 처리된다」 「긴급한 경보가 빨리 처리된다」 — 그럴듯하지만 「잘」은 어느 정도, 「빨리」는 얼마? 판정 기준이 없어 실행한 사람마다 판정이 갈린다</a:t>
            </a:r>
          </a:p>
          <a:p>
            <a:r>
              <a:t>· 오른쪽: 「거절하면 설비 명령이 0건이다」 — 실행 뒤 명령 수를 센다, 0이면 참 · 하나라도 있으면 거짓. 「긴급한 경보의 추천안도 승인 대기 상태가 된다」 — 처리 건의 상태를 대조</a:t>
            </a:r>
          </a:p>
          <a:p>
            <a:r>
              <a:t>· 같은 입력과 조건에서 같은 항목을 확인하면 판정이 일관된다</a:t>
            </a:r>
          </a:p>
          <a:p>
            <a:r>
              <a:t>· 오른쪽 문장엔 숫자나 상태 이름처럼 세거나 견줄 대상이 들어 있다</a:t>
            </a:r>
          </a:p>
          <a:p>
            <a:r>
              <a:t>· 써 본 뒤 자문: 무엇을 세면 되지? 무엇을 무엇과 견주면 되지? 답이 없으면 상황과 기대 결과로 다시 쓴다</a:t>
            </a:r>
          </a:p>
          <a:p>
            <a:r>
              <a:t>[다음] 승인 단계가 지키는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확인되어야 하는 결과 · 구분) → 다섯 줄, 강조한 거절 줄 → 오른쪽 구분 열</a:t>
            </a:r>
          </a:p>
          <a:p>
            <a:r>
              <a:t>· 「거절하면 설비 명령 0건」은 첫 단원 승인 단계에서 본 문장. 우연이 아니라 상황마다 기대 결과가 정해져 있고, 저장소에 준비한 입력 · 실행 대역으로 확인하는 자동 시험이 있다(오늘 학생 계정의 실제 실행을 새로 확인했다는 뜻은 아님)</a:t>
            </a:r>
          </a:p>
          <a:p>
            <a:r>
              <a:t>· 1 권한 있는 승인(실행 조건 충족): 승인자 · 역할 기록, 처리 건 끝까지 처리</a:t>
            </a:r>
          </a:p>
          <a:p>
            <a:r>
              <a:t>· 2 사유 적고 거절: 설비 명령 · 업무 처리 0건, 처리 건은 반려로 닫힘</a:t>
            </a:r>
          </a:p>
          <a:p>
            <a:r>
              <a:t>· 3 사유 없이 또는 권한 없는 역할로 거절: 요청 자체를 받지 않음</a:t>
            </a:r>
          </a:p>
          <a:p>
            <a:r>
              <a:t>· 4 무응답: 지연 알림만, 처리 건은 계속 대기. 5 알림 뒤 승인: 현재 조건도 통과하면 정상 처리</a:t>
            </a:r>
          </a:p>
          <a:p>
            <a:r>
              <a:t>· 승인 규칙이 판정 가능한 문장으로 적혀 있다 → 고치다 하나라도 달라지면 그 조건을 검사하는 시험을 실행해 찾을 수 있다(시험에 없는 경우까지 보장하진 않음)</a:t>
            </a:r>
          </a:p>
          <a:p>
            <a:r>
              <a:t>· 순조로운 경우는 첫 줄 하나뿐, 나머지 넷은 거절 · 누락 · 무응답 · 늦음. 잘 되는 경우만 적으면 「거절했는데 명령이 나가는」 사고를 확인할 길이 없다 → 중요한 예외도 적고, 빠진 상황이 발견되면 기준과 검사를 보완</a:t>
            </a:r>
          </a:p>
          <a:p>
            <a:r>
              <a:t>[다음] 단원 06, 명세에 따른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06, 구분 이론 · 실습 → 부제</a:t>
            </a:r>
          </a:p>
          <a:p>
            <a:r>
              <a:t>· 마지막 이론 단원: 명세에 따른 구현과 변경의 확인</a:t>
            </a:r>
          </a:p>
          <a:p>
            <a:r>
              <a:t>· 처음의 한 문장 「긴급한 경보는 빨리 처리되게 해 주세요」를 명세로 다시 쓰면 어떻게 되나</a:t>
            </a:r>
          </a:p>
          <a:p>
            <a:r>
              <a:t>· 순서: 요청을 명세로 다시 쓰기 → 그 명세를 기준으로 구현을 맡기기 → 고친 뒤 무엇을 다시 실행할지(기존 요청과 새 요청을 함께)</a:t>
            </a:r>
          </a:p>
          <a:p>
            <a:r>
              <a:t>· 앞 단원에서 찾은 계약 · 금지 조건 · 수용 기준이 이번엔 명세의 구획으로 들어간다</a:t>
            </a:r>
          </a:p>
          <a:p>
            <a:r>
              <a:t>[다음] 명세로 다시 쓴 변경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예시의 제목 → 다섯 구획 위에서부터 → 오른쪽 짚을 점, 강조한 금지 조건</a:t>
            </a:r>
          </a:p>
          <a:p>
            <a:r>
              <a:t>· 범위: 긴급 여부 표시를 더하는 작은 변경으로 합의한 교육용 예. 처리 속도를 실제로 높이는 요구까지 완성한 것은 아님</a:t>
            </a:r>
          </a:p>
          <a:p>
            <a:r>
              <a:t>· 요구사항: 긴급 = 판단할 때 읽은 유효한 TS1(유온)의 최근 120초 평균이 60 ℃ 이상인 쿨러 성능 저하 경보. 값 없음 · 신선도 실패 · 표본 부족이면 판정 불가(null)와 보류 사유. 운전 화면의 유온 높음 경고는 60 ℃ 초과 → 정확히 60 ℃에서 둘이 다름. 인터록 선보다 낮아 멈추기 전에 먼저 움직이자는 기준. 「판단할 때 읽은 값」인 까닭: 쿨러 사건은 경보 때 60 ℃ 아래, 승인 때 다시 읽은 값은 60 ℃ 위 → 시점에 따라 분류가 달라진다(실제 기록에 긴급 항목이 있었다는 뜻은 아님)</a:t>
            </a:r>
          </a:p>
          <a:p>
            <a:r>
              <a:t>· 입력 계약: 설비 · 경보 · 사건 번호 세 항목 그대로, 유온은 판단 때 도구로 읽는다</a:t>
            </a:r>
          </a:p>
          <a:p>
            <a:r>
              <a:t>· 출력 계약: 기존 다섯 항목 이름 · 형식 · 뜻 유지 + urgent(일반 false, 긴급 true, 판정 불가 null). 받는 쪽의 추가 항목 허용과 출력 검사를 먼저 확인</a:t>
            </a:r>
          </a:p>
          <a:p>
            <a:r>
              <a:t>· 금지 조건: 긴급도 승인 전 실행 금지, 필수 값을 못 읽어도 짐작해 채우지 않음(「빨리」를 「있는 값으로라도 채워」로 읽지 않게)</a:t>
            </a:r>
          </a:p>
          <a:p>
            <a:r>
              <a:t>· 수용 기준: 고정 입력 · 조회 자료에서 일반 경보 기존 의미 · 처리 결과 유지, 긴급 추천안도 승인 대기, 필수 값 실패 시 결과 없이 보류</a:t>
            </a:r>
          </a:p>
          <a:p>
            <a:r>
              <a:t>· 앞에서 갈린 세 갈래(출력 형식 · 승인 조건 · 기존 요청)가 출력 계약 · 금지 조건 · 수용 기준에서 정해졌다 — 해석은 AI가 아니라 명세가. 처리 시간 단축은 줄일 구간 · 승인 대기 처리를 별도 합의</a:t>
            </a:r>
          </a:p>
          <a:p>
            <a:r>
              <a:t>[다음] 명세로 구현하는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흐름 왼쪽부터, 강조한 셋째 칸 → 넷째 칸의 되돌아가는 화살표 아이콘</a:t>
            </a:r>
          </a:p>
          <a:p>
            <a:r>
              <a:t>· ① 명세를 고친다: 달라지는 것과 지킬 것을 적는다</a:t>
            </a:r>
          </a:p>
          <a:p>
            <a:r>
              <a:t>· ② 구현을 맡긴다: AI에게 주는 건 처음의 한 문장이 아니라 방금 본 명세. AI는 그 명세를 기준으로 코드를 고친다</a:t>
            </a:r>
          </a:p>
          <a:p>
            <a:r>
              <a:t>· ③ 수용 기준으로 확인한다: 기준마다 실행해 참 · 거짓을 가린다</a:t>
            </a:r>
          </a:p>
          <a:p>
            <a:r>
              <a:t>· ④ 어긋난 곳을 고친다: 기준 하나가 거짓이면 둘 중 하나 — 구현이 명세와 다르면 구현을, 명세에 빠진 게 있었으면 요구를 다시 확인해 명세를. 검사를 통과시키려고 기대 결과를 현재 구현에 맞춰 낮추지 않는다</a:t>
            </a:r>
          </a:p>
          <a:p>
            <a:r>
              <a:t>· 한 문장만 줬을 때는 결과가 마음에 안 들어도 구현이 틀렸는지 요청이 모자랐는지 가릴 기준이 없었다. 명세가 있으면 그 기준이 문서로 남고 명세의 빈틈도 드러난다 → 명세는 한 번 쓰고 끝이 아니라 고쳐 가는 문서</a:t>
            </a:r>
          </a:p>
          <a:p>
            <a:r>
              <a:t>[다음] 명세를 실행되는 검사로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기대 결과의 저장(출력의 보존) → 오른쪽 강조한 금지 조건의 고정(금지 조건의 보존)</a:t>
            </a:r>
          </a:p>
          <a:p>
            <a:r>
              <a:t>· 명세는 문서라 안 읽으면 그만 → 실행되는 검사로 옮겨야 힘을 가진다. 「바꾸지 말라」고 적는 것과 바뀌면 실패하는 검사는 다르다. 둘 다 이 시스템에 실제로 있는 장치</a:t>
            </a:r>
          </a:p>
          <a:p>
            <a:r>
              <a:t>· 기대 결과의 저장: 같은 경보에 대한 추천안의 기대 결과를 저장, 고친 뒤 새 결과를 저장본과 견줘 달라진 곳을 드러낸다. 결과를 일부러 바꿀 때만 근거와 함께 갱신 — 다를 때마다 덮어쓰면 기준 노릇을 못 한다</a:t>
            </a:r>
          </a:p>
          <a:p>
            <a:r>
              <a:t>· 금지 조건의 고정: 쿨러 사건 에이전트의 작업 규칙을 기준 파일 바이트와 대조, 달라지면 실패. 앞의 절대 금지 절이 고치는 도중에 빠지는 것을 막는다. 단, 글의 보존 검사일 뿐 실행 중 에이전트가 늘 지켰다는 검사는 아님(실제 준수 검사는 별도)</a:t>
            </a:r>
          </a:p>
          <a:p>
            <a:r>
              <a:t>· 한 글자까지 보는 까닭: 금지 문장은 낱말 하나로 뜻이 바뀐다(「사람 대신 승인」이 지워지면 금지가 통째로 사라짐). 어떤 고침이 해가 없는지 검사가 대신 가려 줄 수 없으니 달라지면 멈추고 사람이 판단</a:t>
            </a:r>
          </a:p>
          <a:p>
            <a:r>
              <a:t>· 사람이 매번 기억하지 않아도 변경 뒤 실행하면 저장된 기준과 대조된다. 검사가 있다는 것과 매 변경마다 실행됐다는 것은 구별</a:t>
            </a:r>
          </a:p>
          <a:p>
            <a:r>
              <a:t>[다음] 변경 뒤 함께 실행할 세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카드 왼쪽부터, 강조한 가운데 새 요청 → 카드 아래 꼬리표(그대로 · 달라져야 · 그대로)</a:t>
            </a:r>
          </a:p>
          <a:p>
            <a:r>
              <a:t>· 고친 뒤엔 새 요청만이 아니라 기존 요청도 함께 실행</a:t>
            </a:r>
          </a:p>
          <a:p>
            <a:r>
              <a:t>· 기존 요청: 긴급하지 않은 경보. 같은 입력 · 고정 조회 자료에서 기존 항목의 의미 · 처리 결과 유지, urgent=false, 승인 대기</a:t>
            </a:r>
          </a:p>
          <a:p>
            <a:r>
              <a:t>· 새 요청: 판단할 때 유효한 TS1 120초 평균이 60 ℃ 이상인 경보. urgent=true이고 그래도 승인 대기 — 긴급해도 승인을 건너뛰지 않는다</a:t>
            </a:r>
          </a:p>
          <a:p>
            <a:r>
              <a:t>· 필수 값이 없는 경우: 결과를 채우지 않고 보류. 지어내지 않는 규칙은 긴급이든 아니든 같다</a:t>
            </a:r>
          </a:p>
          <a:p>
            <a:r>
              <a:t>· 출처는 모두 앞의 명세: 첫 카드 = 수용 기준 첫 줄, 가운데 = 요구사항의 긴급 기준 + 수용 기준 둘째 줄, 셋째 = 금지 조건 둘째 줄 + 수용 기준 셋째 줄</a:t>
            </a:r>
          </a:p>
          <a:p>
            <a:r>
              <a:t>· 달라져야 하는 건 하나뿐, 둘은 그대로여야 한다 — 새 기능만 돌리면 바로 이 쪽을 놓친다</a:t>
            </a:r>
          </a:p>
          <a:p>
            <a:r>
              <a:t>· 입력 · 기대 결과 · 조회 자료 · 비교 항목을 저장. 판단 번호 · 시각처럼 실행마다 바뀌는 값은 글자 그대로 같아야 하는 값과 비교 규칙을 나눈다. 60 ℃ 바로 아래와 정확히 60 ℃를 넣으면 경계 조건 확인</a:t>
            </a:r>
          </a:p>
          <a:p>
            <a:r>
              <a:t>[다음] 실습: 모호한 요청으로 기능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부제(같은 점검 요청 프로젝트, 한두 문장, 기존 계약과 견주어 기록)</a:t>
            </a:r>
          </a:p>
          <a:p>
            <a:r>
              <a:t>· 목적: 명세 없이 모호한 요청으로 기능을 더했을 때 무엇이 달라지는지 직접 확인. 이론에서 쿨러 사건 에이전트에 붙여 본 것과 같은 꼴의 요구(긴급 표시)를 앞의 실습에서 이어 온 점검 요청 프로젝트에 더한다</a:t>
            </a:r>
          </a:p>
          <a:p>
            <a:r>
              <a:t>· 이론 연결: 한 문장 요청이 흔들 수 있는 것(출력 형식 · 승인 조건 · 기존 요청) — 그 흔들림이 실제로 생기는지 본다</a:t>
            </a:r>
          </a:p>
          <a:p>
            <a:r>
              <a:t>· 순서는 다음 장 표: 고치기 전 출력 남기기 → 모호한 변경 → 같은 입력으로 두 버전 비교</a:t>
            </a:r>
          </a:p>
          <a:p>
            <a:r>
              <a:t>· 차이가 없을 수도 있다 — 실패를 일부러 만들지 않는다. 있는 그대로 견준 기록도 결과</a:t>
            </a:r>
          </a:p>
          <a:p>
            <a:r>
              <a:t>· 여기서 모호했던 입력 · 판정 · 출력 조건은 이어지는 실습에서 명세로 고정</a:t>
            </a:r>
          </a:p>
          <a:p>
            <a:r>
              <a:t>[다음] 두 버전의 출력 비교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머리(입력과 대상 · 수행할 일 · 산출물 · 성공 기준) → 네 줄, 강조한 기존 계약과 비교</a:t>
            </a:r>
          </a:p>
          <a:p>
            <a:r>
              <a:t>· 목표: 모호한 요청으로 긴급 표시를 더한 뒤 일반 요청 · 정보 누락 · 승인 경계가 기존 계약대로인지 두 버전에서 견준다</a:t>
            </a:r>
          </a:p>
          <a:p>
            <a:r>
              <a:t>· 입력 → 결과물 ①: 고치기 전 버전으로 일반 요청과 정보가 빠진 요청을 실행, 출력을 비교 기준으로 남긴다</a:t>
            </a:r>
          </a:p>
          <a:p>
            <a:r>
              <a:t>· ②: 긴급 표시 요구를 한두 문장의 모호한 요청으로 AI에 전하고 바뀐 코드와 실행 결과를 확인</a:t>
            </a:r>
          </a:p>
          <a:p>
            <a:r>
              <a:t>· ③: 같은 입력을 두 버전에 똑같이 넣어 일반 결과 · 누락 시 보류 · 승인 대기 경계가 유지됐는지 견준다</a:t>
            </a:r>
          </a:p>
          <a:p>
            <a:r>
              <a:t>· 성공 기준: 유지된 것과 달라진 것을 실제 결과로 기록. ④ 차이가 없으면 실패를 만들지 않고 그대로 비교 기록</a:t>
            </a:r>
          </a:p>
          <a:p>
            <a:r>
              <a:t>· 주의: 실행마다 조회 자료까지 바뀌면 코드 변경의 영향인지 구분이 어렵다 → 같은 입력과 비교 가능한 자료, 일부러 바꾼 항목과 그대로 둘 항목을 나눠 기록</a:t>
            </a:r>
          </a:p>
          <a:p>
            <a:r>
              <a:t>[다음] 실습: 명세를 갱신해 요구사항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부제(spec.md에 지킬 것과 달라질 것, 명세대로 고쳐 세 입력 재실행)</a:t>
            </a:r>
          </a:p>
          <a:p>
            <a:r>
              <a:t>· 목적: 앞 실습과 같은 프로젝트에서 순서를 바꿔 명세를 먼저 갱신하고 그 명세대로 기능을 더한다. 앞 실습은 모호한 요청으로 고친 버전의 차이를 기록</a:t>
            </a:r>
          </a:p>
          <a:p>
            <a:r>
              <a:t>· 이론 연결: 명세의 다섯 구획(요구사항 · 입력 계약 · 출력 계약 · 금지 조건 · 수용 기준)과 기존 · 긴급 · 보류 세 경우를 함께 실행하는 확인</a:t>
            </a:r>
          </a:p>
          <a:p>
            <a:r>
              <a:t>· 성공 기준 미리: 지킬 것과 달라질 것이 명세에 있고, 경계값이 명세와 코드에서 같고, 수용 기준마다 참 · 거짓이 판정됨</a:t>
            </a:r>
          </a:p>
          <a:p>
            <a:r>
              <a:t>· 진행: 두 실습을 모호한 변경의 비교 → 명세에 따른 수정 순서로 이어서 하고, 끝나면 복습 · 퀴즈</a:t>
            </a:r>
          </a:p>
          <a:p>
            <a:r>
              <a:t>[다음] spec.md 갱신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강조한 spec.md 줄 → 센서 조건 → 다시 실행 → 저장</a:t>
            </a:r>
          </a:p>
          <a:p>
            <a:r>
              <a:t>· 목표: spec.md에 조건 · 경계값 · 보류 · 승인 규칙을 적고 구현한 뒤 세 입력의 결과를 명세와 대조</a:t>
            </a:r>
          </a:p>
          <a:p>
            <a:r>
              <a:t>· spec.md에 적을 것: 일반 · 긴급 조건, 필수 정보 누락 시 보류, 승인 없이 확정 금지, 출력 형식, 수용 기준</a:t>
            </a:r>
          </a:p>
          <a:p>
            <a:r>
              <a:t>· 센서 조건: 제공된 교육용 조건에서 어느 시간 구간의 값을 · 어떤 단위로 · 어느 경계값과 견주는지 명세에 적고 그대로 구현. 경계값과 정확히 같은 값을 긴급에 넣는지까지 정해야 판정이 안 갈린다(이론의 60 ℃ 이상/초과 차이)</a:t>
            </a:r>
          </a:p>
          <a:p>
            <a:r>
              <a:t>· 다시 실행: 일반 · 긴급 · 누락 입력의 실제 결과를 명세와 대조, 수용 기준마다 참 · 거짓</a:t>
            </a:r>
          </a:p>
          <a:p>
            <a:r>
              <a:t>· 저장: 바뀐 기능과 지켜진 기능을 정리하고 명세와 사례를 남긴다 — 다시 실행해 견줄 재료</a:t>
            </a:r>
          </a:p>
          <a:p>
            <a:r>
              <a:t>· 주의: 기대 결과를 나온 결과에 맞춰 고치지 않는다. 어긋나면 구현이 틀렸는지 명세가 빠졌는지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먼저 가를 것 · 확인할 근거) → 다섯 줄, 강조한 다섯째 줄. 오른쪽 근거 열은 가린 채 먼저 고르게 하고 20초 기다린다</a:t>
            </a:r>
          </a:p>
          <a:p>
            <a:r>
              <a:t>· 실습에서 남긴 변경 전후 기록과 명세를 바탕으로 마무리</a:t>
            </a:r>
          </a:p>
          <a:p>
            <a:r>
              <a:t>· 1 추천안 10분 무결정: 사람의 대기(에이전트 멈춤 아님). 지연 알림만, 승인 작업은 열린 채</a:t>
            </a:r>
          </a:p>
          <a:p>
            <a:r>
              <a:t>· 2 에이전트가 대상 설비를 묻고 멈춤: 업무 정보 질문. 답은 빠진 값만 채우고 승인은 승인 단계에서</a:t>
            </a:r>
          </a:p>
          <a:p>
            <a:r>
              <a:t>· 3 쿨러 추천안의 가드레일 통과: 올려도 된다는 확인일 뿐. 실행 여부는 운전원의 승인 결정 기록(누가 · 어떤 역할로 · 승인 순간 어떤 값을 다시 보고)과 실행 전 현재 조건 검사</a:t>
            </a:r>
          </a:p>
          <a:p>
            <a:r>
              <a:t>· 4 긴급 표시를 넣으며 추천 항목 이름 변경: 계약을 깨는 변경. 출력 계약의 이름 · 형식 · 뜻으로 가르고, 기존 이름 · 뜻을 유지한 확장과 소비자의 추가 항목 허용을 확인</a:t>
            </a:r>
          </a:p>
          <a:p>
            <a:r>
              <a:t>· 5 고친 뒤 긴급 경보 한 건만 실행: 새 기능만 확인. 기존 · 긴급 · 보류 요청의 수용 기준을 함께 다시 실행해야 기존 기능이 지켜졌는지 안다</a:t>
            </a:r>
          </a:p>
          <a:p>
            <a:r>
              <a:t>· 묶으면: 앞 셋은 누가 결정하고 무엇이 결정이 아닌지, 뒤 둘은 무엇이 달라져도 되고 무엇이 그대로여야 하는지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위에서부터. 영문 정식 명칭은 화면에 두고 뜻을 짚는다</a:t>
            </a:r>
          </a:p>
          <a:p>
            <a:r>
              <a:t>· HITL: 자동 처리의 정해진 지점에 사람의 결정을 넣는 방식</a:t>
            </a:r>
          </a:p>
          <a:p>
            <a:r>
              <a:t>· 가드레일: 입력 · 출력 · 행동이 정한 경계를 지키는지 확인하는 장치. 이 회차에선 HYD 추천안의 규칙 검사</a:t>
            </a:r>
          </a:p>
          <a:p>
            <a:r>
              <a:t>· 바이브 코딩: 자연어 요청과 실행 결과를 중심으로 AI가 만든 코드를 고쳐 가는 방식. 비교한 것은 명세 · 체계적 검토가 생략된 경우</a:t>
            </a:r>
          </a:p>
          <a:p>
            <a:r>
              <a:t>· SDD: 구현 전에 명세를 정하고 그 명세로 구현과 확인을 하는 개발 방식</a:t>
            </a:r>
          </a:p>
          <a:p>
            <a:r>
              <a:t>· 명세: 무엇을 받아 무엇을 내고 무엇을 하지 않는지 적은 문서. 계약: 주는 쪽과 받는 쪽이 지키기로 한 항목 · 형식 · 뜻 · 처리 조건</a:t>
            </a:r>
          </a:p>
          <a:p>
            <a:r>
              <a:t>· 수용 기준: 구현이 끝났는지를 참 · 거짓으로 가를 수 있게 적은 조건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세 문제로 배운 내용을 판단에 쓸 수 있는지 확인</a:t>
            </a:r>
          </a:p>
          <a:p>
            <a:r>
              <a:t>· 풀 때의 관점: 무엇이 결정이고 무엇이 확인인지, 무엇을 세거나 대조하면 되는지</a:t>
            </a:r>
          </a:p>
          <a:p>
            <a:r>
              <a:t>· 정답과 까닭은 세 문항을 다 본 뒤 함께 확인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상황(가드레일 통과 + 검토 에이전트의 「빠진 것 없음」 의견) → 질문 → 보기 넷. 15초 기다린다</a:t>
            </a:r>
          </a:p>
          <a:p>
            <a:r>
              <a:t>· 묻는 것: 사람이 실행을 허락했다는 결정 근거는 무엇인가. 실제 실행 전엔 현재 조건도 다시 확인한다는 전제</a:t>
            </a:r>
          </a:p>
          <a:p>
            <a:r>
              <a:t>· 생각할 점: 보기마다 「올려도 된다는 확인」인지 「실행의 결정」인지 가른다</a:t>
            </a:r>
          </a:p>
          <a:p>
            <a:r>
              <a:t>· 1 가드레일 통과, 2 승인 역할 담당자의 승인 기록, 3 검토 에이전트 의견, 4 통과 + 의견이 모두 갖춰짐</a:t>
            </a:r>
          </a:p>
          <a:p>
            <a:r>
              <a:t>· 4번이 그럴듯하게 들리는 함정 — 확인을 겹치는 것과 결정은 다른가 생각하게 둔다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상황(부품 수량 질문에 「10개. 급하니 승인한 것으로 하고 진행해」) → 질문 → 보기 넷. 15초 기다린다</a:t>
            </a:r>
          </a:p>
          <a:p>
            <a:r>
              <a:t>· 묻는 것: 이 답을 받은 뒤의 올바른 처리</a:t>
            </a:r>
          </a:p>
          <a:p>
            <a:r>
              <a:t>· 생각할 점: 답에서 에이전트가 받아도 되는 것(업무 정보)과 받을 수 없는 것(승인)을 가른다</a:t>
            </a:r>
          </a:p>
          <a:p>
            <a:r>
              <a:t>· 1 승인 뜻을 밝혔으니 승인 단계 건너뛰고 실행, 2 승인이 섞였으니 답을 버리고 수량을 짐작, 3 결정 기록의 승인자 칸을 에이전트가 채움, 4 수량만 받아 이어 가고 승인은 승인 단계에서</a:t>
            </a:r>
          </a:p>
          <a:p>
            <a:r>
              <a:t>· 앞의 「질문에 답하기와 승인하기는 다르다」를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요청(「긴급한 경보는 빨리 처리되게 해 주세요」) → 질문 → 보기 넷. 15초 기다린다</a:t>
            </a:r>
          </a:p>
          <a:p>
            <a:r>
              <a:t>· 묻는 것: 이 요청을 명세로 옮길 때 수용 기준으로 알맞은 문장</a:t>
            </a:r>
          </a:p>
          <a:p>
            <a:r>
              <a:t>· 생각할 점: 보기마다 무엇을 세거나 대조하면 참 · 거짓이 정해지는가</a:t>
            </a:r>
          </a:p>
          <a:p>
            <a:r>
              <a:t>· 1 일반보다 눈에 띄게 빨리, 2 상황에 맞는 조치를 담음, 3 같은 입력 · 조회 자료에서 일반 경보의 기존 항목이 정한 기대값과 같음, 4 승인 절차가 알맞게 간소화</a:t>
            </a:r>
          </a:p>
          <a:p>
            <a:r>
              <a:t>· 앞의 판정할 수 있는 문장 · 없는 문장, 금지 조건을 함께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까닭을 같이 대조하게 한다</a:t>
            </a:r>
          </a:p>
          <a:p>
            <a:r>
              <a:t>· Q1 정답 2번(승인 역할 담당자의 승인 기록). 가드레일 통과는 정해 둔 검사 결과, AI 검토는 확인할 의견. HYD 승인 경로에서 실행 허락은 승인 기록으로 확인하고 명령 전 현재 조건 재검사도 통과해야. 4번 혼동: 두 번 확인해도 확인을 겹친 것일 뿐 결정이 되지 않는다</a:t>
            </a:r>
          </a:p>
          <a:p>
            <a:r>
              <a:t>· Q2 정답 4번. 답이 채울 수 있는 건 빠진 업무 정보뿐, 답변은 실행 권한을 바꾸지 않는다. 1번은 답을 승인으로 바꿔 씀, 3번은 시스템만 적는 칸을 에이전트가 채움, 2번은 받은 수량까지 버리고 짐작 — 질문한 의미가 없어진다</a:t>
            </a:r>
          </a:p>
          <a:p>
            <a:r>
              <a:t>· Q3 정답 3번. 입력 · 조회 자료를 같게 두고 기존 결과 항목을 미리 정한 기대값과 대조하면 참 · 거짓이 갈린다. 실행마다 생기는 번호 · 시각은 별도 비교 규칙. 1번 「눈에 띄게」는 얼마인지 없음, 2번 「상황에 맞는다」는 판정 불가, 4번은 판정 기준도 없지만 먼저 금지 조건(승인 전 실행 금지)에 어긋남</a:t>
            </a:r>
          </a:p>
          <a:p>
            <a:r>
              <a:t>· 마무리 한 줄: 사람의 결정은 승인 기록으로, 바뀐 요구는 명세 · 수용 기준으로 기존 · 새 경우를 함께 확인한다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.png"/><Relationship Id="rId6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7.png"/><Relationship Id="rId6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5.png"/><Relationship Id="rId4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8.png"/><Relationship Id="rId4" Type="http://schemas.openxmlformats.org/officeDocument/2006/relationships/image" Target="../media/image40.png"/><Relationship Id="rId5" Type="http://schemas.openxmlformats.org/officeDocument/2006/relationships/image" Target="../media/image30.png"/><Relationship Id="rId6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2.png"/><Relationship Id="rId4" Type="http://schemas.openxmlformats.org/officeDocument/2006/relationships/image" Target="../media/image1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1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사람의 판단과 명확한 요구사항으로 AI 업무의 신뢰성 높이기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승인과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 주도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자리를 설계하고, 요구사항이 바뀌어도 기존 기능을 지키는 명세를 쓴다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hield-check" descr="shield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자리와 책임을 가르고, 바뀐 요구를 명세로 옮겨 기존 기능을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처리와 사람의 결정을 가른다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대기 · 질문 · 닫기의 때를 설명한다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개입 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id" descr="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결정 기록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승인할 수 있는 사람을 역할과 등급으로 가린다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기록에 남는 것을 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승인의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가드레일의 통과와 AI의 검토를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text" descr="file-tex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지키는 기존 기능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요청을 명세의 요소로 옮긴다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요청과 새 요청을 함께 다시 실행한다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19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19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819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819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225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 AI의 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7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52627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486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52578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 변경의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54772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54772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나온 뒤의 승인 · 거절 · 대기, 그리고 에이전트가 사람에게 묻고 멈추는 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나온 뒤: 승인과 거절의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아니라 약 13초 뒤 담당자의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갈림.svg" descr="illust_617524931471713726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6628" y="210037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4898" y="2242200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310" y="522049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약 13초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2271" y="309314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51" y="3282238"/>
            <a:ext cx="1854614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11:14:57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0541" y="3140415"/>
            <a:ext cx="141823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재관측과 작업지시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446410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6886" y="503139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자동 처리와 사람의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HITL은 자동화 과정에 사람의 확인과 결정을 넣으며, HYD는 추천과 실행 사이에 책임 있는 승인 단계를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3462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ttings-automation" descr="settings-automa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882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자동으로 처리한다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조회, 원인 판정, 후보 비교, 형식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결과의 영향도 확인한다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조회에도 정보 노출 · 비용이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9205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9205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시스템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346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8824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명령, 작업지시처럼 현장을 바꾸는 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실행하면 설비의 상태와 생산이 달라진다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책임질 역할이 정해져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92052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92052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세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대표적인 개입 지점은 승인 단계, 정보가 부족할 때의 질문, 멈춘 작업의 닫기이다.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지점.svg" descr="illust_226912081590186183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50283" y="1627632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5892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122" y="5267766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정보의 누락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3065" y="526776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 초과 · 실행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267766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승인과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거절이 남기는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사례는 승인과 현재 조건 검사를 거쳐 실행됐고, 거절 경로는 조치 없이 반려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1초 뒤 팬 속도 100 % 명령이 나간다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재관측에서 유온 51.5 ℃, 경보가 해제된다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WO-1010-C058이 등록된다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명령이 만들어진다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사유를 적어야 거절이 받아들여진다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명령 · 후속 업무 · 메일은 0건이다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「담당자가 거절했습니다 — 사유: … 설비 명령은 내지 않았습니다」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없이 닫힌다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없을 때: 지연 알림과 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승인 지연 기한은 10분이며, 기한이 지나도 알림만 내고 승인이나 거절의 결정을 계속 기다린다.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무응답.svg" descr="illust_169725540451639970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3850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3074" y="1674906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10분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746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 재검사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0297" y="389680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열린 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뒤에도 승인 · 거절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질문: 묻고, 답을 받아, 이어서 처리한다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정보를 도구로 확인할 수 없으면 질문하고, 답을 받은 뒤 같은 대화의 문맥으로 재개한다.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조회할 대상 설비가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요청에 없고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도구로도 정할 수 없다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묻고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「조회할 대상 설비를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선택해 주세요.」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선택지: HYD-02, HYD-03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「HYD-02」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질문에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한 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재실행하여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DB를 조회하고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HYD-02의 결과를 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정보의 답은 승인이나 도구 권한을 대신하지 않으며, 실제 권한은 시스템이 별도로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설비, 수량, 사유처럼 요청에서 빠진 업무 정보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연결된 도구로 조회해도 확인할 수 없는 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그 값을 채우는 입력이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도구로 읽을 수 있는 값은 묻지 않고 조회한다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「도구 접근 거절이나 설비 조치 승인 우회에는 쓰지 마세요」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「답변은 실행 권한을 바꾸지 않습니다」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끝나지 않는 작업을 사람이 끝낸다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멈춘 작업은 기록과 사유를 확인해 닫으며, 정상 결과가 없다는 사실과 아무 행동도 없었다는 판단을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stop" descr="player-sto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645664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작업이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 초과(실행 1,800초 · 형식 교정 2회)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실행 실패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 미제출 상태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645664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어디까지 진행했는가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멈췄는가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기록에서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pencil" descr="penc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645664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닫은 사람 · 사유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작업은 취소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중인 작업은 제외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645664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열린 일이 없을 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「사람이 닫음」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구분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「보류」가 가리키는 세 가지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기다림과 멈춤은 원인이 다르므로, 상태와 사유를 읽고 지원되는 처리 경로를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미룬 쪽과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승인도 거절도 하지 않았다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보류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않고 멈췄다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확인해 재처리하거나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정보가 없어 묻고 기다린다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답한다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수 있는 사람, 승인이 남기는 기록, 자동 검사와 사람의 승인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역할과 등급: 승인할 수 있는 사람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실제 역할 구성원인지와 지정 역할 또는 더 높은 등급인지를 검사하며, 같은 등급의 다른 역할은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id" descr="i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1838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조치마다 승인 역할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운전: 운전원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세척: 설비보전팀장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1838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역할의 등급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1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생산관리자 · 설비보전팀장 · 구매팀장 · 품질팀장 2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공장장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934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934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647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1838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 검사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승인하는 사람이 내세운 역할의 구성원인가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역할이 승인 역할이거나 더 높은 등급인가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writing-sign" descr="writing-sig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1838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회사의 결재선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닮은 점: 일마다 결재할 자리가 정해져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점: 규칙은 지식 그래프에 있고 시스템이 검사한다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기록: 승인하는 순간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기록은 결정의 책임을 남기는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이어서, 승인한 사람과 역할은 시스템만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정해진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받은 시스템이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출력으로는 채울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고른 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안의 사본과 함께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그대로인지 대신 골랐는지가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시각과 기다린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접수된 때와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요청부터 기다린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순간 다시 확인한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때의 값이 아니라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때 다시 읽은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원격 자동, 운전 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재확인: 지금도 실행할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실행 전 현재 근거와 규칙을 다시 확인하며, 실행 조건이나 동의한 내용이 달라졌으면 멈춘다.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5229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고른 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역할을 받는다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efresh" descr="refres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52293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유온, 운전 모드,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값을 다시 읽는다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list" descr="checklis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52293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 다시 대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안이 지금도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규칙에 걸리지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갖춰졌는가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6931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52293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넘기거나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통과하면 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작업지시로 넘긴다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중요한 조건이 달라졌으면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판단과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요구한다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자동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정한 경계를 확인하는 장치이며, 여기서는 HYD 추천안의 코드 기반 규칙 검사를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이 검사는 모델의 의견 대신 코드의 규칙을 적용한다.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검사하는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역할 · 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고른 규칙의 인용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참고용 절차의 섞임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추천의 제외 규칙 위반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역할과 SOP 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어겼을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추천안은 제출되지 않아 승인 화면에 올라가지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가드레일의 통과, AI의 검토,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검사와 AI의 의견은 사람의 승인이 아니며, 승인한 조치도 실행 전 현재 조건을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두관문.svg" descr="illust_467436756186037901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018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3904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1233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자동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7684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8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75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5967" y="399135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9467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어긴 추천안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51" y="536231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거절한 추천안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290" y="4842296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자기 검토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에이전트의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거절이 처리 결과를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바꾸는 과정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대기 건의 결정과 결과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이력에서 결정이 바꾼 것을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건과 내 작업함에서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역할과 추천 근거를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 건의 승인 역할과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말할 수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사례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승인 사례와 거절 사례의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결과를 나란히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작업지시의 유무와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모양의 차이를 설명함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결정을 기다리는 상태와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뒤 끝난 상태를 가른다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상태를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기록에서 짚음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없는 추천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승인하지 않은 추천안이 명령이나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처리로 이어졌는지 실행 이력을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· 업무 처리가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없음을 확인함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정보가 부족하면 질문하고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처리하는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처리 시작본이 조회로 정할 수 없는 정보만 묻고, 답을 같은 요청에 이어 다시 판단하게 만든다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재처리의 전후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확인할 수 있는 값은 먼저 조회하고 빠지거나 어긋난 정보만 물은 뒤, 답을 같은 요청에 이어 다시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요청과 센서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빠졌거나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어긋난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먼저, 질문은 그다음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자료로 찾을 수 있는 값은 조회하고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정할 수 없는 정보만 묻게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무엇이 왜 필요한지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드러남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요청으로 재개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같은 요청 번호에 이어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판단을 다시 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요청의 답이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섞이지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 전후의 근거 · 미확인 · 상태를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놓고 대조한다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답에 섞인 승인은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받지 않음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제안과 검토를 나누어 맡는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프로젝트에서 작성 역할의 초안을 검토 역할이 원자료와 대조하고, 사람의 승인과 따로 남긴다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초안 · 검토 의견 · 수정본과 승인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작성과 검토를 나누되 검토 의견을 원자료와 대조하고, 수정을 끝낼 조건과 사람의 최종 승인은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요청에 대한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초안을 만든다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원자료와 대조해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누락 · 불일치 ·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추정을 짚는다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근거가 붙은 검토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지적에 따라 고치고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확인을 기록한다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수정본과 남은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029200"/>
            <a:ext cx="11018520" cy="11430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85232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조건과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53949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수정을 끝낼 조건을 정하고, 두 AI의 동의와 사람의 최종 승인을 다른 항목에 남긴다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5285232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동의가 승인으로 읽히지 않음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잘 동작하는 에이전트에 한 문장의 새 요구가 붙을 때 흔들릴 수 있는 자리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 동작하는 에이전트에 붙은 새 요구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문장으로 온 변경 요청에는 바뀌면 안 되는 것이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86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2860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4538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긴급한지 정하지 않았다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837" y="44538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바꾸어 빠르게 할지는 맡겨져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1416" y="4453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건드리면 안 되는 것은 언급이 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코딩: 자연어 요청으로 구현을 맡기는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바이브 코딩의 다양한 쓰임 중, 여기서는 명세와 체계적 검토 없이 요청과 실행 결과로 고치는 경우를 살펴본다.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명세와 체계적인 검토가 생략된 경우를 다룬다.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 없는 부분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채운다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출력의 형식, 예외의 처리, 기존 기능의 보존처럼 요청에 적지 않은 것은 AI가 추정해 채울 수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시스템에 붙일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것이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결과를 읽는 쪽과 지켜야 할 규칙이 있어, AI가 채운 빈자리가 그것과 어긋날 수 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문장의 세 가지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「빨리 처리」 한마디는 출력 형식, 승인 조건, 기존 요청의 처리 가운데 어느 것을 바꾸라는 뜻으로도 읽힌다.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세해석.svg" descr="illust_594292676259369518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100" y="1911278"/>
            <a:ext cx="272737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958553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형식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표시의 추가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항목의 이름과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2227" y="3565885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대기의 생략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17321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요청의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긴급하지 않은 경보의 결과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항목을 이름으로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이름은 형식 검사 · 사건 기록 · 승인 화면의 약속이므로, 변경할 때 소비자를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566096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081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races" descr="brac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330181"/>
            <a:ext cx="618134" cy="6181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객체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1" name="Chevron 10"/>
          <p:cNvSpPr/>
          <p:nvPr/>
        </p:nvSpPr>
        <p:spPr>
          <a:xfrm>
            <a:off x="5976975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14685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330181"/>
            <a:ext cx="618134" cy="6181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3683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이름의 항목이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본다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8750579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88289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330181"/>
            <a:ext cx="618134" cy="6181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87287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가이드 카드를 실어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조치의 범위로 쓴다</a:t>
            </a:r>
          </a:p>
        </p:txBody>
      </p:sp>
      <p:sp>
        <p:nvSpPr>
          <p:cNvPr id="19" name="Oval 18"/>
          <p:cNvSpPr/>
          <p:nvPr/>
        </p:nvSpPr>
        <p:spPr>
          <a:xfrm>
            <a:off x="9661893" y="3044888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evice-desktop" descr="device-desk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330181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0891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번호로 판단을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보인다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뒤에 새 기능만 실행해 보는 확인으로는 기존 요청과 승인 조건이 달라졌는지가 드러나지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긴급한 경보 한 건을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나오고 긴급하다는 표시도 보인다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요청한 기능은 된 것으로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긴급하지 않은 경보의 결과 항목이 이전과 같은가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여전히 승인을 기다리는가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하지 않기로 한 일을 여전히 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만들고 무엇을 지킬지를 구현 전에 정해 두는 개발 방식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SDD(Spec-Driven Development)와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SDD는 무엇을 만들고 지킬지 명세로 정하고 구현과 검증의 기준으로 삼으며, 세부 문서 형식은 도구마다 다를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요구사항, 입력과 출력의 계약, 금지 조건, 수용 기준을 구현 전에 명세로 정하는 개발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구현과 확인은 그 명세를 기준으로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만들 것이 무엇을 받아 무엇을 내고 무엇을 하지 않는지를 적은 문서이다.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사람과 AI가 같은 문서를 기준으로 삼는다.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수업은 spec.md를 코드와 함께 관리한다. 파일 이름 자체가 공통 표준은 아니다.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요청에서 코드까지의 순서: 바이브 코딩과 SDD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사용 여부보다 명세를 검토하고 변경과 검증의 기준으로 유지하는지가 두 작업 방식의 차이를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생략한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한 문장을 그대로 AI에게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해석은 AI가 그때그때 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실행해 보고 마음에 들지 않으면 다시 요청한다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기능의 기준을 기록하지 않으면 놓치기 쉽다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코드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요청을 받으면 명세부터 고친다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AI의 초안도 사람이 검토해 요구를 확정한다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AI는 명세를 기준으로 구현한다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달라지는 것과 지킬 것이 문서로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명세 → 코드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적는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명세에는 요구사항, 입력 · 출력 계약, 금지 조건, 수용 기준을 함께 적어 해석과 확인의 기준을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pic>
        <p:nvPicPr>
          <p:cNvPr id="6" name="삽화:명세문서.svg" descr="illust_323733945554860361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224220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할 일과 이번에 달라지는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97495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77862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460592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요구가 더해져도 하지 않을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545686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 되었다고 볼 조건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에이전트에 실제로 있는 계약과 금지 조건, 승인 단계가 지키는 수용 기준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주는 쪽과 받는 쪽이 지키는 항목과 형식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계약은 주고받는 항목의 이름 · 형식 · 뜻과 처리 조건을 정하며, 소비자를 깨는 변경은 함께 조율해야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계약.svg" descr="illust_834537226113645015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입력을 주는 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266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1277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0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32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화면과 뒤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266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설비, 경보, 사건 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1340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원인, 추천, 판단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758" y="559868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계약(Contract)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계약 · 출력 계약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계약의 실제: 쿨러 성능 저하 경보의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입력 예는 대상과 사건을 지정하고 변하는 값은 도구로 조회하며, 앞 승인 기록과는 다른 실행이다.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"alertId": "ALT-hyd01-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설비의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번호와 경보의 유형을 담는다.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incident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경보가 속한 사건의 번호이다.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세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같은 값은 입력에 없으며 에이전트가 도구로 읽는다.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계약: 항목마다 정하는 이름, 형식,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뜻을 함께 지키고 소비자의 허용 범위를 확인해야 하며, 새 항목의 추가도 호환성 검증이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형식과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cause:cooler-fin-fouling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진단한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fm:cooler-performance-loss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결과의 가이드 카드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사건 기록에 실려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조치의 범위가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recommended · explanation · order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추천: skill:sop-cool-11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조치, 설명,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후보의 순서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제출하고 받은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판단을 가리키는 번호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작업 규칙의 「절대 금지」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지침의 금지 조건은 실제 도구 권한과 승인 경로의 검사로 뒷받침해야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승인하기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스키마·규칙·스킬의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Neo4j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hyd-dmn.submit_decision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선택할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승인이나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명령, 업무 조치의 실행, 승인의 대행을 금지한다.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스키마와 규칙, 스킬을 고치지 못하게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제출은 고를 안을 올리는 일이며 승인도 실행도 아님을 못 박는다.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요구사항은 늘어나고 금지 조건은 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기능 추가에서 유지할 금지 조건을 따로 적고 검사하며, 정책 자체의 변경은 별도의 검토로 다룬다.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details" descr="list-detai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해야 할 일을 적는다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요청이 올 때마다 줄이 늘어난다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원인을 가리고 조치 후보를 견주어 추천안을 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긴급한 경보에는 긴급 여부를 함께 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orbid" descr="forb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요구가 더해져도 하지 않을 일을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기능 추가에서는 유지한다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사람이 승인하기 전에는 어떤 조치도 실행하지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생략이 명세 위반인지 가르고 실제 검사로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다 되었는지를 가르는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구현이 끝났는지를 참과 거짓으로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요구를 채웠다고 받아들이는 조건이다.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보고 참인지 거짓인지를 가를 수 있는 문장으로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적는 내용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상황과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상황에서 어떤 결과가 나와야 하는지를 한 문장에 하나씩 적는다.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전과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전에는 무엇을 만들지의 기준이 되고, 구현 뒤에는 다 되었는지를 확인하는 항목이 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문장과 판정할 수 없는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「잘 처리된다」 같은 문장은 실행해 보아도 맞았는지 가릴 수 없어, 상황과 기대 결과를 적은 문장으로 바꾸어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없는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「거절이 잘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경보가 빨리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실행한 사람마다 판정이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「거절하면 설비 명령이 0건이다」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경보의 추천안도 승인 대기 상태가 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입력과 조건에서 같은 항목을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또는 거짓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지키는 수용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자동 시험은 준비한 입력과 실행 대역에서 승인 · 거절 · 지연의 기대 결과를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확인되어야 하는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있는 승인 / 실행 조건 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사람과 역할이 기록되고 처리 건이 끝까지 처리된다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명령과 업무 처리가 0건이고 처리 건은 반려로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요청이 받아들여지지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· 권한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응답하지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알림만 나가고 처리 건은 계속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 승인한다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통과하면 정상 처리된다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늦은 승인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요청을 명세로 다시 쓰고, 명세대로 구현한 뒤 두 요청을 함께 확인한다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다시 쓴 변경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여부 표시를 추가하는 교육용 예시이며, 실제 처리 시간을 줄이는 요구는 별도로 정의해야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개선은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뜻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urgent: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소비자의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자료에서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의미와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긴급한가: 잴 때 · 구간 · 수치로 정했다. 교육용은 120초 평균 60 ℃ 이상, 실제 경고는 60 ℃ 초과다.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기존 의미는 유지하고 항목 하나를 더한다. 소비자의 허용 범위를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건너뛰는가: 건너뛰지 않고, 모르는 값을 짐작하지도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고정한 입력 · 조회 자료로 기존 동작과 긴급 여부, 보류를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 문서로 삼는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 구현을 맡길 때 명세를 함께 주면, 결과가 어긋났을 때 구현과 명세 가운데 고칠 쪽을 가릴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4158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달라지는 것과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 적는다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4158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함께 주고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AI가 코드를 고친다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28796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4158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기준마다 실행해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참과 거짓을 가린다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41587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어긋난 곳을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빠진 것이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실행되는 검사로 옮긴 두 가지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기대 결과 비교와 규칙 글 보존 검사는 서로 다른 대상을 확인하며, 변경 뒤 실제로 실행해야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mera" descr="camer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결과의 저장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경보에 대한 추천안의 기대 결과를 저장해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뒤의 결과를 저장한 것과 견준다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일부러 바꿀 때에만 근거와 함께 갱신한다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출력의 보존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 에이전트의 작업 규칙을 고정해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글자라도 달라지면 검사가 실패한다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글의 보존을 확인하며 실제 준수 검사는 별도다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보존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뒤의 확인: 기존 요청과 새 요청을 함께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· 긴급 · 누락 사례를 같은 입력과 조회 자료로 확인하고, 실행마다 바뀌는 번호 · 시각은 비교 규칙을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story" descr="hist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648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긴급하지 않은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기존 의미 · 동작 유지, urgent=false, 승인 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112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rgent" descr="urgen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6486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판단 때 TS1 120초 평균이 60 ℃ 이상인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urgent=true이고 승인 대기가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42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42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달라져야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stop" descr="player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6486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값이 없는 경우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필수 값을 읽지 못한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결과를 채우지 않고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모호한 요청으로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추가했을 때의 변화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 긴급 표시 요구를 한두 문장으로 전하고, 기존 계약과 견주어 실제 차이를 기록한다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두 버전의 출력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모호한 요청으로 더한 뒤, 일반 요청 · 정보 누락 · 승인 경계가 기존 계약대로인지 두 버전에서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고치기 전 버전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요청과 정보가 빠진 요청을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출력을 남겨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비교의 기준이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모호한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요구를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한두 문장의 요청으로 AI에 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코드와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계약과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입력으로 두 버전을 실행해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승인 경계를 견준다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유지된 것과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달라진 것의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차이가 없을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실패를 만들지 않고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버전의 동작을 그대로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있는 그대로의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명세를 갱신해 기존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유지하며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요청의 spec.md에 지킬 것과 달라질 것을 적고, 명세대로 고쳐 세 입력을 다시 실행한다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spec.md 갱신과 세 입력의 재실행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spec.md에 조건 · 경계값 · 보류 · 승인 규칙을 적고 구현한 뒤, 세 입력의 결과를 명세와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조건, 누락 시 보류,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없이 확정 금지, 출력 형식,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수용 기준을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지킬 것과 달라질 것이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문서에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 교육용 조건의 시간 구간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경계값을 적고 구현한다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코드의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경계값이 같음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입력의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결과를 명세와 대조한다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수용 기준마다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판정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기능과 보존된 기능을 정리하고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사례를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 견줄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사례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결정의 자리와 바뀐 요구의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결정, 에이전트의 멈춤, 자동 검사, 계약의 변경, 변경의 확인은 서로 다른 판단이며 각각 확인할 근거가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올라온 지 10분이 지나도록 결정이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대기인가,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멈춤인가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 나가고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작업은 열린 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대상 설비를 묻고 멈췄다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빠진 값만 채우고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승인 단계에서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추천안이 가드레일을 통과했다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올려도 되는가,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실행해도 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결정 기록과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전 현재 조건 검사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표시를 넣으며 추천 항목의 이름을 바꾸려 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계약을 넓히는가,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깨는가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계약의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긴급 경보 한 건만 실행해 보았다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기능의 확인인가,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기능의 확인인가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· 긴급 · 보류 요청의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결정과 명세에 관한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지키도록 확인하는 장치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고치는 방식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명세를 정하고 그 명세로 구현과 확인을 하는 개발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받아 무엇을 내고 무엇을 하지 않는지 적은 문서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 · 형식 · 뜻과 처리 조건의 약속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끝났는지를 참과 거짓으로 가를 수 있게 적은 조건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조치를 실행해도 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가드레일을 통과했고, 검토를 맡은 다른 에이전트도 근거와 수량에 빠진 것이 없다는 의견을 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중에서 사람이 실행을 허락했다는 결정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가드레일을 통과했다는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승인했다는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통과와 검토 의견이 모두 갖추어졌다는 사실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승인이 섞인 답변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요청에 빠진 부품 수량을 물었고, 담당자가 「10개. 급하니 승인한 것으로 하고 진행해」라고 답했다.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답을 받은 뒤의 올바른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승인할 뜻을 밝혔으므로 승인 단계를 건너뛰고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답에 승인이 섞였으므로 답을 버리고 수량을 짐작해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기록의 승인한 사람 칸에 담당자를 에이전트가 적어 넣는다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수량만 업무 정보로 받아 이어 가고, 승인은 승인 단계에서 받는다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수용 기준이 되는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 해 주세요」라는 요청을 명세로 옮기면서 수용 기준을 적으려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알맞은 문장은?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경보는 일반 경보보다 눈에 띄게 빨리 처리된다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경보의 추천안은 상황에 맞는 조치를 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 · 조회 자료에서 일반 경보의 기존 항목은 정한 기대값과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경보에서는 승인 절차가 알맞게 간소화된다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검토와 승인, 답변과 승인, 판정할 수 있는 문장과 없는 문장을 올바르게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통과는 자동 검사 결과이며, AI 검토는 의견이다. HYD의 실행 허락은 승인 기록으로 확인하고, 현재 조건도 다시 검사한다.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답변에서 받는 것은 업무 정보뿐이다. 답변은 승인이 되지 않고, 결정 기록은 승인을 받은 시스템만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조회 자료에서 정한 기대값과 대조해 판정한다. 나머지는 판정할 기준이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