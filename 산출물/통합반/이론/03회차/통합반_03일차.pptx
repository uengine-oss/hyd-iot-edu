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이상의 원인을 찾은 다음, 어떤 조치를 고를지를 다룹니다. 쿨러에 이상이 생겼습니다. 센서 값을 살펴보니 핀에 낀 오염 때문에 냉각이 잘 안 되는 상황입니다. 원인을 찾았으니까 이제 핀을 씻으면 될까요? 그런데 설비를 세우고 씻는 동안에는 생산이 멈춥니다. 당장 끝내야 할 주문이 있다면요? 먼저 온도부터 낮춰 놓고, 정비 시간은 따로 잡을 수도 있겠죠. 원인을 찾은 뒤에도 고를 게 남는 겁니다. 이 선택을 세 가지 물음으로 나눠서 따라가 보겠습니다. 이 조치를 어떻게 수행하는지, 지금 해도 되는지, 그리고 가능한 조치 가운데 뭐가 더 나은지예요.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있죠. 첫 번째 카드는 조치 절차입니다. 매뉴얼에서 절차를 이루는 요소를 찾아보고, 설비의 운전 상태에 따라 그 절차를 지금 쓸 수 있는지 가려 봅니다. 두 번째 카드는 판단 규칙이에요. 조건 문장을 결정표의 행으로 옮기고, 여러 행이 함께 맞았을 때 어떤 판정이 나오는지, 그 근거는 뭔지 설명할 수 있어야 합니다. 세 번째는 성과 평가고요. 목표와 지표의 실제값을 읽고, 남은 후보의 득실과 가정값을 바꿨을 때의 영향을 비교합니다. 마지막 카드는 실습에서 만들 결과물이에요. 절차 구조와 결정표 자료를 직접 만들고, 그 자료를 읽어서 판정하는 기능을 경계값이나 여러 규칙이 함께 맞는 경우까지 여러 입력으로 시험해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밟아 갈지, 목차로 볼게요. 위의 여덟 줄이 이론 단원이고, 마지막 줄이 실습 세 개예요. 여덟 단원은 크게 세 묶음으로 보시면 됩니다. 앞의 두 단원은 표준 작업 절차, SOP를 다룹니다. 조치를 어떤 순서와 조건으로 수행하는지 매뉴얼에서 읽고, 그 절차를 지식 그래프에 연결하는 데까지 가요. 가운데 세 단원은 판단 규칙의 표준인 DMN이에요. 매뉴얼의 조건 문장을, 어떤 경우에 어떤 답을 낼지 정한 결정표로 옮기고, 실제 값에 대어 판정해 보고, 여러 결정이 이어지는 흐름과 그 저장 구조까지 봅니다. 뒤의 세 단원은 성과를 여러 관점에서 보는 틀, BSC고요. 성과 목표와 지표를 정하고, 지표 사이의 영향을 따라간 다음, 쿨러 사건의 실제 후보를 견주고 가정을 바꿔서 다시 계산해 봅니다. 이 세 가지가 이어지면 추천의 이유를 말할 수 있게 됩니다. 매뉴얼에 있는 조치이고, 지금 조건에서 허용되고, 다른 후보보다 이런 점이 낫다, 이렇게요. 마지막 줄의 실습도 같은 흐름이에요. 조치 결과를 비교하고, 조치 기준을 만들고, 판단 기능을 만들어 시험합니다. 이번 시간에는 앞의 두 단원을 다룹니다. 첫 번째 물음, 조치를 어떻게 수행하는지를 매뉴얼의 절차로 읽고, 그 절차를 지식 그래프와 실행에 잇는 구조까지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작업 절차와 수행 조건입니다. 조치를 한다고 하면 보통 동작 하나를 떠올리죠. 그런데 그 안에는 순서와 확인이 같이 들어 있어요. 팬을 올리기 전에는 뭘 확인해야 할까요? 올린 뒤에는 뭘 보고 작업이 끝났다고 판단할까요? 그리고 같은 조치를 지금 해도 되는지는 뭐가 정할까요?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 쓰는 온도 기준은 이 수업 설비의 설정값입니다.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이 남은 압력, 곧 잔압을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세로로 긴 세 칸이 운전 모드예요. 첫 칸, 원격 자동 상태에서는 상위 시스템이 보내는 명령을 받습니다. 승인된 조치를 명령으로 만들어 내려보내는 위쪽 계층의 시스템 말이에요. 쿨러 사건 당시가 이 상태였어요. 그래서 이 칸 아래, 원격 제어 후보 줄에 체크가 있죠. 팬 속도나 펌프 부하를 바꾸는 세 후보가 다 남습니다. 가운데 칸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이 칸 아래의 가위표가 그 표시예요. 오른쪽 칸 현장 제어도 현장 패널의 조작을 따르니까, 원격 제어 후보는 빠지고요. 왼쪽 아래 원격 제어 후보의 절차 번호를 보면,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맨 아래 줄, 정비 작업지시를 등록하는 후보는 세 칸 모두 체크예요.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두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 상자의 위쪽은 매뉴얼 원문이고, 아래쪽은 그걸 노드와 관계로 옮긴 모습이에요. 지난 회차에 설비를 클래스와 인스턴스, 관계로 옮겼던 것과 같은 방식입니다. 팬 최대 운전이라는 절차 한 편을 조치 방법 하나로 만들고, 번호 붙은 작업은 각각 단계로 나눴습니다. 아래쪽 첫 줄을 보세요. 조치 방법을 담는 클래스가 Skill입니다. 이 모델에서는 SOP라는 클래스를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예에 적힌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줄마다 오른쪽 맨 아래,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세 줄에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왼쪽 이름 아래 작은 글씨로 적힌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 그러니까 정해 둔 정비 때가 다가왔다는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승인하기 전후의 그래프예요. 화면 왼쪽 위 그래프에서 조치 승인 선의 오른쪽을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앞에서 근본 조치는 원인마다 맞는 것이 다르다고 했죠. 그래서 특정 원인에만 맞는 조치, 곧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그래프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 엔진이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다음 시간에는 두 번째 물음으로 넘어가겠습니다. 매뉴얼에 문장으로 흩어진 조건을 결정표로 옮기고, 그때의 값에 대어 지금 해도 되는지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회차의 두 번째 물음, 이 조치를 지금 해도 되는지를 다룹니다. 지난 시간에는 조치를 어떤 절차로 수행하는지를 매뉴얼에서 읽고 지식 그래프에 이었죠. 이번에는 매뉴얼의 조건 문장을 결정표로 바꾸고, 실제 값에 대어 판정해 보고, 여러 판단이 이어지는 흐름과 그 저장 구조까지 봅니다. 먼저 세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출력은 조건이 맞을 때 내는 답, 여기서는 제외예요.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줄마다 오른쪽 가운데에는 쿨러 사건 당시의 값도 같이 적혀 있어요. 모드는 원격 자동이었고, 팬 최대 운전을 했을 때의 예측 유온은 화면에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유온 자리에 현재 온도를 넣을 수도 있겠죠. 둘째 줄의 영 시간도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왼쪽 상자 맨 위에 있죠. 후보 가운데 규정상 쓸 수 없거나 감점할 것은 무엇인가. 이 물음이 결정이에요. 후보가 규정에 맞는지를 따지니까, 이 결정을 규정 적합성이라고 부릅니다. 그 물음에 답하는 규칙들을 모은 게 결정표고, 표의 한 행이 규칙입니다. 매뉴얼의 조건 문장 하나가 규칙 한 행이 되고, 화살표 앞의 조건과 화살표 뒤의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운전했다고 가정합니다.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읽어 판정을 계산해 주는 프로그램, 곧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 그러니까 비교 방법을 나타내는 부호들입니다.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위쪽은 예측 유온이 55도 이상이면 경고하는 조건이고, 아래쪽은 팬의 연속 운전이 24시간을 넘으면 감점하는 조건입니다. 기준값과 딱 같을 때도 조건에 맞을까요? 축마다 위에 그린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왼쪽 상자 맨 위의 예를 보면, 가운데 값은 양쪽 검사를 다 통과하죠. 범위 아래 값은 하한 검사를, 범위 위 값은 상한 검사를 통과하지 못합니다.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칸에는 출력마다 그 출력을 내는 결정표도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네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왼쪽 상자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앞에서 본 규정 적합성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막대 사이 빈칸에 드는 값을 넣으면, 축 아래 가위표처럼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이렇게 서로 다른 답이 부딪치는 상충을 검토해야 합니다. 그렇다고 무조건 표가 틀렸다고 결론 내리지는 않아요. 왼쪽 중복과 상충 아래 작은 글씨를 보면, 겹침을 금지하는 Unique 표라면 겹침 자체가 오류지만, Collect 표라면 여러 결과를 모으려고 일부러 그렇게 만든 것일 수 있죠. 표의 목적과 정책을 같이 봐야 합니다. 그래서 아래 띠처럼,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성과 지표는 회사가 성과를 재는 항목인데, 여기서는 정비에 드는 비용입니다.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그 원문을 바로 찾아볼 수 있습니다.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원격 자동인데,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다섯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증거마다 얼마나 무겁게 볼지 정해 둔 값, 곧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됐습니다.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왼쪽 칸이 DMN 표준, 오른쪽 칸이 HYD에서의 표현입니다. 두 칸의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OR의 뜻은 행을 둘로 나눠서 적었죠. 결정표 모양을 갖췄다고 표준 언어의 모든 표현을 그대로 실행하는 건 아니라는 거예요. 셋째 줄 실행 주체는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마지막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Collect인데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왼쪽 아래 결정표에서 출발해 볼게요. 왼쪽 위가 이 표가 답하는 결정이고, 결정표에서 오른쪽으로 이어진 가운데 진한 원이 표에 들어 있는 규칙이에요. 규칙은 오른쪽 아래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다음 시간에는 세 번째 물음으로 넘어가겠습니다. 성과를 여러 관점에서 보는 BSC와 그 목표를 재는 KPI로, 후보를 견줄 기준부터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세 번째 물음, 규칙을 통과한 후보 가운데 무엇이 더 나은지를 다룹니다. 지난 시간에는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세 실습의 목표와 결과물도 살펴봅니다. 먼저 여섯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화면 위쪽의 BSC 정의는 성과를 네 관점에서 함께 보는 틀이에요. 네 카드가 각각의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무재해 운전, 그러니까 사고 없이 안전하게 운전하는 것도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위쪽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계산 결과의 단위는 온도 차이고, 여유가 클수록 좋아요. 반대로 비용 같은 지표는 작을수록 좋죠. 숫자가 커졌다는 것만으로 성과가 좋아졌다고 판단하지 않도록, 방향을 정의해 두는 겁니다. 기준선 오른쪽의 목표값은 도달하려는 수준이에요. 목표 여유가 기간 최고 유온 55도 이하에 해당한다고 적혀 있죠. 그러니까 목표를 채웠다는 건, 그 기간에 유온이 한 번도 55도를 넘지 않았다는 뜻과 같습니다. 목표 왼쪽의 경고와 위험 기준은 주의할 수준을 나눠요. 경고는 한계까지 여유가 5도로 줄었을 때, 위험은 여유가 다 없어져 한계에 닿았을 때입니다. 목표에 못 미친 상태와 한계에 닿은 상태는 다르죠. 아래쪽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왼쪽 칸 인터록 여유부터 볼게요. 한계에서 가장 높았던 유온을 빼니까 약 2.5도밖에 안 남았습니다. 목표로 잡은 여유의 4분의 1쯤이에요. 계속 운전은 했지만, 가장 뜨거웠을 때는 한계에 꽤 가까웠다는 뜻이죠. 목표 10도 옆에는 얼마나 모자랐는지와 달성률도 같이 나와 있습니다. 오른쪽 칸 가동률은 관측한 시간 가운데 보호 정지 없이 가동한 시간의 비율을 계산해요. 이 기록에서는 보호 정지가 없었으니 목표를 달성했습니다. 그런데 멈추지 않았다는 결과가, 온도 여유까지 충분했다는 뜻은 아니에요. 실적을 비교할 때는 기간도 맞춰야 합니다. 두 칸은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왼쪽 그래프의 막대 셋이 같은 하루에 얻은 세 설비의 여유예요. 이 셋을 서로 다르게 모은 결과가 오른쪽 첫째 점의 평균과 둘째 점의 최솟값입니다. 평균은 다 더해서 대상 수로 나누죠. 세 설비를 함께 보면 여유가 대략 어느 수준인지 보여 줍니다. 계산하면 약 11도로, 그래프에서도 평균 점선이 목표 10도 점선을 넘어요. 평균만 보면 달성이라고 말하게 되는 거죠. 그런데 맨 위 파란 막대를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오른쪽 셋째 점처럼,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왼쪽 카드를 보세요. 인터록 여유는 한계와 최고 유온이 있어서, 가동률은 관측 시간과 보호 정지 기록이 있어서 계산됐습니다. 가운데 카드는 달라요. 매출을 계산할 장부, 곧 판매 원장이나, 납기 준수율을 계산할 완료와 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오른쪽 카드에는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일곱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지표 이름 아래에는 실시간, 주, 월 같은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선 옆에 적힌 high와 medium이 강도, 곧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마지막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바로 앞에서 본 영향 관계고요.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이 식은 생산 속도를 낮추는 감산과 작업 정지의 영향을 단순히 더합니다. 두 영향이 겹치는 시간이나 실제 야간 정비 시점을 따로 계산하지는 않아요.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왼쪽 그래프의 막대가 후보마다 조치 뒤의 예측 유온이고, 막대 위에 순위가 적혀 있어요. 예측 유온이 가장 낮은 조치가 1순위인지, 먼저 한번 찾아보세요. 예측 유온이 가장 낮은 건 셋째 막대, 팬을 올리고 부하를 낮추는 조치예요. 그런데 순위는 공동 2순위죠. 1순위는 팬만 최대로 돌려서 생산을 유지하는 조치입니다. 냉각 효과 하나만으로 순서를 매긴 게 아니라는 뜻이에요. 부하를 줄이는 두 후보는 오른쪽 둘째 점처럼 같은 점수로 그 뒤를 잇습니다. 그래서 공동 2순위로 읽어요. 그래프에서 어느 막대가 위에 있느냐가 두 후보 사이의 우열을 뜻하지는 않습니다. 맨 아래 막대 핀 세척은 원인을 없애는 조치인데, 왜 예측 온도가 높을까요? 이 시점에 시스템이 하는 동작은 정비 작업지시를 등록하는 거예요. 계산에 쓰인 제어 상태가 바로 바뀌거나 세척이 끝난 게 아니죠. 그래서 예측 유온이 55도 점선을 넘어 경고가 붙고, 4순위가 됐습니다. 이 예측을 ‘핀 세척을 마쳤는데도 냉각이 안 된다’로 읽으면 안 돼요. 오른쪽 마지막 점은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같은 고장 유형에서 사람이 이 조치를 골랐던 비율을 반영합니다. 납기는 얼마나 급한 주문인지, 그리고 생산을 유지하는지, 줄이는지, 멈추는지를 같이 보고요. 마지막 품질은 예측 유온이 높고 고온 로트가 있는 상황에서의 위험을 반영합니다. 고온 로트는 유온이 높을 때 만들어져 출하를 기다리는 제품 묶음이에요.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왼쪽 상자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기준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 엔진이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첫 카드의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카드의 납기나 감점 기준, 관점 중요도는 후보의 득실에 영향을 줄 수 있고요. 셋째 카드의 KPI 목표를 바꿀 때는 실제값이 바뀌는 건지, 달성 판정만 바뀌는 건지도 구분해 보세요. 남길 것은 마지막 카드의 비교 기록입니다. 원래 입력과 바꾼 조건, 결과, 그리고 근거가 된 규칙이나 점수 성분을 적어요. 바꾼 값에는 시간, 퍼센트, 원 같은 단위도 같이 적어 두세요. 셋째 카드의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카드마다 맨 아래에 성공 기준이 있습니다. 바꾼 조건과 달라진 결과를 규칙이나 성분으로 이을 수 있고, 집계 방식을 고른 이유가 계산과 맞으면 됩니다. 첫 실습에서는 이렇게 만들어진 판단을 비교해 볼 겁니다. 이어지는 두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55~56장 통합 발화는 55장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작업 절차와 판단 조건을 연결해 조치 기준을 만드는 활동입니다. 첫 실습에서 비교할 결과 뒤에는 절차와 규칙이 들어 있죠. 그 판단의 재료를 직접 만들어 보는 겁니다. 이론에서 SOP가 조치 방법과 단계로, 조건 문장이 결정표의 행으로 옮겨지는 걸 봤는데, 이제 매뉴얼 문장을 직접 읽고 수행 단계와 조건을 나눈 다음 설비 모델에 연결할 자료로 만드는 거예요. 첫 단계의 입력은 설비 모델과, 작업 조건이 정리된 실습용 SOP 자료입니다. 먼저 어떤 대상을 다시 쓰고, 어떤 절차를 새로 연결할지 확인하세요. 같은 설비나 고장 유형을 다른 이름으로 또 만들지 않도록 기존 식별자를 씁니다. 원문 문서에서 지식을 자동으로 뽑아내는 일은 이 실습의 범위가 아니에요. 자료는 바이브 코딩으로 만들어요. 만들 내용을 말로 요청하고, 생성된 구조를 원문과 대조하면서 고칩니다. 절차 구조에서는 단계의 순서와 근거 문장은 남기고, 적용 조건과 금지 조건, 완료 기준은 따로 구분해요. 조건은 입력과 연산자, 기준값, 출력으로 옮기고요. 남는 것은 절차 구조와 결정표 자료 두 가지입니다. 단계마다 맨 아래 적힌 완성 기준은, 원문과 나란히 놓았을 때 맞아떨어지는 거예요. ‘이상’과 ‘초과’가 맞는지, 금지 조건이나 완료 기준이 빠지지 않았는지, 원문 문장 하나가 구조의 어디에 들어갔는지를 짚을 수 있어야 합니다. 원문에서 구조를 거쳐 판정 결과까지 이어서 설명할 수 있으면 목표를 이룬 거예요. 이렇게 만든 절차와 결정표 자료를 다음 실습의 판정 기능에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조건표를 읽어서, 설비 조건에 따라 조치를 판정하는 기능을 만듭니다. 조건표는 완성된 것이 함께 주어져요. 그래서 두 번째 실습을 다 끝내지 못했어도 같은 출발점에서 시작할 수 있습니다. 판정 결과는 경고, 감점, 제외, 그리고 값이 없어서 가릴 수 없는 정보 부족으로 나누고, 이유를 함께 돌려줍니다. 남은 후보는 수업용으로 정해 둔 계산식으로 비용, 생산, 품질, 에너지 손실을 견줘요. 이 비교값은 수업용 계산이라, 포털에서 본 성과 점수와는 다른 값입니다.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운전 모드처럼 꼭 있어야 할 값이 비어 있으면 정보 부족으로 알려 주는지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세 실습은 판단 결과를 비교하는 데서 시작해서, 그 판단의 기준을 만들고, 기준대로 동작하는지 시험하는 순서입니다. 판정에 쓴 조건이 매뉴얼 어디에서 왔는지는 다음 회차에 원문을 펼쳐 직접 확인할 거예요.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이번 회차를 마무리하는 복습으로 정리해 보겠습니다. 조치를 고를 때 쓴 네 가지 개념, SOP, DMN, BSC, What-if를 화면의 네 상황에 대어 보는 겁니다. 각 상황에 네 개념 가운데 무엇이 먼저 필요한지 골라 보세요. 각 카드에는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세 문제로 확인해 볼게요. 문제마다 뭘 먼저 검사해야 하는지 생각하고 답을 골라 보세요. 정답과 까닭은 세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이번 회차에서는 조치의 절차와 수행 조건을 확인하고, 가능한 후보의 득실을 비교했습니다. 그 판단을 설명하려면 절차와 규칙, 지표마다 근거가 필요했죠. 다음 회차에서는 판단의 근거가 되는 지식을 현장 매뉴얼과 작업 절차 문서에서 가져와 볼 거예요. 필요한 내용을 뽑아서 원문과 대조하고, 검토한 지식을 그래프에 넣는 인제스천 과정을 다룹니다.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0.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7.png"/><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7.png"/><Relationship Id="rId6" Type="http://schemas.openxmlformats.org/officeDocument/2006/relationships/image" Target="../media/image3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6.png"/><Relationship Id="rId6"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운전모드_후보.svg" descr="illust_412171711150368087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688859" y="1953825"/>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모드</a:t>
            </a:r>
          </a:p>
          <a:p>
            <a:pPr algn="ctr" eaLnBrk="0">
              <a:lnSpc>
                <a:spcPct val="110000"/>
              </a:lnSpc>
              <a:spcAft>
                <a:spcPts val="100"/>
              </a:spcAft>
            </a:pPr>
            <a:r>
              <a:rPr sz="1100" b="0">
                <a:solidFill>
                  <a:srgbClr val="556175"/>
                </a:solidFill>
                <a:latin typeface="맑은 고딕"/>
                <a:ea typeface="맑은 고딕"/>
                <a:cs typeface="맑은 고딕"/>
              </a:rPr>
              <a:t>plc_mode</a:t>
            </a:r>
          </a:p>
        </p:txBody>
      </p:sp>
      <p:sp>
        <p:nvSpPr>
          <p:cNvPr id="8" name="TextBox 7"/>
          <p:cNvSpPr txBox="1"/>
          <p:nvPr/>
        </p:nvSpPr>
        <p:spPr>
          <a:xfrm>
            <a:off x="4529508" y="2540029"/>
            <a:ext cx="1964560"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REMOTE_AUTO</a:t>
            </a:r>
          </a:p>
          <a:p>
            <a:pPr algn="ctr" eaLnBrk="0">
              <a:lnSpc>
                <a:spcPct val="110000"/>
              </a:lnSpc>
              <a:spcAft>
                <a:spcPts val="100"/>
              </a:spcAft>
            </a:pPr>
            <a:r>
              <a:rPr sz="1100" b="0">
                <a:solidFill>
                  <a:srgbClr val="556175"/>
                </a:solidFill>
                <a:latin typeface="맑은 고딕"/>
                <a:ea typeface="맑은 고딕"/>
                <a:cs typeface="맑은 고딕"/>
              </a:rPr>
              <a:t>원격 자동 · 쿨러 사건 당시</a:t>
            </a:r>
          </a:p>
        </p:txBody>
      </p:sp>
      <p:sp>
        <p:nvSpPr>
          <p:cNvPr id="9" name="TextBox 8"/>
          <p:cNvSpPr txBox="1"/>
          <p:nvPr/>
        </p:nvSpPr>
        <p:spPr>
          <a:xfrm>
            <a:off x="6855123" y="2540029"/>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REMOTE_MANUAL</a:t>
            </a:r>
          </a:p>
          <a:p>
            <a:pPr algn="ctr" eaLnBrk="0">
              <a:lnSpc>
                <a:spcPct val="110000"/>
              </a:lnSpc>
              <a:spcAft>
                <a:spcPts val="100"/>
              </a:spcAft>
            </a:pPr>
            <a:r>
              <a:rPr sz="1100" b="0">
                <a:solidFill>
                  <a:srgbClr val="556175"/>
                </a:solidFill>
                <a:latin typeface="맑은 고딕"/>
                <a:ea typeface="맑은 고딕"/>
                <a:cs typeface="맑은 고딕"/>
              </a:rPr>
              <a:t>원격 수동</a:t>
            </a:r>
          </a:p>
        </p:txBody>
      </p:sp>
      <p:sp>
        <p:nvSpPr>
          <p:cNvPr id="10" name="TextBox 9"/>
          <p:cNvSpPr txBox="1"/>
          <p:nvPr/>
        </p:nvSpPr>
        <p:spPr>
          <a:xfrm>
            <a:off x="9170119" y="2540029"/>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LOCAL</a:t>
            </a:r>
          </a:p>
          <a:p>
            <a:pPr algn="ctr" eaLnBrk="0">
              <a:lnSpc>
                <a:spcPct val="110000"/>
              </a:lnSpc>
              <a:spcAft>
                <a:spcPts val="100"/>
              </a:spcAft>
            </a:pPr>
            <a:r>
              <a:rPr sz="1100" b="0">
                <a:solidFill>
                  <a:srgbClr val="556175"/>
                </a:solidFill>
                <a:latin typeface="맑은 고딕"/>
                <a:ea typeface="맑은 고딕"/>
                <a:cs typeface="맑은 고딕"/>
              </a:rPr>
              <a:t>현장 제어</a:t>
            </a:r>
          </a:p>
        </p:txBody>
      </p:sp>
      <p:sp>
        <p:nvSpPr>
          <p:cNvPr id="11" name="TextBox 10"/>
          <p:cNvSpPr txBox="1"/>
          <p:nvPr/>
        </p:nvSpPr>
        <p:spPr>
          <a:xfrm>
            <a:off x="4529508"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상위 시스템</a:t>
            </a:r>
          </a:p>
          <a:p>
            <a:pPr algn="ctr" eaLnBrk="0">
              <a:lnSpc>
                <a:spcPct val="110000"/>
              </a:lnSpc>
              <a:spcAft>
                <a:spcPts val="100"/>
              </a:spcAft>
            </a:pPr>
            <a:r>
              <a:rPr sz="1100" b="0">
                <a:solidFill>
                  <a:srgbClr val="556175"/>
                </a:solidFill>
                <a:latin typeface="맑은 고딕"/>
                <a:ea typeface="맑은 고딕"/>
                <a:cs typeface="맑은 고딕"/>
              </a:rPr>
              <a:t>보낸 명령을 받는다</a:t>
            </a:r>
          </a:p>
        </p:txBody>
      </p:sp>
      <p:sp>
        <p:nvSpPr>
          <p:cNvPr id="12" name="TextBox 11"/>
          <p:cNvSpPr txBox="1"/>
          <p:nvPr/>
        </p:nvSpPr>
        <p:spPr>
          <a:xfrm>
            <a:off x="6855123"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화면</a:t>
            </a:r>
          </a:p>
          <a:p>
            <a:pPr algn="ctr" eaLnBrk="0">
              <a:lnSpc>
                <a:spcPct val="110000"/>
              </a:lnSpc>
              <a:spcAft>
                <a:spcPts val="100"/>
              </a:spcAft>
            </a:pPr>
            <a:r>
              <a:rPr sz="1100" b="0">
                <a:solidFill>
                  <a:srgbClr val="556175"/>
                </a:solidFill>
                <a:latin typeface="맑은 고딕"/>
                <a:ea typeface="맑은 고딕"/>
                <a:cs typeface="맑은 고딕"/>
              </a:rPr>
              <a:t>운전원이 수동으로 조작한다</a:t>
            </a:r>
          </a:p>
        </p:txBody>
      </p:sp>
      <p:sp>
        <p:nvSpPr>
          <p:cNvPr id="13" name="TextBox 12"/>
          <p:cNvSpPr txBox="1"/>
          <p:nvPr/>
        </p:nvSpPr>
        <p:spPr>
          <a:xfrm>
            <a:off x="9170119"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패널</a:t>
            </a:r>
          </a:p>
          <a:p>
            <a:pPr algn="ctr" eaLnBrk="0">
              <a:lnSpc>
                <a:spcPct val="110000"/>
              </a:lnSpc>
              <a:spcAft>
                <a:spcPts val="100"/>
              </a:spcAft>
            </a:pPr>
            <a:r>
              <a:rPr sz="1100" b="0">
                <a:solidFill>
                  <a:srgbClr val="556175"/>
                </a:solidFill>
                <a:latin typeface="맑은 고딕"/>
                <a:ea typeface="맑은 고딕"/>
                <a:cs typeface="맑은 고딕"/>
              </a:rPr>
              <a:t>작업자가 직접 제어한다</a:t>
            </a:r>
          </a:p>
        </p:txBody>
      </p:sp>
      <p:sp>
        <p:nvSpPr>
          <p:cNvPr id="14" name="TextBox 13"/>
          <p:cNvSpPr txBox="1"/>
          <p:nvPr/>
        </p:nvSpPr>
        <p:spPr>
          <a:xfrm>
            <a:off x="2219822" y="4691018"/>
            <a:ext cx="2123849"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제어 후보</a:t>
            </a:r>
          </a:p>
          <a:p>
            <a:pPr algn="ctr" eaLnBrk="0">
              <a:lnSpc>
                <a:spcPct val="110000"/>
              </a:lnSpc>
              <a:spcAft>
                <a:spcPts val="100"/>
              </a:spcAft>
            </a:pPr>
            <a:r>
              <a:rPr sz="1050" b="0">
                <a:solidFill>
                  <a:srgbClr val="556175"/>
                </a:solidFill>
                <a:latin typeface="맑은 고딕"/>
                <a:ea typeface="맑은 고딕"/>
                <a:cs typeface="맑은 고딕"/>
              </a:rPr>
              <a:t>SOP-COOL-11 · 12 · 13</a:t>
            </a:r>
          </a:p>
          <a:p>
            <a:pPr algn="ctr" eaLnBrk="0">
              <a:lnSpc>
                <a:spcPct val="110000"/>
              </a:lnSpc>
              <a:spcAft>
                <a:spcPts val="100"/>
              </a:spcAft>
            </a:pPr>
            <a:r>
              <a:rPr sz="1050" b="0">
                <a:solidFill>
                  <a:srgbClr val="556175"/>
                </a:solidFill>
                <a:latin typeface="맑은 고딕"/>
                <a:ea typeface="맑은 고딕"/>
                <a:cs typeface="맑은 고딕"/>
              </a:rPr>
              <a:t>팬 속도 · 펌프 부하 · HM-8.8</a:t>
            </a:r>
          </a:p>
        </p:txBody>
      </p:sp>
      <p:sp>
        <p:nvSpPr>
          <p:cNvPr id="15" name="TextBox 14"/>
          <p:cNvSpPr txBox="1"/>
          <p:nvPr/>
        </p:nvSpPr>
        <p:spPr>
          <a:xfrm>
            <a:off x="2219822" y="5532504"/>
            <a:ext cx="2123849"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작업지시 후보</a:t>
            </a:r>
          </a:p>
          <a:p>
            <a:pPr algn="ctr" eaLnBrk="0">
              <a:lnSpc>
                <a:spcPct val="110000"/>
              </a:lnSpc>
              <a:spcAft>
                <a:spcPts val="100"/>
              </a:spcAft>
            </a:pPr>
            <a:r>
              <a:rPr sz="1000" b="0">
                <a:solidFill>
                  <a:srgbClr val="556175"/>
                </a:solidFill>
                <a:latin typeface="맑은 고딕"/>
                <a:ea typeface="맑은 고딕"/>
                <a:cs typeface="맑은 고딕"/>
              </a:rPr>
              <a:t>SOP-COOL-14 · HM-8.7</a:t>
            </a:r>
          </a:p>
          <a:p>
            <a:pPr algn="ctr" eaLnBrk="0">
              <a:lnSpc>
                <a:spcPct val="110000"/>
              </a:lnSpc>
              <a:spcAft>
                <a:spcPts val="100"/>
              </a:spcAft>
            </a:pPr>
            <a:r>
              <a:rPr sz="1000" b="0">
                <a:solidFill>
                  <a:srgbClr val="556175"/>
                </a:solidFill>
                <a:latin typeface="맑은 고딕"/>
                <a:ea typeface="맑은 고딕"/>
                <a:cs typeface="맑은 고딕"/>
              </a:rPr>
              <a:t>세척은 정지 · LOCAL · 잠금 뒤</a:t>
            </a:r>
          </a:p>
        </p:txBody>
      </p:sp>
      <p:sp>
        <p:nvSpPr>
          <p:cNvPr id="16" name="TextBox 15"/>
          <p:cNvSpPr txBox="1"/>
          <p:nvPr/>
        </p:nvSpPr>
        <p:spPr>
          <a:xfrm>
            <a:off x="1657001" y="3192417"/>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후보에 남는다</a:t>
            </a:r>
          </a:p>
        </p:txBody>
      </p:sp>
      <p:sp>
        <p:nvSpPr>
          <p:cNvPr id="17" name="TextBox 16"/>
          <p:cNvSpPr txBox="1"/>
          <p:nvPr/>
        </p:nvSpPr>
        <p:spPr>
          <a:xfrm>
            <a:off x="1657001" y="3769165"/>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후보에서 빠진다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즉시 완화</a:t>
            </a:r>
          </a:p>
          <a:p>
            <a:pPr algn="l" eaLnBrk="0">
              <a:lnSpc>
                <a:spcPct val="110000"/>
              </a:lnSpc>
              <a:spcAft>
                <a:spcPts val="200"/>
              </a:spcAft>
            </a:pPr>
            <a:r>
              <a:rPr sz="1150" b="0">
                <a:solidFill>
                  <a:srgbClr val="556175"/>
                </a:solidFill>
                <a:latin typeface="맑은 고딕"/>
                <a:ea typeface="맑은 고딕"/>
                <a:cs typeface="맑은 고딕"/>
              </a:rPr>
              <a:t>MITIGATED_BY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영향을 지금 줄인다. 원인은 남는다</a:t>
            </a:r>
          </a:p>
          <a:p>
            <a:pPr algn="l" eaLnBrk="0">
              <a:lnSpc>
                <a:spcPct val="110000"/>
              </a:lnSpc>
              <a:spcAft>
                <a:spcPts val="300"/>
              </a:spcAft>
            </a:pPr>
            <a:r>
              <a:rPr sz="1400" b="0">
                <a:solidFill>
                  <a:srgbClr val="1F2A3A"/>
                </a:solidFill>
                <a:latin typeface="맑은 고딕"/>
                <a:ea typeface="맑은 고딕"/>
                <a:cs typeface="맑은 고딕"/>
              </a:rPr>
              <a:t>예: SOP-COOL-11 · 12 · 13, 팬 최대 운전 · 부하 조정</a:t>
            </a:r>
          </a:p>
          <a:p>
            <a:pPr algn="l" eaLnBrk="0">
              <a:lnSpc>
                <a:spcPct val="110000"/>
              </a:lnSpc>
              <a:spcAft>
                <a:spcPts val="300"/>
              </a:spcAft>
            </a:pPr>
            <a:r>
              <a:rPr sz="1400" b="0">
                <a:solidFill>
                  <a:srgbClr val="1F2A3A"/>
                </a:solidFill>
                <a:latin typeface="맑은 고딕"/>
                <a:ea typeface="맑은 고딕"/>
                <a:cs typeface="맑은 고딕"/>
              </a:rPr>
              <a:t>쓰이는 때: 경보 직후 · 설비 제어</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근본 조치</a:t>
            </a:r>
          </a:p>
          <a:p>
            <a:pPr algn="l" eaLnBrk="0">
              <a:lnSpc>
                <a:spcPct val="110000"/>
              </a:lnSpc>
              <a:spcAft>
                <a:spcPts val="200"/>
              </a:spcAft>
            </a:pPr>
            <a:r>
              <a:rPr sz="1150" b="0">
                <a:solidFill>
                  <a:srgbClr val="556175"/>
                </a:solidFill>
                <a:latin typeface="맑은 고딕"/>
                <a:ea typeface="맑은 고딕"/>
                <a:cs typeface="맑은 고딕"/>
              </a:rPr>
              <a:t>REMEDIED_BY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일으킨 원인을 없앤다. 원인마다 맞는 조치가 다르다</a:t>
            </a:r>
          </a:p>
          <a:p>
            <a:pPr algn="l" eaLnBrk="0">
              <a:lnSpc>
                <a:spcPct val="110000"/>
              </a:lnSpc>
              <a:spcAft>
                <a:spcPts val="300"/>
              </a:spcAft>
            </a:pPr>
            <a:r>
              <a:rPr sz="1400" b="0">
                <a:solidFill>
                  <a:srgbClr val="1F2A3A"/>
                </a:solidFill>
                <a:latin typeface="맑은 고딕"/>
                <a:ea typeface="맑은 고딕"/>
                <a:cs typeface="맑은 고딕"/>
              </a:rPr>
              <a:t>예: SOP-COOL-14 쿨러 핀 세척(핀 오염), SOP-COOL-15 환기 보강(주변 온도)</a:t>
            </a:r>
          </a:p>
          <a:p>
            <a:pPr algn="l" eaLnBrk="0">
              <a:lnSpc>
                <a:spcPct val="110000"/>
              </a:lnSpc>
              <a:spcAft>
                <a:spcPts val="300"/>
              </a:spcAft>
            </a:pPr>
            <a:r>
              <a:rPr sz="1400" b="0">
                <a:solidFill>
                  <a:srgbClr val="1F2A3A"/>
                </a:solidFill>
                <a:latin typeface="맑은 고딕"/>
                <a:ea typeface="맑은 고딕"/>
                <a:cs typeface="맑은 고딕"/>
              </a:rPr>
              <a:t>쓰이는 때: 정비 시간 · 작업지시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예방 조치</a:t>
            </a:r>
          </a:p>
          <a:p>
            <a:pPr algn="l" eaLnBrk="0">
              <a:lnSpc>
                <a:spcPct val="110000"/>
              </a:lnSpc>
              <a:spcAft>
                <a:spcPts val="200"/>
              </a:spcAft>
            </a:pPr>
            <a:r>
              <a:rPr sz="1150" b="0">
                <a:solidFill>
                  <a:srgbClr val="556175"/>
                </a:solidFill>
                <a:latin typeface="맑은 고딕"/>
                <a:ea typeface="맑은 고딕"/>
                <a:cs typeface="맑은 고딕"/>
              </a:rPr>
              <a:t>PREVENTED_BY</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spcAft>
                <a:spcPts val="300"/>
              </a:spcAft>
            </a:pPr>
            <a:r>
              <a:rPr sz="1400" b="0">
                <a:solidFill>
                  <a:srgbClr val="1F2A3A"/>
                </a:solidFill>
                <a:latin typeface="맑은 고딕"/>
                <a:ea typeface="맑은 고딕"/>
                <a:cs typeface="맑은 고딕"/>
              </a:rPr>
              <a:t>예: SOP-PM-21 2,000 h 정기 점검이 펌프 체적 효율 저하를 막는다</a:t>
            </a:r>
          </a:p>
          <a:p>
            <a:pPr algn="l" eaLnBrk="0">
              <a:lnSpc>
                <a:spcPct val="110000"/>
              </a:lnSpc>
              <a:spcAft>
                <a:spcPts val="300"/>
              </a:spcAft>
            </a:pPr>
            <a:r>
              <a:rPr sz="1400" b="0">
                <a:solidFill>
                  <a:srgbClr val="1F2A3A"/>
                </a:solidFill>
                <a:latin typeface="맑은 고딕"/>
                <a:ea typeface="맑은 고딕"/>
                <a:cs typeface="맑은 고딕"/>
              </a:rPr>
              <a:t>쓰이는 때: 고장 전 · 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7559595598215235031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 운전 모드</a:t>
            </a:r>
          </a:p>
          <a:p>
            <a:pPr algn="l" eaLnBrk="0">
              <a:lnSpc>
                <a:spcPct val="110000"/>
              </a:lnSpc>
              <a:spcAft>
                <a:spcPts val="200"/>
              </a:spcAft>
            </a:pPr>
            <a:r>
              <a:rPr sz="1150" b="0">
                <a:solidFill>
                  <a:srgbClr val="556175"/>
                </a:solidFill>
                <a:latin typeface="맑은 고딕"/>
                <a:ea typeface="맑은 고딕"/>
                <a:cs typeface="맑은 고딕"/>
              </a:rPr>
              <a:t>plc_mode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REMOTE_AUTO · REMOTE_MANUAL · LOCAL 가운데 하나</a:t>
            </a:r>
          </a:p>
          <a:p>
            <a:pPr algn="l" eaLnBrk="0">
              <a:lnSpc>
                <a:spcPct val="110000"/>
              </a:lnSpc>
              <a:spcAft>
                <a:spcPts val="300"/>
              </a:spcAft>
            </a:pPr>
            <a:r>
              <a:rPr sz="1400" b="0">
                <a:solidFill>
                  <a:srgbClr val="1F2A3A"/>
                </a:solidFill>
                <a:latin typeface="맑은 고딕"/>
                <a:ea typeface="맑은 고딕"/>
                <a:cs typeface="맑은 고딕"/>
              </a:rPr>
              <a:t>쿨러 사건: REMOTE_AUTO</a:t>
            </a:r>
          </a:p>
          <a:p>
            <a:pPr algn="l" eaLnBrk="0">
              <a:lnSpc>
                <a:spcPct val="110000"/>
              </a:lnSpc>
              <a:spcAft>
                <a:spcPts val="300"/>
              </a:spcAft>
            </a:pPr>
            <a:r>
              <a:rPr sz="1400" b="0">
                <a:solidFill>
                  <a:srgbClr val="1F2A3A"/>
                </a:solidFill>
                <a:latin typeface="맑은 고딕"/>
                <a:ea typeface="맑은 고딕"/>
                <a:cs typeface="맑은 고딕"/>
              </a:rPr>
              <a:t>출처: SCADA · PLC 상태</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2836925"/>
            <a:ext cx="11094415" cy="1126998"/>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팬 100 % 연속 운전 시간</a:t>
            </a:r>
          </a:p>
          <a:p>
            <a:pPr algn="l" eaLnBrk="0">
              <a:lnSpc>
                <a:spcPct val="110000"/>
              </a:lnSpc>
              <a:spcAft>
                <a:spcPts val="200"/>
              </a:spcAft>
            </a:pPr>
            <a:r>
              <a:rPr sz="1150" b="0">
                <a:solidFill>
                  <a:srgbClr val="556175"/>
                </a:solidFill>
                <a:latin typeface="맑은 고딕"/>
                <a:ea typeface="맑은 고딕"/>
                <a:cs typeface="맑은 고딕"/>
              </a:rPr>
              <a:t>fan100_hours</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spcAft>
                <a:spcPts val="300"/>
              </a:spcAft>
            </a:pPr>
            <a:r>
              <a:rPr sz="1400" b="0">
                <a:solidFill>
                  <a:srgbClr val="1F2A3A"/>
                </a:solidFill>
                <a:latin typeface="맑은 고딕"/>
                <a:ea typeface="맑은 고딕"/>
                <a:cs typeface="맑은 고딕"/>
              </a:rPr>
              <a:t>기준 &gt; 24 h · 쿨러 사건: 0 h(팬 60 %)</a:t>
            </a:r>
          </a:p>
          <a:p>
            <a:pPr algn="l" eaLnBrk="0">
              <a:lnSpc>
                <a:spcPct val="110000"/>
              </a:lnSpc>
              <a:spcAft>
                <a:spcPts val="300"/>
              </a:spcAft>
            </a:pPr>
            <a:r>
              <a:rPr sz="1400" b="0">
                <a:solidFill>
                  <a:srgbClr val="1F2A3A"/>
                </a:solidFill>
                <a:latin typeface="맑은 고딕"/>
                <a:ea typeface="맑은 고딕"/>
                <a:cs typeface="맑은 고딕"/>
              </a:rPr>
              <a:t>출처: 운전 이력 · 시계열</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후 예측 유온</a:t>
            </a:r>
          </a:p>
          <a:p>
            <a:pPr algn="l" eaLnBrk="0">
              <a:lnSpc>
                <a:spcPct val="110000"/>
              </a:lnSpc>
              <a:spcAft>
                <a:spcPts val="200"/>
              </a:spcAft>
            </a:pPr>
            <a:r>
              <a:rPr sz="1150" b="0">
                <a:solidFill>
                  <a:srgbClr val="556175"/>
                </a:solidFill>
                <a:latin typeface="맑은 고딕"/>
                <a:ea typeface="맑은 고딕"/>
                <a:cs typeface="맑은 고딕"/>
              </a:rPr>
              <a:t>forecast_ts1</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spcAft>
                <a:spcPts val="300"/>
              </a:spcAft>
            </a:pPr>
            <a:r>
              <a:rPr sz="1400" b="0">
                <a:solidFill>
                  <a:srgbClr val="1F2A3A"/>
                </a:solidFill>
                <a:latin typeface="맑은 고딕"/>
                <a:ea typeface="맑은 고딕"/>
                <a:cs typeface="맑은 고딕"/>
              </a:rPr>
              <a:t>기준 &gt;= 55 ℃ · 팬 최대 운전 49.8 ℃</a:t>
            </a:r>
          </a:p>
          <a:p>
            <a:pPr algn="l" eaLnBrk="0">
              <a:lnSpc>
                <a:spcPct val="110000"/>
              </a:lnSpc>
              <a:spcAft>
                <a:spcPts val="300"/>
              </a:spcAft>
            </a:pPr>
            <a:r>
              <a:rPr sz="1400" b="0">
                <a:solidFill>
                  <a:srgbClr val="1F2A3A"/>
                </a:solidFill>
                <a:latin typeface="맑은 고딕"/>
                <a:ea typeface="맑은 고딕"/>
                <a:cs typeface="맑은 고딕"/>
              </a:rPr>
              <a:t>출처: 예측 계산 · 설비 모델</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오더 남은 시간</a:t>
            </a:r>
          </a:p>
          <a:p>
            <a:pPr algn="l" eaLnBrk="0">
              <a:lnSpc>
                <a:spcPct val="110000"/>
              </a:lnSpc>
              <a:spcAft>
                <a:spcPts val="200"/>
              </a:spcAft>
            </a:pPr>
            <a:r>
              <a:rPr sz="1150" b="0">
                <a:solidFill>
                  <a:srgbClr val="556175"/>
                </a:solidFill>
                <a:latin typeface="맑은 고딕"/>
                <a:ea typeface="맑은 고딕"/>
                <a:cs typeface="맑은 고딕"/>
              </a:rPr>
              <a:t>order_due_h</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조회 시각부터 납기 일시까지 남은 시간</a:t>
            </a:r>
          </a:p>
          <a:p>
            <a:pPr algn="l" eaLnBrk="0">
              <a:lnSpc>
                <a:spcPct val="110000"/>
              </a:lnSpc>
              <a:spcAft>
                <a:spcPts val="300"/>
              </a:spcAft>
            </a:pPr>
            <a:r>
              <a:rPr sz="1400" b="0">
                <a:solidFill>
                  <a:srgbClr val="1F2A3A"/>
                </a:solidFill>
                <a:latin typeface="맑은 고딕"/>
                <a:ea typeface="맑은 고딕"/>
                <a:cs typeface="맑은 고딕"/>
              </a:rPr>
              <a:t>쿨러 사건: 5.98 h</a:t>
            </a:r>
          </a:p>
          <a:p>
            <a:pPr algn="l" eaLnBrk="0">
              <a:lnSpc>
                <a:spcPct val="110000"/>
              </a:lnSpc>
              <a:spcAft>
                <a:spcPts val="300"/>
              </a:spcAft>
            </a:pPr>
            <a:r>
              <a:rPr sz="1400" b="0">
                <a:solidFill>
                  <a:srgbClr val="1F2A3A"/>
                </a:solidFill>
                <a:latin typeface="맑은 고딕"/>
                <a:ea typeface="맑은 고딕"/>
                <a:cs typeface="맑은 고딕"/>
              </a:rPr>
              <a:t>출처: MES · 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3825416592679527443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수직선_결함.svg" descr="illust_8217656649752214584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1637086"/>
            <a:ext cx="223004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누락</a:t>
            </a:r>
          </a:p>
          <a:p>
            <a:pPr algn="ctr" eaLnBrk="0">
              <a:lnSpc>
                <a:spcPct val="110000"/>
              </a:lnSpc>
              <a:spcAft>
                <a:spcPts val="100"/>
              </a:spcAft>
            </a:pPr>
            <a:r>
              <a:rPr sz="1100" b="0">
                <a:solidFill>
                  <a:srgbClr val="556175"/>
                </a:solidFill>
                <a:latin typeface="맑은 고딕"/>
                <a:ea typeface="맑은 고딕"/>
                <a:cs typeface="맑은 고딕"/>
              </a:rPr>
              <a:t>답을 내지 못한다</a:t>
            </a:r>
          </a:p>
        </p:txBody>
      </p:sp>
      <p:sp>
        <p:nvSpPr>
          <p:cNvPr id="8" name="TextBox 7"/>
          <p:cNvSpPr txBox="1"/>
          <p:nvPr/>
        </p:nvSpPr>
        <p:spPr>
          <a:xfrm>
            <a:off x="3409177" y="1689088"/>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예측 55 ℃ 미만: 통과</a:t>
            </a:r>
          </a:p>
        </p:txBody>
      </p:sp>
      <p:sp>
        <p:nvSpPr>
          <p:cNvPr id="9" name="TextBox 8"/>
          <p:cNvSpPr txBox="1"/>
          <p:nvPr/>
        </p:nvSpPr>
        <p:spPr>
          <a:xfrm>
            <a:off x="8601990" y="1689088"/>
            <a:ext cx="21238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60 ℃ 이상: 제외</a:t>
            </a:r>
          </a:p>
        </p:txBody>
      </p:sp>
      <p:sp>
        <p:nvSpPr>
          <p:cNvPr id="10" name="TextBox 9"/>
          <p:cNvSpPr txBox="1"/>
          <p:nvPr/>
        </p:nvSpPr>
        <p:spPr>
          <a:xfrm>
            <a:off x="6531236" y="2355658"/>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57 ℃ → 맞는 행이 없다</a:t>
            </a:r>
          </a:p>
        </p:txBody>
      </p:sp>
      <p:sp>
        <p:nvSpPr>
          <p:cNvPr id="11" name="TextBox 10"/>
          <p:cNvSpPr txBox="1"/>
          <p:nvPr/>
        </p:nvSpPr>
        <p:spPr>
          <a:xfrm>
            <a:off x="892416" y="2875678"/>
            <a:ext cx="2230042"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중복</a:t>
            </a:r>
          </a:p>
          <a:p>
            <a:pPr algn="ctr" eaLnBrk="0">
              <a:lnSpc>
                <a:spcPct val="110000"/>
              </a:lnSpc>
              <a:spcAft>
                <a:spcPts val="100"/>
              </a:spcAft>
            </a:pPr>
            <a:r>
              <a:rPr sz="1100" b="0">
                <a:solidFill>
                  <a:srgbClr val="556175"/>
                </a:solidFill>
                <a:latin typeface="맑은 고딕"/>
                <a:ea typeface="맑은 고딕"/>
                <a:cs typeface="맑은 고딕"/>
              </a:rPr>
              <a:t>중복 금지 표: 오류</a:t>
            </a:r>
          </a:p>
          <a:p>
            <a:pPr algn="ctr" eaLnBrk="0">
              <a:lnSpc>
                <a:spcPct val="110000"/>
              </a:lnSpc>
              <a:spcAft>
                <a:spcPts val="100"/>
              </a:spcAft>
            </a:pPr>
            <a:r>
              <a:rPr sz="1100" b="0">
                <a:solidFill>
                  <a:srgbClr val="556175"/>
                </a:solidFill>
                <a:latin typeface="맑은 고딕"/>
                <a:ea typeface="맑은 고딕"/>
                <a:cs typeface="맑은 고딕"/>
              </a:rPr>
              <a:t>모으는 표: 경고 둘</a:t>
            </a:r>
          </a:p>
        </p:txBody>
      </p:sp>
      <p:sp>
        <p:nvSpPr>
          <p:cNvPr id="12" name="TextBox 11"/>
          <p:cNvSpPr txBox="1"/>
          <p:nvPr/>
        </p:nvSpPr>
        <p:spPr>
          <a:xfrm>
            <a:off x="5394977" y="2833131"/>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55 ℃ 이상: 경고</a:t>
            </a:r>
          </a:p>
        </p:txBody>
      </p:sp>
      <p:sp>
        <p:nvSpPr>
          <p:cNvPr id="13" name="TextBox 12"/>
          <p:cNvSpPr txBox="1"/>
          <p:nvPr/>
        </p:nvSpPr>
        <p:spPr>
          <a:xfrm>
            <a:off x="8134743" y="3182962"/>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58 ℃ 이상: 경고</a:t>
            </a:r>
          </a:p>
        </p:txBody>
      </p:sp>
      <p:sp>
        <p:nvSpPr>
          <p:cNvPr id="14" name="TextBox 13"/>
          <p:cNvSpPr txBox="1"/>
          <p:nvPr/>
        </p:nvSpPr>
        <p:spPr>
          <a:xfrm>
            <a:off x="7805546" y="3854260"/>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59 ℃ → 두 행이 같은 답</a:t>
            </a:r>
          </a:p>
        </p:txBody>
      </p:sp>
      <p:sp>
        <p:nvSpPr>
          <p:cNvPr id="15" name="TextBox 14"/>
          <p:cNvSpPr txBox="1"/>
          <p:nvPr/>
        </p:nvSpPr>
        <p:spPr>
          <a:xfrm>
            <a:off x="892416" y="4374279"/>
            <a:ext cx="2230042"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상충</a:t>
            </a:r>
          </a:p>
          <a:p>
            <a:pPr algn="ctr" eaLnBrk="0">
              <a:lnSpc>
                <a:spcPct val="110000"/>
              </a:lnSpc>
              <a:spcAft>
                <a:spcPts val="100"/>
              </a:spcAft>
            </a:pPr>
            <a:r>
              <a:rPr sz="1100" b="0">
                <a:solidFill>
                  <a:srgbClr val="556175"/>
                </a:solidFill>
                <a:latin typeface="맑은 고딕"/>
                <a:ea typeface="맑은 고딕"/>
                <a:cs typeface="맑은 고딕"/>
              </a:rPr>
              <a:t>중복 금지 표: 오류</a:t>
            </a:r>
          </a:p>
          <a:p>
            <a:pPr algn="ctr" eaLnBrk="0">
              <a:lnSpc>
                <a:spcPct val="110000"/>
              </a:lnSpc>
              <a:spcAft>
                <a:spcPts val="100"/>
              </a:spcAft>
            </a:pPr>
            <a:r>
              <a:rPr sz="1100" b="0">
                <a:solidFill>
                  <a:srgbClr val="556175"/>
                </a:solidFill>
                <a:latin typeface="맑은 고딕"/>
                <a:ea typeface="맑은 고딕"/>
                <a:cs typeface="맑은 고딕"/>
              </a:rPr>
              <a:t>모으는 표: 둘 다</a:t>
            </a:r>
          </a:p>
        </p:txBody>
      </p:sp>
      <p:sp>
        <p:nvSpPr>
          <p:cNvPr id="16" name="TextBox 15"/>
          <p:cNvSpPr txBox="1"/>
          <p:nvPr/>
        </p:nvSpPr>
        <p:spPr>
          <a:xfrm>
            <a:off x="5394977" y="4331732"/>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55 ℃ 이상: 경고</a:t>
            </a:r>
          </a:p>
        </p:txBody>
      </p:sp>
      <p:sp>
        <p:nvSpPr>
          <p:cNvPr id="17" name="TextBox 16"/>
          <p:cNvSpPr txBox="1"/>
          <p:nvPr/>
        </p:nvSpPr>
        <p:spPr>
          <a:xfrm>
            <a:off x="8134743" y="4681563"/>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58 ℃ 이상: 제외</a:t>
            </a:r>
          </a:p>
        </p:txBody>
      </p:sp>
      <p:sp>
        <p:nvSpPr>
          <p:cNvPr id="18" name="TextBox 17"/>
          <p:cNvSpPr txBox="1"/>
          <p:nvPr/>
        </p:nvSpPr>
        <p:spPr>
          <a:xfrm>
            <a:off x="7805546" y="5348133"/>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59 ℃ → 경고인가 제외인가</a:t>
            </a:r>
          </a:p>
        </p:txBody>
      </p:sp>
      <p:sp>
        <p:nvSpPr>
          <p:cNvPr id="19" name="TextBox 18"/>
          <p:cNvSpPr txBox="1"/>
          <p:nvPr/>
        </p:nvSpPr>
        <p:spPr>
          <a:xfrm>
            <a:off x="1210993" y="5811423"/>
            <a:ext cx="976970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HYD가 잡는 것</a:t>
            </a:r>
          </a:p>
          <a:p>
            <a:pPr algn="ctr" eaLnBrk="0">
              <a:lnSpc>
                <a:spcPct val="110000"/>
              </a:lnSpc>
              <a:spcAft>
                <a:spcPts val="100"/>
              </a:spcAft>
            </a:pPr>
            <a:r>
              <a:rPr sz="1100" b="0">
                <a:solidFill>
                  <a:srgbClr val="556175"/>
                </a:solidFill>
                <a:latin typeface="맑은 고딕"/>
                <a:ea typeface="맑은 고딕"/>
                <a:cs typeface="맑은 고딕"/>
              </a:rPr>
              <a:t>순위 정책 행이 둘 맞으면 오류로 거절한다 · 문장(when)과 검사(TESTS)가 다르면 검사기가 잡는다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제외 · 감점 규칙의 값을 모른다</a:t>
            </a:r>
          </a:p>
          <a:p>
            <a:pPr algn="l" eaLnBrk="0">
              <a:lnSpc>
                <a:spcPct val="110000"/>
              </a:lnSpc>
              <a:spcAft>
                <a:spcPts val="200"/>
              </a:spcAft>
            </a:pPr>
            <a:r>
              <a:rPr sz="1150" b="0">
                <a:solidFill>
                  <a:srgbClr val="556175"/>
                </a:solidFill>
                <a:latin typeface="맑은 고딕"/>
                <a:ea typeface="맑은 고딕"/>
                <a:cs typeface="맑은 고딕"/>
              </a:rPr>
              <a:t>EXCLUDE · PENALTY 규칙</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통신이 끊겨 plc_mode를 읽지 못했다</a:t>
            </a:r>
          </a:p>
          <a:p>
            <a:pPr algn="l" eaLnBrk="0">
              <a:lnSpc>
                <a:spcPct val="110000"/>
              </a:lnSpc>
              <a:spcAft>
                <a:spcPts val="300"/>
              </a:spcAft>
            </a:pPr>
            <a:r>
              <a:rPr sz="1400" b="0">
                <a:solidFill>
                  <a:srgbClr val="1F2A3A"/>
                </a:solidFill>
                <a:latin typeface="맑은 고딕"/>
                <a:ea typeface="맑은 고딕"/>
                <a:cs typeface="맑은 고딕"/>
              </a:rPr>
              <a:t>처리: 「확인되지 않은 조건 (plc_mode)」 — 제외 쪽으로 처리한다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같은 행의 다른 조건이 거짓이다</a:t>
            </a:r>
          </a:p>
          <a:p>
            <a:pPr algn="l" eaLnBrk="0">
              <a:lnSpc>
                <a:spcPct val="110000"/>
              </a:lnSpc>
              <a:spcAft>
                <a:spcPts val="200"/>
              </a:spcAft>
            </a:pPr>
            <a:r>
              <a:rPr sz="1150" b="0">
                <a:solidFill>
                  <a:srgbClr val="556175"/>
                </a:solidFill>
                <a:latin typeface="맑은 고딕"/>
                <a:ea typeface="맑은 고딕"/>
                <a:cs typeface="맑은 고딕"/>
              </a:rPr>
              <a:t>AND로 묶인 한 행</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skill_kind == 'control' AND plc_mode != 'REMOTE_AUTO'</a:t>
            </a:r>
          </a:p>
          <a:p>
            <a:pPr algn="l" eaLnBrk="0">
              <a:lnSpc>
                <a:spcPct val="110000"/>
              </a:lnSpc>
              <a:spcAft>
                <a:spcPts val="300"/>
              </a:spcAft>
            </a:pPr>
            <a:r>
              <a:rPr sz="1400" b="0">
                <a:solidFill>
                  <a:srgbClr val="1F2A3A"/>
                </a:solidFill>
                <a:latin typeface="맑은 고딕"/>
                <a:ea typeface="맑은 고딕"/>
                <a:cs typeface="맑은 고딕"/>
              </a:rPr>
              <a:t>작업지시 후보는 앞 조건이 거짓</a:t>
            </a:r>
          </a:p>
          <a:p>
            <a:pPr algn="l" eaLnBrk="0">
              <a:lnSpc>
                <a:spcPct val="110000"/>
              </a:lnSpc>
              <a:spcAft>
                <a:spcPts val="300"/>
              </a:spcAft>
            </a:pPr>
            <a:r>
              <a:rPr sz="1400" b="0">
                <a:solidFill>
                  <a:srgbClr val="1F2A3A"/>
                </a:solidFill>
                <a:latin typeface="맑은 고딕"/>
                <a:ea typeface="맑은 고딕"/>
                <a:cs typeface="맑은 고딕"/>
              </a:rPr>
              <a:t>처리: 규칙이 맞지 않는다 · 모르는 값은 상관없다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경고 규칙의 값을 모른다</a:t>
            </a:r>
          </a:p>
          <a:p>
            <a:pPr algn="l" eaLnBrk="0">
              <a:lnSpc>
                <a:spcPct val="110000"/>
              </a:lnSpc>
              <a:spcAft>
                <a:spcPts val="200"/>
              </a:spcAft>
            </a:pPr>
            <a:r>
              <a:rPr sz="1150" b="0">
                <a:solidFill>
                  <a:srgbClr val="556175"/>
                </a:solidFill>
                <a:latin typeface="맑은 고딕"/>
                <a:ea typeface="맑은 고딕"/>
                <a:cs typeface="맑은 고딕"/>
              </a:rPr>
              <a:t>WARN 규칙</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경고 조건의 입력이 비었다</a:t>
            </a:r>
          </a:p>
          <a:p>
            <a:pPr algn="l" eaLnBrk="0">
              <a:lnSpc>
                <a:spcPct val="110000"/>
              </a:lnSpc>
              <a:spcAft>
                <a:spcPts val="300"/>
              </a:spcAft>
            </a:pPr>
            <a:r>
              <a:rPr sz="1400" b="0">
                <a:solidFill>
                  <a:srgbClr val="1F2A3A"/>
                </a:solidFill>
                <a:latin typeface="맑은 고딕"/>
                <a:ea typeface="맑은 고딕"/>
                <a:cs typeface="맑은 고딕"/>
              </a:rPr>
              <a:t>처리: 「확인되지 않은 조건」을 경고로 남긴다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모든 후보가 제외되었다</a:t>
            </a:r>
          </a:p>
          <a:p>
            <a:pPr algn="l" eaLnBrk="0">
              <a:lnSpc>
                <a:spcPct val="110000"/>
              </a:lnSpc>
              <a:spcAft>
                <a:spcPts val="200"/>
              </a:spcAft>
            </a:pPr>
            <a:r>
              <a:rPr sz="1150" b="0">
                <a:solidFill>
                  <a:srgbClr val="556175"/>
                </a:solidFill>
                <a:latin typeface="맑은 고딕"/>
                <a:ea typeface="맑은 고딕"/>
                <a:cs typeface="맑은 고딕"/>
              </a:rPr>
              <a:t>후보 전체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원격 제어 후보만 있는데 운전 모드를 모른다</a:t>
            </a:r>
          </a:p>
          <a:p>
            <a:pPr algn="l" eaLnBrk="0">
              <a:lnSpc>
                <a:spcPct val="110000"/>
              </a:lnSpc>
              <a:spcAft>
                <a:spcPts val="300"/>
              </a:spcAft>
            </a:pPr>
            <a:r>
              <a:rPr sz="1400" b="0">
                <a:solidFill>
                  <a:srgbClr val="1F2A3A"/>
                </a:solidFill>
                <a:latin typeface="맑은 고딕"/>
                <a:ea typeface="맑은 고딕"/>
                <a:cs typeface="맑은 고딕"/>
              </a:rPr>
              <a:t>예: 설비가 보호 정지(TRIP) — 리셋 외 후보 제외</a:t>
            </a:r>
          </a:p>
          <a:p>
            <a:pPr algn="l" eaLnBrk="0">
              <a:lnSpc>
                <a:spcPct val="110000"/>
              </a:lnSpc>
              <a:spcAft>
                <a:spcPts val="300"/>
              </a:spcAft>
            </a:pPr>
            <a:r>
              <a:rPr sz="1400" b="0">
                <a:solidFill>
                  <a:srgbClr val="1F2A3A"/>
                </a:solidFill>
                <a:latin typeface="맑은 고딕"/>
                <a:ea typeface="맑은 고딕"/>
                <a:cs typeface="맑은 고딕"/>
              </a:rPr>
              <a:t>처리: 추천을 내지 않고 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6087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 표준</a:t>
            </a:r>
          </a:p>
        </p:txBody>
      </p:sp>
      <p:sp>
        <p:nvSpPr>
          <p:cNvPr id="8" name="TextBox 7"/>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조건 식: FEEL</a:t>
            </a:r>
          </a:p>
          <a:p>
            <a:pPr algn="l" eaLnBrk="0" marL="171450" indent="-171450">
              <a:lnSpc>
                <a:spcPct val="110000"/>
              </a:lnSpc>
              <a:spcAft>
                <a:spcPts val="600"/>
              </a:spcAft>
            </a:pPr>
            <a:r>
              <a:rPr sz="1500" b="0">
                <a:solidFill>
                  <a:srgbClr val="1F2A3A"/>
                </a:solidFill>
                <a:latin typeface="맑은 고딕"/>
                <a:ea typeface="맑은 고딕"/>
                <a:cs typeface="맑은 고딕"/>
              </a:rPr>
              <a:t>• 범위 · 목록 등을 식 하나로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 주체: 표준 DMN 모델 파일을 읽는 엔진</a:t>
            </a:r>
          </a:p>
          <a:p>
            <a:pPr algn="l" eaLnBrk="0" marL="171450" indent="-171450">
              <a:lnSpc>
                <a:spcPct val="110000"/>
              </a:lnSpc>
              <a:spcAft>
                <a:spcPts val="600"/>
              </a:spcAft>
            </a:pPr>
            <a:r>
              <a:rPr sz="1500" b="0">
                <a:solidFill>
                  <a:srgbClr val="1F2A3A"/>
                </a:solidFill>
                <a:latin typeface="맑은 고딕"/>
                <a:ea typeface="맑은 고딕"/>
                <a:cs typeface="맑은 고딕"/>
              </a:rPr>
              <a:t>• 선언과 평가의 일치: 표에 선언한 Hit Policy대로 결과를 해석한다</a:t>
            </a:r>
          </a:p>
        </p:txBody>
      </p:sp>
      <p:sp>
        <p:nvSpPr>
          <p:cNvPr id="9" name="Rounded Rectangle 8"/>
          <p:cNvSpPr/>
          <p:nvPr/>
        </p:nvSpPr>
        <p:spPr>
          <a:xfrm>
            <a:off x="868680" y="5265801"/>
            <a:ext cx="3636263"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65801"/>
            <a:ext cx="363626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FEEL(Friendly Enough Expression Language)</a:t>
            </a:r>
          </a:p>
        </p:txBody>
      </p:sp>
      <p:sp>
        <p:nvSpPr>
          <p:cNvPr id="11" name="Rounded Rectangle 10"/>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6087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HYD에서의 표현</a:t>
            </a:r>
          </a:p>
        </p:txBody>
      </p:sp>
      <p:sp>
        <p:nvSpPr>
          <p:cNvPr id="13" name="TextBox 12"/>
          <p:cNvSpPr txBox="1"/>
          <p:nvPr/>
        </p:nvSpPr>
        <p:spPr>
          <a:xfrm>
            <a:off x="6735927"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조건 식: TESTS의 연산자 · 기준값</a:t>
            </a:r>
          </a:p>
          <a:p>
            <a:pPr algn="l" eaLnBrk="0" marL="171450" indent="-171450">
              <a:lnSpc>
                <a:spcPct val="110000"/>
              </a:lnSpc>
              <a:spcAft>
                <a:spcPts val="600"/>
              </a:spcAft>
            </a:pPr>
            <a:r>
              <a:rPr sz="1500" b="0">
                <a:solidFill>
                  <a:srgbClr val="1F2A3A"/>
                </a:solidFill>
                <a:latin typeface="맑은 고딕"/>
                <a:ea typeface="맑은 고딕"/>
                <a:cs typeface="맑은 고딕"/>
              </a:rPr>
              <a:t>• 한 행의 검사는 AND</a:t>
            </a:r>
          </a:p>
          <a:p>
            <a:pPr algn="l" eaLnBrk="0" marL="171450" indent="-171450">
              <a:lnSpc>
                <a:spcPct val="110000"/>
              </a:lnSpc>
              <a:spcAft>
                <a:spcPts val="600"/>
              </a:spcAft>
            </a:pPr>
            <a:r>
              <a:rPr sz="1500" b="0">
                <a:solidFill>
                  <a:srgbClr val="1F2A3A"/>
                </a:solidFill>
                <a:latin typeface="맑은 고딕"/>
                <a:ea typeface="맑은 고딕"/>
                <a:cs typeface="맑은 고딕"/>
              </a:rPr>
              <a:t>• 실행 주체: 그래프의 규칙을 평가 함수가 읽는다</a:t>
            </a:r>
          </a:p>
          <a:p>
            <a:pPr algn="l" eaLnBrk="0" marL="171450" indent="-171450">
              <a:lnSpc>
                <a:spcPct val="110000"/>
              </a:lnSpc>
              <a:spcAft>
                <a:spcPts val="600"/>
              </a:spcAft>
            </a:pPr>
            <a:r>
              <a:rPr sz="1500" b="0">
                <a:solidFill>
                  <a:srgbClr val="1F2A3A"/>
                </a:solidFill>
                <a:latin typeface="맑은 고딕"/>
                <a:ea typeface="맑은 고딕"/>
                <a:cs typeface="맑은 고딕"/>
              </a:rPr>
              <a:t>• 선언과 평가의 일치: 선언이 평가 방식과 다르면 판정 없이 거절한다</a:t>
            </a:r>
          </a:p>
        </p:txBody>
      </p:sp>
      <p:sp>
        <p:nvSpPr>
          <p:cNvPr id="14" name="Rounded Rectangle 13"/>
          <p:cNvSpPr/>
          <p:nvPr/>
        </p:nvSpPr>
        <p:spPr>
          <a:xfrm>
            <a:off x="6781647" y="5265801"/>
            <a:ext cx="2639567"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65801"/>
            <a:ext cx="263956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TESTS {operator, value, unit}</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8161240443354140229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BSC(Balanced Scorecard)는 네 관점마다 목표와 지표를 두는 균형 성과표다.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재무(Financial)</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결과가 돈으로 어떻게 나타나는가</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영업이익 확대 · 원가 절감</a:t>
            </a:r>
          </a:p>
        </p:txBody>
      </p:sp>
      <p:sp>
        <p:nvSpPr>
          <p:cNvPr id="10" name="TextBox 9"/>
          <p:cNvSpPr txBox="1"/>
          <p:nvPr/>
        </p:nvSpPr>
        <p:spPr>
          <a:xfrm>
            <a:off x="758952" y="341071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재무 숫자는 일이 끝난 뒤에 나온다</a:t>
            </a:r>
          </a:p>
        </p:txBody>
      </p:sp>
      <p:sp>
        <p:nvSpPr>
          <p:cNvPr id="11" name="Rounded Rectangle 10"/>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고객(Customer)</a:t>
            </a:r>
          </a:p>
        </p:txBody>
      </p:sp>
      <p:sp>
        <p:nvSpPr>
          <p:cNvPr id="13" name="TextBox 12"/>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고객에게 무엇을 지키는가</a:t>
            </a:r>
          </a:p>
        </p:txBody>
      </p:sp>
      <p:sp>
        <p:nvSpPr>
          <p:cNvPr id="14" name="TextBox 13"/>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납기 신뢰 · 품질 신뢰</a:t>
            </a:r>
          </a:p>
        </p:txBody>
      </p:sp>
      <p:sp>
        <p:nvSpPr>
          <p:cNvPr id="15" name="Rounded Rectangle 14"/>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6" name="TextBox 15"/>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내부 프로세스(Internal Process)</a:t>
            </a:r>
          </a:p>
        </p:txBody>
      </p:sp>
      <p:sp>
        <p:nvSpPr>
          <p:cNvPr id="17" name="TextBox 16"/>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잘 운영해야 하는가</a:t>
            </a:r>
          </a:p>
        </p:txBody>
      </p:sp>
      <p:sp>
        <p:nvSpPr>
          <p:cNvPr id="18" name="TextBox 17"/>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설비 가용성 확보 · 무재해 운전 · 에너지 효율</a:t>
            </a:r>
          </a:p>
        </p:txBody>
      </p:sp>
      <p:sp>
        <p:nvSpPr>
          <p:cNvPr id="19" name="TextBox 18"/>
          <p:cNvSpPr txBox="1"/>
          <p:nvPr/>
        </p:nvSpPr>
        <p:spPr>
          <a:xfrm>
            <a:off x="758952" y="574243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쿨러 사건의 유온 관리가 여기에 놓인다</a:t>
            </a:r>
          </a:p>
        </p:txBody>
      </p:sp>
      <p:sp>
        <p:nvSpPr>
          <p:cNvPr id="20" name="Rounded Rectangle 19"/>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학습과 성장(Learning and Growth)</a:t>
            </a:r>
          </a:p>
        </p:txBody>
      </p:sp>
      <p:sp>
        <p:nvSpPr>
          <p:cNvPr id="22" name="TextBox 21"/>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쌓아야 계속 나아지는가</a:t>
            </a:r>
          </a:p>
        </p:txBody>
      </p:sp>
      <p:sp>
        <p:nvSpPr>
          <p:cNvPr id="23" name="TextBox 22"/>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TextBox 5"/>
          <p:cNvSpPr txBox="1"/>
          <p:nvPr/>
        </p:nvSpPr>
        <p:spPr>
          <a:xfrm>
            <a:off x="777240" y="1783080"/>
            <a:ext cx="10698480" cy="548640"/>
          </a:xfrm>
          <a:prstGeom prst="rect">
            <a:avLst/>
          </a:prstGeom>
          <a:noFill/>
        </p:spPr>
        <p:txBody>
          <a:bodyPr wrap="square" anchor="t"/>
          <a:lstStyle/>
          <a:p>
            <a:pPr algn="l" eaLnBrk="0">
              <a:lnSpc>
                <a:spcPct val="110000"/>
              </a:lnSpc>
            </a:pPr>
            <a:r>
              <a:rPr sz="2700" b="1">
                <a:solidFill>
                  <a:srgbClr val="13294B"/>
                </a:solidFill>
                <a:latin typeface="맑은 고딕"/>
                <a:ea typeface="맑은 고딕"/>
                <a:cs typeface="맑은 고딕"/>
              </a:rPr>
              <a:t>유온 한계 65 ℃ - 기간 최고 유온</a:t>
            </a:r>
          </a:p>
        </p:txBody>
      </p:sp>
      <p:sp>
        <p:nvSpPr>
          <p:cNvPr id="7" name="TextBox 6"/>
          <p:cNvSpPr txBox="1"/>
          <p:nvPr/>
        </p:nvSpPr>
        <p:spPr>
          <a:xfrm>
            <a:off x="777240" y="2423160"/>
            <a:ext cx="10698480"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설비 중 가장 작은 여유 · 한계까지 남은 온도 차</a:t>
            </a:r>
          </a:p>
        </p:txBody>
      </p:sp>
      <p:sp>
        <p:nvSpPr>
          <p:cNvPr id="8" name="TextBox 7"/>
          <p:cNvSpPr txBox="1"/>
          <p:nvPr/>
        </p:nvSpPr>
        <p:spPr>
          <a:xfrm>
            <a:off x="777240" y="2962656"/>
            <a:ext cx="10698480" cy="45720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 · UP(클수록 좋다)</a:t>
            </a:r>
          </a:p>
        </p:txBody>
      </p:sp>
      <p:sp>
        <p:nvSpPr>
          <p:cNvPr id="9" name="Rectangle 8"/>
          <p:cNvSpPr/>
          <p:nvPr/>
        </p:nvSpPr>
        <p:spPr>
          <a:xfrm>
            <a:off x="1188720" y="3931920"/>
            <a:ext cx="9601200" cy="32004"/>
          </a:xfrm>
          <a:prstGeom prst="rect">
            <a:avLst/>
          </a:prstGeom>
          <a:solidFill>
            <a:srgbClr val="13294B"/>
          </a:solidFill>
          <a:ln>
            <a:noFill/>
          </a:ln>
        </p:spPr>
        <p:txBody>
          <a:bodyPr rtlCol="0" anchor="ctr"/>
          <a:lstStyle/>
          <a:p>
            <a:pPr algn="ctr"/>
          </a:p>
        </p:txBody>
      </p:sp>
      <p:sp>
        <p:nvSpPr>
          <p:cNvPr id="10" name="Rectangle 9"/>
          <p:cNvSpPr/>
          <p:nvPr/>
        </p:nvSpPr>
        <p:spPr>
          <a:xfrm>
            <a:off x="2194560" y="3794760"/>
            <a:ext cx="22860" cy="301752"/>
          </a:xfrm>
          <a:prstGeom prst="rect">
            <a:avLst/>
          </a:prstGeom>
          <a:solidFill>
            <a:srgbClr val="1A6FC4"/>
          </a:solidFill>
          <a:ln>
            <a:noFill/>
          </a:ln>
        </p:spPr>
        <p:txBody>
          <a:bodyPr rtlCol="0" anchor="ctr"/>
          <a:lstStyle/>
          <a:p>
            <a:pPr algn="ctr"/>
          </a:p>
        </p:txBody>
      </p:sp>
      <p:sp>
        <p:nvSpPr>
          <p:cNvPr id="11" name="TextBox 10"/>
          <p:cNvSpPr txBox="1"/>
          <p:nvPr/>
        </p:nvSpPr>
        <p:spPr>
          <a:xfrm>
            <a:off x="6858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위험 기준 0 ℃</a:t>
            </a:r>
          </a:p>
        </p:txBody>
      </p:sp>
      <p:sp>
        <p:nvSpPr>
          <p:cNvPr id="12" name="TextBox 11"/>
          <p:cNvSpPr txBox="1"/>
          <p:nvPr/>
        </p:nvSpPr>
        <p:spPr>
          <a:xfrm>
            <a:off x="6858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한계에 닿는 수준</a:t>
            </a:r>
          </a:p>
        </p:txBody>
      </p:sp>
      <p:sp>
        <p:nvSpPr>
          <p:cNvPr id="13" name="Rectangle 12"/>
          <p:cNvSpPr/>
          <p:nvPr/>
        </p:nvSpPr>
        <p:spPr>
          <a:xfrm>
            <a:off x="6080760" y="3794760"/>
            <a:ext cx="22860" cy="301752"/>
          </a:xfrm>
          <a:prstGeom prst="rect">
            <a:avLst/>
          </a:prstGeom>
          <a:solidFill>
            <a:srgbClr val="1A6FC4"/>
          </a:solidFill>
          <a:ln>
            <a:noFill/>
          </a:ln>
        </p:spPr>
        <p:txBody>
          <a:bodyPr rtlCol="0" anchor="ctr"/>
          <a:lstStyle/>
          <a:p>
            <a:pPr algn="ctr"/>
          </a:p>
        </p:txBody>
      </p:sp>
      <p:sp>
        <p:nvSpPr>
          <p:cNvPr id="14" name="TextBox 13"/>
          <p:cNvSpPr txBox="1"/>
          <p:nvPr/>
        </p:nvSpPr>
        <p:spPr>
          <a:xfrm>
            <a:off x="45720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경고 기준 5 ℃</a:t>
            </a:r>
          </a:p>
        </p:txBody>
      </p:sp>
      <p:sp>
        <p:nvSpPr>
          <p:cNvPr id="15" name="TextBox 14"/>
          <p:cNvSpPr txBox="1"/>
          <p:nvPr/>
        </p:nvSpPr>
        <p:spPr>
          <a:xfrm>
            <a:off x="45720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주의할 수준</a:t>
            </a:r>
          </a:p>
        </p:txBody>
      </p:sp>
      <p:sp>
        <p:nvSpPr>
          <p:cNvPr id="16" name="Rectangle 15"/>
          <p:cNvSpPr/>
          <p:nvPr/>
        </p:nvSpPr>
        <p:spPr>
          <a:xfrm>
            <a:off x="9966960" y="3794760"/>
            <a:ext cx="22860" cy="301752"/>
          </a:xfrm>
          <a:prstGeom prst="rect">
            <a:avLst/>
          </a:prstGeom>
          <a:solidFill>
            <a:srgbClr val="1A6FC4"/>
          </a:solidFill>
          <a:ln>
            <a:noFill/>
          </a:ln>
        </p:spPr>
        <p:txBody>
          <a:bodyPr rtlCol="0" anchor="ctr"/>
          <a:lstStyle/>
          <a:p>
            <a:pPr algn="ctr"/>
          </a:p>
        </p:txBody>
      </p:sp>
      <p:sp>
        <p:nvSpPr>
          <p:cNvPr id="17" name="TextBox 16"/>
          <p:cNvSpPr txBox="1"/>
          <p:nvPr/>
        </p:nvSpPr>
        <p:spPr>
          <a:xfrm>
            <a:off x="84582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목표 10 ℃</a:t>
            </a:r>
          </a:p>
        </p:txBody>
      </p:sp>
      <p:sp>
        <p:nvSpPr>
          <p:cNvPr id="18" name="TextBox 17"/>
          <p:cNvSpPr txBox="1"/>
          <p:nvPr/>
        </p:nvSpPr>
        <p:spPr>
          <a:xfrm>
            <a:off x="84582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기간 최고 유온 55 ℃ 이하에 해당</a:t>
            </a:r>
          </a:p>
        </p:txBody>
      </p:sp>
      <p:sp>
        <p:nvSpPr>
          <p:cNvPr id="19" name="TextBox 18"/>
          <p:cNvSpPr txBox="1"/>
          <p:nvPr/>
        </p:nvSpPr>
        <p:spPr>
          <a:xfrm>
            <a:off x="777240" y="5532120"/>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비용 지표는 DOWN(작을수록 좋다) · 숫자의 크기와 좋고 나쁨을 구별</a:t>
            </a:r>
          </a:p>
        </p:txBody>
      </p:sp>
      <p:sp>
        <p:nvSpPr>
          <p:cNvPr id="20" name="TextBox 19"/>
          <p:cNvSpPr txBox="1"/>
          <p:nvPr/>
        </p:nvSpPr>
        <p:spPr>
          <a:xfrm>
            <a:off x="777240" y="6007608"/>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주기 · 책임 부서: 실시간 · 생산팀 · 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24시간의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인터록 여유</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65 - 최고 유온 62.47 = 2.53 ℃</a:t>
            </a:r>
          </a:p>
          <a:p>
            <a:pPr algn="l" eaLnBrk="0" marL="182880" indent="-182880">
              <a:lnSpc>
                <a:spcPct val="110000"/>
              </a:lnSpc>
              <a:spcAft>
                <a:spcPts val="600"/>
              </a:spcAft>
            </a:pPr>
            <a:r>
              <a:rPr sz="1600" b="0">
                <a:solidFill>
                  <a:srgbClr val="1F2A3A"/>
                </a:solidFill>
                <a:latin typeface="맑은 고딕"/>
                <a:ea typeface="맑은 고딕"/>
                <a:cs typeface="맑은 고딕"/>
              </a:rPr>
              <a:t>• 설비별 여유: HYD-01 2.53 · HYD-02 16.72 · HYD-03 14.55 ℃</a:t>
            </a:r>
          </a:p>
          <a:p>
            <a:pPr algn="l" eaLnBrk="0" marL="182880" indent="-182880">
              <a:lnSpc>
                <a:spcPct val="110000"/>
              </a:lnSpc>
              <a:spcAft>
                <a:spcPts val="600"/>
              </a:spcAft>
            </a:pPr>
            <a:r>
              <a:rPr sz="1600" b="0">
                <a:solidFill>
                  <a:srgbClr val="1F2A3A"/>
                </a:solidFill>
                <a:latin typeface="맑은 고딕"/>
                <a:ea typeface="맑은 고딕"/>
                <a:cs typeface="맑은 고딕"/>
              </a:rPr>
              <a:t>• 목표 10 ℃ · 부족 7.47 ℃ · 달성률 25.3 %</a:t>
            </a:r>
          </a:p>
          <a:p>
            <a:pPr algn="l" eaLnBrk="0" marL="182880" indent="-182880">
              <a:lnSpc>
                <a:spcPct val="110000"/>
              </a:lnSpc>
              <a:spcAft>
                <a:spcPts val="600"/>
              </a:spcAft>
            </a:pPr>
            <a:r>
              <a:rPr sz="1600" b="0">
                <a:solidFill>
                  <a:srgbClr val="1F2A3A"/>
                </a:solidFill>
                <a:latin typeface="맑은 고딕"/>
                <a:ea typeface="맑은 고딕"/>
                <a:cs typeface="맑은 고딕"/>
              </a:rPr>
              <a:t>• 유온이 한계에 가까워졌다</a:t>
            </a:r>
          </a:p>
        </p:txBody>
      </p:sp>
      <p:sp>
        <p:nvSpPr>
          <p:cNvPr id="9" name="Rounded Rectangle 8"/>
          <p:cNvSpPr/>
          <p:nvPr/>
        </p:nvSpPr>
        <p:spPr>
          <a:xfrm>
            <a:off x="868680" y="5304536"/>
            <a:ext cx="822960"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045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미달</a:t>
            </a:r>
          </a:p>
        </p:txBody>
      </p:sp>
      <p:sp>
        <p:nvSpPr>
          <p:cNvPr id="11" name="Rounded Rectangle 10"/>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 가동률</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100 × Σ(관측 분 - 보호 정지 분) ÷ Σ 관측 분</a:t>
            </a:r>
          </a:p>
          <a:p>
            <a:pPr algn="l" eaLnBrk="0" marL="182880" indent="-182880">
              <a:lnSpc>
                <a:spcPct val="110000"/>
              </a:lnSpc>
              <a:spcAft>
                <a:spcPts val="600"/>
              </a:spcAft>
            </a:pPr>
            <a:r>
              <a:rPr sz="1600" b="0">
                <a:solidFill>
                  <a:srgbClr val="1F2A3A"/>
                </a:solidFill>
                <a:latin typeface="맑은 고딕"/>
                <a:ea typeface="맑은 고딕"/>
                <a:cs typeface="맑은 고딕"/>
              </a:rPr>
              <a:t>• 실적 100.0 %</a:t>
            </a:r>
          </a:p>
          <a:p>
            <a:pPr algn="l" eaLnBrk="0" marL="182880" indent="-182880">
              <a:lnSpc>
                <a:spcPct val="110000"/>
              </a:lnSpc>
              <a:spcAft>
                <a:spcPts val="600"/>
              </a:spcAft>
            </a:pPr>
            <a:r>
              <a:rPr sz="1600" b="0">
                <a:solidFill>
                  <a:srgbClr val="1F2A3A"/>
                </a:solidFill>
                <a:latin typeface="맑은 고딕"/>
                <a:ea typeface="맑은 고딕"/>
                <a:cs typeface="맑은 고딕"/>
              </a:rPr>
              <a:t>• 목표 95 %</a:t>
            </a:r>
          </a:p>
          <a:p>
            <a:pPr algn="l" eaLnBrk="0" marL="182880" indent="-182880">
              <a:lnSpc>
                <a:spcPct val="110000"/>
              </a:lnSpc>
              <a:spcAft>
                <a:spcPts val="600"/>
              </a:spcAft>
            </a:pPr>
            <a:r>
              <a:rPr sz="1600" b="0">
                <a:solidFill>
                  <a:srgbClr val="1F2A3A"/>
                </a:solidFill>
                <a:latin typeface="맑은 고딕"/>
                <a:ea typeface="맑은 고딕"/>
                <a:cs typeface="맑은 고딕"/>
              </a:rPr>
              <a:t>• 보호 정지는 없었다</a:t>
            </a:r>
          </a:p>
        </p:txBody>
      </p:sp>
      <p:sp>
        <p:nvSpPr>
          <p:cNvPr id="14" name="Rounded Rectangle 13"/>
          <p:cNvSpPr/>
          <p:nvPr/>
        </p:nvSpPr>
        <p:spPr>
          <a:xfrm>
            <a:off x="6781647" y="5304536"/>
            <a:ext cx="82296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045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달성</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Picture 5" descr="그래프_설비별여유_집계.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평균(Mean)</a:t>
            </a:r>
          </a:p>
          <a:p>
            <a:pPr algn="l" eaLnBrk="0">
              <a:lnSpc>
                <a:spcPct val="110000"/>
              </a:lnSpc>
              <a:spcAft>
                <a:spcPts val="400"/>
              </a:spcAft>
            </a:pPr>
            <a:r>
              <a:rPr sz="1400" b="0">
                <a:solidFill>
                  <a:srgbClr val="1F2A3A"/>
                </a:solidFill>
                <a:latin typeface="맑은 고딕"/>
                <a:ea typeface="맑은 고딕"/>
                <a:cs typeface="맑은 고딕"/>
              </a:rPr>
              <a:t>합을 대상 수로 나눈 값</a:t>
            </a:r>
          </a:p>
          <a:p>
            <a:pPr algn="l" eaLnBrk="0">
              <a:lnSpc>
                <a:spcPct val="110000"/>
              </a:lnSpc>
              <a:spcAft>
                <a:spcPts val="400"/>
              </a:spcAft>
            </a:pPr>
            <a:r>
              <a:rPr sz="1400" b="0">
                <a:solidFill>
                  <a:srgbClr val="1F2A3A"/>
                </a:solidFill>
                <a:latin typeface="맑은 고딕"/>
                <a:ea typeface="맑은 고딕"/>
                <a:cs typeface="맑은 고딕"/>
              </a:rPr>
              <a:t>세 설비 여유의 합 ÷ 3 = 11.27 ℃</a:t>
            </a:r>
          </a:p>
          <a:p>
            <a:pPr algn="l" eaLnBrk="0">
              <a:lnSpc>
                <a:spcPct val="110000"/>
              </a:lnSpc>
              <a:spcAft>
                <a:spcPts val="400"/>
              </a:spcAft>
            </a:pPr>
            <a:r>
              <a:rPr sz="1400" b="0">
                <a:solidFill>
                  <a:srgbClr val="1F2A3A"/>
                </a:solidFill>
                <a:latin typeface="맑은 고딕"/>
                <a:ea typeface="맑은 고딕"/>
                <a:cs typeface="맑은 고딕"/>
              </a:rPr>
              <a:t>전체 수준을 요약한 비교 계산</a:t>
            </a:r>
          </a:p>
          <a:p>
            <a:pPr algn="l" eaLnBrk="0">
              <a:lnSpc>
                <a:spcPct val="110000"/>
              </a:lnSpc>
              <a:spcAft>
                <a:spcPts val="400"/>
              </a:spcAft>
            </a:pPr>
            <a:r>
              <a:rPr sz="1400" b="0">
                <a:solidFill>
                  <a:srgbClr val="1F2A3A"/>
                </a:solidFill>
                <a:latin typeface="맑은 고딕"/>
                <a:ea typeface="맑은 고딕"/>
                <a:cs typeface="맑은 고딕"/>
              </a:rPr>
              <a:t>한 설비의 작은 여유가 가려진다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최솟값(Minimum)</a:t>
            </a:r>
          </a:p>
          <a:p>
            <a:pPr algn="l" eaLnBrk="0">
              <a:lnSpc>
                <a:spcPct val="110000"/>
              </a:lnSpc>
              <a:spcAft>
                <a:spcPts val="400"/>
              </a:spcAft>
            </a:pPr>
            <a:r>
              <a:rPr sz="1400" b="0">
                <a:solidFill>
                  <a:srgbClr val="1F2A3A"/>
                </a:solidFill>
                <a:latin typeface="맑은 고딕"/>
                <a:ea typeface="맑은 고딕"/>
                <a:cs typeface="맑은 고딕"/>
              </a:rPr>
              <a:t>대상 중 가장 작은 값</a:t>
            </a:r>
          </a:p>
          <a:p>
            <a:pPr algn="l" eaLnBrk="0">
              <a:lnSpc>
                <a:spcPct val="110000"/>
              </a:lnSpc>
              <a:spcAft>
                <a:spcPts val="400"/>
              </a:spcAft>
            </a:pPr>
            <a:r>
              <a:rPr sz="1400" b="0">
                <a:solidFill>
                  <a:srgbClr val="1F2A3A"/>
                </a:solidFill>
                <a:latin typeface="맑은 고딕"/>
                <a:ea typeface="맑은 고딕"/>
                <a:cs typeface="맑은 고딕"/>
              </a:rPr>
              <a:t>HYD-01의 여유 2.53 ℃</a:t>
            </a:r>
          </a:p>
          <a:p>
            <a:pPr algn="l" eaLnBrk="0">
              <a:lnSpc>
                <a:spcPct val="110000"/>
              </a:lnSpc>
              <a:spcAft>
                <a:spcPts val="400"/>
              </a:spcAft>
            </a:pPr>
            <a:r>
              <a:rPr sz="1400" b="0">
                <a:solidFill>
                  <a:srgbClr val="1F2A3A"/>
                </a:solidFill>
                <a:latin typeface="맑은 고딕"/>
                <a:ea typeface="맑은 고딕"/>
                <a:cs typeface="맑은 고딕"/>
              </a:rPr>
              <a:t>인터록 여유 목표 10 ℃ → 미달</a:t>
            </a:r>
          </a:p>
          <a:p>
            <a:pPr algn="l" eaLnBrk="0">
              <a:lnSpc>
                <a:spcPct val="110000"/>
              </a:lnSpc>
              <a:spcAft>
                <a:spcPts val="400"/>
              </a:spcAft>
            </a:pPr>
            <a:r>
              <a:rPr sz="1400" b="0">
                <a:solidFill>
                  <a:srgbClr val="1F2A3A"/>
                </a:solidFill>
                <a:latin typeface="맑은 고딕"/>
                <a:ea typeface="맑은 고딕"/>
                <a:cs typeface="맑은 고딕"/>
              </a:rPr>
              <a:t>한계에 가장 가까운 설비 확인</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KPI 실적</a:t>
            </a:r>
          </a:p>
          <a:p>
            <a:pPr algn="l" eaLnBrk="0">
              <a:lnSpc>
                <a:spcPct val="110000"/>
              </a:lnSpc>
              <a:spcAft>
                <a:spcPts val="400"/>
              </a:spcAft>
            </a:pPr>
            <a:r>
              <a:rPr sz="1300" b="0">
                <a:solidFill>
                  <a:srgbClr val="1F2A3A"/>
                </a:solidFill>
                <a:latin typeface="맑은 고딕"/>
                <a:ea typeface="맑은 고딕"/>
                <a:cs typeface="맑은 고딕"/>
              </a:rPr>
              <a:t>시스템은 최솟값을 KPI 실적으로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계산됨</a:t>
            </a:r>
          </a:p>
          <a:p>
            <a:pPr algn="l" eaLnBrk="0" marL="182880" indent="-182880">
              <a:lnSpc>
                <a:spcPct val="110000"/>
              </a:lnSpc>
              <a:spcAft>
                <a:spcPts val="400"/>
              </a:spcAft>
            </a:pPr>
            <a:r>
              <a:rPr sz="1600" b="0">
                <a:solidFill>
                  <a:srgbClr val="1F2A3A"/>
                </a:solidFill>
                <a:latin typeface="맑은 고딕"/>
                <a:ea typeface="맑은 고딕"/>
                <a:cs typeface="맑은 고딕"/>
              </a:rPr>
              <a:t>• 인터록 여유 2.53 ℃: 지식 그래프의 한계 65 ℃ + 시계열의 최고 TS1</a:t>
            </a:r>
          </a:p>
          <a:p>
            <a:pPr algn="l" eaLnBrk="0" marL="182880" indent="-182880">
              <a:lnSpc>
                <a:spcPct val="110000"/>
              </a:lnSpc>
              <a:spcAft>
                <a:spcPts val="400"/>
              </a:spcAft>
            </a:pPr>
            <a:r>
              <a:rPr sz="1600" b="0">
                <a:solidFill>
                  <a:srgbClr val="1F2A3A"/>
                </a:solidFill>
                <a:latin typeface="맑은 고딕"/>
                <a:ea typeface="맑은 고딕"/>
                <a:cs typeface="맑은 고딕"/>
              </a:rPr>
              <a:t>• 설비 가동률 100.0 %: 시계열의 관측 분 + 경보 기록의 보호 정지 분</a:t>
            </a:r>
          </a:p>
        </p:txBody>
      </p:sp>
      <p:sp>
        <p:nvSpPr>
          <p:cNvPr id="10" name="Rounded Rectangle 9"/>
          <p:cNvSpPr/>
          <p:nvPr/>
        </p:nvSpPr>
        <p:spPr>
          <a:xfrm>
            <a:off x="777240" y="542950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 기록이 있다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database-off" descr="database-off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계산 불가</a:t>
            </a:r>
          </a:p>
          <a:p>
            <a:pPr algn="l" eaLnBrk="0" marL="182880" indent="-182880">
              <a:lnSpc>
                <a:spcPct val="110000"/>
              </a:lnSpc>
              <a:spcAft>
                <a:spcPts val="400"/>
              </a:spcAft>
            </a:pPr>
            <a:r>
              <a:rPr sz="1600" b="0">
                <a:solidFill>
                  <a:srgbClr val="1F2A3A"/>
                </a:solidFill>
                <a:latin typeface="맑은 고딕"/>
                <a:ea typeface="맑은 고딕"/>
                <a:cs typeface="맑은 고딕"/>
              </a:rPr>
              <a:t>• 매출: 업무 데이터베이스의 판매 · 매출 원장이 없다</a:t>
            </a:r>
          </a:p>
          <a:p>
            <a:pPr algn="l" eaLnBrk="0" marL="182880" indent="-182880">
              <a:lnSpc>
                <a:spcPct val="110000"/>
              </a:lnSpc>
              <a:spcAft>
                <a:spcPts val="400"/>
              </a:spcAft>
            </a:pPr>
            <a:r>
              <a:rPr sz="1600" b="0">
                <a:solidFill>
                  <a:srgbClr val="1F2A3A"/>
                </a:solidFill>
                <a:latin typeface="맑은 고딕"/>
                <a:ea typeface="맑은 고딕"/>
                <a:cs typeface="맑은 고딕"/>
              </a:rPr>
              <a:t>• 납기 준수율: 납기 대비 실제 완료 · 출하 시각 기록이 없다 — 0 %가 아니다</a:t>
            </a:r>
          </a:p>
        </p:txBody>
      </p:sp>
      <p:sp>
        <p:nvSpPr>
          <p:cNvPr id="16" name="Rounded Rectangle 15"/>
          <p:cNvSpPr/>
          <p:nvPr/>
        </p:nvSpPr>
        <p:spPr>
          <a:xfrm>
            <a:off x="4566818" y="5429504"/>
            <a:ext cx="156972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계산 불가 — 사유</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결과의 상태</a:t>
            </a:r>
          </a:p>
          <a:p>
            <a:pPr algn="l" eaLnBrk="0" marL="182880" indent="-182880">
              <a:lnSpc>
                <a:spcPct val="110000"/>
              </a:lnSpc>
              <a:spcAft>
                <a:spcPts val="400"/>
              </a:spcAft>
            </a:pPr>
            <a:r>
              <a:rPr sz="1600" b="0">
                <a:solidFill>
                  <a:srgbClr val="1F2A3A"/>
                </a:solidFill>
                <a:latin typeface="맑은 고딕"/>
                <a:ea typeface="맑은 고딕"/>
                <a:cs typeface="맑은 고딕"/>
              </a:rPr>
              <a:t>• 달성 · 미달 · 목표 없음</a:t>
            </a:r>
          </a:p>
          <a:p>
            <a:pPr algn="l" eaLnBrk="0" marL="182880" indent="-182880">
              <a:lnSpc>
                <a:spcPct val="110000"/>
              </a:lnSpc>
              <a:spcAft>
                <a:spcPts val="400"/>
              </a:spcAft>
            </a:pPr>
            <a:r>
              <a:rPr sz="1600" b="0">
                <a:solidFill>
                  <a:srgbClr val="1F2A3A"/>
                </a:solidFill>
                <a:latin typeface="맑은 고딕"/>
                <a:ea typeface="맑은 고딕"/>
                <a:cs typeface="맑은 고딕"/>
              </a:rPr>
              <a:t>• 부분 실적 · 기록 없음</a:t>
            </a:r>
          </a:p>
          <a:p>
            <a:pPr algn="l" eaLnBrk="0" marL="182880" indent="-182880">
              <a:lnSpc>
                <a:spcPct val="110000"/>
              </a:lnSpc>
              <a:spcAft>
                <a:spcPts val="400"/>
              </a:spcAft>
            </a:pPr>
            <a:r>
              <a:rPr sz="1600" b="0">
                <a:solidFill>
                  <a:srgbClr val="1F2A3A"/>
                </a:solidFill>
                <a:latin typeface="맑은 고딕"/>
                <a:ea typeface="맑은 고딕"/>
                <a:cs typeface="맑은 고딕"/>
              </a:rPr>
              <a:t>• 계산 불가 · 조회 실패</a:t>
            </a:r>
          </a:p>
        </p:txBody>
      </p:sp>
      <p:sp>
        <p:nvSpPr>
          <p:cNvPr id="22" name="Rounded Rectangle 21"/>
          <p:cNvSpPr/>
          <p:nvPr/>
        </p:nvSpPr>
        <p:spPr>
          <a:xfrm>
            <a:off x="8356396" y="5429504"/>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서로 구별해 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1170978559244678251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8943250953306672791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3785731404190577783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4211261489642066894_17931136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작업지시를</a:t>
            </a:r>
          </a:p>
          <a:p>
            <a:pPr algn="l" eaLnBrk="0">
              <a:lnSpc>
                <a:spcPct val="110000"/>
              </a:lnSpc>
            </a:pPr>
            <a:r>
              <a:rPr sz="1250" b="1">
                <a:solidFill>
                  <a:srgbClr val="1A6FC4"/>
                </a:solidFill>
                <a:latin typeface="맑은 고딕"/>
                <a:ea typeface="맑은 고딕"/>
                <a:cs typeface="맑은 고딕"/>
              </a:rPr>
              <a:t>거는 후보</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ERP 고장 비용 × min(1, 기간 ÷ CMMS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a:t>
            </a:r>
          </a:p>
          <a:p>
            <a:pPr algn="l" eaLnBrk="0">
              <a:lnSpc>
                <a:spcPct val="110000"/>
              </a:lnSpc>
            </a:pPr>
            <a:r>
              <a:rPr sz="1250" b="1">
                <a:solidFill>
                  <a:srgbClr val="556175"/>
                </a:solidFill>
                <a:latin typeface="맑은 고딕"/>
                <a:ea typeface="맑은 고딕"/>
                <a:cs typeface="맑은 고딕"/>
              </a:rPr>
              <a:t>남는 후보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1순위 팬 최대 운전</a:t>
            </a:r>
          </a:p>
          <a:p>
            <a:pPr algn="l" eaLnBrk="0">
              <a:lnSpc>
                <a:spcPct val="110000"/>
              </a:lnSpc>
              <a:spcAft>
                <a:spcPts val="400"/>
              </a:spcAft>
            </a:pPr>
            <a:r>
              <a:rPr sz="1400" b="0">
                <a:solidFill>
                  <a:srgbClr val="1F2A3A"/>
                </a:solidFill>
                <a:latin typeface="맑은 고딕"/>
                <a:ea typeface="맑은 고딕"/>
                <a:cs typeface="맑은 고딕"/>
              </a:rPr>
              <a:t>SOP-COOL-11 · 생산 유지</a:t>
            </a:r>
          </a:p>
          <a:p>
            <a:pPr algn="l" eaLnBrk="0">
              <a:lnSpc>
                <a:spcPct val="110000"/>
              </a:lnSpc>
              <a:spcAft>
                <a:spcPts val="400"/>
              </a:spcAft>
            </a:pPr>
            <a:r>
              <a:rPr sz="1400" b="0">
                <a:solidFill>
                  <a:srgbClr val="1F2A3A"/>
                </a:solidFill>
                <a:latin typeface="맑은 고딕"/>
                <a:ea typeface="맑은 고딕"/>
                <a:cs typeface="맑은 고딕"/>
              </a:rPr>
              <a:t>점수 +3.38 · 승인 운전원</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공동 2순위 두 후보</a:t>
            </a:r>
          </a:p>
          <a:p>
            <a:pPr algn="l" eaLnBrk="0">
              <a:lnSpc>
                <a:spcPct val="110000"/>
              </a:lnSpc>
              <a:spcAft>
                <a:spcPts val="400"/>
              </a:spcAft>
            </a:pPr>
            <a:r>
              <a:rPr sz="1400" b="0">
                <a:solidFill>
                  <a:srgbClr val="1F2A3A"/>
                </a:solidFill>
                <a:latin typeface="맑은 고딕"/>
                <a:ea typeface="맑은 고딕"/>
                <a:cs typeface="맑은 고딕"/>
              </a:rPr>
              <a:t>SOP-COOL-13 · 12 · 생산 감산</a:t>
            </a:r>
          </a:p>
          <a:p>
            <a:pPr algn="l" eaLnBrk="0">
              <a:lnSpc>
                <a:spcPct val="110000"/>
              </a:lnSpc>
              <a:spcAft>
                <a:spcPts val="400"/>
              </a:spcAft>
            </a:pPr>
            <a:r>
              <a:rPr sz="1400" b="0">
                <a:solidFill>
                  <a:srgbClr val="1F2A3A"/>
                </a:solidFill>
                <a:latin typeface="맑은 고딕"/>
                <a:ea typeface="맑은 고딕"/>
                <a:cs typeface="맑은 고딕"/>
              </a:rPr>
              <a:t>점수 +2.75 · 승인 운전원</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4순위 쿨러 핀 세척 · 경고</a:t>
            </a:r>
          </a:p>
          <a:p>
            <a:pPr algn="l" eaLnBrk="0">
              <a:lnSpc>
                <a:spcPct val="110000"/>
              </a:lnSpc>
              <a:spcAft>
                <a:spcPts val="400"/>
              </a:spcAft>
            </a:pPr>
            <a:r>
              <a:rPr sz="1400" b="0">
                <a:solidFill>
                  <a:srgbClr val="1F2A3A"/>
                </a:solidFill>
                <a:latin typeface="맑은 고딕"/>
                <a:ea typeface="맑은 고딕"/>
                <a:cs typeface="맑은 고딕"/>
              </a:rPr>
              <a:t>SOP-COOL-14 · 예측 유온 ≥ 55 ℃</a:t>
            </a:r>
          </a:p>
          <a:p>
            <a:pPr algn="l" eaLnBrk="0">
              <a:lnSpc>
                <a:spcPct val="110000"/>
              </a:lnSpc>
              <a:spcAft>
                <a:spcPts val="400"/>
              </a:spcAft>
            </a:pPr>
            <a:r>
              <a:rPr sz="1400" b="0">
                <a:solidFill>
                  <a:srgbClr val="1F2A3A"/>
                </a:solidFill>
                <a:latin typeface="맑은 고딕"/>
                <a:ea typeface="맑은 고딕"/>
                <a:cs typeface="맑은 고딕"/>
              </a:rPr>
              <a:t>점수 -1.58 · 승인 설비보전팀장</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300" b="0">
                <a:solidFill>
                  <a:srgbClr val="1F2A3A"/>
                </a:solidFill>
                <a:latin typeface="맑은 고딕"/>
                <a:ea typeface="맑은 고딕"/>
                <a:cs typeface="맑은 고딕"/>
              </a:rPr>
              <a:t>원격 자동 · 팬 60 %(100 % 연속 0 h)</a:t>
            </a:r>
          </a:p>
          <a:p>
            <a:pPr algn="l" eaLnBrk="0">
              <a:lnSpc>
                <a:spcPct val="110000"/>
              </a:lnSpc>
              <a:spcAft>
                <a:spcPts val="400"/>
              </a:spcAft>
            </a:pPr>
            <a:r>
              <a:rPr sz="1300" b="0">
                <a:solidFill>
                  <a:srgbClr val="1F2A3A"/>
                </a:solidFill>
                <a:latin typeface="맑은 고딕"/>
                <a:ea typeface="맑은 고딕"/>
                <a:cs typeface="맑은 고딕"/>
              </a:rPr>
              <a:t>납기 5.98 h · 위약금 120만 원/h</a:t>
            </a:r>
          </a:p>
          <a:p>
            <a:pPr algn="l" eaLnBrk="0">
              <a:lnSpc>
                <a:spcPct val="110000"/>
              </a:lnSpc>
              <a:spcAft>
                <a:spcPts val="400"/>
              </a:spcAft>
            </a:pPr>
            <a:r>
              <a:rPr sz="1300" b="0">
                <a:solidFill>
                  <a:srgbClr val="1F2A3A"/>
                </a:solidFill>
                <a:latin typeface="맑은 고딕"/>
                <a:ea typeface="맑은 고딕"/>
                <a:cs typeface="맑은 고딕"/>
              </a:rPr>
              <a:t>고온 로트 있음 · 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3823119305921614753_17931136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2746"/>
            <a:ext cx="731520" cy="731520"/>
          </a:xfrm>
          <a:prstGeom prst="ellipse">
            <a:avLst/>
          </a:prstGeom>
          <a:solidFill>
            <a:srgbClr val="E7F3FD"/>
          </a:solidFill>
          <a:ln>
            <a:noFill/>
          </a:ln>
        </p:spPr>
        <p:txBody>
          <a:bodyPr rtlCol="0" anchor="ctr"/>
          <a:lstStyle/>
          <a:p>
            <a:pPr algn="ctr"/>
          </a:p>
        </p:txBody>
      </p:sp>
      <p:pic>
        <p:nvPicPr>
          <p:cNvPr id="8" name="아이콘:adjustments" descr="adjustments_13294B_1.6.png"/>
          <p:cNvPicPr>
            <a:picLocks noChangeAspect="1"/>
          </p:cNvPicPr>
          <p:nvPr/>
        </p:nvPicPr>
        <p:blipFill>
          <a:blip r:embed="rId3"/>
          <a:stretch>
            <a:fillRect/>
          </a:stretch>
        </p:blipFill>
        <p:spPr>
          <a:xfrm>
            <a:off x="930859" y="2566365"/>
            <a:ext cx="424281" cy="424281"/>
          </a:xfrm>
          <a:prstGeom prst="rect">
            <a:avLst/>
          </a:prstGeom>
        </p:spPr>
      </p:pic>
      <p:sp>
        <p:nvSpPr>
          <p:cNvPr id="9" name="TextBox 8"/>
          <p:cNvSpPr txBox="1"/>
          <p:nvPr/>
        </p:nvSpPr>
        <p:spPr>
          <a:xfrm>
            <a:off x="713232"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운전 조건</a:t>
            </a:r>
          </a:p>
          <a:p>
            <a:pPr algn="l" eaLnBrk="0" marL="160020" indent="-160020">
              <a:lnSpc>
                <a:spcPct val="110000"/>
              </a:lnSpc>
              <a:spcAft>
                <a:spcPts val="400"/>
              </a:spcAft>
            </a:pPr>
            <a:r>
              <a:rPr sz="1400" b="0">
                <a:solidFill>
                  <a:srgbClr val="1F2A3A"/>
                </a:solidFill>
                <a:latin typeface="맑은 고딕"/>
                <a:ea typeface="맑은 고딕"/>
                <a:cs typeface="맑은 고딕"/>
              </a:rPr>
              <a:t>• 운전 모드, 설비 상태, 팬 연속 시간 중 하나를 바꿔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적용 규칙과 후보 유지 · 제외를 연결</a:t>
            </a:r>
          </a:p>
        </p:txBody>
      </p:sp>
      <p:sp>
        <p:nvSpPr>
          <p:cNvPr id="10" name="Rounded Rectangle 9"/>
          <p:cNvSpPr/>
          <p:nvPr/>
        </p:nvSpPr>
        <p:spPr>
          <a:xfrm>
            <a:off x="3390823"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Oval 10"/>
          <p:cNvSpPr/>
          <p:nvPr/>
        </p:nvSpPr>
        <p:spPr>
          <a:xfrm>
            <a:off x="3619423" y="2412746"/>
            <a:ext cx="731520" cy="731520"/>
          </a:xfrm>
          <a:prstGeom prst="ellipse">
            <a:avLst/>
          </a:prstGeom>
          <a:solidFill>
            <a:srgbClr val="E7F3FD"/>
          </a:solidFill>
          <a:ln>
            <a:noFill/>
          </a:ln>
        </p:spPr>
        <p:txBody>
          <a:bodyPr rtlCol="0" anchor="ctr"/>
          <a:lstStyle/>
          <a:p>
            <a:pPr algn="ctr"/>
          </a:p>
        </p:txBody>
      </p:sp>
      <p:pic>
        <p:nvPicPr>
          <p:cNvPr id="12" name="아이콘:report-money" descr="report-money_13294B_1.6.png"/>
          <p:cNvPicPr>
            <a:picLocks noChangeAspect="1"/>
          </p:cNvPicPr>
          <p:nvPr/>
        </p:nvPicPr>
        <p:blipFill>
          <a:blip r:embed="rId4"/>
          <a:stretch>
            <a:fillRect/>
          </a:stretch>
        </p:blipFill>
        <p:spPr>
          <a:xfrm>
            <a:off x="3773043" y="2566365"/>
            <a:ext cx="424281" cy="424281"/>
          </a:xfrm>
          <a:prstGeom prst="rect">
            <a:avLst/>
          </a:prstGeom>
        </p:spPr>
      </p:pic>
      <p:sp>
        <p:nvSpPr>
          <p:cNvPr id="13" name="TextBox 12"/>
          <p:cNvSpPr txBox="1"/>
          <p:nvPr/>
        </p:nvSpPr>
        <p:spPr>
          <a:xfrm>
            <a:off x="3555415"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손익 · What-if</a:t>
            </a:r>
          </a:p>
          <a:p>
            <a:pPr algn="l" eaLnBrk="0" marL="154305" indent="-154305">
              <a:lnSpc>
                <a:spcPct val="110000"/>
              </a:lnSpc>
              <a:spcAft>
                <a:spcPts val="400"/>
              </a:spcAft>
            </a:pPr>
            <a:r>
              <a:rPr sz="1350" b="0">
                <a:solidFill>
                  <a:srgbClr val="1F2A3A"/>
                </a:solidFill>
                <a:latin typeface="맑은 고딕"/>
                <a:ea typeface="맑은 고딕"/>
                <a:cs typeface="맑은 고딕"/>
              </a:rPr>
              <a:t>• 납기, 위약금, 전력 단가, 감점 기준, 관점 중요도를 시험한다</a:t>
            </a:r>
          </a:p>
          <a:p>
            <a:pPr algn="l" eaLnBrk="0" marL="154305" indent="-154305">
              <a:lnSpc>
                <a:spcPct val="110000"/>
              </a:lnSpc>
              <a:spcAft>
                <a:spcPts val="400"/>
              </a:spcAft>
            </a:pPr>
            <a:r>
              <a:rPr sz="1350" b="0">
                <a:solidFill>
                  <a:srgbClr val="1F2A3A"/>
                </a:solidFill>
                <a:latin typeface="맑은 고딕"/>
                <a:ea typeface="맑은 고딕"/>
                <a:cs typeface="맑은 고딕"/>
              </a:rPr>
              <a:t>• 성공 기준: 성분 변화로 순위와 손익을 설명</a:t>
            </a:r>
          </a:p>
        </p:txBody>
      </p:sp>
      <p:sp>
        <p:nvSpPr>
          <p:cNvPr id="14" name="Rounded Rectangle 13"/>
          <p:cNvSpPr/>
          <p:nvPr/>
        </p:nvSpPr>
        <p:spPr>
          <a:xfrm>
            <a:off x="6233007"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Oval 14"/>
          <p:cNvSpPr/>
          <p:nvPr/>
        </p:nvSpPr>
        <p:spPr>
          <a:xfrm>
            <a:off x="6461607" y="2412746"/>
            <a:ext cx="731520" cy="731520"/>
          </a:xfrm>
          <a:prstGeom prst="ellipse">
            <a:avLst/>
          </a:prstGeom>
          <a:solidFill>
            <a:srgbClr val="E7F3FD"/>
          </a:solidFill>
          <a:ln>
            <a:noFill/>
          </a:ln>
        </p:spPr>
        <p:txBody>
          <a:bodyPr rtlCol="0" anchor="ctr"/>
          <a:lstStyle/>
          <a:p>
            <a:pPr algn="ctr"/>
          </a:p>
        </p:txBody>
      </p:sp>
      <p:pic>
        <p:nvPicPr>
          <p:cNvPr id="16" name="아이콘:chart-bar" descr="chart-bar_13294B_1.6.png"/>
          <p:cNvPicPr>
            <a:picLocks noChangeAspect="1"/>
          </p:cNvPicPr>
          <p:nvPr/>
        </p:nvPicPr>
        <p:blipFill>
          <a:blip r:embed="rId5"/>
          <a:stretch>
            <a:fillRect/>
          </a:stretch>
        </p:blipFill>
        <p:spPr>
          <a:xfrm>
            <a:off x="6615226" y="2566365"/>
            <a:ext cx="424281" cy="424281"/>
          </a:xfrm>
          <a:prstGeom prst="rect">
            <a:avLst/>
          </a:prstGeom>
        </p:spPr>
      </p:pic>
      <p:sp>
        <p:nvSpPr>
          <p:cNvPr id="17" name="TextBox 16"/>
          <p:cNvSpPr txBox="1"/>
          <p:nvPr/>
        </p:nvSpPr>
        <p:spPr>
          <a:xfrm>
            <a:off x="6397599"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KPI 목표 ·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실제값에 시험 목표를 대조한다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설비별 여유의 평균과 최솟값을 계산한다</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목표 변경과 집계를 구별, 안전 판단의 값과 이유 선택</a:t>
            </a:r>
          </a:p>
        </p:txBody>
      </p:sp>
      <p:sp>
        <p:nvSpPr>
          <p:cNvPr id="18" name="Rounded Rectangle 17"/>
          <p:cNvSpPr/>
          <p:nvPr/>
        </p:nvSpPr>
        <p:spPr>
          <a:xfrm>
            <a:off x="9075191" y="2211577"/>
            <a:ext cx="2567863" cy="35595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9303791" y="2412746"/>
            <a:ext cx="731520" cy="731520"/>
          </a:xfrm>
          <a:prstGeom prst="ellipse">
            <a:avLst/>
          </a:prstGeom>
          <a:solidFill>
            <a:srgbClr val="5CB8F2"/>
          </a:solidFill>
          <a:ln>
            <a:noFill/>
          </a:ln>
        </p:spPr>
        <p:txBody>
          <a:bodyPr rtlCol="0" anchor="ctr"/>
          <a:lstStyle/>
          <a:p>
            <a:pPr algn="ctr"/>
          </a:p>
        </p:txBody>
      </p:sp>
      <p:pic>
        <p:nvPicPr>
          <p:cNvPr id="20" name="아이콘:clipboard-check" descr="clipboard-check_13294B_1.6.png"/>
          <p:cNvPicPr>
            <a:picLocks noChangeAspect="1"/>
          </p:cNvPicPr>
          <p:nvPr/>
        </p:nvPicPr>
        <p:blipFill>
          <a:blip r:embed="rId6"/>
          <a:stretch>
            <a:fillRect/>
          </a:stretch>
        </p:blipFill>
        <p:spPr>
          <a:xfrm>
            <a:off x="9457410" y="2566365"/>
            <a:ext cx="424281" cy="424281"/>
          </a:xfrm>
          <a:prstGeom prst="rect">
            <a:avLst/>
          </a:prstGeom>
        </p:spPr>
      </p:pic>
      <p:sp>
        <p:nvSpPr>
          <p:cNvPr id="21" name="TextBox 20"/>
          <p:cNvSpPr txBox="1"/>
          <p:nvPr/>
        </p:nvSpPr>
        <p:spPr>
          <a:xfrm>
            <a:off x="9239783"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비교 기록 · 완성본</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결과 · 근거와 집계 선택을 기록한다</a:t>
            </a:r>
          </a:p>
          <a:p>
            <a:pPr algn="l" eaLnBrk="0" marL="160020" indent="-160020">
              <a:lnSpc>
                <a:spcPct val="110000"/>
              </a:lnSpc>
              <a:spcAft>
                <a:spcPts val="400"/>
              </a:spcAft>
            </a:pPr>
            <a:r>
              <a:rPr sz="1400" b="0">
                <a:solidFill>
                  <a:srgbClr val="1F2A3A"/>
                </a:solidFill>
                <a:latin typeface="맑은 고딕"/>
                <a:ea typeface="맑은 고딕"/>
                <a:cs typeface="맑은 고딕"/>
              </a:rPr>
              <a:t>• 시험값은 사본에만: 설비 명령 · 원본은 그대로</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원본과 출처 보존, 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설비 모델 · SOP 자료</a:t>
            </a:r>
          </a:p>
          <a:p>
            <a:pPr algn="ctr" eaLnBrk="0">
              <a:lnSpc>
                <a:spcPct val="110000"/>
              </a:lnSpc>
              <a:spcAft>
                <a:spcPts val="400"/>
              </a:spcAft>
            </a:pPr>
            <a:r>
              <a:rPr sz="1550" b="0">
                <a:solidFill>
                  <a:srgbClr val="1F2A3A"/>
                </a:solidFill>
                <a:latin typeface="맑은 고딕"/>
                <a:ea typeface="맑은 고딕"/>
                <a:cs typeface="맑은 고딕"/>
              </a:rPr>
              <a:t>기존 식별자와 고장 유형을 재사용한다</a:t>
            </a:r>
          </a:p>
          <a:p>
            <a:pPr algn="ctr" eaLnBrk="0">
              <a:lnSpc>
                <a:spcPct val="110000"/>
              </a:lnSpc>
              <a:spcAft>
                <a:spcPts val="400"/>
              </a:spcAft>
            </a:pPr>
            <a:r>
              <a:rPr sz="1550" b="0">
                <a:solidFill>
                  <a:srgbClr val="1F2A3A"/>
                </a:solidFill>
                <a:latin typeface="맑은 고딕"/>
                <a:ea typeface="맑은 고딕"/>
                <a:cs typeface="맑은 고딕"/>
              </a:rPr>
              <a:t>원문 자동 추출은 만들지 않는다</a:t>
            </a:r>
          </a:p>
          <a:p>
            <a:pPr algn="ctr" eaLnBrk="0">
              <a:lnSpc>
                <a:spcPct val="110000"/>
              </a:lnSpc>
              <a:spcAft>
                <a:spcPts val="400"/>
              </a:spcAft>
            </a:pPr>
            <a:r>
              <a:rPr sz="1550" b="0">
                <a:solidFill>
                  <a:srgbClr val="1F2A3A"/>
                </a:solidFill>
                <a:latin typeface="맑은 고딕"/>
                <a:ea typeface="맑은 고딕"/>
                <a:cs typeface="맑은 고딕"/>
              </a:rPr>
              <a:t>완성 기준: 같은 대상을 중복 생성하지 않음</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erarchy-2" descr="hierarchy-2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절차 구조</a:t>
            </a:r>
          </a:p>
          <a:p>
            <a:pPr algn="ctr" eaLnBrk="0">
              <a:lnSpc>
                <a:spcPct val="110000"/>
              </a:lnSpc>
              <a:spcAft>
                <a:spcPts val="400"/>
              </a:spcAft>
            </a:pPr>
            <a:r>
              <a:rPr sz="1550" b="0">
                <a:solidFill>
                  <a:srgbClr val="1F2A3A"/>
                </a:solidFill>
                <a:latin typeface="맑은 고딕"/>
                <a:ea typeface="맑은 고딕"/>
                <a:cs typeface="맑은 고딕"/>
              </a:rPr>
              <a:t>고장 유형에 조치 방법과 단계를 잇는다</a:t>
            </a:r>
          </a:p>
          <a:p>
            <a:pPr algn="ctr" eaLnBrk="0">
              <a:lnSpc>
                <a:spcPct val="110000"/>
              </a:lnSpc>
              <a:spcAft>
                <a:spcPts val="400"/>
              </a:spcAft>
            </a:pPr>
            <a:r>
              <a:rPr sz="1550" b="0">
                <a:solidFill>
                  <a:srgbClr val="1F2A3A"/>
                </a:solidFill>
                <a:latin typeface="맑은 고딕"/>
                <a:ea typeface="맑은 고딕"/>
                <a:cs typeface="맑은 고딕"/>
              </a:rPr>
              <a:t>적용 · 금지 조건과 완료 기준을 구분한다</a:t>
            </a:r>
          </a:p>
          <a:p>
            <a:pPr algn="ctr" eaLnBrk="0">
              <a:lnSpc>
                <a:spcPct val="110000"/>
              </a:lnSpc>
              <a:spcAft>
                <a:spcPts val="400"/>
              </a:spcAft>
            </a:pPr>
            <a:r>
              <a:rPr sz="1550" b="0">
                <a:solidFill>
                  <a:srgbClr val="1F2A3A"/>
                </a:solidFill>
                <a:latin typeface="맑은 고딕"/>
                <a:ea typeface="맑은 고딕"/>
                <a:cs typeface="맑은 고딕"/>
              </a:rPr>
              <a:t>완성 기준: 단계 순서와 근거 문장을 보존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table" descr="table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결정표 자료</a:t>
            </a:r>
          </a:p>
          <a:p>
            <a:pPr algn="ctr" eaLnBrk="0">
              <a:lnSpc>
                <a:spcPct val="110000"/>
              </a:lnSpc>
              <a:spcAft>
                <a:spcPts val="400"/>
              </a:spcAft>
            </a:pPr>
            <a:r>
              <a:rPr sz="1550" b="0">
                <a:solidFill>
                  <a:srgbClr val="1F2A3A"/>
                </a:solidFill>
                <a:latin typeface="맑은 고딕"/>
                <a:ea typeface="맑은 고딕"/>
                <a:cs typeface="맑은 고딕"/>
              </a:rPr>
              <a:t>조건을 입력 · 연산자 · 기준값 · 출력으로 옮긴다</a:t>
            </a:r>
          </a:p>
          <a:p>
            <a:pPr algn="ctr" eaLnBrk="0">
              <a:lnSpc>
                <a:spcPct val="110000"/>
              </a:lnSpc>
              <a:spcAft>
                <a:spcPts val="400"/>
              </a:spcAft>
            </a:pPr>
            <a:r>
              <a:rPr sz="1550" b="0">
                <a:solidFill>
                  <a:srgbClr val="1F2A3A"/>
                </a:solidFill>
                <a:latin typeface="맑은 고딕"/>
                <a:ea typeface="맑은 고딕"/>
                <a:cs typeface="맑은 고딕"/>
              </a:rPr>
              <a:t>완성 기준: 경계의 포함 여부와 적용 조치를 대조</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완성본 확인</a:t>
            </a:r>
          </a:p>
          <a:p>
            <a:pPr algn="ctr" eaLnBrk="0">
              <a:lnSpc>
                <a:spcPct val="110000"/>
              </a:lnSpc>
              <a:spcAft>
                <a:spcPts val="400"/>
              </a:spcAft>
            </a:pPr>
            <a:r>
              <a:rPr sz="1550" b="0">
                <a:solidFill>
                  <a:srgbClr val="1F2A3A"/>
                </a:solidFill>
                <a:latin typeface="맑은 고딕"/>
                <a:ea typeface="맑은 고딕"/>
                <a:cs typeface="맑은 고딕"/>
              </a:rPr>
              <a:t>완성된 절차 구조와 결정표를 설명한다</a:t>
            </a:r>
          </a:p>
          <a:p>
            <a:pPr algn="ctr" eaLnBrk="0">
              <a:lnSpc>
                <a:spcPct val="110000"/>
              </a:lnSpc>
              <a:spcAft>
                <a:spcPts val="400"/>
              </a:spcAft>
            </a:pPr>
            <a:r>
              <a:rPr sz="1550" b="0">
                <a:solidFill>
                  <a:srgbClr val="1F2A3A"/>
                </a:solidFill>
                <a:latin typeface="맑은 고딕"/>
                <a:ea typeface="맑은 고딕"/>
                <a:cs typeface="맑은 고딕"/>
              </a:rPr>
              <a:t>입력을 대어 판정 결과를 확인한다</a:t>
            </a:r>
          </a:p>
          <a:p>
            <a:pPr algn="ctr" eaLnBrk="0">
              <a:lnSpc>
                <a:spcPct val="110000"/>
              </a:lnSpc>
              <a:spcAft>
                <a:spcPts val="400"/>
              </a:spcAft>
            </a:pPr>
            <a:r>
              <a:rPr sz="1550" b="0">
                <a:solidFill>
                  <a:srgbClr val="1F2A3A"/>
                </a:solidFill>
                <a:latin typeface="맑은 고딕"/>
                <a:ea typeface="맑은 고딕"/>
                <a:cs typeface="맑은 고딕"/>
              </a:rPr>
              <a:t>완성 기준: 원문 → 구조 → 결과를 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제외·정보 부족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대상·경계·누락 처리 일치</a:t>
            </a:r>
          </a:p>
          <a:p>
            <a:pPr algn="l" eaLnBrk="0">
              <a:lnSpc>
                <a:spcPct val="110000"/>
              </a:lnSpc>
            </a:pPr>
            <a:r>
              <a:rPr sz="1150" b="1">
                <a:solidFill>
                  <a:srgbClr val="556175"/>
                </a:solidFill>
                <a:latin typeface="맑은 고딕"/>
                <a:ea typeface="맑은 고딕"/>
                <a:cs typeface="맑은 고딕"/>
              </a:rPr>
              <a:t>대조 근거와 수정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완료 여부</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핀 세척의 완료 여부를 확인한다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재가동 뒤 확인할 매뉴얼의 완료 기준</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가능 여부</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수동 운전 중 팬 최대 운전을 고른다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현재 운전 모드와 원격 조치 제외 조건</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성과 비교</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성과 목표와 지표, 조치의 득실 경로</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가정 변경</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납기가 더 멀다면 결과를 비교한다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