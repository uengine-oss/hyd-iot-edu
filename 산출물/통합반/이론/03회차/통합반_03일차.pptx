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어떤 경우에 어떤 답을 낼지 정한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세로로 긴 세 칸이 운전 모드예요. 첫 칸, 원격 자동 상태에서는 상위 시스템이 보내는 명령을 받습니다. 승인된 조치를 명령으로 만들어 내려보내는 위쪽 계층의 시스템 말이에요. 쿨러 사건 당시가 이 상태였어요. 그래서 이 칸 아래, 원격 제어 후보 줄에 체크가 있죠. 팬 속도나 펌프 부하를 바꾸는 세 후보가 다 남습니다. 가운데 칸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이 칸 아래의 가위표가 그 표시예요. 오른쪽 칸 현장 제어도 현장 패널의 조작을 따르니까, 원격 제어 후보는 빠지고요. 왼쪽 아래 원격 제어 후보의 절차 번호를 보면,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맨 아래 줄, 정비 작업지시를 등록하는 후보는 세 칸 모두 체크예요.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클래스가 Skill입니다. 이 모델에서는 SOP라는 클래스를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예에 적힌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줄마다 오른쪽 맨 아래,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세 줄에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왼쪽 이름 아래 작은 글씨로 적힌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그래프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다음 시간에는 두 번째 물음으로 넘어가겠습니다. 매뉴얼에 문장으로 흩어진 조건을 결정표로 옮기고, 그때의 값에 대어 지금 해도 되는지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줄마다 오른쪽 가운데에는 쿨러 사건 당시의 값도 같이 적혀 있어요. 모드는 원격 자동이었고, 팬 최대 운전을 했을 때의 예측 유온은 화면에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유온 자리에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막대 사이 빈칸에 드는 값을 넣으면, 축 아래 가위표처럼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왼쪽 중복과 상충 아래 작은 글씨를 보면, 겹침을 금지하는 Unique 표라면 겹침 자체가 오류지만, Collect 표라면 여러 결과를 모으려고 일부러 그렇게 만든 것일 수 있죠. 표의 목적과 정책을 같이 봐야 합니다. 그래서 아래 띠처럼,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왼쪽 칸이 DMN 표준, 오른쪽 칸이 HYD에서의 표현입니다. 두 칸의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결정표 모양을 갖췄다고 표준 언어의 모든 표현을 그대로 실행하는 건 아니라는 거예요. 셋째 줄 실행 주체는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마지막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왼쪽 아래 결정표에서 출발해 볼게요. 왼쪽 위가 이 표가 답하는 결정이고, 결정표에서 오른쪽으로 이어진 가운데 진한 원이 표에 들어 있는 규칙이에요. 규칙은 오른쪽 아래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다음 시간에는 세 번째 물음으로 넘어가겠습니다.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세 번째 물음, 규칙을 통과한 후보 가운데 무엇이 더 나은지를 다룹니다. 앞 시간에는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무재해 운전, 그러니까 사고 없이 안전하게 운전하는 것도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차이고,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왼쪽 칸 인터록 여유부터 볼게요. 한계에서 가장 높았던 유온을 빼니까 약 2.5도밖에 안 남았습니다. 목표로 잡은 여유의 4분의 1쯤이에요. 계속 운전은 했지만, 가장 뜨거웠을 때는 한계에 꽤 가까웠다는 뜻이죠. 목표 10도 옆에는 얼마나 모자랐는지와 달성률도 같이 나와 있습니다. 오른쪽 칸 가동률은 관측한 시간 가운데 보호 정지 없이 가동한 시간의 비율을 계산해요. 이 기록에서는 보호 정지가 없었으니 목표를 달성했습니다. 그런데 멈추지 않았다는 결과가, 온도 여유까지 충분했다는 뜻은 아니에요. 실적을 비교할 때는 기간도 맞춰야 합니다. 두 칸은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왼쪽 그래프의 막대 셋이 같은 하루에 얻은 세 설비의 여유예요. 이 셋을 서로 다르게 모은 결과가 오른쪽 첫째 점의 평균과 둘째 점의 최솟값입니다. 평균은 다 더해서 대상 수로 나누죠. 세 설비를 함께 보면 여유가 대략 어느 수준인지 보여 줍니다. 계산하면 약 11도로, 그래프에서도 평균 점선이 목표 10도 점선을 넘어요. 평균만 보면 달성이라고 말하게 되는 거죠. 그런데 맨 위 파란 막대를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오른쪽 셋째 점처럼,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왼쪽 카드를 보세요. 인터록 여유는 한계와 최고 유온이 있어서, 가동률은 관측 시간과 보호 정지 기록이 있어서 계산됐습니다. 가운데 카드는 달라요. 매출을 계산할 장부, 곧 판매 원장이나, 납기 준수율을 계산할 완료와 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오른쪽 카드에는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지표 이름 아래에는 실시간, 주, 월 같은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선 옆에 적힌 high와 medium이 강도, 곧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이 식은 생산 속도를 낮추는 감산과 작업 정지의 영향을 단순히 더합니다. 두 영향이 겹치는 시간이나 실제 야간 정비 시점을 따로 계산하지는 않아요.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왼쪽 그래프의 막대가 후보마다 조치 뒤의 예측 유온이고, 막대 위에 순위가 적혀 있어요. 예측 유온이 가장 낮은 조치가 1순위인지, 먼저 한번 찾아보세요. 예측 유온이 가장 낮은 건 셋째 막대, 팬을 올리고 부하를 낮추는 조치예요. 그런데 순위는 공동 2순위죠. 1순위는 팬만 최대로 돌려서 생산을 유지하는 조치입니다. 냉각 효과 하나만으로 순서를 매긴 게 아니라는 뜻이에요. 부하를 줄이는 두 후보는 오른쪽 둘째 점처럼 같은 점수로 그 뒤를 잇습니다. 그래서 공동 2순위로 읽어요. 그래프에서 어느 막대가 위에 있느냐가 두 후보 사이의 우열을 뜻하지는 않습니다. 맨 아래 막대 핀 세척은 원인을 없애는 조치인데, 왜 예측 온도가 높을까요? 이 시점에 시스템이 하는 동작은 정비 작업지시를 등록하는 거예요. 계산에 쓰인 제어 상태가 바로 바뀌거나 세척이 끝난 게 아니죠. 그래서 예측 유온이 55도 점선을 넘어 경고가 붙고, 4순위가 됐습니다. 이 예측을 ‘핀 세척을 마쳤는데도 냉각이 안 된다’로 읽으면 안 돼요. 오른쪽 마지막 점은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같은 고장 유형에서 사람이 이 조치를 골랐던 비율을 반영합니다. 납기는 얼마나 급한 주문인지, 그리고 생산을 유지하는지, 줄이는지, 멈추는지를 같이 보고요. 마지막 품질은 예측 유온이 높고 고온 로트가 있는 상황에서의 위험을 반영합니다. 고온 로트는 유온이 높을 때 만들어져 출하를 기다리는 제품 묶음이에요.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왼쪽 상자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기준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 엔진이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첫 카드의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카드의 납기나 감점 기준, 관점 중요도는 후보의 득실에 영향을 줄 수 있고요. 셋째 카드의 KPI 목표를 바꿀 때는 실제값이 바뀌는 건지, 달성 판정만 바뀌는 건지도 구분해 보세요. 남길 것은 마지막 카드의 비교 기록입니다. 원래 입력과 바꾼 조건, 결과, 그리고 근거가 된 규칙이나 점수 성분을 적어요. 바꾼 값에는 시간, 퍼센트, 원 같은 단위도 같이 적어 두세요. 셋째 카드의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카드마다 맨 아래에 성공 기준이 있습니다.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첫 단계의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절차 구조에서는 단계의 순서와 근거 문장은 남기고, 적용 조건과 금지 조건, 완료 기준은 따로 구분해요. 조건은 입력과 연산자, 기준값, 출력으로 옮기고요. 남는 것은 절차 구조와 결정표 자료 두 가지입니다. 단계마다 맨 아래 적힌 완성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조건표를 읽어서, 설비 조건에 따라 조치를 판정하는 기능을 만듭니다. 조건표는 완성된 것이 함께 주어져요. 그래서 두 번째 실습을 다 끝내지 못했어도 같은 출발점에서 시작할 수 있습니다. 판정 결과는 경고, 감점, 제외, 그리고 값이 없어서 가릴 수 없는 정보 부족으로 나누고, 이유를 함께 돌려줍니다. 남은 후보는 수업용으로 정해 둔 계산식으로 비용, 생산, 품질, 에너지 손실을 견줘요. 이 비교값은 수업용 계산이라, 포털에서 본 성과 점수와는 다른 값입니다.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운전 모드처럼 꼭 있어야 할 값이 비어 있으면 정보 부족으로 알려 주는지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판정에 쓴 조건이 매뉴얼 어디에서 왔는지는 다음 회차에 원문을 펼쳐 직접 확인할 거예요.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이번 회차를 마무리하는 복습으로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0.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7.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7.png"/><Relationship Id="rId6" Type="http://schemas.openxmlformats.org/officeDocument/2006/relationships/image" Target="../media/image3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6.png"/><Relationship Id="rId6"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운전모드_후보.svg" descr="illust_1529212613687623497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688859" y="1953825"/>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모드</a:t>
            </a:r>
          </a:p>
          <a:p>
            <a:pPr algn="ctr" eaLnBrk="0">
              <a:lnSpc>
                <a:spcPct val="110000"/>
              </a:lnSpc>
              <a:spcAft>
                <a:spcPts val="100"/>
              </a:spcAft>
            </a:pPr>
            <a:r>
              <a:rPr sz="1100" b="0">
                <a:solidFill>
                  <a:srgbClr val="556175"/>
                </a:solidFill>
                <a:latin typeface="맑은 고딕"/>
                <a:ea typeface="맑은 고딕"/>
                <a:cs typeface="맑은 고딕"/>
              </a:rPr>
              <a:t>plc_mode</a:t>
            </a:r>
          </a:p>
        </p:txBody>
      </p:sp>
      <p:sp>
        <p:nvSpPr>
          <p:cNvPr id="8" name="TextBox 7"/>
          <p:cNvSpPr txBox="1"/>
          <p:nvPr/>
        </p:nvSpPr>
        <p:spPr>
          <a:xfrm>
            <a:off x="4529508" y="2540029"/>
            <a:ext cx="1964560"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REMOTE_AUTO</a:t>
            </a:r>
          </a:p>
          <a:p>
            <a:pPr algn="ctr" eaLnBrk="0">
              <a:lnSpc>
                <a:spcPct val="110000"/>
              </a:lnSpc>
              <a:spcAft>
                <a:spcPts val="100"/>
              </a:spcAft>
            </a:pPr>
            <a:r>
              <a:rPr sz="1100" b="0">
                <a:solidFill>
                  <a:srgbClr val="556175"/>
                </a:solidFill>
                <a:latin typeface="맑은 고딕"/>
                <a:ea typeface="맑은 고딕"/>
                <a:cs typeface="맑은 고딕"/>
              </a:rPr>
              <a:t>원격 자동 · 쿨러 사건 당시</a:t>
            </a:r>
          </a:p>
        </p:txBody>
      </p:sp>
      <p:sp>
        <p:nvSpPr>
          <p:cNvPr id="9" name="TextBox 8"/>
          <p:cNvSpPr txBox="1"/>
          <p:nvPr/>
        </p:nvSpPr>
        <p:spPr>
          <a:xfrm>
            <a:off x="6855123"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REMOTE_MANUAL</a:t>
            </a:r>
          </a:p>
          <a:p>
            <a:pPr algn="ctr" eaLnBrk="0">
              <a:lnSpc>
                <a:spcPct val="110000"/>
              </a:lnSpc>
              <a:spcAft>
                <a:spcPts val="100"/>
              </a:spcAft>
            </a:pPr>
            <a:r>
              <a:rPr sz="1100" b="0">
                <a:solidFill>
                  <a:srgbClr val="556175"/>
                </a:solidFill>
                <a:latin typeface="맑은 고딕"/>
                <a:ea typeface="맑은 고딕"/>
                <a:cs typeface="맑은 고딕"/>
              </a:rPr>
              <a:t>원격 수동</a:t>
            </a:r>
          </a:p>
        </p:txBody>
      </p:sp>
      <p:sp>
        <p:nvSpPr>
          <p:cNvPr id="10" name="TextBox 9"/>
          <p:cNvSpPr txBox="1"/>
          <p:nvPr/>
        </p:nvSpPr>
        <p:spPr>
          <a:xfrm>
            <a:off x="9170119" y="2540029"/>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LOCAL</a:t>
            </a:r>
          </a:p>
          <a:p>
            <a:pPr algn="ctr" eaLnBrk="0">
              <a:lnSpc>
                <a:spcPct val="110000"/>
              </a:lnSpc>
              <a:spcAft>
                <a:spcPts val="100"/>
              </a:spcAft>
            </a:pPr>
            <a:r>
              <a:rPr sz="1100" b="0">
                <a:solidFill>
                  <a:srgbClr val="556175"/>
                </a:solidFill>
                <a:latin typeface="맑은 고딕"/>
                <a:ea typeface="맑은 고딕"/>
                <a:cs typeface="맑은 고딕"/>
              </a:rPr>
              <a:t>현장 제어</a:t>
            </a:r>
          </a:p>
        </p:txBody>
      </p:sp>
      <p:sp>
        <p:nvSpPr>
          <p:cNvPr id="11" name="TextBox 10"/>
          <p:cNvSpPr txBox="1"/>
          <p:nvPr/>
        </p:nvSpPr>
        <p:spPr>
          <a:xfrm>
            <a:off x="4529508"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상위 시스템</a:t>
            </a:r>
          </a:p>
          <a:p>
            <a:pPr algn="ctr" eaLnBrk="0">
              <a:lnSpc>
                <a:spcPct val="110000"/>
              </a:lnSpc>
              <a:spcAft>
                <a:spcPts val="100"/>
              </a:spcAft>
            </a:pPr>
            <a:r>
              <a:rPr sz="1100" b="0">
                <a:solidFill>
                  <a:srgbClr val="556175"/>
                </a:solidFill>
                <a:latin typeface="맑은 고딕"/>
                <a:ea typeface="맑은 고딕"/>
                <a:cs typeface="맑은 고딕"/>
              </a:rPr>
              <a:t>보낸 명령을 받는다</a:t>
            </a:r>
          </a:p>
        </p:txBody>
      </p:sp>
      <p:sp>
        <p:nvSpPr>
          <p:cNvPr id="12" name="TextBox 11"/>
          <p:cNvSpPr txBox="1"/>
          <p:nvPr/>
        </p:nvSpPr>
        <p:spPr>
          <a:xfrm>
            <a:off x="6855123"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화면</a:t>
            </a:r>
          </a:p>
          <a:p>
            <a:pPr algn="ctr" eaLnBrk="0">
              <a:lnSpc>
                <a:spcPct val="110000"/>
              </a:lnSpc>
              <a:spcAft>
                <a:spcPts val="100"/>
              </a:spcAft>
            </a:pPr>
            <a:r>
              <a:rPr sz="1100" b="0">
                <a:solidFill>
                  <a:srgbClr val="556175"/>
                </a:solidFill>
                <a:latin typeface="맑은 고딕"/>
                <a:ea typeface="맑은 고딕"/>
                <a:cs typeface="맑은 고딕"/>
              </a:rPr>
              <a:t>운전원이 수동으로 조작한다</a:t>
            </a:r>
          </a:p>
        </p:txBody>
      </p:sp>
      <p:sp>
        <p:nvSpPr>
          <p:cNvPr id="13" name="TextBox 12"/>
          <p:cNvSpPr txBox="1"/>
          <p:nvPr/>
        </p:nvSpPr>
        <p:spPr>
          <a:xfrm>
            <a:off x="9170119" y="3849532"/>
            <a:ext cx="1964560"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패널</a:t>
            </a:r>
          </a:p>
          <a:p>
            <a:pPr algn="ctr" eaLnBrk="0">
              <a:lnSpc>
                <a:spcPct val="110000"/>
              </a:lnSpc>
              <a:spcAft>
                <a:spcPts val="100"/>
              </a:spcAft>
            </a:pPr>
            <a:r>
              <a:rPr sz="1100" b="0">
                <a:solidFill>
                  <a:srgbClr val="556175"/>
                </a:solidFill>
                <a:latin typeface="맑은 고딕"/>
                <a:ea typeface="맑은 고딕"/>
                <a:cs typeface="맑은 고딕"/>
              </a:rPr>
              <a:t>작업자가 직접 제어한다</a:t>
            </a:r>
          </a:p>
        </p:txBody>
      </p:sp>
      <p:sp>
        <p:nvSpPr>
          <p:cNvPr id="14" name="TextBox 13"/>
          <p:cNvSpPr txBox="1"/>
          <p:nvPr/>
        </p:nvSpPr>
        <p:spPr>
          <a:xfrm>
            <a:off x="2219822" y="4691018"/>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제어 후보</a:t>
            </a:r>
          </a:p>
          <a:p>
            <a:pPr algn="ctr" eaLnBrk="0">
              <a:lnSpc>
                <a:spcPct val="110000"/>
              </a:lnSpc>
              <a:spcAft>
                <a:spcPts val="100"/>
              </a:spcAft>
            </a:pPr>
            <a:r>
              <a:rPr sz="1050" b="0">
                <a:solidFill>
                  <a:srgbClr val="556175"/>
                </a:solidFill>
                <a:latin typeface="맑은 고딕"/>
                <a:ea typeface="맑은 고딕"/>
                <a:cs typeface="맑은 고딕"/>
              </a:rPr>
              <a:t>SOP-COOL-11 · 12 · 13</a:t>
            </a:r>
          </a:p>
          <a:p>
            <a:pPr algn="ctr" eaLnBrk="0">
              <a:lnSpc>
                <a:spcPct val="110000"/>
              </a:lnSpc>
              <a:spcAft>
                <a:spcPts val="100"/>
              </a:spcAft>
            </a:pPr>
            <a:r>
              <a:rPr sz="1050" b="0">
                <a:solidFill>
                  <a:srgbClr val="556175"/>
                </a:solidFill>
                <a:latin typeface="맑은 고딕"/>
                <a:ea typeface="맑은 고딕"/>
                <a:cs typeface="맑은 고딕"/>
              </a:rPr>
              <a:t>팬 속도 · 펌프 부하 · HM-8.8</a:t>
            </a:r>
          </a:p>
        </p:txBody>
      </p:sp>
      <p:sp>
        <p:nvSpPr>
          <p:cNvPr id="15" name="TextBox 14"/>
          <p:cNvSpPr txBox="1"/>
          <p:nvPr/>
        </p:nvSpPr>
        <p:spPr>
          <a:xfrm>
            <a:off x="2219822" y="5532504"/>
            <a:ext cx="2123849"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작업지시 후보</a:t>
            </a:r>
          </a:p>
          <a:p>
            <a:pPr algn="ctr" eaLnBrk="0">
              <a:lnSpc>
                <a:spcPct val="110000"/>
              </a:lnSpc>
              <a:spcAft>
                <a:spcPts val="100"/>
              </a:spcAft>
            </a:pPr>
            <a:r>
              <a:rPr sz="1000" b="0">
                <a:solidFill>
                  <a:srgbClr val="556175"/>
                </a:solidFill>
                <a:latin typeface="맑은 고딕"/>
                <a:ea typeface="맑은 고딕"/>
                <a:cs typeface="맑은 고딕"/>
              </a:rPr>
              <a:t>SOP-COOL-14 · HM-8.7</a:t>
            </a:r>
          </a:p>
          <a:p>
            <a:pPr algn="ctr" eaLnBrk="0">
              <a:lnSpc>
                <a:spcPct val="110000"/>
              </a:lnSpc>
              <a:spcAft>
                <a:spcPts val="100"/>
              </a:spcAft>
            </a:pPr>
            <a:r>
              <a:rPr sz="1000" b="0">
                <a:solidFill>
                  <a:srgbClr val="556175"/>
                </a:solidFill>
                <a:latin typeface="맑은 고딕"/>
                <a:ea typeface="맑은 고딕"/>
                <a:cs typeface="맑은 고딕"/>
              </a:rPr>
              <a:t>세척은 정지 · LOCAL · 잠금 뒤</a:t>
            </a:r>
          </a:p>
        </p:txBody>
      </p:sp>
      <p:sp>
        <p:nvSpPr>
          <p:cNvPr id="16" name="TextBox 15"/>
          <p:cNvSpPr txBox="1"/>
          <p:nvPr/>
        </p:nvSpPr>
        <p:spPr>
          <a:xfrm>
            <a:off x="1657001" y="3192417"/>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 남는다</a:t>
            </a:r>
          </a:p>
        </p:txBody>
      </p:sp>
      <p:sp>
        <p:nvSpPr>
          <p:cNvPr id="17" name="TextBox 16"/>
          <p:cNvSpPr txBox="1"/>
          <p:nvPr/>
        </p:nvSpPr>
        <p:spPr>
          <a:xfrm>
            <a:off x="1657001" y="3769165"/>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후보에서 빠진다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즉시 완화</a:t>
            </a:r>
          </a:p>
          <a:p>
            <a:pPr algn="l" eaLnBrk="0">
              <a:lnSpc>
                <a:spcPct val="110000"/>
              </a:lnSpc>
              <a:spcAft>
                <a:spcPts val="200"/>
              </a:spcAft>
            </a:pPr>
            <a:r>
              <a:rPr sz="1150" b="0">
                <a:solidFill>
                  <a:srgbClr val="556175"/>
                </a:solidFill>
                <a:latin typeface="맑은 고딕"/>
                <a:ea typeface="맑은 고딕"/>
                <a:cs typeface="맑은 고딕"/>
              </a:rPr>
              <a:t>MITIGATED_BY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영향을 지금 줄인다. 원인은 남는다</a:t>
            </a:r>
          </a:p>
          <a:p>
            <a:pPr algn="l" eaLnBrk="0">
              <a:lnSpc>
                <a:spcPct val="110000"/>
              </a:lnSpc>
              <a:spcAft>
                <a:spcPts val="300"/>
              </a:spcAft>
            </a:pPr>
            <a:r>
              <a:rPr sz="1400" b="0">
                <a:solidFill>
                  <a:srgbClr val="1F2A3A"/>
                </a:solidFill>
                <a:latin typeface="맑은 고딕"/>
                <a:ea typeface="맑은 고딕"/>
                <a:cs typeface="맑은 고딕"/>
              </a:rPr>
              <a:t>예: SOP-COOL-11 · 12 · 13, 팬 최대 운전 · 부하 조정</a:t>
            </a:r>
          </a:p>
          <a:p>
            <a:pPr algn="l" eaLnBrk="0">
              <a:lnSpc>
                <a:spcPct val="110000"/>
              </a:lnSpc>
              <a:spcAft>
                <a:spcPts val="300"/>
              </a:spcAft>
            </a:pPr>
            <a:r>
              <a:rPr sz="1400" b="0">
                <a:solidFill>
                  <a:srgbClr val="1F2A3A"/>
                </a:solidFill>
                <a:latin typeface="맑은 고딕"/>
                <a:ea typeface="맑은 고딕"/>
                <a:cs typeface="맑은 고딕"/>
              </a:rPr>
              <a:t>쓰이는 때: 경보 직후 · 설비 제어</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근본 조치</a:t>
            </a:r>
          </a:p>
          <a:p>
            <a:pPr algn="l" eaLnBrk="0">
              <a:lnSpc>
                <a:spcPct val="110000"/>
              </a:lnSpc>
              <a:spcAft>
                <a:spcPts val="200"/>
              </a:spcAft>
            </a:pPr>
            <a:r>
              <a:rPr sz="1150" b="0">
                <a:solidFill>
                  <a:srgbClr val="556175"/>
                </a:solidFill>
                <a:latin typeface="맑은 고딕"/>
                <a:ea typeface="맑은 고딕"/>
                <a:cs typeface="맑은 고딕"/>
              </a:rPr>
              <a:t>REMEDIED_BY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일으킨 원인을 없앤다. 원인마다 맞는 조치가 다르다</a:t>
            </a:r>
          </a:p>
          <a:p>
            <a:pPr algn="l" eaLnBrk="0">
              <a:lnSpc>
                <a:spcPct val="110000"/>
              </a:lnSpc>
              <a:spcAft>
                <a:spcPts val="300"/>
              </a:spcAft>
            </a:pPr>
            <a:r>
              <a:rPr sz="1400" b="0">
                <a:solidFill>
                  <a:srgbClr val="1F2A3A"/>
                </a:solidFill>
                <a:latin typeface="맑은 고딕"/>
                <a:ea typeface="맑은 고딕"/>
                <a:cs typeface="맑은 고딕"/>
              </a:rPr>
              <a:t>예: SOP-COOL-14 쿨러 핀 세척(핀 오염), SOP-COOL-15 환기 보강(주변 온도)</a:t>
            </a:r>
          </a:p>
          <a:p>
            <a:pPr algn="l" eaLnBrk="0">
              <a:lnSpc>
                <a:spcPct val="110000"/>
              </a:lnSpc>
              <a:spcAft>
                <a:spcPts val="300"/>
              </a:spcAft>
            </a:pPr>
            <a:r>
              <a:rPr sz="1400" b="0">
                <a:solidFill>
                  <a:srgbClr val="1F2A3A"/>
                </a:solidFill>
                <a:latin typeface="맑은 고딕"/>
                <a:ea typeface="맑은 고딕"/>
                <a:cs typeface="맑은 고딕"/>
              </a:rPr>
              <a:t>쓰이는 때: 정비 시간 · 작업지시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예방 조치</a:t>
            </a:r>
          </a:p>
          <a:p>
            <a:pPr algn="l" eaLnBrk="0">
              <a:lnSpc>
                <a:spcPct val="110000"/>
              </a:lnSpc>
              <a:spcAft>
                <a:spcPts val="200"/>
              </a:spcAft>
            </a:pPr>
            <a:r>
              <a:rPr sz="1150" b="0">
                <a:solidFill>
                  <a:srgbClr val="556175"/>
                </a:solidFill>
                <a:latin typeface="맑은 고딕"/>
                <a:ea typeface="맑은 고딕"/>
                <a:cs typeface="맑은 고딕"/>
              </a:rPr>
              <a:t>PREVENTED_BY</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spcAft>
                <a:spcPts val="300"/>
              </a:spcAft>
            </a:pPr>
            <a:r>
              <a:rPr sz="1400" b="0">
                <a:solidFill>
                  <a:srgbClr val="1F2A3A"/>
                </a:solidFill>
                <a:latin typeface="맑은 고딕"/>
                <a:ea typeface="맑은 고딕"/>
                <a:cs typeface="맑은 고딕"/>
              </a:rPr>
              <a:t>예: SOP-PM-21 2,000 h 정기 점검이 펌프 체적 효율 저하를 막는다</a:t>
            </a:r>
          </a:p>
          <a:p>
            <a:pPr algn="l" eaLnBrk="0">
              <a:lnSpc>
                <a:spcPct val="110000"/>
              </a:lnSpc>
              <a:spcAft>
                <a:spcPts val="300"/>
              </a:spcAft>
            </a:pPr>
            <a:r>
              <a:rPr sz="1400" b="0">
                <a:solidFill>
                  <a:srgbClr val="1F2A3A"/>
                </a:solidFill>
                <a:latin typeface="맑은 고딕"/>
                <a:ea typeface="맑은 고딕"/>
                <a:cs typeface="맑은 고딕"/>
              </a:rPr>
              <a:t>쓰이는 때: 고장 전 · 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1396423870798302354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 운전 모드</a:t>
            </a:r>
          </a:p>
          <a:p>
            <a:pPr algn="l" eaLnBrk="0">
              <a:lnSpc>
                <a:spcPct val="110000"/>
              </a:lnSpc>
              <a:spcAft>
                <a:spcPts val="200"/>
              </a:spcAft>
            </a:pPr>
            <a:r>
              <a:rPr sz="1150" b="0">
                <a:solidFill>
                  <a:srgbClr val="556175"/>
                </a:solidFill>
                <a:latin typeface="맑은 고딕"/>
                <a:ea typeface="맑은 고딕"/>
                <a:cs typeface="맑은 고딕"/>
              </a:rPr>
              <a:t>plc_mode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REMOTE_AUTO · REMOTE_MANUAL · LOCAL 가운데 하나</a:t>
            </a:r>
          </a:p>
          <a:p>
            <a:pPr algn="l" eaLnBrk="0">
              <a:lnSpc>
                <a:spcPct val="110000"/>
              </a:lnSpc>
              <a:spcAft>
                <a:spcPts val="300"/>
              </a:spcAft>
            </a:pPr>
            <a:r>
              <a:rPr sz="1400" b="0">
                <a:solidFill>
                  <a:srgbClr val="1F2A3A"/>
                </a:solidFill>
                <a:latin typeface="맑은 고딕"/>
                <a:ea typeface="맑은 고딕"/>
                <a:cs typeface="맑은 고딕"/>
              </a:rPr>
              <a:t>쿨러 사건: REMOTE_AUTO</a:t>
            </a:r>
          </a:p>
          <a:p>
            <a:pPr algn="l" eaLnBrk="0">
              <a:lnSpc>
                <a:spcPct val="110000"/>
              </a:lnSpc>
              <a:spcAft>
                <a:spcPts val="300"/>
              </a:spcAft>
            </a:pPr>
            <a:r>
              <a:rPr sz="1400" b="0">
                <a:solidFill>
                  <a:srgbClr val="1F2A3A"/>
                </a:solidFill>
                <a:latin typeface="맑은 고딕"/>
                <a:ea typeface="맑은 고딕"/>
                <a:cs typeface="맑은 고딕"/>
              </a:rPr>
              <a:t>출처: SCADA · PLC 상태</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2836925"/>
            <a:ext cx="11094415" cy="1126998"/>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팬 100 % 연속 운전 시간</a:t>
            </a:r>
          </a:p>
          <a:p>
            <a:pPr algn="l" eaLnBrk="0">
              <a:lnSpc>
                <a:spcPct val="110000"/>
              </a:lnSpc>
              <a:spcAft>
                <a:spcPts val="200"/>
              </a:spcAft>
            </a:pPr>
            <a:r>
              <a:rPr sz="1150" b="0">
                <a:solidFill>
                  <a:srgbClr val="556175"/>
                </a:solidFill>
                <a:latin typeface="맑은 고딕"/>
                <a:ea typeface="맑은 고딕"/>
                <a:cs typeface="맑은 고딕"/>
              </a:rPr>
              <a:t>fan100_hours</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spcAft>
                <a:spcPts val="300"/>
              </a:spcAft>
            </a:pPr>
            <a:r>
              <a:rPr sz="1400" b="0">
                <a:solidFill>
                  <a:srgbClr val="1F2A3A"/>
                </a:solidFill>
                <a:latin typeface="맑은 고딕"/>
                <a:ea typeface="맑은 고딕"/>
                <a:cs typeface="맑은 고딕"/>
              </a:rPr>
              <a:t>기준 &gt; 24 h · 쿨러 사건: 0 h(팬 60 %)</a:t>
            </a:r>
          </a:p>
          <a:p>
            <a:pPr algn="l" eaLnBrk="0">
              <a:lnSpc>
                <a:spcPct val="110000"/>
              </a:lnSpc>
              <a:spcAft>
                <a:spcPts val="300"/>
              </a:spcAft>
            </a:pPr>
            <a:r>
              <a:rPr sz="1400" b="0">
                <a:solidFill>
                  <a:srgbClr val="1F2A3A"/>
                </a:solidFill>
                <a:latin typeface="맑은 고딕"/>
                <a:ea typeface="맑은 고딕"/>
                <a:cs typeface="맑은 고딕"/>
              </a:rPr>
              <a:t>출처: 운전 이력 · 시계열</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후 예측 유온</a:t>
            </a:r>
          </a:p>
          <a:p>
            <a:pPr algn="l" eaLnBrk="0">
              <a:lnSpc>
                <a:spcPct val="110000"/>
              </a:lnSpc>
              <a:spcAft>
                <a:spcPts val="200"/>
              </a:spcAft>
            </a:pPr>
            <a:r>
              <a:rPr sz="1150" b="0">
                <a:solidFill>
                  <a:srgbClr val="556175"/>
                </a:solidFill>
                <a:latin typeface="맑은 고딕"/>
                <a:ea typeface="맑은 고딕"/>
                <a:cs typeface="맑은 고딕"/>
              </a:rPr>
              <a:t>forecast_ts1</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spcAft>
                <a:spcPts val="300"/>
              </a:spcAft>
            </a:pPr>
            <a:r>
              <a:rPr sz="1400" b="0">
                <a:solidFill>
                  <a:srgbClr val="1F2A3A"/>
                </a:solidFill>
                <a:latin typeface="맑은 고딕"/>
                <a:ea typeface="맑은 고딕"/>
                <a:cs typeface="맑은 고딕"/>
              </a:rPr>
              <a:t>기준 &gt;= 55 ℃ · 팬 최대 운전 49.8 ℃</a:t>
            </a:r>
          </a:p>
          <a:p>
            <a:pPr algn="l" eaLnBrk="0">
              <a:lnSpc>
                <a:spcPct val="110000"/>
              </a:lnSpc>
              <a:spcAft>
                <a:spcPts val="300"/>
              </a:spcAft>
            </a:pPr>
            <a:r>
              <a:rPr sz="1400" b="0">
                <a:solidFill>
                  <a:srgbClr val="1F2A3A"/>
                </a:solidFill>
                <a:latin typeface="맑은 고딕"/>
                <a:ea typeface="맑은 고딕"/>
                <a:cs typeface="맑은 고딕"/>
              </a:rPr>
              <a:t>출처: 예측 계산 · 설비 모델</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오더 남은 시간</a:t>
            </a:r>
          </a:p>
          <a:p>
            <a:pPr algn="l" eaLnBrk="0">
              <a:lnSpc>
                <a:spcPct val="110000"/>
              </a:lnSpc>
              <a:spcAft>
                <a:spcPts val="200"/>
              </a:spcAft>
            </a:pPr>
            <a:r>
              <a:rPr sz="1150" b="0">
                <a:solidFill>
                  <a:srgbClr val="556175"/>
                </a:solidFill>
                <a:latin typeface="맑은 고딕"/>
                <a:ea typeface="맑은 고딕"/>
                <a:cs typeface="맑은 고딕"/>
              </a:rPr>
              <a:t>order_due_h</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조회 시각부터 납기 일시까지 남은 시간</a:t>
            </a:r>
          </a:p>
          <a:p>
            <a:pPr algn="l" eaLnBrk="0">
              <a:lnSpc>
                <a:spcPct val="110000"/>
              </a:lnSpc>
              <a:spcAft>
                <a:spcPts val="300"/>
              </a:spcAft>
            </a:pPr>
            <a:r>
              <a:rPr sz="1400" b="0">
                <a:solidFill>
                  <a:srgbClr val="1F2A3A"/>
                </a:solidFill>
                <a:latin typeface="맑은 고딕"/>
                <a:ea typeface="맑은 고딕"/>
                <a:cs typeface="맑은 고딕"/>
              </a:rPr>
              <a:t>쿨러 사건: 5.98 h</a:t>
            </a:r>
          </a:p>
          <a:p>
            <a:pPr algn="l" eaLnBrk="0">
              <a:lnSpc>
                <a:spcPct val="110000"/>
              </a:lnSpc>
              <a:spcAft>
                <a:spcPts val="300"/>
              </a:spcAft>
            </a:pPr>
            <a:r>
              <a:rPr sz="1400" b="0">
                <a:solidFill>
                  <a:srgbClr val="1F2A3A"/>
                </a:solidFill>
                <a:latin typeface="맑은 고딕"/>
                <a:ea typeface="맑은 고딕"/>
                <a:cs typeface="맑은 고딕"/>
              </a:rPr>
              <a:t>출처: MES · 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9149666534156224826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수직선_결함.svg" descr="illust_482536651216746448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1637086"/>
            <a:ext cx="223004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누락</a:t>
            </a:r>
          </a:p>
          <a:p>
            <a:pPr algn="ctr" eaLnBrk="0">
              <a:lnSpc>
                <a:spcPct val="110000"/>
              </a:lnSpc>
              <a:spcAft>
                <a:spcPts val="100"/>
              </a:spcAft>
            </a:pPr>
            <a:r>
              <a:rPr sz="1100" b="0">
                <a:solidFill>
                  <a:srgbClr val="556175"/>
                </a:solidFill>
                <a:latin typeface="맑은 고딕"/>
                <a:ea typeface="맑은 고딕"/>
                <a:cs typeface="맑은 고딕"/>
              </a:rPr>
              <a:t>답을 내지 못한다</a:t>
            </a:r>
          </a:p>
        </p:txBody>
      </p:sp>
      <p:sp>
        <p:nvSpPr>
          <p:cNvPr id="8" name="TextBox 7"/>
          <p:cNvSpPr txBox="1"/>
          <p:nvPr/>
        </p:nvSpPr>
        <p:spPr>
          <a:xfrm>
            <a:off x="3409177" y="1689088"/>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예측 55 ℃ 미만: 통과</a:t>
            </a:r>
          </a:p>
        </p:txBody>
      </p:sp>
      <p:sp>
        <p:nvSpPr>
          <p:cNvPr id="9" name="TextBox 8"/>
          <p:cNvSpPr txBox="1"/>
          <p:nvPr/>
        </p:nvSpPr>
        <p:spPr>
          <a:xfrm>
            <a:off x="8601990" y="1689088"/>
            <a:ext cx="21238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60 ℃ 이상: 제외</a:t>
            </a:r>
          </a:p>
        </p:txBody>
      </p:sp>
      <p:sp>
        <p:nvSpPr>
          <p:cNvPr id="10" name="TextBox 9"/>
          <p:cNvSpPr txBox="1"/>
          <p:nvPr/>
        </p:nvSpPr>
        <p:spPr>
          <a:xfrm>
            <a:off x="6531236" y="2355658"/>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57 ℃ → 맞는 행이 없다</a:t>
            </a:r>
          </a:p>
        </p:txBody>
      </p:sp>
      <p:sp>
        <p:nvSpPr>
          <p:cNvPr id="11" name="TextBox 10"/>
          <p:cNvSpPr txBox="1"/>
          <p:nvPr/>
        </p:nvSpPr>
        <p:spPr>
          <a:xfrm>
            <a:off x="892416" y="2875678"/>
            <a:ext cx="2230042"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중복</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경고 둘</a:t>
            </a:r>
          </a:p>
        </p:txBody>
      </p:sp>
      <p:sp>
        <p:nvSpPr>
          <p:cNvPr id="12" name="TextBox 11"/>
          <p:cNvSpPr txBox="1"/>
          <p:nvPr/>
        </p:nvSpPr>
        <p:spPr>
          <a:xfrm>
            <a:off x="5394977" y="2833131"/>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3" name="TextBox 12"/>
          <p:cNvSpPr txBox="1"/>
          <p:nvPr/>
        </p:nvSpPr>
        <p:spPr>
          <a:xfrm>
            <a:off x="8134743" y="3182962"/>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경고</a:t>
            </a:r>
          </a:p>
        </p:txBody>
      </p:sp>
      <p:sp>
        <p:nvSpPr>
          <p:cNvPr id="14" name="TextBox 13"/>
          <p:cNvSpPr txBox="1"/>
          <p:nvPr/>
        </p:nvSpPr>
        <p:spPr>
          <a:xfrm>
            <a:off x="7805546" y="3854260"/>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두 행이 같은 답</a:t>
            </a:r>
          </a:p>
        </p:txBody>
      </p:sp>
      <p:sp>
        <p:nvSpPr>
          <p:cNvPr id="15" name="TextBox 14"/>
          <p:cNvSpPr txBox="1"/>
          <p:nvPr/>
        </p:nvSpPr>
        <p:spPr>
          <a:xfrm>
            <a:off x="892416" y="4374279"/>
            <a:ext cx="2230042"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상충</a:t>
            </a:r>
          </a:p>
          <a:p>
            <a:pPr algn="ctr" eaLnBrk="0">
              <a:lnSpc>
                <a:spcPct val="110000"/>
              </a:lnSpc>
              <a:spcAft>
                <a:spcPts val="100"/>
              </a:spcAft>
            </a:pPr>
            <a:r>
              <a:rPr sz="1100" b="0">
                <a:solidFill>
                  <a:srgbClr val="556175"/>
                </a:solidFill>
                <a:latin typeface="맑은 고딕"/>
                <a:ea typeface="맑은 고딕"/>
                <a:cs typeface="맑은 고딕"/>
              </a:rPr>
              <a:t>중복 금지 표: 오류</a:t>
            </a:r>
          </a:p>
          <a:p>
            <a:pPr algn="ctr" eaLnBrk="0">
              <a:lnSpc>
                <a:spcPct val="110000"/>
              </a:lnSpc>
              <a:spcAft>
                <a:spcPts val="100"/>
              </a:spcAft>
            </a:pPr>
            <a:r>
              <a:rPr sz="1100" b="0">
                <a:solidFill>
                  <a:srgbClr val="556175"/>
                </a:solidFill>
                <a:latin typeface="맑은 고딕"/>
                <a:ea typeface="맑은 고딕"/>
                <a:cs typeface="맑은 고딕"/>
              </a:rPr>
              <a:t>모으는 표: 둘 다</a:t>
            </a:r>
          </a:p>
        </p:txBody>
      </p:sp>
      <p:sp>
        <p:nvSpPr>
          <p:cNvPr id="16" name="TextBox 15"/>
          <p:cNvSpPr txBox="1"/>
          <p:nvPr/>
        </p:nvSpPr>
        <p:spPr>
          <a:xfrm>
            <a:off x="5394977" y="4331732"/>
            <a:ext cx="159288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55 ℃ 이상: 경고</a:t>
            </a:r>
          </a:p>
        </p:txBody>
      </p:sp>
      <p:sp>
        <p:nvSpPr>
          <p:cNvPr id="17" name="TextBox 16"/>
          <p:cNvSpPr txBox="1"/>
          <p:nvPr/>
        </p:nvSpPr>
        <p:spPr>
          <a:xfrm>
            <a:off x="8134743" y="4681563"/>
            <a:ext cx="19114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58 ℃ 이상: 제외</a:t>
            </a:r>
          </a:p>
        </p:txBody>
      </p:sp>
      <p:sp>
        <p:nvSpPr>
          <p:cNvPr id="18" name="TextBox 17"/>
          <p:cNvSpPr txBox="1"/>
          <p:nvPr/>
        </p:nvSpPr>
        <p:spPr>
          <a:xfrm>
            <a:off x="7805546" y="5348133"/>
            <a:ext cx="233623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입력 59 ℃ → 경고인가 제외인가</a:t>
            </a:r>
          </a:p>
        </p:txBody>
      </p:sp>
      <p:sp>
        <p:nvSpPr>
          <p:cNvPr id="19" name="TextBox 18"/>
          <p:cNvSpPr txBox="1"/>
          <p:nvPr/>
        </p:nvSpPr>
        <p:spPr>
          <a:xfrm>
            <a:off x="1210993" y="5811423"/>
            <a:ext cx="976970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HYD가 잡는 것</a:t>
            </a:r>
          </a:p>
          <a:p>
            <a:pPr algn="ctr" eaLnBrk="0">
              <a:lnSpc>
                <a:spcPct val="110000"/>
              </a:lnSpc>
              <a:spcAft>
                <a:spcPts val="100"/>
              </a:spcAft>
            </a:pPr>
            <a:r>
              <a:rPr sz="1100" b="0">
                <a:solidFill>
                  <a:srgbClr val="556175"/>
                </a:solidFill>
                <a:latin typeface="맑은 고딕"/>
                <a:ea typeface="맑은 고딕"/>
                <a:cs typeface="맑은 고딕"/>
              </a:rPr>
              <a:t>순위 정책 행이 둘 맞으면 오류로 거절한다 · 문장(when)과 검사(TESTS)가 다르면 검사기가 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제외 · 감점 규칙의 값을 모른다</a:t>
            </a:r>
          </a:p>
          <a:p>
            <a:pPr algn="l" eaLnBrk="0">
              <a:lnSpc>
                <a:spcPct val="110000"/>
              </a:lnSpc>
              <a:spcAft>
                <a:spcPts val="200"/>
              </a:spcAft>
            </a:pPr>
            <a:r>
              <a:rPr sz="1150" b="0">
                <a:solidFill>
                  <a:srgbClr val="556175"/>
                </a:solidFill>
                <a:latin typeface="맑은 고딕"/>
                <a:ea typeface="맑은 고딕"/>
                <a:cs typeface="맑은 고딕"/>
              </a:rPr>
              <a:t>EXCLUDE · PENALTY 규칙</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통신이 끊겨 plc_mode를 읽지 못했다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 (plc_mode)」 — 제외 쪽으로 처리한다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같은 행의 다른 조건이 거짓이다</a:t>
            </a:r>
          </a:p>
          <a:p>
            <a:pPr algn="l" eaLnBrk="0">
              <a:lnSpc>
                <a:spcPct val="110000"/>
              </a:lnSpc>
              <a:spcAft>
                <a:spcPts val="200"/>
              </a:spcAft>
            </a:pPr>
            <a:r>
              <a:rPr sz="1150" b="0">
                <a:solidFill>
                  <a:srgbClr val="556175"/>
                </a:solidFill>
                <a:latin typeface="맑은 고딕"/>
                <a:ea typeface="맑은 고딕"/>
                <a:cs typeface="맑은 고딕"/>
              </a:rPr>
              <a:t>AND로 묶인 한 행</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skill_kind == 'control' AND plc_mode != 'REMOTE_AUTO'</a:t>
            </a:r>
          </a:p>
          <a:p>
            <a:pPr algn="l" eaLnBrk="0">
              <a:lnSpc>
                <a:spcPct val="110000"/>
              </a:lnSpc>
              <a:spcAft>
                <a:spcPts val="300"/>
              </a:spcAft>
            </a:pPr>
            <a:r>
              <a:rPr sz="1400" b="0">
                <a:solidFill>
                  <a:srgbClr val="1F2A3A"/>
                </a:solidFill>
                <a:latin typeface="맑은 고딕"/>
                <a:ea typeface="맑은 고딕"/>
                <a:cs typeface="맑은 고딕"/>
              </a:rPr>
              <a:t>작업지시 후보는 앞 조건이 거짓</a:t>
            </a:r>
          </a:p>
          <a:p>
            <a:pPr algn="l" eaLnBrk="0">
              <a:lnSpc>
                <a:spcPct val="110000"/>
              </a:lnSpc>
              <a:spcAft>
                <a:spcPts val="300"/>
              </a:spcAft>
            </a:pPr>
            <a:r>
              <a:rPr sz="1400" b="0">
                <a:solidFill>
                  <a:srgbClr val="1F2A3A"/>
                </a:solidFill>
                <a:latin typeface="맑은 고딕"/>
                <a:ea typeface="맑은 고딕"/>
                <a:cs typeface="맑은 고딕"/>
              </a:rPr>
              <a:t>처리: 규칙이 맞지 않는다 · 모르는 값은 상관없다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경고 규칙의 값을 모른다</a:t>
            </a:r>
          </a:p>
          <a:p>
            <a:pPr algn="l" eaLnBrk="0">
              <a:lnSpc>
                <a:spcPct val="110000"/>
              </a:lnSpc>
              <a:spcAft>
                <a:spcPts val="200"/>
              </a:spcAft>
            </a:pPr>
            <a:r>
              <a:rPr sz="1150" b="0">
                <a:solidFill>
                  <a:srgbClr val="556175"/>
                </a:solidFill>
                <a:latin typeface="맑은 고딕"/>
                <a:ea typeface="맑은 고딕"/>
                <a:cs typeface="맑은 고딕"/>
              </a:rPr>
              <a:t>WARN 규칙</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경고 조건의 입력이 비었다</a:t>
            </a:r>
          </a:p>
          <a:p>
            <a:pPr algn="l" eaLnBrk="0">
              <a:lnSpc>
                <a:spcPct val="110000"/>
              </a:lnSpc>
              <a:spcAft>
                <a:spcPts val="300"/>
              </a:spcAft>
            </a:pPr>
            <a:r>
              <a:rPr sz="1400" b="0">
                <a:solidFill>
                  <a:srgbClr val="1F2A3A"/>
                </a:solidFill>
                <a:latin typeface="맑은 고딕"/>
                <a:ea typeface="맑은 고딕"/>
                <a:cs typeface="맑은 고딕"/>
              </a:rPr>
              <a:t>처리: 「확인되지 않은 조건」을 경고로 남긴다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모든 후보가 제외되었다</a:t>
            </a:r>
          </a:p>
          <a:p>
            <a:pPr algn="l" eaLnBrk="0">
              <a:lnSpc>
                <a:spcPct val="110000"/>
              </a:lnSpc>
              <a:spcAft>
                <a:spcPts val="200"/>
              </a:spcAft>
            </a:pPr>
            <a:r>
              <a:rPr sz="1150" b="0">
                <a:solidFill>
                  <a:srgbClr val="556175"/>
                </a:solidFill>
                <a:latin typeface="맑은 고딕"/>
                <a:ea typeface="맑은 고딕"/>
                <a:cs typeface="맑은 고딕"/>
              </a:rPr>
              <a:t>후보 전체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예: 원격 제어 후보만 있는데 운전 모드를 모른다</a:t>
            </a:r>
          </a:p>
          <a:p>
            <a:pPr algn="l" eaLnBrk="0">
              <a:lnSpc>
                <a:spcPct val="110000"/>
              </a:lnSpc>
              <a:spcAft>
                <a:spcPts val="300"/>
              </a:spcAft>
            </a:pPr>
            <a:r>
              <a:rPr sz="1400" b="0">
                <a:solidFill>
                  <a:srgbClr val="1F2A3A"/>
                </a:solidFill>
                <a:latin typeface="맑은 고딕"/>
                <a:ea typeface="맑은 고딕"/>
                <a:cs typeface="맑은 고딕"/>
              </a:rPr>
              <a:t>예: 설비가 보호 정지(TRIP) — 리셋 외 후보 제외</a:t>
            </a:r>
          </a:p>
          <a:p>
            <a:pPr algn="l" eaLnBrk="0">
              <a:lnSpc>
                <a:spcPct val="110000"/>
              </a:lnSpc>
              <a:spcAft>
                <a:spcPts val="300"/>
              </a:spcAft>
            </a:pPr>
            <a:r>
              <a:rPr sz="1400" b="0">
                <a:solidFill>
                  <a:srgbClr val="1F2A3A"/>
                </a:solidFill>
                <a:latin typeface="맑은 고딕"/>
                <a:ea typeface="맑은 고딕"/>
                <a:cs typeface="맑은 고딕"/>
              </a:rPr>
              <a:t>처리: 추천을 내지 않고 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 표준</a:t>
            </a:r>
          </a:p>
        </p:txBody>
      </p:sp>
      <p:sp>
        <p:nvSpPr>
          <p:cNvPr id="8" name="TextBox 7"/>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FEEL</a:t>
            </a:r>
          </a:p>
          <a:p>
            <a:pPr algn="l" eaLnBrk="0" marL="171450" indent="-171450">
              <a:lnSpc>
                <a:spcPct val="110000"/>
              </a:lnSpc>
              <a:spcAft>
                <a:spcPts val="600"/>
              </a:spcAft>
            </a:pPr>
            <a:r>
              <a:rPr sz="1500" b="0">
                <a:solidFill>
                  <a:srgbClr val="1F2A3A"/>
                </a:solidFill>
                <a:latin typeface="맑은 고딕"/>
                <a:ea typeface="맑은 고딕"/>
                <a:cs typeface="맑은 고딕"/>
              </a:rPr>
              <a:t>• 범위 · 목록 등을 식 하나로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표준 DMN 모델 파일을 읽는 엔진</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표에 선언한 Hit Policy대로 결과를 해석한다</a:t>
            </a:r>
          </a:p>
        </p:txBody>
      </p:sp>
      <p:sp>
        <p:nvSpPr>
          <p:cNvPr id="9" name="Rounded Rectangle 8"/>
          <p:cNvSpPr/>
          <p:nvPr/>
        </p:nvSpPr>
        <p:spPr>
          <a:xfrm>
            <a:off x="868680" y="5265801"/>
            <a:ext cx="3636263"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65801"/>
            <a:ext cx="363626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FEEL(Friendly Enough Expression Language)</a:t>
            </a:r>
          </a:p>
        </p:txBody>
      </p:sp>
      <p:sp>
        <p:nvSpPr>
          <p:cNvPr id="11" name="Rounded Rectangle 10"/>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6087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HYD에서의 표현</a:t>
            </a:r>
          </a:p>
        </p:txBody>
      </p:sp>
      <p:sp>
        <p:nvSpPr>
          <p:cNvPr id="13" name="TextBox 12"/>
          <p:cNvSpPr txBox="1"/>
          <p:nvPr/>
        </p:nvSpPr>
        <p:spPr>
          <a:xfrm>
            <a:off x="6735927"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조건 식: TESTS의 연산자 · 기준값</a:t>
            </a:r>
          </a:p>
          <a:p>
            <a:pPr algn="l" eaLnBrk="0" marL="171450" indent="-171450">
              <a:lnSpc>
                <a:spcPct val="110000"/>
              </a:lnSpc>
              <a:spcAft>
                <a:spcPts val="600"/>
              </a:spcAft>
            </a:pPr>
            <a:r>
              <a:rPr sz="1500" b="0">
                <a:solidFill>
                  <a:srgbClr val="1F2A3A"/>
                </a:solidFill>
                <a:latin typeface="맑은 고딕"/>
                <a:ea typeface="맑은 고딕"/>
                <a:cs typeface="맑은 고딕"/>
              </a:rPr>
              <a:t>• 한 행의 검사는 AND</a:t>
            </a:r>
          </a:p>
          <a:p>
            <a:pPr algn="l" eaLnBrk="0" marL="171450" indent="-171450">
              <a:lnSpc>
                <a:spcPct val="110000"/>
              </a:lnSpc>
              <a:spcAft>
                <a:spcPts val="600"/>
              </a:spcAft>
            </a:pPr>
            <a:r>
              <a:rPr sz="1500" b="0">
                <a:solidFill>
                  <a:srgbClr val="1F2A3A"/>
                </a:solidFill>
                <a:latin typeface="맑은 고딕"/>
                <a:ea typeface="맑은 고딕"/>
                <a:cs typeface="맑은 고딕"/>
              </a:rPr>
              <a:t>• 실행 주체: 그래프의 규칙을 평가 함수가 읽는다</a:t>
            </a:r>
          </a:p>
          <a:p>
            <a:pPr algn="l" eaLnBrk="0" marL="171450" indent="-171450">
              <a:lnSpc>
                <a:spcPct val="110000"/>
              </a:lnSpc>
              <a:spcAft>
                <a:spcPts val="600"/>
              </a:spcAft>
            </a:pPr>
            <a:r>
              <a:rPr sz="1500" b="0">
                <a:solidFill>
                  <a:srgbClr val="1F2A3A"/>
                </a:solidFill>
                <a:latin typeface="맑은 고딕"/>
                <a:ea typeface="맑은 고딕"/>
                <a:cs typeface="맑은 고딕"/>
              </a:rPr>
              <a:t>• 선언과 평가의 일치: 선언이 평가 방식과 다르면 판정 없이 거절한다</a:t>
            </a:r>
          </a:p>
        </p:txBody>
      </p:sp>
      <p:sp>
        <p:nvSpPr>
          <p:cNvPr id="14" name="Rounded Rectangle 13"/>
          <p:cNvSpPr/>
          <p:nvPr/>
        </p:nvSpPr>
        <p:spPr>
          <a:xfrm>
            <a:off x="6781647" y="5265801"/>
            <a:ext cx="2639567"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65801"/>
            <a:ext cx="263956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TESTS {operator, value, unit}</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1064429268209386780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인터록 여유</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65 - 최고 유온 62.47 = 2.53 ℃</a:t>
            </a:r>
          </a:p>
          <a:p>
            <a:pPr algn="l" eaLnBrk="0" marL="182880" indent="-182880">
              <a:lnSpc>
                <a:spcPct val="110000"/>
              </a:lnSpc>
              <a:spcAft>
                <a:spcPts val="600"/>
              </a:spcAft>
            </a:pPr>
            <a:r>
              <a:rPr sz="1600" b="0">
                <a:solidFill>
                  <a:srgbClr val="1F2A3A"/>
                </a:solidFill>
                <a:latin typeface="맑은 고딕"/>
                <a:ea typeface="맑은 고딕"/>
                <a:cs typeface="맑은 고딕"/>
              </a:rPr>
              <a:t>• 설비별 여유: HYD-01 2.53 · HYD-02 16.72 · HYD-03 14.55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10 ℃ · 부족 7.47 ℃ · 달성률 25.3 %</a:t>
            </a:r>
          </a:p>
          <a:p>
            <a:pPr algn="l" eaLnBrk="0" marL="182880" indent="-182880">
              <a:lnSpc>
                <a:spcPct val="110000"/>
              </a:lnSpc>
              <a:spcAft>
                <a:spcPts val="600"/>
              </a:spcAft>
            </a:pPr>
            <a:r>
              <a:rPr sz="1600" b="0">
                <a:solidFill>
                  <a:srgbClr val="1F2A3A"/>
                </a:solidFill>
                <a:latin typeface="맑은 고딕"/>
                <a:ea typeface="맑은 고딕"/>
                <a:cs typeface="맑은 고딕"/>
              </a:rPr>
              <a:t>• 유온이 한계에 가까워졌다</a:t>
            </a:r>
          </a:p>
        </p:txBody>
      </p:sp>
      <p:sp>
        <p:nvSpPr>
          <p:cNvPr id="9" name="Rounded Rectangle 8"/>
          <p:cNvSpPr/>
          <p:nvPr/>
        </p:nvSpPr>
        <p:spPr>
          <a:xfrm>
            <a:off x="868680" y="5304536"/>
            <a:ext cx="822960"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미달</a:t>
            </a:r>
          </a:p>
        </p:txBody>
      </p:sp>
      <p:sp>
        <p:nvSpPr>
          <p:cNvPr id="11" name="Rounded Rectangle 10"/>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설비 가동률</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100 × Σ(관측 분 - 보호 정지 분) ÷ Σ 관측 분</a:t>
            </a:r>
          </a:p>
          <a:p>
            <a:pPr algn="l" eaLnBrk="0" marL="182880" indent="-182880">
              <a:lnSpc>
                <a:spcPct val="110000"/>
              </a:lnSpc>
              <a:spcAft>
                <a:spcPts val="600"/>
              </a:spcAft>
            </a:pPr>
            <a:r>
              <a:rPr sz="1600" b="0">
                <a:solidFill>
                  <a:srgbClr val="1F2A3A"/>
                </a:solidFill>
                <a:latin typeface="맑은 고딕"/>
                <a:ea typeface="맑은 고딕"/>
                <a:cs typeface="맑은 고딕"/>
              </a:rPr>
              <a:t>• 실적 100.0 %</a:t>
            </a:r>
          </a:p>
          <a:p>
            <a:pPr algn="l" eaLnBrk="0" marL="182880" indent="-182880">
              <a:lnSpc>
                <a:spcPct val="110000"/>
              </a:lnSpc>
              <a:spcAft>
                <a:spcPts val="600"/>
              </a:spcAft>
            </a:pPr>
            <a:r>
              <a:rPr sz="1600" b="0">
                <a:solidFill>
                  <a:srgbClr val="1F2A3A"/>
                </a:solidFill>
                <a:latin typeface="맑은 고딕"/>
                <a:ea typeface="맑은 고딕"/>
                <a:cs typeface="맑은 고딕"/>
              </a:rPr>
              <a:t>• 목표 95 %</a:t>
            </a:r>
          </a:p>
          <a:p>
            <a:pPr algn="l" eaLnBrk="0" marL="182880" indent="-182880">
              <a:lnSpc>
                <a:spcPct val="110000"/>
              </a:lnSpc>
              <a:spcAft>
                <a:spcPts val="600"/>
              </a:spcAft>
            </a:pPr>
            <a:r>
              <a:rPr sz="1600" b="0">
                <a:solidFill>
                  <a:srgbClr val="1F2A3A"/>
                </a:solidFill>
                <a:latin typeface="맑은 고딕"/>
                <a:ea typeface="맑은 고딕"/>
                <a:cs typeface="맑은 고딕"/>
              </a:rPr>
              <a:t>• 보호 정지는 없었다</a:t>
            </a:r>
          </a:p>
        </p:txBody>
      </p:sp>
      <p:sp>
        <p:nvSpPr>
          <p:cNvPr id="14" name="Rounded Rectangle 13"/>
          <p:cNvSpPr/>
          <p:nvPr/>
        </p:nvSpPr>
        <p:spPr>
          <a:xfrm>
            <a:off x="6781647" y="5304536"/>
            <a:ext cx="82296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045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달성</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Picture 5" descr="그래프_설비별여유_집계.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평균(Mean)</a:t>
            </a:r>
          </a:p>
          <a:p>
            <a:pPr algn="l" eaLnBrk="0">
              <a:lnSpc>
                <a:spcPct val="110000"/>
              </a:lnSpc>
              <a:spcAft>
                <a:spcPts val="400"/>
              </a:spcAft>
            </a:pPr>
            <a:r>
              <a:rPr sz="1400" b="0">
                <a:solidFill>
                  <a:srgbClr val="1F2A3A"/>
                </a:solidFill>
                <a:latin typeface="맑은 고딕"/>
                <a:ea typeface="맑은 고딕"/>
                <a:cs typeface="맑은 고딕"/>
              </a:rPr>
              <a:t>합을 대상 수로 나눈 값</a:t>
            </a:r>
          </a:p>
          <a:p>
            <a:pPr algn="l" eaLnBrk="0">
              <a:lnSpc>
                <a:spcPct val="110000"/>
              </a:lnSpc>
              <a:spcAft>
                <a:spcPts val="400"/>
              </a:spcAft>
            </a:pPr>
            <a:r>
              <a:rPr sz="1400" b="0">
                <a:solidFill>
                  <a:srgbClr val="1F2A3A"/>
                </a:solidFill>
                <a:latin typeface="맑은 고딕"/>
                <a:ea typeface="맑은 고딕"/>
                <a:cs typeface="맑은 고딕"/>
              </a:rPr>
              <a:t>세 설비 여유의 합 ÷ 3 = 11.27 ℃</a:t>
            </a:r>
          </a:p>
          <a:p>
            <a:pPr algn="l" eaLnBrk="0">
              <a:lnSpc>
                <a:spcPct val="110000"/>
              </a:lnSpc>
              <a:spcAft>
                <a:spcPts val="400"/>
              </a:spcAft>
            </a:pPr>
            <a:r>
              <a:rPr sz="1400" b="0">
                <a:solidFill>
                  <a:srgbClr val="1F2A3A"/>
                </a:solidFill>
                <a:latin typeface="맑은 고딕"/>
                <a:ea typeface="맑은 고딕"/>
                <a:cs typeface="맑은 고딕"/>
              </a:rPr>
              <a:t>전체 수준을 요약한 비교 계산</a:t>
            </a:r>
          </a:p>
          <a:p>
            <a:pPr algn="l" eaLnBrk="0">
              <a:lnSpc>
                <a:spcPct val="110000"/>
              </a:lnSpc>
              <a:spcAft>
                <a:spcPts val="400"/>
              </a:spcAft>
            </a:pPr>
            <a:r>
              <a:rPr sz="1400" b="0">
                <a:solidFill>
                  <a:srgbClr val="1F2A3A"/>
                </a:solidFill>
                <a:latin typeface="맑은 고딕"/>
                <a:ea typeface="맑은 고딕"/>
                <a:cs typeface="맑은 고딕"/>
              </a:rPr>
              <a:t>한 설비의 작은 여유가 가려진다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최솟값(Minimum)</a:t>
            </a:r>
          </a:p>
          <a:p>
            <a:pPr algn="l" eaLnBrk="0">
              <a:lnSpc>
                <a:spcPct val="110000"/>
              </a:lnSpc>
              <a:spcAft>
                <a:spcPts val="400"/>
              </a:spcAft>
            </a:pPr>
            <a:r>
              <a:rPr sz="1400" b="0">
                <a:solidFill>
                  <a:srgbClr val="1F2A3A"/>
                </a:solidFill>
                <a:latin typeface="맑은 고딕"/>
                <a:ea typeface="맑은 고딕"/>
                <a:cs typeface="맑은 고딕"/>
              </a:rPr>
              <a:t>대상 중 가장 작은 값</a:t>
            </a:r>
          </a:p>
          <a:p>
            <a:pPr algn="l" eaLnBrk="0">
              <a:lnSpc>
                <a:spcPct val="110000"/>
              </a:lnSpc>
              <a:spcAft>
                <a:spcPts val="400"/>
              </a:spcAft>
            </a:pPr>
            <a:r>
              <a:rPr sz="1400" b="0">
                <a:solidFill>
                  <a:srgbClr val="1F2A3A"/>
                </a:solidFill>
                <a:latin typeface="맑은 고딕"/>
                <a:ea typeface="맑은 고딕"/>
                <a:cs typeface="맑은 고딕"/>
              </a:rPr>
              <a:t>HYD-01의 여유 2.53 ℃</a:t>
            </a:r>
          </a:p>
          <a:p>
            <a:pPr algn="l" eaLnBrk="0">
              <a:lnSpc>
                <a:spcPct val="110000"/>
              </a:lnSpc>
              <a:spcAft>
                <a:spcPts val="400"/>
              </a:spcAft>
            </a:pPr>
            <a:r>
              <a:rPr sz="1400" b="0">
                <a:solidFill>
                  <a:srgbClr val="1F2A3A"/>
                </a:solidFill>
                <a:latin typeface="맑은 고딕"/>
                <a:ea typeface="맑은 고딕"/>
                <a:cs typeface="맑은 고딕"/>
              </a:rPr>
              <a:t>인터록 여유 목표 10 ℃ → 미달</a:t>
            </a:r>
          </a:p>
          <a:p>
            <a:pPr algn="l" eaLnBrk="0">
              <a:lnSpc>
                <a:spcPct val="110000"/>
              </a:lnSpc>
              <a:spcAft>
                <a:spcPts val="400"/>
              </a:spcAft>
            </a:pPr>
            <a:r>
              <a:rPr sz="1400" b="0">
                <a:solidFill>
                  <a:srgbClr val="1F2A3A"/>
                </a:solidFill>
                <a:latin typeface="맑은 고딕"/>
                <a:ea typeface="맑은 고딕"/>
                <a:cs typeface="맑은 고딕"/>
              </a:rPr>
              <a:t>한계에 가장 가까운 설비 확인</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KPI 실적</a:t>
            </a:r>
          </a:p>
          <a:p>
            <a:pPr algn="l" eaLnBrk="0">
              <a:lnSpc>
                <a:spcPct val="110000"/>
              </a:lnSpc>
              <a:spcAft>
                <a:spcPts val="400"/>
              </a:spcAft>
            </a:pPr>
            <a:r>
              <a:rPr sz="1300" b="0">
                <a:solidFill>
                  <a:srgbClr val="1F2A3A"/>
                </a:solidFill>
                <a:latin typeface="맑은 고딕"/>
                <a:ea typeface="맑은 고딕"/>
                <a:cs typeface="맑은 고딕"/>
              </a:rPr>
              <a:t>시스템은 최솟값을 KPI 실적으로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계산됨</a:t>
            </a:r>
          </a:p>
          <a:p>
            <a:pPr algn="l" eaLnBrk="0" marL="182880" indent="-182880">
              <a:lnSpc>
                <a:spcPct val="110000"/>
              </a:lnSpc>
              <a:spcAft>
                <a:spcPts val="400"/>
              </a:spcAft>
            </a:pPr>
            <a:r>
              <a:rPr sz="1600" b="0">
                <a:solidFill>
                  <a:srgbClr val="1F2A3A"/>
                </a:solidFill>
                <a:latin typeface="맑은 고딕"/>
                <a:ea typeface="맑은 고딕"/>
                <a:cs typeface="맑은 고딕"/>
              </a:rPr>
              <a:t>• 인터록 여유 2.53 ℃: 지식 그래프의 한계 65 ℃ + 시계열의 최고 TS1</a:t>
            </a:r>
          </a:p>
          <a:p>
            <a:pPr algn="l" eaLnBrk="0" marL="182880" indent="-182880">
              <a:lnSpc>
                <a:spcPct val="110000"/>
              </a:lnSpc>
              <a:spcAft>
                <a:spcPts val="400"/>
              </a:spcAft>
            </a:pPr>
            <a:r>
              <a:rPr sz="1600" b="0">
                <a:solidFill>
                  <a:srgbClr val="1F2A3A"/>
                </a:solidFill>
                <a:latin typeface="맑은 고딕"/>
                <a:ea typeface="맑은 고딕"/>
                <a:cs typeface="맑은 고딕"/>
              </a:rPr>
              <a:t>• 설비 가동률 100.0 %: 시계열의 관측 분 + 경보 기록의 보호 정지 분</a:t>
            </a:r>
          </a:p>
        </p:txBody>
      </p:sp>
      <p:sp>
        <p:nvSpPr>
          <p:cNvPr id="10" name="Rounded Rectangle 9"/>
          <p:cNvSpPr/>
          <p:nvPr/>
        </p:nvSpPr>
        <p:spPr>
          <a:xfrm>
            <a:off x="777240" y="542950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 기록이 있다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database-off" descr="database-off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계산 불가</a:t>
            </a:r>
          </a:p>
          <a:p>
            <a:pPr algn="l" eaLnBrk="0" marL="182880" indent="-182880">
              <a:lnSpc>
                <a:spcPct val="110000"/>
              </a:lnSpc>
              <a:spcAft>
                <a:spcPts val="400"/>
              </a:spcAft>
            </a:pPr>
            <a:r>
              <a:rPr sz="1600" b="0">
                <a:solidFill>
                  <a:srgbClr val="1F2A3A"/>
                </a:solidFill>
                <a:latin typeface="맑은 고딕"/>
                <a:ea typeface="맑은 고딕"/>
                <a:cs typeface="맑은 고딕"/>
              </a:rPr>
              <a:t>• 매출: 업무 데이터베이스의 판매 · 매출 원장이 없다</a:t>
            </a:r>
          </a:p>
          <a:p>
            <a:pPr algn="l" eaLnBrk="0" marL="182880" indent="-182880">
              <a:lnSpc>
                <a:spcPct val="110000"/>
              </a:lnSpc>
              <a:spcAft>
                <a:spcPts val="400"/>
              </a:spcAft>
            </a:pPr>
            <a:r>
              <a:rPr sz="1600" b="0">
                <a:solidFill>
                  <a:srgbClr val="1F2A3A"/>
                </a:solidFill>
                <a:latin typeface="맑은 고딕"/>
                <a:ea typeface="맑은 고딕"/>
                <a:cs typeface="맑은 고딕"/>
              </a:rPr>
              <a:t>• 납기 준수율: 납기 대비 실제 완료 · 출하 시각 기록이 없다 — 0 %가 아니다</a:t>
            </a:r>
          </a:p>
        </p:txBody>
      </p:sp>
      <p:sp>
        <p:nvSpPr>
          <p:cNvPr id="16" name="Rounded Rectangle 15"/>
          <p:cNvSpPr/>
          <p:nvPr/>
        </p:nvSpPr>
        <p:spPr>
          <a:xfrm>
            <a:off x="4566818" y="5429504"/>
            <a:ext cx="156972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계산 불가 — 사유</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결과의 상태</a:t>
            </a:r>
          </a:p>
          <a:p>
            <a:pPr algn="l" eaLnBrk="0" marL="182880" indent="-182880">
              <a:lnSpc>
                <a:spcPct val="110000"/>
              </a:lnSpc>
              <a:spcAft>
                <a:spcPts val="400"/>
              </a:spcAft>
            </a:pPr>
            <a:r>
              <a:rPr sz="1600" b="0">
                <a:solidFill>
                  <a:srgbClr val="1F2A3A"/>
                </a:solidFill>
                <a:latin typeface="맑은 고딕"/>
                <a:ea typeface="맑은 고딕"/>
                <a:cs typeface="맑은 고딕"/>
              </a:rPr>
              <a:t>• 달성 · 미달 · 목표 없음</a:t>
            </a:r>
          </a:p>
          <a:p>
            <a:pPr algn="l" eaLnBrk="0" marL="182880" indent="-182880">
              <a:lnSpc>
                <a:spcPct val="110000"/>
              </a:lnSpc>
              <a:spcAft>
                <a:spcPts val="400"/>
              </a:spcAft>
            </a:pPr>
            <a:r>
              <a:rPr sz="1600" b="0">
                <a:solidFill>
                  <a:srgbClr val="1F2A3A"/>
                </a:solidFill>
                <a:latin typeface="맑은 고딕"/>
                <a:ea typeface="맑은 고딕"/>
                <a:cs typeface="맑은 고딕"/>
              </a:rPr>
              <a:t>• 부분 실적 · 기록 없음</a:t>
            </a:r>
          </a:p>
          <a:p>
            <a:pPr algn="l" eaLnBrk="0" marL="182880" indent="-182880">
              <a:lnSpc>
                <a:spcPct val="110000"/>
              </a:lnSpc>
              <a:spcAft>
                <a:spcPts val="400"/>
              </a:spcAft>
            </a:pPr>
            <a:r>
              <a:rPr sz="1600" b="0">
                <a:solidFill>
                  <a:srgbClr val="1F2A3A"/>
                </a:solidFill>
                <a:latin typeface="맑은 고딕"/>
                <a:ea typeface="맑은 고딕"/>
                <a:cs typeface="맑은 고딕"/>
              </a:rPr>
              <a:t>• 계산 불가 · 조회 실패</a:t>
            </a:r>
          </a:p>
        </p:txBody>
      </p:sp>
      <p:sp>
        <p:nvSpPr>
          <p:cNvPr id="22" name="Rounded Rectangle 21"/>
          <p:cNvSpPr/>
          <p:nvPr/>
        </p:nvSpPr>
        <p:spPr>
          <a:xfrm>
            <a:off x="8356396" y="5429504"/>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서로 구별해 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4785667491969490806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5686691423712395344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6301989300782049836_1793113664.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3575434621727194840_17931136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작업지시를</a:t>
            </a:r>
          </a:p>
          <a:p>
            <a:pPr algn="l" eaLnBrk="0">
              <a:lnSpc>
                <a:spcPct val="110000"/>
              </a:lnSpc>
            </a:pPr>
            <a:r>
              <a:rPr sz="1250" b="1">
                <a:solidFill>
                  <a:srgbClr val="1A6FC4"/>
                </a:solidFill>
                <a:latin typeface="맑은 고딕"/>
                <a:ea typeface="맑은 고딕"/>
                <a:cs typeface="맑은 고딕"/>
              </a:rPr>
              <a:t>거는 후보</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ERP 고장 비용 × min(1, 기간 ÷ CMMS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a:t>
            </a:r>
          </a:p>
          <a:p>
            <a:pPr algn="l" eaLnBrk="0">
              <a:lnSpc>
                <a:spcPct val="110000"/>
              </a:lnSpc>
            </a:pPr>
            <a:r>
              <a:rPr sz="1250" b="1">
                <a:solidFill>
                  <a:srgbClr val="556175"/>
                </a:solidFill>
                <a:latin typeface="맑은 고딕"/>
                <a:ea typeface="맑은 고딕"/>
                <a:cs typeface="맑은 고딕"/>
              </a:rPr>
              <a:t>남는 후보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1순위 팬 최대 운전</a:t>
            </a:r>
          </a:p>
          <a:p>
            <a:pPr algn="l" eaLnBrk="0">
              <a:lnSpc>
                <a:spcPct val="110000"/>
              </a:lnSpc>
              <a:spcAft>
                <a:spcPts val="400"/>
              </a:spcAft>
            </a:pPr>
            <a:r>
              <a:rPr sz="1400" b="0">
                <a:solidFill>
                  <a:srgbClr val="1F2A3A"/>
                </a:solidFill>
                <a:latin typeface="맑은 고딕"/>
                <a:ea typeface="맑은 고딕"/>
                <a:cs typeface="맑은 고딕"/>
              </a:rPr>
              <a:t>SOP-COOL-11 · 생산 유지</a:t>
            </a:r>
          </a:p>
          <a:p>
            <a:pPr algn="l" eaLnBrk="0">
              <a:lnSpc>
                <a:spcPct val="110000"/>
              </a:lnSpc>
              <a:spcAft>
                <a:spcPts val="400"/>
              </a:spcAft>
            </a:pPr>
            <a:r>
              <a:rPr sz="1400" b="0">
                <a:solidFill>
                  <a:srgbClr val="1F2A3A"/>
                </a:solidFill>
                <a:latin typeface="맑은 고딕"/>
                <a:ea typeface="맑은 고딕"/>
                <a:cs typeface="맑은 고딕"/>
              </a:rPr>
              <a:t>점수 +3.38 · 승인 운전원</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공동 2순위 두 후보</a:t>
            </a:r>
          </a:p>
          <a:p>
            <a:pPr algn="l" eaLnBrk="0">
              <a:lnSpc>
                <a:spcPct val="110000"/>
              </a:lnSpc>
              <a:spcAft>
                <a:spcPts val="400"/>
              </a:spcAft>
            </a:pPr>
            <a:r>
              <a:rPr sz="1400" b="0">
                <a:solidFill>
                  <a:srgbClr val="1F2A3A"/>
                </a:solidFill>
                <a:latin typeface="맑은 고딕"/>
                <a:ea typeface="맑은 고딕"/>
                <a:cs typeface="맑은 고딕"/>
              </a:rPr>
              <a:t>SOP-COOL-13 · 12 · 생산 감산</a:t>
            </a:r>
          </a:p>
          <a:p>
            <a:pPr algn="l" eaLnBrk="0">
              <a:lnSpc>
                <a:spcPct val="110000"/>
              </a:lnSpc>
              <a:spcAft>
                <a:spcPts val="400"/>
              </a:spcAft>
            </a:pPr>
            <a:r>
              <a:rPr sz="1400" b="0">
                <a:solidFill>
                  <a:srgbClr val="1F2A3A"/>
                </a:solidFill>
                <a:latin typeface="맑은 고딕"/>
                <a:ea typeface="맑은 고딕"/>
                <a:cs typeface="맑은 고딕"/>
              </a:rPr>
              <a:t>점수 +2.75 · 승인 운전원</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4순위 쿨러 핀 세척 · 경고</a:t>
            </a:r>
          </a:p>
          <a:p>
            <a:pPr algn="l" eaLnBrk="0">
              <a:lnSpc>
                <a:spcPct val="110000"/>
              </a:lnSpc>
              <a:spcAft>
                <a:spcPts val="400"/>
              </a:spcAft>
            </a:pPr>
            <a:r>
              <a:rPr sz="1400" b="0">
                <a:solidFill>
                  <a:srgbClr val="1F2A3A"/>
                </a:solidFill>
                <a:latin typeface="맑은 고딕"/>
                <a:ea typeface="맑은 고딕"/>
                <a:cs typeface="맑은 고딕"/>
              </a:rPr>
              <a:t>SOP-COOL-14 · 예측 유온 ≥ 55 ℃</a:t>
            </a:r>
          </a:p>
          <a:p>
            <a:pPr algn="l" eaLnBrk="0">
              <a:lnSpc>
                <a:spcPct val="110000"/>
              </a:lnSpc>
              <a:spcAft>
                <a:spcPts val="400"/>
              </a:spcAft>
            </a:pPr>
            <a:r>
              <a:rPr sz="1400" b="0">
                <a:solidFill>
                  <a:srgbClr val="1F2A3A"/>
                </a:solidFill>
                <a:latin typeface="맑은 고딕"/>
                <a:ea typeface="맑은 고딕"/>
                <a:cs typeface="맑은 고딕"/>
              </a:rPr>
              <a:t>점수 -1.58 · 승인 설비보전팀장</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300" b="0">
                <a:solidFill>
                  <a:srgbClr val="1F2A3A"/>
                </a:solidFill>
                <a:latin typeface="맑은 고딕"/>
                <a:ea typeface="맑은 고딕"/>
                <a:cs typeface="맑은 고딕"/>
              </a:rPr>
              <a:t>원격 자동 · 팬 60 %(100 % 연속 0 h)</a:t>
            </a:r>
          </a:p>
          <a:p>
            <a:pPr algn="l" eaLnBrk="0">
              <a:lnSpc>
                <a:spcPct val="110000"/>
              </a:lnSpc>
              <a:spcAft>
                <a:spcPts val="400"/>
              </a:spcAft>
            </a:pPr>
            <a:r>
              <a:rPr sz="1300" b="0">
                <a:solidFill>
                  <a:srgbClr val="1F2A3A"/>
                </a:solidFill>
                <a:latin typeface="맑은 고딕"/>
                <a:ea typeface="맑은 고딕"/>
                <a:cs typeface="맑은 고딕"/>
              </a:rPr>
              <a:t>납기 5.98 h · 위약금 120만 원/h</a:t>
            </a:r>
          </a:p>
          <a:p>
            <a:pPr algn="l" eaLnBrk="0">
              <a:lnSpc>
                <a:spcPct val="110000"/>
              </a:lnSpc>
              <a:spcAft>
                <a:spcPts val="400"/>
              </a:spcAft>
            </a:pPr>
            <a:r>
              <a:rPr sz="1300" b="0">
                <a:solidFill>
                  <a:srgbClr val="1F2A3A"/>
                </a:solidFill>
                <a:latin typeface="맑은 고딕"/>
                <a:ea typeface="맑은 고딕"/>
                <a:cs typeface="맑은 고딕"/>
              </a:rPr>
              <a:t>고온 로트 있음 · 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6338329599343891268_17931136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2746"/>
            <a:ext cx="731520" cy="731520"/>
          </a:xfrm>
          <a:prstGeom prst="ellipse">
            <a:avLst/>
          </a:prstGeom>
          <a:solidFill>
            <a:srgbClr val="E7F3FD"/>
          </a:solidFill>
          <a:ln>
            <a:noFill/>
          </a:ln>
        </p:spPr>
        <p:txBody>
          <a:bodyPr rtlCol="0" anchor="ctr"/>
          <a:lstStyle/>
          <a:p>
            <a:pPr algn="ctr"/>
          </a:p>
        </p:txBody>
      </p:sp>
      <p:pic>
        <p:nvPicPr>
          <p:cNvPr id="8" name="아이콘:adjustments" descr="adjustments_13294B_1.6.png"/>
          <p:cNvPicPr>
            <a:picLocks noChangeAspect="1"/>
          </p:cNvPicPr>
          <p:nvPr/>
        </p:nvPicPr>
        <p:blipFill>
          <a:blip r:embed="rId3"/>
          <a:stretch>
            <a:fillRect/>
          </a:stretch>
        </p:blipFill>
        <p:spPr>
          <a:xfrm>
            <a:off x="930859" y="2566365"/>
            <a:ext cx="424281" cy="424281"/>
          </a:xfrm>
          <a:prstGeom prst="rect">
            <a:avLst/>
          </a:prstGeom>
        </p:spPr>
      </p:pic>
      <p:sp>
        <p:nvSpPr>
          <p:cNvPr id="9" name="TextBox 8"/>
          <p:cNvSpPr txBox="1"/>
          <p:nvPr/>
        </p:nvSpPr>
        <p:spPr>
          <a:xfrm>
            <a:off x="713232"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운전 조건</a:t>
            </a:r>
          </a:p>
          <a:p>
            <a:pPr algn="l" eaLnBrk="0" marL="160020" indent="-160020">
              <a:lnSpc>
                <a:spcPct val="110000"/>
              </a:lnSpc>
              <a:spcAft>
                <a:spcPts val="400"/>
              </a:spcAft>
            </a:pPr>
            <a:r>
              <a:rPr sz="1400" b="0">
                <a:solidFill>
                  <a:srgbClr val="1F2A3A"/>
                </a:solidFill>
                <a:latin typeface="맑은 고딕"/>
                <a:ea typeface="맑은 고딕"/>
                <a:cs typeface="맑은 고딕"/>
              </a:rPr>
              <a:t>• 운전 모드, 설비 상태, 팬 연속 시간 중 하나를 바꿔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적용 규칙과 후보 유지 · 제외를 연결</a:t>
            </a:r>
          </a:p>
        </p:txBody>
      </p:sp>
      <p:sp>
        <p:nvSpPr>
          <p:cNvPr id="10" name="Rounded Rectangle 9"/>
          <p:cNvSpPr/>
          <p:nvPr/>
        </p:nvSpPr>
        <p:spPr>
          <a:xfrm>
            <a:off x="3390823"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Oval 10"/>
          <p:cNvSpPr/>
          <p:nvPr/>
        </p:nvSpPr>
        <p:spPr>
          <a:xfrm>
            <a:off x="3619423" y="2412746"/>
            <a:ext cx="731520" cy="731520"/>
          </a:xfrm>
          <a:prstGeom prst="ellipse">
            <a:avLst/>
          </a:prstGeom>
          <a:solidFill>
            <a:srgbClr val="E7F3FD"/>
          </a:solidFill>
          <a:ln>
            <a:noFill/>
          </a:ln>
        </p:spPr>
        <p:txBody>
          <a:bodyPr rtlCol="0" anchor="ctr"/>
          <a:lstStyle/>
          <a:p>
            <a:pPr algn="ctr"/>
          </a:p>
        </p:txBody>
      </p:sp>
      <p:pic>
        <p:nvPicPr>
          <p:cNvPr id="12" name="아이콘:report-money" descr="report-money_13294B_1.6.png"/>
          <p:cNvPicPr>
            <a:picLocks noChangeAspect="1"/>
          </p:cNvPicPr>
          <p:nvPr/>
        </p:nvPicPr>
        <p:blipFill>
          <a:blip r:embed="rId4"/>
          <a:stretch>
            <a:fillRect/>
          </a:stretch>
        </p:blipFill>
        <p:spPr>
          <a:xfrm>
            <a:off x="3773043" y="2566365"/>
            <a:ext cx="424281" cy="424281"/>
          </a:xfrm>
          <a:prstGeom prst="rect">
            <a:avLst/>
          </a:prstGeom>
        </p:spPr>
      </p:pic>
      <p:sp>
        <p:nvSpPr>
          <p:cNvPr id="13" name="TextBox 12"/>
          <p:cNvSpPr txBox="1"/>
          <p:nvPr/>
        </p:nvSpPr>
        <p:spPr>
          <a:xfrm>
            <a:off x="3555415"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손익 · What-if</a:t>
            </a:r>
          </a:p>
          <a:p>
            <a:pPr algn="l" eaLnBrk="0" marL="154305" indent="-154305">
              <a:lnSpc>
                <a:spcPct val="110000"/>
              </a:lnSpc>
              <a:spcAft>
                <a:spcPts val="400"/>
              </a:spcAft>
            </a:pPr>
            <a:r>
              <a:rPr sz="1350" b="0">
                <a:solidFill>
                  <a:srgbClr val="1F2A3A"/>
                </a:solidFill>
                <a:latin typeface="맑은 고딕"/>
                <a:ea typeface="맑은 고딕"/>
                <a:cs typeface="맑은 고딕"/>
              </a:rPr>
              <a:t>• 납기, 위약금, 전력 단가, 감점 기준, 관점 중요도를 시험한다</a:t>
            </a:r>
          </a:p>
          <a:p>
            <a:pPr algn="l" eaLnBrk="0" marL="154305" indent="-154305">
              <a:lnSpc>
                <a:spcPct val="110000"/>
              </a:lnSpc>
              <a:spcAft>
                <a:spcPts val="400"/>
              </a:spcAft>
            </a:pPr>
            <a:r>
              <a:rPr sz="1350" b="0">
                <a:solidFill>
                  <a:srgbClr val="1F2A3A"/>
                </a:solidFill>
                <a:latin typeface="맑은 고딕"/>
                <a:ea typeface="맑은 고딕"/>
                <a:cs typeface="맑은 고딕"/>
              </a:rPr>
              <a:t>• 성공 기준: 성분 변화로 순위와 손익을 설명</a:t>
            </a:r>
          </a:p>
        </p:txBody>
      </p:sp>
      <p:sp>
        <p:nvSpPr>
          <p:cNvPr id="14" name="Rounded Rectangle 13"/>
          <p:cNvSpPr/>
          <p:nvPr/>
        </p:nvSpPr>
        <p:spPr>
          <a:xfrm>
            <a:off x="6233007" y="2211577"/>
            <a:ext cx="2567863" cy="35595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Oval 14"/>
          <p:cNvSpPr/>
          <p:nvPr/>
        </p:nvSpPr>
        <p:spPr>
          <a:xfrm>
            <a:off x="6461607" y="2412746"/>
            <a:ext cx="731520" cy="731520"/>
          </a:xfrm>
          <a:prstGeom prst="ellipse">
            <a:avLst/>
          </a:prstGeom>
          <a:solidFill>
            <a:srgbClr val="E7F3FD"/>
          </a:solidFill>
          <a:ln>
            <a:noFill/>
          </a:ln>
        </p:spPr>
        <p:txBody>
          <a:bodyPr rtlCol="0" anchor="ctr"/>
          <a:lstStyle/>
          <a:p>
            <a:pPr algn="ctr"/>
          </a:p>
        </p:txBody>
      </p:sp>
      <p:pic>
        <p:nvPicPr>
          <p:cNvPr id="16" name="아이콘:chart-bar" descr="chart-bar_13294B_1.6.png"/>
          <p:cNvPicPr>
            <a:picLocks noChangeAspect="1"/>
          </p:cNvPicPr>
          <p:nvPr/>
        </p:nvPicPr>
        <p:blipFill>
          <a:blip r:embed="rId5"/>
          <a:stretch>
            <a:fillRect/>
          </a:stretch>
        </p:blipFill>
        <p:spPr>
          <a:xfrm>
            <a:off x="6615226" y="2566365"/>
            <a:ext cx="424281" cy="424281"/>
          </a:xfrm>
          <a:prstGeom prst="rect">
            <a:avLst/>
          </a:prstGeom>
        </p:spPr>
      </p:pic>
      <p:sp>
        <p:nvSpPr>
          <p:cNvPr id="17" name="TextBox 16"/>
          <p:cNvSpPr txBox="1"/>
          <p:nvPr/>
        </p:nvSpPr>
        <p:spPr>
          <a:xfrm>
            <a:off x="6397599"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KPI 목표 ·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실제값에 시험 목표를 대조한다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설비별 여유의 평균과 최솟값을 계산한다</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목표 변경과 집계를 구별, 안전 판단의 값과 이유 선택</a:t>
            </a:r>
          </a:p>
        </p:txBody>
      </p:sp>
      <p:sp>
        <p:nvSpPr>
          <p:cNvPr id="18" name="Rounded Rectangle 17"/>
          <p:cNvSpPr/>
          <p:nvPr/>
        </p:nvSpPr>
        <p:spPr>
          <a:xfrm>
            <a:off x="9075191" y="2211577"/>
            <a:ext cx="2567863" cy="35595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9303791" y="2412746"/>
            <a:ext cx="731520" cy="731520"/>
          </a:xfrm>
          <a:prstGeom prst="ellipse">
            <a:avLst/>
          </a:prstGeom>
          <a:solidFill>
            <a:srgbClr val="5CB8F2"/>
          </a:solidFill>
          <a:ln>
            <a:noFill/>
          </a:ln>
        </p:spPr>
        <p:txBody>
          <a:bodyPr rtlCol="0" anchor="ctr"/>
          <a:lstStyle/>
          <a:p>
            <a:pPr algn="ctr"/>
          </a:p>
        </p:txBody>
      </p:sp>
      <p:pic>
        <p:nvPicPr>
          <p:cNvPr id="20" name="아이콘:clipboard-check" descr="clipboard-check_13294B_1.6.png"/>
          <p:cNvPicPr>
            <a:picLocks noChangeAspect="1"/>
          </p:cNvPicPr>
          <p:nvPr/>
        </p:nvPicPr>
        <p:blipFill>
          <a:blip r:embed="rId6"/>
          <a:stretch>
            <a:fillRect/>
          </a:stretch>
        </p:blipFill>
        <p:spPr>
          <a:xfrm>
            <a:off x="9457410" y="2566365"/>
            <a:ext cx="424281" cy="424281"/>
          </a:xfrm>
          <a:prstGeom prst="rect">
            <a:avLst/>
          </a:prstGeom>
        </p:spPr>
      </p:pic>
      <p:sp>
        <p:nvSpPr>
          <p:cNvPr id="21" name="TextBox 20"/>
          <p:cNvSpPr txBox="1"/>
          <p:nvPr/>
        </p:nvSpPr>
        <p:spPr>
          <a:xfrm>
            <a:off x="9239783" y="3235706"/>
            <a:ext cx="2238679" cy="242570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비교 기록 · 완성본</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결과 · 근거와 집계 선택을 기록한다</a:t>
            </a:r>
          </a:p>
          <a:p>
            <a:pPr algn="l" eaLnBrk="0" marL="160020" indent="-160020">
              <a:lnSpc>
                <a:spcPct val="110000"/>
              </a:lnSpc>
              <a:spcAft>
                <a:spcPts val="400"/>
              </a:spcAft>
            </a:pPr>
            <a:r>
              <a:rPr sz="1400" b="0">
                <a:solidFill>
                  <a:srgbClr val="1F2A3A"/>
                </a:solidFill>
                <a:latin typeface="맑은 고딕"/>
                <a:ea typeface="맑은 고딕"/>
                <a:cs typeface="맑은 고딕"/>
              </a:rPr>
              <a:t>• 시험값은 사본에만: 설비 명령 · 원본은 그대로</a:t>
            </a:r>
          </a:p>
          <a:p>
            <a:pPr algn="l" eaLnBrk="0" marL="160020" indent="-160020">
              <a:lnSpc>
                <a:spcPct val="110000"/>
              </a:lnSpc>
              <a:spcAft>
                <a:spcPts val="400"/>
              </a:spcAft>
            </a:pPr>
            <a:r>
              <a:rPr sz="1400" b="0">
                <a:solidFill>
                  <a:srgbClr val="1F2A3A"/>
                </a:solidFill>
                <a:latin typeface="맑은 고딕"/>
                <a:ea typeface="맑은 고딕"/>
                <a:cs typeface="맑은 고딕"/>
              </a:rPr>
              <a:t>• 성공 기준: 원본과 출처 보존, 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설비 모델 · SOP 자료</a:t>
            </a:r>
          </a:p>
          <a:p>
            <a:pPr algn="ctr" eaLnBrk="0">
              <a:lnSpc>
                <a:spcPct val="110000"/>
              </a:lnSpc>
              <a:spcAft>
                <a:spcPts val="400"/>
              </a:spcAft>
            </a:pPr>
            <a:r>
              <a:rPr sz="1550" b="0">
                <a:solidFill>
                  <a:srgbClr val="1F2A3A"/>
                </a:solidFill>
                <a:latin typeface="맑은 고딕"/>
                <a:ea typeface="맑은 고딕"/>
                <a:cs typeface="맑은 고딕"/>
              </a:rPr>
              <a:t>기존 식별자와 고장 유형을 재사용한다</a:t>
            </a:r>
          </a:p>
          <a:p>
            <a:pPr algn="ctr" eaLnBrk="0">
              <a:lnSpc>
                <a:spcPct val="110000"/>
              </a:lnSpc>
              <a:spcAft>
                <a:spcPts val="400"/>
              </a:spcAft>
            </a:pPr>
            <a:r>
              <a:rPr sz="1550" b="0">
                <a:solidFill>
                  <a:srgbClr val="1F2A3A"/>
                </a:solidFill>
                <a:latin typeface="맑은 고딕"/>
                <a:ea typeface="맑은 고딕"/>
                <a:cs typeface="맑은 고딕"/>
              </a:rPr>
              <a:t>원문 자동 추출은 만들지 않는다</a:t>
            </a:r>
          </a:p>
          <a:p>
            <a:pPr algn="ctr" eaLnBrk="0">
              <a:lnSpc>
                <a:spcPct val="110000"/>
              </a:lnSpc>
              <a:spcAft>
                <a:spcPts val="400"/>
              </a:spcAft>
            </a:pPr>
            <a:r>
              <a:rPr sz="1550" b="0">
                <a:solidFill>
                  <a:srgbClr val="1F2A3A"/>
                </a:solidFill>
                <a:latin typeface="맑은 고딕"/>
                <a:ea typeface="맑은 고딕"/>
                <a:cs typeface="맑은 고딕"/>
              </a:rPr>
              <a:t>완성 기준: 같은 대상을 중복 생성하지 않음</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erarchy-2" descr="hierarchy-2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절차 구조</a:t>
            </a:r>
          </a:p>
          <a:p>
            <a:pPr algn="ctr" eaLnBrk="0">
              <a:lnSpc>
                <a:spcPct val="110000"/>
              </a:lnSpc>
              <a:spcAft>
                <a:spcPts val="400"/>
              </a:spcAft>
            </a:pPr>
            <a:r>
              <a:rPr sz="1550" b="0">
                <a:solidFill>
                  <a:srgbClr val="1F2A3A"/>
                </a:solidFill>
                <a:latin typeface="맑은 고딕"/>
                <a:ea typeface="맑은 고딕"/>
                <a:cs typeface="맑은 고딕"/>
              </a:rPr>
              <a:t>고장 유형에 조치 방법과 단계를 잇는다</a:t>
            </a:r>
          </a:p>
          <a:p>
            <a:pPr algn="ctr" eaLnBrk="0">
              <a:lnSpc>
                <a:spcPct val="110000"/>
              </a:lnSpc>
              <a:spcAft>
                <a:spcPts val="400"/>
              </a:spcAft>
            </a:pPr>
            <a:r>
              <a:rPr sz="1550" b="0">
                <a:solidFill>
                  <a:srgbClr val="1F2A3A"/>
                </a:solidFill>
                <a:latin typeface="맑은 고딕"/>
                <a:ea typeface="맑은 고딕"/>
                <a:cs typeface="맑은 고딕"/>
              </a:rPr>
              <a:t>적용 · 금지 조건과 완료 기준을 구분한다</a:t>
            </a:r>
          </a:p>
          <a:p>
            <a:pPr algn="ctr" eaLnBrk="0">
              <a:lnSpc>
                <a:spcPct val="110000"/>
              </a:lnSpc>
              <a:spcAft>
                <a:spcPts val="400"/>
              </a:spcAft>
            </a:pPr>
            <a:r>
              <a:rPr sz="1550" b="0">
                <a:solidFill>
                  <a:srgbClr val="1F2A3A"/>
                </a:solidFill>
                <a:latin typeface="맑은 고딕"/>
                <a:ea typeface="맑은 고딕"/>
                <a:cs typeface="맑은 고딕"/>
              </a:rPr>
              <a:t>완성 기준: 단계 순서와 근거 문장을 보존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table" descr="table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결정표 자료</a:t>
            </a:r>
          </a:p>
          <a:p>
            <a:pPr algn="ctr" eaLnBrk="0">
              <a:lnSpc>
                <a:spcPct val="110000"/>
              </a:lnSpc>
              <a:spcAft>
                <a:spcPts val="400"/>
              </a:spcAft>
            </a:pPr>
            <a:r>
              <a:rPr sz="1550" b="0">
                <a:solidFill>
                  <a:srgbClr val="1F2A3A"/>
                </a:solidFill>
                <a:latin typeface="맑은 고딕"/>
                <a:ea typeface="맑은 고딕"/>
                <a:cs typeface="맑은 고딕"/>
              </a:rPr>
              <a:t>조건을 입력 · 연산자 · 기준값 · 출력으로 옮긴다</a:t>
            </a:r>
          </a:p>
          <a:p>
            <a:pPr algn="ctr" eaLnBrk="0">
              <a:lnSpc>
                <a:spcPct val="110000"/>
              </a:lnSpc>
              <a:spcAft>
                <a:spcPts val="400"/>
              </a:spcAft>
            </a:pPr>
            <a:r>
              <a:rPr sz="1550" b="0">
                <a:solidFill>
                  <a:srgbClr val="1F2A3A"/>
                </a:solidFill>
                <a:latin typeface="맑은 고딕"/>
                <a:ea typeface="맑은 고딕"/>
                <a:cs typeface="맑은 고딕"/>
              </a:rPr>
              <a:t>완성 기준: 경계의 포함 여부와 적용 조치를 대조</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완성본 확인</a:t>
            </a:r>
          </a:p>
          <a:p>
            <a:pPr algn="ctr" eaLnBrk="0">
              <a:lnSpc>
                <a:spcPct val="110000"/>
              </a:lnSpc>
              <a:spcAft>
                <a:spcPts val="400"/>
              </a:spcAft>
            </a:pPr>
            <a:r>
              <a:rPr sz="1550" b="0">
                <a:solidFill>
                  <a:srgbClr val="1F2A3A"/>
                </a:solidFill>
                <a:latin typeface="맑은 고딕"/>
                <a:ea typeface="맑은 고딕"/>
                <a:cs typeface="맑은 고딕"/>
              </a:rPr>
              <a:t>완성된 절차 구조와 결정표를 설명한다</a:t>
            </a:r>
          </a:p>
          <a:p>
            <a:pPr algn="ctr" eaLnBrk="0">
              <a:lnSpc>
                <a:spcPct val="110000"/>
              </a:lnSpc>
              <a:spcAft>
                <a:spcPts val="400"/>
              </a:spcAft>
            </a:pPr>
            <a:r>
              <a:rPr sz="1550" b="0">
                <a:solidFill>
                  <a:srgbClr val="1F2A3A"/>
                </a:solidFill>
                <a:latin typeface="맑은 고딕"/>
                <a:ea typeface="맑은 고딕"/>
                <a:cs typeface="맑은 고딕"/>
              </a:rPr>
              <a:t>입력을 대어 판정 결과를 확인한다</a:t>
            </a:r>
          </a:p>
          <a:p>
            <a:pPr algn="ctr" eaLnBrk="0">
              <a:lnSpc>
                <a:spcPct val="110000"/>
              </a:lnSpc>
              <a:spcAft>
                <a:spcPts val="400"/>
              </a:spcAft>
            </a:pPr>
            <a:r>
              <a:rPr sz="1550" b="0">
                <a:solidFill>
                  <a:srgbClr val="1F2A3A"/>
                </a:solidFill>
                <a:latin typeface="맑은 고딕"/>
                <a:ea typeface="맑은 고딕"/>
                <a:cs typeface="맑은 고딕"/>
              </a:rPr>
              <a:t>완성 기준: 원문 → 구조 → 결과를 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제외·정보 부족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대상·경계·누락 처리 일치</a:t>
            </a:r>
          </a:p>
          <a:p>
            <a:pPr algn="l" eaLnBrk="0">
              <a:lnSpc>
                <a:spcPct val="110000"/>
              </a:lnSpc>
            </a:pPr>
            <a:r>
              <a:rPr sz="11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