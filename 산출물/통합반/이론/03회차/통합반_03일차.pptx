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과정 줄 → 부제(절차 구조화 → 결정표로 가능 여부 → 성과 지표로 견주기) → 아이콘 셋</a:t>
            </a:r>
          </a:p>
          <a:p>
            <a:r>
              <a:t>· 이 회차: 설비 이상의 원인을 찾은 다음, 어떤 조치를 고를지</a:t>
            </a:r>
          </a:p>
          <a:p>
            <a:r>
              <a:t>· 여는 장면: 쿨러 핀 오염으로 냉각이 안 된다. 원인을 찾았으니 핀을 씻으면 될까? 세우고 씻는 동안 생산이 멈춘다. 급한 주문이 있다면? 먼저 온도를 낮추고 정비 시간은 따로 잡을 수도</a:t>
            </a:r>
          </a:p>
          <a:p>
            <a:r>
              <a:t>· 원인을 찾은 뒤에도 고를 게 남는다</a:t>
            </a:r>
          </a:p>
          <a:p>
            <a:r>
              <a:t>· 물음 셋으로 따라간다: 이 조치를 어떻게 수행하나, 지금 해도 되나, 가능한 조치 가운데 무엇이 나은가</a:t>
            </a:r>
          </a:p>
          <a:p>
            <a:r>
              <a:t>[다음] 이 회차의 학습목표 네 가지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네 장 왼쪽부터 → 넷째 카드(실습 결과물) 강조</a:t>
            </a:r>
          </a:p>
          <a:p>
            <a:r>
              <a:t>· 1 조치 절차: 매뉴얼에서 절차의 여덟 구성요소를 찾고, 설비 운전 상태에 따라 그 절차를 지금 쓸 수 있는지 가린다</a:t>
            </a:r>
          </a:p>
          <a:p>
            <a:r>
              <a:t>· 2 판단 규칙: 조건 문장을 결정표의 행으로 옮기고, 여러 행이 함께 맞을 때의 판정과 근거를 설명</a:t>
            </a:r>
          </a:p>
          <a:p>
            <a:r>
              <a:t>· 3 성과 평가: 목표와 지표의 실제값을 읽고, 남은 후보의 득실과 가정값을 바꿨을 때의 영향을 비교</a:t>
            </a:r>
          </a:p>
          <a:p>
            <a:r>
              <a:t>· 4 실습 결과물: 절차 구조와 결정표 자료를 만들고, 그 자료로 판정하는 기능을 경계값 · 여러 규칙이 함께 맞는 경우까지 여러 입력으로 시험</a:t>
            </a:r>
          </a:p>
          <a:p>
            <a:r>
              <a:t>[다음] 갈 길을 목차로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목차 위 여덟 줄(이론)을 세 묶음으로 → 마지막 줄(실습 셋)</a:t>
            </a:r>
          </a:p>
          <a:p>
            <a:r>
              <a:t>· 1~2 단원 SOP(표준 작업 절차): 조치를 어떤 순서와 조건으로 하나 → 그 절차를 지식 그래프에 연결</a:t>
            </a:r>
          </a:p>
          <a:p>
            <a:r>
              <a:t>· 3~5 단원 DMN(판단 규칙의 표준): 조건 문장을 결정표로 → 실제 값에 대어 판정 → 여러 결정이 이어지는 흐름과 저장 구조</a:t>
            </a:r>
          </a:p>
          <a:p>
            <a:r>
              <a:t>· 6~8 단원 BSC(성과를 여러 관점에서 보는 틀): 성과 목표와 지표 → 지표 사이 영향 → 쿨러 사건의 실제 후보를 견주고 가정을 바꿔 다시 계산</a:t>
            </a:r>
          </a:p>
          <a:p>
            <a:r>
              <a:t>· 셋이 이어지면 추천의 이유를 말할 수 있다: 매뉴얼에 있는 조치이고, 지금 조건에서 허용되고, 다른 후보보다 이런 점이 낫다</a:t>
            </a:r>
          </a:p>
          <a:p>
            <a:r>
              <a:t>· 실습도 같은 흐름: 조치 결과 비교 → 조치 기준 만들기 → 판단 기능 만들기</a:t>
            </a:r>
          </a:p>
          <a:p>
            <a:r>
              <a:t>[다음] 첫 단원, 작업 절차와 수행 조건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01 → 부제</a:t>
            </a:r>
          </a:p>
          <a:p>
            <a:r>
              <a:t>· 조치는 동작 하나처럼 보이지만 그 안에 순서와 확인이 들어 있다</a:t>
            </a:r>
          </a:p>
          <a:p>
            <a:r>
              <a:t>· 물음 셋: 팬을 올리기 전엔 무엇을 확인하나, 올린 뒤엔 무엇을 보고 끝났다고 하나, 같은 조치를 지금 해도 되는지는 무엇이 정하나</a:t>
            </a:r>
          </a:p>
          <a:p>
            <a:r>
              <a:t>· 쿨러 사건의 조치 후보에서 출발해 매뉴얼에서 답을 찾는다</a:t>
            </a:r>
          </a:p>
          <a:p>
            <a:r>
              <a:t>[다음] 같은 원인에 대한 네 후보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맨 윗줄(출발점) → 오른쪽 생산 영향 열 → 가운데 바꾸는 설정 열을 위에서부터 → 강조한 핀 세척</a:t>
            </a:r>
          </a:p>
          <a:p>
            <a:r>
              <a:t>· 출발: 쿨러 성능 저하 경보 11:13:08, 유온 55.71 ℃ · 냉각 효율 46.2 %. 팬 진동 정상 + 냉각 효율만 낮음 → 원인은 핀 오염. 온도 기준은 이 수업 설비의 설정값</a:t>
            </a:r>
          </a:p>
          <a:p>
            <a:r>
              <a:t>· 그대로 두면 유온이 계속 올라 보호 한계에서 설비가 선다(매뉴얼) → 무엇이든 해야 한다</a:t>
            </a:r>
          </a:p>
          <a:p>
            <a:r>
              <a:t>· 원인은 하나, 대응은 넷: 팬 최대(팬 60 → 100 %, 생산 유지)/팬 최대 + 부하 90 → 80 %(속도 감소)/팬 그대로 · 부하 70 % + 야간 핀 세척 작업지시(속도 감소)/핀 세척(설비 정지, 압축공기로 오염 자체 제거)</a:t>
            </a:r>
          </a:p>
          <a:p>
            <a:r>
              <a:t>· 매뉴얼의 캐비닛 환기 보강은 주변 온도 상승이라는 다른 원인의 조치라 후보에 없다. 번호 = 추천안과 매뉴얼 절차를 맞춰 보는 이름표</a:t>
            </a:r>
          </a:p>
          <a:p>
            <a:r>
              <a:t>· 온도가 가장 많이 내려가는 안이 답이 아니다: 냉각이 좋아도 주문이 늦을 수 있고, 생산을 지키다 정비가 밀릴 수도 → 원인 진단 다음에 조치 선택이라는 판단이 따로</a:t>
            </a:r>
          </a:p>
          <a:p>
            <a:r>
              <a:t>[다음] 절차가 정해 두는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절 머리 문장(원격 자동 · 수동 조작 · 최소 부하) → 제목 줄 절차 번호 → 단계 셋 → 맨 아랫줄 승인 · 생산 영향, 오른쪽 짚을 점</a:t>
            </a:r>
          </a:p>
          <a:p>
            <a:r>
              <a:t>· 「팬을 최대로」만 알려 주면 모드부터 보는 사람, 바로 바꾸는 사람, 온도를 다시 보는 사람, 명령만 보내고 끝내는 사람이 갈린다</a:t>
            </a:r>
          </a:p>
          <a:p>
            <a:r>
              <a:t>· SOP = 작업 순서와 확인 기준을 문서로 정한 표준 작업 절차. 지키는 셋: 일관성(누가 해도 같게) · 안전(위험한 순서 · 빠진 확인 막기) · 확인(끝났는지 같은 기준)</a:t>
            </a:r>
          </a:p>
          <a:p>
            <a:r>
              <a:t>· 절 머리 조건(원격 자동일 때만, 수동 조작 중이면 안 함, 부하 60 % 미만 금지)은 이 절의 조치 모두가 지킨다</a:t>
            </a:r>
          </a:p>
          <a:p>
            <a:r>
              <a:t>· 절차 번호: 두 번째 후보도 이름이 「팬 최대 운전」으로 시작 → 이름은 비슷해도 번호는 절차 하나만 가리킨다</a:t>
            </a:r>
          </a:p>
          <a:p>
            <a:r>
              <a:t>· 단계: 모드 확인 → 팬 100 %(연속 24시간 이내) → 15분 재관측으로 회복 판정(기준은 다른 절 HM-8.6). 맨 아래: 승인 운전원, 생산 유지</a:t>
            </a:r>
          </a:p>
          <a:p>
            <a:r>
              <a:t>· 순서 문장과 조건 문장을 함께 가져간다. 번호 줄만 옮기면 「수동 조작 중엔 하지 말라」가 빠져 원래와 다른 절차가 된다</a:t>
            </a:r>
          </a:p>
          <a:p>
            <a:r>
              <a:t>[다음] 절차를 읽을 때 확인할 여덟 항목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여덟 줄을 작업자의 물음 순서로, 오른쪽 「실린 곳」 열을 위에서 아래로</a:t>
            </a:r>
          </a:p>
          <a:p>
            <a:r>
              <a:t>· 한 줄 메모로는 언제 써도 되는지, 무엇을 하면 안 되는지, 언제 끝난 건지 모른다 → 여덟 항목으로 읽는다(작업자가 현장에서 할 물음으로)</a:t>
            </a:r>
          </a:p>
          <a:p>
            <a:r>
              <a:t>· 적용 대상(이 고장에 맞나), 작업 전제 조건(지금 시작해도 되나 — 원격 자동), 안전 조건(손대기 전 설비 상태 — 정지 · 현장 제어 · 잠금), 준비사항(사람 · 부품)</a:t>
            </a:r>
          </a:p>
          <a:p>
            <a:r>
              <a:t>· 준비사항은 쿨러 매뉴얼에 문장이 없어 같은 설비의 정기 점검표에서 가져왔다 → 쿨러 조치의 준비 인원으로 읽지 않는다</a:t>
            </a:r>
          </a:p>
          <a:p>
            <a:r>
              <a:t>· 전제 vs 안전: 팬 최대는 원격 자동이어야 시작, 핀 세척은 거꾸로 현장 제어로 바꾸고 잠근 뒤 시작 → 시작할 때 갖출 상태가 정반대</a:t>
            </a:r>
          </a:p>
          <a:p>
            <a:r>
              <a:t>· 금지(부하 60 % 미만 금지, 고압수 금지), 담당 역할(완화는 운전원, 근본 조치는 설비보전팀장), 완료 확인(15분 동안 유온 55 ℃ 미만 + 경보 해제 유지 — 한 번 내려간 것으로는 아님)</a:t>
            </a:r>
          </a:p>
          <a:p>
            <a:r>
              <a:t>· 항목은 칸 채우기가 아니라 빠지면 작업자가 무엇을 모르게 되나로. 실린 곳이 줄마다 다르다 → 여러 절에 흩어져 있어 문장을 읽고 찾아낸다</a:t>
            </a:r>
          </a:p>
          <a:p>
            <a:r>
              <a:t>[다음] 준비가 끝나면 배관을 열어도 되나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첫 줄 준비사항 → 안전 조건 세 줄 → 맨 아랫줄 까닭, 오른쪽 「확인하는 것」 열</a:t>
            </a:r>
          </a:p>
          <a:p>
            <a:r>
              <a:t>· 원문은 모두 같은 설비의 정기 점검표(쿨러 밖이지만 두 항목 차이를 실제 문장으로 견줄 수 있어서)</a:t>
            </a:r>
          </a:p>
          <a:p>
            <a:r>
              <a:t>· 준비사항: 정비 인원과 씰 키트 확보 → 확인하는 것은 자원(사람 · 부품)</a:t>
            </a:r>
          </a:p>
          <a:p>
            <a:r>
              <a:t>· 안전 조건: 작업자를 지키려면 설비가 어떤 상태여야 하나. 정지 → 현장 제어 → 잠금(LOTO = 에너지원을 잠그고 표지를 달아 정비 중 다시 못 돌리게)</a:t>
            </a:r>
          </a:p>
          <a:p>
            <a:r>
              <a:t>· 전원을 끊어도 압력은 남는다: 어큐뮬레이터(압력을 담는 용기)의 잔압을 탱크로 배출 → 압력계 0 bar 확인 뒤에만 배관을 연다. 잔압이 남은 채 열면 작동유가 분출해 다칠 수 있다</a:t>
            </a:r>
          </a:p>
          <a:p>
            <a:r>
              <a:t>· 안전 조건 세 줄의 확인 대상: 설비 상태 → 남은 에너지 → 측정값. 「했으니 됐겠지」에서 멈추지 않고 읽을 수 있는 값으로 닫는다</a:t>
            </a:r>
          </a:p>
          <a:p>
            <a:r>
              <a:t>· 정지 · 잠금 · 잔압 배출 · 압력 확인은 서로 대신 못 한다(멈춘 상태 ≠ 에너지가 제거된 상태). 준비사항과 안전 조건을 「준비 완료」 하나로 뭉개지 않는다</a:t>
            </a:r>
          </a:p>
          <a:p>
            <a:r>
              <a:t>[다음] 운전 모드에 따라 남고 빠지는 후보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세로 세 칸(원격 자동 · 원격 수동 · 현장 제어)과 그 아래 조작 주체 → 왼쪽 원격 제어 후보 줄 → 맨 아래 정비 작업지시 후보 줄, 체크와 가위표</a:t>
            </a:r>
          </a:p>
          <a:p>
            <a:r>
              <a:t>· 운전 모드 = 설비가 누구의 조작을 받을지 정하는 PLC의 상태</a:t>
            </a:r>
          </a:p>
          <a:p>
            <a:r>
              <a:t>· 원격 자동: 상위 시스템(승인된 조치를 명령으로 내리는 위쪽 계층)의 명령을 받는다. 쿨러 사건 당시 → 원격 제어 후보 셋이 남는다</a:t>
            </a:r>
          </a:p>
          <a:p>
            <a:r>
              <a:t>· 원격 수동(운전원이 운전 화면에서 직접 조작) · 현장 제어(현장 패널): 자동 추천의 명령이 끼어들면 예상 못 한 방향으로 움직일 수 있어 원격 제어 후보를 뺀다</a:t>
            </a:r>
          </a:p>
          <a:p>
            <a:r>
              <a:t>· 셋째 후보도 빠진다: 이름에 야간 핀 세척이 붙어도 지금 부하를 낮추는 동작이 있다 → 이름이 아니라 바꾸는 설정을 본다</a:t>
            </a:r>
          </a:p>
          <a:p>
            <a:r>
              <a:t>· 정비 작업지시 등록은 세 모드 모두 남는다. 등록과 세척 시작은 다르다 → 실제 세척은 정지 · 잠금 뒤</a:t>
            </a:r>
          </a:p>
          <a:p>
            <a:r>
              <a:t>· 규칙과 PLC 검사는 자리가 다르다: 규칙은 쓸 수 없는 후보를 추천 단계에서 미리 빼 사람이 그런 안을 놓고 고민 · 승인하지 않게, PLC는 잘못 내려온 명령을 설비 바로 앞에서 막는 마지막 보호 → 한쪽이 있다고 다른 쪽을 빼지 않는다</a:t>
            </a:r>
          </a:p>
          <a:p>
            <a:r>
              <a:t>[다음] 읽은 절차를 시스템이 쓰게 하려면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02 → 부제</a:t>
            </a:r>
          </a:p>
          <a:p>
            <a:r>
              <a:t>· 매뉴얼에서 읽어 낸 절차를 시스템이 쓸 수 있게 하는 단원</a:t>
            </a:r>
          </a:p>
          <a:p>
            <a:r>
              <a:t>· 물음: 컴퓨터가 조치 후보를 찾았을 때 그 작업의 단계 · 근거 문서 · 승인할 사람 · 실행할 동작까지 한 번에 꺼내려면 무엇을 이어 둬야 하나</a:t>
            </a:r>
          </a:p>
          <a:p>
            <a:r>
              <a:t>· 절차 한 편을 지식 그래프에 옮기며 답을 찾는다</a:t>
            </a:r>
          </a:p>
          <a:p>
            <a:r>
              <a:t>[다음] SOP 원문을 노드와 관계로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원문 → 아래 구조화(조치 방법 → 단계 → 근거 절, 승인 역할), 오른쪽 짚을 점</a:t>
            </a:r>
          </a:p>
          <a:p>
            <a:r>
              <a:t>· 설비를 클래스 · 인스턴스 · 관계로 옮긴 방식과 같다. 절차 한 편 = 조치 방법 하나, 번호 붙은 작업 = 단계 하나씩</a:t>
            </a:r>
          </a:p>
          <a:p>
            <a:r>
              <a:t>· 조치 방법 클래스 = Skill. SOP 클래스를 따로 두지 않고 Skill 하나에 SOP 한 편. 절차 번호를 식별자로 → 추천 · 승인 · 작업 기록이 같은 절차를 가리킨다</a:t>
            </a:r>
          </a:p>
          <a:p>
            <a:r>
              <a:t>· 종류 값 control = 설비를 바로 제어(핀 세척은 다른 종류). 모드에 따라 원격 제어는 빠지고 작업지시는 남는 차이를 컴퓨터가 가리려면 값으로 적혀야</a:t>
            </a:r>
          </a:p>
          <a:p>
            <a:r>
              <a:t>· 단계(Step): 조치 방법 → 단계는 일대다. 단계마다 순서 값 — 넣은 차례 ≠ 작업 차례, 조회가 넣은 차례로 나온다는 보장이 없다</a:t>
            </a:r>
          </a:p>
          <a:p>
            <a:r>
              <a:t>· 단계 → 근거 절: 「왜 이렇게?」에 매뉴얼 대목을 바로. 승인 역할은 「운전원 승인이 필요하다」는 정의일 뿐, 지금 승인했다는 기록은 따로</a:t>
            </a:r>
          </a:p>
          <a:p>
            <a:r>
              <a:t>· 여덟 항목이 여덟 칸이 되진 않는다: 전제 · 금지는 단계 문장이나 판단 규칙으로, 완료 기준도 확인할 내용으로. 칸 수가 아니라 원문의 뜻을 다시 찾아낼 수 있느냐 — 모드 확인 · 회복 판정이 사라지면 제대로 옮긴 게 아니다</a:t>
            </a:r>
          </a:p>
          <a:p>
            <a:r>
              <a:t>[다음] 무엇을 해결하는 조치인가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세 줄: 즉시 완화 → 강조한 근본 조치 → 예방 조치, 각 줄 「쓰이는 때」와 오른쪽 관계 이름</a:t>
            </a:r>
          </a:p>
          <a:p>
            <a:r>
              <a:t>· 즉시 완화: 고장의 영향을 지금 줄인다(팬 최대로 유온은 낮추지만 오염은 그대로) → 조치할 시간을 번다. SOP-COOL-11 · 12 · 13</a:t>
            </a:r>
          </a:p>
          <a:p>
            <a:r>
              <a:t>· 근본 조치: 원인을 없앤다. 원인마다 다르다 — 핀 오염이면 핀 세척(14), 주변 온도면 환기 보강(15)</a:t>
            </a:r>
          </a:p>
          <a:p>
            <a:r>
              <a:t>· 예방 조치: 고장 나기 전 운전시간 · 달력 주기로 하는 정기 정비. 예: 2,000 h 정기 점검(씰 · 필터 교체)이 펌프 체적 효율 저하(내보내는 기름 양이 설계보다 줄어듦)를 막는다</a:t>
            </a:r>
          </a:p>
          <a:p>
            <a:r>
              <a:t>· 때의 순서: 예방(고장 전) → 경보 직후 완화(설비 바로 제어) → 정비 시간에 근본 조치(작업지시)</a:t>
            </a:r>
          </a:p>
          <a:p>
            <a:r>
              <a:t>· 셋째 후보 = 지금 부하를 낮추는 즉시 완화 + 야간에 걸어 둔 근본 조치(한 후보 안에 때가 다른 두 조치)</a:t>
            </a:r>
          </a:p>
          <a:p>
            <a:r>
              <a:t>· 관계 이름을 나눠 두는 까닭: 모두 「해결한다」로 이으면 팬을 올린 것과 핀을 세척한 것이 같아 보인다. 예방은 정기 정비 도래 조건에서만 후보 — 관계가 있다고 모두 지금 경보의 후보로 넣지 않는다</a:t>
            </a:r>
          </a:p>
          <a:p>
            <a:r>
              <a:t>[다음] 경보가 꺼졌으면 다 해결된 것인가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그래프 위 유온의 승인 선 오른쪽 → 아래 냉각 효율 → 오른쪽 넷: 완화의 결과 → 강조한 남은 원인 → 근본 조치의 상태 → 서로 다른 완료 기준</a:t>
            </a:r>
          </a:p>
          <a:p>
            <a:r>
              <a:t>· 승인(11:14:56) 뒤 유온이 내려가 경보 해제. 그러나 냉각 효율은 조금 올랐을 뿐 경보 기준 70 %에도 못 미치고 정비 완료 기준(80 %)과는 더 멀다 → 핀 오염 그대로</a:t>
            </a:r>
          </a:p>
          <a:p>
            <a:r>
              <a:t>· 핀 세척은 작업지시로 등록 — 등록은 해야 할 정비가 기록됐다는 것이지 세척 완료가 아니다</a:t>
            </a:r>
          </a:p>
          <a:p>
            <a:r>
              <a:t>· 경보가 꺼졌으니 천천히? 팬 최대 운전은 24시간 이내 제한(넘으면 팬 수명 단축), 그동안 오염도 그대로 → 완화로 번 시간 안에 근본 조치</a:t>
            </a:r>
          </a:p>
          <a:p>
            <a:r>
              <a:t>· 완료 셋: 경보 해제/완화 성공(회복 기준 아래 + 해제 상태를 15분 유지)/정비 완료(재가동 뒤 냉각 효율 80 % 이상)</a:t>
            </a:r>
          </a:p>
          <a:p>
            <a:r>
              <a:t>· 실제 재관측 구간에서 55 ℃ 미만이었던 몫은 58 %(기준보다 높은 데서 내려오기 시작) → 이 기록만으로 15분 내내 지켰다고 말할 수 없다</a:t>
            </a:r>
          </a:p>
          <a:p>
            <a:r>
              <a:t>· 완료 기준은 조치의 목적을 따른다(완화는 회복 유지, 정비는 냉각 성능 회복). 기록에 어떤 완료를 확인했는지 나눠 남긴다</a:t>
            </a:r>
          </a:p>
          <a:p>
            <a:r>
              <a:t>[다음] 지금까지의 연결을 한 장에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아래 고장 유형 → 가운데 진한 조치 방법 → 단계 → 근거 절, 오른쪽 위 승인 역할 → 왼쪽 위 원인과 원인 한정 선 → 아래 띠 쿨러 사건의 연결</a:t>
            </a:r>
          </a:p>
          <a:p>
            <a:r>
              <a:t>· 고장 유형 → 조치 방법으로 대응 후보를 찾는다. 조치 방법엔 단계가, 단계는 근거 절을 가리키고, 승인 역할로 이어진다 → 이름만이 아니라 무엇을 · 어디 근거로 · 누구 승인으로를 함께</a:t>
            </a:r>
          </a:p>
          <a:p>
            <a:r>
              <a:t>· 승인 역할 = 승인할 최소 역할이지 수행 주체가 아니다. 팬 최대 운전은 운전원이 승인하고 설비 제어 시스템이 수행, 핀 세척 작업지시는 정비 관리 시스템이 발행</a:t>
            </a:r>
          </a:p>
          <a:p>
            <a:r>
              <a:t>· 원인 → 고장 유형 「일으킨다」. 근본 조치는 원인마다 다르니 원인 한정 조치 → 원인 관계를 따로(이 조치가 이 원인에 맞는다) → 핀 오염인데 환기 보강을 추천하지 않으려면 이 연결까지 확인</a:t>
            </a:r>
          </a:p>
          <a:p>
            <a:r>
              <a:t>· 고장 유형이 길 한가운데: 원인을 아직 못 가려도 고장 유형만 알면 완화 후보를 찾고, 원인이 가려지면 맞는 근본 조치가 더해진다(지식 그래프 지도에서 고장 유형이 가운데였던 까닭)</a:t>
            </a:r>
          </a:p>
          <a:p>
            <a:r>
              <a:t>· 조회는 질문에 맞춰 일부 가지만 따라간다(후보 · 작업 순서 · 승인 역할)</a:t>
            </a:r>
          </a:p>
          <a:p>
            <a:r>
              <a:t>· 아래 띠를 문장으로: 냉각 성능 상실에 팬 최대 운전으로 대응하고, 단계는 매뉴얼에 근거하며, 운전원이 승인한다. 철자보다 문장이 성립하는지. 쿨러 사건 추천안에도 원인 → 고장 유형 → 완화 조치의 길과 근거 절이 그대로 적혔다</a:t>
            </a:r>
          </a:p>
          <a:p>
            <a:r>
              <a:t>[다음] 저장한 절차를 컴퓨터가 바로 실행하나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작업 단계 → 오른쪽 강조한 실행 동작, 각 칸 예와 관계 이름</a:t>
            </a:r>
          </a:p>
          <a:p>
            <a:r>
              <a:t>· 절차를 그래프에 저장해도 저절로 실행되지 않는다. 문장과 실제 명령 사이에 한 단계가 더 있다</a:t>
            </a:r>
          </a:p>
          <a:p>
            <a:r>
              <a:t>· 작업 단계 = SOP의 번호 붙은 문장, 사람이 읽고 확인하며 수행(팬 올리기, 정지 · 잠금). 모두 자동 명령이 되지는 않는다</a:t>
            </a:r>
          </a:p>
          <a:p>
            <a:r>
              <a:t>· 실행 동작(Action) = 더 쪼갤 수 없는 명령 하나나 업무 시스템 처리 하나. 팬 속도 설정(0~100 값), 정비 작업지시 발행(설비가 아니라 정비 관리 시스템으로). 사람이 승인한 뒤 프로세스 엔진이 실행. 잠금처럼 사람이 현장에서 하는 일엔 실행 동작이 없다</a:t>
            </a:r>
          </a:p>
          <a:p>
            <a:r>
              <a:t>· 쿨러 사건: 운전원 승인 직후 팬 속도를 최대로 맞추는 명령 하나가 설비로 가 실행 완료로 답했고, 핀 세척은 재관측 뒤 작업지시 발행으로 정비 관리 시스템에 등록 → 같은 사건에서도 향한 곳이 다르다</a:t>
            </a:r>
          </a:p>
          <a:p>
            <a:r>
              <a:t>· 핀 세척에서 시스템이 하는 건 작업지시 발행까지, 현장 작업은 사람이 안전 조건 · 순서를 지켜서</a:t>
            </a:r>
          </a:p>
          <a:p>
            <a:r>
              <a:t>· 절차 정의 · 승인 기록 · 명령 처리 기록 · 정비 완료 기록은 각각 다른 사실 → 단계 · 근거 · 승인 역할 · 실행 동작을 따로 이어 두어야 추천 결과를 실제 완료로 오해하지 않는다</a:t>
            </a:r>
          </a:p>
          <a:p>
            <a:r>
              <a:t>[다음] 둘째 물음, 지금 해도 되나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03 → 부제(입력 · 연산자 · 기준값 · 출력의 행)</a:t>
            </a:r>
          </a:p>
          <a:p>
            <a:r>
              <a:t>· 이 묶음: 둘째 물음 「이 조치를 지금 해도 되나」. 조건 문장을 결정표로 → 실제 값에 대어 판정 → 여러 판단이 이어지는 흐름과 저장 구조</a:t>
            </a:r>
          </a:p>
          <a:p>
            <a:r>
              <a:t>· 매뉴얼 곳곳의 「원격 자동일 때만 한다」, 「24시간 이내로 한다」</a:t>
            </a:r>
          </a:p>
          <a:p>
            <a:r>
              <a:t>· 물음: 지금 해도 되는지 누가 따져도 같은 답이 나오게 하려면 이 문장을 어떤 꼴로 적어 둬야 하나</a:t>
            </a:r>
          </a:p>
          <a:p>
            <a:r>
              <a:t>[다음] 순서의 SOP와 조건의 DMN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SOP → 오른쪽 강조한 DMN의 원문 → 옮긴 조건 → 두 칸의 마지막 줄</a:t>
            </a:r>
          </a:p>
          <a:p>
            <a:r>
              <a:t>· 조건이 여러 절에 문장으로 흩어져 있으면: 급할 때 놓치고, 「24시간을 넘겼다면」이 정확히 24시간을 포함하는지 사람마다 다르고, 무엇을 확인했는지 남지 않는다</a:t>
            </a:r>
          </a:p>
          <a:p>
            <a:r>
              <a:t>· SOP는 어떻게 작업하나(순서), DMN = 업무 의사결정을 정의하는 표준(국제 표준 단체 OMG). 결정표로 어떤 입력 조건에 어떤 답을 낼지 표로</a:t>
            </a:r>
          </a:p>
          <a:p>
            <a:r>
              <a:t>· 「원격 자동이 아닐 때 원격 조치를 쓰지 않는다」 → 비교할 것 운전 모드, 기준 원격 자동, 다르면 제외(출력 = 조건이 맞을 때 내는 답). 원격 자동이면 안 맞고, 수동이면 맞는다</a:t>
            </a:r>
          </a:p>
          <a:p>
            <a:r>
              <a:t>· 조건은 판단 시점의 값과 견주어야 참 · 거짓이 정해진다. 순서 문장은 값 없이 읽힌다</a:t>
            </a:r>
          </a:p>
          <a:p>
            <a:r>
              <a:t>· 서로를 대신하지 않는다: 절차에도 모드 확인 단계가 남는다. 쿨러 사건에서도 승인 순간 시스템이 모드 · 상태를 다시 읽어 원격 자동 · 운전 중을 확인한 뒤 명령을 보냈다</a:t>
            </a:r>
          </a:p>
          <a:p>
            <a:r>
              <a:t>[다음] 판단에 쓰는 값은 어디서 오나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네 줄: 운전 모드 → 강조한 팬 100 % 연속 운전 시간 → 조치 후 예측 유온 → 긴급 오더 남은 시간, 줄마다 출처와 쿨러 사건 값</a:t>
            </a:r>
          </a:p>
          <a:p>
            <a:r>
              <a:t>· 입력 데이터 = 판단에 필요한 값의 항목. 결정표가 아는 건 이름과 기준뿐, 값은 판단 순간 정해진 출처에서 → 같은 표로 매번 다른 상황 판정</a:t>
            </a:r>
          </a:p>
          <a:p>
            <a:r>
              <a:t>· 운전 모드: PLC 현재 상태(쿨러 사건 원격 자동)</a:t>
            </a:r>
          </a:p>
          <a:p>
            <a:r>
              <a:t>· 팬 최대 연속 운전 시간: 지금 팬 속도로는 모르고 운전 이력을 거슬러 계산(99 % 이상으로 이어서 돈 시간). 지금 최대로 돈다 ≠ 하루 넘게 계속 돌았다. 기준은 24 h 초과</a:t>
            </a:r>
          </a:p>
          <a:p>
            <a:r>
              <a:t>· 예측 유온: 관측값이 아니라 후보마다 계산한 값(팬 최대 운전 49.8 ℃, 기준 55 ℃보다 5도쯤 낮음)</a:t>
            </a:r>
          </a:p>
          <a:p>
            <a:r>
              <a:t>· 긴급 오더 남은 시간: 생산 오더에서, 쿨러 사건 5.98 h(여섯 시간이 채 안 됨). 운전 조건엔 걸릴 게 없었지만 납기가 가깝다는 업무 조건이 함께</a:t>
            </a:r>
          </a:p>
          <a:p>
            <a:r>
              <a:t>· 출처를 적으면 예측 자리에 현재 온도를 넣는 실수가 준다. 쿨러 사건의 0 h는 팬이 60 %라 계산된 값 — 기록을 얻지 못한 경우(미확인)와 다르다</a:t>
            </a:r>
          </a:p>
          <a:p>
            <a:r>
              <a:t>[다음] 결정 · 결정표 · 규칙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맨 위 결정(물음) → 규칙 두 행과 적용 절차 → 아래 입력(원격 자동 · 30 h)과 결과 → 오른쪽 넷째 점</a:t>
            </a:r>
          </a:p>
          <a:p>
            <a:r>
              <a:t>· 결정 = 답할 물음(후보 가운데 규정상 쓸 수 없거나 감점할 것은?) → 규정 적합성</a:t>
            </a:r>
          </a:p>
          <a:p>
            <a:r>
              <a:t>· 결정표 = 그 물음에 답하는 규칙 모음, 규칙 = 표의 한 행(조건 → 출력). 행마다 걸리는 절차가 적힌다(첫 행은 원격 제어 셋, 둘째 행은 팬을 올리는 둘)</a:t>
            </a:r>
          </a:p>
          <a:p>
            <a:r>
              <a:t>· 입력(가정): 원격 자동, 팬 최대 30시간 → 첫 행 안 맞음, 둘째 행 맞음(30 &gt; 24) → 팬 수명 손실 감점 20만 원. 각 행이 필요한 항목만 검사</a:t>
            </a:r>
          </a:p>
          <a:p>
            <a:r>
              <a:t>· 둘째 행엔 운전 모드 조건이 없다 = 그 입력을 검사하지 않는다는 뜻이지 값을 모른다는 뜻이 아니다 → 모드를 못 읽어도 이 행의 판정은 안 흔들린다</a:t>
            </a:r>
          </a:p>
          <a:p>
            <a:r>
              <a:t>· 놀이공원 탑승 기준표처럼 누가 판정해도 같다. 다만 결정표는 값의 출처 · 규칙의 근거 · 여러 행이 맞을 때까지 정한다</a:t>
            </a:r>
          </a:p>
          <a:p>
            <a:r>
              <a:t>· HYD의 추천 AI도 규칙 문장을 그때그때 해석하지 않고 평가 함수(표를 읽어 판정을 계산하는 프로그램)의 결과를 근거로 → 같은 그래프 · 같은 입력이면 언제나 같은 판정</a:t>
            </a:r>
          </a:p>
          <a:p>
            <a:r>
              <a:t>[다음] 조건 한 줄의 세 부분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첫 줄(조건의 세 부분) → 아래 여섯 연산자, 가운데 HYD 실제 조건 → 오른쪽 단위 · 자료형</a:t>
            </a:r>
          </a:p>
          <a:p>
            <a:r>
              <a:t>· 조건 = 입력 · 연산자(비교 방법) · 기준값. 「팬 최대 연속 운전이 24시간을 넘었으면」 → 연속 운전 시간 · 크다(&gt;) · 24</a:t>
            </a:r>
          </a:p>
          <a:p>
            <a:r>
              <a:t>· 같다 · 다르다는 운전 모드처럼 이름으로 된 값에도. 크기 비교는 초과 · 이상 · 미만 · 이하를 구별</a:t>
            </a:r>
          </a:p>
          <a:p>
            <a:r>
              <a:t>· 「초과」와 「이상」은 말로 비슷하지만 기준값과 정확히 같은 입력에서 결과가 갈린다</a:t>
            </a:r>
          </a:p>
          <a:p>
            <a:r>
              <a:t>· 미만 예: 완료 확인 기준 「유온 55 ℃ 미만」도 식 한 줄 → 사람이 읽는 문장과 컴퓨터가 검사하는 식이 짝</a:t>
            </a:r>
          </a:p>
          <a:p>
            <a:r>
              <a:t>· 같다 · 이하 예는 정기 정비 규칙: 이상 패턴이 정기 정비 도래인지, 납기까지 남은 시간이 하루 이하인지</a:t>
            </a:r>
          </a:p>
          <a:p>
            <a:r>
              <a:t>· 단위와 자료형도 맞춘다(원문은 시간인데 입력이 분이면 숫자만 비교 금지, 문자열 · 숫자 구별). 순서: 비교할 값 → 같은 단위의 기준값 → 원문 포함 여부에 맞는 부호</a:t>
            </a:r>
          </a:p>
          <a:p>
            <a:r>
              <a:t>[다음] 기준값과 딱 같을 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축(예측 유온 55 ℃ 이상) → 아래 축(연속 운전 24 h 초과), 기준값 점(채움 · 비움) → 축 아래 세 시험 입력</a:t>
            </a:r>
          </a:p>
          <a:p>
            <a:r>
              <a:t>· 생각할 시간(약 8초): 두 줄의 기준값에서 조건이 맞는지</a:t>
            </a:r>
          </a:p>
          <a:p>
            <a:r>
              <a:t>· 막대 = 조건에 맞는 구간. 위 「이상」은 정확히 55 ℃도 포함(점 채움): 54.9 안 맞음 · 55.0 맞음 · 55.1 맞음</a:t>
            </a:r>
          </a:p>
          <a:p>
            <a:r>
              <a:t>· 아래 「넘으면」은 정확히 24 h를 포함하지 않음(점 비움): 23.9 안 맞음 · 24.0 안 맞음 · 24.1 맞음</a:t>
            </a:r>
          </a:p>
          <a:p>
            <a:r>
              <a:t>· 임계값 = 판정이 갈리는 기준. 기준에서 먼 값은 등호가 있든 없든 결과가 같아 부호가 틀려도 모르고 지나간다 → 바로 아래 · 같은 값 · 바로 위를 시험(실습의 경계값 입력도 이 때문)</a:t>
            </a:r>
          </a:p>
          <a:p>
            <a:r>
              <a:t>· 정확히 하루일 때 감점이 없다고 그 뒤로 계속 운전해도 된다는 뜻이 아니다 → 매뉴얼의 연속 운전 제한과 작업 확인은 그대로</a:t>
            </a:r>
          </a:p>
          <a:p>
            <a:r>
              <a:t>[다음] 두 기준 사이 · 여러 조건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맨 위 범위 예 → 가운데 실제 AND 행(정기 정비)과 두 입력 → 맨 아래 OR(행 둘), 오른쪽 넷째 점</a:t>
            </a:r>
          </a:p>
          <a:p>
            <a:r>
              <a:t>· 범위: 하한보다 큰지 · 상한보다 작은지를 따로 검사하고 둘 다 맞아야 = AND. 50 ℃ 안 맞음, 60 ℃ 맞음, 66 ℃ 안 맞음. 끝마다 포함 여부를 부호로</a:t>
            </a:r>
          </a:p>
          <a:p>
            <a:r>
              <a:t>· 이 온도 범위는 묶는 법의 예일 뿐 — 그 구간만으로 쿨러 경보가 나지 않는다(경보는 냉각 효율 70 % 미만 · 상승 추세도 본다)</a:t>
            </a:r>
          </a:p>
          <a:p>
            <a:r>
              <a:t>· 실제 AND 행(정기 정비): 패턴이 정비 도래 + 지난 정비 뒤 운전시간 1,800 h 이상 → 정비 방안 후보 선택. 1,950 h는 맞고 1,700 h는 안 맞음(패턴이 같아도) → 예방 정비는 도래했을 때만 후보</a:t>
            </a:r>
          </a:p>
          <a:p>
            <a:r>
              <a:t>· OR: 하나만 맞아도 같은 결과면 조건을 두 행으로 나누고 같은 출력을 둔다. 둘이 함께 맞으면 두 행 모두 결과를 낼 수도</a:t>
            </a:r>
          </a:p>
          <a:p>
            <a:r>
              <a:t>· 원문이 「그리고」인지 「또는」인지부터 가린다</a:t>
            </a:r>
          </a:p>
          <a:p>
            <a:r>
              <a:t>[다음] 규칙이 내는 다섯 가지 출력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줄: 후보 선택 → 강조한 제외 → 감점 → 경고 → 순위, 첫 칸의 결정표 이름 · 가운데 실제 규칙 · 오른쪽 「후보는」</a:t>
            </a:r>
          </a:p>
          <a:p>
            <a:r>
              <a:t>· 결정표는 답할 물음마다 따로 있다(후보 선택 표 · 규정 적합성 표 · 순위 결정표)</a:t>
            </a:r>
          </a:p>
          <a:p>
            <a:r>
              <a:t>· 후보 선택: 고장 유형이 냉각 성능 상실이라 완화 셋, 원인이 핀 오염이라 핀 세척 → 그래프에서 그 고장 유형에 이어진 조치가 남고 원인 한정 조치는 원인이 맞을 때만 → 후보 넷. 후보에 올라도 실행 허가가 아니다</a:t>
            </a:r>
          </a:p>
          <a:p>
            <a:r>
              <a:t>· 제외: 비교 대상에서 뺀다(수동 운전 중 원격 제어). 냉각 효과가 아무리 좋아도 점수로 되살리지 않는다</a:t>
            </a:r>
          </a:p>
          <a:p>
            <a:r>
              <a:t>· 감점: 남기되 부담을 반영(팬 최대 24 h 초과 → 20만 원, 팬을 올리는 두 조치에만). 경고: 남기되 「온도가 충분히 안 내려갈 수 있다」를 승인자에게(예측 55 ℃ 이상, 모든 후보)</a:t>
            </a:r>
          </a:p>
          <a:p>
            <a:r>
              <a:t>· 순위: 남은 후보에 점수를 매길 식의 묶음 = 순위 정책, 표의 행 하나가 그 정책을 담는다. 감점 · 경고도 그 안의 점수 성분(성분은 성과 단원에서)</a:t>
            </a:r>
          </a:p>
          <a:p>
            <a:r>
              <a:t>· 적용 대상도 따로 적는다: 팬을 그대로 두는 야간 세척까지 팬 수명 감점을 주면 식은 맞아도 규칙의 뜻이 틀린다</a:t>
            </a:r>
          </a:p>
          <a:p>
            <a:r>
              <a:t>[다음] 표 전체에 실제 입력을 넣으면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04 → 부제</a:t>
            </a:r>
          </a:p>
          <a:p>
            <a:r>
              <a:t>· 행 하나 적는 법은 갖췄다. 이 단원은 행들이 모인 표 전체에 실제 입력을 넣는다</a:t>
            </a:r>
          </a:p>
          <a:p>
            <a:r>
              <a:t>· 물음 셋: 두 행이 함께 맞으면 어떻게, 필요한 값을 못 얻었다면, 결과가 왜 나왔는지 나중에 확인하려면 무엇을 남기나</a:t>
            </a:r>
          </a:p>
          <a:p>
            <a:r>
              <a:t>[다음] 여러 행이 함께 맞을 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입력(가정) → 가운데 세 규칙의 맞음 여부 → 아래 결과 세 칸 → 오른쪽 넷째 점</a:t>
            </a:r>
          </a:p>
          <a:p>
            <a:r>
              <a:t>· 입력(가정, 실제 쿨러 사건은 0 h · 기준 아래): 원격 자동, 팬 최대 30 h, 예측 유온 56 ℃ → 감점 행과 경고 행이 함께 맞음. 표가 잘못된 게 아니라 이 입력엔 둘 다 해당</a:t>
            </a:r>
          </a:p>
          <a:p>
            <a:r>
              <a:t>· hit = 행이 맞는 것. Hit Policy = 여러 행이 맞을 때 무엇을 답으로 삼을지 표마다 정한 방식. 이 표는 Collect = 맞은 행의 출력을 전부 모은다</a:t>
            </a:r>
          </a:p>
          <a:p>
            <a:r>
              <a:t>· 결과 세 칸: 감점 · 경고 · 제외 사유(빈칸) → 후보는 남아 감점과 경고를 가진 채 비교된다</a:t>
            </a:r>
          </a:p>
          <a:p>
            <a:r>
              <a:t>· 모드도 수동이었다면 제외 사유까지 모이고 그 후보는 추천에서 빠진다(사유는 남김)</a:t>
            </a:r>
          </a:p>
          <a:p>
            <a:r>
              <a:t>· 처음 맞은 행에서 멈추면 감점만 받고 경고를 놓친다 → 규칙을 바르게 적어도 표를 읽는 방식이 틀리면 결과가 달라진다. 표의 정책도 함께 정한다</a:t>
            </a:r>
          </a:p>
          <a:p>
            <a:r>
              <a:t>[다음] 네 방식의 비교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줄: Unique → First → Priority → 강조한 Collect → 고르는 기준, 오른쪽 같은 입력의 답</a:t>
            </a:r>
          </a:p>
          <a:p>
            <a:r>
              <a:t>· 같은 두 행이 맞아도 정책이 다르면 답이 다르다(감점 · 경고가 함께 맞은 입력)</a:t>
            </a:r>
          </a:p>
          <a:p>
            <a:r>
              <a:t>· Unique: 겹쳐 맞는 행을 허용 안 함 → 하나를 고르지 않고 표의 오류로 알린다</a:t>
            </a:r>
          </a:p>
          <a:p>
            <a:r>
              <a:t>· First: 위에서부터 처음 맞은 행 → 감점. 행을 옮기기만 해도 뜻이 바뀐다(경고 행을 위로 올리면 경고). 예외를 먼저 처리하는 설계면 순서를 지킨다</a:t>
            </a:r>
          </a:p>
          <a:p>
            <a:r>
              <a:t>· Priority: 행 위치가 아니라 출력에 정한 우선순위(제외 &gt; 경고 &gt; 감점이면) → 경고</a:t>
            </a:r>
          </a:p>
          <a:p>
            <a:r>
              <a:t>· Collect: 감점과 경고 둘 다</a:t>
            </a:r>
          </a:p>
          <a:p>
            <a:r>
              <a:t>· 늘 좋은 방식은 없다: 겹침 금지면 Unique, 예외를 위에 두면 First, 가장 무거운 판정 하나면 Priority, 빠짐없이 알아야 하면 Collect. 표준엔 세 방식이 더 있고 HYD 그래프가 허용하는 건 Unique · Priority · Collect 셋</a:t>
            </a:r>
          </a:p>
          <a:p>
            <a:r>
              <a:t>[다음] 표의 틈과 겹침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세 줄: 누락(57 ℃ 가위표) → 중복(59 ℃ 두 행) → 강조한 상충(59 ℃ 경고 · 제외) → 왼쪽 작은 글씨 → 아래 띠 HYD가 잡는 것</a:t>
            </a:r>
          </a:p>
          <a:p>
            <a:r>
              <a:t>· 문장이 그럴듯한지만 봐서는 점검 못 한다. 행이 늘수록 틈 · 겹침이 생긴다 → 실제 입력을 넣고 어느 행이 맞는지 본다</a:t>
            </a:r>
          </a:p>
          <a:p>
            <a:r>
              <a:t>· 누락(가정): 55 ℃ 미만 통과 · 60 ℃ 이상 제외만 → 57 ℃는 맞는 행이 없어 답을 못 낸다</a:t>
            </a:r>
          </a:p>
          <a:p>
            <a:r>
              <a:t>· 중복(가정): 55 ℃ 이상 경고 안에 58 ℃ 이상 경고 → 59 ℃에서 같은 답이 겹친다. 당장 틀리진 않지만 한 행만 고치면 어긋난다</a:t>
            </a:r>
          </a:p>
          <a:p>
            <a:r>
              <a:t>· 상충(가정): 58 ℃ 이상이 제외로 바뀌면 59 ℃에 경고와 제외가 함께 → 검토 대상</a:t>
            </a:r>
          </a:p>
          <a:p>
            <a:r>
              <a:t>· 무조건 틀렸다 하지 않는다: Unique 표라면 겹침 자체가 오류, Collect 표라면 여러 결과를 모으려는 의도일 수 있다 → 표의 목적과 정책을 같이 본다</a:t>
            </a:r>
          </a:p>
          <a:p>
            <a:r>
              <a:t>· HYD: 순위 정책 행이 둘 맞으면 마음대로 고르지 않고 거절, 사람이 읽는 조건 문장과 실제 검사식이 같은 뜻인지 확인(「이상」이라 적고 초과 부호 쓰는 오류 방지). 검토는 대표 · 경계 · 겹치는 입력으로</a:t>
            </a:r>
          </a:p>
          <a:p>
            <a:r>
              <a:t>[다음] 값을 얻지 못했을 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네 줄: 강조한 제외 · 감점 규칙의 값을 모름 → 같은 행의 다른 조건이 거짓 → 경고 규칙의 값을 모름 → 모든 후보 제외, 오른쪽 규칙 종류</a:t>
            </a:r>
          </a:p>
          <a:p>
            <a:r>
              <a:t>· 통신이 끊겨 운전 모드를 못 읽었다 → 원격 자동이든 수동이든 찍어 넣지 않는다. 모르는 상태</a:t>
            </a:r>
          </a:p>
          <a:p>
            <a:r>
              <a:t>· 제외 · 감점 규칙의 값을 모르면 안전한 쪽으로 제외, 사유 「확인되지 않은 조건」 → 모드를 확인 못 했는데 원격 제어가 된다고 판단하지 않는다</a:t>
            </a:r>
          </a:p>
          <a:p>
            <a:r>
              <a:t>· 경고 규칙의 값(예측 유온)이 없으면 확인되지 않았다는 경고를 남긴다 → 입력이 없다는 사실을 감추지 않는다</a:t>
            </a:r>
          </a:p>
          <a:p>
            <a:r>
              <a:t>· 한 행에 조건이 여럿이면 아는 조건도 본다: 「조치가 제어 종류 그리고 모드가 원격 자동 아님」에서 작업지시 후보는 앞 조건이 이미 거짓 → 모드를 몰라도 이 규칙 때문에 빠지지 않는다. 다른 조건이 다 맞고 하나만 모를 때 확인 불가 처리</a:t>
            </a:r>
          </a:p>
          <a:p>
            <a:r>
              <a:t>· 빈 값을 0으로 채우면: 연속 운전 이력이 없는데 0을 넣으면 제한을 안 넘었다고 판정 → 「확인할 수 없다」가 「문제없다」로 바뀐다</a:t>
            </a:r>
          </a:p>
          <a:p>
            <a:r>
              <a:t>· 모든 후보가 빠짐: 값을 몰라서일 수도, 값을 알아도(보호 정지 TRIP이면 리셋 외 모두 제외). 추천을 내지 않고 사유를 보이며, 빈 추천을 피하려 조건을 몰래 완화하지 않는다</a:t>
            </a:r>
          </a:p>
          <a:p>
            <a:r>
              <a:t>[다음] 판정의 근거를 남기는 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맨 위 걸린 규칙 기록(규칙 · 판정 · 조건 · 크기 · 지표 · 근거 절) → 가운데 판단에 쓴 값 → 맨 아래 원문, 오른쪽 강조한 trace</a:t>
            </a:r>
          </a:p>
          <a:p>
            <a:r>
              <a:t>· 제외 · 감점 결과만 받으면 운전원은 무엇을 확인하나: 걸린 조건, 그때 입력, 규칙이 어디서 왔나</a:t>
            </a:r>
          </a:p>
          <a:p>
            <a:r>
              <a:t>· 기록: 규칙(팬 24시간 초과), 판정 감점, 조건, 크기 20만 원, 깎이는 성과 지표(정비 비용 — 성과 지표 = 회사가 성과를 재는 항목), 근거 절 HM-8.8</a:t>
            </a:r>
          </a:p>
          <a:p>
            <a:r>
              <a:t>· 근거 두 갈래 ① 지식 출처(DMN 용어, 규칙의 근거 문서): 근거 절을 따라 원문에 닿는다. 제외 · 감점 규칙 모두 같은 절에서 → 조건 자체가 타당한지 따질 때</a:t>
            </a:r>
          </a:p>
          <a:p>
            <a:r>
              <a:t>· ② 이번 판정 기록: 그때 입력값(운전 이력 30 h, 조회 시각), 맞은 규칙, 출력 · 사유, 맞지 않은 행까지(trace). 후보 선택 표에서 어느 행이 이 조치를 골랐는지도(쿨러 사건 추천안: 즉시 완화 후보, 근거 즉시 완화 절)</a:t>
            </a:r>
          </a:p>
          <a:p>
            <a:r>
              <a:t>· 지금 센서를 다시 읽어서는 과거 판단을 재현 못 한다: 지금은 원격 자동인데 조금 전 제외됐다면 당시 모드 기록이 있어야 둘 다 설명</a:t>
            </a:r>
          </a:p>
          <a:p>
            <a:r>
              <a:t>· 출처만 있고 입력 기록이 없으면 규칙은 읽어도 그때 왜 적용됐는지 모른다 → 출처와 적용 값을 함께</a:t>
            </a:r>
          </a:p>
          <a:p>
            <a:r>
              <a:t>[다음] 한 걸음 물러서서 판단 흐름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05 → 부제</a:t>
            </a:r>
          </a:p>
          <a:p>
            <a:r>
              <a:t>· 결정표 한 장을 들여다봤으니 한 걸음 물러난다</a:t>
            </a:r>
          </a:p>
          <a:p>
            <a:r>
              <a:t>· 원인 진단부터 조치 순위까지 판단이 여러 번 이어진다</a:t>
            </a:r>
          </a:p>
          <a:p>
            <a:r>
              <a:t>· 물음: 그 판단들은 어떤 차례로 이어지고, 그 규칙은 시스템 안에 어떻게 저장되나</a:t>
            </a:r>
          </a:p>
          <a:p>
            <a:r>
              <a:t>[다음] 원인 진단에서 조치 순위까지의 흐름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네 칸 왼쪽부터: 원인 진단 → 후보 선택 → 규정 검사 → 강조한 순위 평가, 칸마다 Hit Policy</a:t>
            </a:r>
          </a:p>
          <a:p>
            <a:r>
              <a:t>· 원인 진단(무엇이 고장을 일으켰나: 핀 오염) → 후보 선택 표가 맞는 조치를 모음 → 규정 적합성 검사(실행 못 할 후보 제외, 남는 후보에 감점 · 경고) → 순위 정책으로 성과 · 예측 · 업무 조건 비교</a:t>
            </a:r>
          </a:p>
          <a:p>
            <a:r>
              <a:t>· 단계마다 물음이 다르다: 무엇을 비교할지/쓸 수 있는지와 주의할 점/남은 것 중 무엇이 나은지</a:t>
            </a:r>
          </a:p>
          <a:p>
            <a:r>
              <a:t>· 후보 선택 · 규정 검사는 Collect(빠짐없이). 순위 평가의 Unique = 후보를 하나로 줄인다는 뜻이 아니라 적용할 순위 정책이 하나</a:t>
            </a:r>
          </a:p>
          <a:p>
            <a:r>
              <a:t>· 원인 진단은 증거 가중치로 따로 계산 — 네 단계가 모두 결정표 평가는 아니다. 원인이 유력하다는 판단이 곧 어떤 조치의 높은 점수가 되지 않는다</a:t>
            </a:r>
          </a:p>
          <a:p>
            <a:r>
              <a:t>· 쿨러 사건: 핀 오염 증거 둘이 맞아 원인 확정(팬 구동 불량 · 주변 온도는 안 맞음) → 완화 셋 + 핀 세척 = 후보 넷 → 넷 모두 통과, 핀 세척에만 예측 유온 경고 → 넷이 순위 평가로</a:t>
            </a:r>
          </a:p>
          <a:p>
            <a:r>
              <a:t>· 볼 곳: 엉뚱한 후보면 고장-조치 연결, 수동인데 원격 제어가 남으면 규정 표의 입력 · 조건, 순서가 이상하면 성과와 순위 정책</a:t>
            </a:r>
          </a:p>
          <a:p>
            <a:r>
              <a:t>[다음] DMN 표준과 이 시스템의 구조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DMN 표준 → 오른쪽 강조한 HYD의 표현, 줄마다 조건 식 → 실행 주체 → 선언과 평가의 일치</a:t>
            </a:r>
          </a:p>
          <a:p>
            <a:r>
              <a:t>· DMN 개념으로 설명할 수 있다 ≠ 표준 모델을 그대로 실행한다</a:t>
            </a:r>
          </a:p>
          <a:p>
            <a:r>
              <a:t>· 조건 식: 표준은 FEEL(범위 · 목록도 식 하나). HYD는 입력 · 연산자 · 기준값 하나씩의 비교 검사 — 범위는 검사 둘을 한 행에, OR는 행을 둘로</a:t>
            </a:r>
          </a:p>
          <a:p>
            <a:r>
              <a:t>· 실행 주체: 표준은 DMN 모델 파일을 엔진이 실행. HYD엔 엔진이 없고 그래프의 규칙을 평가 함수가 읽어 판정 — 추천 AI가 근거로 쓰는 바로 그 함수</a:t>
            </a:r>
          </a:p>
          <a:p>
            <a:r>
              <a:t>· 실제로 평가하는 세 결정표는 선언된 Hit Policy가 함수의 평가 방식과 다르면 판정하지 않고 오류로 거절(표만 보고 설명할 수 없어서). 원인 진단 표는 이 평가 대상이 아니다(증거로 따로 계산)</a:t>
            </a:r>
          </a:p>
          <a:p>
            <a:r>
              <a:t>· 표준 파일을 가져와도 어떤 식이든 그대로 돌 거라 기대하지 않는다. 핵심은 조건 · 출력을 분명히, 여러 행 처리 정책과 근거를 드러내기</a:t>
            </a:r>
          </a:p>
          <a:p>
            <a:r>
              <a:t>[다음] 결정표가 저장된 그래프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아래 결정표 → 왼쪽 위 결정 → 가운데 진한 규칙 → 오른쪽 아래 입력 데이터 · 오른쪽 위 조치 방법 · 오른쪽 매뉴얼 절 → 아래 띠 팬 24시간 규칙</a:t>
            </a:r>
          </a:p>
          <a:p>
            <a:r>
              <a:t>· 결정 → 그것을 구현하는 결정표 → 표에 든 규칙</a:t>
            </a:r>
          </a:p>
          <a:p>
            <a:r>
              <a:t>· 규칙 → 입력 데이터(검사 관계): 평가 때 이 연결로 입력을 찾고 연산자 · 기준값으로 검사</a:t>
            </a:r>
          </a:p>
          <a:p>
            <a:r>
              <a:t>· 규칙 → 조치 방법(적용 대상): 팬 운전시간 규칙을 상관없는 조치에 적용하지 않게</a:t>
            </a:r>
          </a:p>
          <a:p>
            <a:r>
              <a:t>· 규칙 → 근거 절: 결과에 규칙과 출처를 함께 붙일 수 있는 까닭. 사람이 읽는 조건 문장도 남기되 판정은 검사 구조의 연산자와 값으로</a:t>
            </a:r>
          </a:p>
          <a:p>
            <a:r>
              <a:t>· 조치 방법은 조치 연결 그림의 그 노드, 매뉴얼 절도 그 그림의 것 → 절차 그래프와 규칙 그래프가 같은 조치 노드에서 만난다. 어떤 조치에 어떤 규칙이 걸리고 어느 대목에서 왔는지를 한 번에</a:t>
            </a:r>
          </a:p>
          <a:p>
            <a:r>
              <a:t>· 아래 띠: 팬 24시간 감점 규칙 = 검사(&gt; 24 h) → 연속 운전 시간, 적용 → 팬을 올리는 두 절차, 근거 → 금지와 제한 절. 표의 한 행이 관계 몇 개로 펼쳐진다 → 표가 바뀌어도 연결이 원문과 맞는지 검토 가능</a:t>
            </a:r>
          </a:p>
          <a:p>
            <a:r>
              <a:t>[다음] 셋째 물음, 남은 후보 가운데 무엇이 나은가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06 → 부제</a:t>
            </a:r>
          </a:p>
          <a:p>
            <a:r>
              <a:t>· 셋째 물음: 규칙을 통과한 후보 가운데 무엇이 더 나은가. 순서: 성과 목표와 지표 → 지표 사이 영향 → 쿨러 사건의 실제 후보를 견주고 가정을 바꿔 다시 계산 → 끝에 세 실습의 목표와 결과물</a:t>
            </a:r>
          </a:p>
          <a:p>
            <a:r>
              <a:t>· 이 단원: 조치의 효과를 성과로 평가하는 기준 세우기</a:t>
            </a:r>
          </a:p>
          <a:p>
            <a:r>
              <a:t>· 물음: 후보가 여럿 남았다면 무엇을 기준으로 견주나. 온도를 잘 낮추는 것도 중요하지만 생산 · 납기 · 비용도 함께 달라진다 → 무엇을 좋은 결과로 보고 어떤 지표로 잴지부터</a:t>
            </a:r>
          </a:p>
          <a:p>
            <a:r>
              <a:t>[다음] 성과를 보는 네 관점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BSC 정의 → 카드 네 장(재무 → 고객 → 내부 프로세스 → 학습과 성장)</a:t>
            </a:r>
          </a:p>
          <a:p>
            <a:r>
              <a:t>· 설비를 세우지 않고 계속 생산하면 좋은가? 생산량엔 도움이지만 고장 위험 · 품질 문제는 다른 목표에 손해. 이익 하나만 보면 그 숫자는 일이 끝난 뒤에 나와 정비를 미루는 결정이 당장은 좋아 보인다</a:t>
            </a:r>
          </a:p>
          <a:p>
            <a:r>
              <a:t>· BSC = 네 관점마다 목표와 지표를 두는 균형 성과표. 결과와 그 결과를 만드는 원인을 함께 본다</a:t>
            </a:r>
          </a:p>
          <a:p>
            <a:r>
              <a:t>· 재무: 돈으로 나타나는 결과(영업이익 · 원가). 고객: 납기 · 품질의 약속</a:t>
            </a:r>
          </a:p>
          <a:p>
            <a:r>
              <a:t>· 내부 프로세스: 무엇을 잘 운영해야 하나(설비 가용성 · 무재해 운전 · 에너지 효율) — 쿨러의 유온 관리가 여기</a:t>
            </a:r>
          </a:p>
          <a:p>
            <a:r>
              <a:t>· 학습과 성장: 계속 나아지려면 무엇을 쌓나(현장 판단과 그 이유를 기록해 다음 판단에 활용)</a:t>
            </a:r>
          </a:p>
          <a:p>
            <a:r>
              <a:t>· 네 점수를 똑같이 맞추라는 게 아니다. 정비를 미뤄 비용을 줄여도 가용성 · 납기 신뢰를 해칠 수 있다 → 연결이 보이게 목표를 먼저 정한다</a:t>
            </a:r>
          </a:p>
          <a:p>
            <a:r>
              <a:t>[다음] 목표와 그것을 재는 수치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전략 목표 → 오른쪽 강조한 KPI, 두 예(무재해 운전 · 납기 신뢰)</a:t>
            </a:r>
          </a:p>
          <a:p>
            <a:r>
              <a:t>· 「납기 신뢰를 높인다」에 다 동의해도 얼마나 잘하는지는 무엇으로 아나 → 목표 문장과 재는 수치 둘 다 필요</a:t>
            </a:r>
          </a:p>
          <a:p>
            <a:r>
              <a:t>· 전략 목표 = 이루려는 상태를 문장으로(납기 신뢰: 약속한 날짜에 약속한 수량 출하. 무재해 운전: 인터록 한계를 넘지 않음, 금액과 맞바꾸지 않음)</a:t>
            </a:r>
          </a:p>
          <a:p>
            <a:r>
              <a:t>· KPI = 목표를 얼마나 이뤘는지 재는 핵심 성과 지표(납기 신뢰 → 납기 준수율 %, 무재해 운전 → 인터록 여유 ℃)</a:t>
            </a:r>
          </a:p>
          <a:p>
            <a:r>
              <a:t>· 목표가 먼저, 지표는 목표를 살피려고 고른다. 섞으면 숫자를 올리는 것 자체가 목표처럼 바뀐다</a:t>
            </a:r>
          </a:p>
          <a:p>
            <a:r>
              <a:t>· KPI가 목표 전체를 대신하지 않는다: 인터록 여유가 충분해도 모든 안전 조건을 지킨 건 아니다(온도 한계와의 거리만 잰다, 잠금 · 잔압 확인은 절차에서 따로)</a:t>
            </a:r>
          </a:p>
          <a:p>
            <a:r>
              <a:t>[다음] 인터록 여유를 읽는 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다섯 칸: 강조한 계산식 → 단위 · 방향 → 목표값 → 경고 · 위험 기준 → 주기 · 책임 부서</a:t>
            </a:r>
          </a:p>
          <a:p>
            <a:r>
              <a:t>· 물음: 온도가 설비 보호 한계에 얼마나 가까워졌나</a:t>
            </a:r>
          </a:p>
          <a:p>
            <a:r>
              <a:t>· 계산식: 유온 한계 65 ℃ - 그 기간 최고 유온(여러 설비면 가장 작은 여유). 평균이 아니라 최고값 — 잠깐이라도 한계에 아주 가까웠던 때를 보려고</a:t>
            </a:r>
          </a:p>
          <a:p>
            <a:r>
              <a:t>· 단위 ℃, 방향 UP(클수록 좋다). 비용 지표는 DOWN → 숫자가 커졌다고 좋아졌다 판단하지 않도록 방향을 정의</a:t>
            </a:r>
          </a:p>
          <a:p>
            <a:r>
              <a:t>· 목표 10 ℃ = 그 기간 유온이 한 번도 55 ℃를 넘지 않음. 경고 5 ℃(여유가 줄어 주의), 위험 0 ℃(한계에 닿음). 목표 미달과 한계 도달은 다르다</a:t>
            </a:r>
          </a:p>
          <a:p>
            <a:r>
              <a:t>· 주기 실시간, 책임 부서 생산팀(언제 누가 확인하나)</a:t>
            </a:r>
          </a:p>
          <a:p>
            <a:r>
              <a:t>· 지표의 위험 표시 ≠ PLC의 실제 보호 정지 판정: 지표는 운전 상태 평가, 보호 장치는 자기 조건대로 현장에서 동작</a:t>
            </a:r>
          </a:p>
          <a:p>
            <a:r>
              <a:t>[다음] 같은 하루, 두 지표의 실제값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강조한 인터록 여유 → 오른쪽 설비 가동률, 각 칸 끝 판정(미달 · 달성)</a:t>
            </a:r>
          </a:p>
          <a:p>
            <a:r>
              <a:t>· 같은 하루인데 가동률은 달성, 인터록 여유는 미달 — 모순이 아니라 재는 것이 다르다</a:t>
            </a:r>
          </a:p>
          <a:p>
            <a:r>
              <a:t>· 인터록 여유: 65 - 최고 유온 62.47 = 2.53 ℃(목표 10 ℃의 약 4분의 1, 부족 7.47 ℃, 달성률 25.3 %). 계속 운전은 했지만 가장 뜨거울 때 한계에 꽤 가까웠다. 설비별: HYD-01 2.53 · HYD-02 16.72 · HYD-03 14.55 ℃</a:t>
            </a:r>
          </a:p>
          <a:p>
            <a:r>
              <a:t>· 가동률: 관측 시간 중 보호 정지 없이 가동한 비율 → 보호 정지가 없어 100.0 %, 목표 95 % 달성. 멈추지 않았다 ≠ 온도 여유가 충분했다</a:t>
            </a:r>
          </a:p>
          <a:p>
            <a:r>
              <a:t>· 기간을 맞춘다: 둘 다 같은 24시간 집계. 최고값 대신 경보 순간 유온이나 조치 뒤 예측 유온을 넣으면 다른 질문에 답하게 된다</a:t>
            </a:r>
          </a:p>
          <a:p>
            <a:r>
              <a:t>· 여러 지표를 보는 까닭은 평균 내서 감추려는 게 아니라 한 지표가 안 보여 주는 상태를 다른 지표로 확인하려는 것</a:t>
            </a:r>
          </a:p>
          <a:p>
            <a:r>
              <a:t>[다음] 설비 여럿의 여유를 어떻게 모으나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그래프 막대 셋과 평균 점선 · 목표 점선 → 오른쪽 평균 → 강조한 최솟값 → KPI 실적</a:t>
            </a:r>
          </a:p>
          <a:p>
            <a:r>
              <a:t>· 같은 하루 세 설비의 여유를 다르게 모은 두 값</a:t>
            </a:r>
          </a:p>
          <a:p>
            <a:r>
              <a:t>· 평균 = 합 ÷ 대상 수 = 11.27 ℃ → 목표 10 ℃ 점선을 넘어 평균만 보면 달성. 그런데 맨 위 파란 막대 HYD-01은 2.53 ℃뿐 — 다른 두 설비의 큰 여유가 평균을 끌어올렸다</a:t>
            </a:r>
          </a:p>
          <a:p>
            <a:r>
              <a:t>· 최솟값 = 가장 작은 값 2.53 ℃ → 목표 미달. 한계에 가장 가까운 설비를 찾는 안전 판단엔 최솟값(한 설비가 부족한데 다른 설비 여유로 넘어갈 수 없다)</a:t>
            </a:r>
          </a:p>
          <a:p>
            <a:r>
              <a:t>· 이 시스템은 최솟값을 KPI 실적으로 쓴다(미달로 본 것도 최솟값)</a:t>
            </a:r>
          </a:p>
          <a:p>
            <a:r>
              <a:t>· 평균 계산이 틀린 건 아니다(전체 수준 요약에 쓴다). 다만 「평균이 높다」를 「모든 설비가 여유 있었다」로 바꾸지 않는다. 확인하려는 질문 → 맞는 집계 방식. 실습에서 두 값을 구하고 안전 판단에 쓸 값과 까닭을 남긴다</a:t>
            </a:r>
          </a:p>
          <a:p>
            <a:r>
              <a:t>[다음] 실적을 계산할 기록이 없다면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계산됨 → 가운데 강조한 계산 불가 → 오른쪽 결과의 상태</a:t>
            </a:r>
          </a:p>
          <a:p>
            <a:r>
              <a:t>· 지표를 정의했다고 실적이 생기지 않는다. 원천: 처리 기록, 업무 DB, 시계열 DB</a:t>
            </a:r>
          </a:p>
          <a:p>
            <a:r>
              <a:t>· 계산됨: 인터록 여유 2.53 ℃(지식 그래프의 한계 65 ℃ + 시계열의 최고 유온), 가동률 100.0 %(시계열의 관측 분 + 경보 기록의 보호 정지 분)</a:t>
            </a:r>
          </a:p>
          <a:p>
            <a:r>
              <a:t>· 계산 불가: 매출(판매 · 매출 원장 없음), 납기 준수율(납기 대비 실제 완료 · 출하 시각 기록 없음) → 계산 불가와 사유를 보인다</a:t>
            </a:r>
          </a:p>
          <a:p>
            <a:r>
              <a:t>· 빈칸을 0으로 채우면 뜻이 바뀐다: 납기 준수율 0 % = 납기를 지킨 비율이 0이라는 결과 ≠ 기록이 없어 모른다</a:t>
            </a:r>
          </a:p>
          <a:p>
            <a:r>
              <a:t>· 결과 상태를 나눠 남긴다: 달성 · 미달 · 목표 없음/부분 실적 · 기록 없음/계산 불가 · 조회 실패 → 무엇을 보완할지(목표를 정할지, 기록을 모을지, 연결을 복구할지)가 달라진다</a:t>
            </a:r>
          </a:p>
          <a:p>
            <a:r>
              <a:t>· 목표 → 지표의 식 · 방향 · 집계 방식 · 원천까지 정해야 후보를 견줄 잣대. 계산할 수 없는 까닭도 결과의 일부</a:t>
            </a:r>
          </a:p>
          <a:p>
            <a:r>
              <a:t>[다음] 지표들은 서로 따로 움직이나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07 → 부제</a:t>
            </a:r>
          </a:p>
          <a:p>
            <a:r>
              <a:t>· 지표 하나하나는 정의했지만 지표들은 서로 따로 움직이지 않는다</a:t>
            </a:r>
          </a:p>
          <a:p>
            <a:r>
              <a:t>· 물음: 펌프 부하를 낮추는 조치는 냉각에만 영향을 주나, 생산과 납기까지 이어지나</a:t>
            </a:r>
          </a:p>
          <a:p>
            <a:r>
              <a:t>· 지표 하나가 움직이면 어느 목표까지 닿는지 따라간다(부호 · 조건과 함께)</a:t>
            </a:r>
          </a:p>
          <a:p>
            <a:r>
              <a:t>[다음] 목표 사이의 인과를 그린 그림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네 관점 띠 → 아래에서 위로: 현장 판단 지식 축적 → 설비 가용성 → 납기 신뢰 → 영업이익 → 왼쪽 무재해 운전 · 오른쪽 에너지 효율 → 원가 절감 → 파란 화살표</a:t>
            </a:r>
          </a:p>
          <a:p>
            <a:r>
              <a:t>· 전략맵 = 목표들이 서로 뒷받침하는 관계를 화살표로 그린 그림. 아래에서 위로 읽는다</a:t>
            </a:r>
          </a:p>
          <a:p>
            <a:r>
              <a:t>· 현장 판단과 이유가 쌓이면 설비 운영에 → 설비가 필요할 때 가동돼야 계획 생산 · 납기 → 납기 · 품질 신뢰가 재무 성과를 받친다</a:t>
            </a:r>
          </a:p>
          <a:p>
            <a:r>
              <a:t>· 무재해 운전도 설비 가용성으로(보호 정지에 이르지 않게 운전). 에너지 효율 → 원가 절감 — 같은 재무 목표도 받치는 운영 목표가 여럿</a:t>
            </a:r>
          </a:p>
          <a:p>
            <a:r>
              <a:t>· 파란 길 = 쿨러 사건: 무재해 운전 → 설비 가용성 → 납기 신뢰 → 영업이익 → 유온을 한계 아래로 지키는 일이 재무 목표까지 닿는다</a:t>
            </a:r>
          </a:p>
          <a:p>
            <a:r>
              <a:t>· 화살표는 조직이 어떤 목표를 거쳐 다른 목표를 이루려는지일 뿐 — 이번 주문이 왜 늦었는지 확정 못 한다(사건의 원인은 그 사건의 증거로). 평가할 때 어디까지 함께 볼지 범위를 준다</a:t>
            </a:r>
          </a:p>
          <a:p>
            <a:r>
              <a:t>· 위쪽 재무 · 고객 지표는 실적 기록이 없는 것이 많다 → 위쪽 목표는 방향으로 읽고, 실적 확인은 인터록 여유 · 가동률처럼 기록 있는 지표에서</a:t>
            </a:r>
          </a:p>
          <a:p>
            <a:r>
              <a:t>[다음] 결과보다 먼저 움직이는 지표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오른쪽 띠 후행 지표 → 왼쪽 띠 선행 지표 → 아래 경로: 펌프 부하 → 강조한 생산량 → 납기 준수율 → 지체상금, 화살표 부호와 측정 주기</a:t>
            </a:r>
          </a:p>
          <a:p>
            <a:r>
              <a:t>· 납기를 지켰는지는 출하가 끝나야 안다 → 그때 보면 손쓰기 어렵다</a:t>
            </a:r>
          </a:p>
          <a:p>
            <a:r>
              <a:t>· 후행 지표 = 일이 진행된 뒤 결과를 잰다(납기 준수율 · 지체상금 · 영업이익). 선행 지표 = 그 결과를 움직이는 요인을 먼저 본다(생산량 · 인터록 여유 · 가동률)</a:t>
            </a:r>
          </a:p>
          <a:p>
            <a:r>
              <a:t>· 경로: 펌프 부하를 낮추면 생산량 감소(+) → 납기 부담(+) → 납기를 어기면 무는 돈 지체상금 증가(-). 조치 직후 바뀌는 값에서 뒤의 성과까지</a:t>
            </a:r>
          </a:p>
          <a:p>
            <a:r>
              <a:t>· 측정 주기(실시간 · 주 · 월)가 잦다고 선행 지표가 아니다 — 결과보다 앞서 그 결과를 움직이는 정보를 주느냐가 핵심</a:t>
            </a:r>
          </a:p>
          <a:p>
            <a:r>
              <a:t>· 선행으로 조짐을, 후행으로 실제 결과를 확인해 예상한 연결이 맞았는지 검토. 생산량이 줄었다고 납기 위반이 확정되진 않는다</a:t>
            </a:r>
          </a:p>
          <a:p>
            <a:r>
              <a:t>· 이 모델은 선행 → 결과로 가는 영향만 두고 거꾸로 가는 관계는 두지 않았다. 선행 지표는 모두 어느 결과에 닿는지 경로가 그어져 있다</a:t>
            </a:r>
          </a:p>
          <a:p>
            <a:r>
              <a:t>[다음] 화살표에 붙는 부호 · 강도 · 조건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진한 부품 단가 → 위 구매비 길(+ · high) → 아래 품질 길과 조건 → 클레임 · 신뢰 · 매출 → 오른쪽 아래 조건 칩 셋</a:t>
            </a:r>
          </a:p>
          <a:p>
            <a:r>
              <a:t>· 화살표엔 방향뿐 아니라 같은 쪽 · 반대쪽인지(부호), 얼마나 강한지(강도), 어떤 조건에서 성립하는지(조건)가 붙는다</a:t>
            </a:r>
          </a:p>
          <a:p>
            <a:r>
              <a:t>· 쿨러가 아니라 부품 구매 예(쿨러 조치 길엔 조건 붙은 관계가 없어서 실제 관계를 가져옴)</a:t>
            </a:r>
          </a:p>
          <a:p>
            <a:r>
              <a:t>· 부품 단가 → 구매비 +: 같은 방향(단가가 오르면 구매비도). 양수가 「좋다」는 뜻이 아니다 — 좋고 나쁨은 각 지표의 목표와 방향으로</a:t>
            </a:r>
          </a:p>
          <a:p>
            <a:r>
              <a:t>· 아래 길의 조건: 공급사 변경 · 단가 인하 — 같은 부품 시세만 내린 상황까지 품질 악화로 읽지 않는다. 조건이 맞으면 품질 → 클레임 → 신뢰 → 매출까지</a:t>
            </a:r>
          </a:p>
          <a:p>
            <a:r>
              <a:t>· 강도(high · medium) = 영향의 비중, 조건 = 그 경로를 적용할지. 섞지 않는다</a:t>
            </a:r>
          </a:p>
          <a:p>
            <a:r>
              <a:t>· 조건 세 상태: 참이면 반영, 거짓이면 뺌, 미확인이면 미확인 영향으로 따로 두고 순위 정책이 그 성분을 절반만 반영. 비중도 현실 확률을 자동 산출한 게 아니라 지식 · 정책에 정해 둔 평가 기준</a:t>
            </a:r>
          </a:p>
          <a:p>
            <a:r>
              <a:t>[다음] 네 후보로 돌아가 득실 견주기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08 → 부제</a:t>
            </a:r>
          </a:p>
          <a:p>
            <a:r>
              <a:t>· 목표 · 지표 · 그 사이 길을 갖췄으니 쿨러 사건의 네 후보로 돌아온다</a:t>
            </a:r>
          </a:p>
          <a:p>
            <a:r>
              <a:t>· 물음: 네 후보 중 무엇이 더 나은가. 같은 조치가 냉각엔 도움, 생산엔 부담일 때 득실을 어떻게 견주나</a:t>
            </a:r>
          </a:p>
          <a:p>
            <a:r>
              <a:t>· 가정이 달라지면 선택도 달라지는지 확인(What-if)</a:t>
            </a:r>
          </a:p>
          <a:p>
            <a:r>
              <a:t>[다음] 비교 전에 지킬 경계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가능 여부를 가리는 규칙 → 오른쪽 강조한 효과와 비용을 견주는 기준, 각 칸 마지막 줄(섞으면)</a:t>
            </a:r>
          </a:p>
          <a:p>
            <a:r>
              <a:t>· 해도 되는지 가르는 조건 ≠ 가능한 후보 중 어느 쪽이 나은지 견주는 기준</a:t>
            </a:r>
          </a:p>
          <a:p>
            <a:r>
              <a:t>· 왼쪽: 수동 조작 중인 설비에 원격 명령 금지 같은 조건. 통과 아니면 제외, 생산 효과가 커도 못 넘는다(무재해 운전처럼 금액과 맞바꾸지 않는 선). 제외된 후보는 점수 경쟁에 끼지 않는다</a:t>
            </a:r>
          </a:p>
          <a:p>
            <a:r>
              <a:t>· 오른쪽: 통과한 후보의 득실. 팬을 올리면 냉각엔 도움, 전력은 늘어남 → 한쪽 손해를 다른 쪽 이득이 메울 수 있어 함께 비교. 감점 · 경고도 여기서 점수 성분</a:t>
            </a:r>
          </a:p>
          <a:p>
            <a:r>
              <a:t>· 섞으면: 안전 조건을 작은 감점으로 바꾸면 다른 점수가 덮어 버리고, 비용이 든다는 이유로 후보를 빼면 고를 조치가 남지 않는다</a:t>
            </a:r>
          </a:p>
          <a:p>
            <a:r>
              <a:t>· 결정표에서 출력 종류를 나눈 까닭이 이것: 먼저 허용 범위를 지키고 그 안에서 더 나은 조치를</a:t>
            </a:r>
          </a:p>
          <a:p>
            <a:r>
              <a:t>[다음] 한 조치가 지표에 닿는 경로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조치(팬 최대 + 부하 80 %) → 첫 화살표 두 갈래(팬 속도 · 펌프 부하) → 가운데 유온 → 오른쪽 강조한 인터록 여유(파란 갈래) → 전력 사용량 · 생산량 → 납기 준수율(남색 갈래)</a:t>
            </a:r>
          </a:p>
          <a:p>
            <a:r>
              <a:t>· 첫 화살표(AFFECTS) = 조치가 처음 건드리는 설비의 값(팬 60 → 100 %, 부하 90 → 80 %). 그 뒤 값과 지표를 잇는 건 영향 관계</a:t>
            </a:r>
          </a:p>
          <a:p>
            <a:r>
              <a:t>· 얻는 쪽(파랑): 팬을 더 돌리고 부하를 낮추면 유온이 내려가고 → 인터록 여유가 커진다</a:t>
            </a:r>
          </a:p>
          <a:p>
            <a:r>
              <a:t>· 잃는 쪽(남색): 팬을 더 돌린 만큼 전력 사용 증가, 부하를 낮추면 생산량 감소 → 납기 부담</a:t>
            </a:r>
          </a:p>
          <a:p>
            <a:r>
              <a:t>· 상충 = 한쪽에서 얻는 효과와 다른 쪽에서 잃는 것이 함께 생기는 관계</a:t>
            </a:r>
          </a:p>
          <a:p>
            <a:r>
              <a:t>· 온도가 내려가는 길만 따라가면 이 조치가 제일 좋아 보인다 → 생산 · 전력 쪽까지 따라가야 전체 득실</a:t>
            </a:r>
          </a:p>
          <a:p>
            <a:r>
              <a:t>· 납기에 미치는 실제 크기는 남은 주문 · 시간 같은 업무 조건이 있어야 계산 → 방향을 먼저 찾고 필요한 값을 가져와 비교</a:t>
            </a:r>
          </a:p>
          <a:p>
            <a:r>
              <a:t>[다음] 득실을 금액으로 계산하려면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여섯 줄: 손익 항목 → 가운데 계산과 원천 → 오른쪽 해당 후보, 강조한 정비 정지 · 작업비</a:t>
            </a:r>
          </a:p>
          <a:p>
            <a:r>
              <a:t>· 식을 외우기보다 항목마다 어떤 기록을 가져와야 계산되는지</a:t>
            </a:r>
          </a:p>
          <a:p>
            <a:r>
              <a:t>· 생산 감소: 시간당 생산 가치 × (기간 × 평소 부하 90 % 대비 낮춘 비율 + 작업 정지 시간). 부하를 낮춘 비율만큼 생산도 준다는 가정. 감산과 정지의 영향을 단순히 더한다(겹치는 시간 · 실제 야간 정비 시점은 따로 계산 안 함)</a:t>
            </a:r>
          </a:p>
          <a:p>
            <a:r>
              <a:t>· 납기 지연 위약금: 계약의 시간당 위약금 × 실제로 납기를 넘긴 시간. 느려졌다는 사실만으로 위약금이 생기지 않는다. 이 위약금(오더 계약, 시간당) ≠ 앞 그림의 지체상금(월 단위 성과 지표)</a:t>
            </a:r>
          </a:p>
          <a:p>
            <a:r>
              <a:t>· 품질 위험(예측 유온 55 ℃ 이상일 때 불량 확률 × 클레임 금액), 에너지비(추가 전력 × 운전 시간 × 전력 단가) — 다 「비용」이어도 원천 · 기준이 다르다</a:t>
            </a:r>
          </a:p>
          <a:p>
            <a:r>
              <a:t>· 정비: 정지 시간 · 작업비는 정비 관리 시스템의 표준 작업(계획 시간 ≠ 실제 복구 시간). 설비별 핀 세척 기준(3 h · 40만 원)이 있어도 적용할 조치의 표준 작업이 없으면 손익을 확정하지 않는다 — 빈자리를 임의로 채우지 않는다</a:t>
            </a:r>
          </a:p>
          <a:p>
            <a:r>
              <a:t>· 고장 위험: 고장 비용 × 어림한 확률. 근본 조치 뒤 위험 0은 계산의 가정 → 원천과 가정을 함께 남기고 확인된 지출과 위험 추정을 구분. 항목별 금액을 더해 줄 세운 것 = 손익 순위</a:t>
            </a:r>
          </a:p>
          <a:p>
            <a:r>
              <a:t>[다음] 실제 쿨러 사건의 판단 순위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그래프의 막대(예측 유온)와 위 순위 → 55 ℃ 점선 → 오른쪽 넷: 강조한 1순위 → 공동 2순위 → 4순위 핀 세척 → 입력</a:t>
            </a:r>
          </a:p>
          <a:p>
            <a:r>
              <a:t>· 판단 순위 = 순위 정책의 점수로 매긴 순서(추천안은 이것으로). 손익 순위는 따로 계산해 참고로</a:t>
            </a:r>
          </a:p>
          <a:p>
            <a:r>
              <a:t>· 생각할 시간(약 10초): 예측 유온이 가장 낮은 후보가 1순위인가</a:t>
            </a:r>
          </a:p>
          <a:p>
            <a:r>
              <a:t>· 가장 낮은 건 셋째 막대(팬 + 부하 낮춤)인데 공동 2순위. 1순위는 팬만 최대로 돌려 생산을 유지하는 팬 최대 운전(점수 +3.38, 승인 운전원) → 냉각 하나로 매긴 순서가 아니다</a:t>
            </a:r>
          </a:p>
          <a:p>
            <a:r>
              <a:t>· 부하를 줄이는 두 후보는 같은 점수 +2.75 → 공동 2순위. 그래프에서 위에 있다고 우열이 아니다</a:t>
            </a:r>
          </a:p>
          <a:p>
            <a:r>
              <a:t>· 핀 세척은 왜 예측이 높나: 이 시점 시스템의 동작은 정비 작업지시 등록 — 제어 상태가 바로 바뀌거나 세척이 끝난 게 아니다 → 55 ℃를 넘어 경고, 점수 -1.58로 4순위. 「세척을 마쳐도 냉각이 안 된다」로 읽지 않는다</a:t>
            </a:r>
          </a:p>
          <a:p>
            <a:r>
              <a:t>· 입력: 원격 자동이라 제외 없음, 팬 100 % 연속 0 h, 납기 5.98 h · 위약금 120만 원/h, 고온 로트 있음 → 생산 유지 가치가 반영된 상황. 점수가 낮다고 영원히 쓸모없다는 뜻도, 음수가 그만큼 금전 손실이라는 뜻도 아니다 — 지금 입력과 정책의 비교 결과</a:t>
            </a:r>
          </a:p>
          <a:p>
            <a:r>
              <a:t>[다음] 순위 점수를 이루는 일곱 성분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일곱 줄: 왼쪽 점수 성분 → 가운데 반영하는 판단 → 오른쪽 정책의 식 · 범위, 강조한 예측</a:t>
            </a:r>
          </a:p>
          <a:p>
            <a:r>
              <a:t>· 순위 점수 = 일곱 성분을 정책의 식으로 합친 값. 금액이나 단일 KPI가 아니다</a:t>
            </a:r>
          </a:p>
          <a:p>
            <a:r>
              <a:t>· 성과 지표: 영향 경로에서 얻은 득 - 실, 조건이 미확인이면 그 성분 × 0.5</a:t>
            </a:r>
          </a:p>
          <a:p>
            <a:r>
              <a:t>· 예측: (55 - 예측 유온) ÷ 3, 범위 -2 ~ +2 → 회복 기준 아래로 내리는 효과, 충분히 낮으면 가산점이 더 늘지 않는다(상한)</a:t>
            </a:r>
          </a:p>
          <a:p>
            <a:r>
              <a:t>· 경고: 1건당 -0.5. 감점: 금액(만 원) ÷ 20을 점수에서 뺀다 — 금액과 점수를 그대로 더하지 않는다</a:t>
            </a:r>
          </a:p>
          <a:p>
            <a:r>
              <a:t>· 선례: 같은 고장 유형에서 사람이 이 조치를 고른 비율 × 1.5. 납기: 긴급도 · 위약금 · 생산 영향(유지 1 · 감산 0.4 · 정지 -1의 비중). 품질: 예측 55 ℃ 이상 + 고온 로트(유온이 높을 때 만들어져 출하를 기다리는 제품 묶음)면 최대 1.5점 감점</a:t>
            </a:r>
          </a:p>
          <a:p>
            <a:r>
              <a:t>· 모든 성분이 매번 값을 갖진 않는다(경고 없으면 0). 합계만 보면 어떤 이유가 컸는지 모른다 → 성분을 펼쳐 낮은 온도 때문인지, 생산 유지 때문인지, 규정 부담 때문인지 확인</a:t>
            </a:r>
          </a:p>
          <a:p>
            <a:r>
              <a:t>[다음] 팬 최대 운전의 점수 펼쳐 보기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팬 최대 운전 성분 셋과 합계 → 가운데 예측 성분 셋(상한) → 맨 아래 감점 · 경고 환산, 오른쪽 짚을 점</a:t>
            </a:r>
          </a:p>
          <a:p>
            <a:r>
              <a:t>· 팬 최대 운전: 성과 지표 +0.52 + 납기 +1.12 + 예측 +1.74 = +3.38, 나머지 0 → 금액의 합이 아니라 정책 점수의 합. 네 후보 중 최고</a:t>
            </a:r>
          </a:p>
          <a:p>
            <a:r>
              <a:t>· 유온을 회복 기준 아래로 내리면서 생산도 유지 → 예측과 납기 양쪽에서 점수</a:t>
            </a:r>
          </a:p>
          <a:p>
            <a:r>
              <a:t>· 예측 성분: 팬 최대 49.8 ℃ → +1.74, 부하 70 % 47.7 ℃ → +2.00, 팬 최대 + 부하 80 % 44.6 ℃ → +2.00. 예측이 달라도 둘 다 상한 → 더 차갑게 만든다고 점수가 끝없이 늘지 않는다</a:t>
            </a:r>
          </a:p>
          <a:p>
            <a:r>
              <a:t>· 생산을 줄이는 부담은 납기 점수에 그대로: 납기 5.98 h · 위약금 120만 원/h에서 생산 유지 +1.12, 감산 +0.45(두 배가 넘는 차이) → 가장 낮은 온도 ≠ 가장 높은 종합 점수</a:t>
            </a:r>
          </a:p>
          <a:p>
            <a:r>
              <a:t>· 단위가 바뀌는 지점: 감점 20만 원 → 점수 -1.00, 경고 1건 → -0.50. 환산 기준을 바꾸면 비교도 달라질 수 있다 → 합계를 낸 입력과 정책을 같이 본다. 금액 손익표는 따로, 점수를 원 단위로 읽지 않는다</a:t>
            </a:r>
          </a:p>
          <a:p>
            <a:r>
              <a:t>[다음] 납기가 여유롭다면 같은 조치를 추천할까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위 원본 → 가운데 강조한 판단 한 건의 사본 → 사본 아래 가정값 손잡이 → 오른쪽 위 기준 결과 · 오른쪽 아래 강조한 시험 결과 → 왼쪽 아래 원본 그대로</a:t>
            </a:r>
          </a:p>
          <a:p>
            <a:r>
              <a:t>· What-if 분석 = 실제 주문의 납기를 건드리지 않고, 지금 판단 한 건을 복사해 가정값으로 다시 계산</a:t>
            </a:r>
          </a:p>
          <a:p>
            <a:r>
              <a:t>· 원본: 지식 그래프 · 업무 데이터 · 순위 정책. 사본: 비교할 후보 · 규칙 · 입력값</a:t>
            </a:r>
          </a:p>
          <a:p>
            <a:r>
              <a:t>· 가정값: 납기 · 위약금 · 감점 기준 · 관점 중요도(BSC 관점마다 배수를 주면 성과 지표 점수를 그 비중으로 다시 계산)</a:t>
            </a:r>
          </a:p>
          <a:p>
            <a:r>
              <a:t>· 시험 결과를 기준 결과와 비교: 어느 후보의 어느 성분이 달라졌나, 순위가 바뀌었나, 금액 손익은 어떤가</a:t>
            </a:r>
          </a:p>
          <a:p>
            <a:r>
              <a:t>· 원본이 그대로인지 확인(unchanged). 이 시험으로 실제 설비 명령이나 주문 데이터가 바뀌면 가정 분석이 아니다</a:t>
            </a:r>
          </a:p>
          <a:p>
            <a:r>
              <a:t>· 한 번에 여러 값을 바꾸면 까닭을 가리기 어렵다 → 하나씩 바꾸고, 함께 바꿀 땐 무엇을 유지 · 변경했는지 기록. KPI 목표를 바꾸면 달성 판정은 달라져도 이미 측정한 실제 온도는 그대로</a:t>
            </a:r>
          </a:p>
          <a:p>
            <a:r>
              <a:t>[다음] 가정값을 바꾸면 어느 성분이 움직이나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첫 줄 기준 → 시험 ① → ② → ③ → 강조한 순위의 경계값, 가운데 바꾸기 전 → 후, 오른쪽 달라지는 성분</a:t>
            </a:r>
          </a:p>
          <a:p>
            <a:r>
              <a:t>· 기준: 팬 100 % 연속 0 h(감점 0), 납기 5.98 h(납기 +1.12)</a:t>
            </a:r>
          </a:p>
          <a:p>
            <a:r>
              <a:t>· 시험 ①: 연속 0 → 30 h → 24 h 제한을 넘어 팬 최대 운전 두 후보에 20만 원 감점 → 정책이 1점으로 바꿔 뺀다(-1.00). 입력이 바뀌어 규칙이 새로 맞은 경우</a:t>
            </a:r>
          </a:p>
          <a:p>
            <a:r>
              <a:t>· 시험 ②: 30 h 유지 + 감점 기준 20 → 100만 원 → -1.00 → -5.00. 맞는 규칙은 같고 그 부담을 더 크게 평가한 것 — ①과 다른 변화</a:t>
            </a:r>
          </a:p>
          <a:p>
            <a:r>
              <a:t>· 시험 ③: 기준 상태로 돌아가 납기만 5.98 → 48 h → 생산 유지에 붙던 납기 가산점 +1.12 → 0. 앞의 감점을 남겨 둔 시험으로 읽지 않는다</a:t>
            </a:r>
          </a:p>
          <a:p>
            <a:r>
              <a:t>· 성분이 바뀌었다고 1순위가 꼭 바뀌진 않는다(다른 성분 차이가 더 클 수도, 다른 후보도 영향). 이 표는 움직인 성분</a:t>
            </a:r>
          </a:p>
          <a:p>
            <a:r>
              <a:t>· 순위가 바뀌는 경계값은 후보 전체를 다시 계산해 확인 → 성분 변화와 순위 변화를 구별</a:t>
            </a:r>
          </a:p>
          <a:p>
            <a:r>
              <a:t>[다음] 예측은 무엇으로 확인하나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단계 네 칸 왼쪽부터: 전제 확인 → 근거 있는 추천안 → 사람의 승인 · 거절 → 강조한 조치 뒤 재관측</a:t>
            </a:r>
          </a:p>
          <a:p>
            <a:r>
              <a:t>· 추천안도 What-if도 판단을 돕는 계산. 현장에서 정말 그 결과가 나왔는지는 조치 뒤 관측으로 → 마지막 단계는 예측이 아니라 재관측</a:t>
            </a:r>
          </a:p>
          <a:p>
            <a:r>
              <a:t>· 전제 확인: 운전 모드 · 입력 · 예측 모델. 온도 예측은 외기와 오염이 지금처럼 이어진다고 본 계산 → 주변 조건이 바뀌면 결과도 달라진다</a:t>
            </a:r>
          </a:p>
          <a:p>
            <a:r>
              <a:t>· 추천안: 전제 · 규칙 · 점수 · 출처를 붙인다. 손익엔 운전 시간 · 고장 확률 같은 가정이 든다</a:t>
            </a:r>
          </a:p>
          <a:p>
            <a:r>
              <a:t>· 승인 · 거절: 어느 가정이 현실에 가까운지는 사람이 판단. 승인 1회 뒤 프로세스 엔진이 실행하고 실제 값을 다시 읽는다</a:t>
            </a:r>
          </a:p>
          <a:p>
            <a:r>
              <a:t>· 재관측의 두 완료 기준: 완화 성공 = 15분 동안 유온 55 ℃ 미만 · 경보 해제 유지, 정비 완료 = 핀 세척 재가동 뒤 냉각 효율 80 % 이상. 예측이 맞았는지도 이 관측으로</a:t>
            </a:r>
          </a:p>
          <a:p>
            <a:r>
              <a:t>· 결과가 예측과 다르면 입력 · 전제 · 실행 기록을 다시 본다 → 조치 선택은 점수 큰 줄 고르기가 아니라 절차 → 가능 여부 → 득실 → 사람 승인 → 실제 효과 확인</a:t>
            </a:r>
          </a:p>
          <a:p>
            <a:r>
              <a:t>[다음] 첫 실습, 조건을 바꿔 결과 비교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「실습」 표시 → 부제</a:t>
            </a:r>
          </a:p>
          <a:p>
            <a:r>
              <a:t>· 실습의 목적: 같은 쿨러 사건에 운전 조건이나 성과 기준을 하나씩 바꿔 넣고 전후 판단 결과를 견준다. 순위만 적는 게 아니라 어느 규칙 · 점수 성분 때문에 달라졌는지 설명</a:t>
            </a:r>
          </a:p>
          <a:p>
            <a:r>
              <a:t>· 앞 이론과의 연결: 조건 하나가 규칙을 새로 맞추거나(시험 ①) 성분을 움직인다(②③), 평균 vs 최솟값(설비별 여유 집계)</a:t>
            </a:r>
          </a:p>
          <a:p>
            <a:r>
              <a:t>· 운전 조건은 조치 가능 여부에, 납기 · 감점 기준 · 관점 중요도는 득실에, KPI 목표는 달성 판정에 영향</a:t>
            </a:r>
          </a:p>
          <a:p>
            <a:r>
              <a:t>[다음] 실습의 카드 넷과 성공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네 장 왼쪽부터: 운전 조건 → 손익 · What-if → KPI 목표 · 집계 → 강조한 비교 기록 · 완성본, 카드마다 성공 기준</a:t>
            </a:r>
          </a:p>
          <a:p>
            <a:r>
              <a:t>· 목표: 조건별 판단 결과를 대조하고, 같은 관측값의 평균과 최솟값 중 안전 판단에 맞는 집계를 고른다</a:t>
            </a:r>
          </a:p>
          <a:p>
            <a:r>
              <a:t>· 운전 조건: 운전 모드 · 설비 상태 · 팬 연속 시간 중 하나를 바꾼다(실습 화면의 「팬 100 % 누적」 입력칸은 지금 이어지고 있는 연속 운전 시간). 성공: 적용 규칙과 후보 유지 · 제외를 연결</a:t>
            </a:r>
          </a:p>
          <a:p>
            <a:r>
              <a:t>· 손익 · What-if: 납기 · 위약금 · 전력 단가 · 감점 기준 · 관점 중요도. 성공: 성분 변화로 순위와 손익을 설명</a:t>
            </a:r>
          </a:p>
          <a:p>
            <a:r>
              <a:t>· KPI 목표 · 집계: 같은 실제값에 시험 목표 대조(실제값이 바뀌는지, 달성 판정만 바뀌는지 구분), 설비별 여유 기록으로 평균과 최솟값 직접 계산. 성공: 목표 변경과 집계를 구별, 안전 판단의 값과 이유 선택</a:t>
            </a:r>
          </a:p>
          <a:p>
            <a:r>
              <a:t>· 결과물: 원래 입력 · 바꾼 조건(단위 포함) · 결과 · 근거 규칙이나 성분 · 집계 선택</a:t>
            </a:r>
          </a:p>
          <a:p>
            <a:r>
              <a:t>· 주의: 시험값은 사본에만 — 설비 명령이 나가거나 원본 업무 데이터 · KPI 정의가 바뀌지 않는다</a:t>
            </a:r>
          </a:p>
          <a:p>
            <a:r>
              <a:t>[다음] 둘째 실습, 조치 기준 만들기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「실습」 표시 → 부제(바이브 코딩으로 SOP 자료를 조치 방법 · 단계 · 결정표로)</a:t>
            </a:r>
          </a:p>
          <a:p>
            <a:r>
              <a:t>· 실습의 목적: 첫 실습에서 비교할 판단의 재료(절차와 규칙)를 직접 만든다</a:t>
            </a:r>
          </a:p>
          <a:p>
            <a:r>
              <a:t>· 앞 이론과의 연결: SOP → 조치 방법 · 단계, 조건 문장 → 결정표의 행(입력 · 연산자 · 기준값 · 출력)</a:t>
            </a:r>
          </a:p>
          <a:p>
            <a:r>
              <a:t>· 매뉴얼 문장을 직접 읽고 수행 단계와 조건을 나눠 설비 모델에 연결할 자료로</a:t>
            </a:r>
          </a:p>
          <a:p>
            <a:r>
              <a:t>· 만든 자료는 셋째 실습의 판정 기능에 연결된다</a:t>
            </a:r>
          </a:p>
          <a:p>
            <a:r>
              <a:t>[다음] 단계와 완성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단계 네 칸 왼쪽부터: 설비 모델 · SOP 자료 → 절차 구조 → 결정표 자료 → 강조한 완성본 확인, 칸마다 완성 기준</a:t>
            </a:r>
          </a:p>
          <a:p>
            <a:r>
              <a:t>· 목표: SOP 문장을 단계와 조건으로 나눠 설비 모델에 잇고, 원문과 대조할 수 있는 절차 구조와 결정표를 만든다</a:t>
            </a:r>
          </a:p>
          <a:p>
            <a:r>
              <a:t>· 입력: 설비 모델, 작업 조건이 정리된 실습용 SOP 자료. 어떤 대상을 다시 쓰고 어떤 절차를 새로 연결할지 먼저 확인</a:t>
            </a:r>
          </a:p>
          <a:p>
            <a:r>
              <a:t>· 주의: 같은 설비 · 고장 유형을 다른 이름으로 또 만들지 않게 기존 식별자 재사용. 원문 자동 추출은 이 실습 범위가 아니다</a:t>
            </a:r>
          </a:p>
          <a:p>
            <a:r>
              <a:t>· 바이브 코딩: 만들 내용을 말로 요청 → 생성된 구조를 원문과 대조하며 고친다. 절차 구조엔 단계 순서와 근거 문장을 남기고 적용 · 금지 조건과 완료 기준을 구분, 조건은 입력 · 연산자 · 기준값 · 출력으로</a:t>
            </a:r>
          </a:p>
          <a:p>
            <a:r>
              <a:t>· 결과물: 절차 구조와 결정표 자료 두 가지</a:t>
            </a:r>
          </a:p>
          <a:p>
            <a:r>
              <a:t>· 성공 기준: 원문과 나란히 놓아 맞는다(「이상」 · 「초과」, 금지 조건 · 완료 기준 누락 없음, 원문 문장이 구조의 어디에 들어갔는지 짚기), 입력을 대어 판정 결과 확인 → 원문 → 구조 → 결과를 이어 설명</a:t>
            </a:r>
          </a:p>
          <a:p>
            <a:r>
              <a:t>[다음] 셋째 실습, 판단 기능 만들기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「실습」 표시 → 부제(결정표를 읽어 조치를 가르고 남은 후보 비교)</a:t>
            </a:r>
          </a:p>
          <a:p>
            <a:r>
              <a:t>· 실습의 목적: 조건표를 읽어 설비 조건에 따라 조치를 판정하는 기능을 바이브 코딩으로</a:t>
            </a:r>
          </a:p>
          <a:p>
            <a:r>
              <a:t>· 출발점: 완성된 조건표가 함께 주어진다 → 둘째 실습을 다 못 끝내도 같은 데서 시작</a:t>
            </a:r>
          </a:p>
          <a:p>
            <a:r>
              <a:t>· 판정 결과 = 경고 · 감점 · 제외 · 정보 부족(값이 없어 못 가림) + 이유. 남은 후보는 수업용 계산식으로 비용 · 생산 · 품질 · 에너지 손실을 견준다(포털의 성과 점수와 다른 값)</a:t>
            </a:r>
          </a:p>
          <a:p>
            <a:r>
              <a:t>· 앞 이론과의 연결: 경계값 · 여러 규칙 일치(Collect) · 모르는 값 처리 · 규칙의 적용 대상</a:t>
            </a:r>
          </a:p>
          <a:p>
            <a:r>
              <a:t>· 세 실습 순서: 판단 결과 비교 → 판단 기준 만들기 → 기준대로 동작하는지 시험</a:t>
            </a:r>
          </a:p>
          <a:p>
            <a:r>
              <a:t>[다음] 시험할 입력과 성공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줄: 정상 · 경계값 → 복수 규칙 일치 → 조치 불가 → 강조한 적용 대상 대조 → 결과 확인과 수정, 오른쪽 성공 기준</a:t>
            </a:r>
          </a:p>
          <a:p>
            <a:r>
              <a:t>· 목표: 입력별 판정 기능을 만들고 원문이 정한 적용 대상과 기대 결과를 실제 출력에 대조</a:t>
            </a:r>
          </a:p>
          <a:p>
            <a:r>
              <a:t>· 경계값: 팬 최대 운전 연속 0 · 23.9 · 24.0 · 24.1 h → 후보와 선택 이유 표시, 24.1 h에서만 수명 감점(정확히 24 h는 감점 없음)</a:t>
            </a:r>
          </a:p>
          <a:p>
            <a:r>
              <a:t>· 복수 규칙: 원격 자동 · 연속 30 h · 예측 유온 56 ℃ → 감점과 경고를 모두 표시. 조치 불가: 원격 제어 후보만 있고 운전 모드 미확인 → 추천 없음, 제외 · 정보 부족 사유 표시</a:t>
            </a:r>
          </a:p>
          <a:p>
            <a:r>
              <a:t>· 적용 대상: 연속 30 h에서 팬 최대 운전은 20만 원 감점, 팬을 그대로 두는 조치엔 이 감점 없음 → 비교식 · 감점액이 맞아도 대상이 틀릴 수 있어 함께 본다</a:t>
            </a:r>
          </a:p>
          <a:p>
            <a:r>
              <a:t>· 순서: 입력과 기대 결과를 먼저 적고 → 실행 → 다르면 원인을 고치고 같은 입력으로 재확인. 기준 시간을 바꿔 결과만 맞추지 않고 원문이 정한 조치에만 규칙이 걸리게 고친다</a:t>
            </a:r>
          </a:p>
          <a:p>
            <a:r>
              <a:t>· 결과물: 입력 · 기대 결과 · 실제 출력 · 대조 근거 · 수정 기록. 처음부터 일치했으면 그 근거를 남김</a:t>
            </a:r>
          </a:p>
          <a:p>
            <a:r>
              <a:t>[다음] 실습 뒤 복습, 네 가지 판단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네 장: 위 줄 상황 → 아래 줄 찾을 근거, 왼쪽부터</a:t>
            </a:r>
          </a:p>
          <a:p>
            <a:r>
              <a:t>· 실습에서 결과 비교 → 절차 · 결정표 만들기 → 판정 기능 시험을 했다. 어떤 질문에 어떤 기준을 썼는지 SOP · DMN · BSC · What-if로</a:t>
            </a:r>
          </a:p>
          <a:p>
            <a:r>
              <a:t>· 생각할 시간(약 15초): 네 상황에 먼저 필요한 개념을 고른다</a:t>
            </a:r>
          </a:p>
          <a:p>
            <a:r>
              <a:t>· 핀 세척이 끝났나 → SOP: 명령을 보냈느냐가 아니라 재가동 뒤 확인할 완료 기준</a:t>
            </a:r>
          </a:p>
          <a:p>
            <a:r>
              <a:t>· 수동 운전 중 팬을 올려도 되나 → DMN 조건 판단: 지금 모드와 원격 조치 제외 조건. 온도를 잘 낮추는 안이라도 수행 가능 여부부터</a:t>
            </a:r>
          </a:p>
          <a:p>
            <a:r>
              <a:t>· 냉각 효과와 생산 감소를 견주기 → BSC 성과 비교: 생산 · 납기까지의 득실 경로. 납기가 더 멀다면 → What-if: 기준 입력은 고정, 납기만 바꿔 다시 계산</a:t>
            </a:r>
          </a:p>
          <a:p>
            <a:r>
              <a:t>· 한 선택에 넷이 같이 쓰일 수 있지만 답하는 질문이 다르다: 절차를 안다 ≠ 지금 실행 가능, 실행 가능 ≠ 가장 좋음, 가장 좋게 계산돼도 가정이 바뀌면 다시 → 막히면 지금 답하려는 질문부터</a:t>
            </a:r>
          </a:p>
          <a:p>
            <a:r>
              <a:t>[다음] 이번 회차 용어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아홉 줄 위에서부터, 정식 명칭은 화면에 맡기고 뜻만</a:t>
            </a:r>
          </a:p>
          <a:p>
            <a:r>
              <a:t>· SOP = 작업 순서와 수행 기준을 정한 표준 작업 절차. DMN = 업무 의사결정을 표와 모델로 정의하는 표준</a:t>
            </a:r>
          </a:p>
          <a:p>
            <a:r>
              <a:t>· 결정표 = 입력 조건의 조합마다 출력을 정한 표. 임계값 = 판정이 갈리는 기준값. Hit Policy = 여러 규칙이 함께 맞을 때 결과를 처리하는 방식</a:t>
            </a:r>
          </a:p>
          <a:p>
            <a:r>
              <a:t>· BSC = 재무 · 고객 · 내부 프로세스 · 학습과 성장의 네 관점으로 성과를 보는 경영 틀. KPI = 목표를 얼마나 이뤘는지 재는 핵심 성과 지표</a:t>
            </a:r>
          </a:p>
          <a:p>
            <a:r>
              <a:t>· 전략맵 = 전략 목표 사이의 인과를 화살표로 이은 그림. What-if 분석 = 가정값을 바꿔 결과가 어떻게 달라지는지 비교하는 방법</a:t>
            </a:r>
          </a:p>
          <a:p>
            <a:r>
              <a:t>[다음] 퀴즈 세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 → 부제</a:t>
            </a:r>
          </a:p>
          <a:p>
            <a:r>
              <a:t>· 배운 것을 판단에 쓸 수 있는지 세 문제로 확인</a:t>
            </a:r>
          </a:p>
          <a:p>
            <a:r>
              <a:t>· 세 문제: 운전 상태와 조치의 가능 여부, 여러 규칙이 함께 맞을 때, 가능 여부의 규칙과 성과 비교</a:t>
            </a:r>
          </a:p>
          <a:p>
            <a:r>
              <a:t>· 문제마다 무엇을 먼저 검사해야 하는지 생각하고 고르기. 정답과 까닭은 세 문제를 다 푼 뒤</a:t>
            </a:r>
          </a:p>
          <a:p>
            <a:r>
              <a:t>[다음] 첫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상황(원인 핀 오염, 수동 조작이 들어와 원격 수동) → 물음 → 보기 넷</a:t>
            </a:r>
          </a:p>
          <a:p>
            <a:r>
              <a:t>· 보기 요지: ① 팬 최대 운전(유온을 경보 기준 아래로) ② 팬 최대 + 부하 80 %(가장 많이 내림) ③ 핀 세척이 작업지시 후보로 남고 세척은 정지 · 잠금 뒤 ④ 부하 70 % + 야간 핀 세척(팬을 안 건드림)</a:t>
            </a:r>
          </a:p>
          <a:p>
            <a:r>
              <a:t>· 생각할 거리: 온도를 얼마나 내리느냐보다 각 조치가 어떤 동작을 하는지와 지금 운전 모드를 대조</a:t>
            </a:r>
          </a:p>
          <a:p>
            <a:r>
              <a:t>· 생각할 시간 약 20초</a:t>
            </a:r>
          </a:p>
          <a:p>
            <a:r>
              <a:t>[다음] 둘째 문제, 여러 규칙이 함께 맞을 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상황(Collect 규정 표, 원격 자동 · 팬 연속 30 h · 팬 최대 운전 예측 56 ℃) → 물음 → 보기 넷</a:t>
            </a:r>
          </a:p>
          <a:p>
            <a:r>
              <a:t>· 보기 요지: ① 감점 20만 원과 경고가 함께 ② 위쪽 감점 규칙만 ③ 두 규칙이 함께 맞아 결정표 오류 ④ 감점과 경고가 겹쳐 후보 제외</a:t>
            </a:r>
          </a:p>
          <a:p>
            <a:r>
              <a:t>· 생각할 거리: 어느 규칙이 맞았나, 맞은 출력을 Collect가 어떻게 다루나</a:t>
            </a:r>
          </a:p>
          <a:p>
            <a:r>
              <a:t>· 생각할 시간 약 20초</a:t>
            </a:r>
          </a:p>
          <a:p>
            <a:r>
              <a:t>[다음] 셋째 문제, 가장 낮은 온도와 공동 2순위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상황(팬 최대 + 부하 80 %, 예측 44.6 ℃로 가장 낮은데 공동 2순위) → 물음 → 보기 넷</a:t>
            </a:r>
          </a:p>
          <a:p>
            <a:r>
              <a:t>· 보기 요지: ① 운전 모드 규칙으로 제외 ② 예측 유온이 낮을수록 점수가 낮다 ③ 승인 역할 직급이 더 높다 ④ 부하를 낮춰 생산이 줄어 납기에서 잃은 것이 예측에서 얻은 것보다 컸다</a:t>
            </a:r>
          </a:p>
          <a:p>
            <a:r>
              <a:t>· 생각할 거리: 가능 여부를 가르는 규칙과 통과한 후보를 견주는 성과 기준을 나눠서</a:t>
            </a:r>
          </a:p>
          <a:p>
            <a:r>
              <a:t>· 생각할 시간 약 20초</a:t>
            </a:r>
          </a:p>
          <a:p>
            <a:r>
              <a:t>[다음] 세 문제의 정답과 판단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줄: 문항 → 판단 기준 → 정답</a:t>
            </a:r>
          </a:p>
          <a:p>
            <a:r>
              <a:t>· Q1 정답 3: 수동 조작 중엔 원격 설비 제어 후보를 모두 뺀다. 1 · 2는 효과가 좋아도 모드에서 빠지고, 4도 팬은 안 건드리지만 부하를 원격으로 낮추는 제어라 빠진다. 작업지시인 핀 세척만 남되, 남았다고 바로 세척해도 된다는 뜻이 아니다 — 세우고 잠근 뒤</a:t>
            </a:r>
          </a:p>
          <a:p>
            <a:r>
              <a:t>· Q2 정답 1: 원격 자동이라 제외는 안 맞고 감점 · 경고 두 행이 맞음 → Collect는 모두 모은다. 2는 First일 때의 답, 3은 Unique일 때의 답, 4처럼 감점 · 경고가 후보를 빼지 않는다(제외 출력은 따로)</a:t>
            </a:r>
          </a:p>
          <a:p>
            <a:r>
              <a:t>· Q3 정답 4: 네 후보 모두 규칙을 통과(1 틀림), 예측 유온이 낮을수록 점수는 오히려 높다(2 틀림), 승인 역할은 넷 중 셋이 같은 운전원(3 까닭 아님). 예측 가산점은 상한에 닿아 팬 최대 운전보다 조금 더 얻는 데 그치고, 생산 감소로 납기 점수는 절반 아래로 → 냉각 효과 최대 ≠ 종합 점수 최고</a:t>
            </a:r>
          </a:p>
          <a:p>
            <a:r>
              <a:t>· 회차 정리: 조치의 절차와 수행 조건 확인 → 가능한 후보의 득실 비교. 판단을 설명하려면 절차 · 규칙 · 지표마다 근거가 필요</a:t>
            </a:r>
          </a:p>
          <a:p>
            <a:r>
              <a:t>[다음] 맺음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7.png"/><Relationship Id="rId4" Type="http://schemas.openxmlformats.org/officeDocument/2006/relationships/image" Target="../media/image2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7.png"/><Relationship Id="rId6" Type="http://schemas.openxmlformats.org/officeDocument/2006/relationships/image" Target="../media/image3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조치 절차 · 판단 규칙 · 성과 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설비 상황에 맞는 안전하고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효과적인 조치 선택하기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원인이 가려진 뒤 조치 절차를 구조화하고, 결정표로 가능 여부를 가리고, 성과 지표로 후보를 견준다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list-check" descr="list-check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table" descr="table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scale" descr="scale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원인이 가려진 뒤 조치 하나를 고르기까지 필요한 절차, 판단 규칙, 성과 기준을 차례로 익힌다.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list-check" descr="list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절차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절차의 여덟 구성요소를 원문에서 찾는다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운전 상태에 따른 수행 가능 여부를 가린다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table" descr="tabl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규칙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조건 문장을 결정표의 행으로 옮긴다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여러 행이 맞을 때의 판정과 근거를 설명한다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429504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429504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규칙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chart-bar" descr="chart-bar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성과 평가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목표와 지표의 실제값을 읽는다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후보의 득실과 가정값의 영향을 비교한다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429504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429504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성과 평가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file-check" descr="file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478227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기준 · 판단 기능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절차 구조와 결정표 자료를 만든다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판정 기능을 여러 입력으로 검증한다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429504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429504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 결과물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123444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SOP: 작업 절차와 수행 조건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13726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13726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9425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0340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80340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SOP를 지식과 실행에 연결하기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19415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19415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6321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7236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37236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DMN: 문장을 결정표로 바꾸기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25105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25105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3217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94132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294132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DMN 규칙의 적용과 판단 근거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30794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307949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011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51028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51028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DMN: 판단 흐름과 지식 구조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88575" y="364845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8575" y="364845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700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07924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07924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BSC: 성과 목표와 KPI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88575" y="42174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88575" y="42174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63905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64820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19" y="464820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전략맵과 성과 지표의 영향 관계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88575" y="478637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8575" y="478637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20801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21716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19" y="521716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조치의 상충과 What-if 분석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88575" y="53553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88575" y="53553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77697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78612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19" y="578612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결과 비교 · 조치 기준 만들기 · 판단 기능 만들기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88575" y="592429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88575" y="592429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SOP: 작업 절차와 수행 조건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원인이 가려진 뒤 조치를 고를 때 필요한 절차의 구성요소와 수행 조건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원인에 대한 네 가지 조치 후보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핀 오염에 대응하는 조치라도 생산 유지 · 감산 · 정지가 달라, 원인 진단 뒤에 조치 선택이 필요하다.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출발점과 후보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바꾸는 설정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생산 영향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성능 저하 경보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11:13:08 · 유온 55.71 ℃ · 냉각 효율 46.2 %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증거를 대조해 가린 원인: 쿨러 핀 오염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진단의 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SOP-COOL-11 팬 최대 운전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속도 60 → 100 %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생산 유지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SOP-COOL-12 팬 최대 운전과 부하 80 %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속도 100 % · 펌프 부하 90 → 80 %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생산 속도 감소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SOP-COOL-13 부하 70 %와 야간 핀 세척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팬은 그대로, 펌프 부하 70 %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야간 정비 시간에 핀 세척 작업지시를 건다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생산 속도 감소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SOP-COOL-14 쿨러 핀 세척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설비를 세우고 압축공기로 핀을 세척한다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원인인 핀 오염 자체를 없앤다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정비 동안 정지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SOP: 작업의 순서와 수행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SOP는 누가 수행해도 같은 순서와 확인 기준으로 작업하도록 문서로 정해 둔 절차이다.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HM-8.5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즉시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완화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PLC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모드가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REMOTE_AUTO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때만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현장에서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수동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조작이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들어와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REMOTE_MANUAL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내리지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않는다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펌프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부하는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60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아래로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내리지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않는다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### SOP-COOL-11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1. PLC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모드가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REMOTE_AUTO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인지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2.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속도를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100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올린다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100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연속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24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이내로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3. 15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재관측으로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HM-8.6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회복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판정을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생산은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그대로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유지된다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SOP(Standard Operating Procedure)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표준 작업 절차. 경험이 다른 사람이 해도 순서와 확인이 같아진다.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절차 번호 SOP-COOL-11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추천 · 승인 · 작업 기록이 같은 절차를 가리키는 식별자이다.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번호 붙은 단계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확인 → 수행 → 15분 재관측의 차례. 3단계는 판정 기준이 적힌 HM-8.6을 가리킨다.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절의 머리와 마지막 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절 전체에 걸리는 조건(운전 모드 · 최소 부하)과 승인 역할 · 생산 영향.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SOP를 이루는 여덟 구성요소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단계만 적은 메모와 달리 SOP는 쓸 때와 갖출 것, 하지 말 것, 끝낼 때까지 여덟 항목으로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구성요소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원문 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실린 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적용 대상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「쿨러 냉각 성능 상실은 오일 쿨러에서 생기는 고장이며 유온 상승과 냉각 효율 저하로 나타난다.」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HM-8.4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02611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70607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 전제 조건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570607"/>
            <a:ext cx="615665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「원격 조치는 PLC 운전 모드가 REMOTE_AUTO일 때만 한다.」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570607"/>
            <a:ext cx="210312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HM-8.5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43250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111246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안전 조건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111246"/>
            <a:ext cx="615665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「설비를 정지하고 현장 패널에서 LOCAL로 전환한 뒤 잠금(LOTO)을 건다.」</a:t>
            </a:r>
          </a:p>
          <a:p>
            <a:pPr algn="l" eaLnBrk="0">
              <a:lnSpc>
                <a:spcPct val="110000"/>
              </a:lnSpc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LOTO(Lockout/Tagout): 에너지원을 잠그고 표지를 단다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111246"/>
            <a:ext cx="210312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SOP-COOL-14 1단계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683888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651885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준비사항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651885"/>
            <a:ext cx="615665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「정비 인원 4명과 씰 키트 2개를 확보한다.」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3651885"/>
            <a:ext cx="210312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PM-02 SOP-PM-14 3단계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224528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192524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수행 단계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192524"/>
            <a:ext cx="615665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1. 운전 모드 확인 → 2. 팬 100 % → 3. 15분 재관측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192524"/>
            <a:ext cx="210312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SOP-COOL-11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765167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733163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금지 사항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733163"/>
            <a:ext cx="615665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「펌프 부하를 60 % 미만으로 설정하지 않는다.」 「고압수는 쓰지 않는다.」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4733163"/>
            <a:ext cx="210312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HM-8.8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SOP-COOL-14 2단계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305806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273802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담당 역할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273802"/>
            <a:ext cx="615665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「승인: 운전원.」 「승인은 설비보전팀장이 한다.」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48495" y="5273802"/>
            <a:ext cx="210312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HM-8.5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HM-8.7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846445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814441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완료 확인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5814441"/>
            <a:ext cx="615665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「조치 뒤 15분 동안 TS1이 55 ℃ 미만이고 경보가 해제된 상태가 유지되면 완화에 성공한 것이다.」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48495" y="5814441"/>
            <a:ext cx="210312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HM-8.6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준비사항과 안전 조건의 구분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인원과 부품을 갖추는 준비사항과, 설비를 세우고 잠그고 잔압을 빼는 안전 조건은 확인하는 대상이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원문 (PM-02 정기 점검표)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확인하는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준비사항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「정비 인원 4명과 씰 키트 2개를 확보한다.」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SOP-PM-14 3단계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 · 부품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안전 조건: 정지와 잠금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「설비를 정지하고 현장 패널에서 LOCAL로 전환한 뒤 잠금(LOTO)을 건다.」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SOP-PM-21 1단계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설비 상태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안전 조건: 잔압 해제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「펌프 모터 전원을 차단하고 어큐뮬레이터 잔압을 탱크로 배출한다.」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SOP-PM-21 2단계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남은 에너지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안전 조건: 압력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「압력계 PS1이 0 bar인지 확인한 뒤에만 배관을 연다.」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SOP-PM-21 3단계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측정값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안전 조건을 두는 까닭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「잔압이 남은 유압 회로를 열면 작동유가 분출해 다칠 수 있다.」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PM-2.6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 모드에 따른 원격 조치의 가능 여부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팬 최대 운전도 운전 모드가 원격 자동일 때만 후보에 남고, 원격 수동과 현장 제어에서는 제외된다.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pic>
        <p:nvPicPr>
          <p:cNvPr id="6" name="삽화:운전모드_후보.svg" descr="illust_412171711150368087_179311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88859" y="1953825"/>
            <a:ext cx="169907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 모드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plc_mode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9508" y="2540029"/>
            <a:ext cx="1964560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REMOTE_AUTO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원격 자동 · 쿨러 사건 당시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5123" y="2540029"/>
            <a:ext cx="1964560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REMOTE_MANUAL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원격 수동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70119" y="2540029"/>
            <a:ext cx="1964560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LOCAL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현장 제어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9508" y="3849532"/>
            <a:ext cx="1964560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상위 시스템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보낸 명령을 받는다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5123" y="3849532"/>
            <a:ext cx="1964560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 화면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운전원이 수동으로 조작한다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0119" y="3849532"/>
            <a:ext cx="1964560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현장 패널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작업자가 직접 제어한다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9822" y="4691018"/>
            <a:ext cx="2123849" cy="848487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원격 제어 후보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SOP-COOL-11 · 12 · 13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속도 · 펌프 부하 · HM-8.8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9822" y="5532504"/>
            <a:ext cx="2123849" cy="848487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정비 작업지시 후보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SOP-COOL-14 · HM-8.7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세척은 정지 · LOCAL · 잠금 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7001" y="3192417"/>
            <a:ext cx="159288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후보에 남는다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7001" y="3769165"/>
            <a:ext cx="159288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후보에서 빠진다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SOP를 지식과 실행에 연결하기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절차를 고장 유형 · 근거 문서 · 승인 역할 · 실행 동작과 잇는 구조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 원문과 조치 방법(Skill) · 작업 단계(Step)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 한 편은 조치 방법(Skill) 하나가 되고, 번호 붙은 단계는 순서와 근거 절을 가진 작업 단계(Step)가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HM-8.5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SOP-COOL-11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1. PLC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모드가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REMOTE_AUTO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인지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2.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속도를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100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올린다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3. 15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재관측으로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HM-8.6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회복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판정을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구조화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노드와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관계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(:Skill {sopId: 'SOP-COOL-11',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name: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', kind: 'control'})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(:Skill)-[:HAS_STEP]-&gt;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(:Step {order: 2, text: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속도를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(:Step)-[:REFERS_TO]-&gt;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(:ManualSection {ref: 'HM-8.5'})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(:Skill)-[:APPROVED_BY]-&gt;(:Role {name: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Skill · sopId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SOP 한 편이 조치 방법 노드 하나이다. 절차 번호를 식별자로 그대로 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Step · order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번호 붙은 단계 하나가 Step 하나이다. order가 순서를 지킨다.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HAS_STEP · REFERS_TO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 방법에서 단계로, 단계에서 근거 절로. 추천에 출처 절이 따라 나온다.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따로 칸이 없는 항목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전제 · 금지 · 완료 기준은 단계 문장과 판단 규칙으로 옮겨진다.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즉시 완화 · 근본 조치 · 예방 조치의 구분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즉시 완화는 고장의 영향을, 근본 조치는 원인을, 예방 조치는 고장이 나기 전의 마모를 겨냥한다.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즉시 완화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MITIGATED_BY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고장의 영향을 지금 줄인다. 원인은 남는다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SOP-COOL-11 · 12 · 13, 팬 최대 운전 · 부하 조정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쓰이는 때: 경보 직후 · 설비 제어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3329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근본 조치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REMEDIED_BY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고장을 일으킨 원인을 없앤다. 원인마다 맞는 조치가 다르다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SOP-COOL-14 쿨러 핀 세척(핀 오염), SOP-COOL-15 환기 보강(주변 온도)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쓰이는 때: 정비 시간 · 작업지시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예방 조치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PREVENTED_BY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고장이 나기 전에 운전시간이나 달력 주기로 시행하는 정기 정비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SOP-PM-21 2,000 h 정기 점검이 펌프 체적 효율 저하를 막는다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쓰이는 때: 고장 전 · 정기 정비 도래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해제와 근본 조치 완료의 차이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최대 운전 뒤 경보는 해제되었지만 냉각 효율은 기준에 못 미쳐, 핀 오염을 없애는 정비가 따로 필요하다.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pic>
        <p:nvPicPr>
          <p:cNvPr id="6" name="Picture 5" descr="그래프_쿨러열화_TS1_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82496"/>
            <a:ext cx="7223760" cy="4572000"/>
          </a:xfrm>
          <a:prstGeom prst="rect">
            <a:avLst/>
          </a:prstGeom>
          <a:ln w="12700">
            <a:solidFill>
              <a:srgbClr val="D3D9E1"/>
            </a:solidFill>
          </a:ln>
        </p:spPr>
      </p:pic>
      <p:sp>
        <p:nvSpPr>
          <p:cNvPr id="7" name="Oval 6"/>
          <p:cNvSpPr/>
          <p:nvPr/>
        </p:nvSpPr>
        <p:spPr>
          <a:xfrm>
            <a:off x="8138160" y="1682496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8249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627632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완화의 결과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11:14:56 뒤 유온이 내려가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경보가 해제되었다.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재관측 구간 중 55 ℃ 미만: 58 %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2852928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85292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798064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남은 원인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효율은 경보 기준 70 %에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못 미친다. 핀 오염은 그대로다.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4023359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023359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968496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근본 조치의 상태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핀 세척은 작업지시로 등록되었다.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등록은 정비 완료가 아니다.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0" y="5193792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519379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5138928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서로 다른 완료 기준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해제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완화 성공: 15분 유지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정비 완료: 재가동 뒤 CE 80 % 이상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고장 유형 · 조치 방법 · 단계 · 근거의 연결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고장 유형에서 조치 후보를 찾고, 원인 한정 관계와 단계·근거 절·승인 역할을 함께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pic>
        <p:nvPicPr>
          <p:cNvPr id="6" name="삽화:조치연결_그래프.svg" descr="illust_7559595598215235031_179311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98071" y="2530574"/>
            <a:ext cx="902636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71127" y="4279730"/>
            <a:ext cx="1338025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FailureMode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21512" y="2790584"/>
            <a:ext cx="74334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0580" y="2090921"/>
            <a:ext cx="690251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5190" y="4369551"/>
            <a:ext cx="690251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01082" y="3665162"/>
            <a:ext cx="1433598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ManualSection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8675" y="3754983"/>
            <a:ext cx="84953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7730" y="4081177"/>
            <a:ext cx="1168117" cy="6393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MITIGATED_BY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REMEDIED_BY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512" y="2398206"/>
            <a:ext cx="1168117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ADDRESSES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6810" y="2005827"/>
            <a:ext cx="127430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APPROVED_BY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9471" y="4019720"/>
            <a:ext cx="1168117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7471" y="4544467"/>
            <a:ext cx="1168117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REFERS_TO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3378" y="5669600"/>
            <a:ext cx="934493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사건의 연결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핀 오염 → 쿨러 냉각 성능 상실 → SOP-COOL-11 팬 최대 운전 → 단계 1~3 → HM-8.5 · 운전원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 단계(Step)와 실행 동작(Action)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단계는 사람이 읽는 문장이고 실행 동작은 시스템이 보내는 명령이어서, 절차를 저장해도 저절로 실행되지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79078"/>
            <a:ext cx="5181447" cy="3424555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480246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list-numbers" descr="list-number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3386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480246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 단계(Step)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30638"/>
            <a:ext cx="4632807" cy="182435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SOP의 번호 붙은 문장 하나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「2. 팬 속도를 100 %로 올린다.」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「1. 설비를 정지하고 … 잠금(LOTO)을 건다.」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사람이 읽고 확인하며 수행한다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46433"/>
            <a:ext cx="2173224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46433"/>
            <a:ext cx="217322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Skill -HAS_STEP→ Step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279078"/>
            <a:ext cx="5181447" cy="3424555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48024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bolt" descr="bol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33865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480246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동작(Action)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30638"/>
            <a:ext cx="4632807" cy="182435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더 쪼갤 수 없는 명령 하나나 업무 시스템 처리 하나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FAN_SET = 100, 팬 속도 설정 명령(0~100)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WO_CREATE, 정비 작업지시 발행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사람이 승인한 뒤 프로세스가 실행한다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46433"/>
            <a:ext cx="2615184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46433"/>
            <a:ext cx="261518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Skill -CONSISTS_OF→ Action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DMN: 문장을 결정표로 바꾸기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절차 속 조건 문장을 입력 · 연산자 · 기준값 · 출력의 행으로 옮기는 방법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SOP와 DMN의 차이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절차의 순서는 SOP에 두고, 지금 해도 되는지를 가르는 조건은 DMN의 결정표로 옮겨 현재값에 대어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79078"/>
            <a:ext cx="5181447" cy="3424555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480246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list-numbers" descr="list-number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3386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480246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SOP(표준 작업 절차)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30638"/>
            <a:ext cx="4632807" cy="182435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답하는 물음: 어떻게 하는가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원문: 「2. 팬 속도를 100 %로 올린다.」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수행 순서를 문장으로 정한다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수행할 때도 1단계처럼 현재 상태를 확인한다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46433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46433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279078"/>
            <a:ext cx="5181447" cy="3424555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48024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table" descr="tabl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33865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480246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DMN(Decision Model and Notation)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30638"/>
            <a:ext cx="4632807" cy="182435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업무 의사결정을 정의하는 OMG의 표준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원문: 「원격 조치(SOP-COOL-11~13)는 REMOTE_AUTO가 아닐 때 쓰지 않는다.」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옮긴 조건: plc_mode != REMOTE_AUTO → 제외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판단 시점의 값과 견주어야 참 · 거짓이 정해진다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46433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46433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 데이터(InputData)와 값의 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입력 데이터(InputData)는 판단에 쓰는 값의 항목이며, 현재 상태 · 운전 이력 · 예측 · 업무 조건에서 얻는다.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 운전 모드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plc_mode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REMOTE_AUTO · REMOTE_MANUAL · LOCAL 가운데 하나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사건: REMOTE_AUTO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출처: SCADA · PLC 상태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836925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100 % 연속 운전 시간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fan100_hours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팬이 99 % 이상으로 지금까지 이어서 돈 시간. 기록이 없으면 0이 아니라 미확인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 &gt; 24 h · 쿨러 사건: 0 h(팬 60 %)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출처: 운전 이력 · 시계열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후 예측 유온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forecast_ts1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조치를 했을 때 유온이 머물 값. 후보마다 따로 계산한다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 &gt;= 55 ℃ · 팬 최대 운전 49.8 ℃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출처: 예측 계산 · 설비 모델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긴급 오더 남은 시간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order_due_h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조회 시각부터 납기 일시까지 남은 시간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사건: 5.98 h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출처: MES · 생산 오더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결정(Decision) · 결정표(DecisionTable) · 규칙(Rule)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결정표는 물음 하나에 답하는 규칙의 행 모음이며, 입력 값을 행마다 대어 조건이 맞는 행의 출력을 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Decision  dec:compliance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가운데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규정상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없거나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감점할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것은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무엇인가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?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DecisionTable  dt:compliance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Rule 1  plc_mode != 'REMOTE_AUTO'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제외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SOP-COOL-11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12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13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Rule 2  fan100_hours &gt; 24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감점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SOP-COOL-11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12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입력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REMOTE_AUTO,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연속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30 h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Rule 1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자동이다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Rule 2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(30 &gt; 24)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감점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결정(Decision)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판단해 답할 물음이다. 이 예에서는 규정 적합성을 묻는다.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결정표(DecisionTable)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물음에 답하는 규칙의 모음. 같은 입력이면 누가 대어도 같은 결과가 나온다.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규칙(Rule)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표의 한 행. 조건이 모두 맞으면 출력을 내고, 맞지 않으면 아무것도 내지 않는다.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비운 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Rule 2는 운전 모드를 보지 않는다. 보지 않는 입력과 값을 모르는 입력은 다르다.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조건의 세 부분과 비교 연산자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조건 하나는 입력 · 연산자 · 기준값으로 적고, 여섯 연산자 가운데 무엇을 쓰느냐가 판정의 경계를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연산자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뜻과 HYD의 조건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단위 · 자료형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조건의 세 부분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입력 fan100_hours · 연산자 &gt; · 기준값 24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「24시간을 넘겼다면」을 옮긴 조건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h · 숫자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79845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47841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==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647841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같다 — pattern == 'PM_DUE'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이상 패턴이 정기 정비 도래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647841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문자열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97718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265714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!=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265714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다르다 — plc_mode != 'REMOTE_AUTO'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265714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문자열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15591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883587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883587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크다(초과) — fan100_hours &gt; 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3883587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 · 숫자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533464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501460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&gt;=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501460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크거나 같다(이상) — forecast_ts1 &gt;= 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501460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℃ · 숫자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151337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119333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&lt;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119333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작다(미만) — ts1 &lt; 55, HM-8.6 회복 판정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119333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℃ · 숫자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769210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737206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&lt;=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737206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작거나 같다(이하) — order_due &lt;= 24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정기 정비 규칙의 납기 조건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48495" y="5737206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 · 숫자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임계값과 경계의 포함 여부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「이상」은 기준값을 포함하고 「넘으면」은 포함하지 않으므로, 기준값과 바로 아래 · 위의 세 값을 넣어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pic>
        <p:nvPicPr>
          <p:cNvPr id="6" name="삽화:수직선_경계.svg" descr="illust_3825416592679527443_179311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2416" y="2029465"/>
            <a:ext cx="2654812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forecast_ts1 &gt;= 55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 후 예측 유온 55 ℃ 이상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2416" y="2714945"/>
            <a:ext cx="2654812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임계값(Threshold) 55 ℃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이상: 기준값 포함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9219" y="3329513"/>
            <a:ext cx="955732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54.9 ℃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맞지 않음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0868" y="3329513"/>
            <a:ext cx="955732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55.0 ℃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맞음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82517" y="3329513"/>
            <a:ext cx="955732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55.1 ℃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맞음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416" y="4156816"/>
            <a:ext cx="2654812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fan100_hours &gt; 24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연속 운전이 24시간을 넘겼다면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2416" y="4889571"/>
            <a:ext cx="2654812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임계값(Threshold) 24 h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넘으면: 기준값 제외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39219" y="5523049"/>
            <a:ext cx="955732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23.9 h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맞지 않음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0868" y="5523049"/>
            <a:ext cx="955732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24.0 h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맞지 않음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2517" y="5523049"/>
            <a:ext cx="955732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24.1 h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맞음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범위와 복수 조건: AND · 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범위는 하한과 상한의 두 검사를 한 행에 AND로 묶고, 하나만 맞아도 되는 조건은 같은 출력의 행 둘로 나눈다.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범위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검사를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행에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55 &lt; ts1  AND  ts1 &lt; 65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50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60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66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실제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AND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rule:ac-pm-due-options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pattern == 'PM_DUE'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AND hours_since_pm &gt;= 1800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SELECT  SOP-PM-11 ~ 14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입력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PM_DUE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1,950 h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입력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PM_DUE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1,700 h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OR: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출력의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A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출력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X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B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출력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하한 · 상한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범위의 두 끝. 끝마다 포함 여부를 따로 정한다.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 행에 적은 검사는 모두 맞아야 출력을 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OR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행을 나누어 적는다. 두 행이 함께 맞을 수도 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범위와 경보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55~65 ℃ 구간만으로 경보가 나지 않는다. 경보는 냉각 효율 70 % 미만과 상승 추세도 본다.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 선택 · 제외 · 감점 · 경고 · 순위의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규칙의 출력은 후보 선택 · 제외 · 감점 · 경고 · 순위의 다섯이며, 후보에 오른 것이 실행 허가는 아니다.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출력(effect) · 결정표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HYD의 실제 규칙과 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후보는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 선택 SELECT / 후보 선택 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failure_mode == 'fm:cooler-performance-loss' → SOP-COOL-11 · 12 · 13 (HM-8.5)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cause == 'cause:cooler-fin-fouling' → SOP-COOL-14 (HM-8.7)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올린다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제외 EXCLUDE</a:t>
            </a: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 / 규정 적합성 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plc_mode != 'REMOTE_AUTO' → SOP-COOL-11 · 12 · 13 (HM-8.8)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뺀다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점수로 되살리지 않는다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감점 PENALTY / 규정 적합성 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fan100_hours &gt; 24 → 팬 최대 운전 조치만 20만 원 감점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적용 대상: SOP-COOL-11 · 12 (HM-8.8)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남기고 깎는다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경고 WARN / 규정 적합성 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forecast_ts1 &gt;= 55 → 모든 후보 (HM-8.6)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「경보 해제에 실패할 수 있으므로 다른 조치와 비교한다」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남기고 알린다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순위 RANK / 순위 결정표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남은 후보에 점수를 매길 식의 묶음, 순위 정책을 담는다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점수로 견준다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DMN 규칙의 적용과 판단 근거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결정표를 지금의 값에 대어 판정하고, 모르는 값을 다루고, 근거를 남기는 방법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Hit Policy와 Collect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Hit Policy는 여러 행이 맞을 때의 처리 방식이며, Collect는 맞은 행의 출력을 빠짐없이 모아 답으로 삼는다.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입력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SOP-COOL-11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plc_mode      = 'REMOTE_AUTO'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fan100_hours  = 30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forecast_ts1  = 56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적합성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Hit Policy COLLECT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Rule 1  plc_mode != 'REMOTE_AUTO'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Rule 2  fan100_hours &gt; 24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Rule 3  forecast_ts1 &gt;= 55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penalties   [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감점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(HM-8.8)]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warnings    [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예측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55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(HM-8.6)]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violations  []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후보에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남는다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Hit Policy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 입력에 여러 행이 맞을(hit) 때 무엇을 답으로 삼을지 표마다 정한 방식이다.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Collect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맞은 행의 출력을 모두 모은다. 감점과 경고가 함께 남는다.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제외도 모인다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Rule 1도 맞았다면 제외가 함께 모이고, 그 후보를 추천에서 제외하고 사유를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처음 맞은 행에서 멈추면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감점만 보고 경고를 놓친다.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Hit Policy 네 방식의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감점 행과 경고 행이 함께 맞은 같은 입력에도 Unique · First · Priority · Collect는 서로 다른 답을 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방식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같은 입력의 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Unique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겹쳐 맞는 행을 허용하지 않는다. 두 행이 맞으면 표의 오류이다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오류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행의 차례대로 보아 처음 맞은 행의 출력을 쓴다. 행의 순서가 뜻을 갖는다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감점 20만 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Priority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출력 값에 매긴 우선순위로 맞은 출력 가운데 가장 높은 하나를 쓴다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제외 &gt; 경고 &gt; 감점으로 매겼다면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Collect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맞은 행의 출력을 모두 모은다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감점과 경고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고르는 기준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겹침을 금지하면 Unique, 예외를 위에 두면 First, 가장 무거운 판정만 필요하면 Priority, 빠짐없이 알아야 하면 Collect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표의 목적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결정표의 누락 · 중복 · 상충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입력을 표에 대어 보면 맞는 행이 없는 누락, 같은 답이 겹치는 중복, 다른 답이 부딪치는 상충이 드러난다.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pic>
        <p:nvPicPr>
          <p:cNvPr id="6" name="삽화:수직선_결함.svg" descr="illust_8217656649752214584_179311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2416" y="1637086"/>
            <a:ext cx="2230042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누락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답을 내지 못한다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9177" y="1689088"/>
            <a:ext cx="191146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예측 55 ℃ 미만: 통과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01990" y="1689088"/>
            <a:ext cx="212384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60 ℃ 이상: 제외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1236" y="2355658"/>
            <a:ext cx="2336234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 57 ℃ → 맞는 행이 없다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2416" y="2875678"/>
            <a:ext cx="2230042" cy="6780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중복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중복 금지 표: 오류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모으는 표: 경고 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77" y="2833131"/>
            <a:ext cx="159288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55 ℃ 이상: 경고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4743" y="3182962"/>
            <a:ext cx="191146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58 ℃ 이상: 경고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5546" y="3854260"/>
            <a:ext cx="2336234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 59 ℃ → 두 행이 같은 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416" y="4374279"/>
            <a:ext cx="2230042" cy="6780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상충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중복 금지 표: 오류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모으는 표: 둘 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77" y="4331732"/>
            <a:ext cx="159288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55 ℃ 이상: 경고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4743" y="4681563"/>
            <a:ext cx="191146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58 ℃ 이상: 제외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5546" y="5348133"/>
            <a:ext cx="2336234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 59 ℃ → 경고인가 제외인가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0993" y="5811423"/>
            <a:ext cx="976970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HYD가 잡는 것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순위 정책 행이 둘 맞으면 오류로 거절한다 · 문장(when)과 검사(TESTS)가 다르면 검사기가 잡는다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값을 얻지 못한 입력의 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값을 모르는 조건을 통과로 치면 위험한 조치가 남으므로, 같은 행의 다른 조건과 규칙의 종류로 처리를 가른다.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55064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제외 · 감점 규칙의 값을 모른다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EXCLUDE · PENALTY 규칙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통신이 끊겨 plc_mode를 읽지 못했다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처리: 「확인되지 않은 조건 (plc_mode)」 — 제외 쪽으로 처리한다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행의 다른 조건이 거짓이다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AND로 묶인 한 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skill_kind == 'control' AND plc_mode != 'REMOTE_AUTO'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작업지시 후보는 앞 조건이 거짓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처리: 규칙이 맞지 않는다 · 모르는 값은 상관없다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경고 규칙의 값을 모른다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WARN 규칙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경고 조건의 입력이 비었다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처리: 「확인되지 않은 조건」을 경고로 남긴다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모든 후보가 제외되었다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 전체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원격 제어 후보만 있는데 운전 모드를 모른다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설비가 보호 정지(TRIP) — 리셋 외 후보 제외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처리: 추천을 내지 않고 제외 사유를 보인다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판정의 근거: 지식 출처와 결과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걸린 규칙 · 조건 · 판정 · 출처와 그때 읽은 값이 한 묶음으로 남아야 승인하는 사람이 근거 원문까지 되짚는다.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90852"/>
            <a:ext cx="6766560" cy="400100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28012"/>
            <a:ext cx="6400800" cy="37266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걸린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규칙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rule      rule:cmp-fan100-over-24h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effect    PENALTY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when      fan100_hours &gt; 24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penalty   20  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measure   msr:maint-cost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sources   ["HM-8.8"]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판단에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fan100_hours = 30  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HM-8.8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24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시간을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넘겼다면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조치는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수명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손실로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감점해서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비교한다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990852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출처(Knowledge Source)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규칙의 권위 있는 근거 문서. 규칙은 DERIVED_FROM으로 매뉴얼의 절을 가리킨다.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91104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rule · when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어느 규칙이 어떤 조건으로 걸렸는가.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effect · penalty · measure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판정의 종류와 크기, 깎이는 지표.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91608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trace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맞은 행 · 맞지 않은 행 · 모르는 값까지 후보 선택·규정 표의 행별 평가 기록.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DMN: 판단 흐름과 지식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 선택 · 규정 검사 · 순위 평가의 차례와 규칙의 저장 구조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진단에서 조치 순위까지의 판단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진단의 답으로 후보를 모으고, 후보별 규정 검사 결과를 남긴 뒤, 허용된 후보의 순위를 비교한다.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93149"/>
            <a:ext cx="2485567" cy="279641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25663" y="277602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zoom-check" descr="zoom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283" y="292964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580701"/>
            <a:ext cx="2339263" cy="17357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진단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증상과 증거 대조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고장 유형 · 원인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9821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8255" y="2593149"/>
            <a:ext cx="2485567" cy="279641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5279" y="277602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list-check" descr="list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898" y="2929648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91407" y="3580701"/>
            <a:ext cx="2339263" cy="17357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 선택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COLLECT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맞은 규칙의 조치를 모음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팬 운전 · 감산 · 세척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7831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7871" y="2593149"/>
            <a:ext cx="2485567" cy="279641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64895" y="277602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shield-check" descr="shield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514" y="2929648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61023" y="3580701"/>
            <a:ext cx="2339263" cy="17357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규정 검사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COLLECT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후보별 조건을 검사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제외 · 감점 · 경고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3744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57487" y="2593149"/>
            <a:ext cx="2485567" cy="2796413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34511" y="277602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trophy" descr="trophy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8130" y="2929648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30639" y="3580701"/>
            <a:ext cx="2339263" cy="17357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순위 평가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UNIQUE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적용할 순위 정책 하나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점수와 추천안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DMN의 개념과 HYD의 평가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DMN의 개념을 쓴다고 표준 모델을 그대로 실행하는 것은 아니어서, 조건 식과 실행 주체를 표준과 견준다.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59711"/>
            <a:ext cx="5181447" cy="346329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60879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DMN 표준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311271"/>
            <a:ext cx="4632807" cy="186309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조건 식: FEEL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범위 · 목록 등을 식 하나로 적는다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실행 주체: 표준 DMN 모델 파일을 읽는 엔진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선언과 평가의 일치: 표에 선언한 Hit Policy대로 결과를 해석한다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265801"/>
            <a:ext cx="3636263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265801"/>
            <a:ext cx="3636263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FEEL(Friendly Enough Expression Language)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259711"/>
            <a:ext cx="5181447" cy="346329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460879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HYD에서의 표현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311271"/>
            <a:ext cx="4632807" cy="186309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조건 식: TESTS의 연산자 · 기준값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한 행의 검사는 AND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실행 주체: 그래프의 규칙을 평가 함수가 읽는다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선언과 평가의 일치: 선언이 평가 방식과 다르면 판정 없이 거절한다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265801"/>
            <a:ext cx="2639567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265801"/>
            <a:ext cx="263956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TESTS {operator, value, unit}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결정표를 저장하는 지식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결정 · 결정표 · 규칙이 관계로 이어지고, 규칙은 검사하는 입력과 적용할 조치, 근거 절을 함께 가리킨다.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pic>
        <p:nvPicPr>
          <p:cNvPr id="6" name="삽화:결정표_그래프.svg" descr="illust_8161240443354140229_179311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8426" y="2440753"/>
            <a:ext cx="106192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66700" y="4279730"/>
            <a:ext cx="148669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DecisionTable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06466" y="2790584"/>
            <a:ext cx="74334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86061" y="2090921"/>
            <a:ext cx="690251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0764" y="4454645"/>
            <a:ext cx="1008828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InputData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6036" y="3665162"/>
            <a:ext cx="1433598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ManualSection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0098" y="3712436"/>
            <a:ext cx="1486694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IMPLEMENTED_BY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8257" y="4019720"/>
            <a:ext cx="1168117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2383" y="4062267"/>
            <a:ext cx="637154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7337" y="2005827"/>
            <a:ext cx="127430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APPLIES_TO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3504" y="2913497"/>
            <a:ext cx="127430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DERIVED_FROM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3378" y="5669600"/>
            <a:ext cx="934493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rule:cmp-fan100-over-24h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TESTS {operator: '&gt;', value: 24, unit: 'h'} → fan100_hours · APPLIES_TO SOP-COOL-11 · 12 · DERIVED_FROM HM-8.8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BSC: 성과 목표와 KPI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규칙을 통과한 후보를 평가할 성과 목표와 지표를 정의하고 실제값과 견주는 방법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BSC의 네 관점과 HYD의 전략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BSC(Balanced Scorecard)는 네 관점마다 목표와 지표를 두는 균형 성과표다.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42239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56232"/>
            <a:ext cx="5001768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재무(Financial)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86584"/>
            <a:ext cx="50017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결과가 돈으로 어떻게 나타나는가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935224"/>
            <a:ext cx="50017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영업이익 확대 · 원가 절감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410712"/>
            <a:ext cx="500176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2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재무 숫자는 일이 끝난 뒤에 나온다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42239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856232"/>
            <a:ext cx="5001768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고객(Customer)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386584"/>
            <a:ext cx="50017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고객에게 무엇을 지키는가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935224"/>
            <a:ext cx="50017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납기 신뢰 · 품질 신뢰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542239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187952"/>
            <a:ext cx="5001768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내부 프로세스(Internal Process)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718304"/>
            <a:ext cx="50017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무엇을 잘 운영해야 하는가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5266944"/>
            <a:ext cx="50017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설비 가용성 확보 · 무재해 운전 · 에너지 효율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5742432"/>
            <a:ext cx="500176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2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유온 관리가 여기에 놓인다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023360"/>
            <a:ext cx="542239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4187952"/>
            <a:ext cx="5001768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학습과 성장(Learning and Growth)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4718304"/>
            <a:ext cx="50017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무엇을 쌓아야 계속 나아지는가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5266944"/>
            <a:ext cx="50017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현장 판단 지식 축적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전략 목표와 KPI(Key Performance Indicator)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전략 목표는 이루려는 상태를 말로 정할 뿐이어서, 얼마나 이루었는지는 목표마다 붙인 KPI가 수치로 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59711"/>
            <a:ext cx="5181447" cy="346329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46087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arget-arrow" descr="target-arrow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1449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46087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전략 목표(Strategic Objective)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11271"/>
            <a:ext cx="4632807" cy="186309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조직이 이루려는 상태를 문장으로 적은 것이다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무재해 운전 — 인터록 한계를 넘지 않는다, 금액과 맞바꾸지 않는다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납기 신뢰 — 약속한 날짜에 약속한 수량을 출하한다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65801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65801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이루려는 상태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259711"/>
            <a:ext cx="5181447" cy="346329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46087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ruler-measure" descr="ruler-measur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14498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46087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KPI(핵심 성과 지표)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11271"/>
            <a:ext cx="4632807" cy="186309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목표를 얼마나 이루었는지 수치로 재는 지표이다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무재해 운전의 KPI: 인터록 여유(℃)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납기 신뢰의 KPI: 납기 준수율(%)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KPI는 목표를 재는 수단이며 목표를 대신하지 않는다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65801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65801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재는 수치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KPI의 정의: 인터록 여유를 재는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인터록 여유는 유온 한계와 기간 최고 유온의 차이이며, 단위 · 방향 · 목표 · 주기를 함께 정해야 비교할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98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한계 65 ℃ - 기간 최고 유온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여러 설비 중 가장 작은 여유 · 한계까지 남은 온도 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62656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℃ · UP(클수록 좋다)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3931920"/>
            <a:ext cx="9601200" cy="3200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94560" y="3794760"/>
            <a:ext cx="22860" cy="301752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20624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위험 기준 0 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00016"/>
            <a:ext cx="32004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한계에 닿는 수준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3794760"/>
            <a:ext cx="22860" cy="301752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20624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경고 기준 5 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700016"/>
            <a:ext cx="32004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주의할 수준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0" y="3794760"/>
            <a:ext cx="22860" cy="301752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420624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목표 10 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700016"/>
            <a:ext cx="32004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기간 최고 유온 55 ℃ 이하에 해당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5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비용 지표는 DOWN(작을수록 좋다) · 숫자의 크기와 좋고 나쁨을 구별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007608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5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주기 · 책임 부서: 실시간 · 생산팀 · 언제 누가 확인하는가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KPI 실제값 비교: 가동률과 인터록 여유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24시간의 가동률은 목표를 달성했어도 인터록 여유는 미달하여, 계속 가동한 것과 여유 있게 운전한 것은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214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인터록 여유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65 - 최고 유온 62.47 = 2.53 ℃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설비별 여유: HYD-01 2.53 · HYD-02 16.72 · HYD-03 14.55 ℃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목표 10 ℃ · 부족 7.47 ℃ · 달성률 25.3 %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유온이 한계에 가까워졌다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0453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0453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미달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42214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 가동률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100 × Σ(관측 분 - 보호 정지 분) ÷ Σ 관측 분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실적 100.0 %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목표 95 %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보호 정지는 없었다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30453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30453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달성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집계 방식: 평균과 최솟값이 답하는 질문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설비별 여유라도 평균은 전체 수준을, 최솟값은 한계에 가장 가까운 설비를 보여 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  <p:pic>
        <p:nvPicPr>
          <p:cNvPr id="6" name="Picture 5" descr="그래프_설비별여유_집계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82496"/>
            <a:ext cx="7223760" cy="4572000"/>
          </a:xfrm>
          <a:prstGeom prst="rect">
            <a:avLst/>
          </a:prstGeom>
          <a:ln w="12700">
            <a:solidFill>
              <a:srgbClr val="D3D9E1"/>
            </a:solidFill>
          </a:ln>
        </p:spPr>
      </p:pic>
      <p:sp>
        <p:nvSpPr>
          <p:cNvPr id="7" name="Oval 6"/>
          <p:cNvSpPr/>
          <p:nvPr/>
        </p:nvSpPr>
        <p:spPr>
          <a:xfrm>
            <a:off x="8138160" y="1691640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636776"/>
            <a:ext cx="3093415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평균(Mean)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합을 대상 수로 나눈 값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세 설비 여유의 합 ÷ 3 = 11.27 ℃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전체 수준을 요약한 비교 계산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 설비의 작은 여유가 가려진다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3246120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324612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191256"/>
            <a:ext cx="3093415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최솟값(Minimum)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 중 가장 작은 값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HYD-01의 여유 2.53 ℃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인터록 여유 목표 10 ℃ → 미달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한계에 가장 가까운 설비 확인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4800600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80060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745736"/>
            <a:ext cx="3093415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KPI 실적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시스템은 최솟값을 KPI 실적으로 쓴다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실적의 원천과 계산 불가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지표의 정의가 있어도 실적을 계산할 원천 기록이 없으면 0으로 두지 않고 계산 불가와 그 사유로 남긴다.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database" descr="databas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계산됨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인터록 여유 2.53 ℃: 지식 그래프의 한계 65 ℃ + 시계열의 최고 TS1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 가동률 100.0 %: 시계열의 관측 분 + 경보 기록의 보호 정지 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원천 기록이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database-off" descr="database-off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계산 불가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매출: 업무 데이터베이스의 판매 · 매출 원장이 없다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납기 준수율: 납기 대비 실제 완료 · 출하 시각 기록이 없다 — 0 %가 아니다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29504"/>
            <a:ext cx="15697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29504"/>
            <a:ext cx="15697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계산 불가 — 사유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list-details" descr="list-details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결과의 상태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달성 · 미달 · 목표 없음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부분 실적 · 기록 없음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계산 불가 · 조회 실패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29504"/>
            <a:ext cx="16763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29504"/>
            <a:ext cx="16763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서로 구별해 남긴다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전략맵과 성과 지표의 영향 관계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목표 사이의 인과와 지표 사이의 영향 경로를 부호 · 조건과 함께 읽는 방법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전략맵: 목표 사이의 인과를 그린 그림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전략맵(Strategy Map)은 목표들이 서로 뒷받침하는 관계(SUPPORTS)를 화살표로 나타낸 그림이다.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42</a:t>
            </a:r>
          </a:p>
        </p:txBody>
      </p:sp>
      <p:pic>
        <p:nvPicPr>
          <p:cNvPr id="6" name="삽화:전략맵_그래프.svg" descr="illust_1170978559244678251_179311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0466" y="2109831"/>
            <a:ext cx="1380502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466" y="3282238"/>
            <a:ext cx="1380502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466" y="4454645"/>
            <a:ext cx="1380502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내부 프로세스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466" y="5627053"/>
            <a:ext cx="1380502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학습과 성장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5663" y="1944371"/>
            <a:ext cx="955732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영업이익 확대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4626" y="2067284"/>
            <a:ext cx="955732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원가 절감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4450" y="3178234"/>
            <a:ext cx="955732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납기 신뢰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7404" y="3116778"/>
            <a:ext cx="955732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품질 신뢰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6792" y="4270275"/>
            <a:ext cx="955732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무재해 운전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7178" y="4402643"/>
            <a:ext cx="1061924" cy="75552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설비 가용성 확보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4191" y="4317549"/>
            <a:ext cx="955732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에너지 효율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014" y="5513594"/>
            <a:ext cx="955732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현장 판단 지식 축적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선행 지표와 후행 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선행 지표는 결과를 움직이는 동인을 미리 재고 후행 지표는 그 결과를 뒤에 재므로, 손쓸 수 있는 때가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43</a:t>
            </a:r>
          </a:p>
        </p:txBody>
      </p:sp>
      <p:pic>
        <p:nvPicPr>
          <p:cNvPr id="6" name="삽화:선행후행_경로.svg" descr="illust_8943250953306672791_179311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21612" y="1854549"/>
            <a:ext cx="424769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선행 지표(Leading Indicator)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생산량 · 인터록 여유 · 설비 가동률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2659" y="1854549"/>
            <a:ext cx="4778661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후행 지표(Lagging Indicator)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납기 준수율 · 지체상금 · 영업이익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6750" y="5173218"/>
            <a:ext cx="191146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펌프 부하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load_pct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1035" y="3920444"/>
            <a:ext cx="169907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생산량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leading · 실시간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4952" y="5144853"/>
            <a:ext cx="169907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납기 준수율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lagging · 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32952" y="3920444"/>
            <a:ext cx="169907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지체상금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lagging · 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3629" y="3324785"/>
            <a:ext cx="1380502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INFLUENCES 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2935" y="3414607"/>
            <a:ext cx="1380502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INFLUENCES 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9973" y="3239691"/>
            <a:ext cx="1380502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INFLUENCES -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영향의 부호 · 강도 · 적용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영향 관계는 부호(sign)·강도(strength)·조건(condition)에 따라 득과 실을 다르게 전한다.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44</a:t>
            </a:r>
          </a:p>
        </p:txBody>
      </p:sp>
      <p:pic>
        <p:nvPicPr>
          <p:cNvPr id="6" name="삽화:조건부영향.svg" descr="illust_3785731404190577783_179311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8426" y="3844805"/>
            <a:ext cx="106192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부품 단가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9085" y="2265837"/>
            <a:ext cx="1061924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부품 구매비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9085" y="5154308"/>
            <a:ext cx="106192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부품 품질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2224" y="4104814"/>
            <a:ext cx="1061924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품질 클레임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4216" y="2790584"/>
            <a:ext cx="1061924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브랜드 신뢰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78065" y="4364824"/>
            <a:ext cx="84953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2759" y="2738582"/>
            <a:ext cx="1805272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INFLUENCES + · 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3445" y="4109542"/>
            <a:ext cx="1911464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INFLUENCES + · 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6131" y="5636507"/>
            <a:ext cx="254861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조건(condition)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공급사 변경 · 단가 인하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3487" y="5102306"/>
            <a:ext cx="2017657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INFLUENCES - · 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2291" y="3887352"/>
            <a:ext cx="1805272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INFLUENCES - · 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1714" y="3272783"/>
            <a:ext cx="1911464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INFLUENCES + · 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3554" y="5726329"/>
            <a:ext cx="169907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TRUE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조건 성립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93161" y="5726329"/>
            <a:ext cx="169907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UNKNOWN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조건 미확인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3387" y="5726329"/>
            <a:ext cx="169907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FALSE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조건 불성립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조치의 상충과 What-if 분석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허용된 후보의 득실을 성과 지표로 견주고, 가정값을 바꾸어 결과를 다시 계산하는 방법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가능 여부를 가리는 규칙과 효과를 견주는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안전 조건을 점수에 섞으면 위험한 조치가 뽑힐 수 있고, 견줄 값을 제외 조건에 넣으면 고를 조치가 남지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79078"/>
            <a:ext cx="5181447" cy="3424555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480246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shield-check" descr="shield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3386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480246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가능 여부를 가리는 규칙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30638"/>
            <a:ext cx="4632807" cy="182435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조건에 걸리면 후보에서 빠진다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다른 점수가 높아도 되살아나지 않는다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안전과 규정은 금액과 맞바꾸지 않는다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섞으면: 넘으면 안 되는 선이 점수에 묻힌다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46433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46433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통과 또는 제외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279078"/>
            <a:ext cx="5181447" cy="3424555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48024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scale" descr="scal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33865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480246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효과와 비용을 견주는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30638"/>
            <a:ext cx="4632807" cy="182435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통과한 후보끼리 점수로 비교한다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한 항목의 손해를 다른 항목의 이득이 메울 수 있다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감점 · 경고는 이쪽에서 점수의 성분이 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섞으면: 비용이 조금만 들어도 빠져 남는 후보가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46433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46433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더 낫거나 못하다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조치가 성과 지표에 닿는 경로와 상충(Trade-off)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팬을 올리고 부하를 내리면 냉각에는 도움이 되지만, 전력 사용이 늘고 생산 감소는 납기에 부담을 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47</a:t>
            </a:r>
          </a:p>
        </p:txBody>
      </p:sp>
      <p:pic>
        <p:nvPicPr>
          <p:cNvPr id="6" name="삽화:성과경로_6.svg" descr="illust_4211261489642066894_179311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3828" y="4345914"/>
            <a:ext cx="1963709" cy="82524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운전과 부하 80 %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4831" y="2818948"/>
            <a:ext cx="163642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속도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60 → 100 %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5749" y="5721601"/>
            <a:ext cx="163642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펌프 부하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90 → 80 %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0395" y="4227728"/>
            <a:ext cx="152732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0395" y="5721601"/>
            <a:ext cx="152732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6845" y="2601486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전력 사용량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6845" y="4227728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인터록 여유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6845" y="5721601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납기 준수율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50239" y="2610941"/>
            <a:ext cx="1200044" cy="32943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AFFECTS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9454" y="2681852"/>
            <a:ext cx="1418234" cy="32943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INFLUENCES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즉시 제어 · 작업지시 · 정비의 손익 항목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후보의 손익은 생산 · 납기 · 품질 · 전력 · 정비 정지를 원천과 함께 계산하고, 출처가 없으면 미확인으로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손익 항목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계산과 원천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해당하는 후보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 감소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시간당 생산 가치 × (기간 × (1 - 부하/90) + 작업 정지 시간)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MES · CMMS 표준 작업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부하를 낮추거나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설비를 세우는 후보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납기 지연 위약금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50820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위약금(만원/h) × 납기를 넘긴 시간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ERP 계약 · MES 오더 잔량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750820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생산 속도가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줄어드는 후보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품질 클레임 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불량 확률 × 클레임 금액(예측 유온 55 ℃ 이상)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QMS 고온 로트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471672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예측 유온이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높은 후보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에너지비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92524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추가 전력 × 운전 시간 × 전력 단가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192524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팬을 올리는 후보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정비 정지 · 작업비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13376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CMMS 설비별 기준: 핀 세척 3 h · 40만 원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조치별 표준 작업이 없으면 손익 미확인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913376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작업지시를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거는 후보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고장 위험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3422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ERP 고장 비용 × min(1, 기간 ÷ CMMS MTBF)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확률식과 근본 조치의 0 처리는 가정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63422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남는 후보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사건 네 후보의 예측 유온과 판단 순위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유온을 가장 낮추는 안은 공동 2순위였고, 냉각 효과와 생산 유지를 함께 얻는 팬 최대 운전이 1순위였다.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49</a:t>
            </a:r>
          </a:p>
        </p:txBody>
      </p:sp>
      <p:pic>
        <p:nvPicPr>
          <p:cNvPr id="6" name="Picture 5" descr="그래프_조치후보_예측유온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82496"/>
            <a:ext cx="7223760" cy="4572000"/>
          </a:xfrm>
          <a:prstGeom prst="rect">
            <a:avLst/>
          </a:prstGeom>
          <a:ln w="12700">
            <a:solidFill>
              <a:srgbClr val="D3D9E1"/>
            </a:solidFill>
          </a:ln>
        </p:spPr>
      </p:pic>
      <p:sp>
        <p:nvSpPr>
          <p:cNvPr id="7" name="Oval 6"/>
          <p:cNvSpPr/>
          <p:nvPr/>
        </p:nvSpPr>
        <p:spPr>
          <a:xfrm>
            <a:off x="8138160" y="1682496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8249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627632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1순위 팬 최대 운전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SOP-COOL-11 · 생산 유지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점수 +3.38 · 승인 운전원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2852928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85292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798064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공동 2순위 두 후보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SOP-COOL-13 · 12 · 생산 감산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점수 +2.75 · 승인 운전원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4023359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023359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968496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4순위 쿨러 핀 세척 · 경고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SOP-COOL-14 · 예측 유온 ≥ 55 ℃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점수 -1.58 · 승인 설비보전팀장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0" y="5193792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519379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5138928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원격 자동 · 팬 60 %(100 % 연속 0 h)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납기 5.98 h · 위약금 120만 원/h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고온 로트 있음 · 제외된 후보 없음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순위 정책: 일곱 점수 성분의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순위 점수는 성과 · 예측 · 규정 · 선례 · 업무 조건을 정책의 식으로 합친 값이며, 금액이나 단일 KPI가 아니다.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점수 성분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반영하는 판단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정책의 식 · 범위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성과 지표 bsc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영향 경로를 따라 얻는 득과 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조건이 미확인이면 그 성분을 절반 반영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득 - 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미확인 성분 × 0.5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79845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47841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예측 forecast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647841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회복 기준 아래로 내리는 효과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충분히 낮아지면 가산점은 더 늘지 않는다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647841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(55 - 예측 유온) ÷ 3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최솟값 -2 · 최댓값 +2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97718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265714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경고 warn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265714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후보에 남긴 주의사항의 부담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265714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경고 1건당 -0.5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15591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883587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감점 penalty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883587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규칙이 매긴 금액을 점수로 환산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3883587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감점(만 원) ÷ 20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점수에서 뺀다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533464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501460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선례 precedent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501460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과거 선택 비율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501460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선택 비율 × 1.5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151337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119333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납기 delivery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119333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납기 긴급도 · 위약금 · 생산 영향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119333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유지 1 · 감산 0.4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정지 -1의 비중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769210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737206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품질 quality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737206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예측 유온이 높고 고온 로트가 있을 때 클레임 위험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48495" y="5737206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예측 ≥55 ℃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최대 1.5점 감점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운전의 점수와 예측 가산점의 상한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최대 운전은 냉각 효과와 생산 유지에서 점수를 얻었고, 더 낮은 예측 유온에는 가산점 상한이 적용된다.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실제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사건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기록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+0.52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납기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+1.12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예측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+1.74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나머지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0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합계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+3.38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예측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+2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49.8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+1.74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70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          47.7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+2.00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최대·부하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80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  44.6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+2.00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감점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점수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-1.00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점수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-0.50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후보의 성분을 합산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0.52 + 1.12 + 1.74 = 3.38. 금액의 합이 아니라 정책 점수의 합이다.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예측은 더 낮아도 같은 점수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47.7 ℃와 44.6 ℃ 모두 상한 +2.00에 이른다.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납기와 생산 영향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납기 5.98 h · 위약금 120만 원/h. 생산 유지 +1.12, 감산 +0.45.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비교의 범위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점수는 현재 입력과 정책의 결과이다. 금액으로 계산한 손익은 따로 비교한다.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What-if 분석과 가정값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What-if 분석은 판단 한 건을 사본으로 떠서 값 하나를 가정값으로 바꾸고 순위와 손익을 다시 계산한다.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52</a:t>
            </a:r>
          </a:p>
        </p:txBody>
      </p:sp>
      <p:pic>
        <p:nvPicPr>
          <p:cNvPr id="6" name="삽화:가정분석_3.svg" descr="illust_3823119305921614753_17931136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1104" y="1627632"/>
            <a:ext cx="2290993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 그래프 · 업무 DB · 순위 정책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68484" y="1816729"/>
            <a:ext cx="240008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판단 한 건의 사본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 · 규칙 · 입력 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9390" y="5645962"/>
            <a:ext cx="261827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가정값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납기 · 위약금 · 감점 기준 · 관점 중요도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6805" y="1627632"/>
            <a:ext cx="261827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 결과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2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지금 값의 판단 순위 · 손익 순위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6805" y="5598688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시험 결과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가정값으로 다시 계산한 순위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104" y="5645962"/>
            <a:ext cx="2290993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원본 그대로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unchanged: true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가정값을 바꾸면 어느 성분이 달라지는가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가정값 전후의 성분을 대조하고 후보 전체를 다시 계산해야, 순위 변화와 그 경계값을 확인할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바꾸기 전 → 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달라지는 성분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100 % 연속 0 h · 감점 없음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납기 5.98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감점 0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납기 +1.12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시험 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100 % 연속 0 → 30 h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 두 후보에 감점 20만 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감점 0 → -1.00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시험 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시험 ①의 30 h 유지 · 감점 기준 20 → 100만 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감점 -1.00 → -5.00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시험 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 상태에서 납기만 5.98 → 48 h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운전의 납기 가산점 변화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납기 +1.12 → 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순위의 경계값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1순위가 바뀌는 가정값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후보 전체를 다시 계산해 확인한다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성분 변화와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순위 변화는 구별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예측을 조치 뒤의 관측으로 확인하기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예측과 What-if는 가정과 모델의 계산이므로, 추천안은 사람이 승인하고 결과는 조치 뒤의 재관측으로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54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5441" y="2716720"/>
            <a:ext cx="8320811" cy="3657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1101" y="2300668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1101" y="2300668"/>
            <a:ext cx="8686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1" y="3352228"/>
            <a:ext cx="2627299" cy="232981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전제 확인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 모드 · 입력 값 · 예측 모델을 확인한다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예측은 지금의 외기 · 오염이 그대로라고 본 계산이다</a:t>
            </a:r>
          </a:p>
        </p:txBody>
      </p:sp>
      <p:sp>
        <p:nvSpPr>
          <p:cNvPr id="10" name="Oval 9"/>
          <p:cNvSpPr/>
          <p:nvPr/>
        </p:nvSpPr>
        <p:spPr>
          <a:xfrm>
            <a:off x="4274705" y="2300668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4705" y="2300668"/>
            <a:ext cx="8686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5395" y="3352228"/>
            <a:ext cx="2627299" cy="232981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있는 추천안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규칙 · 점수 · 출처를 붙인 추천안을 낸다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손익에는 운전 시간과 고장 확률 등의 가정이 든다</a:t>
            </a:r>
          </a:p>
        </p:txBody>
      </p:sp>
      <p:sp>
        <p:nvSpPr>
          <p:cNvPr id="13" name="Oval 12"/>
          <p:cNvSpPr/>
          <p:nvPr/>
        </p:nvSpPr>
        <p:spPr>
          <a:xfrm>
            <a:off x="7048309" y="2300668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309" y="2300668"/>
            <a:ext cx="8686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8999" y="3352228"/>
            <a:ext cx="2627299" cy="232981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사람의 승인 · 거절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어느 가정이 현실에 가까운지는 사람이 판단한다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1회 뒤에 실행된다</a:t>
            </a:r>
          </a:p>
        </p:txBody>
      </p:sp>
      <p:sp>
        <p:nvSpPr>
          <p:cNvPr id="16" name="Oval 15"/>
          <p:cNvSpPr/>
          <p:nvPr/>
        </p:nvSpPr>
        <p:spPr>
          <a:xfrm>
            <a:off x="9821913" y="2300668"/>
            <a:ext cx="868680" cy="86868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1913" y="2300668"/>
            <a:ext cx="8686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603" y="3352228"/>
            <a:ext cx="2627299" cy="232981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뒤 재관측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15분 동안 TS1 55 ℃ 미만 · 경보 해제 상태 유지 = 완화 성공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핀 세척은 재가동 뒤 CE 80 % 이상 = 정비 완료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운전 조건과 성과 기준에 따른 조치 결과 비교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이상 상황에 운전 조건 · 시험값 · KPI 목표를 바꾸어 판단 결과와 근거를 견준다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조건 변화와 KPI 집계의 판단 근거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조건별 판단 결과를 대조하고, 같은 관측값의 평균과 최솟값 중 안전 판단에 맞는 집계 방식을 고른다.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11577"/>
            <a:ext cx="2567863" cy="35595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1274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adjustments" descr="adjustment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6636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235706"/>
            <a:ext cx="2238679" cy="2425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 조건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운전 모드, 설비 상태, 팬 연속 시간 중 하나를 바꿔 넣는다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성공 기준: 적용 규칙과 후보 유지 · 제외를 연결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2211577"/>
            <a:ext cx="2567863" cy="35595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19423" y="241274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report-money" descr="report-money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566365"/>
            <a:ext cx="424281" cy="4242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55415" y="3235706"/>
            <a:ext cx="2238679" cy="2425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손익 · What-if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납기, 위약금, 전력 단가, 감점 기준, 관점 중요도를 시험한다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성공 기준: 성분 변화로 순위와 손익을 설명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211577"/>
            <a:ext cx="2567863" cy="35595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241274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아이콘:chart-bar" descr="chart-bar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566365"/>
            <a:ext cx="424281" cy="42428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97599" y="3235706"/>
            <a:ext cx="2238679" cy="2425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KPI 목표 · 집계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실제값에 시험 목표를 대조한다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설비별 여유의 평균과 최솟값을 계산한다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성공 기준: 목표 변경과 집계를 구별, 안전 판단의 값과 이유 선택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5191" y="2211577"/>
            <a:ext cx="2567863" cy="35595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03791" y="241274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clipboard-check" descr="clipboard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566365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39783" y="3235706"/>
            <a:ext cx="2238679" cy="2425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비교 기록 · 완성본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입력 · 결과 · 근거와 집계 선택을 기록한다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시험값은 사본에만: 설비 명령 · 원본은 그대로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성공 기준: 원본과 출처 보존, 계산과 선택 이유가 일치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절차와 판단 조건을 연결한 조치 기준 만들기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바이브 코딩으로 SOP 자료를 조치 방법과 단계, 결정표로 구조화한다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SOP 구조와 결정표 자료 만들기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 문장을 단계와 조건으로 나누어 설비 모델에 연결하고, 원문과 대조할 수 있는 절차 구조와 결정표를 만든다.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58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5441" y="2635377"/>
            <a:ext cx="8320811" cy="3657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1101" y="2219324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271" y="2436495"/>
            <a:ext cx="434340" cy="4343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2095461" y="2173605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95461" y="2173605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1" y="3270885"/>
            <a:ext cx="2627299" cy="249250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 모델 · SOP 자료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기존 식별자와 고장 유형을 재사용한다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원문 자동 추출은 만들지 않는다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완성 기준: 같은 대상을 중복 생성하지 않음</a:t>
            </a:r>
          </a:p>
        </p:txBody>
      </p:sp>
      <p:sp>
        <p:nvSpPr>
          <p:cNvPr id="12" name="Oval 11"/>
          <p:cNvSpPr/>
          <p:nvPr/>
        </p:nvSpPr>
        <p:spPr>
          <a:xfrm>
            <a:off x="4274705" y="2219324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hierarchy-2" descr="hierarchy-2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875" y="2436495"/>
            <a:ext cx="434340" cy="43434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4869065" y="2173605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9065" y="2173605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5395" y="3270885"/>
            <a:ext cx="2627299" cy="249250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절차 구조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고장 유형에 조치 방법과 단계를 잇는다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적용 · 금지 조건과 완료 기준을 구분한다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완성 기준: 단계 순서와 근거 문장을 보존</a:t>
            </a:r>
          </a:p>
        </p:txBody>
      </p:sp>
      <p:sp>
        <p:nvSpPr>
          <p:cNvPr id="17" name="Oval 16"/>
          <p:cNvSpPr/>
          <p:nvPr/>
        </p:nvSpPr>
        <p:spPr>
          <a:xfrm>
            <a:off x="7048309" y="2219324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table" descr="tabl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5479" y="2436495"/>
            <a:ext cx="434340" cy="434340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7642669" y="2173605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42669" y="2173605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8999" y="3270885"/>
            <a:ext cx="2627299" cy="249250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결정표 자료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조건을 입력 · 연산자 · 기준값 · 출력으로 옮긴다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완성 기준: 경계의 포함 여부와 적용 조치를 대조</a:t>
            </a:r>
          </a:p>
        </p:txBody>
      </p:sp>
      <p:sp>
        <p:nvSpPr>
          <p:cNvPr id="22" name="Oval 21"/>
          <p:cNvSpPr/>
          <p:nvPr/>
        </p:nvSpPr>
        <p:spPr>
          <a:xfrm>
            <a:off x="9821913" y="2219324"/>
            <a:ext cx="868680" cy="86868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file-check" descr="file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9083" y="2436495"/>
            <a:ext cx="434340" cy="434340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10416273" y="2173605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16273" y="2173605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603" y="3270885"/>
            <a:ext cx="2627299" cy="249250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완성본 확인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완성된 절차 구조와 결정표를 설명한다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입력을 대어 판정 결과를 확인한다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완성 기준: 원문 → 구조 → 결과를 이어 설명할 수 있음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설비 조건별 조치를 비교하는 판단 기능 만들기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결정표를 읽어 조치를 가르고 남은 후보를 비교하는 기능을 바이브 코딩으로 만든다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조치 판정 기능과 적용 대상 시험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입력별 판정 기능을 만들고, 원문에 정한 적용 대상과 기대 결과를 실제 출력에 대조한다.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 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입력 · 수행할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산출물 · 성공 기준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정상 · 경계값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운전의 연속 시간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0 · 23.9 · 24.0 · 24.1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후보·선택 이유 표시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24.1 h에서만 수명 감점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복수 규칙 일치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원격 자동 · 팬 최대 운전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연속 30 h · 예측 유온 56 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감점과 경고를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모두 표시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불가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원격 제어 후보만 제공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 모드 미확인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 없음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제외·정보 부족 사유 표시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적용 대상 대조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원문의 수명 감점 대상과 실제 결과를 대조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100 % 연속 30 h(24 h 초과)로 두 조치를 비교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팬 최대: 20만 원 감점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팬 유지: 이 감점 없음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확인과 수정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입력 · 기대 결과를 먼저 적는다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차이가 있으면 고치고 같은 입력으로 확인한다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1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대상·경계·누락 처리 일치</a:t>
            </a:r>
          </a:p>
          <a:p>
            <a:pPr algn="l" eaLnBrk="0">
              <a:lnSpc>
                <a:spcPct val="110000"/>
              </a:lnSpc>
            </a:pPr>
            <a:r>
              <a:rPr sz="11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대조 근거와 수정 기록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복습: 조치를 고를 때 구분하는 네 가지 판단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조치의 수행 방법 · 가능 여부 · 성과 비교 · 가정 변경은 서로 다른 판단이며, 각각에 맞는 근거가 필요하다.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42239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56232"/>
            <a:ext cx="5001768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완료 여부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86584"/>
            <a:ext cx="50017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핀 세척의 완료 여부를 확인한다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935224"/>
            <a:ext cx="50017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재가동 뒤 확인할 매뉴얼의 완료 기준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42239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856232"/>
            <a:ext cx="5001768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가능 여부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386584"/>
            <a:ext cx="50017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수동 운전 중 팬 최대 운전을 고른다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935224"/>
            <a:ext cx="50017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현재 운전 모드와 원격 조치 제외 조건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2239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187952"/>
            <a:ext cx="5001768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성과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718304"/>
            <a:ext cx="50017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효과와 생산 감소를 견준다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5266944"/>
            <a:ext cx="50017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성과 목표와 지표, 조치의 득실 경로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23360"/>
            <a:ext cx="542239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4187952"/>
            <a:ext cx="5001768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가정 변경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4718304"/>
            <a:ext cx="50017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납기가 더 멀다면 결과를 비교한다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5266944"/>
            <a:ext cx="50017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고정한 기준 입력과 바꿔 넣은 가정값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약어와 핵심 용어의 정식 명칭과 뜻을 한곳에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1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1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1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7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7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Standard Operating Procedure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작업을 안전하고 같은 방식으로 하도록 정한 표준 작업 절차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42540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10536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10536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Decision Model and Notation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업무의 의사결정을 표와 모델로 정의하는 표준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23108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91104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991104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Decision Table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입력 조건의 조합마다 출력을 정한 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임계값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Threshold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조건의 판정이 갈리는 기준값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84244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52239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Hit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952239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Hit Policy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여러 규칙이 함께 맞을 때 결과를 고르는 방식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64811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432807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BSC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432807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Balanced Scorecard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재무 · 고객 · 내부 프로세스 · 학습과 성장의 네 관점으로 성과를 보는 경영 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45380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913376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KPI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913376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Key Performance Indicator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목표를 얼마나 이뤘는지 재는 핵심 성과 지표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425948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393944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전략맵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393944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Strategy Map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전략 목표 사이의 인과를 화살표로 이은 그림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906516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874512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What-if 분석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874512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What-if Analysis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가정값을 바꿔 결과가 어떻게 달라지는지 견주는 분석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맞혀 보세요.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운전 상태와 조치의 가능 여부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HYD-01의 쿨러 성능 저하 경보에서 원인은 쿨러 핀 오염이고, 수동 조작이 들어와 운전 모드는 REMOTE_MANUAL이다.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상태에서 조치 후보에 남는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 — 유온을 경보 기준 아래로 내리므로 남는다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운전과 부하 80 % — 유온을 가장 많이 내리므로 남는다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세척 — 작업지시 후보로 남고, 세척은 정지와 잠금 뒤에 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부하 70 %와 야간 핀 세척 — 팬을 건드리지 않으므로 남는다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여러 규칙이 함께 맞았을 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Hit Policy가 Collect인 규정 적합성 표에 원격 자동, 팬 100 % 연속 30 h, 「팬 최대 운전」 예측 유온 56 ℃를 넣었다.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후보에 내려지는 판정은?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감점 20만 원과 경고가 함께 붙는다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표의 위쪽에 있는 감점 규칙만 적용된다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두 규칙이 함께 맞았으므로 결정표의 오류로 처리된다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감점과 경고가 겹쳤으므로 후보에서 제외된다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가능 여부의 규칙과 성과의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사건에서 「팬 최대 운전과 부하 80 %」는 예측 유온이 44.6 ℃로 가장 낮았으나 네 후보 가운데 공동 2순위였다.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 까닭으로 가장 알맞은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 모드 규칙에 걸려 후보에서 제외되었기 때문이다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예측 유온이 낮을수록 점수가 낮게 매겨지기 때문이다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승인할 역할의 직급이 더 높은 조치였기 때문이다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부하를 낮춰 생산이 줄어 납기에서 잃은 것이 예측에서 얻은 것보다 컸기 때문이다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조치의 가능 여부, 여러 규칙의 처리, 규칙과 성과 비교의 경계를 올바른 기준으로 판단하는지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원격으로 보내는 설비 제어는 원격 자동에서만 남는다. 정비 작업지시는 운전 모드와 관계없이 남지만, 세척은 정지와 잠금 뒤에 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Collect는 맞은 행의 출력을 모두 모은다. 감점과 경고가 함께 붙고 제외는 맞지 않았다.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네 후보 모두 규칙을 통과했다. 순위는 예측에서 얻은 것과 납기에서 잃은 것을 견준 결과이다.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