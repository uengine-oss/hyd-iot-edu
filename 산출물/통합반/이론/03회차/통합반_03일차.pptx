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있죠. 첫 번째 카드는 조치 절차입니다. 매뉴얼에서 절차를 이루는 요소를 찾아보고, 설비의 운전 상태에 따라 그 절차를 지금 쓸 수 있는지 가려 봅니다. 두 번째 카드는 판단 규칙이에요. 조건 문장을 결정표의 행으로 옮기고, 여러 행이 함께 맞았을 때 어떤 판정이 나오는지, 그 근거는 뭔지 설명할 수 있어야 합니다. 세 번째는 성과 평가고요. 목표와 지표의 실제값을 읽고, 남은 후보의 득실과 가정값을 바꿨을 때의 영향을 비교합니다. 마지막 카드는 실습에서 만들 결과물이에요. 절차 구조와 결정표 자료를 직접 만들고, 그 자료를 읽어서 판정하는 기능을 경계값이나 여러 규칙이 함께 맞는 경우까지 여러 입력으로 시험해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 쓰는 온도 기준은 이 수업 설비의 설정값입니다.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펌프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남은 압력을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위쪽은 매뉴얼 원문이고, 아래쪽은 그걸 노드와 관계로 옮긴 모습이에요. 앞 회차에서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도래라는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승인한 다음의 그래프예요. 화면 왼쪽 그래프 위쪽을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프로세스가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이어서 두 번째 물음, 이 조치를 지금 해도 되는지를 다룹니다. 매뉴얼에 문장으로 흩어진 조건을 결정표로 옮기고, 그때의 값에 대어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화면 맨 위에 있죠. 후보 가운데 규정상 쓸 수 없거나 감점할 것은 무엇인가. 이 물음이 Decision, 결정이에요. 그 물음에 답하는 규칙들을 모은 게 결정표고, 표의 한 행이 Rule, 규칙입니다. 매뉴얼의 조건 문장 하나가 규칙 한 행이 되고, 왼쪽의 조건과 오른쪽의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운전했습니다.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읽는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진하게 칠한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판정 기능을 시험할 때 경계값 입력을 따로 넣는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화면 맨 위의 예를 보면, 가운데 값은 양쪽 검사를 다 통과하죠. 범위 아래 값은 하한 검사에서, 범위 위 값은 상한 검사에서 걸립니다.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칸의 둘째 줄도 같이 봐 주세요. 출력마다 그 출력을 내는 결정표가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화면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이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씁니다.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자동 운전인데,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증거의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됐고요.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또는의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모으기인데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이어서 세 번째 물음, 규칙을 통과한 후보 가운데 무엇이 더 나은지를 다룹니다. 성과를 여러 관점에서 보는 BSC와 그 목표를 재는 KPI로, 후보를 견줄 기준부터 세웁니다.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세우지 않고 계속 생산하면 좋은 선택일까요? 당장의 생산량에는 도움이 되겠죠. 그런데 고장 위험이 커지거나 품질 문제가 생긴다면, 다른 목표에는 손해가 됩니다. 성과를 숫자 하나로만 보면 이런 차이를 놓치기 쉬워요. 이익 하나만 본다고 해 보세요. 그 숫자는 일이 다 끝난 뒤에야 나오니까, 정비를 미루는 결정이 당장은 좋아 보이는 거죠. 그래서 결과와, 그 결과를 만드는 원인을 함께 보는 틀을 씁니다. 화면 위쪽의 BSC 정의는 성과를 네 관점에서 함께 보는 틀이에요. 네 카드가 각각의 관점입니다. 재무 관점은 이익과 원가처럼 돈으로 나타나는 결과를 봐요. 고객 관점은 납기와 품질에 대한 약속을 지키는지 보고요. 내부 프로세스 관점은 그 결과를 만들려면 뭘 잘 운영해야 하는지 묻습니다. 설비가 필요할 때 가동되고, 안전하게 운전하고, 에너지를 효율적으로 쓰는 일이 여기 들어가요. 쿨러의 온도를 관리하는 조치도 이 관점에 연결됩니다. 학습과 성장 관점은 계속 나아지려면 뭘 쌓아야 하는지를 봐요. 여기서는 현장의 판단과 그 이유를 기록해서 다음 판단에 활용하는 목표를 두고 있습니다. 네 관점을 둔다고 네 점수를 똑같이 맞추라는 건 아닙니다. 돈으로 나타나는 결과, 그 결과를 만드는 운영, 고객과의 약속, 지식 축적을 함께 보자는 거예요. 정비를 미뤄서 당장 비용을 줄였다고 해도, 설비 가용성과 납기 신뢰를 해칠 수 있거든요. 조치를 비교할 때 이런 연결이 보이도록, 목표를 먼저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신뢰를 높인다’는 목표에 모두 동의했다고 해 볼게요. 그러면 얼마나 잘하고 있는지는 뭘로 알 수 있을까요? 목표를 말하는 문장과, 그 상태를 재는 수치가 둘 다 필요합니다. 화면 왼쪽 전략 목표는 이루려는 상태예요. 약속한 날짜에 약속한 수량을 출하한다, 이게 납기 신뢰의 뜻입니다. 오른쪽 KPI는 그 목표를 얼마나 이뤘는지 재는 핵심 성과 지표예요. 납기 신뢰에는 납기 준수율을 붙이죠. 안전한 운전도 같은 방식으로 봅니다. 인터록 한계를 넘지 않는다는 목표에, 한계까지 여유가 얼마나 남았는지를 재는 지표를 붙여요. 목표가 먼저 있고, 그 목표를 살피려고 지표를 고르는 겁니다. 목표와 그걸 재는 수단을 섞으면 어떻게 될까요? 숫자를 올리는 것 자체가 목표처럼 바뀌어 버립니다. 그리고 KPI가 목표 전체를 대신하지도 않아요. 인터록 여유가 충분하다고 모든 안전 조건을 지켰다고 말할 수는 없습니다. 이 지표가 보여 주는 건 온도 한계와의 거리예요. 앞에서 본 잠금이나 잔압 확인은 해당 절차에서 따로 지켜야 하고요. 지표 이름을 읽을 때는 그게 뭘 재는지까지 같이 이해해야, 숫자 하나로 너무 넓은 결론을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여유라는 지표를 직접 읽어 볼게요. 이 숫자가 답하는 질문은 ‘온도가 설비 보호 한계에 얼마나 가까워졌나’입니다. 위쪽 계산식을 보면, 한계에서 그 기간의 가장 높은 유온을 빼죠. 왜 평균 유온을 빼지 않을까요? 대부분의 시간에는 낮았더라도, 잠깐 한계에 아주 가까워졌을 수 있거든요. 이 지표는 가장 여유가 없었던 때를 보려는 거라서 기간 최고값을 씁니다. 계산 결과의 단위는 온도 차고 여유가 클수록 좋아요. 반대로 비용 같은 지표는 작을수록 좋죠. 숫자가 커졌다는 것만으로 성과가 좋아졌다고 판단하지 않도록, 방향을 정의해 두는 겁니다. 기준선 오른쪽의 목표값은 도달하려는 수준이에요. 목표 여유가 기간 최고 유온 55도 이하에 해당한다고 적혀 있죠. 그러니까 목표를 채웠다는 건, 그 기간에 유온이 한 번도 55도를 넘지 않았다는 뜻과 같습니다. 목표 왼쪽의 경고와 위험 기준은 주의할 수준을 나눠요. 경고는 한계까지 여유가 5도로 줄었을 때, 위험은 여유가 다 없어져 한계에 닿았을 때입니다. 목표에 못 미친 상태와 한계에 닿은 상태는 다르죠. 아래쪽 측정 주기와 책임 부서는 언제, 누가 이 지표를 확인할지도 정해 주고요. 여기서 하나 구분할 게 있어요. 이 지표의 위험 표시는 PLC가 내리는 실제 보호 정지 판정과는 구분합니다. 지표는 운전 상태를 평가하는 거고, 보호 장치는 자기 조건대로 현장에서 동작하는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하루의 기록인데, 가동률은 목표 달성이고 인터록 여유는 미달로 나왔습니다. 이게 모순일까요? 각각 뭘 재는지 보면 둘이 같이 성립할 수 있어요. 표 첫 줄 인터록 여유부터 볼게요. 한계에서 가장 높았던 유온을 빼니까 약 2.5도밖에 안 남았습니다. 목표로 잡은 여유의 4분의 1쯤이에요. 계속 운전은 했지만, 가장 뜨거웠을 때는 한계에 꽤 가까웠다는 뜻이죠. 오른쪽 칸에 목표에서 얼마나 모자랐는지와 달성률도 같이 나와 있습니다. 둘째 줄 가동률은 관측한 시간 가운데 보호 정지 없이 가동한 시간을 계산해요. 이 기록에서는 보호 정지가 없었으니 목표를 달성했습니다. 그런데 멈추지 않았다는 결과가, 온도 여유까지 충분했다는 뜻은 아니에요. 실적을 비교할 때는 기간도 맞춰야 합니다. 이 표는 같은 24시간을 집계한 거예요. 여기에 경보가 났던 한순간의 유온이나 조치 뒤의 예측 유온을 최고값 대신 넣으면 어떻게 될까요? 다른 질문에 답하게 됩니다. 기간, 계산식, 목표를 함께 읽어야 왜 어떤 지표는 달성이고 어떤 지표는 미달인지 설명할 수 있어요. 여러 지표를 보는 이유는 서로 평균 내서 감추려는 게 아닙니다. 한 지표가 보여 주지 않는 상태를 다른 지표로 확인하려는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여러 대라면, 설비마다의 여유를 어떻게 모아 볼지도 정해야 합니다. 화면의 두 칸은 같은 하루에 얻은 세 설비의 여유를 서로 다르게 계산한 결과예요. 왼쪽이 평균, 오른쪽이 최솟값입니다. 평균은 다 더해서 대상 수로 나누죠. 세 설비를 함께 보면 여유가 대략 어느 수준인지 보여 줍니다. 계산하면 약 11도로, 목표 여유 10도를 넘어요. 평균만 보면 달성이라고 말하게 되는 거죠. 그런데 오른쪽을 보면 여유가 약 2.5도뿐인 설비가 있습니다. 다른 두 설비의 여유가 커서 전체 평균을 끌어올린 거예요. 안전 판단에서 확인하려는 건 어느 쪽일까요? 한계에 가장 가까운 설비를 찾아야 한다면, 평균보다 최솟값이 맞습니다. 한 설비의 여유가 부족한데, 다른 설비에 여유가 많다고 넘어갈 수는 없으니까요. 그래서 이 지표의 실제 집계는 가장 작은 여유를 씁니다. 목표와 비교해 미달이라고 본 것도 그 최솟값이고요. 평균 계산 자체가 틀린 건 아니에요. 전체 수준을 요약하는 질문에는 쓸 수 있습니다. 다만 전체 평균이 높다는 답을, 모든 설비가 여유 있게 운전했다는 뜻으로 바꾸면 안 되죠. 지표를 정할 때는 먼저 뭘 확인하려는지 정하고, 그 질문에 맞는 집계 방식을 고릅니다. 실습에서도 같은 기록으로 두 값을 구해 보고, 안전 판단에 쓸 값과 그 까닭을 남겨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준수율을 지표로 정의했습니다. 그런데 실제로 언제 출하했는지 기록이 없다면, 준수율을 계산할 수 있을까요? 정의만 있다고 실적이 생기는 건 아니에요. 이 시스템에서는 처리 기록과 업무 데이터베이스, 시계열 데이터베이스에서 실적을 계산할 자료를 가져옵니다. 표 위의 두 줄을 보세요. 인터록 여유는 한계와 최고 유온이 있어서, 가동률은 관측 시간과 보호 정지 기록이 있어서 계산됐습니다. 그 아래 두 줄은 달라요. 매출을 계산할 판매 원장이나, 납기 준수율을 계산할 완료·출하 기록이 확보되지 않았습니다. 그래서 이 지표들은 계산 불가와 그 사유를 보여 줘요. 여기서 빈칸을 영으로 채우면 뜻이 바뀝니다. 납기 준수율이 영이라는 건, 납기를 지킨 비율이 영이라는 결과예요. 기록이 없어서 모른다는 말과는 완전히 다르죠. 맨 아랫줄에는 결과 상태를 나눠 놓았어요. 값은 있는데 목표가 없어서 달성을 판단하지 못하는 경우, 일부 기록만 있어서 부분 실적인 경우, 조회 자체가 실패한 경우는 다 다릅니다. 이런 상태가 보여야 뭘 보완할지 알 수 있어요. 목표를 정해야 하는지, 빠진 기록을 모아야 하는지, 연결을 복구해야 하는지가 달라지니까요. 그러니까 목표를 정하고, 그 목표를 재는 지표의 식과 방향, 집계 방식과 원천까지 정해 둬야 후보를 견줄 잣대가 생기는 겁니다. 계산한 값뿐 아니라, 계산할 수 없는 까닭도 그 결과의 일부로 남기고요.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목표들이 서로 어떻게 뒷받침하는지 그린 그림이 전략맵입니다. 아래에서 위로 읽어요. 맨 아래 학습과 성장 띠의 현장 판단 지식에서 시작해서, 설비 가용성, 납기 신뢰, 영업이익으로 올라가는 길을 먼저 볼게요. 현장의 판단과 이유가 쌓이면 설비를 운영하는 데 쓸 수 있죠. 설비가 필요할 때 가동될 수 있어야 계획한 생산을 하고, 약속한 납기를 지킬 수 있을 거고요. 납기와 품질에 대한 신뢰는 재무 성과를 받쳐 줍니다. 왼쪽의 무재해 운전도 설비 가용성으로 이어져요. 보호 정지에 이르지 않게 운전하는 게 가용성을 지키는 데 중요하니까요. 오른쪽에는 에너지 효율에서 원가 절감으로 가는 길이 있습니다. 같은 재무 목표라도 받쳐 주는 운영 목표는 여러 가지라는 거죠. 그림에서 파랗게 칠한 화살표가 쿨러 사건이 지나는 길이에요. 무재해 운전에서 설비 가용성, 납기 신뢰를 거쳐 맨 위 영업이익까지 올라가죠. 쿨러의 유온을 한계 아래로 지키는 일이 이 길을 따라 재무 목표에까지 닿는다는 겁니다. 이 화살표는 조직이 어떤 목표를 거쳐서 다른 목표를 이루려 하는지 보여 줍니다. 화살표가 있다고 이번 주문이 왜 늦었는지 확정할 수는 없어요. 개별 사건의 원인은 그 사건의 증거로 확인해야 하니까요. 전략맵은 조치를 평가할 때 어디까지 함께 살펴야 하는지, 그 범위를 알려 줍니다. 게다가 위쪽 재무와 고객 목표의 지표는, 앞에서 본 매출이나 납기 준수율처럼 실적을 계산할 기록이 없는 것이 많아요. 그래서 이 길이 실제로 영업이익까지 이어졌는지를 지금의 실적으로 확인할 수도 없습니다. 위쪽 목표는 방향으로 읽고, 실적으로 확인하는 건 인터록 여유나 가동률처럼 기록이 있는 지표에서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납기를 지켰는지는 출하가 끝나야 알 수 있습니다. 그때 가서야 지표를 보면, 늦어질 조짐을 미리 보고 손쓰기는 어렵겠죠. 그래서 결과를 재는 지표와, 그 결과를 움직이는 상태를 재는 지표를 같이 봅니다. 화면 오른쪽 띠가 후행 지표예요. 일이 진행된 뒤에 나타난 결과를 잽니다. 납기 준수율과 지체상금이 여기 해당하죠. 왼쪽 띠가 선행 지표입니다. 그 결과를 움직이는 요인을 먼저 봐요. 이 그림에서는 생산량이 납기 결과보다 앞서 움직이는 지표예요. 왼쪽 아래 펌프 부하를 낮추면 생산량이 줄어듭니다. 생산량이 줄면 납기를 지키는 데 부담이 될 수 있고, 납기를 어기면 그만큼 무는 돈, 지체상금이 늘어나요. 조치 직후에 바뀌는 값에서 출발해서, 뒤의 성과까지 이어 보는 거예요. 노드마다 측정 주기도 적혀 있죠. 다만 자주 잰다고 무조건 선행 지표가 되는 건 아닙니다. 어떤 결과보다 앞서서, 그 결과를 움직이는 정보를 주느냐가 핵심이에요. 선행 지표로 조짐을 살피고 후행 지표로 실제 결과를 확인해야, 예상한 연결이 맞았는지도 검토할 수 있습니다. 생산량이 줄었다는 이유만으로 실제 납기 위반이 확정됐다고 말하지는 않아요. 이 모델은 선행 지표에서 결과 지표로 이어지는 영향을 따라가도록 구성했습니다. 여기 그려진 연결에서는 후행 지표에서 선행 지표로 돌아가는 관계를 두지 않았어요. 그리고 선행 지표는 모두 이런 경로를 따라 어느 결과에 닿는지가 그어져 있습니다. 조짐을 보고 손쓴 일이 어느 결과로 이어지는지 늘 따라갈 수 있게 해 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관계의 화살표에는 방향만 있는 게 아닙니다. 두 값이 같은 쪽으로 움직이는지 반대로 움직이는지, 영향이 얼마나 강한지, 어떤 조건에서 성립하는지도 붙어요. 이 그림은 쿨러가 아니라 부품 구매 쪽 예입니다. 쿨러 조치가 지나는 길에는 조건이 붙은 관계가 없어서, 조건이 붙은 실제 관계를 여기서 가져왔어요. 왼쪽 진한 원, 부품 단가에서 구매비로 가는 위쪽 길을 보세요. 단가가 낮아지면 구매비도 낮아지죠. 같은 방향의 관계라서 양의 부호를 붙였습니다. 여기서 양수가 ‘좋다’는 뜻은 아니에요. 단가가 올라가면 구매비도 올라가는 관계라는 뜻입니다. 좋고 나쁨은 각 지표의 목표와 방향으로 판단해요. 아래쪽 품질로 가는 길에는 조건이 붙어 있습니다. 공급사를 바꾸면서 단가를 낮추는 경우예요. 같은 부품의 시세만 내려간 상황까지 품질이 나빠진다고 읽으면 안 되죠. 이 조건에서 품질이 낮아질 수 있는 길을 따라가면, 클레임, 신뢰, 매출까지 영향이 이어집니다. 강도는 영향의 비중이에요. 조건이 참인지 거짓인지는 그 경로를 적용할지를 정하고요. 이 둘을 섞지 않습니다. 오른쪽 아래 칩 세 개가 조건의 세 상태예요. 조건이 맞으면 경로를 반영하고, 맞지 않으면 뺍니다. 확인되지 않은 조건은 미확인 영향으로 따로 두고, 이 시스템의 순위 정책이 그 성분을 절반만 반영해요. 미확인을 사실로 못 박지 않으면서도, 검토할 영향으로는 드러내는 방식입니다. 이런 비중도 현실의 확률을 자동으로 알아낸 수치가 아니라, 지식과 정책에 정해 둔 평가 기준이에요. 화살표마다 부호, 강도, 적용 조건이 붙어 있어야, 펌프 부하를 낮춘 조치가 냉각을 넘어 생산과 납기, 이익까지 어떻게 닿는지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비교하기 전에 지켜야 할 경계가 하나 있습니다. 해도 되는지를 가르는 조건과, 가능한 후보 중 어느 쪽이 나은지 견주는 기준은 다르다는 거예요. 화면 왼쪽부터 볼게요. 수동 조작 중인 설비에 원격 명령을 보내면 안 된다는 조건이 이쪽입니다. 통과 아니면 제외예요. 생산 효과가 크다고 이 조건을 넘을 수는 없습니다. 무재해 운전처럼, 금액과 맞바꾸지 않는 선을 지키는 거죠. 제외된 후보는 점수 경쟁에 아예 끼지 않아요. 오른쪽은 통과한 후보의 득실입니다. 팬을 올리면 냉각에는 도움이 되지만 전력 사용은 늘죠. 이런 경우에는 한쪽의 손해를 다른 쪽의 이득으로 메울 수 있어서, 효과와 부담을 함께 비교합니다. 감점과 경고도 후보를 남겨 둔 채 비교할 성분으로 들어가고요. 둘을 섞으면 각각 다른 오류가 생깁니다. 칸마다 마지막 줄에 적혀 있죠. 안전 조건을 작은 감점으로 바꾸면, 다른 점수가 그걸 덮어 버릴 수 있어요. 반대로 비용이 든다는 이유만으로 후보를 다 빼면, 고를 조치가 남지 않습니다. 결정표에서 출력의 종류를 나눴던 이유가 여기서 이어지는 거예요. 먼저 허용 범위를 지키고, 그 안에서 더 나은 조치를 고릅니다.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올리면서 펌프 부하도 낮추는 조치를 따라가 볼게요. 그림 왼쪽의 조치에서 두 갈래로 나뉘죠. 위쪽이 팬 속도, 아래쪽이 펌프 부하입니다. 조치에서 이 두 값으로 가는 첫 화살표에는 AFFECTS라는 이름이 붙어 있어요. 조치가 처음 건드리는 설비의 값이라는 뜻입니다. 그 뒤로 값과 지표를 잇는 화살표는 앞 단원에서 본 영향 관계, INFLUENCES고요. 팬을 더 돌리면 냉각에 도움이 돼요. 부하를 낮추면 열이 생기는 부담도 줄고요. 두 변화는 가운데 유온을 낮추는 쪽으로 이어지고, 유온이 낮아지면 오른쪽의 인터록 여유, 한계까지 남은 여유가 커집니다. 하지만 다른 길도 있죠. 팬을 더 돌리는 만큼 전력 사용이 늘고, 부하를 낮추면 생산량이 줄어듭니다. 생산량이 줄면 납기를 지키는 데 부담이 되고요. 이렇게 한쪽에서 얻는 효과와 다른 쪽에서 잃는 것이 함께 생기는 관계를 Trade-off, 상충이라고 합니다. 그림에서 파란 갈래가 얻는 쪽, 유온에서 인터록 여유로 가는 길이에요. 남색 갈래가 잃는 쪽, 전력과 생산량, 납기로 가는 길이고요. 그림의 화살표는 영향을 비교할 길입니다. 온도가 내려가는 길만 따라가면 이 조치가 제일 좋아 보일 수 있어요. 생산과 전력 쪽까지 따라가야 전체 득실이 보이죠. 납기에 미치는 실제 크기는 남은 주문과 시간 같은 업무 조건이 있어야 계산할 수 있습니다. 그래서 영향의 방향을 먼저 찾고, 그다음에 필요한 값을 가져와서 비교해요.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득실을 금액으로 비교하려면 뭐가 필요한지 볼게요. 화면의 식을 다 외우기보다는, 항목마다 어떤 기록을 가져와야 계산할 수 있는지를 봐 주세요. 첫 줄, 생산 감소에 따른 손실을 보려면 부하를 얼마나 낮추고 얼마나 오래 유지하는지, 정비 때문에 얼마나 세우는지를 생산 가치와 연결해야 합니다. 식의 괄호 안을 보면, 이 계산에서는 평소 부하 90퍼센트에서 부하를 낮춘 비율만큼 생산도 줄어든다고 가정합니다. 부하와 생산의 관계를 이렇게 놓고 손실을 계산하는 거예요. 둘째 줄 납기 지연은 실제로 납기를 넘기는 시간과 계약상 시간당 위약금이 필요하고요. 생산이 느려졌다는 사실만으로 바로 위약금이 생기는 건 아니에요. 여기 위약금은 이 오더의 계약에 적힌 시간당 값입니다. 앞의 그래프에서 본 지체상금은 한 달 단위로 재는 성과 지표였죠. 이름이 비슷해도 단위와 재는 대상이 다르니, 둘을 같은 숫자로 섞어 읽지 않습니다. 셋째 줄 품질 위험은 온도가 높은 상태에서 생길 수 있는 불량 가능성과 클레임 금액을 봅니다. 넷째 줄 에너지비는 추가 전력과 운전시간, 전력 단가를 함께 계산하고요. 다 같은 ‘비용’이라고 부를 수 있어도, 가져오는 원천과 계산 기준은 다 다릅니다. 다섯째 줄, 정비에는 정지 시간과 작업비가 필요해요. 정지 시간은 정비 관리 시스템의 표준 작업에서 가져옵니다. 이 값은 계획한 시간이에요. 실제로 고쳐서 다시 돌리기까지 걸린 복구 시간과는 구별해야 하죠. 화면에 설비별 핀 세척 기준이 있긴 합니다. 하지만 실제로 적용할 조치의 표준 작업 자료가 없으면, 그 후보의 손익은 확정하지 않아요. 숫자가 다른 곳에 하나 있다고 빈자리를 임의로 채우지는 않는 겁니다. 마지막 줄, 고장 위험의 금액에는 추정이 들어갑니다. 운전 기간과 평균 고장 간격으로 확률을 어림하고, 고장이 났을 때의 비용을 곱해요. 근본 조치 뒤에 위험을 영으로 두는 것도 이 계산의 가정입니다. 실제 고장 가능성이 사라졌다고 관측한 결과가 아니에요. 그래서 손익을 보여 줄 때는 값의 원천과 계산의 가정을 같이 남깁니다. 확인된 지출과 앞으로의 위험 추정을 구분해야, 담당자가 비교 결과를 제대로 쓸 수 있어요. 이렇게 항목별 금액을 더해 후보를 줄 세운 것을 손익 순위라고 합니다. 이 식은 감산과 작업 정지의 영향을 단순히 더합니다. 두 영향이 겹치는 시간이나 실제 야간 정비 시점을 따로 계산하지는 않아요. 근본 조치의 위험을 영으로 놓는 것도 계산 가정입니다. 항목을 비교하는 데 쓰되, 작업지시만 발행했다고 실제 위험이 사라졌다는 뜻으로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실제 쿨러 사건에서 나온 판단 순위입니다. 판단 순위는 순위 정책의 점수로 매긴 순서예요. 추천안은 이 순위로 정해지고, 앞에서 말한 손익 순위는 따로 계산해서 참고로 함께 봅니다. 예측 유온이 가장 낮은 조치가 1순위인지, 먼저 한번 찾아보세요. 예측 유온이 가장 낮은 건 팬을 올리고 부하를 낮추는 조치예요. 그런데 순위는 공동 2순위죠. 1순위는 팬만 최대로 돌려서 생산을 유지하는 조치입니다. 냉각 효과 하나만으로 순서를 매긴 게 아니라는 뜻이에요. 부하를 줄이는 두 후보는 같은 점수로 그 뒤를 잇습니다. 그래서 공동 2순위로 읽어요. 표에서 어느 줄이 위에 있느냐가 두 후보 사이의 우열을 뜻하지는 않습니다. 마지막 줄 핀 세척은 원인을 없애는 조치인데, 왜 예측 온도가 높을까요? 이 시점에 시스템이 하는 동작은 정비 작업지시를 등록하는 거예요. 계산에 쓰인 제어 상태가 바로 바뀌거나 세척이 끝난 게 아니죠. 그래서 경고가 붙고 4순위가 됐습니다. 이 예측을 ‘핀 세척을 마쳤는데도 냉각이 안 된다’로 읽으면 안 돼요. 표 맨 아랫줄은 이 순위를 계산할 때의 입력입니다. 원격 자동이라 제외된 후보는 없었고, 긴급 주문의 납기가 가까웠어요. 생산을 유지하는 가치가 비교에 반영되는 상황이죠. 점수가 낮다고 그 조치가 영원히 쓸모없다는 뜻은 아닙니다. 음수 점수가 그만큼의 금전 손실이라는 뜻도 아니고요. 지금의 입력과 평가 정책으로 비교한 결과예요.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순위 점수는 온도 하나나 비용 하나가 아닙니다. 표에 있는 일곱 성분을 정책의 식으로 계산해서 합친 값이에요. 성분마다 어떤 질문을 맡는지 위에서부터 읽어 볼게요. 첫 줄 성과 지표 성분은 영향 경로에서 얻은 득과 실을 반영합니다. 둘째 줄 예측 성분은 조치 뒤 유온이 회복 기준 아래로 내려가는 효과를 봐요. 그런데 충분히 낮아지면 가산점이 더 늘지 않도록 상한도 둡니다. 경고와 감점은 결정표에서 넘어온 부담이에요. 경고 건수와 감점 금액을 각각 정책 점수로 바꿔서 뺍니다. 금액과 점수를 그대로 더하는 건 아니에요. 선례는 과거에 선택한 비율을 반영합니다. 납기는 얼마나 급한 주문인지, 그리고 생산을 유지하는지, 줄이는지, 멈추는지를 같이 보고요. 마지막 품질은 예측 유온이 높고 고온 로트가 있는 상황에서의 위험을 반영합니다. 모든 성분이 매번 점수를 갖는 건 아닙니다. 경고가 없으면 경고 성분은 영이고, 해당 선례가 반영되지 않으면 그 성분도 영이에요. 합계만 보면 어떤 이유가 컸는지 모르죠. 성분을 펼쳐 보면 선택 이유가 드러납니다. 낮은 온도만 보고 내린 선택인지, 생산 유지 때문에 유리해졌는지, 규정에 따른 부담 때문에 순위가 내려갔는지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한 건의 점수를 펼쳐 봤습니다. 화면 맨 위 세 성분을 더하면 그 아래 합계가 돼요. 성과 지표에서 얻은 점수, 납기에서 얻은 점수, 예측에서 얻은 점수이고, 나머지는 영입니다. 이 조치는 유온을 회복 기준 아래로 내리면서 생산도 유지하죠. 그래서 예측과 납기 양쪽에서 점수를 얻었습니다. 세 성분을 더한 합계가 네 후보 가운데 가장 높았어요. 그 아래 예측 성분끼리 비교해 보세요. 부하를 낮추는 두 조치는 예측 유온이 서로 다른데도, 둘 다 가산점 상한에 닿았습니다. 더 차갑게 만든다고 점수가 끝없이 늘지는 않는 거예요. 반면 생산을 줄이는 부담은 납기 점수에 그대로 남죠. 오른쪽 셋째 점처럼, 생산을 유지하는 팬 최대 운전은 납기에서 감산 후보의 두 배가 넘는 점수를 받았습니다. 그래서 가장 낮은 온도가 곧 가장 높은 종합 점수가 되지는 않습니다. 맨 아래 감점과 경고 두 줄은 단위가 바뀌는 지점을 보여 줘요. 매뉴얼의 금액 감점은 정책 식을 거쳐서 점수 감점이 됩니다. 경고도 정해 둔 비중으로 반영되고요. 이런 환산 기준을 바꾸면 후보 간 비교도 달라질 수 있습니다. 그래서 점수를 검토할 때는 합계를 낸 입력과 정책을 같이 봐야 해요. 금액으로 비교한 손익표는 따로 있고, 이 점수를 원 단위로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납기가 지금보다 여유롭다면, 같은 조치를 추천할까요? 실제 주문의 납기는 건드리지 않고 이 질문을 시험해 보는 방법이 What-if 분석입니다. 여기서는 지금 판단 한 건을 복사해서, 가정값으로 다시 계산해요. 그림 왼쪽 위의 원본에는 지식 그래프, 업무 데이터, 순위 정책이 있습니다. 가운데 사본에는 비교할 후보와 규칙, 입력값을 가져오고요. 사본 아래 조절 손잡이가 가정값이에요. 납기나 감점 기준처럼, 알아보고 싶은 값 하나를 여기서 바꿉니다. 라벨 끝의 관점 중요도도 가정값의 하나예요. BSC의 관점마다 얼마나 무겁게 볼지 배수를 주면, 성과 지표에서 얻고 잃은 점수를 그 비중으로 다시 계산합니다. 그렇게 다시 계산한 오른쪽 아래 시험 결과를, 오른쪽 위의 원래 결과와 비교해요. 어떤 후보의 어느 성분이 달라졌는지, 순위도 바뀌었는지, 금액으로 계산한 손익은 어떤지를 봅니다. 왼쪽 아래처럼 원본이 그대로 유지됐는지도 확인하고요. 이 시험 때문에 실제 설비 명령이나 주문 데이터가 바뀐다면, 그건 가정 분석이 아니겠죠. 값을 한 번에 여러 개 바꾸면, 결과가 왜 달라졌는지 가려내기 어렵습니다. 우선 하나만 바꿔서 영향을 보고, 조건을 함께 바꾸는 시험은 뭘 유지하고 뭘 바꿨는지 기록해요. KPI 목표를 시험값으로 바꾸는 경우도 마찬가지입니다. 목표 달성 판정은 달라질 수 있지만, 이미 측정한 실제 온도가 달라진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가정값을 바꿨을 때 어느 점수 성분이 움직이는지 보여 줍니다. 첫 줄에 기준 상태를 두고, 그 아래 시험마다 뭘 바꿨는지 읽어 볼게요. 첫 시험에서는 팬을 최대로 연속 운전한 시간을 30시간으로 늘립니다. 24시간 제한을 넘으니까, 팬 최대 운전을 쓰는 두 후보에 20만 원 감점이 붙어요. 순위 정책은 이걸 1점으로 바꿔서 뺍니다. 입력이 바뀌어서 규칙이 새로 맞은 경우죠. 두 번째 시험은 그 긴 운전시간을 그대로 두고, 감점 금액을 100만 원으로 키워요. 맞는 규칙은 같은데 감점이 5점으로 커집니다. 앞 시험과 같은 변화가 아니에요. 하나는 조건이 맞기 시작한 거고, 다른 하나는 그 조건이 맞았을 때의 부담을 더 크게 평가한 거예요. 세 번째 시험은 기준 상태로 돌아간 다음, 납기만 이틀 뒤로 멀리 잡습니다. 생산을 유지하는 데 붙던 납기 가산점이 영이 되죠. 이걸 앞의 감점까지 남겨 둔 시험으로 읽으면 안 됩니다. 그런데 성분이 바뀌었다고 1순위가 꼭 바뀌는 건 아니에요. 다른 성분의 차이가 더 클 수도 있고, 다른 후보도 영향을 받을 수 있거든요. 맨 아랫줄처럼, 순위가 바뀌는 경계값을 찾으려면 후보 전체를 다시 계산해서 비교해야 합니다. 이 표에서 확인한 건 각 시험이 움직인 성분이에요. 순위의 전환점은 실제 재계산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추천안이든 What-if 결과든, 판단을 돕는 계산입니다. 현장에서 정말 그 결과가 나왔는지는 조치 뒤 관측으로 확인해야 해요. 그래서 화면의 마지막 단계는 예측이 아니라 재관측입니다. 첫 단계에서는 계산의 전제를 확인해요. 지금 운전 모드와 입력이 맞는지, 예측이 어떤 조건이 유지된다고 보는지 살핍니다. 여기 온도 예측은 외기와 오염 상태가 지금처럼 이어진다고 보고 계산한 거예요. 그 사이 주변 조건이 달라지면 실제 결과도 달라질 수 있죠. 둘째 단계에서 그 전제와 규칙, 점수, 출처를 붙여서 추천안을 냅니다. 셋째 단계에서는 담당자가 근거를 보고 승인하거나 거절하고요. 승인된 조치는 프로세스가 실행하고, 그 뒤에 실제 값을 다시 읽습니다. 마지막 단계에는 쿨러 사건의 그래프에서 본 두 완료 기준이 그대로 들어갑니다. 완화는 회복 상태의 유지로, 근본 정비는 재가동 뒤 냉각 효율의 회복으로 확인하죠. 예측이 맞았는지도 결국 이 관측으로 판정하는 겁니다. 결과가 예측과 다르면, 뭐가 달랐는지 입력과 전제, 실행 기록을 다시 볼 수 있어야 해요. 이렇게 보면 조치 선택은 점수가 가장 큰 줄을 고르는 걸로 끝나지 않습니다. 매뉴얼에서 절차를 읽고, 지금 할 수 있는 조치인지 검사하고, 득실을 견준 다음, 사람이 승인하고 실제 효과까지 확인하는 과정이에요.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55~56장 통합 발화는 55장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57~58장 통합 발화는 57장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59~60장 통합 발화는 59장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실습에서는 조건에 따른 결과를 비교하고, 절차와 결정표를 만든 뒤 판정 기능을 시험했습니다. 그 과정에서 어떤 질문에 어떤 기준을 썼는지 정리해 보겠습니다. 조치를 고를 때 쓴 네 가지 개념, SOP, DMN, BSC, What-if를 화면의 네 상황에 대어 보는 겁니다. 각 상황에 네 개념 가운데 무엇이 먼저 필요한지 골라 보세요. 각 카드에는 그때 찾아야 할 근거가 적혀 있어요. 핀 세척이 끝났는지 확인할 때, 수동 운전 중에 팬을 올려도 되는지 볼 때, 냉각 효과와 생산 감소를 견줄 때, 그리고 납기가 더 여유롭다면 선택이 달라질지 시험할 때입니다. 첫 번째는 SOP예요. 세척 절차의 완료 기준을 확인합니다. 명령을 보냈느냐가 아니라, 재가동 뒤에 어떤 상태를 확인해야 하느냐를 묻는 상황이죠. 두 번째는 DMN의 조건 판단입니다. 지금 모드와 원격 조치 제외 조건을 대조해요. 온도를 잘 낮추는 안이라도, 먼저 수행할 수 있는지부터 확인해야 하니까요. 세 번째는 BSC의 성과 비교예요. 냉각 효과뿐 아니라 생산과 납기까지 어떤 득실이 생기는지 봅니다. 마지막은 What-if고요. 기준 입력은 그대로 두고 납기만 바꿔서 다시 계산합니다. 네 개념이 한 선택에 같이 쓰일 수도 있어요. 다만 답하는 질문이 다릅니다. 절차를 안다고 지금 실행할 수 있는 건 아니고, 실행할 수 있다고 가장 좋은 조치인 것도 아니죠. 또 가장 좋게 계산된 조치라도 가정이 달라지면 결과를 다시 봐야 하고요. 막힐 때는 지금 답하려는 질문이 뭔지부터 정하고, 그 질문의 근거를 찾으면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개념을 상황에 대어 봤으니, 이번에는 이번 회차에 다룬 용어의 뜻을 정리해 볼게요. 표 왼쪽이 용어고, 오른쪽에 정식 명칭과 풀이가 같이 있습니다. SOP는 작업 순서와 수행 기준을 정한 표준 작업 절차예요. DMN은 업무의 의사결정을 표와 모델로 정의하는 표준이고요. 결정표는 입력 조건의 조합마다 어떤 출력을 낼지 정한 표입니다. 임계값은 조건의 판정이 갈리는 기준값이고요. Hit Policy는 여러 규칙이 함께 맞을 때 결과를 처리하는 방식입니다. BSC는 재무, 고객, 내부 프로세스, 학습과 성장, 이 네 관점에서 성과를 보는 경영 틀입니다. KPI는 목표를 얼마나 이뤘는지 재는 핵심 성과 지표예요. 전략맵은 전략 목표 사이의 인과를 화살표로 이은 그림이고, What-if 분석은 가정값을 바꿔서 결과가 어떻게 달라지는지 비교하는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쿨러 성능 저하 경보가 났고, 원인은 쿨러 핀 오염으로 가려졌습니다. 그런데 현장에서 수동 조작이 들어와서 운전 모드가 원격 수동이에요. 이 상태에서 조치 후보에 남는 건 뭘까요? 보기는 네 개입니다. 1번, 유온을 경보 기준 아래로 내리므로 팬 최대 운전이 남는다. 2번, 유온을 가장 많이 내리므로 팬 최대 운전과 부하 80퍼센트가 남는다. 3번, 쿨러 핀 세척이 작업지시 후보로 남고, 세척은 정지와 잠금 뒤에 한다. 4번, 팬을 건드리지 않으므로 부하 70퍼센트와 야간 핀 세척이 남는다. 온도를 얼마나 내리느냐보다, 각 조치가 어떤 동작을 하는지부터 따져 보세요.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Hit Policy가 Collect인 규정 적합성 결정표에, 원격 자동 상태와 팬 최대 연속 운전 30시간, 팬 최대 운전의 예측 유온 56도를 넣었어요. 이 후보에는 어떤 판정이 내려질까요? 1번, 감점 20만 원과 경고가 함께 붙는다. 2번, 표의 위쪽에 있는 감점 규칙만 적용된다. 3번, 두 규칙이 함께 맞았으므로 결정표의 오류로 처리된다. 4번, 감점과 경고가 겹쳤으므로 후보에서 제외된다. 어느 규칙이 맞았는지, 그리고 맞은 출력을 어떻게 다루는지를 나눠서 생각해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쿨러 사건에서 팬 최대 운전과 부하 80퍼센트는 예측 유온이 가장 낮았습니다. 그런데 네 후보 가운데 공동 2순위였죠. 그 까닭으로 가장 알맞은 건 뭘까요? 1번, 운전 모드 규칙에 걸려 후보에서 제외되었기 때문이다. 2번, 예측 유온이 낮을수록 점수가 낮게 매겨지기 때문이다. 3번, 승인할 역할의 직급이 더 높은 조치였기 때문이다. 4번, 부하를 낮춰 생산이 줄어, 납기에서 잃은 것이 예측에서 얻은 것보다 컸기 때문이다. 가능 여부를 가르는 규칙과, 통과한 후보를 견주는 성과 기준을 나눠서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근거를 같이 맞춰 볼게요. 첫 문제의 정답은 3번, 쿨러 핀 세척입니다. 수동 조작 중에는 원격으로 보내는 설비 제어 후보를 전부 빼요. 팬을 올리는 1번과 2번은 효과가 좋아도 운전 모드에서 이미 빠지죠. 4번은 팬은 건드리지 않지만, 부하를 원격으로 낮추는 설비 제어라서 같이 빠집니다. 정비 작업지시인 핀 세척만 남아요. 다만 후보에 남았다고 지금 바로 세척해도 된다는 뜻은 아닙니다. 실제 세척은 설비를 세우고 잠근 다음에 해요. 두 번째 정답은 1번이에요. 운전 모드가 원격 자동이라 제외 조건은 맞지 않았고, 감점과 경고 두 행이 맞았습니다. Collect는 맞은 행의 출력을 다 모으니까 둘이 함께 붙죠. 위쪽 행만 쓰는 2번은 First였을 때의 답이고, 겹침을 오류로 보는 3번은 Unique였을 때의 답입니다. 4번처럼 감점과 경고가 후보를 빼지는 않아요. 제외라는 출력이 있는지는 따로 봐야 합니다. 세 번째 정답은 4번입니다. 네 후보 모두 규칙을 통과했으니 1번은 틀려요. 예측 유온이 낮을수록 점수는 오히려 높아지니까 2번도 아니고요. 승인 역할은 넷 가운데 셋이 같은 운전원이라 3번도 까닭이 되지 못합니다. 예측 가산점은 충분히 낮아지면 상한에 닿아서, 팬 최대 운전보다 조금 더 얻는 데 그쳤어요. 반면 부하를 줄여 생긴 생산 감소로 납기 점수는 절반 아래로 줄었죠. 그래서 냉각 효과가 가장 큰 후보와 종합 점수가 가장 높은 후보가 달랐던 겁니다. 이번 회차에서는 조치의 절차와 수행 조건을 확인하고, 가능한 후보의 득실을 비교했습니다. 그 판단을 설명하려면 절차와 규칙, 지표마다 근거가 필요했죠. 다음 회차에서는 판단의 근거가 되는 지식을 현장 매뉴얼과 작업 절차 문서에서 가져와 볼 거예요. 필요한 내용을 뽑아서 원문과 대조하고, 검토한 지식을 그래프에 넣는 인제스천 과정을 다룹니다.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이상의 원인을 찾은 다음, 어떤 조치를 고를지를 다룹니다. 쿨러에 이상이 생겼습니다. 센서 값을 살펴보니 핀에 낀 오염 때문에 냉각이 잘 안 되는 상황입니다. 원인을 찾았으니까 이제 핀을 씻으면 될까요? 그런데 설비를 세우고 씻는 동안에는 생산이 멈춥니다. 당장 끝내야 할 주문이 있다면요? 먼저 온도부터 낮춰 놓고, 정비 시간은 따로 잡을 수도 있겠죠. 원인을 찾은 뒤에도 고를 게 남는 겁니다. 이 선택을 세 가지 물음으로 나눠서 따라가 보겠습니다. 이 조치를 어떻게 수행하는지, 지금 해도 되는지, 그리고 가능한 조치 가운데 뭐가 더 나은지예요.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목표들을 어떤 순서로 밟아 갈지, 목차로 볼게요. 위의 여덟 줄이 이론 단원이고, 마지막 줄이 실습 세 개예요. 여덟 단원은 크게 세 묶음으로 보시면 됩니다. 앞의 두 단원은 표준 작업 절차, SOP를 다룹니다. 조치를 어떤 순서와 조건으로 수행하는지 매뉴얼에서 읽고, 그 절차를 지식 그래프에 연결하는 데까지 가요. 가운데 세 단원은 판단 규칙의 표준인 DMN이에요. 매뉴얼의 조건 문장을 결정표로 옮기고, 실제 값에 대어 판정해 보고, 여러 결정이 이어지는 흐름과 그 저장 구조까지 봅니다. 뒤의 세 단원은 성과를 여러 관점에서 보는 틀, BSC고요. 성과 목표와 지표를 정하고, 지표 사이의 영향을 따라간 다음, 쿨러 사건의 실제 후보를 견주고 가정을 바꿔서 다시 계산해 봅니다. 이 세 가지가 이어지면 추천의 이유를 말할 수 있게 됩니다. 매뉴얼에 있는 조치이고, 지금 조건에서 허용되고, 다른 후보보다 이런 점이 낫다, 이렇게요. 마지막 줄의 실습도 같은 흐름이에요. 조치 결과를 비교하고, 조치 기준을 만들고, 판단 기능을 만들어 시험합니다. 이번 시간에는 앞의 두 단원을 다룹니다. 첫 번째 물음, 조치를 어떻게 수행하는지를 매뉴얼의 절차로 읽고, 그 절차를 지식 그래프와 실행에 잇는 구조까지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작업 절차와 수행 조건입니다. 조치를 한다고 하면 보통 동작 하나를 떠올리죠. 그런데 그 안에는 순서와 확인이 같이 들어 있어요. 팬을 올리기 전에는 뭘 확인해야 할까요? 올린 뒤에는 뭘 보고 작업이 끝났다고 판단할까요? 그리고 같은 조치를 지금 해도 되는지는 뭐가 정할까요?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두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회차의 두 번째 물음, 이 조치를 지금 해도 되는지를 다룹니다. 앞 시간에는 조치를 어떤 절차로 수행하는지를 매뉴얼에서 읽고 지식 그래프에 이었죠. 이번 시간에는 매뉴얼의 조건 문장을 결정표로 바꾸고, 실제 값에 대어 판정해 보고, 여러 판단이 이어지는 흐름과 그 저장 구조까지 봅니다. 먼저 세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네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다섯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번째 물음, 규칙을 통과한 후보 가운데 무엇이 더 나은지를 다룹니다. 앞에서 지금 해도 되는 조치를 결정표로 가렸죠. 이어서 성과 목표와 지표를 세우고, 지표 사이의 영향을 따라간 다음, 쿨러 사건의 실제 후보를 견주고 가정을 바꿔 다시 계산해 봅니다. 끝에서는 이 내용을 직접 확인하고 구현할 세 실습의 목표와 결과물도 살펴봅니다. 먼저 여섯 번째 단원에서 조치의 효과를 성과로 평가하는 기준을 세웁니다. 규칙을 통과한 후보가 여럿 남았다면, 뭘 기준으로 견줘야 할까요? 온도를 잘 낮추는 것도 중요하죠. 그런데 생산과 납기, 비용도 같이 달라집니다. 뭘 좋은 결과로 볼지, 그걸 어떤 지표로 잴지부터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하나하나는 이렇게 정의했는데, 지표들이 서로 따로 움직이지는 않습니다. 일곱 번째 단원은 전략맵과 지표 사이의 영향 관계입니다. 펌프 부하를 낮추는 조치는 냉각에만 영향을 줄까요? 아니면 생산과 납기까지 이어질까요? 지표 하나가 움직이면 어느 목표까지 닿는지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목표와 지표, 그 사이를 잇는 길까지 갖췄으니 쿨러 사건의 네 후보로 다시 돌아옵니다. 마지막 이론 단원은 조치의 상충과 What-if 분석입니다. 네 후보 가운데 뭐가 더 나을까요? 같은 조치가 냉각에는 도움이 되고 생산에는 부담이 될 때 그 득실을 어떻게 견줄지, 그리고 가정이 달라지면 선택도 달라지는지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바꾸면 규칙이 새로 맞기도 하고, 점수 성분이 움직이기도 한다는 걸 앞에서 표로 읽어 봤죠. 이제 그걸 직접 해 볼 차례입니다. 첫 번째 실습은 운전 조건과 성과 기준에 따른 조치 결과 비교예요. 같은 쿨러 사건에 운전 조건이나 성과 기준을 하나씩 바꿔 넣고, 바꾸기 전과 후의 판단 결과를 견줍니다. 순위만 적는 게 목표가 아니에요. 어느 규칙이나 점수 성분 때문에 결과가 달라졌는지 설명하는 게 목표입니다. 화면 표 첫 줄의 운전 조건은 조치를 할 수 있는지에 영향을 줍니다. 운전 모드, 설비 상태, 팬 연속 운전 시간 가운데 하나를 바꿔요. 실습 화면의 입력칸에는 팬 100퍼센트 누적이라고 적혀 있지만, 앞에서 본 대로 지금 이어지고 있는 연속 운전 시간입니다. 둘째 줄의 납기나 감점 기준, 관점 중요도는 후보의 득실에 영향을 줄 수 있고요. 셋째 줄 KPI 목표를 바꿀 때는 실제값이 바뀌는 건지, 달성 판정만 바뀌는 건지도 구분해 보세요. 남길 것은 비교 기록입니다. 원래 입력과 바꾼 조건, 결과, 그리고 근거가 된 규칙이나 점수 성분을 적어요. 집계 비교에는 앞에서 본 설비별 온도 여유 기록을 사용합니다. 같은 기록으로 평균과 최솟값을 직접 구하고, 한계에 가까운 설비를 찾을 때 어느 값을 쓸지 골라 보세요. 계산 결과와 고른 까닭이 같이 있어야 합니다. 범위도 분명히 해 둘게요. 바꿔 넣는 값은 모두 시험용 사본에만 들어갑니다. 설비 명령이 나가거나, 원본 업무 데이터와 KPI 정의가 바뀌지는 않아요. 표의 오른쪽 칸이 성공 기준입니다. 바꾼 조건과 달라진 결과를 규칙이나 성분으로 이을 수 있고, 집계 방식을 고른 이유가 계산과 맞으면 됩니다. 첫 실습에서는 이렇게 만들어진 판단을 비교해 볼 겁니다. 이어지는 두 실습에서는 그 판단에 쓰이는 자료와 기능을 직접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작업 절차와 판단 조건을 연결해 조치 기준을 만드는 활동입니다. 첫 실습에서 비교할 결과 뒤에는 절차와 규칙이 들어 있죠. 그 판단의 재료를 직접 만들어 보는 겁니다. 이론에서 SOP가 조치 방법과 단계로, 조건 문장이 결정표의 행으로 옮겨지는 걸 봤는데, 이제 매뉴얼 문장을 직접 읽고 수행 단계와 조건을 나눈 다음 설비 모델에 연결할 자료로 만드는 거예요. 입력은 설비 모델과, 작업 조건이 정리된 실습용 SOP 자료입니다. 먼저 어떤 대상을 다시 쓰고, 어떤 절차를 새로 연결할지 확인하세요. 같은 설비나 고장 유형을 다른 이름으로 또 만들지 않도록 기존 식별자를 씁니다. 원문 문서에서 지식을 자동으로 뽑아내는 일은 이 실습의 범위가 아니에요. 자료는 바이브 코딩으로 만들어요. 만들 내용을 말로 요청하고, 생성된 구조를 원문과 대조하면서 고칩니다. 단계의 순서와 근거 문장은 남기고, 적용 조건과 금지 조건, 완료 기준은 따로 구분해요. 조건은 입력과 연산자, 기준값, 출력으로 옮기고요. 남는 것은 절차 구조와 결정표 자료 두 가지입니다. 성공 기준은 원문과 나란히 놓았을 때 맞아떨어지는 거예요. ‘이상’과 ‘초과’가 맞는지, 금지 조건이나 완료 기준이 빠지지 않았는지, 원문 문장 하나가 구조의 어디에 들어갔는지를 짚을 수 있어야 합니다. 원문에서 구조를 거쳐 판정 결과까지 이어서 설명할 수 있으면 목표를 이룬 거예요. 이렇게 만든 절차와 결정표 자료를 다음 실습의 판정 기능에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두 번째 실습에서 만들 결정표를 읽고, 설비 조건에 따라 조치를 비교하는 기능을 만듭니다. 결정표로 후보를 가르고, 제공된 효과와 비용으로 남은 후보를 비교해서, 설비 조건별로 조치를 견주는 거예요. 이것도 바이브 코딩으로 구현합니다. 만든 기능에는 화면 표에 있는 입력들을 넣어 봅니다. 정상 조건, 경계값, 여러 규칙이 함께 맞는 입력, 쓸 조치가 없는 입력이에요. 결과가 잘 나오는 입력 하나만 보는 게 아니라, 판정이 갈리는 경우까지 시험하는 겁니다. 후보와 선택 이유가 나오는지, 맞은 감점과 경고를 빠뜨리지 않는지, 후보가 없을 때 추천 없음으로 표시하는지 봐요. 경계값 줄에서는 정확히 24시간에는 감점이 없고, 그 바로 위에서만 감점이 붙어야 합니다. 화면 아래쪽에서는 규칙이 어느 조치에 적용되는지 확인합니다. 팬 수명 감점은 팬을 최대로 올리는 조치에만 붙어야 해요. 비교식과 감점액이 맞아도 적용 대상이 틀릴 수 있으므로, 팬을 그대로 두는 조치도 함께 봅니다. 이 차이를 확인할 시험은 제가 직접 만들어 보겠습니다. 팬 연속 운전이 제한을 넘은 입력에서, 팬을 최대로 올리는 조치와 팬을 그대로 두는 조치를 비교합니다. 먼저 각각 감점이 붙어야 하는지 기대 결과부터 적어요. 실행 결과가 기대와 다르면 적용 대상을 고치고 같은 시험을 다시 돌립니다. 기준 시간을 바꿔서 결과만 맞추는 게 아니에요. 원문이 정한 조치에만 규칙이 적용되도록 고치는 겁니다. 남길 것은 입력과 기대 결과, 실제 출력과 대조 근거입니다. 차이가 있으면 원인을 고치고 같은 입력으로 다시 확인해요. 처음부터 일치했다면 그 근거를 남깁니다. 원문이 정한 대상에만 감점이 붙고, 경계값과 누락 입력의 처리도 기준에 맞아야 합니다. 세 실습은 판단 결과를 비교하는 데서 시작해서, 그 판단의 기준을 만들고, 기준대로 동작하는지 시험하는 순서입니다. 이제 첫 활동인 조치 결과 비교부터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퀴즈로 넘어갑니다. 배운 걸 판단에 쓸 수 있는지 세 문제로 확인해 볼게요. 문제마다 뭘 먼저 검사해야 하는지 생각하고 답을 골라 보세요. 정답과 까닭은 세 문제를 다 푼 다음에 같이 확인합니다.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여러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치연결_그래프.svg" descr="illust_510310497367005150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시각부터 납기 일시까지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48011805103623975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br/>
            <a:r>
              <a:rPr sz="1600" b="1">
                <a:solidFill>
                  <a:srgbClr val="13294B"/>
                </a:solidFill>
                <a:latin typeface="맑은 고딕"/>
                <a:ea typeface="맑은 고딕"/>
                <a:cs typeface="맑은 고딕"/>
              </a:rPr>
              <a:t>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a:r>
            <a:br/>
            <a:r>
              <a:rPr sz="1600" b="1">
                <a:solidFill>
                  <a:srgbClr val="13294B"/>
                </a:solidFill>
                <a:latin typeface="맑은 고딕"/>
                <a:ea typeface="맑은 고딕"/>
                <a:cs typeface="맑은 고딕"/>
              </a:rPr>
              <a:t>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점수로 되살리지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br/>
            <a:r>
              <a:rPr sz="1600" b="1">
                <a:solidFill>
                  <a:srgbClr val="13294B"/>
                </a:solidFill>
                <a:latin typeface="맑은 고딕"/>
                <a:ea typeface="맑은 고딕"/>
                <a:cs typeface="맑은 고딕"/>
              </a:rPr>
              <a:t>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br/>
            <a:r>
              <a:rPr sz="1600" b="1">
                <a:solidFill>
                  <a:srgbClr val="13294B"/>
                </a:solidFill>
                <a:latin typeface="맑은 고딕"/>
                <a:ea typeface="맑은 고딕"/>
                <a:cs typeface="맑은 고딕"/>
              </a:rPr>
              <a:t>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a:t>
            </a:r>
            <a:br/>
            <a:r>
              <a:rPr sz="1600" b="1">
                <a:solidFill>
                  <a:srgbClr val="13294B"/>
                </a:solidFill>
                <a:latin typeface="맑은 고딕"/>
                <a:ea typeface="맑은 고딕"/>
                <a:cs typeface="맑은 고딕"/>
              </a:rPr>
              <a:t>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48374836675231187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BSC(Balanced Scorecard)는 네 관점마다 목표와 지표를 두는 균형 성과표다.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재무(Financial)</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결과가 돈으로 어떻게 나타나는가</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영업이익 확대 · 원가 절감</a:t>
            </a:r>
          </a:p>
        </p:txBody>
      </p:sp>
      <p:sp>
        <p:nvSpPr>
          <p:cNvPr id="10" name="TextBox 9"/>
          <p:cNvSpPr txBox="1"/>
          <p:nvPr/>
        </p:nvSpPr>
        <p:spPr>
          <a:xfrm>
            <a:off x="758952" y="341071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재무 숫자는 일이 끝난 뒤에 나온다</a:t>
            </a:r>
          </a:p>
        </p:txBody>
      </p:sp>
      <p:sp>
        <p:nvSpPr>
          <p:cNvPr id="11" name="Rounded Rectangle 10"/>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고객(Customer)</a:t>
            </a:r>
          </a:p>
        </p:txBody>
      </p:sp>
      <p:sp>
        <p:nvSpPr>
          <p:cNvPr id="13" name="TextBox 12"/>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고객에게 무엇을 지키는가</a:t>
            </a:r>
          </a:p>
        </p:txBody>
      </p:sp>
      <p:sp>
        <p:nvSpPr>
          <p:cNvPr id="14" name="TextBox 13"/>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납기 신뢰 · 품질 신뢰</a:t>
            </a:r>
          </a:p>
        </p:txBody>
      </p:sp>
      <p:sp>
        <p:nvSpPr>
          <p:cNvPr id="15" name="Rounded Rectangle 14"/>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6" name="TextBox 15"/>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내부 프로세스(Internal Process)</a:t>
            </a:r>
          </a:p>
        </p:txBody>
      </p:sp>
      <p:sp>
        <p:nvSpPr>
          <p:cNvPr id="17" name="TextBox 16"/>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잘 운영해야 하는가</a:t>
            </a:r>
          </a:p>
        </p:txBody>
      </p:sp>
      <p:sp>
        <p:nvSpPr>
          <p:cNvPr id="18" name="TextBox 17"/>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설비 가용성 확보 · 무재해 운전 · 에너지 효율</a:t>
            </a:r>
          </a:p>
        </p:txBody>
      </p:sp>
      <p:sp>
        <p:nvSpPr>
          <p:cNvPr id="19" name="TextBox 18"/>
          <p:cNvSpPr txBox="1"/>
          <p:nvPr/>
        </p:nvSpPr>
        <p:spPr>
          <a:xfrm>
            <a:off x="758952" y="574243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쿨러 사건의 유온 관리가 여기에 놓인다</a:t>
            </a:r>
          </a:p>
        </p:txBody>
      </p:sp>
      <p:sp>
        <p:nvSpPr>
          <p:cNvPr id="20" name="Rounded Rectangle 19"/>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학습과 성장(Learning and Growth)</a:t>
            </a:r>
          </a:p>
        </p:txBody>
      </p:sp>
      <p:sp>
        <p:nvSpPr>
          <p:cNvPr id="22" name="TextBox 21"/>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쌓아야 계속 나아지는가</a:t>
            </a:r>
          </a:p>
        </p:txBody>
      </p:sp>
      <p:sp>
        <p:nvSpPr>
          <p:cNvPr id="23" name="TextBox 22"/>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TextBox 5"/>
          <p:cNvSpPr txBox="1"/>
          <p:nvPr/>
        </p:nvSpPr>
        <p:spPr>
          <a:xfrm>
            <a:off x="777240" y="1783080"/>
            <a:ext cx="10698480" cy="548640"/>
          </a:xfrm>
          <a:prstGeom prst="rect">
            <a:avLst/>
          </a:prstGeom>
          <a:noFill/>
        </p:spPr>
        <p:txBody>
          <a:bodyPr wrap="square" anchor="t"/>
          <a:lstStyle/>
          <a:p>
            <a:pPr algn="l" eaLnBrk="0">
              <a:lnSpc>
                <a:spcPct val="110000"/>
              </a:lnSpc>
            </a:pPr>
            <a:r>
              <a:rPr sz="2700" b="1">
                <a:solidFill>
                  <a:srgbClr val="13294B"/>
                </a:solidFill>
                <a:latin typeface="맑은 고딕"/>
                <a:ea typeface="맑은 고딕"/>
                <a:cs typeface="맑은 고딕"/>
              </a:rPr>
              <a:t>유온 한계 65 ℃ - 기간 최고 유온</a:t>
            </a:r>
          </a:p>
        </p:txBody>
      </p:sp>
      <p:sp>
        <p:nvSpPr>
          <p:cNvPr id="7" name="TextBox 6"/>
          <p:cNvSpPr txBox="1"/>
          <p:nvPr/>
        </p:nvSpPr>
        <p:spPr>
          <a:xfrm>
            <a:off x="777240" y="2423160"/>
            <a:ext cx="10698480"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설비 중 가장 작은 여유 · 한계까지 남은 온도 차</a:t>
            </a:r>
          </a:p>
        </p:txBody>
      </p:sp>
      <p:sp>
        <p:nvSpPr>
          <p:cNvPr id="8" name="TextBox 7"/>
          <p:cNvSpPr txBox="1"/>
          <p:nvPr/>
        </p:nvSpPr>
        <p:spPr>
          <a:xfrm>
            <a:off x="777240" y="2962656"/>
            <a:ext cx="10698480" cy="45720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 · UP(클수록 좋다)</a:t>
            </a:r>
          </a:p>
        </p:txBody>
      </p:sp>
      <p:sp>
        <p:nvSpPr>
          <p:cNvPr id="9" name="Rectangle 8"/>
          <p:cNvSpPr/>
          <p:nvPr/>
        </p:nvSpPr>
        <p:spPr>
          <a:xfrm>
            <a:off x="1188720" y="3931920"/>
            <a:ext cx="9601200" cy="32004"/>
          </a:xfrm>
          <a:prstGeom prst="rect">
            <a:avLst/>
          </a:prstGeom>
          <a:solidFill>
            <a:srgbClr val="13294B"/>
          </a:solidFill>
          <a:ln>
            <a:noFill/>
          </a:ln>
        </p:spPr>
        <p:txBody>
          <a:bodyPr rtlCol="0" anchor="ctr"/>
          <a:lstStyle/>
          <a:p>
            <a:pPr algn="ctr"/>
          </a:p>
        </p:txBody>
      </p:sp>
      <p:sp>
        <p:nvSpPr>
          <p:cNvPr id="10" name="Rectangle 9"/>
          <p:cNvSpPr/>
          <p:nvPr/>
        </p:nvSpPr>
        <p:spPr>
          <a:xfrm>
            <a:off x="2194560" y="3794760"/>
            <a:ext cx="22860" cy="301752"/>
          </a:xfrm>
          <a:prstGeom prst="rect">
            <a:avLst/>
          </a:prstGeom>
          <a:solidFill>
            <a:srgbClr val="1A6FC4"/>
          </a:solidFill>
          <a:ln>
            <a:noFill/>
          </a:ln>
        </p:spPr>
        <p:txBody>
          <a:bodyPr rtlCol="0" anchor="ctr"/>
          <a:lstStyle/>
          <a:p>
            <a:pPr algn="ctr"/>
          </a:p>
        </p:txBody>
      </p:sp>
      <p:sp>
        <p:nvSpPr>
          <p:cNvPr id="11" name="TextBox 10"/>
          <p:cNvSpPr txBox="1"/>
          <p:nvPr/>
        </p:nvSpPr>
        <p:spPr>
          <a:xfrm>
            <a:off x="6858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위험 기준 0 ℃</a:t>
            </a:r>
          </a:p>
        </p:txBody>
      </p:sp>
      <p:sp>
        <p:nvSpPr>
          <p:cNvPr id="12" name="TextBox 11"/>
          <p:cNvSpPr txBox="1"/>
          <p:nvPr/>
        </p:nvSpPr>
        <p:spPr>
          <a:xfrm>
            <a:off x="6858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한계에 닿는 수준</a:t>
            </a:r>
          </a:p>
        </p:txBody>
      </p:sp>
      <p:sp>
        <p:nvSpPr>
          <p:cNvPr id="13" name="Rectangle 12"/>
          <p:cNvSpPr/>
          <p:nvPr/>
        </p:nvSpPr>
        <p:spPr>
          <a:xfrm>
            <a:off x="6080760" y="3794760"/>
            <a:ext cx="22860" cy="301752"/>
          </a:xfrm>
          <a:prstGeom prst="rect">
            <a:avLst/>
          </a:prstGeom>
          <a:solidFill>
            <a:srgbClr val="1A6FC4"/>
          </a:solidFill>
          <a:ln>
            <a:noFill/>
          </a:ln>
        </p:spPr>
        <p:txBody>
          <a:bodyPr rtlCol="0" anchor="ctr"/>
          <a:lstStyle/>
          <a:p>
            <a:pPr algn="ctr"/>
          </a:p>
        </p:txBody>
      </p:sp>
      <p:sp>
        <p:nvSpPr>
          <p:cNvPr id="14" name="TextBox 13"/>
          <p:cNvSpPr txBox="1"/>
          <p:nvPr/>
        </p:nvSpPr>
        <p:spPr>
          <a:xfrm>
            <a:off x="45720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경고 기준 5 ℃</a:t>
            </a:r>
          </a:p>
        </p:txBody>
      </p:sp>
      <p:sp>
        <p:nvSpPr>
          <p:cNvPr id="15" name="TextBox 14"/>
          <p:cNvSpPr txBox="1"/>
          <p:nvPr/>
        </p:nvSpPr>
        <p:spPr>
          <a:xfrm>
            <a:off x="45720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주의할 수준</a:t>
            </a:r>
          </a:p>
        </p:txBody>
      </p:sp>
      <p:sp>
        <p:nvSpPr>
          <p:cNvPr id="16" name="Rectangle 15"/>
          <p:cNvSpPr/>
          <p:nvPr/>
        </p:nvSpPr>
        <p:spPr>
          <a:xfrm>
            <a:off x="9966960" y="3794760"/>
            <a:ext cx="22860" cy="301752"/>
          </a:xfrm>
          <a:prstGeom prst="rect">
            <a:avLst/>
          </a:prstGeom>
          <a:solidFill>
            <a:srgbClr val="1A6FC4"/>
          </a:solidFill>
          <a:ln>
            <a:noFill/>
          </a:ln>
        </p:spPr>
        <p:txBody>
          <a:bodyPr rtlCol="0" anchor="ctr"/>
          <a:lstStyle/>
          <a:p>
            <a:pPr algn="ctr"/>
          </a:p>
        </p:txBody>
      </p:sp>
      <p:sp>
        <p:nvSpPr>
          <p:cNvPr id="17" name="TextBox 16"/>
          <p:cNvSpPr txBox="1"/>
          <p:nvPr/>
        </p:nvSpPr>
        <p:spPr>
          <a:xfrm>
            <a:off x="84582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목표 10 ℃</a:t>
            </a:r>
          </a:p>
        </p:txBody>
      </p:sp>
      <p:sp>
        <p:nvSpPr>
          <p:cNvPr id="18" name="TextBox 17"/>
          <p:cNvSpPr txBox="1"/>
          <p:nvPr/>
        </p:nvSpPr>
        <p:spPr>
          <a:xfrm>
            <a:off x="84582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기간 최고 유온 55 ℃ 이하에 해당</a:t>
            </a:r>
          </a:p>
        </p:txBody>
      </p:sp>
      <p:sp>
        <p:nvSpPr>
          <p:cNvPr id="19" name="TextBox 18"/>
          <p:cNvSpPr txBox="1"/>
          <p:nvPr/>
        </p:nvSpPr>
        <p:spPr>
          <a:xfrm>
            <a:off x="777240" y="5532120"/>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비용 지표는 DOWN(작을수록 좋다) · 숫자의 크기와 좋고 나쁨을 구별</a:t>
            </a:r>
          </a:p>
        </p:txBody>
      </p:sp>
      <p:sp>
        <p:nvSpPr>
          <p:cNvPr id="20" name="TextBox 19"/>
          <p:cNvSpPr txBox="1"/>
          <p:nvPr/>
        </p:nvSpPr>
        <p:spPr>
          <a:xfrm>
            <a:off x="777240" y="6007608"/>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주기 · 책임 부서: 실시간 · 생산팀 · 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기간의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24시간의 계산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목표와 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유온 62.47 = 2.53 ℃</a:t>
            </a:r>
          </a:p>
          <a:p>
            <a:pPr algn="l" eaLnBrk="0">
              <a:lnSpc>
                <a:spcPct val="110000"/>
              </a:lnSpc>
            </a:pPr>
            <a:r>
              <a:rPr sz="1400" b="0">
                <a:solidFill>
                  <a:srgbClr val="1F2A3A"/>
                </a:solidFill>
                <a:latin typeface="맑은 고딕"/>
                <a:ea typeface="맑은 고딕"/>
                <a:cs typeface="맑은 고딕"/>
              </a:rPr>
              <a:t>설비별 여유: HYD-01 2.53 · HYD-02 16.72 · HYD-03 14.55 ℃</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 미달</a:t>
            </a:r>
          </a:p>
          <a:p>
            <a:pPr algn="l" eaLnBrk="0">
              <a:lnSpc>
                <a:spcPct val="110000"/>
              </a:lnSpc>
            </a:pPr>
            <a:r>
              <a:rPr sz="1250" b="1">
                <a:solidFill>
                  <a:srgbClr val="1A6FC4"/>
                </a:solidFill>
                <a:latin typeface="맑은 고딕"/>
                <a:ea typeface="맑은 고딕"/>
                <a:cs typeface="맑은 고딕"/>
              </a:rPr>
              <a:t>부족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a:t>
            </a:r>
          </a:p>
          <a:p>
            <a:pPr algn="l" eaLnBrk="0">
              <a:lnSpc>
                <a:spcPct val="110000"/>
              </a:lnSpc>
            </a:pPr>
            <a:r>
              <a:rPr sz="1400" b="0">
                <a:solidFill>
                  <a:srgbClr val="1F2A3A"/>
                </a:solidFill>
                <a:latin typeface="맑은 고딕"/>
                <a:ea typeface="맑은 고딕"/>
                <a:cs typeface="맑은 고딕"/>
              </a:rPr>
              <a:t>실적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두 결과의 해석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보호 정지는 없었으나 유온이 한계에 가까워졌다</a:t>
            </a:r>
          </a:p>
          <a:p>
            <a:pPr algn="l" eaLnBrk="0">
              <a:lnSpc>
                <a:spcPct val="110000"/>
              </a:lnSpc>
            </a:pPr>
            <a:r>
              <a:rPr sz="1400" b="0">
                <a:solidFill>
                  <a:srgbClr val="1F2A3A"/>
                </a:solidFill>
                <a:latin typeface="맑은 고딕"/>
                <a:ea typeface="맑은 고딕"/>
                <a:cs typeface="맑은 고딕"/>
              </a:rPr>
              <a:t>측정 기간과 지표 정의를 맞춰 함께 읽는다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가동 여부와</a:t>
            </a:r>
          </a:p>
          <a:p>
            <a:pPr algn="l" eaLnBrk="0">
              <a:lnSpc>
                <a:spcPct val="110000"/>
              </a:lnSpc>
            </a:pPr>
            <a:r>
              <a:rPr sz="1250" b="1">
                <a:solidFill>
                  <a:srgbClr val="556175"/>
                </a:solidFill>
                <a:latin typeface="맑은 고딕"/>
                <a:ea typeface="맑은 고딕"/>
                <a:cs typeface="맑은 고딕"/>
              </a:rPr>
              <a:t>온도 여유를 구별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평균(Mean)</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합을 대상 수로 나눈 값</a:t>
            </a:r>
          </a:p>
          <a:p>
            <a:pPr algn="l" eaLnBrk="0" marL="200025" indent="-200025">
              <a:lnSpc>
                <a:spcPct val="110000"/>
              </a:lnSpc>
              <a:spcAft>
                <a:spcPts val="600"/>
              </a:spcAft>
            </a:pPr>
            <a:r>
              <a:rPr sz="1750" b="0">
                <a:solidFill>
                  <a:srgbClr val="1F2A3A"/>
                </a:solidFill>
                <a:latin typeface="맑은 고딕"/>
                <a:ea typeface="맑은 고딕"/>
                <a:cs typeface="맑은 고딕"/>
              </a:rPr>
              <a:t>• 설비별 여유: 2.53 · 16.72 · 14.55 ℃</a:t>
            </a:r>
          </a:p>
          <a:p>
            <a:pPr algn="l" eaLnBrk="0" marL="200025" indent="-200025">
              <a:lnSpc>
                <a:spcPct val="110000"/>
              </a:lnSpc>
              <a:spcAft>
                <a:spcPts val="600"/>
              </a:spcAft>
            </a:pPr>
            <a:r>
              <a:rPr sz="1750" b="0">
                <a:solidFill>
                  <a:srgbClr val="1F2A3A"/>
                </a:solidFill>
                <a:latin typeface="맑은 고딕"/>
                <a:ea typeface="맑은 고딕"/>
                <a:cs typeface="맑은 고딕"/>
              </a:rPr>
              <a:t>• (2.53 + 16.72 + 14.55) ÷ 3 = 11.27 ℃</a:t>
            </a:r>
          </a:p>
          <a:p>
            <a:pPr algn="l" eaLnBrk="0" marL="200025" indent="-200025">
              <a:lnSpc>
                <a:spcPct val="110000"/>
              </a:lnSpc>
              <a:spcAft>
                <a:spcPts val="600"/>
              </a:spcAft>
            </a:pPr>
            <a:r>
              <a:rPr sz="1750" b="0">
                <a:solidFill>
                  <a:srgbClr val="1F2A3A"/>
                </a:solidFill>
                <a:latin typeface="맑은 고딕"/>
                <a:ea typeface="맑은 고딕"/>
                <a:cs typeface="맑은 고딕"/>
              </a:rPr>
              <a:t>• 전체 수준을 요약한 비교 계산</a:t>
            </a:r>
          </a:p>
        </p:txBody>
      </p:sp>
      <p:sp>
        <p:nvSpPr>
          <p:cNvPr id="9" name="Rounded Rectangle 8"/>
          <p:cNvSpPr/>
          <p:nvPr/>
        </p:nvSpPr>
        <p:spPr>
          <a:xfrm>
            <a:off x="868680" y="5188966"/>
            <a:ext cx="252983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2529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 설비의 작은 여유가 가려진다</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최솟값(Minimum)</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대상 중 가장 작은 값</a:t>
            </a:r>
          </a:p>
          <a:p>
            <a:pPr algn="l" eaLnBrk="0" marL="200025" indent="-200025">
              <a:lnSpc>
                <a:spcPct val="110000"/>
              </a:lnSpc>
              <a:spcAft>
                <a:spcPts val="600"/>
              </a:spcAft>
            </a:pPr>
            <a:r>
              <a:rPr sz="1750" b="0">
                <a:solidFill>
                  <a:srgbClr val="1F2A3A"/>
                </a:solidFill>
                <a:latin typeface="맑은 고딕"/>
                <a:ea typeface="맑은 고딕"/>
                <a:cs typeface="맑은 고딕"/>
              </a:rPr>
              <a:t>• HYD-01의 여유: 2.53 ℃</a:t>
            </a:r>
          </a:p>
          <a:p>
            <a:pPr algn="l" eaLnBrk="0" marL="200025" indent="-200025">
              <a:lnSpc>
                <a:spcPct val="110000"/>
              </a:lnSpc>
              <a:spcAft>
                <a:spcPts val="600"/>
              </a:spcAft>
            </a:pPr>
            <a:r>
              <a:rPr sz="1750" b="0">
                <a:solidFill>
                  <a:srgbClr val="1F2A3A"/>
                </a:solidFill>
                <a:latin typeface="맑은 고딕"/>
                <a:ea typeface="맑은 고딕"/>
                <a:cs typeface="맑은 고딕"/>
              </a:rPr>
              <a:t>• 인터록 여유 목표: 10 ℃ → 미달</a:t>
            </a:r>
          </a:p>
          <a:p>
            <a:pPr algn="l" eaLnBrk="0" marL="200025" indent="-200025">
              <a:lnSpc>
                <a:spcPct val="110000"/>
              </a:lnSpc>
              <a:spcAft>
                <a:spcPts val="600"/>
              </a:spcAft>
            </a:pPr>
            <a:r>
              <a:rPr sz="1750" b="0">
                <a:solidFill>
                  <a:srgbClr val="1F2A3A"/>
                </a:solidFill>
                <a:latin typeface="맑은 고딕"/>
                <a:ea typeface="맑은 고딕"/>
                <a:cs typeface="맑은 고딕"/>
              </a:rPr>
              <a:t>• 시스템은 최솟값을 KPI 실적으로 쓴다</a:t>
            </a:r>
          </a:p>
        </p:txBody>
      </p:sp>
      <p:sp>
        <p:nvSpPr>
          <p:cNvPr id="14" name="Rounded Rectangle 13"/>
          <p:cNvSpPr/>
          <p:nvPr/>
        </p:nvSpPr>
        <p:spPr>
          <a:xfrm>
            <a:off x="6781647" y="5188966"/>
            <a:ext cx="237743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23774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한계에 가장 가까운 설비 확인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전략맵_그래프.svg" descr="illust_383346322873534536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선행후행_경로.svg" descr="illust_609034427526074658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조건부영향.svg" descr="illust_7709964049333854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성과경로_6.svg" descr="illust_812371782089930562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가정분석_3.svg" descr="illust_528638275483159826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비교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팬 연속 시간 중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적용 규칙과</a:t>
            </a:r>
          </a:p>
          <a:p>
            <a:pPr algn="l" eaLnBrk="0">
              <a:lnSpc>
                <a:spcPct val="110000"/>
              </a:lnSpc>
            </a:pPr>
            <a:r>
              <a:rPr sz="1250" b="1">
                <a:solidFill>
                  <a:srgbClr val="556175"/>
                </a:solidFill>
                <a:latin typeface="맑은 고딕"/>
                <a:ea typeface="맑은 고딕"/>
                <a:cs typeface="맑은 고딕"/>
              </a:rPr>
              <a:t>후보 유지·제외를 연결</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손익 · What-if</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 감점 기준 · 관점 중요도를 시험한다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성분 변화로</a:t>
            </a:r>
          </a:p>
          <a:p>
            <a:pPr algn="l" eaLnBrk="0">
              <a:lnSpc>
                <a:spcPct val="110000"/>
              </a:lnSpc>
            </a:pPr>
            <a:r>
              <a:rPr sz="1250" b="1">
                <a:solidFill>
                  <a:srgbClr val="556175"/>
                </a:solidFill>
                <a:latin typeface="맑은 고딕"/>
                <a:ea typeface="맑은 고딕"/>
                <a:cs typeface="맑은 고딕"/>
              </a:rPr>
              <a:t>순위와 손익을 설명</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 · 집계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실제값에 시험 목표를 대조한다</a:t>
            </a:r>
          </a:p>
          <a:p>
            <a:pPr algn="l" eaLnBrk="0">
              <a:lnSpc>
                <a:spcPct val="110000"/>
              </a:lnSpc>
            </a:pPr>
            <a:r>
              <a:rPr sz="1400" b="0">
                <a:solidFill>
                  <a:srgbClr val="1F2A3A"/>
                </a:solidFill>
                <a:latin typeface="맑은 고딕"/>
                <a:ea typeface="맑은 고딕"/>
                <a:cs typeface="맑은 고딕"/>
              </a:rPr>
              <a:t>설비별 여유의 평균과 최솟값을 계산한다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목표 변경과 집계를 구별</a:t>
            </a:r>
          </a:p>
          <a:p>
            <a:pPr algn="l" eaLnBrk="0">
              <a:lnSpc>
                <a:spcPct val="110000"/>
              </a:lnSpc>
            </a:pPr>
            <a:r>
              <a:rPr sz="1200" b="1">
                <a:solidFill>
                  <a:srgbClr val="556175"/>
                </a:solidFill>
                <a:latin typeface="맑은 고딕"/>
                <a:ea typeface="맑은 고딕"/>
                <a:cs typeface="맑은 고딕"/>
              </a:rPr>
              <a:t>안전 판단의 값과 이유 선택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비교 기록 · 완성본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결과 · 근거와 집계 선택을 기록한다</a:t>
            </a:r>
          </a:p>
          <a:p>
            <a:pPr algn="l" eaLnBrk="0">
              <a:lnSpc>
                <a:spcPct val="110000"/>
              </a:lnSpc>
            </a:pPr>
            <a:r>
              <a:rPr sz="1400" b="0">
                <a:solidFill>
                  <a:srgbClr val="1F2A3A"/>
                </a:solidFill>
                <a:latin typeface="맑은 고딕"/>
                <a:ea typeface="맑은 고딕"/>
                <a:cs typeface="맑은 고딕"/>
              </a:rPr>
              <a:t>시험값은 사본에만: 설비 명령 · 원본은 그대로</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원본과 출처 보존</a:t>
            </a:r>
          </a:p>
          <a:p>
            <a:pPr algn="l" eaLnBrk="0">
              <a:lnSpc>
                <a:spcPct val="110000"/>
              </a:lnSpc>
            </a:pPr>
            <a:r>
              <a:rPr sz="1250" b="1">
                <a:solidFill>
                  <a:srgbClr val="1A6FC4"/>
                </a:solidFill>
                <a:latin typeface="맑은 고딕"/>
                <a:ea typeface="맑은 고딕"/>
                <a:cs typeface="맑은 고딕"/>
              </a:rPr>
              <a:t>계산과 선택 이유가 일치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산출물</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리뷰 · 완성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모델 · SOP 자료</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바이브 코딩으로 자료를 만든다</a:t>
            </a:r>
          </a:p>
          <a:p>
            <a:pPr algn="l" eaLnBrk="0">
              <a:lnSpc>
                <a:spcPct val="110000"/>
              </a:lnSpc>
            </a:pPr>
            <a:r>
              <a:rPr sz="1400" b="0">
                <a:solidFill>
                  <a:srgbClr val="1F2A3A"/>
                </a:solidFill>
                <a:latin typeface="맑은 고딕"/>
                <a:ea typeface="맑은 고딕"/>
                <a:cs typeface="맑은 고딕"/>
              </a:rPr>
              <a:t>기존 식별자와 고장 유형을 재사용한다</a:t>
            </a:r>
          </a:p>
          <a:p>
            <a:pPr algn="l" eaLnBrk="0">
              <a:lnSpc>
                <a:spcPct val="110000"/>
              </a:lnSpc>
            </a:pPr>
            <a:r>
              <a:rPr sz="1400" b="0">
                <a:solidFill>
                  <a:srgbClr val="1F2A3A"/>
                </a:solidFill>
                <a:latin typeface="맑은 고딕"/>
                <a:ea typeface="맑은 고딕"/>
                <a:cs typeface="맑은 고딕"/>
              </a:rPr>
              <a:t>원문 자동 추출은 만들지 않는다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대상을</a:t>
            </a:r>
          </a:p>
          <a:p>
            <a:pPr algn="l" eaLnBrk="0">
              <a:lnSpc>
                <a:spcPct val="110000"/>
              </a:lnSpc>
            </a:pPr>
            <a:r>
              <a:rPr sz="1250" b="1">
                <a:solidFill>
                  <a:srgbClr val="556175"/>
                </a:solidFill>
                <a:latin typeface="맑은 고딕"/>
                <a:ea typeface="맑은 고딕"/>
                <a:cs typeface="맑은 고딕"/>
              </a:rPr>
              <a:t>중복 생성하지 않음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구조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유형에 조치 방법과 단계를 잇는다</a:t>
            </a:r>
          </a:p>
          <a:p>
            <a:pPr algn="l" eaLnBrk="0">
              <a:lnSpc>
                <a:spcPct val="110000"/>
              </a:lnSpc>
            </a:pPr>
            <a:r>
              <a:rPr sz="1400" b="0">
                <a:solidFill>
                  <a:srgbClr val="1F2A3A"/>
                </a:solidFill>
                <a:latin typeface="맑은 고딕"/>
                <a:ea typeface="맑은 고딕"/>
                <a:cs typeface="맑은 고딕"/>
              </a:rPr>
              <a:t>적용 · 금지 조건과 완료 기준을 구분한다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단계 순서와</a:t>
            </a:r>
          </a:p>
          <a:p>
            <a:pPr algn="l" eaLnBrk="0">
              <a:lnSpc>
                <a:spcPct val="110000"/>
              </a:lnSpc>
            </a:pPr>
            <a:r>
              <a:rPr sz="1250" b="1">
                <a:solidFill>
                  <a:srgbClr val="556175"/>
                </a:solidFill>
                <a:latin typeface="맑은 고딕"/>
                <a:ea typeface="맑은 고딕"/>
                <a:cs typeface="맑은 고딕"/>
              </a:rPr>
              <a:t>근거 문장을 보존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 자료</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조건을 입력 · 연산자 · 기준값 · 출력으로 옮긴다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경계의 포함 여부와</a:t>
            </a:r>
          </a:p>
          <a:p>
            <a:pPr algn="l" eaLnBrk="0">
              <a:lnSpc>
                <a:spcPct val="110000"/>
              </a:lnSpc>
            </a:pPr>
            <a:r>
              <a:rPr sz="1250" b="1">
                <a:solidFill>
                  <a:srgbClr val="556175"/>
                </a:solidFill>
                <a:latin typeface="맑은 고딕"/>
                <a:ea typeface="맑은 고딕"/>
                <a:cs typeface="맑은 고딕"/>
              </a:rPr>
              <a:t>적용 조치를 대조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완성된 절차 구조와 결정표를 설명한다</a:t>
            </a:r>
          </a:p>
          <a:p>
            <a:pPr algn="l" eaLnBrk="0">
              <a:lnSpc>
                <a:spcPct val="110000"/>
              </a:lnSpc>
            </a:pPr>
            <a:r>
              <a:rPr sz="1400" b="0">
                <a:solidFill>
                  <a:srgbClr val="1F2A3A"/>
                </a:solidFill>
                <a:latin typeface="맑은 고딕"/>
                <a:ea typeface="맑은 고딕"/>
                <a:cs typeface="맑은 고딕"/>
              </a:rPr>
              <a:t>입력을 대어 판정 결과를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원문 → 구조 → 결과를</a:t>
            </a:r>
          </a:p>
          <a:p>
            <a:pPr algn="l" eaLnBrk="0">
              <a:lnSpc>
                <a:spcPct val="110000"/>
              </a:lnSpc>
            </a:pPr>
            <a:r>
              <a:rPr sz="1250" b="1">
                <a:solidFill>
                  <a:srgbClr val="1A6FC4"/>
                </a:solidFill>
                <a:latin typeface="맑은 고딕"/>
                <a:ea typeface="맑은 고딕"/>
                <a:cs typeface="맑은 고딕"/>
              </a:rPr>
              <a:t>이어 설명할 수 있음</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원문에 정한 적용 대상과 기대 결과를 실제 출력에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제외·미확인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대조</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원문의 수명 감점 대상과 실제 결과를 대조</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확인과 수정</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차이가 있으면 고치고 같은 입력으로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대상·경계·누락 처리 일치</a:t>
            </a:r>
          </a:p>
          <a:p>
            <a:pPr algn="l" eaLnBrk="0">
              <a:lnSpc>
                <a:spcPct val="110000"/>
              </a:lnSpc>
            </a:pPr>
            <a:r>
              <a:rPr sz="1250" b="1">
                <a:solidFill>
                  <a:srgbClr val="556175"/>
                </a:solidFill>
                <a:latin typeface="맑은 고딕"/>
                <a:ea typeface="맑은 고딕"/>
                <a:cs typeface="맑은 고딕"/>
              </a:rPr>
              <a:t>대조 근거와 수정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완료 여부</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핀 세척의 완료 여부를 확인한다</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재가동 뒤 확인할 매뉴얼의 완료 기준</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가능 여부</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수동 운전 중 팬 최대 운전을 고른다</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현재 운전 모드와 원격 조치 제외 조건</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성과 비교</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성과 목표와 지표, 조치의 득실 경로</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가정 변경</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납기가 더 멀다면 결과를 비교한다</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고정한 기준 입력과 바꿔 넣은 가정값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