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실습 환경을 갖추고, 포털(웹 페이지)에서 강사를 따라 설비 이상 한 건을 직접 일으켜 경보 → 추천 → 승인 → 조치까지 따라간다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선행 SCADA 교육에서 본 네 역할을 짧게 되짚는 자리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유온: 뜨거우면 점도가 떨어져(묽어져) 마모가 빨라진다 → 온도에 정지 한계를 둔다(이 설비는 65 ℃)</a:t>
            </a:r>
          </a:p>
          <a:p>
            <a:r>
              <a:t>· 토출 압력: 낮아지면 펌프 마모 · 내부 누설을 의심하지만, 보호는 압력 조건만으로 판단 → 하한을 둔다(이 설비는 130 bar)</a:t>
            </a:r>
          </a:p>
          <a:p>
            <a:r>
              <a:t>· 팬 진동: 그대로 돌리면 팬 베어링이 손상된다 → 상한을 둔다(이 설비는 2.0 mm/s)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· 한계는 설비마다 정한다. 평소 운전 범위(이 설비 유온 약 48 ℃)보다 충분히 위에 두어야 이상을 알아채고 손쓸 여유가 생긴다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전달 품질 → 보존 메시지 → 강조한 메시지 종류별 선택 → 맨 아래 발행 · 구독(푸시)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이 설비의 선택: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보존 기간이 지나면 다시 못 읽는다(이 설비 태그 원본은 1일).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짧은 시간에 몰린 명령은 빈도 제한으로 거절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설정값이 허용 범위 안인지(이 설비 팬 0~100 % · 부하 60~100 %). 트립 중에는 일반 설정 변경 거절</a:t>
            </a:r>
          </a:p>
          <a:p>
            <a:r>
              <a:t>· 중복 걸러내기: 명령은 QoS 1이라 다시 올 수 있다 → 관문과 PLC가 각자 최근 명령 번호를 기억해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확인. 쿨러 경보의 회복 기준은 유온 55 ℃ 미만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거슬러 읽을 때 단계마다 무엇이 계산되고 무엇이 빠졌는지 확인(이름만 보고 계산 방식을 짐작하지 않기, 품질 정보를 남기지 않은 저장) →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 → 첫 줄 도구와 실행 → 강조한 둘째 줄 HYD 포털 → 셋째 줄 다음 실습 준비</a:t>
            </a:r>
          </a:p>
          <a:p>
            <a:r>
              <a:t>· 도구: Python · Node.js · VS Code · Git · WSL · Docker가 각각 맡는 일 → 설치 · 프로젝트 내려받기 → 시작 명령 한 번으로 서비스 실행 → 포털 주소</a:t>
            </a:r>
          </a:p>
          <a:p>
            <a:r>
              <a:t>· VS Code에는 AI 코딩 도구(Codex)를 연결한다</a:t>
            </a:r>
          </a:p>
          <a:p>
            <a:r>
              <a:t>· 포털: 홈의 상태 표시와 시스템 지도, 일곱 메뉴 묶음(작업 · 설비 · 판단 · 지식 · 인공지능 설정 · 성과 · 시스템)의 쓰임</a:t>
            </a:r>
          </a:p>
          <a:p>
            <a:r>
              <a:t>· 성공 기준: 서비스가 실행 상태이고 포털이 열린다, 내 작업함에서 운전원을 골랐다, 다음 실습에서 쓸 화면의 자리를 안다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머리(단계 · 할 일 · 확인) → 첫 줄 지식 넣기 → 강조한 둘째 줄 고장과 판단 → 셋째 줄 조치와 확인</a:t>
            </a:r>
          </a:p>
          <a:p>
            <a:r>
              <a:t>· 지식 넣기: 매뉴얼을 올리면 에이전트가 고장 · 원인 · 조치를 정리하고, 사람이 원문과 대조해 검토한 뒤 적재</a:t>
            </a:r>
          </a:p>
          <a:p>
            <a:r>
              <a:t>· 고장과 판단: 쿨러 열화 → 경보 · 처리 건 → AI가 원인 · 조치 후보 · 순위를 내고 운전원이 승인</a:t>
            </a:r>
          </a:p>
          <a:p>
            <a:r>
              <a:t>· 조치와 확인: 명령 → 다시 관측한 결과, 원인을 없앨 정비 요청은 따로 남는다</a:t>
            </a:r>
          </a:p>
          <a:p>
            <a:r>
              <a:t>· 성공 기준: 단계마다 쓰인 정보와 넘어간 결과를 말하고, 추천 · 승인 · 실제 조치를 구별한다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쿨러 사건 한 건의 기록. 단계는 실습에서 본 것과 비교하되 시각 · 수치는 이 기록의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이 사건 기록에서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매뉴얼의 완화 조치 절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쿨러 팬 정비 매뉴얼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매뉴얼의 팬 벨트 점검 절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두 단 열한 줄을 왼쪽 단 → 오른쪽 단 순서로,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· 데이터 리니지 = 판단 결과에서 원래 계측값까지 되짚게 남긴 내력</a:t>
            </a:r>
          </a:p>
          <a:p>
            <a:r>
              <a:t>· 온톨로지 = 대상의 종류 · 속성 · 관계 · 제약을 명시적으로 정의한 공통 지식 모델, 지식 그래프 = 그 정의에 맞춰 실제 대상을 채운 지식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세 걸음: 설비 지식을 온톨로지로 설계 · 구축 → 그 지식을 조회해 판단을 돕는 AI → 사람의 승인과 실행까지 업무 흐름</a:t>
            </a:r>
          </a:p>
          <a:p>
            <a:r>
              <a:t>· 실습에서는 HYD라는 유압 설비 시스템을 함께 쓴다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수치만으로 조치를 정할 수 없는 까닭, 원인을 가리고 조치를 고르려면 이어져 있어야 할 근거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이번 실습에서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경로를 맡은 서비스를 직접 실행하고, 그 경로가 포털에서 어떤 화면으로 보이는지 둘러본다</a:t>
            </a:r>
          </a:p>
          <a:p>
            <a:r>
              <a:t>· 도구는 역할을 먼저 알고, 설치하면서 익힌다</a:t>
            </a:r>
          </a:p>
          <a:p>
            <a:r>
              <a:t>[다음] 실습에서 할 일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지식을 넣고 설비 이상 한 건을 일으켜, 여러 서비스가 그 사건을 함께 처리하는 과정을 처음부터 끝까지 따라간다</a:t>
            </a:r>
          </a:p>
          <a:p>
            <a:r>
              <a:t>· 따라갈 순서: 매뉴얼 적재 → 쿨러 열화 → 경보 · 처리 건 → AI 추천 → 승인 → 조치 · 재관측</a:t>
            </a:r>
          </a:p>
          <a:p>
            <a:r>
              <a:t>· 앞 이론과의 연결: 데이터가 올라가는 길과 승인된 명령이 내려가는 길을 실제 화면에서 본다</a:t>
            </a:r>
          </a:p>
          <a:p>
            <a:r>
              <a:t>[다음] 단계와 확인할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따라간 것: 경보 → AI의 원인 분석 · 조치 추천 → 승인 → 조치 → 재관측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1회차 · 설비 데이터가 판단과 조치로 이어지는 전체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데이터가 조치로 이어지는 구조를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시스템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환경을 갖추고 설비 이상 한 건을 직접 일으켜 따라간다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올라가는 길과 승인된 명령이 내려가는 길, 그 사이의 계층과 보안 영역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팬 속도와 펌프 부하 설정값을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67055112869796047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설비에서는 팬 속도 60 %, 펌프 부하 90 %로 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설비는 유온 TS1이 65 ℃를 넘으면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 · 저압 · 고진동의 보호 정지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설비마다 위험 조건과 한계를 정해 두고, 하나라도 이르면 PLC가 원인 분석보다 먼저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65 ℃를 한계로 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130 bar를 하한으로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설비는 2.0 mm/s를 상한으로 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이 설비에서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604349063241373228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709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51709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283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16283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02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8102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새로 켠 화면이 현재 상태를 바로 받게 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0195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921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종류별 선택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설비의 조합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39921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설비의 계측 원본 로그는 1일 보존으로 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98496"/>
            <a:ext cx="6766560" cy="258572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8196"/>
            <a:ext cx="6400800" cy="2306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703"/>
            <a:ext cx="6766560" cy="231330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74403"/>
            <a:ext cx="6400800" cy="20339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보호 정지(인터록)보다 낮은 기준에서 먼저 울려, 사람이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토픽에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명령 토픽으로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유효 시각이 지나지 않았는지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명령 번호와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원격 자동인지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짧은 시간에 몰린 명령 거절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명령인지의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명령 번호와 다시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설정값이 허용 범위 안인지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시점의 재검사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756611873381766162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715086643979451099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 기록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설정값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실습 환경을 시작하고 HYD 포털 둘러보기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필요한 도구의 역할을 알고 설치 · 실행한 뒤, 포털의 메뉴를 한 바퀴 둘러본다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포털의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도구의 역할을 알고 시스템을 실행한 뒤, 포털의 메뉴를 둘러보며 화면마다 할 일을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도구와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Python · Node.js · VS Code · Git · WSL · Docker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각각 맡는 일을 알고 설치한다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명령 한 번으로 서비스를 함께 띄운다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상태와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주소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포털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홈에서 전체 상태와 시스템 지도를 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일곱 메뉴 묶음의 화면을 차례로 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화면마다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실습 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작업함에서 역할을 운전원으로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 · 처리 건 · 지식 관리를 찾는다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사건을 따라갈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 발생부터 판단 · 승인 · 조치까지 전체 과정 경험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매뉴얼을 지식으로 넣고 쿨러 열화를 일으켜 경보 · AI 추천 · 승인 · 조치 · 재관측을 따라간다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적재에서 승인 · 조치까지 따라가는 사건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매뉴얼을 지식으로 넣고 쿨러 열화를 일으켜, 경보에서 승인 · 조치까지 단계마다 쓰인 정보를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넣기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관리에서 쿨러 팬 정비 매뉴얼을 올린다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정리한 고장 · 원인 · 조치를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검토해 적재한다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지도에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방법이 채워짐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고장과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시뮬레이션에서 쿨러 열화를 일으킨다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처리 건이 생기면 AI의 추천과 근거를 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운전원으로 승인한다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추천과 승인이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단계임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설비에 명령을 보내고 다시 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결과와 따로 남는 정비 요청을 처리 건에서 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단계별 정보와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건의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 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75267043359038913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캐비닛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 정비 매뉴얼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 팬 정비 매뉴얼 — 원인과 확인 증거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방법·매뉴얼 절(근거 문서)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39991193756025743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증상과 원인을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한곳에서 만나게 하면, 관측한 증상에서 원인 후보와 조치까지 같은 중심을 거쳐 찾을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366153001677283968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248697140511743686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455165538832961915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매뉴얼의 완화 조치 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목록·매뉴얼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매뉴얼의 팬 벨트 점검 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핵심 개념과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61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61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2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1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42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사이에서 연결을 제한하는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1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42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1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542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61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2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6100" y="56642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388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54200" y="56388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95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76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92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76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33" name="데이터 리니지 33"/>
          <p:cNvSpPr/>
          <p:nvPr/>
        </p:nvSpPr>
        <p:spPr>
          <a:xfrm>
            <a:off x="61595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데이터 리니지 34"/>
          <p:cNvSpPr txBox="1"/>
          <p:nvPr/>
        </p:nvSpPr>
        <p:spPr>
          <a:xfrm>
            <a:off x="62992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</a:t>
            </a:r>
          </a:p>
        </p:txBody>
      </p:sp>
      <p:sp>
        <p:nvSpPr>
          <p:cNvPr id="35" name="데이터 리니지 35"/>
          <p:cNvSpPr txBox="1"/>
          <p:nvPr/>
        </p:nvSpPr>
        <p:spPr>
          <a:xfrm>
            <a:off x="74676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Lineage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결과에서 원천 계측값까지 되짚도록 남긴 데이터의 내력</a:t>
            </a:r>
          </a:p>
        </p:txBody>
      </p:sp>
      <p:sp>
        <p:nvSpPr>
          <p:cNvPr id="36" name="온톨로지 36"/>
          <p:cNvSpPr/>
          <p:nvPr/>
        </p:nvSpPr>
        <p:spPr>
          <a:xfrm>
            <a:off x="61595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온톨로지 37"/>
          <p:cNvSpPr txBox="1"/>
          <p:nvPr/>
        </p:nvSpPr>
        <p:spPr>
          <a:xfrm>
            <a:off x="62992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  <p:sp>
        <p:nvSpPr>
          <p:cNvPr id="38" name="온톨로지 38"/>
          <p:cNvSpPr txBox="1"/>
          <p:nvPr/>
        </p:nvSpPr>
        <p:spPr>
          <a:xfrm>
            <a:off x="74676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Ontology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 · 속성 · 관계 · 제약을 명시적으로 정의한 공통 지식 모델</a:t>
            </a:r>
          </a:p>
        </p:txBody>
      </p:sp>
      <p:sp>
        <p:nvSpPr>
          <p:cNvPr id="39" name="지식 그래프 39"/>
          <p:cNvSpPr/>
          <p:nvPr/>
        </p:nvSpPr>
        <p:spPr>
          <a:xfrm>
            <a:off x="61595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지식 그래프 40"/>
          <p:cNvSpPr txBox="1"/>
          <p:nvPr/>
        </p:nvSpPr>
        <p:spPr>
          <a:xfrm>
            <a:off x="62992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41" name="지식 그래프 41"/>
          <p:cNvSpPr txBox="1"/>
          <p:nvPr/>
        </p:nvSpPr>
        <p:spPr>
          <a:xfrm>
            <a:off x="74676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Knowledge Graph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정의에 맞춰 실제 대상과 관계를 채운 지식</a:t>
            </a:r>
          </a:p>
        </p:txBody>
      </p:sp>
      <p:sp>
        <p:nvSpPr>
          <p:cNvPr id="42" name="Rounded Rectangle 5"/>
          <p:cNvSpPr/>
          <p:nvPr/>
        </p:nvSpPr>
        <p:spPr>
          <a:xfrm>
            <a:off x="61595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6"/>
          <p:cNvSpPr txBox="1"/>
          <p:nvPr/>
        </p:nvSpPr>
        <p:spPr>
          <a:xfrm>
            <a:off x="62992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44" name="TextBox 7"/>
          <p:cNvSpPr txBox="1"/>
          <p:nvPr/>
        </p:nvSpPr>
        <p:spPr>
          <a:xfrm>
            <a:off x="74676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