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큰 제목 → 부제</a:t>
            </a:r>
          </a:p>
          <a:p>
            <a:r>
              <a:t>· 이번 회차의 물음: 공장의 일은 설비 경보만이 아니다(정기 점검 도래, 예비품 부족). 업무마다 프로세스를 처음부터 새로 만들어야 하나, 긴급 대응에서 그대로 가져올 것과 바꿀 것은?</a:t>
            </a:r>
          </a:p>
          <a:p>
            <a:r>
              <a:t>· 흐름: 세 업무 견주기 → 셋일 때 처리 건 · 실행 기록 읽기 → 같은 승인 패턴 재사용 → 정기 점검 · 재고 보충을 그리고 준비된 시나리오로 실행 → 세 처리 건으로 전체 업무 흐름 정리</a:t>
            </a:r>
          </a:p>
          <a:p>
            <a:r>
              <a:t>[다음] 이번 회차의 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왼쪽부터(수업 순서)</a:t>
            </a:r>
          </a:p>
          <a:p>
            <a:r>
              <a:t>· 세 업무의 비교: 설비 경보 · 정기 점검 도래 · 재고 부족의 시작 조건, 에이전트 · 승인자 · 실행 시스템</a:t>
            </a:r>
          </a:p>
          <a:p>
            <a:r>
              <a:t>· 정의 · 인스턴스와 실행 기록: 경보가 정의를 골라 처리 건을 여는 과정, 상태 · 결과 · 단계 시각으로 대기와 지연 조사</a:t>
            </a:r>
          </a:p>
          <a:p>
            <a:r>
              <a:t>· 패턴의 재사용: 새 업무의 조건을 확인하고 승인 블록을 다시 써서 정기 점검 · 재고 보충을 그리고 준비된 시나리오로 실행</a:t>
            </a:r>
          </a:p>
          <a:p>
            <a:r>
              <a:t>· 전체 업무 흐름의 정리: 세 처리 건을 시작부터 종료 기록까지, 온톨로지 · 에이전트 · 프로세스의 연결</a:t>
            </a:r>
          </a:p>
          <a:p>
            <a:r>
              <a:t>[다음] 다섯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목차 다섯 줄, 셋째 줄 「이론 · 실습」</a:t>
            </a:r>
          </a:p>
          <a:p>
            <a:r>
              <a:t>· 1 세 업무의 시작 조건과 역할, 2 정의 · 인스턴스와 실행 기록</a:t>
            </a:r>
          </a:p>
          <a:p>
            <a:r>
              <a:t>· 3 같은 BPMN 패턴의 재사용: 원리를 정리하고 바로 정기 점검 · 재고 보충을 그리고 준비된 시나리오로 실행(그래서 이론 · 실습)</a:t>
            </a:r>
          </a:p>
          <a:p>
            <a:r>
              <a:t>· 4 · 5는 실습 뒤 정리: 세 처리 건이 지나는 다섯 자리, 온톨로지 · 에이전트 · 프로세스의 연결</a:t>
            </a:r>
          </a:p>
          <a:p>
            <a:r>
              <a:t>[다음] 첫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설비 경보가 아닌 업무도 프로세스로 처리하려면 무엇이 달라지고 무엇이 그대로인가</a:t>
            </a:r>
          </a:p>
          <a:p>
            <a:r>
              <a:t>· 견줄 것: 시작 조건, 판단하는 에이전트, 승인자, 실행 시스템</a:t>
            </a:r>
          </a:p>
          <a:p>
            <a:r>
              <a:t>[다음] 남은 두 업무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칸 왼쪽부터 → 맨 아래 줄</a:t>
            </a:r>
          </a:p>
          <a:p>
            <a:r>
              <a:t>· 왼쪽 HYD-01: 쿨러 성능 저하 경보, 긴급 대응 프로세스로 끝까지 처리</a:t>
            </a:r>
          </a:p>
          <a:p>
            <a:r>
              <a:t>· 가운데 HYD-02: 마지막 정기 점검 뒤 1,950시간 운전, 점검 주기 2,000시간 → 정기 점검 도래</a:t>
            </a:r>
          </a:p>
          <a:p>
            <a:r>
              <a:t>· 오른쪽: 펌프 축 씰 키트(같은 모델 세 설비가 함께 쓰는 예비품), HYD-03 쪽 재고 경보, 새로 꺼내 쓸 재고 1개</a:t>
            </a:r>
          </a:p>
          <a:p>
            <a:r>
              <a:t>· 맨 아래: 긴급 대응은 다룬 흐름, 둘은 이번에 설계할 업무. 완성본도 있지만 아직 흐름을 정하지 않은 상태에서 출발 — 누가 제안 · 승인 · 처리할지부터</a:t>
            </a:r>
          </a:p>
          <a:p>
            <a:r>
              <a:t>[다음] 같은 잣대로 견주기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셋, 같은 순서의 네 물음(시작 → 에이전트 → 승인자 → 실행)</a:t>
            </a:r>
          </a:p>
          <a:p>
            <a:r>
              <a:t>· 긴급 대응: 쿨러 성능 저하 경보, 원인 진단 · 냉각 조치 비교, 운전원, SCADA · CMMS</a:t>
            </a:r>
          </a:p>
          <a:p>
            <a:r>
              <a:t>· 정기 점검: 점검 도래 경보, 운전시간 · 생산 오더 · 정비 인원 · 예비품을 저울질해 정비 시점 제안, 설비보전팀장, CMMS · 메일</a:t>
            </a:r>
          </a:p>
          <a:p>
            <a:r>
              <a:t>· 재고 보충: 재고 부족 경보, 필요량 제안 · 공급사를 금액 · 납기 · 품질 · 회사 규정으로 비교, 구매 담당, ERP · 메일</a:t>
            </a:r>
          </a:p>
          <a:p>
            <a:r>
              <a:t>· ERP(Enterprise Resource Planning): 구매 · 재고 같은 기업 자원을 관리하는 전사적 자원 관리 시스템</a:t>
            </a:r>
          </a:p>
          <a:p>
            <a:r>
              <a:t>[다음] 시작 조건의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센서 값의 규칙 → 오른쪽 업무 데이터의 규칙, 맨 아랫줄 경보 패턴</a:t>
            </a:r>
          </a:p>
          <a:p>
            <a:r>
              <a:t>· 에이전트 · 승인자는 업무마다 바뀌는 이름. 자세히 볼 것은 시작과 실행</a:t>
            </a:r>
          </a:p>
          <a:p>
            <a:r>
              <a:t>· 긴급 대응: 유온 TS1 &gt; 55, 냉각 효율 CE &lt; 70, 유온 상승 중이 유지 시간 동안 → COOLER_DEGRADATION</a:t>
            </a:r>
          </a:p>
          <a:p>
            <a:r>
              <a:t>· 정기 점검 · 재고 보충: 업무 시스템에 쌓인 값(정비 주기와 비교할 누적 운전시간, 가용 재고 &lt; 재주문점) → PM_DUE, SPARE_BELOW_MIN</a:t>
            </a:r>
          </a:p>
          <a:p>
            <a:r>
              <a:t>· 출처는 달라도 규칙이 하는 일은 같다: 규칙에 맞는 순간을 사건으로 알린다</a:t>
            </a:r>
          </a:p>
          <a:p>
            <a:r>
              <a:t>[다음] 정기 점검 도래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가로 막대(운전시간) → 오른쪽 끝 달력 2,000 h → 앞의 종 1,950 h → 아래 사전 알림 50 h · 예방 정비</a:t>
            </a:r>
          </a:p>
          <a:p>
            <a:r>
              <a:t>· 예방 정비(Preventive Maintenance, PM): 고장 전에 기간 · 사용량 기준으로 미리 하는 정비. PM_DUE의 PM</a:t>
            </a:r>
          </a:p>
          <a:p>
            <a:r>
              <a:t>· 이 공장은 축 씰 등 교체 부품의 사용량 지표로 운전시간을 정했다. 운전시간 ≠ 마모량 · 고장 시각(부하 · 온도 영향)</a:t>
            </a:r>
          </a:p>
          <a:p>
            <a:r>
              <a:t>· 주기 2,000 h보다 50 h 앞 1,950 h에 경보: 예비품 · 정비 인원 · 정지 시간을 준비할 여유. 주기와 사전 알림은 이 공장의 설정값</a:t>
            </a:r>
          </a:p>
          <a:p>
            <a:r>
              <a:t>· 도래 경보 = 지금 고장이 아니라 계획을 세울 때라는 신호. 시점은 에이전트가 비교 · 제안하고 설비보전팀장이 결정</a:t>
            </a:r>
          </a:p>
          <a:p>
            <a:r>
              <a:t>[다음] 재고 부족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그림의 상자 셋(현재고 3) → 정비 예약 2 → 가용 재고 1 → 점선 재주문점 2 → 목표 재고 7 → 아래 필요 수량</a:t>
            </a:r>
          </a:p>
          <a:p>
            <a:r>
              <a:t>· 현재고 3 가운데 2개는 정비에 예약 → 다른 정비에 내줄 수 있는 것은 1개</a:t>
            </a:r>
          </a:p>
          <a:p>
            <a:r>
              <a:t>· HYD 보충 판단 수량(가용 재고) = 현재고 - 예약 + 발주 중 수량. 발주 중을 빼먹으면 같은 물건을 또 주문할 수 있다. 지금 쓸 수 있는 수와 다를 수 있다</a:t>
            </a:r>
          </a:p>
          <a:p>
            <a:r>
              <a:t>· 시작 상황은 발주 중 0개 → 두 수량 모두 1개. 재주문점 2개보다 작으니 보충 필요. 0이 되기 전에 주문하는 까닭: 오는 동안 쓸 몫</a:t>
            </a:r>
          </a:p>
          <a:p>
            <a:r>
              <a:t>· 필요 수량 6 = 목표 7 - 가용 1(뒤의 발주안). 발주 기록 ≠ 입고 완료</a:t>
            </a:r>
          </a:p>
          <a:p>
            <a:r>
              <a:t>[다음] 세 사건이 도착하는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경보 셋(위 쿨러 → 가운데 정기 점검 → 아래 재고) → 오른쪽 짚을 점</a:t>
            </a:r>
          </a:p>
          <a:p>
            <a:r>
              <a:t>· 세 경보 모두 alertId · pattern · asset 같은 칸 → 출처가 센서든 업무 시스템이든 같은 형식 → 세 프로세스 모두 메시지 시작 이벤트 하나로</a:t>
            </a:r>
          </a:p>
          <a:p>
            <a:r>
              <a:t>· alertId 앞부분 = HYD 명명 규칙의 출처 표시(CMMS, ERP)</a:t>
            </a:r>
          </a:p>
          <a:p>
            <a:r>
              <a:t>· 수업에서는 업무 데이터 감시 기능을 꺼 두고 포털의 정기 점검 · 재고 보충 버튼이 같은 형식의 경보를 낸다(이미 도래 · 부족 상태라 켜 두면 버튼 전에 열린다)</a:t>
            </a:r>
          </a:p>
          <a:p>
            <a:r>
              <a:t>· 같은 식별자의 경보로 열린 처리 건이 있으면 새로 열지 않는다(같은 부족을 반복 알려도 같은 발주가 두 번 나가지 않게). 다른 식별자 요청까지 묶어 주지는 않는다</a:t>
            </a:r>
          </a:p>
          <a:p>
            <a:r>
              <a:t>[다음] 승인 뒤의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승인된 추천안 → 가운데 실행 시스템 → 오른쪽 남는 기록, 가로 줄마다</a:t>
            </a:r>
          </a:p>
          <a:p>
            <a:r>
              <a:t>· 긴급 대응: 운전원 승인 → SCADA(PLC 명령) · CMMS(작업지시) → 팬 속도 100 %, 핀 세척</a:t>
            </a:r>
          </a:p>
          <a:p>
            <a:r>
              <a:t>· 정기 점검: 설비보전팀장 승인 → CMMS 정비 오더 등록 · 생산팀 공지 메일 → 정비 오더(설비에 직접 명령 없음, 정비 시간에 설비를 세우니 생산팀이 미리 알아야)</a:t>
            </a:r>
          </a:p>
          <a:p>
            <a:r>
              <a:t>· 재고 보충: 구매 담당 승인 → ERP 발주 · 공급사 통지 · 입고 확인 → 발주와 입고</a:t>
            </a:r>
          </a:p>
          <a:p>
            <a:r>
              <a:t>· 단원 답: 바뀌는 넷(사건 규칙 · 에이전트 · 승인자 · 처리 시스템), 그대로인 것(추천안 → 사람의 승인 → 처리의 순서)</a:t>
            </a:r>
          </a:p>
          <a:p>
            <a:r>
              <a:t>[다음] 정의가 셋일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정의가 셋이 되면 도착한 경보는 어느 정의에서 처리 건을 여나. 열린 처리 건이 기다리는지, 어떻게 끝났는지, 어디서 오래 걸렸는지는 무엇으로 아나</a:t>
            </a:r>
          </a:p>
          <a:p>
            <a:r>
              <a:t>· 다룰 것: 경보 패턴이 정의를 고름, 배포, 대기와 완료 읽기, 거절과 남은 업무, 단계 시각, 병목, 프로세스 지표</a:t>
            </a:r>
          </a:p>
          <a:p>
            <a:r>
              <a:t>[다음] 정의 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가로 한 줄 = 업무 하나, 왼쪽 경보 패턴 → 가운데 배포된 정의 → 오른쪽 처리 건</a:t>
            </a:r>
          </a:p>
          <a:p>
            <a:r>
              <a:t>· COOLER_DEGRADATION → c3_cooling, PM_DUE → c3_pm, SPARE_BELOW_MIN → c3_spare: 경보 패턴을 시작 조건으로 가진 정의가 처리 건을 연다</a:t>
            </a:r>
          </a:p>
          <a:p>
            <a:r>
              <a:t>· 처리 건 식별자 앞부분 = 정의 이름(이 시스템의 표기). 정확히는 처리 건에 기록된 정의와 판본으로 확인</a:t>
            </a:r>
          </a:p>
          <a:p>
            <a:r>
              <a:t>· 처리 건끼리 섞이지 않는다: 각자 자기 정의의 순서로 따로 진행, 한 업무가 승인을 기다리는 동안 다른 업무가 먼저 끝날 수 있다</a:t>
            </a:r>
          </a:p>
          <a:p>
            <a:r>
              <a:t>[다음] 같은 패턴의 정의가 둘이면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왼쪽부터, 셋째 칸(강조)</a:t>
            </a:r>
          </a:p>
          <a:p>
            <a:r>
              <a:t>· 등록: 검사를 통과한 정의를 새 판본으로 저장, 등록만으로 경보를 받지 않는다. 배포: 그 판본이 경보를 받는 흐름이 된다(처음부터 있던 것 = 기준 흐름, 강사가 배포한 것 = 수업 흐름, 내가 배포한 것 = 내 흐름. 포털의 「기준 흐름」은 9회차 실습에서 견준 등록된 수업 흐름과 다르다)</a:t>
            </a:r>
          </a:p>
          <a:p>
            <a:r>
              <a:t>· 경보 도착: 그 패턴의 흐름 가운데 가장 최근 배포가 받는다. 배포된 흐름이 없으면 기준 흐름 쪽(다루지 않는 경보는 사람 검토 자리로)</a:t>
            </a:r>
          </a:p>
          <a:p>
            <a:r>
              <a:t>· 배포 = 경보 길을 바꾸는 일. 공용 공간에서 각자 배포하면 마지막 배포가 경보를 가져간다</a:t>
            </a:r>
          </a:p>
          <a:p>
            <a:r>
              <a:t>· 되돌리기: 같은 공간의 사용자 흐름 배포를 경보 경로에서 내리는 동작(내 것 하나만이 아니다), 강사가 배포한 수업 흐름과 등록 판본은 남는다. 공용 환경은 운영자와 순서 · 시점을 맞춘다</a:t>
            </a:r>
          </a:p>
          <a:p>
            <a:r>
              <a:t>· 수업은 이미 배포된 흐름으로 준비된 시나리오 실행 → 이 규칙은 실행 기록의 정의 · 판본을 읽을 때</a:t>
            </a:r>
          </a:p>
          <a:p>
            <a:r>
              <a:t>[다음] 대기와 완료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줄, 가운데 칸(상태와 끝 이벤트) + 오른쪽 칸(결과 보고)</a:t>
            </a:r>
          </a:p>
          <a:p>
            <a:r>
              <a:t>· 승인 대기: RUNNING, 승인 작업 IN_PROGRESS, 보고 없음</a:t>
            </a:r>
          </a:p>
          <a:p>
            <a:r>
              <a:t>· 응답 없음: RUNNING, 기한 뒤 알림 가지가 알림 끝 이벤트에 닿아도 승인 작업의 토큰이 남아 계속 RUNNING. 명령 · 오더 · 발주 없음, 거절된 뒤에야 닫혔다</a:t>
            </a:r>
          </a:p>
          <a:p>
            <a:r>
              <a:t>· 거절: COMPLETED · E_rejected, 보고 거절(기록의 값은 반려)</a:t>
            </a:r>
          </a:p>
          <a:p>
            <a:r>
              <a:t>· 승인: E_end, 보고는 긴급 대응 · 정기 점검 정상(긴급 대응은 회복 못 하면 미달), 재고 보충 입고 완료</a:t>
            </a:r>
          </a:p>
          <a:p>
            <a:r>
              <a:t>· COMPLETED는 닫혔다는 것만. 끝 이벤트와 결과 보고를 함께 — 세 프로세스에서 같은 읽는 법</a:t>
            </a:r>
          </a:p>
          <a:p>
            <a:r>
              <a:t>[다음] 거절로 닫힌 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셋, 가운데 → 오른쪽 → 왼쪽</a:t>
            </a:r>
          </a:p>
          <a:p>
            <a:r>
              <a:t>· 정기 점검 거절: 「정비 오더를 내지 않았습니다」, 도래 표시는 켜진 채(운전시간은 계속 늘 수도)</a:t>
            </a:r>
          </a:p>
          <a:p>
            <a:r>
              <a:t>· 재고 보충 거절: 「발주하지 않았습니다」, 보충 필요 표시 그대로</a:t>
            </a:r>
          </a:p>
          <a:p>
            <a:r>
              <a:t>· 긴급 대응 거절: 설비 명령 0건</a:t>
            </a:r>
          </a:p>
          <a:p>
            <a:r>
              <a:t>· 처리 건이 닫힘 ≠ 업무의 원인 해결 → 거절 보고에 하지 않은 일을 밝혀 적는다. 남은 업무를 누가 이어받을지(고쳐 재검토 · 다른 조치)도 정해야</a:t>
            </a:r>
          </a:p>
          <a:p>
            <a:r>
              <a:t>[다음] 단계마다 남는 시각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 아래(시간 순서), 가운데 담당 · 시각 → 오른쪽 걸린 시간</a:t>
            </a:r>
          </a:p>
          <a:p>
            <a:r>
              <a:t>· 쿨러 사건 처리 건의 단계 기록(미리 실행해 둔 한 건)</a:t>
            </a:r>
          </a:p>
          <a:p>
            <a:r>
              <a:t>· 에이전트 단계 11:13:09 → 11:14:42, 1분 34초. 운전원 승인 약 14초. 냉각 명령 1초 미만. 재관측 약 1분(이 기록의 값, 현장에서 늘 1분을 기다리면 된다는 기준이 아니다). 작업지시 · 보고 1초 미만</a:t>
            </a:r>
          </a:p>
          <a:p>
            <a:r>
              <a:t>· 끝 - 시작 = 단계별 걸린 시간. BPM 모니터링이 읽는 것이 이 기록. 이 건은 에이전트 단계와 재관측이 대부분</a:t>
            </a:r>
          </a:p>
          <a:p>
            <a:r>
              <a:t>· 승인 열림~닫힘에는 담당자가 보기 전까지 기다린 시간도 들어간다 — 집중해서 검토한 시간만이 아니다</a:t>
            </a:r>
          </a:p>
          <a:p>
            <a:r>
              <a:t>[다음] 어디가 흐름을 늦추나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줄(업무 순서), 위쪽 점선으로 묶은 승인 자리</a:t>
            </a:r>
          </a:p>
          <a:p>
            <a:r>
              <a:t>· 병목(Bottleneck): 전체 처리량 · 흐름을 제한하는 지점. 한 건에서 오래 걸렸다는 것만으로 확정하지 않는다</a:t>
            </a:r>
          </a:p>
          <a:p>
            <a:r>
              <a:t>· 상자 폭은 시간이 아니다. 승인 자리는 응답이 올 때까지 열려 있다 — 여러 건이 쌓이면 지연의 원인일 수 있다</a:t>
            </a:r>
          </a:p>
          <a:p>
            <a:r>
              <a:t>· 앞 기록에서는 에이전트 단계가 더 길었지만 그것만으로 에이전트를 줄이자는 결론은 못 낸다</a:t>
            </a:r>
          </a:p>
          <a:p>
            <a:r>
              <a:t>· 여러 건에서 반복되는지, 처리 능력이 부족한지, 왜 기다리는지. 재관측처럼 안전 판단에 필요한 기다림은 없애면 효과 확인을 놓친다</a:t>
            </a:r>
          </a:p>
          <a:p>
            <a:r>
              <a:t>[다음] 여러 건을 수로 요약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네 줄 위에서부터</a:t>
            </a:r>
          </a:p>
          <a:p>
            <a:r>
              <a:t>· 한 건에는 그날의 사정이 섞인다 → 여러 건을 일정 기준으로 요약한 수 = 지표</a:t>
            </a:r>
          </a:p>
          <a:p>
            <a:r>
              <a:t>· 사이클 타임(Cycle Time): 처리 건이 열린 때부터 전체 완료까지(알림 가지가 먼저 끝나도 본 흐름이 남으면 미완). 예: 쿨러 사건 2분 51초</a:t>
            </a:r>
          </a:p>
          <a:p>
            <a:r>
              <a:t>· 대기 시간(Waiting Time): 시작 전 차례를 기다린 시간. 열림 · 닫힘 시각만 있으면 대기와 검토가 섞임 → 승인 응답까지의 경과로 읽는다</a:t>
            </a:r>
          </a:p>
          <a:p>
            <a:r>
              <a:t>· 처리 건수(Throughput), 거절률(Rejection Rate): 끝난 건 중 거절 비율. 늘면 근거 부족 · 기준 변화를 살피되, 필요한 거절까지 줄이는 게 목표가 아니다</a:t>
            </a:r>
          </a:p>
          <a:p>
            <a:r>
              <a:t>· 비교 때 업무 · 기간 · 판본을 맞추고, 쌓여 있는 미완료 건도 본다. 핵심 지표는 KPI로 관리할 수 있다</a:t>
            </a:r>
          </a:p>
          <a:p>
            <a:r>
              <a:t>[다음] 같은 방법으로 읽을 수 있었던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구분(이론 · 실습) → 부제</a:t>
            </a:r>
          </a:p>
          <a:p>
            <a:r>
              <a:t>· 단원의 물음: 업무가 이렇게 다른데 세 프로세스의 처리 건을 왜 같은 방법으로 읽을 수 있었나, 새 업무를 만들 때 그 까닭을 어떻게 쓰나</a:t>
            </a:r>
          </a:p>
          <a:p>
            <a:r>
              <a:t>· 원리를 정리한 뒤 정기 점검 · 재고 보충을 직접 그리고 준비된 시나리오로 실행</a:t>
            </a:r>
          </a:p>
          <a:p>
            <a:r>
              <a:t>[다음] 따로 설계하면 생기는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승인이 달라지기 쉽다(설계): 거절 · 무응답 처리가 그리는 사람마다 다르고, 확인한 거절 경로가 새 그림에서 빠질 수 있다</a:t>
            </a:r>
          </a:p>
          <a:p>
            <a:r>
              <a:t>· 읽는 법이 늘어난다(운영): 승인 대기와 종결을 가르는 기준을 프로세스마다 다시 익혀야</a:t>
            </a:r>
          </a:p>
          <a:p>
            <a:r>
              <a:t>· 고칠 곳이 흩어진다(변경): 승인 기한 하나 바꾸는 데 그림마다 다른 자리를 찾아 고친다</a:t>
            </a:r>
          </a:p>
          <a:p>
            <a:r>
              <a:t>· 셋이면 견딜 만해도 열, 스물이면 커진다 → 같은 부분부터 찾는다</a:t>
            </a:r>
          </a:p>
          <a:p>
            <a:r>
              <a:t>[다음] 세 그림의 같은 뼈대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위에서부터 세 줄(긴급 대응 · 정기 점검 · 재고 보충), 왼쪽부터 → 하늘색 띠</a:t>
            </a:r>
          </a:p>
          <a:p>
            <a:r>
              <a:t>· 유온 확인 갈림 · 승인 지연 타이머 같은 요소는 줄이고 순서만 남긴 뼈대</a:t>
            </a:r>
          </a:p>
          <a:p>
            <a:r>
              <a:t>· 같은 것: 경보 → 에이전트 제안 → 사람의 승인 · 거절 → 시스템 처리 → 결과 보고</a:t>
            </a:r>
          </a:p>
          <a:p>
            <a:r>
              <a:t>· 다른 것은 오른쪽: 냉각 명령 · 재관측 · 작업지시 · 보고/정비 오더와 공지 · 보고/ERP 발주 · 입고 · 보고</a:t>
            </a:r>
          </a:p>
          <a:p>
            <a:r>
              <a:t>· 하늘색 띠: 승인 작업과 그 뒤 갈림이 세 줄 모두 같은 자리 · 같은 모양 — 승인을 받는 자리가 세 번 되풀이</a:t>
            </a:r>
          </a:p>
          <a:p>
            <a:r>
              <a:t>[다음] 패턴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 위에서부터</a:t>
            </a:r>
          </a:p>
          <a:p>
            <a:r>
              <a:t>· 패턴(Pattern): 여러 곳에서 되풀이되는 설계 문제에 다시 쓰도록 한 번 풀어 검증해 둔 구조. 새 업무 조건에 맞는지 확인 · 조정</a:t>
            </a:r>
          </a:p>
          <a:p>
            <a:r>
              <a:t>· 승인 블록: 승인 작업, 승인 · 거절 갈림, 승인 지연 타이머와 알림, 거절의 결과 보고와 끝 이벤트의 묶음. 표준 용어가 아니라 이 수업에서 붙인 이름</a:t>
            </a:r>
          </a:p>
          <a:p>
            <a:r>
              <a:t>· 재사용(Reuse): 검증한 구조를 새 업무의 출발점으로, 승인 정책 · 예외 처리가 맞는지 다시 확인. 검증된 적 있음 ≠ 어디서나 맞음</a:t>
            </a:r>
          </a:p>
          <a:p>
            <a:r>
              <a:t>· 가장 큰 이득은 예외 경로: 승인 경로는 누구나 그리지만 거절 · 무응답은 빠뜨리기 쉽다 → 블록째 들어간다</a:t>
            </a:r>
          </a:p>
          <a:p>
            <a:r>
              <a:t>[다음] 승인 블록의 같은 것과 바뀌는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하늘색 일곱 요소(가운데 승인 작업 → 테두리 타이머 → 왼쪽 아래 알림 · 끝 → 오른쪽 위 게이트웨이 → 오른쪽 아래 거절 보고 · 거절 종결) → 위쪽 승인 역할 → 오른쪽 승인 뒤 첫 작업</a:t>
            </a:r>
          </a:p>
          <a:p>
            <a:r>
              <a:t>· 일곱 요소는 세 프로세스에서 식별자까지 같다(T_approve, B_overdue, T_notice, E_notice, G_approved, R_rejected, E_rejected). 기한 10분, 조건 approval == '승인'도 같다</a:t>
            </a:r>
          </a:p>
          <a:p>
            <a:r>
              <a:t>· 바뀌는 두 자리: 승인 역할(운전원 · 설비보전팀장 · 구매 담당), 승인 뒤의 첫 작업(냉각 명령 · 정비 오더 · 발주)</a:t>
            </a:r>
          </a:p>
          <a:p>
            <a:r>
              <a:t>· 이번 예제는 정책 · 기한이 같아 다시 쓴다. 다른 업무면 공동 승인이 필요한지, 기한 뒤 담당자를 바꿔야 하는지 물어 구조를 바꾼다 — 재사용은 질문 생략이 아니라 바뀐 조건에 집중</a:t>
            </a:r>
          </a:p>
          <a:p>
            <a:r>
              <a:t>[다음] 정기 점검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레인 셋 → 하늘색 요소(승인 블록) → 흰 요소(새로 정한 부분) → 오른쪽 아래 설명</a:t>
            </a:r>
          </a:p>
          <a:p>
            <a:r>
              <a:t>· 승인 블록은 긴급 대응과 같은 자리 · 모양, 승인 작업 이름만 설비보전팀장 승인</a:t>
            </a:r>
          </a:p>
          <a:p>
            <a:r>
              <a:t>· 새로 정한 것: 에이전트 레인의 시작 이벤트 「정기 점검 요청」과 정비 계획 제안, 시스템 레인의 정비 오더 등록 · 공지 메일(한 작업)과 결과 보고</a:t>
            </a:r>
          </a:p>
          <a:p>
            <a:r>
              <a:t>· 재관측 · 유온 갈림이 없다: 범위가 설비 조작이 아니라 오더 등록과 공지. 오더 등록 ≠ 정비 완료</a:t>
            </a:r>
          </a:p>
          <a:p>
            <a:r>
              <a:t>· 대조 기준: 작업 여섯(제안, 승인, 지연 알림, 거절 보고, 오더 · 메일, 결과 보고), 게이트웨이 하나, 끝 이벤트 셋</a:t>
            </a:r>
          </a:p>
          <a:p>
            <a:r>
              <a:t>· 오더는 생기고 공지만 실패하면 전체를 무작정 재실행하지 말고 남은 기록으로 실패한 부분만 복구(중복 오더 방지)</a:t>
            </a:r>
          </a:p>
          <a:p>
            <a:r>
              <a:t>[다음] 재고 보충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하늘색 승인 블록(구매 담당 승인) → 앞의 시작 이벤트 · 발주안 제안 → 뒤의 세 작업</a:t>
            </a:r>
          </a:p>
          <a:p>
            <a:r>
              <a:t>· 승인 뒤: ERP 발주 · 공급사 메일 → 입고 · 재고 반영 → 결과 보고</a:t>
            </a:r>
          </a:p>
          <a:p>
            <a:r>
              <a:t>· 발주에서 끝내지 않는 까닭: 발주만으로 창고의 씰 키트는 늘지 않는다. 발주 중 수량은 보충 판단에 먼저 반영되지만 꺼내 쓸 재고는 입고 뒤 → 추가 발주 불필요 표시 ≠ 입고 완료, 보고는 입고 완료</a:t>
            </a:r>
          </a:p>
          <a:p>
            <a:r>
              <a:t>· 정기 점검과 비교: 블록 뒤 작업 수만 둘 → 셋, 작업 일곱 · 게이트웨이 하나 · 끝 이벤트 셋</a:t>
            </a:r>
          </a:p>
          <a:p>
            <a:r>
              <a:t>[다음] 그림 구조와 연결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그림의 구조 → 오른쪽 연결할 때 넣는 값, 오른쪽 아래 두 줄</a:t>
            </a:r>
          </a:p>
          <a:p>
            <a:r>
              <a:t>· 구조로 남기는 것: 제안 → 승인 · 거절 → 처리 → 보고의 순서, 승인 블록 일곱 요소, 거절 · 무응답 경로</a:t>
            </a:r>
          </a:p>
          <a:p>
            <a:r>
              <a:t>· 연결 때 넣는 값: 여는 경보 패턴, 제안 작업의 에이전트와 지시문, 승인 역할, 승인 뒤 작업이 부를 시스템 · 메일, 거절 보고의 문구(설비 명령 · 정비 오더 · 발주를 하지 않았다), 승인 기한 10분과 승인 조건(세 업무가 같은 값)</a:t>
            </a:r>
          </a:p>
          <a:p>
            <a:r>
              <a:t>· 그림의 타이머엔 기한이, 갈림 선엔 조건식이 없다 — 같은 값을 넣어서 같아 보였을 뿐. 실습도 연결할 때 넣는다</a:t>
            </a:r>
          </a:p>
          <a:p>
            <a:r>
              <a:t>· HYD의 작성 방식이지 BPMN 규칙이 아니다(일반 BPMN 정의엔 조건식 · 타이머 값을 넣을 수 있다). 빠진 값 없이 실행 가능한 정의인지 확인이 핵심</a:t>
            </a:r>
          </a:p>
          <a:p>
            <a:r>
              <a:t>[다음] 타이머의 선택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중단형 → 오른쪽 비중단형(강조)</a:t>
            </a:r>
          </a:p>
          <a:p>
            <a:r>
              <a:t>· 중단형(실선): 기한이 지나면 승인 작업을 끊고 타이머 경로로. 자동 승인이 아니다 — 취소 · 담당자 변경 등 다음 경로를 설계</a:t>
            </a:r>
          </a:p>
          <a:p>
            <a:r>
              <a:t>· 비중단형(점선): 원래 작업을 남긴 채 추가 경로. 알림만이라는 뜻도 아니다, 그 가지에 둔 일을 읽는다</a:t>
            </a:r>
          </a:p>
          <a:p>
            <a:r>
              <a:t>· 이번 세 예제: 비중단형 가지에 지연 알림, 기한 10분(PT10M), 승인 작업은 열어 둔다 — 시간 초과만으로 명령 · 발주를 허용하지 않으려는 선택. 기한은 시뮬레이션 시간 기준</a:t>
            </a:r>
          </a:p>
          <a:p>
            <a:r>
              <a:t>· 현장에서는 계속 무응답일 때 대리 승인 · 상급자 알림 · 취소를 업무 정책으로, 담당자를 바꾸면 중복 승인 방지. 먼저 물을 것: 기한 뒤 누가 어떤 책임으로 결정하나</a:t>
            </a:r>
          </a:p>
          <a:p>
            <a:r>
              <a:t>[다음] 일을 맡기는 원칙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왼쪽부터, 넷째(강조)</a:t>
            </a:r>
          </a:p>
          <a:p>
            <a:r>
              <a:t>· 에이전트(제안): 지식과 현재 값을 읽고 후보를 저울질 — 정비 시점, 발주 수량과 공급사</a:t>
            </a:r>
          </a:p>
          <a:p>
            <a:r>
              <a:t>· 사람(결정): 책임이 따르는 결정은 책임질 역할에게 — 설비보전팀장, 구매 담당이 승인 · 거절</a:t>
            </a:r>
          </a:p>
          <a:p>
            <a:r>
              <a:t>· 시스템(실행 · 기록): 정해지면 그대로 수행할 등록 · 통지 · 보고</a:t>
            </a:r>
          </a:p>
          <a:p>
            <a:r>
              <a:t>· 배치의 원칙: 효과를 내는 작업(정비 오더, 발주)은 승인 갈림 뒤에. 승인 없이 효과로 가는 길이 있으면 등록 전 검사가 받지 않는다</a:t>
            </a:r>
          </a:p>
          <a:p>
            <a:r>
              <a:t>· 단원 답: 순서 · 승인 블록 · 예외 경로 · 맡기는 원칙을 같은 구조로 써서 읽는 법도 같았다. 등록 전 검사 + 실행 시 승인자 권한 · 승인 내용 확인. 그림에 사람 모양을 넣는 것만으로 권한 통제가 완성되지 않는다</a:t>
            </a:r>
          </a:p>
          <a:p>
            <a:r>
              <a:t>[다음] 실습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제목(첫 실습)</a:t>
            </a:r>
          </a:p>
          <a:p>
            <a:r>
              <a:t>· 네 실습: 정기 점검 그리기 → 정기 점검 실행 → 재고 보충 그리기 → 재고 보충 실행</a:t>
            </a:r>
          </a:p>
          <a:p>
            <a:r>
              <a:t>· 첫 실습: 정기 점검부터 작업지시까지 이어지는 흐름을 bpmn.io로, 긴급 대응의 승인 블록을 다른 업무에 처음 다시 쓴다</a:t>
            </a:r>
          </a:p>
          <a:p>
            <a:r>
              <a:t>· 이론의 연결: 승인 블록, 바뀌는 두 자리, 구조와 연결 값의 구분</a:t>
            </a:r>
          </a:p>
          <a:p>
            <a:r>
              <a:t>[다음] 첫 실습의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다시 쓰는 것: 긴급 대응 그림의 승인 블록. 같은 정책인지 확인하고 승인 역할만 설비보전팀장으로, 승인 지연은 비중단형(점선) 그대로</a:t>
            </a:r>
          </a:p>
          <a:p>
            <a:r>
              <a:t>· 새로 그리는 것: 정기 점검 도래로 여는 메시지 시작 이벤트, 정비 계획 에이전트의 제안 작업, 정비 오더 등록 · 생산팀 공지(한 작업), 결과 보고 — 담당자 · 에이전트 · 시스템 레인</a:t>
            </a:r>
          </a:p>
          <a:p>
            <a:r>
              <a:t>· 기한 10분 같은 값은 그림에 넣지 않는다(실행 정의의 값)</a:t>
            </a:r>
          </a:p>
          <a:p>
            <a:r>
              <a:t>· 성공 기준: 승인은 정비 오더로, 거절은 거절 보고로. 작업 6 · 게이트웨이 1 · 끝 이벤트 3, BPMN 파일로 저장해 다시 열어도 그대로</a:t>
            </a:r>
          </a:p>
          <a:p>
            <a:r>
              <a:t>[다음] 둘째 실습: 정기 점검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제목(둘째 실습)</a:t>
            </a:r>
          </a:p>
          <a:p>
            <a:r>
              <a:t>· 포털에 준비된 정기 점검 시나리오 B를 실행해 처리 건 하나가 실제로 흐르는 모습을 따라간다</a:t>
            </a:r>
          </a:p>
          <a:p>
            <a:r>
              <a:t>· 주의: 내가 그린 그림을 새로 등록하거나 배포하지 않는다</a:t>
            </a:r>
          </a:p>
          <a:p>
            <a:r>
              <a:t>· 첫 실습의 그림을 옆에 둔다</a:t>
            </a:r>
          </a:p>
          <a:p>
            <a:r>
              <a:t>[다음] 실행해 대조할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위쪽 네 칸 왼쪽부터 → 아래 성공 기준</a:t>
            </a:r>
          </a:p>
          <a:p>
            <a:r>
              <a:t>· 제안 읽기: 정비 계획 에이전트의 점검 시점 제안과 근거(추천 · 대안 · 제외 후보)</a:t>
            </a:r>
          </a:p>
          <a:p>
            <a:r>
              <a:t>· 담당자 결정: 설비보전팀장 역할로 승인 또는 거절</a:t>
            </a:r>
          </a:p>
          <a:p>
            <a:r>
              <a:t>· 대조: 같은 처리 건에서 작업지시 · 부품 예약 · 생산 공지 · 보고를 찾아 맞춘다</a:t>
            </a:r>
          </a:p>
          <a:p>
            <a:r>
              <a:t>· 연결: 실행 결과를 내 BPMN의 어느 작업인지 이어 저장</a:t>
            </a:r>
          </a:p>
          <a:p>
            <a:r>
              <a:t>· 성공 기준: 오더 등록 ≠ 실제 정비 완료(오더는 해야 할 정비를 올려 둔 것). 거절 · 보류는 이번에 확인한 기록 범위에서만 비교, 짐작으로 채우지 않는다</a:t>
            </a:r>
          </a:p>
          <a:p>
            <a:r>
              <a:t>[다음] 셋째 실습: 재고 보충 그리기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제목(셋째 실습)</a:t>
            </a:r>
          </a:p>
          <a:p>
            <a:r>
              <a:t>· 재고 부족부터 구매 · 입고까지 이어지는 흐름. 승인 블록은 그대로, 승인 뒤 작업이 셋으로</a:t>
            </a:r>
          </a:p>
          <a:p>
            <a:r>
              <a:t>· 범위: 발주와 입고는 수업용 기업 시스템의 시뮬레이션, 실제 공급사 거래 · 운송이 아니다</a:t>
            </a:r>
          </a:p>
          <a:p>
            <a:r>
              <a:t>[다음] 셋째 실습의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다시 쓰는 것: 같은 승인 블록, 승인 역할만 구매 담당</a:t>
            </a:r>
          </a:p>
          <a:p>
            <a:r>
              <a:t>· 새로 그리는 것: 재고 부족의 시작 이벤트, 구매 에이전트의 수량 · 공급사 제안, ERP 발주 · 공급사 통지 → 입고 · 재고 반영 → 결과 보고(시스템 레인의 작업 셋)</a:t>
            </a:r>
          </a:p>
          <a:p>
            <a:r>
              <a:t>· 범위: 수업용 기업 시스템의 시뮬레이션</a:t>
            </a:r>
          </a:p>
          <a:p>
            <a:r>
              <a:t>· 성공 기준: 승인은 발주로, 거절은 거절 보고로. 작업 7 · 게이트웨이 1 · 끝 이벤트 3</a:t>
            </a:r>
          </a:p>
          <a:p>
            <a:r>
              <a:t>[다음] 마지막 실습: 재고 보충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제목(마지막 실습)</a:t>
            </a:r>
          </a:p>
          <a:p>
            <a:r>
              <a:t>· 포털에 준비된 재고 보충 시나리오 C를 실행해 재고 부족 경보에서 재고가 채워지기까지 처리 건 하나를 따라간다</a:t>
            </a:r>
          </a:p>
          <a:p>
            <a:r>
              <a:t>· 실습을 마치면 세 업무의 기록으로 전체 흐름을 정리한다</a:t>
            </a:r>
          </a:p>
          <a:p>
            <a:r>
              <a:t>[다음] 실행해 대조할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위쪽 네 칸 왼쪽부터 → 아래 성공 기준</a:t>
            </a:r>
          </a:p>
          <a:p>
            <a:r>
              <a:t>· 제안 읽기: 구매 에이전트의 공급사 · 수량 제안 근거와 승인 조건</a:t>
            </a:r>
          </a:p>
          <a:p>
            <a:r>
              <a:t>· 승인: 구매 담당의 승인 또는 거절</a:t>
            </a:r>
          </a:p>
          <a:p>
            <a:r>
              <a:t>· 찾아 견주기: 발주 · 공급사 통지 · 입고 · 재고 반영을 찾아 시작 재고 · 예약 · 발주 중 수량과 견준다</a:t>
            </a:r>
          </a:p>
          <a:p>
            <a:r>
              <a:t>· 연결: 결과를 내 BPMN 작업과 이어 저장</a:t>
            </a:r>
          </a:p>
          <a:p>
            <a:r>
              <a:t>· 성공 기준: 제시된 시작 조건과 6개 발주안이면 가용 재고 1 → 7개, 결과 보고 입고 완료. 값이 달랐다면 그 값으로 기대 재고를 계산해 대조</a:t>
            </a:r>
          </a:p>
          <a:p>
            <a:r>
              <a:t>· 주의: 수업 시스템은 발주 뒤 즉시 입고 — 실제 배송 · 검수가 끝난 것처럼 설명하지 않는다. 거절 사례는 이번 기록과 제공 기록을 구분</a:t>
            </a:r>
          </a:p>
          <a:p>
            <a:r>
              <a:t>[다음] 실습 뒤 정리: 세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실습의 기록(아직 덜 끝났어도 어디까지 왔는지)을 놓고 비교. 화면의 세 건은 미리 끝까지 보내 둔 처리 건이라 번호 · 시각이 실습의 건과 다르다</a:t>
            </a:r>
          </a:p>
          <a:p>
            <a:r>
              <a:t>· 단원의 물음: 업무가 다른 세 처리 건은 시작 이벤트에서 종료 기록까지 무엇을 거쳤고, 그 사이에 무엇이 누구에게 건너갔나</a:t>
            </a:r>
          </a:p>
          <a:p>
            <a:r>
              <a:t>[다음] 다섯 자리의 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위쪽 다섯 자리 왼쪽부터 → 가운데 하늘색 → 아래 점선(거절의 경로)</a:t>
            </a:r>
          </a:p>
          <a:p>
            <a:r>
              <a:t>· 시작 이벤트(경보) → 에이전트의 판단(추천과 대안) → 사람의 승인 · 거절(정해진 승인 역할) → 시스템의 처리(SCADA · CMMS · ERP) → 종료 기록(끝 이벤트 · 결과 보고)</a:t>
            </a:r>
          </a:p>
          <a:p>
            <a:r>
              <a:t>· 모든 프로세스가 다섯 단계여야 한다는 뜻은 아니다. 이번 세 예제의 승인 경로를 나눈 틀</a:t>
            </a:r>
          </a:p>
          <a:p>
            <a:r>
              <a:t>· 자리마다 맡는 쪽이 다르다: 사건은 규칙, 판단은 에이전트, 결정은 사람(하늘색), 처리는 업무 시스템</a:t>
            </a:r>
          </a:p>
          <a:p>
            <a:r>
              <a:t>· 거절의 경로: 업무 처리를 건너뛰고 바로 종료 기록 — 세 업무 모두 명령 · 오더 · 발주 없이 닫혔다</a:t>
            </a:r>
          </a:p>
          <a:p>
            <a:r>
              <a:t>[다음] 건너가는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위쪽 다섯 자리 사이의 문서 넷, 문서 아래 줄</a:t>
            </a:r>
          </a:p>
          <a:p>
            <a:r>
              <a:t>· 경보의 내용(설비 · 패턴) → 추천안(냉각 조치 팬 최대 운전/정비 시점 야간 정비 시간/발주안 6개 · 공급사 · 금액) → 승인된 내용(운전원 · 팬 속도 100 %/설비보전팀장 · 정비 시점/구매 담당 · 수량과 공급사) → 처리의 결과(명령 · 작업지시/오더 · 공지/발주 · 입고)</a:t>
            </a:r>
          </a:p>
          <a:p>
            <a:r>
              <a:t>· 승인된 내용은 무엇을 하기로 했는지 + 누가 결정했는지가 짝. 승인 역할은 승인 순간 시스템이 채워 에이전트가 대신 쓸 수 없다</a:t>
            </a:r>
          </a:p>
          <a:p>
            <a:r>
              <a:t>· 시스템은 승인된 내용만 받아 실행(정비 시점 → 오더, 수량 · 공급사 → 발주)</a:t>
            </a:r>
          </a:p>
          <a:p>
            <a:r>
              <a:t>· 건너가는 값 = 프로세스 변수. 값 전달과 실행 권한 확인은 함께: 등록 때 승인 경로 검사, 실행 때 승인 기록 · 역할 · 내용, 재고 · 견적 같은 현재 조건도</a:t>
            </a:r>
          </a:p>
          <a:p>
            <a:r>
              <a:t>[다음] 긴급 대응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다섯 칸 왼쪽부터, 넷째 칸 번호 둘</a:t>
            </a:r>
          </a:p>
          <a:p>
            <a:r>
              <a:t>· 시작: 쿨러 성능 저하 경보 ALT-…0014</a:t>
            </a:r>
          </a:p>
          <a:p>
            <a:r>
              <a:t>· 판단: 원인 쿨러 핀 오염, 추천 팬 최대 운전</a:t>
            </a:r>
          </a:p>
          <a:p>
            <a:r>
              <a:t>· 운전원 승인 → 팬 속도 100 %</a:t>
            </a:r>
          </a:p>
          <a:p>
            <a:r>
              <a:t>· 처리: 위 설비 명령 CMD-…b94a, 아래 핀 세척 작업지시 WO-…C058. 재관측에서 55 ℃ 아래 · 경보 해제를 확인한 뒤 작업지시(회복 못 하면 작업지시 대신 미달 보고)</a:t>
            </a:r>
          </a:p>
          <a:p>
            <a:r>
              <a:t>· 팬 최대 운전 = 완화 조치, 핀 오염은 남는다 → 근본 조치 핀 세척은 설비를 멈추고 하는 정비라 작업지시로</a:t>
            </a:r>
          </a:p>
          <a:p>
            <a:r>
              <a:t>· 종료: E_end · 정상, 유온 51.5 ℃ · 경보 해제</a:t>
            </a:r>
          </a:p>
          <a:p>
            <a:r>
              <a:t>[다음] 정기 점검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다섯 칸 왼쪽부터</a:t>
            </a:r>
          </a:p>
          <a:p>
            <a:r>
              <a:t>· 시작: HYD-02 운전시간이 도래 기준 → PM_DUE</a:t>
            </a:r>
          </a:p>
          <a:p>
            <a:r>
              <a:t>· 판단: 정기 정비 계획 에이전트가 야간 정비 시간 제안</a:t>
            </a:r>
          </a:p>
          <a:p>
            <a:r>
              <a:t>· 설비보전팀장이 정비 시점 승인 → CMMS 정비 오더 WO-…5DDD, 생산팀 공지 메일</a:t>
            </a:r>
          </a:p>
          <a:p>
            <a:r>
              <a:t>· 종료: E_end · 정상</a:t>
            </a:r>
          </a:p>
          <a:p>
            <a:r>
              <a:t>· 설비 명령은 없어도 다섯 자리는 같다 — 처리가 오더 등록과 공지였을 뿐</a:t>
            </a:r>
          </a:p>
          <a:p>
            <a:r>
              <a:t>· 여기서 정상 = 정비가 끝났다가 아니라, 언제 정비할지 정해져 오더로 내려갔다(실제 정비는 그 시간에 현장에서)</a:t>
            </a:r>
          </a:p>
          <a:p>
            <a:r>
              <a:t>[다음] 왜 야간 정비 시간인가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오른쪽 판정 칸(추천 · 대안 · 제외)</a:t>
            </a:r>
          </a:p>
          <a:p>
            <a:r>
              <a:t>· 추천: 이번 예정된 정비 시간에 단독 시행 — 생산 오더가 없어 생산 손실 없음</a:t>
            </a:r>
          </a:p>
          <a:p>
            <a:r>
              <a:t>· 대안: 지금 바로 정지 — 납기 24시간 안의 생산 오더, 오더 손실 80만 원 감점(할 수는 있지만 득실에서 짐)</a:t>
            </a:r>
          </a:p>
          <a:p>
            <a:r>
              <a:t>· 제외: 다음 정비 시간으로 미루기 — 그때 운전시간이 허용 상한 2,200 h 초과(주기의 앞뒤 10 %, 넘기면 보증 기간 점검 기록 요건 위반), 같은 기종 두 대 묶기 — 씰 키트 2개 이상 필요한데 가용 1개</a:t>
            </a:r>
          </a:p>
          <a:p>
            <a:r>
              <a:t>· 추천안에 진 대안과 제외 까닭이 함께 → 승인자가 「지금 하면? 미루면?」의 답을 근거로 견준다(승인자의 생각까지는 단정 못 함)</a:t>
            </a:r>
          </a:p>
          <a:p>
            <a:r>
              <a:t>· 재고 보충을 먼저 마친 뒤에는 넷째 후보가 제외되지 않고 인원 부족 감점으로 진 대안 — 같은 규칙이라도 그때의 업무 값이 판정을 바꾼다</a:t>
            </a:r>
          </a:p>
          <a:p>
            <a:r>
              <a:t>[다음] 재고 보충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다섯 칸 왼쪽부터, 넷째 칸 번호 둘(위 발주 · 아래 입고)</a:t>
            </a:r>
          </a:p>
          <a:p>
            <a:r>
              <a:t>· 시작: 씰 키트 가용 1개 &lt; 재주문점</a:t>
            </a:r>
          </a:p>
          <a:p>
            <a:r>
              <a:t>· 판단: 6개(목표 7 - 가용 1)를 B-OEM에서, 330만 원</a:t>
            </a:r>
          </a:p>
          <a:p>
            <a:r>
              <a:t>· 구매 담당 승인 → ERP 발주 PR-…83F3 · 공급사 통지 → 입고 GR-…4EE3(수량 · 로트 확인, 검수 합격)</a:t>
            </a:r>
          </a:p>
          <a:p>
            <a:r>
              <a:t>· 수업 시스템은 납기를 기다리지 않고 발주 뒤 바로 입고 처리</a:t>
            </a:r>
          </a:p>
          <a:p>
            <a:r>
              <a:t>· 종료: 입고 완료, 사용 가능 7개(6개 입고, 예약 2개는 그대로). 보충 필요 표시는 발주 중 수량을 반영한 때 이미 꺼질 수 있다 — 표시가 꺼짐 ≠ 입고 완료</a:t>
            </a:r>
          </a:p>
          <a:p>
            <a:r>
              <a:t>[다음] 왜 B-OEM인가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맨 아래 → 가운데 → 맨 위 순서, 가운데 칸(금액 · 납기 · 불량률)</a:t>
            </a:r>
          </a:p>
          <a:p>
            <a:r>
              <a:t>· C트레이딩(비승인): 가장 싸고 빠르지만 승인 공급사가 아니라 핵심 부품 구매 불가 → 제외(싸서 품질이 나쁘다는 뜻이 아니라 회사 규정)</a:t>
            </a:r>
          </a:p>
          <a:p>
            <a:r>
              <a:t>· A정밀(대체 승인): 불량률 12 %가 기준 10 % 초과 → 전수 검사 감점, 품질 득실도 뒤짐 → 대안. 금액 합만 보면 싸지만 판정은 품질 득실 · 검사 감점 · 납기 · 경고를 함께 점수로</a:t>
            </a:r>
          </a:p>
          <a:p>
            <a:r>
              <a:t>· B-OEM(순정): 330만 원 · 5일 · 2 % → 추천. 전결 기준 300만 원(담당자 혼자 승인할 수 있는 금액 선) 초과 표시, 승인은 구매 담당 한 번 + 결과를 구매팀장에게 보고</a:t>
            </a:r>
          </a:p>
          <a:p>
            <a:r>
              <a:t>· 기록엔 비교 · 경고를 담은 추천안과 승인 결정이 남는다. 담당자가 무엇을 검토했는지까지 단정하지 않는다</a:t>
            </a:r>
          </a:p>
          <a:p>
            <a:r>
              <a:t>[다음] 세 업무가 끝난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칸 왼쪽부터(시작 때와 같은 세 칸) → 맨 아래 줄</a:t>
            </a:r>
          </a:p>
          <a:p>
            <a:r>
              <a:t>· 긴급 대응: 계기가 내려옴, 유온 51.5 ℃(기준 55 ℃ 미만), 핀 세척 작업지시 WO-…C058</a:t>
            </a:r>
          </a:p>
          <a:p>
            <a:r>
              <a:t>· 정기 점검: 정비 오더 WO-…5DDD, 생산팀 공지 메일</a:t>
            </a:r>
          </a:p>
          <a:p>
            <a:r>
              <a:t>· 재고 보충: 씰 키트 6개 입고 · 검수 합격, 사용 가능 7개</a:t>
            </a:r>
          </a:p>
          <a:p>
            <a:r>
              <a:t>· 맨 아래: E_end · 정상, E_end · 정상, E_end · 입고 완료</a:t>
            </a:r>
          </a:p>
          <a:p>
            <a:r>
              <a:t>· 종료 기록이 가리키는 것은 처리 건이 닫혔다는 사실만이 아니라 설비와 업무의 달라진 상태</a:t>
            </a:r>
          </a:p>
          <a:p>
            <a:r>
              <a:t>[다음] 끝에서 거슬러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식별자 일곱 줄, 아래에서 위로 → 오른쪽 짚을 점</a:t>
            </a:r>
          </a:p>
          <a:p>
            <a:r>
              <a:t>· 경보 ALT-…0014 → 처리 건 c3_cooling.4f93a9d0 → 판단 DEC-…408b → 승인 role:operator 11:14:56 → 명령 CMD-…b94a → 작업지시 WO-…C058 → E_end 정상</a:t>
            </a:r>
          </a:p>
          <a:p>
            <a:r>
              <a:t>· 승인 기록엔 승인 역할과 판단 식별자 → 에이전트의 원인 · 추천으로. 누가 결정했는지는 실제 사용자 · 당시 권한 · 승인 내용까지</a:t>
            </a:r>
          </a:p>
          <a:p>
            <a:r>
              <a:t>· 작업지시에도 같은 판단 식별자 → 어느 쪽에서 출발해도 같은 줄(데이터 리니지가 승인과 끝 이벤트까지, 처리 건 단위로)</a:t>
            </a:r>
          </a:p>
          <a:p>
            <a:r>
              <a:t>· 식별자 연결 ≠ 내용이 옳다는 보장. 원본 근거 · 승인 내용 · 실행 결과를 대조할 수 있다는 데 가치</a:t>
            </a:r>
          </a:p>
          <a:p>
            <a:r>
              <a:t>· 단원 답: 세 건은 같은 다섯 자리를 지나 닫혔고, 그 줄이 식별자로 남아 거슬러 읽는다</a:t>
            </a:r>
          </a:p>
          <a:p>
            <a:r>
              <a:t>[다음] 세 영역의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세 처리 건이 끝까지 가는 동안 온톨로지 · 에이전트 · 프로세스는 각각 무엇을 맡았고 어떻게 이어졌나</a:t>
            </a:r>
          </a:p>
          <a:p>
            <a:r>
              <a:t>· 다룰 것: 세 영역의 몫, 같은 지식과 다른 업무 데이터, 지식 한 줄이 끝난 업무가 되기까지, 하나가 빠질 때, AI와 사람의 몫, 기록이 다음 설계로</a:t>
            </a:r>
          </a:p>
          <a:p>
            <a:r>
              <a:t>[다음] 세 영역이 맡는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아이콘 셋 왼쪽부터(온톨로지 → 에이전트 → 프로세스), 화살표</a:t>
            </a:r>
          </a:p>
          <a:p>
            <a:r>
              <a:t>· 온톨로지: 설비 · 부품 · 원인 · 조치가 무엇이고 어떻게 관련되는지 뜻과 관계. HYD는 지식 그래프 · 판단 규칙 · 업무 데이터를 함께 써서 근거를 마련(온톨로지가 DB 하나의 이름은 아니다)</a:t>
            </a:r>
          </a:p>
          <a:p>
            <a:r>
              <a:t>· 에이전트: 근거와 현재 상황을 읽고 후보를 비교해 추천. 좋은 추천 ≠ 업무 완료</a:t>
            </a:r>
          </a:p>
          <a:p>
            <a:r>
              <a:t>· 프로세스: 누가 검토하고, 어떤 조건에서 실행하고, 어디에 결과를 남길지</a:t>
            </a:r>
          </a:p>
          <a:p>
            <a:r>
              <a:t>· 화살표는 책임이 이어지는 방향. 실제로는 프로세스 안에서 에이전트를 호출 — 차례로 한 번씩 도는 구성도가 아니다</a:t>
            </a:r>
          </a:p>
          <a:p>
            <a:r>
              <a:t>· 남는 세 질문: 무엇을 근거로 판단했나, 누가 실행을 결정했나, 결과를 어디서 확인하나</a:t>
            </a:r>
          </a:p>
          <a:p>
            <a:r>
              <a:t>[다음] 세 에이전트가 읽는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가운데 칸(세 줄이 같다) → 오른쪽 칸</a:t>
            </a:r>
          </a:p>
          <a:p>
            <a:r>
              <a:t>· 세 에이전트 모두 지식 그래프 · 판단 규칙을 읽는다 → 온톨로지 영역의 지식이 정비 · 구매 판단에도 재료</a:t>
            </a:r>
          </a:p>
          <a:p>
            <a:r>
              <a:t>· 업무별 연결: 냉각 긴급 대응 — 생산 오더 · 품질 로트, 정기 정비 계획 — 정비 계획 · 운전시간 · 정비 가능 시간 · 정비 이력 · 생산 오더(납기 하루 안 오더도 여기서), 예비품 구매 — 재고 · 부품 견적 · 공급사</a:t>
            </a:r>
          </a:p>
          <a:p>
            <a:r>
              <a:t>· 연결 목록 = 접근할 수 있는 범위, 실제로 무엇을 조회했는지는 그 실행의 도구 호출 기록</a:t>
            </a:r>
          </a:p>
          <a:p>
            <a:r>
              <a:t>· 도구 연결은 나눴어도 판단에 필요한 사실은 겹칠 수 있다(정비 계획도 예비품을 알아야)</a:t>
            </a:r>
          </a:p>
          <a:p>
            <a:r>
              <a:t>· 지식도 승인 블록처럼 여러 업무가 함께 쓴다</a:t>
            </a:r>
          </a:p>
          <a:p>
            <a:r>
              <a:t>[다음] 지식 한 줄을 따라가기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 왼쪽부터</a:t>
            </a:r>
          </a:p>
          <a:p>
            <a:r>
              <a:t>· 지식: 조치 SOP-COOL-11 팬 최대 운전이 지식 그래프에(조치 절차로 적어 둔 것, 같은 원인의 후보 넷 — 가능 여부는 판단 규칙, 우열은 성과 기준)</a:t>
            </a:r>
          </a:p>
          <a:p>
            <a:r>
              <a:t>· 제안: 에이전트가 원인을 쿨러 핀 오염으로 가리고 이 조치를 견주어 1순위 추천</a:t>
            </a:r>
          </a:p>
          <a:p>
            <a:r>
              <a:t>· 승인: 운전원</a:t>
            </a:r>
          </a:p>
          <a:p>
            <a:r>
              <a:t>· 실행: 프로세스가 팬 속도 100 % 명령</a:t>
            </a:r>
          </a:p>
          <a:p>
            <a:r>
              <a:t>· 결과: 재관측 유온 51.5 ℃, 기준 55 ℃ 미만 · 경보 해제</a:t>
            </a:r>
          </a:p>
          <a:p>
            <a:r>
              <a:t>· 첫 칸 온톨로지, 둘째 칸 에이전트, 나머지 셋은 사람과 프로세스</a:t>
            </a:r>
          </a:p>
          <a:p>
            <a:r>
              <a:t>[다음] 하나씩 빼 보면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근거 관리가 비면: 원인 후보 · 조치 · 규칙을 읽을 곳이 없고, 추천의 근거를 되짚을 수 없다. 미루면 허용 상한 초과, 핵심 부품은 승인 공급사 — 규칙으로 적혀 있어서 후보가 걸러졌다</a:t>
            </a:r>
          </a:p>
          <a:p>
            <a:r>
              <a:t>· 후보 비교를 바꾸면: 사람이나 다른 규칙 기반 기능이 운전시간 · 생산 오더 · 정비 인원 · 재고를 직접 찾아 견줘야</a:t>
            </a:r>
          </a:p>
          <a:p>
            <a:r>
              <a:t>· 업무 절차가 비면: 누가 승인 · 실행할지 없음, 진행과 결과가 한곳에 남지 않음, 지연 알림 · 거절 보고도 없다</a:t>
            </a:r>
          </a:p>
          <a:p>
            <a:r>
              <a:t>· 결론은 제품 세 개를 갖추라가 아니라, 근거 관리 · 대안 비교 · 결정과 실행의 연결 중 비어 있는 역할을 찾는 것</a:t>
            </a:r>
          </a:p>
          <a:p>
            <a:r>
              <a:t>[다음] AI와 사람의 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AI 에이전트 → 오른쪽 사람(강조)</a:t>
            </a:r>
          </a:p>
          <a:p>
            <a:r>
              <a:t>· AI 에이전트: 지식 그래프 · 업무 데이터를 읽고 후보를 견주어 추천과 대안까지. 설비 명령 · 업무 처리는 하지 않는다</a:t>
            </a:r>
          </a:p>
          <a:p>
            <a:r>
              <a:t>· 그 선은 에이전트가 스스로 지킨 게 아니라 넘을 수 없게 되어 있다: 막는 것은 명령 · 발주 같은 업무 효과 권한(파일 쓰기 도구까지 못 쓴다는 뜻은 아님), 업무 실행은 서버가 승인 기록 · 권한을 확인하는 경로로</a:t>
            </a:r>
          </a:p>
          <a:p>
            <a:r>
              <a:t>· 사람: 순서 · 승인 역할 · 예외 경로를 프로세스로 정함(실습에서 그린 그림), 추천안 승인 · 거절, 기록과 지표로 프로세스 개선</a:t>
            </a:r>
          </a:p>
          <a:p>
            <a:r>
              <a:t>· 예: 공급사 비교는 에이전트, 전결 기준 초과 발주를 받아들일지는 구매 담당 — 결정의 책임은 사람</a:t>
            </a:r>
          </a:p>
          <a:p>
            <a:r>
              <a:t>[다음] 기록이 다음 설계로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</a:t>
            </a:r>
          </a:p>
          <a:p>
            <a:r>
              <a:t>· 실행: 경보가 처리 건을 열고 끝 이벤트에 닿는다 → 기록: 단계 시각 · 승인 · 결과 보고 → 지표: 사이클 타임 · 대기 시간 · 거절률 → 개선</a:t>
            </a:r>
          </a:p>
          <a:p>
            <a:r>
              <a:t>· 개선: 승인 응답이 길거나 거절이 많으면 먼저 이유(정보 부족 · 담당자 부재 · 승인 기준)를 조사하고 맞춰 고친다. 고친 정의는 새 판본으로 배포 → 다음 경보부터</a:t>
            </a:r>
          </a:p>
          <a:p>
            <a:r>
              <a:t>· 예: 지연 알림 기한을 바꿀 때 — 이 수업의 세 흐름은 승인 블록 · 기한을 한 곳에 두고 세 정의를 거기서 생성, 다시 생성 · 검증 · 배포(복사해 둔 그림까지 자동으로 바뀌지는 않는다). 열려 있던 처리 건은 열릴 때의 판본</a:t>
            </a:r>
          </a:p>
          <a:p>
            <a:r>
              <a:t>· 수정 뒤 정상뿐 아니라 거절 · 지연 경로도 다시 확인, 같은 기준의 기록으로 비교 = BPM이 한 바퀴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줄, 왼쪽 물음에 학생이 먼저 답하게 한 뒤(약 20초) 가운데 근거 → 오른쪽 답</a:t>
            </a:r>
          </a:p>
          <a:p>
            <a:r>
              <a:t>· 연 정의: PM_DUE를 시작 조건으로 가진 배포된 정기 점검 프로세스</a:t>
            </a:r>
          </a:p>
          <a:p>
            <a:r>
              <a:t>· 승인 대기 중: RUNNING, 승인 작업 IN_PROGRESS</a:t>
            </a:r>
          </a:p>
          <a:p>
            <a:r>
              <a:t>· 거절했다면: COMPLETED · E_rejected, 「정비 오더를 내지 않았습니다」, 도래 표시는 남는다 — 닫힌 것 ≠ 해결된 것</a:t>
            </a:r>
          </a:p>
          <a:p>
            <a:r>
              <a:t>· 같은 것: 승인 블록 일곱 요소와 순서(구조), 기한 10분 · 승인 조건(연결할 때 넣지만 같은 값)</a:t>
            </a:r>
          </a:p>
          <a:p>
            <a:r>
              <a:t>· 다른 것: 시작 경보, 정비 계획 에이전트, 설비보전팀장, CMMS와 메일. 기한을 구조라고 답했다면 — HYD 방식에선 연결 값(BPMN 표준 전체의 구분은 아니다)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</a:t>
            </a:r>
          </a:p>
          <a:p>
            <a:r>
              <a:t>· ERP: 구매 · 재고 같은 기업 자원을 한 시스템에서 관리. 예방 정비(PM): 고장 전에 운전시간 · 기간 기준으로 미리 하는 정비</a:t>
            </a:r>
          </a:p>
          <a:p>
            <a:r>
              <a:t>· 가용 재고(HYD 보충 판단 수량) = 현재고 - 예약 + 발주 중 수량, 당장 꺼내 쓸 재고와 구분. 재주문점: 그 아래로 내려가면 다시 주문하는 기준</a:t>
            </a:r>
          </a:p>
          <a:p>
            <a:r>
              <a:t>· 병목: 전체 처리량 · 흐름을 제한하는 지점. 사이클 타임: 시작부터 전체 완료까지. 대기 시간: 수행을 기다린 시간(열림 · 닫힘만으로 잰 값엔 검토 시간도 섞임). 거절률: 끝난 건 중 거절 비율</a:t>
            </a:r>
          </a:p>
          <a:p>
            <a:r>
              <a:t>· 패턴: 되풀이되는 설계 문제에 다시 쓰도록 검증한 구조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세 문제: 기록이 무엇을 알려 주는지, 누가 무엇을 맡는지</a:t>
            </a:r>
          </a:p>
          <a:p>
            <a:r>
              <a:t>· 보기를 읽고 잠깐 멈춰 고르게 한다. 정답과 까닭은 세 문제 뒤에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가정: 다른 입고 · 재고 변화 없음, 이 처리 건만 COMPLETED · E_rejected로 닫혔다</a:t>
            </a:r>
          </a:p>
          <a:p>
            <a:r>
              <a:t>· 물음: 닫힌 뒤의 상황으로 옳은 것은?</a:t>
            </a:r>
          </a:p>
          <a:p>
            <a:r>
              <a:t>· 생각할 거리: 끝 이벤트가 알려 주는 경로와 업무 표시(보충 필요)의 상태</a:t>
            </a:r>
          </a:p>
          <a:p>
            <a:r>
              <a:t>· 약 20초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정기 점검이 느리다는 말, 끝난 처리 건들의 기록에서 늦추는 단계를 찾으려 한다</a:t>
            </a:r>
          </a:p>
          <a:p>
            <a:r>
              <a:t>· 물음: 병목 조사를 시작할 근거 기록은? 기록 한 가지로 병목을 확정한다는 뜻은 아니다</a:t>
            </a:r>
          </a:p>
          <a:p>
            <a:r>
              <a:t>· 생각할 거리: 결말을 알려 주는 기록과 시간을 알려 주는 기록</a:t>
            </a:r>
          </a:p>
          <a:p>
            <a:r>
              <a:t>· 약 20초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가정: 사람의 승인 정책을 유지</a:t>
            </a:r>
          </a:p>
          <a:p>
            <a:r>
              <a:t>· 상황: 추천이 대부분 적절했으니 승인 없이 정비 오더를 바로 등록하자는 의견</a:t>
            </a:r>
          </a:p>
          <a:p>
            <a:r>
              <a:t>· 생각할 거리: 효과를 내는 작업과 결정의 책임은 어디에 있어야 하나</a:t>
            </a:r>
          </a:p>
          <a:p>
            <a:r>
              <a:t>· 약 20초</a:t>
            </a:r>
          </a:p>
          <a:p>
            <a:r>
              <a:t>[다음] 정답 맞추기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 위에서부터, 판단 기준 → 정답</a:t>
            </a:r>
          </a:p>
          <a:p>
            <a:r>
              <a:t>· Quiz 1 정답 2번: 거절 종결 = 발주로 가는 선을 안 지남 → 발주 없음, 다른 변화가 없으니 부족은 그대로. 1번 닫힘과 해결 혼동, 3번 거절 경로엔 발주 자체가 없다, 4번 타이머는 알림만 · 처리 건을 닫지 않는다</a:t>
            </a:r>
          </a:p>
          <a:p>
            <a:r>
              <a:t>· Quiz 2 정답 4번: 단계별 시작 · 끝 시각이 조사할 곳을 알려 준다, 반복 지연 · 대기 이유 · 미완료 건까지 확인해 판단. 1 · 2번은 결말, 3번은 그림 표식이라 시간이 없다</a:t>
            </a:r>
          </a:p>
          <a:p>
            <a:r>
              <a:t>· Quiz 3 정답 3번: 에이전트는 제안까지, 효과를 내는 작업은 책임질 역할의 승인 뒤. 1 · 2번 사람의 결정을 없앰, 4번 결정 없이 기한만으로 효과 — 이런 흐름은 등록 전 검사가 받지 않는다</a:t>
            </a:r>
          </a:p>
          <a:p>
            <a:r>
              <a:t>· 맺음: 같은 승인 패턴으로 세 업무를 설계 · 실행하고, 세 처리 건의 기록으로 지식 · 에이전트 · 프로세스의 연결을 되짚었다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0.png"/><Relationship Id="rId6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Relationship Id="rId4" Type="http://schemas.openxmlformats.org/officeDocument/2006/relationships/image" Target="../media/image11.png"/><Relationship Id="rId5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6.png"/><Relationship Id="rId4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7.png"/><Relationship Id="rId4" Type="http://schemas.openxmlformats.org/officeDocument/2006/relationships/image" Target="../media/image25.png"/><Relationship Id="rId5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7.png"/><Relationship Id="rId4" Type="http://schemas.openxmlformats.org/officeDocument/2006/relationships/image" Target="../media/image25.png"/><Relationship Id="rId5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0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1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18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3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3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37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38.png"/><Relationship Id="rId7" Type="http://schemas.openxmlformats.org/officeDocument/2006/relationships/image" Target="../media/image3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37.png"/><Relationship Id="rId4" Type="http://schemas.openxmlformats.org/officeDocument/2006/relationships/image" Target="../media/image27.png"/><Relationship Id="rId5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1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설비 대응을 넘어 정비와 구매 업무까지 자동으로 연결하기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대응에서 정비와 구매까지,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 설계의 재사용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같은 승인 패턴을 정기 점검과 재고 보충에 다시 쓰고, 세 처리 건으로 전체 업무 흐름을 되짚는다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repeat" descr="repea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ol" descr="tool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ackage" descr="package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프로세스의 설계를 정기 점검과 재고 보충에 다시 쓰고, 세 처리 건으로 전체 업무 흐름을 설명한다.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s-split-2" descr="arrows-split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업무의 비교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경보 · 정기 점검 도래 · 재고 부족의 시작 조건을 구분한다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 · 승인자 · 실행 시스템의 차이를 견준다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search" descr="file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 · 인스턴스와 실행 기록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정의를 골라 처리 건을 여는 과정을 설명한다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 · 결과 · 단계 시각으로 대기와 지연을 조사한다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실행과 모니터링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epeat" descr="repea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패턴의 재사용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업무의 조건을 확인하고 승인 블록을 다시 쓴다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정기 점검 · 재고 보충 프로세스를 그리고 준비된 시나리오로 실행한다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설계와 실행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oute" descr="rout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업무 흐름의 정리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 처리 건을 시작에서 종료 기록까지 되짚는다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온톨로지 · 에이전트 · 프로세스의 연결을 설명한다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업무의 시작 조건과 역할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정의 · 인스턴스와 실행 기록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BPMN 패턴의 재사용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처리 건이 지나는 다섯 자리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· 에이전트 · 프로세스의 연결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업무의 시작 조건과 역할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업무의 시작 조건, 에이전트, 승인자, 실행 시스템을 견준다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 뒤에 남은 두 업무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프로세스를 바탕으로, 이번에는 정기 점검과 재고 보충의 업무 흐름을 설계한다.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세시작.svg" descr="illust_340559667185783141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5656" y="4889571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경보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 · 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13970" y="4889571"/>
            <a:ext cx="305465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도래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HYD-02 · 운전시간 1,950 h, 점검 주기 2,000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285" y="4889571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부족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펌프 축 씰 키트 · 가용 재고 1개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5656" y="5882335"/>
            <a:ext cx="305465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긴급 대응 프로세스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3970" y="5882335"/>
            <a:ext cx="305465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이번에 설계할 업무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285" y="5882335"/>
            <a:ext cx="305465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이번에 설계할 업무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업무에서 달라지는 네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업무는 시작 조건, 에이전트, 승인자, 실행 시스템이 다르고, 추천안이 승인을 거쳐 처리로 가는 순서는 같다.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시작: 쿨러 성능 저하 경보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에이전트: 원인을 진단하고 냉각 조치 후보를 견주어 추천한다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승인자: 운전원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실행: SCADA, CMMS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91744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91744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시작: 정기 점검 도래 경보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에이전트: 운전시간, 생산 오더, 정비 인원, 예비품을 저울질해 정비할 시점을 제안한다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승인자: 설비보전팀장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실행: CMMS, 메일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91744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91744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시작: 재고 부족 경보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에이전트: 필요량을 제안하고 공급사를 금액, 납기, 품질, 회사 규정으로 비교한다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승인자: 구매 담당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실행: ERP, 메일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917448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91744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조건: 센서 값의 규칙과 업무 데이터의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대응은 센서 값의 규칙이, 정기 점검과 재고 보충은 업무 시스템에 쌓인 데이터의 규칙이 프로세스를 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ell-ringing" descr="bell-ringing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 값의 규칙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읽는 값: 유온 TS1, 냉각 효율 CE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규칙: TS1 &gt; 55 and CE &lt; 70 and slope(TS1) &gt; 0이 유지 시간 동안 이어진다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 패턴: COOLER_DEGRADATION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alendar" descr="calenda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데이터의 규칙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읽는 값: 설비의 운전시간, 예비품 재고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규칙: 운전시간이 점검 주기에 가까워진다, 가용 재고 &lt; 재주문점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 패턴: PM_DUE, SPARE_BELOW_MIN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92024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· 재고 보충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도래: 운전시간이 주기에 가까워진 사건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사례는 운전시간을 기준으로 주기 2,000 h보다 50 h 앞서 점검 계획을 준비한다.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pic>
        <p:nvPicPr>
          <p:cNvPr id="6" name="삽화:운전시간.svg" descr="illust_752585678462239159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02927" y="3187689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운전시간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정기 점검 뒤의 운전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043" y="2289474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1,950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도래 경보 PM_DUE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8673" y="2289474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2,000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주기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54024" y="5220492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사전 알림 50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2,000 - 50 = 1,950 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927" y="5220492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예방 정비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Preventive Maintenance · PM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부족: 가용 재고가 재주문점 아래로 내려간 사건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현재고에서 예약을 빼고 발주 중 수량을 더한 값으로 보충을 판단하며, 시작 상황의 발주 중 수량은 0개다.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재고.svg" descr="illust_841174830073617141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431298"/>
            <a:ext cx="17455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현재고 3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창고에 있는 수량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4037" y="2431298"/>
            <a:ext cx="26182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예약 2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예정된 정비에 쓰기로 잡아 둔 수량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195" y="4653198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가용 재고 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3 - 2 + 0 =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04864" y="3707709"/>
            <a:ext cx="17455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재주문점 2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Reorder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5980" y="3896807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재고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2156" y="5929609"/>
            <a:ext cx="501836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 수량 6 = 목표 재고 7 - 가용 재고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사건이 같은 형식의 경보로 도착한다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출처가 센서이든 업무 시스템이든 사건은 같은 형식의 경보가 되어, 세 프로세스가 같은 메시지 시작 이벤트로 열린다.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CMMS-PM_DUE-HYD-02-20261010150830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PM_DUE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HYD-02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ERP-SPARE_BELOW_MIN-P-PMP-SEAL-20261010151032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SPARE_BELOW_MIN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HYD-03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필드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경보에 alertId, pattern,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asset이 똑같이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사건인지를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나타낸다.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alertId의 머리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명명 규칙으로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출처를 표시한다.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alertId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정의에서 같은 경보의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중복 처리를 막는다.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뒤의 실행: 업무마다 다른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추천안의 실행은 설비 명령이면 SCADA가, 정비 오더이면 CMMS가, 발주와 입고이면 ERP가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2936138" cy="4727448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73352"/>
            <a:ext cx="293613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승인된 추천안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84832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84832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조치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87496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87496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계획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야간 정비 시간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090160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090160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씰 키트 6개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27778" y="1627632"/>
            <a:ext cx="2936138" cy="4727448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7778" y="1673352"/>
            <a:ext cx="293613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시스템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10658" y="2084832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6378" y="2084832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SCADA와 CMMS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 명령, 작업지시 등록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10658" y="3587496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56378" y="3587496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CMMS와 메일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오더 등록, 생산팀 공지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10658" y="5090160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6378" y="5090160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ERP와 메일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발주, 공급사 통지, 입고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06916" y="1627632"/>
            <a:ext cx="2936138" cy="4727448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06916" y="1673352"/>
            <a:ext cx="293613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남는 기록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9796" y="2084832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5516" y="2084832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명령과 작업지시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100 %, 핀 세척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89796" y="3587496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35516" y="3587496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정비할 시점과 작업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89796" y="5090160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35516" y="5090160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발주와 입고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수량, 공급사, 금액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301898" y="2516124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3164738" y="2223516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301898" y="4018788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3" name="TextBox 32"/>
          <p:cNvSpPr txBox="1"/>
          <p:nvPr/>
        </p:nvSpPr>
        <p:spPr>
          <a:xfrm>
            <a:off x="3164738" y="3726180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 승인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301898" y="5521452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3164738" y="5228844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구매 담당 승인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381036" y="2516124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7" name="TextBox 36"/>
          <p:cNvSpPr txBox="1"/>
          <p:nvPr/>
        </p:nvSpPr>
        <p:spPr>
          <a:xfrm>
            <a:off x="7243876" y="2223516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381036" y="4018788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9" name="TextBox 38"/>
          <p:cNvSpPr txBox="1"/>
          <p:nvPr/>
        </p:nvSpPr>
        <p:spPr>
          <a:xfrm>
            <a:off x="7243876" y="3726180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81036" y="5521452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41" name="TextBox 40"/>
          <p:cNvSpPr txBox="1"/>
          <p:nvPr/>
        </p:nvSpPr>
        <p:spPr>
          <a:xfrm>
            <a:off x="7243876" y="5228844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정의 · 인스턴스와 실행 기록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경보가 정의를 골라 처리 건을 열고, 그 기록으로 대기와 병목을 읽는다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정의가 셋일 때: 경보 패턴이 정의를 고른다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정의가 셋으로 늘어도 경보의 패턴이 인스턴스를 열 정의를 고르고, 처리 건은 자기 정의의 순서대로 따로 진행된다.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2936138" cy="4727448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73352"/>
            <a:ext cx="293613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경보 패턴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84832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84832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COOLER_DEGRADATION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87496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87496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PM_DUE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도래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090160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090160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SPARE_BELOW_MIN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부족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27778" y="1627632"/>
            <a:ext cx="2936138" cy="4727448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7778" y="1673352"/>
            <a:ext cx="293613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배포된 프로세스 정의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10658" y="2084832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6378" y="2084832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c3_cooling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프로세스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10658" y="3587496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56378" y="3587496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c3_pm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프로세스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10658" y="5090160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6378" y="5090160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c3_spare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보충 프로세스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06916" y="1627632"/>
            <a:ext cx="2936138" cy="4727448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06916" y="1673352"/>
            <a:ext cx="293613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9796" y="2084832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5516" y="2084832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c3_cooling.4f93a9d0…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처리 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89796" y="3587496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35516" y="3587496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c3_pm.28d73c7a…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HYD-02의 처리 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89796" y="5090160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35516" y="5090160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c3_spare.8b48bf5f…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HYD-03의 처리 건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301898" y="2516124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3164738" y="2223516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연다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301898" y="4018788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3" name="TextBox 32"/>
          <p:cNvSpPr txBox="1"/>
          <p:nvPr/>
        </p:nvSpPr>
        <p:spPr>
          <a:xfrm>
            <a:off x="3164738" y="3726180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연다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301898" y="5521452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3164738" y="5228844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연다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381036" y="2516124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7" name="TextBox 36"/>
          <p:cNvSpPr txBox="1"/>
          <p:nvPr/>
        </p:nvSpPr>
        <p:spPr>
          <a:xfrm>
            <a:off x="7243876" y="2223516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381036" y="4018788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9" name="TextBox 38"/>
          <p:cNvSpPr txBox="1"/>
          <p:nvPr/>
        </p:nvSpPr>
        <p:spPr>
          <a:xfrm>
            <a:off x="7243876" y="3726180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81036" y="5521452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41" name="TextBox 40"/>
          <p:cNvSpPr txBox="1"/>
          <p:nvPr/>
        </p:nvSpPr>
        <p:spPr>
          <a:xfrm>
            <a:off x="7243876" y="5228844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배포: 경보를 받을 흐름을 정하는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배포와 되돌리기는 경보 경로를 바꾸므로 공용 환경에서는 적용 범위를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6589"/>
            <a:ext cx="2485567" cy="312953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0946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versions" descr="version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6308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414141"/>
            <a:ext cx="2339263" cy="206882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검사를 통과한 정의를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판본으로 저장한다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등록만으로는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경보를 받지 않는다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426589"/>
            <a:ext cx="2485567" cy="312953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0946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cket" descr="rocke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6308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414141"/>
            <a:ext cx="2339263" cy="206882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판본이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 조건의 경보를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받는 흐름이 된다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426589"/>
            <a:ext cx="2485567" cy="312953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0946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bell-ringing" descr="bell-ringing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6308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414141"/>
            <a:ext cx="2339263" cy="206882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도착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패턴의 흐름 가운데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가장 최근에 배포한 것이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건을 연다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426589"/>
            <a:ext cx="2485567" cy="312953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0946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arrow-back-up" descr="arrow-back-u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6308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414141"/>
            <a:ext cx="2339263" cy="206882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되돌리기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사용 공간의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사용자 흐름 배포를 내린다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등록한 판본은 남는다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대기와 완료: 세 프로세스에서 같은 방법으로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프로세스 어디서나 승인 대기는 처리 건의 상태 RUNNING으로, 종결은 끝 이벤트와 결과 보고의 결과로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 건의 상태와 끝 이벤트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RUNNING · 승인 작업이 IN_PROGRESS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아직 없다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RUNNING · 알림이 나간 뒤에도 승인 작업은 열려 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E_rejected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(기록의 값은 반려)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승인: 긴급 대응, 정기 점검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(긴급 대응은 미달도)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승인: 재고 보충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입고 완료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거절로 닫힌 처리 건과 남은 업무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거절하면 처리 건은 닫혀도 점검 도래와 재고 부족은 그대로 남으므로, 거절의 결과 보고는 하지 않은 일을 밝혀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ol" descr="too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 보고: 「설비 명령은 내지 않았습니다」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 0건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조치 없음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alendar" descr="calenda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 보고: 「정비 오더를 내지 않았습니다」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정기 점검 도래 표시가 켜진 채 남는다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도래 그대로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ackage" descr="packag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 보고: 「발주하지 않았습니다」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재고 보충 필요 표시가 켜진 채 남는다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부족 그대로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기록과 모니터링: 단계마다 남는 시작과 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미리 수집한 시연의 단계 시각으로 경과 시간을 읽되, 대기와 실제 수행 시간은 구별한다.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담당 · 시작 → 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걸린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· 11:13:09 → 11:14:42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1분 34초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· 11:14:42 → 11:14:56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약 14초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 · 11:14:57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1초 미만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 · 11:14:58 → 11:15:58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약 1분(이 기록)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 · 결과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 · 11:15:58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1초 미만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병목: 흐름 전체를 늦추는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병목은 전체 흐름을 제한하는 지점으로, 최장 단계만이 아니라 반복 지연과 원인을 확인해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pic>
        <p:nvPicPr>
          <p:cNvPr id="6" name="삽화:병목.svg" descr="illust_371701983359507249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742" y="2662943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742" y="3934626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742" y="5206310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9363" y="2554211"/>
            <a:ext cx="1145496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조치 제안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9363" y="3816440"/>
            <a:ext cx="1145496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계획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9363" y="5206310"/>
            <a:ext cx="114549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발주안 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9432" y="2662943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337" y="3816440"/>
            <a:ext cx="17455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432" y="5206310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구매 담당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50417" y="3206599"/>
            <a:ext cx="480017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 → 재관측 → 작업지시 등록 → 결과 보고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249" y="4478283"/>
            <a:ext cx="283646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오더와 공지 → 결과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0417" y="5749966"/>
            <a:ext cx="480017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ERP 발주와 통지 → 입고와 재고 반영 → 결과 보고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8496" y="1627632"/>
            <a:ext cx="327284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승인: 지연 조사 대상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지표: 여러 처리 건을 수로 요약한다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지표는 여러 처리 건의 기록을 수로 요약한 것으로, 고칠 곳을 고르고 고친 뒤 나아졌는지를 견주는 기준이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사이클 타임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Cycle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 시작부터 전체 완료까지 걸린 시간이다.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쿨러 사건의 처리 건 2분 51초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대기 시간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Waiting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작업이 열린 뒤 수행되기를 기다린 시간이다.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열림~닫힘에는 대기와 검토 시간이 함께 들어간다.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Throughput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기간에 끝난 처리 건의 수이다.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Rejection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끝난 처리 건 가운데 거절로 닫힌 것의 비율이다.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근거와 승인 기준을 점검하되, 필요한 거절은 유지한다.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BPMN 패턴의 재사용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업무의 조건을 확인하고, 공통 구조와 예외 경로를 다시 쓴다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업무마다 처음부터 설계할 때 생기는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기준 없이 따로 설계하면 승인 방식이 달라지고, 예외 경로가 빠지거나 수정할 곳이 흩어질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s-split-2" descr="arrows-split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승인이 달라지기 쉽다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거절과 무응답을 다루는 방식이 프로세스마다 달라진다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확인한 거절 경로가 다른 곳에서 빠진다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search" descr="file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법이 늘어난다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대기와 종결을 가르는 기준을 프로세스마다 새로 익혀야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ol" descr="tool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고칠 곳이 흩어진다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기한 하나를 바꾸는 데도 그림마다 다른 자리를 찾아 고쳐야 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프로세스의 같은 뼈대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프로세스를 나란히 놓으면 에이전트의 제안, 사람의 승인과 거절, 시스템의 처리, 결과 보고라는 뼈대가 같다.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pic>
        <p:nvPicPr>
          <p:cNvPr id="6" name="삽화:세흐름_나란히.svg" descr="illust_897844611224176280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46654" y="1745818"/>
            <a:ext cx="218189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자리 · 같은 모양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2049" y="2171288"/>
            <a:ext cx="1265501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조치 제안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4840" y="2289474"/>
            <a:ext cx="115640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1295" y="2289474"/>
            <a:ext cx="104731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54068" y="2289474"/>
            <a:ext cx="104731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6841" y="2171288"/>
            <a:ext cx="1047311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0523" y="2289474"/>
            <a:ext cx="104731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2049" y="3684071"/>
            <a:ext cx="12655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계획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7564" y="3684071"/>
            <a:ext cx="1374596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34019" y="3660434"/>
            <a:ext cx="1221863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오더와 공지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4068" y="3778620"/>
            <a:ext cx="104731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2049" y="5267766"/>
            <a:ext cx="126550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발주안 제안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1206" y="5149580"/>
            <a:ext cx="1156406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구매 담당 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34019" y="5149580"/>
            <a:ext cx="1221863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ERP 발주와 통지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6792" y="5149580"/>
            <a:ext cx="1221863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입고와 재고 반영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6841" y="5267766"/>
            <a:ext cx="104731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패턴: 되풀이되는 문제에 다시 쓰는 검증된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되풀이되는 설계 문제를 한 번 풀어 검증해 둔 구조를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패턴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이라 하며, 승인을 받는 자리의 요소 묶음이 그 예이다.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패턴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곳에서 되풀이되는 설계 문제에 다시 쓸 수 있게 다듬어 둔 구조이다.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업무의 조건에 맞는지 확인하고 필요한 부분을 조정한다.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블록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승인의 패턴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작업, 승인과 거절의 갈림, 승인 지연 타이머와 알림, 거절의 결과 보고와 끝 이벤트를 묶은 것이다.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검증한 구조를 새 업무의 출발점으로 삼는다.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정책과 예외 경로가 여전히 맞는지 다시 확인한다.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블록: 같은 일곱 요소와 바뀌는 두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예제는 같은 승인 정책과 기한을 쓰지만, 다른 업무에서는 권한·기한·예외 경로를 다시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pic>
        <p:nvPicPr>
          <p:cNvPr id="6" name="삽화:승인블록_자리.svg" descr="illust_696194378007929886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3846" y="2809494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 작업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9401" y="2714945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작업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T_approve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6774" y="1816729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G_approved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9587" y="2644033"/>
            <a:ext cx="1854614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뒤의 첫 작업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명령·정비 오더·발주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4104" y="5007757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R_rejected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9356" y="5007757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T_notice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9458" y="3754983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B_overdue · 10분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2271" y="2620396"/>
            <a:ext cx="87275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55894" y="3546975"/>
            <a:ext cx="24328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 == '승인'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77702" y="4227728"/>
            <a:ext cx="65456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098" y="5598688"/>
            <a:ext cx="109094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종결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E_rejected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656" y="5598688"/>
            <a:ext cx="87275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E_notice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2094" y="1627632"/>
            <a:ext cx="32728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역할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 · 설비보전팀장 · 구매 담당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프로세스의 BPMN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프로세스는 승인 블록이 긴급 대응과 같고, 시작 이벤트와 제안 작업과 승인 뒤의 작업 둘만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pic>
        <p:nvPicPr>
          <p:cNvPr id="6" name="삽화:흐름_정기점검.svg" descr="illust_217643461450389081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5647" y="2218563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47" y="3518611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47" y="5149580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2049" y="3707709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요청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2979" y="3022229"/>
            <a:ext cx="135277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계획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4840" y="1840367"/>
            <a:ext cx="1330958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8527" y="1674906"/>
            <a:ext cx="76366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3970" y="2785856"/>
            <a:ext cx="54547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3065" y="4085904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공지 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8611" y="419936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55972" y="3944081"/>
            <a:ext cx="54547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74006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8496" y="4941573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4942" y="5882335"/>
            <a:ext cx="98185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종결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0297" y="5882335"/>
            <a:ext cx="65456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3176" y="4842296"/>
            <a:ext cx="3491038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이 프로세스에서 달라진 요소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이벤트, 정비 계획 제안, 정비 오더 등록 · 공지 메일, 결과 보고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프로세스의 BPMN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보충 프로세스도 승인 블록은 같고, 그 뒤에 발주, 입고와 재고 반영, 결과 보고의 세 작업이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pic>
        <p:nvPicPr>
          <p:cNvPr id="6" name="삽화:흐름_재고보충.svg" descr="illust_809876343050748827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5647" y="2218563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47" y="3518611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47" y="5149580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2049" y="3707709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요청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2979" y="3022229"/>
            <a:ext cx="135277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발주안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4840" y="2038919"/>
            <a:ext cx="133095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구매 담당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8527" y="1674906"/>
            <a:ext cx="76366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3970" y="2785856"/>
            <a:ext cx="54547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3065" y="4085904"/>
            <a:ext cx="130913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ERP 발주 · 공급사 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8598" y="419936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입고 · 재고 반영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25035" y="419936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45107" y="3944081"/>
            <a:ext cx="54547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74006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4941573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04942" y="5882335"/>
            <a:ext cx="98185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종결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0297" y="5882335"/>
            <a:ext cx="65456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구조로 남기는 것과 값으로 정하는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그림 구조와 연결 값을 나눠 작성하는 것은 HYD의 선택이며, BPMN 전체에 강제되는 방식은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itemap" descr="sitemap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그림의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제안, 승인 또는 거절, 처리, 결과 보고의 순서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블록의 일곱 요소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거절과 무응답의 경로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예제의 공통 구조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연결할 때 넣는 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프로세스를 여는 경보 패턴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제안 작업을 맡을 에이전트와 지시문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역할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뒤의 작업이 부를 시스템과 메일의 내용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거절의 결과 보고에 적을 하지 않은 일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기한 10분과 승인 조건(세 업무가 같은 값)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 밖의 값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타이머의 설계: 끊을 것인가, 알리기만 할 것인가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중단형은 원래 작업을 끊고 비중단형은 남기며, 기한 뒤의 처리와 책임자는 별도로 설계한다.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6870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an" descr="ba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2232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6870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중단형으로 설계하면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기한이 지나면 승인 작업이 끊긴다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타이머의 가지가 그 뒤를 대신 정한다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취소·담당자 변경 등 다음 경로를 설계한다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5797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5797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실선 타이머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6870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ell-ringing" descr="bell-ringing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22321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6870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비중단형으로 설계하면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예제는 추가 가지에서 지연 알림을 보낸다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작업은 열린 채로 기다린다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 프로세스의 승인 지연이 이 방식이며 기한은 10분(PT10M)이다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5797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5797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점선 타이머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 배분: 에이전트, 사람, 시스템에 맡기는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수업은 제안·승인·실행의 책임을 나누고, 승인 경로 검사와 실행 시 권한 확인을 함께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7251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2613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지식과 현재 값을 읽어 후보를 견준다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정비할 시점, 발주 수량과 공급사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816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8160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7251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2613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추천안을 검토해 승인하거나 거절한다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설비보전팀장, 구매 담당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816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8160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7251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ettings" descr="setting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2613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승인된 내용을 정해진 대로 실행한다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정비 오더 등록, 발주, 입고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8160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8160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· 기록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72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ock" descr="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2613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배치의 원칙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효과를 내는 작업은 승인 갈림 뒤에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없는 효과 경로는 등록 불가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8160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8160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 실행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정기 점검 프로세스 그리기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프로세스: 그리는 요소와 완성되는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프로세스는 긴급 대응의 승인 블록을 다시 쓰고, 시작과 제안 작업과 승인 뒤의 작업만 새로 그려 완성한다.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epeat" descr="repea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쓰는 것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 대응 그림의 승인 블록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정책을 확인하고 승인 역할을 바꾼다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지연은 비중단형(점선) 그대로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새로 그리는 것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정기 점검 도래로 여는 메시지 시작 이벤트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 계획 에이전트의 제안 작업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 오더 등록과 생산팀 공지, 결과 보고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2727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2727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 · 에이전트 · 시스템 레인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승인은 정비 오더로, 거절은 결과 보고: 거절로 간다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완성본과 같은 작업 6 · 게이트웨이 1 · 끝 이벤트 3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BPMN 파일로 저장해 다시 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정기 점검 프로세스 실행하기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시나리오 B: 실행해 대조할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시나리오 B에서 제안 근거와 결정을 거쳐, 오더 · 예약 · 공지 · 보고를 한 처리 건에서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 읽기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시점의 제안과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근거를 읽는다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10" name="Right Arrow 9"/>
          <p:cNvSpPr/>
          <p:nvPr/>
        </p:nvSpPr>
        <p:spPr>
          <a:xfrm>
            <a:off x="317296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 결정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설비보전팀장의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또는 거절을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15" name="Right Arrow 14"/>
          <p:cNvSpPr/>
          <p:nvPr/>
        </p:nvSpPr>
        <p:spPr>
          <a:xfrm>
            <a:off x="600760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364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· 부품 예약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공지 · 보고를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처리 건에서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찾아 맞춘다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20" name="Right Arrow 19"/>
          <p:cNvSpPr/>
          <p:nvPr/>
        </p:nvSpPr>
        <p:spPr>
          <a:xfrm>
            <a:off x="884224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828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287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결과를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BPMN 작업과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 저장한다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25" name="Rounded Rectangle 24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5321808"/>
            <a:ext cx="84124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오더 등록과 실제 정비 완료를 구분한다 · 거절 · 보류는 확인한 기록 범위에서 비교한다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5404104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재고 보충 프로세스 그리기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보충: 그리는 요소와 완성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보충 프로세스는 같은 승인 블록 뒤에 발주에서 입고와 재고 반영까지를 이어 그려, 작업이 일곱인 파일로 완성한다.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epeat" descr="repea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쓰는 것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승인 블록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역할만 구매 담당으로 바꾼다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새로 그리는 것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재고 부족의 시작 이벤트, 구매 에이전트의 제안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ERP 발주 · 공급사 통지, 입고 · 재고 반영, 결과 보고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범위: 수업용 기업 시스템의 시뮬레이션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레인의 작업 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승인은 발주로, 거절은 결과 보고: 거절로 간다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완성본과 같은 작업 7 · 게이트웨이 1 · 끝 이벤트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재고 보충 프로세스 실행하기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시나리오 C: 실행해 대조할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시나리오 C의 제안 근거와 승인 조건을 읽고, 발주 · 통지 · 입고 · 재고 반영을 시작 수량과 견준다.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 읽기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공급사 · 수량의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 근거와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조건을 읽는다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10" name="Right Arrow 9"/>
          <p:cNvSpPr/>
          <p:nvPr/>
        </p:nvSpPr>
        <p:spPr>
          <a:xfrm>
            <a:off x="317296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구매 담당의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또는 거절을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15" name="Right Arrow 14"/>
          <p:cNvSpPr/>
          <p:nvPr/>
        </p:nvSpPr>
        <p:spPr>
          <a:xfrm>
            <a:off x="600760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364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찾아 견주기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 · 통지 · 입고 ·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반영을 찾아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재고 · 예약 ·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 중 수량과 견준다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20" name="Right Arrow 19"/>
          <p:cNvSpPr/>
          <p:nvPr/>
        </p:nvSpPr>
        <p:spPr>
          <a:xfrm>
            <a:off x="884224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828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287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결과를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BPMN 작업과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 저장한다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25" name="Rounded Rectangle 24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5321808"/>
            <a:ext cx="84124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예: 가용 재고 1 → 7개, 결과 보고: 입고 완료 · 즉시 입고를 실제 배송으로 설명하지 않는다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5404104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처리 건이 지나는 다섯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처리 건을 시작 이벤트에서 종료 기록까지 되짚는다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건이 지나는 다섯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세 예제의 승인 경로를 다섯 자리로 읽고, 거절 경로는 업무 실행 없이 결과를 남기는 길로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pic>
        <p:nvPicPr>
          <p:cNvPr id="6" name="삽화:다섯자리.svg" descr="illust_9541291248600737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7471" y="1769455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5732" y="1769455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판단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추천과 대안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59445" y="1769455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사람의 승인 · 거절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정해진 승인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52254" y="1769455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시스템의 처리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SCADA · CMMS · ERP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0515" y="1769455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 기록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 이벤트 · 결과 보고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15829" y="5409590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거절의 경로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E_rejected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처리 건 안에서 주고받는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자리는 앞 자리가 낸 것을 받아 일하므로, 경보는 추천안이 되고 추천안은 승인된 내용이 되어 기록으로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주고받는것.svg" descr="illust_820357729393351205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1108" y="162763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6645" y="162763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2182" y="162763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57719" y="162763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3256" y="162763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031" y="3707709"/>
            <a:ext cx="2836468" cy="1181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경보의 내용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 · COOLER_DEGRADATION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HYD-02 · PM_DUE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HYD-03 · SPARE_BELOW_MIN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3939" y="3660434"/>
            <a:ext cx="261827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조치: 팬 최대 운전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시점: 야간 정비 시간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발주안: 6개 · 공급사 · 금액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9476" y="3707709"/>
            <a:ext cx="261827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승인된 내용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 · 팬 속도 100 %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설비보전팀장 · 정비 시점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구매 담당 · 수량과 공급사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5013" y="3707709"/>
            <a:ext cx="261827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처리의 결과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명령과 작업지시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오더와 공지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발주와 입고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 처리 건의 다섯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처리 건은 쿨러 성능 저하 경보에서 열려, 운전원의 승인 뒤 팬 명령과 작업지시를 남기고 정상으로 끝났다.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3364674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648651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1171" y="2860916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bell-ringing" descr="bell-ringing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137833"/>
            <a:ext cx="599985" cy="5999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79" y="4151896"/>
            <a:ext cx="203600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성능 저하 경보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11" name="Chevron 10"/>
          <p:cNvSpPr/>
          <p:nvPr/>
        </p:nvSpPr>
        <p:spPr>
          <a:xfrm>
            <a:off x="4867534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00054" y="2860916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137833"/>
            <a:ext cx="599985" cy="5999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58963" y="4151896"/>
            <a:ext cx="203600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쿨러 핀 오염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팬 최대 운전</a:t>
            </a:r>
          </a:p>
        </p:txBody>
      </p:sp>
      <p:sp>
        <p:nvSpPr>
          <p:cNvPr id="15" name="Chevron 14"/>
          <p:cNvSpPr/>
          <p:nvPr/>
        </p:nvSpPr>
        <p:spPr>
          <a:xfrm>
            <a:off x="7086417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18938" y="2860916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137833"/>
            <a:ext cx="599985" cy="59998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7846" y="4151896"/>
            <a:ext cx="203600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</p:txBody>
      </p:sp>
      <p:sp>
        <p:nvSpPr>
          <p:cNvPr id="19" name="Chevron 18"/>
          <p:cNvSpPr/>
          <p:nvPr/>
        </p:nvSpPr>
        <p:spPr>
          <a:xfrm>
            <a:off x="9305300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37821" y="2860916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ettings" descr="setting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137833"/>
            <a:ext cx="599985" cy="59998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96729" y="4151896"/>
            <a:ext cx="203600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시스템의 처리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23" name="Oval 22"/>
          <p:cNvSpPr/>
          <p:nvPr/>
        </p:nvSpPr>
        <p:spPr>
          <a:xfrm>
            <a:off x="9956704" y="2860916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아이콘:file-text" descr="file-text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137833"/>
            <a:ext cx="599985" cy="59998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15612" y="4151896"/>
            <a:ext cx="203600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E_end · 정상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51.5 ℃ · 경보 해제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처리 건의 다섯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점검에서는 도래 경보가 처리 건을 열었고, 설비보전팀장이 승인한 정비 시점이 정비 오더와 생산팀 공지가 되었다.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3465385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648651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1171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calendar" descr="calenda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238544"/>
            <a:ext cx="599985" cy="5999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79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점검 도래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HYD-02 · PM_DUE</a:t>
            </a:r>
          </a:p>
        </p:txBody>
      </p:sp>
      <p:sp>
        <p:nvSpPr>
          <p:cNvPr id="11" name="Chevron 10"/>
          <p:cNvSpPr/>
          <p:nvPr/>
        </p:nvSpPr>
        <p:spPr>
          <a:xfrm>
            <a:off x="4867534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00054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238544"/>
            <a:ext cx="599985" cy="5999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58963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추천안의 정비 시점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야간 정비 시간</a:t>
            </a:r>
          </a:p>
        </p:txBody>
      </p:sp>
      <p:sp>
        <p:nvSpPr>
          <p:cNvPr id="15" name="Chevron 14"/>
          <p:cNvSpPr/>
          <p:nvPr/>
        </p:nvSpPr>
        <p:spPr>
          <a:xfrm>
            <a:off x="7086417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18938" y="2961627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238544"/>
            <a:ext cx="599985" cy="59998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7846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추천안의 정비 시점을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9" name="Chevron 18"/>
          <p:cNvSpPr/>
          <p:nvPr/>
        </p:nvSpPr>
        <p:spPr>
          <a:xfrm>
            <a:off x="9305300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37821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ettings" descr="setting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238544"/>
            <a:ext cx="599985" cy="59998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96729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시스템의 처리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오더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WO-1010-5DDD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생산팀 공지 메일</a:t>
            </a:r>
          </a:p>
        </p:txBody>
      </p:sp>
      <p:sp>
        <p:nvSpPr>
          <p:cNvPr id="23" name="Oval 22"/>
          <p:cNvSpPr/>
          <p:nvPr/>
        </p:nvSpPr>
        <p:spPr>
          <a:xfrm>
            <a:off x="9956704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아이콘:file-text" descr="file-text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238544"/>
            <a:ext cx="599985" cy="59998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15612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E_end · 정상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점검의 추천안: 추천, 대안, 제외된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점검의 추천안에는 추천 하나와 함께, 득실에서 진 대안과 판단 규칙이 제외한 후보가 그 까닭과 함께 실렸다.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판정의 까닭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예정된 정비 시간에 단독 시행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오더가 없는 시간이라 생산 손실이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바로 정지하고 시행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24시간 안의 생산 오더가 있어 오더 손실 80만 원을 감점한다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그다음 예정된 정비 시간으로 미루기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그때의 운전시간이 허용 상한 2,200 h를 넘는다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기종 두 대 묶어 시행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씰 키트가 2개 이상 있어야 하는데 가용 재고가 1개이다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처리 건의 다섯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 중 수량은 보충 판단에 먼저 반영하지만, 실제로 꺼내 쓸 재고는 입고 뒤에 늘어난다.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3566096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648651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1171" y="306233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package" descr="packag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339255"/>
            <a:ext cx="599985" cy="5999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79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부족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씰 키트 가용 1개</a:t>
            </a:r>
          </a:p>
        </p:txBody>
      </p:sp>
      <p:sp>
        <p:nvSpPr>
          <p:cNvPr id="11" name="Chevron 10"/>
          <p:cNvSpPr/>
          <p:nvPr/>
        </p:nvSpPr>
        <p:spPr>
          <a:xfrm>
            <a:off x="4867534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00054" y="306233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339255"/>
            <a:ext cx="599985" cy="5999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58963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6개 · B-OEM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330만원</a:t>
            </a:r>
          </a:p>
        </p:txBody>
      </p:sp>
      <p:sp>
        <p:nvSpPr>
          <p:cNvPr id="15" name="Chevron 14"/>
          <p:cNvSpPr/>
          <p:nvPr/>
        </p:nvSpPr>
        <p:spPr>
          <a:xfrm>
            <a:off x="7086417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18938" y="3062338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339255"/>
            <a:ext cx="599985" cy="59998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7846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구매 담당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발주안을 승인</a:t>
            </a:r>
          </a:p>
        </p:txBody>
      </p:sp>
      <p:sp>
        <p:nvSpPr>
          <p:cNvPr id="19" name="Chevron 18"/>
          <p:cNvSpPr/>
          <p:nvPr/>
        </p:nvSpPr>
        <p:spPr>
          <a:xfrm>
            <a:off x="9305300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37821" y="306233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ettings" descr="setting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339255"/>
            <a:ext cx="599985" cy="59998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96729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시스템의 처리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 PR-1010-83F3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입고 GR-1010-4EE3</a:t>
            </a:r>
          </a:p>
        </p:txBody>
      </p:sp>
      <p:sp>
        <p:nvSpPr>
          <p:cNvPr id="23" name="Oval 22"/>
          <p:cNvSpPr/>
          <p:nvPr/>
        </p:nvSpPr>
        <p:spPr>
          <a:xfrm>
            <a:off x="9956704" y="306233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아이콘:file-text" descr="file-text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339255"/>
            <a:ext cx="599985" cy="59998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15612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E_end · 입고 완료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입고 뒤 사용 가능 7개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보충의 추천안: 공급사 셋의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보충의 추천안은 공급사 셋을 금액, 납기, 불량률, 회사 규정으로 견주어 가장 싼 곳이 아닌 순정 공급사를 추천했다.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씰 키트 6개의 금액 · 납기 · 불량률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B-OEM · 순정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330만원 · 5일 · 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300만 원을 넘어 전결 기준 초과를 표시한다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A정밀 · 대체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210만원 · 2일 · 12 %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불량률 10 % 초과로 전수 검사 감점, 품질 득실도 뒤진다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C트레이딩 · 비승인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120만원 · 1일 · 30 %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공급사가 아니어서 핵심 부품을 살 수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업무가 끝난 모습: 종료 기록과 달라진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종료 기록의 끝 이벤트와 결과 보고는 유온의 회복, 등록된 정비 오더, 채워진 재고라는 달라진 상태를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pic>
        <p:nvPicPr>
          <p:cNvPr id="6" name="삽화:세종료.svg" descr="illust_470171606906755199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6561" y="4889571"/>
            <a:ext cx="327284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51.5 ℃ · 기준 55 ℃ 미만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작업지시 WO-1010-C058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4875" y="4889571"/>
            <a:ext cx="327284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오더 WO-1010-5DDD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생산팀에 공지 메일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3190" y="4889571"/>
            <a:ext cx="327284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씰 키트 6개 입고 · 검수 합격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입고 뒤 사용 가능 7개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5656" y="5929609"/>
            <a:ext cx="305465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E_end · 정상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3970" y="5929609"/>
            <a:ext cx="305465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E_end · 정상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285" y="5929609"/>
            <a:ext cx="305465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E_end · 입고 완료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 기록에서 거슬러 읽는 식별자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경보, 판단, 승인, 명령, 작업지시가 식별자로 이어져 있어 끝난 업무를 추천안과 승인까지 거슬러 읽을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ALT-hyd01-0014-e0a1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c3_cooling.4f93a9d0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DEC-1010-002-408b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role:operator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11:14:56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CMD-1010-0001-b94a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WO-1010-C058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E_end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추천안의 근거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id로 에이전트가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낸 원인과 추천을 찾는다.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결정의 책임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역할·사용자·승인 내용을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함께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실행의 결과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작업지시에도 판단 id가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남아 거슬러 오를 수 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· 에이전트 · 프로세스의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지식이 판단의 재료가 되고 추천안이 끝난 업무가 되는 길을 잇는다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온톨로지, 에이전트, 프로세스가 맡는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근거의 의미와 관계를 정하고, 후보를 비교하며, 결정·실행·기록을 잇는 역할을 나누어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pic>
        <p:nvPicPr>
          <p:cNvPr id="6" name="삽화:세층연결.svg" descr="illust_589678684754715983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468" y="5267766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증거 · 조치 · 규칙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59423" y="5267766"/>
            <a:ext cx="272737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추천과 대안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998" y="5267766"/>
            <a:ext cx="360013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 · 책임 · 승인 · 실행 · 기록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에이전트가 읽는 곳: 같은 지식과 다른 업무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업무별로 연결한 접근 범위와, 실제 실행에서 조회한 기록을 구별한다.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함께 읽는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업무별로 연결한 데이터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 · 판단 규칙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오더, 품질 로트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계획 에이전트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 · 판단 규칙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계획과 운전시간, 정비 가능 시간, 정비 이력, 생산 오더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구매 에이전트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 · 판단 규칙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예비품 재고, 부품 견적, 공급사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한 줄이 끝난 업무가 되기까지: 팬 최대 운전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SOP-COOL-11은 에이전트의 추천, 운전원의 승인, 팬 명령을 거쳐 유온 51.5 ℃라는 결과가 되었다.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82506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SOP-COOL-11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그래프에 있다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825064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원인을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가려 추천한다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825064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승인한다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end" descr="send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825064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낸다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67144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eye" descr="eye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825064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재관측 유온 51.5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55 ℃ 미만 · 경보 해제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셋 가운데 하나가 빠질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제품 이름보다 근거 관리, 후보 비교, 결정과 실행의 연결 중 비어 있는 역할을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관리가 비면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후보와 조치와 규칙을 읽을 곳이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추천안이 무엇에 근거했는지 되짚을 수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비교를 바꾸면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사람이나 다른 규칙 기반 기능이 지식과 값을 찾아 후보를 견주어야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oute" descr="rout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절차가 비면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누가 승인하고 실행할지 정해져 있지 않다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진행과 결과가 한곳에 남지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완결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AI가 맡은 일과 사람이 맡은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업무에서 AI는 읽고 견주어 제안했고, 사람은 프로세스를 설계하고 추천안을 승인하거나 거절했다.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 에이전트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그래프와 업무 데이터를 읽는다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후보를 견주어 추천과 대안을 낸다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명령과 업무 처리는 하지 않는다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제안까지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순서, 승인 역할, 예외 경로를 프로세스로 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추천안을 승인하거나 거절한다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기록과 지표를 읽어 프로세스를 고친다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76783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7678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 · 결정 · 개선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기록이 다음 설계의 입력이 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건의 기록에서 지표를 얻어 고칠 자리를 찾고, 고친 정의를 새 판본으로 배포하면 다음 경보부터 적용된다.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ayer-play" descr="player-pla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85217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경보가 처리 건을 열고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이벤트에 닿는다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history" descr="histor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85217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단계의 시각, 승인,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보고가 남는다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chart-bar" descr="chart-ba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85217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사이클 타임, 대기 시간,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거절률로 요약한다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9855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versions" descr="version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85217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확인하고 수정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예외 경로도 검증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판본으로 배포한다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처리 건 하나로 배운 구분 적용하기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정기 점검 예제로 정의 선택, 대기와 종결, 그림 구조와 연결 값의 구분을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처리 건을 연 정의는?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패턴 PM_DUE를 시작 조건으로 가진 배포된 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승인을 기다리는 동안의 상태는?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 RUNNING, 승인 작업 IN_PROGRESS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설비보전팀장이 거절했다면?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E_rejected, 「정비 오더를 내지 않았습니다」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도래 표시는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대응과 같은 것은?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블록의 일곱 요소와 순서, 기한 10분, 승인 조건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구조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대응과 다른 것은?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 경보, 정비 계획 에이전트, 설비보전팀장, CMMS와 메일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다른 값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ERP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Enterprise Resource Planning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구매 · 재고 같은 기업 자원을 한 시스템에서 관리하는 전사적 자원 관리 시스템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예방 정비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Preventive Maintenance, PM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고장이 나기 전에 운전시간이나 기간을 기준으로 미리 하는 정비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가용 재고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Available Stock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 보충 판단 수량: 현재고 - 예약 + 발주 중 수량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재주문점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Reorder Point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재고가 이 수량 아래로 내려가면 다시 주문하는 기준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병목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Bottleneck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전체 처리량이나 흐름을 제한하는 지점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사이클 타임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Cycle Time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건의 시작부터 전체 완료까지 걸린 시간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대기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Waiting Time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수행을 기다린 시간. 승인 열림~닫힘에는 검토 시간도 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Rejection Rate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끝난 처리 건 가운데 거절로 닫힌 것의 비율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패턴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되풀이되는 설계 문제에 다시 쓰도록 검증해 둔 구조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거절로 닫힌 재고 보충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재고 변화 없이, 이 처리 건이 COMPLETED · E_rejected로 닫혔다.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처리 건이 닫힌 뒤의 상황으로 옳은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끝났으므로 씰 키트의 재고 부족도 해결되었다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발주는 만들어지지 않았고 재고 보충이 필요한 상태는 그대로 남아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발주는 나갔지만 입고만 이루어지지 않았다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지연 타이머가 처리 건을 자동으로 닫았다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병목을 판단하는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프로세스가 느리다는 말이 나와, 끝난 처리 건들의 기록에서 어느 단계가 흐름을 늦추는지 찾으려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병목 조사를 시작할 때 근거로 삼을 기록은?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건의 상태가 COMPLETED인지 여부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닿은 끝 이벤트의 이름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작업이 사용자 작업이라는 그림의 표식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단계마다 남은 시작과 끝의 시각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승인을 생략하자는 의견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승인 정책을 유지하는 상황에서, 추천이 적절하니 승인 없이 정비 오더를 등록하자는 의견이 나왔다.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의견에 대한 판단으로 옳은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추천안이 정확하다면 승인 작업을 빼고 추천안대로 바로 등록한다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작업을 서비스 작업으로 바꾸어 시스템이 대신 승인하게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오더는 효과를 내는 작업이므로 설비보전팀장의 승인 뒤에 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지연 타이머를 중단형으로 바꾸어 기한이 지나면 자동으로 등록한다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닫힌 처리 건의 해석, 판단의 근거가 되는 기록, 에이전트와 사람의 책임 경계를 바르게 읽는지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거절하면 처리 건은 닫히지만 발주는 만들어지지 않는다. 다른 재고 변화가 없다면 부족은 남는다.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상태와 끝 이벤트는 결말을 알려 준다. 단계 시각으로 지연을 찾고 반복 여부와 원인을 조사한다.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제안까지 한다. 효과를 내는 작업은 책임질 역할의 승인 뒤에 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