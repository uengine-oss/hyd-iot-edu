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이런 업무마다 프로세스를 처음부터 새로 만들어야 할까요? 긴급 대응에서 그대로 가져다 쓸 수 있는 건 뭐고, 바꿔야 하는 건 뭘까요? 이번 회차는 이 물음에서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같은 사용 공간을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강사에게 배정된 환경을 확인하고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수업에서 확인할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실습에서는 정기 점검의 승인·거절 처리 기록을 남기고, 이어서 재고 보충의 그림부터 만들어 보겠습니다. 사전 검사 통과와 실제 실행 성공도 구별하겠습니다.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제시된 시작 조건과 6개 발주안을 그대로 사용했다면 가용 재고가 1개에서 7개로 올라가고, 결과 보고가 입고 완료로 남아야 해요. 시작 재고나 승인 수량이 달랐다면 그 값으로 기대 재고를 계산해 실제 입고 기록과 대조합니다. 배포를 되돌릴 때는 앞서 설명한 공용 환경의 범위를 다시 확인합니다. 이 실습까지 마치면 직접 그린 두 프로세스의 진행 결과와 미확인이 기록으로 남고, 남은 건 세 업무를 한데 놓고 정리하는 일이에요. 이번 시간에는 공통 설계 원리와 네 실습의 목표를 정리했습니다. 이제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보겠습니다. 긴급 대응의 처리 건은 쿨러 사건으로 이미 끝까지 따라왔고요. 여기서는 실습에서 확인한 기록과 비교할 수 있도록 미리 끝까지 보내 둔 처리 건 셋을 나란히 놓고 봅니다. 화면의 번호나 시각이 실습의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기록에는 이 비교와 경고를 담은 추천안, 그리고 구매 담당의 승인 결정이 남아 있습니다. 담당자가 실제로 무엇을 검토했는지까지 단정하지는 않습니다. 비교의 근거와 승인 결정을 나누어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3회차에서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제가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생산·정비 조율 업무에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30~31장 통합 발화는 30장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32~33장 통합 발화는 32장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34~35장 통합 발화는 34장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36~37장 통합 발화는 36장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 Id="rIdTheory18_rId3" Type="http://schemas.openxmlformats.org/officeDocument/2006/relationships/image" Target="../media/theory10_18_rId3_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 Id="rIdTheory22_rId3" Type="http://schemas.openxmlformats.org/officeDocument/2006/relationships/image" Target="../media/theory10_22_rId3_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 Id="rIdTheory25_rId3" Type="http://schemas.openxmlformats.org/officeDocument/2006/relationships/image" Target="../media/theory10_25_rId3_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31.png"/><Relationship Id="rId5" Type="http://schemas.openxmlformats.org/officeDocument/2006/relationships/notesSlide" Target="../notesSlides/notesSlide5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5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31.png"/><Relationship Id="rId5" Type="http://schemas.openxmlformats.org/officeDocument/2006/relationships/notesSlide" Target="../notesSlides/notesSlide60.xml"/><Relationship Id="rIdTheory35_rId3" Type="http://schemas.openxmlformats.org/officeDocument/2006/relationships/image" Target="../media/theory10_35_rId3_image4.png"/><Relationship Id="rIdTheory35_rId4" Type="http://schemas.openxmlformats.org/officeDocument/2006/relationships/image" Target="../media/theory10_35_rId4_image5.png"/><Relationship Id="rIdTheory35_rId5" Type="http://schemas.openxmlformats.org/officeDocument/2006/relationships/image" Target="../media/theory10_35_rId5_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5.png"/><Relationship Id="rId4" Type="http://schemas.openxmlformats.org/officeDocument/2006/relationships/image" Target="../media/image34.png"/><Relationship Id="rId5" Type="http://schemas.openxmlformats.org/officeDocument/2006/relationships/image" Target="../media/image18.png"/><Relationship Id="rId6" Type="http://schemas.openxmlformats.org/officeDocument/2006/relationships/image" Target="../media/image35.png"/><Relationship Id="rId7" Type="http://schemas.openxmlformats.org/officeDocument/2006/relationships/notesSlide" Target="../notesSlides/notesSlide6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대응을 넘어 정비와 구매 업무까지 자동으로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7832359736620023472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716852270488148558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324865384962564818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8200552711527487087_1792333379.png"/>
          <p:cNvPicPr>
            <a:picLocks noChangeAspect="1"/>
          </p:cNvPicPr>
          <p:nvPr/>
        </p:nvPicPr>
        <p:blipFill>
          <a:blip r:embed="rIdTheory18_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590337" y="3816440"/>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a:t>
            </a:r>
          </a:p>
          <a:p>
            <a:pPr algn="ctr" eaLnBrk="0">
              <a:lnSpc>
                <a:spcPct val="110000"/>
              </a:lnSpc>
              <a:spcAft>
                <a:spcPts val="100"/>
              </a:spcAft>
            </a:pPr>
            <a:r>
              <a:rPr sz="1100" b="0">
                <a:solidFill>
                  <a:srgbClr val="556175"/>
                </a:solidFill>
                <a:latin typeface="맑은 고딕"/>
                <a:ea typeface="맑은 고딕"/>
                <a:cs typeface="맑은 고딕"/>
              </a:rPr>
              <a:t>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1045719346399902246_1792333320.png"/>
          <p:cNvPicPr>
            <a:picLocks noChangeAspect="1"/>
          </p:cNvPicPr>
          <p:nvPr/>
        </p:nvPicPr>
        <p:blipFill>
          <a:blip r:embed="rIdTheory22_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684071"/>
            <a:ext cx="12655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a:t>
            </a:r>
          </a:p>
          <a:p>
            <a:pPr algn="ctr" eaLnBrk="0">
              <a:lnSpc>
                <a:spcPct val="110000"/>
              </a:lnSpc>
              <a:spcAft>
                <a:spcPts val="100"/>
              </a:spcAft>
            </a:pPr>
            <a:r>
              <a:rPr sz="1100" b="0">
                <a:solidFill>
                  <a:srgbClr val="556175"/>
                </a:solidFill>
                <a:latin typeface="맑은 고딕"/>
                <a:ea typeface="맑은 고딕"/>
                <a:cs typeface="맑은 고딕"/>
              </a:rPr>
              <a:t>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33932202510516308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명령·정비 오더·발주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550000"/>
            <a:ext cx="2430000"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4942245735869672183_1792333379.png"/>
          <p:cNvPicPr>
            <a:picLocks noChangeAspect="1"/>
          </p:cNvPicPr>
          <p:nvPr/>
        </p:nvPicPr>
        <p:blipFill>
          <a:blip r:embed="rIdTheory25_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a:t>
            </a:r>
          </a:p>
          <a:p>
            <a:pPr algn="ctr" eaLnBrk="0">
              <a:lnSpc>
                <a:spcPct val="110000"/>
              </a:lnSpc>
              <a:spcAft>
                <a:spcPts val="100"/>
              </a:spcAft>
            </a:pPr>
            <a:r>
              <a:rPr sz="1100" b="0">
                <a:solidFill>
                  <a:srgbClr val="556175"/>
                </a:solidFill>
                <a:latin typeface="맑은 고딕"/>
                <a:ea typeface="맑은 고딕"/>
                <a:cs typeface="맑은 고딕"/>
              </a:rPr>
              <a:t>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389979134367356098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3"/>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BPMN · PM_DUE</a:t>
            </a:r>
          </a:p>
          <a:p>
            <a:pPr algn="l" eaLnBrk="0">
              <a:lnSpc>
                <a:spcPct val="110000"/>
              </a:lnSpc>
            </a:pPr>
            <a:r>
              <a:rPr sz="1500" b="0">
                <a:solidFill>
                  <a:srgbClr val="13294B"/>
                </a:solidFill>
                <a:latin typeface="맑은 고딕"/>
                <a:ea typeface="맑은 고딕"/>
                <a:cs typeface="맑은 고딕"/>
              </a:rPr>
              <a:t>정비 계획 에이전트</a:t>
            </a:r>
          </a:p>
          <a:p>
            <a:pPr algn="l" eaLnBrk="0">
              <a:lnSpc>
                <a:spcPct val="110000"/>
              </a:lnSpc>
            </a:pPr>
            <a:r>
              <a:rPr sz="1500" b="0">
                <a:solidFill>
                  <a:srgbClr val="13294B"/>
                </a:solidFill>
                <a:latin typeface="맑은 고딕"/>
                <a:ea typeface="맑은 고딕"/>
                <a:cs typeface="맑은 고딕"/>
              </a:rPr>
              <a:t>설비보전팀장 · 10분</a:t>
            </a:r>
          </a:p>
          <a:p>
            <a:pPr algn="l" eaLnBrk="0">
              <a:lnSpc>
                <a:spcPct val="110000"/>
              </a:lnSpc>
            </a:pPr>
            <a:r>
              <a:rPr sz="1500" b="0">
                <a:solidFill>
                  <a:srgbClr val="13294B"/>
                </a:solidFill>
                <a:latin typeface="맑은 고딕"/>
                <a:ea typeface="맑은 고딕"/>
                <a:cs typeface="맑은 고딕"/>
              </a:rPr>
              <a:t>CMMS 오더와 공지</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검사로</a:t>
            </a:r>
          </a:p>
          <a:p>
            <a:pPr algn="l" eaLnBrk="0">
              <a:lnSpc>
                <a:spcPct val="110000"/>
              </a:lnSpc>
            </a:pPr>
            <a:r>
              <a:rPr sz="1500" b="0">
                <a:solidFill>
                  <a:srgbClr val="13294B"/>
                </a:solidFill>
                <a:latin typeface="맑은 고딕"/>
                <a:ea typeface="맑은 고딕"/>
                <a:cs typeface="맑은 고딕"/>
              </a:rPr>
              <a:t>승인 없는 효과 경로와</a:t>
            </a:r>
          </a:p>
          <a:p>
            <a:pPr algn="l" eaLnBrk="0">
              <a:lnSpc>
                <a:spcPct val="110000"/>
              </a:lnSpc>
            </a:pPr>
            <a:r>
              <a:rPr sz="1500" b="0">
                <a:solidFill>
                  <a:srgbClr val="13294B"/>
                </a:solidFill>
                <a:latin typeface="맑은 고딕"/>
                <a:ea typeface="맑은 고딕"/>
                <a:cs typeface="맑은 고딕"/>
              </a:rPr>
              <a:t>빠진 연결을 찾는다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등록 · 배포</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판본으로 등록하고</a:t>
            </a:r>
          </a:p>
          <a:p>
            <a:pPr algn="l" eaLnBrk="0">
              <a:lnSpc>
                <a:spcPct val="110000"/>
              </a:lnSpc>
            </a:pPr>
            <a:r>
              <a:rPr sz="1500" b="0">
                <a:solidFill>
                  <a:srgbClr val="13294B"/>
                </a:solidFill>
                <a:latin typeface="맑은 고딕"/>
                <a:ea typeface="맑은 고딕"/>
                <a:cs typeface="맑은 고딕"/>
              </a:rPr>
              <a:t>배포해 경보를</a:t>
            </a:r>
          </a:p>
          <a:p>
            <a:pPr algn="l" eaLnBrk="0">
              <a:lnSpc>
                <a:spcPct val="110000"/>
              </a:lnSpc>
            </a:pPr>
            <a:r>
              <a:rPr sz="1500" b="0">
                <a:solidFill>
                  <a:srgbClr val="13294B"/>
                </a:solidFill>
                <a:latin typeface="맑은 고딕"/>
                <a:ea typeface="맑은 고딕"/>
                <a:cs typeface="맑은 고딕"/>
              </a:rPr>
              <a:t>받는 흐름으로 만든다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정기 점검 도래로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추천안이 승인을 기다린다</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정비 오더, 생산팀 공지, · 결과 보고와 종료가 · 처리 건에 남는다</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그리는 요소와 완성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Theory35_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Theory35_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Theory35_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연결·배포와 실행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그린 그림에</a:t>
            </a:r>
          </a:p>
          <a:p>
            <a:pPr algn="l" eaLnBrk="0">
              <a:lnSpc>
                <a:spcPct val="110000"/>
              </a:lnSpc>
            </a:pPr>
            <a:r>
              <a:rPr sz="1500" b="0">
                <a:solidFill>
                  <a:srgbClr val="13294B"/>
                </a:solidFill>
                <a:latin typeface="맑은 고딕"/>
                <a:ea typeface="맑은 고딕"/>
                <a:cs typeface="맑은 고딕"/>
              </a:rPr>
              <a:t>SPARE_BELOW_MIN,</a:t>
            </a:r>
          </a:p>
          <a:p>
            <a:pPr algn="l" eaLnBrk="0">
              <a:lnSpc>
                <a:spcPct val="110000"/>
              </a:lnSpc>
            </a:pPr>
            <a:r>
              <a:rPr sz="1500" b="0">
                <a:solidFill>
                  <a:srgbClr val="13294B"/>
                </a:solidFill>
                <a:latin typeface="맑은 고딕"/>
                <a:ea typeface="맑은 고딕"/>
                <a:cs typeface="맑은 고딕"/>
              </a:rPr>
              <a:t>구매 에이전트,</a:t>
            </a:r>
          </a:p>
          <a:p>
            <a:pPr algn="l" eaLnBrk="0">
              <a:lnSpc>
                <a:spcPct val="110000"/>
              </a:lnSpc>
            </a:pPr>
            <a:r>
              <a:rPr sz="1500" b="0">
                <a:solidFill>
                  <a:srgbClr val="13294B"/>
                </a:solidFill>
                <a:latin typeface="맑은 고딕"/>
                <a:ea typeface="맑은 고딕"/>
                <a:cs typeface="맑은 고딕"/>
              </a:rPr>
              <a:t>구매 담당 역할</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검사와 배포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검사를 거쳐</a:t>
            </a:r>
          </a:p>
          <a:p>
            <a:pPr algn="l" eaLnBrk="0">
              <a:lnSpc>
                <a:spcPct val="110000"/>
              </a:lnSpc>
            </a:pPr>
            <a:r>
              <a:rPr sz="1500" b="0">
                <a:solidFill>
                  <a:srgbClr val="13294B"/>
                </a:solidFill>
                <a:latin typeface="맑은 고딕"/>
                <a:ea typeface="맑은 고딕"/>
                <a:cs typeface="맑은 고딕"/>
              </a:rPr>
              <a:t>판본 등록 후 배포한다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재고 부족으로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발주안이 승인을 기다린다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승인 뒤</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ERP 발주,</a:t>
            </a:r>
          </a:p>
          <a:p>
            <a:pPr algn="l" eaLnBrk="0">
              <a:lnSpc>
                <a:spcPct val="110000"/>
              </a:lnSpc>
            </a:pPr>
            <a:r>
              <a:rPr sz="1500" b="0">
                <a:solidFill>
                  <a:srgbClr val="13294B"/>
                </a:solidFill>
                <a:latin typeface="맑은 고딕"/>
                <a:ea typeface="맑은 고딕"/>
                <a:cs typeface="맑은 고딕"/>
              </a:rPr>
              <a:t>공급사 통지,</a:t>
            </a:r>
          </a:p>
          <a:p>
            <a:pPr algn="l" eaLnBrk="0">
              <a:lnSpc>
                <a:spcPct val="110000"/>
              </a:lnSpc>
            </a:pPr>
            <a:r>
              <a:rPr sz="1500" b="0">
                <a:solidFill>
                  <a:srgbClr val="13294B"/>
                </a:solidFill>
                <a:latin typeface="맑은 고딕"/>
                <a:ea typeface="맑은 고딕"/>
                <a:cs typeface="맑은 고딕"/>
              </a:rPr>
              <a:t>입고와 재고 반영</a:t>
            </a:r>
          </a:p>
          <a:p>
            <a:pPr algn="l" eaLnBrk="0">
              <a:lnSpc>
                <a:spcPct val="110000"/>
              </a:lnSpc>
            </a:pPr>
            <a:r>
              <a:rPr sz="1500" b="0">
                <a:solidFill>
                  <a:srgbClr val="13294B"/>
                </a:solidFill>
                <a:latin typeface="맑은 고딕"/>
                <a:ea typeface="맑은 고딕"/>
                <a:cs typeface="맑은 고딕"/>
              </a:rPr>
              <a:t>수업에서는 입고를 즉시 모의 처리</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시작 값·승인 수량으로 대조 · 예: 가용 재고 1→7개 · 결과 보고: 입고 완료</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723486587071544966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492683025275020356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165343620828610274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462938811625130492_17922374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