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큰 제목 → 부제</a:t>
            </a:r>
          </a:p>
          <a:p>
            <a:r>
              <a:t>· 이번 회차의 물음: 쿨러 사건 한 건에서 지식 · 에이전트 · 프로세스는 무엇을 주고받았나</a:t>
            </a:r>
          </a:p>
          <a:p>
            <a:r>
              <a:t>· 세 영역의 몫: 지식은 판단의 재료, 에이전트는 근거를 조회해 추천, 프로세스는 사람의 승인과 시스템 실행을 다음 차례로 잇는다</a:t>
            </a:r>
          </a:p>
          <a:p>
            <a:r>
              <a:t>· 흐름: 쿨러 사건으로 세 영역의 연결을 되짚기 → 교대 인수인계에 적용(메모를 설비 · 정비 · 재고 자료와 대조, 두 사람의 검토와 보완) → 제품 시연에서 같은 역할과 구현 차이 확인</a:t>
            </a:r>
          </a:p>
          <a:p>
            <a:r>
              <a:t>[다음] 이번 회차의 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왼쪽부터(수업 순서)</a:t>
            </a:r>
          </a:p>
          <a:p>
            <a:r>
              <a:t>· 지식과 판단: 에이전트가 도구로 읽는 지식과 현재 값을 구별하고 판단의 출처를 확인</a:t>
            </a:r>
          </a:p>
          <a:p>
            <a:r>
              <a:t>· 제안과 업무 완료: 제안 · 사람의 승인 · 시스템 실행 · 결과 확인을 구분해 업무가 끝나는 과정을 설명</a:t>
            </a:r>
          </a:p>
          <a:p>
            <a:r>
              <a:t>· 교대 인수인계: 제공된 문서 · 에이전트 · 흐름을 연결하고 실제 검토와 보완을 확인</a:t>
            </a:r>
          </a:p>
          <a:p>
            <a:r>
              <a:t>· 제품에서 확인: 시연에서 같은 역할과 구현 차이를 살피고 실습 결과를 학습 노트에 정리</a:t>
            </a:r>
          </a:p>
          <a:p>
            <a:r>
              <a:t>[다음] 여덟 단원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목차 여덟 줄, 위 다섯 줄 「이론」 · 아래 세 줄 「실습」</a:t>
            </a:r>
          </a:p>
          <a:p>
            <a:r>
              <a:t>· 1 · 2 · 3: 쿨러 경보가 추천안이 되기까지의 지식과 조회 근거</a:t>
            </a:r>
          </a:p>
          <a:p>
            <a:r>
              <a:t>· 4: 승인과 시스템 실행으로 업무가 끝나는 과정, 5: 에이전트와 프로세스가 각각 맡는 일의 구분</a:t>
            </a:r>
          </a:p>
          <a:p>
            <a:r>
              <a:t>· 6 교대 인수인계에 제공 문서 · 에이전트 · 흐름 연결, 7 ProcessGPT 시연에서 같은 구조의 자리, 8 결과를 학습 노트에 정리</a:t>
            </a:r>
          </a:p>
          <a:p>
            <a:r>
              <a:t>[다음] 첫 단원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에이전트가 받은 것은 경보 한 건뿐 — 무엇을 읽어서 원인과 조치까지 담긴 판단을 만들었나</a:t>
            </a:r>
          </a:p>
          <a:p>
            <a:r>
              <a:t>· 지식 영역의 마무리 지점: 판단에 쓸 재료가 저마다 제자리에 놓여 있다</a:t>
            </a:r>
          </a:p>
          <a:p>
            <a:r>
              <a:t>· 이번에 더 가는 곳: 클래스 · 스키마 정의를 다시 외우는 것이 아니라, 지식이 어떤 길로 에이전트의 입력이 되는지 따라간다</a:t>
            </a:r>
          </a:p>
          <a:p>
            <a:r>
              <a:t>[다음] 따라갈 사건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여덟 자리 왼쪽부터, 자리마다 아래 작은 번호</a:t>
            </a:r>
          </a:p>
          <a:p>
            <a:r>
              <a:t>· HYD-01, 오전 11시를 조금 넘겨 쿨러 성능 저하 경보 → 처리 건 하나가 열림</a:t>
            </a:r>
          </a:p>
          <a:p>
            <a:r>
              <a:t>· 경보 → 에이전트의 진단 · 제안(DEC-…408b) → 운전원 승인(11:14:56) → 냉각 명령(CMD-…b94a) → 재관측(유온 51.5 ℃, 경보 해제) → 작업지시 등록(WO-…C058) → 결과 보고 정상 → 끝</a:t>
            </a:r>
          </a:p>
          <a:p>
            <a:r>
              <a:t>· 번호는 읽을 필요 없다. 자리마다 기록이 따로 남았다는 점이 핵심</a:t>
            </a:r>
          </a:p>
          <a:p>
            <a:r>
              <a:t>· 쓸모: 작업지시 기록에 판단 번호가 함께 적혀 있어, 정비 담당자가 작업지시 한 장에서 에이전트의 판단과 근거까지 거슬러 간다</a:t>
            </a:r>
          </a:p>
          <a:p>
            <a:r>
              <a:t>· 이 여덟 자리가 이번 회차 이론 전체의 지도</a:t>
            </a:r>
          </a:p>
          <a:p>
            <a:r>
              <a:t>[다음] 세 영역을 겹쳐 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맨 위 긴 괄호 → 하늘색 둘째 자리 → 왼쪽 아래 상자</a:t>
            </a:r>
          </a:p>
          <a:p>
            <a:r>
              <a:t>· 프로세스: 경보부터 끝까지 덮는다 — 순서, 할 일, 자리마다 맡는 쪽을 처음부터 끝까지 책임</a:t>
            </a:r>
          </a:p>
          <a:p>
            <a:r>
              <a:t>· 에이전트: 여덟 자리 가운데 둘째 하나(진단 · 제안). 추천안이 나온 뒤에도 승인부터 끝까지 여섯 자리가 남는다 → 추천안이 나온 순간은 업무의 끝이 아니다</a:t>
            </a:r>
          </a:p>
          <a:p>
            <a:r>
              <a:t>· 지식과 값: 지식 그래프, SOP와 판단 규칙, 시계열 DB와 업무 DB의 값. 줄과 이어진 화살표는 에이전트 자리로 가는 하나뿐</a:t>
            </a:r>
          </a:p>
          <a:p>
            <a:r>
              <a:t>· 주의: 그림은 판단 재료를 읽는 경로를 강조한 것. 승인 조건을 확인하는 시스템도 필요한 기준을 읽는다</a:t>
            </a:r>
          </a:p>
          <a:p>
            <a:r>
              <a:t>· 이 단원과 다음 두 단원은 이 화살표 하나, 프로세스 구간은 뒤의 두 단원</a:t>
            </a:r>
          </a:p>
          <a:p>
            <a:r>
              <a:t>[다음] 에이전트가 처음 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경보 메시지 → 오른쪽 세 줄(들어 있는 것 · 들어 있지 않은 것 · 채우는 길)</a:t>
            </a:r>
          </a:p>
          <a:p>
            <a:r>
              <a:t>· 들어 있는 것: 경보 번호, 설비 HYD-01, 성립한 조건 COOLER_DEGRADATION, 심각도 · 상태 · 발생 시각, 판정에 쓴 값(경보 순간의 유온, 냉각 효율 46 %쯤)</a:t>
            </a:r>
          </a:p>
          <a:p>
            <a:r>
              <a:t>· 들어 있지 않은 것: 원인, 할 수 있는 조치, 조치를 견줄 기준, 지금 생산 오더의 납기 사정</a:t>
            </a:r>
          </a:p>
          <a:p>
            <a:r>
              <a:t>· 값이 기준을 넘었다는 것 ≠ 왜 넘었는지 안다는 것. 경보는 앞의 것까지만 알려 준다</a:t>
            </a:r>
          </a:p>
          <a:p>
            <a:r>
              <a:t>· 이 메시지만 보고 원인과 조치를 말하면 짐작 — 모자란 것은 도구를 불러 바깥에서 읽어 온다</a:t>
            </a:r>
          </a:p>
          <a:p>
            <a:r>
              <a:t>[다음] 무엇을 어디서 읽나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띠 도구 왼쪽부터 → 아래 띠 재료 → 오른쪽 아래 「업무 원천 읽기」</a:t>
            </a:r>
          </a:p>
          <a:p>
            <a:r>
              <a:t>· 냉각 긴급 대응 에이전트는 냉각 긴급 대응 스킬을 따르고, 그 절차에 부를 도구가 적혀 있다</a:t>
            </a:r>
          </a:p>
          <a:p>
            <a:r>
              <a:t>· 진단: 그래프에서 원인 후보와 판별 기준, 시계열 DB에서 판단 시점의 센서 값</a:t>
            </a:r>
          </a:p>
          <a:p>
            <a:r>
              <a:t>· 업무 값 조회(회색): 생산 오더 · 품질 로트로 납기와 품질 사정. 스킬에 「필요하면 확인한다」 → 에이전트가 상황을 보고 부를지 정한다</a:t>
            </a:r>
          </a:p>
          <a:p>
            <a:r>
              <a:t>· 조치 평가: SOP와 판단 규칙, 성과 기준으로 후보를 견준다 → 추천안 제출</a:t>
            </a:r>
          </a:p>
          <a:p>
            <a:r>
              <a:t>· 그림은 스킬의 안내 순서. 실제 호출 순서와 업무 조회 여부는 실행마다 다를 수 있어 기록으로 확인</a:t>
            </a:r>
          </a:p>
          <a:p>
            <a:r>
              <a:t>· 아래 띠 재료는 미리 정의 · 검토 · 적재한 것. 업무 도구는 읽기만, 쓰기는 추천안 제출 하나</a:t>
            </a:r>
          </a:p>
          <a:p>
            <a:r>
              <a:t>[다음] 진단 도구 들여다보기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진단 도구가 처음 쥔 것은 경보의 패턴 이름 하나 — 이것에서 어떻게 원인 하나에 닿나</a:t>
            </a:r>
          </a:p>
          <a:p>
            <a:r>
              <a:t>· 따라갈 것: 그래프의 어디로 들어가서, 무엇을 읽고, 무엇과 견주는지 — 진단 도구 한 번의 호출 안에서</a:t>
            </a:r>
          </a:p>
          <a:p>
            <a:r>
              <a:t>[다음] 출발 노드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아래 AnomalyPattern → Symptom → 가운데 진한 FailureMode ← Cause</a:t>
            </a:r>
          </a:p>
          <a:p>
            <a:r>
              <a:t>· 경보(감지 서비스가 냄)와 지식 그래프(사람이 정의 · 적재)는 따로 만들어졌고, 만나는 지점은 값 하나</a:t>
            </a:r>
          </a:p>
          <a:p>
            <a:r>
              <a:t>· 경보의 pattern 코드 = 이상 패턴 노드의 code 속성 → 진단 도구가 출발 노드를 찾는다</a:t>
            </a:r>
          </a:p>
          <a:p>
            <a:r>
              <a:t>· 이상 패턴 -감지→ 증상(유온 상승) -가리킴→ 고장 유형(쿨러 냉각 성능 상실)</a:t>
            </a:r>
          </a:p>
          <a:p>
            <a:r>
              <a:t>· 마지막 화살표는 반대 방향(원인이 고장 유형을 일으킨다) → 거슬러 올라가 원인 후보 셋: 쿨러 핀 오염, 팬 구동 불량, 주변 온도 상승</a:t>
            </a:r>
          </a:p>
          <a:p>
            <a:r>
              <a:t>· 코드가 달랐다면 출발 노드부터 못 찾는다 — 저장소끼리 식별자를 맞춰 둔 까닭</a:t>
            </a:r>
          </a:p>
          <a:p>
            <a:r>
              <a:t>[다음] 이 길의 질의문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Cypher 네 줄 → 오른쪽 세 줄</a:t>
            </a:r>
          </a:p>
          <a:p>
            <a:r>
              <a:t>· 1줄 $pattern 자리에 경보의 패턴 코드, 2줄 DETECTS로 증상, 3줄 INDICATES로 고장 유형, 4줄 CAUSES를 거슬러(화살표 방향 반대) 원인</a:t>
            </a:r>
          </a:p>
          <a:p>
            <a:r>
              <a:t>· 질의문은 진단 도구 안에 미리 정해져 있고, 에이전트는 패턴 코드만 넘긴다 → 같은 조건 · 같은 데이터면 같은 후보 집합, 어느 길로 찾았는지 재현 가능</a:t>
            </a:r>
          </a:p>
          <a:p>
            <a:r>
              <a:t>· 진단 결과는 센서 값이나 기준이 바뀌면 달라질 수 있다</a:t>
            </a:r>
          </a:p>
          <a:p>
            <a:r>
              <a:t>· 클래스와 관계의 이름 · 방향은 스키마가 정했고, 돌아오는 것은 쿨러 핀 오염 같은 인스턴스</a:t>
            </a:r>
          </a:p>
          <a:p>
            <a:r>
              <a:t>· 관계를 정의한 것 ≠ 데이터에 연결이 적재된 것. 후보가 없으면 원인이 없다고 단정하지 말고 질의 조건과 적재된 연결부터 확인</a:t>
            </a:r>
          </a:p>
          <a:p>
            <a:r>
              <a:t>[다음] 기준과 현재 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지식 그래프의 증거 기준 → 오른쪽 시계열 DB의 현재 값</a:t>
            </a:r>
          </a:p>
          <a:p>
            <a:r>
              <a:t>· 기준(수업 설비 매뉴얼): 핀 오염 = 냉각 효율 평균 70 % 미만 + 팬 진동 평균 0.9 mm/s 미만, 팬 구동 불량 = 팬 진동 0.9 mm/s 이상, 주변 온도 상승 = 캐비닛 온도 35 ℃ 이상</a:t>
            </a:r>
          </a:p>
          <a:p>
            <a:r>
              <a:t>· 진동 기준은 핀 오염과 팬 구동 불량을 가르는 데 쓴다. 모든 설비에 통하는 법칙이 아니라 이 사례에 등록된 후보와 기준</a:t>
            </a:r>
          </a:p>
          <a:p>
            <a:r>
              <a:t>· 관측값: 냉각 효율 46.2 %, 팬 진동 약 0.58 mm/s, 캐비닛 온도 28 ℃ → 등록된 후보 가운데 핀 오염의 근거가 맞고 나머지 둘은 기준 미충족</a:t>
            </a:r>
          </a:p>
          <a:p>
            <a:r>
              <a:t>· 등록 지식과 관측에 근거한 진단일 뿐, 현장의 모든 원인을 검사한 것은 아니다</a:t>
            </a:r>
          </a:p>
          <a:p>
            <a:r>
              <a:t>· 기준은 그래프(검토 · 개정), 값은 시계열 DB(읽은 시각 · 측정 조건 확인)로 나눈 것은 갱신 책임을 가르려는 선택</a:t>
            </a:r>
          </a:p>
          <a:p>
            <a:r>
              <a:t>[다음] 조치의 판단으로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쿨러 핀 오염이라는 원인 앞에서 무엇을 해야 하나, 그 판단의 근거는 어디까지 거슬러 볼 수 있나</a:t>
            </a:r>
          </a:p>
          <a:p>
            <a:r>
              <a:t>· 따라갈 것: 조치 후보를 견주는 판단, 추천안에 근거가 남는 방식</a:t>
            </a:r>
          </a:p>
          <a:p>
            <a:r>
              <a:t>· 원인 후보마다 필요한 조치가 다르다(핀 오염 → 세척, 팬 → 팬 점검, 주변 온도 → 환기 개선)</a:t>
            </a:r>
          </a:p>
          <a:p>
            <a:r>
              <a:t>[다음] 설비 바깥의 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네 줄 위에서부터, 셋째 줄(강조)</a:t>
            </a:r>
          </a:p>
          <a:p>
            <a:r>
              <a:t>· 조치를 견주려면 설비 안의 값만으로는 모자라다 — 납기와 품질 같은 설비 바깥 사정은 업무 DB에 있다</a:t>
            </a:r>
          </a:p>
          <a:p>
            <a:r>
              <a:t>· mes_orders: MES에 해당하는 업무 DB에서 HYD-01의 생산 오더(납기까지 남은 시간, 남은 수량), qms_lots: QMS에서 품질 로트(고온 구간 로트, 검사 비용)</a:t>
            </a:r>
          </a:p>
          <a:p>
            <a:r>
              <a:t>· 지식에 등록된 것은 값이 아니라 값이 놓인 자리와 읽는 방법(업무 DB를 등록할 때 열마다 입력 데이터의 자리)</a:t>
            </a:r>
          </a:p>
          <a:p>
            <a:r>
              <a:t>· 조치 평가 도구는 에이전트가 조회한 값을 넘겨받지 않고 같은 자리를 따라 판단 순간의 값을 직접 읽는다. 이 사건: 납기까지 약 6시간, 지연 보상 시간당 120만 원, 출하 대기 로트 800개</a:t>
            </a:r>
          </a:p>
          <a:p>
            <a:r>
              <a:t>· 읽은 값마다 시스템 · 방법 · 시각이 처리 기록에 남아, 같은 원인이라도 그날 사정에 따라 순위가 바뀐 까닭을 확인할 수 있다</a:t>
            </a:r>
          </a:p>
          <a:p>
            <a:r>
              <a:t>[다음] 평가 결과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네 줄 위에서부터 → 가운데 칸 둘째 줄 → 오른쪽 승인 역할 칸</a:t>
            </a:r>
          </a:p>
          <a:p>
            <a:r>
              <a:t>· 후보 넷 = 쿨러 냉각 성능 상실에 이어진 SOP 넷(조치 후보 하나하나를 카드라 부른다)</a:t>
            </a:r>
          </a:p>
          <a:p>
            <a:r>
              <a:t>· DMN 판단 규칙이 먼저 할 수 있는지 가린다: 원격 조치 셋은 원격 자동 운전일 때만, 나머지 연결 조건도 함께 확인. 핀 세척은 작업지시라 운전 모드와 무관</a:t>
            </a:r>
          </a:p>
          <a:p>
            <a:r>
              <a:t>· 그다음 BSC 관점의 KPI(성과 기준)가 순위: 1순위 팬 최대 운전 +3.38(생산 유지에 둔 가치), 부하를 낮추는 둘 +2.75 공동 2순위, 핀 세척 -1.58 4순위 — 그때의 기준으로 비교한 결과일 뿐</a:t>
            </a:r>
          </a:p>
          <a:p>
            <a:r>
              <a:t>· 팬 최대 운전 = 완화 조치, 핀 세척 = 근본 조치 → 세척은 뒤에서 작업지시로 다시 나타난다</a:t>
            </a:r>
          </a:p>
          <a:p>
            <a:r>
              <a:t>· 승인 역할: 위 셋 운전원, 핀 세척만 설비보전팀장. 에이전트가 정한 것이 아니라 조치에 붙은 지식을 읽어 실은 것. 실제 승인 권한은 정책 · 담당 · 현재 조건을 함께 확인</a:t>
            </a:r>
          </a:p>
          <a:p>
            <a:r>
              <a:t>[다음] 도구 사이로 넘어간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다섯 칸 왼쪽부터, 칸 아래 식별자 → 칸 사이 도구 이름</a:t>
            </a:r>
          </a:p>
          <a:p>
            <a:r>
              <a:t>· 넘어가는 것은 「쿨러 핀 오염」이라는 말이 아니라 식별자</a:t>
            </a:r>
          </a:p>
          <a:p>
            <a:r>
              <a:t>· 경보 ALT-…0014 → diagnose → 고장 유형 fm:cooler-performance-loss · 원인 cause:cooler-fin-fouling → evaluate → 조치 방법 skill:sop-cool-11(1순위 팬 최대 운전) → submit → 추천안 판단 번호 DEC-…408b</a:t>
            </a:r>
          </a:p>
          <a:p>
            <a:r>
              <a:t>· 접두사(fm: · cause:)는 표기 관례일 뿐, 데이터의 종류나 정확성을 보장하지 않는다</a:t>
            </a:r>
          </a:p>
          <a:p>
            <a:r>
              <a:t>· 말로 넘기면: 이름이 비슷한 원인이 하나 더 있을 때 뒤의 도구가 어느 쪽을 읽을지 모른다 → 식별자면 앞의 도구가 가리킨 바로 그 노드를 읽는다</a:t>
            </a:r>
          </a:p>
          <a:p>
            <a:r>
              <a:t>· 사람이 추천안을 거슬러 볼 때도 같은 식별자로 같은 대상을 찾아간다</a:t>
            </a:r>
          </a:p>
          <a:p>
            <a:r>
              <a:t>[다음] 추천안 열어 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추천안 항목 위에서부터 → 오른쪽 세 줄</a:t>
            </a:r>
          </a:p>
          <a:p>
            <a:r>
              <a:t>· 원인 쿨러 핀 오염, 근거: 팬 진동은 기준 미만 · 냉각 효율 약 46 %(진단 도구가 시계열 DB에서 읽은 값)</a:t>
            </a:r>
          </a:p>
          <a:p>
            <a:r>
              <a:t>· 배제: 팬 구동 불량 · 주변 온도 상승 — 등록된 기준을 충족하지 못한 이유까지</a:t>
            </a:r>
          </a:p>
          <a:p>
            <a:r>
              <a:t>· 추천 팬 최대 운전 · 점수 3.38, 예측 유온 약 50 ℃(주어진 가정의 계산) — 실제로 측정한 회복 온도와 구별, 실행 뒤에는 다시 관측</a:t>
            </a:r>
          </a:p>
          <a:p>
            <a:r>
              <a:t>· 출처: 매뉴얼의 즉시 완화 조치 절</a:t>
            </a:r>
          </a:p>
          <a:p>
            <a:r>
              <a:t>· 승인자 입장: 원인과 추천만 있으면 믿을 근거가 없다. 근거 값 · 배제 후보 · 예측 · 출처가 함께 있어야 무엇을 보고 판단했는지 확인한다</a:t>
            </a:r>
          </a:p>
          <a:p>
            <a:r>
              <a:t>[다음] 출처는 어디서 왔나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다섯 칸 왼쪽부터</a:t>
            </a:r>
          </a:p>
          <a:p>
            <a:r>
              <a:t>· 출처는 판단하는 자리에서 새로 만든 것이 아니라 인제스천 때 미리 남긴 연결을 따라온 것</a:t>
            </a:r>
          </a:p>
          <a:p>
            <a:r>
              <a:t>· 원문: HM-8.4 원인과 증거, HM-8.5 즉시 완화 조치</a:t>
            </a:r>
          </a:p>
          <a:p>
            <a:r>
              <a:t>· 추출과 검토: 원문 문장에서 지식 후보를 뽑고 사람이 원문과 대조해 승인 — 잘못 뽑힌 기준 하나가 적재되면 뒤의 판단이 전부 따른다</a:t>
            </a:r>
          </a:p>
          <a:p>
            <a:r>
              <a:t>· 적재: 절을 노드로, 작업 단계는 그 절을 참조(REFERS_TO), 판단 규칙은 그 절에서 나왔다(DERIVED_FROM). 원인의 증거 기준에도 절과 인용 구간이 붙는다</a:t>
            </a:r>
          </a:p>
          <a:p>
            <a:r>
              <a:t>· 판단: 이 사례는 문서를 새로 검색하지 않고 적재된 관계를 읽는다 → 규칙이 이어진 절이 같이 딸려 와 추천안 출처 「HM-8.5」</a:t>
            </a:r>
          </a:p>
          <a:p>
            <a:r>
              <a:t>· 링크가 있다고 내용이 맞는 것은 아니다. 판본 · 적용 대상 · 인용 문장까지 대조</a:t>
            </a:r>
          </a:p>
          <a:p>
            <a:r>
              <a:t>[다음] 지식이 비었을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 위에서부터, 넷째 줄(강조)</a:t>
            </a:r>
          </a:p>
          <a:p>
            <a:r>
              <a:t>· 출력이 이상하다고 곧바로 에이전트의 문장부터 고치면 원래 원인을 놓친다</a:t>
            </a:r>
          </a:p>
          <a:p>
            <a:r>
              <a:t>· 위 두 줄 후보 누락: 데이터의 관계나 SOP와 고장 유형의 연결이 없으면 조회가 정상 종료돼도 답이 빈다. 빈 결과는 연결 누락만의 증거가 아니다(조회 조건 · 접근 권한 · 적재 대상)</a:t>
            </a:r>
          </a:p>
          <a:p>
            <a:r>
              <a:t>· 가운데 두 줄 근거 부족: 증거가 모자라거나 데이터 신선도 검사를 통과하지 못하면 HYD 진단 도구는 보류. 스킬의 보류 지침과 함께 도구의 검사와 실제 제출 결과를 확인</a:t>
            </a:r>
          </a:p>
          <a:p>
            <a:r>
              <a:t>· 보류 뒤 남길 것: 원천 연결 복구인지, 새 값을 기다릴지, 기준 재검토인지. 보류 ≠ 업무 완료</a:t>
            </a:r>
          </a:p>
          <a:p>
            <a:r>
              <a:t>· 마지막 줄 출처 누락: 규칙에서 원문 절로 가는 관계가 빠지면 추천은 나와도 근거 추적이 어렵다</a:t>
            </a:r>
          </a:p>
          <a:p>
            <a:r>
              <a:t>[다음] 고칠 곳 가르기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「지식을 고친다」 → 오른쪽 「에이전트를 고친다」</a:t>
            </a:r>
          </a:p>
          <a:p>
            <a:r>
              <a:t>· 기준값 · 조치 방법 · 승인 역할이 바뀌면 지식: 개정 문서를 다시 인제스천해 검토 · 적재. 조회 방식과 데이터 계약이 그대로면 같은 진단 도구가 개정된 기준을 읽는다</a:t>
            </a:r>
          </a:p>
          <a:p>
            <a:r>
              <a:t>· 단위 · 뜻 · 관계 구조까지 바뀌면 도구와 명세도 점검, 적재 뒤 대표 사례를 다시 판단시켜 반영 확인</a:t>
            </a:r>
          </a:p>
          <a:p>
            <a:r>
              <a:t>· 일하는 순서나 결과의 모양이 바뀌면 에이전트: 스킬을 고치고 명세 · 시나리오로 바뀐 행동 확인, 읽는 지식의 구조에 주는 영향도 확인</a:t>
            </a:r>
          </a:p>
          <a:p>
            <a:r>
              <a:t>· 흔한 실수: 기준값을 스킬 문장에 적는 것 → 기준이 그래프와 스킬 두 곳에 생겨 문서가 다시 바뀌면 어긋난다. 기준의 정본을 정하고 그것을 읽게 한다</a:t>
            </a:r>
          </a:p>
          <a:p>
            <a:r>
              <a:t>[다음] 추천안을 둘로 가르기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왼쪽부터, 카드 아래 꼬리표(언제 바뀌나)</a:t>
            </a:r>
          </a:p>
          <a:p>
            <a:r>
              <a:t>· 지식에서 읽은 것: 원인 후보와 증거 기준, 조치 후보와 판단 규칙, 승인 역할과 근거 문서의 절 — 승인된 기준이나 정책이 개정될 때 바뀐다(정적 지식 ≠ 영원히 고정)</a:t>
            </a:r>
          </a:p>
          <a:p>
            <a:r>
              <a:t>· 원천에서 읽은 값: 냉각 효율 46.2 % · 팬 진동, 생산 오더와 품질 로트 — 계속 바뀐다</a:t>
            </a:r>
          </a:p>
          <a:p>
            <a:r>
              <a:t>· 에이전트가 정한 것: 어느 도구를 어떤 순서로 부를지(업무 값 조회를 할지 · 언제), 근거를 어떤 문장으로 설명할지 — 실행마다 다를 수 있다</a:t>
            </a:r>
          </a:p>
          <a:p>
            <a:r>
              <a:t>· 정리: 설명의 문장은 달라져도 후보 · 기준 · 값은 에이전트가 정하지 않는다. 현장 지식이 AI의 판단 근거가 된다는 말은 이 구조를 가리킨다</a:t>
            </a:r>
          </a:p>
          <a:p>
            <a:r>
              <a:t>· 앞 세 단원의 마무리 — 이 추천안이 승인과 시스템 실행을 거쳐 끝난 업무가 되는 과정으로 이어진다</a:t>
            </a:r>
          </a:p>
          <a:p>
            <a:r>
              <a:t>[다음] 제안에서 완료까지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이어 받는 지점: 에이전트가 지식과 값을 읽어 추천안 한 건을 제출한 데까지</a:t>
            </a:r>
          </a:p>
          <a:p>
            <a:r>
              <a:t>· 단원의 물음: 그 추천안을 누가 승인하고, 어떤 시스템이 무엇을 실행해야 일이 끝났다고 말할 수 있나</a:t>
            </a:r>
          </a:p>
          <a:p>
            <a:r>
              <a:t>· 이 단원 뒤: 같은 구조를 교대 인수인계 실습에 적용하고, 제품 시연의 관찰 기준을 준비 — 실습은 아직 수행 전, 무엇을 만들고 어떤 결과로 확인할지만 먼저 연결</a:t>
            </a:r>
          </a:p>
          <a:p>
            <a:r>
              <a:t>[다음] 제출 순간의 처리 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사건의 줄, 진한 왼쪽 두 자리 → 회색 나머지</a:t>
            </a:r>
          </a:p>
          <a:p>
            <a:r>
              <a:t>· 완료 구간: 경보, 에이전트의 진단 · 제안 — 지식 상자의 파란 화살표가 에이전트 자리에 닿아 추천안 제출까지 끝남</a:t>
            </a:r>
          </a:p>
          <a:p>
            <a:r>
              <a:t>· 이 순간 설비: 팬은 여전히 60 %, 유온은 계속 오른다. 실제 승인 순간 유온은 60 ℃를 넘어 경보 때보다 몇 도 더 올라 있었다</a:t>
            </a:r>
          </a:p>
          <a:p>
            <a:r>
              <a:t>· 추천안은 판단의 결과일 뿐, 설비에는 아무 변화도 일으키지 않았다</a:t>
            </a:r>
          </a:p>
          <a:p>
            <a:r>
              <a:t>· 미실행 구간: 승인, 냉각 명령, 재관측, 작업지시, 결과 보고 — 누군가 정해진 순서로 채워야 업무가 끝난다</a:t>
            </a:r>
          </a:p>
          <a:p>
            <a:r>
              <a:t>[다음] 남은 자리를 누가 맡나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 위에서부터, 가운데 칸 화살표 방향</a:t>
            </a:r>
          </a:p>
          <a:p>
            <a:r>
              <a:t>· 승인: 운전원 — 기준은 조치에 정해진 승인 역할(팬 최대 운전의 승인 역할이 운전원)</a:t>
            </a:r>
          </a:p>
          <a:p>
            <a:r>
              <a:t>· 냉각 명령: 엔진 → SCADA → PLC, 기준은 승인된 조치 팬 속도 100 %</a:t>
            </a:r>
          </a:p>
          <a:p>
            <a:r>
              <a:t>· 재관측: 엔진 ← 시계열 DB, 유온 55 ℃ 미만 + 경보 해제 — 둘을 둔 까닭은 값이 한 번 내려간 것만 보고 회복이라 하지 않으려는 것, 감지 쪽의 해제도 필요</a:t>
            </a:r>
          </a:p>
          <a:p>
            <a:r>
              <a:t>· 작업지시 등록: 회복 확인 뒤 엔진 → CMMS. 결과 보고: 진행한 경로와 그때까지의 업무 결과, 끝 이벤트로 이어지는지도 확인</a:t>
            </a:r>
          </a:p>
          <a:p>
            <a:r>
              <a:t>· 명령 · 작업지시는 바깥으로 나가는 쓰기, 재관측만 들어오는 읽기. 다섯 자리를 정해진 순서로 잇는 것이 프로세스</a:t>
            </a:r>
          </a:p>
          <a:p>
            <a:r>
              <a:t>[다음] 에이전트 단계와 승인 사이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네 칸 왼쪽부터, 셋째 칸이 경계</a:t>
            </a:r>
          </a:p>
          <a:p>
            <a:r>
              <a:t>· 1 엔진이 에이전트 단계를 열어 냉각 대응 에이전트(agent:cooling)에게 맡긴다</a:t>
            </a:r>
          </a:p>
          <a:p>
            <a:r>
              <a:t>· 2 에이전트가 스킬과 도구로 추천안을 만든다 — 진단 · 업무 조회 · 평가 · 제출이 모두 이 칸 안</a:t>
            </a:r>
          </a:p>
          <a:p>
            <a:r>
              <a:t>· 3 결과를 내면 단계는 SUBMITTED, 에이전트의 일은 끝. 손을 뗐지만 엔진이 이어받기 전의 짧은 틈 — 결과를 내는 일과 흐름을 보내는 일이 나뉜다</a:t>
            </a:r>
          </a:p>
          <a:p>
            <a:r>
              <a:t>· 4 엔진이 제출된 결과를 확인해 프로세스 변수에 담고 운전원 승인 단계를 연다</a:t>
            </a:r>
          </a:p>
          <a:p>
            <a:r>
              <a:t>· 에이전트는 다음 단계를 직접 열지 않는다(다음에 누가 무엇을 하는지 몰라도 된다). 엔진이 프로세스 정의를 읽고 연다 → 흐름을 마음대로 건너뛸 수 없다</a:t>
            </a:r>
          </a:p>
          <a:p>
            <a:r>
              <a:t>[다음] 무엇을 어떤 이름으로 담나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줄, 왼쪽 변수 → 가운데 만든 단계 → 오른쪽 읽는 쪽</a:t>
            </a:r>
          </a:p>
          <a:p>
            <a:r>
              <a:t>· decision: 진단 · 제안 단계가 만들고 운전원 승인 단계에 놓여, 운전원이 추천과 대안을 보고 결정</a:t>
            </a:r>
          </a:p>
          <a:p>
            <a:r>
              <a:t>· approval → 게이트웨이 「승인?」, recovered → 게이트웨이 「유온 정상?」, work_order → 결과 보고</a:t>
            </a:r>
          </a:p>
          <a:p>
            <a:r>
              <a:t>· 쿨러 사건: 승인이 들어가 냉각 명령 쪽, 회복됐다는 값이 들어가 작업지시 쪽. 회복되지 않았다면 작업지시 대신 기준 미달의 결과 보고</a:t>
            </a:r>
          </a:p>
          <a:p>
            <a:r>
              <a:t>· 엔진은 단계마다 선언한 출력 항목만 처리 건 변수에 합친다 → 이름이 다르면 값이 전달되지 않아 멈추거나 잘못된 기본값을 읽는다. 형식과 의미까지 명세대로인지 검사</a:t>
            </a:r>
          </a:p>
          <a:p>
            <a:r>
              <a:t>· 출력 계약은 에이전트 혼자 지키는 약속이 아니라 프로세스와 맺은 약속</a:t>
            </a:r>
          </a:p>
          <a:p>
            <a:r>
              <a:t>[다음] 승인이 남기는 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위쪽 두 칸(프로세스 변수) → 아래쪽 화살표(처리 기록의 순서)</a:t>
            </a:r>
          </a:p>
          <a:p>
            <a:r>
              <a:t>· approval · chosen_skill: 승인이라는 결정과 고른 조치, 쿨러 사건은 추천안 그대로 팬 최대 운전</a:t>
            </a:r>
          </a:p>
          <a:p>
            <a:r>
              <a:t>· approved_role(강조): 승인하는 순간 서버가 채운다. 에이전트는 써넣을 수 없다 — 제안과 승인 처리 경로를 분리</a:t>
            </a:r>
          </a:p>
          <a:p>
            <a:r>
              <a:t>· 수업에서는 화면에서 고른 역할로 흐름을 경험. 실제 업무에서는 로그인한 신원과 그 역할의 권한을 연결해야 승인의 책임을 물을 수 있다</a:t>
            </a:r>
          </a:p>
          <a:p>
            <a:r>
              <a:t>· APPROVAL_ACCEPTED(역할과 판단 번호) → 승인에서 추천안, 추천안에서 근거와 출처로 거슬러 간다. APPROVAL_DELIVERY 성공 뒤에야 냉각 명령</a:t>
            </a:r>
          </a:p>
          <a:p>
            <a:r>
              <a:t>· 승인 시점의 조건도 다시 확인: 현재 조건을 확인 못 하거나 허용되지 않으면 실행으로 넘기지 않는다</a:t>
            </a:r>
          </a:p>
          <a:p>
            <a:r>
              <a:t>[다음] 승인 뒤의 실행 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승인 → 가운데 엔진 → 오른쪽 세 곳, 파란 화살표 쓰기 · 남색 화살표 읽기</a:t>
            </a:r>
          </a:p>
          <a:p>
            <a:r>
              <a:t>· 냉각 명령 CMD-…b94a: 엔진이 SCADA를 거쳐 팬 속도 100 % 지시, 확인 응답 DONE, 인터록 PASS</a:t>
            </a:r>
          </a:p>
          <a:p>
            <a:r>
              <a:t>· 재관측(화살표 방향 반대 = 읽기): 유온 61.4 → 51.5 ℃, 기준 55 ℃ 미만 · 경보 해제. 명령 직후 한 번이 아니라 정해 둔 시간 동안 지켜본 뒤 판정</a:t>
            </a:r>
          </a:p>
          <a:p>
            <a:r>
              <a:t>· 작업지시 WO-…C058(CMMS): 온도는 내렸지만 핀 오염은 남아 쿨러 핀 세척. 팬 최대 운전 승인 흐름에 설계된 후속 작업지시 — 핀 세척을 직접 골라 승인하는 경우와 구별</a:t>
            </a:r>
          </a:p>
          <a:p>
            <a:r>
              <a:t>· 작업지시 등록 ≠ 현장 세척 완료, 정비 완료는 별도 결과로 확인</a:t>
            </a:r>
          </a:p>
          <a:p>
            <a:r>
              <a:t>· 명령 실행 응답 ≠ 문제 해결(그래서 재관측), 증상 완화 ≠ 원인 제거(그래서 작업지시)</a:t>
            </a:r>
          </a:p>
          <a:p>
            <a:r>
              <a:t>[다음] 승인하지 않으면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줄, 가운데 시스템 실행의 수 견주기</a:t>
            </a:r>
          </a:p>
          <a:p>
            <a:r>
              <a:t>· 승인 · 회복 확인: 명령 1건 + 작업지시 1건, E_end · 결과 보고 정상. 승인만으로 정상 종료가 보장되지는 않는다 — 회복 기준 미달이면 미달 결과를 남기는 경로</a:t>
            </a:r>
          </a:p>
          <a:p>
            <a:r>
              <a:t>· 거절: 시스템 실행 0건, E_rejected · 결과 보고 반려. 가지 않은 단계(냉각 명령 · 재관측 · 작업지시)는 취소 상태, 거절 사유도 남는다</a:t>
            </a:r>
          </a:p>
          <a:p>
            <a:r>
              <a:t>· 거절도 처리 건 상태는 완료로 표시 → 일이 이뤄졌는지는 닿은 끝과 결과 보고로 읽는다</a:t>
            </a:r>
          </a:p>
          <a:p>
            <a:r>
              <a:t>· 응답 없음: 기한 뒤 승인 지연 알림만, 자동 승인 · 자동 취소 · 거절 없이 계속 대기. 늦게 승인하면 그때의 조건을 다시 확인해 이어 간다</a:t>
            </a:r>
          </a:p>
          <a:p>
            <a:r>
              <a:t>· 자동 승인 = 아무도 결정하지 않은 조치가 설비를 움직임, 자동 취소 = 필요한 조치가 조용히 사라짐 → 결정은 사람에게, 늦어졌다는 사실만 알린다</a:t>
            </a:r>
          </a:p>
          <a:p>
            <a:r>
              <a:t>· 서로 다른 실행 기록의 비교이며, 추천안의 모든 입력이 같았다는 뜻은 아니다</a:t>
            </a:r>
          </a:p>
          <a:p>
            <a:r>
              <a:t>[다음] 다른 두 업무에서도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줄, 칸은 시작 사건 → 추천안과 승인자 → 승인 뒤 실행</a:t>
            </a:r>
          </a:p>
          <a:p>
            <a:r>
              <a:t>· 쿨러: 성능 저하 경보, agent:cooling이 냉각 조치 → 운전원, 명령 · 재관측 · 작업지시(CMMS)</a:t>
            </a:r>
          </a:p>
          <a:p>
            <a:r>
              <a:t>· 정기 점검: 운전시간이 정비 주기에 가까워짐, agent:pm-plan이 정비할 시간 → 설비보전팀장, CMMS 정비 오더 · 생산팀 공지 메일</a:t>
            </a:r>
          </a:p>
          <a:p>
            <a:r>
              <a:t>· 재고 보충: 예비품이 재주문점 아래, agent:spare-buy가 발주 수량과 공급사 → 구매 담당, ERP 발주 · 공급사 통지 · 입고 확인. 수업은 시뮬레이션과 가상 메일 주소, 실제 거래 없음</a:t>
            </a:r>
          </a:p>
          <a:p>
            <a:r>
              <a:t>· 시작 신호는 센서 값 또는 업무 데이터(수업은 버튼이 대신)지만 세 처리 건 모두 같은 모양의 경보 한 건으로 열린다 — 입구는 하나</a:t>
            </a:r>
          </a:p>
          <a:p>
            <a:r>
              <a:t>· 업무마다 주체는 달라도 자리는 같다: 에이전트는 추천안까지, 승인과 실행 · 결과 확인은 프로세스. 모든 업무가 같은 단계 수 · 승인 방식이어야 하는 것은 아니다</a:t>
            </a:r>
          </a:p>
          <a:p>
            <a:r>
              <a:t>[다음] 두 쪽의 장치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에이전트 영역에서 배운 장치: 스킬, MCP, 명세, 시나리오</a:t>
            </a:r>
          </a:p>
          <a:p>
            <a:r>
              <a:t>· 프로세스 영역에서 배운 장치: 정의, 인스턴스, 승인, 시스템 실행</a:t>
            </a:r>
          </a:p>
          <a:p>
            <a:r>
              <a:t>· 단원의 물음: 같은 처리 건 안에서 이 장치들은 각각 무엇을 맡고 무엇을 지키나 — 사건의 자리를 따라온 데서, 이번엔 그 안에서 일한 장치의 눈으로</a:t>
            </a:r>
          </a:p>
          <a:p>
            <a:r>
              <a:t>[다음] 두 쪽으로 나누기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에이전트 쪽 → 오른쪽 프로세스 쪽, 아래 꼬리표</a:t>
            </a:r>
          </a:p>
          <a:p>
            <a:r>
              <a:t>· 에이전트 쪽: 에이전트 실행 · 스킬 · MCP, 명세 기반 개발(SDD) · 행동 예로 기대 결과를 합의 · 검증하는 BDD → 한 단계 안에서 추천안 하나를 제대로 만든다 = 판단의 품질</a:t>
            </a:r>
          </a:p>
          <a:p>
            <a:r>
              <a:t>· 프로세스 쪽: BPMN 정의와 인스턴스, 사람의 승인(HITL), 시스템 실행 → 단계와 단계를 이어 업무를 끝낸다 = 순서와 책임</a:t>
            </a:r>
          </a:p>
          <a:p>
            <a:r>
              <a:t>· 쿨러 사건에서: 판단의 품질 = 근거가 지지하는 원인, 근거 · 배제 후보 · 출처를 남긴 추천안/순서와 책임 = 승인 전에는 팬 명령이 나가지 않았고 누가 승인했는지 기록</a:t>
            </a:r>
          </a:p>
          <a:p>
            <a:r>
              <a:t>· 두 쪽은 서로를 대신하지 못한다(스킬로 무승인 명령을 못 막고, 프로세스로 근거 없는 원인을 못 막는다) → 결과가 다를 때 어느 쪽 몫인지부터 가린다</a:t>
            </a:r>
          </a:p>
          <a:p>
            <a:r>
              <a:t>[다음] 실제 처리 건의 자리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아래쪽(에이전트 쪽) → 왼쪽 아래 문서 → 위쪽(프로세스 쪽) 괄호</a:t>
            </a:r>
          </a:p>
          <a:p>
            <a:r>
              <a:t>· 에이전트 쪽: 둘째 자리 하나. 냉각 대응 에이전트가 냉각 긴급 대응 스킬을 따르고, 판단 엔진 · 업무 DB의 MCP 도구를 연결. 지식 그래프는 진단 도구가 안에서 읽는다</a:t>
            </a:r>
          </a:p>
          <a:p>
            <a:r>
              <a:t>· 처리 건 요약에 도구 호출 10회, 이 정본 사건은 호출별 상세 기록이 없어 연결된 도구를 모두 실제로 불렀다고 단정하지 않는다</a:t>
            </a:r>
          </a:p>
          <a:p>
            <a:r>
              <a:t>· 명세와 시나리오(SDD · BDD): 실행 중이 아니라 실행에 앞서 정해 둔 것</a:t>
            </a:r>
          </a:p>
          <a:p>
            <a:r>
              <a:t>· 프로세스 쪽: 정의 c3_cooling(작업 9 · 분기 2 · 타이머 1), 인스턴스 1건이 경보에서 정상 종료까지. 경보마다 인스턴스가 새로 — 사건 식별자가 다른 경보 세 건이면 처리 건 셋</a:t>
            </a:r>
          </a:p>
          <a:p>
            <a:r>
              <a:t>· 중복 시작 검사(테넌트 · 정의 · 사건 식별자)가 외부 명령의 단 한 번 실행까지 보장하지는 않는다. 승인 기록 role:operator, 시스템 실행 CMD-…b94a · WO-…C058</a:t>
            </a:r>
          </a:p>
          <a:p>
            <a:r>
              <a:t>· 에이전트 쪽은 한 자리, 프로세스 쪽은 줄 전체</a:t>
            </a:r>
          </a:p>
          <a:p>
            <a:r>
              <a:t>[다음] 순서를 적은 두 문서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스킬 → 오른쪽 프로세스 정의, 아래 꼬리표</a:t>
            </a:r>
          </a:p>
          <a:p>
            <a:r>
              <a:t>· 스킬: 에이전트가 읽는 지침, 한 단계 안의 도구 순서(진단 → 필요 시 업무 조회 → 평가 → 제출). 필요할 때만 하는 단계는 에이전트가 고른다</a:t>
            </a:r>
          </a:p>
          <a:p>
            <a:r>
              <a:t>· 프로세스 정의: 엔진이 읽는 설계도, 단계 사이의 순서(제안 → 승인 → 명령 → 재관측 → 작업지시). 승인 조건을 지나지 않으면 넘어가지 않는다</a:t>
            </a:r>
          </a:p>
          <a:p>
            <a:r>
              <a:t>· 스킬에 「승인 뒤 명령」을 적어도 지킨다는 보장은 없다(지침은 읽는 쪽이 따르는 것). 단계 사이의 순서는 엔진이 지키고, 승인 경로 검사 · 실행 권한 검사로 막는다</a:t>
            </a:r>
          </a:p>
          <a:p>
            <a:r>
              <a:t>· 그림에 사람 작업 하나를 넣었다고 통제가 완성되지는 않는다</a:t>
            </a:r>
          </a:p>
          <a:p>
            <a:r>
              <a:t>· 나눔: 반드시 지킬 순서는 정의에, 상황을 보고 고를 순서(업무 값을 읽을지)는 스킬에</a:t>
            </a:r>
          </a:p>
          <a:p>
            <a:r>
              <a:t>[다음] 외부 시스템에 닿는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에이전트의 업무 도구 → 오른쪽 프로세스의 서비스 작업</a:t>
            </a:r>
          </a:p>
          <a:p>
            <a:r>
              <a:t>· MCP 자체가 읽기 전용 규약은 아니다 — 쓰기 도구도 이을 수 있어 어떤 기능과 권한을 줄지가 설계의 핵심</a:t>
            </a:r>
          </a:p>
          <a:p>
            <a:r>
              <a:t>· HYD 에이전트 도구: 진단 · 조치 평가 · 생산 오더와 품질 로트 조회(읽기), 쓰기는 추천안 제출 하나(판단 기록 한 건, 설비 · 업무 시스템은 그대로)</a:t>
            </a:r>
          </a:p>
          <a:p>
            <a:r>
              <a:t>· 제출 결과에 허용되지 않은 실행 지시가 들어오는지 정해진 계약으로 검사 — 모든 위험한 문장을 알아보는 만능 검사는 아니다</a:t>
            </a:r>
          </a:p>
          <a:p>
            <a:r>
              <a:t>· 실제 쓰기는 서비스 작업: 팬 속도 100 % 냉각 명령, 쿨러 핀 세척 작업지시 등록 — 승인이 전달된 뒤에만 열린다</a:t>
            </a:r>
          </a:p>
          <a:p>
            <a:r>
              <a:t>· 에이전트가 잘못 판단해도 그 판단만으로는 아무것도 바뀌지 않는다. 읽기와 쓰기의 경계 = 책임의 경계</a:t>
            </a:r>
          </a:p>
          <a:p>
            <a:r>
              <a:t>[다음] 경계를 확인하는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Given · When · Then → 오른쪽 세 줄, 셋째 줄(강조)</a:t>
            </a:r>
          </a:p>
          <a:p>
            <a:r>
              <a:t>· Given: 추천안이 나와 승인 단계가 열린 상태 — 에이전트 단계가 끝나 출력 계약대로 추천안이 놓여 있어야 성립</a:t>
            </a:r>
          </a:p>
          <a:p>
            <a:r>
              <a:t>· When: 승인 권한이 있는 담당자가 사유를 적고 거절</a:t>
            </a:r>
          </a:p>
          <a:p>
            <a:r>
              <a:t>· Then: 설비 명령 없음, 업무 처리 없음, 처리 건이 거절로 닫힘</a:t>
            </a:r>
          </a:p>
          <a:p>
            <a:r>
              <a:t>· Then은 에이전트의 문장을 묻지 않고 처리 건 전체의 움직임을 묻는다. 이 예의 명세에는 출력 계약 외에 승인 전 실행 금지 같은 요구도 들어간다</a:t>
            </a:r>
          </a:p>
          <a:p>
            <a:r>
              <a:t>· SDD · BDD는 에이전트 전용이 아니다. 정상 · 거절 · 실패를 실행해 결과와 부수 효과를 확인하는 데 가치 — 시나리오 문서를 써 둔 것 ≠ 검증을 통과한 것</a:t>
            </a:r>
          </a:p>
          <a:p>
            <a:r>
              <a:t>[다음] 승인 자리를 지키는 검사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셋, 아래 꼬리표(등록 전 · 실행 중)</a:t>
            </a:r>
          </a:p>
          <a:p>
            <a:r>
              <a:t>· HITL은 프로세스 그림에서 사람 작업 하나로 그려진다 → 그 자리가 반드시 있도록 지키는 검사 셋</a:t>
            </a:r>
          </a:p>
          <a:p>
            <a:r>
              <a:t>· 등록 전 1: 설비 명령 앞의 경로에 사람의 승인이 없으면 정의를 등록하지 않는다</a:t>
            </a:r>
          </a:p>
          <a:p>
            <a:r>
              <a:t>· 등록 전 2: 승인 조건을 지나지 않고 실행에 닿는 길이 하나라도 있으면 등록하지 않는다(거절 갈래에서 명령으로 잘못 그린 선)</a:t>
            </a:r>
          </a:p>
          <a:p>
            <a:r>
              <a:t>· 실행 중: 지정 · 허용 역할과 작업 담당 조건을 못 채우면 승인 거부 + 기록. 운전원이 설비보전팀장 승인이 필요한 조치를 골라도 그 역할을 대신할 수 없다</a:t>
            </a:r>
          </a:p>
          <a:p>
            <a:r>
              <a:t>· 말로만 약속하면 그림을 고치다 빠뜨릴 수 있고, 실행 중에 드러나면 이미 명령이 나간 뒤일 수 있다 → 등록과 실행 순간에 기계적으로 검사</a:t>
            </a:r>
          </a:p>
          <a:p>
            <a:r>
              <a:t>[다음] 장치의 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윗줄 에이전트 쪽 → 아랫줄 프로세스 쪽, 세로선의 이름(함께 막는 위험)</a:t>
            </a:r>
          </a:p>
          <a:p>
            <a:r>
              <a:t>· 근거가 모자란 추천안: 도구가 증거와 값의 상태를 검사하고 에이전트는 이유를 적어 보류 ↔ 사람이 추천안의 근거를 검토</a:t>
            </a:r>
          </a:p>
          <a:p>
            <a:r>
              <a:t>· 승인 없는 쓰기: 업무 도구를 읽기와 제안 제출로 제한 ↔ 승인 조건의 갈림을 지나야 실행</a:t>
            </a:r>
          </a:p>
          <a:p>
            <a:r>
              <a:t>· 드러나지 않은 대기: 실행 시간 · 재시도의 한도로 멈춘 작업이 드러나 사람이 닫는다 ↔ 승인 지연 타이머가 늦은 응답을 알린다. 알림이 대기를 자동 해결하지는 않는다 — 누가 확인해 어떻게 다시 처리할지도 정한다</a:t>
            </a:r>
          </a:p>
          <a:p>
            <a:r>
              <a:t>· 한 장치만 믿지 않는다. 모델 판단에 기대는 부분(보류 지침)과 기계적으로 제한하는 부분(도구 권한)을 구별</a:t>
            </a:r>
          </a:p>
          <a:p>
            <a:r>
              <a:t>· 장치마다 작동하는 시점과 막는 위험이 다르다</a:t>
            </a:r>
          </a:p>
          <a:p>
            <a:r>
              <a:t>[다음] 어디부터 살펴보나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여섯 줄, 위 넷(지식 · 에이전트) → 아래 둘(프로세스)</a:t>
            </a:r>
          </a:p>
          <a:p>
            <a:r>
              <a:t>· 원인 후보나 기준값이 틀리다 → 인스턴스 데이터와 근거 문서(지식), 승인자가 맞지 않는다 → 조치 정책 → 역할 연결 · 담당</a:t>
            </a:r>
          </a:p>
          <a:p>
            <a:r>
              <a:t>· 읽어야 할 값을 안 읽었다 → 스킬의 절차와 도구 연결, 결과 항목 이름이 다르다 → 명세의 출력 계약(에이전트)</a:t>
            </a:r>
          </a:p>
          <a:p>
            <a:r>
              <a:t>· 승인 없이 다음 단계가 열렸다 → 정의의 갈림 조건, 끝났는데 결과를 모른다 → 끝 이벤트와 결과 보고(프로세스). 거절된 건도 상태는 완료였다</a:t>
            </a:r>
          </a:p>
          <a:p>
            <a:r>
              <a:t>· 증상에서 영역부터 가리면 고치지 않아도 될 곳을 건드리지 않는다</a:t>
            </a:r>
          </a:p>
          <a:p>
            <a:r>
              <a:t>· 표는 첫 조사 지점일 뿐 원인을 확정하는 답안이 아니다 — 값이 어디서 잘못 넘어갔는지 기록을 따라 확인</a:t>
            </a:r>
          </a:p>
          <a:p>
            <a:r>
              <a:t>[다음] 세 영역을 한 그림으로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세 상자 왼쪽부터 → 상자 사이 파란 화살표 → 아래 띠</a:t>
            </a:r>
          </a:p>
          <a:p>
            <a:r>
              <a:t>· 지식 → 에이전트: 재료(관계 · 기준 · 값이 놓인 자리), 아래 칸 스키마 · SOP · 규칙 · 출처</a:t>
            </a:r>
          </a:p>
          <a:p>
            <a:r>
              <a:t>· 에이전트 → 프로세스: 추천안 한 건(추천과 대안, 근거), 아래 칸 스킬 · MCP · 명세 · 시나리오</a:t>
            </a:r>
          </a:p>
          <a:p>
            <a:r>
              <a:t>· 프로세스: 추천안을 사람의 승인과 시스템 실행으로 잇고(정의 · 인스턴스 · 승인 · 실행), 처리 기록과 감사 기록을 남긴다 — 작업지시 한 장에서 판단과 근거까지 거슬러 가는 것이 이 띠 덕분</a:t>
            </a:r>
          </a:p>
          <a:p>
            <a:r>
              <a:t>· 실제로는 식별자 · 상태 · 오류 · 보류 정보도 오간다. 이름과 형식만 같다고 바꿔 끼울 수 없다</a:t>
            </a:r>
          </a:p>
          <a:p>
            <a:r>
              <a:t>· 의미 · 권한 · 실패 때의 행동까지 계약으로 맞추고 검증하면 한 영역의 변경이 다른 영역에 번지는 것을 줄인다</a:t>
            </a:r>
          </a:p>
          <a:p>
            <a:r>
              <a:t>[다음] 교대 인수인계 실습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제목</a:t>
            </a:r>
          </a:p>
          <a:p>
            <a:r>
              <a:t>· 같은 연결의 적용: 쿨러 사건에서 본 지식 → 판단 → 사람의 승인 → 시스템 실행을 교대 인수인계 한 건에 적용</a:t>
            </a:r>
          </a:p>
          <a:p>
            <a:r>
              <a:t>· 장면: 한 근무자가 전달받은 작업 메모를 다음 근무자에게 넘긴다</a:t>
            </a:r>
          </a:p>
          <a:p>
            <a:r>
              <a:t>· 핵심 긴장: 메모에 정비가 끝났다고 적혀 있어도 열린 작업지시가 남아 있으면 둘을 따로 확인해야 한다</a:t>
            </a:r>
          </a:p>
          <a:p>
            <a:r>
              <a:t>· 이 단계는 인계 업무의 입력과 완료 조건을 정하는 데까지</a:t>
            </a:r>
          </a:p>
          <a:p>
            <a:r>
              <a:t>[다음] 인계안에 담을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왼쪽부터, 넷째 카드(강조)</a:t>
            </a:r>
          </a:p>
          <a:p>
            <a:r>
              <a:t>· 입력: 대상 설비, 교대, 기준 시각, 전달받은 작업 메모</a:t>
            </a:r>
          </a:p>
          <a:p>
            <a:r>
              <a:t>· 대조: 설비 상태, 미완료 작업지시, 부품 대기 정보</a:t>
            </a:r>
          </a:p>
          <a:p>
            <a:r>
              <a:t>· 범위: 다음 근무자가 확인할 일을 인계 — 앞에서 실행한 A · B · C의 조치 · 정비 · 구매를 다시 실행하지 않는다</a:t>
            </a:r>
          </a:p>
          <a:p>
            <a:r>
              <a:t>· 완료 조건: 인계자 검토 + 인수자 확인. 끝난 인계 기록에는 확인된 근거와 함께 미확인 항목과 다음 사람이 할 확인도 남는다</a:t>
            </a:r>
          </a:p>
          <a:p>
            <a:r>
              <a:t>· 인수 확인 ≠ 정비 완료 · 설비 조치</a:t>
            </a:r>
          </a:p>
          <a:p>
            <a:r>
              <a:t>[다음] 보충 문서를 지식으로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제목</a:t>
            </a:r>
          </a:p>
          <a:p>
            <a:r>
              <a:t>· 할 일: 인계에 쓸 보충 점검 문서를 기존 지식에 추가</a:t>
            </a:r>
          </a:p>
          <a:p>
            <a:r>
              <a:t>· 입력: 강사가 제공한 HI-01 보충 매뉴얼과 준비된 추출 후보 — 설비 상태 · 열린 작업지시 · 부품 상태 · 작업 메모를 대조하는 절차가 들어 있다</a:t>
            </a:r>
          </a:p>
          <a:p>
            <a:r>
              <a:t>· 범위: 기존 쿨러 · 정비 · 구매 지식은 그대로 두고, 학생의 임의 문서를 무제한으로 추출하는 실습이 아니다</a:t>
            </a:r>
          </a:p>
          <a:p>
            <a:r>
              <a:t>[다음] 대조와 적재의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왼쪽부터, 넷째 카드(강조)</a:t>
            </a:r>
          </a:p>
          <a:p>
            <a:r>
              <a:t>· 입력: 제공 HI-01 보충 매뉴얼, 준비된 추출 후보</a:t>
            </a:r>
          </a:p>
          <a:p>
            <a:r>
              <a:t>· 검토: 추출된 절차 · 조건 · 근거가 원문의 어느 부분에서 왔는지 사람이 먼저 대조. 원문과 안 맞거나 부족한 항목은 적재하지 않는다</a:t>
            </a:r>
          </a:p>
          <a:p>
            <a:r>
              <a:t>· 적재: 승인한 것만 추가. 같은 문서 · 추출 조건이면 준비된 추출 결과를 다시 쓰지만, 사람의 확인과 적재는 그대로 — 둘을 구분해 기록</a:t>
            </a:r>
          </a:p>
          <a:p>
            <a:r>
              <a:t>· 성공 기준: 지식 지도에서 새 항목의 식별자, 문서 · 판본 · 절 연결 확인</a:t>
            </a:r>
          </a:p>
          <a:p>
            <a:r>
              <a:t>· 이렇게 추가한 기준을 뒤의 인계안에서 확인 기준으로 쓴다</a:t>
            </a:r>
          </a:p>
          <a:p>
            <a:r>
              <a:t>[다음] 인계안을 쓸 에이전트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제목</a:t>
            </a:r>
          </a:p>
          <a:p>
            <a:r>
              <a:t>· 할 일: 교대 인계안을 작성할 에이전트와 스킬을 구성</a:t>
            </a:r>
          </a:p>
          <a:p>
            <a:r>
              <a:t>· 조회 범위: 설비 · 정비 · ERP의 허용된 조회 도구(설비 상태, 열린 작업지시, 실제 재고, 입고 예정)</a:t>
            </a:r>
          </a:p>
          <a:p>
            <a:r>
              <a:t>· 도구 서버나 모델을 임의로 바꾸지 않는다</a:t>
            </a:r>
          </a:p>
          <a:p>
            <a:r>
              <a:t>[다음] 구성과 성공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왼쪽부터, 넷째 카드(강조)</a:t>
            </a:r>
          </a:p>
          <a:p>
            <a:r>
              <a:t>· 구성: 에이전트의 이름 · 설명, 스킬에 확인할 항목</a:t>
            </a:r>
          </a:p>
          <a:p>
            <a:r>
              <a:t>· 조회: 설비 · 정비 · ERP의 허용된 조회 도구</a:t>
            </a:r>
          </a:p>
          <a:p>
            <a:r>
              <a:t>· 산출물: 네 영역의 인계안, 실제 조회 근거가 붙는다</a:t>
            </a:r>
          </a:p>
          <a:p>
            <a:r>
              <a:t>· 성공 기준: 메모의 「정비 완료」와 실제로 열린 작업지시의 차이, 입고 예정과 실제 재고의 차이를 확인 사항으로 남긴다</a:t>
            </a:r>
          </a:p>
          <a:p>
            <a:r>
              <a:t>· 조회 결과가 없거나 조회가 실패하면 확인이 필요한 이유와 다음 확인을 남긴다. 인계안의 근거가 실제로 부른 도구와 결과인지 원천과 다시 대조</a:t>
            </a:r>
          </a:p>
          <a:p>
            <a:r>
              <a:t>[다음] 교대 흐름 실행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제목</a:t>
            </a:r>
          </a:p>
          <a:p>
            <a:r>
              <a:t>· 할 일: 제공된 교대 흐름을 등록하고 한 처리 건을 진행</a:t>
            </a:r>
          </a:p>
          <a:p>
            <a:r>
              <a:t>· 흐름의 뼈대: 초안 작성 → 인계자 검토 → 인수자 보완 요청 → 재검토 → 인수 확인</a:t>
            </a:r>
          </a:p>
          <a:p>
            <a:r>
              <a:t>· 이 확인은 사람 사이의 전달이다 — 설비 조치, 발주 · 정비의 완료를 뜻하지 않는다</a:t>
            </a:r>
          </a:p>
          <a:p>
            <a:r>
              <a:t>[다음] 여섯 칸의 흐름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여섯 칸 왼쪽부터, 마지막 칸(강조)</a:t>
            </a:r>
          </a:p>
          <a:p>
            <a:r>
              <a:t>· 흐름 정리: bpmn.io에서 제공 교대 BPMN을 열어 작업 이름과 배치를 정리, 시작 입력과 검토 · 보완 분기는 그대로</a:t>
            </a:r>
          </a:p>
          <a:p>
            <a:r>
              <a:t>· 등록: 인계안 초안의 세 단계에 교대 에이전트를 배정하고 별도 판본으로 등록</a:t>
            </a:r>
          </a:p>
          <a:p>
            <a:r>
              <a:t>· 인계안: 설비 · 교대 정보를 넣어 시작하면 에이전트가 실제 자료를 조회해 초안</a:t>
            </a:r>
          </a:p>
          <a:p>
            <a:r>
              <a:t>· 인계자: 근거와 불일치 검토 → 인수자: 보완이 필요하면 사유를 적어 같은 처리 건으로 돌려보냄 → 재검토 → 확인</a:t>
            </a:r>
          </a:p>
          <a:p>
            <a:r>
              <a:t>· 종료: 근거와 완료 기록 확인. 사람 사이의 전달 확인일 뿐 설비 조치 · 발주 · 정비 완료가 아니다</a:t>
            </a:r>
          </a:p>
          <a:p>
            <a:r>
              <a:t>[다음] ProcessGPT 시연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제목</a:t>
            </a:r>
          </a:p>
          <a:p>
            <a:r>
              <a:t>· 앞 실습에서 한 것: 제공 문서와 실제 조회를 인계안에 연결하고, 두 사람의 검토와 보완을 한 처리 건으로 이음</a:t>
            </a:r>
          </a:p>
          <a:p>
            <a:r>
              <a:t>· 시연에서 볼 것: 제품에서 지식 · 에이전트 · 프로세스가 각각 어디에 나타나고, 다음 차례가 어떻게 열리는지</a:t>
            </a:r>
          </a:p>
          <a:p>
            <a:r>
              <a:t>[다음] 제품 소개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세 줄 위에서부터, 셋째 줄(강조)</a:t>
            </a:r>
          </a:p>
          <a:p>
            <a:r>
              <a:t>· ProcessGPT: BPMN으로 업무 흐름을 표현하고 여러 에이전트의 일을 조율하는 uEngine Solutions의 오픈소스 프로젝트(개발사 공식 소개 기준)</a:t>
            </a:r>
          </a:p>
          <a:p>
            <a:r>
              <a:t>· 볼 핵심은 제품 이름보다 오케스트레이션이라는 역할 — 누가 언제 시작하고 어떤 결과를 다음에 넘길지의 조율, HYD에서 프로세스 엔진이 맡던 일</a:t>
            </a:r>
          </a:p>
          <a:p>
            <a:r>
              <a:t>· 자연어로 프로세스를 정의하는 기능: 초안을 만드는 길일 뿐, 생성된 그림이 완료 조건이나 승인 규칙까지 맞췄다는 뜻은 아니다 → 사람이 의도를 검토하고 실행 결과를 확인</a:t>
            </a:r>
          </a:p>
          <a:p>
            <a:r>
              <a:t>· 시연의 질문: 일을 맡기는 설계(정의)는 어디에, 진행되는 한 건은 어디에, 결과 뒤 다음 차례는 누가 여나 — 다른 제품에도 그대로</a:t>
            </a:r>
          </a:p>
          <a:p>
            <a:r>
              <a:t>[다음] 이름 짝 맞추기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여섯 줄, 왼쪽 이 과정에서 만든 것 → 가운데 ProcessGPT → 오른쪽 구실</a:t>
            </a:r>
          </a:p>
          <a:p>
            <a:r>
              <a:t>· 지식 그래프와 인제스천 → 지식 그래프 · 문서 검색 등 지식 구성(판단의 근거). HYD 제작 때 참고한 제품 구조와의 대응</a:t>
            </a:r>
          </a:p>
          <a:p>
            <a:r>
              <a:t>· 에이전트와 MCP 도구 → 사용자 목록의 에이전트 행, 조직 단위로 등록한 MCP 서버(우리 시스템도 같은 방식으로 에이전트를 등록)</a:t>
            </a:r>
          </a:p>
          <a:p>
            <a:r>
              <a:t>· 흐름과 판본 → 프로세스 정의와 정의 버전</a:t>
            </a:r>
          </a:p>
          <a:p>
            <a:r>
              <a:t>· 처리 건 → 프로세스 인스턴스, 단계 → 워크아이템, 사람에게 맡겨진 워크아이템이 모이는 곳 → 내 작업함</a:t>
            </a:r>
          </a:p>
          <a:p>
            <a:r>
              <a:t>· 이름은 달라도 구실은 같아 처리 건과 단계를 가르던 질문을 그대로 쓴다. 상태 이름이 비슷해도 완료의 뜻은 제품의 정의와 결과 기록으로 확인</a:t>
            </a:r>
          </a:p>
          <a:p>
            <a:r>
              <a:t>[다음] 작업 전달 구조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실행 엔진 → 가운데 워크아이템 목록 → 오른쪽 수행자</a:t>
            </a:r>
          </a:p>
          <a:p>
            <a:r>
              <a:t>· 실제 제품의 쿨러 실행 화면이 아니라, 배운 사례를 HYD가 참고한 제품의 작업 전달 구조에 대응시킨 설명</a:t>
            </a:r>
          </a:p>
          <a:p>
            <a:r>
              <a:t>· 엔진: 정의를 읽고 작업을 워크아이템으로 관리, 다음 차례를 진행 상태로 연다(예정 작업을 미리 만들어 둘 수도)</a:t>
            </a:r>
          </a:p>
          <a:p>
            <a:r>
              <a:t>· 수행자: 맡겨진 워크아이템을 처리해 결과를 제출 → 엔진이 받아 다음 워크아이템을 연다</a:t>
            </a:r>
          </a:p>
          <a:p>
            <a:r>
              <a:t>· 쿨러 사건으로: 진단 · 조치 제안 DONE(에이전트가 끝냄), 운전원 승인 IN_PROGRESS(운전원의 작업함), 다음 작업 TODO(아직 차례 전)</a:t>
            </a:r>
          </a:p>
          <a:p>
            <a:r>
              <a:t>· 에이전트든 사람이든 수행자는 자기 워크아이템만 처리하고, 다음을 여는 것은 엔진</a:t>
            </a:r>
          </a:p>
          <a:p>
            <a:r>
              <a:t>[다음] 수업용과 제품의 경계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HYD가 참고한 구조 → 오른쪽 제품에서 확인할 범위(강조)</a:t>
            </a:r>
          </a:p>
          <a:p>
            <a:r>
              <a:t>· 참고한 것: 정의 · 판본 · 인스턴스의 구별, 워크아이템과 결과 제출, 엔진이 다음 작업을 여는 구조 — 제품을 그대로 설치해 쓴 것이 아니라 교육용으로 직접 구현</a:t>
            </a:r>
          </a:p>
          <a:p>
            <a:r>
              <a:t>· 제품 평가 때 더 볼 것: 자연어로 만든 정의의 검토 방식, 여러 에이전트와 하위 프로세스 관리, 지식 검색과 접근 권한, 운영 중 신원 · 실패 · 운영 환경</a:t>
            </a:r>
          </a:p>
          <a:p>
            <a:r>
              <a:t>· 기능이 소개된 것 ≠ 우리 환경에서 검증한 것</a:t>
            </a:r>
          </a:p>
          <a:p>
            <a:r>
              <a:t>· 수업에서 역할을 골라 승인한 경험 ≠ 실제 사용자 인증. 기업은 접속한 신원과 그 권한을 연결해야 승인의 책임을 확인한다</a:t>
            </a:r>
          </a:p>
          <a:p>
            <a:r>
              <a:t>[다음] 기업 적용의 통제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여섯 줄, 칸은 통제 요소 → 지키는 것 → HYD 예 · 확인할 것</a:t>
            </a:r>
          </a:p>
          <a:p>
            <a:r>
              <a:t>· 사람 승인(HITL): 효과를 내기 전에 필요한 결정이 있었나, 권한: 그 결정을 할 사람이 맞나 — 승인 버튼이 보인다고 두 질문이 풀리지 않는다</a:t>
            </a:r>
          </a:p>
          <a:p>
            <a:r>
              <a:t>· 감사 추적: 제안 · 승인 · 명령과 결과가 이어져야 원인을 추적하고, 이미 한 작업을 다시 시도해도 되는지도 판단한다</a:t>
            </a:r>
          </a:p>
          <a:p>
            <a:r>
              <a:t>· 보상: 모든 것을 되돌리는 만능 취소가 아니다. 예: 발주 뒤 실패 → 취소 가능 여부 확인 · 취소 요청이나 정정 절차, 발송한 안내는 정정 안내. 무엇을 어떻게 보상할지는 업무별 설계</a:t>
            </a:r>
          </a:p>
          <a:p>
            <a:r>
              <a:t>· 실행 격리: 읽기 도구의 범위, 계정 권한, 연결 가능한 시스템. 변경 통제: 실행 중인 판본과 새 정의의 적용 시점 — 판본을 고정해도 센서 값이나 현재 권한까지 고정되지는 않는다</a:t>
            </a:r>
          </a:p>
          <a:p>
            <a:r>
              <a:t>· 제품 이름이 같다고 필요한 통제가 갖춰졌다고 결론 내리지 않는다 — 실제 설정과 시험에서 확인</a:t>
            </a:r>
          </a:p>
          <a:p>
            <a:r>
              <a:t>[다음] 시연에서 볼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</a:t>
            </a:r>
          </a:p>
          <a:p>
            <a:r>
              <a:t>· 세 영역의 이름: 지식 · 에이전트 · 프로세스가 제품에서 불리는 이름과 구실</a:t>
            </a:r>
          </a:p>
          <a:p>
            <a:r>
              <a:t>· 한 건의 흐름: 정의 하나에서 열린 인스턴스가 에이전트 작업과 사람 작업으로 이어지는 모습</a:t>
            </a:r>
          </a:p>
          <a:p>
            <a:r>
              <a:t>· 넓어진 범위: 말로 만드는 정의, 여러 에이전트의 협업처럼 배운 구조 위에 더해진 것</a:t>
            </a:r>
          </a:p>
          <a:p>
            <a:r>
              <a:t>· 통제가 놓이는 자리: 승인 · 권한 · 감사 추적이 흐름의 어디에</a:t>
            </a:r>
          </a:p>
          <a:p>
            <a:r>
              <a:t>· 시연 뒤 가려낼 것: 눈앞의 것이 정의인지 인스턴스인지, 지금 누구의 차례인지, 사람이 결정하는 자리가 어디인지. 준비된 환경에서 확인 못 한 것은 미확인으로 남긴다</a:t>
            </a:r>
          </a:p>
          <a:p>
            <a:r>
              <a:t>[다음] 지식 자산화 실습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제목</a:t>
            </a:r>
          </a:p>
          <a:p>
            <a:r>
              <a:t>· 할 일: 개념을 자신의 말로 적고, 그 개념이 나온 자료와 이번에 만든 교대 에이전트 · 흐름 · 인계 처리 건을 연결</a:t>
            </a:r>
          </a:p>
          <a:p>
            <a:r>
              <a:t>· 함께 적을 것: 확인한 조회 근거, 사람의 검토, 보완 뒤에도 남은 미확인 항목</a:t>
            </a:r>
          </a:p>
          <a:p>
            <a:r>
              <a:t>· 학습 노트에 적은 내용과 실제 처리 건의 결과를 구분 — 무엇을 배웠고 무엇을 확인했는지 다시 찾을 수 있게</a:t>
            </a:r>
          </a:p>
          <a:p>
            <a:r>
              <a:t>· 오프라인 기본은 Notion 없이 준비한 Markdown 학습 노트로 정리. 현장에서 Notion 연결과 쓰기 권한이 확인되면 연동을 선택해 시연</a:t>
            </a:r>
          </a:p>
          <a:p>
            <a:r>
              <a:t>[다음] 학습 노트에 잇는 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왼쪽부터, 넷째 카드(강조)</a:t>
            </a:r>
          </a:p>
          <a:p>
            <a:r>
              <a:t>· 개념: 자신의 문장으로 다시 쓴 개념(이해)</a:t>
            </a:r>
          </a:p>
          <a:p>
            <a:r>
              <a:t>· 참고 자료: 개념이 나온 자료와 문서의 연결(출처)</a:t>
            </a:r>
          </a:p>
          <a:p>
            <a:r>
              <a:t>· 실습 산출물: 인계안과 에이전트, 흐름 · 처리 건(결과물)</a:t>
            </a:r>
          </a:p>
          <a:p>
            <a:r>
              <a:t>· 검증 결과: 만든 것이 정한 대로 동작했는지의 기록 — 확인한 것과 미확인을 나눠 둔다</a:t>
            </a:r>
          </a:p>
          <a:p>
            <a:r>
              <a:t>· 넷이 이어져 있어야 과정이 끝난 뒤에도 다시 찾아 쓰는 자산이 된다</a:t>
            </a:r>
          </a:p>
          <a:p>
            <a:r>
              <a:t>[다음] 복습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줄, 가운데 「맡은 영역」 · 오른쪽 「판단의 근거」 칸은 가린 채 시작</a:t>
            </a:r>
          </a:p>
          <a:p>
            <a:r>
              <a:t>· 실습과 시연에서 돌아와 복습 · 용어 · 퀴즈로 마무리. 학습 노트에는 완성한 결과와 미확인을 구분해 둔다</a:t>
            </a:r>
          </a:p>
          <a:p>
            <a:r>
              <a:t>· 물음: 쿨러 사건의 다섯 순간이 지식 · 에이전트 · 프로세스 중 어느 영역의 일인지, 근거와 함께(약 20초)</a:t>
            </a:r>
          </a:p>
          <a:p>
            <a:r>
              <a:t>· 답: 핀 오염 기준(냉각 효율 70 % 미만) 등록 = 지식(검토 · 개정으로 관리), 냉각 효율 46.2 %를 기준에 대기 = 에이전트, 핀 세척 승인은 설비보전팀장 = 지식(조치에 적힌 승인 역할), 운전원 승인 뒤 냉각 명령 = 프로세스(엔진이 순서를 지킨다)</a:t>
            </a:r>
          </a:p>
          <a:p>
            <a:r>
              <a:t>· 헷갈리는 다섯째: 유온 51.5 ℃를 다시 읽고 작업지시 등록 = 프로세스 — 같은 시계열 DB를 읽어도 판단 재료가 아니라 승인 뒤 실행 결과를 확인한 서비스 작업</a:t>
            </a:r>
          </a:p>
          <a:p>
            <a:r>
              <a:t>· 같은 값도 누가 무엇을 위해 읽었는지에 따라 영역이 갈린다. 배치는 시스템마다 달라도 이 질문은 유효</a:t>
            </a:r>
          </a:p>
          <a:p>
            <a:r>
              <a:t>[다음]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일곱 줄, 왼쪽 용어 → 오른쪽 정식 명칭 · 풀이</a:t>
            </a:r>
          </a:p>
          <a:p>
            <a:r>
              <a:t>· 스킬(Skill): 업무 수행의 순서와 요령을 적은 재사용 지침, MCP(Model Context Protocol): 외부 시스템의 도구를 같은 방식으로 부르게 하는 연결 규약</a:t>
            </a:r>
          </a:p>
          <a:p>
            <a:r>
              <a:t>· 출력 계약(Output Contract): 결과의 필수 항목 · 형식 · 의미와 처리 조건의 약속</a:t>
            </a:r>
          </a:p>
          <a:p>
            <a:r>
              <a:t>· HITL(Human-in-the-Loop): 과정에 사람의 판단 · 피드백을 넣는 방식 — 이 수업에서는 실행 전 승인 · 거절의 자리</a:t>
            </a:r>
          </a:p>
          <a:p>
            <a:r>
              <a:t>· 프로세스 인스턴스 = 처리 건, 워크아이템 = 단계</a:t>
            </a:r>
          </a:p>
          <a:p>
            <a:r>
              <a:t>· 멀티 에이전트 오케스트레이션: 한 프로세스 안에서 여러 에이전트의 순서와 호출을 조율</a:t>
            </a:r>
          </a:p>
          <a:p>
            <a:r>
              <a:t>[다음] 퀴즈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→ 부제</a:t>
            </a:r>
          </a:p>
          <a:p>
            <a:r>
              <a:t>· 퀴즈 세 문제: 보기의 말을 기억하는지보다 그 판단이 어느 영역의 몫인지 근거를 댈 수 있는지</a:t>
            </a:r>
          </a:p>
          <a:p>
            <a:r>
              <a:t>· 진행: 문제마다 보기를 읽은 뒤 잠깐 멈추고 답을 고른다. 정답과 까닭은 세 문제를 다 푼 뒤 함께</a:t>
            </a:r>
          </a:p>
          <a:p>
            <a:r>
              <a:t>[다음] Quiz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 → 물음 → 보기 넷</a:t>
            </a:r>
          </a:p>
          <a:p>
            <a:r>
              <a:t>· 상황: 에이전트가 원인을 쿨러 핀 오염으로 가리고 팬 최대 운전을 권하는 추천안을 제출, 운전원은 아직 응답 전</a:t>
            </a:r>
          </a:p>
          <a:p>
            <a:r>
              <a:t>· 물음: 이 시점의 처리 건에 대한 설명으로 옳은 것은?</a:t>
            </a:r>
          </a:p>
          <a:p>
            <a:r>
              <a:t>· 생각할 거리: 제출 시점에서 에이전트와 엔진의 몫, 승인 전 설비의 상태</a:t>
            </a:r>
          </a:p>
          <a:p>
            <a:r>
              <a:t>· 약 20초</a:t>
            </a:r>
          </a:p>
          <a:p>
            <a:r>
              <a:t>[다음] Quiz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 → 물음 → 보기 넷</a:t>
            </a:r>
          </a:p>
          <a:p>
            <a:r>
              <a:t>· 상황: 매뉴얼 개정으로 핀 오염을 가리는 냉각 효율 기준값이 바뀌었는데, 에이전트는 예전 기준으로 판단</a:t>
            </a:r>
          </a:p>
          <a:p>
            <a:r>
              <a:t>· 가정: 조회 구조와 기준의 단위는 그대로</a:t>
            </a:r>
          </a:p>
          <a:p>
            <a:r>
              <a:t>· 물음: 새 기준이 판단에 쓰이게 하려면 먼저 고칠 곳은?</a:t>
            </a:r>
          </a:p>
          <a:p>
            <a:r>
              <a:t>· 생각할 거리: 증거 기준이 어디에 등록되어 있었고 어느 도구가 읽었나</a:t>
            </a:r>
          </a:p>
          <a:p>
            <a:r>
              <a:t>· 약 20초</a:t>
            </a:r>
          </a:p>
          <a:p>
            <a:r>
              <a:t>[다음] Quiz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 → 물음 → 보기 넷</a:t>
            </a:r>
          </a:p>
          <a:p>
            <a:r>
              <a:t>· 상황: 재고 보충을 빨리 끝내려고 구매 에이전트에 발주를 직접 등록하는 쓰기 도구를 연결하자는 의견</a:t>
            </a:r>
          </a:p>
          <a:p>
            <a:r>
              <a:t>· 물음: 이 수업의 승인 정책에서 가장 알맞은 판단은?</a:t>
            </a:r>
          </a:p>
          <a:p>
            <a:r>
              <a:t>· 생각할 거리: 에이전트의 읽기와 프로세스의 쓰기, 스킬의 순서와 엔진의 순서</a:t>
            </a:r>
          </a:p>
          <a:p>
            <a:r>
              <a:t>· 약 20초</a:t>
            </a:r>
          </a:p>
          <a:p>
            <a:r>
              <a:t>[다음] 정답 맞추기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 위에서부터, 판단 기준 → 정답</a:t>
            </a:r>
          </a:p>
          <a:p>
            <a:r>
              <a:t>· Quiz 1 정답 3번: 에이전트의 일은 제출에서 끝, 운전원 승인을 여는 것은 엔진. 설비 명령은 승인 전달 뒤에만 → 팬은 그대로. 1번 제출과 실행 혼동, 2번 에이전트가 승인을 기다린다고 봄, 4번 응답 없음을 승인으로 읽음(지연 알림만, 계속 대기)</a:t>
            </a:r>
          </a:p>
          <a:p>
            <a:r>
              <a:t>· Quiz 2 정답 2번: 증거 기준은 매뉴얼에서 적재한 지식이고 진단 도구가 판단 때마다 읽는다 → 개정 문서를 검토해 다시 적재하고 반영을 확인. 1번 기준이 두 곳에 생김, 3번 게이트웨이는 승인 · 회복을 가르는 조건, 4번 사람의 기억에 맡김</a:t>
            </a:r>
          </a:p>
          <a:p>
            <a:r>
              <a:t>· Quiz 3 정답 1번: 쓰기는 승인 뒤 프로세스 작업, 에이전트에는 읽기와 제안 제출 권한. 2번 스킬의 순서 ≠ 엔진이 지키는 순서, 3번 감사 기록은 사후라 승인을 대신 못 함, 4번 책임질 사람의 결정이 빠진다</a:t>
            </a:r>
          </a:p>
          <a:p>
            <a:r>
              <a:t>· 맺음: 이 회차로 과정 전체를 마친다. 다른 제품 · 도구를 만나도 익힌 원리와 역할의 구분은 그대로 — 학습 노트와 직접 만든 명세 · 에이전트 · 흐름이 각자 업무의 출발점</a:t>
            </a:r>
          </a:p>
          <a:p>
            <a:r>
              <a:t>[다음] 과정을 마치며 인사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Relationship Id="rId4" Type="http://schemas.openxmlformats.org/officeDocument/2006/relationships/image" Target="../media/image3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3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12.png"/><Relationship Id="rId6" Type="http://schemas.openxmlformats.org/officeDocument/2006/relationships/image" Target="../media/image3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2.png"/><Relationship Id="rId4" Type="http://schemas.openxmlformats.org/officeDocument/2006/relationships/image" Target="../media/image40.png"/><Relationship Id="rId5" Type="http://schemas.openxmlformats.org/officeDocument/2006/relationships/image" Target="../media/image17.png"/><Relationship Id="rId6" Type="http://schemas.openxmlformats.org/officeDocument/2006/relationships/image" Target="../media/image4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.png"/><Relationship Id="rId4" Type="http://schemas.openxmlformats.org/officeDocument/2006/relationships/image" Target="../media/image42.png"/><Relationship Id="rId5" Type="http://schemas.openxmlformats.org/officeDocument/2006/relationships/image" Target="../media/image23.png"/><Relationship Id="rId6" Type="http://schemas.openxmlformats.org/officeDocument/2006/relationships/image" Target="../media/image19.png"/><Relationship Id="rId7" Type="http://schemas.openxmlformats.org/officeDocument/2006/relationships/image" Target="../media/image43.png"/><Relationship Id="rId8" Type="http://schemas.openxmlformats.org/officeDocument/2006/relationships/image" Target="../media/image3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0.png"/><Relationship Id="rId4" Type="http://schemas.openxmlformats.org/officeDocument/2006/relationships/image" Target="../media/image4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5.png"/><Relationship Id="rId6" Type="http://schemas.openxmlformats.org/officeDocument/2006/relationships/image" Target="../media/image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17.png"/><Relationship Id="rId6" Type="http://schemas.openxmlformats.org/officeDocument/2006/relationships/image" Target="../media/image4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온톨로지 · 에이전트 · 프로세스를 교대 인수인계에 적용하기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지식 · 에이전트 · 프로세스의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연결과 적용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쿨러 사건 한 건으로 세 영역의 연결을 되짚고, 같은 구조를 교대 인수인계와 제품에 대어 본다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topology-star-3" descr="topology-star-3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robot" descr="robot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route" descr="route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사건과 교대 인계로 지식 · 에이전트 · 프로세스의 연결을 설명한다.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00909"/>
            <a:ext cx="2567863" cy="35808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0207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opology-star-3" descr="topology-star-3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5569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25038"/>
            <a:ext cx="2238679" cy="20538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판단</a:t>
            </a:r>
          </a:p>
          <a:p>
            <a:pPr algn="l" eaLnBrk="0" marL="194310" indent="-194310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도구가 읽는 지식과 값을 구별한다</a:t>
            </a:r>
          </a:p>
          <a:p>
            <a:pPr algn="l" eaLnBrk="0" marL="194310" indent="-194310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 근거와 출처를 확인한다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52034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52034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→ 판단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200909"/>
            <a:ext cx="2567863" cy="35808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40207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route" descr="rout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55569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225038"/>
            <a:ext cx="2238679" cy="20538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제안과 업무 완료</a:t>
            </a:r>
          </a:p>
          <a:p>
            <a:pPr algn="l" eaLnBrk="0" marL="194310" indent="-194310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· 실행 · 결과 확인을 구별한다</a:t>
            </a:r>
          </a:p>
          <a:p>
            <a:pPr algn="l" eaLnBrk="0" marL="194310" indent="-194310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각 장치의 역할을 설명한다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352034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352034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→ 완료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200909"/>
            <a:ext cx="2567863" cy="35808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40207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pencil" descr="pencil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55569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225038"/>
            <a:ext cx="2238679" cy="20538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교대 인수인계</a:t>
            </a:r>
          </a:p>
          <a:p>
            <a:pPr algn="l" eaLnBrk="0" marL="194310" indent="-194310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제공 문서 · 에이전트 · 흐름을 연결한다</a:t>
            </a:r>
          </a:p>
          <a:p>
            <a:pPr algn="l" eaLnBrk="0" marL="194310" indent="-194310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검토와 보완을 확인한다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352034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352034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 결과물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200909"/>
            <a:ext cx="2567863" cy="35808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40207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shield-check" descr="shield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555697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225038"/>
            <a:ext cx="2238679" cy="20538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제품에서 확인</a:t>
            </a:r>
          </a:p>
          <a:p>
            <a:pPr algn="l" eaLnBrk="0" marL="194310" indent="-194310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역할과 구현 차이를 가린다</a:t>
            </a:r>
          </a:p>
          <a:p>
            <a:pPr algn="l" eaLnBrk="0" marL="194310" indent="-194310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결과를 학습 노트에 잇는다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352034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352034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시연 · 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234440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경보에서 추천안까지: 에이전트가 읽는 지식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140817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140817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653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874519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그래프 질의와 증거: 원인을 가리는 지식과 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204825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204825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054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14600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514600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조치의 판단과 출처: 추천안이 되기까지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26883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26883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455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54679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3154679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제안에서 완료까지: 승인과 시스템 실행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332841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332841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94760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794760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쪽 장치와 프로세스 쪽 장치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88575" y="39684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8575" y="396849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256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434840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434840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교대 인수인계: 문서 · 에이전트 · 흐름 실행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88575" y="46085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88575" y="46085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0657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074919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19" y="5074919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ProcessGPT 시연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88575" y="524865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8575" y="524865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70585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715000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19" y="5715000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 내용과 결과물의 지식 자산화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88575" y="5888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88575" y="5888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경보에서 추천안까지:</a:t>
            </a:r>
          </a:p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에이전트가 읽는 지식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 한 건을 받은 에이전트가 스킬을 따라 지식과 값을 읽는 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따라갈 사건: 쿨러 성능 저하 경보에서 결과 보고까지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처리 건 한 건은 경보에서 끝까지 여덟 자리를 지났고, 자리마다 식별자가 붙은 기록이 남았다.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pic>
        <p:nvPicPr>
          <p:cNvPr id="6" name="삽화:사건선_전체.svg" descr="illust_7660807224202100658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6554" y="4275002"/>
            <a:ext cx="1352777" cy="6780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ALT-hyd01-0014-e0a1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0241" y="4275002"/>
            <a:ext cx="1352777" cy="6780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진단 · 제안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DEC-1010-002-408b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5747" y="4275002"/>
            <a:ext cx="1309139" cy="6780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운전원 · 11:14:56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7615" y="4275002"/>
            <a:ext cx="1352777" cy="6780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CMD-1010-0001-b94a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3121" y="4275002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재관측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51.5 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6808" y="4275002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작업지시 등록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WO-1010-C058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8676" y="4275002"/>
            <a:ext cx="135277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정상 · 경보 해제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23276" y="4275002"/>
            <a:ext cx="109094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영역이 맡는 구간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지식은 판단의 재료를 대고, 에이전트는 한 자리에서 판단하며, 프로세스는 경보에서 끝까지의 순서와 책임을 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pic>
        <p:nvPicPr>
          <p:cNvPr id="6" name="삽화:사건선_영역.svg" descr="illust_6338659748404160508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50239" y="1627632"/>
            <a:ext cx="829121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프로세스: 경보에서 끝까지의 순서와 책임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7491" y="2431298"/>
            <a:ext cx="261827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에이전트: 진단 · 제안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921" y="4227728"/>
            <a:ext cx="120004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0295" y="4227728"/>
            <a:ext cx="120004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3981" y="4227728"/>
            <a:ext cx="120004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7668" y="4227728"/>
            <a:ext cx="120004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재관측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1355" y="4227728"/>
            <a:ext cx="120004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작업지시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5042" y="4227728"/>
            <a:ext cx="120004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77824" y="4227728"/>
            <a:ext cx="98185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6708" y="5031394"/>
            <a:ext cx="370922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지식과 값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그래프, SOP와 판단 규칙,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 DB와 업무 DB의 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단계의 입력: 경보 메시지 한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 단계가 열릴 때 손에 쥔 것은 경보 메시지 한 건이며, 그 안에는 원인도 조치도 적혀 있지 않다.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36749"/>
            <a:ext cx="6766560" cy="3109213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73909"/>
            <a:ext cx="6400800" cy="28348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alertId    ALT-hyd01-0014-e0a1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asset      HYD-01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pattern    COOLER_DEGRADATION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severity   HIGH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state      RAISE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          2026-10-10 11:13:08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evidence.values  TS1 55.71, CE 46.2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436749"/>
            <a:ext cx="4007815" cy="10364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들어 있는 것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어느 설비에서 어떤 조건이 성립했는지, 그때의 값과 경보의 식별자이다.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473153"/>
            <a:ext cx="4007815" cy="10364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들어 있지 않은 것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후보, 조치 방법, 판단 기준, 지금의 납기와 품질 사정이다.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509558"/>
            <a:ext cx="4007815" cy="10364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채우는 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도구를 불러 지식과 값을 읽어 온다.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스킬이 정한 도구와 도구마다 읽는 재료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에이전트는 스킬이 안내한 도구로 미리 등록된 지식과 판단 시점의 값을 읽으며, 실제 호출 순서는 기록으로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pic>
        <p:nvPicPr>
          <p:cNvPr id="6" name="삽화:스킬도구.svg" descr="illust_4190129316220028997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742" y="1911278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8451" y="1864004"/>
            <a:ext cx="174551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진단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원인을 가린다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4884" y="1864004"/>
            <a:ext cx="218189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업무 값 조회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필요하면 업무 사정을 읽는다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6788" y="1864004"/>
            <a:ext cx="174551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조치 평가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조치를 견준다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4135" y="1864004"/>
            <a:ext cx="174551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추천안 제출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추천안을 제출한다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9321" y="5598688"/>
            <a:ext cx="152732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관계와 증거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5745" y="5598688"/>
            <a:ext cx="152732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시계열 DB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시점의 센서 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3074" y="5598688"/>
            <a:ext cx="174551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DB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생산 오더와 품질 로트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8598" y="5598688"/>
            <a:ext cx="218189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SOP와 판단 규칙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성과 기준(BSC · KPI)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8696" y="4842296"/>
            <a:ext cx="152732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원천 읽기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제출은 별도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그래프 질의와 증거:</a:t>
            </a:r>
          </a:p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원인을 가리는 지식과 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관계로 찾은 후보를 기준과 관측값으로 대조하는 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경보의 패턴 코드에서 원인 후보까지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경보의 pattern 값이 이상 패턴 노드의 code 속성과 같아서, 경보 한 건이 그래프 질의의 출발점이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39" y="4318711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3951" y="4648809"/>
            <a:ext cx="1786737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AnomalyPattern</a:t>
            </a:r>
          </a:p>
        </p:txBody>
      </p:sp>
      <p:sp>
        <p:nvSpPr>
          <p:cNvPr id="8" name="Oval 7"/>
          <p:cNvSpPr/>
          <p:nvPr/>
        </p:nvSpPr>
        <p:spPr>
          <a:xfrm>
            <a:off x="3730038" y="1777136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51653" y="2107234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Symptom</a:t>
            </a:r>
          </a:p>
        </p:txBody>
      </p:sp>
      <p:sp>
        <p:nvSpPr>
          <p:cNvPr id="10" name="Oval 9"/>
          <p:cNvSpPr/>
          <p:nvPr/>
        </p:nvSpPr>
        <p:spPr>
          <a:xfrm>
            <a:off x="6817866" y="4318711"/>
            <a:ext cx="1737360" cy="173736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39482" y="4648809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FailureMode</a:t>
            </a:r>
          </a:p>
        </p:txBody>
      </p:sp>
      <p:sp>
        <p:nvSpPr>
          <p:cNvPr id="12" name="Oval 11"/>
          <p:cNvSpPr/>
          <p:nvPr/>
        </p:nvSpPr>
        <p:spPr>
          <a:xfrm>
            <a:off x="9905695" y="1777136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27310" y="2107234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131734" y="3233674"/>
            <a:ext cx="1731137" cy="1382981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15" name="Rounded Rectangle 14"/>
          <p:cNvSpPr/>
          <p:nvPr/>
        </p:nvSpPr>
        <p:spPr>
          <a:xfrm>
            <a:off x="2486167" y="3559404"/>
            <a:ext cx="10222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6167" y="3559404"/>
            <a:ext cx="1022271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DETECTS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04722" y="3226924"/>
            <a:ext cx="1654641" cy="1361926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18" name="Rounded Rectangle 17"/>
          <p:cNvSpPr/>
          <p:nvPr/>
        </p:nvSpPr>
        <p:spPr>
          <a:xfrm>
            <a:off x="5514057" y="3542127"/>
            <a:ext cx="12359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14057" y="3542127"/>
            <a:ext cx="1235971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8413730" y="3226924"/>
            <a:ext cx="1654641" cy="1361926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8783340" y="3542127"/>
            <a:ext cx="91542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83340" y="3542127"/>
            <a:ext cx="915421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스키마가 정한 관계가 조회의 길이 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진단 도구의 조회는 스키마가 정한 관계를 길로 삼으므로, 후보가 없으면 질의 조건과 적재된 연결부터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45207"/>
            <a:ext cx="6766560" cy="2892297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82367"/>
            <a:ext cx="6400800" cy="261797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MATCH (p:AnomalyPattern {code: $pattern})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-[:DETECTS]-&gt;(s:Symptom)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-[:INDICATES]-&gt;(fm:FailureMode)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&lt;-[:CAUSES]-(c:Cause)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545207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$pattern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경보의 pattern 값이 이 자리에 들어간다.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509306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클래스와 관계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노드의 종류, 관계의 이름과 방향은 스키마가 정했다.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473405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돌아오는 것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 같은 인스턴스이다.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증거 기준과 현재 값: 진단 도구가 읽는 두 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증거 기준은 지식 그래프에, 견줄 값은 시계열 DB에 있어서 진단 도구는 한 번의 호출 안에서 두 곳을 모두 읽는다.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82241"/>
            <a:ext cx="5181447" cy="361823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8340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opology-star-3" descr="topology-star-3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370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834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그래프의 증거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33801"/>
            <a:ext cx="4632807" cy="2018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 핀 오염: 냉각 효율 평균 70 % 미만,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진동 평균 0.9 mm/s 미만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구동 불량: 팬 진동 평균 0.9 mm/s 이상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주변 온도 상승: 캐비닛 온도 35 ℃ 이상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검토와 개정을 거쳐 관리한다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43271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43271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수업 설비의 기준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82241"/>
            <a:ext cx="5181447" cy="361823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834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database" descr="databas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37028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834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시계열 DB의 현재 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33801"/>
            <a:ext cx="4632807" cy="2018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냉각 효율 46.2 %, 팬 진동 약 0.58 mm/s,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캐비닛 온도 28 ℃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판단하는 순간에 읽은 값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측정 시각과 조건을 확인한다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43271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43271"/>
            <a:ext cx="868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현재 값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조치의 판단과 출처:</a:t>
            </a:r>
          </a:p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추천안이 되기까지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 후보를 견주어 출처가 달린 추천안 한 건을 제출하기까지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DB에서 읽는 값: 납기와 품질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생산과 품질의 사정은 그래프에 값으로 두지 않고, 지식에 등록한 값의 자리를 따라 판단할 때마다 원천에서 읽는다.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mes_orders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Manufacturing Execution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HYD-01에 걸린 생산 오더를 읽는다.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납기까지 남은 시간, 남은 수량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qms_lots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Quality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HYD-01의 품질 로트를 읽는다.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고온 구간에 생산된 로트, 검사 비용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018788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지식에 등록된 것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값의 자리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값이 아니라 값이 놓인 자리와 읽는 방법이다.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데이터베이스를 등록할 때 열마다 입력 데이터의 자리를 만들어 두었다.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평가 도구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evaluate_cards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자리를 따라 업무 값을 직접 읽어 순위에 넣는다.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사건: 납기까지 약 6시간, 지연 보상 시간당 120만 원, 출하 대기 로트 800개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평가 도구의 결과: 순위와 승인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규칙이 허용한 후보를 성과 기준이 줄 세우고, 승인 역할은 에이전트가 정하지 않고 조치의 지식에서 읽어 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조치와 점수 · 판단 규칙(DMN)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승인 역할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1순위 · 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 (SOP-COOL-11) · 점수 +3.38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허용 조건 충족: 원격 자동 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운전원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공동 2순위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부하 70 %와 야간 핀 세척 (SOP-COOL-13) · 점수 +2.75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허용 조건 충족: 원격 자동 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공동 2순위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운전과 부하 80 % (SOP-COOL-12) · 점수 +2.75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허용 조건 충족: 원격 자동 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4순위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세척 (SOP-COOL-14) · 점수 -1.58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 모드 조건 없음 · 정비 승인 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설비보전팀장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사이를 넘어가는 식별자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식별자는 같은 대상을 연결하지만 표기와 연결의 정확성이 내용의 진실성을 대신하지는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1658081" y="3566096"/>
            <a:ext cx="8875532" cy="146304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2648651" y="3456368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3551" y="3108896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diagnose</a:t>
            </a:r>
          </a:p>
        </p:txBody>
      </p:sp>
      <p:sp>
        <p:nvSpPr>
          <p:cNvPr id="9" name="Oval 8"/>
          <p:cNvSpPr/>
          <p:nvPr/>
        </p:nvSpPr>
        <p:spPr>
          <a:xfrm>
            <a:off x="1081171" y="3062338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아이콘:bell" descr="bell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088" y="3339255"/>
            <a:ext cx="599985" cy="5999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79" y="4353318"/>
            <a:ext cx="2036003" cy="93281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ALT-hyd01-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0014-e0a1</a:t>
            </a:r>
          </a:p>
        </p:txBody>
      </p:sp>
      <p:sp>
        <p:nvSpPr>
          <p:cNvPr id="12" name="Chevron 11"/>
          <p:cNvSpPr/>
          <p:nvPr/>
        </p:nvSpPr>
        <p:spPr>
          <a:xfrm>
            <a:off x="4867534" y="3456368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2434" y="3108896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diagnose</a:t>
            </a:r>
          </a:p>
        </p:txBody>
      </p:sp>
      <p:sp>
        <p:nvSpPr>
          <p:cNvPr id="14" name="Oval 13"/>
          <p:cNvSpPr/>
          <p:nvPr/>
        </p:nvSpPr>
        <p:spPr>
          <a:xfrm>
            <a:off x="3300054" y="3062338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alert-triangle" descr="alert-triang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971" y="3339255"/>
            <a:ext cx="599985" cy="5999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858963" y="4353318"/>
            <a:ext cx="2036003" cy="93281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고장 유형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fm:cooler-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performance-loss</a:t>
            </a:r>
          </a:p>
        </p:txBody>
      </p:sp>
      <p:sp>
        <p:nvSpPr>
          <p:cNvPr id="17" name="Chevron 16"/>
          <p:cNvSpPr/>
          <p:nvPr/>
        </p:nvSpPr>
        <p:spPr>
          <a:xfrm>
            <a:off x="7086417" y="3456368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1317" y="3108896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evaluate</a:t>
            </a:r>
          </a:p>
        </p:txBody>
      </p:sp>
      <p:sp>
        <p:nvSpPr>
          <p:cNvPr id="19" name="Oval 18"/>
          <p:cNvSpPr/>
          <p:nvPr/>
        </p:nvSpPr>
        <p:spPr>
          <a:xfrm>
            <a:off x="5518938" y="3062338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search" descr="searc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5854" y="3339255"/>
            <a:ext cx="599985" cy="5999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77846" y="4353318"/>
            <a:ext cx="2036003" cy="93281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cause:cooler-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fin-fouling</a:t>
            </a:r>
          </a:p>
        </p:txBody>
      </p:sp>
      <p:sp>
        <p:nvSpPr>
          <p:cNvPr id="22" name="Chevron 21"/>
          <p:cNvSpPr/>
          <p:nvPr/>
        </p:nvSpPr>
        <p:spPr>
          <a:xfrm>
            <a:off x="9305300" y="3456368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00200" y="3108896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submit</a:t>
            </a:r>
          </a:p>
        </p:txBody>
      </p:sp>
      <p:sp>
        <p:nvSpPr>
          <p:cNvPr id="24" name="Oval 23"/>
          <p:cNvSpPr/>
          <p:nvPr/>
        </p:nvSpPr>
        <p:spPr>
          <a:xfrm>
            <a:off x="7737821" y="3062338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아이콘:tool" descr="tool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4737" y="3339255"/>
            <a:ext cx="599985" cy="5999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296729" y="4353318"/>
            <a:ext cx="2036003" cy="93281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방법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skill: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sop-cool-11</a:t>
            </a:r>
          </a:p>
        </p:txBody>
      </p:sp>
      <p:sp>
        <p:nvSpPr>
          <p:cNvPr id="27" name="Oval 26"/>
          <p:cNvSpPr/>
          <p:nvPr/>
        </p:nvSpPr>
        <p:spPr>
          <a:xfrm>
            <a:off x="9956704" y="3062338"/>
            <a:ext cx="1153819" cy="1153819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아이콘:file-check" descr="file-check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3620" y="3339255"/>
            <a:ext cx="599985" cy="5999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515612" y="4353318"/>
            <a:ext cx="2036003" cy="93281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DEC-1010-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002-408b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제출된 추천안에 담긴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submit_decision으로 제출된 추천안에는 원인과 추천, 그렇게 본 근거, 맞지 않은 후보, 출처가 함께 남는다.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45207"/>
            <a:ext cx="6766560" cy="2892297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82367"/>
            <a:ext cx="6400800" cy="261797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번호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DEC-1010-002-408b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근거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진동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미만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효율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약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46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배제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다른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불충족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점수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3.38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예측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약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50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관측값과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구별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출처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매뉴얼의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즉시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완화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545207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근거와 배제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도구로 읽은 값과 맞지 않은 후보를 적는다.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509306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추천과 예측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평가가 매긴 1순위 조치와 그 조치의 예측값이다.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473405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조치가 가리키는 매뉴얼의 절이다.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인제스천이 남긴 출처: 매뉴얼의 절에서 추천안까지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매뉴얼을 인제스천할 때 남긴 절과 출처 관계가 있어서, 추천안의 근거를 문서의 그 절까지 거슬러 갈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88565"/>
            <a:ext cx="1911644" cy="3005582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8702" y="2671445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21" y="2825064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476117"/>
            <a:ext cx="1765340" cy="1944877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원문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HM-8.4 원인과 증거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HM-8.5 즉시 완화 조치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24292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44332" y="2488565"/>
            <a:ext cx="1911644" cy="3005582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4394" y="2671445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user-check" descr="user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8014" y="2825064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17484" y="3476117"/>
            <a:ext cx="1765340" cy="1944877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추출과 검토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원문 문장에서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후보를 뽑고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사람이 검토해 승인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1998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40025" y="2488565"/>
            <a:ext cx="1911644" cy="3005582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30087" y="2671445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database-import" descr="database-import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706" y="2825064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13177" y="3476117"/>
            <a:ext cx="1765340" cy="1944877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절 노드와 출처 관계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REFERS_TO · DERIVED_FROM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1567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35717" y="2488565"/>
            <a:ext cx="1911644" cy="3005582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25780" y="2671445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scale" descr="scale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9399" y="2825064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08869" y="3476117"/>
            <a:ext cx="1765340" cy="1944877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규칙과 SOP를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관계를 따라 읽는다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411370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31410" y="2488565"/>
            <a:ext cx="1911644" cy="3005582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21472" y="2671445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아이콘:file-check" descr="file-check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5092" y="2825064"/>
            <a:ext cx="424281" cy="42428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804562" y="3476117"/>
            <a:ext cx="1765340" cy="1944877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추천안의 출처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「HM-8.5 즉시 완화 조치」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근거 문서의 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지식의 빈자리가 에이전트의 출력에 나타나는 모습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출력의 빈자리는 후보 누락 · 근거 부족 · 출처 누락으로 갈리고, 모습에 따라 먼저 살펴볼 지식과 값의 자리가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비어 있는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출력에 나타나는 모습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살펴볼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데이터의 관계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조회 후보가 누락될 수 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질의 · 적재 · 권한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SOP와 고장 유형의 연결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이어지지 않은 조치는 후보에 오르지 않는다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 · 규칙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증거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근거가 서지 않아 원인을 정하지 않고 보류한다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인제스천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읽지 못한 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오래되거나 읽지 못한 값의 이유를 확인한다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값의 자리 · 원천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절과 출처 관계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추천에 근거 문서의 절이 붙지 않는다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적재와 출처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지식을 고치는 일과 에이전트를 고치는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기준이 바뀌면 지식을, 일하는 순서와 결과의 모양이 바뀌면 스킬을 고쳐야 기준이 두 곳에 생기지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2222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book-2" descr="book-2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7583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지식을 고친다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기준값, 조치 방법, 승인 역할이 바뀔 때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문서를 개정하고 검토해 다시 적재한다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조회 계약 유지 시 같은 도구로 읽는다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04460"/>
            <a:ext cx="9753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04460"/>
            <a:ext cx="9753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222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robot" descr="robo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758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에이전트를 고친다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일하는 순서와 결과의 모양이 바뀔 때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스킬을 고치고 명세와 시나리오로 확인한다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 구조에 미치는 영향도 확인한다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04460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04460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 · 명세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읽어 온 것과 에이전트가 정한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추천안에서 에이전트가 정한 것은 호출 순서와 설명의 문장이고, 후보와 기준과 값은 읽어 온 것이다.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3241"/>
            <a:ext cx="3515258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opology-star-3" descr="topology-star-3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680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37369"/>
            <a:ext cx="3186074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지식에서 읽은 것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후보와 증거 기준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조치 후보와 판단 규칙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역할과 근거 문서의 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39702"/>
            <a:ext cx="15697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39702"/>
            <a:ext cx="15697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 · 정책 개정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313241"/>
            <a:ext cx="3515258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database" descr="databas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668028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337369"/>
            <a:ext cx="3186074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원천에서 읽은 값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냉각 효율 46.2 %, 팬 진동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생산 오더와 품질 로트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239702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239702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계속 바뀐다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313241"/>
            <a:ext cx="3515258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5144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robot" descr="robot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668028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337369"/>
            <a:ext cx="3186074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에이전트가 정한 것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어느 도구를 어떤 순서로 부를지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근거를 어떤 문장으로 설명할지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239702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239702"/>
            <a:ext cx="18745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실행마다 다를 수 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제안에서 완료까지:</a:t>
            </a:r>
          </a:p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승인과 시스템 실행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추천안이 승인과 시스템 실행을 거쳐 끝난 업무가 되기까지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추천안이 제출된 시점의 처리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추천안을 제출한 뒤에도 승인과 설비 명령 실행, 결과 확인이 남아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pic>
        <p:nvPicPr>
          <p:cNvPr id="6" name="삽화:사건선_지식에서판단.svg" descr="illust_3081650700689031771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552" y="1674906"/>
            <a:ext cx="283646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완료 구간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 · 진단 ·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32160" y="1674906"/>
            <a:ext cx="5454747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미실행 구간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승인, 명령, 재관측, 작업지시, 결과 보고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9423" y="5125943"/>
            <a:ext cx="1963709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값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2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그래프 · SOP · DB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승인에서 끝까지: 자리마다 맡는 쪽과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제출된 것은 추천안이어서 설비는 그대로이며, 남은 자리마다 맡는 쪽과 그 일의 기준이 따로 정해져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맡는 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기준이 되는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조치에 정해진 승인 역할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 엔진 → SCADA → PLC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승인된 조치: 팬 속도 100 %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재관측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 엔진 ← 시계열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55 ℃ 미만과 경보 해제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작업지시 등록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 엔진 → CMMS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회복의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 엔진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진행한 경로와 그때까지의 업무 결과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단계의 끝: 제출하면 엔진이 이어받는다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에이전트는 추천안을 제출하는 데서 일을 마치고, 다음 단계를 여는 일은 제출을 확인한 프로세스 엔진이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87854"/>
            <a:ext cx="2485567" cy="3207004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25663" y="257073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player-play" descr="player-play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283" y="272435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375406"/>
            <a:ext cx="2339263" cy="214629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단계가 열린다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엔진이 에이전트 단계를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agent:cooling에게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맡긴다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8255" y="2387854"/>
            <a:ext cx="2485567" cy="3207004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5279" y="257073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robot" descr="robo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898" y="2724353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91407" y="3375406"/>
            <a:ext cx="2339263" cy="214629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에이전트가 일한다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스킬과 도구로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추천안을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만든다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7871" y="2387854"/>
            <a:ext cx="2485567" cy="3207004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64895" y="257073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send" descr="send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514" y="2724353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1023" y="3375406"/>
            <a:ext cx="2339263" cy="214629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결과를 낸다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결과를 내면 단계는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SUBMITTED가 되고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에이전트의 일은 끝난다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57487" y="2387854"/>
            <a:ext cx="2485567" cy="3207004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4511" y="257073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settings" descr="settings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130" y="2724353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0639" y="3375406"/>
            <a:ext cx="2339263" cy="214629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엔진이 이어받는다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결과를 변수에 담고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운전원 승인 단계를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연다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출력 계약: 에이전트의 결과를 프로세스가 읽는 약속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뒤 단계는 앞 단계의 결과를 약속한 변수 이름으로 읽으므로, 이름 · 형식 · 의미가 어긋나면 값이 넘어가지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만든 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읽는 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진단 · 냉각 조치 제안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운전원 승인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운전원 승인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게이트웨이 「승인?」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recovered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재관측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게이트웨이 「유온 정상?」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work_order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작업지시 등록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결과 보고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한 건이 처리 건에 남기는 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승인한 역할은 서버가 채우고 접수와 전달이 기록으로 남으며, 승인이 전달된 뒤에야 냉각 명령이 열린다.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52120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approval · chosen_skill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8463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승인이라는 결정과 고른 조치</a:t>
            </a:r>
          </a:p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선택 예: 승인 · 팬 최대 운전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10128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5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운전원 승인 단계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212080" cy="1965960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93392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approved_role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514600"/>
            <a:ext cx="48463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승인한 역할</a:t>
            </a:r>
          </a:p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역할 예: 운전원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310128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5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서버 · 에이전트는 못 쓴다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160520"/>
            <a:ext cx="52120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325112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APPROVAL_ACCEPTED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48463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접수 기록</a:t>
            </a:r>
          </a:p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역할과 판단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41848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5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처리 기록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160520"/>
            <a:ext cx="52120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325112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APPROVAL_DELIVERY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846320"/>
            <a:ext cx="48463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전달 완료 기록</a:t>
            </a:r>
          </a:p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뒤에야 냉각 명령이 열린다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641848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5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처리 기록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879592" y="4983480"/>
            <a:ext cx="320040" cy="201168"/>
          </a:xfrm>
          <a:prstGeom prst="rightArrow">
            <a:avLst/>
          </a:prstGeom>
          <a:solidFill>
            <a:srgbClr val="1A6F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뒤의 시스템 실행 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명령의 성공 응답과 유온의 회복 확인은 다른 사실이고, 작업지시 등록도 현장 정비의 완료를 뜻하지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pic>
        <p:nvPicPr>
          <p:cNvPr id="6" name="삽화:시스템실행.svg" descr="illust_2207583074224619253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2014" y="4558649"/>
            <a:ext cx="174551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 승인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11:14:56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3917" y="4558649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프로세스 엔진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Process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05031" y="1911278"/>
            <a:ext cx="283646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CMD-1010-0001-b94a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확인 응답 DONE · 인터록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5031" y="3376787"/>
            <a:ext cx="283646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재관측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61.4 → 51.5 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 55 ℃ 미만 · 경보 해제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4126" y="5031394"/>
            <a:ext cx="261827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작업지시 등록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WO-1010-C058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CMMS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가지 결말: 승인, 거절, 응답 없음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추천안도 사람의 결정에 따라 결말이 셋으로 갈리며, 기한이 지나도 자동 승인이나 자동 취소는 없다.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사람의 결정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시스템 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닫힌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· 회복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명령 1건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작업지시 1건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끝 이벤트 E_end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결과 보고: 정상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끝 이벤트 E_rejected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결과 보고: 반려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응답 없음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지연 알림만 나간다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닫히지 않고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승인을 계속 기다린다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업무의 승인 역할과 시스템 실행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정기 점검과 재고 보충의 처리 건에서도 에이전트는 추천안까지를 맡고, 승인과 시스템 실행은 프로세스가 잇는다.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시작 사건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에이전트의 추천안 → 사람의 승인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승인 뒤의 시스템 실행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성능 저하 경보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agent:cooling: 냉각 조치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운전원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PLC 명령 · 재관측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작업지시(CMMS)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점검 도래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agent:pm-plan: 정비할 시간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설비보전팀장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정비 오더(CMMS)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생산팀 공지 메일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재고 부족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agent:spare-buy: 발주 수량과 공급사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구매 담당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발주(ERP) · 공급사 통지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입고 확인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쪽 장치와</a:t>
            </a:r>
          </a:p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쪽 장치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처리 건에서 두 쪽의 장치가 나누어 맡은 일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처리 건 한 건에 겹쳐 있는 두 쪽의 장치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 쪽 장치는 판단의 품질을, 프로세스 쪽 장치는 순서와 책임을 지키므로 한쪽이 다른 쪽을 대신하지 못한다.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222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robot" descr="robo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7583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쪽의 장치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에이전트 실행, 스킬, MCP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명세 기반 개발(SDD), 행동 기반 개발(BDD)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한 단계 안에서 추천안 하나를 만든다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04460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04460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판단의 품질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2222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route" descr="rout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758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쪽의 장치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프로세스 정의(BPMN), 인스턴스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사람의 승인(HITL), 시스템 실행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단계와 단계를 이어 업무를 끝낸다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04460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04460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순서와 책임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쪽의 장치가 이 처리 건에서 한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 쪽의 장치는 둘째 자리 하나에서 일했고, 프로세스 쪽의 장치는 경보에서 끝까지의 진행과 승인과 실행을 남겼다.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pic>
        <p:nvPicPr>
          <p:cNvPr id="6" name="삽화:장치자리.svg" descr="illust_7495105410506782348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04764" y="1627632"/>
            <a:ext cx="9382165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프로세스 정의와 인스턴스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정의 c3_cooling(작업 9 · 분기 2 · 타이머 1) · 인스턴스 1건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2105" y="2431298"/>
            <a:ext cx="163642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기록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역할 role:operator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2171" y="2431298"/>
            <a:ext cx="349103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시스템 실행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CMD-1010-0001-b94a · WO-1010-C058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468" y="4582287"/>
            <a:ext cx="109094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2060" y="4582287"/>
            <a:ext cx="130913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진단 · 제안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4842" y="4582287"/>
            <a:ext cx="109094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9434" y="4582287"/>
            <a:ext cx="130913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2216" y="4582287"/>
            <a:ext cx="109094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재관측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6808" y="4582287"/>
            <a:ext cx="130913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작업지시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0495" y="4582287"/>
            <a:ext cx="130913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2371" y="4582287"/>
            <a:ext cx="87275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1166" y="4913208"/>
            <a:ext cx="2618278" cy="848487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에이전트 실행 · 스킬 · MCP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대응 · 호출 요약 10회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연결: 판단 · 업무 DB 도구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실제 호출 상세와 구별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647" y="5787786"/>
            <a:ext cx="163642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명세와 시나리오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SDD · BDD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스킬이 정한 순서와 프로세스 정의가 정한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스킬은 에이전트 단계 안에서 도구를 부르는 순서를, 프로세스 정의는 단계와 단계 사이의 순서를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6546"/>
            <a:ext cx="5181447" cy="330962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3771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9133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3771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88105"/>
            <a:ext cx="4632807" cy="17094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진단 → 필요 시 업무 조회 → 평가 → 제출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에이전트가 읽고 따르는 지침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상황에 따라 단계를 고른다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18896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8896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 안의 순서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36546"/>
            <a:ext cx="5181447" cy="330962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3771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sitemap" descr="sitemap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9133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3771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88105"/>
            <a:ext cx="4632807" cy="17094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제안 → 승인 → 명령 → 재관측 → 작업지시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엔진이 읽고 실행하는 설계도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경로와 실행 권한을 검사한다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188966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188966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 사이의 순서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MCP의 읽기와 프로세스의 쓰기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MCP에도 쓰기 도구를 이을 수 있지만, HYD는 에이전트에 읽기와 제안만 주고 쓰기는 승인 뒤 프로세스에 두었다.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98598"/>
            <a:ext cx="5181447" cy="2985516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69976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eye" descr="ey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85338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699766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에이전트의 업무 도구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550158"/>
            <a:ext cx="4632807" cy="13853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진단 · 평가 · 업무 값 조회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제안 제출은 별도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설비와 업무 시스템의 쓰기 권한 제한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026914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6914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읽기 · 제안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498598"/>
            <a:ext cx="5181447" cy="2985516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69976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bolt" descr="bol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853385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699766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프로세스의 서비스 작업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550158"/>
            <a:ext cx="4632807" cy="13853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승인된 냉각 명령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후속 작업지시 등록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현재 조건과 실행 결과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026914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026914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시스템 쓰기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명세와 시나리오가 확인하는 범위: 처리 건 전체의 행동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명세를 적은 것만으로는 지켜진다고 할 수 없어, 시나리오가 거절 뒤 처리 건 전체의 행동을 실행으로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45207"/>
            <a:ext cx="6766560" cy="2892297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82367"/>
            <a:ext cx="6400800" cy="261797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Scenario: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담당자가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거절한다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Given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에이전트가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추천안을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내어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단계가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열려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When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권한이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담당자가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사유를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적고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거절한다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Then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설비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명령이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만들어지지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And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업무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처리가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일어나지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And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처리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거절로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닫힌다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545207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Given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 단계가 끝나 출력 계약대로 추천안이 놓인 상태가 전제이다.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509306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When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사람의 결정이다.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473405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Then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프로세스가 지켜야 할 결과이다.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HITL을 지키는 검사: 승인 없는 실행 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사람의 승인은 그림에서 빠뜨릴 수 있어, HYD는 등록 전에 승인 경로를, 실행 중에 승인 권한을 기계적으로 검사한다.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33320"/>
            <a:ext cx="3515258" cy="3116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3448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zoom-check" descr="zoom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78810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457448"/>
            <a:ext cx="3186074" cy="158902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승인이 빠진 경로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명령 앞의 경로에 사람의 승인이 없으면 등록하지 않는다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1962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19624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등록 전의 검사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433320"/>
            <a:ext cx="3515258" cy="3116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63448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arrows-split-2" descr="arrows-split-2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78810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457448"/>
            <a:ext cx="3186074" cy="158902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거절 갈래의 실행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조건의 선을 지나지 않고 실행에 닿는 경로가 있으면 등록하지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11962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119624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등록 전의 검사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433320"/>
            <a:ext cx="3515258" cy="3116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63448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lock" descr="lo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78810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457448"/>
            <a:ext cx="3186074" cy="158902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권한 없는 승인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지정 · 허용 역할과 작업 담당 조건을 검사하고 기록한다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11962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119624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중의 검사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위험을 두 자리에서 막는 장치의 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 쪽의 장치가 놓친 위험은 프로세스 쪽의 장치에서 한 번 더 걸리도록, 같은 위험에 장치가 둘씩 짝지어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sp>
        <p:nvSpPr>
          <p:cNvPr id="6" name="Oval 5"/>
          <p:cNvSpPr/>
          <p:nvPr/>
        </p:nvSpPr>
        <p:spPr>
          <a:xfrm>
            <a:off x="1319150" y="1627632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21562" y="1905609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보류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8" name="Oval 7"/>
          <p:cNvSpPr/>
          <p:nvPr/>
        </p:nvSpPr>
        <p:spPr>
          <a:xfrm>
            <a:off x="1319150" y="4892040"/>
            <a:ext cx="1463040" cy="146304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1562" y="517001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사람의 승인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프로세스</a:t>
            </a:r>
          </a:p>
        </p:txBody>
      </p:sp>
      <p:sp>
        <p:nvSpPr>
          <p:cNvPr id="10" name="Oval 9"/>
          <p:cNvSpPr/>
          <p:nvPr/>
        </p:nvSpPr>
        <p:spPr>
          <a:xfrm>
            <a:off x="5364327" y="1627632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66740" y="1905609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도구 제한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12" name="Oval 11"/>
          <p:cNvSpPr/>
          <p:nvPr/>
        </p:nvSpPr>
        <p:spPr>
          <a:xfrm>
            <a:off x="5364327" y="4892040"/>
            <a:ext cx="1463040" cy="146304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6740" y="517001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조건의 갈림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프로세스</a:t>
            </a:r>
          </a:p>
        </p:txBody>
      </p:sp>
      <p:sp>
        <p:nvSpPr>
          <p:cNvPr id="14" name="Oval 13"/>
          <p:cNvSpPr/>
          <p:nvPr/>
        </p:nvSpPr>
        <p:spPr>
          <a:xfrm>
            <a:off x="9409505" y="1627632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11917" y="1905609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실행의 한도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16" name="Oval 15"/>
          <p:cNvSpPr/>
          <p:nvPr/>
        </p:nvSpPr>
        <p:spPr>
          <a:xfrm>
            <a:off x="9409505" y="4892040"/>
            <a:ext cx="1463040" cy="146304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11917" y="517001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지연 타이머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프로세스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50670" y="3136392"/>
            <a:ext cx="0" cy="1682496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2142110" y="3831336"/>
            <a:ext cx="1676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2110" y="3831336"/>
            <a:ext cx="1676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근거가 모자란 추천안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5847" y="3136392"/>
            <a:ext cx="0" cy="1682496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6187287" y="3831336"/>
            <a:ext cx="123824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7287" y="3831336"/>
            <a:ext cx="123824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없는 쓰기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141025" y="3136392"/>
            <a:ext cx="0" cy="1682496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10232465" y="3831336"/>
            <a:ext cx="153034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32465" y="3831336"/>
            <a:ext cx="153034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드러나지 않은 대기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결과가 기대와 다를 때 먼저 살펴볼 영역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드러난 증상이 첫 조사 지점을 세 영역 가운데 하나로 좁히지만, 원인은 실제 값과 기록을 따라가 확정한다.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드러난 증상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먼저 살펴볼 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후보나 기준값이 틀리다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인스턴스 데이터와 근거 문서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승인자가 맞지 않는다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 정책 → 역할 연결 · 담당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· 연결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읽어야 할 값을 읽지 않았다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스킬의 절차와 도구의 연결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항목의 이름이 다르다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명세의 출력 계약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없이 다음 단계가 열렸다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 정의의 갈림 조건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프로세스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끝났는데 결과를 알 수 없다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끝 이벤트와 결과 보고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프로세스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영역이 주고받는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영역은 재료와 추천안으로 이어지며, 의미 · 권한 · 실패 행동까지 계약으로 맞춰야 한 영역의 변경이 번지지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pic>
        <p:nvPicPr>
          <p:cNvPr id="6" name="삽화:세영역.svg" descr="illust_2538619527968756512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3837" y="2053102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4898" y="2053102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5958" y="2053102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프로세스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290" y="4275002"/>
            <a:ext cx="2290993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스키마, SOP, 규칙, 출처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0350" y="4275002"/>
            <a:ext cx="2290993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스킬, MCP, 명세, 시나리오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1411" y="4275002"/>
            <a:ext cx="2290993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정의, 인스턴스, 승인, 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2105" y="2904042"/>
            <a:ext cx="163642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재료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 · 기준 · 값의 자리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23165" y="2904042"/>
            <a:ext cx="163642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추천과 대안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0417" y="5598688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처리 기록과 감사 기록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다음 교대를 위한 인계 업무 정하기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인계안에 담을 입력과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대상과 작업 메모를 설비 · 작업지시 · 부품 자료와 대조하고, 인계자 검토와 인수자 확인을 완료 조건으로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680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· 교대 · 기준 시각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전달받은 작업 메모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397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397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robot" descr="robo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668028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대조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상태 · 미완료 작업지시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부품 대기 정보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2397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2397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정보원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user-check" descr="user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668028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다음 근무자가 확인할 일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ABC는 다시 실행하지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2397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2397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5144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flag" descr="flag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668028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완료 조건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인계자 검토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인수자 확인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239702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239702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제공 점검 문서를 지식으로 연결하기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문서의 절차를 원문과 대조해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준비된 추출 후보를 원문과 대조해 승인한 것만 추가하고, 새 항목의 문서 · 판본 · 절 연결을 지식 지도에서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search" descr="file-search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680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제공 HI-01 보충 매뉴얼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준비된 추출 후보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397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397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schema" descr="schema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668028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절차 · 조건 · 근거를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원문 위치와 대조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2397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2397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database" descr="databas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668028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승인한 지식만 추가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추출 재사용과 사람의 적재 구분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2397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2397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5144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zoom-check" descr="zoom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668028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새 항목의 식별자와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문서 · 판본 · 절 연결 확인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239702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239702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교대 인계안을 작성할 에이전트 만들기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네 영역을 확인하고 불일치를 남긴다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허용된 조회 도구로 인계안을 쓰는 에이전트 · 스킬을 구성하고, 메모와 실제 자료가 다른 곳을 확인 사항으로 남긴다.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7391"/>
            <a:ext cx="2567863" cy="3487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4856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database" descr="databas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0217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71519"/>
            <a:ext cx="2238679" cy="1960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이름 · 설명 작성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스킬에 확인 항목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05552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05552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· 스킬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247391"/>
            <a:ext cx="2567863" cy="3487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44856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plug" descr="plug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602179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271519"/>
            <a:ext cx="2238679" cy="1960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· 정비 · ERP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허용된 조회 도구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30555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30555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247391"/>
            <a:ext cx="2567863" cy="3487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44856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file-check" descr="file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602179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271519"/>
            <a:ext cx="2238679" cy="1960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산출물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네 영역의 인계안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실제 조회 근거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30555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30555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산출물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247391"/>
            <a:ext cx="2567863" cy="3487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44856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hourglass" descr="hourglass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602179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271519"/>
            <a:ext cx="2238679" cy="1960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메모와 열린 작업지시의 차이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입고 예정과 실제 재고의 차이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확인 사항으로 남김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305552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305552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교대 흐름을 연결해 인계 확인하기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초안에서 두 사람의 확인까지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제공 교대 흐름을 정리해 별도 판본으로 등록하고, 같은 처리 건에서 초안 · 검토 · 보완 · 인수 확인을 거친다.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88565"/>
            <a:ext cx="1529029" cy="3005582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7394" y="2671445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pencil" descr="pencil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13" y="2825064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476117"/>
            <a:ext cx="1382725" cy="1944877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흐름 정리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bpmn.io에서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 · 배치 정리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분기는 유지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4167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61717" y="2488565"/>
            <a:ext cx="1529029" cy="3005582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60471" y="2671445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versions" descr="version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4091" y="2825064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34869" y="3476117"/>
            <a:ext cx="1382725" cy="1944877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등록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세 초안 단계에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교대 에이전트 배정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별도 판본 등록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54754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74794" y="2488565"/>
            <a:ext cx="1529029" cy="3005582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73549" y="2671445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robot" descr="robot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7168" y="2825064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447946" y="3476117"/>
            <a:ext cx="1382725" cy="1944877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인계안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· 교대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정보로 초안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87871" y="2488565"/>
            <a:ext cx="1529029" cy="3005582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86626" y="2671445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user-check" descr="user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0245" y="2825064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61023" y="3476117"/>
            <a:ext cx="1382725" cy="1944877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인계자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근거와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불일치 검토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880908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00948" y="2488565"/>
            <a:ext cx="1529029" cy="3005582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99703" y="2671445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아이콘:users" descr="users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3322" y="2825064"/>
            <a:ext cx="424281" cy="42428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74100" y="3476117"/>
            <a:ext cx="1382725" cy="1944877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인수자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보완 요청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재검토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확인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793986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14026" y="2488565"/>
            <a:ext cx="1529029" cy="3005582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12780" y="2671445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아이콘:flag" descr="flag_13294B_1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6399" y="2825064"/>
            <a:ext cx="424281" cy="42428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187178" y="3476117"/>
            <a:ext cx="1382725" cy="1944877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근거와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완료 기록 확인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ProcessGPT 시연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ProcessGPT: BPMN 기반 멀티 에이전트 조율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ProcessGPT는 BPMN으로 여러 수행자의 일을 조율하지만, 말로 생성한 설계가 완료 조건까지 맞추지는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ProcessGPT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제품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BPMN 기반 업무 흐름과 에이전트를 연결하는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uEngine Solutions의 오픈소스 프로젝트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멀티 에이전트 조율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조율의 역할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여러 수행자에게 일을 맡기고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순서와 결과 전달을 조율한다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7045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시연에서 볼 질문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제품이 바뀌어도 남는 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정의와 실행 건은 어디에 있는가?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 뒤에 다음 차례를 누가 여는가?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과정에서 만든 것이 제품에서 나타나는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 건은 인스턴스, 단계는 워크아이템으로 대응하지만, 비슷한 상태 이름도 완료의 뜻은 제품의 정의와 기록이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 과정에서 만든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ProcessGPT에서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그래프와 인제스천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그래프 · 문서 검색 등 지식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판단의 근거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에이전트와 MCP 도구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사용자 목록의 에이전트 행, 조직 단위로 등록한 MCP 서버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작업의 수행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흐름과 판본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 정의와 정의 버전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순서와 책임의 설계도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처리 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 인스턴스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실행되는 한 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워크아이템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한 건 안의 작업 하나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 작업함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사람에게 맡겨진 워크아이템이 모이는 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사람의 차례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엔진, 워크아이템 목록, 수행자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수행자는 자기 워크아이템의 결과만 제출하고, 그 결과를 받아 다음 워크아이템을 여는 것은 실행 엔진이다.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  <p:pic>
        <p:nvPicPr>
          <p:cNvPr id="6" name="삽화:작업목록.svg" descr="illust_1913649580707469446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2014" y="4558649"/>
            <a:ext cx="229099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실행 엔진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process-gpt-completion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8513" y="1698543"/>
            <a:ext cx="283646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워크아이템 목록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8540" y="2620396"/>
            <a:ext cx="196370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진단 · 조치 제안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8540" y="3778620"/>
            <a:ext cx="196370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운전원 승인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IN_PROGRESS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8540" y="4936845"/>
            <a:ext cx="196370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작업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TODO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8718" y="2691307"/>
            <a:ext cx="130913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8718" y="3754983"/>
            <a:ext cx="130913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작업함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59623" y="5007757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수행자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7719" y="2242200"/>
            <a:ext cx="109094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맡긴다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7719" y="3093140"/>
            <a:ext cx="109094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2089" y="3400425"/>
            <a:ext cx="130913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만든다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2089" y="4275002"/>
            <a:ext cx="130913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수업용 구현과 제품 구현의 경계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HYD는 제품의 구조를 참고해 교육용으로 구현했으므로, 제품의 실제 지원 범위와 신원 · 권한의 연결은 따로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222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sitemap" descr="sitemap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7583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HYD가 참고한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정의 · 판본 · 인스턴스의 구별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워크아이템과 결과 제출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엔진이 다음 작업을 여는 구조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04460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04460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교육용 구현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2222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arrows-maximize" descr="arrows-maximiz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758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제품에서 확인할 범위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자연어로 만든 정의의 검토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여러 수행자와 하위 흐름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 검색과 접근 권한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신원 · 실패 · 운영 환경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044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04460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실제 지원 확인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기업 업무에 적용할 때 필요한 통제 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에이전트를 기업 업무에 들이려면 결정과 실행을 지키는 통제가 흐름의 정해진 자리에 놓여야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통제 요소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지키는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HYD 예 · 확인할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 승인(HITL)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효과를 내기 전에 사람이 결정한다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승인 없는 경로는 등록 거절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권한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정해진 역할만 결정한다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역할이 아니면 거부와 기록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감사 추적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누가 무엇을 결정하고 실행했는지 남긴다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 기록 · 감사 기록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실패 뒤 남은 효과를 업무별로 정리한다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보상 · 재작업의 범위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격리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닿는 범위를 막는다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업무 도구 · 접근 범위 제한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변경 통제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바뀐 정의가 진행 중인 건을 흔들지 않는다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판본 고정 · 등록과 배포의 분리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시연에서 보는 것과 가려낼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시연에서는 정의에서 열린 인스턴스가 에이전트 작업과 사람 작업으로 이어지는 흐름과 통제가 놓인 자리를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883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opology-star-3" descr="topology-star-3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3245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영역의 이름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지식, 에이전트, 프로세스가 제품에서 불리는 이름과 구실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75275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75275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7883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route" descr="rout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532456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건의 흐름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정의에서 열린 인스턴스가 에이전트 작업과 사람 작업으로 이어지는 모습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375275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375275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7883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arrows-maximize" descr="arrows-maximiz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532456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넓어진 범위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말로 만드는 정의, 여러 에이전트처럼 배운 구조 위에 더해진 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375275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375275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제품의 범위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7883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shield-check" descr="shield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532456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통제가 놓이는 자리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승인과 권한, 감사 추적이 흐름의 어디에 놓이는가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375275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375275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통제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학습 내용과 결과물의 지식 자산화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 노트에 잇는 것과 남는 지식 자산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개념, 자료, 산출물, 검증 결과를 이어 적은 학습 노트는 과정이 끝난 뒤에도 다시 찾아 쓰는 자산이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30868"/>
            <a:ext cx="2567863" cy="27209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83203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bulb" descr="bulb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98565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654996"/>
            <a:ext cx="2238679" cy="119392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개념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자신의 문장으로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다시 쓴 개념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922075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22075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630868"/>
            <a:ext cx="2567863" cy="27209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83203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link" descr="lin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985655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654996"/>
            <a:ext cx="2238679" cy="119392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참고 자료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개념이 나온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자료와 문서의 연결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4922075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4922075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630868"/>
            <a:ext cx="2567863" cy="27209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83203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file-check" descr="file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985655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654996"/>
            <a:ext cx="2238679" cy="119392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 산출물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인계안과 에이전트,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흐름 · 처리 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4922075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4922075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630868"/>
            <a:ext cx="2567863" cy="27209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83203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checklist" descr="checklist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985655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654996"/>
            <a:ext cx="2238679" cy="119392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검증 결과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만든 것이 정한 대로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동작했는지의 기록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4922075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4922075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복습: 쿨러 사건의 순간을 맡은 영역으로 가르기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한 순간이 어느 영역의 일인지 가리고 그 근거를 대면, 지식 · 에이전트 · 프로세스의 경계가 분명해진다.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쿨러 사건의 한 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맡은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판단의 근거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핀 오염 기준 등록(냉각 효율 70 % 미만)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정적 지식이고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검토와 개정으로 관리한다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46.2 %를 읽어 기준에 대었다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도구로 읽은 현재 값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판단은 에이전트의 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세척은 설비보전팀장이 승인한다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역할은 조치에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적힌 지식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 승인 뒤에 냉각 명령이 열렸다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단계 사이의 순서는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엔진이 지킨다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51.5 ℃를 다시 읽고 작업지시를 등록했다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뒤의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서비스 작업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이번 회차에서 다시 쓰고 새로 세운 일곱 용어의 정식 명칭과 뜻을 한곳에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8"/>
            <a:ext cx="835121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Skill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업무를 수행하는 순서와 요령을 적은 재사용 지침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79845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47841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647841"/>
            <a:ext cx="835121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Model Context Protocol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외부 시스템의 도구를 같은 방식으로 부르게 하는 연결 규약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7718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65714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출력 계약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265714"/>
            <a:ext cx="835121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Output Contract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결과의 필수 항목·형식·의미와 처리 조건의 약속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15591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83587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HITL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883587"/>
            <a:ext cx="835121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Human-in-the-Loop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과정에 사람의 판단 · 피드백을 포함하는 방식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33464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01460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인스턴스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501460"/>
            <a:ext cx="835121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Process Instance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 정의에 따라 실제로 도는 한 건(처리 건)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51337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119333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워크아이템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119333"/>
            <a:ext cx="835121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Work Item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인스턴스 안에서 수행자에게 맡겨지는 작업 하나(단계)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769210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737206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멀티 에이전트 오케스트레이션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737206"/>
            <a:ext cx="835121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Multi-Agent Orchestration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프로세스 안에서 여러 에이전트의 순서와 호출을 조율하는 일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추천안이 제출된 시점의 처리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핀 오염에 팬 최대 운전을 권하는 추천안을 제출했고, 운전원은 아직 응답하지 않았다.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시점의 처리 건에 대한 설명으로 옳은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추천안이 제출되었으므로 팬 속도는 이미 100 %로 올라갔다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승인 결과를 기다리며 다음 도구를 부르고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에이전트의 일은 끝났고 엔진이 운전원 승인을 열어 기다린다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운전원이 응답하지 않으면 추천대로 자동 실행된다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바뀐 기준을 반영할 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조회 구조와 단위는 그대로인 채 매뉴얼 기준값이 개정됐지만 에이전트는 예전 기준으로 판단한다.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기준이 판단에 쓰이게 하려면 먼저 고칠 곳은?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스킬의 절차에 새 기준값을 문장으로 적어 넣는다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개정된 문서를 검토해 증거 기준을 다시 적재한다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 정의의 게이트웨이 조건을 새 기준값으로 바꾼다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운전원이 승인할 때마다 새 기준값을 확인하게 한다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발주를 직접 내는 도구를 연결하자는 의견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재고 보충을 빨리 끝내려고, 구매 에이전트에게 발주를 직접 등록하는 쓰기 도구를 연결하자는 의견이 나왔다.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수업의 승인 정책에서 가장 알맞은 판단은?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발주는 승인 뒤 프로세스가 등록하고 에이전트는 업무 원천 조회와 제안 제출을 맡는다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스킬에 「승인 뒤에만 발주한다」고 적어 두면 쓰기 도구를 연결해도 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발주한 뒤에 감사 기록이 남으므로 쓰기 도구를 연결해도 문제가 없다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발주 수량을 규칙으로 계산하게 하면 사람의 승인은 필요하지 않다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제출 시점의 몫의 구분, 근거가 놓인 곳, 읽기와 쓰기의 책임 경계를 바르게 가리는지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에이전트는 제출까지 한다. 다음 단계를 여는 것은 엔진이고, 설비 명령은 승인 뒤에만 나간다.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증거 기준은 지식에 있다. 조회 계약이 같다면 검토 · 재적재 후 판단에 반영됐는지 확인한다.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쓰기는 승인 뒤의 프로세스 작업에 둔다. 스킬의 문장과 사후의 기록은 승인을 대신하지 못한다.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