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쿨러 사건을 따라 지식, 에이전트, 프로세스가 무엇을 주고받는지 되짚습니다. 지식은 판단의 재료이고, 에이전트는 근거를 조회해 추천하며, 프로세스는 사람의 승인과 시스템 실행을 다음 차례로 잇습니다. 그 연결을 교대 인수인계에도 적용해 보겠습니다. 다음 교대에 전달할 메모를 실제 설비와 정비·재고 자료에 대조하고, 두 사람이 검토하고 보완하는 흐름을 만듭니다. 마지막에는 제품 시연에서 같은 역할과 구현 차이를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학습목표를 보겠습니다. 첫째, 에이전트가 도구로 읽는 지식과 현재 값을 구별하고 판단의 출처를 확인합니다. 둘째, 제안과 사람의 승인, 시스템 실행, 결과 확인을 구분해 업무가 끝나는 과정을 설명합니다. 셋째, 교대 인수인계에서 제공된 문서와 에이전트, 흐름을 연결하고 실제 검토와 보완을 확인합니다. 마지막으로 제품 시연에서 같은 역할과 구현 차이를 살피고, 실습 결과를 학습 노트에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목차에서 앞의 다섯 단원은 이론입니다. 쿨러 경보가 추천안이 되기까지의 지식과 조회 근거를 보고, 그 뒤 승인과 시스템 실행으로 업무가 끝나는 과정을 살펴봅니다. 이어서 에이전트와 프로세스가 각각 맡는 일을 구분합니다. 실습에서는 교대 인수인계에 제공 문서, 에이전트와 흐름을 연결합니다. 그다음 ProcessGPT 시연에서 같은 구조가 어디에 나타나는지 보고, 결과를 학습 노트에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아래 동그라미가 그 노드입니다. 노드에는 클래스 이름을 적었고, 가운데 진한 노드는 여러 관계가 모이는 고장 유형이에요.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다른 두 후보가 등록된 기준을 충족하지 못한 이유까지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교대 인수인계에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결과 보고는 진행한 경로와 그때까지의 업무 결과를 알리는 일입니다. 보고 뒤에 끝 이벤트로 이어지는지도 확인합니다.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위쪽 두 칸은 프로세스 변수고, 아래쪽 화살표는 처리 기록이 남는 순서예요. 첫 줄은 승인이라는 결정과 고른 조치입니다. 쿨러 사건에서는 추천안 그대로 팬 최대 운전을 골랐어요. 이 그림은 그 선택을 같은 흐름의 변수와 기록 항목에 대응시킨 예입니다. 운전원 승인 단계가 채우는 값이죠. 위쪽 오른편의 강조한 칸이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아래쪽은 처리 기록이 남는 순서입니다. 왼쪽은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오른쪽은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이 표는 서로 다른 실행 기록에서 승인 여부에 따른 경로를 비교한 것입니다. 추천안의 모든 내용과 입력이 같았다는 뜻은 아니에요. 사람의 결정에 따라 실행을 허용하거나 보류하는 구조를 보세요.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 속도를 바꾸는 명령이 나가지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서로 다른 사건 식별자를 가진 쿨러 성능 저하 경보 세 건이 시작 조건을 충족하면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보류 지침처럼 모델 판단에 기대는 부분과 도구 권한처럼 기계적으로 제한하는 부분을 구별해야 합니다. 프로세스의 승인 검사는 실행 전에 권한과 조건을 확인하고, 지연 타이머는 응답이 늦어진 상태를 알립니다. 각 장치가 작동하는 시점과 막는 위험이 다른 거죠.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사건에서 지식이 판단의 근거가 되고, 사람의 승인을 거쳐 시스템이 실행하는 흐름을 살펴봤습니다. 이제 교대 인수인계를 통해 같은 연결을 적용합니다. 한 근무자가 전달받은 작업 메모를 다음 근무자에게 넘기는 장면입니다. 메모에 정비가 끝났다고 쓰여 있어도 열린 작업지시가 남아 있다면 둘을 따로 확인해야 합니다. 먼저 대상 설비와 교대, 기준 시각, 작업 메모를 정리합니다. 제공 점검 문서와 설비 이력, 정비·재고 자료가 확인할 출처입니다. 에이전트가 근거를 읽어 인계안 초안을 만들고, 인계자와 인수자가 차례로 검토합니다. 끝난 인계 기록에는 확인된 근거뿐 아니라 미확인 항목과 다음 사람이 할 확인도 남아야 합니다. 인수 확인은 정비 완료나 설비 조치가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다음으로 인계에 사용할 보충 점검 문서를 기존 지식에 연결합니다. 강사가 제공한 HI-01 문서에는 설비 상태, 열린 작업지시, 부품 상태, 작업 메모를 대조하는 절차가 있습니다. 추출 결과의 각 절차가 원문의 어느 부분에서 왔는지 사람이 먼저 확인합니다. 같은 제공 문서와 추출 조건에서는 준비된 검토본을 재사용하지만, 사람이 확인하고 적재하는 단계는 남아 있습니다. 원문과 맞지 않거나 부족한 항목을 발견하면 그대로 적재하지 말고 확인해야 합니다. 기존 쿨러·정비·구매 지식은 그대로 두고 보충 문서만 추가합니다. 이 실습은 학생의 임의 문서를 무제한으로 추출하는 경로가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교대 인계안을 작성할 에이전트와 스킬을 구성합니다. 입력은 대상 설비와 인계할 교대, 기준 시각, 작업 메모입니다. 에이전트는 허용된 읽기 도구로 설비 상태와 열린 작업지시, 실제 재고와 입고 예정 자료를 조회합니다. 메모에서 정비가 완료됐다고 전했더라도 실제 작업지시가 열려 있다면 그 차이를 불일치로 남겨야 합니다. 입고 예정과 현재 재고도 같은 말이 아닙니다. 조회 결과가 없거나 조회 자체가 실패한 경우에는 확인이 필요한 이유와 다음 확인을 남깁니다. 실제 조회한 도구와 결과가 인계안의 근거가 되어야 합니다. 학생은 에이전트의 이름과 설명을 이해하기 쉽게 작성할 수 있지만 도구 서버나 모델을 임의로 바꾸지는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제공된 교대 흐름을 포털에 연결해 한 처리 건을 진행합니다. bpmn.io에서 시작과 인계안 작성, 인계자 검토, 인수자 확인 또는 보완, 종료의 연결을 확인합니다. 포털에는 시작 입력과 역할, 각 작업에 담당할 에이전트를 연결한 뒤 검사를 통과한 판본을 등록합니다. 시작하면 에이전트가 실제 자료를 조회해 초안을 만들고 인계자가 확인합니다. 다음으로 인수자가 내용을 살펴보고 보완이 필요하면 사유를 적어 같은 처리 건으로 돌려보냅니다. 보완된 초안을 인계자가 다시 검토하고 인수자가 확인하면 인계 기록이 끝납니다. 이 확인은 사람 사이에 내용을 전달했다는 뜻이며, 설비가 조치됐거나 발주와 정비가 완료됐다는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ProcessGPT 시연을 볼 기준을 준비합니다. 앞의 교대 실습에서는 제공 문서와 실제 조회를 인계안에 연결하고, 두 사람의 검토와 보완을 하나의 처리 건으로 이어 봅니다. 이제 제품에서는 지식, 에이전트, 프로세스가 각각 어디에 나타나고 다음 차례가 어떻게 열리는지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학습 내용과 결과를 다시 찾아볼 수 있게 정리합니다. 개념을 자신의 말로 적고, 그 개념이 나온 자료와 이번에 작성한 교대 에이전트·흐름·인계 처리 건을 연결합니다. 확인한 조회 근거와 사람의 검토, 보완 후에도 남은 미확인 항목을 함께 기록합니다. 학습 노트에 적힌 내용과 실제 처리 건의 결과를 구분하면 무엇을 배웠고 무엇을 확인했는지 다시 찾을 수 있습니다. 수업 계정의 연결과 쓰기 권한이 확인된 경우에만 Notion 연동을 시연하고, 그렇지 않으면 준비한 Markdown을 직접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오염을 판단할 기준을 등록해 관리하는 일은 지식의 영역입니다.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결과의 필수 항목과 형식, 의미와 처리 조건에 대한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이 수업의 승인 정책에서 가장 알맞은 판단은 무엇일까요? 1번, 발주는 승인 뒤 프로세스가 등록하고 에이전트는 업무 원천을 조회해 제안을 제출한다.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8.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2.png"/><Relationship Id="rId6"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7.png"/><Relationship Id="rId6" Type="http://schemas.openxmlformats.org/officeDocument/2006/relationships/image" Target="../media/image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온톨로지 · 에이전트 · 프로세스를 교대 인수인계에 적용하기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교대 인수인계와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사건과 교대 인계로 지식·에이전트·프로세스의 연결을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20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55697"/>
            <a:ext cx="424281" cy="424281"/>
          </a:xfrm>
          <a:prstGeom prst="rect">
            <a:avLst/>
          </a:prstGeom>
        </p:spPr>
      </p:pic>
      <p:sp>
        <p:nvSpPr>
          <p:cNvPr id="9" name="TextBox 8"/>
          <p:cNvSpPr txBox="1"/>
          <p:nvPr/>
        </p:nvSpPr>
        <p:spPr>
          <a:xfrm>
            <a:off x="713232"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지식과 판단</a:t>
            </a:r>
          </a:p>
          <a:p>
            <a:pPr algn="l" eaLnBrk="0" marL="194310" indent="-194310">
              <a:lnSpc>
                <a:spcPct val="110000"/>
              </a:lnSpc>
              <a:spcAft>
                <a:spcPts val="400"/>
              </a:spcAft>
            </a:pPr>
            <a:r>
              <a:rPr sz="1700" b="0">
                <a:solidFill>
                  <a:srgbClr val="1F2A3A"/>
                </a:solidFill>
                <a:latin typeface="맑은 고딕"/>
                <a:ea typeface="맑은 고딕"/>
                <a:cs typeface="맑은 고딕"/>
              </a:rPr>
              <a:t>• 도구가 읽는 지식과 값을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203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2078"/>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55697"/>
            <a:ext cx="424281" cy="424281"/>
          </a:xfrm>
          <a:prstGeom prst="rect">
            <a:avLst/>
          </a:prstGeom>
        </p:spPr>
      </p:pic>
      <p:sp>
        <p:nvSpPr>
          <p:cNvPr id="15" name="TextBox 14"/>
          <p:cNvSpPr txBox="1"/>
          <p:nvPr/>
        </p:nvSpPr>
        <p:spPr>
          <a:xfrm>
            <a:off x="3555415"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제안과 업무 완료</a:t>
            </a:r>
          </a:p>
          <a:p>
            <a:pPr algn="l" eaLnBrk="0" marL="194310" indent="-194310">
              <a:lnSpc>
                <a:spcPct val="110000"/>
              </a:lnSpc>
              <a:spcAft>
                <a:spcPts val="400"/>
              </a:spcAft>
            </a:pPr>
            <a:r>
              <a:rPr sz="1700" b="0">
                <a:solidFill>
                  <a:srgbClr val="1F2A3A"/>
                </a:solidFill>
                <a:latin typeface="맑은 고딕"/>
                <a:ea typeface="맑은 고딕"/>
                <a:cs typeface="맑은 고딕"/>
              </a:rPr>
              <a:t>• 승인 · 실행 · 결과 확인을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2034"/>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2078"/>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55697"/>
            <a:ext cx="424281" cy="424281"/>
          </a:xfrm>
          <a:prstGeom prst="rect">
            <a:avLst/>
          </a:prstGeom>
        </p:spPr>
      </p:pic>
      <p:sp>
        <p:nvSpPr>
          <p:cNvPr id="21" name="TextBox 20"/>
          <p:cNvSpPr txBox="1"/>
          <p:nvPr/>
        </p:nvSpPr>
        <p:spPr>
          <a:xfrm>
            <a:off x="6397599"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교대 인수인계</a:t>
            </a:r>
          </a:p>
          <a:p>
            <a:pPr algn="l" eaLnBrk="0" marL="194310" indent="-194310">
              <a:lnSpc>
                <a:spcPct val="110000"/>
              </a:lnSpc>
              <a:spcAft>
                <a:spcPts val="400"/>
              </a:spcAft>
            </a:pPr>
            <a:r>
              <a:rPr sz="1700" b="0">
                <a:solidFill>
                  <a:srgbClr val="1F2A3A"/>
                </a:solidFill>
                <a:latin typeface="맑은 고딕"/>
                <a:ea typeface="맑은 고딕"/>
                <a:cs typeface="맑은 고딕"/>
              </a:rPr>
              <a:t>• 제공 문서 · 에이전트 · 흐름을 연결한다</a:t>
            </a:r>
          </a:p>
          <a:p>
            <a:pPr algn="l" eaLnBrk="0" marL="194310" indent="-194310">
              <a:lnSpc>
                <a:spcPct val="110000"/>
              </a:lnSpc>
              <a:spcAft>
                <a:spcPts val="400"/>
              </a:spcAft>
            </a:pPr>
            <a:r>
              <a:rPr sz="1700" b="0">
                <a:solidFill>
                  <a:srgbClr val="1F2A3A"/>
                </a:solidFill>
                <a:latin typeface="맑은 고딕"/>
                <a:ea typeface="맑은 고딕"/>
                <a:cs typeface="맑은 고딕"/>
              </a:rPr>
              <a:t>• 검토와 보완을 확인한다</a:t>
            </a:r>
          </a:p>
        </p:txBody>
      </p:sp>
      <p:sp>
        <p:nvSpPr>
          <p:cNvPr id="22" name="Rounded Rectangle 21"/>
          <p:cNvSpPr/>
          <p:nvPr/>
        </p:nvSpPr>
        <p:spPr>
          <a:xfrm>
            <a:off x="6461607" y="53520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203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200909"/>
            <a:ext cx="2567863" cy="35808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2078"/>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55697"/>
            <a:ext cx="424281" cy="424281"/>
          </a:xfrm>
          <a:prstGeom prst="rect">
            <a:avLst/>
          </a:prstGeom>
        </p:spPr>
      </p:pic>
      <p:sp>
        <p:nvSpPr>
          <p:cNvPr id="27" name="TextBox 26"/>
          <p:cNvSpPr txBox="1"/>
          <p:nvPr/>
        </p:nvSpPr>
        <p:spPr>
          <a:xfrm>
            <a:off x="9239783"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제품에서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같은 역할과 구현 차이를 가린다</a:t>
            </a:r>
          </a:p>
          <a:p>
            <a:pPr algn="l" eaLnBrk="0" marL="194310" indent="-194310">
              <a:lnSpc>
                <a:spcPct val="110000"/>
              </a:lnSpc>
              <a:spcAft>
                <a:spcPts val="400"/>
              </a:spcAft>
            </a:pPr>
            <a:r>
              <a:rPr sz="170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2034"/>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교대 인수인계: 문서 ·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362663970001902619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5259675158869045562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460370959206957816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4318711"/>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523951" y="4648809"/>
            <a:ext cx="1786737"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AnomalyPattern</a:t>
            </a:r>
          </a:p>
        </p:txBody>
      </p:sp>
      <p:sp>
        <p:nvSpPr>
          <p:cNvPr id="8" name="Oval 7"/>
          <p:cNvSpPr/>
          <p:nvPr/>
        </p:nvSpPr>
        <p:spPr>
          <a:xfrm>
            <a:off x="3730038" y="177713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Symptom</a:t>
            </a:r>
          </a:p>
        </p:txBody>
      </p:sp>
      <p:sp>
        <p:nvSpPr>
          <p:cNvPr id="10" name="Oval 9"/>
          <p:cNvSpPr/>
          <p:nvPr/>
        </p:nvSpPr>
        <p:spPr>
          <a:xfrm>
            <a:off x="6817866" y="4318711"/>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939482" y="4648809"/>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FailureMode</a:t>
            </a:r>
          </a:p>
        </p:txBody>
      </p:sp>
      <p:sp>
        <p:nvSpPr>
          <p:cNvPr id="12" name="Oval 11"/>
          <p:cNvSpPr/>
          <p:nvPr/>
        </p:nvSpPr>
        <p:spPr>
          <a:xfrm>
            <a:off x="9905695" y="177713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Cause</a:t>
            </a:r>
          </a:p>
        </p:txBody>
      </p:sp>
      <p:cxnSp>
        <p:nvCxnSpPr>
          <p:cNvPr id="14" name="Connector 13"/>
          <p:cNvCxnSpPr/>
          <p:nvPr/>
        </p:nvCxnSpPr>
        <p:spPr>
          <a:xfrm flipV="1">
            <a:off x="2131734" y="3233674"/>
            <a:ext cx="1731137" cy="1382981"/>
          </a:xfrm>
          <a:prstGeom prst="line">
            <a:avLst/>
          </a:prstGeom>
          <a:ln w="28575">
            <a:solidFill>
              <a:srgbClr val="13294B"/>
            </a:solidFill>
            <a:tailEnd type="triangle" w="med" len="med"/>
          </a:ln>
        </p:spPr>
      </p:cxnSp>
      <p:sp>
        <p:nvSpPr>
          <p:cNvPr id="15" name="Rounded Rectangle 14"/>
          <p:cNvSpPr/>
          <p:nvPr/>
        </p:nvSpPr>
        <p:spPr>
          <a:xfrm>
            <a:off x="2486167" y="355940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6167" y="355940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304722" y="3226924"/>
            <a:ext cx="1654641" cy="1361926"/>
          </a:xfrm>
          <a:prstGeom prst="line">
            <a:avLst/>
          </a:prstGeom>
          <a:ln w="28575">
            <a:solidFill>
              <a:srgbClr val="13294B"/>
            </a:solidFill>
            <a:tailEnd type="triangle" w="med" len="med"/>
          </a:ln>
        </p:spPr>
      </p:cxnSp>
      <p:sp>
        <p:nvSpPr>
          <p:cNvPr id="18" name="Rounded Rectangle 17"/>
          <p:cNvSpPr/>
          <p:nvPr/>
        </p:nvSpPr>
        <p:spPr>
          <a:xfrm>
            <a:off x="5514057" y="3542127"/>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4057" y="3542127"/>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413730" y="3226924"/>
            <a:ext cx="1654641" cy="1361926"/>
          </a:xfrm>
          <a:prstGeom prst="line">
            <a:avLst/>
          </a:prstGeom>
          <a:ln w="28575">
            <a:solidFill>
              <a:srgbClr val="13294B"/>
            </a:solidFill>
            <a:tailEnd type="triangle" w="med" len="med"/>
          </a:ln>
        </p:spPr>
      </p:cxnSp>
      <p:sp>
        <p:nvSpPr>
          <p:cNvPr id="21" name="Rounded Rectangle 20"/>
          <p:cNvSpPr/>
          <p:nvPr/>
        </p:nvSpPr>
        <p:spPr>
          <a:xfrm>
            <a:off x="8783340" y="354212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3340" y="354212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517454378178096295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진행한 경로와 그때까지의 업무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94360" y="182880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7724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 · chosen_skill</a:t>
            </a:r>
          </a:p>
        </p:txBody>
      </p:sp>
      <p:sp>
        <p:nvSpPr>
          <p:cNvPr id="8" name="TextBox 7"/>
          <p:cNvSpPr txBox="1"/>
          <p:nvPr/>
        </p:nvSpPr>
        <p:spPr>
          <a:xfrm>
            <a:off x="77724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승인이라는 결정과 고른 조치</a:t>
            </a:r>
          </a:p>
          <a:p>
            <a:pPr algn="l" eaLnBrk="0">
              <a:lnSpc>
                <a:spcPct val="110000"/>
              </a:lnSpc>
            </a:pPr>
            <a:r>
              <a:rPr sz="1700" b="0">
                <a:solidFill>
                  <a:srgbClr val="13294B"/>
                </a:solidFill>
                <a:latin typeface="맑은 고딕"/>
                <a:ea typeface="맑은 고딕"/>
                <a:cs typeface="맑은 고딕"/>
              </a:rPr>
              <a:t>선택 예: 승인 · 팬 최대 운전</a:t>
            </a:r>
          </a:p>
        </p:txBody>
      </p:sp>
      <p:sp>
        <p:nvSpPr>
          <p:cNvPr id="9" name="TextBox 8"/>
          <p:cNvSpPr txBox="1"/>
          <p:nvPr/>
        </p:nvSpPr>
        <p:spPr>
          <a:xfrm>
            <a:off x="77724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운전원 승인 단계</a:t>
            </a:r>
          </a:p>
        </p:txBody>
      </p:sp>
      <p:sp>
        <p:nvSpPr>
          <p:cNvPr id="10" name="Rounded Rectangle 9"/>
          <p:cNvSpPr/>
          <p:nvPr/>
        </p:nvSpPr>
        <p:spPr>
          <a:xfrm>
            <a:off x="6263640" y="1828800"/>
            <a:ext cx="5212080" cy="1965960"/>
          </a:xfrm>
          <a:prstGeom prst="roundRect">
            <a:avLst>
              <a:gd name="adj" fmla="val 6000"/>
            </a:avLst>
          </a:prstGeom>
          <a:solidFill>
            <a:srgbClr val="E7F3FD"/>
          </a:solidFill>
          <a:ln w="15875">
            <a:solidFill>
              <a:srgbClr val="D3D9E1"/>
            </a:solidFill>
          </a:ln>
        </p:spPr>
        <p:txBody>
          <a:bodyPr rtlCol="0" anchor="ctr"/>
          <a:lstStyle/>
          <a:p>
            <a:pPr algn="ctr"/>
          </a:p>
        </p:txBody>
      </p:sp>
      <p:sp>
        <p:nvSpPr>
          <p:cNvPr id="11" name="TextBox 10"/>
          <p:cNvSpPr txBox="1"/>
          <p:nvPr/>
        </p:nvSpPr>
        <p:spPr>
          <a:xfrm>
            <a:off x="644652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approved_role</a:t>
            </a:r>
          </a:p>
        </p:txBody>
      </p:sp>
      <p:sp>
        <p:nvSpPr>
          <p:cNvPr id="12" name="TextBox 11"/>
          <p:cNvSpPr txBox="1"/>
          <p:nvPr/>
        </p:nvSpPr>
        <p:spPr>
          <a:xfrm>
            <a:off x="644652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승인한 역할</a:t>
            </a:r>
          </a:p>
          <a:p>
            <a:pPr algn="l" eaLnBrk="0">
              <a:lnSpc>
                <a:spcPct val="110000"/>
              </a:lnSpc>
            </a:pPr>
            <a:r>
              <a:rPr sz="1700" b="0">
                <a:solidFill>
                  <a:srgbClr val="13294B"/>
                </a:solidFill>
                <a:latin typeface="맑은 고딕"/>
                <a:ea typeface="맑은 고딕"/>
                <a:cs typeface="맑은 고딕"/>
              </a:rPr>
              <a:t>역할 예: 운전원</a:t>
            </a:r>
          </a:p>
        </p:txBody>
      </p:sp>
      <p:sp>
        <p:nvSpPr>
          <p:cNvPr id="13" name="TextBox 12"/>
          <p:cNvSpPr txBox="1"/>
          <p:nvPr/>
        </p:nvSpPr>
        <p:spPr>
          <a:xfrm>
            <a:off x="644652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서버 · 에이전트는 못 쓴다</a:t>
            </a:r>
          </a:p>
        </p:txBody>
      </p:sp>
      <p:sp>
        <p:nvSpPr>
          <p:cNvPr id="14" name="Rounded Rectangle 13"/>
          <p:cNvSpPr/>
          <p:nvPr/>
        </p:nvSpPr>
        <p:spPr>
          <a:xfrm>
            <a:off x="59436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7724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APPROVAL_ACCEPTED</a:t>
            </a:r>
          </a:p>
        </p:txBody>
      </p:sp>
      <p:sp>
        <p:nvSpPr>
          <p:cNvPr id="16" name="TextBox 15"/>
          <p:cNvSpPr txBox="1"/>
          <p:nvPr/>
        </p:nvSpPr>
        <p:spPr>
          <a:xfrm>
            <a:off x="77724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접수 기록</a:t>
            </a:r>
          </a:p>
          <a:p>
            <a:pPr algn="l" eaLnBrk="0">
              <a:lnSpc>
                <a:spcPct val="110000"/>
              </a:lnSpc>
            </a:pPr>
            <a:r>
              <a:rPr sz="1700" b="0">
                <a:solidFill>
                  <a:srgbClr val="13294B"/>
                </a:solidFill>
                <a:latin typeface="맑은 고딕"/>
                <a:ea typeface="맑은 고딕"/>
                <a:cs typeface="맑은 고딕"/>
              </a:rPr>
              <a:t>역할과 판단 id</a:t>
            </a:r>
          </a:p>
        </p:txBody>
      </p:sp>
      <p:sp>
        <p:nvSpPr>
          <p:cNvPr id="17" name="TextBox 16"/>
          <p:cNvSpPr txBox="1"/>
          <p:nvPr/>
        </p:nvSpPr>
        <p:spPr>
          <a:xfrm>
            <a:off x="77724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18" name="Rounded Rectangle 17"/>
          <p:cNvSpPr/>
          <p:nvPr/>
        </p:nvSpPr>
        <p:spPr>
          <a:xfrm>
            <a:off x="626364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4652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APPROVAL_DELIVERY</a:t>
            </a:r>
          </a:p>
        </p:txBody>
      </p:sp>
      <p:sp>
        <p:nvSpPr>
          <p:cNvPr id="20" name="TextBox 19"/>
          <p:cNvSpPr txBox="1"/>
          <p:nvPr/>
        </p:nvSpPr>
        <p:spPr>
          <a:xfrm>
            <a:off x="644652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전달 완료 기록</a:t>
            </a:r>
          </a:p>
          <a:p>
            <a:pPr algn="l" eaLnBrk="0">
              <a:lnSpc>
                <a:spcPct val="110000"/>
              </a:lnSpc>
            </a:pPr>
            <a:r>
              <a:rPr sz="1700" b="0">
                <a:solidFill>
                  <a:srgbClr val="13294B"/>
                </a:solidFill>
                <a:latin typeface="맑은 고딕"/>
                <a:ea typeface="맑은 고딕"/>
                <a:cs typeface="맑은 고딕"/>
              </a:rPr>
              <a:t>이 뒤에야 냉각 명령이 열린다</a:t>
            </a:r>
          </a:p>
        </p:txBody>
      </p:sp>
      <p:sp>
        <p:nvSpPr>
          <p:cNvPr id="21" name="TextBox 20"/>
          <p:cNvSpPr txBox="1"/>
          <p:nvPr/>
        </p:nvSpPr>
        <p:spPr>
          <a:xfrm>
            <a:off x="644652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22" name="Right Arrow 21"/>
          <p:cNvSpPr/>
          <p:nvPr/>
        </p:nvSpPr>
        <p:spPr>
          <a:xfrm>
            <a:off x="5879592" y="4983480"/>
            <a:ext cx="320040" cy="201168"/>
          </a:xfrm>
          <a:prstGeom prst="rightArrow">
            <a:avLst/>
          </a:prstGeom>
          <a:solidFill>
            <a:srgbClr val="1A6FC4"/>
          </a:solidFill>
          <a:ln>
            <a:noFill/>
          </a:ln>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8748433149265919179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승인 역할과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결과가 기대와 다르면 에이전트의 판단과 프로세스의 순서·책임 중 어느 쪽을 확인할지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1837816691667695515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302325041450131729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다음 교대를 위한 인계 업무 정하기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인계안에 담을 입력과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대상과 작업 메모를 실제 자료와 대조해 다음 교대가 확인할 일을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입력</a:t>
            </a:r>
          </a:p>
          <a:p>
            <a:pPr algn="l" eaLnBrk="0" marL="177165" indent="-177165">
              <a:lnSpc>
                <a:spcPct val="110000"/>
              </a:lnSpc>
              <a:spcAft>
                <a:spcPts val="400"/>
              </a:spcAft>
            </a:pPr>
            <a:r>
              <a:rPr sz="1550" b="0">
                <a:solidFill>
                  <a:srgbClr val="1F2A3A"/>
                </a:solidFill>
                <a:latin typeface="맑은 고딕"/>
                <a:ea typeface="맑은 고딕"/>
                <a:cs typeface="맑은 고딕"/>
              </a:rPr>
              <a:t>• 설비 · 교대 · 기준 시각</a:t>
            </a:r>
          </a:p>
          <a:p>
            <a:pPr algn="l" eaLnBrk="0" marL="177165" indent="-177165">
              <a:lnSpc>
                <a:spcPct val="110000"/>
              </a:lnSpc>
              <a:spcAft>
                <a:spcPts val="400"/>
              </a:spcAft>
            </a:pPr>
            <a:r>
              <a:rPr sz="1550" b="0">
                <a:solidFill>
                  <a:srgbClr val="1F2A3A"/>
                </a:solidFill>
                <a:latin typeface="맑은 고딕"/>
                <a:ea typeface="맑은 고딕"/>
                <a:cs typeface="맑은 고딕"/>
              </a:rPr>
              <a:t>• 전달받은 작업 메모</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정보원</a:t>
            </a:r>
          </a:p>
          <a:p>
            <a:pPr algn="l" eaLnBrk="0" marL="177165" indent="-177165">
              <a:lnSpc>
                <a:spcPct val="110000"/>
              </a:lnSpc>
              <a:spcAft>
                <a:spcPts val="400"/>
              </a:spcAft>
            </a:pPr>
            <a:r>
              <a:rPr sz="1550" b="0">
                <a:solidFill>
                  <a:srgbClr val="1F2A3A"/>
                </a:solidFill>
                <a:latin typeface="맑은 고딕"/>
                <a:ea typeface="맑은 고딕"/>
                <a:cs typeface="맑은 고딕"/>
              </a:rPr>
              <a:t>• 점검 문서와 설비 이력</a:t>
            </a:r>
          </a:p>
          <a:p>
            <a:pPr algn="l" eaLnBrk="0" marL="177165" indent="-177165">
              <a:lnSpc>
                <a:spcPct val="110000"/>
              </a:lnSpc>
              <a:spcAft>
                <a:spcPts val="400"/>
              </a:spcAft>
            </a:pPr>
            <a:r>
              <a:rPr sz="1550" b="0">
                <a:solidFill>
                  <a:srgbClr val="1F2A3A"/>
                </a:solidFill>
                <a:latin typeface="맑은 고딕"/>
                <a:ea typeface="맑은 고딕"/>
                <a:cs typeface="맑은 고딕"/>
              </a:rPr>
              <a:t>• 정비 · 재고 자료</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정보원</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 확인</a:t>
            </a:r>
          </a:p>
          <a:p>
            <a:pPr algn="l" eaLnBrk="0" marL="177165" indent="-177165">
              <a:lnSpc>
                <a:spcPct val="110000"/>
              </a:lnSpc>
              <a:spcAft>
                <a:spcPts val="400"/>
              </a:spcAft>
            </a:pPr>
            <a:r>
              <a:rPr sz="1550" b="0">
                <a:solidFill>
                  <a:srgbClr val="1F2A3A"/>
                </a:solidFill>
                <a:latin typeface="맑은 고딕"/>
                <a:ea typeface="맑은 고딕"/>
                <a:cs typeface="맑은 고딕"/>
              </a:rPr>
              <a:t>• 인계자가 검토</a:t>
            </a:r>
          </a:p>
          <a:p>
            <a:pPr algn="l" eaLnBrk="0" marL="177165" indent="-177165">
              <a:lnSpc>
                <a:spcPct val="110000"/>
              </a:lnSpc>
              <a:spcAft>
                <a:spcPts val="400"/>
              </a:spcAft>
            </a:pPr>
            <a:r>
              <a:rPr sz="1550" b="0">
                <a:solidFill>
                  <a:srgbClr val="1F2A3A"/>
                </a:solidFill>
                <a:latin typeface="맑은 고딕"/>
                <a:ea typeface="맑은 고딕"/>
                <a:cs typeface="맑은 고딕"/>
              </a:rPr>
              <a:t>• 인수자가 확인</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완료 조건</a:t>
            </a:r>
          </a:p>
          <a:p>
            <a:pPr algn="l" eaLnBrk="0" marL="177165" indent="-177165">
              <a:lnSpc>
                <a:spcPct val="110000"/>
              </a:lnSpc>
              <a:spcAft>
                <a:spcPts val="400"/>
              </a:spcAft>
            </a:pPr>
            <a:r>
              <a:rPr sz="1550" b="0">
                <a:solidFill>
                  <a:srgbClr val="1F2A3A"/>
                </a:solidFill>
                <a:latin typeface="맑은 고딕"/>
                <a:ea typeface="맑은 고딕"/>
                <a:cs typeface="맑은 고딕"/>
              </a:rPr>
              <a:t>• 근거와 미확인 항목</a:t>
            </a:r>
          </a:p>
          <a:p>
            <a:pPr algn="l" eaLnBrk="0" marL="177165" indent="-177165">
              <a:lnSpc>
                <a:spcPct val="110000"/>
              </a:lnSpc>
              <a:spcAft>
                <a:spcPts val="400"/>
              </a:spcAft>
            </a:pPr>
            <a:r>
              <a:rPr sz="1550" b="0">
                <a:solidFill>
                  <a:srgbClr val="1F2A3A"/>
                </a:solidFill>
                <a:latin typeface="맑은 고딕"/>
                <a:ea typeface="맑은 고딕"/>
                <a:cs typeface="맑은 고딕"/>
              </a:rPr>
              <a:t>• 다음 확인할 일 기록</a:t>
            </a:r>
          </a:p>
        </p:txBody>
      </p:sp>
      <p:sp>
        <p:nvSpPr>
          <p:cNvPr id="28" name="Rounded Rectangle 27"/>
          <p:cNvSpPr/>
          <p:nvPr/>
        </p:nvSpPr>
        <p:spPr>
          <a:xfrm>
            <a:off x="9303791" y="504215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제공 점검 문서를 지식으로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절차를 원문과 대조해 추가한다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제공된 보충 문서에서 추출한 절차와 출처를 검토한 뒤 기존 지식에 추가한다.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제공된 HI-01</a:t>
            </a:r>
          </a:p>
          <a:p>
            <a:pPr algn="l" eaLnBrk="0" marL="182880" indent="-182880">
              <a:lnSpc>
                <a:spcPct val="110000"/>
              </a:lnSpc>
              <a:spcAft>
                <a:spcPts val="400"/>
              </a:spcAft>
            </a:pPr>
            <a:r>
              <a:rPr sz="1600" b="0">
                <a:solidFill>
                  <a:srgbClr val="1F2A3A"/>
                </a:solidFill>
                <a:latin typeface="맑은 고딕"/>
                <a:ea typeface="맑은 고딕"/>
                <a:cs typeface="맑은 고딕"/>
              </a:rPr>
              <a:t>• 점검 보충 문서</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설비 · 작업지시 · 부품</a:t>
            </a:r>
          </a:p>
          <a:p>
            <a:pPr algn="l" eaLnBrk="0" marL="182880" indent="-182880">
              <a:lnSpc>
                <a:spcPct val="110000"/>
              </a:lnSpc>
              <a:spcAft>
                <a:spcPts val="400"/>
              </a:spcAft>
            </a:pPr>
            <a:r>
              <a:rPr sz="1600" b="0">
                <a:solidFill>
                  <a:srgbClr val="1F2A3A"/>
                </a:solidFill>
                <a:latin typeface="맑은 고딕"/>
                <a:ea typeface="맑은 고딕"/>
                <a:cs typeface="맑은 고딕"/>
              </a:rPr>
              <a:t>• 작업 메모 확인 절차</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검토</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내용과</a:t>
            </a:r>
          </a:p>
          <a:p>
            <a:pPr algn="l" eaLnBrk="0" marL="182880" indent="-182880">
              <a:lnSpc>
                <a:spcPct val="110000"/>
              </a:lnSpc>
              <a:spcAft>
                <a:spcPts val="400"/>
              </a:spcAft>
            </a:pPr>
            <a:r>
              <a:rPr sz="1600" b="0">
                <a:solidFill>
                  <a:srgbClr val="1F2A3A"/>
                </a:solidFill>
                <a:latin typeface="맑은 고딕"/>
                <a:ea typeface="맑은 고딕"/>
                <a:cs typeface="맑은 고딕"/>
              </a:rPr>
              <a:t>• 원문 위치를 대조</a:t>
            </a:r>
          </a:p>
        </p:txBody>
      </p:sp>
      <p:sp>
        <p:nvSpPr>
          <p:cNvPr id="22" name="Rounded Rectangle 21"/>
          <p:cNvSpPr/>
          <p:nvPr/>
        </p:nvSpPr>
        <p:spPr>
          <a:xfrm>
            <a:off x="6461607" y="51816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검토한 절차를 추가</a:t>
            </a:r>
          </a:p>
          <a:p>
            <a:pPr algn="l" eaLnBrk="0" marL="182880" indent="-182880">
              <a:lnSpc>
                <a:spcPct val="110000"/>
              </a:lnSpc>
              <a:spcAft>
                <a:spcPts val="400"/>
              </a:spcAft>
            </a:pPr>
            <a:r>
              <a:rPr sz="1600" b="0">
                <a:solidFill>
                  <a:srgbClr val="1F2A3A"/>
                </a:solidFill>
                <a:latin typeface="맑은 고딕"/>
                <a:ea typeface="맑은 고딕"/>
                <a:cs typeface="맑은 고딕"/>
              </a:rPr>
              <a:t>• 기존 지식은 유지</a:t>
            </a:r>
          </a:p>
        </p:txBody>
      </p:sp>
      <p:sp>
        <p:nvSpPr>
          <p:cNvPr id="28" name="Rounded Rectangle 27"/>
          <p:cNvSpPr/>
          <p:nvPr/>
        </p:nvSpPr>
        <p:spPr>
          <a:xfrm>
            <a:off x="9303791" y="518160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교대 인계안을 작성할 에이전트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영역을 확인하고 불일치를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조회 결과와 작업 메모를 대조해 확인된 것과 확인할 일을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대상 · 교대 · 기준 시각</a:t>
            </a:r>
          </a:p>
          <a:p>
            <a:pPr algn="l" eaLnBrk="0" marL="200025" indent="-200025">
              <a:lnSpc>
                <a:spcPct val="110000"/>
              </a:lnSpc>
              <a:spcAft>
                <a:spcPts val="400"/>
              </a:spcAft>
            </a:pPr>
            <a:r>
              <a:rPr sz="1750" b="0">
                <a:solidFill>
                  <a:srgbClr val="1F2A3A"/>
                </a:solidFill>
                <a:latin typeface="맑은 고딕"/>
                <a:ea typeface="맑은 고딕"/>
                <a:cs typeface="맑은 고딕"/>
              </a:rPr>
              <a:t>• 전달받은 작업 메모</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조회</a:t>
            </a:r>
          </a:p>
          <a:p>
            <a:pPr algn="l" eaLnBrk="0" marL="200025" indent="-200025">
              <a:lnSpc>
                <a:spcPct val="110000"/>
              </a:lnSpc>
              <a:spcAft>
                <a:spcPts val="400"/>
              </a:spcAft>
            </a:pPr>
            <a:r>
              <a:rPr sz="1750" b="0">
                <a:solidFill>
                  <a:srgbClr val="1F2A3A"/>
                </a:solidFill>
                <a:latin typeface="맑은 고딕"/>
                <a:ea typeface="맑은 고딕"/>
                <a:cs typeface="맑은 고딕"/>
              </a:rPr>
              <a:t>• 설비와 작업지시</a:t>
            </a:r>
          </a:p>
          <a:p>
            <a:pPr algn="l" eaLnBrk="0" marL="200025" indent="-200025">
              <a:lnSpc>
                <a:spcPct val="110000"/>
              </a:lnSpc>
              <a:spcAft>
                <a:spcPts val="400"/>
              </a:spcAft>
            </a:pPr>
            <a:r>
              <a:rPr sz="1750" b="0">
                <a:solidFill>
                  <a:srgbClr val="1F2A3A"/>
                </a:solidFill>
                <a:latin typeface="맑은 고딕"/>
                <a:ea typeface="맑은 고딕"/>
                <a:cs typeface="맑은 고딕"/>
              </a:rPr>
              <a:t>• 재고와 입고 예정</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네 영역의 인계안</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조회 근거</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불일치 · 누락 · 조회 시점</a:t>
            </a:r>
          </a:p>
          <a:p>
            <a:pPr algn="l" eaLnBrk="0" marL="200025" indent="-200025">
              <a:lnSpc>
                <a:spcPct val="110000"/>
              </a:lnSpc>
              <a:spcAft>
                <a:spcPts val="400"/>
              </a:spcAft>
            </a:pPr>
            <a:r>
              <a:rPr sz="1750" b="0">
                <a:solidFill>
                  <a:srgbClr val="1F2A3A"/>
                </a:solidFill>
                <a:latin typeface="맑은 고딕"/>
                <a:ea typeface="맑은 고딕"/>
                <a:cs typeface="맑은 고딕"/>
              </a:rPr>
              <a:t>• 다음 확인을 기록</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교대 흐름을 연결해 인계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초안에서 두 사람의 확인까지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흐름을 연결해 같은 처리 건에서 검토·보완하고 인수를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70619"/>
            <a:ext cx="1911644" cy="264147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5349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3007118"/>
            <a:ext cx="424281" cy="424281"/>
          </a:xfrm>
          <a:prstGeom prst="rect">
            <a:avLst/>
          </a:prstGeom>
        </p:spPr>
      </p:pic>
      <p:sp>
        <p:nvSpPr>
          <p:cNvPr id="9" name="TextBox 8"/>
          <p:cNvSpPr txBox="1"/>
          <p:nvPr/>
        </p:nvSpPr>
        <p:spPr>
          <a:xfrm>
            <a:off x="621792"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설비 · 교대</a:t>
            </a:r>
          </a:p>
          <a:p>
            <a:pPr algn="ctr" eaLnBrk="0">
              <a:lnSpc>
                <a:spcPct val="110000"/>
              </a:lnSpc>
              <a:spcAft>
                <a:spcPts val="400"/>
              </a:spcAft>
            </a:pPr>
            <a:r>
              <a:rPr sz="1550" b="0">
                <a:solidFill>
                  <a:srgbClr val="1F2A3A"/>
                </a:solidFill>
                <a:latin typeface="맑은 고딕"/>
                <a:ea typeface="맑은 고딕"/>
                <a:cs typeface="맑은 고딕"/>
              </a:rPr>
              <a:t>시각 · 메모</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70619"/>
            <a:ext cx="1911644" cy="264147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53499"/>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3007118"/>
            <a:ext cx="424281" cy="424281"/>
          </a:xfrm>
          <a:prstGeom prst="rect">
            <a:avLst/>
          </a:prstGeom>
        </p:spPr>
      </p:pic>
      <p:sp>
        <p:nvSpPr>
          <p:cNvPr id="14" name="TextBox 13"/>
          <p:cNvSpPr txBox="1"/>
          <p:nvPr/>
        </p:nvSpPr>
        <p:spPr>
          <a:xfrm>
            <a:off x="2917484"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인계안</a:t>
            </a:r>
          </a:p>
          <a:p>
            <a:pPr algn="ctr" eaLnBrk="0">
              <a:lnSpc>
                <a:spcPct val="110000"/>
              </a:lnSpc>
              <a:spcAft>
                <a:spcPts val="400"/>
              </a:spcAft>
            </a:pPr>
            <a:r>
              <a:rPr sz="1550" b="0">
                <a:solidFill>
                  <a:srgbClr val="1F2A3A"/>
                </a:solidFill>
                <a:latin typeface="맑은 고딕"/>
                <a:ea typeface="맑은 고딕"/>
                <a:cs typeface="맑은 고딕"/>
              </a:rPr>
              <a:t>에이전트가</a:t>
            </a:r>
          </a:p>
          <a:p>
            <a:pPr algn="ctr" eaLnBrk="0">
              <a:lnSpc>
                <a:spcPct val="110000"/>
              </a:lnSpc>
              <a:spcAft>
                <a:spcPts val="400"/>
              </a:spcAft>
            </a:pPr>
            <a:r>
              <a:rPr sz="1550" b="0">
                <a:solidFill>
                  <a:srgbClr val="1F2A3A"/>
                </a:solidFill>
                <a:latin typeface="맑은 고딕"/>
                <a:ea typeface="맑은 고딕"/>
                <a:cs typeface="맑은 고딕"/>
              </a:rPr>
              <a:t>근거를 조회</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70619"/>
            <a:ext cx="1911644" cy="264147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53499"/>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3007118"/>
            <a:ext cx="424281" cy="424281"/>
          </a:xfrm>
          <a:prstGeom prst="rect">
            <a:avLst/>
          </a:prstGeom>
        </p:spPr>
      </p:pic>
      <p:sp>
        <p:nvSpPr>
          <p:cNvPr id="19" name="TextBox 18"/>
          <p:cNvSpPr txBox="1"/>
          <p:nvPr/>
        </p:nvSpPr>
        <p:spPr>
          <a:xfrm>
            <a:off x="5213177"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인계자</a:t>
            </a:r>
          </a:p>
          <a:p>
            <a:pPr algn="ctr" eaLnBrk="0">
              <a:lnSpc>
                <a:spcPct val="110000"/>
              </a:lnSpc>
              <a:spcAft>
                <a:spcPts val="400"/>
              </a:spcAft>
            </a:pPr>
            <a:r>
              <a:rPr sz="1550" b="0">
                <a:solidFill>
                  <a:srgbClr val="1F2A3A"/>
                </a:solidFill>
                <a:latin typeface="맑은 고딕"/>
                <a:ea typeface="맑은 고딕"/>
                <a:cs typeface="맑은 고딕"/>
              </a:rPr>
              <a:t>초안과</a:t>
            </a:r>
          </a:p>
          <a:p>
            <a:pPr algn="ctr" eaLnBrk="0">
              <a:lnSpc>
                <a:spcPct val="110000"/>
              </a:lnSpc>
              <a:spcAft>
                <a:spcPts val="400"/>
              </a:spcAft>
            </a:pPr>
            <a:r>
              <a:rPr sz="1550" b="0">
                <a:solidFill>
                  <a:srgbClr val="1F2A3A"/>
                </a:solidFill>
                <a:latin typeface="맑은 고딕"/>
                <a:ea typeface="맑은 고딕"/>
                <a:cs typeface="맑은 고딕"/>
              </a:rPr>
              <a:t>불일치 검토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70619"/>
            <a:ext cx="1911644" cy="264147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53499"/>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3007118"/>
            <a:ext cx="424281" cy="424281"/>
          </a:xfrm>
          <a:prstGeom prst="rect">
            <a:avLst/>
          </a:prstGeom>
        </p:spPr>
      </p:pic>
      <p:sp>
        <p:nvSpPr>
          <p:cNvPr id="24" name="TextBox 23"/>
          <p:cNvSpPr txBox="1"/>
          <p:nvPr/>
        </p:nvSpPr>
        <p:spPr>
          <a:xfrm>
            <a:off x="7508869"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인수자</a:t>
            </a:r>
          </a:p>
          <a:p>
            <a:pPr algn="ctr" eaLnBrk="0">
              <a:lnSpc>
                <a:spcPct val="110000"/>
              </a:lnSpc>
              <a:spcAft>
                <a:spcPts val="400"/>
              </a:spcAft>
            </a:pPr>
            <a:r>
              <a:rPr sz="1550" b="0">
                <a:solidFill>
                  <a:srgbClr val="1F2A3A"/>
                </a:solidFill>
                <a:latin typeface="맑은 고딕"/>
                <a:ea typeface="맑은 고딕"/>
                <a:cs typeface="맑은 고딕"/>
              </a:rPr>
              <a:t>확인 또는</a:t>
            </a:r>
          </a:p>
          <a:p>
            <a:pPr algn="ctr" eaLnBrk="0">
              <a:lnSpc>
                <a:spcPct val="110000"/>
              </a:lnSpc>
              <a:spcAft>
                <a:spcPts val="400"/>
              </a:spcAft>
            </a:pPr>
            <a:r>
              <a:rPr sz="1550" b="0">
                <a:solidFill>
                  <a:srgbClr val="1F2A3A"/>
                </a:solidFill>
                <a:latin typeface="맑은 고딕"/>
                <a:ea typeface="맑은 고딕"/>
                <a:cs typeface="맑은 고딕"/>
              </a:rPr>
              <a:t>보완 요청</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70619"/>
            <a:ext cx="1911644" cy="264147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53499"/>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3007118"/>
            <a:ext cx="424281" cy="424281"/>
          </a:xfrm>
          <a:prstGeom prst="rect">
            <a:avLst/>
          </a:prstGeom>
        </p:spPr>
      </p:pic>
      <p:sp>
        <p:nvSpPr>
          <p:cNvPr id="29" name="TextBox 28"/>
          <p:cNvSpPr txBox="1"/>
          <p:nvPr/>
        </p:nvSpPr>
        <p:spPr>
          <a:xfrm>
            <a:off x="9804562"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인계 확인과</a:t>
            </a:r>
          </a:p>
          <a:p>
            <a:pPr algn="ctr" eaLnBrk="0">
              <a:lnSpc>
                <a:spcPct val="110000"/>
              </a:lnSpc>
              <a:spcAft>
                <a:spcPts val="400"/>
              </a:spcAft>
            </a:pPr>
            <a:r>
              <a:rPr sz="1550" b="0">
                <a:solidFill>
                  <a:srgbClr val="1F2A3A"/>
                </a:solidFill>
                <a:latin typeface="맑은 고딕"/>
                <a:ea typeface="맑은 고딕"/>
                <a:cs typeface="맑은 고딕"/>
              </a:rPr>
              <a:t>남은 일 기록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ProcessGPT: BPMN 기반 멀티 에이전트 조율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조율</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4144048635385471968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30868"/>
            <a:ext cx="2567863" cy="272097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32036"/>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985655"/>
            <a:ext cx="424281" cy="424281"/>
          </a:xfrm>
          <a:prstGeom prst="rect">
            <a:avLst/>
          </a:prstGeom>
        </p:spPr>
      </p:pic>
      <p:sp>
        <p:nvSpPr>
          <p:cNvPr id="9" name="TextBox 8"/>
          <p:cNvSpPr txBox="1"/>
          <p:nvPr/>
        </p:nvSpPr>
        <p:spPr>
          <a:xfrm>
            <a:off x="713232"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49220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630868"/>
            <a:ext cx="2567863" cy="272097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32036"/>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985655"/>
            <a:ext cx="424281" cy="424281"/>
          </a:xfrm>
          <a:prstGeom prst="rect">
            <a:avLst/>
          </a:prstGeom>
        </p:spPr>
      </p:pic>
      <p:sp>
        <p:nvSpPr>
          <p:cNvPr id="15" name="TextBox 14"/>
          <p:cNvSpPr txBox="1"/>
          <p:nvPr/>
        </p:nvSpPr>
        <p:spPr>
          <a:xfrm>
            <a:off x="3555415"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49220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630868"/>
            <a:ext cx="2567863" cy="272097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32036"/>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985655"/>
            <a:ext cx="424281" cy="424281"/>
          </a:xfrm>
          <a:prstGeom prst="rect">
            <a:avLst/>
          </a:prstGeom>
        </p:spPr>
      </p:pic>
      <p:sp>
        <p:nvSpPr>
          <p:cNvPr id="21" name="TextBox 20"/>
          <p:cNvSpPr txBox="1"/>
          <p:nvPr/>
        </p:nvSpPr>
        <p:spPr>
          <a:xfrm>
            <a:off x="6397599"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인계안과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 처리 건</a:t>
            </a:r>
          </a:p>
        </p:txBody>
      </p:sp>
      <p:sp>
        <p:nvSpPr>
          <p:cNvPr id="22" name="Rounded Rectangle 21"/>
          <p:cNvSpPr/>
          <p:nvPr/>
        </p:nvSpPr>
        <p:spPr>
          <a:xfrm>
            <a:off x="6461607" y="49220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630868"/>
            <a:ext cx="2567863" cy="272097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32036"/>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985655"/>
            <a:ext cx="424281" cy="424281"/>
          </a:xfrm>
          <a:prstGeom prst="rect">
            <a:avLst/>
          </a:prstGeom>
        </p:spPr>
      </p:pic>
      <p:sp>
        <p:nvSpPr>
          <p:cNvPr id="27" name="TextBox 26"/>
          <p:cNvSpPr txBox="1"/>
          <p:nvPr/>
        </p:nvSpPr>
        <p:spPr>
          <a:xfrm>
            <a:off x="9239783"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49220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 기준 등록(냉각 효율 70 % 미만)</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결과의 필수 항목·형식·의미와 처리 조건의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오염에 팬 최대 운전을 권하는 추천안을 제출했고,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수업의 승인 정책에서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승인 뒤 프로세스가 등록하고 에이전트는 업무 원천 조회와 제안 제출을 맡는다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