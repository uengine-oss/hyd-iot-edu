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제목 → 부제 → 아이콘 셋(질문 · 명세 · 검증)</a:t>
            </a:r>
          </a:p>
          <a:p>
            <a:r>
              <a:t>· 앞서 만든 점검 요청 초안에 두 일이 생긴다: 필수 정보가 빠진 요청, 「긴급한 건 표시해 달라」는 변경</a:t>
            </a:r>
          </a:p>
          <a:p>
            <a:r>
              <a:t>· 오늘의 흐름: 이론 → 질문 · 답변 · 재개 → 변경 명세와 기존 기능 보존 → 정상 · 누락 · 회귀 시나리오 검증</a:t>
            </a:r>
          </a:p>
          <a:p>
            <a:r>
              <a:t>· 이론은 온라인 교재의 장에서 오늘 실습에 쓰는 것만</a:t>
            </a:r>
          </a:p>
          <a:p>
            <a:r>
              <a:t>[다음] 학습목표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넷 왼쪽부터 → 넷째 카드 강조</a:t>
            </a:r>
          </a:p>
          <a:p>
            <a:r>
              <a:t>· 1 질문과 승인: 도구로 알 수 있는 것은 먼저 읽고 모자란 것만 묻는다. 답은 같은 요청 번호에, 승인 권한은 바뀌지 않는다</a:t>
            </a:r>
          </a:p>
          <a:p>
            <a:r>
              <a:t>· 2 명세: spec.md의 칸마다 막는 빈자리, 긴급 확인 표시의 교육용 조건, 승인 조건은 그대로</a:t>
            </a:r>
          </a:p>
          <a:p>
            <a:r>
              <a:t>· 3 기대 결과: 구현 출력에서 베끼지 않고 명세와 원자료에서 먼저</a:t>
            </a:r>
          </a:p>
          <a:p>
            <a:r>
              <a:t>· 4 기존 기능 보존: 60.0 ℃ 경계, 누락 · 거절 · 도구 오류, 바꾼 뒤 기존 사례까지</a:t>
            </a:r>
          </a:p>
          <a:p>
            <a:r>
              <a:t>[다음] 목차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 네 줄 위에서 아래로</a:t>
            </a:r>
          </a:p>
          <a:p>
            <a:r>
              <a:t>· 01 바로 확정할 수 없는 요청, 결정자, 승인 · 거절 · 보류, 질문과 재개</a:t>
            </a:r>
          </a:p>
          <a:p>
            <a:r>
              <a:t>· 02 「긴급한 경보는 빨리」의 갈래, spec.md의 칸, 계약, 수용 기준, 긴급 조건, 승인을 건너뛰자는 요구</a:t>
            </a:r>
          </a:p>
          <a:p>
            <a:r>
              <a:t>· 03 시나리오 한 편, 거절에서 일어나지 않아야 할 일, 명세의 칸이 놓이는 자리, 기대 결과 정하는 법</a:t>
            </a:r>
          </a:p>
          <a:p>
            <a:r>
              <a:t>· 04 사례의 종류, 60.0 ℃ 경계, 표현 차이와 계약 위반, 회귀 시험</a:t>
            </a:r>
          </a:p>
          <a:p>
            <a:r>
              <a:t>[다음] 점검 요청을 사람이 확정하는 자리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 번호 → 부제</a:t>
            </a:r>
          </a:p>
          <a:p>
            <a:r>
              <a:t>· 물음: 점검 요청에 부품 수량이 빠졌다면 에이전트는 짐작하나, 묻나, 멈추나</a:t>
            </a:r>
          </a:p>
          <a:p>
            <a:r>
              <a:t>· 실습에서 필수 정보가 빠졌을 때 묻고 답을 받아 다시 판단하는 흐름을 구현한다</a:t>
            </a:r>
          </a:p>
          <a:p>
            <a:r>
              <a:t>[다음] 바로 확정할 수 없는 점검 요청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다섯 줄 위에서 아래로 → 강조한 마지막 줄</a:t>
            </a:r>
          </a:p>
          <a:p>
            <a:r>
              <a:t>· 칸이 다 있음: 점검 결과까지 내고, 조치는 승인 대기</a:t>
            </a:r>
          </a:p>
          <a:p>
            <a:r>
              <a:t>· 칸이 빠짐(「유압 쪽에 경보」): 조회로 못 정하면 묻고 보류</a:t>
            </a:r>
          </a:p>
          <a:p>
            <a:r>
              <a:t>· 칸끼리 어긋남(설비 HYD-01, 사례는 HYD-02 값): 한쪽으로 덮지 않고 묻고 보류</a:t>
            </a:r>
          </a:p>
          <a:p>
            <a:r>
              <a:t>· 값이 묵음: 최신 유온 185초 전 &gt; 신선도 한도 60초 → 원인 고르지 않고 보류 사유</a:t>
            </a:r>
          </a:p>
          <a:p>
            <a:r>
              <a:t>· 조치 실행: 요청이 온전해도 승인 역할의 사람이 결정</a:t>
            </a:r>
          </a:p>
          <a:p>
            <a:r>
              <a:t>· 가름: 위 넷은 정보가 모자라서, 마지막은 결과에 책임을 져야 해서</a:t>
            </a:r>
          </a:p>
          <a:p>
            <a:r>
              <a:t>[다음] HITL(Human-in-the-Loop)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메시지의 HITL → 표 네 줄 → 강조한 셋째 줄</a:t>
            </a:r>
          </a:p>
          <a:p>
            <a:r>
              <a:t>· HITL(Human-in-the-Loop): 자동 처리의 정해진 지점에 사람의 확인 · 결정을 넣는 방식, 지점을 미리 정해 둔다</a:t>
            </a:r>
          </a:p>
          <a:p>
            <a:r>
              <a:t>· 값 조회 · 원인 후보 · 점검 순서: 자동, 읽고 계산할 뿐</a:t>
            </a:r>
          </a:p>
          <a:p>
            <a:r>
              <a:t>· 빠진 업무 정보: 요청한 사람이 답한다</a:t>
            </a:r>
          </a:p>
          <a:p>
            <a:r>
              <a:t>· 설비 명령 · 작업지시: 승인 역할이 승인 · 거절, 되돌리기 어렵고 책임 역할이 정해짐</a:t>
            </a:r>
          </a:p>
          <a:p>
            <a:r>
              <a:t>· 한도 넘겨 멈춘 작업: 담당자가 기록 읽고 사유 적어 닫음</a:t>
            </a:r>
          </a:p>
          <a:p>
            <a:r>
              <a:t>· 개입 세 지점: 승인 · 질문에 답하기 · 멈춘 작업 닫기</a:t>
            </a:r>
          </a:p>
          <a:p>
            <a:r>
              <a:t>[다음] 승인 · 거절 · 보류가 처리 건에 남기는 것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위 두 줄(결정) → 아래 세 줄(보류라 부를 상황)</a:t>
            </a:r>
          </a:p>
          <a:p>
            <a:r>
              <a:t>· 승인: 이때부터 재확인 · 명령 · 재관측 · 작업지시, 끝까지 처리</a:t>
            </a:r>
          </a:p>
          <a:p>
            <a:r>
              <a:t>· 거절: 사유 필수, 설비 명령 · 업무 처리 0건, 기록 값은 「반려」</a:t>
            </a:r>
          </a:p>
          <a:p>
            <a:r>
              <a:t>· HYD에는 사람이 누르는 보류 버튼이 없다</a:t>
            </a:r>
          </a:p>
          <a:p>
            <a:r>
              <a:t>· 무응답: 기한 10분 뒤 지연 알림만, 자동 승인 · 자동 거절 없음, 알림 뒤에도 결정 가능</a:t>
            </a:r>
          </a:p>
          <a:p>
            <a:r>
              <a:t>· 에이전트의 멈춤: 근거 부족, 다시 처리하거나 사람이 닫음</a:t>
            </a:r>
          </a:p>
          <a:p>
            <a:r>
              <a:t>· 에이전트의 질문: 답을 받으면 이어서 처리</a:t>
            </a:r>
          </a:p>
          <a:p>
            <a:r>
              <a:t>· 겉모습은 같아도 누가 왜 멈췄는지가 달라 할 일이 다르다 → 상태와 사유부터</a:t>
            </a:r>
          </a:p>
          <a:p>
            <a:r>
              <a:t>[다음] 질문과 재개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코드 위(요청 A의 진행) → 아래(하지 않는 일) → 오른쪽 짚을 점 넷</a:t>
            </a:r>
          </a:p>
          <a:p>
            <a:r>
              <a:t>· 요청 A: 설비 질문 → 답 HYD-01 → 경보 건이 둘 → 둘째 질문 → 판단 재개</a:t>
            </a:r>
          </a:p>
          <a:p>
            <a:r>
              <a:t>· 먼저 조회: 도구로 정할 수 있는 값은 묻지 않는다, 다 물으면 사람이 에이전트 일을 대신</a:t>
            </a:r>
          </a:p>
          <a:p>
            <a:r>
              <a:t>· 요청 번호: 답은 그 질문을 낸 요청에만, B의 답을 A에 쓰면 다른 경보로 판단</a:t>
            </a:r>
          </a:p>
          <a:p>
            <a:r>
              <a:t>· 재개: 질문 전후 상태가 기록에 남는다</a:t>
            </a:r>
          </a:p>
          <a:p>
            <a:r>
              <a:t>· 답의 한계: 「답변은 실행 권한을 바꾸지 않습니다」, 「급하니 승인한 걸로」는 승인이 아님</a:t>
            </a:r>
          </a:p>
          <a:p>
            <a:r>
              <a:t>[다음] 질문으로 채우는 것과 바꾸지 못하는 것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칸(채우는 것) → 강조한 오른쪽 칸(바꾸지 못하는 것)</a:t>
            </a:r>
          </a:p>
          <a:p>
            <a:r>
              <a:t>· 실제 질문: 「HYD-02와 HYD-03 중 어느 설비인가요」 → 답 HYD-02 → 같은 작업을 이어 조회</a:t>
            </a:r>
          </a:p>
          <a:p>
            <a:r>
              <a:t>· 채우는 것 = 업무 정보: 빠진 칸, 요청자만 아는 사정, 기록에 없는 값, 답은 한 번만</a:t>
            </a:r>
          </a:p>
          <a:p>
            <a:r>
              <a:t>· 못 바꾸는 것: 승인, 도구 권한 · 읽기 범위, 근거 충족, 금지 조건 · 승인 역할</a:t>
            </a:r>
          </a:p>
          <a:p>
            <a:r>
              <a:t>· 놓치기 쉬운 것: 「진행해 달라」는 답이 묵은 값을 유효하게 만들지 않는다</a:t>
            </a:r>
          </a:p>
          <a:p>
            <a:r>
              <a:t>· 묻는지는 모델의 재량 → 다른 도구에서 묻지 않고 끝낸 관찰, 실행으로 확인할 일</a:t>
            </a:r>
          </a:p>
          <a:p>
            <a:r>
              <a:t>[다음] 바뀐 요구를 명세로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 번호 → 부제</a:t>
            </a:r>
          </a:p>
          <a:p>
            <a:r>
              <a:t>· 물음: 「긴급한 경보는 빨리」를 받으면 무엇을 먼저 정하나</a:t>
            </a:r>
          </a:p>
          <a:p>
            <a:r>
              <a:t>· 실습에서 긴급 확인 표시를 spec.md로 명세하고 기존 출력과 질문 · 승인 조건을 지키며 구현한다</a:t>
            </a:r>
          </a:p>
          <a:p>
            <a:r>
              <a:t>[다음] 「긴급한 경보는 빨리」가 열어 두는 갈래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세 열(정하지 않은 것 · 해석 · 흔들릴 약속) → 네 줄 → 강조한 셋째 줄</a:t>
            </a:r>
          </a:p>
          <a:p>
            <a:r>
              <a:t>· 긴급의 기준 없음: 경고선 · 임의 수치 → 사람마다 다른 표시</a:t>
            </a:r>
          </a:p>
          <a:p>
            <a:r>
              <a:t>· 빨라지는 방법 없음: 표시 추가 · 질문 건너뛰기 · 승인 대기 축소 → 뒤 둘은 질문 단계와 승인 조건을 건드림</a:t>
            </a:r>
          </a:p>
          <a:p>
            <a:r>
              <a:t>· 그대로 둘 것 언급 없음: 일반 요청의 결과 항목 · 보류 · 거절</a:t>
            </a:r>
          </a:p>
          <a:p>
            <a:r>
              <a:t>· 값을 모를 때 언급 없음: 「긴급 아님」으로 채우면 짐작하지 않는 약속이 깨짐</a:t>
            </a:r>
          </a:p>
          <a:p>
            <a:r>
              <a:t>· 꼭 실패한다는 뜻이 아니라 지켜졌는지 확인할 기준이 없다는 것</a:t>
            </a:r>
          </a:p>
          <a:p>
            <a:r>
              <a:t>[다음] 새 기능만 실행해 본 확인이 놓치는 것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칸(새 기능만 본 확인) → 강조한 오른쪽 칸(보이지 않은 것)</a:t>
            </a:r>
          </a:p>
          <a:p>
            <a:r>
              <a:t>· 흔한 확인: 60.4 ℃ 쿨러 요청 하나 → urgent true와 이유 → 「잘 된다」</a:t>
            </a:r>
          </a:p>
          <a:p>
            <a:r>
              <a:t>· 틀린 확인은 아님: 그 한 경우의 동작은 보여 줌</a:t>
            </a:r>
          </a:p>
          <a:p>
            <a:r>
              <a:t>· 보이지 않는 넷: 일반 요청 항목 이름 · 뜻, 누락 요청의 질문 · 보류, 거절 뒤 0건, 긴급도 승인 대기</a:t>
            </a:r>
          </a:p>
          <a:p>
            <a:r>
              <a:t>· 고친 곳만 보게 되는 것은 자연스러움 → 지킬 것을 고치기 전에 적고, 고친 뒤 다시 확인</a:t>
            </a:r>
          </a:p>
          <a:p>
            <a:r>
              <a:t>[다음] spec.md의 여섯 칸과 빠질 때 생기는 일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여섯 줄(실습 spec.md 틀 순서) → 셋째 열(빠지면) → 강조한 마지막 줄</a:t>
            </a:r>
          </a:p>
          <a:p>
            <a:r>
              <a:t>· 목표: 긴급 확인 표시 추가, 처리 시간 단축은 아님</a:t>
            </a:r>
          </a:p>
          <a:p>
            <a:r>
              <a:t>· 입력: 요청 번호 · 설비 · 경보 · 사례, 값은 도구로</a:t>
            </a:r>
          </a:p>
          <a:p>
            <a:r>
              <a:t>· 출력 계약: 기존 항목 이름 · 형식 · 뜻 + urgent · 긴급 이유</a:t>
            </a:r>
          </a:p>
          <a:p>
            <a:r>
              <a:t>· 금지 조건: 승인 전 실행 · 값 짐작 · 답변을 승인으로</a:t>
            </a:r>
          </a:p>
          <a:p>
            <a:r>
              <a:t>· 긴급 조건과 유효성: 쿨러 경보 · TS1 120초 평균 · 신선도 · 표본</a:t>
            </a:r>
          </a:p>
          <a:p>
            <a:r>
              <a:t>· 수용 기준: 참 · 거짓 · null과 승인 대기를 가르는 문장</a:t>
            </a:r>
          </a:p>
          <a:p>
            <a:r>
              <a:t>· 한 칸이 빠지면 구현하는 쪽(사람이든 AI든)이 그 해석을 대신 채움</a:t>
            </a:r>
          </a:p>
          <a:p>
            <a:r>
              <a:t>[다음] 계약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코드(입력 계약 → 출력 계약 → 읽는 쪽) → 오른쪽 짚을 점 넷</a:t>
            </a:r>
          </a:p>
          <a:p>
            <a:r>
              <a:t>· 계약: 주고받는 항목의 이름 · 형식 · 뜻의 약속</a:t>
            </a:r>
          </a:p>
          <a:p>
            <a:r>
              <a:t>· 입력 계약: 설비 · 경보 · 사건 번호만, 유온 같은 값은 판단할 때 도구로</a:t>
            </a:r>
          </a:p>
          <a:p>
            <a:r>
              <a:t>· 출력 계약 다섯 항목: cause · failure_mode · guide_card · decision · decision_id</a:t>
            </a:r>
          </a:p>
          <a:p>
            <a:r>
              <a:t>· 읽는 쪽 셋: 형식 검사(다섯 항목), 사건 기록(guide_card → 승인할 조치 범위), 승인 화면(decision_id → 추천안)</a:t>
            </a:r>
          </a:p>
          <a:p>
            <a:r>
              <a:t>· 이름을 바꾸면 읽는 쪽이 못 찾음 = 깨는 변경, 항목 추가도 받아들이는지 먼저 확인</a:t>
            </a:r>
          </a:p>
          <a:p>
            <a:r>
              <a:t>[다음] 수용 기준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세 열(가를 수 없는 · 가를 수 있는 · 볼 값) → 네 줄 → 강조한 마지막 줄</a:t>
            </a:r>
          </a:p>
          <a:p>
            <a:r>
              <a:t>· 수용 기준(Acceptance Criteria): 실행 결과로 참 · 거짓을 가를 수 있게 적은 완료 조건</a:t>
            </a:r>
          </a:p>
          <a:p>
            <a:r>
              <a:t>· 「잘 표시된다」 → 유효한 TS1 120초 평균 60.4 ℃ 쿨러 요청은 urgent true</a:t>
            </a:r>
          </a:p>
          <a:p>
            <a:r>
              <a:t>· 「기존 기능 그대로」 → 같은 입력의 일반 요청은 기존 항목 · 뜻 그대로, 항목별 대조</a:t>
            </a:r>
          </a:p>
          <a:p>
            <a:r>
              <a:t>· 「알아서 처리」 → 유효한 값이 없으면 null + 보류 사유</a:t>
            </a:r>
          </a:p>
          <a:p>
            <a:r>
              <a:t>· 긴급해도 승인 대기 → 상태 값 하나로 금지 조건 확인</a:t>
            </a:r>
          </a:p>
          <a:p>
            <a:r>
              <a:t>· 가를 수 있는 문장 = 상황 · 대상 · 값이 다 있음, 이 문장들이 시나리오의 기대 결과가 된다</a:t>
            </a:r>
          </a:p>
          <a:p>
            <a:r>
              <a:t>[다음] 긴급 확인 표시의 교육용 조건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코드 위(대상 · 값 · 유효성) → 가운데(세 갈래) → 아래(바꾸지 않는 것) → 오른쪽 짚을 점</a:t>
            </a:r>
          </a:p>
          <a:p>
            <a:r>
              <a:t>· 대상: COOLER_DEGRADATION만, 값: TS1 120초 평균</a:t>
            </a:r>
          </a:p>
          <a:p>
            <a:r>
              <a:t>· 유효성: 신선도(최신 값이 한도 안) + 표본(구간 안 공백이 수집 한도 안)</a:t>
            </a:r>
          </a:p>
          <a:p>
            <a:r>
              <a:t>· 유효 + 평균 ≥ 60 ℃ → true, 유효 + &lt; 60 ℃ → false</a:t>
            </a:r>
          </a:p>
          <a:p>
            <a:r>
              <a:t>· 값 없음 · 신선도 실패 · 표본 부족 → null + 보류 사유</a:t>
            </a:r>
          </a:p>
          <a:p>
            <a:r>
              <a:t>· null = 미판정, 긴급 아님이 아니다</a:t>
            </a:r>
          </a:p>
          <a:p>
            <a:r>
              <a:t>· 60 ℃ 「이상」은 수업 경계, 운전 화면 경고는 60 ℃ 「초과」 → 60.0 ℃에서 갈림</a:t>
            </a:r>
          </a:p>
          <a:p>
            <a:r>
              <a:t>· 다른 경보는 미적용, 승인 절차 · 실제 설비 기준 · 65 ℃ 인터록 · 승인 역할 그대로</a:t>
            </a:r>
          </a:p>
          <a:p>
            <a:r>
              <a:t>[다음] 판단 문제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요구(「긴급이면 승인 없이 조치까지」) → 보기 넷 → 생각할 시간 20초</a:t>
            </a:r>
          </a:p>
          <a:p>
            <a:r>
              <a:t>· 정답 2: 금지 조건과 부딪침 → 구현하지 않고 승인 권한을 정하는 쪽 검토로</a:t>
            </a:r>
          </a:p>
          <a:p>
            <a:r>
              <a:t>· 요구사항을 늘리는 일이 아니라 금지 조건을 바꾸는 일</a:t>
            </a:r>
          </a:p>
          <a:p>
            <a:r>
              <a:t>· 1: 명세 안에서 두 문장이 부딪침, HYD에는 쓰는 도구도 없고 승인 칸은 승인 경로에서만</a:t>
            </a:r>
          </a:p>
          <a:p>
            <a:r>
              <a:t>· 3: 수업 조건을 근거 없이 바꿈, 요구에 대한 답도 아님</a:t>
            </a:r>
          </a:p>
          <a:p>
            <a:r>
              <a:t>· 4: 금지 조건을 AI 해석에 맡김 = 명세의 빈자리가 가장 위험한 곳에</a:t>
            </a:r>
          </a:p>
          <a:p>
            <a:r>
              <a:t>[다음] 기대 결과를 시나리오로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 번호 → 부제</a:t>
            </a:r>
          </a:p>
          <a:p>
            <a:r>
              <a:t>· 물음: 기대 결과를 프로그램 출력에서 옮겨 적으면 무엇이 문제인가</a:t>
            </a:r>
          </a:p>
          <a:p>
            <a:r>
              <a:t>· 실습에서 일반 · 긴급 · 경계 · 누락 · 거절 · 도구 오류의 기대 결과를 먼저 적는다</a:t>
            </a:r>
          </a:p>
          <a:p>
            <a:r>
              <a:t>[다음] Given · When · Then 시나리오 한 편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코드(Feature → Scenario → Given · When · Then · And) → 오른쪽 짚을 점 넷</a:t>
            </a:r>
          </a:p>
          <a:p>
            <a:r>
              <a:t>· Given: 행동 전 상태, 값과 함께 유효성도(빠지면 true인지 null인지 안 정해짐)</a:t>
            </a:r>
          </a:p>
          <a:p>
            <a:r>
              <a:t>· When: 확인할 행동 하나</a:t>
            </a:r>
          </a:p>
          <a:p>
            <a:r>
              <a:t>· Then: urgent true, 이유에 판정 값 · 기준, 승인 대기</a:t>
            </a:r>
          </a:p>
          <a:p>
            <a:r>
              <a:t>· Then에는 실행 결과로 가를 수 있는 사실만, 「잘 처리된다」 금지</a:t>
            </a:r>
          </a:p>
          <a:p>
            <a:r>
              <a:t>· 마지막 Then: 새 기능과 함께 금지 조건도 같은 자리에서 확인</a:t>
            </a:r>
          </a:p>
          <a:p>
            <a:r>
              <a:t>· Gherkin: Feature 아래 Scenario를 Given · When · Then · And로 적는 서식, 사람이 읽고 도구가 나눠 읽음</a:t>
            </a:r>
          </a:p>
          <a:p>
            <a:r>
              <a:t>[다음] 시나리오 한 편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코드 위(거절 시나리오) → Then 세 줄 → 아래 HYD 시험 이름 → 오른쪽 짚을 점</a:t>
            </a:r>
          </a:p>
          <a:p>
            <a:r>
              <a:t>· Given: 추천안 승인 대기, 거절하는 사람은 그 조치의 승인 역할</a:t>
            </a:r>
          </a:p>
          <a:p>
            <a:r>
              <a:t>· When: 사유를 적고 거절</a:t>
            </a:r>
          </a:p>
          <a:p>
            <a:r>
              <a:t>· Then: 설비 명령 0건, 업무 처리 0건, 거절로 끝(기록의 값은 반려) = 일어나지 않아야 할 일</a:t>
            </a:r>
          </a:p>
          <a:p>
            <a:r>
              <a:t>· 「0건」도 세어서 가를 수 있는 사실</a:t>
            </a:r>
          </a:p>
          <a:p>
            <a:r>
              <a:t>· 금지 조건 「거절하면 후속 업무 없음」이 Then으로 들어옴</a:t>
            </a:r>
          </a:p>
          <a:p>
            <a:r>
              <a:t>· 권한 없는 역할의 거절은 따로 시나리오, 한 시나리오에 여러 경우를 섞지 않음</a:t>
            </a:r>
          </a:p>
          <a:p>
            <a:r>
              <a:t>· HYD 실제 시험 이름 = 시나리오 문장</a:t>
            </a:r>
          </a:p>
          <a:p>
            <a:r>
              <a:t>[다음] 명세의 칸이 시나리오에 놓이는 자리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다섯 줄 → 셋째 열(Given · When · Then 자리) → 강조한 마지막 줄</a:t>
            </a:r>
          </a:p>
          <a:p>
            <a:r>
              <a:t>· 입력 · 유효성 → Given: 쿨러 경보 요청, 60.4 ℃, 신선도 · 표본 유효</a:t>
            </a:r>
          </a:p>
          <a:p>
            <a:r>
              <a:t>· 확인할 행동 → When: 에이전트가 요청을 처리</a:t>
            </a:r>
          </a:p>
          <a:p>
            <a:r>
              <a:t>· 출력 계약 → Then 항목과 형식: urgent가 있고 true · false · null 중 하나</a:t>
            </a:r>
          </a:p>
          <a:p>
            <a:r>
              <a:t>· 수용 기준 → Then 기대 값: urgent true, 이유에 값 · 기준</a:t>
            </a:r>
          </a:p>
          <a:p>
            <a:r>
              <a:t>· 금지 조건 → Then 일어나지 않을 일: 승인 대기, 확정 · 실행 0건</a:t>
            </a:r>
          </a:p>
          <a:p>
            <a:r>
              <a:t>· 시나리오는 새로 지어내는 것이 아니라 명세의 칸을 옮겨 적는 일, 칸이 비면 시나리오도 못 씀</a:t>
            </a:r>
          </a:p>
          <a:p>
            <a:r>
              <a:t>[다음] 기대 결과를 정하는 두 방법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칸(출력을 베낀 기대값, 가정) → 강조한 오른쪽 칸</a:t>
            </a:r>
          </a:p>
          <a:p>
            <a:r>
              <a:t>· 같은 사례: 유효한 평균 60.0 ℃ 쿨러 요청</a:t>
            </a:r>
          </a:p>
          <a:p>
            <a:r>
              <a:t>· 베끼기: 구현을 먼저 돌려 나온 값을 기대값으로, 구현이 false면 기대도 false → 틀린 구현도 통과</a:t>
            </a:r>
          </a:p>
          <a:p>
            <a:r>
              <a:t>· 베낀 시험은 검사가 아니라 따라가기</a:t>
            </a:r>
          </a:p>
          <a:p>
            <a:r>
              <a:t>· 명세 · 원자료: 「60 ℃ 이상이면 true」 + 평균 60.0 ℃ · 유효 → 실행 전에 true로 적고 근거 남김</a:t>
            </a:r>
          </a:p>
          <a:p>
            <a:r>
              <a:t>· 이렇게 정해야 구현이 틀렸을 때 시험이 실패한다</a:t>
            </a:r>
          </a:p>
          <a:p>
            <a:r>
              <a:t>· 실습에서도 기대 결과는 반드시 실행 전에</a:t>
            </a:r>
          </a:p>
          <a:p>
            <a:r>
              <a:t>[다음] 정상 · 경계 · 누락 · 회귀의 검증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 번호 → 부제</a:t>
            </a:r>
          </a:p>
          <a:p>
            <a:r>
              <a:t>· 물음: 긴급 시나리오가 통과했다면 일반 요청은 그대로인가</a:t>
            </a:r>
          </a:p>
          <a:p>
            <a:r>
              <a:t>· 실습에서 실제 오류의 원인을 고친 뒤 기존 사례도 다시 돌린다</a:t>
            </a:r>
          </a:p>
          <a:p>
            <a:r>
              <a:t>[다음] 사례의 종류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일곱 줄(정상 둘 → 경계 → 예외 셋 → 회귀)</a:t>
            </a:r>
          </a:p>
          <a:p>
            <a:r>
              <a:t>· 기준: 판정이 갈리거나 약속이 걸린 경우마다 시나리오 하나</a:t>
            </a:r>
          </a:p>
          <a:p>
            <a:r>
              <a:t>· 정상 · 일반: 펌프 누설 요청, 기존 항목 그대로, 긴급 조건 미적용</a:t>
            </a:r>
          </a:p>
          <a:p>
            <a:r>
              <a:t>· 정상 · 긴급: 60.4 ℃ → urgent true, 승인 대기</a:t>
            </a:r>
          </a:p>
          <a:p>
            <a:r>
              <a:t>· 경계: 60 ℃ 바로 아래 · 같은 값 · 바로 위</a:t>
            </a:r>
          </a:p>
          <a:p>
            <a:r>
              <a:t>· 예외: 누락 → 질문 · 보류 · 지어낸 값 없음, 거절 → 명령 · 후속 업무 0건, 도구 오류 → 실패 기록 · urgent null(0으로 바꾸지 않음)</a:t>
            </a:r>
          </a:p>
          <a:p>
            <a:r>
              <a:t>· 예외 시험 = 잘못됐을 때 미리 정한 행동(실패 기록 · 보류 · 질문)이 나오는가</a:t>
            </a:r>
          </a:p>
          <a:p>
            <a:r>
              <a:t>· 회귀: 바꿀 때마다 위 시나리오 전부 재실행</a:t>
            </a:r>
          </a:p>
          <a:p>
            <a:r>
              <a:t>[다음] 한 단계 더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다섯 줄 → 세 열(평균 · 명세대로 · 초과로 옮기면) → 강조한 60.0 ℃ 줄</a:t>
            </a:r>
          </a:p>
          <a:p>
            <a:r>
              <a:t>· 경계값 분석(Boundary Value Analysis): 기준 바로 아래 · 같은 값 · 바로 위를 입력으로</a:t>
            </a:r>
          </a:p>
          <a:p>
            <a:r>
              <a:t>· 58.2 · 59.9 · 60.1 · 61.3 ℃: 두 열이 같음, 등호 실수가 안 보임</a:t>
            </a:r>
          </a:p>
          <a:p>
            <a:r>
              <a:t>· 60.0 ℃에서만 갈림: 명세대로 true, 「초과」로 옮기면 false</a:t>
            </a:r>
          </a:p>
          <a:p>
            <a:r>
              <a:t>· 실수의 까닭: 운전 화면 유온 경고가 60 ℃ 「초과」라 같은 숫자를 보고 옮기기 쉬움</a:t>
            </a:r>
          </a:p>
          <a:p>
            <a:r>
              <a:t>· 경계 사례에는 기준값 자체를 반드시 넣는다</a:t>
            </a:r>
          </a:p>
          <a:p>
            <a:r>
              <a:t>· 시간에도 경계: 지연 알림 기한 10분의 직전 · 직후</a:t>
            </a:r>
          </a:p>
          <a:p>
            <a:r>
              <a:t>[다음] 모델 출력의 표현 차이와 계약 위반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칸(허용하는 표현 차이) → 강조한 오른쪽 칸(계약 위반)</a:t>
            </a:r>
          </a:p>
          <a:p>
            <a:r>
              <a:t>· 허용: 긴급 이유 문장의 낱말 · 말투, 서로 기대지 않는 조회의 차례, 정한 시간 기준 안의 소요 시간</a:t>
            </a:r>
          </a:p>
          <a:p>
            <a:r>
              <a:t>· 실패: urgent 누락 · 값이 다름, null 자리에 false, 판정 값 · 기준 근거 누락, 승인 전 확정 · 다른 요청의 답 사용</a:t>
            </a:r>
          </a:p>
          <a:p>
            <a:r>
              <a:t>· 실패는 한 번만 나와도 실패</a:t>
            </a:r>
          </a:p>
          <a:p>
            <a:r>
              <a:t>· 시험은 문장 전체를 글자로 맞추지 않고 계약 항목과 판정을 본다</a:t>
            </a:r>
          </a:p>
          <a:p>
            <a:r>
              <a:t>· 문장 차이를 실패로 세면 시험이 흔들리고, 판정 차이를 넘기면 진짜 오류를 놓침</a:t>
            </a:r>
          </a:p>
          <a:p>
            <a:r>
              <a:t>[다음] 회귀 시험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흐름 네 칸 왼쪽부터 → 강조한 마지막 칸</a:t>
            </a:r>
          </a:p>
          <a:p>
            <a:r>
              <a:t>· 변경 전: 일반 · 누락 · 거절 · 오류 시나리오 모두 통과</a:t>
            </a:r>
          </a:p>
          <a:p>
            <a:r>
              <a:t>· 요구 변경: 명세에 긴급 조건 → 긴급 · 경계 시나리오 추가, 코드보다 명세 · 시나리오가 먼저</a:t>
            </a:r>
          </a:p>
          <a:p>
            <a:r>
              <a:t>· 구현: 명세 기준으로 필요한 부분만</a:t>
            </a:r>
          </a:p>
          <a:p>
            <a:r>
              <a:t>· 회귀 시험(Regression Test): 새 시나리오 + 기존 시나리오 전부 재실행</a:t>
            </a:r>
          </a:p>
          <a:p>
            <a:r>
              <a:t>· 새 시나리오 통과 = 새 행동이 맞다까지, 기존 행동은 기존 시나리오를 다시 돌려야 확인</a:t>
            </a:r>
          </a:p>
          <a:p>
            <a:r>
              <a:t>· 하나라도 실패하면 내보내기 전에 원인부터</a:t>
            </a:r>
          </a:p>
          <a:p>
            <a:r>
              <a:t>[다음] 점검 요청 한 건으로 되짚는 결정과 검증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오른쪽 짝 열을 먼저 스스로 가르기(20초) → 다섯 줄 위에서 아래로</a:t>
            </a:r>
          </a:p>
          <a:p>
            <a:r>
              <a:t>· 지금 확정해도 되나: 칸이 다 있고 서로 맞고 값이 유효한가, 아니면 질문 · 보류(짐작해 채우기 아님)</a:t>
            </a:r>
          </a:p>
          <a:p>
            <a:r>
              <a:t>· 「승인한 걸로」가 섞인 답: 업무 정보만 받음, 답은 승인 · 권한 · 근거 충족을 못 바꿈</a:t>
            </a:r>
          </a:p>
          <a:p>
            <a:r>
              <a:t>· urgent null: 미판정, 보류 사유(값 없음 · 신선도 · 표본) 확인</a:t>
            </a:r>
          </a:p>
          <a:p>
            <a:r>
              <a:t>· 기대값: 구현 출력을 베끼면 틀린 구현도 통과, 실행 전에 명세 · 원자료에서</a:t>
            </a:r>
          </a:p>
          <a:p>
            <a:r>
              <a:t>· 새 시나리오 모두 통과: 새 기능 확인일 뿐, 기존 기능은 회귀 결과로</a:t>
            </a:r>
          </a:p>
          <a:p>
            <a:r>
              <a:t>[다음] 오늘 다룬 핵심 개념과 주요 용어 정리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여덟 줄 위에서부터, 정식 명칭은 화면에 맡기고 뜻만</a:t>
            </a:r>
          </a:p>
          <a:p>
            <a:r>
              <a:t>· HITL = 자동 처리의 정해진 지점에 사람의 확인과 결정을 넣는 방식</a:t>
            </a:r>
          </a:p>
          <a:p>
            <a:r>
              <a:t>· 명세 = 구현 전에 목표 · 입력 · 출력 계약 · 금지 조건 · 수용 기준을 정해 둔 문서, 계약 = 항목의 이름 · 형식 · 뜻의 약속, 깨는 변경 = 그 셋 중 하나를 바꿔 읽는 쪽을 깸</a:t>
            </a:r>
          </a:p>
          <a:p>
            <a:r>
              <a:t>· 신선도 = 값이 얼마나 묵었나, 표본 = 구간을 채울 만큼 값이 들어왔나</a:t>
            </a:r>
          </a:p>
          <a:p>
            <a:r>
              <a:t>· 수용 기준 = 참 · 거짓으로 가르는 완료 조건, Gherkin = Given · When · Then으로 나눠 적는 서식</a:t>
            </a:r>
          </a:p>
          <a:p>
            <a:r>
              <a:t>· 경계값 분석 = 기준값의 바로 아래 · 같은 값 · 바로 위, 회귀 시험 = 바꾼 뒤 기존 시나리오까지 다시 실행</a:t>
            </a:r>
          </a:p>
          <a:p>
            <a:r>
              <a:t>[다음] Review Quiz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간지 제목 → 부제</a:t>
            </a:r>
          </a:p>
          <a:p>
            <a:r>
              <a:t>· 세 문제: 미판정 vs 긴급 아님, 표시 · 검토 vs 승인, 새 기능 통과 vs 기존 기능 회귀</a:t>
            </a:r>
          </a:p>
          <a:p>
            <a:r>
              <a:t>· 문제마다 보기를 읽고 20초 멈춤</a:t>
            </a:r>
          </a:p>
          <a:p>
            <a:r>
              <a:t>· 정답과 까닭은 세 문제를 다 본 뒤에</a:t>
            </a:r>
          </a:p>
          <a:p>
            <a:r>
              <a:t>[다음] Quiz 1. null로 나온 긴급 확인 표시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상황(평균 60.8 ℃, 공백이 수집 한도 초과 → urgent null) → 보기 넷 → 20초</a:t>
            </a:r>
          </a:p>
          <a:p>
            <a:r>
              <a:t>· 물음의 요지: null이 무엇을 기록한 값인가</a:t>
            </a:r>
          </a:p>
          <a:p>
            <a:r>
              <a:t>· 생각할 거리: 표본이 부족한 평균을 믿을 수 있나</a:t>
            </a:r>
          </a:p>
          <a:p>
            <a:r>
              <a:t>· 생각할 거리: 「긴급 아님」으로 처리하면 무엇을 놓치나</a:t>
            </a:r>
          </a:p>
          <a:p>
            <a:r>
              <a:t>· 생각할 거리: 거절로 닫는 것과 판단을 미루는 것의 차이</a:t>
            </a:r>
          </a:p>
          <a:p>
            <a:r>
              <a:t>[다음] Quiz 2. 세 번 돌린 같은 긴급 요청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상황(같은 요청 세 번, 문장은 매번 다름, 한 번은 urgent false) → 보기 넷 → 20초</a:t>
            </a:r>
          </a:p>
          <a:p>
            <a:r>
              <a:t>· 물음의 요지: 허용하는 차이와 실패로 세는 차이</a:t>
            </a:r>
          </a:p>
          <a:p>
            <a:r>
              <a:t>· 생각할 거리: 문장과 판정 가운데 계약이 정한 것은 무엇인가</a:t>
            </a:r>
          </a:p>
          <a:p>
            <a:r>
              <a:t>· 생각할 거리: 한 번의 실패를 횟수로 덮을 수 있나</a:t>
            </a:r>
          </a:p>
          <a:p>
            <a:r>
              <a:t>[다음] Quiz 3. 거절 뒤에 생긴 작업지시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상황(새 시나리오 모두 통과, 기존 거절 시나리오에서 작업지시 1건) → 보기 넷 → 20초</a:t>
            </a:r>
          </a:p>
          <a:p>
            <a:r>
              <a:t>· 물음의 요지: 깨진 기존 약속 앞에서의 조치</a:t>
            </a:r>
          </a:p>
          <a:p>
            <a:r>
              <a:t>· 생각할 거리: 거절 시나리오의 기대값은 어디서 왔나</a:t>
            </a:r>
          </a:p>
          <a:p>
            <a:r>
              <a:t>· 생각할 거리: 새 시나리오의 통과가 알려 주는 범위</a:t>
            </a:r>
          </a:p>
          <a:p>
            <a:r>
              <a:t>· 생각할 거리: 기대값을 바꾸는 것과 구현을 고치는 것의 차이</a:t>
            </a:r>
          </a:p>
          <a:p>
            <a:r>
              <a:t>[다음] 정답과 판단 기준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세 줄(문항 · 판단 기준 · 정답) 위에서 아래로</a:t>
            </a:r>
          </a:p>
          <a:p>
            <a:r>
              <a:t>· Q1 정답 3: null = 판단할 값이 없다는 기록. 오답의 혼동: 1 긴급 아님으로 놓침, 2 참으로 고침, 4 거절로 요청 자체를 없앰</a:t>
            </a:r>
          </a:p>
          <a:p>
            <a:r>
              <a:t>· Q2 정답 1: 판정은 계약 항목이라 한 번 달라도 실패. 오답의 혼동: 2 횟수로 통과를 정함, 3 문장 차이를 실패로 셈, 4 판정 차이를 표현 차이로 넘김</a:t>
            </a:r>
          </a:p>
          <a:p>
            <a:r>
              <a:t>· Q3 정답 4: 기대값은 명세의 금지 조건에서 왔고 바뀐 적 없음. 오답의 혼동: 1 틀린 구현을 정답으로, 2 깨진 약속 감추기, 3 새 시나리오는 새 행동까지만</a:t>
            </a:r>
          </a:p>
          <a:p>
            <a:r>
              <a:t>· 이어지는 실습: 포털의 승인 · 보류 상태를 확인하고, 점검 요청의 필수 정보가 빠지면 묻고 답을 반영해 다시 판단하는 흐름을 구현한다. 사람이 승인할 결과가 자동 확정되지 않는지 본다</a:t>
            </a:r>
          </a:p>
          <a:p>
            <a:r>
              <a:t>· 긴급 확인 표시를 명세해 기존 출력 · 질문 · 승인 조건을 지키며 구현하고, 기대 결과를 먼저 적어 정상 · 누락 · 회귀까지 검증한다 — 진행은 핸즈온 가이드</a:t>
            </a:r>
          </a:p>
          <a:p>
            <a:r>
              <a:t>· 다음 회차: 사람의 판단과 실행 경계를 BPMN으로 표현한다</a:t>
            </a:r>
          </a:p>
          <a:p>
            <a:r>
              <a:t>[다음] 실습으로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8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Relationship Id="rId4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3294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8412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8FCFF8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167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700784"/>
            <a:ext cx="7863840" cy="42062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800" b="1">
                <a:solidFill>
                  <a:srgbClr val="8FCFF8"/>
                </a:solidFill>
                <a:latin typeface="맑은 고딕"/>
                <a:ea typeface="맑은 고딕"/>
                <a:cs typeface="맑은 고딕"/>
              </a:rPr>
              <a:t>실전반 오프라인 6회차 · 활용 기능의 요구를 명세하고 검증하기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395728"/>
            <a:ext cx="8412480" cy="1920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4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질문 · 승인 · 명세와</a:t>
            </a:r>
          </a:p>
          <a:p>
            <a:pPr algn="l" eaLnBrk="0">
              <a:lnSpc>
                <a:spcPct val="110000"/>
              </a:lnSpc>
            </a:pPr>
            <a:r>
              <a:rPr sz="4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기대 결과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407408"/>
            <a:ext cx="8412480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800" b="0">
                <a:solidFill>
                  <a:srgbClr val="C6D0DE"/>
                </a:solidFill>
                <a:latin typeface="맑은 고딕"/>
                <a:ea typeface="맑은 고딕"/>
                <a:cs typeface="맑은 고딕"/>
              </a:rPr>
              <a:t>점검 요청의 누락 · 추가 답변 · 기능 변경을 다루면서 기존 승인 조건을 지킨다</a:t>
            </a:r>
          </a:p>
        </p:txBody>
      </p:sp>
      <p:pic>
        <p:nvPicPr>
          <p:cNvPr id="7" name="로고:uEngine" descr="logo-uengine_FFFFFF_No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5669280"/>
            <a:ext cx="1325880" cy="27511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9464040" y="1188719"/>
            <a:ext cx="1188720" cy="1188720"/>
          </a:xfrm>
          <a:prstGeom prst="rect">
            <a:avLst/>
          </a:prstGeom>
          <a:solidFill>
            <a:srgbClr val="243D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9" name="아이콘:message-question" descr="message-question_5CB8F2_1.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01784" y="1426463"/>
            <a:ext cx="713232" cy="713232"/>
          </a:xfrm>
          <a:prstGeom prst="rect">
            <a:avLst/>
          </a:prstGeom>
        </p:spPr>
      </p:pic>
      <p:sp>
        <p:nvSpPr>
          <p:cNvPr id="10" name="Down Arrow 9"/>
          <p:cNvSpPr/>
          <p:nvPr/>
        </p:nvSpPr>
        <p:spPr>
          <a:xfrm>
            <a:off x="9902952" y="2450591"/>
            <a:ext cx="310896" cy="310896"/>
          </a:xfrm>
          <a:prstGeom prst="downArrow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464040" y="2834639"/>
            <a:ext cx="1188720" cy="1188720"/>
          </a:xfrm>
          <a:prstGeom prst="rect">
            <a:avLst/>
          </a:prstGeom>
          <a:solidFill>
            <a:srgbClr val="243D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2" name="아이콘:file-text" descr="file-text_5CB8F2_1.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01784" y="3072383"/>
            <a:ext cx="713232" cy="713232"/>
          </a:xfrm>
          <a:prstGeom prst="rect">
            <a:avLst/>
          </a:prstGeom>
        </p:spPr>
      </p:pic>
      <p:sp>
        <p:nvSpPr>
          <p:cNvPr id="13" name="Down Arrow 12"/>
          <p:cNvSpPr/>
          <p:nvPr/>
        </p:nvSpPr>
        <p:spPr>
          <a:xfrm>
            <a:off x="9902952" y="4096511"/>
            <a:ext cx="310896" cy="310896"/>
          </a:xfrm>
          <a:prstGeom prst="downArrow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464040" y="4480560"/>
            <a:ext cx="1188720" cy="1188720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checks" descr="checks_13294B_1.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01784" y="4718304"/>
            <a:ext cx="713232" cy="71323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학습목표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질문 · 보류와 승인을 가르고, 바뀐 요구를 명세로 적은 뒤, 기대 결과로 기존 기능까지 검증한다.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557272"/>
            <a:ext cx="2567863" cy="286816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758440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message-question" descr="message-question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912059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3581400"/>
            <a:ext cx="2238679" cy="13411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질문과 승인</a:t>
            </a:r>
          </a:p>
          <a:p>
            <a:pPr algn="l" eaLnBrk="0" marL="160020" indent="-16002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빠진 정보만 묻는다</a:t>
            </a:r>
          </a:p>
          <a:p>
            <a:pPr algn="l" eaLnBrk="0" marL="160020" indent="-16002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답변은 승인이 아니다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4995672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4995672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구분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90823" y="2557272"/>
            <a:ext cx="2567863" cy="286816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619423" y="2758440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아이콘:file-text" descr="file-text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73043" y="2912059"/>
            <a:ext cx="424281" cy="4242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3555415" y="3581400"/>
            <a:ext cx="2238679" cy="13411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명세</a:t>
            </a:r>
          </a:p>
          <a:p>
            <a:pPr algn="l" eaLnBrk="0" marL="160020" indent="-16002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입력 · 출력 · 제약 · 완료</a:t>
            </a:r>
          </a:p>
          <a:p>
            <a:pPr algn="l" eaLnBrk="0" marL="160020" indent="-16002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판정할 수 있는 기준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19423" y="4995672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19423" y="4995672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명세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33007" y="2557272"/>
            <a:ext cx="2567863" cy="286816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61607" y="2758440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list-check" descr="list-check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15226" y="2912059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397599" y="3581400"/>
            <a:ext cx="2238679" cy="13411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기대 결과</a:t>
            </a:r>
          </a:p>
          <a:p>
            <a:pPr algn="l" eaLnBrk="0" marL="160020" indent="-16002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Given · When · Then</a:t>
            </a:r>
          </a:p>
          <a:p>
            <a:pPr algn="l" eaLnBrk="0" marL="160020" indent="-16002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실행 전에 정한다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61607" y="4995672"/>
            <a:ext cx="9753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61607" y="4995672"/>
            <a:ext cx="9753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시나리오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75191" y="2557272"/>
            <a:ext cx="2567863" cy="286816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303791" y="2758440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6" name="아이콘:repeat" descr="repeat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57410" y="2912059"/>
            <a:ext cx="424281" cy="424281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239783" y="3581400"/>
            <a:ext cx="2238679" cy="13411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기존 기능 보존</a:t>
            </a:r>
          </a:p>
          <a:p>
            <a:pPr algn="l" eaLnBrk="0" marL="160020" indent="-16002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경계 · 누락 · 회귀</a:t>
            </a:r>
          </a:p>
          <a:p>
            <a:pPr algn="l" eaLnBrk="0" marL="160020" indent="-16002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표현 차이와 계약 위반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303791" y="4995672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03791" y="4995672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검증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목차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331720"/>
            <a:ext cx="822960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19" y="2331720"/>
            <a:ext cx="8488375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점검 요청을 사람이 확정하는 자리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088575" y="2551175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88575" y="2551175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3054096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3063239"/>
            <a:ext cx="822960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19" y="3063239"/>
            <a:ext cx="8488375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바뀐 요구를 명세로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088575" y="3282695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88575" y="3282695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3785615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3794760"/>
            <a:ext cx="822960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17319" y="3794760"/>
            <a:ext cx="8488375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기대 결과를 시나리오로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088575" y="401421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88575" y="4014216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4517136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4526280"/>
            <a:ext cx="822960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17319" y="4526280"/>
            <a:ext cx="8488375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정상 · 경계 · 누락 · 회귀의 검증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088575" y="474573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88575" y="4745736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점검 요청을 사람이 확정하는 자리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바로 확정할 수 없는 요청, 묻고 이어 가는 질문과 사람의 승인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바로 확정할 수 없는 점검 요청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점검 요청은 칸이 빠졌거나 서로 어긋나거나 값이 묵었으면, 에이전트가 혼자 확정하지 않고 사람에게 넘긴다.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점검 요청의 상태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예 (수업용 요청)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에이전트가 할 일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판단할 칸이 다 있다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설비 HYD-01 · 쿨러 성능 저하 경보 · 사례 번호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판단 시각의 값이 유효하다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점검 결과를 낸다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조치는 승인 대기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926994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894990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칸이 빠졌다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894990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「유압 쪽에 경보가 났습니다」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설비 · 경보 · 사례가 모두 비었다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894990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조회로 못 정하면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묻고 보류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792016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760012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칸끼리 어긋난다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760012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설비는 HYD-01로 적었는데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사례는 HYD-02에서 읽은 값이다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760012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한쪽으로 덮지 않고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묻고 보류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657039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625035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값이 묵었다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4625035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최신 유온 값이 185초 전 것이다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신선도 한도는 60초다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4625035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원인을 고르지 않고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보류 사유를 남긴다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522061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5490057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조치를 실행한다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5490057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팬 최대 운전 · 작업지시처럼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설비와 업무를 바꾸는 일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5490057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승인 역할의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사람이 결정한다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HITL(Human-in-the-Loop): 일마다 정한 결정자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HITL</a:t>
            </a: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은 자동 처리의 정해진 지점에 사람의 확인과 결정을 넣는 방식이며, 되돌리기 어려운 일일수록 사람이 정한다.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61387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961387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점검 요청 처리의 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961387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정하는 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961387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까닭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3957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3637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값 조회 · 원인 후보 · 점검 순서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3637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에이전트와 시스템이 자동으로 한다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3637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읽고 계산할 뿐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설비를 바꾸지 않는다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3101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2781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빠진 업무 정보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2781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요청한 사람이 답한다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32781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도구로도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알 수 없는 값이다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2245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1925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설비 명령 · 작업지시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1925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승인 역할의 담당자가 승인하거나 거절한다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41925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실행하면 설비와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생산이 달라진다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51389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51069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한도를 넘겨 멈춘 작업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51069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담당자가 기록을 읽고 사유를 적어 닫는다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51069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정상 결과가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나오지 않는다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 · 거절 · 보류가 처리 건에 남기는 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승인만 설비 명령으로 이어지고 거절은 명령 없이 닫히며, 보류는 누가 왜 멈췄는지에 따라 할 일이 다르다.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결정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쿨러 사건과 HYD의 처리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처리 건은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승인 역할의 담당자가 추천안을 고른다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이때부터 재확인 · 명령 · 재관측 · 작업지시가 이어진다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끝까지 처리된다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926994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894990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거절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894990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사유를 적어야 받아들여진다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설비 명령 · 업무 처리는 0건이다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894990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거절로 닫힌다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(기록의 값은 반려)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792016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760012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보류: 사람의 무응답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760012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기한 10분이 지나면 지연 알림만 나간다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알림 뒤에도 승인 · 거절할 수 있다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760012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승인 작업이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열린 채 기다린다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657039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625035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보류: 에이전트의 멈춤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4625035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근거가 모자라 결과를 내지 않았다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4625035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다시 처리하거나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사람이 닫는다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522061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5490057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보류: 에이전트의 질문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5490057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필수 업무 정보를 묻고 기다린다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5490057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답을 받으면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이어서 처리한다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질문과 재개: 같은 요청 번호에 잇는 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답은 질문을 낸 요청 번호에만 이어 붙이고, 빠진 업무 정보를 채울 뿐 승인이나 권한을 만들지 않는다.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73936"/>
            <a:ext cx="6766560" cy="4434840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911096"/>
            <a:ext cx="6400800" cy="4160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//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점검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요청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건의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진행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(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예시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REQ-A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「유압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쪽에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경보가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났습니다」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조회로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설비를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정할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없다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→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질문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1: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대상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설비는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?     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상태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: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질문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대기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②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답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「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HYD-01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」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       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→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REQ-A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에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기록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,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다시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확인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→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맞는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사례가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둘이다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→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질문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2: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어느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경보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건인가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? 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상태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: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질문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대기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③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답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받음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              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→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REQ-A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판단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재개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//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하지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않는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일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REQ-B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에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온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답을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REQ-A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에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쓰지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않는다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「급하니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승인한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걸로」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→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승인으로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받지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않는다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177393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먼저 조회한다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도구로 정할 수 있는 값은 묻지 않는다. 묻는 것은 빠지거나 어긋난 값뿐이다.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288264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요청 번호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답은 그 질문을 낸 요청에만 붙는다. 다른 요청의 답은 섞지 않는다.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399135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재개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답을 반영해 같은 요청의 판단을 이어 간다. 질문 전후의 상태가 기록에 남는다.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510006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답의 한계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「답변은 실행 권한을 바꾸지 않습니다.」 승인은 승인 단계에서 받는다.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질문으로 채우는 것과 바꾸지 못하는 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질문의 답은 기록과 도구로 알 수 없는 업무 정보만 채우고, 승인 · 권한 · 근거의 판정은 바꾸지 못한다.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279078"/>
            <a:ext cx="5181447" cy="3424555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59" y="2480246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message-question" descr="message-question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9" y="2633865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91640" y="2480246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답으로 채우는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330638"/>
            <a:ext cx="4632807" cy="1824355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대상 설비: 「HYD-02와 HYD-03 중 어느 설비인가요」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어느 경보 건인지처럼 요청에서 빠진 칸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요청자만 아는 사정 · 기록에 없는 값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답은 한 번만, 그 요청 번호에 기록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5246433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246433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업무 정보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61607" y="2279078"/>
            <a:ext cx="5181447" cy="3424555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735927" y="2480246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lock" descr="lock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9546" y="2633865"/>
            <a:ext cx="424281" cy="42428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604607" y="2480246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답으로 바꾸지 못하는 것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5927" y="3330638"/>
            <a:ext cx="4632807" cy="1824355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승인: 「급하니 승인한 걸로」는 승인이 아니다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도구 권한과 읽기 범위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근거 충족: 답했다고 묵은 값이 유효해지지 않는다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금지 조건과 승인 역할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81647" y="5246433"/>
            <a:ext cx="117348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1647" y="5246433"/>
            <a:ext cx="11734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권한과 판정</a:t>
            </a:r>
          </a:p>
        </p:txBody>
      </p:sp>
      <p:sp>
        <p:nvSpPr>
          <p:cNvPr id="20" name="Oval 19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바뀐 요구를 명세로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한 문장 요구가 열어 두는 갈래를 spec.md의 칸과 수용 기준으로 닫는다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「긴급한 경보는 빨리」가 열어 두는 갈래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「긴급한 경보는 빨리 처리되게」 한 문장은 기준 · 방법 · 지킬 것을 정하지 않아, 그 빈자리를 받는 쪽이 채우게 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61387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961387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정하지 않은 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961387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받는 쪽이 채울 수 있는 해석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961387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흔들릴 수 있는 기존 약속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3957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3637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긴급의 기준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3637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어떤 경보 · 어떤 값이면 긴급인가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운전 화면 경고선, 임의로 고른 수치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3637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같은 요청에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사람마다 다른 표시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3101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2781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빨라지는 방법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2781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결과에 긴급 표시를 더한다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질문을 건너뛴다 · 승인 대기를 줄인다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32781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질문 단계와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승인 조건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2245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1925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그대로 둘 것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1925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언급이 없다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일반 요청의 결과 항목 · 보류 · 거절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41925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기존 출력과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결과를 읽는 쪽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51389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51069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값을 모를 때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51069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언급이 없다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없는 값을 거짓이나 0으로 채운다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51069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모르는 값을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짐작하지 않는 약속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새 기능만 실행해 본 확인이 놓치는 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긴급 요청 하나만 돌려 보면 표시는 보이지만, 일반 요청 · 질문 · 거절이 그대로인지는 보이지 않는다.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321052"/>
            <a:ext cx="5181447" cy="3340608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59" y="2522220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eye" descr="eye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9" y="2675839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91640" y="2522220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새 기능만 돌려 본 확인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372611"/>
            <a:ext cx="4632807" cy="17404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유효한 평균 60.4 ℃ 쿨러 요청을 처리한다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urgent true와 긴급 이유가 나왔다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「잘 된다」로 끝낸다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5204460"/>
            <a:ext cx="8686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204460"/>
            <a:ext cx="8686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보인 것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61607" y="2321052"/>
            <a:ext cx="5181447" cy="3340608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735927" y="2522220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eye-off" descr="eye-off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9546" y="2675839"/>
            <a:ext cx="424281" cy="42428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604607" y="2522220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보이지 않은 것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5927" y="3372611"/>
            <a:ext cx="4632807" cy="17404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일반 요청의 결과 항목 이름과 뜻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정보가 빠진 요청의 질문 · 보류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거절 뒤 명령 · 업무 처리 0건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긴급 요청도 승인 대기인가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81647" y="5204460"/>
            <a:ext cx="1676399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1647" y="5204460"/>
            <a:ext cx="167639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확인하지 않은 약속</a:t>
            </a:r>
          </a:p>
        </p:txBody>
      </p:sp>
      <p:sp>
        <p:nvSpPr>
          <p:cNvPr id="20" name="Oval 19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spec.md의 여섯 칸과 빠질 때 생기는 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명세의 칸은 저마다 다른 빈자리를 막으므로, 한 칸이 빠지면 그 칸이 정할 해석을 구현하는 쪽이 대신 채운다.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spec.md의 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점검 요청에서 정하는 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빠지면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목표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긴급 확인 표시를 더한다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처리 시간 단축은 이번 목표가 아니다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범위가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넓어진다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782824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750820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입력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750820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요청 번호 · 설비 · 경보 · 사례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값은 판단할 때 도구로 읽는다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750820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없는 값을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지어낸다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503676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471672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출력 계약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471672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기존 항목의 이름 · 형식 · 뜻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더하는 urgent와 긴급 이유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471672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읽는 쪽이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깨진다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224528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192524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금지 조건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4192524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승인 전 실행 · 모르는 값 짐작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답변을 승인으로 받기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4192524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「이번만」을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막지 못한다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4945380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4913376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긴급 조건과 유효성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4913376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쿨러 경보 · TS1 120초 평균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신선도 · 표본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4913376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사람마다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다른 표시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5666232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5800" y="5634228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수용 기준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00400" y="5634228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참 · 거짓 · null과 승인 대기를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실행 결과로 가르는 문장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448495" y="5634228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다 됐는지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가를 수 없다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계약: 쿨러 에이전트가 주고받는 항목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계약</a:t>
            </a: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은 주고받는 항목의 이름 · 형식 · 뜻의 약속이라, 읽는 쪽이 있는 항목은 이름 하나도 함부로 바꾸지 못한다.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882394"/>
            <a:ext cx="6766560" cy="4217924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019554"/>
            <a:ext cx="6400800" cy="394360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//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입력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계약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: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대상만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정하고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값은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도구로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읽는다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{ "asset": "HYD-01",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"alert": { "pattern": "COOLER_DEGRADATION",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…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},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"incident": "INC-1010-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…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" }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//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출력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계약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: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다섯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항목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cause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failure_mode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guide_card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decision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decision_id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//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이름으로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읽는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쪽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형식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검사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다섯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항목이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있는가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사건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기록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guide_card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→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승인할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조치의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범위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승인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화면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decision_id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→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추천안을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찾는다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1882394"/>
            <a:ext cx="4007815" cy="105448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입력 계약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받을 항목과 형식이다. 유온 같은 값은 입력에 없고 판단할 때 도구로 읽는다.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2936875"/>
            <a:ext cx="4007815" cy="105448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출력 계약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낼 항목의 이름 · 형식 · 뜻이다. 읽는 쪽이 이 이름으로 찾는다.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3991356"/>
            <a:ext cx="4007815" cy="105448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깨는 변경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이름을 바꾸면 읽는 쪽이 항목을 찾지 못한다.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5045837"/>
            <a:ext cx="4007815" cy="105448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항목 추가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새 항목도 읽는 쪽이 받아들이는지 먼저 확인한다.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수용 기준: 참 · 거짓으로 가르는 문장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수용 기준</a:t>
            </a: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(Acceptance Criteria)은 다 되었는지를 실행 결과로 참 · 거짓을 가를 수 있게 적은 조건이다.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61387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961387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가를 수 없는 문장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961387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가를 수 있는 문장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961387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실행 뒤 보는 것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3957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3637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긴급한 요청이 잘 표시된다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3637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유효한 TS1 120초 평균이 60.4 ℃인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쿨러 경보 요청은 urgent가 true다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3637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urgent 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3101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2781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기존 기능은 그대로다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2781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같은 입력의 일반 요청은 명세가 정한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기존 항목과 뜻을 그대로 낸다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32781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항목별 대조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2245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1925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값이 없으면 알아서 처리한다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1925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유효한 값이 없으면 urgent는 null이고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보류 사유가 남는다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41925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null과 사유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51389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51069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긴급해도 절차는 지킨다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51069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urgent가 true여도 점검 결과는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승인 대기 상태다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51069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상태 값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긴급 확인 표시의 교육용 조건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긴급 표시는 쿨러 경보의 유효한 유온 평균으로만 가르고, 값을 믿을 수 없으면 거짓이 아니라 미판정으로 남긴다.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73936"/>
            <a:ext cx="6766560" cy="4434840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911096"/>
            <a:ext cx="6400800" cy="4160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긴급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확인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표시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(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교육용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조건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적용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대상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경보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패턴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COOLER_DEGRADATION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판정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값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TS1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120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초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평균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유효성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신선도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freshness.ok = true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  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표본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coverage.covered = true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urgent  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유효하고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평균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&gt;= 60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 ℃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→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true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  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유효하고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평균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&lt;  60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 ℃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→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false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  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값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없음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신선도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실패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표본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부족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                           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→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null,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보류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사유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다른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경보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적용하지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않고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기존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처리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그대로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승인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절차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실제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설비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기준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승인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권한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177393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null은 미판정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긴급이 아니라는 뜻이 아니다. 판단할 값이 없다는 기록이다.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288264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유효성 둘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최신 값이 신선도 한도 안이고, 구간 안 값의 공백이 수집 한도 안이어야 한다.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399135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60 ℃ 이상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수업용 경계다. 운전 화면의 유온 경고는 60 ℃ 초과다.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510006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바꾸지 않는 것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65 ℃ 인터록 같은 실제 보호 기준과 승인 역할은 그대로다.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판단 문제: 긴급하면 승인을 건너뛰자는 요구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긴급 표시를 만든 뒤 「긴급이면 승인 없이 바로 조치까지 해 달라」는 요구가 하나 더 왔다고 하자.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704088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27632"/>
            <a:ext cx="10637215" cy="7040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명세를 다루는 쪽의 처리로 맞는 것은?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5603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31520" y="27889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7889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5146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요구사항에 한 줄 더하고, 긴급 요청에서만 승인 대기를 뺀다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4747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31520" y="37033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37033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4290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금지 조건과 부딪치므로 구현하지 않고, 승인 권한을 정하는 쪽의 검토로 넘긴다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3891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31520" y="46177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46177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" y="43434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긴급 기준을 55 ℃로 낮춰 더 많은 요청이 빨리 처리되게 한다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53035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31520" y="55321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55321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4440" y="52578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AI에게 요구 문장을 그대로 주고 나온 결과를 보고 정한다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기대 결과를 시나리오로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명세의 칸을 Given · When · Then으로 옮기고, 기대 결과를 실행 전에 정한다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Given · When · Then 시나리오 한 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시나리오를 전제 Given · 행동 When · 기대 결과 Then으로 나누면, 준비할 입력과 확인할 값이 줄마다 갈린다.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882394"/>
            <a:ext cx="6766560" cy="4217924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019554"/>
            <a:ext cx="6400800" cy="394360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Feature: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점검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요청의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긴급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확인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표시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Scenario: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유효한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유온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평균이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기준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이상인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쿨러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경보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Given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쿨러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성능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저하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경보의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점검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요청이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있다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And   TS1 120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초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평균이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60.4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 ℃이고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 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신선도와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표본이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유효하다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When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에이전트가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요청을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처리한다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Then  urgent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는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true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이다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And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긴급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이유에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판정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값과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기준이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적힌다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And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점검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결과는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승인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대기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상태이다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1882394"/>
            <a:ext cx="4007815" cy="105448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서식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Feature 아래 Scenario를 Given · When · Then · And로 적는 서식이 </a:t>
            </a:r>
            <a:r>
              <a:rPr sz="14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Gherkin</a:t>
            </a: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이다.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2936875"/>
            <a:ext cx="4007815" cy="105448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Given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입력과 자료의 상태다. 값과 함께 유효성도 적는다.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3991356"/>
            <a:ext cx="4007815" cy="105448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When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확인할 행동 하나다.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5045837"/>
            <a:ext cx="4007815" cy="105448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Then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실행 결과로 가를 수 있는 사실만 적는다. 「잘 처리된다」는 쓰지 않는다.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시나리오 한 편: 거절에서 일어나지 않아야 할 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거절의 시나리오는 Then에 일어나지 않아야 할 일까지 적어, 금지 조건이 실제로 지켜지는지를 실행으로 확인하게 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90852"/>
            <a:ext cx="6766560" cy="4001008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128012"/>
            <a:ext cx="6400800" cy="372668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Scenario: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담당자가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사유를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적고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추천안을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거절한다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Given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쿨러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경보의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추천안이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승인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대기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중이다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And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거절하는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사람은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조치의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승인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역할이다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When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담당자가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사유를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적고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거절한다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Then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설비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명령은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0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건이다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And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작업지시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같은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업무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처리는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0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건이다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And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처리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건은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거절로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끝난다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(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기록의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값은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반려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 HYD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같은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시험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이름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test_rejection_does_nothing_to_plant_or_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business_and_closes_the_case_as_rejected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1990852"/>
            <a:ext cx="4007815" cy="10002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일어나지 않을 일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「0건」도 세어서 가를 수 있는 사실이다.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2991104"/>
            <a:ext cx="4007815" cy="10002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금지 조건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명세의 「거절하면 후속 업무가 없다」가 Then으로 왔다.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3991356"/>
            <a:ext cx="4007815" cy="10002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Given의 조건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권한 없는 역할의 거절은 따로 시나리오를 둔다.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4991608"/>
            <a:ext cx="4007815" cy="10002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시험 이름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HYD는 시나리오 문장을 그대로 시험 이름으로 쓴다.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명세의 칸이 시나리오에 놓이는 자리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명세의 입력은 Given으로, 확인할 행동은 When으로, 출력 계약 · 수용 기준 · 금지 조건은 Then으로 옮겨진다.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spec.md의 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긴급 시나리오에 들어간 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시나리오의 자리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입력 · 유효성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쿨러 경보 요청, TS1 120초 평균 60.4 ℃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신선도와 표본이 유효하다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Given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행동 전의 상태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926994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894990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확인할 행동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894990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에이전트가 요청을 처리한다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894990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When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행동 하나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792016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760012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출력 계약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760012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urgent 항목이 있고 값은 true · false · null 가운데 하나다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760012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Then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항목과 형식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657039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625035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수용 기준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4625035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urgent는 true, 긴급 이유에 판정 값과 기준이 적힌다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4625035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Then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기대하는 값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522061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5490057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금지 조건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5490057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점검 결과는 승인 대기, 확정 · 실행은 0건이다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5490057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Then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일어나지 않을 일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기대 결과를 정하는 두 방법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기대 결과를 구현의 출력에서 베끼면 틀린 구현도 통과하므로, 실행하기 전에 명세와 원자료에서 정한다.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556700"/>
            <a:ext cx="5181447" cy="2869311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2757868"/>
            <a:ext cx="472424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출력을 베낀 기대값 (가정)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3608260"/>
            <a:ext cx="4632807" cy="1269111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77165" indent="-177165">
              <a:lnSpc>
                <a:spcPct val="110000"/>
              </a:lnSpc>
              <a:spcAft>
                <a:spcPts val="6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구현을 돌려 나온 urgent를 기대값으로 적는다</a:t>
            </a:r>
          </a:p>
          <a:p>
            <a:pPr algn="l" eaLnBrk="0" marL="177165" indent="-177165">
              <a:lnSpc>
                <a:spcPct val="110000"/>
              </a:lnSpc>
              <a:spcAft>
                <a:spcPts val="6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구현이 60.0 ℃를 false로 내면 기대값도 false</a:t>
            </a:r>
          </a:p>
          <a:p>
            <a:pPr algn="l" eaLnBrk="0" marL="177165" indent="-177165">
              <a:lnSpc>
                <a:spcPct val="110000"/>
              </a:lnSpc>
              <a:spcAft>
                <a:spcPts val="6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시험은 구현이 한 대로 통과한다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68680" y="4968811"/>
            <a:ext cx="14782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968811"/>
            <a:ext cx="14782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구현을 따라간다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61607" y="2556700"/>
            <a:ext cx="5181447" cy="2869311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35927" y="2757868"/>
            <a:ext cx="472424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명세와 원자료에서 정한 기대값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35927" y="3608260"/>
            <a:ext cx="4632807" cy="1269111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77165" indent="-177165">
              <a:lnSpc>
                <a:spcPct val="110000"/>
              </a:lnSpc>
              <a:spcAft>
                <a:spcPts val="6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명세: 유효한 평균 60 ℃ 이상이면 true</a:t>
            </a:r>
          </a:p>
          <a:p>
            <a:pPr algn="l" eaLnBrk="0" marL="177165" indent="-177165">
              <a:lnSpc>
                <a:spcPct val="110000"/>
              </a:lnSpc>
              <a:spcAft>
                <a:spcPts val="6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원자료: 평균 60.0 ℃ · 신선도와 표본 유효</a:t>
            </a:r>
          </a:p>
          <a:p>
            <a:pPr algn="l" eaLnBrk="0" marL="177165" indent="-177165">
              <a:lnSpc>
                <a:spcPct val="110000"/>
              </a:lnSpc>
              <a:spcAft>
                <a:spcPts val="6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실행 전에 true로 적고 근거를 남긴다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781647" y="4968811"/>
            <a:ext cx="147828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81647" y="4968811"/>
            <a:ext cx="14782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구현을 검사한다</a:t>
            </a:r>
          </a:p>
        </p:txBody>
      </p:sp>
      <p:sp>
        <p:nvSpPr>
          <p:cNvPr id="16" name="Oval 15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정상 · 경계 · 누락 · 회귀의 검증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사례의 종류와 경계값, 모델 출력의 표현 차이와 계약 위반, 바꾼 뒤의 회귀 시험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사례의 종류: 정상 · 경계 · 누락 · 거절 · 오류 · 회귀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시나리오 하나는 한 경우만 확인하므로, 판정이 갈리거나 기존 약속이 걸린 경우마다 시나리오를 따로 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종류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점검 요청의 Given · When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Then (기대)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553865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정상 · 일반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칸이 다 있는 펌프 누설 경보 요청을 처리한다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기존 결과 항목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긴급 조건 미적용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679845"/>
            <a:ext cx="11094415" cy="553865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647841"/>
            <a:ext cx="2514600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정상 · 긴급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647841"/>
            <a:ext cx="6156655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유효한 평균 60.4 ℃ 쿨러 경보 요청을 처리한다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647841"/>
            <a:ext cx="2103120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urgent true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승인 대기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297718"/>
            <a:ext cx="11094415" cy="553865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265714"/>
            <a:ext cx="2514600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경계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265714"/>
            <a:ext cx="6156655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기준 60 ℃의 바로 아래 · 같은 값 · 바로 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265714"/>
            <a:ext cx="2103120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「이상」대로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갈리는가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3915591"/>
            <a:ext cx="11094415" cy="553865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3883587"/>
            <a:ext cx="2514600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정보 누락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3883587"/>
            <a:ext cx="6156655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설비와 사례가 비었고 조회로 정할 수 없다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3883587"/>
            <a:ext cx="2103120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질문 · 보류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지어낸 값 없음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4533464"/>
            <a:ext cx="11094415" cy="553865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4501460"/>
            <a:ext cx="2514600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거절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4501460"/>
            <a:ext cx="6156655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담당자가 사유를 적고 거절한다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4501460"/>
            <a:ext cx="2103120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명령 · 후속 업무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0건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5151337"/>
            <a:ext cx="11094415" cy="553865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5800" y="5119333"/>
            <a:ext cx="2514600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도구 오류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00400" y="5119333"/>
            <a:ext cx="6156655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센서 조회가 오류를 돌려준다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448495" y="5119333"/>
            <a:ext cx="2103120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실패로 기록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urgent null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48640" y="5769210"/>
            <a:ext cx="11094415" cy="553865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85800" y="5737206"/>
            <a:ext cx="2514600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회귀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200400" y="5737206"/>
            <a:ext cx="6156655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변경 뒤 기존 사례를 다시 실행한다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448495" y="5737206"/>
            <a:ext cx="2103120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변경 전과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같은 판정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한 단계 더: 60.0 ℃에서 갈리는 경계값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경계값 분석</a:t>
            </a: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으로 기준 바로 아래 · 같은 값 · 바로 위를 넣어야, 「이상」을 「초과」로 옮긴 실수가 드러난다.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유효한 TS1 120초 평균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명세대로 (&gt;= 60)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&gt; 60으로 옮기면 (가정)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58.2 ℃ · 대표 값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false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false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차이가 보이지 않는다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926994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894990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59.9 ℃ · 바로 아래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894990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false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894990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false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792016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760012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60.0 ℃ · 기준값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760012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true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760012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false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여기서만 갈린다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657039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625035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60.1 ℃ · 바로 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4625035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true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4625035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true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522061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5490057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61.3 ℃ · 대표 값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5490057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true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5490057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true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차이가 보이지 않는다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모델 출력의 표현 차이와 계약 위반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같은 입력을 되풀이해 돌리면 문장과 조회 순서는 달라질 수 있지만, 계약이 정한 항목과 판정이 달라지면 실패다.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367533"/>
            <a:ext cx="5181447" cy="3247644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2568702"/>
            <a:ext cx="472424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허용하는 표현 차이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3419093"/>
            <a:ext cx="4632807" cy="16474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88595" indent="-188595">
              <a:lnSpc>
                <a:spcPct val="110000"/>
              </a:lnSpc>
              <a:spcAft>
                <a:spcPts val="6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긴급 이유를 적은 문장의 낱말과 말투</a:t>
            </a:r>
          </a:p>
          <a:p>
            <a:pPr algn="l" eaLnBrk="0" marL="188595" indent="-188595">
              <a:lnSpc>
                <a:spcPct val="110000"/>
              </a:lnSpc>
              <a:spcAft>
                <a:spcPts val="6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서로 기대지 않는 조회의 차례</a:t>
            </a:r>
          </a:p>
          <a:p>
            <a:pPr algn="l" eaLnBrk="0" marL="188595" indent="-188595">
              <a:lnSpc>
                <a:spcPct val="110000"/>
              </a:lnSpc>
              <a:spcAft>
                <a:spcPts val="6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정한 시간 기준 안의 소요 시간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68680" y="5157978"/>
            <a:ext cx="1523999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5157978"/>
            <a:ext cx="152399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조건 안에서 허용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61607" y="2367533"/>
            <a:ext cx="5181447" cy="3247644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35927" y="2568702"/>
            <a:ext cx="472424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실패로 세는 계약 위반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35927" y="3419093"/>
            <a:ext cx="4632807" cy="16474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88595" indent="-188595">
              <a:lnSpc>
                <a:spcPct val="110000"/>
              </a:lnSpc>
              <a:spcAft>
                <a:spcPts val="6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urgent 항목이 빠지거나 값이 다르다</a:t>
            </a:r>
          </a:p>
          <a:p>
            <a:pPr algn="l" eaLnBrk="0" marL="188595" indent="-188595">
              <a:lnSpc>
                <a:spcPct val="110000"/>
              </a:lnSpc>
              <a:spcAft>
                <a:spcPts val="6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null이어야 할 곳에 false가 있다</a:t>
            </a:r>
          </a:p>
          <a:p>
            <a:pPr algn="l" eaLnBrk="0" marL="188595" indent="-188595">
              <a:lnSpc>
                <a:spcPct val="110000"/>
              </a:lnSpc>
              <a:spcAft>
                <a:spcPts val="6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판정 값과 기준 같은 근거가 빠졌다</a:t>
            </a:r>
          </a:p>
          <a:p>
            <a:pPr algn="l" eaLnBrk="0" marL="188595" indent="-188595">
              <a:lnSpc>
                <a:spcPct val="110000"/>
              </a:lnSpc>
              <a:spcAft>
                <a:spcPts val="6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승인 전에 확정했거나 다른 요청의 답을 썼다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781647" y="5157978"/>
            <a:ext cx="172212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81647" y="5157978"/>
            <a:ext cx="172212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한 번만 나와도 실패</a:t>
            </a:r>
          </a:p>
        </p:txBody>
      </p:sp>
      <p:sp>
        <p:nvSpPr>
          <p:cNvPr id="16" name="Oval 15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회귀 시험: 바꾼 뒤 기존 사례까지 다시 실행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회귀 시험</a:t>
            </a: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(Regression Test)은 바꾼 뒤 기존 시나리오를 다시 돌려, 새 기능이 기존 행동을 바꾸지 않았는지 확인한다.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753614"/>
            <a:ext cx="2485567" cy="2475483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1792" y="2936494"/>
            <a:ext cx="2339263" cy="2219451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변경 전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일반 · 누락 · 거절 · 오류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시나리오가 통과한 상태</a:t>
            </a:r>
          </a:p>
        </p:txBody>
      </p:sp>
      <p:sp>
        <p:nvSpPr>
          <p:cNvPr id="8" name="Right Arrow 7"/>
          <p:cNvSpPr/>
          <p:nvPr/>
        </p:nvSpPr>
        <p:spPr>
          <a:xfrm>
            <a:off x="3098215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418255" y="2753614"/>
            <a:ext cx="2485567" cy="2475483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91407" y="2936494"/>
            <a:ext cx="2339263" cy="2219451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요구 변경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명세에 긴급 조건을 더하고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긴급 · 경계 시나리오를 더한다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5967831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287871" y="2753614"/>
            <a:ext cx="2485567" cy="2475483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61023" y="2936494"/>
            <a:ext cx="2339263" cy="2219451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구현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명세를 기준으로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필요한 부분만 고친다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8837447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9157487" y="2753614"/>
            <a:ext cx="2485567" cy="2475483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30639" y="2936494"/>
            <a:ext cx="2339263" cy="2219451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전체를 다시 실행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새 시나리오와 기존 시나리오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하나라도 실패하면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원인부터 찾는다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점검 요청 한 건으로 되짚는 결정과 검증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같은 점검 요청에서 나오는 물음마다 답이 놓인 자리가 달라서, 헷갈리는 짝을 가르는 것이 오늘의 핵심이다.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물음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답이 놓인 자리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헷갈리기 쉬운 짝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 요청을 지금 확정해도 되나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칸이 다 있고 서로 맞으며 값이 유효한가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질문 · 보류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vs 짐작해 채우기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926994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894990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답에 「승인한 걸로」가 섞였다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894990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업무 정보만 받고 승인은 승인 단계에서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894990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정보 답변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vs 승인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792016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760012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urgent가 null이다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760012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값 없음 · 신선도 · 표본의 보류 사유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760012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미판정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vs 긴급 아님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657039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625035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기대값을 구현의 출력에서 옮겨 적었다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4625035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실행 전에 명세와 원자료에서 정한 값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4625035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출력 따라가기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vs 구현 검사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522061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5490057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새 시나리오가 모두 통과했다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5490057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기존 시나리오의 회귀 결과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5490057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새 기능 확인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vs 기존 기능 확인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오늘 다룬 핵심 개념과 주요 용어 정리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사람의 결정, 명세, 행동 검증에서 풀어 쓴 용어의 정식 명칭과 뜻을 한곳에 모은다.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용어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844265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정식 명칭 · 풀이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061972"/>
            <a:ext cx="11094415" cy="476631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2029968"/>
            <a:ext cx="2514600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HITL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0" y="2029968"/>
            <a:ext cx="8351215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Human-in-the-Loop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자동 처리의 정해진 지점에 사람의 확인과 결정을 넣는 방식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2602611"/>
            <a:ext cx="11094415" cy="476631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2570607"/>
            <a:ext cx="2514600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명세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0" y="2570607"/>
            <a:ext cx="8351215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Specification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구현 전에 목표 · 입력 · 출력 계약 · 금지 조건 · 수용 기준을 정해 둔 문서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3143250"/>
            <a:ext cx="11094415" cy="476631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3111246"/>
            <a:ext cx="2514600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계약 · 깨는 변경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00400" y="3111246"/>
            <a:ext cx="8351215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Contract · Breaking Change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주고받는 항목의 이름 · 형식 · 뜻의 약속과, 그 셋 가운데 하나를 바꿔 읽는 쪽을 깨는 변경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683888"/>
            <a:ext cx="11094415" cy="476631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651885"/>
            <a:ext cx="2514600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신선도 · 표본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651885"/>
            <a:ext cx="8351215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Freshness · Coverage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값이 판단 시점에서 얼마나 묵었는지와, 구간을 채울 만큼 값이 들어왔는지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4224528"/>
            <a:ext cx="11094415" cy="476631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" y="4192524"/>
            <a:ext cx="2514600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수용 기준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00400" y="4192524"/>
            <a:ext cx="8351215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Acceptance Criteria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실행 결과로 참 · 거짓을 가를 수 있게 적은 완료 조건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4765167"/>
            <a:ext cx="11094415" cy="476631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5800" y="4733163"/>
            <a:ext cx="2514600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Gherkin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200400" y="4733163"/>
            <a:ext cx="8351215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Given · When · Then 서식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Feature 아래 Scenario를 전제 · 행동 · 기대 결과로 나눠 적는 서식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8640" y="5305806"/>
            <a:ext cx="11094415" cy="476631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5800" y="5273802"/>
            <a:ext cx="2514600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경계값 분석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0" y="5273802"/>
            <a:ext cx="8351215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Boundary Value Analysis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판정이 갈리는 기준값의 바로 아래 · 같은 값 · 바로 위를 입력으로 고르는 방법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5846445"/>
            <a:ext cx="11094415" cy="476631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5800" y="5814441"/>
            <a:ext cx="2514600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회귀 시험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00400" y="5814441"/>
            <a:ext cx="8351215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Regression Test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바꾼 뒤 기존 시나리오를 다시 실행해 행동이 그대로인지 확인하는 시험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10911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Review Quiz: 핵심 흐름 되짚어보기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160520"/>
            <a:ext cx="10911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배운 내용을 바탕으로 정답을 맞혀 보세요.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1. null로 나온 긴급 확인 표시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쿨러 경보 요청의 유온 평균은 60.8 ℃였지만, 구간 안 값의 공백이 수집 한도를 넘어 urgent가 null로 나왔다.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704088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27632"/>
            <a:ext cx="10637215" cy="7040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 결과의 해석과 처리로 맞는 것은?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5603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31520" y="27889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7889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5146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긴급이 아니라는 뜻이니 일반 요청과 같이 처리한다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4747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31520" y="37033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37033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4290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평균이 60 ℃를 넘었으니 true로 고쳐 저장한다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3891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31520" y="46177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46177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" y="43434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미판정으로 두고 보류 사유를 남겨 값을 다시 확인하게 한다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53035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31520" y="55321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55321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4440" y="52578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판정할 수 없으니 요청을 거절로 닫는다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2. 세 번 돌린 같은 긴급 요청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유효한 평균 60.4 ℃의 쿨러 요청을 세 번 돌리니, 긴급 이유 문장은 매번 달랐고 한 번은 urgent가 false였다.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704088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27632"/>
            <a:ext cx="10637215" cy="7040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 결과의 판정으로 맞는 것은?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5603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31520" y="27889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7889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5146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판정이 한 번 달랐으니 계약 위반으로 보고 실패로 센다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4747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31520" y="37033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37033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4290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세 번 가운데 두 번 맞았으니 통과로 본다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3891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31520" y="46177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46177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" y="43434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문장이 매번 달랐으니 세 번 모두 실패로 센다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53035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31520" y="55321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55321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4440" y="52578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모델 출력은 원래 달라지니 판정 차이도 허용한다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3. 거절 뒤에 생긴 작업지시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긴급 조건을 넣은 뒤 새 시나리오는 모두 통과했지만, 기존 거절 시나리오에서 거절 뒤 작업지시가 1건 생겼다.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704088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27632"/>
            <a:ext cx="10637215" cy="7040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맞는 조치는?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5603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31520" y="27889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7889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5146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거절 시나리오의 기대값을 작업지시 1건으로 고친다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4747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31520" y="37033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37033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4290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거절은 이번 변경과 상관없으니 시험 목록에서 뺀다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3891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31520" y="46177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46177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" y="43434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새 기능이 모두 통과했으니 변경을 내보낸다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53035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31520" y="55321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55321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4440" y="52578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기대값은 그대로 두고 바뀐 구현에서 원인을 찾아 고친 뒤 전체를 다시 실행한다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정답과 판단 기준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세 문항은 미판정과 긴급 아님, 표현 차이와 계약 위반, 새 기능의 통과와 기존 기능의 회귀를 가르는지 확인한다.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418587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418587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문항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2418587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판단 기준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2418587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정답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8529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8209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8209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null은 판단할 값이 없다는 기록이다. 긴급 아님도 긴급도 아니어서, 사유를 남기고 값을 다시 확인한다.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8209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3번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7673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7353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7353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문장의 낱말 · 말투는 허용하는 표현 차이다. urgent 값이 다르면 계약 위반이라 한 번만 나와도 실패다.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37353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1번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6817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6497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6497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기대값은 명세에서 온다. 거절하면 후속 업무가 없다는 약속은 그대로라, 구현을 고치고 전체를 다시 실행한다.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46497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4번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