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셋(흐름 · 역할 · 지연)</a:t>
            </a:r>
          </a:p>
          <a:p>
            <a:r>
              <a:t>· 지난 회차까지 검증한 점검 요청 기능은 업무 전체의 한 칸 → 오늘은 추천안이 승인 · 명령 · 재관측 · 보고로 끝나는 흐름을 그린다</a:t>
            </a:r>
          </a:p>
          <a:p>
            <a:r>
              <a:t>· 네 교시: 이론 50분 → 기본 승인 흐름에서 설비 대응으로 → 승인 · 거절 · 지연 경로 → 등록된 실행 연결과 비교</a:t>
            </a:r>
          </a:p>
          <a:p>
            <a:r>
              <a:t>· 이론은 온라인 6회차 교재의 장에서 오늘 실습에 쓰는 것만</a:t>
            </a:r>
          </a:p>
          <a:p>
            <a:r>
              <a:t>[다음] 학습목표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넷째 카드 강조</a:t>
            </a:r>
          </a:p>
          <a:p>
            <a:r>
              <a:t>· 1 업무와 BPMN: 처리 건 기록에 남은 단계로 추천안 뒤의 일을 보고, 그 순서를 누구나 같은 뜻으로 읽게</a:t>
            </a:r>
          </a:p>
          <a:p>
            <a:r>
              <a:t>· 2 도형과 갈림: 그림 파일의 선 이름 「승인」과 실행 정의의 조건 값은 다르다 → 2교시</a:t>
            </a:r>
          </a:p>
          <a:p>
            <a:r>
              <a:t>· 3 레인과 타이머: 승인 작업을 취소하지 않는 알림 → 3교시</a:t>
            </a:r>
          </a:p>
          <a:p>
            <a:r>
              <a:t>· 4 실행 연결: 사람 · 서비스 · 에이전트 작업에서 엔진이 기다리는 것, COMPLETED가 같아도 결말은 다르다 → 4교시</a:t>
            </a:r>
          </a:p>
          <a:p>
            <a:r>
              <a:t>[다음] 목차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네 줄 위에서 아래로</a:t>
            </a:r>
          </a:p>
          <a:p>
            <a:r>
              <a:t>· 01 처리 건에 남은 단계, 프로세스 · 처리 건 · 오케스트레이션, 문장과 그림, 긴급 대응 한 장</a:t>
            </a:r>
          </a:p>
          <a:p>
            <a:r>
              <a:t>· 02 도형의 자리, 작업마다 붙는 실행 기능, 선 이름과 연결 값</a:t>
            </a:r>
          </a:p>
          <a:p>
            <a:r>
              <a:t>· 03 풀 · 레인 · 메시지 흐름, 경계 타이머, 승인 작업의 타이머와 역할</a:t>
            </a:r>
          </a:p>
          <a:p>
            <a:r>
              <a:t>· 04 엔진과 정의 · 처리 건, 작업 종류별로 기다리는 것, 토큰, COMPLETED가 같은 두 처리 건</a:t>
            </a:r>
          </a:p>
          <a:p>
            <a:r>
              <a:t>[다음] 추천안 뒤의 업무와 BPMN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추천안이 제출된 뒤 처리 건에는 무엇이 더 남았나</a:t>
            </a:r>
          </a:p>
          <a:p>
            <a:r>
              <a:t>· 처리 건의 단계 기록 → 프로세스 · 처리 건 · 오케스트레이션 → 문장과 그림 → 긴급 대응 한 장</a:t>
            </a:r>
          </a:p>
          <a:p>
            <a:r>
              <a:t>[다음] 쿨러 사건 처리 건에 남은 단계 기록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일곱 줄 위에서 아래(일어난 순서) → 가운데(맡은 쪽 · 기록) → 강조한 셋째 줄</a:t>
            </a:r>
          </a:p>
          <a:p>
            <a:r>
              <a:t>· 경보 ALT-hyd01-0014-e0a1 · 11:13:08 → 처리 건 하나가 열림</a:t>
            </a:r>
          </a:p>
          <a:p>
            <a:r>
              <a:t>· 냉각 긴급 대응 에이전트: 판단 DEC-1010-002-408b, 팬 최대 운전 추천(앞 회차까지)</a:t>
            </a:r>
          </a:p>
          <a:p>
            <a:r>
              <a:t>· 셋째 줄부터 이번 회차: 운전원 승인 11:14:56 → 냉각 명령(SCADA → PLC, CMD-1010-0001-b94a · 인터록 PASS)</a:t>
            </a:r>
          </a:p>
          <a:p>
            <a:r>
              <a:t>· 재관측 61.4 → 51.5 ℃ · 경보 해제 → 작업지시 WO-1010-C058 → 결과 보고 정상</a:t>
            </a:r>
          </a:p>
          <a:p>
            <a:r>
              <a:t>· 맡은 쪽이 단계마다 다르다, 추천안 제출 순간엔 앞 두 줄만 끝남</a:t>
            </a:r>
          </a:p>
          <a:p>
            <a:r>
              <a:t>[다음] 비즈니스 프로세스 · 처리 건 · 오케스트레이션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풀이 세 줄 위에서 아래로 → 오른쪽 영어 이름</a:t>
            </a:r>
          </a:p>
          <a:p>
            <a:r>
              <a:t>· 비즈니스 프로세스(Business Process): 원하는 결과를 내려고 작업과 흐름을 정한 묶음, 시작 사건과 끝난 조건이 있음</a:t>
            </a:r>
          </a:p>
          <a:p>
            <a:r>
              <a:t>· 예: 쿨러 경보로 시작해 결과 보고로 끝나는 긴급 대응 프로세스</a:t>
            </a:r>
          </a:p>
          <a:p>
            <a:r>
              <a:t>· 처리 건: 경보 한 건에 프로세스가 한 번 수행되는 단위, 틀과 건을 나눠 건마다 진행을 본다</a:t>
            </a:r>
          </a:p>
          <a:p>
            <a:r>
              <a:t>· 오케스트레이션(Orchestration): 중앙의 조정자가 순서와 호출을 이끄는 방식</a:t>
            </a:r>
          </a:p>
          <a:p>
            <a:r>
              <a:t>· 에이전트 · 사람 · 시스템은 자기 작업만, 다음 차례는 조정자가 연다</a:t>
            </a:r>
          </a:p>
          <a:p>
            <a:r>
              <a:t>[다음] 문장으로 적은 절차와 BPMN으로 그린 절차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칸(문장) → 강조한 오른쪽 칸(BPMN) → 세 줄이 같은 물음에 대응</a:t>
            </a:r>
          </a:p>
          <a:p>
            <a:r>
              <a:t>· 문장: 「승인하면 … 아니면 … 거절하면」이 흩어져 갈래를 세려면 다시 읽음</a:t>
            </a:r>
          </a:p>
          <a:p>
            <a:r>
              <a:t>· 문장: 재관측 · 보고를 누가 하는지 빠지기 쉽고, 알림 뒤에도 기다리는지 사람마다 다르게 읽음</a:t>
            </a:r>
          </a:p>
          <a:p>
            <a:r>
              <a:t>· BPMN: 갈림은 마름모, 끝은 굵은 원으로 셀 수 있음, 작업은 맡는 쪽 레인에, 기다림은 타이머의 선 모양</a:t>
            </a:r>
          </a:p>
          <a:p>
            <a:r>
              <a:t>· BPMN(Business Process Model and Notation): 도형과 선의 뜻을 정한 표기 표준, OMG 관리, BPMN 2.0은 국제 표준</a:t>
            </a:r>
          </a:p>
          <a:p>
            <a:r>
              <a:t>· 현업과 구현하는 쪽이 같은 그림으로 같은 흐름을 확인</a:t>
            </a:r>
          </a:p>
          <a:p>
            <a:r>
              <a:t>· 그렸다고 곧바로 실행되지는 않는다(뒤의 연결 값에서)</a:t>
            </a:r>
          </a:p>
          <a:p>
            <a:r>
              <a:t>[다음] 한 장으로 그린 긴급 대응 프로세스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차례대로: 세 칸 → 봉투 원 → 표식 없는 상자 → 사람 표식 상자 → 마름모 → 점선 시계 · 굵은 원 셋</a:t>
            </a:r>
          </a:p>
          <a:p>
            <a:r>
              <a:t>· 칸: 위에서부터 담당자 · 에이전트 · 시스템</a:t>
            </a:r>
          </a:p>
          <a:p>
            <a:r>
              <a:t>· 시작: 가운데 칸의 봉투 원 「쿨러 과열 경보」 → 원인 진단 · 냉각 조치 제안</a:t>
            </a:r>
          </a:p>
          <a:p>
            <a:r>
              <a:t>· 위 칸 운전원 승인(사람 표식) → 마름모 승인? → 승인이면 아래 칸 냉각 명령 · 재관측</a:t>
            </a:r>
          </a:p>
          <a:p>
            <a:r>
              <a:t>· 마름모를 거치지 않고 명령에 닿는 선이 없다</a:t>
            </a:r>
          </a:p>
          <a:p>
            <a:r>
              <a:t>· 점선 시계 = 승인 지연 타이머, 굵은 원 셋 = 끝 · 거절 종결 · 알림</a:t>
            </a:r>
          </a:p>
          <a:p>
            <a:r>
              <a:t>· 갈림 둘 · 끝 셋이 한눈에</a:t>
            </a:r>
          </a:p>
          <a:p>
            <a:r>
              <a:t>[다음] 도형 · 실행 기능 · 갈림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그림에 「승인」이라고 적은 선은 실행 때 무엇으로 갈리나</a:t>
            </a:r>
          </a:p>
          <a:p>
            <a:r>
              <a:t>· 2교시에 bpmn.io로 기본 승인 흐름을 그리고 설비 대응으로 넓힌다</a:t>
            </a:r>
          </a:p>
          <a:p>
            <a:r>
              <a:t>[다음] 도형의 종류와 긴급 대응 프로세스에서의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일곱 줄 → 가운데(모양과 뜻) → 오른쪽(긴급 대응의 자리) → 강조한 여섯째 줄</a:t>
            </a:r>
          </a:p>
          <a:p>
            <a:r>
              <a:t>· 이벤트(원): 메시지 시작 이벤트(가는 원 + 봉투), 끝 이벤트(굵은 원, 갈래마다 자기 끝)</a:t>
            </a:r>
          </a:p>
          <a:p>
            <a:r>
              <a:t>· 작업(둥근 사각형): 표식이 수행자, 사용자 작업(사람 표식) = 운전원 승인, 서비스 작업(톱니) = 명령 · 재관측 · 작업지시 · 보고</a:t>
            </a:r>
          </a:p>
          <a:p>
            <a:r>
              <a:t>· 표식 없는 작업: 수행자는 실행 연결 때 정함, BPMN엔 에이전트 작업 요소가 없어 진단 · 제안을 이 모양으로</a:t>
            </a:r>
          </a:p>
          <a:p>
            <a:r>
              <a:t>· 배타 게이트웨이(가위표 마름모): 조건이 참인 한 갈래로만(승인? · 유온 정상?)</a:t>
            </a:r>
          </a:p>
          <a:p>
            <a:r>
              <a:t>· 시퀀스 흐름: 같은 풀 안의 순서를 잇는 실선 화살표</a:t>
            </a:r>
          </a:p>
          <a:p>
            <a:r>
              <a:t>[다음] 응용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 → 가운데(연결되는 실행 기능) → 오른쪽(그림에 없는 것) → 강조한 셋째 줄</a:t>
            </a:r>
          </a:p>
          <a:p>
            <a:r>
              <a:t>· 시작: 경보 패턴 COOLER_DEGRADATION(그림엔 이름만)</a:t>
            </a:r>
          </a:p>
          <a:p>
            <a:r>
              <a:t>· 진단 · 제안: task:decide + 냉각 긴급 대응 에이전트 → 표식 없는 작업이 에이전트 단계가 됨</a:t>
            </a:r>
          </a:p>
          <a:p>
            <a:r>
              <a:t>· 운전원 승인: task:select-or-reject + 운전원 역할 → 권한은 칸 이름이 아니라 이 연결이 정함</a:t>
            </a:r>
          </a:p>
          <a:p>
            <a:r>
              <a:t>· 명령 · 재관측: task:command · task:reobserve, 작업지시: task:work-order, 결과 보고 넷: svc:report</a:t>
            </a:r>
          </a:p>
          <a:p>
            <a:r>
              <a:t>· 같은 그림도 작업마다 실행 기능과 맡을 쪽이 연결돼야 움직인다</a:t>
            </a:r>
          </a:p>
          <a:p>
            <a:r>
              <a:t>· 실습에서 내 작업마다 대응 실행 기능을 표시하는 일이 이것</a:t>
            </a:r>
          </a:p>
          <a:p>
            <a:r>
              <a:t>[다음] 선 이름과 갈림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위(그림 파일의 선 둘) → 아래(연결 값의 flows) → 오른쪽 항목 셋</a:t>
            </a:r>
          </a:p>
          <a:p>
            <a:r>
              <a:t>· name="승인"은 그림에 보이는 표시일 뿐, 실행 조건이 아니다</a:t>
            </a:r>
          </a:p>
          <a:p>
            <a:r>
              <a:t>· 연결 값: F_approved = approval == '승인'(승인 작업이 낸 값을 견주는 식)</a:t>
            </a:r>
          </a:p>
          <a:p>
            <a:r>
              <a:t>· 같은 값이면 언제나 같은 갈래, 왜 그 길인지 기록으로 설명 가능, 모델에게 해석을 맡기지 않음</a:t>
            </a:r>
          </a:p>
          <a:p>
            <a:r>
              <a:t>· F_rejected = default, 기본 흐름(Default Flow): 어느 조건도 참이 아닐 때 가는 선</a:t>
            </a:r>
          </a:p>
          <a:p>
            <a:r>
              <a:t>· 유온 정상?도 같은 꼴: F_yes = recovered == true, F_no = default</a:t>
            </a:r>
          </a:p>
          <a:p>
            <a:r>
              <a:t>· 선 이름 붙이기와 실행 정의에 조건 넣기는 별개</a:t>
            </a:r>
          </a:p>
          <a:p>
            <a:r>
              <a:t>[다음] 레인과 경계 타이머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운전원이 10분 동안 답하지 않으면 승인 작업은 사라지나</a:t>
            </a:r>
          </a:p>
          <a:p>
            <a:r>
              <a:t>· 3교시에 승인 · 거절 경로를 잇고 승인 작업을 취소하지 않는 지연 알림을 더한다</a:t>
            </a:r>
          </a:p>
          <a:p>
            <a:r>
              <a:t>[다음] 풀 · 레인 · 메시지 흐름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풀이 세 줄 → 강조한 둘째 줄(레인) → 오른쪽 영어 이름</a:t>
            </a:r>
          </a:p>
          <a:p>
            <a:r>
              <a:t>· 풀(Pool): 참여자 하나의 영역, 긴급 대응은 풀 하나 「냉각 긴급 대응」</a:t>
            </a:r>
          </a:p>
          <a:p>
            <a:r>
              <a:t>· 레인(Lane): 풀 안에서 활동을 나누는 칸, 담당자 · 에이전트 · 시스템 셋</a:t>
            </a:r>
          </a:p>
          <a:p>
            <a:r>
              <a:t>· 그림만 봐도 판단 · 결정 · 실행 칸이 보이고 명령 앞에 승인이 놓인 게 보인다</a:t>
            </a:r>
          </a:p>
          <a:p>
            <a:r>
              <a:t>· 레인 기준은 그리는 사람이 정함, 상자를 옮긴다고 권한이 바뀌지 않는다</a:t>
            </a:r>
          </a:p>
          <a:p>
            <a:r>
              <a:t>· 메시지 흐름(Message Flow): 다른 풀 사이의 점선 화살표(예: 공급사에 발주서), 같은 풀 안 실선과 구별</a:t>
            </a:r>
          </a:p>
          <a:p>
            <a:r>
              <a:t>· 긴급 대응 · 실습은 풀 하나에 레인으로</a:t>
            </a:r>
          </a:p>
          <a:p>
            <a:r>
              <a:t>[다음] 중단형과 비중단형 경계 타이머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중단형 → 강조한 오른쪽 비중단형 → 꼬리표</a:t>
            </a:r>
          </a:p>
          <a:p>
            <a:r>
              <a:t>· 경계 이벤트(Boundary Event): 작업 테두리에 붙어 작업이 진행 중일 때만 살아 있음, 제때 끝나면 함께 거둬짐</a:t>
            </a:r>
          </a:p>
          <a:p>
            <a:r>
              <a:t>· 타이머의 테두리 모양이 기한 뒤의 일을 정한다</a:t>
            </a:r>
          </a:p>
          <a:p>
            <a:r>
              <a:t>· 중단형(실선 겹테두리): 작업을 끊고 다른 갈래, 원래 들어 있던 다른 설비 이상 대응 흐름의 선택 시간 초과 → 상급자 호출 = 결정을 넘김</a:t>
            </a:r>
          </a:p>
          <a:p>
            <a:r>
              <a:t>· 비중단형(점선 겹테두리): 작업은 두고 갈래를 하나 더, 수업 흐름 승인 지연 PT10M → 알림, 같은 사람을 계속 기다림</a:t>
            </a:r>
          </a:p>
          <a:p>
            <a:r>
              <a:t>· 두 흐름은 옛 판 · 새 판이 아니라 서로 다른 설계, 선택이 선 하나의 모양으로 드러남</a:t>
            </a:r>
          </a:p>
          <a:p>
            <a:r>
              <a:t>[다음] 승인 작업의 타이머와 역할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위(그림 파일) → 아래(연결 값) → 오른쪽 항목 넷</a:t>
            </a:r>
          </a:p>
          <a:p>
            <a:r>
              <a:t>· attachedToRef: 타이머가 운전원 승인 작업에 붙어 있다</a:t>
            </a:r>
          </a:p>
          <a:p>
            <a:r>
              <a:t>· cancelActivity="false": 비중단형, 알림 뒤에도 승인 작업이 열려 있다</a:t>
            </a:r>
          </a:p>
          <a:p>
            <a:r>
              <a:t>· 그림의 timerEventDefinition은 기한이 비어 있음</a:t>
            </a:r>
          </a:p>
          <a:p>
            <a:r>
              <a:t>· PT10M: 기간을 적는 국제 표준 꼴, 10분, 연결 값의 timers에 있다</a:t>
            </a:r>
          </a:p>
          <a:p>
            <a:r>
              <a:t>· role: 승인할 역할 운전원, 담당자 칸에 그린 것만으로 정해지지 않음</a:t>
            </a:r>
          </a:p>
          <a:p>
            <a:r>
              <a:t>· 그림 = 구조(붙어서 끊지 않는다), 연결 값 = 기한과 승인 역할, 「10분 뒤 알림」은 연결 값까지 봐야 말한다</a:t>
            </a:r>
          </a:p>
          <a:p>
            <a:r>
              <a:t>[다음] 그림에서 실행으로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승인을 기다리는 처리 건과 거절로 닫힌 처리 건은 기록에서 어떻게 다르게 보이나</a:t>
            </a:r>
          </a:p>
          <a:p>
            <a:r>
              <a:t>· 4교시에 내 그림의 작업마다 대응하는 실행 기능을 표시한다</a:t>
            </a:r>
          </a:p>
          <a:p>
            <a:r>
              <a:t>[다음] 프로세스 엔진 · 프로세스 정의 · 프로세스 인스턴스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풀이 세 줄 → 강조한 첫 줄(엔진) → 오른쪽 영어 이름</a:t>
            </a:r>
          </a:p>
          <a:p>
            <a:r>
              <a:t>· 프로세스 엔진(Process Engine): 정의를 읽어 그대로 실행하는 소프트웨어, 오케스트레이션의 조정자 자리</a:t>
            </a:r>
          </a:p>
          <a:p>
            <a:r>
              <a:t>· 처리 기록 표에서 「프로세스」라고 적혀 재관측 · 결과 보고를 맡던 쪽이 엔진</a:t>
            </a:r>
          </a:p>
          <a:p>
            <a:r>
              <a:t>· 프로세스 정의(Process Definition): 요소 · 선 · 조건 · 역할을 담은 설계도 = 그림 + 실행 연결, 긴급 대응은 c3_cooling</a:t>
            </a:r>
          </a:p>
          <a:p>
            <a:r>
              <a:t>· 프로세스 인스턴스(Process Instance): 정의에 따라 수행되는 한 건 = HYD의 처리 건, 경보마다 하나</a:t>
            </a:r>
          </a:p>
          <a:p>
            <a:r>
              <a:t>· 엔진은 정의 하나로 경보마다 인스턴스를 열고 앞 작업이 끝나면 다음 작업을 연다</a:t>
            </a:r>
          </a:p>
          <a:p>
            <a:r>
              <a:t>[다음] User · Service · Agent 작업에서 엔진이 기다리는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줄(작업 종류) → 가운데(엔진이 기다리는 것) → 오른쪽(끝나지 않으면) → 강조한 셋째 줄</a:t>
            </a:r>
          </a:p>
          <a:p>
            <a:r>
              <a:t>· 사용자 작업(운전원 승인): 담당 역할의 승인 · 거절, 승인 전달이 성공해야 다음으로, 응답 없으면 승인 대기</a:t>
            </a:r>
          </a:p>
          <a:p>
            <a:r>
              <a:t>· 서비스 작업(명령 · 재관측 · 작업지시): 엔진이 부른 시스템의 처리 결과, 실패를 성공으로 넘기지 않음</a:t>
            </a:r>
          </a:p>
          <a:p>
            <a:r>
              <a:t>· 에이전트 단계: 지정한 에이전트의 결과 제출과 검사를 기다림</a:t>
            </a:r>
          </a:p>
          <a:p>
            <a:r>
              <a:t>· 에이전트는 다음 작업을 직접 열지 않는다, 제출 전에는 승인 작업이 없다</a:t>
            </a:r>
          </a:p>
          <a:p>
            <a:r>
              <a:t>· 사람이든 시스템이든 에이전트든 다음 작업을 여는 쪽은 엔진</a:t>
            </a:r>
          </a:p>
          <a:p>
            <a:r>
              <a:t>[다음] 토큰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위(status · current_activity_ids) → 단계 목록 → 오른쪽 항목 셋</a:t>
            </a:r>
          </a:p>
          <a:p>
            <a:r>
              <a:t>· 토큰(Token): 흐름의 현재 위치 표식, 시작에서 생겨 선을 따라 옮겨 가고 끝에서 사라짐</a:t>
            </a:r>
          </a:p>
          <a:p>
            <a:r>
              <a:t>· BPMN의 표준 개념, 화면에선 「지금 열린 단계」, 언어 모델의 토큰과 다른 말</a:t>
            </a:r>
          </a:p>
          <a:p>
            <a:r>
              <a:t>· bede0d2e…: RUNNING, 열린 단계 T_approve 하나 = 토큰이 머문 곳</a:t>
            </a:r>
          </a:p>
          <a:p>
            <a:r>
              <a:t>· T_agent DONE · T_approve IN_PROGRESS · T_cmd TODO(아직 안 닿음)</a:t>
            </a:r>
          </a:p>
          <a:p>
            <a:r>
              <a:t>· B_overdue · T_notice DONE: 비중단형 타이머가 연 둘째 토큰은 알림을 마치고 사라짐, 첫 토큰은 승인에</a:t>
            </a:r>
          </a:p>
          <a:p>
            <a:r>
              <a:t>· 오류도 멈춤도 아닌 정상 대기, 대기가 길면 담당자가 받았는지 따로</a:t>
            </a:r>
          </a:p>
          <a:p>
            <a:r>
              <a:t>[다음] COMPLETED가 같은 두 처리 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열(승인) vs 오른쪽 열(거절) → 다섯 줄 → 강조한 넷째 줄</a:t>
            </a:r>
          </a:p>
          <a:p>
            <a:r>
              <a:t>· 처리 건 상태: 둘 다 COMPLETED → 실행이 끝났다는 것만 알려 줌</a:t>
            </a:r>
          </a:p>
          <a:p>
            <a:r>
              <a:t>· 끝 이벤트: E_end vs E_rejected, 결과 보고: 정상 vs 거절(기록 값은 반려)</a:t>
            </a:r>
          </a:p>
          <a:p>
            <a:r>
              <a:t>· 냉각 명령 단계: DONE · 명령 1건 vs CANCELLED(선택 안 된 갈래) · 명령 없음</a:t>
            </a:r>
          </a:p>
          <a:p>
            <a:r>
              <a:t>· 회복 미달이어도 끝 이벤트는 E_end 그대로, 결과 보고만 미달</a:t>
            </a:r>
          </a:p>
          <a:p>
            <a:r>
              <a:t>· COMPLETED만 보고 성공이라 하지 않는다 → 끝 이벤트 · 결과 보고 · 단계 상태를 함께</a:t>
            </a:r>
          </a:p>
          <a:p>
            <a:r>
              <a:t>[다음] 오늘의 실습과 남길 결과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교시 → 실습 → 남길 결과, 강조한 4교시</a:t>
            </a:r>
          </a:p>
          <a:p>
            <a:r>
              <a:t>· 2교시: bpmn.io에서 시작 → 요청 확인 → 승인 또는 반려 → 종료, 이어 쿨러 경보 → 원인 분석 · 조치 제안 → 운전원 승인 → 설비 명령 → 효과 확인 → 보고로 넓히고 역할별 레인에</a:t>
            </a:r>
          </a:p>
          <a:p>
            <a:r>
              <a:t>· 3교시: 승인 · 거절 분기와 각 끝 경로, 거절 경로가 설비 명령으로 가지 않는지, 승인 작업을 취소하지 않는 지연 알림 타이머</a:t>
            </a:r>
          </a:p>
          <a:p>
            <a:r>
              <a:t>· 4교시: 내 그림을 포털에 등록된 기준 흐름과 비교(여기서 기준 흐름 = 강사가 배포해 둔 수업 흐름 「냉각 긴급 대응」과 그 제공 매핑). 시작 이벤트 · 에이전트 · 운전원 승인 · 설비 명령 · 재관측의 연결을 찾아 내 작업마다 표시</a:t>
            </a:r>
          </a:p>
          <a:p>
            <a:r>
              <a:t>· 진행은 실습마다 핸즈온 가이드를 따른다. 다음 회차에 등록된 흐름의 실행 이력을 대조하고 교대 인수인계 흐름을 구성한다</a:t>
            </a:r>
          </a:p>
          <a:p>
            <a:r>
              <a:t>[다음] 실습으로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실전반 오프라인 7회차 · 설비 대응 프로세스를 설계하고 연결하기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BPMN 역할 · 분기 · 지연과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실행 연결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작업 순서 · 승인 역할 · 실행 연결을 가르고, 같은 BPMN을 그림과 실행 관점에서 읽는다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route" descr="route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users" descr="users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lock" descr="clock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 뒤의 업무를 BPMN으로 읽고 갈림 · 레인 · 타이머를 짚은 뒤, 그림이 실행에 이어지는 길을 가린다.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57272"/>
            <a:ext cx="2567863" cy="28681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75844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oute" descr="rout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91205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581400"/>
            <a:ext cx="2238679" cy="1341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업무와 BPMN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 뒤에 남은 단계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문장과 그림의 차이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99567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99567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557272"/>
            <a:ext cx="2567863" cy="28681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75844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git-branch" descr="git-branc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912059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581400"/>
            <a:ext cx="2238679" cy="1341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도형과 갈림</a:t>
            </a:r>
          </a:p>
          <a:p>
            <a:pPr algn="l" eaLnBrk="0" marL="148590" indent="-14859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작업마다 붙는 실행 기능</a:t>
            </a:r>
          </a:p>
          <a:p>
            <a:pPr algn="l" eaLnBrk="0" marL="148590" indent="-14859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선 이름과 조건 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499567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499567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557272"/>
            <a:ext cx="2567863" cy="28681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75844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users" descr="users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912059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581400"/>
            <a:ext cx="2238679" cy="1341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레인과 타이머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맡는 쪽을 칸으로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중단형과 비중단형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499567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499567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역할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557272"/>
            <a:ext cx="2567863" cy="28681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75844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clock" descr="clo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912059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581400"/>
            <a:ext cx="2238679" cy="1341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연결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엔진이 작업을 연다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거절과 대기를 가른다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499567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499567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317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23317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 뒤의 업무와 BPMN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5511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5511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054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063239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3063239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도형 · 실행 기능 · 갈림 조건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32826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32826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78561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7947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7947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레인과 경계 타이머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40142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40142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517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5262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5262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그림에서 실행으로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745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7457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 뒤의 업무와 BPMN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기록에 남은 단계로 업무 전체를 보고, 그 순서를 같은 뜻으로 읽는 그림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 처리 건에 남은 단계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추천안이 제출된 뒤에도 승인 · 명령 · 재관측 · 작업지시 · 보고가 서로 다른 담당의 기록으로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맡은 쪽 · 남은 기록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끝났을 때 생긴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· 처리 건 열림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감지 서비스 → 프로세스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ALT-hyd01-0014-e0a1 · 11:13:08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하나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79845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647841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 · 냉각 조치 제안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647841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긴급 대응 에이전트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DEC-1010-002-408b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647841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(팬 최대 운전)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297718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265714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265714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 역할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11:14:56 승인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265714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실행해도 된다는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사람의 결정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915591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883587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883587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SCADA → PLC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CMD-1010-0001-b94a · 인터록 PASS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3883587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 100 %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533464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501460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501460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프로세스(시스템)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61.4 → 51.5 ℃ · 경보 해제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501460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회복 판정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151337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119333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119333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CMMS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WO-1010-C058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119333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핀 세척 작업 배정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769210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737206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5737206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프로세스(시스템)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정상 · 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48495" y="5737206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종료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비즈니스 프로세스 · 처리 건 · 오케스트레이션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틀인 프로세스, 한 번의 수행인 처리 건, 순서를 쥔 방식을 나눠야 경보마다 같은 약속으로 업무가 진행된다.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비즈니스 프로세스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Business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원하는 결과를 내기 위해 관련된 작업과 흐름을 정한 묶음이다.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시작 사건과 끝났다고 보는 조건이 있다. 예: 긴급 대응 프로세스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번의 수행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한 건에 대해 프로세스가 실제로 한 번 수행되는 단위이다.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사건은 긴급 대응 프로세스의 처리 건 하나였다.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오케스트레이션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Orchestration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중앙의 조정자가 작업의 순서와 호출을 이끄는 방식이다.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 · 사람 · 시스템은 자기 작업만 하고, 다음 차례는 조정자가 연다.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문장으로 적은 절차와 BPMN으로 그린 절차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BPMN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(Business Process Model and Notation)은 도형과 선의 뜻을 정한 표기 표준이라, 문장에 묻힌 갈림이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364041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문장으로 적으면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「승인하면 … 아니면 … 거절하면」이 흩어진다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재관측과 보고를 누가 하는지 빠지기 쉽다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알림 뒤에도 기다리는지 사람마다 달리 읽는다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6263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6263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달리 읽힌다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364041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BPMN으로 그리면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갈림은 마름모, 끝은 굵은 원으로 센다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작업은 맡는 쪽의 레인에 놓인다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기다림은 작업에 붙은 타이머의 선 모양으로 정해진다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62638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62638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뜻으로 읽힌다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장으로 그린 긴급 대응 프로세스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대응 프로세스는 풀 하나 · 레인 셋 위에 갈림 둘과 끝 셋으로 그려져, 승인 없이는 명령에 닿지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pic>
        <p:nvPicPr>
          <p:cNvPr id="6" name="Picture 5" descr="illust_7537907364372304017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403348"/>
            <a:ext cx="7223760" cy="3130296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82496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8249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27632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위에서부터 담당자 · 에이전트 · 시스템 레인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2852928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529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2798064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봉투 원 → 표식 없는 상자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과열 경보 → 원인 진단 · 냉각 조치 제안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023359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023359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3968496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 표식 상자 → 마름모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 승인 → 승인?, 승인이면 아래 칸의 냉각 명령으로</a:t>
            </a:r>
          </a:p>
        </p:txBody>
      </p:sp>
      <p:sp>
        <p:nvSpPr>
          <p:cNvPr id="16" name="Oval 15"/>
          <p:cNvSpPr/>
          <p:nvPr/>
        </p:nvSpPr>
        <p:spPr>
          <a:xfrm>
            <a:off x="8138160" y="5193792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519379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5138928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점선 시계 · 굵은 원 셋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지연 알림 갈래, 그리고 끝 · 거절 종결 · 알림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도형 · 실행 기능 · 갈림 조건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도형의 자리와 작업마다 붙는 실행 기능, 그림의 선 이름과 실행의 조건 값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도형의 종류와 긴급 대응 프로세스에서의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원은 사건, 둥근 사각형은 작업, 마름모는 갈림이고, 작업의 표식이 사람 · 시스템 · 연결 때 정할 쪽을 가른다.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모양과 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긴급 대응에서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메시지 시작 이벤트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가는 원 안의 봉투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메시지를 받으면 흐름을 연다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과열 경보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79845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647841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끝 이벤트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647841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굵은 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도착한 갈래를 닫는다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647841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끝 · 거절 종결 · 알림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297718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265714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작업(Task)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265714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표식 없는 둥근 사각형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수행자는 실행 연결 때 정한다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265714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진단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조치 제안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915591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883587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사용자 작업(User Task)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883587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 표식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수행한다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3883587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533464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501460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서비스 작업(Service Task)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501460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톱니 표식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시스템이 수행한다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501460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명령 · 재관측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작업지시 · 결과 보고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151337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119333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배타 게이트웨이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119333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가위표 마름모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조건이 참인 한 갈래로만 보낸다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119333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승인? · 유온 정상?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769210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737206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시퀀스 흐름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5737206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실선 화살표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풀 안의 순서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48495" y="5737206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경보에서 끝까지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잇는 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그림의 작업마다 붙는 실행 기능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그림이라도 작업마다 실행 기능과 맡을 쪽을 연결해야 에이전트 · 운전원 · 시스템이 실제로 움직인다.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그림의 요소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연결되는 실행 기능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그림에 없는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과열 경보(시작)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패턴 COOLER_DEGRADATION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어떤 경보가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흐름을 여는지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 · 냉각 조치 제안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task:decide · 냉각 긴급 대응 에이전트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어느 에이전트에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무엇을 맡기는지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task:select-or-reject · 운전원 역할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누가 승인할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권한이 있는지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 · 재관측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task:command · task:reobserve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 명령과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회복 판정의 실행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task:work-order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CMMS에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남길 작업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 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svc:report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 값과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보고 문장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선 이름과 갈림 조건: 그림 파일과 연결 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그림 파일의 선 이름 「승인」은 표시일 뿐이고, 어느 갈래로 갈지는 연결 값의 조건과 기본 흐름이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36749"/>
            <a:ext cx="6766560" cy="3109213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573909"/>
            <a:ext cx="6400800" cy="28348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파일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(.bpmn)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선의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끝점만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&lt;sequenceFlow id="F_approved" name="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/&gt;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&lt;sequenceFlow id="F_rejected" name="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/&gt;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연결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(mapping.json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flows)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갈림의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F_approved   approval ==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F_rejected   default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흐름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F_yes        recovered == true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F_no         default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흐름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436749"/>
            <a:ext cx="4007815" cy="10364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name="승인"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그림에 보이는 선 이름이다. 실행 조건이 아니다.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73153"/>
            <a:ext cx="4007815" cy="10364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approval == '승인'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 승인 작업이 낸 값으로 갈래를 고르는 조건이다.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09558"/>
            <a:ext cx="4007815" cy="10364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기본 흐름(Default Flow)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어느 조건도 참이 아닐 때 가는 선이다.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레인과 경계 타이머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맡는 쪽을 칸으로, 응답이 늦을 때를 작업 테두리의 타이머로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풀 · 레인 · 메시지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풀은 참여자, 레인은 그 안의 책임 칸이고, 다른 참여자와 주고받는 일만 점선의 메시지 흐름으로 그린다.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참여자 하나의 영역이다.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 대응은 풀 하나 「냉각 긴급 대응」으로 그린다.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33329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레인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풀 안에서 활동을 나누는 칸이다.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흐름은 담당자 · 에이전트 · 시스템의 세 칸으로 책임을 나눈다.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메시지 흐름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Message Flow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서로 다른 풀 사이를 오가는 점선 화살표이다.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풀이 하나인 긴급 대응에는 없다.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중단형과 비중단형 경계 타이머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경계 이벤트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(Boundary Event)는 작업에 붙은 사건이라, 타이머의 테두리 모양이 기한 뒤 작업을 끊을지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67533"/>
            <a:ext cx="5181447" cy="3247644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568702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중단형(Interrupting)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419093"/>
            <a:ext cx="4632807" cy="16474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실선 겹테두리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기한이 지나면 작업을 끊고 다른 갈래로 간다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원래 있던 다른 대응 흐름의 선택 시간 초과 → 상급자 호출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157978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157978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결정을 넘긴다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367533"/>
            <a:ext cx="5181447" cy="3247644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568702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비중단형(Non-interrupting)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419093"/>
            <a:ext cx="4632807" cy="16474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점선 겹테두리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작업은 그대로 두고 갈래를 하나 더 연다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수업 흐름의 승인 지연 PT10M → 알림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157978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157978"/>
            <a:ext cx="18288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사람을 기다린다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작업의 타이머와 역할: 그림과 연결 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그림은 타이머가 승인 작업에 붙어 끊지 않는다는 구조를 담고, 10분 기한과 승인 역할은 연결 값이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90852"/>
            <a:ext cx="6766560" cy="400100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28012"/>
            <a:ext cx="6400800" cy="3726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파일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(.bpmn)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&lt;userTask id="T_approve" name="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"&gt;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&lt;boundaryEvent id="B_overdue" name="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attachedToRef="T_approve" cancelActivity="false"&gt;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&lt;timerEventDefinition /&gt;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기한이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비어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연결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(mapping.json)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"timers":    { "B_overdue": "PT10M" 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"T_approve": { "part": "task:select-or-reject",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"role":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990852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attachedToRef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타이머가 운전원 승인 작업에 붙어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91104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cancelActivity="false"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비중단형이다. 알림 뒤에도 승인 작업이 열려 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PT10M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기간 표기로 10분이다. 기한은 연결 값에 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91608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role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승인할 역할이다. 레인 이름만으로 정해지지 않는다.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그림에서 실행으로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엔진이 작업을 여는 법, 작업 종류마다 기다리는 것, 승인 대기와 거절 종결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 · 프로세스 정의 · 프로세스 인스턴스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프로세스 엔진은 정의 하나를 읽어 경보마다 인스턴스를 열고, 그 인스턴스의 다음 작업을 차례로 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Process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정의를 읽어 그대로 실행하는 소프트웨어이다.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오케스트레이션의 조정자 자리를 맡는다.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정의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Process Definition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요소 · 선 · 조건 · 역할을 담은 설계도이다.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 대응의 정의 id는 c3_cooling이다.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인스턴스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Process Instance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정의에 따라 실제로 수행되는 한 건, HYD의 처리 건이다.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한 건마다 하나씩 열린다.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User · Service · Agent 작업에서 엔진이 기다리는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엔진은 작업 종류마다 사람의 결정 · 시스템의 결과 · 에이전트의 제출을 기다리고, 다음 작업은 엔진이 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작업 종류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엔진이 기다리는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끝나지 않으면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사용자 작업 · 운전원 승인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 역할의 승인이나 거절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전달이 성공해야 다음으로 간다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대기로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머문다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서비스 작업 · 냉각 명령 · 재관측 · 작업지시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엔진이 부른 시스템의 처리 결과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실패를 성공으로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넘기지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단계 · 원인 진단 · 제안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지정한 에이전트의 결과 제출과 검사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에이전트는 다음 작업을 열지 않는다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제출 전에는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 작업이 없다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토큰: 승인 대기 중인 처리 건의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토큰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(Token)은 흐름의 현재 위치를 나타내는 표식이라, 열린 단계를 보면 처리 건이 누구를 기다리는지 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53665"/>
            <a:ext cx="6766560" cy="2675382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790825"/>
            <a:ext cx="6400800" cy="240106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bede0d2e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정의에서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열린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status                RUNNING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current_activity_ids  ["T_approve"]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T_agent     DONE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T_approve   IN_PROGRESS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운전원의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결정을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기다린다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B_overdue   DONE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기한이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알림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갈래가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열렸다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T_notice    DONE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T_cmd       TODO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닿지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않았다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653665"/>
            <a:ext cx="4007815" cy="89179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current_activity_ids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지금 열린 단계, 곧 토큰이 머문 곳이다.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545459"/>
            <a:ext cx="4007815" cy="89179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IN_PROGRESS · DONE · TODO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진행 중 · 끝남 · 아직 닿지 않음이다.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437253"/>
            <a:ext cx="4007815" cy="89179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알림 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둘째 토큰은 알림을 마쳤고 승인 대기는 남았다.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COMPLETED가 같은 두 처리 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상태 COMPLETED는 실행이 끝났다는 뜻일 뿐이라, 결말은 끝 이벤트 · 결과 보고 · 단계 상태로 가린다.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읽는 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승인된 처리 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거절된 처리 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 상태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COMPLETED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닿은 끝 이벤트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E_end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E_rejected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(기록의 값은 반려)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 단계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DONE · 설비 명령 1건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CANCELLED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설비 명령 없음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회복 미달이었다면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끝 이벤트는 E_end 그대로, 결과 보고만 미달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해당 없음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오늘의 실습과 남길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이론 뒤 세 교시는 설비 대응 흐름을 그리고, 세 경로를 완성한 뒤, 등록된 실행 연결과 비교한다.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남길 결과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2교시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기본 승인 흐름에서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대응 흐름 만들기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레인에 배치한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대응 흐름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3교시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· 거절 · 지연 경로 완성하기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거절의 끝과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취소하지 않는 알림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4교시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BPMN과 등록된 실행 연결 비교하기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작업별 실행 기능 표시,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그림과 실행 정의 구분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