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제목 → 부제 → 아이콘 셋(흐름 · 역할 · 지연)</a:t>
            </a:r>
          </a:p>
          <a:p>
            <a:r>
              <a:t>· 앞서 검증한 점검 요청 기능은 업무 전체의 한 칸 → 오늘은 추천안이 승인 · 명령 · 재관측 · 보고로 끝나는 흐름을 그린다</a:t>
            </a:r>
          </a:p>
          <a:p>
            <a:r>
              <a:t>· 오늘의 흐름: 이론 → 기본 승인 흐름에서 설비 대응으로 → 승인 · 거절 · 지연 경로 → 등록된 실행 연결과 비교</a:t>
            </a:r>
          </a:p>
          <a:p>
            <a:r>
              <a:t>[다음] 학습목표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카드 넷 왼쪽부터 → 넷째 카드 강조</a:t>
            </a:r>
          </a:p>
          <a:p>
            <a:r>
              <a:t>· 1 업무와 BPMN: 처리 건 기록에 남은 단계로 추천안 뒤의 일을 보고, 업무가 끝나는 자리(End-to-End)와 그 순서를 누구나 같은 뜻으로 읽게</a:t>
            </a:r>
          </a:p>
          <a:p>
            <a:r>
              <a:t>· 2 도형과 갈림: 경보가 처리 건을 여는 시작, 그림 파일의 선 이름 「승인」과 실행 정의의 조건 값은 다르다</a:t>
            </a:r>
          </a:p>
          <a:p>
            <a:r>
              <a:t>· 3 레인과 타이머: 승인 작업을 취소하지 않는 알림, 실행 정의로 가져올 때 걸리는 그림</a:t>
            </a:r>
          </a:p>
          <a:p>
            <a:r>
              <a:t>· 4 실행 연결: 사람 · 서비스 · 에이전트 작업에서 엔진이 기다리는 것, 승인 권한을 지키는 검사, COMPLETED가 같아도 결말은 다르다</a:t>
            </a:r>
          </a:p>
          <a:p>
            <a:r>
              <a:t>[다음] 목차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단원 네 줄 위에서 아래로</a:t>
            </a:r>
          </a:p>
          <a:p>
            <a:r>
              <a:t>· 01 처리 건에 남은 단계, Task와 End-to-End, 프로세스 · 처리 건 · 오케스트레이션, 단계와 흐름의 책임, 문장과 그림, 긴급 대응 한 장</a:t>
            </a:r>
          </a:p>
          <a:p>
            <a:r>
              <a:t>· 02 도형의 자리, 경보가 처리 건을 여는 모습, 작업마다 붙는 실행 기능, 선 이름과 연결 값, 기본 흐름이 빠진 갈림</a:t>
            </a:r>
          </a:p>
          <a:p>
            <a:r>
              <a:t>· 03 풀 · 레인 · 메시지 흐름, 경계 타이머, 승인 작업의 타이머와 역할, 실행 정의로 가져올 때 걸리는 그림</a:t>
            </a:r>
          </a:p>
          <a:p>
            <a:r>
              <a:t>· 04 엔진과 정의 · 처리 건, 작업 종류별로 기다리는 것, 토큰과 프로세스 변수, 누구 차례인지, COMPLETED가 같은 두 처리 건, 승인 권한 검사</a:t>
            </a:r>
          </a:p>
          <a:p>
            <a:r>
              <a:t>[다음] 추천안 뒤의 업무와 BPMN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단원 번호 → 부제</a:t>
            </a:r>
          </a:p>
          <a:p>
            <a:r>
              <a:t>· 물음: 추천안이 제출된 뒤 처리 건에는 무엇이 더 남았나</a:t>
            </a:r>
          </a:p>
          <a:p>
            <a:r>
              <a:t>· 처리 건의 단계 기록 → 업무가 끝나는 자리 → 프로세스 · 처리 건 · 오케스트레이션 → 단계와 흐름의 책임 → 문장과 그림 → 긴급 대응 한 장</a:t>
            </a:r>
          </a:p>
          <a:p>
            <a:r>
              <a:t>[다음] 쿨러 사건 처리 건에 남은 단계 기록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일곱 줄 위에서 아래(일어난 순서) → 가운데(맡은 쪽 · 기록) → 강조한 셋째 줄</a:t>
            </a:r>
          </a:p>
          <a:p>
            <a:r>
              <a:t>· 경보 ALT-hyd01-0014-e0a1 · 11:13:08 → 처리 건 하나가 열림</a:t>
            </a:r>
          </a:p>
          <a:p>
            <a:r>
              <a:t>· 냉각 긴급 대응 에이전트: 판단 DEC-1010-002-408b, 팬 최대 운전 추천(에이전트가 맡은 부분)</a:t>
            </a:r>
          </a:p>
          <a:p>
            <a:r>
              <a:t>· 셋째 줄부터 승인 뒤 흐름: 운전원 승인 11:14:56 → 냉각 명령(SCADA → PLC, CMD-1010-0001-b94a · 인터록 PASS)</a:t>
            </a:r>
          </a:p>
          <a:p>
            <a:r>
              <a:t>· 재관측 61.4 → 51.5 ℃ · 경보 해제 → 작업지시 WO-1010-C058 → 결과 보고 정상</a:t>
            </a:r>
          </a:p>
          <a:p>
            <a:r>
              <a:t>· 맡은 쪽이 단계마다 다르다, 추천안 제출 순간엔 앞 두 줄만 끝남</a:t>
            </a:r>
          </a:p>
          <a:p>
            <a:r>
              <a:t>[다음] Task와 End-to-End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Task → 강조한 오른쪽 End-to-End → 오른쪽 넷째 줄(경계)</a:t>
            </a:r>
          </a:p>
          <a:p>
            <a:r>
              <a:t>· Task: 프로세스 안의 작업 하나(원인 진단 · 냉각 조치 제안)</a:t>
            </a:r>
          </a:p>
          <a:p>
            <a:r>
              <a:t>· Task가 끝나면 추천안뿐, 설비 명령 없음, 그런데 처리 건 시간의 절반 남짓</a:t>
            </a:r>
          </a:p>
          <a:p>
            <a:r>
              <a:t>· End-to-End(종단 간): 시작 사건에서 최종 결과까지, 끝나면 명령 처리 · 유온 회복 · 작업지시</a:t>
            </a:r>
          </a:p>
          <a:p>
            <a:r>
              <a:t>· 업무 완료는 Task가 아니라 End-to-End의 끝에서 판단</a:t>
            </a:r>
          </a:p>
          <a:p>
            <a:r>
              <a:t>· 경계: 이 처리 건은 작업지시 등록까지, 세척 완료는 밖</a:t>
            </a:r>
          </a:p>
          <a:p>
            <a:r>
              <a:t>· 개선을 견줄 때도 같은 경계로 → 작업 하나가 빨라진 걸 업무 전체로 착각하지 않게</a:t>
            </a:r>
          </a:p>
          <a:p>
            <a:r>
              <a:t>[다음] 비즈니스 프로세스 · 처리 건 · 오케스트레이션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풀이 세 줄 위에서 아래로 → 오른쪽 영어 이름</a:t>
            </a:r>
          </a:p>
          <a:p>
            <a:r>
              <a:t>· 비즈니스 프로세스(Business Process): 원하는 결과를 내려고 작업과 흐름을 정한 묶음, 시작 사건과 끝난 조건이 있음</a:t>
            </a:r>
          </a:p>
          <a:p>
            <a:r>
              <a:t>· 예: 쿨러 경보로 시작해 결과 보고로 끝나는 긴급 대응 프로세스</a:t>
            </a:r>
          </a:p>
          <a:p>
            <a:r>
              <a:t>· 처리 건: 경보 한 건에 프로세스가 한 번 수행되는 단위, 틀과 건을 나눠 건마다 진행을 본다</a:t>
            </a:r>
          </a:p>
          <a:p>
            <a:r>
              <a:t>· 오케스트레이션(Orchestration): 중앙의 조정자가 순서와 호출을 이끄는 방식</a:t>
            </a:r>
          </a:p>
          <a:p>
            <a:r>
              <a:t>· 에이전트 · 사람 · 시스템은 자기 작업만, 다음 차례는 조정자가 연다</a:t>
            </a:r>
          </a:p>
          <a:p>
            <a:r>
              <a:t>[다음] 단계 하나의 판단과 흐름 전체의 책임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다섯 물음 → 가운데(에이전트) vs 오른쪽(흐름을 이끄는 쪽) → 강조한 마지막 줄</a:t>
            </a:r>
          </a:p>
          <a:p>
            <a:r>
              <a:t>· 원인과 조치: 에이전트는 추천안, 흐름 쪽은 승인 작업에 넘김</a:t>
            </a:r>
          </a:p>
          <a:p>
            <a:r>
              <a:t>· 같은 입력: 에이전트는 과정 · 표현 · 시간이 달라질 수 있음, 흐름의 순서와 조건은 매번 같음</a:t>
            </a:r>
          </a:p>
          <a:p>
            <a:r>
              <a:t>· 승인 전 명령: 에이전트의 쓰기는 판단 제출 하나, 명령 작업은 승인 뒤에만 흐름 쪽이 연다</a:t>
            </a:r>
          </a:p>
          <a:p>
            <a:r>
              <a:t>· 응답 지연: 흐름 쪽이 기한 뒤 알림, 승인은 계속 기다림</a:t>
            </a:r>
          </a:p>
          <a:p>
            <a:r>
              <a:t>· 어디까지 왔나: 처리 건 하나에 단계 · 결과 · 끝이 한 곳에</a:t>
            </a:r>
          </a:p>
          <a:p>
            <a:r>
              <a:t>· 판단이 좋아도 차례 · 금지 · 기다림 · 기록의 책임은 에이전트에 몰지 않는다</a:t>
            </a:r>
          </a:p>
          <a:p>
            <a:r>
              <a:t>[다음] 판단 문제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상황(팬 최대 운전이 늘 1순위 → 승인 없이 바로 명령) → 보기 넷 → 20초</a:t>
            </a:r>
          </a:p>
          <a:p>
            <a:r>
              <a:t>· 정답 3: 승인은 설비를 움직일 권한의 자리라 유지, 지연은 알림 · 담당 배정으로</a:t>
            </a:r>
          </a:p>
          <a:p>
            <a:r>
              <a:t>· 점수가 높다는 것은 그 결정을 대신할 근거가 아니다</a:t>
            </a:r>
          </a:p>
          <a:p>
            <a:r>
              <a:t>· 이 시스템은 승인 없이 명령에 닿는 흐름을 등록 단계에서 거절</a:t>
            </a:r>
          </a:p>
          <a:p>
            <a:r>
              <a:t>· 2: 시간으로 사람의 결정을 없앰 = 1과 같은 결과, 4: 판단하는 쪽에 실행 권한까지</a:t>
            </a:r>
          </a:p>
          <a:p>
            <a:r>
              <a:t>· 문제가 승인 지연이라면 고칠 곳은 알림과 담당</a:t>
            </a:r>
          </a:p>
          <a:p>
            <a:r>
              <a:t>[다음] 문장으로 적은 절차와 BPMN으로 그린 절차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칸(문장) → 강조한 오른쪽 칸(BPMN) → 세 줄이 같은 물음에 대응</a:t>
            </a:r>
          </a:p>
          <a:p>
            <a:r>
              <a:t>· 문장: 「승인하면 … 아니면 … 거절하면」이 흩어져 갈래를 세려면 다시 읽음</a:t>
            </a:r>
          </a:p>
          <a:p>
            <a:r>
              <a:t>· 문장: 재관측 · 보고를 누가 하는지 빠지기 쉽고, 알림 뒤에도 기다리는지 사람마다 다르게 읽음</a:t>
            </a:r>
          </a:p>
          <a:p>
            <a:r>
              <a:t>· BPMN: 갈림은 마름모, 끝은 굵은 원으로 셀 수 있음, 작업은 맡는 쪽 레인에, 기다림은 타이머의 선 모양</a:t>
            </a:r>
          </a:p>
          <a:p>
            <a:r>
              <a:t>· BPMN(Business Process Model and Notation): 도형과 선의 뜻을 정한 표기 표준, OMG 관리, BPMN 2.0은 국제 표준</a:t>
            </a:r>
          </a:p>
          <a:p>
            <a:r>
              <a:t>· 현업과 구현하는 쪽이 같은 그림으로 같은 흐름을 확인</a:t>
            </a:r>
          </a:p>
          <a:p>
            <a:r>
              <a:t>· 그렸다고 곧바로 실행되지는 않는다(뒤의 연결 값에서)</a:t>
            </a:r>
          </a:p>
          <a:p>
            <a:r>
              <a:t>[다음] 한 장으로 그린 긴급 대응 프로세스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오른쪽 차례대로: 세 칸 → 봉투 원 → 표식 없는 상자 → 사람 표식 상자 → 마름모 → 점선 시계 · 굵은 원 셋</a:t>
            </a:r>
          </a:p>
          <a:p>
            <a:r>
              <a:t>· 칸: 위에서부터 담당자 · 에이전트 · 시스템</a:t>
            </a:r>
          </a:p>
          <a:p>
            <a:r>
              <a:t>· 시작: 가운데 칸의 봉투 원 「쿨러 과열 경보」 → 원인 진단 · 냉각 조치 제안</a:t>
            </a:r>
          </a:p>
          <a:p>
            <a:r>
              <a:t>· 위 칸 운전원 승인(사람 표식) → 마름모 승인? → 승인이면 아래 칸 냉각 명령 · 재관측</a:t>
            </a:r>
          </a:p>
          <a:p>
            <a:r>
              <a:t>· 마름모를 거치지 않고 명령에 닿는 선이 없다</a:t>
            </a:r>
          </a:p>
          <a:p>
            <a:r>
              <a:t>· 점선 시계 = 승인 지연 타이머, 굵은 원 셋 = 끝 · 거절 종결 · 알림</a:t>
            </a:r>
          </a:p>
          <a:p>
            <a:r>
              <a:t>· 갈림 둘 · 끝 셋이 한눈에</a:t>
            </a:r>
          </a:p>
          <a:p>
            <a:r>
              <a:t>[다음] 도형 · 실행 기능 · 갈림 조건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단원 번호 → 부제</a:t>
            </a:r>
          </a:p>
          <a:p>
            <a:r>
              <a:t>· 물음: 그림에 「승인」이라고 적은 선은 실행 때 무엇으로 갈리나</a:t>
            </a:r>
          </a:p>
          <a:p>
            <a:r>
              <a:t>· 도형의 자리 → 경보가 처리 건을 여는 모습 → 작업마다 붙는 실행 기능 → 선 이름과 연결 값 → 기본 흐름이 빠진 갈림</a:t>
            </a:r>
          </a:p>
          <a:p>
            <a:r>
              <a:t>[다음] 도형의 종류와 긴급 대응 프로세스에서의 자리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일곱 줄 → 가운데(모양과 뜻) → 오른쪽(긴급 대응의 자리) → 강조한 여섯째 줄</a:t>
            </a:r>
          </a:p>
          <a:p>
            <a:r>
              <a:t>· 이벤트(원): 메시지 시작 이벤트(가는 원 + 봉투), 끝 이벤트(굵은 원, 갈래마다 자기 끝)</a:t>
            </a:r>
          </a:p>
          <a:p>
            <a:r>
              <a:t>· 작업(둥근 사각형): 표식이 수행자, 사용자 작업(사람 표식) = 운전원 승인, 서비스 작업(톱니) = 명령 · 재관측 · 작업지시 · 보고</a:t>
            </a:r>
          </a:p>
          <a:p>
            <a:r>
              <a:t>· 표식 없는 작업: 수행자는 실행 연결 때 정함, BPMN엔 에이전트 작업 요소가 없어 진단 · 제안을 이 모양으로</a:t>
            </a:r>
          </a:p>
          <a:p>
            <a:r>
              <a:t>· 배타 게이트웨이(가위표 마름모): 조건이 참인 한 갈래로만(승인? · 유온 정상?)</a:t>
            </a:r>
          </a:p>
          <a:p>
            <a:r>
              <a:t>· 시퀀스 흐름: 같은 풀 안의 순서를 잇는 실선 화살표</a:t>
            </a:r>
          </a:p>
          <a:p>
            <a:r>
              <a:t>[다음] 경보 한 건이 처리 건을 여는 모습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코드 위(경보) → 화살표(메시지 시작 이벤트) → 처리 건 → 입력 → 마지막 줄</a:t>
            </a:r>
          </a:p>
          <a:p>
            <a:r>
              <a:t>· 경보 ALT-hyd01-0014-e0a1, pattern COOLER_DEGRADATION, asset HYD-01</a:t>
            </a:r>
          </a:p>
          <a:p>
            <a:r>
              <a:t>· 메시지 시작 이벤트 「쿨러 과열 경보」에 도착 → 처리 건 c3_cooling.4f93a9d0… 11:13:08(경보와 같은 시각)</a:t>
            </a:r>
          </a:p>
          <a:p>
            <a:r>
              <a:t>· pattern = 이 프로세스를 여는 열쇠, 사람이 버튼을 누르지 않는다</a:t>
            </a:r>
          </a:p>
          <a:p>
            <a:r>
              <a:t>· 입력: asset · alert · alert_id · pattern · incident, 경보 메시지 전체가 실림 → 같은 출발점</a:t>
            </a:r>
          </a:p>
          <a:p>
            <a:r>
              <a:t>· 출발점의 기록일 뿐, 나중에 다시 읽는 현재값과 같은 시점은 아님</a:t>
            </a:r>
          </a:p>
          <a:p>
            <a:r>
              <a:t>· 중복 방지: 같은 정의 + 같은 경보 id면 새로 열지 않음(메시지는 두 번 올 수 있다)</a:t>
            </a:r>
          </a:p>
          <a:p>
            <a:r>
              <a:t>[다음] 응용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여섯 줄 → 가운데(연결되는 실행 기능) → 오른쪽(그림에 없는 것) → 강조한 셋째 줄</a:t>
            </a:r>
          </a:p>
          <a:p>
            <a:r>
              <a:t>· 시작: 경보 패턴 COOLER_DEGRADATION(그림엔 이름만)</a:t>
            </a:r>
          </a:p>
          <a:p>
            <a:r>
              <a:t>· 진단 · 제안: task:decide + 냉각 긴급 대응 에이전트 → 표식 없는 작업이 에이전트 단계가 됨</a:t>
            </a:r>
          </a:p>
          <a:p>
            <a:r>
              <a:t>· 운전원 승인: task:select-or-reject + 운전원 역할 → 권한은 칸 이름이 아니라 이 연결이 정함</a:t>
            </a:r>
          </a:p>
          <a:p>
            <a:r>
              <a:t>· 명령 · 재관측: task:command · task:reobserve, 작업지시: task:work-order, 결과 보고 넷: svc:report</a:t>
            </a:r>
          </a:p>
          <a:p>
            <a:r>
              <a:t>· 같은 그림도 작업마다 실행 기능과 맡을 쪽이 연결돼야 움직인다</a:t>
            </a:r>
          </a:p>
          <a:p>
            <a:r>
              <a:t>[다음] 선 이름과 갈림 조건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코드 위(그림 파일의 선 둘) → 아래(연결 값의 flows) → 오른쪽 항목 셋</a:t>
            </a:r>
          </a:p>
          <a:p>
            <a:r>
              <a:t>· name="승인"은 그림에 보이는 표시일 뿐, 실행 조건이 아니다</a:t>
            </a:r>
          </a:p>
          <a:p>
            <a:r>
              <a:t>· 연결 값: F_approved = approval == '승인'(승인 작업이 낸 값을 견주는 식)</a:t>
            </a:r>
          </a:p>
          <a:p>
            <a:r>
              <a:t>· 같은 값이면 언제나 같은 갈래, 왜 그 길인지 기록으로 설명 가능, 모델에게 해석을 맡기지 않음</a:t>
            </a:r>
          </a:p>
          <a:p>
            <a:r>
              <a:t>· F_rejected = default, 기본 흐름(Default Flow): 어느 조건도 참이 아닐 때 가는 선</a:t>
            </a:r>
          </a:p>
          <a:p>
            <a:r>
              <a:t>· 유온 정상?도 같은 꼴: F_yes = recovered == true, F_no = default</a:t>
            </a:r>
          </a:p>
          <a:p>
            <a:r>
              <a:t>· 선 이름 붙이기와 실행 정의에 조건 넣기는 별개</a:t>
            </a:r>
          </a:p>
          <a:p>
            <a:r>
              <a:t>[다음] 판단 문제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상황(「예」 선에만 조건, 「아니오」 선엔 조건 · 기본 흐름 표시 없음) → 보기 넷 → 20초</a:t>
            </a:r>
          </a:p>
          <a:p>
            <a:r>
              <a:t>· 정답 2: 맞는 선이 없어 그 자리에서 못 넘어가고 사유가 기록된다</a:t>
            </a:r>
          </a:p>
          <a:p>
            <a:r>
              <a:t>· 회복 거짓 → 「예」 조건 불일치, 「아니오」는 조건도 기본 흐름도 없음 → 갈 선이 없음</a:t>
            </a:r>
          </a:p>
          <a:p>
            <a:r>
              <a:t>· 1: 엔진은 선 이름을 읽어 주지 않음, 3: 조건이 거짓인 선으로 가지 않음</a:t>
            </a:r>
          </a:p>
          <a:p>
            <a:r>
              <a:t>· 4: 거절 종결은 승인? 게이트웨이의 갈래라 무관</a:t>
            </a:r>
          </a:p>
          <a:p>
            <a:r>
              <a:t>· 배타 게이트웨이는 나가는 선마다 조건을 주거나 하나를 기본 흐름으로, 등록 전 검사에서 먼저 걸림</a:t>
            </a:r>
          </a:p>
          <a:p>
            <a:r>
              <a:t>[다음] 레인과 경계 타이머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단원 번호 → 부제</a:t>
            </a:r>
          </a:p>
          <a:p>
            <a:r>
              <a:t>· 물음: 운전원이 10분 동안 답하지 않으면 승인 작업은 사라지나</a:t>
            </a:r>
          </a:p>
          <a:p>
            <a:r>
              <a:t>· 풀 · 레인 · 메시지 흐름 → 경계 타이머 두 가지 → 승인 작업의 타이머와 역할 → 실행 정의로 가져올 때 걸리는 그림 → 결정을 넘기라는 요구</a:t>
            </a:r>
          </a:p>
          <a:p>
            <a:r>
              <a:t>[다음] 풀 · 레인 · 메시지 흐름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풀이 세 줄 → 강조한 둘째 줄(레인) → 오른쪽 영어 이름</a:t>
            </a:r>
          </a:p>
          <a:p>
            <a:r>
              <a:t>· 풀(Pool): 참여자 하나의 영역, 긴급 대응은 풀 하나 「냉각 긴급 대응」</a:t>
            </a:r>
          </a:p>
          <a:p>
            <a:r>
              <a:t>· 레인(Lane): 풀 안에서 활동을 나누는 칸, 담당자 · 에이전트 · 시스템 셋</a:t>
            </a:r>
          </a:p>
          <a:p>
            <a:r>
              <a:t>· 그림만 봐도 판단 · 결정 · 실행 칸이 보이고 명령 앞에 승인이 놓인 게 보인다</a:t>
            </a:r>
          </a:p>
          <a:p>
            <a:r>
              <a:t>· 레인 기준은 그리는 사람이 정함, 상자를 옮긴다고 권한이 바뀌지 않는다</a:t>
            </a:r>
          </a:p>
          <a:p>
            <a:r>
              <a:t>· 메시지 흐름(Message Flow): 다른 풀 사이의 점선 화살표(예: 공급사에 발주서), 같은 풀 안 실선과 구별</a:t>
            </a:r>
          </a:p>
          <a:p>
            <a:r>
              <a:t>· 긴급 대응은 풀 하나에 레인으로</a:t>
            </a:r>
          </a:p>
          <a:p>
            <a:r>
              <a:t>[다음] 중단형과 비중단형 경계 타이머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중단형 → 강조한 오른쪽 비중단형 → 꼬리표</a:t>
            </a:r>
          </a:p>
          <a:p>
            <a:r>
              <a:t>· 경계 이벤트(Boundary Event): 작업 테두리에 붙어 작업이 진행 중일 때만 살아 있음, 제때 끝나면 함께 거둬짐</a:t>
            </a:r>
          </a:p>
          <a:p>
            <a:r>
              <a:t>· 타이머의 테두리 모양이 기한 뒤의 일을 정한다</a:t>
            </a:r>
          </a:p>
          <a:p>
            <a:r>
              <a:t>· 중단형(실선 겹테두리): 작업을 끊고 다른 갈래, 원래 들어 있던 다른 설비 이상 대응 흐름의 선택 시간 초과 → 상급자 호출 = 결정을 넘김</a:t>
            </a:r>
          </a:p>
          <a:p>
            <a:r>
              <a:t>· 비중단형(점선 겹테두리): 작업은 두고 갈래를 하나 더, 수업 흐름 승인 지연 PT10M → 알림, 같은 사람을 계속 기다림</a:t>
            </a:r>
          </a:p>
          <a:p>
            <a:r>
              <a:t>· 두 흐름은 옛 판 · 새 판이 아니라 서로 다른 설계, 선택이 선 하나의 모양으로 드러남</a:t>
            </a:r>
          </a:p>
          <a:p>
            <a:r>
              <a:t>[다음] 승인 작업의 타이머와 역할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코드 위(그림 파일) → 아래(연결 값) → 오른쪽 항목 넷</a:t>
            </a:r>
          </a:p>
          <a:p>
            <a:r>
              <a:t>· attachedToRef: 타이머가 운전원 승인 작업에 붙어 있다</a:t>
            </a:r>
          </a:p>
          <a:p>
            <a:r>
              <a:t>· cancelActivity="false": 비중단형, 알림 뒤에도 승인 작업이 열려 있다</a:t>
            </a:r>
          </a:p>
          <a:p>
            <a:r>
              <a:t>· 그림의 timerEventDefinition은 기한이 비어 있음</a:t>
            </a:r>
          </a:p>
          <a:p>
            <a:r>
              <a:t>· PT10M: 기간을 적는 국제 표준 꼴, 10분, 연결 값의 timers에 있다</a:t>
            </a:r>
          </a:p>
          <a:p>
            <a:r>
              <a:t>· role: 승인할 역할 운전원, 담당자 칸에 그린 것만으로 정해지지 않음</a:t>
            </a:r>
          </a:p>
          <a:p>
            <a:r>
              <a:t>· 그림 = 구조(붙어서 끊지 않는다), 연결 값 = 기한과 승인 역할, 「10분 뒤 알림」은 연결 값까지 봐야 말한다</a:t>
            </a:r>
          </a:p>
          <a:p>
            <a:r>
              <a:t>[다음] 한 단계 더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여섯 줄 → 가운데(가져올 때) → 오른쪽(고칠 곳) → 강조한 마지막 줄</a:t>
            </a:r>
          </a:p>
          <a:p>
            <a:r>
              <a:t>· 참여자마다 풀을 따로 → 둘 이상이면 거절, 한 풀 안에 레인으로</a:t>
            </a:r>
          </a:p>
          <a:p>
            <a:r>
              <a:t>· 마름모 없이 선 두 갈래 → 조건 없는 갈라짐이라 등록 거부(승인 · 거절이 함께 진행될 수 있음), 배타 게이트웨이로</a:t>
            </a:r>
          </a:p>
          <a:p>
            <a:r>
              <a:t>· 흐름 중간의 타이머 · 하위 프로세스 → 실행하지 않음, 작업 테두리 기간 타이머로 · 펼쳐서 한 흐름으로</a:t>
            </a:r>
          </a:p>
          <a:p>
            <a:r>
              <a:t>· 승인 없이 명령에 닿는 길 → 등록 전 검사가 거절</a:t>
            </a:r>
          </a:p>
          <a:p>
            <a:r>
              <a:t>· 레인과 작업의 담당이 다름 → 사전 검사가 알림, 칸이나 연결 담당을 맞춤</a:t>
            </a:r>
          </a:p>
          <a:p>
            <a:r>
              <a:t>· 그림을 실행 정의로 가져오기 전에 보는 점검표</a:t>
            </a:r>
          </a:p>
          <a:p>
            <a:r>
              <a:t>[다음] 판단 문제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상황(야간 응답이 늦어 기한 뒤 상급자가 결정하게) → 보기 넷 → 20초</a:t>
            </a:r>
          </a:p>
          <a:p>
            <a:r>
              <a:t>· 정답 4: 승인 작업에 중단형 타이머, 기한 뒤 상급자 결정 작업으로(원래 있던 다른 대응 흐름의 상급자 호출과 같은 모양)</a:t>
            </a:r>
          </a:p>
          <a:p>
            <a:r>
              <a:t>· 요구 = 결정을 다른 사람에게 넘기기 → 운전원 작업을 끊어야 함</a:t>
            </a:r>
          </a:p>
          <a:p>
            <a:r>
              <a:t>· 1: 같은 사람을 계속 기다리는 지금 흐름, 요구를 못 풂</a:t>
            </a:r>
          </a:p>
          <a:p>
            <a:r>
              <a:t>· 2: 사람의 결정을 시간으로 대신함</a:t>
            </a:r>
          </a:p>
          <a:p>
            <a:r>
              <a:t>· 3: 흐름 중간에 세운 타이머는 실행 정의로 가져올 때 받지 않는 모양</a:t>
            </a:r>
          </a:p>
          <a:p>
            <a:r>
              <a:t>· 요구가 바뀌면 그림의 어느 선을 바꿀지부터</a:t>
            </a:r>
          </a:p>
          <a:p>
            <a:r>
              <a:t>[다음] 그림에서 실행으로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단원 번호 → 부제</a:t>
            </a:r>
          </a:p>
          <a:p>
            <a:r>
              <a:t>· 물음: 승인을 기다리는 처리 건과 거절로 닫힌 처리 건은 기록에서 어떻게 다르게 보이나</a:t>
            </a:r>
          </a:p>
          <a:p>
            <a:r>
              <a:t>· 엔진 · 정의 · 처리 건 → 작업 종류별로 기다리는 것 → 토큰과 프로세스 변수 → 누구 차례인지 → COMPLETED가 같은 두 처리 건 → 승인 권한을 지키는 검사</a:t>
            </a:r>
          </a:p>
          <a:p>
            <a:r>
              <a:t>[다음] 프로세스 엔진 · 프로세스 정의 · 프로세스 인스턴스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풀이 세 줄 → 강조한 첫 줄(엔진) → 오른쪽 영어 이름</a:t>
            </a:r>
          </a:p>
          <a:p>
            <a:r>
              <a:t>· 프로세스 엔진(Process Engine): 정의를 읽어 그대로 실행하는 소프트웨어, 오케스트레이션의 조정자 자리</a:t>
            </a:r>
          </a:p>
          <a:p>
            <a:r>
              <a:t>· 처리 기록 표에서 「프로세스」라고 적혀 재관측 · 결과 보고를 맡던 쪽이 엔진</a:t>
            </a:r>
          </a:p>
          <a:p>
            <a:r>
              <a:t>· 프로세스 정의(Process Definition): 요소 · 선 · 조건 · 역할을 담은 설계도 = 그림 + 실행 연결, 긴급 대응은 c3_cooling</a:t>
            </a:r>
          </a:p>
          <a:p>
            <a:r>
              <a:t>· 프로세스 인스턴스(Process Instance): 정의에 따라 수행되는 한 건 = HYD의 처리 건, 경보마다 하나</a:t>
            </a:r>
          </a:p>
          <a:p>
            <a:r>
              <a:t>· 엔진은 정의 하나로 경보마다 인스턴스를 열고 앞 작업이 끝나면 다음 작업을 연다</a:t>
            </a:r>
          </a:p>
          <a:p>
            <a:r>
              <a:t>[다음] User · Service · Agent 작업에서 엔진이 기다리는 것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세 줄(작업 종류) → 가운데(엔진이 기다리는 것) → 오른쪽(끝나지 않으면) → 강조한 셋째 줄</a:t>
            </a:r>
          </a:p>
          <a:p>
            <a:r>
              <a:t>· 사용자 작업(운전원 승인): 담당 역할의 승인 · 거절, 승인 전달이 성공해야 다음으로, 응답 없으면 승인 대기</a:t>
            </a:r>
          </a:p>
          <a:p>
            <a:r>
              <a:t>· 서비스 작업(명령 · 재관측 · 작업지시): 엔진이 부른 시스템의 처리 결과, 실패를 성공으로 넘기지 않음</a:t>
            </a:r>
          </a:p>
          <a:p>
            <a:r>
              <a:t>· 에이전트 단계: 지정한 에이전트의 결과 제출과 검사를 기다림</a:t>
            </a:r>
          </a:p>
          <a:p>
            <a:r>
              <a:t>· 에이전트는 다음 작업을 직접 열지 않는다, 제출 전에는 승인 작업이 없다</a:t>
            </a:r>
          </a:p>
          <a:p>
            <a:r>
              <a:t>· 사람이든 시스템이든 에이전트든 다음 작업을 여는 쪽은 엔진</a:t>
            </a:r>
          </a:p>
          <a:p>
            <a:r>
              <a:t>[다음] 토큰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코드 위(status · current_activity_ids) → 단계 목록 → 오른쪽 항목 셋</a:t>
            </a:r>
          </a:p>
          <a:p>
            <a:r>
              <a:t>· 토큰(Token): 흐름의 현재 위치 표식, 시작에서 생겨 선을 따라 옮겨 가고 끝에서 사라짐</a:t>
            </a:r>
          </a:p>
          <a:p>
            <a:r>
              <a:t>· BPMN의 표준 개념, 화면에선 「지금 열린 단계」, 언어 모델의 토큰과 다른 말</a:t>
            </a:r>
          </a:p>
          <a:p>
            <a:r>
              <a:t>· bede0d2e…: RUNNING, 열린 단계 T_approve 하나 = 토큰이 머문 곳</a:t>
            </a:r>
          </a:p>
          <a:p>
            <a:r>
              <a:t>· T_agent DONE · T_approve IN_PROGRESS · T_cmd TODO(아직 안 닿음)</a:t>
            </a:r>
          </a:p>
          <a:p>
            <a:r>
              <a:t>· B_overdue · T_notice DONE: 비중단형 타이머가 연 둘째 토큰은 알림을 마치고 사라짐, 첫 토큰은 승인에</a:t>
            </a:r>
          </a:p>
          <a:p>
            <a:r>
              <a:t>· 오류도 멈춤도 아닌 정상 대기, 대기가 길면 담당자가 받았는지 따로</a:t>
            </a:r>
          </a:p>
          <a:p>
            <a:r>
              <a:t>[다음] 프로세스 변수가 잇는 출력과 조건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흐름 다섯 칸 왼쪽부터 → 칸마다 변수 이름과 뜻 → 강조한 셋째 칸</a:t>
            </a:r>
          </a:p>
          <a:p>
            <a:r>
              <a:t>· 프로세스 변수(Process Variable): 처리 건이 지닌 이름 붙은 값</a:t>
            </a:r>
          </a:p>
          <a:p>
            <a:r>
              <a:t>· 입력: asset · alert_id(경보가 실어 온 값) → 진단 · 제안: cause · decision(쿨러 핀 오염 · 추천안)</a:t>
            </a:r>
          </a:p>
          <a:p>
            <a:r>
              <a:t>· 운전원 승인: approval · chosen_skill(승인 · 팬 최대 운전), 승인자 · 역할은 서버가 채움(에이전트가 못 씀)</a:t>
            </a:r>
          </a:p>
          <a:p>
            <a:r>
              <a:t>· 재관측: recovered → 유온 정상? 게이트웨이가 읽음</a:t>
            </a:r>
          </a:p>
          <a:p>
            <a:r>
              <a:t>· 작업지시: work_order WO-1010-C058이 보고 문장에</a:t>
            </a:r>
          </a:p>
          <a:p>
            <a:r>
              <a:t>· 출력이 변수로 남아 다음 갈림의 조건 · 보고 문장이 되고, 변수마다 만든 단계가 기록돼 거슬러 감</a:t>
            </a:r>
          </a:p>
          <a:p>
            <a:r>
              <a:t>[다음] 응용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네 줄 → 가운데(지금 상태) → 오른쪽(누가 무엇을) → 강조한 넷째 줄</a:t>
            </a:r>
          </a:p>
          <a:p>
            <a:r>
              <a:t>· RUNNING · T_approve IN_PROGRESS: 승인 대기 정상 상태, 운전원이 추천안과 현재 조건을 보고 결정(승인 순간 현재값 재확인)</a:t>
            </a:r>
          </a:p>
          <a:p>
            <a:r>
              <a:t>· T_cmd DONE · T_reobs IN_PROGRESS: 명령 처리됨, 회복 관측 중 → 시스템의 자동 구간, 사람 차례 아님</a:t>
            </a:r>
          </a:p>
          <a:p>
            <a:r>
              <a:t>· 단계 PENDING · 사유 기록: 조건이 맞는 선이 없어 멈춤 → 기다려도 안 풀림, 담당자가 조건 · 연결 값 확인</a:t>
            </a:r>
          </a:p>
          <a:p>
            <a:r>
              <a:t>· COMPLETED · E_rejected: 거절로 닫힘, 명령 없음 → 쿨러 상태를 보고 다른 조치는 처리 건 밖의 사람 몫</a:t>
            </a:r>
          </a:p>
          <a:p>
            <a:r>
              <a:t>· 열린 단계와 상태로 자동 구간과 사람이 볼 자리가 갈린다</a:t>
            </a:r>
          </a:p>
          <a:p>
            <a:r>
              <a:t>[다음] COMPLETED가 같은 두 처리 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가운데 열(승인) vs 오른쪽 열(거절) → 다섯 줄 → 강조한 넷째 줄</a:t>
            </a:r>
          </a:p>
          <a:p>
            <a:r>
              <a:t>· 처리 건 상태: 둘 다 COMPLETED → 실행이 끝났다는 것만 알려 줌</a:t>
            </a:r>
          </a:p>
          <a:p>
            <a:r>
              <a:t>· 끝 이벤트: E_end vs E_rejected, 결과 보고: 정상 vs 거절(기록 값은 반려)</a:t>
            </a:r>
          </a:p>
          <a:p>
            <a:r>
              <a:t>· 냉각 명령 단계: DONE · 명령 1건 vs CANCELLED(선택 안 된 갈래) · 명령 없음</a:t>
            </a:r>
          </a:p>
          <a:p>
            <a:r>
              <a:t>· 회복 미달이어도 끝 이벤트는 E_end 그대로, 결과 보고만 미달</a:t>
            </a:r>
          </a:p>
          <a:p>
            <a:r>
              <a:t>· COMPLETED만 보고 성공이라 하지 않는다 → 끝 이벤트 · 결과 보고 · 단계 상태를 함께</a:t>
            </a:r>
          </a:p>
          <a:p>
            <a:r>
              <a:t>[다음] 승인 권한을 지키는 검사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칸(등록할 때) → 강조한 오른쪽 칸(실행할 때) → 꼬리표</a:t>
            </a:r>
          </a:p>
          <a:p>
            <a:r>
              <a:t>· 등록: 승인 없이 명령에 닿는 경로 · 거절 갈래의 효과가 있으면 등록하지 않음, 효과까지는 승인 조건 선을 지나야 → 그림을 거름</a:t>
            </a:r>
          </a:p>
          <a:p>
            <a:r>
              <a:t>· 실행: 조치마다 승인 역할(팬 최대 운전 운전원, 핀 세척 설비보전팀장)</a:t>
            </a:r>
          </a:p>
          <a:p>
            <a:r>
              <a:t>· 권한이 모자란 승인은 거부되고 감사 기록에 남음</a:t>
            </a:r>
          </a:p>
          <a:p>
            <a:r>
              <a:t>· 에이전트의 쓰기는 판단 제출 하나, 명령 모양 값은 거부</a:t>
            </a:r>
          </a:p>
          <a:p>
            <a:r>
              <a:t>· 승인자 · 역할 값은 승인 순간 서버가 채움 → 행동을 거름</a:t>
            </a:r>
          </a:p>
          <a:p>
            <a:r>
              <a:t>· 승인 상자를 그려 넣는 것만으로 지켜지지 않는다, 두 검사가 함께 지킨다</a:t>
            </a:r>
          </a:p>
          <a:p>
            <a:r>
              <a:t>[다음] 쿨러 경보 한 건을 실행 정의와 기록으로 되짚기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오른쪽 짝 열을 먼저 스스로 가르기 → 여섯 줄 위에서 아래로 → 강조한 마지막 줄</a:t>
            </a:r>
          </a:p>
          <a:p>
            <a:r>
              <a:t>· 추천안이 나오면 끝? → End-to-End의 끝 이벤트 · 결과 보고(Task vs End-to-End)</a:t>
            </a:r>
          </a:p>
          <a:p>
            <a:r>
              <a:t>· 선 이름이 「승인」이면 조건? → 연결 값의 approval == '승인'(선 이름 vs 실행 조건)</a:t>
            </a:r>
          </a:p>
          <a:p>
            <a:r>
              <a:t>· 알림 뒤에도 기다리나 → 비중단형 경계 타이머(알림 vs 종료)</a:t>
            </a:r>
          </a:p>
          <a:p>
            <a:r>
              <a:t>· 승인에 머문 처리 건은 오류? → 토큰이 사용자 작업에 머문 RUNNING(승인 대기 vs 오류)</a:t>
            </a:r>
          </a:p>
          <a:p>
            <a:r>
              <a:t>· COMPLETED면 성공? → 끝 이벤트 · 결과 보고 · 단계 상태(실행 종료 vs 업무 성공)</a:t>
            </a:r>
          </a:p>
          <a:p>
            <a:r>
              <a:t>· 작업지시 등록이면 정비 끝? → CMMS의 작업 완료 확인(등록 vs 완료)</a:t>
            </a:r>
          </a:p>
          <a:p>
            <a:r>
              <a:t>[다음] 오늘 다룬 핵심 개념과 주요 용어 정리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아홉 줄 위에서 아래로, 정식 명칭은 화면에 맡기고 뜻만</a:t>
            </a:r>
          </a:p>
          <a:p>
            <a:r>
              <a:t>· 비즈니스 프로세스 = 결과를 내려고 작업과 흐름을 정한 묶음, 오케스트레이션 = 중앙의 조정자가 순서와 호출을 이끄는 방식</a:t>
            </a:r>
          </a:p>
          <a:p>
            <a:r>
              <a:t>· End-to-End = 시작 사건에서 최종 결과까지, BPMN = 도형과 선의 뜻을 정한 표기 표준</a:t>
            </a:r>
          </a:p>
          <a:p>
            <a:r>
              <a:t>· 배타 게이트웨이 = 참인 한 갈래로만, 기본 흐름 = 어느 조건도 맞지 않을 때 가는 선</a:t>
            </a:r>
          </a:p>
          <a:p>
            <a:r>
              <a:t>· 풀 = 참여자 하나의 영역, 레인 = 그 안의 칸, 경계 이벤트 = 작업 테두리에 붙은 사건</a:t>
            </a:r>
          </a:p>
          <a:p>
            <a:r>
              <a:t>· 프로세스 엔진 · 인스턴스 = 정의를 실행하는 소프트웨어와 한 건, 토큰 · 프로세스 변수 = 현재 위치 표식과 처리 건의 이름 붙은 값</a:t>
            </a:r>
          </a:p>
          <a:p>
            <a:r>
              <a:t>[다음] Review Quiz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간지 제목 → 부제</a:t>
            </a:r>
          </a:p>
          <a:p>
            <a:r>
              <a:t>· 세 문제: 기록의 뜻, 그림과 실행 정의의 구별, 명령을 만드는 책임의 자리</a:t>
            </a:r>
          </a:p>
          <a:p>
            <a:r>
              <a:t>· 문제마다 보기를 읽고 20초 멈춤</a:t>
            </a:r>
          </a:p>
          <a:p>
            <a:r>
              <a:t>· 정답과 까닭은 세 문제를 다 본 뒤에</a:t>
            </a:r>
          </a:p>
          <a:p>
            <a:r>
              <a:t>[다음] Quiz 1. 명령 처리 뒤의 재관측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상황(T_cmd DONE · T_reobs IN_PROGRESS) → 보기 넷 → 20초</a:t>
            </a:r>
          </a:p>
          <a:p>
            <a:r>
              <a:t>· 물음의 요지: 열린 단계가 알려 주는 지금의 상태</a:t>
            </a:r>
          </a:p>
          <a:p>
            <a:r>
              <a:t>· 생각할 거리: 명령 처리와 유온 회복은 같은 사실인가</a:t>
            </a:r>
          </a:p>
          <a:p>
            <a:r>
              <a:t>· 생각할 거리: 지금은 누구의 차례인가</a:t>
            </a:r>
          </a:p>
          <a:p>
            <a:r>
              <a:t>[다음] Quiz 2. 선 이름만 적은 갈림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상황(승인? 두 선 이름만 「승인」 · 「거절」, 연결 값엔 조건 없음) → 보기 넷 → 20초</a:t>
            </a:r>
          </a:p>
          <a:p>
            <a:r>
              <a:t>· 물음의 요지: 이 상태에 대한 맞는 설명</a:t>
            </a:r>
          </a:p>
          <a:p>
            <a:r>
              <a:t>· 생각할 거리: 엔진은 선 이름을 읽나</a:t>
            </a:r>
          </a:p>
          <a:p>
            <a:r>
              <a:t>· 생각할 거리: 기본 흐름은 저절로 정해지나</a:t>
            </a:r>
          </a:p>
          <a:p>
            <a:r>
              <a:t>· 생각할 거리: 갈래를 고르는 것은 에이전트인가, 조건인가</a:t>
            </a:r>
          </a:p>
          <a:p>
            <a:r>
              <a:t>[다음] Quiz 3. 판단 제출에 넣은 명령 값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상황(에이전트가 추천안 제출에 「팬 속도 100 %」 명령 값을 넣음) → 보기 넷 → 20초</a:t>
            </a:r>
          </a:p>
          <a:p>
            <a:r>
              <a:t>· 물음의 요지: 이 제출의 처리</a:t>
            </a:r>
          </a:p>
          <a:p>
            <a:r>
              <a:t>· 생각할 거리: 에이전트의 쓰기는 무엇 하나인가</a:t>
            </a:r>
          </a:p>
          <a:p>
            <a:r>
              <a:t>· 생각할 거리: 설비 명령은 언제, 누가 만드나</a:t>
            </a:r>
          </a:p>
          <a:p>
            <a:r>
              <a:t>· 생각할 거리: 승인을 기다리는 동안 미리 실행되는 것이 있나</a:t>
            </a:r>
          </a:p>
          <a:p>
            <a:r>
              <a:t>[다음] 정답과 판단 기준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세 줄(문항 · 판단 기준 · 정답) 위에서 아래로</a:t>
            </a:r>
          </a:p>
          <a:p>
            <a:r>
              <a:t>· Q1 정답 3: 명령 처리 ≠ 회복, 재관측은 시스템의 자동 구간. 오답의 혼동: 1 명령 처리를 업무 완료로, 2 지나간 승인 차례로 되돌림, 4 진행 중을 오류로</a:t>
            </a:r>
          </a:p>
          <a:p>
            <a:r>
              <a:t>· Q2 정답 1: 갈림은 연결 값의 조건과 기본 흐름이 정함. 오답의 혼동: 2 엔진은 이름을 안 읽음, 3 거절 선이 저절로 기본 흐름이 되지 않음, 4 판단과 조건을 섞음</a:t>
            </a:r>
          </a:p>
          <a:p>
            <a:r>
              <a:t>· Q3 정답 4: 에이전트의 쓰기는 판단 제출뿐, 명령 모양 값이 든 제출은 거부. 오답의 혼동: 1 · 3 승인 전 명령, 2 에이전트에게 실행 권한</a:t>
            </a:r>
          </a:p>
          <a:p>
            <a:r>
              <a:t>· 이어지는 실습: bpmn.io에서 시작 → 요청 확인 → 승인 또는 반려 → 종료를 그린 뒤 쿨러 경보 → 원인 분석 · 조치 제안 → 운전원 승인 → 설비 명령 → 효과 확인 → 보고로 넓혀 역할별 레인에 놓고, 거절 경로와 승인 작업을 취소하지 않는 지연 알림을 잇는다</a:t>
            </a:r>
          </a:p>
          <a:p>
            <a:r>
              <a:t>· 내 그림은 포털에 직접 등록하지 않고 등록된 기준 흐름 · 제공 매핑과 견주어 작업마다 실행 기능을 표시하고 그림 파일과 실행 정의를 가른다 — 진행은 핸즈온 가이드</a:t>
            </a:r>
          </a:p>
          <a:p>
            <a:r>
              <a:t>· 다음 회차: 등록된 흐름의 실행 이력을 대조하고 교대 인수인계 흐름을 구성한다</a:t>
            </a:r>
          </a:p>
          <a:p>
            <a:r>
              <a:t>[다음] 실습으로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9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8412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8FCFF8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167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700784"/>
            <a:ext cx="7863840" cy="42062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800" b="1">
                <a:solidFill>
                  <a:srgbClr val="8FCFF8"/>
                </a:solidFill>
                <a:latin typeface="맑은 고딕"/>
                <a:ea typeface="맑은 고딕"/>
                <a:cs typeface="맑은 고딕"/>
              </a:rPr>
              <a:t>실전반 오프라인 7회차 · 설비 대응 프로세스를 설계하고 연결하기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95728"/>
            <a:ext cx="8412480" cy="1920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4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BPMN 역할 · 분기 · 지연과</a:t>
            </a:r>
          </a:p>
          <a:p>
            <a:pPr algn="l" eaLnBrk="0">
              <a:lnSpc>
                <a:spcPct val="110000"/>
              </a:lnSpc>
            </a:pPr>
            <a:r>
              <a:rPr sz="4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실행 연결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407408"/>
            <a:ext cx="841248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900" b="0">
                <a:solidFill>
                  <a:srgbClr val="C6D0DE"/>
                </a:solidFill>
                <a:latin typeface="맑은 고딕"/>
                <a:ea typeface="맑은 고딕"/>
                <a:cs typeface="맑은 고딕"/>
              </a:rPr>
              <a:t>작업 순서 · 승인 역할 · 실행 연결을 가르고, 같은 BPMN을 그림과 실행 관점에서 읽는다</a:t>
            </a:r>
          </a:p>
        </p:txBody>
      </p:sp>
      <p:pic>
        <p:nvPicPr>
          <p:cNvPr id="7" name="로고:uEngine" descr="logo-uengine_FFFFFF_N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5669280"/>
            <a:ext cx="1325880" cy="27511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9464040" y="1188719"/>
            <a:ext cx="1188720" cy="1188720"/>
          </a:xfrm>
          <a:prstGeom prst="rect">
            <a:avLst/>
          </a:prstGeom>
          <a:solidFill>
            <a:srgbClr val="243D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아이콘:route" descr="route_5CB8F2_1.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1784" y="1426463"/>
            <a:ext cx="713232" cy="713232"/>
          </a:xfrm>
          <a:prstGeom prst="rect">
            <a:avLst/>
          </a:prstGeom>
        </p:spPr>
      </p:pic>
      <p:sp>
        <p:nvSpPr>
          <p:cNvPr id="10" name="Down Arrow 9"/>
          <p:cNvSpPr/>
          <p:nvPr/>
        </p:nvSpPr>
        <p:spPr>
          <a:xfrm>
            <a:off x="9902952" y="2450591"/>
            <a:ext cx="310896" cy="310896"/>
          </a:xfrm>
          <a:prstGeom prst="downArrow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464040" y="2834639"/>
            <a:ext cx="1188720" cy="1188720"/>
          </a:xfrm>
          <a:prstGeom prst="rect">
            <a:avLst/>
          </a:prstGeom>
          <a:solidFill>
            <a:srgbClr val="243D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아이콘:users" descr="users_5CB8F2_1.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01784" y="3072383"/>
            <a:ext cx="713232" cy="713232"/>
          </a:xfrm>
          <a:prstGeom prst="rect">
            <a:avLst/>
          </a:prstGeom>
        </p:spPr>
      </p:pic>
      <p:sp>
        <p:nvSpPr>
          <p:cNvPr id="13" name="Down Arrow 12"/>
          <p:cNvSpPr/>
          <p:nvPr/>
        </p:nvSpPr>
        <p:spPr>
          <a:xfrm>
            <a:off x="9902952" y="4096511"/>
            <a:ext cx="310896" cy="310896"/>
          </a:xfrm>
          <a:prstGeom prst="downArrow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464040" y="4480560"/>
            <a:ext cx="1188720" cy="1188720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아이콘:clock" descr="clock_13294B_1.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01784" y="4718304"/>
            <a:ext cx="713232" cy="71323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학습목표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추천안 뒤의 업무를 BPMN으로 읽고 갈림 · 레인 · 타이머를 짚은 뒤, 그림이 실행에 이어지는 길을 가린다.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57272"/>
            <a:ext cx="2567863" cy="28681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758440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route" descr="route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" y="2912059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3232" y="3581400"/>
            <a:ext cx="2238679" cy="1341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업무와 BPMN</a:t>
            </a:r>
          </a:p>
          <a:p>
            <a:pPr algn="l" eaLnBrk="0" marL="160020" indent="-16002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추천안 뒤에 남은 단계</a:t>
            </a:r>
          </a:p>
          <a:p>
            <a:pPr algn="l" eaLnBrk="0" marL="160020" indent="-16002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문장과 그림의 차이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995672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995672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표기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90823" y="2557272"/>
            <a:ext cx="2567863" cy="28681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619423" y="2758440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아이콘:git-branch" descr="git-branch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3043" y="2912059"/>
            <a:ext cx="424281" cy="42428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555415" y="3581400"/>
            <a:ext cx="2238679" cy="1341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도형과 갈림</a:t>
            </a:r>
          </a:p>
          <a:p>
            <a:pPr algn="l" eaLnBrk="0" marL="148590" indent="-148590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작업마다 붙는 실행 기능</a:t>
            </a:r>
          </a:p>
          <a:p>
            <a:pPr algn="l" eaLnBrk="0" marL="148590" indent="-148590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선 이름과 조건 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19423" y="4995672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19423" y="4995672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순서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3007" y="2557272"/>
            <a:ext cx="2567863" cy="28681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61607" y="2758440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아이콘:users" descr="users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5226" y="2912059"/>
            <a:ext cx="424281" cy="42428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397599" y="3581400"/>
            <a:ext cx="2238679" cy="1341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레인과 타이머</a:t>
            </a:r>
          </a:p>
          <a:p>
            <a:pPr algn="l" eaLnBrk="0" marL="160020" indent="-16002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맡는 쪽을 칸으로</a:t>
            </a:r>
          </a:p>
          <a:p>
            <a:pPr algn="l" eaLnBrk="0" marL="160020" indent="-16002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중단형과 비중단형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61607" y="4995672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61607" y="4995672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역할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75191" y="2557272"/>
            <a:ext cx="2567863" cy="28681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03791" y="2758440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6" name="아이콘:clock" descr="clock_13294B_1.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57410" y="2912059"/>
            <a:ext cx="424281" cy="424281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239783" y="3581400"/>
            <a:ext cx="2238679" cy="1341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실행 연결</a:t>
            </a:r>
          </a:p>
          <a:p>
            <a:pPr algn="l" eaLnBrk="0" marL="160020" indent="-16002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엔진이 작업을 연다</a:t>
            </a:r>
          </a:p>
          <a:p>
            <a:pPr algn="l" eaLnBrk="0" marL="160020" indent="-16002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거절과 대기를 가른다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303791" y="4995672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03791" y="4995672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목차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331720"/>
            <a:ext cx="822960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2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19" y="2331720"/>
            <a:ext cx="8488375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추천안 뒤의 업무와 BPMN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88575" y="2551175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88575" y="2551175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054096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063239"/>
            <a:ext cx="822960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2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19" y="3063239"/>
            <a:ext cx="8488375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도형 · 실행 기능 · 갈림 조건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88575" y="3282695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88575" y="3282695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785615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794760"/>
            <a:ext cx="822960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2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19" y="3794760"/>
            <a:ext cx="8488375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레인과 경계 타이머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88575" y="401421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88575" y="4014216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517136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526280"/>
            <a:ext cx="822960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2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19" y="4526280"/>
            <a:ext cx="8488375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그림에서 실행으로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088575" y="474573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88575" y="4745736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2377440" cy="1737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88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011680"/>
            <a:ext cx="8625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추천안 뒤의 업무와 BPMN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416052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0" y="4160520"/>
            <a:ext cx="8229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4617720"/>
            <a:ext cx="8625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처리 건 기록에 남은 단계로 업무 전체를 보고, 그 순서를 같은 뜻으로 읽는 그림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쿨러 사건 처리 건에 남은 단계 기록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추천안이 제출된 뒤에도 승인 · 명령 · 재관측 · 작업지시 · 보고가 서로 다른 담당의 기록으로 남는다.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27632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단계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627632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맡은 쪽 · 남은 기록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1627632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끝났을 때 생긴 것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61972"/>
            <a:ext cx="11094415" cy="553865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029968"/>
            <a:ext cx="2514600" cy="61787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경보 · 처리 건 열림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029968"/>
            <a:ext cx="6156655" cy="61787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감지 서비스 → 프로세스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ALT-hyd01-0014-e0a1 · 11:13:08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029968"/>
            <a:ext cx="2103120" cy="61787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처리 건 하나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679845"/>
            <a:ext cx="11094415" cy="553865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647841"/>
            <a:ext cx="2514600" cy="61787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원인 진단 · 냉각 조치 제안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647841"/>
            <a:ext cx="6156655" cy="61787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냉각 긴급 대응 에이전트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판단 DEC-1010-002-408b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2647841"/>
            <a:ext cx="2103120" cy="61787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추천안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(팬 최대 운전)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297718"/>
            <a:ext cx="11094415" cy="553865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265714"/>
            <a:ext cx="2514600" cy="61787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운전원 승인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265714"/>
            <a:ext cx="6156655" cy="61787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운전원 역할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11:14:56 승인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3265714"/>
            <a:ext cx="2103120" cy="61787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실행해도 된다는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사람의 결정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915591"/>
            <a:ext cx="11094415" cy="553865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3883587"/>
            <a:ext cx="2514600" cy="61787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냉각 명령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3883587"/>
            <a:ext cx="6156655" cy="61787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SCADA → PLC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CMD-1010-0001-b94a · 인터록 PASS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8495" y="3883587"/>
            <a:ext cx="2103120" cy="61787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팬 속도 100 %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533464"/>
            <a:ext cx="11094415" cy="553865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4501460"/>
            <a:ext cx="2514600" cy="61787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재관측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4501460"/>
            <a:ext cx="6156655" cy="61787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프로세스(시스템)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유온 61.4 → 51.5 ℃ · 경보 해제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48495" y="4501460"/>
            <a:ext cx="2103120" cy="61787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회복 판정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5151337"/>
            <a:ext cx="11094415" cy="553865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5119333"/>
            <a:ext cx="2514600" cy="61787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작업지시 등록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0" y="5119333"/>
            <a:ext cx="6156655" cy="61787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CMMS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WO-1010-C058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48495" y="5119333"/>
            <a:ext cx="2103120" cy="61787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핀 세척 작업 배정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5769210"/>
            <a:ext cx="11094415" cy="553865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" y="5737206"/>
            <a:ext cx="2514600" cy="61787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결과 보고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00400" y="5737206"/>
            <a:ext cx="6156655" cy="61787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프로세스(시스템)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정상 · 끝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48495" y="5737206"/>
            <a:ext cx="2103120" cy="61787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처리 건 종료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Task와 End-to-End: 끝났다고 말하는 자리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End-to-End</a:t>
            </a: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(종단 간)는 시작 사건에서 최종 결과까지라서, 업무 완료는 Task가 아니라 그 끝에서 판단한다.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62873"/>
            <a:ext cx="5181447" cy="3656965"/>
          </a:xfrm>
          <a:prstGeom prst="roundRect">
            <a:avLst>
              <a:gd name="adj" fmla="val 4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364041"/>
            <a:ext cx="472424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Task(작업)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3214433"/>
            <a:ext cx="4632807" cy="2056765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200025" indent="-200025">
              <a:lnSpc>
                <a:spcPct val="110000"/>
              </a:lnSpc>
              <a:spcAft>
                <a:spcPts val="6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프로세스 안의 작업 하나</a:t>
            </a:r>
          </a:p>
          <a:p>
            <a:pPr algn="l" eaLnBrk="0" marL="200025" indent="-200025">
              <a:lnSpc>
                <a:spcPct val="110000"/>
              </a:lnSpc>
              <a:spcAft>
                <a:spcPts val="6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예: 원인 진단 · 냉각 조치 제안</a:t>
            </a:r>
          </a:p>
          <a:p>
            <a:pPr algn="l" eaLnBrk="0" marL="200025" indent="-200025">
              <a:lnSpc>
                <a:spcPct val="110000"/>
              </a:lnSpc>
              <a:spcAft>
                <a:spcPts val="6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끝났을 때: 추천안뿐, 설비 명령 없음</a:t>
            </a:r>
          </a:p>
          <a:p>
            <a:pPr algn="l" eaLnBrk="0" marL="200025" indent="-200025">
              <a:lnSpc>
                <a:spcPct val="110000"/>
              </a:lnSpc>
              <a:spcAft>
                <a:spcPts val="6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처리 건 시간의 절반 남짓을 썼다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5362638"/>
            <a:ext cx="1325879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5362638"/>
            <a:ext cx="132587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업무의 앞부분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61607" y="2162873"/>
            <a:ext cx="5181447" cy="3656965"/>
          </a:xfrm>
          <a:prstGeom prst="roundRect">
            <a:avLst>
              <a:gd name="adj" fmla="val 4000"/>
            </a:avLst>
          </a:prstGeom>
          <a:solidFill>
            <a:srgbClr val="E7F3FD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35927" y="2364041"/>
            <a:ext cx="472424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End-to-End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35927" y="3214433"/>
            <a:ext cx="4632807" cy="2056765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200025" indent="-200025">
              <a:lnSpc>
                <a:spcPct val="110000"/>
              </a:lnSpc>
              <a:spcAft>
                <a:spcPts val="6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경보에서 결과 보고까지 전체</a:t>
            </a:r>
          </a:p>
          <a:p>
            <a:pPr algn="l" eaLnBrk="0" marL="200025" indent="-200025">
              <a:lnSpc>
                <a:spcPct val="110000"/>
              </a:lnSpc>
              <a:spcAft>
                <a:spcPts val="6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끝났을 때: 명령 처리 · 유온 회복 · 작업지시</a:t>
            </a:r>
          </a:p>
          <a:p>
            <a:pPr algn="l" eaLnBrk="0" marL="200025" indent="-200025">
              <a:lnSpc>
                <a:spcPct val="110000"/>
              </a:lnSpc>
              <a:spcAft>
                <a:spcPts val="6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경계: 작업지시 등록까지, 세척 완료는 밖</a:t>
            </a:r>
          </a:p>
          <a:p>
            <a:pPr algn="l" eaLnBrk="0" marL="200025" indent="-200025">
              <a:lnSpc>
                <a:spcPct val="110000"/>
              </a:lnSpc>
              <a:spcAft>
                <a:spcPts val="6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개선을 견줄 때도 같은 경계로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81647" y="5362638"/>
            <a:ext cx="117348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81647" y="5362638"/>
            <a:ext cx="11734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업무의 완료</a:t>
            </a:r>
          </a:p>
        </p:txBody>
      </p:sp>
      <p:sp>
        <p:nvSpPr>
          <p:cNvPr id="16" name="Oval 15"/>
          <p:cNvSpPr/>
          <p:nvPr/>
        </p:nvSpPr>
        <p:spPr>
          <a:xfrm>
            <a:off x="5821527" y="3717036"/>
            <a:ext cx="548640" cy="54864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21527" y="3717036"/>
            <a:ext cx="548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비즈니스 프로세스 · 처리 건 · 오케스트레이션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틀인 프로세스, 한 번의 수행인 처리 건, 순서를 쥔 방식을 나눠야 경보마다 같은 약속으로 업무가 진행된다.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61388"/>
            <a:ext cx="11094415" cy="1316736"/>
          </a:xfrm>
          <a:prstGeom prst="roundRect">
            <a:avLst>
              <a:gd name="adj" fmla="val 6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33956"/>
            <a:ext cx="3291839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비즈니스 프로세스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Business Process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59" y="1933956"/>
            <a:ext cx="7528255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원하는 결과를 내기 위해 관련된 작업과 흐름을 정한 묶음이다.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시작 사건과 끝났다고 보는 조건이 있다. 예: 긴급 대응 프로세스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296412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305556"/>
            <a:ext cx="3291839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처리 건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한 번의 수행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59" y="3305556"/>
            <a:ext cx="7528255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경보 한 건에 대해 프로세스가 실제로 한 번 수행되는 단위이다.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쿨러 사건은 긴급 대응 프로세스의 처리 건 하나였다.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668012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677156"/>
            <a:ext cx="3291839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오케스트레이션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Orchestration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59" y="4677156"/>
            <a:ext cx="7528255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중앙의 조정자가 작업의 순서와 호출을 이끄는 방식이다.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에이전트 · 사람 · 시스템은 자기 작업만 하고, 다음 차례는 조정자가 연다.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단계 하나의 판단과 흐름 전체의 책임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에이전트는 단계 하나의 판단을, 흐름을 이끄는 쪽은 차례 · 승인 전 금지 · 기다림 · 기록을 맡는다.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27632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물음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627632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에이전트(단계 하나)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1627632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흐름을 이끄는 쪽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61972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029968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원인과 조치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029968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지식과 값을 읽어 추천안을 낸다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029968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추천안을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승인 작업에 넘긴다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26994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894990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같은 입력이 오면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894990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과정 · 표현 · 걸린 시간이 달라질 수 있다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2894990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정한 순서와 조건이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매번 같다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792016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760012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승인 전 명령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760012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쓰기는 판단 제출 하나뿐이다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3760012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승인 뒤에만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명령 작업을 연다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657039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625035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응답이 늦으면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4625035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관여하지 않는다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8495" y="4625035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기한 뒤 알림,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승인은 계속 기다린다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522061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5490057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어디까지 왔나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5490057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자기 단계의 실행 기록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48495" y="5490057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처리 건 하나에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단계 · 결과 · 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판단 문제: 승인을 건너뛰자는 요구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팬 최대 운전이 늘 1순위로 추천되니, 이 조치만은 운전원 승인 없이 바로 명령하자는 요구가 나왔다.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704088"/>
          </a:xfrm>
          <a:prstGeom prst="roundRect">
            <a:avLst>
              <a:gd name="adj" fmla="val 5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27632"/>
            <a:ext cx="10637215" cy="7040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흐름을 설계하는 쪽의 판단으로 맞는 것은?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5603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27889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7889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5146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추천 점수가 기준을 넘으면 승인 작업을 빼도 된다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747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31520" y="37033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7033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4290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승인 작업은 두되, 기한이 지나면 자동으로 승인한다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3891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" y="46177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6177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3434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승인은 설비를 움직일 권한의 자리라 유지하고, 지연은 알림 · 담당 배정으로 다룬다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3035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31520" y="55321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5321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52578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에이전트에게 명령 도구를 주고 실행 뒤에 보고하게 한다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문장으로 적은 절차와 BPMN으로 그린 절차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BPMN</a:t>
            </a: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(Business Process Model and Notation)은 도형과 선의 뜻을 정한 표기 표준이라, 문장에 묻힌 갈림이 드러난다.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62873"/>
            <a:ext cx="5181447" cy="3656965"/>
          </a:xfrm>
          <a:prstGeom prst="roundRect">
            <a:avLst>
              <a:gd name="adj" fmla="val 4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364041"/>
            <a:ext cx="472424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문장으로 적으면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3214433"/>
            <a:ext cx="4632807" cy="2056765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200025" indent="-200025">
              <a:lnSpc>
                <a:spcPct val="110000"/>
              </a:lnSpc>
              <a:spcAft>
                <a:spcPts val="6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「승인하면 … 아니면 … 거절하면」이 흩어진다</a:t>
            </a:r>
          </a:p>
          <a:p>
            <a:pPr algn="l" eaLnBrk="0" marL="200025" indent="-200025">
              <a:lnSpc>
                <a:spcPct val="110000"/>
              </a:lnSpc>
              <a:spcAft>
                <a:spcPts val="6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재관측과 보고를 누가 하는지 빠지기 쉽다</a:t>
            </a:r>
          </a:p>
          <a:p>
            <a:pPr algn="l" eaLnBrk="0" marL="200025" indent="-200025">
              <a:lnSpc>
                <a:spcPct val="110000"/>
              </a:lnSpc>
              <a:spcAft>
                <a:spcPts val="6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알림 뒤에도 기다리는지 사람마다 달리 읽는다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5362638"/>
            <a:ext cx="117348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5362638"/>
            <a:ext cx="11734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달리 읽힌다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61607" y="2162873"/>
            <a:ext cx="5181447" cy="3656965"/>
          </a:xfrm>
          <a:prstGeom prst="roundRect">
            <a:avLst>
              <a:gd name="adj" fmla="val 4000"/>
            </a:avLst>
          </a:prstGeom>
          <a:solidFill>
            <a:srgbClr val="E7F3FD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35927" y="2364041"/>
            <a:ext cx="472424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BPMN으로 그리면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35927" y="3214433"/>
            <a:ext cx="4632807" cy="2056765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200025" indent="-200025">
              <a:lnSpc>
                <a:spcPct val="110000"/>
              </a:lnSpc>
              <a:spcAft>
                <a:spcPts val="6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갈림은 마름모, 끝은 굵은 원으로 센다</a:t>
            </a:r>
          </a:p>
          <a:p>
            <a:pPr algn="l" eaLnBrk="0" marL="200025" indent="-200025">
              <a:lnSpc>
                <a:spcPct val="110000"/>
              </a:lnSpc>
              <a:spcAft>
                <a:spcPts val="6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작업은 맡는 쪽의 레인에 놓인다</a:t>
            </a:r>
          </a:p>
          <a:p>
            <a:pPr algn="l" eaLnBrk="0" marL="200025" indent="-200025">
              <a:lnSpc>
                <a:spcPct val="110000"/>
              </a:lnSpc>
              <a:spcAft>
                <a:spcPts val="6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기다림은 작업에 붙은 타이머의 선 모양으로 정해진다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81647" y="5362638"/>
            <a:ext cx="1676399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81647" y="5362638"/>
            <a:ext cx="167639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같은 뜻으로 읽힌다</a:t>
            </a:r>
          </a:p>
        </p:txBody>
      </p:sp>
      <p:sp>
        <p:nvSpPr>
          <p:cNvPr id="16" name="Oval 15"/>
          <p:cNvSpPr/>
          <p:nvPr/>
        </p:nvSpPr>
        <p:spPr>
          <a:xfrm>
            <a:off x="5821527" y="3717036"/>
            <a:ext cx="548640" cy="54864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21527" y="3717036"/>
            <a:ext cx="548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한 장으로 그린 긴급 대응 프로세스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긴급 대응 프로세스는 풀 하나 · 레인 셋 위에 갈림 둘과 끝 셋으로 그려져, 승인 없이는 명령에 닿지 않는다.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11</a:t>
            </a:r>
          </a:p>
        </p:txBody>
      </p:sp>
      <p:pic>
        <p:nvPicPr>
          <p:cNvPr id="6" name="Picture 5" descr="illust_4181059124279213481_179311337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403348"/>
            <a:ext cx="7223760" cy="3130296"/>
          </a:xfrm>
          <a:prstGeom prst="rect">
            <a:avLst/>
          </a:prstGeom>
          <a:ln w="12700">
            <a:solidFill>
              <a:srgbClr val="D3D9E1"/>
            </a:solidFill>
          </a:ln>
        </p:spPr>
      </p:pic>
      <p:sp>
        <p:nvSpPr>
          <p:cNvPr id="7" name="Oval 6"/>
          <p:cNvSpPr/>
          <p:nvPr/>
        </p:nvSpPr>
        <p:spPr>
          <a:xfrm>
            <a:off x="8138160" y="1682496"/>
            <a:ext cx="347472" cy="347472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0" y="1682496"/>
            <a:ext cx="347472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1627632"/>
            <a:ext cx="3093415" cy="11704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세 칸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위에서부터 담당자 · 에이전트 · 시스템 레인</a:t>
            </a:r>
          </a:p>
        </p:txBody>
      </p:sp>
      <p:sp>
        <p:nvSpPr>
          <p:cNvPr id="10" name="Oval 9"/>
          <p:cNvSpPr/>
          <p:nvPr/>
        </p:nvSpPr>
        <p:spPr>
          <a:xfrm>
            <a:off x="8138160" y="2852928"/>
            <a:ext cx="347472" cy="347472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0" y="2852928"/>
            <a:ext cx="347472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2798064"/>
            <a:ext cx="3093415" cy="11704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봉투 원 → 표식 없는 상자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쿨러 과열 경보 → 원인 진단 · 냉각 조치 제안</a:t>
            </a:r>
          </a:p>
        </p:txBody>
      </p:sp>
      <p:sp>
        <p:nvSpPr>
          <p:cNvPr id="13" name="Oval 12"/>
          <p:cNvSpPr/>
          <p:nvPr/>
        </p:nvSpPr>
        <p:spPr>
          <a:xfrm>
            <a:off x="8138160" y="4023359"/>
            <a:ext cx="347472" cy="347472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4023359"/>
            <a:ext cx="347472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3968496"/>
            <a:ext cx="3093415" cy="11704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사람 표식 상자 → 마름모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운전원 승인 → 승인?, 승인이면 아래 칸의 냉각 명령으로</a:t>
            </a:r>
          </a:p>
        </p:txBody>
      </p:sp>
      <p:sp>
        <p:nvSpPr>
          <p:cNvPr id="16" name="Oval 15"/>
          <p:cNvSpPr/>
          <p:nvPr/>
        </p:nvSpPr>
        <p:spPr>
          <a:xfrm>
            <a:off x="8138160" y="5193792"/>
            <a:ext cx="347472" cy="347472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60" y="5193792"/>
            <a:ext cx="347472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9640" y="5138928"/>
            <a:ext cx="3093415" cy="11704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점선 시계 · 굵은 원 셋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승인 지연 알림 갈래, 그리고 끝 · 거절 종결 · 알림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2377440" cy="1737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88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011680"/>
            <a:ext cx="8625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도형 · 실행 기능 · 갈림 조건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416052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0" y="4160520"/>
            <a:ext cx="8229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4617720"/>
            <a:ext cx="8625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도형의 자리와 작업마다 붙는 실행 기능, 그림의 선 이름과 실행의 조건 값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도형의 종류와 긴급 대응 프로세스에서의 자리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원은 사건, 둥근 사각형은 작업, 마름모는 갈림이고, 작업의 표식이 사람 · 시스템 · 연결 때 정할 쪽을 가른다.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27632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요소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627632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모양과 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1627632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긴급 대응에서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61972"/>
            <a:ext cx="11094415" cy="553865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029968"/>
            <a:ext cx="2514600" cy="61787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메시지 시작 이벤트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029968"/>
            <a:ext cx="6156655" cy="61787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가는 원 안의 봉투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메시지를 받으면 흐름을 연다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029968"/>
            <a:ext cx="2103120" cy="61787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쿨러 과열 경보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679845"/>
            <a:ext cx="11094415" cy="553865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647841"/>
            <a:ext cx="2514600" cy="61787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끝 이벤트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647841"/>
            <a:ext cx="6156655" cy="61787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굵은 원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도착한 갈래를 닫는다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2647841"/>
            <a:ext cx="2103120" cy="61787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끝 · 거절 종결 · 알림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297718"/>
            <a:ext cx="11094415" cy="553865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265714"/>
            <a:ext cx="2514600" cy="61787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작업(Task)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265714"/>
            <a:ext cx="6156655" cy="61787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표식 없는 둥근 사각형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수행자는 실행 연결 때 정한다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3265714"/>
            <a:ext cx="2103120" cy="61787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원인 진단 ·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냉각 조치 제안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915591"/>
            <a:ext cx="11094415" cy="553865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3883587"/>
            <a:ext cx="2514600" cy="61787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사용자 작업(User Task)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3883587"/>
            <a:ext cx="6156655" cy="61787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사람 표식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사람이 수행한다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8495" y="3883587"/>
            <a:ext cx="2103120" cy="61787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운전원 승인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533464"/>
            <a:ext cx="11094415" cy="553865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4501460"/>
            <a:ext cx="2514600" cy="61787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서비스 작업(Service Task)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4501460"/>
            <a:ext cx="6156655" cy="61787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톱니 표식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시스템이 수행한다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48495" y="4501460"/>
            <a:ext cx="2103120" cy="61787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냉각 명령 · 재관측 ·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작업지시 · 결과 보고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5151337"/>
            <a:ext cx="11094415" cy="553865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5119333"/>
            <a:ext cx="2514600" cy="61787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배타 게이트웨이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0" y="5119333"/>
            <a:ext cx="6156655" cy="61787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가위표 마름모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조건이 참인 한 갈래로만 보낸다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48495" y="5119333"/>
            <a:ext cx="2103120" cy="61787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승인? · 유온 정상?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5769210"/>
            <a:ext cx="11094415" cy="553865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" y="5737206"/>
            <a:ext cx="2514600" cy="61787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시퀀스 흐름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00400" y="5737206"/>
            <a:ext cx="6156655" cy="61787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실선 화살표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같은 풀 안의 순서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48495" y="5737206"/>
            <a:ext cx="2103120" cy="61787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경보에서 끝까지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잇는 선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경보 한 건이 처리 건을 여는 모습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쿨러 성능 저하 경보가 도착하면 처리 건이 열리고, 그 경보의 내용이 처리 건의 입력으로 실린다.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45207"/>
            <a:ext cx="6766560" cy="2892297"/>
          </a:xfrm>
          <a:prstGeom prst="roundRect">
            <a:avLst>
              <a:gd name="adj" fmla="val 3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682367"/>
            <a:ext cx="6400800" cy="261797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경보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   ALT-hyd01-0014-e0a1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pattern    COOLER_DEGRADATION    asset  HYD-01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↓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메시지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시작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이벤트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「쿨러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과열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경보」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처리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c3_cooling.4f93a9d0-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…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11:13:08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입력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   asset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alert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alert_id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pattern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incident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다시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오면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같은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정의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+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같은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경보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id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→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새로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열지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않는다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2545207"/>
            <a:ext cx="4007815" cy="96409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pattern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이 프로세스를 여는 경보의 종류다.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3509306"/>
            <a:ext cx="4007815" cy="96409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입력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경보 메시지 전체가 실려, 뒤 단계가 같은 출발점을 읽는다.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4473405"/>
            <a:ext cx="4007815" cy="96409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중복 방지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같은 경보가 다시 와도 처리 건은 하나다.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응용: 그림의 작업마다 붙는 실행 기능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같은 그림이라도 작업마다 실행 기능과 맡을 쪽을 연결해야 에이전트 · 운전원 · 시스템이 실제로 움직인다.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27632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그림의 요소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627632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연결되는 실행 기능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1627632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그림에 없는 것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61972"/>
            <a:ext cx="11094415" cy="656843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029968"/>
            <a:ext cx="251460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쿨러 과열 경보(시작)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029968"/>
            <a:ext cx="6156655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경보 패턴 COOLER_DEGRADATION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029968"/>
            <a:ext cx="210312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어떤 경보가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이 흐름을 여는지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782824"/>
            <a:ext cx="11094415" cy="656843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750820"/>
            <a:ext cx="251460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원인 진단 · 냉각 조치 제안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750820"/>
            <a:ext cx="6156655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task:decide · 냉각 긴급 대응 에이전트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2750820"/>
            <a:ext cx="210312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어느 에이전트에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무엇을 맡기는지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503676"/>
            <a:ext cx="11094415" cy="656843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471672"/>
            <a:ext cx="251460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운전원 승인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471672"/>
            <a:ext cx="6156655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task:select-or-reject · 운전원 역할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3471672"/>
            <a:ext cx="210312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누가 승인할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권한이 있는지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224528"/>
            <a:ext cx="11094415" cy="656843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192524"/>
            <a:ext cx="251460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냉각 명령 · 재관측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4192524"/>
            <a:ext cx="6156655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task:command · task:reobserve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8495" y="4192524"/>
            <a:ext cx="210312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PLC 명령과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회복 판정의 실행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945380"/>
            <a:ext cx="11094415" cy="656843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4913376"/>
            <a:ext cx="251460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작업지시 등록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4913376"/>
            <a:ext cx="6156655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task:work-order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48495" y="4913376"/>
            <a:ext cx="210312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CMMS에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남길 작업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5666232"/>
            <a:ext cx="11094415" cy="656843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5634228"/>
            <a:ext cx="251460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결과 보고 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0" y="5634228"/>
            <a:ext cx="6156655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svc:report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48495" y="5634228"/>
            <a:ext cx="210312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결과 값과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보고 문장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선 이름과 갈림 조건: 그림 파일과 연결 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그림 파일의 선 이름 「승인」은 표시일 뿐이고, 어느 갈래로 갈지는 연결 값의 조건과 기본 흐름이 정한다.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436749"/>
            <a:ext cx="6766560" cy="3109213"/>
          </a:xfrm>
          <a:prstGeom prst="roundRect">
            <a:avLst>
              <a:gd name="adj" fmla="val 3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573909"/>
            <a:ext cx="6400800" cy="2834893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그림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파일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(.bpmn)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—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선의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이름과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끝점만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있다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&lt;sequenceFlow id="F_approved" name="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승인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"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…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/&gt;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&lt;sequenceFlow id="F_rejected" name="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거절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"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…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/&gt;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연결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값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(mapping.json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의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flows)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—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갈림의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조건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F_approved   approval == '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승인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'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F_rejected   default (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기본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흐름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)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F_yes        recovered == true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F_no         default (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기본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흐름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2436749"/>
            <a:ext cx="4007815" cy="10364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name="승인"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그림에 보이는 선 이름이다. 실행 조건이 아니다.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3473153"/>
            <a:ext cx="4007815" cy="10364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approval == '승인'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운전원 승인 작업이 낸 값으로 갈래를 고르는 조건이다.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4509558"/>
            <a:ext cx="4007815" cy="10364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기본 흐름(Default Flow)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어느 조건도 참이 아닐 때 가는 선이다.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판단 문제: 기본 흐름이 빠진 갈림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유온 정상? 게이트웨이의 「예」 선에만 조건을 넣고, 「아니오」 선에는 조건도 기본 흐름 표시도 두지 않았다.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704088"/>
          </a:xfrm>
          <a:prstGeom prst="roundRect">
            <a:avLst>
              <a:gd name="adj" fmla="val 5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27632"/>
            <a:ext cx="10637215" cy="7040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재관측이 회복하지 못했다는 값을 냈을 때 일어나는 일은?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5603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27889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7889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5146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엔진이 선 이름 「아니오」를 읽어 미달 보고로 보낸다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747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31520" y="37033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7033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4290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맞는 선이 없어 그 자리에서 넘어가지 못하고, 사유가 기록된다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3891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" y="46177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6177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3434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「예」 선으로 가서 작업지시가 등록된다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3035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31520" y="55321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5321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52578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처리 건이 거절 종결로 닫힌다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2377440" cy="1737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88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011680"/>
            <a:ext cx="8625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레인과 경계 타이머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416052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0" y="4160520"/>
            <a:ext cx="8229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4617720"/>
            <a:ext cx="8625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맡는 쪽을 칸으로, 응답이 늦을 때를 작업 테두리의 타이머로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풀 · 레인 · 메시지 흐름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풀은 참여자, 레인은 그 안의 책임 칸이고, 다른 참여자와 주고받는 일만 점선의 메시지 흐름으로 그린다.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33956"/>
            <a:ext cx="3291839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풀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Pool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59" y="1933956"/>
            <a:ext cx="7528255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참여자 하나의 영역이다.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긴급 대응은 풀 하나 「냉각 긴급 대응」으로 그린다.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296412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3332988"/>
            <a:ext cx="11094415" cy="1316736"/>
          </a:xfrm>
          <a:prstGeom prst="roundRect">
            <a:avLst>
              <a:gd name="adj" fmla="val 6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305556"/>
            <a:ext cx="3291839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레인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Lane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59" y="3305556"/>
            <a:ext cx="7528255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풀 안에서 활동을 나누는 칸이다.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이 흐름은 담당자 · 에이전트 · 시스템의 세 칸으로 책임을 나눈다.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668012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677156"/>
            <a:ext cx="3291839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메시지 흐름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Message Flow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59" y="4677156"/>
            <a:ext cx="7528255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서로 다른 풀 사이를 오가는 점선 화살표이다.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풀이 하나인 긴급 대응에는 없다.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중단형과 비중단형 경계 타이머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경계 이벤트</a:t>
            </a: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(Boundary Event)는 작업에 붙은 사건이라, 타이머의 테두리 모양이 기한 뒤 작업을 끊을지 정한다.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367533"/>
            <a:ext cx="5181447" cy="3247644"/>
          </a:xfrm>
          <a:prstGeom prst="roundRect">
            <a:avLst>
              <a:gd name="adj" fmla="val 4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568702"/>
            <a:ext cx="472424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중단형(Interrupting)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3419093"/>
            <a:ext cx="4632807" cy="16474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188595" indent="-188595">
              <a:lnSpc>
                <a:spcPct val="110000"/>
              </a:lnSpc>
              <a:spcAft>
                <a:spcPts val="6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실선 겹테두리</a:t>
            </a:r>
          </a:p>
          <a:p>
            <a:pPr algn="l" eaLnBrk="0" marL="188595" indent="-188595">
              <a:lnSpc>
                <a:spcPct val="110000"/>
              </a:lnSpc>
              <a:spcAft>
                <a:spcPts val="6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기한이 지나면 작업을 끊고 다른 갈래로 간다</a:t>
            </a:r>
          </a:p>
          <a:p>
            <a:pPr algn="l" eaLnBrk="0" marL="188595" indent="-188595">
              <a:lnSpc>
                <a:spcPct val="110000"/>
              </a:lnSpc>
              <a:spcAft>
                <a:spcPts val="6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예: 원래 있던 다른 대응 흐름의 선택 시간 초과 → 상급자 호출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5157978"/>
            <a:ext cx="1325879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5157978"/>
            <a:ext cx="132587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결정을 넘긴다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61607" y="2367533"/>
            <a:ext cx="5181447" cy="3247644"/>
          </a:xfrm>
          <a:prstGeom prst="roundRect">
            <a:avLst>
              <a:gd name="adj" fmla="val 4000"/>
            </a:avLst>
          </a:prstGeom>
          <a:solidFill>
            <a:srgbClr val="E7F3FD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35927" y="2568702"/>
            <a:ext cx="472424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비중단형(Non-interrupting)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35927" y="3419093"/>
            <a:ext cx="4632807" cy="16474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188595" indent="-188595">
              <a:lnSpc>
                <a:spcPct val="110000"/>
              </a:lnSpc>
              <a:spcAft>
                <a:spcPts val="6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점선 겹테두리</a:t>
            </a:r>
          </a:p>
          <a:p>
            <a:pPr algn="l" eaLnBrk="0" marL="188595" indent="-188595">
              <a:lnSpc>
                <a:spcPct val="110000"/>
              </a:lnSpc>
              <a:spcAft>
                <a:spcPts val="6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작업은 그대로 두고 갈래를 하나 더 연다</a:t>
            </a:r>
          </a:p>
          <a:p>
            <a:pPr algn="l" eaLnBrk="0" marL="188595" indent="-188595">
              <a:lnSpc>
                <a:spcPct val="110000"/>
              </a:lnSpc>
              <a:spcAft>
                <a:spcPts val="6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예: 수업 흐름의 승인 지연 PT10M → 알림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81647" y="5157978"/>
            <a:ext cx="182880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81647" y="5157978"/>
            <a:ext cx="18288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같은 사람을 기다린다</a:t>
            </a:r>
          </a:p>
        </p:txBody>
      </p:sp>
      <p:sp>
        <p:nvSpPr>
          <p:cNvPr id="16" name="Oval 15"/>
          <p:cNvSpPr/>
          <p:nvPr/>
        </p:nvSpPr>
        <p:spPr>
          <a:xfrm>
            <a:off x="5821527" y="3717036"/>
            <a:ext cx="548640" cy="54864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21527" y="3717036"/>
            <a:ext cx="548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승인 작업의 타이머와 역할: 그림과 연결 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그림은 타이머가 승인 작업에 붙어 끊지 않는다는 구조를 담고, 10분 기한과 승인 역할은 연결 값이 정한다.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90852"/>
            <a:ext cx="6766560" cy="4001008"/>
          </a:xfrm>
          <a:prstGeom prst="roundRect">
            <a:avLst>
              <a:gd name="adj" fmla="val 3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28012"/>
            <a:ext cx="6400800" cy="37266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그림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파일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(.bpmn)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&lt;userTask id="T_approve" name="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운전원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승인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"&gt;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…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&lt;boundaryEvent id="B_overdue" name="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승인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지연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"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attachedToRef="T_approve" cancelActivity="false"&gt;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&lt;timerEventDefinition /&gt;    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←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기한이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비어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있다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연결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값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(mapping.json)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"timers":    { "B_overdue": "PT10M" }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"T_approve": { "part": "task:select-or-reject",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           "role": "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운전원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" 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1990852"/>
            <a:ext cx="4007815" cy="10002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attachedToRef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이 타이머가 운전원 승인 작업에 붙어 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2991104"/>
            <a:ext cx="4007815" cy="10002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cancelActivity="false"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비중단형이다. 알림 뒤에도 승인 작업이 열려 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3991356"/>
            <a:ext cx="4007815" cy="10002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PT10M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기간 표기로 10분이다. 기한은 연결 값에 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4991608"/>
            <a:ext cx="4007815" cy="10002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role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승인할 역할이다. 레인 이름만으로 정해지지 않는다.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한 단계 더: 실행 정의로 가져올 때 걸리는 그림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편집기에서는 그려져도 실행 정의로 가져올 때 막히는 그림이 있어, 실행할 흐름은 그 범위 안에서 그린다.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27632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이렇게 그리면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627632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가져올 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1627632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고칠 곳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61972"/>
            <a:ext cx="11094415" cy="656843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029968"/>
            <a:ext cx="251460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참여자마다 풀을 따로 그린다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029968"/>
            <a:ext cx="6156655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풀이 둘 이상이면 거절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029968"/>
            <a:ext cx="210312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한 풀 안에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레인으로 나눈다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782824"/>
            <a:ext cx="11094415" cy="656843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750820"/>
            <a:ext cx="251460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마름모 없이 선 두 갈래를 뽑는다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750820"/>
            <a:ext cx="6156655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조건 없는 갈라짐이라 등록 거부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2750820"/>
            <a:ext cx="210312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배타 게이트웨이를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둔다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503676"/>
            <a:ext cx="11094415" cy="656843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471672"/>
            <a:ext cx="251460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흐름 중간에 타이머를 세운다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471672"/>
            <a:ext cx="6156655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실행하지 않는다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3471672"/>
            <a:ext cx="210312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작업 테두리의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기간 타이머로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224528"/>
            <a:ext cx="11094415" cy="656843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192524"/>
            <a:ext cx="251460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하위 프로세스로 접는다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4192524"/>
            <a:ext cx="6156655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실행하지 않는다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8495" y="4192524"/>
            <a:ext cx="210312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펼쳐서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한 흐름으로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945380"/>
            <a:ext cx="11094415" cy="656843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4913376"/>
            <a:ext cx="251460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승인 없이 명령에 닿는 길이 있다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4913376"/>
            <a:ext cx="6156655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등록 전 검사가 거절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48495" y="4913376"/>
            <a:ext cx="210312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명령 앞에 승인과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승인 조건 선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5666232"/>
            <a:ext cx="11094415" cy="656843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5634228"/>
            <a:ext cx="251460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레인과 작업의 담당이 다르다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0" y="5634228"/>
            <a:ext cx="6156655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사전 검사가 알린다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48495" y="5634228"/>
            <a:ext cx="210312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칸이나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연결 담당을 맞춘다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판단 문제: 응답이 없을 때 결정을 넘기라는 요구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야간에는 운전원 응답이 늦는 일이 잦아, 기한이 지나면 상급자가 결정하게 해 달라는 요구가 나왔다고 하자.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704088"/>
          </a:xfrm>
          <a:prstGeom prst="roundRect">
            <a:avLst>
              <a:gd name="adj" fmla="val 5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27632"/>
            <a:ext cx="10637215" cy="7040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승인 작업을 어떻게 그리는 것이 맞는가?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5603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27889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7889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5146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승인 작업에 비중단형 타이머를 붙여 알림만 보낸다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747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31520" y="37033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7033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4290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기한이 지나면 자동으로 승인하는 선을 둔다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3891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" y="46177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6177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3434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흐름 중간에 타이머 이벤트를 따로 세워 상급자 작업으로 잇는다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3035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31520" y="55321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5321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52578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승인 작업에 중단형 타이머를 붙여, 기한 뒤 상급자 결정 작업으로 보낸다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2377440" cy="1737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88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011680"/>
            <a:ext cx="8625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그림에서 실행으로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416052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0" y="4160520"/>
            <a:ext cx="8229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4617720"/>
            <a:ext cx="8625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엔진이 작업을 여는 법, 작업 종류마다 기다리는 것, 승인 대기와 거절 종결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프로세스 엔진 · 프로세스 정의 · 프로세스 인스턴스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프로세스 엔진은 정의 하나를 읽어 경보마다 인스턴스를 열고, 그 인스턴스의 다음 작업을 차례로 연다.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61388"/>
            <a:ext cx="11094415" cy="1316736"/>
          </a:xfrm>
          <a:prstGeom prst="roundRect">
            <a:avLst>
              <a:gd name="adj" fmla="val 6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33956"/>
            <a:ext cx="3291839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프로세스 엔진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Process Engine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59" y="1933956"/>
            <a:ext cx="7528255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프로세스 정의를 읽어 그대로 실행하는 소프트웨어이다.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오케스트레이션의 조정자 자리를 맡는다.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296412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305556"/>
            <a:ext cx="3291839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프로세스 정의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Process Definition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59" y="3305556"/>
            <a:ext cx="7528255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요소 · 선 · 조건 · 역할을 담은 설계도이다.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긴급 대응의 정의 id는 c3_cooling이다.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668012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677156"/>
            <a:ext cx="3291839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프로세스 인스턴스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Process Instance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59" y="4677156"/>
            <a:ext cx="7528255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정의에 따라 실제로 수행되는 한 건, HYD의 처리 건이다.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경보 한 건마다 하나씩 열린다.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User · Service · Agent 작업에서 엔진이 기다리는 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엔진은 작업 종류마다 사람의 결정 · 시스템의 결과 · 에이전트의 제출을 기다리고, 다음 작업은 엔진이 연다.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418587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418587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작업 종류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2418587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엔진이 기다리는 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2418587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끝나지 않으면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8529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8209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사용자 작업 · 운전원 승인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8209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담당 역할의 승인이나 거절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승인 전달이 성공해야 다음으로 간다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8209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승인 대기로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머문다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7673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7353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서비스 작업 · 냉각 명령 · 재관측 · 작업지시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7353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엔진이 부른 시스템의 처리 결과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37353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실패를 성공으로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넘기지 않는다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6817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6497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에이전트 단계 · 원인 진단 · 제안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6497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지정한 에이전트의 결과 제출과 검사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에이전트는 다음 작업을 열지 않는다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46497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제출 전에는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승인 작업이 없다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토큰: 승인 대기 중인 처리 건의 기록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토큰</a:t>
            </a: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(Token)은 흐름의 현재 위치를 나타내는 표식이라, 열린 단계를 보면 처리 건이 누구를 기다리는지 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653665"/>
            <a:ext cx="6766560" cy="2675382"/>
          </a:xfrm>
          <a:prstGeom prst="roundRect">
            <a:avLst>
              <a:gd name="adj" fmla="val 3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790825"/>
            <a:ext cx="6400800" cy="240106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처리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bede0d2e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…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(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같은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정의에서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열린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다른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처리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)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status                RUNNING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current_activity_ids  ["T_approve"]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T_agent     DONE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T_approve   IN_PROGRESS  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←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운전원의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결정을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기다린다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B_overdue   DONE         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←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기한이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지나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알림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갈래가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열렸다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T_notice    DONE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T_cmd       TODO         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←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아직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닿지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않았다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2653665"/>
            <a:ext cx="4007815" cy="89179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current_activity_ids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지금 열린 단계, 곧 토큰이 머문 곳이다.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3545459"/>
            <a:ext cx="4007815" cy="89179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IN_PROGRESS · DONE · TODO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진행 중 · 끝남 · 아직 닿지 않음이다.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4437253"/>
            <a:ext cx="4007815" cy="89179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알림 뒤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둘째 토큰은 알림을 마쳤고 승인 대기는 남았다.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프로세스 변수가 잇는 출력과 조건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프로세스 변수</a:t>
            </a: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(Process Variable)는 처리 건이 지닌 이름 붙은 값이라, 단계의 출력이 다음 갈림의 조건이 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474722"/>
            <a:ext cx="1911644" cy="3033268"/>
          </a:xfrm>
          <a:prstGeom prst="roundRect">
            <a:avLst>
              <a:gd name="adj" fmla="val 5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2657602"/>
            <a:ext cx="1765340" cy="277723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7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입력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asset · alert_id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경보가 실어 온 값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524292" y="3854196"/>
            <a:ext cx="256031" cy="274320"/>
          </a:xfrm>
          <a:prstGeom prst="rightArrow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844332" y="2474722"/>
            <a:ext cx="1911644" cy="3033268"/>
          </a:xfrm>
          <a:prstGeom prst="roundRect">
            <a:avLst>
              <a:gd name="adj" fmla="val 5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17484" y="2657602"/>
            <a:ext cx="1765340" cy="277723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7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원인 진단 · 제안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cause · decision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쿨러 핀 오염 · 추천안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819985" y="3854196"/>
            <a:ext cx="256031" cy="274320"/>
          </a:xfrm>
          <a:prstGeom prst="rightArrow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140025" y="2474722"/>
            <a:ext cx="1911644" cy="3033268"/>
          </a:xfrm>
          <a:prstGeom prst="roundRect">
            <a:avLst>
              <a:gd name="adj" fmla="val 5000"/>
            </a:avLst>
          </a:prstGeom>
          <a:solidFill>
            <a:srgbClr val="E7F3FD"/>
          </a:solidFill>
          <a:ln w="25400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13177" y="2657602"/>
            <a:ext cx="1765340" cy="277723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7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운전원 승인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approval · chosen_skill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승인 · 팬 최대 운전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승인자 · 역할은 서버가 채운다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115677" y="3854196"/>
            <a:ext cx="256031" cy="274320"/>
          </a:xfrm>
          <a:prstGeom prst="rightArrow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435717" y="2474722"/>
            <a:ext cx="1911644" cy="3033268"/>
          </a:xfrm>
          <a:prstGeom prst="roundRect">
            <a:avLst>
              <a:gd name="adj" fmla="val 5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08869" y="2657602"/>
            <a:ext cx="1765340" cy="277723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7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재관측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recovered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회복 → 유온 정상?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게이트웨이가 읽는다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9411370" y="3854196"/>
            <a:ext cx="256031" cy="274320"/>
          </a:xfrm>
          <a:prstGeom prst="rightArrow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731410" y="2474722"/>
            <a:ext cx="1911644" cy="3033268"/>
          </a:xfrm>
          <a:prstGeom prst="roundRect">
            <a:avLst>
              <a:gd name="adj" fmla="val 5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04562" y="2657602"/>
            <a:ext cx="1765340" cy="277723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7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작업지시 · 보고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work_order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WO-1010-C058이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보고 문장에 들어간다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응용: 기록으로 지금 누구 차례인지 읽기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처리 건 기록에서 열린 단계와 상태를 읽으면, 지금 자동으로 진행되는 일과 사람이 확인할 일이 갈린다.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61387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961387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기록에 보이는 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961387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지금 상태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1961387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누가 무엇을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3957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3637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RUNNING · T_approve IN_PROGRESS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3637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승인 대기, 정상 상태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3637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운전원이 추천안과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현재 조건을 보고 결정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3101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2781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T_cmd DONE · T_reobs IN_PROGRESS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2781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명령은 처리됨, 회복을 관측 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32781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시스템이 기준과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경보 해제를 확인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2245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1925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단계 PENDING · 사유 기록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1925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조건이 맞는 선이 없어 멈춤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41925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담당자가 조건과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연결 값을 확인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1389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51069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COMPLETED · E_rejected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51069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거절로 닫힘, 명령 없음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8495" y="51069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쿨러 상태를 보고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다른 조치를 판단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COMPLETED가 같은 두 처리 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처리 건 상태 COMPLETED는 실행이 끝났다는 뜻일 뿐이라, 결말은 끝 이벤트 · 결과 보고 · 단계 상태로 가린다.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27632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읽는 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627632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승인된 처리 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1627632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거절된 처리 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61972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029968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처리 건 상태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029968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COMPLETED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029968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COMPLETED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26994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894990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닿은 끝 이벤트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894990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E_end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2894990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E_rejected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792016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760012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결과 보고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760012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정상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3760012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거절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(기록의 값은 반려)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657039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625035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냉각 명령 단계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4625035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DONE · 설비 명령 1건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8495" y="4625035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CANCELLED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설비 명령 없음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522061"/>
            <a:ext cx="11094415" cy="801014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5490057"/>
            <a:ext cx="251460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회복 미달이었다면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5490057"/>
            <a:ext cx="6156655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끝 이벤트는 E_end 그대로, 결과 보고만 미달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48495" y="5490057"/>
            <a:ext cx="2103120" cy="86502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해당 없음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승인 권한을 지키는 검사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승인 권한은 레인 이름이 아니라 등록 전 검사와 실행 중 역할 검사가 지켜, 승인 없는 명령을 막는다.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28647"/>
            <a:ext cx="5181447" cy="3725418"/>
          </a:xfrm>
          <a:prstGeom prst="roundRect">
            <a:avLst>
              <a:gd name="adj" fmla="val 4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329815"/>
            <a:ext cx="472424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흐름을 등록할 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3180207"/>
            <a:ext cx="4632807" cy="212521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154305" indent="-154305">
              <a:lnSpc>
                <a:spcPct val="110000"/>
              </a:lnSpc>
              <a:spcAft>
                <a:spcPts val="6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승인 없이 명령에 닿는 경로가 있으면 등록하지 않는다</a:t>
            </a:r>
          </a:p>
          <a:p>
            <a:pPr algn="l" eaLnBrk="0" marL="154305" indent="-154305">
              <a:lnSpc>
                <a:spcPct val="110000"/>
              </a:lnSpc>
              <a:spcAft>
                <a:spcPts val="6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거절 갈래에서 효과가 나가도 등록하지 않는다</a:t>
            </a:r>
          </a:p>
          <a:p>
            <a:pPr algn="l" eaLnBrk="0" marL="154305" indent="-154305">
              <a:lnSpc>
                <a:spcPct val="110000"/>
              </a:lnSpc>
              <a:spcAft>
                <a:spcPts val="6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효과까지 가는 길은 승인 조건 선을 지나야 한다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5396865"/>
            <a:ext cx="1325879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5396865"/>
            <a:ext cx="132587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그림을 거른다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61607" y="2128647"/>
            <a:ext cx="5181447" cy="3725418"/>
          </a:xfrm>
          <a:prstGeom prst="roundRect">
            <a:avLst>
              <a:gd name="adj" fmla="val 4000"/>
            </a:avLst>
          </a:prstGeom>
          <a:solidFill>
            <a:srgbClr val="E7F3FD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35927" y="2329815"/>
            <a:ext cx="472424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실행할 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35927" y="3180207"/>
            <a:ext cx="4632807" cy="212521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165735" indent="-165735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조치마다 승인 역할: 팬 최대 운전은 운전원, 핀 세척은 설비보전팀장</a:t>
            </a:r>
          </a:p>
          <a:p>
            <a:pPr algn="l" eaLnBrk="0" marL="165735" indent="-165735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권한이 모자란 승인은 거부하고 감사 기록에 남긴다</a:t>
            </a:r>
          </a:p>
          <a:p>
            <a:pPr algn="l" eaLnBrk="0" marL="165735" indent="-165735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에이전트의 쓰기는 판단 제출 하나, 명령 모양 값은 거부</a:t>
            </a:r>
          </a:p>
          <a:p>
            <a:pPr algn="l" eaLnBrk="0" marL="165735" indent="-165735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승인자 · 역할 값은 승인하는 순간 서버가 채운다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81647" y="5396865"/>
            <a:ext cx="1325879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81647" y="5396865"/>
            <a:ext cx="132587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행동을 거른다</a:t>
            </a:r>
          </a:p>
        </p:txBody>
      </p:sp>
      <p:sp>
        <p:nvSpPr>
          <p:cNvPr id="16" name="Oval 15"/>
          <p:cNvSpPr/>
          <p:nvPr/>
        </p:nvSpPr>
        <p:spPr>
          <a:xfrm>
            <a:off x="5821527" y="3717036"/>
            <a:ext cx="548640" cy="54864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21527" y="3717036"/>
            <a:ext cx="548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쿨러 경보 한 건을 실행 정의와 기록으로 되짚기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쿨러 경보 하나에서 나오는 물음마다 답이 놓인 자리가 달라서, 그 자리를 가리는 것이 이번 회차의 핵심이다.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27632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물음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627632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답이 놓인 자리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1627632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헷갈리기 쉬운 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61972"/>
            <a:ext cx="11094415" cy="656843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029968"/>
            <a:ext cx="251460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추천안이 나오면 업무가 끝났나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029968"/>
            <a:ext cx="6156655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End-to-End의 끝 이벤트와 결과 보고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029968"/>
            <a:ext cx="210312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Task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vs End-to-End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782824"/>
            <a:ext cx="11094415" cy="656843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750820"/>
            <a:ext cx="251460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선 이름이 「승인」이면 조건이 걸렸나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750820"/>
            <a:ext cx="6156655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연결 값의 조건 approval == '승인'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2750820"/>
            <a:ext cx="210312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선 이름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vs 실행 조건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503676"/>
            <a:ext cx="11094415" cy="656843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471672"/>
            <a:ext cx="251460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알림 뒤에도 승인을 기다리나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471672"/>
            <a:ext cx="6156655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비중단형 경계 타이머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3471672"/>
            <a:ext cx="210312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알림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vs 종료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224528"/>
            <a:ext cx="11094415" cy="656843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192524"/>
            <a:ext cx="251460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운전원 승인에 머문 처리 건은 오류인가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4192524"/>
            <a:ext cx="6156655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토큰이 사용자 작업에 머문 RUNNING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8495" y="4192524"/>
            <a:ext cx="210312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승인 대기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vs 오류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945380"/>
            <a:ext cx="11094415" cy="656843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4913376"/>
            <a:ext cx="251460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COMPLETED면 성공인가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4913376"/>
            <a:ext cx="6156655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끝 이벤트 · 결과 보고 · 단계 상태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48495" y="4913376"/>
            <a:ext cx="210312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실행 종료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vs 업무 성공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5666232"/>
            <a:ext cx="11094415" cy="656843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5634228"/>
            <a:ext cx="251460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작업지시가 등록되면 정비가 끝났나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0" y="5634228"/>
            <a:ext cx="6156655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CMMS의 작업 완료 확인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48495" y="5634228"/>
            <a:ext cx="2103120" cy="72085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작업지시 등록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vs 정비 완료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오늘 다룬 핵심 개념과 주요 용어 정리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프로세스 설계와 실행에서 풀어 쓴 용어의 정식 명칭과 뜻을 한곳에 모은다.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1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27631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용어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627631"/>
            <a:ext cx="844265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정식 명칭 · 풀이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061972"/>
            <a:ext cx="11094415" cy="4165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029967"/>
            <a:ext cx="2514600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비즈니스 프로세스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029967"/>
            <a:ext cx="8351215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Business Process</a:t>
            </a:r>
          </a:p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원하는 결과를 내기 위해 관련된 작업과 흐름을 정한 묶음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542540"/>
            <a:ext cx="11094415" cy="4165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510536"/>
            <a:ext cx="2514600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오케스트레이션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2510536"/>
            <a:ext cx="8351215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Orchestration</a:t>
            </a:r>
          </a:p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중앙의 조정자가 작업의 순서와 호출을 이끄는 방식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023108"/>
            <a:ext cx="11094415" cy="4165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2991104"/>
            <a:ext cx="2514600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End-to-End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2991104"/>
            <a:ext cx="8351215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End-to-End(종단 간)</a:t>
            </a:r>
          </a:p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시작 사건에서 최종 결과까지의 업무 전체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503676"/>
            <a:ext cx="11094415" cy="4165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471672"/>
            <a:ext cx="2514600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BPMN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471672"/>
            <a:ext cx="8351215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Business Process Model and Notation</a:t>
            </a:r>
          </a:p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도형과 선의 뜻을 정해 업무 프로세스를 그리는 표기 표준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984244"/>
            <a:ext cx="11094415" cy="4165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3952239"/>
            <a:ext cx="2514600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배타 게이트웨이 · 기본 흐름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3952239"/>
            <a:ext cx="8351215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Exclusive Gateway · Default Flow</a:t>
            </a:r>
          </a:p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조건이 참인 한 갈래로만 보내는 갈림, 그리고 어느 조건도 맞지 않을 때 가는 선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464811"/>
            <a:ext cx="11094415" cy="4165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4432807"/>
            <a:ext cx="2514600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풀 · 레인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4432807"/>
            <a:ext cx="8351215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Pool · Lane</a:t>
            </a:r>
          </a:p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참여자 하나의 영역과, 그 풀 안에서 활동을 나누는 칸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4945380"/>
            <a:ext cx="11094415" cy="4165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4913376"/>
            <a:ext cx="2514600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경계 이벤트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0" y="4913376"/>
            <a:ext cx="8351215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Boundary Event</a:t>
            </a:r>
          </a:p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작업 테두리에 붙어, 그 작업이 진행 중일 때 생기는 일에 반응하는 이벤트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5425948"/>
            <a:ext cx="11094415" cy="4165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5393944"/>
            <a:ext cx="2514600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프로세스 엔진 · 인스턴스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0" y="5393944"/>
            <a:ext cx="8351215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Process Engine · Process Instance</a:t>
            </a:r>
          </a:p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정의를 읽어 실행하는 소프트웨어, 그리고 정의에 따라 수행되는 한 건(처리 건)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5906516"/>
            <a:ext cx="11094415" cy="4165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" y="5874512"/>
            <a:ext cx="2514600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토큰 · 프로세스 변수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00400" y="5874512"/>
            <a:ext cx="8351215" cy="4805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Token · Process Variable</a:t>
            </a:r>
          </a:p>
          <a:p>
            <a:pPr algn="l" eaLnBrk="0">
              <a:lnSpc>
                <a:spcPct val="110000"/>
              </a:lnSpc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흐름의 현재 위치를 나타내는 표식, 그리고 처리 건이 지닌 이름 붙은 값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911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Review Quiz: 핵심 흐름 되짚어보기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60520"/>
            <a:ext cx="10911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배운 내용을 바탕으로 정답을 맞혀 보세요.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Quiz 1. 명령 처리 뒤의 재관측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쿨러 처리 건의 기록에서 냉각 명령 T_cmd는 DONE이고, 재관측 T_reobs는 IN_PROGRESS로 보인다.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704088"/>
          </a:xfrm>
          <a:prstGeom prst="roundRect">
            <a:avLst>
              <a:gd name="adj" fmla="val 5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27632"/>
            <a:ext cx="10637215" cy="7040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 기록을 읽은 것으로 맞는 것은?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5603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27889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7889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5146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명령이 처리됐으니 유온도 회복됐고 업무는 끝났다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747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31520" y="37033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7033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4290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운전원 차례이니 추천안을 다시 승인해야 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3891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" y="46177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6177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3434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명령은 처리됐고 시스템이 회복을 관측 중이라, 회복과 결과 보고는 아직 확인 전이다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3035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31520" y="55321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5321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52578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재관측이 진행 중이니 오류로 보고 담당자가 연결 값을 고친다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Quiz 2. 선 이름만 적은 갈림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편집기에서 승인? 게이트웨이의 두 선 이름을 「승인」 · 「거절」로 적었고, 연결 값에는 조건을 넣지 않았다.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704088"/>
          </a:xfrm>
          <a:prstGeom prst="roundRect">
            <a:avLst>
              <a:gd name="adj" fmla="val 5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27632"/>
            <a:ext cx="10637215" cy="7040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 상태에 대한 설명으로 맞는 것은?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5603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27889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7889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5146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선 이름은 표시일 뿐이라, 조건과 기본 흐름을 연결 값에 정해야 실행에서 갈린다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747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31520" y="37033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7033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4290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엔진이 선 이름을 읽어 승인일 때만 냉각 명령으로 간다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3891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" y="46177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6177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3434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배타 게이트웨이를 그렸으니 거절 선이 저절로 기본 흐름이 된다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3035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31520" y="55321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5321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52578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에이전트가 추천안을 보고 갈래를 고른다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Quiz 3. 판단 제출에 넣은 명령 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에이전트가 추천안을 제출하면서 「팬 속도 100 %」라는 명령 값을 함께 넣었다.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704088"/>
          </a:xfrm>
          <a:prstGeom prst="roundRect">
            <a:avLst>
              <a:gd name="adj" fmla="val 5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27632"/>
            <a:ext cx="10637215" cy="7040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 제출의 처리로 맞는 것은?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5603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27889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7889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5146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엔진이 그 값으로 바로 냉각 명령 작업을 연다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747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31520" y="37033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7033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4290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운전원이 승인하면 에이전트가 PLC에 직접 보낸다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3891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" y="46177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6177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3434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승인을 기다리는 동안 SCADA가 미리 실행해 둔다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3035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31520" y="55321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5321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52578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명령 모양의 값이 든 제출은 거부되고, 명령은 승인 뒤 프로세스 쪽에서만 만들어진다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정답과 판단 기준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세 문항은 기록의 뜻을 가리고, 그림과 실행 정의를 구별하고, 명령을 만드는 책임의 자리를 바르게 읽는지 본다.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418587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418587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문항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2418587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판단 기준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2418587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정답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8529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8209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Quiz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8209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명령 처리와 유온 회복은 다른 사실이다. 회복은 재관측이, 업무의 끝은 결과 보고가 알린다.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8209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7673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7353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Quiz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7353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갈림은 연결 값의 조건과 기본 흐름이 정한다. 선 이름은 그림의 표시다.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37353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6817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6497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Quiz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6497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에이전트의 쓰기는 판단 제출뿐이다. 설비 명령은 승인 뒤 프로세스가 만든다.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46497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4번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