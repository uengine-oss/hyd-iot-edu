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오늘의 흐름: 이론 → 포털 시연과 관계도 → Cypher 연습 → 설비 모델 적재 · 조회</a:t>
            </a:r>
          </a:p>
          <a:p>
            <a:r>
              <a:t>· 이론은 온라인 1회차와 같은 교재의 장에서 오늘 실습에 필요한 핵심만 골라 잇는다</a:t>
            </a:r>
          </a:p>
          <a:p>
            <a:r>
              <a:t>· 줄기: 완성 흐름 → 시스템 구조 → 지식이 필요한 이유 → 그래프로 다루는 말 → 포털과 과정의 길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완성 흐름: 끝까지 한 번 본 뒤 부분으로 들어간다 — 추천과 승인과 실행은 주체가 다르다</a:t>
            </a:r>
          </a:p>
          <a:p>
            <a:r>
              <a:t>· 2 구조: 값이 올라가는 길과 명령이 내려가는 길, 명령이 처리됐다는 것과 설비가 회복됐다는 것은 다른 확인</a:t>
            </a:r>
          </a:p>
          <a:p>
            <a:r>
              <a:t>· 3 지식과 관계: 경보 값만으로 원인을 못 가린다 → 관계로 적은 지식, 그 관계를 그래프와 Cypher로 다룬다(이어지는 실습)</a:t>
            </a:r>
          </a:p>
          <a:p>
            <a:r>
              <a:t>· 4 포털과 과정의 길: 시연에서 열 네 화면, 그리고 과정 전체가 어디로 가는지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 위에서 아래로</a:t>
            </a:r>
          </a:p>
          <a:p>
            <a:r>
              <a:t>· 01 쿨러 사건 한 건을 끝까지</a:t>
            </a:r>
          </a:p>
          <a:p>
            <a:r>
              <a:t>· 02 그 흐름을 만든 시스템의 계층과 두 경로</a:t>
            </a:r>
          </a:p>
          <a:p>
            <a:r>
              <a:t>· 03 경보 값에서 원인과 조치까지 무엇이 더 필요한가 → 온톨로지와 관계</a:t>
            </a:r>
          </a:p>
          <a:p>
            <a:r>
              <a:t>· 04 관계를 저장하고 찾는 말(노드 · 레이블 · Cypher) — Cypher 실습의 바탕</a:t>
            </a:r>
          </a:p>
          <a:p>
            <a:r>
              <a:t>· 05 시연에서 열 포털 화면과 과정 전체의 길, 오늘 실습</a:t>
            </a:r>
          </a:p>
          <a:p>
            <a:r>
              <a:t>[다음] HYD의 완성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부분부터 배우면 왜 필요한지 놓친다 → 완성된 흐름을 먼저</a:t>
            </a:r>
          </a:p>
          <a:p>
            <a:r>
              <a:t>· 물음: 기름 온도가 오른 그 순간부터 무엇이, 누구에 의해, 어떤 순서로 일어났나</a:t>
            </a:r>
          </a:p>
          <a:p>
            <a:r>
              <a:t>[다음] 경보 이후의 판단과 승인, 조치 뒤의 변화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단계는 실습과 비교하되 시각 · 수치는 이 기록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데이터가 올라가고 명령이 내려가는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앞 단원의 흐름을 만든 부품들: 재는 것, 제어하는 것, 모으고 감지하는 것, 판단하고 승인하는 것</a:t>
            </a:r>
          </a:p>
          <a:p>
            <a:r>
              <a:t>· 끝에서 한 장으로 다시 묶는다(아홉 기능 계층과 세 보안 영역)</a:t>
            </a:r>
          </a:p>
          <a:p>
            <a:r>
              <a:t>[다음] 설비·센서·PLC·관제의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유압 파워팩 HYD-01의 구성과 유온 TS1의 계측 지점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데이터 수집과 승인된 자동 명령의 두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Layer 7~9 · 지식·추천·승인·실행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PLC에 닿는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명령·확인 응답·재관측의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식별자로 이어지는 판단과 작업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판단에 지식이 필요한 이유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유온이 올랐다는 것을 알면 무엇을 할지도 정해지나</a:t>
            </a:r>
          </a:p>
          <a:p>
            <a:r>
              <a:t>· 이 단원 끝에서 관계를 문장으로 읽는 법 → 관계도 실습으로 이어진다</a:t>
            </a:r>
          </a:p>
          <a:p>
            <a:r>
              <a:t>[다음] 데이터, 정보, 지식과 판단의 네 질문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원인 후보와 증거의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완화 조치와 근본 조치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쿨러 사건에서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판단에 쓰이는 정보가 놓인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AI에게 그대로 묻는 방식과 지식을 조회하게 하는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온톨로지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노드·관계·방향을 문장으로 읽는다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HYD 지식 그래프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관계를 그래프로 다루는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관계도는 사람이 보는 그림, 그래프 DB는 같은 연결을 저장하고 찾는 도구</a:t>
            </a:r>
          </a:p>
          <a:p>
            <a:r>
              <a:t>· 실습에서는 별도 Neo4j 랩 DB에서 직접 만들고 찾고 고치고 지운다 → 여기서는 읽는 법만</a:t>
            </a:r>
          </a:p>
          <a:p>
            <a:r>
              <a:t>[다음] 속성 그래프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노드 → 강조한 레이블 → 속성 → 관계 → 관계의 속성, 오른쪽 「쿼리가 쓰는 곳」</a:t>
            </a:r>
          </a:p>
          <a:p>
            <a:r>
              <a:t>· 노드: 인스턴스 하나 = 노드 하나(유온 센서도, 유온도 각각)</a:t>
            </a:r>
          </a:p>
          <a:p>
            <a:r>
              <a:t>· 레이블: 노드가 어느 클래스인지 붙인 이름(센서 · 상태 변수). 쿼리는 이 이름으로 종류를 고른다 → 관계 이름처럼 한 글자만 달라도 다른 이름으로 본다</a:t>
            </a:r>
          </a:p>
          <a:p>
            <a:r>
              <a:t>· 속성: 이름-값 짝(센서 식별자 · 태그, 유온 단위 · 한계 65) → 경보의 태그로 좁히고 한계를 돌려받는다</a:t>
            </a:r>
          </a:p>
          <a:p>
            <a:r>
              <a:t>· 관계: 이름과 방향이 노드 사이에 저장. 표 DB는 묻는 순간 행끼리 맞춰 연결을 만들지만 그래프 DB는 연결 자체가 저장돼 선을 따라가기만 한다</a:t>
            </a:r>
          </a:p>
          <a:p>
            <a:r>
              <a:t>· 관계의 속성: 쿨러 코어 → A정밀 공급 관계에 단가 · 납기 → 공급사를 견줄 때 읽는다</a:t>
            </a:r>
          </a:p>
          <a:p>
            <a:r>
              <a:t>[다음] Cypher 패턴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위 주석(담당자의 물음) → 패턴 한 줄 → 조각별 설명 → 맨 아래 맞는 곳 → 오른쪽 넷째 칸</a:t>
            </a:r>
          </a:p>
          <a:p>
            <a:r>
              <a:t>· 질의(쿼리) = DB에 보내는 요청. Cypher = 그래프 DB 쿼리 언어. 쿨러 사건에서 에이전트가 원인 후보를 찾은 것도 Cypher</a:t>
            </a:r>
          </a:p>
          <a:p>
            <a:r>
              <a:t>· 패턴 = 찾을 연결을 그림 모양 그대로 글자로 적은 것. DB는 맞는 곳을 모두 찾는다</a:t>
            </a:r>
          </a:p>
          <a:p>
            <a:r>
              <a:t>· 둥근 괄호 = 노드, 콜론 뒤 = 레이블, 콜론 앞 = 변수(뒤에서 다시 부르는 이름, 점 + 속성으로 값을 읽음. 식별자와 다름), 중괄호 = 속성 조건(태그 TS1로 좁힘), 대괄호 = 관계 이름, 화살표 = 저장된 방향(센서 → 유온)</a:t>
            </a:r>
          </a:p>
          <a:p>
            <a:r>
              <a:t>· 결과: 유온 센서 → 유온, 한계 65 ℃ · 단위 → 경보 태그 하나에서 기준까지 패턴 한 줄</a:t>
            </a:r>
          </a:p>
          <a:p>
            <a:r>
              <a:t>· 태그에는 유일 제약이 없어 늘 하나라는 보장이 없다 → 대상을 계속 가리킬 땐 식별자로</a:t>
            </a:r>
          </a:p>
          <a:p>
            <a:r>
              <a:t>· 실행 화면(Neo4j Browser) = 조건을 직접 적어 묻는 곳. 포털 지식 지도는 항목을 골라 기준 지식을 따라가는 화면</a:t>
            </a:r>
          </a:p>
          <a:p>
            <a:r>
              <a:t>[다음] MATCH · RETURN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MATCH → RETURN → 결과 두 행 → 아래 노드 · 관계 반환 → 오른쪽 강조한 「한 행 = 연결 하나」</a:t>
            </a:r>
          </a:p>
          <a:p>
            <a:r>
              <a:t>· 절 = 쿼리를 하는 일별로 나눈 부분. MATCH = 찾을 패턴(이름이 오일 쿨러인 구성 요소에서 계측 관계로 이어진 센서), RETURN = 돌려받을 항목(쿨러 이름 · 센서 태그 → 두 열)</a:t>
            </a:r>
          </a:p>
          <a:p>
            <a:r>
              <a:t>· 결과: 쿨러-유온 센서, 쿨러-냉각 효율 채널. 연결 하나가 한 행 → 두 행. 쿨러 노드가 둘이라서가 아니다</a:t>
            </a:r>
          </a:p>
          <a:p>
            <a:r>
              <a:t>· 같은 MATCH에 노드 · 관계 자체를 받으면 그림으로 쿨러 하나에서 센서 둘로 선 → 두 행의 쿨러가 같은 노드</a:t>
            </a:r>
          </a:p>
          <a:p>
            <a:r>
              <a:t>· 센서 목록 보고엔 값을, 연결이 맞게 이어졌는지 눈으로 확인할 땐 노드와 관계를 받는다</a:t>
            </a:r>
          </a:p>
          <a:p>
            <a:r>
              <a:t>[다음] 포털의 화면과 이번 과정의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포털 시연에서 무엇을 어디서 볼지 미리 정해 둔다</a:t>
            </a:r>
          </a:p>
          <a:p>
            <a:r>
              <a:t>· 그리고 오늘 시작한 관계 모델이 과정 끝에 어디에 쓰이는지</a:t>
            </a:r>
          </a:p>
          <a:p>
            <a:r>
              <a:t>[다음] 포털에서 볼 네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가운데 실제 메뉴 이름 → 오른쪽 물음</a:t>
            </a:r>
          </a:p>
          <a:p>
            <a:r>
              <a:t>· 설비 화면: 결함 시뮬레이션에서 쿨러 열화를 넣고, 실시간 모니터링에서 유온 · 냉각 효율 그래프를, 이상 확인 · 조치에서 경보와 사건을 본다</a:t>
            </a:r>
          </a:p>
          <a:p>
            <a:r>
              <a:t>· 지식 지도: HYD 기준 지식에서 대상을 골라 연결을 따라간다 — 앞 단원의 그래프와 같은 구조를 화면으로</a:t>
            </a:r>
          </a:p>
          <a:p>
            <a:r>
              <a:t>· 에이전트: 추천을 만드는 AI의 목표 · 지침 · 도구를 보고, 질문해 무엇을 근거로 답하는지 확인</a:t>
            </a:r>
          </a:p>
          <a:p>
            <a:r>
              <a:t>· 내 작업함 · 처리 건: 사람에게 맡겨진 승인 대기 일, 처리 건의 단계와 기록</a:t>
            </a:r>
          </a:p>
          <a:p>
            <a:r>
              <a:t>· 시연 순서: 경보는 설비 화면 → 추천과 근거는 에이전트 · 지식 지도 → 승인은 작업함 → 결과는 다시 설비 화면</a:t>
            </a:r>
          </a:p>
          <a:p>
            <a:r>
              <a:t>[다음] 지식 모델이 판단과 업무에 쓰이는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이번 과정의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관계 모델 → 에이전트 → 업무 흐름</a:t>
            </a:r>
          </a:p>
          <a:p>
            <a:r>
              <a:t>· 관계 모델: 오늘 그린 관계도를 설비 · 부품 · 공급 모델로 → 조건표 판정과 문서 근거의 작업 확인 카드까지</a:t>
            </a:r>
          </a:p>
          <a:p>
            <a:r>
              <a:t>· 에이전트: 그 근거로 점검 요청과 협의 안건을 만들고, 사람에게 묻고 명세대로 동작하는지 검증</a:t>
            </a:r>
          </a:p>
          <a:p>
            <a:r>
              <a:t>· 업무 흐름: 추천이 승인 · 명령 · 확인 · 보고로 끝나도록 BPMN으로 잇고, 마지막에 교대 인수인계 한 건을 완성</a:t>
            </a:r>
          </a:p>
          <a:p>
            <a:r>
              <a:t>· 앞 장의 다섯 걸음(정의 → 조회 → 판단 → 승인 → 실행 · 확인)을 과정을 따라 하나씩 직접 만든다</a:t>
            </a:r>
          </a:p>
          <a:p>
            <a:r>
              <a:t>[다음] 경보·판단·승인·실행 기록의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오늘 따라간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위에서부터, 정식 명칭은 화면에 맡기고 뜻만</a:t>
            </a:r>
          </a:p>
          <a:p>
            <a:r>
              <a:t>· OT = 설비를 감시 · 제어하는 운영 기술, IT = 데이터를 다루는 정보 기술, DMZ = 둘 사이에서 드나드는 데이터와 명령을 검사하는 완충 구역</a:t>
            </a:r>
          </a:p>
          <a:p>
            <a:r>
              <a:t>· PLC = 센서 값을 읽고 정해진 논리로 설비를 직접 제어, SCADA = 설비 데이터를 모아 감시 · 원격 제어</a:t>
            </a:r>
          </a:p>
          <a:p>
            <a:r>
              <a:t>· HITL = 자동 처리 중간에 사람이 승인 · 거절로 결정, MES = 생산 지시 · 실적 · 납기를 관리</a:t>
            </a:r>
          </a:p>
          <a:p>
            <a:r>
              <a:t>· 레이블 = 노드의 종류 이름, Cypher 쿼리 = 노드와 관계의 패턴으로 그래프를 조회하고 만드는 문장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Quiz 1. 경보 이후의 판단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Quiz 2. 관계의 이름과 방향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Quiz 3. 추천과 실행의 책임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· 이어지는 실습: 포털 시연에서 쿨러 사건을 경보부터 결과 확인까지 따라가며 추천 · 승인 · 실행을 가르고, 본 대상을 관계도로 그려 화살표마다 문장으로 읽는다</a:t>
            </a:r>
          </a:p>
          <a:p>
            <a:r>
              <a:t>· Cypher는 별도 랩 DB에서 만들고 · 찾고 · 고치고 · 지운 뒤 다시 조회한다. 설비 모델 실습에서는 설비 · 부품 · 공급의 식별자와 관계를 확인해 적재하고, 부품을 쓰는 설비를 조회해 공급 조건 질문을 정리한다 — 진행은 핸즈온 가이드</a:t>
            </a:r>
          </a:p>
          <a:p>
            <a:r>
              <a:t>· 다음 회차: 이 모델에 조건표를 붙여 조치를 판정하고 성과를 비교한다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png"/><Relationship Id="rId4" Type="http://schemas.openxmlformats.org/officeDocument/2006/relationships/image" Target="../media/image26.png"/><Relationship Id="rId5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1회차 · HYD 전체 흐름을 확인하고 설비 관계 표현하기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시스템과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과정의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경보에서 결과 확인까지의 완성 흐름을 보고, 판단 근거를 관계와 그래프로 다룰 준비를 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완성 흐름과 구조를 확인하고, 판단 근거를 관계와 그래프로 다루며 이번 과정의 길을 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719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흐름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사건의 경보에서 결과 확인까지 따라간다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 · 승인 · 실행을 구별한다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7190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구조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올라가는 길과 명령이 내려가는 길을 짚는다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명령 처리와 설비 회복을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7190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관계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원인과 조치에 지식이 필요한 까닭을 든다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관계를 문장과 Cypher 패턴으로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82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ute" descr="rout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7190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포털과 과정의 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 네 화면의 역할을 가른다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모델에서 업무 흐름까지의 길을 잡는다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완성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데이터가 올라가고 명령이 내려가는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지식이 필요한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그래프로 다루는 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화면과 이번 과정의 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완성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 한 건이 경보에서 결과 확인까지 어떻게 이어졌는지 먼저 끝까지 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데이터가 올라가고 명령이 내려가는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· 센서에서 판단과 승인을 거쳐 다시 설비로 돌아오는 계층과 두 경로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 HYD-01의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삽화:설비_유압파워팩.svg" descr="illust_885276037111069738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데이터_명령_두경로.svg" descr="illust_364250862415438778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FanSpeedSP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계층_0_전체.svg" descr="illust_291454149830376671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지식이 필요한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값만으로는 원인과 조치를 정할 수 없는 까닭과, 그 연결을 관계로 적는 온톨로지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흩어진정보.svg" descr="illust_623202446646131744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방법·근거 문서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Picture 5" descr="illust_688774505928486556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증상·원인·조치·구성 요소는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직접 연결되고, 설비·센서·매뉴얼은 그 바깥에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pic>
        <p:nvPicPr>
          <p:cNvPr id="6" name="삽화:지식그래프_지도.svg" descr="illust_185588973558317349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그래프로 다루는 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관계도가 그래프 DB에 저장되는 모양과 Cypher로 적는 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 그래프: 유온 센서 한 대가 저장된 모양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센서 한 대는 레이블 붙은 노드, 속성, 방향 있는 관계로 저장되어 쿼리는 그 이름을 그대로 적어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저장되는 부분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그래프에 실제로 들어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쿼리가 이 부분을 쓰는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한 대가 노드 하나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센서가 읽는 물리량 유온도 노드 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찾을 대상 하나하나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레이블(Label)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센서에 :Sensor, 유온에 :StateVariable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설계한 클래스 이름이 그대로 붙는다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대상의 종류를 고른다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한 글자만 달라도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다른 이름으로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센서: id 'sen:ts1' · name '유온 센서' · tag 'TS1'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unit '℃' · normal 48 · limit 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태그 TS1로 좁히고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한계 65를 돌려받는다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센서 -OBSERVES-&gt; 유온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방향이 노드 사이에 함께 저장된다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따라갈 선과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방향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속성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코어 -SUPPLIED_BY-&gt; A정밀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연결에 붙은 값: price 180 · leadDays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공급사마다 다른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단가 · 납기를 견준다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패턴: 경보 태그 TS1에서 유온 한계까지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Cypher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는 찾을 연결을 괄호와 화살표로 적는 질의 언어로, 경보 규칙의 태그에서 그 물리량까지 한 패턴으로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물리량과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한계는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(s:Sensor {tag: 'TS1'})-[:OBSERVES]-&gt;(v:StateVariable)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조각마다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 )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s, v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:Sensor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레이블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{tag: 'TS1'}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좁힌다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-[:OBSERVES]-&gt;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저장된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방향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패턴에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곳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(sen:ts1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)-[:OBSERVES]-&gt;(sv:ts1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v.limit 65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v.unit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출발은 경보의 태그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경보의 규칙에 적힌 TS1을 속성 조건에 넣어 센서를 고른다.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방향은 저장된 대로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센서가 물리량을 읽으므로 화살표를 센서에서 유온 쪽으로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변수와 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s, v는 이 쿼리 안에서만 쓰는 이름이다. 'sen:ts1' 같은 id와 다르다.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tag로 고를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tag에는 유일 제약이 없다. 한 대상을 계속 가리켜야 하면 id로 찾는다.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 · RETURN: 찾은 연결과 돌려받는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MATCH가 찾은 연결 하나가 결과의 한 행이 되고, RETURN은 그 행에 값을 담을지 노드를 담을지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-[r:MONITORED_BY]-&gt;(s:Sensor)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c.name        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"TS1"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"CE"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MATCH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RETURN c, r, 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(:Component)-[:MONITORED_BY]-&gt;(:Sensor {tag: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(:Component)-[:MONITORED_BY]-&gt;(:Sensor {tag: 'CE'})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오일 쿨러에서 계측 관계로 이어진 센서를 모두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 = 연결 하나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연결이 둘이라 두 행이다. 이름이 두 번 나와도 쿨러 노드는 하나이다.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돌려받기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c.name, s.tag는 속성값이라 표로 읽는다.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관계를 돌려받기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c, r, s를 받으면 쿨러 하나에 센서 둘이 이어진 그래프로 그린다.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화면과 이번 과정의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시연에서 열 네 화면과, 관계 모델에서 업무 흐름까지 가는 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볼 네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포털의 화면은 설비의 지금 상태, 판단에 쓴 지식, 추천하는 에이전트, 사람이 처리할 일을 나누어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포털 메뉴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물음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결함 시뮬레이션 · 실시간 모니터링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확인 ·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설비가 지금 어떤 상태이고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났는가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지도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쓴 설비 · 센서 · 고장 · 조치는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어떻게 이어져 있는가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에이전트에게 질문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목표 · 도구 · 근거로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추천하는가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작업함 · 처리 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사람이 승인할 일은 무엇이고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건은 어디까지 왔는가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과정의 길: 관계 모델에서 업무 흐름까지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모델을 세우고, 그 근거를 조회하는 에이전트를 만든 뒤, 승인과 실행의 업무 흐름으로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3150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4687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모델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부품 · 공급 모델의 적재와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조건표로 조치 판정과 성과 비교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조건을 추출 · 검토해 작업 확인 카드로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468702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근거로 점검 요청 초안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스킬과 MCP로 다음 협의 안건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· 명세 · 회귀 검증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468702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흐름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BPMN의 역할 · 분기 · 지연과 실행 연결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· 정비 · 구매 시나리오의 실행과 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인수인계 완성과 ProcessGPT 시연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풀어 쓴 약어와 그래프를 다루는 말의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 사이에서 드나드는 데이터와 명령을 검사하는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레이블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Label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 DB에서 노드의 종류를 나타내는 이름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 Query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관계의 패턴으로 그래프 DB를 조회하고 만드는 질의 문장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