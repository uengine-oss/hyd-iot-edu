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셋(연결 · 조건표 · 승인)</a:t>
            </a:r>
          </a:p>
          <a:p>
            <a:r>
              <a:t>· 지난 회차의 설비 모델에 공급 정보를 잇고, SOP의 조건을 결정표로 옮겨 조치 후보를 가린다</a:t>
            </a:r>
          </a:p>
          <a:p>
            <a:r>
              <a:t>· 네 교시: 이론 50분 → 설비 · 부품 · 공급 조회 → 조건표 판정과 성과 비교 기능 → 선택 근거와 확인 사항 검증</a:t>
            </a:r>
          </a:p>
          <a:p>
            <a:r>
              <a:t>· 이론은 온라인 2 · 3회차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답할 질문: 「이 부품을 쓰는 설비와 공급 조건은?」 — 2교시 조회문과 반복 적재 확인</a:t>
            </a:r>
          </a:p>
          <a:p>
            <a:r>
              <a:t>· 2 조건표: 「원격 자동일 때만」 같은 조건을 입력 · 연산자 · 기준값의 행으로 → 3교시 판정 기능</a:t>
            </a:r>
          </a:p>
          <a:p>
            <a:r>
              <a:t>· 3 여러 규칙과 근거: 셋이 함께 맞으면 셋 다 남기고, 못 읽은 값은 제외 쪽으로, 걸린 규칙과 그때의 값을 남긴다</a:t>
            </a:r>
          </a:p>
          <a:p>
            <a:r>
              <a:t>· 4 비교와 승인: 점수가 높다고 실행되는 것이 아니다 — 사람 승인 1회와 수행 때 확인이 따로(4교시)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질문에서 정의로, 공급 관계의 값, 다시 넣어도 하나로</a:t>
            </a:r>
          </a:p>
          <a:p>
            <a:r>
              <a:t>· 02 순서는 SOP, 판정은 결정표: 입력 · 연산자 · 기준값 · 출력</a:t>
            </a:r>
          </a:p>
          <a:p>
            <a:r>
              <a:t>· 03 셋이 함께 맞을 때, 값을 못 읽을 때, 근거를 남길 때</a:t>
            </a:r>
          </a:p>
          <a:p>
            <a:r>
              <a:t>· 04 가능 여부와 효과 비교, 손익 항목, 검토 결과, 승인과 절차의 몫</a:t>
            </a:r>
          </a:p>
          <a:p>
            <a:r>
              <a:t>[다음] 설비 · 부품 · 공급을 잇는 질문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「펌프 축 씰 키트를 쓰는 설비는? 어느 공급사가 얼마에 며칠 걸리나?」에 답하려면 무엇을 어디에 두나</a:t>
            </a:r>
          </a:p>
          <a:p>
            <a:r>
              <a:t>· 2교시에 부품별 사용 설비와 공급 조건을 돌려주는 적재 · 조회문을 쓰고 원자료와 대조한다</a:t>
            </a:r>
          </a:p>
          <a:p>
            <a:r>
              <a:t>[다음] 역량 질문에서 클래스 · 속성 · 관계로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왼쪽부터: 역량 질문 → 클래스 → 속성 → 강조한 관계</a:t>
            </a:r>
          </a:p>
          <a:p>
            <a:r>
              <a:t>· 현장의 물음 셋: 경보 대응(어느 장치를 어느 센서로 보나), 판단(그 물리량의 한계는), 주문(교체 부품 번호는)</a:t>
            </a:r>
          </a:p>
          <a:p>
            <a:r>
              <a:t>· 역량 질문 = 온톨로지가 답할 수 있어야 하는 질문. 넣을 범위가 되고, 다 만든 뒤 빠진 게 없는지 확인하는 기준</a:t>
            </a:r>
          </a:p>
          <a:p>
            <a:r>
              <a:t>· 클래스 다섯: 설비 · 구성 요소 · 센서(장치와 센서), 상태 변수(한계), 부품(교체품)</a:t>
            </a:r>
          </a:p>
          <a:p>
            <a:r>
              <a:t>· 속성: 한계는 비교하니 수, 태그 · 부품 번호는 맞춰 찾으니 문자열, 필수 여부와 식별자</a:t>
            </a:r>
          </a:p>
          <a:p>
            <a:r>
              <a:t>· 관계: 설비 → 장치 → 센서 → 물리량, 장치 → 부품. 길마다 이름 · 방향 · 양 끝 · 카디널리티</a:t>
            </a:r>
          </a:p>
          <a:p>
            <a:r>
              <a:t>· 질문에 안 쓰이는 색 · 무게는 지금 모델에 옮기지 않는다</a:t>
            </a:r>
          </a:p>
          <a:p>
            <a:r>
              <a:t>[다음] 공급 관계에 딸린 값과 공급사에 딸린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가운데 씰 키트 → 세 공급사로 나간 선의 숫자 → 오른쪽 아래 팬 베어링 선 → 원 안의 승인 여부(강조한 C트레이딩)</a:t>
            </a:r>
          </a:p>
          <a:p>
            <a:r>
              <a:t>· 부품에 단가를 적으면 누구 값인지 못 정하고, 공급사에 적으면 다른 부품 값과 섞인다 → 짝에 딸린 값은 공급 관계의 속성</a:t>
            </a:r>
          </a:p>
          <a:p>
            <a:r>
              <a:t>· 선마다 단가(만원) · 불량률(비율) · 납기(일): B-OEM 55 · 0.02 · 5일, C트레이딩 20 · 0.30 · 1일, A정밀 35 · 0.12 · 2일 → 가장 싼 곳은 빠르지만 불량률 최고, 가장 비싼 곳은 불량률 최저 · 납기 최장 → 셋을 함께 따진다</a:t>
            </a:r>
          </a:p>
          <a:p>
            <a:r>
              <a:t>· 같은 A정밀도 팬 베어링은 18 · 0.10 · 1일 → 부품이 바뀌면 값이 다르다</a:t>
            </a:r>
          </a:p>
          <a:p>
            <a:r>
              <a:t>· 원 안 값은 공급사에 딸림: C트레이딩은 승인 공급사가 아니다(avl false). 구매 규칙은 핵심 부품을 승인 공급사에서만 → 가장 싸고 빨라도 후보에서 뺀다</a:t>
            </a:r>
          </a:p>
          <a:p>
            <a:r>
              <a:t>· 승인 여부는 어느 부품을 사든 같은 값 → 관계가 아니라 공급사의 속성. 실제 구매도 승인 공급사 목록을 따로 두고 단가 · 품질 · 납기를 함께 본다</a:t>
            </a:r>
          </a:p>
          <a:p>
            <a:r>
              <a:t>[다음] CREATE · MERGE · 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CREATE → 맨 아래 오류 메시지 → 가운데 MERGE와 SET → 오른쪽 넷째 칸</a:t>
            </a:r>
          </a:p>
          <a:p>
            <a:r>
              <a:t>· CREATE = 있는지 안 보고 새 노드. 같은 식별자가 있으면 유일 제약이 거절(아래 메시지)</a:t>
            </a:r>
          </a:p>
          <a:p>
            <a:r>
              <a:t>· MERGE = 식별자로 찾아 있으면 쓰고 없을 때만 만든다. SET = 찾았거나 만든 노드에 이름 · 태그 · 단위. 찾는 일과 값 넣는 일을 나눠 적었다</a:t>
            </a:r>
          </a:p>
          <a:p>
            <a:r>
              <a:t>· 적재를 중간에 멈추고 처음부터 다시 돌려도 MERGE면 같은 센서가 하나로 남는다</a:t>
            </a:r>
          </a:p>
          <a:p>
            <a:r>
              <a:t>· 이 시스템의 기준 그래프 파일도 MERGE만 써서 다시 실행해도 결과가 같다</a:t>
            </a:r>
          </a:p>
          <a:p>
            <a:r>
              <a:t>· 매번 새 대상이 생겨야 하는 곳(문서 적재 때마다 「언제 무엇을 넣었다」 기록)엔 CREATE. 새 대상인가, 같은 대상을 다시 다루나로 고른다</a:t>
            </a:r>
          </a:p>
          <a:p>
            <a:r>
              <a:t>[다음] 스키마 정의에서 적재 검증까지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칸: 앞 둘(준비) → 뒤 셋(넣고 확인) → 강조한 검사</a:t>
            </a:r>
          </a:p>
          <a:p>
            <a:r>
              <a:t>· 스키마 정의(정의 파일) → 인스턴스 데이터(예시 데이터) → 적재(유일 제약을 먼저 걸고 식별자로 MERGE) → 조회(처음 정한 물음을 쿼리로, 예상 답과 대조) → 검사</a:t>
            </a:r>
          </a:p>
          <a:p>
            <a:r>
              <a:t>· 검사: 필수값 · 허용값 · 양 끝 클래스를 스키마와 대조, 아무도 대신 봐 주지 않는 수와 자료형은 직접 센다. 어긋나면 정의나 데이터를 고친다</a:t>
            </a:r>
          </a:p>
          <a:p>
            <a:r>
              <a:t>· 조회와 검사가 잡는 잘못이 다르다: 유온 센서가 팬 진동을 읽도록 이어도 클래스는 맞아 검사는 통과 → 물음의 답을 예상 답과 대조해야 찾는다</a:t>
            </a:r>
          </a:p>
          <a:p>
            <a:r>
              <a:t>· 답 한 건이 맞다고 다른 대상의 필수값까지 다 채워진 건 아니다</a:t>
            </a:r>
          </a:p>
          <a:p>
            <a:r>
              <a:t>· 오류 없이 적재 ≠ 설계가 옳음. 물음의 답과 정의의 조건을 둘 다 확인해야 믿고 쓸 수 있는 지식</a:t>
            </a:r>
          </a:p>
          <a:p>
            <a:r>
              <a:t>[다음] SOP의 조건을 결정표로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「원격 조치는 REMOTE_AUTO일 때만 한다」를 시스템이 쓰게 하려면</a:t>
            </a:r>
          </a:p>
          <a:p>
            <a:r>
              <a:t>· SOP 원문 읽기 → SOP와 DMN → 입력 데이터 → 결정표 판정 → 조건 옮기기 → 출력의 종류</a:t>
            </a:r>
          </a:p>
          <a:p>
            <a:r>
              <a:t>[다음] SOP 원문에서 순서와 조건 가려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팬 최대 운전 절 → 아래 핀 세척 절, 번호 붙은 단계 → 번호 밖 조건 문장</a:t>
            </a:r>
          </a:p>
          <a:p>
            <a:r>
              <a:t>· SOP = 표준 작업 절차. 같은 조치를 누가 맡아도 같은 순서 · 같은 확인으로 끝나게 문서로 정한 것</a:t>
            </a:r>
          </a:p>
          <a:p>
            <a:r>
              <a:t>· 순서 문장 = 번호 붙은 단계(무엇을 어떤 차례로)</a:t>
            </a:r>
          </a:p>
          <a:p>
            <a:r>
              <a:t>· 조건 문장 = 절 머리 「원격 조치는 원격 자동일 때만」, 2단계 「연속 24시간 이내」, 핀 세척 1단계 정지 · 현장 제어 · 잠금, 2단계 「고압수는 쓰지 않는다」 → 언제 시작해도 되고 어디까지, 무엇을 하면 안 되나</a:t>
            </a:r>
          </a:p>
          <a:p>
            <a:r>
              <a:t>· 완료 쪽: 15분 재관측으로 회복 판정, 재가동 후 냉각 효율 80 % 이상. 승인: 팬은 운전원, 세척 절은 설비보전팀장</a:t>
            </a:r>
          </a:p>
          <a:p>
            <a:r>
              <a:t>· 번호 줄만 옮기면 「수동 조작 중엔 하지 말라」가 사라져 모양은 같아도 원래와 다른 절차가 된다 → 두 종류를 같이 가져간다</a:t>
            </a:r>
          </a:p>
          <a:p>
            <a:r>
              <a:t>[다음] 순서를 정하는 SOP와 판정을 내는 DMN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칸의 첫 줄(답하는 물음) → 왼쪽 SOP 예문 → 오른쪽 강조한 DMN 원문과 옮긴 조건 → 왼쪽 마지막 줄</a:t>
            </a:r>
          </a:p>
          <a:p>
            <a:r>
              <a:t>· SOP: 어떻게, 어떤 차례로 하나. 「팬 속도를 100 %로 올린다」는 값을 몰라도 무엇을 할지 읽힌다</a:t>
            </a:r>
          </a:p>
          <a:p>
            <a:r>
              <a:t>· DMN = 업무 의사결정을 정의하는 표준(국제 표준 단체 OMG). 물음: 지금 이 조치를 해도 되나</a:t>
            </a:r>
          </a:p>
          <a:p>
            <a:r>
              <a:t>· 「원격 자동이 아닐 때 쓰지 않는다」는 지금 모드를 모르면 답을 못 낸다 → 「운전 모드가 원격 자동과 다르면 제외」라는 조건과 출력으로 옮기고, 판단 시점의 값에 대어 참 · 거짓을 정한다</a:t>
            </a:r>
          </a:p>
          <a:p>
            <a:r>
              <a:t>· 둘은 서로를 대신하지 않는다: 절차 안에도 모드를 확인하는 단계가 남아 있다(수행 때 다시 본다)</a:t>
            </a:r>
          </a:p>
          <a:p>
            <a:r>
              <a:t>[다음] 입력 데이터(InputData)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입력 이름 → 읽는 곳과 뜻 → 오른쪽 쿨러 사건 값, 강조한 셋째 줄</a:t>
            </a:r>
          </a:p>
          <a:p>
            <a:r>
              <a:t>· 입력 데이터 = 판단에 어떤 값이 필요한지 정해 둔 항목. 결정표엔 입력의 이름과 기준뿐, 값은 판정하는 순간 정해진 출처에서 → 같은 표로 매번 다른 상황을 가린다</a:t>
            </a:r>
          </a:p>
          <a:p>
            <a:r>
              <a:t>· 운전 모드 · PLC 상태: SCADA에서 PLC의 지금 상태(쿨러 사건: 원격 자동 · 운전 중)</a:t>
            </a:r>
          </a:p>
          <a:p>
            <a:r>
              <a:t>· 팬 100 % 연속 운전 시간: 지금 팬 속도로는 모르고 운전 이력을 거슬러 계산. 쿨러 사건은 팬 60 %라 0 h. 기록이 없으면 0이 아니라 모르는 값</a:t>
            </a:r>
          </a:p>
          <a:p>
            <a:r>
              <a:t>· 조치 후 예측 유온: 관측 온도가 아니라 후보마다 계산한 값. 팬 최대 운전 49.8 ℃, 핀 세척 62.5 ℃(세척은 지금 유온을 못 내림)</a:t>
            </a:r>
          </a:p>
          <a:p>
            <a:r>
              <a:t>· 후보 조치의 종류: 조치 방법에 적힌 제어 · 작업지시 값. 출처를 함께 적으면 예측 칸에 지금 온도를 넣는 실수가 준다</a:t>
            </a:r>
          </a:p>
          <a:p>
            <a:r>
              <a:t>[다음] 결정 · 결정표 · 규칙으로 쿨러 사건 판정하기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결정(물음) → 결정표의 세 행과 대상 → 아래 쿨러 사건 입력과 결과</a:t>
            </a:r>
          </a:p>
          <a:p>
            <a:r>
              <a:t>· 결정 = 판단해서 답할 물음 하나(후보 가운데 규정상 쓸 수 없거나 감점할 것은?). 결정표 = 그 물음에 답하는 규칙 모음, 규칙 = 표의 한 행(왼쪽 조건 → 오른쪽 출력)</a:t>
            </a:r>
          </a:p>
          <a:p>
            <a:r>
              <a:t>· R1 원격 자동이 아니면 원격 제어 셋 제외. R2 팬 최대 24시간 초과면 팬 최대 운전 둘에 20만 원 감점. R3 예측 유온 55 ℃ 이상이면 모든 후보에 경고</a:t>
            </a:r>
          </a:p>
          <a:p>
            <a:r>
              <a:t>· 조건이 맞는지와 그 행이 누구에게 걸리는지는 따로 본다(R1 · R2는 핀 세척에 안 걸림)</a:t>
            </a:r>
          </a:p>
          <a:p>
            <a:r>
              <a:t>· 쿨러 사건(원격 자동 · 0 h): 팬 최대 운전 49.8 ℃는 세 행 어디에도 안 걸림. 핀 세척 62.5 ℃는 R3만 → 경고. 실제 추천안에도 핀 세척에만 이 경고</a:t>
            </a:r>
          </a:p>
          <a:p>
            <a:r>
              <a:t>· 같은 표 + 같은 입력 = 사람이든 시스템이든 같은 결과 → 누구든 근거를 다시 확인</a:t>
            </a:r>
          </a:p>
          <a:p>
            <a:r>
              <a:t>[다음] 조건 문장을 입력 · 연산자 · 기준값으로 옮기기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왼쪽 원문 표현 → 가운데 옮긴 조건 → 오른쪽 기준값과 같을 때, 강조한 첫 줄</a:t>
            </a:r>
          </a:p>
          <a:p>
            <a:r>
              <a:t>· 조건 한 줄 = 입력 · 연산자 · 기준값. 연산자 여섯: 같다 · 다르다 · 초과 · 이상 · 미만 · 이하</a:t>
            </a:r>
          </a:p>
          <a:p>
            <a:r>
              <a:t>· 「원격 자동일 때만 한다」(허용 문장) → 뒤집어 「원격 자동과 다르면 제외」 행으로. 걸리면 빠지는 쪽으로 적는다</a:t>
            </a:r>
          </a:p>
          <a:p>
            <a:r>
              <a:t>· 「넘겼다면」 = 초과(&gt;): 정확히 24.0 h는 안 맞음. 「이상이면」 = 이상(&gt;=): 정확히 55.0 ℃도 맞음</a:t>
            </a:r>
          </a:p>
          <a:p>
            <a:r>
              <a:t>· 「미만이고 유지되면」(회복 판정) = 미만(&lt;): 55.0 ℃는 안 맞음. 「트립 중이면」 = 같다(==), 이름으로 된 값은 글자가 같아야</a:t>
            </a:r>
          </a:p>
          <a:p>
            <a:r>
              <a:t>· 단위: 운전 시간은 h, 예측 유온은 ℃. 분 단위 입력은 바꾼 뒤 비교</a:t>
            </a:r>
          </a:p>
          <a:p>
            <a:r>
              <a:t>· 순서: 비교할 값 정하기 → 같은 단위의 기준값 → 원문의 포함 여부에 맞는 부호</a:t>
            </a:r>
          </a:p>
          <a:p>
            <a:r>
              <a:t>[다음] 규칙의 출력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후보 선택 → 강조한 제외 → 감점 → 경고 → 승인과 수행, 오른쪽 「후보는」</a:t>
            </a:r>
          </a:p>
          <a:p>
            <a:r>
              <a:t>· 출력도 무게가 다르다</a:t>
            </a:r>
          </a:p>
          <a:p>
            <a:r>
              <a:t>· 후보 선택: 후보를 올린다. 고장 유형이 냉각 성능 상실이라 완화 셋, 원인이 핀 오염이라 핀 세척 → 후보 넷</a:t>
            </a:r>
          </a:p>
          <a:p>
            <a:r>
              <a:t>· 제외: 비교 대상에서 뺀다. 냉각 효과가 아무리 좋아도 점수로 되살리지 않는다(원격 자동이 아니면 원격 제어 셋)</a:t>
            </a:r>
          </a:p>
          <a:p>
            <a:r>
              <a:t>· 감점: 남기되 비교 점수를 깎는다(팬 24시간 초과 → 20만 원). 경고: 남기되 승인자가 확인할 점을 붙인다(예측 유온 55 ℃ 이상)</a:t>
            </a:r>
          </a:p>
          <a:p>
            <a:r>
              <a:t>· 남은 후보 ≠ 실행 허가: 사람 승인 1회, 수행 시점의 상태 재확인, 절차의 제한을 지켜야 한다</a:t>
            </a:r>
          </a:p>
          <a:p>
            <a:r>
              <a:t>[다음] 여러 규칙 · 모르는 값 · 판정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원격 수동 · 팬 30시간 · 예측 유온 56 ℃가 한 후보에 겹치면 무엇이 남나</a:t>
            </a:r>
          </a:p>
          <a:p>
            <a:r>
              <a:t>· 3 · 4교시의 경계값 · 제외와 누락이 겹친 입력 · 모두 제외된 입력 검증이 이 단원을 쓴다</a:t>
            </a:r>
          </a:p>
          <a:p>
            <a:r>
              <a:t>[다음] Hit Policy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가정 입력 → 가운데 세 행이 모두 맞음 → 아래 모은 결과 세 칸 → 오른쪽 강조한 Collect</a:t>
            </a:r>
          </a:p>
          <a:p>
            <a:r>
              <a:t>· 일부러 나쁜 입력(가정, 사건 값 아님): 원격 수동, 팬 30시간 최대, 예측 유온 56 ℃</a:t>
            </a:r>
          </a:p>
          <a:p>
            <a:r>
              <a:t>· 세 행이 모두 맞는다 — 표가 잘못된 게 아니라 이 입력엔 정말 셋 다 해당</a:t>
            </a:r>
          </a:p>
          <a:p>
            <a:r>
              <a:t>· hit = 행이 입력에 맞는 것. Hit Policy = 여러 행이 맞을 때 무엇을 답으로 삼을지 표마다 정한 방식</a:t>
            </a:r>
          </a:p>
          <a:p>
            <a:r>
              <a:t>· 규정 적합성 표는 Collect = 맞은 행의 출력을 빠짐없이 모은다 → 제외 사유 · 감점 · 경고 세 칸</a:t>
            </a:r>
          </a:p>
          <a:p>
            <a:r>
              <a:t>· 제외 사유가 하나라도 있어 비교에서 빠지지만 감점 · 경고 사유도 지워지지 않고 남는다 → 모드가 돌아와도 연속 운전 시간 · 높은 예측 유온이 문제로 남음을 승인자가 안다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강조한 운전 모드 → 핀 세척 → 운전 이력 → 예측 유온 → 모든 후보가 빠짐, 오른쪽 결과에 남는 말</a:t>
            </a:r>
          </a:p>
          <a:p>
            <a:r>
              <a:t>· 통신이 끊겨 운전 모드를 못 읽었다 → 원격 자동이든 수동이든 찍어 넣지 않는다. 모르는 값이 든 조건은 맞았다고도 안 맞았다고도 하지 않는다</a:t>
            </a:r>
          </a:p>
          <a:p>
            <a:r>
              <a:t>· 원격 제어 셋: 제외 규칙의 값을 모름 → 제외 쪽, 사유 「확인되지 않은 조건」</a:t>
            </a:r>
          </a:p>
          <a:p>
            <a:r>
              <a:t>· 핀 세척: 그 규칙의 대상이 아니고, 종류와 모드를 함께 보는 행도 첫 검사가 거짓 → 모르는 값과 상관없이 남는다</a:t>
            </a:r>
          </a:p>
          <a:p>
            <a:r>
              <a:t>· 운전 이력이 없을 때 0 h로 채우면 24시간 제한을 넘긴 팬도 감점 없이 통과 → 감점 규칙의 값을 모르면 제외 쪽</a:t>
            </a:r>
          </a:p>
          <a:p>
            <a:r>
              <a:t>· 경고 규칙의 값을 모르면 「확인되지 않은 경고」로 남긴다</a:t>
            </a:r>
          </a:p>
          <a:p>
            <a:r>
              <a:t>· 모든 후보가 빠지면(값을 몰라서든, 값을 알아도 트립이라 리셋 외 제외든) 추천을 내지 않고 사유를 보인다. 빈 추천을 피하려고 조건을 몰래 풀지 않는다</a:t>
            </a:r>
          </a:p>
          <a:p>
            <a:r>
              <a:t>[다음] 판정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걸린 규칙 → 판정에 쓴 값 → 행별 평가 기록(trace) → 맨 아래 원문</a:t>
            </a:r>
          </a:p>
          <a:p>
            <a:r>
              <a:t>· 상황: 핀 세척에 경고가 붙었다는 결과만 받은 승인자가 확인할 것</a:t>
            </a:r>
          </a:p>
          <a:p>
            <a:r>
              <a:t>· 걸린 규칙: 어느 규칙인지, 판정 경고, 걸린 조건(예측 유온 55 ℃ 이상), 근거 절 HM-8.6 → 따라가면 원문(55 ℃ 이상이면 경보 해제에 실패할 수 있어 다른 조치와 비교)</a:t>
            </a:r>
          </a:p>
          <a:p>
            <a:r>
              <a:t>· 지식 출처 = 규칙의 근거 문서(DMN 용어). 그래프에선 규칙이 매뉴얼 절을 가리키는 관계로 → 규칙 자체가 타당한지 따질 근거</a:t>
            </a:r>
          </a:p>
          <a:p>
            <a:r>
              <a:t>· 판정에 쓴 값: 그때 계산한 예측 유온 62.5 ℃. 지금 값을 다시 읽어선 과거 판정을 재현 못 한다(값이 바뀌었을 수 있다)</a:t>
            </a:r>
          </a:p>
          <a:p>
            <a:r>
              <a:t>· trace = 행마다 맞음 · 맞지 않음 · 모름을 남긴 평가 기록. 맞지 않은 행까지 남아야 무엇을 검사했는지, 모르는 값을 어떻게 다뤘는지 확인된다</a:t>
            </a:r>
          </a:p>
          <a:p>
            <a:r>
              <a:t>[다음] 허용 후보의 성과 비교와 사람의 승인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점수가 가장 높은 조치는 바로 실행되나</a:t>
            </a:r>
          </a:p>
          <a:p>
            <a:r>
              <a:t>· 가능 여부와 효과 → 성과 지표에 닿는 길 → 손익 항목 → 조치 검토 결과 → 원인 진단에서 승인까지 → 결정표로 옮겨도 절차에 남는 것</a:t>
            </a:r>
          </a:p>
          <a:p>
            <a:r>
              <a:t>[다음] 가능 여부를 가르는 규칙과 효과를 견주는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열(가능 여부의 규칙) vs 오른쪽 열(효과의 기준) → 다섯 줄 → 강조한 마지막 줄</a:t>
            </a:r>
          </a:p>
          <a:p>
            <a:r>
              <a:t>· 물음: 지금 해도 되나 vs 해도 되는 것 가운데 무엇이 나은가</a:t>
            </a:r>
          </a:p>
          <a:p>
            <a:r>
              <a:t>· 모양: 통과 · 제외(제외는 점수와 무관하게 뒤로) vs 점수(손해와 이득이 서로 메워짐)</a:t>
            </a:r>
          </a:p>
          <a:p>
            <a:r>
              <a:t>· 쿨러 예: 원격 수동이면 원격 후보 셋 제외, 무재해는 금액과 맞바꾸지 않음</a:t>
            </a:r>
          </a:p>
          <a:p>
            <a:r>
              <a:t>· 감점 · 경고: 결정표의 출력이지만 후보를 빼지 않고 점수 성분이 됨</a:t>
            </a:r>
          </a:p>
          <a:p>
            <a:r>
              <a:t>· 섞으면: 안전선이 감점이 되어 묻히거나, 비용이 제외 조건이 되어 후보가 모두 빠짐</a:t>
            </a:r>
          </a:p>
          <a:p>
            <a:r>
              <a:t>· 순서: 규칙으로 먼저 거르고 남은 후보끼리 점수로</a:t>
            </a:r>
          </a:p>
          <a:p>
            <a:r>
              <a:t>[다음] 조치 한 건이 성과 지표에 닿는 길과 상충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조치 원 → AFFECTS 두 줄 → 유온 → 오른쪽 세 지표</a:t>
            </a:r>
          </a:p>
          <a:p>
            <a:r>
              <a:t>· 팬 최대와 부하 80 %(SOP-COOL-12): 팬 60 → 100 %, 펌프 부하 90 → 80 %</a:t>
            </a:r>
          </a:p>
          <a:p>
            <a:r>
              <a:t>· +/- 기호 = 같은 방향 · 반대 방향</a:t>
            </a:r>
          </a:p>
          <a:p>
            <a:r>
              <a:t>· 얻는 쪽: 팬↑ → 유온↓, 부하↓ → 유온↓ → 인터록 여유↑</a:t>
            </a:r>
          </a:p>
          <a:p>
            <a:r>
              <a:t>· 잃는 쪽: 팬↑ → 전력 사용량↑, 부하↓ → 생산량↓ → 납기 준수율 부담</a:t>
            </a:r>
          </a:p>
          <a:p>
            <a:r>
              <a:t>· 상충(Trade-off): 한 조치가 어떤 지표엔 이롭고 다른 지표엔 불리한 관계, 길을 끝까지 따라가야 보인다</a:t>
            </a:r>
          </a:p>
          <a:p>
            <a:r>
              <a:t>· 이 길은 방향까지, 얼마나인지는 업무 값이 있어야 금액으로</a:t>
            </a:r>
          </a:p>
          <a:p>
            <a:r>
              <a:t>[다음] 후보의 손익 항목과 값의 원천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 열(기록 · 원천) → 오른쪽 열(가정) → 강조한 다섯째 줄</a:t>
            </a:r>
          </a:p>
          <a:p>
            <a:r>
              <a:t>· 생산 감소: 낮춘 부하 · 시간 · 정지 시간 × 시간당 생산 가치(MES · CMMS)</a:t>
            </a:r>
          </a:p>
          <a:p>
            <a:r>
              <a:t>· 납기 지연 위약금: 넘긴 시간 × 시간당 위약금(ERP 계약 · MES), 월 단위 KPI 지체상금(만 원/월)과 섞지 않음</a:t>
            </a:r>
          </a:p>
          <a:p>
            <a:r>
              <a:t>· 품질 클레임 위험: 예측 유온 55 ℃ 이상일 때 고온 로트(QMS), 예측에 기댄 추정</a:t>
            </a:r>
          </a:p>
          <a:p>
            <a:r>
              <a:t>· 에너지비: 추가 전력 × 운전 시간 × 단가(EMS), 운전 시간은 가정값</a:t>
            </a:r>
          </a:p>
          <a:p>
            <a:r>
              <a:t>· 정비 정지 · 작업비: HYD-01 핀 세척 정지 3 h · 40만 원(CMMS 표준 작업, 계획값), 표준 작업이 없으면 미확인</a:t>
            </a:r>
          </a:p>
          <a:p>
            <a:r>
              <a:t>· 고장 위험: 고장 비용 × 운전 기간 ÷ MTBF, 원인이 남는 후보에만, 근본 조치 뒤 0은 가정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열(후보 · 판정, 규칙 · 출처, 순위 · 승인 · 남은 확인) → 강조한 첫 줄 → 마지막 줄</a:t>
            </a:r>
          </a:p>
          <a:p>
            <a:r>
              <a:t>· 팬 최대 운전: 유지, 걸린 규칙 없음(HM-8.5 · HM-8.8), 1순위 · 운전원, 승인 순간 모드 재확인 · 15분 재관측</a:t>
            </a:r>
          </a:p>
          <a:p>
            <a:r>
              <a:t>· 감산 두 후보: 유지, 부하 80 · 70 %는 하한 60 % 위, 공동 2순위, SOP-COOL-13은 야간 핀 세척 작업지시 · 야간 정비 시간 확인</a:t>
            </a:r>
          </a:p>
          <a:p>
            <a:r>
              <a:t>· 핀 세척: 유지(경고), 예측 62.5 ℃ ≥ 55(HM-8.6), 근본 조치(HM-8.7), 4순위 · 설비보전팀장, 정지 · LOCAL · LOTO, 재가동 뒤 CE 80 % 이상</a:t>
            </a:r>
          </a:p>
          <a:p>
            <a:r>
              <a:t>· 검토 결과 밖: 실행 승인 · 수행 순간의 확인 · 결과 관측</a:t>
            </a:r>
          </a:p>
          <a:p>
            <a:r>
              <a:t>· 순위표만 넘기면 1순위가 실행할 조치처럼 읽힌다 → 판정마다 이유 · 출처 · 남은 확인</a:t>
            </a:r>
          </a:p>
          <a:p>
            <a:r>
              <a:t>[다음] 원인 진단에서 승인까지 이어지는 판단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왼쪽부터: 원인 진단 → 후보 선택 → 규정 검사 → 남은 후보 비교 → 강조한 승인과 수행</a:t>
            </a:r>
          </a:p>
          <a:p>
            <a:r>
              <a:t>· 원인 진단: 증거 가중치로 원인 순위를 매겨 핀 오염. 결정표 평가가 아니라 따로 계산. 원인이 유력하다는 판단이 곧 어떤 조치의 높은 점수가 되지는 않는다</a:t>
            </a:r>
          </a:p>
          <a:p>
            <a:r>
              <a:t>· 후보 선택(Collect): 고장 유형 · 원인에 맞는 조치 → 후보 넷</a:t>
            </a:r>
          </a:p>
          <a:p>
            <a:r>
              <a:t>· 규정 검사(Collect): 넷 모두 남고 핀 세척에만 경고</a:t>
            </a:r>
          </a:p>
          <a:p>
            <a:r>
              <a:t>· 남은 후보 비교: 순위 정책 하나를 Unique로 — 후보를 하나로 줄인다는 뜻이 아니라 적용할 정책이 하나라는 뜻. 무엇으로 견주는지(성과 · 비용)는 이 회차에서 다루지 않는다</a:t>
            </a:r>
          </a:p>
          <a:p>
            <a:r>
              <a:t>· 승인과 수행: 사람 승인 1회, 승인 순간 모드 · 상태 재확인, 수행은 SOP 단계대로</a:t>
            </a:r>
          </a:p>
          <a:p>
            <a:r>
              <a:t>· 나눠 두면 볼 곳이 분명: 엉뚱한 조치가 후보에 들어오면 고장-조치 연결을, 수동 운전인데 원격 제어가 남으면 규정 표의 입력과 조건을 본다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위 둘(결정표로 옮김) → 아래 셋(옮기지 않음), 강조한 마지막 줄</a:t>
            </a:r>
          </a:p>
          <a:p>
            <a:r>
              <a:t>· 물음: 조건을 결정표로 옮기면 절차는 필요 없나</a:t>
            </a:r>
          </a:p>
          <a:p>
            <a:r>
              <a:t>· 「원격 자동인지 확인」 → 제외 규칙. 그래도 승인 순간 다시 확인하는 단계는 절차에 남는다(쿨러 사건에서도 승인 순간 모드를 다시 읽음)</a:t>
            </a:r>
          </a:p>
          <a:p>
            <a:r>
              <a:t>· 「연속 24시간 이내」 → 감점 규칙. 감점은 비교용 값이고 실제로 그 시간을 지켜 운전하는 일은 절차에</a:t>
            </a:r>
          </a:p>
          <a:p>
            <a:r>
              <a:t>· 「15분 재관측으로 회복 판정」: 조치 뒤에야 값이 생겨 판단 시점의 결정표로 못 가린다</a:t>
            </a:r>
          </a:p>
          <a:p>
            <a:r>
              <a:t>· 「정지 · 현장 제어 · 잠금」: 현장에서 사람이 확인하는 안전 조건</a:t>
            </a:r>
          </a:p>
          <a:p>
            <a:r>
              <a:t>· 「고압수 금지」: 판정할 입력 값 자체가 없는 작업 방법의 금지. 결정표에 규칙이 없다고 허용되는 게 아니다</a:t>
            </a:r>
          </a:p>
          <a:p>
            <a:r>
              <a:t>· 결정표 = 판단 시점 값으로 가릴 조건을 누구나 같게, 절차 = 무엇을 어떤 차례로 하고 언제 끝내나 → 절차를 모두 규칙으로 바꿀 수 없다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앞 단계 완성 모델로 부품별 사용 설비와 공급 조건을 돌려주는 적재 · 조회문. P-PMP-SEAL의 사용 설비 HYD-01 · 02 · 03과 공급 조건 3행을 원자료와 대조, 다른 품번 · 없는 품번, 비승인 공급사는 승인 상태와 함께. 반복 적재 중복 검사</a:t>
            </a:r>
          </a:p>
          <a:p>
            <a:r>
              <a:t>· 3교시: 제공 완성 조건표와 교육용 성과 자료에서 적용 대상과 복합 조건을 읽어 경고 · 감점 · 제외 · 정보 부족을 가르는 기능, 허용 후보만 비용 · 생산 · 품질 · 에너지 산식으로 비교하고 원문 근거</a:t>
            </a:r>
          </a:p>
          <a:p>
            <a:r>
              <a:t>· 4교시: 후보별 이유 · 출처 · 추가로 확인할 값, 경계값 · 제외와 누락이 겹친 입력 · 모두 제외된 입력으로 검증. 점수의 높고 낮음과 실행 승인은 다르다</a:t>
            </a:r>
          </a:p>
          <a:p>
            <a:r>
              <a:t>· 진행은 실습마다 핸즈온 가이드를 따른다. 다음 회차에 작업 조건의 문서 근거를 확인 카드에 잇는다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Relationship Id="rId5" Type="http://schemas.openxmlformats.org/officeDocument/2006/relationships/image" Target="../media/image1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2회차 · 설비 지식과 조건을 조치 검토에 활용하기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모델 · 조건표와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 · 승인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설비 · 부품 연결 조회와 작업 조건표를 엮어 선택 근거가 보이는 조치 검토 결과를 만든다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opology-star-3" descr="topology-star-3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able" descr="table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· 부품 · 공급의 질문을 정하고, SOP 조건을 결정표로 판정한 뒤, 성과 비교와 승인을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답할 질문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부품 · 공급을 잇는다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넣어도 하나로 남긴다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SOP 조건을 행으로 옮긴다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제외 · 감점 · 경고를 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근거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맞은 행을 모두 모은다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모르는 값은 통과가 아니다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비교와 승인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 후보끼리 견준다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판정과 실행 승인을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· 부품 · 공급을 잇는 질문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SOP의 조건을 결정표로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규칙 · 모르는 값 · 판정 근거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후보의 성과 비교와 사람의 승인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· 부품 · 공급을 잇는 질문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질문에서 정의를 고르고, 공급 관계의 값과 반복 적재의 규칙을 정한다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역량 질문에서 클래스 · 속성 · 관계로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역량 질문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(Competency Question)에서 출발해, 질문에 나오는 대상 · 값 · 길만 정의로 옮긴다.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937510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52145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역량 질문을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대응: 어느 장치를 어느 센서로 보나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판단: 그 물리량의 한계는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주문: 교체 부품의 번호는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52145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대상을 클래스로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구성 요소 · 센서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 변수 · 부품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HYD-01 · 오일 쿨러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· 유온 · 쿨러 코어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52145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묻는 값을 속성으로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한계는 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· 부품 번호는 문자열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여부와 식별자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521458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52145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573018"/>
            <a:ext cx="2627299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건너가는 길을 관계로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· 방향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양 끝 클래스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카디널리티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공급 관계에 딸린 값과 공급사에 딸린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price · failRate · leadDays는 짝마다 달라 공급 관계(SUPPLIED_BY)에 두고, avl은 공급사에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4759314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80930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축 씰 키트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P-PMP-SEAL</a:t>
            </a:r>
          </a:p>
        </p:txBody>
      </p:sp>
      <p:sp>
        <p:nvSpPr>
          <p:cNvPr id="8" name="Oval 7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B-OEM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avl true</a:t>
            </a:r>
          </a:p>
        </p:txBody>
      </p:sp>
      <p:sp>
        <p:nvSpPr>
          <p:cNvPr id="10" name="Oval 9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27310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C트레이딩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avl false</a:t>
            </a:r>
          </a:p>
        </p:txBody>
      </p:sp>
      <p:sp>
        <p:nvSpPr>
          <p:cNvPr id="12" name="Oval 11"/>
          <p:cNvSpPr/>
          <p:nvPr/>
        </p:nvSpPr>
        <p:spPr>
          <a:xfrm>
            <a:off x="4759314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80930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A정밀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avl true</a:t>
            </a:r>
          </a:p>
        </p:txBody>
      </p:sp>
      <p:sp>
        <p:nvSpPr>
          <p:cNvPr id="14" name="Oval 13"/>
          <p:cNvSpPr/>
          <p:nvPr/>
        </p:nvSpPr>
        <p:spPr>
          <a:xfrm>
            <a:off x="9905695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27310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베어링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P-FAN-BRG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359152" y="2496312"/>
            <a:ext cx="2354442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2636832" y="2130552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36832" y="2130552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55만원 · 0.02 · 5일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42394" y="2496312"/>
            <a:ext cx="329014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7287928" y="2130552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87928" y="2130552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20만원 · 0.30 · 1일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27994" y="3410712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5719434" y="3831335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19434" y="3831335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35만원 · 0.12 · 2일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569826" y="5486400"/>
            <a:ext cx="329014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7315360" y="5120640"/>
            <a:ext cx="179908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360" y="5120640"/>
            <a:ext cx="179908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18만원 · 0.10 · 1일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 · MERGE · SET: 새로 만들기와 찾아서 쓰기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적재를 중간에 멈췄다가 다시 돌려도 센서가 하나로 남으려면, 식별자로 찾고 없을 때만 만드는 MERGE를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CREATE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tag: 'TS1'})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s.tag  = 'TS1',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s.unit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sen:ts1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CREATE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Node already exists with label `Sensor`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property `id` = 'sen:ts1'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있는지 보지 않고 새 노드를 만든다. 같은 id가 있으면 유일 제약이 거절한다.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패턴에 맞는 노드를 찾아 쓰고, 없을 때만 만든다.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찾았거나 만든 노드에 속성값을 넣는다.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쓰는 자리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시드는 MERGE만 써서 다시 돌려도 같다. 매번 새로 남길 기록은 CREATE로 만든다.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정의에서 적재 검증까지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적재가 오류 없이 끝난 것과 설계가 옳은 것은 달라서, 질문의 답과 정의의 조건을 따로 대조해야 지식으로 쓸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4454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정의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· 제약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정의 파일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44546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대상과 관계를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예시 데이터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earch" descr="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44546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유일 제약을 먼저 걸고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식별자로 MERGE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그래프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29184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44546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정한 질문을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쿼리로 묻고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예상한 답과 대조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108962"/>
            <a:ext cx="1911644" cy="3764787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2918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circle-check" descr="circ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445461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096514"/>
            <a:ext cx="1765340" cy="270408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필수값 · 허용값 · 끝 클래스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수와 자료형은 직접 센다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어긋나면 정의나 데이터를 고친다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SOP의 조건을 결정표로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속 조건 문장을 판단 시점의 값에 대어 참 · 거짓을 가리는 행으로 옮긴다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 원문에서 순서와 조건 가려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번호 붙은 순서 문장과, 그 순서를 언제 시작하고 무엇을 하지 않을지 정한 조건 문장으로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HM-8.7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설비보전팀장이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SOP-COOL-14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정지하고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LOCAL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전환한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잠금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(LOTO)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압축공기로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고압수는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재가동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CE 80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SOP(Standard Operating Procedure)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표준 작업 절차. 누가 해도 같은 순서 · 같은 확인으로 끝나게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 문장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 붙은 단계. 무엇을 어떤 차례로 하는가.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문장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머리와 단계 속의 전제 · 제한 · 금지. 언제 해도 되고 무엇을 하면 안 되는가.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· 승인 · 작업 기록이 같은 절차를 가리키는 식별자.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순서를 정하는 SOP와 판정을 내는 DMN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SOP의 순서는 값 없이 읽히지만, 「~일 때만」 같은 조건은 판단 시점의 값이 있어야 참 · 거짓이 정해진다.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SOP(표준 작업 절차)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어떻게, 어떤 차례로 하는가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「2. 팬 속도를 100 %로 올린다.」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단계대로 수행하고 확인한다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 때도 1단계처럼 상태를 다시 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DMN(Decision Model and Notation)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의사결정을 정의하는 OMG의 표준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지금 이 조치를 해도 되는가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「원격 조치는 REMOTE_AUTO가 아닐 때 쓰지 않는다.」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옮긴 조건: plc_mode != 'REMOTE_AUTO'이면 제외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데이터(InputData): 판정에 쓰는 값과 읽는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결정표에는 입력의 이름과 기준만 있고, 값은 판정하는 순간 정해진 출처에서 읽어 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 데이터 · 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곳과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 운전 모드 · plc_mode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SCADA의 PLC 상태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REMOTE_AUTO · REMOTE_MANUAL · LOCAL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 상태 · plc_state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SCADA의 PLC 상태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중인지, 보호 정지(TRIP)인지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100 % 연속 운전 시간 · fan100_hours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이력(시계열)에서 계산한 지금까지의 연속 시간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기록이 없으면 0 h가 아니라 모름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 h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(팬 60 %)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후 예측 유온 · forecast_ts1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계산, 후보마다 따로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관측한 온도가 아니다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49.8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62.5 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조치의 종류 · skill_kind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조치 방법의 kind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control · work_order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 · 결정표 · 규칙으로 쿨러 사건 판정하기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결정표는 한 물음에 답하는 규칙 행의 모음이라, 같은 입력을 대면 누가 판정해도 행마다 같은 결과가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  dec:compliance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가운데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무엇인가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DecisionTable  dt:compliance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R1  plc_mode != 'REMOTE_AUTO'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R2  fan100_hours &gt; 24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R3  forecast_ts1 &gt;= 55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REMOTE_AUTO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SOP-COOL-11  49.8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R1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R3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SOP-COOL-14  62.5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R3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결정(Decision)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판단해서 답할 물음 하나.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결정표(DecisionTable)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물음에 답하는 규칙의 모음.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규칙(Rule)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한 행. 조건이 모두 맞으면 출력을 내고, 아니면 아무것도 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행마다 걸리는 조치가 정해져 있다. R1 · R2는 SOP-COOL-14에 걸리지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문장을 입력 · 연산자 · 기준값으로 옮기기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하나는 입력 · 연산자 · 기준값으로 적고, 「~일 때만 한다」는 반대 조건에 걸리면 제외하는 행으로 옮긴다.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원문의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옮긴 조건과 연산자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기준값 자신은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「REMOTE_AUTO일 때만 한다」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plc_mode != 'REMOTE_AUTO' → 제외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조건을 뒤집어 제외 행으로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REMOTE_AUTO면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「24시간을 넘겼다면」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 &gt; 24 → 감점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&gt; 초과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24.0 h는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「55 ℃ 이상이면」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경고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&gt;= 이상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55.0 ℃도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「55 ℃ 미만이고 … 유지되면」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&lt; 55 (HM-8.6 회복 판정)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&lt; 미만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55.0 ℃는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「트립 중이면」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plc_state == 'TRIP'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== 같다, 이름으로 된 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글자가 같아야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맞는다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fan100_hours는 h, forecast_ts1은 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기준값의 단위를 먼저 맞춘다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분 단위 입력은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바꾼 뒤 비교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규칙의 출력: 후보 선택 · 제외 · 감점 · 경고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후보에 올리는 출력과 오른 후보를 빼고 깎고 알리는 출력이 따로 있어서, 남은 후보도 실행 허가는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출력(effect)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조치의 실제 규칙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SELECT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 → SOP-COOL-11 · 12 · 13 (HM-8.5)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→ SOP-COOL-14 (HM-8.7)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 EXCLUDE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plc_mode != 'REMOTE_AUTO' → SOP-COOL-11 · 12 · 13 (HM-8.8)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빠진다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점수로 되살리지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PENALTY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 &gt; 24 → 20만 원, SOP-COOL-11 · 12 (HM-8.8)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남고 깎인다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 WARN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모든 후보 (HM-8.6)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남고 확인할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점이 붙는다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수행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후보도 사람 승인 1회와 수행 시점의 확인을 거친다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실행은 따로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규칙 · 모르는 값 · 판정 근거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여러 행이 함께 맞을 때, 값을 읽지 못했을 때, 판정을 되짚을 근거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Policy: 여러 행이 함께 맞을 때의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Hit Policy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한 입력에 여러 행이 맞을 때 무엇을 답으로 삼을지 결정표마다 정해 둔 방식이다.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plc_mode = 'REMOTE_MANUAL'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fan100_hours = 30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forecast_ts1 = 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적합성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COLLECT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R1  plc_mode != 'REMOTE_AUTO'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R2  fan100_hours &gt; 24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R3  forecast_ts1 &gt;= 55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violations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자동이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(HM-8.8)]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penalties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(HM-8.8)]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warnings 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(HM-8.6)]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빠지고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셋이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한 행이 입력에 맞는 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행의 출력을 빠짐없이 모은다.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제외가 있으면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후보는 비교에서 빠지지만 감점 · 경고 사유도 함께 남는다.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규정 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규정 적합성 표는 Collect로 선언되어 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운전 모드와 운전 이력을 읽지 못했을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모르는 조건은 통과로 치지 않아서, 제외 · 감점 규칙은 제외 쪽으로, 경고 규칙은 확인되지 않은 경고로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읽지 못한 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걸리는 후보와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결과에 남는 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· 12 · 13: 제외 규칙의 값을 모른다 → 제외 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「확인되지 않은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 (plc_mode)」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SOP-COOL-14: 그 규칙의 적용 대상이 아니다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control AND 모드 규칙도 앞 검사가 거짓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기록이 없으면 0 h가 아니라 모름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· 12: 감점 규칙이라 제외 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0으로 채우면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제한 넘긴 팬이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통과한다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forecast_ts1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 규칙의 값을 모른다 → 경고로 남긴다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확인되지 않은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모든 후보가 빠짐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추천을 내지 않고 제외 사유를 보인다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값을 알아도: 트립(TRIP)이면 리셋 외 제외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몰래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풀지 않는다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근거: 걸린 규칙 · 그때의 값 · 원문 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걸린 규칙과 조건, 그때 읽은 값, 근거 원문이 한 묶음으로 남아야 승인하는 사람이 판정을 되짚을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SOP-COOL-14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     rule:cmp-forecast-ts1-high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effect    WARN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when      forecast_ts1 &gt;= 55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sources   ["HM-8.6"]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forecast_ts1 = 62.5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trace: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{decision, rule, when, fired, unknown}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해제에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출처(Knowledge Source)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규칙의 근거 문서. 규칙은 DERIVED_FROM으로 매뉴얼 절을 가리킨다.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rule · effect · 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규칙이 어떤 조건으로 무슨 판정을 냈는가.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판정에 쓴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값을 다시 읽어서는 그때의 판정을 재현할 수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trace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맞지 않은 행과 모르는 값까지 남긴 행별 평가 기록.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후보의 성과 비교와 사람의 승인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후보끼리 득실을 견주고, 판정과 실행 승인이 다른 단계임을 확인한다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가르는 규칙과 효과를 견주는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 규칙이 먼저 후보를 거르고 남은 후보끼리만 점수로 견주어야, 안전선은 지켜지고 고를 조치도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가능 여부의 규칙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효과의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답하는 물음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이 조치를 해도 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해도 되는 것 가운데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나은가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결과의 모양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 또는 제외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제외되면 점수와 관계없이 순위의 뒤로 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점수의 높고 낮음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손해와 이득이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서로 메워진다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수동이면 원격 제어 후보 셋이 빠진다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무재해 운전: 금액과 맞바꾸지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효과 · 생산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전력 · 납기를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·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결정표의 출력이지만 후보를 빼지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후보를 남긴 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 성분이 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둘을 섞으면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안전선이 작은 감점이 되어 다른 점수에 묻힌다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작은 비용에도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후보가 모두 빠진다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한 건이 성과 지표에 닿는 길과 상충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(Trade-off)은 한 조치가 어떤 지표에는 이롭고 다른 지표에는 불리한 관계라, 길을 끝까지 따라가야 보인다.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최대와 부하 80 %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8" name="Oval 7"/>
          <p:cNvSpPr/>
          <p:nvPr/>
        </p:nvSpPr>
        <p:spPr>
          <a:xfrm>
            <a:off x="2956483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8896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 → 100 %</a:t>
            </a:r>
          </a:p>
        </p:txBody>
      </p:sp>
      <p:sp>
        <p:nvSpPr>
          <p:cNvPr id="10" name="Oval 9"/>
          <p:cNvSpPr/>
          <p:nvPr/>
        </p:nvSpPr>
        <p:spPr>
          <a:xfrm>
            <a:off x="2956483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8896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 → 80 %</a:t>
            </a:r>
          </a:p>
        </p:txBody>
      </p:sp>
      <p:sp>
        <p:nvSpPr>
          <p:cNvPr id="12" name="Oval 11"/>
          <p:cNvSpPr/>
          <p:nvPr/>
        </p:nvSpPr>
        <p:spPr>
          <a:xfrm>
            <a:off x="5364327" y="2770174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66740" y="3048152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14" name="Oval 13"/>
          <p:cNvSpPr/>
          <p:nvPr/>
        </p:nvSpPr>
        <p:spPr>
          <a:xfrm>
            <a:off x="652009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250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</p:txBody>
      </p:sp>
      <p:sp>
        <p:nvSpPr>
          <p:cNvPr id="16" name="Oval 15"/>
          <p:cNvSpPr/>
          <p:nvPr/>
        </p:nvSpPr>
        <p:spPr>
          <a:xfrm>
            <a:off x="7772171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74584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</a:t>
            </a:r>
          </a:p>
        </p:txBody>
      </p:sp>
      <p:sp>
        <p:nvSpPr>
          <p:cNvPr id="18" name="Oval 17"/>
          <p:cNvSpPr/>
          <p:nvPr/>
        </p:nvSpPr>
        <p:spPr>
          <a:xfrm>
            <a:off x="10180015" y="2443734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82428" y="2721711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이로움</a:t>
            </a:r>
          </a:p>
        </p:txBody>
      </p:sp>
      <p:sp>
        <p:nvSpPr>
          <p:cNvPr id="20" name="Oval 19"/>
          <p:cNvSpPr/>
          <p:nvPr/>
        </p:nvSpPr>
        <p:spPr>
          <a:xfrm>
            <a:off x="1018001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82428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1923517" y="2810656"/>
            <a:ext cx="1098423" cy="74458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1890933" y="2817190"/>
            <a:ext cx="11635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90933" y="2817190"/>
            <a:ext cx="116358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AFFECTS +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923517" y="4427468"/>
            <a:ext cx="1098423" cy="74458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1890933" y="4434001"/>
            <a:ext cx="11635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90933" y="4434001"/>
            <a:ext cx="116358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AFFECTS -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90200" y="2692350"/>
            <a:ext cx="978667" cy="46438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4137464" y="2558783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37464" y="2558783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-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4271132" y="4033702"/>
            <a:ext cx="1221005" cy="107598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4139565" y="4205935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39565" y="4205935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6871307" y="3229675"/>
            <a:ext cx="3237398" cy="21945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7747936" y="2973642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7936" y="2973642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-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465243" y="2359152"/>
            <a:ext cx="323377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5340061" y="1993392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0061" y="1993392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465243" y="5623560"/>
            <a:ext cx="1981697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1" name="Rounded Rectangle 40"/>
          <p:cNvSpPr/>
          <p:nvPr/>
        </p:nvSpPr>
        <p:spPr>
          <a:xfrm>
            <a:off x="4714022" y="5257800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14022" y="5257800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028852" y="5623560"/>
            <a:ext cx="207801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8325788" y="5257800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5788" y="5257800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후보의 손익 항목과 값의 원천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손익은 항목마다 다른 업무 시스템의 기록으로 계산하고, 원천이 없으면 숫자를 짓지 않고 미확인으로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손익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계산에 필요한 기록 · 원천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들어 있는 가정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낮춘 부하 · 유지 시간 · 작업 정지 시간 × 시간당 생산 가치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 · CMMS 표준 작업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부하 90 %에서 줄인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비율만큼 생산도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준다고 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지연 위약금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납기를 넘긴 시간 × 계약의 시간당 위약금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계약 · MES 오더 잔량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월 단위 KPI인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지체상금(만 원/월)과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섞지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클레임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 55 ℃ 이상일 때 고온 로트의 클레임 금액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예측값에 기댄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추정이다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최대의 추가 전력 × 운전 시간 × 전력 단가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시간은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가정값이다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정지 · 작업비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표준 작업: HYD-01 핀 세척 정지 3 h · 40만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조치의 표준 작업이 없으면 손익 미확인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계획한 시간이지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실제 복구 시간이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아니다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위험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고장 비용 × 운전 기간 ÷ MTBF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남는 후보에만 붙는다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근본 조치 뒤 0은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계산의 가정이다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쿨러 사건의 조치 검토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검토 결과는 후보마다 판정 · 규칙 · 출처 · 남은 확인을 적어, 순위가 실행 승인으로 읽히지 않게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 · 판정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걸린 규칙과 원문 출처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 · 승인 · 남은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SOP-COOL-11 팬 최대 운전 · 유지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· 감점 · 경고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연속 0 h · 예측 49.8 ℃ (HM-8.5 · HM-8.8)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 · 운전원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순간 모드 재확인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15분 재관측(HM-8.6)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SOP-COOL-12 팬 최대와 부하 80 % · 유지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규칙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80 %는 하한 60 % 위 (HM-8.8)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운전원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속도가 준다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15분 재관측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SOP-COOL-13 부하 70 %와 야간 세척 · 유지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규칙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야간 핀 세척 작업지시가 함께 걸린다 (HM-8.5)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운전원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야간 정비 시간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SOP-COOL-14 쿨러 핀 세척 · 유지(경고)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62.5 ℃ ≥ 55 ℃ → 경고 (HM-8.6)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근본 조치 작업지시 (HM-8.7)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4순위 · 설비보전팀장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정지 · LOCAL · LOTO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재가동 뒤 CE 80 %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결과 밖의 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승인 · 수행하는 순간의 확인 · 결과 관측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승인 1회 뒤 실행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재관측으로 효과 확인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진단에서 승인까지 이어지는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진단의 답이 후보 선택 표로, 모인 후보가 규정 표로 넘어가서 판단마다 따로 확인할 근거가 생긴다.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check" descr="zoom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64688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 가중치로 원인 순위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 평가가 아니다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쿨러 핀 오염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64688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 · 원인에 맞는 조치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후보 넷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64688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규정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후보마다 제외 · 감점 · 경고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넷 모두 남고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세척에 경고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cale" descr="sca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64688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후보 비교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UNIQUE: 순위 정책 하나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성과와 비용으로 견준다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다음 회차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49326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user-check" descr="user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646883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수행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승인 1회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순간 모드 · 상태 재확인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SOP 단계대로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결정표로 옮겨도 절차에 남는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시점의 값으로 가릴 수 있는 조건만 결정표로 옮기고, 현장 확인 · 조치 뒤 관측 · 작업 방법은 절차에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SOP의 문장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결정표로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절차에 남는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「REMOTE_AUTO인지 확인한다」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규칙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순간 다시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확인하는 단계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「100 % 연속 운전은 24시간 이내」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연속 운전 시간을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지키는 운전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「15분 재관측으로 회복 판정」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옮기지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뒤에야 값이 생긴다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「정지 · LOCAL · 잠금(LOTO)」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옮기지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현장에서 사람이 확인한다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조건의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「고압수는 쓰지 않는다」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옮기지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판정할 입력 값이 없다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 방법의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공급 정보를 조회하고, 조건표 판정과 성과 비교 기능을 만든 뒤, 선택 근거를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부품 · 공급 정보를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연결하고 조회하기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사용 설비 · 공급 조건 조회,</a:t>
            </a:r>
          </a:p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비승인 공급사 구별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조건표와 판정 · 성과 비교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기능 만들기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경고 · 감점 · 제외 · 정보 부족,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 후보 비교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선택 근거와 확인 사항을 검증해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완성하기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후보별 이유 · 출처 · 확인 값,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점수와 승인의 구분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