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제목 → 부제 → 아이콘 셋(갈림 · 승인 · 기록)</a:t>
            </a:r>
          </a:p>
          <a:p>
            <a:r>
              <a:t>· 앞에서: 에이전트가 쿨러 경보를 받아 원인을 가리고 추천안까지</a:t>
            </a:r>
          </a:p>
          <a:p>
            <a:r>
              <a:t>· 추천안이 나왔다고 설비가 좋아지지 않는다: 승인 · 명령 · 재관측이 남음</a:t>
            </a:r>
          </a:p>
          <a:p>
            <a:r>
              <a:t>· 물음: 이 일들을 누가, 어떤 순서로, 무엇을 지키며 잇나</a:t>
            </a:r>
          </a:p>
          <a:p>
            <a:r>
              <a:t>· 답의 순서: 프로세스로 정의 → BPMN 표준 그림 → 실행 기록과 대조</a:t>
            </a:r>
          </a:p>
          <a:p>
            <a:r>
              <a:t>[다음] 네 가지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네 장 왼쪽부터 → 꼬리표 → 강조한 넷째 카드</a:t>
            </a:r>
          </a:p>
          <a:p>
            <a:r>
              <a:t>· 1 업무의 단위: 에이전트 단계 하나 vs 경보에서 보고까지, 정의할 때 정하는 것과 BPM</a:t>
            </a:r>
          </a:p>
          <a:p>
            <a:r>
              <a:t>· 2 BPMN 표기: 이벤트 · 작업 · 게이트웨이 · 레인 · 경계 타이머, 선 이름 vs 실행 조건</a:t>
            </a:r>
          </a:p>
          <a:p>
            <a:r>
              <a:t>· 3 실행과 통제: 처리 건 · 토큰 · 변수, 상태 · 권한 · 판본 · 감사 기록</a:t>
            </a:r>
          </a:p>
          <a:p>
            <a:r>
              <a:t>· 4 실습 일곱: 승인 업무 · 설비 이상 대응을 그려 기준 흐름과 비교, 시나리오 A로 검증</a:t>
            </a:r>
          </a:p>
          <a:p>
            <a:r>
              <a:t>[다음] 순서는 목차로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아홉 줄 위에서 아래로, 오른쪽 이론 · 실습 꼬리표</a:t>
            </a:r>
          </a:p>
          <a:p>
            <a:r>
              <a:t>· 이론 01 · 02: 업무를 프로세스로 보는 눈(Task · End-to-End, 정의와 BPM)</a:t>
            </a:r>
          </a:p>
          <a:p>
            <a:r>
              <a:t>· 이론 03 · 04: BPMN으로 그리는 법(흐름, 레인 · 경계 타이머)</a:t>
            </a:r>
          </a:p>
          <a:p>
            <a:r>
              <a:t>· 이론 05 · 06: 실행과 통제(엔진 · 토큰 · 변수, 상태 · 권한 · 판본 · 감사)</a:t>
            </a:r>
          </a:p>
          <a:p>
            <a:r>
              <a:t>· 실습 1~7과 복습 · 퀴즈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01 → 제목 → 부제</a:t>
            </a:r>
          </a:p>
          <a:p>
            <a:r>
              <a:t>· 출발: 에이전트가 추천안을 막 제출한 순간</a:t>
            </a:r>
          </a:p>
          <a:p>
            <a:r>
              <a:t>· 물음: 업무는 어디까지 왔고 남은 일은 누가 잇나</a:t>
            </a:r>
          </a:p>
          <a:p>
            <a:r>
              <a:t>· 실제 처리 기록으로 확인</a:t>
            </a:r>
          </a:p>
          <a:p>
            <a:r>
              <a:t>· 단계 하나를 맡은 에이전트와 흐름 전체를 이끄는 쪽의 책임 가르기</a:t>
            </a:r>
          </a:p>
          <a:p>
            <a:r>
              <a:t>[다음] 쿨러 사건의 단계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위에서 아래(일어난 순서) → 가운데(맡은 쪽 · 기록) → 강조한 셋째 줄</a:t>
            </a:r>
          </a:p>
          <a:p>
            <a:r>
              <a:t>· 경보 ALT-hyd01-0014-e0a1 · 11:13:08 → 처리 건 하나가 열림</a:t>
            </a:r>
          </a:p>
          <a:p>
            <a:r>
              <a:t>· 냉각 긴급 대응 에이전트: 판단 DEC-1010-002-408b, 팬 최대 운전 추천(앞 회차까지)</a:t>
            </a:r>
          </a:p>
          <a:p>
            <a:r>
              <a:t>· 셋째 줄부터 이번 회차: 운전원 승인 11:14:56 → 냉각 명령(SCADA → PLC, CMD-1010-0001-b94a · 인터록 PASS)</a:t>
            </a:r>
          </a:p>
          <a:p>
            <a:r>
              <a:t>· 재관측 61.4 → 51.5 ℃ · 경보 해제 → 작업지시 WO-1010-C058 → 결과 보고 정상</a:t>
            </a:r>
          </a:p>
          <a:p>
            <a:r>
              <a:t>· 맡은 쪽이 단계마다 다르다, 추천안 제출 순간엔 앞 두 줄만 끝남</a:t>
            </a:r>
          </a:p>
          <a:p>
            <a:r>
              <a:t>[다음] 끝났다고 말하는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Task → 강조한 오른쪽 End-to-End → 오른쪽 넷째 줄(경계)</a:t>
            </a:r>
          </a:p>
          <a:p>
            <a:r>
              <a:t>· Task: 프로세스 안의 작업 하나(원인 진단 · 냉각 조치 제안)</a:t>
            </a:r>
          </a:p>
          <a:p>
            <a:r>
              <a:t>· Task가 끝나면 추천안뿐, 설비 명령 없음, 그런데 처리 건 시간의 절반 남짓</a:t>
            </a:r>
          </a:p>
          <a:p>
            <a:r>
              <a:t>· End-to-End(종단 간): 시작 사건에서 최종 결과까지, 끝나면 명령 처리 · 유온 회복 · 작업지시</a:t>
            </a:r>
          </a:p>
          <a:p>
            <a:r>
              <a:t>· 업무 완료는 Task가 아니라 End-to-End의 끝에서 판단</a:t>
            </a:r>
          </a:p>
          <a:p>
            <a:r>
              <a:t>· 경계: 이 처리 건은 작업지시 등록까지, 세척 완료는 밖</a:t>
            </a:r>
          </a:p>
          <a:p>
            <a:r>
              <a:t>· 개선을 견줄 때도 같은 경계로 → 작업 하나가 빨라진 걸 업무 전체로 착각하지 않게</a:t>
            </a:r>
          </a:p>
          <a:p>
            <a:r>
              <a:t>[다음] 용어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위에서 아래로 → 오른쪽 영어 이름</a:t>
            </a:r>
          </a:p>
          <a:p>
            <a:r>
              <a:t>· 비즈니스 프로세스(Business Process): 원하는 결과를 내려고 작업과 흐름을 정한 묶음, 시작 사건과 끝난 조건이 있음</a:t>
            </a:r>
          </a:p>
          <a:p>
            <a:r>
              <a:t>· 예: 쿨러 경보로 시작해 결과 보고로 끝나는 긴급 대응 프로세스</a:t>
            </a:r>
          </a:p>
          <a:p>
            <a:r>
              <a:t>· 처리 건: 경보 한 건에 프로세스가 한 번 수행되는 단위, 틀과 건을 나눠 건마다 진행을 본다</a:t>
            </a:r>
          </a:p>
          <a:p>
            <a:r>
              <a:t>· 오케스트레이션(Orchestration): 중앙의 조정자가 순서와 호출을 이끄는 방식</a:t>
            </a:r>
          </a:p>
          <a:p>
            <a:r>
              <a:t>· 에이전트 · 사람 · 시스템은 자기 작업만, 다음 차례는 조정자가 연다</a:t>
            </a:r>
          </a:p>
          <a:p>
            <a:r>
              <a:t>[다음] 에이전트에게 맡기면 안 되나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물음 → 가운데(에이전트) vs 오른쪽(흐름을 이끄는 쪽) → 강조한 마지막 줄</a:t>
            </a:r>
          </a:p>
          <a:p>
            <a:r>
              <a:t>· 원인과 조치: 에이전트는 추천안, 흐름 쪽은 승인 작업에 넘김</a:t>
            </a:r>
          </a:p>
          <a:p>
            <a:r>
              <a:t>· 같은 입력: 에이전트는 과정 · 표현 · 시간이 달라질 수 있음, 흐름의 순서와 조건은 매번 같음</a:t>
            </a:r>
          </a:p>
          <a:p>
            <a:r>
              <a:t>· 승인 전 명령: 에이전트의 쓰기는 판단 제출 하나, 명령 작업은 승인 뒤에만 흐름 쪽이 연다</a:t>
            </a:r>
          </a:p>
          <a:p>
            <a:r>
              <a:t>· 응답 지연: 흐름 쪽이 기한 뒤 알림, 승인은 계속 기다림</a:t>
            </a:r>
          </a:p>
          <a:p>
            <a:r>
              <a:t>· 어디까지 왔나: 처리 건 하나에 단계 · 결과 · 끝이 한 곳에</a:t>
            </a:r>
          </a:p>
          <a:p>
            <a:r>
              <a:t>· 판단이 좋아도 차례 · 금지 · 기다림 · 기록의 책임은 에이전트에 몰지 않는다</a:t>
            </a:r>
          </a:p>
          <a:p>
            <a:r>
              <a:t>[다음] 승인을 건너뛰자는 요구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상황(팬 최대 운전이 늘 1순위 → 승인 없이 바로 명령) → 보기 넷 → 20초</a:t>
            </a:r>
          </a:p>
          <a:p>
            <a:r>
              <a:t>· 정답 3: 승인은 설비를 움직일 권한의 자리라 유지, 지연은 알림 · 담당 배정으로</a:t>
            </a:r>
          </a:p>
          <a:p>
            <a:r>
              <a:t>· 점수가 높다는 것은 그 결정을 대신할 근거가 아니다</a:t>
            </a:r>
          </a:p>
          <a:p>
            <a:r>
              <a:t>· 이 시스템은 승인 없이 명령에 닿는 흐름을 등록 단계에서 거절</a:t>
            </a:r>
          </a:p>
          <a:p>
            <a:r>
              <a:t>· 2: 시간으로 사람의 결정을 없앰 = 1과 같은 결과, 4: 판단하는 쪽에 실행 권한까지</a:t>
            </a:r>
          </a:p>
          <a:p>
            <a:r>
              <a:t>· 문제가 승인 지연이라면 고칠 곳은 알림과 담당</a:t>
            </a:r>
          </a:p>
          <a:p>
            <a:r>
              <a:t>[다음] 둘째 단원, 프로세스의 정의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02 → 제목 → 부제</a:t>
            </a:r>
          </a:p>
          <a:p>
            <a:r>
              <a:t>· 물음: 프로세스를 세운다는 건 실제로 무엇을 정하는 일인가</a:t>
            </a:r>
          </a:p>
          <a:p>
            <a:r>
              <a:t>· 물음: 한 번 세운 프로세스는 어떤 차례로 고쳐 가나</a:t>
            </a:r>
          </a:p>
          <a:p>
            <a:r>
              <a:t>· 다룰 것: 시작 · 입력 · 담당 · 완료, 경보가 처리 건을 여는 모습, BPM의 다섯 활동</a:t>
            </a:r>
          </a:p>
          <a:p>
            <a:r>
              <a:t>[다음] 실행 전에 정할 네 가지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줄(정할 것) → 가운데(긴급 대응의 답) → 오른쪽(정하지 않으면) → 강조한 넷째 줄</a:t>
            </a:r>
          </a:p>
          <a:p>
            <a:r>
              <a:t>· 시작: 쿨러 성능 저하 경보 도착 → 안 정하면 누군가 화면을 봐야 시작</a:t>
            </a:r>
          </a:p>
          <a:p>
            <a:r>
              <a:t>· 입력: 설비 · 경보 식별자 · 경보 내용 전체 → 안 정하면 단계마다 경보를 다시 찾고 출발점이 흐려짐</a:t>
            </a:r>
          </a:p>
          <a:p>
            <a:r>
              <a:t>· 담당: 작업마다 에이전트 · 운전원 역할 · 시스템, 사람 이름이 아니라 역할로</a:t>
            </a:r>
          </a:p>
          <a:p>
            <a:r>
              <a:t>· 완료: 정상 · 미달 · 거절을 정해 둔 끝으로, 응답 없음은 닫지 않고 알림 뒤 기다림(자동 승인 · 거절 없음)</a:t>
            </a:r>
          </a:p>
          <a:p>
            <a:r>
              <a:t>· 안 정하면 결말 없이 떠 있는 처리 건, 네 가지는 실행 전에</a:t>
            </a:r>
          </a:p>
          <a:p>
            <a:r>
              <a:t>[다음] 경보 한 건이 처리 건을 여는 모습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코드 위(경보) → 화살표(메시지 시작 이벤트) → 처리 건 → 입력 → 마지막 줄</a:t>
            </a:r>
          </a:p>
          <a:p>
            <a:r>
              <a:t>· 경보 ALT-hyd01-0014-e0a1, pattern COOLER_DEGRADATION, asset HYD-01</a:t>
            </a:r>
          </a:p>
          <a:p>
            <a:r>
              <a:t>· 메시지 시작 이벤트 「쿨러 과열 경보」에 도착 → 처리 건 c3_cooling.4f93a9d0… 11:13:08(경보와 같은 시각)</a:t>
            </a:r>
          </a:p>
          <a:p>
            <a:r>
              <a:t>· pattern = 이 프로세스를 여는 열쇠, 사람이 버튼을 누르지 않는다</a:t>
            </a:r>
          </a:p>
          <a:p>
            <a:r>
              <a:t>· 입력: asset · alert · alert_id · pattern · incident, 경보 메시지 전체가 실림 → 같은 출발점</a:t>
            </a:r>
          </a:p>
          <a:p>
            <a:r>
              <a:t>· 출발점의 기록일 뿐, 나중에 다시 읽는 현재값과 같은 시점은 아님</a:t>
            </a:r>
          </a:p>
          <a:p>
            <a:r>
              <a:t>· 중복 방지: 같은 정의 + 같은 경보 id면 새로 열지 않음(메시지는 두 번 올 수 있다)</a:t>
            </a:r>
          </a:p>
          <a:p>
            <a:r>
              <a:t>[다음] 정의한 프로세스를 고쳐 가는 방법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단계 다섯 왼쪽부터 → 강조한 개선 → 다시 분석으로 도는 고리</a:t>
            </a:r>
          </a:p>
          <a:p>
            <a:r>
              <a:t>· BPM(Business Process Management): 분석 · 설계 · 실행 · 모니터링 · 개선을 되풀이하는 관리 방법</a:t>
            </a:r>
          </a:p>
          <a:p>
            <a:r>
              <a:t>· 분석: 시작 · 입력 · 담당 · 완료와 끊기는 자리</a:t>
            </a:r>
          </a:p>
          <a:p>
            <a:r>
              <a:t>· 설계: 흐름을 그리고 실행 기능 연결, 실행: 판본 등록 · 배포 → 경보마다 처리 건</a:t>
            </a:r>
          </a:p>
          <a:p>
            <a:r>
              <a:t>· 모니터링: 단계별 담당 · 대기 · 결과</a:t>
            </a:r>
          </a:p>
          <a:p>
            <a:r>
              <a:t>· 개선: 고친 새 판본을 다음 경보부터, 다시 분석 대상 → 직선이 아니라 고리</a:t>
            </a:r>
          </a:p>
          <a:p>
            <a:r>
              <a:t>· 단계 이름은 자료마다 달라도 실행 결과를 다음 개선에 반영한다는 원리는 같다</a:t>
            </a:r>
          </a:p>
          <a:p>
            <a:r>
              <a:t>[다음] 응용, 모니터링 기록으로 개선 제안 가리기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제안 → 가운데(기록에서 먼저 볼 것) → 오른쪽 판정 → 강조한 셋째 줄</a:t>
            </a:r>
          </a:p>
          <a:p>
            <a:r>
              <a:t>· 쿨러 기록: 에이전트 단계가 가장 길고, 재관측 다음, 승인은 짧았다</a:t>
            </a:r>
          </a:p>
          <a:p>
            <a:r>
              <a:t>· 재관측이 길다 → 유지: 명령 처리 ≠ 유온 회복, 회복을 확인하는 시간</a:t>
            </a:r>
          </a:p>
          <a:p>
            <a:r>
              <a:t>· 승인 대기를 줄이자 → 담당자가 몰랐나 · 알림이 갔나, 승인은 두고 알림 · 배정을 고침</a:t>
            </a:r>
          </a:p>
          <a:p>
            <a:r>
              <a:t>· 에이전트 단계를 줄이자 → 개선 후보, 처리 건 시간에서의 몫 · 같은 종류 처리 건 여럿</a:t>
            </a:r>
          </a:p>
          <a:p>
            <a:r>
              <a:t>· 같은 시작 · 끝(경계)으로 견줘 업무 전체 시간이 줄었는지</a:t>
            </a:r>
          </a:p>
          <a:p>
            <a:r>
              <a:t>· 오래 걸렸다는 것만으로 없앨 단계는 아니다</a:t>
            </a:r>
          </a:p>
          <a:p>
            <a:r>
              <a:t>[다음] 셋째 단원, BPMN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03 → 제목 → 부제</a:t>
            </a:r>
          </a:p>
          <a:p>
            <a:r>
              <a:t>· 물음: 누구나 같은 뜻으로 읽는 그림으로 그리면, 그 그림만으로 실행까지 정해지나</a:t>
            </a:r>
          </a:p>
          <a:p>
            <a:r>
              <a:t>· 다룰 것: 문장 vs BPMN, 한 장의 긴급 대응, 도형의 종류, 작업마다 붙는 실행 기능, 선 이름과 갈림 조건</a:t>
            </a:r>
          </a:p>
          <a:p>
            <a:r>
              <a:t>· 그림 파일과 실제로 실행할 정의가 갈리는 곳</a:t>
            </a:r>
          </a:p>
          <a:p>
            <a:r>
              <a:t>[다음] 문장 vs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칸(문장) → 강조한 오른쪽 칸(BPMN) → 세 줄이 같은 물음에 대응</a:t>
            </a:r>
          </a:p>
          <a:p>
            <a:r>
              <a:t>· 문장: 「승인하면 … 아니면 … 거절하면」이 흩어져 갈래를 세려면 다시 읽음</a:t>
            </a:r>
          </a:p>
          <a:p>
            <a:r>
              <a:t>· 문장: 재관측 · 보고를 누가 하는지 빠지기 쉽고, 알림 뒤에도 기다리는지 사람마다 다르게 읽음</a:t>
            </a:r>
          </a:p>
          <a:p>
            <a:r>
              <a:t>· BPMN: 갈림은 마름모, 끝은 굵은 원으로 셀 수 있음, 작업은 맡는 쪽 레인에, 기다림은 타이머의 선 모양</a:t>
            </a:r>
          </a:p>
          <a:p>
            <a:r>
              <a:t>· BPMN(Business Process Model and Notation): 도형과 선의 뜻을 정한 표기 표준, OMG 관리, BPMN 2.0은 국제 표준</a:t>
            </a:r>
          </a:p>
          <a:p>
            <a:r>
              <a:t>· 현업과 구현하는 쪽이 같은 그림으로 같은 흐름을 확인</a:t>
            </a:r>
          </a:p>
          <a:p>
            <a:r>
              <a:t>· 그렸다고 곧바로 실행되지는 않는다(단원 끝에서)</a:t>
            </a:r>
          </a:p>
          <a:p>
            <a:r>
              <a:t>[다음] 한 장으로 그린 긴급 대응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차례대로: 세 칸 → 봉투 원 → 표식 없는 상자 → 사람 표식 상자 → 마름모 → 점선 시계 · 굵은 원 셋</a:t>
            </a:r>
          </a:p>
          <a:p>
            <a:r>
              <a:t>· 칸: 위에서부터 담당자 · 에이전트 · 시스템</a:t>
            </a:r>
          </a:p>
          <a:p>
            <a:r>
              <a:t>· 시작: 가운데 칸의 봉투 원 「쿨러 과열 경보」 → 원인 진단 · 냉각 조치 제안</a:t>
            </a:r>
          </a:p>
          <a:p>
            <a:r>
              <a:t>· 위 칸 운전원 승인(사람 표식) → 마름모 승인? → 승인이면 아래 칸 냉각 명령 · 재관측</a:t>
            </a:r>
          </a:p>
          <a:p>
            <a:r>
              <a:t>· 마름모를 거치지 않고 명령에 닿는 선이 없다</a:t>
            </a:r>
          </a:p>
          <a:p>
            <a:r>
              <a:t>· 점선 시계 = 승인 지연 타이머, 굵은 원 셋 = 끝 · 거절 종결 · 알림</a:t>
            </a:r>
          </a:p>
          <a:p>
            <a:r>
              <a:t>· 갈림 둘 · 끝 셋이 한눈에</a:t>
            </a:r>
          </a:p>
          <a:p>
            <a:r>
              <a:t>[다음] 도형의 종류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 → 가운데(모양과 뜻) → 오른쪽(긴급 대응의 자리) → 강조한 여섯째 줄</a:t>
            </a:r>
          </a:p>
          <a:p>
            <a:r>
              <a:t>· 이벤트(원): 메시지 시작 이벤트(가는 원 + 봉투), 끝 이벤트(굵은 원, 갈래마다 자기 끝)</a:t>
            </a:r>
          </a:p>
          <a:p>
            <a:r>
              <a:t>· 작업(둥근 사각형): 표식이 수행자, 사용자 작업(사람 표식) = 운전원 승인, 서비스 작업(톱니) = 명령 · 재관측 · 작업지시 · 보고</a:t>
            </a:r>
          </a:p>
          <a:p>
            <a:r>
              <a:t>· 표식 없는 작업: 수행자는 실행 연결 때 정함, BPMN엔 에이전트 작업 요소가 없어 진단 · 제안을 이 모양으로</a:t>
            </a:r>
          </a:p>
          <a:p>
            <a:r>
              <a:t>· 배타 게이트웨이(가위표 마름모): 조건이 참인 한 갈래로만(승인? · 유온 정상?)</a:t>
            </a:r>
          </a:p>
          <a:p>
            <a:r>
              <a:t>· 시퀀스 흐름: 같은 풀 안의 순서를 잇는 실선 화살표</a:t>
            </a:r>
          </a:p>
          <a:p>
            <a:r>
              <a:t>[다음] 응용, 이 그림만 넣으면 움직이나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가운데(연결되는 실행 기능) → 오른쪽(그림에 없는 것) → 강조한 셋째 줄</a:t>
            </a:r>
          </a:p>
          <a:p>
            <a:r>
              <a:t>· 시작: 경보 패턴 COOLER_DEGRADATION(그림엔 이름만)</a:t>
            </a:r>
          </a:p>
          <a:p>
            <a:r>
              <a:t>· 진단 · 제안: task:decide + 냉각 긴급 대응 에이전트 → 표식 없는 작업이 에이전트 단계가 됨</a:t>
            </a:r>
          </a:p>
          <a:p>
            <a:r>
              <a:t>· 운전원 승인: task:select-or-reject + 운전원 역할 → 권한은 칸 이름이 아니라 이 연결이 정함</a:t>
            </a:r>
          </a:p>
          <a:p>
            <a:r>
              <a:t>· 명령 · 재관측: task:command · task:reobserve, 작업지시: task:work-order, 결과 보고 넷: svc:report</a:t>
            </a:r>
          </a:p>
          <a:p>
            <a:r>
              <a:t>· 같은 그림도 작업마다 실행 기능과 맡을 쪽이 연결돼야 움직인다</a:t>
            </a:r>
          </a:p>
          <a:p>
            <a:r>
              <a:t>· 실습에서 내 작업마다 대응 실행 기능을 표시하는 일이 이것</a:t>
            </a:r>
          </a:p>
          <a:p>
            <a:r>
              <a:t>[다음] 선 이름과 갈림 조건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파일의 선 둘) → 아래(연결 값의 flows) → 오른쪽 항목 셋</a:t>
            </a:r>
          </a:p>
          <a:p>
            <a:r>
              <a:t>· name="승인"은 그림에 보이는 표시일 뿐, 실행 조건이 아니다</a:t>
            </a:r>
          </a:p>
          <a:p>
            <a:r>
              <a:t>· 연결 값: F_approved = approval == '승인'(승인 작업이 낸 값을 견주는 식)</a:t>
            </a:r>
          </a:p>
          <a:p>
            <a:r>
              <a:t>· 같은 값이면 언제나 같은 갈래, 왜 그 길인지 기록으로 설명 가능, 모델에게 해석을 맡기지 않음</a:t>
            </a:r>
          </a:p>
          <a:p>
            <a:r>
              <a:t>· F_rejected = default, 기본 흐름(Default Flow): 어느 조건도 참이 아닐 때 가는 선</a:t>
            </a:r>
          </a:p>
          <a:p>
            <a:r>
              <a:t>· 유온 정상?도 같은 꼴: F_yes = recovered == true, F_no = default</a:t>
            </a:r>
          </a:p>
          <a:p>
            <a:r>
              <a:t>· 선 이름 붙이기와 실행 정의에 조건 넣기는 별개</a:t>
            </a:r>
          </a:p>
          <a:p>
            <a:r>
              <a:t>[다음] 기본 흐름이 빠진 갈림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상황(「예」 선에만 조건, 「아니오」 선엔 조건 · 기본 흐름 표시 없음) → 보기 넷 → 20초</a:t>
            </a:r>
          </a:p>
          <a:p>
            <a:r>
              <a:t>· 정답 2: 맞는 선이 없어 그 자리에서 못 넘어가고 사유가 기록된다</a:t>
            </a:r>
          </a:p>
          <a:p>
            <a:r>
              <a:t>· 회복 거짓 → 「예」 조건 불일치, 「아니오」는 조건도 기본 흐름도 없음 → 갈 선이 없음</a:t>
            </a:r>
          </a:p>
          <a:p>
            <a:r>
              <a:t>· 1: 엔진은 선 이름을 읽어 주지 않음, 3: 조건이 거짓인 선으로 가지 않음</a:t>
            </a:r>
          </a:p>
          <a:p>
            <a:r>
              <a:t>· 4: 거절 종결은 승인? 게이트웨이의 갈래라 무관</a:t>
            </a:r>
          </a:p>
          <a:p>
            <a:r>
              <a:t>· 배타 게이트웨이는 나가는 선마다 조건을 주거나 하나를 기본 흐름으로, 등록 전 검사에서 먼저 걸림</a:t>
            </a:r>
          </a:p>
          <a:p>
            <a:r>
              <a:t>[다음] 넷째 단원, 레인과 경계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04 → 제목 → 부제</a:t>
            </a:r>
          </a:p>
          <a:p>
            <a:r>
              <a:t>· 그림에 두 가지를 더 담는다: 누가 맡는가, 제때 응답하지 않으면 어떻게 하나</a:t>
            </a:r>
          </a:p>
          <a:p>
            <a:r>
              <a:t>· 다룰 것: 풀 · 레인 · 메시지 흐름, 중단형 · 비중단형 타이머, 그림과 연결 값, 실행 정의로 가져올 때 걸리는 그림</a:t>
            </a:r>
          </a:p>
          <a:p>
            <a:r>
              <a:t>[다음] 맡는 쪽을 나누는 도형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둘째 줄(레인) → 오른쪽 영어 이름</a:t>
            </a:r>
          </a:p>
          <a:p>
            <a:r>
              <a:t>· 풀(Pool): 참여자 하나의 영역, 긴급 대응은 풀 하나 「냉각 긴급 대응」</a:t>
            </a:r>
          </a:p>
          <a:p>
            <a:r>
              <a:t>· 레인(Lane): 풀 안에서 활동을 나누는 칸, 담당자 · 에이전트 · 시스템 셋</a:t>
            </a:r>
          </a:p>
          <a:p>
            <a:r>
              <a:t>· 그림만 봐도 판단 · 결정 · 실행 칸이 보이고 명령 앞에 승인이 놓인 게 보인다</a:t>
            </a:r>
          </a:p>
          <a:p>
            <a:r>
              <a:t>· 레인 기준은 그리는 사람이 정함, 상자를 옮긴다고 권한이 바뀌지 않는다</a:t>
            </a:r>
          </a:p>
          <a:p>
            <a:r>
              <a:t>· 메시지 흐름(Message Flow): 다른 풀 사이의 점선 화살표(예: 공급사에 발주서), 같은 풀 안 실선과 구별</a:t>
            </a:r>
          </a:p>
          <a:p>
            <a:r>
              <a:t>· 긴급 대응 · 실습은 풀 하나에 레인으로</a:t>
            </a:r>
          </a:p>
          <a:p>
            <a:r>
              <a:t>[다음] 기다림을 그리는 타이머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중단형 → 강조한 오른쪽 비중단형 → 꼬리표</a:t>
            </a:r>
          </a:p>
          <a:p>
            <a:r>
              <a:t>· 경계 이벤트(Boundary Event): 작업 테두리에 붙어 작업이 진행 중일 때만 살아 있음, 제때 끝나면 함께 거둬짐</a:t>
            </a:r>
          </a:p>
          <a:p>
            <a:r>
              <a:t>· 타이머의 테두리 모양이 기한 뒤의 일을 정한다</a:t>
            </a:r>
          </a:p>
          <a:p>
            <a:r>
              <a:t>· 중단형(실선 겹테두리): 작업을 끊고 다른 갈래, 원래 들어 있던 다른 설비 이상 대응 흐름의 선택 시간 초과 → 상급자 호출 = 결정을 넘김</a:t>
            </a:r>
          </a:p>
          <a:p>
            <a:r>
              <a:t>· 비중단형(점선 겹테두리): 작업은 두고 갈래를 하나 더, 수업 흐름 승인 지연 PT10M → 알림, 같은 사람을 계속 기다림</a:t>
            </a:r>
          </a:p>
          <a:p>
            <a:r>
              <a:t>· 두 흐름은 옛 판 · 새 판이 아니라 서로 다른 설계, 선택이 선 하나의 모양으로 드러남</a:t>
            </a:r>
          </a:p>
          <a:p>
            <a:r>
              <a:t>[다음] 이 타이머의 그림과 연결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위(그림 파일) → 아래(연결 값) → 오른쪽 항목 넷</a:t>
            </a:r>
          </a:p>
          <a:p>
            <a:r>
              <a:t>· attachedToRef: 타이머가 운전원 승인 작업에 붙어 있다</a:t>
            </a:r>
          </a:p>
          <a:p>
            <a:r>
              <a:t>· cancelActivity="false": 비중단형, 알림 뒤에도 승인 작업이 열려 있다</a:t>
            </a:r>
          </a:p>
          <a:p>
            <a:r>
              <a:t>· 그림의 timerEventDefinition은 기한이 비어 있음</a:t>
            </a:r>
          </a:p>
          <a:p>
            <a:r>
              <a:t>· PT10M: 기간을 적는 국제 표준 꼴, 10분, 연결 값의 timers에 있다</a:t>
            </a:r>
          </a:p>
          <a:p>
            <a:r>
              <a:t>· role: 승인할 역할 운전원, 담당자 칸에 그린 것만으로 정해지지 않음</a:t>
            </a:r>
          </a:p>
          <a:p>
            <a:r>
              <a:t>· 그림 = 구조(붙어서 끊지 않는다), 연결 값 = 기한과 승인 역할, 「10분 뒤 알림」은 연결 값까지 봐야 말한다</a:t>
            </a:r>
          </a:p>
          <a:p>
            <a:r>
              <a:t>[다음] 한 단계 더, 가져올 때 걸리는 그림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 → 가운데(가져올 때) → 오른쪽(고칠 곳) → 강조한 마지막 줄</a:t>
            </a:r>
          </a:p>
          <a:p>
            <a:r>
              <a:t>· 참여자마다 풀을 따로 → 둘 이상이면 거절, 한 풀 안에 레인으로</a:t>
            </a:r>
          </a:p>
          <a:p>
            <a:r>
              <a:t>· 마름모 없이 선 두 갈래 → 조건 없는 갈라짐이라 등록 거부(승인 · 거절이 함께 진행될 수 있음), 배타 게이트웨이로</a:t>
            </a:r>
          </a:p>
          <a:p>
            <a:r>
              <a:t>· 흐름 중간의 타이머 · 하위 프로세스 → 실행하지 않음, 작업 테두리 기간 타이머로 · 펼쳐서 한 흐름으로</a:t>
            </a:r>
          </a:p>
          <a:p>
            <a:r>
              <a:t>· 승인 없이 명령에 닿는 길 → 등록 전 검사가 거절</a:t>
            </a:r>
          </a:p>
          <a:p>
            <a:r>
              <a:t>· 레인과 작업의 담당이 다름 → 사전 검사가 알림, 칸이나 연결 담당을 맞춤</a:t>
            </a:r>
          </a:p>
          <a:p>
            <a:r>
              <a:t>· 실습 그림 검사의 점검표, 학생은 포털에 그림을 직접 등록하지 않는다</a:t>
            </a:r>
          </a:p>
          <a:p>
            <a:r>
              <a:t>[다음] 응답이 없을 때 결정을 넘기라는 요구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상황(야간 응답이 늦어 기한 뒤 상급자가 결정하게) → 보기 넷 → 20초</a:t>
            </a:r>
          </a:p>
          <a:p>
            <a:r>
              <a:t>· 정답 4: 승인 작업에 중단형 타이머, 기한 뒤 상급자 결정 작업으로(원래 있던 다른 대응 흐름의 상급자 호출과 같은 모양)</a:t>
            </a:r>
          </a:p>
          <a:p>
            <a:r>
              <a:t>· 요구 = 결정을 다른 사람에게 넘기기 → 운전원 작업을 끊어야 함</a:t>
            </a:r>
          </a:p>
          <a:p>
            <a:r>
              <a:t>· 1: 같은 사람을 계속 기다리는 지금 흐름, 요구를 못 풂</a:t>
            </a:r>
          </a:p>
          <a:p>
            <a:r>
              <a:t>· 2: 사람의 결정을 시간으로 대신함</a:t>
            </a:r>
          </a:p>
          <a:p>
            <a:r>
              <a:t>· 3: 흐름 중간에 세운 타이머는 실행 정의로 가져올 때 받지 않는 모양</a:t>
            </a:r>
          </a:p>
          <a:p>
            <a:r>
              <a:t>· 요구가 바뀌면 그림의 어느 선을 바꿀지부터</a:t>
            </a:r>
          </a:p>
          <a:p>
            <a:r>
              <a:t>[다음] 다섯째 단원, 엔진과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05 → 제목 → 부제</a:t>
            </a:r>
          </a:p>
          <a:p>
            <a:r>
              <a:t>· 그림은 설계도, 실행하려면 작업마다 기능이 연결돼야</a:t>
            </a:r>
          </a:p>
          <a:p>
            <a:r>
              <a:t>· 물음: 경보가 오면 설계도를 읽고 한 단계씩 작업을 여는 건 누구인가</a:t>
            </a:r>
          </a:p>
          <a:p>
            <a:r>
              <a:t>· 물음: 실행 중인 처리 건이 지금 누구를 기다리고 무엇을 들고 다니나</a:t>
            </a:r>
          </a:p>
          <a:p>
            <a:r>
              <a:t>[다음] 엔진 · 정의 · 인스턴스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풀이 세 줄 → 강조한 첫 줄(엔진) → 오른쪽 영어 이름</a:t>
            </a:r>
          </a:p>
          <a:p>
            <a:r>
              <a:t>· 프로세스 엔진(Process Engine): 정의를 읽어 그대로 실행하는 소프트웨어, 오케스트레이션의 조정자 자리</a:t>
            </a:r>
          </a:p>
          <a:p>
            <a:r>
              <a:t>· 처리 기록 표에서 「프로세스」라고 적혀 재관측 · 결과 보고를 맡던 쪽이 엔진</a:t>
            </a:r>
          </a:p>
          <a:p>
            <a:r>
              <a:t>· 프로세스 정의(Process Definition): 요소 · 선 · 조건 · 역할을 담은 설계도 = 그림 + 실행 연결, 긴급 대응은 c3_cooling</a:t>
            </a:r>
          </a:p>
          <a:p>
            <a:r>
              <a:t>· 프로세스 인스턴스(Process Instance): 정의에 따라 수행되는 한 건 = HYD의 처리 건, 경보마다 하나</a:t>
            </a:r>
          </a:p>
          <a:p>
            <a:r>
              <a:t>· 엔진은 정의 하나로 경보마다 인스턴스를 열고 앞 작업이 끝나면 다음 작업을 연다</a:t>
            </a:r>
          </a:p>
          <a:p>
            <a:r>
              <a:t>[다음] 같은 정의의 처리 건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줄(처리 건) → 가운데(지나간 길) → 오른쪽(끝 · 명령) → 강조한 셋째 줄</a:t>
            </a:r>
          </a:p>
          <a:p>
            <a:r>
              <a:t>· 4f93a9d0… 쿨러 사건: 승인 → 명령 → 회복 → 작업지시, E_end · 정상, 명령 1건</a:t>
            </a:r>
          </a:p>
          <a:p>
            <a:r>
              <a:t>· 94a9231b…: 거절 → 결과 보고 거절, E_rejected, 명령 없음</a:t>
            </a:r>
          </a:p>
          <a:p>
            <a:r>
              <a:t>· bede0d2e…: 승인 대기 → 기한 뒤 알림 → 그 뒤 거절, E_rejected, 명령 없음</a:t>
            </a:r>
          </a:p>
          <a:p>
            <a:r>
              <a:t>· 설계도는 하나인데 처리 건마다 갈래와 결말이 다르다</a:t>
            </a:r>
          </a:p>
          <a:p>
            <a:r>
              <a:t>· 결과는 정의가 아니라 처리 건 하나씩 읽는다, 「잘 돈다」도 처리 건 기록으로</a:t>
            </a:r>
          </a:p>
          <a:p>
            <a:r>
              <a:t>[다음] 지금 어디에 있나, 토큰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코드 위(status · current_activity_ids) → 단계 목록 → 오른쪽 항목 셋</a:t>
            </a:r>
          </a:p>
          <a:p>
            <a:r>
              <a:t>· 토큰(Token): 흐름의 현재 위치 표식, 시작에서 생겨 선을 따라 옮겨 가고 끝에서 사라짐</a:t>
            </a:r>
          </a:p>
          <a:p>
            <a:r>
              <a:t>· BPMN의 표준 개념, 화면에선 「지금 열린 단계」, 언어 모델의 토큰과 다른 말</a:t>
            </a:r>
          </a:p>
          <a:p>
            <a:r>
              <a:t>· bede0d2e…: RUNNING, 열린 단계 T_approve 하나 = 토큰이 머문 곳</a:t>
            </a:r>
          </a:p>
          <a:p>
            <a:r>
              <a:t>· T_agent DONE · T_approve IN_PROGRESS · T_cmd TODO(아직 안 닿음)</a:t>
            </a:r>
          </a:p>
          <a:p>
            <a:r>
              <a:t>· B_overdue · T_notice DONE: 비중단형 타이머가 연 둘째 토큰은 알림을 마치고 사라짐, 첫 토큰은 승인에</a:t>
            </a:r>
          </a:p>
          <a:p>
            <a:r>
              <a:t>· 오류도 멈춤도 아닌 정상 대기, 대기가 길면 담당자가 받았는지 따로</a:t>
            </a:r>
          </a:p>
          <a:p>
            <a:r>
              <a:t>[다음] 처리 건이 들고 다니는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다섯 칸 왼쪽부터 → 칸마다 변수 이름과 뜻 → 강조한 셋째 칸</a:t>
            </a:r>
          </a:p>
          <a:p>
            <a:r>
              <a:t>· 프로세스 변수(Process Variable): 처리 건이 지닌 이름 붙은 값</a:t>
            </a:r>
          </a:p>
          <a:p>
            <a:r>
              <a:t>· 입력: asset · alert_id(경보가 실어 온 값) → 진단 · 제안: cause · decision(쿨러 핀 오염 · 추천안)</a:t>
            </a:r>
          </a:p>
          <a:p>
            <a:r>
              <a:t>· 운전원 승인: approval · chosen_skill(승인 · 팬 최대 운전), 승인자 · 역할은 서버가 채움(에이전트가 못 씀)</a:t>
            </a:r>
          </a:p>
          <a:p>
            <a:r>
              <a:t>· 재관측: recovered → 유온 정상? 게이트웨이가 읽음</a:t>
            </a:r>
          </a:p>
          <a:p>
            <a:r>
              <a:t>· 작업지시: work_order WO-1010-C058이 보고 문장에</a:t>
            </a:r>
          </a:p>
          <a:p>
            <a:r>
              <a:t>· 출력이 변수로 남아 다음 갈림의 조건 · 보고 문장이 되고, 변수마다 만든 단계가 기록돼 거슬러 감</a:t>
            </a:r>
          </a:p>
          <a:p>
            <a:r>
              <a:t>[다음] 작업 종류마다 엔진이 기다리는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줄(작업 종류) → 가운데(엔진이 기다리는 것) → 오른쪽(끝나지 않으면) → 강조한 셋째 줄</a:t>
            </a:r>
          </a:p>
          <a:p>
            <a:r>
              <a:t>· 사용자 작업(운전원 승인): 담당 역할의 승인 · 거절, 승인 전달이 성공해야 다음으로, 응답 없으면 승인 대기</a:t>
            </a:r>
          </a:p>
          <a:p>
            <a:r>
              <a:t>· 서비스 작업(명령 · 재관측 · 작업지시): 엔진이 부른 시스템의 처리 결과, 실패를 성공으로 넘기지 않음</a:t>
            </a:r>
          </a:p>
          <a:p>
            <a:r>
              <a:t>· 에이전트 단계: 지정한 에이전트의 결과 제출과 검사를 기다림</a:t>
            </a:r>
          </a:p>
          <a:p>
            <a:r>
              <a:t>· 에이전트는 다음 작업을 직접 열지 않는다, 제출 전에는 승인 작업이 없다</a:t>
            </a:r>
          </a:p>
          <a:p>
            <a:r>
              <a:t>· 사람이든 시스템이든 에이전트든 다음 작업을 여는 쪽은 엔진</a:t>
            </a:r>
          </a:p>
          <a:p>
            <a:r>
              <a:t>[다음] 응용, 지금 누구 차례인지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 → 가운데(지금 상태) → 오른쪽(누가 무엇을) → 강조한 넷째 줄</a:t>
            </a:r>
          </a:p>
          <a:p>
            <a:r>
              <a:t>· RUNNING · T_approve IN_PROGRESS: 승인 대기 정상 상태, 운전원이 추천안과 현재 조건을 보고 결정(승인 순간 현재값 재확인)</a:t>
            </a:r>
          </a:p>
          <a:p>
            <a:r>
              <a:t>· T_cmd DONE · T_reobs IN_PROGRESS: 명령 처리됨, 회복 관측 중 → 시스템의 자동 구간, 사람 차례 아님</a:t>
            </a:r>
          </a:p>
          <a:p>
            <a:r>
              <a:t>· 단계 PENDING · 사유 기록: 조건이 맞는 선이 없어 멈춤 → 기다려도 안 풀림, 담당자가 조건 · 연결 값 확인</a:t>
            </a:r>
          </a:p>
          <a:p>
            <a:r>
              <a:t>· COMPLETED · E_rejected: 거절로 닫힘, 명령 없음 → 쿨러 상태를 보고 다른 조치는 처리 건 밖의 사람 몫</a:t>
            </a:r>
          </a:p>
          <a:p>
            <a:r>
              <a:t>· 열린 단계와 상태로 자동 구간과 사람이 볼 자리가 갈린다</a:t>
            </a:r>
          </a:p>
          <a:p>
            <a:r>
              <a:t>[다음] 여섯째 단원, 통제의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 번호 06 → 제목 → 부제</a:t>
            </a:r>
          </a:p>
          <a:p>
            <a:r>
              <a:t>· 물음: 끝난 처리 건은 무엇으로 끝났는지 어떻게 가리나</a:t>
            </a:r>
          </a:p>
          <a:p>
            <a:r>
              <a:t>· 물음: 누가 결정할 수 있는지는 무엇이 지키나</a:t>
            </a:r>
          </a:p>
          <a:p>
            <a:r>
              <a:t>· 물음: 고친 흐름은 언제부터 쓰이나, 결정은 어디에 남나</a:t>
            </a:r>
          </a:p>
          <a:p>
            <a:r>
              <a:t>[다음] COMPLETED가 같은 두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가운데 열(승인) vs 오른쪽 열(거절) → 다섯 줄 → 강조한 넷째 줄</a:t>
            </a:r>
          </a:p>
          <a:p>
            <a:r>
              <a:t>· 처리 건 상태: 둘 다 COMPLETED → 실행이 끝났다는 것만 알려 줌</a:t>
            </a:r>
          </a:p>
          <a:p>
            <a:r>
              <a:t>· 끝 이벤트: E_end vs E_rejected, 결과 보고: 정상 vs 거절(기록 값은 반려)</a:t>
            </a:r>
          </a:p>
          <a:p>
            <a:r>
              <a:t>· 냉각 명령 단계: DONE · 명령 1건 vs CANCELLED(선택 안 된 갈래) · 명령 없음</a:t>
            </a:r>
          </a:p>
          <a:p>
            <a:r>
              <a:t>· 회복 미달이어도 끝 이벤트는 E_end 그대로, 결과 보고만 미달</a:t>
            </a:r>
          </a:p>
          <a:p>
            <a:r>
              <a:t>· COMPLETED만 보고 성공이라 하지 않는다 → 끝 이벤트 · 결과 보고 · 단계 상태를 함께</a:t>
            </a:r>
          </a:p>
          <a:p>
            <a:r>
              <a:t>[다음] 승인 권한을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칸(등록할 때) → 강조한 오른쪽 칸(실행할 때) → 꼬리표</a:t>
            </a:r>
          </a:p>
          <a:p>
            <a:r>
              <a:t>· 등록: 승인 없이 명령에 닿는 경로 · 거절 갈래의 효과가 있으면 등록하지 않음, 효과까지는 승인 조건 선을 지나야 → 그림을 거름</a:t>
            </a:r>
          </a:p>
          <a:p>
            <a:r>
              <a:t>· 실행: 조치마다 승인 역할(팬 최대 운전 운전원, 핀 세척 설비보전팀장)</a:t>
            </a:r>
          </a:p>
          <a:p>
            <a:r>
              <a:t>· 권한이 모자란 승인은 거부되고 감사 기록에 남음</a:t>
            </a:r>
          </a:p>
          <a:p>
            <a:r>
              <a:t>· 에이전트의 쓰기는 판단 제출 하나, 명령 모양 값은 거부</a:t>
            </a:r>
          </a:p>
          <a:p>
            <a:r>
              <a:t>· 승인자 · 역할 값은 승인 순간 서버가 채움 → 행동을 거름</a:t>
            </a:r>
          </a:p>
          <a:p>
            <a:r>
              <a:t>· 승인 상자를 그려 넣는 것만으로 지켜지지 않는다, 두 검사가 함께 지킨다</a:t>
            </a:r>
          </a:p>
          <a:p>
            <a:r>
              <a:t>[다음] 고친 흐름이 쓰이는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줄(일) → 가운데(바뀌는 것) → 오른쪽(그대로인 것) → 강조한 넷째 줄</a:t>
            </a:r>
          </a:p>
          <a:p>
            <a:r>
              <a:t>· 판본 등록: 새 판본이 쌓임, 저장된 판본은 고치지 않음(지난 처리 건을 되짚으려고), 등록만으론 경보 흐름이 안 바뀜</a:t>
            </a:r>
          </a:p>
          <a:p>
            <a:r>
              <a:t>· 배포: 그 경보를 받을 판본이 정해짐, 같은 경보에 여럿이면 가장 최근 배포 → 한 환경에서 서로의 경로를 바꿀 수 있음</a:t>
            </a:r>
          </a:p>
          <a:p>
            <a:r>
              <a:t>· 수업 포털에선 학생이 일반 BPMN을 등록 · 배포하지 않고 준비된 흐름을 실행</a:t>
            </a:r>
          </a:p>
          <a:p>
            <a:r>
              <a:t>· 배포 뒤 오는 경보부터 새 판본으로 처리 건이 열림</a:t>
            </a:r>
          </a:p>
          <a:p>
            <a:r>
              <a:t>· 진행 중인 처리 건은 열릴 때의 판본으로 끝까지</a:t>
            </a:r>
          </a:p>
          <a:p>
            <a:r>
              <a:t>· 판본 고정이 센서 값을 얼리지 않는다, 승인할 때 현재 조건을 다시 확인</a:t>
            </a:r>
          </a:p>
          <a:p>
            <a:r>
              <a:t>[다음] 물음마다 볼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위 세 줄(처리 기록) → 아래 세 줄(감사 기록) → 강조한 마지막 줄</a:t>
            </a:r>
          </a:p>
          <a:p>
            <a:r>
              <a:t>· 처리 기록: 처리 건 한 건 안의 일을 차례로</a:t>
            </a:r>
          </a:p>
          <a:p>
            <a:r>
              <a:t>· 누가 승인했나 → APPROVAL_ACCEPTED(승인 역할 · 판단 id → 추천안 · 근거까지 거슬러)</a:t>
            </a:r>
          </a:p>
          <a:p>
            <a:r>
              <a:t>· 다음 단계로 넘어갔나 → APPROVAL_DELIVERY, 무엇으로 끝났나 → RESULT_REPORT</a:t>
            </a:r>
          </a:p>
          <a:p>
            <a:r>
              <a:t>· 감사 기록(Audit Log): 누가 무엇을 결정했는지 처리 건 밖의 일까지</a:t>
            </a:r>
          </a:p>
          <a:p>
            <a:r>
              <a:t>· INSTANCE_STARTED(처리 건 시작) · DEFINITION_DEPLOYED(판본 배포) · DECISION_DENIED(권한 없는 승인 시도의 거부)</a:t>
            </a:r>
          </a:p>
          <a:p>
            <a:r>
              <a:t>· 끝난 처리 건은 상태 · 판본 + 두 기록을 함께 → 누가 무엇을 결정했는지까지</a:t>
            </a:r>
          </a:p>
          <a:p>
            <a:r>
              <a:t>[다음] 응용, 다음 담당자가 이어 볼 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줄(기록) → 가운데(뜻) → 오른쪽(다음 담당자가 이어 볼 일) → 강조한 넷째 줄</a:t>
            </a:r>
          </a:p>
          <a:p>
            <a:r>
              <a:t>· 냉각 명령 DONE · 인터록 PASS: 설비가 실행했다고 답함 → 유온 회복은 재관측 기록으로</a:t>
            </a:r>
          </a:p>
          <a:p>
            <a:r>
              <a:t>· 재관측 회복 · 경보 해제: 유온이 55 ℃ 아래로 → 팬 최대 운전은 완화 조치, 핀 오염은 남아 있음</a:t>
            </a:r>
          </a:p>
          <a:p>
            <a:r>
              <a:t>· 작업지시 등록: WO-1010-C058 배정 → 세척 완료는 정비 담당이 확인</a:t>
            </a:r>
          </a:p>
          <a:p>
            <a:r>
              <a:t>· 결과 보고 정상 · COMPLETED: 이 처리 건의 흐름이 끝남 → 팬 100 % 연속 운전 24시간 이내(SOP) 제한은 계속</a:t>
            </a:r>
          </a:p>
          <a:p>
            <a:r>
              <a:t>· 명령 처리 · 회복 · 작업지시 등록은 각각 다른 사실, 그 차이로 끝난 것과 남은 것을 넘긴다</a:t>
            </a:r>
          </a:p>
          <a:p>
            <a:r>
              <a:t>[다음] 실습 일곱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웹 BPMN 편집기의 기본 조작 익히기</a:t>
            </a:r>
          </a:p>
          <a:p>
            <a:r>
              <a:t>· 앞 이론과의 연결: 이벤트 · 작업 · 시퀀스 흐름, 사용자 작업, 표시 이름 vs 요소 식별자</a:t>
            </a:r>
          </a:p>
          <a:p>
            <a:r>
              <a:t>· 소재: 정비 요청이 담당자에게 넘어가는 작은 흐름</a:t>
            </a:r>
          </a:p>
          <a:p>
            <a:r>
              <a:t>· 결과물: .bpmn 파일 하나</a:t>
            </a:r>
          </a:p>
          <a:p>
            <a:r>
              <a:t>[다음] 할 일과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목표 · 입력: 배치 · 연결 · 수정 · 속성 확인, 정비 요청이 담당자에게 넘어가는 흐름</a:t>
            </a:r>
          </a:p>
          <a:p>
            <a:r>
              <a:t>· 할 일: 시작 · 작업 · 끝을 놓고 시퀀스 흐름으로 잇기, 작업을 사용자 작업으로 바꾸고 이름 · ID 읽기</a:t>
            </a:r>
          </a:p>
          <a:p>
            <a:r>
              <a:t>· 산출물: .bpmn 파일 하나</a:t>
            </a:r>
          </a:p>
          <a:p>
            <a:r>
              <a:t>· 성공 기준: 다시 열어도 요소 · 이름 · 연결 방향이 같다</a:t>
            </a:r>
          </a:p>
          <a:p>
            <a:r>
              <a:t>· 주의: 화면에 보이는 이름과 요소 ID는 다르다</a:t>
            </a:r>
          </a:p>
          <a:p>
            <a:r>
              <a:t>[다음] 실습 2, 승인 업무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앞 흐름을 이어받아 승인 업무를 그린다</a:t>
            </a:r>
          </a:p>
          <a:p>
            <a:r>
              <a:t>· 앞 이론과의 연결: 배타 게이트웨이, 갈래마다 자기 끝</a:t>
            </a:r>
          </a:p>
          <a:p>
            <a:r>
              <a:t>· 소재: 정비 요청 확인 → 승인 여부 → 승인 종료 · 반려 종료(「반려 종료」는 실라버스가 정한 이 실습의 끝 이름, 수업 흐름 「냉각 긴급 대응」의 거절 종결에 해당)</a:t>
            </a:r>
          </a:p>
          <a:p>
            <a:r>
              <a:t>· 결과물: 승인 업무 파일과 경로별 기록</a:t>
            </a:r>
          </a:p>
          <a:p>
            <a:r>
              <a:t>[다음] 두 갈래와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흐름 넷 왼쪽부터 → 강조한 성공 기준 칸</a:t>
            </a:r>
          </a:p>
          <a:p>
            <a:r>
              <a:t>· 입력: 앞 실습의 기본 흐름, 정비 요청 한 건</a:t>
            </a:r>
          </a:p>
          <a:p>
            <a:r>
              <a:t>· 그릴 흐름: 요청 확인 → 승인 여부 → 승인 종료 · 반려 종료</a:t>
            </a:r>
          </a:p>
          <a:p>
            <a:r>
              <a:t>· 산출물: 승인 업무 파일 + 경로별 시작 · 결정 · 끝 기록</a:t>
            </a:r>
          </a:p>
          <a:p>
            <a:r>
              <a:t>· 성공 기준: 두 갈래가 각자 끝에 닿음, 가위표 배타 게이트웨이, 끊긴 선 · 건너뛴 작업 없음</a:t>
            </a:r>
          </a:p>
          <a:p>
            <a:r>
              <a:t>· 갈래를 하나씩 직접 따라가 본다</a:t>
            </a:r>
          </a:p>
          <a:p>
            <a:r>
              <a:t>[다음] 실습 3, 설비 이상 대응 작도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승인 업무를 설비 이상 대응으로 넓힌다</a:t>
            </a:r>
          </a:p>
          <a:p>
            <a:r>
              <a:t>· 앞 이론과의 연결: 풀 하나 · 레인 셋, 사용자 · 서비스 작업, 명령 앞의 승인</a:t>
            </a:r>
          </a:p>
          <a:p>
            <a:r>
              <a:t>· 범위: 쿨러 경보 → 진단 · 제안 → 운전원 승인 → PLC 명령 → 효과 재확인 → 보고</a:t>
            </a:r>
          </a:p>
          <a:p>
            <a:r>
              <a:t>· 제공 참조 흐름은 대조용, 완성본으로 바꿔 쓰지 않는다</a:t>
            </a:r>
          </a:p>
          <a:p>
            <a:r>
              <a:t>[다음] 그릴 범위와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입력: 앞 실습의 승인 업무 흐름, 참조 흐름은 대조용</a:t>
            </a:r>
          </a:p>
          <a:p>
            <a:r>
              <a:t>· 그릴 범위: 경보 → 진단 · 제안 → 승인 → PLC 명령 → 재확인 → 보고, 풀 하나에 레인 셋</a:t>
            </a:r>
          </a:p>
          <a:p>
            <a:r>
              <a:t>· 산출물: 설비 이상 대응 초안 파일 + 요소 ID · 레인 대응 기록</a:t>
            </a:r>
          </a:p>
          <a:p>
            <a:r>
              <a:t>· 성공 기준: 추천과 명령 사이에 사람의 승인, 명령 뒤에 효과 재확인</a:t>
            </a:r>
          </a:p>
          <a:p>
            <a:r>
              <a:t>[다음] 실습 4, 승인 조건과 예외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초안에 예외를 넣어 안전한 흐름으로</a:t>
            </a:r>
          </a:p>
          <a:p>
            <a:r>
              <a:t>· 앞 이론과의 연결: 승인 · 거절 갈림과 반려 종료, 비중단형 경계 타이머, 선 이름 vs 조건</a:t>
            </a:r>
          </a:p>
          <a:p>
            <a:r>
              <a:t>· 그림과 저장한 파일 양쪽에서 확인한다</a:t>
            </a:r>
          </a:p>
          <a:p>
            <a:r>
              <a:t>[다음] 더할 것과 확인할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줄(더할 것) → 가운데(그림에 그릴 것) → 오른쪽(확인할 경계) → 강조한 셋째 줄</a:t>
            </a:r>
          </a:p>
          <a:p>
            <a:r>
              <a:t>· 승인 · 거절 분기: 승인 → 냉각 명령, 거절 → 거절 보고 → 반려 종료, 거절 갈래에 명령이 없어야</a:t>
            </a:r>
          </a:p>
          <a:p>
            <a:r>
              <a:t>· 승인 지연 알림: 운전원 승인에 비중단형 경계 타이머 → 알림 → 알림 끝, 알림이 승인 작업을 끊지 않아야</a:t>
            </a:r>
          </a:p>
          <a:p>
            <a:r>
              <a:t>· 조건과 기한: 갈림의 조건 · 기본 흐름 · 10분 기한을 조건 계획에 따로 적는다</a:t>
            </a:r>
          </a:p>
          <a:p>
            <a:r>
              <a:t>· 선 이름만으로 조건이 생기지 않는다</a:t>
            </a:r>
          </a:p>
          <a:p>
            <a:r>
              <a:t>[다음] 실습 5, 실행 연결 비교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직접 그린 흐름을 포털에 등록된 기준 흐름과 견준다(여기서 기준 흐름 = 강사가 배포해 둔 수업 흐름 「냉각 긴급 대응」과 그 제공 매핑. 포털 흐름 배포 화면의 「기준 흐름」, 곧 아무 흐름도 배포되지 않았을 때 경보를 받는 원래 흐름과는 다른 것)</a:t>
            </a:r>
          </a:p>
          <a:p>
            <a:r>
              <a:t>· 앞 이론과의 연결: 작업마다 붙는 실행 기능, 그림 파일 vs 실행 정의</a:t>
            </a:r>
          </a:p>
          <a:p>
            <a:r>
              <a:t>· 내 파일은 비교용 그림, 실행되는 건 포털에 등록된 정의, 수업에서 내 그림을 등록 · 배포하지 않음</a:t>
            </a:r>
          </a:p>
          <a:p>
            <a:r>
              <a:t>[다음] 찾을 것과 표시할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가운데(제공 매핑에서) → 오른쪽(내 그림에 표시할 것) → 강조한 마지막 줄</a:t>
            </a:r>
          </a:p>
          <a:p>
            <a:r>
              <a:t>· 시작 이벤트: 경보 패턴 COOLER_DEGRADATION → 쿨러 경보 시작</a:t>
            </a:r>
          </a:p>
          <a:p>
            <a:r>
              <a:t>· 에이전트 단계: 판단 · 제안 부품, 냉각 대응 에이전트 → 진단 · 제안 작업</a:t>
            </a:r>
          </a:p>
          <a:p>
            <a:r>
              <a:t>· 운전원 승인: 승인 · 거절 부품, 운전원 역할 → 사용자 작업</a:t>
            </a:r>
          </a:p>
          <a:p>
            <a:r>
              <a:t>· 설비 명령 · 재관측: PLC 명령 · 재관측 부품 → 서비스 작업 둘</a:t>
            </a:r>
          </a:p>
          <a:p>
            <a:r>
              <a:t>· 조건 · 기한 · 담당은 매핑에 있다 → 그림에 없는 값을 따로 적는다</a:t>
            </a:r>
          </a:p>
          <a:p>
            <a:r>
              <a:t>[다음] 실습 6, 연결 검사와 수정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내 그림을 스스로 검사하고 고친다</a:t>
            </a:r>
          </a:p>
          <a:p>
            <a:r>
              <a:t>· 앞 이론과의 연결: 갈래마다 끝 이벤트, 담당 역할 · 실행 기능, 가져올 때 걸리는 그림 점검표</a:t>
            </a:r>
          </a:p>
          <a:p>
            <a:r>
              <a:t>· 실제로 찾은 문제만 고친다</a:t>
            </a:r>
          </a:p>
          <a:p>
            <a:r>
              <a:t>[다음] 따라갈 경로와 대조할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 → 강조한 산출물 · 성공 기준 카드</a:t>
            </a:r>
          </a:p>
          <a:p>
            <a:r>
              <a:t>· 따라갈 경로: 승인 · 반려 · 지연 알림 갈래, 갈래마다 끝 이벤트에 닿나</a:t>
            </a:r>
          </a:p>
          <a:p>
            <a:r>
              <a:t>· 대조할 것: 제공 기준 BPMN과 매핑, 작업별 담당 역할 · 실행 기능 누락</a:t>
            </a:r>
          </a:p>
          <a:p>
            <a:r>
              <a:t>· 산출물: 고친 .bpmn과 수정 기록</a:t>
            </a:r>
          </a:p>
          <a:p>
            <a:r>
              <a:t>· 성공 기준: 저장 뒤 다시 열어도 연결 그대로, 실제로 찾은 문제만 고침</a:t>
            </a:r>
          </a:p>
          <a:p>
            <a:r>
              <a:t>[다음] 실습 7, 이벤트와 처리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구분 → 제목</a:t>
            </a:r>
          </a:p>
          <a:p>
            <a:r>
              <a:t>· 목적: 포털의 준비된 냉각 대응 시나리오 A로 처리 건 하나를 끝까지 따라간다</a:t>
            </a:r>
          </a:p>
          <a:p>
            <a:r>
              <a:t>· 앞 이론과의 연결: 토큰 · 변수, 상태 · 끝 이벤트 · 결과 보고, 처리 기록 · 감사 기록</a:t>
            </a:r>
          </a:p>
          <a:p>
            <a:r>
              <a:t>· 거절 · 보류 · 지연은 실제 기록인지 제공 사례인지 구분</a:t>
            </a:r>
          </a:p>
          <a:p>
            <a:r>
              <a:t>[다음] 따라갈 것과 남길 기록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→ 가운데(기록에서 확인할 것) → 오른쪽(구별할 짝) → 강조한 마지막 줄</a:t>
            </a:r>
          </a:p>
          <a:p>
            <a:r>
              <a:t>· 판단 → 승인: 추천안 · 판단 번호 · 승인 대기(승인 대기 vs 오류)</a:t>
            </a:r>
          </a:p>
          <a:p>
            <a:r>
              <a:t>· 명령 → 재관측: 명령 처리 · 유온 회복 · 경보 해제(명령 처리 vs 온도 회복)</a:t>
            </a:r>
          </a:p>
          <a:p>
            <a:r>
              <a:t>· 작업지시 · 보고: 작업지시 번호 · 결과 보고 · 끝(작업지시 등록 vs 정비 완료)</a:t>
            </a:r>
          </a:p>
          <a:p>
            <a:r>
              <a:t>· 거절 · 보류 · 지연: 실행한 것 vs 사례로 본 것</a:t>
            </a:r>
          </a:p>
          <a:p>
            <a:r>
              <a:t>· 남길 기록: 정의 · 판본 · 처리 건 · 결과 + 내 BPMN의 대응 작업 + 다음 담당자가 이어 볼 일과 근거</a:t>
            </a:r>
          </a:p>
          <a:p>
            <a:r>
              <a:t>[다음] 실습 1~7 진행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오른쪽 짝 열을 먼저 스스로 가르기 → 여섯 줄 위에서 아래로 → 강조한 마지막 줄</a:t>
            </a:r>
          </a:p>
          <a:p>
            <a:r>
              <a:t>· 추천안이 나오면 끝? → End-to-End의 끝 이벤트 · 결과 보고(Task vs End-to-End)</a:t>
            </a:r>
          </a:p>
          <a:p>
            <a:r>
              <a:t>· 선 이름이 「승인」이면 조건? → 연결 값의 approval == '승인'(선 이름 vs 실행 조건)</a:t>
            </a:r>
          </a:p>
          <a:p>
            <a:r>
              <a:t>· 알림 뒤에도 기다리나 → 비중단형 경계 타이머(알림 vs 종료)</a:t>
            </a:r>
          </a:p>
          <a:p>
            <a:r>
              <a:t>· 승인에 머문 처리 건은 오류? → 토큰이 사용자 작업에 머문 RUNNING(승인 대기 vs 오류)</a:t>
            </a:r>
          </a:p>
          <a:p>
            <a:r>
              <a:t>· COMPLETED면 성공? → 끝 이벤트 · 결과 보고 · 단계 상태(실행 종료 vs 업무 성공)</a:t>
            </a:r>
          </a:p>
          <a:p>
            <a:r>
              <a:t>· 작업지시 등록이면 정비 끝? → CMMS의 작업 완료 확인(등록 vs 완료)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아홉 줄 위에서 아래로, 오른쪽 정식 명칭 · 풀이</a:t>
            </a:r>
          </a:p>
          <a:p>
            <a:r>
              <a:t>· 비즈니스 프로세스(Business Process) · 오케스트레이션(Orchestration)</a:t>
            </a:r>
          </a:p>
          <a:p>
            <a:r>
              <a:t>· BPM(Business Process Management) · BPMN(Business Process Model and Notation)</a:t>
            </a:r>
          </a:p>
          <a:p>
            <a:r>
              <a:t>· 배타 게이트웨이 · 기본 흐름(Exclusive Gateway · Default Flow)</a:t>
            </a:r>
          </a:p>
          <a:p>
            <a:r>
              <a:t>· 경계 이벤트(Boundary Event) · 프로세스 엔진 · 인스턴스(Process Engine · Process Instance)</a:t>
            </a:r>
          </a:p>
          <a:p>
            <a:r>
              <a:t>· 토큰 · 프로세스 변수(Token · Process Variable) · 판본 · 감사 기록(Version · Audit Log)</a:t>
            </a:r>
          </a:p>
          <a:p>
            <a:r>
              <a:t>[다음] 퀴즈 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세 문제: 기록의 뜻, 그림과 실행 정의의 구별, 명령을 만드는 책임의 자리</a:t>
            </a:r>
          </a:p>
          <a:p>
            <a:r>
              <a:t>· 문제마다 보기를 읽고 20초 멈춤</a:t>
            </a:r>
          </a:p>
          <a:p>
            <a:r>
              <a:t>· 정답과 까닭은 세 문제를 다 본 뒤에</a:t>
            </a:r>
          </a:p>
          <a:p>
            <a:r>
              <a:t>[다음] 첫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상황(결과 보고 정상 · COMPLETED, 작업지시 WO-1010-C058 등록) → 보기 넷 → 20초</a:t>
            </a:r>
          </a:p>
          <a:p>
            <a:r>
              <a:t>· 물음의 요지: 정비 담당자에게 넘기는 말</a:t>
            </a:r>
          </a:p>
          <a:p>
            <a:r>
              <a:t>· 생각할 거리: 명령 처리 · 유온 회복 · 작업지시 등록은 각각 무엇을 말하나</a:t>
            </a:r>
          </a:p>
          <a:p>
            <a:r>
              <a:t>· 생각할 거리: 완화 조치와 근본 조치의 차이</a:t>
            </a:r>
          </a:p>
          <a:p>
            <a:r>
              <a:t>· 생각할 거리: 처리 건의 끝과 SOP의 운전 제한</a:t>
            </a:r>
          </a:p>
          <a:p>
            <a:r>
              <a:t>[다음] 둘째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상황(승인? 두 선 이름만 「승인」 · 「거절」, 연결 값엔 조건 없음) → 보기 넷 → 20초</a:t>
            </a:r>
          </a:p>
          <a:p>
            <a:r>
              <a:t>· 물음의 요지: 이 상태에 대한 맞는 설명</a:t>
            </a:r>
          </a:p>
          <a:p>
            <a:r>
              <a:t>· 생각할 거리: 엔진은 선 이름을 읽나</a:t>
            </a:r>
          </a:p>
          <a:p>
            <a:r>
              <a:t>· 생각할 거리: 기본 흐름은 저절로 정해지나</a:t>
            </a:r>
          </a:p>
          <a:p>
            <a:r>
              <a:t>· 생각할 거리: 갈래를 고르는 것은 에이전트인가, 조건인가</a:t>
            </a:r>
          </a:p>
          <a:p>
            <a:r>
              <a:t>[다음] 셋째 문제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상황(에이전트가 추천안 제출에 「팬 속도 100 %」 명령 값을 넣음) → 보기 넷 → 20초</a:t>
            </a:r>
          </a:p>
          <a:p>
            <a:r>
              <a:t>· 물음의 요지: 이 제출의 처리</a:t>
            </a:r>
          </a:p>
          <a:p>
            <a:r>
              <a:t>· 생각할 거리: 에이전트의 쓰기는 무엇 하나인가</a:t>
            </a:r>
          </a:p>
          <a:p>
            <a:r>
              <a:t>· 생각할 거리: 설비 명령은 언제, 누가 만드나</a:t>
            </a:r>
          </a:p>
          <a:p>
            <a:r>
              <a:t>· 생각할 거리: 승인을 기다리는 동안 미리 실행되는 것이 있나</a:t>
            </a:r>
          </a:p>
          <a:p>
            <a:r>
              <a:t>[다음] 정답과 판단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줄(문항 · 판단 기준 · 정답) 위에서 아래로</a:t>
            </a:r>
          </a:p>
          <a:p>
            <a:r>
              <a:t>· Quiz 1 정답 3: 명령 처리 · 회복 · 작업지시 등록은 다른 사실, 세척 완료와 SOP 운전 제한은 이어서 확인</a:t>
            </a:r>
          </a:p>
          <a:p>
            <a:r>
              <a:t>· Quiz 1 오답: 1 등록을 세척 완료로, 2 완화를 근본 조치로, 4 처리 건의 끝과 24시간 제한을 섞음</a:t>
            </a:r>
          </a:p>
          <a:p>
            <a:r>
              <a:t>· Quiz 2 정답 1: 갈림은 연결 값의 조건과 기본 흐름이 정함, 2 엔진은 이름을 안 읽음, 3 거절 선이 저절로 기본 흐름이 되지 않음, 4 판단과 조건을 섞음</a:t>
            </a:r>
          </a:p>
          <a:p>
            <a:r>
              <a:t>· Quiz 3 정답 4: 에이전트의 쓰기는 판단 제출뿐, 명령 모양 값이 든 제출은 거부, 명령은 승인 뒤 프로세스만</a:t>
            </a:r>
          </a:p>
          <a:p>
            <a:r>
              <a:t>· Quiz 3 오답: 1 · 3 승인 전 명령, 2 에이전트에게 실행 권한</a:t>
            </a:r>
          </a:p>
          <a:p>
            <a:r>
              <a:t>· 맺음: 추천안 뒤의 업무를 프로세스로 정의하고, BPMN으로 그려 그림과 실행 정의를 가르고, 처리 건의 실행과 통제를 기록으로 읽었다</a:t>
            </a:r>
          </a:p>
          <a:p>
            <a:r>
              <a:t>[다음] 맺음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실전반 6회차 · 설비 이상 대응 프로세스의 설계와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설비 이상 대응을 안전하게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실행하는 프로세스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추천안을 승인 · 명령 · 재관측 · 보고로 잇는 흐름을 정의하고, BPMN으로 그려 실행 기록과 대조한다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git-fork" descr="git-fork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user-check" descr="user-check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history" descr="history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경보의 추천안이 승인 · 명령 · 재관측 · 보고를 거쳐 끝나기까지를 정의하고 그려서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단위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에이전트의 단계 하나와 업무 전체를 가른다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· 입력 · 담당 · 완료와 BPM을 정한다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99367"/>
            <a:ext cx="1764792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099367"/>
            <a:ext cx="1764792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90823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5415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 표기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이벤트 · 작업 · 게이트웨이 · 레인 · 타이머를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그림 파일과 연결 값을 가른다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423" y="5099367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9423" y="5099367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그림과 실행 정의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33007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실행과 통제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 · 토큰 · 변수로 진행을 읽는다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상태 · 권한 · 판본 · 감사 기록을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61607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1607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191" y="2453576"/>
            <a:ext cx="2567863" cy="30755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783" y="2654744"/>
            <a:ext cx="2238679" cy="237147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작도와 검증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두 흐름을 그려 기준 흐름과 비교한다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시나리오 A의 처리 건으로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03791" y="5099367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03791" y="5099367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일곱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End-to-End와 오케스트레이션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3726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3726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942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034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034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정의와 BPM 생애주기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1941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1941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632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723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3723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흐름: 이벤트 · 작업 · 게이트웨이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5105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5105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9321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9413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29413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책임과 기다림: 레인 · 경계 타이머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079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079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5011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51028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51028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 · 처리 건 · 토큰 · 변수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64845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64845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0700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07924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07924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 · 권한 · 판본 · 감사 기록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21741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21741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 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46390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464820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464820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설계 도구 · 승인 업무 · 설비 이상 대응 작도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47863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47863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1~3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20801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21716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21716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조건과 예외 · 실행 연결 비교 · 연결 검사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355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355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4~6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57769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786120"/>
            <a:ext cx="822960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417319" y="5786120"/>
            <a:ext cx="8488375" cy="5689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이벤트와 처리 결과 · 복습 · 퀴즈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88575" y="592429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88575" y="592429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7 · 정리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 · End-to-End와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 뒤에 남은 일을 기록으로 대조하고, 흐름 전체의 책임을 가른다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사건 처리 건에 남은 단계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제출된 뒤에도 승인 · 명령 · 재관측 · 작업지시 · 보고가 서로 다른 담당의 기록으로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쪽 · 남은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끝났을 때 생긴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· 처리 건 열림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감지 서비스 → 프로세스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ALT-hyd01-0014-e0a1 · 11:13:08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하나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냉각 긴급 대응 에이전트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DEC-1010-002-408b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(팬 최대 운전)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역할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11:14:56 승인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실행해도 된다는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SCADA → PLC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CMD-1010-0001-b94a · 인터록 PASS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속도 100 %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 61.4 → 51.5 ℃ · 경보 해제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세척 작업 배정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프로세스(시스템)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종료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Task와 End-to-End: 끝났다고 말하는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End-to-End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(종단 간)는 시작 사건에서 최종 결과까지라서, 업무 완료는 Task가 아니라 그 끝에서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Task(작업)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 안의 작업 하나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원인 진단 · 냉각 조치 제안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끝났을 때: 추천안뿐, 설비 명령 없음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처리 건 시간의 절반 남짓을 썼다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앞부분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End-to-End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경보에서 결과 보고까지 전체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끝났을 때: 명령 처리 · 유온 회복 · 작업지시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경계: 작업지시 등록까지, 세척 완료는 밖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개선을 견줄 때도 같은 경계로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업무의 완료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 · 처리 건 · 오케스트레이션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틀인 프로세스, 한 번의 수행인 처리 건, 순서를 쥔 방식을 나눠야 경보마다 같은 약속으로 업무가 진행된다.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시작 사건과 끝났다고 보는 조건이 있다. 예: 긴급 대응 프로세스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번의 수행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건에 대해 프로세스가 실제로 한 번 수행되는 단위이다.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사건은 긴급 대응 프로세스의 처리 건 하나였다.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· 사람 · 시스템은 자기 작업만 하고, 다음 차례는 조정자가 연다.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하나의 판단과 흐름 전체의 책임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단계 하나의 판단을, 흐름을 이끄는 쪽은 차례 · 승인 전 금지 · 기다림 · 기록을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에이전트(단계 하나)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흐름을 이끄는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원인과 조치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지식과 값을 읽어 추천안을 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작업에 넘긴다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입력이 오면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과정 · 표현 · 걸린 시간이 달라질 수 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정한 순서와 조건이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매번 같다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전 명령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쓰기는 판단 제출 하나뿐이다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뒤에만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작업을 연다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응답이 늦으면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관여하지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기한 뒤 알림,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계속 기다린다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어디까지 왔나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자기 단계의 실행 기록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건 하나에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단계 · 결과 · 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승인을 건너뛰자는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팬 최대 운전이 늘 1순위로 추천되니, 이 조치만은 운전원 승인 없이 바로 명령하자는 요구가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흐름을 설계하는 쪽의 판단으로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 점수가 기준을 넘으면 승인 작업을 빼도 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작업은 두되, 기한이 지나면 자동으로 승인한다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승인은 설비를 움직일 권한의 자리라 유지하고, 지연은 알림 · 담당 배정으로 다룬다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에이전트에게 명령 도구를 주고 실행 뒤에 보고하게 한다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정의와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 생애주기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시작 · 입력 · 담당 · 완료를 실행 전에 정하고, 실행 결과를 보며 흐름을 고쳐 간다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· 입력 · 담당 · 완료를 실행 전에 정하기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네 가지를 실행 전에 정해 두지 않으면, 업무는 사람의 기억으로 시작되고 거절 · 미달은 열린 채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 프로세스의 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정하지 않으면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성능 저하 경보가 도착하면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누군가 화면을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봐야 시작된다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경보 식별자 · 경보 내용 전체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단계마다 경보를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다시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담당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작업마다 에이전트 · 운전원 역할 · 시스템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누구의 응답을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기다리는지 모른다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 · 미달 · 거절을 정해 둔 끝으로 닫는다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응답 없음은 닫지 않고 알림 뒤 기다린다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결말 없이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떠 있는 처리 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 한 건이 처리 건을 여는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성능 저하 경보가 도착하면 처리 건이 열리고, 그 경보의 내용이 처리 건의 입력으로 실린다.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    asset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↓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메시지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시작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이벤트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「쿨러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과열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경보」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c3_cooling.4f93a9d0-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입력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asset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alert_id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pattern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incident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+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경보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id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프로세스를 여는 경보의 종류다.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메시지 전체가 실려, 뒤 단계가 같은 출발점을 읽는다.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중복 방지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경보가 다시 와도 처리 건은 하나다.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BPM의 다섯 활동과 HYD에서 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BPM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(Business Process Management)은 분석 · 설계 · 실행 · 모니터링 · 개선을 되풀이하는 관리 방법이다.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2983992"/>
            <a:ext cx="8875532" cy="3657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23741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3741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1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네 가지와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끊기는 자리를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찾는다</a:t>
            </a:r>
          </a:p>
        </p:txBody>
      </p:sp>
      <p:sp>
        <p:nvSpPr>
          <p:cNvPr id="10" name="Oval 9"/>
          <p:cNvSpPr/>
          <p:nvPr/>
        </p:nvSpPr>
        <p:spPr>
          <a:xfrm>
            <a:off x="3442624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42624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0675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흐름을 그리고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 기능을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5661507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1507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9558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판본을 배포해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경보마다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건을 연다</a:t>
            </a:r>
          </a:p>
        </p:txBody>
      </p:sp>
      <p:sp>
        <p:nvSpPr>
          <p:cNvPr id="16" name="Oval 15"/>
          <p:cNvSpPr/>
          <p:nvPr/>
        </p:nvSpPr>
        <p:spPr>
          <a:xfrm>
            <a:off x="7880390" y="256794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80390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78441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모니터링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단계별 담당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대기 · 결과를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본다</a:t>
            </a:r>
          </a:p>
        </p:txBody>
      </p:sp>
      <p:sp>
        <p:nvSpPr>
          <p:cNvPr id="19" name="Oval 18"/>
          <p:cNvSpPr/>
          <p:nvPr/>
        </p:nvSpPr>
        <p:spPr>
          <a:xfrm>
            <a:off x="10099273" y="2567940"/>
            <a:ext cx="868680" cy="86868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99273" y="2567940"/>
            <a:ext cx="868680" cy="868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2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97324" y="3619499"/>
            <a:ext cx="2072579" cy="17952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고친 새 판본을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경보부터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쓴다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모니터링 기록으로 개선 제안 가리기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오래 걸린 단계라고 곧바로 없애지 않고, 그 시간이 무엇에 쓰였는지 기록으로 가린 뒤 고칠 곳을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개선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먼저 볼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재관측이 길다, 빼자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처리와 유온 회복은 서로 다른 사실이다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효과를 확인하는 시간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대기를 줄이자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담당자가 몰랐는지, 알림이 갔는지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승인은 두고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 · 배정을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단계를 줄이자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 시간에서 차지한 몫,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종류 처리 건 여러 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개선 후보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같은 경계로 견준다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흐름: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이벤트 · 작업 · 게이트웨이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도형으로 순서와 갈림을 그리고, 그림 파일과 실행할 정의의 차이를 가른다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적은 절차와 BPMN으로 그린 절차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BPMN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(Business Process Model and Notation)은 도형과 선의 뜻을 정한 표기 표준이라, 문장에 묻힌 갈림이 드러난다.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문장으로 적으면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「승인하면 … 아니면 … 거절하면」이 흩어진다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재관측과 보고를 누가 하는지 빠지기 쉽다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알림 뒤에도 기다리는지 사람마다 달리 읽는다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62638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62638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달리 읽힌다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62873"/>
            <a:ext cx="5181447" cy="3656965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64041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BPMN으로 그리면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214433"/>
            <a:ext cx="4632807" cy="20567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갈림은 마름모, 끝은 굵은 원으로 센다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맡는 쪽의 레인에 놓인다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기다림은 작업에 붙은 타이머의 선 모양으로 정해진다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62638"/>
            <a:ext cx="16763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62638"/>
            <a:ext cx="16763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뜻으로 읽힌다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장으로 그린 긴급 대응 프로세스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긴급 대응 프로세스는 풀 하나 · 레인 셋 위에 갈림 둘과 끝 셋으로 그려져, 승인 없이는 명령에 닿지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pic>
        <p:nvPicPr>
          <p:cNvPr id="6" name="Picture 5" descr="illust_254641042146852530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403348"/>
            <a:ext cx="7223760" cy="3130296"/>
          </a:xfrm>
          <a:prstGeom prst="rect">
            <a:avLst/>
          </a:prstGeom>
          <a:ln w="12700">
            <a:solidFill>
              <a:srgbClr val="D3D9E1"/>
            </a:solidFill>
          </a:ln>
        </p:spPr>
      </p:pic>
      <p:sp>
        <p:nvSpPr>
          <p:cNvPr id="7" name="Oval 6"/>
          <p:cNvSpPr/>
          <p:nvPr/>
        </p:nvSpPr>
        <p:spPr>
          <a:xfrm>
            <a:off x="8138160" y="1682496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68249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1627632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위에서부터 담당자 · 에이전트 · 시스템 레인</a:t>
            </a:r>
          </a:p>
        </p:txBody>
      </p:sp>
      <p:sp>
        <p:nvSpPr>
          <p:cNvPr id="10" name="Oval 9"/>
          <p:cNvSpPr/>
          <p:nvPr/>
        </p:nvSpPr>
        <p:spPr>
          <a:xfrm>
            <a:off x="8138160" y="2852928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529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49640" y="2798064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봉투 원 → 표식 없는 상자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과열 경보 → 원인 진단 · 냉각 조치 제안</a:t>
            </a:r>
          </a:p>
        </p:txBody>
      </p:sp>
      <p:sp>
        <p:nvSpPr>
          <p:cNvPr id="13" name="Oval 12"/>
          <p:cNvSpPr/>
          <p:nvPr/>
        </p:nvSpPr>
        <p:spPr>
          <a:xfrm>
            <a:off x="8138160" y="4023359"/>
            <a:ext cx="347472" cy="347472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2335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49640" y="3968496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표식 상자 → 마름모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→ 승인?, 승인이면 아래 칸의 냉각 명령으로</a:t>
            </a:r>
          </a:p>
        </p:txBody>
      </p:sp>
      <p:sp>
        <p:nvSpPr>
          <p:cNvPr id="16" name="Oval 15"/>
          <p:cNvSpPr/>
          <p:nvPr/>
        </p:nvSpPr>
        <p:spPr>
          <a:xfrm>
            <a:off x="8138160" y="5193792"/>
            <a:ext cx="347472" cy="347472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519379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5138928"/>
            <a:ext cx="3093415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점선 시계 · 굵은 원 셋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알림 갈래, 그리고 끝 · 거절 종결 · 알림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도형의 종류와 긴급 대응 프로세스에서의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원은 사건, 둥근 사각형은 작업, 마름모는 갈림이고, 작업의 표식이 사람 · 시스템 · 연결 때 정할 쪽을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모양과 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긴급 대응에서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가는 원 안의 봉투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메시지를 받으면 흐름을 연다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과열 경보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647841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굵은 원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도착한 갈래를 닫는다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647841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· 거절 종결 · 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작업(Task)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265714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표식 없는 둥근 사각형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수행자는 실행 연결 때 정한다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265714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 진단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조치 제안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작업(User Task)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883587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수행한다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3883587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작업(Service Task)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501460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톱니 표식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시스템이 수행한다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501460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명령 · 재관측 ·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· 결과 보고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119333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가위표 마름모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보낸다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119333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승인? · 유온 정상?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시퀀스 흐름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5737206"/>
            <a:ext cx="615665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실선 화살표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풀 안의 순서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8495" y="5737206"/>
            <a:ext cx="210312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경보에서 끝까지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잇는 선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그림의 작업마다 붙는 실행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그림이라도 작업마다 실행 기능과 맡을 쪽을 연결해야 에이전트 · 운전원 · 시스템이 실제로 움직인다.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그림의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연결되는 실행 기능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그림에 없는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과열 경보(시작)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COOLER_DEGRADATION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어떤 경보가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 흐름을 여는지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task:decide · 냉각 긴급 대응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어느 에이전트에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무엇을 맡기는지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task:select-or-reject · 운전원 역할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누가 승인할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권한이 있는지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· 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task:command · task:reobserve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PLC 명령과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 판정의 실행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task:work-order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남길 작업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svc:report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값과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보고 문장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이름과 갈림 조건: 그림 파일과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 파일의 선 이름 「승인」은 표시일 뿐이고, 어느 갈래로 갈지는 연결 값의 조건과 기본 흐름이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6749"/>
            <a:ext cx="6766560" cy="3109213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73909"/>
            <a:ext cx="6400800" cy="28348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선의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이름과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끝점만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id="F_approved"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&lt;sequenceFlow id="F_rejected"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/&gt;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flows)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갈림의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F_approved   approval == '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'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F_rejected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F_yes        recovered == true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F_no         default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흐름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436749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name="승인"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그림에 보이는 선 이름이다. 실행 조건이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73153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== '승인'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작업이 낸 값으로 갈래를 고르는 조건이다.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09558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흐름(Default Flow)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조건도 참이 아닐 때 가는 선이다.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기본 흐름이 빠진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정상? 게이트웨이의 「예」 선에만 조건을 넣고, 「아니오」 선에는 조건도 기본 흐름 표시도 두지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재관측이 회복하지 못했다는 값을 냈을 때 일어나는 일은?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선 이름 「아니오」를 읽어 미달 보고로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맞는 선이 없어 그 자리에서 넘어가지 못하고, 사유가 기록된다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「예」 선으로 가서 작업지시가 등록된다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거절 종결로 닫힌다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BPMN의 책임과 기다림: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 · 경계 타이머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맡는 쪽은 칸으로, 응답이 늦을 때의 처리는 경계 타이머로 정한다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 · 레인 · 메시지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풀은 참여자, 레인은 그 안의 책임 칸이고, 다른 참여자와 주고받는 일만 점선의 메시지 흐름으로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참여자 하나의 영역이다.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대응은 풀 하나 「냉각 긴급 대응」으로 그린다.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3329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 안에서 활동을 나누는 칸이다.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흐름은 담당자 · 에이전트 · 시스템의 세 칸으로 책임을 나눈다.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메시지 흐름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Message Flow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서로 다른 풀 사이를 오가는 점선 화살표이다.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하나인 긴급 대응에는 없다.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중단형과 비중단형 경계 타이머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경계 이벤트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(Boundary Event)는 작업에 붙은 사건이라, 타이머의 테두리 모양이 기한 뒤 작업을 끊을지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중단형(Interrupting)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실선 겹테두리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기한이 지나면 작업을 끊고 다른 갈래로 간다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원래 있던 다른 대응 흐름의 선택 시간 초과 → 상급자 호출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157978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57978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결정을 넘긴다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367533"/>
            <a:ext cx="5181447" cy="3247644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568702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비중단형(Non-interrupting)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419093"/>
            <a:ext cx="4632807" cy="16474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점선 겹테두리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작업은 그대로 두고 갈래를 하나 더 연다</a:t>
            </a:r>
          </a:p>
          <a:p>
            <a:pPr algn="l" eaLnBrk="0" marL="188595" indent="-188595">
              <a:lnSpc>
                <a:spcPct val="110000"/>
              </a:lnSpc>
              <a:spcAft>
                <a:spcPts val="6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예: 수업 흐름의 승인 지연 PT10M → 알림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157978"/>
            <a:ext cx="18288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157978"/>
            <a:ext cx="18288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사람을 기다린다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작업의 타이머와 역할: 그림과 연결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그림은 타이머가 승인 작업에 붙어 끊지 않는다는 구조를 담고, 10분 기한과 승인 역할은 연결 값이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90852"/>
            <a:ext cx="6766560" cy="4001008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28012"/>
            <a:ext cx="6400800" cy="372668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그림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파일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(.bpmn)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&lt;userTask id="T_approve"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"&gt;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&lt;boundaryEvent id="B_overdue" name="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attachedToRef="T_approve" cancelActivity="false"&gt;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&lt;timerEventDefinition /&gt;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비어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연결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값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(mapping.json)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"timers":    { "B_overdue": "PT10M" }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"T_approve": { "part": "task:select-or-reject",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       "role": "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1990852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attachedToRef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타이머가 운전원 승인 작업에 붙어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2991104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cancelActivity="false"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비중단형이다. 알림 뒤에도 승인 작업이 열려 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3991356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PT10M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기간 표기로 10분이다. 기한은 연결 값에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4991608"/>
            <a:ext cx="4007815" cy="100025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role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승인할 역할이다. 레인 이름만으로 정해지지 않는다.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단계 더: 실행 정의로 가져올 때 걸리는 그림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편집기에서는 그려져도 실행 정의로 가져올 때 막히는 그림이 있어, 실행할 흐름은 그 범위 안에서 그린다.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이렇게 그리면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가져올 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고칠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참여자마다 풀을 따로 그린다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풀이 둘 이상이면 거절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풀 안에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레인으로 나눈다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마름모 없이 선 두 갈래를 뽑는다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없는 갈라짐이라 등록 거부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배타 게이트웨이를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중간에 타이머를 세운다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 테두리의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기간 타이머로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하위 프로세스로 접는다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실행하지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펼쳐서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한 흐름으로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없이 명령에 닿는 길이 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등록 전 검사가 거절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앞에 승인과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조건 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레인과 작업의 담당이 다르다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사전 검사가 알린다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칸이나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연결 담당을 맞춘다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문제: 응답이 없을 때 결정을 넘기라는 요구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야간에는 운전원 응답이 늦는 일이 잦아, 기한이 지나면 상급자가 결정하게 해 달라는 요구가 나왔다고 하자.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작업을 어떻게 그리는 것이 맞는가?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작업에 비중단형 타이머를 붙여 알림만 보낸다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기한이 지나면 자동으로 승인하는 선을 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 중간에 타이머 이벤트를 따로 세워 상급자 작업으로 잇는다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작업에 중단형 타이머를 붙여, 기한 뒤 상급자 결정 작업으로 보낸다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 · 처리 건 ·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 · 변수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정의를 읽어 작업을 여는 쪽과, 처리 건의 현재 위치와 값을 읽는다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프로세스 정의 · 프로세스 인스턴스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 엔진은 정의 하나를 읽어 경보마다 인스턴스를 열고, 그 인스턴스의 다음 작업을 차례로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정의를 읽어 그대로 실행하는 소프트웨어이다.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오케스트레이션의 조정자 자리를 맡는다.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Definition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요소 · 선 · 조건 · 역할을 담은 설계도이다.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긴급 대응의 정의 id는 c3_cooling이다.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 따라 실제로 수행되는 한 건, HYD의 처리 건이다.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한 건마다 하나씩 열린다.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정의에서 열린 처리 건 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정의에서 열린 처리 건이라도 지나간 갈래와 결말이 달라서, 결과는 처리 건 하나씩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지나간 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 · 설비 명령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4f93a9d0… 쿨러 사건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 → 재관측 회복 → 작업지시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E_end · 정상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1건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94a9231b… 같은 정의의 다른 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결과 보고: 거절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없음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bede0d2e… 같은 정의의 다른 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 → 기한 뒤 알림 → 그 뒤 거절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명령 없음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토큰: 승인 대기 중인 처리 건의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토큰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(Token)은 흐름의 현재 위치를 나타내는 표식이라, 열린 단계를 보면 처리 건이 누구를 기다리는지 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3665"/>
            <a:ext cx="6766560" cy="2675382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790825"/>
            <a:ext cx="6400800" cy="240106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bede0d2e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…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(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같은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정의에서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status                RUNNING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current_activity_ids  ["T_approve"]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T_agent 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T_approve   IN_PROGRESS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운전원의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결정을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기다린다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B_overdue   DONE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지나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알림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갈래가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열렸다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T_notice    DONE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T_cmd       TODO   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아직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닿지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653665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current_activity_ids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지금 열린 단계, 곧 토큰이 머문 곳이다.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45459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IN_PROGRESS · DONE · TODO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진행 중 · 끝남 · 아직 닿지 않음이다.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37253"/>
            <a:ext cx="4007815" cy="89179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둘째 토큰은 알림을 마쳤고 승인 대기는 남았다.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변수가 잇는 출력과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변수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(Process Variable)는 처리 건이 지닌 이름 붙은 값이라, 단계의 출력이 다음 갈림의 조건이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asset · alert_id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경보가 실어 온 값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44332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17484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진단 · 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 · decision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· 추천안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140025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13177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approval · chosen_skill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팬 최대 운전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승인자 · 역할은 서버가 채운다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435717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08869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recovered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회복 → 유온 정상?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게이트웨이가 읽는다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731410" y="2474722"/>
            <a:ext cx="1911644" cy="3033268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04562" y="2657602"/>
            <a:ext cx="1765340" cy="277723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work_order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WO-1010-C058이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보고 문장에 들어간다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User · Service · Agent 작업에서 엔진이 기다리는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엔진은 작업 종류마다 사람의 결정 · 시스템의 결과 · 에이전트의 제출을 기다리고, 다음 작업은 엔진이 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작업 종류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엔진이 기다리는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끝나지 않으면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사용자 작업 · 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담당 역할의 승인이나 거절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전달이 성공해야 다음으로 간다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머문다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서비스 작업 · 냉각 명령 · 재관측 · 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부른 시스템의 처리 결과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실패를 성공으로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넘기지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 · 원인 진단 ·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지정한 에이전트의 결과 제출과 검사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다음 작업을 열지 않는다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제출 전에는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작업이 없다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기록으로 지금 누구 차례인지 읽기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기록에서 열린 단계와 상태를 읽으면, 지금 자동으로 진행되는 일과 사람이 확인할 일이 갈린다.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 보이는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 상태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누가 무엇을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RUNNING · T_approve IN_PROGRESS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대기, 정상 상태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운전원이 추천안과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현재 조건을 보고 결정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T_cmd DONE · T_reobs IN_PROGRESS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명령은 처리됨, 회복을 관측 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시스템이 기준과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해제를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PENDING · 사유 기록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맞는 선이 없어 멈춤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담당자가 조건과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 값을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 · E_rejected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거절로 닫힘, 명령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쿨러 상태를 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다른 조치를 판단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상태 · 권한 ·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감사 기록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결말, 결정한 쪽, 고친 흐름이 쓰이는 때를 확인한다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COMPLETED가 같은 두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상태 COMPLETED는 실행이 끝났다는 뜻일 뿐이라, 결말은 끝 이벤트 · 결과 보고 · 단계 상태로 가린다.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승인된 처리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거절된 처리 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상태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COMPLETED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닿은 끝 이벤트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E_end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E_rejected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단계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DONE · 설비 명령 1건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CANCELLED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 명령 없음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회복 미달이었다면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이벤트는 E_end 그대로, 결과 보고만 미달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해당 없음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권한을 지키는 검사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권한은 레인 이름이 아니라 등록 전 검사와 실행 중 역할 검사가 지켜, 승인 없는 명령을 막는다.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29815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흐름을 등록할 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없이 명령에 닿는 경로가 있으면 등록하지 않는다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거절 갈래에서 효과가 나가도 등록하지 않는다</a:t>
            </a:r>
          </a:p>
          <a:p>
            <a:pPr algn="l" eaLnBrk="0" marL="154305" indent="-154305">
              <a:lnSpc>
                <a:spcPct val="110000"/>
              </a:lnSpc>
              <a:spcAft>
                <a:spcPts val="6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효과까지 가는 길은 승인 조건 선을 지나야 한다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그림을 거른다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61607" y="2128647"/>
            <a:ext cx="5181447" cy="372541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5927" y="2329815"/>
            <a:ext cx="472424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실행할 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5927" y="3180207"/>
            <a:ext cx="4632807" cy="212521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조치마다 승인 역할: 팬 최대 운전은 운전원, 핀 세척은 설비보전팀장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권한이 모자란 승인은 거부하고 감사 기록에 남긴다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에이전트의 쓰기는 판단 제출 하나, 명령 모양 값은 거부</a:t>
            </a:r>
          </a:p>
          <a:p>
            <a:pPr algn="l" eaLnBrk="0" marL="165735" indent="-165735">
              <a:lnSpc>
                <a:spcPct val="110000"/>
              </a:lnSpc>
              <a:spcAft>
                <a:spcPts val="600"/>
              </a:spcAft>
            </a:pPr>
            <a:r>
              <a:rPr sz="14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승인자 · 역할 값은 승인하는 순간 서버가 채운다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81647" y="5396865"/>
            <a:ext cx="132587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647" y="5396865"/>
            <a:ext cx="132587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행동을 거른다</a:t>
            </a:r>
          </a:p>
        </p:txBody>
      </p:sp>
      <p:sp>
        <p:nvSpPr>
          <p:cNvPr id="16" name="Oval 15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판본과 배포: 고친 흐름이 쓰이는 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고친 흐름은 새 판본으로 등록하고 배포해야 다음 경보부터 쓰이고, 열린 처리 건은 열릴 때의 판본으로 끝난다.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바뀌는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그대로인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등록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새 판본이 하나 쌓인다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저장된 옛 판본,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경보를 받는 흐름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그 경보를 받을 판본이 정해진다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경보에 여럿이면 가장 최근 배포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이미 열린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경보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배포된 판본으로 처리 건이 열린다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다른 경보의 흐름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진행 중인 처리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바뀌지 않는다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열릴 때의 판본으로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끝까지 간다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승인할 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현재 조건을 다시 확인한다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고정이 센서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얼리지는 않는다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물음마다 볼 기록: 처리 기록과 감사 기록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 안의 진행은 처리 기록에, 처리 건의 시작 · 판본 배포 · 거부된 승인은 </a:t>
            </a: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감사 기록</a:t>
            </a: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(Audit Log)에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볼 기록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남는 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누가 어느 추천안을 승인했나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APPROVAL_ACCEPTED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 · 판단 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다음 단계로 넘어갔나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APPROVAL_DELIVERY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전달 완료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무엇으로 끝났나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기록 · RESULT_REPORT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 본문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처리 건은 언제 열렸나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INSTANCE_STARTED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건의 시작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 판본은 언제 배포됐나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DEFINITION_DEPLOYED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배포된 판본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없는 승인 시도가 있었나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감사 기록 · DECISION_DENIED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거부된 승인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응용: 끝난 처리 건에서 다음 담당자가 이어 볼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정상으로 끝난 처리 건도 명령 처리 · 회복 · 작업지시 등록이 각각 다른 사실이라, 다음 담당자가 이어 볼 일이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뜻하는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담당자가 이어 볼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 DONE · 인터록 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설비가 명령을 실행했다고 답했다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회복은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재관측 기록으로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 회복 · 경보 해제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유온이 기준 55 ℃ 아래로 내려왔다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오염은 남아 있다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(팬 최대 운전은 완화)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CMMS에 핀 세척 작업 WO-1010-C058이 배정됐다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담당이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세척 완료를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 정상 · COMPLETED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처리 건의 흐름이 끝났다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팬 100 % 연속 운전은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24시간 이내(SOP)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업무 설계 도구 기본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설계 도구로 만든 첫 BPMN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 요소를 놓고 잇고 고친 그림을 .bpmn으로 저장한 뒤, 다시 열어 같은 구조인지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목표 · 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웹 BPMN 편집기의 배치 · 연결 · 수정 · 속성 확인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정비 요청이 담당자에게 넘어가는 작은 흐름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조작 익히기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git-fork" descr="git-for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할 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시작 · 작업 · 끝을 놓고 시퀀스 흐름으로 잇는다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작업을 사용자 작업으로 바꾸고 이름 · ID를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배치와 수정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.bpmn 파일 하나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열어도 요소 · 이름 · 연결 방향이 같다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표시 이름과 요소 ID를 구별한다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저장과 다시 열기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업무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업무 흐름의 두 갈래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요청을 확인한 뒤 승인 여부로 갈라 승인 종료와 반려 종료를 따로 두고, 각 갈래가 끝에 닿는지 따라간다.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앞 실습의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기본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정비 요청 한 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18255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91407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흐름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요청 확인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여부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종료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반려 종료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87871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업무 파일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경로별 시작 ·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결정 · 끝 기록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157487" y="2753614"/>
            <a:ext cx="2485567" cy="2475483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0639" y="2936494"/>
            <a:ext cx="2339263" cy="2219451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두 갈래가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각자 끝에 닿는다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배타 게이트웨이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끊긴 선 없음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설비 이상 대응 작도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역할별 레인으로 그린 설비 이상 대응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경보에서 보고까지를 세 레인에 나눠 그려, 추천과 명령 사이에 사람의 승인이 놓이는지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앞 실습의 승인 업무 흐름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참조 흐름은 대조용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4847590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847590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출발점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2810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그릴 범위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경보 → 진단 · 제안 → 승인 → PLC 명령 → 재확인 → 보고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풀 하나에 레인 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66818" y="484759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6818" y="484759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기본 경로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2705354"/>
            <a:ext cx="3515258" cy="25720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92388" y="2906522"/>
            <a:ext cx="3186074" cy="18679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이상 대응 초안 파일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요소 ID · 레인 대응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명령 앞에 승인, 뒤에 재확인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56396" y="4847590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56396" y="4847590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책임 배치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승인 조건과 예외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· 지연을 갖춘 안전한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거절 분기, 반려 종료, 승인 지연 알림 타이머를 더해, 거절과 지연에서 무엇이 실행되지 않는지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더할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그림에 그릴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확인할 경계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거절 분기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→ 냉각 명령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거절 → 거절 보고 → 반려 종료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거절 갈래에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명령이 없다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승인에 비중단형 경계 타이머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승인 지연 알림 → 알림 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알림이 승인 작업을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끊지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조건과 기한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갈림의 조건 · 기본 흐름 · 10분 기한을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계획에 적는다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선 이름만으로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조건이 생기지 않는다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에이전트와 실행 연결 비교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그림과 등록된 기준 흐름의 실행 연결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직접 그린 흐름을 포털에 등록된 기준 흐름과 견주고, 작업마다 어떤 실행 기능에 대응하는지 제공 매핑에서 찾는다.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찾을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제공 매핑에서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내 그림에 표시할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시작 이벤트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 패턴 COOLER_DEGRADATION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시작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판단 · 제안 부품, 냉각 대응 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· 제안 작업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· 거절 부품, 운전원 역할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사용자 작업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설비 명령 · 재관측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PLC 명령 · 재관측 부품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서비스 작업 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그림 파일과 실행 정의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 · 기한 · 담당은 매핑에 있다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그림에 없는 값을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따로 적는다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연결 검사와 수정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분기 · 종료 연결의 검사와 수정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· 반려 경로와 종료 연결을 따라가 누락을 찾아 고치고, 기준 BPMN · 매핑과 담당 역할 · 실행 기능을 대조한다.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ute" descr="rout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0921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경로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경로 · 반려 경로 · 지연 알림 갈래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갈래마다 끝 이벤트에 닿는가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9851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9851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분기 · 종료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35559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st-check" descr="list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50921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대조할 것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기준 BPMN과 매핑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작업별 담당 역할 · 실행 기능이 빠지지 않았나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398516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398516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· 기능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154427"/>
            <a:ext cx="3515258" cy="36738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35559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50921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178556"/>
            <a:ext cx="3186074" cy="21468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 · 성공 기준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고친 .bpmn과 수정 기록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저장 뒤 다시 열어도 연결이 그대로다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실제로 찾은 문제만 고친다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398516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398516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검사 기록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이벤트와 처리 결과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준비된 시나리오 A로 검증하는 처리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냉각 대응 시나리오 A의 처리 건 하나를 따라가며, 자동으로 처리된 것과 사람이 확인할 것을 기록으로 가른다.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따라갈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기록에서 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구별할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운전원 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 · 판단 번호 · 승인 대기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오류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명령 → 재관측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 · 유온 회복 · 경보 해제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 처리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온도 회복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· 보고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번호 · 결과 보고 · 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· 보류 · 지연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실제 기록인지 제공 사례인지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실행한 것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사례로 본 것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남길 기록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 · 판본 · 처리 건 · 결과와 내 BPMN의 대응 작업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다음 담당자가 이어 볼 일과 근거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경보 한 건을 실행 정의와 기록으로 되짚기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경보 하나에서 나오는 물음마다 답이 놓인 자리가 달라서, 그 자리를 가리는 것이 이번 회차의 핵심이다.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물음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답이 놓인 자리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헷갈리기 쉬운 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나오면 업무가 끝났나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End-to-End의 끝 이벤트와 결과 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Task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End-to-End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 이름이 「승인」이면 조건이 걸렸나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연결 값의 조건 approval == '승인'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선 이름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실행 조건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알림 뒤에도 승인을 기다리나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비중단형 경계 타이머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알림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종료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승인에 머문 처리 건은 오류인가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토큰이 사용자 작업에 머문 RUNNING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대기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오류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COMPLETED면 성공인가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 · 결과 보고 · 단계 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실행 종료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vs 업무 성공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작업지시가 등록되면 정비가 끝났나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CMMS의 작업 완료 확인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vs 정비 완료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회차의 프로세스 설계와 실행에서 쓰는 용어를 정식 명칭과 한 줄 뜻으로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1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1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1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비즈니스 프로세스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원하는 결과를 내기 위해 관련된 작업과 흐름을 정한 묶음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4254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51053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오케스트레이션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1053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Orchestration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중앙의 조정자가 작업의 순서와 호출을 이끄는 방식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2310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99110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9110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Management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프로세스를 분석 · 설계 · 실행 · 모니터링 · 개선으로 되풀이해 관리하는 방법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BPMN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Business Process Model and Notation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도형과 선의 뜻을 정해 업무 프로세스를 그리는 표기 표준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984244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3952239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배타 게이트웨이 · 기본 흐름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3952239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Exclusive Gateway · Default Flow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조건이 참인 한 갈래로만 보내는 갈림, 그리고 어느 조건도 맞지 않을 때 가는 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464811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4432807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경계 이벤트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432807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Boundary Event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 테두리에 붙어, 그 작업이 진행 중일 때 생기는 일에 반응하는 이벤트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945380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13376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엔진 · 인스턴스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4913376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Engine · Process Instance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정의를 읽어 실행하는 소프트웨어, 그리고 정의에 따라 수행되는 한 건(처리 건)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25948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393944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토큰 · 프로세스 변수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393944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Token · Process Variable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흐름의 현재 위치를 나타내는 표식, 그리고 처리 건이 지닌 이름 붙은 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906516"/>
            <a:ext cx="11094415" cy="4165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874512"/>
            <a:ext cx="2514600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판본 · 감사 기록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5874512"/>
            <a:ext cx="8351215" cy="48056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Version · Audit Log</a:t>
            </a:r>
          </a:p>
          <a:p>
            <a:pPr algn="l" eaLnBrk="0">
              <a:lnSpc>
                <a:spcPct val="110000"/>
              </a:lnSpc>
            </a:pPr>
            <a:r>
              <a:rPr sz="12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바꾸지 않고 쌓는 정의의 한 벌, 그리고 시작 · 배포 · 거부된 승인을 남기는 기록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정상으로 끝난 처리 건을 넘기는 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건이 결과 보고 정상 · COMPLETED로 끝났고, 작업지시 WO-1010-C058이 등록돼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정비 담당자에게 넘기는 말로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핀 세척까지 끝났으니 따로 확인할 일이 없다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운전으로 핀 오염이 제거됐다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유온은 기준 아래로 회복됐고, 핀 세척 작업지시가 배정돼 세척 완료 확인이 남았다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처리 건이 끝났으니 팬 100 % 운전 제한도 풀렸다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선 이름만 적은 갈림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편집기에서 승인? 게이트웨이의 두 선 이름을 「승인」 · 「거절」로 적었고, 연결 값에는 조건을 넣지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상태에 대한 설명으로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선 이름은 표시일 뿐이라, 조건과 기본 흐름을 연결 값에 정해야 실행에서 갈린다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선 이름을 읽어 승인일 때만 냉각 명령으로 간다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배타 게이트웨이를 그렸으니 거절 선이 저절로 기본 흐름이 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추천안을 보고 갈래를 고른다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판단 제출에 넣은 명령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에이전트가 추천안을 제출하면서 「팬 속도 100 %」라는 명령 값을 함께 넣었다.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제출의 처리로 맞는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그 값으로 바로 냉각 명령 작업을 연다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승인하면 에이전트가 PLC에 직접 보낸다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승인을 기다리는 동안 SCADA가 미리 실행해 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모양의 값이 든 제출은 거부되고, 명령은 승인 뒤 프로세스 쪽에서만 만들어진다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기록의 뜻을 가리고, 그림과 실행 정의를 구별하고, 명령을 만드는 책임의 자리를 바르게 읽는지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명령 처리 · 회복 · 작업지시 등록은 서로 다른 사실이다. 세척 완료와 SOP의 운전 제한은 이어서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갈림은 연결 값의 조건과 기본 흐름이 정한다. 선 이름은 그림의 표시다.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쓰기는 판단 제출뿐이다. 설비 명령은 승인 뒤 프로세스가 만든다.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