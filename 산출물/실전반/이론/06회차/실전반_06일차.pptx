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설비 이상에 대응하는 업무를 하나의 프로세스로 설계하고, 그 프로세스가 실제로 어떻게 실행되고 통제되는지까지 다룹니다. 앞 회차까지 에이전트가 쿨러 성능 저하 경보를 받아 원인을 가리고 추천안을 내는 데까지 봤죠. 그런데 추천안이 나왔다고 설비가 바로 좋아지지는 않습니다. 누군가 승인해야 하고, 명령이 설비로 가야 하고, 정말 나아졌는지 다시 봐야 해요. 이 일들을 누가, 어떤 순서로, 무엇을 지키며 이어 가는지가 이번 회차의 물음입니다. 그 답을 프로세스로 정의하고, BPMN이라는 표준 그림으로 그리고, 실행 기록과 맞춰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학습목표는 화면의 카드 네 장입니다. 첫 카드는 업무의 단위예요. 에이전트가 맡은 단계 하나와, 경보에서 보고까지 이어지는 업무 전체를 가르고, 그 업무를 프로세스로 정의할 때 무엇을 정하는지 봅니다. 둘째 카드는 BPMN 표기입니다. 이벤트, 작업, 게이트웨이, 레인, 경계 타이머를 읽고, 그림에 적힌 선 이름과 실제로 실행되는 조건이 어떻게 다른지 가립니다. 셋째 카드는 실행과 통제예요. 처리 건이 지금 어디까지 왔는지, 무엇으로 끝났는지, 누가 결정했는지를 기록으로 읽습니다. 마지막 카드가 실습입니다. 승인 업무와 설비 이상 대응 흐름을 직접 그려 등록된 기준 흐름과 비교하고, 준비된 시나리오로 실제 처리 결과를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보시면 이론이 여섯 단원입니다. 1번과 2번은 업무를 프로세스로 보는 눈, 3번과 4번은 그 프로세스를 BPMN으로 그리는 법, 5번과 6번은 그 그림이 실행되고 통제되는 구조예요. 아래 세 줄이 실습 일곱 개와 마무리입니다. 이번 시간에는 앞의 두 단원을 다룹니다. 추천안 뒤에 남은 일을 기록으로 확인하고, 그 일을 프로세스로 정의하고 고쳐 가는 방법까지 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쿨러 사건에서 에이전트가 추천안을 막 제출한 순간에서 출발합니다. 이 순간 업무는 어디까지 왔고, 남은 일은 누가 이어 갈까요? 실제 처리 기록으로 확인하고, 단계 하나를 맡은 에이전트와 흐름 전체를 이끄는 쪽이 각각 무엇을 책임지는지 가려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표는 쿨러 사건 한 건이 실제로 지나간 기록입니다. 위에서 아래로 일어난 순서이고, 가운데 열이 그 단계를 맡은 쪽과 남은 기록, 오른쪽 열이 그 단계가 끝났을 때 생긴 것이에요. 첫 줄, 쿨러 성능 저하 경보가 나면서 이 업무가 하나의 처리 건으로 열렸습니다. 둘째 줄에서 냉각 긴급 대응 에이전트가 원인을 가리고 팬 최대 운전을 추천했죠. 판단 기록 번호도 남았습니다. 여기까지가 앞 회차에서 다룬 부분이에요. 강조한 셋째 줄부터가 이번 회차의 이야기입니다. 운전원이 추천안을 보고 승인했고, 그 승인이 있어야 넷째 줄 냉각 명령이 SCADA를 거쳐 PLC로 갑니다. 다섯째 줄 재관측에서는 유온을 다시 읽어서 60도를 넘던 값이 50도 남짓으로 내려온 것과 경보 해제를 확인했어요. 여섯째 줄에서 CMMS에 쿨러 핀 세척 작업지시가 등록되고, 마지막 줄 결과 보고로 처리 건이 끝났습니다. 가운데 열을 위에서 아래로 다시 훑어보세요. 에이전트, 운전원, SCADA, CMMS, 그리고 흐름을 이끄는 시스템까지, 맡은 쪽이 단계마다 다릅니다. 추천안이 제출된 순간에는 이 가운데 앞의 두 줄만 끝난 거예요. 나머지 다섯 일은 각기 다른 담당이 앞 단계의 결과를 받아야 시작됩니다.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그러면 업무가 끝났다는 말은 어디서 해야 할까요? 화면 왼쪽이 Task, 오른쪽이 End-to-End입니다. Task는 프로세스 안의 작업 하나예요. 에이전트의 원인 진단과 냉각 조치 제안이 Task 하나입니다. 셋째 줄을 보면, 이 Task가 끝났을 때 남은 건 추천안뿐이고 설비 명령은 하나도 없었어요. 그런데 이 Task 하나가 처리 건 전체 시간의 절반 남짓을 썼습니다. 시간을 가장 많이 쓴 단계가 끝났는데도 업무는 앞부분만 끝난 거죠. 오른쪽 End-to-End는 우리말로 종단 간, 시작 사건에서 최종 결과까지 전체를 말합니다. 이게 끝났을 때는 명령이 처리됐고, 유온이 회복됐고, 작업지시가 남았어요. 그래서 업무가 끝났는지는 Task가 아니라 End-to-End의 끝에서 판단합니다. 오른쪽 넷째 줄, 경계도 함께 정해야 합니다. 이 처리 건은 작업지시를 등록하고 보고하는 데서 끝나요. 핀 세척이 실제로 끝났다는 것까지 담고 있지는 않습니다. 개선 효과를 견줄 때도 시작과 끝을 같게 잡아야, 작업 하나가 빨라진 것을 업무 전체가 나아진 것으로 착각하지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용어를 셋 세우겠습니다. 첫 줄 비즈니스 프로세스는 원하는 결과를 내기 위해 관련된 작업과 그 흐름을 정한 묶음입니다. 작업을 늘어놓은 목록이 아니라, 무엇으로 시작해서 무엇으로 끝났다고 보는지가 정해진 묶음이에요. 쿨러 경보로 시작해 결과 보고로 끝나는 긴급 대응 프로세스가 그 예입니다. 둘째 줄 처리 건은 경보 한 건에 대해 그 프로세스가 실제로 한 번 수행되는 단위예요. 프로세스는 경보가 올 때마다 쓰는 틀이고, 처리 건은 경보마다 하나씩 열립니다. 쿨러 사건도 처리 건 하나였죠. 틀과 건을 나눠 두면, 이 경보는 지금 어디까지 왔는지를 건마다 따로 볼 수 있습니다. 셋째 줄 오케스트레이션은 중앙의 조정자가 작업의 순서와 호출을 이끄는 방식입니다. 에이전트, 사람, 시스템은 각자 자기 작업만 하고, 다음이 누구 차례인지는 조정자가 열어요. 앞 장에서 단계마다 담당이 달랐는데, 그 사이를 잇는 일을 한 곳이 맡는 겁니다. 이 조정자를 실제로 맡는 소프트웨어는 뒤에서 이름을 붙이겠습니다.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이 연결을 판단을 잘하는 에이전트에게 맡기면 되지 않을까요? 화면의 표는 같은 물음에 에이전트와 흐름을 이끄는 쪽이 각각 무엇을 맡는지 가로로 견준 겁니다. 첫 줄, 에이전트는 지식과 값을 읽어 추천안을 내고, 흐름을 이끄는 쪽은 그 추천안을 승인 작업으로 넘깁니다. 둘째 줄이 중요해요. 에이전트는 같은 입력을 받아도 거치는 과정이나 표현, 걸리는 시간이 달라질 수 있습니다. 반면 승인 전에는 명령이 없다는 순서는 매번 똑같이 지켜져야 하죠. 셋째 줄을 보면, 이 시스템에서 에이전트의 쓰기는 판단을 제출하는 것 하나뿐이고, 명령 작업은 흐름을 이끄는 쪽이 승인 뒤에만 엽니다. 넷째 줄, 운전원 응답이 늦어질 때 기한을 재고 알림을 보내는 것도 흐름 쪽이에요. 그리고 마지막 줄, 이 처리 건이 어디까지 왔는지는 처리 건 하나에 단계와 결과와 끝이 함께 남아서 한 곳에서 확인됩니다. 그러니까 에이전트는 단계 하나의 판단을, 흐름을 이끄는 쪽은 차례와 금지와 기다림과 기록을 맡습니다. 판단이 아무리 좋아도 이 책임까지 에이전트 한쪽에 몰아 두지는 않아요.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판단 문제입니다. 팬 최대 운전이 늘 1순위로 추천되니까, 이 조치만은 운전원 승인 없이 바로 명령하자는 요구가 나왔다고 해 보죠. 흐름을 설계하는 쪽의 판단으로 맞는 것은 무엇일까요? 1번, 추천 점수가 기준을 넘으면 승인 작업을 빼도 된다. 2번, 승인 작업은 두되, 기한이 지나면 자동으로 승인한다. 3번, 승인은 설비를 움직일 권한의 자리라 유지하고, 지연은 알림과 담당 배정으로 다룬다. 4번, 에이전트에게 명령 도구를 주고 실행 뒤에 보고하게 한다. 답은 3번입니다. 승인은 추천이 맞는지 한 번 더 보는 자리이기도 하지만, 그보다 먼저 설비를 움직여도 된다고 책임지고 결정하는 자리예요. 점수가 높다는 건 그 결정을 대신할 근거가 되지 않습니다. 실제로 이 시스템은 승인 없이 설비 명령에 닿는 흐름을 등록하는 단계에서부터 받아들이지 않아요. 2번은 시간이 지났다는 이유로 사람의 결정을 없애는 거라, 1번과 같은 결과입니다. 4번은 판단하는 쪽에 실행 권한까지 주는 거고요. 정말 문제가 승인이 늦는 데 있다면, 고칠 곳은 승인 자리가 아니라 누가 언제 알림을 받고 누가 맡는지입니다.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단원에서는 이 프로세스를 실제로 정의하고, 운영하면서 고쳐 가는 방법을 봅니다. 프로세스를 세운다는 건 실제로 무엇을 정하는 일일까요? 그리고 한 번 세운 프로세스는 어떤 차례로 고쳐 갈까요?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정의할 때 먼저 정할 것은 화면 왼쪽의 네 가지, 시작, 입력, 담당, 완료입니다. 가운데 열이 긴급 대응 프로세스의 답이고, 오른쪽 열이 그걸 정하지 않았을 때 생기는 일이에요. 시작은 쿨러 성능 저하 경보가 도착하는 것입니다. 정해 두지 않으면 누군가 화면을 보고 있어야 업무가 시작되죠. 입력은 설비와 경보 식별자, 그리고 경보 내용 전체예요. 처음에 받아 두지 않으면 단계마다 경보를 다시 찾으러 가고, 그 사이 값이 바뀌어 출발점이 흐려집니다. 담당은 작업마다 에이전트, 운전원 역할, 시스템으로 정합니다. 사람 이름이 아니라 역할로 적어서, 근무자가 바뀌어도 흐름은 그대로 둡니다. 강조한 마지막 줄이 완료예요. 잘 끝난 경우만 정하기 쉬운데, 정상, 회복 미달, 거절도 각자 정해 둔 끝으로 닫아야 합니다. 그리고 운전원이 아예 응답하지 않으면 닫지 않고, 기한이 지나면 알림만 보낸 뒤 계속 기다리게 정해 두었어요. 시간이 지났다고 자동으로 승인하거나 거절하지 않는다는 뜻입니다. 이걸 정하지 않으면 결말 없이 떠 있는 처리 건이 생깁니다. 이 네 가지는 일이 벌어진 뒤가 아니라 실행 전에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시작과 입력이 실제로 어떻게 생기는지 기록으로 보겠습니다. 화면 왼쪽 위가 쿨러 사건의 경보예요. 경보의 종류를 나타내는 칸이 쿨러 성능 저하이고, 설비는 HYD-01입니다. 화살표 아래, 이 경보가 메시지 시작 이벤트에 도착하면서 처리 건이 열렸습니다. 경보와 같은 시각이죠. 오른쪽 첫 점처럼, 경보의 종류가 이 프로세스를 여는 열쇠입니다. 사람이 버튼을 누르는 게 아니라 정해 둔 종류의 경보가 오면 열려요. 그 아래 입력 줄을 보세요. 설비와 경보 식별자뿐 아니라 경보 메시지 전체가 처리 건에 실립니다. 그래서 뒤의 단계들은 경보가 났을 때의 내용을 같은 출발점으로 읽어요. 다만 이건 출발점의 기록이고, 나중에 다시 읽는 현재값과 같은 시점의 값은 아닙니다. 맨 아래 줄은 약속 하나입니다. 같은 정의에 같은 경보 식별자가 다시 와도 처리 건을 새로 열지 않아요. 메시지는 같은 것이 두 번 도착할 수 있어서, 받는 쪽이 중복을 가려야 업무가 두 번 시작되지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정하고 끝나지 않습니다. 설비와 조직과 목표가 바뀌면 프로세스도 바뀌어야 하죠. 이렇게 프로세스를 분석하고, 설계하고, 실행하고, 지켜보고, 고쳐 가는 일 전체를 관리하는 방법을 업무 프로세스 관리, BPM이라고 합니다. 화면의 다섯 단계가 그 활동이고, 단계마다 이 시스템에서 실제로 하는 일을 적었어요. 분석은 지금 업무에서 시작, 입력, 담당, 완료와 일이 끊기는 자리를 찾는 일입니다. 앞 장에서 정한 네 가지가 여기서 나와요. 설계는 편집기로 흐름을 그리고 작업마다 실행할 기능을 연결하는 일이고, 실행은 그렇게 만든 정의를 판본으로 등록하고 배포해서 경보마다 처리 건이 열리게 하는 일입니다. 모니터링은 처리 건 화면에서 단계마다 누가 맡았고, 어디서 기다렸고, 결과가 어땠는지를 보는 일이에요. 그리고 강조한 개선에서 찾은 문제를 고쳐 새 판본으로 내면, 다음 경보부터 고친 흐름이 쓰입니다. 개선한 흐름은 다시 분석의 대상이 되니까, 다섯 단계는 직선이 아니라 고리로 돌아요. 단계 이름과 묶음은 자료마다 조금 다를 수 있지만, 실행 결과를 다음 개선에 반영한다는 원리는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모니터링 기록을 실제로 써 보겠습니다. 쿨러 사건의 기록을 보면 에이전트 단계가 가장 오래 걸렸고, 재관측이 그다음이었고, 운전원 승인은 짧았어요. 이 기록을 보고 개선 제안이 세 가지 나왔다고 해 보죠. 표의 가운데 열이 제안마다 기록에서 먼저 볼 것, 오른쪽이 판정입니다. 첫 줄, 재관측이 길어서 빼자는 제안이에요. 그런데 명령이 처리됐다는 것과 유온이 실제로 회복됐다는 것은 서로 다른 사실이었죠. 재관측은 그 둘째 사실을 확인하는 시간이라 유지합니다. 오래 걸렸다는 것만으로 없앨 단계가 되지는 않아요. 둘째 줄은 승인 대기를 줄이자는 제안입니다. 이때는 담당자가 요청을 몰라서 기다렸는지, 알림이 제대로 갔는지를 먼저 봅니다. 승인 자리는 두고 알림과 담당 배정을 고치는 게 맞아요. 셋째 줄, 에이전트 단계를 줄이자는 제안은 실제 개선 후보입니다. 처리 건 시간에서 이 단계가 차지한 몫이 크니까요. 다만 처리 건 하나만 보지 말고 같은 종류의 처리 건 여러 건을 같은 시작과 끝으로 견줘서, 줄어든 게 정말 업무 전체의 시간인지 확인합니다. 다음 시간에는 이렇게 정의한 흐름을 누구나 같은 뜻으로 읽는 그림, BPMN으로 표현하는 방법을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긴급 대응 프로세스를 BPMN이라는 표준 그림으로 표현하는 방법을 봅니다. 세 번째 단원의 물음은 이겁니다. 업무를 누구나 같은 뜻으로 읽는 그림으로 그리면, 그 그림만으로 실행까지 정해질까요? 도형의 뜻을 익히고, 그림 파일과 실제로 실행할 정의가 어디서 갈리는지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문장으로 적은 절차와 그림으로 그린 절차를 견줘 볼게요. 화면 왼쪽이 문장, 오른쪽이 BPMN입니다. 세 줄이 같은 물음에 대응해요. 긴급 대응 절차를 문장으로 적으면, 승인하면, 아니면, 거절하면 같은 조건이 문장 여기저기에 흩어집니다. 갈래가 몇 개인지 세려면 처음부터 다시 읽어야 하죠. 재관측과 보고를 누가 하는지는 빠지기 쉽고, 승인이 늦어 알림을 보낸 뒤에도 계속 기다리는지는 읽는 사람마다 다르게 이해합니다. 오른쪽처럼 BPMN으로 그리면 갈림은 마름모로, 끝은 굵은 원으로 보여서 셀 수 있어요. 작업은 맡는 쪽의 칸에 놓이고, 기다림은 작업에 붙은 타이머의 선 모양으로 정해집니다. BPMN은 업무 프로세스 모델과 표기법이라는 뜻으로, 도형과 선의 뜻을 정해 둔 표기 표준이에요. DMN을 정한 OMG가 관리하고, BPMN 2.0은 국제 표준으로도 정해져 있습니다. 공통 표기가 있으니 현업 담당자와 구현하는 쪽이 같은 그림을 보고 같은 흐름을 확인할 수 있죠. 다만 BPMN으로 그렸다고 그 그림이 곧바로 실행되는 건 아닙니다. 이 차이는 이 단원 끝에서 따로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 전체를 BPMN으로 그린 그림입니다. 처음엔 복잡해 보이니, 오른쪽에 적은 차례대로 도형을 찾아볼게요. 먼저 세 칸입니다. 위에서부터 담당자, 에이전트, 시스템의 칸이에요. 가운데 칸 왼쪽의 봉투가 그려진 원이 시작입니다. 쿨러 과열 경보라는 이름의 시작 이벤트로, 쿨러 성능 저하 경보가 도착하는 사건이에요. 거기서 표식 없는 상자, 원인 진단과 냉각 조치 제안으로 이어집니다. 셋째 점을 따라 위 칸으로 올라가면 사람 표식이 있는 상자, 운전원 승인이 있고, 바로 옆 마름모에서 승인과 거절이 갈립니다. 승인이면 아래 시스템 칸으로 내려가 냉각 명령, 재관측으로 가요. 마름모를 거치지 않고는 아래 칸 명령에 닿는 선이 없습니다. 마지막으로 운전원 승인 테두리에 붙은 점선 시계가 승인 지연 타이머이고, 그림 곳곳의 굵은 원 셋이 끝, 거절 종결, 알림이라는 끝 이벤트예요. 세어 보면 갈림이 둘, 끝이 셋입니다. 문장으로는 찾기 어려웠던 갈래가 그림에서는 한눈에 보이죠.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찾은 도형의 종류와 뜻을 표로 정리했습니다. 가운데 열이 모양과 뜻, 오른쪽 열이 긴급 대응에서 그 도형이 쓰인 자리예요. 위 두 줄은 이벤트, 곧 원입니다. 이벤트는 프로세스에서 일어나는 사건이에요. 봉투가 든 가는 원은 메시지를 받으면 흐름을 여는 메시지 시작 이벤트고, 굵은 원은 도착한 갈래를 닫는 끝 이벤트입니다. 끝이 셋이라는 건 갈래마다 자기 끝이 있다는 뜻이에요. 가운데 세 줄은 작업, 둥근 사각형입니다. 작업은 프로세스 안에서 수행되는 일 하나죠. 표식이 그 일을 누가 하는지를 알려 줍니다. 사람 표식이 있으면 사람이 하는 사용자 작업으로 운전원 승인이 그렇고, 톱니 표식이 있으면 시스템이 하는 서비스 작업으로 냉각 명령, 재관측, 작업지시, 결과 보고가 그래요. 표식 없는 작업은 수행자를 그림이 아니라 실행 연결 때 정합니다. BPMN 표준에는 에이전트 작업이라는 요소가 따로 없어서, 여기서는 에이전트에게 맡길 원인 진단과 제안을 이 모양으로 그렸어요. 강조한 여섯째 줄이 게이트웨이, 흐름이 갈라지거나 합쳐지는 마름모입니다. 가위표가 있는 배타 게이트웨이는 조건이 참인 한 갈래로만 보내요. 승인과 거절이 동시에 일어날 수 없으니까 배타입니다. 마지막 줄 시퀀스 흐름은 같은 풀 안에서 순서를 잇는 실선 화살표고요.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읽었으니 이번엔 실전 쪽 물음입니다. 이 그림 파일을 그대로 넣으면 에이전트가 움직이고 운전원에게 승인 요청이 갈까요? 표의 왼쪽이 그림의 요소, 가운데가 그 요소에 연결해야 하는 실행 기능, 오른쪽이 그림 파일만으로는 알 수 없는 것입니다. 첫 줄, 시작 이벤트에는 어떤 경보 종류가 이 흐름을 여는지 연결해야 해요. 그림에는 쿨러 과열 경보라는 이름만 있고, 실제로 여는 경보의 종류는 연결 값에 있습니다. 둘째 줄, 원인 진단과 제안 작업에는 판단과 제안을 맡는 실행 기능과 냉각 긴급 대응 에이전트를 연결해요. 이 연결을 해야 표식 없는 작업이 에이전트 단계가 됩니다. 강조한 셋째 줄, 운전원 승인에는 승인과 거절을 받는 기능과 운전원 역할을 연결합니다. 누가 승인할 권한이 있는지는 칸 이름이 아니라 이 연결이 정해요. 넷째, 다섯째 줄의 명령과 재관측, 작업지시에는 각각 PLC 명령, 회복 판정, CMMS 등록 기능이 붙고, 마지막 줄 결과 보고 넷에는 결과 값과 보고 문장이 붙습니다. 그러니까 같은 그림이라도 작업마다 실행 기능과 맡을 쪽이 연결돼야 실제로 움직입니다. 실습에서 자신이 그린 작업마다 어떤 실행 기능에 대응하는지 표시하는 게 바로 이 일이에요.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 값 가운데 가장 헷갈리는 게 갈림의 조건입니다. 화면 위쪽이 그림 파일 안의 승인 여부 게이트웨이에서 나가는 선 둘이에요. 한 선에는 승인, 다른 선에는 거절이라는 이름이 붙어 있고, 어디로 가는지만 적혀 있습니다. 오른쪽 첫 점처럼, 이 이름은 그림에 보이는 표시일 뿐이에요. 실제로 어느 갈래로 갈지는 아래쪽 연결 값이 정합니다. 승인 쪽 선에는 운전원 승인 작업이 낸 승인 결과가 승인과 같다는 조건이 붙어 있어요. 앞 작업이 낸 값을 견주는 식이라, 같은 값이 오면 언제나 같은 갈래로 가고 왜 그 길로 갔는지 기록으로 설명할 수 있습니다. 조건을 문장으로 적어 두고 모델에게 해석을 맡기지 않아요. 거절 쪽 선에는 조건 대신 기본 흐름이라고 되어 있죠. 기본 흐름은 어느 조건도 참이 아닐 때 가는 선입니다. 아래 두 줄의 유온 정상 여부 게이트웨이도 같아서, 회복 여부가 참이면 예 쪽, 아니면 기본 흐름인 아니오 쪽으로 갑니다. 그림을 그릴 때 선 이름을 잘 붙이는 것과, 실행할 정의에 조건을 넣는 것은 별개의 일이에요. 그림 파일과 실행 정의를 구분한다는 말이 바로 이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문제로 확인해 보겠습니다. 유온 정상 여부 게이트웨이의 예 선에만 조건을 넣고, 아니오 선에는 조건도 기본 흐름 표시도 두지 않았다고 해 보죠. 재관측이 회복하지 못했다는 값을 냈을 때 무슨 일이 일어날까요? 1번, 엔진이 선 이름 아니오를 읽어 미달 보고로 보낸다. 2번, 맞는 선이 없어 그 자리에서 넘어가지 못하고, 사유가 기록된다. 3번, 예 선으로 가서 작업지시가 등록된다. 4번, 처리 건이 거절 종결로 닫힌다. 답은 2번입니다. 회복 여부가 거짓이면 예 선의 조건은 맞지 않고, 아니오 선에는 조건도 기본 흐름 표시도 없으니 갈 선이 없어요. 그러면 흐름은 그 자리에 머물고, 왜 넘어가지 못했는지 사유가 남습니다. 1번처럼 선 이름을 읽어 주지 않고, 3번처럼 조건이 거짓인 선으로 가지도 않아요. 4번의 거절 종결은 승인 여부 게이트웨이의 갈래라 이 자리와 상관없고요. 그래서 배타 게이트웨이를 그리면 나가는 선마다 조건을 주거나 하나를 기본 흐름으로 정합니다. 실제로 이런 빈 갈림은 실행할 흐름으로 등록하기 전 검사에서 분기 조건이 없다는 문제로 먼저 걸려요.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단원에서는 그림에 두 가지를 더 담습니다. 각 작업을 누가 맡는지, 그리고 운전원이 제때 응답하지 않으면 어떻게 하는지예요. 맡는 쪽을 나누는 칸과 기다리는 동안의 일을 그리는 도형을 보고, 그중 무엇이 그림 밖 연결 값에 있는지 가려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맡는 쪽을 나누는 도형부터 보죠. 첫 줄 풀은 참여자 하나의 영역이에요. 조직이나 시스템 하나를 참여자로 그립니다. 긴급 대응은 냉각 긴급 대응이라는 풀 하나로 그려요. 강조한 둘째 줄 레인은 풀 안에서 활동을 나누는 칸입니다. 이 흐름은 담당자, 에이전트, 시스템의 세 칸으로 책임을 나눴죠. 그래서 그림만 봐도 판단은 에이전트 칸, 결정은 담당자 칸, 실행과 기록은 시스템 칸에 있고, 설비 명령 앞에 사람의 승인이 놓인 게 보입니다. 다만 레인의 분류 기준은 그림을 그리는 사람이 정하는 거라, 상자를 다른 칸으로 옮긴다고 실제 권한이 바뀌지는 않아요. 셋째 줄 메시지 흐름은 서로 다른 풀 사이를 오가는 점선 화살표입니다. 예를 들어 운영 조직이 공급사에 발주서를 보내는 것처럼 다른 참여자와 주고받는 일이죠. 같은 풀 안의 순서를 잇는 실선과 구별합니다. 긴급 대응은 풀이 하나라 메시지 흐름이 없고, 실습에서도 풀 하나에 레인으로 나눠 그립니다.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기다림입니다. 작업이 끝나기를 기다리는 동안 생기는 일은 작업 테두리에 붙인 경계 이벤트로 그려요. 경계 이벤트는 붙은 작업이 진행 중일 때만 살아 있습니다. 작업이 제때 끝나면 함께 거둬지죠. 그 가운데 정한 기간이 지나면 발생하는 것이 타이머이고, 테두리의 선 모양이 기한 뒤에 무슨 일이 생기는지를 정합니다. 왼쪽 중단형은 실선 겹테두리예요. 기한이 지나면 붙은 작업을 끊고 다른 갈래로 갑니다. 이 시스템에 원래 들어 있는 기준 흐름이 이렇게 그려져 있어요. 운전원이 조치를 고르지 않고 기한이 지나면 그 작업을 끊고 상급자를 부릅니다. 결정을 다른 사람에게 넘기는 설계죠. 오른쪽 비중단형은 점선 겹테두리입니다. 기한이 지나도 작업은 그대로 두고 갈래를 하나 더 열어요. 수업에서 쓰는 긴급 대응 흐름의 승인 지연이 이 모양이라, 10분이 지나면 알림만 나가고 같은 운전원의 결정을 계속 기다립니다. 두 흐름은 옛 판과 새 판이 아니라 서로 다른 설계예요. 응답이 늦을 때 결정을 넘길지 기다릴지는 업무를 설계하는 사람이 정하고, 그 선택이 선 하나의 모양으로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타이머도 그림 파일과 연결 값을 나눠 보겠습니다. 화면 위쪽이 그림 파일이에요. 운전원 승인 작업이 있고, 그 아래 승인 지연이라는 경계 이벤트가 있습니다. 오른쪽 첫 점, 이 이벤트가 운전원 승인 작업에 붙어 있다는 표시가 있고요. 둘째 점의 끊지 않는다는 표시가 바로 비중단형이라는 뜻입니다. 그래서 알림이 나간 뒤에도 승인 작업은 열려 있어요. 그런데 타이머를 정의하는 줄을 보면 기한이 비어 있습니다. 10분이라는 기한은 아래쪽 연결 값에 있어요. 피티 10엠이라는 표기는 기간을 적는 국제 표준 꼴로, 10분이라는 뜻입니다. 그 아래 줄에는 승인 작업에 연결할 기능과, 승인할 역할 운전원이 있죠. 마지막 점처럼 승인 역할은 담당자 칸에 그렸다는 것만으로 정해지지 않고 이 연결 값이 정합니다. 정리하면, 그림은 타이머가 승인 작업에 붙어 끊지 않는다는 구조를 담고, 기한과 승인 역할은 연결 값이 정해요. 그림을 보고 10분이 지나면 알림이 간다고 말하려면 연결 값까지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단계 더 들어가 보겠습니다. 편집기에서는 BPMN 표준의 여러 요소를 그릴 수 있지만, 그 그림을 이 시스템의 실행 정의로 가져올 때 막히는 모양이 있어요. 표의 왼쪽이 그림의 모양, 가운데가 가져올 때의 처리, 오른쪽이 고칠 곳입니다. 첫 줄, 참여자마다 풀을 따로 그리면 받아들이지 않습니다. 한 풀 안에 레인으로 나눠야 해요. 둘째 줄, 마름모 없이 한 작업에서 선 두 갈래를 뽑으면, 조건 없이 갈라지는 흐름이라 등록을 거부합니다. 그대로 두면 승인과 거절이 함께 진행될 수 있는 그림이 되니까요. 배타 게이트웨이를 둬서 고칩니다. 셋째, 넷째 줄은 실행하지 않는 모양이에요. 흐름 중간에 타이머를 따로 세우거나, 여러 작업을 하위 프로세스로 접어 그린 그림입니다. 타이머는 작업 테두리의 기간 타이머로, 하위 프로세스는 펼쳐서 한 흐름으로 그립니다. 다섯째 줄은 앞에서 본 승인 검사예요. 승인 없이 명령에 닿는 길이 하나라도 있으면 등록 전 검사가 거절합니다. 마지막 줄, 레인과 작업에 연결한 담당이 다르면 사전 검사가 알려 줘요. 이 목록은 실습에서 자신이 그린 그림을 검사할 때 그대로 점검표가 됩니다. 수업 포털에서 여러분이 그린 그림을 직접 가져와 등록하지는 않지만, 실행할 흐름이 어떤 범위 안에서 그려져야 하는지는 이렇게 정해져 있어요.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설계를 골라 보겠습니다. 야간에는 운전원 응답이 늦는 일이 잦아서, 기한이 지나면 상급자가 결정하게 해 달라는 요구가 나왔다고 해 보죠. 승인 작업을 어떻게 그리는 것이 맞을까요? 1번, 승인 작업에 비중단형 타이머를 붙여 알림만 보낸다. 2번, 기한이 지나면 자동으로 승인하는 선을 둔다. 3번, 흐름 중간에 타이머 이벤트를 따로 세워 상급자 작업으로 잇는다. 4번, 승인 작업에 중단형 타이머를 붙여, 기한 뒤 상급자 결정 작업으로 보낸다. 답은 4번입니다. 요구는 결정을 다른 사람에게 넘기는 거예요. 기한이 지나면 운전원의 작업을 끊고 상급자의 결정 작업으로 가야 하니 중단형 타이머가 맞습니다. 기준 흐름의 상급자 호출과 같은 모양이죠. 1번은 같은 사람을 계속 기다리는 설계라 지금 흐름 그대로이고, 요구를 풀지 못합니다. 2번은 사람의 결정을 시간으로 대신하는 거라 받아들일 수 없어요. 3번은 뜻은 비슷해 보여도, 흐름 중간에 세운 타이머는 실행 정의로 가져올 때 받지 않는 모양이었습니다. 요구가 바뀌면 이렇게 그림의 어느 선을 바꿀지부터 정하게 됩니다. 다음 시간에는 이 그림을 실제로 실행하는 쪽, 그리고 실행 중인 처리 건이 지금 어디에 있고 무엇을 들고 다니는지 읽는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그린 프로세스가 실제로 실행되고 통제되는 구조를 봅니다. 앞에서 그림은 설계도이고, 실행하려면 작업마다 기능이 연결돼야 한다고 했죠. 그러면 경보가 왔을 때 그 설계도를 읽고 한 단계씩 작업을 여는 건 누구일까요? 그리고 실행 중인 처리 건이 지금 누구를 기다리고, 무엇을 들고 다니는지는 어떻게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설계도를 읽고 실행하는 쪽이 프로세스 엔진입니다. 첫 줄처럼 프로세스 정의를 읽어 그대로 실행하는 소프트웨어예요. 앞에서 오케스트레이션은 중앙의 조정자가 순서와 호출을 이끄는 방식이라고 했는데, 그 조정자 자리를 엔진이 맡습니다. 처리 기록 표에서 프로세스라고 적혀 있던, 재관측과 결과 보고를 맡던 그쪽이 바로 이 엔진이에요. 둘째 줄 프로세스 정의는 요소와 선, 조건과 역할을 담은 설계도입니다. 그림 파일에 실행 연결까지 더한 것이죠. 긴급 대응 프로세스의 정의 식별자는 c3_cooling입니다. 셋째 줄 프로세스 인스턴스는 그 정의에 따라 실제로 수행되는 한 건이에요. 앞에서 처리 건이라고 부른 게 바로 이겁니다. 경보 한 건마다 하나씩 열리죠. 엔진은 정의 하나를 읽어 경보마다 인스턴스를 열고, 각 인스턴스에서 앞 작업이 끝나면 다음 작업을 엽니다.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열린 처리 건 셋을 나란히 놓았습니다. 첫 줄이 쿨러 사건이고, 아래 두 줄은 같은 긴급 대응 정의에서 열린 다른 처리 건이에요. 쿨러 사건은 승인을 거쳐 냉각 명령, 재관측 회복, 작업지시로 가서 정상으로 끝났고 설비 명령이 한 건 나갔습니다. 둘째 줄 처리 건은 운전원이 거절해서 거절 보고를 거쳐 거절 종결에 닿았고, 설비 명령은 없어요. 강조한 셋째 줄은 운전원이 한동안 응답하지 않아 기한 뒤 알림이 나갔고, 그 뒤에 거절로 닫혔습니다. 이 건도 명령은 없죠. 설계도는 하나인데 처리 건마다 지나간 갈래와 결말이 다릅니다. 그래서 결과를 말할 때는 정의가 아니라 처리 건 하나씩 읽어요. 이 흐름이 잘 돈다는 말도 결국 처리 건마다의 기록으로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건이 지금 어디에 있는지는 토큰이라는 개념으로 설명합니다. 토큰은 흐름의 현재 위치를 나타내는 표식이에요. 시작 이벤트에서 생겨서, 작업이 끝날 때마다 나가는 선을 따라 옮겨 가고, 끝 이벤트에 닿으면 사라집니다. BPMN이 실행을 설명할 때 쓰는 표준 개념이고, 이 시스템 화면에는 토큰이라는 이름 대신 지금 열린 단계로 나타나요. 언어 모델의 토큰과는 다른 말입니다. 화면은 앞 장 셋째 줄, 응답이 늦었던 처리 건의 기록이에요. 같은 정의에서 열린 다른 처리 건입니다. 맨 위 상태는 실행 중이고, 그 아래 지금 열린 단계는 운전원 승인 하나예요. 오른쪽 첫 점처럼, 이게 토큰이 머문 곳입니다. 아래 단계 목록을 보세요. 둘째 점의 뜻대로 에이전트 단계는 끝났고, 운전원 승인은 진행 중, 냉각 명령은 아직 닿지 않았습니다. 그런데 승인 지연과 알림 단계는 이미 끝났죠. 기한이 지나서 비중단형 타이머가 갈래를 하나 더 열었고, 그 갈래의 토큰은 알림을 마치고 사라졌어요. 처음의 토큰은 여전히 승인에 머물러 있습니다. 그래서 이 처리 건은 오류도, 멈춤도 아닙니다. 사람의 결정을 기다리는 정상 상태예요. 다만 대기가 길다면 담당자가 요청을 받았는지는 따로 살핍니다.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위치라면, 처리 건이 들고 다니는 값은 프로세스 변수입니다. 처리 건이 지닌 이름 붙은 값이에요. 화면 왼쪽부터 각 단계가 어떤 변수를 만드는지, 쿨러 사건의 결과로 그 뜻을 적었습니다. 첫 칸, 입력은 경보가 실어 온 설비와 경보 식별자예요. 둘째 칸, 에이전트 단계는 원인과 추천안을 냅니다. 쿨러 핀 오염과 팬 최대 운전 추천이었죠. 강조한 셋째 칸, 운전원 승인은 승인 결과와 고른 조치를 냅니다. 앞에서 본 승인 쪽 선의 조건이 읽던 값이 바로 이 승인 결과예요. 그리고 누가 어느 역할로 승인했는지는 승인하는 순간 서버가 채웁니다. 에이전트가 이 값을 대신 써 넣을 수는 없어요. 넷째 칸, 재관측은 회복 여부를 내고, 유온 정상 여부 게이트웨이가 이 값을 읽습니다. 마지막 칸, 작업지시 등록이 만든 작업지시 번호는 정상 보고의 문장에 그대로 들어가요. 그러니까 단계의 출력이 변수로 남고, 그 변수가 다음 갈림의 조건과 보고 문장이 됩니다. 처리 건은 변수마다 어느 단계가 만들었는지도 함께 적어 두어서, 이상한 값이 있으면 그 단계로 거슬러 올라갈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작업 종류에 따라 다른 것을 기다립니다. 표의 가운데 열이 엔진이 기다리는 것, 오른쪽이 그것이 끝나지 않았을 때예요. 첫 줄 사용자 작업, 운전원 승인입니다. 엔진은 담당 역할의 승인이나 거절을 기다려요. 승인이 와도 바로 넘어가지 않고, 승인 내용이 다음 단계로 제대로 전달된 뒤에야 냉각 명령을 엽니다. 응답이 없으면 승인 대기로 머물죠. 둘째 줄 서비스 작업, 냉각 명령과 재관측과 작업지시는 엔진이 해당 시스템을 부르고 처리 결과를 기다립니다. 호출이 실패하면 성공한 것으로 넘기지 않아요. 강조한 셋째 줄이 에이전트 단계입니다. 엔진은 지정한 에이전트에게 일을 맡기고, 결과가 제출되고 검사를 마치기를 기다려요. 여기서 중요한 건, 에이전트가 다음 작업을 직접 열지 않는다는 점입니다. 제출이 끝나야 엔진이 운전원 승인 작업을 열어요. 사람이든 시스템이든 에이전트든, 다음 작업을 여는 쪽은 엔진입니다.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기록을 보고 지금 누구 차례인지 읽어 보겠습니다. 실습에서 처리 건 화면을 볼 때 그대로 쓰는 판단이에요. 표의 왼쪽이 기록에 보이는 것, 가운데가 지금 상태, 오른쪽이 누가 무엇을 해야 하는지입니다. 첫 줄, 처리 건은 실행 중이고 운전원 승인이 진행 중이에요. 승인 대기라는 정상 상태이고, 운전원이 추천안과 지금의 설비 조건을 보고 결정할 차례입니다. 승인하는 순간에도 현재 값을 다시 확인하죠. 둘째 줄, 냉각 명령은 끝났고 재관측이 진행 중이면, 명령은 처리됐고 회복을 지켜보는 중입니다. 이건 시스템이 회복 기준과 경보 해제를 확인하는 자동 구간이라 사람이 끼어들 차례가 아니에요. 셋째 줄은 다릅니다. 어떤 단계가 대기 중으로 멈추고 사유가 기록됐다면, 조건이 맞는 선이 없어 넘어가지 못한 겁니다. 이건 기다린다고 풀리지 않아요. 담당자가 조건과 연결 값을 확인해야 합니다. 마지막 줄, 끝남 상태에 거절 종결이면 명령 없이 닫힌 처리 건이에요. 쿨러 상태는 그대로일 수 있으니, 다른 조치를 다시 판단하는 건 처리 건 밖의 사람 몫입니다. 이렇게 열린 단계와 상태를 읽으면, 자동으로 진행되는 구간과 사람이 확인해야 할 자리가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단원에서는 처리 건을 통제하는 구조를 봅니다. 끝난 처리 건은 무엇으로 끝났는지 어떻게 가릴까요? 누가 결정할 수 있는지는 무엇이 지키고, 고친 흐름은 언제부터 쓰일까요? 그리고 그 모든 결정은 어디에 남을까요?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건과, 앞에서 본 거절된 처리 건을 나란히 놓았습니다. 가운데 열이 승인, 오른쪽 열이 거절이에요. 첫 줄을 보세요. 두 처리 건의 상태가 똑같이 끝남, 컴플리티드입니다. 처리 건의 상태는 실행이 끝났는지만 알려 주거든요. 그 아래부터 갈립니다. 닿은 끝 이벤트가 하나는 끝, 하나는 거절 종결이고, 결과 보고는 정상과 거절이에요. 기록에는 거절이 반려라는 값으로 적혀 있습니다. 강조한 넷째 줄, 냉각 명령 단계는 승인 쪽이 끝남이고 설비 명령이 한 건, 거절 쪽은 선택되지 않은 갈래라 취소됨으로 남고 명령이 없어요. 마지막 줄도 보세요. 승인했는데 유온이 기준까지 내려오지 않은 경우에도 끝 이벤트는 정상과 같은 끝입니다. 그때는 결과 보고가 미달이라는 것만 다르죠. 그러니까 끝남이라는 상태만 보고 성공이라고 말하면 안 됩니다. 결말은 끝 이벤트, 결과 보고, 단계 상태를 함께 읽어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권한입니다. 앞에서 레인 이름만으로 권한이 정해지지 않는다고 했죠. 그러면 무엇이 지킬까요? 화면 왼쪽은 흐름을 등록할 때의 검사, 오른쪽은 실행할 때의 검사예요. 왼쪽부터 보죠. 승인 없이 설비 명령에 닿는 경로가 있는 흐름은 등록하지 않습니다. 승인 단계를 넣었더라도 거절 갈래에서 설비에 효과가 나가게 그렸다면 마찬가지예요. 효과까지 가는 길은 반드시 승인 조건이 걸린 선을 지나야 합니다. 잘못 그린 그림을 실행 전에 거르는 거죠. 강조한 오른쪽은 실행 중의 행동을 거릅니다. 조치마다 승인할 역할이 정해져 있어요. 팬 최대 운전은 운전원이 승인하지만, 쿨러 핀 세척은 설비보전팀장이 승인합니다. 권한이 모자란 쪽이 승인을 시도하면 거부되고 감사 기록에 남아요. 에이전트의 쓰기는 판단 제출 하나뿐이고, 그 제출에 명령 모양의 값이 들어 있으면 받지 않습니다. 그리고 승인한 사람과 역할은 승인하는 순간 서버가 채워서 에이전트가 써 넣을 수 없어요. 그림에 승인 상자 하나를 그려 넣는 것으로 이 약속이 지켜지는 게 아닙니다. 등록할 때와 실행할 때의 검사가 함께 지켜요.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BPM의 개선 단계에서 흐름을 고쳤다면, 고친 내용은 언제부터 쓰일까요? 표의 왼쪽이 하는 일, 가운데가 바뀌는 것, 오른쪽이 그대로인 것입니다. 첫 줄, 고친 정의를 판본으로 등록하면 새 판본이 하나 쌓입니다. 저장된 판본은 고치지 않아요. 지난 처리 건이 어떤 판본으로 돌았는지 나중에 되짚으려면 그때 모습 그대로 남아야 하니까요. 등록만으로는 경보를 받는 흐름이 바뀌지 않습니다. 둘째 줄, 배포를 해야 그 경보를 받을 판본이 정해져요. 같은 경보에 배포된 흐름이 여럿이면 가장 최근에 배포한 흐름이 받습니다. 그래서 여러 사람이 한 환경에서 배포하면 서로의 경보 경로를 바꿀 수 있어요. 수업 포털에서는 여러분이 일반 BPMN을 등록하거나 배포하지 않고, 준비된 흐름을 실행합니다. 셋째 줄, 배포한 뒤에 오는 경보부터 새 판본으로 처리 건이 열립니다. 강조한 넷째 줄, 이미 진행 중인 처리 건은 바뀌지 않고 열릴 때의 판본으로 끝까지 가요. 다만 마지막 줄처럼, 판본을 고정한다고 센서 값까지 얼려 두는 건 아닙니다. 승인할 때는 지금의 조건을 다시 확인해요.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기록입니다. 처리 건이 끝난 뒤 담당자가 묻는 말에 따라 볼 기록이 다릅니다. 표의 왼쪽이 물음, 가운데가 볼 기록, 오른쪽이 거기 남는 값이에요. 위 세 줄은 처리 기록입니다. 처리 건 한 건 안에서 일어난 일을 차례로 적은 거예요. 누가 어느 추천안을 승인했는지는 승인 접수 기록에 승인한 역할과 판단 번호로 남습니다. 그 번호로 운전원이 본 추천안과 근거까지 거슬러 갈 수 있죠. 승인이 다음 단계로 넘어갔는지는 승인 전달 기록, 무엇으로 끝났는지는 결과 보고 기록에 있습니다. 아래 세 줄은 감사 기록이에요. 누가 무엇을 결정했는지 나중에 확인하려고 처리 건 밖의 일까지 남기는 기록입니다. 처리 건이 언제 열렸는지, 그 판본이 언제 배포됐는지가 여기 있어요. 강조한 마지막 줄, 권한 없는 쪽이 승인을 시도했다가 거부된 일도 감사 기록에 남습니다. 그래서 끝난 처리 건 하나를 되짚을 때는 상태와 판본에 더해 이 두 기록을 함께 봐요. 업무가 어떻게 끝났는지뿐 아니라 누가 무엇을 결정했는지까지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응용입니다. 쿨러 사건의 처리 건은 정상으로 끝났습니다. 그러면 다음 담당자에게는 할 일이 없을까요? 표의 왼쪽이 기록, 가운데가 그 기록이 뜻하는 것, 오른쪽이 다음 담당자가 이어 볼 일이에요. 첫 줄, 냉각 명령이 끝났고 안전 연동 검사도 통과했습니다. 설비가 명령을 실행했다고 답한 거예요. 유온이 실제로 내려왔는지는 이 기록이 아니라 재관측 기록으로 봅니다. 둘째 줄, 재관측에서 유온이 회복 기준 55도 아래로 내려왔고 경보도 해제됐어요. 그런데 팬 최대 운전은 유온을 당장 낮추는 완화 조치라, 핀에 낀 오염은 그대로 남아 있습니다. 셋째 줄, 작업지시가 CMMS에 등록돼 핀 세척 작업이 배정됐어요. 배정된 것이지 세척이 끝난 건 아닙니다. 정비 담당이 세척 완료를 확인해야 하죠. 강조한 마지막 줄, 결과 보고가 정상이고 처리 건이 끝났어도, 팬을 100퍼센트로 이어서 돌리는 건 SOP가 정한 24시간 이내라는 제한이 계속 걸려 있습니다. 정상으로 끝난 처리 건도 명령 처리, 회복, 작업지시 등록이 각각 다른 사실이에요. 그 차이를 읽어야 다음 담당자에게 무엇이 끝났고 무엇이 남았는지 정확히 넘길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 배운 것을 이제 일곱 가지 실습으로 직접 해 보겠습니다. 첫 실습은 웹 BPMN 편집기의 기본 조작이에요. 정비 요청이 담당자에게 넘어가는 작은 흐름으로, 시작과 작업과 끝을 놓고 선으로 잇고, 작업을 사용자 작업으로 바꾸고 이름과 식별자를 읽습니다. 결과물은 bpmn 파일 하나예요. 저장한 파일을 다시 열어 요소와 이름과 연결 방향이 그대로인지 확인하고, 화면에 보이는 이름과 요소 식별자가 다르다는 것도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41~42장 통합 발화는 41장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그 흐름을 이어받아 승인 업무를 그립니다. 정비 요청을 확인한 뒤 승인 여부 게이트웨이에서 승인 종료와 반려 종료로 가릅니다. 두 갈래를 각각 따라가서 둘 다 자기 끝에 닿는지, 가위표가 있는 배타 게이트웨이인지, 끊긴 선이나 건너뛴 작업이 없는지 확인해요. 결과물은 승인 업무 파일과, 경로마다 시작과 결정과 끝을 적은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43~44장 통합 발화는 43장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승인 업무를 설비 이상 대응으로 넓힙니다. 쿨러 경보에서 진단과 조치 제안, 운전원 승인, PLC 명령, 효과 재확인, 보고까지를 풀 하나의 세 레인에 나눠 그려요. 제공된 참조 흐름은 대조할 때만 쓰고 완성본으로 바꿔 쓰지 않습니다. 확인할 것은 추천과 명령 사이에 사람의 승인이 놓였는지, 명령 뒤에 효과를 다시 확인하는지예요. 결과물은 설비 이상 대응 초안과, 작업 이름과 요소 식별자와 레인을 맞춘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45~46장 통합 발화는 45장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실습에서는 그 초안에 예외를 넣어 안전한 흐름으로 만듭니다. 승인과 거절을 가르고, 거절은 거절 보고를 거쳐 반려 종료로 닫아요. 운전원 승인에는 비중단형 경계 타이머를 붙여 승인 지연 알림 갈래를 엽니다. 거절 갈래에서 명령으로 가는 선이 없는지, 알림이 승인 작업을 끊지 않는지 그림과 저장한 파일 양쪽에서 확인하세요. 그리고 갈림의 조건과 기본 흐름, 10분 기한은 선 이름만으로 생기지 않으니 조건 계획에 따로 적어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47~48장 통합 발화는 47장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실습에서는 직접 그린 흐름을 포털에 등록된 기준 흐름과 견줍니다. 제공 매핑에서 시작 이벤트, 에이전트 단계, 운전원 승인, 설비 명령, 재관측이 각각 어떤 실행 기능과 맡을 쪽에 연결돼 있는지 찾고, 내 그림의 작업 옆에 표시해요. 그림에 없는 조건과 기한과 담당은 따로 적습니다. 여기서 가릴 것은 내 파일은 비교하려고 그린 그림이고, 실제로 실행되는 건 포털에 등록된 정의라는 점이에요. 수업에서 내 그림을 포털에 등록하거나 배포하지는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49~50장 통합 발화는 49장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실습은 내 그림을 스스로 검사하고 고치는 일입니다. 승인 경로, 반려 경로, 지연 알림 갈래를 하나씩 따라가며 갈래마다 끝 이벤트에 닿는지 보고, 제공 기준 그림과 매핑에 견줘 작업마다 담당 역할과 실행 기능이 빠지지 않았는지 확인해요. 실행 정의로 가져올 때 걸리는 모양도 이때 점검표로 씁니다. 실제로 찾은 문제만 고치고, 고친 그림을 저장한 뒤 다시 열어 연결이 그대로인지 확인합니다. 결과물은 고친 파일과 수정 기록이에요.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51~52장 통합 발화는 51장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포털의 준비된 냉각 대응 시나리오 A를 실행하고, 열린 처리 건 하나를 끝까지 따라갑니다. 판단과 운전원 승인, 명령과 재관측, 작업지시와 보고를 차례로 확인하면서, 승인 대기와 오류, 명령 처리와 온도 회복, 작업지시 등록과 정비 완료를 각각 가려요. 거절이나 보류, 지연은 이번에 실제로 남은 기록인지 제공된 사례인지 구분해 비교합니다. 남길 것은 정의와 판본과 처리 건과 결과, 그리고 내 그림에서 대응하는 작업, 마지막으로 다음 담당자가 이어 볼 일과 그 근거예요. 이제 일곱 실습을 차례로 진행하고, 마친 뒤 같은 이론의 복습으로 돌아오겠습니다.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53~54장 통합 발화는 53장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그린 그림과 처리 건 기록을 손에 들고 이번 회차를 되짚어 보겠습니다. 표의 왼쪽 물음마다 답이 어디에 있는지, 오른쪽의 헷갈리기 쉬운 짝을 먼저 스스로 가려 보세요. 첫째, 추천안이 나와도 업무는 끝나지 않았습니다. Task 하나가 끝났을 뿐이고, 완료는 End-to-End의 끝 이벤트와 결과 보고에서 봐요. 둘째, 선 이름이 승인이라고 조건이 걸린 게 아닙니다. 조건은 연결 값에 있었죠. 셋째, 알림이 나가도 승인은 계속 기다립니다. 비중단형 타이머라서 알림 갈래만 끝나요. 넷째, 운전원 승인에 머문 처리 건은 오류가 아니라 토큰이 사용자 작업에 머문 실행 중 상태입니다. 다섯째, 끝남 상태는 실행이 끝났다는 뜻일 뿐이라, 성공인지는 끝 이벤트와 결과 보고와 단계 상태로 가립니다. 마지막으로 작업지시가 등록됐다고 정비가 끝난 건 아니에요. 세척 완료는 정비 쪽에서 따로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정식 명칭과 뜻으로 정리하겠습니다. 비즈니스 프로세스는 원하는 결과를 내기 위해 관련된 작업과 흐름을 정한 묶음이고, 오케스트레이션은 중앙의 조정자가 작업의 순서와 호출을 이끄는 방식이에요. BPM은 프로세스를 분석, 설계, 실행, 모니터링, 개선으로 되풀이해 관리하는 방법이고, BPMN은 도형과 선의 뜻을 정해 업무 프로세스를 그리는 표기 표준입니다. 배타 게이트웨이는 조건이 참인 한 갈래로만 보내는 갈림이고, 기본 흐름은 어느 조건도 맞지 않을 때 가는 선이에요. 경계 이벤트는 작업 테두리에 붙어 그 작업이 진행 중일 때 생기는 일에 반응하는 이벤트고요. 프로세스 엔진은 정의를 읽어 실행하는 소프트웨어, 인스턴스는 정의에 따라 수행되는 한 건, 곧 처리 건입니다. 토큰은 흐름의 현재 위치를 나타내는 표식, 프로세스 변수는 처리 건이 지닌 이름 붙은 값이에요. 마지막으로 판본은 바꾸지 않고 쌓는 정의의 한 벌이고, 감사 기록은 처리 건의 시작, 판본의 배포, 거부된 승인 같은 결정을 남기는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퀴즈 세 문제로 배운 구분을 판단에 써 보겠습니다. 문제마다 답을 고를 시간을 드리고, 세 문제를 다 본 뒤에 정답과 까닭을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쿨러 사건의 처리 건이 결과 보고 정상, 상태 끝남으로 끝났고, 작업지시가 등록돼 있어요. 정비 담당자에게 넘기는 말로 맞는 것은 무엇일까요? 1번, 핀 세척까지 끝났으니 따로 확인할 일이 없다. 2번, 팬 최대 운전으로 핀 오염이 제거됐다. 3번, 유온은 기준 아래로 회복됐고, 핀 세척 작업지시가 배정돼 세척 완료 확인이 남았다. 4번, 처리 건이 끝났으니 팬 100퍼센트 운전 제한도 풀렸다.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편집기에서 승인 여부 게이트웨이의 두 선 이름을 승인과 거절로 적었고, 연결 값에는 조건을 넣지 않았어요. 이 상태에 대한 설명으로 맞는 것은 무엇일까요? 1번, 선 이름은 표시일 뿐이라, 조건과 기본 흐름을 연결 값에 정해야 실행에서 갈린다. 2번, 엔진이 선 이름을 읽어 승인일 때만 냉각 명령으로 간다. 3번, 배타 게이트웨이를 그렸으니 거절 선이 저절로 기본 흐름이 된다. 4번, 에이전트가 추천안을 보고 갈래를 고른다.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에이전트가 추천안을 제출하면서 팬 속도 100퍼센트라는 명령 값을 함께 넣었어요. 이 제출의 처리로 맞는 것은 무엇일까요? 1번, 엔진이 그 값으로 바로 냉각 명령 작업을 연다. 2번, 운전원이 승인하면 에이전트가 PLC에 직접 보낸다. 3번, 승인을 기다리는 동안 SCADA가 미리 실행해 둔다. 4번, 명령 모양의 값이 든 제출은 거부되고, 명령은 승인 뒤 프로세스 쪽에서만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답과 까닭을 맞춰 보겠습니다. 첫 문제는 3번이에요. 명령 처리, 유온 회복, 작업지시 등록은 서로 다른 사실이었죠. 1번은 작업지시 등록을 세척 완료로 읽었고, 2번은 완화 조치를 근본 조치로 읽었어요. 4번은 처리 건의 끝과 SOP의 운전 제한을 섞은 겁니다. 처리 건이 끝나도 24시간 제한은 그대로예요. 두 번째는 1번입니다. 갈림은 연결 값의 조건과 기본 흐름이 정하고, 선 이름은 그림의 표시예요. 2번처럼 엔진이 이름을 읽어 주지 않고, 3번처럼 거절 선이 저절로 기본 흐름이 되지도 않습니다. 4번은 판단하는 쪽과 갈림을 정하는 조건을 섞은 거고요. 세 번째는 4번이에요. 에이전트의 쓰기는 판단 제출 하나뿐이라, 명령 모양의 값이 들어 있으면 그 제출 자체를 받지 않습니다. 설비 명령은 승인을 거친 뒤 프로세스 쪽에서만 만들어져요. 1번과 3번은 승인 전에 명령이 나간다는 거고, 2번은 에이전트에게 실행 권한이 있다는 거라 모두 이 회차에서 본 책임의 자리와 맞지 않습니다. 이번 회차에서는 추천안 뒤에 남은 업무를 프로세스로 정의하고, BPMN으로 그려 그림과 실행 정의를 가르고, 처리 건의 실행과 통제를 기록으로 읽었습니다. 다음 회차에서는 같은 설계 원리를 설비 조치 밖으로 넓혀, 정기 점검과 예비품 부족에서 시작하는 정비와 구매 업무를 연결하고 그 실행 결과를 검증해 보겠습니다. 수고 많으셨습니다.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6회차 · 설비 이상 대응 프로세스의 설계와 실행</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이상 대응을 안전하게</a:t>
            </a:r>
          </a:p>
          <a:p>
            <a:pPr algn="l" eaLnBrk="0">
              <a:lnSpc>
                <a:spcPct val="110000"/>
              </a:lnSpc>
            </a:pPr>
            <a:r>
              <a:rPr sz="4000" b="1">
                <a:solidFill>
                  <a:srgbClr val="FFFFFF"/>
                </a:solidFill>
                <a:latin typeface="맑은 고딕"/>
                <a:ea typeface="맑은 고딕"/>
                <a:cs typeface="맑은 고딕"/>
              </a:rPr>
              <a:t>실행하는 프로세스</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추천안을 승인 · 명령 · 재관측 · 보고로 잇는 흐름을 정의하고, BPMN으로 그려 실행 기록과 대조한다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git-fork" descr="git-for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user-check" descr="user-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history" descr="histor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경보의 추천안이 승인 · 명령 · 재관측 · 보고를 거쳐 끝나기까지를 정의하고 그려서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53576"/>
            <a:ext cx="2567863" cy="307555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54744"/>
            <a:ext cx="2238679" cy="237147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업무의 단위</a:t>
            </a:r>
          </a:p>
          <a:p>
            <a:pPr algn="l" eaLnBrk="0" marL="200025" indent="-200025">
              <a:lnSpc>
                <a:spcPct val="110000"/>
              </a:lnSpc>
              <a:spcAft>
                <a:spcPts val="400"/>
              </a:spcAft>
            </a:pPr>
            <a:r>
              <a:rPr sz="1750" b="0">
                <a:solidFill>
                  <a:srgbClr val="1F2A3A"/>
                </a:solidFill>
                <a:latin typeface="맑은 고딕"/>
                <a:ea typeface="맑은 고딕"/>
                <a:cs typeface="맑은 고딕"/>
              </a:rPr>
              <a:t>• 에이전트의 단계 하나와 업무 전체를 가른다</a:t>
            </a:r>
          </a:p>
          <a:p>
            <a:pPr algn="l" eaLnBrk="0" marL="200025" indent="-200025">
              <a:lnSpc>
                <a:spcPct val="110000"/>
              </a:lnSpc>
              <a:spcAft>
                <a:spcPts val="400"/>
              </a:spcAft>
            </a:pPr>
            <a:r>
              <a:rPr sz="1750" b="0">
                <a:solidFill>
                  <a:srgbClr val="1F2A3A"/>
                </a:solidFill>
                <a:latin typeface="맑은 고딕"/>
                <a:ea typeface="맑은 고딕"/>
                <a:cs typeface="맑은 고딕"/>
              </a:rPr>
              <a:t>• 시작 · 입력 · 담당 · 완료와 BPM을 정한다</a:t>
            </a:r>
          </a:p>
        </p:txBody>
      </p:sp>
      <p:sp>
        <p:nvSpPr>
          <p:cNvPr id="8" name="Rounded Rectangle 7"/>
          <p:cNvSpPr/>
          <p:nvPr/>
        </p:nvSpPr>
        <p:spPr>
          <a:xfrm>
            <a:off x="777240" y="5099367"/>
            <a:ext cx="1764792"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99367"/>
            <a:ext cx="1764792"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Task · End-to-End</a:t>
            </a:r>
          </a:p>
        </p:txBody>
      </p:sp>
      <p:sp>
        <p:nvSpPr>
          <p:cNvPr id="10" name="Rounded Rectangle 9"/>
          <p:cNvSpPr/>
          <p:nvPr/>
        </p:nvSpPr>
        <p:spPr>
          <a:xfrm>
            <a:off x="3390823" y="2453576"/>
            <a:ext cx="2567863" cy="307555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2654744"/>
            <a:ext cx="2238679" cy="237147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BPMN 표기</a:t>
            </a:r>
          </a:p>
          <a:p>
            <a:pPr algn="l" eaLnBrk="0" marL="200025" indent="-200025">
              <a:lnSpc>
                <a:spcPct val="110000"/>
              </a:lnSpc>
              <a:spcAft>
                <a:spcPts val="400"/>
              </a:spcAft>
            </a:pPr>
            <a:r>
              <a:rPr sz="1750" b="0">
                <a:solidFill>
                  <a:srgbClr val="1F2A3A"/>
                </a:solidFill>
                <a:latin typeface="맑은 고딕"/>
                <a:ea typeface="맑은 고딕"/>
                <a:cs typeface="맑은 고딕"/>
              </a:rPr>
              <a:t>• 이벤트 · 작업 · 게이트웨이 · 레인 · 타이머를 읽는다</a:t>
            </a:r>
          </a:p>
          <a:p>
            <a:pPr algn="l" eaLnBrk="0" marL="200025" indent="-200025">
              <a:lnSpc>
                <a:spcPct val="110000"/>
              </a:lnSpc>
              <a:spcAft>
                <a:spcPts val="400"/>
              </a:spcAft>
            </a:pPr>
            <a:r>
              <a:rPr sz="1750" b="0">
                <a:solidFill>
                  <a:srgbClr val="1F2A3A"/>
                </a:solidFill>
                <a:latin typeface="맑은 고딕"/>
                <a:ea typeface="맑은 고딕"/>
                <a:cs typeface="맑은 고딕"/>
              </a:rPr>
              <a:t>• 그림 파일과 연결 값을 가른다</a:t>
            </a:r>
          </a:p>
        </p:txBody>
      </p:sp>
      <p:sp>
        <p:nvSpPr>
          <p:cNvPr id="12" name="Rounded Rectangle 11"/>
          <p:cNvSpPr/>
          <p:nvPr/>
        </p:nvSpPr>
        <p:spPr>
          <a:xfrm>
            <a:off x="3619423" y="5099367"/>
            <a:ext cx="1523999"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5099367"/>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그림과 실행 정의</a:t>
            </a:r>
          </a:p>
        </p:txBody>
      </p:sp>
      <p:sp>
        <p:nvSpPr>
          <p:cNvPr id="14" name="Rounded Rectangle 13"/>
          <p:cNvSpPr/>
          <p:nvPr/>
        </p:nvSpPr>
        <p:spPr>
          <a:xfrm>
            <a:off x="6233007" y="2453576"/>
            <a:ext cx="2567863" cy="307555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2654744"/>
            <a:ext cx="2238679" cy="237147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실행과 통제</a:t>
            </a:r>
          </a:p>
          <a:p>
            <a:pPr algn="l" eaLnBrk="0" marL="200025" indent="-200025">
              <a:lnSpc>
                <a:spcPct val="110000"/>
              </a:lnSpc>
              <a:spcAft>
                <a:spcPts val="400"/>
              </a:spcAft>
            </a:pPr>
            <a:r>
              <a:rPr sz="1750" b="0">
                <a:solidFill>
                  <a:srgbClr val="1F2A3A"/>
                </a:solidFill>
                <a:latin typeface="맑은 고딕"/>
                <a:ea typeface="맑은 고딕"/>
                <a:cs typeface="맑은 고딕"/>
              </a:rPr>
              <a:t>• 처리 건 · 토큰 · 변수로 진행을 읽는다</a:t>
            </a:r>
          </a:p>
          <a:p>
            <a:pPr algn="l" eaLnBrk="0" marL="200025" indent="-200025">
              <a:lnSpc>
                <a:spcPct val="110000"/>
              </a:lnSpc>
              <a:spcAft>
                <a:spcPts val="400"/>
              </a:spcAft>
            </a:pPr>
            <a:r>
              <a:rPr sz="1750" b="0">
                <a:solidFill>
                  <a:srgbClr val="1F2A3A"/>
                </a:solidFill>
                <a:latin typeface="맑은 고딕"/>
                <a:ea typeface="맑은 고딕"/>
                <a:cs typeface="맑은 고딕"/>
              </a:rPr>
              <a:t>• 상태 · 권한 · 판본 · 감사 기록을 읽는다</a:t>
            </a:r>
          </a:p>
        </p:txBody>
      </p:sp>
      <p:sp>
        <p:nvSpPr>
          <p:cNvPr id="16" name="Rounded Rectangle 15"/>
          <p:cNvSpPr/>
          <p:nvPr/>
        </p:nvSpPr>
        <p:spPr>
          <a:xfrm>
            <a:off x="6461607" y="5099367"/>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5099367"/>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기록</a:t>
            </a:r>
          </a:p>
        </p:txBody>
      </p:sp>
      <p:sp>
        <p:nvSpPr>
          <p:cNvPr id="18" name="Rounded Rectangle 17"/>
          <p:cNvSpPr/>
          <p:nvPr/>
        </p:nvSpPr>
        <p:spPr>
          <a:xfrm>
            <a:off x="9075191" y="2453576"/>
            <a:ext cx="2567863" cy="307555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TextBox 18"/>
          <p:cNvSpPr txBox="1"/>
          <p:nvPr/>
        </p:nvSpPr>
        <p:spPr>
          <a:xfrm>
            <a:off x="9239783" y="2654744"/>
            <a:ext cx="2238679" cy="237147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작도와 검증</a:t>
            </a:r>
          </a:p>
          <a:p>
            <a:pPr algn="l" eaLnBrk="0" marL="200025" indent="-200025">
              <a:lnSpc>
                <a:spcPct val="110000"/>
              </a:lnSpc>
              <a:spcAft>
                <a:spcPts val="400"/>
              </a:spcAft>
            </a:pPr>
            <a:r>
              <a:rPr sz="1750" b="0">
                <a:solidFill>
                  <a:srgbClr val="1F2A3A"/>
                </a:solidFill>
                <a:latin typeface="맑은 고딕"/>
                <a:ea typeface="맑은 고딕"/>
                <a:cs typeface="맑은 고딕"/>
              </a:rPr>
              <a:t>• 두 흐름을 그려 기준 흐름과 비교한다</a:t>
            </a:r>
          </a:p>
          <a:p>
            <a:pPr algn="l" eaLnBrk="0" marL="200025" indent="-200025">
              <a:lnSpc>
                <a:spcPct val="110000"/>
              </a:lnSpc>
              <a:spcAft>
                <a:spcPts val="400"/>
              </a:spcAft>
            </a:pPr>
            <a:r>
              <a:rPr sz="1750" b="0">
                <a:solidFill>
                  <a:srgbClr val="1F2A3A"/>
                </a:solidFill>
                <a:latin typeface="맑은 고딕"/>
                <a:ea typeface="맑은 고딕"/>
                <a:cs typeface="맑은 고딕"/>
              </a:rPr>
              <a:t>• 시나리오 A의 처리 건으로 검증한다</a:t>
            </a:r>
          </a:p>
        </p:txBody>
      </p:sp>
      <p:sp>
        <p:nvSpPr>
          <p:cNvPr id="20" name="Rounded Rectangle 19"/>
          <p:cNvSpPr/>
          <p:nvPr/>
        </p:nvSpPr>
        <p:spPr>
          <a:xfrm>
            <a:off x="9303791" y="5099367"/>
            <a:ext cx="1021080" cy="292608"/>
          </a:xfrm>
          <a:prstGeom prst="roundRect">
            <a:avLst>
              <a:gd name="adj" fmla="val 50000"/>
            </a:avLst>
          </a:prstGeom>
          <a:solidFill>
            <a:srgbClr val="5CB8F2"/>
          </a:solidFill>
          <a:ln>
            <a:noFill/>
          </a:ln>
        </p:spPr>
        <p:txBody>
          <a:bodyPr rtlCol="0" anchor="ctr"/>
          <a:lstStyle/>
          <a:p>
            <a:pPr algn="ctr"/>
          </a:p>
        </p:txBody>
      </p:sp>
      <p:sp>
        <p:nvSpPr>
          <p:cNvPr id="21" name="TextBox 20"/>
          <p:cNvSpPr txBox="1"/>
          <p:nvPr/>
        </p:nvSpPr>
        <p:spPr>
          <a:xfrm>
            <a:off x="9303791" y="5099367"/>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일곱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Task · End-to-End와 오케스트레이션</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01</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프로세스의 정의와 BPM 생애주기</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02</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BPMN의 흐름: 이벤트 · 작업 · 게이트웨이</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03</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BPMN의 책임과 기다림: 레인 · 경계 타이머</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04</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엔진 · 처리 건 · 토큰 · 변수</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05</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상태 · 권한 · 판본 · 감사 기록</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06</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업무 설계 도구 · 승인 업무 · 설비 이상 대응 작도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1~3</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조건과 예외 · 실행 연결 비교 · 연결 검사</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4~6</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이벤트와 처리 결과 · 복습 · 퀴즈</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7 · 정리</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Task · End-to-End와</a:t>
            </a:r>
          </a:p>
          <a:p>
            <a:pPr algn="l" eaLnBrk="0">
              <a:lnSpc>
                <a:spcPct val="110000"/>
              </a:lnSpc>
            </a:pPr>
            <a:r>
              <a:rPr sz="3400" b="1">
                <a:solidFill>
                  <a:srgbClr val="13294B"/>
                </a:solidFill>
                <a:latin typeface="맑은 고딕"/>
                <a:ea typeface="맑은 고딕"/>
                <a:cs typeface="맑은 고딕"/>
              </a:rPr>
              <a:t>오케스트레이션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 뒤에 남은 일을 기록으로 대조하고, 흐름 전체의 책임을 가른다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처리 건에 남은 단계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제출된 뒤에도 승인 · 명령 · 재관측 · 작업지시 · 보고가 서로 다른 담당의 기록으로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맡은 쪽 · 남은 기록</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끝났을 때 생긴 것</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 · 처리 건 열림</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감지 서비스 → 프로세스</a:t>
            </a:r>
          </a:p>
          <a:p>
            <a:pPr algn="l" eaLnBrk="0">
              <a:lnSpc>
                <a:spcPct val="110000"/>
              </a:lnSpc>
            </a:pPr>
            <a:r>
              <a:rPr sz="1400" b="0">
                <a:solidFill>
                  <a:srgbClr val="1F2A3A"/>
                </a:solidFill>
                <a:latin typeface="맑은 고딕"/>
                <a:ea typeface="맑은 고딕"/>
                <a:cs typeface="맑은 고딕"/>
              </a:rPr>
              <a:t>ALT-hyd01-0014-e0a1 · 11:13:08</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건 하나</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긴급 대응 에이전트</a:t>
            </a:r>
          </a:p>
          <a:p>
            <a:pPr algn="l" eaLnBrk="0">
              <a:lnSpc>
                <a:spcPct val="110000"/>
              </a:lnSpc>
            </a:pPr>
            <a:r>
              <a:rPr sz="1400" b="0">
                <a:solidFill>
                  <a:srgbClr val="1F2A3A"/>
                </a:solidFill>
                <a:latin typeface="맑은 고딕"/>
                <a:ea typeface="맑은 고딕"/>
                <a:cs typeface="맑은 고딕"/>
              </a:rPr>
              <a:t>판단 DEC-1010-002-408b</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추천안</a:t>
            </a:r>
          </a:p>
          <a:p>
            <a:pPr algn="l" eaLnBrk="0">
              <a:lnSpc>
                <a:spcPct val="110000"/>
              </a:lnSpc>
            </a:pPr>
            <a:r>
              <a:rPr sz="1250" b="1">
                <a:solidFill>
                  <a:srgbClr val="556175"/>
                </a:solidFill>
                <a:latin typeface="맑은 고딕"/>
                <a:ea typeface="맑은 고딕"/>
                <a:cs typeface="맑은 고딕"/>
              </a:rPr>
              <a:t>(팬 최대 운전)</a:t>
            </a:r>
          </a:p>
        </p:txBody>
      </p:sp>
      <p:sp>
        <p:nvSpPr>
          <p:cNvPr id="18" name="Rounded Rectangle 17"/>
          <p:cNvSpPr/>
          <p:nvPr/>
        </p:nvSpPr>
        <p:spPr>
          <a:xfrm>
            <a:off x="548640" y="3297718"/>
            <a:ext cx="11094415" cy="553865"/>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역할</a:t>
            </a:r>
          </a:p>
          <a:p>
            <a:pPr algn="l" eaLnBrk="0">
              <a:lnSpc>
                <a:spcPct val="110000"/>
              </a:lnSpc>
            </a:pPr>
            <a:r>
              <a:rPr sz="1400" b="0">
                <a:solidFill>
                  <a:srgbClr val="1F2A3A"/>
                </a:solidFill>
                <a:latin typeface="맑은 고딕"/>
                <a:ea typeface="맑은 고딕"/>
                <a:cs typeface="맑은 고딕"/>
              </a:rPr>
              <a:t>11:14:56 승인</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실행해도 된다는</a:t>
            </a:r>
          </a:p>
          <a:p>
            <a:pPr algn="l" eaLnBrk="0">
              <a:lnSpc>
                <a:spcPct val="110000"/>
              </a:lnSpc>
            </a:pPr>
            <a:r>
              <a:rPr sz="1250" b="1">
                <a:solidFill>
                  <a:srgbClr val="1A6FC4"/>
                </a:solidFill>
                <a:latin typeface="맑은 고딕"/>
                <a:ea typeface="맑은 고딕"/>
                <a:cs typeface="맑은 고딕"/>
              </a:rPr>
              <a:t>사람의 결정</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 → PLC</a:t>
            </a:r>
          </a:p>
          <a:p>
            <a:pPr algn="l" eaLnBrk="0">
              <a:lnSpc>
                <a:spcPct val="110000"/>
              </a:lnSpc>
            </a:pPr>
            <a:r>
              <a:rPr sz="1400" b="0">
                <a:solidFill>
                  <a:srgbClr val="1F2A3A"/>
                </a:solidFill>
                <a:latin typeface="맑은 고딕"/>
                <a:ea typeface="맑은 고딕"/>
                <a:cs typeface="맑은 고딕"/>
              </a:rPr>
              <a:t>CMD-1010-0001-b94a · 인터록 PASS</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속도 100 %</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프로세스(시스템)</a:t>
            </a:r>
          </a:p>
          <a:p>
            <a:pPr algn="l" eaLnBrk="0">
              <a:lnSpc>
                <a:spcPct val="110000"/>
              </a:lnSpc>
            </a:pPr>
            <a:r>
              <a:rPr sz="1400" b="0">
                <a:solidFill>
                  <a:srgbClr val="1F2A3A"/>
                </a:solidFill>
                <a:latin typeface="맑은 고딕"/>
                <a:ea typeface="맑은 고딕"/>
                <a:cs typeface="맑은 고딕"/>
              </a:rPr>
              <a:t>유온 61.4 → 51.5 ℃ · 경보 해제</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회복 판정</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a:t>
            </a:r>
          </a:p>
          <a:p>
            <a:pPr algn="l" eaLnBrk="0">
              <a:lnSpc>
                <a:spcPct val="110000"/>
              </a:lnSpc>
            </a:pPr>
            <a:r>
              <a:rPr sz="1400" b="0">
                <a:solidFill>
                  <a:srgbClr val="1F2A3A"/>
                </a:solidFill>
                <a:latin typeface="맑은 고딕"/>
                <a:ea typeface="맑은 고딕"/>
                <a:cs typeface="맑은 고딕"/>
              </a:rPr>
              <a:t>WO-1010-C058</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핀 세척 작업 배정</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프로세스(시스템)</a:t>
            </a:r>
          </a:p>
          <a:p>
            <a:pPr algn="l" eaLnBrk="0">
              <a:lnSpc>
                <a:spcPct val="110000"/>
              </a:lnSpc>
            </a:pPr>
            <a:r>
              <a:rPr sz="1400" b="0">
                <a:solidFill>
                  <a:srgbClr val="1F2A3A"/>
                </a:solidFill>
                <a:latin typeface="맑은 고딕"/>
                <a:ea typeface="맑은 고딕"/>
                <a:cs typeface="맑은 고딕"/>
              </a:rPr>
              <a:t>정상 · 끝</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건 종료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Task와 End-to-End: 끝났다고 말하는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End-to-End</a:t>
            </a:r>
            <a:r>
              <a:rPr sz="1600" b="0">
                <a:solidFill>
                  <a:srgbClr val="556175"/>
                </a:solidFill>
                <a:latin typeface="맑은 고딕"/>
                <a:ea typeface="맑은 고딕"/>
                <a:cs typeface="맑은 고딕"/>
              </a:rPr>
              <a:t>(종단 간)는 시작 사건에서 최종 결과까지라서, 업무 완료는 Task가 아니라 그 끝에서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Task(작업)</a:t>
            </a:r>
          </a:p>
        </p:txBody>
      </p:sp>
      <p:sp>
        <p:nvSpPr>
          <p:cNvPr id="8" name="TextBox 7"/>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프로세스 안의 작업 하나</a:t>
            </a:r>
          </a:p>
          <a:p>
            <a:pPr algn="l" eaLnBrk="0" marL="200025" indent="-200025">
              <a:lnSpc>
                <a:spcPct val="110000"/>
              </a:lnSpc>
              <a:spcAft>
                <a:spcPts val="600"/>
              </a:spcAft>
            </a:pPr>
            <a:r>
              <a:rPr sz="1750" b="0">
                <a:solidFill>
                  <a:srgbClr val="1F2A3A"/>
                </a:solidFill>
                <a:latin typeface="맑은 고딕"/>
                <a:ea typeface="맑은 고딕"/>
                <a:cs typeface="맑은 고딕"/>
              </a:rPr>
              <a:t>• 예: 원인 진단 · 냉각 조치 제안</a:t>
            </a:r>
          </a:p>
          <a:p>
            <a:pPr algn="l" eaLnBrk="0" marL="200025" indent="-200025">
              <a:lnSpc>
                <a:spcPct val="110000"/>
              </a:lnSpc>
              <a:spcAft>
                <a:spcPts val="600"/>
              </a:spcAft>
            </a:pPr>
            <a:r>
              <a:rPr sz="1750" b="0">
                <a:solidFill>
                  <a:srgbClr val="1F2A3A"/>
                </a:solidFill>
                <a:latin typeface="맑은 고딕"/>
                <a:ea typeface="맑은 고딕"/>
                <a:cs typeface="맑은 고딕"/>
              </a:rPr>
              <a:t>• 끝났을 때: 추천안뿐, 설비 명령 없음</a:t>
            </a:r>
          </a:p>
          <a:p>
            <a:pPr algn="l" eaLnBrk="0" marL="200025" indent="-200025">
              <a:lnSpc>
                <a:spcPct val="110000"/>
              </a:lnSpc>
              <a:spcAft>
                <a:spcPts val="600"/>
              </a:spcAft>
            </a:pPr>
            <a:r>
              <a:rPr sz="1750" b="0">
                <a:solidFill>
                  <a:srgbClr val="1F2A3A"/>
                </a:solidFill>
                <a:latin typeface="맑은 고딕"/>
                <a:ea typeface="맑은 고딕"/>
                <a:cs typeface="맑은 고딕"/>
              </a:rPr>
              <a:t>• 처리 건 시간의 절반 남짓을 썼다</a:t>
            </a:r>
          </a:p>
        </p:txBody>
      </p:sp>
      <p:sp>
        <p:nvSpPr>
          <p:cNvPr id="9" name="Rounded Rectangle 8"/>
          <p:cNvSpPr/>
          <p:nvPr/>
        </p:nvSpPr>
        <p:spPr>
          <a:xfrm>
            <a:off x="868680" y="5362638"/>
            <a:ext cx="132587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62638"/>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업무의 앞부분</a:t>
            </a:r>
          </a:p>
        </p:txBody>
      </p:sp>
      <p:sp>
        <p:nvSpPr>
          <p:cNvPr id="11" name="Rounded Rectangle 10"/>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End-to-End</a:t>
            </a:r>
          </a:p>
        </p:txBody>
      </p:sp>
      <p:sp>
        <p:nvSpPr>
          <p:cNvPr id="13" name="TextBox 12"/>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경보에서 결과 보고까지 전체</a:t>
            </a:r>
          </a:p>
          <a:p>
            <a:pPr algn="l" eaLnBrk="0" marL="200025" indent="-200025">
              <a:lnSpc>
                <a:spcPct val="110000"/>
              </a:lnSpc>
              <a:spcAft>
                <a:spcPts val="600"/>
              </a:spcAft>
            </a:pPr>
            <a:r>
              <a:rPr sz="1750" b="0">
                <a:solidFill>
                  <a:srgbClr val="1F2A3A"/>
                </a:solidFill>
                <a:latin typeface="맑은 고딕"/>
                <a:ea typeface="맑은 고딕"/>
                <a:cs typeface="맑은 고딕"/>
              </a:rPr>
              <a:t>• 끝났을 때: 명령 처리 · 유온 회복 · 작업지시</a:t>
            </a:r>
          </a:p>
          <a:p>
            <a:pPr algn="l" eaLnBrk="0" marL="200025" indent="-200025">
              <a:lnSpc>
                <a:spcPct val="110000"/>
              </a:lnSpc>
              <a:spcAft>
                <a:spcPts val="600"/>
              </a:spcAft>
            </a:pPr>
            <a:r>
              <a:rPr sz="1750" b="0">
                <a:solidFill>
                  <a:srgbClr val="1F2A3A"/>
                </a:solidFill>
                <a:latin typeface="맑은 고딕"/>
                <a:ea typeface="맑은 고딕"/>
                <a:cs typeface="맑은 고딕"/>
              </a:rPr>
              <a:t>• 경계: 작업지시 등록까지, 세척 완료는 밖</a:t>
            </a:r>
          </a:p>
          <a:p>
            <a:pPr algn="l" eaLnBrk="0" marL="200025" indent="-200025">
              <a:lnSpc>
                <a:spcPct val="110000"/>
              </a:lnSpc>
              <a:spcAft>
                <a:spcPts val="600"/>
              </a:spcAft>
            </a:pPr>
            <a:r>
              <a:rPr sz="1750" b="0">
                <a:solidFill>
                  <a:srgbClr val="1F2A3A"/>
                </a:solidFill>
                <a:latin typeface="맑은 고딕"/>
                <a:ea typeface="맑은 고딕"/>
                <a:cs typeface="맑은 고딕"/>
              </a:rPr>
              <a:t>• 개선을 견줄 때도 같은 경계로</a:t>
            </a:r>
          </a:p>
        </p:txBody>
      </p:sp>
      <p:sp>
        <p:nvSpPr>
          <p:cNvPr id="14" name="Rounded Rectangle 13"/>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업무의 완료</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비즈니스 프로세스 · 처리 건 ·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틀인 프로세스, 한 번의 수행인 처리 건, 순서를 쥔 방식을 나눠야 경보마다 같은 약속으로 업무가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비즈니스 프로세스</a:t>
            </a:r>
          </a:p>
          <a:p>
            <a:pPr algn="l" eaLnBrk="0">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원하는 결과를 내기 위해 관련된 작업과 흐름을 정한 묶음이다.</a:t>
            </a:r>
          </a:p>
          <a:p>
            <a:pPr algn="l" eaLnBrk="0">
              <a:lnSpc>
                <a:spcPct val="110000"/>
              </a:lnSpc>
              <a:spcAft>
                <a:spcPts val="300"/>
              </a:spcAft>
            </a:pPr>
            <a:r>
              <a:rPr sz="1400" b="0">
                <a:solidFill>
                  <a:srgbClr val="1F2A3A"/>
                </a:solidFill>
                <a:latin typeface="맑은 고딕"/>
                <a:ea typeface="맑은 고딕"/>
                <a:cs typeface="맑은 고딕"/>
              </a:rPr>
              <a:t>시작 사건과 끝났다고 보는 조건이 있다. 예: 긴급 대응 프로세스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a:t>
            </a:r>
          </a:p>
          <a:p>
            <a:pPr algn="l" eaLnBrk="0">
              <a:lnSpc>
                <a:spcPct val="110000"/>
              </a:lnSpc>
              <a:spcAft>
                <a:spcPts val="200"/>
              </a:spcAft>
            </a:pPr>
            <a:r>
              <a:rPr sz="1150" b="0">
                <a:solidFill>
                  <a:srgbClr val="556175"/>
                </a:solidFill>
                <a:latin typeface="맑은 고딕"/>
                <a:ea typeface="맑은 고딕"/>
                <a:cs typeface="맑은 고딕"/>
              </a:rPr>
              <a:t>한 번의 수행</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경보 한 건에 대해 프로세스가 실제로 한 번 수행되는 단위이다.</a:t>
            </a:r>
          </a:p>
          <a:p>
            <a:pPr algn="l" eaLnBrk="0">
              <a:lnSpc>
                <a:spcPct val="110000"/>
              </a:lnSpc>
              <a:spcAft>
                <a:spcPts val="300"/>
              </a:spcAft>
            </a:pPr>
            <a:r>
              <a:rPr sz="1400" b="0">
                <a:solidFill>
                  <a:srgbClr val="1F2A3A"/>
                </a:solidFill>
                <a:latin typeface="맑은 고딕"/>
                <a:ea typeface="맑은 고딕"/>
                <a:cs typeface="맑은 고딕"/>
              </a:rPr>
              <a:t>쿨러 사건은 긴급 대응 프로세스의 처리 건 하나였다.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오케스트레이션</a:t>
            </a:r>
          </a:p>
          <a:p>
            <a:pPr algn="l" eaLnBrk="0">
              <a:lnSpc>
                <a:spcPct val="110000"/>
              </a:lnSpc>
              <a:spcAft>
                <a:spcPts val="200"/>
              </a:spcAft>
            </a:pPr>
            <a:r>
              <a:rPr sz="1150" b="0">
                <a:solidFill>
                  <a:srgbClr val="556175"/>
                </a:solidFill>
                <a:latin typeface="맑은 고딕"/>
                <a:ea typeface="맑은 고딕"/>
                <a:cs typeface="맑은 고딕"/>
              </a:rPr>
              <a:t>Orchestration</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eaLnBrk="0">
              <a:lnSpc>
                <a:spcPct val="110000"/>
              </a:lnSpc>
              <a:spcAft>
                <a:spcPts val="300"/>
              </a:spcAft>
            </a:pPr>
            <a:r>
              <a:rPr sz="1400" b="0">
                <a:solidFill>
                  <a:srgbClr val="1F2A3A"/>
                </a:solidFill>
                <a:latin typeface="맑은 고딕"/>
                <a:ea typeface="맑은 고딕"/>
                <a:cs typeface="맑은 고딕"/>
              </a:rPr>
              <a:t>에이전트 · 사람 · 시스템은 자기 작업만 하고, 다음 차례는 조정자가 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단계 하나의 판단과 흐름 전체의 책임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단계 하나의 판단을, 흐름을 이끄는 쪽은 차례 · 승인 전 금지 · 기다림 · 기록을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에이전트(단계 하나)</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흐름을 이끄는 쪽</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원인과 조치</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지식과 값을 읽어 추천안을 낸다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추천안을</a:t>
            </a:r>
          </a:p>
          <a:p>
            <a:pPr algn="l" eaLnBrk="0">
              <a:lnSpc>
                <a:spcPct val="110000"/>
              </a:lnSpc>
            </a:pPr>
            <a:r>
              <a:rPr sz="1250" b="1">
                <a:solidFill>
                  <a:srgbClr val="556175"/>
                </a:solidFill>
                <a:latin typeface="맑은 고딕"/>
                <a:ea typeface="맑은 고딕"/>
                <a:cs typeface="맑은 고딕"/>
              </a:rPr>
              <a:t>승인 작업에 넘긴다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입력이 오면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과정 · 표현 · 걸린 시간이 달라질 수 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정한 순서와 조건이</a:t>
            </a:r>
          </a:p>
          <a:p>
            <a:pPr algn="l" eaLnBrk="0">
              <a:lnSpc>
                <a:spcPct val="110000"/>
              </a:lnSpc>
            </a:pPr>
            <a:r>
              <a:rPr sz="1250" b="1">
                <a:solidFill>
                  <a:srgbClr val="556175"/>
                </a:solidFill>
                <a:latin typeface="맑은 고딕"/>
                <a:ea typeface="맑은 고딕"/>
                <a:cs typeface="맑은 고딕"/>
              </a:rPr>
              <a:t>매번 같다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전 명령</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쓰기는 판단 제출 하나뿐이다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뒤에만</a:t>
            </a:r>
          </a:p>
          <a:p>
            <a:pPr algn="l" eaLnBrk="0">
              <a:lnSpc>
                <a:spcPct val="110000"/>
              </a:lnSpc>
            </a:pPr>
            <a:r>
              <a:rPr sz="1250" b="1">
                <a:solidFill>
                  <a:srgbClr val="556175"/>
                </a:solidFill>
                <a:latin typeface="맑은 고딕"/>
                <a:ea typeface="맑은 고딕"/>
                <a:cs typeface="맑은 고딕"/>
              </a:rPr>
              <a:t>명령 작업을 연다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응답이 늦으면</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관여하지 않는다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기한 뒤 알림,</a:t>
            </a:r>
          </a:p>
          <a:p>
            <a:pPr algn="l" eaLnBrk="0">
              <a:lnSpc>
                <a:spcPct val="110000"/>
              </a:lnSpc>
            </a:pPr>
            <a:r>
              <a:rPr sz="1250" b="1">
                <a:solidFill>
                  <a:srgbClr val="556175"/>
                </a:solidFill>
                <a:latin typeface="맑은 고딕"/>
                <a:ea typeface="맑은 고딕"/>
                <a:cs typeface="맑은 고딕"/>
              </a:rPr>
              <a:t>승인은 계속 기다린다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어디까지 왔나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자기 단계의 실행 기록</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처리 건 하나에</a:t>
            </a:r>
          </a:p>
          <a:p>
            <a:pPr algn="l" eaLnBrk="0">
              <a:lnSpc>
                <a:spcPct val="110000"/>
              </a:lnSpc>
            </a:pPr>
            <a:r>
              <a:rPr sz="1250" b="1">
                <a:solidFill>
                  <a:srgbClr val="1A6FC4"/>
                </a:solidFill>
                <a:latin typeface="맑은 고딕"/>
                <a:ea typeface="맑은 고딕"/>
                <a:cs typeface="맑은 고딕"/>
              </a:rPr>
              <a:t>단계 · 결과 · 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승인을 건너뛰자는 요구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최대 운전이 늘 1순위로 추천되니, 이 조치만은 운전원 승인 없이 바로 명령하자는 요구가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흐름을 설계하는 쪽의 판단으로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 점수가 기준을 넘으면 승인 작업을 빼도 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작업은 두되, 기한이 지나면 자동으로 승인한다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승인은 설비를 움직일 권한의 자리라 유지하고, 지연은 알림 · 담당 배정으로 다룬다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에이전트에게 명령 도구를 주고 실행 뒤에 보고하게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프로세스의 정의와</a:t>
            </a:r>
          </a:p>
          <a:p>
            <a:pPr algn="l" eaLnBrk="0">
              <a:lnSpc>
                <a:spcPct val="110000"/>
              </a:lnSpc>
            </a:pPr>
            <a:r>
              <a:rPr sz="3400" b="1">
                <a:solidFill>
                  <a:srgbClr val="13294B"/>
                </a:solidFill>
                <a:latin typeface="맑은 고딕"/>
                <a:ea typeface="맑은 고딕"/>
                <a:cs typeface="맑은 고딕"/>
              </a:rPr>
              <a:t>BPM 생애주기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시작 · 입력 · 담당 · 완료를 실행 전에 정하고, 실행 결과를 보며 흐름을 고쳐 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 입력 · 담당 · 완료를 실행 전에 정하기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가지를 실행 전에 정해 두지 않으면, 업무는 사람의 기억으로 시작되고 거절 · 미달은 열린 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긴급 대응 프로세스의 답</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정하지 않으면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성능 저하 경보가 도착하면 연다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누군가 화면을</a:t>
            </a:r>
          </a:p>
          <a:p>
            <a:pPr algn="l" eaLnBrk="0">
              <a:lnSpc>
                <a:spcPct val="110000"/>
              </a:lnSpc>
            </a:pPr>
            <a:r>
              <a:rPr sz="1250" b="1">
                <a:solidFill>
                  <a:srgbClr val="556175"/>
                </a:solidFill>
                <a:latin typeface="맑은 고딕"/>
                <a:ea typeface="맑은 고딕"/>
                <a:cs typeface="맑은 고딕"/>
              </a:rPr>
              <a:t>봐야 시작된다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 경보 식별자 · 경보 내용 전체</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단계마다 경보를</a:t>
            </a:r>
          </a:p>
          <a:p>
            <a:pPr algn="l" eaLnBrk="0">
              <a:lnSpc>
                <a:spcPct val="110000"/>
              </a:lnSpc>
            </a:pPr>
            <a:r>
              <a:rPr sz="1250" b="1">
                <a:solidFill>
                  <a:srgbClr val="556175"/>
                </a:solidFill>
                <a:latin typeface="맑은 고딕"/>
                <a:ea typeface="맑은 고딕"/>
                <a:cs typeface="맑은 고딕"/>
              </a:rPr>
              <a:t>다시 찾는다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작업마다 에이전트 · 운전원 역할 · 시스템</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누구의 응답을</a:t>
            </a:r>
          </a:p>
          <a:p>
            <a:pPr algn="l" eaLnBrk="0">
              <a:lnSpc>
                <a:spcPct val="110000"/>
              </a:lnSpc>
            </a:pPr>
            <a:r>
              <a:rPr sz="1250" b="1">
                <a:solidFill>
                  <a:srgbClr val="556175"/>
                </a:solidFill>
                <a:latin typeface="맑은 고딕"/>
                <a:ea typeface="맑은 고딕"/>
                <a:cs typeface="맑은 고딕"/>
              </a:rPr>
              <a:t>기다리는지 모른다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정상 · 미달 · 거절을 정해 둔 끝으로 닫는다</a:t>
            </a:r>
          </a:p>
          <a:p>
            <a:pPr algn="l" eaLnBrk="0">
              <a:lnSpc>
                <a:spcPct val="110000"/>
              </a:lnSpc>
            </a:pPr>
            <a:r>
              <a:rPr sz="1400" b="0">
                <a:solidFill>
                  <a:srgbClr val="1F2A3A"/>
                </a:solidFill>
                <a:latin typeface="맑은 고딕"/>
                <a:ea typeface="맑은 고딕"/>
                <a:cs typeface="맑은 고딕"/>
              </a:rPr>
              <a:t>응답 없음은 닫지 않고 알림 뒤 기다린다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결말 없이</a:t>
            </a:r>
          </a:p>
          <a:p>
            <a:pPr algn="l" eaLnBrk="0">
              <a:lnSpc>
                <a:spcPct val="110000"/>
              </a:lnSpc>
            </a:pPr>
            <a:r>
              <a:rPr sz="1250" b="1">
                <a:solidFill>
                  <a:srgbClr val="1A6FC4"/>
                </a:solidFill>
                <a:latin typeface="맑은 고딕"/>
                <a:ea typeface="맑은 고딕"/>
                <a:cs typeface="맑은 고딕"/>
              </a:rPr>
              <a:t>떠 있는 처리 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 한 건이 처리 건을 여는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경보가 도착하면 처리 건이 열리고, 그 경보의 내용이 처리 건의 입력으로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ALT-hyd01-0014-e0a1</a:t>
            </a:r>
          </a:p>
          <a:p>
            <a:pPr algn="l" eaLnBrk="0">
              <a:lnSpc>
                <a:spcPct val="110000"/>
              </a:lnSpc>
              <a:spcAft>
                <a:spcPts val="200"/>
              </a:spcAft>
            </a:pPr>
            <a:r>
              <a:rPr sz="1300" b="0">
                <a:solidFill>
                  <a:srgbClr val="E8EEF6"/>
                </a:solidFill>
                <a:latin typeface="Consolas"/>
                <a:ea typeface="맑은 고딕"/>
                <a:cs typeface="맑은 고딕"/>
              </a:rPr>
              <a:t>pattern    COOLER_DEGRADATION    asset  HYD-01</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eaLnBrk="0">
              <a:lnSpc>
                <a:spcPct val="110000"/>
              </a:lnSpc>
              <a:spcAft>
                <a:spcPts val="200"/>
              </a:spcAft>
            </a:pP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    c3_cooling.4f93a9d0-</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11:13:08</a:t>
            </a:r>
          </a:p>
          <a:p>
            <a:pPr algn="l" eaLnBrk="0">
              <a:lnSpc>
                <a:spcPct val="110000"/>
              </a:lnSpc>
              <a:spcAft>
                <a:spcPts val="200"/>
              </a:spcAft>
            </a:pP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alert_id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a:t>
            </a:r>
          </a:p>
          <a:p>
            <a:pPr algn="l" eaLnBrk="0">
              <a:lnSpc>
                <a:spcPct val="110000"/>
              </a:lnSpc>
              <a:spcAft>
                <a:spcPts val="200"/>
              </a:spcAft>
            </a:pPr>
            <a:r>
              <a:rPr sz="1300" b="0">
                <a:solidFill>
                  <a:srgbClr val="E8EEF6"/>
                </a:solidFill>
                <a:latin typeface="맑은 고딕"/>
                <a:ea typeface="맑은 고딕"/>
                <a:cs typeface="맑은 고딕"/>
              </a:rPr>
              <a:t>다시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정의</a:t>
            </a: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이 프로세스를 여는 경보의 종류다.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입력</a:t>
            </a:r>
          </a:p>
          <a:p>
            <a:pPr algn="l" eaLnBrk="0">
              <a:lnSpc>
                <a:spcPct val="110000"/>
              </a:lnSpc>
              <a:spcAft>
                <a:spcPts val="400"/>
              </a:spcAft>
            </a:pPr>
            <a:r>
              <a:rPr sz="1400" b="0">
                <a:solidFill>
                  <a:srgbClr val="1F2A3A"/>
                </a:solidFill>
                <a:latin typeface="맑은 고딕"/>
                <a:ea typeface="맑은 고딕"/>
                <a:cs typeface="맑은 고딕"/>
              </a:rPr>
              <a:t>경보 메시지 전체가 실려, 뒤 단계가 같은 출발점을 읽는다.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중복 방지</a:t>
            </a:r>
          </a:p>
          <a:p>
            <a:pPr algn="l" eaLnBrk="0">
              <a:lnSpc>
                <a:spcPct val="110000"/>
              </a:lnSpc>
              <a:spcAft>
                <a:spcPts val="400"/>
              </a:spcAft>
            </a:pPr>
            <a:r>
              <a:rPr sz="1400" b="0">
                <a:solidFill>
                  <a:srgbClr val="1F2A3A"/>
                </a:solidFill>
                <a:latin typeface="맑은 고딕"/>
                <a:ea typeface="맑은 고딕"/>
                <a:cs typeface="맑은 고딕"/>
              </a:rPr>
              <a:t>같은 경보가 다시 와도 처리 건은 하나다.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BPM의 다섯 활동과 HYD에서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BPM</a:t>
            </a:r>
            <a:r>
              <a:rPr sz="1600" b="0">
                <a:solidFill>
                  <a:srgbClr val="556175"/>
                </a:solidFill>
                <a:latin typeface="맑은 고딕"/>
                <a:ea typeface="맑은 고딕"/>
                <a:cs typeface="맑은 고딕"/>
              </a:rPr>
              <a:t>(Business Process Management)은 분석 · 설계 · 실행 · 모니터링 · 개선을 되풀이하는 관리 방법이다.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ectangle 5"/>
          <p:cNvSpPr/>
          <p:nvPr/>
        </p:nvSpPr>
        <p:spPr>
          <a:xfrm>
            <a:off x="1658081" y="2983992"/>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567940"/>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567940"/>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19499"/>
            <a:ext cx="2072579" cy="1795272"/>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분석</a:t>
            </a:r>
          </a:p>
          <a:p>
            <a:pPr algn="ctr" eaLnBrk="0">
              <a:lnSpc>
                <a:spcPct val="110000"/>
              </a:lnSpc>
              <a:spcAft>
                <a:spcPts val="400"/>
              </a:spcAft>
            </a:pPr>
            <a:r>
              <a:rPr sz="1600" b="0">
                <a:solidFill>
                  <a:srgbClr val="1F2A3A"/>
                </a:solidFill>
                <a:latin typeface="맑은 고딕"/>
                <a:ea typeface="맑은 고딕"/>
                <a:cs typeface="맑은 고딕"/>
              </a:rPr>
              <a:t>네 가지와</a:t>
            </a:r>
          </a:p>
          <a:p>
            <a:pPr algn="ctr" eaLnBrk="0">
              <a:lnSpc>
                <a:spcPct val="110000"/>
              </a:lnSpc>
              <a:spcAft>
                <a:spcPts val="400"/>
              </a:spcAft>
            </a:pPr>
            <a:r>
              <a:rPr sz="1600" b="0">
                <a:solidFill>
                  <a:srgbClr val="1F2A3A"/>
                </a:solidFill>
                <a:latin typeface="맑은 고딕"/>
                <a:ea typeface="맑은 고딕"/>
                <a:cs typeface="맑은 고딕"/>
              </a:rPr>
              <a:t>끊기는 자리를</a:t>
            </a:r>
          </a:p>
          <a:p>
            <a:pPr algn="ctr" eaLnBrk="0">
              <a:lnSpc>
                <a:spcPct val="110000"/>
              </a:lnSpc>
              <a:spcAft>
                <a:spcPts val="400"/>
              </a:spcAft>
            </a:pPr>
            <a:r>
              <a:rPr sz="1600" b="0">
                <a:solidFill>
                  <a:srgbClr val="1F2A3A"/>
                </a:solidFill>
                <a:latin typeface="맑은 고딕"/>
                <a:ea typeface="맑은 고딕"/>
                <a:cs typeface="맑은 고딕"/>
              </a:rPr>
              <a:t>찾는다</a:t>
            </a:r>
          </a:p>
        </p:txBody>
      </p:sp>
      <p:sp>
        <p:nvSpPr>
          <p:cNvPr id="10" name="Oval 9"/>
          <p:cNvSpPr/>
          <p:nvPr/>
        </p:nvSpPr>
        <p:spPr>
          <a:xfrm>
            <a:off x="3442624" y="2567940"/>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567940"/>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19499"/>
            <a:ext cx="2072579" cy="1795272"/>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설계</a:t>
            </a:r>
          </a:p>
          <a:p>
            <a:pPr algn="ctr" eaLnBrk="0">
              <a:lnSpc>
                <a:spcPct val="110000"/>
              </a:lnSpc>
              <a:spcAft>
                <a:spcPts val="400"/>
              </a:spcAft>
            </a:pPr>
            <a:r>
              <a:rPr sz="1600" b="0">
                <a:solidFill>
                  <a:srgbClr val="1F2A3A"/>
                </a:solidFill>
                <a:latin typeface="맑은 고딕"/>
                <a:ea typeface="맑은 고딕"/>
                <a:cs typeface="맑은 고딕"/>
              </a:rPr>
              <a:t>흐름을 그리고</a:t>
            </a:r>
          </a:p>
          <a:p>
            <a:pPr algn="ctr" eaLnBrk="0">
              <a:lnSpc>
                <a:spcPct val="110000"/>
              </a:lnSpc>
              <a:spcAft>
                <a:spcPts val="400"/>
              </a:spcAft>
            </a:pPr>
            <a:r>
              <a:rPr sz="1600" b="0">
                <a:solidFill>
                  <a:srgbClr val="1F2A3A"/>
                </a:solidFill>
                <a:latin typeface="맑은 고딕"/>
                <a:ea typeface="맑은 고딕"/>
                <a:cs typeface="맑은 고딕"/>
              </a:rPr>
              <a:t>실행 기능을</a:t>
            </a:r>
          </a:p>
          <a:p>
            <a:pPr algn="ctr" eaLnBrk="0">
              <a:lnSpc>
                <a:spcPct val="110000"/>
              </a:lnSpc>
              <a:spcAft>
                <a:spcPts val="400"/>
              </a:spcAft>
            </a:pPr>
            <a:r>
              <a:rPr sz="1600" b="0">
                <a:solidFill>
                  <a:srgbClr val="1F2A3A"/>
                </a:solidFill>
                <a:latin typeface="맑은 고딕"/>
                <a:ea typeface="맑은 고딕"/>
                <a:cs typeface="맑은 고딕"/>
              </a:rPr>
              <a:t>연결한다</a:t>
            </a:r>
          </a:p>
        </p:txBody>
      </p:sp>
      <p:sp>
        <p:nvSpPr>
          <p:cNvPr id="13" name="Oval 12"/>
          <p:cNvSpPr/>
          <p:nvPr/>
        </p:nvSpPr>
        <p:spPr>
          <a:xfrm>
            <a:off x="5661507" y="2567940"/>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567940"/>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19499"/>
            <a:ext cx="2072579" cy="1795272"/>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실행</a:t>
            </a:r>
          </a:p>
          <a:p>
            <a:pPr algn="ctr" eaLnBrk="0">
              <a:lnSpc>
                <a:spcPct val="110000"/>
              </a:lnSpc>
              <a:spcAft>
                <a:spcPts val="400"/>
              </a:spcAft>
            </a:pPr>
            <a:r>
              <a:rPr sz="1600" b="0">
                <a:solidFill>
                  <a:srgbClr val="1F2A3A"/>
                </a:solidFill>
                <a:latin typeface="맑은 고딕"/>
                <a:ea typeface="맑은 고딕"/>
                <a:cs typeface="맑은 고딕"/>
              </a:rPr>
              <a:t>판본을 배포해</a:t>
            </a:r>
          </a:p>
          <a:p>
            <a:pPr algn="ctr" eaLnBrk="0">
              <a:lnSpc>
                <a:spcPct val="110000"/>
              </a:lnSpc>
              <a:spcAft>
                <a:spcPts val="400"/>
              </a:spcAft>
            </a:pPr>
            <a:r>
              <a:rPr sz="1600" b="0">
                <a:solidFill>
                  <a:srgbClr val="1F2A3A"/>
                </a:solidFill>
                <a:latin typeface="맑은 고딕"/>
                <a:ea typeface="맑은 고딕"/>
                <a:cs typeface="맑은 고딕"/>
              </a:rPr>
              <a:t>경보마다</a:t>
            </a:r>
          </a:p>
          <a:p>
            <a:pPr algn="ctr" eaLnBrk="0">
              <a:lnSpc>
                <a:spcPct val="110000"/>
              </a:lnSpc>
              <a:spcAft>
                <a:spcPts val="400"/>
              </a:spcAft>
            </a:pPr>
            <a:r>
              <a:rPr sz="1600" b="0">
                <a:solidFill>
                  <a:srgbClr val="1F2A3A"/>
                </a:solidFill>
                <a:latin typeface="맑은 고딕"/>
                <a:ea typeface="맑은 고딕"/>
                <a:cs typeface="맑은 고딕"/>
              </a:rPr>
              <a:t>처리 건을 연다</a:t>
            </a:r>
          </a:p>
        </p:txBody>
      </p:sp>
      <p:sp>
        <p:nvSpPr>
          <p:cNvPr id="16" name="Oval 15"/>
          <p:cNvSpPr/>
          <p:nvPr/>
        </p:nvSpPr>
        <p:spPr>
          <a:xfrm>
            <a:off x="7880390" y="2567940"/>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567940"/>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19499"/>
            <a:ext cx="2072579" cy="1795272"/>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모니터링</a:t>
            </a:r>
          </a:p>
          <a:p>
            <a:pPr algn="ctr" eaLnBrk="0">
              <a:lnSpc>
                <a:spcPct val="110000"/>
              </a:lnSpc>
              <a:spcAft>
                <a:spcPts val="400"/>
              </a:spcAft>
            </a:pPr>
            <a:r>
              <a:rPr sz="1600" b="0">
                <a:solidFill>
                  <a:srgbClr val="1F2A3A"/>
                </a:solidFill>
                <a:latin typeface="맑은 고딕"/>
                <a:ea typeface="맑은 고딕"/>
                <a:cs typeface="맑은 고딕"/>
              </a:rPr>
              <a:t>단계별 담당 ·</a:t>
            </a:r>
          </a:p>
          <a:p>
            <a:pPr algn="ctr" eaLnBrk="0">
              <a:lnSpc>
                <a:spcPct val="110000"/>
              </a:lnSpc>
              <a:spcAft>
                <a:spcPts val="400"/>
              </a:spcAft>
            </a:pPr>
            <a:r>
              <a:rPr sz="1600" b="0">
                <a:solidFill>
                  <a:srgbClr val="1F2A3A"/>
                </a:solidFill>
                <a:latin typeface="맑은 고딕"/>
                <a:ea typeface="맑은 고딕"/>
                <a:cs typeface="맑은 고딕"/>
              </a:rPr>
              <a:t>대기 · 결과를</a:t>
            </a:r>
          </a:p>
          <a:p>
            <a:pPr algn="ctr" eaLnBrk="0">
              <a:lnSpc>
                <a:spcPct val="110000"/>
              </a:lnSpc>
              <a:spcAft>
                <a:spcPts val="400"/>
              </a:spcAft>
            </a:pPr>
            <a:r>
              <a:rPr sz="1600" b="0">
                <a:solidFill>
                  <a:srgbClr val="1F2A3A"/>
                </a:solidFill>
                <a:latin typeface="맑은 고딕"/>
                <a:ea typeface="맑은 고딕"/>
                <a:cs typeface="맑은 고딕"/>
              </a:rPr>
              <a:t>본다</a:t>
            </a:r>
          </a:p>
        </p:txBody>
      </p:sp>
      <p:sp>
        <p:nvSpPr>
          <p:cNvPr id="19" name="Oval 18"/>
          <p:cNvSpPr/>
          <p:nvPr/>
        </p:nvSpPr>
        <p:spPr>
          <a:xfrm>
            <a:off x="10099273" y="2567940"/>
            <a:ext cx="868680" cy="868680"/>
          </a:xfrm>
          <a:prstGeom prst="ellipse">
            <a:avLst/>
          </a:prstGeom>
          <a:solidFill>
            <a:srgbClr val="5CB8F2"/>
          </a:solidFill>
          <a:ln>
            <a:noFill/>
          </a:ln>
        </p:spPr>
        <p:txBody>
          <a:bodyPr rtlCol="0" anchor="ctr"/>
          <a:lstStyle/>
          <a:p>
            <a:pPr algn="ctr"/>
          </a:p>
        </p:txBody>
      </p:sp>
      <p:sp>
        <p:nvSpPr>
          <p:cNvPr id="20" name="TextBox 19"/>
          <p:cNvSpPr txBox="1"/>
          <p:nvPr/>
        </p:nvSpPr>
        <p:spPr>
          <a:xfrm>
            <a:off x="10099273" y="2567940"/>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19499"/>
            <a:ext cx="2072579" cy="1795272"/>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개선</a:t>
            </a:r>
          </a:p>
          <a:p>
            <a:pPr algn="ctr" eaLnBrk="0">
              <a:lnSpc>
                <a:spcPct val="110000"/>
              </a:lnSpc>
              <a:spcAft>
                <a:spcPts val="400"/>
              </a:spcAft>
            </a:pPr>
            <a:r>
              <a:rPr sz="1600" b="0">
                <a:solidFill>
                  <a:srgbClr val="1F2A3A"/>
                </a:solidFill>
                <a:latin typeface="맑은 고딕"/>
                <a:ea typeface="맑은 고딕"/>
                <a:cs typeface="맑은 고딕"/>
              </a:rPr>
              <a:t>고친 새 판본을</a:t>
            </a:r>
          </a:p>
          <a:p>
            <a:pPr algn="ctr" eaLnBrk="0">
              <a:lnSpc>
                <a:spcPct val="110000"/>
              </a:lnSpc>
              <a:spcAft>
                <a:spcPts val="400"/>
              </a:spcAft>
            </a:pPr>
            <a:r>
              <a:rPr sz="1600" b="0">
                <a:solidFill>
                  <a:srgbClr val="1F2A3A"/>
                </a:solidFill>
                <a:latin typeface="맑은 고딕"/>
                <a:ea typeface="맑은 고딕"/>
                <a:cs typeface="맑은 고딕"/>
              </a:rPr>
              <a:t>다음 경보부터</a:t>
            </a:r>
          </a:p>
          <a:p>
            <a:pPr algn="ctr" eaLnBrk="0">
              <a:lnSpc>
                <a:spcPct val="110000"/>
              </a:lnSpc>
              <a:spcAft>
                <a:spcPts val="400"/>
              </a:spcAft>
            </a:pPr>
            <a:r>
              <a:rPr sz="1600" b="0">
                <a:solidFill>
                  <a:srgbClr val="1F2A3A"/>
                </a:solidFill>
                <a:latin typeface="맑은 고딕"/>
                <a:ea typeface="맑은 고딕"/>
                <a:cs typeface="맑은 고딕"/>
              </a:rPr>
              <a:t>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모니터링 기록으로 개선 제안 가리기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오래 걸린 단계라고 곧바로 없애지 않고, 그 시간이 무엇에 쓰였는지 기록으로 가린 뒤 고칠 곳을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개선 제안</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기록에서 먼저 볼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재관측이 길다, 빼자</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 처리와 유온 회복은 서로 다른 사실이다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유지</a:t>
            </a:r>
          </a:p>
          <a:p>
            <a:pPr algn="l" eaLnBrk="0">
              <a:lnSpc>
                <a:spcPct val="110000"/>
              </a:lnSpc>
            </a:pPr>
            <a:r>
              <a:rPr sz="1250" b="1">
                <a:solidFill>
                  <a:srgbClr val="556175"/>
                </a:solidFill>
                <a:latin typeface="맑은 고딕"/>
                <a:ea typeface="맑은 고딕"/>
                <a:cs typeface="맑은 고딕"/>
              </a:rPr>
              <a:t>효과를 확인하는 시간</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대기를 줄이자</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담당자가 몰랐는지, 알림이 갔는지</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승인은 두고</a:t>
            </a:r>
          </a:p>
          <a:p>
            <a:pPr algn="l" eaLnBrk="0">
              <a:lnSpc>
                <a:spcPct val="110000"/>
              </a:lnSpc>
            </a:pPr>
            <a:r>
              <a:rPr sz="1250" b="1">
                <a:solidFill>
                  <a:srgbClr val="556175"/>
                </a:solidFill>
                <a:latin typeface="맑은 고딕"/>
                <a:ea typeface="맑은 고딕"/>
                <a:cs typeface="맑은 고딕"/>
              </a:rPr>
              <a:t>알림 · 배정을 고친다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 단계를 줄이자</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 시간에서 차지한 몫,</a:t>
            </a:r>
          </a:p>
          <a:p>
            <a:pPr algn="l" eaLnBrk="0">
              <a:lnSpc>
                <a:spcPct val="110000"/>
              </a:lnSpc>
            </a:pPr>
            <a:r>
              <a:rPr sz="1400" b="0">
                <a:solidFill>
                  <a:srgbClr val="1F2A3A"/>
                </a:solidFill>
                <a:latin typeface="맑은 고딕"/>
                <a:ea typeface="맑은 고딕"/>
                <a:cs typeface="맑은 고딕"/>
              </a:rPr>
              <a:t>같은 종류 처리 건 여러 건</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개선 후보</a:t>
            </a:r>
          </a:p>
          <a:p>
            <a:pPr algn="l" eaLnBrk="0">
              <a:lnSpc>
                <a:spcPct val="110000"/>
              </a:lnSpc>
            </a:pPr>
            <a:r>
              <a:rPr sz="1250" b="1">
                <a:solidFill>
                  <a:srgbClr val="1A6FC4"/>
                </a:solidFill>
                <a:latin typeface="맑은 고딕"/>
                <a:ea typeface="맑은 고딕"/>
                <a:cs typeface="맑은 고딕"/>
              </a:rPr>
              <a:t>같은 경계로 견준다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BPMN의 흐름:</a:t>
            </a:r>
          </a:p>
          <a:p>
            <a:pPr algn="l" eaLnBrk="0">
              <a:lnSpc>
                <a:spcPct val="110000"/>
              </a:lnSpc>
            </a:pPr>
            <a:r>
              <a:rPr sz="3400" b="1">
                <a:solidFill>
                  <a:srgbClr val="13294B"/>
                </a:solidFill>
                <a:latin typeface="맑은 고딕"/>
                <a:ea typeface="맑은 고딕"/>
                <a:cs typeface="맑은 고딕"/>
              </a:rPr>
              <a:t>이벤트 · 작업 · 게이트웨이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도형으로 순서와 갈림을 그리고, 그림 파일과 실행할 정의의 차이를 가른다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문장으로 적은 절차와 BPMN으로 그린 절차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BPMN</a:t>
            </a:r>
            <a:r>
              <a:rPr sz="1600" b="0">
                <a:solidFill>
                  <a:srgbClr val="556175"/>
                </a:solidFill>
                <a:latin typeface="맑은 고딕"/>
                <a:ea typeface="맑은 고딕"/>
                <a:cs typeface="맑은 고딕"/>
              </a:rPr>
              <a:t>(Business Process Model and Notation)은 도형과 선의 뜻을 정한 표기 표준이라, 문장에 묻힌 갈림이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문장으로 적으면</a:t>
            </a:r>
          </a:p>
        </p:txBody>
      </p:sp>
      <p:sp>
        <p:nvSpPr>
          <p:cNvPr id="8" name="TextBox 7"/>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「승인하면 … 아니면 … 거절하면」이 흩어진다</a:t>
            </a:r>
          </a:p>
          <a:p>
            <a:pPr algn="l" eaLnBrk="0" marL="200025" indent="-200025">
              <a:lnSpc>
                <a:spcPct val="110000"/>
              </a:lnSpc>
              <a:spcAft>
                <a:spcPts val="600"/>
              </a:spcAft>
            </a:pPr>
            <a:r>
              <a:rPr sz="1750" b="0">
                <a:solidFill>
                  <a:srgbClr val="1F2A3A"/>
                </a:solidFill>
                <a:latin typeface="맑은 고딕"/>
                <a:ea typeface="맑은 고딕"/>
                <a:cs typeface="맑은 고딕"/>
              </a:rPr>
              <a:t>• 재관측과 보고를 누가 하는지 빠지기 쉽다</a:t>
            </a:r>
          </a:p>
          <a:p>
            <a:pPr algn="l" eaLnBrk="0" marL="200025" indent="-200025">
              <a:lnSpc>
                <a:spcPct val="110000"/>
              </a:lnSpc>
              <a:spcAft>
                <a:spcPts val="600"/>
              </a:spcAft>
            </a:pPr>
            <a:r>
              <a:rPr sz="1750" b="0">
                <a:solidFill>
                  <a:srgbClr val="1F2A3A"/>
                </a:solidFill>
                <a:latin typeface="맑은 고딕"/>
                <a:ea typeface="맑은 고딕"/>
                <a:cs typeface="맑은 고딕"/>
              </a:rPr>
              <a:t>• 알림 뒤에도 기다리는지 사람마다 달리 읽는다</a:t>
            </a:r>
          </a:p>
        </p:txBody>
      </p:sp>
      <p:sp>
        <p:nvSpPr>
          <p:cNvPr id="9" name="Rounded Rectangle 8"/>
          <p:cNvSpPr/>
          <p:nvPr/>
        </p:nvSpPr>
        <p:spPr>
          <a:xfrm>
            <a:off x="868680" y="5362638"/>
            <a:ext cx="11734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달리 읽힌다</a:t>
            </a:r>
          </a:p>
        </p:txBody>
      </p:sp>
      <p:sp>
        <p:nvSpPr>
          <p:cNvPr id="11" name="Rounded Rectangle 10"/>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BPMN으로 그리면</a:t>
            </a:r>
          </a:p>
        </p:txBody>
      </p:sp>
      <p:sp>
        <p:nvSpPr>
          <p:cNvPr id="13" name="TextBox 12"/>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갈림은 마름모, 끝은 굵은 원으로 센다</a:t>
            </a:r>
          </a:p>
          <a:p>
            <a:pPr algn="l" eaLnBrk="0" marL="200025" indent="-200025">
              <a:lnSpc>
                <a:spcPct val="110000"/>
              </a:lnSpc>
              <a:spcAft>
                <a:spcPts val="600"/>
              </a:spcAft>
            </a:pPr>
            <a:r>
              <a:rPr sz="1750" b="0">
                <a:solidFill>
                  <a:srgbClr val="1F2A3A"/>
                </a:solidFill>
                <a:latin typeface="맑은 고딕"/>
                <a:ea typeface="맑은 고딕"/>
                <a:cs typeface="맑은 고딕"/>
              </a:rPr>
              <a:t>• 작업은 맡는 쪽의 레인에 놓인다</a:t>
            </a:r>
          </a:p>
          <a:p>
            <a:pPr algn="l" eaLnBrk="0" marL="200025" indent="-200025">
              <a:lnSpc>
                <a:spcPct val="110000"/>
              </a:lnSpc>
              <a:spcAft>
                <a:spcPts val="600"/>
              </a:spcAft>
            </a:pPr>
            <a:r>
              <a:rPr sz="1750" b="0">
                <a:solidFill>
                  <a:srgbClr val="1F2A3A"/>
                </a:solidFill>
                <a:latin typeface="맑은 고딕"/>
                <a:ea typeface="맑은 고딕"/>
                <a:cs typeface="맑은 고딕"/>
              </a:rPr>
              <a:t>• 기다림은 작업에 붙은 타이머의 선 모양으로 정해진다</a:t>
            </a:r>
          </a:p>
        </p:txBody>
      </p:sp>
      <p:sp>
        <p:nvSpPr>
          <p:cNvPr id="14" name="Rounded Rectangle 13"/>
          <p:cNvSpPr/>
          <p:nvPr/>
        </p:nvSpPr>
        <p:spPr>
          <a:xfrm>
            <a:off x="6781647" y="5362638"/>
            <a:ext cx="167639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62638"/>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같은 뜻으로 읽힌다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장으로 그린 긴급 대응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프로세스는 풀 하나 · 레인 셋 위에 갈림 둘과 끝 셋으로 그려져, 승인 없이는 명령에 닿지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Picture 5" descr="illust_7339602621393044893_1793113376.png"/>
          <p:cNvPicPr>
            <a:picLocks noChangeAspect="1"/>
          </p:cNvPicPr>
          <p:nvPr/>
        </p:nvPicPr>
        <p:blipFill>
          <a:blip r:embed="rId3"/>
          <a:stretch>
            <a:fillRect/>
          </a:stretch>
        </p:blipFill>
        <p:spPr>
          <a:xfrm>
            <a:off x="548640" y="2403348"/>
            <a:ext cx="7223760" cy="3130296"/>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세 칸</a:t>
            </a:r>
          </a:p>
          <a:p>
            <a:pPr algn="l" eaLnBrk="0">
              <a:lnSpc>
                <a:spcPct val="110000"/>
              </a:lnSpc>
              <a:spcAft>
                <a:spcPts val="400"/>
              </a:spcAft>
            </a:pPr>
            <a:r>
              <a:rPr sz="1400" b="0">
                <a:solidFill>
                  <a:srgbClr val="1F2A3A"/>
                </a:solidFill>
                <a:latin typeface="맑은 고딕"/>
                <a:ea typeface="맑은 고딕"/>
                <a:cs typeface="맑은 고딕"/>
              </a:rPr>
              <a:t>위에서부터 담당자 · 에이전트 · 시스템 레인</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봉투 원 → 표식 없는 상자</a:t>
            </a:r>
          </a:p>
          <a:p>
            <a:pPr algn="l" eaLnBrk="0">
              <a:lnSpc>
                <a:spcPct val="110000"/>
              </a:lnSpc>
              <a:spcAft>
                <a:spcPts val="400"/>
              </a:spcAft>
            </a:pPr>
            <a:r>
              <a:rPr sz="1400" b="0">
                <a:solidFill>
                  <a:srgbClr val="1F2A3A"/>
                </a:solidFill>
                <a:latin typeface="맑은 고딕"/>
                <a:ea typeface="맑은 고딕"/>
                <a:cs typeface="맑은 고딕"/>
              </a:rPr>
              <a:t>쿨러 과열 경보 → 원인 진단 · 냉각 조치 제안</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사람 표식 상자 → 마름모</a:t>
            </a:r>
          </a:p>
          <a:p>
            <a:pPr algn="l" eaLnBrk="0">
              <a:lnSpc>
                <a:spcPct val="110000"/>
              </a:lnSpc>
              <a:spcAft>
                <a:spcPts val="400"/>
              </a:spcAft>
            </a:pPr>
            <a:r>
              <a:rPr sz="1400" b="0">
                <a:solidFill>
                  <a:srgbClr val="1F2A3A"/>
                </a:solidFill>
                <a:latin typeface="맑은 고딕"/>
                <a:ea typeface="맑은 고딕"/>
                <a:cs typeface="맑은 고딕"/>
              </a:rPr>
              <a:t>운전원 승인 → 승인?, 승인이면 아래 칸의 냉각 명령으로</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점선 시계 · 굵은 원 셋</a:t>
            </a:r>
          </a:p>
          <a:p>
            <a:pPr algn="l" eaLnBrk="0">
              <a:lnSpc>
                <a:spcPct val="110000"/>
              </a:lnSpc>
              <a:spcAft>
                <a:spcPts val="400"/>
              </a:spcAft>
            </a:pPr>
            <a:r>
              <a:rPr sz="1400" b="0">
                <a:solidFill>
                  <a:srgbClr val="1F2A3A"/>
                </a:solidFill>
                <a:latin typeface="맑은 고딕"/>
                <a:ea typeface="맑은 고딕"/>
                <a:cs typeface="맑은 고딕"/>
              </a:rPr>
              <a:t>승인 지연 알림 갈래, 그리고 끝 · 거절 종결 · 알림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도형의 종류와 긴급 대응 프로세스에서의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원은 사건, 둥근 사각형은 작업, 마름모는 갈림이고, 작업의 표식이 사람 · 시스템 · 연결 때 정할 쪽을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모양과 뜻</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긴급 대응에서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메시지 시작 이벤트</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가는 원 안의 봉투</a:t>
            </a:r>
          </a:p>
          <a:p>
            <a:pPr algn="l" eaLnBrk="0">
              <a:lnSpc>
                <a:spcPct val="110000"/>
              </a:lnSpc>
            </a:pPr>
            <a:r>
              <a:rPr sz="1400" b="0">
                <a:solidFill>
                  <a:srgbClr val="1F2A3A"/>
                </a:solidFill>
                <a:latin typeface="맑은 고딕"/>
                <a:ea typeface="맑은 고딕"/>
                <a:cs typeface="맑은 고딕"/>
              </a:rPr>
              <a:t>메시지를 받으면 흐름을 연다</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과열 경보</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끝 이벤트</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굵은 원</a:t>
            </a:r>
          </a:p>
          <a:p>
            <a:pPr algn="l" eaLnBrk="0">
              <a:lnSpc>
                <a:spcPct val="110000"/>
              </a:lnSpc>
            </a:pPr>
            <a:r>
              <a:rPr sz="1400" b="0">
                <a:solidFill>
                  <a:srgbClr val="1F2A3A"/>
                </a:solidFill>
                <a:latin typeface="맑은 고딕"/>
                <a:ea typeface="맑은 고딕"/>
                <a:cs typeface="맑은 고딕"/>
              </a:rPr>
              <a:t>도착한 갈래를 닫는다</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끝 · 거절 종결 · 알림</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작업(Task)</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표식 없는 둥근 사각형</a:t>
            </a:r>
          </a:p>
          <a:p>
            <a:pPr algn="l" eaLnBrk="0">
              <a:lnSpc>
                <a:spcPct val="110000"/>
              </a:lnSpc>
            </a:pPr>
            <a:r>
              <a:rPr sz="1400" b="0">
                <a:solidFill>
                  <a:srgbClr val="1F2A3A"/>
                </a:solidFill>
                <a:latin typeface="맑은 고딕"/>
                <a:ea typeface="맑은 고딕"/>
                <a:cs typeface="맑은 고딕"/>
              </a:rPr>
              <a:t>수행자는 실행 연결 때 정한다</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진단 ·</a:t>
            </a:r>
          </a:p>
          <a:p>
            <a:pPr algn="l" eaLnBrk="0">
              <a:lnSpc>
                <a:spcPct val="110000"/>
              </a:lnSpc>
            </a:pPr>
            <a:r>
              <a:rPr sz="1250" b="1">
                <a:solidFill>
                  <a:srgbClr val="556175"/>
                </a:solidFill>
                <a:latin typeface="맑은 고딕"/>
                <a:ea typeface="맑은 고딕"/>
                <a:cs typeface="맑은 고딕"/>
              </a:rPr>
              <a:t>냉각 조치 제안</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사용자 작업(User Task)</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 표식</a:t>
            </a:r>
          </a:p>
          <a:p>
            <a:pPr algn="l" eaLnBrk="0">
              <a:lnSpc>
                <a:spcPct val="110000"/>
              </a:lnSpc>
            </a:pPr>
            <a:r>
              <a:rPr sz="1400" b="0">
                <a:solidFill>
                  <a:srgbClr val="1F2A3A"/>
                </a:solidFill>
                <a:latin typeface="맑은 고딕"/>
                <a:ea typeface="맑은 고딕"/>
                <a:cs typeface="맑은 고딕"/>
              </a:rPr>
              <a:t>사람이 수행한다</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서비스 작업(Service Task)</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톱니 표식</a:t>
            </a:r>
          </a:p>
          <a:p>
            <a:pPr algn="l" eaLnBrk="0">
              <a:lnSpc>
                <a:spcPct val="110000"/>
              </a:lnSpc>
            </a:pPr>
            <a:r>
              <a:rPr sz="1400" b="0">
                <a:solidFill>
                  <a:srgbClr val="1F2A3A"/>
                </a:solidFill>
                <a:latin typeface="맑은 고딕"/>
                <a:ea typeface="맑은 고딕"/>
                <a:cs typeface="맑은 고딕"/>
              </a:rPr>
              <a:t>시스템이 수행한다</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냉각 명령 · 재관측 ·</a:t>
            </a:r>
          </a:p>
          <a:p>
            <a:pPr algn="l" eaLnBrk="0">
              <a:lnSpc>
                <a:spcPct val="110000"/>
              </a:lnSpc>
            </a:pPr>
            <a:r>
              <a:rPr sz="1250" b="1">
                <a:solidFill>
                  <a:srgbClr val="556175"/>
                </a:solidFill>
                <a:latin typeface="맑은 고딕"/>
                <a:ea typeface="맑은 고딕"/>
                <a:cs typeface="맑은 고딕"/>
              </a:rPr>
              <a:t>작업지시 · 결과 보고</a:t>
            </a:r>
          </a:p>
        </p:txBody>
      </p:sp>
      <p:sp>
        <p:nvSpPr>
          <p:cNvPr id="30" name="Rounded Rectangle 29"/>
          <p:cNvSpPr/>
          <p:nvPr/>
        </p:nvSpPr>
        <p:spPr>
          <a:xfrm>
            <a:off x="548640" y="5151337"/>
            <a:ext cx="11094415" cy="553865"/>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배타 게이트웨이</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가위표 마름모</a:t>
            </a:r>
          </a:p>
          <a:p>
            <a:pPr algn="l" eaLnBrk="0">
              <a:lnSpc>
                <a:spcPct val="110000"/>
              </a:lnSpc>
            </a:pPr>
            <a:r>
              <a:rPr sz="1400" b="0">
                <a:solidFill>
                  <a:srgbClr val="1F2A3A"/>
                </a:solidFill>
                <a:latin typeface="맑은 고딕"/>
                <a:ea typeface="맑은 고딕"/>
                <a:cs typeface="맑은 고딕"/>
              </a:rPr>
              <a:t>조건이 참인 한 갈래로만 보낸다</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 유온 정상?</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시퀀스 흐름</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실선 화살표</a:t>
            </a:r>
          </a:p>
          <a:p>
            <a:pPr algn="l" eaLnBrk="0">
              <a:lnSpc>
                <a:spcPct val="110000"/>
              </a:lnSpc>
            </a:pPr>
            <a:r>
              <a:rPr sz="1400" b="0">
                <a:solidFill>
                  <a:srgbClr val="1F2A3A"/>
                </a:solidFill>
                <a:latin typeface="맑은 고딕"/>
                <a:ea typeface="맑은 고딕"/>
                <a:cs typeface="맑은 고딕"/>
              </a:rPr>
              <a:t>같은 풀 안의 순서</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경보에서 끝까지</a:t>
            </a:r>
          </a:p>
          <a:p>
            <a:pPr algn="l" eaLnBrk="0">
              <a:lnSpc>
                <a:spcPct val="110000"/>
              </a:lnSpc>
            </a:pPr>
            <a:r>
              <a:rPr sz="1250" b="1">
                <a:solidFill>
                  <a:srgbClr val="556175"/>
                </a:solidFill>
                <a:latin typeface="맑은 고딕"/>
                <a:ea typeface="맑은 고딕"/>
                <a:cs typeface="맑은 고딕"/>
              </a:rPr>
              <a:t>잇는 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그림의 작업마다 붙는 실행 기능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그림이라도 작업마다 실행 기능과 맡을 쪽을 연결해야 에이전트 · 운전원 · 시스템이 실제로 움직인다.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그림의 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연결되는 실행 기능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그림에 없는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과열 경보(시작)</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패턴 COOLER_DEGRADATION</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어떤 경보가</a:t>
            </a:r>
          </a:p>
          <a:p>
            <a:pPr algn="l" eaLnBrk="0">
              <a:lnSpc>
                <a:spcPct val="110000"/>
              </a:lnSpc>
            </a:pPr>
            <a:r>
              <a:rPr sz="1250" b="1">
                <a:solidFill>
                  <a:srgbClr val="556175"/>
                </a:solidFill>
                <a:latin typeface="맑은 고딕"/>
                <a:ea typeface="맑은 고딕"/>
                <a:cs typeface="맑은 고딕"/>
              </a:rPr>
              <a:t>이 흐름을 여는지</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task:decide · 냉각 긴급 대응 에이전트</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어느 에이전트에</a:t>
            </a:r>
          </a:p>
          <a:p>
            <a:pPr algn="l" eaLnBrk="0">
              <a:lnSpc>
                <a:spcPct val="110000"/>
              </a:lnSpc>
            </a:pPr>
            <a:r>
              <a:rPr sz="1250" b="1">
                <a:solidFill>
                  <a:srgbClr val="556175"/>
                </a:solidFill>
                <a:latin typeface="맑은 고딕"/>
                <a:ea typeface="맑은 고딕"/>
                <a:cs typeface="맑은 고딕"/>
              </a:rPr>
              <a:t>무엇을 맡기는지</a:t>
            </a:r>
          </a:p>
        </p:txBody>
      </p:sp>
      <p:sp>
        <p:nvSpPr>
          <p:cNvPr id="18" name="Rounded Rectangle 17"/>
          <p:cNvSpPr/>
          <p:nvPr/>
        </p:nvSpPr>
        <p:spPr>
          <a:xfrm>
            <a:off x="548640" y="3503676"/>
            <a:ext cx="11094415" cy="656843"/>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task:select-or-reject · 운전원 역할</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누가 승인할</a:t>
            </a:r>
          </a:p>
          <a:p>
            <a:pPr algn="l" eaLnBrk="0">
              <a:lnSpc>
                <a:spcPct val="110000"/>
              </a:lnSpc>
            </a:pPr>
            <a:r>
              <a:rPr sz="1250" b="1">
                <a:solidFill>
                  <a:srgbClr val="1A6FC4"/>
                </a:solidFill>
                <a:latin typeface="맑은 고딕"/>
                <a:ea typeface="맑은 고딕"/>
                <a:cs typeface="맑은 고딕"/>
              </a:rPr>
              <a:t>권한이 있는지</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 · 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task:command · task:reobserve</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PLC 명령과</a:t>
            </a:r>
          </a:p>
          <a:p>
            <a:pPr algn="l" eaLnBrk="0">
              <a:lnSpc>
                <a:spcPct val="110000"/>
              </a:lnSpc>
            </a:pPr>
            <a:r>
              <a:rPr sz="1250" b="1">
                <a:solidFill>
                  <a:srgbClr val="556175"/>
                </a:solidFill>
                <a:latin typeface="맑은 고딕"/>
                <a:ea typeface="맑은 고딕"/>
                <a:cs typeface="맑은 고딕"/>
              </a:rPr>
              <a:t>회복 판정의 실행</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task:work-order</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CMMS에</a:t>
            </a:r>
          </a:p>
          <a:p>
            <a:pPr algn="l" eaLnBrk="0">
              <a:lnSpc>
                <a:spcPct val="110000"/>
              </a:lnSpc>
            </a:pPr>
            <a:r>
              <a:rPr sz="1250" b="1">
                <a:solidFill>
                  <a:srgbClr val="556175"/>
                </a:solidFill>
                <a:latin typeface="맑은 고딕"/>
                <a:ea typeface="맑은 고딕"/>
                <a:cs typeface="맑은 고딕"/>
              </a:rPr>
              <a:t>남길 작업</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넷</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svc:report</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값과</a:t>
            </a:r>
          </a:p>
          <a:p>
            <a:pPr algn="l" eaLnBrk="0">
              <a:lnSpc>
                <a:spcPct val="110000"/>
              </a:lnSpc>
            </a:pPr>
            <a:r>
              <a:rPr sz="1250" b="1">
                <a:solidFill>
                  <a:srgbClr val="556175"/>
                </a:solidFill>
                <a:latin typeface="맑은 고딕"/>
                <a:ea typeface="맑은 고딕"/>
                <a:cs typeface="맑은 고딕"/>
              </a:rPr>
              <a:t>보고 문장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선 이름과 갈림 조건: 그림 파일과 연결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그림 파일의 선 이름 「승인」은 표시일 뿐이고, 어느 갈래로 갈지는 연결 값의 조건과 기본 흐름이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그림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(.bpmn)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끝점만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&lt;sequenceFlow id="F_approved" name="</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/&gt;</a:t>
            </a:r>
          </a:p>
          <a:p>
            <a:pPr algn="l" eaLnBrk="0">
              <a:lnSpc>
                <a:spcPct val="110000"/>
              </a:lnSpc>
              <a:spcAft>
                <a:spcPts val="200"/>
              </a:spcAft>
            </a:pPr>
            <a:r>
              <a:rPr sz="1300" b="0">
                <a:solidFill>
                  <a:srgbClr val="E8EEF6"/>
                </a:solidFill>
                <a:latin typeface="Consolas"/>
                <a:ea typeface="맑은 고딕"/>
                <a:cs typeface="맑은 고딕"/>
              </a:rPr>
              <a:t>&lt;sequenceFlow id="F_rejected" name="</a:t>
            </a:r>
            <a:r>
              <a:rPr sz="1300" b="0">
                <a:solidFill>
                  <a:srgbClr val="E8EEF6"/>
                </a:solidFill>
                <a:latin typeface="맑은 고딕"/>
                <a:ea typeface="맑은 고딕"/>
                <a:cs typeface="맑은 고딕"/>
              </a:rPr>
              <a:t>거절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연결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(mapping.json</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flows)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갈림의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eaLnBrk="0">
              <a:lnSpc>
                <a:spcPct val="110000"/>
              </a:lnSpc>
              <a:spcAft>
                <a:spcPts val="200"/>
              </a:spcAft>
            </a:pPr>
            <a:r>
              <a:rPr sz="1300" b="0">
                <a:solidFill>
                  <a:srgbClr val="E8EEF6"/>
                </a:solidFill>
                <a:latin typeface="Consolas"/>
                <a:ea typeface="맑은 고딕"/>
                <a:cs typeface="맑은 고딕"/>
              </a:rPr>
              <a:t>F_approved   approval ==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F_rejected   default (</a:t>
            </a:r>
            <a:r>
              <a:rPr sz="1300" b="0">
                <a:solidFill>
                  <a:srgbClr val="E8EEF6"/>
                </a:solidFill>
                <a:latin typeface="맑은 고딕"/>
                <a:ea typeface="맑은 고딕"/>
                <a:cs typeface="맑은 고딕"/>
              </a:rPr>
              <a:t>기본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흐름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F_yes        recovered == true</a:t>
            </a:r>
          </a:p>
          <a:p>
            <a:pPr algn="l" eaLnBrk="0">
              <a:lnSpc>
                <a:spcPct val="110000"/>
              </a:lnSpc>
              <a:spcAft>
                <a:spcPts val="200"/>
              </a:spcAft>
            </a:pPr>
            <a:r>
              <a:rPr sz="1300" b="0">
                <a:solidFill>
                  <a:srgbClr val="E8EEF6"/>
                </a:solidFill>
                <a:latin typeface="Consolas"/>
                <a:ea typeface="맑은 고딕"/>
                <a:cs typeface="맑은 고딕"/>
              </a:rPr>
              <a:t>F_no         default (</a:t>
            </a:r>
            <a:r>
              <a:rPr sz="1300" b="0">
                <a:solidFill>
                  <a:srgbClr val="E8EEF6"/>
                </a:solidFill>
                <a:latin typeface="맑은 고딕"/>
                <a:ea typeface="맑은 고딕"/>
                <a:cs typeface="맑은 고딕"/>
              </a:rPr>
              <a:t>기본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흐름</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name="승인"</a:t>
            </a:r>
          </a:p>
          <a:p>
            <a:pPr algn="l" eaLnBrk="0">
              <a:lnSpc>
                <a:spcPct val="110000"/>
              </a:lnSpc>
              <a:spcAft>
                <a:spcPts val="400"/>
              </a:spcAft>
            </a:pPr>
            <a:r>
              <a:rPr sz="1350" b="0">
                <a:solidFill>
                  <a:srgbClr val="1F2A3A"/>
                </a:solidFill>
                <a:latin typeface="맑은 고딕"/>
                <a:ea typeface="맑은 고딕"/>
                <a:cs typeface="맑은 고딕"/>
              </a:rPr>
              <a:t>그림에 보이는 선 이름이다. 실행 조건이 아니다.</a:t>
            </a:r>
          </a:p>
        </p:txBody>
      </p:sp>
      <p:sp>
        <p:nvSpPr>
          <p:cNvPr id="9" name="TextBox 8"/>
          <p:cNvSpPr txBox="1"/>
          <p:nvPr/>
        </p:nvSpPr>
        <p:spPr>
          <a:xfrm>
            <a:off x="7635240" y="3473153"/>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approval == '승인'</a:t>
            </a:r>
          </a:p>
          <a:p>
            <a:pPr algn="l" eaLnBrk="0">
              <a:lnSpc>
                <a:spcPct val="110000"/>
              </a:lnSpc>
              <a:spcAft>
                <a:spcPts val="400"/>
              </a:spcAft>
            </a:pPr>
            <a:r>
              <a:rPr sz="1400" b="0">
                <a:solidFill>
                  <a:srgbClr val="1F2A3A"/>
                </a:solidFill>
                <a:latin typeface="맑은 고딕"/>
                <a:ea typeface="맑은 고딕"/>
                <a:cs typeface="맑은 고딕"/>
              </a:rPr>
              <a:t>운전원 승인 작업이 낸 값으로 갈래를 고르는 조건이다.</a:t>
            </a:r>
          </a:p>
        </p:txBody>
      </p:sp>
      <p:sp>
        <p:nvSpPr>
          <p:cNvPr id="10" name="TextBox 9"/>
          <p:cNvSpPr txBox="1"/>
          <p:nvPr/>
        </p:nvSpPr>
        <p:spPr>
          <a:xfrm>
            <a:off x="7635240" y="4509558"/>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기본 흐름(Default Flow)</a:t>
            </a:r>
          </a:p>
          <a:p>
            <a:pPr algn="l" eaLnBrk="0">
              <a:lnSpc>
                <a:spcPct val="110000"/>
              </a:lnSpc>
              <a:spcAft>
                <a:spcPts val="400"/>
              </a:spcAft>
            </a:pPr>
            <a:r>
              <a:rPr sz="1400" b="0">
                <a:solidFill>
                  <a:srgbClr val="1F2A3A"/>
                </a:solidFill>
                <a:latin typeface="맑은 고딕"/>
                <a:ea typeface="맑은 고딕"/>
                <a:cs typeface="맑은 고딕"/>
              </a:rPr>
              <a:t>어느 조건도 참이 아닐 때 가는 선이다.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기본 흐름이 빠진 갈림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정상? 게이트웨이의 「예」 선에만 조건을 넣고, 「아니오」 선에는 조건도 기본 흐름 표시도 두지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재관측이 회복하지 못했다는 값을 냈을 때 일어나는 일은?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엔진이 선 이름 「아니오」를 읽어 미달 보고로 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맞는 선이 없어 그 자리에서 넘어가지 못하고, 사유가 기록된다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「예」 선으로 가서 작업지시가 등록된다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거절 종결로 닫힌다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BPMN의 책임과 기다림:</a:t>
            </a:r>
          </a:p>
          <a:p>
            <a:pPr algn="l" eaLnBrk="0">
              <a:lnSpc>
                <a:spcPct val="110000"/>
              </a:lnSpc>
            </a:pPr>
            <a:r>
              <a:rPr sz="3400" b="1">
                <a:solidFill>
                  <a:srgbClr val="13294B"/>
                </a:solidFill>
                <a:latin typeface="맑은 고딕"/>
                <a:ea typeface="맑은 고딕"/>
                <a:cs typeface="맑은 고딕"/>
              </a:rPr>
              <a:t>레인 · 경계 타이머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맡는 쪽은 칸으로, 응답이 늦을 때의 처리는 경계 타이머로 정한다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풀 · 레인 · 메시지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풀은 참여자, 레인은 그 안의 책임 칸이고, 다른 참여자와 주고받는 일만 점선의 메시지 흐름으로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풀</a:t>
            </a:r>
          </a:p>
          <a:p>
            <a:pPr algn="l" eaLnBrk="0">
              <a:lnSpc>
                <a:spcPct val="110000"/>
              </a:lnSpc>
              <a:spcAft>
                <a:spcPts val="200"/>
              </a:spcAft>
            </a:pPr>
            <a:r>
              <a:rPr sz="1150" b="0">
                <a:solidFill>
                  <a:srgbClr val="556175"/>
                </a:solidFill>
                <a:latin typeface="맑은 고딕"/>
                <a:ea typeface="맑은 고딕"/>
                <a:cs typeface="맑은 고딕"/>
              </a:rPr>
              <a:t>Pool</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참여자 하나의 영역이다.</a:t>
            </a:r>
          </a:p>
          <a:p>
            <a:pPr algn="l" eaLnBrk="0">
              <a:lnSpc>
                <a:spcPct val="110000"/>
              </a:lnSpc>
              <a:spcAft>
                <a:spcPts val="300"/>
              </a:spcAft>
            </a:pPr>
            <a:r>
              <a:rPr sz="1400" b="0">
                <a:solidFill>
                  <a:srgbClr val="1F2A3A"/>
                </a:solidFill>
                <a:latin typeface="맑은 고딕"/>
                <a:ea typeface="맑은 고딕"/>
                <a:cs typeface="맑은 고딕"/>
              </a:rPr>
              <a:t>긴급 대응은 풀 하나 「냉각 긴급 대응」으로 그린다.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레인</a:t>
            </a:r>
          </a:p>
          <a:p>
            <a:pPr algn="l" eaLnBrk="0">
              <a:lnSpc>
                <a:spcPct val="110000"/>
              </a:lnSpc>
              <a:spcAft>
                <a:spcPts val="200"/>
              </a:spcAft>
            </a:pPr>
            <a:r>
              <a:rPr sz="1150" b="0">
                <a:solidFill>
                  <a:srgbClr val="556175"/>
                </a:solidFill>
                <a:latin typeface="맑은 고딕"/>
                <a:ea typeface="맑은 고딕"/>
                <a:cs typeface="맑은 고딕"/>
              </a:rPr>
              <a:t>Lane</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풀 안에서 활동을 나누는 칸이다.</a:t>
            </a:r>
          </a:p>
          <a:p>
            <a:pPr algn="l" eaLnBrk="0">
              <a:lnSpc>
                <a:spcPct val="110000"/>
              </a:lnSpc>
              <a:spcAft>
                <a:spcPts val="300"/>
              </a:spcAft>
            </a:pPr>
            <a:r>
              <a:rPr sz="1400" b="0">
                <a:solidFill>
                  <a:srgbClr val="1F2A3A"/>
                </a:solidFill>
                <a:latin typeface="맑은 고딕"/>
                <a:ea typeface="맑은 고딕"/>
                <a:cs typeface="맑은 고딕"/>
              </a:rPr>
              <a:t>이 흐름은 담당자 · 에이전트 · 시스템의 세 칸으로 책임을 나눈다.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메시지 흐름</a:t>
            </a:r>
          </a:p>
          <a:p>
            <a:pPr algn="l" eaLnBrk="0">
              <a:lnSpc>
                <a:spcPct val="110000"/>
              </a:lnSpc>
              <a:spcAft>
                <a:spcPts val="200"/>
              </a:spcAft>
            </a:pPr>
            <a:r>
              <a:rPr sz="1150" b="0">
                <a:solidFill>
                  <a:srgbClr val="556175"/>
                </a:solidFill>
                <a:latin typeface="맑은 고딕"/>
                <a:ea typeface="맑은 고딕"/>
                <a:cs typeface="맑은 고딕"/>
              </a:rPr>
              <a:t>Message Flow</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서로 다른 풀 사이를 오가는 점선 화살표이다.</a:t>
            </a:r>
          </a:p>
          <a:p>
            <a:pPr algn="l" eaLnBrk="0">
              <a:lnSpc>
                <a:spcPct val="110000"/>
              </a:lnSpc>
              <a:spcAft>
                <a:spcPts val="300"/>
              </a:spcAft>
            </a:pPr>
            <a:r>
              <a:rPr sz="1400" b="0">
                <a:solidFill>
                  <a:srgbClr val="1F2A3A"/>
                </a:solidFill>
                <a:latin typeface="맑은 고딕"/>
                <a:ea typeface="맑은 고딕"/>
                <a:cs typeface="맑은 고딕"/>
              </a:rPr>
              <a:t>풀이 하나인 긴급 대응에는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중단형과 비중단형 경계 타이머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경계 이벤트</a:t>
            </a:r>
            <a:r>
              <a:rPr sz="1600" b="0">
                <a:solidFill>
                  <a:srgbClr val="556175"/>
                </a:solidFill>
                <a:latin typeface="맑은 고딕"/>
                <a:ea typeface="맑은 고딕"/>
                <a:cs typeface="맑은 고딕"/>
              </a:rPr>
              <a:t>(Boundary Event)는 작업에 붙은 사건이라, 타이머의 테두리 모양이 기한 뒤 작업을 끊을지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56700"/>
            <a:ext cx="5181447" cy="286931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757868"/>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중단형(Interrupting)</a:t>
            </a:r>
          </a:p>
        </p:txBody>
      </p:sp>
      <p:sp>
        <p:nvSpPr>
          <p:cNvPr id="8" name="TextBox 7"/>
          <p:cNvSpPr txBox="1"/>
          <p:nvPr/>
        </p:nvSpPr>
        <p:spPr>
          <a:xfrm>
            <a:off x="822959" y="3608260"/>
            <a:ext cx="4632807" cy="1269111"/>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실선 겹테두리</a:t>
            </a:r>
          </a:p>
          <a:p>
            <a:pPr algn="l" eaLnBrk="0" marL="177165" indent="-177165">
              <a:lnSpc>
                <a:spcPct val="110000"/>
              </a:lnSpc>
              <a:spcAft>
                <a:spcPts val="600"/>
              </a:spcAft>
            </a:pPr>
            <a:r>
              <a:rPr sz="1550" b="0">
                <a:solidFill>
                  <a:srgbClr val="1F2A3A"/>
                </a:solidFill>
                <a:latin typeface="맑은 고딕"/>
                <a:ea typeface="맑은 고딕"/>
                <a:cs typeface="맑은 고딕"/>
              </a:rPr>
              <a:t>• 기한이 지나면 작업을 끊고 다른 갈래로 간다</a:t>
            </a:r>
          </a:p>
          <a:p>
            <a:pPr algn="l" eaLnBrk="0" marL="177165" indent="-177165">
              <a:lnSpc>
                <a:spcPct val="110000"/>
              </a:lnSpc>
              <a:spcAft>
                <a:spcPts val="600"/>
              </a:spcAft>
            </a:pPr>
            <a:r>
              <a:rPr sz="1550" b="0">
                <a:solidFill>
                  <a:srgbClr val="1F2A3A"/>
                </a:solidFill>
                <a:latin typeface="맑은 고딕"/>
                <a:ea typeface="맑은 고딕"/>
                <a:cs typeface="맑은 고딕"/>
              </a:rPr>
              <a:t>• 예: 기준 흐름의 선택 시간 초과 → 상급자 호출</a:t>
            </a:r>
          </a:p>
        </p:txBody>
      </p:sp>
      <p:sp>
        <p:nvSpPr>
          <p:cNvPr id="9" name="Rounded Rectangle 8"/>
          <p:cNvSpPr/>
          <p:nvPr/>
        </p:nvSpPr>
        <p:spPr>
          <a:xfrm>
            <a:off x="868680" y="4968811"/>
            <a:ext cx="132587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496881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결정을 넘긴다</a:t>
            </a:r>
          </a:p>
        </p:txBody>
      </p:sp>
      <p:sp>
        <p:nvSpPr>
          <p:cNvPr id="11" name="Rounded Rectangle 10"/>
          <p:cNvSpPr/>
          <p:nvPr/>
        </p:nvSpPr>
        <p:spPr>
          <a:xfrm>
            <a:off x="6461607" y="2556700"/>
            <a:ext cx="5181447" cy="286931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757868"/>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비중단형(Non-interrupting)</a:t>
            </a:r>
          </a:p>
        </p:txBody>
      </p:sp>
      <p:sp>
        <p:nvSpPr>
          <p:cNvPr id="13" name="TextBox 12"/>
          <p:cNvSpPr txBox="1"/>
          <p:nvPr/>
        </p:nvSpPr>
        <p:spPr>
          <a:xfrm>
            <a:off x="6735927" y="3608260"/>
            <a:ext cx="4632807" cy="1269111"/>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점선 겹테두리</a:t>
            </a:r>
          </a:p>
          <a:p>
            <a:pPr algn="l" eaLnBrk="0" marL="177165" indent="-177165">
              <a:lnSpc>
                <a:spcPct val="110000"/>
              </a:lnSpc>
              <a:spcAft>
                <a:spcPts val="600"/>
              </a:spcAft>
            </a:pPr>
            <a:r>
              <a:rPr sz="1550" b="0">
                <a:solidFill>
                  <a:srgbClr val="1F2A3A"/>
                </a:solidFill>
                <a:latin typeface="맑은 고딕"/>
                <a:ea typeface="맑은 고딕"/>
                <a:cs typeface="맑은 고딕"/>
              </a:rPr>
              <a:t>• 작업은 그대로 두고 갈래를 하나 더 연다</a:t>
            </a:r>
          </a:p>
          <a:p>
            <a:pPr algn="l" eaLnBrk="0" marL="177165" indent="-177165">
              <a:lnSpc>
                <a:spcPct val="110000"/>
              </a:lnSpc>
              <a:spcAft>
                <a:spcPts val="600"/>
              </a:spcAft>
            </a:pPr>
            <a:r>
              <a:rPr sz="1550" b="0">
                <a:solidFill>
                  <a:srgbClr val="1F2A3A"/>
                </a:solidFill>
                <a:latin typeface="맑은 고딕"/>
                <a:ea typeface="맑은 고딕"/>
                <a:cs typeface="맑은 고딕"/>
              </a:rPr>
              <a:t>• 예: 수업 흐름의 승인 지연 PT10M → 알림</a:t>
            </a:r>
          </a:p>
        </p:txBody>
      </p:sp>
      <p:sp>
        <p:nvSpPr>
          <p:cNvPr id="14" name="Rounded Rectangle 13"/>
          <p:cNvSpPr/>
          <p:nvPr/>
        </p:nvSpPr>
        <p:spPr>
          <a:xfrm>
            <a:off x="6781647" y="4968811"/>
            <a:ext cx="182880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4968811"/>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같은 사람을 기다린다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작업의 타이머와 역할: 그림과 연결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그림은 타이머가 승인 작업에 붙어 끊지 않는다는 구조를 담고, 10분 기한과 승인 역할은 연결 값이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그림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(.bpmn)</a:t>
            </a:r>
          </a:p>
          <a:p>
            <a:pPr algn="l" eaLnBrk="0">
              <a:lnSpc>
                <a:spcPct val="110000"/>
              </a:lnSpc>
              <a:spcAft>
                <a:spcPts val="200"/>
              </a:spcAft>
            </a:pPr>
            <a:r>
              <a:rPr sz="1300" b="0">
                <a:solidFill>
                  <a:srgbClr val="E8EEF6"/>
                </a:solidFill>
                <a:latin typeface="Consolas"/>
                <a:ea typeface="맑은 고딕"/>
                <a:cs typeface="맑은 고딕"/>
              </a:rPr>
              <a:t>&lt;userTask id="T_approve" name="</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"&gt;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&lt;boundaryEvent id="B_overdue" name="</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attachedToRef="T_approve" cancelActivity="false"&gt;</a:t>
            </a:r>
          </a:p>
          <a:p>
            <a:pPr algn="l" eaLnBrk="0">
              <a:lnSpc>
                <a:spcPct val="110000"/>
              </a:lnSpc>
              <a:spcAft>
                <a:spcPts val="200"/>
              </a:spcAft>
            </a:pPr>
            <a:r>
              <a:rPr sz="1300" b="0">
                <a:solidFill>
                  <a:srgbClr val="E8EEF6"/>
                </a:solidFill>
                <a:latin typeface="Consolas"/>
                <a:ea typeface="맑은 고딕"/>
                <a:cs typeface="맑은 고딕"/>
              </a:rPr>
              <a:t>  &lt;timerEventDefinition /&gt;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연결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(mapping.json)</a:t>
            </a:r>
          </a:p>
          <a:p>
            <a:pPr algn="l" eaLnBrk="0">
              <a:lnSpc>
                <a:spcPct val="110000"/>
              </a:lnSpc>
              <a:spcAft>
                <a:spcPts val="200"/>
              </a:spcAft>
            </a:pPr>
            <a:r>
              <a:rPr sz="1300" b="0">
                <a:solidFill>
                  <a:srgbClr val="E8EEF6"/>
                </a:solidFill>
                <a:latin typeface="Consolas"/>
                <a:ea typeface="맑은 고딕"/>
                <a:cs typeface="맑은 고딕"/>
              </a:rPr>
              <a:t>"timers":    { "B_overdue": "PT10M" }</a:t>
            </a:r>
          </a:p>
          <a:p>
            <a:pPr algn="l" eaLnBrk="0">
              <a:lnSpc>
                <a:spcPct val="110000"/>
              </a:lnSpc>
              <a:spcAft>
                <a:spcPts val="200"/>
              </a:spcAft>
            </a:pPr>
            <a:r>
              <a:rPr sz="1300" b="0">
                <a:solidFill>
                  <a:srgbClr val="E8EEF6"/>
                </a:solidFill>
                <a:latin typeface="Consolas"/>
                <a:ea typeface="맑은 고딕"/>
                <a:cs typeface="맑은 고딕"/>
              </a:rPr>
              <a:t>"T_approve": { "part": "task:select-or-reject",</a:t>
            </a:r>
          </a:p>
          <a:p>
            <a:pPr algn="l" eaLnBrk="0">
              <a:lnSpc>
                <a:spcPct val="110000"/>
              </a:lnSpc>
              <a:spcAft>
                <a:spcPts val="200"/>
              </a:spcAft>
            </a:pPr>
            <a:r>
              <a:rPr sz="1300" b="0">
                <a:solidFill>
                  <a:srgbClr val="E8EEF6"/>
                </a:solidFill>
                <a:latin typeface="Consolas"/>
                <a:ea typeface="맑은 고딕"/>
                <a:cs typeface="맑은 고딕"/>
              </a:rPr>
              <a:t>               "role":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attachedToRef</a:t>
            </a:r>
          </a:p>
          <a:p>
            <a:pPr algn="l" eaLnBrk="0">
              <a:lnSpc>
                <a:spcPct val="110000"/>
              </a:lnSpc>
              <a:spcAft>
                <a:spcPts val="400"/>
              </a:spcAft>
            </a:pPr>
            <a:r>
              <a:rPr sz="1400" b="0">
                <a:solidFill>
                  <a:srgbClr val="1F2A3A"/>
                </a:solidFill>
                <a:latin typeface="맑은 고딕"/>
                <a:ea typeface="맑은 고딕"/>
                <a:cs typeface="맑은 고딕"/>
              </a:rPr>
              <a:t>이 타이머가 운전원 승인 작업에 붙어 있다.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cancelActivity="false"</a:t>
            </a:r>
          </a:p>
          <a:p>
            <a:pPr algn="l" eaLnBrk="0">
              <a:lnSpc>
                <a:spcPct val="110000"/>
              </a:lnSpc>
              <a:spcAft>
                <a:spcPts val="400"/>
              </a:spcAft>
            </a:pPr>
            <a:r>
              <a:rPr sz="1300" b="0">
                <a:solidFill>
                  <a:srgbClr val="1F2A3A"/>
                </a:solidFill>
                <a:latin typeface="맑은 고딕"/>
                <a:ea typeface="맑은 고딕"/>
                <a:cs typeface="맑은 고딕"/>
              </a:rPr>
              <a:t>비중단형이다. 알림 뒤에도 승인 작업이 열려 있다.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PT10M</a:t>
            </a:r>
          </a:p>
          <a:p>
            <a:pPr algn="l" eaLnBrk="0">
              <a:lnSpc>
                <a:spcPct val="110000"/>
              </a:lnSpc>
              <a:spcAft>
                <a:spcPts val="400"/>
              </a:spcAft>
            </a:pPr>
            <a:r>
              <a:rPr sz="1400" b="0">
                <a:solidFill>
                  <a:srgbClr val="1F2A3A"/>
                </a:solidFill>
                <a:latin typeface="맑은 고딕"/>
                <a:ea typeface="맑은 고딕"/>
                <a:cs typeface="맑은 고딕"/>
              </a:rPr>
              <a:t>기간 표기로 10분이다. 기한은 연결 값에 있다.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role</a:t>
            </a:r>
          </a:p>
          <a:p>
            <a:pPr algn="l" eaLnBrk="0">
              <a:lnSpc>
                <a:spcPct val="110000"/>
              </a:lnSpc>
              <a:spcAft>
                <a:spcPts val="400"/>
              </a:spcAft>
            </a:pPr>
            <a:r>
              <a:rPr sz="1400" b="0">
                <a:solidFill>
                  <a:srgbClr val="1F2A3A"/>
                </a:solidFill>
                <a:latin typeface="맑은 고딕"/>
                <a:ea typeface="맑은 고딕"/>
                <a:cs typeface="맑은 고딕"/>
              </a:rPr>
              <a:t>승인할 역할이다. 레인 이름만으로 정해지지 않는다.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실행 정의로 가져올 때 걸리는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편집기에서는 그려져도 실행 정의로 가져올 때 막히는 그림이 있어, 실행할 흐름은 그 범위 안에서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이렇게 그리면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가져올 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고칠 곳</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참여자마다 풀을 따로 그린다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풀이 둘 이상이면 거절</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한 풀 안에</a:t>
            </a:r>
          </a:p>
          <a:p>
            <a:pPr algn="l" eaLnBrk="0">
              <a:lnSpc>
                <a:spcPct val="110000"/>
              </a:lnSpc>
            </a:pPr>
            <a:r>
              <a:rPr sz="1250" b="1">
                <a:solidFill>
                  <a:srgbClr val="556175"/>
                </a:solidFill>
                <a:latin typeface="맑은 고딕"/>
                <a:ea typeface="맑은 고딕"/>
                <a:cs typeface="맑은 고딕"/>
              </a:rPr>
              <a:t>레인으로 나눈다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마름모 없이 선 두 갈래를 뽑는다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조건 없는 갈라짐이라 등록 거부</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배타 게이트웨이를</a:t>
            </a:r>
          </a:p>
          <a:p>
            <a:pPr algn="l" eaLnBrk="0">
              <a:lnSpc>
                <a:spcPct val="110000"/>
              </a:lnSpc>
            </a:pPr>
            <a:r>
              <a:rPr sz="1250" b="1">
                <a:solidFill>
                  <a:srgbClr val="556175"/>
                </a:solidFill>
                <a:latin typeface="맑은 고딕"/>
                <a:ea typeface="맑은 고딕"/>
                <a:cs typeface="맑은 고딕"/>
              </a:rPr>
              <a:t>둔다</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흐름 중간에 타이머를 세운다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실행하지 않는다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작업 테두리의</a:t>
            </a:r>
          </a:p>
          <a:p>
            <a:pPr algn="l" eaLnBrk="0">
              <a:lnSpc>
                <a:spcPct val="110000"/>
              </a:lnSpc>
            </a:pPr>
            <a:r>
              <a:rPr sz="1250" b="1">
                <a:solidFill>
                  <a:srgbClr val="556175"/>
                </a:solidFill>
                <a:latin typeface="맑은 고딕"/>
                <a:ea typeface="맑은 고딕"/>
                <a:cs typeface="맑은 고딕"/>
              </a:rPr>
              <a:t>기간 타이머로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하위 프로세스로 접는다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실행하지 않는다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펼쳐서</a:t>
            </a:r>
          </a:p>
          <a:p>
            <a:pPr algn="l" eaLnBrk="0">
              <a:lnSpc>
                <a:spcPct val="110000"/>
              </a:lnSpc>
            </a:pPr>
            <a:r>
              <a:rPr sz="1250" b="1">
                <a:solidFill>
                  <a:srgbClr val="556175"/>
                </a:solidFill>
                <a:latin typeface="맑은 고딕"/>
                <a:ea typeface="맑은 고딕"/>
                <a:cs typeface="맑은 고딕"/>
              </a:rPr>
              <a:t>한 흐름으로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없이 명령에 닿는 길이 있다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등록 전 검사가 거절</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 앞에 승인과</a:t>
            </a:r>
          </a:p>
          <a:p>
            <a:pPr algn="l" eaLnBrk="0">
              <a:lnSpc>
                <a:spcPct val="110000"/>
              </a:lnSpc>
            </a:pPr>
            <a:r>
              <a:rPr sz="1250" b="1">
                <a:solidFill>
                  <a:srgbClr val="556175"/>
                </a:solidFill>
                <a:latin typeface="맑은 고딕"/>
                <a:ea typeface="맑은 고딕"/>
                <a:cs typeface="맑은 고딕"/>
              </a:rPr>
              <a:t>승인 조건 선</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레인과 작업의 담당이 다르다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사전 검사가 알린다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칸이나</a:t>
            </a:r>
          </a:p>
          <a:p>
            <a:pPr algn="l" eaLnBrk="0">
              <a:lnSpc>
                <a:spcPct val="110000"/>
              </a:lnSpc>
            </a:pPr>
            <a:r>
              <a:rPr sz="1250" b="1">
                <a:solidFill>
                  <a:srgbClr val="1A6FC4"/>
                </a:solidFill>
                <a:latin typeface="맑은 고딕"/>
                <a:ea typeface="맑은 고딕"/>
                <a:cs typeface="맑은 고딕"/>
              </a:rPr>
              <a:t>연결 담당을 맞춘다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응답이 없을 때 결정을 넘기라는 요구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야간에는 운전원 응답이 늦는 일이 잦아, 기한이 지나면 상급자가 결정하게 해 달라는 요구가 나왔다고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작업을 어떻게 그리는 것이 맞는가?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작업에 비중단형 타이머를 붙여 알림만 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기한이 지나면 자동으로 승인하는 선을 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흐름 중간에 타이머 이벤트를 따로 세워 상급자 작업으로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작업에 중단형 타이머를 붙여, 기한 뒤 상급자 결정 작업으로 보낸다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엔진 · 처리 건 ·</a:t>
            </a:r>
          </a:p>
          <a:p>
            <a:pPr algn="l" eaLnBrk="0">
              <a:lnSpc>
                <a:spcPct val="110000"/>
              </a:lnSpc>
            </a:pPr>
            <a:r>
              <a:rPr sz="3400" b="1">
                <a:solidFill>
                  <a:srgbClr val="13294B"/>
                </a:solidFill>
                <a:latin typeface="맑은 고딕"/>
                <a:ea typeface="맑은 고딕"/>
                <a:cs typeface="맑은 고딕"/>
              </a:rPr>
              <a:t>토큰 · 변수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정의를 읽어 작업을 여는 쪽과, 처리 건의 현재 위치와 값을 읽는다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엔진 · 프로세스 정의 ·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엔진은 정의 하나를 읽어 경보마다 인스턴스를 열고, 그 인스턴스의 다음 작업을 차례로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엔진</a:t>
            </a:r>
          </a:p>
          <a:p>
            <a:pPr algn="l" eaLnBrk="0">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 정의를 읽어 그대로 실행하는 소프트웨어이다.</a:t>
            </a:r>
          </a:p>
          <a:p>
            <a:pPr algn="l" eaLnBrk="0">
              <a:lnSpc>
                <a:spcPct val="110000"/>
              </a:lnSpc>
              <a:spcAft>
                <a:spcPts val="300"/>
              </a:spcAft>
            </a:pPr>
            <a:r>
              <a:rPr sz="1400" b="0">
                <a:solidFill>
                  <a:srgbClr val="1F2A3A"/>
                </a:solidFill>
                <a:latin typeface="맑은 고딕"/>
                <a:ea typeface="맑은 고딕"/>
                <a:cs typeface="맑은 고딕"/>
              </a:rPr>
              <a:t>오케스트레이션의 조정자 자리를 맡는다.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정의</a:t>
            </a:r>
          </a:p>
          <a:p>
            <a:pPr algn="l" eaLnBrk="0">
              <a:lnSpc>
                <a:spcPct val="110000"/>
              </a:lnSpc>
              <a:spcAft>
                <a:spcPts val="200"/>
              </a:spcAft>
            </a:pPr>
            <a:r>
              <a:rPr sz="1150" b="0">
                <a:solidFill>
                  <a:srgbClr val="556175"/>
                </a:solidFill>
                <a:latin typeface="맑은 고딕"/>
                <a:ea typeface="맑은 고딕"/>
                <a:cs typeface="맑은 고딕"/>
              </a:rPr>
              <a:t>Process Definition</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요소 · 선 · 조건 · 역할을 담은 설계도이다.</a:t>
            </a:r>
          </a:p>
          <a:p>
            <a:pPr algn="l" eaLnBrk="0">
              <a:lnSpc>
                <a:spcPct val="110000"/>
              </a:lnSpc>
              <a:spcAft>
                <a:spcPts val="300"/>
              </a:spcAft>
            </a:pPr>
            <a:r>
              <a:rPr sz="1400" b="0">
                <a:solidFill>
                  <a:srgbClr val="1F2A3A"/>
                </a:solidFill>
                <a:latin typeface="맑은 고딕"/>
                <a:ea typeface="맑은 고딕"/>
                <a:cs typeface="맑은 고딕"/>
              </a:rPr>
              <a:t>긴급 대응의 정의 id는 c3_cooling이다.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인스턴스</a:t>
            </a:r>
          </a:p>
          <a:p>
            <a:pPr algn="l" eaLnBrk="0">
              <a:lnSpc>
                <a:spcPct val="110000"/>
              </a:lnSpc>
              <a:spcAft>
                <a:spcPts val="200"/>
              </a:spcAft>
            </a:pPr>
            <a:r>
              <a:rPr sz="1150" b="0">
                <a:solidFill>
                  <a:srgbClr val="556175"/>
                </a:solidFill>
                <a:latin typeface="맑은 고딕"/>
                <a:ea typeface="맑은 고딕"/>
                <a:cs typeface="맑은 고딕"/>
              </a:rPr>
              <a:t>Process Instance</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정의에 따라 실제로 수행되는 한 건, HYD의 처리 건이다.</a:t>
            </a:r>
          </a:p>
          <a:p>
            <a:pPr algn="l" eaLnBrk="0">
              <a:lnSpc>
                <a:spcPct val="110000"/>
              </a:lnSpc>
              <a:spcAft>
                <a:spcPts val="300"/>
              </a:spcAft>
            </a:pPr>
            <a:r>
              <a:rPr sz="1400" b="0">
                <a:solidFill>
                  <a:srgbClr val="1F2A3A"/>
                </a:solidFill>
                <a:latin typeface="맑은 고딕"/>
                <a:ea typeface="맑은 고딕"/>
                <a:cs typeface="맑은 고딕"/>
              </a:rPr>
              <a:t>경보 한 건마다 하나씩 열린다.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정의에서 열린 처리 건 셋</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정의에서 열린 처리 건이라도 지나간 갈래와 결말이 달라서, 결과는 처리 건 하나씩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 건</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지나간 길</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끝 · 설비 명령</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4f93a9d0… 쿨러 사건</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냉각 명령 → 재관측 회복 → 작업지시</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E_end · 정상</a:t>
            </a:r>
          </a:p>
          <a:p>
            <a:pPr algn="l" eaLnBrk="0">
              <a:lnSpc>
                <a:spcPct val="110000"/>
              </a:lnSpc>
            </a:pPr>
            <a:r>
              <a:rPr sz="1250" b="1">
                <a:solidFill>
                  <a:srgbClr val="556175"/>
                </a:solidFill>
                <a:latin typeface="맑은 고딕"/>
                <a:ea typeface="맑은 고딕"/>
                <a:cs typeface="맑은 고딕"/>
              </a:rPr>
              <a:t>명령 1건</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94a9231b… 같은 정의의 다른 건</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E_rejected</a:t>
            </a:r>
          </a:p>
          <a:p>
            <a:pPr algn="l" eaLnBrk="0">
              <a:lnSpc>
                <a:spcPct val="110000"/>
              </a:lnSpc>
            </a:pPr>
            <a:r>
              <a:rPr sz="1250" b="1">
                <a:solidFill>
                  <a:srgbClr val="556175"/>
                </a:solidFill>
                <a:latin typeface="맑은 고딕"/>
                <a:ea typeface="맑은 고딕"/>
                <a:cs typeface="맑은 고딕"/>
              </a:rPr>
              <a:t>명령 없음</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bede0d2e… 같은 정의의 다른 건</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대기 → 기한 뒤 알림 → 그 뒤 거절</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E_rejected</a:t>
            </a:r>
          </a:p>
          <a:p>
            <a:pPr algn="l" eaLnBrk="0">
              <a:lnSpc>
                <a:spcPct val="110000"/>
              </a:lnSpc>
            </a:pPr>
            <a:r>
              <a:rPr sz="1250" b="1">
                <a:solidFill>
                  <a:srgbClr val="1A6FC4"/>
                </a:solidFill>
                <a:latin typeface="맑은 고딕"/>
                <a:ea typeface="맑은 고딕"/>
                <a:cs typeface="맑은 고딕"/>
              </a:rPr>
              <a:t>명령 없음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 승인 대기 중인 처리 건의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토큰</a:t>
            </a:r>
            <a:r>
              <a:rPr sz="1600" b="0">
                <a:solidFill>
                  <a:srgbClr val="556175"/>
                </a:solidFill>
                <a:latin typeface="맑은 고딕"/>
                <a:ea typeface="맑은 고딕"/>
                <a:cs typeface="맑은 고딕"/>
              </a:rPr>
              <a:t>(Token)은 흐름의 현재 위치를 나타내는 표식이라, 열린 단계를 보면 처리 건이 누구를 기다리는지 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  bede0d2e</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정의에서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status                RUNNING</a:t>
            </a:r>
          </a:p>
          <a:p>
            <a:pPr algn="l" eaLnBrk="0">
              <a:lnSpc>
                <a:spcPct val="110000"/>
              </a:lnSpc>
              <a:spcAft>
                <a:spcPts val="200"/>
              </a:spcAft>
            </a:pPr>
            <a:r>
              <a:rPr sz="1300" b="0">
                <a:solidFill>
                  <a:srgbClr val="E8EEF6"/>
                </a:solidFill>
                <a:latin typeface="Consolas"/>
                <a:ea typeface="맑은 고딕"/>
                <a:cs typeface="맑은 고딕"/>
              </a:rPr>
              <a:t>current_activity_ids  ["T_approve"]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T_agent     DONE</a:t>
            </a:r>
          </a:p>
          <a:p>
            <a:pPr algn="l" eaLnBrk="0">
              <a:lnSpc>
                <a:spcPct val="110000"/>
              </a:lnSpc>
              <a:spcAft>
                <a:spcPts val="200"/>
              </a:spcAft>
            </a:pPr>
            <a:r>
              <a:rPr sz="1300" b="0">
                <a:solidFill>
                  <a:srgbClr val="E8EEF6"/>
                </a:solidFill>
                <a:latin typeface="Consolas"/>
                <a:ea typeface="맑은 고딕"/>
                <a:cs typeface="맑은 고딕"/>
              </a:rPr>
              <a:t>T_approve   IN_PROGRESS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기다린다</a:t>
            </a:r>
          </a:p>
          <a:p>
            <a:pPr algn="l" eaLnBrk="0">
              <a:lnSpc>
                <a:spcPct val="110000"/>
              </a:lnSpc>
              <a:spcAft>
                <a:spcPts val="200"/>
              </a:spcAft>
            </a:pPr>
            <a:r>
              <a:rPr sz="1300" b="0">
                <a:solidFill>
                  <a:srgbClr val="E8EEF6"/>
                </a:solidFill>
                <a:latin typeface="Consolas"/>
                <a:ea typeface="맑은 고딕"/>
                <a:cs typeface="맑은 고딕"/>
              </a:rPr>
              <a:t>B_overdue   DONE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갈래가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열렸다</a:t>
            </a:r>
          </a:p>
          <a:p>
            <a:pPr algn="l" eaLnBrk="0">
              <a:lnSpc>
                <a:spcPct val="110000"/>
              </a:lnSpc>
              <a:spcAft>
                <a:spcPts val="200"/>
              </a:spcAft>
            </a:pPr>
            <a:r>
              <a:rPr sz="1300" b="0">
                <a:solidFill>
                  <a:srgbClr val="E8EEF6"/>
                </a:solidFill>
                <a:latin typeface="Consolas"/>
                <a:ea typeface="맑은 고딕"/>
                <a:cs typeface="맑은 고딕"/>
              </a:rPr>
              <a:t>T_notice    DONE</a:t>
            </a:r>
          </a:p>
          <a:p>
            <a:pPr algn="l" eaLnBrk="0">
              <a:lnSpc>
                <a:spcPct val="110000"/>
              </a:lnSpc>
              <a:spcAft>
                <a:spcPts val="200"/>
              </a:spcAft>
            </a:pPr>
            <a:r>
              <a:rPr sz="1300" b="0">
                <a:solidFill>
                  <a:srgbClr val="E8EEF6"/>
                </a:solidFill>
                <a:latin typeface="Consolas"/>
                <a:ea typeface="맑은 고딕"/>
                <a:cs typeface="맑은 고딕"/>
              </a:rPr>
              <a:t>T_cmd       TODO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닿지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않았다</a:t>
            </a:r>
          </a:p>
        </p:txBody>
      </p:sp>
      <p:sp>
        <p:nvSpPr>
          <p:cNvPr id="8" name="TextBox 7"/>
          <p:cNvSpPr txBox="1"/>
          <p:nvPr/>
        </p:nvSpPr>
        <p:spPr>
          <a:xfrm>
            <a:off x="7635240" y="2653665"/>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current_activity_ids</a:t>
            </a:r>
          </a:p>
          <a:p>
            <a:pPr algn="l" eaLnBrk="0">
              <a:lnSpc>
                <a:spcPct val="110000"/>
              </a:lnSpc>
              <a:spcAft>
                <a:spcPts val="400"/>
              </a:spcAft>
            </a:pPr>
            <a:r>
              <a:rPr sz="1400" b="0">
                <a:solidFill>
                  <a:srgbClr val="1F2A3A"/>
                </a:solidFill>
                <a:latin typeface="맑은 고딕"/>
                <a:ea typeface="맑은 고딕"/>
                <a:cs typeface="맑은 고딕"/>
              </a:rPr>
              <a:t>지금 열린 단계, 곧 토큰이 머문 곳이다.</a:t>
            </a:r>
          </a:p>
        </p:txBody>
      </p:sp>
      <p:sp>
        <p:nvSpPr>
          <p:cNvPr id="9" name="TextBox 8"/>
          <p:cNvSpPr txBox="1"/>
          <p:nvPr/>
        </p:nvSpPr>
        <p:spPr>
          <a:xfrm>
            <a:off x="7635240" y="3545459"/>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IN_PROGRESS · DONE · TODO</a:t>
            </a:r>
          </a:p>
          <a:p>
            <a:pPr algn="l" eaLnBrk="0">
              <a:lnSpc>
                <a:spcPct val="110000"/>
              </a:lnSpc>
              <a:spcAft>
                <a:spcPts val="400"/>
              </a:spcAft>
            </a:pPr>
            <a:r>
              <a:rPr sz="1400" b="0">
                <a:solidFill>
                  <a:srgbClr val="1F2A3A"/>
                </a:solidFill>
                <a:latin typeface="맑은 고딕"/>
                <a:ea typeface="맑은 고딕"/>
                <a:cs typeface="맑은 고딕"/>
              </a:rPr>
              <a:t>진행 중 · 끝남 · 아직 닿지 않음이다.</a:t>
            </a:r>
          </a:p>
        </p:txBody>
      </p:sp>
      <p:sp>
        <p:nvSpPr>
          <p:cNvPr id="10" name="TextBox 9"/>
          <p:cNvSpPr txBox="1"/>
          <p:nvPr/>
        </p:nvSpPr>
        <p:spPr>
          <a:xfrm>
            <a:off x="7635240" y="4437253"/>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알림 뒤</a:t>
            </a:r>
          </a:p>
          <a:p>
            <a:pPr algn="l" eaLnBrk="0">
              <a:lnSpc>
                <a:spcPct val="110000"/>
              </a:lnSpc>
              <a:spcAft>
                <a:spcPts val="400"/>
              </a:spcAft>
            </a:pPr>
            <a:r>
              <a:rPr sz="1400" b="0">
                <a:solidFill>
                  <a:srgbClr val="1F2A3A"/>
                </a:solidFill>
                <a:latin typeface="맑은 고딕"/>
                <a:ea typeface="맑은 고딕"/>
                <a:cs typeface="맑은 고딕"/>
              </a:rPr>
              <a:t>둘째 토큰은 알림을 마쳤고 승인 대기는 남았다.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변수가 잇는 출력과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프로세스 변수</a:t>
            </a:r>
            <a:r>
              <a:rPr sz="1600" b="0">
                <a:solidFill>
                  <a:srgbClr val="556175"/>
                </a:solidFill>
                <a:latin typeface="맑은 고딕"/>
                <a:ea typeface="맑은 고딕"/>
                <a:cs typeface="맑은 고딕"/>
              </a:rPr>
              <a:t>(Process Variable)는 처리 건이 지닌 이름 붙은 값이라, 단계의 출력이 다음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74722"/>
            <a:ext cx="1911644" cy="3033268"/>
          </a:xfrm>
          <a:prstGeom prst="roundRect">
            <a:avLst>
              <a:gd name="adj" fmla="val 5000"/>
            </a:avLst>
          </a:prstGeom>
          <a:solidFill>
            <a:srgbClr val="F3F6F9"/>
          </a:solidFill>
          <a:ln>
            <a:noFill/>
          </a:ln>
        </p:spPr>
        <p:txBody>
          <a:bodyPr rtlCol="0" anchor="ctr"/>
          <a:lstStyle/>
          <a:p>
            <a:pPr algn="ctr"/>
          </a:p>
        </p:txBody>
      </p:sp>
      <p:sp>
        <p:nvSpPr>
          <p:cNvPr id="7" name="TextBox 6"/>
          <p:cNvSpPr txBox="1"/>
          <p:nvPr/>
        </p:nvSpPr>
        <p:spPr>
          <a:xfrm>
            <a:off x="621792" y="2657602"/>
            <a:ext cx="1765340" cy="2777235"/>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입력</a:t>
            </a:r>
          </a:p>
          <a:p>
            <a:pPr algn="ctr" eaLnBrk="0">
              <a:lnSpc>
                <a:spcPct val="110000"/>
              </a:lnSpc>
              <a:spcAft>
                <a:spcPts val="400"/>
              </a:spcAft>
            </a:pPr>
            <a:r>
              <a:rPr sz="1450" b="0">
                <a:solidFill>
                  <a:srgbClr val="1F2A3A"/>
                </a:solidFill>
                <a:latin typeface="맑은 고딕"/>
                <a:ea typeface="맑은 고딕"/>
                <a:cs typeface="맑은 고딕"/>
              </a:rPr>
              <a:t>asset · alert_id</a:t>
            </a:r>
          </a:p>
          <a:p>
            <a:pPr algn="ctr" eaLnBrk="0">
              <a:lnSpc>
                <a:spcPct val="110000"/>
              </a:lnSpc>
              <a:spcAft>
                <a:spcPts val="400"/>
              </a:spcAft>
            </a:pPr>
            <a:r>
              <a:rPr sz="1450" b="0">
                <a:solidFill>
                  <a:srgbClr val="1F2A3A"/>
                </a:solidFill>
                <a:latin typeface="맑은 고딕"/>
                <a:ea typeface="맑은 고딕"/>
                <a:cs typeface="맑은 고딕"/>
              </a:rPr>
              <a:t>경보가 실어 온 값</a:t>
            </a:r>
          </a:p>
        </p:txBody>
      </p:sp>
      <p:sp>
        <p:nvSpPr>
          <p:cNvPr id="8" name="Right Arrow 7"/>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9" name="Rounded Rectangle 8"/>
          <p:cNvSpPr/>
          <p:nvPr/>
        </p:nvSpPr>
        <p:spPr>
          <a:xfrm>
            <a:off x="2844332" y="2474722"/>
            <a:ext cx="1911644" cy="3033268"/>
          </a:xfrm>
          <a:prstGeom prst="roundRect">
            <a:avLst>
              <a:gd name="adj" fmla="val 5000"/>
            </a:avLst>
          </a:prstGeom>
          <a:solidFill>
            <a:srgbClr val="F3F6F9"/>
          </a:solidFill>
          <a:ln>
            <a:noFill/>
          </a:ln>
        </p:spPr>
        <p:txBody>
          <a:bodyPr rtlCol="0" anchor="ctr"/>
          <a:lstStyle/>
          <a:p>
            <a:pPr algn="ctr"/>
          </a:p>
        </p:txBody>
      </p:sp>
      <p:sp>
        <p:nvSpPr>
          <p:cNvPr id="10" name="TextBox 9"/>
          <p:cNvSpPr txBox="1"/>
          <p:nvPr/>
        </p:nvSpPr>
        <p:spPr>
          <a:xfrm>
            <a:off x="2917484" y="2657602"/>
            <a:ext cx="1765340" cy="2777235"/>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 · 제안</a:t>
            </a:r>
          </a:p>
          <a:p>
            <a:pPr algn="ctr" eaLnBrk="0">
              <a:lnSpc>
                <a:spcPct val="110000"/>
              </a:lnSpc>
              <a:spcAft>
                <a:spcPts val="400"/>
              </a:spcAft>
            </a:pPr>
            <a:r>
              <a:rPr sz="1450" b="0">
                <a:solidFill>
                  <a:srgbClr val="1F2A3A"/>
                </a:solidFill>
                <a:latin typeface="맑은 고딕"/>
                <a:ea typeface="맑은 고딕"/>
                <a:cs typeface="맑은 고딕"/>
              </a:rPr>
              <a:t>cause · decision</a:t>
            </a:r>
          </a:p>
          <a:p>
            <a:pPr algn="ctr" eaLnBrk="0">
              <a:lnSpc>
                <a:spcPct val="110000"/>
              </a:lnSpc>
              <a:spcAft>
                <a:spcPts val="400"/>
              </a:spcAft>
            </a:pPr>
            <a:r>
              <a:rPr sz="1450" b="0">
                <a:solidFill>
                  <a:srgbClr val="1F2A3A"/>
                </a:solidFill>
                <a:latin typeface="맑은 고딕"/>
                <a:ea typeface="맑은 고딕"/>
                <a:cs typeface="맑은 고딕"/>
              </a:rPr>
              <a:t>쿨러 핀 오염 · 추천안</a:t>
            </a:r>
          </a:p>
        </p:txBody>
      </p:sp>
      <p:sp>
        <p:nvSpPr>
          <p:cNvPr id="11" name="Right Arrow 10"/>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2" name="Rounded Rectangle 11"/>
          <p:cNvSpPr/>
          <p:nvPr/>
        </p:nvSpPr>
        <p:spPr>
          <a:xfrm>
            <a:off x="5140025" y="2474722"/>
            <a:ext cx="1911644" cy="303326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5213177" y="2657602"/>
            <a:ext cx="1765340" cy="2777235"/>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운전원 승인</a:t>
            </a:r>
          </a:p>
          <a:p>
            <a:pPr algn="ctr" eaLnBrk="0">
              <a:lnSpc>
                <a:spcPct val="110000"/>
              </a:lnSpc>
              <a:spcAft>
                <a:spcPts val="400"/>
              </a:spcAft>
            </a:pPr>
            <a:r>
              <a:rPr sz="1350" b="0">
                <a:solidFill>
                  <a:srgbClr val="1F2A3A"/>
                </a:solidFill>
                <a:latin typeface="맑은 고딕"/>
                <a:ea typeface="맑은 고딕"/>
                <a:cs typeface="맑은 고딕"/>
              </a:rPr>
              <a:t>approval · chosen_skill</a:t>
            </a:r>
          </a:p>
          <a:p>
            <a:pPr algn="ctr" eaLnBrk="0">
              <a:lnSpc>
                <a:spcPct val="110000"/>
              </a:lnSpc>
              <a:spcAft>
                <a:spcPts val="400"/>
              </a:spcAft>
            </a:pPr>
            <a:r>
              <a:rPr sz="1350" b="0">
                <a:solidFill>
                  <a:srgbClr val="1F2A3A"/>
                </a:solidFill>
                <a:latin typeface="맑은 고딕"/>
                <a:ea typeface="맑은 고딕"/>
                <a:cs typeface="맑은 고딕"/>
              </a:rPr>
              <a:t>승인 · 팬 최대 운전</a:t>
            </a:r>
          </a:p>
          <a:p>
            <a:pPr algn="ctr" eaLnBrk="0">
              <a:lnSpc>
                <a:spcPct val="110000"/>
              </a:lnSpc>
              <a:spcAft>
                <a:spcPts val="400"/>
              </a:spcAft>
            </a:pPr>
            <a:r>
              <a:rPr sz="1350" b="0">
                <a:solidFill>
                  <a:srgbClr val="1F2A3A"/>
                </a:solidFill>
                <a:latin typeface="맑은 고딕"/>
                <a:ea typeface="맑은 고딕"/>
                <a:cs typeface="맑은 고딕"/>
              </a:rPr>
              <a:t>승인자 · 역할은 서버가 채운다</a:t>
            </a:r>
          </a:p>
        </p:txBody>
      </p:sp>
      <p:sp>
        <p:nvSpPr>
          <p:cNvPr id="14" name="Right Arrow 13"/>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15" name="Rounded Rectangle 14"/>
          <p:cNvSpPr/>
          <p:nvPr/>
        </p:nvSpPr>
        <p:spPr>
          <a:xfrm>
            <a:off x="7435717" y="2474722"/>
            <a:ext cx="1911644" cy="3033268"/>
          </a:xfrm>
          <a:prstGeom prst="roundRect">
            <a:avLst>
              <a:gd name="adj" fmla="val 5000"/>
            </a:avLst>
          </a:prstGeom>
          <a:solidFill>
            <a:srgbClr val="F3F6F9"/>
          </a:solidFill>
          <a:ln>
            <a:noFill/>
          </a:ln>
        </p:spPr>
        <p:txBody>
          <a:bodyPr rtlCol="0" anchor="ctr"/>
          <a:lstStyle/>
          <a:p>
            <a:pPr algn="ctr"/>
          </a:p>
        </p:txBody>
      </p:sp>
      <p:sp>
        <p:nvSpPr>
          <p:cNvPr id="16" name="TextBox 15"/>
          <p:cNvSpPr txBox="1"/>
          <p:nvPr/>
        </p:nvSpPr>
        <p:spPr>
          <a:xfrm>
            <a:off x="7508869" y="2657602"/>
            <a:ext cx="1765340" cy="2777235"/>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재관측</a:t>
            </a:r>
          </a:p>
          <a:p>
            <a:pPr algn="ctr" eaLnBrk="0">
              <a:lnSpc>
                <a:spcPct val="110000"/>
              </a:lnSpc>
              <a:spcAft>
                <a:spcPts val="400"/>
              </a:spcAft>
            </a:pPr>
            <a:r>
              <a:rPr sz="1450" b="0">
                <a:solidFill>
                  <a:srgbClr val="1F2A3A"/>
                </a:solidFill>
                <a:latin typeface="맑은 고딕"/>
                <a:ea typeface="맑은 고딕"/>
                <a:cs typeface="맑은 고딕"/>
              </a:rPr>
              <a:t>recovered</a:t>
            </a:r>
          </a:p>
          <a:p>
            <a:pPr algn="ctr" eaLnBrk="0">
              <a:lnSpc>
                <a:spcPct val="110000"/>
              </a:lnSpc>
              <a:spcAft>
                <a:spcPts val="400"/>
              </a:spcAft>
            </a:pPr>
            <a:r>
              <a:rPr sz="1450" b="0">
                <a:solidFill>
                  <a:srgbClr val="1F2A3A"/>
                </a:solidFill>
                <a:latin typeface="맑은 고딕"/>
                <a:ea typeface="맑은 고딕"/>
                <a:cs typeface="맑은 고딕"/>
              </a:rPr>
              <a:t>회복 → 유온 정상?</a:t>
            </a:r>
          </a:p>
          <a:p>
            <a:pPr algn="ctr" eaLnBrk="0">
              <a:lnSpc>
                <a:spcPct val="110000"/>
              </a:lnSpc>
              <a:spcAft>
                <a:spcPts val="400"/>
              </a:spcAft>
            </a:pPr>
            <a:r>
              <a:rPr sz="1450" b="0">
                <a:solidFill>
                  <a:srgbClr val="1F2A3A"/>
                </a:solidFill>
                <a:latin typeface="맑은 고딕"/>
                <a:ea typeface="맑은 고딕"/>
                <a:cs typeface="맑은 고딕"/>
              </a:rPr>
              <a:t>게이트웨이가 읽는다</a:t>
            </a:r>
          </a:p>
        </p:txBody>
      </p:sp>
      <p:sp>
        <p:nvSpPr>
          <p:cNvPr id="17" name="Right Arrow 16"/>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18" name="Rounded Rectangle 17"/>
          <p:cNvSpPr/>
          <p:nvPr/>
        </p:nvSpPr>
        <p:spPr>
          <a:xfrm>
            <a:off x="9731410" y="2474722"/>
            <a:ext cx="1911644" cy="3033268"/>
          </a:xfrm>
          <a:prstGeom prst="roundRect">
            <a:avLst>
              <a:gd name="adj" fmla="val 5000"/>
            </a:avLst>
          </a:prstGeom>
          <a:solidFill>
            <a:srgbClr val="F3F6F9"/>
          </a:solidFill>
          <a:ln>
            <a:noFill/>
          </a:ln>
        </p:spPr>
        <p:txBody>
          <a:bodyPr rtlCol="0" anchor="ctr"/>
          <a:lstStyle/>
          <a:p>
            <a:pPr algn="ctr"/>
          </a:p>
        </p:txBody>
      </p:sp>
      <p:sp>
        <p:nvSpPr>
          <p:cNvPr id="19" name="TextBox 18"/>
          <p:cNvSpPr txBox="1"/>
          <p:nvPr/>
        </p:nvSpPr>
        <p:spPr>
          <a:xfrm>
            <a:off x="9804562" y="2657602"/>
            <a:ext cx="1765340" cy="2777235"/>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작업지시 · 보고</a:t>
            </a:r>
          </a:p>
          <a:p>
            <a:pPr algn="ctr" eaLnBrk="0">
              <a:lnSpc>
                <a:spcPct val="110000"/>
              </a:lnSpc>
              <a:spcAft>
                <a:spcPts val="400"/>
              </a:spcAft>
            </a:pPr>
            <a:r>
              <a:rPr sz="1450" b="0">
                <a:solidFill>
                  <a:srgbClr val="1F2A3A"/>
                </a:solidFill>
                <a:latin typeface="맑은 고딕"/>
                <a:ea typeface="맑은 고딕"/>
                <a:cs typeface="맑은 고딕"/>
              </a:rPr>
              <a:t>work_order</a:t>
            </a:r>
          </a:p>
          <a:p>
            <a:pPr algn="ctr" eaLnBrk="0">
              <a:lnSpc>
                <a:spcPct val="110000"/>
              </a:lnSpc>
              <a:spcAft>
                <a:spcPts val="400"/>
              </a:spcAft>
            </a:pPr>
            <a:r>
              <a:rPr sz="1450" b="0">
                <a:solidFill>
                  <a:srgbClr val="1F2A3A"/>
                </a:solidFill>
                <a:latin typeface="맑은 고딕"/>
                <a:ea typeface="맑은 고딕"/>
                <a:cs typeface="맑은 고딕"/>
              </a:rPr>
              <a:t>WO-1010-C058이</a:t>
            </a:r>
          </a:p>
          <a:p>
            <a:pPr algn="ctr" eaLnBrk="0">
              <a:lnSpc>
                <a:spcPct val="110000"/>
              </a:lnSpc>
              <a:spcAft>
                <a:spcPts val="400"/>
              </a:spcAft>
            </a:pPr>
            <a:r>
              <a:rPr sz="1450" b="0">
                <a:solidFill>
                  <a:srgbClr val="1F2A3A"/>
                </a:solidFill>
                <a:latin typeface="맑은 고딕"/>
                <a:ea typeface="맑은 고딕"/>
                <a:cs typeface="맑은 고딕"/>
              </a:rPr>
              <a:t>보고 문장에 들어간다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User · Service · Agent 작업에서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엔진은 작업 종류마다 사람의 결정 · 시스템의 결과 · 에이전트의 제출을 기다리고, 다음 작업은 엔진이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 종류</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엔진이 기다리는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끝나지 않으면</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사용자 작업 · 운전원 승인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 역할의 승인이나 거절</a:t>
            </a:r>
          </a:p>
          <a:p>
            <a:pPr algn="l" eaLnBrk="0">
              <a:lnSpc>
                <a:spcPct val="110000"/>
              </a:lnSpc>
            </a:pPr>
            <a:r>
              <a:rPr sz="1400" b="0">
                <a:solidFill>
                  <a:srgbClr val="1F2A3A"/>
                </a:solidFill>
                <a:latin typeface="맑은 고딕"/>
                <a:ea typeface="맑은 고딕"/>
                <a:cs typeface="맑은 고딕"/>
              </a:rPr>
              <a:t>승인 전달이 성공해야 다음으로 간다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대기로</a:t>
            </a:r>
          </a:p>
          <a:p>
            <a:pPr algn="l" eaLnBrk="0">
              <a:lnSpc>
                <a:spcPct val="110000"/>
              </a:lnSpc>
            </a:pPr>
            <a:r>
              <a:rPr sz="1250" b="1">
                <a:solidFill>
                  <a:srgbClr val="556175"/>
                </a:solidFill>
                <a:latin typeface="맑은 고딕"/>
                <a:ea typeface="맑은 고딕"/>
                <a:cs typeface="맑은 고딕"/>
              </a:rPr>
              <a:t>머문다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서비스 작업 · 냉각 명령 · 재관측 · 작업지시</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엔진이 부른 시스템의 처리 결과</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실패를 성공으로</a:t>
            </a:r>
          </a:p>
          <a:p>
            <a:pPr algn="l" eaLnBrk="0">
              <a:lnSpc>
                <a:spcPct val="110000"/>
              </a:lnSpc>
            </a:pPr>
            <a:r>
              <a:rPr sz="1250" b="1">
                <a:solidFill>
                  <a:srgbClr val="556175"/>
                </a:solidFill>
                <a:latin typeface="맑은 고딕"/>
                <a:ea typeface="맑은 고딕"/>
                <a:cs typeface="맑은 고딕"/>
              </a:rPr>
              <a:t>넘기지 않는다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 단계 · 원인 진단 · 제안</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지정한 에이전트의 결과 제출과 검사</a:t>
            </a:r>
          </a:p>
          <a:p>
            <a:pPr algn="l" eaLnBrk="0">
              <a:lnSpc>
                <a:spcPct val="110000"/>
              </a:lnSpc>
            </a:pPr>
            <a:r>
              <a:rPr sz="1400" b="0">
                <a:solidFill>
                  <a:srgbClr val="1F2A3A"/>
                </a:solidFill>
                <a:latin typeface="맑은 고딕"/>
                <a:ea typeface="맑은 고딕"/>
                <a:cs typeface="맑은 고딕"/>
              </a:rPr>
              <a:t>에이전트는 다음 작업을 열지 않는다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제출 전에는</a:t>
            </a:r>
          </a:p>
          <a:p>
            <a:pPr algn="l" eaLnBrk="0">
              <a:lnSpc>
                <a:spcPct val="110000"/>
              </a:lnSpc>
            </a:pPr>
            <a:r>
              <a:rPr sz="1250" b="1">
                <a:solidFill>
                  <a:srgbClr val="1A6FC4"/>
                </a:solidFill>
                <a:latin typeface="맑은 고딕"/>
                <a:ea typeface="맑은 고딕"/>
                <a:cs typeface="맑은 고딕"/>
              </a:rPr>
              <a:t>승인 작업이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기록으로 지금 누구 차례인지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기록에서 열린 단계와 상태를 읽으면, 지금 자동으로 진행되는 일과 사람이 확인할 일이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 보이는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지금 상태</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누가 무엇을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RUNNING · T_approve IN_PROGRESS</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대기, 정상 상태</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운전원이 추천안과</a:t>
            </a:r>
          </a:p>
          <a:p>
            <a:pPr algn="l" eaLnBrk="0">
              <a:lnSpc>
                <a:spcPct val="110000"/>
              </a:lnSpc>
            </a:pPr>
            <a:r>
              <a:rPr sz="1250" b="1">
                <a:solidFill>
                  <a:srgbClr val="556175"/>
                </a:solidFill>
                <a:latin typeface="맑은 고딕"/>
                <a:ea typeface="맑은 고딕"/>
                <a:cs typeface="맑은 고딕"/>
              </a:rPr>
              <a:t>현재 조건을 보고 결정</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T_cmd DONE · T_reobs IN_PROGRESS</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명령은 처리됨, 회복을 관측 중</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시스템이 기준과</a:t>
            </a:r>
          </a:p>
          <a:p>
            <a:pPr algn="l" eaLnBrk="0">
              <a:lnSpc>
                <a:spcPct val="110000"/>
              </a:lnSpc>
            </a:pPr>
            <a:r>
              <a:rPr sz="1250" b="1">
                <a:solidFill>
                  <a:srgbClr val="556175"/>
                </a:solidFill>
                <a:latin typeface="맑은 고딕"/>
                <a:ea typeface="맑은 고딕"/>
                <a:cs typeface="맑은 고딕"/>
              </a:rPr>
              <a:t>경보 해제를 확인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 PENDING · 사유 기록</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조건이 맞는 선이 없어 멈춤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담당자가 조건과</a:t>
            </a:r>
          </a:p>
          <a:p>
            <a:pPr algn="l" eaLnBrk="0">
              <a:lnSpc>
                <a:spcPct val="110000"/>
              </a:lnSpc>
            </a:pPr>
            <a:r>
              <a:rPr sz="1250" b="1">
                <a:solidFill>
                  <a:srgbClr val="556175"/>
                </a:solidFill>
                <a:latin typeface="맑은 고딕"/>
                <a:ea typeface="맑은 고딕"/>
                <a:cs typeface="맑은 고딕"/>
              </a:rPr>
              <a:t>연결 값을 확인</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COMPLETED · E_rejected</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거절로 닫힘, 명령 없음</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쿨러 상태를 보고</a:t>
            </a:r>
          </a:p>
          <a:p>
            <a:pPr algn="l" eaLnBrk="0">
              <a:lnSpc>
                <a:spcPct val="110000"/>
              </a:lnSpc>
            </a:pPr>
            <a:r>
              <a:rPr sz="1250" b="1">
                <a:solidFill>
                  <a:srgbClr val="1A6FC4"/>
                </a:solidFill>
                <a:latin typeface="맑은 고딕"/>
                <a:ea typeface="맑은 고딕"/>
                <a:cs typeface="맑은 고딕"/>
              </a:rPr>
              <a:t>다른 조치를 판단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상태 · 권한 ·</a:t>
            </a:r>
          </a:p>
          <a:p>
            <a:pPr algn="l" eaLnBrk="0">
              <a:lnSpc>
                <a:spcPct val="110000"/>
              </a:lnSpc>
            </a:pPr>
            <a:r>
              <a:rPr sz="3400" b="1">
                <a:solidFill>
                  <a:srgbClr val="13294B"/>
                </a:solidFill>
                <a:latin typeface="맑은 고딕"/>
                <a:ea typeface="맑은 고딕"/>
                <a:cs typeface="맑은 고딕"/>
              </a:rPr>
              <a:t>판본 · 감사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처리 건의 결말, 결정한 쪽, 고친 흐름이 쓰이는 때를 확인한다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COMPLETED가 같은 두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상태 COMPLETED는 실행이 끝났다는 뜻일 뿐이라, 결말은 끝 이벤트 · 결과 보고 · 단계 상태로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읽는 곳</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승인된 처리 건</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거절된 처리 건</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처리 건 상태</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COMPLETED</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닿은 끝 이벤트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E_end</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E_rejected</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정상</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a:t>
            </a:r>
          </a:p>
          <a:p>
            <a:pPr algn="l" eaLnBrk="0">
              <a:lnSpc>
                <a:spcPct val="110000"/>
              </a:lnSpc>
            </a:pPr>
            <a:r>
              <a:rPr sz="1250" b="1">
                <a:solidFill>
                  <a:srgbClr val="556175"/>
                </a:solidFill>
                <a:latin typeface="맑은 고딕"/>
                <a:ea typeface="맑은 고딕"/>
                <a:cs typeface="맑은 고딕"/>
              </a:rPr>
              <a:t>(기록의 값은 반려)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 단계</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DONE · 설비 명령 1건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CANCELLED</a:t>
            </a:r>
          </a:p>
          <a:p>
            <a:pPr algn="l" eaLnBrk="0">
              <a:lnSpc>
                <a:spcPct val="110000"/>
              </a:lnSpc>
            </a:pPr>
            <a:r>
              <a:rPr sz="1250" b="1">
                <a:solidFill>
                  <a:srgbClr val="1A6FC4"/>
                </a:solidFill>
                <a:latin typeface="맑은 고딕"/>
                <a:ea typeface="맑은 고딕"/>
                <a:cs typeface="맑은 고딕"/>
              </a:rPr>
              <a:t>설비 명령 없음</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회복 미달이었다면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이벤트는 E_end 그대로, 결과 보고만 미달</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없음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권한을 지키는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권한은 레인 이름이 아니라 등록 전 검사와 실행 중 역할 검사가 지켜, 승인 없는 명령을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29815"/>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흐름을 등록할 때</a:t>
            </a:r>
          </a:p>
        </p:txBody>
      </p:sp>
      <p:sp>
        <p:nvSpPr>
          <p:cNvPr id="8" name="TextBox 7"/>
          <p:cNvSpPr txBox="1"/>
          <p:nvPr/>
        </p:nvSpPr>
        <p:spPr>
          <a:xfrm>
            <a:off x="822959" y="3180207"/>
            <a:ext cx="4632807" cy="2125218"/>
          </a:xfrm>
          <a:prstGeom prst="rect">
            <a:avLst/>
          </a:prstGeom>
          <a:noFill/>
        </p:spPr>
        <p:txBody>
          <a:bodyPr wrap="square" anchor="t"/>
          <a:lstStyle/>
          <a:p>
            <a:pPr algn="l" eaLnBrk="0" marL="154305" indent="-154305">
              <a:lnSpc>
                <a:spcPct val="110000"/>
              </a:lnSpc>
              <a:spcAft>
                <a:spcPts val="600"/>
              </a:spcAft>
            </a:pPr>
            <a:r>
              <a:rPr sz="1350" b="0">
                <a:solidFill>
                  <a:srgbClr val="1F2A3A"/>
                </a:solidFill>
                <a:latin typeface="맑은 고딕"/>
                <a:ea typeface="맑은 고딕"/>
                <a:cs typeface="맑은 고딕"/>
              </a:rPr>
              <a:t>• 승인 없이 명령에 닿는 경로가 있으면 등록하지 않는다</a:t>
            </a:r>
          </a:p>
          <a:p>
            <a:pPr algn="l" eaLnBrk="0" marL="154305" indent="-154305">
              <a:lnSpc>
                <a:spcPct val="110000"/>
              </a:lnSpc>
              <a:spcAft>
                <a:spcPts val="600"/>
              </a:spcAft>
            </a:pPr>
            <a:r>
              <a:rPr sz="1350" b="0">
                <a:solidFill>
                  <a:srgbClr val="1F2A3A"/>
                </a:solidFill>
                <a:latin typeface="맑은 고딕"/>
                <a:ea typeface="맑은 고딕"/>
                <a:cs typeface="맑은 고딕"/>
              </a:rPr>
              <a:t>• 거절 갈래에서 효과가 나가도 등록하지 않는다</a:t>
            </a:r>
          </a:p>
          <a:p>
            <a:pPr algn="l" eaLnBrk="0" marL="154305" indent="-154305">
              <a:lnSpc>
                <a:spcPct val="110000"/>
              </a:lnSpc>
              <a:spcAft>
                <a:spcPts val="600"/>
              </a:spcAft>
            </a:pPr>
            <a:r>
              <a:rPr sz="1350" b="0">
                <a:solidFill>
                  <a:srgbClr val="1F2A3A"/>
                </a:solidFill>
                <a:latin typeface="맑은 고딕"/>
                <a:ea typeface="맑은 고딕"/>
                <a:cs typeface="맑은 고딕"/>
              </a:rPr>
              <a:t>• 효과까지 가는 길은 승인 조건 선을 지나야 한다</a:t>
            </a:r>
          </a:p>
        </p:txBody>
      </p:sp>
      <p:sp>
        <p:nvSpPr>
          <p:cNvPr id="9" name="Rounded Rectangle 8"/>
          <p:cNvSpPr/>
          <p:nvPr/>
        </p:nvSpPr>
        <p:spPr>
          <a:xfrm>
            <a:off x="868680" y="5396865"/>
            <a:ext cx="132587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9686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그림을 거른다</a:t>
            </a:r>
          </a:p>
        </p:txBody>
      </p:sp>
      <p:sp>
        <p:nvSpPr>
          <p:cNvPr id="11" name="Rounded Rectangle 10"/>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29815"/>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실행할 때</a:t>
            </a:r>
          </a:p>
        </p:txBody>
      </p:sp>
      <p:sp>
        <p:nvSpPr>
          <p:cNvPr id="13" name="TextBox 12"/>
          <p:cNvSpPr txBox="1"/>
          <p:nvPr/>
        </p:nvSpPr>
        <p:spPr>
          <a:xfrm>
            <a:off x="6735927"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조치마다 승인 역할: 팬 최대 운전은 운전원, 핀 세척은 설비보전팀장</a:t>
            </a:r>
          </a:p>
          <a:p>
            <a:pPr algn="l" eaLnBrk="0" marL="165735" indent="-165735">
              <a:lnSpc>
                <a:spcPct val="110000"/>
              </a:lnSpc>
              <a:spcAft>
                <a:spcPts val="600"/>
              </a:spcAft>
            </a:pPr>
            <a:r>
              <a:rPr sz="1450" b="0">
                <a:solidFill>
                  <a:srgbClr val="1F2A3A"/>
                </a:solidFill>
                <a:latin typeface="맑은 고딕"/>
                <a:ea typeface="맑은 고딕"/>
                <a:cs typeface="맑은 고딕"/>
              </a:rPr>
              <a:t>• 권한이 모자란 승인은 거부하고 감사 기록에 남긴다</a:t>
            </a:r>
          </a:p>
          <a:p>
            <a:pPr algn="l" eaLnBrk="0" marL="165735" indent="-165735">
              <a:lnSpc>
                <a:spcPct val="110000"/>
              </a:lnSpc>
              <a:spcAft>
                <a:spcPts val="600"/>
              </a:spcAft>
            </a:pPr>
            <a:r>
              <a:rPr sz="1450" b="0">
                <a:solidFill>
                  <a:srgbClr val="1F2A3A"/>
                </a:solidFill>
                <a:latin typeface="맑은 고딕"/>
                <a:ea typeface="맑은 고딕"/>
                <a:cs typeface="맑은 고딕"/>
              </a:rPr>
              <a:t>• 에이전트의 쓰기는 판단 제출 하나, 명령 모양 값은 거부</a:t>
            </a:r>
          </a:p>
          <a:p>
            <a:pPr algn="l" eaLnBrk="0" marL="165735" indent="-165735">
              <a:lnSpc>
                <a:spcPct val="110000"/>
              </a:lnSpc>
              <a:spcAft>
                <a:spcPts val="600"/>
              </a:spcAft>
            </a:pPr>
            <a:r>
              <a:rPr sz="1450" b="0">
                <a:solidFill>
                  <a:srgbClr val="1F2A3A"/>
                </a:solidFill>
                <a:latin typeface="맑은 고딕"/>
                <a:ea typeface="맑은 고딕"/>
                <a:cs typeface="맑은 고딕"/>
              </a:rPr>
              <a:t>• 승인자 · 역할 값은 승인하는 순간 서버가 채운다</a:t>
            </a:r>
          </a:p>
        </p:txBody>
      </p:sp>
      <p:sp>
        <p:nvSpPr>
          <p:cNvPr id="14" name="Rounded Rectangle 13"/>
          <p:cNvSpPr/>
          <p:nvPr/>
        </p:nvSpPr>
        <p:spPr>
          <a:xfrm>
            <a:off x="6781647" y="5396865"/>
            <a:ext cx="132587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9686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행동을 거른다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판본과 배포: 고친 흐름이 쓰이는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흐름은 새 판본으로 등록하고 배포해야 다음 경보부터 쓰이고, 열린 처리 건은 열릴 때의 판본으로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일</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바뀌는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그대로인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판본 등록</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판본이 하나 쌓인다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저장된 옛 판본,</a:t>
            </a:r>
          </a:p>
          <a:p>
            <a:pPr algn="l" eaLnBrk="0">
              <a:lnSpc>
                <a:spcPct val="110000"/>
              </a:lnSpc>
            </a:pPr>
            <a:r>
              <a:rPr sz="1250" b="1">
                <a:solidFill>
                  <a:srgbClr val="556175"/>
                </a:solidFill>
                <a:latin typeface="맑은 고딕"/>
                <a:ea typeface="맑은 고딕"/>
                <a:cs typeface="맑은 고딕"/>
              </a:rPr>
              <a:t>경보를 받는 흐름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배포</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 경보를 받을 판본이 정해진다</a:t>
            </a:r>
          </a:p>
          <a:p>
            <a:pPr algn="l" eaLnBrk="0">
              <a:lnSpc>
                <a:spcPct val="110000"/>
              </a:lnSpc>
            </a:pPr>
            <a:r>
              <a:rPr sz="1400" b="0">
                <a:solidFill>
                  <a:srgbClr val="1F2A3A"/>
                </a:solidFill>
                <a:latin typeface="맑은 고딕"/>
                <a:ea typeface="맑은 고딕"/>
                <a:cs typeface="맑은 고딕"/>
              </a:rPr>
              <a:t>같은 경보에 여럿이면 가장 최근 배포</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이미 열린</a:t>
            </a:r>
          </a:p>
          <a:p>
            <a:pPr algn="l" eaLnBrk="0">
              <a:lnSpc>
                <a:spcPct val="110000"/>
              </a:lnSpc>
            </a:pPr>
            <a:r>
              <a:rPr sz="1250" b="1">
                <a:solidFill>
                  <a:srgbClr val="556175"/>
                </a:solidFill>
                <a:latin typeface="맑은 고딕"/>
                <a:ea typeface="맑은 고딕"/>
                <a:cs typeface="맑은 고딕"/>
              </a:rPr>
              <a:t>처리 건</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다음 경보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배포된 판본으로 처리 건이 열린다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다른 경보의 흐름</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진행 중인 처리 건</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바뀌지 않는다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열릴 때의 판본으로</a:t>
            </a:r>
          </a:p>
          <a:p>
            <a:pPr algn="l" eaLnBrk="0">
              <a:lnSpc>
                <a:spcPct val="110000"/>
              </a:lnSpc>
            </a:pPr>
            <a:r>
              <a:rPr sz="1250" b="1">
                <a:solidFill>
                  <a:srgbClr val="1A6FC4"/>
                </a:solidFill>
                <a:latin typeface="맑은 고딕"/>
                <a:ea typeface="맑은 고딕"/>
                <a:cs typeface="맑은 고딕"/>
              </a:rPr>
              <a:t>끝까지 간다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승인할 때</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현재 조건을 다시 확인한다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판본 고정이 센서 값을</a:t>
            </a:r>
          </a:p>
          <a:p>
            <a:pPr algn="l" eaLnBrk="0">
              <a:lnSpc>
                <a:spcPct val="110000"/>
              </a:lnSpc>
            </a:pPr>
            <a:r>
              <a:rPr sz="1250" b="1">
                <a:solidFill>
                  <a:srgbClr val="556175"/>
                </a:solidFill>
                <a:latin typeface="맑은 고딕"/>
                <a:ea typeface="맑은 고딕"/>
                <a:cs typeface="맑은 고딕"/>
              </a:rPr>
              <a:t>얼리지는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물음마다 볼 기록: 처리 기록과 감사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안의 진행은 처리 기록에, 처리 건의 시작 · 판본 배포 · 거부된 승인은 </a:t>
            </a:r>
            <a:r>
              <a:rPr sz="1600" b="1">
                <a:solidFill>
                  <a:srgbClr val="1A6FC4"/>
                </a:solidFill>
                <a:latin typeface="맑은 고딕"/>
                <a:ea typeface="맑은 고딕"/>
                <a:cs typeface="맑은 고딕"/>
              </a:rPr>
              <a:t>감사 기록</a:t>
            </a:r>
            <a:r>
              <a:rPr sz="1600" b="0">
                <a:solidFill>
                  <a:srgbClr val="556175"/>
                </a:solidFill>
                <a:latin typeface="맑은 고딕"/>
                <a:ea typeface="맑은 고딕"/>
                <a:cs typeface="맑은 고딕"/>
              </a:rPr>
              <a:t>(Audit Log)에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볼 기록</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값</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누가 어느 추천안을 승인했나</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기록 · APPROVAL_ACCEPTED</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 · 판단 id</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승인이 다음 단계로 넘어갔나</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기록 · APPROVAL_DELIVERY</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전달 완료</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무엇으로 끝났나</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기록 · RESULT_REPORT</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 본문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 처리 건은 언제 열렸나</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감사 기록 · INSTANCE_STARTED</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건의 시작</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 판본은 언제 배포됐나</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감사 기록 · DEFINITION_DEPLOYED</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배포된 판본</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없는 승인 시도가 있었나</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감사 기록 · DECISION_DENIED</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거부된 승인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끝난 처리 건에서 다음 담당자가 이어 볼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정상으로 끝난 처리 건도 명령 처리 · 회복 · 작업지시 등록이 각각 다른 사실이라, 다음 담당자가 이어 볼 일이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뜻하는 것</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 담당자가 이어 볼 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 DONE · 인터록 PASS</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설비가 명령을 실행했다고 답했다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 회복은</a:t>
            </a:r>
          </a:p>
          <a:p>
            <a:pPr algn="l" eaLnBrk="0">
              <a:lnSpc>
                <a:spcPct val="110000"/>
              </a:lnSpc>
            </a:pPr>
            <a:r>
              <a:rPr sz="1250" b="1">
                <a:solidFill>
                  <a:srgbClr val="556175"/>
                </a:solidFill>
                <a:latin typeface="맑은 고딕"/>
                <a:ea typeface="맑은 고딕"/>
                <a:cs typeface="맑은 고딕"/>
              </a:rPr>
              <a:t>재관측 기록으로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 회복 · 경보 해제</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유온이 기준 55 ℃ 아래로 내려왔다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핀 오염은 남아 있다</a:t>
            </a:r>
          </a:p>
          <a:p>
            <a:pPr algn="l" eaLnBrk="0">
              <a:lnSpc>
                <a:spcPct val="110000"/>
              </a:lnSpc>
            </a:pPr>
            <a:r>
              <a:rPr sz="1250" b="1">
                <a:solidFill>
                  <a:srgbClr val="556175"/>
                </a:solidFill>
                <a:latin typeface="맑은 고딕"/>
                <a:ea typeface="맑은 고딕"/>
                <a:cs typeface="맑은 고딕"/>
              </a:rPr>
              <a:t>(팬 최대 운전은 완화)</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CMMS에 핀 세척 작업 WO-1010-C058이 배정됐다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담당이</a:t>
            </a:r>
          </a:p>
          <a:p>
            <a:pPr algn="l" eaLnBrk="0">
              <a:lnSpc>
                <a:spcPct val="110000"/>
              </a:lnSpc>
            </a:pPr>
            <a:r>
              <a:rPr sz="1250" b="1">
                <a:solidFill>
                  <a:srgbClr val="556175"/>
                </a:solidFill>
                <a:latin typeface="맑은 고딕"/>
                <a:ea typeface="맑은 고딕"/>
                <a:cs typeface="맑은 고딕"/>
              </a:rPr>
              <a:t>세척 완료를 확인</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 · COMPLETED</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 처리 건의 흐름이 끝났다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팬 100 % 연속 운전은</a:t>
            </a:r>
          </a:p>
          <a:p>
            <a:pPr algn="l" eaLnBrk="0">
              <a:lnSpc>
                <a:spcPct val="110000"/>
              </a:lnSpc>
            </a:pPr>
            <a:r>
              <a:rPr sz="1250" b="1">
                <a:solidFill>
                  <a:srgbClr val="1A6FC4"/>
                </a:solidFill>
                <a:latin typeface="맑은 고딕"/>
                <a:ea typeface="맑은 고딕"/>
                <a:cs typeface="맑은 고딕"/>
              </a:rPr>
              <a:t>24시간 이내(SOP)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업무 설계 도구 기본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설계 도구로 만든 첫 BPMN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편집기에서 요소를 놓고 잇고 고친 그림을 .bpmn으로 저장한 뒤, 다시 열어 같은 구조인지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목표 · 입력</a:t>
            </a:r>
          </a:p>
          <a:p>
            <a:pPr algn="l" eaLnBrk="0" marL="205740" indent="-205740">
              <a:lnSpc>
                <a:spcPct val="110000"/>
              </a:lnSpc>
              <a:spcAft>
                <a:spcPts val="400"/>
              </a:spcAft>
            </a:pPr>
            <a:r>
              <a:rPr sz="1800" b="0">
                <a:solidFill>
                  <a:srgbClr val="1F2A3A"/>
                </a:solidFill>
                <a:latin typeface="맑은 고딕"/>
                <a:ea typeface="맑은 고딕"/>
                <a:cs typeface="맑은 고딕"/>
              </a:rPr>
              <a:t>• 웹 BPMN 편집기의 배치 · 연결 · 수정 · 속성 확인</a:t>
            </a:r>
          </a:p>
          <a:p>
            <a:pPr algn="l" eaLnBrk="0" marL="205740" indent="-205740">
              <a:lnSpc>
                <a:spcPct val="110000"/>
              </a:lnSpc>
              <a:spcAft>
                <a:spcPts val="400"/>
              </a:spcAft>
            </a:pPr>
            <a:r>
              <a:rPr sz="1800" b="0">
                <a:solidFill>
                  <a:srgbClr val="1F2A3A"/>
                </a:solidFill>
                <a:latin typeface="맑은 고딕"/>
                <a:ea typeface="맑은 고딕"/>
                <a:cs typeface="맑은 고딕"/>
              </a:rPr>
              <a:t>• 정비 요청이 담당자에게 넘어가는 작은 흐름</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조작 익히기</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git-fork" descr="git-fork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할 일</a:t>
            </a:r>
          </a:p>
          <a:p>
            <a:pPr algn="l" eaLnBrk="0" marL="205740" indent="-205740">
              <a:lnSpc>
                <a:spcPct val="110000"/>
              </a:lnSpc>
              <a:spcAft>
                <a:spcPts val="400"/>
              </a:spcAft>
            </a:pPr>
            <a:r>
              <a:rPr sz="1800" b="0">
                <a:solidFill>
                  <a:srgbClr val="1F2A3A"/>
                </a:solidFill>
                <a:latin typeface="맑은 고딕"/>
                <a:ea typeface="맑은 고딕"/>
                <a:cs typeface="맑은 고딕"/>
              </a:rPr>
              <a:t>• 시작 · 작업 · 끝을 놓고 시퀀스 흐름으로 잇는다</a:t>
            </a:r>
          </a:p>
          <a:p>
            <a:pPr algn="l" eaLnBrk="0" marL="205740" indent="-205740">
              <a:lnSpc>
                <a:spcPct val="110000"/>
              </a:lnSpc>
              <a:spcAft>
                <a:spcPts val="400"/>
              </a:spcAft>
            </a:pPr>
            <a:r>
              <a:rPr sz="1800" b="0">
                <a:solidFill>
                  <a:srgbClr val="1F2A3A"/>
                </a:solidFill>
                <a:latin typeface="맑은 고딕"/>
                <a:ea typeface="맑은 고딕"/>
                <a:cs typeface="맑은 고딕"/>
              </a:rPr>
              <a:t>• 작업을 사용자 작업으로 바꾸고 이름 · ID를 읽는다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배치와 수정</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산출물 · 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.bpmn 파일 하나</a:t>
            </a:r>
          </a:p>
          <a:p>
            <a:pPr algn="l" eaLnBrk="0" marL="205740" indent="-205740">
              <a:lnSpc>
                <a:spcPct val="110000"/>
              </a:lnSpc>
              <a:spcAft>
                <a:spcPts val="400"/>
              </a:spcAft>
            </a:pPr>
            <a:r>
              <a:rPr sz="1800" b="0">
                <a:solidFill>
                  <a:srgbClr val="1F2A3A"/>
                </a:solidFill>
                <a:latin typeface="맑은 고딕"/>
                <a:ea typeface="맑은 고딕"/>
                <a:cs typeface="맑은 고딕"/>
              </a:rPr>
              <a:t>• 다시 열어도 요소 · 이름 · 연결 방향이 같다</a:t>
            </a:r>
          </a:p>
          <a:p>
            <a:pPr algn="l" eaLnBrk="0" marL="205740" indent="-205740">
              <a:lnSpc>
                <a:spcPct val="110000"/>
              </a:lnSpc>
              <a:spcAft>
                <a:spcPts val="400"/>
              </a:spcAft>
            </a:pPr>
            <a:r>
              <a:rPr sz="1800" b="0">
                <a:solidFill>
                  <a:srgbClr val="1F2A3A"/>
                </a:solidFill>
                <a:latin typeface="맑은 고딕"/>
                <a:ea typeface="맑은 고딕"/>
                <a:cs typeface="맑은 고딕"/>
              </a:rPr>
              <a:t>• 표시 이름과 요소 ID를 구별한다</a:t>
            </a:r>
          </a:p>
        </p:txBody>
      </p:sp>
      <p:sp>
        <p:nvSpPr>
          <p:cNvPr id="22" name="Rounded Rectangle 21"/>
          <p:cNvSpPr/>
          <p:nvPr/>
        </p:nvSpPr>
        <p:spPr>
          <a:xfrm>
            <a:off x="8356396" y="5398516"/>
            <a:ext cx="15239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저장과 다시 열기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 업무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업무 흐름의 두 갈래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정비 요청을 확인한 뒤 승인 여부로 갈라 승인 종료와 반려 종료를 따로 두고, 각 갈래가 끝에 닿는지 따라간다.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753614"/>
            <a:ext cx="2485567" cy="2475483"/>
          </a:xfrm>
          <a:prstGeom prst="roundRect">
            <a:avLst>
              <a:gd name="adj" fmla="val 5000"/>
            </a:avLst>
          </a:prstGeom>
          <a:solidFill>
            <a:srgbClr val="F3F6F9"/>
          </a:solidFill>
          <a:ln>
            <a:noFill/>
          </a:ln>
        </p:spPr>
        <p:txBody>
          <a:bodyPr rtlCol="0" anchor="ctr"/>
          <a:lstStyle/>
          <a:p>
            <a:pPr algn="ctr"/>
          </a:p>
        </p:txBody>
      </p:sp>
      <p:sp>
        <p:nvSpPr>
          <p:cNvPr id="7" name="TextBox 6"/>
          <p:cNvSpPr txBox="1"/>
          <p:nvPr/>
        </p:nvSpPr>
        <p:spPr>
          <a:xfrm>
            <a:off x="621792" y="2936494"/>
            <a:ext cx="2339263"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입력</a:t>
            </a:r>
          </a:p>
          <a:p>
            <a:pPr algn="ctr" eaLnBrk="0">
              <a:lnSpc>
                <a:spcPct val="110000"/>
              </a:lnSpc>
              <a:spcAft>
                <a:spcPts val="400"/>
              </a:spcAft>
            </a:pPr>
            <a:r>
              <a:rPr sz="1650" b="0">
                <a:solidFill>
                  <a:srgbClr val="1F2A3A"/>
                </a:solidFill>
                <a:latin typeface="맑은 고딕"/>
                <a:ea typeface="맑은 고딕"/>
                <a:cs typeface="맑은 고딕"/>
              </a:rPr>
              <a:t>앞 실습의</a:t>
            </a:r>
          </a:p>
          <a:p>
            <a:pPr algn="ctr" eaLnBrk="0">
              <a:lnSpc>
                <a:spcPct val="110000"/>
              </a:lnSpc>
              <a:spcAft>
                <a:spcPts val="400"/>
              </a:spcAft>
            </a:pPr>
            <a:r>
              <a:rPr sz="1650" b="0">
                <a:solidFill>
                  <a:srgbClr val="1F2A3A"/>
                </a:solidFill>
                <a:latin typeface="맑은 고딕"/>
                <a:ea typeface="맑은 고딕"/>
                <a:cs typeface="맑은 고딕"/>
              </a:rPr>
              <a:t>기본 흐름</a:t>
            </a:r>
          </a:p>
          <a:p>
            <a:pPr algn="ctr" eaLnBrk="0">
              <a:lnSpc>
                <a:spcPct val="110000"/>
              </a:lnSpc>
              <a:spcAft>
                <a:spcPts val="400"/>
              </a:spcAft>
            </a:pPr>
            <a:r>
              <a:rPr sz="1650" b="0">
                <a:solidFill>
                  <a:srgbClr val="1F2A3A"/>
                </a:solidFill>
                <a:latin typeface="맑은 고딕"/>
                <a:ea typeface="맑은 고딕"/>
                <a:cs typeface="맑은 고딕"/>
              </a:rPr>
              <a:t>정비 요청 한 건</a:t>
            </a:r>
          </a:p>
        </p:txBody>
      </p:sp>
      <p:sp>
        <p:nvSpPr>
          <p:cNvPr id="8" name="Right Arrow 7"/>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9" name="Rounded Rectangle 8"/>
          <p:cNvSpPr/>
          <p:nvPr/>
        </p:nvSpPr>
        <p:spPr>
          <a:xfrm>
            <a:off x="3418255" y="2753614"/>
            <a:ext cx="2485567" cy="2475483"/>
          </a:xfrm>
          <a:prstGeom prst="roundRect">
            <a:avLst>
              <a:gd name="adj" fmla="val 5000"/>
            </a:avLst>
          </a:prstGeom>
          <a:solidFill>
            <a:srgbClr val="F3F6F9"/>
          </a:solidFill>
          <a:ln>
            <a:noFill/>
          </a:ln>
        </p:spPr>
        <p:txBody>
          <a:bodyPr rtlCol="0" anchor="ctr"/>
          <a:lstStyle/>
          <a:p>
            <a:pPr algn="ctr"/>
          </a:p>
        </p:txBody>
      </p:sp>
      <p:sp>
        <p:nvSpPr>
          <p:cNvPr id="10" name="TextBox 9"/>
          <p:cNvSpPr txBox="1"/>
          <p:nvPr/>
        </p:nvSpPr>
        <p:spPr>
          <a:xfrm>
            <a:off x="3491407" y="2936494"/>
            <a:ext cx="2339263"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그릴 흐름</a:t>
            </a:r>
          </a:p>
          <a:p>
            <a:pPr algn="ctr" eaLnBrk="0">
              <a:lnSpc>
                <a:spcPct val="110000"/>
              </a:lnSpc>
              <a:spcAft>
                <a:spcPts val="400"/>
              </a:spcAft>
            </a:pPr>
            <a:r>
              <a:rPr sz="1650" b="0">
                <a:solidFill>
                  <a:srgbClr val="1F2A3A"/>
                </a:solidFill>
                <a:latin typeface="맑은 고딕"/>
                <a:ea typeface="맑은 고딕"/>
                <a:cs typeface="맑은 고딕"/>
              </a:rPr>
              <a:t>요청 확인</a:t>
            </a:r>
          </a:p>
          <a:p>
            <a:pPr algn="ctr" eaLnBrk="0">
              <a:lnSpc>
                <a:spcPct val="110000"/>
              </a:lnSpc>
              <a:spcAft>
                <a:spcPts val="400"/>
              </a:spcAft>
            </a:pPr>
            <a:r>
              <a:rPr sz="1650" b="0">
                <a:solidFill>
                  <a:srgbClr val="1F2A3A"/>
                </a:solidFill>
                <a:latin typeface="맑은 고딕"/>
                <a:ea typeface="맑은 고딕"/>
                <a:cs typeface="맑은 고딕"/>
              </a:rPr>
              <a:t>→ 승인 여부</a:t>
            </a:r>
          </a:p>
          <a:p>
            <a:pPr algn="ctr" eaLnBrk="0">
              <a:lnSpc>
                <a:spcPct val="110000"/>
              </a:lnSpc>
              <a:spcAft>
                <a:spcPts val="400"/>
              </a:spcAft>
            </a:pPr>
            <a:r>
              <a:rPr sz="1650" b="0">
                <a:solidFill>
                  <a:srgbClr val="1F2A3A"/>
                </a:solidFill>
                <a:latin typeface="맑은 고딕"/>
                <a:ea typeface="맑은 고딕"/>
                <a:cs typeface="맑은 고딕"/>
              </a:rPr>
              <a:t>→ 승인 종료 ·</a:t>
            </a:r>
          </a:p>
          <a:p>
            <a:pPr algn="ctr" eaLnBrk="0">
              <a:lnSpc>
                <a:spcPct val="110000"/>
              </a:lnSpc>
              <a:spcAft>
                <a:spcPts val="400"/>
              </a:spcAft>
            </a:pPr>
            <a:r>
              <a:rPr sz="1650" b="0">
                <a:solidFill>
                  <a:srgbClr val="1F2A3A"/>
                </a:solidFill>
                <a:latin typeface="맑은 고딕"/>
                <a:ea typeface="맑은 고딕"/>
                <a:cs typeface="맑은 고딕"/>
              </a:rPr>
              <a:t>반려 종료</a:t>
            </a:r>
          </a:p>
        </p:txBody>
      </p:sp>
      <p:sp>
        <p:nvSpPr>
          <p:cNvPr id="11" name="Right Arrow 10"/>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2" name="Rounded Rectangle 11"/>
          <p:cNvSpPr/>
          <p:nvPr/>
        </p:nvSpPr>
        <p:spPr>
          <a:xfrm>
            <a:off x="6287871" y="2753614"/>
            <a:ext cx="2485567" cy="2475483"/>
          </a:xfrm>
          <a:prstGeom prst="roundRect">
            <a:avLst>
              <a:gd name="adj" fmla="val 5000"/>
            </a:avLst>
          </a:prstGeom>
          <a:solidFill>
            <a:srgbClr val="F3F6F9"/>
          </a:solidFill>
          <a:ln>
            <a:noFill/>
          </a:ln>
        </p:spPr>
        <p:txBody>
          <a:bodyPr rtlCol="0" anchor="ctr"/>
          <a:lstStyle/>
          <a:p>
            <a:pPr algn="ctr"/>
          </a:p>
        </p:txBody>
      </p:sp>
      <p:sp>
        <p:nvSpPr>
          <p:cNvPr id="13" name="TextBox 12"/>
          <p:cNvSpPr txBox="1"/>
          <p:nvPr/>
        </p:nvSpPr>
        <p:spPr>
          <a:xfrm>
            <a:off x="6361023" y="2936494"/>
            <a:ext cx="2339263"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산출물</a:t>
            </a:r>
          </a:p>
          <a:p>
            <a:pPr algn="ctr" eaLnBrk="0">
              <a:lnSpc>
                <a:spcPct val="110000"/>
              </a:lnSpc>
              <a:spcAft>
                <a:spcPts val="400"/>
              </a:spcAft>
            </a:pPr>
            <a:r>
              <a:rPr sz="1650" b="0">
                <a:solidFill>
                  <a:srgbClr val="1F2A3A"/>
                </a:solidFill>
                <a:latin typeface="맑은 고딕"/>
                <a:ea typeface="맑은 고딕"/>
                <a:cs typeface="맑은 고딕"/>
              </a:rPr>
              <a:t>승인 업무 파일</a:t>
            </a:r>
          </a:p>
          <a:p>
            <a:pPr algn="ctr" eaLnBrk="0">
              <a:lnSpc>
                <a:spcPct val="110000"/>
              </a:lnSpc>
              <a:spcAft>
                <a:spcPts val="400"/>
              </a:spcAft>
            </a:pPr>
            <a:r>
              <a:rPr sz="1650" b="0">
                <a:solidFill>
                  <a:srgbClr val="1F2A3A"/>
                </a:solidFill>
                <a:latin typeface="맑은 고딕"/>
                <a:ea typeface="맑은 고딕"/>
                <a:cs typeface="맑은 고딕"/>
              </a:rPr>
              <a:t>경로별 시작 ·</a:t>
            </a:r>
          </a:p>
          <a:p>
            <a:pPr algn="ctr" eaLnBrk="0">
              <a:lnSpc>
                <a:spcPct val="110000"/>
              </a:lnSpc>
              <a:spcAft>
                <a:spcPts val="400"/>
              </a:spcAft>
            </a:pPr>
            <a:r>
              <a:rPr sz="1650" b="0">
                <a:solidFill>
                  <a:srgbClr val="1F2A3A"/>
                </a:solidFill>
                <a:latin typeface="맑은 고딕"/>
                <a:ea typeface="맑은 고딕"/>
                <a:cs typeface="맑은 고딕"/>
              </a:rPr>
              <a:t>결정 · 끝 기록</a:t>
            </a:r>
          </a:p>
        </p:txBody>
      </p:sp>
      <p:sp>
        <p:nvSpPr>
          <p:cNvPr id="14" name="Right Arrow 13"/>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15" name="Rounded Rectangle 14"/>
          <p:cNvSpPr/>
          <p:nvPr/>
        </p:nvSpPr>
        <p:spPr>
          <a:xfrm>
            <a:off x="9157487" y="2753614"/>
            <a:ext cx="2485567" cy="247548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6" name="TextBox 15"/>
          <p:cNvSpPr txBox="1"/>
          <p:nvPr/>
        </p:nvSpPr>
        <p:spPr>
          <a:xfrm>
            <a:off x="9230639" y="2936494"/>
            <a:ext cx="2339263"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성공 기준</a:t>
            </a:r>
          </a:p>
          <a:p>
            <a:pPr algn="ctr" eaLnBrk="0">
              <a:lnSpc>
                <a:spcPct val="110000"/>
              </a:lnSpc>
              <a:spcAft>
                <a:spcPts val="400"/>
              </a:spcAft>
            </a:pPr>
            <a:r>
              <a:rPr sz="1650" b="0">
                <a:solidFill>
                  <a:srgbClr val="1F2A3A"/>
                </a:solidFill>
                <a:latin typeface="맑은 고딕"/>
                <a:ea typeface="맑은 고딕"/>
                <a:cs typeface="맑은 고딕"/>
              </a:rPr>
              <a:t>두 갈래가</a:t>
            </a:r>
          </a:p>
          <a:p>
            <a:pPr algn="ctr" eaLnBrk="0">
              <a:lnSpc>
                <a:spcPct val="110000"/>
              </a:lnSpc>
              <a:spcAft>
                <a:spcPts val="400"/>
              </a:spcAft>
            </a:pPr>
            <a:r>
              <a:rPr sz="1650" b="0">
                <a:solidFill>
                  <a:srgbClr val="1F2A3A"/>
                </a:solidFill>
                <a:latin typeface="맑은 고딕"/>
                <a:ea typeface="맑은 고딕"/>
                <a:cs typeface="맑은 고딕"/>
              </a:rPr>
              <a:t>각자 끝에 닿는다</a:t>
            </a:r>
          </a:p>
          <a:p>
            <a:pPr algn="ctr" eaLnBrk="0">
              <a:lnSpc>
                <a:spcPct val="110000"/>
              </a:lnSpc>
              <a:spcAft>
                <a:spcPts val="400"/>
              </a:spcAft>
            </a:pPr>
            <a:r>
              <a:rPr sz="1650" b="0">
                <a:solidFill>
                  <a:srgbClr val="1F2A3A"/>
                </a:solidFill>
                <a:latin typeface="맑은 고딕"/>
                <a:ea typeface="맑은 고딕"/>
                <a:cs typeface="맑은 고딕"/>
              </a:rPr>
              <a:t>배타 게이트웨이</a:t>
            </a:r>
          </a:p>
          <a:p>
            <a:pPr algn="ctr" eaLnBrk="0">
              <a:lnSpc>
                <a:spcPct val="110000"/>
              </a:lnSpc>
              <a:spcAft>
                <a:spcPts val="400"/>
              </a:spcAft>
            </a:pPr>
            <a:r>
              <a:rPr sz="1650" b="0">
                <a:solidFill>
                  <a:srgbClr val="1F2A3A"/>
                </a:solidFill>
                <a:latin typeface="맑은 고딕"/>
                <a:ea typeface="맑은 고딕"/>
                <a:cs typeface="맑은 고딕"/>
              </a:rPr>
              <a:t>끊긴 선 없음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 대응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역할별 레인으로 그린 설비 이상 대응</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경보에서 보고까지를 세 레인에 나눠 그려, 추천과 명령 사이에 사람의 승인이 놓이는지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705354"/>
            <a:ext cx="3515258" cy="25720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입력</a:t>
            </a:r>
          </a:p>
          <a:p>
            <a:pPr algn="l" eaLnBrk="0" marL="205740" indent="-205740">
              <a:lnSpc>
                <a:spcPct val="110000"/>
              </a:lnSpc>
              <a:spcAft>
                <a:spcPts val="400"/>
              </a:spcAft>
            </a:pPr>
            <a:r>
              <a:rPr sz="1800" b="0">
                <a:solidFill>
                  <a:srgbClr val="1F2A3A"/>
                </a:solidFill>
                <a:latin typeface="맑은 고딕"/>
                <a:ea typeface="맑은 고딕"/>
                <a:cs typeface="맑은 고딕"/>
              </a:rPr>
              <a:t>• 앞 실습의 승인 업무 흐름</a:t>
            </a:r>
          </a:p>
          <a:p>
            <a:pPr algn="l" eaLnBrk="0" marL="205740" indent="-205740">
              <a:lnSpc>
                <a:spcPct val="110000"/>
              </a:lnSpc>
              <a:spcAft>
                <a:spcPts val="400"/>
              </a:spcAft>
            </a:pPr>
            <a:r>
              <a:rPr sz="1800" b="0">
                <a:solidFill>
                  <a:srgbClr val="1F2A3A"/>
                </a:solidFill>
                <a:latin typeface="맑은 고딕"/>
                <a:ea typeface="맑은 고딕"/>
                <a:cs typeface="맑은 고딕"/>
              </a:rPr>
              <a:t>• 참조 흐름은 대조용</a:t>
            </a:r>
          </a:p>
        </p:txBody>
      </p:sp>
      <p:sp>
        <p:nvSpPr>
          <p:cNvPr id="8" name="Rounded Rectangle 7"/>
          <p:cNvSpPr/>
          <p:nvPr/>
        </p:nvSpPr>
        <p:spPr>
          <a:xfrm>
            <a:off x="777240" y="4847590"/>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84759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0" name="Rounded Rectangle 9"/>
          <p:cNvSpPr/>
          <p:nvPr/>
        </p:nvSpPr>
        <p:spPr>
          <a:xfrm>
            <a:off x="4338218" y="2705354"/>
            <a:ext cx="3515258" cy="25720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그릴 범위</a:t>
            </a:r>
          </a:p>
          <a:p>
            <a:pPr algn="l" eaLnBrk="0" marL="205740" indent="-205740">
              <a:lnSpc>
                <a:spcPct val="110000"/>
              </a:lnSpc>
              <a:spcAft>
                <a:spcPts val="400"/>
              </a:spcAft>
            </a:pPr>
            <a:r>
              <a:rPr sz="1800" b="0">
                <a:solidFill>
                  <a:srgbClr val="1F2A3A"/>
                </a:solidFill>
                <a:latin typeface="맑은 고딕"/>
                <a:ea typeface="맑은 고딕"/>
                <a:cs typeface="맑은 고딕"/>
              </a:rPr>
              <a:t>• 경보 → 진단 · 제안 → 승인 → PLC 명령 → 재확인 → 보고</a:t>
            </a:r>
          </a:p>
          <a:p>
            <a:pPr algn="l" eaLnBrk="0" marL="205740" indent="-205740">
              <a:lnSpc>
                <a:spcPct val="110000"/>
              </a:lnSpc>
              <a:spcAft>
                <a:spcPts val="400"/>
              </a:spcAft>
            </a:pPr>
            <a:r>
              <a:rPr sz="1800" b="0">
                <a:solidFill>
                  <a:srgbClr val="1F2A3A"/>
                </a:solidFill>
                <a:latin typeface="맑은 고딕"/>
                <a:ea typeface="맑은 고딕"/>
                <a:cs typeface="맑은 고딕"/>
              </a:rPr>
              <a:t>• 풀 하나에 레인 셋</a:t>
            </a:r>
          </a:p>
        </p:txBody>
      </p:sp>
      <p:sp>
        <p:nvSpPr>
          <p:cNvPr id="12" name="Rounded Rectangle 11"/>
          <p:cNvSpPr/>
          <p:nvPr/>
        </p:nvSpPr>
        <p:spPr>
          <a:xfrm>
            <a:off x="4566818" y="4847590"/>
            <a:ext cx="102108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484759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기본 경로</a:t>
            </a:r>
          </a:p>
        </p:txBody>
      </p:sp>
      <p:sp>
        <p:nvSpPr>
          <p:cNvPr id="14" name="Rounded Rectangle 13"/>
          <p:cNvSpPr/>
          <p:nvPr/>
        </p:nvSpPr>
        <p:spPr>
          <a:xfrm>
            <a:off x="8127796" y="2705354"/>
            <a:ext cx="3515258" cy="257200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산출물 · 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설비 이상 대응 초안 파일</a:t>
            </a:r>
          </a:p>
          <a:p>
            <a:pPr algn="l" eaLnBrk="0" marL="205740" indent="-205740">
              <a:lnSpc>
                <a:spcPct val="110000"/>
              </a:lnSpc>
              <a:spcAft>
                <a:spcPts val="400"/>
              </a:spcAft>
            </a:pPr>
            <a:r>
              <a:rPr sz="1800" b="0">
                <a:solidFill>
                  <a:srgbClr val="1F2A3A"/>
                </a:solidFill>
                <a:latin typeface="맑은 고딕"/>
                <a:ea typeface="맑은 고딕"/>
                <a:cs typeface="맑은 고딕"/>
              </a:rPr>
              <a:t>• 요소 ID · 레인 대응 기록</a:t>
            </a:r>
          </a:p>
          <a:p>
            <a:pPr algn="l" eaLnBrk="0" marL="205740" indent="-205740">
              <a:lnSpc>
                <a:spcPct val="110000"/>
              </a:lnSpc>
              <a:spcAft>
                <a:spcPts val="400"/>
              </a:spcAft>
            </a:pPr>
            <a:r>
              <a:rPr sz="1800" b="0">
                <a:solidFill>
                  <a:srgbClr val="1F2A3A"/>
                </a:solidFill>
                <a:latin typeface="맑은 고딕"/>
                <a:ea typeface="맑은 고딕"/>
                <a:cs typeface="맑은 고딕"/>
              </a:rPr>
              <a:t>• 명령 앞에 승인, 뒤에 재확인</a:t>
            </a:r>
          </a:p>
        </p:txBody>
      </p:sp>
      <p:sp>
        <p:nvSpPr>
          <p:cNvPr id="16" name="Rounded Rectangle 15"/>
          <p:cNvSpPr/>
          <p:nvPr/>
        </p:nvSpPr>
        <p:spPr>
          <a:xfrm>
            <a:off x="8356396" y="4847590"/>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484759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 배치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 조건과 예외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 거절 · 지연을 갖춘 안전한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 거절 분기, 반려 종료, 승인 지연 알림 타이머를 더해, 거절과 지연에서 무엇이 실행되지 않는지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더할 것</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그림에 그릴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경계</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 거절 분기</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냉각 명령</a:t>
            </a:r>
          </a:p>
          <a:p>
            <a:pPr algn="l" eaLnBrk="0">
              <a:lnSpc>
                <a:spcPct val="110000"/>
              </a:lnSpc>
            </a:pPr>
            <a:r>
              <a:rPr sz="1400" b="0">
                <a:solidFill>
                  <a:srgbClr val="1F2A3A"/>
                </a:solidFill>
                <a:latin typeface="맑은 고딕"/>
                <a:ea typeface="맑은 고딕"/>
                <a:cs typeface="맑은 고딕"/>
              </a:rPr>
              <a:t>거절 → 거절 보고 → 반려 종료</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 갈래에</a:t>
            </a:r>
          </a:p>
          <a:p>
            <a:pPr algn="l" eaLnBrk="0">
              <a:lnSpc>
                <a:spcPct val="110000"/>
              </a:lnSpc>
            </a:pPr>
            <a:r>
              <a:rPr sz="1250" b="1">
                <a:solidFill>
                  <a:srgbClr val="556175"/>
                </a:solidFill>
                <a:latin typeface="맑은 고딕"/>
                <a:ea typeface="맑은 고딕"/>
                <a:cs typeface="맑은 고딕"/>
              </a:rPr>
              <a:t>명령이 없다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지연 알림</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승인에 비중단형 경계 타이머</a:t>
            </a:r>
          </a:p>
          <a:p>
            <a:pPr algn="l" eaLnBrk="0">
              <a:lnSpc>
                <a:spcPct val="110000"/>
              </a:lnSpc>
            </a:pPr>
            <a:r>
              <a:rPr sz="1400" b="0">
                <a:solidFill>
                  <a:srgbClr val="1F2A3A"/>
                </a:solidFill>
                <a:latin typeface="맑은 고딕"/>
                <a:ea typeface="맑은 고딕"/>
                <a:cs typeface="맑은 고딕"/>
              </a:rPr>
              <a:t>→ 승인 지연 알림 → 알림 끝</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알림이 승인 작업을</a:t>
            </a:r>
          </a:p>
          <a:p>
            <a:pPr algn="l" eaLnBrk="0">
              <a:lnSpc>
                <a:spcPct val="110000"/>
              </a:lnSpc>
            </a:pPr>
            <a:r>
              <a:rPr sz="1250" b="1">
                <a:solidFill>
                  <a:srgbClr val="556175"/>
                </a:solidFill>
                <a:latin typeface="맑은 고딕"/>
                <a:ea typeface="맑은 고딕"/>
                <a:cs typeface="맑은 고딕"/>
              </a:rPr>
              <a:t>끊지 않는다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조건과 기한</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갈림의 조건 · 기본 흐름 · 10분 기한을</a:t>
            </a:r>
          </a:p>
          <a:p>
            <a:pPr algn="l" eaLnBrk="0">
              <a:lnSpc>
                <a:spcPct val="110000"/>
              </a:lnSpc>
            </a:pPr>
            <a:r>
              <a:rPr sz="1400" b="0">
                <a:solidFill>
                  <a:srgbClr val="1F2A3A"/>
                </a:solidFill>
                <a:latin typeface="맑은 고딕"/>
                <a:ea typeface="맑은 고딕"/>
                <a:cs typeface="맑은 고딕"/>
              </a:rPr>
              <a:t>조건 계획에 적는다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선 이름만으로</a:t>
            </a:r>
          </a:p>
          <a:p>
            <a:pPr algn="l" eaLnBrk="0">
              <a:lnSpc>
                <a:spcPct val="110000"/>
              </a:lnSpc>
            </a:pPr>
            <a:r>
              <a:rPr sz="1250" b="1">
                <a:solidFill>
                  <a:srgbClr val="1A6FC4"/>
                </a:solidFill>
                <a:latin typeface="맑은 고딕"/>
                <a:ea typeface="맑은 고딕"/>
                <a:cs typeface="맑은 고딕"/>
              </a:rPr>
              <a:t>조건이 생기지 않는다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에이전트와 실행 연결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내 그림과 등록된 기준 흐름의 실행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직접 그린 흐름을 포털에 등록된 기준 흐름과 견주고, 작업마다 어떤 실행 기능에 대응하는지 제공 매핑에서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찾을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제공 매핑에서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내 그림에 표시할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 이벤트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패턴 COOLER_DEGRADATION</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경보 시작</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 단계</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판단 · 제안 부품, 냉각 대응 에이전트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 · 제안 작업</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거절 부품, 운전원 역할</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사용자 작업</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명령 · 재관측</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PLC 명령 · 재관측 부품</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서비스 작업 둘</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그림 파일과 실행 정의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조건 · 기한 · 담당은 매핑에 있다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그림에 없는 값을</a:t>
            </a:r>
          </a:p>
          <a:p>
            <a:pPr algn="l" eaLnBrk="0">
              <a:lnSpc>
                <a:spcPct val="110000"/>
              </a:lnSpc>
            </a:pPr>
            <a:r>
              <a:rPr sz="1250" b="1">
                <a:solidFill>
                  <a:srgbClr val="1A6FC4"/>
                </a:solidFill>
                <a:latin typeface="맑은 고딕"/>
                <a:ea typeface="맑은 고딕"/>
                <a:cs typeface="맑은 고딕"/>
              </a:rPr>
              <a:t>따로 적는다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연결 검사와 수정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역할 · 분기 · 종료 연결의 검사와 수정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 반려 경로와 종료 연결을 따라가 누락을 찾아 고치고, 기준 BPMN · 매핑과 담당 역할 · 실행 기능을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따라갈 경로</a:t>
            </a:r>
          </a:p>
          <a:p>
            <a:pPr algn="l" eaLnBrk="0" marL="205740" indent="-205740">
              <a:lnSpc>
                <a:spcPct val="110000"/>
              </a:lnSpc>
              <a:spcAft>
                <a:spcPts val="400"/>
              </a:spcAft>
            </a:pPr>
            <a:r>
              <a:rPr sz="1800" b="0">
                <a:solidFill>
                  <a:srgbClr val="1F2A3A"/>
                </a:solidFill>
                <a:latin typeface="맑은 고딕"/>
                <a:ea typeface="맑은 고딕"/>
                <a:cs typeface="맑은 고딕"/>
              </a:rPr>
              <a:t>• 승인 경로 · 반려 경로 · 지연 알림 갈래</a:t>
            </a:r>
          </a:p>
          <a:p>
            <a:pPr algn="l" eaLnBrk="0" marL="205740" indent="-205740">
              <a:lnSpc>
                <a:spcPct val="110000"/>
              </a:lnSpc>
              <a:spcAft>
                <a:spcPts val="400"/>
              </a:spcAft>
            </a:pPr>
            <a:r>
              <a:rPr sz="1800" b="0">
                <a:solidFill>
                  <a:srgbClr val="1F2A3A"/>
                </a:solidFill>
                <a:latin typeface="맑은 고딕"/>
                <a:ea typeface="맑은 고딕"/>
                <a:cs typeface="맑은 고딕"/>
              </a:rPr>
              <a:t>• 갈래마다 끝 이벤트에 닿는가</a:t>
            </a:r>
          </a:p>
        </p:txBody>
      </p:sp>
      <p:sp>
        <p:nvSpPr>
          <p:cNvPr id="10" name="Rounded Rectangle 9"/>
          <p:cNvSpPr/>
          <p:nvPr/>
        </p:nvSpPr>
        <p:spPr>
          <a:xfrm>
            <a:off x="777240" y="5398516"/>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분기 · 종료</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대조할 것</a:t>
            </a:r>
          </a:p>
          <a:p>
            <a:pPr algn="l" eaLnBrk="0" marL="205740" indent="-205740">
              <a:lnSpc>
                <a:spcPct val="110000"/>
              </a:lnSpc>
              <a:spcAft>
                <a:spcPts val="400"/>
              </a:spcAft>
            </a:pPr>
            <a:r>
              <a:rPr sz="1800" b="0">
                <a:solidFill>
                  <a:srgbClr val="1F2A3A"/>
                </a:solidFill>
                <a:latin typeface="맑은 고딕"/>
                <a:ea typeface="맑은 고딕"/>
                <a:cs typeface="맑은 고딕"/>
              </a:rPr>
              <a:t>• 제공 기준 BPMN과 매핑</a:t>
            </a:r>
          </a:p>
          <a:p>
            <a:pPr algn="l" eaLnBrk="0" marL="205740" indent="-205740">
              <a:lnSpc>
                <a:spcPct val="110000"/>
              </a:lnSpc>
              <a:spcAft>
                <a:spcPts val="400"/>
              </a:spcAft>
            </a:pPr>
            <a:r>
              <a:rPr sz="1800" b="0">
                <a:solidFill>
                  <a:srgbClr val="1F2A3A"/>
                </a:solidFill>
                <a:latin typeface="맑은 고딕"/>
                <a:ea typeface="맑은 고딕"/>
                <a:cs typeface="맑은 고딕"/>
              </a:rPr>
              <a:t>• 작업별 담당 역할 · 실행 기능이 빠지지 않았나</a:t>
            </a:r>
          </a:p>
        </p:txBody>
      </p:sp>
      <p:sp>
        <p:nvSpPr>
          <p:cNvPr id="16" name="Rounded Rectangle 15"/>
          <p:cNvSpPr/>
          <p:nvPr/>
        </p:nvSpPr>
        <p:spPr>
          <a:xfrm>
            <a:off x="4566818" y="5398516"/>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 · 기능</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산출물 · 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고친 .bpmn과 수정 기록</a:t>
            </a:r>
          </a:p>
          <a:p>
            <a:pPr algn="l" eaLnBrk="0" marL="205740" indent="-205740">
              <a:lnSpc>
                <a:spcPct val="110000"/>
              </a:lnSpc>
              <a:spcAft>
                <a:spcPts val="400"/>
              </a:spcAft>
            </a:pPr>
            <a:r>
              <a:rPr sz="1800" b="0">
                <a:solidFill>
                  <a:srgbClr val="1F2A3A"/>
                </a:solidFill>
                <a:latin typeface="맑은 고딕"/>
                <a:ea typeface="맑은 고딕"/>
                <a:cs typeface="맑은 고딕"/>
              </a:rPr>
              <a:t>• 저장 뒤 다시 열어도 연결이 그대로다</a:t>
            </a:r>
          </a:p>
          <a:p>
            <a:pPr algn="l" eaLnBrk="0" marL="205740" indent="-205740">
              <a:lnSpc>
                <a:spcPct val="110000"/>
              </a:lnSpc>
              <a:spcAft>
                <a:spcPts val="400"/>
              </a:spcAft>
            </a:pPr>
            <a:r>
              <a:rPr sz="1800" b="0">
                <a:solidFill>
                  <a:srgbClr val="1F2A3A"/>
                </a:solidFill>
                <a:latin typeface="맑은 고딕"/>
                <a:ea typeface="맑은 고딕"/>
                <a:cs typeface="맑은 고딕"/>
              </a:rPr>
              <a:t>• 실제로 찾은 문제만 고친다</a:t>
            </a:r>
          </a:p>
        </p:txBody>
      </p:sp>
      <p:sp>
        <p:nvSpPr>
          <p:cNvPr id="22" name="Rounded Rectangle 21"/>
          <p:cNvSpPr/>
          <p:nvPr/>
        </p:nvSpPr>
        <p:spPr>
          <a:xfrm>
            <a:off x="8356396" y="5398516"/>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검사 기록</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이벤트와 처리 결과</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준비된 시나리오 A로 검증하는 처리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준비된 냉각 대응 시나리오 A의 처리 건 하나를 따라가며, 자동으로 처리된 것과 사람이 확인할 것을 기록으로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따라갈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기록에서 확인할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구별할 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 → 운전원 승인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추천안 · 판단 번호 · 승인 대기</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a:t>
            </a:r>
          </a:p>
          <a:p>
            <a:pPr algn="l" eaLnBrk="0">
              <a:lnSpc>
                <a:spcPct val="110000"/>
              </a:lnSpc>
            </a:pPr>
            <a:r>
              <a:rPr sz="1250" b="1">
                <a:solidFill>
                  <a:srgbClr val="556175"/>
                </a:solidFill>
                <a:latin typeface="맑은 고딕"/>
                <a:ea typeface="맑은 고딕"/>
                <a:cs typeface="맑은 고딕"/>
              </a:rPr>
              <a:t>vs 오류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명령 → 재관측</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 처리 · 유온 회복 · 경보 해제</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 처리</a:t>
            </a:r>
          </a:p>
          <a:p>
            <a:pPr algn="l" eaLnBrk="0">
              <a:lnSpc>
                <a:spcPct val="110000"/>
              </a:lnSpc>
            </a:pPr>
            <a:r>
              <a:rPr sz="1250" b="1">
                <a:solidFill>
                  <a:srgbClr val="556175"/>
                </a:solidFill>
                <a:latin typeface="맑은 고딕"/>
                <a:ea typeface="맑은 고딕"/>
                <a:cs typeface="맑은 고딕"/>
              </a:rPr>
              <a:t>vs 온도 회복</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 보고</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번호 · 결과 보고 · 끝</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작업지시 등록</a:t>
            </a:r>
          </a:p>
          <a:p>
            <a:pPr algn="l" eaLnBrk="0">
              <a:lnSpc>
                <a:spcPct val="110000"/>
              </a:lnSpc>
            </a:pPr>
            <a:r>
              <a:rPr sz="1250" b="1">
                <a:solidFill>
                  <a:srgbClr val="556175"/>
                </a:solidFill>
                <a:latin typeface="맑은 고딕"/>
                <a:ea typeface="맑은 고딕"/>
                <a:cs typeface="맑은 고딕"/>
              </a:rPr>
              <a:t>vs 정비 완료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 · 보류 · 지연</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실제 기록인지 제공 사례인지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실행한 것</a:t>
            </a:r>
          </a:p>
          <a:p>
            <a:pPr algn="l" eaLnBrk="0">
              <a:lnSpc>
                <a:spcPct val="110000"/>
              </a:lnSpc>
            </a:pPr>
            <a:r>
              <a:rPr sz="1250" b="1">
                <a:solidFill>
                  <a:srgbClr val="556175"/>
                </a:solidFill>
                <a:latin typeface="맑은 고딕"/>
                <a:ea typeface="맑은 고딕"/>
                <a:cs typeface="맑은 고딕"/>
              </a:rPr>
              <a:t>vs 사례로 본 것</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남길 기록</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정의 · 판본 · 처리 건 · 결과와 내 BPMN의 대응 작업</a:t>
            </a:r>
          </a:p>
          <a:p>
            <a:pPr algn="l" eaLnBrk="0">
              <a:lnSpc>
                <a:spcPct val="110000"/>
              </a:lnSpc>
            </a:pPr>
            <a:r>
              <a:rPr sz="1400" b="0">
                <a:solidFill>
                  <a:srgbClr val="1F2A3A"/>
                </a:solidFill>
                <a:latin typeface="맑은 고딕"/>
                <a:ea typeface="맑은 고딕"/>
                <a:cs typeface="맑은 고딕"/>
              </a:rPr>
              <a:t>다음 담당자가 이어 볼 일과 근거</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결과물</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경보 한 건을 실행 정의와 기록으로 되짚기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경보 하나에서 나오는 물음마다 답이 놓인 자리가 달라서, 그 자리를 가리는 것이 이번 회차의 핵심이다.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답이 놓인 자리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헷갈리기 쉬운 짝</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추천안이 나오면 업무가 끝났나</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End-to-End의 끝 이벤트와 결과 보고</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Task</a:t>
            </a:r>
          </a:p>
          <a:p>
            <a:pPr algn="l" eaLnBrk="0">
              <a:lnSpc>
                <a:spcPct val="110000"/>
              </a:lnSpc>
            </a:pPr>
            <a:r>
              <a:rPr sz="1250" b="1">
                <a:solidFill>
                  <a:srgbClr val="556175"/>
                </a:solidFill>
                <a:latin typeface="맑은 고딕"/>
                <a:ea typeface="맑은 고딕"/>
                <a:cs typeface="맑은 고딕"/>
              </a:rPr>
              <a:t>vs End-to-End</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선 이름이 「승인」이면 조건이 걸렸나</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연결 값의 조건 approval == '승인'</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선 이름</a:t>
            </a:r>
          </a:p>
          <a:p>
            <a:pPr algn="l" eaLnBrk="0">
              <a:lnSpc>
                <a:spcPct val="110000"/>
              </a:lnSpc>
            </a:pPr>
            <a:r>
              <a:rPr sz="1250" b="1">
                <a:solidFill>
                  <a:srgbClr val="556175"/>
                </a:solidFill>
                <a:latin typeface="맑은 고딕"/>
                <a:ea typeface="맑은 고딕"/>
                <a:cs typeface="맑은 고딕"/>
              </a:rPr>
              <a:t>vs 실행 조건</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알림 뒤에도 승인을 기다리나</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비중단형 경계 타이머</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알림</a:t>
            </a:r>
          </a:p>
          <a:p>
            <a:pPr algn="l" eaLnBrk="0">
              <a:lnSpc>
                <a:spcPct val="110000"/>
              </a:lnSpc>
            </a:pPr>
            <a:r>
              <a:rPr sz="1250" b="1">
                <a:solidFill>
                  <a:srgbClr val="556175"/>
                </a:solidFill>
                <a:latin typeface="맑은 고딕"/>
                <a:ea typeface="맑은 고딕"/>
                <a:cs typeface="맑은 고딕"/>
              </a:rPr>
              <a:t>vs 종료</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승인에 머문 처리 건은 오류인가</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토큰이 사용자 작업에 머문 RUNNING</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a:t>
            </a:r>
          </a:p>
          <a:p>
            <a:pPr algn="l" eaLnBrk="0">
              <a:lnSpc>
                <a:spcPct val="110000"/>
              </a:lnSpc>
            </a:pPr>
            <a:r>
              <a:rPr sz="1250" b="1">
                <a:solidFill>
                  <a:srgbClr val="556175"/>
                </a:solidFill>
                <a:latin typeface="맑은 고딕"/>
                <a:ea typeface="맑은 고딕"/>
                <a:cs typeface="맑은 고딕"/>
              </a:rPr>
              <a:t>vs 오류</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COMPLETED면 성공인가</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 · 결과 보고 · 단계 상태</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실행 종료</a:t>
            </a:r>
          </a:p>
          <a:p>
            <a:pPr algn="l" eaLnBrk="0">
              <a:lnSpc>
                <a:spcPct val="110000"/>
              </a:lnSpc>
            </a:pPr>
            <a:r>
              <a:rPr sz="1250" b="1">
                <a:solidFill>
                  <a:srgbClr val="556175"/>
                </a:solidFill>
                <a:latin typeface="맑은 고딕"/>
                <a:ea typeface="맑은 고딕"/>
                <a:cs typeface="맑은 고딕"/>
              </a:rPr>
              <a:t>vs 업무 성공</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작업지시가 등록되면 정비가 끝났나</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CMMS의 작업 완료 확인</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작업지시 등록</a:t>
            </a:r>
          </a:p>
          <a:p>
            <a:pPr algn="l" eaLnBrk="0">
              <a:lnSpc>
                <a:spcPct val="110000"/>
              </a:lnSpc>
            </a:pPr>
            <a:r>
              <a:rPr sz="1250" b="1">
                <a:solidFill>
                  <a:srgbClr val="1A6FC4"/>
                </a:solidFill>
                <a:latin typeface="맑은 고딕"/>
                <a:ea typeface="맑은 고딕"/>
                <a:cs typeface="맑은 고딕"/>
              </a:rPr>
              <a:t>vs 정비 완료</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회차의 프로세스 설계와 실행에서 쓰는 용어를 정식 명칭과 한 줄 뜻으로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비즈니스 프로세스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a:t>
            </a:r>
          </a:p>
          <a:p>
            <a:pPr algn="l" eaLnBrk="0">
              <a:lnSpc>
                <a:spcPct val="110000"/>
              </a:lnSpc>
            </a:pPr>
            <a:r>
              <a:rPr sz="1250" b="0">
                <a:solidFill>
                  <a:srgbClr val="1F2A3A"/>
                </a:solidFill>
                <a:latin typeface="맑은 고딕"/>
                <a:ea typeface="맑은 고딕"/>
                <a:cs typeface="맑은 고딕"/>
              </a:rPr>
              <a:t>원하는 결과를 내기 위해 관련된 작업과 흐름을 정한 묶음</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오케스트레이션</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Orchestration</a:t>
            </a:r>
          </a:p>
          <a:p>
            <a:pPr algn="l" eaLnBrk="0">
              <a:lnSpc>
                <a:spcPct val="110000"/>
              </a:lnSpc>
            </a:pPr>
            <a:r>
              <a:rPr sz="1250" b="0">
                <a:solidFill>
                  <a:srgbClr val="1F2A3A"/>
                </a:solidFill>
                <a:latin typeface="맑은 고딕"/>
                <a:ea typeface="맑은 고딕"/>
                <a:cs typeface="맑은 고딕"/>
              </a:rPr>
              <a:t>중앙의 조정자가 작업의 순서와 호출을 이끄는 방식</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Management</a:t>
            </a:r>
          </a:p>
          <a:p>
            <a:pPr algn="l" eaLnBrk="0">
              <a:lnSpc>
                <a:spcPct val="110000"/>
              </a:lnSpc>
            </a:pPr>
            <a:r>
              <a:rPr sz="1250" b="0">
                <a:solidFill>
                  <a:srgbClr val="1F2A3A"/>
                </a:solidFill>
                <a:latin typeface="맑은 고딕"/>
                <a:ea typeface="맑은 고딕"/>
                <a:cs typeface="맑은 고딕"/>
              </a:rPr>
              <a:t>프로세스를 분석 · 설계 · 실행 · 모니터링 · 개선으로 되풀이해 관리하는 방법</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BPMN</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Model and Notation</a:t>
            </a:r>
          </a:p>
          <a:p>
            <a:pPr algn="l" eaLnBrk="0">
              <a:lnSpc>
                <a:spcPct val="110000"/>
              </a:lnSpc>
            </a:pPr>
            <a:r>
              <a:rPr sz="1250" b="0">
                <a:solidFill>
                  <a:srgbClr val="1F2A3A"/>
                </a:solidFill>
                <a:latin typeface="맑은 고딕"/>
                <a:ea typeface="맑은 고딕"/>
                <a:cs typeface="맑은 고딕"/>
              </a:rPr>
              <a:t>도형과 선의 뜻을 정해 업무 프로세스를 그리는 표기 표준</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350" b="1">
                <a:solidFill>
                  <a:srgbClr val="13294B"/>
                </a:solidFill>
                <a:latin typeface="맑은 고딕"/>
                <a:ea typeface="맑은 고딕"/>
                <a:cs typeface="맑은 고딕"/>
              </a:rPr>
              <a:t>배타 게이트웨이 · 기본 흐름</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Exclusive Gateway · Default Flow</a:t>
            </a:r>
          </a:p>
          <a:p>
            <a:pPr algn="l" eaLnBrk="0">
              <a:lnSpc>
                <a:spcPct val="110000"/>
              </a:lnSpc>
            </a:pPr>
            <a:r>
              <a:rPr sz="1250" b="0">
                <a:solidFill>
                  <a:srgbClr val="1F2A3A"/>
                </a:solidFill>
                <a:latin typeface="맑은 고딕"/>
                <a:ea typeface="맑은 고딕"/>
                <a:cs typeface="맑은 고딕"/>
              </a:rPr>
              <a:t>조건이 참인 한 갈래로만 보내는 갈림, 그리고 어느 조건도 맞지 않을 때 가는 선</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 이벤트</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Boundary Event</a:t>
            </a:r>
          </a:p>
          <a:p>
            <a:pPr algn="l" eaLnBrk="0">
              <a:lnSpc>
                <a:spcPct val="110000"/>
              </a:lnSpc>
            </a:pPr>
            <a:r>
              <a:rPr sz="1250" b="0">
                <a:solidFill>
                  <a:srgbClr val="1F2A3A"/>
                </a:solidFill>
                <a:latin typeface="맑은 고딕"/>
                <a:ea typeface="맑은 고딕"/>
                <a:cs typeface="맑은 고딕"/>
              </a:rPr>
              <a:t>작업 테두리에 붙어, 그 작업이 진행 중일 때 생기는 일에 반응하는 이벤트</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엔진 · 인스턴스</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Engine · Process Instance</a:t>
            </a:r>
          </a:p>
          <a:p>
            <a:pPr algn="l" eaLnBrk="0">
              <a:lnSpc>
                <a:spcPct val="110000"/>
              </a:lnSpc>
            </a:pPr>
            <a:r>
              <a:rPr sz="1250" b="0">
                <a:solidFill>
                  <a:srgbClr val="1F2A3A"/>
                </a:solidFill>
                <a:latin typeface="맑은 고딕"/>
                <a:ea typeface="맑은 고딕"/>
                <a:cs typeface="맑은 고딕"/>
              </a:rPr>
              <a:t>정의를 읽어 실행하는 소프트웨어, 그리고 정의에 따라 수행되는 한 건(처리 건)</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토큰 · 프로세스 변수</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Token · Process Variable</a:t>
            </a:r>
          </a:p>
          <a:p>
            <a:pPr algn="l" eaLnBrk="0">
              <a:lnSpc>
                <a:spcPct val="110000"/>
              </a:lnSpc>
            </a:pPr>
            <a:r>
              <a:rPr sz="1250" b="0">
                <a:solidFill>
                  <a:srgbClr val="1F2A3A"/>
                </a:solidFill>
                <a:latin typeface="맑은 고딕"/>
                <a:ea typeface="맑은 고딕"/>
                <a:cs typeface="맑은 고딕"/>
              </a:rPr>
              <a:t>흐름의 현재 위치를 나타내는 표식, 그리고 처리 건이 지닌 이름 붙은 값</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판본 · 감사 기록</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Version · Audit Log</a:t>
            </a:r>
          </a:p>
          <a:p>
            <a:pPr algn="l" eaLnBrk="0">
              <a:lnSpc>
                <a:spcPct val="110000"/>
              </a:lnSpc>
            </a:pPr>
            <a:r>
              <a:rPr sz="1250" b="0">
                <a:solidFill>
                  <a:srgbClr val="1F2A3A"/>
                </a:solidFill>
                <a:latin typeface="맑은 고딕"/>
                <a:ea typeface="맑은 고딕"/>
                <a:cs typeface="맑은 고딕"/>
              </a:rPr>
              <a:t>바꾸지 않고 쌓는 정의의 한 벌, 그리고 시작 · 배포 · 거부된 승인을 남기는 기록</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정상으로 끝난 처리 건을 넘기는 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처리 건이 결과 보고 정상 · COMPLETED로 끝났고, 작업지시 WO-1010-C058이 등록돼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정비 담당자에게 넘기는 말로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핀 세척까지 끝났으니 따로 확인할 일이 없다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운전으로 핀 오염이 제거됐다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유온은 기준 아래로 회복됐고, 핀 세척 작업지시가 배정돼 세척 완료 확인이 남았다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끝났으니 팬 100 % 운전 제한도 풀렸다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선 이름만 적은 갈림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편집기에서 승인? 게이트웨이의 두 선 이름을 「승인」 · 「거절」로 적었고, 연결 값에는 조건을 넣지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상태에 대한 설명으로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선 이름은 표시일 뿐이라, 조건과 기본 흐름을 연결 값에 정해야 실행에서 갈린다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엔진이 선 이름을 읽어 승인일 때만 냉각 명령으로 간다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배타 게이트웨이를 그렸으니 거절 선이 저절로 기본 흐름이 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에이전트가 추천안을 보고 갈래를 고른다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판단 제출에 넣은 명령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추천안을 제출하면서 「팬 속도 100 %」라는 명령 값을 함께 넣었다.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제출의 처리로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엔진이 그 값으로 바로 냉각 명령 작업을 연다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운전원이 승인하면 에이전트가 PLC에 직접 보낸다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승인을 기다리는 동안 SCADA가 미리 실행해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명령 모양의 값이 든 제출은 거부되고, 명령은 승인 뒤 프로세스 쪽에서만 만들어진다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기록의 뜻을 가리고, 그림과 실행 정의를 구별하고, 명령을 만드는 책임의 자리를 바르게 읽는지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 처리 · 회복 · 작업지시 등록은 서로 다른 사실이다. 세척 완료와 SOP의 운전 제한은 이어서 확인한다.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갈림은 연결 값의 조건과 기본 흐름이 정한다. 선 이름은 그림의 표시다.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에이전트의 쓰기는 판단 제출뿐이다. 설비 명령은 승인 뒤 프로세스가 만든다.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