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안녕하세요. 이번 회차에서는 설비 경보 바깥의 두 업무, 정기 점검과 재고 보충을 프로세스로 실행하고, 그 실행 결과가 실제 업무를 어디까지 끝냈는지 기록으로 따져 보겠습니다. 앞 회차에서 BPMN으로 그린 긴급 대응 프로세스가 경보 한 건을 승인과 실행까지 끌고 가는 걸 봤죠. 그런데 공장에는 경보 말고도 일을 시작시키는 사건이 있습니다. 운전시간이 차서 정기 점검이 돌아오기도 하고, 예비품이 모자라 주문해야 하기도 하죠. 이번 회차의 물음은 두 가지예요. 이 업무들도 같은 승인 구조로 돌릴 수 있는가, 그리고 프로세스가 끝났다고 표시될 때 정비와 입고는 정말 끝난 것인가.</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학습목표는 화면의 카드 네 장입니다. 첫 카드는 정기 점검 도래와 재고 부족이 프로세스를 어떻게 여는지 견주고, 오더 등록과 정비 완료, 발주와 입고를 가르는 일이에요. 두 번째 카드는 긴급 대응에서 쓴 승인 블록을 그대로 다시 쓰면서 바뀌는 값만 고르고, 처리 건의 상태와 배포, 오류와 거절 기록을 읽는 일입니다. 세 번째 카드가 실습이죠. 두 프로세스를 직접 그리고, 준비된 시나리오로 실행해서 같은 처리 건 안의 오더와 예약, 발주와 입고를 대조합니다. 마지막 카드는 지식에서 업무 기록까지 이어진 길을 되짚고, 다음 담당자가 확인해야 할 미완료를 근거와 함께 골라 두는 일입니다.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목차를 보면 이론 두 단원을 먼저 갑니다. 첫 단원은 세 업무가 무엇으로 시작해서 어디서 끝나는지, 두 번째 단원은 같은 정의를 다시 쓰고 실행 기록을 읽는 법이에요. 그다음 정기 점검과 재고 보충을 각각 그리고 실행하는 실습 넷을 하고, 마지막 단원에서 설계와 실행, 검증을 한데 모아 정리한 뒤 용어와 퀴즈로 마칩니다.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단원은 세 업무의 시작 조건과 끝나는 지점입니다. 정기 점검 도래와 재고 부족은 센서 값이 아니라 업무 시스템의 데이터에서 시작하죠. 그래서 무엇이 프로세스를 여는지부터 보고, 그 프로세스가 끝 이벤트에 닿았을 때 정비와 구매라는 업무는 어디까지 된 건지를 가르겠습니다. 단원 끝에서는 재고 수량 하나로 판단 문제를 풀어 봅니다.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화면의 표는 세 업무를 한 줄씩 놓은 겁니다. 첫 줄 긴급 대응은 이미 아는 흐름이죠. HYD-01의 쿨러 성능 저하 경보가 열고, 냉각 긴급 대응 에이전트가 추천안을 내면 운전원이 승인합니다. 가운데 줄이 정기 점검이에요. 대상은 HYD-02이고, 처리 건을 여는 건 센서 값이 아니라 운전시간입니다. 정기 정비 계획 에이전트가 언제 정비할지 제안하고, 승인은 설비보전팀장이 하죠. 셋째 줄 재고 보충은 펌프 축 씰 키트의 가용 재고가 모자랄 때 열리고, 예비품 구매 에이전트가 수량과 공급사를 제안하면 구매 담당이 승인합니다. 오른쪽 칸을 보세요. 실행하는 시스템이 업무마다 다릅니다. 긴급 대응은 설비를 움직이는 SCADA와 작업지시를 받는 CMMS, 정기 점검은 CMMS와 메일, 재고 보충은 ERP와 메일이에요. ERP는 Enterprise Resource Planning, 우리말로 전사적 자원 관리 시스템입니다. 구매와 재고 같은 회사 자원을 한 시스템에서 관리하는 쪽이죠. 그래서 프로세스가 끝났을 때 남는 결과도 셋이 다릅니다. 하나는 설비 명령과 작업지시, 하나는 정비 오더와 공지, 하나는 발주와 입고예요. 이 결과가 업무를 어디까지 끝낸 것인지가 이번 회차 내내 따라갈 물음입니다.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정기 점검이 무엇으로 시작되는지 운전시간으로 보겠습니다. 정기 정비처럼 고장이 나기 전에 운전시간이나 기간을 기준으로 미리 하는 정비를 예방 정비라고 하죠. HYD의 파워팩은 마지막 정기 정비 뒤로 몇 시간을 돌았는지 운전시간 계수기로 셉니다. 화면의 값들은 수업의 가상 회사가 정한 설정이고, 특정 제조사의 기준은 아닙니다. 가운데 강조한 칸이 1,950시간이에요. 주기 2,000시간보다 50시간 앞서서 정기 점검 도래 경보가 나가고, 이 경보가 처리 건을 엽니다. 그런데 도래는 정비를 지금 하라는 뜻이 아니라 계획을 시작하라는 신호예요. 왼쪽 첫 칸의 1,800시간과 넷째 칸의 2,200시간 사이가 허용 오차, 곧 주기 앞뒤로 정비를 시행해도 되는 범위입니다. 에이전트는 이 범위 안에서 언제 할지를 견주고, 상한 2,200시간을 넘기는 일정은 후보로 남기지 않습니다. 마지막 칸을 눈여겨보세요. 계수기가 0으로 돌아가는 건 오더를 냈을 때가 아니라, 정비를 하고 시운전까지 정상으로 확인한 뒤입니다. 경보가 나간 때, 오더를 낸 때, 정비가 끝난 때가 서로 다른 시점이라는 걸 기억해 두세요.</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재고 부족 쪽은 계산으로 열립니다. 화면 왼쪽 위의 식이 가용 재고예요. 창고에 있는 현재고에서 정비에 쓰려고 잡아 둔 예약분을 빼고, 이미 발주해서 들어올 예정인 수량은 더합니다. 씰 키트는 현재고 3개에 예약 2개, 발주 중 0개라서 가용 재고가 1개죠. 그 아래 줄이 판정입니다. 재주문점은 가용 재고가 이 수 아래로 내려가면 다시 주문하는 기준인데, 씰 키트는 2개예요. 1이 2보다 작으니 재고 부족 경보가 나가고 재고 보충 처리 건이 열립니다. 얼마를 살지도 같은 수에서 나와요. 목표 재고 7개에서 가용 재고 1개를 빼서 6개, 이게 발주안의 수량이 됩니다. 맨 아래 두 줄은 이 경보가 실제로 도착하는 모양이에요. 출처가 ERP라 경보 번호의 앞머리가 다를 뿐, 센서 경보와 같은 칸으로 옵니다. 정기 점검 도래 경보도 마찬가지고요. 형식이 같으니 세 프로세스 모두 같은 메시지 시작 이벤트로 열 수 있습니다. 수업에서는 업무 시스템이 스스로 이 경보를 내는 감시를 꺼 두고, 포털의 버튼이 같은 형식의 경보를 대신 냅니다.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시작 조건은 따로 노는 게 아닙니다. 화면 위쪽이 정비, 아래쪽이 구매, 오른쪽 가운데가 둘을 잇는 씰 키트의 가용 재고예요. 위에서부터 따라가 볼게요. 설비보전팀장이 정비 계획을 승인하면 정비 오더가 등록되고, 정비 지침은 이때 씰 키트와 리턴 필터의 출고를 예약하라고 정해 두었습니다. 예약은 아직 창고에서 꺼낸 건 아니지만, 가용 재고 식에서는 바로 빠지죠. 그래서 오른쪽 가용 재고가 예약만큼 줄고, 재주문점 아래로 내려가면 아래쪽의 재고 부족 경보가 납니다. 정비 업무의 결과가 구매 업무의 시작 조건이 되는 길이에요. 정비 지침도 이 연결을 적어 두었습니다. 씰 키트 가용 재고가 3개 미만이면 출고 뒤에 재주문점 아래로 내려가니, 정비 계획 제안에 구매 경보가 나올 예정이라고 표시하라는 거예요. 점선은 반대 방향입니다. 재고 보충 처리 건이 발주하고 입고하면 가용 재고가 다시 올라가죠. 그래서 정비를 승인하는 사람은 부품까지, 구매를 승인하는 사람은 예약된 정비까지 함께 보게 됩니다.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단원의 핵심 물음으로 가 보죠. 프로세스가 끝 이벤트에 닿으면 업무도 끝난 걸까요? 화면의 표는 업무마다 가운데 칸에 끝 이벤트에 닿을 때까지 기록된 것을, 오른쪽 칸에 그 업무가 정말 끝났다고 볼 기준을 놓았습니다. 긴급 대응은 팬 명령을 내고 재관측에서 유온이 정상으로 돌아온 뒤 작업지시를 등록하고 끝나요. 이 작업지시의 상태는 배정됨입니다. 핀 세척이라는 일이 사람에게 맡겨졌다는 뜻이지, 세척을 마쳤다는 뜻이 아니에요. 정기 점검도 마찬가지입니다. 프로세스는 정비 오더를 배정됨으로 등록하고, 부품 출고를 예약하고, 생산팀에 공지 메일을 보내면 끝나요. 하지만 정비가 끝났다고 보려면 예정된 정비 시간에 실제로 시행하고, 시운전에서 기준을 만족해서 계수기를 0으로 되돌린 기록이 있어야 합니다. 업무 시스템에서도 오더를 완료로 바꾸는 건 별도의 거래이고, 현장 점검과 시운전 확인이 없으면 받아 주지 않아요. 셋째 줄 재고 보충은 조금 다릅니다. 수업 시스템은 발주와 공급사 통지 뒤에 같은 처리 건 안에서 입고까지 바로 처리해요. 실제 공급사와 거래하는 게 아니라 수업용 기업 시스템의 시뮬레이션이라 가능한 일이죠. 현실에서 입고 완료로 보려면 들어온 수량이 발주와 같고, 로트 번호가 기록되고, 입고 검사에 합격해야 합니다. 끝 이벤트는 프로세스가 맡은 처리가 끝났다는 기록이에요. 업무의 완료는 각 업무의 기준으로 따로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재고 보충에서 가장 헷갈리는 건 발주 중인 수량입니다. 같은 씰 키트를 세 시점으로 놓아 볼게요. 가운데 칸은 현재고, 예약, 발주 중 순서이고 화살표 뒤가 가용 재고, 오른쪽 칸은 지금 창고에서 꺼내 쓸 수 있는 수, 곧 현재고에서 예약을 뺀 수입니다. 첫 줄은 경보가 울릴 때예요. 가용 재고 1개, 꺼낼 수 있는 것도 1개라 보충 필요 표시가 켜져 있죠. 강조한 둘째 줄이 발주가 승인된 뒤, 입고되기 전입니다. 발주 중 6개가 가용 재고에 들어가 7개가 되니 재주문점을 넘고, 보충 필요 표시가 꺼져요. 그런데 오른쪽 칸은 여전히 1개입니다. 들어올 예정인 물건은 아직 창고에 없으니까요. 발주부터 입고까지 걸리는 시간을 리드타임이라고 합니다. 순정 공급사인 B-OEM의 납기는 5일이라, 현실이라면 닷새쯤 둘째 줄 상태가 이어지는 거죠. 수업 시스템은 즉시 입고라서 이 줄이 순간에 지나가고, 기록에는 바로 셋째 줄이 남습니다. 입고와 검사가 끝나야 현재고가 9개, 꺼내 쓸 수 있는 수가 7개가 돼요. 표시가 꺼졌다는 것과 물건이 들어왔다는 것은 다른 기록입니다.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단원을 마치며 판단 문제를 하나 풀어 보죠. 씰 키트 6개 발주가 승인돼서 보충 필요 표시가 꺼졌고, 현실 물류라 아직 입고되지 않았다고 해 볼게요. 이때 오늘 밤 다른 설비 정비에 씰 키트 2개를 더 쓰자는 요청이 왔습니다. 맞는 판단은 무엇일까요? 1번, 가용 재고가 7개이니 2개를 오늘 밤 출고해 쓴다. 2번, 지금 꺼낼 수 있는 것은 예약 외 1개라, 2개가 필요하면 입고 예정일과 입고 검사를 먼저 확인한다. 3번, 보충 필요 표시가 꺼졌으니 재고 문제는 끝났다고 다음 교대에 넘긴다. 4번, 발주를 한 번 더 내서 6개를 더 확보해 둔다. 답은 2번입니다. 가용 재고 7개에는 아직 오지 않은 6개가 들어 있어요. 창고에서 꺼낼 수 있는 건 현재고 3개에서 예약 2개를 뺀 1개뿐이라, 1번처럼 2개를 출고할 수는 없습니다. 3번은 꺼진 표시를 입고로 읽은 거라, 다음 담당자가 없는 물건을 믿고 일정을 잡게 되죠. 4번은 가용 재고가 이미 목표 재고 7개에 닿아 있어서 발주 수량 식에 맞지 않습니다. 필요한 날까지 입고와 검사가 끝나는지부터 확인해야 일정을 약속할 수 있어요.</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번째 단원은 정의를 다시 쓰는 법과 실행 기록을 읽는 법입니다. 정기 점검과 재고 보충 프로세스를 처음부터 새로 설계해야 할까요? 그렇지 않다는 걸 긴급 대응의 승인 블록으로 확인하고, 처리 건이 여럿 쌓였을 때 어느 정의로 열렸고 무엇으로 끝났는지, 거절이나 오류는 어떻게 남는지를 기록에서 가려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표의 왼쪽 열은 BPMN 그림의 자리, 가운데 열은 정기 점검과 재고 보충에서 그 자리에 넣는 것, 오른쪽 열은 긴급 대응 정의와의 관계입니다. 가운데 강조한 줄부터 보세요. 승인 블록은 승인 작업, 승인했는지 가르는 갈림, 승인 지연 타이머와 지연 알림, 거절의 결과 보고와 거절 종결을 한 묶음으로 부르는 이름입니다. 이 묶음은 세 프로세스에서 구조가 똑같고, 기한 10분과 승인 조건까지 같아요. 바뀌는 건 승인 역할 하나, 설비보전팀장이나 구매 담당뿐입니다. 위의 두 줄, 시작 이벤트와 제안 작업은 값만 바꿉니다. 경보 패턴과 에이전트, 지시문이죠. 새로 그리는 건 넷째 줄, 승인 뒤의 작업뿐이에요. 정기 점검은 정비 오더와 공지, 재고 보충은 발주와 통지 뒤에 입고와 재고 반영이 하나 더 붙습니다. 마지막 줄 결과 보고는 같은 부품을 쓰고 적는 결과 값만 달라요. 이렇게 되풀이되는 설계 문제를 한 번 풀어 검증해 둔 구조를 패턴이라고 합니다. 패턴을 다시 쓰면 거절과 무응답을 다루는 방식이 업무마다 같아져서, 기록을 읽는 법도 하나로 끝나요. 다만 새 업무의 승인 역할과 기한이 정말 같은 정책인지는 매번 다시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패턴으로 나눠 두면 요구가 바뀔 때 고칠 곳이 금방 보입니다. 표의 세 요구는 모두 가정이에요. 첫 줄은 승인 기한을 10분에서 30분으로 늘리자는 요구입니다. 기한은 그림이 아니라 연결할 때 넣는 값이라 그림은 그대로 두고 그 값만 바꾸면 돼요. 대신 세 업무가 같은 값을 쓰고 있으니, 셋 다 바꿀지 하나만 바꿀지를 함께 정해야 하죠. 둘째 줄은 300만 원이 넘는 발주는 구매팀장도 승인하게 하자는 요구입니다. 지금 구매 규정은 300만 원을 넘으면 발주안에 초과를 표시하고, 결과 보고를 구매팀장에게도 보내는 데서 그쳐요. 승인은 구매 담당 한 번입니다. 승인을 하나 더 두려면 금액을 가르는 갈림과 둘째 승인 작업을 그림에 그려야 하니, 이건 구조를 바꾸는 요구예요. 발주가 두 승인 뒤에만 가도록 그리고, 새 판본으로 등록해서 배포해야 운영에 들어갑니다. 셋째 줄은 고치지 않는 경우입니다. 정비 오더를 승인 전에 미리 등록해 두자는 요구죠. 오더 등록은 업무에 효과를 내는 작업이라 승인 갈림 뒤에만 둡니다. 이렇게 그리면 흐름을 등록하기 전 검사가 아예 받아 주지 않아요. 요구를 받으면 연결 값인지, 구조인지, 원칙에 걸리는지를 이 순서로 가르면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처리 건 기록을 읽을 때 맨 먼저 맞출 것은 이 처리 건이 어느 정의로 열렸느냐입니다. 화면 윗줄을 왼쪽부터 보세요. HYD-02의 정기 점검 도래 경보가 오면, 그 패턴을 받는 배포된 정의 가운데 가장 최근에 배포한 것이 처리 건을 엽니다. 이 기록에서는 정기 점검 정의의 판본 9였고, 그 인스턴스가 오른쪽의 처리 건이에요. 처리 건에는 자신을 연 경보 번호가 남아서 거꾸로 찾아갈 수도 있습니다. 아래 왼쪽 점선이 자주 헷갈리는 자리입니다. 내가 그림을 가져와서 판본 1로 등록만 했다면, 그 정의는 아직 경보를 받지 않아요. 배포해야 경보의 행선지가 바뀝니다. 그래서 내 그림이 실행됐다고 말하기 전에 처리 건의 정의와 판본이 내 것인지부터 대조해야 하죠. 공용 환경이라면 하나 더 있습니다. 여럿이 같은 경보 패턴에 배포하면 마지막에 배포한 흐름이 경보를 가져가고, 기준 흐름으로 되돌리기는 내 흐름 하나가 아니라 그 공간의 배포를 모두 내려요. 아래 오른쪽 정비 오더는 이 처리 건이 승인 뒤에 등록한 결과입니다. 같은 경보 번호로는 처리 건이 두 번 열리지 않으니, 오더 번호와 처리 건 번호를 짝으로 적어 두면 나중에 대조하기 쉽습니다.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처리 건의 상태 칸에는 실행 중을 뜻하는 RUNNING과 끝났다는 COMPLETED가 주로 보입니다. 그런데 COMPLETED는 닫혔다는 뜻일 뿐이에요. 표의 가운데 열이 기록에 보이는 값, 오른쪽 열이 그걸 업무로 읽은 뜻입니다. 위의 두 줄은 아직 열린 처리 건이에요. 승인을 기다리는 동안은 RUNNING이고 승인 작업이 진행 중으로 보입니다. 기한 10분이 지나면 지연 알림 보고가 나가지만, 처리 건은 여전히 RUNNING이고 승인 작업도 열려 있어요. 자동으로 취소되거나 거절되지 않습니다. 셋째와 넷째 줄은 둘 다 COMPLETED입니다. 거절이면 끝 이벤트가 거절 종결이고, 결과 보고에는 반려라고 적혀요. 사람이 한 행위는 거절이고, 기록의 값이 반려인 거죠. 이때는 오더도 발주도 나가지 않아서 정기 점검 도래 표시와 재고 보충 필요 표시가 켜진 채 남아요. 승인 뒤 처리가 끝나면 정상 종결로 닫히고 결과가 정상이나 입고 완료인데, 앞 단원에서 봤듯 업무의 완료는 따로 봅니다. 아래 두 줄이 오류의 기록입니다. 에이전트 단계가 실패하면 실행 기록에 실패 사유가 남고, 단계는 열린 채 처리 건은 RUNNING으로 멈춰 있어요. 저절로 다음으로 넘어가지 않으니 누군가 원인을 보고 처리해야 하죠. 강조한 마지막 줄처럼 담당자가 멈춘 단계를 닫으면 처리 건은 COMPLETED가 되고, 끝 이벤트에는 사람이 닫았다는 표시가 남아요. 결과 보고는 없습니다. 상태만 보면 거절이나 정상과 똑같이 COMPLETED라서, 무엇으로 끝났는지는 끝 이벤트와 결과 보고, 멈춘 단계의 사유로 가려야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끝난 처리 건 하나의 기록을 실제 값으로 읽어 보겠습니다. 화면 왼쪽은 재고 보충 승인 건의 처리 기록에서 에이전트 이벤트를 빼고 시간 순서로 모은 발췌예요. 괄호 줄 둘은 기록 이름이 아니라 단계 이름입니다. 맨 위가 수업 버튼으로 낸 재고 부족 경보이고, 그다음 발주안 제안 단계가 판단 번호를 남겼어요. 6개, B-OEM, 330만 원이라는 발주안이 이 번호에 묶여 있습니다. 오른쪽 첫 짚을 점처럼, 승인 접수 줄에는 승인한 역할과 판단 번호가 함께 남습니다. 누가 어떤 추천안을 승인했는지가 여기서 확인되죠. 그 아래로 발주 번호와 수량, 공급사 메일, 입고 번호와 검수 합격, 로트가 차례로 이어집니다. 이 번호들이 둘째 짚을 점이에요. 처리 건 기록만 믿지 말고, 같은 번호로 ERP의 발주와 입고 기록을 다시 찾아 대조하는 데 씁니다. 바로 입고 처리 줄은 셋째 짚을 점, 수업 설정으로 즉시 입고했다는 표시가 기록에 따로 남는다는 거예요. 마지막 짚을 점도 중요합니다. 메일 줄은 보냈다는 기록이지, 공급사가 받아서 읽었다는 기록은 아닙니다.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단원의 판단 문제입니다. 정기 점검 처리 건에서 에이전트 단계가 멈춰서, 담당자가 그 단계를 닫았더니 처리 건이 COMPLETED가 되었다고 해 볼게요. 이 처리 건을 다음 교대에 전하는 말로 맞는 것은 무엇일까요? 1번, COMPLETED이니 정기 점검 업무는 끝났다. 2번, 정비 오더가 등록됐을 테니 CMMS에서 시행 시간만 확인하면 된다. 3번, 사람이 닫은 종료라 승인도 오더도 없고, 정기 점검 도래는 그대로 남아 있다. 4번, 승인 지연 타이머가 기한 뒤에 오더를 대신 등록했다. 답은 3번이에요. 에이전트 단계에서 닫혔으니 승인 작업에도, 오더 등록에도 닿지 않았습니다. 닿지 않은 단계는 취소로 남고 결과 보고도 없죠. 정기 점검 도래 표시는 이번 차례의 오더가 없으면 켜져 있으니 업무는 그대로 남아 있어요. 1번은 상태만 읽은 거고, 2번은 있지도 않은 오더를 가정했습니다. 4번의 타이머는 알림만 보내고 효과를 내지 않아요. 다음 담당자에게는 왜 멈췄는지와 함께, 이 정기 점검을 다시 열어야 한다는 걸 넘겨야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번째 실습은 정기 점검 프로세스를 직접 그리는 일입니다. 설명 화면의 카드 세 장을 보세요. 첫 카드가 다시 쓰는 것이에요. 담당자, 에이전트, 시스템 세 레인과 승인 블록을 그대로 가져오고, 승인 역할만 설비보전팀장으로 바꿉니다. 둘째 카드가 새로 그릴 정비 쪽 작업입니다. 정기 점검 도래로 여는 시작 이벤트, 정비 계획 에이전트의 제안, 그리고 승인 뒤 CMMS 오더와 생산팀 공지를 거쳐 종료까지 이어요. 셋째 카드가 성공 기준입니다. 승인만 오더로 가고 거절은 거절 보고로 가야 하며, 지연 알림이 나간 뒤에도 승인 작업이 남아 있게 그려야 하죠. 그린 그림은 bpmn.io 파일로 저장하고, 다시 열었을 때 그대로인지 확인합니다. 다음 실습에서 이 그림을 실제 처리 건의 기록과 맞춰 볼 거예요.</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19~20장 통합 발화는 19장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번째 실습은 준비된 정기 점검 시나리오를 실행하고 결과를 대조하는 일입니다. 설명 화면 첫 카드가 결정이에요. 정기 점검 처리 건을 하나 열고, 에이전트가 낸 점검 시점과 근거를 읽은 뒤 설비보전팀장 역할로 승인하거나, 근거가 모자라면 사유를 남깁니다. 둘째 카드는 대조입니다. 작업지시, 부품 예약, 생산 공지, 결과 보고를 같은 처리 건 번호로 하나씩 찾아요. 셋째 카드가 이 실습에서 가장 중요한 해석이에요. 오더가 등록됐다는 건 정비가 끝났다는 뜻이 아니니, 예약한 부품으로 실제 정비가 언제 이뤄지고 다음 교대가 무엇을 확인해야 하는지 적습니다. 마지막 카드처럼 거절이나 보류는 실제로 확인한 기록 범위에서만 비교하고, 실행 결과를 첫 실습에서 그린 내 BPMN 작업과 하나씩 연결해 저장합니다.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21~22장 통합 발화는 21장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번째 실습은 재고 보충 프로세스를 그리는 일입니다. 첫 카드처럼 레인과 승인 블록은 그대로 두고 승인 역할만 구매 담당으로 바꿉니다. 둘째 카드의 새로 그릴 것은 재고 부족 시작 이벤트와 기존 구매 에이전트의 제안, 승인 뒤의 ERP 발주와 공급사 통지, 그리고 즉시 입고 반영과 종료예요. 셋째 카드의 첫 줄은 그림에도 함께 적어 두세요. 여기의 ERP와 재고는 HYD의 시뮬레이션이라 입고가 바로 반영됩니다. 승인만 발주로, 거절은 거절 보고로 가는지 확인하고, 저장한 파일을 다시 열어 보는 것까지가 성공 기준이에요.</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23~24장 통합 발화는 23장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 네 번째 실습은 준비된 재고 보충 시나리오를 실행하고, 수량으로 결과를 가르는 일입니다. 첫 카드의 결정에서는 공급사와 수량을 제안한 근거, 그리고 승인 공급사인지, 금액이 전결 기준을 넘는지 같은 승인 조건을 확인합니다. 둘째 카드처럼 발주, 통지, 입고, 재고 반영을 각각 따로 찾아서, 처음의 현재고와 예약, 발주 중 수량과 비교해요. 셋째 카드의 해석은 첫 단원에서 본 그대로입니다. 수업 시스템의 즉시 입고를 실제 배송으로 설명하지 않고, 발주 중과 입고 완료를 갈라서 적어요. 마지막 카드처럼 다음 교대에 넘길 수량과 남은 확인을 정리하고, 거절 사례는 제공된 기록과 구분해서 내 BPMN 작업과 연결해 저장합니다. 다음 시간에는 이 네 실습에서 남긴 기록을 모아, 설계부터 실행과 검증까지를 정리하겠습니다.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25~26장 통합 발화는 25장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 시간에는 직접 그리고 실행한 정기 점검과 재고 보충의 처리 건으로, 이번 회차의 설계와 실행, 검증을 정리합니다. 마지막 단원의 물음은 이거예요. 두 처리 건 안에서 무엇이 누구에게 건너가 어디까지 끝났고, 무엇이 남았을까요? BPMN 모델과 엔진의 정의, 인스턴스, 그리고 이벤트와 에이전트, 사람, 시스템의 역할을 차례로 되짚고, 끝으로 다음 담당자가 확인할 일을 근거와 함께 모아 보겠습니다. 화면의 값은 미리 수집한 기록이라, 실습에서 여러분이 얻은 번호와는 다를 수 있어요.</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표의 줄은 BPMN 모델에서 처리 건이 지나는 다섯 자리, 열은 정기 점검과 재고 보충의 처리 건입니다. 첫 줄에 두 처리 건의 번호와 시작 이벤트가 있어요. 정기 점검은 HYD-02의 도래 경보로, 재고 보충은 씰 키트의 재고 부족 경보로 열렸습니다. 둘 다 배포된 정의가 경보를 받아 연 인스턴스죠. 둘째 줄이 에이전트의 판단이에요. 정기 점검은 야간 정비 시간에 하자는 정비 시점을, 재고 보충은 B-OEM에서 6개, 330만 원을 냈고, 둘 다 판단 번호가 남았습니다. 셋째 줄의 사람은 각 업무의 승인 역할이죠. 설비보전팀장과 구매 담당이 승인했어요. 넷째 줄의 시스템은 승인된 내용만 실행했습니다. 정비 오더와 생산팀 공지 메일, 그리고 발주와 공급사 메일, 입고예요. 마지막 줄의 종료 기록은 둘 다 정상 종결이고, 결과가 정상과 입고 완료입니다. 다섯 자리마다 누가 무엇을 냈는지가 번호로 이어져 있어서, 끝난 업무를 추천안과 승인까지 거슬러 읽을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둘째 줄의 판단을 조금 더 들여다보겠습니다. 왼쪽이 정기 점검 추천안, 오른쪽이 재고 보충 추천안이에요. 두 추천안 모두 추천 하나만 내지 않고, 진 대안과 제외된 후보를 까닭과 함께 실었습니다. 왼쪽부터 보죠. 추천은 이번 예정된 정비 시간에 단독으로 시행하는 거예요. 생산 오더가 없는 시간이라 손실이 없습니다. 지금 바로 정지하는 대안은 납기가 다가온 생산 오더 때문에 80만 원 손실로 감점돼서 졌어요. 다음 정비 시간으로 미루는 후보는 그때 운전시간이 상한 2,200시간을 넘어서, 같은 기종 두 대를 묶는 후보는 씰 키트가 2개 있어야 하는데 가용 재고가 1개라서 제외됐습니다. 기한과 생산, 부품이 판정을 갈랐죠. 오른쪽은 순정 공급사 B-OEM의 6개, 330만 원이 추천이에요. 가장 싸지는 않지만 불량률이 낮고, 300만 원 전결 기준을 넘었다는 표시가 함께 붙었습니다. 대안인 A정밀은 불량률이 12퍼센트라 전수 검사로 감점됐고, C트레이딩은 가장 싸도 승인 공급사가 아니라서 아예 제외됐어요. 승인자는 이 줄들을 보고 득실과 규칙의 근거를 확인한 뒤 결정합니다. 추천 하나만 보고 승인하는 게 아니에요.</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판단이 어디서 왔는지, 정기 점검 한 건으로 지식에서 업무 기록까지 이어 보겠습니다. 화면의 여섯 칸을 왼쪽부터 따라가세요. 첫 칸은 지식입니다. 정비 지침의 시행 방식 넷과 비교 기준이 지식 그래프와 판단 규칙에 들어 있어요. 문서를 지식으로 뽑아 검토하고 적재한 결과가 바로 이 칸이죠. 둘째 칸의 에이전트가 이 지식과 함께 정비 계획, 생산 오더, 재고를 도구로 읽고 추천안을 냅니다. 셋째와 넷째 칸은 프로세스 쪽입니다. BPMN 모델은 사람이 설계한 그림이고, 엔진은 배포된 정의와 판본으로 처리 건을 열어 그 그림대로 진행시켜요. 다섯째 칸의 사람이 추천안을 승인하거나 거절하고, 마지막 칸의 시스템이 승인된 내용만 CMMS 오더와 공지로 실행해서 처리 기록에 남깁니다. 지식은 근거를, 에이전트는 제안을, 프로세스는 순서와 책임과 기록을 맡는 거예요. 어느 칸이 비어도 끝난 업무를 근거까지 되짚을 수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검증은 처리 건이 정상으로 끝났다는 데서 멈추지 않습니다. 표의 가운데 열은 처리 건 기록에서 찾는 것, 오른쪽 열은 같은 결과를 업무 시스템에서 다시 확인하는 것이에요. 첫 줄의 정비 오더는 결과 보고에 등록했다고 적혀 있죠. CMMS에서 그 오더 번호를 찾으면 상태가 배정됨이고, 예정된 정비 시간이 붙어 있어야 합니다. 둘째 줄의 부품 출고 예약은 승인한 시행 방식이 정한 일이니, 씰 키트의 예약 수량과 가용 재고가 실제로 바뀌었는지 봐요. 셋째 줄의 공지는 메일을 보낸 기록까지만 처리 건에 있습니다. 받는 쪽이 확인했는지는 따로 봐야 하죠. 넷째 줄의 발주는 번호로 ERP 발주를 찾아 수량, 공급사, 금액이 승인한 추천안과 같은지 맞춥니다. 강조한 마지막 줄의 입고는 현재고가 3개에서 9개, 가용 재고가 1개에서 7개로 바뀌었는지와 로트, 검수 기록까지 확인해요. 처리 건이 남긴 번호를 업무 시스템에서 다시 찾아 상태까지 맞춰 봐야 실행 결과의 검증이 끝납니다. 실습에서 직접 한 대조가 이 표의 순서예요.</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검증하다 보면 끝나지 않은 일과 서로 맞지 않는 기록이 나옵니다. 그걸 근거와 함께 골라 두는 게 이 장의 응용이에요. 카드 네 장이 이번 회차의 기록에서 다음 담당자에게 남는 확인입니다. 첫 카드는 배정된 정비 오더예요. 예정된 정비 시간에 시행됐는지, 시운전이 정상이었고 계수기가 0으로 돌아갔는지를 확인해야 합니다. 둘째 카드는 출고 예약이죠. 예약한 씰 키트와 리턴 필터가 실제로 출고됐는지 보고, 예약분이 가용 재고에서 빠져 있다는 것도 함께 넘깁니다. 셋째 카드는 발주와 입고예요. 수업은 즉시 입고였지만, 현실이라면 납기와 입고 검사, 로트 확인이 남은 일입니다. 강조한 넷째 카드가 놓치기 쉬운 것이에요. 거절했거나 사람이 닫은 처리 건은 업무를 처리하지 않았으니, 도래 표시나 보충 필요 표시가 남아 있습니다. 다시 열어야 할 일인지를 사유와 함께 적어 둬야, 다음 담당자가 같은 일을 처음부터 다시 조사하지 않아요.</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복습입니다. 처리 건 한 건에 던지는 물음 다섯을 왼쪽에 두었어요. 가운데 열을 가렸다고 생각하고, 물음마다 답이 어느 기록에 있는지 먼저 말해 보세요. 첫째, 이 처리 건을 연 것은 경보 패턴과 배포된 정의의 판본입니다. 등록만 한 판본은 경보를 받지 않죠. 둘째, 아직 결정을 기다리는지는 RUNNING과 승인 작업이 진행 중인지로 봐요. 지연 알림이 나갔다고 거절된 건 아닙니다. 셋째, 무엇으로 끝났는지는 끝 이벤트와 결과 보고가 말해 줍니다. COMPLETED는 성공이라는 뜻이 아니고요. 넷째, 정비가 끝났는지는 오더의 완료 기록과 시운전, 계수기로 봅니다. 오더가 등록됐다는 것만으로는 부족하죠. 마지막으로, 씰 키트를 꺼내 쓸 수 있는지는 현재고에서 예약을 뺀 수와 입고, 검사 기록으로 봐요. 발주 중인 수량은 아직 창고에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 회차의 용어를 정식 명칭과 함께 모았습니다. ERP는 구매와 재고 같은 기업 자원을 한 시스템에서 관리하는 전사적 자원 관리 시스템이에요. 예방 정비는 고장 전에 운전시간이나 기간을 기준으로 미리 하는 정비이고, 허용 오차는 정기 정비를 시행할 수 있도록 주기 앞뒤로 정한 범위입니다. 가용 재고는 현재고에서 예약분을 빼고 입고 예정분을 더한, 보충 판단에 쓰는 수량이죠. 재주문점은 가용 재고가 그 아래로 내려가면 다시 주문하는 기준이고, 리드타임은 발주부터 입고까지 걸리는 시간입니다. 입고 검사는 들어온 물품의 수량과 로트, 품질을 확인해 입고를 확정하는 검사예요. 마지막으로 패턴은 되풀이되는 설계 문제에 다시 쓰도록 검증해 둔 구조입니다.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퀴즈 세 문제로 이번 회차에 가른 기록들을 판단에 써 보겠습니다. 보기를 듣고 멈추는 동안 답을 골라 두세요. 정답과 까닭은 세 문제를 모두 본 뒤에 함께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번째 문제입니다. 정기 점검 처리 건이 정상 종결로 닫혔고, 결과 보고에 정비 오더 등록과 생산팀 공지가 남았어요. 다음 교대에 넘길 판단으로 맞는 것은 무엇일까요? 1번, 정기 정비가 끝났으니 HYD-02의 운전시간 계수기는 0이다. 2번, 오더가 배정되고 공지가 나갔으며, 예정된 정비 시간의 시행과 시운전 확인이 남았다. 3번, 도래 표시가 꺼졌으니 HYD-02는 더 확인할 것이 없다. 4번, 시행을 확정하려고 같은 오더를 한 번 더 등록한다.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번째 문제입니다. 재고 보충 처리 건 둘이 이어서 열려서 앞 건은 승인, 뒤 건은 거절로 닫혔고, 지금 재고 표의 씰 키트는 9개예요. 뒤 건의 결과를 판정할 근거로 맞는 것은? 1번, 재고 표의 현재고 9개. 2번, 처리 건의 상태 COMPLETED. 3번, 보충 필요 표시가 꺼져 있다는 것. 4번, 뒤 건의 기록에 발주와 입고 번호가 없고, 끝 이벤트가 거절 종결이라는 것.</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번째 문제입니다. 재고 보충 추천안이 B-OEM 6개, 330만 원이고, 발주안에 전결 기준 300만 원 초과가 표시됐어요. 이 처리 건에서 맞는 처리는 무엇일까요? 1번, 구매 담당이 한 번 승인하고, 결과 보고를 구매팀장에게도 보낸다. 2번, 300만 원 아래가 되도록 3개씩 두 건으로 나눠 발주한다. 3번, 에이전트가 기준 초과를 보고 A정밀로 바꿔 발주한다. 4번, 구매팀장 승인이 없으니 등록 전 검사가 이 처리 건을 막는다.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고른 답을 맞춰 보겠습니다. 첫 문제는 2번이에요. 오더 등록은 배정과 예약, 공지까지입니다. 계수기가 0으로 돌아가는 건 시행하고 시운전이 정상일 때라 1번은 아직 아니고, 도래 표시는 이번 차례의 오더가 생기면 꺼지니 3번처럼 꺼진 표시를 정비 완료로 읽으면 안 돼요. 4번은 같은 차례에 오더가 이미 있어서 업무 시스템이 받지도 않습니다. 두 번째는 4번입니다. 재고 수와 표시에는 앞 건의 입고까지 섞여 있어서, 1번과 3번으로는 뒤 건이 무엇을 했는지 알 수 없어요. 2번의 COMPLETED는 거절에도 붙습니다. 그 처리 건의 끝 이벤트와 그 건이 남긴 번호로만 판정해요. 세 번째는 1번이에요. 구매 규정에서 300만 원 초과는 표시하고 구매팀장에게 보고하는 대상이고, 승인은 구매 담당 한 번입니다. 2번처럼 기준을 피하려고 나눠 발주하는 건 규정이 금지하고, 3번은 에이전트가 제안을 넘어 결정까지 한 거죠. 4번의 등록 전 검사는 흐름을 등록할 때 승인 없는 효과 경로를 막는 장치이지, 처리 건의 금액을 보는 장치가 아닙니다. 이번 회차에서는 정비와 구매 업무를 같은 승인 구조로 실행하고, 처리 건의 기록으로 업무가 어디까지 끝났는지를 가렸습니다. 다음 회차에서는 이렇게 고른 기록의 미완료와 불일치를 교대 인계안으로 모으고, 사람이 검토하고 확인하는 흐름까지 이어 가겠습니다. 수고 많으셨습니다.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1.png"/><Relationship Id="rId6" Type="http://schemas.openxmlformats.org/officeDocument/2006/relationships/image" Target="../media/image12.png"/><Relationship Id="rId7" Type="http://schemas.openxmlformats.org/officeDocument/2006/relationships/image" Target="../media/image13.png"/><Relationship Id="rId8" Type="http://schemas.openxmlformats.org/officeDocument/2006/relationships/image" Target="../media/image14.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image" Target="../media/image17.png"/><Relationship Id="rId6" Type="http://schemas.openxmlformats.org/officeDocument/2006/relationships/image" Target="../media/image18.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eaLnBrk="0">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eaLnBrk="0">
              <a:lnSpc>
                <a:spcPct val="110000"/>
              </a:lnSpc>
            </a:pPr>
            <a:r>
              <a:rPr sz="1800" b="1">
                <a:solidFill>
                  <a:srgbClr val="8FCFF8"/>
                </a:solidFill>
                <a:latin typeface="맑은 고딕"/>
                <a:ea typeface="맑은 고딕"/>
                <a:cs typeface="맑은 고딕"/>
              </a:rPr>
              <a:t>실전반 7회차 · 정비와 구매 업무 연결, 실행 결과 검증</a:t>
            </a:r>
          </a:p>
        </p:txBody>
      </p:sp>
      <p:sp>
        <p:nvSpPr>
          <p:cNvPr id="5" name="TextBox 4"/>
          <p:cNvSpPr txBox="1"/>
          <p:nvPr/>
        </p:nvSpPr>
        <p:spPr>
          <a:xfrm>
            <a:off x="457200" y="2395728"/>
            <a:ext cx="8412480" cy="1920240"/>
          </a:xfrm>
          <a:prstGeom prst="rect">
            <a:avLst/>
          </a:prstGeom>
          <a:noFill/>
        </p:spPr>
        <p:txBody>
          <a:bodyPr wrap="square" anchor="t"/>
          <a:lstStyle/>
          <a:p>
            <a:pPr algn="l" eaLnBrk="0">
              <a:lnSpc>
                <a:spcPct val="110000"/>
              </a:lnSpc>
            </a:pPr>
            <a:r>
              <a:rPr sz="4000" b="1">
                <a:solidFill>
                  <a:srgbClr val="FFFFFF"/>
                </a:solidFill>
                <a:latin typeface="맑은 고딕"/>
                <a:ea typeface="맑은 고딕"/>
                <a:cs typeface="맑은 고딕"/>
              </a:rPr>
              <a:t>정비와 구매 업무의 연결</a:t>
            </a:r>
          </a:p>
          <a:p>
            <a:pPr algn="l" eaLnBrk="0">
              <a:lnSpc>
                <a:spcPct val="110000"/>
              </a:lnSpc>
            </a:pPr>
            <a:r>
              <a:rPr sz="4000" b="1">
                <a:solidFill>
                  <a:srgbClr val="FFFFFF"/>
                </a:solidFill>
                <a:latin typeface="맑은 고딕"/>
                <a:ea typeface="맑은 고딕"/>
                <a:cs typeface="맑은 고딕"/>
              </a:rPr>
              <a:t>실행 결과의 검증</a:t>
            </a:r>
          </a:p>
        </p:txBody>
      </p:sp>
      <p:sp>
        <p:nvSpPr>
          <p:cNvPr id="6" name="TextBox 5"/>
          <p:cNvSpPr txBox="1"/>
          <p:nvPr/>
        </p:nvSpPr>
        <p:spPr>
          <a:xfrm>
            <a:off x="457200" y="4407408"/>
            <a:ext cx="8412480" cy="731520"/>
          </a:xfrm>
          <a:prstGeom prst="rect">
            <a:avLst/>
          </a:prstGeom>
          <a:noFill/>
        </p:spPr>
        <p:txBody>
          <a:bodyPr wrap="square" anchor="t"/>
          <a:lstStyle/>
          <a:p>
            <a:pPr algn="l" eaLnBrk="0">
              <a:lnSpc>
                <a:spcPct val="110000"/>
              </a:lnSpc>
            </a:pPr>
            <a:r>
              <a:rPr sz="1900" b="0">
                <a:solidFill>
                  <a:srgbClr val="C6D0DE"/>
                </a:solidFill>
                <a:latin typeface="맑은 고딕"/>
                <a:ea typeface="맑은 고딕"/>
                <a:cs typeface="맑은 고딕"/>
              </a:rPr>
              <a:t>정기 점검과 재고 보충을 같은 승인 구조로 실행하고, 기록으로 업무가 어디까지 끝났는지 가른다</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tool" descr="tool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package" descr="package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clipboard-check" descr="clipboard-check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정비 · 구매 업무를 같은 승인 구조로 실행하고, 처리 건의 기록으로 업무가 어디까지 끝났는지 판정한다.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123439"/>
            <a:ext cx="2567863"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24608"/>
            <a:ext cx="731520" cy="731520"/>
          </a:xfrm>
          <a:prstGeom prst="ellipse">
            <a:avLst/>
          </a:prstGeom>
          <a:solidFill>
            <a:srgbClr val="E7F3FD"/>
          </a:solidFill>
          <a:ln>
            <a:noFill/>
          </a:ln>
        </p:spPr>
        <p:txBody>
          <a:bodyPr rtlCol="0" anchor="ctr"/>
          <a:lstStyle/>
          <a:p>
            <a:pPr algn="ctr"/>
          </a:p>
        </p:txBody>
      </p:sp>
      <p:pic>
        <p:nvPicPr>
          <p:cNvPr id="8" name="아이콘:arrows-split-2" descr="arrows-split-2_13294B_1.6.png"/>
          <p:cNvPicPr>
            <a:picLocks noChangeAspect="1"/>
          </p:cNvPicPr>
          <p:nvPr/>
        </p:nvPicPr>
        <p:blipFill>
          <a:blip r:embed="rId3"/>
          <a:stretch>
            <a:fillRect/>
          </a:stretch>
        </p:blipFill>
        <p:spPr>
          <a:xfrm>
            <a:off x="930859" y="2478227"/>
            <a:ext cx="424281" cy="424281"/>
          </a:xfrm>
          <a:prstGeom prst="rect">
            <a:avLst/>
          </a:prstGeom>
        </p:spPr>
      </p:pic>
      <p:sp>
        <p:nvSpPr>
          <p:cNvPr id="9" name="TextBox 8"/>
          <p:cNvSpPr txBox="1"/>
          <p:nvPr/>
        </p:nvSpPr>
        <p:spPr>
          <a:xfrm>
            <a:off x="713232" y="3147568"/>
            <a:ext cx="2238679" cy="2208784"/>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시작 조건과 끝나는 지점</a:t>
            </a:r>
          </a:p>
          <a:p>
            <a:pPr algn="l" eaLnBrk="0" marL="154305" indent="-154305">
              <a:lnSpc>
                <a:spcPct val="110000"/>
              </a:lnSpc>
              <a:spcAft>
                <a:spcPts val="400"/>
              </a:spcAft>
            </a:pPr>
            <a:r>
              <a:rPr sz="1350" b="0">
                <a:solidFill>
                  <a:srgbClr val="1F2A3A"/>
                </a:solidFill>
                <a:latin typeface="맑은 고딕"/>
                <a:ea typeface="맑은 고딕"/>
                <a:cs typeface="맑은 고딕"/>
              </a:rPr>
              <a:t>• 정기 점검 도래 · 재고 부족이 여는 프로세스를 견준다</a:t>
            </a:r>
          </a:p>
          <a:p>
            <a:pPr algn="l" eaLnBrk="0" marL="154305" indent="-154305">
              <a:lnSpc>
                <a:spcPct val="110000"/>
              </a:lnSpc>
              <a:spcAft>
                <a:spcPts val="400"/>
              </a:spcAft>
            </a:pPr>
            <a:r>
              <a:rPr sz="1350" b="0">
                <a:solidFill>
                  <a:srgbClr val="1F2A3A"/>
                </a:solidFill>
                <a:latin typeface="맑은 고딕"/>
                <a:ea typeface="맑은 고딕"/>
                <a:cs typeface="맑은 고딕"/>
              </a:rPr>
              <a:t>• 오더 등록과 정비 완료, 발주와 입고를 가른다</a:t>
            </a:r>
          </a:p>
        </p:txBody>
      </p:sp>
      <p:sp>
        <p:nvSpPr>
          <p:cNvPr id="10" name="Rounded Rectangle 9"/>
          <p:cNvSpPr/>
          <p:nvPr/>
        </p:nvSpPr>
        <p:spPr>
          <a:xfrm>
            <a:off x="777240" y="5429504"/>
            <a:ext cx="10210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429504"/>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시작과 끝</a:t>
            </a:r>
          </a:p>
        </p:txBody>
      </p:sp>
      <p:sp>
        <p:nvSpPr>
          <p:cNvPr id="12" name="Rounded Rectangle 11"/>
          <p:cNvSpPr/>
          <p:nvPr/>
        </p:nvSpPr>
        <p:spPr>
          <a:xfrm>
            <a:off x="3390823" y="2123439"/>
            <a:ext cx="2567863"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324608"/>
            <a:ext cx="731520" cy="731520"/>
          </a:xfrm>
          <a:prstGeom prst="ellipse">
            <a:avLst/>
          </a:prstGeom>
          <a:solidFill>
            <a:srgbClr val="E7F3FD"/>
          </a:solidFill>
          <a:ln>
            <a:noFill/>
          </a:ln>
        </p:spPr>
        <p:txBody>
          <a:bodyPr rtlCol="0" anchor="ctr"/>
          <a:lstStyle/>
          <a:p>
            <a:pPr algn="ctr"/>
          </a:p>
        </p:txBody>
      </p:sp>
      <p:pic>
        <p:nvPicPr>
          <p:cNvPr id="14" name="아이콘:history" descr="history_13294B_1.6.png"/>
          <p:cNvPicPr>
            <a:picLocks noChangeAspect="1"/>
          </p:cNvPicPr>
          <p:nvPr/>
        </p:nvPicPr>
        <p:blipFill>
          <a:blip r:embed="rId4"/>
          <a:stretch>
            <a:fillRect/>
          </a:stretch>
        </p:blipFill>
        <p:spPr>
          <a:xfrm>
            <a:off x="3773043" y="2478227"/>
            <a:ext cx="424281" cy="424281"/>
          </a:xfrm>
          <a:prstGeom prst="rect">
            <a:avLst/>
          </a:prstGeom>
        </p:spPr>
      </p:pic>
      <p:sp>
        <p:nvSpPr>
          <p:cNvPr id="15" name="TextBox 14"/>
          <p:cNvSpPr txBox="1"/>
          <p:nvPr/>
        </p:nvSpPr>
        <p:spPr>
          <a:xfrm>
            <a:off x="3555415" y="3147568"/>
            <a:ext cx="2238679" cy="2208784"/>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정의 재사용과 실행 기록</a:t>
            </a:r>
          </a:p>
          <a:p>
            <a:pPr algn="l" eaLnBrk="0" marL="154305" indent="-154305">
              <a:lnSpc>
                <a:spcPct val="110000"/>
              </a:lnSpc>
              <a:spcAft>
                <a:spcPts val="400"/>
              </a:spcAft>
            </a:pPr>
            <a:r>
              <a:rPr sz="1350" b="0">
                <a:solidFill>
                  <a:srgbClr val="1F2A3A"/>
                </a:solidFill>
                <a:latin typeface="맑은 고딕"/>
                <a:ea typeface="맑은 고딕"/>
                <a:cs typeface="맑은 고딕"/>
              </a:rPr>
              <a:t>• 승인 블록을 다시 쓰고 바뀌는 값만 고른다</a:t>
            </a:r>
          </a:p>
          <a:p>
            <a:pPr algn="l" eaLnBrk="0" marL="154305" indent="-154305">
              <a:lnSpc>
                <a:spcPct val="110000"/>
              </a:lnSpc>
              <a:spcAft>
                <a:spcPts val="400"/>
              </a:spcAft>
            </a:pPr>
            <a:r>
              <a:rPr sz="1350" b="0">
                <a:solidFill>
                  <a:srgbClr val="1F2A3A"/>
                </a:solidFill>
                <a:latin typeface="맑은 고딕"/>
                <a:ea typeface="맑은 고딕"/>
                <a:cs typeface="맑은 고딕"/>
              </a:rPr>
              <a:t>• 상태 · 배포 · 오류 · 반려를 기록에서 가린다</a:t>
            </a:r>
          </a:p>
        </p:txBody>
      </p:sp>
      <p:sp>
        <p:nvSpPr>
          <p:cNvPr id="16" name="Rounded Rectangle 15"/>
          <p:cNvSpPr/>
          <p:nvPr/>
        </p:nvSpPr>
        <p:spPr>
          <a:xfrm>
            <a:off x="3619423" y="5429504"/>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429504"/>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기록 읽기</a:t>
            </a:r>
          </a:p>
        </p:txBody>
      </p:sp>
      <p:sp>
        <p:nvSpPr>
          <p:cNvPr id="18" name="Rounded Rectangle 17"/>
          <p:cNvSpPr/>
          <p:nvPr/>
        </p:nvSpPr>
        <p:spPr>
          <a:xfrm>
            <a:off x="6233007" y="2123439"/>
            <a:ext cx="2567863"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324608"/>
            <a:ext cx="731520" cy="731520"/>
          </a:xfrm>
          <a:prstGeom prst="ellipse">
            <a:avLst/>
          </a:prstGeom>
          <a:solidFill>
            <a:srgbClr val="E7F3FD"/>
          </a:solidFill>
          <a:ln>
            <a:noFill/>
          </a:ln>
        </p:spPr>
        <p:txBody>
          <a:bodyPr rtlCol="0" anchor="ctr"/>
          <a:lstStyle/>
          <a:p>
            <a:pPr algn="ctr"/>
          </a:p>
        </p:txBody>
      </p:sp>
      <p:pic>
        <p:nvPicPr>
          <p:cNvPr id="20" name="아이콘:route" descr="route_13294B_1.6.png"/>
          <p:cNvPicPr>
            <a:picLocks noChangeAspect="1"/>
          </p:cNvPicPr>
          <p:nvPr/>
        </p:nvPicPr>
        <p:blipFill>
          <a:blip r:embed="rId5"/>
          <a:stretch>
            <a:fillRect/>
          </a:stretch>
        </p:blipFill>
        <p:spPr>
          <a:xfrm>
            <a:off x="6615226" y="2478227"/>
            <a:ext cx="424281" cy="424281"/>
          </a:xfrm>
          <a:prstGeom prst="rect">
            <a:avLst/>
          </a:prstGeom>
        </p:spPr>
      </p:pic>
      <p:sp>
        <p:nvSpPr>
          <p:cNvPr id="21" name="TextBox 20"/>
          <p:cNvSpPr txBox="1"/>
          <p:nvPr/>
        </p:nvSpPr>
        <p:spPr>
          <a:xfrm>
            <a:off x="6397599" y="3147568"/>
            <a:ext cx="2238679" cy="2208784"/>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정비 · 구매 프로세스</a:t>
            </a:r>
          </a:p>
          <a:p>
            <a:pPr algn="l" eaLnBrk="0" marL="154305" indent="-154305">
              <a:lnSpc>
                <a:spcPct val="110000"/>
              </a:lnSpc>
              <a:spcAft>
                <a:spcPts val="400"/>
              </a:spcAft>
            </a:pPr>
            <a:r>
              <a:rPr sz="1350" b="0">
                <a:solidFill>
                  <a:srgbClr val="1F2A3A"/>
                </a:solidFill>
                <a:latin typeface="맑은 고딕"/>
                <a:ea typeface="맑은 고딕"/>
                <a:cs typeface="맑은 고딕"/>
              </a:rPr>
              <a:t>• 두 프로세스를 그리고 준비된 시나리오로 실행한다</a:t>
            </a:r>
          </a:p>
          <a:p>
            <a:pPr algn="l" eaLnBrk="0" marL="154305" indent="-154305">
              <a:lnSpc>
                <a:spcPct val="110000"/>
              </a:lnSpc>
              <a:spcAft>
                <a:spcPts val="400"/>
              </a:spcAft>
            </a:pPr>
            <a:r>
              <a:rPr sz="1350" b="0">
                <a:solidFill>
                  <a:srgbClr val="1F2A3A"/>
                </a:solidFill>
                <a:latin typeface="맑은 고딕"/>
                <a:ea typeface="맑은 고딕"/>
                <a:cs typeface="맑은 고딕"/>
              </a:rPr>
              <a:t>• 같은 처리 건에서 오더 · 예약 · 발주 · 입고를 대조한다</a:t>
            </a:r>
          </a:p>
        </p:txBody>
      </p:sp>
      <p:sp>
        <p:nvSpPr>
          <p:cNvPr id="22" name="Rounded Rectangle 21"/>
          <p:cNvSpPr/>
          <p:nvPr/>
        </p:nvSpPr>
        <p:spPr>
          <a:xfrm>
            <a:off x="6461607" y="5429504"/>
            <a:ext cx="11734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429504"/>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설계와 실행</a:t>
            </a:r>
          </a:p>
        </p:txBody>
      </p:sp>
      <p:sp>
        <p:nvSpPr>
          <p:cNvPr id="24" name="Rounded Rectangle 23"/>
          <p:cNvSpPr/>
          <p:nvPr/>
        </p:nvSpPr>
        <p:spPr>
          <a:xfrm>
            <a:off x="9075191" y="2123439"/>
            <a:ext cx="2567863" cy="373583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324608"/>
            <a:ext cx="731520" cy="731520"/>
          </a:xfrm>
          <a:prstGeom prst="ellipse">
            <a:avLst/>
          </a:prstGeom>
          <a:solidFill>
            <a:srgbClr val="5CB8F2"/>
          </a:solidFill>
          <a:ln>
            <a:noFill/>
          </a:ln>
        </p:spPr>
        <p:txBody>
          <a:bodyPr rtlCol="0" anchor="ctr"/>
          <a:lstStyle/>
          <a:p>
            <a:pPr algn="ctr"/>
          </a:p>
        </p:txBody>
      </p:sp>
      <p:pic>
        <p:nvPicPr>
          <p:cNvPr id="26" name="아이콘:clipboard-check" descr="clipboard-check_13294B_1.6.png"/>
          <p:cNvPicPr>
            <a:picLocks noChangeAspect="1"/>
          </p:cNvPicPr>
          <p:nvPr/>
        </p:nvPicPr>
        <p:blipFill>
          <a:blip r:embed="rId6"/>
          <a:stretch>
            <a:fillRect/>
          </a:stretch>
        </p:blipFill>
        <p:spPr>
          <a:xfrm>
            <a:off x="9457410" y="2478227"/>
            <a:ext cx="424281" cy="424281"/>
          </a:xfrm>
          <a:prstGeom prst="rect">
            <a:avLst/>
          </a:prstGeom>
        </p:spPr>
      </p:pic>
      <p:sp>
        <p:nvSpPr>
          <p:cNvPr id="27" name="TextBox 26"/>
          <p:cNvSpPr txBox="1"/>
          <p:nvPr/>
        </p:nvSpPr>
        <p:spPr>
          <a:xfrm>
            <a:off x="9239783" y="3147568"/>
            <a:ext cx="2238679" cy="2208784"/>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결과의 검증과 인계 준비</a:t>
            </a:r>
          </a:p>
          <a:p>
            <a:pPr algn="l" eaLnBrk="0" marL="154305" indent="-154305">
              <a:lnSpc>
                <a:spcPct val="110000"/>
              </a:lnSpc>
              <a:spcAft>
                <a:spcPts val="400"/>
              </a:spcAft>
            </a:pPr>
            <a:r>
              <a:rPr sz="1350" b="0">
                <a:solidFill>
                  <a:srgbClr val="1F2A3A"/>
                </a:solidFill>
                <a:latin typeface="맑은 고딕"/>
                <a:ea typeface="맑은 고딕"/>
                <a:cs typeface="맑은 고딕"/>
              </a:rPr>
              <a:t>• 지식에서 업무 기록까지를 되짚는다</a:t>
            </a:r>
          </a:p>
          <a:p>
            <a:pPr algn="l" eaLnBrk="0" marL="154305" indent="-154305">
              <a:lnSpc>
                <a:spcPct val="110000"/>
              </a:lnSpc>
              <a:spcAft>
                <a:spcPts val="400"/>
              </a:spcAft>
            </a:pPr>
            <a:r>
              <a:rPr sz="1350" b="0">
                <a:solidFill>
                  <a:srgbClr val="1F2A3A"/>
                </a:solidFill>
                <a:latin typeface="맑은 고딕"/>
                <a:ea typeface="맑은 고딕"/>
                <a:cs typeface="맑은 고딕"/>
              </a:rPr>
              <a:t>• 다음 담당자가 확인할 미완료를 근거와 함께 고른다</a:t>
            </a:r>
          </a:p>
        </p:txBody>
      </p:sp>
      <p:sp>
        <p:nvSpPr>
          <p:cNvPr id="28" name="Rounded Rectangle 27"/>
          <p:cNvSpPr/>
          <p:nvPr/>
        </p:nvSpPr>
        <p:spPr>
          <a:xfrm>
            <a:off x="9303791" y="5429504"/>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429504"/>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검증</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1600199"/>
            <a:ext cx="822960" cy="73152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1600199"/>
            <a:ext cx="8488375" cy="73152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세 업무의 시작 조건과 끝나는 지점</a:t>
            </a:r>
          </a:p>
        </p:txBody>
      </p:sp>
      <p:sp>
        <p:nvSpPr>
          <p:cNvPr id="6" name="Rounded Rectangle 5"/>
          <p:cNvSpPr/>
          <p:nvPr/>
        </p:nvSpPr>
        <p:spPr>
          <a:xfrm>
            <a:off x="10088575" y="1819655"/>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1819655"/>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8" name="Rectangle 7"/>
          <p:cNvSpPr/>
          <p:nvPr/>
        </p:nvSpPr>
        <p:spPr>
          <a:xfrm>
            <a:off x="548640" y="232257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2331720"/>
            <a:ext cx="822960" cy="73152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2331720"/>
            <a:ext cx="8488375" cy="73152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정의 재사용과 실행 기록 읽기</a:t>
            </a:r>
          </a:p>
        </p:txBody>
      </p:sp>
      <p:sp>
        <p:nvSpPr>
          <p:cNvPr id="11" name="Rounded Rectangle 10"/>
          <p:cNvSpPr/>
          <p:nvPr/>
        </p:nvSpPr>
        <p:spPr>
          <a:xfrm>
            <a:off x="10088575" y="2551175"/>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2551175"/>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13" name="Rectangle 12"/>
          <p:cNvSpPr/>
          <p:nvPr/>
        </p:nvSpPr>
        <p:spPr>
          <a:xfrm>
            <a:off x="548640" y="3054096"/>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3063239"/>
            <a:ext cx="822960" cy="73152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3063239"/>
            <a:ext cx="8488375" cy="73152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정기 점검 프로세스 작도 · 실행</a:t>
            </a:r>
          </a:p>
        </p:txBody>
      </p:sp>
      <p:sp>
        <p:nvSpPr>
          <p:cNvPr id="16" name="Rounded Rectangle 15"/>
          <p:cNvSpPr/>
          <p:nvPr/>
        </p:nvSpPr>
        <p:spPr>
          <a:xfrm>
            <a:off x="10088575" y="3282695"/>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3282695"/>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실습 1~2</a:t>
            </a:r>
          </a:p>
        </p:txBody>
      </p:sp>
      <p:sp>
        <p:nvSpPr>
          <p:cNvPr id="18" name="Rectangle 17"/>
          <p:cNvSpPr/>
          <p:nvPr/>
        </p:nvSpPr>
        <p:spPr>
          <a:xfrm>
            <a:off x="548640" y="3785615"/>
            <a:ext cx="11094415" cy="13716"/>
          </a:xfrm>
          <a:prstGeom prst="rect">
            <a:avLst/>
          </a:prstGeom>
          <a:solidFill>
            <a:srgbClr val="D3D9E1"/>
          </a:solidFill>
          <a:ln>
            <a:noFill/>
          </a:ln>
        </p:spPr>
        <p:txBody>
          <a:bodyPr rtlCol="0" anchor="ctr"/>
          <a:lstStyle/>
          <a:p>
            <a:pPr algn="ctr"/>
          </a:p>
        </p:txBody>
      </p:sp>
      <p:sp>
        <p:nvSpPr>
          <p:cNvPr id="19" name="TextBox 18"/>
          <p:cNvSpPr txBox="1"/>
          <p:nvPr/>
        </p:nvSpPr>
        <p:spPr>
          <a:xfrm>
            <a:off x="548640" y="3794760"/>
            <a:ext cx="822960" cy="73152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04</a:t>
            </a:r>
          </a:p>
        </p:txBody>
      </p:sp>
      <p:sp>
        <p:nvSpPr>
          <p:cNvPr id="20" name="TextBox 19"/>
          <p:cNvSpPr txBox="1"/>
          <p:nvPr/>
        </p:nvSpPr>
        <p:spPr>
          <a:xfrm>
            <a:off x="1417319" y="3794760"/>
            <a:ext cx="8488375" cy="73152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재고 보충 프로세스 작도 · 실행</a:t>
            </a:r>
          </a:p>
        </p:txBody>
      </p:sp>
      <p:sp>
        <p:nvSpPr>
          <p:cNvPr id="21" name="Rounded Rectangle 20"/>
          <p:cNvSpPr/>
          <p:nvPr/>
        </p:nvSpPr>
        <p:spPr>
          <a:xfrm>
            <a:off x="10088575" y="4014216"/>
            <a:ext cx="1371600" cy="292608"/>
          </a:xfrm>
          <a:prstGeom prst="roundRect">
            <a:avLst>
              <a:gd name="adj" fmla="val 50000"/>
            </a:avLst>
          </a:prstGeom>
          <a:solidFill>
            <a:srgbClr val="D3D9E1"/>
          </a:solidFill>
          <a:ln>
            <a:noFill/>
          </a:ln>
        </p:spPr>
        <p:txBody>
          <a:bodyPr rtlCol="0" anchor="ctr"/>
          <a:lstStyle/>
          <a:p>
            <a:pPr algn="ctr"/>
          </a:p>
        </p:txBody>
      </p:sp>
      <p:sp>
        <p:nvSpPr>
          <p:cNvPr id="22" name="TextBox 21"/>
          <p:cNvSpPr txBox="1"/>
          <p:nvPr/>
        </p:nvSpPr>
        <p:spPr>
          <a:xfrm>
            <a:off x="10088575" y="401421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실습 3~4</a:t>
            </a:r>
          </a:p>
        </p:txBody>
      </p:sp>
      <p:sp>
        <p:nvSpPr>
          <p:cNvPr id="23" name="Rectangle 22"/>
          <p:cNvSpPr/>
          <p:nvPr/>
        </p:nvSpPr>
        <p:spPr>
          <a:xfrm>
            <a:off x="548640" y="4517136"/>
            <a:ext cx="11094415" cy="13716"/>
          </a:xfrm>
          <a:prstGeom prst="rect">
            <a:avLst/>
          </a:prstGeom>
          <a:solidFill>
            <a:srgbClr val="D3D9E1"/>
          </a:solidFill>
          <a:ln>
            <a:noFill/>
          </a:ln>
        </p:spPr>
        <p:txBody>
          <a:bodyPr rtlCol="0" anchor="ctr"/>
          <a:lstStyle/>
          <a:p>
            <a:pPr algn="ctr"/>
          </a:p>
        </p:txBody>
      </p:sp>
      <p:sp>
        <p:nvSpPr>
          <p:cNvPr id="24" name="TextBox 23"/>
          <p:cNvSpPr txBox="1"/>
          <p:nvPr/>
        </p:nvSpPr>
        <p:spPr>
          <a:xfrm>
            <a:off x="548640" y="4526279"/>
            <a:ext cx="822960" cy="73152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05</a:t>
            </a:r>
          </a:p>
        </p:txBody>
      </p:sp>
      <p:sp>
        <p:nvSpPr>
          <p:cNvPr id="25" name="TextBox 24"/>
          <p:cNvSpPr txBox="1"/>
          <p:nvPr/>
        </p:nvSpPr>
        <p:spPr>
          <a:xfrm>
            <a:off x="1417319" y="4526279"/>
            <a:ext cx="8488375" cy="73152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설계 · 실행 · 검증의 정리</a:t>
            </a:r>
          </a:p>
        </p:txBody>
      </p:sp>
      <p:sp>
        <p:nvSpPr>
          <p:cNvPr id="26" name="Rounded Rectangle 25"/>
          <p:cNvSpPr/>
          <p:nvPr/>
        </p:nvSpPr>
        <p:spPr>
          <a:xfrm>
            <a:off x="10088575" y="4745736"/>
            <a:ext cx="1371600" cy="292608"/>
          </a:xfrm>
          <a:prstGeom prst="roundRect">
            <a:avLst>
              <a:gd name="adj" fmla="val 50000"/>
            </a:avLst>
          </a:prstGeom>
          <a:solidFill>
            <a:srgbClr val="D3D9E1"/>
          </a:solidFill>
          <a:ln>
            <a:noFill/>
          </a:ln>
        </p:spPr>
        <p:txBody>
          <a:bodyPr rtlCol="0" anchor="ctr"/>
          <a:lstStyle/>
          <a:p>
            <a:pPr algn="ctr"/>
          </a:p>
        </p:txBody>
      </p:sp>
      <p:sp>
        <p:nvSpPr>
          <p:cNvPr id="27" name="TextBox 26"/>
          <p:cNvSpPr txBox="1"/>
          <p:nvPr/>
        </p:nvSpPr>
        <p:spPr>
          <a:xfrm>
            <a:off x="10088575" y="474573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28" name="Rectangle 27"/>
          <p:cNvSpPr/>
          <p:nvPr/>
        </p:nvSpPr>
        <p:spPr>
          <a:xfrm>
            <a:off x="548640" y="5248655"/>
            <a:ext cx="11094415" cy="13716"/>
          </a:xfrm>
          <a:prstGeom prst="rect">
            <a:avLst/>
          </a:prstGeom>
          <a:solidFill>
            <a:srgbClr val="D3D9E1"/>
          </a:solidFill>
          <a:ln>
            <a:noFill/>
          </a:ln>
        </p:spPr>
        <p:txBody>
          <a:bodyPr rtlCol="0" anchor="ctr"/>
          <a:lstStyle/>
          <a:p>
            <a:pPr algn="ctr"/>
          </a:p>
        </p:txBody>
      </p:sp>
      <p:sp>
        <p:nvSpPr>
          <p:cNvPr id="29" name="TextBox 28"/>
          <p:cNvSpPr txBox="1"/>
          <p:nvPr/>
        </p:nvSpPr>
        <p:spPr>
          <a:xfrm>
            <a:off x="548640" y="5257800"/>
            <a:ext cx="822960" cy="73152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06</a:t>
            </a:r>
          </a:p>
        </p:txBody>
      </p:sp>
      <p:sp>
        <p:nvSpPr>
          <p:cNvPr id="30" name="TextBox 29"/>
          <p:cNvSpPr txBox="1"/>
          <p:nvPr/>
        </p:nvSpPr>
        <p:spPr>
          <a:xfrm>
            <a:off x="1417319" y="5257800"/>
            <a:ext cx="8488375" cy="73152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핵심 용어 · 복습 · 퀴즈</a:t>
            </a:r>
          </a:p>
        </p:txBody>
      </p:sp>
      <p:sp>
        <p:nvSpPr>
          <p:cNvPr id="31" name="Rounded Rectangle 30"/>
          <p:cNvSpPr/>
          <p:nvPr/>
        </p:nvSpPr>
        <p:spPr>
          <a:xfrm>
            <a:off x="10088575" y="5477256"/>
            <a:ext cx="1371600" cy="292608"/>
          </a:xfrm>
          <a:prstGeom prst="roundRect">
            <a:avLst>
              <a:gd name="adj" fmla="val 50000"/>
            </a:avLst>
          </a:prstGeom>
          <a:solidFill>
            <a:srgbClr val="D3D9E1"/>
          </a:solidFill>
          <a:ln>
            <a:noFill/>
          </a:ln>
        </p:spPr>
        <p:txBody>
          <a:bodyPr rtlCol="0" anchor="ctr"/>
          <a:lstStyle/>
          <a:p>
            <a:pPr algn="ctr"/>
          </a:p>
        </p:txBody>
      </p:sp>
      <p:sp>
        <p:nvSpPr>
          <p:cNvPr id="32" name="TextBox 31"/>
          <p:cNvSpPr txBox="1"/>
          <p:nvPr/>
        </p:nvSpPr>
        <p:spPr>
          <a:xfrm>
            <a:off x="10088575" y="547725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정리</a:t>
            </a:r>
          </a:p>
        </p:txBody>
      </p:sp>
      <p:sp>
        <p:nvSpPr>
          <p:cNvPr id="33" name="TextBox 32"/>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세 업무의 시작 조건과 끝나는 지점</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두 업무가 열리는 조건을 견주고, 프로세스의 끝과 업무의 끝을 가른다</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세 업무의 시작 이벤트 · 승인자 · 실행 시스템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세 업무는 시작 이벤트 · 승인자 · 실행 시스템이 달라서, 프로세스가 끝날 때 남는 결과도 업무마다 다르다.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업무 · 대상</a:t>
            </a:r>
          </a:p>
        </p:txBody>
      </p:sp>
      <p:sp>
        <p:nvSpPr>
          <p:cNvPr id="8" name="TextBox 7"/>
          <p:cNvSpPr txBox="1"/>
          <p:nvPr/>
        </p:nvSpPr>
        <p:spPr>
          <a:xfrm>
            <a:off x="3200400" y="24185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시작 이벤트 · 에이전트 · 승인자</a:t>
            </a:r>
          </a:p>
        </p:txBody>
      </p:sp>
      <p:sp>
        <p:nvSpPr>
          <p:cNvPr id="9" name="TextBox 8"/>
          <p:cNvSpPr txBox="1"/>
          <p:nvPr/>
        </p:nvSpPr>
        <p:spPr>
          <a:xfrm>
            <a:off x="9448495" y="24185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실행 시스템 · 남는 결과</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긴급 대응 · HYD-01</a:t>
            </a:r>
          </a:p>
        </p:txBody>
      </p:sp>
      <p:sp>
        <p:nvSpPr>
          <p:cNvPr id="12" name="TextBox 11"/>
          <p:cNvSpPr txBox="1"/>
          <p:nvPr/>
        </p:nvSpPr>
        <p:spPr>
          <a:xfrm>
            <a:off x="3200400" y="2820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쿨러 성능 저하 경보(센서 값의 규칙)</a:t>
            </a:r>
          </a:p>
          <a:p>
            <a:pPr algn="l" eaLnBrk="0">
              <a:lnSpc>
                <a:spcPct val="110000"/>
              </a:lnSpc>
            </a:pPr>
            <a:r>
              <a:rPr sz="1400" b="0">
                <a:solidFill>
                  <a:srgbClr val="1F2A3A"/>
                </a:solidFill>
                <a:latin typeface="맑은 고딕"/>
                <a:ea typeface="맑은 고딕"/>
                <a:cs typeface="맑은 고딕"/>
              </a:rPr>
              <a:t>냉각 긴급 대응 에이전트 → 운전원</a:t>
            </a:r>
          </a:p>
        </p:txBody>
      </p:sp>
      <p:sp>
        <p:nvSpPr>
          <p:cNvPr id="13" name="TextBox 12"/>
          <p:cNvSpPr txBox="1"/>
          <p:nvPr/>
        </p:nvSpPr>
        <p:spPr>
          <a:xfrm>
            <a:off x="9448495" y="2820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SCADA · CMMS</a:t>
            </a:r>
          </a:p>
          <a:p>
            <a:pPr algn="l" eaLnBrk="0">
              <a:lnSpc>
                <a:spcPct val="110000"/>
              </a:lnSpc>
            </a:pPr>
            <a:r>
              <a:rPr sz="1250" b="1">
                <a:solidFill>
                  <a:srgbClr val="556175"/>
                </a:solidFill>
                <a:latin typeface="맑은 고딕"/>
                <a:ea typeface="맑은 고딕"/>
                <a:cs typeface="맑은 고딕"/>
              </a:rPr>
              <a:t>팬 명령 · 재관측 · 작업지시</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정기 점검 · HYD-02</a:t>
            </a:r>
          </a:p>
        </p:txBody>
      </p:sp>
      <p:sp>
        <p:nvSpPr>
          <p:cNvPr id="16" name="TextBox 15"/>
          <p:cNvSpPr txBox="1"/>
          <p:nvPr/>
        </p:nvSpPr>
        <p:spPr>
          <a:xfrm>
            <a:off x="3200400" y="37353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정기 점검 도래 PM_DUE(운전시간)</a:t>
            </a:r>
          </a:p>
          <a:p>
            <a:pPr algn="l" eaLnBrk="0">
              <a:lnSpc>
                <a:spcPct val="110000"/>
              </a:lnSpc>
            </a:pPr>
            <a:r>
              <a:rPr sz="1400" b="0">
                <a:solidFill>
                  <a:srgbClr val="1F2A3A"/>
                </a:solidFill>
                <a:latin typeface="맑은 고딕"/>
                <a:ea typeface="맑은 고딕"/>
                <a:cs typeface="맑은 고딕"/>
              </a:rPr>
              <a:t>정기 정비 계획 에이전트 → 설비보전팀장</a:t>
            </a:r>
          </a:p>
        </p:txBody>
      </p:sp>
      <p:sp>
        <p:nvSpPr>
          <p:cNvPr id="17" name="TextBox 16"/>
          <p:cNvSpPr txBox="1"/>
          <p:nvPr/>
        </p:nvSpPr>
        <p:spPr>
          <a:xfrm>
            <a:off x="9448495" y="37353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CMMS · 메일</a:t>
            </a:r>
          </a:p>
          <a:p>
            <a:pPr algn="l" eaLnBrk="0">
              <a:lnSpc>
                <a:spcPct val="110000"/>
              </a:lnSpc>
            </a:pPr>
            <a:r>
              <a:rPr sz="1250" b="1">
                <a:solidFill>
                  <a:srgbClr val="556175"/>
                </a:solidFill>
                <a:latin typeface="맑은 고딕"/>
                <a:ea typeface="맑은 고딕"/>
                <a:cs typeface="맑은 고딕"/>
              </a:rPr>
              <a:t>정비 오더 · 생산팀 공지</a:t>
            </a:r>
          </a:p>
        </p:txBody>
      </p:sp>
      <p:sp>
        <p:nvSpPr>
          <p:cNvPr id="18" name="Rounded Rectangle 17"/>
          <p:cNvSpPr/>
          <p:nvPr/>
        </p:nvSpPr>
        <p:spPr>
          <a:xfrm>
            <a:off x="548640" y="46817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재고 보충 · 씰 키트</a:t>
            </a:r>
          </a:p>
        </p:txBody>
      </p:sp>
      <p:sp>
        <p:nvSpPr>
          <p:cNvPr id="20" name="TextBox 19"/>
          <p:cNvSpPr txBox="1"/>
          <p:nvPr/>
        </p:nvSpPr>
        <p:spPr>
          <a:xfrm>
            <a:off x="3200400" y="4649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재고 부족 SPARE_BELOW_MIN(가용 재고)</a:t>
            </a:r>
          </a:p>
          <a:p>
            <a:pPr algn="l" eaLnBrk="0">
              <a:lnSpc>
                <a:spcPct val="110000"/>
              </a:lnSpc>
            </a:pPr>
            <a:r>
              <a:rPr sz="1400" b="0">
                <a:solidFill>
                  <a:srgbClr val="1F2A3A"/>
                </a:solidFill>
                <a:latin typeface="맑은 고딕"/>
                <a:ea typeface="맑은 고딕"/>
                <a:cs typeface="맑은 고딕"/>
              </a:rPr>
              <a:t>예비품 구매 에이전트 → 구매 담당</a:t>
            </a:r>
          </a:p>
        </p:txBody>
      </p:sp>
      <p:sp>
        <p:nvSpPr>
          <p:cNvPr id="21" name="TextBox 20"/>
          <p:cNvSpPr txBox="1"/>
          <p:nvPr/>
        </p:nvSpPr>
        <p:spPr>
          <a:xfrm>
            <a:off x="9448495" y="4649723"/>
            <a:ext cx="2103120" cy="914400"/>
          </a:xfrm>
          <a:prstGeom prst="rect">
            <a:avLst/>
          </a:prstGeom>
          <a:noFill/>
        </p:spPr>
        <p:txBody>
          <a:bodyPr wrap="square" anchor="ctr"/>
          <a:lstStyle/>
          <a:p>
            <a:pPr algn="l" eaLnBrk="0">
              <a:lnSpc>
                <a:spcPct val="110000"/>
              </a:lnSpc>
            </a:pPr>
            <a:r>
              <a:rPr sz="1200" b="1">
                <a:solidFill>
                  <a:srgbClr val="1A6FC4"/>
                </a:solidFill>
                <a:latin typeface="맑은 고딕"/>
                <a:ea typeface="맑은 고딕"/>
                <a:cs typeface="맑은 고딕"/>
              </a:rPr>
              <a:t>ERP · 메일</a:t>
            </a:r>
          </a:p>
          <a:p>
            <a:pPr algn="l" eaLnBrk="0">
              <a:lnSpc>
                <a:spcPct val="110000"/>
              </a:lnSpc>
            </a:pPr>
            <a:r>
              <a:rPr sz="1200" b="1">
                <a:solidFill>
                  <a:srgbClr val="1A6FC4"/>
                </a:solidFill>
                <a:latin typeface="맑은 고딕"/>
                <a:ea typeface="맑은 고딕"/>
                <a:cs typeface="맑은 고딕"/>
              </a:rPr>
              <a:t>발주 · 공급사 통지 · 입고</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예방 정비의 기준: 운전시간 계수기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정기 점검 도래 경보는 시행이 아니라 계획을 시작하라는 신호여서, 시행 시점은 허용 오차 안에서 고른다.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a:t>
            </a:r>
          </a:p>
        </p:txBody>
      </p:sp>
      <p:sp>
        <p:nvSpPr>
          <p:cNvPr id="6" name="Rounded Rectangle 5"/>
          <p:cNvSpPr/>
          <p:nvPr/>
        </p:nvSpPr>
        <p:spPr>
          <a:xfrm>
            <a:off x="548640" y="2745867"/>
            <a:ext cx="1911644" cy="2490978"/>
          </a:xfrm>
          <a:prstGeom prst="roundRect">
            <a:avLst>
              <a:gd name="adj" fmla="val 5000"/>
            </a:avLst>
          </a:prstGeom>
          <a:solidFill>
            <a:srgbClr val="F3F6F9"/>
          </a:solidFill>
          <a:ln>
            <a:noFill/>
          </a:ln>
        </p:spPr>
        <p:txBody>
          <a:bodyPr rtlCol="0" anchor="ctr"/>
          <a:lstStyle/>
          <a:p>
            <a:pPr algn="ctr"/>
          </a:p>
        </p:txBody>
      </p:sp>
      <p:sp>
        <p:nvSpPr>
          <p:cNvPr id="7" name="TextBox 6"/>
          <p:cNvSpPr txBox="1"/>
          <p:nvPr/>
        </p:nvSpPr>
        <p:spPr>
          <a:xfrm>
            <a:off x="621792" y="2928747"/>
            <a:ext cx="1765340" cy="2234945"/>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1,800 h</a:t>
            </a:r>
          </a:p>
          <a:p>
            <a:pPr algn="ctr" eaLnBrk="0">
              <a:lnSpc>
                <a:spcPct val="110000"/>
              </a:lnSpc>
              <a:spcAft>
                <a:spcPts val="400"/>
              </a:spcAft>
            </a:pPr>
            <a:r>
              <a:rPr sz="1350" b="0">
                <a:solidFill>
                  <a:srgbClr val="1F2A3A"/>
                </a:solidFill>
                <a:latin typeface="맑은 고딕"/>
                <a:ea typeface="맑은 고딕"/>
                <a:cs typeface="맑은 고딕"/>
              </a:rPr>
              <a:t>허용 오차 하한</a:t>
            </a:r>
          </a:p>
          <a:p>
            <a:pPr algn="ctr" eaLnBrk="0">
              <a:lnSpc>
                <a:spcPct val="110000"/>
              </a:lnSpc>
              <a:spcAft>
                <a:spcPts val="400"/>
              </a:spcAft>
            </a:pPr>
            <a:r>
              <a:rPr sz="1350" b="0">
                <a:solidFill>
                  <a:srgbClr val="1F2A3A"/>
                </a:solidFill>
                <a:latin typeface="맑은 고딕"/>
                <a:ea typeface="맑은 고딕"/>
                <a:cs typeface="맑은 고딕"/>
              </a:rPr>
              <a:t>이때부터 시행 방식을</a:t>
            </a:r>
          </a:p>
          <a:p>
            <a:pPr algn="ctr" eaLnBrk="0">
              <a:lnSpc>
                <a:spcPct val="110000"/>
              </a:lnSpc>
              <a:spcAft>
                <a:spcPts val="400"/>
              </a:spcAft>
            </a:pPr>
            <a:r>
              <a:rPr sz="1350" b="0">
                <a:solidFill>
                  <a:srgbClr val="1F2A3A"/>
                </a:solidFill>
                <a:latin typeface="맑은 고딕"/>
                <a:ea typeface="맑은 고딕"/>
                <a:cs typeface="맑은 고딕"/>
              </a:rPr>
              <a:t>견줄 수 있다</a:t>
            </a:r>
          </a:p>
        </p:txBody>
      </p:sp>
      <p:sp>
        <p:nvSpPr>
          <p:cNvPr id="8" name="Right Arrow 7"/>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9" name="Rounded Rectangle 8"/>
          <p:cNvSpPr/>
          <p:nvPr/>
        </p:nvSpPr>
        <p:spPr>
          <a:xfrm>
            <a:off x="2844332" y="2745867"/>
            <a:ext cx="1911644" cy="2490978"/>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0" name="TextBox 9"/>
          <p:cNvSpPr txBox="1"/>
          <p:nvPr/>
        </p:nvSpPr>
        <p:spPr>
          <a:xfrm>
            <a:off x="2917484" y="2928747"/>
            <a:ext cx="1765340" cy="2234945"/>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1,950 h</a:t>
            </a:r>
          </a:p>
          <a:p>
            <a:pPr algn="ctr" eaLnBrk="0">
              <a:lnSpc>
                <a:spcPct val="110000"/>
              </a:lnSpc>
              <a:spcAft>
                <a:spcPts val="400"/>
              </a:spcAft>
            </a:pPr>
            <a:r>
              <a:rPr sz="1350" b="0">
                <a:solidFill>
                  <a:srgbClr val="1F2A3A"/>
                </a:solidFill>
                <a:latin typeface="맑은 고딕"/>
                <a:ea typeface="맑은 고딕"/>
                <a:cs typeface="맑은 고딕"/>
              </a:rPr>
              <a:t>도래 경보 PM_DUE</a:t>
            </a:r>
          </a:p>
          <a:p>
            <a:pPr algn="ctr" eaLnBrk="0">
              <a:lnSpc>
                <a:spcPct val="110000"/>
              </a:lnSpc>
              <a:spcAft>
                <a:spcPts val="400"/>
              </a:spcAft>
            </a:pPr>
            <a:r>
              <a:rPr sz="1350" b="0">
                <a:solidFill>
                  <a:srgbClr val="1F2A3A"/>
                </a:solidFill>
                <a:latin typeface="맑은 고딕"/>
                <a:ea typeface="맑은 고딕"/>
                <a:cs typeface="맑은 고딕"/>
              </a:rPr>
              <a:t>주기 50 h 전에</a:t>
            </a:r>
          </a:p>
          <a:p>
            <a:pPr algn="ctr" eaLnBrk="0">
              <a:lnSpc>
                <a:spcPct val="110000"/>
              </a:lnSpc>
              <a:spcAft>
                <a:spcPts val="400"/>
              </a:spcAft>
            </a:pPr>
            <a:r>
              <a:rPr sz="1350" b="0">
                <a:solidFill>
                  <a:srgbClr val="1F2A3A"/>
                </a:solidFill>
                <a:latin typeface="맑은 고딕"/>
                <a:ea typeface="맑은 고딕"/>
                <a:cs typeface="맑은 고딕"/>
              </a:rPr>
              <a:t>처리 건이 열린다</a:t>
            </a:r>
          </a:p>
        </p:txBody>
      </p:sp>
      <p:sp>
        <p:nvSpPr>
          <p:cNvPr id="11" name="Right Arrow 10"/>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2" name="Rounded Rectangle 11"/>
          <p:cNvSpPr/>
          <p:nvPr/>
        </p:nvSpPr>
        <p:spPr>
          <a:xfrm>
            <a:off x="5140025" y="2745867"/>
            <a:ext cx="1911644" cy="2490978"/>
          </a:xfrm>
          <a:prstGeom prst="roundRect">
            <a:avLst>
              <a:gd name="adj" fmla="val 5000"/>
            </a:avLst>
          </a:prstGeom>
          <a:solidFill>
            <a:srgbClr val="F3F6F9"/>
          </a:solidFill>
          <a:ln>
            <a:noFill/>
          </a:ln>
        </p:spPr>
        <p:txBody>
          <a:bodyPr rtlCol="0" anchor="ctr"/>
          <a:lstStyle/>
          <a:p>
            <a:pPr algn="ctr"/>
          </a:p>
        </p:txBody>
      </p:sp>
      <p:sp>
        <p:nvSpPr>
          <p:cNvPr id="13" name="TextBox 12"/>
          <p:cNvSpPr txBox="1"/>
          <p:nvPr/>
        </p:nvSpPr>
        <p:spPr>
          <a:xfrm>
            <a:off x="5213177" y="2928747"/>
            <a:ext cx="1765340" cy="2234945"/>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2,000 h</a:t>
            </a:r>
          </a:p>
          <a:p>
            <a:pPr algn="ctr" eaLnBrk="0">
              <a:lnSpc>
                <a:spcPct val="110000"/>
              </a:lnSpc>
              <a:spcAft>
                <a:spcPts val="400"/>
              </a:spcAft>
            </a:pPr>
            <a:r>
              <a:rPr sz="1350" b="0">
                <a:solidFill>
                  <a:srgbClr val="1F2A3A"/>
                </a:solidFill>
                <a:latin typeface="맑은 고딕"/>
                <a:ea typeface="맑은 고딕"/>
                <a:cs typeface="맑은 고딕"/>
              </a:rPr>
              <a:t>정기 점검 주기</a:t>
            </a:r>
          </a:p>
          <a:p>
            <a:pPr algn="ctr" eaLnBrk="0">
              <a:lnSpc>
                <a:spcPct val="110000"/>
              </a:lnSpc>
              <a:spcAft>
                <a:spcPts val="400"/>
              </a:spcAft>
            </a:pPr>
            <a:r>
              <a:rPr sz="1350" b="0">
                <a:solidFill>
                  <a:srgbClr val="1F2A3A"/>
                </a:solidFill>
                <a:latin typeface="맑은 고딕"/>
                <a:ea typeface="맑은 고딕"/>
                <a:cs typeface="맑은 고딕"/>
              </a:rPr>
              <a:t>씰 키트 · 리턴 필터</a:t>
            </a:r>
          </a:p>
          <a:p>
            <a:pPr algn="ctr" eaLnBrk="0">
              <a:lnSpc>
                <a:spcPct val="110000"/>
              </a:lnSpc>
              <a:spcAft>
                <a:spcPts val="400"/>
              </a:spcAft>
            </a:pPr>
            <a:r>
              <a:rPr sz="1350" b="0">
                <a:solidFill>
                  <a:srgbClr val="1F2A3A"/>
                </a:solidFill>
                <a:latin typeface="맑은 고딕"/>
                <a:ea typeface="맑은 고딕"/>
                <a:cs typeface="맑은 고딕"/>
              </a:rPr>
              <a:t>교체 패키지</a:t>
            </a:r>
          </a:p>
        </p:txBody>
      </p:sp>
      <p:sp>
        <p:nvSpPr>
          <p:cNvPr id="14" name="Right Arrow 13"/>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15" name="Rounded Rectangle 14"/>
          <p:cNvSpPr/>
          <p:nvPr/>
        </p:nvSpPr>
        <p:spPr>
          <a:xfrm>
            <a:off x="7435717" y="2745867"/>
            <a:ext cx="1911644" cy="2490978"/>
          </a:xfrm>
          <a:prstGeom prst="roundRect">
            <a:avLst>
              <a:gd name="adj" fmla="val 5000"/>
            </a:avLst>
          </a:prstGeom>
          <a:solidFill>
            <a:srgbClr val="F3F6F9"/>
          </a:solidFill>
          <a:ln>
            <a:noFill/>
          </a:ln>
        </p:spPr>
        <p:txBody>
          <a:bodyPr rtlCol="0" anchor="ctr"/>
          <a:lstStyle/>
          <a:p>
            <a:pPr algn="ctr"/>
          </a:p>
        </p:txBody>
      </p:sp>
      <p:sp>
        <p:nvSpPr>
          <p:cNvPr id="16" name="TextBox 15"/>
          <p:cNvSpPr txBox="1"/>
          <p:nvPr/>
        </p:nvSpPr>
        <p:spPr>
          <a:xfrm>
            <a:off x="7508869" y="2928747"/>
            <a:ext cx="1765340" cy="2234945"/>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2,200 h</a:t>
            </a:r>
          </a:p>
          <a:p>
            <a:pPr algn="ctr" eaLnBrk="0">
              <a:lnSpc>
                <a:spcPct val="110000"/>
              </a:lnSpc>
              <a:spcAft>
                <a:spcPts val="400"/>
              </a:spcAft>
            </a:pPr>
            <a:r>
              <a:rPr sz="1350" b="0">
                <a:solidFill>
                  <a:srgbClr val="1F2A3A"/>
                </a:solidFill>
                <a:latin typeface="맑은 고딕"/>
                <a:ea typeface="맑은 고딕"/>
                <a:cs typeface="맑은 고딕"/>
              </a:rPr>
              <a:t>허용 오차 상한</a:t>
            </a:r>
          </a:p>
          <a:p>
            <a:pPr algn="ctr" eaLnBrk="0">
              <a:lnSpc>
                <a:spcPct val="110000"/>
              </a:lnSpc>
              <a:spcAft>
                <a:spcPts val="400"/>
              </a:spcAft>
            </a:pPr>
            <a:r>
              <a:rPr sz="1350" b="0">
                <a:solidFill>
                  <a:srgbClr val="1F2A3A"/>
                </a:solidFill>
                <a:latin typeface="맑은 고딕"/>
                <a:ea typeface="맑은 고딕"/>
                <a:cs typeface="맑은 고딕"/>
              </a:rPr>
              <a:t>넘기는 일정은</a:t>
            </a:r>
          </a:p>
          <a:p>
            <a:pPr algn="ctr" eaLnBrk="0">
              <a:lnSpc>
                <a:spcPct val="110000"/>
              </a:lnSpc>
              <a:spcAft>
                <a:spcPts val="400"/>
              </a:spcAft>
            </a:pPr>
            <a:r>
              <a:rPr sz="1350" b="0">
                <a:solidFill>
                  <a:srgbClr val="1F2A3A"/>
                </a:solidFill>
                <a:latin typeface="맑은 고딕"/>
                <a:ea typeface="맑은 고딕"/>
                <a:cs typeface="맑은 고딕"/>
              </a:rPr>
              <a:t>잡지 않는다</a:t>
            </a:r>
          </a:p>
        </p:txBody>
      </p:sp>
      <p:sp>
        <p:nvSpPr>
          <p:cNvPr id="17" name="Right Arrow 16"/>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18" name="Rounded Rectangle 17"/>
          <p:cNvSpPr/>
          <p:nvPr/>
        </p:nvSpPr>
        <p:spPr>
          <a:xfrm>
            <a:off x="9731410" y="2745867"/>
            <a:ext cx="1911644" cy="2490978"/>
          </a:xfrm>
          <a:prstGeom prst="roundRect">
            <a:avLst>
              <a:gd name="adj" fmla="val 5000"/>
            </a:avLst>
          </a:prstGeom>
          <a:solidFill>
            <a:srgbClr val="F3F6F9"/>
          </a:solidFill>
          <a:ln>
            <a:noFill/>
          </a:ln>
        </p:spPr>
        <p:txBody>
          <a:bodyPr rtlCol="0" anchor="ctr"/>
          <a:lstStyle/>
          <a:p>
            <a:pPr algn="ctr"/>
          </a:p>
        </p:txBody>
      </p:sp>
      <p:sp>
        <p:nvSpPr>
          <p:cNvPr id="19" name="TextBox 18"/>
          <p:cNvSpPr txBox="1"/>
          <p:nvPr/>
        </p:nvSpPr>
        <p:spPr>
          <a:xfrm>
            <a:off x="9804562" y="2928747"/>
            <a:ext cx="1765340" cy="2234945"/>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시운전 정상 뒤 0 h</a:t>
            </a:r>
          </a:p>
          <a:p>
            <a:pPr algn="ctr" eaLnBrk="0">
              <a:lnSpc>
                <a:spcPct val="110000"/>
              </a:lnSpc>
              <a:spcAft>
                <a:spcPts val="400"/>
              </a:spcAft>
            </a:pPr>
            <a:r>
              <a:rPr sz="1350" b="0">
                <a:solidFill>
                  <a:srgbClr val="1F2A3A"/>
                </a:solidFill>
                <a:latin typeface="맑은 고딕"/>
                <a:ea typeface="맑은 고딕"/>
                <a:cs typeface="맑은 고딕"/>
              </a:rPr>
              <a:t>계수기를 0으로</a:t>
            </a:r>
          </a:p>
          <a:p>
            <a:pPr algn="ctr" eaLnBrk="0">
              <a:lnSpc>
                <a:spcPct val="110000"/>
              </a:lnSpc>
              <a:spcAft>
                <a:spcPts val="400"/>
              </a:spcAft>
            </a:pPr>
            <a:r>
              <a:rPr sz="1350" b="0">
                <a:solidFill>
                  <a:srgbClr val="1F2A3A"/>
                </a:solidFill>
                <a:latin typeface="맑은 고딕"/>
                <a:ea typeface="맑은 고딕"/>
                <a:cs typeface="맑은 고딕"/>
              </a:rPr>
              <a:t>되돌리고 다음</a:t>
            </a:r>
          </a:p>
          <a:p>
            <a:pPr algn="ctr" eaLnBrk="0">
              <a:lnSpc>
                <a:spcPct val="110000"/>
              </a:lnSpc>
              <a:spcAft>
                <a:spcPts val="400"/>
              </a:spcAft>
            </a:pPr>
            <a:r>
              <a:rPr sz="1350" b="0">
                <a:solidFill>
                  <a:srgbClr val="1F2A3A"/>
                </a:solidFill>
                <a:latin typeface="맑은 고딕"/>
                <a:ea typeface="맑은 고딕"/>
                <a:cs typeface="맑은 고딕"/>
              </a:rPr>
              <a:t>기한을 기록한다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재고 부족의 계산: 가용 재고와 재주문점</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가용 재고는 예약분을 빼고 입고 예정분을 더한 수라서, 재주문점 비교와 필요 수량이 모두 이 수에서 나온다.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재고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부족</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경보</a:t>
            </a:r>
            <a:r>
              <a:rPr sz="1300" b="0">
                <a:solidFill>
                  <a:srgbClr val="E8EEF6"/>
                </a:solidFill>
                <a:latin typeface="Consolas"/>
                <a:ea typeface="맑은 고딕"/>
                <a:cs typeface="맑은 고딕"/>
              </a:rPr>
              <a:t> SPARE_BELOW_MIN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펌프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축</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키트</a:t>
            </a:r>
            <a:r>
              <a:rPr sz="1300" b="0">
                <a:solidFill>
                  <a:srgbClr val="E8EEF6"/>
                </a:solidFill>
                <a:latin typeface="Consolas"/>
                <a:ea typeface="맑은 고딕"/>
                <a:cs typeface="맑은 고딕"/>
              </a:rPr>
              <a:t>(P-PMP-SEAL)</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가용</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재고</a:t>
            </a:r>
            <a:r>
              <a:rPr sz="1300" b="0">
                <a:solidFill>
                  <a:srgbClr val="E8EEF6"/>
                </a:solidFill>
                <a:latin typeface="Consolas"/>
                <a:ea typeface="맑은 고딕"/>
                <a:cs typeface="맑은 고딕"/>
              </a:rPr>
              <a:t> = </a:t>
            </a:r>
            <a:r>
              <a:rPr sz="1300" b="0">
                <a:solidFill>
                  <a:srgbClr val="E8EEF6"/>
                </a:solidFill>
                <a:latin typeface="맑은 고딕"/>
                <a:ea typeface="맑은 고딕"/>
                <a:cs typeface="맑은 고딕"/>
              </a:rPr>
              <a:t>현재고</a:t>
            </a:r>
            <a:r>
              <a:rPr sz="1300" b="0">
                <a:solidFill>
                  <a:srgbClr val="E8EEF6"/>
                </a:solidFill>
                <a:latin typeface="Consolas"/>
                <a:ea typeface="맑은 고딕"/>
                <a:cs typeface="맑은 고딕"/>
              </a:rPr>
              <a:t> - </a:t>
            </a:r>
            <a:r>
              <a:rPr sz="1300" b="0">
                <a:solidFill>
                  <a:srgbClr val="E8EEF6"/>
                </a:solidFill>
                <a:latin typeface="맑은 고딕"/>
                <a:ea typeface="맑은 고딕"/>
                <a:cs typeface="맑은 고딕"/>
              </a:rPr>
              <a:t>정비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예약</a:t>
            </a:r>
            <a:r>
              <a:rPr sz="1300" b="0">
                <a:solidFill>
                  <a:srgbClr val="E8EEF6"/>
                </a:solidFill>
                <a:latin typeface="Consolas"/>
                <a:ea typeface="맑은 고딕"/>
                <a:cs typeface="맑은 고딕"/>
              </a:rPr>
              <a:t> + </a:t>
            </a:r>
            <a:r>
              <a:rPr sz="1300" b="0">
                <a:solidFill>
                  <a:srgbClr val="E8EEF6"/>
                </a:solidFill>
                <a:latin typeface="맑은 고딕"/>
                <a:ea typeface="맑은 고딕"/>
                <a:cs typeface="맑은 고딕"/>
              </a:rPr>
              <a:t>발주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중</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입고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예정</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    3   -     2     +   0              = 1</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재주문점</a:t>
            </a:r>
            <a:r>
              <a:rPr sz="1300" b="0">
                <a:solidFill>
                  <a:srgbClr val="E8EEF6"/>
                </a:solidFill>
                <a:latin typeface="Consolas"/>
                <a:ea typeface="맑은 고딕"/>
                <a:cs typeface="맑은 고딕"/>
              </a:rPr>
              <a:t> 2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1 &lt; 2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경보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재고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보충</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처리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건이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열린다</a:t>
            </a:r>
          </a:p>
          <a:p>
            <a:pPr algn="l" eaLnBrk="0">
              <a:lnSpc>
                <a:spcPct val="110000"/>
              </a:lnSpc>
              <a:spcAft>
                <a:spcPts val="200"/>
              </a:spcAft>
            </a:pPr>
            <a:r>
              <a:rPr sz="1300" b="0">
                <a:solidFill>
                  <a:srgbClr val="E8EEF6"/>
                </a:solidFill>
                <a:latin typeface="맑은 고딕"/>
                <a:ea typeface="맑은 고딕"/>
                <a:cs typeface="맑은 고딕"/>
              </a:rPr>
              <a:t>필요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수량</a:t>
            </a:r>
            <a:r>
              <a:rPr sz="1300" b="0">
                <a:solidFill>
                  <a:srgbClr val="E8EEF6"/>
                </a:solidFill>
                <a:latin typeface="Consolas"/>
                <a:ea typeface="맑은 고딕"/>
                <a:cs typeface="맑은 고딕"/>
              </a:rPr>
              <a:t> = </a:t>
            </a:r>
            <a:r>
              <a:rPr sz="1300" b="0">
                <a:solidFill>
                  <a:srgbClr val="E8EEF6"/>
                </a:solidFill>
                <a:latin typeface="맑은 고딕"/>
                <a:ea typeface="맑은 고딕"/>
                <a:cs typeface="맑은 고딕"/>
              </a:rPr>
              <a:t>목표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재고</a:t>
            </a:r>
            <a:r>
              <a:rPr sz="1300" b="0">
                <a:solidFill>
                  <a:srgbClr val="E8EEF6"/>
                </a:solidFill>
                <a:latin typeface="Consolas"/>
                <a:ea typeface="맑은 고딕"/>
                <a:cs typeface="맑은 고딕"/>
              </a:rPr>
              <a:t> 7 - </a:t>
            </a:r>
            <a:r>
              <a:rPr sz="1300" b="0">
                <a:solidFill>
                  <a:srgbClr val="E8EEF6"/>
                </a:solidFill>
                <a:latin typeface="맑은 고딕"/>
                <a:ea typeface="맑은 고딕"/>
                <a:cs typeface="맑은 고딕"/>
              </a:rPr>
              <a:t>가용</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재고</a:t>
            </a:r>
            <a:r>
              <a:rPr sz="1300" b="0">
                <a:solidFill>
                  <a:srgbClr val="E8EEF6"/>
                </a:solidFill>
                <a:latin typeface="Consolas"/>
                <a:ea typeface="맑은 고딕"/>
                <a:cs typeface="맑은 고딕"/>
              </a:rPr>
              <a:t> 1 = 6</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센서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경보와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같은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형식</a:t>
            </a:r>
          </a:p>
          <a:p>
            <a:pPr algn="l" eaLnBrk="0">
              <a:lnSpc>
                <a:spcPct val="110000"/>
              </a:lnSpc>
              <a:spcAft>
                <a:spcPts val="200"/>
              </a:spcAft>
            </a:pPr>
            <a:r>
              <a:rPr sz="1300" b="0">
                <a:solidFill>
                  <a:srgbClr val="E8EEF6"/>
                </a:solidFill>
                <a:latin typeface="Consolas"/>
                <a:ea typeface="맑은 고딕"/>
                <a:cs typeface="맑은 고딕"/>
              </a:rPr>
              <a:t>alertId  ERP-SPARE_BELOW_MIN-P-PMP-SEAL-20261010151032</a:t>
            </a:r>
          </a:p>
          <a:p>
            <a:pPr algn="l" eaLnBrk="0">
              <a:lnSpc>
                <a:spcPct val="110000"/>
              </a:lnSpc>
              <a:spcAft>
                <a:spcPts val="200"/>
              </a:spcAft>
            </a:pPr>
            <a:r>
              <a:rPr sz="1300" b="0">
                <a:solidFill>
                  <a:srgbClr val="E8EEF6"/>
                </a:solidFill>
                <a:latin typeface="Consolas"/>
                <a:ea typeface="맑은 고딕"/>
                <a:cs typeface="맑은 고딕"/>
              </a:rPr>
              <a:t>pattern  SPARE_BELOW_MIN</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가용 재고(Available Stock)</a:t>
            </a:r>
          </a:p>
          <a:p>
            <a:pPr algn="l" eaLnBrk="0">
              <a:lnSpc>
                <a:spcPct val="110000"/>
              </a:lnSpc>
              <a:spcAft>
                <a:spcPts val="400"/>
              </a:spcAft>
            </a:pPr>
            <a:r>
              <a:rPr sz="1400" b="0">
                <a:solidFill>
                  <a:srgbClr val="1F2A3A"/>
                </a:solidFill>
                <a:latin typeface="맑은 고딕"/>
                <a:ea typeface="맑은 고딕"/>
                <a:cs typeface="맑은 고딕"/>
              </a:rPr>
              <a:t>예약분은 빼고, 들어올 예정인 발주 중 수량은 더한다.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재주문점(Reorder Point)</a:t>
            </a:r>
          </a:p>
          <a:p>
            <a:pPr algn="l" eaLnBrk="0">
              <a:lnSpc>
                <a:spcPct val="110000"/>
              </a:lnSpc>
              <a:spcAft>
                <a:spcPts val="400"/>
              </a:spcAft>
            </a:pPr>
            <a:r>
              <a:rPr sz="1400" b="0">
                <a:solidFill>
                  <a:srgbClr val="1F2A3A"/>
                </a:solidFill>
                <a:latin typeface="맑은 고딕"/>
                <a:ea typeface="맑은 고딕"/>
                <a:cs typeface="맑은 고딕"/>
              </a:rPr>
              <a:t>가용 재고가 이 수 아래로 내려가면 다시 주문한다.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필요 수량</a:t>
            </a:r>
          </a:p>
          <a:p>
            <a:pPr algn="l" eaLnBrk="0">
              <a:lnSpc>
                <a:spcPct val="110000"/>
              </a:lnSpc>
              <a:spcAft>
                <a:spcPts val="400"/>
              </a:spcAft>
            </a:pPr>
            <a:r>
              <a:rPr sz="1300" b="0">
                <a:solidFill>
                  <a:srgbClr val="1F2A3A"/>
                </a:solidFill>
                <a:latin typeface="맑은 고딕"/>
                <a:ea typeface="맑은 고딕"/>
                <a:cs typeface="맑은 고딕"/>
              </a:rPr>
              <a:t>목표 재고까지 채울 양으로, 발주안의 수량이 된다.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같은 경보 형식</a:t>
            </a:r>
          </a:p>
          <a:p>
            <a:pPr algn="l" eaLnBrk="0">
              <a:lnSpc>
                <a:spcPct val="110000"/>
              </a:lnSpc>
              <a:spcAft>
                <a:spcPts val="400"/>
              </a:spcAft>
            </a:pPr>
            <a:r>
              <a:rPr sz="1400" b="0">
                <a:solidFill>
                  <a:srgbClr val="1F2A3A"/>
                </a:solidFill>
                <a:latin typeface="맑은 고딕"/>
                <a:ea typeface="맑은 고딕"/>
                <a:cs typeface="맑은 고딕"/>
              </a:rPr>
              <a:t>센서 경보와 같은 칸이라 같은 메시지 시작 이벤트로 열린다.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응용: 정비 예약이 재고 보충을 여는 길</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정비 오더가 씰 키트 출고를 예약하면 가용 재고가 줄어, 정비 업무의 결과가 재고 보충의 시작 조건이 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8</a:t>
            </a:r>
          </a:p>
        </p:txBody>
      </p:sp>
      <p:sp>
        <p:nvSpPr>
          <p:cNvPr id="6" name="Oval 5"/>
          <p:cNvSpPr/>
          <p:nvPr/>
        </p:nvSpPr>
        <p:spPr>
          <a:xfrm>
            <a:off x="548639" y="1627632"/>
            <a:ext cx="1737360" cy="1737360"/>
          </a:xfrm>
          <a:prstGeom prst="ellipse">
            <a:avLst/>
          </a:prstGeom>
          <a:solidFill>
            <a:srgbClr val="E7F3FD"/>
          </a:solidFill>
          <a:ln w="25400">
            <a:solidFill>
              <a:srgbClr val="5CB8F2"/>
            </a:solidFill>
          </a:ln>
        </p:spPr>
        <p:txBody>
          <a:bodyPr rtlCol="0" anchor="ctr"/>
          <a:lstStyle/>
          <a:p>
            <a:pPr algn="ctr"/>
          </a:p>
        </p:txBody>
      </p:sp>
      <p:sp>
        <p:nvSpPr>
          <p:cNvPr id="7" name="TextBox 6"/>
          <p:cNvSpPr txBox="1"/>
          <p:nvPr/>
        </p:nvSpPr>
        <p:spPr>
          <a:xfrm>
            <a:off x="670255" y="1957730"/>
            <a:ext cx="1494129" cy="1077163"/>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정비 계획 승인</a:t>
            </a:r>
          </a:p>
          <a:p>
            <a:pPr algn="ctr" eaLnBrk="0">
              <a:lnSpc>
                <a:spcPct val="110000"/>
              </a:lnSpc>
            </a:pPr>
            <a:r>
              <a:rPr sz="1100" b="0">
                <a:solidFill>
                  <a:srgbClr val="556175"/>
                </a:solidFill>
                <a:latin typeface="맑은 고딕"/>
                <a:ea typeface="맑은 고딕"/>
                <a:cs typeface="맑은 고딕"/>
              </a:rPr>
              <a:t>정기 점검 처리 건</a:t>
            </a:r>
          </a:p>
        </p:txBody>
      </p:sp>
      <p:sp>
        <p:nvSpPr>
          <p:cNvPr id="8" name="Oval 7"/>
          <p:cNvSpPr/>
          <p:nvPr/>
        </p:nvSpPr>
        <p:spPr>
          <a:xfrm>
            <a:off x="5227167" y="1627632"/>
            <a:ext cx="1737360" cy="1737360"/>
          </a:xfrm>
          <a:prstGeom prst="ellipse">
            <a:avLst/>
          </a:prstGeom>
          <a:solidFill>
            <a:srgbClr val="E7F3FD"/>
          </a:solidFill>
          <a:ln w="25400">
            <a:solidFill>
              <a:srgbClr val="5CB8F2"/>
            </a:solidFill>
          </a:ln>
        </p:spPr>
        <p:txBody>
          <a:bodyPr rtlCol="0" anchor="ctr"/>
          <a:lstStyle/>
          <a:p>
            <a:pPr algn="ctr"/>
          </a:p>
        </p:txBody>
      </p:sp>
      <p:sp>
        <p:nvSpPr>
          <p:cNvPr id="9" name="TextBox 8"/>
          <p:cNvSpPr txBox="1"/>
          <p:nvPr/>
        </p:nvSpPr>
        <p:spPr>
          <a:xfrm>
            <a:off x="5348782" y="1957730"/>
            <a:ext cx="1494129" cy="1077163"/>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정비 오더</a:t>
            </a:r>
          </a:p>
          <a:p>
            <a:pPr algn="ctr" eaLnBrk="0">
              <a:lnSpc>
                <a:spcPct val="110000"/>
              </a:lnSpc>
            </a:pPr>
            <a:r>
              <a:rPr sz="1100" b="0">
                <a:solidFill>
                  <a:srgbClr val="556175"/>
                </a:solidFill>
                <a:latin typeface="맑은 고딕"/>
                <a:ea typeface="맑은 고딕"/>
                <a:cs typeface="맑은 고딕"/>
              </a:rPr>
              <a:t>배정됨 · 출고 예약</a:t>
            </a:r>
          </a:p>
        </p:txBody>
      </p:sp>
      <p:sp>
        <p:nvSpPr>
          <p:cNvPr id="10" name="Oval 9"/>
          <p:cNvSpPr/>
          <p:nvPr/>
        </p:nvSpPr>
        <p:spPr>
          <a:xfrm>
            <a:off x="9905695" y="3122676"/>
            <a:ext cx="1737360" cy="1737360"/>
          </a:xfrm>
          <a:prstGeom prst="ellipse">
            <a:avLst/>
          </a:prstGeom>
          <a:solidFill>
            <a:srgbClr val="5CB8F2"/>
          </a:solidFill>
          <a:ln w="25400">
            <a:solidFill>
              <a:srgbClr val="13294B"/>
            </a:solidFill>
          </a:ln>
        </p:spPr>
        <p:txBody>
          <a:bodyPr rtlCol="0" anchor="ctr"/>
          <a:lstStyle/>
          <a:p>
            <a:pPr algn="ctr"/>
          </a:p>
        </p:txBody>
      </p:sp>
      <p:sp>
        <p:nvSpPr>
          <p:cNvPr id="11" name="TextBox 10"/>
          <p:cNvSpPr txBox="1"/>
          <p:nvPr/>
        </p:nvSpPr>
        <p:spPr>
          <a:xfrm>
            <a:off x="10027310" y="3452774"/>
            <a:ext cx="1494129" cy="1077163"/>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씰 키트 가용 재고</a:t>
            </a:r>
          </a:p>
          <a:p>
            <a:pPr algn="ctr" eaLnBrk="0">
              <a:lnSpc>
                <a:spcPct val="110000"/>
              </a:lnSpc>
            </a:pPr>
            <a:r>
              <a:rPr sz="1100" b="0">
                <a:solidFill>
                  <a:srgbClr val="556175"/>
                </a:solidFill>
                <a:latin typeface="맑은 고딕"/>
                <a:ea typeface="맑은 고딕"/>
                <a:cs typeface="맑은 고딕"/>
              </a:rPr>
              <a:t>현재고 - 예약 + 발주 중</a:t>
            </a:r>
          </a:p>
        </p:txBody>
      </p:sp>
      <p:sp>
        <p:nvSpPr>
          <p:cNvPr id="12" name="Oval 11"/>
          <p:cNvSpPr/>
          <p:nvPr/>
        </p:nvSpPr>
        <p:spPr>
          <a:xfrm>
            <a:off x="5695020" y="4617720"/>
            <a:ext cx="1737360" cy="1737360"/>
          </a:xfrm>
          <a:prstGeom prst="ellipse">
            <a:avLst/>
          </a:prstGeom>
          <a:solidFill>
            <a:srgbClr val="E7F3FD"/>
          </a:solidFill>
          <a:ln w="25400">
            <a:solidFill>
              <a:srgbClr val="5CB8F2"/>
            </a:solidFill>
          </a:ln>
        </p:spPr>
        <p:txBody>
          <a:bodyPr rtlCol="0" anchor="ctr"/>
          <a:lstStyle/>
          <a:p>
            <a:pPr algn="ctr"/>
          </a:p>
        </p:txBody>
      </p:sp>
      <p:sp>
        <p:nvSpPr>
          <p:cNvPr id="13" name="TextBox 12"/>
          <p:cNvSpPr txBox="1"/>
          <p:nvPr/>
        </p:nvSpPr>
        <p:spPr>
          <a:xfrm>
            <a:off x="5816635" y="4947818"/>
            <a:ext cx="1494129" cy="1077163"/>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재고 부족 경보</a:t>
            </a:r>
          </a:p>
          <a:p>
            <a:pPr algn="ctr" eaLnBrk="0">
              <a:lnSpc>
                <a:spcPct val="110000"/>
              </a:lnSpc>
            </a:pPr>
            <a:r>
              <a:rPr sz="1100" b="0">
                <a:solidFill>
                  <a:srgbClr val="556175"/>
                </a:solidFill>
                <a:latin typeface="맑은 고딕"/>
                <a:ea typeface="맑은 고딕"/>
                <a:cs typeface="맑은 고딕"/>
              </a:rPr>
              <a:t>가용 &lt; 재주문점 2</a:t>
            </a:r>
          </a:p>
        </p:txBody>
      </p:sp>
      <p:sp>
        <p:nvSpPr>
          <p:cNvPr id="14" name="Oval 13"/>
          <p:cNvSpPr/>
          <p:nvPr/>
        </p:nvSpPr>
        <p:spPr>
          <a:xfrm>
            <a:off x="1016492" y="4258909"/>
            <a:ext cx="1737360" cy="1737360"/>
          </a:xfrm>
          <a:prstGeom prst="ellipse">
            <a:avLst/>
          </a:prstGeom>
          <a:solidFill>
            <a:srgbClr val="E7F3FD"/>
          </a:solidFill>
          <a:ln w="25400">
            <a:solidFill>
              <a:srgbClr val="5CB8F2"/>
            </a:solidFill>
          </a:ln>
        </p:spPr>
        <p:txBody>
          <a:bodyPr rtlCol="0" anchor="ctr"/>
          <a:lstStyle/>
          <a:p>
            <a:pPr algn="ctr"/>
          </a:p>
        </p:txBody>
      </p:sp>
      <p:sp>
        <p:nvSpPr>
          <p:cNvPr id="15" name="TextBox 14"/>
          <p:cNvSpPr txBox="1"/>
          <p:nvPr/>
        </p:nvSpPr>
        <p:spPr>
          <a:xfrm>
            <a:off x="1138107" y="4589007"/>
            <a:ext cx="1494129" cy="1077163"/>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재고 보충 처리 건</a:t>
            </a:r>
          </a:p>
          <a:p>
            <a:pPr algn="ctr" eaLnBrk="0">
              <a:lnSpc>
                <a:spcPct val="110000"/>
              </a:lnSpc>
            </a:pPr>
            <a:r>
              <a:rPr sz="1100" b="0">
                <a:solidFill>
                  <a:srgbClr val="556175"/>
                </a:solidFill>
                <a:latin typeface="맑은 고딕"/>
                <a:ea typeface="맑은 고딕"/>
                <a:cs typeface="맑은 고딕"/>
              </a:rPr>
              <a:t>발주 · 입고</a:t>
            </a:r>
          </a:p>
        </p:txBody>
      </p:sp>
      <p:cxnSp>
        <p:nvCxnSpPr>
          <p:cNvPr id="16" name="Connector 15"/>
          <p:cNvCxnSpPr/>
          <p:nvPr/>
        </p:nvCxnSpPr>
        <p:spPr>
          <a:xfrm>
            <a:off x="2331720" y="2496312"/>
            <a:ext cx="2822295" cy="0"/>
          </a:xfrm>
          <a:prstGeom prst="line">
            <a:avLst/>
          </a:prstGeom>
          <a:ln w="28575">
            <a:solidFill>
              <a:srgbClr val="13294B"/>
            </a:solidFill>
            <a:tailEnd type="triangle" w="med" len="med"/>
          </a:ln>
        </p:spPr>
      </p:cxnSp>
      <p:sp>
        <p:nvSpPr>
          <p:cNvPr id="17" name="Rounded Rectangle 16"/>
          <p:cNvSpPr/>
          <p:nvPr/>
        </p:nvSpPr>
        <p:spPr>
          <a:xfrm>
            <a:off x="3196767" y="2130552"/>
            <a:ext cx="1092200"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18" name="TextBox 17"/>
          <p:cNvSpPr txBox="1"/>
          <p:nvPr/>
        </p:nvSpPr>
        <p:spPr>
          <a:xfrm>
            <a:off x="3196767" y="2130552"/>
            <a:ext cx="1092200"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승인 뒤 등록</a:t>
            </a:r>
          </a:p>
        </p:txBody>
      </p:sp>
      <p:cxnSp>
        <p:nvCxnSpPr>
          <p:cNvPr id="19" name="Connector 18"/>
          <p:cNvCxnSpPr/>
          <p:nvPr/>
        </p:nvCxnSpPr>
        <p:spPr>
          <a:xfrm>
            <a:off x="6966856" y="2774646"/>
            <a:ext cx="2910379" cy="930025"/>
          </a:xfrm>
          <a:prstGeom prst="line">
            <a:avLst/>
          </a:prstGeom>
          <a:ln w="28575">
            <a:solidFill>
              <a:srgbClr val="13294B"/>
            </a:solidFill>
            <a:tailEnd type="triangle" w="med" len="med"/>
          </a:ln>
        </p:spPr>
      </p:cxnSp>
      <p:sp>
        <p:nvSpPr>
          <p:cNvPr id="20" name="Rounded Rectangle 19"/>
          <p:cNvSpPr/>
          <p:nvPr/>
        </p:nvSpPr>
        <p:spPr>
          <a:xfrm>
            <a:off x="7751803" y="2873898"/>
            <a:ext cx="1340485"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1" name="TextBox 20"/>
          <p:cNvSpPr txBox="1"/>
          <p:nvPr/>
        </p:nvSpPr>
        <p:spPr>
          <a:xfrm>
            <a:off x="7751803" y="2873898"/>
            <a:ext cx="1340485"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예약만큼 줄어듦</a:t>
            </a:r>
          </a:p>
        </p:txBody>
      </p:sp>
      <p:cxnSp>
        <p:nvCxnSpPr>
          <p:cNvPr id="22" name="Connector 21"/>
          <p:cNvCxnSpPr/>
          <p:nvPr/>
        </p:nvCxnSpPr>
        <p:spPr>
          <a:xfrm flipH="1">
            <a:off x="7451246" y="4297310"/>
            <a:ext cx="2461433" cy="873957"/>
          </a:xfrm>
          <a:prstGeom prst="line">
            <a:avLst/>
          </a:prstGeom>
          <a:ln w="28575">
            <a:solidFill>
              <a:srgbClr val="13294B"/>
            </a:solidFill>
            <a:tailEnd type="triangle" w="med" len="med"/>
          </a:ln>
        </p:spPr>
      </p:cxnSp>
      <p:sp>
        <p:nvSpPr>
          <p:cNvPr id="23" name="Rounded Rectangle 22"/>
          <p:cNvSpPr/>
          <p:nvPr/>
        </p:nvSpPr>
        <p:spPr>
          <a:xfrm>
            <a:off x="8084745" y="4368528"/>
            <a:ext cx="1194435"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4" name="TextBox 23"/>
          <p:cNvSpPr txBox="1"/>
          <p:nvPr/>
        </p:nvSpPr>
        <p:spPr>
          <a:xfrm>
            <a:off x="8084745" y="4368528"/>
            <a:ext cx="1194435"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재주문점 아래</a:t>
            </a:r>
          </a:p>
        </p:txBody>
      </p:sp>
      <p:cxnSp>
        <p:nvCxnSpPr>
          <p:cNvPr id="25" name="Connector 24"/>
          <p:cNvCxnSpPr/>
          <p:nvPr/>
        </p:nvCxnSpPr>
        <p:spPr>
          <a:xfrm flipH="1" flipV="1">
            <a:off x="2824247" y="5199609"/>
            <a:ext cx="2827730" cy="216868"/>
          </a:xfrm>
          <a:prstGeom prst="line">
            <a:avLst/>
          </a:prstGeom>
          <a:ln w="28575">
            <a:solidFill>
              <a:srgbClr val="13294B"/>
            </a:solidFill>
            <a:tailEnd type="triangle" w="med" len="med"/>
          </a:ln>
        </p:spPr>
      </p:cxnSp>
      <p:sp>
        <p:nvSpPr>
          <p:cNvPr id="26" name="Rounded Rectangle 25"/>
          <p:cNvSpPr/>
          <p:nvPr/>
        </p:nvSpPr>
        <p:spPr>
          <a:xfrm>
            <a:off x="3954902" y="4942283"/>
            <a:ext cx="566420"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7" name="TextBox 26"/>
          <p:cNvSpPr txBox="1"/>
          <p:nvPr/>
        </p:nvSpPr>
        <p:spPr>
          <a:xfrm>
            <a:off x="3954902" y="4942283"/>
            <a:ext cx="566420"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연다</a:t>
            </a:r>
          </a:p>
        </p:txBody>
      </p:sp>
      <p:cxnSp>
        <p:nvCxnSpPr>
          <p:cNvPr id="28" name="Connector 27"/>
          <p:cNvCxnSpPr/>
          <p:nvPr/>
        </p:nvCxnSpPr>
        <p:spPr>
          <a:xfrm flipV="1">
            <a:off x="2792193" y="4110771"/>
            <a:ext cx="7047951" cy="900881"/>
          </a:xfrm>
          <a:prstGeom prst="line">
            <a:avLst/>
          </a:prstGeom>
          <a:ln w="28575">
            <a:solidFill>
              <a:srgbClr val="1A6FC4"/>
            </a:solidFill>
            <a:prstDash val="dash"/>
            <a:tailEnd type="triangle" w="med" len="med"/>
          </a:ln>
        </p:spPr>
      </p:cxnSp>
      <p:sp>
        <p:nvSpPr>
          <p:cNvPr id="29" name="Rounded Rectangle 28"/>
          <p:cNvSpPr/>
          <p:nvPr/>
        </p:nvSpPr>
        <p:spPr>
          <a:xfrm>
            <a:off x="5361128" y="4195451"/>
            <a:ext cx="1910079" cy="292608"/>
          </a:xfrm>
          <a:prstGeom prst="roundRect">
            <a:avLst>
              <a:gd name="adj" fmla="val 50000"/>
            </a:avLst>
          </a:prstGeom>
          <a:solidFill>
            <a:srgbClr val="FFFFFF"/>
          </a:solidFill>
          <a:ln w="12700">
            <a:solidFill>
              <a:srgbClr val="1A6FC4"/>
            </a:solidFill>
          </a:ln>
        </p:spPr>
        <p:txBody>
          <a:bodyPr rtlCol="0" anchor="ctr"/>
          <a:lstStyle/>
          <a:p>
            <a:pPr algn="ctr"/>
          </a:p>
        </p:txBody>
      </p:sp>
      <p:sp>
        <p:nvSpPr>
          <p:cNvPr id="30" name="TextBox 29"/>
          <p:cNvSpPr txBox="1"/>
          <p:nvPr/>
        </p:nvSpPr>
        <p:spPr>
          <a:xfrm>
            <a:off x="5361128" y="4195451"/>
            <a:ext cx="1910079" cy="292608"/>
          </a:xfrm>
          <a:prstGeom prst="rect">
            <a:avLst/>
          </a:prstGeom>
          <a:noFill/>
        </p:spPr>
        <p:txBody>
          <a:bodyPr wrap="square" anchor="ctr"/>
          <a:lstStyle/>
          <a:p>
            <a:pPr algn="ctr" eaLnBrk="0">
              <a:lnSpc>
                <a:spcPct val="110000"/>
              </a:lnSpc>
            </a:pPr>
            <a:r>
              <a:rPr sz="1150" b="1">
                <a:solidFill>
                  <a:srgbClr val="1A6FC4"/>
                </a:solidFill>
                <a:latin typeface="맑은 고딕"/>
                <a:ea typeface="맑은 고딕"/>
                <a:cs typeface="맑은 고딕"/>
              </a:rPr>
              <a:t>발주 중 · 입고로 늘어남</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프로세스의 끝과 업무의 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끝 이벤트는 프로세스가 맡은 처리가 끝났다는 기록이어서, 정비 완료와 입고 완료는 업무의 기준으로 따로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9</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업무</a:t>
            </a:r>
          </a:p>
        </p:txBody>
      </p:sp>
      <p:sp>
        <p:nvSpPr>
          <p:cNvPr id="8" name="TextBox 7"/>
          <p:cNvSpPr txBox="1"/>
          <p:nvPr/>
        </p:nvSpPr>
        <p:spPr>
          <a:xfrm>
            <a:off x="3200400" y="24185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끝 이벤트에 닿을 때 기록된 것</a:t>
            </a:r>
          </a:p>
        </p:txBody>
      </p:sp>
      <p:sp>
        <p:nvSpPr>
          <p:cNvPr id="9" name="TextBox 8"/>
          <p:cNvSpPr txBox="1"/>
          <p:nvPr/>
        </p:nvSpPr>
        <p:spPr>
          <a:xfrm>
            <a:off x="9448495" y="24185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업무가 끝났다고 보는 기준</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긴급 대응</a:t>
            </a:r>
          </a:p>
        </p:txBody>
      </p:sp>
      <p:sp>
        <p:nvSpPr>
          <p:cNvPr id="12" name="TextBox 11"/>
          <p:cNvSpPr txBox="1"/>
          <p:nvPr/>
        </p:nvSpPr>
        <p:spPr>
          <a:xfrm>
            <a:off x="3200400" y="2820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팬 명령 · 재관측 유온 정상</a:t>
            </a:r>
          </a:p>
          <a:p>
            <a:pPr algn="l" eaLnBrk="0">
              <a:lnSpc>
                <a:spcPct val="110000"/>
              </a:lnSpc>
            </a:pPr>
            <a:r>
              <a:rPr sz="1400" b="0">
                <a:solidFill>
                  <a:srgbClr val="1F2A3A"/>
                </a:solidFill>
                <a:latin typeface="맑은 고딕"/>
                <a:ea typeface="맑은 고딕"/>
                <a:cs typeface="맑은 고딕"/>
              </a:rPr>
              <a:t>작업지시 등록(상태 배정됨)</a:t>
            </a:r>
          </a:p>
        </p:txBody>
      </p:sp>
      <p:sp>
        <p:nvSpPr>
          <p:cNvPr id="13" name="TextBox 12"/>
          <p:cNvSpPr txBox="1"/>
          <p:nvPr/>
        </p:nvSpPr>
        <p:spPr>
          <a:xfrm>
            <a:off x="9448495" y="2820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작업지시의 핀 세척</a:t>
            </a:r>
          </a:p>
          <a:p>
            <a:pPr algn="l" eaLnBrk="0">
              <a:lnSpc>
                <a:spcPct val="110000"/>
              </a:lnSpc>
            </a:pPr>
            <a:r>
              <a:rPr sz="1250" b="1">
                <a:solidFill>
                  <a:srgbClr val="556175"/>
                </a:solidFill>
                <a:latin typeface="맑은 고딕"/>
                <a:ea typeface="맑은 고딕"/>
                <a:cs typeface="맑은 고딕"/>
              </a:rPr>
              <a:t>완료 기록</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정기 점검</a:t>
            </a:r>
          </a:p>
        </p:txBody>
      </p:sp>
      <p:sp>
        <p:nvSpPr>
          <p:cNvPr id="16" name="TextBox 15"/>
          <p:cNvSpPr txBox="1"/>
          <p:nvPr/>
        </p:nvSpPr>
        <p:spPr>
          <a:xfrm>
            <a:off x="3200400" y="37353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정비 오더 등록(상태 배정됨) · 출고 예약</a:t>
            </a:r>
          </a:p>
          <a:p>
            <a:pPr algn="l" eaLnBrk="0">
              <a:lnSpc>
                <a:spcPct val="110000"/>
              </a:lnSpc>
            </a:pPr>
            <a:r>
              <a:rPr sz="1400" b="0">
                <a:solidFill>
                  <a:srgbClr val="1F2A3A"/>
                </a:solidFill>
                <a:latin typeface="맑은 고딕"/>
                <a:ea typeface="맑은 고딕"/>
                <a:cs typeface="맑은 고딕"/>
              </a:rPr>
              <a:t>생산팀 공지 메일</a:t>
            </a:r>
          </a:p>
        </p:txBody>
      </p:sp>
      <p:sp>
        <p:nvSpPr>
          <p:cNvPr id="17" name="TextBox 16"/>
          <p:cNvSpPr txBox="1"/>
          <p:nvPr/>
        </p:nvSpPr>
        <p:spPr>
          <a:xfrm>
            <a:off x="9448495" y="37353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시행 · 시운전 정상</a:t>
            </a:r>
          </a:p>
          <a:p>
            <a:pPr algn="l" eaLnBrk="0">
              <a:lnSpc>
                <a:spcPct val="110000"/>
              </a:lnSpc>
            </a:pPr>
            <a:r>
              <a:rPr sz="1250" b="1">
                <a:solidFill>
                  <a:srgbClr val="556175"/>
                </a:solidFill>
                <a:latin typeface="맑은 고딕"/>
                <a:ea typeface="맑은 고딕"/>
                <a:cs typeface="맑은 고딕"/>
              </a:rPr>
              <a:t>계수기 0 · 다음 기한</a:t>
            </a:r>
          </a:p>
        </p:txBody>
      </p:sp>
      <p:sp>
        <p:nvSpPr>
          <p:cNvPr id="18" name="Rounded Rectangle 17"/>
          <p:cNvSpPr/>
          <p:nvPr/>
        </p:nvSpPr>
        <p:spPr>
          <a:xfrm>
            <a:off x="548640" y="46817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재고 보충</a:t>
            </a:r>
          </a:p>
        </p:txBody>
      </p:sp>
      <p:sp>
        <p:nvSpPr>
          <p:cNvPr id="20" name="TextBox 19"/>
          <p:cNvSpPr txBox="1"/>
          <p:nvPr/>
        </p:nvSpPr>
        <p:spPr>
          <a:xfrm>
            <a:off x="3200400" y="4649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발주 · 공급사 통지</a:t>
            </a:r>
          </a:p>
          <a:p>
            <a:pPr algn="l" eaLnBrk="0">
              <a:lnSpc>
                <a:spcPct val="110000"/>
              </a:lnSpc>
            </a:pPr>
            <a:r>
              <a:rPr sz="1400" b="0">
                <a:solidFill>
                  <a:srgbClr val="1F2A3A"/>
                </a:solidFill>
                <a:latin typeface="맑은 고딕"/>
                <a:ea typeface="맑은 고딕"/>
                <a:cs typeface="맑은 고딕"/>
              </a:rPr>
              <a:t>수업에서는 같은 처리 건에서 즉시 입고</a:t>
            </a:r>
          </a:p>
        </p:txBody>
      </p:sp>
      <p:sp>
        <p:nvSpPr>
          <p:cNvPr id="21" name="TextBox 20"/>
          <p:cNvSpPr txBox="1"/>
          <p:nvPr/>
        </p:nvSpPr>
        <p:spPr>
          <a:xfrm>
            <a:off x="9448495" y="46497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수량 일치 · 로트 기록</a:t>
            </a:r>
          </a:p>
          <a:p>
            <a:pPr algn="l" eaLnBrk="0">
              <a:lnSpc>
                <a:spcPct val="110000"/>
              </a:lnSpc>
            </a:pPr>
            <a:r>
              <a:rPr sz="1250" b="1">
                <a:solidFill>
                  <a:srgbClr val="1A6FC4"/>
                </a:solidFill>
                <a:latin typeface="맑은 고딕"/>
                <a:ea typeface="맑은 고딕"/>
                <a:cs typeface="맑은 고딕"/>
              </a:rPr>
              <a:t>입고 검사 합격</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발주 중 수량과 입고 완료</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발주 중 수량은 가용 재고에 먼저 들어가 보충 표시를 끄지만, 꺼내 쓸 수 있는 재고는 입고와 검사 뒤에 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10</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시점</a:t>
            </a:r>
          </a:p>
        </p:txBody>
      </p:sp>
      <p:sp>
        <p:nvSpPr>
          <p:cNvPr id="8" name="TextBox 7"/>
          <p:cNvSpPr txBox="1"/>
          <p:nvPr/>
        </p:nvSpPr>
        <p:spPr>
          <a:xfrm>
            <a:off x="3200400" y="24185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현재고 · 예약 · 발주 중 → 가용 재고</a:t>
            </a:r>
          </a:p>
        </p:txBody>
      </p:sp>
      <p:sp>
        <p:nvSpPr>
          <p:cNvPr id="9" name="TextBox 8"/>
          <p:cNvSpPr txBox="1"/>
          <p:nvPr/>
        </p:nvSpPr>
        <p:spPr>
          <a:xfrm>
            <a:off x="9448495" y="24185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지금 꺼내 쓸 수 있는 수</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경보가 울릴 때</a:t>
            </a:r>
          </a:p>
        </p:txBody>
      </p:sp>
      <p:sp>
        <p:nvSpPr>
          <p:cNvPr id="12" name="TextBox 11"/>
          <p:cNvSpPr txBox="1"/>
          <p:nvPr/>
        </p:nvSpPr>
        <p:spPr>
          <a:xfrm>
            <a:off x="3200400" y="2820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3 · 2 · 0 → 1</a:t>
            </a:r>
          </a:p>
        </p:txBody>
      </p:sp>
      <p:sp>
        <p:nvSpPr>
          <p:cNvPr id="13" name="TextBox 12"/>
          <p:cNvSpPr txBox="1"/>
          <p:nvPr/>
        </p:nvSpPr>
        <p:spPr>
          <a:xfrm>
            <a:off x="9448495" y="2820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1개</a:t>
            </a:r>
          </a:p>
          <a:p>
            <a:pPr algn="l" eaLnBrk="0">
              <a:lnSpc>
                <a:spcPct val="110000"/>
              </a:lnSpc>
            </a:pPr>
            <a:r>
              <a:rPr sz="1250" b="1">
                <a:solidFill>
                  <a:srgbClr val="556175"/>
                </a:solidFill>
                <a:latin typeface="맑은 고딕"/>
                <a:ea typeface="맑은 고딕"/>
                <a:cs typeface="맑은 고딕"/>
              </a:rPr>
              <a:t>보충 필요 표시 켜짐</a:t>
            </a:r>
          </a:p>
        </p:txBody>
      </p:sp>
      <p:sp>
        <p:nvSpPr>
          <p:cNvPr id="14" name="Rounded Rectangle 13"/>
          <p:cNvSpPr/>
          <p:nvPr/>
        </p:nvSpPr>
        <p:spPr>
          <a:xfrm>
            <a:off x="548640" y="3767327"/>
            <a:ext cx="11094415" cy="850392"/>
          </a:xfrm>
          <a:prstGeom prst="roundRect">
            <a:avLst>
              <a:gd name="adj" fmla="val 8000"/>
            </a:avLst>
          </a:prstGeom>
          <a:solidFill>
            <a:srgbClr val="E7F3FD"/>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발주 뒤, 입고 전</a:t>
            </a:r>
          </a:p>
        </p:txBody>
      </p:sp>
      <p:sp>
        <p:nvSpPr>
          <p:cNvPr id="16" name="TextBox 15"/>
          <p:cNvSpPr txBox="1"/>
          <p:nvPr/>
        </p:nvSpPr>
        <p:spPr>
          <a:xfrm>
            <a:off x="3200400" y="37353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3 · 2 · 6 → 7</a:t>
            </a:r>
          </a:p>
          <a:p>
            <a:pPr algn="l" eaLnBrk="0">
              <a:lnSpc>
                <a:spcPct val="110000"/>
              </a:lnSpc>
            </a:pPr>
            <a:r>
              <a:rPr sz="1400" b="0">
                <a:solidFill>
                  <a:srgbClr val="1F2A3A"/>
                </a:solidFill>
                <a:latin typeface="맑은 고딕"/>
                <a:ea typeface="맑은 고딕"/>
                <a:cs typeface="맑은 고딕"/>
              </a:rPr>
              <a:t>현실에서는 리드타임 동안 이 상태</a:t>
            </a:r>
          </a:p>
        </p:txBody>
      </p:sp>
      <p:sp>
        <p:nvSpPr>
          <p:cNvPr id="17" name="TextBox 16"/>
          <p:cNvSpPr txBox="1"/>
          <p:nvPr/>
        </p:nvSpPr>
        <p:spPr>
          <a:xfrm>
            <a:off x="9448495" y="37353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1개</a:t>
            </a:r>
          </a:p>
          <a:p>
            <a:pPr algn="l" eaLnBrk="0">
              <a:lnSpc>
                <a:spcPct val="110000"/>
              </a:lnSpc>
            </a:pPr>
            <a:r>
              <a:rPr sz="1250" b="1">
                <a:solidFill>
                  <a:srgbClr val="1A6FC4"/>
                </a:solidFill>
                <a:latin typeface="맑은 고딕"/>
                <a:ea typeface="맑은 고딕"/>
                <a:cs typeface="맑은 고딕"/>
              </a:rPr>
              <a:t>보충 필요 표시 꺼짐</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입고 · 검사 뒤</a:t>
            </a:r>
          </a:p>
        </p:txBody>
      </p:sp>
      <p:sp>
        <p:nvSpPr>
          <p:cNvPr id="20" name="TextBox 19"/>
          <p:cNvSpPr txBox="1"/>
          <p:nvPr/>
        </p:nvSpPr>
        <p:spPr>
          <a:xfrm>
            <a:off x="3200400" y="4649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9 · 2 · 0 → 7</a:t>
            </a:r>
          </a:p>
        </p:txBody>
      </p:sp>
      <p:sp>
        <p:nvSpPr>
          <p:cNvPr id="21" name="TextBox 20"/>
          <p:cNvSpPr txBox="1"/>
          <p:nvPr/>
        </p:nvSpPr>
        <p:spPr>
          <a:xfrm>
            <a:off x="9448495" y="4649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7개</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판단 문제: 보충 표시가 꺼진 씰 키트</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씰 키트 6개 발주가 승인돼 보충 필요 표시가 꺼졌고, 현실 물류라 아직 입고되지 않았다고 하자.</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11</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오늘 밤 다른 설비 정비에 씰 키트 2개를 더 쓰자는 요청에 맞는 판단은?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가용 재고가 7개이니 2개를 오늘 밤 출고해 쓴다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지금 꺼낼 수 있는 것은 예약 외 1개라, 2개면 입고 예정일과 입고 검사를 먼저 확인한다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보충 필요 표시가 꺼졌으니 재고 문제는 끝났다고 다음 교대에 넘긴다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발주를 한 번 더 내서 6개를 더 확보해 둔다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02</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정의 재사용과 실행 기록 읽기</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승인 블록을 다시 쓰고, 처리 건의 상태 · 배포 · 오류 · 반려를 기록으로 가린다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패턴: 승인 블록은 그대로, 업무마다 바뀌는 값</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검증한 구조를 다시 쓰는 </a:t>
            </a:r>
            <a:r>
              <a:rPr sz="1600" b="1">
                <a:solidFill>
                  <a:srgbClr val="1A6FC4"/>
                </a:solidFill>
                <a:latin typeface="맑은 고딕"/>
                <a:ea typeface="맑은 고딕"/>
                <a:cs typeface="맑은 고딕"/>
              </a:rPr>
              <a:t>패턴</a:t>
            </a:r>
            <a:r>
              <a:rPr sz="1600" b="0">
                <a:solidFill>
                  <a:srgbClr val="556175"/>
                </a:solidFill>
                <a:latin typeface="맑은 고딕"/>
                <a:ea typeface="맑은 고딕"/>
                <a:cs typeface="맑은 고딕"/>
              </a:rPr>
              <a:t>으로 승인 블록은 그대로 두고, 시작 · 에이전트 · 역할 · 승인 뒤 작업만 바꾼다.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13</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BPMN의 자리</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정기 점검 · 재고 보충에 넣는 것</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긴급 대응 정의와</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시작 이벤트</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PM_DUE · SPARE_BELOW_MIN</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패턴 값만</a:t>
            </a:r>
          </a:p>
          <a:p>
            <a:pPr algn="l" eaLnBrk="0">
              <a:lnSpc>
                <a:spcPct val="110000"/>
              </a:lnSpc>
            </a:pPr>
            <a:r>
              <a:rPr sz="1250" b="1">
                <a:solidFill>
                  <a:srgbClr val="556175"/>
                </a:solidFill>
                <a:latin typeface="맑은 고딕"/>
                <a:ea typeface="맑은 고딕"/>
                <a:cs typeface="맑은 고딕"/>
              </a:rPr>
              <a:t>바꾼다</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제안 작업</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정기 정비 계획 에이전트 · 예비품 구매 에이전트</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에이전트와</a:t>
            </a:r>
          </a:p>
          <a:p>
            <a:pPr algn="l" eaLnBrk="0">
              <a:lnSpc>
                <a:spcPct val="110000"/>
              </a:lnSpc>
            </a:pPr>
            <a:r>
              <a:rPr sz="1250" b="1">
                <a:solidFill>
                  <a:srgbClr val="556175"/>
                </a:solidFill>
                <a:latin typeface="맑은 고딕"/>
                <a:ea typeface="맑은 고딕"/>
                <a:cs typeface="맑은 고딕"/>
              </a:rPr>
              <a:t>지시문만 바꾼다</a:t>
            </a:r>
          </a:p>
        </p:txBody>
      </p:sp>
      <p:sp>
        <p:nvSpPr>
          <p:cNvPr id="18" name="Rounded Rectangle 17"/>
          <p:cNvSpPr/>
          <p:nvPr/>
        </p:nvSpPr>
        <p:spPr>
          <a:xfrm>
            <a:off x="548640" y="3792016"/>
            <a:ext cx="11094415" cy="801014"/>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승인 블록</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승인 작업 · 승인? 갈림 · 지연 타이머 10분</a:t>
            </a:r>
          </a:p>
          <a:p>
            <a:pPr algn="l" eaLnBrk="0">
              <a:lnSpc>
                <a:spcPct val="110000"/>
              </a:lnSpc>
            </a:pPr>
            <a:r>
              <a:rPr sz="1400" b="0">
                <a:solidFill>
                  <a:srgbClr val="1F2A3A"/>
                </a:solidFill>
                <a:latin typeface="맑은 고딕"/>
                <a:ea typeface="맑은 고딕"/>
                <a:cs typeface="맑은 고딕"/>
              </a:rPr>
              <a:t>지연 알림 · 거절 보고 · 거절 종결</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구조 그대로</a:t>
            </a:r>
          </a:p>
          <a:p>
            <a:pPr algn="l" eaLnBrk="0">
              <a:lnSpc>
                <a:spcPct val="110000"/>
              </a:lnSpc>
            </a:pPr>
            <a:r>
              <a:rPr sz="1250" b="1">
                <a:solidFill>
                  <a:srgbClr val="1A6FC4"/>
                </a:solidFill>
                <a:latin typeface="맑은 고딕"/>
                <a:ea typeface="맑은 고딕"/>
                <a:cs typeface="맑은 고딕"/>
              </a:rPr>
              <a:t>승인 역할만</a:t>
            </a:r>
          </a:p>
          <a:p>
            <a:pPr algn="l" eaLnBrk="0">
              <a:lnSpc>
                <a:spcPct val="110000"/>
              </a:lnSpc>
            </a:pPr>
            <a:r>
              <a:rPr sz="1250" b="1">
                <a:solidFill>
                  <a:srgbClr val="1A6FC4"/>
                </a:solidFill>
                <a:latin typeface="맑은 고딕"/>
                <a:ea typeface="맑은 고딕"/>
                <a:cs typeface="맑은 고딕"/>
              </a:rPr>
              <a:t>바꾼다</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승인 뒤 작업</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정비 오더 · 공지</a:t>
            </a:r>
          </a:p>
          <a:p>
            <a:pPr algn="l" eaLnBrk="0">
              <a:lnSpc>
                <a:spcPct val="110000"/>
              </a:lnSpc>
            </a:pPr>
            <a:r>
              <a:rPr sz="1400" b="0">
                <a:solidFill>
                  <a:srgbClr val="1F2A3A"/>
                </a:solidFill>
                <a:latin typeface="맑은 고딕"/>
                <a:ea typeface="맑은 고딕"/>
                <a:cs typeface="맑은 고딕"/>
              </a:rPr>
              <a:t>발주 · 통지 → 입고 · 재고 반영</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새로 그린다</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결과 보고</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정상 · 입고 완료 · 반려 · 승인 지연</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같은 부품</a:t>
            </a:r>
          </a:p>
          <a:p>
            <a:pPr algn="l" eaLnBrk="0">
              <a:lnSpc>
                <a:spcPct val="110000"/>
              </a:lnSpc>
            </a:pPr>
            <a:r>
              <a:rPr sz="1250" b="1">
                <a:solidFill>
                  <a:srgbClr val="556175"/>
                </a:solidFill>
                <a:latin typeface="맑은 고딕"/>
                <a:ea typeface="맑은 고딕"/>
                <a:cs typeface="맑은 고딕"/>
              </a:rPr>
              <a:t>결과 값만 다르다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응용: 요구가 바뀔 때 고칠 곳</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바뀐 요구가 연결 값만 바꾸는지, 그림 구조까지 바꿔 새 판본을 배포해야 하는지부터 가른다.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14</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바뀐 요구 (가정)</a:t>
            </a:r>
          </a:p>
        </p:txBody>
      </p:sp>
      <p:sp>
        <p:nvSpPr>
          <p:cNvPr id="8" name="TextBox 7"/>
          <p:cNvSpPr txBox="1"/>
          <p:nvPr/>
        </p:nvSpPr>
        <p:spPr>
          <a:xfrm>
            <a:off x="3200400" y="24185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고칠 곳</a:t>
            </a:r>
          </a:p>
        </p:txBody>
      </p:sp>
      <p:sp>
        <p:nvSpPr>
          <p:cNvPr id="9" name="TextBox 8"/>
          <p:cNvSpPr txBox="1"/>
          <p:nvPr/>
        </p:nvSpPr>
        <p:spPr>
          <a:xfrm>
            <a:off x="9448495" y="24185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함께 확인할 것</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승인 기한을 10분에서 30분으로</a:t>
            </a:r>
          </a:p>
        </p:txBody>
      </p:sp>
      <p:sp>
        <p:nvSpPr>
          <p:cNvPr id="12" name="TextBox 11"/>
          <p:cNvSpPr txBox="1"/>
          <p:nvPr/>
        </p:nvSpPr>
        <p:spPr>
          <a:xfrm>
            <a:off x="3200400" y="2820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연결 값의 타이머 기한</a:t>
            </a:r>
          </a:p>
          <a:p>
            <a:pPr algn="l" eaLnBrk="0">
              <a:lnSpc>
                <a:spcPct val="110000"/>
              </a:lnSpc>
            </a:pPr>
            <a:r>
              <a:rPr sz="1400" b="0">
                <a:solidFill>
                  <a:srgbClr val="1F2A3A"/>
                </a:solidFill>
                <a:latin typeface="맑은 고딕"/>
                <a:ea typeface="맑은 고딕"/>
                <a:cs typeface="맑은 고딕"/>
              </a:rPr>
              <a:t>그림은 그대로</a:t>
            </a:r>
          </a:p>
        </p:txBody>
      </p:sp>
      <p:sp>
        <p:nvSpPr>
          <p:cNvPr id="13" name="TextBox 12"/>
          <p:cNvSpPr txBox="1"/>
          <p:nvPr/>
        </p:nvSpPr>
        <p:spPr>
          <a:xfrm>
            <a:off x="9448495" y="2820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세 업무가 같은 값이라</a:t>
            </a:r>
          </a:p>
          <a:p>
            <a:pPr algn="l" eaLnBrk="0">
              <a:lnSpc>
                <a:spcPct val="110000"/>
              </a:lnSpc>
            </a:pPr>
            <a:r>
              <a:rPr sz="1250" b="1">
                <a:solidFill>
                  <a:srgbClr val="556175"/>
                </a:solidFill>
                <a:latin typeface="맑은 고딕"/>
                <a:ea typeface="맑은 고딕"/>
                <a:cs typeface="맑은 고딕"/>
              </a:rPr>
              <a:t>셋 다 바꿀지</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300만원 넘는 발주는 구매팀장도 승인</a:t>
            </a:r>
          </a:p>
        </p:txBody>
      </p:sp>
      <p:sp>
        <p:nvSpPr>
          <p:cNvPr id="16" name="TextBox 15"/>
          <p:cNvSpPr txBox="1"/>
          <p:nvPr/>
        </p:nvSpPr>
        <p:spPr>
          <a:xfrm>
            <a:off x="3200400" y="37353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승인 뒤에 금액 갈림과</a:t>
            </a:r>
          </a:p>
          <a:p>
            <a:pPr algn="l" eaLnBrk="0">
              <a:lnSpc>
                <a:spcPct val="110000"/>
              </a:lnSpc>
            </a:pPr>
            <a:r>
              <a:rPr sz="1400" b="0">
                <a:solidFill>
                  <a:srgbClr val="1F2A3A"/>
                </a:solidFill>
                <a:latin typeface="맑은 고딕"/>
                <a:ea typeface="맑은 고딕"/>
                <a:cs typeface="맑은 고딕"/>
              </a:rPr>
              <a:t>둘째 승인 작업을 그린다</a:t>
            </a:r>
          </a:p>
        </p:txBody>
      </p:sp>
      <p:sp>
        <p:nvSpPr>
          <p:cNvPr id="17" name="TextBox 16"/>
          <p:cNvSpPr txBox="1"/>
          <p:nvPr/>
        </p:nvSpPr>
        <p:spPr>
          <a:xfrm>
            <a:off x="9448495" y="37353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지금 규정은 표시와 보고</a:t>
            </a:r>
          </a:p>
          <a:p>
            <a:pPr algn="l" eaLnBrk="0">
              <a:lnSpc>
                <a:spcPct val="110000"/>
              </a:lnSpc>
            </a:pPr>
            <a:r>
              <a:rPr sz="1250" b="1">
                <a:solidFill>
                  <a:srgbClr val="556175"/>
                </a:solidFill>
                <a:latin typeface="맑은 고딕"/>
                <a:ea typeface="맑은 고딕"/>
                <a:cs typeface="맑은 고딕"/>
              </a:rPr>
              <a:t>발주는 두 승인 뒤에</a:t>
            </a:r>
          </a:p>
          <a:p>
            <a:pPr algn="l" eaLnBrk="0">
              <a:lnSpc>
                <a:spcPct val="110000"/>
              </a:lnSpc>
            </a:pPr>
            <a:r>
              <a:rPr sz="1250" b="1">
                <a:solidFill>
                  <a:srgbClr val="556175"/>
                </a:solidFill>
                <a:latin typeface="맑은 고딕"/>
                <a:ea typeface="맑은 고딕"/>
                <a:cs typeface="맑은 고딕"/>
              </a:rPr>
              <a:t>새 판본 등록 · 배포</a:t>
            </a:r>
          </a:p>
        </p:txBody>
      </p:sp>
      <p:sp>
        <p:nvSpPr>
          <p:cNvPr id="18" name="Rounded Rectangle 17"/>
          <p:cNvSpPr/>
          <p:nvPr/>
        </p:nvSpPr>
        <p:spPr>
          <a:xfrm>
            <a:off x="548640" y="46817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정비 오더를 승인 전에 미리 등록</a:t>
            </a:r>
          </a:p>
        </p:txBody>
      </p:sp>
      <p:sp>
        <p:nvSpPr>
          <p:cNvPr id="20" name="TextBox 19"/>
          <p:cNvSpPr txBox="1"/>
          <p:nvPr/>
        </p:nvSpPr>
        <p:spPr>
          <a:xfrm>
            <a:off x="3200400" y="4649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받아들이지 않는다</a:t>
            </a:r>
          </a:p>
          <a:p>
            <a:pPr algn="l" eaLnBrk="0">
              <a:lnSpc>
                <a:spcPct val="110000"/>
              </a:lnSpc>
            </a:pPr>
            <a:r>
              <a:rPr sz="1400" b="0">
                <a:solidFill>
                  <a:srgbClr val="1F2A3A"/>
                </a:solidFill>
                <a:latin typeface="맑은 고딕"/>
                <a:ea typeface="맑은 고딕"/>
                <a:cs typeface="맑은 고딕"/>
              </a:rPr>
              <a:t>효과 작업은 승인 갈림 뒤에만</a:t>
            </a:r>
          </a:p>
        </p:txBody>
      </p:sp>
      <p:sp>
        <p:nvSpPr>
          <p:cNvPr id="21" name="TextBox 20"/>
          <p:cNvSpPr txBox="1"/>
          <p:nvPr/>
        </p:nvSpPr>
        <p:spPr>
          <a:xfrm>
            <a:off x="9448495" y="46497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등록 전 검사가</a:t>
            </a:r>
          </a:p>
          <a:p>
            <a:pPr algn="l" eaLnBrk="0">
              <a:lnSpc>
                <a:spcPct val="110000"/>
              </a:lnSpc>
            </a:pPr>
            <a:r>
              <a:rPr sz="1250" b="1">
                <a:solidFill>
                  <a:srgbClr val="1A6FC4"/>
                </a:solidFill>
                <a:latin typeface="맑은 고딕"/>
                <a:ea typeface="맑은 고딕"/>
                <a:cs typeface="맑은 고딕"/>
              </a:rPr>
              <a:t>거절하는 흐름</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경보 · 정의 · 판본 · 처리 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경보는 그 패턴을 받는 배포된 정의 가운데 가장 최근 것이 열기에, 기록은 정의와 판본부터 맞춰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15</a:t>
            </a:r>
          </a:p>
        </p:txBody>
      </p:sp>
      <p:sp>
        <p:nvSpPr>
          <p:cNvPr id="6" name="Oval 5"/>
          <p:cNvSpPr/>
          <p:nvPr/>
        </p:nvSpPr>
        <p:spPr>
          <a:xfrm>
            <a:off x="548639" y="1627632"/>
            <a:ext cx="1737360" cy="1737360"/>
          </a:xfrm>
          <a:prstGeom prst="ellipse">
            <a:avLst/>
          </a:prstGeom>
          <a:solidFill>
            <a:srgbClr val="E7F3FD"/>
          </a:solidFill>
          <a:ln w="25400">
            <a:solidFill>
              <a:srgbClr val="5CB8F2"/>
            </a:solidFill>
          </a:ln>
        </p:spPr>
        <p:txBody>
          <a:bodyPr rtlCol="0" anchor="ctr"/>
          <a:lstStyle/>
          <a:p>
            <a:pPr algn="ctr"/>
          </a:p>
        </p:txBody>
      </p:sp>
      <p:sp>
        <p:nvSpPr>
          <p:cNvPr id="7" name="TextBox 6"/>
          <p:cNvSpPr txBox="1"/>
          <p:nvPr/>
        </p:nvSpPr>
        <p:spPr>
          <a:xfrm>
            <a:off x="670255" y="1957730"/>
            <a:ext cx="1494129" cy="1077163"/>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정기 점검 도래 경보</a:t>
            </a:r>
          </a:p>
          <a:p>
            <a:pPr algn="ctr" eaLnBrk="0">
              <a:lnSpc>
                <a:spcPct val="110000"/>
              </a:lnSpc>
            </a:pPr>
            <a:r>
              <a:rPr sz="1100" b="0">
                <a:solidFill>
                  <a:srgbClr val="556175"/>
                </a:solidFill>
                <a:latin typeface="맑은 고딕"/>
                <a:ea typeface="맑은 고딕"/>
                <a:cs typeface="맑은 고딕"/>
              </a:rPr>
              <a:t>PM_DUE · HYD-02</a:t>
            </a:r>
          </a:p>
        </p:txBody>
      </p:sp>
      <p:sp>
        <p:nvSpPr>
          <p:cNvPr id="8" name="Oval 7"/>
          <p:cNvSpPr/>
          <p:nvPr/>
        </p:nvSpPr>
        <p:spPr>
          <a:xfrm>
            <a:off x="5227167" y="1627632"/>
            <a:ext cx="1737360" cy="1737360"/>
          </a:xfrm>
          <a:prstGeom prst="ellipse">
            <a:avLst/>
          </a:prstGeom>
          <a:solidFill>
            <a:srgbClr val="5CB8F2"/>
          </a:solidFill>
          <a:ln w="25400">
            <a:solidFill>
              <a:srgbClr val="13294B"/>
            </a:solidFill>
          </a:ln>
        </p:spPr>
        <p:txBody>
          <a:bodyPr rtlCol="0" anchor="ctr"/>
          <a:lstStyle/>
          <a:p>
            <a:pPr algn="ctr"/>
          </a:p>
        </p:txBody>
      </p:sp>
      <p:sp>
        <p:nvSpPr>
          <p:cNvPr id="9" name="TextBox 8"/>
          <p:cNvSpPr txBox="1"/>
          <p:nvPr/>
        </p:nvSpPr>
        <p:spPr>
          <a:xfrm>
            <a:off x="5348782" y="1957730"/>
            <a:ext cx="1494129" cy="1077163"/>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c3_pm 판본 9</a:t>
            </a:r>
          </a:p>
          <a:p>
            <a:pPr algn="ctr" eaLnBrk="0">
              <a:lnSpc>
                <a:spcPct val="110000"/>
              </a:lnSpc>
            </a:pPr>
            <a:r>
              <a:rPr sz="1100" b="0">
                <a:solidFill>
                  <a:srgbClr val="556175"/>
                </a:solidFill>
                <a:latin typeface="맑은 고딕"/>
                <a:ea typeface="맑은 고딕"/>
                <a:cs typeface="맑은 고딕"/>
              </a:rPr>
              <a:t>배포된 정의</a:t>
            </a:r>
          </a:p>
        </p:txBody>
      </p:sp>
      <p:sp>
        <p:nvSpPr>
          <p:cNvPr id="10" name="Oval 9"/>
          <p:cNvSpPr/>
          <p:nvPr/>
        </p:nvSpPr>
        <p:spPr>
          <a:xfrm>
            <a:off x="5227167" y="4617720"/>
            <a:ext cx="1737360" cy="1737360"/>
          </a:xfrm>
          <a:prstGeom prst="ellipse">
            <a:avLst/>
          </a:prstGeom>
          <a:solidFill>
            <a:srgbClr val="E7F3FD"/>
          </a:solidFill>
          <a:ln w="25400">
            <a:solidFill>
              <a:srgbClr val="5CB8F2"/>
            </a:solidFill>
          </a:ln>
        </p:spPr>
        <p:txBody>
          <a:bodyPr rtlCol="0" anchor="ctr"/>
          <a:lstStyle/>
          <a:p>
            <a:pPr algn="ctr"/>
          </a:p>
        </p:txBody>
      </p:sp>
      <p:sp>
        <p:nvSpPr>
          <p:cNvPr id="11" name="TextBox 10"/>
          <p:cNvSpPr txBox="1"/>
          <p:nvPr/>
        </p:nvSpPr>
        <p:spPr>
          <a:xfrm>
            <a:off x="5348782" y="4947818"/>
            <a:ext cx="1494129" cy="1077163"/>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내 흐름 판본 1</a:t>
            </a:r>
          </a:p>
          <a:p>
            <a:pPr algn="ctr" eaLnBrk="0">
              <a:lnSpc>
                <a:spcPct val="110000"/>
              </a:lnSpc>
            </a:pPr>
            <a:r>
              <a:rPr sz="1100" b="0">
                <a:solidFill>
                  <a:srgbClr val="556175"/>
                </a:solidFill>
                <a:latin typeface="맑은 고딕"/>
                <a:ea typeface="맑은 고딕"/>
                <a:cs typeface="맑은 고딕"/>
              </a:rPr>
              <a:t>등록만 한 정의</a:t>
            </a:r>
          </a:p>
        </p:txBody>
      </p:sp>
      <p:sp>
        <p:nvSpPr>
          <p:cNvPr id="12" name="Oval 11"/>
          <p:cNvSpPr/>
          <p:nvPr/>
        </p:nvSpPr>
        <p:spPr>
          <a:xfrm>
            <a:off x="9905695" y="1627632"/>
            <a:ext cx="1737360" cy="1737360"/>
          </a:xfrm>
          <a:prstGeom prst="ellipse">
            <a:avLst/>
          </a:prstGeom>
          <a:solidFill>
            <a:srgbClr val="E7F3FD"/>
          </a:solidFill>
          <a:ln w="25400">
            <a:solidFill>
              <a:srgbClr val="5CB8F2"/>
            </a:solidFill>
          </a:ln>
        </p:spPr>
        <p:txBody>
          <a:bodyPr rtlCol="0" anchor="ctr"/>
          <a:lstStyle/>
          <a:p>
            <a:pPr algn="ctr"/>
          </a:p>
        </p:txBody>
      </p:sp>
      <p:sp>
        <p:nvSpPr>
          <p:cNvPr id="13" name="TextBox 12"/>
          <p:cNvSpPr txBox="1"/>
          <p:nvPr/>
        </p:nvSpPr>
        <p:spPr>
          <a:xfrm>
            <a:off x="10027310" y="1957730"/>
            <a:ext cx="1494129" cy="1077163"/>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처리 건</a:t>
            </a:r>
          </a:p>
          <a:p>
            <a:pPr algn="ctr" eaLnBrk="0">
              <a:lnSpc>
                <a:spcPct val="110000"/>
              </a:lnSpc>
            </a:pPr>
            <a:r>
              <a:rPr sz="1100" b="0">
                <a:solidFill>
                  <a:srgbClr val="556175"/>
                </a:solidFill>
                <a:latin typeface="맑은 고딕"/>
                <a:ea typeface="맑은 고딕"/>
                <a:cs typeface="맑은 고딕"/>
              </a:rPr>
              <a:t>c3_pm.28d73c7a…</a:t>
            </a:r>
          </a:p>
        </p:txBody>
      </p:sp>
      <p:sp>
        <p:nvSpPr>
          <p:cNvPr id="14" name="Oval 13"/>
          <p:cNvSpPr/>
          <p:nvPr/>
        </p:nvSpPr>
        <p:spPr>
          <a:xfrm>
            <a:off x="9905695" y="4617720"/>
            <a:ext cx="1737360" cy="1737360"/>
          </a:xfrm>
          <a:prstGeom prst="ellipse">
            <a:avLst/>
          </a:prstGeom>
          <a:solidFill>
            <a:srgbClr val="E7F3FD"/>
          </a:solidFill>
          <a:ln w="25400">
            <a:solidFill>
              <a:srgbClr val="5CB8F2"/>
            </a:solidFill>
          </a:ln>
        </p:spPr>
        <p:txBody>
          <a:bodyPr rtlCol="0" anchor="ctr"/>
          <a:lstStyle/>
          <a:p>
            <a:pPr algn="ctr"/>
          </a:p>
        </p:txBody>
      </p:sp>
      <p:sp>
        <p:nvSpPr>
          <p:cNvPr id="15" name="TextBox 14"/>
          <p:cNvSpPr txBox="1"/>
          <p:nvPr/>
        </p:nvSpPr>
        <p:spPr>
          <a:xfrm>
            <a:off x="10027310" y="4947818"/>
            <a:ext cx="1494129" cy="1077163"/>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정비 오더</a:t>
            </a:r>
          </a:p>
          <a:p>
            <a:pPr algn="ctr" eaLnBrk="0">
              <a:lnSpc>
                <a:spcPct val="110000"/>
              </a:lnSpc>
            </a:pPr>
            <a:r>
              <a:rPr sz="1100" b="0">
                <a:solidFill>
                  <a:srgbClr val="556175"/>
                </a:solidFill>
                <a:latin typeface="맑은 고딕"/>
                <a:ea typeface="맑은 고딕"/>
                <a:cs typeface="맑은 고딕"/>
              </a:rPr>
              <a:t>WO-1010-5DDD</a:t>
            </a:r>
          </a:p>
        </p:txBody>
      </p:sp>
      <p:cxnSp>
        <p:nvCxnSpPr>
          <p:cNvPr id="16" name="Connector 15"/>
          <p:cNvCxnSpPr/>
          <p:nvPr/>
        </p:nvCxnSpPr>
        <p:spPr>
          <a:xfrm>
            <a:off x="2331720" y="2496312"/>
            <a:ext cx="2822295" cy="0"/>
          </a:xfrm>
          <a:prstGeom prst="line">
            <a:avLst/>
          </a:prstGeom>
          <a:ln w="28575">
            <a:solidFill>
              <a:srgbClr val="13294B"/>
            </a:solidFill>
            <a:tailEnd type="triangle" w="med" len="med"/>
          </a:ln>
        </p:spPr>
      </p:cxnSp>
      <p:sp>
        <p:nvSpPr>
          <p:cNvPr id="17" name="Rounded Rectangle 16"/>
          <p:cNvSpPr/>
          <p:nvPr/>
        </p:nvSpPr>
        <p:spPr>
          <a:xfrm>
            <a:off x="3145650" y="2130552"/>
            <a:ext cx="1194435"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18" name="TextBox 17"/>
          <p:cNvSpPr txBox="1"/>
          <p:nvPr/>
        </p:nvSpPr>
        <p:spPr>
          <a:xfrm>
            <a:off x="3145650" y="2130552"/>
            <a:ext cx="1194435"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패턴으로 고름</a:t>
            </a:r>
          </a:p>
        </p:txBody>
      </p:sp>
      <p:cxnSp>
        <p:nvCxnSpPr>
          <p:cNvPr id="19" name="Connector 18"/>
          <p:cNvCxnSpPr/>
          <p:nvPr/>
        </p:nvCxnSpPr>
        <p:spPr>
          <a:xfrm>
            <a:off x="2187804" y="2988735"/>
            <a:ext cx="3114444" cy="1990468"/>
          </a:xfrm>
          <a:prstGeom prst="line">
            <a:avLst/>
          </a:prstGeom>
          <a:ln w="28575">
            <a:solidFill>
              <a:srgbClr val="1A6FC4"/>
            </a:solidFill>
            <a:prstDash val="dash"/>
            <a:tailEnd type="triangle" w="med" len="med"/>
          </a:ln>
        </p:spPr>
      </p:cxnSp>
      <p:sp>
        <p:nvSpPr>
          <p:cNvPr id="20" name="Rounded Rectangle 19"/>
          <p:cNvSpPr/>
          <p:nvPr/>
        </p:nvSpPr>
        <p:spPr>
          <a:xfrm>
            <a:off x="2884919" y="3618209"/>
            <a:ext cx="1720215" cy="292608"/>
          </a:xfrm>
          <a:prstGeom prst="roundRect">
            <a:avLst>
              <a:gd name="adj" fmla="val 50000"/>
            </a:avLst>
          </a:prstGeom>
          <a:solidFill>
            <a:srgbClr val="FFFFFF"/>
          </a:solidFill>
          <a:ln w="12700">
            <a:solidFill>
              <a:srgbClr val="1A6FC4"/>
            </a:solidFill>
          </a:ln>
        </p:spPr>
        <p:txBody>
          <a:bodyPr rtlCol="0" anchor="ctr"/>
          <a:lstStyle/>
          <a:p>
            <a:pPr algn="ctr"/>
          </a:p>
        </p:txBody>
      </p:sp>
      <p:sp>
        <p:nvSpPr>
          <p:cNvPr id="21" name="TextBox 20"/>
          <p:cNvSpPr txBox="1"/>
          <p:nvPr/>
        </p:nvSpPr>
        <p:spPr>
          <a:xfrm>
            <a:off x="2884919" y="3618209"/>
            <a:ext cx="1720215" cy="292608"/>
          </a:xfrm>
          <a:prstGeom prst="rect">
            <a:avLst/>
          </a:prstGeom>
          <a:noFill/>
        </p:spPr>
        <p:txBody>
          <a:bodyPr wrap="square" anchor="ctr"/>
          <a:lstStyle/>
          <a:p>
            <a:pPr algn="ctr" eaLnBrk="0">
              <a:lnSpc>
                <a:spcPct val="110000"/>
              </a:lnSpc>
            </a:pPr>
            <a:r>
              <a:rPr sz="1150" b="1">
                <a:solidFill>
                  <a:srgbClr val="1A6FC4"/>
                </a:solidFill>
                <a:latin typeface="맑은 고딕"/>
                <a:ea typeface="맑은 고딕"/>
                <a:cs typeface="맑은 고딕"/>
              </a:rPr>
              <a:t>배포 전에는 받지 않음</a:t>
            </a:r>
          </a:p>
        </p:txBody>
      </p:sp>
      <p:cxnSp>
        <p:nvCxnSpPr>
          <p:cNvPr id="22" name="Connector 21"/>
          <p:cNvCxnSpPr/>
          <p:nvPr/>
        </p:nvCxnSpPr>
        <p:spPr>
          <a:xfrm>
            <a:off x="7010247" y="2496312"/>
            <a:ext cx="2822296" cy="0"/>
          </a:xfrm>
          <a:prstGeom prst="line">
            <a:avLst/>
          </a:prstGeom>
          <a:ln w="28575">
            <a:solidFill>
              <a:srgbClr val="13294B"/>
            </a:solidFill>
            <a:tailEnd type="triangle" w="med" len="med"/>
          </a:ln>
        </p:spPr>
      </p:cxnSp>
      <p:sp>
        <p:nvSpPr>
          <p:cNvPr id="23" name="Rounded Rectangle 22"/>
          <p:cNvSpPr/>
          <p:nvPr/>
        </p:nvSpPr>
        <p:spPr>
          <a:xfrm>
            <a:off x="7992135" y="2130552"/>
            <a:ext cx="858520"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4" name="TextBox 23"/>
          <p:cNvSpPr txBox="1"/>
          <p:nvPr/>
        </p:nvSpPr>
        <p:spPr>
          <a:xfrm>
            <a:off x="7992135" y="2130552"/>
            <a:ext cx="858520"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인스턴스</a:t>
            </a:r>
          </a:p>
        </p:txBody>
      </p:sp>
      <p:cxnSp>
        <p:nvCxnSpPr>
          <p:cNvPr id="25" name="Connector 24"/>
          <p:cNvCxnSpPr/>
          <p:nvPr/>
        </p:nvCxnSpPr>
        <p:spPr>
          <a:xfrm>
            <a:off x="10774375" y="3410712"/>
            <a:ext cx="0" cy="1133856"/>
          </a:xfrm>
          <a:prstGeom prst="line">
            <a:avLst/>
          </a:prstGeom>
          <a:ln w="28575">
            <a:solidFill>
              <a:srgbClr val="13294B"/>
            </a:solidFill>
            <a:tailEnd type="triangle" w="med" len="med"/>
          </a:ln>
        </p:spPr>
      </p:cxnSp>
      <p:sp>
        <p:nvSpPr>
          <p:cNvPr id="26" name="Rounded Rectangle 25"/>
          <p:cNvSpPr/>
          <p:nvPr/>
        </p:nvSpPr>
        <p:spPr>
          <a:xfrm>
            <a:off x="10865815" y="3831335"/>
            <a:ext cx="1092200"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7" name="TextBox 26"/>
          <p:cNvSpPr txBox="1"/>
          <p:nvPr/>
        </p:nvSpPr>
        <p:spPr>
          <a:xfrm>
            <a:off x="10865815" y="3831335"/>
            <a:ext cx="1092200"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승인 뒤 등록</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처리 건의 상태 · 오류 · 반려 기록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COMPLETED는 처리 건이 닫혔다는 뜻일 뿐이라, 무엇으로 끝났는지는 끝 이벤트 · 결과 보고 · 멈춘 단계로 가른다.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16</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기록에 보이는 경우</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처리 건 · 단계 · 끝 이벤트</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업무로 읽으면</a:t>
            </a:r>
          </a:p>
        </p:txBody>
      </p:sp>
      <p:sp>
        <p:nvSpPr>
          <p:cNvPr id="10" name="Rounded Rectangle 9"/>
          <p:cNvSpPr/>
          <p:nvPr/>
        </p:nvSpPr>
        <p:spPr>
          <a:xfrm>
            <a:off x="548640" y="2061972"/>
            <a:ext cx="11094415" cy="656843"/>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승인 대기</a:t>
            </a:r>
          </a:p>
        </p:txBody>
      </p:sp>
      <p:sp>
        <p:nvSpPr>
          <p:cNvPr id="12" name="TextBox 11"/>
          <p:cNvSpPr txBox="1"/>
          <p:nvPr/>
        </p:nvSpPr>
        <p:spPr>
          <a:xfrm>
            <a:off x="3200400" y="2029968"/>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RUNNING · 승인 작업 IN_PROGRESS</a:t>
            </a:r>
          </a:p>
        </p:txBody>
      </p:sp>
      <p:sp>
        <p:nvSpPr>
          <p:cNvPr id="13" name="TextBox 12"/>
          <p:cNvSpPr txBox="1"/>
          <p:nvPr/>
        </p:nvSpPr>
        <p:spPr>
          <a:xfrm>
            <a:off x="9448495" y="2029968"/>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결정을 기다린다</a:t>
            </a:r>
          </a:p>
        </p:txBody>
      </p:sp>
      <p:sp>
        <p:nvSpPr>
          <p:cNvPr id="14" name="Rounded Rectangle 13"/>
          <p:cNvSpPr/>
          <p:nvPr/>
        </p:nvSpPr>
        <p:spPr>
          <a:xfrm>
            <a:off x="548640" y="2782824"/>
            <a:ext cx="11094415" cy="656843"/>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750820"/>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승인 지연</a:t>
            </a:r>
          </a:p>
        </p:txBody>
      </p:sp>
      <p:sp>
        <p:nvSpPr>
          <p:cNvPr id="16" name="TextBox 15"/>
          <p:cNvSpPr txBox="1"/>
          <p:nvPr/>
        </p:nvSpPr>
        <p:spPr>
          <a:xfrm>
            <a:off x="3200400" y="2750820"/>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RUNNING 그대로 · 지연 알림 보고</a:t>
            </a:r>
          </a:p>
        </p:txBody>
      </p:sp>
      <p:sp>
        <p:nvSpPr>
          <p:cNvPr id="17" name="TextBox 16"/>
          <p:cNvSpPr txBox="1"/>
          <p:nvPr/>
        </p:nvSpPr>
        <p:spPr>
          <a:xfrm>
            <a:off x="9448495" y="2750820"/>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자동 취소 · 자동 거절</a:t>
            </a:r>
          </a:p>
          <a:p>
            <a:pPr algn="l" eaLnBrk="0">
              <a:lnSpc>
                <a:spcPct val="110000"/>
              </a:lnSpc>
            </a:pPr>
            <a:r>
              <a:rPr sz="1250" b="1">
                <a:solidFill>
                  <a:srgbClr val="556175"/>
                </a:solidFill>
                <a:latin typeface="맑은 고딕"/>
                <a:ea typeface="맑은 고딕"/>
                <a:cs typeface="맑은 고딕"/>
              </a:rPr>
              <a:t>없음</a:t>
            </a:r>
          </a:p>
        </p:txBody>
      </p:sp>
      <p:sp>
        <p:nvSpPr>
          <p:cNvPr id="18" name="Rounded Rectangle 17"/>
          <p:cNvSpPr/>
          <p:nvPr/>
        </p:nvSpPr>
        <p:spPr>
          <a:xfrm>
            <a:off x="548640" y="3503676"/>
            <a:ext cx="11094415" cy="656843"/>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거절</a:t>
            </a:r>
          </a:p>
        </p:txBody>
      </p:sp>
      <p:sp>
        <p:nvSpPr>
          <p:cNvPr id="20" name="TextBox 19"/>
          <p:cNvSpPr txBox="1"/>
          <p:nvPr/>
        </p:nvSpPr>
        <p:spPr>
          <a:xfrm>
            <a:off x="3200400" y="3471672"/>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COMPLETED · E_rejected · 결과 반려</a:t>
            </a:r>
          </a:p>
        </p:txBody>
      </p:sp>
      <p:sp>
        <p:nvSpPr>
          <p:cNvPr id="21" name="TextBox 20"/>
          <p:cNvSpPr txBox="1"/>
          <p:nvPr/>
        </p:nvSpPr>
        <p:spPr>
          <a:xfrm>
            <a:off x="9448495" y="3471672"/>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오더 · 발주 없음</a:t>
            </a:r>
          </a:p>
          <a:p>
            <a:pPr algn="l" eaLnBrk="0">
              <a:lnSpc>
                <a:spcPct val="110000"/>
              </a:lnSpc>
            </a:pPr>
            <a:r>
              <a:rPr sz="1250" b="1">
                <a:solidFill>
                  <a:srgbClr val="556175"/>
                </a:solidFill>
                <a:latin typeface="맑은 고딕"/>
                <a:ea typeface="맑은 고딕"/>
                <a:cs typeface="맑은 고딕"/>
              </a:rPr>
              <a:t>도래 · 보충 표시 남음</a:t>
            </a:r>
          </a:p>
        </p:txBody>
      </p:sp>
      <p:sp>
        <p:nvSpPr>
          <p:cNvPr id="22" name="Rounded Rectangle 21"/>
          <p:cNvSpPr/>
          <p:nvPr/>
        </p:nvSpPr>
        <p:spPr>
          <a:xfrm>
            <a:off x="548640" y="4224528"/>
            <a:ext cx="11094415" cy="656843"/>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192524"/>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승인 뒤 처리 끝</a:t>
            </a:r>
          </a:p>
        </p:txBody>
      </p:sp>
      <p:sp>
        <p:nvSpPr>
          <p:cNvPr id="24" name="TextBox 23"/>
          <p:cNvSpPr txBox="1"/>
          <p:nvPr/>
        </p:nvSpPr>
        <p:spPr>
          <a:xfrm>
            <a:off x="3200400" y="4192524"/>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COMPLETED · E_end · 정상 또는 입고 완료</a:t>
            </a:r>
          </a:p>
        </p:txBody>
      </p:sp>
      <p:sp>
        <p:nvSpPr>
          <p:cNvPr id="25" name="TextBox 24"/>
          <p:cNvSpPr txBox="1"/>
          <p:nvPr/>
        </p:nvSpPr>
        <p:spPr>
          <a:xfrm>
            <a:off x="9448495" y="4192524"/>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업무 완료 기준은</a:t>
            </a:r>
          </a:p>
          <a:p>
            <a:pPr algn="l" eaLnBrk="0">
              <a:lnSpc>
                <a:spcPct val="110000"/>
              </a:lnSpc>
            </a:pPr>
            <a:r>
              <a:rPr sz="1250" b="1">
                <a:solidFill>
                  <a:srgbClr val="556175"/>
                </a:solidFill>
                <a:latin typeface="맑은 고딕"/>
                <a:ea typeface="맑은 고딕"/>
                <a:cs typeface="맑은 고딕"/>
              </a:rPr>
              <a:t>따로 본다</a:t>
            </a:r>
          </a:p>
        </p:txBody>
      </p:sp>
      <p:sp>
        <p:nvSpPr>
          <p:cNvPr id="26" name="Rounded Rectangle 25"/>
          <p:cNvSpPr/>
          <p:nvPr/>
        </p:nvSpPr>
        <p:spPr>
          <a:xfrm>
            <a:off x="548640" y="4945380"/>
            <a:ext cx="11094415" cy="656843"/>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913376"/>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에이전트 단계 실패</a:t>
            </a:r>
          </a:p>
        </p:txBody>
      </p:sp>
      <p:sp>
        <p:nvSpPr>
          <p:cNvPr id="28" name="TextBox 27"/>
          <p:cNvSpPr txBox="1"/>
          <p:nvPr/>
        </p:nvSpPr>
        <p:spPr>
          <a:xfrm>
            <a:off x="3200400" y="4913376"/>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실행 실패 사유 · 단계는 열린 채 · RUNNING</a:t>
            </a:r>
          </a:p>
        </p:txBody>
      </p:sp>
      <p:sp>
        <p:nvSpPr>
          <p:cNvPr id="29" name="TextBox 28"/>
          <p:cNvSpPr txBox="1"/>
          <p:nvPr/>
        </p:nvSpPr>
        <p:spPr>
          <a:xfrm>
            <a:off x="9448495" y="4913376"/>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저절로 넘어가지</a:t>
            </a:r>
          </a:p>
          <a:p>
            <a:pPr algn="l" eaLnBrk="0">
              <a:lnSpc>
                <a:spcPct val="110000"/>
              </a:lnSpc>
            </a:pPr>
            <a:r>
              <a:rPr sz="1250" b="1">
                <a:solidFill>
                  <a:srgbClr val="556175"/>
                </a:solidFill>
                <a:latin typeface="맑은 고딕"/>
                <a:ea typeface="맑은 고딕"/>
                <a:cs typeface="맑은 고딕"/>
              </a:rPr>
              <a:t>않는다</a:t>
            </a:r>
          </a:p>
        </p:txBody>
      </p:sp>
      <p:sp>
        <p:nvSpPr>
          <p:cNvPr id="30" name="Rounded Rectangle 29"/>
          <p:cNvSpPr/>
          <p:nvPr/>
        </p:nvSpPr>
        <p:spPr>
          <a:xfrm>
            <a:off x="548640" y="5666232"/>
            <a:ext cx="11094415" cy="656843"/>
          </a:xfrm>
          <a:prstGeom prst="roundRect">
            <a:avLst>
              <a:gd name="adj" fmla="val 8000"/>
            </a:avLst>
          </a:prstGeom>
          <a:solidFill>
            <a:srgbClr val="E7F3FD"/>
          </a:solidFill>
          <a:ln>
            <a:noFill/>
          </a:ln>
        </p:spPr>
        <p:txBody>
          <a:bodyPr rtlCol="0" anchor="ctr"/>
          <a:lstStyle/>
          <a:p>
            <a:pPr algn="ctr"/>
          </a:p>
        </p:txBody>
      </p:sp>
      <p:sp>
        <p:nvSpPr>
          <p:cNvPr id="31" name="TextBox 30"/>
          <p:cNvSpPr txBox="1"/>
          <p:nvPr/>
        </p:nvSpPr>
        <p:spPr>
          <a:xfrm>
            <a:off x="685800" y="5634228"/>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멈춘 단계를 사람이 닫음</a:t>
            </a:r>
          </a:p>
        </p:txBody>
      </p:sp>
      <p:sp>
        <p:nvSpPr>
          <p:cNvPr id="32" name="TextBox 31"/>
          <p:cNvSpPr txBox="1"/>
          <p:nvPr/>
        </p:nvSpPr>
        <p:spPr>
          <a:xfrm>
            <a:off x="3200400" y="5634228"/>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COMPLETED · closed-by-human · 결과 보고 없음</a:t>
            </a:r>
          </a:p>
        </p:txBody>
      </p:sp>
      <p:sp>
        <p:nvSpPr>
          <p:cNvPr id="33" name="TextBox 32"/>
          <p:cNvSpPr txBox="1"/>
          <p:nvPr/>
        </p:nvSpPr>
        <p:spPr>
          <a:xfrm>
            <a:off x="9448495" y="5634228"/>
            <a:ext cx="2103120" cy="720851"/>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업무는</a:t>
            </a:r>
          </a:p>
          <a:p>
            <a:pPr algn="l" eaLnBrk="0">
              <a:lnSpc>
                <a:spcPct val="110000"/>
              </a:lnSpc>
            </a:pPr>
            <a:r>
              <a:rPr sz="1250" b="1">
                <a:solidFill>
                  <a:srgbClr val="1A6FC4"/>
                </a:solidFill>
                <a:latin typeface="맑은 고딕"/>
                <a:ea typeface="맑은 고딕"/>
                <a:cs typeface="맑은 고딕"/>
              </a:rPr>
              <a:t>처리되지 않았다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재고 보충 처리 건의 실행 기록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처리 건 기록에는 승인 · 발주 · 통지 · 입고가 줄마다 번호와 함께 남아, 업무 시스템과 대조할 근거가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17</a:t>
            </a:r>
          </a:p>
        </p:txBody>
      </p:sp>
      <p:sp>
        <p:nvSpPr>
          <p:cNvPr id="6" name="Rounded Rectangle 5"/>
          <p:cNvSpPr/>
          <p:nvPr/>
        </p:nvSpPr>
        <p:spPr>
          <a:xfrm>
            <a:off x="548640" y="2207768"/>
            <a:ext cx="6766560" cy="3567175"/>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344928"/>
            <a:ext cx="6400800" cy="3292856"/>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c3_spare.8b48bf5f</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기록</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발췌</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에이전트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이벤트는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뺐다</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SCENARIO_BUTTON    [</a:t>
            </a:r>
            <a:r>
              <a:rPr sz="1300" b="0">
                <a:solidFill>
                  <a:srgbClr val="E8EEF6"/>
                </a:solidFill>
                <a:latin typeface="맑은 고딕"/>
                <a:ea typeface="맑은 고딕"/>
                <a:cs typeface="맑은 고딕"/>
              </a:rPr>
              <a:t>재고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보충</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경보</a:t>
            </a:r>
          </a:p>
          <a:p>
            <a:pPr algn="l" eaLnBrk="0">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발주안</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제안</a:t>
            </a:r>
            <a:r>
              <a:rPr sz="1300" b="0">
                <a:solidFill>
                  <a:srgbClr val="E8EEF6"/>
                </a:solidFill>
                <a:latin typeface="Consolas"/>
                <a:ea typeface="맑은 고딕"/>
                <a:cs typeface="맑은 고딕"/>
              </a:rPr>
              <a:t>)      DEC-1010-048-618d</a:t>
            </a:r>
          </a:p>
          <a:p>
            <a:pPr algn="l" eaLnBrk="0">
              <a:lnSpc>
                <a:spcPct val="110000"/>
              </a:lnSpc>
              <a:spcAft>
                <a:spcPts val="200"/>
              </a:spcAft>
            </a:pPr>
            <a:r>
              <a:rPr sz="1300" b="0">
                <a:solidFill>
                  <a:srgbClr val="E8EEF6"/>
                </a:solidFill>
                <a:latin typeface="Consolas"/>
                <a:ea typeface="맑은 고딕"/>
                <a:cs typeface="맑은 고딕"/>
              </a:rPr>
              <a:t>APPROVAL_ACCEPTED  </a:t>
            </a:r>
            <a:r>
              <a:rPr sz="1300" b="0">
                <a:solidFill>
                  <a:srgbClr val="E8EEF6"/>
                </a:solidFill>
                <a:latin typeface="맑은 고딕"/>
                <a:ea typeface="맑은 고딕"/>
                <a:cs typeface="맑은 고딕"/>
              </a:rPr>
              <a:t>구매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담당</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판단</a:t>
            </a:r>
          </a:p>
          <a:p>
            <a:pPr algn="l" eaLnBrk="0">
              <a:lnSpc>
                <a:spcPct val="110000"/>
              </a:lnSpc>
              <a:spcAft>
                <a:spcPts val="200"/>
              </a:spcAft>
            </a:pPr>
            <a:r>
              <a:rPr sz="1300" b="0">
                <a:solidFill>
                  <a:srgbClr val="E8EEF6"/>
                </a:solidFill>
                <a:latin typeface="Consolas"/>
                <a:ea typeface="맑은 고딕"/>
                <a:cs typeface="맑은 고딕"/>
              </a:rPr>
              <a:t>APPROVAL_DELIVERY  </a:t>
            </a: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전달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완료</a:t>
            </a:r>
          </a:p>
          <a:p>
            <a:pPr algn="l" eaLnBrk="0">
              <a:lnSpc>
                <a:spcPct val="110000"/>
              </a:lnSpc>
              <a:spcAft>
                <a:spcPts val="200"/>
              </a:spcAft>
            </a:pPr>
            <a:r>
              <a:rPr sz="1300" b="0">
                <a:solidFill>
                  <a:srgbClr val="E8EEF6"/>
                </a:solidFill>
                <a:latin typeface="Consolas"/>
                <a:ea typeface="맑은 고딕"/>
                <a:cs typeface="맑은 고딕"/>
              </a:rPr>
              <a:t>(ERP </a:t>
            </a:r>
            <a:r>
              <a:rPr sz="1300" b="0">
                <a:solidFill>
                  <a:srgbClr val="E8EEF6"/>
                </a:solidFill>
                <a:latin typeface="맑은 고딕"/>
                <a:ea typeface="맑은 고딕"/>
                <a:cs typeface="맑은 고딕"/>
              </a:rPr>
              <a:t>발주</a:t>
            </a:r>
            <a:r>
              <a:rPr sz="1300" b="0">
                <a:solidFill>
                  <a:srgbClr val="E8EEF6"/>
                </a:solidFill>
                <a:latin typeface="Consolas"/>
                <a:ea typeface="맑은 고딕"/>
                <a:cs typeface="맑은 고딕"/>
              </a:rPr>
              <a:t>)         PR-1010-83F3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6</a:t>
            </a:r>
            <a:r>
              <a:rPr sz="1300" b="0">
                <a:solidFill>
                  <a:srgbClr val="E8EEF6"/>
                </a:solidFill>
                <a:latin typeface="맑은 고딕"/>
                <a:ea typeface="맑은 고딕"/>
                <a:cs typeface="맑은 고딕"/>
              </a:rPr>
              <a:t>개</a:t>
            </a:r>
          </a:p>
          <a:p>
            <a:pPr algn="l" eaLnBrk="0">
              <a:lnSpc>
                <a:spcPct val="110000"/>
              </a:lnSpc>
              <a:spcAft>
                <a:spcPts val="200"/>
              </a:spcAft>
            </a:pPr>
            <a:r>
              <a:rPr sz="1300" b="0">
                <a:solidFill>
                  <a:srgbClr val="E8EEF6"/>
                </a:solidFill>
                <a:latin typeface="Consolas"/>
                <a:ea typeface="맑은 고딕"/>
                <a:cs typeface="맑은 고딕"/>
              </a:rPr>
              <a:t>MCP_EFFECT_CALL    </a:t>
            </a:r>
            <a:r>
              <a:rPr sz="1300" b="0">
                <a:solidFill>
                  <a:srgbClr val="E8EEF6"/>
                </a:solidFill>
                <a:latin typeface="맑은 고딕"/>
                <a:ea typeface="맑은 고딕"/>
                <a:cs typeface="맑은 고딕"/>
              </a:rPr>
              <a:t>공급사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메일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발송</a:t>
            </a:r>
          </a:p>
          <a:p>
            <a:pPr algn="l" eaLnBrk="0">
              <a:lnSpc>
                <a:spcPct val="110000"/>
              </a:lnSpc>
              <a:spcAft>
                <a:spcPts val="200"/>
              </a:spcAft>
            </a:pPr>
            <a:r>
              <a:rPr sz="1300" b="0">
                <a:solidFill>
                  <a:srgbClr val="E8EEF6"/>
                </a:solidFill>
                <a:latin typeface="Consolas"/>
                <a:ea typeface="맑은 고딕"/>
                <a:cs typeface="맑은 고딕"/>
              </a:rPr>
              <a:t>GOODS_RECEIVED     GR-1010-4EE3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합격</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로트</a:t>
            </a:r>
            <a:r>
              <a:rPr sz="1300" b="0">
                <a:solidFill>
                  <a:srgbClr val="E8EEF6"/>
                </a:solidFill>
                <a:latin typeface="Consolas"/>
                <a:ea typeface="맑은 고딕"/>
                <a:cs typeface="맑은 고딕"/>
              </a:rPr>
              <a:t> LOT-261010-EB4</a:t>
            </a:r>
          </a:p>
          <a:p>
            <a:pPr algn="l" eaLnBrk="0">
              <a:lnSpc>
                <a:spcPct val="110000"/>
              </a:lnSpc>
              <a:spcAft>
                <a:spcPts val="200"/>
              </a:spcAft>
            </a:pPr>
            <a:r>
              <a:rPr sz="1300" b="0">
                <a:solidFill>
                  <a:srgbClr val="E8EEF6"/>
                </a:solidFill>
                <a:latin typeface="Consolas"/>
                <a:ea typeface="맑은 고딕"/>
                <a:cs typeface="맑은 고딕"/>
              </a:rPr>
              <a:t>RECEIPT_IMMEDIATE  </a:t>
            </a:r>
            <a:r>
              <a:rPr sz="1300" b="0">
                <a:solidFill>
                  <a:srgbClr val="E8EEF6"/>
                </a:solidFill>
                <a:latin typeface="맑은 고딕"/>
                <a:ea typeface="맑은 고딕"/>
                <a:cs typeface="맑은 고딕"/>
              </a:rPr>
              <a:t>바로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입고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처리</a:t>
            </a:r>
          </a:p>
          <a:p>
            <a:pPr algn="l" eaLnBrk="0">
              <a:lnSpc>
                <a:spcPct val="110000"/>
              </a:lnSpc>
              <a:spcAft>
                <a:spcPts val="200"/>
              </a:spcAft>
            </a:pPr>
            <a:r>
              <a:rPr sz="1300" b="0">
                <a:solidFill>
                  <a:srgbClr val="E8EEF6"/>
                </a:solidFill>
                <a:latin typeface="Consolas"/>
                <a:ea typeface="맑은 고딕"/>
                <a:cs typeface="맑은 고딕"/>
              </a:rPr>
              <a:t>RESULT_REPORT      </a:t>
            </a:r>
            <a:r>
              <a:rPr sz="1300" b="0">
                <a:solidFill>
                  <a:srgbClr val="E8EEF6"/>
                </a:solidFill>
                <a:latin typeface="맑은 고딕"/>
                <a:ea typeface="맑은 고딕"/>
                <a:cs typeface="맑은 고딕"/>
              </a:rPr>
              <a:t>입고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완료</a:t>
            </a:r>
          </a:p>
        </p:txBody>
      </p:sp>
      <p:sp>
        <p:nvSpPr>
          <p:cNvPr id="8" name="TextBox 7"/>
          <p:cNvSpPr txBox="1"/>
          <p:nvPr/>
        </p:nvSpPr>
        <p:spPr>
          <a:xfrm>
            <a:off x="7635240" y="2207768"/>
            <a:ext cx="4007815" cy="891793"/>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승인의 책임</a:t>
            </a:r>
          </a:p>
          <a:p>
            <a:pPr algn="l" eaLnBrk="0">
              <a:lnSpc>
                <a:spcPct val="110000"/>
              </a:lnSpc>
              <a:spcAft>
                <a:spcPts val="400"/>
              </a:spcAft>
            </a:pPr>
            <a:r>
              <a:rPr sz="1400" b="0">
                <a:solidFill>
                  <a:srgbClr val="1F2A3A"/>
                </a:solidFill>
                <a:latin typeface="맑은 고딕"/>
                <a:ea typeface="맑은 고딕"/>
                <a:cs typeface="맑은 고딕"/>
              </a:rPr>
              <a:t>승인 접수 줄에 역할과 판단이 함께 남는다.</a:t>
            </a:r>
          </a:p>
        </p:txBody>
      </p:sp>
      <p:sp>
        <p:nvSpPr>
          <p:cNvPr id="9" name="TextBox 8"/>
          <p:cNvSpPr txBox="1"/>
          <p:nvPr/>
        </p:nvSpPr>
        <p:spPr>
          <a:xfrm>
            <a:off x="7635240" y="3099561"/>
            <a:ext cx="4007815" cy="891793"/>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효과의 번호</a:t>
            </a:r>
          </a:p>
          <a:p>
            <a:pPr algn="l" eaLnBrk="0">
              <a:lnSpc>
                <a:spcPct val="110000"/>
              </a:lnSpc>
              <a:spcAft>
                <a:spcPts val="400"/>
              </a:spcAft>
            </a:pPr>
            <a:r>
              <a:rPr sz="1400" b="0">
                <a:solidFill>
                  <a:srgbClr val="1F2A3A"/>
                </a:solidFill>
                <a:latin typeface="맑은 고딕"/>
                <a:ea typeface="맑은 고딕"/>
                <a:cs typeface="맑은 고딕"/>
              </a:rPr>
              <a:t>발주 · 입고 번호로 ERP 기록을 다시 찾는다.</a:t>
            </a:r>
          </a:p>
        </p:txBody>
      </p:sp>
      <p:sp>
        <p:nvSpPr>
          <p:cNvPr id="10" name="TextBox 9"/>
          <p:cNvSpPr txBox="1"/>
          <p:nvPr/>
        </p:nvSpPr>
        <p:spPr>
          <a:xfrm>
            <a:off x="7635240" y="3991356"/>
            <a:ext cx="4007815" cy="891793"/>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바로 입고</a:t>
            </a:r>
          </a:p>
          <a:p>
            <a:pPr algn="l" eaLnBrk="0">
              <a:lnSpc>
                <a:spcPct val="110000"/>
              </a:lnSpc>
              <a:spcAft>
                <a:spcPts val="400"/>
              </a:spcAft>
            </a:pPr>
            <a:r>
              <a:rPr sz="1400" b="0">
                <a:solidFill>
                  <a:srgbClr val="1F2A3A"/>
                </a:solidFill>
                <a:latin typeface="맑은 고딕"/>
                <a:ea typeface="맑은 고딕"/>
                <a:cs typeface="맑은 고딕"/>
              </a:rPr>
              <a:t>수업 설정이라는 표시가 기록에 따로 남는다.</a:t>
            </a:r>
          </a:p>
        </p:txBody>
      </p:sp>
      <p:sp>
        <p:nvSpPr>
          <p:cNvPr id="11" name="TextBox 10"/>
          <p:cNvSpPr txBox="1"/>
          <p:nvPr/>
        </p:nvSpPr>
        <p:spPr>
          <a:xfrm>
            <a:off x="7635240" y="4883150"/>
            <a:ext cx="4007815" cy="891793"/>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메일은 발송 기록</a:t>
            </a:r>
          </a:p>
          <a:p>
            <a:pPr algn="l" eaLnBrk="0">
              <a:lnSpc>
                <a:spcPct val="110000"/>
              </a:lnSpc>
              <a:spcAft>
                <a:spcPts val="400"/>
              </a:spcAft>
            </a:pPr>
            <a:r>
              <a:rPr sz="1400" b="0">
                <a:solidFill>
                  <a:srgbClr val="1F2A3A"/>
                </a:solidFill>
                <a:latin typeface="맑은 고딕"/>
                <a:ea typeface="맑은 고딕"/>
                <a:cs typeface="맑은 고딕"/>
              </a:rPr>
              <a:t>받는 쪽이 읽었는지는 이 줄로 알 수 없다.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판단 문제: 사람이 닫은 정기 점검 처리 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정기 점검 처리 건에서 에이전트 단계가 멈춰, 담당자가 그 단계를 닫았더니 처리 건이 COMPLETED가 되었다고 하자.</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18</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이 처리 건을 다음 교대에 전하는 말로 맞는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COMPLETED이니 정기 점검 업무는 끝났다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정비 오더가 등록됐을 테니 CMMS에서 시행 시간만 확인하면 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사람이 닫은 종료라 승인도 오더도 없고, 정기 점검 도래는 그대로 남아 있다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승인 지연 타이머가 기한 뒤에 오더를 대신 등록했다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정기 점검 작도</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정기 점검 도래에서 생산팀 공지까지, 공통 승인 구조 위에 작업과 분기를 그린다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정기 점검 작도: 그릴 것과 성공 기준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공통 역할 레인과 승인 구조를 다시 쓰고, 정비 쪽 작업과 분기 조건만 채워 승인과 거절이 다른 끝에 닿게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20</a:t>
            </a:r>
          </a:p>
        </p:txBody>
      </p:sp>
      <p:sp>
        <p:nvSpPr>
          <p:cNvPr id="6" name="Rounded Rectangle 5"/>
          <p:cNvSpPr/>
          <p:nvPr/>
        </p:nvSpPr>
        <p:spPr>
          <a:xfrm>
            <a:off x="548640" y="2426462"/>
            <a:ext cx="3515258" cy="3129788"/>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TextBox 6"/>
          <p:cNvSpPr txBox="1"/>
          <p:nvPr/>
        </p:nvSpPr>
        <p:spPr>
          <a:xfrm>
            <a:off x="713232" y="2627630"/>
            <a:ext cx="3186074" cy="2425700"/>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다시 쓰는 것</a:t>
            </a:r>
          </a:p>
          <a:p>
            <a:pPr algn="l" eaLnBrk="0" marL="205740" indent="-205740">
              <a:lnSpc>
                <a:spcPct val="110000"/>
              </a:lnSpc>
              <a:spcAft>
                <a:spcPts val="400"/>
              </a:spcAft>
            </a:pPr>
            <a:r>
              <a:rPr sz="1800" b="0">
                <a:solidFill>
                  <a:srgbClr val="1F2A3A"/>
                </a:solidFill>
                <a:latin typeface="맑은 고딕"/>
                <a:ea typeface="맑은 고딕"/>
                <a:cs typeface="맑은 고딕"/>
              </a:rPr>
              <a:t>• 담당자 · 에이전트 · 시스템 레인</a:t>
            </a:r>
          </a:p>
          <a:p>
            <a:pPr algn="l" eaLnBrk="0" marL="205740" indent="-205740">
              <a:lnSpc>
                <a:spcPct val="110000"/>
              </a:lnSpc>
              <a:spcAft>
                <a:spcPts val="400"/>
              </a:spcAft>
            </a:pPr>
            <a:r>
              <a:rPr sz="1800" b="0">
                <a:solidFill>
                  <a:srgbClr val="1F2A3A"/>
                </a:solidFill>
                <a:latin typeface="맑은 고딕"/>
                <a:ea typeface="맑은 고딕"/>
                <a:cs typeface="맑은 고딕"/>
              </a:rPr>
              <a:t>• 승인 작업 · 승인? 갈림 · 지연 알림</a:t>
            </a:r>
          </a:p>
          <a:p>
            <a:pPr algn="l" eaLnBrk="0" marL="205740" indent="-205740">
              <a:lnSpc>
                <a:spcPct val="110000"/>
              </a:lnSpc>
              <a:spcAft>
                <a:spcPts val="400"/>
              </a:spcAft>
            </a:pPr>
            <a:r>
              <a:rPr sz="1800" b="0">
                <a:solidFill>
                  <a:srgbClr val="1F2A3A"/>
                </a:solidFill>
                <a:latin typeface="맑은 고딕"/>
                <a:ea typeface="맑은 고딕"/>
                <a:cs typeface="맑은 고딕"/>
              </a:rPr>
              <a:t>• 승인 역할은 설비보전팀장</a:t>
            </a:r>
          </a:p>
        </p:txBody>
      </p:sp>
      <p:sp>
        <p:nvSpPr>
          <p:cNvPr id="8" name="Rounded Rectangle 7"/>
          <p:cNvSpPr/>
          <p:nvPr/>
        </p:nvSpPr>
        <p:spPr>
          <a:xfrm>
            <a:off x="777240" y="5126482"/>
            <a:ext cx="1021080" cy="292608"/>
          </a:xfrm>
          <a:prstGeom prst="roundRect">
            <a:avLst>
              <a:gd name="adj" fmla="val 50000"/>
            </a:avLst>
          </a:prstGeom>
          <a:solidFill>
            <a:srgbClr val="D3D9E1"/>
          </a:solidFill>
          <a:ln>
            <a:noFill/>
          </a:ln>
        </p:spPr>
        <p:txBody>
          <a:bodyPr rtlCol="0" anchor="ctr"/>
          <a:lstStyle/>
          <a:p>
            <a:pPr algn="ctr"/>
          </a:p>
        </p:txBody>
      </p:sp>
      <p:sp>
        <p:nvSpPr>
          <p:cNvPr id="9" name="TextBox 8"/>
          <p:cNvSpPr txBox="1"/>
          <p:nvPr/>
        </p:nvSpPr>
        <p:spPr>
          <a:xfrm>
            <a:off x="777240" y="5126482"/>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공통 구조</a:t>
            </a:r>
          </a:p>
        </p:txBody>
      </p:sp>
      <p:sp>
        <p:nvSpPr>
          <p:cNvPr id="10" name="Rounded Rectangle 9"/>
          <p:cNvSpPr/>
          <p:nvPr/>
        </p:nvSpPr>
        <p:spPr>
          <a:xfrm>
            <a:off x="4338218" y="2426462"/>
            <a:ext cx="3515258" cy="3129788"/>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1" name="TextBox 10"/>
          <p:cNvSpPr txBox="1"/>
          <p:nvPr/>
        </p:nvSpPr>
        <p:spPr>
          <a:xfrm>
            <a:off x="4502810" y="2627630"/>
            <a:ext cx="3186074" cy="2425700"/>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새로 그리는 것</a:t>
            </a:r>
          </a:p>
          <a:p>
            <a:pPr algn="l" eaLnBrk="0" marL="200025" indent="-200025">
              <a:lnSpc>
                <a:spcPct val="110000"/>
              </a:lnSpc>
              <a:spcAft>
                <a:spcPts val="400"/>
              </a:spcAft>
            </a:pPr>
            <a:r>
              <a:rPr sz="1750" b="0">
                <a:solidFill>
                  <a:srgbClr val="1F2A3A"/>
                </a:solidFill>
                <a:latin typeface="맑은 고딕"/>
                <a:ea typeface="맑은 고딕"/>
                <a:cs typeface="맑은 고딕"/>
              </a:rPr>
              <a:t>• 정기 점검 도래로 여는 시작 이벤트</a:t>
            </a:r>
          </a:p>
          <a:p>
            <a:pPr algn="l" eaLnBrk="0" marL="200025" indent="-200025">
              <a:lnSpc>
                <a:spcPct val="110000"/>
              </a:lnSpc>
              <a:spcAft>
                <a:spcPts val="400"/>
              </a:spcAft>
            </a:pPr>
            <a:r>
              <a:rPr sz="1750" b="0">
                <a:solidFill>
                  <a:srgbClr val="1F2A3A"/>
                </a:solidFill>
                <a:latin typeface="맑은 고딕"/>
                <a:ea typeface="맑은 고딕"/>
                <a:cs typeface="맑은 고딕"/>
              </a:rPr>
              <a:t>• 정비 계획 에이전트의 제안</a:t>
            </a:r>
          </a:p>
          <a:p>
            <a:pPr algn="l" eaLnBrk="0" marL="200025" indent="-200025">
              <a:lnSpc>
                <a:spcPct val="110000"/>
              </a:lnSpc>
              <a:spcAft>
                <a:spcPts val="400"/>
              </a:spcAft>
            </a:pPr>
            <a:r>
              <a:rPr sz="1750" b="0">
                <a:solidFill>
                  <a:srgbClr val="1F2A3A"/>
                </a:solidFill>
                <a:latin typeface="맑은 고딕"/>
                <a:ea typeface="맑은 고딕"/>
                <a:cs typeface="맑은 고딕"/>
              </a:rPr>
              <a:t>• CMMS 오더 → 생산팀 공지 → 종료</a:t>
            </a:r>
          </a:p>
        </p:txBody>
      </p:sp>
      <p:sp>
        <p:nvSpPr>
          <p:cNvPr id="12" name="Rounded Rectangle 11"/>
          <p:cNvSpPr/>
          <p:nvPr/>
        </p:nvSpPr>
        <p:spPr>
          <a:xfrm>
            <a:off x="4566818" y="5126482"/>
            <a:ext cx="1219199" cy="292608"/>
          </a:xfrm>
          <a:prstGeom prst="roundRect">
            <a:avLst>
              <a:gd name="adj" fmla="val 50000"/>
            </a:avLst>
          </a:prstGeom>
          <a:solidFill>
            <a:srgbClr val="D3D9E1"/>
          </a:solidFill>
          <a:ln>
            <a:noFill/>
          </a:ln>
        </p:spPr>
        <p:txBody>
          <a:bodyPr rtlCol="0" anchor="ctr"/>
          <a:lstStyle/>
          <a:p>
            <a:pPr algn="ctr"/>
          </a:p>
        </p:txBody>
      </p:sp>
      <p:sp>
        <p:nvSpPr>
          <p:cNvPr id="13" name="TextBox 12"/>
          <p:cNvSpPr txBox="1"/>
          <p:nvPr/>
        </p:nvSpPr>
        <p:spPr>
          <a:xfrm>
            <a:off x="4566818" y="5126482"/>
            <a:ext cx="12191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정비 쪽 작업</a:t>
            </a:r>
          </a:p>
        </p:txBody>
      </p:sp>
      <p:sp>
        <p:nvSpPr>
          <p:cNvPr id="14" name="Rounded Rectangle 13"/>
          <p:cNvSpPr/>
          <p:nvPr/>
        </p:nvSpPr>
        <p:spPr>
          <a:xfrm>
            <a:off x="8127796" y="2426462"/>
            <a:ext cx="3515258" cy="3129788"/>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5" name="TextBox 14"/>
          <p:cNvSpPr txBox="1"/>
          <p:nvPr/>
        </p:nvSpPr>
        <p:spPr>
          <a:xfrm>
            <a:off x="8292388" y="2627630"/>
            <a:ext cx="3186074" cy="2425700"/>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성공 기준</a:t>
            </a:r>
          </a:p>
          <a:p>
            <a:pPr algn="l" eaLnBrk="0" marL="205740" indent="-205740">
              <a:lnSpc>
                <a:spcPct val="110000"/>
              </a:lnSpc>
              <a:spcAft>
                <a:spcPts val="400"/>
              </a:spcAft>
            </a:pPr>
            <a:r>
              <a:rPr sz="1800" b="0">
                <a:solidFill>
                  <a:srgbClr val="1F2A3A"/>
                </a:solidFill>
                <a:latin typeface="맑은 고딕"/>
                <a:ea typeface="맑은 고딕"/>
                <a:cs typeface="맑은 고딕"/>
              </a:rPr>
              <a:t>• 승인만 오더로, 거절은 거절 보고로</a:t>
            </a:r>
          </a:p>
          <a:p>
            <a:pPr algn="l" eaLnBrk="0" marL="205740" indent="-205740">
              <a:lnSpc>
                <a:spcPct val="110000"/>
              </a:lnSpc>
              <a:spcAft>
                <a:spcPts val="400"/>
              </a:spcAft>
            </a:pPr>
            <a:r>
              <a:rPr sz="1800" b="0">
                <a:solidFill>
                  <a:srgbClr val="1F2A3A"/>
                </a:solidFill>
                <a:latin typeface="맑은 고딕"/>
                <a:ea typeface="맑은 고딕"/>
                <a:cs typeface="맑은 고딕"/>
              </a:rPr>
              <a:t>• 지연 알림 뒤에도 승인 작업이 남는다</a:t>
            </a:r>
          </a:p>
          <a:p>
            <a:pPr algn="l" eaLnBrk="0" marL="205740" indent="-205740">
              <a:lnSpc>
                <a:spcPct val="110000"/>
              </a:lnSpc>
              <a:spcAft>
                <a:spcPts val="400"/>
              </a:spcAft>
            </a:pPr>
            <a:r>
              <a:rPr sz="1800" b="0">
                <a:solidFill>
                  <a:srgbClr val="1F2A3A"/>
                </a:solidFill>
                <a:latin typeface="맑은 고딕"/>
                <a:ea typeface="맑은 고딕"/>
                <a:cs typeface="맑은 고딕"/>
              </a:rPr>
              <a:t>• bpmn.io 파일로 저장해 다시 연다</a:t>
            </a:r>
          </a:p>
        </p:txBody>
      </p:sp>
      <p:sp>
        <p:nvSpPr>
          <p:cNvPr id="16" name="Rounded Rectangle 15"/>
          <p:cNvSpPr/>
          <p:nvPr/>
        </p:nvSpPr>
        <p:spPr>
          <a:xfrm>
            <a:off x="8356396" y="5126482"/>
            <a:ext cx="1021080"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8356396" y="5126482"/>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그림 파일</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정기 점검 실행</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준비된 시나리오 B로 오더 · 예약 · 공지 · 보고를 대조하고, 다음 교대에 남는 확인을 정리한다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정기 점검 실행: 결정 · 대조 · 해석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정기 점검 한 건을 결정하고 오더 · 예약 · 공지 · 보고를 같은 번호로 대조해 남은 일을 적는다.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22</a:t>
            </a:r>
          </a:p>
        </p:txBody>
      </p:sp>
      <p:sp>
        <p:nvSpPr>
          <p:cNvPr id="6" name="Rounded Rectangle 5"/>
          <p:cNvSpPr/>
          <p:nvPr/>
        </p:nvSpPr>
        <p:spPr>
          <a:xfrm>
            <a:off x="548640" y="2860294"/>
            <a:ext cx="2567863" cy="226212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TextBox 6"/>
          <p:cNvSpPr txBox="1"/>
          <p:nvPr/>
        </p:nvSpPr>
        <p:spPr>
          <a:xfrm>
            <a:off x="713232" y="3061462"/>
            <a:ext cx="2238679" cy="1558036"/>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결정</a:t>
            </a:r>
          </a:p>
          <a:p>
            <a:pPr algn="l" eaLnBrk="0" marL="160020" indent="-160020">
              <a:lnSpc>
                <a:spcPct val="110000"/>
              </a:lnSpc>
              <a:spcAft>
                <a:spcPts val="400"/>
              </a:spcAft>
            </a:pPr>
            <a:r>
              <a:rPr sz="1400" b="0">
                <a:solidFill>
                  <a:srgbClr val="1F2A3A"/>
                </a:solidFill>
                <a:latin typeface="맑은 고딕"/>
                <a:ea typeface="맑은 고딕"/>
                <a:cs typeface="맑은 고딕"/>
              </a:rPr>
              <a:t>• 점검 시점 제안과 근거를 읽는다</a:t>
            </a:r>
          </a:p>
          <a:p>
            <a:pPr algn="l" eaLnBrk="0" marL="160020" indent="-160020">
              <a:lnSpc>
                <a:spcPct val="110000"/>
              </a:lnSpc>
              <a:spcAft>
                <a:spcPts val="400"/>
              </a:spcAft>
            </a:pPr>
            <a:r>
              <a:rPr sz="1400" b="0">
                <a:solidFill>
                  <a:srgbClr val="1F2A3A"/>
                </a:solidFill>
                <a:latin typeface="맑은 고딕"/>
                <a:ea typeface="맑은 고딕"/>
                <a:cs typeface="맑은 고딕"/>
              </a:rPr>
              <a:t>• 담당자로 승인하거나 사유를 남긴다</a:t>
            </a:r>
          </a:p>
        </p:txBody>
      </p:sp>
      <p:sp>
        <p:nvSpPr>
          <p:cNvPr id="8" name="Rounded Rectangle 7"/>
          <p:cNvSpPr/>
          <p:nvPr/>
        </p:nvSpPr>
        <p:spPr>
          <a:xfrm>
            <a:off x="777240" y="4692650"/>
            <a:ext cx="1219199" cy="292608"/>
          </a:xfrm>
          <a:prstGeom prst="roundRect">
            <a:avLst>
              <a:gd name="adj" fmla="val 50000"/>
            </a:avLst>
          </a:prstGeom>
          <a:solidFill>
            <a:srgbClr val="D3D9E1"/>
          </a:solidFill>
          <a:ln>
            <a:noFill/>
          </a:ln>
        </p:spPr>
        <p:txBody>
          <a:bodyPr rtlCol="0" anchor="ctr"/>
          <a:lstStyle/>
          <a:p>
            <a:pPr algn="ctr"/>
          </a:p>
        </p:txBody>
      </p:sp>
      <p:sp>
        <p:nvSpPr>
          <p:cNvPr id="9" name="TextBox 8"/>
          <p:cNvSpPr txBox="1"/>
          <p:nvPr/>
        </p:nvSpPr>
        <p:spPr>
          <a:xfrm>
            <a:off x="777240" y="4692650"/>
            <a:ext cx="12191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처리 건 하나</a:t>
            </a:r>
          </a:p>
        </p:txBody>
      </p:sp>
      <p:sp>
        <p:nvSpPr>
          <p:cNvPr id="10" name="Rounded Rectangle 9"/>
          <p:cNvSpPr/>
          <p:nvPr/>
        </p:nvSpPr>
        <p:spPr>
          <a:xfrm>
            <a:off x="3390823" y="2860294"/>
            <a:ext cx="2567863" cy="226212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1" name="TextBox 10"/>
          <p:cNvSpPr txBox="1"/>
          <p:nvPr/>
        </p:nvSpPr>
        <p:spPr>
          <a:xfrm>
            <a:off x="3555415" y="3061462"/>
            <a:ext cx="2238679" cy="1558036"/>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대조</a:t>
            </a:r>
          </a:p>
          <a:p>
            <a:pPr algn="l" eaLnBrk="0" marL="160020" indent="-160020">
              <a:lnSpc>
                <a:spcPct val="110000"/>
              </a:lnSpc>
              <a:spcAft>
                <a:spcPts val="400"/>
              </a:spcAft>
            </a:pPr>
            <a:r>
              <a:rPr sz="1400" b="0">
                <a:solidFill>
                  <a:srgbClr val="1F2A3A"/>
                </a:solidFill>
                <a:latin typeface="맑은 고딕"/>
                <a:ea typeface="맑은 고딕"/>
                <a:cs typeface="맑은 고딕"/>
              </a:rPr>
              <a:t>• 작업지시 · 부품 예약 · 생산 공지 · 보고</a:t>
            </a:r>
          </a:p>
          <a:p>
            <a:pPr algn="l" eaLnBrk="0" marL="160020" indent="-160020">
              <a:lnSpc>
                <a:spcPct val="110000"/>
              </a:lnSpc>
              <a:spcAft>
                <a:spcPts val="400"/>
              </a:spcAft>
            </a:pPr>
            <a:r>
              <a:rPr sz="1400" b="0">
                <a:solidFill>
                  <a:srgbClr val="1F2A3A"/>
                </a:solidFill>
                <a:latin typeface="맑은 고딕"/>
                <a:ea typeface="맑은 고딕"/>
                <a:cs typeface="맑은 고딕"/>
              </a:rPr>
              <a:t>• 같은 처리 건 번호로 찾는다</a:t>
            </a:r>
          </a:p>
        </p:txBody>
      </p:sp>
      <p:sp>
        <p:nvSpPr>
          <p:cNvPr id="12" name="Rounded Rectangle 11"/>
          <p:cNvSpPr/>
          <p:nvPr/>
        </p:nvSpPr>
        <p:spPr>
          <a:xfrm>
            <a:off x="3619423" y="4692650"/>
            <a:ext cx="1021080" cy="292608"/>
          </a:xfrm>
          <a:prstGeom prst="roundRect">
            <a:avLst>
              <a:gd name="adj" fmla="val 50000"/>
            </a:avLst>
          </a:prstGeom>
          <a:solidFill>
            <a:srgbClr val="D3D9E1"/>
          </a:solidFill>
          <a:ln>
            <a:noFill/>
          </a:ln>
        </p:spPr>
        <p:txBody>
          <a:bodyPr rtlCol="0" anchor="ctr"/>
          <a:lstStyle/>
          <a:p>
            <a:pPr algn="ctr"/>
          </a:p>
        </p:txBody>
      </p:sp>
      <p:sp>
        <p:nvSpPr>
          <p:cNvPr id="13" name="TextBox 12"/>
          <p:cNvSpPr txBox="1"/>
          <p:nvPr/>
        </p:nvSpPr>
        <p:spPr>
          <a:xfrm>
            <a:off x="3619423" y="4692650"/>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실행 기록</a:t>
            </a:r>
          </a:p>
        </p:txBody>
      </p:sp>
      <p:sp>
        <p:nvSpPr>
          <p:cNvPr id="14" name="Rounded Rectangle 13"/>
          <p:cNvSpPr/>
          <p:nvPr/>
        </p:nvSpPr>
        <p:spPr>
          <a:xfrm>
            <a:off x="6233007" y="2860294"/>
            <a:ext cx="2567863" cy="226212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5" name="TextBox 14"/>
          <p:cNvSpPr txBox="1"/>
          <p:nvPr/>
        </p:nvSpPr>
        <p:spPr>
          <a:xfrm>
            <a:off x="6397599" y="3061462"/>
            <a:ext cx="2238679" cy="1558036"/>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해석</a:t>
            </a:r>
          </a:p>
          <a:p>
            <a:pPr algn="l" eaLnBrk="0" marL="160020" indent="-160020">
              <a:lnSpc>
                <a:spcPct val="110000"/>
              </a:lnSpc>
              <a:spcAft>
                <a:spcPts val="400"/>
              </a:spcAft>
            </a:pPr>
            <a:r>
              <a:rPr sz="1400" b="0">
                <a:solidFill>
                  <a:srgbClr val="1F2A3A"/>
                </a:solidFill>
                <a:latin typeface="맑은 고딕"/>
                <a:ea typeface="맑은 고딕"/>
                <a:cs typeface="맑은 고딕"/>
              </a:rPr>
              <a:t>• 오더 등록은 정비 완료가 아니다</a:t>
            </a:r>
          </a:p>
          <a:p>
            <a:pPr algn="l" eaLnBrk="0" marL="160020" indent="-160020">
              <a:lnSpc>
                <a:spcPct val="110000"/>
              </a:lnSpc>
              <a:spcAft>
                <a:spcPts val="400"/>
              </a:spcAft>
            </a:pPr>
            <a:r>
              <a:rPr sz="1400" b="0">
                <a:solidFill>
                  <a:srgbClr val="1F2A3A"/>
                </a:solidFill>
                <a:latin typeface="맑은 고딕"/>
                <a:ea typeface="맑은 고딕"/>
                <a:cs typeface="맑은 고딕"/>
              </a:rPr>
              <a:t>• 예약 뒤 실제 정비와 다음 교대의 확인</a:t>
            </a:r>
          </a:p>
        </p:txBody>
      </p:sp>
      <p:sp>
        <p:nvSpPr>
          <p:cNvPr id="16" name="Rounded Rectangle 15"/>
          <p:cNvSpPr/>
          <p:nvPr/>
        </p:nvSpPr>
        <p:spPr>
          <a:xfrm>
            <a:off x="6461607" y="4692650"/>
            <a:ext cx="8686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6461607" y="4692650"/>
            <a:ext cx="8686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남은 일</a:t>
            </a:r>
          </a:p>
        </p:txBody>
      </p:sp>
      <p:sp>
        <p:nvSpPr>
          <p:cNvPr id="18" name="Rounded Rectangle 17"/>
          <p:cNvSpPr/>
          <p:nvPr/>
        </p:nvSpPr>
        <p:spPr>
          <a:xfrm>
            <a:off x="9075191" y="2860294"/>
            <a:ext cx="2567863" cy="2262124"/>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TextBox 18"/>
          <p:cNvSpPr txBox="1"/>
          <p:nvPr/>
        </p:nvSpPr>
        <p:spPr>
          <a:xfrm>
            <a:off x="9239783" y="3061462"/>
            <a:ext cx="2238679" cy="1558036"/>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저장</a:t>
            </a:r>
          </a:p>
          <a:p>
            <a:pPr algn="l" eaLnBrk="0" marL="160020" indent="-160020">
              <a:lnSpc>
                <a:spcPct val="110000"/>
              </a:lnSpc>
              <a:spcAft>
                <a:spcPts val="400"/>
              </a:spcAft>
            </a:pPr>
            <a:r>
              <a:rPr sz="1400" b="0">
                <a:solidFill>
                  <a:srgbClr val="1F2A3A"/>
                </a:solidFill>
                <a:latin typeface="맑은 고딕"/>
                <a:ea typeface="맑은 고딕"/>
                <a:cs typeface="맑은 고딕"/>
              </a:rPr>
              <a:t>• 거절 · 보류는 확인한 기록 범위에서</a:t>
            </a:r>
          </a:p>
          <a:p>
            <a:pPr algn="l" eaLnBrk="0" marL="160020" indent="-160020">
              <a:lnSpc>
                <a:spcPct val="110000"/>
              </a:lnSpc>
              <a:spcAft>
                <a:spcPts val="400"/>
              </a:spcAft>
            </a:pPr>
            <a:r>
              <a:rPr sz="1400" b="0">
                <a:solidFill>
                  <a:srgbClr val="1F2A3A"/>
                </a:solidFill>
                <a:latin typeface="맑은 고딕"/>
                <a:ea typeface="맑은 고딕"/>
                <a:cs typeface="맑은 고딕"/>
              </a:rPr>
              <a:t>• 결과를 내 BPMN 작업과 연결한다</a:t>
            </a:r>
          </a:p>
        </p:txBody>
      </p:sp>
      <p:sp>
        <p:nvSpPr>
          <p:cNvPr id="20" name="Rounded Rectangle 19"/>
          <p:cNvSpPr/>
          <p:nvPr/>
        </p:nvSpPr>
        <p:spPr>
          <a:xfrm>
            <a:off x="9303791" y="4692650"/>
            <a:ext cx="1021080" cy="292608"/>
          </a:xfrm>
          <a:prstGeom prst="roundRect">
            <a:avLst>
              <a:gd name="adj" fmla="val 50000"/>
            </a:avLst>
          </a:prstGeom>
          <a:solidFill>
            <a:srgbClr val="5CB8F2"/>
          </a:solidFill>
          <a:ln>
            <a:noFill/>
          </a:ln>
        </p:spPr>
        <p:txBody>
          <a:bodyPr rtlCol="0" anchor="ctr"/>
          <a:lstStyle/>
          <a:p>
            <a:pPr algn="ctr"/>
          </a:p>
        </p:txBody>
      </p:sp>
      <p:sp>
        <p:nvSpPr>
          <p:cNvPr id="21" name="TextBox 20"/>
          <p:cNvSpPr txBox="1"/>
          <p:nvPr/>
        </p:nvSpPr>
        <p:spPr>
          <a:xfrm>
            <a:off x="9303791" y="4692650"/>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결과 기록</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재고 보충 작도</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재고 부족에서 즉시 입고 반영까지, 같은 승인 구조로 구매 흐름을 그린다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재고 보충 작도: 그릴 것과 범위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같은 승인 구조 뒤에 발주 · 통지 · 입고 반영을 이어 그리고, ERP와 재고가 HYD 시뮬레이션이라는 범위를 함께 적는다.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24</a:t>
            </a:r>
          </a:p>
        </p:txBody>
      </p:sp>
      <p:sp>
        <p:nvSpPr>
          <p:cNvPr id="6" name="Rounded Rectangle 5"/>
          <p:cNvSpPr/>
          <p:nvPr/>
        </p:nvSpPr>
        <p:spPr>
          <a:xfrm>
            <a:off x="548640" y="2565908"/>
            <a:ext cx="3515258" cy="285089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TextBox 6"/>
          <p:cNvSpPr txBox="1"/>
          <p:nvPr/>
        </p:nvSpPr>
        <p:spPr>
          <a:xfrm>
            <a:off x="713232" y="2767076"/>
            <a:ext cx="3186074" cy="2146807"/>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다시 쓰는 것</a:t>
            </a:r>
          </a:p>
          <a:p>
            <a:pPr algn="l" eaLnBrk="0" marL="205740" indent="-205740">
              <a:lnSpc>
                <a:spcPct val="110000"/>
              </a:lnSpc>
              <a:spcAft>
                <a:spcPts val="400"/>
              </a:spcAft>
            </a:pPr>
            <a:r>
              <a:rPr sz="1800" b="0">
                <a:solidFill>
                  <a:srgbClr val="1F2A3A"/>
                </a:solidFill>
                <a:latin typeface="맑은 고딕"/>
                <a:ea typeface="맑은 고딕"/>
                <a:cs typeface="맑은 고딕"/>
              </a:rPr>
              <a:t>• 레인과 승인 블록 그대로</a:t>
            </a:r>
          </a:p>
          <a:p>
            <a:pPr algn="l" eaLnBrk="0" marL="205740" indent="-205740">
              <a:lnSpc>
                <a:spcPct val="110000"/>
              </a:lnSpc>
              <a:spcAft>
                <a:spcPts val="400"/>
              </a:spcAft>
            </a:pPr>
            <a:r>
              <a:rPr sz="1800" b="0">
                <a:solidFill>
                  <a:srgbClr val="1F2A3A"/>
                </a:solidFill>
                <a:latin typeface="맑은 고딕"/>
                <a:ea typeface="맑은 고딕"/>
                <a:cs typeface="맑은 고딕"/>
              </a:rPr>
              <a:t>• 승인 역할은 구매 담당</a:t>
            </a:r>
          </a:p>
        </p:txBody>
      </p:sp>
      <p:sp>
        <p:nvSpPr>
          <p:cNvPr id="8" name="Rounded Rectangle 7"/>
          <p:cNvSpPr/>
          <p:nvPr/>
        </p:nvSpPr>
        <p:spPr>
          <a:xfrm>
            <a:off x="777240" y="4987036"/>
            <a:ext cx="1021080" cy="292608"/>
          </a:xfrm>
          <a:prstGeom prst="roundRect">
            <a:avLst>
              <a:gd name="adj" fmla="val 50000"/>
            </a:avLst>
          </a:prstGeom>
          <a:solidFill>
            <a:srgbClr val="D3D9E1"/>
          </a:solidFill>
          <a:ln>
            <a:noFill/>
          </a:ln>
        </p:spPr>
        <p:txBody>
          <a:bodyPr rtlCol="0" anchor="ctr"/>
          <a:lstStyle/>
          <a:p>
            <a:pPr algn="ctr"/>
          </a:p>
        </p:txBody>
      </p:sp>
      <p:sp>
        <p:nvSpPr>
          <p:cNvPr id="9" name="TextBox 8"/>
          <p:cNvSpPr txBox="1"/>
          <p:nvPr/>
        </p:nvSpPr>
        <p:spPr>
          <a:xfrm>
            <a:off x="777240" y="4987036"/>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공통 구조</a:t>
            </a:r>
          </a:p>
        </p:txBody>
      </p:sp>
      <p:sp>
        <p:nvSpPr>
          <p:cNvPr id="10" name="Rounded Rectangle 9"/>
          <p:cNvSpPr/>
          <p:nvPr/>
        </p:nvSpPr>
        <p:spPr>
          <a:xfrm>
            <a:off x="4338218" y="2565908"/>
            <a:ext cx="3515258" cy="285089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1" name="TextBox 10"/>
          <p:cNvSpPr txBox="1"/>
          <p:nvPr/>
        </p:nvSpPr>
        <p:spPr>
          <a:xfrm>
            <a:off x="4502810" y="2767076"/>
            <a:ext cx="3186074" cy="2146807"/>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새로 그리는 것</a:t>
            </a:r>
          </a:p>
          <a:p>
            <a:pPr algn="l" eaLnBrk="0" marL="205740" indent="-205740">
              <a:lnSpc>
                <a:spcPct val="110000"/>
              </a:lnSpc>
              <a:spcAft>
                <a:spcPts val="400"/>
              </a:spcAft>
            </a:pPr>
            <a:r>
              <a:rPr sz="1800" b="0">
                <a:solidFill>
                  <a:srgbClr val="1F2A3A"/>
                </a:solidFill>
                <a:latin typeface="맑은 고딕"/>
                <a:ea typeface="맑은 고딕"/>
                <a:cs typeface="맑은 고딕"/>
              </a:rPr>
              <a:t>• 재고 부족 시작 → 기존 구매 에이전트</a:t>
            </a:r>
          </a:p>
          <a:p>
            <a:pPr algn="l" eaLnBrk="0" marL="205740" indent="-205740">
              <a:lnSpc>
                <a:spcPct val="110000"/>
              </a:lnSpc>
              <a:spcAft>
                <a:spcPts val="400"/>
              </a:spcAft>
            </a:pPr>
            <a:r>
              <a:rPr sz="1800" b="0">
                <a:solidFill>
                  <a:srgbClr val="1F2A3A"/>
                </a:solidFill>
                <a:latin typeface="맑은 고딕"/>
                <a:ea typeface="맑은 고딕"/>
                <a:cs typeface="맑은 고딕"/>
              </a:rPr>
              <a:t>• ERP 발주 → 공급사 통지</a:t>
            </a:r>
          </a:p>
          <a:p>
            <a:pPr algn="l" eaLnBrk="0" marL="205740" indent="-205740">
              <a:lnSpc>
                <a:spcPct val="110000"/>
              </a:lnSpc>
              <a:spcAft>
                <a:spcPts val="400"/>
              </a:spcAft>
            </a:pPr>
            <a:r>
              <a:rPr sz="1800" b="0">
                <a:solidFill>
                  <a:srgbClr val="1F2A3A"/>
                </a:solidFill>
                <a:latin typeface="맑은 고딕"/>
                <a:ea typeface="맑은 고딕"/>
                <a:cs typeface="맑은 고딕"/>
              </a:rPr>
              <a:t>• 즉시 입고 반영 → 종료</a:t>
            </a:r>
          </a:p>
        </p:txBody>
      </p:sp>
      <p:sp>
        <p:nvSpPr>
          <p:cNvPr id="12" name="Rounded Rectangle 11"/>
          <p:cNvSpPr/>
          <p:nvPr/>
        </p:nvSpPr>
        <p:spPr>
          <a:xfrm>
            <a:off x="4566818" y="4987036"/>
            <a:ext cx="1219199" cy="292608"/>
          </a:xfrm>
          <a:prstGeom prst="roundRect">
            <a:avLst>
              <a:gd name="adj" fmla="val 50000"/>
            </a:avLst>
          </a:prstGeom>
          <a:solidFill>
            <a:srgbClr val="D3D9E1"/>
          </a:solidFill>
          <a:ln>
            <a:noFill/>
          </a:ln>
        </p:spPr>
        <p:txBody>
          <a:bodyPr rtlCol="0" anchor="ctr"/>
          <a:lstStyle/>
          <a:p>
            <a:pPr algn="ctr"/>
          </a:p>
        </p:txBody>
      </p:sp>
      <p:sp>
        <p:nvSpPr>
          <p:cNvPr id="13" name="TextBox 12"/>
          <p:cNvSpPr txBox="1"/>
          <p:nvPr/>
        </p:nvSpPr>
        <p:spPr>
          <a:xfrm>
            <a:off x="4566818" y="4987036"/>
            <a:ext cx="12191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구매 쪽 작업</a:t>
            </a:r>
          </a:p>
        </p:txBody>
      </p:sp>
      <p:sp>
        <p:nvSpPr>
          <p:cNvPr id="14" name="Rounded Rectangle 13"/>
          <p:cNvSpPr/>
          <p:nvPr/>
        </p:nvSpPr>
        <p:spPr>
          <a:xfrm>
            <a:off x="8127796" y="2565908"/>
            <a:ext cx="3515258" cy="285089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5" name="TextBox 14"/>
          <p:cNvSpPr txBox="1"/>
          <p:nvPr/>
        </p:nvSpPr>
        <p:spPr>
          <a:xfrm>
            <a:off x="8292388" y="2767076"/>
            <a:ext cx="3186074" cy="2146807"/>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범위와 성공 기준</a:t>
            </a:r>
          </a:p>
          <a:p>
            <a:pPr algn="l" eaLnBrk="0" marL="205740" indent="-205740">
              <a:lnSpc>
                <a:spcPct val="110000"/>
              </a:lnSpc>
              <a:spcAft>
                <a:spcPts val="400"/>
              </a:spcAft>
            </a:pPr>
            <a:r>
              <a:rPr sz="1800" b="0">
                <a:solidFill>
                  <a:srgbClr val="1F2A3A"/>
                </a:solidFill>
                <a:latin typeface="맑은 고딕"/>
                <a:ea typeface="맑은 고딕"/>
                <a:cs typeface="맑은 고딕"/>
              </a:rPr>
              <a:t>• ERP · 재고는 HYD 시뮬레이션</a:t>
            </a:r>
          </a:p>
          <a:p>
            <a:pPr algn="l" eaLnBrk="0" marL="205740" indent="-205740">
              <a:lnSpc>
                <a:spcPct val="110000"/>
              </a:lnSpc>
              <a:spcAft>
                <a:spcPts val="400"/>
              </a:spcAft>
            </a:pPr>
            <a:r>
              <a:rPr sz="1800" b="0">
                <a:solidFill>
                  <a:srgbClr val="1F2A3A"/>
                </a:solidFill>
                <a:latin typeface="맑은 고딕"/>
                <a:ea typeface="맑은 고딕"/>
                <a:cs typeface="맑은 고딕"/>
              </a:rPr>
              <a:t>• 승인만 발주로, 거절은 거절 보고로</a:t>
            </a:r>
          </a:p>
          <a:p>
            <a:pPr algn="l" eaLnBrk="0" marL="205740" indent="-205740">
              <a:lnSpc>
                <a:spcPct val="110000"/>
              </a:lnSpc>
              <a:spcAft>
                <a:spcPts val="400"/>
              </a:spcAft>
            </a:pPr>
            <a:r>
              <a:rPr sz="1800" b="0">
                <a:solidFill>
                  <a:srgbClr val="1F2A3A"/>
                </a:solidFill>
                <a:latin typeface="맑은 고딕"/>
                <a:ea typeface="맑은 고딕"/>
                <a:cs typeface="맑은 고딕"/>
              </a:rPr>
              <a:t>• 저장해 다시 연다</a:t>
            </a:r>
          </a:p>
        </p:txBody>
      </p:sp>
      <p:sp>
        <p:nvSpPr>
          <p:cNvPr id="16" name="Rounded Rectangle 15"/>
          <p:cNvSpPr/>
          <p:nvPr/>
        </p:nvSpPr>
        <p:spPr>
          <a:xfrm>
            <a:off x="8356396" y="4987036"/>
            <a:ext cx="1021080"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8356396" y="4987036"/>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그림 파일</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재고 보충 실행</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준비된 시나리오 C로 발주 중과 입고 완료를 수량으로 가르고, 다음 교대에 넘길 확인을 정리한다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재고 보충 실행: 수량으로 가르는 결과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발주 · 통지 · 입고 · 재고 반영을 따로 찾아 시작 재고와 비교하고, 다음 교대에 넘길 수량을 적는다.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26</a:t>
            </a:r>
          </a:p>
        </p:txBody>
      </p:sp>
      <p:sp>
        <p:nvSpPr>
          <p:cNvPr id="6" name="Rounded Rectangle 5"/>
          <p:cNvSpPr/>
          <p:nvPr/>
        </p:nvSpPr>
        <p:spPr>
          <a:xfrm>
            <a:off x="548640" y="2612390"/>
            <a:ext cx="2567863" cy="27579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TextBox 6"/>
          <p:cNvSpPr txBox="1"/>
          <p:nvPr/>
        </p:nvSpPr>
        <p:spPr>
          <a:xfrm>
            <a:off x="713232" y="2813558"/>
            <a:ext cx="2238679" cy="2053843"/>
          </a:xfrm>
          <a:prstGeom prst="rect">
            <a:avLst/>
          </a:prstGeom>
          <a:noFill/>
        </p:spPr>
        <p:txBody>
          <a:bodyPr wrap="square" anchor="t"/>
          <a:lstStyle/>
          <a:p>
            <a:pPr algn="l" eaLnBrk="0">
              <a:lnSpc>
                <a:spcPct val="110000"/>
              </a:lnSpc>
              <a:spcAft>
                <a:spcPts val="400"/>
              </a:spcAft>
            </a:pPr>
            <a:r>
              <a:rPr sz="2100" b="1">
                <a:solidFill>
                  <a:srgbClr val="13294B"/>
                </a:solidFill>
                <a:latin typeface="맑은 고딕"/>
                <a:ea typeface="맑은 고딕"/>
                <a:cs typeface="맑은 고딕"/>
              </a:rPr>
              <a:t>결정</a:t>
            </a:r>
          </a:p>
          <a:p>
            <a:pPr algn="l" eaLnBrk="0" marL="194310" indent="-194310">
              <a:lnSpc>
                <a:spcPct val="110000"/>
              </a:lnSpc>
              <a:spcAft>
                <a:spcPts val="400"/>
              </a:spcAft>
            </a:pPr>
            <a:r>
              <a:rPr sz="1700" b="0">
                <a:solidFill>
                  <a:srgbClr val="1F2A3A"/>
                </a:solidFill>
                <a:latin typeface="맑은 고딕"/>
                <a:ea typeface="맑은 고딕"/>
                <a:cs typeface="맑은 고딕"/>
              </a:rPr>
              <a:t>• 공급사 · 수량 제안의 근거</a:t>
            </a:r>
          </a:p>
          <a:p>
            <a:pPr algn="l" eaLnBrk="0" marL="194310" indent="-194310">
              <a:lnSpc>
                <a:spcPct val="110000"/>
              </a:lnSpc>
              <a:spcAft>
                <a:spcPts val="400"/>
              </a:spcAft>
            </a:pPr>
            <a:r>
              <a:rPr sz="1700" b="0">
                <a:solidFill>
                  <a:srgbClr val="1F2A3A"/>
                </a:solidFill>
                <a:latin typeface="맑은 고딕"/>
                <a:ea typeface="맑은 고딕"/>
                <a:cs typeface="맑은 고딕"/>
              </a:rPr>
              <a:t>• 승인 조건(승인 공급사 · 전결) 확인</a:t>
            </a:r>
          </a:p>
        </p:txBody>
      </p:sp>
      <p:sp>
        <p:nvSpPr>
          <p:cNvPr id="8" name="Rounded Rectangle 7"/>
          <p:cNvSpPr/>
          <p:nvPr/>
        </p:nvSpPr>
        <p:spPr>
          <a:xfrm>
            <a:off x="777240" y="4940554"/>
            <a:ext cx="1219199" cy="292608"/>
          </a:xfrm>
          <a:prstGeom prst="roundRect">
            <a:avLst>
              <a:gd name="adj" fmla="val 50000"/>
            </a:avLst>
          </a:prstGeom>
          <a:solidFill>
            <a:srgbClr val="D3D9E1"/>
          </a:solidFill>
          <a:ln>
            <a:noFill/>
          </a:ln>
        </p:spPr>
        <p:txBody>
          <a:bodyPr rtlCol="0" anchor="ctr"/>
          <a:lstStyle/>
          <a:p>
            <a:pPr algn="ctr"/>
          </a:p>
        </p:txBody>
      </p:sp>
      <p:sp>
        <p:nvSpPr>
          <p:cNvPr id="9" name="TextBox 8"/>
          <p:cNvSpPr txBox="1"/>
          <p:nvPr/>
        </p:nvSpPr>
        <p:spPr>
          <a:xfrm>
            <a:off x="777240" y="4940554"/>
            <a:ext cx="12191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처리 건 하나</a:t>
            </a:r>
          </a:p>
        </p:txBody>
      </p:sp>
      <p:sp>
        <p:nvSpPr>
          <p:cNvPr id="10" name="Rounded Rectangle 9"/>
          <p:cNvSpPr/>
          <p:nvPr/>
        </p:nvSpPr>
        <p:spPr>
          <a:xfrm>
            <a:off x="3390823" y="2612390"/>
            <a:ext cx="2567863" cy="27579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1" name="TextBox 10"/>
          <p:cNvSpPr txBox="1"/>
          <p:nvPr/>
        </p:nvSpPr>
        <p:spPr>
          <a:xfrm>
            <a:off x="3555415" y="2813558"/>
            <a:ext cx="2238679" cy="2053843"/>
          </a:xfrm>
          <a:prstGeom prst="rect">
            <a:avLst/>
          </a:prstGeom>
          <a:noFill/>
        </p:spPr>
        <p:txBody>
          <a:bodyPr wrap="square" anchor="t"/>
          <a:lstStyle/>
          <a:p>
            <a:pPr algn="l" eaLnBrk="0">
              <a:lnSpc>
                <a:spcPct val="110000"/>
              </a:lnSpc>
              <a:spcAft>
                <a:spcPts val="400"/>
              </a:spcAft>
            </a:pPr>
            <a:r>
              <a:rPr sz="2100" b="1">
                <a:solidFill>
                  <a:srgbClr val="13294B"/>
                </a:solidFill>
                <a:latin typeface="맑은 고딕"/>
                <a:ea typeface="맑은 고딕"/>
                <a:cs typeface="맑은 고딕"/>
              </a:rPr>
              <a:t>대조</a:t>
            </a:r>
          </a:p>
          <a:p>
            <a:pPr algn="l" eaLnBrk="0" marL="194310" indent="-194310">
              <a:lnSpc>
                <a:spcPct val="110000"/>
              </a:lnSpc>
              <a:spcAft>
                <a:spcPts val="400"/>
              </a:spcAft>
            </a:pPr>
            <a:r>
              <a:rPr sz="1700" b="0">
                <a:solidFill>
                  <a:srgbClr val="1F2A3A"/>
                </a:solidFill>
                <a:latin typeface="맑은 고딕"/>
                <a:ea typeface="맑은 고딕"/>
                <a:cs typeface="맑은 고딕"/>
              </a:rPr>
              <a:t>• 발주 · 통지 · 입고 · 재고 반영</a:t>
            </a:r>
          </a:p>
          <a:p>
            <a:pPr algn="l" eaLnBrk="0" marL="194310" indent="-194310">
              <a:lnSpc>
                <a:spcPct val="110000"/>
              </a:lnSpc>
              <a:spcAft>
                <a:spcPts val="400"/>
              </a:spcAft>
            </a:pPr>
            <a:r>
              <a:rPr sz="1700" b="0">
                <a:solidFill>
                  <a:srgbClr val="1F2A3A"/>
                </a:solidFill>
                <a:latin typeface="맑은 고딕"/>
                <a:ea typeface="맑은 고딕"/>
                <a:cs typeface="맑은 고딕"/>
              </a:rPr>
              <a:t>• 시작 재고 · 예약 · 발주 중과 비교</a:t>
            </a:r>
          </a:p>
        </p:txBody>
      </p:sp>
      <p:sp>
        <p:nvSpPr>
          <p:cNvPr id="12" name="Rounded Rectangle 11"/>
          <p:cNvSpPr/>
          <p:nvPr/>
        </p:nvSpPr>
        <p:spPr>
          <a:xfrm>
            <a:off x="3619423" y="4940554"/>
            <a:ext cx="1021080" cy="292608"/>
          </a:xfrm>
          <a:prstGeom prst="roundRect">
            <a:avLst>
              <a:gd name="adj" fmla="val 50000"/>
            </a:avLst>
          </a:prstGeom>
          <a:solidFill>
            <a:srgbClr val="D3D9E1"/>
          </a:solidFill>
          <a:ln>
            <a:noFill/>
          </a:ln>
        </p:spPr>
        <p:txBody>
          <a:bodyPr rtlCol="0" anchor="ctr"/>
          <a:lstStyle/>
          <a:p>
            <a:pPr algn="ctr"/>
          </a:p>
        </p:txBody>
      </p:sp>
      <p:sp>
        <p:nvSpPr>
          <p:cNvPr id="13" name="TextBox 12"/>
          <p:cNvSpPr txBox="1"/>
          <p:nvPr/>
        </p:nvSpPr>
        <p:spPr>
          <a:xfrm>
            <a:off x="3619423" y="4940554"/>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실행 기록</a:t>
            </a:r>
          </a:p>
        </p:txBody>
      </p:sp>
      <p:sp>
        <p:nvSpPr>
          <p:cNvPr id="14" name="Rounded Rectangle 13"/>
          <p:cNvSpPr/>
          <p:nvPr/>
        </p:nvSpPr>
        <p:spPr>
          <a:xfrm>
            <a:off x="6233007" y="2612390"/>
            <a:ext cx="2567863" cy="27579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5" name="TextBox 14"/>
          <p:cNvSpPr txBox="1"/>
          <p:nvPr/>
        </p:nvSpPr>
        <p:spPr>
          <a:xfrm>
            <a:off x="6397599" y="2813558"/>
            <a:ext cx="2238679" cy="2053843"/>
          </a:xfrm>
          <a:prstGeom prst="rect">
            <a:avLst/>
          </a:prstGeom>
          <a:noFill/>
        </p:spPr>
        <p:txBody>
          <a:bodyPr wrap="square" anchor="t"/>
          <a:lstStyle/>
          <a:p>
            <a:pPr algn="l" eaLnBrk="0">
              <a:lnSpc>
                <a:spcPct val="110000"/>
              </a:lnSpc>
              <a:spcAft>
                <a:spcPts val="400"/>
              </a:spcAft>
            </a:pPr>
            <a:r>
              <a:rPr sz="2100" b="1">
                <a:solidFill>
                  <a:srgbClr val="13294B"/>
                </a:solidFill>
                <a:latin typeface="맑은 고딕"/>
                <a:ea typeface="맑은 고딕"/>
                <a:cs typeface="맑은 고딕"/>
              </a:rPr>
              <a:t>해석</a:t>
            </a:r>
          </a:p>
          <a:p>
            <a:pPr algn="l" eaLnBrk="0" marL="194310" indent="-194310">
              <a:lnSpc>
                <a:spcPct val="110000"/>
              </a:lnSpc>
              <a:spcAft>
                <a:spcPts val="400"/>
              </a:spcAft>
            </a:pPr>
            <a:r>
              <a:rPr sz="1700" b="0">
                <a:solidFill>
                  <a:srgbClr val="1F2A3A"/>
                </a:solidFill>
                <a:latin typeface="맑은 고딕"/>
                <a:ea typeface="맑은 고딕"/>
                <a:cs typeface="맑은 고딕"/>
              </a:rPr>
              <a:t>• 수업의 즉시 입고는 실제 배송이 아니다</a:t>
            </a:r>
          </a:p>
          <a:p>
            <a:pPr algn="l" eaLnBrk="0" marL="194310" indent="-194310">
              <a:lnSpc>
                <a:spcPct val="110000"/>
              </a:lnSpc>
              <a:spcAft>
                <a:spcPts val="400"/>
              </a:spcAft>
            </a:pPr>
            <a:r>
              <a:rPr sz="1700" b="0">
                <a:solidFill>
                  <a:srgbClr val="1F2A3A"/>
                </a:solidFill>
                <a:latin typeface="맑은 고딕"/>
                <a:ea typeface="맑은 고딕"/>
                <a:cs typeface="맑은 고딕"/>
              </a:rPr>
              <a:t>• 발주 중과 입고 완료를 가른다</a:t>
            </a:r>
          </a:p>
        </p:txBody>
      </p:sp>
      <p:sp>
        <p:nvSpPr>
          <p:cNvPr id="16" name="Rounded Rectangle 15"/>
          <p:cNvSpPr/>
          <p:nvPr/>
        </p:nvSpPr>
        <p:spPr>
          <a:xfrm>
            <a:off x="6461607" y="4940554"/>
            <a:ext cx="8686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6461607" y="4940554"/>
            <a:ext cx="8686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남은 일</a:t>
            </a:r>
          </a:p>
        </p:txBody>
      </p:sp>
      <p:sp>
        <p:nvSpPr>
          <p:cNvPr id="18" name="Rounded Rectangle 17"/>
          <p:cNvSpPr/>
          <p:nvPr/>
        </p:nvSpPr>
        <p:spPr>
          <a:xfrm>
            <a:off x="9075191" y="2612390"/>
            <a:ext cx="2567863" cy="275793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TextBox 18"/>
          <p:cNvSpPr txBox="1"/>
          <p:nvPr/>
        </p:nvSpPr>
        <p:spPr>
          <a:xfrm>
            <a:off x="9239783" y="2813558"/>
            <a:ext cx="2238679" cy="2053843"/>
          </a:xfrm>
          <a:prstGeom prst="rect">
            <a:avLst/>
          </a:prstGeom>
          <a:noFill/>
        </p:spPr>
        <p:txBody>
          <a:bodyPr wrap="square" anchor="t"/>
          <a:lstStyle/>
          <a:p>
            <a:pPr algn="l" eaLnBrk="0">
              <a:lnSpc>
                <a:spcPct val="110000"/>
              </a:lnSpc>
              <a:spcAft>
                <a:spcPts val="400"/>
              </a:spcAft>
            </a:pPr>
            <a:r>
              <a:rPr sz="2100" b="1">
                <a:solidFill>
                  <a:srgbClr val="13294B"/>
                </a:solidFill>
                <a:latin typeface="맑은 고딕"/>
                <a:ea typeface="맑은 고딕"/>
                <a:cs typeface="맑은 고딕"/>
              </a:rPr>
              <a:t>저장</a:t>
            </a:r>
          </a:p>
          <a:p>
            <a:pPr algn="l" eaLnBrk="0" marL="194310" indent="-194310">
              <a:lnSpc>
                <a:spcPct val="110000"/>
              </a:lnSpc>
              <a:spcAft>
                <a:spcPts val="400"/>
              </a:spcAft>
            </a:pPr>
            <a:r>
              <a:rPr sz="1700" b="0">
                <a:solidFill>
                  <a:srgbClr val="1F2A3A"/>
                </a:solidFill>
                <a:latin typeface="맑은 고딕"/>
                <a:ea typeface="맑은 고딕"/>
                <a:cs typeface="맑은 고딕"/>
              </a:rPr>
              <a:t>• 넘길 수량과 남은 확인</a:t>
            </a:r>
          </a:p>
          <a:p>
            <a:pPr algn="l" eaLnBrk="0" marL="194310" indent="-194310">
              <a:lnSpc>
                <a:spcPct val="110000"/>
              </a:lnSpc>
              <a:spcAft>
                <a:spcPts val="400"/>
              </a:spcAft>
            </a:pPr>
            <a:r>
              <a:rPr sz="1700" b="0">
                <a:solidFill>
                  <a:srgbClr val="1F2A3A"/>
                </a:solidFill>
                <a:latin typeface="맑은 고딕"/>
                <a:ea typeface="맑은 고딕"/>
                <a:cs typeface="맑은 고딕"/>
              </a:rPr>
              <a:t>• 반려는 제공 기록과 구분해 BPMN과 연결</a:t>
            </a:r>
          </a:p>
        </p:txBody>
      </p:sp>
      <p:sp>
        <p:nvSpPr>
          <p:cNvPr id="20" name="Rounded Rectangle 19"/>
          <p:cNvSpPr/>
          <p:nvPr/>
        </p:nvSpPr>
        <p:spPr>
          <a:xfrm>
            <a:off x="9303791" y="4940554"/>
            <a:ext cx="1021080" cy="292608"/>
          </a:xfrm>
          <a:prstGeom prst="roundRect">
            <a:avLst>
              <a:gd name="adj" fmla="val 50000"/>
            </a:avLst>
          </a:prstGeom>
          <a:solidFill>
            <a:srgbClr val="5CB8F2"/>
          </a:solidFill>
          <a:ln>
            <a:noFill/>
          </a:ln>
        </p:spPr>
        <p:txBody>
          <a:bodyPr rtlCol="0" anchor="ctr"/>
          <a:lstStyle/>
          <a:p>
            <a:pPr algn="ctr"/>
          </a:p>
        </p:txBody>
      </p:sp>
      <p:sp>
        <p:nvSpPr>
          <p:cNvPr id="21" name="TextBox 20"/>
          <p:cNvSpPr txBox="1"/>
          <p:nvPr/>
        </p:nvSpPr>
        <p:spPr>
          <a:xfrm>
            <a:off x="9303791" y="4940554"/>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결과 기록</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03</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설계 · 실행 · 검증의 정리</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두 처리 건으로 모델 · 정의 · 역할을 되짚고, 다음 담당자가 확인할 일을 모은다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두 처리 건이 지난 다섯 자리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두 처리 건은 BPMN 모델의 다섯 자리를 차례로 지나며, 자리마다 누가 무엇을 냈는지 번호와 함께 남겼다.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28</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자리</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정기 점검 처리 건</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재고 보충 처리 건</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시작 이벤트</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c3_pm.28d73c7a…</a:t>
            </a:r>
          </a:p>
          <a:p>
            <a:pPr algn="l" eaLnBrk="0">
              <a:lnSpc>
                <a:spcPct val="110000"/>
              </a:lnSpc>
            </a:pPr>
            <a:r>
              <a:rPr sz="1400" b="0">
                <a:solidFill>
                  <a:srgbClr val="1F2A3A"/>
                </a:solidFill>
                <a:latin typeface="맑은 고딕"/>
                <a:ea typeface="맑은 고딕"/>
                <a:cs typeface="맑은 고딕"/>
              </a:rPr>
              <a:t>정기 점검 도래 PM_DUE · HYD-02</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c3_spare.8b48bf5f…</a:t>
            </a:r>
          </a:p>
          <a:p>
            <a:pPr algn="l" eaLnBrk="0">
              <a:lnSpc>
                <a:spcPct val="110000"/>
              </a:lnSpc>
            </a:pPr>
            <a:r>
              <a:rPr sz="1250" b="1">
                <a:solidFill>
                  <a:srgbClr val="556175"/>
                </a:solidFill>
                <a:latin typeface="맑은 고딕"/>
                <a:ea typeface="맑은 고딕"/>
                <a:cs typeface="맑은 고딕"/>
              </a:rPr>
              <a:t>재고 부족 · 씰 키트</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에이전트 판단</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정비 시점 「야간 정비 시간」</a:t>
            </a:r>
          </a:p>
          <a:p>
            <a:pPr algn="l" eaLnBrk="0">
              <a:lnSpc>
                <a:spcPct val="110000"/>
              </a:lnSpc>
            </a:pPr>
            <a:r>
              <a:rPr sz="1400" b="0">
                <a:solidFill>
                  <a:srgbClr val="1F2A3A"/>
                </a:solidFill>
                <a:latin typeface="맑은 고딕"/>
                <a:ea typeface="맑은 고딕"/>
                <a:cs typeface="맑은 고딕"/>
              </a:rPr>
              <a:t>판단 DEC-1010-044-c3ec</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6개 · B-OEM · 330만원</a:t>
            </a:r>
          </a:p>
          <a:p>
            <a:pPr algn="l" eaLnBrk="0">
              <a:lnSpc>
                <a:spcPct val="110000"/>
              </a:lnSpc>
            </a:pPr>
            <a:r>
              <a:rPr sz="1250" b="1">
                <a:solidFill>
                  <a:srgbClr val="556175"/>
                </a:solidFill>
                <a:latin typeface="맑은 고딕"/>
                <a:ea typeface="맑은 고딕"/>
                <a:cs typeface="맑은 고딕"/>
              </a:rPr>
              <a:t>DEC-1010-048-618d</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사람</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설비보전팀장 승인</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구매 담당 승인</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시스템</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정비 오더 WO-1010-5DDD</a:t>
            </a:r>
          </a:p>
          <a:p>
            <a:pPr algn="l" eaLnBrk="0">
              <a:lnSpc>
                <a:spcPct val="110000"/>
              </a:lnSpc>
            </a:pPr>
            <a:r>
              <a:rPr sz="1400" b="0">
                <a:solidFill>
                  <a:srgbClr val="1F2A3A"/>
                </a:solidFill>
                <a:latin typeface="맑은 고딕"/>
                <a:ea typeface="맑은 고딕"/>
                <a:cs typeface="맑은 고딕"/>
              </a:rPr>
              <a:t>생산팀 공지 메일</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발주 PR-1010-83F3 · 공급사 메일</a:t>
            </a:r>
          </a:p>
          <a:p>
            <a:pPr algn="l" eaLnBrk="0">
              <a:lnSpc>
                <a:spcPct val="110000"/>
              </a:lnSpc>
            </a:pPr>
            <a:r>
              <a:rPr sz="1250" b="1">
                <a:solidFill>
                  <a:srgbClr val="556175"/>
                </a:solidFill>
                <a:latin typeface="맑은 고딕"/>
                <a:ea typeface="맑은 고딕"/>
                <a:cs typeface="맑은 고딕"/>
              </a:rPr>
              <a:t>입고 GR-1010-4EE3</a:t>
            </a:r>
          </a:p>
        </p:txBody>
      </p:sp>
      <p:sp>
        <p:nvSpPr>
          <p:cNvPr id="26" name="Rounded Rectangle 25"/>
          <p:cNvSpPr/>
          <p:nvPr/>
        </p:nvSpPr>
        <p:spPr>
          <a:xfrm>
            <a:off x="548640" y="5522061"/>
            <a:ext cx="11094415" cy="801014"/>
          </a:xfrm>
          <a:prstGeom prst="roundRect">
            <a:avLst>
              <a:gd name="adj" fmla="val 8000"/>
            </a:avLst>
          </a:prstGeom>
          <a:solidFill>
            <a:srgbClr val="E7F3FD"/>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종료 기록</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E_end · 정상</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E_end · 입고 완료</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두 추천안이 승인자에게 보이는 근거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두 추천안 모두 진 대안과 제외된 후보를 까닭과 함께 실어서, 승인자는 득실과 규칙의 근거를 보고 결정한다.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29</a:t>
            </a:r>
          </a:p>
        </p:txBody>
      </p:sp>
      <p:sp>
        <p:nvSpPr>
          <p:cNvPr id="6" name="Rounded Rectangle 5"/>
          <p:cNvSpPr/>
          <p:nvPr/>
        </p:nvSpPr>
        <p:spPr>
          <a:xfrm>
            <a:off x="548640" y="2182241"/>
            <a:ext cx="5181447" cy="3618230"/>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822959" y="2383409"/>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정기 점검 추천안</a:t>
            </a:r>
          </a:p>
        </p:txBody>
      </p:sp>
      <p:sp>
        <p:nvSpPr>
          <p:cNvPr id="8" name="TextBox 7"/>
          <p:cNvSpPr txBox="1"/>
          <p:nvPr/>
        </p:nvSpPr>
        <p:spPr>
          <a:xfrm>
            <a:off x="822959" y="3233801"/>
            <a:ext cx="4632807" cy="2018030"/>
          </a:xfrm>
          <a:prstGeom prst="rect">
            <a:avLst/>
          </a:prstGeom>
          <a:noFill/>
        </p:spPr>
        <p:txBody>
          <a:bodyPr wrap="square" anchor="t"/>
          <a:lstStyle/>
          <a:p>
            <a:pPr algn="l" eaLnBrk="0" marL="194310" indent="-194310">
              <a:lnSpc>
                <a:spcPct val="110000"/>
              </a:lnSpc>
              <a:spcAft>
                <a:spcPts val="600"/>
              </a:spcAft>
            </a:pPr>
            <a:r>
              <a:rPr sz="1700" b="0">
                <a:solidFill>
                  <a:srgbClr val="1F2A3A"/>
                </a:solidFill>
                <a:latin typeface="맑은 고딕"/>
                <a:ea typeface="맑은 고딕"/>
                <a:cs typeface="맑은 고딕"/>
              </a:rPr>
              <a:t>• 추천: 이번 예정된 정비 시간에 단독 시행</a:t>
            </a:r>
          </a:p>
          <a:p>
            <a:pPr algn="l" eaLnBrk="0" marL="194310" indent="-194310">
              <a:lnSpc>
                <a:spcPct val="110000"/>
              </a:lnSpc>
              <a:spcAft>
                <a:spcPts val="600"/>
              </a:spcAft>
            </a:pPr>
            <a:r>
              <a:rPr sz="1700" b="0">
                <a:solidFill>
                  <a:srgbClr val="1F2A3A"/>
                </a:solidFill>
                <a:latin typeface="맑은 고딕"/>
                <a:ea typeface="맑은 고딕"/>
                <a:cs typeface="맑은 고딕"/>
              </a:rPr>
              <a:t>• 대안: 지금 정지 · 오더 손실 80만원 감점</a:t>
            </a:r>
          </a:p>
          <a:p>
            <a:pPr algn="l" eaLnBrk="0" marL="194310" indent="-194310">
              <a:lnSpc>
                <a:spcPct val="110000"/>
              </a:lnSpc>
              <a:spcAft>
                <a:spcPts val="600"/>
              </a:spcAft>
            </a:pPr>
            <a:r>
              <a:rPr sz="1700" b="0">
                <a:solidFill>
                  <a:srgbClr val="1F2A3A"/>
                </a:solidFill>
                <a:latin typeface="맑은 고딕"/>
                <a:ea typeface="맑은 고딕"/>
                <a:cs typeface="맑은 고딕"/>
              </a:rPr>
              <a:t>• 제외: 미루기 · 2,200 h 초과</a:t>
            </a:r>
          </a:p>
          <a:p>
            <a:pPr algn="l" eaLnBrk="0" marL="194310" indent="-194310">
              <a:lnSpc>
                <a:spcPct val="110000"/>
              </a:lnSpc>
              <a:spcAft>
                <a:spcPts val="600"/>
              </a:spcAft>
            </a:pPr>
            <a:r>
              <a:rPr sz="1700" b="0">
                <a:solidFill>
                  <a:srgbClr val="1F2A3A"/>
                </a:solidFill>
                <a:latin typeface="맑은 고딕"/>
                <a:ea typeface="맑은 고딕"/>
                <a:cs typeface="맑은 고딕"/>
              </a:rPr>
              <a:t>• 제외: 두 대 묶기 · 씰 키트 가용 1개</a:t>
            </a:r>
          </a:p>
        </p:txBody>
      </p:sp>
      <p:sp>
        <p:nvSpPr>
          <p:cNvPr id="9" name="Rounded Rectangle 8"/>
          <p:cNvSpPr/>
          <p:nvPr/>
        </p:nvSpPr>
        <p:spPr>
          <a:xfrm>
            <a:off x="868680" y="5343271"/>
            <a:ext cx="1767839" cy="292608"/>
          </a:xfrm>
          <a:prstGeom prst="roundRect">
            <a:avLst>
              <a:gd name="adj" fmla="val 50000"/>
            </a:avLst>
          </a:prstGeom>
          <a:solidFill>
            <a:srgbClr val="D3D9E1"/>
          </a:solidFill>
          <a:ln>
            <a:noFill/>
          </a:ln>
        </p:spPr>
        <p:txBody>
          <a:bodyPr rtlCol="0" anchor="ctr"/>
          <a:lstStyle/>
          <a:p>
            <a:pPr algn="ctr"/>
          </a:p>
        </p:txBody>
      </p:sp>
      <p:sp>
        <p:nvSpPr>
          <p:cNvPr id="10" name="TextBox 9"/>
          <p:cNvSpPr txBox="1"/>
          <p:nvPr/>
        </p:nvSpPr>
        <p:spPr>
          <a:xfrm>
            <a:off x="868680" y="5343271"/>
            <a:ext cx="176783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기한 · 생산 · 부품</a:t>
            </a:r>
          </a:p>
        </p:txBody>
      </p:sp>
      <p:sp>
        <p:nvSpPr>
          <p:cNvPr id="11" name="Rounded Rectangle 10"/>
          <p:cNvSpPr/>
          <p:nvPr/>
        </p:nvSpPr>
        <p:spPr>
          <a:xfrm>
            <a:off x="6461607" y="2182241"/>
            <a:ext cx="5181447" cy="361823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2" name="TextBox 11"/>
          <p:cNvSpPr txBox="1"/>
          <p:nvPr/>
        </p:nvSpPr>
        <p:spPr>
          <a:xfrm>
            <a:off x="6735927" y="2383409"/>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재고 보충 추천안</a:t>
            </a:r>
          </a:p>
        </p:txBody>
      </p:sp>
      <p:sp>
        <p:nvSpPr>
          <p:cNvPr id="13" name="TextBox 12"/>
          <p:cNvSpPr txBox="1"/>
          <p:nvPr/>
        </p:nvSpPr>
        <p:spPr>
          <a:xfrm>
            <a:off x="6735927" y="3233801"/>
            <a:ext cx="4632807" cy="2018030"/>
          </a:xfrm>
          <a:prstGeom prst="rect">
            <a:avLst/>
          </a:prstGeom>
          <a:noFill/>
        </p:spPr>
        <p:txBody>
          <a:bodyPr wrap="square" anchor="t"/>
          <a:lstStyle/>
          <a:p>
            <a:pPr algn="l" eaLnBrk="0" marL="194310" indent="-194310">
              <a:lnSpc>
                <a:spcPct val="110000"/>
              </a:lnSpc>
              <a:spcAft>
                <a:spcPts val="600"/>
              </a:spcAft>
            </a:pPr>
            <a:r>
              <a:rPr sz="1700" b="0">
                <a:solidFill>
                  <a:srgbClr val="1F2A3A"/>
                </a:solidFill>
                <a:latin typeface="맑은 고딕"/>
                <a:ea typeface="맑은 고딕"/>
                <a:cs typeface="맑은 고딕"/>
              </a:rPr>
              <a:t>• 추천: B-OEM 6개 · 330만원 · 전결 기준 초과 표시</a:t>
            </a:r>
          </a:p>
          <a:p>
            <a:pPr algn="l" eaLnBrk="0" marL="194310" indent="-194310">
              <a:lnSpc>
                <a:spcPct val="110000"/>
              </a:lnSpc>
              <a:spcAft>
                <a:spcPts val="600"/>
              </a:spcAft>
            </a:pPr>
            <a:r>
              <a:rPr sz="1700" b="0">
                <a:solidFill>
                  <a:srgbClr val="1F2A3A"/>
                </a:solidFill>
                <a:latin typeface="맑은 고딕"/>
                <a:ea typeface="맑은 고딕"/>
                <a:cs typeface="맑은 고딕"/>
              </a:rPr>
              <a:t>• 대안: A정밀 · 불량률 12 % · 전수 검사 감점</a:t>
            </a:r>
          </a:p>
          <a:p>
            <a:pPr algn="l" eaLnBrk="0" marL="194310" indent="-194310">
              <a:lnSpc>
                <a:spcPct val="110000"/>
              </a:lnSpc>
              <a:spcAft>
                <a:spcPts val="600"/>
              </a:spcAft>
            </a:pPr>
            <a:r>
              <a:rPr sz="1700" b="0">
                <a:solidFill>
                  <a:srgbClr val="1F2A3A"/>
                </a:solidFill>
                <a:latin typeface="맑은 고딕"/>
                <a:ea typeface="맑은 고딕"/>
                <a:cs typeface="맑은 고딕"/>
              </a:rPr>
              <a:t>• 제외: C트레이딩 · 승인 공급사 아님</a:t>
            </a:r>
          </a:p>
        </p:txBody>
      </p:sp>
      <p:sp>
        <p:nvSpPr>
          <p:cNvPr id="14" name="Rounded Rectangle 13"/>
          <p:cNvSpPr/>
          <p:nvPr/>
        </p:nvSpPr>
        <p:spPr>
          <a:xfrm>
            <a:off x="6781647" y="5343271"/>
            <a:ext cx="1767839" cy="292608"/>
          </a:xfrm>
          <a:prstGeom prst="roundRect">
            <a:avLst>
              <a:gd name="adj" fmla="val 50000"/>
            </a:avLst>
          </a:prstGeom>
          <a:solidFill>
            <a:srgbClr val="5CB8F2"/>
          </a:solidFill>
          <a:ln>
            <a:noFill/>
          </a:ln>
        </p:spPr>
        <p:txBody>
          <a:bodyPr rtlCol="0" anchor="ctr"/>
          <a:lstStyle/>
          <a:p>
            <a:pPr algn="ctr"/>
          </a:p>
        </p:txBody>
      </p:sp>
      <p:sp>
        <p:nvSpPr>
          <p:cNvPr id="15" name="TextBox 14"/>
          <p:cNvSpPr txBox="1"/>
          <p:nvPr/>
        </p:nvSpPr>
        <p:spPr>
          <a:xfrm>
            <a:off x="6781647" y="5343271"/>
            <a:ext cx="176783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품질 · 규정 · 금액</a:t>
            </a:r>
          </a:p>
        </p:txBody>
      </p:sp>
      <p:sp>
        <p:nvSpPr>
          <p:cNvPr id="16" name="Oval 15"/>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17" name="TextBox 16"/>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온톨로지에서 업무 기록까지: 정기 점검 한 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지식은 에이전트의 추천안이 되고, BPMN 정의는 그 추천안을 사람의 승인과 시스템의 실행으로 이어 기록을 남긴다.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30</a:t>
            </a:r>
          </a:p>
        </p:txBody>
      </p:sp>
      <p:sp>
        <p:nvSpPr>
          <p:cNvPr id="6" name="Rectangle 5"/>
          <p:cNvSpPr/>
          <p:nvPr/>
        </p:nvSpPr>
        <p:spPr>
          <a:xfrm>
            <a:off x="1473174" y="3407283"/>
            <a:ext cx="9245346" cy="146304"/>
          </a:xfrm>
          <a:prstGeom prst="rect">
            <a:avLst/>
          </a:prstGeom>
          <a:solidFill>
            <a:srgbClr val="5CB8F2"/>
          </a:solidFill>
          <a:ln>
            <a:noFill/>
          </a:ln>
        </p:spPr>
        <p:txBody>
          <a:bodyPr rtlCol="0" anchor="ctr"/>
          <a:lstStyle/>
          <a:p>
            <a:pPr algn="ctr"/>
          </a:p>
        </p:txBody>
      </p:sp>
      <p:sp>
        <p:nvSpPr>
          <p:cNvPr id="7" name="Chevron 6"/>
          <p:cNvSpPr/>
          <p:nvPr/>
        </p:nvSpPr>
        <p:spPr>
          <a:xfrm>
            <a:off x="2278837" y="3297555"/>
            <a:ext cx="237744" cy="365760"/>
          </a:xfrm>
          <a:prstGeom prst="chevron">
            <a:avLst/>
          </a:prstGeom>
          <a:solidFill>
            <a:srgbClr val="13294B"/>
          </a:solidFill>
          <a:ln>
            <a:noFill/>
          </a:ln>
        </p:spPr>
        <p:txBody>
          <a:bodyPr rtlCol="0" anchor="ctr"/>
          <a:lstStyle/>
          <a:p>
            <a:pPr algn="ctr"/>
          </a:p>
        </p:txBody>
      </p:sp>
      <p:sp>
        <p:nvSpPr>
          <p:cNvPr id="8" name="Oval 7"/>
          <p:cNvSpPr/>
          <p:nvPr/>
        </p:nvSpPr>
        <p:spPr>
          <a:xfrm>
            <a:off x="992416" y="2999677"/>
            <a:ext cx="961515" cy="961515"/>
          </a:xfrm>
          <a:prstGeom prst="ellipse">
            <a:avLst/>
          </a:prstGeom>
          <a:solidFill>
            <a:srgbClr val="FFFFFF"/>
          </a:solidFill>
          <a:ln w="28575">
            <a:solidFill>
              <a:srgbClr val="13294B"/>
            </a:solidFill>
          </a:ln>
        </p:spPr>
        <p:txBody>
          <a:bodyPr rtlCol="0" anchor="ctr"/>
          <a:lstStyle/>
          <a:p>
            <a:pPr algn="ctr"/>
          </a:p>
        </p:txBody>
      </p:sp>
      <p:pic>
        <p:nvPicPr>
          <p:cNvPr id="9" name="아이콘:topology-star-3" descr="topology-star-3_13294B_1.6.png"/>
          <p:cNvPicPr>
            <a:picLocks noChangeAspect="1"/>
          </p:cNvPicPr>
          <p:nvPr/>
        </p:nvPicPr>
        <p:blipFill>
          <a:blip r:embed="rId3"/>
          <a:stretch>
            <a:fillRect/>
          </a:stretch>
        </p:blipFill>
        <p:spPr>
          <a:xfrm>
            <a:off x="1223180" y="3230440"/>
            <a:ext cx="499988" cy="499988"/>
          </a:xfrm>
          <a:prstGeom prst="rect">
            <a:avLst/>
          </a:prstGeom>
        </p:spPr>
      </p:pic>
      <p:sp>
        <p:nvSpPr>
          <p:cNvPr id="10" name="TextBox 9"/>
          <p:cNvSpPr txBox="1"/>
          <p:nvPr/>
        </p:nvSpPr>
        <p:spPr>
          <a:xfrm>
            <a:off x="640079" y="4098352"/>
            <a:ext cx="1666189" cy="1250442"/>
          </a:xfrm>
          <a:prstGeom prst="rect">
            <a:avLst/>
          </a:prstGeom>
          <a:noFill/>
        </p:spPr>
        <p:txBody>
          <a:bodyPr wrap="square" anchor="t"/>
          <a:lstStyle/>
          <a:p>
            <a:pPr algn="ctr" eaLnBrk="0">
              <a:lnSpc>
                <a:spcPct val="110000"/>
              </a:lnSpc>
              <a:spcAft>
                <a:spcPts val="400"/>
              </a:spcAft>
            </a:pPr>
            <a:r>
              <a:rPr sz="1500" b="1">
                <a:solidFill>
                  <a:srgbClr val="13294B"/>
                </a:solidFill>
                <a:latin typeface="맑은 고딕"/>
                <a:ea typeface="맑은 고딕"/>
                <a:cs typeface="맑은 고딕"/>
              </a:rPr>
              <a:t>지식</a:t>
            </a:r>
          </a:p>
          <a:p>
            <a:pPr algn="ctr" eaLnBrk="0">
              <a:lnSpc>
                <a:spcPct val="110000"/>
              </a:lnSpc>
              <a:spcAft>
                <a:spcPts val="400"/>
              </a:spcAft>
            </a:pPr>
            <a:r>
              <a:rPr sz="1200" b="0">
                <a:solidFill>
                  <a:srgbClr val="1F2A3A"/>
                </a:solidFill>
                <a:latin typeface="맑은 고딕"/>
                <a:ea typeface="맑은 고딕"/>
                <a:cs typeface="맑은 고딕"/>
              </a:rPr>
              <a:t>PM-02 시행 방식 · 기준</a:t>
            </a:r>
          </a:p>
          <a:p>
            <a:pPr algn="ctr" eaLnBrk="0">
              <a:lnSpc>
                <a:spcPct val="110000"/>
              </a:lnSpc>
              <a:spcAft>
                <a:spcPts val="400"/>
              </a:spcAft>
            </a:pPr>
            <a:r>
              <a:rPr sz="1200" b="0">
                <a:solidFill>
                  <a:srgbClr val="1F2A3A"/>
                </a:solidFill>
                <a:latin typeface="맑은 고딕"/>
                <a:ea typeface="맑은 고딕"/>
                <a:cs typeface="맑은 고딕"/>
              </a:rPr>
              <a:t>지식 그래프 · 판단 규칙</a:t>
            </a:r>
          </a:p>
        </p:txBody>
      </p:sp>
      <p:sp>
        <p:nvSpPr>
          <p:cNvPr id="11" name="Chevron 10"/>
          <p:cNvSpPr/>
          <p:nvPr/>
        </p:nvSpPr>
        <p:spPr>
          <a:xfrm>
            <a:off x="4127906" y="3297555"/>
            <a:ext cx="237744" cy="365760"/>
          </a:xfrm>
          <a:prstGeom prst="chevron">
            <a:avLst/>
          </a:prstGeom>
          <a:solidFill>
            <a:srgbClr val="13294B"/>
          </a:solidFill>
          <a:ln>
            <a:noFill/>
          </a:ln>
        </p:spPr>
        <p:txBody>
          <a:bodyPr rtlCol="0" anchor="ctr"/>
          <a:lstStyle/>
          <a:p>
            <a:pPr algn="ctr"/>
          </a:p>
        </p:txBody>
      </p:sp>
      <p:sp>
        <p:nvSpPr>
          <p:cNvPr id="12" name="Oval 11"/>
          <p:cNvSpPr/>
          <p:nvPr/>
        </p:nvSpPr>
        <p:spPr>
          <a:xfrm>
            <a:off x="2841485" y="2999677"/>
            <a:ext cx="961515" cy="961515"/>
          </a:xfrm>
          <a:prstGeom prst="ellipse">
            <a:avLst/>
          </a:prstGeom>
          <a:solidFill>
            <a:srgbClr val="FFFFFF"/>
          </a:solidFill>
          <a:ln w="28575">
            <a:solidFill>
              <a:srgbClr val="13294B"/>
            </a:solidFill>
          </a:ln>
        </p:spPr>
        <p:txBody>
          <a:bodyPr rtlCol="0" anchor="ctr"/>
          <a:lstStyle/>
          <a:p>
            <a:pPr algn="ctr"/>
          </a:p>
        </p:txBody>
      </p:sp>
      <p:pic>
        <p:nvPicPr>
          <p:cNvPr id="13" name="아이콘:robot" descr="robot_13294B_1.6.png"/>
          <p:cNvPicPr>
            <a:picLocks noChangeAspect="1"/>
          </p:cNvPicPr>
          <p:nvPr/>
        </p:nvPicPr>
        <p:blipFill>
          <a:blip r:embed="rId4"/>
          <a:stretch>
            <a:fillRect/>
          </a:stretch>
        </p:blipFill>
        <p:spPr>
          <a:xfrm>
            <a:off x="3072249" y="3230440"/>
            <a:ext cx="499988" cy="499988"/>
          </a:xfrm>
          <a:prstGeom prst="rect">
            <a:avLst/>
          </a:prstGeom>
        </p:spPr>
      </p:pic>
      <p:sp>
        <p:nvSpPr>
          <p:cNvPr id="14" name="TextBox 13"/>
          <p:cNvSpPr txBox="1"/>
          <p:nvPr/>
        </p:nvSpPr>
        <p:spPr>
          <a:xfrm>
            <a:off x="2489149" y="4098352"/>
            <a:ext cx="1666189" cy="1250442"/>
          </a:xfrm>
          <a:prstGeom prst="rect">
            <a:avLst/>
          </a:prstGeom>
          <a:noFill/>
        </p:spPr>
        <p:txBody>
          <a:bodyPr wrap="square" anchor="t"/>
          <a:lstStyle/>
          <a:p>
            <a:pPr algn="ctr" eaLnBrk="0">
              <a:lnSpc>
                <a:spcPct val="110000"/>
              </a:lnSpc>
              <a:spcAft>
                <a:spcPts val="400"/>
              </a:spcAft>
            </a:pPr>
            <a:r>
              <a:rPr sz="1500" b="1">
                <a:solidFill>
                  <a:srgbClr val="13294B"/>
                </a:solidFill>
                <a:latin typeface="맑은 고딕"/>
                <a:ea typeface="맑은 고딕"/>
                <a:cs typeface="맑은 고딕"/>
              </a:rPr>
              <a:t>에이전트</a:t>
            </a:r>
          </a:p>
          <a:p>
            <a:pPr algn="ctr" eaLnBrk="0">
              <a:lnSpc>
                <a:spcPct val="110000"/>
              </a:lnSpc>
              <a:spcAft>
                <a:spcPts val="400"/>
              </a:spcAft>
            </a:pPr>
            <a:r>
              <a:rPr sz="1200" b="0">
                <a:solidFill>
                  <a:srgbClr val="1F2A3A"/>
                </a:solidFill>
                <a:latin typeface="맑은 고딕"/>
                <a:ea typeface="맑은 고딕"/>
                <a:cs typeface="맑은 고딕"/>
              </a:rPr>
              <a:t>계획 · 생산 오더 · 재고를</a:t>
            </a:r>
          </a:p>
          <a:p>
            <a:pPr algn="ctr" eaLnBrk="0">
              <a:lnSpc>
                <a:spcPct val="110000"/>
              </a:lnSpc>
              <a:spcAft>
                <a:spcPts val="400"/>
              </a:spcAft>
            </a:pPr>
            <a:r>
              <a:rPr sz="1200" b="0">
                <a:solidFill>
                  <a:srgbClr val="1F2A3A"/>
                </a:solidFill>
                <a:latin typeface="맑은 고딕"/>
                <a:ea typeface="맑은 고딕"/>
                <a:cs typeface="맑은 고딕"/>
              </a:rPr>
              <a:t>읽고 추천안을 낸다</a:t>
            </a:r>
          </a:p>
        </p:txBody>
      </p:sp>
      <p:sp>
        <p:nvSpPr>
          <p:cNvPr id="15" name="Chevron 14"/>
          <p:cNvSpPr/>
          <p:nvPr/>
        </p:nvSpPr>
        <p:spPr>
          <a:xfrm>
            <a:off x="5976975" y="3297555"/>
            <a:ext cx="237744" cy="365760"/>
          </a:xfrm>
          <a:prstGeom prst="chevron">
            <a:avLst/>
          </a:prstGeom>
          <a:solidFill>
            <a:srgbClr val="13294B"/>
          </a:solidFill>
          <a:ln>
            <a:noFill/>
          </a:ln>
        </p:spPr>
        <p:txBody>
          <a:bodyPr rtlCol="0" anchor="ctr"/>
          <a:lstStyle/>
          <a:p>
            <a:pPr algn="ctr"/>
          </a:p>
        </p:txBody>
      </p:sp>
      <p:sp>
        <p:nvSpPr>
          <p:cNvPr id="16" name="Oval 15"/>
          <p:cNvSpPr/>
          <p:nvPr/>
        </p:nvSpPr>
        <p:spPr>
          <a:xfrm>
            <a:off x="4690555" y="2999677"/>
            <a:ext cx="961515" cy="961515"/>
          </a:xfrm>
          <a:prstGeom prst="ellipse">
            <a:avLst/>
          </a:prstGeom>
          <a:solidFill>
            <a:srgbClr val="FFFFFF"/>
          </a:solidFill>
          <a:ln w="28575">
            <a:solidFill>
              <a:srgbClr val="13294B"/>
            </a:solidFill>
          </a:ln>
        </p:spPr>
        <p:txBody>
          <a:bodyPr rtlCol="0" anchor="ctr"/>
          <a:lstStyle/>
          <a:p>
            <a:pPr algn="ctr"/>
          </a:p>
        </p:txBody>
      </p:sp>
      <p:pic>
        <p:nvPicPr>
          <p:cNvPr id="17" name="아이콘:git-branch" descr="git-branch_13294B_1.6.png"/>
          <p:cNvPicPr>
            <a:picLocks noChangeAspect="1"/>
          </p:cNvPicPr>
          <p:nvPr/>
        </p:nvPicPr>
        <p:blipFill>
          <a:blip r:embed="rId5"/>
          <a:stretch>
            <a:fillRect/>
          </a:stretch>
        </p:blipFill>
        <p:spPr>
          <a:xfrm>
            <a:off x="4921318" y="3230440"/>
            <a:ext cx="499988" cy="499988"/>
          </a:xfrm>
          <a:prstGeom prst="rect">
            <a:avLst/>
          </a:prstGeom>
        </p:spPr>
      </p:pic>
      <p:sp>
        <p:nvSpPr>
          <p:cNvPr id="18" name="TextBox 17"/>
          <p:cNvSpPr txBox="1"/>
          <p:nvPr/>
        </p:nvSpPr>
        <p:spPr>
          <a:xfrm>
            <a:off x="4338218" y="4098352"/>
            <a:ext cx="1666189" cy="1250442"/>
          </a:xfrm>
          <a:prstGeom prst="rect">
            <a:avLst/>
          </a:prstGeom>
          <a:noFill/>
        </p:spPr>
        <p:txBody>
          <a:bodyPr wrap="square" anchor="t"/>
          <a:lstStyle/>
          <a:p>
            <a:pPr algn="ctr" eaLnBrk="0">
              <a:lnSpc>
                <a:spcPct val="110000"/>
              </a:lnSpc>
              <a:spcAft>
                <a:spcPts val="400"/>
              </a:spcAft>
            </a:pPr>
            <a:r>
              <a:rPr sz="1500" b="1">
                <a:solidFill>
                  <a:srgbClr val="13294B"/>
                </a:solidFill>
                <a:latin typeface="맑은 고딕"/>
                <a:ea typeface="맑은 고딕"/>
                <a:cs typeface="맑은 고딕"/>
              </a:rPr>
              <a:t>BPMN 모델</a:t>
            </a:r>
          </a:p>
          <a:p>
            <a:pPr algn="ctr" eaLnBrk="0">
              <a:lnSpc>
                <a:spcPct val="110000"/>
              </a:lnSpc>
              <a:spcAft>
                <a:spcPts val="400"/>
              </a:spcAft>
            </a:pPr>
            <a:r>
              <a:rPr sz="1150" b="0">
                <a:solidFill>
                  <a:srgbClr val="1F2A3A"/>
                </a:solidFill>
                <a:latin typeface="맑은 고딕"/>
                <a:ea typeface="맑은 고딕"/>
                <a:cs typeface="맑은 고딕"/>
              </a:rPr>
              <a:t>설계한 그림</a:t>
            </a:r>
          </a:p>
          <a:p>
            <a:pPr algn="ctr" eaLnBrk="0">
              <a:lnSpc>
                <a:spcPct val="110000"/>
              </a:lnSpc>
              <a:spcAft>
                <a:spcPts val="400"/>
              </a:spcAft>
            </a:pPr>
            <a:r>
              <a:rPr sz="1150" b="0">
                <a:solidFill>
                  <a:srgbClr val="1F2A3A"/>
                </a:solidFill>
                <a:latin typeface="맑은 고딕"/>
                <a:ea typeface="맑은 고딕"/>
                <a:cs typeface="맑은 고딕"/>
              </a:rPr>
              <a:t>승인 블록과 업무 작업</a:t>
            </a:r>
          </a:p>
        </p:txBody>
      </p:sp>
      <p:sp>
        <p:nvSpPr>
          <p:cNvPr id="19" name="Chevron 18"/>
          <p:cNvSpPr/>
          <p:nvPr/>
        </p:nvSpPr>
        <p:spPr>
          <a:xfrm>
            <a:off x="7826044" y="3297555"/>
            <a:ext cx="237744" cy="365760"/>
          </a:xfrm>
          <a:prstGeom prst="chevron">
            <a:avLst/>
          </a:prstGeom>
          <a:solidFill>
            <a:srgbClr val="13294B"/>
          </a:solidFill>
          <a:ln>
            <a:noFill/>
          </a:ln>
        </p:spPr>
        <p:txBody>
          <a:bodyPr rtlCol="0" anchor="ctr"/>
          <a:lstStyle/>
          <a:p>
            <a:pPr algn="ctr"/>
          </a:p>
        </p:txBody>
      </p:sp>
      <p:sp>
        <p:nvSpPr>
          <p:cNvPr id="20" name="Oval 19"/>
          <p:cNvSpPr/>
          <p:nvPr/>
        </p:nvSpPr>
        <p:spPr>
          <a:xfrm>
            <a:off x="6539624" y="2999677"/>
            <a:ext cx="961515" cy="961515"/>
          </a:xfrm>
          <a:prstGeom prst="ellipse">
            <a:avLst/>
          </a:prstGeom>
          <a:solidFill>
            <a:srgbClr val="FFFFFF"/>
          </a:solidFill>
          <a:ln w="28575">
            <a:solidFill>
              <a:srgbClr val="13294B"/>
            </a:solidFill>
          </a:ln>
        </p:spPr>
        <p:txBody>
          <a:bodyPr rtlCol="0" anchor="ctr"/>
          <a:lstStyle/>
          <a:p>
            <a:pPr algn="ctr"/>
          </a:p>
        </p:txBody>
      </p:sp>
      <p:pic>
        <p:nvPicPr>
          <p:cNvPr id="21" name="아이콘:player-play" descr="player-play_13294B_1.6.png"/>
          <p:cNvPicPr>
            <a:picLocks noChangeAspect="1"/>
          </p:cNvPicPr>
          <p:nvPr/>
        </p:nvPicPr>
        <p:blipFill>
          <a:blip r:embed="rId6"/>
          <a:stretch>
            <a:fillRect/>
          </a:stretch>
        </p:blipFill>
        <p:spPr>
          <a:xfrm>
            <a:off x="6770388" y="3230440"/>
            <a:ext cx="499988" cy="499988"/>
          </a:xfrm>
          <a:prstGeom prst="rect">
            <a:avLst/>
          </a:prstGeom>
        </p:spPr>
      </p:pic>
      <p:sp>
        <p:nvSpPr>
          <p:cNvPr id="22" name="TextBox 21"/>
          <p:cNvSpPr txBox="1"/>
          <p:nvPr/>
        </p:nvSpPr>
        <p:spPr>
          <a:xfrm>
            <a:off x="6187287" y="4098352"/>
            <a:ext cx="1666189" cy="1250442"/>
          </a:xfrm>
          <a:prstGeom prst="rect">
            <a:avLst/>
          </a:prstGeom>
          <a:noFill/>
        </p:spPr>
        <p:txBody>
          <a:bodyPr wrap="square" anchor="t"/>
          <a:lstStyle/>
          <a:p>
            <a:pPr algn="ctr" eaLnBrk="0">
              <a:lnSpc>
                <a:spcPct val="110000"/>
              </a:lnSpc>
              <a:spcAft>
                <a:spcPts val="400"/>
              </a:spcAft>
            </a:pPr>
            <a:r>
              <a:rPr sz="1500" b="1">
                <a:solidFill>
                  <a:srgbClr val="13294B"/>
                </a:solidFill>
                <a:latin typeface="맑은 고딕"/>
                <a:ea typeface="맑은 고딕"/>
                <a:cs typeface="맑은 고딕"/>
              </a:rPr>
              <a:t>엔진</a:t>
            </a:r>
          </a:p>
          <a:p>
            <a:pPr algn="ctr" eaLnBrk="0">
              <a:lnSpc>
                <a:spcPct val="110000"/>
              </a:lnSpc>
              <a:spcAft>
                <a:spcPts val="400"/>
              </a:spcAft>
            </a:pPr>
            <a:r>
              <a:rPr sz="1200" b="0">
                <a:solidFill>
                  <a:srgbClr val="1F2A3A"/>
                </a:solidFill>
                <a:latin typeface="맑은 고딕"/>
                <a:ea typeface="맑은 고딕"/>
                <a:cs typeface="맑은 고딕"/>
              </a:rPr>
              <a:t>정의 · 판본이</a:t>
            </a:r>
          </a:p>
          <a:p>
            <a:pPr algn="ctr" eaLnBrk="0">
              <a:lnSpc>
                <a:spcPct val="110000"/>
              </a:lnSpc>
              <a:spcAft>
                <a:spcPts val="400"/>
              </a:spcAft>
            </a:pPr>
            <a:r>
              <a:rPr sz="1200" b="0">
                <a:solidFill>
                  <a:srgbClr val="1F2A3A"/>
                </a:solidFill>
                <a:latin typeface="맑은 고딕"/>
                <a:ea typeface="맑은 고딕"/>
                <a:cs typeface="맑은 고딕"/>
              </a:rPr>
              <a:t>처리 건을 연다</a:t>
            </a:r>
          </a:p>
        </p:txBody>
      </p:sp>
      <p:sp>
        <p:nvSpPr>
          <p:cNvPr id="23" name="Chevron 22"/>
          <p:cNvSpPr/>
          <p:nvPr/>
        </p:nvSpPr>
        <p:spPr>
          <a:xfrm>
            <a:off x="9675114" y="3297555"/>
            <a:ext cx="237744" cy="365760"/>
          </a:xfrm>
          <a:prstGeom prst="chevron">
            <a:avLst/>
          </a:prstGeom>
          <a:solidFill>
            <a:srgbClr val="13294B"/>
          </a:solidFill>
          <a:ln>
            <a:noFill/>
          </a:ln>
        </p:spPr>
        <p:txBody>
          <a:bodyPr rtlCol="0" anchor="ctr"/>
          <a:lstStyle/>
          <a:p>
            <a:pPr algn="ctr"/>
          </a:p>
        </p:txBody>
      </p:sp>
      <p:sp>
        <p:nvSpPr>
          <p:cNvPr id="24" name="Oval 23"/>
          <p:cNvSpPr/>
          <p:nvPr/>
        </p:nvSpPr>
        <p:spPr>
          <a:xfrm>
            <a:off x="8388693" y="2999677"/>
            <a:ext cx="961515" cy="961515"/>
          </a:xfrm>
          <a:prstGeom prst="ellipse">
            <a:avLst/>
          </a:prstGeom>
          <a:solidFill>
            <a:srgbClr val="FFFFFF"/>
          </a:solidFill>
          <a:ln w="28575">
            <a:solidFill>
              <a:srgbClr val="13294B"/>
            </a:solidFill>
          </a:ln>
        </p:spPr>
        <p:txBody>
          <a:bodyPr rtlCol="0" anchor="ctr"/>
          <a:lstStyle/>
          <a:p>
            <a:pPr algn="ctr"/>
          </a:p>
        </p:txBody>
      </p:sp>
      <p:pic>
        <p:nvPicPr>
          <p:cNvPr id="25" name="아이콘:user-check" descr="user-check_13294B_1.6.png"/>
          <p:cNvPicPr>
            <a:picLocks noChangeAspect="1"/>
          </p:cNvPicPr>
          <p:nvPr/>
        </p:nvPicPr>
        <p:blipFill>
          <a:blip r:embed="rId7"/>
          <a:stretch>
            <a:fillRect/>
          </a:stretch>
        </p:blipFill>
        <p:spPr>
          <a:xfrm>
            <a:off x="8619457" y="3230440"/>
            <a:ext cx="499988" cy="499988"/>
          </a:xfrm>
          <a:prstGeom prst="rect">
            <a:avLst/>
          </a:prstGeom>
        </p:spPr>
      </p:pic>
      <p:sp>
        <p:nvSpPr>
          <p:cNvPr id="26" name="TextBox 25"/>
          <p:cNvSpPr txBox="1"/>
          <p:nvPr/>
        </p:nvSpPr>
        <p:spPr>
          <a:xfrm>
            <a:off x="8036356" y="4098352"/>
            <a:ext cx="1666189" cy="1250442"/>
          </a:xfrm>
          <a:prstGeom prst="rect">
            <a:avLst/>
          </a:prstGeom>
          <a:noFill/>
        </p:spPr>
        <p:txBody>
          <a:bodyPr wrap="square" anchor="t"/>
          <a:lstStyle/>
          <a:p>
            <a:pPr algn="ctr" eaLnBrk="0">
              <a:lnSpc>
                <a:spcPct val="110000"/>
              </a:lnSpc>
              <a:spcAft>
                <a:spcPts val="400"/>
              </a:spcAft>
            </a:pPr>
            <a:r>
              <a:rPr sz="1500" b="1">
                <a:solidFill>
                  <a:srgbClr val="13294B"/>
                </a:solidFill>
                <a:latin typeface="맑은 고딕"/>
                <a:ea typeface="맑은 고딕"/>
                <a:cs typeface="맑은 고딕"/>
              </a:rPr>
              <a:t>사람</a:t>
            </a:r>
          </a:p>
          <a:p>
            <a:pPr algn="ctr" eaLnBrk="0">
              <a:lnSpc>
                <a:spcPct val="110000"/>
              </a:lnSpc>
              <a:spcAft>
                <a:spcPts val="400"/>
              </a:spcAft>
            </a:pPr>
            <a:r>
              <a:rPr sz="1200" b="0">
                <a:solidFill>
                  <a:srgbClr val="1F2A3A"/>
                </a:solidFill>
                <a:latin typeface="맑은 고딕"/>
                <a:ea typeface="맑은 고딕"/>
                <a:cs typeface="맑은 고딕"/>
              </a:rPr>
              <a:t>설비보전팀장의</a:t>
            </a:r>
          </a:p>
          <a:p>
            <a:pPr algn="ctr" eaLnBrk="0">
              <a:lnSpc>
                <a:spcPct val="110000"/>
              </a:lnSpc>
              <a:spcAft>
                <a:spcPts val="400"/>
              </a:spcAft>
            </a:pPr>
            <a:r>
              <a:rPr sz="1200" b="0">
                <a:solidFill>
                  <a:srgbClr val="1F2A3A"/>
                </a:solidFill>
                <a:latin typeface="맑은 고딕"/>
                <a:ea typeface="맑은 고딕"/>
                <a:cs typeface="맑은 고딕"/>
              </a:rPr>
              <a:t>승인 · 거절</a:t>
            </a:r>
          </a:p>
        </p:txBody>
      </p:sp>
      <p:sp>
        <p:nvSpPr>
          <p:cNvPr id="27" name="Oval 26"/>
          <p:cNvSpPr/>
          <p:nvPr/>
        </p:nvSpPr>
        <p:spPr>
          <a:xfrm>
            <a:off x="10237762" y="2999677"/>
            <a:ext cx="961515" cy="961515"/>
          </a:xfrm>
          <a:prstGeom prst="ellipse">
            <a:avLst/>
          </a:prstGeom>
          <a:solidFill>
            <a:srgbClr val="5CB8F2"/>
          </a:solidFill>
          <a:ln w="28575">
            <a:solidFill>
              <a:srgbClr val="13294B"/>
            </a:solidFill>
          </a:ln>
        </p:spPr>
        <p:txBody>
          <a:bodyPr rtlCol="0" anchor="ctr"/>
          <a:lstStyle/>
          <a:p>
            <a:pPr algn="ctr"/>
          </a:p>
        </p:txBody>
      </p:sp>
      <p:pic>
        <p:nvPicPr>
          <p:cNvPr id="28" name="아이콘:settings" descr="settings_13294B_1.6.png"/>
          <p:cNvPicPr>
            <a:picLocks noChangeAspect="1"/>
          </p:cNvPicPr>
          <p:nvPr/>
        </p:nvPicPr>
        <p:blipFill>
          <a:blip r:embed="rId8"/>
          <a:stretch>
            <a:fillRect/>
          </a:stretch>
        </p:blipFill>
        <p:spPr>
          <a:xfrm>
            <a:off x="10468526" y="3230440"/>
            <a:ext cx="499988" cy="499988"/>
          </a:xfrm>
          <a:prstGeom prst="rect">
            <a:avLst/>
          </a:prstGeom>
        </p:spPr>
      </p:pic>
      <p:sp>
        <p:nvSpPr>
          <p:cNvPr id="29" name="TextBox 28"/>
          <p:cNvSpPr txBox="1"/>
          <p:nvPr/>
        </p:nvSpPr>
        <p:spPr>
          <a:xfrm>
            <a:off x="9885426" y="4098352"/>
            <a:ext cx="1666189" cy="1250442"/>
          </a:xfrm>
          <a:prstGeom prst="rect">
            <a:avLst/>
          </a:prstGeom>
          <a:noFill/>
        </p:spPr>
        <p:txBody>
          <a:bodyPr wrap="square" anchor="t"/>
          <a:lstStyle/>
          <a:p>
            <a:pPr algn="ctr" eaLnBrk="0">
              <a:lnSpc>
                <a:spcPct val="110000"/>
              </a:lnSpc>
              <a:spcAft>
                <a:spcPts val="400"/>
              </a:spcAft>
            </a:pPr>
            <a:r>
              <a:rPr sz="1500" b="1">
                <a:solidFill>
                  <a:srgbClr val="13294B"/>
                </a:solidFill>
                <a:latin typeface="맑은 고딕"/>
                <a:ea typeface="맑은 고딕"/>
                <a:cs typeface="맑은 고딕"/>
              </a:rPr>
              <a:t>시스템</a:t>
            </a:r>
          </a:p>
          <a:p>
            <a:pPr algn="ctr" eaLnBrk="0">
              <a:lnSpc>
                <a:spcPct val="110000"/>
              </a:lnSpc>
              <a:spcAft>
                <a:spcPts val="400"/>
              </a:spcAft>
            </a:pPr>
            <a:r>
              <a:rPr sz="1200" b="0">
                <a:solidFill>
                  <a:srgbClr val="1F2A3A"/>
                </a:solidFill>
                <a:latin typeface="맑은 고딕"/>
                <a:ea typeface="맑은 고딕"/>
                <a:cs typeface="맑은 고딕"/>
              </a:rPr>
              <a:t>CMMS 오더 · 공지</a:t>
            </a:r>
          </a:p>
          <a:p>
            <a:pPr algn="ctr" eaLnBrk="0">
              <a:lnSpc>
                <a:spcPct val="110000"/>
              </a:lnSpc>
              <a:spcAft>
                <a:spcPts val="400"/>
              </a:spcAft>
            </a:pPr>
            <a:r>
              <a:rPr sz="1200" b="0">
                <a:solidFill>
                  <a:srgbClr val="1F2A3A"/>
                </a:solidFill>
                <a:latin typeface="맑은 고딕"/>
                <a:ea typeface="맑은 고딕"/>
                <a:cs typeface="맑은 고딕"/>
              </a:rPr>
              <a:t>처리 기록에 남는다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실행 결과의 대조: 처리 건 기록과 업무 시스템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처리 건이 남긴 번호를 업무 시스템에서 다시 찾아 상태까지 맞춰 봐야 실행 결과의 검증이 끝난다.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31</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확인할 결과</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처리 건 기록에서</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업무 시스템에서</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정비 오더</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결과 보고 「정비 오더 등록 · 생산팀 공지」</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150" b="1">
                <a:solidFill>
                  <a:srgbClr val="556175"/>
                </a:solidFill>
                <a:latin typeface="맑은 고딕"/>
                <a:ea typeface="맑은 고딕"/>
                <a:cs typeface="맑은 고딕"/>
              </a:rPr>
              <a:t>WO-1010-5DDD 상태 배정됨</a:t>
            </a:r>
          </a:p>
          <a:p>
            <a:pPr algn="l" eaLnBrk="0">
              <a:lnSpc>
                <a:spcPct val="110000"/>
              </a:lnSpc>
            </a:pPr>
            <a:r>
              <a:rPr sz="1150" b="1">
                <a:solidFill>
                  <a:srgbClr val="556175"/>
                </a:solidFill>
                <a:latin typeface="맑은 고딕"/>
                <a:ea typeface="맑은 고딕"/>
                <a:cs typeface="맑은 고딕"/>
              </a:rPr>
              <a:t>예정된 정비 시간</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부품 출고 예약</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승인한 시행 방식(SOP-PM-11)</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씰 키트 예약 수량</a:t>
            </a:r>
          </a:p>
          <a:p>
            <a:pPr algn="l" eaLnBrk="0">
              <a:lnSpc>
                <a:spcPct val="110000"/>
              </a:lnSpc>
            </a:pPr>
            <a:r>
              <a:rPr sz="1250" b="1">
                <a:solidFill>
                  <a:srgbClr val="556175"/>
                </a:solidFill>
                <a:latin typeface="맑은 고딕"/>
                <a:ea typeface="맑은 고딕"/>
                <a:cs typeface="맑은 고딕"/>
              </a:rPr>
              <a:t>가용 재고의 변화</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생산팀 공지</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메일 발송 기록</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받는 쪽의 수신 확인은</a:t>
            </a:r>
          </a:p>
          <a:p>
            <a:pPr algn="l" eaLnBrk="0">
              <a:lnSpc>
                <a:spcPct val="110000"/>
              </a:lnSpc>
            </a:pPr>
            <a:r>
              <a:rPr sz="1250" b="1">
                <a:solidFill>
                  <a:srgbClr val="556175"/>
                </a:solidFill>
                <a:latin typeface="맑은 고딕"/>
                <a:ea typeface="맑은 고딕"/>
                <a:cs typeface="맑은 고딕"/>
              </a:rPr>
              <a:t>따로</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발주 · 공급사 통지</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발주 PR-1010-83F3 · 공급사 메일</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ERP 발주</a:t>
            </a:r>
          </a:p>
          <a:p>
            <a:pPr algn="l" eaLnBrk="0">
              <a:lnSpc>
                <a:spcPct val="110000"/>
              </a:lnSpc>
            </a:pPr>
            <a:r>
              <a:rPr sz="1250" b="1">
                <a:solidFill>
                  <a:srgbClr val="556175"/>
                </a:solidFill>
                <a:latin typeface="맑은 고딕"/>
                <a:ea typeface="맑은 고딕"/>
                <a:cs typeface="맑은 고딕"/>
              </a:rPr>
              <a:t>6개 · B-OEM · 330만원</a:t>
            </a:r>
          </a:p>
        </p:txBody>
      </p:sp>
      <p:sp>
        <p:nvSpPr>
          <p:cNvPr id="26" name="Rounded Rectangle 25"/>
          <p:cNvSpPr/>
          <p:nvPr/>
        </p:nvSpPr>
        <p:spPr>
          <a:xfrm>
            <a:off x="548640" y="5522061"/>
            <a:ext cx="11094415" cy="801014"/>
          </a:xfrm>
          <a:prstGeom prst="roundRect">
            <a:avLst>
              <a:gd name="adj" fmla="val 8000"/>
            </a:avLst>
          </a:prstGeom>
          <a:solidFill>
            <a:srgbClr val="E7F3FD"/>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입고 · 재고 반영</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입고 GR-1010-4EE3 · 결과 입고 완료</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150" b="1">
                <a:solidFill>
                  <a:srgbClr val="1A6FC4"/>
                </a:solidFill>
                <a:latin typeface="맑은 고딕"/>
                <a:ea typeface="맑은 고딕"/>
                <a:cs typeface="맑은 고딕"/>
              </a:rPr>
              <a:t>현재고 3 → 9 · 가용 1 → 7</a:t>
            </a:r>
          </a:p>
          <a:p>
            <a:pPr algn="l" eaLnBrk="0">
              <a:lnSpc>
                <a:spcPct val="110000"/>
              </a:lnSpc>
            </a:pPr>
            <a:r>
              <a:rPr sz="1150" b="1">
                <a:solidFill>
                  <a:srgbClr val="1A6FC4"/>
                </a:solidFill>
                <a:latin typeface="맑은 고딕"/>
                <a:ea typeface="맑은 고딕"/>
                <a:cs typeface="맑은 고딕"/>
              </a:rPr>
              <a:t>로트 · 검수 기록</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응용: 다음 담당자에게 남는 확인</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끝난 처리 건에서 미완료와 불일치를 근거 번호와 함께 골라 두어야, 다음 담당자가 무엇을 확인할지 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32</a:t>
            </a:r>
          </a:p>
        </p:txBody>
      </p:sp>
      <p:sp>
        <p:nvSpPr>
          <p:cNvPr id="6" name="Rounded Rectangle 5"/>
          <p:cNvSpPr/>
          <p:nvPr/>
        </p:nvSpPr>
        <p:spPr>
          <a:xfrm>
            <a:off x="548640" y="2313241"/>
            <a:ext cx="2567863" cy="3356229"/>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514409"/>
            <a:ext cx="731520" cy="731520"/>
          </a:xfrm>
          <a:prstGeom prst="ellipse">
            <a:avLst/>
          </a:prstGeom>
          <a:solidFill>
            <a:srgbClr val="E7F3FD"/>
          </a:solidFill>
          <a:ln>
            <a:noFill/>
          </a:ln>
        </p:spPr>
        <p:txBody>
          <a:bodyPr rtlCol="0" anchor="ctr"/>
          <a:lstStyle/>
          <a:p>
            <a:pPr algn="ctr"/>
          </a:p>
        </p:txBody>
      </p:sp>
      <p:pic>
        <p:nvPicPr>
          <p:cNvPr id="8" name="아이콘:tool" descr="tool_13294B_1.6.png"/>
          <p:cNvPicPr>
            <a:picLocks noChangeAspect="1"/>
          </p:cNvPicPr>
          <p:nvPr/>
        </p:nvPicPr>
        <p:blipFill>
          <a:blip r:embed="rId3"/>
          <a:stretch>
            <a:fillRect/>
          </a:stretch>
        </p:blipFill>
        <p:spPr>
          <a:xfrm>
            <a:off x="930859" y="2668028"/>
            <a:ext cx="424281" cy="424281"/>
          </a:xfrm>
          <a:prstGeom prst="rect">
            <a:avLst/>
          </a:prstGeom>
        </p:spPr>
      </p:pic>
      <p:sp>
        <p:nvSpPr>
          <p:cNvPr id="9" name="TextBox 8"/>
          <p:cNvSpPr txBox="1"/>
          <p:nvPr/>
        </p:nvSpPr>
        <p:spPr>
          <a:xfrm>
            <a:off x="713232" y="3337369"/>
            <a:ext cx="2238679" cy="1829181"/>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정비 오더</a:t>
            </a:r>
          </a:p>
          <a:p>
            <a:pPr algn="l" eaLnBrk="0" marL="200025" indent="-200025">
              <a:lnSpc>
                <a:spcPct val="110000"/>
              </a:lnSpc>
              <a:spcAft>
                <a:spcPts val="400"/>
              </a:spcAft>
            </a:pPr>
            <a:r>
              <a:rPr sz="1750" b="0">
                <a:solidFill>
                  <a:srgbClr val="1F2A3A"/>
                </a:solidFill>
                <a:latin typeface="맑은 고딕"/>
                <a:ea typeface="맑은 고딕"/>
                <a:cs typeface="맑은 고딕"/>
              </a:rPr>
              <a:t>• 예정된 정비 시간의 시행</a:t>
            </a:r>
          </a:p>
          <a:p>
            <a:pPr algn="l" eaLnBrk="0" marL="200025" indent="-200025">
              <a:lnSpc>
                <a:spcPct val="110000"/>
              </a:lnSpc>
              <a:spcAft>
                <a:spcPts val="400"/>
              </a:spcAft>
            </a:pPr>
            <a:r>
              <a:rPr sz="1750" b="0">
                <a:solidFill>
                  <a:srgbClr val="1F2A3A"/>
                </a:solidFill>
                <a:latin typeface="맑은 고딕"/>
                <a:ea typeface="맑은 고딕"/>
                <a:cs typeface="맑은 고딕"/>
              </a:rPr>
              <a:t>• 시운전 정상 · 계수기 0 기록</a:t>
            </a:r>
          </a:p>
        </p:txBody>
      </p:sp>
      <p:sp>
        <p:nvSpPr>
          <p:cNvPr id="10" name="Rounded Rectangle 9"/>
          <p:cNvSpPr/>
          <p:nvPr/>
        </p:nvSpPr>
        <p:spPr>
          <a:xfrm>
            <a:off x="777240" y="5239702"/>
            <a:ext cx="10210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39702"/>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시행 확인</a:t>
            </a:r>
          </a:p>
        </p:txBody>
      </p:sp>
      <p:sp>
        <p:nvSpPr>
          <p:cNvPr id="12" name="Rounded Rectangle 11"/>
          <p:cNvSpPr/>
          <p:nvPr/>
        </p:nvSpPr>
        <p:spPr>
          <a:xfrm>
            <a:off x="3390823" y="2313241"/>
            <a:ext cx="2567863" cy="3356229"/>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514409"/>
            <a:ext cx="731520" cy="731520"/>
          </a:xfrm>
          <a:prstGeom prst="ellipse">
            <a:avLst/>
          </a:prstGeom>
          <a:solidFill>
            <a:srgbClr val="E7F3FD"/>
          </a:solidFill>
          <a:ln>
            <a:noFill/>
          </a:ln>
        </p:spPr>
        <p:txBody>
          <a:bodyPr rtlCol="0" anchor="ctr"/>
          <a:lstStyle/>
          <a:p>
            <a:pPr algn="ctr"/>
          </a:p>
        </p:txBody>
      </p:sp>
      <p:pic>
        <p:nvPicPr>
          <p:cNvPr id="14" name="아이콘:package" descr="package_13294B_1.6.png"/>
          <p:cNvPicPr>
            <a:picLocks noChangeAspect="1"/>
          </p:cNvPicPr>
          <p:nvPr/>
        </p:nvPicPr>
        <p:blipFill>
          <a:blip r:embed="rId4"/>
          <a:stretch>
            <a:fillRect/>
          </a:stretch>
        </p:blipFill>
        <p:spPr>
          <a:xfrm>
            <a:off x="3773043" y="2668028"/>
            <a:ext cx="424281" cy="424281"/>
          </a:xfrm>
          <a:prstGeom prst="rect">
            <a:avLst/>
          </a:prstGeom>
        </p:spPr>
      </p:pic>
      <p:sp>
        <p:nvSpPr>
          <p:cNvPr id="15" name="TextBox 14"/>
          <p:cNvSpPr txBox="1"/>
          <p:nvPr/>
        </p:nvSpPr>
        <p:spPr>
          <a:xfrm>
            <a:off x="3555415" y="3337369"/>
            <a:ext cx="2238679" cy="1829181"/>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출고 예약</a:t>
            </a:r>
          </a:p>
          <a:p>
            <a:pPr algn="l" eaLnBrk="0" marL="200025" indent="-200025">
              <a:lnSpc>
                <a:spcPct val="110000"/>
              </a:lnSpc>
              <a:spcAft>
                <a:spcPts val="400"/>
              </a:spcAft>
            </a:pPr>
            <a:r>
              <a:rPr sz="1750" b="0">
                <a:solidFill>
                  <a:srgbClr val="1F2A3A"/>
                </a:solidFill>
                <a:latin typeface="맑은 고딕"/>
                <a:ea typeface="맑은 고딕"/>
                <a:cs typeface="맑은 고딕"/>
              </a:rPr>
              <a:t>• 예약한 씰 키트 · 리턴 필터 출고</a:t>
            </a:r>
          </a:p>
          <a:p>
            <a:pPr algn="l" eaLnBrk="0" marL="200025" indent="-200025">
              <a:lnSpc>
                <a:spcPct val="110000"/>
              </a:lnSpc>
              <a:spcAft>
                <a:spcPts val="400"/>
              </a:spcAft>
            </a:pPr>
            <a:r>
              <a:rPr sz="1750" b="0">
                <a:solidFill>
                  <a:srgbClr val="1F2A3A"/>
                </a:solidFill>
                <a:latin typeface="맑은 고딕"/>
                <a:ea typeface="맑은 고딕"/>
                <a:cs typeface="맑은 고딕"/>
              </a:rPr>
              <a:t>• 예약분은 가용 재고에서 빠진다</a:t>
            </a:r>
          </a:p>
        </p:txBody>
      </p:sp>
      <p:sp>
        <p:nvSpPr>
          <p:cNvPr id="16" name="Rounded Rectangle 15"/>
          <p:cNvSpPr/>
          <p:nvPr/>
        </p:nvSpPr>
        <p:spPr>
          <a:xfrm>
            <a:off x="3619423" y="5239702"/>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239702"/>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부품 확인</a:t>
            </a:r>
          </a:p>
        </p:txBody>
      </p:sp>
      <p:sp>
        <p:nvSpPr>
          <p:cNvPr id="18" name="Rounded Rectangle 17"/>
          <p:cNvSpPr/>
          <p:nvPr/>
        </p:nvSpPr>
        <p:spPr>
          <a:xfrm>
            <a:off x="6233007" y="2313241"/>
            <a:ext cx="2567863" cy="3356229"/>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514409"/>
            <a:ext cx="731520" cy="731520"/>
          </a:xfrm>
          <a:prstGeom prst="ellipse">
            <a:avLst/>
          </a:prstGeom>
          <a:solidFill>
            <a:srgbClr val="E7F3FD"/>
          </a:solidFill>
          <a:ln>
            <a:noFill/>
          </a:ln>
        </p:spPr>
        <p:txBody>
          <a:bodyPr rtlCol="0" anchor="ctr"/>
          <a:lstStyle/>
          <a:p>
            <a:pPr algn="ctr"/>
          </a:p>
        </p:txBody>
      </p:sp>
      <p:pic>
        <p:nvPicPr>
          <p:cNvPr id="20" name="아이콘:truck" descr="truck_13294B_1.6.png"/>
          <p:cNvPicPr>
            <a:picLocks noChangeAspect="1"/>
          </p:cNvPicPr>
          <p:nvPr/>
        </p:nvPicPr>
        <p:blipFill>
          <a:blip r:embed="rId5"/>
          <a:stretch>
            <a:fillRect/>
          </a:stretch>
        </p:blipFill>
        <p:spPr>
          <a:xfrm>
            <a:off x="6615226" y="2668028"/>
            <a:ext cx="424281" cy="424281"/>
          </a:xfrm>
          <a:prstGeom prst="rect">
            <a:avLst/>
          </a:prstGeom>
        </p:spPr>
      </p:pic>
      <p:sp>
        <p:nvSpPr>
          <p:cNvPr id="21" name="TextBox 20"/>
          <p:cNvSpPr txBox="1"/>
          <p:nvPr/>
        </p:nvSpPr>
        <p:spPr>
          <a:xfrm>
            <a:off x="6397599" y="3337369"/>
            <a:ext cx="2238679" cy="1829181"/>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발주와 입고</a:t>
            </a:r>
          </a:p>
          <a:p>
            <a:pPr algn="l" eaLnBrk="0" marL="200025" indent="-200025">
              <a:lnSpc>
                <a:spcPct val="110000"/>
              </a:lnSpc>
              <a:spcAft>
                <a:spcPts val="400"/>
              </a:spcAft>
            </a:pPr>
            <a:r>
              <a:rPr sz="1750" b="0">
                <a:solidFill>
                  <a:srgbClr val="1F2A3A"/>
                </a:solidFill>
                <a:latin typeface="맑은 고딕"/>
                <a:ea typeface="맑은 고딕"/>
                <a:cs typeface="맑은 고딕"/>
              </a:rPr>
              <a:t>• 수업은 즉시 입고</a:t>
            </a:r>
          </a:p>
          <a:p>
            <a:pPr algn="l" eaLnBrk="0" marL="200025" indent="-200025">
              <a:lnSpc>
                <a:spcPct val="110000"/>
              </a:lnSpc>
              <a:spcAft>
                <a:spcPts val="400"/>
              </a:spcAft>
            </a:pPr>
            <a:r>
              <a:rPr sz="1750" b="0">
                <a:solidFill>
                  <a:srgbClr val="1F2A3A"/>
                </a:solidFill>
                <a:latin typeface="맑은 고딕"/>
                <a:ea typeface="맑은 고딕"/>
                <a:cs typeface="맑은 고딕"/>
              </a:rPr>
              <a:t>• 현실은 납기 · 입고 검사 · 로트</a:t>
            </a:r>
          </a:p>
        </p:txBody>
      </p:sp>
      <p:sp>
        <p:nvSpPr>
          <p:cNvPr id="22" name="Rounded Rectangle 21"/>
          <p:cNvSpPr/>
          <p:nvPr/>
        </p:nvSpPr>
        <p:spPr>
          <a:xfrm>
            <a:off x="6461607" y="5239702"/>
            <a:ext cx="10210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239702"/>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물류 확인</a:t>
            </a:r>
          </a:p>
        </p:txBody>
      </p:sp>
      <p:sp>
        <p:nvSpPr>
          <p:cNvPr id="24" name="Rounded Rectangle 23"/>
          <p:cNvSpPr/>
          <p:nvPr/>
        </p:nvSpPr>
        <p:spPr>
          <a:xfrm>
            <a:off x="9075191" y="2313241"/>
            <a:ext cx="2567863" cy="3356229"/>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514409"/>
            <a:ext cx="731520" cy="731520"/>
          </a:xfrm>
          <a:prstGeom prst="ellipse">
            <a:avLst/>
          </a:prstGeom>
          <a:solidFill>
            <a:srgbClr val="5CB8F2"/>
          </a:solidFill>
          <a:ln>
            <a:noFill/>
          </a:ln>
        </p:spPr>
        <p:txBody>
          <a:bodyPr rtlCol="0" anchor="ctr"/>
          <a:lstStyle/>
          <a:p>
            <a:pPr algn="ctr"/>
          </a:p>
        </p:txBody>
      </p:sp>
      <p:pic>
        <p:nvPicPr>
          <p:cNvPr id="26" name="아이콘:alert-triangle" descr="alert-triangle_13294B_1.6.png"/>
          <p:cNvPicPr>
            <a:picLocks noChangeAspect="1"/>
          </p:cNvPicPr>
          <p:nvPr/>
        </p:nvPicPr>
        <p:blipFill>
          <a:blip r:embed="rId6"/>
          <a:stretch>
            <a:fillRect/>
          </a:stretch>
        </p:blipFill>
        <p:spPr>
          <a:xfrm>
            <a:off x="9457410" y="2668028"/>
            <a:ext cx="424281" cy="424281"/>
          </a:xfrm>
          <a:prstGeom prst="rect">
            <a:avLst/>
          </a:prstGeom>
        </p:spPr>
      </p:pic>
      <p:sp>
        <p:nvSpPr>
          <p:cNvPr id="27" name="TextBox 26"/>
          <p:cNvSpPr txBox="1"/>
          <p:nvPr/>
        </p:nvSpPr>
        <p:spPr>
          <a:xfrm>
            <a:off x="9239783" y="3337369"/>
            <a:ext cx="2238679" cy="1829181"/>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거절 · 닫힌 건</a:t>
            </a:r>
          </a:p>
          <a:p>
            <a:pPr algn="l" eaLnBrk="0" marL="200025" indent="-200025">
              <a:lnSpc>
                <a:spcPct val="110000"/>
              </a:lnSpc>
              <a:spcAft>
                <a:spcPts val="400"/>
              </a:spcAft>
            </a:pPr>
            <a:r>
              <a:rPr sz="1750" b="0">
                <a:solidFill>
                  <a:srgbClr val="1F2A3A"/>
                </a:solidFill>
                <a:latin typeface="맑은 고딕"/>
                <a:ea typeface="맑은 고딕"/>
                <a:cs typeface="맑은 고딕"/>
              </a:rPr>
              <a:t>• 도래 · 보충 필요 표시가 남는다</a:t>
            </a:r>
          </a:p>
          <a:p>
            <a:pPr algn="l" eaLnBrk="0" marL="200025" indent="-200025">
              <a:lnSpc>
                <a:spcPct val="110000"/>
              </a:lnSpc>
              <a:spcAft>
                <a:spcPts val="400"/>
              </a:spcAft>
            </a:pPr>
            <a:r>
              <a:rPr sz="1750" b="0">
                <a:solidFill>
                  <a:srgbClr val="1F2A3A"/>
                </a:solidFill>
                <a:latin typeface="맑은 고딕"/>
                <a:ea typeface="맑은 고딕"/>
                <a:cs typeface="맑은 고딕"/>
              </a:rPr>
              <a:t>• 다시 열 일인지 사유와 함께</a:t>
            </a:r>
          </a:p>
        </p:txBody>
      </p:sp>
      <p:sp>
        <p:nvSpPr>
          <p:cNvPr id="28" name="Rounded Rectangle 27"/>
          <p:cNvSpPr/>
          <p:nvPr/>
        </p:nvSpPr>
        <p:spPr>
          <a:xfrm>
            <a:off x="9303791" y="5239702"/>
            <a:ext cx="117348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239702"/>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미처리 업무</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처리 건 한 건으로 되짚는 판정</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처리 건 한 건에 던지는 물음마다 답이 놓인 기록이 달라서, 그 기록을 가리는 것이 이번 회차의 판정 기준이다.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33</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물음</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답이 놓인 기록</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헷갈리는 짝</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이 처리 건을 연 것은?</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경보 패턴과 배포된 정의의 판본</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등록한 판본</a:t>
            </a:r>
          </a:p>
          <a:p>
            <a:pPr algn="l" eaLnBrk="0">
              <a:lnSpc>
                <a:spcPct val="110000"/>
              </a:lnSpc>
            </a:pPr>
            <a:r>
              <a:rPr sz="1250" b="1">
                <a:solidFill>
                  <a:srgbClr val="556175"/>
                </a:solidFill>
                <a:latin typeface="맑은 고딕"/>
                <a:ea typeface="맑은 고딕"/>
                <a:cs typeface="맑은 고딕"/>
              </a:rPr>
              <a:t>vs 배포한 판본</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아직 결정을 기다리나?</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RUNNING · 승인 작업 IN_PROGRESS</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지연 알림</a:t>
            </a:r>
          </a:p>
          <a:p>
            <a:pPr algn="l" eaLnBrk="0">
              <a:lnSpc>
                <a:spcPct val="110000"/>
              </a:lnSpc>
            </a:pPr>
            <a:r>
              <a:rPr sz="1250" b="1">
                <a:solidFill>
                  <a:srgbClr val="556175"/>
                </a:solidFill>
                <a:latin typeface="맑은 고딕"/>
                <a:ea typeface="맑은 고딕"/>
                <a:cs typeface="맑은 고딕"/>
              </a:rPr>
              <a:t>vs 자동 거절</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무엇으로 끝났나?</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끝 이벤트와 결과 보고</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COMPLETED</a:t>
            </a:r>
          </a:p>
          <a:p>
            <a:pPr algn="l" eaLnBrk="0">
              <a:lnSpc>
                <a:spcPct val="110000"/>
              </a:lnSpc>
            </a:pPr>
            <a:r>
              <a:rPr sz="1250" b="1">
                <a:solidFill>
                  <a:srgbClr val="556175"/>
                </a:solidFill>
                <a:latin typeface="맑은 고딕"/>
                <a:ea typeface="맑은 고딕"/>
                <a:cs typeface="맑은 고딕"/>
              </a:rPr>
              <a:t>vs 업무 성공</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정비가 끝났나?</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오더의 완료 기록 · 시운전 · 계수기</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오더 등록</a:t>
            </a:r>
          </a:p>
          <a:p>
            <a:pPr algn="l" eaLnBrk="0">
              <a:lnSpc>
                <a:spcPct val="110000"/>
              </a:lnSpc>
            </a:pPr>
            <a:r>
              <a:rPr sz="1250" b="1">
                <a:solidFill>
                  <a:srgbClr val="556175"/>
                </a:solidFill>
                <a:latin typeface="맑은 고딕"/>
                <a:ea typeface="맑은 고딕"/>
                <a:cs typeface="맑은 고딕"/>
              </a:rPr>
              <a:t>vs 정비 완료</a:t>
            </a:r>
          </a:p>
        </p:txBody>
      </p:sp>
      <p:sp>
        <p:nvSpPr>
          <p:cNvPr id="26" name="Rounded Rectangle 25"/>
          <p:cNvSpPr/>
          <p:nvPr/>
        </p:nvSpPr>
        <p:spPr>
          <a:xfrm>
            <a:off x="548640" y="5522061"/>
            <a:ext cx="11094415" cy="801014"/>
          </a:xfrm>
          <a:prstGeom prst="roundRect">
            <a:avLst>
              <a:gd name="adj" fmla="val 8000"/>
            </a:avLst>
          </a:prstGeom>
          <a:solidFill>
            <a:srgbClr val="E7F3FD"/>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꺼내 쓸 씰 키트는?</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현재고 - 예약, 입고 · 검사 기록</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발주 중</a:t>
            </a:r>
          </a:p>
          <a:p>
            <a:pPr algn="l" eaLnBrk="0">
              <a:lnSpc>
                <a:spcPct val="110000"/>
              </a:lnSpc>
            </a:pPr>
            <a:r>
              <a:rPr sz="1250" b="1">
                <a:solidFill>
                  <a:srgbClr val="1A6FC4"/>
                </a:solidFill>
                <a:latin typeface="맑은 고딕"/>
                <a:ea typeface="맑은 고딕"/>
                <a:cs typeface="맑은 고딕"/>
              </a:rPr>
              <a:t>vs 입고 완료</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이번 회차의 정비 · 구매 업무와 실행 결과를 읽는 데 쓴 용어를 정식 명칭과 한 줄 뜻으로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34</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용어</a:t>
            </a:r>
          </a:p>
        </p:txBody>
      </p:sp>
      <p:sp>
        <p:nvSpPr>
          <p:cNvPr id="8" name="TextBox 7"/>
          <p:cNvSpPr txBox="1"/>
          <p:nvPr/>
        </p:nvSpPr>
        <p:spPr>
          <a:xfrm>
            <a:off x="3200400" y="1627632"/>
            <a:ext cx="844265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정식 명칭 · 풀이</a:t>
            </a:r>
          </a:p>
        </p:txBody>
      </p:sp>
      <p:sp>
        <p:nvSpPr>
          <p:cNvPr id="9" name="Rounded Rectangle 8"/>
          <p:cNvSpPr/>
          <p:nvPr/>
        </p:nvSpPr>
        <p:spPr>
          <a:xfrm>
            <a:off x="548640" y="2061972"/>
            <a:ext cx="11094415" cy="476631"/>
          </a:xfrm>
          <a:prstGeom prst="roundRect">
            <a:avLst>
              <a:gd name="adj" fmla="val 8000"/>
            </a:avLst>
          </a:prstGeom>
          <a:solidFill>
            <a:srgbClr val="F3F6F9"/>
          </a:solidFill>
          <a:ln>
            <a:noFill/>
          </a:ln>
        </p:spPr>
        <p:txBody>
          <a:bodyPr rtlCol="0" anchor="ctr"/>
          <a:lstStyle/>
          <a:p>
            <a:pPr algn="ctr"/>
          </a:p>
        </p:txBody>
      </p:sp>
      <p:sp>
        <p:nvSpPr>
          <p:cNvPr id="10" name="TextBox 9"/>
          <p:cNvSpPr txBox="1"/>
          <p:nvPr/>
        </p:nvSpPr>
        <p:spPr>
          <a:xfrm>
            <a:off x="685800" y="2029968"/>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ERP</a:t>
            </a:r>
          </a:p>
        </p:txBody>
      </p:sp>
      <p:sp>
        <p:nvSpPr>
          <p:cNvPr id="11" name="TextBox 10"/>
          <p:cNvSpPr txBox="1"/>
          <p:nvPr/>
        </p:nvSpPr>
        <p:spPr>
          <a:xfrm>
            <a:off x="3200400" y="2029968"/>
            <a:ext cx="835121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Enterprise Resource Planning</a:t>
            </a:r>
          </a:p>
          <a:p>
            <a:pPr algn="l" eaLnBrk="0">
              <a:lnSpc>
                <a:spcPct val="110000"/>
              </a:lnSpc>
            </a:pPr>
            <a:r>
              <a:rPr sz="1400" b="0">
                <a:solidFill>
                  <a:srgbClr val="1F2A3A"/>
                </a:solidFill>
                <a:latin typeface="맑은 고딕"/>
                <a:ea typeface="맑은 고딕"/>
                <a:cs typeface="맑은 고딕"/>
              </a:rPr>
              <a:t>구매 · 재고 같은 기업 자원을 한 시스템에서 관리하는 전사적 자원 관리 시스템</a:t>
            </a:r>
          </a:p>
        </p:txBody>
      </p:sp>
      <p:sp>
        <p:nvSpPr>
          <p:cNvPr id="12" name="Rounded Rectangle 11"/>
          <p:cNvSpPr/>
          <p:nvPr/>
        </p:nvSpPr>
        <p:spPr>
          <a:xfrm>
            <a:off x="548640" y="2602611"/>
            <a:ext cx="11094415" cy="476631"/>
          </a:xfrm>
          <a:prstGeom prst="roundRect">
            <a:avLst>
              <a:gd name="adj" fmla="val 8000"/>
            </a:avLst>
          </a:prstGeom>
          <a:solidFill>
            <a:srgbClr val="F3F6F9"/>
          </a:solidFill>
          <a:ln>
            <a:noFill/>
          </a:ln>
        </p:spPr>
        <p:txBody>
          <a:bodyPr rtlCol="0" anchor="ctr"/>
          <a:lstStyle/>
          <a:p>
            <a:pPr algn="ctr"/>
          </a:p>
        </p:txBody>
      </p:sp>
      <p:sp>
        <p:nvSpPr>
          <p:cNvPr id="13" name="TextBox 12"/>
          <p:cNvSpPr txBox="1"/>
          <p:nvPr/>
        </p:nvSpPr>
        <p:spPr>
          <a:xfrm>
            <a:off x="685800" y="2570607"/>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예방 정비</a:t>
            </a:r>
          </a:p>
        </p:txBody>
      </p:sp>
      <p:sp>
        <p:nvSpPr>
          <p:cNvPr id="14" name="TextBox 13"/>
          <p:cNvSpPr txBox="1"/>
          <p:nvPr/>
        </p:nvSpPr>
        <p:spPr>
          <a:xfrm>
            <a:off x="3200400" y="2570607"/>
            <a:ext cx="835121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Preventive Maintenance, PM</a:t>
            </a:r>
          </a:p>
          <a:p>
            <a:pPr algn="l" eaLnBrk="0">
              <a:lnSpc>
                <a:spcPct val="110000"/>
              </a:lnSpc>
            </a:pPr>
            <a:r>
              <a:rPr sz="1400" b="0">
                <a:solidFill>
                  <a:srgbClr val="1F2A3A"/>
                </a:solidFill>
                <a:latin typeface="맑은 고딕"/>
                <a:ea typeface="맑은 고딕"/>
                <a:cs typeface="맑은 고딕"/>
              </a:rPr>
              <a:t>고장이 나기 전에 운전시간이나 기간을 기준으로 미리 하는 정비</a:t>
            </a:r>
          </a:p>
        </p:txBody>
      </p:sp>
      <p:sp>
        <p:nvSpPr>
          <p:cNvPr id="15" name="Rounded Rectangle 14"/>
          <p:cNvSpPr/>
          <p:nvPr/>
        </p:nvSpPr>
        <p:spPr>
          <a:xfrm>
            <a:off x="548640" y="3143250"/>
            <a:ext cx="11094415" cy="476631"/>
          </a:xfrm>
          <a:prstGeom prst="roundRect">
            <a:avLst>
              <a:gd name="adj" fmla="val 8000"/>
            </a:avLst>
          </a:prstGeom>
          <a:solidFill>
            <a:srgbClr val="F3F6F9"/>
          </a:solidFill>
          <a:ln>
            <a:noFill/>
          </a:ln>
        </p:spPr>
        <p:txBody>
          <a:bodyPr rtlCol="0" anchor="ctr"/>
          <a:lstStyle/>
          <a:p>
            <a:pPr algn="ctr"/>
          </a:p>
        </p:txBody>
      </p:sp>
      <p:sp>
        <p:nvSpPr>
          <p:cNvPr id="16" name="TextBox 15"/>
          <p:cNvSpPr txBox="1"/>
          <p:nvPr/>
        </p:nvSpPr>
        <p:spPr>
          <a:xfrm>
            <a:off x="685800" y="3111246"/>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허용 오차</a:t>
            </a:r>
          </a:p>
        </p:txBody>
      </p:sp>
      <p:sp>
        <p:nvSpPr>
          <p:cNvPr id="17" name="TextBox 16"/>
          <p:cNvSpPr txBox="1"/>
          <p:nvPr/>
        </p:nvSpPr>
        <p:spPr>
          <a:xfrm>
            <a:off x="3200400" y="3111246"/>
            <a:ext cx="835121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Tolerance</a:t>
            </a:r>
          </a:p>
          <a:p>
            <a:pPr algn="l" eaLnBrk="0">
              <a:lnSpc>
                <a:spcPct val="110000"/>
              </a:lnSpc>
            </a:pPr>
            <a:r>
              <a:rPr sz="1400" b="0">
                <a:solidFill>
                  <a:srgbClr val="1F2A3A"/>
                </a:solidFill>
                <a:latin typeface="맑은 고딕"/>
                <a:ea typeface="맑은 고딕"/>
                <a:cs typeface="맑은 고딕"/>
              </a:rPr>
              <a:t>정기 정비를 시행할 수 있도록 주기 앞뒤로 정한 범위</a:t>
            </a:r>
          </a:p>
        </p:txBody>
      </p:sp>
      <p:sp>
        <p:nvSpPr>
          <p:cNvPr id="18" name="Rounded Rectangle 17"/>
          <p:cNvSpPr/>
          <p:nvPr/>
        </p:nvSpPr>
        <p:spPr>
          <a:xfrm>
            <a:off x="548640" y="3683888"/>
            <a:ext cx="11094415" cy="476631"/>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651885"/>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가용 재고</a:t>
            </a:r>
          </a:p>
        </p:txBody>
      </p:sp>
      <p:sp>
        <p:nvSpPr>
          <p:cNvPr id="20" name="TextBox 19"/>
          <p:cNvSpPr txBox="1"/>
          <p:nvPr/>
        </p:nvSpPr>
        <p:spPr>
          <a:xfrm>
            <a:off x="3200400" y="3651885"/>
            <a:ext cx="835121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Available Stock</a:t>
            </a:r>
          </a:p>
          <a:p>
            <a:pPr algn="l" eaLnBrk="0">
              <a:lnSpc>
                <a:spcPct val="110000"/>
              </a:lnSpc>
            </a:pPr>
            <a:r>
              <a:rPr sz="1400" b="0">
                <a:solidFill>
                  <a:srgbClr val="1F2A3A"/>
                </a:solidFill>
                <a:latin typeface="맑은 고딕"/>
                <a:ea typeface="맑은 고딕"/>
                <a:cs typeface="맑은 고딕"/>
              </a:rPr>
              <a:t>현재고에서 예약분을 빼고 입고 예정분을 더한, 보충 판단에 쓰는 수량</a:t>
            </a:r>
          </a:p>
        </p:txBody>
      </p:sp>
      <p:sp>
        <p:nvSpPr>
          <p:cNvPr id="21" name="Rounded Rectangle 20"/>
          <p:cNvSpPr/>
          <p:nvPr/>
        </p:nvSpPr>
        <p:spPr>
          <a:xfrm>
            <a:off x="548640" y="4224528"/>
            <a:ext cx="11094415" cy="476631"/>
          </a:xfrm>
          <a:prstGeom prst="roundRect">
            <a:avLst>
              <a:gd name="adj" fmla="val 8000"/>
            </a:avLst>
          </a:prstGeom>
          <a:solidFill>
            <a:srgbClr val="F3F6F9"/>
          </a:solidFill>
          <a:ln>
            <a:noFill/>
          </a:ln>
        </p:spPr>
        <p:txBody>
          <a:bodyPr rtlCol="0" anchor="ctr"/>
          <a:lstStyle/>
          <a:p>
            <a:pPr algn="ctr"/>
          </a:p>
        </p:txBody>
      </p:sp>
      <p:sp>
        <p:nvSpPr>
          <p:cNvPr id="22" name="TextBox 21"/>
          <p:cNvSpPr txBox="1"/>
          <p:nvPr/>
        </p:nvSpPr>
        <p:spPr>
          <a:xfrm>
            <a:off x="685800" y="4192524"/>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재주문점</a:t>
            </a:r>
          </a:p>
        </p:txBody>
      </p:sp>
      <p:sp>
        <p:nvSpPr>
          <p:cNvPr id="23" name="TextBox 22"/>
          <p:cNvSpPr txBox="1"/>
          <p:nvPr/>
        </p:nvSpPr>
        <p:spPr>
          <a:xfrm>
            <a:off x="3200400" y="4192524"/>
            <a:ext cx="835121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Reorder Point</a:t>
            </a:r>
          </a:p>
          <a:p>
            <a:pPr algn="l" eaLnBrk="0">
              <a:lnSpc>
                <a:spcPct val="110000"/>
              </a:lnSpc>
            </a:pPr>
            <a:r>
              <a:rPr sz="1400" b="0">
                <a:solidFill>
                  <a:srgbClr val="1F2A3A"/>
                </a:solidFill>
                <a:latin typeface="맑은 고딕"/>
                <a:ea typeface="맑은 고딕"/>
                <a:cs typeface="맑은 고딕"/>
              </a:rPr>
              <a:t>가용 재고가 이 수량 아래로 내려가면 다시 주문하는 기준</a:t>
            </a:r>
          </a:p>
        </p:txBody>
      </p:sp>
      <p:sp>
        <p:nvSpPr>
          <p:cNvPr id="24" name="Rounded Rectangle 23"/>
          <p:cNvSpPr/>
          <p:nvPr/>
        </p:nvSpPr>
        <p:spPr>
          <a:xfrm>
            <a:off x="548640" y="4765167"/>
            <a:ext cx="11094415" cy="476631"/>
          </a:xfrm>
          <a:prstGeom prst="roundRect">
            <a:avLst>
              <a:gd name="adj" fmla="val 8000"/>
            </a:avLst>
          </a:prstGeom>
          <a:solidFill>
            <a:srgbClr val="F3F6F9"/>
          </a:solidFill>
          <a:ln>
            <a:noFill/>
          </a:ln>
        </p:spPr>
        <p:txBody>
          <a:bodyPr rtlCol="0" anchor="ctr"/>
          <a:lstStyle/>
          <a:p>
            <a:pPr algn="ctr"/>
          </a:p>
        </p:txBody>
      </p:sp>
      <p:sp>
        <p:nvSpPr>
          <p:cNvPr id="25" name="TextBox 24"/>
          <p:cNvSpPr txBox="1"/>
          <p:nvPr/>
        </p:nvSpPr>
        <p:spPr>
          <a:xfrm>
            <a:off x="685800" y="4733163"/>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리드타임</a:t>
            </a:r>
          </a:p>
        </p:txBody>
      </p:sp>
      <p:sp>
        <p:nvSpPr>
          <p:cNvPr id="26" name="TextBox 25"/>
          <p:cNvSpPr txBox="1"/>
          <p:nvPr/>
        </p:nvSpPr>
        <p:spPr>
          <a:xfrm>
            <a:off x="3200400" y="4733163"/>
            <a:ext cx="835121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Lead Time</a:t>
            </a:r>
          </a:p>
          <a:p>
            <a:pPr algn="l" eaLnBrk="0">
              <a:lnSpc>
                <a:spcPct val="110000"/>
              </a:lnSpc>
            </a:pPr>
            <a:r>
              <a:rPr sz="1400" b="0">
                <a:solidFill>
                  <a:srgbClr val="1F2A3A"/>
                </a:solidFill>
                <a:latin typeface="맑은 고딕"/>
                <a:ea typeface="맑은 고딕"/>
                <a:cs typeface="맑은 고딕"/>
              </a:rPr>
              <a:t>발주부터 입고까지 걸리는 시간</a:t>
            </a:r>
          </a:p>
        </p:txBody>
      </p:sp>
      <p:sp>
        <p:nvSpPr>
          <p:cNvPr id="27" name="Rounded Rectangle 26"/>
          <p:cNvSpPr/>
          <p:nvPr/>
        </p:nvSpPr>
        <p:spPr>
          <a:xfrm>
            <a:off x="548640" y="5305806"/>
            <a:ext cx="11094415" cy="476631"/>
          </a:xfrm>
          <a:prstGeom prst="roundRect">
            <a:avLst>
              <a:gd name="adj" fmla="val 8000"/>
            </a:avLst>
          </a:prstGeom>
          <a:solidFill>
            <a:srgbClr val="F3F6F9"/>
          </a:solidFill>
          <a:ln>
            <a:noFill/>
          </a:ln>
        </p:spPr>
        <p:txBody>
          <a:bodyPr rtlCol="0" anchor="ctr"/>
          <a:lstStyle/>
          <a:p>
            <a:pPr algn="ctr"/>
          </a:p>
        </p:txBody>
      </p:sp>
      <p:sp>
        <p:nvSpPr>
          <p:cNvPr id="28" name="TextBox 27"/>
          <p:cNvSpPr txBox="1"/>
          <p:nvPr/>
        </p:nvSpPr>
        <p:spPr>
          <a:xfrm>
            <a:off x="685800" y="5273802"/>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입고 검사</a:t>
            </a:r>
          </a:p>
        </p:txBody>
      </p:sp>
      <p:sp>
        <p:nvSpPr>
          <p:cNvPr id="29" name="TextBox 28"/>
          <p:cNvSpPr txBox="1"/>
          <p:nvPr/>
        </p:nvSpPr>
        <p:spPr>
          <a:xfrm>
            <a:off x="3200400" y="5273802"/>
            <a:ext cx="835121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Incoming Inspection</a:t>
            </a:r>
          </a:p>
          <a:p>
            <a:pPr algn="l" eaLnBrk="0">
              <a:lnSpc>
                <a:spcPct val="110000"/>
              </a:lnSpc>
            </a:pPr>
            <a:r>
              <a:rPr sz="1400" b="0">
                <a:solidFill>
                  <a:srgbClr val="1F2A3A"/>
                </a:solidFill>
                <a:latin typeface="맑은 고딕"/>
                <a:ea typeface="맑은 고딕"/>
                <a:cs typeface="맑은 고딕"/>
              </a:rPr>
              <a:t>들어온 물품의 수량 · 로트 · 품질을 확인해 입고를 확정하는 검사</a:t>
            </a:r>
          </a:p>
        </p:txBody>
      </p:sp>
      <p:sp>
        <p:nvSpPr>
          <p:cNvPr id="30" name="Rounded Rectangle 29"/>
          <p:cNvSpPr/>
          <p:nvPr/>
        </p:nvSpPr>
        <p:spPr>
          <a:xfrm>
            <a:off x="548640" y="5846445"/>
            <a:ext cx="11094415" cy="476631"/>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814441"/>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패턴</a:t>
            </a:r>
          </a:p>
        </p:txBody>
      </p:sp>
      <p:sp>
        <p:nvSpPr>
          <p:cNvPr id="32" name="TextBox 31"/>
          <p:cNvSpPr txBox="1"/>
          <p:nvPr/>
        </p:nvSpPr>
        <p:spPr>
          <a:xfrm>
            <a:off x="3200400" y="5814441"/>
            <a:ext cx="835121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Pattern</a:t>
            </a:r>
          </a:p>
          <a:p>
            <a:pPr algn="l" eaLnBrk="0">
              <a:lnSpc>
                <a:spcPct val="110000"/>
              </a:lnSpc>
            </a:pPr>
            <a:r>
              <a:rPr sz="1400" b="0">
                <a:solidFill>
                  <a:srgbClr val="1F2A3A"/>
                </a:solidFill>
                <a:latin typeface="맑은 고딕"/>
                <a:ea typeface="맑은 고딕"/>
                <a:cs typeface="맑은 고딕"/>
              </a:rPr>
              <a:t>되풀이되는 설계 문제에 다시 쓰도록 검증해 둔 구조</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배운 내용을 바탕으로 정답을 맞혀 보세요.</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1. 정비 오더가 남은 정기 점검 처리 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정기 점검 처리 건이 COMPLETED · E_end로 닫혔고, 결과 보고에 「정비 오더 등록 · 생산팀 공지」가 남았다.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36</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다음 교대에 넘길 판단으로 맞는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정기 정비가 끝났으니 HYD-02의 운전시간 계수기는 0이다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오더가 배정되고 공지가 나갔으며, 예정된 정비 시간의 시행과 시운전 확인이 남았다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도래 표시가 꺼졌으니 HYD-02는 더 확인할 것이 없다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시행을 확정하려고 같은 오더를 한 번 더 등록한다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2. 거절된 처리 건의 결과를 가리는 근거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재고 보충 처리 건 둘이 이어서 열려 앞 건은 승인, 뒤 건은 거절로 닫혔고, 재고 표의 씰 키트는 9개다.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37</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뒤 건의 결과를 판정할 근거로 맞는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재고 표의 현재고 9개</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처리 건의 상태 COMPLETED</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보충 필요 표시가 꺼져 있다는 것</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뒤 건의 기록에 발주 · 입고 번호가 없고 끝 이벤트가 E_rejected라는 것</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3. 전결 기준을 넘은 발주안</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재고 보충 추천안이 B-OEM 6개 · 330만원이고, 발주안에 전결 기준 300만원 초과가 표시되었다.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38</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이 처리 건에서 맞는 처리는?</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구매 담당이 한 번 승인하고, 결과 보고를 구매팀장에게도 보낸다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300만원 아래가 되도록 3개씩 두 건으로 나눠 발주한다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에이전트가 기준 초과를 보고 A정밀로 바꿔 발주한다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구매팀장 승인이 없으니 등록 전 검사가 이 처리 건을 막는다</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세 문항은 오더 등록의 해석, 결과를 가리는 근거, 금액 전결의 책임을 바른 기록과 규정으로 가리는지 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39</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오더 등록은 배정 · 공지까지다. 정비 완료는 시행 · 시운전 정상 · 계수기 0의 기록으로 본다.</a:t>
            </a:r>
          </a:p>
        </p:txBody>
      </p:sp>
      <p:sp>
        <p:nvSpPr>
          <p:cNvPr id="13" name="TextBox 12"/>
          <p:cNvSpPr txBox="1"/>
          <p:nvPr/>
        </p:nvSpPr>
        <p:spPr>
          <a:xfrm>
            <a:off x="9448495" y="2820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2번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재고 수와 표시는 여러 건의 결과가 섞인다. 그 처리 건의 끝 이벤트와 번호로 판정한다.</a:t>
            </a:r>
          </a:p>
        </p:txBody>
      </p:sp>
      <p:sp>
        <p:nvSpPr>
          <p:cNvPr id="17" name="TextBox 16"/>
          <p:cNvSpPr txBox="1"/>
          <p:nvPr/>
        </p:nvSpPr>
        <p:spPr>
          <a:xfrm>
            <a:off x="9448495" y="37353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4번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초과는 표시와 보고의 대상이고 승인은 구매 담당 한 번이다. 나눠 발주하지 않고 에이전트는 제안까지 한다.</a:t>
            </a:r>
          </a:p>
        </p:txBody>
      </p:sp>
      <p:sp>
        <p:nvSpPr>
          <p:cNvPr id="21" name="TextBox 20"/>
          <p:cNvSpPr txBox="1"/>
          <p:nvPr/>
        </p:nvSpPr>
        <p:spPr>
          <a:xfrm>
            <a:off x="9448495" y="4649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1번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