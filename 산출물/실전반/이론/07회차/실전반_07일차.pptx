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제목 → 부제 → 아이콘 셋(정비 · 부품 · 확인)</a:t>
            </a:r>
          </a:p>
          <a:p>
            <a:r>
              <a:t>· 앞에서 그린 긴급 대응 프로세스: 경보 한 건을 승인과 실행까지</a:t>
            </a:r>
          </a:p>
          <a:p>
            <a:r>
              <a:t>· 경보 말고도 일을 여는 사건: 운전시간이 찬 정기 점검, 모자란 예비품</a:t>
            </a:r>
          </a:p>
          <a:p>
            <a:r>
              <a:t>· 물음 1: 이 업무들도 같은 승인 구조로 돌릴 수 있나</a:t>
            </a:r>
          </a:p>
          <a:p>
            <a:r>
              <a:t>· 물음 2: 프로세스가 끝났다고 표시될 때 정비와 입고는 정말 끝났나</a:t>
            </a:r>
          </a:p>
          <a:p>
            <a:r>
              <a:t>· 이번 회차 내내 기록으로 「어디까지 끝났는지」를 가른다</a:t>
            </a:r>
          </a:p>
          <a:p>
            <a:r>
              <a:t>[다음] 네 가지 목표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네 장 왼쪽부터 → 꼬리표 → 강조한 넷째 카드</a:t>
            </a:r>
          </a:p>
          <a:p>
            <a:r>
              <a:t>· 1 시작과 끝: 정기 점검 도래 · 재고 부족이 여는 프로세스, 오더 등록 vs 정비 완료, 발주 vs 입고</a:t>
            </a:r>
          </a:p>
          <a:p>
            <a:r>
              <a:t>· 2 기록 읽기: 승인 블록 재사용, 바뀌는 값, 상태 · 배포 · 오류 · 반려</a:t>
            </a:r>
          </a:p>
          <a:p>
            <a:r>
              <a:t>· 3 설계와 실행: 두 프로세스를 그리고 준비된 시나리오로 실행, 같은 처리 건에서 대조</a:t>
            </a:r>
          </a:p>
          <a:p>
            <a:r>
              <a:t>· 4 검증: 지식에서 업무 기록까지, 다음 담당자에게 남는 미완료를 근거와 함께</a:t>
            </a:r>
          </a:p>
          <a:p>
            <a:r>
              <a:t>[다음] 순서는 목차로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여섯 줄 위에서 아래로, 오른쪽 이론 · 실습 꼬리표</a:t>
            </a:r>
          </a:p>
          <a:p>
            <a:r>
              <a:t>· 01 세 업무의 시작 조건과 끝나는 지점(이론)</a:t>
            </a:r>
          </a:p>
          <a:p>
            <a:r>
              <a:t>· 02 정의 재사용과 실행 기록 읽기(이론)</a:t>
            </a:r>
          </a:p>
          <a:p>
            <a:r>
              <a:t>· 03 정기 점검 작도 · 실행(실습 1~2), 04 재고 보충 작도 · 실행(실습 3~4)</a:t>
            </a:r>
          </a:p>
          <a:p>
            <a:r>
              <a:t>· 05 설계 · 실행 · 검증의 정리, 06 용어 · 복습 · 퀴즈</a:t>
            </a:r>
          </a:p>
          <a:p>
            <a:r>
              <a:t>· 실습 넷은 같은 승인 구조 위에서 이어진다</a:t>
            </a:r>
          </a:p>
          <a:p>
            <a:r>
              <a:t>[다음] 첫 단원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01 → 제목 → 부제</a:t>
            </a:r>
          </a:p>
          <a:p>
            <a:r>
              <a:t>· 정기 점검 도래 · 재고 부족은 센서가 아니라 업무 데이터에서 시작</a:t>
            </a:r>
          </a:p>
          <a:p>
            <a:r>
              <a:t>· 물음: 무엇이 프로세스를 여는가, 끝 이벤트에 닿으면 업무는 어디까지 됐나</a:t>
            </a:r>
          </a:p>
          <a:p>
            <a:r>
              <a:t>· 다룰 것: 세 업무 비교, 운전시간 계수기, 가용 재고 계산, 같은 형식의 경보, 정비 예약 → 재고 보충, 프로세스의 끝 vs 업무의 끝, 발주 중 vs 입고</a:t>
            </a:r>
          </a:p>
          <a:p>
            <a:r>
              <a:t>· 끝: 재고 수량 판단 문제</a:t>
            </a:r>
          </a:p>
          <a:p>
            <a:r>
              <a:t>[다음] 세 업무를 한 표에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위 세 줄(업무별) → 오른쪽 칸 → 강조한 넷째 줄</a:t>
            </a:r>
          </a:p>
          <a:p>
            <a:r>
              <a:t>· 긴급 대응: HYD-01 쿨러 성능 저하(센서 규칙) → 냉각 긴급 대응 에이전트 → 운전원 → SCADA · CMMS</a:t>
            </a:r>
          </a:p>
          <a:p>
            <a:r>
              <a:t>· 정기 점검: HYD-02 PM_DUE(운전시간) → 정기 정비 계획 에이전트 → 설비보전팀장 → CMMS · 메일</a:t>
            </a:r>
          </a:p>
          <a:p>
            <a:r>
              <a:t>· 재고 보충: 씰 키트 SPARE_BELOW_MIN(가용 재고) → 예비품 구매 에이전트 → 구매 담당 → ERP · 메일</a:t>
            </a:r>
          </a:p>
          <a:p>
            <a:r>
              <a:t>· ERP(Enterprise Resource Planning): 구매 · 재고 같은 회사 자원을 한 시스템에서 관리</a:t>
            </a:r>
          </a:p>
          <a:p>
            <a:r>
              <a:t>· 남는 결과가 다르다: 명령 · 작업지시/오더 · 공지/발주 · 입고</a:t>
            </a:r>
          </a:p>
          <a:p>
            <a:r>
              <a:t>· 같은 것: 경보 → 제안 → 승인 · 거절 → 처리 → 결과 보고, 효과는 승인 뒤에만</a:t>
            </a:r>
          </a:p>
          <a:p>
            <a:r>
              <a:t>[다음] 정기 점검은 무엇으로 시작하나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흐름 다섯 칸 왼쪽부터 → 강조한 둘째 칸 1,950 h → 마지막 칸</a:t>
            </a:r>
          </a:p>
          <a:p>
            <a:r>
              <a:t>· 예방 정비(Preventive Maintenance, PM): 고장 전에 운전시간 · 기간 기준으로 미리 하는 정비</a:t>
            </a:r>
          </a:p>
          <a:p>
            <a:r>
              <a:t>· 값은 수업 가상 회사의 설정, 특정 제조사 기준 아님</a:t>
            </a:r>
          </a:p>
          <a:p>
            <a:r>
              <a:t>· 1,950 h에 도래 경보 PM_DUE: 주기 2,000 h보다 50 h 앞서 처리 건이 열림</a:t>
            </a:r>
          </a:p>
          <a:p>
            <a:r>
              <a:t>· 도래 = 시행이 아니라 계획을 시작하라는 신호</a:t>
            </a:r>
          </a:p>
          <a:p>
            <a:r>
              <a:t>· 허용 오차 1,800 ~ 2,200 h 안에서 시행 시점을 고름, 상한 넘는 일정은 후보에서 뺌</a:t>
            </a:r>
          </a:p>
          <a:p>
            <a:r>
              <a:t>· 계수기 0은 오더를 냈을 때가 아니라 정비 · 시운전 정상 뒤</a:t>
            </a:r>
          </a:p>
          <a:p>
            <a:r>
              <a:t>· 경보 · 오더 · 정비 완료는 서로 다른 시점</a:t>
            </a:r>
          </a:p>
          <a:p>
            <a:r>
              <a:t>[다음] 재고 부족은 계산으로 열린다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계산 위에서 아래로 → 오른쪽 항목 넷</a:t>
            </a:r>
          </a:p>
          <a:p>
            <a:r>
              <a:t>· 가용 재고(Available Stock) = 현재고 - 정비 예약 + 발주 중 = 3 - 2 + 0 = 1</a:t>
            </a:r>
          </a:p>
          <a:p>
            <a:r>
              <a:t>· 재주문점(Reorder Point) 2: 1 &lt; 2 → 경보, 재고 보충 처리 건이 열림</a:t>
            </a:r>
          </a:p>
          <a:p>
            <a:r>
              <a:t>· 필요 수량 = 목표 재고 7 - 가용 1 = 6 → 발주안의 수량</a:t>
            </a:r>
          </a:p>
          <a:p>
            <a:r>
              <a:t>· 재주문점 = 언제 주문할지, 목표 재고 = 어디까지 채울지, 다른 선</a:t>
            </a:r>
          </a:p>
          <a:p>
            <a:r>
              <a:t>· 0이 되기 전에 주문: 오는 동안에도 정비에 쓸 몫이 필요</a:t>
            </a:r>
          </a:p>
          <a:p>
            <a:r>
              <a:t>· 두 선은 구매 규정에 있고 에이전트는 이 식으로 계산</a:t>
            </a:r>
          </a:p>
          <a:p>
            <a:r>
              <a:t>[다음] 이 경보가 실제로 도착하는 모양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코드 세 묶음(센서 · 정기 점검 · 재고) → 받는 쪽 두 줄 → 오른쪽 항목 넷</a:t>
            </a:r>
          </a:p>
          <a:p>
            <a:r>
              <a:t>· 쿨러 성능 저하는 센서 값의 규칙, 감지기가 냄</a:t>
            </a:r>
          </a:p>
          <a:p>
            <a:r>
              <a:t>· 정기 점검 도래 · 재고 부족은 업무 데이터의 규칙, 번호 앞머리 CMMS · ERP = 낸 업무 시스템</a:t>
            </a:r>
          </a:p>
          <a:p>
            <a:r>
              <a:t>· 칸이 같다(번호 · 패턴 · 대상) → 메시지 시작 이벤트 하나로 세 프로세스가 열림</a:t>
            </a:r>
          </a:p>
          <a:p>
            <a:r>
              <a:t>· 중복 방지: 같은 경보 번호로 이미 열린 처리 건이 있으면 새로 열지 않음 → 같은 발주 두 번 방지</a:t>
            </a:r>
          </a:p>
          <a:p>
            <a:r>
              <a:t>· 번호가 다른 요청까지 묶어 주지는 않음, 다시 보낼 땐 열린 처리 건부터 확인</a:t>
            </a:r>
          </a:p>
          <a:p>
            <a:r>
              <a:t>· 수업: 업무 감시는 꺼 두고 포털 버튼이 같은 형식의 경보를 대신 냄(켜 두면 누르기 전에 열림)</a:t>
            </a:r>
          </a:p>
          <a:p>
            <a:r>
              <a:t>[다음] 두 시작 조건은 이어져 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관계도 위(정비) → 오른쪽 가운데(씰 키트 가용 재고) → 아래(구매) → 점선</a:t>
            </a:r>
          </a:p>
          <a:p>
            <a:r>
              <a:t>· 정비 계획 승인 → 정비 오더 등록, 정비 지침이 씰 키트 · 리턴 필터 출고 예약을 정함</a:t>
            </a:r>
          </a:p>
          <a:p>
            <a:r>
              <a:t>· 예약은 아직 꺼낸 게 아니지만 가용 재고 식에서는 바로 빠짐</a:t>
            </a:r>
          </a:p>
          <a:p>
            <a:r>
              <a:t>· 재주문점 아래로 내려가면 재고 부족 경보를 낼 조건, 수업에서는 이 경보도 버튼이 대신</a:t>
            </a:r>
          </a:p>
          <a:p>
            <a:r>
              <a:t>· 정비 지침: 씰 키트 가용 3개 미만이면 계획 제안에 구매 경보 예정 표시</a:t>
            </a:r>
          </a:p>
          <a:p>
            <a:r>
              <a:t>· 점선: 발주 · 입고가 가용 재고를 다시 올림</a:t>
            </a:r>
          </a:p>
          <a:p>
            <a:r>
              <a:t>· 정비 승인자는 부품까지, 구매 승인자는 예약된 정비까지 함께 본다</a:t>
            </a:r>
          </a:p>
          <a:p>
            <a:r>
              <a:t>[다음] 끝 이벤트에 닿으면 업무도 끝났나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 → 가운데 칸(끝 이벤트까지 기록된 것) → 오른쪽 칸(업무가 끝났다고 보는 기준)</a:t>
            </a:r>
          </a:p>
          <a:p>
            <a:r>
              <a:t>· 긴급 대응: 팬 명령 · 재관측 정상 뒤 작업지시 등록(배정됨) ≠ 핀 세척 완료</a:t>
            </a:r>
          </a:p>
          <a:p>
            <a:r>
              <a:t>· 정기 점검: 오더 등록(배정됨) · 출고 예약 · 공지에서 끝 ≠ 정비 완료, 완료는 시행 · 시운전 정상 · 계수기 0</a:t>
            </a:r>
          </a:p>
          <a:p>
            <a:r>
              <a:t>· 업무 시스템도 오더 완료는 별도 거래, 현장 점검 · 시운전 확인 없으면 거절</a:t>
            </a:r>
          </a:p>
          <a:p>
            <a:r>
              <a:t>· 재고 보충: 수업은 같은 처리 건에서 즉시 입고(시뮬레이션), 현실은 수량 일치 · 로트 · 입고 검사 합격</a:t>
            </a:r>
          </a:p>
          <a:p>
            <a:r>
              <a:t>· 끝 이벤트 = 프로세스가 맡은 처리의 끝, 업무 완료는 업무 기준으로</a:t>
            </a:r>
          </a:p>
          <a:p>
            <a:r>
              <a:t>[다음] 가장 헷갈리는 발주 중 수량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시점 위에서 아래 → 강조한 둘째 줄 → 오른쪽 칸</a:t>
            </a:r>
          </a:p>
          <a:p>
            <a:r>
              <a:t>· 경보 때: 3 · 2 · 0 → 가용 1, 꺼낼 수 있는 수 1, 보충 필요 표시 켜짐</a:t>
            </a:r>
          </a:p>
          <a:p>
            <a:r>
              <a:t>· 발주 뒤 · 입고 전: 3 · 2 · 6 → 가용 7, 표시 꺼짐, 그래도 꺼낼 수 있는 수는 1</a:t>
            </a:r>
          </a:p>
          <a:p>
            <a:r>
              <a:t>· 입고 · 검사 뒤: 9 · 2 · 0 → 가용 7, 꺼낼 수 있는 수 7</a:t>
            </a:r>
          </a:p>
          <a:p>
            <a:r>
              <a:t>· 리드타임(Lead Time): 발주부터 입고까지, B-OEM 납기 5일 → 현실은 닷새쯤 둘째 줄</a:t>
            </a:r>
          </a:p>
          <a:p>
            <a:r>
              <a:t>· 수업은 즉시 입고라 둘째 줄이 순간에 지나감</a:t>
            </a:r>
          </a:p>
          <a:p>
            <a:r>
              <a:t>· 표시가 꺼진 것 ≠ 물건이 들어온 것</a:t>
            </a:r>
          </a:p>
          <a:p>
            <a:r>
              <a:t>[다음] 단원 판단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상황(6개 발주 승인 · 표시 꺼짐 · 현실 물류라 미입고) → 물음(오늘 밤 2개 더) → 보기 넷 → 20초</a:t>
            </a:r>
          </a:p>
          <a:p>
            <a:r>
              <a:t>· 정답 2: 꺼낼 수 있는 것은 예약 외 1개, 2개면 입고 예정일 · 입고 검사부터 확인</a:t>
            </a:r>
          </a:p>
          <a:p>
            <a:r>
              <a:t>· 1: 가용 7에는 아직 안 온 6개가 들어 있음</a:t>
            </a:r>
          </a:p>
          <a:p>
            <a:r>
              <a:t>· 3: 꺼진 표시를 입고로 읽음 → 다음 담당자가 없는 물건을 믿고 일정을 잡음</a:t>
            </a:r>
          </a:p>
          <a:p>
            <a:r>
              <a:t>· 4: 가용 재고가 이미 목표 7에 닿아 발주 수량 식에 안 맞음</a:t>
            </a:r>
          </a:p>
          <a:p>
            <a:r>
              <a:t>· 필요한 날까지 입고 · 검사가 끝나는지가 일정 약속의 조건</a:t>
            </a:r>
          </a:p>
          <a:p>
            <a:r>
              <a:t>[다음] 둘째 단원, 정의 재사용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02 → 제목 → 부제</a:t>
            </a:r>
          </a:p>
          <a:p>
            <a:r>
              <a:t>· 물음: 두 업무의 프로세스를 처음부터 새로 설계해야 하나</a:t>
            </a:r>
          </a:p>
          <a:p>
            <a:r>
              <a:t>· 긴급 대응의 승인 블록으로 확인</a:t>
            </a:r>
          </a:p>
          <a:p>
            <a:r>
              <a:t>· 처리 건이 여럿일 때: 어느 정의로 열렸나, 무엇으로 끝났나, 거절 · 오류는 어떻게 남나</a:t>
            </a:r>
          </a:p>
          <a:p>
            <a:r>
              <a:t>· 다룰 것: 처음부터 그릴 때의 문제, 패턴, 구조와 값, 요구 변경, 정의 셋, 배포, 상태 · 오류 · 반려, 실행 기록</a:t>
            </a:r>
          </a:p>
          <a:p>
            <a:r>
              <a:t>[다음] 처음부터 따로 그리면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 → 꼬리표 → 강조한 넷째 카드</a:t>
            </a:r>
          </a:p>
          <a:p>
            <a:r>
              <a:t>· 승인이 제각각: 거절 · 무응답 경로가 그리는 사람마다, 확인한 거절 경로가 빠지기도</a:t>
            </a:r>
          </a:p>
          <a:p>
            <a:r>
              <a:t>· 읽는 법이 는다: 승인 대기 · 종결 기준을 프로세스마다 다시 익힘</a:t>
            </a:r>
          </a:p>
          <a:p>
            <a:r>
              <a:t>· 고칠 곳이 흩어진다: 승인 기한 하나 바꿔도 그림마다 다른 자리</a:t>
            </a:r>
          </a:p>
          <a:p>
            <a:r>
              <a:t>· 셋일 땐 견딜 만, 열 · 스무 개면 커진다</a:t>
            </a:r>
          </a:p>
          <a:p>
            <a:r>
              <a:t>· 그래서 같은 뼈대부터: 경보 → 제안 → 승인 · 거절 → 처리 → 결과 보고</a:t>
            </a:r>
          </a:p>
          <a:p>
            <a:r>
              <a:t>[다음] 뼈대가 같으면 승인 자리도 같게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 → 강조한 셋째 줄(승인 블록) → 오른쪽 열</a:t>
            </a:r>
          </a:p>
          <a:p>
            <a:r>
              <a:t>· 승인 블록: 승인 작업 · 승인? 갈림 · 지연 타이머 · 지연 알림 · 알림 끝 · 거절 보고 · 거절 종결, 일곱 요소를 묶어 부르는 이름</a:t>
            </a:r>
          </a:p>
          <a:p>
            <a:r>
              <a:t>· 세 프로세스에서 구조 그대로, 연결 값(기한 10분 · 승인 조건)도 같은 값, 바뀌는 건 승인 역할뿐</a:t>
            </a:r>
          </a:p>
          <a:p>
            <a:r>
              <a:t>· 시작 이벤트 · 제안 작업은 값만, 새로 그리는 건 승인 뒤 작업</a:t>
            </a:r>
          </a:p>
          <a:p>
            <a:r>
              <a:t>· 결과 보고는 같은 부품, 결과 값(정상 · 입고 완료 · 반려 · 승인 지연)만 다름, 반려 = 거절했을 때 남는 값</a:t>
            </a:r>
          </a:p>
          <a:p>
            <a:r>
              <a:t>· 패턴(Pattern): 되풀이되는 설계 문제를 한 번 풀어 검증해 둔 구조</a:t>
            </a:r>
          </a:p>
          <a:p>
            <a:r>
              <a:t>· 재사용 전에 새 업무의 승인 역할 · 기한이 같은 정책인지 확인</a:t>
            </a:r>
          </a:p>
          <a:p>
            <a:r>
              <a:t>[다음] 구조와 값으로 다시 정리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칸(그림의 구조) → 강조한 오른쪽 칸(연결 값) → 오른쪽 마지막 줄</a:t>
            </a:r>
          </a:p>
          <a:p>
            <a:r>
              <a:t>· 구조: 제안 → 승인 · 거절 → 처리 → 결과 보고, 승인 블록 일곱 요소와 자리, 거절 · 무응답 경로, 효과 작업은 승인 갈림 뒤</a:t>
            </a:r>
          </a:p>
          <a:p>
            <a:r>
              <a:t>· 값: 시작 경보 패턴, 에이전트 · 지시문, 승인 역할, 승인 뒤 작업이 부르는 시스템 · 메일</a:t>
            </a:r>
          </a:p>
          <a:p>
            <a:r>
              <a:t>· 거절 보고: 같은 요소, 문구만 업무마다</a:t>
            </a:r>
          </a:p>
          <a:p>
            <a:r>
              <a:t>· 기한 10분 · 승인 조건도 연결 값: 그림 타이머엔 기한이, 갈림 선엔 조건식이 없다</a:t>
            </a:r>
          </a:p>
          <a:p>
            <a:r>
              <a:t>· HYD의 나눔 방식이지 BPMN 표준의 규정은 아님, 빠진 값 없이 실행 가능한 정의가 핵심</a:t>
            </a:r>
          </a:p>
          <a:p>
            <a:r>
              <a:t>[다음] 요구가 바뀔 때 고칠 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줄(가정) → 가운데 칸 → 오른쪽 가름(연결 값 · 구조 변경 · 원칙 위반)</a:t>
            </a:r>
          </a:p>
          <a:p>
            <a:r>
              <a:t>· 기한 10분 → 30분: 연결 값만, 그림 그대로, 세 업무가 같은 값이라 셋 다 바꿀지 정함</a:t>
            </a:r>
          </a:p>
          <a:p>
            <a:r>
              <a:t>· 300만원 넘는 발주에 구매팀장 승인: 금액 갈림 + 둘째 승인을 그려 발주를 두 승인 뒤에 → 구조 변경, 새 판본 배포</a:t>
            </a:r>
          </a:p>
          <a:p>
            <a:r>
              <a:t>· 지금 규정은 초과 표시와 팀장 보고뿐, 승인은 구매 담당 한 번</a:t>
            </a:r>
          </a:p>
          <a:p>
            <a:r>
              <a:t>· 정비 오더를 승인 전에: 받지 않음, 효과 작업은 승인 갈림 뒤, 등록 전 검사가 거절</a:t>
            </a:r>
          </a:p>
          <a:p>
            <a:r>
              <a:t>· 순서: 연결 값인가 → 구조인가 → 원칙에 걸리나</a:t>
            </a:r>
          </a:p>
          <a:p>
            <a:r>
              <a:t>[다음] 정의가 셋일 때 경보의 행선지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줄(패턴 → 정의 · 판본 → 처리 건) → 강조한 넷째 줄</a:t>
            </a:r>
          </a:p>
          <a:p>
            <a:r>
              <a:t>· COOLER_DEGRADATION → c3_cooling, PM_DUE → c3_pm, SPARE_BELOW_MIN → c3_spare, 기록에선 셋 다 판본 9</a:t>
            </a:r>
          </a:p>
          <a:p>
            <a:r>
              <a:t>· 처리 건 번호 앞부분 = 정의 이름, 정확히는 처리 건에 기록된 정의와 판본</a:t>
            </a:r>
          </a:p>
          <a:p>
            <a:r>
              <a:t>· 처리 건에 자신을 연 경보 번호도 남음 → 거꾸로 찾아감</a:t>
            </a:r>
          </a:p>
          <a:p>
            <a:r>
              <a:t>· 처리 건끼리 섞이지 않음, 정의마다 따로 진행</a:t>
            </a:r>
          </a:p>
          <a:p>
            <a:r>
              <a:t>· 한 건이 승인 대기여도 다른 건은 먼저 끝날 수 있다 → 업무별로 나눠 읽기</a:t>
            </a:r>
          </a:p>
          <a:p>
            <a:r>
              <a:t>[다음] 정기 점검 한 건을 그림으로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관계도 윗줄 왼쪽부터(경보 → c3_pm 판본 9 → 처리 건) → 아래 점선(새 판본) → 아래 오른쪽(정비 오더)</a:t>
            </a:r>
          </a:p>
          <a:p>
            <a:r>
              <a:t>· 경보 패턴을 받는 배포된 정의 가운데 가장 최근 배포가 처리 건을 연다</a:t>
            </a:r>
          </a:p>
          <a:p>
            <a:r>
              <a:t>· 기록을 읽을 때 맨 먼저: 어느 정의의 몇 번 판본이 열었나</a:t>
            </a:r>
          </a:p>
          <a:p>
            <a:r>
              <a:t>· 등록만 한 새 판본은 경보를 받지 않음, 배포해야 행선지가 바뀐다</a:t>
            </a:r>
          </a:p>
          <a:p>
            <a:r>
              <a:t>· 실습의 처리 건도 준비된 정기 점검 정의의 인스턴스 → 내 그림과는 작업 단위로 대조</a:t>
            </a:r>
          </a:p>
          <a:p>
            <a:r>
              <a:t>· 오더 WO-1010-5DDD는 승인 뒤 등록한 결과, 오더 번호와 처리 건 번호를 짝으로 적기</a:t>
            </a:r>
          </a:p>
          <a:p>
            <a:r>
              <a:t>[다음] 등록 · 배포 · 되돌리기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위 세 줄(정의에 하는 동작) → 강조한 넷째 줄(이미 열린 처리 건)</a:t>
            </a:r>
          </a:p>
          <a:p>
            <a:r>
              <a:t>· 등록: 새 판본 저장, 지금 흐름은 그대로, 운영은 안 바뀜</a:t>
            </a:r>
          </a:p>
          <a:p>
            <a:r>
              <a:t>· 배포: 그 판본이 경보를 받음, 같은 패턴이 여럿이면 가장 최근 배포</a:t>
            </a:r>
          </a:p>
          <a:p>
            <a:r>
              <a:t>· 공용 공간: 마지막에 배포한 사람의 흐름이 경보를 가져감</a:t>
            </a:r>
          </a:p>
          <a:p>
            <a:r>
              <a:t>· 되돌리기: 같은 사용 공간의 사용자 흐름을 모두 내리고 기준 흐름으로, 내 것만이 아님 → 운영자와 시점 맞추기</a:t>
            </a:r>
          </a:p>
          <a:p>
            <a:r>
              <a:t>· 처리 건은 열릴 때 판본 고정, 끝까지 그 판본, 바뀐 판본은 다음 경보부터 → 번호와 판본을 함께 기록</a:t>
            </a:r>
          </a:p>
          <a:p>
            <a:r>
              <a:t>[다음] 처리 건의 상태 읽기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여섯 줄 → 가운데 열(기록 값) → 오른쪽 열(업무로 읽으면) → 강조한 마지막 줄</a:t>
            </a:r>
          </a:p>
          <a:p>
            <a:r>
              <a:t>· 승인 대기: RUNNING · 승인 작업 IN_PROGRESS</a:t>
            </a:r>
          </a:p>
          <a:p>
            <a:r>
              <a:t>· 승인 지연: 기한 10분 뒤 지연 알림만, RUNNING 그대로, 자동 취소 · 자동 거절 없음</a:t>
            </a:r>
          </a:p>
          <a:p>
            <a:r>
              <a:t>· 거절: COMPLETED · E_rejected · 결과 반려(행위는 거절, 기록 값은 반려), 오더 · 발주 없음, 도래 · 보충 표시 남음</a:t>
            </a:r>
          </a:p>
          <a:p>
            <a:r>
              <a:t>· 승인 뒤 끝: COMPLETED · E_end · 정상 또는 입고 완료, 업무 완료는 따로</a:t>
            </a:r>
          </a:p>
          <a:p>
            <a:r>
              <a:t>· 에이전트 단계 실패: 실패 사유, 단계 열린 채 RUNNING, 저절로 안 넘어감</a:t>
            </a:r>
          </a:p>
          <a:p>
            <a:r>
              <a:t>· 사람이 닫음: COMPLETED · closed-by-human · 결과 보고 없음 → 업무는 처리 안 됨</a:t>
            </a:r>
          </a:p>
          <a:p>
            <a:r>
              <a:t>· COMPLETED ≠ 성공, 끝 이벤트 · 결과 보고 · 멈춘 단계의 사유로 가린다</a:t>
            </a:r>
          </a:p>
          <a:p>
            <a:r>
              <a:t>[다음] 끝난 처리 건 하나의 실제 기록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기록 발췌 위에서 아래로 → 오른쪽 항목 넷</a:t>
            </a:r>
          </a:p>
          <a:p>
            <a:r>
              <a:t>· 발췌: 재고 보충 승인 건, 에이전트 이벤트 뺌, 괄호 줄은 단계 이름</a:t>
            </a:r>
          </a:p>
          <a:p>
            <a:r>
              <a:t>· 버튼 경보 → 발주안 판단 번호 DEC-1010-048-618d(6개 · B-OEM · 330만원)</a:t>
            </a:r>
          </a:p>
          <a:p>
            <a:r>
              <a:t>· 승인의 책임: 승인 접수 줄에 역할과 판단 번호가 함께, 다음 줄은 승인 전달 기록</a:t>
            </a:r>
          </a:p>
          <a:p>
            <a:r>
              <a:t>· 효과의 번호: 발주 PR-1010-83F3 · 입고 GR-1010-4EE3 · 로트로 ERP 기록을 다시 찾아 대조</a:t>
            </a:r>
          </a:p>
          <a:p>
            <a:r>
              <a:t>· 바로 입고: 수업 설정이라는 표시가 따로 남음</a:t>
            </a:r>
          </a:p>
          <a:p>
            <a:r>
              <a:t>· 메일은 발송 기록일 뿐, 공급사가 읽었는지는 이 줄로 모름</a:t>
            </a:r>
          </a:p>
          <a:p>
            <a:r>
              <a:t>[다음] 단원 판단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상황(에이전트 단계가 멈춰 담당자가 닫음 → COMPLETED) → 보기 넷 → 20초</a:t>
            </a:r>
          </a:p>
          <a:p>
            <a:r>
              <a:t>· 정답 3: 사람이 닫은 종료라 승인도 오더도 없고, 도래는 그대로</a:t>
            </a:r>
          </a:p>
          <a:p>
            <a:r>
              <a:t>· 에이전트 단계에서 닫힘 → 승인 · 오더 등록에 닿지 않음, 안 닿은 단계는 취소, 결과 보고 없음</a:t>
            </a:r>
          </a:p>
          <a:p>
            <a:r>
              <a:t>· 이번 차례의 오더가 없으면 도래 표시는 켜진 채</a:t>
            </a:r>
          </a:p>
          <a:p>
            <a:r>
              <a:t>· 1: 상태만 읽음, 2: 없는 오더를 가정, 4: 타이머는 알림만, 효과 없음</a:t>
            </a:r>
          </a:p>
          <a:p>
            <a:r>
              <a:t>· 다음 담당자에게: 멈춘 까닭 + 이 정기 점검을 다시 열어야 함</a:t>
            </a:r>
          </a:p>
          <a:p>
            <a:r>
              <a:t>[다음] 실습 1, 정기 점검 작도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실습 구분 → 제목 → 부제</a:t>
            </a:r>
          </a:p>
          <a:p>
            <a:r>
              <a:t>· 목적: 정기 점검 도래에서 생산팀 공지까지를 bpmn.io로 그린다</a:t>
            </a:r>
          </a:p>
          <a:p>
            <a:r>
              <a:t>· 앞 이론과의 연결: 같은 뼈대, 승인 블록 재사용, 구조 vs 연결 값, 효과 작업은 승인 갈림 뒤</a:t>
            </a:r>
          </a:p>
          <a:p>
            <a:r>
              <a:t>· 공통 역할 · 승인 구조 위에 정비 쪽 작업과 분기만 채운다</a:t>
            </a:r>
          </a:p>
          <a:p>
            <a:r>
              <a:t>[다음] 그릴 것과 성공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 왼쪽부터 → 강조한 성공 기준 카드</a:t>
            </a:r>
          </a:p>
          <a:p>
            <a:r>
              <a:t>· 다시 쓰는 것: 담당자 · 에이전트 · 시스템 레인, 승인 작업 · 승인? 갈림 · 지연 알림, 승인 역할은 설비보전팀장</a:t>
            </a:r>
          </a:p>
          <a:p>
            <a:r>
              <a:t>· 새로 그리는 것: 정기 점검 도래 시작 이벤트, 정기 정비 계획 에이전트의 제안, CMMS 오더 → 생산팀 공지 → 종료</a:t>
            </a:r>
          </a:p>
          <a:p>
            <a:r>
              <a:t>· 성공 기준: 승인만 오더로, 거절은 거절 보고로, 지연 알림 뒤에도 승인 작업이 남음</a:t>
            </a:r>
          </a:p>
          <a:p>
            <a:r>
              <a:t>· 결과물: bpmn.io 파일로 저장해 다시 열어 그대로인지 확인</a:t>
            </a:r>
          </a:p>
          <a:p>
            <a:r>
              <a:t>· 기한 10분 같은 값은 그림이 아니라 연결 값</a:t>
            </a:r>
          </a:p>
          <a:p>
            <a:r>
              <a:t>[다음] 실습 2, 정기 점검 실행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실습 구분 → 제목 → 부제</a:t>
            </a:r>
          </a:p>
          <a:p>
            <a:r>
              <a:t>· 목적: 준비된 시나리오 B로 처리 건 하나를 결정하고, 오더 · 예약 · 공지 · 보고를 대조</a:t>
            </a:r>
          </a:p>
          <a:p>
            <a:r>
              <a:t>· 앞 이론과의 연결: 프로세스의 끝 vs 업무의 끝, 상태 · 반려 기록, 정의 · 판본</a:t>
            </a:r>
          </a:p>
          <a:p>
            <a:r>
              <a:t>· 학생은 그림을 포털에 등록 · 배포하지 않는다, 준비된 정의의 처리 건을 연다</a:t>
            </a:r>
          </a:p>
          <a:p>
            <a:r>
              <a:t>[다음] 결정 · 대조 · 해석 · 저장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흐름 넷 왼쪽부터 → 강조한 저장 칸</a:t>
            </a:r>
          </a:p>
          <a:p>
            <a:r>
              <a:t>· 결정: 점검 시점 제안과 근거를 읽고 설비보전팀장 역할로 승인, 모자라면 사유</a:t>
            </a:r>
          </a:p>
          <a:p>
            <a:r>
              <a:t>· 대조: 작업지시 · 부품 예약 · 생산 공지 · 결과 보고를 같은 처리 건 번호로</a:t>
            </a:r>
          </a:p>
          <a:p>
            <a:r>
              <a:t>· 해석: 오더 등록 ≠ 정비 완료, 실제 정비 시점과 다음 교대의 확인을 적는다</a:t>
            </a:r>
          </a:p>
          <a:p>
            <a:r>
              <a:t>· 저장: 거절 · 보류는 실제로 확인한 기록 범위에서만, 결과를 내 BPMN 작업과 하나씩 연결</a:t>
            </a:r>
          </a:p>
          <a:p>
            <a:r>
              <a:t>· 주의: 확인 안 한 경우를 짐작으로 채우지 않는다</a:t>
            </a:r>
          </a:p>
          <a:p>
            <a:r>
              <a:t>[다음] 실습 3, 재고 보충 작도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실습 구분 → 제목 → 부제</a:t>
            </a:r>
          </a:p>
          <a:p>
            <a:r>
              <a:t>· 목적: 재고 부족에서 즉시 입고 반영까지 구매 흐름을 같은 승인 구조로 그린다</a:t>
            </a:r>
          </a:p>
          <a:p>
            <a:r>
              <a:t>· 앞 이론과의 연결: 가용 재고 · 재주문점, 발주 중 vs 입고, 같은 승인 블록</a:t>
            </a:r>
          </a:p>
          <a:p>
            <a:r>
              <a:t>· 승인 뒤 작업이 정기 점검보다 하나 더(발주 · 통지 → 입고 · 재고 반영)</a:t>
            </a:r>
          </a:p>
          <a:p>
            <a:r>
              <a:t>[다음] 그릴 것과 범위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 왼쪽부터 → 강조한 범위와 성공 기준 카드</a:t>
            </a:r>
          </a:p>
          <a:p>
            <a:r>
              <a:t>· 다시 쓰는 것: 레인과 승인 블록 그대로, 승인 역할은 구매 담당</a:t>
            </a:r>
          </a:p>
          <a:p>
            <a:r>
              <a:t>· 새로 그리는 것: 재고 부족 시작 → 예비품 구매 에이전트의 제안 → ERP 발주 → 공급사 통지 → 즉시 입고 반영 → 종료</a:t>
            </a:r>
          </a:p>
          <a:p>
            <a:r>
              <a:t>· 범위: ERP · 재고는 HYD 시뮬레이션, 실제 공급사 거래 · 운송 아님 → 그림에도 적어 둔다</a:t>
            </a:r>
          </a:p>
          <a:p>
            <a:r>
              <a:t>· 성공 기준: 승인만 발주로, 거절은 거절 보고로, 저장해 다시 연다</a:t>
            </a:r>
          </a:p>
          <a:p>
            <a:r>
              <a:t>[다음] 실습 4, 재고 보충 실행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실습 구분 → 제목 → 부제</a:t>
            </a:r>
          </a:p>
          <a:p>
            <a:r>
              <a:t>· 목적: 준비된 시나리오 C로 발주 중과 입고 완료를 수량으로 가른다</a:t>
            </a:r>
          </a:p>
          <a:p>
            <a:r>
              <a:t>· 앞 이론과의 연결: 가용 재고 식, 발주 중 vs 입고, 처리 건 기록의 효과 번호</a:t>
            </a:r>
          </a:p>
          <a:p>
            <a:r>
              <a:t>· 다음 교대에 넘길 수량과 남은 확인을 정리한다</a:t>
            </a:r>
          </a:p>
          <a:p>
            <a:r>
              <a:t>[다음] 결정 · 대조 · 해석 · 저장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흐름 넷 왼쪽부터 → 강조한 저장 칸</a:t>
            </a:r>
          </a:p>
          <a:p>
            <a:r>
              <a:t>· 결정: 공급사 · 수량 제안의 근거, 승인 공급사인지 · 전결 기준을 넘는지 확인</a:t>
            </a:r>
          </a:p>
          <a:p>
            <a:r>
              <a:t>· 대조: 발주 · 통지 · 입고 · 재고 반영을 따로 찾아 시작 재고 · 예약 · 발주 중과 비교</a:t>
            </a:r>
          </a:p>
          <a:p>
            <a:r>
              <a:t>· 해석: 수업의 즉시 입고 ≠ 실제 배송, 발주 중과 입고 완료를 가른다</a:t>
            </a:r>
          </a:p>
          <a:p>
            <a:r>
              <a:t>· 저장: 넘길 수량과 남은 확인, 반려는 제공 기록과 구분, 내 BPMN 작업과 연결</a:t>
            </a:r>
          </a:p>
          <a:p>
            <a:r>
              <a:t>· 기대 재고: 시작 조건 · 6개 발주안이면 가용 1 → 7</a:t>
            </a:r>
          </a:p>
          <a:p>
            <a:r>
              <a:t>[다음] 실습 1~4 진행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05 → 제목 → 부제</a:t>
            </a:r>
          </a:p>
          <a:p>
            <a:r>
              <a:t>· 직접 그린 두 프로세스 + 준비된 시나리오로 실행한 두 처리 건을 나란히</a:t>
            </a:r>
          </a:p>
          <a:p>
            <a:r>
              <a:t>· 물음: 처리 건 안에서 무엇이 누구에게 건너가 어디까지 끝났고 무엇이 남았나</a:t>
            </a:r>
          </a:p>
          <a:p>
            <a:r>
              <a:t>· 되짚을 것: 모델 · 정의 · 인스턴스, 이벤트 · 에이전트 · 사람 · 시스템의 역할, 온톨로지부터 프로세스까지</a:t>
            </a:r>
          </a:p>
          <a:p>
            <a:r>
              <a:t>· 화면 값은 미리 수집한 기록, 실습 번호와 다를 수 있다</a:t>
            </a:r>
          </a:p>
          <a:p>
            <a:r>
              <a:t>[다음] 두 처리 건의 다섯 자리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줄(자리) → 가운데 칸 두 줄(정기 점검/재고 보충) → 오른쪽 맡는 쪽 → 강조한 마지막 줄</a:t>
            </a:r>
          </a:p>
          <a:p>
            <a:r>
              <a:t>· 시작: c3_pm.28d73c7a… 도래 PM_DUE · HYD-02/c3_spare.8b48bf5f… 재고 부족</a:t>
            </a:r>
          </a:p>
          <a:p>
            <a:r>
              <a:t>· 판단: 「야간 정비 시간」 DEC-1010-044-c3ec/6개 · B-OEM · 330만원 DEC-1010-048-618d</a:t>
            </a:r>
          </a:p>
          <a:p>
            <a:r>
              <a:t>· 사람: 설비보전팀장 승인/구매 담당 승인</a:t>
            </a:r>
          </a:p>
          <a:p>
            <a:r>
              <a:t>· 시스템: 오더 WO-1010-5DDD · 공지/발주 PR-1010-83F3 · 메일 · 입고 GR-1010-4EE3, 종료: E_end 정상/입고 완료</a:t>
            </a:r>
          </a:p>
          <a:p>
            <a:r>
              <a:t>· 모델(내 bpmn.io 파일, 실행 안 됨) · 정의(엔진에 배포된 판본 9) · 인스턴스(이 처리 건)</a:t>
            </a:r>
          </a:p>
          <a:p>
            <a:r>
              <a:t>· 경계는 구조로: 에이전트 도구는 조회 · 판단 제출뿐, 효과는 승인 뒤 프로세스만, 승인 없는 효과 경로는 등록부터 막힘</a:t>
            </a:r>
          </a:p>
          <a:p>
            <a:r>
              <a:t>[다음] 한 건 안에서 건너가는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흐름 다섯 칸 왼쪽부터 → 강조한 셋째 칸</a:t>
            </a:r>
          </a:p>
          <a:p>
            <a:r>
              <a:t>· 경보의 내용: PM_DUE · HYD-02 · 운전 1,950 h · 도래까지 50 h</a:t>
            </a:r>
          </a:p>
          <a:p>
            <a:r>
              <a:t>· 추천안: 야간 정비 시간 단독 시행 + 대안 · 제외의 까닭 + 판단 DEC-1010-044-c3ec</a:t>
            </a:r>
          </a:p>
          <a:p>
            <a:r>
              <a:t>· 승인된 내용: 승인 역할 설비보전팀장 + 고른 안의 사본, 승인 경로만 채우는 값(에이전트가 못 씀)</a:t>
            </a:r>
          </a:p>
          <a:p>
            <a:r>
              <a:t>· 처리의 결과: 오더 WO-1010-5DDD(배정됨) · 생산팀 공지 메일</a:t>
            </a:r>
          </a:p>
          <a:p>
            <a:r>
              <a:t>· 결과 보고: E_end · 정상 「정비 오더 등록 · 생산팀 공지」</a:t>
            </a:r>
          </a:p>
          <a:p>
            <a:r>
              <a:t>· 건너가는 값 = 프로세스 변수, 번호로 남아 오더에서 경보까지 거슬러 읽는다</a:t>
            </a:r>
          </a:p>
          <a:p>
            <a:r>
              <a:t>[다음] 추천안에 실린 근거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칸(정기 점검 추천안) → 강조한 오른쪽 칸(재고 보충 추천안) → 꼬리표</a:t>
            </a:r>
          </a:p>
          <a:p>
            <a:r>
              <a:t>· 정기 점검 추천: 이번 예정된 정비 시간 단독 시행, 생산 손실 없음</a:t>
            </a:r>
          </a:p>
          <a:p>
            <a:r>
              <a:t>· 대안: 지금 정지 → 납기 다가온 생산 오더 80만원 손실 감점</a:t>
            </a:r>
          </a:p>
          <a:p>
            <a:r>
              <a:t>· 제외: 다음 정비 시간으로 미루기(2,200 h 초과), 두 대 묶기(씰 키트 2개 필요, 가용 1)</a:t>
            </a:r>
          </a:p>
          <a:p>
            <a:r>
              <a:t>· 재고 보충 추천: B-OEM 6개 · 330만원, 불량률 낮음, 전결 기준 300만원 초과 표시</a:t>
            </a:r>
          </a:p>
          <a:p>
            <a:r>
              <a:t>· 대안 A정밀(불량률 12 % · 전수 검사 감점), 제외 C트레이딩(승인 공급사 아님)</a:t>
            </a:r>
          </a:p>
          <a:p>
            <a:r>
              <a:t>· 승인자는 추천 하나가 아니라 득실과 규칙의 근거를 보고 결정</a:t>
            </a:r>
          </a:p>
          <a:p>
            <a:r>
              <a:t>[다음] 지식에서 업무 기록까지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파이프라인 여섯 칸 왼쪽부터 → 강조한 마지막 칸</a:t>
            </a:r>
          </a:p>
          <a:p>
            <a:r>
              <a:t>· 온톨로지: 설비 · 부품 · 원인 · 조치 · 규칙의 관계를 정하고 그 틀로 지식 그래프 · 판단 규칙</a:t>
            </a:r>
          </a:p>
          <a:p>
            <a:r>
              <a:t>· 정비 지침도 문서에서 뽑아 원문 대조 검토 뒤 적재 → 시행 방식 넷 · 비교 기준</a:t>
            </a:r>
          </a:p>
          <a:p>
            <a:r>
              <a:t>· 에이전트: 지식 + 정비 계획 · 생산 오더 · 재고를 도구로 읽고 추천안</a:t>
            </a:r>
          </a:p>
          <a:p>
            <a:r>
              <a:t>· BPMN 모델(사람이 설계한 그림) → 엔진(배포된 정의 · 판본이 처리 건을 열어 진행)</a:t>
            </a:r>
          </a:p>
          <a:p>
            <a:r>
              <a:t>· 사람의 승인 · 거절 → 시스템이 승인된 것만 CMMS 오더 · 공지로, 처리 기록에 남김</a:t>
            </a:r>
          </a:p>
          <a:p>
            <a:r>
              <a:t>· 지식 = 근거, 에이전트 = 제안, 프로세스 = 순서 · 책임 · 기록, 한 칸이라도 비면 근거까지 못 되짚는다</a:t>
            </a:r>
          </a:p>
          <a:p>
            <a:r>
              <a:t>[다음] 세 에이전트가 읽는 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오른쪽 칸(공통)부터 → 가운데 칸(업무 데이터) → 강조한 마지막 줄</a:t>
            </a:r>
          </a:p>
          <a:p>
            <a:r>
              <a:t>· 공통: 셋 다 지식 그래프 · 판단 규칙 → 온톨로지 위 지식을 정비 · 구매도 함께 씀</a:t>
            </a:r>
          </a:p>
          <a:p>
            <a:r>
              <a:t>· 냉각 긴급 대응: 업무 DB 전체의 읽기 도구</a:t>
            </a:r>
          </a:p>
          <a:p>
            <a:r>
              <a:t>· 정기 정비 계획: 보전용 서버(계획 · 계수기 · 키트 영향, 정비 가능 시간, 작업지시 이력, 생산 오더)</a:t>
            </a:r>
          </a:p>
          <a:p>
            <a:r>
              <a:t>· 예비품 구매: 구매용 서버(ERP 재고 · 부품 견적 · 공급사)</a:t>
            </a:r>
          </a:p>
          <a:p>
            <a:r>
              <a:t>· 업무별로 나눠 읽어 각자 견줄 수 있었다</a:t>
            </a:r>
          </a:p>
          <a:p>
            <a:r>
              <a:t>· 연결 목록 = 읽을 수 있는 범위, 실제로 읽은 것 = 도구 호출 기록, 셋 다 읽기만</a:t>
            </a:r>
          </a:p>
          <a:p>
            <a:r>
              <a:t>[다음] 처리 건 기록을 업무 시스템과 대조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 → 가운데 칸 두 줄(처리 건/업무 시스템) → 오른쪽 남는 확인 → 강조한 마지막 줄</a:t>
            </a:r>
          </a:p>
          <a:p>
            <a:r>
              <a:t>· 정비 오더: 결과 보고 → CMMS WO-1010-5DDD 배정됨 · 예정 시간, 시행은 아직</a:t>
            </a:r>
          </a:p>
          <a:p>
            <a:r>
              <a:t>· 출고 예약: 승인한 시행 방식 SOP-PM-11 → 씰 키트 예약 수량 · 가용 재고 변화, 예약은 출고 전</a:t>
            </a:r>
          </a:p>
          <a:p>
            <a:r>
              <a:t>· 공지: 메일 발송 기록 → 수신 확인은 따로, 발송 ≠ 확인</a:t>
            </a:r>
          </a:p>
          <a:p>
            <a:r>
              <a:t>· 발주: PR-1010-83F3 · 메일 → ERP 6개 · B-OEM · 330만원, 승인안과 같은가</a:t>
            </a:r>
          </a:p>
          <a:p>
            <a:r>
              <a:t>· 입고: GR-1010-4EE3 · 입고 완료 → 현재고 3 → 9 · 가용 1 → 7 · 로트 · 검수, 수업은 즉시 입고</a:t>
            </a:r>
          </a:p>
          <a:p>
            <a:r>
              <a:t>· 번호를 업무 시스템에서 다시 찾아 상태까지 맞춰야 검증 끝</a:t>
            </a:r>
          </a:p>
          <a:p>
            <a:r>
              <a:t>[다음] 끝나지 않은 일을 골라 두기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 → 꼬리표 → 강조한 넷째 카드</a:t>
            </a:r>
          </a:p>
          <a:p>
            <a:r>
              <a:t>· 정비 오더: 예정된 정비 시간의 시행, 시운전 정상 · 계수기 0 기록 확인</a:t>
            </a:r>
          </a:p>
          <a:p>
            <a:r>
              <a:t>· 출고 예약: 씰 키트 · 리턴 필터가 실제로 출고됐나, 예약분은 가용 재고에서 빠져 있음</a:t>
            </a:r>
          </a:p>
          <a:p>
            <a:r>
              <a:t>· 발주와 입고: 수업은 즉시 입고, 현실은 납기 · 입고 검사 · 로트</a:t>
            </a:r>
          </a:p>
          <a:p>
            <a:r>
              <a:t>· 거절 · 닫힌 건: 업무를 처리하지 않아 도래 · 보충 필요 표시가 남음, 다시 열 일인지 사유와 함께</a:t>
            </a:r>
          </a:p>
          <a:p>
            <a:r>
              <a:t>· 근거 번호와 함께 골라 두어야 다음 담당자가 처음부터 다시 조사하지 않는다</a:t>
            </a:r>
          </a:p>
          <a:p>
            <a:r>
              <a:t>[다음] 처리 건 한 건으로 복습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열을 가리고 물음 다섯의 답을 먼저 말하기(20초) → 위에서 아래로</a:t>
            </a:r>
          </a:p>
          <a:p>
            <a:r>
              <a:t>· 연 것: 경보 패턴과 배포된 정의의 판본(등록한 판본 vs 배포한 판본)</a:t>
            </a:r>
          </a:p>
          <a:p>
            <a:r>
              <a:t>· 기다리나: RUNNING · 승인 작업 IN_PROGRESS(지연 알림 vs 자동 거절)</a:t>
            </a:r>
          </a:p>
          <a:p>
            <a:r>
              <a:t>· 무엇으로 끝났나: 끝 이벤트와 결과 보고(COMPLETED vs 업무 성공)</a:t>
            </a:r>
          </a:p>
          <a:p>
            <a:r>
              <a:t>· 정비가 끝났나: 오더 완료 기록 · 시운전 · 계수기(오더 등록 vs 정비 완료)</a:t>
            </a:r>
          </a:p>
          <a:p>
            <a:r>
              <a:t>· 꺼내 쓸 씰 키트: 현재고 - 예약, 입고 · 검사 기록(발주 중 vs 입고 완료)</a:t>
            </a:r>
          </a:p>
          <a:p>
            <a:r>
              <a:t>[다음] 용어 정리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여덟 줄 위에서 아래로, 오른쪽 정식 명칭 · 풀이</a:t>
            </a:r>
          </a:p>
          <a:p>
            <a:r>
              <a:t>· ERP(Enterprise Resource Planning) · 예방 정비(Preventive Maintenance, PM) · 허용 오차(Tolerance)</a:t>
            </a:r>
          </a:p>
          <a:p>
            <a:r>
              <a:t>· 가용 재고(Available Stock): 현재고 - 예약 + 입고 예정, 보충 판단용</a:t>
            </a:r>
          </a:p>
          <a:p>
            <a:r>
              <a:t>· 재주문점(Reorder Point) · 리드타임(Lead Time)</a:t>
            </a:r>
          </a:p>
          <a:p>
            <a:r>
              <a:t>· 입고 검사(Incoming Inspection): 수량 · 로트 · 품질 확인으로 입고 확정</a:t>
            </a:r>
          </a:p>
          <a:p>
            <a:r>
              <a:t>· 패턴(Pattern): 되풀이되는 설계 문제에 다시 쓰도록 검증한 구조</a:t>
            </a:r>
          </a:p>
          <a:p>
            <a:r>
              <a:t>[다음] 퀴즈 세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간지 제목 → 부제</a:t>
            </a:r>
          </a:p>
          <a:p>
            <a:r>
              <a:t>· 세 문제: 오더 등록의 해석, 결과를 가리는 근거, 전결 기준의 책임</a:t>
            </a:r>
          </a:p>
          <a:p>
            <a:r>
              <a:t>· 문제마다 보기를 읽고 20초 멈춤</a:t>
            </a:r>
          </a:p>
          <a:p>
            <a:r>
              <a:t>· 정답과 까닭은 세 문제를 다 본 뒤에</a:t>
            </a:r>
          </a:p>
          <a:p>
            <a:r>
              <a:t>[다음] 첫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상황(COMPLETED · E_end, 결과 보고 「정비 오더 등록 · 생산팀 공지」) → 보기 넷 → 20초</a:t>
            </a:r>
          </a:p>
          <a:p>
            <a:r>
              <a:t>· 물음의 요지: 다음 교대에 넘길 판단</a:t>
            </a:r>
          </a:p>
          <a:p>
            <a:r>
              <a:t>· 생각할 거리: 오더 등록과 정비 완료는 각각 어떤 기록으로 확인되나</a:t>
            </a:r>
          </a:p>
          <a:p>
            <a:r>
              <a:t>· 생각할 거리: 계수기가 0이 되는 때</a:t>
            </a:r>
          </a:p>
          <a:p>
            <a:r>
              <a:t>· 생각할 거리: 도래 표시가 꺼지는 조건</a:t>
            </a:r>
          </a:p>
          <a:p>
            <a:r>
              <a:t>[다음] 둘째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상황(현실 공장 가정: 앞 건 승인 · 입고, 출고 뒤 다시 열린 뒤 건은 거절) → 보기 넷 → 20초</a:t>
            </a:r>
          </a:p>
          <a:p>
            <a:r>
              <a:t>· 물음의 요지: 뒤 건의 결과를 판정할 근거</a:t>
            </a:r>
          </a:p>
          <a:p>
            <a:r>
              <a:t>· 생각할 거리: 여러 건의 결과가 섞이는 기록과 그 처리 건에만 속한 기록</a:t>
            </a:r>
          </a:p>
          <a:p>
            <a:r>
              <a:t>· 생각할 거리: COMPLETED가 거절에도 붙는가</a:t>
            </a:r>
          </a:p>
          <a:p>
            <a:r>
              <a:t>· 수업 시스템에서는 이 상황이 생기지 않는 가정(진행 중 · 표시 꺼짐이면 버튼 거절)</a:t>
            </a:r>
          </a:p>
          <a:p>
            <a:r>
              <a:t>[다음] 셋째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상황(B-OEM 6개 · 330만원, 전결 기준 300만원 초과 표시) → 보기 넷 → 20초</a:t>
            </a:r>
          </a:p>
          <a:p>
            <a:r>
              <a:t>· 물음의 요지: 이 처리 건의 맞는 처리</a:t>
            </a:r>
          </a:p>
          <a:p>
            <a:r>
              <a:t>· 생각할 거리: 구매 규정에서 초과는 승인 추가인가, 표시 · 보고인가</a:t>
            </a:r>
          </a:p>
          <a:p>
            <a:r>
              <a:t>· 생각할 거리: 에이전트와 사람이 맡는 일의 경계</a:t>
            </a:r>
          </a:p>
          <a:p>
            <a:r>
              <a:t>· 생각할 거리: 등록 전 검사가 보는 것</a:t>
            </a:r>
          </a:p>
          <a:p>
            <a:r>
              <a:t>[다음] 정답과 판단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줄(문항 · 판단 기준 · 정답) 위에서 아래로</a:t>
            </a:r>
          </a:p>
          <a:p>
            <a:r>
              <a:t>· Quiz 1 정답 2: 오더 등록은 배정 · 예약 · 공지까지, 계수기 0은 시행 · 시운전 정상 뒤, 꺼진 도래 표시 ≠ 정비 완료, 같은 차례 오더는 업무 시스템이 거절</a:t>
            </a:r>
          </a:p>
          <a:p>
            <a:r>
              <a:t>· Quiz 2 정답 4: 재고 표엔 여러 건의 입고 · 출고가 섞임, COMPLETED는 거절에도, 그 처리 건의 끝 이벤트 · 번호로 판정</a:t>
            </a:r>
          </a:p>
          <a:p>
            <a:r>
              <a:t>· Quiz 3 정답 1: 초과는 표시와 구매팀장 보고, 승인은 구매 담당 한 번</a:t>
            </a:r>
          </a:p>
          <a:p>
            <a:r>
              <a:t>· Quiz 3 오답: 2 나눠 발주는 규정 금지, 3 에이전트가 결정까지 함, 4 등록 전 검사는 금액을 보지 않음</a:t>
            </a:r>
          </a:p>
          <a:p>
            <a:r>
              <a:t>· 맺음: 같은 승인 구조로 정비 · 구매 실행, 기록으로 어디까지 끝났는지 가름</a:t>
            </a:r>
          </a:p>
          <a:p>
            <a:r>
              <a:t>[다음] 맺음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167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00784"/>
            <a:ext cx="7863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실전반 7회차 · 정비와 구매 업무 연결, 실행 결과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84124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정비와 구매 업무의 연결</a:t>
            </a:r>
          </a:p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실행 결과의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07408"/>
            <a:ext cx="8412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900" b="0">
                <a:solidFill>
                  <a:srgbClr val="C6D0DE"/>
                </a:solidFill>
                <a:latin typeface="맑은 고딕"/>
                <a:ea typeface="맑은 고딕"/>
                <a:cs typeface="맑은 고딕"/>
              </a:rPr>
              <a:t>정기 점검과 재고 보충을 같은 승인 구조로 실행하고, 기록으로 업무가 어디까지 끝났는지 가른다</a:t>
            </a:r>
          </a:p>
        </p:txBody>
      </p:sp>
      <p:pic>
        <p:nvPicPr>
          <p:cNvPr id="7" name="로고:uEngine" descr="logo-uengine_FFFFFF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669280"/>
            <a:ext cx="1325880" cy="2751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464040" y="118871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tool" descr="tool_5CB8F2_1.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1426463"/>
            <a:ext cx="713232" cy="713232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>
            <a:off x="9902952" y="245059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64040" y="283463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package" descr="package_5CB8F2_1.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3072383"/>
            <a:ext cx="713232" cy="713232"/>
          </a:xfrm>
          <a:prstGeom prst="rect">
            <a:avLst/>
          </a:prstGeom>
        </p:spPr>
      </p:pic>
      <p:sp>
        <p:nvSpPr>
          <p:cNvPr id="13" name="Down Arrow 12"/>
          <p:cNvSpPr/>
          <p:nvPr/>
        </p:nvSpPr>
        <p:spPr>
          <a:xfrm>
            <a:off x="9902952" y="409651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40" y="4480560"/>
            <a:ext cx="1188720" cy="1188720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clipboard-check" descr="clipboard-check_13294B_1.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471830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정비 · 구매 업무를 같은 승인 구조로 실행하고, 처리 건의 기록으로 업무가 어디까지 끝났는지 판정한다.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arrows-split-2" descr="arrows-split-2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822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시작 조건과 끝나는 지점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정기 점검 도래 · 재고 부족이 여는 프로세스를 견준다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오더 등록과 정비 완료, 발주와 입고를 가른다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29504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29504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시작과 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history" descr="history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47822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정의 재사용과 실행 기록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 블록을 다시 쓰고 바뀌는 값만 고른다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상태 · 배포 · 오류 · 반려를 기록에서 가린다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429504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429504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기록 읽기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route" descr="route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47822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정비 · 구매 프로세스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두 프로세스를 그리고 준비된 시나리오로 실행한다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같은 처리 건에서 오더 · 예약 · 발주 · 입고를 대조한다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429504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429504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설계와 실행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32460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clipboard-check" descr="clipboard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478227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결과의 검증과 인계 준비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지식에서 업무 기록까지를 되짚는다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다음 담당자가 확인할 미완료를 근거와 함께 고른다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42950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429504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199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1600199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세 업무의 시작 조건과 끝나는 지점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88575" y="181965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181965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2257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233172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정의 재사용과 실행 기록 읽기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88575" y="255117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8575" y="255117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5409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63239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063239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정기 점검 프로세스 작도 · 실행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88575" y="328269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8575" y="328269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 1~2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85615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79476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379476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재고 보충 프로세스 작도 · 실행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88575" y="401421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8575" y="401421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 3~4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51713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26279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4526279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설계 · 실행 · 검증의 정리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88575" y="47457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88575" y="47457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248655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25780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525780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용어 · 복습 · 퀴즈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88575" y="547725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88575" y="547725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세 업무의 시작 조건과 끝나는 지점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업무가 열리는 조건을 견주고, 프로세스의 끝과 업무의 끝을 가른다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세 업무의 시작 이벤트 · 승인자 · 실행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업무는 시작 이벤트 · 승인자 · 실행 시스템이 달라서, 프로세스가 끝날 때 남는 결과도 업무마다 다르다.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 · 대상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시작 이벤트 · 에이전트 · 승인자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실행 시스템 · 남는 결과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긴급 대응 · HYD-01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성능 저하 경보(센서 값의 규칙)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긴급 대응 에이전트 → 운전원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SCADA · CMMS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명령 · 재관측 · 작업지시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정기 점검 · HYD-02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정기 점검 도래 PM_DUE(운전시간)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정기 정비 계획 에이전트 → 설비보전팀장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CMMS · 메일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정비 오더 · 생산팀 공지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재고 보충 · 씰 키트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재고 부족 SPARE_BELOW_MIN(가용 재고)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예비품 구매 에이전트 → 구매 담당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0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ERP · 메일</a:t>
            </a:r>
          </a:p>
          <a:p>
            <a:pPr algn="l" eaLnBrk="0">
              <a:lnSpc>
                <a:spcPct val="110000"/>
              </a:lnSpc>
            </a:pPr>
            <a:r>
              <a:rPr sz="120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발주 · 공급사 통지 · 입고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셋이 같은 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 → 에이전트의 제안 → 사람의 승인 · 거절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시스템 처리 → 결과 보고의 순서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효과는 승인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뒤에만 난다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예방 정비의 기준: 운전시간 계수기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정기 점검 도래 경보는 시행이 아니라 계획을 시작하라는 신호여서, 시행 시점은 허용 오차 안에서 고른다.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5867"/>
            <a:ext cx="1911644" cy="2490978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928747"/>
            <a:ext cx="1765340" cy="223494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1,800 h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허용 오차 하한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이때부터 시행 방식을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견줄 수 있다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24292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44332" y="2745867"/>
            <a:ext cx="1911644" cy="249097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17484" y="2928747"/>
            <a:ext cx="1765340" cy="223494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1,950 h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도래 경보 PM_DUE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주기 50 h 전에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처리 건이 열린다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19985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40025" y="2745867"/>
            <a:ext cx="1911644" cy="2490978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3177" y="2928747"/>
            <a:ext cx="1765340" cy="223494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2,000 h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정기 점검 주기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씰 키트 · 리턴 필터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교체 패키지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115677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35717" y="2745867"/>
            <a:ext cx="1911644" cy="2490978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08869" y="2928747"/>
            <a:ext cx="1765340" cy="223494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2,200 h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허용 오차 상한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넘기는 일정은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잡지 않는다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411370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31410" y="2745867"/>
            <a:ext cx="1911644" cy="2490978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04562" y="2928747"/>
            <a:ext cx="1765340" cy="223494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시운전 정상 뒤 0 h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계수기를 0으로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되돌리고 다음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기한을 기록한다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재고 부족의 계산: 가용 재고와 재주문점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가용 재고는 예약분을 빼고 입고 예정분을 더한 수라서, 재주문점 비교와 필요 수량이 모두 이 수에서 나온다.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73936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6"/>
            <a:ext cx="6400800" cy="416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//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재고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부족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SPARE_BELOW_MIN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펌프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키트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(P-PMP-SEAL)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가용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재고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=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현재고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-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정비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예약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+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발주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중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입고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예정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=    3   -     2     +   0              = 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재주문점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1 &lt; 2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,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재고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보충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처리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건이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열린다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필요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수량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=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목표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재고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7 -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가용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재고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 =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7393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가용 재고(Available Stock)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예약분은 빼고, 들어올 예정인 발주 중 수량은 더한다.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8264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재주문점(Reorder Point)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가용 재고가 이 수 아래로 내려가면 다시 주문한다.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필요 수량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목표 재고까지 채울 양으로, 발주안의 수량이 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0006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목표 재고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보충해서 맞출 수량 7개다. 경보를 가르는 재주문점과 다른 선이다.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세 사건이 같은 형식의 경보로 도착한다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센서의 규칙이든 업무 데이터의 규칙이든 경보는 같은 칸으로 도착해, 세 프로세스가 같은 모양의 시작 이벤트로 열린다.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73936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6"/>
            <a:ext cx="6400800" cy="416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//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성능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저하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센서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값의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규칙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pattern  COOLER_DEGRADATION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감지기가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낸다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//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정기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점검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도래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업무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운전시간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규칙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alertId  CMMS-PM_DUE-HYD-02-20261010150830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pattern  PM_DUE                asset  HYD-02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//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재고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부족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업무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가용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재고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규칙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alertId  ERP-SPARE_BELOW_MIN-P-PMP-SEAL-20261010151032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pattern  SPARE_BELOW_MIN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//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받는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쪽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셋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메시지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시작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이벤트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하나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//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같은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alertId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처리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건이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있으면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새로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열지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않는다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7393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칸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번호 · 패턴 · 대상이 같은 자리에 있어 받는 문을 하나로 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8264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앞머리의 출처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CMMS · ERP처럼 경보를 낸 업무 시스템이 번호 앞에 붙는다.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중복 방지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번호로는 처리 건이 두 번 열리지 않아, 같은 발주가 두 번 나가지 않는다.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0006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수업의 버튼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업무 감시는 꺼 두고 포털 버튼이 같은 형식의 경보를 대신 낸다.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응용: 정비 예약이 재고 보충을 여는 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정비 오더가 씰 키트 출고를 예약하면 가용 재고가 줄어, 정비 업무의 결과가 재고 보충의 시작 조건이 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39" y="1627632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255" y="1957730"/>
            <a:ext cx="1494129" cy="107716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정비 계획 승인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정기 점검 처리 건</a:t>
            </a:r>
          </a:p>
        </p:txBody>
      </p:sp>
      <p:sp>
        <p:nvSpPr>
          <p:cNvPr id="8" name="Oval 7"/>
          <p:cNvSpPr/>
          <p:nvPr/>
        </p:nvSpPr>
        <p:spPr>
          <a:xfrm>
            <a:off x="5227167" y="1627632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48782" y="1957730"/>
            <a:ext cx="1494129" cy="107716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정비 오더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배정됨 · 출고 예약</a:t>
            </a:r>
          </a:p>
        </p:txBody>
      </p:sp>
      <p:sp>
        <p:nvSpPr>
          <p:cNvPr id="10" name="Oval 9"/>
          <p:cNvSpPr/>
          <p:nvPr/>
        </p:nvSpPr>
        <p:spPr>
          <a:xfrm>
            <a:off x="9905695" y="3122676"/>
            <a:ext cx="1737360" cy="1737360"/>
          </a:xfrm>
          <a:prstGeom prst="ellipse">
            <a:avLst/>
          </a:prstGeom>
          <a:solidFill>
            <a:srgbClr val="5CB8F2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27310" y="3452774"/>
            <a:ext cx="1494129" cy="107716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씰 키트 가용 재고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현재고 - 예약 + 발주 중</a:t>
            </a:r>
          </a:p>
        </p:txBody>
      </p:sp>
      <p:sp>
        <p:nvSpPr>
          <p:cNvPr id="12" name="Oval 11"/>
          <p:cNvSpPr/>
          <p:nvPr/>
        </p:nvSpPr>
        <p:spPr>
          <a:xfrm>
            <a:off x="5695020" y="4617720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16635" y="4947818"/>
            <a:ext cx="1494129" cy="107716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재고 부족 경보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가용 &lt; 재주문점 2</a:t>
            </a:r>
          </a:p>
        </p:txBody>
      </p:sp>
      <p:sp>
        <p:nvSpPr>
          <p:cNvPr id="14" name="Oval 13"/>
          <p:cNvSpPr/>
          <p:nvPr/>
        </p:nvSpPr>
        <p:spPr>
          <a:xfrm>
            <a:off x="1016492" y="4258909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8107" y="4589007"/>
            <a:ext cx="1494129" cy="107716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재고 보충 처리 건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발주 · 입고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31720" y="2496312"/>
            <a:ext cx="2822295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17" name="Rounded Rectangle 16"/>
          <p:cNvSpPr/>
          <p:nvPr/>
        </p:nvSpPr>
        <p:spPr>
          <a:xfrm>
            <a:off x="3196767" y="2130552"/>
            <a:ext cx="10922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96767" y="2130552"/>
            <a:ext cx="1092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뒤 등록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66856" y="2774646"/>
            <a:ext cx="2910379" cy="930025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0" name="Rounded Rectangle 19"/>
          <p:cNvSpPr/>
          <p:nvPr/>
        </p:nvSpPr>
        <p:spPr>
          <a:xfrm>
            <a:off x="7751803" y="2873898"/>
            <a:ext cx="134048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51803" y="2873898"/>
            <a:ext cx="134048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예약만큼 줄어듦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7451246" y="4297310"/>
            <a:ext cx="2461433" cy="873957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3" name="Rounded Rectangle 22"/>
          <p:cNvSpPr/>
          <p:nvPr/>
        </p:nvSpPr>
        <p:spPr>
          <a:xfrm>
            <a:off x="8084745" y="4368528"/>
            <a:ext cx="119443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745" y="4368528"/>
            <a:ext cx="119443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재주문점 아래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2824247" y="5199609"/>
            <a:ext cx="2827730" cy="216868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6" name="Rounded Rectangle 25"/>
          <p:cNvSpPr/>
          <p:nvPr/>
        </p:nvSpPr>
        <p:spPr>
          <a:xfrm>
            <a:off x="3954902" y="4942283"/>
            <a:ext cx="5664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54902" y="4942283"/>
            <a:ext cx="5664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연다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2792193" y="4110771"/>
            <a:ext cx="7047951" cy="900881"/>
          </a:xfrm>
          <a:prstGeom prst="line">
            <a:avLst/>
          </a:prstGeom>
          <a:ln w="28575">
            <a:solidFill>
              <a:srgbClr val="1A6FC4"/>
            </a:solidFill>
            <a:prstDash val="dash"/>
            <a:tailEnd type="triangle" w="med" len="med"/>
          </a:ln>
        </p:spPr>
      </p:cxnSp>
      <p:sp>
        <p:nvSpPr>
          <p:cNvPr id="29" name="Rounded Rectangle 28"/>
          <p:cNvSpPr/>
          <p:nvPr/>
        </p:nvSpPr>
        <p:spPr>
          <a:xfrm>
            <a:off x="5361128" y="4195451"/>
            <a:ext cx="191007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6F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61128" y="4195451"/>
            <a:ext cx="19100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발주 중 · 입고로 늘어남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프로세스의 끝과 업무의 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끝 이벤트는 프로세스가 맡은 처리가 끝났다는 기록이어서, 정비 완료와 입고 완료는 업무의 기준으로 따로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끝 이벤트에 닿을 때 기록된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업무가 끝났다고 보는 기준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긴급 대응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명령 · 재관측 유온 정상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작업지시 등록(상태 배정됨)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작업지시의 핀 세척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완료 기록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정기 점검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정비 오더 등록(상태 배정됨) · 출고 예약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생산팀 공지 메일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시행 · 시운전 정상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계수기 0 · 다음 기한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재고 보충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발주 · 공급사 통지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수업에서는 같은 처리 건에서 즉시 입고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수량 일치 · 로트 기록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입고 검사 합격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발주 중 수량과 입고 완료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발주 중 수량은 가용 재고에 먼저 들어가 보충 표시를 끄지만, 꺼내 쓸 수 있는 재고는 입고와 검사 뒤에 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현재고 · 예약 · 발주 중 → 가용 재고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지금 꺼내 쓸 수 있는 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경보가 울릴 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3 · 2 · 0 →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보충 필요 표시 켜짐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발주 뒤, 입고 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3 · 2 · 6 → 7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현실에서는 리드타임 동안 이 상태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1개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보충 필요 표시 꺼짐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입고 · 검사 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9 · 2 · 0 →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문제: 보충 표시가 꺼진 씰 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씰 키트 6개 발주가 승인돼 보충 필요 표시가 꺼졌고, 현실 물류라 아직 입고되지 않았다고 하자.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오늘 밤 다른 설비 정비에 씰 키트 2개를 더 쓰자는 요청에 맞는 판단은?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가용 재고가 7개이니 2개를 오늘 밤 출고해 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지금 꺼낼 수 있는 것은 예약 외 1개라, 2개면 입고 예정일과 입고 검사를 먼저 확인한다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보충 필요 표시가 꺼졌으니 재고 문제는 끝났다고 다음 교대에 넘긴다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발주를 한 번 더 내서 6개를 더 확보해 둔다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정의 재사용과 실행 기록 읽기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 블록을 다시 쓰고, 처리 건의 상태 · 배포 · 오류 · 반려를 기록으로 가린다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업무마다 처음부터 그릴 때 생기는 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업무마다 처음부터 따로 그리면 승인 · 읽는 법 · 고칠 곳이 흩어져, 같은 문제를 거듭 풀게 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19566"/>
            <a:ext cx="2567863" cy="37435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0734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arrows-shuffle" descr="arrows-shuffl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435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3694"/>
            <a:ext cx="2238679" cy="22165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승인이 제각각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거절 · 무응답을 다루는 길이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그리는 사람마다 달라진다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확인한 거절 경로가 빠지기도 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33377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33377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예외 경로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119566"/>
            <a:ext cx="2567863" cy="37435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320734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book" descr="boo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474353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143694"/>
            <a:ext cx="2238679" cy="22165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읽는 법이 는다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 대기와 종결을 가르는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기준을 프로세스마다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다시 익혀야 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433377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433377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119566"/>
            <a:ext cx="2567863" cy="37435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320734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map-pin" descr="map-pin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474353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143694"/>
            <a:ext cx="2238679" cy="22165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고칠 곳이 흩어진다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 기한 하나를 바꿔도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그림마다 다른 자리를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찾아다닌다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433377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433377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119566"/>
            <a:ext cx="2567863" cy="37435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32073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stack-2" descr="stack-2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474353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143694"/>
            <a:ext cx="2238679" cy="22165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뼈대부터 찾는다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경보에서 에이전트의 제안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사람의 승인 · 거절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시스템 처리와 결과 보고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433377"/>
            <a:ext cx="12191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433377"/>
            <a:ext cx="1219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세 업무 공통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패턴: 승인 블록은 그대로, 업무마다 바뀌는 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검증한 구조를 다시 쓰는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패턴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으로 승인 블록은 그대로 두고, 시작 · 에이전트 · 역할 · 승인 뒤 작업만 바꾼다.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BPMN의 자리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정기 점검 · 재고 보충에 넣는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긴급 대응 정의와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시작 이벤트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PM_DUE · SPARE_BELOW_MIN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패턴 값만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바꾼다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제안 작업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정기 정비 계획 에이전트 · 예비품 구매 에이전트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지시문만 바꾼다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블록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작업 · 승인? 갈림 · 지연 타이머 10분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지연 알림 · 알림 끝 · 거절 보고 · 거절 종결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구조 그대로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승인 역할만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바꾼다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뒤 작업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정비 오더 · 공지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발주 · 통지 → 입고 · 재고 반영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새로 그린다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정상 · 입고 완료 · 반려 · 승인 지연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부품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결과 값만 다르다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구조로 남기는 것과 연결할 때 넣는 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업무가 함께 쓰는 순서와 승인 블록은 그림의 구조로 남기고, 업무마다 다른 것은 연결할 때 넣는 값으로 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4015"/>
            <a:ext cx="5181447" cy="315468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61518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git-branch" descr="git-branch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76880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61518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그림의 구조로 남기는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465575"/>
            <a:ext cx="4632807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제안 → 승인 · 거절 → 처리 → 결과 보고의 순서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 블록의 일곱 요소와 그 자리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거절 · 무응답의 경로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효과 작업은 승인 갈림 뒤에만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111496"/>
            <a:ext cx="12191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111496"/>
            <a:ext cx="1219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세 업무 공통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414015"/>
            <a:ext cx="5181447" cy="315468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61518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adjustments" descr="adjustment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76880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61518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연결할 때 넣는 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465575"/>
            <a:ext cx="4632807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시작 경보 패턴 · 제안할 에이전트와 지시문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 역할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 뒤 작업이 부르는 시스템 · 메일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거절 보고의 문구 · 기한 10분 · 승인 조건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111496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111496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업무마다 다름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응용: 요구가 바뀔 때 고칠 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바뀐 요구가 연결 값만 바꾸는지, 그림 구조까지 바꿔 새 판본을 배포해야 하는지부터 가른다.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바뀐 요구 (가정)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고칠 곳과 함께 확인할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기한을 10분에서 30분으로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연결 값의 타이머 기한만 바꾸고 그림은 그대로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세 업무가 같은 값이라 셋 다 바꿀지 정한다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연결 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300만원 넘는 발주는 구매팀장도 승인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금액 갈림과 둘째 승인을 그려 발주를 두 승인 뒤에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지금 규정은 초과 표시와 팀장 보고뿐이다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구조 변경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새 판본 배포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정비 오더를 승인 전에 미리 등록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받아들이지 않는다, 효과 작업은 승인 갈림 뒤에만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그렇게 그린 흐름은 등록 전 검사가 거절한다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원칙 위반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정의가 셋일 때: 경보 패턴이 정의를 고른다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경보는 자기 패턴을 시작 조건으로 가진 배포된 정의에서 처리 건을 열고, 처리 건은 정의마다 따로 진행된다.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경보 패턴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배포된 정의 · 판본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열린 처리 건 (기록)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COOLER_DEGRADATION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긴급 대응 c3_cooling · 판본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c3_cooling.…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PM_DUE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정기 정비 c3_pm · 판본 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c3_pm.28d73c7a…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SPARE_BELOW_MIN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예비품 구매 c3_spare · 판본 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c3_spare.8b48bf5f…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처리 건끼리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정의마다 제 순서대로 따로 진행한다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한 건이 승인을 기다려도 다른 건은 먼저 끝날 수 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섞이지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않는다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· 정의 · 판본 · 처리 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경보는 그 패턴을 받는 배포된 정의 가운데 가장 최근 것이 열기에, 기록은 정의와 판본부터 맞춰 읽는다.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6" name="Oval 5"/>
          <p:cNvSpPr/>
          <p:nvPr/>
        </p:nvSpPr>
        <p:spPr>
          <a:xfrm>
            <a:off x="548639" y="1627632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255" y="1957730"/>
            <a:ext cx="1494129" cy="107716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정기 점검 도래 경보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PM_DUE · HYD-02</a:t>
            </a:r>
          </a:p>
        </p:txBody>
      </p:sp>
      <p:sp>
        <p:nvSpPr>
          <p:cNvPr id="8" name="Oval 7"/>
          <p:cNvSpPr/>
          <p:nvPr/>
        </p:nvSpPr>
        <p:spPr>
          <a:xfrm>
            <a:off x="5227167" y="1627632"/>
            <a:ext cx="1737360" cy="1737360"/>
          </a:xfrm>
          <a:prstGeom prst="ellipse">
            <a:avLst/>
          </a:prstGeom>
          <a:solidFill>
            <a:srgbClr val="5CB8F2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48782" y="1957730"/>
            <a:ext cx="1494129" cy="107716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c3_pm 판본 9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배포된 정의</a:t>
            </a:r>
          </a:p>
        </p:txBody>
      </p:sp>
      <p:sp>
        <p:nvSpPr>
          <p:cNvPr id="10" name="Oval 9"/>
          <p:cNvSpPr/>
          <p:nvPr/>
        </p:nvSpPr>
        <p:spPr>
          <a:xfrm>
            <a:off x="5227167" y="4617720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8782" y="4947818"/>
            <a:ext cx="1494129" cy="107716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 판본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등록만 한 정의</a:t>
            </a:r>
          </a:p>
        </p:txBody>
      </p:sp>
      <p:sp>
        <p:nvSpPr>
          <p:cNvPr id="12" name="Oval 11"/>
          <p:cNvSpPr/>
          <p:nvPr/>
        </p:nvSpPr>
        <p:spPr>
          <a:xfrm>
            <a:off x="9905695" y="1627632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27310" y="1957730"/>
            <a:ext cx="1494129" cy="107716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처리 건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c3_pm.28d73c7a…</a:t>
            </a:r>
          </a:p>
        </p:txBody>
      </p:sp>
      <p:sp>
        <p:nvSpPr>
          <p:cNvPr id="14" name="Oval 13"/>
          <p:cNvSpPr/>
          <p:nvPr/>
        </p:nvSpPr>
        <p:spPr>
          <a:xfrm>
            <a:off x="9905695" y="4617720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27310" y="4947818"/>
            <a:ext cx="1494129" cy="107716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정비 오더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WO-1010-5DDD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31720" y="2496312"/>
            <a:ext cx="2822295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17" name="Rounded Rectangle 16"/>
          <p:cNvSpPr/>
          <p:nvPr/>
        </p:nvSpPr>
        <p:spPr>
          <a:xfrm>
            <a:off x="3145650" y="2130552"/>
            <a:ext cx="119443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45650" y="2130552"/>
            <a:ext cx="119443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패턴으로 고름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87804" y="2988735"/>
            <a:ext cx="3114444" cy="1990468"/>
          </a:xfrm>
          <a:prstGeom prst="line">
            <a:avLst/>
          </a:prstGeom>
          <a:ln w="28575">
            <a:solidFill>
              <a:srgbClr val="1A6FC4"/>
            </a:solidFill>
            <a:prstDash val="dash"/>
            <a:tailEnd type="triangle" w="med" len="med"/>
          </a:ln>
        </p:spPr>
      </p:cxnSp>
      <p:sp>
        <p:nvSpPr>
          <p:cNvPr id="20" name="Rounded Rectangle 19"/>
          <p:cNvSpPr/>
          <p:nvPr/>
        </p:nvSpPr>
        <p:spPr>
          <a:xfrm>
            <a:off x="2884919" y="3618209"/>
            <a:ext cx="172021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6F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4919" y="3618209"/>
            <a:ext cx="17202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배포 전에는 받지 않음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10247" y="2496312"/>
            <a:ext cx="2822296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3" name="Rounded Rectangle 22"/>
          <p:cNvSpPr/>
          <p:nvPr/>
        </p:nvSpPr>
        <p:spPr>
          <a:xfrm>
            <a:off x="7992135" y="2130552"/>
            <a:ext cx="8585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92135" y="2130552"/>
            <a:ext cx="8585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인스턴스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774375" y="3410712"/>
            <a:ext cx="0" cy="1133856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6" name="Rounded Rectangle 25"/>
          <p:cNvSpPr/>
          <p:nvPr/>
        </p:nvSpPr>
        <p:spPr>
          <a:xfrm>
            <a:off x="10865815" y="3831335"/>
            <a:ext cx="10922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65815" y="3831335"/>
            <a:ext cx="1092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뒤 등록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등록 · 배포 · 되돌리기와 이미 열린 처리 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등록은 판본을 저장할 뿐이고 배포해야 경보의 행선지가 바뀌며, 이미 열린 처리 건은 열릴 때의 판본으로 끝까지 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하는 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등록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새 판본을 저장한다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지금 경보를 받는 흐름은 그대로 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등록만으로는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운영이 안 바뀐다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배포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 판본이 경보를 받는다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패턴이 여럿이면 가장 최근에 배포한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공용 공간에선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마지막 배포가 가져감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되돌리기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사용 공간에 배포된 사용자 흐름을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 경로에서 모두 내리고 기준 흐름으로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내 흐름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하나만이 아니다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이미 열린 처리 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열릴 때 고정된 판본으로 끝까지 진행한다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바뀐 판본은 다음 경보부터 쓴다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판본을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함께 적는다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처리 건의 상태 · 오류 · 반려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COMPLETED는 처리 건이 닫혔다는 뜻일 뿐이라, 무엇으로 끝났는지는 끝 이벤트 · 결과 보고 · 멈춘 단계로 가른다.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기록에 보이는 경우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처리 건 · 단계 · 끝 이벤트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업무로 읽으면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대기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RUNNING · 승인 작업 IN_PROGRESS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결정을 기다린다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82824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50820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지연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50820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RUNNING 그대로 · 지연 알림 보고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750820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자동 취소 · 자동 거절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없음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03676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1672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거절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1672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COMPLETED · E_rejected · 결과 반려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471672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오더 · 발주 없음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도래 · 보충 표시 남음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24528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92524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뒤 처리 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192524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COMPLETED · E_end · 정상 또는 입고 완료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192524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업무 완료 기준은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따로 본다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45380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913376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 단계 실패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913376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실행 실패 사유 · 단계는 열린 채 · RUNNING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4913376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저절로 넘어가지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않는다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66623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63422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멈춘 단계를 사람이 닫음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63422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COMPLETED · closed-by-human · 결과 보고 없음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495" y="563422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업무는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처리되지 않았다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재고 보충 처리 건의 실행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처리 건 기록에는 승인 · 발주 · 통지 · 입고가 줄마다 번호와 함께 남아, 업무 시스템과 대조할 근거가 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07768"/>
            <a:ext cx="6766560" cy="3567175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44928"/>
            <a:ext cx="6400800" cy="32928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// c3_spare.8b48bf5f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기록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발췌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//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에이전트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이벤트는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뺐다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SCENARIO_BUTTON    [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재고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보충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]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발주안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제안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      DEC-1010-048-618d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APPROVAL_ACCEPTED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구매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담당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판단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APPROVAL_DELIVERY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전달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(ERP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발주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         PR-1010-83F3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6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개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MCP_EFFECT_CALL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공급사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메일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발송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GOODS_RECEIVED     GR-1010-4EE3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합격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 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로트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LOT-261010-EB4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RECEIPT_IMMEDIATE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바로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입고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처리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RESULT_REPORT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입고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207768"/>
            <a:ext cx="4007815" cy="89179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승인의 책임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접수 줄에 역할과 판단이 함께 남는다.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099561"/>
            <a:ext cx="4007815" cy="89179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효과의 번호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발주 · 입고 번호로 ERP 기록을 다시 찾는다.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89179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바로 입고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수업 설정이라는 표시가 기록에 따로 남는다.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4883150"/>
            <a:ext cx="4007815" cy="89179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메일은 발송 기록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받는 쪽이 읽었는지는 이 줄로 알 수 없다.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문제: 사람이 닫은 정기 점검 처리 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정기 점검 처리 건에서 에이전트 단계가 멈춰, 담당자가 그 단계를 닫았더니 처리 건이 COMPLETED가 되었다고 하자.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처리 건을 다음 교대에 전하는 말로 맞는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COMPLETED이니 정기 점검 업무는 끝났다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정비 오더가 등록됐을 테니 CMMS에서 시행 시간만 확인하면 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사람이 닫은 종료라 승인도 오더도 없고, 정기 점검 도래는 그대로 남아 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지연 타이머가 기한 뒤에 오더를 대신 등록했다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정기 점검 작도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정기 점검 도래에서 생산팀 공지까지, 공통 승인 구조 위에 작업과 분기를 그린다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정기 점검 작도: 그릴 것과 성공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공통 역할 레인과 승인 구조를 다시 쓰고, 정비 쪽 작업과 분기 조건만 채워 승인과 거절이 다른 끝에 닿게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26462"/>
            <a:ext cx="3515258" cy="31297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627630"/>
            <a:ext cx="3186074" cy="2425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다시 쓰는 것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담당자 · 에이전트 · 시스템 레인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 작업 · 승인? 갈림 · 지연 알림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 역할은 설비보전팀장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126482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26482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공통 구조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2426462"/>
            <a:ext cx="3515258" cy="31297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2810" y="2627630"/>
            <a:ext cx="3186074" cy="2425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새로 그리는 것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정기 점검 도래로 여는 시작 이벤트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정기 정비 계획 에이전트의 제안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CMMS 오더 → 생산팀 공지 → 종료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66818" y="5126482"/>
            <a:ext cx="12191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6818" y="5126482"/>
            <a:ext cx="1219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정비 쪽 작업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2426462"/>
            <a:ext cx="3515258" cy="31297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2388" y="2627630"/>
            <a:ext cx="3186074" cy="2425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성공 기준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승인만 오더로, 거절은 거절 보고로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지연 알림 뒤에도 승인 작업이 남는다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bpmn.io 파일로 저장해 다시 연다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56396" y="5126482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6396" y="5126482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그림 파일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정기 점검 실행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준비된 시나리오 B로 오더 · 예약 · 공지 · 보고를 대조하고, 다음 교대에 남는 확인을 정리한다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정기 점검 실행: 결정 · 대조 · 해석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정기 점검 한 건을 결정하고 오더 · 예약 · 공지 · 보고를 같은 번호로 대조해 남은 일을 적는다.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53614"/>
            <a:ext cx="2485567" cy="2475483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936494"/>
            <a:ext cx="2339263" cy="2219451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결정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점검 시점 제안과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근거를 읽고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승인하거나 사유를 남긴다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98215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18255" y="2753614"/>
            <a:ext cx="2485567" cy="2475483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1407" y="2936494"/>
            <a:ext cx="2339263" cy="2219451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작업지시 · 부품 예약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생산 공지 · 보고를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처리 건 번호로 찾는다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67831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7871" y="2753614"/>
            <a:ext cx="2485567" cy="2475483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1023" y="2936494"/>
            <a:ext cx="2339263" cy="2219451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해석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오더 등록은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정비 완료가 아니다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실제 정비와 다음 교대의 확인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837447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57487" y="2753614"/>
            <a:ext cx="2485567" cy="2475483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0639" y="2936494"/>
            <a:ext cx="2339263" cy="2219451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저장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거절 · 보류는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확인한 기록 범위에서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결과를 내 BPMN 작업과 연결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재고 보충 작도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재고 부족에서 즉시 입고 반영까지, 같은 승인 구조로 구매 흐름을 그린다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재고 보충 작도: 그릴 것과 범위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승인 구조 뒤에 발주 · 통지 · 입고 반영을 이어 그리고, ERP와 재고가 HYD 시뮬레이션이라는 범위를 함께 적는다.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5908"/>
            <a:ext cx="3515258" cy="28508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767076"/>
            <a:ext cx="3186074" cy="2146807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다시 쓰는 것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레인과 승인 블록 그대로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 역할은 구매 담당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987036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987036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공통 구조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2565908"/>
            <a:ext cx="3515258" cy="28508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2810" y="2767076"/>
            <a:ext cx="3186074" cy="2146807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새로 그리는 것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재고 부족 시작 → 예비품 구매 에이전트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ERP 발주 → 공급사 통지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즉시 입고 반영 → 종료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66818" y="4987036"/>
            <a:ext cx="12191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6818" y="4987036"/>
            <a:ext cx="1219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구매 쪽 작업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2565908"/>
            <a:ext cx="3515258" cy="28508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2388" y="2767076"/>
            <a:ext cx="3186074" cy="2146807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범위와 성공 기준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ERP · 재고는 HYD 시뮬레이션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승인만 발주로, 거절은 거절 보고로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저장해 다시 연다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56396" y="4987036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6396" y="4987036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그림 파일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재고 보충 실행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준비된 시나리오 C로 발주 중과 입고 완료를 수량으로 가르고, 다음 교대에 넘길 확인을 정리한다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재고 보충 실행: 수량으로 가르는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발주 · 통지 · 입고 · 재고 반영을 따로 찾아 시작 재고와 비교하고, 다음 교대에 넘길 수량을 적는다.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11716"/>
            <a:ext cx="2485567" cy="2359278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994596"/>
            <a:ext cx="2339263" cy="210324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결정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공급사 · 수량의 근거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공급사 · 전결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조건을 확인한다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98215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18255" y="2811716"/>
            <a:ext cx="2485567" cy="2359278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1407" y="2994596"/>
            <a:ext cx="2339263" cy="210324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발주 · 통지 · 입고 ·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재고 반영을 따로 찾아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시작 재고 · 예약과 비교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67831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7871" y="2811716"/>
            <a:ext cx="2485567" cy="2359278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1023" y="2994596"/>
            <a:ext cx="2339263" cy="210324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해석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수업의 즉시 입고는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실제 배송이 아니다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발주 중과 입고 완료를 가른다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837447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57487" y="2811716"/>
            <a:ext cx="2485567" cy="235927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0639" y="2994596"/>
            <a:ext cx="2339263" cy="210324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저장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넘길 수량과 남은 확인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반려는 제공 기록과 구분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내 BPMN 작업과 연결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설계 · 실행 · 검증의 정리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두 처리 건으로 모델 · 정의 · 역할을 되짚고, 다음 담당자가 확인할 일을 모은다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두 처리 건이 지난 다섯 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두 처리 건은 BPMN 모델의 다섯 자리를 차례로 지나며, 자리마다 누가 무엇을 냈는지 번호와 함께 남겼다.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정기 점검 처리 건 · 재고 보충 처리 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맡는 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시작 이벤트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정기 점검: c3_pm.28d73c7a… · 도래 PM_DUE · HYD-02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재고 보충: c3_spare.8b48bf5f… · 재고 부족 · 씰 키트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규칙과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 판단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정기 점검: 「야간 정비 시간」 · DEC-1010-044-c3ec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재고 보충: 6개 · B-OEM · 330만원 · DEC-1010-048-618d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정기 점검: 설비보전팀장 승인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재고 보충: 구매 담당 승인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 역할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정기 점검: 정비 오더 WO-1010-5DDD · 생산팀 공지 메일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재고 보충: 발주 PR-1010-83F3 · 공급사 메일 · 입고 GR-1010-4EE3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업무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종료 기록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정기 점검: E_end · 정상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재고 보충: E_end · 입고 완료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엔진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 처리 건 안에서 건너가는 것: 정기 점검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처리 건 안에서는 앞 자리가 낸 것이 다음 자리의 입력이 되고, 승인된 내용은 승인한 역할과 함께 시스템이 채운다.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56065"/>
            <a:ext cx="1911644" cy="287058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738945"/>
            <a:ext cx="1765340" cy="261454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경보의 내용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PM_DUE · HYD-02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운전시간 1,950 h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도래까지 50 h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24292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44332" y="2556065"/>
            <a:ext cx="1911644" cy="287058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17484" y="2738945"/>
            <a:ext cx="1765340" cy="261454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야간 정비 시간 단독 시행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대안 · 제외 후보와 까닭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판단 DEC-1010-044-c3ec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19985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40025" y="2556065"/>
            <a:ext cx="1911644" cy="2870580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3177" y="2738945"/>
            <a:ext cx="1765340" cy="261454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승인된 내용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역할 설비보전팀장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고른 안의 사본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경로만 채우는 값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115677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35717" y="2556065"/>
            <a:ext cx="1911644" cy="287058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08869" y="2738945"/>
            <a:ext cx="1765340" cy="261454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처리의 결과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정비 오더 WO-1010-5DDD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상태 배정됨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생산팀 공지 메일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411370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31410" y="2556065"/>
            <a:ext cx="1911644" cy="287058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04562" y="2738945"/>
            <a:ext cx="1765340" cy="261454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보고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E_end · 정상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「정비 오더 등록 ·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생산팀 공지」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두 추천안이 승인자에게 보이는 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두 추천안 모두 진 대안과 제외된 후보를 까닭과 함께 실어서, 승인자는 득실과 규칙의 근거를 보고 결정한다.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82241"/>
            <a:ext cx="5181447" cy="361823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83409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정기 점검 추천안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33801"/>
            <a:ext cx="4632807" cy="201803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추천: 이번 예정된 정비 시간에 단독 시행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대안: 지금 정지 · 오더 손실 80만원 감점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제외: 미루기 · 2,200 h 초과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제외: 두 대 묶기 · 씰 키트 가용 1개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343271"/>
            <a:ext cx="176783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343271"/>
            <a:ext cx="176783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기한 · 생산 · 부품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61607" y="2182241"/>
            <a:ext cx="5181447" cy="361823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2383409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재고 보충 추천안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3233801"/>
            <a:ext cx="4632807" cy="201803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추천: B-OEM 6개 · 330만원 · 전결 기준 초과 표시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대안: A정밀 · 불량률 12 % · 전수 검사 감점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제외: C트레이딩 · 승인 공급사 아님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647" y="5343271"/>
            <a:ext cx="176783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647" y="5343271"/>
            <a:ext cx="176783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품질 · 규정 · 금액</a:t>
            </a:r>
          </a:p>
        </p:txBody>
      </p:sp>
      <p:sp>
        <p:nvSpPr>
          <p:cNvPr id="16" name="Oval 15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온톨로지에서 업무 기록까지: 정기 점검 한 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지식은 에이전트의 추천안이 되고, BPMN 정의는 그 추천안을 사람의 승인과 시스템의 실행으로 이어 기록을 남긴다.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  <p:sp>
        <p:nvSpPr>
          <p:cNvPr id="6" name="Rectangle 5"/>
          <p:cNvSpPr/>
          <p:nvPr/>
        </p:nvSpPr>
        <p:spPr>
          <a:xfrm>
            <a:off x="1473174" y="3407283"/>
            <a:ext cx="9245346" cy="146304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>
            <a:off x="2278837" y="3297555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92416" y="2999677"/>
            <a:ext cx="961515" cy="96151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topology-star-3" descr="topology-star-3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180" y="3230440"/>
            <a:ext cx="499988" cy="4999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79" y="4098352"/>
            <a:ext cx="1666189" cy="12504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 그래프 · 판단 규칙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PM-02 시행 방식 · 기준</a:t>
            </a:r>
          </a:p>
        </p:txBody>
      </p:sp>
      <p:sp>
        <p:nvSpPr>
          <p:cNvPr id="11" name="Chevron 10"/>
          <p:cNvSpPr/>
          <p:nvPr/>
        </p:nvSpPr>
        <p:spPr>
          <a:xfrm>
            <a:off x="4127906" y="3297555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1485" y="2999677"/>
            <a:ext cx="961515" cy="96151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robot" descr="robo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2249" y="3230440"/>
            <a:ext cx="499988" cy="4999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489149" y="4098352"/>
            <a:ext cx="1666189" cy="12504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계획 · 생산 오더 · 재고를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읽고 추천안을 낸다</a:t>
            </a:r>
          </a:p>
        </p:txBody>
      </p:sp>
      <p:sp>
        <p:nvSpPr>
          <p:cNvPr id="15" name="Chevron 14"/>
          <p:cNvSpPr/>
          <p:nvPr/>
        </p:nvSpPr>
        <p:spPr>
          <a:xfrm>
            <a:off x="5976975" y="3297555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90555" y="2999677"/>
            <a:ext cx="961515" cy="96151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아이콘:git-branch" descr="git-branch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1318" y="3230440"/>
            <a:ext cx="499988" cy="4999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338218" y="4098352"/>
            <a:ext cx="1666189" cy="12504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BPMN 모델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설계한 그림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블록과 업무 작업</a:t>
            </a:r>
          </a:p>
        </p:txBody>
      </p:sp>
      <p:sp>
        <p:nvSpPr>
          <p:cNvPr id="19" name="Chevron 18"/>
          <p:cNvSpPr/>
          <p:nvPr/>
        </p:nvSpPr>
        <p:spPr>
          <a:xfrm>
            <a:off x="7826044" y="3297555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39624" y="2999677"/>
            <a:ext cx="961515" cy="96151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아이콘:player-play" descr="player-play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0388" y="3230440"/>
            <a:ext cx="499988" cy="49998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187287" y="4098352"/>
            <a:ext cx="1666189" cy="12504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엔진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정의 · 판본이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처리 건을 연다</a:t>
            </a:r>
          </a:p>
        </p:txBody>
      </p:sp>
      <p:sp>
        <p:nvSpPr>
          <p:cNvPr id="23" name="Chevron 22"/>
          <p:cNvSpPr/>
          <p:nvPr/>
        </p:nvSpPr>
        <p:spPr>
          <a:xfrm>
            <a:off x="9675114" y="3297555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88693" y="2999677"/>
            <a:ext cx="961515" cy="96151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아이콘:user-check" descr="user-check_13294B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9457" y="3230440"/>
            <a:ext cx="499988" cy="49998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036356" y="4098352"/>
            <a:ext cx="1666189" cy="12504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설비보전팀장의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· 거절</a:t>
            </a:r>
          </a:p>
        </p:txBody>
      </p:sp>
      <p:sp>
        <p:nvSpPr>
          <p:cNvPr id="27" name="Oval 26"/>
          <p:cNvSpPr/>
          <p:nvPr/>
        </p:nvSpPr>
        <p:spPr>
          <a:xfrm>
            <a:off x="10237762" y="2999677"/>
            <a:ext cx="961515" cy="961515"/>
          </a:xfrm>
          <a:prstGeom prst="ellipse">
            <a:avLst/>
          </a:prstGeom>
          <a:solidFill>
            <a:srgbClr val="5CB8F2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아이콘:settings" descr="settings_13294B_1.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68526" y="3230440"/>
            <a:ext cx="499988" cy="49998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885426" y="4098352"/>
            <a:ext cx="1666189" cy="12504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CMMS 오더 · 공지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처리 기록에 남는다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세 에이전트가 읽는 곳: 같은 지식, 다른 업무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에이전트는 같은 지식 그래프와 판단 규칙을 읽고, 업무 데이터는 맡은 일에 필요한 도구 서버로만 나눠 읽는다.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연결된 업무 데이터 (도구 서버)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공통으로 읽는 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긴급 대응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업무 DB 전체의 읽기 도구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생산 오더 · 품질 로트 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 그래프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 규칙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정기 정비 계획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보전용: 계획 · 계수기 · 키트 영향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정비 가능 시간 · 작업지시 이력 · 생산 오더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 그래프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 규칙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예비품 구매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구매용: ERP 재고 · 부품 견적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공급사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 그래프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 규칙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 목록과 실제 호출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연결 목록은 읽을 수 있는 범위다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실제로 무엇을 읽었는지는 도구 호출 기록으로 본다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모두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읽기만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 결과의 대조: 처리 건 기록과 업무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처리 건이 남긴 번호를 업무 시스템에서 다시 찾아 상태까지 맞춰 봐야 실행 결과의 검증이 끝난다.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확인할 결과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처리 건 기록 → 업무 시스템에서 다시 찾을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남는 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정비 오더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처리 건: 결과 보고 「정비 오더 등록 · 생산팀 공지」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CMMS: WO-1010-5DDD 상태 배정됨 · 예정된 정비 시간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시행은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아직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부품 출고 예약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처리 건: 승인한 시행 방식(SOP-PM-11)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재고: 씰 키트 예약 수량 · 가용 재고의 변화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예약은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출고 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생산팀 공지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처리 건: 메일 발송 기록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받는 쪽: 수신 확인은 따로 본다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발송 ≠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발주 · 공급사 통지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처리 건: 발주 PR-1010-83F3 · 공급사 메일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ERP: 발주 6개 · B-OEM · 330만원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승인안과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입고 · 재고 반영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처리 건: 입고 GR-1010-4EE3 · 결과 입고 완료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재고: 현재고 3 → 9 · 가용 1 → 7, 로트 · 검수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수업은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즉시 입고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응용: 다음 담당자에게 남는 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끝난 처리 건에서 미완료와 불일치를 근거 번호와 함께 골라 두어야, 다음 담당자가 무엇을 확인할지 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13241"/>
            <a:ext cx="2567863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51440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tool" descr="tool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66802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337369"/>
            <a:ext cx="2238679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정비 오더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예정된 정비 시간의 시행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시운전 정상 · 계수기 0 기록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239702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239702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시행 확인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313241"/>
            <a:ext cx="2567863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51440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package" descr="packag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668028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337369"/>
            <a:ext cx="2238679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출고 예약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예약한 씰 키트 · 리턴 필터 출고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예약분은 가용 재고에서 빠진다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239702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239702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부품 확인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313241"/>
            <a:ext cx="2567863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51440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truck" descr="tru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668028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337369"/>
            <a:ext cx="2238679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발주와 입고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수업은 즉시 입고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현실은 납기 · 입고 검사 · 로트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239702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239702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물류 확인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313241"/>
            <a:ext cx="2567863" cy="335622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51440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alert-triangle" descr="alert-triangle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668028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337369"/>
            <a:ext cx="2238679" cy="18291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거절 · 닫힌 건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도래 · 보충 필요 표시가 남는다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다시 열 일인지 사유와 함께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239702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239702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미처리 업무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처리 건 한 건으로 되짚는 판정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처리 건 한 건에 던지는 물음마다 답이 놓인 기록이 달라서, 그 기록을 가리는 것이 이번 회차의 판정 기준이다.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물음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답이 놓인 기록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헷갈리는 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처리 건을 연 것은?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 패턴과 배포된 정의의 판본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등록한 판본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vs 배포한 판본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아직 결정을 기다리나?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RUNNING · 승인 작업 IN_PROGRESS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지연 알림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vs 자동 거절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무엇으로 끝났나?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끝 이벤트와 결과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COMPLETED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vs 업무 성공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정비가 끝났나?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오더의 완료 기록 · 시운전 · 계수기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오더 등록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vs 정비 완료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꺼내 쓸 씰 키트는?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현재고 - 예약, 입고 · 검사 기록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발주 중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vs 입고 완료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오늘 다룬 핵심 개념과 주요 용어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이번 회차의 정비 · 구매 업무와 실행 결과를 읽는 데 쓴 용어를 정식 명칭과 한 줄 뜻으로 모은다.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844265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정식 명칭 · 풀이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61972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29968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029968"/>
            <a:ext cx="835121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Enterprise Resource Planning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구매 · 재고 같은 기업 자원을 한 시스템에서 관리하는 전사적 자원 관리 시스템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02611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70607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예방 정비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570607"/>
            <a:ext cx="835121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Preventive Maintenance, PM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고장이 나기 전에 운전시간이나 기간을 기준으로 미리 하는 정비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143250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111246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허용 오차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111246"/>
            <a:ext cx="835121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Tolerance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정기 정비를 시행할 수 있도록 주기 앞뒤로 정한 범위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83888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651885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가용 재고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651885"/>
            <a:ext cx="835121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Available Stock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현재고에서 예약분을 빼고 입고 예정분을 더한, 보충 판단에 쓰는 수량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24528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192524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재주문점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192524"/>
            <a:ext cx="835121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Reorder Point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가용 재고가 이 수량 아래로 내려가면 다시 주문하는 기준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765167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733163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리드타임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733163"/>
            <a:ext cx="835121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Lead Time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발주부터 입고까지 걸리는 시간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05806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273802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입고 검사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273802"/>
            <a:ext cx="835121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Incoming Inspection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들어온 물품의 수량 · 로트 · 품질을 확인해 입고를 확정하는 검사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846445"/>
            <a:ext cx="11094415" cy="476631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814441"/>
            <a:ext cx="2514600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패턴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814441"/>
            <a:ext cx="8351215" cy="54063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Pattern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되풀이되는 설계 문제에 다시 쓰도록 검증해 둔 구조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Review Quiz: 핵심 흐름 되짚어보기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배운 내용을 바탕으로 정답을 맞혀 보세요.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1. 정비 오더가 남은 정기 점검 처리 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정기 점검 처리 건이 COMPLETED · E_end로 닫혔고, 결과 보고에 「정비 오더 등록 · 생산팀 공지」가 남았다.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다음 교대에 넘길 판단으로 맞는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정기 정비가 끝났으니 HYD-02의 운전시간 계수기는 0이다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오더가 배정되고 공지가 나갔으며, 예정된 정비 시간의 시행과 시운전 확인이 남았다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도래 표시가 꺼졌으니 HYD-02는 더 확인할 것이 없다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시행을 확정하려고 같은 오더를 한 번 더 등록한다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2. 거절된 처리 건의 결과를 가리는 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현실 공장에서 앞 재고 보충 건은 승인 · 입고되고, 그 뒤 출고로 다시 열린 뒤 건은 거절로 닫혔다.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뒤 건의 결과를 판정할 근거로 맞는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재고 표의 지금 현재고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처리 건의 상태 COMPLETED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앞 건 뒤로 재고가 늘었다가 줄었다는 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뒤 건의 기록에 발주 · 입고 번호가 없고 끝 이벤트가 E_rejected라는 것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3. 전결 기준을 넘은 발주안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재고 보충 추천안이 B-OEM 6개 · 330만원이고, 발주안에 전결 기준 300만원 초과가 표시되었다.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처리 건에서 맞는 처리는?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구매 담당이 한 번 승인하고, 결과 보고를 구매팀장에게도 보낸다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300만원 아래가 되도록 3개씩 두 건으로 나눠 발주한다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에이전트가 기준 초과를 보고 A정밀로 바꿔 발주한다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구매팀장 승인이 없으니 등록 전 검사가 이 처리 건을 막는다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정답과 판단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문항은 오더 등록의 해석, 결과를 가리는 근거, 금액 전결의 책임을 바른 기록과 규정으로 가리는지 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오더 등록은 배정 · 공지까지다. 정비 완료는 시행 · 시운전 정상 · 계수기 0의 기록으로 본다.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재고 표에는 여러 건의 입고 · 출고가 섞인다. 그 처리 건의 끝 이벤트와 번호로 판정한다.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초과는 표시와 보고의 대상이고 승인은 구매 담당 한 번이다. 나눠 발주하지 않고 에이전트는 제안까지 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