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앞에서 만든 점검 요청 에이전트를 사람과 함께 일하게 만들고, 요구가 바뀌어도 믿고 쓸 수 있는지 검증하는 데까지 가 보겠습니다. 점검 요청 에이전트는 경보 한 건을 받아 어느 설비의 무엇을, 왜 확인해야 하는지 초안을 냈죠. 그런데 현장에서 들어오는 요청은 늘 온전하지 않습니다. 설비 이름이 빠져 있기도 하고, 적힌 값끼리 어긋나기도 해요. 또 누군가는 「긴급한 건 빨리 처리되게 해 달라」고 새 요구를 붙입니다. 이번 회차의 물음은 둘입니다. 에이전트가 혼자 정하면 안 되는 때는 언제이고, 그때 누가 무엇을 정하는가. 그리고 기능을 더할 때 원래 지키던 약속이 그대로인지 무엇으로 확인하는가. 이 둘을 사람의 결정, 명세, 시나리오 검증의 순서로 풀어 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학습목표는 화면의 카드 네 장입니다. 첫 카드는 바로 확정할 수 없는 점검 요청을 가르고, 사람이 내리는 승인과 거절, 그리고 그 결정이 남기는 감사 기록을 읽는 일이에요. 둘째 카드는 부족하거나 어긋난 정보만 골라 묻고, 답을 같은 요청에 이어 다시 판단하게 하는 일입니다. 셋째 카드에서는 요구를 넓힙니다. 점검 요청에 긴급 확인 표시를 더하는 요구를 계약, 금지 조건, 수용 기준으로 적고, 기존 출력과 승인 조건을 지키며 구현해요. 마지막 카드는 그 결과를 검증하는 일입니다. 기대 결과를 실행하기 전에 명세와 원자료에서 정하고, 새 사례와 기존 사례를 함께 다시 돌립니다. 끝에서는 지금까지 만든 에이전트의 제작과 검증 과정을 하나로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 이론 단원 넷 사이사이에 실습이 들어가 있습니다. 첫 단원에서 사람이 확정하는 자리를 배우고, 바로 포털에서 승인과 거절을 확인한 뒤 점검 요청에 질문 단계를 붙여요. 둘째 단원에서 명세를 배우고 긴급 확인 표시를 명세대로 더하고, 셋째 단원에서 시나리오 검증을 배운 뒤 새 기능과 기존 기능을 함께 검증합니다. 넷째 단원에서 전체를 정리하고 복습, 용어, 퀴즈로 마칩니다. 이번 시간에는 첫 단원, 사람이 확정하는 자리부터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단원의 물음은 이겁니다. 점검 요청 에이전트에게 요청이 들어왔을 때, 에이전트가 혼자 끝까지 정해도 되는 경우와 사람에게 넘겨야 하는 경우는 어떻게 가를까요? 그리고 사람에게 넘겼다면, 누가 무엇을 정했는지는 어디에 어떻게 남을까요? 요청 하나를 받는 순간부터 조치를 실행하기 직전까지 차례로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수업용 점검 요청을 몇 건 펼쳐 놓았습니다. 표의 왼쪽이 요청의 상태, 가운데가 실제 요청의 모양, 오른쪽이 에이전트가 할 일이에요. 첫 줄은 판단에 필요한 칸이 다 있는 요청입니다. 설비는 HYD-01, 경보는 쿨러 성능 저하, 어느 경보 건인지 사례 번호까지 적혀 있고, 판단 시각에 읽은 값도 믿을 만해요. 이런 요청은 에이전트가 점검 결과까지 냅니다. 다만 거기서 끝이고, 조치를 실행하는 건 여전히 승인을 기다립니다. 둘째 줄은 칸이 빠진 요청이에요. 「유압 쪽에 경보가 났습니다」 한 문장만 왔고 설비도 경보도 사례도 비어 있습니다. 조회해서 정할 수 있으면 조회하지만, 조회로도 못 정하면 묻고 멈춥니다. 셋째 줄은 칸끼리 어긋난 경우예요. 설비는 HYD-01로 적었는데 함께 적은 사례는 HYD-02에서 읽은 값입니다. 어느 한쪽을 믿고 다른 쪽을 덮어쓰면, 확인하지 않은 값으로 판단하게 되죠. 그래서 묻고 멈춥니다. 넷째 줄은 칸은 다 있는데 값이 묵은 경우입니다. 최신 유온 값이 185초 전 것인데 허용하는 신선도는 60초예요. 이 값으로 원인을 고르면 지금이 아니라 3분 전 설비를 판단하는 셈이라, 원인을 고르지 않고 보류 사유를 남깁니다. 맨 아래 줄은 성격이 다릅니다. 요청이 온전해도 팬을 최대로 돌리거나 작업지시를 내는 일, 곧 설비와 업무를 실제로 바꾸는 일은 승인 역할을 가진 사람이 정해요. 위 네 줄이 「정보가 모자라서」 사람에게 넘기는 경우라면, 이 줄은 「결과에 책임을 져야 해서」 사람에게 넘기는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자동 처리의 정해진 지점에 사람의 확인과 결정을 넣는 방식을 HITL, Human-in-the-Loop라고 부릅니다. 사람을 아무 데나 끼워 넣는 게 아니라, 어느 일에서 사람이 들어오는지 미리 정해 둔다는 데 뜻이 있어요. 표는 점검 요청 처리의 일을 네 가지로 나누고, 각각 누가 정하는지와 그 까닭을 적었습니다. 첫 줄, 값을 조회하고 원인 후보와 점검 순서를 내는 일은 에이전트와 시스템이 자동으로 합니다. 읽고 계산할 뿐 설비를 바꾸지 않으니까요. 둘째 줄, 빠진 업무 정보는 요청한 사람이 답합니다. 도구로도 알 수 없는 값이라 사람만 채울 수 있죠. 셋째 줄이 가장 중요해요. 설비 명령과 작업지시는 승인 역할의 담당자가 승인하거나 거절합니다. 실행하면 설비 상태와 생산이 실제로 달라지고, 그 결과를 책임질 역할이 정해져 있기 때문이에요. 넷째 줄은 조금 낯선 자리입니다. 에이전트 작업이 한 번 실행 시간 1,800초나 형식 교정 두 번 같은 한도를 넘기면, 정상 결과 없이 멈춘 채로 남아요. 이걸 담당자가 기록을 읽고 사유를 적어 닫습니다. 사람이 맡은 작업이나 아직 돌고 있는 작업은 이렇게 닫지 않아요. 닫은 처리 건에는 「사람이 닫음」이 남아서 업무를 마친 것과 구분됩니다. 정상 결과가 없다는 것과 아무 일도 없었다는 건 다르니, 닫는 사람이 이유를 남기는 거죠.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그러면 사람이 결정한 뒤 처리 건에는 무엇이 남을까요. 표의 위 두 줄이 사람이 실제로 내리는 결정, 아래 세 줄이 「보류」라고 부를 수 있는 상황입니다. 첫 줄 승인은 쿨러 사건에서 실제로 일어난 일이에요. 11시 14분 56초에 운전원이 승인했고, 1초 뒤에 팬 속도를 100퍼센트로 올리는 명령이 나갔습니다. 재관측에서 유온이 51.5도까지 내려왔고 작업지시가 등록됐죠. 설비 명령은 추천안이 올라온 때가 아니라 승인한 때에서 출발했다는 점을 기억해 두세요. 둘째 줄 거절은 사유를 적어야만 받아들여지고, 설비 명령도 업무 처리도 한 건도 생기지 않습니다. 처리 건은 거절로 닫히는데, 기록에는 그 값이 「반려」라고 적혀요. 아래 세 줄을 보면, 사실 HYD에는 사람이 누르는 「보류」 버튼이 없습니다. 보류라고 부를 만한 상황이 셋으로 나뉘어요. 셋째 줄, 담당자가 응답하지 않으면 기한 10분이 지난 뒤 지연 알림만 나가고 승인 작업은 열린 채 기다립니다. 자동으로 거절되지 않고, 알림 뒤에도 승인하거나 거절할 수 있어요. 넷째 줄은 에이전트가 근거가 모자라 결과를 내지 않고 멈춘 경우로, 다시 처리하게 하거나 사람이 닫습니다. 다섯째 줄은 에이전트가 필수 정보를 묻고 기다리는 경우예요. 답을 받으면 이어서 처리합니다. 셋 다 「멈춰 있다」는 겉모습은 같지만 누가 왜 멈췄는지가 달라서, 담당자가 할 일도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줄의 질문을 점검 요청에서 따라가 보겠습니다. 화면 왼쪽은 요청 하나가 질문 두 번을 거쳐 다시 판단에 들어가는 진행을 예로 적은 거예요. 요청 A는 「유압 쪽에 경보가 났습니다」만 들고 왔습니다. 조회로 설비를 정할 수 없으니 대상 설비를 묻고, 상태는 질문 대기가 돼요. 답으로 HYD-01이 오면 그 답을 요청 A에 기록하고 다시 확인합니다. 그런데 그 설비에 맞는 경보 건이 둘이라 아직 하나로 못 정하죠. 그래서 어느 경보 건인지 한 번 더 묻습니다. 답을 받고 나서야 요청 A의 판단을 이어 가요. 오른쪽 짚을 점을 위에서부터 보겠습니다. 먼저, 도구로 정할 수 있는 값은 묻지 않습니다. 묻는 건 빠졌거나 어긋난 값뿐이에요. 다 물어보면 편하겠지만, 그러면 사람이 매번 에이전트가 할 일을 대신하게 됩니다. 둘째, 답은 그 질문을 낸 요청 번호에만 붙어요. 왼쪽 아래 「하지 않는 일」의 첫 줄처럼 요청 B에 온 답을 요청 A에 쓰면, 다른 경보의 사례로 판단하는 사고가 납니다. 셋째, 답을 반영해 같은 요청의 판단을 이어 가고, 질문 전과 답 뒤의 상태가 기록에 남습니다. 한 질문에 답은 한 번만 받아요. 넷째가 이 장에서 가장 중요합니다. HYD 에이전트의 작업 지시에는 「답변은 실행 권한을 바꾸지 않습니다」라는 문장이 들어 있어요. 왼쪽 마지막 줄처럼 담당자가 「급하니 승인한 걸로 해 줘」라고 답해도, 그건 업무 정보가 아니라서 승인으로 받지 않습니다. 승인은 승인 단계에서, 승인 역할의 사람에게서만 받아요.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판단 문제 하나를 풀어 보죠. 점검 요청에 설비는 HYD-01로 적혔는데, 함께 적힌 사례 번호는 HYD-02에서 읽은 값 묶음이라고 해 봅시다. 에이전트는 어떻게 처리해야 할까요? 1번, 사례 번호가 더 구체적이니 설비를 HYD-02로 고쳐 진행한다. 2번, 설비를 믿고 HYD-01의 가장 최근 사례로 바꿔 진행한다. 3번, 어긋남을 기록하고 어느 쪽이 맞는지 물은 뒤, 답을 받기 전까지 보류한다. 4번, 두 설비를 모두 분석해 더 심각한 쪽 결과를 낸다. 답은 3번입니다. 1번과 2번은 둘 중 하나를 확인 없이 믿고 다른 쪽을 덮어쓰는 거예요. 판단은 나오겠지만, 그 판단이 요청자가 말한 설비의 것인지 아무도 보장하지 못하죠. 4번은 요청에 없던 범위를 에이전트가 넓혀 버린 겁니다. 어긋남 자체가 사람만 풀 수 있는 정보라서, 무엇이 어긋났는지 기록하고 묻는 게 맞아요. 그리고 답이 오면 무엇을 근거로 바꿨는지도 같은 요청에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사람이 결정하는 자리로 넘어가 보겠습니다. 승인 버튼을 누른다고 바로 받아들여지는 건 아니에요. 화면 왼쪽 코드의 위쪽이 승인 요청을 받은 시스템이 먼저 하는 검사 둘입니다. 첫째, 승인하는 사람이 자기가 내세운 역할의 구성원인지 봅니다. 둘째, 그 역할이 이 조치의 승인 역할이거나 그보다 높은 등급인지 봐요. 둘 중 하나라도 아니면 거부합니다. 조치마다 승인 역할이 정해져 있어서, 팬 최대 운전은 운전원, 쿨러 핀 세척은 설비보전팀장이 승인합니다. 등급은 운전원이 1, 팀장들이 2, 공장장이 3이에요. 오른쪽 첫 짚을 점처럼, 같은 등급이라도 다른 역할은 대신 승인하지 못합니다. 품질팀장이 설비보전팀장의 일을 승인할 수는 없다는 거죠. 검사를 통과하면 코드 아래쪽처럼 시스템이 처리 건에 기록을 남깁니다. 승인한 사람, 승인한 역할, 고른 안이에요. 쿨러 사건에서는 운전원이 팬 최대 운전을 추천안 그대로 골랐고, 승인 요청부터 약 13초를 기다렸죠. 맨 아래 줄은 승인하는 순간 다시 읽은 값입니다. 유온 61.8도, 원격 자동, 운전 중. 추천을 만들 때가 아니라 승인하는 순간의 값이라는 게 넷째 짚을 점이에요. 둘째 짚을 점, 이 칸들은 승인 경로에서만 채워지는 보호 값입니다. 에이전트가 결과에 「승인함」이라고 적어도 이 칸은 채워지지 않아요. 이렇게 누가 언제 무엇을 결정했는지를 나중에 되짚을 수 있게 남기는 기록을 감사 기록, Audit Trail이라고 합니다. 문제가 생겼을 때 결정의 책임을 따라가는 근거가 되고, 거절도 사유와 함께 똑같이 남아요.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추천안이 사람에게 올라가기까지 거치는 확인을 차례로 놓아 보겠습니다. 표의 위에서 아래가 추천안이 지나는 순서예요. 첫 줄은 AI의 자체 검토입니다. 추천안을 쓴 에이전트가 스스로 다시 보거나, 다른 에이전트가 근거와 누락을 짚을 수 있죠. 쓸모 있는 확인이지만, 오른쪽 칸처럼 의견일 뿐 결정이 아닙니다. 둘째 줄은 가드레일이에요. 가드레일은 입력, 출력, 행동이 정해 둔 경계를 지키는지 확인하는 장치인데, HYD에서는 모델의 의견이 아니라 코드로 적은 규칙으로 검사합니다. 후보마다 규칙을 인용했는지, 제외 규칙에 걸린 조치를 권하지 않는지, 승인 역할과 작업 단계가 붙어 있는지를 봐요. 어기면 추천안은 아예 제출되지 않고, 통과하면 승인 화면에 올라갑니다. 통과의 뜻은 「올려도 된다」까지예요. 셋째 줄에서야 「실행해도 된다」가 나옵니다. 승인 역할의 담당자가 추천안을 고르거나 거절하는 거죠. 넷째 줄은 그 뒤에 한 번 더 있는 확인입니다. 승인을 받은 시스템이 지금의 값과 규칙으로 고른 안을 다시 검사하고, 그사이 운전 모드나 유온 같은 중요한 조건이 바뀌었으면 실행하지 않고 새 판단과 새 승인을 요구해요. 이렇게 보면 AI가 동의한 것과 사람이 승인한 것은 서로 다른 칸에 남는 다른 사실입니다. 두 에이전트가 서로 「문제없다」고 했다는 건 사람이 결정했다는 증거가 되지 못해요.</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 배운 것을 두 실습으로 확인합니다. 첫 실습은 포털에서 승인과 거절을 직접 보는 일이에요. 화면의 카드 네 장을 왼쪽부터 보겠습니다. 입력은 포털의 처리 건과 내 작업함에 있는 수업용 사례입니다. 승인을 기다리는 작업마다 담당 역할과 추천의 근거를 먼저 읽어요. 할 일은 승인한 사례와 거절한 사례의 처리 결과를 나란히 견주고, 아직 기다리는 상태와 끝난 상태를 가르는 겁니다. 성공 기준은 셋째 카드예요. 승인하지 않은 추천이 명령이나 업무 처리로 이어지지 않았다는 걸, 말로가 아니라 실행 이력으로 보여야 합니다. 마지막 카드처럼 사례마다 역할, 결정, 결과를 기록하고, 확인하지 못한 건 확인하지 못했다고 그대로 적어 두세요.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12~13장 통합 발화는 12장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VS Code에서 점검 요청 기능에 질문 단계를 붙이는 일입니다. 카드를 차례로 보면, 출발점은 제공된 이전 단계의 점검 요청 기능이에요. 점검 요청, 센서 입력, 온톨로지 자료가 함께 들어 있습니다. 구현할 것은 둘째 카드입니다. 설비와 경보, 사례를 먼저 기존 자료로 확인하고, 그래도 부족하거나 어긋난 정보만 묻게 해요. 셋째 카드처럼 답은 같은 요청 번호에 이어 다시 판단하고, 다른 요청의 답이 섞이지 않았는지 대조합니다. 마지막 카드가 성공 기준이에요. 점검 요청 초안의 확인 항목이 답을 받기 전과 뒤에 어떻게 바뀌었는지가 기록으로 남아야 하고, 정보를 준 답변을 승인으로 처리하지 않아야 합니다. 앞에서 판단 문제로 풀었던 어긋난 요청도 실제로 이렇게 처리되는지 확인해 보세요. 다음 시간에는 첫 실습인 승인과 거절부터 포털에서 직접 확인해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14~15장 통합 발화는 14장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잘 돌아가는 점검 요청 기능에 새 요구를 더하면서, 원래 지키던 약속은 그대로 두는 방법을 다룹니다. 앞의 실습에서 점검 요청은 부족한 정보를 묻고, 답을 받아 같은 요청을 다시 판단하게 됐죠. 승인은 승인 단계에서만 받는다는 약속도 확인했고요. 여기에 「긴급한 경보는 빨리 처리되게 해 달라」는 요구가 붙었다고 해 보겠습니다. 이 한 문장을 받아서 무엇부터 적어야, 질문 단계도 승인 조건도 흔들리지 않을까요? 이번 단원 끝에서는 긴급 확인 표시의 조건을 실제 값에 대어 판정해 보고, 받아들이면 안 되는 요구도 하나 가려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요구는 화면 제목의 한 문장입니다. 뜻은 알 것 같은데, 막상 구현하려고 보면 정해지지 않은 게 많아요. 표의 왼쪽이 이 문장이 정하지 않은 것, 가운데가 받는 쪽이 채울 수 있는 해석, 오른쪽이 그 해석 때문에 흔들릴 수 있는 기존 약속입니다. 첫 줄, 긴급의 기준이 없습니다. 어떤 경보에서 어떤 값이면 긴급인지 정하지 않았으니, 누구는 운전 화면의 경고선을 떠올리고 누구는 임의로 수치를 고르겠죠. 그러면 같은 요청에 사람마다 다른 표시가 붙습니다. 둘째 줄, 빨라지는 방법도 맡겨져 있어요. 결과에 긴급 표시만 더할 수도 있고, 질문을 건너뛰거나 승인 대기를 줄이는 쪽으로 읽을 수도 있습니다. 뒤의 두 해석은 앞에서 지키기로 한 질문 단계와 승인 조건을 바로 건드려요. 셋째 줄이 이 단원의 중심입니다. 그대로 둘 것에 대해서는 아무 말이 없어요. 일반 요청의 결과 항목, 보류, 거절은 바뀌면 안 되는데, 요청 문장에는 그런 말이 없으니 받는 쪽이 놓치기 쉽죠. 넷째 줄도 비어 있습니다. 값을 모를 때 어떻게 할지요. 값이 없을 때 「긴급 아님」으로 채워 버리면, 모르는 값을 짐작하지 않는다는 약속이 조용히 깨집니다. 이 빈자리들이 꼭 문제를 일으킨다는 뜻은 아니에요. 운 좋게 잘 돌아갈 수도 있습니다. 다만 무엇이 지켜졌는지 확인할 기준이 어디에도 남지 않는다는 게 문제예요.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요구를 받아 AI에게 맡기는 방식을 둘로 견줘 보겠습니다. 표의 가운데 열이 바이브 코딩, 오른쪽 열이 SDD예요. 바이브 코딩은 자연어 요청과 실행 결과를 중심으로, AI가 만든 코드를 보며 고쳐 가는 방식입니다. 빠르게 시작하고 시도해 보기에는 좋은 방식이에요. 여기서 문제 삼는 건 명세와 검토 없이 그렇게만 고치는 경우입니다. 첫 줄, AI에게 주는 게 요청 문장뿐이죠. 둘째 줄, 그러면 앞 장의 빈자리를 AI가 그때그때 채웁니다. 셋째 줄, 다 됐는지는 실행해 보고 결과가 마음에 드는지로 정해요. SDD, Spec-Driven Development는 요구사항, 계약, 금지 조건, 수용 기준을 구현하기 전에 명세로 먼저 정하고, 그 명세로 구현하고 확인하는 방식입니다. 이번 실습에서는 그 명세를 spec.md라는 파일에 적어요. 파일 이름이 표준인 건 아니고 이 수업이 쓰는 이름입니다. 오른쪽 열을 보면, AI에게 요청과 함께 명세를 주고, 빈자리는 사람이 명세에 미리 정해 둡니다. AI에게 명세 초안을 쓰게 할 수도 있지만, 그 초안을 사람이 검토해 확정해요. 다 됐는지는 수용 기준마다 참인지 거짓인지로 가립니다. 차이가 가장 크게 나는 건 마지막 줄, 남는 것이에요. 바이브 코딩에는 바뀐 코드가 남고, SDD에는 무엇이 달라지고 무엇을 지키기로 했는지 적은 문서가 코드와 함께 남습니다. AI를 쓰느냐가 아니라, 이 기준 문서를 두고 계속 관리하느냐가 두 방식을 가릅니다.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 적는 것 가운데 먼저 계약을 보겠습니다. 계약은 주고받는 항목의 이름, 형식, 뜻을 정한 약속이에요. 화면 왼쪽은 쿨러 경보를 처리하는 HYD 에이전트의 실제 계약입니다. 맨 위가 입력 계약이에요. 설비, 경보, 사건 번호 세 가지만 받습니다. 유온 같은 값은 입력에 없어요. 오른쪽 첫 짚을 점처럼, 값은 판단하는 순간 에이전트가 도구로 읽습니다. 가운데가 출력 계약이고, 원인, 고장 유형, 가이드 카드, 판단, 판단 번호, 이렇게 다섯 항목을 정해진 이름으로 냅니다. 맨 아래가 중요해요. 이 이름을 읽는 쪽이 셋 있습니다. 서버의 형식 검사는 다섯 항목이 다 있는지 봐요. 사건 기록은 가이드 카드를 실어서 승인할 수 있는 조치의 범위로 씁니다. 승인 화면은 판단 번호로 추천안을 찾아 보여 주고요. 그래서 셋째 짚을 점처럼, 긴급 표시를 넣다가 판단 번호의 이름을 바꾸면 승인 화면이 추천안을 찾지 못합니다. 읽는 쪽을 깨는 변경이 되는 거죠. 넷째 짚을 점도 같은 이유입니다. 항목을 하나 더하는 것도 공짜가 아니에요. 읽는 쪽이 모르는 항목을 받아들이는지 먼저 확인해야 합니다. 점검 요청에 긴급 표시를 더할 때도 마찬가지예요. 점검 요청 결과를 읽는 쪽이 있다면, 새 항목을 받아도 기존 항목을 똑같이 읽는지부터 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금지 조건입니다. 화면 왼쪽이 점검 요청 기능의 요구사항이에요. 처음에는 원인 후보와 점검 순서를 내는 것이었고, 앞 실습에서 부족한 정보만 묻고 다시 판단하는 요구가 더해졌고, 이번에 쿨러 경보에 긴급 확인 표시를 붙이는 요구가 더해집니다. 요구사항은 이렇게 회차마다 늘어나요. 오른쪽은 어떤 요구가 더해져도 하지 않을 일, 금지 조건입니다. 첫 줄, 승인 전에는 조치를 실행하지 않습니다. HYD 에이전트의 작업 규칙에도 「절대 금지」 첫 항목으로 사람 대신 승인하는 일이 적혀 있죠. 둘째 줄, 모르는 값을 거짓이나 0, 기본 설비로 채우지 않습니다. 셋째 줄, 답변을 승인으로 받지 않고, 넷째 줄, 실제 설비 기준과 승인 권한을 바꾸지 않아요. 요구사항만 적어 두면, 새 요구를 맞추려고 금지된 일을 해도 그걸 잡아낼 기준이 없습니다. 금지 조건을 따로 적어 두어야 「긴급하니까 이번만」 같은 변경이 명세 위반이라는 게 드러나죠. 반대로 금지 조건 자체를 바꾸려는 요구는 기능 추가가 아니라 정책 변경이라서, 따로 검토를 거칩니다. 이 얘기는 이 단원 끝의 판단 문제에서 다시 다루겠습니다.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명세의 마지막 요소는 수용 기준, Acceptance Criteria입니다. 구현이 요구를 채웠다고 받아들이는 조건인데, 실행 결과를 보고 참인지 거짓인지 가를 수 있게 적어야 해요. 표의 왼쪽은 그렇게 가를 수 없는 문장, 가운데는 같은 뜻을 가를 수 있게 고친 문장, 오른쪽은 실행 뒤 확인할 값입니다. 첫 줄, 「긴급한 요청이 잘 표시된다」는 무엇이 잘인지 사람마다 다르죠. 가운데처럼 고치면 됩니다. 유효한 유온 120초 평균이 60.4도인 쿨러 경보 요청은 긴급 표시가 참이다. 확인할 건 긴급 표시 값 하나예요. 둘째 줄, 「기존 기능은 그대로다」는 같은 입력의 일반 요청이 명세가 정한 기존 항목과 뜻을 그대로 낸다로 바꾸고, 항목별로 대조합니다. 셋째 줄은 앞에서 비어 있던 「값을 모를 때」예요. 유효한 값이 없으면 긴급 표시는 null, 곧 비어 있는 값이고 보류 사유가 남는다. 확인할 건 null인지와 사유가 있는지입니다. 마지막 줄, 긴급 표시가 참이어도 점검 결과는 승인 대기 상태다. 상태 값 하나로 금지 조건이 지켜졌는지 가려집니다. 수용 기준은 구현하기 전에는 무엇을 만들지의 기준이 되고, 구현한 뒤에는 다 됐는지를 확인하는 목록이 돼요. 그리고 다음 단원에서 이 문장들이 그대로 시나리오의 기대 결과가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계약, 금지 조건, 수용 기준을 spec.md 한 장에 모으면 어떤 모양이 될지 보겠습니다. 표의 왼쪽이 명세의 칸, 가운데가 일반 요청에서 그대로 지킬 것, 오른쪽이 긴급 요청 때문에 더해지는 것이에요. 첫 줄 입력은 요청 번호, 설비, 경보, 사례 그대로입니다. 긴급 요청이라고 새 입력 칸이 생기지 않고, 같은 자료에서 유온 평균과 유효성을 읽어요. 둘째 줄 출력 계약에서는 기존 항목의 이름과 뜻을 지키고, 긴급 표시와 그 이유가 더해집니다. 셋째 줄 판정 조건은 일반 요청이면 원인 후보와 점검 순서의 근거이고, 긴급 요청에는 쿨러 경보의 유효한 평균 기준이 더해지죠. 이 기준은 바로 다음 장에서 정확히 보겠습니다. 넷째 줄이 이 장의 요점이에요. 금지 조건은 오른쪽 열에도 「그대로」라고 적혀 있습니다. 긴급이어도 승인 전에는 실행하지 않고, 모르는 값을 짐작하지 않아요. 마지막 줄 수용 기준도 두 열에 따로 적습니다. 일반 요청은 같은 입력의 기존 결과가 그대로인지, 긴급 요청은 참, 거짓, null이 조건대로 나오고 승인 대기인지를 봐요. 왜 이렇게 나눠 적을까요? 한 문단에 「긴급 표시를 추가한다」만 적으면, 무엇이 그대로여야 하는지는 읽는 사람 머릿속에만 남습니다. 칸마다 둘을 나눠 두면 AI도 구현할 때 같은 기준을 보고, 나중에 시나리오를 쓸 때도 일반 사례와 긴급 사례의 기대 결과가 이 표에서 바로 나와요.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이번 회차 실습에서 쓰는 긴급 조건을 정확히 보겠습니다. 수업에서 정해 둔 교육용 조건이에요. 화면 왼쪽을 위에서부터 읽겠습니다. 적용 대상은 쿨러 성능 저하 경보뿐입니다. 판정에 쓰는 값은 유온, 그것도 판단 시각에서 거슬러 올라간 120초 동안의 평균이에요. 순간 값 하나가 아니라 평균을 쓰니 잠깐 튄 값에 휘둘리지 않죠. 그 평균은 두 가지가 유효해야 씁니다. 신선도, 곧 최신 값이 허용하는 시간 안의 것인지. 그리고 표본, 곧 그 120초 구간에 값이 빠짐없이 들어왔는지예요. 오른쪽 둘째 짚을 점처럼 값과 값 사이의 공백이 수집 한도를 넘으면 표본이 부족한 겁니다. 판정은 세 갈래입니다. 유효하고 평균이 60도 이상이면 참, 유효하고 60도 미만이면 거짓이에요. 값이 없거나, 신선도가 실패했거나, 표본이 부족하면 null로 두고 보류 사유를 남깁니다. 첫 짚을 점이 이 회차에서 가장 중요해요. null은 긴급이 아니라는 뜻이 아닙니다. 판단할 값이 없다는 기록이에요. 이걸 거짓으로 채우면, 값이 끊겨서 모르는 설비가 「긴급 아님」으로 지나가 버립니다. 셋째 짚을 점, 60도 「이상」은 수업용 경계입니다. 운전 화면의 유온 경고는 60도 「초과」라서 정확히 60.0도에서 둘이 다르게 판정해요. 이 차이는 시나리오 검증에서 다시 씁니다. 마지막으로 코드 아래 두 줄과 넷째 짚을 점이에요. 다른 경보에는 이 조건을 적용하지 않고 기존 처리를 그대로 하고, 승인 절차와 실제 설비 기준, 승인 역할은 바꾸지 않습니다. 65도에서 설비를 멈추는 인터록 같은 실제 보호 기준은 이 수업 조건과 상관없이 그대로예요.</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사례에 대어 보겠습니다. 표의 사례는 모두 가정한 값이에요. 오른쪽 열을 보기 전에, 앞 장의 조건으로 다섯 줄의 판정을 먼저 내려 보세요. 첫 줄은 HYD-02 쿨러 경보, 평균 61.3도에 신선도와 표본이 모두 유효하니 참입니다. 둘째 줄은 58.2도로 유효하니 거짓이에요. 셋째 줄이 헷갈리기 쉽습니다. 평균은 62도로 기준을 넘었지만 최신 값이 3분 전 것이라 신선도가 실패했어요. 평균이 높다고 참으로 두지 않고 null로 남깁니다. 지금 그 값이 맞는지 아무도 모르니까요. 넷째 줄은 평균이 나오긴 했는데, 구간 안 값이 드문드문 들어와 공백이 수집 한도를 넘었습니다. 표본 부족이라 역시 null이에요. 마지막 줄은 펌프 누설 경보입니다. 유온 평균이 61도여도 이 조건의 적용 대상이 아니라서 긴급 판정을 하지 않고, 기존 처리 그대로 갑니다. 같은 쿨러 경보에서 참, 거짓, null이 다 나온다는 것, 그리고 null을 낼 줄 아는 게 이 조건의 핵심이라는 걸 기억해 두세요.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명세가 섰으면 구현을 맡깁니다. 흐름은 왼쪽에서 오른쪽으로 다섯 칸이에요. 첫 칸에서 명세를 먼저 고칩니다. 달라질 것은 긴급 확인 표시, 지킬 것은 기존 출력과 질문 단계와 승인 조건이죠. 둘째 칸에서 AI에게 spec.md를 읽게 하고, 필요한 부분만 고치게 맡깁니다. 셋째 칸이 자주 건너뛰는 단계예요. 바뀐 파일을 직접 읽어서, 긴급 표시와 상관없는 곳이 함께 바뀌지 않았는지 봅니다. AI가 요청하지 않은 곳까지 손보는 일이 있거든요. 넷째 칸에서 일반 요청, 긴급 요청, 정보가 빠진 요청을 같은 입력과 같은 자료로 실행합니다. 새 기능만 돌려 보면 긴급 표시가 붙은 것만 보이고, 기존 요청의 결과가 달라졌는지는 보이지 않으니까요. 마지막 칸이 판단입니다. 결과가 명세와 어긋나면 어느 쪽을 고칠지 가려요. 구현이 명세와 다르면 구현을 고치고, 명세가 어떤 경우를 빠뜨렸으면 명세를 고칩니다. 하지 않을 일도 하나 있어요. 결과에 맞추려고 기대값을 낮추지는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단원의 판단 문제입니다. 긴급 표시를 다 만든 뒤에, 「긴급이면 승인 없이 바로 조치까지 해 달라」는 요구가 하나 더 왔다고 해 볼게요. 명세를 다루는 쪽에서 어떻게 처리해야 할까요? 1번, 요구사항에 한 줄 더하고 긴급 요청에서만 승인 대기를 뺀다. 2번, 금지 조건과 부딪치므로 구현하지 않고, 승인 권한을 정하는 쪽의 검토로 넘긴다. 3번, 긴급 기준을 55도로 낮춰 더 많은 요청이 빨리 처리되게 한다. 4번, AI에게 요구 문장을 그대로 주고 나온 결과를 보고 정한다. 답은 2번입니다. 이 요구는 기능을 하나 더하는 게 아니라, 「승인 전에는 조치를 실행하지 않는다」는 금지 조건을 바꾸자는 거예요. 1번처럼 요구사항 한 줄로 처리하면 명세 안에서 두 문장이 서로 부딪칩니다. 승인 권한은 이번 기능 추가로 바꾸지 않기로 했으니, 정책을 정하는 쪽에서 따로 검토할 일이죠. 3번은 수업 조건을 근거 없이 바꾸는 거고, 받은 요구에 대한 답도 아닙니다. 4번은 금지 조건을 지킬지 말지를 AI의 해석에 맡겨 버리는 거예요. 앞에서 본 바이브 코딩의 빈자리가 가장 위험한 곳에서 생기는 셈입니다.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단원에서 배운 것으로 실습을 해 보겠습니다. 세 번째 실습은 점검 요청에 긴급 확인 표시를 명세부터 적어 더하는 일입니다. 카드를 왼쪽부터 보면, 입력은 앞 단계의 점검 요청 프로젝트와 앞에서 본 교육용 조건이에요. 쿨러 경보에서 유효한 유온 120초 평균이 60도 이상인지로 가르는 조건이죠. 둘째 카드처럼 spec.md에는 일반 기능과 긴급 요청의 차이를 적고, 값 누락, 신선도 실패, 표본 부족은 미판정이라는 것까지 적습니다. 구현할 때는 셋째 카드처럼 기존 출력과 질문 단계, 승인 조건을 그대로 지켜요. 실제 설비 기준과 승인 권한은 손대지 않습니다. 성공 기준은 마지막 카드입니다. 요청 초안을 열었을 때 긴급 표시가 왜 붙었는지, 그래서 무엇을 확인해야 하는지가 읽혀야 해요. 표시만 붙고 이유가 없으면 받는 사람이 판단할 수 없으니까요. 다음 시간에는 spec.md를 쓰는 것부터 작업 화면에서 직접 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27~28장 통합 발화는 27장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명세에 적은 대로 에이전트가 실제로 행동하는지 확인하는 방법을 다룹니다. 앞의 실습에서 spec.md에 긴급 확인 표시의 조건과 미판정, 그리고 지킬 약속을 적고 그대로 구현해 봤죠. 그런데 명세에 적었다고 그대로 동작한다는 보장은 없습니다. 몇 개를 손으로 돌려 봤다고 다른 경우까지 맞다고 할 수도 없고요. 이 단원의 물음은 이겁니다. 명세에 적은 행동을 어떻게 적어 두어야, 바꿀 때마다 같은 방식으로 되풀이해 확인할 수 있을까요?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답이 되는 방식이 BDD, Behavior-Driven Development입니다. 기대하는 행동을 구체적인 사례로 적은 시나리오를 만들고, 그 시나리오를 실행해서 확인하는 방식이에요. 앞에서 배운 SDD와 무엇이 다른지 표로 견줘 보겠습니다. 가운데 열이 SDD, 오른쪽 열이 BDD예요. 첫 줄, 무엇을 적는가. SDD의 명세는 지킬 것과 달라질 것의 조건을 적고, BDD의 시나리오는 한 상황에서 기대하는 행동 하나를 적습니다. 둘째 줄이 그 차이를 잘 보여 줘요. 같은 긴급 조건이 명세에서는 「유효한 평균이 60도 이상이면 긴급 표시는 참」이라는 규칙으로 적히고, 시나리오에서는 「평균 60.4도인 쿨러 요청을 처리하면 참이 나온다」는 사례 하나로 적힙니다. 셋째 줄, 언제 쓰는가. 명세는 구현하기 전에 요구를 정할 때 쓰고, 시나리오도 구현 전에 적어 둘 수 있지만 진짜 쓰임은 바꿀 때마다 실행하는 데 있어요. 마지막 줄이 핵심입니다. 명세는 수용 기준에 비추어 읽는 문서이고, 시나리오는 실행해서 기대와 대조하는 검사예요. 명세가 무엇을 지킬지 정하면, 시나리오가 그걸 실제로 하는지 확인합니다. 그래서 명세의 계약과 수용 기준이 그대로 시나리오의 기대 결과가 되죠.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 한 편을 직접 읽어 보겠습니다. 화면 왼쪽이 긴급 확인 표시의 시나리오예요. 맨 위의 Feature는 확인하려는 기능, 그 아래 Scenario는 이 시나리오의 이름입니다. 본문은 세 부분이에요. Given은 전제, 곧 행동하기 전의 상태입니다. 쿨러 성능 저하 경보의 점검 요청이 있고, 유온 120초 평균이 60.4도이고, 신선도와 표본이 유효하다. 둘째 짚을 점처럼 값만 적지 않고 유효성까지 적었어요. 유효성이 빠지면 같은 60.4도라도 참인지 null인지 정해지지 않으니까요. When은 확인할 행동 하나입니다. 에이전트가 요청을 처리한다. Then은 기대 결과예요. 긴급 표시는 참이다, 긴급 이유에 판정 값과 기준이 적힌다, 점검 결과는 승인 대기 상태다. And는 앞줄과 같은 부분을 이어 적을 때 씁니다. 넷째 짚을 점처럼 Then에는 실행 결과로 가를 수 있는 사실만 적어요. 「잘 처리된다」라고 쓰면 무엇을 보고 통과로 칠지 사람마다 달라지니까요. 마지막 Then 줄을 보세요. 긴급 표시를 확인하는 시나리오인데 승인 대기 상태도 함께 봅니다. 새 기능을 확인하면서, 지키기로 한 금지 조건도 같은 자리에서 확인하는 거예요. 이렇게 Feature 아래 Scenario를 Given, When, Then, And로 적는 서식을 Gherkin이라고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시나리오에서 가장 실수하기 쉬운 곳이 Then의 기대 결과입니다. 기대 결과를 어디서 가져오느냐에 따라 시험이 쓸모 있기도, 쓸모없기도 하거든요. 같은 사례, 유효한 평균 60.0도인 쿨러 요청으로 두 방법을 견줘 보겠습니다. 왼쪽은 가정한 방법이에요. 구현을 먼저 돌려 보고, 나온 긴급 표시를 그대로 기대값으로 적습니다. 그런데 구현이 60.0도를 거짓으로 냈다면 기대값도 거짓이 되죠. 그러면 시험은 구현이 한 대로 통과합니다. 틀린 구현을 검사하는 게 아니라 따라가기만 하는 거예요. 오른쪽이 이번 회차의 방법입니다. 명세는 유효한 평균이 60도 이상이면 참이라고 했고, 원자료를 보면 평균 60.0도에 신선도와 표본이 유효합니다. 그러니 실행하기 전에 기대값을 참으로 적고, 어느 조건과 어느 값에서 나왔는지 근거를 남겨요. 이렇게 정한 기대값이어야 구현이 틀렸을 때 시험이 실패합니다. 실습에서도 기대 결과는 반드시 실행 전에, 명세와 원자료에서 먼저 정하세요.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시나리오를 글로만 두면 바꿀 때마다 사람이 다시 읽고 손으로 확인해야 합니다. 그래서 시나리오를 실행되는 판정 코드로 옮겨요. 화면 왼쪽은 예시 코드입니다. 맨 위 주석처럼 항목 이름은 각자 프로젝트의 출력 계약을 따르면 돼요. 첫 시험부터 보겠습니다. 시험의 이름이 곧 시나리오 문장이에요. 유효한 평균 60.4도 쿨러 경보는 긴급. 그 아래 두 줄이 Given과 When입니다. 평균 60.4도에 신선도와 표본이 유효한 요청을 만들고, 그 요청을 처리하죠. 그다음 assert로 시작하는 두 줄이 Then이에요. assert는 단언, Assertion이라고 부르는데, 뒤의 식이 참이 아니면 시험이 실패합니다. 긴급 표시가 참인지, 상태가 승인 대기인지를 한 줄씩 단언해요. 두 번째 시험은 신선도가 실패한 경우입니다. 평균은 62도인데 신선도가 거짓이죠. 여기서 셋째 짚을 점을 보세요. 긴급 표시가 None인지, 곧 null인지를 단언합니다. 「거짓이 아닌가」로 검사하면 null과 거짓이 섞여서, 미판정을 내야 할 곳에서 「긴급 아님」을 내도 통과해 버려요. 마지막 줄은 보류 사유가 비어 있지 않은지 봅니다. 이렇게 입력을 코드에 고정해 두면, 넷째 짚을 점처럼 바꿀 때마다 같은 입력으로 그대로 다시 돌릴 수 있습니다. 어긋나면 어느 시험이 실패했는지 이름으로 바로 보이고요.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 하나는 한 경우만 확인합니다. 그럼 몇 개를 만들어야 할까요? 판정이 갈리거나 지키기로 한 약속이 걸린 경우마다 하나씩이에요. 표는 점검 요청에서 필요한 사례를 종류별로 모았습니다. 위 두 줄은 정상입니다. 칸이 다 있는 펌프 누설 경보 요청은 기존 결과 항목을 그대로 내고 긴급 조건은 적용하지 않아요. 쿨러 경보에 유효한 평균 60.4도면 긴급 표시가 참이고 승인 대기입니다. 셋째 줄 경계는 기준 60도의 바로 아래, 같은 값, 바로 위를 넣어서 「이상」대로 갈리는지 봐요. 이건 다음 장에서 자세히 보겠습니다. 그 아래 세 줄은 일이 정상대로 흘러가지 않는 경우예요. 정보가 빠져 조회로도 정할 수 없으면 질문하고 보류하며, 지어낸 값이 없어야 합니다. 담당자가 사유를 적고 거절하면 명령도 후속 업무도 0건이어야 하고요. 센서 조회가 오류를 돌려주면 실패로 기록하고 긴급 표시는 null로 둡니다. 오류를 값이 없는 것처럼 0으로 바꿔 넘기지 않는 거죠. 맨 아래가 회귀입니다. 변경한 뒤 위의 기존 사례를 다시 실행해서, 판정이 변경 전과 같은지 확인해요. 이 줄은 따로 시나리오가 있다기보다, 바꿀 때마다 위 시나리오를 전부 다시 돌린다는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경계 사례를 한 단계 더 들여다보겠습니다. 판정이 갈리는 기준값의 바로 아래, 같은 값, 바로 위를 골라 넣는 방법을 경계값 분석이라고 해요. 표의 왼쪽은 유효한 유온 평균, 가운데는 명세대로 「60도 이상」으로 옮긴 판정, 오른쪽은 실수로 「60도 초과」로 옮겼다고 가정한 판정입니다. 맨 위 58.2도와 맨 아래 61.3도 같은 대표 값에서는 두 열이 똑같아요. 이런 값만 넣어 보면 등호 하나를 빠뜨린 실수가 보이지 않습니다. 59.9도와 60.1도에서도 같고요. 두 열이 갈리는 건 가운데 60.0도 한 줄뿐이에요. 명세대로면 참, 초과로 옮겼으면 거짓이죠. 이 실수가 생각보다 생기기 쉬운 데는 까닭이 있습니다. 운전 화면의 유온 경고가 60도 「초과」라서, 같은 60이라는 숫자를 보고 그쪽 기준을 그대로 옮기기 쉽거든요. 수업 조건의 「이상」과 운전 화면의 「초과」는 정확히 60.0도에서만 다릅니다. 그래서 경계 사례에는 반드시 기준값 자체를 넣어요. 실습에서도 바로 아래, 정확히 60도, 바로 위를 준비해서 확인하게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같은 입력으로 몇 번 되풀이해 돌리면, 결과가 글자까지 똑같지는 않습니다. 그러면 무엇이 달라지면 실패로 셀까요? 왼쪽이 허용하는 차이, 오른쪽이 실패로 세는 차이예요. 왼쪽부터 보면, 긴급 이유를 적은 문장의 낱말과 말투는 실행마다 달라질 수 있습니다. 서로 기대지 않는 조회라면 어느 것을 먼저 하느냐도 달라질 수 있고, 정한 시간 기준 안이라면 걸린 시간도 다를 수 있어요. 뜻과 근거가 같으면 이런 차이는 조건 안에서 허용합니다. 오른쪽은 한 번만 나와도 실패예요. 긴급 표시 항목이 빠지거나 값이 다른 경우, null이어야 할 곳에 거짓이 있는 경우, 판정 값과 기준 같은 근거가 빠진 경우, 승인 전에 확정했거나 다른 요청의 답을 쓴 경우입니다. 모두 계약이나 금지 조건을 어긴 거죠. 이 구분이 있어야 반복 실행이 쓸모가 있습니다. 판정 자체는 같은 값과 같은 조건이면 늘 같게 나와야 하고, 달라지는 건 모델이 쓰는 문장과 과정이에요. 그래서 시험은 문장 전체를 글자로 맞추지 않고, 계약이 정한 항목과 판정을 봅니다. 문장이 조금 다르다고 실패로 세면 시험이 매번 흔들리고, 반대로 판정이 달라졌는데 문장이 비슷하다고 넘기면 진짜 오류를 놓쳐요.</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지금까지 만든 시나리오를 바꿀 때마다 어떻게 쓰는지 보겠습니다. 흐름은 왼쪽에서 오른쪽으로 네 칸이에요. 첫 칸은 변경 전입니다. 일반, 누락, 거절, 오류 시나리오가 모두 통과한 상태죠. 둘째 칸에서 요구가 바뀝니다. 명세에 긴급 조건을 더하고, 긴급과 경계 시나리오를 새로 더해요. 셋째 칸에서 명세를 기준으로 필요한 부분만 고칩니다. 마지막 칸이 회귀 시험, Regression Test예요. 바꾼 뒤에 새 시나리오만이 아니라 기존 시나리오까지 전부 다시 실행해서, 새 기능이 원래 행동을 바꾸지 않았는지 확인합니다. 새 시나리오가 통과했다는 건 새 행동이 맞다는 것까지만 알려 줘요. 기존 행동이 그대로라는 건 기존 시나리오를 다시 돌려야 확인됩니다. 하나라도 실패하면 내보내기 전에 원인부터 찾고요. HYD도 이렇게 운영합니다. 고칠 때마다 전체 시험을 다시 돌린 기록이 있는데, 한 판본에서 2,673개가 통과했어요. 쿨러 사건을 처음부터 끝까지 따라가는 검사 40항목, 펌프와 팬 사건 검사 43항목도 함께 통과한 기록이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시나리오가 실패했을 때 무엇부터 할지 정리해 두겠습니다. 표의 왼쪽이 실패의 증상, 가운데가 먼저 대조할 것, 오른쪽이 고칠 곳이에요. 첫 줄, null이어야 할 곳에 거짓이 나왔다면 유효성을 먼저 검사하고 판정하는지, 그 순서와 실제 입력 값을 봅니다. 예를 들어 평균부터 비교하고 유효성을 나중에 보면 이런 결과가 나올 수 있죠. 고칠 곳은 구현이에요. 둘째 줄, 긴급 이유가 비었거나 엉뚱하면 에이전트의 작업 지침과 실행 기록을 봅니다. 문장을 쓰는 건 모델이니, 지침, 곧 프롬프트를 고치는 경우가 많아요. 셋째 줄, 결과 항목이 빠졌으면 출력 계약과 구현을 대조합니다. 구현을 고치지, 시험을 통과시키려고 계약에서 그 항목을 지우지는 않아요. 넷째 줄은 반대 경우입니다. 대조해 보니 시험의 기대값이 원래 요구와 달랐다면, 그때는 기대값을 고치고 왜 고쳤는지 근거를 남깁니다. 시험도 사람이 쓴 것이라 틀릴 수 있으니까요. 마지막 줄은 하지 않는 일이에요. 원인을 모른 채 통과시키려고 기대값을 낮추는 겁니다. 넷째 줄과 겉보기엔 비슷하지만, 넷째 줄은 명세와 원자료에서 근거를 찾은 정정이고, 이건 결과에 기준을 맞추는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단원의 판단 문제입니다. 긴급 조건을 넣고 검사를 돌렸더니, 유효한 평균 60.0도 사례에서만 기대값은 참인데 결과가 거짓으로 나와 실패했다고 해 볼게요. 먼저 할 일로 맞는 것은? 1번, 기대값을 거짓으로 바꿔 검사를 통과시킨다. 2번, 경계 사례는 드문 값이니 검사 목록에서 뺀다. 3번, 명세의 「이상」과 구현의 비교식을 대조해 고치고, 전체 시나리오를 다시 실행한다. 4번, 모델의 표현 차이로 보고 실패로 세지 않는다. 답은 3번입니다. 기대값은 명세와 원자료에서 정했어요. 명세가 그대로인데 결과가 다르면 고칠 쪽은 구현입니다. 아마 앞에서 경계값으로 본 것처럼 「이상」이 「초과」로 옮겨졌겠죠. 고친 뒤에는 이 사례만 다시 돌리지 않고 전체를 다시 실행해요. 비교식을 고치다 다른 판정이 바뀌지 않았는지 봐야 하니까요. 1번은 틀린 구현에 시험을 맞추는 일이고, 2번은 실수가 드러나는 유일한 자리를 지우는 일입니다. 4번은 판정 값이 달라진 걸 말투 차이처럼 다룬 거라, 앞에서 본 계약 위반에 해당해요.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방법으로 마지막 실습을 해 보겠습니다. 네 번째 실습은 앞에서 긴급 확인 표시를 더한 점검 요청 프로젝트를 직접 정한 기대 결과로 검증하는 일이에요. 카드를 왼쪽부터 보면, 먼저 일반, 긴급, 경계값, 정보 누락, 거절, 도구 오류 사례의 기대 결과를 실행하기 전에 명세와 원자료에서 적습니다. 둘째 카드처럼 테스트 골격에 판정 코드를 구현해서, 긴급 표시와 그 근거, 미확인으로 남긴 것, 그리고 기존 출력 계약을 함께 검사해요. 셋째 카드에서 실패가 나오면 실제 원인을 찾아 고치고, 기존 사례까지 다시 실행합니다. 이때 모델의 표현 차이와 계약 위반을 가르는 거 잊지 마세요. 실패가 없으면 일부러 만들지 않고, 확인한 범위를 그대로 적으면 됩니다. 마지막 카드처럼 새 대상에 적용해 본 결과와, 다음에도 다시 쓸 명세와 검증 기록을 저장합니다. 다음 시간에는 시나리오의 기대 결과를 적는 것부터 작업 화면에서 직접 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40~41장 통합 발화는 40장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지금까지 만든 업무 에이전트를 처음부터 끝까지 한 번에 정리합니다. 점검 요청 에이전트는 경보 한 건을 받아 초안을 내는 데서 시작해서, 사람에게 묻고, 긴급 표시를 더하고, 기대 결과로 검증되는 데까지 왔죠. 그 사이에 Agent, Skill, MCP, HITL, SDD, BDD라는 여섯 개념을 지나왔습니다. 이 단원의 물음은 이겁니다. 에이전트를 업무에 믿고 맡기기까지 무엇이 더해졌고, 다음에 새 업무를 맡길 때는 무엇부터 정해야 할까요? 정리가 끝나면, 검증한 이 작업들이 사람의 승인과 함께 하나의 업무 흐름으로 이어지는 자리까지 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표는 여섯 개념을 수업에서 만난 차례로 놓고, 각각이 푼 문제와 실습에서 남긴 산출물을 적은 겁니다. 첫 줄 Agent는 목표에 따라 도구를 골라 반복 실행하고, 근거가 모자라면 멈추게 했어요. 그 결과가 대상, 관측 시각, 확인 항목, 이유를 갖춘 점검 요청 초안입니다. 둘째 줄 Skill은 반복할 절차와 판단 기준을 묶어서, 다른 회의나 다른 자료에도 같은 방식으로 일하게 했죠. 작업 지침과 다음 협의 안건이 그 산출물이에요. 셋째 줄 MCP는 다른 시스템과 자기 자료를 정해진 도구로 읽게 했습니다. 연결 설정과 조회 도구가 남았고요. 여기까지가 에이전트가 일을 해내게 만든 개념이라면, 아래 셋은 그 일을 믿고 맡기게 만든 개념입니다. HITL은 묻고 멈출 자리와 사람이 정할 결정을 나눴고, 질문과 재개 기록, 승인과 거절의 기록을 남겼어요. SDD는 바뀐 요구에서 지킬 것을 구현 전에 정해 spec.md를 남겼고, BDD는 정한 대로 행동하는지 실행으로 확인해 시나리오와 판정 코드, 회귀 기록을 남겼습니다. 고칠 곳을 찾을 때도 이 둘째 열이 길잡이가 돼요. 에이전트가 절차를 건너뛰면 스킬을, 필요한 값을 못 읽으면 연결을, 묻지 않고 확정했으면 명세의 금지 조건과 사람의 개입 지점을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한 프로젝트가 자라 온 순서로 보겠습니다. 실전반은 회차마다 새 에이전트를 처음부터 만들지 않고, 같은 점검 요청 프로젝트에 기능을 더해 왔어요. 단계 넷을 왼쪽부터 보죠. 첫 단계는 점검 요청 초안입니다. 대상, 관측 시각, 확인 항목, 이유를 적고, 근거 없이 원인을 단정하지 않았어요. 둘째 단계에서 질문과 재개가 더해졌습니다. 부족하거나 어긋난 정보만 묻고 같은 요청 번호로 다시 판단하죠. 셋째 단계에서 긴급 확인 표시가 더해졌어요. spec.md에 조건과 미판정, 금지 조건을 적고, 기존 출력과 질문, 승인을 지키며 구현했습니다. 넷째 단계에서 명세와 원자료로 정한 기대 결과로 새 사례와 기존 사례를 다시 실행했고요. 단계마다 둘째 줄이 그때 지킨 약속입니다. 기능이 하나 더해질 때마다 앞 단계의 약속이 뒤로 그대로 넘어왔다는 게 이 그림의 요점이에요. 근거 없이 단정하지 않는다는 첫 약속은 마지막 단계의 시나리오에서도 여전히 검사 대상입니다.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기능이 쌓이면서 확인하는 장치도 여럿 생겼습니다. 이걸 언제 도는지로 나눠 보면 각각이 무엇을 막는지 분명해져요. 표의 위 세 줄은 요청을 처리할 때마다, 아래 두 줄은 기능을 바꿀 때마다 하는 확인입니다. 첫 줄, 입력 유효성은 요청마다 신선도와 표본을 봐서, 묵은 값이나 빈 구간으로 판정하는 걸 막아요. 둘째 줄, 결과를 낼 때마다 출력 계약 검사와 가드레일이 돌아서, 항목이 빠지거나 규칙에 어긋난 추천을 막습니다. 셋째 줄, 조치를 실행하기 전마다 사람의 승인과 승인 뒤 재확인이 있어서, 승인 없는 실행과 조건이 바뀐 채 하는 실행을 막죠. 이 셋은 지금 처리하는 그 한 건을 지킵니다. 아래 두 줄은 다릅니다. 기능을 바꿀 때마다 시나리오와 판정 코드로 새 기능이 기대대로 판정하는지 보고, 전체 회귀로 기존 약속이 조용히 깨지지 않았는지 봐요. 이건 앞으로 들어올 모든 요청을 지키는 확인입니다. 둘은 서로를 대신하지 못해요. 처리할 때의 검사가 아무리 촘촘해도 바뀐 코드가 경계에서 틀리게 판정하는 건 잡지 못하고, 반대로 회귀가 다 통과해도 오늘 들어온 요청의 값이 묵었는지는 그 순간에 봐야 압니다.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실전반에서 만든 활용 결과를 한자리에 놓아 보겠습니다. 표의 가운데 열이 입력과 도구, 오른쪽 열이 그 결과가 쓸 만한지 판정하는 기준이에요. 첫 줄 조치 검토 결과는 조건표와 후보 비교 기능을 써서, 후보마다 이유와 출처, 추가로 확인할 것을 갖췄는지로 판정했습니다. 둘째 줄 작업 확인 카드는 SOP 원문과 검토한 추출 결과로 만들었고, 준비, 금지, 완료 조건이 원문과 맞는지로 판정했죠. 셋째 줄 점검 요청은 센서 입력과 지식 그래프 조회로 만들었고, 대상, 관측 시각, 확인 항목, 이유가 있는지를 봤습니다. 넷째 줄 다음 협의 안건은 회의와 점검 기록, 변경 이력을 외부 도구로 읽어 만들었고, 다음 회의에서 결정할 질문, 확인된 사실, 남은 확인이 갈려 있는지로 판정했어요. 마지막 줄이 이번 회차의 결과입니다. spec.md, 시나리오, 판정 코드로 새 기능과 기존 기능이 함께 통과하는지를 봤죠. 다섯 줄 모두 비슷한 실행 구조를 썼지만, 목적과 입력, 도구가 달라서 결과물도 판정 기준도 달랐습니다. 에이전트를 잘 쓴다는 건 같은 틀에 이름만 바꿔 넣는 게 아니라, 일마다 무엇을 내야 쓸모 있는지와 그걸 무엇으로 확인할지를 정하는 일이라는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새 업무가 오면 무엇부터 정할까요. 예로 「펌프 누설 요청에도 긴급 표시를 붙여 달라」는 요구가 왔다고 해 보겠습니다. 표의 왼쪽이 정할 다섯 가지, 가운데가 이 요구에 적용한 내용, 오른쪽이 지금 정해진 상태예요. 첫 줄, 맡길 일은 표시와 그 이유를 적는 데까지입니다. 조치를 결정하는 건 맡기지 않고, 이걸 명세에 적어요. 둘째 줄이 이 장의 중심입니다. 어떤 값을, 어떤 구간으로, 어떤 유효성 조건에서 가를지 정해야 하는데, 지금 정해진 교육용 기준은 쿨러 경보 하나뿐이에요. 펌프 누설의 기준은 없습니다. 이건 에이전트나 개발하는 사람이 지어낼 게 아니라, 설비를 책임지는 사람이 정해야 할 값이죠. 셋째 줄, 도구는 압력과 유량 값을 읽는 조회 도구가 필요하고, 그 도구가 읽을 수 있는 범위를 확인합니다. 넷째 줄, 권한은 바뀌지 않아요. 에이전트는 읽기만 하고, 승인은 승인 역할의 사람이 합니다. 마지막 줄, 검증은 새 경보의 시나리오와 경계 사례를 더하고, 쿨러의 긴급 사례와 일반 사례를 회귀로 다시 돌리는 거예요. 다만 기대 결과는 둘째 줄의 기준이 정해진 뒤에야 쓸 수 있습니다. 정리하면, 에이전트에게 맡길 수 있는 일인지는 기술보다 이 다섯 칸이 다 채워졌는지로 가려집니다. 한 칸이라도 비어 있으면, 그 칸부터 사람에게 묻는 게 먼저예요.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운영 중에 생길 만한 판단 문제를 하나 보겠습니다. 쿨러 경보 요청의 긴급 표시가 거짓으로 나왔는데, 담당자가 그 뒤에 운전 화면을 보니 유온이 61도였다고 해 볼게요. 먼저 확인할 것으로 맞는 것은? 1번, 기준을 59도로 낮춰 다시 판정한다. 2번, 판정에 쓴 값의 구간, 판단 시각, 유효성 기록을 화면의 값과 대조한다. 3번, 긴급 표시를 손으로 참으로 고쳐 저장한다. 4번, 모델을 바꿔 같은 요청을 다시 처리한다. 답은 2번입니다. 긴급 판정은 판단 시각에서 거슬러 올라간 120초 평균으로 했어요. 운전 화면의 61도는 담당자가 본 그 순간의 값이고요. 판단한 뒤에 유온이 더 올랐을 수도 있고, 평균은 60도 아래인데 순간 값만 높았을 수도 있습니다. 그래서 언제의 어떤 값으로 판정했는지 기록부터 대조해요. 그래도 판정이 명세와 다르면 그때 구현을 봅니다. 1번은 수업 조건을 근거 없이 바꾸는 거고, 3번은 판정 기록을 손으로 덮어 감사 기록을 망가뜨려요. 4번은 판정이 모델의 문장이 아니라 조건과 값에서 나온다는 걸 놓친 겁니다.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검증한 작업들이 어디로 이어지는지 보겠습니다. 화면은 점검 요청 한 건이 처리되는 길을 왼쪽에서 오른쪽으로 놓은 거예요. 칸마다 첫 줄이 맡는 쪽, 둘째 줄이 이번 회차에 확인한 것입니다. 첫 칸은 요청을 받고 값을 조회하는 일로, 시스템과 에이전트가 맡고 신선도와 표본을 확인했어요. 둘째 칸, 부족한 정보의 질문에는 사람이 답하고, 그 답이 승인이 아니라는 걸 확인했죠. 셋째 칸, 점검 결과와 긴급 표시는 에이전트와 규칙이 내고, 시나리오와 회귀로 검증했습니다. 넷째 칸, 조치의 승인과 거절은 승인 역할의 사람이 하고, 역할과 등급, 감사 기록을 봤어요. 다섯째 칸, 명령과 작업지시는 시스템이 내고, 그 직전에 승인 뒤 재확인이 있습니다. 그 뒤 현장에서 사람이 실제로 점검하는 칸이 이어지는데, 그건 이번 회차에서 검증하지 않았어요. 이렇게 사건 한 건을 처리하는 길에서 일 하나하나는 맡는 쪽이 정해진 한 칸이 됩니다. 그 칸들을 사람의 승인과 함께 순서와 갈림길이 있는 흐름으로 그리는 표기가 BPMN이에요. 이번 회차에 검증한 작업들이 그 흐름의 칸이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회차를 점검 요청 한 건으로 되짚어 보겠습니다. 표의 왼쪽 물음마다, 오른쪽의 헷갈리기 쉬운 짝을 먼저 스스로 가려 보세요. 첫째, 이 요청을 지금 확정해도 되는지는 칸이 다 있고 서로 맞으며 값이 유효한지로 가립니다. 아니면 질문하고 보류하지, 짐작해 채우지 않아요. 둘째, 답에 「승인한 걸로」가 섞여 있으면 업무 정보만 받고 승인은 승인 단계에서 받습니다. 셋째, 검토 에이전트가 문제없다고 했어도 실행 허락의 근거는 승인 역할의 감사 기록이에요. 넷째, 긴급 표시가 null이면 긴급 아님이 아니라 미판정입니다. 값이 없는지, 신선도인지, 표본인지 보류 사유를 봐요. 다섯째, 새 시나리오가 모두 통과했다는 건 새 기능을 확인한 거고, 기존 기능은 기존 시나리오의 회귀 결과로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용어를 정식 명칭과 뜻으로 정리하겠습니다. 표의 위에서부터 읽을게요. HITL은 자동 처리의 정해진 지점에 사람의 확인과 결정을 넣는 방식이고, 감사 기록은 누가 언제 무엇을 결정했는지 나중에 되짚도록 남기는 기록입니다. 가드레일은 입력, 출력, 행동이 정한 경계를 지키는지 확인하는 장치예요. 바이브 코딩은 자연어 요청과 실행 결과를 중심으로 AI가 만든 코드를 고쳐 가는 방식이고, SDD는 구현 전에 요구, 계약, 금지 조건, 수용 기준을 명세로 정하고 그 기준으로 구현하고 확인하는 방식입니다. 계약은 주고받는 항목과 형식, 뜻의 약속이고, 수용 기준은 다 됐는지를 참과 거짓으로 가르는 조건이죠. BDD는 기대 행동을 Given, When, Then 시나리오로 적고 실행으로 확인하는 방식이에요. 경계값 분석은 판정이 갈리는 기준값의 바로 아래, 같은 값, 바로 위를 입력으로 고르는 방법이고, 회귀 시험은 바꾼 뒤 기존 시나리오를 다시 실행해 행동이 그대로인지 확인하는 시험입니다.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퀴즈 세 문제로 배운 구분을 판단에 써 보겠습니다. 문제마다 보기를 듣고 잠깐 멈출 테니 그때 답을 골라 보세요. 정답과 까닭은 세 문제를 다 본 뒤에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쿨러 경보 요청의 유온 평균은 60.8도였지만, 구간 안 값의 공백이 수집 한도를 넘어서 긴급 표시가 null로 나왔어요. 이 결과의 해석과 처리로 맞는 것은? 1번, 긴급이 아니라는 뜻이니 일반 요청과 같이 처리한다. 2번, 평균이 60도를 넘었으니 참으로 고쳐 저장한다. 3번, 미판정으로 두고 보류 사유를 남겨 값을 다시 확인하게 한다. 4번, 판정할 수 없으니 요청을 거절로 닫는다.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점검 결과에 긴급 표시가 참으로 붙었고, 추천안은 가드레일을 통과했으며, 검토 에이전트도 근거에 빠진 것이 없다고 했어요. 팬 최대 운전을 실행해도 된다는 근거는 무엇일까요? 1번, 긴급 표시가 참으로 붙었다는 사실. 2번, 승인 역할 담당자의 승인 기록과 승인 순간의 재확인. 3번, 검토 에이전트가 낸 문제없다는 의견. 4번, 가드레일 통과와 검토 의견이 모두 갖추어졌다는 사실.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문제입니다. 긴급 조건을 넣은 뒤 새 시나리오는 모두 통과했는데, 기존의 거절 시나리오에서 거절한 뒤에 작업지시가 한 건 생겼어요. 맞는 조치는? 1번, 거절 시나리오의 기대값을 작업지시 1건으로 고친다. 2번, 거절은 이번 변경과 상관없으니 시험 목록에서 뺀다. 3번, 새 기능이 모두 통과했으니 변경을 내보낸다. 4번, 기대값은 그대로 두고 바뀐 구현에서 원인을 찾아 고친 뒤 전체를 다시 실행한다.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까닭을 맞춰 보겠습니다. 첫 문제는 3번이에요. null은 판단할 값이 없다는 기록입니다. 평균이 60도를 넘어도 표본이 부족하면 그 평균을 믿을 수 없어요. 그래서 2번처럼 참으로 고치면 안 되고, 1번처럼 긴급 아님으로 다루면 정말 긴급할 수도 있는 설비를 놓칩니다. 4번처럼 거절로 닫는 건 판단을 미룬 게 아니라 요청 자체를 없애는 거고요. 사유를 남기고 값을 다시 확인하게 하는 게 맞습니다. 두 번째는 2번입니다. 긴급 표시는 서두르라는 신호일 뿐 실행 허락이 아니에요. 가드레일 통과는 승인 화면에 올려도 된다는 뜻이고, 검토 에이전트의 말은 의견입니다. 그래서 1번, 3번, 4번 모두 「올려도 된다」까지예요. 실행해도 된다는 근거는 승인 역할 담당자의 승인 기록이고, 승인하는 순간 조건을 다시 확인한 결과까지 있어야 합니다. 세 번째는 4번이에요. 「거절하면 후속 업무가 없다」는 기대값은 명세의 금지 조건에서 왔고, 이번 변경으로 바뀐 적이 없습니다. 그러니 1번처럼 기대값을 결과에 맞추는 건 틀린 구현을 정답으로 삼는 일이고, 2번은 깨진 약속을 감추는 일이에요. 3번은 새 시나리오의 통과가 새 행동까지만 알려 준다는 걸 놓친 겁니다. 구현에서 원인을 찾아 고치고 전체를 다시 돌려야 해요. 이번 회차에서는 점검 요청 에이전트가 사람에게 묻고 멈출 자리를 정하고, 바뀐 요구를 명세로 적어 구현한 뒤, 직접 정한 기대 결과로 새 기능과 기존 기능을 함께 검증했습니다. 다음 회차에서는 이렇게 검증한 작업들을 사람의 승인과 함께 BPMN 업무 흐름으로 그리고 실행해 보겠습니다.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5회차 · 사람과 협업하고 변경된 기능까지 검증하기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사람의 결정과 명세로</a:t>
            </a:r>
          </a:p>
          <a:p>
            <a:pPr algn="l" eaLnBrk="0">
              <a:lnSpc>
                <a:spcPct val="110000"/>
              </a:lnSpc>
            </a:pPr>
            <a:r>
              <a:rPr sz="4000" b="1">
                <a:solidFill>
                  <a:srgbClr val="FFFFFF"/>
                </a:solidFill>
                <a:latin typeface="맑은 고딕"/>
                <a:ea typeface="맑은 고딕"/>
                <a:cs typeface="맑은 고딕"/>
              </a:rPr>
              <a:t>검증하는 점검 요청 에이전트</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점검 요청을 사람이 확정할 자리를 가르고, 바뀐 요구를 명세와 시나리오로 지킨다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user-check" descr="user-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text" descr="file-tex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checklist" descr="checklis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점검 요청 에이전트가 묻고 멈출 자리를 정하고, 바뀐 요구를 명세와 시나리오로 적어 기존 기능과 함께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22588"/>
            <a:ext cx="2567863" cy="3137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23756"/>
            <a:ext cx="2238679" cy="2433447"/>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사람이 확정할 자리</a:t>
            </a:r>
          </a:p>
          <a:p>
            <a:pPr algn="l" eaLnBrk="0" marL="200025" indent="-200025">
              <a:lnSpc>
                <a:spcPct val="110000"/>
              </a:lnSpc>
              <a:spcAft>
                <a:spcPts val="400"/>
              </a:spcAft>
            </a:pPr>
            <a:r>
              <a:rPr sz="1750" b="0">
                <a:solidFill>
                  <a:srgbClr val="1F2A3A"/>
                </a:solidFill>
                <a:latin typeface="맑은 고딕"/>
                <a:ea typeface="맑은 고딕"/>
                <a:cs typeface="맑은 고딕"/>
              </a:rPr>
              <a:t>• 확정할 수 없는 요청을 가른다</a:t>
            </a:r>
          </a:p>
          <a:p>
            <a:pPr algn="l" eaLnBrk="0" marL="200025" indent="-200025">
              <a:lnSpc>
                <a:spcPct val="110000"/>
              </a:lnSpc>
              <a:spcAft>
                <a:spcPts val="400"/>
              </a:spcAft>
            </a:pPr>
            <a:r>
              <a:rPr sz="1750" b="0">
                <a:solidFill>
                  <a:srgbClr val="1F2A3A"/>
                </a:solidFill>
                <a:latin typeface="맑은 고딕"/>
                <a:ea typeface="맑은 고딕"/>
                <a:cs typeface="맑은 고딕"/>
              </a:rPr>
              <a:t>• 승인 · 거절 · 감사 기록을 읽는다</a:t>
            </a:r>
          </a:p>
        </p:txBody>
      </p:sp>
      <p:sp>
        <p:nvSpPr>
          <p:cNvPr id="8" name="Rounded Rectangle 7"/>
          <p:cNvSpPr/>
          <p:nvPr/>
        </p:nvSpPr>
        <p:spPr>
          <a:xfrm>
            <a:off x="777240" y="5130355"/>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13035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HITL</a:t>
            </a:r>
          </a:p>
        </p:txBody>
      </p:sp>
      <p:sp>
        <p:nvSpPr>
          <p:cNvPr id="10" name="Rounded Rectangle 9"/>
          <p:cNvSpPr/>
          <p:nvPr/>
        </p:nvSpPr>
        <p:spPr>
          <a:xfrm>
            <a:off x="3390823" y="2422588"/>
            <a:ext cx="2567863" cy="3137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623756"/>
            <a:ext cx="2238679" cy="2433447"/>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질문과 재개</a:t>
            </a:r>
          </a:p>
          <a:p>
            <a:pPr algn="l" eaLnBrk="0" marL="200025" indent="-200025">
              <a:lnSpc>
                <a:spcPct val="110000"/>
              </a:lnSpc>
              <a:spcAft>
                <a:spcPts val="400"/>
              </a:spcAft>
            </a:pPr>
            <a:r>
              <a:rPr sz="1750" b="0">
                <a:solidFill>
                  <a:srgbClr val="1F2A3A"/>
                </a:solidFill>
                <a:latin typeface="맑은 고딕"/>
                <a:ea typeface="맑은 고딕"/>
                <a:cs typeface="맑은 고딕"/>
              </a:rPr>
              <a:t>• 부족하거나 어긋난 정보만 묻는다</a:t>
            </a:r>
          </a:p>
          <a:p>
            <a:pPr algn="l" eaLnBrk="0" marL="200025" indent="-200025">
              <a:lnSpc>
                <a:spcPct val="110000"/>
              </a:lnSpc>
              <a:spcAft>
                <a:spcPts val="400"/>
              </a:spcAft>
            </a:pPr>
            <a:r>
              <a:rPr sz="1750" b="0">
                <a:solidFill>
                  <a:srgbClr val="1F2A3A"/>
                </a:solidFill>
                <a:latin typeface="맑은 고딕"/>
                <a:ea typeface="맑은 고딕"/>
                <a:cs typeface="맑은 고딕"/>
              </a:rPr>
              <a:t>• 같은 요청에 이어 다시 판단한다</a:t>
            </a:r>
          </a:p>
        </p:txBody>
      </p:sp>
      <p:sp>
        <p:nvSpPr>
          <p:cNvPr id="12" name="Rounded Rectangle 11"/>
          <p:cNvSpPr/>
          <p:nvPr/>
        </p:nvSpPr>
        <p:spPr>
          <a:xfrm>
            <a:off x="3619423" y="5130355"/>
            <a:ext cx="1219199"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5130355"/>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질문 · 재개</a:t>
            </a:r>
          </a:p>
        </p:txBody>
      </p:sp>
      <p:sp>
        <p:nvSpPr>
          <p:cNvPr id="14" name="Rounded Rectangle 13"/>
          <p:cNvSpPr/>
          <p:nvPr/>
        </p:nvSpPr>
        <p:spPr>
          <a:xfrm>
            <a:off x="6233007" y="2422588"/>
            <a:ext cx="2567863" cy="3137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623756"/>
            <a:ext cx="2238679" cy="2433447"/>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명세로 넓히는 요구</a:t>
            </a:r>
          </a:p>
          <a:p>
            <a:pPr algn="l" eaLnBrk="0" marL="200025" indent="-200025">
              <a:lnSpc>
                <a:spcPct val="110000"/>
              </a:lnSpc>
              <a:spcAft>
                <a:spcPts val="400"/>
              </a:spcAft>
            </a:pPr>
            <a:r>
              <a:rPr sz="1750" b="0">
                <a:solidFill>
                  <a:srgbClr val="1F2A3A"/>
                </a:solidFill>
                <a:latin typeface="맑은 고딕"/>
                <a:ea typeface="맑은 고딕"/>
                <a:cs typeface="맑은 고딕"/>
              </a:rPr>
              <a:t>• 긴급 확인 표시를 명세로 적는다</a:t>
            </a:r>
          </a:p>
          <a:p>
            <a:pPr algn="l" eaLnBrk="0" marL="200025" indent="-200025">
              <a:lnSpc>
                <a:spcPct val="110000"/>
              </a:lnSpc>
              <a:spcAft>
                <a:spcPts val="400"/>
              </a:spcAft>
            </a:pPr>
            <a:r>
              <a:rPr sz="1750" b="0">
                <a:solidFill>
                  <a:srgbClr val="1F2A3A"/>
                </a:solidFill>
                <a:latin typeface="맑은 고딕"/>
                <a:ea typeface="맑은 고딕"/>
                <a:cs typeface="맑은 고딕"/>
              </a:rPr>
              <a:t>• 기존 출력과 승인을 지킨다</a:t>
            </a:r>
          </a:p>
        </p:txBody>
      </p:sp>
      <p:sp>
        <p:nvSpPr>
          <p:cNvPr id="16" name="Rounded Rectangle 15"/>
          <p:cNvSpPr/>
          <p:nvPr/>
        </p:nvSpPr>
        <p:spPr>
          <a:xfrm>
            <a:off x="6461607" y="513035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513035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SDD</a:t>
            </a:r>
          </a:p>
        </p:txBody>
      </p:sp>
      <p:sp>
        <p:nvSpPr>
          <p:cNvPr id="18" name="Rounded Rectangle 17"/>
          <p:cNvSpPr/>
          <p:nvPr/>
        </p:nvSpPr>
        <p:spPr>
          <a:xfrm>
            <a:off x="9075191" y="2422588"/>
            <a:ext cx="2567863" cy="3137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TextBox 18"/>
          <p:cNvSpPr txBox="1"/>
          <p:nvPr/>
        </p:nvSpPr>
        <p:spPr>
          <a:xfrm>
            <a:off x="9239783" y="2623756"/>
            <a:ext cx="2238679" cy="2433447"/>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기대 결과와 회귀</a:t>
            </a:r>
          </a:p>
          <a:p>
            <a:pPr algn="l" eaLnBrk="0" marL="200025" indent="-200025">
              <a:lnSpc>
                <a:spcPct val="110000"/>
              </a:lnSpc>
              <a:spcAft>
                <a:spcPts val="400"/>
              </a:spcAft>
            </a:pPr>
            <a:r>
              <a:rPr sz="1750" b="0">
                <a:solidFill>
                  <a:srgbClr val="1F2A3A"/>
                </a:solidFill>
                <a:latin typeface="맑은 고딕"/>
                <a:ea typeface="맑은 고딕"/>
                <a:cs typeface="맑은 고딕"/>
              </a:rPr>
              <a:t>• 기대 결과를 먼저 정한다</a:t>
            </a:r>
          </a:p>
          <a:p>
            <a:pPr algn="l" eaLnBrk="0" marL="200025" indent="-200025">
              <a:lnSpc>
                <a:spcPct val="110000"/>
              </a:lnSpc>
              <a:spcAft>
                <a:spcPts val="400"/>
              </a:spcAft>
            </a:pPr>
            <a:r>
              <a:rPr sz="1750" b="0">
                <a:solidFill>
                  <a:srgbClr val="1F2A3A"/>
                </a:solidFill>
                <a:latin typeface="맑은 고딕"/>
                <a:ea typeface="맑은 고딕"/>
                <a:cs typeface="맑은 고딕"/>
              </a:rPr>
              <a:t>• 새 사례와 기존 사례를 다시 실행한다</a:t>
            </a:r>
          </a:p>
        </p:txBody>
      </p:sp>
      <p:sp>
        <p:nvSpPr>
          <p:cNvPr id="20" name="Rounded Rectangle 19"/>
          <p:cNvSpPr/>
          <p:nvPr/>
        </p:nvSpPr>
        <p:spPr>
          <a:xfrm>
            <a:off x="9303791" y="5130355"/>
            <a:ext cx="822960" cy="292608"/>
          </a:xfrm>
          <a:prstGeom prst="roundRect">
            <a:avLst>
              <a:gd name="adj" fmla="val 50000"/>
            </a:avLst>
          </a:prstGeom>
          <a:solidFill>
            <a:srgbClr val="5CB8F2"/>
          </a:solidFill>
          <a:ln>
            <a:noFill/>
          </a:ln>
        </p:spPr>
        <p:txBody>
          <a:bodyPr rtlCol="0" anchor="ctr"/>
          <a:lstStyle/>
          <a:p>
            <a:pPr algn="ctr"/>
          </a:p>
        </p:txBody>
      </p:sp>
      <p:sp>
        <p:nvSpPr>
          <p:cNvPr id="21" name="TextBox 20"/>
          <p:cNvSpPr txBox="1"/>
          <p:nvPr/>
        </p:nvSpPr>
        <p:spPr>
          <a:xfrm>
            <a:off x="9303791" y="513035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BDD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HITL: 사람이 확정하는 자리</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01</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승인과 거절 · 확인 질문과 재처리</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SDD: 기존 기능을 지키는 요구 확장</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02</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명세에 따른 요구사항 추가</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BDD: 기대 행동의 시나리오 검증</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03</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기존 기능과 추가 기능 검증</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4</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제작과 검증의 정리</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04</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복습 · 용어 · 퀴즈</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HITL: 점검 요청을</a:t>
            </a:r>
          </a:p>
          <a:p>
            <a:pPr algn="l" eaLnBrk="0">
              <a:lnSpc>
                <a:spcPct val="110000"/>
              </a:lnSpc>
            </a:pPr>
            <a:r>
              <a:rPr sz="3400" b="1">
                <a:solidFill>
                  <a:srgbClr val="13294B"/>
                </a:solidFill>
                <a:latin typeface="맑은 고딕"/>
                <a:ea typeface="맑은 고딕"/>
                <a:cs typeface="맑은 고딕"/>
              </a:rPr>
              <a:t>사람이 확정하는 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확정할 수 없는 요청을 가르고, 결정과 기록의 주인을 정한다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바로 확정할 수 없는 점검 요청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점검 요청은 칸이 빠졌거나 서로 어긋나거나 값이 묵었으면, 에이전트가 혼자 확정하지 않고 사람에게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점검 요청의 상태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 (수업용 요청)</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에이전트가 할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판단할 칸이 다 있다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HYD-01 · 쿨러 성능 저하 경보 · 사례 번호</a:t>
            </a:r>
          </a:p>
          <a:p>
            <a:pPr algn="l" eaLnBrk="0">
              <a:lnSpc>
                <a:spcPct val="110000"/>
              </a:lnSpc>
            </a:pPr>
            <a:r>
              <a:rPr sz="1400" b="0">
                <a:solidFill>
                  <a:srgbClr val="1F2A3A"/>
                </a:solidFill>
                <a:latin typeface="맑은 고딕"/>
                <a:ea typeface="맑은 고딕"/>
                <a:cs typeface="맑은 고딕"/>
              </a:rPr>
              <a:t>판단 시각의 값이 유효하다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점검 결과를 낸다</a:t>
            </a:r>
          </a:p>
          <a:p>
            <a:pPr algn="l" eaLnBrk="0">
              <a:lnSpc>
                <a:spcPct val="110000"/>
              </a:lnSpc>
            </a:pPr>
            <a:r>
              <a:rPr sz="1250" b="1">
                <a:solidFill>
                  <a:srgbClr val="556175"/>
                </a:solidFill>
                <a:latin typeface="맑은 고딕"/>
                <a:ea typeface="맑은 고딕"/>
                <a:cs typeface="맑은 고딕"/>
              </a:rPr>
              <a:t>조치는 승인 대기</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칸이 빠졌다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「유압 쪽에 경보가 났습니다」</a:t>
            </a:r>
          </a:p>
          <a:p>
            <a:pPr algn="l" eaLnBrk="0">
              <a:lnSpc>
                <a:spcPct val="110000"/>
              </a:lnSpc>
            </a:pPr>
            <a:r>
              <a:rPr sz="1400" b="0">
                <a:solidFill>
                  <a:srgbClr val="1F2A3A"/>
                </a:solidFill>
                <a:latin typeface="맑은 고딕"/>
                <a:ea typeface="맑은 고딕"/>
                <a:cs typeface="맑은 고딕"/>
              </a:rPr>
              <a:t>설비 · 경보 · 사례가 모두 비었다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조회로 못 정하면</a:t>
            </a:r>
          </a:p>
          <a:p>
            <a:pPr algn="l" eaLnBrk="0">
              <a:lnSpc>
                <a:spcPct val="110000"/>
              </a:lnSpc>
            </a:pPr>
            <a:r>
              <a:rPr sz="1250" b="1">
                <a:solidFill>
                  <a:srgbClr val="556175"/>
                </a:solidFill>
                <a:latin typeface="맑은 고딕"/>
                <a:ea typeface="맑은 고딕"/>
                <a:cs typeface="맑은 고딕"/>
              </a:rPr>
              <a:t>묻고 보류</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칸끼리 어긋난다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설비는 HYD-01로 적었는데</a:t>
            </a:r>
          </a:p>
          <a:p>
            <a:pPr algn="l" eaLnBrk="0">
              <a:lnSpc>
                <a:spcPct val="110000"/>
              </a:lnSpc>
            </a:pPr>
            <a:r>
              <a:rPr sz="1400" b="0">
                <a:solidFill>
                  <a:srgbClr val="1F2A3A"/>
                </a:solidFill>
                <a:latin typeface="맑은 고딕"/>
                <a:ea typeface="맑은 고딕"/>
                <a:cs typeface="맑은 고딕"/>
              </a:rPr>
              <a:t>사례는 HYD-02에서 읽은 값이다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한쪽으로 덮지 않고</a:t>
            </a:r>
          </a:p>
          <a:p>
            <a:pPr algn="l" eaLnBrk="0">
              <a:lnSpc>
                <a:spcPct val="110000"/>
              </a:lnSpc>
            </a:pPr>
            <a:r>
              <a:rPr sz="1250" b="1">
                <a:solidFill>
                  <a:srgbClr val="556175"/>
                </a:solidFill>
                <a:latin typeface="맑은 고딕"/>
                <a:ea typeface="맑은 고딕"/>
                <a:cs typeface="맑은 고딕"/>
              </a:rPr>
              <a:t>묻고 보류</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값이 묵었다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최신 유온 값이 185초 전 것이다</a:t>
            </a:r>
          </a:p>
          <a:p>
            <a:pPr algn="l" eaLnBrk="0">
              <a:lnSpc>
                <a:spcPct val="110000"/>
              </a:lnSpc>
            </a:pPr>
            <a:r>
              <a:rPr sz="1400" b="0">
                <a:solidFill>
                  <a:srgbClr val="1F2A3A"/>
                </a:solidFill>
                <a:latin typeface="맑은 고딕"/>
                <a:ea typeface="맑은 고딕"/>
                <a:cs typeface="맑은 고딕"/>
              </a:rPr>
              <a:t>신선도 한도는 60초다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원인을 고르지 않고</a:t>
            </a:r>
          </a:p>
          <a:p>
            <a:pPr algn="l" eaLnBrk="0">
              <a:lnSpc>
                <a:spcPct val="110000"/>
              </a:lnSpc>
            </a:pPr>
            <a:r>
              <a:rPr sz="1250" b="1">
                <a:solidFill>
                  <a:srgbClr val="556175"/>
                </a:solidFill>
                <a:latin typeface="맑은 고딕"/>
                <a:ea typeface="맑은 고딕"/>
                <a:cs typeface="맑은 고딕"/>
              </a:rPr>
              <a:t>보류 사유를 남긴다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조치를 실행한다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 · 작업지시처럼</a:t>
            </a:r>
          </a:p>
          <a:p>
            <a:pPr algn="l" eaLnBrk="0">
              <a:lnSpc>
                <a:spcPct val="110000"/>
              </a:lnSpc>
            </a:pPr>
            <a:r>
              <a:rPr sz="1400" b="0">
                <a:solidFill>
                  <a:srgbClr val="1F2A3A"/>
                </a:solidFill>
                <a:latin typeface="맑은 고딕"/>
                <a:ea typeface="맑은 고딕"/>
                <a:cs typeface="맑은 고딕"/>
              </a:rPr>
              <a:t>설비와 업무를 바꾸는 일</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승인 역할의</a:t>
            </a:r>
          </a:p>
          <a:p>
            <a:pPr algn="l" eaLnBrk="0">
              <a:lnSpc>
                <a:spcPct val="110000"/>
              </a:lnSpc>
            </a:pPr>
            <a:r>
              <a:rPr sz="1250" b="1">
                <a:solidFill>
                  <a:srgbClr val="1A6FC4"/>
                </a:solidFill>
                <a:latin typeface="맑은 고딕"/>
                <a:ea typeface="맑은 고딕"/>
                <a:cs typeface="맑은 고딕"/>
              </a:rPr>
              <a:t>사람이 결정한다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HITL(Human-in-the-Loop): 일마다 정한 결정자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HITL</a:t>
            </a:r>
            <a:r>
              <a:rPr sz="1600" b="0">
                <a:solidFill>
                  <a:srgbClr val="556175"/>
                </a:solidFill>
                <a:latin typeface="맑은 고딕"/>
                <a:ea typeface="맑은 고딕"/>
                <a:cs typeface="맑은 고딕"/>
              </a:rPr>
              <a:t>은 자동 처리의 정해진 지점에 사람의 확인과 결정을 넣는 방식이며, 되돌리기 어려운 일일수록 사람이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점검 요청 처리의 일</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정하는 쪽</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까닭</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 조회 · 원인 후보 · 점검 순서</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에이전트와 시스템이 자동으로 한다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읽고 계산할 뿐</a:t>
            </a:r>
          </a:p>
          <a:p>
            <a:pPr algn="l" eaLnBrk="0">
              <a:lnSpc>
                <a:spcPct val="110000"/>
              </a:lnSpc>
            </a:pPr>
            <a:r>
              <a:rPr sz="1250" b="1">
                <a:solidFill>
                  <a:srgbClr val="556175"/>
                </a:solidFill>
                <a:latin typeface="맑은 고딕"/>
                <a:ea typeface="맑은 고딕"/>
                <a:cs typeface="맑은 고딕"/>
              </a:rPr>
              <a:t>설비를 바꾸지 않는다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빠진 업무 정보</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요청한 사람이 답한다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도구로도</a:t>
            </a:r>
          </a:p>
          <a:p>
            <a:pPr algn="l" eaLnBrk="0">
              <a:lnSpc>
                <a:spcPct val="110000"/>
              </a:lnSpc>
            </a:pPr>
            <a:r>
              <a:rPr sz="1250" b="1">
                <a:solidFill>
                  <a:srgbClr val="556175"/>
                </a:solidFill>
                <a:latin typeface="맑은 고딕"/>
                <a:ea typeface="맑은 고딕"/>
                <a:cs typeface="맑은 고딕"/>
              </a:rPr>
              <a:t>알 수 없는 값이다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명령 · 작업지시</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역할의 담당자가 승인하거나 거절한다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실행하면 설비와</a:t>
            </a:r>
          </a:p>
          <a:p>
            <a:pPr algn="l" eaLnBrk="0">
              <a:lnSpc>
                <a:spcPct val="110000"/>
              </a:lnSpc>
            </a:pPr>
            <a:r>
              <a:rPr sz="1250" b="1">
                <a:solidFill>
                  <a:srgbClr val="1A6FC4"/>
                </a:solidFill>
                <a:latin typeface="맑은 고딕"/>
                <a:ea typeface="맑은 고딕"/>
                <a:cs typeface="맑은 고딕"/>
              </a:rPr>
              <a:t>생산이 달라진다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한도를 넘겨 멈춘 작업</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기록을 읽고 사유를 적어 닫는다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정상 결과가</a:t>
            </a:r>
          </a:p>
          <a:p>
            <a:pPr algn="l" eaLnBrk="0">
              <a:lnSpc>
                <a:spcPct val="110000"/>
              </a:lnSpc>
            </a:pPr>
            <a:r>
              <a:rPr sz="1250" b="1">
                <a:solidFill>
                  <a:srgbClr val="556175"/>
                </a:solidFill>
                <a:latin typeface="맑은 고딕"/>
                <a:ea typeface="맑은 고딕"/>
                <a:cs typeface="맑은 고딕"/>
              </a:rPr>
              <a:t>나오지 않는다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 거절 · 보류가 처리 건에 남기는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승인만 설비 명령으로 이어지고 거절은 명령 없이 닫히며, 보류는 누가 왜 멈췄는지에 따라 할 일이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결정</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사건과 HYD의 처리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 건은</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11:14:56 운전원 승인, 1초 뒤 팬 속도 100 % 명령</a:t>
            </a:r>
          </a:p>
          <a:p>
            <a:pPr algn="l" eaLnBrk="0">
              <a:lnSpc>
                <a:spcPct val="110000"/>
              </a:lnSpc>
            </a:pPr>
            <a:r>
              <a:rPr sz="1400" b="0">
                <a:solidFill>
                  <a:srgbClr val="1F2A3A"/>
                </a:solidFill>
                <a:latin typeface="맑은 고딕"/>
                <a:ea typeface="맑은 고딕"/>
                <a:cs typeface="맑은 고딕"/>
              </a:rPr>
              <a:t>재관측 유온 51.5 ℃ · 작업지시 등록</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끝까지 처리된다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사유를 적어야 받아들여진다</a:t>
            </a:r>
          </a:p>
          <a:p>
            <a:pPr algn="l" eaLnBrk="0">
              <a:lnSpc>
                <a:spcPct val="110000"/>
              </a:lnSpc>
            </a:pPr>
            <a:r>
              <a:rPr sz="1400" b="0">
                <a:solidFill>
                  <a:srgbClr val="1F2A3A"/>
                </a:solidFill>
                <a:latin typeface="맑은 고딕"/>
                <a:ea typeface="맑은 고딕"/>
                <a:cs typeface="맑은 고딕"/>
              </a:rPr>
              <a:t>설비 명령 · 업무 처리는 0건이다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거절로 닫힌다</a:t>
            </a:r>
          </a:p>
          <a:p>
            <a:pPr algn="l" eaLnBrk="0">
              <a:lnSpc>
                <a:spcPct val="110000"/>
              </a:lnSpc>
            </a:pPr>
            <a:r>
              <a:rPr sz="1250" b="1">
                <a:solidFill>
                  <a:srgbClr val="556175"/>
                </a:solidFill>
                <a:latin typeface="맑은 고딕"/>
                <a:ea typeface="맑은 고딕"/>
                <a:cs typeface="맑은 고딕"/>
              </a:rPr>
              <a:t>(기록의 값은 반려)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보류: 사람의 무응답</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기한 10분이 지나면 지연 알림만 나간다</a:t>
            </a:r>
          </a:p>
          <a:p>
            <a:pPr algn="l" eaLnBrk="0">
              <a:lnSpc>
                <a:spcPct val="110000"/>
              </a:lnSpc>
            </a:pPr>
            <a:r>
              <a:rPr sz="1400" b="0">
                <a:solidFill>
                  <a:srgbClr val="1F2A3A"/>
                </a:solidFill>
                <a:latin typeface="맑은 고딕"/>
                <a:ea typeface="맑은 고딕"/>
                <a:cs typeface="맑은 고딕"/>
              </a:rPr>
              <a:t>알림 뒤에도 승인 · 거절할 수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작업이</a:t>
            </a:r>
          </a:p>
          <a:p>
            <a:pPr algn="l" eaLnBrk="0">
              <a:lnSpc>
                <a:spcPct val="110000"/>
              </a:lnSpc>
            </a:pPr>
            <a:r>
              <a:rPr sz="1250" b="1">
                <a:solidFill>
                  <a:srgbClr val="556175"/>
                </a:solidFill>
                <a:latin typeface="맑은 고딕"/>
                <a:ea typeface="맑은 고딕"/>
                <a:cs typeface="맑은 고딕"/>
              </a:rPr>
              <a:t>열린 채 기다린다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보류: 에이전트의 멈춤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근거가 모자라 결과를 내지 않았다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처리하거나</a:t>
            </a:r>
          </a:p>
          <a:p>
            <a:pPr algn="l" eaLnBrk="0">
              <a:lnSpc>
                <a:spcPct val="110000"/>
              </a:lnSpc>
            </a:pPr>
            <a:r>
              <a:rPr sz="1250" b="1">
                <a:solidFill>
                  <a:srgbClr val="556175"/>
                </a:solidFill>
                <a:latin typeface="맑은 고딕"/>
                <a:ea typeface="맑은 고딕"/>
                <a:cs typeface="맑은 고딕"/>
              </a:rPr>
              <a:t>사람이 닫는다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보류: 에이전트의 질문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필수 업무 정보를 묻고 기다린다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받으면</a:t>
            </a:r>
          </a:p>
          <a:p>
            <a:pPr algn="l" eaLnBrk="0">
              <a:lnSpc>
                <a:spcPct val="110000"/>
              </a:lnSpc>
            </a:pPr>
            <a:r>
              <a:rPr sz="1250" b="1">
                <a:solidFill>
                  <a:srgbClr val="556175"/>
                </a:solidFill>
                <a:latin typeface="맑은 고딕"/>
                <a:ea typeface="맑은 고딕"/>
                <a:cs typeface="맑은 고딕"/>
              </a:rPr>
              <a:t>이어서 처리한다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질문과 재개: 같은 요청 번호에 잇는 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답은 질문을 낸 요청 번호에만 이어 붙이고, 빠진 업무 정보를 채울 뿐 승인이나 권한을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요청</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REQ-A  </a:t>
            </a:r>
            <a:r>
              <a:rPr sz="1300" b="0">
                <a:solidFill>
                  <a:srgbClr val="E8EEF6"/>
                </a:solidFill>
                <a:latin typeface="맑은 고딕"/>
                <a:ea typeface="맑은 고딕"/>
                <a:cs typeface="맑은 고딕"/>
              </a:rPr>
              <a:t>「유압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쪽에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났습니다」</a:t>
            </a:r>
          </a:p>
          <a:p>
            <a:pPr algn="l" eaLnBrk="0">
              <a:lnSpc>
                <a:spcPct val="110000"/>
              </a:lnSpc>
              <a:spcAft>
                <a:spcPts val="200"/>
              </a:spcAft>
            </a:pPr>
            <a:r>
              <a:rPr sz="1300" b="0">
                <a:solidFill>
                  <a:srgbClr val="E8EEF6"/>
                </a:solidFill>
                <a:latin typeface="맑은 고딕"/>
                <a:ea typeface="맑은 고딕"/>
                <a:cs typeface="맑은 고딕"/>
              </a:rPr>
              <a:t>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없다</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p>
          <a:p>
            <a:pPr algn="l" eaLnBrk="0">
              <a:lnSpc>
                <a:spcPct val="110000"/>
              </a:lnSpc>
              <a:spcAft>
                <a:spcPts val="200"/>
              </a:spcAft>
            </a:pPr>
            <a:r>
              <a:rPr sz="1300" b="0">
                <a:solidFill>
                  <a:srgbClr val="E8EEF6"/>
                </a:solidFill>
                <a:latin typeface="맑은 고딕"/>
                <a:ea typeface="맑은 고딕"/>
                <a:cs typeface="맑은 고딕"/>
              </a:rPr>
              <a:t>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HYD-01</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REQ-A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사례가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둘이다</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질문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p>
          <a:p>
            <a:pPr algn="l" eaLnBrk="0">
              <a:lnSpc>
                <a:spcPct val="110000"/>
              </a:lnSpc>
              <a:spcAft>
                <a:spcPts val="200"/>
              </a:spcAft>
            </a:pPr>
            <a:r>
              <a:rPr sz="1300" b="0">
                <a:solidFill>
                  <a:srgbClr val="E8EEF6"/>
                </a:solidFill>
                <a:latin typeface="맑은 고딕"/>
                <a:ea typeface="맑은 고딕"/>
                <a:cs typeface="맑은 고딕"/>
              </a:rPr>
              <a:t>③</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REQ-A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재개</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a:t>
            </a:r>
          </a:p>
          <a:p>
            <a:pPr algn="l" eaLnBrk="0">
              <a:lnSpc>
                <a:spcPct val="110000"/>
              </a:lnSpc>
              <a:spcAft>
                <a:spcPts val="200"/>
              </a:spcAft>
            </a:pPr>
            <a:r>
              <a:rPr sz="1300" b="0">
                <a:solidFill>
                  <a:srgbClr val="E8EEF6"/>
                </a:solidFill>
                <a:latin typeface="Consolas"/>
                <a:ea typeface="맑은 고딕"/>
                <a:cs typeface="맑은 고딕"/>
              </a:rPr>
              <a:t>REQ-B</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답을</a:t>
            </a:r>
            <a:r>
              <a:rPr sz="1300" b="0">
                <a:solidFill>
                  <a:srgbClr val="E8EEF6"/>
                </a:solidFill>
                <a:latin typeface="Consolas"/>
                <a:ea typeface="맑은 고딕"/>
                <a:cs typeface="맑은 고딕"/>
              </a:rPr>
              <a:t> REQ-A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맑은 고딕"/>
                <a:ea typeface="맑은 고딕"/>
                <a:cs typeface="맑은 고딕"/>
              </a:rPr>
              <a:t>「급하니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먼저 조회한다</a:t>
            </a:r>
          </a:p>
          <a:p>
            <a:pPr algn="l" eaLnBrk="0">
              <a:lnSpc>
                <a:spcPct val="110000"/>
              </a:lnSpc>
              <a:spcAft>
                <a:spcPts val="400"/>
              </a:spcAft>
            </a:pPr>
            <a:r>
              <a:rPr sz="1400" b="0">
                <a:solidFill>
                  <a:srgbClr val="1F2A3A"/>
                </a:solidFill>
                <a:latin typeface="맑은 고딕"/>
                <a:ea typeface="맑은 고딕"/>
                <a:cs typeface="맑은 고딕"/>
              </a:rPr>
              <a:t>도구로 정할 수 있는 값은 묻지 않는다. 묻는 것은 빠지거나 어긋난 값뿐이다.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요청 번호</a:t>
            </a:r>
          </a:p>
          <a:p>
            <a:pPr algn="l" eaLnBrk="0">
              <a:lnSpc>
                <a:spcPct val="110000"/>
              </a:lnSpc>
              <a:spcAft>
                <a:spcPts val="400"/>
              </a:spcAft>
            </a:pPr>
            <a:r>
              <a:rPr sz="1400" b="0">
                <a:solidFill>
                  <a:srgbClr val="1F2A3A"/>
                </a:solidFill>
                <a:latin typeface="맑은 고딕"/>
                <a:ea typeface="맑은 고딕"/>
                <a:cs typeface="맑은 고딕"/>
              </a:rPr>
              <a:t>답은 그 질문을 낸 요청에만 붙는다. 다른 요청의 답은 섞지 않는다.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재개</a:t>
            </a:r>
          </a:p>
          <a:p>
            <a:pPr algn="l" eaLnBrk="0">
              <a:lnSpc>
                <a:spcPct val="110000"/>
              </a:lnSpc>
              <a:spcAft>
                <a:spcPts val="400"/>
              </a:spcAft>
            </a:pPr>
            <a:r>
              <a:rPr sz="1400" b="0">
                <a:solidFill>
                  <a:srgbClr val="1F2A3A"/>
                </a:solidFill>
                <a:latin typeface="맑은 고딕"/>
                <a:ea typeface="맑은 고딕"/>
                <a:cs typeface="맑은 고딕"/>
              </a:rPr>
              <a:t>답을 반영해 같은 요청의 판단을 이어 간다. 질문 전후의 상태가 기록에 남는다.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답의 한계</a:t>
            </a:r>
          </a:p>
          <a:p>
            <a:pPr algn="l" eaLnBrk="0">
              <a:lnSpc>
                <a:spcPct val="110000"/>
              </a:lnSpc>
              <a:spcAft>
                <a:spcPts val="400"/>
              </a:spcAft>
            </a:pPr>
            <a:r>
              <a:rPr sz="1400" b="0">
                <a:solidFill>
                  <a:srgbClr val="1F2A3A"/>
                </a:solidFill>
                <a:latin typeface="맑은 고딕"/>
                <a:ea typeface="맑은 고딕"/>
                <a:cs typeface="맑은 고딕"/>
              </a:rPr>
              <a:t>「답변은 실행 권한을 바꾸지 않습니다.」 승인은 승인 단계에서 받는다.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설비와 사례가 어긋난 요청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점검 요청에 설비는 HYD-01로 적혔는데, 함께 적힌 사례 번호는 HYD-02에서 읽은 값 묶음이라고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에이전트의 처리로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사례 번호가 더 구체적이니 설비를 HYD-02로 고쳐 진행한다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설비를 믿고 HYD-01의 가장 최근 사례로 바꿔 진행한다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어긋남을 기록하고 어느 쪽이 맞는지 물은 뒤, 답을 받기 전까지 보류한다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두 설비를 모두 분석해 더 심각한 쪽 결과를 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권한 검사와 감사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요청은 역할과 등급부터 검사받고, 통과하면 누가 무엇을 언제 정했는지를 시스템만 </a:t>
            </a:r>
            <a:r>
              <a:rPr sz="1600" b="1">
                <a:solidFill>
                  <a:srgbClr val="1A6FC4"/>
                </a:solidFill>
                <a:latin typeface="맑은 고딕"/>
                <a:ea typeface="맑은 고딕"/>
                <a:cs typeface="맑은 고딕"/>
              </a:rPr>
              <a:t>감사 기록</a:t>
            </a:r>
            <a:r>
              <a:rPr sz="1600" b="0">
                <a:solidFill>
                  <a:srgbClr val="556175"/>
                </a:solidFill>
                <a:latin typeface="맑은 고딕"/>
                <a:ea typeface="맑은 고딕"/>
                <a:cs typeface="맑은 고딕"/>
              </a:rPr>
              <a:t>에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요청을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검사한다</a:t>
            </a:r>
          </a:p>
          <a:p>
            <a:pPr algn="l" eaLnBrk="0">
              <a:lnSpc>
                <a:spcPct val="110000"/>
              </a:lnSpc>
              <a:spcAft>
                <a:spcPts val="200"/>
              </a:spcAft>
            </a:pPr>
            <a:r>
              <a:rPr sz="1300" b="0">
                <a:solidFill>
                  <a:srgbClr val="E8EEF6"/>
                </a:solidFill>
                <a:latin typeface="맑은 고딕"/>
                <a:ea typeface="맑은 고딕"/>
                <a:cs typeface="맑은 고딕"/>
              </a:rPr>
              <a:t>승인자가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내세운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역할의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구성원인가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거부</a:t>
            </a:r>
          </a:p>
          <a:p>
            <a:pPr algn="l" eaLnBrk="0">
              <a:lnSpc>
                <a:spcPct val="110000"/>
              </a:lnSpc>
              <a:spcAft>
                <a:spcPts val="200"/>
              </a:spcAft>
            </a:pP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역할이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등급인가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(1)</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설비보전팀장</a:t>
            </a:r>
            <a:r>
              <a:rPr sz="1300" b="0">
                <a:solidFill>
                  <a:srgbClr val="E8EEF6"/>
                </a:solidFill>
                <a:latin typeface="Consolas"/>
                <a:ea typeface="맑은 고딕"/>
                <a:cs typeface="맑은 고딕"/>
              </a:rPr>
              <a:t>(2)</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팀장</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공장장</a:t>
            </a:r>
            <a:r>
              <a:rPr sz="1300" b="0">
                <a:solidFill>
                  <a:srgbClr val="E8EEF6"/>
                </a:solidFill>
                <a:latin typeface="Consolas"/>
                <a:ea typeface="맑은 고딕"/>
                <a:cs typeface="맑은 고딕"/>
              </a:rPr>
              <a:t> 3</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통과하면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적는다</a:t>
            </a:r>
          </a:p>
          <a:p>
            <a:pPr algn="l" eaLnBrk="0">
              <a:lnSpc>
                <a:spcPct val="110000"/>
              </a:lnSpc>
              <a:spcAft>
                <a:spcPts val="200"/>
              </a:spcAft>
            </a:pPr>
            <a:r>
              <a:rPr sz="1300" b="0">
                <a:solidFill>
                  <a:srgbClr val="E8EEF6"/>
                </a:solidFill>
                <a:latin typeface="Consolas"/>
                <a:ea typeface="맑은 고딕"/>
                <a:cs typeface="맑은 고딕"/>
              </a:rPr>
              <a:t>approved_by      </a:t>
            </a:r>
            <a:r>
              <a:rPr sz="1300" b="0">
                <a:solidFill>
                  <a:srgbClr val="E8EEF6"/>
                </a:solidFill>
                <a:latin typeface="맑은 고딕"/>
                <a:ea typeface="맑은 고딕"/>
                <a:cs typeface="맑은 고딕"/>
              </a:rPr>
              <a:t>승인한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p>
          <a:p>
            <a:pPr algn="l" eaLnBrk="0">
              <a:lnSpc>
                <a:spcPct val="110000"/>
              </a:lnSpc>
              <a:spcAft>
                <a:spcPts val="200"/>
              </a:spcAft>
            </a:pPr>
            <a:r>
              <a:rPr sz="1300" b="0">
                <a:solidFill>
                  <a:srgbClr val="E8EEF6"/>
                </a:solidFill>
                <a:latin typeface="Consolas"/>
                <a:ea typeface="맑은 고딕"/>
                <a:cs typeface="맑은 고딕"/>
              </a:rPr>
              <a:t>approved_role    </a:t>
            </a:r>
            <a:r>
              <a:rPr sz="1300" b="0">
                <a:solidFill>
                  <a:srgbClr val="E8EEF6"/>
                </a:solidFill>
                <a:latin typeface="맑은 고딕"/>
                <a:ea typeface="맑은 고딕"/>
                <a:cs typeface="맑은 고딕"/>
              </a:rPr>
              <a:t>운전원</a:t>
            </a:r>
          </a:p>
          <a:p>
            <a:pPr algn="l" eaLnBrk="0">
              <a:lnSpc>
                <a:spcPct val="110000"/>
              </a:lnSpc>
              <a:spcAft>
                <a:spcPts val="200"/>
              </a:spcAft>
            </a:pPr>
            <a:r>
              <a:rPr sz="1300" b="0">
                <a:solidFill>
                  <a:srgbClr val="E8EEF6"/>
                </a:solidFill>
                <a:latin typeface="Consolas"/>
                <a:ea typeface="맑은 고딕"/>
                <a:cs typeface="맑은 고딕"/>
              </a:rPr>
              <a:t>approved_option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11:14:56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기다린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13</a:t>
            </a:r>
            <a:r>
              <a:rPr sz="1300" b="0">
                <a:solidFill>
                  <a:srgbClr val="E8EEF6"/>
                </a:solidFill>
                <a:latin typeface="맑은 고딕"/>
                <a:ea typeface="맑은 고딕"/>
                <a:cs typeface="맑은 고딕"/>
              </a:rPr>
              <a:t>초</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61.8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역할 · 등급</a:t>
            </a:r>
          </a:p>
          <a:p>
            <a:pPr algn="l" eaLnBrk="0">
              <a:lnSpc>
                <a:spcPct val="110000"/>
              </a:lnSpc>
              <a:spcAft>
                <a:spcPts val="400"/>
              </a:spcAft>
            </a:pPr>
            <a:r>
              <a:rPr sz="1400" b="0">
                <a:solidFill>
                  <a:srgbClr val="1F2A3A"/>
                </a:solidFill>
                <a:latin typeface="맑은 고딕"/>
                <a:ea typeface="맑은 고딕"/>
                <a:cs typeface="맑은 고딕"/>
              </a:rPr>
              <a:t>같은 등급이라도 다른 역할은 대신 승인하지 못한다.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보호 값</a:t>
            </a:r>
          </a:p>
          <a:p>
            <a:pPr algn="l" eaLnBrk="0">
              <a:lnSpc>
                <a:spcPct val="110000"/>
              </a:lnSpc>
              <a:spcAft>
                <a:spcPts val="400"/>
              </a:spcAft>
            </a:pPr>
            <a:r>
              <a:rPr sz="1400" b="0">
                <a:solidFill>
                  <a:srgbClr val="1F2A3A"/>
                </a:solidFill>
                <a:latin typeface="맑은 고딕"/>
                <a:ea typeface="맑은 고딕"/>
                <a:cs typeface="맑은 고딕"/>
              </a:rPr>
              <a:t>승인 칸은 승인 경로에서만 채워진다. 에이전트의 출력으로는 적을 수 없다.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감사 기록(Audit Trail)</a:t>
            </a:r>
          </a:p>
          <a:p>
            <a:pPr algn="l" eaLnBrk="0">
              <a:lnSpc>
                <a:spcPct val="110000"/>
              </a:lnSpc>
              <a:spcAft>
                <a:spcPts val="400"/>
              </a:spcAft>
            </a:pPr>
            <a:r>
              <a:rPr sz="1400" b="0">
                <a:solidFill>
                  <a:srgbClr val="1F2A3A"/>
                </a:solidFill>
                <a:latin typeface="맑은 고딕"/>
                <a:ea typeface="맑은 고딕"/>
                <a:cs typeface="맑은 고딕"/>
              </a:rPr>
              <a:t>결정의 책임을 나중에 되짚는 근거다. 거절도 사유와 함께 남는다.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다시 읽은 값</a:t>
            </a:r>
          </a:p>
          <a:p>
            <a:pPr algn="l" eaLnBrk="0">
              <a:lnSpc>
                <a:spcPct val="110000"/>
              </a:lnSpc>
              <a:spcAft>
                <a:spcPts val="400"/>
              </a:spcAft>
            </a:pPr>
            <a:r>
              <a:rPr sz="1400" b="0">
                <a:solidFill>
                  <a:srgbClr val="1F2A3A"/>
                </a:solidFill>
                <a:latin typeface="맑은 고딕"/>
                <a:ea typeface="맑은 고딕"/>
                <a:cs typeface="맑은 고딕"/>
              </a:rPr>
              <a:t>추천 때가 아니라 승인하는 순간의 값이다.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자체 검토 · 가드레일 · 사람의 승인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AI의 검토와 시스템의 검사는 사람에게 올려도 되는지까지만 가르고, 실행해도 되는지는 사람의 승인이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누가 · 무엇을</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통과가 뜻하는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AI의 자체 검토</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작성한 에이전트나 다른 에이전트가</a:t>
            </a:r>
          </a:p>
          <a:p>
            <a:pPr algn="l" eaLnBrk="0">
              <a:lnSpc>
                <a:spcPct val="110000"/>
              </a:lnSpc>
            </a:pPr>
            <a:r>
              <a:rPr sz="1400" b="0">
                <a:solidFill>
                  <a:srgbClr val="1F2A3A"/>
                </a:solidFill>
                <a:latin typeface="맑은 고딕"/>
                <a:ea typeface="맑은 고딕"/>
                <a:cs typeface="맑은 고딕"/>
              </a:rPr>
              <a:t>근거 · 누락을 짚는다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의견이다</a:t>
            </a:r>
          </a:p>
          <a:p>
            <a:pPr algn="l" eaLnBrk="0">
              <a:lnSpc>
                <a:spcPct val="110000"/>
              </a:lnSpc>
            </a:pPr>
            <a:r>
              <a:rPr sz="1250" b="1">
                <a:solidFill>
                  <a:srgbClr val="556175"/>
                </a:solidFill>
                <a:latin typeface="맑은 고딕"/>
                <a:ea typeface="맑은 고딕"/>
                <a:cs typeface="맑은 고딕"/>
              </a:rPr>
              <a:t>결정이 아니다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가드레일(Guardrail)</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시스템이 코드 규칙으로 검사한다</a:t>
            </a:r>
          </a:p>
          <a:p>
            <a:pPr algn="l" eaLnBrk="0">
              <a:lnSpc>
                <a:spcPct val="110000"/>
              </a:lnSpc>
            </a:pPr>
            <a:r>
              <a:rPr sz="1400" b="0">
                <a:solidFill>
                  <a:srgbClr val="1F2A3A"/>
                </a:solidFill>
                <a:latin typeface="맑은 고딕"/>
                <a:ea typeface="맑은 고딕"/>
                <a:cs typeface="맑은 고딕"/>
              </a:rPr>
              <a:t>규칙 인용 · 제외 규칙 · 승인 역할 · SOP 단계</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화면에</a:t>
            </a:r>
          </a:p>
          <a:p>
            <a:pPr algn="l" eaLnBrk="0">
              <a:lnSpc>
                <a:spcPct val="110000"/>
              </a:lnSpc>
            </a:pPr>
            <a:r>
              <a:rPr sz="1250" b="1">
                <a:solidFill>
                  <a:srgbClr val="556175"/>
                </a:solidFill>
                <a:latin typeface="맑은 고딕"/>
                <a:ea typeface="맑은 고딕"/>
                <a:cs typeface="맑은 고딕"/>
              </a:rPr>
              <a:t>올려도 된다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사람의 승인</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역할의 담당자가</a:t>
            </a:r>
          </a:p>
          <a:p>
            <a:pPr algn="l" eaLnBrk="0">
              <a:lnSpc>
                <a:spcPct val="110000"/>
              </a:lnSpc>
            </a:pPr>
            <a:r>
              <a:rPr sz="1400" b="0">
                <a:solidFill>
                  <a:srgbClr val="1F2A3A"/>
                </a:solidFill>
                <a:latin typeface="맑은 고딕"/>
                <a:ea typeface="맑은 고딕"/>
                <a:cs typeface="맑은 고딕"/>
              </a:rPr>
              <a:t>추천안을 고르거나 거절한다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실행해도 된다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뒤 재확인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시스템이 지금의 값과 규칙으로</a:t>
            </a:r>
          </a:p>
          <a:p>
            <a:pPr algn="l" eaLnBrk="0">
              <a:lnSpc>
                <a:spcPct val="110000"/>
              </a:lnSpc>
            </a:pPr>
            <a:r>
              <a:rPr sz="1400" b="0">
                <a:solidFill>
                  <a:srgbClr val="1F2A3A"/>
                </a:solidFill>
                <a:latin typeface="맑은 고딕"/>
                <a:ea typeface="맑은 고딕"/>
                <a:cs typeface="맑은 고딕"/>
              </a:rPr>
              <a:t>고른 안을 다시 검사한다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조건이 바뀌었으면</a:t>
            </a:r>
          </a:p>
          <a:p>
            <a:pPr algn="l" eaLnBrk="0">
              <a:lnSpc>
                <a:spcPct val="110000"/>
              </a:lnSpc>
            </a:pPr>
            <a:r>
              <a:rPr sz="1250" b="1">
                <a:solidFill>
                  <a:srgbClr val="556175"/>
                </a:solidFill>
                <a:latin typeface="맑은 고딕"/>
                <a:ea typeface="맑은 고딕"/>
                <a:cs typeface="맑은 고딕"/>
              </a:rPr>
              <a:t>새 판단과 승인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승인과 거절</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승인 대기 작업의 역할과 근거를 읽고, 승인 · 거절 사례의 처리 결과와 실행 이력을 견준다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대기 작업의 결정과 실행 이력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수업용 승인 · 거절 사례를 열어 결정마다 처리 건의 상태와 실행 이력이 어떻게 갈리는지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589149"/>
            <a:ext cx="2567863" cy="280441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79031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입력</a:t>
            </a:r>
          </a:p>
          <a:p>
            <a:pPr algn="l" eaLnBrk="0" marL="200025" indent="-200025">
              <a:lnSpc>
                <a:spcPct val="110000"/>
              </a:lnSpc>
              <a:spcAft>
                <a:spcPts val="400"/>
              </a:spcAft>
            </a:pPr>
            <a:r>
              <a:rPr sz="1750" b="0">
                <a:solidFill>
                  <a:srgbClr val="1F2A3A"/>
                </a:solidFill>
                <a:latin typeface="맑은 고딕"/>
                <a:ea typeface="맑은 고딕"/>
                <a:cs typeface="맑은 고딕"/>
              </a:rPr>
              <a:t>• 처리 건과 내 작업함</a:t>
            </a:r>
          </a:p>
          <a:p>
            <a:pPr algn="l" eaLnBrk="0" marL="200025" indent="-200025">
              <a:lnSpc>
                <a:spcPct val="110000"/>
              </a:lnSpc>
              <a:spcAft>
                <a:spcPts val="400"/>
              </a:spcAft>
            </a:pPr>
            <a:r>
              <a:rPr sz="1750" b="0">
                <a:solidFill>
                  <a:srgbClr val="1F2A3A"/>
                </a:solidFill>
                <a:latin typeface="맑은 고딕"/>
                <a:ea typeface="맑은 고딕"/>
                <a:cs typeface="맑은 고딕"/>
              </a:rPr>
              <a:t>• 대기 작업 · 역할 · 근거</a:t>
            </a:r>
          </a:p>
        </p:txBody>
      </p:sp>
      <p:sp>
        <p:nvSpPr>
          <p:cNvPr id="8" name="Rounded Rectangle 7"/>
          <p:cNvSpPr/>
          <p:nvPr/>
        </p:nvSpPr>
        <p:spPr>
          <a:xfrm>
            <a:off x="777240" y="4963795"/>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96379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수업용 사례</a:t>
            </a:r>
          </a:p>
        </p:txBody>
      </p:sp>
      <p:sp>
        <p:nvSpPr>
          <p:cNvPr id="10" name="Rounded Rectangle 9"/>
          <p:cNvSpPr/>
          <p:nvPr/>
        </p:nvSpPr>
        <p:spPr>
          <a:xfrm>
            <a:off x="3390823" y="2589149"/>
            <a:ext cx="2567863" cy="280441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79031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할 일</a:t>
            </a:r>
          </a:p>
          <a:p>
            <a:pPr algn="l" eaLnBrk="0" marL="200025" indent="-200025">
              <a:lnSpc>
                <a:spcPct val="110000"/>
              </a:lnSpc>
              <a:spcAft>
                <a:spcPts val="400"/>
              </a:spcAft>
            </a:pPr>
            <a:r>
              <a:rPr sz="1750" b="0">
                <a:solidFill>
                  <a:srgbClr val="1F2A3A"/>
                </a:solidFill>
                <a:latin typeface="맑은 고딕"/>
                <a:ea typeface="맑은 고딕"/>
                <a:cs typeface="맑은 고딕"/>
              </a:rPr>
              <a:t>• 승인 · 거절 결과를 견준다</a:t>
            </a:r>
          </a:p>
          <a:p>
            <a:pPr algn="l" eaLnBrk="0" marL="200025" indent="-200025">
              <a:lnSpc>
                <a:spcPct val="110000"/>
              </a:lnSpc>
              <a:spcAft>
                <a:spcPts val="400"/>
              </a:spcAft>
            </a:pPr>
            <a:r>
              <a:rPr sz="1750" b="0">
                <a:solidFill>
                  <a:srgbClr val="1F2A3A"/>
                </a:solidFill>
                <a:latin typeface="맑은 고딕"/>
                <a:ea typeface="맑은 고딕"/>
                <a:cs typeface="맑은 고딕"/>
              </a:rPr>
              <a:t>• 대기와 완료를 가른다</a:t>
            </a:r>
          </a:p>
        </p:txBody>
      </p:sp>
      <p:sp>
        <p:nvSpPr>
          <p:cNvPr id="12" name="Rounded Rectangle 11"/>
          <p:cNvSpPr/>
          <p:nvPr/>
        </p:nvSpPr>
        <p:spPr>
          <a:xfrm>
            <a:off x="3619423" y="4963795"/>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96379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비교</a:t>
            </a:r>
          </a:p>
        </p:txBody>
      </p:sp>
      <p:sp>
        <p:nvSpPr>
          <p:cNvPr id="14" name="Rounded Rectangle 13"/>
          <p:cNvSpPr/>
          <p:nvPr/>
        </p:nvSpPr>
        <p:spPr>
          <a:xfrm>
            <a:off x="6233007" y="2589149"/>
            <a:ext cx="2567863" cy="280441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6397599" y="279031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성공 기준</a:t>
            </a:r>
          </a:p>
          <a:p>
            <a:pPr algn="l" eaLnBrk="0" marL="188595" indent="-188595">
              <a:lnSpc>
                <a:spcPct val="110000"/>
              </a:lnSpc>
              <a:spcAft>
                <a:spcPts val="400"/>
              </a:spcAft>
            </a:pPr>
            <a:r>
              <a:rPr sz="1650" b="0">
                <a:solidFill>
                  <a:srgbClr val="1F2A3A"/>
                </a:solidFill>
                <a:latin typeface="맑은 고딕"/>
                <a:ea typeface="맑은 고딕"/>
                <a:cs typeface="맑은 고딕"/>
              </a:rPr>
              <a:t>• 미승인 추천에 명령이 없다</a:t>
            </a:r>
          </a:p>
          <a:p>
            <a:pPr algn="l" eaLnBrk="0" marL="188595" indent="-188595">
              <a:lnSpc>
                <a:spcPct val="110000"/>
              </a:lnSpc>
              <a:spcAft>
                <a:spcPts val="400"/>
              </a:spcAft>
            </a:pPr>
            <a:r>
              <a:rPr sz="1650" b="0">
                <a:solidFill>
                  <a:srgbClr val="1F2A3A"/>
                </a:solidFill>
                <a:latin typeface="맑은 고딕"/>
                <a:ea typeface="맑은 고딕"/>
                <a:cs typeface="맑은 고딕"/>
              </a:rPr>
              <a:t>• 업무 처리도 없음을 이력으로 확인</a:t>
            </a:r>
          </a:p>
        </p:txBody>
      </p:sp>
      <p:sp>
        <p:nvSpPr>
          <p:cNvPr id="16" name="Rounded Rectangle 15"/>
          <p:cNvSpPr/>
          <p:nvPr/>
        </p:nvSpPr>
        <p:spPr>
          <a:xfrm>
            <a:off x="6461607" y="4963795"/>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6461607" y="4963795"/>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이력 확인</a:t>
            </a:r>
          </a:p>
        </p:txBody>
      </p:sp>
      <p:sp>
        <p:nvSpPr>
          <p:cNvPr id="18" name="Rounded Rectangle 17"/>
          <p:cNvSpPr/>
          <p:nvPr/>
        </p:nvSpPr>
        <p:spPr>
          <a:xfrm>
            <a:off x="9075191" y="2589149"/>
            <a:ext cx="2567863" cy="280441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9239783" y="279031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산출물</a:t>
            </a:r>
          </a:p>
          <a:p>
            <a:pPr algn="l" eaLnBrk="0" marL="200025" indent="-200025">
              <a:lnSpc>
                <a:spcPct val="110000"/>
              </a:lnSpc>
              <a:spcAft>
                <a:spcPts val="400"/>
              </a:spcAft>
            </a:pPr>
            <a:r>
              <a:rPr sz="1750" b="0">
                <a:solidFill>
                  <a:srgbClr val="1F2A3A"/>
                </a:solidFill>
                <a:latin typeface="맑은 고딕"/>
                <a:ea typeface="맑은 고딕"/>
                <a:cs typeface="맑은 고딕"/>
              </a:rPr>
              <a:t>• 사례별 역할 · 결정 · 결과</a:t>
            </a:r>
          </a:p>
          <a:p>
            <a:pPr algn="l" eaLnBrk="0" marL="200025" indent="-200025">
              <a:lnSpc>
                <a:spcPct val="110000"/>
              </a:lnSpc>
              <a:spcAft>
                <a:spcPts val="400"/>
              </a:spcAft>
            </a:pPr>
            <a:r>
              <a:rPr sz="1750" b="0">
                <a:solidFill>
                  <a:srgbClr val="1F2A3A"/>
                </a:solidFill>
                <a:latin typeface="맑은 고딕"/>
                <a:ea typeface="맑은 고딕"/>
                <a:cs typeface="맑은 고딕"/>
              </a:rPr>
              <a:t>• 미확인은 그대로 적는다</a:t>
            </a:r>
          </a:p>
        </p:txBody>
      </p:sp>
      <p:sp>
        <p:nvSpPr>
          <p:cNvPr id="20" name="Rounded Rectangle 19"/>
          <p:cNvSpPr/>
          <p:nvPr/>
        </p:nvSpPr>
        <p:spPr>
          <a:xfrm>
            <a:off x="9303791" y="4963795"/>
            <a:ext cx="1021080" cy="292608"/>
          </a:xfrm>
          <a:prstGeom prst="roundRect">
            <a:avLst>
              <a:gd name="adj" fmla="val 50000"/>
            </a:avLst>
          </a:prstGeom>
          <a:solidFill>
            <a:srgbClr val="D3D9E1"/>
          </a:solidFill>
          <a:ln>
            <a:noFill/>
          </a:ln>
        </p:spPr>
        <p:txBody>
          <a:bodyPr rtlCol="0" anchor="ctr"/>
          <a:lstStyle/>
          <a:p>
            <a:pPr algn="ctr"/>
          </a:p>
        </p:txBody>
      </p:sp>
      <p:sp>
        <p:nvSpPr>
          <p:cNvPr id="21" name="TextBox 20"/>
          <p:cNvSpPr txBox="1"/>
          <p:nvPr/>
        </p:nvSpPr>
        <p:spPr>
          <a:xfrm>
            <a:off x="9303791" y="4963795"/>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 기록</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확인 질문과 재처리</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점검 요청 기능이 부족하거나 어긋난 정보만 묻고, 답을 같은 요청에 이어 다시 판단하게 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점검 요청의 질문 · 재개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이전 단계의 점검 요청 기능에 질문 단계를 더하고, 답 전후의 확인 항목 변화를 같은 요청 번호로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724721"/>
            <a:ext cx="2567863" cy="253326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92588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출발점</a:t>
            </a:r>
          </a:p>
          <a:p>
            <a:pPr algn="l" eaLnBrk="0" marL="200025" indent="-200025">
              <a:lnSpc>
                <a:spcPct val="110000"/>
              </a:lnSpc>
              <a:spcAft>
                <a:spcPts val="400"/>
              </a:spcAft>
            </a:pPr>
            <a:r>
              <a:rPr sz="1750" b="0">
                <a:solidFill>
                  <a:srgbClr val="1F2A3A"/>
                </a:solidFill>
                <a:latin typeface="맑은 고딕"/>
                <a:ea typeface="맑은 고딕"/>
                <a:cs typeface="맑은 고딕"/>
              </a:rPr>
              <a:t>• 제공된 이전 단계 기능</a:t>
            </a:r>
          </a:p>
          <a:p>
            <a:pPr algn="l" eaLnBrk="0" marL="200025" indent="-200025">
              <a:lnSpc>
                <a:spcPct val="110000"/>
              </a:lnSpc>
              <a:spcAft>
                <a:spcPts val="400"/>
              </a:spcAft>
            </a:pPr>
            <a:r>
              <a:rPr sz="1750" b="0">
                <a:solidFill>
                  <a:srgbClr val="1F2A3A"/>
                </a:solidFill>
                <a:latin typeface="맑은 고딕"/>
                <a:ea typeface="맑은 고딕"/>
                <a:cs typeface="맑은 고딕"/>
              </a:rPr>
              <a:t>• 요청 · 센서 · 온톨로지 자료</a:t>
            </a:r>
          </a:p>
        </p:txBody>
      </p:sp>
      <p:sp>
        <p:nvSpPr>
          <p:cNvPr id="8" name="Rounded Rectangle 7"/>
          <p:cNvSpPr/>
          <p:nvPr/>
        </p:nvSpPr>
        <p:spPr>
          <a:xfrm>
            <a:off x="777240" y="4828222"/>
            <a:ext cx="1325879"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828222"/>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같은 프로젝트</a:t>
            </a:r>
          </a:p>
        </p:txBody>
      </p:sp>
      <p:sp>
        <p:nvSpPr>
          <p:cNvPr id="10" name="Rounded Rectangle 9"/>
          <p:cNvSpPr/>
          <p:nvPr/>
        </p:nvSpPr>
        <p:spPr>
          <a:xfrm>
            <a:off x="3390823" y="2724721"/>
            <a:ext cx="2567863" cy="253326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92588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구현</a:t>
            </a:r>
          </a:p>
          <a:p>
            <a:pPr algn="l" eaLnBrk="0" marL="200025" indent="-200025">
              <a:lnSpc>
                <a:spcPct val="110000"/>
              </a:lnSpc>
              <a:spcAft>
                <a:spcPts val="400"/>
              </a:spcAft>
            </a:pPr>
            <a:r>
              <a:rPr sz="1750" b="0">
                <a:solidFill>
                  <a:srgbClr val="1F2A3A"/>
                </a:solidFill>
                <a:latin typeface="맑은 고딕"/>
                <a:ea typeface="맑은 고딕"/>
                <a:cs typeface="맑은 고딕"/>
              </a:rPr>
              <a:t>• 기존 자료로 먼저 확인</a:t>
            </a:r>
          </a:p>
          <a:p>
            <a:pPr algn="l" eaLnBrk="0" marL="200025" indent="-200025">
              <a:lnSpc>
                <a:spcPct val="110000"/>
              </a:lnSpc>
              <a:spcAft>
                <a:spcPts val="400"/>
              </a:spcAft>
            </a:pPr>
            <a:r>
              <a:rPr sz="1750" b="0">
                <a:solidFill>
                  <a:srgbClr val="1F2A3A"/>
                </a:solidFill>
                <a:latin typeface="맑은 고딕"/>
                <a:ea typeface="맑은 고딕"/>
                <a:cs typeface="맑은 고딕"/>
              </a:rPr>
              <a:t>• 부족 · 어긋난 정보만 질문</a:t>
            </a:r>
          </a:p>
        </p:txBody>
      </p:sp>
      <p:sp>
        <p:nvSpPr>
          <p:cNvPr id="12" name="Rounded Rectangle 11"/>
          <p:cNvSpPr/>
          <p:nvPr/>
        </p:nvSpPr>
        <p:spPr>
          <a:xfrm>
            <a:off x="3619423" y="4828222"/>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82822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질문 단계</a:t>
            </a:r>
          </a:p>
        </p:txBody>
      </p:sp>
      <p:sp>
        <p:nvSpPr>
          <p:cNvPr id="14" name="Rounded Rectangle 13"/>
          <p:cNvSpPr/>
          <p:nvPr/>
        </p:nvSpPr>
        <p:spPr>
          <a:xfrm>
            <a:off x="6233007" y="2724721"/>
            <a:ext cx="2567863" cy="253326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92588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재개와 대조</a:t>
            </a:r>
          </a:p>
          <a:p>
            <a:pPr algn="l" eaLnBrk="0" marL="200025" indent="-200025">
              <a:lnSpc>
                <a:spcPct val="110000"/>
              </a:lnSpc>
              <a:spcAft>
                <a:spcPts val="400"/>
              </a:spcAft>
            </a:pPr>
            <a:r>
              <a:rPr sz="1750" b="0">
                <a:solidFill>
                  <a:srgbClr val="1F2A3A"/>
                </a:solidFill>
                <a:latin typeface="맑은 고딕"/>
                <a:ea typeface="맑은 고딕"/>
                <a:cs typeface="맑은 고딕"/>
              </a:rPr>
              <a:t>• 같은 요청 번호로 재판단</a:t>
            </a:r>
          </a:p>
          <a:p>
            <a:pPr algn="l" eaLnBrk="0" marL="200025" indent="-200025">
              <a:lnSpc>
                <a:spcPct val="110000"/>
              </a:lnSpc>
              <a:spcAft>
                <a:spcPts val="400"/>
              </a:spcAft>
            </a:pPr>
            <a:r>
              <a:rPr sz="1750" b="0">
                <a:solidFill>
                  <a:srgbClr val="1F2A3A"/>
                </a:solidFill>
                <a:latin typeface="맑은 고딕"/>
                <a:ea typeface="맑은 고딕"/>
                <a:cs typeface="맑은 고딕"/>
              </a:rPr>
              <a:t>• 다른 요청의 답 섞임 확인</a:t>
            </a:r>
          </a:p>
        </p:txBody>
      </p:sp>
      <p:sp>
        <p:nvSpPr>
          <p:cNvPr id="16" name="Rounded Rectangle 15"/>
          <p:cNvSpPr/>
          <p:nvPr/>
        </p:nvSpPr>
        <p:spPr>
          <a:xfrm>
            <a:off x="6461607" y="482822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822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판단</a:t>
            </a:r>
          </a:p>
        </p:txBody>
      </p:sp>
      <p:sp>
        <p:nvSpPr>
          <p:cNvPr id="18" name="Rounded Rectangle 17"/>
          <p:cNvSpPr/>
          <p:nvPr/>
        </p:nvSpPr>
        <p:spPr>
          <a:xfrm>
            <a:off x="9075191" y="2724721"/>
            <a:ext cx="2567863" cy="253326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TextBox 18"/>
          <p:cNvSpPr txBox="1"/>
          <p:nvPr/>
        </p:nvSpPr>
        <p:spPr>
          <a:xfrm>
            <a:off x="9239783" y="292588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성공 기준</a:t>
            </a:r>
          </a:p>
          <a:p>
            <a:pPr algn="l" eaLnBrk="0" marL="200025" indent="-200025">
              <a:lnSpc>
                <a:spcPct val="110000"/>
              </a:lnSpc>
              <a:spcAft>
                <a:spcPts val="400"/>
              </a:spcAft>
            </a:pPr>
            <a:r>
              <a:rPr sz="1750" b="0">
                <a:solidFill>
                  <a:srgbClr val="1F2A3A"/>
                </a:solidFill>
                <a:latin typeface="맑은 고딕"/>
                <a:ea typeface="맑은 고딕"/>
                <a:cs typeface="맑은 고딕"/>
              </a:rPr>
              <a:t>• 확인 항목의 답 전후 변화</a:t>
            </a:r>
          </a:p>
          <a:p>
            <a:pPr algn="l" eaLnBrk="0" marL="200025" indent="-200025">
              <a:lnSpc>
                <a:spcPct val="110000"/>
              </a:lnSpc>
              <a:spcAft>
                <a:spcPts val="400"/>
              </a:spcAft>
            </a:pPr>
            <a:r>
              <a:rPr sz="1750" b="0">
                <a:solidFill>
                  <a:srgbClr val="1F2A3A"/>
                </a:solidFill>
                <a:latin typeface="맑은 고딕"/>
                <a:ea typeface="맑은 고딕"/>
                <a:cs typeface="맑은 고딕"/>
              </a:rPr>
              <a:t>• 정보 답변은 승인이 아님</a:t>
            </a:r>
          </a:p>
        </p:txBody>
      </p:sp>
      <p:sp>
        <p:nvSpPr>
          <p:cNvPr id="20" name="Rounded Rectangle 19"/>
          <p:cNvSpPr/>
          <p:nvPr/>
        </p:nvSpPr>
        <p:spPr>
          <a:xfrm>
            <a:off x="9303791" y="4828222"/>
            <a:ext cx="1219199" cy="292608"/>
          </a:xfrm>
          <a:prstGeom prst="roundRect">
            <a:avLst>
              <a:gd name="adj" fmla="val 50000"/>
            </a:avLst>
          </a:prstGeom>
          <a:solidFill>
            <a:srgbClr val="5CB8F2"/>
          </a:solidFill>
          <a:ln>
            <a:noFill/>
          </a:ln>
        </p:spPr>
        <p:txBody>
          <a:bodyPr rtlCol="0" anchor="ctr"/>
          <a:lstStyle/>
          <a:p>
            <a:pPr algn="ctr"/>
          </a:p>
        </p:txBody>
      </p:sp>
      <p:sp>
        <p:nvSpPr>
          <p:cNvPr id="21" name="TextBox 20"/>
          <p:cNvSpPr txBox="1"/>
          <p:nvPr/>
        </p:nvSpPr>
        <p:spPr>
          <a:xfrm>
            <a:off x="9303791" y="482822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 · 구분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SDD: 기존 기능을 지키며</a:t>
            </a:r>
          </a:p>
          <a:p>
            <a:pPr algn="l" eaLnBrk="0">
              <a:lnSpc>
                <a:spcPct val="110000"/>
              </a:lnSpc>
            </a:pPr>
            <a:r>
              <a:rPr sz="3400" b="1">
                <a:solidFill>
                  <a:srgbClr val="13294B"/>
                </a:solidFill>
                <a:latin typeface="맑은 고딕"/>
                <a:ea typeface="맑은 고딕"/>
                <a:cs typeface="맑은 고딕"/>
              </a:rPr>
              <a:t>요구 넓히기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한 문장 요구를 명세로 옮기고 긴급 확인 표시의 조건을 정한다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「긴급한 경보는 빨리」가 열어 두는 갈래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「긴급한 경보는 빨리 처리되게」 한 문장은 기준 · 방법 · 지킬 것을 정하지 않아, 그 빈자리를 받는 쪽이 채우게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정하지 않은 것</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받는 쪽이 채울 수 있는 해석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흔들릴 수 있는 기존 약속</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긴급의 기준</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어떤 경보 · 어떤 값이면 긴급인가</a:t>
            </a:r>
          </a:p>
          <a:p>
            <a:pPr algn="l" eaLnBrk="0">
              <a:lnSpc>
                <a:spcPct val="110000"/>
              </a:lnSpc>
            </a:pPr>
            <a:r>
              <a:rPr sz="1400" b="0">
                <a:solidFill>
                  <a:srgbClr val="1F2A3A"/>
                </a:solidFill>
                <a:latin typeface="맑은 고딕"/>
                <a:ea typeface="맑은 고딕"/>
                <a:cs typeface="맑은 고딕"/>
              </a:rPr>
              <a:t>운전 화면 경고선, 임의로 고른 수치</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같은 요청에</a:t>
            </a:r>
          </a:p>
          <a:p>
            <a:pPr algn="l" eaLnBrk="0">
              <a:lnSpc>
                <a:spcPct val="110000"/>
              </a:lnSpc>
            </a:pPr>
            <a:r>
              <a:rPr sz="1250" b="1">
                <a:solidFill>
                  <a:srgbClr val="556175"/>
                </a:solidFill>
                <a:latin typeface="맑은 고딕"/>
                <a:ea typeface="맑은 고딕"/>
                <a:cs typeface="맑은 고딕"/>
              </a:rPr>
              <a:t>사람마다 다른 표시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빨라지는 방법</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결과에 긴급 표시를 더한다</a:t>
            </a:r>
          </a:p>
          <a:p>
            <a:pPr algn="l" eaLnBrk="0">
              <a:lnSpc>
                <a:spcPct val="110000"/>
              </a:lnSpc>
            </a:pPr>
            <a:r>
              <a:rPr sz="1400" b="0">
                <a:solidFill>
                  <a:srgbClr val="1F2A3A"/>
                </a:solidFill>
                <a:latin typeface="맑은 고딕"/>
                <a:ea typeface="맑은 고딕"/>
                <a:cs typeface="맑은 고딕"/>
              </a:rPr>
              <a:t>질문을 건너뛴다 · 승인 대기를 줄인다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질문 단계와</a:t>
            </a:r>
          </a:p>
          <a:p>
            <a:pPr algn="l" eaLnBrk="0">
              <a:lnSpc>
                <a:spcPct val="110000"/>
              </a:lnSpc>
            </a:pPr>
            <a:r>
              <a:rPr sz="1250" b="1">
                <a:solidFill>
                  <a:srgbClr val="556175"/>
                </a:solidFill>
                <a:latin typeface="맑은 고딕"/>
                <a:ea typeface="맑은 고딕"/>
                <a:cs typeface="맑은 고딕"/>
              </a:rPr>
              <a:t>승인 조건</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그대로 둘 것</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언급이 없다</a:t>
            </a:r>
          </a:p>
          <a:p>
            <a:pPr algn="l" eaLnBrk="0">
              <a:lnSpc>
                <a:spcPct val="110000"/>
              </a:lnSpc>
            </a:pPr>
            <a:r>
              <a:rPr sz="1400" b="0">
                <a:solidFill>
                  <a:srgbClr val="1F2A3A"/>
                </a:solidFill>
                <a:latin typeface="맑은 고딕"/>
                <a:ea typeface="맑은 고딕"/>
                <a:cs typeface="맑은 고딕"/>
              </a:rPr>
              <a:t>일반 요청의 결과 항목 · 보류 · 거절</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기존 출력과</a:t>
            </a:r>
          </a:p>
          <a:p>
            <a:pPr algn="l" eaLnBrk="0">
              <a:lnSpc>
                <a:spcPct val="110000"/>
              </a:lnSpc>
            </a:pPr>
            <a:r>
              <a:rPr sz="1250" b="1">
                <a:solidFill>
                  <a:srgbClr val="1A6FC4"/>
                </a:solidFill>
                <a:latin typeface="맑은 고딕"/>
                <a:ea typeface="맑은 고딕"/>
                <a:cs typeface="맑은 고딕"/>
              </a:rPr>
              <a:t>결과를 읽는 쪽</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값을 모를 때</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언급이 없다</a:t>
            </a:r>
          </a:p>
          <a:p>
            <a:pPr algn="l" eaLnBrk="0">
              <a:lnSpc>
                <a:spcPct val="110000"/>
              </a:lnSpc>
            </a:pPr>
            <a:r>
              <a:rPr sz="1400" b="0">
                <a:solidFill>
                  <a:srgbClr val="1F2A3A"/>
                </a:solidFill>
                <a:latin typeface="맑은 고딕"/>
                <a:ea typeface="맑은 고딕"/>
                <a:cs typeface="맑은 고딕"/>
              </a:rPr>
              <a:t>없는 값을 거짓이나 0으로 채운다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모르는 값을</a:t>
            </a:r>
          </a:p>
          <a:p>
            <a:pPr algn="l" eaLnBrk="0">
              <a:lnSpc>
                <a:spcPct val="110000"/>
              </a:lnSpc>
            </a:pPr>
            <a:r>
              <a:rPr sz="1250" b="1">
                <a:solidFill>
                  <a:srgbClr val="556175"/>
                </a:solidFill>
                <a:latin typeface="맑은 고딕"/>
                <a:ea typeface="맑은 고딕"/>
                <a:cs typeface="맑은 고딕"/>
              </a:rPr>
              <a:t>짐작하지 않는 약속</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바이브 코딩과 SDD(Spec-Driven Development)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SDD</a:t>
            </a:r>
            <a:r>
              <a:rPr sz="1600" b="0">
                <a:solidFill>
                  <a:srgbClr val="556175"/>
                </a:solidFill>
                <a:latin typeface="맑은 고딕"/>
                <a:ea typeface="맑은 고딕"/>
                <a:cs typeface="맑은 고딕"/>
              </a:rPr>
              <a:t>는 요구사항 · 계약 · 금지 조건 · 수용 기준을 구현 전에 </a:t>
            </a:r>
            <a:r>
              <a:rPr sz="1600" b="1">
                <a:solidFill>
                  <a:srgbClr val="1A6FC4"/>
                </a:solidFill>
                <a:latin typeface="맑은 고딕"/>
                <a:ea typeface="맑은 고딕"/>
                <a:cs typeface="맑은 고딕"/>
              </a:rPr>
              <a:t>명세</a:t>
            </a:r>
            <a:r>
              <a:rPr sz="1600" b="0">
                <a:solidFill>
                  <a:srgbClr val="556175"/>
                </a:solidFill>
                <a:latin typeface="맑은 고딕"/>
                <a:ea typeface="맑은 고딕"/>
                <a:cs typeface="맑은 고딕"/>
              </a:rPr>
              <a:t>로 정하고, 그 명세로 구현하고 확인하는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바이브 코딩(Vibe Coding)</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SDD</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AI에게 주는 것</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요청 문장</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요청과 명세(spec.md)</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빈자리의 해석</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AI가 그때그때 채운다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사람이 명세에 정해 두고</a:t>
            </a:r>
          </a:p>
          <a:p>
            <a:pPr algn="l" eaLnBrk="0">
              <a:lnSpc>
                <a:spcPct val="110000"/>
              </a:lnSpc>
            </a:pPr>
            <a:r>
              <a:rPr sz="1250" b="1">
                <a:solidFill>
                  <a:srgbClr val="556175"/>
                </a:solidFill>
                <a:latin typeface="맑은 고딕"/>
                <a:ea typeface="맑은 고딕"/>
                <a:cs typeface="맑은 고딕"/>
              </a:rPr>
              <a:t>AI의 초안도 검토한다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 되었는지</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실행해 보고 결과가 마음에 드는지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수용 기준마다</a:t>
            </a:r>
          </a:p>
          <a:p>
            <a:pPr algn="l" eaLnBrk="0">
              <a:lnSpc>
                <a:spcPct val="110000"/>
              </a:lnSpc>
            </a:pPr>
            <a:r>
              <a:rPr sz="1250" b="1">
                <a:solidFill>
                  <a:srgbClr val="556175"/>
                </a:solidFill>
                <a:latin typeface="맑은 고딕"/>
                <a:ea typeface="맑은 고딕"/>
                <a:cs typeface="맑은 고딕"/>
              </a:rPr>
              <a:t>참 · 거짓</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남는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바뀐 코드</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달라질 것과 지킬 것을</a:t>
            </a:r>
          </a:p>
          <a:p>
            <a:pPr algn="l" eaLnBrk="0">
              <a:lnSpc>
                <a:spcPct val="110000"/>
              </a:lnSpc>
            </a:pPr>
            <a:r>
              <a:rPr sz="1250" b="1">
                <a:solidFill>
                  <a:srgbClr val="1A6FC4"/>
                </a:solidFill>
                <a:latin typeface="맑은 고딕"/>
                <a:ea typeface="맑은 고딕"/>
                <a:cs typeface="맑은 고딕"/>
              </a:rPr>
              <a:t>적은 문서와 코드</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계약: 쿨러 에이전트가 주고받는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계약</a:t>
            </a:r>
            <a:r>
              <a:rPr sz="1600" b="0">
                <a:solidFill>
                  <a:srgbClr val="556175"/>
                </a:solidFill>
                <a:latin typeface="맑은 고딕"/>
                <a:ea typeface="맑은 고딕"/>
                <a:cs typeface="맑은 고딕"/>
              </a:rPr>
              <a:t>은 주고받는 항목의 이름 · 형식 · 뜻의 약속이라, 읽는 쪽이 있는 항목은 이름 하나도 함부로 바꾸지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p>
          <a:p>
            <a:pPr algn="l" eaLnBrk="0">
              <a:lnSpc>
                <a:spcPct val="110000"/>
              </a:lnSpc>
              <a:spcAft>
                <a:spcPts val="200"/>
              </a:spcAft>
            </a:pP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"alert": { "pattern": "COOLER_DEGRADATION",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"incident": "INC-1010-</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다섯</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a:t>
            </a:r>
          </a:p>
          <a:p>
            <a:pPr algn="l" eaLnBrk="0">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decision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decision_id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쪽</a:t>
            </a:r>
          </a:p>
          <a:p>
            <a:pPr algn="l" eaLnBrk="0">
              <a:lnSpc>
                <a:spcPct val="110000"/>
              </a:lnSpc>
              <a:spcAft>
                <a:spcPts val="200"/>
              </a:spcAft>
            </a:pPr>
            <a:r>
              <a:rPr sz="1300" b="0">
                <a:solidFill>
                  <a:srgbClr val="E8EEF6"/>
                </a:solidFill>
                <a:latin typeface="맑은 고딕"/>
                <a:ea typeface="맑은 고딕"/>
                <a:cs typeface="맑은 고딕"/>
              </a:rPr>
              <a:t>형식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다섯</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있는가</a:t>
            </a:r>
          </a:p>
          <a:p>
            <a:pPr algn="l" eaLnBrk="0">
              <a:lnSpc>
                <a:spcPct val="110000"/>
              </a:lnSpc>
              <a:spcAft>
                <a:spcPts val="200"/>
              </a:spcAft>
            </a:pP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화면</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 계약</a:t>
            </a:r>
          </a:p>
          <a:p>
            <a:pPr algn="l" eaLnBrk="0">
              <a:lnSpc>
                <a:spcPct val="110000"/>
              </a:lnSpc>
              <a:spcAft>
                <a:spcPts val="400"/>
              </a:spcAft>
            </a:pPr>
            <a:r>
              <a:rPr sz="1400" b="0">
                <a:solidFill>
                  <a:srgbClr val="1F2A3A"/>
                </a:solidFill>
                <a:latin typeface="맑은 고딕"/>
                <a:ea typeface="맑은 고딕"/>
                <a:cs typeface="맑은 고딕"/>
              </a:rPr>
              <a:t>받을 항목과 형식이다. 유온 같은 값은 입력에 없고 판단할 때 도구로 읽는다.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출력 계약</a:t>
            </a:r>
          </a:p>
          <a:p>
            <a:pPr algn="l" eaLnBrk="0">
              <a:lnSpc>
                <a:spcPct val="110000"/>
              </a:lnSpc>
              <a:spcAft>
                <a:spcPts val="400"/>
              </a:spcAft>
            </a:pPr>
            <a:r>
              <a:rPr sz="1400" b="0">
                <a:solidFill>
                  <a:srgbClr val="1F2A3A"/>
                </a:solidFill>
                <a:latin typeface="맑은 고딕"/>
                <a:ea typeface="맑은 고딕"/>
                <a:cs typeface="맑은 고딕"/>
              </a:rPr>
              <a:t>낼 항목의 이름 · 형식 · 뜻이다. 읽는 쪽이 이 이름으로 찾는다.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깨는 변경</a:t>
            </a:r>
          </a:p>
          <a:p>
            <a:pPr algn="l" eaLnBrk="0">
              <a:lnSpc>
                <a:spcPct val="110000"/>
              </a:lnSpc>
              <a:spcAft>
                <a:spcPts val="400"/>
              </a:spcAft>
            </a:pPr>
            <a:r>
              <a:rPr sz="1400" b="0">
                <a:solidFill>
                  <a:srgbClr val="1F2A3A"/>
                </a:solidFill>
                <a:latin typeface="맑은 고딕"/>
                <a:ea typeface="맑은 고딕"/>
                <a:cs typeface="맑은 고딕"/>
              </a:rPr>
              <a:t>이름을 바꾸면 읽는 쪽이 항목을 찾지 못한다.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항목 추가</a:t>
            </a:r>
          </a:p>
          <a:p>
            <a:pPr algn="l" eaLnBrk="0">
              <a:lnSpc>
                <a:spcPct val="110000"/>
              </a:lnSpc>
              <a:spcAft>
                <a:spcPts val="400"/>
              </a:spcAft>
            </a:pPr>
            <a:r>
              <a:rPr sz="1400" b="0">
                <a:solidFill>
                  <a:srgbClr val="1F2A3A"/>
                </a:solidFill>
                <a:latin typeface="맑은 고딕"/>
                <a:ea typeface="맑은 고딕"/>
                <a:cs typeface="맑은 고딕"/>
              </a:rPr>
              <a:t>새 항목도 읽는 쪽이 받아들이는지 먼저 확인한다.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늘어나는 요구사항과 남는 금지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점검 요청 기능에 요구가 더해질수록 하지 않을 일을 따로 적어 두어야, 새 기능이 기존 약속을 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201608"/>
            <a:ext cx="5181447" cy="357949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요구사항</a:t>
            </a:r>
          </a:p>
        </p:txBody>
      </p:sp>
      <p:sp>
        <p:nvSpPr>
          <p:cNvPr id="8" name="TextBox 7"/>
          <p:cNvSpPr txBox="1"/>
          <p:nvPr/>
        </p:nvSpPr>
        <p:spPr>
          <a:xfrm>
            <a:off x="822959"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기존: 원인 후보와 점검 순서를 낸다</a:t>
            </a:r>
          </a:p>
          <a:p>
            <a:pPr algn="l" eaLnBrk="0" marL="188595" indent="-188595">
              <a:lnSpc>
                <a:spcPct val="110000"/>
              </a:lnSpc>
              <a:spcAft>
                <a:spcPts val="600"/>
              </a:spcAft>
            </a:pPr>
            <a:r>
              <a:rPr sz="1650" b="0">
                <a:solidFill>
                  <a:srgbClr val="1F2A3A"/>
                </a:solidFill>
                <a:latin typeface="맑은 고딕"/>
                <a:ea typeface="맑은 고딕"/>
                <a:cs typeface="맑은 고딕"/>
              </a:rPr>
              <a:t>• 더함: 부족한 정보만 묻고 다시 판단한다</a:t>
            </a:r>
          </a:p>
          <a:p>
            <a:pPr algn="l" eaLnBrk="0" marL="188595" indent="-188595">
              <a:lnSpc>
                <a:spcPct val="110000"/>
              </a:lnSpc>
              <a:spcAft>
                <a:spcPts val="600"/>
              </a:spcAft>
            </a:pPr>
            <a:r>
              <a:rPr sz="1650" b="0">
                <a:solidFill>
                  <a:srgbClr val="1F2A3A"/>
                </a:solidFill>
                <a:latin typeface="맑은 고딕"/>
                <a:ea typeface="맑은 고딕"/>
                <a:cs typeface="맑은 고딕"/>
              </a:rPr>
              <a:t>• 더함: 쿨러 경보에 긴급 확인 표시를 붙인다</a:t>
            </a:r>
          </a:p>
        </p:txBody>
      </p:sp>
      <p:sp>
        <p:nvSpPr>
          <p:cNvPr id="9" name="Rounded Rectangle 8"/>
          <p:cNvSpPr/>
          <p:nvPr/>
        </p:nvSpPr>
        <p:spPr>
          <a:xfrm>
            <a:off x="868680" y="5323903"/>
            <a:ext cx="97536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23903"/>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늘어난다</a:t>
            </a:r>
          </a:p>
        </p:txBody>
      </p:sp>
      <p:sp>
        <p:nvSpPr>
          <p:cNvPr id="11" name="Rounded Rectangle 10"/>
          <p:cNvSpPr/>
          <p:nvPr/>
        </p:nvSpPr>
        <p:spPr>
          <a:xfrm>
            <a:off x="6461607" y="2201608"/>
            <a:ext cx="5181447" cy="357949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02776"/>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금지 조건</a:t>
            </a:r>
          </a:p>
        </p:txBody>
      </p:sp>
      <p:sp>
        <p:nvSpPr>
          <p:cNvPr id="13" name="TextBox 12"/>
          <p:cNvSpPr txBox="1"/>
          <p:nvPr/>
        </p:nvSpPr>
        <p:spPr>
          <a:xfrm>
            <a:off x="6735927"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승인 전에는 조치를 실행하지 않는다</a:t>
            </a:r>
          </a:p>
          <a:p>
            <a:pPr algn="l" eaLnBrk="0" marL="188595" indent="-188595">
              <a:lnSpc>
                <a:spcPct val="110000"/>
              </a:lnSpc>
              <a:spcAft>
                <a:spcPts val="600"/>
              </a:spcAft>
            </a:pPr>
            <a:r>
              <a:rPr sz="1650" b="0">
                <a:solidFill>
                  <a:srgbClr val="1F2A3A"/>
                </a:solidFill>
                <a:latin typeface="맑은 고딕"/>
                <a:ea typeface="맑은 고딕"/>
                <a:cs typeface="맑은 고딕"/>
              </a:rPr>
              <a:t>• 모르는 값을 거짓 · 0 · 기본 설비로 채우지 않는다</a:t>
            </a:r>
          </a:p>
          <a:p>
            <a:pPr algn="l" eaLnBrk="0" marL="188595" indent="-188595">
              <a:lnSpc>
                <a:spcPct val="110000"/>
              </a:lnSpc>
              <a:spcAft>
                <a:spcPts val="600"/>
              </a:spcAft>
            </a:pPr>
            <a:r>
              <a:rPr sz="1650" b="0">
                <a:solidFill>
                  <a:srgbClr val="1F2A3A"/>
                </a:solidFill>
                <a:latin typeface="맑은 고딕"/>
                <a:ea typeface="맑은 고딕"/>
                <a:cs typeface="맑은 고딕"/>
              </a:rPr>
              <a:t>• 답변을 승인으로 받지 않는다</a:t>
            </a:r>
          </a:p>
          <a:p>
            <a:pPr algn="l" eaLnBrk="0" marL="188595" indent="-188595">
              <a:lnSpc>
                <a:spcPct val="110000"/>
              </a:lnSpc>
              <a:spcAft>
                <a:spcPts val="600"/>
              </a:spcAft>
            </a:pPr>
            <a:r>
              <a:rPr sz="1650" b="0">
                <a:solidFill>
                  <a:srgbClr val="1F2A3A"/>
                </a:solidFill>
                <a:latin typeface="맑은 고딕"/>
                <a:ea typeface="맑은 고딕"/>
                <a:cs typeface="맑은 고딕"/>
              </a:rPr>
              <a:t>• 실제 설비 기준과 승인 권한을 바꾸지 않는다</a:t>
            </a:r>
          </a:p>
        </p:txBody>
      </p:sp>
      <p:sp>
        <p:nvSpPr>
          <p:cNvPr id="14" name="Rounded Rectangle 13"/>
          <p:cNvSpPr/>
          <p:nvPr/>
        </p:nvSpPr>
        <p:spPr>
          <a:xfrm>
            <a:off x="6781647" y="5323903"/>
            <a:ext cx="82296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2390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남는다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수용 기준: 참 · 거짓으로 가르는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수용 기준</a:t>
            </a:r>
            <a:r>
              <a:rPr sz="1600" b="0">
                <a:solidFill>
                  <a:srgbClr val="556175"/>
                </a:solidFill>
                <a:latin typeface="맑은 고딕"/>
                <a:ea typeface="맑은 고딕"/>
                <a:cs typeface="맑은 고딕"/>
              </a:rPr>
              <a:t>(Acceptance Criteria)은 다 되었는지를 실행 결과로 참 · 거짓을 가를 수 있게 적은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가를 수 없는 문장</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가를 수 있는 문장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실행 뒤 보는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긴급한 요청이 잘 표시된다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유효한 TS1 120초 평균이 60.4 ℃인</a:t>
            </a:r>
          </a:p>
          <a:p>
            <a:pPr algn="l" eaLnBrk="0">
              <a:lnSpc>
                <a:spcPct val="110000"/>
              </a:lnSpc>
            </a:pPr>
            <a:r>
              <a:rPr sz="1400" b="0">
                <a:solidFill>
                  <a:srgbClr val="1F2A3A"/>
                </a:solidFill>
                <a:latin typeface="맑은 고딕"/>
                <a:ea typeface="맑은 고딕"/>
                <a:cs typeface="맑은 고딕"/>
              </a:rPr>
              <a:t>쿨러 경보 요청은 urgent가 true다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urgent 값</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기존 기능은 그대로다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입력의 일반 요청은 명세가 정한</a:t>
            </a:r>
          </a:p>
          <a:p>
            <a:pPr algn="l" eaLnBrk="0">
              <a:lnSpc>
                <a:spcPct val="110000"/>
              </a:lnSpc>
            </a:pPr>
            <a:r>
              <a:rPr sz="1400" b="0">
                <a:solidFill>
                  <a:srgbClr val="1F2A3A"/>
                </a:solidFill>
                <a:latin typeface="맑은 고딕"/>
                <a:ea typeface="맑은 고딕"/>
                <a:cs typeface="맑은 고딕"/>
              </a:rPr>
              <a:t>기존 항목과 뜻을 그대로 낸다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항목별 대조</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값이 없으면 알아서 처리한다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유효한 값이 없으면 urgent는 null이고</a:t>
            </a:r>
          </a:p>
          <a:p>
            <a:pPr algn="l" eaLnBrk="0">
              <a:lnSpc>
                <a:spcPct val="110000"/>
              </a:lnSpc>
            </a:pPr>
            <a:r>
              <a:rPr sz="1400" b="0">
                <a:solidFill>
                  <a:srgbClr val="1F2A3A"/>
                </a:solidFill>
                <a:latin typeface="맑은 고딕"/>
                <a:ea typeface="맑은 고딕"/>
                <a:cs typeface="맑은 고딕"/>
              </a:rPr>
              <a:t>보류 사유가 남는다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null과 사유</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긴급해도 절차는 지킨다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urgent가 true여도 점검 결과는</a:t>
            </a:r>
          </a:p>
          <a:p>
            <a:pPr algn="l" eaLnBrk="0">
              <a:lnSpc>
                <a:spcPct val="110000"/>
              </a:lnSpc>
            </a:pPr>
            <a:r>
              <a:rPr sz="1400" b="0">
                <a:solidFill>
                  <a:srgbClr val="1F2A3A"/>
                </a:solidFill>
                <a:latin typeface="맑은 고딕"/>
                <a:ea typeface="맑은 고딕"/>
                <a:cs typeface="맑은 고딕"/>
              </a:rPr>
              <a:t>승인 대기 상태다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상태 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spec.md에 일반 기능과 긴급 요청을 나눠 적는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일반 기능과 긴급 요청을 명세의 칸마다 나눠 적어야, 더해질 것과 그대로 둘 것이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명세의 칸</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일반 요청: 그대로 지킬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긴급 요청: 더해지는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요청 번호 · 설비 · 경보 · 사례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새 입력 칸 없음</a:t>
            </a:r>
          </a:p>
          <a:p>
            <a:pPr algn="l" eaLnBrk="0">
              <a:lnSpc>
                <a:spcPct val="110000"/>
              </a:lnSpc>
            </a:pPr>
            <a:r>
              <a:rPr sz="1250" b="1">
                <a:solidFill>
                  <a:srgbClr val="556175"/>
                </a:solidFill>
                <a:latin typeface="맑은 고딕"/>
                <a:ea typeface="맑은 고딕"/>
                <a:cs typeface="맑은 고딕"/>
              </a:rPr>
              <a:t>같은 자료에서 읽는다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 계약</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기존 항목의 이름과 뜻</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긴급 표시와</a:t>
            </a:r>
          </a:p>
          <a:p>
            <a:pPr algn="l" eaLnBrk="0">
              <a:lnSpc>
                <a:spcPct val="110000"/>
              </a:lnSpc>
            </a:pPr>
            <a:r>
              <a:rPr sz="1250" b="1">
                <a:solidFill>
                  <a:srgbClr val="556175"/>
                </a:solidFill>
                <a:latin typeface="맑은 고딕"/>
                <a:ea typeface="맑은 고딕"/>
                <a:cs typeface="맑은 고딕"/>
              </a:rPr>
              <a:t>그 이유</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판정 조건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 후보와 점검 순서의 근거</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경보의</a:t>
            </a:r>
          </a:p>
          <a:p>
            <a:pPr algn="l" eaLnBrk="0">
              <a:lnSpc>
                <a:spcPct val="110000"/>
              </a:lnSpc>
            </a:pPr>
            <a:r>
              <a:rPr sz="1250" b="1">
                <a:solidFill>
                  <a:srgbClr val="556175"/>
                </a:solidFill>
                <a:latin typeface="맑은 고딕"/>
                <a:ea typeface="맑은 고딕"/>
                <a:cs typeface="맑은 고딕"/>
              </a:rPr>
              <a:t>유효한 평균 기준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금지 조건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전 실행 금지 · 모르는 값 추정 금지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긴급이어도</a:t>
            </a:r>
          </a:p>
          <a:p>
            <a:pPr algn="l" eaLnBrk="0">
              <a:lnSpc>
                <a:spcPct val="110000"/>
              </a:lnSpc>
            </a:pPr>
            <a:r>
              <a:rPr sz="1250" b="1">
                <a:solidFill>
                  <a:srgbClr val="556175"/>
                </a:solidFill>
                <a:latin typeface="맑은 고딕"/>
                <a:ea typeface="맑은 고딕"/>
                <a:cs typeface="맑은 고딕"/>
              </a:rPr>
              <a:t>그대로</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수용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입력의 기존 결과가 그대로다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참 · 거짓 · null과</a:t>
            </a:r>
          </a:p>
          <a:p>
            <a:pPr algn="l" eaLnBrk="0">
              <a:lnSpc>
                <a:spcPct val="110000"/>
              </a:lnSpc>
            </a:pPr>
            <a:r>
              <a:rPr sz="1250" b="1">
                <a:solidFill>
                  <a:srgbClr val="1A6FC4"/>
                </a:solidFill>
                <a:latin typeface="맑은 고딕"/>
                <a:ea typeface="맑은 고딕"/>
                <a:cs typeface="맑은 고딕"/>
              </a:rPr>
              <a:t>승인 대기</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확인 표시의 교육용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표시는 쿨러 경보의 유효한 유온 평균으로만 가르고, 값을 믿을 수 없으면 거짓이 아니라 미판정으로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교육용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적용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패턴</a:t>
            </a:r>
            <a:r>
              <a:rPr sz="1300" b="0">
                <a:solidFill>
                  <a:srgbClr val="E8EEF6"/>
                </a:solidFill>
                <a:latin typeface="Consolas"/>
                <a:ea typeface="맑은 고딕"/>
                <a:cs typeface="맑은 고딕"/>
              </a:rPr>
              <a:t> COOLER_DEGRADATION</a:t>
            </a:r>
          </a:p>
          <a:p>
            <a:pPr algn="l" eaLnBrk="0">
              <a:lnSpc>
                <a:spcPct val="110000"/>
              </a:lnSpc>
              <a:spcAft>
                <a:spcPts val="200"/>
              </a:spcAft>
            </a:pPr>
            <a:r>
              <a:rPr sz="1300" b="0">
                <a:solidFill>
                  <a:srgbClr val="E8EEF6"/>
                </a:solidFill>
                <a:latin typeface="맑은 고딕"/>
                <a:ea typeface="맑은 고딕"/>
                <a:cs typeface="맑은 고딕"/>
              </a:rPr>
              <a:t>판정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p>
          <a:p>
            <a:pPr algn="l" eaLnBrk="0">
              <a:lnSpc>
                <a:spcPct val="110000"/>
              </a:lnSpc>
              <a:spcAft>
                <a:spcPts val="200"/>
              </a:spcAft>
            </a:pPr>
            <a:r>
              <a:rPr sz="1300" b="0">
                <a:solidFill>
                  <a:srgbClr val="E8EEF6"/>
                </a:solidFill>
                <a:latin typeface="맑은 고딕"/>
                <a:ea typeface="맑은 고딕"/>
                <a:cs typeface="맑은 고딕"/>
              </a:rPr>
              <a:t>유효성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신선도</a:t>
            </a:r>
            <a:r>
              <a:rPr sz="1300" b="0">
                <a:solidFill>
                  <a:srgbClr val="E8EEF6"/>
                </a:solidFill>
                <a:latin typeface="Consolas"/>
                <a:ea typeface="맑은 고딕"/>
                <a:cs typeface="맑은 고딕"/>
              </a:rPr>
              <a:t>  freshness.ok = true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표본</a:t>
            </a:r>
            <a:r>
              <a:rPr sz="1300" b="0">
                <a:solidFill>
                  <a:srgbClr val="E8EEF6"/>
                </a:solidFill>
                <a:latin typeface="Consolas"/>
                <a:ea typeface="맑은 고딕"/>
                <a:cs typeface="맑은 고딕"/>
              </a:rPr>
              <a:t>    coverage.covered = true</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urgent     </a:t>
            </a:r>
            <a:r>
              <a:rPr sz="1300" b="0">
                <a:solidFill>
                  <a:srgbClr val="E8EEF6"/>
                </a:solidFill>
                <a:latin typeface="맑은 고딕"/>
                <a:ea typeface="맑은 고딕"/>
                <a:cs typeface="맑은 고딕"/>
              </a:rPr>
              <a:t>유효하고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&gt;=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true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&lt;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false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신선도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부족</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null, </a:t>
            </a:r>
            <a:r>
              <a:rPr sz="1300" b="0">
                <a:solidFill>
                  <a:srgbClr val="E8EEF6"/>
                </a:solidFill>
                <a:latin typeface="맑은 고딕"/>
                <a:ea typeface="맑은 고딕"/>
                <a:cs typeface="맑은 고딕"/>
              </a:rPr>
              <a:t>보류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적용하지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a:t>
            </a:r>
          </a:p>
          <a:p>
            <a:pPr algn="l" eaLnBrk="0">
              <a:lnSpc>
                <a:spcPct val="110000"/>
              </a:lnSpc>
              <a:spcAft>
                <a:spcPts val="200"/>
              </a:spcAft>
            </a:pP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null은 미판정</a:t>
            </a:r>
          </a:p>
          <a:p>
            <a:pPr algn="l" eaLnBrk="0">
              <a:lnSpc>
                <a:spcPct val="110000"/>
              </a:lnSpc>
              <a:spcAft>
                <a:spcPts val="400"/>
              </a:spcAft>
            </a:pPr>
            <a:r>
              <a:rPr sz="1400" b="0">
                <a:solidFill>
                  <a:srgbClr val="1F2A3A"/>
                </a:solidFill>
                <a:latin typeface="맑은 고딕"/>
                <a:ea typeface="맑은 고딕"/>
                <a:cs typeface="맑은 고딕"/>
              </a:rPr>
              <a:t>긴급이 아니라는 뜻이 아니다. 판단할 값이 없다는 기록이다.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유효성 둘</a:t>
            </a:r>
          </a:p>
          <a:p>
            <a:pPr algn="l" eaLnBrk="0">
              <a:lnSpc>
                <a:spcPct val="110000"/>
              </a:lnSpc>
              <a:spcAft>
                <a:spcPts val="400"/>
              </a:spcAft>
            </a:pPr>
            <a:r>
              <a:rPr sz="1400" b="0">
                <a:solidFill>
                  <a:srgbClr val="1F2A3A"/>
                </a:solidFill>
                <a:latin typeface="맑은 고딕"/>
                <a:ea typeface="맑은 고딕"/>
                <a:cs typeface="맑은 고딕"/>
              </a:rPr>
              <a:t>최신 값이 신선도 한도 안이고, 구간 안 값의 공백이 수집 한도 안이어야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60 ℃ 이상</a:t>
            </a:r>
          </a:p>
          <a:p>
            <a:pPr algn="l" eaLnBrk="0">
              <a:lnSpc>
                <a:spcPct val="110000"/>
              </a:lnSpc>
              <a:spcAft>
                <a:spcPts val="400"/>
              </a:spcAft>
            </a:pPr>
            <a:r>
              <a:rPr sz="1400" b="0">
                <a:solidFill>
                  <a:srgbClr val="1F2A3A"/>
                </a:solidFill>
                <a:latin typeface="맑은 고딕"/>
                <a:ea typeface="맑은 고딕"/>
                <a:cs typeface="맑은 고딕"/>
              </a:rPr>
              <a:t>수업용 경계다. 운전 화면의 유온 경고는 60 ℃ 초과다.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바꾸지 않는 것</a:t>
            </a:r>
          </a:p>
          <a:p>
            <a:pPr algn="l" eaLnBrk="0">
              <a:lnSpc>
                <a:spcPct val="110000"/>
              </a:lnSpc>
              <a:spcAft>
                <a:spcPts val="400"/>
              </a:spcAft>
            </a:pPr>
            <a:r>
              <a:rPr sz="1400" b="0">
                <a:solidFill>
                  <a:srgbClr val="1F2A3A"/>
                </a:solidFill>
                <a:latin typeface="맑은 고딕"/>
                <a:ea typeface="맑은 고딕"/>
                <a:cs typeface="맑은 고딕"/>
              </a:rPr>
              <a:t>65 ℃ 인터록 같은 실제 보호 기준과 승인 역할은 그대로다.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가정 사례 다섯에 대어 본 긴급 판정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쿨러 경보라도 평균값과 유효성에 따라 true · false · null로 갈리고, 다른 경보에는 이 조건이 걸리지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사례 (가정)</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 값과 유효성</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urgent</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경보 · HYD-02</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평균 61.3 ℃ · 신선도와 표본 모두 유효</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true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경보 · HYD-03</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평균 58.2 ℃ · 모두 유효</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false</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경보 · HYD-01</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평균 62.0 ℃ · 최신 값이 3분 전 것이다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null</a:t>
            </a:r>
          </a:p>
          <a:p>
            <a:pPr algn="l" eaLnBrk="0">
              <a:lnSpc>
                <a:spcPct val="110000"/>
              </a:lnSpc>
            </a:pPr>
            <a:r>
              <a:rPr sz="1250" b="1">
                <a:solidFill>
                  <a:srgbClr val="556175"/>
                </a:solidFill>
                <a:latin typeface="맑은 고딕"/>
                <a:ea typeface="맑은 고딕"/>
                <a:cs typeface="맑은 고딕"/>
              </a:rPr>
              <a:t>신선도 실패</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경보 · HYD-02</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평균은 나왔지만 구간 안 값의 공백이</a:t>
            </a:r>
          </a:p>
          <a:p>
            <a:pPr algn="l" eaLnBrk="0">
              <a:lnSpc>
                <a:spcPct val="110000"/>
              </a:lnSpc>
            </a:pPr>
            <a:r>
              <a:rPr sz="1400" b="0">
                <a:solidFill>
                  <a:srgbClr val="1F2A3A"/>
                </a:solidFill>
                <a:latin typeface="맑은 고딕"/>
                <a:ea typeface="맑은 고딕"/>
                <a:cs typeface="맑은 고딕"/>
              </a:rPr>
              <a:t>수집 한도를 넘었다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null</a:t>
            </a:r>
          </a:p>
          <a:p>
            <a:pPr algn="l" eaLnBrk="0">
              <a:lnSpc>
                <a:spcPct val="110000"/>
              </a:lnSpc>
            </a:pPr>
            <a:r>
              <a:rPr sz="1250" b="1">
                <a:solidFill>
                  <a:srgbClr val="556175"/>
                </a:solidFill>
                <a:latin typeface="맑은 고딕"/>
                <a:ea typeface="맑은 고딕"/>
                <a:cs typeface="맑은 고딕"/>
              </a:rPr>
              <a:t>표본 부족</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누설 경보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 · 유온 평균 61.0 ℃</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조건 미적용</a:t>
            </a:r>
          </a:p>
          <a:p>
            <a:pPr algn="l" eaLnBrk="0">
              <a:lnSpc>
                <a:spcPct val="110000"/>
              </a:lnSpc>
            </a:pPr>
            <a:r>
              <a:rPr sz="1250" b="1">
                <a:solidFill>
                  <a:srgbClr val="1A6FC4"/>
                </a:solidFill>
                <a:latin typeface="맑은 고딕"/>
                <a:ea typeface="맑은 고딕"/>
                <a:cs typeface="맑은 고딕"/>
              </a:rPr>
              <a:t>기존 처리</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명세를 기준으로 맡기는 구현과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AI에게는 명세와 함께 필요한 부분만 맡기고, 바뀐 파일과 세 사례의 결과로 고칠 쪽을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292667"/>
            <a:ext cx="1911644" cy="3397377"/>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2475547"/>
            <a:ext cx="1765340" cy="314134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명세를 고친다</a:t>
            </a:r>
          </a:p>
          <a:p>
            <a:pPr algn="ctr" eaLnBrk="0">
              <a:lnSpc>
                <a:spcPct val="110000"/>
              </a:lnSpc>
              <a:spcAft>
                <a:spcPts val="400"/>
              </a:spcAft>
            </a:pPr>
            <a:r>
              <a:rPr sz="1450" b="0">
                <a:solidFill>
                  <a:srgbClr val="1F2A3A"/>
                </a:solidFill>
                <a:latin typeface="맑은 고딕"/>
                <a:ea typeface="맑은 고딕"/>
                <a:cs typeface="맑은 고딕"/>
              </a:rPr>
              <a:t>달라질 것: 긴급 확인 표시</a:t>
            </a:r>
          </a:p>
          <a:p>
            <a:pPr algn="ctr" eaLnBrk="0">
              <a:lnSpc>
                <a:spcPct val="110000"/>
              </a:lnSpc>
              <a:spcAft>
                <a:spcPts val="400"/>
              </a:spcAft>
            </a:pPr>
            <a:r>
              <a:rPr sz="1450" b="0">
                <a:solidFill>
                  <a:srgbClr val="1F2A3A"/>
                </a:solidFill>
                <a:latin typeface="맑은 고딕"/>
                <a:ea typeface="맑은 고딕"/>
                <a:cs typeface="맑은 고딕"/>
              </a:rPr>
              <a:t>지킬 것: 기존 출력 · 질문 · 승인</a:t>
            </a:r>
          </a:p>
        </p:txBody>
      </p:sp>
      <p:sp>
        <p:nvSpPr>
          <p:cNvPr id="8" name="Right Arrow 7"/>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2844332" y="2292667"/>
            <a:ext cx="1911644" cy="3397377"/>
          </a:xfrm>
          <a:prstGeom prst="roundRect">
            <a:avLst>
              <a:gd name="adj" fmla="val 5000"/>
            </a:avLst>
          </a:prstGeom>
          <a:solidFill>
            <a:srgbClr val="F3F6F9"/>
          </a:solidFill>
          <a:ln>
            <a:noFill/>
          </a:ln>
        </p:spPr>
        <p:txBody>
          <a:bodyPr rtlCol="0" anchor="ctr"/>
          <a:lstStyle/>
          <a:p>
            <a:pPr algn="ctr"/>
          </a:p>
        </p:txBody>
      </p:sp>
      <p:sp>
        <p:nvSpPr>
          <p:cNvPr id="10" name="TextBox 9"/>
          <p:cNvSpPr txBox="1"/>
          <p:nvPr/>
        </p:nvSpPr>
        <p:spPr>
          <a:xfrm>
            <a:off x="2917484" y="2475547"/>
            <a:ext cx="1765340" cy="314134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명세와 함께 맡긴다</a:t>
            </a:r>
          </a:p>
          <a:p>
            <a:pPr algn="ctr" eaLnBrk="0">
              <a:lnSpc>
                <a:spcPct val="110000"/>
              </a:lnSpc>
              <a:spcAft>
                <a:spcPts val="400"/>
              </a:spcAft>
            </a:pPr>
            <a:r>
              <a:rPr sz="1550" b="0">
                <a:solidFill>
                  <a:srgbClr val="1F2A3A"/>
                </a:solidFill>
                <a:latin typeface="맑은 고딕"/>
                <a:ea typeface="맑은 고딕"/>
                <a:cs typeface="맑은 고딕"/>
              </a:rPr>
              <a:t>spec.md를 읽고</a:t>
            </a:r>
          </a:p>
          <a:p>
            <a:pPr algn="ctr" eaLnBrk="0">
              <a:lnSpc>
                <a:spcPct val="110000"/>
              </a:lnSpc>
              <a:spcAft>
                <a:spcPts val="400"/>
              </a:spcAft>
            </a:pPr>
            <a:r>
              <a:rPr sz="1550" b="0">
                <a:solidFill>
                  <a:srgbClr val="1F2A3A"/>
                </a:solidFill>
                <a:latin typeface="맑은 고딕"/>
                <a:ea typeface="맑은 고딕"/>
                <a:cs typeface="맑은 고딕"/>
              </a:rPr>
              <a:t>필요한 부분만</a:t>
            </a:r>
          </a:p>
          <a:p>
            <a:pPr algn="ctr" eaLnBrk="0">
              <a:lnSpc>
                <a:spcPct val="110000"/>
              </a:lnSpc>
              <a:spcAft>
                <a:spcPts val="400"/>
              </a:spcAft>
            </a:pPr>
            <a:r>
              <a:rPr sz="1550" b="0">
                <a:solidFill>
                  <a:srgbClr val="1F2A3A"/>
                </a:solidFill>
                <a:latin typeface="맑은 고딕"/>
                <a:ea typeface="맑은 고딕"/>
                <a:cs typeface="맑은 고딕"/>
              </a:rPr>
              <a:t>고치게 한다</a:t>
            </a:r>
          </a:p>
        </p:txBody>
      </p:sp>
      <p:sp>
        <p:nvSpPr>
          <p:cNvPr id="11" name="Right Arrow 10"/>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5140025" y="2292667"/>
            <a:ext cx="1911644" cy="3397377"/>
          </a:xfrm>
          <a:prstGeom prst="roundRect">
            <a:avLst>
              <a:gd name="adj" fmla="val 5000"/>
            </a:avLst>
          </a:prstGeom>
          <a:solidFill>
            <a:srgbClr val="F3F6F9"/>
          </a:solidFill>
          <a:ln>
            <a:noFill/>
          </a:ln>
        </p:spPr>
        <p:txBody>
          <a:bodyPr rtlCol="0" anchor="ctr"/>
          <a:lstStyle/>
          <a:p>
            <a:pPr algn="ctr"/>
          </a:p>
        </p:txBody>
      </p:sp>
      <p:sp>
        <p:nvSpPr>
          <p:cNvPr id="13" name="TextBox 12"/>
          <p:cNvSpPr txBox="1"/>
          <p:nvPr/>
        </p:nvSpPr>
        <p:spPr>
          <a:xfrm>
            <a:off x="5213177" y="2475547"/>
            <a:ext cx="1765340" cy="314134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바뀐 파일을 읽는다</a:t>
            </a:r>
          </a:p>
          <a:p>
            <a:pPr algn="ctr" eaLnBrk="0">
              <a:lnSpc>
                <a:spcPct val="110000"/>
              </a:lnSpc>
              <a:spcAft>
                <a:spcPts val="400"/>
              </a:spcAft>
            </a:pPr>
            <a:r>
              <a:rPr sz="1550" b="0">
                <a:solidFill>
                  <a:srgbClr val="1F2A3A"/>
                </a:solidFill>
                <a:latin typeface="맑은 고딕"/>
                <a:ea typeface="맑은 고딕"/>
                <a:cs typeface="맑은 고딕"/>
              </a:rPr>
              <a:t>관계없는 변경이</a:t>
            </a:r>
          </a:p>
          <a:p>
            <a:pPr algn="ctr" eaLnBrk="0">
              <a:lnSpc>
                <a:spcPct val="110000"/>
              </a:lnSpc>
              <a:spcAft>
                <a:spcPts val="400"/>
              </a:spcAft>
            </a:pPr>
            <a:r>
              <a:rPr sz="1550" b="0">
                <a:solidFill>
                  <a:srgbClr val="1F2A3A"/>
                </a:solidFill>
                <a:latin typeface="맑은 고딕"/>
                <a:ea typeface="맑은 고딕"/>
                <a:cs typeface="맑은 고딕"/>
              </a:rPr>
              <a:t>섞이지 않았는지 본다</a:t>
            </a:r>
          </a:p>
        </p:txBody>
      </p:sp>
      <p:sp>
        <p:nvSpPr>
          <p:cNvPr id="14" name="Right Arrow 13"/>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15" name="Rounded Rectangle 14"/>
          <p:cNvSpPr/>
          <p:nvPr/>
        </p:nvSpPr>
        <p:spPr>
          <a:xfrm>
            <a:off x="7435717" y="2292667"/>
            <a:ext cx="1911644" cy="3397377"/>
          </a:xfrm>
          <a:prstGeom prst="roundRect">
            <a:avLst>
              <a:gd name="adj" fmla="val 5000"/>
            </a:avLst>
          </a:prstGeom>
          <a:solidFill>
            <a:srgbClr val="F3F6F9"/>
          </a:solidFill>
          <a:ln>
            <a:noFill/>
          </a:ln>
        </p:spPr>
        <p:txBody>
          <a:bodyPr rtlCol="0" anchor="ctr"/>
          <a:lstStyle/>
          <a:p>
            <a:pPr algn="ctr"/>
          </a:p>
        </p:txBody>
      </p:sp>
      <p:sp>
        <p:nvSpPr>
          <p:cNvPr id="16" name="TextBox 15"/>
          <p:cNvSpPr txBox="1"/>
          <p:nvPr/>
        </p:nvSpPr>
        <p:spPr>
          <a:xfrm>
            <a:off x="7508869" y="2475547"/>
            <a:ext cx="1765340" cy="314134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같은 조건으로 실행한다</a:t>
            </a:r>
          </a:p>
          <a:p>
            <a:pPr algn="ctr" eaLnBrk="0">
              <a:lnSpc>
                <a:spcPct val="110000"/>
              </a:lnSpc>
              <a:spcAft>
                <a:spcPts val="400"/>
              </a:spcAft>
            </a:pPr>
            <a:r>
              <a:rPr sz="1550" b="0">
                <a:solidFill>
                  <a:srgbClr val="1F2A3A"/>
                </a:solidFill>
                <a:latin typeface="맑은 고딕"/>
                <a:ea typeface="맑은 고딕"/>
                <a:cs typeface="맑은 고딕"/>
              </a:rPr>
              <a:t>일반 · 긴급 · 누락 사례를</a:t>
            </a:r>
          </a:p>
          <a:p>
            <a:pPr algn="ctr" eaLnBrk="0">
              <a:lnSpc>
                <a:spcPct val="110000"/>
              </a:lnSpc>
              <a:spcAft>
                <a:spcPts val="400"/>
              </a:spcAft>
            </a:pPr>
            <a:r>
              <a:rPr sz="1550" b="0">
                <a:solidFill>
                  <a:srgbClr val="1F2A3A"/>
                </a:solidFill>
                <a:latin typeface="맑은 고딕"/>
                <a:ea typeface="맑은 고딕"/>
                <a:cs typeface="맑은 고딕"/>
              </a:rPr>
              <a:t>같은 입력과 자료로</a:t>
            </a:r>
          </a:p>
        </p:txBody>
      </p:sp>
      <p:sp>
        <p:nvSpPr>
          <p:cNvPr id="17" name="Right Arrow 16"/>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18" name="Rounded Rectangle 17"/>
          <p:cNvSpPr/>
          <p:nvPr/>
        </p:nvSpPr>
        <p:spPr>
          <a:xfrm>
            <a:off x="9731410" y="2292667"/>
            <a:ext cx="1911644" cy="33973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9804562" y="2475547"/>
            <a:ext cx="1765340" cy="314134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어긋나면 가린다</a:t>
            </a:r>
          </a:p>
          <a:p>
            <a:pPr algn="ctr" eaLnBrk="0">
              <a:lnSpc>
                <a:spcPct val="110000"/>
              </a:lnSpc>
              <a:spcAft>
                <a:spcPts val="400"/>
              </a:spcAft>
            </a:pPr>
            <a:r>
              <a:rPr sz="1550" b="0">
                <a:solidFill>
                  <a:srgbClr val="1F2A3A"/>
                </a:solidFill>
                <a:latin typeface="맑은 고딕"/>
                <a:ea typeface="맑은 고딕"/>
                <a:cs typeface="맑은 고딕"/>
              </a:rPr>
              <a:t>구현이 틀렸으면 구현을,</a:t>
            </a:r>
          </a:p>
          <a:p>
            <a:pPr algn="ctr" eaLnBrk="0">
              <a:lnSpc>
                <a:spcPct val="110000"/>
              </a:lnSpc>
              <a:spcAft>
                <a:spcPts val="400"/>
              </a:spcAft>
            </a:pPr>
            <a:r>
              <a:rPr sz="1550" b="0">
                <a:solidFill>
                  <a:srgbClr val="1F2A3A"/>
                </a:solidFill>
                <a:latin typeface="맑은 고딕"/>
                <a:ea typeface="맑은 고딕"/>
                <a:cs typeface="맑은 고딕"/>
              </a:rPr>
              <a:t>명세가 빠뜨렸으면 명세를</a:t>
            </a:r>
          </a:p>
          <a:p>
            <a:pPr algn="ctr" eaLnBrk="0">
              <a:lnSpc>
                <a:spcPct val="110000"/>
              </a:lnSpc>
              <a:spcAft>
                <a:spcPts val="400"/>
              </a:spcAft>
            </a:pPr>
            <a:r>
              <a:rPr sz="1550" b="0">
                <a:solidFill>
                  <a:srgbClr val="1F2A3A"/>
                </a:solidFill>
                <a:latin typeface="맑은 고딕"/>
                <a:ea typeface="맑은 고딕"/>
                <a:cs typeface="맑은 고딕"/>
              </a:rPr>
              <a:t>기대값은 낮추지 않는다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긴급하면 승인을 건너뛰자는 요구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표시를 만든 뒤 「긴급이면 승인 없이 바로 조치까지 해 달라」는 요구가 하나 더 왔다고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명세를 다루는 쪽의 처리로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요구사항에 한 줄 더하고, 긴급 요청에서만 승인 대기를 뺀다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금지 조건과 부딪치므로 구현하지 않고, 승인 권한을 정하는 쪽의 검토로 넘긴다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 기준을 55 ℃로 낮춰 더 많은 요청이 빨리 처리되게 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AI에게 요구 문장을 그대로 주고 나온 결과를 보고 정한다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명세에 따른 요구사항 추가</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점검 요청의 긴급 확인 표시를 spec.md로 먼저 적고, 기존 출력 · 질문 · 승인 조건을 지키며 구현한다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확인 표시의 명세와 구현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확인 표시 요구를 spec.md에 먼저 적고 구현한 뒤, 요청 초안에서 표시의 이유와 확인할 항목이 읽히는지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318004"/>
            <a:ext cx="2567863" cy="334670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519172"/>
            <a:ext cx="2238679" cy="264261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입력</a:t>
            </a:r>
          </a:p>
          <a:p>
            <a:pPr algn="l" eaLnBrk="0" marL="188595" indent="-188595">
              <a:lnSpc>
                <a:spcPct val="110000"/>
              </a:lnSpc>
              <a:spcAft>
                <a:spcPts val="400"/>
              </a:spcAft>
            </a:pPr>
            <a:r>
              <a:rPr sz="1650" b="0">
                <a:solidFill>
                  <a:srgbClr val="1F2A3A"/>
                </a:solidFill>
                <a:latin typeface="맑은 고딕"/>
                <a:ea typeface="맑은 고딕"/>
                <a:cs typeface="맑은 고딕"/>
              </a:rPr>
              <a:t>• 앞 단계의 점검 요청 프로젝트</a:t>
            </a:r>
          </a:p>
          <a:p>
            <a:pPr algn="l" eaLnBrk="0" marL="188595" indent="-188595">
              <a:lnSpc>
                <a:spcPct val="110000"/>
              </a:lnSpc>
              <a:spcAft>
                <a:spcPts val="400"/>
              </a:spcAft>
            </a:pPr>
            <a:r>
              <a:rPr sz="1650" b="0">
                <a:solidFill>
                  <a:srgbClr val="1F2A3A"/>
                </a:solidFill>
                <a:latin typeface="맑은 고딕"/>
                <a:ea typeface="맑은 고딕"/>
                <a:cs typeface="맑은 고딕"/>
              </a:rPr>
              <a:t>• 교육용 조건: 쿨러 경보의</a:t>
            </a:r>
          </a:p>
          <a:p>
            <a:pPr algn="l" eaLnBrk="0" marL="188595" indent="-188595">
              <a:lnSpc>
                <a:spcPct val="110000"/>
              </a:lnSpc>
              <a:spcAft>
                <a:spcPts val="400"/>
              </a:spcAft>
            </a:pPr>
            <a:r>
              <a:rPr sz="1650" b="0">
                <a:solidFill>
                  <a:srgbClr val="1F2A3A"/>
                </a:solidFill>
                <a:latin typeface="맑은 고딕"/>
                <a:ea typeface="맑은 고딕"/>
                <a:cs typeface="맑은 고딕"/>
              </a:rPr>
              <a:t>• 유효한 TS1 120초 평균 60 ℃ 이상</a:t>
            </a:r>
          </a:p>
        </p:txBody>
      </p:sp>
      <p:sp>
        <p:nvSpPr>
          <p:cNvPr id="8" name="Rounded Rectangle 7"/>
          <p:cNvSpPr/>
          <p:nvPr/>
        </p:nvSpPr>
        <p:spPr>
          <a:xfrm>
            <a:off x="777240" y="5234940"/>
            <a:ext cx="1325879"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3494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같은 프로젝트</a:t>
            </a:r>
          </a:p>
        </p:txBody>
      </p:sp>
      <p:sp>
        <p:nvSpPr>
          <p:cNvPr id="10" name="Rounded Rectangle 9"/>
          <p:cNvSpPr/>
          <p:nvPr/>
        </p:nvSpPr>
        <p:spPr>
          <a:xfrm>
            <a:off x="3390823" y="2318004"/>
            <a:ext cx="2567863" cy="334670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519172"/>
            <a:ext cx="2238679" cy="264261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명세</a:t>
            </a:r>
          </a:p>
          <a:p>
            <a:pPr algn="l" eaLnBrk="0" marL="200025" indent="-200025">
              <a:lnSpc>
                <a:spcPct val="110000"/>
              </a:lnSpc>
              <a:spcAft>
                <a:spcPts val="400"/>
              </a:spcAft>
            </a:pPr>
            <a:r>
              <a:rPr sz="1750" b="0">
                <a:solidFill>
                  <a:srgbClr val="1F2A3A"/>
                </a:solidFill>
                <a:latin typeface="맑은 고딕"/>
                <a:ea typeface="맑은 고딕"/>
                <a:cs typeface="맑은 고딕"/>
              </a:rPr>
              <a:t>• 일반 기능과 긴급 요청의 차이</a:t>
            </a:r>
          </a:p>
          <a:p>
            <a:pPr algn="l" eaLnBrk="0" marL="200025" indent="-200025">
              <a:lnSpc>
                <a:spcPct val="110000"/>
              </a:lnSpc>
              <a:spcAft>
                <a:spcPts val="400"/>
              </a:spcAft>
            </a:pPr>
            <a:r>
              <a:rPr sz="1750" b="0">
                <a:solidFill>
                  <a:srgbClr val="1F2A3A"/>
                </a:solidFill>
                <a:latin typeface="맑은 고딕"/>
                <a:ea typeface="맑은 고딕"/>
                <a:cs typeface="맑은 고딕"/>
              </a:rPr>
              <a:t>• 값 누락 · 신선도 실패 · 표본 부족은 미판정</a:t>
            </a:r>
          </a:p>
        </p:txBody>
      </p:sp>
      <p:sp>
        <p:nvSpPr>
          <p:cNvPr id="12" name="Rounded Rectangle 11"/>
          <p:cNvSpPr/>
          <p:nvPr/>
        </p:nvSpPr>
        <p:spPr>
          <a:xfrm>
            <a:off x="3619423" y="5234940"/>
            <a:ext cx="920496"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5234940"/>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spec.md</a:t>
            </a:r>
          </a:p>
        </p:txBody>
      </p:sp>
      <p:sp>
        <p:nvSpPr>
          <p:cNvPr id="14" name="Rounded Rectangle 13"/>
          <p:cNvSpPr/>
          <p:nvPr/>
        </p:nvSpPr>
        <p:spPr>
          <a:xfrm>
            <a:off x="6233007" y="2318004"/>
            <a:ext cx="2567863" cy="334670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519172"/>
            <a:ext cx="2238679" cy="264261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구현</a:t>
            </a:r>
          </a:p>
          <a:p>
            <a:pPr algn="l" eaLnBrk="0" marL="200025" indent="-200025">
              <a:lnSpc>
                <a:spcPct val="110000"/>
              </a:lnSpc>
              <a:spcAft>
                <a:spcPts val="400"/>
              </a:spcAft>
            </a:pPr>
            <a:r>
              <a:rPr sz="1750" b="0">
                <a:solidFill>
                  <a:srgbClr val="1F2A3A"/>
                </a:solidFill>
                <a:latin typeface="맑은 고딕"/>
                <a:ea typeface="맑은 고딕"/>
                <a:cs typeface="맑은 고딕"/>
              </a:rPr>
              <a:t>• 기존 출력 · 질문 · 승인 조건을 지킨다</a:t>
            </a:r>
          </a:p>
          <a:p>
            <a:pPr algn="l" eaLnBrk="0" marL="200025" indent="-200025">
              <a:lnSpc>
                <a:spcPct val="110000"/>
              </a:lnSpc>
              <a:spcAft>
                <a:spcPts val="400"/>
              </a:spcAft>
            </a:pPr>
            <a:r>
              <a:rPr sz="1750" b="0">
                <a:solidFill>
                  <a:srgbClr val="1F2A3A"/>
                </a:solidFill>
                <a:latin typeface="맑은 고딕"/>
                <a:ea typeface="맑은 고딕"/>
                <a:cs typeface="맑은 고딕"/>
              </a:rPr>
              <a:t>• 실제 설비 기준과 승인 권한은 그대로</a:t>
            </a:r>
          </a:p>
        </p:txBody>
      </p:sp>
      <p:sp>
        <p:nvSpPr>
          <p:cNvPr id="16" name="Rounded Rectangle 15"/>
          <p:cNvSpPr/>
          <p:nvPr/>
        </p:nvSpPr>
        <p:spPr>
          <a:xfrm>
            <a:off x="6461607" y="523494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523494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바뀐 코드</a:t>
            </a:r>
          </a:p>
        </p:txBody>
      </p:sp>
      <p:sp>
        <p:nvSpPr>
          <p:cNvPr id="18" name="Rounded Rectangle 17"/>
          <p:cNvSpPr/>
          <p:nvPr/>
        </p:nvSpPr>
        <p:spPr>
          <a:xfrm>
            <a:off x="9075191" y="2318004"/>
            <a:ext cx="2567863" cy="334670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TextBox 18"/>
          <p:cNvSpPr txBox="1"/>
          <p:nvPr/>
        </p:nvSpPr>
        <p:spPr>
          <a:xfrm>
            <a:off x="9239783" y="2519172"/>
            <a:ext cx="2238679" cy="264261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성공 기준</a:t>
            </a:r>
          </a:p>
          <a:p>
            <a:pPr algn="l" eaLnBrk="0" marL="200025" indent="-200025">
              <a:lnSpc>
                <a:spcPct val="110000"/>
              </a:lnSpc>
              <a:spcAft>
                <a:spcPts val="400"/>
              </a:spcAft>
            </a:pPr>
            <a:r>
              <a:rPr sz="1750" b="0">
                <a:solidFill>
                  <a:srgbClr val="1F2A3A"/>
                </a:solidFill>
                <a:latin typeface="맑은 고딕"/>
                <a:ea typeface="맑은 고딕"/>
                <a:cs typeface="맑은 고딕"/>
              </a:rPr>
              <a:t>• 요청 초안에서 긴급 표시의 이유와</a:t>
            </a:r>
          </a:p>
          <a:p>
            <a:pPr algn="l" eaLnBrk="0" marL="200025" indent="-200025">
              <a:lnSpc>
                <a:spcPct val="110000"/>
              </a:lnSpc>
              <a:spcAft>
                <a:spcPts val="400"/>
              </a:spcAft>
            </a:pPr>
            <a:r>
              <a:rPr sz="1750" b="0">
                <a:solidFill>
                  <a:srgbClr val="1F2A3A"/>
                </a:solidFill>
                <a:latin typeface="맑은 고딕"/>
                <a:ea typeface="맑은 고딕"/>
                <a:cs typeface="맑은 고딕"/>
              </a:rPr>
              <a:t>• 확인할 항목을 읽을 수 있다</a:t>
            </a:r>
          </a:p>
        </p:txBody>
      </p:sp>
      <p:sp>
        <p:nvSpPr>
          <p:cNvPr id="20" name="Rounded Rectangle 19"/>
          <p:cNvSpPr/>
          <p:nvPr/>
        </p:nvSpPr>
        <p:spPr>
          <a:xfrm>
            <a:off x="9303791" y="5234940"/>
            <a:ext cx="1021080" cy="292608"/>
          </a:xfrm>
          <a:prstGeom prst="roundRect">
            <a:avLst>
              <a:gd name="adj" fmla="val 50000"/>
            </a:avLst>
          </a:prstGeom>
          <a:solidFill>
            <a:srgbClr val="5CB8F2"/>
          </a:solidFill>
          <a:ln>
            <a:noFill/>
          </a:ln>
        </p:spPr>
        <p:txBody>
          <a:bodyPr rtlCol="0" anchor="ctr"/>
          <a:lstStyle/>
          <a:p>
            <a:pPr algn="ctr"/>
          </a:p>
        </p:txBody>
      </p:sp>
      <p:sp>
        <p:nvSpPr>
          <p:cNvPr id="21" name="TextBox 20"/>
          <p:cNvSpPr txBox="1"/>
          <p:nvPr/>
        </p:nvSpPr>
        <p:spPr>
          <a:xfrm>
            <a:off x="9303791" y="523494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초안 대조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BDD: 기대 행동을</a:t>
            </a:r>
          </a:p>
          <a:p>
            <a:pPr algn="l" eaLnBrk="0">
              <a:lnSpc>
                <a:spcPct val="110000"/>
              </a:lnSpc>
            </a:pPr>
            <a:r>
              <a:rPr sz="3400" b="1">
                <a:solidFill>
                  <a:srgbClr val="13294B"/>
                </a:solidFill>
                <a:latin typeface="맑은 고딕"/>
                <a:ea typeface="맑은 고딕"/>
                <a:cs typeface="맑은 고딕"/>
              </a:rPr>
              <a:t>시나리오로 검증하기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명세를 Given · When · Then으로 옮겨 실행으로 확인한다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SDD와 BDD(Behavior-Driven Development)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BDD</a:t>
            </a:r>
            <a:r>
              <a:rPr sz="1600" b="0">
                <a:solidFill>
                  <a:srgbClr val="556175"/>
                </a:solidFill>
                <a:latin typeface="맑은 고딕"/>
                <a:ea typeface="맑은 고딕"/>
                <a:cs typeface="맑은 고딕"/>
              </a:rPr>
              <a:t>는 기대 행동을 구체적인 사례의 시나리오로 적고 실행해서, SDD가 정한 것을 실제로 하는지 확인하는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SDD · 명세</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BDD · 시나리오</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무엇을 적나</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지킬 것과 달라질 것의 조건</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한 상황에서 기대하는</a:t>
            </a:r>
          </a:p>
          <a:p>
            <a:pPr algn="l" eaLnBrk="0">
              <a:lnSpc>
                <a:spcPct val="110000"/>
              </a:lnSpc>
            </a:pPr>
            <a:r>
              <a:rPr sz="1250" b="1">
                <a:solidFill>
                  <a:srgbClr val="556175"/>
                </a:solidFill>
                <a:latin typeface="맑은 고딕"/>
                <a:ea typeface="맑은 고딕"/>
                <a:cs typeface="맑은 고딕"/>
              </a:rPr>
              <a:t>행동 하나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점검 요청에서</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유효한 평균 60 ℃ 이상이면</a:t>
            </a:r>
          </a:p>
          <a:p>
            <a:pPr algn="l" eaLnBrk="0">
              <a:lnSpc>
                <a:spcPct val="110000"/>
              </a:lnSpc>
            </a:pPr>
            <a:r>
              <a:rPr sz="1400" b="0">
                <a:solidFill>
                  <a:srgbClr val="1F2A3A"/>
                </a:solidFill>
                <a:latin typeface="맑은 고딕"/>
                <a:ea typeface="맑은 고딕"/>
                <a:cs typeface="맑은 고딕"/>
              </a:rPr>
              <a:t>urgent는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평균 60.4 ℃ 쿨러 요청을</a:t>
            </a:r>
          </a:p>
          <a:p>
            <a:pPr algn="l" eaLnBrk="0">
              <a:lnSpc>
                <a:spcPct val="110000"/>
              </a:lnSpc>
            </a:pPr>
            <a:r>
              <a:rPr sz="1250" b="1">
                <a:solidFill>
                  <a:srgbClr val="556175"/>
                </a:solidFill>
                <a:latin typeface="맑은 고딕"/>
                <a:ea typeface="맑은 고딕"/>
                <a:cs typeface="맑은 고딕"/>
              </a:rPr>
              <a:t>처리하면 true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언제 쓰나</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구현 전에 요구를 정할 때</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구현 전에 적고</a:t>
            </a:r>
          </a:p>
          <a:p>
            <a:pPr algn="l" eaLnBrk="0">
              <a:lnSpc>
                <a:spcPct val="110000"/>
              </a:lnSpc>
            </a:pPr>
            <a:r>
              <a:rPr sz="1250" b="1">
                <a:solidFill>
                  <a:srgbClr val="556175"/>
                </a:solidFill>
                <a:latin typeface="맑은 고딕"/>
                <a:ea typeface="맑은 고딕"/>
                <a:cs typeface="맑은 고딕"/>
              </a:rPr>
              <a:t>바꿀 때마다 실행</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확인하는 방법</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수용 기준에 비추어 읽는다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시나리오를 실행해</a:t>
            </a:r>
          </a:p>
          <a:p>
            <a:pPr algn="l" eaLnBrk="0">
              <a:lnSpc>
                <a:spcPct val="110000"/>
              </a:lnSpc>
            </a:pPr>
            <a:r>
              <a:rPr sz="1250" b="1">
                <a:solidFill>
                  <a:srgbClr val="1A6FC4"/>
                </a:solidFill>
                <a:latin typeface="맑은 고딕"/>
                <a:ea typeface="맑은 고딕"/>
                <a:cs typeface="맑은 고딕"/>
              </a:rPr>
              <a:t>기대와 대조한다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Given · When · Then 시나리오 한 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시나리오를 전제 Given · 행동 When · 기대 결과 Then으로 나누면, 준비할 입력과 확인할 값이 줄마다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Feature: </a:t>
            </a:r>
            <a:r>
              <a:rPr sz="1300" b="0">
                <a:solidFill>
                  <a:srgbClr val="E8EEF6"/>
                </a:solidFill>
                <a:latin typeface="맑은 고딕"/>
                <a:ea typeface="맑은 고딕"/>
                <a:cs typeface="맑은 고딕"/>
              </a:rPr>
              <a:t>점검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요청의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표시</a:t>
            </a:r>
          </a:p>
          <a:p>
            <a:pPr algn="l" eaLnBrk="0">
              <a:lnSpc>
                <a:spcPct val="110000"/>
              </a:lnSpc>
              <a:spcAft>
                <a:spcPts val="200"/>
              </a:spcAft>
            </a:pPr>
            <a:r>
              <a:rPr sz="1300" b="0">
                <a:solidFill>
                  <a:srgbClr val="E8EEF6"/>
                </a:solidFill>
                <a:latin typeface="Consolas"/>
                <a:ea typeface="맑은 고딕"/>
                <a:cs typeface="맑은 고딕"/>
              </a:rPr>
              <a:t>  Scenario: </a:t>
            </a:r>
            <a:r>
              <a:rPr sz="1300" b="0">
                <a:solidFill>
                  <a:srgbClr val="E8EEF6"/>
                </a:solidFill>
                <a:latin typeface="맑은 고딕"/>
                <a:ea typeface="맑은 고딕"/>
                <a:cs typeface="맑은 고딕"/>
              </a:rPr>
              <a:t>유효한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p>
          <a:p>
            <a:pPr algn="l" eaLnBrk="0">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요청이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eaLnBrk="0">
              <a:lnSpc>
                <a:spcPct val="110000"/>
              </a:lnSpc>
              <a:spcAft>
                <a:spcPts val="200"/>
              </a:spcAft>
            </a:pPr>
            <a:r>
              <a:rPr sz="1300" b="0">
                <a:solidFill>
                  <a:srgbClr val="E8EEF6"/>
                </a:solidFill>
                <a:latin typeface="Consolas"/>
                <a:ea typeface="맑은 고딕"/>
                <a:cs typeface="맑은 고딕"/>
              </a:rPr>
              <a:t>    And   TS1 120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60.4</a:t>
            </a:r>
            <a:r>
              <a:rPr sz="1300" b="0">
                <a:solidFill>
                  <a:srgbClr val="E8EEF6"/>
                </a:solidFill>
                <a:latin typeface="맑은 고딕"/>
                <a:ea typeface="맑은 고딕"/>
                <a:cs typeface="맑은 고딕"/>
              </a:rPr>
              <a:t> ℃이고</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신선도와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표본이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유효하다</a:t>
            </a:r>
          </a:p>
          <a:p>
            <a:pPr algn="l" eaLnBrk="0">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요청을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처리한다</a:t>
            </a:r>
          </a:p>
          <a:p>
            <a:pPr algn="l" eaLnBrk="0">
              <a:lnSpc>
                <a:spcPct val="110000"/>
              </a:lnSpc>
              <a:spcAft>
                <a:spcPts val="200"/>
              </a:spcAft>
            </a:pPr>
            <a:r>
              <a:rPr sz="1300" b="0">
                <a:solidFill>
                  <a:srgbClr val="E8EEF6"/>
                </a:solidFill>
                <a:latin typeface="Consolas"/>
                <a:ea typeface="맑은 고딕"/>
                <a:cs typeface="맑은 고딕"/>
              </a:rPr>
              <a:t>    Then  urgent</a:t>
            </a:r>
            <a:r>
              <a:rPr sz="1300" b="0">
                <a:solidFill>
                  <a:srgbClr val="E8EEF6"/>
                </a:solidFill>
                <a:latin typeface="맑은 고딕"/>
                <a:ea typeface="맑은 고딕"/>
                <a:cs typeface="맑은 고딕"/>
              </a:rPr>
              <a:t>는</a:t>
            </a:r>
            <a:r>
              <a:rPr sz="1300" b="0">
                <a:solidFill>
                  <a:srgbClr val="E8EEF6"/>
                </a:solidFill>
                <a:latin typeface="Consolas"/>
                <a:ea typeface="맑은 고딕"/>
                <a:cs typeface="맑은 고딕"/>
              </a:rPr>
              <a:t> true</a:t>
            </a:r>
            <a:r>
              <a:rPr sz="1300" b="0">
                <a:solidFill>
                  <a:srgbClr val="E8EEF6"/>
                </a:solidFill>
                <a:latin typeface="맑은 고딕"/>
                <a:ea typeface="맑은 고딕"/>
                <a:cs typeface="맑은 고딕"/>
              </a:rPr>
              <a:t>이다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이유에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적힌다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점검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상태이다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서식</a:t>
            </a:r>
          </a:p>
          <a:p>
            <a:pPr algn="l" eaLnBrk="0">
              <a:lnSpc>
                <a:spcPct val="110000"/>
              </a:lnSpc>
              <a:spcAft>
                <a:spcPts val="400"/>
              </a:spcAft>
            </a:pPr>
            <a:r>
              <a:rPr sz="1400" b="0">
                <a:solidFill>
                  <a:srgbClr val="1F2A3A"/>
                </a:solidFill>
                <a:latin typeface="맑은 고딕"/>
                <a:ea typeface="맑은 고딕"/>
                <a:cs typeface="맑은 고딕"/>
              </a:rPr>
              <a:t>Feature 아래 Scenario를 Given · When · Then · And로 적는 서식이 </a:t>
            </a:r>
            <a:r>
              <a:rPr sz="1400" b="1">
                <a:solidFill>
                  <a:srgbClr val="1A6FC4"/>
                </a:solidFill>
                <a:latin typeface="맑은 고딕"/>
                <a:ea typeface="맑은 고딕"/>
                <a:cs typeface="맑은 고딕"/>
              </a:rPr>
              <a:t>Gherkin</a:t>
            </a:r>
            <a:r>
              <a:rPr sz="1400" b="0">
                <a:solidFill>
                  <a:srgbClr val="1F2A3A"/>
                </a:solidFill>
                <a:latin typeface="맑은 고딕"/>
                <a:ea typeface="맑은 고딕"/>
                <a:cs typeface="맑은 고딕"/>
              </a:rPr>
              <a:t>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Given</a:t>
            </a:r>
          </a:p>
          <a:p>
            <a:pPr algn="l" eaLnBrk="0">
              <a:lnSpc>
                <a:spcPct val="110000"/>
              </a:lnSpc>
              <a:spcAft>
                <a:spcPts val="400"/>
              </a:spcAft>
            </a:pPr>
            <a:r>
              <a:rPr sz="1300" b="0">
                <a:solidFill>
                  <a:srgbClr val="1F2A3A"/>
                </a:solidFill>
                <a:latin typeface="맑은 고딕"/>
                <a:ea typeface="맑은 고딕"/>
                <a:cs typeface="맑은 고딕"/>
              </a:rPr>
              <a:t>입력과 자료의 상태다. 값과 함께 유효성도 적는다.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When</a:t>
            </a:r>
          </a:p>
          <a:p>
            <a:pPr algn="l" eaLnBrk="0">
              <a:lnSpc>
                <a:spcPct val="110000"/>
              </a:lnSpc>
              <a:spcAft>
                <a:spcPts val="400"/>
              </a:spcAft>
            </a:pPr>
            <a:r>
              <a:rPr sz="1400" b="0">
                <a:solidFill>
                  <a:srgbClr val="1F2A3A"/>
                </a:solidFill>
                <a:latin typeface="맑은 고딕"/>
                <a:ea typeface="맑은 고딕"/>
                <a:cs typeface="맑은 고딕"/>
              </a:rPr>
              <a:t>확인할 행동 하나다.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Then</a:t>
            </a:r>
          </a:p>
          <a:p>
            <a:pPr algn="l" eaLnBrk="0">
              <a:lnSpc>
                <a:spcPct val="110000"/>
              </a:lnSpc>
              <a:spcAft>
                <a:spcPts val="400"/>
              </a:spcAft>
            </a:pPr>
            <a:r>
              <a:rPr sz="1400" b="0">
                <a:solidFill>
                  <a:srgbClr val="1F2A3A"/>
                </a:solidFill>
                <a:latin typeface="맑은 고딕"/>
                <a:ea typeface="맑은 고딕"/>
                <a:cs typeface="맑은 고딕"/>
              </a:rPr>
              <a:t>실행 결과로 가를 수 있는 사실만 적는다. 「잘 처리된다」는 쓰지 않는다.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기대 결과를 정하는 두 방법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기대 결과를 구현의 출력에서 베끼면 틀린 구현도 통과하므로, 실행하기 전에 명세와 원자료에서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56700"/>
            <a:ext cx="5181447" cy="286931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757868"/>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출력을 베낀 기대값 (가정)</a:t>
            </a:r>
          </a:p>
        </p:txBody>
      </p:sp>
      <p:sp>
        <p:nvSpPr>
          <p:cNvPr id="8" name="TextBox 7"/>
          <p:cNvSpPr txBox="1"/>
          <p:nvPr/>
        </p:nvSpPr>
        <p:spPr>
          <a:xfrm>
            <a:off x="822959" y="3608260"/>
            <a:ext cx="4632807" cy="1269111"/>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구현을 돌려 나온 urgent를 기대값으로 적는다</a:t>
            </a:r>
          </a:p>
          <a:p>
            <a:pPr algn="l" eaLnBrk="0" marL="177165" indent="-177165">
              <a:lnSpc>
                <a:spcPct val="110000"/>
              </a:lnSpc>
              <a:spcAft>
                <a:spcPts val="600"/>
              </a:spcAft>
            </a:pPr>
            <a:r>
              <a:rPr sz="1550" b="0">
                <a:solidFill>
                  <a:srgbClr val="1F2A3A"/>
                </a:solidFill>
                <a:latin typeface="맑은 고딕"/>
                <a:ea typeface="맑은 고딕"/>
                <a:cs typeface="맑은 고딕"/>
              </a:rPr>
              <a:t>• 구현이 60.0 ℃를 false로 내면 기대값도 false</a:t>
            </a:r>
          </a:p>
          <a:p>
            <a:pPr algn="l" eaLnBrk="0" marL="177165" indent="-177165">
              <a:lnSpc>
                <a:spcPct val="110000"/>
              </a:lnSpc>
              <a:spcAft>
                <a:spcPts val="600"/>
              </a:spcAft>
            </a:pPr>
            <a:r>
              <a:rPr sz="1550" b="0">
                <a:solidFill>
                  <a:srgbClr val="1F2A3A"/>
                </a:solidFill>
                <a:latin typeface="맑은 고딕"/>
                <a:ea typeface="맑은 고딕"/>
                <a:cs typeface="맑은 고딕"/>
              </a:rPr>
              <a:t>• 시험은 구현이 한 대로 통과한다</a:t>
            </a:r>
          </a:p>
        </p:txBody>
      </p:sp>
      <p:sp>
        <p:nvSpPr>
          <p:cNvPr id="9" name="Rounded Rectangle 8"/>
          <p:cNvSpPr/>
          <p:nvPr/>
        </p:nvSpPr>
        <p:spPr>
          <a:xfrm>
            <a:off x="868680" y="4968811"/>
            <a:ext cx="14782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4968811"/>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구현을 따라간다</a:t>
            </a:r>
          </a:p>
        </p:txBody>
      </p:sp>
      <p:sp>
        <p:nvSpPr>
          <p:cNvPr id="11" name="Rounded Rectangle 10"/>
          <p:cNvSpPr/>
          <p:nvPr/>
        </p:nvSpPr>
        <p:spPr>
          <a:xfrm>
            <a:off x="6461607" y="2556700"/>
            <a:ext cx="5181447" cy="286931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757868"/>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명세와 원자료에서 정한 기대값</a:t>
            </a:r>
          </a:p>
        </p:txBody>
      </p:sp>
      <p:sp>
        <p:nvSpPr>
          <p:cNvPr id="13" name="TextBox 12"/>
          <p:cNvSpPr txBox="1"/>
          <p:nvPr/>
        </p:nvSpPr>
        <p:spPr>
          <a:xfrm>
            <a:off x="6735927" y="3608260"/>
            <a:ext cx="4632807" cy="1269111"/>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명세: 유효한 평균 60 ℃ 이상이면 true</a:t>
            </a:r>
          </a:p>
          <a:p>
            <a:pPr algn="l" eaLnBrk="0" marL="177165" indent="-177165">
              <a:lnSpc>
                <a:spcPct val="110000"/>
              </a:lnSpc>
              <a:spcAft>
                <a:spcPts val="600"/>
              </a:spcAft>
            </a:pPr>
            <a:r>
              <a:rPr sz="1550" b="0">
                <a:solidFill>
                  <a:srgbClr val="1F2A3A"/>
                </a:solidFill>
                <a:latin typeface="맑은 고딕"/>
                <a:ea typeface="맑은 고딕"/>
                <a:cs typeface="맑은 고딕"/>
              </a:rPr>
              <a:t>• 원자료: 평균 60.0 ℃ · 신선도와 표본 유효</a:t>
            </a:r>
          </a:p>
          <a:p>
            <a:pPr algn="l" eaLnBrk="0" marL="177165" indent="-177165">
              <a:lnSpc>
                <a:spcPct val="110000"/>
              </a:lnSpc>
              <a:spcAft>
                <a:spcPts val="600"/>
              </a:spcAft>
            </a:pPr>
            <a:r>
              <a:rPr sz="1550" b="0">
                <a:solidFill>
                  <a:srgbClr val="1F2A3A"/>
                </a:solidFill>
                <a:latin typeface="맑은 고딕"/>
                <a:ea typeface="맑은 고딕"/>
                <a:cs typeface="맑은 고딕"/>
              </a:rPr>
              <a:t>• 실행 전에 true로 적고 근거를 남긴다</a:t>
            </a:r>
          </a:p>
        </p:txBody>
      </p:sp>
      <p:sp>
        <p:nvSpPr>
          <p:cNvPr id="14" name="Rounded Rectangle 13"/>
          <p:cNvSpPr/>
          <p:nvPr/>
        </p:nvSpPr>
        <p:spPr>
          <a:xfrm>
            <a:off x="6781647" y="4968811"/>
            <a:ext cx="14782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4968811"/>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구현을 검사한다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시나리오를 판정 코드로: 단언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Then 한 줄이 </a:t>
            </a:r>
            <a:r>
              <a:rPr sz="1600" b="1">
                <a:solidFill>
                  <a:srgbClr val="1A6FC4"/>
                </a:solidFill>
                <a:latin typeface="맑은 고딕"/>
                <a:ea typeface="맑은 고딕"/>
                <a:cs typeface="맑은 고딕"/>
              </a:rPr>
              <a:t>단언</a:t>
            </a:r>
            <a:r>
              <a:rPr sz="1600" b="0">
                <a:solidFill>
                  <a:srgbClr val="556175"/>
                </a:solidFill>
                <a:latin typeface="맑은 고딕"/>
                <a:ea typeface="맑은 고딕"/>
                <a:cs typeface="맑은 고딕"/>
              </a:rPr>
              <a:t>(Assertion) 한 줄이 되어, 어긋나면 그 시나리오 이름으로 실패한다.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프로젝트의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따른다</a:t>
            </a:r>
          </a:p>
          <a:p>
            <a:pPr algn="l" eaLnBrk="0">
              <a:lnSpc>
                <a:spcPct val="110000"/>
              </a:lnSpc>
              <a:spcAft>
                <a:spcPts val="200"/>
              </a:spcAft>
            </a:pPr>
            <a:r>
              <a:rPr sz="1300" b="0">
                <a:solidFill>
                  <a:srgbClr val="E8EEF6"/>
                </a:solidFill>
                <a:latin typeface="Consolas"/>
                <a:ea typeface="맑은 고딕"/>
                <a:cs typeface="맑은 고딕"/>
              </a:rPr>
              <a:t>def test_</a:t>
            </a:r>
            <a:r>
              <a:rPr sz="1300" b="0">
                <a:solidFill>
                  <a:srgbClr val="E8EEF6"/>
                </a:solidFill>
                <a:latin typeface="맑은 고딕"/>
                <a:ea typeface="맑은 고딕"/>
                <a:cs typeface="맑은 고딕"/>
              </a:rPr>
              <a:t>유효한</a:t>
            </a:r>
            <a:r>
              <a:rPr sz="1300" b="0">
                <a:solidFill>
                  <a:srgbClr val="E8EEF6"/>
                </a:solidFill>
                <a:latin typeface="Consolas"/>
                <a:ea typeface="맑은 고딕"/>
                <a:cs typeface="맑은 고딕"/>
              </a:rPr>
              <a:t>_</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_60_4_</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_</a:t>
            </a:r>
            <a:r>
              <a:rPr sz="1300" b="0">
                <a:solidFill>
                  <a:srgbClr val="E8EEF6"/>
                </a:solidFill>
                <a:latin typeface="맑은 고딕"/>
                <a:ea typeface="맑은 고딕"/>
                <a:cs typeface="맑은 고딕"/>
              </a:rPr>
              <a:t>경보는</a:t>
            </a:r>
            <a:r>
              <a:rPr sz="1300" b="0">
                <a:solidFill>
                  <a:srgbClr val="E8EEF6"/>
                </a:solidFill>
                <a:latin typeface="Consolas"/>
                <a:ea typeface="맑은 고딕"/>
                <a:cs typeface="맑은 고딕"/>
              </a:rPr>
              <a:t>_</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요청</a:t>
            </a: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_</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_</a:t>
            </a:r>
            <a:r>
              <a:rPr sz="1300" b="0">
                <a:solidFill>
                  <a:srgbClr val="E8EEF6"/>
                </a:solidFill>
                <a:latin typeface="맑은 고딕"/>
                <a:ea typeface="맑은 고딕"/>
                <a:cs typeface="맑은 고딕"/>
              </a:rPr>
              <a:t>요청</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=60.4, </a:t>
            </a:r>
            <a:r>
              <a:rPr sz="1300" b="0">
                <a:solidFill>
                  <a:srgbClr val="E8EEF6"/>
                </a:solidFill>
                <a:latin typeface="맑은 고딕"/>
                <a:ea typeface="맑은 고딕"/>
                <a:cs typeface="맑은 고딕"/>
              </a:rPr>
              <a:t>신선도</a:t>
            </a:r>
            <a:r>
              <a:rPr sz="1300" b="0">
                <a:solidFill>
                  <a:srgbClr val="E8EEF6"/>
                </a:solidFill>
                <a:latin typeface="Consolas"/>
                <a:ea typeface="맑은 고딕"/>
                <a:cs typeface="맑은 고딕"/>
              </a:rPr>
              <a:t>=True, </a:t>
            </a:r>
            <a:r>
              <a:rPr sz="1300" b="0">
                <a:solidFill>
                  <a:srgbClr val="E8EEF6"/>
                </a:solidFill>
                <a:latin typeface="맑은 고딕"/>
                <a:ea typeface="맑은 고딕"/>
                <a:cs typeface="맑은 고딕"/>
              </a:rPr>
              <a:t>표본</a:t>
            </a:r>
            <a:r>
              <a:rPr sz="1300" b="0">
                <a:solidFill>
                  <a:srgbClr val="E8EEF6"/>
                </a:solidFill>
                <a:latin typeface="Consolas"/>
                <a:ea typeface="맑은 고딕"/>
                <a:cs typeface="맑은 고딕"/>
              </a:rPr>
              <a:t>=True)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처리한다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요청</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assert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["urgent"] is True</a:t>
            </a:r>
          </a:p>
          <a:p>
            <a:pPr algn="l" eaLnBrk="0">
              <a:lnSpc>
                <a:spcPct val="110000"/>
              </a:lnSpc>
              <a:spcAft>
                <a:spcPts val="200"/>
              </a:spcAft>
            </a:pPr>
            <a:r>
              <a:rPr sz="1300" b="0">
                <a:solidFill>
                  <a:srgbClr val="E8EEF6"/>
                </a:solidFill>
                <a:latin typeface="Consolas"/>
                <a:ea typeface="맑은 고딕"/>
                <a:cs typeface="맑은 고딕"/>
              </a:rPr>
              <a:t>    assert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def test_</a:t>
            </a:r>
            <a:r>
              <a:rPr sz="1300" b="0">
                <a:solidFill>
                  <a:srgbClr val="E8EEF6"/>
                </a:solidFill>
                <a:latin typeface="맑은 고딕"/>
                <a:ea typeface="맑은 고딕"/>
                <a:cs typeface="맑은 고딕"/>
              </a:rPr>
              <a:t>신선도</a:t>
            </a:r>
            <a:r>
              <a:rPr sz="1300" b="0">
                <a:solidFill>
                  <a:srgbClr val="E8EEF6"/>
                </a:solidFill>
                <a:latin typeface="Consolas"/>
                <a:ea typeface="맑은 고딕"/>
                <a:cs typeface="맑은 고딕"/>
              </a:rPr>
              <a:t>_</a:t>
            </a:r>
            <a:r>
              <a:rPr sz="1300" b="0">
                <a:solidFill>
                  <a:srgbClr val="E8EEF6"/>
                </a:solidFill>
                <a:latin typeface="맑은 고딕"/>
                <a:ea typeface="맑은 고딕"/>
                <a:cs typeface="맑은 고딕"/>
              </a:rPr>
              <a:t>실패는</a:t>
            </a:r>
            <a:r>
              <a:rPr sz="1300" b="0">
                <a:solidFill>
                  <a:srgbClr val="E8EEF6"/>
                </a:solidFill>
                <a:latin typeface="Consolas"/>
                <a:ea typeface="맑은 고딕"/>
                <a:cs typeface="맑은 고딕"/>
              </a:rPr>
              <a:t>_</a:t>
            </a:r>
            <a:r>
              <a:rPr sz="1300" b="0">
                <a:solidFill>
                  <a:srgbClr val="E8EEF6"/>
                </a:solidFill>
                <a:latin typeface="맑은 고딕"/>
                <a:ea typeface="맑은 고딕"/>
                <a:cs typeface="맑은 고딕"/>
              </a:rPr>
              <a:t>미판정</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요청</a:t>
            </a: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_</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_</a:t>
            </a:r>
            <a:r>
              <a:rPr sz="1300" b="0">
                <a:solidFill>
                  <a:srgbClr val="E8EEF6"/>
                </a:solidFill>
                <a:latin typeface="맑은 고딕"/>
                <a:ea typeface="맑은 고딕"/>
                <a:cs typeface="맑은 고딕"/>
              </a:rPr>
              <a:t>요청</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=62.0, </a:t>
            </a:r>
            <a:r>
              <a:rPr sz="1300" b="0">
                <a:solidFill>
                  <a:srgbClr val="E8EEF6"/>
                </a:solidFill>
                <a:latin typeface="맑은 고딕"/>
                <a:ea typeface="맑은 고딕"/>
                <a:cs typeface="맑은 고딕"/>
              </a:rPr>
              <a:t>신선도</a:t>
            </a:r>
            <a:r>
              <a:rPr sz="1300" b="0">
                <a:solidFill>
                  <a:srgbClr val="E8EEF6"/>
                </a:solidFill>
                <a:latin typeface="Consolas"/>
                <a:ea typeface="맑은 고딕"/>
                <a:cs typeface="맑은 고딕"/>
              </a:rPr>
              <a:t>=False, </a:t>
            </a:r>
            <a:r>
              <a:rPr sz="1300" b="0">
                <a:solidFill>
                  <a:srgbClr val="E8EEF6"/>
                </a:solidFill>
                <a:latin typeface="맑은 고딕"/>
                <a:ea typeface="맑은 고딕"/>
                <a:cs typeface="맑은 고딕"/>
              </a:rPr>
              <a:t>표본</a:t>
            </a:r>
            <a:r>
              <a:rPr sz="1300" b="0">
                <a:solidFill>
                  <a:srgbClr val="E8EEF6"/>
                </a:solidFill>
                <a:latin typeface="Consolas"/>
                <a:ea typeface="맑은 고딕"/>
                <a:cs typeface="맑은 고딕"/>
              </a:rPr>
              <a:t>=True)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처리한다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요청</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assert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["urgent"] is None</a:t>
            </a:r>
          </a:p>
          <a:p>
            <a:pPr algn="l" eaLnBrk="0">
              <a:lnSpc>
                <a:spcPct val="110000"/>
              </a:lnSpc>
              <a:spcAft>
                <a:spcPts val="200"/>
              </a:spcAft>
            </a:pPr>
            <a:r>
              <a:rPr sz="1300" b="0">
                <a:solidFill>
                  <a:srgbClr val="E8EEF6"/>
                </a:solidFill>
                <a:latin typeface="Consolas"/>
                <a:ea typeface="맑은 고딕"/>
                <a:cs typeface="맑은 고딕"/>
              </a:rPr>
              <a:t>    assert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보류</a:t>
            </a:r>
            <a:r>
              <a:rPr sz="1300" b="0">
                <a:solidFill>
                  <a:srgbClr val="E8EEF6"/>
                </a:solidFill>
                <a:latin typeface="Consolas"/>
                <a:ea typeface="맑은 고딕"/>
                <a:cs typeface="맑은 고딕"/>
              </a:rPr>
              <a:t>_</a:t>
            </a:r>
            <a:r>
              <a:rPr sz="1300" b="0">
                <a:solidFill>
                  <a:srgbClr val="E8EEF6"/>
                </a:solidFill>
                <a:latin typeface="맑은 고딕"/>
                <a:ea typeface="맑은 고딕"/>
                <a:cs typeface="맑은 고딕"/>
              </a:rPr>
              <a:t>사유</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시험 이름</a:t>
            </a:r>
          </a:p>
          <a:p>
            <a:pPr algn="l" eaLnBrk="0">
              <a:lnSpc>
                <a:spcPct val="110000"/>
              </a:lnSpc>
              <a:spcAft>
                <a:spcPts val="400"/>
              </a:spcAft>
            </a:pPr>
            <a:r>
              <a:rPr sz="1400" b="0">
                <a:solidFill>
                  <a:srgbClr val="1F2A3A"/>
                </a:solidFill>
                <a:latin typeface="맑은 고딕"/>
                <a:ea typeface="맑은 고딕"/>
                <a:cs typeface="맑은 고딕"/>
              </a:rPr>
              <a:t>시나리오 문장을 이름으로 쓴다. 실패하면 어느 행동이 깨졌는지 이름으로 보인다.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assert</a:t>
            </a:r>
          </a:p>
          <a:p>
            <a:pPr algn="l" eaLnBrk="0">
              <a:lnSpc>
                <a:spcPct val="110000"/>
              </a:lnSpc>
              <a:spcAft>
                <a:spcPts val="400"/>
              </a:spcAft>
            </a:pPr>
            <a:r>
              <a:rPr sz="1400" b="0">
                <a:solidFill>
                  <a:srgbClr val="1F2A3A"/>
                </a:solidFill>
                <a:latin typeface="맑은 고딕"/>
                <a:ea typeface="맑은 고딕"/>
                <a:cs typeface="맑은 고딕"/>
              </a:rPr>
              <a:t>뒤의 식이 참이 아니면 시험이 실패한다.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None</a:t>
            </a:r>
          </a:p>
          <a:p>
            <a:pPr algn="l" eaLnBrk="0">
              <a:lnSpc>
                <a:spcPct val="110000"/>
              </a:lnSpc>
              <a:spcAft>
                <a:spcPts val="400"/>
              </a:spcAft>
            </a:pPr>
            <a:r>
              <a:rPr sz="1400" b="0">
                <a:solidFill>
                  <a:srgbClr val="1F2A3A"/>
                </a:solidFill>
                <a:latin typeface="맑은 고딕"/>
                <a:ea typeface="맑은 고딕"/>
                <a:cs typeface="맑은 고딕"/>
              </a:rPr>
              <a:t>null을 거짓과 따로 검사한다. 섞으면 미판정이 「긴급 아님」으로 통과한다.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입력</a:t>
            </a:r>
          </a:p>
          <a:p>
            <a:pPr algn="l" eaLnBrk="0">
              <a:lnSpc>
                <a:spcPct val="110000"/>
              </a:lnSpc>
              <a:spcAft>
                <a:spcPts val="400"/>
              </a:spcAft>
            </a:pPr>
            <a:r>
              <a:rPr sz="1400" b="0">
                <a:solidFill>
                  <a:srgbClr val="1F2A3A"/>
                </a:solidFill>
                <a:latin typeface="맑은 고딕"/>
                <a:ea typeface="맑은 고딕"/>
                <a:cs typeface="맑은 고딕"/>
              </a:rPr>
              <a:t>입력을 코드에 고정해 두어 바꿀 때마다 그대로 다시 돌린다.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사례의 종류: 정상 · 경계 · 누락 · 거절 · 오류 · 회귀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시나리오 하나는 한 경우만 확인하므로, 판정이 갈리거나 기존 약속이 걸린 경우마다 시나리오를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종류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점검 요청의 Given · When</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Then (기대)</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 · 일반</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칸이 다 있는 펌프 누설 경보 요청을 처리한다</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기존 결과 항목</a:t>
            </a:r>
          </a:p>
          <a:p>
            <a:pPr algn="l" eaLnBrk="0">
              <a:lnSpc>
                <a:spcPct val="110000"/>
              </a:lnSpc>
            </a:pPr>
            <a:r>
              <a:rPr sz="1250" b="1">
                <a:solidFill>
                  <a:srgbClr val="556175"/>
                </a:solidFill>
                <a:latin typeface="맑은 고딕"/>
                <a:ea typeface="맑은 고딕"/>
                <a:cs typeface="맑은 고딕"/>
              </a:rPr>
              <a:t>긴급 조건 미적용</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 · 긴급</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유효한 평균 60.4 ℃ 쿨러 경보 요청을 처리한다</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urgent true</a:t>
            </a:r>
          </a:p>
          <a:p>
            <a:pPr algn="l" eaLnBrk="0">
              <a:lnSpc>
                <a:spcPct val="110000"/>
              </a:lnSpc>
            </a:pPr>
            <a:r>
              <a:rPr sz="1250" b="1">
                <a:solidFill>
                  <a:srgbClr val="556175"/>
                </a:solidFill>
                <a:latin typeface="맑은 고딕"/>
                <a:ea typeface="맑은 고딕"/>
                <a:cs typeface="맑은 고딕"/>
              </a:rPr>
              <a:t>승인 대기</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경계</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60 ℃의 바로 아래 · 같은 값 · 바로 위</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「이상」대로</a:t>
            </a:r>
          </a:p>
          <a:p>
            <a:pPr algn="l" eaLnBrk="0">
              <a:lnSpc>
                <a:spcPct val="110000"/>
              </a:lnSpc>
            </a:pPr>
            <a:r>
              <a:rPr sz="1250" b="1">
                <a:solidFill>
                  <a:srgbClr val="556175"/>
                </a:solidFill>
                <a:latin typeface="맑은 고딕"/>
                <a:ea typeface="맑은 고딕"/>
                <a:cs typeface="맑은 고딕"/>
              </a:rPr>
              <a:t>갈리는가</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 누락</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설비와 사례가 비었고 조회로 정할 수 없다</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질문 · 보류</a:t>
            </a:r>
          </a:p>
          <a:p>
            <a:pPr algn="l" eaLnBrk="0">
              <a:lnSpc>
                <a:spcPct val="110000"/>
              </a:lnSpc>
            </a:pPr>
            <a:r>
              <a:rPr sz="1250" b="1">
                <a:solidFill>
                  <a:srgbClr val="556175"/>
                </a:solidFill>
                <a:latin typeface="맑은 고딕"/>
                <a:ea typeface="맑은 고딕"/>
                <a:cs typeface="맑은 고딕"/>
              </a:rPr>
              <a:t>지어낸 값 없음</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사유를 적고 거절한다</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 후속 업무</a:t>
            </a:r>
          </a:p>
          <a:p>
            <a:pPr algn="l" eaLnBrk="0">
              <a:lnSpc>
                <a:spcPct val="110000"/>
              </a:lnSpc>
            </a:pPr>
            <a:r>
              <a:rPr sz="1250" b="1">
                <a:solidFill>
                  <a:srgbClr val="556175"/>
                </a:solidFill>
                <a:latin typeface="맑은 고딕"/>
                <a:ea typeface="맑은 고딕"/>
                <a:cs typeface="맑은 고딕"/>
              </a:rPr>
              <a:t>0건</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도구 오류</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조회가 오류를 돌려준다</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실패로 기록</a:t>
            </a:r>
          </a:p>
          <a:p>
            <a:pPr algn="l" eaLnBrk="0">
              <a:lnSpc>
                <a:spcPct val="110000"/>
              </a:lnSpc>
            </a:pPr>
            <a:r>
              <a:rPr sz="1250" b="1">
                <a:solidFill>
                  <a:srgbClr val="556175"/>
                </a:solidFill>
                <a:latin typeface="맑은 고딕"/>
                <a:ea typeface="맑은 고딕"/>
                <a:cs typeface="맑은 고딕"/>
              </a:rPr>
              <a:t>urgent null</a:t>
            </a:r>
          </a:p>
        </p:txBody>
      </p:sp>
      <p:sp>
        <p:nvSpPr>
          <p:cNvPr id="34" name="Rounded Rectangle 33"/>
          <p:cNvSpPr/>
          <p:nvPr/>
        </p:nvSpPr>
        <p:spPr>
          <a:xfrm>
            <a:off x="548640" y="5769210"/>
            <a:ext cx="11094415" cy="553865"/>
          </a:xfrm>
          <a:prstGeom prst="roundRect">
            <a:avLst>
              <a:gd name="adj" fmla="val 8000"/>
            </a:avLst>
          </a:prstGeom>
          <a:solidFill>
            <a:srgbClr val="E7F3FD"/>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회귀</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변경 뒤 기존 사례를 다시 실행한다</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변경 전과</a:t>
            </a:r>
          </a:p>
          <a:p>
            <a:pPr algn="l" eaLnBrk="0">
              <a:lnSpc>
                <a:spcPct val="110000"/>
              </a:lnSpc>
            </a:pPr>
            <a:r>
              <a:rPr sz="1250" b="1">
                <a:solidFill>
                  <a:srgbClr val="1A6FC4"/>
                </a:solidFill>
                <a:latin typeface="맑은 고딕"/>
                <a:ea typeface="맑은 고딕"/>
                <a:cs typeface="맑은 고딕"/>
              </a:rPr>
              <a:t>같은 판정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60.0 ℃에서 갈리는 경계값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경계값 분석</a:t>
            </a:r>
            <a:r>
              <a:rPr sz="1600" b="0">
                <a:solidFill>
                  <a:srgbClr val="556175"/>
                </a:solidFill>
                <a:latin typeface="맑은 고딕"/>
                <a:ea typeface="맑은 고딕"/>
                <a:cs typeface="맑은 고딕"/>
              </a:rPr>
              <a:t>으로 기준 바로 아래 · 같은 값 · 바로 위를 넣어야, 「이상」을 「초과」로 옮긴 실수가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유효한 TS1 120초 평균</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명세대로 (&gt;= 60)</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&gt; 60으로 옮기면 (가정)</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58.2 ℃ · 대표 값</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false</a:t>
            </a:r>
          </a:p>
          <a:p>
            <a:pPr algn="l" eaLnBrk="0">
              <a:lnSpc>
                <a:spcPct val="110000"/>
              </a:lnSpc>
            </a:pPr>
            <a:r>
              <a:rPr sz="1250" b="1">
                <a:solidFill>
                  <a:srgbClr val="556175"/>
                </a:solidFill>
                <a:latin typeface="맑은 고딕"/>
                <a:ea typeface="맑은 고딕"/>
                <a:cs typeface="맑은 고딕"/>
              </a:rPr>
              <a:t>차이가 보이지 않는다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59.9 ℃ · 바로 아래</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false</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60.0 ℃ · 기준값</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true</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false</a:t>
            </a:r>
          </a:p>
          <a:p>
            <a:pPr algn="l" eaLnBrk="0">
              <a:lnSpc>
                <a:spcPct val="110000"/>
              </a:lnSpc>
            </a:pPr>
            <a:r>
              <a:rPr sz="1250" b="1">
                <a:solidFill>
                  <a:srgbClr val="1A6FC4"/>
                </a:solidFill>
                <a:latin typeface="맑은 고딕"/>
                <a:ea typeface="맑은 고딕"/>
                <a:cs typeface="맑은 고딕"/>
              </a:rPr>
              <a:t>여기서만 갈린다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60.1 ℃ · 바로 위</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true</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true</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61.3 ℃ · 대표 값</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true</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true</a:t>
            </a:r>
          </a:p>
          <a:p>
            <a:pPr algn="l" eaLnBrk="0">
              <a:lnSpc>
                <a:spcPct val="110000"/>
              </a:lnSpc>
            </a:pPr>
            <a:r>
              <a:rPr sz="1250" b="1">
                <a:solidFill>
                  <a:srgbClr val="556175"/>
                </a:solidFill>
                <a:latin typeface="맑은 고딕"/>
                <a:ea typeface="맑은 고딕"/>
                <a:cs typeface="맑은 고딕"/>
              </a:rPr>
              <a:t>차이가 보이지 않는다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모델 출력의 표현 차이와 계약 위반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되풀이해 돌리면 문장과 조회 순서는 달라질 수 있지만, 계약이 정한 항목과 판정이 달라지면 실패다.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367533"/>
            <a:ext cx="5181447" cy="324764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68702"/>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허용하는 표현 차이</a:t>
            </a:r>
          </a:p>
        </p:txBody>
      </p:sp>
      <p:sp>
        <p:nvSpPr>
          <p:cNvPr id="8" name="TextBox 7"/>
          <p:cNvSpPr txBox="1"/>
          <p:nvPr/>
        </p:nvSpPr>
        <p:spPr>
          <a:xfrm>
            <a:off x="822959"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긴급 이유를 적은 문장의 낱말과 말투</a:t>
            </a:r>
          </a:p>
          <a:p>
            <a:pPr algn="l" eaLnBrk="0" marL="188595" indent="-188595">
              <a:lnSpc>
                <a:spcPct val="110000"/>
              </a:lnSpc>
              <a:spcAft>
                <a:spcPts val="600"/>
              </a:spcAft>
            </a:pPr>
            <a:r>
              <a:rPr sz="1650" b="0">
                <a:solidFill>
                  <a:srgbClr val="1F2A3A"/>
                </a:solidFill>
                <a:latin typeface="맑은 고딕"/>
                <a:ea typeface="맑은 고딕"/>
                <a:cs typeface="맑은 고딕"/>
              </a:rPr>
              <a:t>• 서로 기대지 않는 조회의 차례</a:t>
            </a:r>
          </a:p>
          <a:p>
            <a:pPr algn="l" eaLnBrk="0" marL="188595" indent="-188595">
              <a:lnSpc>
                <a:spcPct val="110000"/>
              </a:lnSpc>
              <a:spcAft>
                <a:spcPts val="600"/>
              </a:spcAft>
            </a:pPr>
            <a:r>
              <a:rPr sz="1650" b="0">
                <a:solidFill>
                  <a:srgbClr val="1F2A3A"/>
                </a:solidFill>
                <a:latin typeface="맑은 고딕"/>
                <a:ea typeface="맑은 고딕"/>
                <a:cs typeface="맑은 고딕"/>
              </a:rPr>
              <a:t>• 정한 시간 기준 안의 소요 시간</a:t>
            </a:r>
          </a:p>
        </p:txBody>
      </p:sp>
      <p:sp>
        <p:nvSpPr>
          <p:cNvPr id="9" name="Rounded Rectangle 8"/>
          <p:cNvSpPr/>
          <p:nvPr/>
        </p:nvSpPr>
        <p:spPr>
          <a:xfrm>
            <a:off x="868680" y="5157978"/>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5797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 안에서 허용</a:t>
            </a:r>
          </a:p>
        </p:txBody>
      </p:sp>
      <p:sp>
        <p:nvSpPr>
          <p:cNvPr id="11" name="Rounded Rectangle 10"/>
          <p:cNvSpPr/>
          <p:nvPr/>
        </p:nvSpPr>
        <p:spPr>
          <a:xfrm>
            <a:off x="6461607" y="2367533"/>
            <a:ext cx="5181447" cy="32476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68702"/>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실패로 세는 계약 위반</a:t>
            </a:r>
          </a:p>
        </p:txBody>
      </p:sp>
      <p:sp>
        <p:nvSpPr>
          <p:cNvPr id="13" name="TextBox 12"/>
          <p:cNvSpPr txBox="1"/>
          <p:nvPr/>
        </p:nvSpPr>
        <p:spPr>
          <a:xfrm>
            <a:off x="6735927"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urgent 항목이 빠지거나 값이 다르다</a:t>
            </a:r>
          </a:p>
          <a:p>
            <a:pPr algn="l" eaLnBrk="0" marL="188595" indent="-188595">
              <a:lnSpc>
                <a:spcPct val="110000"/>
              </a:lnSpc>
              <a:spcAft>
                <a:spcPts val="600"/>
              </a:spcAft>
            </a:pPr>
            <a:r>
              <a:rPr sz="1650" b="0">
                <a:solidFill>
                  <a:srgbClr val="1F2A3A"/>
                </a:solidFill>
                <a:latin typeface="맑은 고딕"/>
                <a:ea typeface="맑은 고딕"/>
                <a:cs typeface="맑은 고딕"/>
              </a:rPr>
              <a:t>• null이어야 할 곳에 false가 있다</a:t>
            </a:r>
          </a:p>
          <a:p>
            <a:pPr algn="l" eaLnBrk="0" marL="188595" indent="-188595">
              <a:lnSpc>
                <a:spcPct val="110000"/>
              </a:lnSpc>
              <a:spcAft>
                <a:spcPts val="600"/>
              </a:spcAft>
            </a:pPr>
            <a:r>
              <a:rPr sz="1650" b="0">
                <a:solidFill>
                  <a:srgbClr val="1F2A3A"/>
                </a:solidFill>
                <a:latin typeface="맑은 고딕"/>
                <a:ea typeface="맑은 고딕"/>
                <a:cs typeface="맑은 고딕"/>
              </a:rPr>
              <a:t>• 판정 값과 기준 같은 근거가 빠졌다</a:t>
            </a:r>
          </a:p>
          <a:p>
            <a:pPr algn="l" eaLnBrk="0" marL="188595" indent="-188595">
              <a:lnSpc>
                <a:spcPct val="110000"/>
              </a:lnSpc>
              <a:spcAft>
                <a:spcPts val="600"/>
              </a:spcAft>
            </a:pPr>
            <a:r>
              <a:rPr sz="1650" b="0">
                <a:solidFill>
                  <a:srgbClr val="1F2A3A"/>
                </a:solidFill>
                <a:latin typeface="맑은 고딕"/>
                <a:ea typeface="맑은 고딕"/>
                <a:cs typeface="맑은 고딕"/>
              </a:rPr>
              <a:t>• 승인 전에 확정했거나 다른 요청의 답을 썼다</a:t>
            </a:r>
          </a:p>
        </p:txBody>
      </p:sp>
      <p:sp>
        <p:nvSpPr>
          <p:cNvPr id="14" name="Rounded Rectangle 13"/>
          <p:cNvSpPr/>
          <p:nvPr/>
        </p:nvSpPr>
        <p:spPr>
          <a:xfrm>
            <a:off x="6781647" y="5157978"/>
            <a:ext cx="17221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57978"/>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 번만 나와도 실패</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회귀 시험: 바꾼 뒤 기존 사례까지 다시 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회귀 시험</a:t>
            </a:r>
            <a:r>
              <a:rPr sz="1600" b="0">
                <a:solidFill>
                  <a:srgbClr val="556175"/>
                </a:solidFill>
                <a:latin typeface="맑은 고딕"/>
                <a:ea typeface="맑은 고딕"/>
                <a:cs typeface="맑은 고딕"/>
              </a:rPr>
              <a:t>(Regression Test)은 바꾼 뒤 기존 시나리오를 다시 돌려, 새 기능이 기존 행동을 바꾸지 않았는지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753614"/>
            <a:ext cx="2485567" cy="2475483"/>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2936494"/>
            <a:ext cx="2339263"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변경 전</a:t>
            </a:r>
          </a:p>
          <a:p>
            <a:pPr algn="ctr" eaLnBrk="0">
              <a:lnSpc>
                <a:spcPct val="110000"/>
              </a:lnSpc>
              <a:spcAft>
                <a:spcPts val="400"/>
              </a:spcAft>
            </a:pPr>
            <a:r>
              <a:rPr sz="1650" b="0">
                <a:solidFill>
                  <a:srgbClr val="1F2A3A"/>
                </a:solidFill>
                <a:latin typeface="맑은 고딕"/>
                <a:ea typeface="맑은 고딕"/>
                <a:cs typeface="맑은 고딕"/>
              </a:rPr>
              <a:t>일반 · 누락 · 거절 · 오류</a:t>
            </a:r>
          </a:p>
          <a:p>
            <a:pPr algn="ctr" eaLnBrk="0">
              <a:lnSpc>
                <a:spcPct val="110000"/>
              </a:lnSpc>
              <a:spcAft>
                <a:spcPts val="400"/>
              </a:spcAft>
            </a:pPr>
            <a:r>
              <a:rPr sz="1650" b="0">
                <a:solidFill>
                  <a:srgbClr val="1F2A3A"/>
                </a:solidFill>
                <a:latin typeface="맑은 고딕"/>
                <a:ea typeface="맑은 고딕"/>
                <a:cs typeface="맑은 고딕"/>
              </a:rPr>
              <a:t>시나리오가 통과한 상태</a:t>
            </a:r>
          </a:p>
        </p:txBody>
      </p:sp>
      <p:sp>
        <p:nvSpPr>
          <p:cNvPr id="8" name="Right Arrow 7"/>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3418255" y="2753614"/>
            <a:ext cx="2485567" cy="2475483"/>
          </a:xfrm>
          <a:prstGeom prst="roundRect">
            <a:avLst>
              <a:gd name="adj" fmla="val 5000"/>
            </a:avLst>
          </a:prstGeom>
          <a:solidFill>
            <a:srgbClr val="F3F6F9"/>
          </a:solidFill>
          <a:ln>
            <a:noFill/>
          </a:ln>
        </p:spPr>
        <p:txBody>
          <a:bodyPr rtlCol="0" anchor="ctr"/>
          <a:lstStyle/>
          <a:p>
            <a:pPr algn="ctr"/>
          </a:p>
        </p:txBody>
      </p:sp>
      <p:sp>
        <p:nvSpPr>
          <p:cNvPr id="10" name="TextBox 9"/>
          <p:cNvSpPr txBox="1"/>
          <p:nvPr/>
        </p:nvSpPr>
        <p:spPr>
          <a:xfrm>
            <a:off x="3491407" y="2936494"/>
            <a:ext cx="2339263"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요구 변경</a:t>
            </a:r>
          </a:p>
          <a:p>
            <a:pPr algn="ctr" eaLnBrk="0">
              <a:lnSpc>
                <a:spcPct val="110000"/>
              </a:lnSpc>
              <a:spcAft>
                <a:spcPts val="400"/>
              </a:spcAft>
            </a:pPr>
            <a:r>
              <a:rPr sz="1650" b="0">
                <a:solidFill>
                  <a:srgbClr val="1F2A3A"/>
                </a:solidFill>
                <a:latin typeface="맑은 고딕"/>
                <a:ea typeface="맑은 고딕"/>
                <a:cs typeface="맑은 고딕"/>
              </a:rPr>
              <a:t>명세에 긴급 조건을 더하고</a:t>
            </a:r>
          </a:p>
          <a:p>
            <a:pPr algn="ctr" eaLnBrk="0">
              <a:lnSpc>
                <a:spcPct val="110000"/>
              </a:lnSpc>
              <a:spcAft>
                <a:spcPts val="400"/>
              </a:spcAft>
            </a:pPr>
            <a:r>
              <a:rPr sz="1650" b="0">
                <a:solidFill>
                  <a:srgbClr val="1F2A3A"/>
                </a:solidFill>
                <a:latin typeface="맑은 고딕"/>
                <a:ea typeface="맑은 고딕"/>
                <a:cs typeface="맑은 고딕"/>
              </a:rPr>
              <a:t>긴급 · 경계 시나리오를 더한다</a:t>
            </a:r>
          </a:p>
        </p:txBody>
      </p:sp>
      <p:sp>
        <p:nvSpPr>
          <p:cNvPr id="11" name="Right Arrow 10"/>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6287871" y="2753614"/>
            <a:ext cx="2485567" cy="2475483"/>
          </a:xfrm>
          <a:prstGeom prst="roundRect">
            <a:avLst>
              <a:gd name="adj" fmla="val 5000"/>
            </a:avLst>
          </a:prstGeom>
          <a:solidFill>
            <a:srgbClr val="F3F6F9"/>
          </a:solidFill>
          <a:ln>
            <a:noFill/>
          </a:ln>
        </p:spPr>
        <p:txBody>
          <a:bodyPr rtlCol="0" anchor="ctr"/>
          <a:lstStyle/>
          <a:p>
            <a:pPr algn="ctr"/>
          </a:p>
        </p:txBody>
      </p:sp>
      <p:sp>
        <p:nvSpPr>
          <p:cNvPr id="13" name="TextBox 12"/>
          <p:cNvSpPr txBox="1"/>
          <p:nvPr/>
        </p:nvSpPr>
        <p:spPr>
          <a:xfrm>
            <a:off x="6361023" y="2936494"/>
            <a:ext cx="2339263"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구현</a:t>
            </a:r>
          </a:p>
          <a:p>
            <a:pPr algn="ctr" eaLnBrk="0">
              <a:lnSpc>
                <a:spcPct val="110000"/>
              </a:lnSpc>
              <a:spcAft>
                <a:spcPts val="400"/>
              </a:spcAft>
            </a:pPr>
            <a:r>
              <a:rPr sz="1650" b="0">
                <a:solidFill>
                  <a:srgbClr val="1F2A3A"/>
                </a:solidFill>
                <a:latin typeface="맑은 고딕"/>
                <a:ea typeface="맑은 고딕"/>
                <a:cs typeface="맑은 고딕"/>
              </a:rPr>
              <a:t>명세를 기준으로</a:t>
            </a:r>
          </a:p>
          <a:p>
            <a:pPr algn="ctr" eaLnBrk="0">
              <a:lnSpc>
                <a:spcPct val="110000"/>
              </a:lnSpc>
              <a:spcAft>
                <a:spcPts val="400"/>
              </a:spcAft>
            </a:pPr>
            <a:r>
              <a:rPr sz="1650" b="0">
                <a:solidFill>
                  <a:srgbClr val="1F2A3A"/>
                </a:solidFill>
                <a:latin typeface="맑은 고딕"/>
                <a:ea typeface="맑은 고딕"/>
                <a:cs typeface="맑은 고딕"/>
              </a:rPr>
              <a:t>필요한 부분만 고친다</a:t>
            </a:r>
          </a:p>
        </p:txBody>
      </p:sp>
      <p:sp>
        <p:nvSpPr>
          <p:cNvPr id="14" name="Right Arrow 13"/>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15" name="Rounded Rectangle 14"/>
          <p:cNvSpPr/>
          <p:nvPr/>
        </p:nvSpPr>
        <p:spPr>
          <a:xfrm>
            <a:off x="9157487" y="2753614"/>
            <a:ext cx="2485567" cy="24754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6" name="TextBox 15"/>
          <p:cNvSpPr txBox="1"/>
          <p:nvPr/>
        </p:nvSpPr>
        <p:spPr>
          <a:xfrm>
            <a:off x="9230639" y="2936494"/>
            <a:ext cx="2339263"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전체를 다시 실행</a:t>
            </a:r>
          </a:p>
          <a:p>
            <a:pPr algn="ctr" eaLnBrk="0">
              <a:lnSpc>
                <a:spcPct val="110000"/>
              </a:lnSpc>
              <a:spcAft>
                <a:spcPts val="400"/>
              </a:spcAft>
            </a:pPr>
            <a:r>
              <a:rPr sz="1650" b="0">
                <a:solidFill>
                  <a:srgbClr val="1F2A3A"/>
                </a:solidFill>
                <a:latin typeface="맑은 고딕"/>
                <a:ea typeface="맑은 고딕"/>
                <a:cs typeface="맑은 고딕"/>
              </a:rPr>
              <a:t>새 시나리오와 기존 시나리오</a:t>
            </a:r>
          </a:p>
          <a:p>
            <a:pPr algn="ctr" eaLnBrk="0">
              <a:lnSpc>
                <a:spcPct val="110000"/>
              </a:lnSpc>
              <a:spcAft>
                <a:spcPts val="400"/>
              </a:spcAft>
            </a:pPr>
            <a:r>
              <a:rPr sz="1650" b="0">
                <a:solidFill>
                  <a:srgbClr val="1F2A3A"/>
                </a:solidFill>
                <a:latin typeface="맑은 고딕"/>
                <a:ea typeface="맑은 고딕"/>
                <a:cs typeface="맑은 고딕"/>
              </a:rPr>
              <a:t>하나라도 실패하면</a:t>
            </a:r>
          </a:p>
          <a:p>
            <a:pPr algn="ctr" eaLnBrk="0">
              <a:lnSpc>
                <a:spcPct val="110000"/>
              </a:lnSpc>
              <a:spcAft>
                <a:spcPts val="400"/>
              </a:spcAft>
            </a:pPr>
            <a:r>
              <a:rPr sz="1650" b="0">
                <a:solidFill>
                  <a:srgbClr val="1F2A3A"/>
                </a:solidFill>
                <a:latin typeface="맑은 고딕"/>
                <a:ea typeface="맑은 고딕"/>
                <a:cs typeface="맑은 고딕"/>
              </a:rPr>
              <a:t>원인부터 찾는다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실패한 시나리오에서 고칠 곳 가리기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시험이 실패하면 기대값부터 손대지 않고, 증상에서 출발해 명세 · 입력 · 기록을 대조한 뒤 원인이 확인된 곳을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실패의 증상</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대조할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고칠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null 자리에 false가 나왔다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유효성 검사와 판정의 순서 · 실제 입력 값</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구현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이유가 비었거나 엉뚱하다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 지침과 실행 기록</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지침(프롬프트)</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항목이 빠졌다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계약과 구현</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구현</a:t>
            </a:r>
          </a:p>
          <a:p>
            <a:pPr algn="l" eaLnBrk="0">
              <a:lnSpc>
                <a:spcPct val="110000"/>
              </a:lnSpc>
            </a:pPr>
            <a:r>
              <a:rPr sz="1250" b="1">
                <a:solidFill>
                  <a:srgbClr val="556175"/>
                </a:solidFill>
                <a:latin typeface="맑은 고딕"/>
                <a:ea typeface="맑은 고딕"/>
                <a:cs typeface="맑은 고딕"/>
              </a:rPr>
              <a:t>계약을 지우지 않는다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기대값이 원래 요구와 다르다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명세와 원자료</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시험의 기대값</a:t>
            </a:r>
          </a:p>
          <a:p>
            <a:pPr algn="l" eaLnBrk="0">
              <a:lnSpc>
                <a:spcPct val="110000"/>
              </a:lnSpc>
            </a:pPr>
            <a:r>
              <a:rPr sz="1250" b="1">
                <a:solidFill>
                  <a:srgbClr val="556175"/>
                </a:solidFill>
                <a:latin typeface="맑은 고딕"/>
                <a:ea typeface="맑은 고딕"/>
                <a:cs typeface="맑은 고딕"/>
              </a:rPr>
              <a:t>정정 이유를 남긴다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통과시키려고 기대값을 낮춘다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원래 요구는 그대로다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하지 않는다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60.0 ℃ 사례만 실패한 검사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조건을 넣은 뒤 검사에서 유효한 평균 60.0 ℃ 사례만 기대값 true에 결과 false가 나와 실패했다고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먼저 할 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기대값을 false로 바꿔 검사를 통과시킨다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경계 사례는 드문 값이니 검사 목록에서 뺀다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명세의 「이상」과 구현의 비교식을 대조해 고치고, 전체 시나리오를 다시 실행한다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모델의 표현 차이로 보고 실패로 세지 않는다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기존 기능과 추가 기능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기대 결과를 명세와 원자료에서 먼저 정하고, 판정 코드로 새 기능과 기존 기능을 함께 확인한다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직접 정한 기대 결과로 하는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기대 결과를 명세와 원자료에서 먼저 적고 판정 코드로 검사한 뒤, 실제 오류를 고치고 기존 사례까지 다시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53576"/>
            <a:ext cx="2567863" cy="307555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54744"/>
            <a:ext cx="2238679" cy="237147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사례와 기대 결과</a:t>
            </a:r>
          </a:p>
          <a:p>
            <a:pPr algn="l" eaLnBrk="0" marL="200025" indent="-200025">
              <a:lnSpc>
                <a:spcPct val="110000"/>
              </a:lnSpc>
              <a:spcAft>
                <a:spcPts val="400"/>
              </a:spcAft>
            </a:pPr>
            <a:r>
              <a:rPr sz="1750" b="0">
                <a:solidFill>
                  <a:srgbClr val="1F2A3A"/>
                </a:solidFill>
                <a:latin typeface="맑은 고딕"/>
                <a:ea typeface="맑은 고딕"/>
                <a:cs typeface="맑은 고딕"/>
              </a:rPr>
              <a:t>• 일반 · 긴급 · 경계값 · 정보 누락</a:t>
            </a:r>
          </a:p>
          <a:p>
            <a:pPr algn="l" eaLnBrk="0" marL="200025" indent="-200025">
              <a:lnSpc>
                <a:spcPct val="110000"/>
              </a:lnSpc>
              <a:spcAft>
                <a:spcPts val="400"/>
              </a:spcAft>
            </a:pPr>
            <a:r>
              <a:rPr sz="1750" b="0">
                <a:solidFill>
                  <a:srgbClr val="1F2A3A"/>
                </a:solidFill>
                <a:latin typeface="맑은 고딕"/>
                <a:ea typeface="맑은 고딕"/>
                <a:cs typeface="맑은 고딕"/>
              </a:rPr>
              <a:t>• 거절 · 도구 오류</a:t>
            </a:r>
          </a:p>
        </p:txBody>
      </p:sp>
      <p:sp>
        <p:nvSpPr>
          <p:cNvPr id="8" name="Rounded Rectangle 7"/>
          <p:cNvSpPr/>
          <p:nvPr/>
        </p:nvSpPr>
        <p:spPr>
          <a:xfrm>
            <a:off x="777240" y="5099367"/>
            <a:ext cx="1523999"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99367"/>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전에 적는다</a:t>
            </a:r>
          </a:p>
        </p:txBody>
      </p:sp>
      <p:sp>
        <p:nvSpPr>
          <p:cNvPr id="10" name="Rounded Rectangle 9"/>
          <p:cNvSpPr/>
          <p:nvPr/>
        </p:nvSpPr>
        <p:spPr>
          <a:xfrm>
            <a:off x="3390823" y="2453576"/>
            <a:ext cx="2567863" cy="307555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654744"/>
            <a:ext cx="2238679" cy="237147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판정 코드</a:t>
            </a:r>
          </a:p>
          <a:p>
            <a:pPr algn="l" eaLnBrk="0" marL="200025" indent="-200025">
              <a:lnSpc>
                <a:spcPct val="110000"/>
              </a:lnSpc>
              <a:spcAft>
                <a:spcPts val="400"/>
              </a:spcAft>
            </a:pPr>
            <a:r>
              <a:rPr sz="1750" b="0">
                <a:solidFill>
                  <a:srgbClr val="1F2A3A"/>
                </a:solidFill>
                <a:latin typeface="맑은 고딕"/>
                <a:ea typeface="맑은 고딕"/>
                <a:cs typeface="맑은 고딕"/>
              </a:rPr>
              <a:t>• 테스트 골격에 검사를 구현한다</a:t>
            </a:r>
          </a:p>
          <a:p>
            <a:pPr algn="l" eaLnBrk="0" marL="200025" indent="-200025">
              <a:lnSpc>
                <a:spcPct val="110000"/>
              </a:lnSpc>
              <a:spcAft>
                <a:spcPts val="400"/>
              </a:spcAft>
            </a:pPr>
            <a:r>
              <a:rPr sz="1750" b="0">
                <a:solidFill>
                  <a:srgbClr val="1F2A3A"/>
                </a:solidFill>
                <a:latin typeface="맑은 고딕"/>
                <a:ea typeface="맑은 고딕"/>
                <a:cs typeface="맑은 고딕"/>
              </a:rPr>
              <a:t>• 긴급 표시 · 근거 · 미확인 · 기존 출력 계약</a:t>
            </a:r>
          </a:p>
        </p:txBody>
      </p:sp>
      <p:sp>
        <p:nvSpPr>
          <p:cNvPr id="12" name="Rounded Rectangle 11"/>
          <p:cNvSpPr/>
          <p:nvPr/>
        </p:nvSpPr>
        <p:spPr>
          <a:xfrm>
            <a:off x="3619423" y="5099367"/>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509936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검사</a:t>
            </a:r>
          </a:p>
        </p:txBody>
      </p:sp>
      <p:sp>
        <p:nvSpPr>
          <p:cNvPr id="14" name="Rounded Rectangle 13"/>
          <p:cNvSpPr/>
          <p:nvPr/>
        </p:nvSpPr>
        <p:spPr>
          <a:xfrm>
            <a:off x="6233007" y="2453576"/>
            <a:ext cx="2567863" cy="307555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654744"/>
            <a:ext cx="2238679" cy="237147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수정과 회귀</a:t>
            </a:r>
          </a:p>
          <a:p>
            <a:pPr algn="l" eaLnBrk="0" marL="200025" indent="-200025">
              <a:lnSpc>
                <a:spcPct val="110000"/>
              </a:lnSpc>
              <a:spcAft>
                <a:spcPts val="400"/>
              </a:spcAft>
            </a:pPr>
            <a:r>
              <a:rPr sz="1750" b="0">
                <a:solidFill>
                  <a:srgbClr val="1F2A3A"/>
                </a:solidFill>
                <a:latin typeface="맑은 고딕"/>
                <a:ea typeface="맑은 고딕"/>
                <a:cs typeface="맑은 고딕"/>
              </a:rPr>
              <a:t>• 실제 오류의 원인을 고친다</a:t>
            </a:r>
          </a:p>
          <a:p>
            <a:pPr algn="l" eaLnBrk="0" marL="200025" indent="-200025">
              <a:lnSpc>
                <a:spcPct val="110000"/>
              </a:lnSpc>
              <a:spcAft>
                <a:spcPts val="400"/>
              </a:spcAft>
            </a:pPr>
            <a:r>
              <a:rPr sz="1750" b="0">
                <a:solidFill>
                  <a:srgbClr val="1F2A3A"/>
                </a:solidFill>
                <a:latin typeface="맑은 고딕"/>
                <a:ea typeface="맑은 고딕"/>
                <a:cs typeface="맑은 고딕"/>
              </a:rPr>
              <a:t>• 기존 사례도 다시 실행한다</a:t>
            </a:r>
          </a:p>
          <a:p>
            <a:pPr algn="l" eaLnBrk="0" marL="200025" indent="-200025">
              <a:lnSpc>
                <a:spcPct val="110000"/>
              </a:lnSpc>
              <a:spcAft>
                <a:spcPts val="400"/>
              </a:spcAft>
            </a:pPr>
            <a:r>
              <a:rPr sz="1750" b="0">
                <a:solidFill>
                  <a:srgbClr val="1F2A3A"/>
                </a:solidFill>
                <a:latin typeface="맑은 고딕"/>
                <a:ea typeface="맑은 고딕"/>
                <a:cs typeface="맑은 고딕"/>
              </a:rPr>
              <a:t>• 표현 차이와 계약 위반을 가른다</a:t>
            </a:r>
          </a:p>
        </p:txBody>
      </p:sp>
      <p:sp>
        <p:nvSpPr>
          <p:cNvPr id="16" name="Rounded Rectangle 15"/>
          <p:cNvSpPr/>
          <p:nvPr/>
        </p:nvSpPr>
        <p:spPr>
          <a:xfrm>
            <a:off x="6461607" y="5099367"/>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5099367"/>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실행</a:t>
            </a:r>
          </a:p>
        </p:txBody>
      </p:sp>
      <p:sp>
        <p:nvSpPr>
          <p:cNvPr id="18" name="Rounded Rectangle 17"/>
          <p:cNvSpPr/>
          <p:nvPr/>
        </p:nvSpPr>
        <p:spPr>
          <a:xfrm>
            <a:off x="9075191" y="2453576"/>
            <a:ext cx="2567863" cy="307555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TextBox 18"/>
          <p:cNvSpPr txBox="1"/>
          <p:nvPr/>
        </p:nvSpPr>
        <p:spPr>
          <a:xfrm>
            <a:off x="9239783" y="2654744"/>
            <a:ext cx="2238679" cy="237147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저장</a:t>
            </a:r>
          </a:p>
          <a:p>
            <a:pPr algn="l" eaLnBrk="0" marL="200025" indent="-200025">
              <a:lnSpc>
                <a:spcPct val="110000"/>
              </a:lnSpc>
              <a:spcAft>
                <a:spcPts val="400"/>
              </a:spcAft>
            </a:pPr>
            <a:r>
              <a:rPr sz="1750" b="0">
                <a:solidFill>
                  <a:srgbClr val="1F2A3A"/>
                </a:solidFill>
                <a:latin typeface="맑은 고딕"/>
                <a:ea typeface="맑은 고딕"/>
                <a:cs typeface="맑은 고딕"/>
              </a:rPr>
              <a:t>• 새 대상에 적용한 결과</a:t>
            </a:r>
          </a:p>
          <a:p>
            <a:pPr algn="l" eaLnBrk="0" marL="200025" indent="-200025">
              <a:lnSpc>
                <a:spcPct val="110000"/>
              </a:lnSpc>
              <a:spcAft>
                <a:spcPts val="400"/>
              </a:spcAft>
            </a:pPr>
            <a:r>
              <a:rPr sz="1750" b="0">
                <a:solidFill>
                  <a:srgbClr val="1F2A3A"/>
                </a:solidFill>
                <a:latin typeface="맑은 고딕"/>
                <a:ea typeface="맑은 고딕"/>
                <a:cs typeface="맑은 고딕"/>
              </a:rPr>
              <a:t>• 다시 쓸 명세와 검증 기록</a:t>
            </a:r>
          </a:p>
        </p:txBody>
      </p:sp>
      <p:sp>
        <p:nvSpPr>
          <p:cNvPr id="20" name="Rounded Rectangle 19"/>
          <p:cNvSpPr/>
          <p:nvPr/>
        </p:nvSpPr>
        <p:spPr>
          <a:xfrm>
            <a:off x="9303791" y="5099367"/>
            <a:ext cx="822960" cy="292608"/>
          </a:xfrm>
          <a:prstGeom prst="roundRect">
            <a:avLst>
              <a:gd name="adj" fmla="val 50000"/>
            </a:avLst>
          </a:prstGeom>
          <a:solidFill>
            <a:srgbClr val="5CB8F2"/>
          </a:solidFill>
          <a:ln>
            <a:noFill/>
          </a:ln>
        </p:spPr>
        <p:txBody>
          <a:bodyPr rtlCol="0" anchor="ctr"/>
          <a:lstStyle/>
          <a:p>
            <a:pPr algn="ctr"/>
          </a:p>
        </p:txBody>
      </p:sp>
      <p:sp>
        <p:nvSpPr>
          <p:cNvPr id="21" name="TextBox 20"/>
          <p:cNvSpPr txBox="1"/>
          <p:nvPr/>
        </p:nvSpPr>
        <p:spPr>
          <a:xfrm>
            <a:off x="9303791" y="509936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제작과</a:t>
            </a:r>
          </a:p>
          <a:p>
            <a:pPr algn="l" eaLnBrk="0">
              <a:lnSpc>
                <a:spcPct val="110000"/>
              </a:lnSpc>
            </a:pPr>
            <a:r>
              <a:rPr sz="3400" b="1">
                <a:solidFill>
                  <a:srgbClr val="13294B"/>
                </a:solidFill>
                <a:latin typeface="맑은 고딕"/>
                <a:ea typeface="맑은 고딕"/>
                <a:cs typeface="맑은 고딕"/>
              </a:rPr>
              <a:t>검증의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여섯 개념이 푼 문제와 산출물을 잇고 업무 흐름으로 넘긴다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여섯 개념이 푼 문제와 남긴 산출물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에이전트를 업무에 맡기기까지 여섯 개념이 저마다 다른 문제를 풀었고, 실습마다 확인할 수 있는 산출물을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개념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푼 문제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남긴 산출물</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Agent</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목표에 따라 도구를 골라 반복하고</a:t>
            </a:r>
          </a:p>
          <a:p>
            <a:pPr algn="l" eaLnBrk="0">
              <a:lnSpc>
                <a:spcPct val="110000"/>
              </a:lnSpc>
            </a:pPr>
            <a:r>
              <a:rPr sz="1400" b="0">
                <a:solidFill>
                  <a:srgbClr val="1F2A3A"/>
                </a:solidFill>
                <a:latin typeface="맑은 고딕"/>
                <a:ea typeface="맑은 고딕"/>
                <a:cs typeface="맑은 고딕"/>
              </a:rPr>
              <a:t>근거가 모자라면 멈춘다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점검 요청 초안</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Skill</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반복할 절차와 판단 기준을 묶어</a:t>
            </a:r>
          </a:p>
          <a:p>
            <a:pPr algn="l" eaLnBrk="0">
              <a:lnSpc>
                <a:spcPct val="110000"/>
              </a:lnSpc>
            </a:pPr>
            <a:r>
              <a:rPr sz="1400" b="0">
                <a:solidFill>
                  <a:srgbClr val="1F2A3A"/>
                </a:solidFill>
                <a:latin typeface="맑은 고딕"/>
                <a:ea typeface="맑은 고딕"/>
                <a:cs typeface="맑은 고딕"/>
              </a:rPr>
              <a:t>다른 자료에도 같게 쓴다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작업 지침</a:t>
            </a:r>
          </a:p>
          <a:p>
            <a:pPr algn="l" eaLnBrk="0">
              <a:lnSpc>
                <a:spcPct val="110000"/>
              </a:lnSpc>
            </a:pPr>
            <a:r>
              <a:rPr sz="1250" b="1">
                <a:solidFill>
                  <a:srgbClr val="556175"/>
                </a:solidFill>
                <a:latin typeface="맑은 고딕"/>
                <a:ea typeface="맑은 고딕"/>
                <a:cs typeface="맑은 고딕"/>
              </a:rPr>
              <a:t>다음 협의 안건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MCP</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다른 시스템과 자기 자료를</a:t>
            </a:r>
          </a:p>
          <a:p>
            <a:pPr algn="l" eaLnBrk="0">
              <a:lnSpc>
                <a:spcPct val="110000"/>
              </a:lnSpc>
            </a:pPr>
            <a:r>
              <a:rPr sz="1400" b="0">
                <a:solidFill>
                  <a:srgbClr val="1F2A3A"/>
                </a:solidFill>
                <a:latin typeface="맑은 고딕"/>
                <a:ea typeface="맑은 고딕"/>
                <a:cs typeface="맑은 고딕"/>
              </a:rPr>
              <a:t>정해진 도구로 읽는다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 설정</a:t>
            </a:r>
          </a:p>
          <a:p>
            <a:pPr algn="l" eaLnBrk="0">
              <a:lnSpc>
                <a:spcPct val="110000"/>
              </a:lnSpc>
            </a:pPr>
            <a:r>
              <a:rPr sz="1250" b="1">
                <a:solidFill>
                  <a:srgbClr val="556175"/>
                </a:solidFill>
                <a:latin typeface="맑은 고딕"/>
                <a:ea typeface="맑은 고딕"/>
                <a:cs typeface="맑은 고딕"/>
              </a:rPr>
              <a:t>조회 도구</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HITL</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묻고 멈출 자리와</a:t>
            </a:r>
          </a:p>
          <a:p>
            <a:pPr algn="l" eaLnBrk="0">
              <a:lnSpc>
                <a:spcPct val="110000"/>
              </a:lnSpc>
            </a:pPr>
            <a:r>
              <a:rPr sz="1400" b="0">
                <a:solidFill>
                  <a:srgbClr val="1F2A3A"/>
                </a:solidFill>
                <a:latin typeface="맑은 고딕"/>
                <a:ea typeface="맑은 고딕"/>
                <a:cs typeface="맑은 고딕"/>
              </a:rPr>
              <a:t>사람이 정할 결정을 나눈다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질문 · 재개 기록</a:t>
            </a:r>
          </a:p>
          <a:p>
            <a:pPr algn="l" eaLnBrk="0">
              <a:lnSpc>
                <a:spcPct val="110000"/>
              </a:lnSpc>
            </a:pPr>
            <a:r>
              <a:rPr sz="1250" b="1">
                <a:solidFill>
                  <a:srgbClr val="556175"/>
                </a:solidFill>
                <a:latin typeface="맑은 고딕"/>
                <a:ea typeface="맑은 고딕"/>
                <a:cs typeface="맑은 고딕"/>
              </a:rPr>
              <a:t>승인 · 거절 기록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SDD</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바뀐 요구에서 지킬 것을</a:t>
            </a:r>
          </a:p>
          <a:p>
            <a:pPr algn="l" eaLnBrk="0">
              <a:lnSpc>
                <a:spcPct val="110000"/>
              </a:lnSpc>
            </a:pPr>
            <a:r>
              <a:rPr sz="1400" b="0">
                <a:solidFill>
                  <a:srgbClr val="1F2A3A"/>
                </a:solidFill>
                <a:latin typeface="맑은 고딕"/>
                <a:ea typeface="맑은 고딕"/>
                <a:cs typeface="맑은 고딕"/>
              </a:rPr>
              <a:t>구현 전에 정한다</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spec.md</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BDD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정한 대로 행동하는지</a:t>
            </a:r>
          </a:p>
          <a:p>
            <a:pPr algn="l" eaLnBrk="0">
              <a:lnSpc>
                <a:spcPct val="110000"/>
              </a:lnSpc>
            </a:pPr>
            <a:r>
              <a:rPr sz="1400" b="0">
                <a:solidFill>
                  <a:srgbClr val="1F2A3A"/>
                </a:solidFill>
                <a:latin typeface="맑은 고딕"/>
                <a:ea typeface="맑은 고딕"/>
                <a:cs typeface="맑은 고딕"/>
              </a:rPr>
              <a:t>실행으로 확인한다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시나리오 · 판정 코드</a:t>
            </a:r>
          </a:p>
          <a:p>
            <a:pPr algn="l" eaLnBrk="0">
              <a:lnSpc>
                <a:spcPct val="110000"/>
              </a:lnSpc>
            </a:pPr>
            <a:r>
              <a:rPr sz="1250" b="1">
                <a:solidFill>
                  <a:srgbClr val="1A6FC4"/>
                </a:solidFill>
                <a:latin typeface="맑은 고딕"/>
                <a:ea typeface="맑은 고딕"/>
                <a:cs typeface="맑은 고딕"/>
              </a:rPr>
              <a:t>회귀 기록</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점검 요청 프로젝트에 쌓인 기능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점검 요청 초안 하나에 질문 · 재개, 긴급 확인 표시, 기대 결과 검증이 차례로 더해지는 동안 앞의 약속은 그대로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1935441" y="2844546"/>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428494"/>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428494"/>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점검 요청 초안</a:t>
            </a:r>
          </a:p>
          <a:p>
            <a:pPr algn="ctr" eaLnBrk="0">
              <a:lnSpc>
                <a:spcPct val="110000"/>
              </a:lnSpc>
              <a:spcAft>
                <a:spcPts val="400"/>
              </a:spcAft>
            </a:pPr>
            <a:r>
              <a:rPr sz="1650" b="0">
                <a:solidFill>
                  <a:srgbClr val="1F2A3A"/>
                </a:solidFill>
                <a:latin typeface="맑은 고딕"/>
                <a:ea typeface="맑은 고딕"/>
                <a:cs typeface="맑은 고딕"/>
              </a:rPr>
              <a:t>대상 · 관측 시각 · 확인 항목 · 이유</a:t>
            </a:r>
          </a:p>
          <a:p>
            <a:pPr algn="ctr" eaLnBrk="0">
              <a:lnSpc>
                <a:spcPct val="110000"/>
              </a:lnSpc>
              <a:spcAft>
                <a:spcPts val="400"/>
              </a:spcAft>
            </a:pPr>
            <a:r>
              <a:rPr sz="1650" b="0">
                <a:solidFill>
                  <a:srgbClr val="1F2A3A"/>
                </a:solidFill>
                <a:latin typeface="맑은 고딕"/>
                <a:ea typeface="맑은 고딕"/>
                <a:cs typeface="맑은 고딕"/>
              </a:rPr>
              <a:t>근거 없는 단정을 하지 않는다</a:t>
            </a:r>
          </a:p>
        </p:txBody>
      </p:sp>
      <p:sp>
        <p:nvSpPr>
          <p:cNvPr id="10" name="Oval 9"/>
          <p:cNvSpPr/>
          <p:nvPr/>
        </p:nvSpPr>
        <p:spPr>
          <a:xfrm>
            <a:off x="4274705" y="2428494"/>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428494"/>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질문과 재개</a:t>
            </a:r>
          </a:p>
          <a:p>
            <a:pPr algn="ctr" eaLnBrk="0">
              <a:lnSpc>
                <a:spcPct val="110000"/>
              </a:lnSpc>
              <a:spcAft>
                <a:spcPts val="400"/>
              </a:spcAft>
            </a:pPr>
            <a:r>
              <a:rPr sz="1650" b="0">
                <a:solidFill>
                  <a:srgbClr val="1F2A3A"/>
                </a:solidFill>
                <a:latin typeface="맑은 고딕"/>
                <a:ea typeface="맑은 고딕"/>
                <a:cs typeface="맑은 고딕"/>
              </a:rPr>
              <a:t>부족하거나 어긋난 정보만 묻는다</a:t>
            </a:r>
          </a:p>
          <a:p>
            <a:pPr algn="ctr" eaLnBrk="0">
              <a:lnSpc>
                <a:spcPct val="110000"/>
              </a:lnSpc>
              <a:spcAft>
                <a:spcPts val="400"/>
              </a:spcAft>
            </a:pPr>
            <a:r>
              <a:rPr sz="1650" b="0">
                <a:solidFill>
                  <a:srgbClr val="1F2A3A"/>
                </a:solidFill>
                <a:latin typeface="맑은 고딕"/>
                <a:ea typeface="맑은 고딕"/>
                <a:cs typeface="맑은 고딕"/>
              </a:rPr>
              <a:t>같은 요청 번호로 다시 판단한다</a:t>
            </a:r>
          </a:p>
        </p:txBody>
      </p:sp>
      <p:sp>
        <p:nvSpPr>
          <p:cNvPr id="13" name="Oval 12"/>
          <p:cNvSpPr/>
          <p:nvPr/>
        </p:nvSpPr>
        <p:spPr>
          <a:xfrm>
            <a:off x="7048309" y="2428494"/>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428494"/>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긴급 확인 표시</a:t>
            </a:r>
          </a:p>
          <a:p>
            <a:pPr algn="ctr" eaLnBrk="0">
              <a:lnSpc>
                <a:spcPct val="110000"/>
              </a:lnSpc>
              <a:spcAft>
                <a:spcPts val="400"/>
              </a:spcAft>
            </a:pPr>
            <a:r>
              <a:rPr sz="1650" b="0">
                <a:solidFill>
                  <a:srgbClr val="1F2A3A"/>
                </a:solidFill>
                <a:latin typeface="맑은 고딕"/>
                <a:ea typeface="맑은 고딕"/>
                <a:cs typeface="맑은 고딕"/>
              </a:rPr>
              <a:t>spec.md에 조건 · 미판정 · 금지 조건</a:t>
            </a:r>
          </a:p>
          <a:p>
            <a:pPr algn="ctr" eaLnBrk="0">
              <a:lnSpc>
                <a:spcPct val="110000"/>
              </a:lnSpc>
              <a:spcAft>
                <a:spcPts val="400"/>
              </a:spcAft>
            </a:pPr>
            <a:r>
              <a:rPr sz="1650" b="0">
                <a:solidFill>
                  <a:srgbClr val="1F2A3A"/>
                </a:solidFill>
                <a:latin typeface="맑은 고딕"/>
                <a:ea typeface="맑은 고딕"/>
                <a:cs typeface="맑은 고딕"/>
              </a:rPr>
              <a:t>기존 출력 · 질문 · 승인을 지킨다</a:t>
            </a:r>
          </a:p>
        </p:txBody>
      </p:sp>
      <p:sp>
        <p:nvSpPr>
          <p:cNvPr id="16" name="Oval 15"/>
          <p:cNvSpPr/>
          <p:nvPr/>
        </p:nvSpPr>
        <p:spPr>
          <a:xfrm>
            <a:off x="9821913" y="2428494"/>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428494"/>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기대 결과와 회귀</a:t>
            </a:r>
          </a:p>
          <a:p>
            <a:pPr algn="ctr" eaLnBrk="0">
              <a:lnSpc>
                <a:spcPct val="110000"/>
              </a:lnSpc>
              <a:spcAft>
                <a:spcPts val="400"/>
              </a:spcAft>
            </a:pPr>
            <a:r>
              <a:rPr sz="1650" b="0">
                <a:solidFill>
                  <a:srgbClr val="1F2A3A"/>
                </a:solidFill>
                <a:latin typeface="맑은 고딕"/>
                <a:ea typeface="맑은 고딕"/>
                <a:cs typeface="맑은 고딕"/>
              </a:rPr>
              <a:t>명세와 원자료에서 정한 기대 결과</a:t>
            </a:r>
          </a:p>
          <a:p>
            <a:pPr algn="ctr" eaLnBrk="0">
              <a:lnSpc>
                <a:spcPct val="110000"/>
              </a:lnSpc>
              <a:spcAft>
                <a:spcPts val="400"/>
              </a:spcAft>
            </a:pPr>
            <a:r>
              <a:rPr sz="1650" b="0">
                <a:solidFill>
                  <a:srgbClr val="1F2A3A"/>
                </a:solidFill>
                <a:latin typeface="맑은 고딕"/>
                <a:ea typeface="맑은 고딕"/>
                <a:cs typeface="맑은 고딕"/>
              </a:rPr>
              <a:t>새 사례와 기존 사례를 다시 실행한다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처리할 때마다의 확인과 바꿀 때마다의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처리할 때마다 도는 확인은 그 한 건을 막고, 바꿀 때마다 하는 검증은 바뀐 기능이 모든 사례에서 약속을 지키는지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언제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점검 요청에서 막는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 유효성</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요청마다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묵은 값 · 표본 부족으로</a:t>
            </a:r>
          </a:p>
          <a:p>
            <a:pPr algn="l" eaLnBrk="0">
              <a:lnSpc>
                <a:spcPct val="110000"/>
              </a:lnSpc>
            </a:pPr>
            <a:r>
              <a:rPr sz="1250" b="1">
                <a:solidFill>
                  <a:srgbClr val="556175"/>
                </a:solidFill>
                <a:latin typeface="맑은 고딕"/>
                <a:ea typeface="맑은 고딕"/>
                <a:cs typeface="맑은 고딕"/>
              </a:rPr>
              <a:t>판정하기</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 계약 검사 · 가드레일</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결과를 낼 때마다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항목 누락 ·</a:t>
            </a:r>
          </a:p>
          <a:p>
            <a:pPr algn="l" eaLnBrk="0">
              <a:lnSpc>
                <a:spcPct val="110000"/>
              </a:lnSpc>
            </a:pPr>
            <a:r>
              <a:rPr sz="1250" b="1">
                <a:solidFill>
                  <a:srgbClr val="556175"/>
                </a:solidFill>
                <a:latin typeface="맑은 고딕"/>
                <a:ea typeface="맑은 고딕"/>
                <a:cs typeface="맑은 고딕"/>
              </a:rPr>
              <a:t>규칙에 어긋난 추천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사람의 승인 · 승인 뒤 재확인</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조치를 실행하기 전마다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없는 실행 ·</a:t>
            </a:r>
          </a:p>
          <a:p>
            <a:pPr algn="l" eaLnBrk="0">
              <a:lnSpc>
                <a:spcPct val="110000"/>
              </a:lnSpc>
            </a:pPr>
            <a:r>
              <a:rPr sz="1250" b="1">
                <a:solidFill>
                  <a:srgbClr val="556175"/>
                </a:solidFill>
                <a:latin typeface="맑은 고딕"/>
                <a:ea typeface="맑은 고딕"/>
                <a:cs typeface="맑은 고딕"/>
              </a:rPr>
              <a:t>바뀐 조건에서 실행</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시나리오와 판정 코드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기능을 바꿀 때마다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새 기능의</a:t>
            </a:r>
          </a:p>
          <a:p>
            <a:pPr algn="l" eaLnBrk="0">
              <a:lnSpc>
                <a:spcPct val="110000"/>
              </a:lnSpc>
            </a:pPr>
            <a:r>
              <a:rPr sz="1250" b="1">
                <a:solidFill>
                  <a:srgbClr val="556175"/>
                </a:solidFill>
                <a:latin typeface="맑은 고딕"/>
                <a:ea typeface="맑은 고딕"/>
                <a:cs typeface="맑은 고딕"/>
              </a:rPr>
              <a:t>기대와 다른 판정</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전체 회귀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기능을 바꿀 때마다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기존 약속이</a:t>
            </a:r>
          </a:p>
          <a:p>
            <a:pPr algn="l" eaLnBrk="0">
              <a:lnSpc>
                <a:spcPct val="110000"/>
              </a:lnSpc>
            </a:pPr>
            <a:r>
              <a:rPr sz="1250" b="1">
                <a:solidFill>
                  <a:srgbClr val="1A6FC4"/>
                </a:solidFill>
                <a:latin typeface="맑은 고딕"/>
                <a:ea typeface="맑은 고딕"/>
                <a:cs typeface="맑은 고딕"/>
              </a:rPr>
              <a:t>조용히 깨지는 것</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목적 · 입력 · 판정이 다른 활용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실행 구조를 써도 목적과 입력, 도구가 달라지면 결과물과 그 결과를 판정하는 기준이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활용 결과</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도구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판정하는 기준</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검토 결과</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조건표와 후보 비교 기능</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후보마다 이유 · 출처 ·</a:t>
            </a:r>
          </a:p>
          <a:p>
            <a:pPr algn="l" eaLnBrk="0">
              <a:lnSpc>
                <a:spcPct val="110000"/>
              </a:lnSpc>
            </a:pPr>
            <a:r>
              <a:rPr sz="1250" b="1">
                <a:solidFill>
                  <a:srgbClr val="556175"/>
                </a:solidFill>
                <a:latin typeface="맑은 고딕"/>
                <a:ea typeface="맑은 고딕"/>
                <a:cs typeface="맑은 고딕"/>
              </a:rPr>
              <a:t>추가 확인</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 확인 카드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 원문과 검토한 추출 결과</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준비 · 금지 · 완료 조건과</a:t>
            </a:r>
          </a:p>
          <a:p>
            <a:pPr algn="l" eaLnBrk="0">
              <a:lnSpc>
                <a:spcPct val="110000"/>
              </a:lnSpc>
            </a:pPr>
            <a:r>
              <a:rPr sz="1200" b="1">
                <a:solidFill>
                  <a:srgbClr val="556175"/>
                </a:solidFill>
                <a:latin typeface="맑은 고딕"/>
                <a:ea typeface="맑은 고딕"/>
                <a:cs typeface="맑은 고딕"/>
              </a:rPr>
              <a:t>원문의 대조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점검 요청</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입력과 지식 그래프 조회</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대상 · 관측 시각 ·</a:t>
            </a:r>
          </a:p>
          <a:p>
            <a:pPr algn="l" eaLnBrk="0">
              <a:lnSpc>
                <a:spcPct val="110000"/>
              </a:lnSpc>
            </a:pPr>
            <a:r>
              <a:rPr sz="1250" b="1">
                <a:solidFill>
                  <a:srgbClr val="556175"/>
                </a:solidFill>
                <a:latin typeface="맑은 고딕"/>
                <a:ea typeface="맑은 고딕"/>
                <a:cs typeface="맑은 고딕"/>
              </a:rPr>
              <a:t>확인 항목 · 이유</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다음 협의 안건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회의 · 점검 기록과 변경 이력</a:t>
            </a:r>
          </a:p>
          <a:p>
            <a:pPr algn="l" eaLnBrk="0">
              <a:lnSpc>
                <a:spcPct val="110000"/>
              </a:lnSpc>
            </a:pPr>
            <a:r>
              <a:rPr sz="1400" b="0">
                <a:solidFill>
                  <a:srgbClr val="1F2A3A"/>
                </a:solidFill>
                <a:latin typeface="맑은 고딕"/>
                <a:ea typeface="맑은 고딕"/>
                <a:cs typeface="맑은 고딕"/>
              </a:rPr>
              <a:t>외부 도구 연결</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결정할 질문</a:t>
            </a:r>
          </a:p>
          <a:p>
            <a:pPr algn="l" eaLnBrk="0">
              <a:lnSpc>
                <a:spcPct val="110000"/>
              </a:lnSpc>
            </a:pPr>
            <a:r>
              <a:rPr sz="1250" b="1">
                <a:solidFill>
                  <a:srgbClr val="556175"/>
                </a:solidFill>
                <a:latin typeface="맑은 고딕"/>
                <a:ea typeface="맑은 고딕"/>
                <a:cs typeface="맑은 고딕"/>
              </a:rPr>
              <a:t>확인된 사실 · 남은 확인</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명세와 회귀 기록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spec.md · 시나리오 · 판정 코드</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새 기능과 기존 기능의</a:t>
            </a:r>
          </a:p>
          <a:p>
            <a:pPr algn="l" eaLnBrk="0">
              <a:lnSpc>
                <a:spcPct val="110000"/>
              </a:lnSpc>
            </a:pPr>
            <a:r>
              <a:rPr sz="1250" b="1">
                <a:solidFill>
                  <a:srgbClr val="1A6FC4"/>
                </a:solidFill>
                <a:latin typeface="맑은 고딕"/>
                <a:ea typeface="맑은 고딕"/>
                <a:cs typeface="맑은 고딕"/>
              </a:rPr>
              <a:t>통과</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새 업무를 맡기기 전에 정할 다섯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새 요구를 받으면 맡길 일 · 자료 · 도구 · 권한 · 검증을 먼저 정해야 구현을 시작할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정할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펌프 누설 요청에 긴급 표시를 붙이려면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지금 상태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맡길 일</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표시와 그 이유를 적는 데까지</a:t>
            </a:r>
          </a:p>
          <a:p>
            <a:pPr algn="l" eaLnBrk="0">
              <a:lnSpc>
                <a:spcPct val="110000"/>
              </a:lnSpc>
            </a:pPr>
            <a:r>
              <a:rPr sz="1400" b="0">
                <a:solidFill>
                  <a:srgbClr val="1F2A3A"/>
                </a:solidFill>
                <a:latin typeface="맑은 고딕"/>
                <a:ea typeface="맑은 고딕"/>
                <a:cs typeface="맑은 고딕"/>
              </a:rPr>
              <a:t>조치의 결정은 맡기지 않는다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명세에 적는다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필요한 자료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어떤 값 · 구간 · 유효성으로 가를지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교육용 기준이 없다</a:t>
            </a:r>
          </a:p>
          <a:p>
            <a:pPr algn="l" eaLnBrk="0">
              <a:lnSpc>
                <a:spcPct val="110000"/>
              </a:lnSpc>
            </a:pPr>
            <a:r>
              <a:rPr sz="1250" b="1">
                <a:solidFill>
                  <a:srgbClr val="556175"/>
                </a:solidFill>
                <a:latin typeface="맑은 고딕"/>
                <a:ea typeface="맑은 고딕"/>
                <a:cs typeface="맑은 고딕"/>
              </a:rPr>
              <a:t>사람이 정한다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도구</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 · 유량 값을 읽는 조회 도구</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읽기 범위를</a:t>
            </a:r>
          </a:p>
          <a:p>
            <a:pPr algn="l" eaLnBrk="0">
              <a:lnSpc>
                <a:spcPct val="110000"/>
              </a:lnSpc>
            </a:pPr>
            <a:r>
              <a:rPr sz="1250" b="1">
                <a:solidFill>
                  <a:srgbClr val="556175"/>
                </a:solidFill>
                <a:latin typeface="맑은 고딕"/>
                <a:ea typeface="맑은 고딕"/>
                <a:cs typeface="맑은 고딕"/>
              </a:rPr>
              <a:t>확인한다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읽기만 한다</a:t>
            </a:r>
          </a:p>
          <a:p>
            <a:pPr algn="l" eaLnBrk="0">
              <a:lnSpc>
                <a:spcPct val="110000"/>
              </a:lnSpc>
            </a:pPr>
            <a:r>
              <a:rPr sz="1400" b="0">
                <a:solidFill>
                  <a:srgbClr val="1F2A3A"/>
                </a:solidFill>
                <a:latin typeface="맑은 고딕"/>
                <a:ea typeface="맑은 고딕"/>
                <a:cs typeface="맑은 고딕"/>
              </a:rPr>
              <a:t>승인은 승인 역할의 사람이 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바뀌지 않는다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 경보의 시나리오와 경계 사례</a:t>
            </a:r>
          </a:p>
          <a:p>
            <a:pPr algn="l" eaLnBrk="0">
              <a:lnSpc>
                <a:spcPct val="110000"/>
              </a:lnSpc>
            </a:pPr>
            <a:r>
              <a:rPr sz="1400" b="0">
                <a:solidFill>
                  <a:srgbClr val="1F2A3A"/>
                </a:solidFill>
                <a:latin typeface="맑은 고딕"/>
                <a:ea typeface="맑은 고딕"/>
                <a:cs typeface="맑은 고딕"/>
              </a:rPr>
              <a:t>쿨러 긴급 · 일반 사례의 회귀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기준을 정한 뒤</a:t>
            </a:r>
          </a:p>
          <a:p>
            <a:pPr algn="l" eaLnBrk="0">
              <a:lnSpc>
                <a:spcPct val="110000"/>
              </a:lnSpc>
            </a:pPr>
            <a:r>
              <a:rPr sz="1250" b="1">
                <a:solidFill>
                  <a:srgbClr val="1A6FC4"/>
                </a:solidFill>
                <a:latin typeface="맑은 고딕"/>
                <a:ea typeface="맑은 고딕"/>
                <a:cs typeface="맑은 고딕"/>
              </a:rPr>
              <a:t>기대 결과를 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화면 유온은 61 ℃인데 긴급 아님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운영 중 쿨러 경보 요청의 urgent가 false로 나왔는데, 담당자가 그 뒤에 본 운전 화면의 유온은 61 ℃였다고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먼저 확인할 것으로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기준을 59 ℃로 낮춰 다시 판정한다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판정에 쓴 값의 구간 · 판단 시각 · 유효성 기록을 화면의 값과 대조한다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urgent를 손으로 true로 고쳐 저장한다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모델을 바꿔 같은 요청을 다시 처리한다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검증한 작업이 업무 흐름의 한 칸이 되는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검증한 작업 하나하나는 BPMN 흐름에서 사람의 승인과 이어지는 한 칸이 되고, 칸마다 맡는 쪽이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search" descr="search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요청 · 값 조회</a:t>
            </a:r>
          </a:p>
          <a:p>
            <a:pPr algn="ctr" eaLnBrk="0">
              <a:lnSpc>
                <a:spcPct val="110000"/>
              </a:lnSpc>
              <a:spcAft>
                <a:spcPts val="400"/>
              </a:spcAft>
            </a:pPr>
            <a:r>
              <a:rPr sz="1300" b="0">
                <a:solidFill>
                  <a:srgbClr val="1F2A3A"/>
                </a:solidFill>
                <a:latin typeface="맑은 고딕"/>
                <a:ea typeface="맑은 고딕"/>
                <a:cs typeface="맑은 고딕"/>
              </a:rPr>
              <a:t>시스템 · 에이전트</a:t>
            </a:r>
          </a:p>
          <a:p>
            <a:pPr algn="ctr" eaLnBrk="0">
              <a:lnSpc>
                <a:spcPct val="110000"/>
              </a:lnSpc>
              <a:spcAft>
                <a:spcPts val="400"/>
              </a:spcAft>
            </a:pPr>
            <a:r>
              <a:rPr sz="1300" b="0">
                <a:solidFill>
                  <a:srgbClr val="1F2A3A"/>
                </a:solidFill>
                <a:latin typeface="맑은 고딕"/>
                <a:ea typeface="맑은 고딕"/>
                <a:cs typeface="맑은 고딕"/>
              </a:rPr>
              <a:t>신선도 · 표본 확인</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정보 질문</a:t>
            </a:r>
          </a:p>
          <a:p>
            <a:pPr algn="ctr" eaLnBrk="0">
              <a:lnSpc>
                <a:spcPct val="110000"/>
              </a:lnSpc>
              <a:spcAft>
                <a:spcPts val="400"/>
              </a:spcAft>
            </a:pPr>
            <a:r>
              <a:rPr sz="1300" b="0">
                <a:solidFill>
                  <a:srgbClr val="1F2A3A"/>
                </a:solidFill>
                <a:latin typeface="맑은 고딕"/>
                <a:ea typeface="맑은 고딕"/>
                <a:cs typeface="맑은 고딕"/>
              </a:rPr>
              <a:t>사람이 답한다</a:t>
            </a:r>
          </a:p>
          <a:p>
            <a:pPr algn="ctr" eaLnBrk="0">
              <a:lnSpc>
                <a:spcPct val="110000"/>
              </a:lnSpc>
              <a:spcAft>
                <a:spcPts val="400"/>
              </a:spcAft>
            </a:pPr>
            <a:r>
              <a:rPr sz="1300" b="0">
                <a:solidFill>
                  <a:srgbClr val="1F2A3A"/>
                </a:solidFill>
                <a:latin typeface="맑은 고딕"/>
                <a:ea typeface="맑은 고딕"/>
                <a:cs typeface="맑은 고딕"/>
              </a:rPr>
              <a:t>답은 승인이 아니다</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7" name="아이콘:file-check" descr="file-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점검 결과</a:t>
            </a:r>
          </a:p>
          <a:p>
            <a:pPr algn="ctr" eaLnBrk="0">
              <a:lnSpc>
                <a:spcPct val="110000"/>
              </a:lnSpc>
              <a:spcAft>
                <a:spcPts val="400"/>
              </a:spcAft>
            </a:pPr>
            <a:r>
              <a:rPr sz="1300" b="0">
                <a:solidFill>
                  <a:srgbClr val="1F2A3A"/>
                </a:solidFill>
                <a:latin typeface="맑은 고딕"/>
                <a:ea typeface="맑은 고딕"/>
                <a:cs typeface="맑은 고딕"/>
              </a:rPr>
              <a:t>에이전트와 규칙</a:t>
            </a:r>
          </a:p>
          <a:p>
            <a:pPr algn="ctr" eaLnBrk="0">
              <a:lnSpc>
                <a:spcPct val="110000"/>
              </a:lnSpc>
              <a:spcAft>
                <a:spcPts val="400"/>
              </a:spcAft>
            </a:pPr>
            <a:r>
              <a:rPr sz="1300" b="0">
                <a:solidFill>
                  <a:srgbClr val="1F2A3A"/>
                </a:solidFill>
                <a:latin typeface="맑은 고딕"/>
                <a:ea typeface="맑은 고딕"/>
                <a:cs typeface="맑은 고딕"/>
              </a:rPr>
              <a:t>긴급 표시 · 시나리오 · 회귀</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21" name="아이콘:user-check" descr="user-check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승인 · 거절</a:t>
            </a:r>
          </a:p>
          <a:p>
            <a:pPr algn="ctr" eaLnBrk="0">
              <a:lnSpc>
                <a:spcPct val="110000"/>
              </a:lnSpc>
              <a:spcAft>
                <a:spcPts val="400"/>
              </a:spcAft>
            </a:pPr>
            <a:r>
              <a:rPr sz="1250" b="0">
                <a:solidFill>
                  <a:srgbClr val="1F2A3A"/>
                </a:solidFill>
                <a:latin typeface="맑은 고딕"/>
                <a:ea typeface="맑은 고딕"/>
                <a:cs typeface="맑은 고딕"/>
              </a:rPr>
              <a:t>승인 역할의 사람</a:t>
            </a:r>
          </a:p>
          <a:p>
            <a:pPr algn="ctr" eaLnBrk="0">
              <a:lnSpc>
                <a:spcPct val="110000"/>
              </a:lnSpc>
              <a:spcAft>
                <a:spcPts val="400"/>
              </a:spcAft>
            </a:pPr>
            <a:r>
              <a:rPr sz="1250" b="0">
                <a:solidFill>
                  <a:srgbClr val="1F2A3A"/>
                </a:solidFill>
                <a:latin typeface="맑은 고딕"/>
                <a:ea typeface="맑은 고딕"/>
                <a:cs typeface="맑은 고딕"/>
              </a:rPr>
              <a:t>역할 · 등급 · 감사 기록</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settings-automation" descr="settings-automation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명령 · 작업지시</a:t>
            </a:r>
          </a:p>
          <a:p>
            <a:pPr algn="ctr" eaLnBrk="0">
              <a:lnSpc>
                <a:spcPct val="110000"/>
              </a:lnSpc>
              <a:spcAft>
                <a:spcPts val="400"/>
              </a:spcAft>
            </a:pPr>
            <a:r>
              <a:rPr sz="1300" b="0">
                <a:solidFill>
                  <a:srgbClr val="1F2A3A"/>
                </a:solidFill>
                <a:latin typeface="맑은 고딕"/>
                <a:ea typeface="맑은 고딕"/>
                <a:cs typeface="맑은 고딕"/>
              </a:rPr>
              <a:t>시스템</a:t>
            </a:r>
          </a:p>
          <a:p>
            <a:pPr algn="ctr" eaLnBrk="0">
              <a:lnSpc>
                <a:spcPct val="110000"/>
              </a:lnSpc>
              <a:spcAft>
                <a:spcPts val="400"/>
              </a:spcAft>
            </a:pPr>
            <a:r>
              <a:rPr sz="1300" b="0">
                <a:solidFill>
                  <a:srgbClr val="1F2A3A"/>
                </a:solidFill>
                <a:latin typeface="맑은 고딕"/>
                <a:ea typeface="맑은 고딕"/>
                <a:cs typeface="맑은 고딕"/>
              </a:rPr>
              <a:t>승인 뒤 재확인</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점검 요청 한 건으로 되짚는 결정과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점검 요청에서 나오는 물음마다 답이 놓인 자리가 달라서, 헷갈리는 짝을 가르는 것이 이번 회차의 핵심이다.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답이 놓인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헷갈리기 쉬운 짝</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 요청을 지금 확정해도 되나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칸이 다 있고 서로 맞으며 값이 유효한가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질문 · 보류</a:t>
            </a:r>
          </a:p>
          <a:p>
            <a:pPr algn="l" eaLnBrk="0">
              <a:lnSpc>
                <a:spcPct val="110000"/>
              </a:lnSpc>
            </a:pPr>
            <a:r>
              <a:rPr sz="1250" b="1">
                <a:solidFill>
                  <a:srgbClr val="556175"/>
                </a:solidFill>
                <a:latin typeface="맑은 고딕"/>
                <a:ea typeface="맑은 고딕"/>
                <a:cs typeface="맑은 고딕"/>
              </a:rPr>
              <a:t>vs 짐작해 채우기</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답에 「승인한 걸로」가 섞였다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정보만 받고 승인은 승인 단계에서</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정보 답변</a:t>
            </a:r>
          </a:p>
          <a:p>
            <a:pPr algn="l" eaLnBrk="0">
              <a:lnSpc>
                <a:spcPct val="110000"/>
              </a:lnSpc>
            </a:pPr>
            <a:r>
              <a:rPr sz="1250" b="1">
                <a:solidFill>
                  <a:srgbClr val="556175"/>
                </a:solidFill>
                <a:latin typeface="맑은 고딕"/>
                <a:ea typeface="맑은 고딕"/>
                <a:cs typeface="맑은 고딕"/>
              </a:rPr>
              <a:t>vs 승인</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검토 에이전트가 문제없다고 했다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역할의 감사 기록</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AI의 검토</a:t>
            </a:r>
          </a:p>
          <a:p>
            <a:pPr algn="l" eaLnBrk="0">
              <a:lnSpc>
                <a:spcPct val="110000"/>
              </a:lnSpc>
            </a:pPr>
            <a:r>
              <a:rPr sz="1250" b="1">
                <a:solidFill>
                  <a:srgbClr val="556175"/>
                </a:solidFill>
                <a:latin typeface="맑은 고딕"/>
                <a:ea typeface="맑은 고딕"/>
                <a:cs typeface="맑은 고딕"/>
              </a:rPr>
              <a:t>vs 사람의 결정</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urgent가 null이다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값 없음 · 신선도 · 표본의 보류 사유</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미판정</a:t>
            </a:r>
          </a:p>
          <a:p>
            <a:pPr algn="l" eaLnBrk="0">
              <a:lnSpc>
                <a:spcPct val="110000"/>
              </a:lnSpc>
            </a:pPr>
            <a:r>
              <a:rPr sz="1250" b="1">
                <a:solidFill>
                  <a:srgbClr val="556175"/>
                </a:solidFill>
                <a:latin typeface="맑은 고딕"/>
                <a:ea typeface="맑은 고딕"/>
                <a:cs typeface="맑은 고딕"/>
              </a:rPr>
              <a:t>vs 긴급 아님</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새 시나리오가 모두 통과했다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기존 시나리오의 회귀 결과</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새 기능 확인</a:t>
            </a:r>
          </a:p>
          <a:p>
            <a:pPr algn="l" eaLnBrk="0">
              <a:lnSpc>
                <a:spcPct val="110000"/>
              </a:lnSpc>
            </a:pPr>
            <a:r>
              <a:rPr sz="1250" b="1">
                <a:solidFill>
                  <a:srgbClr val="1A6FC4"/>
                </a:solidFill>
                <a:latin typeface="맑은 고딕"/>
                <a:ea typeface="맑은 고딕"/>
                <a:cs typeface="맑은 고딕"/>
              </a:rPr>
              <a:t>vs 기존 기능 확인</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회차의 사람의 결정, 명세, 행동 검증에서 쓰는 용어를 정식 명칭과 한 줄 뜻으로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Human-in-the-Loop</a:t>
            </a:r>
          </a:p>
          <a:p>
            <a:pPr algn="l" eaLnBrk="0">
              <a:lnSpc>
                <a:spcPct val="110000"/>
              </a:lnSpc>
            </a:pPr>
            <a:r>
              <a:rPr sz="1250" b="0">
                <a:solidFill>
                  <a:srgbClr val="1F2A3A"/>
                </a:solidFill>
                <a:latin typeface="맑은 고딕"/>
                <a:ea typeface="맑은 고딕"/>
                <a:cs typeface="맑은 고딕"/>
              </a:rPr>
              <a:t>자동 처리의 정해진 지점에 사람의 확인과 결정을 넣는 방식</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감사 기록</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Audit Trail</a:t>
            </a:r>
          </a:p>
          <a:p>
            <a:pPr algn="l" eaLnBrk="0">
              <a:lnSpc>
                <a:spcPct val="110000"/>
              </a:lnSpc>
            </a:pPr>
            <a:r>
              <a:rPr sz="1250" b="0">
                <a:solidFill>
                  <a:srgbClr val="1F2A3A"/>
                </a:solidFill>
                <a:latin typeface="맑은 고딕"/>
                <a:ea typeface="맑은 고딕"/>
                <a:cs typeface="맑은 고딕"/>
              </a:rPr>
              <a:t>누가 언제 무엇을 결정했는지 나중에 되짚도록 남기는 기록</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가드레일</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Guardrail</a:t>
            </a:r>
          </a:p>
          <a:p>
            <a:pPr algn="l" eaLnBrk="0">
              <a:lnSpc>
                <a:spcPct val="110000"/>
              </a:lnSpc>
            </a:pPr>
            <a:r>
              <a:rPr sz="1250" b="0">
                <a:solidFill>
                  <a:srgbClr val="1F2A3A"/>
                </a:solidFill>
                <a:latin typeface="맑은 고딕"/>
                <a:ea typeface="맑은 고딕"/>
                <a:cs typeface="맑은 고딕"/>
              </a:rPr>
              <a:t>입력 · 출력 · 행동이 정한 경계를 지키는지 확인하는 장치</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바이브 코딩</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Vibe Coding</a:t>
            </a:r>
          </a:p>
          <a:p>
            <a:pPr algn="l" eaLnBrk="0">
              <a:lnSpc>
                <a:spcPct val="110000"/>
              </a:lnSpc>
            </a:pPr>
            <a:r>
              <a:rPr sz="1250" b="0">
                <a:solidFill>
                  <a:srgbClr val="1F2A3A"/>
                </a:solidFill>
                <a:latin typeface="맑은 고딕"/>
                <a:ea typeface="맑은 고딕"/>
                <a:cs typeface="맑은 고딕"/>
              </a:rPr>
              <a:t>자연어 요청과 실행 결과를 중심으로 AI가 만든 코드를 고쳐 가는 방식</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SDD · 명세</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Spec-Driven Development · Specification</a:t>
            </a:r>
          </a:p>
          <a:p>
            <a:pPr algn="l" eaLnBrk="0">
              <a:lnSpc>
                <a:spcPct val="110000"/>
              </a:lnSpc>
            </a:pPr>
            <a:r>
              <a:rPr sz="1250" b="0">
                <a:solidFill>
                  <a:srgbClr val="1F2A3A"/>
                </a:solidFill>
                <a:latin typeface="맑은 고딕"/>
                <a:ea typeface="맑은 고딕"/>
                <a:cs typeface="맑은 고딕"/>
              </a:rPr>
              <a:t>구현 전에 요구 · 계약 · 금지 조건 · 수용 기준을 명세로 정하고 그 기준으로 구현하고 확인하는 방식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계약 · 수용 기준</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Contract · Acceptance Criteria</a:t>
            </a:r>
          </a:p>
          <a:p>
            <a:pPr algn="l" eaLnBrk="0">
              <a:lnSpc>
                <a:spcPct val="110000"/>
              </a:lnSpc>
            </a:pPr>
            <a:r>
              <a:rPr sz="1250" b="0">
                <a:solidFill>
                  <a:srgbClr val="1F2A3A"/>
                </a:solidFill>
                <a:latin typeface="맑은 고딕"/>
                <a:ea typeface="맑은 고딕"/>
                <a:cs typeface="맑은 고딕"/>
              </a:rPr>
              <a:t>주고받는 항목 · 형식 · 뜻의 약속과, 다 되었는지를 참 · 거짓으로 가르는 조건</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BDD</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Behavior-Driven Development</a:t>
            </a:r>
          </a:p>
          <a:p>
            <a:pPr algn="l" eaLnBrk="0">
              <a:lnSpc>
                <a:spcPct val="110000"/>
              </a:lnSpc>
            </a:pPr>
            <a:r>
              <a:rPr sz="1250" b="0">
                <a:solidFill>
                  <a:srgbClr val="1F2A3A"/>
                </a:solidFill>
                <a:latin typeface="맑은 고딕"/>
                <a:ea typeface="맑은 고딕"/>
                <a:cs typeface="맑은 고딕"/>
              </a:rPr>
              <a:t>기대 행동을 Given · When · Then 시나리오로 적고 실행으로 확인하는 방식</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경계값 분석</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Boundary Value Analysis</a:t>
            </a:r>
          </a:p>
          <a:p>
            <a:pPr algn="l" eaLnBrk="0">
              <a:lnSpc>
                <a:spcPct val="110000"/>
              </a:lnSpc>
            </a:pPr>
            <a:r>
              <a:rPr sz="1250" b="0">
                <a:solidFill>
                  <a:srgbClr val="1F2A3A"/>
                </a:solidFill>
                <a:latin typeface="맑은 고딕"/>
                <a:ea typeface="맑은 고딕"/>
                <a:cs typeface="맑은 고딕"/>
              </a:rPr>
              <a:t>판정이 갈리는 기준값의 바로 아래 · 같은 값 · 바로 위를 입력으로 고르는 방법</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회귀 시험</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Regression Test</a:t>
            </a:r>
          </a:p>
          <a:p>
            <a:pPr algn="l" eaLnBrk="0">
              <a:lnSpc>
                <a:spcPct val="110000"/>
              </a:lnSpc>
            </a:pPr>
            <a:r>
              <a:rPr sz="1250" b="0">
                <a:solidFill>
                  <a:srgbClr val="1F2A3A"/>
                </a:solidFill>
                <a:latin typeface="맑은 고딕"/>
                <a:ea typeface="맑은 고딕"/>
                <a:cs typeface="맑은 고딕"/>
              </a:rPr>
              <a:t>바꾼 뒤 기존 시나리오를 다시 실행해 행동이 그대로인지 확인하는 시험</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null로 나온 긴급 확인 표시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경보 요청의 유온 평균은 60.8 ℃였지만, 구간 안 값의 공백이 수집 한도를 넘어 urgent가 null로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결과의 해석과 처리로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긴급이 아니라는 뜻이니 일반 요청과 같이 처리한다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평균이 60 ℃를 넘었으니 true로 고쳐 저장한다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미판정으로 두고 보류 사유를 남겨 값을 다시 확인하게 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판정할 수 없으니 요청을 거절로 닫는다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긴급 표시와 검토 의견이 붙은 점검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점검 결과에 urgent true가 붙었고, 추천안은 가드레일을 통과했으며, 검토 에이전트도 근거에 빠진 것이 없다고 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팬 최대 운전을 실행해도 된다는 근거는?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urgent true가 붙었다는 사실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역할 담당자의 승인 기록과 승인 순간의 재확인</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검토 에이전트가 낸 문제없다는 의견</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가드레일 통과와 검토 의견이 모두 갖추어졌다는 사실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거절 뒤에 생긴 작업지시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조건을 넣은 뒤 새 시나리오는 모두 통과했지만, 기존 거절 시나리오에서 거절 뒤 작업지시가 1건 생겼다.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맞는 조치는?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거절 시나리오의 기대값을 작업지시 1건으로 고친다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거절은 이번 변경과 상관없으니 시험 목록에서 뺀다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새 기능이 모두 통과했으니 변경을 내보낸다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기대값은 그대로 두고 바뀐 구현에서 원인을 찾아 고친 뒤 전체를 다시 실행한다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미판정과 긴급 아님, 표시 · 검토와 승인, 새 기능의 통과와 기존 기능의 회귀를 가르는지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null은 판단할 값이 없다는 기록이다. 긴급 아님도 긴급도 아니어서, 사유를 남기고 값을 다시 확인한다.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긴급 표시 · 가드레일 · AI 검토는 올려도 되는지까지다. 실행 허락은 승인 기록이고 승인 순간 조건도 다시 본다.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기대값은 명세에서 온다. 거절하면 후속 업무가 없다는 약속은 그대로라, 구현을 고치고 전체를 다시 실행한다.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