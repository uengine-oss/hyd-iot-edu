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과정의 줄기: 설비 데이터를 지식으로 정리 → AI 판단 → 사람 승인 → 실제 조치</a:t>
            </a:r>
          </a:p>
          <a:p>
            <a:r>
              <a:t>· 여는 장면: 기름 온도가 조금씩 오른다. 운전 화면은 지금 몇 도인지만 알려 준다</a:t>
            </a:r>
          </a:p>
          <a:p>
            <a:r>
              <a:t>· 운전하는 사람이 알아야 할 것은 그다음: 왜 뜨거워졌나, 계속 돌려도 되나, 무엇부터 하나</a:t>
            </a:r>
          </a:p>
          <a:p>
            <a:r>
              <a:t>· 이 회차: 그 판단이 어떻게 이뤄지는지 설명 → 시스템을 실행해 경보부터 조치까지 확인</a:t>
            </a:r>
          </a:p>
          <a:p>
            <a:r>
              <a:t>· 온톨로지 = 증상 · 원인 · 조치 사이의 관계를 정해 둔 지식. 왜 필요한지 차례로 본다</a:t>
            </a:r>
          </a:p>
          <a:p>
            <a:r>
              <a:t>[다음] 이 회차에서 할 수 있게 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장을 왼쪽부터 → 넷째 카드(온톨로지) 강조</a:t>
            </a:r>
          </a:p>
          <a:p>
            <a:r>
              <a:t>· 1 지식 자산화: 이해한 것을 내 말로 기록하고 다시 찾아 쓰는 법</a:t>
            </a:r>
          </a:p>
          <a:p>
            <a:r>
              <a:t>· 2 구조: 데이터가 올라가는 길과 명령이 설비로 내려가는 길, 각 부분의 역할</a:t>
            </a:r>
          </a:p>
          <a:p>
            <a:r>
              <a:t>· 3 실행: 설비 이상 한 건을 처리하며 경보 → 조치 과정을 포털(웹 페이지)에서 확인</a:t>
            </a:r>
          </a:p>
          <a:p>
            <a:r>
              <a:t>· 4 온톨로지: 원인을 가리고 조치를 고를 때 왜 필요한가, 증상 · 원인 · 조치 관계를 직접 그림</a:t>
            </a:r>
          </a:p>
          <a:p>
            <a:r>
              <a:t>· 처음 보는 이름은 그때그때 푼다. 역할과 연결에 집중</a:t>
            </a:r>
          </a:p>
          <a:p>
            <a:r>
              <a:t>[다음] 이 목표를 어떤 순서로 다루는지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줄을 위에서 아래로, 오른쪽 이론 · 실습 표시</a:t>
            </a:r>
          </a:p>
          <a:p>
            <a:r>
              <a:t>· 01 기록하는 법 → 학습노트 만들기(실습)</a:t>
            </a:r>
          </a:p>
          <a:p>
            <a:r>
              <a:t>· 02 시스템 구조와 데이터 흐름 → 직접 실행해 동작 확인(실습)</a:t>
            </a:r>
          </a:p>
          <a:p>
            <a:r>
              <a:t>· 03 · 04 후반: 시스템이 어떤 근거로 원인을 판단하고 조치를 골랐나</a:t>
            </a:r>
          </a:p>
          <a:p>
            <a:r>
              <a:t>· 05 온톨로지가 하는 일 → 마지막 실습에서 관계를 직접 그림</a:t>
            </a:r>
          </a:p>
          <a:p>
            <a:r>
              <a:t>· 출발점은 배운 것을 나중에도 설명하고 다시 쓰게 기록하는 법</a:t>
            </a:r>
          </a:p>
          <a:p>
            <a:r>
              <a:t>[다음] 첫 단원, 지식 자산화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들을 땐 이해됐는데 혼자 설명하면 말이 안 나온다. 자료를 덮으면 막힌다</a:t>
            </a:r>
          </a:p>
          <a:p>
            <a:r>
              <a:t>· 남길 기록은 그때 도움이 돼야 한다: 모아 두기에서 그치지 않고 설명하고 다시 쓸 수 있게 정리</a:t>
            </a:r>
          </a:p>
          <a:p>
            <a:r>
              <a:t>· 지식 자산화 = 지식을 언제든 꺼내 쓰는 재산으로 만드는 것</a:t>
            </a:r>
          </a:p>
          <a:p>
            <a:r>
              <a:t>[다음] 정리는 AI에게 맡기면 되지 않을까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「AI에게 넘겨 만든 자료」 → 오른쪽 강조 「백지에 내 말로 쓴 기록」</a:t>
            </a:r>
          </a:p>
          <a:p>
            <a:r>
              <a:t>· 잘 정리된 문서 ≠ 내가 이해한 것</a:t>
            </a:r>
          </a:p>
          <a:p>
            <a:r>
              <a:t>· 술술 읽히면 이미 아는 것처럼 느낀다(착각). 덮고 설명하려면 막힌다</a:t>
            </a:r>
          </a:p>
          <a:p>
            <a:r>
              <a:t>· 읽으며 알아보기와 스스로 설명하기는 다르다</a:t>
            </a:r>
          </a:p>
          <a:p>
            <a:r>
              <a:t>· 권하는 순서: 자료를 덮고 자유 형식으로 써 본다 → 끊기는 곳이 더 공부할 곳</a:t>
            </a:r>
          </a:p>
          <a:p>
            <a:r>
              <a:t>· 써 보기는 기억에서 꺼내는 연습. AI 정리본은 내 글과 비교해 빠진 곳 · 잘못 이해한 곳을 찾는 참고로</a:t>
            </a:r>
          </a:p>
          <a:p>
            <a:r>
              <a:t>[다음] 처음부터 완벽하게 쓰려 하면?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틀린 곳 → 횡설수설한 곳 → 강조한 막힌 곳</a:t>
            </a:r>
          </a:p>
          <a:p>
            <a:r>
              <a:t>· 먼저 기억나는 것을 넓게 적는다(타이핑 · 말로 하고 받아 적기 모두 가능)</a:t>
            </a:r>
          </a:p>
          <a:p>
            <a:r>
              <a:t>· 틀린 곳: 막힘없이 써져도 틀릴 수 있다 → 강의 자료 · 출처와 비교해 먼저 바로잡는다</a:t>
            </a:r>
          </a:p>
          <a:p>
            <a:r>
              <a:t>· 횡설수설한 곳: 무엇이 어떻게 된다는지 짧게 다시 말한다. 주어가 안 잡히면 대상부터</a:t>
            </a:r>
          </a:p>
          <a:p>
            <a:r>
              <a:t>· 막힌 곳: 현상은 썼는데 까닭을 못 쓴 자리 = 더 공부할 곳</a:t>
            </a:r>
          </a:p>
          <a:p>
            <a:r>
              <a:t>· 순서: 너비(틀림 · 흐림) 먼저 → 전체가 맞으면 막힌 곳을 하나씩 깊이. AI 검토 결과도 출처로 확인</a:t>
            </a:r>
          </a:p>
          <a:p>
            <a:r>
              <a:t>[다음] 끝까지 이해되지 않는 용어는 어떻게 파나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마지막 강조 칸 「올라온다」</a:t>
            </a:r>
          </a:p>
          <a:p>
            <a:r>
              <a:t>· 문제: 뜻을 찾았더니 설명 안에 또 모르는 말. 처음 정의만 외우면 이해가 나아가지 않는다</a:t>
            </a:r>
          </a:p>
          <a:p>
            <a:r>
              <a:t>· 내려가기: 낯선 말부터 다시 묻는다. 어려우면 아는 말로 풀어 달라고 한다</a:t>
            </a:r>
          </a:p>
          <a:p>
            <a:r>
              <a:t>· 올라오기: 아래에서 이해한 말로 바로 위 설명을 풀고 → 처음 막힌 용어까지</a:t>
            </a:r>
          </a:p>
          <a:p>
            <a:r>
              <a:t>· 목적은 답변 모으기가 아니라 처음 말을 스스로 설명하기</a:t>
            </a:r>
          </a:p>
          <a:p>
            <a:r>
              <a:t>· 곁가지 질문은 따로 적어 두고 원래 용어로 돌아와 남은 빈틈 확인</a:t>
            </a:r>
          </a:p>
          <a:p>
            <a:r>
              <a:t>[다음] 이해했는지 확인하는 또 하나의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「정의를 그대로 외운다」 → 오른쪽 강조 「내 말로 옮겨 쌓는다」</a:t>
            </a:r>
          </a:p>
          <a:p>
            <a:r>
              <a:t>· 남에게 알려 준다는 생각으로 풀어 쓴다. 정식 용어는 정확히, 나머지 표현은 원문과 달라도 된다</a:t>
            </a:r>
          </a:p>
          <a:p>
            <a:r>
              <a:t>· 외운 경우: 다른 말로 물으면 외운 문장부터 꺼낸다</a:t>
            </a:r>
          </a:p>
          <a:p>
            <a:r>
              <a:t>· 풀어 쓴 경우: 원리를 알기에 표현이 달라도 자기 말로 답한다</a:t>
            </a:r>
          </a:p>
          <a:p>
            <a:r>
              <a:t>· 풀어 쓴 뒤 원래 정의와 비교: 원문에 없는 「항상 · 모든」을 붙이면 뜻이 바뀐다. 어떤 조건에서 맞는 말인지 지킨다</a:t>
            </a:r>
          </a:p>
          <a:p>
            <a:r>
              <a:t>· 덮고도 설명되면 학습노트에 남긴다 → 이렇게 쌓인 기록이 지식 자산</a:t>
            </a:r>
          </a:p>
          <a:p>
            <a:r>
              <a:t>[다음] 실습 기록까지 다시 찾아 쓰려면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위에서부터 → 오른쪽 「다시 쓰는 때」 열 → 강조한 넷째 줄</a:t>
            </a:r>
          </a:p>
          <a:p>
            <a:r>
              <a:t>· 「완료」만 적으면 나중에 무엇을 왜 바꿨는지 기억나지 않는다</a:t>
            </a:r>
          </a:p>
          <a:p>
            <a:r>
              <a:t>· 개념과 원리: 무엇을 이해했는지, 왜 그런지 내 말로</a:t>
            </a:r>
          </a:p>
          <a:p>
            <a:r>
              <a:t>· 참고 자료와 출처: 문서 전체보다 실제로 참고한 부분을 다시 열 수 있게 연결</a:t>
            </a:r>
          </a:p>
          <a:p>
            <a:r>
              <a:t>· 실습 과정과 결과: 한 일 · 결과 · 막힌 곳 · 해결 방법 + 쓴 개념 연결 → 실습 기록에서 개념 · 자료로 찾아간다</a:t>
            </a:r>
          </a:p>
          <a:p>
            <a:r>
              <a:t>· 검색과 보완: 분야 · 이해도로 찾고, 이해가 바뀌면 설명과 이해도 표시를 함께 고친다</a:t>
            </a:r>
          </a:p>
          <a:p>
            <a:r>
              <a:t>· 잘됐던 방법도 조건이 바뀌면 다시 판단 → 조건 · 한 일 · 고른 까닭을 남긴다</a:t>
            </a:r>
          </a:p>
          <a:p>
            <a:r>
              <a:t>[다음] 이 기록을 모아 둘 학습노트를 만든다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말한 기록(개념 · 참고 자료 · 실습 과정)을 모아 둘 노트를 Notion에 만든다</a:t>
            </a:r>
          </a:p>
          <a:p>
            <a:r>
              <a:t>· 앞 이론과의 연결: 덮고 써 보기 → 막힌 말 끝까지 찾기 → 내 말로 풀어 이 노트에 남기기</a:t>
            </a:r>
          </a:p>
          <a:p>
            <a:r>
              <a:t>· 오늘 한 번 쓰고 끝나는 노트가 아니라 과정 내내 쌓아 가는 바탕</a:t>
            </a:r>
          </a:p>
          <a:p>
            <a:r>
              <a:t>[다음] 실습에서 만들 것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물음: 기름 온도를 화면에서 보고 조치하려면 무엇이 연결돼 있어야 하나</a:t>
            </a:r>
          </a:p>
          <a:p>
            <a:r>
              <a:t>· 필요한 역할: 온도를 재는 장치, 값을 전달하고 보여 주는 곳, 이상을 알아채고 조치를 결정하는 역할</a:t>
            </a:r>
          </a:p>
          <a:p>
            <a:r>
              <a:t>· 순서: 설비에서 값이 올라오는 경로 → 승인된 명령이 설비로 돌아가는 경로</a:t>
            </a:r>
          </a:p>
          <a:p>
            <a:r>
              <a:t>· 학습노트에는 각 부분의 역할과 역할을 나눈 까닭을 남긴다</a:t>
            </a:r>
          </a:p>
          <a:p>
            <a:r>
              <a:t>[다음] 값을 읽는 쪽부터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온도를 어디서 재는지, 기름이 흐르는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이 온도 값을 읽어 제어하는 PLC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스캔 주기 → 설정값 → 강조한 인터록 → 현장 제어</a:t>
            </a:r>
          </a:p>
          <a:p>
            <a:r>
              <a:t>· 레이어 1 = 설비와 PLC가 있는 맨 아래 층. PLC는 설비 옆에서 읽고 출력을 조절</a:t>
            </a:r>
          </a:p>
          <a:p>
            <a:r>
              <a:t>· 스캔 주기: 입력 읽기 → 프로그램 실행 → 출력 쓰기를 짧은 주기로 계속 반복</a:t>
            </a:r>
          </a:p>
          <a:p>
            <a:r>
              <a:t>· 설정값 = 제어 목표(팬 속도 · 펌프 부하). 계측값(지금 얼마나 뜨거운가)과 역할이 다르다</a:t>
            </a:r>
          </a:p>
          <a:p>
            <a:r>
              <a:t>· 인터록: 위험 조건에서 다른 명령보다 우선해 안전한 상태로. 유온이 한계를 넘으면 보호 정지 = 트립</a:t>
            </a:r>
          </a:p>
          <a:p>
            <a:r>
              <a:t>· 서버를 기다리지 않는 까닭: 통신이 끊기거나 늦어도 설비는 움직인다 → 보호 판단은 현장 PLC가 끝낸다</a:t>
            </a:r>
          </a:p>
          <a:p>
            <a:r>
              <a:t>· 위에서 팬 속도 변경을 요청해도 받아도 되는지는 PLC가 다시 확인</a:t>
            </a:r>
          </a:p>
          <a:p>
            <a:r>
              <a:t>[다음] 이 설비에서 보호 정지가 걸리는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강조한 유온 → 토출 압력 → 팬 진동</a:t>
            </a:r>
          </a:p>
          <a:p>
            <a:r>
              <a:t>· 유온 TS1: 65 ℃를 넘으면 트립. 뜨거우면 점도가 떨어져(묽어져) 마모가 빨라진다</a:t>
            </a:r>
          </a:p>
          <a:p>
            <a:r>
              <a:t>· 토출 압력 PS1: 130 bar 아래로 내려가면 트립. 펌프 마모 · 내부 누설을 의심하지만 보호는 압력 조건으로만 판단</a:t>
            </a:r>
          </a:p>
          <a:p>
            <a:r>
              <a:t>· 팬 진동 VS1: 2.0 mm/s 이상이면 트립. 그대로 돌리면 팬 베어링 손상</a:t>
            </a:r>
          </a:p>
          <a:p>
            <a:r>
              <a:t>· 방향: 온도 · 진동은 높은 쪽, 압력은 낮은 쪽을 감시</a:t>
            </a:r>
          </a:p>
          <a:p>
            <a:r>
              <a:t>· 셋 중 하나라도 이르면 PLC가 보호 정지 = 원인 분석 전에 설비부터 지키는 동작</a:t>
            </a:r>
          </a:p>
          <a:p>
            <a:r>
              <a:t>[다음] 신호가 제때 들어와야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지연 → 지터 → 강조한 결정성 → 통신 보안</a:t>
            </a:r>
          </a:p>
          <a:p>
            <a:r>
              <a:t>· 평소엔 빠르다가 가끔 크게 늦으면, 보호가 꼭 필요한 순간에 판단이 늦어진다</a:t>
            </a:r>
          </a:p>
          <a:p>
            <a:r>
              <a:t>· 지연 = 보내고 도착까지 걸리는 시간. 지터 = 그 지연이 매번 달라지는 정도</a:t>
            </a:r>
          </a:p>
          <a:p>
            <a:r>
              <a:t>· 결정성 = 최악의 경우에도 정해진 시간 안에 전달되는 성질. 평균만 빨라서는 현장 제어의 시간 조건을 보장 못 한다</a:t>
            </a:r>
          </a:p>
          <a:p>
            <a:r>
              <a:t>· 제때 도착과 안전한 전달은 따로: 기밀성(허가 없이 못 읽게) · 무결성(허가 없이 못 바꾸게)</a:t>
            </a:r>
          </a:p>
          <a:p>
            <a:r>
              <a:t>· Modbus(현장 규약) 전통판에는 암호화 · 인증이 없다 → 망을 나누고 명령을 검사하는 구조가 함께 보완</a:t>
            </a:r>
          </a:p>
          <a:p>
            <a:r>
              <a:t>[다음] 이 값을 설비 밖에서도 읽게 보내려면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원시 값 → 가운데 태그 목록 → 아래 태그 메시지 → 맨 아래 운전 상태</a:t>
            </a:r>
          </a:p>
          <a:p>
            <a:r>
              <a:t>· 레이어 2 엣지 게이트웨이: 내부 이름 · 숫자를 받아 약속한 형식의 메시지로 바꾼다</a:t>
            </a:r>
          </a:p>
          <a:p>
            <a:r>
              <a:t>· 핵심은 소수점 정리가 아니라 내부 항목을 태그에 대응시켜 뜻을 약속대로 전달하는 일</a:t>
            </a:r>
          </a:p>
          <a:p>
            <a:r>
              <a:t>· 메시지: 토픽(설비 · 태그가 든 주소) + 본문(보낸 시각 t, 값 v, 품질 q, good = 정상) → 언제 값인지, 믿고 써도 되는지 확인</a:t>
            </a:r>
          </a:p>
          <a:p>
            <a:r>
              <a:t>· 운전 상태(원격 자동 · 운전 중 · 인터록 정상)는 계측값과 따로 보내 명령 검사에 쓴다</a:t>
            </a:r>
          </a:p>
          <a:p>
            <a:r>
              <a:t>· 미들웨어 = 설비와 위쪽 프로그램을 잇는 소프트웨어(예: EdgeX Foundry)</a:t>
            </a:r>
          </a:p>
          <a:p>
            <a:r>
              <a:t>· 냉각 효율 CE = 쿨러가 열을 얼마나 내보내는지, 계산한 가상 센서 값(정상 84 %). 형식은 같아도 출처가 다르다</a:t>
            </a:r>
          </a:p>
          <a:p>
            <a:r>
              <a:t>[다음] 받는 곳이 늘어날 때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점대점 → 오른쪽 강조한 브로커 중개, 각 카드 끝 줄의 결합</a:t>
            </a:r>
          </a:p>
          <a:p>
            <a:r>
              <a:t>· 메시지는 운전 화면과 수집 서비스 모두에 가야 한다</a:t>
            </a:r>
          </a:p>
          <a:p>
            <a:r>
              <a:t>· 점대점: 송신자가 수신자마다 직접 연결. 수신자를 더하면 엣지 쪽 연결도 고친다</a:t>
            </a:r>
          </a:p>
          <a:p>
            <a:r>
              <a:t>· 강한 결합 = 한쪽 변경이 다른 쪽 변경을 요구하는 관계</a:t>
            </a:r>
          </a:p>
          <a:p>
            <a:r>
              <a:t>· 브로커 = 메시지를 중개하는 서버. 엣지는 브로커에만 보내고, 새 수신자는 브로커에 구독 등록 → 송신 쪽은 고칠 것 없음</a:t>
            </a:r>
          </a:p>
          <a:p>
            <a:r>
              <a:t>· 느슨한 결합 = 송신자와 수신자의 직접 의존을 줄인 관계</a:t>
            </a:r>
          </a:p>
          <a:p>
            <a:r>
              <a:t>[다음] 브로커로 주고받는 규약, MQTT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구독자 둘 → 위 토픽 → 왼쪽 발행자(엣지) → 가운데 강조한 브로커</a:t>
            </a:r>
          </a:p>
          <a:p>
            <a:r>
              <a:t>· MQTT = 발행 · 구독으로 장치 값을 전달하는 가벼운 통신 규약</a:t>
            </a:r>
          </a:p>
          <a:p>
            <a:r>
              <a:t>· 순서: 구독자가 브로커에 받을 토픽을 등록 → 엣지가 그 토픽으로 보냄(발행) → 브로커가 구독자 각각에 전달</a:t>
            </a:r>
          </a:p>
          <a:p>
            <a:r>
              <a:t>· 토픽 = 메시지를 분류 · 전달하는 주소(그림은 유압 설비의 유온)</a:t>
            </a:r>
          </a:p>
          <a:p>
            <a:r>
              <a:t>· 방송국처럼 가운데서 나눠 주되 구독한 곳에만. 발행자는 화면이 몇 개인지 몰라도 된다(예: EMQX)</a:t>
            </a:r>
          </a:p>
          <a:p>
            <a:r>
              <a:t>· 여러 설비 메시지가 한 브로커에 와도 구독자는 토픽으로 필요한 것만 받는다</a:t>
            </a:r>
          </a:p>
          <a:p>
            <a:r>
              <a:t>[다음] 토픽 주소는 어떻게 생겼나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빗금 주소 → 아래 목록 넷(냉각 효율 줄 · 다른 설비 줄 · 운전 상태 줄)</a:t>
            </a:r>
          </a:p>
          <a:p>
            <a:r>
              <a:t>· 빗금으로 나눈 자리: 공장</a:t>
            </a:r>
          </a:p>
          <a:p>
            <a:r>
              <a:t>설비</a:t>
            </a:r>
          </a:p>
          <a:p>
            <a:r>
              <a:t>데이터 종류</a:t>
            </a:r>
          </a:p>
          <a:p>
            <a:r>
              <a:t>태그 이름</a:t>
            </a:r>
          </a:p>
          <a:p>
            <a:r>
              <a:t>· 같은 설비의 다른 값: 마지막 태그 이름만 바뀐다(유온 → 냉각 효율)</a:t>
            </a:r>
          </a:p>
          <a:p>
            <a:r>
              <a:t>· 다른 설비의 같은 값: 설비 자리만 바뀐다(설비 세 대가 hyd01 · hyd02 · hyd03)</a:t>
            </a:r>
          </a:p>
          <a:p>
            <a:r>
              <a:t>· 운전 상태 주소는 모드 · 상태를 묶은 메시지라 종류 자리에서 끝난다 → 길이는 내용에 맞춰 정한다</a:t>
            </a:r>
          </a:p>
          <a:p>
            <a:r>
              <a:t>· 이 규칙으로 구독자가 어떤 설비의 어떤 데이터를 받을지 고른다</a:t>
            </a:r>
          </a:p>
          <a:p>
            <a:r>
              <a:t>[다음] 통신 중 메시지를 놓치면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발행 · 구독 → 전달 품질 → 보존 메시지 → 강조한 HYD의 메시지별 사용</a:t>
            </a:r>
          </a:p>
          <a:p>
            <a:r>
              <a:t>· 온도는 곧 새 값이 오지만 명령을 놓치면 실행 여부를 확인해야 한다</a:t>
            </a:r>
          </a:p>
          <a:p>
            <a:r>
              <a:t>· QoS: 0 최대 한 번(놓쳐도 다시 안 보냄) · 1 최소 한 번(같은 메시지가 다시 올 수 있어 받는 쪽이 중복 구별) · 2 정확히 한 번</a:t>
            </a:r>
          </a:p>
          <a:p>
            <a:r>
              <a:t>· QoS는 전달 수준만 보장. 같은 명령이 두 번 실행되지 않게 하는 일은 실행하는 쪽이 확인</a:t>
            </a:r>
          </a:p>
          <a:p>
            <a:r>
              <a:t>· 보존 메시지 = 토픽의 마지막 한 건을 새 구독자에게. 화면을 켜면 현재 운전 상태를 바로 받음. 이력 전체 저장은 아님</a:t>
            </a:r>
          </a:p>
          <a:p>
            <a:r>
              <a:t>· HYD: 태그 값 QoS 0 · 보존 안 함(매초 새로 옴)</a:t>
            </a:r>
          </a:p>
          <a:p>
            <a:r>
              <a:t>운전 상태 QoS 1 · 보존</a:t>
            </a:r>
          </a:p>
          <a:p>
            <a:r>
              <a:t>명령 QoS 1 · 보존 안 함(재연결 때 옛 명령이 새 명령처럼 오면 곤란)</a:t>
            </a:r>
          </a:p>
          <a:p>
            <a:r>
              <a:t>· 푸시 = 브로커가 밀어 보내는 전달. 지나간 값을 분석하려면 따로 기록할 곳이 필요</a:t>
            </a:r>
          </a:p>
          <a:p>
            <a:r>
              <a:t>[다음] 기록 서버는 다른 망에 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OT → 오른쪽 IT, 카드 끝 줄의 중요 가치</a:t>
            </a:r>
          </a:p>
          <a:p>
            <a:r>
              <a:t>· 과거 데이터를 기록 · 분석하는 서버는 설비와 다른 망. 외부 침해가 설비까지 번지면 안 된다</a:t>
            </a:r>
          </a:p>
          <a:p>
            <a:r>
              <a:t>· OT = 설비를 직접 감시 · 제어. 가용성(멈추지 않음)과 안전이 최우선, 잘못된 명령은 곧 사고</a:t>
            </a:r>
          </a:p>
          <a:p>
            <a:r>
              <a:t>· 보호 판단을 PLC에 두는 것도 같은 까닭: 서버와 통신이 끊겨도 보호는 계속</a:t>
            </a:r>
          </a:p>
          <a:p>
            <a:r>
              <a:t>· IT = 업무 데이터. 사무망 · 인터넷과 연결돼 침해에 노출 → 기밀성 · 무결성 중시</a:t>
            </a:r>
          </a:p>
          <a:p>
            <a:r>
              <a:t>· 그래서 망 분리로 OT와 IT의 직접 연결을 제한</a:t>
            </a:r>
          </a:p>
          <a:p>
            <a:r>
              <a:t>[다음] 나누더라도 데이터는 보내야 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DMZ → 수집 서비스 → 단방향 복제</a:t>
            </a:r>
          </a:p>
          <a:p>
            <a:r>
              <a:t>· DMZ = OT와 IT 사이 완충 구역. 허용한 연결만 받는다. 수집 서비스와 명령 관문이 여기 놓인다</a:t>
            </a:r>
          </a:p>
          <a:p>
            <a:r>
              <a:t>· 수집 서비스: OT 브로커를 구독 → 받은 메시지를 IT 이벤트 로그(메시지를 한 건씩 쌓는 장부)로 옮긴다</a:t>
            </a:r>
          </a:p>
          <a:p>
            <a:r>
              <a:t>· 단방향 복제 = 한 방향으로만 복사. 수집 서비스는 OT로 아무것도 발행하지 않는다</a:t>
            </a:r>
          </a:p>
          <a:p>
            <a:r>
              <a:t>· IT에서 설비로 가는 자동 명령은 이 길이 아니라 별도 관문에서 검사</a:t>
            </a:r>
          </a:p>
          <a:p>
            <a:r>
              <a:t>· 경로 분리 · 방향 고정 · 명령 검사가 전통 규약의 부족한 보호를 메운다</a:t>
            </a:r>
          </a:p>
          <a:p>
            <a:r>
              <a:t>[다음] 이벤트 로그에 남은 기록의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브로커 메시지 → 아래 수집 레코드, 설비 · 태그 이름이 옮겨 간 자리 → 키</a:t>
            </a:r>
          </a:p>
          <a:p>
            <a:r>
              <a:t>· 값은 그대로, 설비 · 태그 이름의 위치만 바뀌었다</a:t>
            </a:r>
          </a:p>
          <a:p>
            <a:r>
              <a:t>· 위: 설비 · 태그는 토픽 주소에, 본문(페이로드)에는 시각 · 값 · 품질</a:t>
            </a:r>
          </a:p>
          <a:p>
            <a:r>
              <a:t>· 아래 레코드(기록 한 건): 주소의 설비 · 태그 이름을 본문 안에 넣어 이 기록만 읽어도 출처를 안다</a:t>
            </a:r>
          </a:p>
          <a:p>
            <a:r>
              <a:t>· 키 = 기록을 어느 파티션(로그 구획)으로 보낼지 정하는 값. 같은 설비를 같은 구획에 모아 순서대로 읽게</a:t>
            </a:r>
          </a:p>
          <a:p>
            <a:r>
              <a:t>· 레이어 3 이벤트 백본 = 여러 서비스가 함께 읽는 중심 경로. 감지 서비스는 판정, 저장 서비스는 이력. 처리 속도가 같을 필요는 없다</a:t>
            </a:r>
          </a:p>
          <a:p>
            <a:r>
              <a:t>[다음] 저장 서비스가 잠시 멈추면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추가 전용 로그 → 생산자 · 소비자 → 강조한 오프셋 → 파티션</a:t>
            </a:r>
          </a:p>
          <a:p>
            <a:r>
              <a:t>· 상황: 저장이 멈춰도 감지는 계속, 저장은 돌아와 읽던 곳부터 → 서비스마다 읽은 위치를 따로 관리해서 가능</a:t>
            </a:r>
          </a:p>
          <a:p>
            <a:r>
              <a:t>· 추가 전용 로그: 새 레코드를 뒤에 덧붙인다. 읽어도 기록은 사라지지 않는다</a:t>
            </a:r>
          </a:p>
          <a:p>
            <a:r>
              <a:t>· 생산자(쓰는 쪽) = 수집 서비스, 소비자(읽는 쪽) = 감지 · 저장 서비스 각각</a:t>
            </a:r>
          </a:p>
          <a:p>
            <a:r>
              <a:t>· 오프셋 = 파티션 안의 레코드 위치. 소비자마다 자기 위치에서 이어 읽는다</a:t>
            </a:r>
          </a:p>
          <a:p>
            <a:r>
              <a:t>· 순서는 파티션 안에서만 보장(같은 설비 키를 쓰는 까닭). 여러 파티션 전체에 한 순서가 생기진 않는다</a:t>
            </a:r>
          </a:p>
          <a:p>
            <a:r>
              <a:t>· 태그 원본 로그 보존 1일. 지워졌거나 처음부터 도착하지 않은 메시지는 위치를 돌려도 못 얻는다(예: Kafka)</a:t>
            </a:r>
          </a:p>
          <a:p>
            <a:r>
              <a:t>[다음] 감지 서비스가 이상을 알아채는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배치 처리 → 오른쪽 강조한 스트림 처리</a:t>
            </a:r>
          </a:p>
          <a:p>
            <a:r>
              <a:t>· 배치 처리 = 모아 두었다가 묶어서 처리. 주기적 조회면 다음 처리 시점까지 기다려 발생과 발견 사이 지연</a:t>
            </a:r>
          </a:p>
          <a:p>
            <a:r>
              <a:t>· 스트림 처리 = 기록되는 대로 하나씩 받아 그 자리에서 조건과 비교. 레이어 4 감지 서비스의 방식</a:t>
            </a:r>
          </a:p>
          <a:p>
            <a:r>
              <a:t>· 까닭: 유온이 오르는 동안에도 설비는 움직인다. 늦게 발견할수록 원인 확인 · 대응 여유가 준다</a:t>
            </a:r>
          </a:p>
          <a:p>
            <a:r>
              <a:t>· 이 역할의 엔진 예: Flink</a:t>
            </a:r>
          </a:p>
          <a:p>
            <a:r>
              <a:t>[다음] 감지 서비스는 무엇을 이상으로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조건 세 가지 → 그래프의 가로선(55 ℃)을 넘는 지점 → 파란 구간 → 두 세로 점선</a:t>
            </a:r>
          </a:p>
          <a:p>
            <a:r>
              <a:t>· 유온이 높다는 것 하나로 쿨러 문제라 단정하지 않는다. 열을 얼마나 내보내는지, 계속 오르는지도 본다</a:t>
            </a:r>
          </a:p>
          <a:p>
            <a:r>
              <a:t>· 발생 조건: 유온 &gt; 55 ℃ 이고 냉각 효율 &lt; 70 % 이고 유온 기울기 &gt; 0(오르는 중) → 쿨러 성능 저하 경보</a:t>
            </a:r>
          </a:p>
          <a:p>
            <a:r>
              <a:t>· 복합 이벤트 처리(CEP) = 여러 값의 조합 · 추세 · 지속 시간을 함께 본다. 한 값이 선을 넘었는지만 보는 것과 다르다</a:t>
            </a:r>
          </a:p>
          <a:p>
            <a:r>
              <a:t>· 유지 시간 = 조건이 계속 성립해야 하는 시간. 선을 넘은 순간에 바로 울리지 않는다</a:t>
            </a:r>
          </a:p>
          <a:p>
            <a:r>
              <a:t>· 기록: 11:13:04에 55 ℃를 넘었고 4.0초 뒤 11:13:08 경보(유온 55.71 ℃)</a:t>
            </a:r>
          </a:p>
          <a:p>
            <a:r>
              <a:t>· 까닭: 잠깐 튀었다 돌아온 값에 경보를 내면 헛경보가 는다</a:t>
            </a:r>
          </a:p>
          <a:p>
            <a:r>
              <a:t>[다음] 기준 바로 아래로 내려오면 바로 꺼도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발생 → 해제 → 강조한 히스테리시스 → 데이터 품질</a:t>
            </a:r>
          </a:p>
          <a:p>
            <a:r>
              <a:t>· 경계 근처에서 오르내리면 경보가 켜졌다 꺼졌다 반복될 수 있다</a:t>
            </a:r>
          </a:p>
          <a:p>
            <a:r>
              <a:t>· 발생: 앞의 복합 조건이 유지 시간 동안</a:t>
            </a:r>
          </a:p>
          <a:p>
            <a:r>
              <a:t>해제: 유온 &lt; 52 ℃ 이고 기울기 ≤ 0(더 오르지 않음), 해제도 유지 시간 동안</a:t>
            </a:r>
          </a:p>
          <a:p>
            <a:r>
              <a:t>· 히스테리시스 = 발생 55 ℃ · 해제 52 ℃처럼 기준에 간격을 두어 상태가 자꾸 바뀌는 것을 줄인다</a:t>
            </a:r>
          </a:p>
          <a:p>
            <a:r>
              <a:t>· 품질이 나쁘거나 값이 빠지면 진행 중인 유지 시간을 처음부터 다시 센다</a:t>
            </a:r>
          </a:p>
          <a:p>
            <a:r>
              <a:t>· 데이터가 없다는 이유만으로 이미 난 경보를 해제하지 않는다. 회복 확인 ≠ 관측 못 함</a:t>
            </a:r>
          </a:p>
          <a:p>
            <a:r>
              <a:t>[다음] 경보 한 건은 어떤 기록으로 남나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경보 번호 → 강조한 패턴 → 맨 아래 근거 값 → 나머지 칸</a:t>
            </a:r>
          </a:p>
          <a:p>
            <a:r>
              <a:t>· 이상 이벤트 = 이상 조건의 발생 · 해제를 기록한 것</a:t>
            </a:r>
          </a:p>
          <a:p>
            <a:r>
              <a:t>· 볼 셋: 어느 경보인지(번호 = 다른 경보와 구별 · 연결용 식별자, 외울 필요 없음), 무슨 일인지, 무엇을 근거로 알렸는지</a:t>
            </a:r>
          </a:p>
          <a:p>
            <a:r>
              <a:t>· 패턴 쿨러 성능 저하 = 복합 조건이 성립했다는 뜻. 원인이 핀 오염으로 밝혀졌다는 뜻이 아니다</a:t>
            </a:r>
          </a:p>
          <a:p>
            <a:r>
              <a:t>· 근거 값: 경보 당시 유온 55.71 · 냉각 효율 46.2. 현재 값 대신 판정에 쓴 값을 붙여 둔다</a:t>
            </a:r>
          </a:p>
          <a:p>
            <a:r>
              <a:t>· 까닭: 나중에 식었으면 왜 냈는지 납득이 어렵고, 더 뜨거워졌으면 당시도 그만큼 위험했다고 착각 → 현재 상태 값과 과거 판정 설명 값은 역할이 다르다</a:t>
            </a:r>
          </a:p>
          <a:p>
            <a:r>
              <a:t>· 그 밖: 설비, 심각도, 발생 상태, 시각</a:t>
            </a:r>
          </a:p>
          <a:p>
            <a:r>
              <a:t>[다음] 경보 전후의 값은 어디서 찾나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열 넷 → 가운데 강조한 55.71 행 → 맨 위 · 맨 아래 유온 행</a:t>
            </a:r>
          </a:p>
          <a:p>
            <a:r>
              <a:t>· 갑자기 오른 건지 계속 오른 건지 알려면 전후 값이 필요 → 레이어 5 시계열 저장소</a:t>
            </a:r>
          </a:p>
          <a:p>
            <a:r>
              <a:t>· 시계열 데이터베이스 = 시각 기준으로 쌓고 시간 범위로 조회(예: TimescaleDB)</a:t>
            </a:r>
          </a:p>
          <a:p>
            <a:r>
              <a:t>· 한 행 = 시각 · 설비 · 태그 이름 · 값. 센서가 늘어도 열이 아니라 행이 는다</a:t>
            </a:r>
          </a:p>
          <a:p>
            <a:r>
              <a:t>· 시각 · 설비 · 태그가 함께 있어야 하는 까닭: 원인 판단용 진동 평균에 다른 설비 값이 섞이면 계산이 맞아도 근거가 못 된다</a:t>
            </a:r>
          </a:p>
          <a:p>
            <a:r>
              <a:t>· 이벤트 로그(읽던 위치에서 이어 읽기 · 재처리)와 질문 방식이 다르다: 어느 설비 · 어느 구간을 정해 찾는다. 로그 보존이 지난 뒤에도 보존 정책 안에서 조회</a:t>
            </a:r>
          </a:p>
          <a:p>
            <a:r>
              <a:t>[다음] 이 이력을 사람이 보는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운전 화면 → 오른쪽 강조한 분석 화면, 카드 끝 줄의 역할</a:t>
            </a:r>
          </a:p>
          <a:p>
            <a:r>
              <a:t>· 레이어 6 관제의 두 화면: 지금 상태를 보고 조작하는 화면, 저장한 이력을 그래프로 보는 화면</a:t>
            </a:r>
          </a:p>
          <a:p>
            <a:r>
              <a:t>· 운전 화면 = SCADA의 HMI(사람과 기계의 접점). OT에서 브로커를 직접 구독해 실시간 값 · 알람. 운전원이 팬 속도 · 펌프 부하 설정값을 바꾼다(예: FUXA)</a:t>
            </a:r>
          </a:p>
          <a:p>
            <a:r>
              <a:t>· IT 서버가 멈춰도 운전 화면은 계속 동작</a:t>
            </a:r>
          </a:p>
          <a:p>
            <a:r>
              <a:t>· 분석 화면 = IT에서 시계열 저장소를 조회해 이력 · 추세. 읽기 전용, 설비 조작 없음. 추세선에 경보 · 조치 시점 주석(예: Grafana)</a:t>
            </a:r>
          </a:p>
          <a:p>
            <a:r>
              <a:t>· 조작 화면은 OT, 이력 화면은 IT → 앞의 망 분리 원칙이 화면에도 적용</a:t>
            </a:r>
          </a:p>
          <a:p>
            <a:r>
              <a:t>[다음] 경보 · 알람 · 인터록은 어떻게 다른가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경보 55 ℃ → 알람 60 ℃ → 인터록 65 ℃</a:t>
            </a:r>
          </a:p>
          <a:p>
            <a:r>
              <a:t>· 셋 다 같은 유온을 보지만 조건과 역할이 다르다</a:t>
            </a:r>
          </a:p>
          <a:p>
            <a:r>
              <a:t>· 경보(감지 서비스): 55 ℃ 초과 + 냉각 효율 + 상승 추세의 복합 조건 → 원인 진단 · 조치 검토를 시작</a:t>
            </a:r>
          </a:p>
          <a:p>
            <a:r>
              <a:t>· 알람(운전 화면): 유온 하나를 60 ℃와 비교해 운전원에게 알림. 임계치 = 판정을 가르는 경계값</a:t>
            </a:r>
          </a:p>
          <a:p>
            <a:r>
              <a:t>· 인터록(PLC): 65 ℃ 초과면 보호 정지(트립). 자동 복귀 없음, 유온이 55 ℃ 미만으로 내려온 뒤 사람이 리셋</a:t>
            </a:r>
          </a:p>
          <a:p>
            <a:r>
              <a:t>· 경보 · 알람은 알리고 인터록은 멈춘다. 먼저 난 경보로 조치하면 보호 정지 전에 대응할 시간을 번다</a:t>
            </a:r>
          </a:p>
          <a:p>
            <a:r>
              <a:t>[다음] 원인을 찾고 조치를 골라 승인받는 위쪽 계층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PLC까지 가는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관문과 PLC가 각각 무엇을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명령 관문 일곱 항목 → 오른쪽 강조한 PLC 재검사 다섯 단계</a:t>
            </a:r>
          </a:p>
          <a:p>
            <a:r>
              <a:t>· 관문: 스키마(필수 항목 · 형식), 허용 목록(임의 동작 불가), 만료(늦게 온 명령은 상황에 안 맞음), 중복</a:t>
            </a:r>
          </a:p>
          <a:p>
            <a:r>
              <a:t>· 관문: 승인 기록 대조(승인자 이름만 읽지 않고 기록 내용과 명령 일치), 운전 모드 원격 자동, 빈도 제한 초당 최대 2건</a:t>
            </a:r>
          </a:p>
          <a:p>
            <a:r>
              <a:t>· PLC: 모드 · 출처, 만료(PLC 시계로), 중복을 다시 본다. 관문을 지난 뒤에도 시간과 상태가 바뀌니까</a:t>
            </a:r>
          </a:p>
          <a:p>
            <a:r>
              <a:t>· PLC 범위: 팬 0~100 %, 부하 60~100 %. 트립 중에는 일반 설정 변경 거절</a:t>
            </a:r>
          </a:p>
          <a:p>
            <a:r>
              <a:t>· 중복 걸러내기: 명령은 QoS 1이라 다시 올 수 있다 → 관문은 최근 256개, PLC는 최근 32개 명령 번호와 대조. 번호를 붙였다고 끝이 아니라 받는 쪽이 대조해야 한다</a:t>
            </a:r>
          </a:p>
          <a:p>
            <a:r>
              <a:t>[다음] PLC가 받았다면 조치는 끝났나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판단에 쓴 데이터도 출처를 따라가려면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위에서 아래로 원천 데이터 → 가공 데이터 → 강조한 이상 이벤트 → 판단 결과, 다시 아래에서 위로 되짚기</a:t>
            </a:r>
          </a:p>
          <a:p>
            <a:r>
              <a:t>· 데이터 리니지 = 판단 결과에서 원래 계측값까지 되짚도록 데이터가 어디서 와서 어떻게 바뀌었는지 남긴 내력</a:t>
            </a:r>
          </a:p>
          <a:p>
            <a:r>
              <a:t>· 원천: 센서 · PLC에서 나온 유온 기록. 가공: 그 변화로 계산한 기울기(양수 = 오르는 중)</a:t>
            </a:r>
          </a:p>
          <a:p>
            <a:r>
              <a:t>· 이상 이벤트(경보) → 원인 진단 · 조치 추천 = 판단 결과</a:t>
            </a:r>
          </a:p>
          <a:p>
            <a:r>
              <a:t>· 추적성 = 결과에서 경보 · 계산값을 거쳐 원래 계측값까지 거슬러 가는 성질</a:t>
            </a:r>
          </a:p>
          <a:p>
            <a:r>
              <a:t>· 주의: 가공 레코드의 유온은 이름과 달리 순간값. 원천 표에는 품질 항목을 따로 보관하지 않는다 → 무엇이 남았는지 알아야 없는 정보를 있었다고 오해하지 않는다</a:t>
            </a:r>
          </a:p>
          <a:p>
            <a:r>
              <a:t>[다음] 서로 다른 기록을 무엇으로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길을 한 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데이터와 명령이 오가는 두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이 경로를 실제로 켜 본다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본 경로의 각 역할을 맡은 서비스를 켜고 서로 연결됐는지 확인</a:t>
            </a:r>
          </a:p>
          <a:p>
            <a:r>
              <a:t>· 도달할 상태: 포털에 접속할 수 있는 상태</a:t>
            </a:r>
          </a:p>
          <a:p>
            <a:r>
              <a:t>· 앞 이론과의 연결: 아홉 계층 · 두 경로가 실제 서비스로 돈다. 다음 실습에서 그 안의 사건 한 건을 따라간다</a:t>
            </a:r>
          </a:p>
          <a:p>
            <a:r>
              <a:t>· 도구는 지금 역할만 듣고, 설치와 실습에서 직접 쓰며 익힌다</a:t>
            </a:r>
          </a:p>
          <a:p>
            <a:r>
              <a:t>[다음] 실습에서 쓰는 도구와 확인하는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부제(관찰 → 작업지시에서 근거 찾기)</a:t>
            </a:r>
          </a:p>
          <a:p>
            <a:r>
              <a:t>· 실습의 목적: 여러 서비스가 사건 하나를 함께 처리하는 과정을 관찰</a:t>
            </a:r>
          </a:p>
          <a:p>
            <a:r>
              <a:t>· 따라갈 순서: 쿨러 이상 → 경보 → 원인 진단 · 조치 추천 → 담당자 승인 → 명령과 PLC 응답 → 유온 하강 확인</a:t>
            </a:r>
          </a:p>
          <a:p>
            <a:r>
              <a:t>· 유온이 내려가도 핀 오염은 남는다 → 세척 작업지시는 따로 확인</a:t>
            </a:r>
          </a:p>
          <a:p>
            <a:r>
              <a:t>· 앞 이론과의 연결: 식별자로 이은 기록과 데이터 리니지를 실제 기록에서 거꾸로 찾아간다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실습에서 본 것: 팬 명령과 핀 세척 작업지시가 같은 판단 기록으로 이어졌다. 둘 다 핀 오염 진단에서 나온 조치</a:t>
            </a:r>
          </a:p>
          <a:p>
            <a:r>
              <a:t>· 그런데 경보가 알려 준 것은 유온과 냉각 효율에 이상이 있다는 사실뿐</a:t>
            </a:r>
          </a:p>
          <a:p>
            <a:r>
              <a:t>· 물음 둘: 어떻게 핀 오염을 알아냈나, 왜 세척보다 팬 운전을 먼저 골랐나</a:t>
            </a:r>
          </a:p>
          <a:p>
            <a:r>
              <a:t>· 이 단원: 원인과 조치를 정하는 데 어떤 지식이 필요했는지</a:t>
            </a:r>
          </a:p>
          <a:p>
            <a:r>
              <a:t>[다음] 사건 기록을 시간 순서로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교재에 보관한 사건 기록이다. 단계는 실습과 비교하되 시각 · 수치는 이 기록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값에서 판단까지 무엇이 더 필요한가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쿨러에서는 어떤 정보를 함께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원인을 꼭 가려야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장의 끝 줄(원인) → 위 줄(조치)</a:t>
            </a:r>
          </a:p>
          <a:p>
            <a:r>
              <a:t>· 핀 오염 → 쿨러 핀 세척(막힘이 풀려 냉각 효율 회복)</a:t>
            </a:r>
          </a:p>
          <a:p>
            <a:r>
              <a:t>· 팬 구동 불량 → 팬 벨트 점검(제 속도로 돌아야 바람 충분)</a:t>
            </a:r>
          </a:p>
          <a:p>
            <a:r>
              <a:t>· 주변 온도 상승 → 캐비닛 환기 보강(들어가는 공기 온도를 낮춤)</a:t>
            </a:r>
          </a:p>
          <a:p>
            <a:r>
              <a:t>· 모두 냉각과 관계있지만 같은 작업이 아니다: 핀이 막혔는데 벨트만 보거나 환기만 보강하면 오염은 그대로</a:t>
            </a:r>
          </a:p>
          <a:p>
            <a:r>
              <a:t>· 온도가 올랐다는 이유만으로 작업을 고를 수 없다 → 무엇이 잘못됐는지 알아야 맞는 조치</a:t>
            </a:r>
          </a:p>
          <a:p>
            <a:r>
              <a:t>[다음] 원인을 알았는데 왜 세척부터 하지 않았나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시연에서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원인을 몰라도 일단 팬을 최대로 돌리면?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핀이 막힌 설비 → 오른쪽 강조한 팬 베어링이 닳은 설비, 둘의 끝 줄 결과</a:t>
            </a:r>
          </a:p>
          <a:p>
            <a:r>
              <a:t>· 같은 명령(팬 100 %)이 원인에 따라 결과가 갈린다</a:t>
            </a:r>
          </a:p>
          <a:p>
            <a:r>
              <a:t>· 핀 오염 설비: 바람이 늘어 유온 61.4 → 51.5 ℃, 경보 해제</a:t>
            </a:r>
          </a:p>
          <a:p>
            <a:r>
              <a:t>· 베어링이 닳은 설비: 속도를 올릴수록 마모 진동이 커져 팬 진동 약 2.8 mm/s → 진동 인터록 2.0 mm/s에 걸려 PLC가 설비를 멈춘다</a:t>
            </a:r>
          </a:p>
          <a:p>
            <a:r>
              <a:t>· 냉각에 도움 되는 동작도 다른 위험을 키울 수 있다</a:t>
            </a:r>
          </a:p>
          <a:p>
            <a:r>
              <a:t>· 역할 구분: 원인 판단은 맞는 조치를 고르는 데, PLC 보호는 실행 중 위험 조건에 이르면 멈추는 데. 보호가 있어도 처음부터 위험한 조치를 고르지 않는 것이 중요</a:t>
            </a:r>
          </a:p>
          <a:p>
            <a:r>
              <a:t>· 「유온이 오르면 팬 최대」 한 줄 규칙으로는 부족</a:t>
            </a:r>
          </a:p>
          <a:p>
            <a:r>
              <a:t>[다음] 이 판단에 필요한 정보는 어디에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팬을 더 돌려도 되는지 판단하려면 팬 상태를 보여 주는 값 + 그 값을 해석할 기준이 함께 필요</a:t>
            </a:r>
          </a:p>
          <a:p>
            <a:r>
              <a:t>· 그런데 계측값은 저장소에, 판별 기준은 매뉴얼에 따로 있다</a:t>
            </a:r>
          </a:p>
          <a:p>
            <a:r>
              <a:t>· 물음: 시스템이 이 자료들을 찾아 사람과 같은 판단을 하려면 무엇을 연결해 둬야 하나</a:t>
            </a:r>
          </a:p>
          <a:p>
            <a:r>
              <a:t>[다음] 판단에 쓴 자료를 펼쳐 놓으면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매뉴얼에 필요한 연결이 다 적혀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매뉴얼 문장 → 오른쪽 「들어 있는 것」 → 강조한 세 연결(경보 → 대목, 기준 → 태그 값, 원인 → 조치)</a:t>
            </a:r>
          </a:p>
          <a:p>
            <a:r>
              <a:t>· 문장에 있는 것: 원인 후보, 확인할 값, 기준(냉각 효율 30초 평균 &lt; 70 % 이고 팬 진동 2분 평균 &lt; 0.9 mm/s → 핀 오염)</a:t>
            </a:r>
          </a:p>
          <a:p>
            <a:r>
              <a:t>· 「가장 흔하다」 ≠ 「지금 원인이다」. 흔하다는 건 후보 검토 참고일 뿐, 지금 설비는 실제 값을 판별 기준에 대어 본다</a:t>
            </a:r>
          </a:p>
          <a:p>
            <a:r>
              <a:t>· 사람은 문장을 보고 화면에서 값을 찾지만, 컴퓨터는 연결을 더 명확히 적어야 한다</a:t>
            </a:r>
          </a:p>
          <a:p>
            <a:r>
              <a:t>· 빠진 연결 1: 지금 경보가 매뉴얼 어느 대목에 해당하나</a:t>
            </a:r>
          </a:p>
          <a:p>
            <a:r>
              <a:t>· 빠진 연결 2: 그 값을 어느 태그 · 시간 구간으로 읽나(팬 진동 태그는 있지만 냉각 효율 태그 이름 · 조회 방법은 없음)</a:t>
            </a:r>
          </a:p>
          <a:p>
            <a:r>
              <a:t>· 빠진 연결 3: 원인이면 어떤 조치인가(완화 · 근본 조치는 다른 절)</a:t>
            </a:r>
          </a:p>
          <a:p>
            <a:r>
              <a:t>[다음] 숙련자는 이 빈틈을 어떻게 메우나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줄의 가운데 칸을 위에서부터 → 오른쪽 한계 열 → 강조한 조치 선택 줄</a:t>
            </a:r>
          </a:p>
          <a:p>
            <a:r>
              <a:t>· 숙련자는 매뉴얼에 없는 연결도 머릿속에서 떠올린다</a:t>
            </a:r>
          </a:p>
          <a:p>
            <a:r>
              <a:t>· 1 증상 → 고장 유형 → 원인 후보(유온 상승 → 냉각 성능 상실 → 핀 오염 · 팬 구동 불량 · 주변 온도 상승)</a:t>
            </a:r>
          </a:p>
          <a:p>
            <a:r>
              <a:t>· 2 후보마다 볼 센서를 정해 기준과 비교(냉각 효율 · 팬 진동 · 캐비닛 온도)</a:t>
            </a:r>
          </a:p>
          <a:p>
            <a:r>
              <a:t>· 3 원인에 맞는 조치를 고르고 생산 일정 제약까지 고려</a:t>
            </a:r>
          </a:p>
          <a:p>
            <a:r>
              <a:t>· 한계: 숙련자가 없으면 판단이 늦고, 같은 정보에도 후보 · 순서가 사람마다 다르며, 컴퓨터는 같은 경로를 못 따른다</a:t>
            </a:r>
          </a:p>
          <a:p>
            <a:r>
              <a:t>· 결론만(「핀 오염이었다」) 적으면 부족: 출발 증상, 놓은 후보, 비교한 증거, 확인하지 않은 항목까지 남겨야 따라갈 수 있다</a:t>
            </a:r>
          </a:p>
          <a:p>
            <a:r>
              <a:t>[다음] 이 지식을 표 · 코드가 아니라 따로 두는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표 예 → 아래 조건문 예 → 오른쪽 칸 표 · 문서 · 코드 → 강조한 분리된 지식</a:t>
            </a:r>
          </a:p>
          <a:p>
            <a:r>
              <a:t>· 매뉴얼이 바뀔 때마다 여러 표와 코드를 찾아 고쳐야 한다면 관리가 어렵다</a:t>
            </a:r>
          </a:p>
          <a:p>
            <a:r>
              <a:t>· 표: 한 고장 유형에 여러 원인 · 증거가 붙어 같은 고장 유형이 반복. 다른 표와의 의미 연결은 따로 정의해야 한다</a:t>
            </a:r>
          </a:p>
          <a:p>
            <a:r>
              <a:t>· 문서: 사람은 해석하지만 같은 대상을 문서마다 다르게 부른다</a:t>
            </a:r>
          </a:p>
          <a:p>
            <a:r>
              <a:t>· 코드: 기준을 조건문에 넣으면 기준 변경에 코드 수정이 필요, 근거 · 출처는 따로 기록해야 한다</a:t>
            </a:r>
          </a:p>
          <a:p>
            <a:r>
              <a:t>· 분리된 지식: 대상 · 관계 · 판별 기준을 프로그램 밖에 둔다 → 사람은 지식과 출처를 검토, 프로그램은 읽어 판정. 기준 바꾸기와 프로그램 고치기를 나눈다</a:t>
            </a:r>
          </a:p>
          <a:p>
            <a:r>
              <a:t>· 표 · 코드 금지가 아니라 기준과 출처를 함께 관리하자는 것(학습노트에 출처를 연결한 까닭과 같다)</a:t>
            </a:r>
          </a:p>
          <a:p>
            <a:r>
              <a:t>[다음] AI에게 판단을 맡길 때도 마찬가지인가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같은 기준으로 찾으려면 이름과 관계의 뜻도 분명해야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· 이론 · 실습 표시 → 부제의 네 낱말(종류 · 속성 · 관계 · 제약)</a:t>
            </a:r>
          </a:p>
          <a:p>
            <a:r>
              <a:t>· AI가 같은 기준으로 자료를 찾아 쓰려면 이름과 관계의 뜻이 분명해야 한다</a:t>
            </a:r>
          </a:p>
          <a:p>
            <a:r>
              <a:t>· 같은 부품을 다른 이름으로 적거나, 원인과 증상의 연결을 다르게 해석하면 근거를 놓친다</a:t>
            </a:r>
          </a:p>
          <a:p>
            <a:r>
              <a:t>· 그 혼동이 없도록 대상과 관계의 뜻을 정해 두는 바탕 = 온톨로지</a:t>
            </a:r>
          </a:p>
          <a:p>
            <a:r>
              <a:t>· 단원 끝에 관계를 직접 그리는 실습</a:t>
            </a:r>
          </a:p>
          <a:p>
            <a:r>
              <a:t>[다음] 온톨로지의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같은 대상을 가리키는 여러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마지막 카드 오일 쿨러 → 앞 카드 세 장(증상)</a:t>
            </a:r>
          </a:p>
          <a:p>
            <a:r>
              <a:t>· 정비 기록의 「열교환기」와 설비 목록의 「오일 쿨러」가 같은 부품임을 모르면 다른 기록으로 다룬다 → 한 대상에 다른 이름을 함께 등록</a:t>
            </a:r>
          </a:p>
          <a:p>
            <a:r>
              <a:t>· 오일 쿨러 = 쿨러 · 열교환기(구성 요소)</a:t>
            </a:r>
          </a:p>
          <a:p>
            <a:r>
              <a:t>· 증상: 유온 상승 = 온도 상승 · 과열, 냉각 효율 저하 = 냉각 불량, 진동 증가 = 떨림 · 소음</a:t>
            </a:r>
          </a:p>
          <a:p>
            <a:r>
              <a:t>· 주의: 「소음」이 늘 팬 진동은 아니다. 이 설비의 증상 표현으로 등록한 것 → 문장의 뜻은 맥락과 함께 확인</a:t>
            </a:r>
          </a:p>
          <a:p>
            <a:r>
              <a:t>· 현장의 말을 없애지 않고, 그 말들이 어떤 대상을 가리키는지 분명히 한다 = 공통 의미</a:t>
            </a:r>
          </a:p>
          <a:p>
            <a:r>
              <a:t>[다음] 비슷한 말 넷을 구별하기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강조한 온톨로지 → 지식 그래프 → 그래프 DB → 관계 그림, 오른쪽 쿨러 예 열</a:t>
            </a:r>
          </a:p>
          <a:p>
            <a:r>
              <a:t>· 온톨로지 = 공통 정의(원인과 고장 유형이라는 종류, 원인은 고장 유형을 일으킬 수 있다)</a:t>
            </a:r>
          </a:p>
          <a:p>
            <a:r>
              <a:t>· 지식 그래프 = 정의에 맞춰 실제 대상(핀 오염 → 냉각 성능 상실)을 채운 지식. 여기서 그래프는 선 그래프가 아니라 대상들을 이어 놓은 연결망</a:t>
            </a:r>
          </a:p>
          <a:p>
            <a:r>
              <a:t>· 그래프 DB = 대상과 연결을 저장 · 조회하는 도구(예: Neo4j)</a:t>
            </a:r>
          </a:p>
          <a:p>
            <a:r>
              <a:t>· 관계 그림 = 저장된 연결을 원과 화살표로 사람이 보게 한 표현</a:t>
            </a:r>
          </a:p>
          <a:p>
            <a:r>
              <a:t>· 계속 바뀌는 온도까지 지식 그래프에 넣지 않는다: 확인할 값과 읽는 방법은 지식에, 실제 관측값은 시계열 저장소에서</a:t>
            </a:r>
          </a:p>
          <a:p>
            <a:r>
              <a:t>[다음] 관계 그림을 읽는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이 관계를 전체 지도에서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화살표 반대로 찾아가도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저장된 방향 → 오른쪽 강조한 따라가는 방향</a:t>
            </a:r>
          </a:p>
          <a:p>
            <a:r>
              <a:t>· 저장된 방향: 「일으킨다」는 핀 오염 → 냉각 성능 상실. 원인이 주어라서. 관계 이름의 뜻이 방향을 정한다</a:t>
            </a:r>
          </a:p>
          <a:p>
            <a:r>
              <a:t>· 따라가는 방향: 경보에서 출발하면 고장 유형에 먼저 도착 → 들어오는 「일으킨다」를 거슬러 원인 후보를 찾는다</a:t>
            </a:r>
          </a:p>
          <a:p>
            <a:r>
              <a:t>· 저장된 관계를 그대로 쓴다. 반대 뜻의 관계를 새로 만들 필요 없다</a:t>
            </a:r>
          </a:p>
          <a:p>
            <a:r>
              <a:t>· 화살표는 일방통행 표시가 아니다. 잘못은 거슬러 조회하는 것이 아니라 관계 이름의 뜻과 저장 방향이 어긋난 것(「냉각 성능 상실이 핀 오염을 일으킨다」로 저장되면 사실과 반대)</a:t>
            </a:r>
          </a:p>
          <a:p>
            <a:r>
              <a:t>[다음] 경보 하나에서 관계를 따라가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이상 패턴 → 증상 유온 상승 → 고장 유형, 회색 원은 아직</a:t>
            </a:r>
          </a:p>
          <a:p>
            <a:r>
              <a:t>· 경보 기록의 패턴 항목이 지식 그래프의 이상 패턴 정의를 가리킨다 = 경보와 지식 그래프가 이어지는 출발점</a:t>
            </a:r>
          </a:p>
          <a:p>
            <a:r>
              <a:t>· 이상 패턴에는 경보 조건과 유지 시간이 정의돼 있다. 감지 서비스는 그 정의로 경보를 내고, 진단은 경보의 패턴 이름으로 같은 정의에서 출발</a:t>
            </a:r>
          </a:p>
          <a:p>
            <a:r>
              <a:t>· 경보 한 건 = 어느 설비에서 언제 조건이 성립했는지의 기록, 패턴 = 그 조건의 정의. 다른 경보도 같은 패턴을 가리킬 수 있지만 증거 값은 각 경보의 설비에 맞춰 읽는다</a:t>
            </a:r>
          </a:p>
          <a:p>
            <a:r>
              <a:t>· 패턴 → 증상: 무엇을 감지하나(유온 상승). 증상 → 고장 유형: 쿨러 냉각 성능 상실을 가리킨다</a:t>
            </a:r>
          </a:p>
          <a:p>
            <a:r>
              <a:t>[다음] 도착한 고장 유형에서 원인 후보로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고장 유형으로 들어오는 화살표를 거슬러 원인 셋 → 오른쪽 증거 → 맨 위 파란 원(핀 오염) → 아래 조치 방법</a:t>
            </a:r>
          </a:p>
          <a:p>
            <a:r>
              <a:t>· 원인 후보 셋: 핀 오염, 팬 구동 불량, 주변 온도 상승. 연결됐다고 확정이 아니다</a:t>
            </a:r>
          </a:p>
          <a:p>
            <a:r>
              <a:t>· 증거: 핀 오염은 냉각 효율과 팬 진동, 다른 둘은 팬 진동과 캐비닛 온도. 증거에 적힌 조회 방법으로 값을 읽어 기준에 대어 본다</a:t>
            </a:r>
          </a:p>
          <a:p>
            <a:r>
              <a:t>· 결과: 핀 오염의 두 조건 충족, 다른 두 후보는 해당 없음</a:t>
            </a:r>
          </a:p>
          <a:p>
            <a:r>
              <a:t>· 조치: 고장 유형에서 완화 관계를 따라 팬 최대 운전</a:t>
            </a:r>
          </a:p>
          <a:p>
            <a:r>
              <a:t>· 어느 후보도 뒷받침되지 않거나 조회가 불완전하면 조치 보류. 값을 못 읽은 것 ≠ 조건에 맞지 않는 것</a:t>
            </a:r>
          </a:p>
          <a:p>
            <a:r>
              <a:t>[다음] 승인할 사람에게 무엇을 남기나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위에서부터: 강조한 원인 판별 → 다른 후보 → 값의 출처 → 조치의 출처 → 대안 비교</a:t>
            </a:r>
          </a:p>
          <a:p>
            <a:r>
              <a:t>· 결론만(「핀 오염이니 팬을 돌리자」)으로는 검토가 어렵다 → 기준 · 값 · 조치를 고른 까닭을 남긴다</a:t>
            </a:r>
          </a:p>
          <a:p>
            <a:r>
              <a:t>· 원인 판별: 냉각 효율 30초 평균 46.2 % &lt; 70 %, 팬 진동 2분 평균 0.575 &lt; 0.9 mm/s. 다른 후보: 팬 진동 &lt; 0.9, 캐비닛 온도 28 ℃ &lt; 35 ℃로 해당 없음</a:t>
            </a:r>
          </a:p>
          <a:p>
            <a:r>
              <a:t>· 값의 출처: 지식 그래프는 태그 · 평균을 낼 집계 구간 · 판별 기준, 시계열 저장소는 그 구간의 관측값 → 정의와 관측을 구별해 연결</a:t>
            </a:r>
          </a:p>
          <a:p>
            <a:r>
              <a:t>· 조치의 출처: 고장 유형 → 완화 → 조치 방법 → 단계 → 매뉴얼 절 HM-8.5 → 원문으로 돌아가 확인</a:t>
            </a:r>
          </a:p>
          <a:p>
            <a:r>
              <a:t>· 대안: 1순위 팬 최대 운전, 공동 2순위 부하를 낮추는 두 안, 4순위 설비를 멈추는 핀 세척. 냉각 효과뿐 아니라 납기 같은 업무 값도 반영</a:t>
            </a:r>
          </a:p>
          <a:p>
            <a:r>
              <a:t>[다음] 판단과 실행은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관계를 직접 그려 보는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추천의 근거를 검토하려면 원인 · 증거 · 조치의 연결을 읽을 수 있어야 한다 → 쿨러 사례를 관계 그림으로 직접</a:t>
            </a:r>
          </a:p>
          <a:p>
            <a:r>
              <a:t>· 핀 오염일 때와 팬 구동 불량일 때 무엇을 확인하고 어디를 손보는지 비교되게 그린다</a:t>
            </a:r>
          </a:p>
          <a:p>
            <a:r>
              <a:t>· 앞 이론과의 연결: 노드 · 이름 · 방향, 문장으로 읽기, 고장 유형 중심 지도</a:t>
            </a:r>
          </a:p>
          <a:p>
            <a:r>
              <a:t>[다음] 만들 그림 두 장과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관계 그림에서 증거와 조치를 비교했듯, 이번엔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이번 회차의 약어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줄을 위에서부터, 정식 명칭은 화면에 맡기고 뜻만</a:t>
            </a:r>
          </a:p>
          <a:p>
            <a:r>
              <a:t>· OT = 설비를 감시 · 제어하는 운영 기술, IT = 데이터를 다루는 정보 기술</a:t>
            </a:r>
          </a:p>
          <a:p>
            <a:r>
              <a:t>· DMZ = 두 영역 사이 연결을 제한하는 완충 구역. PLC = 센서 값을 읽고 정해진 논리로 설비를 직접 제어하는 산업용 제어기</a:t>
            </a:r>
          </a:p>
          <a:p>
            <a:r>
              <a:t>· MQTT = 발행자의 메시지를 브로커가 구독자에게 전달하는 경량 메시지 규약</a:t>
            </a:r>
          </a:p>
          <a:p>
            <a:r>
              <a:t>· SCADA = 설비 데이터를 모아 감시 · 원격 제어하는 시스템, HMI = 사람이 상태를 보고 조작하는 화면</a:t>
            </a:r>
          </a:p>
          <a:p>
            <a:r>
              <a:t>· HITL = 자동 처리 중간에 사람이 승인 · 거절로 결정하는 구조, MES = 생산 지시 · 실적 · 납기를 관리하는 제조 실행 시스템</a:t>
            </a:r>
          </a:p>
          <a:p>
            <a:r>
              <a:t>[다음] 퀴즈로 적용해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둘째 문제, 관계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셋째 문제, 추천 뒤의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과정 홈 → 학습노트 데이터베이스 → 강조한 첫 기록</a:t>
            </a:r>
          </a:p>
          <a:p>
            <a:r>
              <a:t>· 목표: 과정 홈과 학습노트를 만들고 개념 하나를 내 말로 써서 참고 자료를 연결한 첫 기록 완성</a:t>
            </a:r>
          </a:p>
          <a:p>
            <a:r>
              <a:t>· 입력: Notion, 앞에서 배운 개념 하나와 그 출처</a:t>
            </a:r>
          </a:p>
          <a:p>
            <a:r>
              <a:t>· 과정 홈: 전체 기록의 첫 페이지. 개념 정리 · 참고 자료 · 실습 결과 세 구획과 목차</a:t>
            </a:r>
          </a:p>
          <a:p>
            <a:r>
              <a:t>· 학습노트 데이터베이스: 기록이 한 줄에 하나씩 쌓이는 목록. 분야 · 이해도 · 작성일을 붙여 찾는다</a:t>
            </a:r>
          </a:p>
          <a:p>
            <a:r>
              <a:t>· 결과물 · 성공 기준: 첫 기록에 내 말 설명 + 출처 연결, 실습 기록 자리, 완성 노트에서 기록을 찾아 출처를 다시 열 수 있다</a:t>
            </a:r>
          </a:p>
          <a:p>
            <a:r>
              <a:t>· 주의: 이해도가 낮은 기록을 모아 다시 볼 수 있게 분류를 붙여 둔다</a:t>
            </a:r>
          </a:p>
          <a:p>
            <a:r>
              <a:t>[다음] 실습을 마친 뒤 이어서 시스템 구조로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VS Code → GitHub Copilot → Python → 강조한 Docker</a:t>
            </a:r>
          </a:p>
          <a:p>
            <a:r>
              <a:t>· 목표: 정의된 서비스를 실행해 컨테이너 상태와 주요 서비스 접속을 확인하고 포털이 열리게 한다</a:t>
            </a:r>
          </a:p>
          <a:p>
            <a:r>
              <a:t>· VS Code: 파일 열기 · 편집, 터미널 명령 실행</a:t>
            </a:r>
          </a:p>
          <a:p>
            <a:r>
              <a:t>· GitHub Copilot: VS Code 채팅에서 자연어로 요청하면 파일을 읽고 고치는 코딩 에이전트. 요청하고 실행해 보며 고쳐 가는 방식 = 바이브 코딩(뒤에서 따로 다룸)</a:t>
            </a:r>
          </a:p>
          <a:p>
            <a:r>
              <a:t>· Python: HYD 자체 서비스와 일부 랩 코드. 브로커 · 데이터베이스까지 모두 Python인 것은 아니다</a:t>
            </a:r>
          </a:p>
          <a:p>
            <a:r>
              <a:t>· Docker Desktop으로 컨테이너 실행, Docker Compose로 정의된 여러 서비스를 함께</a:t>
            </a:r>
          </a:p>
          <a:p>
            <a:r>
              <a:t>· 성공 기준: 실행 표시와 실제 접속을 따로 확인 — 컨테이너 상태 → 주요 서비스 · 포털을 열어 정상 구성과 대조</a:t>
            </a:r>
          </a:p>
          <a:p>
            <a:r>
              <a:t>[다음] 켜진 환경에서 사건 한 건을 따라가는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머리(입력 · 할 일 · 산출물) → 첫 줄 관찰 → 강조한 둘째 줄 거슬러 찾기 → 셋째 줄 대조</a:t>
            </a:r>
          </a:p>
          <a:p>
            <a:r>
              <a:t>· 입력: 포털에서 처리한 쿨러 사건(교재 예: 경보 당시 유온 55.71 ℃ · 냉각 효율 46.2 %)</a:t>
            </a:r>
          </a:p>
          <a:p>
            <a:r>
              <a:t>· 관찰: 진단 · 추천 → 승인 → 팬 속도 100 % 명령 → ACK 뒤 유온 · 경보 해제 재관측 → 핀 세척 작업지시. 명령 처리 · 완화와 남은 정비를 구별</a:t>
            </a:r>
          </a:p>
          <a:p>
            <a:r>
              <a:t>· 거슬러 찾기: 작업지시의 판단 참조 → 판단의 사건 참조 → 사건의 경보 참조, 경보 조건 · 관측값과 원인 판별 근거까지</a:t>
            </a:r>
          </a:p>
          <a:p>
            <a:r>
              <a:t>· 결과물: 근거 연결표 — 이름 나열이 아니라 어떤 참조 항목으로 다음 기록을 찾았는지 적는다</a:t>
            </a:r>
          </a:p>
          <a:p>
            <a:r>
              <a:t>· 성공 기준 · 주의: 연결마다 참조가 맞고, 판단에 쓴 증거와 경보 당시 값을 구별, 완료 기록과 대조해 빠진 연결 확인</a:t>
            </a:r>
          </a:p>
          <a:p>
            <a:r>
              <a:t>[다음] 실습 뒤, 원인과 조치를 정한 지식은 무엇이었나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기본 관계도 → 팬 구동 불량 가지 → 강조한 두 가지의 비교</a:t>
            </a:r>
          </a:p>
          <a:p>
            <a:r>
              <a:t>· 목표: 핀 오염 관계도에 팬 구동 불량 가지를 더해, 같은 고장 유형에서도 원인별 증거와 조치가 달라짐을 나타낸다</a:t>
            </a:r>
          </a:p>
          <a:p>
            <a:r>
              <a:t>· 입력: 대상 목록, 매뉴얼 HM-8</a:t>
            </a:r>
          </a:p>
          <a:p>
            <a:r>
              <a:t>· 기본 관계도: 설비 · 구성 요소 · 센서 · 증상 · 고장 유형 · 원인 · 조치를 이름과 방향 있는 화살표로. 핀 오염의 증거와 핀 세척 조치는 원문에서 확인</a:t>
            </a:r>
          </a:p>
          <a:p>
            <a:r>
              <a:t>· 확장: 팬 진동 · 팬 구동 불량 · 팬 점검 추가. 증거 = 팬 진동 최근 2분 평균 ≥ 0.9 mm/s, 점검 근거 = HM-8.1</a:t>
            </a:r>
          </a:p>
          <a:p>
            <a:r>
              <a:t>· 성공 기준: 공통 고장 유형은 유지하고 증거 · 조치를 구별, 화살표를 문장으로 읽어 원문과 대조</a:t>
            </a:r>
          </a:p>
          <a:p>
            <a:r>
              <a:t>· 주의: 팬 구동 불량을 핀 세척으로 곧바로 잇지 않는다. 잘못 이었으면 원문과 비교해 고친다</a:t>
            </a:r>
          </a:p>
          <a:p>
            <a:r>
              <a:t>[다음] 실습 뒤, 사건 기록의 역할 구별로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notesSlide" Target="../notesSlides/notesSlide7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6.png"/><Relationship Id="rId4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9.png"/><Relationship Id="rId4" Type="http://schemas.openxmlformats.org/officeDocument/2006/relationships/image" Target="../media/image47.png"/><Relationship Id="rId5" Type="http://schemas.openxmlformats.org/officeDocument/2006/relationships/image" Target="../media/image21.png"/><Relationship Id="rId6" Type="http://schemas.openxmlformats.org/officeDocument/2006/relationships/image" Target="../media/image4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5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5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5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5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설비 데이터와 지식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데이터에서 판단과 조치까지,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그리고 온톨로지가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HYD 시스템을 직접 실행하며 설비 이상 한 건이 처리되는 과정을 따라간다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배움을 지식 자산으로 남기고, HYD의 구조와 처리 흐름을 따라 온톨로지가 필요한 이유를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7364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자산화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배운 내용을 자신의 문장으로 기록하고 다시 찾아 쓰는 방법을 익힌다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개인 학습노트를 만들어 앞으로의 배움을 쌓아 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5340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340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기록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7364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아키텍처와 계층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제조 설비에서 AI의 판단과 조치까지 이어지는 HYD의 구조를 계층별로 이해한다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올라가는 길과 명령이 내려가는 길을 따라간다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53408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53408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구조와 데이터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play" descr="player-pla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7364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흐름의 실행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환경을 갖추고 설비 이상 한 건을 직접 처리해 본다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조치까지의 과정을 포털에서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53408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53408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2200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7364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필요성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가리고 조치를 고르는 데 온톨로지가 필요한 이유를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증상, 원인, 조치를 이름과 방향이 있는 관계로 그려 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534088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534088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시스템 구조와 데이터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강의에 앞서, 배운 것을 내 말로 남겨 자산으로 만드는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AI가 정리한 자료와 내 머릿속의 이해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정리한 문서는 읽기 쉬워졌을 뿐인데도, 그 내용을 내가 안다는 착각을 일으킨다.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넘겨 만든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필기와 강의 자료를 넘기면 보기 좋게 정리해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쉬운 형태로 바뀔 뿐이다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정리된 문서를 보면 그 내용을 안다고 착각한다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덮으면 설명이 막힌다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좋은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내 말로 쓴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덮고 이해한 만큼 형식에 얽매이지 않고 써 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쓰다가 막히는 곳에서 모르는 부분이 드러난다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쓰고 고친 내용은 머릿속에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것이 된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넓게 써 보고, 너비부터 고친다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넓게 써서 틀리거나 흐릿한 곳을 먼저 바로잡고, 막힌 곳을 하나씩 골라 깊이 파고든다.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x" descr="x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틀린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사실과 다르게 쓴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 알고 있는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message-dots" descr="message-do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횡설수설한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말은 이어지지만 뜻이 분명하지 않은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흐릿하게 아는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ock" descr="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 쓰지 못하고 멈춘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줄기를 잡은 뒤 하나씩 깊이 판다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말은 바닥까지 내려가 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말은 뜻을 계속 물으며 바닥까지 내려간 뒤, 하나씩 이어 붙이며 처음의 용어를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8245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용어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공부할 범위에서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모르는 용어를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elp" descr="hel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82455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용어가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뜻하는지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묻는다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rrow-down" descr="arrow-dow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82455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내려간다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속에 또 모르는 말이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있으면 다시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초등학생에게 설명하듯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풀어 달라고 해도 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2883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up" descr="arrow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82455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올라온다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바닥에서부터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하나씩 이어 붙이며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처음의 용어로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돌아온다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내 말로 옮겨 학습노트에 쌓는다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정의를 외우는 대신 내 말로 풀어 쓴 기록을 학습노트에 쌓으면, 그 기록이 지식 자산이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3771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" descr="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913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정의를 그대로 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문장은 기억하지만 다른 말로 물으면 답하지 못한다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외운 문장을 벗어나면 설명하지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외운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377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notebook" descr="noteboo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9133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말로 옮겨 쌓는다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원리는 그대로 두고 표현만 쉽게 바꾼다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말로 물어도 답하고 남에게 설명할 수 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이렇게 쓴 기록을 개인 학습노트에 모은다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8896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8896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쌓이는 자산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찾아 쓰는 학습 기록의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말로 쓴 개념에 출처와 실습 결과를 연결하면, 기록을 다시 찾아 확인하고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남길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다시 쓰는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개념과 원리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용어의 뜻과 작동 원리를 내 말로 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개념과 이어지는 지점을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참고 자료와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이름과 해당 부분의 링크를 개념에 연결한다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설명이 맞는지 원문으로 돌아가 확인한다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과정과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했고 어떤 결과가 나왔는지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막힌 점과 해결한 방법을 관련 개념에 연결한다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적용할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검색과 보완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분야와 이해도로 기록을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이해가 달라지면 설명과 연결된 기록을 함께 고친다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쌓을 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지식 자산화를 위한 개인 학습노트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앞으로 배울 내용을 내 말로 쌓아 갈 학습노트의 틀을 만든다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학습노트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과정 홈과 학습노트를 만들고, 내 말로 쓴 개념 하나에 참고 자료를 연결해 첫 기록을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과정 홈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기록으로 들어가는 첫 페이지이다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정리·참고 자료·실습 결과의 세 구획과 목차를 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기록의 입구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 데이터베이스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기록마다 분야·이해도·작성일을 붙인다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이해도가 낮은 기록을 모아 다시 볼 수 있게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분류와 검색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하나를 내 말로 설명하고 출처를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기록에는 과정·결과·배운 점을 남길 자리를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 노트에서 기록을 찾고 출처를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연결된 학습 기록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시스템 구조와 데이터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제조 설비에서 AI의 판단과 조치까지 이어지는 시스템의 구조, 계층, 데이터 흐름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팬 속도와 펌프 부하 설정값을 설비에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 HYD-01의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설비_유압파워팩.svg" descr="illust_480344114152918069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PLC의 반복 제어와 우선하는 보호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PLC는 짧은 스캔 주기로 설비를 제어하고, 위험 조건에서는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보호 정지를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스캔 주기(Scan Cycle)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 제어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읽기 → 프로그램 실행 → 출력 쓰기를 반복하는 주기이다.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PLC가 1초에도 수십 번씩 계측값을 읽고 판단한다.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설정값(Setpoint, SP)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제어할 목표값이다.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HYD-01은 팬 속도 60 %, 펌프 부하 90 % 같은 설정값을 적용한다.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인터록(Interlock)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보호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위험 조건에서 다른 명령보다 우선해 설비를 안전한 상태로 전환한다.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 &gt; 65 ℃이면 트립(Trip, 보호 정지)시킨다.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실시간성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서버를 거치면 통신 지연이나 단절의 영향을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지키는 판단은 통신과 서버를 기다리지 않고 PLC에서 끝낸다.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HYD-01의 인터록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유온·토출 압력·팬 진동 중 하나라도 위험 조건에 이르면, HYD-01의 PLC가 설비를 보호 정지시킨다.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65 ℃를 넘으면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작동유의 점도가 떨어져 마모가 빨라진다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auge" descr="gau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PS1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130 bar 아래로 내려가면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펌프 마모나 내부 누설을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VS1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2.0 mm/s 이상이면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그대로 돌리면 팬 베어링이 손상된다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고진동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통신의 지연·지터·결정성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 신호는 매번 제시간에 도착해야 하며, 지연의 평균뿐 아니라 변동과 최악의 경우를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지연(Latency)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걸리는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신호를 보내고 도착하기까지 걸리는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사무 통신은 평균 지연과 처리량을 중시한다.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지터(Jitter)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지연의 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지연이 매번 달라지는 정도이다.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반복 판단에 맞춰 신호가 도착하려면 지터가 작아야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결정성(Determinism)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도착 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최악의 경우에도 정해진 시간 안에 전달되는 성질이다.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평균적으로 빠른 것만으로는 현장 제어의 시간 조건을 보장하지 못한다.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통신 보안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보호의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기밀성과 무결성을 위해 암호화와 인증이 필요하다.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Modbus 같은 전통 규약에 부족한 보호 기능은 망 구조와 상위 계층이 보완한다.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원시 값에서 태그 메시지로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게이트웨이는 원시 값을 태그에 대응시키고 시각과 품질을 붙여, 수집할 수 있는 메시지로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48.00090867787168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  60.0   load_pct 90.0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48.0   CE 84.0   PS1 182.0   VS1 0.6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{"t":"2026-10-10T13:02:38.654Z",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"v":48.0,"q":"good"}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mode REMOTE_AUTO    state RUN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60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load_pct 90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interlock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게이트웨이(Edge Gateway)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현장과 상위 서비스를 잇는 미들웨어(Middleware)이다. 값을 수집 메시지로 변환하며 EdgeX Foundry 같은 것이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태그(Tag)와 메시지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TS1은 값의 이름이다. t는 보낸 시각, v는 값, q는 품질이며 good은 정상 품질이다.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가상 센서(Virtual Sensor)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직접 재지 않고 계산한 값이다. 냉각 효율 CE의 정상 운전점은 84 %이다.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REMOTE_AUTO, 운전 중 RUN, 인터록 정상 PASS를 명령 검사에 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 연결과 브로커 중개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송신자와 수신자를 직접 묶으면 한쪽 변경이 다른 쪽에 번지므로, 브로커로 연결 의존성을 줄인다.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점대점(Point-to-Point)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송신자가 수신자마다 직접 연결하는 방식이다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운전 화면, 엣지 → 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수신자를 더하면 송신 측의 연결도 고친다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강한 결합(Tight Coupling): 한쪽 변경이 다른 쪽 변경을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브로커(Broker) 중개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메시지 중개 서버를 사이에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브로커 → 운전 화면·수집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수신자는 브로커에 구독을 등록한다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느슨한 결합(Loose Coupling): 송신자와 수신자의 직접 의존을 줄인다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중개 연결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MQTT와 브로커: 발행과 구독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MQTT(Message Queuing Telemetry Transport)는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통한 발행·구독 규약이다.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리니지_1_MQTT.svg" descr="illust_526339790443255861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55" y="1627632"/>
            <a:ext cx="1040038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5664" y="4156816"/>
            <a:ext cx="156005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4940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발행자(Publisher)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4607" y="2289474"/>
            <a:ext cx="176806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토픽(Topic)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plant/hyd01/tag/TS1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1872" y="1958553"/>
            <a:ext cx="166406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브로커(Broker)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5866" y="5598688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4361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토픽의 구조: 빗금으로 나눈 계층형 주소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토픽은 빗금으로 계층을 나눈 문자열이므로, 설비나 태그가 바뀌면 해당 자리만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 / hyd01 / tag / 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plant/hyd01/tag/TS1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plant/hyd01/tag/CE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plant/hyd02/tag/TS1     HYD-02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plant/hyd01/status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자리이다. HYD-01, HYD-02, HYD-03 세 대가 hyd01, hyd02, hyd03으로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TS1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값이라는 표시와 태그 이름이다.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운전 상태가 올라오는 토픽이다.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발행·구독의 전달과 보존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발행·구독의 전달 품질과 메시지 보존은 별개이며, 계측값·운전 상태·명령에 맞춰 다르게 사용한다.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발행·구독(Publish/Subscribe)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연결의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구독자는 받을 토픽을 등록하고, 발행자는 그 토픽으로 메시지를 보낸다.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브로커가 구독자에게 밀어 보내는 전달을 푸시(Push)라고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 품질(QoS)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보장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Quality of Service: 전달 보장 수준이다.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0은 최대 한 번, 1은 최소 한 번, 2는 정확히 한 번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1에서는 같은 메시지가 다시 도착할 수 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보존 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한 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보존 메시지(Retained Message)는 토픽의 마지막 한 건을 새 구독자에게도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상태는 보존하지만, 과거 이력을 모두 쌓는 기능은 아니다.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메시지별 사용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값·상태·명령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값: QoS 0 · 보존 안 함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상태: QoS 1 · 마지막 값 보존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명령: QoS 1 · 보존 안 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OT와 IT를 직접 잇지 않는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외부와 연결된 IT의 침해가 설비 사고로 번지지 않도록, OT와 IT의 망을 나누어 직접 연결을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Operational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직접 감시 · 제어한다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가용성과 안전이 최우선이다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명령은 곧 설비 사고로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가용성 ·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world" descr="worl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Information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데이터를 다룬다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사무망 · 인터넷과 연결되어 침해에 노출된다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망 분리(Network Segmentation)로 OT와 직접 연결을 제한한다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기밀성 · 무결성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완충 구역과 단방향 수집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OT와 IT 사이의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수집 서비스가 계측 데이터를 복제하고, 자동 명령은 별도 관문에서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DMZ(Demilitarized Zone)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완충 구역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중간에서 연결을 제한하는 완충 구역이다.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서비스와 명령 관문이 이 영역에 놓인다.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 브로커를 구독해 받은 메시지를 IT 이벤트 로그로 옮긴다.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 → 수집 서비스 → 이벤트 로그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단방향 복제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방향의 분리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단방향 복제(One-way Replication)는 한 방향으로만 데이터를 복사하는 것이다.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서비스는 OT에 발행하지 않으며, 자동 명령은 별도 경로로 전달한다.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메시지를 기록으로 옮긴다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토픽에 있던 설비와 태그 이름을 메시지 본문에 넣으면, 레코드 한 건으로 값의 출처를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브로커가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전달한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payload {"t":"2026-10-10T02:13:08.508Z",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서비스가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레코드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key     hyd01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value   {"asset":"HYD-01","name":"TS1",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페이로드(Payload)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메시지의 본문이다. 토픽 경로의 설비와 태그가 asset·name으로 본문 안에 들어왔다.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레코드(Record)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로그에 남기는 기록 한 건이다. 시각 t, 값 v, 품질 q와 출처를 함께 보관한다.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키(Key) 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설비의 레코드를 같은 파티션으로 보내 순서대로 읽게 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로그의 기록·순서·다시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이벤트 로그는 기록을 덧붙여 보관하고, 소비자는 각자의 읽기 위치를 기준으로 필요한 기록을 다시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전용 로그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기록의 보관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추가 전용 로그(Append-only Log)는 받은 레코드를 뒤에 덧붙이는 기록이다.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지나간 메시지도 보존 기간 안에서는 다시 읽을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Kafka 같은 것이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생산자·소비자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쓰기와 읽기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생산자(Producer)는 기록을 쓰고 소비자(Consumer)는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서비스가 쓰고, 감지 서비스와 저장 서비스가 각자 읽는다.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오프셋(Offset)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각자의 읽기 위치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파티션 안에서 레코드를 가리키는 위치이다.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소비자는 읽기 위치를 따로 관리하며 필요하면 이전 위치부터 다시 읽는다.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파티션(Partition)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보존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순서가 보장되는 로그의 한 구획이다.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키 hyd01의 기록은 같은 구획에 쌓인다.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plant.tag 보존 기간은 1일이다.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처리: 흐르는 데이터에서 알아챈다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감지 서비스는 이상을 제때 알아차리도록, 이벤트 로그에 데이터가 기록되는 대로 읽어 조건과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 처리(Batch Processing)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데이터를 저장소에 쌓은 뒤 주기적으로 질의한다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이상이 생긴 시점과 알아차리는 시점 사이에 지연이 생긴다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나중에 조회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adar" descr="ra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스트림 처리(Stream Processing)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기록되는 대로 하나씩 받아 조건과 비교한다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끊임없이 도착하는 데이터를 그 자리에서 처리하는 방식이 스트림 처리(Stream Processing)이다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역할에는 Flink 같은 스트림 처리 엔진이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자리에서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처리: 경보 조건과 유지 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하나로 경보를 내지 않고, 유온·냉각 효율·상승 추세의 조건이 유지 시간 동안 이어지는지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Picture 5" descr="그래프_경보순간_T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처리(CEP)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Complex Event Processing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값·추세·지속 시간의 조합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기울기 &gt; 0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 시간(Hold Time)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정해진 시간 동안 이어져야 경보가 성립한다. 11:13:04에 유온이 55 ℃를 넘었지만 아직 경보는 없다.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넘은 첫 관측에서 4.0초 뒤에 경보가 울렸다. 이때 유온은 55.71 ℃였다.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발생·해제와 데이터 품질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발생과 해제의 기준을 달리하고 조건의 지속을 확인하며, 잘못되거나 빠진 값으로 판정하지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발생(RAISE)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알림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 · 유온 기울기 &gt;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조건이 유지 시간 동안 이어지면 쿨러 성능 저하 경보를 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해제(CLEAR)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52 ℃ · 유온 기울기 ≤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해제 조건도 정해진 시간 동안 이어져야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히스테리시스(Hysteresis)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기준의 간격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발생과 해제의 기준을 달리해 경계 부근에서 경보가 반복되는 것을 줄인다.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경보는 유온 55 ℃와 52 ℃를 다르게 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품질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판정의 전제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품질이 나쁘거나 값이 없으면 진행 중인 유지 시간 판정을 초기화한다.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 누락만으로 이미 발생한 경보를 해제하지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이벤트: 경보 한 건의 실제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이벤트는 이상 조건의 발생·해제 기록이며, 경보에는 식별자와 당시의 근거 값이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          2026-10-10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evidence.values  TS1 55.71, CE 46.2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 한 건을 가리키는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조건이 성립했는지를 나타낸다. 쿨러 성능 저하이다.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evidence.values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 당시의 근거 값이다. 계측값은 계속 바뀌므로 사용한 값을 경보에 붙여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밖의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설비, 심각도(severity), 경보 상태(RAISE)와 발생 시각이 함께 적힌다.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저장소: 시각으로 찾는다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저장소는 과거 값을 시각으로 찾도록, 계측값마다 시각·설비·태그 이름·값을 한 행에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02917"/>
            <a:ext cx="6766560" cy="397687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0077"/>
            <a:ext cx="6400800" cy="370255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time       asset    name   value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TS1 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TS1 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 HYD-01   TS1    55.86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02917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 하나가 (시각, 설비, 태그, 값) 한 행이다. 태그가 늘어도 열이 아니라 행만 늘어난다.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328543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55.71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11:13:08의 유온이다. 경보가 난 순간의 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654169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시각을 기준으로 데이터를 쌓고 시간 범위로 조회하는 시계열 데이터베이스(TSDB, Time Series Database)이다. 이 역할에는 TimescaleDB 같은 것이 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운전 화면과 분석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화면은 IT 서버가 멈춰도 OT에서 동작하고, 분석 화면은 IT에서 이력을 읽기 전용으로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-horizontal" descr="adjustments-horizont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SCADA에서 사람이 보고 조작하는 HMI(Human-Machine Interface)에 해당한다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OT에서 브로커를 직접 구독해 실시간 값과 알람을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운전원이 팬 속도와 펌프 부하의 설정값을 바꾼다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 쪽 서버가 멈춰도 계속 동작한다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FUXA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20726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20726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· 실시간 값과 조작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화면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이력 데이터를 그래프로 보여 주는 대시보드이다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IT에서 시계열 저장소를 조회해 이력과 추세를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전용이며 설비를 조작하지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추세선 위에 경보와 조치 시점을 주석으로 표시한다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Grafana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· 이력과 추세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경보·알람·인터록의 기준과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사람이 리셋해야 풀리는 유온 65 ℃ 초과 인터록보다 먼저 울려, 조치할 시간을 벌어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4429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adar" descr="rada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5965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55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값과 추세를 함께 보는 복합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진단과 조치의 흐름을 시작한다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59652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알람 · 60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화면의 알람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하나의 단일 임계치(Threshold)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운전원에게 현재 상태를 알린다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59652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· 65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인터록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트립시킨다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복귀하지 않으며, 유온이 55 ℃ 아래로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내려온 뒤 사람이 리셋한다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action.cmd에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cmd/auto로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관문과 PLC가 검사하는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관문은 승인된 명령인지 확인하고, PLC는 지금 그 설정값을 적용해도 되는지 다시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관문(Command Gateway)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스키마(Schema): 필수 항목과 형식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목록(Whitelist): 허용된 조치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expiresAt 이전인지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256개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기록: 승인된 명령과 내용이 같은지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모드: REMOTE_AUTO인지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빈도 제한: 초당 최대 2건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47296"/>
            <a:ext cx="146608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47296"/>
            <a:ext cx="14660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7가지 거절 사유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재검사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모드·출처: 자동 명령을 받을 수 있는지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PLC 시계로 다시 검사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32개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팬 0~100 % · 부하 60~100 %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인터록: 트립 중 일반 설정 변경 거절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547296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547296"/>
            <a:ext cx="1115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검사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리니지: 원천 데이터에서 판단 결과까지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리니지(Data Lineage)는 판단 결과에서 원천 계측값까지 되짚을 수 있게 남긴 내력이다.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11:13:06   55.41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feat_1s)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mean 55.71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slope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ALT-hyd01-0014-e0a1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DEC-1010-002-408b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센서와 PLC가 만들고 브로커가 전달한 계측값이다.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가공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서비스가 원천 데이터로 계산한 값이다. 기울기가 0보다 크면 유온이 오르는 중이다.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성립했을 때 감지 서비스가 남긴 경보이다.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결과와 추적성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진단·추천과 승인 기록이다. 추적성(Traceability)은 결과에서 근거를 되짚는 성질이다.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계층_0_전체.svg" descr="illust_5654847326134567256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데이터_명령_두경로.svg" descr="illust_115316494431008748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plant.tag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FanSpeedSP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action.cmd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FAN_SET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실행 환경 구성과 서비스 동작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환경에서 HYD 서비스를 실행하고 포털이 열리는지 확인한다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쓰는 도구와 확인하는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정의된 서비스를 실행해 컨테이너 상태와 주요 서비스 접속을 확인하고, 포털이 열리는 상태를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rand-vscode" descr="brand-vscode_13294B_1.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859" y="23000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VS Code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파일을 열고 편집하며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터미널에서 명령을 실행한다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nd-github-copilot" descr="brand-github-copil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3043" y="230004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GitHub Copilot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VS Code 채팅에서 자연어로 요청하면 파일을 읽고 고치는 코딩 에이전트이다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요청하고 코드를 실행·수정하며 만드는 방식을 바이브 코딩(Vibe Coding)이라고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607685"/>
            <a:ext cx="9052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607685"/>
            <a:ext cx="9052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코딩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rand-python" descr="brand-pyth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226" y="230004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Python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자체 서비스와 일부 랩에 쓰는 언어이다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언어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1464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rand-docker" descr="brand-docke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7410" y="230004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Docker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Desktop은 컨테이너를 실행하는 프로그램이다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Compose는 한 파일에 정의된 여러 서비스를 함께 실행한다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상태와 접속 결과를 정상 구성과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60768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60768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실행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이상에서 조치까지 전체 과정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 작업지시에서 판단과 경보의 근거를 찾는다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과정 관찰과 작업지시의 근거 추적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관찰하고, 작업지시가 참조하는 기록을 거슬러 조치의 근거를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산출물·성공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처리한 쿨러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당시 값(교재 예: TS1 55.71 ℃ · CE 46.2 %)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진단·추천 → 승인 → 팬 속도 100 % 명령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 뒤 유온·CLEAR 재관측과 핀 세척 작업지시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처리와 완화,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정비 작업을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참조 칸이 있는 기록 묶음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작업지시의 판단 참조 → 판단의 사건 참조 → 사건의 경보 참조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조건·관측값과 원인 판별 근거까지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기록별 참조를 표시한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 연결표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연결표와 완료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각 연결을 같은 참조로 확인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판단에 쓰인 증거와 경보 당시의 값을 구별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연결마다 참조가 맞고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까닭을 설명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경보라도 원인에 따라 조치가 달라지는 까닭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교재에 보관한 사건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279391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279391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4498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원인에 따라 달라지는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증상이 같아도 원인이 다르면 이를 없애는 조치가 달라지므로, 원인을 가려야 조치를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핀을 세척한다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핀의 막힘이 풀려 냉각 효율이 돌아온다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45084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45084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핀이 막힘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벨트를 점검한다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팬이 제 속도로 돌아야 바람이 충분해진다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4965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496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팬이 덜 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wind" descr="wi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캐비닛의 환기를 보강한다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쿨러로 들어가는 공기의 온도를 낮춘다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9537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9537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주변 공기가 더움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조치가 원인에 따라 설비를 세우는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유온이 오르면 팬을 최대로 돌린다는 한 줄의 규칙은, 원인에 따라 설비를 멈추게 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핀이 막힌 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바람이 늘어 유온이 61.4 ℃에서 51.5 ℃로 내려간다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해제된다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효과를 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베어링이 닳은 설비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조치로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VS1이 약 2.8 mm/s로 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진동 인터록 2.0 mm/s에 걸려 PLC가 설비를 멈춘다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설비가 멈춘다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필요한 정보가 흩어져 있을 때 무엇이 부족한가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흩어진정보.svg" descr="illust_8572795814533384560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문장에 들어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매뉴얼에 적힌 판별 기준을 경보·태그 값·조치와 잇는 관계로 옮겨야 컴퓨터가 따라갈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후보, 확인할 값, 기준이다. 사람이 읽고 해석해야 하는 문장이다. 아래 세 연결은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매뉴얼 대목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경보에는 매뉴얼의 어느 대목이 해당하는가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→ 태그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대목의 기준은 어느 태그의 값과 비교하는가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조치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원인이면 어떤 조치가 맞는가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숙련자의 판단 경로와 기록되지 않은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숙련자는 증상에서 원인과 조치를 잇지만, 연결을 기록하지 않으면 같은 정보에서도 판단 경로가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머릿속에서 잇는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증상·고장 유형·원인 후보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→ 쿨러 냉각 성능 상실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경험과 매뉴얼에서 핀 오염·팬 구동 불량·주변 온도 상승을 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후보와 순서가 다름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원인마다 어떤 센서를 볼지 정한다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효율·팬 진동·캐비닛 온도를 찾아 기준과 비교한다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숙련자가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늦어짐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원인에 맞는 조치를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일정의 제약까지 고려해 실행할 조치를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컴퓨터가 같은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경로를 못 따름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표·문서·코드에서 지식을 분리하는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 사이의 연결과 코드 속 판단 기준을 별도 지식으로 적으면, 사람과 컴퓨터가 함께 검토하고 고칠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펼치면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반복된다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직접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if CE_avg_30s &lt; 70 and VS1_avg_2m &lt; 0.9: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cause =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고장 유형이 네 행에 반복된다. 표 사이의 의미 연결은 따로 정의해야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 문장은 사람이 해석한다. 같은 대상을 문서마다 다르게 부르기도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 코드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변경에 코드 수정이 필요하다. 판단 근거와 출처도 별도로 기록해야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분리된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사람이 검토하고 컴퓨터가 따라가게 적는다. 프로그램과 별개로 고친다.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종류, 속성, 관계, 제약을 정의해 사람과 컴퓨터가 같은 뜻으로 쓰게 하는 방법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방법·근거 문서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가리키는 여러 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사람마다 다르게 부르는 말을 하나의 대상에 묶어, 누구나 같은 대상을 가리키게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「온도 상승」, 「과열」이라고도 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wind" descr="win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「냉각 불량」이라고도 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 증가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「떨림」, 「소음」이라고도 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ter" descr="filt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이름: 쿨러, 열교환기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온톨로지·지식 그래프·그래프 DB·관계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공통 정의, 지식 그래프는 정의에 맞춰 채운 지식이며, 그래프 DB와 관계 그림은 저장과 표현을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지식의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종류·속성·관계·제약을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지식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원인은 고장 유형을 일으킨다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그래프(Knowledge Graph)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실제 대상과 관계를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채운 지식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→ 냉각 성능 상실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DB(Graph Database)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저장하고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조회하는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저장하고 찾는다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이런 도구에 Neo4j가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연결을 사람이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보도록 나타낸 표현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원과 화살표로 그린다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pic>
        <p:nvPicPr>
          <p:cNvPr id="6" name="Picture 5" descr="illust_692584045133876200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증상·원인·조치·구성 요소는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직접 연결되고, 설비·센서·매뉴얼은 그 바깥에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pic>
        <p:nvPicPr>
          <p:cNvPr id="6" name="삽화:지식그래프_지도.svg" descr="illust_6469935926702819528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방향: 저장된 방향과 따라가는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이름의 뜻이 저장 방향을 정하며, 조회할 때는 새 관계를 만들지 않고 그 방향을 거슬러 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-right" descr="arrow-righ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CAUSES: 쿨러 핀 오염 → 쿨러 냉각 성능 상실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원인이 주어다: 「핀 오염은 냉각 성능 상실을 일으킨다」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이름의 뜻이 화살표의 방향을 정한다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고장 유형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-back-up" descr="arrow-back-u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따라가는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유형으로 들어오는 CAUSES를 거슬러 원인 후보를 찾는다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저장된 관계를 그대로 쓰며, 역방향 관계를 따로 만들지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화살표는 한쪽으로만 다녀야 하는 통행 방향이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2331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유형에서 원인을 찾는다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①: 경보에서 고장 유형까지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경보의 이상 패턴은 증상을 거쳐 고장 유형으로 이어지며, 이 관계가 원인 조회의 입구가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pic>
        <p:nvPicPr>
          <p:cNvPr id="6" name="삽화:경로2_1.svg" descr="illust_378200844204195041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6449" y="3726618"/>
            <a:ext cx="95573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9521" y="4780839"/>
            <a:ext cx="106192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②: 원인 후보, 증거,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원인 후보를 가려 조치를 찾으며, 뒷받침할 증거가 없거나 조회가 불완전하면 조치를 보류한다.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pic>
        <p:nvPicPr>
          <p:cNvPr id="6" name="삽화:경로2_2.svg" descr="illust_1744539338202103772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5504" y="5395408"/>
            <a:ext cx="12743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1671" y="2341476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2015" y="3962991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7153" y="5494684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3914" y="2341476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· 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4877" y="3962991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1873" y="5494684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70" y="3509156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2793" y="2133468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4382" y="4903753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기록에 남기는 기준·값·조치의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기록은 원인을 가린 기준과 관측값, 조치를 찾은 관계와 문서를 연결해 추천의 까닭을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조회한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30초 평균 46.2 % &lt; 70 %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2분 평균 0.575 mm/s &lt; 0.9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핀 오염의 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후보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평균 0.575 mm/s &lt;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 2분 평균 28 ℃ &lt; 35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불량·주변 온도 상승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판별 조건에 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그래프: 태그·집계 구간·판별 기준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저장소: 해당 구간의 관측값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현재 값을 구별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출처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— MITIGATED_BY → 조치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— HAS_STEP → 단계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— REFERS_TO → 매뉴얼 절 HM-8.5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근거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1순위: 팬 최대 운전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공동 2순위: 팬 최대·부하 80 %, 부하 70 %·야간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4순위: 쿨러 핀 세척(설비 정지)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등 업무 값도 함께 반영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이상과 원인 · 조치의 관계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더하고 증거와 조치의 차이를 확인한다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원인을 비교하는 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더해, 같은 고장 유형에서도 원인별 증거와 조치가 달라짐을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관계도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설비·구성 요소·센서·증상·고장 유형·원인·조치를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오염의 증거와 핀 세척 조치를 원문에서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대상 목록·HM-8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그림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 가지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그림에 팬 진동·팬 구동 불량·팬 점검을 추가한다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증거: VS1 최근 2분 평균 ≥ 0.9 mm/s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근거: HM-8.1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확장 그림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가지의 비교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고장 유형은 유지하고 증거·조치를 구별한다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화살표를 문장으로 읽고 원문과 대조한다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불량을 핀 세척으로 곧바로 잇지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풀어 쓴 약어의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 사이에서 드나드는 데이터와 명령을 검사하는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Message Queuing Telemetry Transport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발행자의 메시지를 브로커가 구독자에게 전달하는 경량 메시지 규약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Human-Machine Interface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설비 상태를 보고 조작하는 화면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