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회차는 과정의 마지막 회차입니다. 지금까지 만든 지식과 에이전트, 업무 흐름을 교대 인수인계 한 건에 모두 써 보겠습니다. 근무를 마치는 사람이 다음 근무자에게 메모를 남긴다고 해 보죠. 「쿨러 핀 세척 끝났습니다.」 다음 근무자는 이 한 줄을 그대로 믿어도 될까요? 실제 작업지시는 아직 열려 있을 수도 있고, 부품은 도착 예정일 뿐일 수도 있습니다. 이번 회차의 물음은 이겁니다. 인계받는 사람이 무엇을 보고 이 메모를 받아들이고, 무엇이 모자라면 다시 물어야 하는가. 이 물음에 답하는 재료는 이미 다 배웠습니다. 쿨러 처리 건에서 지식이 도구를 거쳐 판단의 근거가 되던 길, 그리고 추천안이 사람의 승인과 시스템 실행으로 닫히던 길이요. 오늘은 그 두 길을 짧게 되짚고, 같은 길을 교대 인수인계에 그대로 대어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학습목표는 카드 네 장입니다. 첫 카드는 지식이 판단의 근거가 되는 길이에요. 경보 한 건에 비어 있는 원인과 조치를 도구가 지식과 값으로 채우는 길을 따라가고, 실전 실습에서 만든 결과물들이 그 길의 어디에 놓이는지 찾습니다. 둘째 카드가 이번 회차의 중심입니다. 작업 메모를 설비, 정비, ERP 기록과 대조해서, 인수자가 받아들일 근거와 다시 물어야 할 보완 질문을 정하는 거예요. 셋째 카드는 업무가 끝나는 구조입니다. 추천안은 승인과 시스템 실행으로, 인계안은 두 사람의 확인으로 닫히는데, 장치마다 어떤 일을 맡는지 가릅니다. 마지막 카드는 실습과 정리예요. 보충 매뉴얼, 인계 에이전트, 제공된 교대 흐름으로 한 건을 끝까지 처리하고, ProcessGPT 시연과 학습노트 기록으로 마칩니다.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목차의 위 네 줄이 이론입니다. 첫째와 셋째 단원은 쿨러 처리 건으로 지식이 판단이 되는 길, 판단이 업무 완료가 되는 길을 되짚어요. 둘째와 넷째 단원은 그 두 길을 교대 인수인계에 적용합니다. 다섯째 줄은 교대 실습 네 개를 묶은 거고, 이어서 ProcessGPT 시연과 Notion 학습노트 기록을 한 뒤, 복습과 용어, 퀴즈로 마무리합니다. 이번 시간에는 앞의 두 단원, 지식이 판단의 근거가 되는 길과 교대 인계안의 근거를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단원은 지식이 판단의 근거가 되는 길입니다. 쿨러 성능 저하 경보가 났을 때 에이전트가 받은 건 경보 메시지 한 건뿐이었어요. 그런데 결과로 나온 추천안에는 원인과 조치, 순위와 출처가 다 들어 있었죠. 그 사이를 무엇이 채웠는지, 교대 인계에 쓰기 전에 그 길부터 짧게 되짚겠습니다.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왼쪽 열이 경보 메시지에 없는 것들입니다. 경보에는 어느 설비에서 어떤 조건이 성립했는지, 그때의 값이 무엇이었는지만 있어요. 원인 후보도, 원인을 가릴 값도, 할 수 있는 조치와 그 순위도, 판단의 출처도 없습니다. 가운데 열이 그 빈칸을 채우는 도구와 읽는 곳이에요. 원인 후보는 진단 도구가 지식 그래프의 관계를 따라가서 찾고, 원인을 가릴 냉각 효율이나 팬 진동 같은 값은 같은 진단 도구가 시계열 DB에서 읽습니다. 할 수 있는 조치와 그 순위는 조치 평가 도구가 SOP와 판단 규칙, 성과 기준, 그리고 업무 DB의 납기 같은 값을 읽어서 냅니다. 마지막 줄의 출처는 제출 도구가 추천안을 낼 때 규칙에 이어진 매뉴얼의 절을 함께 싣는 거예요. 어떤 도구를 어떤 차례로 부를지는 냉각 긴급 대응 스킬에 적혀 있었습니다. 오른쪽 열을 보세요. 그 재료가 만들어진 자리입니다. 관계는 클래스와 스키마로 설계했고, 증거 기준은 매뉴얼을 인제스천해서 넣었고, 조치와 조건은 SOP와 결정표로, 순위의 기준은 BSC와 KPI로 정했죠. 에이전트는 이 가운데 아무것도 그 자리에서 만들지 않습니다. 다 앞에서 만들어 둔 것을 도구로 읽어 올 뿐이에요.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 오른쪽 열을 만들어진 차례대로 펼치면 이 여섯 칸이 됩니다. 왼쪽 다섯 칸이 온톨로지를 구축한 단계예요. 무엇을 물을지 정하고 클래스와 관계, 식별자를 설계하고, 그 설계대로 그래프에 적재해서 Cypher로 조회했습니다. 그 지식에 SOP의 단계와 결정표의 규칙을 잇고, 조치를 견줄 성과 기준을 정했고요. 다섯째 칸에서 매뉴얼 원문의 절에서 지식을 뽑아 사람이 검토하고 적재했죠. 이렇게 단계마다 남긴 것을 여러 판단이 같이 쓰니까 공용 지식이라고 부릅니다. 마지막 칸이 에이전트의 자리예요. 진단 도구와 조치 평가 도구가 관계를 따라 그 지식을 읽습니다. 여기서 방향을 하나 기억해 두세요. 화살표는 구축에서 조회로만 갑니다. 에이전트의 업무 도구는 지식을 읽기만 하고, 쓰는 건 판단 제출 하나뿐이었어요. 기준이 틀렸으면 에이전트가 고치는 게 아니라, 앞 칸으로 돌아가 문서를 검토하고 다시 적재합니다. 교대 인계에서도 이 방향은 그대로예요.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진단 도구 안을 한 번 들여다보겠습니다. 화면 왼쪽 위가 원인 후보를 찾는 Cypher 조회예요. 이상 패턴 노드에서 출발해 증상을 거쳐 고장 유형에 닿고, 마지막 줄에서 화살표를 거꾸로 거슬러 원인에 닿습니다. 원인이 고장 유형을 일으킨다는 관계라 방향이 반대로 저장돼 있으니까요. 출발 노드는 그 아래 줄처럼 경보의 패턴 값으로 고릅니다. 경보 메시지와 그래프가 이 값 하나로 만나는 거죠. 이 조회로 나온 후보 셋이 그 아래에 있습니다. 쿨러 핀 오염, 팬 구동 불량, 주변 온도 상승이에요. 후보마다 화살표 왼쪽이 그래프에 적재된 기준이고, 오른쪽이 판단하는 순간 시계열 DB에서 읽은 값과 판정입니다. 핀 오염은 냉각 효율 평균이 70퍼센트 미만이고 팬 진동이 기준 아래여야 하는데, 냉각 효율은 46퍼센트쯤, 팬 진동은 0.6에 조금 못 미쳤으니 둘 다 맞아요. 팬 구동 불량은 진동이 기준 이상이어야 하니 아니고, 주변 온도 상승은 캐비닛 온도 35도 이상이어야 하는데 28도쯤이라 아닙니다. 이 기준은 수업 사례에 등록된 기준이에요. 모든 설비에 통하는 진단 법칙이라는 뜻은 아닙니다. 오른쪽 짚을 점을 보겠습니다. 첫째, 조회문은 도구 안에 정해져 있어서 에이전트는 패턴 값만 넘깁니다. 그래서 같은 데이터면 같은 후보가 나와요. 둘째, 기준과 값은 성격이 다릅니다. 기준은 검토하고 개정하는 지식이고, 값은 관측 시각과 함께 읽는 지금의 값이에요. 셋째, 결과가 0행이라고 원인이 없다는 뜻은 아닐 수 있습니다. 조회 조건과 실제로 적재된 연결을 같이 봐야 해요. 이 셋째 점은 뒤에서 교대 인계의 「확인 필요」로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원인이 핀 오염으로 가려지면 조치 평가 도구가 후보를 견줍니다. 표의 위 네 줄이 그 결과예요. 고장 유형에 이어진 SOP 넷이 그대로 후보가 됐고, 가운데 칸에 두 단계의 결과가 같이 적혀 있습니다. 먼저 결정표가 지금 해도 되는지를 가립니다. 위의 세 조치는 원격으로 하는 조치라 설비가 원격 자동일 때만 할 수 있는데, 이 사례에서는 그 조건을 충족했어요. 맨 아래 쿨러 핀 세척은 작업지시라서 운전 모드 조건이 없습니다. 그다음 남은 후보를 성과 기준이 점수로 줄 세웁니다. 팬 최대 운전이 1순위, 부하를 낮추는 두 조치는 점수가 같아 공동 2순위, 핀 세척은 4순위였죠. 마지막 줄은 그 순위에 들어간 업무 값입니다. 납기까지 여섯 시간이 채 안 남은 오더, 늦어지면 시간마다 붙는 지연 보상, 출하를 기다리는 로트 800개요. 이 값은 그래프에 적어 두지 않았어요. 값이 놓인 자리만 지식에 등록해 두고, 평가 도구가 판단하는 순간 그 자리를 따라 원천에서 읽었습니다. 그래서 같은 원인이라도 그날의 납기 사정에 따라 순위가 달라질 수 있어요. 오른쪽 승인 역할도 같은 식입니다. 핀 세척만 설비보전팀장이 승인한다는 건 에이전트가 정한 게 아니라 조치에 붙어 있는 지식이에요. 실전 실습에서 만든 조치 검토 결과가 바로 이 표의 가운데 칸을, 후보마다 이유와 출처까지 달아서 직접 구현한 것이었습니다.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제출된 추천안을 줄로 나눠 적었습니다. 줄마다 화살표 뒤에 그 줄을 만든 도구와 지식을 붙였어요. 원인 줄은 진단 도구가 그래프의 기준과 시계열의 값을 대조한 결과고, 배제 줄은 기준을 충족하지 못한 두 후보입니다. 맞지 않은 후보까지 남기는 이유가 있어요. 승인하는 사람이 왜 다른 원인이 아닌지를 확인할 수 있으니까요. 추천 줄은 조치 평가 도구가 규칙과 성과 기준으로 매긴 1순위고, 예측 줄은 그 조치를 했을 때 유온이 50도 조금 아래로 내려간다는 계산입니다. 계산이지 관측이 아니에요. 실제로 내려갔는지는 실행한 뒤에 다시 재 봐야 합니다. 승인 줄은 앞 장에서 본 조치에 붙은 역할이고, 마지막 출처 줄이 매뉴얼의 즉시 완화 조치 절이에요. 인제스천할 때 절을 노드로 두고 규칙을 그 절에 이어 둔 관계를 따라온 겁니다. 맨 아래 줄은 도구 사이로 넘어간 것이에요. 원인과 조치 방법이 이름이 아니라 식별자로 넘어갔습니다. 이름이 비슷한 원인이 하나 더 있어도 앞 도구가 가리킨 바로 그 노드를 뒤 도구가 읽게 하려고요. 오른쪽 셋째 점이 중요합니다. 출처 링크가 있다는 건 되짚어 볼 길이 있다는 뜻이지, 내용이 맞다는 보장은 아니에요. 문서 판본과 인용한 문장이 실제로 그 기준을 뒷받침하는지는 사람이 대조합니다. 실전 실습의 작업 확인 카드에 원문 절을 붙였던 것도 이 대조를 하려는 거였죠.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되짚은 길 위에, 실전 실습에서 직접 만든 결과물을 놓아 보겠습니다. 표의 왼쪽 열이 그 결과물들이에요. 조치 검토 결과는 조치 평가 도구의 자리였습니다. 후보마다 판정과 이유, 원문 출처, 추가로 확인할 값을 달았죠. 작업 확인 카드는 SOP의 준비, 금지, 완료 조건을 원문 절과 함께 모은 거라 출처 줄의 자리고요. 점검 요청은 원인 근거에 대상과 관측 시각, 확인 항목을 붙인 것이고, 다음 협의 안건은 확인된 사실과 아직 남은 확인을 갈라 정리한 거였습니다. 명세와 회귀 검증은 출력 계약을 정하고 정상, 누락, 오류 사례로 결과를 검사했던 거고요. 마지막 줄의 BPMN과 A, B, C 실행 기록은 다음 단원에서 볼 승인과 시스템 실행의 자리입니다. 오른쪽 열이 이번 회차에서 쓸 곳이에요. 교대 인계안을 만들 때 이 방법들을 그대로 다시 씁니다. 확인된 것과 미확인을 섞지 않는 법, 원문과 대조하는 법, 관측 시각과 확인할 질문을 붙이는 법, 메모의 주장과 원천 사실을 가르는 법, 계약과 사례로 검증하는 법이요. 그리고 A, B, C 실행에서 열어 둔 작업지시나 발주 중인 수량이 교대에 넘길 내용이 됩니다. 새로운 기술을 더 배우는 게 아니라, 익힌 방법을 다른 업무 한 건에 옮겨 쓰는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교대 인계로 넘어가기 전에 한 가지를 더 짚겠습니다. 결과가 비어 있을 때, 왜 비었는지를 가르는 일이에요. 표의 왼쪽 열이 비는 이유 다섯 가지, 가운데가 그때 출력에 나타나는 모습, 오른쪽이 그 빈칸을 잘못 채운 기록입니다. 첫 줄, 관계가 적재되지 않았으면 조회는 정상으로 끝나는데 후보가 0행이에요. 이걸 「원인이 없다」로 적으면 틀립니다. 둘째 줄, 기준에 댈 값이 없으면 진단 도구는 원인을 정하지 않고 보류를 냅니다. 여기서 그럴듯한 원인을 지어 넣으면 안 되죠. 셋째 줄, 값이 너무 오래됐으면 신선도 검사에 걸려 역시 보류예요. 지난 값을 지금 값처럼 쓰면 안 되고요. 강조한 넷째 줄이 교대에서 가장 자주 만날 경우입니다. 조회 자체가 실패했으면 출력에는 오류 응답과 실행한 조회가 남아야 해요. 이걸 「업무 없음」이나 0으로 적으면, 다음 근무자는 확인할 게 없다고 믿게 됩니다. 수업 시스템의 업무 규칙에도 실패를 0이나 빈 값으로 바꿔 성공처럼 내지 말라고 적혀 있어요. 마지막 줄은 출처 관계가 빠진 경우로, 추천은 나오지만 근거를 되짚을 길이 없습니다. 다섯 경우 모두 결과가 비었다는 점은 같아요. 다른 건 다음 사람이 어디를 확인해야 하느냐입니다. 적재를 볼지, 새 값을 기다릴지, 원천 연결을 고칠지가 달라지죠. 그래서 비어 있는 이유를 그대로 남기는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단원을 닫기 전에 판단 문제 하나 풀어 보겠습니다. 같은 시각의 값으로 에이전트를 두 번 돌렸더니, 한 번은 업무 값 조회 도구를 불렀고 한 번은 부르지 않았어요. 설명 문장도 서로 달랐습니다. 이 차이를 판단하는 방법으로 맞는 것은 무엇일까요? 1번, 설명 문장이 다르니 에이전트를 믿을 수 없어 두 결과를 모두 버린다. 2번, 후보, 기준, 읽어 온 값이 같은지 대조하고, 같다면 순서와 문장의 차이로 본다. 3번, 두 결과 가운데 점수가 더 높은 쪽을 정답으로 고른다. 4번, 문장을 고정하려고 스킬에 원인과 추천을 미리 적어 둔다. 답은 2번입니다. 어느 도구를 언제 부를지, 근거를 어떤 문장으로 설명할지는 에이전트가 정하는 부분이라 실행마다 달라질 수 있어요. 업무 값 조회도 스킬에 「필요하면」 하라고 적힌 단계였죠. 반면 후보와 기준, 그리고 읽어 온 값은 지식과 원천에서 온 것이라 에이전트가 정하지 않습니다. 순위에 드는 업무 값은 평가 도구가 직접 읽으니까, 조회 도구를 안 불렀어도 순위는 같게 나와요. 그러니 이 세 가지가 같은지 먼저 대조하면 됩니다. 1번은 정하지 않은 부분까지 의심해서 쓸 수 있는 판단을 버리는 거고, 3번은 같은 판단을 두 번 낸 걸 다른 답처럼 고르는 겁니다. 4번은 그럴듯하지만 원인과 기준이 그래프와 스킬, 두 곳에 생겨요. 문서가 개정되면 두 곳이 어긋나죠. 기준은 지식에 한 곳만 두고, 에이전트는 그걸 읽게 하는 게 원칙이었습니다.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단원은 교대 인계안의 근거와 원천 대조입니다. 쿨러 처리 건에서 본 지식과 조회 도구를, 이번엔 교대 인수인계 한 건에 써 보겠습니다. 이 단원의 물음은 처음에 던진 그 물음이에요. 인수자는 무엇을 보고 인계 내용을 받아들이고, 무엇이 모자라면 다시 물어야 하는가.</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처리 건을 나란히 놓았습니다. 왼쪽이 쿨러 처리 건, 오른쪽이 교대 처리 건이고, 줄마다 같은 항목을 견주게 맞춰 놓았어요. 시작부터 보죠. 쿨러는 경보 한 건이 처리 건을 열었습니다. 교대는 사람이 설비와 교대, 기준 시각, 작업 메모, 이 네 가지를 입력해서 엽니다. 읽기 줄을 보면, 교대도 같은 세 서버, 곧 지식 그래프와 업무 DB, 시계열을 읽어요. 다만 교대에 허용된 건 그 서버들의 조회 도구뿐입니다. 판단 카드를 제출하는 도구는 없어요. 결과 줄에서 둘이 갈립니다. 쿨러는 추천안 하나와 대안을 냈죠. 교대는 설비, 열린 작업지시, 부품, 작업 메모, 이 네 영역을 확인한 내용과 그 근거를 냅니다. 그리고 제출 줄을 보세요. 교대 처리 건에는 업무 시스템에 쓰는 일이 하나도 없습니다. 끝 줄도 달라요. 쿨러는 승인 뒤에 명령과 재관측, 작업지시가 실행됐지만, 교대는 인계자가 검토하고 인수자가 확인하는 데서 끝납니다. 꼬리표 두 개가 이 차이를 요약해요. 쿨러 처리 건은 조치를 실행하고, 교대 처리 건은 확인을 전달합니다. 업무 규칙에도 인수인계는 조회와 전달이고, 설비 명령이나 발주, 정비 완료를 실행하지 않는다고 적혀 있어요.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메모를 원천에 무슨 기준으로 대어 볼까요? 그 기준을 정한 게 보충 매뉴얼 HI-01입니다. 기존 쿨러, 정비, 구매 매뉴얼을 바꾸지 않고 새 문서로 더한 거고, 설비를 직접 움직이는 조치가 아니라 조회하고 확인할 때 쓰는 참고 절차예요. 표의 위 세 줄이 그 절차 셋입니다. 첫 줄은 설비 상태를 확인하는 절차예요. 시계열에서 관측 시각과 설비를 확인하고 최근 값을 읽는데, 인계 기준 시각과 실제로 조회한 시각을 함께 적습니다. 관측 시각이 없거나 조회가 실패하면 정상이라고 하지 말고 확인 필요로 남겨요. 둘째 줄은 열린 작업지시 대조입니다. 업무 DB에서 그 설비 작업지시의 상태와 완료 시각을 읽어요. 메모에는 정비가 끝났다고 적혀 있는데 작업지시가 열려 있거나 완료 시각이 없으면, 불일치나 확인 필요로 남깁니다. 셋째 줄은 부품이에요. ERP에서 현재고와 예약, 입고 예정을 따로 읽고, 입고 예정을 현재고에 더해서 도착했다고 쓰지 않습니다. 강조한 마지막 줄이 기록을 어떻게 해석하느냐예요. 인계 확인은 다음 근무자가 전달 사항을 확인했다는 기록입니다. 정비가 끝났다는 기록도, 부품이 들어왔다는 기록도, 발주를 승인했다는 기록도 아니에요. 서로 모순된 기록은 한쪽을 지우지 말고 둘 다 근거와 함께 남기라고 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기준이 인계안에서는 어떤 모양이 될까요? 왼쪽이 수업 시스템이 받아들이는 인계안의 출력 계약입니다. 맨 위가 인계 요약, 가운데 체크 항목이 네 영역이고, 맨 아래가 근거 목록이에요. 네 영역은 설비, 작업지시, 부품, 작업 메모이고, 각 영역을 꼭 한 번씩 적어야 합니다. 영역마다 상태를 셋 가운데 하나로 고르는데, 원천과 맞으면 확인됨, 근거가 모자라면 확인 필요, 서로 다르면 불일치예요. 그리고 확인한 사실, 다음 근무자가 확인할 일, 근거 목록의 번호를 답니다. 근거 목록에는 실제로 부른 도구와 그 결과가 들어가요. 오른쪽 짚을 점을 보겠습니다. 둘째 점이 핵심이에요. 작업 메모 밖의 영역이 근거 번호 없이 확인됨이나 불일치로 적히면 제출이 거절됩니다. 근거가 없으면 확인 필요로만 남길 수 있는 거죠. 셋째 점, 근거마다 이 작업에서 실제로 성공한 도구 호출과 맞아야 받아들여집니다. 조회하지 않은 결과를 근거로 꾸며 넣을 수 없게 해 둔 거예요. 그런데 넷째 점처럼 이 검사도 못 보는 게 있습니다. 근거가 실제 호출과 맞는지는 보지만, 맞는 설비를 조회했는지까지는 보지 않아요. 그건 사람이 근거를 열어 봐야 압니다. 앞에서 명세와 회귀로 출력 계약을 검사했던 것과 같은 구조예요. 계약이 형식을 지키게 하고, 내용은 사람이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계약으로 작업 메모 한 장을 대조해 보겠습니다. 왼쪽 메모의 주장과 가운데 원천 조회 결과는 수업용으로 정한 예예요. 오른쪽에 영역별 상태와 다음 근무자가 확인할 일을 적었습니다. 첫 줄, 메모는 유온 경보가 해소됐다고 합니다. 조회해 보니 최근 값은 정상인데, 관측 시각이 인계 기준 시각보다 뒤예요. 기준 시각 당시의 상태는 복원하지 못했고요. 그러면 지금 값이 정상이라는 것과 기준 시각에 해소됐다는 것은 다른 얘기라서 확인 필요로 남기고, 기준 시각의 상태를 확인할 일로 넘깁니다. 둘째 줄, 메모에는 핀 세척 정비가 끝났다고 적혀 있는데 작업지시는 배정됨 상태이고 완료 시각이 없어요. 둘이 서로 다르니 불일치입니다. 메모와 작업지시 조회, 두 근거를 모두 남기고, 담당자에게 작업지시를 확인하라고 적어요. 실제 수업 시스템에서 돌린 교대 한 건도 바로 이 경우를 불일치로 남기고 다음 확인을 적은 뒤에 인수 확인으로 끝났습니다. 셋째 줄은 부품이에요. 메모는 쿨러 코어를 받아 뒀다고 하는데 현재고는 0이고 입고 예정이 1입니다. 입고 예정을 받은 걸로 칠 수 없으니 이것도 불일치고, 입고 기록을 확인할 일로 넘깁니다. 마지막 줄은 작업 메모 자체예요. 메모는 쓴 사람의 기록이라 주장으로 남기고, 원천과 다른 두 곳을 짚어 둡니다. 같은 메모 한 장인데 영역마다 상태가 다르게 나왔죠. 그래서 다음 근무자가 할 일도 영역마다 구체적으로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이번 회차의 중심 물음에 답해 보겠습니다. 인수자는 인계안을 받았을 때 무엇을 보고 받아들일까요? 문장이 아니라 근거 번호가 가리키는 원천 조회를 봅니다. 표의 가운데 열이 영역마다 받아들일 근거고, 오른쪽 열이 그 근거가 모자랄 때 보완 사유에 적을 질문이에요. 설비 영역은 관측 시각이 기준 시각과 함께 적힌 시계열 조회가 있어야 받아들입니다. 없으면 이 값은 언제 관측한 거냐고 묻죠. 작업지시 영역은 대상 설비 작업지시의 식별자와 상태, 완료 시각이 근거예요. 열려 있다면 누구에게 확인할지가 적혀 있어야 하고요. 부품 영역은 현재고, 예약, 입고 예정이 나뉜 ERP 조회여야 합니다. 셋이 한 숫자로 뭉쳐 있으면 나눠서 다시 적어 달라고 요청해요. 아래 두 줄은 상태별입니다. 불일치는 메모와 원천, 두 근거가 다 남아 있어야 받아들여요. 그리고 어느 기록이 더 늦은 시각의 것인지 묻습니다. 메모가 작업지시를 닫기 전에 쓰였는지, 닫힌 뒤에 쓰였는지에 따라 다음 확인이 달라지니까요. 확인 필요는 실패 응답이나 자료가 없는 이유, 그리고 실행한 조회가 남아 있어야 합니다. 실패를 업무 없음으로 적은 건 아닌지 묻는 거죠. 근거가 모자라면 인수자는 이 질문을 사유로 적어 보완을 요청합니다. 그러면 같은 처리 건 안에서 에이전트가 지금 상태를 다시 조회해 인계안을 고치고, 인계자가 다시 검토해요. 인수자가 할 일은 인계안을 대신 고쳐 쓰는 게 아니라, 무엇이 모자란지 정확히 묻는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문제로 확인해 보겠습니다. HYD-01의 인계안에서 작업지시 영역이 「열린 작업지시 없음」으로 적혀 있어요. 그런데 근거 번호를 열어 보니 조회 대상이 HYD-02였습니다. 인수자의 선택으로 맞는 것은 무엇일까요? 1번, 근거가 실제 도구 호출과 맞으니 그대로 인수 확인한다. 2번, 대상 설비로 다시 조회해 달라는 사유를 적어 보완을 요청한다. 3번, 인수자가 작업지시를 직접 조회한 뒤 인계안을 고쳐 쓰고 확인한다. 4번, 인수자가 인계를 거절해 처리 건을 닫는다. 답은 2번입니다. 이 근거는 실제로 성공한 조회라서 계약 검사는 통과했어요. 하지만 다른 설비를 조회한 결과라 HYD-01에 대해서는 아무것도 말해 주지 않습니다. 그러니 대상 설비로 다시 조회해 달라는 사유를 적어 보완을 요청하면, 같은 처리 건에서 다음 초안이 다시 조회해요. 1번은 계약 검사를 통과한 걸 내용이 맞는 걸로 본 겁니다. 3번은 인수자의 몫을 넘어요. 인수자가 남기는 건 확인이나 보완이라는 결정과 그 사유이고, 인계안을 고쳐 쓰는 건 초안 단계의 일입니다. 4번은 인수자에게 없는 선택지예요. 인수자는 확인과 보완만 고를 수 있고, 거절은 인계자 검토에만 있습니다. 이렇게 인계안의 근거는 계약으로 형식을 지키고, 인수자가 원천을 열어 내용을 받아들이는 구조였습니다. 다음 시간에는 추천안이 승인과 시스템 실행을 거쳐 업무로 끝나는 구조를 되짚고, 같은 구조로 교대 처리 건의 검토와 인수 확인을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에이전트가 낸 결과가 사람과 시스템을 거쳐 끝난 업무가 되는 구조를 되짚고, 그 구조를 교대 처리 건에 적용합니다. 세 번째 단원은 추천안에서 업무 완료까지예요. 쿨러 처리 건에서 추천안이 제출된 뒤에 무엇이 남아 있었는지, 그리고 처리 건이 닫힌 뒤에도 무엇이 남는지를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처리 건이 지나간 자리를 위에서부터 일곱 줄로 놓았습니다. 가운데 열이 그 자리를 맡은 쪽, 오른쪽 열이 그 자리에 남은 기록이에요. 맨 위, 경보가 처리 건을 열었습니다. 강조한 둘째 줄이 에이전트의 자리예요. 냉각 긴급 대응 에이전트가 진단하고 추천안을 냈죠. 셋째 줄부터는 다른 쪽이 맡습니다. 운전원이 사람 작업으로 승인하고, 엔진이 냉각 명령을 SCADA를 거쳐 PLC로 보냈어요. 오른쪽 화살표가 엔진이 쓰는 방향입니다. 다음 줄은 화살표가 반대죠. 엔진이 시계열 DB에서 유온을 다시 읽어서, 61도에서 51도 남짓으로 내려온 걸 확인했습니다. 그 뒤 엔진이 CMMS에 쿨러 핀 세척 작업지시를 등록하고, 결과를 정상으로 보고하며 끝났어요. 일곱 자리 가운데 에이전트가 맡은 건 하나뿐입니다. 추천안이 나온 순간은 업무가 끝난 때가 아니라 앞부분을 지난 때예요. 그리고 오른쪽 열처럼 자리마다 따로 기록이 남았습니다. 작업지시에는 어느 판단에서 나왔는지 판단 번호가 같이 적혀 있어서, 정비 담당자가 작업지시 한 장에서 출발해 판단의 근거까지 거슬러 갈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에이전트의 자리에서 명령 자리까지, 무엇이 어떤 차례로 넘어가는지를 다섯 단계로 놓았습니다. 첫 단계, 에이전트가 출력 계약대로 판단 결과를 제출합니다. 그러면 그 단계는 제출됨 상태가 되고, 에이전트의 일은 여기서 끝나요. 둘째 단계에서 엔진이 이어받습니다. 단계가 미리 선언한 출력만 처리 건의 변수로 합치고, 운전원 승인 단계를 열어요. 다음 차례를 여는 건 에이전트가 아니라 엔진입니다. 셋째 단계가 사람의 결정이에요. 승인인지, 어떤 조치를 골랐는지, 누가 어떤 역할로 승인했는지가 남는데, 이 값들은 서버가 채웁니다. 에이전트가 「승인됨」이라고 써 넣을 수 없게 막아 둔 거죠. 넷째 단계에서 승인을 접수했다는 기록과 전달했다는 기록이 차례로 남고, 마지막 단계, 전달이 끝난 뒤에야 냉각 명령이 열립니다. 이 차례에서 기억할 건 둘이에요. 에이전트는 계약대로 내면 끝나고, 사람의 결정은 서버가 기록한다는 겁니다. 교대 처리 건에서도 인계안을 낸 뒤의 차례를 엔진이 열고, 두 사람의 결정을 서버가 기록해요.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결정에 따라 처리 건은 세 가지로 끝날 수 있습니다. 표의 세 줄이 그 결말이고, 오른쪽 열이 이번 회차에서 새로 붙인 칸, 다음 근무자에게 남는 확인이에요. 첫 줄, 승인하고 회복까지 확인한 경우입니다. 명령과 재관측, 작업지시 등록이 실행되고 정상으로 끝났죠. 그런데 오른쪽을 보세요. 핀 세척 작업지시는 등록됐을 뿐, 정비는 아직입니다. 처리 건은 닫혔지만 다음 근무자는 이 작업지시가 언제 처리되는지 이어서 봐야 해요. 둘째 줄, 거절하면 설비 명령은 하나도 나가지 않고, 거절의 끝 이벤트로 닫힙니다. 결과 보고의 값은 기록에 반려로 적혀요. 이때 경보의 원인은 그대로 남아 있으니, 왜 거절했는지를 다음 근무자에게 전해야 합니다. 셋째 줄, 응답이 없으면 기한 10분이 지나도 승인 지연 알림만 나가고 처리 건은 닫히지 않아요. 자동으로 승인되지도 취소되지도 않습니다. 승인을 기다리는 처리 건이 있다는 사실 자체가 넘길 내용이에요. 세 경우 모두 처리 건이 끝났다고 업무가 다 끝난 게 아니었습니다. 이 오른쪽 열이 바로 교대 인계안이 담아야 할 내용이에요.</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실전 실습에서 A, B, C 세 업무를 실행해 봤죠. 그 실행 기록에서 교대로 넘길 것을 정리해 보겠습니다. 왼쪽이 업무와 승인자, 가운데가 승인 뒤의 시스템 실행, 오른쪽이 교대에 넘길 확인이에요. A 냉각 대응은 운전원이 승인하고, 명령과 재관측, 작업지시 등록까지 실행됐습니다. 작업지시는 등록일 뿐 정비 완료가 아니에요. B 정기 점검은 설비보전팀장이 승인하고, CMMS에 정비 오더를 등록하고 생산팀에 공지를 보냅니다. 넘길 건 정비 예정 시간과, 실제로 정비를 했는지예요. C 재고 보충은 구매 담당이 승인하고, ERP 발주와 공급사 통지, 입고 확인이 이어집니다. 수업 시스템은 입고를 바로 반영하지만 실제 배송과는 다르죠. 그래서 발주 중인 수량과 입고가 끝난 수량을 나눠 넘겨야 합니다. 강조한 마지막 줄이 재고 보충이 시작될 때의 값이에요. 현재고 3에 정비 예약이 2라서 쓸 수 있는 건 1이고, 발주 중은 0이었습니다. 재주문점 2보다 적어서 목표 재고 7까지 6개가 필요했죠. 여기서 보듯 현재고, 예약, 발주 중은 서로 다른 칸입니다. 교대 인계안의 부품 영역에서 이 칸들을 한 숫자로 합치지 않고 이름 그대로 넘기는 이유가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건이 끝났는지는 상태 값으로 봅니다. 그런데 그 상태 값이 무엇을 말해 주지 않는지 짚고 가겠습니다. 표의 다섯 처리 건, 가운데 열을 보면 상태가 모두 COMPLETED예요. A를 승인한 건과 거절한 건이 똑같이 COMPLETED입니다. B와 C를 거절한 건도 그래요. 상태 값은 흐름이 끝났다는 것만 말합니다. 무엇으로 끝났는지는 그 옆의 끝 이벤트와 결과 보고를 봐야 하죠. 그리고 오른쪽 열을 보세요. B를 거절한 뒤에도 정기 점검 도래 표시가, C를 거절한 뒤에도 재고 보충 필요 표시가 켜진 채 남아 있습니다. 업무 쪽에서는 일이 끝나지 않은 거예요. 강조한 마지막 줄이 교대 처리 건입니다. 인수 확인이 끝나면 처리 건은 COMPLETED이고, 인수 확인 기록 완료라는 끝으로 닫혀요. 그래도 열린 작업지시와 입고 예정은 그대로입니다. 교대 흐름에는 업무 시스템에 쓰는 단계가 없으니까요. 그래서 처리 건의 결과를 읽을 때는 세 곳을 봅니다. 상태 값, 끝 이벤트와 결과 보고, 그리고 업무 쪽에 남은 표시예요. COMPLETED를 성공이나 업무 완료로 읽으면 다음 근무자가 확인할 일을 놓칩니다.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단원은 교대 처리 건의 장치와 사람의 확인입니다. 에이전트, 스킬, MCP, 명세와 시나리오, BPMN 정의와 인스턴스, 작업 담당, 승인, 시스템 작업. 쿨러 처리 건에서 이 장치들이 맡던 일을 교대 처리 건에서는 어떻게 나눠 맡는지, 그리고 제공된 교대 흐름에서 무엇을 바꿀 수 있고 무엇을 지켜야 하는지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열이 장치 이름이에요. 위 네 줄은 에이전트 쪽 장치, 아래 다섯 줄은 프로세스 쪽 장치입니다. 가운데가 쿨러 처리 건, 오른쪽이 교대 처리 건이고요. 에이전트 쪽부터 보죠. 쿨러에서는 냉각 긴급 대응 에이전트가 추천안을 냈고, 교대에서는 실습에서 직접 구성할 인계 에이전트가 인계안을 냅니다. 스킬은 쿨러에서 진단, 평가, 제출의 순서였고, 교대에서는 네 영역을 어떻게 대조하고 상태를 어떻게 판정할지의 기준이에요. MCP 줄을 보면 쿨러 쪽은 제안 제출 도구까지 있었지만, 교대 쪽은 같은 세 서버의 조회 도구뿐입니다. 명세와 시나리오도 각각 추천안 계약과 인계안 계약, 거절 시나리오와 불일치 시나리오로 바뀌어요. 프로세스 쪽으로 내려가면, 정의는 냉각 대응 흐름과 제공된 교대 흐름의 별도 판본이고, 인스턴스는 경보 한 건이 여는지 시작 폼의 네 입력이 여는지가 다릅니다. 작업 담당은 쿨러가 에이전트, 운전원, 시스템이었고, 교대는 에이전트, 인계자, 인수자예요. 강조한 줄과 맨 아래 줄에서 가장 크게 달라집니다. 쿨러에는 사람의 확인이 운전원 승인 하나였는데, 교대에는 인계자 검토와 인수자 확인, 둘이에요. 그리고 교대에는 시스템 작업이 하나도 없습니다. 쿨러는 사람이 승인한 조치를 시스템이 실행하는 처리 건이었고, 교대는 에이전트가 모은 근거를 두 사람이 확인하는 처리 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제공된 교대 흐름이 실제로 어떤 차례로 도는지 표로 펼쳤습니다. 왼쪽이 지금 차례, 가운데가 그 차례에서 내리는 결정, 오른쪽이 다음 차례예요. 인계 요청에서 설비와 교대, 기준 시각, 작업 메모를 입력하면 에이전트가 인계안을 작성하고, 초안과 근거를 내면 인계자 검토로 넘어갑니다. 강조한 두 줄이 사람의 검토예요. 인계자는 승인, 보완, 거절 가운데 하나를 고릅니다. 승인하면 인수자 확인으로, 보완이면 보완 초안으로, 거절이면 인계 거절 기록으로 끝나요. 인수자는 확인이나 보완을 고르고, 확인하면 인수 확인 기록 완료로 끝나고, 보완이면 역시 보완 초안으로 갑니다. 보완 초안은 두 번까지 있어요. 보완 1, 보완 2마다 인계자 검토와 인수자 확인이 다시 따라옵니다. 이때 에이전트는 사람이 적은 사유를 받아서 지금 상태를 다시 조회해요. 앞 초안의 조회 결과를 그대로 다시 쓰지 않습니다. 마지막 줄을 보세요. 보완 2 뒤에도 다시 보완을 요청하면 더 돌지 않고, 후속 확인 필요, 인수 미확정으로 끝납니다. 끝없이 고치게 두지 않고, 확인하지 못한 채 끝났다는 사실을 끝 이벤트로 남기는 거죠. 그러니 이 흐름의 끝은 셋입니다. 확인, 거절, 그리고 후속 확인 필요예요.</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사람의 결정이 실제로 무엇으로 남는지 보겠습니다. 왼쪽은 각 단계가 내는 결과 칸이에요. 인계자 검토는 승인, 보완, 거절 가운데 하나와, 확인 사항이나 보완 · 거절 사유를 남깁니다. 사유는 비워 둘 수 없어요. 인수자 확인은 확인이나 보완 가운데 하나와 사유를 남기는데, 칸이 하나 더 있습니다. 확인을 고를 때는 이 확인이 전달받았다는 기록일 뿐이라는 데 반드시 동의해야 해요. 동의하지 않으면 시스템이 받아들이지 않고 「인계 확인은 설비 조치, 발주, 정비 완료가 아님을 확인하라」고 돌려보냅니다. 아래 보완 초안은 두 사람이 적은 사유를 입력으로 받고, 필요한 지금 상태를 다시 조회하고요. 오른쪽 짚을 점을 차례로 보면, 첫째, 거절은 인계자 검토에만 있습니다. 인수자는 확인과 보완만 고를 수 있어요. 둘째, 사유가 있어야 받아들여지니까 다음 초안이 무엇을 고칠지 압니다. 앞에서 정한 보완 질문이 바로 여기 들어가요. 셋째, 강조한 전달 확인입니다. 사람이 인수 확인을 누른 순간 열린 작업지시가 닫히거나 부품이 들어오는 게 아니라는 걸, 결정하는 사람 스스로 한 번 더 확인하게 만든 장치예요. 넷째, 보완할 때는 앞 초안의 조회 결과를 지금 상태로 다시 쓰지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실습에서는 이 교대 흐름을 bpmn.io에서 열어 손보고 포털에 판본으로 등록합니다. 그때 바꿀 수 있는 것과 유지해야 하는 것을 나눠 두었어요. 왼쪽, 바꿀 수 있는 건 작업의 표시 이름과 그림 배치, 흐름의 이름, 그리고 세 초안 단계에 배정할 자기 에이전트입니다. 이렇게 바꾼 흐름은 별도 판본으로 등록돼요. 오른쪽 강조한 칸이 유지하는 것입니다. 흐름의 식별자와 작업, 연결, 분기 조건, 시작 입력 네 개는 그대로 둡니다. 쓰기 도구나 시스템 작업을 더하지 않고, 학생이 따로 만든 코드가 포털 작업에 자동으로 붙지도 않아요. 이건 말로만 정한 규칙이 아닙니다. 등록할 때 시스템이 제공 흐름과 구조를 비교해서, 이름만 다르고 구조가 같은 판본만 받아요. 매핑도 흐름 이름과 세 초안 단계의 에이전트만 바뀌었는지 검사합니다. 그래서 학생마다 표시 이름은 달라도 검토와 보완의 경로, 시작 입력은 모두 같아요. 인수 확인이 정비나 발주로 바뀌는 길이 흐름 안에 생기지 않는 것도 이 검사 덕분입니다.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 장치 가운데 명세와 시나리오를 교대에 적용해 보겠습니다. 실전 실습에서 기대 결과를 먼저 정하고 판정 코드로 검사했던 그 방법이에요. 왼쪽이 시나리오입니다. 전제에서 작업 메모에 「쿨러 핀 세척 정비 완료」가 있고, 그 설비의 작업지시는 배정됨 상태에 완료 시각이 없다고 정합니다. 행동은 인계안을 작성하는 거고요. 기대 결과는 넷이에요. 작업지시 영역의 상태는 불일치, 메모와 작업지시 조회를 모두 근거로 남기고, 다음 근무자가 확인할 작업지시를 적고, 작업지시를 닫는 호출은 없어야 합니다. 오른쪽 짚을 점을 보면, 전제는 명세의 입력 계약처럼 메모와 원천의 상태를 먼저 정한 거예요. 강조한 기대 결과에서는 상태, 근거, 다음 확인을 결과에서 검사합니다. 문장 표현은 실행마다 달라도 괜찮아요. 셋째, 회귀 검증도 함께 합니다. 원천이 메모와 같은 사례도 돌려서, 일치하는 경우는 확인됨으로 남기는지 봐야 해요. 불일치만 잘 잡는 게 아니라 멀쩡한 경우를 불일치로 만들지 않는지도 봐야 하니까요. 넷째, 실제 수업 시스템에서 돌린 교대 한 건도 이 경우를 불일치로 남긴 뒤 인수 확인으로 끝났습니다.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교대 처리 건을 돌려 보면 기대와 다른 결과가 나올 수 있어요. 그때 어디부터 볼지를 증상별로 정리했습니다. 왼쪽이 드러난 증상, 가운데가 먼저 볼 곳, 오른쪽이 영역이에요. 인계안 근거에 HI-01의 절이 나오지 않는다면, 보충 매뉴얼을 검토하고 적재할 때 출처가 이어졌는지부터 봅니다. 지식의 문제예요. 입고 예정이 현재고로 적혔다면 스킬과 지침에 대조 기준을 제대로 적었는지 봅니다. 근거가 실제 호출과 맞지 않아 제출이 거절됐다면, 출력 계약과 그 작업의 도구 호출 기록을 대조하고요. 이 둘은 에이전트 쪽입니다. 초안 단계에서 다른 에이전트가 돈다면 판본의 세 초안 단계에 누구를 배정했는지 봅니다. 프로세스 쪽이죠. 마지막 줄, 보완을 두 번 했는데도 미확정으로 끝났다면, 보완 사유가 구체적이었는지, 다시 조회한 원천이 무엇을 보여 줬는지를 봅니다. 사람의 결정과 흐름이 함께 걸린 경우예요. 이렇게 증상으로 영역을 먼저 좁히면, 에이전트의 문장부터 고치다가 진짜 원인을 놓치는 일을 줄일 수 있습니다. 그다음은 처리 건 기록을 따라가며 확인하면 돼요.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실습으로 교대 인수인계 한 건을 직접 처리합니다. 첫 실습은 인계 문제의 입력과 완료 조건을 정하는 거예요. 화면의 첫 카드가 입력입니다. 대상 설비와 인계할 교대, 기준 시각, 전달받은 작업 메모를 HI-01의 기준에 맞춰 정리해요. 둘째 카드는 다음 담당자가 이어 확인할 것, 설비 상태와 열린 작업, 부품, 작업 메모입니다. A, B, C에서 본 업무 기록을 다시 실행하는 게 아니라, 그 기록과 별개로 교대 한 건의 문제를 정하는 거예요. 셋째 카드가 완료 조건입니다. 주장마다 근거가 있고, 불일치와 확인할 일이 남고, 인계자 검토와 인수자 확인이 기록되면 완료예요. 이 조건을 먼저 정해 둬야 나중에 인계안이 맞는지 판정할 기준이 섭니다.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33~34장 통합 발화는 33장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인계의 기준이 될 보충 매뉴얼을 지식에 더하는 실습입니다. 강사 코드로 교대 실습이 열리면 제공 HI-01을 고릅니다. 둘째 카드처럼 준비된 추출 후보의 절차와 조건, 근거를 원문과 하나씩 대조해요. 같은 문서를 같은 조건으로 뽑은 결과를 다시 쓰는 것과, 사람이 검토해서 적재하는 일은 다릅니다. 앞의 것은 시간을 아끼는 거고, 뒤의 것은 여전히 사람의 몫이에요. 셋째 카드에서 지식 지도로 새 항목의 식별자와 문서, 판본, 절이 이어졌는지 확인하고, 마지막 카드처럼 검토한 항목만 더하고 기존 세 문서는 그대로인지 봅니다. 여기서 더한 절차가 이후 인계안의 확인 기준이 돼요.</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35~36장 통합 발화는 35장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번째는 원천을 대조하는 인계 에이전트와 스킬을 만드는 실습입니다. 첫 카드, 도구는 허용된 설비, 정비, ERP 읽기 도구뿐이에요. 쓰기나 설비 조치 도구는 없습니다. 둘째 카드처럼 관측 시각, 열린 작업지시, 재고와 예약, 발주 중 수량, 작업 메모를 대조하게 하고, 셋째 카드처럼 완료 주장과 원천이 다르면 두 근거와 확인할 질문을 남기게 해요. 마지막 카드가 검증입니다. 결과의 문장마다 원천 기록과 비교하고, 모자라면 지침을 보완하세요. 로컬 랩에서 익힌 출처와 질문, 검증 방법을 그대로 쓰면 됩니다. 다만 로컬에서 만든 코드가 포털 작업에 자동으로 붙지는 않아요.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37~38장 통합 발화는 37장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실습에서는 제공된 교대 흐름을 등록하고 한 건을 끝까지 실행합니다. 화면의 흐름을 왼쪽부터 보면, bpmn.io에서 표시 이름과 배치만 정리하고 시작 입력, 검토, 보완 분기는 그대로 둡니다. 세 초안 단계에 자기 에이전트를 배정해 판본을 등록하고, 설비와 교대 정보를 넣어 처리 건을 시작해요. 초안이 나오면 원천과 대조하고 인수자에게 근거와 남은 일을 설명합니다. 실제로 보완할 내용이 있으면 같은 처리 건에서 재검토하고요. 마지막 칸처럼 인수 확인을 정비나 발주 완료로 바꾸지 않고, 최종 인계안과 근거, 확인 기록을 저장하면 끝입니다.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39~40장 통합 발화는 39장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교대 한 건을 직접 끝까지 처리해 봤습니다. 이번엔 같은 구조가 실제 제품에서는 어떻게 보이는지, ProcessGPT 시연으로 확인하겠습니다. 시연 전에 무엇을 대어 볼지 두 장으로 준비할게요.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BPMN으로 업무 흐름을 표현하고, 여러 에이전트의 일을 순서대로 조율하는 오픈소스 프로젝트입니다. 개발사가 공개한 소개에서 확인할 수 있는 방향이에요. 우리 수업의 프로세스 엔진도 이 제품을 그대로 설치한 게 아니라, 제품의 구조를 참고해 직접 구현한 거고요. 표의 왼쪽 열이 교대 실습에서 만든 것, 가운데가 제품에서 불리는 이름입니다. 등록한 교대 흐름의 판본은 프로세스 정의와 정의 버전, 직접 돌린 교대 처리 건은 프로세스 인스턴스예요. 인계안 작성, 검토, 확인 같은 단계 하나하나는 워크아이템이라고 부르고, 강조한 줄처럼 인계자와 인수자의 차례는 사람에게 맡겨진 워크아이템이 모이는 작업함에 놓입니다. 인계 에이전트는 사용자 목록에 사람과 나란히 등록되고, 쓸 도구는 조직 단위로 등록한 MCP 서버에서 나와요. 보충 매뉴얼 같은 지식은 지식 그래프와 문서 검색 같은 구성이 맡습니다. 오른쪽 열이 시연에서 확인할 것이에요. 정의와 실행 건이 어디서 갈리는지, 지금 누구의 차례인지, 사람 작업이 어디에 놓이는지를 보면 됩니다. 이름은 달라도 처리 건과 단계를 가르던 질문은 그대로 쓸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번째로 준비할 건 통제와 실행 기록입니다. 왼쪽이 통제 요소, 가운데가 교대 실습에서 그 통제를 본 자리, 오른쪽이 제품에서 확인할 것이에요. 강조한 첫 줄, 사람의 확인은 교대에서 인계자 검토와 인수자 확인 단계였죠. 제품에서는 사람 작업이 흐름의 어디에 놓이는지 봅니다. 권한은 교대에서 역할마다 고를 수 있는 선택지가 정해져 있었는데, 수업에서는 역할을 화면에서 골랐어요. 기업에서는 접속한 사람의 신원과 그 사람의 권한이 연결돼야 하니까, 제품에서는 그 연결을 봐야 합니다. 실행 기록은 처리 건의 이벤트와 근거 번호, 보완 사유로 남았고요. 실행 격리는 인계 에이전트가 조회 도구만 쓴 것, 변경 통제는 구조 검사를 통과한 판본만 등록된 것이었습니다. 마지막 줄이 가장 중요한 기준이에요. 제품 소개에 나온 기능과 우리 환경에서 실제로 검증한 기능은 다릅니다. 시연에서 본 것은 본 것대로, 확인하지 못한 것은 미확인으로 구별해 남기면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볼 것을 카드 네 장으로 정리했습니다. 첫째, 지식 조회와 에이전트 판단이 어느 작업에서 일어나는지. 둘째, 사람 작업이 어디에 놓이고 다음 차례를 누가 여는지예요. 셋째, 제품의 정의와 인스턴스, 작업함을 교대 실습의 판본, 처리 건, 차례와 비교하고, 넷째, 업무 통제와 실행 기록이 어디에 남는지 봅니다. 확인하지 못한 것은 미확인으로 남겨 두세요.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시연까지 봤으니, 마지막 실습은 지금까지의 결과를 Notion 학습노트에 기록하는 겁니다. 카드 순서대로 보면, 먼저 지식, 판단, 승인, 인계 확인 같은 핵심 개념을 자기 문장으로 적습니다. 그 옆에 이번에 만든 인계안과 흐름 판본, 처리 건, 그리고 조회 근거와 HI-01의 절을 연결해요. 셋째 카드처럼 조회, 판단, 검토, 실행 확인에 쓴 자료와 산출물을 이어 두면 나중에 다시 찾아 쓸 수 있습니다. 기록은 수업 환경에서 쓸 수 있으면 MCP로 반영하고, 그렇지 않으면 작성한 Markdown을 직접 붙여 학습노트를 완성하면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45~46장 통합 발화는 45장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학습노트까지 정리했으니, 복습과 용어 정리, 퀴즈로 이번 회차를 마무리하겠습니다. 먼저 교대 한 건의 다섯 순간을 놓았어요. 가운데 영역 칸과 오른쪽 근거 칸은 잠깐 가려 둘게요. 순간마다 지식, 에이전트, 프로세스 가운데 어느 영역의 일인지, 근거와 함께 골라 보세요. 첫째, HI-01 절차를 원문과 대조해 추가한 건 지식의 일입니다. 사람이 검토해서 적재한 절차와 출처가 남았죠. 둘째, 작업지시의 상태를 읽어 메모와 대조한 건 에이전트의 일이에요. 도구로 읽은 원천 값을 기준에 대어 판단했으니까요. 셋째, 인계자가 승인하자 인수자 확인이 열린 건 프로세스의 일입니다. 단계 사이의 순서는 엔진이 지켜요. 넷째, 보완 초안이 지금 상태를 다시 조회한 건 에이전트의 일입니다. 업무 규칙과 스킬의 지침을 따른 거죠. 다섯째가 헷갈리기 쉬워요. 인수 확인 뒤에도 작업지시가 열린 채인 건 프로세스가 그렇게 설계돼 있어서입니다. 교대 흐름에는 업무 시스템에 쓰는 단계가 없고, 확인은 전달의 기록이니까요. 같은 교대 한 건 안에서도 누가 무엇을 위해 일했는지에 따라 영역이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용어의 이름과 뜻을 정리하겠습니다. 스킬은 한 업무를 어떤 차례와 기준으로 할지 적어 여러 번 쓰는 지침이에요. MCP는 외부 시스템의 도구를 에이전트가 같은 약속으로 부르게 하는 연결 규약이고, 출력 계약은 다음 단계가 읽을 결과의 칸과 형식, 뜻, 그리고 받아들이는 조건입니다. HITL은 흐름 안에 사람이 결정하고 확인하는 자리를 두는 방식이죠. BDD 시나리오는 입력과 행동, 기대 결과를 Given, When, Then으로 적은 검증 사례예요. 프로세스 인스턴스는 한 프로세스 정의로 열려 실제로 진행되는 한 건, 우리가 처리 건이라 불러 온 것이고, 워크아이템은 그 안에서 에이전트나 사람에게 맡겨진 작업 하나, 곧 단계입니다. 마지막으로 교대 인수인계는 다음 근무자에게 설비 상태와 남은 일, 근거를 넘기고 확인받는 일이에요.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퀴즈 세 문제로 배운 구분을 판단에 써 보겠습니다. 문제마다 보기를 듣고 잠깐 멈출 테니 그때 답을 골라 보세요. 정답과 까닭은 세 문제를 다 본 뒤에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인수자가 근거를 보고 인수 확인을 제출해서, 교대 처리 건이 인수 확인 기록 완료로 닫혔어요. 이 시점에 대한 설명으로 옳은 것은 무엇일까요? 1번, 인계안에 불일치로 적힌 작업지시도 이 확인으로 완료 처리됐다. 2번, 전달 사항을 확인한 기록이 남았고, 열린 작업지시와 입고 예정은 그대로다. 3번, 인계 에이전트가 확인 결과에 맞춰 ERP의 재고를 고쳤다. 4번, 처리 건이 COMPLETED이므로 설비의 이상도 해소됐다는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인계안의 부품 영역에 「쿨러 코어 1개 확보」가 확인됨으로 적혀 있어요. 그런데 근거 조회를 열어 보니 현재고는 0이고 입고 예정이 1이었습니다. 인수자의 판단으로 맞는 것은? 1번, 입고 예정도 곧 들어올 재고이니 그대로 인수 확인한다. 2번, 인수자가 ERP에서 입고를 처리해 현재고를 1로 맞춘다. 3번, 현재고와 입고 예정을 나눠 적고 상태를 고쳐 달라는 사유로 보완을 요청한다. 4번, 근거 번호가 있어 계약 검사를 통과했으니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인계를 빨리 끝내려고, 인계 에이전트에 메모대로 작업지시를 완료로 바꾸는 쓰기 도구를 달자는 의견이 나왔어요. 이 수업의 정책에서 가장 알맞은 판단은 무엇일까요? 1번, 인계는 조회와 전달이라 쓰기 도구를 두지 않고, 열린 작업지시는 확인할 일로 넘긴다. 2번, 스킬에 인수자가 확인한 뒤에만 닫는다고 적으면 연결해도 된다. 3번, 처리 기록에 감사가 남으니 연결해도 문제가 없다. 4번, 메모를 쓴 사람이 숙련자라면 메모를 근거로 닫아도 된다.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까닭을 맞춰 보겠습니다. 첫 문제는 2번이에요. 인수 확인은 다음 근무자가 전달 사항을 확인했다는 기록입니다. 교대 흐름에는 업무 시스템에 쓰는 단계가 없으니, 열린 작업지시와 입고 예정은 그대로 남아요. 1번은 확인을 정비 완료로 읽은 거고, 3번은 조회만 하는 인계 에이전트가 재고를 고쳤다고 본 겁니다. 4번은 COMPLETED를 업무의 성공으로 읽은 거예요. 상태 값은 흐름이 끝났다는 것만 말해 줍니다. 두 번째는 3번입니다. 입고 예정은 아직 들어오지 않은 수량이라 현재고가 아니에요. 그러니 현재고와 입고 예정을 나눠 적고 상태를 고쳐 달라는 사유로 보완을 요청합니다. 1번은 둘을 합친 거고, 2번은 인수자가 업무 시스템에 쓰는 일이라 인계의 몫이 아니에요. 4번은 앞에서 본 판단 문제와 같은 함정입니다. 근거 번호가 실제 호출과 맞아도, 그 근거로 쓴 문장이 맞는지는 사람이 봐야 하죠. 세 번째는 1번입니다. 인수인계는 조회와 전달이고, 메모의 정비 완료 주장은 확인할 일로 넘깁니다. 작업지시를 닫는 건 정비를 실제로 마친 쪽이 그 업무의 절차로 하는 일이에요. 2번은 스킬의 문장을 시스템이 지키는 규칙과 헷갈린 거고, 3번의 감사 기록은 일이 벌어진 뒤에 남는 거라 책임을 대신하지 못합니다. 4번은 메모를 원천 대신 믿은 거고요. 여기까지가 이번 회차이고, 이 회차로 과정 전체를 마칩니다. 처음 회차에서 설비의 값 하나를 따라가는 데서 시작해, 지식을 직접 쌓고 에이전트에게 맡기고, 사람의 확인과 시스템 실행으로 업무를 닫는 데까지 왔습니다. 다른 제품이나 도구를 만나더라도, 무엇을 근거로 판단하고 누가 확인하는지를 가르는 질문은 그대로 쓸 수 있을 거예요. 직접 만든 지식과 에이전트, 흐름, 그리고 학습노트가 각자의 업무에서 다음 일을 시작하는 출발점이 되면 좋겠습니다. 그동안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5.png"/><Relationship Id="rId4"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2.png"/><Relationship Id="rId4"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1.png"/><Relationship Id="rId4" Type="http://schemas.openxmlformats.org/officeDocument/2006/relationships/image" Target="../media/image6.png"/><Relationship Id="rId5" Type="http://schemas.openxmlformats.org/officeDocument/2006/relationships/image" Target="../media/image22.png"/><Relationship Id="rId6"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8회차 · 교대 인수인계에 적용하는 지식 · 에이전트 · 프로세스</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교대 인수인계로 잇는</a:t>
            </a:r>
          </a:p>
          <a:p>
            <a:pPr algn="l" eaLnBrk="0">
              <a:lnSpc>
                <a:spcPct val="110000"/>
              </a:lnSpc>
            </a:pPr>
            <a:r>
              <a:rPr sz="4000" b="1">
                <a:solidFill>
                  <a:srgbClr val="FFFFFF"/>
                </a:solidFill>
                <a:latin typeface="맑은 고딕"/>
                <a:ea typeface="맑은 고딕"/>
                <a:cs typeface="맑은 고딕"/>
              </a:rPr>
              <a:t>지식 · 에이전트 · 프로세스</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쿨러 처리 건에서 익힌 길을 교대 한 건에 적용하고, 인수자가 받아들일 근거를 가린다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처리 건에서 익힌 지식 · 도구 · 승인의 길을 교대 인수인계 한 건에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47391"/>
            <a:ext cx="2567863"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48560"/>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02179"/>
            <a:ext cx="424281" cy="424281"/>
          </a:xfrm>
          <a:prstGeom prst="rect">
            <a:avLst/>
          </a:prstGeom>
        </p:spPr>
      </p:pic>
      <p:sp>
        <p:nvSpPr>
          <p:cNvPr id="9" name="TextBox 8"/>
          <p:cNvSpPr txBox="1"/>
          <p:nvPr/>
        </p:nvSpPr>
        <p:spPr>
          <a:xfrm>
            <a:off x="713232" y="3271519"/>
            <a:ext cx="2238679"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판단의 근거</a:t>
            </a:r>
          </a:p>
          <a:p>
            <a:pPr algn="l" eaLnBrk="0" marL="182880" indent="-182880">
              <a:lnSpc>
                <a:spcPct val="110000"/>
              </a:lnSpc>
              <a:spcAft>
                <a:spcPts val="400"/>
              </a:spcAft>
            </a:pPr>
            <a:r>
              <a:rPr sz="1600" b="0">
                <a:solidFill>
                  <a:srgbClr val="1F2A3A"/>
                </a:solidFill>
                <a:latin typeface="맑은 고딕"/>
                <a:ea typeface="맑은 고딕"/>
                <a:cs typeface="맑은 고딕"/>
              </a:rPr>
              <a:t>• 경보의 빈칸을 도구가 지식 · 값으로 채운다</a:t>
            </a:r>
          </a:p>
          <a:p>
            <a:pPr algn="l" eaLnBrk="0" marL="182880" indent="-182880">
              <a:lnSpc>
                <a:spcPct val="110000"/>
              </a:lnSpc>
              <a:spcAft>
                <a:spcPts val="400"/>
              </a:spcAft>
            </a:pPr>
            <a:r>
              <a:rPr sz="1600" b="0">
                <a:solidFill>
                  <a:srgbClr val="1F2A3A"/>
                </a:solidFill>
                <a:latin typeface="맑은 고딕"/>
                <a:ea typeface="맑은 고딕"/>
                <a:cs typeface="맑은 고딕"/>
              </a:rPr>
              <a:t>• 활용 결과가 놓이는 자리를 찾는다</a:t>
            </a:r>
          </a:p>
        </p:txBody>
      </p:sp>
      <p:sp>
        <p:nvSpPr>
          <p:cNvPr id="10" name="Rounded Rectangle 9"/>
          <p:cNvSpPr/>
          <p:nvPr/>
        </p:nvSpPr>
        <p:spPr>
          <a:xfrm>
            <a:off x="777240" y="5305552"/>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0555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 판단</a:t>
            </a:r>
          </a:p>
        </p:txBody>
      </p:sp>
      <p:sp>
        <p:nvSpPr>
          <p:cNvPr id="12" name="Rounded Rectangle 11"/>
          <p:cNvSpPr/>
          <p:nvPr/>
        </p:nvSpPr>
        <p:spPr>
          <a:xfrm>
            <a:off x="3390823" y="2247391"/>
            <a:ext cx="2567863"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48560"/>
            <a:ext cx="731520" cy="731520"/>
          </a:xfrm>
          <a:prstGeom prst="ellipse">
            <a:avLst/>
          </a:prstGeom>
          <a:solidFill>
            <a:srgbClr val="E7F3FD"/>
          </a:solidFill>
          <a:ln>
            <a:noFill/>
          </a:ln>
        </p:spPr>
        <p:txBody>
          <a:bodyPr rtlCol="0" anchor="ctr"/>
          <a:lstStyle/>
          <a:p>
            <a:pPr algn="ctr"/>
          </a:p>
        </p:txBody>
      </p:sp>
      <p:pic>
        <p:nvPicPr>
          <p:cNvPr id="14" name="아이콘:arrows-exchange" descr="arrows-exchange_13294B_1.6.png"/>
          <p:cNvPicPr>
            <a:picLocks noChangeAspect="1"/>
          </p:cNvPicPr>
          <p:nvPr/>
        </p:nvPicPr>
        <p:blipFill>
          <a:blip r:embed="rId4"/>
          <a:stretch>
            <a:fillRect/>
          </a:stretch>
        </p:blipFill>
        <p:spPr>
          <a:xfrm>
            <a:off x="3773043" y="2602179"/>
            <a:ext cx="424281" cy="424281"/>
          </a:xfrm>
          <a:prstGeom prst="rect">
            <a:avLst/>
          </a:prstGeom>
        </p:spPr>
      </p:pic>
      <p:sp>
        <p:nvSpPr>
          <p:cNvPr id="15" name="TextBox 14"/>
          <p:cNvSpPr txBox="1"/>
          <p:nvPr/>
        </p:nvSpPr>
        <p:spPr>
          <a:xfrm>
            <a:off x="3555415" y="3271519"/>
            <a:ext cx="2238679"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교대 인계안</a:t>
            </a:r>
          </a:p>
          <a:p>
            <a:pPr algn="l" eaLnBrk="0" marL="182880" indent="-182880">
              <a:lnSpc>
                <a:spcPct val="110000"/>
              </a:lnSpc>
              <a:spcAft>
                <a:spcPts val="400"/>
              </a:spcAft>
            </a:pPr>
            <a:r>
              <a:rPr sz="1600" b="0">
                <a:solidFill>
                  <a:srgbClr val="1F2A3A"/>
                </a:solidFill>
                <a:latin typeface="맑은 고딕"/>
                <a:ea typeface="맑은 고딕"/>
                <a:cs typeface="맑은 고딕"/>
              </a:rPr>
              <a:t>• 메모를 설비 · 정비 · ERP와 대조한다</a:t>
            </a:r>
          </a:p>
          <a:p>
            <a:pPr algn="l" eaLnBrk="0" marL="182880" indent="-182880">
              <a:lnSpc>
                <a:spcPct val="110000"/>
              </a:lnSpc>
              <a:spcAft>
                <a:spcPts val="400"/>
              </a:spcAft>
            </a:pPr>
            <a:r>
              <a:rPr sz="1600" b="0">
                <a:solidFill>
                  <a:srgbClr val="1F2A3A"/>
                </a:solidFill>
                <a:latin typeface="맑은 고딕"/>
                <a:ea typeface="맑은 고딕"/>
                <a:cs typeface="맑은 고딕"/>
              </a:rPr>
              <a:t>• 받을 근거와 보완 질문을 정한다</a:t>
            </a:r>
          </a:p>
        </p:txBody>
      </p:sp>
      <p:sp>
        <p:nvSpPr>
          <p:cNvPr id="16" name="Rounded Rectangle 15"/>
          <p:cNvSpPr/>
          <p:nvPr/>
        </p:nvSpPr>
        <p:spPr>
          <a:xfrm>
            <a:off x="3619423" y="530555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0555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원천 대조</a:t>
            </a:r>
          </a:p>
        </p:txBody>
      </p:sp>
      <p:sp>
        <p:nvSpPr>
          <p:cNvPr id="18" name="Rounded Rectangle 17"/>
          <p:cNvSpPr/>
          <p:nvPr/>
        </p:nvSpPr>
        <p:spPr>
          <a:xfrm>
            <a:off x="6233007" y="2247391"/>
            <a:ext cx="2567863"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48560"/>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602179"/>
            <a:ext cx="424281" cy="424281"/>
          </a:xfrm>
          <a:prstGeom prst="rect">
            <a:avLst/>
          </a:prstGeom>
        </p:spPr>
      </p:pic>
      <p:sp>
        <p:nvSpPr>
          <p:cNvPr id="21" name="TextBox 20"/>
          <p:cNvSpPr txBox="1"/>
          <p:nvPr/>
        </p:nvSpPr>
        <p:spPr>
          <a:xfrm>
            <a:off x="6397599" y="3271519"/>
            <a:ext cx="2238679"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업무 완료 구조</a:t>
            </a:r>
          </a:p>
          <a:p>
            <a:pPr algn="l" eaLnBrk="0" marL="182880" indent="-182880">
              <a:lnSpc>
                <a:spcPct val="110000"/>
              </a:lnSpc>
              <a:spcAft>
                <a:spcPts val="400"/>
              </a:spcAft>
            </a:pPr>
            <a:r>
              <a:rPr sz="1600" b="0">
                <a:solidFill>
                  <a:srgbClr val="1F2A3A"/>
                </a:solidFill>
                <a:latin typeface="맑은 고딕"/>
                <a:ea typeface="맑은 고딕"/>
                <a:cs typeface="맑은 고딕"/>
              </a:rPr>
              <a:t>• 추천안은 승인 · 실행으로 닫힌다</a:t>
            </a:r>
          </a:p>
          <a:p>
            <a:pPr algn="l" eaLnBrk="0" marL="182880" indent="-182880">
              <a:lnSpc>
                <a:spcPct val="110000"/>
              </a:lnSpc>
              <a:spcAft>
                <a:spcPts val="400"/>
              </a:spcAft>
            </a:pPr>
            <a:r>
              <a:rPr sz="1600" b="0">
                <a:solidFill>
                  <a:srgbClr val="1F2A3A"/>
                </a:solidFill>
                <a:latin typeface="맑은 고딕"/>
                <a:ea typeface="맑은 고딕"/>
                <a:cs typeface="맑은 고딕"/>
              </a:rPr>
              <a:t>• 인계안은 두 사람의 확인으로 닫힌다</a:t>
            </a:r>
          </a:p>
        </p:txBody>
      </p:sp>
      <p:sp>
        <p:nvSpPr>
          <p:cNvPr id="22" name="Rounded Rectangle 21"/>
          <p:cNvSpPr/>
          <p:nvPr/>
        </p:nvSpPr>
        <p:spPr>
          <a:xfrm>
            <a:off x="6461607" y="5305552"/>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0555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 완료</a:t>
            </a:r>
          </a:p>
        </p:txBody>
      </p:sp>
      <p:sp>
        <p:nvSpPr>
          <p:cNvPr id="24" name="Rounded Rectangle 23"/>
          <p:cNvSpPr/>
          <p:nvPr/>
        </p:nvSpPr>
        <p:spPr>
          <a:xfrm>
            <a:off x="9075191" y="2247391"/>
            <a:ext cx="2567863" cy="34879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48560"/>
            <a:ext cx="731520" cy="731520"/>
          </a:xfrm>
          <a:prstGeom prst="ellipse">
            <a:avLst/>
          </a:prstGeom>
          <a:solidFill>
            <a:srgbClr val="5CB8F2"/>
          </a:solidFill>
          <a:ln>
            <a:noFill/>
          </a:ln>
        </p:spPr>
        <p:txBody>
          <a:bodyPr rtlCol="0" anchor="ctr"/>
          <a:lstStyle/>
          <a:p>
            <a:pPr algn="ctr"/>
          </a:p>
        </p:txBody>
      </p:sp>
      <p:pic>
        <p:nvPicPr>
          <p:cNvPr id="26" name="아이콘:clipboard-check" descr="clipboard-check_13294B_1.6.png"/>
          <p:cNvPicPr>
            <a:picLocks noChangeAspect="1"/>
          </p:cNvPicPr>
          <p:nvPr/>
        </p:nvPicPr>
        <p:blipFill>
          <a:blip r:embed="rId6"/>
          <a:stretch>
            <a:fillRect/>
          </a:stretch>
        </p:blipFill>
        <p:spPr>
          <a:xfrm>
            <a:off x="9457410" y="2602179"/>
            <a:ext cx="424281" cy="424281"/>
          </a:xfrm>
          <a:prstGeom prst="rect">
            <a:avLst/>
          </a:prstGeom>
        </p:spPr>
      </p:pic>
      <p:sp>
        <p:nvSpPr>
          <p:cNvPr id="27" name="TextBox 26"/>
          <p:cNvSpPr txBox="1"/>
          <p:nvPr/>
        </p:nvSpPr>
        <p:spPr>
          <a:xfrm>
            <a:off x="9239783" y="3271519"/>
            <a:ext cx="2238679"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실습 · 정리</a:t>
            </a:r>
          </a:p>
          <a:p>
            <a:pPr algn="l" eaLnBrk="0" marL="182880" indent="-182880">
              <a:lnSpc>
                <a:spcPct val="110000"/>
              </a:lnSpc>
              <a:spcAft>
                <a:spcPts val="400"/>
              </a:spcAft>
            </a:pPr>
            <a:r>
              <a:rPr sz="1600" b="0">
                <a:solidFill>
                  <a:srgbClr val="1F2A3A"/>
                </a:solidFill>
                <a:latin typeface="맑은 고딕"/>
                <a:ea typeface="맑은 고딕"/>
                <a:cs typeface="맑은 고딕"/>
              </a:rPr>
              <a:t>• HI-01 · 인계 에이전트 · 제공 흐름</a:t>
            </a:r>
          </a:p>
          <a:p>
            <a:pPr algn="l" eaLnBrk="0" marL="182880" indent="-182880">
              <a:lnSpc>
                <a:spcPct val="110000"/>
              </a:lnSpc>
              <a:spcAft>
                <a:spcPts val="400"/>
              </a:spcAft>
            </a:pPr>
            <a:r>
              <a:rPr sz="1600" b="0">
                <a:solidFill>
                  <a:srgbClr val="1F2A3A"/>
                </a:solidFill>
                <a:latin typeface="맑은 고딕"/>
                <a:ea typeface="맑은 고딕"/>
                <a:cs typeface="맑은 고딕"/>
              </a:rPr>
              <a:t>• ProcessGPT 시연 · 학습노트</a:t>
            </a:r>
          </a:p>
        </p:txBody>
      </p:sp>
      <p:sp>
        <p:nvSpPr>
          <p:cNvPr id="28" name="Rounded Rectangle 27"/>
          <p:cNvSpPr/>
          <p:nvPr/>
        </p:nvSpPr>
        <p:spPr>
          <a:xfrm>
            <a:off x="9303791" y="530555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0555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지식이 판단의 근거가 되는 길</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교대 인계안의 근거와 원천 대조</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추천안에서 업무 완료까지</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교대 처리 건의 장치와 사람의 확인</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교대 인수인계: 입력 · 보충 매뉴얼 · 에이전트 · 흐름</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ProcessGPT 시연</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제작 결과의 Notion 학습노트 기록</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복습 · 용어 · 퀴즈</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지식이 판단의 근거가 되는 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건의 빈칸을 도구가 공용 지식과 그때의 값으로 채우기까지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메시지의 빈칸과 그 빈칸을 채우는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경보에는 원인 · 조치 · 기준이 없어서, 스킬이 정한 도구가 지식과 값을 읽어 빈칸을 채운다.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경보에 없는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도구 · 읽는 곳</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그 재료가 만들어진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diagnose · 지식 그래프의 관계</a:t>
            </a:r>
          </a:p>
          <a:p>
            <a:pPr algn="l" eaLnBrk="0">
              <a:lnSpc>
                <a:spcPct val="110000"/>
              </a:lnSpc>
            </a:pPr>
            <a:r>
              <a:rPr sz="1400" b="0">
                <a:solidFill>
                  <a:srgbClr val="1F2A3A"/>
                </a:solidFill>
                <a:latin typeface="맑은 고딕"/>
                <a:ea typeface="맑은 고딕"/>
                <a:cs typeface="맑은 고딕"/>
              </a:rPr>
              <a:t>이상 패턴 → 증상 → 고장 유형 ← 원인</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클래스 · 관계 ·</a:t>
            </a:r>
          </a:p>
          <a:p>
            <a:pPr algn="l" eaLnBrk="0">
              <a:lnSpc>
                <a:spcPct val="110000"/>
              </a:lnSpc>
            </a:pPr>
            <a:r>
              <a:rPr sz="1250" b="1">
                <a:solidFill>
                  <a:srgbClr val="556175"/>
                </a:solidFill>
                <a:latin typeface="맑은 고딕"/>
                <a:ea typeface="맑은 고딕"/>
                <a:cs typeface="맑은 고딕"/>
              </a:rPr>
              <a:t>스키마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원인을 가릴 값</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diagnose · 시계열 DB</a:t>
            </a:r>
          </a:p>
          <a:p>
            <a:pPr algn="l" eaLnBrk="0">
              <a:lnSpc>
                <a:spcPct val="110000"/>
              </a:lnSpc>
            </a:pPr>
            <a:r>
              <a:rPr sz="1400" b="0">
                <a:solidFill>
                  <a:srgbClr val="1F2A3A"/>
                </a:solidFill>
                <a:latin typeface="맑은 고딕"/>
                <a:ea typeface="맑은 고딕"/>
                <a:cs typeface="맑은 고딕"/>
              </a:rPr>
              <a:t>냉각 효율 · 팬 진동 · 캐비닛 온도</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증거 기준은</a:t>
            </a:r>
          </a:p>
          <a:p>
            <a:pPr algn="l" eaLnBrk="0">
              <a:lnSpc>
                <a:spcPct val="110000"/>
              </a:lnSpc>
            </a:pPr>
            <a:r>
              <a:rPr sz="1250" b="1">
                <a:solidFill>
                  <a:srgbClr val="556175"/>
                </a:solidFill>
                <a:latin typeface="맑은 고딕"/>
                <a:ea typeface="맑은 고딕"/>
                <a:cs typeface="맑은 고딕"/>
              </a:rPr>
              <a:t>매뉴얼 인제스천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할 수 있는 조치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evaluate_cards · SOP와 판단 규칙(DMN)</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 · 결정표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순위</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evaluate_cards · 성과 기준과 업무 DB의 값</a:t>
            </a:r>
          </a:p>
          <a:p>
            <a:pPr algn="l" eaLnBrk="0">
              <a:lnSpc>
                <a:spcPct val="110000"/>
              </a:lnSpc>
            </a:pPr>
            <a:r>
              <a:rPr sz="1400" b="0">
                <a:solidFill>
                  <a:srgbClr val="1F2A3A"/>
                </a:solidFill>
                <a:latin typeface="맑은 고딕"/>
                <a:ea typeface="맑은 고딕"/>
                <a:cs typeface="맑은 고딕"/>
              </a:rPr>
              <a:t>납기 · 지연 보상 · 출하 대기 로트</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BSC · KPI ·</a:t>
            </a:r>
          </a:p>
          <a:p>
            <a:pPr algn="l" eaLnBrk="0">
              <a:lnSpc>
                <a:spcPct val="110000"/>
              </a:lnSpc>
            </a:pPr>
            <a:r>
              <a:rPr sz="1250" b="1">
                <a:solidFill>
                  <a:srgbClr val="556175"/>
                </a:solidFill>
                <a:latin typeface="맑은 고딕"/>
                <a:ea typeface="맑은 고딕"/>
                <a:cs typeface="맑은 고딕"/>
              </a:rPr>
              <a:t>값의 자리</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판단의 출처</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submit_decision · 규칙에서 이어진 매뉴얼의 절</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인제스천의</a:t>
            </a:r>
          </a:p>
          <a:p>
            <a:pPr algn="l" eaLnBrk="0">
              <a:lnSpc>
                <a:spcPct val="110000"/>
              </a:lnSpc>
            </a:pPr>
            <a:r>
              <a:rPr sz="1250" b="1">
                <a:solidFill>
                  <a:srgbClr val="1A6FC4"/>
                </a:solidFill>
                <a:latin typeface="맑은 고딕"/>
                <a:ea typeface="맑은 고딕"/>
                <a:cs typeface="맑은 고딕"/>
              </a:rPr>
              <a:t>출처 관계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공용 지식을 만든 단계와 그 지식을 읽는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구축 단계마다 남긴 것이 공용 지식이 되고, 에이전트는 그 지식을 고치지 않고 도구로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67064"/>
            <a:ext cx="1529029"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947394"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101013" y="2503563"/>
            <a:ext cx="424281" cy="424281"/>
          </a:xfrm>
          <a:prstGeom prst="rect">
            <a:avLst/>
          </a:prstGeom>
        </p:spPr>
      </p:pic>
      <p:sp>
        <p:nvSpPr>
          <p:cNvPr id="9" name="TextBox 8"/>
          <p:cNvSpPr txBox="1"/>
          <p:nvPr/>
        </p:nvSpPr>
        <p:spPr>
          <a:xfrm>
            <a:off x="621792" y="3154616"/>
            <a:ext cx="1382725"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질문 · 스키마</a:t>
            </a:r>
          </a:p>
          <a:p>
            <a:pPr algn="ctr" eaLnBrk="0">
              <a:lnSpc>
                <a:spcPct val="110000"/>
              </a:lnSpc>
              <a:spcAft>
                <a:spcPts val="400"/>
              </a:spcAft>
            </a:pPr>
            <a:r>
              <a:rPr sz="1550" b="0">
                <a:solidFill>
                  <a:srgbClr val="1F2A3A"/>
                </a:solidFill>
                <a:latin typeface="맑은 고딕"/>
                <a:ea typeface="맑은 고딕"/>
                <a:cs typeface="맑은 고딕"/>
              </a:rPr>
              <a:t>답할 질문을 정하고</a:t>
            </a:r>
          </a:p>
          <a:p>
            <a:pPr algn="ctr" eaLnBrk="0">
              <a:lnSpc>
                <a:spcPct val="110000"/>
              </a:lnSpc>
              <a:spcAft>
                <a:spcPts val="400"/>
              </a:spcAft>
            </a:pPr>
            <a:r>
              <a:rPr sz="1550" b="0">
                <a:solidFill>
                  <a:srgbClr val="1F2A3A"/>
                </a:solidFill>
                <a:latin typeface="맑은 고딕"/>
                <a:ea typeface="맑은 고딕"/>
                <a:cs typeface="맑은 고딕"/>
              </a:rPr>
              <a:t>클래스 · 관계 · 식별자 설계</a:t>
            </a:r>
          </a:p>
        </p:txBody>
      </p:sp>
      <p:sp>
        <p:nvSpPr>
          <p:cNvPr id="10" name="Right Arrow 9"/>
          <p:cNvSpPr/>
          <p:nvPr/>
        </p:nvSpPr>
        <p:spPr>
          <a:xfrm>
            <a:off x="2141677"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461717" y="2167064"/>
            <a:ext cx="1529029"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2860471" y="2349944"/>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014091" y="2503563"/>
            <a:ext cx="424281" cy="424281"/>
          </a:xfrm>
          <a:prstGeom prst="rect">
            <a:avLst/>
          </a:prstGeom>
        </p:spPr>
      </p:pic>
      <p:sp>
        <p:nvSpPr>
          <p:cNvPr id="14" name="TextBox 13"/>
          <p:cNvSpPr txBox="1"/>
          <p:nvPr/>
        </p:nvSpPr>
        <p:spPr>
          <a:xfrm>
            <a:off x="2534869" y="3154616"/>
            <a:ext cx="1382725"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그래프 구현</a:t>
            </a:r>
          </a:p>
          <a:p>
            <a:pPr algn="ctr" eaLnBrk="0">
              <a:lnSpc>
                <a:spcPct val="110000"/>
              </a:lnSpc>
              <a:spcAft>
                <a:spcPts val="400"/>
              </a:spcAft>
            </a:pPr>
            <a:r>
              <a:rPr sz="1550" b="0">
                <a:solidFill>
                  <a:srgbClr val="1F2A3A"/>
                </a:solidFill>
                <a:latin typeface="맑은 고딕"/>
                <a:ea typeface="맑은 고딕"/>
                <a:cs typeface="맑은 고딕"/>
              </a:rPr>
              <a:t>식별자로 적재하고</a:t>
            </a:r>
          </a:p>
          <a:p>
            <a:pPr algn="ctr" eaLnBrk="0">
              <a:lnSpc>
                <a:spcPct val="110000"/>
              </a:lnSpc>
              <a:spcAft>
                <a:spcPts val="400"/>
              </a:spcAft>
            </a:pPr>
            <a:r>
              <a:rPr sz="1550" b="0">
                <a:solidFill>
                  <a:srgbClr val="1F2A3A"/>
                </a:solidFill>
                <a:latin typeface="맑은 고딕"/>
                <a:ea typeface="맑은 고딕"/>
                <a:cs typeface="맑은 고딕"/>
              </a:rPr>
              <a:t>Cypher로 조회</a:t>
            </a:r>
          </a:p>
        </p:txBody>
      </p:sp>
      <p:sp>
        <p:nvSpPr>
          <p:cNvPr id="15" name="Right Arrow 14"/>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4374794" y="2167064"/>
            <a:ext cx="1529029"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4773549" y="2349944"/>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4927168" y="2503563"/>
            <a:ext cx="424281" cy="424281"/>
          </a:xfrm>
          <a:prstGeom prst="rect">
            <a:avLst/>
          </a:prstGeom>
        </p:spPr>
      </p:pic>
      <p:sp>
        <p:nvSpPr>
          <p:cNvPr id="19" name="TextBox 18"/>
          <p:cNvSpPr txBox="1"/>
          <p:nvPr/>
        </p:nvSpPr>
        <p:spPr>
          <a:xfrm>
            <a:off x="4447946" y="3154616"/>
            <a:ext cx="1382725"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절차 · 조건</a:t>
            </a:r>
          </a:p>
          <a:p>
            <a:pPr algn="ctr" eaLnBrk="0">
              <a:lnSpc>
                <a:spcPct val="110000"/>
              </a:lnSpc>
              <a:spcAft>
                <a:spcPts val="400"/>
              </a:spcAft>
            </a:pPr>
            <a:r>
              <a:rPr sz="1550" b="0">
                <a:solidFill>
                  <a:srgbClr val="1F2A3A"/>
                </a:solidFill>
                <a:latin typeface="맑은 고딕"/>
                <a:ea typeface="맑은 고딕"/>
                <a:cs typeface="맑은 고딕"/>
              </a:rPr>
              <a:t>SOP의 단계와</a:t>
            </a:r>
          </a:p>
          <a:p>
            <a:pPr algn="ctr" eaLnBrk="0">
              <a:lnSpc>
                <a:spcPct val="110000"/>
              </a:lnSpc>
              <a:spcAft>
                <a:spcPts val="400"/>
              </a:spcAft>
            </a:pPr>
            <a:r>
              <a:rPr sz="1550" b="0">
                <a:solidFill>
                  <a:srgbClr val="1F2A3A"/>
                </a:solidFill>
                <a:latin typeface="맑은 고딕"/>
                <a:ea typeface="맑은 고딕"/>
                <a:cs typeface="맑은 고딕"/>
              </a:rPr>
              <a:t>DMN 결정표의 규칙</a:t>
            </a:r>
          </a:p>
        </p:txBody>
      </p:sp>
      <p:sp>
        <p:nvSpPr>
          <p:cNvPr id="20" name="Right Arrow 19"/>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6287871" y="2167064"/>
            <a:ext cx="1529029"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6686626" y="2349944"/>
            <a:ext cx="731520" cy="731520"/>
          </a:xfrm>
          <a:prstGeom prst="ellipse">
            <a:avLst/>
          </a:prstGeom>
          <a:solidFill>
            <a:srgbClr val="FFFFFF"/>
          </a:solidFill>
          <a:ln>
            <a:noFill/>
          </a:ln>
        </p:spPr>
        <p:txBody>
          <a:bodyPr rtlCol="0" anchor="ctr"/>
          <a:lstStyle/>
          <a:p>
            <a:pPr algn="ctr"/>
          </a:p>
        </p:txBody>
      </p:sp>
      <p:pic>
        <p:nvPicPr>
          <p:cNvPr id="23" name="아이콘:chart-bar" descr="chart-bar_13294B_1.6.png"/>
          <p:cNvPicPr>
            <a:picLocks noChangeAspect="1"/>
          </p:cNvPicPr>
          <p:nvPr/>
        </p:nvPicPr>
        <p:blipFill>
          <a:blip r:embed="rId6"/>
          <a:stretch>
            <a:fillRect/>
          </a:stretch>
        </p:blipFill>
        <p:spPr>
          <a:xfrm>
            <a:off x="6840245" y="2503563"/>
            <a:ext cx="424281" cy="424281"/>
          </a:xfrm>
          <a:prstGeom prst="rect">
            <a:avLst/>
          </a:prstGeom>
        </p:spPr>
      </p:pic>
      <p:sp>
        <p:nvSpPr>
          <p:cNvPr id="24" name="TextBox 23"/>
          <p:cNvSpPr txBox="1"/>
          <p:nvPr/>
        </p:nvSpPr>
        <p:spPr>
          <a:xfrm>
            <a:off x="6361023" y="3154616"/>
            <a:ext cx="1382725"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성과 기준</a:t>
            </a:r>
          </a:p>
          <a:p>
            <a:pPr algn="ctr" eaLnBrk="0">
              <a:lnSpc>
                <a:spcPct val="110000"/>
              </a:lnSpc>
              <a:spcAft>
                <a:spcPts val="400"/>
              </a:spcAft>
            </a:pPr>
            <a:r>
              <a:rPr sz="1550" b="0">
                <a:solidFill>
                  <a:srgbClr val="1F2A3A"/>
                </a:solidFill>
                <a:latin typeface="맑은 고딕"/>
                <a:ea typeface="맑은 고딕"/>
                <a:cs typeface="맑은 고딕"/>
              </a:rPr>
              <a:t>BSC 관점의 KPI로</a:t>
            </a:r>
          </a:p>
          <a:p>
            <a:pPr algn="ctr" eaLnBrk="0">
              <a:lnSpc>
                <a:spcPct val="110000"/>
              </a:lnSpc>
              <a:spcAft>
                <a:spcPts val="400"/>
              </a:spcAft>
            </a:pPr>
            <a:r>
              <a:rPr sz="1550" b="0">
                <a:solidFill>
                  <a:srgbClr val="1F2A3A"/>
                </a:solidFill>
                <a:latin typeface="맑은 고딕"/>
                <a:ea typeface="맑은 고딕"/>
                <a:cs typeface="맑은 고딕"/>
              </a:rPr>
              <a:t>조치를 견줄 기준</a:t>
            </a:r>
          </a:p>
        </p:txBody>
      </p:sp>
      <p:sp>
        <p:nvSpPr>
          <p:cNvPr id="25" name="Right Arrow 2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8200948" y="2167064"/>
            <a:ext cx="1529029" cy="3648583"/>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8599703" y="2349944"/>
            <a:ext cx="731520" cy="731520"/>
          </a:xfrm>
          <a:prstGeom prst="ellipse">
            <a:avLst/>
          </a:prstGeom>
          <a:solidFill>
            <a:srgbClr val="FFFFFF"/>
          </a:solidFill>
          <a:ln>
            <a:noFill/>
          </a:ln>
        </p:spPr>
        <p:txBody>
          <a:bodyPr rtlCol="0" anchor="ctr"/>
          <a:lstStyle/>
          <a:p>
            <a:pPr algn="ctr"/>
          </a:p>
        </p:txBody>
      </p:sp>
      <p:pic>
        <p:nvPicPr>
          <p:cNvPr id="28" name="아이콘:file-search" descr="file-search_13294B_1.6.png"/>
          <p:cNvPicPr>
            <a:picLocks noChangeAspect="1"/>
          </p:cNvPicPr>
          <p:nvPr/>
        </p:nvPicPr>
        <p:blipFill>
          <a:blip r:embed="rId7"/>
          <a:stretch>
            <a:fillRect/>
          </a:stretch>
        </p:blipFill>
        <p:spPr>
          <a:xfrm>
            <a:off x="8753322" y="2503563"/>
            <a:ext cx="424281" cy="424281"/>
          </a:xfrm>
          <a:prstGeom prst="rect">
            <a:avLst/>
          </a:prstGeom>
        </p:spPr>
      </p:pic>
      <p:sp>
        <p:nvSpPr>
          <p:cNvPr id="29" name="TextBox 28"/>
          <p:cNvSpPr txBox="1"/>
          <p:nvPr/>
        </p:nvSpPr>
        <p:spPr>
          <a:xfrm>
            <a:off x="8274100" y="3154616"/>
            <a:ext cx="1382725"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인제스천 · 검토</a:t>
            </a:r>
          </a:p>
          <a:p>
            <a:pPr algn="ctr" eaLnBrk="0">
              <a:lnSpc>
                <a:spcPct val="110000"/>
              </a:lnSpc>
              <a:spcAft>
                <a:spcPts val="400"/>
              </a:spcAft>
            </a:pPr>
            <a:r>
              <a:rPr sz="1550" b="0">
                <a:solidFill>
                  <a:srgbClr val="1F2A3A"/>
                </a:solidFill>
                <a:latin typeface="맑은 고딕"/>
                <a:ea typeface="맑은 고딕"/>
                <a:cs typeface="맑은 고딕"/>
              </a:rPr>
              <a:t>원문 절에서 뽑아</a:t>
            </a:r>
          </a:p>
          <a:p>
            <a:pPr algn="ctr" eaLnBrk="0">
              <a:lnSpc>
                <a:spcPct val="110000"/>
              </a:lnSpc>
              <a:spcAft>
                <a:spcPts val="400"/>
              </a:spcAft>
            </a:pPr>
            <a:r>
              <a:rPr sz="1550" b="0">
                <a:solidFill>
                  <a:srgbClr val="1F2A3A"/>
                </a:solidFill>
                <a:latin typeface="맑은 고딕"/>
                <a:ea typeface="맑은 고딕"/>
                <a:cs typeface="맑은 고딕"/>
              </a:rPr>
              <a:t>사람이 검토 · 적재</a:t>
            </a:r>
          </a:p>
        </p:txBody>
      </p:sp>
      <p:sp>
        <p:nvSpPr>
          <p:cNvPr id="30" name="Right Arrow 29"/>
          <p:cNvSpPr/>
          <p:nvPr/>
        </p:nvSpPr>
        <p:spPr>
          <a:xfrm>
            <a:off x="9793986" y="3854196"/>
            <a:ext cx="256031" cy="274320"/>
          </a:xfrm>
          <a:prstGeom prst="rightArrow">
            <a:avLst/>
          </a:prstGeom>
          <a:solidFill>
            <a:srgbClr val="13294B"/>
          </a:solidFill>
          <a:ln>
            <a:noFill/>
          </a:ln>
        </p:spPr>
        <p:txBody>
          <a:bodyPr rtlCol="0" anchor="ctr"/>
          <a:lstStyle/>
          <a:p>
            <a:pPr algn="ctr"/>
          </a:p>
        </p:txBody>
      </p:sp>
      <p:sp>
        <p:nvSpPr>
          <p:cNvPr id="31" name="Rounded Rectangle 30"/>
          <p:cNvSpPr/>
          <p:nvPr/>
        </p:nvSpPr>
        <p:spPr>
          <a:xfrm>
            <a:off x="10114026" y="2167064"/>
            <a:ext cx="1529029"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32" name="Oval 31"/>
          <p:cNvSpPr/>
          <p:nvPr/>
        </p:nvSpPr>
        <p:spPr>
          <a:xfrm>
            <a:off x="10512780" y="2349944"/>
            <a:ext cx="731520" cy="731520"/>
          </a:xfrm>
          <a:prstGeom prst="ellipse">
            <a:avLst/>
          </a:prstGeom>
          <a:solidFill>
            <a:srgbClr val="5CB8F2"/>
          </a:solidFill>
          <a:ln>
            <a:noFill/>
          </a:ln>
        </p:spPr>
        <p:txBody>
          <a:bodyPr rtlCol="0" anchor="ctr"/>
          <a:lstStyle/>
          <a:p>
            <a:pPr algn="ctr"/>
          </a:p>
        </p:txBody>
      </p:sp>
      <p:pic>
        <p:nvPicPr>
          <p:cNvPr id="33" name="아이콘:robot" descr="robot_13294B_1.6.png"/>
          <p:cNvPicPr>
            <a:picLocks noChangeAspect="1"/>
          </p:cNvPicPr>
          <p:nvPr/>
        </p:nvPicPr>
        <p:blipFill>
          <a:blip r:embed="rId8"/>
          <a:stretch>
            <a:fillRect/>
          </a:stretch>
        </p:blipFill>
        <p:spPr>
          <a:xfrm>
            <a:off x="10666399" y="2503563"/>
            <a:ext cx="424281" cy="424281"/>
          </a:xfrm>
          <a:prstGeom prst="rect">
            <a:avLst/>
          </a:prstGeom>
        </p:spPr>
      </p:pic>
      <p:sp>
        <p:nvSpPr>
          <p:cNvPr id="34" name="TextBox 33"/>
          <p:cNvSpPr txBox="1"/>
          <p:nvPr/>
        </p:nvSpPr>
        <p:spPr>
          <a:xfrm>
            <a:off x="10187178" y="3154616"/>
            <a:ext cx="1382725"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도구 조회</a:t>
            </a:r>
          </a:p>
          <a:p>
            <a:pPr algn="ctr" eaLnBrk="0">
              <a:lnSpc>
                <a:spcPct val="110000"/>
              </a:lnSpc>
              <a:spcAft>
                <a:spcPts val="400"/>
              </a:spcAft>
            </a:pPr>
            <a:r>
              <a:rPr sz="1550" b="0">
                <a:solidFill>
                  <a:srgbClr val="1F2A3A"/>
                </a:solidFill>
                <a:latin typeface="맑은 고딕"/>
                <a:ea typeface="맑은 고딕"/>
                <a:cs typeface="맑은 고딕"/>
              </a:rPr>
              <a:t>진단 · 평가 도구가</a:t>
            </a:r>
          </a:p>
          <a:p>
            <a:pPr algn="ctr" eaLnBrk="0">
              <a:lnSpc>
                <a:spcPct val="110000"/>
              </a:lnSpc>
              <a:spcAft>
                <a:spcPts val="400"/>
              </a:spcAft>
            </a:pPr>
            <a:r>
              <a:rPr sz="1550" b="0">
                <a:solidFill>
                  <a:srgbClr val="1F2A3A"/>
                </a:solidFill>
                <a:latin typeface="맑은 고딕"/>
                <a:ea typeface="맑은 고딕"/>
                <a:cs typeface="맑은 고딕"/>
              </a:rPr>
              <a:t>관계를 따라 읽는다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진단 도구의 조회와 증거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 도구는 정해 둔 조회로 후보 셋을 찾고, 그래프의 기준에 그때의 값을 대어 원인 하나를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(p:AnomalyPattern {code: $pattern})</a:t>
            </a:r>
          </a:p>
          <a:p>
            <a:pPr algn="l" eaLnBrk="0">
              <a:lnSpc>
                <a:spcPct val="110000"/>
              </a:lnSpc>
              <a:spcAft>
                <a:spcPts val="200"/>
              </a:spcAft>
            </a:pPr>
            <a:r>
              <a:rPr sz="1300" b="0">
                <a:solidFill>
                  <a:srgbClr val="E8EEF6"/>
                </a:solidFill>
                <a:latin typeface="Consolas"/>
                <a:ea typeface="맑은 고딕"/>
                <a:cs typeface="맑은 고딕"/>
              </a:rPr>
              <a:t>      -[:DETECTS]-&gt;(:Symptom)</a:t>
            </a:r>
          </a:p>
          <a:p>
            <a:pPr algn="l" eaLnBrk="0">
              <a:lnSpc>
                <a:spcPct val="110000"/>
              </a:lnSpc>
              <a:spcAft>
                <a:spcPts val="200"/>
              </a:spcAft>
            </a:pPr>
            <a:r>
              <a:rPr sz="1300" b="0">
                <a:solidFill>
                  <a:srgbClr val="E8EEF6"/>
                </a:solidFill>
                <a:latin typeface="Consolas"/>
                <a:ea typeface="맑은 고딕"/>
                <a:cs typeface="맑은 고딕"/>
              </a:rPr>
              <a:t>      -[:INDICATES]-&gt;(fm:FailureMode)</a:t>
            </a:r>
          </a:p>
          <a:p>
            <a:pPr algn="l" eaLnBrk="0">
              <a:lnSpc>
                <a:spcPct val="110000"/>
              </a:lnSpc>
              <a:spcAft>
                <a:spcPts val="200"/>
              </a:spcAft>
            </a:pPr>
            <a:r>
              <a:rPr sz="1300" b="0">
                <a:solidFill>
                  <a:srgbClr val="E8EEF6"/>
                </a:solidFill>
                <a:latin typeface="Consolas"/>
                <a:ea typeface="맑은 고딕"/>
                <a:cs typeface="맑은 고딕"/>
              </a:rPr>
              <a:t>      &lt;-[:CAUSES]-(c:Cause)</a:t>
            </a:r>
          </a:p>
          <a:p>
            <a:pPr algn="l" eaLnBrk="0">
              <a:lnSpc>
                <a:spcPct val="110000"/>
              </a:lnSpc>
              <a:spcAft>
                <a:spcPts val="200"/>
              </a:spcAft>
            </a:pPr>
            <a:r>
              <a:rPr sz="1300" b="0">
                <a:solidFill>
                  <a:srgbClr val="E8EEF6"/>
                </a:solidFill>
                <a:latin typeface="Consolas"/>
                <a:ea typeface="맑은 고딕"/>
                <a:cs typeface="맑은 고딕"/>
              </a:rPr>
              <a:t>$pattern = 'COOLER_DEGRADATION'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경보의</a:t>
            </a:r>
            <a:r>
              <a:rPr sz="1300" b="0">
                <a:solidFill>
                  <a:srgbClr val="E8EEF6"/>
                </a:solidFill>
                <a:latin typeface="Consolas"/>
                <a:ea typeface="맑은 고딕"/>
                <a:cs typeface="맑은 고딕"/>
              </a:rPr>
              <a:t> pattern</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그때의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46.2</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0.58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p>
          <a:p>
            <a:pPr algn="l" eaLnBrk="0">
              <a:lnSpc>
                <a:spcPct val="110000"/>
              </a:lnSpc>
              <a:spcAft>
                <a:spcPts val="200"/>
              </a:spcAft>
            </a:pP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0.58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아님</a:t>
            </a:r>
          </a:p>
          <a:p>
            <a:pPr algn="l" eaLnBrk="0">
              <a:lnSpc>
                <a:spcPct val="110000"/>
              </a:lnSpc>
              <a:spcAft>
                <a:spcPts val="200"/>
              </a:spcAft>
            </a:pP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p>
          <a:p>
            <a:pPr algn="l" eaLnBrk="0">
              <a:lnSpc>
                <a:spcPct val="110000"/>
              </a:lnSpc>
              <a:spcAft>
                <a:spcPts val="200"/>
              </a:spcAft>
            </a:pPr>
            <a:r>
              <a:rPr sz="1300" b="0">
                <a:solidFill>
                  <a:srgbClr val="E8EEF6"/>
                </a:solidFill>
                <a:latin typeface="Consolas"/>
                <a:ea typeface="맑은 고딕"/>
                <a:cs typeface="맑은 고딕"/>
              </a:rPr>
              <a:t>  TS4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35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28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아님</a:t>
            </a:r>
          </a:p>
        </p:txBody>
      </p:sp>
      <p:sp>
        <p:nvSpPr>
          <p:cNvPr id="8" name="TextBox 7"/>
          <p:cNvSpPr txBox="1"/>
          <p:nvPr/>
        </p:nvSpPr>
        <p:spPr>
          <a:xfrm>
            <a:off x="7635240" y="2129282"/>
            <a:ext cx="4007815" cy="124138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조회는 도구 안에</a:t>
            </a:r>
          </a:p>
          <a:p>
            <a:pPr algn="l" eaLnBrk="0">
              <a:lnSpc>
                <a:spcPct val="110000"/>
              </a:lnSpc>
              <a:spcAft>
                <a:spcPts val="400"/>
              </a:spcAft>
            </a:pPr>
            <a:r>
              <a:rPr sz="1400" b="0">
                <a:solidFill>
                  <a:srgbClr val="1F2A3A"/>
                </a:solidFill>
                <a:latin typeface="맑은 고딕"/>
                <a:ea typeface="맑은 고딕"/>
                <a:cs typeface="맑은 고딕"/>
              </a:rPr>
              <a:t>에이전트가 넘기는 것은 패턴 값뿐이라, 같은 데이터면 같은 후보가 나온다.</a:t>
            </a:r>
          </a:p>
        </p:txBody>
      </p:sp>
      <p:sp>
        <p:nvSpPr>
          <p:cNvPr id="9" name="TextBox 8"/>
          <p:cNvSpPr txBox="1"/>
          <p:nvPr/>
        </p:nvSpPr>
        <p:spPr>
          <a:xfrm>
            <a:off x="7635240" y="3370664"/>
            <a:ext cx="4007815" cy="124138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기준과 값</a:t>
            </a:r>
          </a:p>
          <a:p>
            <a:pPr algn="l" eaLnBrk="0">
              <a:lnSpc>
                <a:spcPct val="110000"/>
              </a:lnSpc>
              <a:spcAft>
                <a:spcPts val="400"/>
              </a:spcAft>
            </a:pPr>
            <a:r>
              <a:rPr sz="1400" b="0">
                <a:solidFill>
                  <a:srgbClr val="1F2A3A"/>
                </a:solidFill>
                <a:latin typeface="맑은 고딕"/>
                <a:ea typeface="맑은 고딕"/>
                <a:cs typeface="맑은 고딕"/>
              </a:rPr>
              <a:t>기준은 검토 · 개정하는 지식이고, 값은 관측 시각과 함께 읽는 지금의 값이다.</a:t>
            </a:r>
          </a:p>
        </p:txBody>
      </p:sp>
      <p:sp>
        <p:nvSpPr>
          <p:cNvPr id="10" name="TextBox 9"/>
          <p:cNvSpPr txBox="1"/>
          <p:nvPr/>
        </p:nvSpPr>
        <p:spPr>
          <a:xfrm>
            <a:off x="7635240" y="4612047"/>
            <a:ext cx="4007815" cy="124138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0행일 때</a:t>
            </a:r>
          </a:p>
          <a:p>
            <a:pPr algn="l" eaLnBrk="0">
              <a:lnSpc>
                <a:spcPct val="110000"/>
              </a:lnSpc>
              <a:spcAft>
                <a:spcPts val="400"/>
              </a:spcAft>
            </a:pPr>
            <a:r>
              <a:rPr sz="1400" b="0">
                <a:solidFill>
                  <a:srgbClr val="1F2A3A"/>
                </a:solidFill>
                <a:latin typeface="맑은 고딕"/>
                <a:ea typeface="맑은 고딕"/>
                <a:cs typeface="맑은 고딕"/>
              </a:rPr>
              <a:t>원인이 없다는 뜻이 아닐 수 있어, 조회 조건과 적재된 연결을 함께 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 평가: 규칙의 허용과 성과의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결정표가 지금 해도 되는 조치를 가르고, 성과 기준이 그때 읽은 업무 값으로 순위를 매긴다.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 후보(SOP)</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결정표 · 성과 점수 · 순위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최대 운전 · SOP-COOL-11</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조건 충족 · +3.38 · </a:t>
            </a:r>
            <a:r>
              <a:rPr sz="1400" b="1">
                <a:solidFill>
                  <a:srgbClr val="1A6FC4"/>
                </a:solidFill>
                <a:latin typeface="맑은 고딕"/>
                <a:ea typeface="맑은 고딕"/>
                <a:cs typeface="맑은 고딕"/>
              </a:rPr>
              <a:t>1순위</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부하 70 %와 야간 핀 세척 · SOP-COOL-13</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조건 충족 · +2.75 · 공동 2순위</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최대 운전과 부하 80 % · SOP-COOL-12</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조건 충족 · +2.75 · 공동 2순위</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세척 · SOP-COOL-14</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모드 조건 없음 · -1.58 · 4순위</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설비보전팀장</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순위에 든 업무 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납기까지 약 6시간 · 지연 보상 시간당 120만 원</a:t>
            </a:r>
          </a:p>
          <a:p>
            <a:pPr algn="l" eaLnBrk="0">
              <a:lnSpc>
                <a:spcPct val="110000"/>
              </a:lnSpc>
            </a:pPr>
            <a:r>
              <a:rPr sz="1400" b="0">
                <a:solidFill>
                  <a:srgbClr val="1F2A3A"/>
                </a:solidFill>
                <a:latin typeface="맑은 고딕"/>
                <a:ea typeface="맑은 고딕"/>
                <a:cs typeface="맑은 고딕"/>
              </a:rPr>
              <a:t>출하 대기 로트 800개</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값의 자리를 따라</a:t>
            </a:r>
          </a:p>
          <a:p>
            <a:pPr algn="l" eaLnBrk="0">
              <a:lnSpc>
                <a:spcPct val="110000"/>
              </a:lnSpc>
            </a:pPr>
            <a:r>
              <a:rPr sz="1250" b="1">
                <a:solidFill>
                  <a:srgbClr val="1A6FC4"/>
                </a:solidFill>
                <a:latin typeface="맑은 고딕"/>
                <a:ea typeface="맑은 고딕"/>
                <a:cs typeface="맑은 고딕"/>
              </a:rPr>
              <a:t>판단할 때 읽음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추천안의 줄과 그 줄을 만든 도구 ·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추천안의 줄마다 그것을 만든 도구와 지식이 있어서, 승인하는 사람이 매뉴얼의 절까지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DEC-1010-002-408b</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diagnose: </a:t>
            </a:r>
            <a:r>
              <a:rPr sz="1300" b="0">
                <a:solidFill>
                  <a:srgbClr val="E8EEF6"/>
                </a:solidFill>
                <a:latin typeface="맑은 고딕"/>
                <a:ea typeface="맑은 고딕"/>
                <a:cs typeface="맑은 고딕"/>
              </a:rPr>
              <a:t>그래프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시계열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불충족</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3.38</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evaluate_cards: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아니다</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역할</a:t>
            </a:r>
          </a:p>
          <a:p>
            <a:pPr algn="l" eaLnBrk="0">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인제스천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넘어간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식별자</a:t>
            </a:r>
            <a:r>
              <a:rPr sz="1300" b="0">
                <a:solidFill>
                  <a:srgbClr val="E8EEF6"/>
                </a:solidFill>
                <a:latin typeface="Consolas"/>
                <a:ea typeface="맑은 고딕"/>
                <a:cs typeface="맑은 고딕"/>
              </a:rPr>
              <a:t>  cause:cooler-fin-fouling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skill:sop-cool-11</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근거와 배제</a:t>
            </a:r>
          </a:p>
          <a:p>
            <a:pPr algn="l" eaLnBrk="0">
              <a:lnSpc>
                <a:spcPct val="110000"/>
              </a:lnSpc>
              <a:spcAft>
                <a:spcPts val="400"/>
              </a:spcAft>
            </a:pPr>
            <a:r>
              <a:rPr sz="1400" b="0">
                <a:solidFill>
                  <a:srgbClr val="1F2A3A"/>
                </a:solidFill>
                <a:latin typeface="맑은 고딕"/>
                <a:ea typeface="맑은 고딕"/>
                <a:cs typeface="맑은 고딕"/>
              </a:rPr>
              <a:t>맞은 후보와 맞지 않은 후보를 함께 남겨 판단을 되짚게 한다.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예측과 관측</a:t>
            </a:r>
          </a:p>
          <a:p>
            <a:pPr algn="l" eaLnBrk="0">
              <a:lnSpc>
                <a:spcPct val="110000"/>
              </a:lnSpc>
              <a:spcAft>
                <a:spcPts val="400"/>
              </a:spcAft>
            </a:pPr>
            <a:r>
              <a:rPr sz="1400" b="0">
                <a:solidFill>
                  <a:srgbClr val="1F2A3A"/>
                </a:solidFill>
                <a:latin typeface="맑은 고딕"/>
                <a:ea typeface="맑은 고딕"/>
                <a:cs typeface="맑은 고딕"/>
              </a:rPr>
              <a:t>예측은 계산이라, 실행한 뒤 재관측으로 따로 확인한다.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규칙에서 절과 문서로 이어진 관계를 따라 왔다. 링크가 내용의 맞음까지 보장하지는 않는다.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실전 활용 결과가 이 길에서 맡는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앞에서 만든 활용 결과는 이 길의 한 자리를 구현한 것이라, 교대 인계안에서 그 방법을 다시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활용 결과</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 길에서 같은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교대에서 다시 쓰는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검토 결과</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후보별 판정 · 이유 · 출처 · 추가로 확인할 값</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 · 미확인 · 제외를</a:t>
            </a:r>
          </a:p>
          <a:p>
            <a:pPr algn="l" eaLnBrk="0">
              <a:lnSpc>
                <a:spcPct val="110000"/>
              </a:lnSpc>
            </a:pPr>
            <a:r>
              <a:rPr sz="1250" b="1">
                <a:solidFill>
                  <a:srgbClr val="556175"/>
                </a:solidFill>
                <a:latin typeface="맑은 고딕"/>
                <a:ea typeface="맑은 고딕"/>
                <a:cs typeface="맑은 고딕"/>
              </a:rPr>
              <a:t>섞지 않는 법</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 확인 카드</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SOP의 준비 · 금지 · 완료 조건과 원문 절</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HI-01 절차를</a:t>
            </a:r>
          </a:p>
          <a:p>
            <a:pPr algn="l" eaLnBrk="0">
              <a:lnSpc>
                <a:spcPct val="110000"/>
              </a:lnSpc>
            </a:pPr>
            <a:r>
              <a:rPr sz="1250" b="1">
                <a:solidFill>
                  <a:srgbClr val="556175"/>
                </a:solidFill>
                <a:latin typeface="맑은 고딕"/>
                <a:ea typeface="맑은 고딕"/>
                <a:cs typeface="맑은 고딕"/>
              </a:rPr>
              <a:t>원문과 대조</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점검 요청</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 · 관측 시각 · 확인 항목이 붙은 원인 근거</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관측 시각과</a:t>
            </a:r>
          </a:p>
          <a:p>
            <a:pPr algn="l" eaLnBrk="0">
              <a:lnSpc>
                <a:spcPct val="110000"/>
              </a:lnSpc>
            </a:pPr>
            <a:r>
              <a:rPr sz="1250" b="1">
                <a:solidFill>
                  <a:srgbClr val="556175"/>
                </a:solidFill>
                <a:latin typeface="맑은 고딕"/>
                <a:ea typeface="맑은 고딕"/>
                <a:cs typeface="맑은 고딕"/>
              </a:rPr>
              <a:t>확인할 질문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다음 협의 안건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확인된 사실과 남은 확인을 가른 정리</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메모의 주장과</a:t>
            </a:r>
          </a:p>
          <a:p>
            <a:pPr algn="l" eaLnBrk="0">
              <a:lnSpc>
                <a:spcPct val="110000"/>
              </a:lnSpc>
            </a:pPr>
            <a:r>
              <a:rPr sz="1250" b="1">
                <a:solidFill>
                  <a:srgbClr val="556175"/>
                </a:solidFill>
                <a:latin typeface="맑은 고딕"/>
                <a:ea typeface="맑은 고딕"/>
                <a:cs typeface="맑은 고딕"/>
              </a:rPr>
              <a:t>원천 사실의 구분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명세 · 회귀</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계약과 정상 · 누락 · 오류 사례의 검증</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네 영역 계약과</a:t>
            </a:r>
          </a:p>
          <a:p>
            <a:pPr algn="l" eaLnBrk="0">
              <a:lnSpc>
                <a:spcPct val="110000"/>
              </a:lnSpc>
            </a:pPr>
            <a:r>
              <a:rPr sz="1250" b="1">
                <a:solidFill>
                  <a:srgbClr val="556175"/>
                </a:solidFill>
                <a:latin typeface="맑은 고딕"/>
                <a:ea typeface="맑은 고딕"/>
                <a:cs typeface="맑은 고딕"/>
              </a:rPr>
              <a:t>불일치 사례 검증</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BPMN · ABC 실행 기록</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 시스템 실행 ·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열린 작업 · 예약 ·</a:t>
            </a:r>
          </a:p>
          <a:p>
            <a:pPr algn="l" eaLnBrk="0">
              <a:lnSpc>
                <a:spcPct val="110000"/>
              </a:lnSpc>
            </a:pPr>
            <a:r>
              <a:rPr sz="1250" b="1">
                <a:solidFill>
                  <a:srgbClr val="1A6FC4"/>
                </a:solidFill>
                <a:latin typeface="맑은 고딕"/>
                <a:ea typeface="맑은 고딕"/>
                <a:cs typeface="맑은 고딕"/>
              </a:rPr>
              <a:t>발주 중을 넘김</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빈 결과 · 보류 · 조회 실패의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결과가 비는 이유는 여럿이라, 출력에 그 이유를 그대로 남겨야 다음 사람이 확인할 곳을 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비어 있는 이유</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이렇게 적으면 틀린다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연결이 적재되지 않았다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조회는 정상으로 끝나고 후보가 0행</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「원인이 없다」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기준을 세울 값이 없다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원인을 정하지 않고 보류</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그럴듯한 원인을</a:t>
            </a:r>
          </a:p>
          <a:p>
            <a:pPr algn="l" eaLnBrk="0">
              <a:lnSpc>
                <a:spcPct val="110000"/>
              </a:lnSpc>
            </a:pPr>
            <a:r>
              <a:rPr sz="1250" b="1">
                <a:solidFill>
                  <a:srgbClr val="556175"/>
                </a:solidFill>
                <a:latin typeface="맑은 고딕"/>
                <a:ea typeface="맑은 고딕"/>
                <a:cs typeface="맑은 고딕"/>
              </a:rPr>
              <a:t>지어 넣는다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값이 오래됐다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신선도 검사에 걸려 보류</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지난 값을</a:t>
            </a:r>
          </a:p>
          <a:p>
            <a:pPr algn="l" eaLnBrk="0">
              <a:lnSpc>
                <a:spcPct val="110000"/>
              </a:lnSpc>
            </a:pPr>
            <a:r>
              <a:rPr sz="1250" b="1">
                <a:solidFill>
                  <a:srgbClr val="556175"/>
                </a:solidFill>
                <a:latin typeface="맑은 고딕"/>
                <a:ea typeface="맑은 고딕"/>
                <a:cs typeface="맑은 고딕"/>
              </a:rPr>
              <a:t>지금 값처럼 쓴다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조회가 실패했다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오류 응답과 실행한 조회</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「업무 없음」이나</a:t>
            </a:r>
          </a:p>
          <a:p>
            <a:pPr algn="l" eaLnBrk="0">
              <a:lnSpc>
                <a:spcPct val="110000"/>
              </a:lnSpc>
            </a:pPr>
            <a:r>
              <a:rPr sz="1250" b="1">
                <a:solidFill>
                  <a:srgbClr val="1A6FC4"/>
                </a:solidFill>
                <a:latin typeface="맑은 고딕"/>
                <a:ea typeface="맑은 고딕"/>
                <a:cs typeface="맑은 고딕"/>
              </a:rPr>
              <a:t>0으로 적는다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절과 출처 관계가 없다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추천은 나오지만 출처가 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근거를 확인한</a:t>
            </a:r>
          </a:p>
          <a:p>
            <a:pPr algn="l" eaLnBrk="0">
              <a:lnSpc>
                <a:spcPct val="110000"/>
              </a:lnSpc>
            </a:pPr>
            <a:r>
              <a:rPr sz="1250" b="1">
                <a:solidFill>
                  <a:srgbClr val="556175"/>
                </a:solidFill>
                <a:latin typeface="맑은 고딕"/>
                <a:ea typeface="맑은 고딕"/>
                <a:cs typeface="맑은 고딕"/>
              </a:rPr>
              <a:t>것처럼 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두 번 돌린 진단의 다른 설명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시각의 값으로 에이전트를 두 번 돌리자 업무 값 조회 여부와 설명 문장이 서로 달랐다고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차이를 판단하는 방법으로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설명 문장이 다르니 에이전트를 믿을 수 없어 두 결과를 모두 버린다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후보 · 기준 · 읽어 온 값이 같은지 대조하고, 같다면 순서와 문장의 차이로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결과 가운데 점수가 더 높은 쪽을 정답으로 고른다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문장을 고정하려고 스킬에 원인과 추천을 미리 적어 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교대 인계안의 근거와 원천 대조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지식과 조회 도구를 교대 한 건에 쓰고, 인수자가 받아들일 근거를 정한다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처리 건과 교대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교대 처리 건은 같은 지식과 조회 도구를 쓰지만, 결과가 실행할 조치가 아니라 넘길 확인이다.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bolt" descr="bolt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처리 건</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시작: 쿨러 성능 저하 경보 한 건</a:t>
            </a:r>
          </a:p>
          <a:p>
            <a:pPr algn="l" eaLnBrk="0" marL="182880" indent="-182880">
              <a:lnSpc>
                <a:spcPct val="110000"/>
              </a:lnSpc>
              <a:spcAft>
                <a:spcPts val="600"/>
              </a:spcAft>
            </a:pPr>
            <a:r>
              <a:rPr sz="1600" b="0">
                <a:solidFill>
                  <a:srgbClr val="1F2A3A"/>
                </a:solidFill>
                <a:latin typeface="맑은 고딕"/>
                <a:ea typeface="맑은 고딕"/>
                <a:cs typeface="맑은 고딕"/>
              </a:rPr>
              <a:t>• 읽기: 그래프 · 시계열 · 업무 DB · 결정표</a:t>
            </a:r>
          </a:p>
          <a:p>
            <a:pPr algn="l" eaLnBrk="0" marL="182880" indent="-182880">
              <a:lnSpc>
                <a:spcPct val="110000"/>
              </a:lnSpc>
              <a:spcAft>
                <a:spcPts val="600"/>
              </a:spcAft>
            </a:pPr>
            <a:r>
              <a:rPr sz="1600" b="0">
                <a:solidFill>
                  <a:srgbClr val="1F2A3A"/>
                </a:solidFill>
                <a:latin typeface="맑은 고딕"/>
                <a:ea typeface="맑은 고딕"/>
                <a:cs typeface="맑은 고딕"/>
              </a:rPr>
              <a:t>• 결과: 추천안 하나와 대안</a:t>
            </a:r>
          </a:p>
          <a:p>
            <a:pPr algn="l" eaLnBrk="0" marL="182880" indent="-182880">
              <a:lnSpc>
                <a:spcPct val="110000"/>
              </a:lnSpc>
              <a:spcAft>
                <a:spcPts val="600"/>
              </a:spcAft>
            </a:pPr>
            <a:r>
              <a:rPr sz="1600" b="0">
                <a:solidFill>
                  <a:srgbClr val="1F2A3A"/>
                </a:solidFill>
                <a:latin typeface="맑은 고딕"/>
                <a:ea typeface="맑은 고딕"/>
                <a:cs typeface="맑은 고딕"/>
              </a:rPr>
              <a:t>• 제출: 판단 제출 도구</a:t>
            </a:r>
          </a:p>
          <a:p>
            <a:pPr algn="l" eaLnBrk="0" marL="182880" indent="-182880">
              <a:lnSpc>
                <a:spcPct val="110000"/>
              </a:lnSpc>
              <a:spcAft>
                <a:spcPts val="600"/>
              </a:spcAft>
            </a:pPr>
            <a:r>
              <a:rPr sz="1600" b="0">
                <a:solidFill>
                  <a:srgbClr val="1F2A3A"/>
                </a:solidFill>
                <a:latin typeface="맑은 고딕"/>
                <a:ea typeface="맑은 고딕"/>
                <a:cs typeface="맑은 고딕"/>
              </a:rPr>
              <a:t>• 끝: 승인 뒤 명령 · 재관측 · 작업지시</a:t>
            </a:r>
          </a:p>
        </p:txBody>
      </p:sp>
      <p:sp>
        <p:nvSpPr>
          <p:cNvPr id="11" name="Rounded Rectangle 10"/>
          <p:cNvSpPr/>
          <p:nvPr/>
        </p:nvSpPr>
        <p:spPr>
          <a:xfrm>
            <a:off x="868680" y="530453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조치를 실행</a:t>
            </a:r>
          </a:p>
        </p:txBody>
      </p:sp>
      <p:sp>
        <p:nvSpPr>
          <p:cNvPr id="13" name="Rounded Rectangle 12"/>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22144"/>
            <a:ext cx="731520" cy="731520"/>
          </a:xfrm>
          <a:prstGeom prst="ellipse">
            <a:avLst/>
          </a:prstGeom>
          <a:solidFill>
            <a:srgbClr val="5CB8F2"/>
          </a:solidFill>
          <a:ln>
            <a:noFill/>
          </a:ln>
        </p:spPr>
        <p:txBody>
          <a:bodyPr rtlCol="0" anchor="ctr"/>
          <a:lstStyle/>
          <a:p>
            <a:pPr algn="ctr"/>
          </a:p>
        </p:txBody>
      </p:sp>
      <p:pic>
        <p:nvPicPr>
          <p:cNvPr id="15" name="아이콘:arrows-exchange" descr="arrows-exchange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교대 처리 건</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시작: 설비 · 교대 · 기준 시각 · 작업 메모</a:t>
            </a:r>
          </a:p>
          <a:p>
            <a:pPr algn="l" eaLnBrk="0" marL="182880" indent="-182880">
              <a:lnSpc>
                <a:spcPct val="110000"/>
              </a:lnSpc>
              <a:spcAft>
                <a:spcPts val="600"/>
              </a:spcAft>
            </a:pPr>
            <a:r>
              <a:rPr sz="1600" b="0">
                <a:solidFill>
                  <a:srgbClr val="1F2A3A"/>
                </a:solidFill>
                <a:latin typeface="맑은 고딕"/>
                <a:ea typeface="맑은 고딕"/>
                <a:cs typeface="맑은 고딕"/>
              </a:rPr>
              <a:t>• 읽기: 같은 세 서버의 조회 도구만</a:t>
            </a:r>
          </a:p>
          <a:p>
            <a:pPr algn="l" eaLnBrk="0" marL="182880" indent="-182880">
              <a:lnSpc>
                <a:spcPct val="110000"/>
              </a:lnSpc>
              <a:spcAft>
                <a:spcPts val="600"/>
              </a:spcAft>
            </a:pPr>
            <a:r>
              <a:rPr sz="1600" b="0">
                <a:solidFill>
                  <a:srgbClr val="1F2A3A"/>
                </a:solidFill>
                <a:latin typeface="맑은 고딕"/>
                <a:ea typeface="맑은 고딕"/>
                <a:cs typeface="맑은 고딕"/>
              </a:rPr>
              <a:t>• 결과: 네 영역의 확인과 근거</a:t>
            </a:r>
          </a:p>
          <a:p>
            <a:pPr algn="l" eaLnBrk="0" marL="182880" indent="-182880">
              <a:lnSpc>
                <a:spcPct val="110000"/>
              </a:lnSpc>
              <a:spcAft>
                <a:spcPts val="600"/>
              </a:spcAft>
            </a:pPr>
            <a:r>
              <a:rPr sz="1600" b="0">
                <a:solidFill>
                  <a:srgbClr val="1F2A3A"/>
                </a:solidFill>
                <a:latin typeface="맑은 고딕"/>
                <a:ea typeface="맑은 고딕"/>
                <a:cs typeface="맑은 고딕"/>
              </a:rPr>
              <a:t>• 제출: 업무 시스템 쓰기 없음</a:t>
            </a:r>
          </a:p>
          <a:p>
            <a:pPr algn="l" eaLnBrk="0" marL="182880" indent="-182880">
              <a:lnSpc>
                <a:spcPct val="110000"/>
              </a:lnSpc>
              <a:spcAft>
                <a:spcPts val="600"/>
              </a:spcAft>
            </a:pPr>
            <a:r>
              <a:rPr sz="1600" b="0">
                <a:solidFill>
                  <a:srgbClr val="1F2A3A"/>
                </a:solidFill>
                <a:latin typeface="맑은 고딕"/>
                <a:ea typeface="맑은 고딕"/>
                <a:cs typeface="맑은 고딕"/>
              </a:rPr>
              <a:t>• 끝: 인계자 검토 · 인수자 확인</a:t>
            </a:r>
          </a:p>
        </p:txBody>
      </p:sp>
      <p:sp>
        <p:nvSpPr>
          <p:cNvPr id="18" name="Rounded Rectangle 17"/>
          <p:cNvSpPr/>
          <p:nvPr/>
        </p:nvSpPr>
        <p:spPr>
          <a:xfrm>
            <a:off x="6781647" y="530453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0453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확인을 전달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보충 매뉴얼 HI-01이 정한 대조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HI-01은 원천마다 확인할 칸과 남길 판정을 정해 두어, 메모의 주장을 원천에 대는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원천에서 확인할 칸</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이럴 때 남길 판정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SOP-HI-01 설비 상태 조회 확인</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시계열의 관측 시각 · 설비 식별 · 최근 값</a:t>
            </a:r>
          </a:p>
          <a:p>
            <a:pPr algn="l" eaLnBrk="0">
              <a:lnSpc>
                <a:spcPct val="110000"/>
              </a:lnSpc>
            </a:pPr>
            <a:r>
              <a:rPr sz="1400" b="0">
                <a:solidFill>
                  <a:srgbClr val="1F2A3A"/>
                </a:solidFill>
                <a:latin typeface="맑은 고딕"/>
                <a:ea typeface="맑은 고딕"/>
                <a:cs typeface="맑은 고딕"/>
              </a:rPr>
              <a:t>기준시각과 조회 시각을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관측 시각 없음 · 조회 실패</a:t>
            </a:r>
          </a:p>
          <a:p>
            <a:pPr algn="l" eaLnBrk="0">
              <a:lnSpc>
                <a:spcPct val="110000"/>
              </a:lnSpc>
            </a:pPr>
            <a:r>
              <a:rPr sz="1200" b="1">
                <a:solidFill>
                  <a:srgbClr val="556175"/>
                </a:solidFill>
                <a:latin typeface="맑은 고딕"/>
                <a:ea typeface="맑은 고딕"/>
                <a:cs typeface="맑은 고딕"/>
              </a:rPr>
              <a:t>→ 확인 필요</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SOP-HI-02 열린 작업지시 대조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 작업지시의 식별자 · 상태 · 예정 · 완료시각</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메모는 완료인데 열려 있음</a:t>
            </a:r>
          </a:p>
          <a:p>
            <a:pPr algn="l" eaLnBrk="0">
              <a:lnSpc>
                <a:spcPct val="110000"/>
              </a:lnSpc>
            </a:pPr>
            <a:r>
              <a:rPr sz="1250" b="1">
                <a:solidFill>
                  <a:srgbClr val="556175"/>
                </a:solidFill>
                <a:latin typeface="맑은 고딕"/>
                <a:ea typeface="맑은 고딕"/>
                <a:cs typeface="맑은 고딕"/>
              </a:rPr>
              <a:t>→ 불일치 또는 확인 필요</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SOP-HI-03 입고 예정과 현재고 대조</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ERP의 현재고(on_hand) · 예약(reserved) · 입고 예정(on_order)</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입고 예정을 현재고에</a:t>
            </a:r>
          </a:p>
          <a:p>
            <a:pPr algn="l" eaLnBrk="0">
              <a:lnSpc>
                <a:spcPct val="110000"/>
              </a:lnSpc>
            </a:pPr>
            <a:r>
              <a:rPr sz="1250" b="1">
                <a:solidFill>
                  <a:srgbClr val="556175"/>
                </a:solidFill>
                <a:latin typeface="맑은 고딕"/>
                <a:ea typeface="맑은 고딕"/>
                <a:cs typeface="맑은 고딕"/>
              </a:rPr>
              <a:t>합산하지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HI-1.4 기록의 해석</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인계 확인 = 다음 근무자가 전달 사항을 확인한 기록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완료 · 입고 ·</a:t>
            </a:r>
          </a:p>
          <a:p>
            <a:pPr algn="l" eaLnBrk="0">
              <a:lnSpc>
                <a:spcPct val="110000"/>
              </a:lnSpc>
            </a:pPr>
            <a:r>
              <a:rPr sz="1250" b="1">
                <a:solidFill>
                  <a:srgbClr val="1A6FC4"/>
                </a:solidFill>
                <a:latin typeface="맑은 고딕"/>
                <a:ea typeface="맑은 고딕"/>
                <a:cs typeface="맑은 고딕"/>
              </a:rPr>
              <a:t>발주 승인이 아니다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인계안의 출력 계약: 네 영역 · 세 상태 · 근거 번호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인계안 계약은 네 영역마다 상태와 근거 번호를 요구해, 근거 없는 「확인됨」은 제출에서 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handover_summary    </a:t>
            </a:r>
            <a:r>
              <a:rPr sz="1300" b="0">
                <a:solidFill>
                  <a:srgbClr val="E8EEF6"/>
                </a:solidFill>
                <a:latin typeface="맑은 고딕"/>
                <a:ea typeface="맑은 고딕"/>
                <a:cs typeface="맑은 고딕"/>
              </a:rPr>
              <a:t>인계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요약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checks              </a:t>
            </a:r>
            <a:r>
              <a:rPr sz="1300" b="0">
                <a:solidFill>
                  <a:srgbClr val="E8EEF6"/>
                </a:solidFill>
                <a:latin typeface="맑은 고딕"/>
                <a:ea typeface="맑은 고딕"/>
                <a:cs typeface="맑은 고딕"/>
              </a:rPr>
              <a:t>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영역을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번씩</a:t>
            </a:r>
          </a:p>
          <a:p>
            <a:pPr algn="l" eaLnBrk="0">
              <a:lnSpc>
                <a:spcPct val="110000"/>
              </a:lnSpc>
              <a:spcAft>
                <a:spcPts val="200"/>
              </a:spcAft>
            </a:pPr>
            <a:r>
              <a:rPr sz="1300" b="0">
                <a:solidFill>
                  <a:srgbClr val="E8EEF6"/>
                </a:solidFill>
                <a:latin typeface="Consolas"/>
                <a:ea typeface="맑은 고딕"/>
                <a:cs typeface="맑은 고딕"/>
              </a:rPr>
              <a:t>  area              equipment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work_orders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parts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work_notes</a:t>
            </a:r>
          </a:p>
          <a:p>
            <a:pPr algn="l" eaLnBrk="0">
              <a:lnSpc>
                <a:spcPct val="110000"/>
              </a:lnSpc>
              <a:spcAft>
                <a:spcPts val="200"/>
              </a:spcAft>
            </a:pPr>
            <a:r>
              <a:rPr sz="1300" b="0">
                <a:solidFill>
                  <a:srgbClr val="E8EEF6"/>
                </a:solidFill>
                <a:latin typeface="Consolas"/>
                <a:ea typeface="맑은 고딕"/>
                <a:cs typeface="맑은 고딕"/>
              </a:rPr>
              <a:t>  state             observed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needs_check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conflict</a:t>
            </a:r>
          </a:p>
          <a:p>
            <a:pPr algn="l" eaLnBrk="0">
              <a:lnSpc>
                <a:spcPct val="110000"/>
              </a:lnSpc>
              <a:spcAft>
                <a:spcPts val="200"/>
              </a:spcAft>
            </a:pPr>
            <a:r>
              <a:rPr sz="1300" b="0">
                <a:solidFill>
                  <a:srgbClr val="E8EEF6"/>
                </a:solidFill>
                <a:latin typeface="Consolas"/>
                <a:ea typeface="맑은 고딕"/>
                <a:cs typeface="맑은 고딕"/>
              </a:rPr>
              <a:t>  finding           </a:t>
            </a:r>
            <a:r>
              <a:rPr sz="1300" b="0">
                <a:solidFill>
                  <a:srgbClr val="E8EEF6"/>
                </a:solidFill>
                <a:latin typeface="맑은 고딕"/>
                <a:ea typeface="맑은 고딕"/>
                <a:cs typeface="맑은 고딕"/>
              </a:rPr>
              <a:t>확인한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사실</a:t>
            </a:r>
          </a:p>
          <a:p>
            <a:pPr algn="l" eaLnBrk="0">
              <a:lnSpc>
                <a:spcPct val="110000"/>
              </a:lnSpc>
              <a:spcAft>
                <a:spcPts val="200"/>
              </a:spcAft>
            </a:pPr>
            <a:r>
              <a:rPr sz="1300" b="0">
                <a:solidFill>
                  <a:srgbClr val="E8EEF6"/>
                </a:solidFill>
                <a:latin typeface="Consolas"/>
                <a:ea typeface="맑은 고딕"/>
                <a:cs typeface="맑은 고딕"/>
              </a:rPr>
              <a:t>  next_action       </a:t>
            </a:r>
            <a:r>
              <a:rPr sz="1300" b="0">
                <a:solidFill>
                  <a:srgbClr val="E8EEF6"/>
                </a:solidFill>
                <a:latin typeface="맑은 고딕"/>
                <a:ea typeface="맑은 고딕"/>
                <a:cs typeface="맑은 고딕"/>
              </a:rPr>
              <a:t>다음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근무자가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a:t>
            </a:r>
          </a:p>
          <a:p>
            <a:pPr algn="l" eaLnBrk="0">
              <a:lnSpc>
                <a:spcPct val="110000"/>
              </a:lnSpc>
              <a:spcAft>
                <a:spcPts val="200"/>
              </a:spcAft>
            </a:pPr>
            <a:r>
              <a:rPr sz="1300" b="0">
                <a:solidFill>
                  <a:srgbClr val="E8EEF6"/>
                </a:solidFill>
                <a:latin typeface="Consolas"/>
                <a:ea typeface="맑은 고딕"/>
                <a:cs typeface="맑은 고딕"/>
              </a:rPr>
              <a:t>  evidence_indices  evidence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호출과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(40</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이하</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 상태</a:t>
            </a:r>
          </a:p>
          <a:p>
            <a:pPr algn="l" eaLnBrk="0">
              <a:lnSpc>
                <a:spcPct val="110000"/>
              </a:lnSpc>
              <a:spcAft>
                <a:spcPts val="400"/>
              </a:spcAft>
            </a:pPr>
            <a:r>
              <a:rPr sz="1400" b="0">
                <a:solidFill>
                  <a:srgbClr val="1F2A3A"/>
                </a:solidFill>
                <a:latin typeface="맑은 고딕"/>
                <a:ea typeface="맑은 고딕"/>
                <a:cs typeface="맑은 고딕"/>
              </a:rPr>
              <a:t>원천과 맞음 · 확인 필요 · 서로 다름 가운데 영역마다 하나를 고른다.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 번호</a:t>
            </a:r>
          </a:p>
          <a:p>
            <a:pPr algn="l" eaLnBrk="0">
              <a:lnSpc>
                <a:spcPct val="110000"/>
              </a:lnSpc>
              <a:spcAft>
                <a:spcPts val="400"/>
              </a:spcAft>
            </a:pPr>
            <a:r>
              <a:rPr sz="1400" b="0">
                <a:solidFill>
                  <a:srgbClr val="1F2A3A"/>
                </a:solidFill>
                <a:latin typeface="맑은 고딕"/>
                <a:ea typeface="맑은 고딕"/>
                <a:cs typeface="맑은 고딕"/>
              </a:rPr>
              <a:t>작업 메모 밖의 영역이 근거 없이 observed나 conflict이면 제출이 거절된다.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실제 호출과 대조</a:t>
            </a:r>
          </a:p>
          <a:p>
            <a:pPr algn="l" eaLnBrk="0">
              <a:lnSpc>
                <a:spcPct val="110000"/>
              </a:lnSpc>
              <a:spcAft>
                <a:spcPts val="400"/>
              </a:spcAft>
            </a:pPr>
            <a:r>
              <a:rPr sz="1400" b="0">
                <a:solidFill>
                  <a:srgbClr val="1F2A3A"/>
                </a:solidFill>
                <a:latin typeface="맑은 고딕"/>
                <a:ea typeface="맑은 고딕"/>
                <a:cs typeface="맑은 고딕"/>
              </a:rPr>
              <a:t>근거마다 이 작업에서 성공한 도구 호출과 맞아야 받아들여진다.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검사가 못 보는 것</a:t>
            </a:r>
          </a:p>
          <a:p>
            <a:pPr algn="l" eaLnBrk="0">
              <a:lnSpc>
                <a:spcPct val="110000"/>
              </a:lnSpc>
              <a:spcAft>
                <a:spcPts val="400"/>
              </a:spcAft>
            </a:pPr>
            <a:r>
              <a:rPr sz="1400" b="0">
                <a:solidFill>
                  <a:srgbClr val="1F2A3A"/>
                </a:solidFill>
                <a:latin typeface="맑은 고딕"/>
                <a:ea typeface="맑은 고딕"/>
                <a:cs typeface="맑은 고딕"/>
              </a:rPr>
              <a:t>근거가 맞는 대상을 조회했는지는 사람이 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작업 메모 한 장을 네 영역으로 대조하기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메모라도 원천에 대면 확인 · 불일치 · 확인 필요로 갈리고, 영역마다 다음 할 일이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메모의 주장 (가정)</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원천 조회 (가정)</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 다음 확인</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유온 경보는 해소됐다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최근 값은 정상 · 관측 시각은 기준시각 뒤</a:t>
            </a:r>
          </a:p>
          <a:p>
            <a:pPr algn="l" eaLnBrk="0">
              <a:lnSpc>
                <a:spcPct val="110000"/>
              </a:lnSpc>
            </a:pPr>
            <a:r>
              <a:rPr sz="1400" b="0">
                <a:solidFill>
                  <a:srgbClr val="1F2A3A"/>
                </a:solidFill>
                <a:latin typeface="맑은 고딕"/>
                <a:ea typeface="맑은 고딕"/>
                <a:cs typeface="맑은 고딕"/>
              </a:rPr>
              <a:t>기준시각의 상태는 복원되지 않음</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needs_check</a:t>
            </a:r>
          </a:p>
          <a:p>
            <a:pPr algn="l" eaLnBrk="0">
              <a:lnSpc>
                <a:spcPct val="110000"/>
              </a:lnSpc>
            </a:pPr>
            <a:r>
              <a:rPr sz="1250" b="1">
                <a:solidFill>
                  <a:srgbClr val="556175"/>
                </a:solidFill>
                <a:latin typeface="맑은 고딕"/>
                <a:ea typeface="맑은 고딕"/>
                <a:cs typeface="맑은 고딕"/>
              </a:rPr>
              <a:t>기준시각 상태를 확인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핀 세척 정비 완료</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상태 배정됨 · 완료시각 없음</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conflict · 두 근거를 남김</a:t>
            </a:r>
          </a:p>
          <a:p>
            <a:pPr algn="l" eaLnBrk="0">
              <a:lnSpc>
                <a:spcPct val="110000"/>
              </a:lnSpc>
            </a:pPr>
            <a:r>
              <a:rPr sz="1200" b="1">
                <a:solidFill>
                  <a:srgbClr val="556175"/>
                </a:solidFill>
                <a:latin typeface="맑은 고딕"/>
                <a:ea typeface="맑은 고딕"/>
                <a:cs typeface="맑은 고딕"/>
              </a:rPr>
              <a:t>담당자에게 작업지시 확인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부품: 쿨러 코어 받아 둠</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현재고 0 · 입고 예정 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conflict · 두 근거를 남김</a:t>
            </a:r>
          </a:p>
          <a:p>
            <a:pPr algn="l" eaLnBrk="0">
              <a:lnSpc>
                <a:spcPct val="110000"/>
              </a:lnSpc>
            </a:pPr>
            <a:r>
              <a:rPr sz="1200" b="1">
                <a:solidFill>
                  <a:srgbClr val="556175"/>
                </a:solidFill>
                <a:latin typeface="맑은 고딕"/>
                <a:ea typeface="맑은 고딕"/>
                <a:cs typeface="맑은 고딕"/>
              </a:rPr>
              <a:t>입고 기록 확인</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 메모 자체</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메모를 쓴 사람의 기록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주장으로 남기고</a:t>
            </a:r>
          </a:p>
          <a:p>
            <a:pPr algn="l" eaLnBrk="0">
              <a:lnSpc>
                <a:spcPct val="110000"/>
              </a:lnSpc>
            </a:pPr>
            <a:r>
              <a:rPr sz="1250" b="1">
                <a:solidFill>
                  <a:srgbClr val="1A6FC4"/>
                </a:solidFill>
                <a:latin typeface="맑은 고딕"/>
                <a:ea typeface="맑은 고딕"/>
                <a:cs typeface="맑은 고딕"/>
              </a:rPr>
              <a:t>원천과 다른 두 곳을 짚음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인수자가 받아들일 근거와 보완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인수자는 문장이 아니라 근거 번호가 가리키는 원천을 보고 받아들이고, 모자란 곳은 보완으로 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영역</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받아들일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모자랄 때 보완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관측 시각이 기준시각과 함께 적힌 시계열 조회</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 값은 언제</a:t>
            </a:r>
          </a:p>
          <a:p>
            <a:pPr algn="l" eaLnBrk="0">
              <a:lnSpc>
                <a:spcPct val="110000"/>
              </a:lnSpc>
            </a:pPr>
            <a:r>
              <a:rPr sz="1250" b="1">
                <a:solidFill>
                  <a:srgbClr val="556175"/>
                </a:solidFill>
                <a:latin typeface="맑은 고딕"/>
                <a:ea typeface="맑은 고딕"/>
                <a:cs typeface="맑은 고딕"/>
              </a:rPr>
              <a:t>관측한 것인가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 설비 작업지시의 식별자 · 상태 · 완료시각</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열린 작업지시를</a:t>
            </a:r>
          </a:p>
          <a:p>
            <a:pPr algn="l" eaLnBrk="0">
              <a:lnSpc>
                <a:spcPct val="110000"/>
              </a:lnSpc>
            </a:pPr>
            <a:r>
              <a:rPr sz="1250" b="1">
                <a:solidFill>
                  <a:srgbClr val="556175"/>
                </a:solidFill>
                <a:latin typeface="맑은 고딕"/>
                <a:ea typeface="맑은 고딕"/>
                <a:cs typeface="맑은 고딕"/>
              </a:rPr>
              <a:t>누구에게 확인하나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부품</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현재고 · 예약 · 입고 예정을 나눈 ERP 조회</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입고 예정을 현재고와</a:t>
            </a:r>
          </a:p>
          <a:p>
            <a:pPr algn="l" eaLnBrk="0">
              <a:lnSpc>
                <a:spcPct val="110000"/>
              </a:lnSpc>
            </a:pPr>
            <a:r>
              <a:rPr sz="1250" b="1">
                <a:solidFill>
                  <a:srgbClr val="556175"/>
                </a:solidFill>
                <a:latin typeface="맑은 고딕"/>
                <a:ea typeface="맑은 고딕"/>
                <a:cs typeface="맑은 고딕"/>
              </a:rPr>
              <a:t>나눠 다시 적을 것</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불일치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메모와 원천, 두 근거를 모두 남긴 기록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어느 기록이 더</a:t>
            </a:r>
          </a:p>
          <a:p>
            <a:pPr algn="l" eaLnBrk="0">
              <a:lnSpc>
                <a:spcPct val="110000"/>
              </a:lnSpc>
            </a:pPr>
            <a:r>
              <a:rPr sz="1250" b="1">
                <a:solidFill>
                  <a:srgbClr val="1A6FC4"/>
                </a:solidFill>
                <a:latin typeface="맑은 고딕"/>
                <a:ea typeface="맑은 고딕"/>
                <a:cs typeface="맑은 고딕"/>
              </a:rPr>
              <a:t>늦은 시각의 것인가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확인 필요</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실패 응답이나 없는 이유와 실행한 조회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실패를 업무 없음으로</a:t>
            </a:r>
          </a:p>
          <a:p>
            <a:pPr algn="l" eaLnBrk="0">
              <a:lnSpc>
                <a:spcPct val="110000"/>
              </a:lnSpc>
            </a:pPr>
            <a:r>
              <a:rPr sz="1250" b="1">
                <a:solidFill>
                  <a:srgbClr val="556175"/>
                </a:solidFill>
                <a:latin typeface="맑은 고딕"/>
                <a:ea typeface="맑은 고딕"/>
                <a:cs typeface="맑은 고딕"/>
              </a:rPr>
              <a:t>적지 않았나</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다른 설비를 조회한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 인계안의 작업지시 영역은 「열린 작업지시 없음」인데, 근거 번호의 조회 대상은 HYD-02였다.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인수자의 선택으로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근거가 실제 도구 호출과 맞으니 그대로 인수 확인한다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대상 설비로 다시 조회해 달라는 사유를 적어 보완을 요청한다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인수자가 작업지시를 직접 조회한 뒤 인계안을 고쳐 쓰고 확인한다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인수자가 인계를 거절해 처리 건을 닫는다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추천안에서 업무 완료까지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 뒤의 자리를 사람과 엔진이 맡고, 닫힌 뒤에도 남는 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처리 건의 자리 · 맡는 쪽 · 남은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처리 건에서 에이전트가 맡은 자리는 진단 · 제안 하나이고, 나머지는 사람과 엔진이 맡았다.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남은 기록</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감지 → 경보가 처리 건을 연다</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ALT-hyd01-0014-e0a1 · 11:13:08</a:t>
            </a:r>
          </a:p>
        </p:txBody>
      </p:sp>
      <p:sp>
        <p:nvSpPr>
          <p:cNvPr id="14" name="Rounded Rectangle 13"/>
          <p:cNvSpPr/>
          <p:nvPr/>
        </p:nvSpPr>
        <p:spPr>
          <a:xfrm>
            <a:off x="548640" y="2679845"/>
            <a:ext cx="11094415" cy="553865"/>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진단 · 제안</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 · 냉각 긴급 대응</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추천안 DEC-1010-002-408b</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 사람 작업</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기록 · 11:14:56</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엔진 → SCADA → PLC</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CMD-1010-0001-b94a · DONE</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엔진 ← 시계열 DB</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유온 61.4 → 51.5 ℃ · 경보 해제</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엔진 → CMMS</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WO-1010-C058</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 · 끝</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엔진</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정상</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제출에서 명령까지 넘겨지는 차례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계약대로 제출하면 끝나고, 서버가 채운 승인이 전달된 뒤에야 명령 단계가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ectangle 5"/>
          <p:cNvSpPr/>
          <p:nvPr/>
        </p:nvSpPr>
        <p:spPr>
          <a:xfrm>
            <a:off x="1658081" y="2736087"/>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320035"/>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223741" y="2320035"/>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71596"/>
            <a:ext cx="2072579" cy="2291080"/>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제출</a:t>
            </a:r>
          </a:p>
          <a:p>
            <a:pPr algn="ctr" eaLnBrk="0">
              <a:lnSpc>
                <a:spcPct val="110000"/>
              </a:lnSpc>
              <a:spcAft>
                <a:spcPts val="400"/>
              </a:spcAft>
            </a:pPr>
            <a:r>
              <a:rPr sz="1600" b="0">
                <a:solidFill>
                  <a:srgbClr val="1F2A3A"/>
                </a:solidFill>
                <a:latin typeface="맑은 고딕"/>
                <a:ea typeface="맑은 고딕"/>
                <a:cs typeface="맑은 고딕"/>
              </a:rPr>
              <a:t>출력 계약대로 decision을 낸다</a:t>
            </a:r>
          </a:p>
          <a:p>
            <a:pPr algn="ctr" eaLnBrk="0">
              <a:lnSpc>
                <a:spcPct val="110000"/>
              </a:lnSpc>
              <a:spcAft>
                <a:spcPts val="400"/>
              </a:spcAft>
            </a:pPr>
            <a:r>
              <a:rPr sz="1600" b="0">
                <a:solidFill>
                  <a:srgbClr val="1F2A3A"/>
                </a:solidFill>
                <a:latin typeface="맑은 고딕"/>
                <a:ea typeface="맑은 고딕"/>
                <a:cs typeface="맑은 고딕"/>
              </a:rPr>
              <a:t>단계는 SUBMITTED</a:t>
            </a:r>
          </a:p>
          <a:p>
            <a:pPr algn="ctr" eaLnBrk="0">
              <a:lnSpc>
                <a:spcPct val="110000"/>
              </a:lnSpc>
              <a:spcAft>
                <a:spcPts val="400"/>
              </a:spcAft>
            </a:pPr>
            <a:r>
              <a:rPr sz="1600" b="0">
                <a:solidFill>
                  <a:srgbClr val="1F2A3A"/>
                </a:solidFill>
                <a:latin typeface="맑은 고딕"/>
                <a:ea typeface="맑은 고딕"/>
                <a:cs typeface="맑은 고딕"/>
              </a:rPr>
              <a:t>에이전트의 일은 여기까지</a:t>
            </a:r>
          </a:p>
        </p:txBody>
      </p:sp>
      <p:sp>
        <p:nvSpPr>
          <p:cNvPr id="10" name="Oval 9"/>
          <p:cNvSpPr/>
          <p:nvPr/>
        </p:nvSpPr>
        <p:spPr>
          <a:xfrm>
            <a:off x="3442624" y="2320035"/>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3442624" y="2320035"/>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2840675" y="3371596"/>
            <a:ext cx="2072579" cy="2291080"/>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엔진이 이어받음</a:t>
            </a:r>
          </a:p>
          <a:p>
            <a:pPr algn="ctr" eaLnBrk="0">
              <a:lnSpc>
                <a:spcPct val="110000"/>
              </a:lnSpc>
              <a:spcAft>
                <a:spcPts val="400"/>
              </a:spcAft>
            </a:pPr>
            <a:r>
              <a:rPr sz="1600" b="0">
                <a:solidFill>
                  <a:srgbClr val="1F2A3A"/>
                </a:solidFill>
                <a:latin typeface="맑은 고딕"/>
                <a:ea typeface="맑은 고딕"/>
                <a:cs typeface="맑은 고딕"/>
              </a:rPr>
              <a:t>선언한 출력만 변수로 합친다</a:t>
            </a:r>
          </a:p>
          <a:p>
            <a:pPr algn="ctr" eaLnBrk="0">
              <a:lnSpc>
                <a:spcPct val="110000"/>
              </a:lnSpc>
              <a:spcAft>
                <a:spcPts val="400"/>
              </a:spcAft>
            </a:pPr>
            <a:r>
              <a:rPr sz="1600" b="0">
                <a:solidFill>
                  <a:srgbClr val="1F2A3A"/>
                </a:solidFill>
                <a:latin typeface="맑은 고딕"/>
                <a:ea typeface="맑은 고딕"/>
                <a:cs typeface="맑은 고딕"/>
              </a:rPr>
              <a:t>운전원 승인 단계를 연다</a:t>
            </a:r>
          </a:p>
        </p:txBody>
      </p:sp>
      <p:sp>
        <p:nvSpPr>
          <p:cNvPr id="13" name="Oval 12"/>
          <p:cNvSpPr/>
          <p:nvPr/>
        </p:nvSpPr>
        <p:spPr>
          <a:xfrm>
            <a:off x="5661507" y="2320035"/>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5661507" y="2320035"/>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5059558" y="3371596"/>
            <a:ext cx="2072579" cy="2291080"/>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사람의 결정</a:t>
            </a:r>
          </a:p>
          <a:p>
            <a:pPr algn="ctr" eaLnBrk="0">
              <a:lnSpc>
                <a:spcPct val="110000"/>
              </a:lnSpc>
              <a:spcAft>
                <a:spcPts val="400"/>
              </a:spcAft>
            </a:pPr>
            <a:r>
              <a:rPr sz="1600" b="0">
                <a:solidFill>
                  <a:srgbClr val="1F2A3A"/>
                </a:solidFill>
                <a:latin typeface="맑은 고딕"/>
                <a:ea typeface="맑은 고딕"/>
                <a:cs typeface="맑은 고딕"/>
              </a:rPr>
              <a:t>승인 · 고른 조치 · 역할을</a:t>
            </a:r>
          </a:p>
          <a:p>
            <a:pPr algn="ctr" eaLnBrk="0">
              <a:lnSpc>
                <a:spcPct val="110000"/>
              </a:lnSpc>
              <a:spcAft>
                <a:spcPts val="400"/>
              </a:spcAft>
            </a:pPr>
            <a:r>
              <a:rPr sz="1600" b="0">
                <a:solidFill>
                  <a:srgbClr val="1F2A3A"/>
                </a:solidFill>
                <a:latin typeface="맑은 고딕"/>
                <a:ea typeface="맑은 고딕"/>
                <a:cs typeface="맑은 고딕"/>
              </a:rPr>
              <a:t>서버가 채운다</a:t>
            </a:r>
          </a:p>
        </p:txBody>
      </p:sp>
      <p:sp>
        <p:nvSpPr>
          <p:cNvPr id="16" name="Oval 15"/>
          <p:cNvSpPr/>
          <p:nvPr/>
        </p:nvSpPr>
        <p:spPr>
          <a:xfrm>
            <a:off x="7880390" y="2320035"/>
            <a:ext cx="868680" cy="868680"/>
          </a:xfrm>
          <a:prstGeom prst="ellipse">
            <a:avLst/>
          </a:prstGeom>
          <a:solidFill>
            <a:srgbClr val="FFFFFF"/>
          </a:solidFill>
          <a:ln w="25400">
            <a:solidFill>
              <a:srgbClr val="13294B"/>
            </a:solidFill>
          </a:ln>
        </p:spPr>
        <p:txBody>
          <a:bodyPr rtlCol="0" anchor="ctr"/>
          <a:lstStyle/>
          <a:p>
            <a:pPr algn="ctr"/>
          </a:p>
        </p:txBody>
      </p:sp>
      <p:sp>
        <p:nvSpPr>
          <p:cNvPr id="17" name="TextBox 16"/>
          <p:cNvSpPr txBox="1"/>
          <p:nvPr/>
        </p:nvSpPr>
        <p:spPr>
          <a:xfrm>
            <a:off x="7880390" y="2320035"/>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7278441" y="3371596"/>
            <a:ext cx="2072579" cy="2291080"/>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승인 기록</a:t>
            </a:r>
          </a:p>
          <a:p>
            <a:pPr algn="ctr" eaLnBrk="0">
              <a:lnSpc>
                <a:spcPct val="110000"/>
              </a:lnSpc>
              <a:spcAft>
                <a:spcPts val="400"/>
              </a:spcAft>
            </a:pPr>
            <a:r>
              <a:rPr sz="1600" b="0">
                <a:solidFill>
                  <a:srgbClr val="1F2A3A"/>
                </a:solidFill>
                <a:latin typeface="맑은 고딕"/>
                <a:ea typeface="맑은 고딕"/>
                <a:cs typeface="맑은 고딕"/>
              </a:rPr>
              <a:t>접수 기록 다음에</a:t>
            </a:r>
          </a:p>
          <a:p>
            <a:pPr algn="ctr" eaLnBrk="0">
              <a:lnSpc>
                <a:spcPct val="110000"/>
              </a:lnSpc>
              <a:spcAft>
                <a:spcPts val="400"/>
              </a:spcAft>
            </a:pPr>
            <a:r>
              <a:rPr sz="1600" b="0">
                <a:solidFill>
                  <a:srgbClr val="1F2A3A"/>
                </a:solidFill>
                <a:latin typeface="맑은 고딕"/>
                <a:ea typeface="맑은 고딕"/>
                <a:cs typeface="맑은 고딕"/>
              </a:rPr>
              <a:t>전달 기록이 남는다</a:t>
            </a:r>
          </a:p>
        </p:txBody>
      </p:sp>
      <p:sp>
        <p:nvSpPr>
          <p:cNvPr id="19" name="Oval 18"/>
          <p:cNvSpPr/>
          <p:nvPr/>
        </p:nvSpPr>
        <p:spPr>
          <a:xfrm>
            <a:off x="10099273" y="2320035"/>
            <a:ext cx="868680" cy="868680"/>
          </a:xfrm>
          <a:prstGeom prst="ellipse">
            <a:avLst/>
          </a:prstGeom>
          <a:solidFill>
            <a:srgbClr val="5CB8F2"/>
          </a:solidFill>
          <a:ln>
            <a:noFill/>
          </a:ln>
        </p:spPr>
        <p:txBody>
          <a:bodyPr rtlCol="0" anchor="ctr"/>
          <a:lstStyle/>
          <a:p>
            <a:pPr algn="ctr"/>
          </a:p>
        </p:txBody>
      </p:sp>
      <p:sp>
        <p:nvSpPr>
          <p:cNvPr id="20" name="TextBox 19"/>
          <p:cNvSpPr txBox="1"/>
          <p:nvPr/>
        </p:nvSpPr>
        <p:spPr>
          <a:xfrm>
            <a:off x="10099273" y="2320035"/>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5</a:t>
            </a:r>
          </a:p>
        </p:txBody>
      </p:sp>
      <p:sp>
        <p:nvSpPr>
          <p:cNvPr id="21" name="TextBox 20"/>
          <p:cNvSpPr txBox="1"/>
          <p:nvPr/>
        </p:nvSpPr>
        <p:spPr>
          <a:xfrm>
            <a:off x="9497324" y="3371596"/>
            <a:ext cx="2072579" cy="2291080"/>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명령 단계</a:t>
            </a:r>
          </a:p>
          <a:p>
            <a:pPr algn="ctr" eaLnBrk="0">
              <a:lnSpc>
                <a:spcPct val="110000"/>
              </a:lnSpc>
              <a:spcAft>
                <a:spcPts val="400"/>
              </a:spcAft>
            </a:pPr>
            <a:r>
              <a:rPr sz="1600" b="0">
                <a:solidFill>
                  <a:srgbClr val="1F2A3A"/>
                </a:solidFill>
                <a:latin typeface="맑은 고딕"/>
                <a:ea typeface="맑은 고딕"/>
                <a:cs typeface="맑은 고딕"/>
              </a:rPr>
              <a:t>전달이 끝난 뒤에만</a:t>
            </a:r>
          </a:p>
          <a:p>
            <a:pPr algn="ctr" eaLnBrk="0">
              <a:lnSpc>
                <a:spcPct val="110000"/>
              </a:lnSpc>
              <a:spcAft>
                <a:spcPts val="400"/>
              </a:spcAft>
            </a:pPr>
            <a:r>
              <a:rPr sz="1600" b="0">
                <a:solidFill>
                  <a:srgbClr val="1F2A3A"/>
                </a:solidFill>
                <a:latin typeface="맑은 고딕"/>
                <a:ea typeface="맑은 고딕"/>
                <a:cs typeface="맑은 고딕"/>
              </a:rPr>
              <a:t>냉각 명령이 열린다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결말과 다음 근무자에게 남는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건이 닫혀도 업무가 다 끝난 것은 아니어서, 결말마다 다음 근무자가 이어 볼 일이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결말</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시스템 실행 · 끝</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다음 근무자에게 남는 확인</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 회복 확인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명령 · 재관측 · 작업지시 등록</a:t>
            </a:r>
          </a:p>
          <a:p>
            <a:pPr algn="l" eaLnBrk="0">
              <a:lnSpc>
                <a:spcPct val="110000"/>
              </a:lnSpc>
            </a:pPr>
            <a:r>
              <a:rPr sz="1400" b="0">
                <a:solidFill>
                  <a:srgbClr val="1F2A3A"/>
                </a:solidFill>
                <a:latin typeface="맑은 고딕"/>
                <a:ea typeface="맑은 고딕"/>
                <a:cs typeface="맑은 고딕"/>
              </a:rPr>
              <a:t>끝 이벤트 E_end · 결과 정상</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세척 작업지시는 등록</a:t>
            </a:r>
          </a:p>
          <a:p>
            <a:pPr algn="l" eaLnBrk="0">
              <a:lnSpc>
                <a:spcPct val="110000"/>
              </a:lnSpc>
            </a:pPr>
            <a:r>
              <a:rPr sz="1250" b="1">
                <a:solidFill>
                  <a:srgbClr val="1A6FC4"/>
                </a:solidFill>
                <a:latin typeface="맑은 고딕"/>
                <a:ea typeface="맑은 고딕"/>
                <a:cs typeface="맑은 고딕"/>
              </a:rPr>
              <a:t>정비는 아직이다</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 0건</a:t>
            </a:r>
          </a:p>
          <a:p>
            <a:pPr algn="l" eaLnBrk="0">
              <a:lnSpc>
                <a:spcPct val="110000"/>
              </a:lnSpc>
            </a:pPr>
            <a:r>
              <a:rPr sz="1400" b="0">
                <a:solidFill>
                  <a:srgbClr val="1F2A3A"/>
                </a:solidFill>
                <a:latin typeface="맑은 고딕"/>
                <a:ea typeface="맑은 고딕"/>
                <a:cs typeface="맑은 고딕"/>
              </a:rPr>
              <a:t>E_rejected · 결과 값 반려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경보의 원인은 그대로</a:t>
            </a:r>
          </a:p>
          <a:p>
            <a:pPr algn="l" eaLnBrk="0">
              <a:lnSpc>
                <a:spcPct val="110000"/>
              </a:lnSpc>
            </a:pPr>
            <a:r>
              <a:rPr sz="1250" b="1">
                <a:solidFill>
                  <a:srgbClr val="556175"/>
                </a:solidFill>
                <a:latin typeface="맑은 고딕"/>
                <a:ea typeface="맑은 고딕"/>
                <a:cs typeface="맑은 고딕"/>
              </a:rPr>
              <a:t>거절 사유를 전한다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기한 10분 뒤 승인 지연 알림만</a:t>
            </a:r>
          </a:p>
          <a:p>
            <a:pPr algn="l" eaLnBrk="0">
              <a:lnSpc>
                <a:spcPct val="110000"/>
              </a:lnSpc>
            </a:pPr>
            <a:r>
              <a:rPr sz="1400" b="0">
                <a:solidFill>
                  <a:srgbClr val="1F2A3A"/>
                </a:solidFill>
                <a:latin typeface="맑은 고딕"/>
                <a:ea typeface="맑은 고딕"/>
                <a:cs typeface="맑은 고딕"/>
              </a:rPr>
              <a:t>처리 건은 닫히지 않는다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대기 중인</a:t>
            </a:r>
          </a:p>
          <a:p>
            <a:pPr algn="l" eaLnBrk="0">
              <a:lnSpc>
                <a:spcPct val="110000"/>
              </a:lnSpc>
            </a:pPr>
            <a:r>
              <a:rPr sz="1250" b="1">
                <a:solidFill>
                  <a:srgbClr val="556175"/>
                </a:solidFill>
                <a:latin typeface="맑은 고딕"/>
                <a:ea typeface="맑은 고딕"/>
                <a:cs typeface="맑은 고딕"/>
              </a:rPr>
              <a:t>처리 건을 넘긴다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ABC 실행 기록에서 교대로 넘길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업무의 실행 기록은 등록 · 발주 · 입고를 따로 남기므로, 교대는 그 상태를 이름 그대로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업무 · 승인자</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뒤 시스템 실행</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교대에 넘길 확인</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 냉각 대응 · 운전원</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 명령 · 재관측 · 작업지시(CMMS)</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작업지시는 등록일 뿐</a:t>
            </a:r>
          </a:p>
          <a:p>
            <a:pPr algn="l" eaLnBrk="0">
              <a:lnSpc>
                <a:spcPct val="110000"/>
              </a:lnSpc>
            </a:pPr>
            <a:r>
              <a:rPr sz="1250" b="1">
                <a:solidFill>
                  <a:srgbClr val="556175"/>
                </a:solidFill>
                <a:latin typeface="맑은 고딕"/>
                <a:ea typeface="맑은 고딕"/>
                <a:cs typeface="맑은 고딕"/>
              </a:rPr>
              <a:t>정비 완료가 아니다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 정기 점검 · 설비보전팀장</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오더(CMMS) · 생산팀 공지</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예정 시간과</a:t>
            </a:r>
          </a:p>
          <a:p>
            <a:pPr algn="l" eaLnBrk="0">
              <a:lnSpc>
                <a:spcPct val="110000"/>
              </a:lnSpc>
            </a:pPr>
            <a:r>
              <a:rPr sz="1250" b="1">
                <a:solidFill>
                  <a:srgbClr val="556175"/>
                </a:solidFill>
                <a:latin typeface="맑은 고딕"/>
                <a:ea typeface="맑은 고딕"/>
                <a:cs typeface="맑은 고딕"/>
              </a:rPr>
              <a:t>실제 정비 여부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 재고 보충 · 구매 담당</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ERP 발주 · 공급사 통지 · 입고 확인</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발주 중과 입고 완료를</a:t>
            </a:r>
          </a:p>
          <a:p>
            <a:pPr algn="l" eaLnBrk="0">
              <a:lnSpc>
                <a:spcPct val="110000"/>
              </a:lnSpc>
            </a:pPr>
            <a:r>
              <a:rPr sz="1250" b="1">
                <a:solidFill>
                  <a:srgbClr val="556175"/>
                </a:solidFill>
                <a:latin typeface="맑은 고딕"/>
                <a:ea typeface="맑은 고딕"/>
                <a:cs typeface="맑은 고딕"/>
              </a:rPr>
              <a:t>나눈 수량</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C의 시작 값</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현재고 3 · 정비 예약 2 · 발주 중 0 · 가용 1</a:t>
            </a:r>
          </a:p>
          <a:p>
            <a:pPr algn="l" eaLnBrk="0">
              <a:lnSpc>
                <a:spcPct val="110000"/>
              </a:lnSpc>
            </a:pPr>
            <a:r>
              <a:rPr sz="1400" b="0">
                <a:solidFill>
                  <a:srgbClr val="1F2A3A"/>
                </a:solidFill>
                <a:latin typeface="맑은 고딕"/>
                <a:ea typeface="맑은 고딕"/>
                <a:cs typeface="맑은 고딕"/>
              </a:rPr>
              <a:t>재주문점 2 · 목표 재고 7 · 필요 수량 6</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현재고 · 예약 · 발주 중을</a:t>
            </a:r>
          </a:p>
          <a:p>
            <a:pPr algn="l" eaLnBrk="0">
              <a:lnSpc>
                <a:spcPct val="110000"/>
              </a:lnSpc>
            </a:pPr>
            <a:r>
              <a:rPr sz="1200" b="1">
                <a:solidFill>
                  <a:srgbClr val="1A6FC4"/>
                </a:solidFill>
                <a:latin typeface="맑은 고딕"/>
                <a:ea typeface="맑은 고딕"/>
                <a:cs typeface="맑은 고딕"/>
              </a:rPr>
              <a:t>한 수로 합치지 않는다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단계 더: COMPLETED가 말해 주지 않는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COMPLETED는 흐름이 끝났다는 뜻이라, 업무 결과는 끝 이벤트 · 결과 보고 · 남은 표시로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 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 끝 이벤트 · 결과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업무에 남은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 승인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 · 정상</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작업지시 등록, 정비는 아직</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 거절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 · 반려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명령 0건</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 거절</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 · 반려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정기 점검 도래 표시가</a:t>
            </a:r>
          </a:p>
          <a:p>
            <a:pPr algn="l" eaLnBrk="0">
              <a:lnSpc>
                <a:spcPct val="110000"/>
              </a:lnSpc>
            </a:pPr>
            <a:r>
              <a:rPr sz="1250" b="1">
                <a:solidFill>
                  <a:srgbClr val="556175"/>
                </a:solidFill>
                <a:latin typeface="맑은 고딕"/>
                <a:ea typeface="맑은 고딕"/>
                <a:cs typeface="맑은 고딕"/>
              </a:rPr>
              <a:t>켜진 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 거절</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 · 반려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재고 보충 필요 표시가</a:t>
            </a:r>
          </a:p>
          <a:p>
            <a:pPr algn="l" eaLnBrk="0">
              <a:lnSpc>
                <a:spcPct val="110000"/>
              </a:lnSpc>
            </a:pPr>
            <a:r>
              <a:rPr sz="1250" b="1">
                <a:solidFill>
                  <a:srgbClr val="556175"/>
                </a:solidFill>
                <a:latin typeface="맑은 고딕"/>
                <a:ea typeface="맑은 고딕"/>
                <a:cs typeface="맑은 고딕"/>
              </a:rPr>
              <a:t>켜진 채</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교대 인수 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인수 확인 기록 완료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열린 작업지시 · 입고 예정은</a:t>
            </a:r>
          </a:p>
          <a:p>
            <a:pPr algn="l" eaLnBrk="0">
              <a:lnSpc>
                <a:spcPct val="110000"/>
              </a:lnSpc>
            </a:pPr>
            <a:r>
              <a:rPr sz="1250" b="1">
                <a:solidFill>
                  <a:srgbClr val="1A6FC4"/>
                </a:solidFill>
                <a:latin typeface="맑은 고딕"/>
                <a:ea typeface="맑은 고딕"/>
                <a:cs typeface="맑은 고딕"/>
              </a:rPr>
              <a:t>그대로</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교대 처리 건의 장치와 사람의 확인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에이전트 쪽 장치와 프로세스 쪽 장치가 교대 한 건에서 맡는 일과 바꿀 수 있는 범위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장치가 두 처리 건에서 맡는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두 처리 건에서 다른 일을 맡아, 교대 처리 건에는 사람의 확인이 둘이고 시스템 작업이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627631"/>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처리 건</a:t>
            </a:r>
          </a:p>
        </p:txBody>
      </p:sp>
      <p:sp>
        <p:nvSpPr>
          <p:cNvPr id="9" name="TextBox 8"/>
          <p:cNvSpPr txBox="1"/>
          <p:nvPr/>
        </p:nvSpPr>
        <p:spPr>
          <a:xfrm>
            <a:off x="9448495" y="1627631"/>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교대 처리 건</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에이전트 실행</a:t>
            </a:r>
          </a:p>
        </p:txBody>
      </p:sp>
      <p:sp>
        <p:nvSpPr>
          <p:cNvPr id="12" name="TextBox 11"/>
          <p:cNvSpPr txBox="1"/>
          <p:nvPr/>
        </p:nvSpPr>
        <p:spPr>
          <a:xfrm>
            <a:off x="3200400" y="2029967"/>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냉각 긴급 대응 에이전트 → 추천안</a:t>
            </a:r>
          </a:p>
        </p:txBody>
      </p:sp>
      <p:sp>
        <p:nvSpPr>
          <p:cNvPr id="13" name="TextBox 12"/>
          <p:cNvSpPr txBox="1"/>
          <p:nvPr/>
        </p:nvSpPr>
        <p:spPr>
          <a:xfrm>
            <a:off x="9448495" y="2029967"/>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직접 구성한 인계 에이전트 → 인계안</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스킬</a:t>
            </a:r>
          </a:p>
        </p:txBody>
      </p:sp>
      <p:sp>
        <p:nvSpPr>
          <p:cNvPr id="16" name="TextBox 15"/>
          <p:cNvSpPr txBox="1"/>
          <p:nvPr/>
        </p:nvSpPr>
        <p:spPr>
          <a:xfrm>
            <a:off x="3200400" y="2510536"/>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진단 → 평가 → 제출의 순서</a:t>
            </a:r>
          </a:p>
        </p:txBody>
      </p:sp>
      <p:sp>
        <p:nvSpPr>
          <p:cNvPr id="17" name="TextBox 16"/>
          <p:cNvSpPr txBox="1"/>
          <p:nvPr/>
        </p:nvSpPr>
        <p:spPr>
          <a:xfrm>
            <a:off x="9448495" y="2510536"/>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네 영역 대조와 상태 판정의 기준</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MCP</a:t>
            </a:r>
          </a:p>
        </p:txBody>
      </p:sp>
      <p:sp>
        <p:nvSpPr>
          <p:cNvPr id="20" name="TextBox 19"/>
          <p:cNvSpPr txBox="1"/>
          <p:nvPr/>
        </p:nvSpPr>
        <p:spPr>
          <a:xfrm>
            <a:off x="3200400" y="2991104"/>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그래프 · 업무 DB · 판단 엔진, 제안 제출 포함</a:t>
            </a:r>
          </a:p>
        </p:txBody>
      </p:sp>
      <p:sp>
        <p:nvSpPr>
          <p:cNvPr id="21" name="TextBox 20"/>
          <p:cNvSpPr txBox="1"/>
          <p:nvPr/>
        </p:nvSpPr>
        <p:spPr>
          <a:xfrm>
            <a:off x="9448495" y="2991104"/>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세 서버의 조회만 · 제출 없음</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명세 · 시나리오</a:t>
            </a:r>
          </a:p>
        </p:txBody>
      </p:sp>
      <p:sp>
        <p:nvSpPr>
          <p:cNvPr id="24" name="TextBox 23"/>
          <p:cNvSpPr txBox="1"/>
          <p:nvPr/>
        </p:nvSpPr>
        <p:spPr>
          <a:xfrm>
            <a:off x="3200400" y="3471672"/>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추천안 계약 · 거절 시나리오</a:t>
            </a:r>
          </a:p>
        </p:txBody>
      </p:sp>
      <p:sp>
        <p:nvSpPr>
          <p:cNvPr id="25" name="TextBox 24"/>
          <p:cNvSpPr txBox="1"/>
          <p:nvPr/>
        </p:nvSpPr>
        <p:spPr>
          <a:xfrm>
            <a:off x="9448495" y="3471672"/>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인계안 계약 · 불일치 시나리오</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BPMN 정의</a:t>
            </a:r>
          </a:p>
        </p:txBody>
      </p:sp>
      <p:sp>
        <p:nvSpPr>
          <p:cNvPr id="28" name="TextBox 27"/>
          <p:cNvSpPr txBox="1"/>
          <p:nvPr/>
        </p:nvSpPr>
        <p:spPr>
          <a:xfrm>
            <a:off x="3200400" y="3952239"/>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c3_cooling</a:t>
            </a:r>
          </a:p>
        </p:txBody>
      </p:sp>
      <p:sp>
        <p:nvSpPr>
          <p:cNvPr id="29" name="TextBox 28"/>
          <p:cNvSpPr txBox="1"/>
          <p:nvPr/>
        </p:nvSpPr>
        <p:spPr>
          <a:xfrm>
            <a:off x="9448495" y="3952239"/>
            <a:ext cx="2103120" cy="480568"/>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ShiftHandover · 별도 판본</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32" name="TextBox 31"/>
          <p:cNvSpPr txBox="1"/>
          <p:nvPr/>
        </p:nvSpPr>
        <p:spPr>
          <a:xfrm>
            <a:off x="3200400" y="4432807"/>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경보 한 건이 연다</a:t>
            </a:r>
          </a:p>
        </p:txBody>
      </p:sp>
      <p:sp>
        <p:nvSpPr>
          <p:cNvPr id="33" name="TextBox 32"/>
          <p:cNvSpPr txBox="1"/>
          <p:nvPr/>
        </p:nvSpPr>
        <p:spPr>
          <a:xfrm>
            <a:off x="9448495" y="4432807"/>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시작 폼의 네 입력이 연다</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담당</a:t>
            </a:r>
          </a:p>
        </p:txBody>
      </p:sp>
      <p:sp>
        <p:nvSpPr>
          <p:cNvPr id="36" name="TextBox 35"/>
          <p:cNvSpPr txBox="1"/>
          <p:nvPr/>
        </p:nvSpPr>
        <p:spPr>
          <a:xfrm>
            <a:off x="3200400" y="4913376"/>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에이전트 · 운전원 · 시스템</a:t>
            </a:r>
          </a:p>
        </p:txBody>
      </p:sp>
      <p:sp>
        <p:nvSpPr>
          <p:cNvPr id="37" name="TextBox 36"/>
          <p:cNvSpPr txBox="1"/>
          <p:nvPr/>
        </p:nvSpPr>
        <p:spPr>
          <a:xfrm>
            <a:off x="9448495" y="4913376"/>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 · 인계자 · 인수자</a:t>
            </a:r>
          </a:p>
        </p:txBody>
      </p:sp>
      <p:sp>
        <p:nvSpPr>
          <p:cNvPr id="38" name="Rounded Rectangle 37"/>
          <p:cNvSpPr/>
          <p:nvPr/>
        </p:nvSpPr>
        <p:spPr>
          <a:xfrm>
            <a:off x="548640" y="5425948"/>
            <a:ext cx="11094415" cy="416560"/>
          </a:xfrm>
          <a:prstGeom prst="roundRect">
            <a:avLst>
              <a:gd name="adj" fmla="val 8000"/>
            </a:avLst>
          </a:prstGeom>
          <a:solidFill>
            <a:srgbClr val="E7F3FD"/>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사람의 확인(HITL)</a:t>
            </a:r>
          </a:p>
        </p:txBody>
      </p:sp>
      <p:sp>
        <p:nvSpPr>
          <p:cNvPr id="40" name="TextBox 39"/>
          <p:cNvSpPr txBox="1"/>
          <p:nvPr/>
        </p:nvSpPr>
        <p:spPr>
          <a:xfrm>
            <a:off x="3200400" y="5393944"/>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운전원 승인 · 거절</a:t>
            </a:r>
          </a:p>
        </p:txBody>
      </p:sp>
      <p:sp>
        <p:nvSpPr>
          <p:cNvPr id="41" name="TextBox 40"/>
          <p:cNvSpPr txBox="1"/>
          <p:nvPr/>
        </p:nvSpPr>
        <p:spPr>
          <a:xfrm>
            <a:off x="9448495" y="5393944"/>
            <a:ext cx="2103120" cy="480568"/>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인계자 검토 · 인수자 확인</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시스템 작업</a:t>
            </a:r>
          </a:p>
        </p:txBody>
      </p:sp>
      <p:sp>
        <p:nvSpPr>
          <p:cNvPr id="44" name="TextBox 43"/>
          <p:cNvSpPr txBox="1"/>
          <p:nvPr/>
        </p:nvSpPr>
        <p:spPr>
          <a:xfrm>
            <a:off x="3200400" y="5874512"/>
            <a:ext cx="615665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명령 · 재관측 · 작업지시</a:t>
            </a:r>
          </a:p>
        </p:txBody>
      </p:sp>
      <p:sp>
        <p:nvSpPr>
          <p:cNvPr id="45" name="TextBox 44"/>
          <p:cNvSpPr txBox="1"/>
          <p:nvPr/>
        </p:nvSpPr>
        <p:spPr>
          <a:xfrm>
            <a:off x="9448495" y="5874512"/>
            <a:ext cx="2103120" cy="480568"/>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없다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제공 교대 흐름의 차례와 결정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제공 흐름은 초안 · 인계자 검토 · 인수자 확인을 세 번까지 되풀이하고, 세 끝 가운데 하나로 닫힌다.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지금 차례</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다음 차례</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인계 요청</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 교대 · 기준 시각 · 작업 메모</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인계안 작성 (에이전트)</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인계안 작성</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초안과 근거를 제출</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인계자 검토</a:t>
            </a:r>
          </a:p>
        </p:txBody>
      </p:sp>
      <p:sp>
        <p:nvSpPr>
          <p:cNvPr id="18" name="Rounded Rectangle 17"/>
          <p:cNvSpPr/>
          <p:nvPr/>
        </p:nvSpPr>
        <p:spPr>
          <a:xfrm>
            <a:off x="548640" y="3503676"/>
            <a:ext cx="11094415" cy="656843"/>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인계자 검토</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approve · revise · reject</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인수자 확인</a:t>
            </a:r>
          </a:p>
          <a:p>
            <a:pPr algn="l" eaLnBrk="0">
              <a:lnSpc>
                <a:spcPct val="110000"/>
              </a:lnSpc>
            </a:pPr>
            <a:r>
              <a:rPr sz="1250" b="1">
                <a:solidFill>
                  <a:srgbClr val="1A6FC4"/>
                </a:solidFill>
                <a:latin typeface="맑은 고딕"/>
                <a:ea typeface="맑은 고딕"/>
                <a:cs typeface="맑은 고딕"/>
              </a:rPr>
              <a:t>보완 초안</a:t>
            </a:r>
          </a:p>
          <a:p>
            <a:pPr algn="l" eaLnBrk="0">
              <a:lnSpc>
                <a:spcPct val="110000"/>
              </a:lnSpc>
            </a:pPr>
            <a:r>
              <a:rPr sz="1250" b="1">
                <a:solidFill>
                  <a:srgbClr val="1A6FC4"/>
                </a:solidFill>
                <a:latin typeface="맑은 고딕"/>
                <a:ea typeface="맑은 고딕"/>
                <a:cs typeface="맑은 고딕"/>
              </a:rPr>
              <a:t>인계 거절 기록 (끝)</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인수자 확인</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confirm · revise</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인수 확인 기록 완료 (끝)</a:t>
            </a:r>
          </a:p>
          <a:p>
            <a:pPr algn="l" eaLnBrk="0">
              <a:lnSpc>
                <a:spcPct val="110000"/>
              </a:lnSpc>
            </a:pPr>
            <a:r>
              <a:rPr sz="1250" b="1">
                <a:solidFill>
                  <a:srgbClr val="1A6FC4"/>
                </a:solidFill>
                <a:latin typeface="맑은 고딕"/>
                <a:ea typeface="맑은 고딕"/>
                <a:cs typeface="맑은 고딕"/>
              </a:rPr>
              <a:t>보완 초안</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인계안 작성 · 보완 1 · 2</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사유를 받아 지금 상태를 다시 조회</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인계자 검토 · 보완 1 · 2</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보완 2 뒤의 revise</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인계자나 인수자가 다시 보완을 요청</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후속 확인 필요 ·</a:t>
            </a:r>
          </a:p>
          <a:p>
            <a:pPr algn="l" eaLnBrk="0">
              <a:lnSpc>
                <a:spcPct val="110000"/>
              </a:lnSpc>
            </a:pPr>
            <a:r>
              <a:rPr sz="1250" b="1">
                <a:solidFill>
                  <a:srgbClr val="556175"/>
                </a:solidFill>
                <a:latin typeface="맑은 고딕"/>
                <a:ea typeface="맑은 고딕"/>
                <a:cs typeface="맑은 고딕"/>
              </a:rPr>
              <a:t>인수 미확정 (끝)</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사람의 결정: 선택지 · 사유 · 전달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사람의 결정은 정해진 선택지와 사유로만 남고, 인수 확인은 정비 · 발주가 아니라는 확인까지 요구한다.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인계자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검토</a:t>
            </a:r>
          </a:p>
          <a:p>
            <a:pPr algn="l" eaLnBrk="0">
              <a:lnSpc>
                <a:spcPct val="110000"/>
              </a:lnSpc>
              <a:spcAft>
                <a:spcPts val="200"/>
              </a:spcAft>
            </a:pPr>
            <a:r>
              <a:rPr sz="1300" b="0">
                <a:solidFill>
                  <a:srgbClr val="E8EEF6"/>
                </a:solidFill>
                <a:latin typeface="Consolas"/>
                <a:ea typeface="맑은 고딕"/>
                <a:cs typeface="맑은 고딕"/>
              </a:rPr>
              <a:t>  sender_decision     approve | revise | reject</a:t>
            </a:r>
          </a:p>
          <a:p>
            <a:pPr algn="l" eaLnBrk="0">
              <a:lnSpc>
                <a:spcPct val="110000"/>
              </a:lnSpc>
              <a:spcAft>
                <a:spcPts val="200"/>
              </a:spcAft>
            </a:pPr>
            <a:r>
              <a:rPr sz="1300" b="0">
                <a:solidFill>
                  <a:srgbClr val="E8EEF6"/>
                </a:solidFill>
                <a:latin typeface="Consolas"/>
                <a:ea typeface="맑은 고딕"/>
                <a:cs typeface="맑은 고딕"/>
              </a:rPr>
              <a:t>  sender_notes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사항</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인수자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a:t>
            </a:r>
          </a:p>
          <a:p>
            <a:pPr algn="l" eaLnBrk="0">
              <a:lnSpc>
                <a:spcPct val="110000"/>
              </a:lnSpc>
              <a:spcAft>
                <a:spcPts val="200"/>
              </a:spcAft>
            </a:pPr>
            <a:r>
              <a:rPr sz="1300" b="0">
                <a:solidFill>
                  <a:srgbClr val="E8EEF6"/>
                </a:solidFill>
                <a:latin typeface="Consolas"/>
                <a:ea typeface="맑은 고딕"/>
                <a:cs typeface="맑은 고딕"/>
              </a:rPr>
              <a:t>  receiver_decision   confirm | revise</a:t>
            </a:r>
          </a:p>
          <a:p>
            <a:pPr algn="l" eaLnBrk="0">
              <a:lnSpc>
                <a:spcPct val="110000"/>
              </a:lnSpc>
              <a:spcAft>
                <a:spcPts val="200"/>
              </a:spcAft>
            </a:pPr>
            <a:r>
              <a:rPr sz="1300" b="0">
                <a:solidFill>
                  <a:srgbClr val="E8EEF6"/>
                </a:solidFill>
                <a:latin typeface="Consolas"/>
                <a:ea typeface="맑은 고딕"/>
                <a:cs typeface="맑은 고딕"/>
              </a:rPr>
              <a:t>  receiver_notes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사항</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communication_only  true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confirm</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반드시</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보완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초안</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사람의</a:t>
            </a:r>
            <a:r>
              <a:rPr sz="1300" b="0">
                <a:solidFill>
                  <a:srgbClr val="E8EEF6"/>
                </a:solidFill>
                <a:latin typeface="Consolas"/>
                <a:ea typeface="맑은 고딕"/>
                <a:cs typeface="맑은 고딕"/>
              </a:rPr>
              <a:t> notes</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들어온다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조회한다</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선택지</a:t>
            </a:r>
          </a:p>
          <a:p>
            <a:pPr algn="l" eaLnBrk="0">
              <a:lnSpc>
                <a:spcPct val="110000"/>
              </a:lnSpc>
              <a:spcAft>
                <a:spcPts val="400"/>
              </a:spcAft>
            </a:pPr>
            <a:r>
              <a:rPr sz="1400" b="0">
                <a:solidFill>
                  <a:srgbClr val="1F2A3A"/>
                </a:solidFill>
                <a:latin typeface="맑은 고딕"/>
                <a:ea typeface="맑은 고딕"/>
                <a:cs typeface="맑은 고딕"/>
              </a:rPr>
              <a:t>거절은 인계자 검토에만 있다. 인수자는 확인과 보완만 고른다.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사유</a:t>
            </a:r>
          </a:p>
          <a:p>
            <a:pPr algn="l" eaLnBrk="0">
              <a:lnSpc>
                <a:spcPct val="110000"/>
              </a:lnSpc>
              <a:spcAft>
                <a:spcPts val="400"/>
              </a:spcAft>
            </a:pPr>
            <a:r>
              <a:rPr sz="1400" b="0">
                <a:solidFill>
                  <a:srgbClr val="1F2A3A"/>
                </a:solidFill>
                <a:latin typeface="맑은 고딕"/>
                <a:ea typeface="맑은 고딕"/>
                <a:cs typeface="맑은 고딕"/>
              </a:rPr>
              <a:t>사유가 있어야 받아들여져, 다음 초안이 무엇을 고칠지 안다.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전달 확인</a:t>
            </a:r>
          </a:p>
          <a:p>
            <a:pPr algn="l" eaLnBrk="0">
              <a:lnSpc>
                <a:spcPct val="110000"/>
              </a:lnSpc>
              <a:spcAft>
                <a:spcPts val="400"/>
              </a:spcAft>
            </a:pPr>
            <a:r>
              <a:rPr sz="1400" b="0">
                <a:solidFill>
                  <a:srgbClr val="1F2A3A"/>
                </a:solidFill>
                <a:latin typeface="맑은 고딕"/>
                <a:ea typeface="맑은 고딕"/>
                <a:cs typeface="맑은 고딕"/>
              </a:rPr>
              <a:t>confirm은 전달받았다는 기록이다. 설비 조치 · 발주 · 정비 완료가 아니다.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다시 조회</a:t>
            </a:r>
          </a:p>
          <a:p>
            <a:pPr algn="l" eaLnBrk="0">
              <a:lnSpc>
                <a:spcPct val="110000"/>
              </a:lnSpc>
              <a:spcAft>
                <a:spcPts val="400"/>
              </a:spcAft>
            </a:pPr>
            <a:r>
              <a:rPr sz="1400" b="0">
                <a:solidFill>
                  <a:srgbClr val="1F2A3A"/>
                </a:solidFill>
                <a:latin typeface="맑은 고딕"/>
                <a:ea typeface="맑은 고딕"/>
                <a:cs typeface="맑은 고딕"/>
              </a:rPr>
              <a:t>보완 때 앞 초안의 조회 결과를 지금 상태로 다시 쓰지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제공 흐름에서 바꿀 수 있는 것과 유지하는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등록은 구조 검사를 통과한 판본만 받아서, 학생마다 교대의 검토 경로와 입력이 달라지지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바꿀 수 있는 것</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작업의 표시 이름과 그림 배치</a:t>
            </a:r>
          </a:p>
          <a:p>
            <a:pPr algn="l" eaLnBrk="0" marL="205740" indent="-205740">
              <a:lnSpc>
                <a:spcPct val="110000"/>
              </a:lnSpc>
              <a:spcAft>
                <a:spcPts val="600"/>
              </a:spcAft>
            </a:pPr>
            <a:r>
              <a:rPr sz="1800" b="0">
                <a:solidFill>
                  <a:srgbClr val="1F2A3A"/>
                </a:solidFill>
                <a:latin typeface="맑은 고딕"/>
                <a:ea typeface="맑은 고딕"/>
                <a:cs typeface="맑은 고딕"/>
              </a:rPr>
              <a:t>• 흐름의 이름</a:t>
            </a:r>
          </a:p>
          <a:p>
            <a:pPr algn="l" eaLnBrk="0" marL="205740" indent="-205740">
              <a:lnSpc>
                <a:spcPct val="110000"/>
              </a:lnSpc>
              <a:spcAft>
                <a:spcPts val="600"/>
              </a:spcAft>
            </a:pPr>
            <a:r>
              <a:rPr sz="1800" b="0">
                <a:solidFill>
                  <a:srgbClr val="1F2A3A"/>
                </a:solidFill>
                <a:latin typeface="맑은 고딕"/>
                <a:ea typeface="맑은 고딕"/>
                <a:cs typeface="맑은 고딕"/>
              </a:rPr>
              <a:t>• 세 초안 단계에 배정할 자기 에이전트</a:t>
            </a:r>
          </a:p>
          <a:p>
            <a:pPr algn="l" eaLnBrk="0" marL="205740" indent="-205740">
              <a:lnSpc>
                <a:spcPct val="110000"/>
              </a:lnSpc>
              <a:spcAft>
                <a:spcPts val="600"/>
              </a:spcAft>
            </a:pPr>
            <a:r>
              <a:rPr sz="1800" b="0">
                <a:solidFill>
                  <a:srgbClr val="1F2A3A"/>
                </a:solidFill>
                <a:latin typeface="맑은 고딕"/>
                <a:ea typeface="맑은 고딕"/>
                <a:cs typeface="맑은 고딕"/>
              </a:rPr>
              <a:t>• 별도 판본으로 등록</a:t>
            </a:r>
          </a:p>
        </p:txBody>
      </p:sp>
      <p:sp>
        <p:nvSpPr>
          <p:cNvPr id="11" name="Rounded Rectangle 10"/>
          <p:cNvSpPr/>
          <p:nvPr/>
        </p:nvSpPr>
        <p:spPr>
          <a:xfrm>
            <a:off x="868680" y="5382006"/>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표시 · 배정</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유지하는 것</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흐름 ID ShiftHandover와 작업 · 연결 · 분기 조건</a:t>
            </a:r>
          </a:p>
          <a:p>
            <a:pPr algn="l" eaLnBrk="0" marL="205740" indent="-205740">
              <a:lnSpc>
                <a:spcPct val="110000"/>
              </a:lnSpc>
              <a:spcAft>
                <a:spcPts val="600"/>
              </a:spcAft>
            </a:pPr>
            <a:r>
              <a:rPr sz="1800" b="0">
                <a:solidFill>
                  <a:srgbClr val="1F2A3A"/>
                </a:solidFill>
                <a:latin typeface="맑은 고딕"/>
                <a:ea typeface="맑은 고딕"/>
                <a:cs typeface="맑은 고딕"/>
              </a:rPr>
              <a:t>• 시작 입력 네 개</a:t>
            </a:r>
          </a:p>
          <a:p>
            <a:pPr algn="l" eaLnBrk="0" marL="205740" indent="-205740">
              <a:lnSpc>
                <a:spcPct val="110000"/>
              </a:lnSpc>
              <a:spcAft>
                <a:spcPts val="600"/>
              </a:spcAft>
            </a:pPr>
            <a:r>
              <a:rPr sz="1800" b="0">
                <a:solidFill>
                  <a:srgbClr val="1F2A3A"/>
                </a:solidFill>
                <a:latin typeface="맑은 고딕"/>
                <a:ea typeface="맑은 고딕"/>
                <a:cs typeface="맑은 고딕"/>
              </a:rPr>
              <a:t>• 쓰기 도구 · 시스템 작업 없음</a:t>
            </a:r>
          </a:p>
          <a:p>
            <a:pPr algn="l" eaLnBrk="0" marL="205740" indent="-205740">
              <a:lnSpc>
                <a:spcPct val="110000"/>
              </a:lnSpc>
              <a:spcAft>
                <a:spcPts val="600"/>
              </a:spcAft>
            </a:pPr>
            <a:r>
              <a:rPr sz="1800" b="0">
                <a:solidFill>
                  <a:srgbClr val="1F2A3A"/>
                </a:solidFill>
                <a:latin typeface="맑은 고딕"/>
                <a:ea typeface="맑은 고딕"/>
                <a:cs typeface="맑은 고딕"/>
              </a:rPr>
              <a:t>• 임의 코드의 자동 연결 없음</a:t>
            </a:r>
          </a:p>
        </p:txBody>
      </p:sp>
      <p:sp>
        <p:nvSpPr>
          <p:cNvPr id="18" name="Rounded Rectangle 17"/>
          <p:cNvSpPr/>
          <p:nvPr/>
        </p:nvSpPr>
        <p:spPr>
          <a:xfrm>
            <a:off x="6781647" y="5382006"/>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 · 권한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메모와 작업지시가 다른 경우의 시나리오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메모와 원천이 다른 경우를 시나리오로 적어 두면, 인계안이 모순을 남기고 쓰지 않는지 검증된다.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정비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메모와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작업지시</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작업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세척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작업지시가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배정됨이고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완료시각이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인계안을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작업지시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영역의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상태는</a:t>
            </a:r>
            <a:r>
              <a:rPr sz="1300" b="0">
                <a:solidFill>
                  <a:srgbClr val="E8EEF6"/>
                </a:solidFill>
                <a:latin typeface="Consolas"/>
                <a:ea typeface="맑은 고딕"/>
                <a:cs typeface="맑은 고딕"/>
              </a:rPr>
              <a:t> conflict</a:t>
            </a:r>
            <a:r>
              <a:rPr sz="1300" b="0">
                <a:solidFill>
                  <a:srgbClr val="E8EEF6"/>
                </a:solidFill>
                <a:latin typeface="맑은 고딕"/>
                <a:ea typeface="맑은 고딕"/>
                <a:cs typeface="맑은 고딕"/>
              </a:rPr>
              <a:t>이다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메모와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작업지시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다음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근무자가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호출은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없다</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명세의 입력 계약처럼 메모와 원천의 상태를 먼저 정한다.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a:t>
            </a:r>
          </a:p>
          <a:p>
            <a:pPr algn="l" eaLnBrk="0">
              <a:lnSpc>
                <a:spcPct val="110000"/>
              </a:lnSpc>
              <a:spcAft>
                <a:spcPts val="400"/>
              </a:spcAft>
            </a:pPr>
            <a:r>
              <a:rPr sz="1400" b="0">
                <a:solidFill>
                  <a:srgbClr val="1F2A3A"/>
                </a:solidFill>
                <a:latin typeface="맑은 고딕"/>
                <a:ea typeface="맑은 고딕"/>
                <a:cs typeface="맑은 고딕"/>
              </a:rPr>
              <a:t>상태 · 근거 · 다음 확인을 결과에서 검사한다. 문장 표현은 달라도 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회귀</a:t>
            </a:r>
          </a:p>
          <a:p>
            <a:pPr algn="l" eaLnBrk="0">
              <a:lnSpc>
                <a:spcPct val="110000"/>
              </a:lnSpc>
              <a:spcAft>
                <a:spcPts val="400"/>
              </a:spcAft>
            </a:pPr>
            <a:r>
              <a:rPr sz="1400" b="0">
                <a:solidFill>
                  <a:srgbClr val="1F2A3A"/>
                </a:solidFill>
                <a:latin typeface="맑은 고딕"/>
                <a:ea typeface="맑은 고딕"/>
                <a:cs typeface="맑은 고딕"/>
              </a:rPr>
              <a:t>원천이 메모와 같은 사례도 함께 돌려, 일치를 확인으로 남기는지 본다.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실제 기록</a:t>
            </a:r>
          </a:p>
          <a:p>
            <a:pPr algn="l" eaLnBrk="0">
              <a:lnSpc>
                <a:spcPct val="110000"/>
              </a:lnSpc>
              <a:spcAft>
                <a:spcPts val="400"/>
              </a:spcAft>
            </a:pPr>
            <a:r>
              <a:rPr sz="1400" b="0">
                <a:solidFill>
                  <a:srgbClr val="1F2A3A"/>
                </a:solidFill>
                <a:latin typeface="맑은 고딕"/>
                <a:ea typeface="맑은 고딕"/>
                <a:cs typeface="맑은 고딕"/>
              </a:rPr>
              <a:t>수업 시스템의 교대 한 건도 이 경우를 conflict로 남긴 뒤 인수 확인됐다.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교대 결과가 기대와 다를 때 먼저 볼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교대 결과가 기대와 다르면, 드러난 증상으로 지식 · 에이전트 · 프로세스 가운데 먼저 볼 곳을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볼 곳</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인계안 근거에 HI-01의 절이 나오지 않는다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보충 매뉴얼의 검토 · 적재와 출처 연결</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입고 예정이 현재고로 적혔다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스킬과 지침의 대조 기준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근거가 실제 호출과 맞지 않아 제출이 거절됐다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계약과 이 작업의 도구 호출 기록</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초안 단계에서 다른 에이전트가 돈다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판본의 세 초안 단계 배정</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보완 두 번 뒤에도 미확정으로 끝났다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보완 사유와 다시 조회한 원천</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사람 · 프로세스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교대 인수인계의 입력과 완료 조건</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인계 문제의 입력과 완료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완료 조건을 근거 · 남은 확인 · 두 사람의 기록으로 먼저 정해야 인계안을 판정할 기준이 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입력</a:t>
            </a:r>
          </a:p>
          <a:p>
            <a:pPr algn="l" eaLnBrk="0" marL="205740" indent="-205740">
              <a:lnSpc>
                <a:spcPct val="110000"/>
              </a:lnSpc>
              <a:spcAft>
                <a:spcPts val="400"/>
              </a:spcAft>
            </a:pPr>
            <a:r>
              <a:rPr sz="1800" b="0">
                <a:solidFill>
                  <a:srgbClr val="1F2A3A"/>
                </a:solidFill>
                <a:latin typeface="맑은 고딕"/>
                <a:ea typeface="맑은 고딕"/>
                <a:cs typeface="맑은 고딕"/>
              </a:rPr>
              <a:t>• 대상 설비 · 인계할 교대</a:t>
            </a:r>
          </a:p>
          <a:p>
            <a:pPr algn="l" eaLnBrk="0" marL="205740" indent="-205740">
              <a:lnSpc>
                <a:spcPct val="110000"/>
              </a:lnSpc>
              <a:spcAft>
                <a:spcPts val="400"/>
              </a:spcAft>
            </a:pPr>
            <a:r>
              <a:rPr sz="1800" b="0">
                <a:solidFill>
                  <a:srgbClr val="1F2A3A"/>
                </a:solidFill>
                <a:latin typeface="맑은 고딕"/>
                <a:ea typeface="맑은 고딕"/>
                <a:cs typeface="맑은 고딕"/>
              </a:rPr>
              <a:t>• 기준 시각 · 전달받은 작업 메모</a:t>
            </a:r>
          </a:p>
        </p:txBody>
      </p:sp>
      <p:sp>
        <p:nvSpPr>
          <p:cNvPr id="10" name="Rounded Rectangle 9"/>
          <p:cNvSpPr/>
          <p:nvPr/>
        </p:nvSpPr>
        <p:spPr>
          <a:xfrm>
            <a:off x="777240" y="539851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HI-01 기준</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database-search" descr="database-search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이어 확인할 것</a:t>
            </a:r>
          </a:p>
          <a:p>
            <a:pPr algn="l" eaLnBrk="0" marL="205740" indent="-205740">
              <a:lnSpc>
                <a:spcPct val="110000"/>
              </a:lnSpc>
              <a:spcAft>
                <a:spcPts val="400"/>
              </a:spcAft>
            </a:pPr>
            <a:r>
              <a:rPr sz="1800" b="0">
                <a:solidFill>
                  <a:srgbClr val="1F2A3A"/>
                </a:solidFill>
                <a:latin typeface="맑은 고딕"/>
                <a:ea typeface="맑은 고딕"/>
                <a:cs typeface="맑은 고딕"/>
              </a:rPr>
              <a:t>• 설비 상태 · 열린 작업</a:t>
            </a:r>
          </a:p>
          <a:p>
            <a:pPr algn="l" eaLnBrk="0" marL="205740" indent="-205740">
              <a:lnSpc>
                <a:spcPct val="110000"/>
              </a:lnSpc>
              <a:spcAft>
                <a:spcPts val="400"/>
              </a:spcAft>
            </a:pPr>
            <a:r>
              <a:rPr sz="1800" b="0">
                <a:solidFill>
                  <a:srgbClr val="1F2A3A"/>
                </a:solidFill>
                <a:latin typeface="맑은 고딕"/>
                <a:ea typeface="맑은 고딕"/>
                <a:cs typeface="맑은 고딕"/>
              </a:rPr>
              <a:t>• 부품 · 작업 메모</a:t>
            </a:r>
          </a:p>
        </p:txBody>
      </p:sp>
      <p:sp>
        <p:nvSpPr>
          <p:cNvPr id="16" name="Rounded Rectangle 15"/>
          <p:cNvSpPr/>
          <p:nvPr/>
        </p:nvSpPr>
        <p:spPr>
          <a:xfrm>
            <a:off x="4566818" y="5398516"/>
            <a:ext cx="1502663"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502663"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ABC 기록과 별개</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clipboard-check" descr="clipboard-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완료 조건</a:t>
            </a:r>
          </a:p>
          <a:p>
            <a:pPr algn="l" eaLnBrk="0" marL="205740" indent="-205740">
              <a:lnSpc>
                <a:spcPct val="110000"/>
              </a:lnSpc>
              <a:spcAft>
                <a:spcPts val="400"/>
              </a:spcAft>
            </a:pPr>
            <a:r>
              <a:rPr sz="1800" b="0">
                <a:solidFill>
                  <a:srgbClr val="1F2A3A"/>
                </a:solidFill>
                <a:latin typeface="맑은 고딕"/>
                <a:ea typeface="맑은 고딕"/>
                <a:cs typeface="맑은 고딕"/>
              </a:rPr>
              <a:t>• 주장마다 근거가 있다</a:t>
            </a:r>
          </a:p>
          <a:p>
            <a:pPr algn="l" eaLnBrk="0" marL="205740" indent="-205740">
              <a:lnSpc>
                <a:spcPct val="110000"/>
              </a:lnSpc>
              <a:spcAft>
                <a:spcPts val="400"/>
              </a:spcAft>
            </a:pPr>
            <a:r>
              <a:rPr sz="1800" b="0">
                <a:solidFill>
                  <a:srgbClr val="1F2A3A"/>
                </a:solidFill>
                <a:latin typeface="맑은 고딕"/>
                <a:ea typeface="맑은 고딕"/>
                <a:cs typeface="맑은 고딕"/>
              </a:rPr>
              <a:t>• 불일치와 확인할 일이 남는다</a:t>
            </a:r>
          </a:p>
          <a:p>
            <a:pPr algn="l" eaLnBrk="0" marL="205740" indent="-205740">
              <a:lnSpc>
                <a:spcPct val="110000"/>
              </a:lnSpc>
              <a:spcAft>
                <a:spcPts val="400"/>
              </a:spcAft>
            </a:pPr>
            <a:r>
              <a:rPr sz="1800" b="0">
                <a:solidFill>
                  <a:srgbClr val="1F2A3A"/>
                </a:solidFill>
                <a:latin typeface="맑은 고딕"/>
                <a:ea typeface="맑은 고딕"/>
                <a:cs typeface="맑은 고딕"/>
              </a:rPr>
              <a:t>• 인계자 검토 · 인수자 확인 기록</a:t>
            </a:r>
          </a:p>
        </p:txBody>
      </p:sp>
      <p:sp>
        <p:nvSpPr>
          <p:cNvPr id="22" name="Rounded Rectangle 21"/>
          <p:cNvSpPr/>
          <p:nvPr/>
        </p:nvSpPr>
        <p:spPr>
          <a:xfrm>
            <a:off x="8356396" y="539851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 기준</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보충 매뉴얼의 검토와 지식 추가</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제공 HI-01의 추출 결과 검토와 추가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준비된 추출 후보를 원문 절과 대조해 승인한 항목만 추가하고, 그 연결을 인계의 기준으로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a:t>
            </a:r>
          </a:p>
          <a:p>
            <a:pPr algn="l" eaLnBrk="0" marL="182880" indent="-182880">
              <a:lnSpc>
                <a:spcPct val="110000"/>
              </a:lnSpc>
              <a:spcAft>
                <a:spcPts val="400"/>
              </a:spcAft>
            </a:pPr>
            <a:r>
              <a:rPr sz="1600" b="0">
                <a:solidFill>
                  <a:srgbClr val="1F2A3A"/>
                </a:solidFill>
                <a:latin typeface="맑은 고딕"/>
                <a:ea typeface="맑은 고딕"/>
                <a:cs typeface="맑은 고딕"/>
              </a:rPr>
              <a:t>• 강사 코드로 열린 교대 실습</a:t>
            </a:r>
          </a:p>
          <a:p>
            <a:pPr algn="l" eaLnBrk="0" marL="182880" indent="-182880">
              <a:lnSpc>
                <a:spcPct val="110000"/>
              </a:lnSpc>
              <a:spcAft>
                <a:spcPts val="400"/>
              </a:spcAft>
            </a:pPr>
            <a:r>
              <a:rPr sz="1600" b="0">
                <a:solidFill>
                  <a:srgbClr val="1F2A3A"/>
                </a:solidFill>
                <a:latin typeface="맑은 고딕"/>
                <a:ea typeface="맑은 고딕"/>
                <a:cs typeface="맑은 고딕"/>
              </a:rPr>
              <a:t>• 제공 HI-01 보충 매뉴얼</a:t>
            </a:r>
          </a:p>
        </p:txBody>
      </p:sp>
      <p:sp>
        <p:nvSpPr>
          <p:cNvPr id="10" name="Rounded Rectangle 9"/>
          <p:cNvSpPr/>
          <p:nvPr/>
        </p:nvSpPr>
        <p:spPr>
          <a:xfrm>
            <a:off x="777240" y="542950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제공 문서</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zoom-check" descr="zoom-check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검토</a:t>
            </a:r>
          </a:p>
          <a:p>
            <a:pPr algn="l" eaLnBrk="0" marL="182880" indent="-182880">
              <a:lnSpc>
                <a:spcPct val="110000"/>
              </a:lnSpc>
              <a:spcAft>
                <a:spcPts val="400"/>
              </a:spcAft>
            </a:pPr>
            <a:r>
              <a:rPr sz="1600" b="0">
                <a:solidFill>
                  <a:srgbClr val="1F2A3A"/>
                </a:solidFill>
                <a:latin typeface="맑은 고딕"/>
                <a:ea typeface="맑은 고딕"/>
                <a:cs typeface="맑은 고딕"/>
              </a:rPr>
              <a:t>• 추출 후보의 절차 · 조건 · 근거를 원문과 대조</a:t>
            </a:r>
          </a:p>
          <a:p>
            <a:pPr algn="l" eaLnBrk="0" marL="182880" indent="-182880">
              <a:lnSpc>
                <a:spcPct val="110000"/>
              </a:lnSpc>
              <a:spcAft>
                <a:spcPts val="400"/>
              </a:spcAft>
            </a:pPr>
            <a:r>
              <a:rPr sz="1600" b="0">
                <a:solidFill>
                  <a:srgbClr val="1F2A3A"/>
                </a:solidFill>
                <a:latin typeface="맑은 고딕"/>
                <a:ea typeface="맑은 고딕"/>
                <a:cs typeface="맑은 고딕"/>
              </a:rPr>
              <a:t>• 추출 재사용과 사람의 검토 · 적재는 다르다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원문 대조</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확인</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지도에서 새 항목의 식별자</a:t>
            </a:r>
          </a:p>
          <a:p>
            <a:pPr algn="l" eaLnBrk="0" marL="182880" indent="-182880">
              <a:lnSpc>
                <a:spcPct val="110000"/>
              </a:lnSpc>
              <a:spcAft>
                <a:spcPts val="400"/>
              </a:spcAft>
            </a:pPr>
            <a:r>
              <a:rPr sz="1600" b="0">
                <a:solidFill>
                  <a:srgbClr val="1F2A3A"/>
                </a:solidFill>
                <a:latin typeface="맑은 고딕"/>
                <a:ea typeface="맑은 고딕"/>
                <a:cs typeface="맑은 고딕"/>
              </a:rPr>
              <a:t>• 문서 · 판본 · 절 연결</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출처 연결</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77165" indent="-177165">
              <a:lnSpc>
                <a:spcPct val="110000"/>
              </a:lnSpc>
              <a:spcAft>
                <a:spcPts val="400"/>
              </a:spcAft>
            </a:pPr>
            <a:r>
              <a:rPr sz="1550" b="0">
                <a:solidFill>
                  <a:srgbClr val="1F2A3A"/>
                </a:solidFill>
                <a:latin typeface="맑은 고딕"/>
                <a:ea typeface="맑은 고딕"/>
                <a:cs typeface="맑은 고딕"/>
              </a:rPr>
              <a:t>• 검토한 항목만 추가, 기존 세 문서 유지</a:t>
            </a:r>
          </a:p>
          <a:p>
            <a:pPr algn="l" eaLnBrk="0" marL="177165" indent="-177165">
              <a:lnSpc>
                <a:spcPct val="110000"/>
              </a:lnSpc>
              <a:spcAft>
                <a:spcPts val="400"/>
              </a:spcAft>
            </a:pPr>
            <a:r>
              <a:rPr sz="1550" b="0">
                <a:solidFill>
                  <a:srgbClr val="1F2A3A"/>
                </a:solidFill>
                <a:latin typeface="맑은 고딕"/>
                <a:ea typeface="맑은 고딕"/>
                <a:cs typeface="맑은 고딕"/>
              </a:rPr>
              <a:t>• 인계안의 확인 기준으로 사용</a:t>
            </a:r>
          </a:p>
        </p:txBody>
      </p:sp>
      <p:sp>
        <p:nvSpPr>
          <p:cNvPr id="28" name="Rounded Rectangle 27"/>
          <p:cNvSpPr/>
          <p:nvPr/>
        </p:nvSpPr>
        <p:spPr>
          <a:xfrm>
            <a:off x="9303791" y="5429504"/>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적재 기록</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 정비 · ERP 대조 인계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원천을 대조하는 인계 에이전트와 스킬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허용된 읽기 도구로 네 영역을 대조하게 하고, 결과 문장을 원천 기록과 비교해 지침을 보완한다.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70632"/>
            <a:ext cx="2567863" cy="344144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71801"/>
            <a:ext cx="731520" cy="731520"/>
          </a:xfrm>
          <a:prstGeom prst="ellipse">
            <a:avLst/>
          </a:prstGeom>
          <a:solidFill>
            <a:srgbClr val="E7F3FD"/>
          </a:solidFill>
          <a:ln>
            <a:noFill/>
          </a:ln>
        </p:spPr>
        <p:txBody>
          <a:bodyPr rtlCol="0" anchor="ctr"/>
          <a:lstStyle/>
          <a:p>
            <a:pPr algn="ctr"/>
          </a:p>
        </p:txBody>
      </p:sp>
      <p:pic>
        <p:nvPicPr>
          <p:cNvPr id="8" name="아이콘:plug" descr="plug_13294B_1.6.png"/>
          <p:cNvPicPr>
            <a:picLocks noChangeAspect="1"/>
          </p:cNvPicPr>
          <p:nvPr/>
        </p:nvPicPr>
        <p:blipFill>
          <a:blip r:embed="rId3"/>
          <a:stretch>
            <a:fillRect/>
          </a:stretch>
        </p:blipFill>
        <p:spPr>
          <a:xfrm>
            <a:off x="930859" y="2625420"/>
            <a:ext cx="424281" cy="424281"/>
          </a:xfrm>
          <a:prstGeom prst="rect">
            <a:avLst/>
          </a:prstGeom>
        </p:spPr>
      </p:pic>
      <p:sp>
        <p:nvSpPr>
          <p:cNvPr id="9" name="TextBox 8"/>
          <p:cNvSpPr txBox="1"/>
          <p:nvPr/>
        </p:nvSpPr>
        <p:spPr>
          <a:xfrm>
            <a:off x="713232" y="3294760"/>
            <a:ext cx="2238679" cy="1914398"/>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도구</a:t>
            </a:r>
          </a:p>
          <a:p>
            <a:pPr algn="l" eaLnBrk="0" marL="177165" indent="-177165">
              <a:lnSpc>
                <a:spcPct val="110000"/>
              </a:lnSpc>
              <a:spcAft>
                <a:spcPts val="400"/>
              </a:spcAft>
            </a:pPr>
            <a:r>
              <a:rPr sz="1550" b="0">
                <a:solidFill>
                  <a:srgbClr val="1F2A3A"/>
                </a:solidFill>
                <a:latin typeface="맑은 고딕"/>
                <a:ea typeface="맑은 고딕"/>
                <a:cs typeface="맑은 고딕"/>
              </a:rPr>
              <a:t>• 허용된 설비 · 정비 · ERP 읽기 도구</a:t>
            </a:r>
          </a:p>
          <a:p>
            <a:pPr algn="l" eaLnBrk="0" marL="177165" indent="-177165">
              <a:lnSpc>
                <a:spcPct val="110000"/>
              </a:lnSpc>
              <a:spcAft>
                <a:spcPts val="400"/>
              </a:spcAft>
            </a:pPr>
            <a:r>
              <a:rPr sz="1550" b="0">
                <a:solidFill>
                  <a:srgbClr val="1F2A3A"/>
                </a:solidFill>
                <a:latin typeface="맑은 고딕"/>
                <a:ea typeface="맑은 고딕"/>
                <a:cs typeface="맑은 고딕"/>
              </a:rPr>
              <a:t>• 쓰기 · 설비 조치 도구 없음</a:t>
            </a:r>
          </a:p>
        </p:txBody>
      </p:sp>
      <p:sp>
        <p:nvSpPr>
          <p:cNvPr id="10" name="Rounded Rectangle 9"/>
          <p:cNvSpPr/>
          <p:nvPr/>
        </p:nvSpPr>
        <p:spPr>
          <a:xfrm>
            <a:off x="777240" y="5282311"/>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8231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범위</a:t>
            </a:r>
          </a:p>
        </p:txBody>
      </p:sp>
      <p:sp>
        <p:nvSpPr>
          <p:cNvPr id="12" name="Rounded Rectangle 11"/>
          <p:cNvSpPr/>
          <p:nvPr/>
        </p:nvSpPr>
        <p:spPr>
          <a:xfrm>
            <a:off x="3390823" y="2270632"/>
            <a:ext cx="2567863" cy="344144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71801"/>
            <a:ext cx="731520" cy="731520"/>
          </a:xfrm>
          <a:prstGeom prst="ellipse">
            <a:avLst/>
          </a:prstGeom>
          <a:solidFill>
            <a:srgbClr val="E7F3FD"/>
          </a:solidFill>
          <a:ln>
            <a:noFill/>
          </a:ln>
        </p:spPr>
        <p:txBody>
          <a:bodyPr rtlCol="0" anchor="ctr"/>
          <a:lstStyle/>
          <a:p>
            <a:pPr algn="ctr"/>
          </a:p>
        </p:txBody>
      </p:sp>
      <p:pic>
        <p:nvPicPr>
          <p:cNvPr id="14" name="아이콘:arrows-exchange" descr="arrows-exchange_13294B_1.6.png"/>
          <p:cNvPicPr>
            <a:picLocks noChangeAspect="1"/>
          </p:cNvPicPr>
          <p:nvPr/>
        </p:nvPicPr>
        <p:blipFill>
          <a:blip r:embed="rId4"/>
          <a:stretch>
            <a:fillRect/>
          </a:stretch>
        </p:blipFill>
        <p:spPr>
          <a:xfrm>
            <a:off x="3773043" y="2625420"/>
            <a:ext cx="424281" cy="424281"/>
          </a:xfrm>
          <a:prstGeom prst="rect">
            <a:avLst/>
          </a:prstGeom>
        </p:spPr>
      </p:pic>
      <p:sp>
        <p:nvSpPr>
          <p:cNvPr id="15" name="TextBox 14"/>
          <p:cNvSpPr txBox="1"/>
          <p:nvPr/>
        </p:nvSpPr>
        <p:spPr>
          <a:xfrm>
            <a:off x="3555415" y="3294760"/>
            <a:ext cx="2238679" cy="1914398"/>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대조</a:t>
            </a:r>
          </a:p>
          <a:p>
            <a:pPr algn="l" eaLnBrk="0" marL="171450" indent="-171450">
              <a:lnSpc>
                <a:spcPct val="110000"/>
              </a:lnSpc>
              <a:spcAft>
                <a:spcPts val="400"/>
              </a:spcAft>
            </a:pPr>
            <a:r>
              <a:rPr sz="1500" b="0">
                <a:solidFill>
                  <a:srgbClr val="1F2A3A"/>
                </a:solidFill>
                <a:latin typeface="맑은 고딕"/>
                <a:ea typeface="맑은 고딕"/>
                <a:cs typeface="맑은 고딕"/>
              </a:rPr>
              <a:t>• 관측 시각 · 열린 작업지시</a:t>
            </a:r>
          </a:p>
          <a:p>
            <a:pPr algn="l" eaLnBrk="0" marL="171450" indent="-171450">
              <a:lnSpc>
                <a:spcPct val="110000"/>
              </a:lnSpc>
              <a:spcAft>
                <a:spcPts val="400"/>
              </a:spcAft>
            </a:pPr>
            <a:r>
              <a:rPr sz="1500" b="0">
                <a:solidFill>
                  <a:srgbClr val="1F2A3A"/>
                </a:solidFill>
                <a:latin typeface="맑은 고딕"/>
                <a:ea typeface="맑은 고딕"/>
                <a:cs typeface="맑은 고딕"/>
              </a:rPr>
              <a:t>• 재고 · 예약 · 발주 중 수량 · 작업 메모</a:t>
            </a:r>
          </a:p>
        </p:txBody>
      </p:sp>
      <p:sp>
        <p:nvSpPr>
          <p:cNvPr id="16" name="Rounded Rectangle 15"/>
          <p:cNvSpPr/>
          <p:nvPr/>
        </p:nvSpPr>
        <p:spPr>
          <a:xfrm>
            <a:off x="3619423" y="5282311"/>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8231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네 영역</a:t>
            </a:r>
          </a:p>
        </p:txBody>
      </p:sp>
      <p:sp>
        <p:nvSpPr>
          <p:cNvPr id="18" name="Rounded Rectangle 17"/>
          <p:cNvSpPr/>
          <p:nvPr/>
        </p:nvSpPr>
        <p:spPr>
          <a:xfrm>
            <a:off x="6233007" y="2270632"/>
            <a:ext cx="2567863" cy="344144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71801"/>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625420"/>
            <a:ext cx="424281" cy="424281"/>
          </a:xfrm>
          <a:prstGeom prst="rect">
            <a:avLst/>
          </a:prstGeom>
        </p:spPr>
      </p:pic>
      <p:sp>
        <p:nvSpPr>
          <p:cNvPr id="21" name="TextBox 20"/>
          <p:cNvSpPr txBox="1"/>
          <p:nvPr/>
        </p:nvSpPr>
        <p:spPr>
          <a:xfrm>
            <a:off x="6397599" y="3294760"/>
            <a:ext cx="2238679" cy="1914398"/>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차이 처리</a:t>
            </a:r>
          </a:p>
          <a:p>
            <a:pPr algn="l" eaLnBrk="0" marL="177165" indent="-177165">
              <a:lnSpc>
                <a:spcPct val="110000"/>
              </a:lnSpc>
              <a:spcAft>
                <a:spcPts val="400"/>
              </a:spcAft>
            </a:pPr>
            <a:r>
              <a:rPr sz="1550" b="0">
                <a:solidFill>
                  <a:srgbClr val="1F2A3A"/>
                </a:solidFill>
                <a:latin typeface="맑은 고딕"/>
                <a:ea typeface="맑은 고딕"/>
                <a:cs typeface="맑은 고딕"/>
              </a:rPr>
              <a:t>• 완료 주장과 원천이 다르면</a:t>
            </a:r>
          </a:p>
          <a:p>
            <a:pPr algn="l" eaLnBrk="0" marL="177165" indent="-177165">
              <a:lnSpc>
                <a:spcPct val="110000"/>
              </a:lnSpc>
              <a:spcAft>
                <a:spcPts val="400"/>
              </a:spcAft>
            </a:pPr>
            <a:r>
              <a:rPr sz="1550" b="0">
                <a:solidFill>
                  <a:srgbClr val="1F2A3A"/>
                </a:solidFill>
                <a:latin typeface="맑은 고딕"/>
                <a:ea typeface="맑은 고딕"/>
                <a:cs typeface="맑은 고딕"/>
              </a:rPr>
              <a:t>• 두 근거와 확인할 질문을 남긴다</a:t>
            </a:r>
          </a:p>
        </p:txBody>
      </p:sp>
      <p:sp>
        <p:nvSpPr>
          <p:cNvPr id="22" name="Rounded Rectangle 21"/>
          <p:cNvSpPr/>
          <p:nvPr/>
        </p:nvSpPr>
        <p:spPr>
          <a:xfrm>
            <a:off x="6461607" y="528231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82311"/>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불일치</a:t>
            </a:r>
          </a:p>
        </p:txBody>
      </p:sp>
      <p:sp>
        <p:nvSpPr>
          <p:cNvPr id="24" name="Rounded Rectangle 23"/>
          <p:cNvSpPr/>
          <p:nvPr/>
        </p:nvSpPr>
        <p:spPr>
          <a:xfrm>
            <a:off x="9075191" y="2270632"/>
            <a:ext cx="2567863" cy="344144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71801"/>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625420"/>
            <a:ext cx="424281" cy="424281"/>
          </a:xfrm>
          <a:prstGeom prst="rect">
            <a:avLst/>
          </a:prstGeom>
        </p:spPr>
      </p:pic>
      <p:sp>
        <p:nvSpPr>
          <p:cNvPr id="27" name="TextBox 26"/>
          <p:cNvSpPr txBox="1"/>
          <p:nvPr/>
        </p:nvSpPr>
        <p:spPr>
          <a:xfrm>
            <a:off x="9239783" y="3294760"/>
            <a:ext cx="2238679" cy="1914398"/>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검증</a:t>
            </a:r>
          </a:p>
          <a:p>
            <a:pPr algn="l" eaLnBrk="0" marL="177165" indent="-177165">
              <a:lnSpc>
                <a:spcPct val="110000"/>
              </a:lnSpc>
              <a:spcAft>
                <a:spcPts val="400"/>
              </a:spcAft>
            </a:pPr>
            <a:r>
              <a:rPr sz="1550" b="0">
                <a:solidFill>
                  <a:srgbClr val="1F2A3A"/>
                </a:solidFill>
                <a:latin typeface="맑은 고딕"/>
                <a:ea typeface="맑은 고딕"/>
                <a:cs typeface="맑은 고딕"/>
              </a:rPr>
              <a:t>• 결과의 문장마다 원천 기록과 비교</a:t>
            </a:r>
          </a:p>
          <a:p>
            <a:pPr algn="l" eaLnBrk="0" marL="177165" indent="-177165">
              <a:lnSpc>
                <a:spcPct val="110000"/>
              </a:lnSpc>
              <a:spcAft>
                <a:spcPts val="400"/>
              </a:spcAft>
            </a:pPr>
            <a:r>
              <a:rPr sz="1550" b="0">
                <a:solidFill>
                  <a:srgbClr val="1F2A3A"/>
                </a:solidFill>
                <a:latin typeface="맑은 고딕"/>
                <a:ea typeface="맑은 고딕"/>
                <a:cs typeface="맑은 고딕"/>
              </a:rPr>
              <a:t>• 로컬 랩의 출처 · 질문 · 검증 방법 활용</a:t>
            </a:r>
          </a:p>
        </p:txBody>
      </p:sp>
      <p:sp>
        <p:nvSpPr>
          <p:cNvPr id="28" name="Rounded Rectangle 27"/>
          <p:cNvSpPr/>
          <p:nvPr/>
        </p:nvSpPr>
        <p:spPr>
          <a:xfrm>
            <a:off x="9303791" y="5282311"/>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8231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지침 보완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교대 BPMN 등록과 검토 · 확인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제공 흐름의 등록에서 인수 확인 기록까지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제공 흐름의 구조를 지켜 판본을 등록하고, 같은 처리 건에서 검토 · 보완 · 인수 확인까지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532824"/>
            <a:ext cx="1529029" cy="2917063"/>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2715704"/>
            <a:ext cx="1382725" cy="266103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흐름 정리</a:t>
            </a:r>
          </a:p>
          <a:p>
            <a:pPr algn="ctr" eaLnBrk="0">
              <a:lnSpc>
                <a:spcPct val="110000"/>
              </a:lnSpc>
              <a:spcAft>
                <a:spcPts val="400"/>
              </a:spcAft>
            </a:pPr>
            <a:r>
              <a:rPr sz="1550" b="0">
                <a:solidFill>
                  <a:srgbClr val="1F2A3A"/>
                </a:solidFill>
                <a:latin typeface="맑은 고딕"/>
                <a:ea typeface="맑은 고딕"/>
                <a:cs typeface="맑은 고딕"/>
              </a:rPr>
              <a:t>표시 이름 · 배치만</a:t>
            </a:r>
          </a:p>
          <a:p>
            <a:pPr algn="ctr" eaLnBrk="0">
              <a:lnSpc>
                <a:spcPct val="110000"/>
              </a:lnSpc>
              <a:spcAft>
                <a:spcPts val="400"/>
              </a:spcAft>
            </a:pPr>
            <a:r>
              <a:rPr sz="1550" b="0">
                <a:solidFill>
                  <a:srgbClr val="1F2A3A"/>
                </a:solidFill>
                <a:latin typeface="맑은 고딕"/>
                <a:ea typeface="맑은 고딕"/>
                <a:cs typeface="맑은 고딕"/>
              </a:rPr>
              <a:t>입력 · 검토 · 보완 분기 유지</a:t>
            </a:r>
          </a:p>
        </p:txBody>
      </p:sp>
      <p:sp>
        <p:nvSpPr>
          <p:cNvPr id="8" name="Right Arrow 7"/>
          <p:cNvSpPr/>
          <p:nvPr/>
        </p:nvSpPr>
        <p:spPr>
          <a:xfrm>
            <a:off x="2141677"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2461717" y="2532824"/>
            <a:ext cx="1529029" cy="2917063"/>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2534869" y="2715704"/>
            <a:ext cx="1382725" cy="266103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판본 등록</a:t>
            </a:r>
          </a:p>
          <a:p>
            <a:pPr algn="ctr" eaLnBrk="0">
              <a:lnSpc>
                <a:spcPct val="110000"/>
              </a:lnSpc>
              <a:spcAft>
                <a:spcPts val="400"/>
              </a:spcAft>
            </a:pPr>
            <a:r>
              <a:rPr sz="1550" b="0">
                <a:solidFill>
                  <a:srgbClr val="1F2A3A"/>
                </a:solidFill>
                <a:latin typeface="맑은 고딕"/>
                <a:ea typeface="맑은 고딕"/>
                <a:cs typeface="맑은 고딕"/>
              </a:rPr>
              <a:t>세 초안 단계에</a:t>
            </a:r>
          </a:p>
          <a:p>
            <a:pPr algn="ctr" eaLnBrk="0">
              <a:lnSpc>
                <a:spcPct val="110000"/>
              </a:lnSpc>
              <a:spcAft>
                <a:spcPts val="400"/>
              </a:spcAft>
            </a:pPr>
            <a:r>
              <a:rPr sz="1550" b="0">
                <a:solidFill>
                  <a:srgbClr val="1F2A3A"/>
                </a:solidFill>
                <a:latin typeface="맑은 고딕"/>
                <a:ea typeface="맑은 고딕"/>
                <a:cs typeface="맑은 고딕"/>
              </a:rPr>
              <a:t>자기 에이전트 배정</a:t>
            </a:r>
          </a:p>
        </p:txBody>
      </p:sp>
      <p:sp>
        <p:nvSpPr>
          <p:cNvPr id="11" name="Right Arrow 10"/>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4374794" y="2532824"/>
            <a:ext cx="1529029" cy="2917063"/>
          </a:xfrm>
          <a:prstGeom prst="roundRect">
            <a:avLst>
              <a:gd name="adj" fmla="val 5000"/>
            </a:avLst>
          </a:prstGeom>
          <a:solidFill>
            <a:srgbClr val="F3F6F9"/>
          </a:solidFill>
          <a:ln>
            <a:noFill/>
          </a:ln>
        </p:spPr>
        <p:txBody>
          <a:bodyPr rtlCol="0" anchor="ctr"/>
          <a:lstStyle/>
          <a:p>
            <a:pPr algn="ctr"/>
          </a:p>
        </p:txBody>
      </p:sp>
      <p:sp>
        <p:nvSpPr>
          <p:cNvPr id="13" name="TextBox 12"/>
          <p:cNvSpPr txBox="1"/>
          <p:nvPr/>
        </p:nvSpPr>
        <p:spPr>
          <a:xfrm>
            <a:off x="4447946" y="2715704"/>
            <a:ext cx="1382725" cy="266103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시작</a:t>
            </a:r>
          </a:p>
          <a:p>
            <a:pPr algn="ctr" eaLnBrk="0">
              <a:lnSpc>
                <a:spcPct val="110000"/>
              </a:lnSpc>
              <a:spcAft>
                <a:spcPts val="400"/>
              </a:spcAft>
            </a:pPr>
            <a:r>
              <a:rPr sz="1550" b="0">
                <a:solidFill>
                  <a:srgbClr val="1F2A3A"/>
                </a:solidFill>
                <a:latin typeface="맑은 고딕"/>
                <a:ea typeface="맑은 고딕"/>
                <a:cs typeface="맑은 고딕"/>
              </a:rPr>
              <a:t>설비 · 교대 정보 입력</a:t>
            </a:r>
          </a:p>
          <a:p>
            <a:pPr algn="ctr" eaLnBrk="0">
              <a:lnSpc>
                <a:spcPct val="110000"/>
              </a:lnSpc>
              <a:spcAft>
                <a:spcPts val="400"/>
              </a:spcAft>
            </a:pPr>
            <a:r>
              <a:rPr sz="1550" b="0">
                <a:solidFill>
                  <a:srgbClr val="1F2A3A"/>
                </a:solidFill>
                <a:latin typeface="맑은 고딕"/>
                <a:ea typeface="맑은 고딕"/>
                <a:cs typeface="맑은 고딕"/>
              </a:rPr>
              <a:t>초안과 근거 생성</a:t>
            </a:r>
          </a:p>
        </p:txBody>
      </p:sp>
      <p:sp>
        <p:nvSpPr>
          <p:cNvPr id="14" name="Right Arrow 13"/>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5" name="Rounded Rectangle 14"/>
          <p:cNvSpPr/>
          <p:nvPr/>
        </p:nvSpPr>
        <p:spPr>
          <a:xfrm>
            <a:off x="6287871" y="2532824"/>
            <a:ext cx="1529029" cy="2917063"/>
          </a:xfrm>
          <a:prstGeom prst="roundRect">
            <a:avLst>
              <a:gd name="adj" fmla="val 5000"/>
            </a:avLst>
          </a:prstGeom>
          <a:solidFill>
            <a:srgbClr val="F3F6F9"/>
          </a:solidFill>
          <a:ln>
            <a:noFill/>
          </a:ln>
        </p:spPr>
        <p:txBody>
          <a:bodyPr rtlCol="0" anchor="ctr"/>
          <a:lstStyle/>
          <a:p>
            <a:pPr algn="ctr"/>
          </a:p>
        </p:txBody>
      </p:sp>
      <p:sp>
        <p:nvSpPr>
          <p:cNvPr id="16" name="TextBox 15"/>
          <p:cNvSpPr txBox="1"/>
          <p:nvPr/>
        </p:nvSpPr>
        <p:spPr>
          <a:xfrm>
            <a:off x="6361023" y="2715704"/>
            <a:ext cx="1382725" cy="266103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검토 · 설명</a:t>
            </a:r>
          </a:p>
          <a:p>
            <a:pPr algn="ctr" eaLnBrk="0">
              <a:lnSpc>
                <a:spcPct val="110000"/>
              </a:lnSpc>
              <a:spcAft>
                <a:spcPts val="400"/>
              </a:spcAft>
            </a:pPr>
            <a:r>
              <a:rPr sz="1550" b="0">
                <a:solidFill>
                  <a:srgbClr val="1F2A3A"/>
                </a:solidFill>
                <a:latin typeface="맑은 고딕"/>
                <a:ea typeface="맑은 고딕"/>
                <a:cs typeface="맑은 고딕"/>
              </a:rPr>
              <a:t>원천과 대조하고</a:t>
            </a:r>
          </a:p>
          <a:p>
            <a:pPr algn="ctr" eaLnBrk="0">
              <a:lnSpc>
                <a:spcPct val="110000"/>
              </a:lnSpc>
              <a:spcAft>
                <a:spcPts val="400"/>
              </a:spcAft>
            </a:pPr>
            <a:r>
              <a:rPr sz="1550" b="0">
                <a:solidFill>
                  <a:srgbClr val="1F2A3A"/>
                </a:solidFill>
                <a:latin typeface="맑은 고딕"/>
                <a:ea typeface="맑은 고딕"/>
                <a:cs typeface="맑은 고딕"/>
              </a:rPr>
              <a:t>근거 · 남은 일을 설명</a:t>
            </a:r>
          </a:p>
        </p:txBody>
      </p:sp>
      <p:sp>
        <p:nvSpPr>
          <p:cNvPr id="17" name="Right Arrow 16"/>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8" name="Rounded Rectangle 17"/>
          <p:cNvSpPr/>
          <p:nvPr/>
        </p:nvSpPr>
        <p:spPr>
          <a:xfrm>
            <a:off x="8200948" y="2532824"/>
            <a:ext cx="1529029" cy="2917063"/>
          </a:xfrm>
          <a:prstGeom prst="roundRect">
            <a:avLst>
              <a:gd name="adj" fmla="val 5000"/>
            </a:avLst>
          </a:prstGeom>
          <a:solidFill>
            <a:srgbClr val="F3F6F9"/>
          </a:solidFill>
          <a:ln>
            <a:noFill/>
          </a:ln>
        </p:spPr>
        <p:txBody>
          <a:bodyPr rtlCol="0" anchor="ctr"/>
          <a:lstStyle/>
          <a:p>
            <a:pPr algn="ctr"/>
          </a:p>
        </p:txBody>
      </p:sp>
      <p:sp>
        <p:nvSpPr>
          <p:cNvPr id="19" name="TextBox 18"/>
          <p:cNvSpPr txBox="1"/>
          <p:nvPr/>
        </p:nvSpPr>
        <p:spPr>
          <a:xfrm>
            <a:off x="8274100" y="2715704"/>
            <a:ext cx="1382725" cy="266103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보완</a:t>
            </a:r>
          </a:p>
          <a:p>
            <a:pPr algn="ctr" eaLnBrk="0">
              <a:lnSpc>
                <a:spcPct val="110000"/>
              </a:lnSpc>
              <a:spcAft>
                <a:spcPts val="400"/>
              </a:spcAft>
            </a:pPr>
            <a:r>
              <a:rPr sz="1550" b="0">
                <a:solidFill>
                  <a:srgbClr val="1F2A3A"/>
                </a:solidFill>
                <a:latin typeface="맑은 고딕"/>
                <a:ea typeface="맑은 고딕"/>
                <a:cs typeface="맑은 고딕"/>
              </a:rPr>
              <a:t>실제 요청이 있으면</a:t>
            </a:r>
          </a:p>
          <a:p>
            <a:pPr algn="ctr" eaLnBrk="0">
              <a:lnSpc>
                <a:spcPct val="110000"/>
              </a:lnSpc>
              <a:spcAft>
                <a:spcPts val="400"/>
              </a:spcAft>
            </a:pPr>
            <a:r>
              <a:rPr sz="1550" b="0">
                <a:solidFill>
                  <a:srgbClr val="1F2A3A"/>
                </a:solidFill>
                <a:latin typeface="맑은 고딕"/>
                <a:ea typeface="맑은 고딕"/>
                <a:cs typeface="맑은 고딕"/>
              </a:rPr>
              <a:t>같은 건에서 재검토</a:t>
            </a:r>
          </a:p>
        </p:txBody>
      </p:sp>
      <p:sp>
        <p:nvSpPr>
          <p:cNvPr id="20" name="Right Arrow 19"/>
          <p:cNvSpPr/>
          <p:nvPr/>
        </p:nvSpPr>
        <p:spPr>
          <a:xfrm>
            <a:off x="9793986"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10114026" y="2532824"/>
            <a:ext cx="1529029" cy="291706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TextBox 21"/>
          <p:cNvSpPr txBox="1"/>
          <p:nvPr/>
        </p:nvSpPr>
        <p:spPr>
          <a:xfrm>
            <a:off x="10187178" y="2715704"/>
            <a:ext cx="1382725" cy="266103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인수 · 저장</a:t>
            </a:r>
          </a:p>
          <a:p>
            <a:pPr algn="ctr" eaLnBrk="0">
              <a:lnSpc>
                <a:spcPct val="110000"/>
              </a:lnSpc>
              <a:spcAft>
                <a:spcPts val="400"/>
              </a:spcAft>
            </a:pPr>
            <a:r>
              <a:rPr sz="1550" b="0">
                <a:solidFill>
                  <a:srgbClr val="1F2A3A"/>
                </a:solidFill>
                <a:latin typeface="맑은 고딕"/>
                <a:ea typeface="맑은 고딕"/>
                <a:cs typeface="맑은 고딕"/>
              </a:rPr>
              <a:t>정비 · 발주 완료가 아님</a:t>
            </a:r>
          </a:p>
          <a:p>
            <a:pPr algn="ctr" eaLnBrk="0">
              <a:lnSpc>
                <a:spcPct val="110000"/>
              </a:lnSpc>
              <a:spcAft>
                <a:spcPts val="400"/>
              </a:spcAft>
            </a:pPr>
            <a:r>
              <a:rPr sz="1550" b="0">
                <a:solidFill>
                  <a:srgbClr val="1F2A3A"/>
                </a:solidFill>
                <a:latin typeface="맑은 고딕"/>
                <a:ea typeface="맑은 고딕"/>
                <a:cs typeface="맑은 고딕"/>
              </a:rPr>
              <a:t>인계안 · 근거 · 기록 저장</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ProcessGPT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교대 실습의 구조가 제품에서 불리는 이름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교대 실습의 판본 · 처리 건 · 단계 · 차례를 제품의 정의 · 인스턴스 · 워크아이템 · 작업함에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교대 실습에서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ProcessGPT에서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시연에서 확인할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ShiftHandover 판본</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 · 정의 버전</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실행 건을</a:t>
            </a:r>
          </a:p>
          <a:p>
            <a:pPr algn="l" eaLnBrk="0">
              <a:lnSpc>
                <a:spcPct val="110000"/>
              </a:lnSpc>
            </a:pPr>
            <a:r>
              <a:rPr sz="1250" b="1">
                <a:solidFill>
                  <a:srgbClr val="556175"/>
                </a:solidFill>
                <a:latin typeface="맑은 고딕"/>
                <a:ea typeface="맑은 고딕"/>
                <a:cs typeface="맑은 고딕"/>
              </a:rPr>
              <a:t>가르는 자리</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교대 처리 건</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인스턴스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한 건의 진행과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인계안 작성 · 검토 · 확인 단계</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워크아이템</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누구의 차례인가</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인계자 · 인수자의 차례</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사람에게 맡겨진 워크아이템이 모이는 작업함</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사람 작업이</a:t>
            </a:r>
          </a:p>
          <a:p>
            <a:pPr algn="l" eaLnBrk="0">
              <a:lnSpc>
                <a:spcPct val="110000"/>
              </a:lnSpc>
            </a:pPr>
            <a:r>
              <a:rPr sz="1250" b="1">
                <a:solidFill>
                  <a:srgbClr val="1A6FC4"/>
                </a:solidFill>
                <a:latin typeface="맑은 고딕"/>
                <a:ea typeface="맑은 고딕"/>
                <a:cs typeface="맑은 고딕"/>
              </a:rPr>
              <a:t>놓이는 곳</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인계 에이전트와 조회 도구</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사용자 목록의 에이전트 · 조직 단위 MCP 서버</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 활동</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보충 매뉴얼의 지식</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문서 검색 등 지식 구성</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 조회</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통제와 실행 기록을 볼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제품에 소개된 기능과 우리 환경에서 검증한 것을 가르고, 통제와 실행 기록이 놓인 자리를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통제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교대 실습에서 본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제품에서 확인할 것</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사람의 확인</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인계자 검토 · 인수자 확인 단계</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사람 작업이 흐름의</a:t>
            </a:r>
          </a:p>
          <a:p>
            <a:pPr algn="l" eaLnBrk="0">
              <a:lnSpc>
                <a:spcPct val="110000"/>
              </a:lnSpc>
            </a:pPr>
            <a:r>
              <a:rPr sz="1250" b="1">
                <a:solidFill>
                  <a:srgbClr val="1A6FC4"/>
                </a:solidFill>
                <a:latin typeface="맑은 고딕"/>
                <a:ea typeface="맑은 고딕"/>
                <a:cs typeface="맑은 고딕"/>
              </a:rPr>
              <a:t>어디에 놓이나</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역할별 선택지 · 수업에서는 역할을 화면에서 고른다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접속한 신원과</a:t>
            </a:r>
          </a:p>
          <a:p>
            <a:pPr algn="l" eaLnBrk="0">
              <a:lnSpc>
                <a:spcPct val="110000"/>
              </a:lnSpc>
            </a:pPr>
            <a:r>
              <a:rPr sz="1250" b="1">
                <a:solidFill>
                  <a:srgbClr val="556175"/>
                </a:solidFill>
                <a:latin typeface="맑은 고딕"/>
                <a:ea typeface="맑은 고딕"/>
                <a:cs typeface="맑은 고딕"/>
              </a:rPr>
              <a:t>권한의 연결</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기록</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 이벤트 · 근거 번호 · 보완 사유</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누가 무엇을 결정했는지</a:t>
            </a:r>
          </a:p>
          <a:p>
            <a:pPr algn="l" eaLnBrk="0">
              <a:lnSpc>
                <a:spcPct val="110000"/>
              </a:lnSpc>
            </a:pPr>
            <a:r>
              <a:rPr sz="1250" b="1">
                <a:solidFill>
                  <a:srgbClr val="556175"/>
                </a:solidFill>
                <a:latin typeface="맑은 고딕"/>
                <a:ea typeface="맑은 고딕"/>
                <a:cs typeface="맑은 고딕"/>
              </a:rPr>
              <a:t>남는 곳</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격리</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인계 에이전트는 조회 도구만 쓴다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에이전트가 닿는 범위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변경 통제</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구조 검사를 통과한 판본만 등록</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 버전과</a:t>
            </a:r>
          </a:p>
          <a:p>
            <a:pPr algn="l" eaLnBrk="0">
              <a:lnSpc>
                <a:spcPct val="110000"/>
              </a:lnSpc>
            </a:pPr>
            <a:r>
              <a:rPr sz="1250" b="1">
                <a:solidFill>
                  <a:srgbClr val="556175"/>
                </a:solidFill>
                <a:latin typeface="맑은 고딕"/>
                <a:ea typeface="맑은 고딕"/>
                <a:cs typeface="맑은 고딕"/>
              </a:rPr>
              <a:t>진행 중인 건</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구현 경계</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HYD는 제품 구조를 참고해 직접 구현</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소개된 기능과</a:t>
            </a:r>
          </a:p>
          <a:p>
            <a:pPr algn="l" eaLnBrk="0">
              <a:lnSpc>
                <a:spcPct val="110000"/>
              </a:lnSpc>
            </a:pPr>
            <a:r>
              <a:rPr sz="1250" b="1">
                <a:solidFill>
                  <a:srgbClr val="556175"/>
                </a:solidFill>
                <a:latin typeface="맑은 고딕"/>
                <a:ea typeface="맑은 고딕"/>
                <a:cs typeface="맑은 고딕"/>
              </a:rPr>
              <a:t>검증한 기능의 구별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시연에서 확인할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시연에서는 지식 조회 · 에이전트 판단 · 사람 작업 · 프로세스 실행이 한 건 안에서 이어지는 모습을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지식 · 에이전트</a:t>
            </a:r>
          </a:p>
          <a:p>
            <a:pPr algn="l" eaLnBrk="0" marL="160020" indent="-160020">
              <a:lnSpc>
                <a:spcPct val="110000"/>
              </a:lnSpc>
              <a:spcAft>
                <a:spcPts val="400"/>
              </a:spcAft>
            </a:pPr>
            <a:r>
              <a:rPr sz="1400" b="0">
                <a:solidFill>
                  <a:srgbClr val="1F2A3A"/>
                </a:solidFill>
                <a:latin typeface="맑은 고딕"/>
                <a:ea typeface="맑은 고딕"/>
                <a:cs typeface="맑은 고딕"/>
              </a:rPr>
              <a:t>• 지식 조회와 에이전트 판단이</a:t>
            </a:r>
          </a:p>
          <a:p>
            <a:pPr algn="l" eaLnBrk="0" marL="160020" indent="-160020">
              <a:lnSpc>
                <a:spcPct val="110000"/>
              </a:lnSpc>
              <a:spcAft>
                <a:spcPts val="400"/>
              </a:spcAft>
            </a:pPr>
            <a:r>
              <a:rPr sz="1400" b="0">
                <a:solidFill>
                  <a:srgbClr val="1F2A3A"/>
                </a:solidFill>
                <a:latin typeface="맑은 고딕"/>
                <a:ea typeface="맑은 고딕"/>
                <a:cs typeface="맑은 고딕"/>
              </a:rPr>
              <a:t>• 어느 작업에서 일어나는가</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사람 · 프로세스</a:t>
            </a:r>
          </a:p>
          <a:p>
            <a:pPr algn="l" eaLnBrk="0" marL="160020" indent="-160020">
              <a:lnSpc>
                <a:spcPct val="110000"/>
              </a:lnSpc>
              <a:spcAft>
                <a:spcPts val="400"/>
              </a:spcAft>
            </a:pPr>
            <a:r>
              <a:rPr sz="1400" b="0">
                <a:solidFill>
                  <a:srgbClr val="1F2A3A"/>
                </a:solidFill>
                <a:latin typeface="맑은 고딕"/>
                <a:ea typeface="맑은 고딕"/>
                <a:cs typeface="맑은 고딕"/>
              </a:rPr>
              <a:t>• 사람 작업이 놓인 자리와</a:t>
            </a:r>
          </a:p>
          <a:p>
            <a:pPr algn="l" eaLnBrk="0" marL="160020" indent="-160020">
              <a:lnSpc>
                <a:spcPct val="110000"/>
              </a:lnSpc>
              <a:spcAft>
                <a:spcPts val="400"/>
              </a:spcAft>
            </a:pPr>
            <a:r>
              <a:rPr sz="1400" b="0">
                <a:solidFill>
                  <a:srgbClr val="1F2A3A"/>
                </a:solidFill>
                <a:latin typeface="맑은 고딕"/>
                <a:ea typeface="맑은 고딕"/>
                <a:cs typeface="맑은 고딕"/>
              </a:rPr>
              <a:t>• 다음 차례를 여는 쪽</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차례</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sitemap" descr="sitemap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정의 · 인스턴스 · 작업함</a:t>
            </a:r>
          </a:p>
          <a:p>
            <a:pPr algn="l" eaLnBrk="0">
              <a:lnSpc>
                <a:spcPct val="110000"/>
              </a:lnSpc>
              <a:spcAft>
                <a:spcPts val="400"/>
              </a:spcAft>
            </a:pPr>
            <a:r>
              <a:rPr sz="1400" b="0">
                <a:solidFill>
                  <a:srgbClr val="1F2A3A"/>
                </a:solidFill>
                <a:latin typeface="맑은 고딕"/>
                <a:ea typeface="맑은 고딕"/>
                <a:cs typeface="맑은 고딕"/>
              </a:rPr>
              <a:t>교대 실습의 판본 · 처리 건과 견준다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대응</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통제 · 기록</a:t>
            </a:r>
          </a:p>
          <a:p>
            <a:pPr algn="l" eaLnBrk="0" marL="160020" indent="-160020">
              <a:lnSpc>
                <a:spcPct val="110000"/>
              </a:lnSpc>
              <a:spcAft>
                <a:spcPts val="400"/>
              </a:spcAft>
            </a:pPr>
            <a:r>
              <a:rPr sz="1400" b="0">
                <a:solidFill>
                  <a:srgbClr val="1F2A3A"/>
                </a:solidFill>
                <a:latin typeface="맑은 고딕"/>
                <a:ea typeface="맑은 고딕"/>
                <a:cs typeface="맑은 고딕"/>
              </a:rPr>
              <a:t>• 업무 통제와 실행 기록</a:t>
            </a:r>
          </a:p>
          <a:p>
            <a:pPr algn="l" eaLnBrk="0" marL="160020" indent="-160020">
              <a:lnSpc>
                <a:spcPct val="110000"/>
              </a:lnSpc>
              <a:spcAft>
                <a:spcPts val="400"/>
              </a:spcAft>
            </a:pPr>
            <a:r>
              <a:rPr sz="1400" b="0">
                <a:solidFill>
                  <a:srgbClr val="1F2A3A"/>
                </a:solidFill>
                <a:latin typeface="맑은 고딕"/>
                <a:ea typeface="맑은 고딕"/>
                <a:cs typeface="맑은 고딕"/>
              </a:rPr>
              <a:t>• 확인 못 한 것은 미확인</a:t>
            </a:r>
          </a:p>
        </p:txBody>
      </p:sp>
      <p:sp>
        <p:nvSpPr>
          <p:cNvPr id="28" name="Rounded Rectangle 27"/>
          <p:cNvSpPr/>
          <p:nvPr/>
        </p:nvSpPr>
        <p:spPr>
          <a:xfrm>
            <a:off x="9303791" y="510413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경계</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제작 결과를 Notion 학습노트에 기록하기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학습노트에 잇는 결과와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핵심 개념과 실습 결과, 근거 자료를 서로 이어 적어야 과정이 끝난 뒤에도 다시 찾아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84386"/>
            <a:ext cx="2567863" cy="281393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85554"/>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939173"/>
            <a:ext cx="424281" cy="424281"/>
          </a:xfrm>
          <a:prstGeom prst="rect">
            <a:avLst/>
          </a:prstGeom>
        </p:spPr>
      </p:pic>
      <p:sp>
        <p:nvSpPr>
          <p:cNvPr id="9" name="TextBox 8"/>
          <p:cNvSpPr txBox="1"/>
          <p:nvPr/>
        </p:nvSpPr>
        <p:spPr>
          <a:xfrm>
            <a:off x="713232" y="3608514"/>
            <a:ext cx="2238679" cy="128689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개념</a:t>
            </a:r>
          </a:p>
          <a:p>
            <a:pPr algn="l" eaLnBrk="0" marL="200025" indent="-200025">
              <a:lnSpc>
                <a:spcPct val="110000"/>
              </a:lnSpc>
              <a:spcAft>
                <a:spcPts val="400"/>
              </a:spcAft>
            </a:pPr>
            <a:r>
              <a:rPr sz="1750" b="0">
                <a:solidFill>
                  <a:srgbClr val="1F2A3A"/>
                </a:solidFill>
                <a:latin typeface="맑은 고딕"/>
                <a:ea typeface="맑은 고딕"/>
                <a:cs typeface="맑은 고딕"/>
              </a:rPr>
              <a:t>• 핵심 개념을</a:t>
            </a:r>
          </a:p>
          <a:p>
            <a:pPr algn="l" eaLnBrk="0" marL="200025" indent="-200025">
              <a:lnSpc>
                <a:spcPct val="110000"/>
              </a:lnSpc>
              <a:spcAft>
                <a:spcPts val="400"/>
              </a:spcAft>
            </a:pPr>
            <a:r>
              <a:rPr sz="1750" b="0">
                <a:solidFill>
                  <a:srgbClr val="1F2A3A"/>
                </a:solidFill>
                <a:latin typeface="맑은 고딕"/>
                <a:ea typeface="맑은 고딕"/>
                <a:cs typeface="맑은 고딕"/>
              </a:rPr>
              <a:t>• 자기 문장으로</a:t>
            </a:r>
          </a:p>
        </p:txBody>
      </p:sp>
      <p:sp>
        <p:nvSpPr>
          <p:cNvPr id="10" name="Rounded Rectangle 9"/>
          <p:cNvSpPr/>
          <p:nvPr/>
        </p:nvSpPr>
        <p:spPr>
          <a:xfrm>
            <a:off x="777240" y="496855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6855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84386"/>
            <a:ext cx="2567863" cy="281393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85554"/>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939173"/>
            <a:ext cx="424281" cy="424281"/>
          </a:xfrm>
          <a:prstGeom prst="rect">
            <a:avLst/>
          </a:prstGeom>
        </p:spPr>
      </p:pic>
      <p:sp>
        <p:nvSpPr>
          <p:cNvPr id="15" name="TextBox 14"/>
          <p:cNvSpPr txBox="1"/>
          <p:nvPr/>
        </p:nvSpPr>
        <p:spPr>
          <a:xfrm>
            <a:off x="3555415" y="3608514"/>
            <a:ext cx="2238679" cy="128689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결과 · 근거</a:t>
            </a:r>
          </a:p>
          <a:p>
            <a:pPr algn="l" eaLnBrk="0" marL="200025" indent="-200025">
              <a:lnSpc>
                <a:spcPct val="110000"/>
              </a:lnSpc>
              <a:spcAft>
                <a:spcPts val="400"/>
              </a:spcAft>
            </a:pPr>
            <a:r>
              <a:rPr sz="1750" b="0">
                <a:solidFill>
                  <a:srgbClr val="1F2A3A"/>
                </a:solidFill>
                <a:latin typeface="맑은 고딕"/>
                <a:ea typeface="맑은 고딕"/>
                <a:cs typeface="맑은 고딕"/>
              </a:rPr>
              <a:t>• 인계안 · 처리 건</a:t>
            </a:r>
          </a:p>
          <a:p>
            <a:pPr algn="l" eaLnBrk="0" marL="200025" indent="-200025">
              <a:lnSpc>
                <a:spcPct val="110000"/>
              </a:lnSpc>
              <a:spcAft>
                <a:spcPts val="400"/>
              </a:spcAft>
            </a:pPr>
            <a:r>
              <a:rPr sz="1750" b="0">
                <a:solidFill>
                  <a:srgbClr val="1F2A3A"/>
                </a:solidFill>
                <a:latin typeface="맑은 고딕"/>
                <a:ea typeface="맑은 고딕"/>
                <a:cs typeface="맑은 고딕"/>
              </a:rPr>
              <a:t>• 조회 근거 · 원문</a:t>
            </a:r>
          </a:p>
        </p:txBody>
      </p:sp>
      <p:sp>
        <p:nvSpPr>
          <p:cNvPr id="16" name="Rounded Rectangle 15"/>
          <p:cNvSpPr/>
          <p:nvPr/>
        </p:nvSpPr>
        <p:spPr>
          <a:xfrm>
            <a:off x="3619423" y="496855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6855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584386"/>
            <a:ext cx="2567863" cy="281393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85554"/>
            <a:ext cx="731520" cy="731520"/>
          </a:xfrm>
          <a:prstGeom prst="ellipse">
            <a:avLst/>
          </a:prstGeom>
          <a:solidFill>
            <a:srgbClr val="E7F3FD"/>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6615226" y="2939173"/>
            <a:ext cx="424281" cy="424281"/>
          </a:xfrm>
          <a:prstGeom prst="rect">
            <a:avLst/>
          </a:prstGeom>
        </p:spPr>
      </p:pic>
      <p:sp>
        <p:nvSpPr>
          <p:cNvPr id="21" name="TextBox 20"/>
          <p:cNvSpPr txBox="1"/>
          <p:nvPr/>
        </p:nvSpPr>
        <p:spPr>
          <a:xfrm>
            <a:off x="6397599" y="3608514"/>
            <a:ext cx="2238679" cy="128689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다시 쓸 연결</a:t>
            </a:r>
          </a:p>
          <a:p>
            <a:pPr algn="l" eaLnBrk="0" marL="200025" indent="-200025">
              <a:lnSpc>
                <a:spcPct val="110000"/>
              </a:lnSpc>
              <a:spcAft>
                <a:spcPts val="400"/>
              </a:spcAft>
            </a:pPr>
            <a:r>
              <a:rPr sz="1750" b="0">
                <a:solidFill>
                  <a:srgbClr val="1F2A3A"/>
                </a:solidFill>
                <a:latin typeface="맑은 고딕"/>
                <a:ea typeface="맑은 고딕"/>
                <a:cs typeface="맑은 고딕"/>
              </a:rPr>
              <a:t>• 확인에 쓴 자료와</a:t>
            </a:r>
          </a:p>
          <a:p>
            <a:pPr algn="l" eaLnBrk="0" marL="200025" indent="-200025">
              <a:lnSpc>
                <a:spcPct val="110000"/>
              </a:lnSpc>
              <a:spcAft>
                <a:spcPts val="400"/>
              </a:spcAft>
            </a:pPr>
            <a:r>
              <a:rPr sz="1750" b="0">
                <a:solidFill>
                  <a:srgbClr val="1F2A3A"/>
                </a:solidFill>
                <a:latin typeface="맑은 고딕"/>
                <a:ea typeface="맑은 고딕"/>
                <a:cs typeface="맑은 고딕"/>
              </a:rPr>
              <a:t>• 산출물을 잇는다</a:t>
            </a:r>
          </a:p>
        </p:txBody>
      </p:sp>
      <p:sp>
        <p:nvSpPr>
          <p:cNvPr id="22" name="Rounded Rectangle 21"/>
          <p:cNvSpPr/>
          <p:nvPr/>
        </p:nvSpPr>
        <p:spPr>
          <a:xfrm>
            <a:off x="6461607" y="496855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6855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재사용</a:t>
            </a:r>
          </a:p>
        </p:txBody>
      </p:sp>
      <p:sp>
        <p:nvSpPr>
          <p:cNvPr id="24" name="Rounded Rectangle 23"/>
          <p:cNvSpPr/>
          <p:nvPr/>
        </p:nvSpPr>
        <p:spPr>
          <a:xfrm>
            <a:off x="9075191" y="2584386"/>
            <a:ext cx="2567863" cy="281393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85554"/>
            <a:ext cx="731520" cy="731520"/>
          </a:xfrm>
          <a:prstGeom prst="ellipse">
            <a:avLst/>
          </a:prstGeom>
          <a:solidFill>
            <a:srgbClr val="5CB8F2"/>
          </a:solidFill>
          <a:ln>
            <a:noFill/>
          </a:ln>
        </p:spPr>
        <p:txBody>
          <a:bodyPr rtlCol="0" anchor="ctr"/>
          <a:lstStyle/>
          <a:p>
            <a:pPr algn="ctr"/>
          </a:p>
        </p:txBody>
      </p:sp>
      <p:pic>
        <p:nvPicPr>
          <p:cNvPr id="26" name="아이콘:notebook" descr="notebook_13294B_1.6.png"/>
          <p:cNvPicPr>
            <a:picLocks noChangeAspect="1"/>
          </p:cNvPicPr>
          <p:nvPr/>
        </p:nvPicPr>
        <p:blipFill>
          <a:blip r:embed="rId6"/>
          <a:stretch>
            <a:fillRect/>
          </a:stretch>
        </p:blipFill>
        <p:spPr>
          <a:xfrm>
            <a:off x="9457410" y="2939173"/>
            <a:ext cx="424281" cy="424281"/>
          </a:xfrm>
          <a:prstGeom prst="rect">
            <a:avLst/>
          </a:prstGeom>
        </p:spPr>
      </p:pic>
      <p:sp>
        <p:nvSpPr>
          <p:cNvPr id="27" name="TextBox 26"/>
          <p:cNvSpPr txBox="1"/>
          <p:nvPr/>
        </p:nvSpPr>
        <p:spPr>
          <a:xfrm>
            <a:off x="9239783" y="3608514"/>
            <a:ext cx="2238679" cy="128689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기록 방법</a:t>
            </a:r>
          </a:p>
          <a:p>
            <a:pPr algn="l" eaLnBrk="0" marL="200025" indent="-200025">
              <a:lnSpc>
                <a:spcPct val="110000"/>
              </a:lnSpc>
              <a:spcAft>
                <a:spcPts val="400"/>
              </a:spcAft>
            </a:pPr>
            <a:r>
              <a:rPr sz="1750" b="0">
                <a:solidFill>
                  <a:srgbClr val="1F2A3A"/>
                </a:solidFill>
                <a:latin typeface="맑은 고딕"/>
                <a:ea typeface="맑은 고딕"/>
                <a:cs typeface="맑은 고딕"/>
              </a:rPr>
              <a:t>• MCP 반영</a:t>
            </a:r>
          </a:p>
          <a:p>
            <a:pPr algn="l" eaLnBrk="0" marL="200025" indent="-200025">
              <a:lnSpc>
                <a:spcPct val="110000"/>
              </a:lnSpc>
              <a:spcAft>
                <a:spcPts val="400"/>
              </a:spcAft>
            </a:pPr>
            <a:r>
              <a:rPr sz="1750" b="0">
                <a:solidFill>
                  <a:srgbClr val="1F2A3A"/>
                </a:solidFill>
                <a:latin typeface="맑은 고딕"/>
                <a:ea typeface="맑은 고딕"/>
                <a:cs typeface="맑은 고딕"/>
              </a:rPr>
              <a:t>• 또는 Markdown</a:t>
            </a:r>
          </a:p>
        </p:txBody>
      </p:sp>
      <p:sp>
        <p:nvSpPr>
          <p:cNvPr id="28" name="Rounded Rectangle 27"/>
          <p:cNvSpPr/>
          <p:nvPr/>
        </p:nvSpPr>
        <p:spPr>
          <a:xfrm>
            <a:off x="9303791" y="496855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6855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교대 한 건의 순간을 맡은 영역으로 가르기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교대 한 건의 순간마다 맡은 영역과 근거를 가리면, 세 영역의 경계가 교대에서도 그대로 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교대 한 건의 순간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영역</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HI-01 절차를 원문과 대조해 추가했다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 검토해</a:t>
            </a:r>
          </a:p>
          <a:p>
            <a:pPr algn="l" eaLnBrk="0">
              <a:lnSpc>
                <a:spcPct val="110000"/>
              </a:lnSpc>
            </a:pPr>
            <a:r>
              <a:rPr sz="1250" b="1">
                <a:solidFill>
                  <a:srgbClr val="556175"/>
                </a:solidFill>
                <a:latin typeface="맑은 고딕"/>
                <a:ea typeface="맑은 고딕"/>
                <a:cs typeface="맑은 고딕"/>
              </a:rPr>
              <a:t>적재한 절차와 출처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작업지시의 상태를 읽어 메모와 대조했다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도구로 읽은 원천 값을</a:t>
            </a:r>
          </a:p>
          <a:p>
            <a:pPr algn="l" eaLnBrk="0">
              <a:lnSpc>
                <a:spcPct val="110000"/>
              </a:lnSpc>
            </a:pPr>
            <a:r>
              <a:rPr sz="1250" b="1">
                <a:solidFill>
                  <a:srgbClr val="556175"/>
                </a:solidFill>
                <a:latin typeface="맑은 고딕"/>
                <a:ea typeface="맑은 고딕"/>
                <a:cs typeface="맑은 고딕"/>
              </a:rPr>
              <a:t>기준에 댄 판단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인계자가 승인하자 인수자 확인이 열렸다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단계 사이의 순서는</a:t>
            </a:r>
          </a:p>
          <a:p>
            <a:pPr algn="l" eaLnBrk="0">
              <a:lnSpc>
                <a:spcPct val="110000"/>
              </a:lnSpc>
            </a:pPr>
            <a:r>
              <a:rPr sz="1250" b="1">
                <a:solidFill>
                  <a:srgbClr val="556175"/>
                </a:solidFill>
                <a:latin typeface="맑은 고딕"/>
                <a:ea typeface="맑은 고딕"/>
                <a:cs typeface="맑은 고딕"/>
              </a:rPr>
              <a:t>엔진이 지킨다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보완 초안이 지금 상태를 다시 조회했다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업무 규칙과</a:t>
            </a:r>
          </a:p>
          <a:p>
            <a:pPr algn="l" eaLnBrk="0">
              <a:lnSpc>
                <a:spcPct val="110000"/>
              </a:lnSpc>
            </a:pPr>
            <a:r>
              <a:rPr sz="1250" b="1">
                <a:solidFill>
                  <a:srgbClr val="556175"/>
                </a:solidFill>
                <a:latin typeface="맑은 고딕"/>
                <a:ea typeface="맑은 고딕"/>
                <a:cs typeface="맑은 고딕"/>
              </a:rPr>
              <a:t>스킬의 지침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인수 확인 뒤에도 작업지시는 열린 채다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확인은 전달 기록</a:t>
            </a:r>
          </a:p>
          <a:p>
            <a:pPr algn="l" eaLnBrk="0">
              <a:lnSpc>
                <a:spcPct val="110000"/>
              </a:lnSpc>
            </a:pPr>
            <a:r>
              <a:rPr sz="1250" b="1">
                <a:solidFill>
                  <a:srgbClr val="1A6FC4"/>
                </a:solidFill>
                <a:latin typeface="맑은 고딕"/>
                <a:ea typeface="맑은 고딕"/>
                <a:cs typeface="맑은 고딕"/>
              </a:rPr>
              <a:t>업무 시스템 쓰기 없음</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처리 건과 교대 처리 건에서 쓴 여덟 용어를 정식 명칭과 한 줄 뜻으로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스킬</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a:t>
            </a:r>
          </a:p>
          <a:p>
            <a:pPr algn="l" eaLnBrk="0">
              <a:lnSpc>
                <a:spcPct val="110000"/>
              </a:lnSpc>
            </a:pPr>
            <a:r>
              <a:rPr sz="1400" b="0">
                <a:solidFill>
                  <a:srgbClr val="1F2A3A"/>
                </a:solidFill>
                <a:latin typeface="맑은 고딕"/>
                <a:ea typeface="맑은 고딕"/>
                <a:cs typeface="맑은 고딕"/>
              </a:rPr>
              <a:t>한 업무를 어떤 차례와 기준으로 할지 적어 여러 번 쓰는 지침</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MCP</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Model Context Protocol</a:t>
            </a:r>
          </a:p>
          <a:p>
            <a:pPr algn="l" eaLnBrk="0">
              <a:lnSpc>
                <a:spcPct val="110000"/>
              </a:lnSpc>
            </a:pPr>
            <a:r>
              <a:rPr sz="1400" b="0">
                <a:solidFill>
                  <a:srgbClr val="1F2A3A"/>
                </a:solidFill>
                <a:latin typeface="맑은 고딕"/>
                <a:ea typeface="맑은 고딕"/>
                <a:cs typeface="맑은 고딕"/>
              </a:rPr>
              <a:t>외부 시스템의 도구를 에이전트가 같은 약속으로 부르는 연결 규약</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출력 계약</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Output Contract</a:t>
            </a:r>
          </a:p>
          <a:p>
            <a:pPr algn="l" eaLnBrk="0">
              <a:lnSpc>
                <a:spcPct val="110000"/>
              </a:lnSpc>
            </a:pPr>
            <a:r>
              <a:rPr sz="1400" b="0">
                <a:solidFill>
                  <a:srgbClr val="1F2A3A"/>
                </a:solidFill>
                <a:latin typeface="맑은 고딕"/>
                <a:ea typeface="맑은 고딕"/>
                <a:cs typeface="맑은 고딕"/>
              </a:rPr>
              <a:t>다음 단계가 읽을 결과의 칸 · 형식 · 뜻과 받아들이는 조건</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흐름 안에 사람이 결정하고 확인하는 자리를 두는 방식</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BDD 시나리오</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Behavior-Driven Development Scenario</a:t>
            </a:r>
          </a:p>
          <a:p>
            <a:pPr algn="l" eaLnBrk="0">
              <a:lnSpc>
                <a:spcPct val="110000"/>
              </a:lnSpc>
            </a:pPr>
            <a:r>
              <a:rPr sz="1400" b="0">
                <a:solidFill>
                  <a:srgbClr val="1F2A3A"/>
                </a:solidFill>
                <a:latin typeface="맑은 고딕"/>
                <a:ea typeface="맑은 고딕"/>
                <a:cs typeface="맑은 고딕"/>
              </a:rPr>
              <a:t>입력 · 행동 · 기대 결과를 Given · When · Then으로 적은 검증 사례</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인스턴스</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Process Instance</a:t>
            </a:r>
          </a:p>
          <a:p>
            <a:pPr algn="l" eaLnBrk="0">
              <a:lnSpc>
                <a:spcPct val="110000"/>
              </a:lnSpc>
            </a:pPr>
            <a:r>
              <a:rPr sz="1400" b="0">
                <a:solidFill>
                  <a:srgbClr val="1F2A3A"/>
                </a:solidFill>
                <a:latin typeface="맑은 고딕"/>
                <a:ea typeface="맑은 고딕"/>
                <a:cs typeface="맑은 고딕"/>
              </a:rPr>
              <a:t>한 프로세스 정의로 열려 실제로 진행되는 한 건, 곧 처리 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워크아이템</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Work Item</a:t>
            </a:r>
          </a:p>
          <a:p>
            <a:pPr algn="l" eaLnBrk="0">
              <a:lnSpc>
                <a:spcPct val="110000"/>
              </a:lnSpc>
            </a:pPr>
            <a:r>
              <a:rPr sz="1400" b="0">
                <a:solidFill>
                  <a:srgbClr val="1F2A3A"/>
                </a:solidFill>
                <a:latin typeface="맑은 고딕"/>
                <a:ea typeface="맑은 고딕"/>
                <a:cs typeface="맑은 고딕"/>
              </a:rPr>
              <a:t>처리 건 안에서 에이전트나 사람에게 맡겨진 작업 하나, 곧 단계</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교대 인수인계</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Shift Handover</a:t>
            </a:r>
          </a:p>
          <a:p>
            <a:pPr algn="l" eaLnBrk="0">
              <a:lnSpc>
                <a:spcPct val="110000"/>
              </a:lnSpc>
            </a:pPr>
            <a:r>
              <a:rPr sz="1400" b="0">
                <a:solidFill>
                  <a:srgbClr val="1F2A3A"/>
                </a:solidFill>
                <a:latin typeface="맑은 고딕"/>
                <a:ea typeface="맑은 고딕"/>
                <a:cs typeface="맑은 고딕"/>
              </a:rPr>
              <a:t>다음 근무자에게 설비 상태 · 남은 일 · 근거를 넘기고 확인받는 일</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인수 확인이 끝난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인수자가 근거를 보고 인수 확인을 제출해, 교대 처리 건이 인수 확인 기록 완료로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인계안에 conflict로 적힌 작업지시도 이 확인으로 완료 처리됐다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전달 사항을 확인한 기록이 남았고, 열린 작업지시와 입고 예정은 그대로다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인계 에이전트가 확인 결과에 맞춰 ERP의 재고를 고쳤다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COMPLETED이므로 설비의 이상도 해소됐다는 뜻이다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입고 예정을 확보로 적은 부품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영역에 「쿨러 코어 1개 확보」가 observed로 적혔고, 근거 조회는 현재고 0 · 입고 예정 1이었다.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인수자의 판단으로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입고 예정도 곧 들어올 재고이니 그대로 인수 확인한다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인수자가 ERP에서 입고를 처리해 현재고를 1로 맞춘다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현재고와 입고 예정을 나눠 적고 상태를 고쳐 달라는 사유로 보완을 요청한다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근거 번호가 있어 계약 검사를 통과했으니 확인한다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작업지시를 닫는 도구를 달자는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인계를 빨리 끝내려고, 인계 에이전트에 메모대로 작업지시를 완료로 바꾸는 쓰기 도구를 달자는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수업의 정책에서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인계는 조회와 전달이라 쓰기 도구를 두지 않고, 열린 작업지시는 확인할 일로 넘긴다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스킬에 「인수자가 확인한 뒤에만 닫는다」고 적으면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기록에 감사가 남으니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메모를 쓴 사람이 숙련자라면 메모를 근거로 닫아도 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인수 확인의 뜻, 현재고와 입고 예정의 구분, 인계와 쓰기의 책임 경계를 가리는지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인수 확인은 전달받았다는 기록이다. 정비 · 입고 · 설비 상태는 원천의 기록으로 따로 본다.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입고 예정은 현재고가 아니다. 근거 번호가 있어도 내용이 틀리면 사유를 적어 보완을 요청한다.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인계는 조회와 전달이다. 스킬의 문장과 사후 기록은 쓰기의 책임을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