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설비에 관한 지식을 구조로 정리해 그래프에서 찾아 쓰고, 이어서 작업 절차와 판단 조건을 구별해 어떤 조치를 할 수 있는지 근거를 담은 표로 정리합니다. 쿨러에 이상이 생기면 어떤 센서부터 보고, 그 값의 한계는 어디에 있고, 어떤 원인을 의심해야 할까요? 사람은 매뉴얼과 기록을 뒤져 이 연결을 찾지만, 컴퓨터가 같은 길을 따라가려면 설비와 센서, 증상과 원인이 미리 정해진 구조로 이어져 있어야 합니다. 이번 회차는 그 구조를 만들고, 그 구조로 판단하는 데까지 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학습목표는 화면의 카드 네 장으로, 쿨러 성능 저하 경보 하나에 답하는 지식을 세워 가는 순서입니다. 첫 카드는 오일 쿨러와 유온 센서 같은 대상을 종류와 실제 대상으로 가르고, 경보에서 교체품까지 관계의 방향과 연결 수를 정해 잇는 일입니다. 두 번째는 그 구분을 스키마로 적어, 이름이 다른 같은 부품을 식별자 하나로 묶고 잘못 들어온 값을 제약으로 잡는 일이고요. 세 번째는 그래프 DB에서 Cypher 쿼리로 설비의 센서와 부품을 찾고 대상과 관계를 넣는 일, 네 번째는 설계한 그래프를 넣어 검증하고 작업 절차와 판단 조건을 나눠 조치를 허용할지 제외할지 표로 만드는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보면 앞의 세 단원이 클래스와 관계, 스키마, 그래프 저장과 조회입니다. 실습에서는 이미 있는 그래프를 조회하고 포털의 지식 지도로 기준 지식을 탐색한 뒤, 설비 자료로 지식 구조를 직접 설계해 그래프에 넣고 검증합니다. 이어서 작업 절차와 결정표를 보고 조치를 허용할지 제외할지 조건표를 만드는 실습을 하고, 마지막에 용어와 퀴즈로 정리합니다. 이번 시간에는 대상을 나누고 잇는 법을 배우고, 그 구분으로 경보와 구매 판단 문제를 직접 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유온 센서 하나에 관한 지식을 어떻게 적느냐에서 출발합니다. 쿨러에 이상이 생겨 유온 센서를 찾았는데 이름만 적혀 있다면, 이 센서가 무슨 값을 내는지, 어느 장치의 상태를 보는지 알 수 없겠죠. 그래서 이 단원에서는 센서가 어떤 종류의 대상인지 정하고, 이름과 단위 같은 값을 채우고, 재는 물리량과 주변 장치를 관계로 잇습니다. 여기서 세우는 클래스와 인스턴스, 속성과 관계라는 말은 이번 회차 끝까지, 스키마를 적을 때도 쿼리로 찾을 때도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오른쪽 칸에 이름이 다른 유압 설비 세 대가 있습니다. 경보가 났을 때 어느 설비에서 난 건지 알려면 세 대는 서로 구별돼야 하죠. 그런데 셋 모두 설비라는 공통점도 있어요. 이 공통점과 하나하나의 대상을 나눠 부르는 말이 클래스와 인스턴스입니다. 왼쪽 칸의 클래스는 공통 특성을 가진 대상의 유형입니다. 설비라면 어떤 정보를 적고 어떤 대상과 연결할지를 클래스가 공통으로 정해 둡니다. 오른쪽 칸의 인스턴스는 그 유형에 속하는 개별 대상 하나하나예요. 같은 정의를 쓰면서 이름과 내용은 각자 따로 갖습니다. 센서도 마찬가지로, 유온 센서와 냉각 효율 채널은 둘 다 센서 클래스에 속하지만 서로 다른 인스턴스입니다. 「유온 센서는 센서의 하나이다」로 읽으면 됩니다. 이 구분은 센서를 등록하고 찾을 때 바로 쓰입니다. 새 센서를 달면 센서라는 유형을 또 만들지 않고 같은 정의에 내용만 채우고요. 찾을 때도 센서를 전부 보여 달라는 건 클래스로 묻는 것이고, 유온 센서의 단위를 묻는 건 인스턴스 하나를 묻는 겁니다. 반대로 같은 센서를 이름만 바꿔 두 번 등록하면 인스턴스가 둘이 돼서, 센서 목록에 유온 센서가 두 번 나오게 됩니다. 인스턴스는 적은 줄 수가 아니라 실제 대상 수만큼 둡니다.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센서에 정보를 채워 보죠. 이름, 계측 데이터를 찾을 때 쓰는 태그, 단위처럼 값을 담는 항목 하나하나가 속성이고, 그 항목에 실제로 채운 내용이 속성값입니다. 표의 왼쪽 열이 센서 클래스가 정한 공통 항목, 가운데가 유온 센서와 냉각 효율 채널의 값입니다. 오른쪽 열이 현장에서 각 항목을 쓰는 때입니다. 식별자는 대상을 하나로 가리키는 값이라, 같은 센서는 이름을 어떻게 적든 식별자가 하나입니다. 이름은 사람이 읽는 말이고, 프로그램이 대상을 찾을 때는 식별자로 찾아요. 계측 데이터는 태그로 찾습니다. 어느 센서를 고르든 같은 태그 항목을 읽으면 되죠. 단위는 단위 칸에만 적습니다. 숫자 칸에 단위를 붙여 적으면 그 값은 숫자가 아니라 글자가 돼서 측정값과 비교할 수 없거든요. 마지막 줄은 값을 직접 재는지, 냉각 효율처럼 다른 계측값으로 계산하는지를 참과 거짓으로 적은 겁니다. 참이면 달린 계기가 없다는 뜻이라, 값이 이상하게 나올 때 센서를 바꿀 게 아니라 계산에 쓰인 값부터 봐야 합니다. 같은 항목을 같은 형식으로 채워 둬야 이런 판단을 프로그램도 사람도 같은 자리에서 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칸을 다 채워도 답하지 못하는 물음이 있습니다. 유온이 너무 높아졌는지 판단하려면 기름 온도를 어디까지 허용하는지, 곧 한계가 필요하죠. 이 한계는 앞 회차에서 본 인터록의 기준, 곧 설비를 보호하려고 정해 둔 경계입니다. 화면은 이 한계를 적을 수 있는 자리 두 곳을 나란히 놓았습니다. 왼쪽은 한계를 유온 센서에 적었다고 가정한 경우입니다. 정비하다 센서를 교체하면 새 센서에 한계를 다시 적어야 하고, 같은 기름 온도를 재는 센서를 하나 더 달면 한계가 두 군데에 생깁니다. 그러다 한쪽만 고치면 같은 유온에 한계가 둘이 돼서, 어느 값으로 경보를 판정할지가 갈라지죠. 오른쪽이 지금 그래프가 쓰는 방식입니다. 유온 센서는 값을 내놓는 계측 채널이라 태그와 단위만 갖습니다. 그 센서가 재는 유온은 따로 둔 대상이고, 이렇게 설비의 상태를 나타내는 물리량을 상태 변수라고 부릅니다. 기름 온도나 팬 속도 같은 것들이죠. 정상값 48도와 한계 65도는 이 유온에 붙어 있습니다. 센서를 바꾸든 더 달든 관리하려는 건 여전히 같은 기름 온도라서, 한계는 유온 한 곳에 그대로 남습니다. 그래서 경보 기준은 센서가 아니라 센서가 재는 상태 변수에서 찾습니다.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센서의 태그를 알고 싶으면 센서의 칸 하나만 읽으면 됩니다. 그런데 유온의 한계를 알고 싶으면 센서에서 유온으로 한 번 건너간 다음 한계 칸을 읽어야 하죠. 값을 읽는 일과 다른 대상으로 건너가는 일이 여기서 갈립니다. 왼쪽이 데이터 속성으로, 인스턴스에 값 하나를 붙이는 쪽입니다. 센서의 태그와 단위, 유온의 한계가 여기 해당하죠. 오른쪽이 객체 간 관계로, 한 인스턴스를 다른 인스턴스에 잇는 쪽입니다. 유온 센서에서 유온으로 「읽는다」를 이으면 센서가 무엇을 읽는지 찾을 수 있죠. 둘을 가르는 기준은 글자냐 숫자냐가 아닙니다. 필요한 정보가 그 대상의 칸 하나에 들어 있는지, 자기 정보를 가진 다른 대상에 있는지를 보면 됩니다. 실제로 현장에서는 같은 기름 온도를 유온, 오일 온도, 작동유 온도로 섞어 부릅니다. 센서마다 재는 것을 글자로만 적어 두면 세 이름이 서로 다른 값이 되고, 한계를 찾는 물음은 그중 한 이름에만 닿죠. 유온을 대상으로 두고 이어 두면 어떤 이름으로 불렀든 같은 기준에 닿죠. 다른 이름을 어떻게 남기는지는 다음 시간 식별자와 별칭에서 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 센서가 무엇을 재는지 정리됐으니, 다음 물음은 이 센서가 어느 장치의 상태를 보느냐입니다. 그 장치가 오일 쿨러고, 화면은 오일 쿨러와 쿨러 코어를 서로 다른 종류로 나눠 놓았습니다. 맨 위 설비는 HYD-01 같은 유압 파워팩 한 대입니다. 가운데 구성 요소는 그 설비를 이루며 하나의 역할을 맡는 장치로, 오일 쿨러가 그 예고요. 맨 아래 부품은 그 장치 안에서 갈아 끼우는 교체품입니다. 일상에서는 장치도 부품이라 부르지만, 이 모델에서는 상태를 살피는 쪽은 구성 요소, 그 안에서 교체하는 쪽은 부품으로 역할에 따라 구별합니다. 이렇게 나누면 일이 서로 다른 대상으로 이어집니다. 쿨러가 제대로 식히는지 볼 때는 구성 요소인 오일 쿨러에서 유온 센서와 냉각 효율 채널을 찾습니다. 쿨러 코어를 주문할 때는 부품으로 가서 부품 번호를 찾고요. 품명은 사람마다 다르게 부를 수 있어도 부품 번호는 하나라서 주문은 번호로 합니다. 같은 오일 쿨러를 쿨러나 열교환기로 불러도 구성 요소는 하나라서, 「쿨러」라는 말만 보고 장치인지 교체품인지 짐작할 일이 없어집니다.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상태를 봤더니 유온은 오르고 냉각 효율은 떨어지고 있습니다. 이걸 기록할 때는 무엇이 보였는지와 왜 그렇게 됐는지를 나눠야 합니다. 표의 맨 위 증상은 관측한 이상 양상으로, 유온 상승과 냉각 효율 저하입니다. 오른쪽 칸처럼 경보가 울린 순간 이미 사실이죠. 둘째 줄 고장 유형은 그 증상을 보고 살펴볼 기능상의 문제로, 어느 구성 요소에서 어떤 고장이 생기는지를 나타냅니다. 여기서는 쿨러 냉각 성능 상실이죠. 셋째 줄 원인은 그 고장이 왜 생겼느냐입니다. 쿨러 핀 오염, 팬 구동 불량, 주변 온도 상승이 후보예요. 유온이 올랐다는 걸 확인했다고 원인이 정해진 건 아닙니다. 오른쪽 칸에 적은 대로, 원인은 증거로 하나를 가린 뒤에야 사실이 됩니다. 맨 아래 증거가 그 가리는 값이에요. 쿨러 핀 오염이라면 냉각 효율 평균이 70퍼센트 아래이고 팬 진동은 정상이어야 하죠. 유온 상승을 본 순간 원인을 핀 오염으로 적어 버리면, 확인하지 않은 후보가 사실처럼 남아 엉뚱한 조치로 이어질 수 있어요. 그리고 이런 증상과 원인도 손에 잡히지는 않지만 각각 클래스의 인스턴스로 구별해 둬야 서로 연결할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나눈 대상들을 화살표로 이어 보겠습니다. 왼쪽 위 HYD-01에서 출발하면, 설비는 오일 쿨러라는 구성 요소를 갖고, 오일 쿨러는 유온 센서로 계측되고, 유온 센서는 유온이라는 상태 변수를 읽습니다. 선 위의 영어 대문자가 그래프에 저장된 관계 이름이라, 쿼리를 적을 때 한 글자도 바꾸지 않고 그대로 씁니다. 선 하나를 이을 때는 이름만 정하는 게 아닙니다. 어느 쪽에서 어느 쪽으로 향하는지, 양 끝에 어떤 클래스가 올 수 있는지까지 함께 정해요. 이렇게 셋을 한꺼번에 정한 것을 관계 유형이라고 합니다. 계측 관계라면 시작은 구성 요소, 끝은 센서로 정해져 있죠. 관계 유형을 정해 두면 「이 연결을 넣어도 되나」를 판단할 수 있습니다. 오른쪽 아래 점선은 오일 쿨러에서 계측 관계로 쿨러 코어를 이었다고 가정한 연결이에요. 쿨러 코어는 센서가 아니라 교체 부품이라 이 관계의 끝에 올 수 없고, 스키마로 검사하면 끝점이 맞지 않는 연결로 걸립니다. 교체품은 부품용 관계로 따로 잇습니다. 왼쪽 아래 예비 펌프는 반대 경우로, 달린 계측 태그가 없어서 계측 관계를 잇지 않습니다. 관계가 없는 것도 정보라서, 억지로 센서를 붙이면 없는 계측값을 찾으러 가는 길이 생깁니다.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관계로 나타낼 지식이 하나 더 있습니다. 앞 회차 쿨러 사건에서 팬을 빠르게 돌려 유온을 낮췄던 걸 떠올려 보세요. 이번엔 팬을 움직이는 일과 그 결과 기름이 식는 일을 나눕니다. 왼쪽이 조작 관계입니다. 팬 인버터는 구동기, 곧 PLC가 값을 써서 움직이는 장치이고, 이 장치가 직접 바꾸는 건 팬 속도죠. 그래서 팬 인버터에서 팬 속도로 「바꾼다」를 둡니다. 오른쪽은 그 뒤에 생기는 물리적 영향이에요. 팬 속도가 오르면 냉각이 늘어 유온이 내려가니까, 팬 속도에서 유온으로 「영향을 준다」를 둡니다. 이 연결에 붙은 마이너스 1은 시작 쪽이 오르면 끝 쪽은 내려간다는 방향이고, 이렇게 연결 자체에 붙이는 값을 관계의 속성이라고 합니다. 그 아래 펌프 부하에서 유온으로는 플러스 1이라, 부하가 오르면 발열이 늘어 유온도 오릅니다. 둘로 나누는 까닭은 조치를 고를 때 물음이 둘이기 때문입니다. 무엇에 값을 써 넣을 수 있나는 조작 관계에서 찾고, 그러면 무엇이 어느 쪽으로 변하나는 영향 관계에서 찾습니다. 유온은 명령으로 직접 정할 수 없고 따라오는 값이니까요. 그래서 유온을 낮추는 길은 팬 속도를 올리는 것과 펌프 부하를 줄이는 것 두 가지가 나오는데, 부하를 줄이면 생산 속도가 함께 떨어지니 대가가 다릅니다. 이 비교가 뒤에서 배울 조치 판단의 출발점이에요. 조심할 것도 둘 있습니다. 부호가 마이너스라고 화살표를 유온에서 팬 속도로 뒤집지 않습니다. 그리고 마이너스 1은 1도 낮추라는 명령도, 내려가는 폭을 계산한 값도 아니고 변하는 방향뿐입니다.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정비 담당자가 되어 오일 쿨러를 살펴본다고 해 보죠. 오일 쿨러를 둘러싼 원마다 담당자가 묻는 말이 하나씩 붙어 있습니다. 이 장치에 어떤 고장이 생길 수 있는지 알고 싶다면 어느 선을 따라가야 할까요? 답은 왼쪽 아래, 냉각 성능 상실에서 오일 쿨러로 들어오는 선입니다. 「고장 유형이 이 구성 요소에서 발생한다」는 뜻이라, 오일 쿨러에서 이 선을 거슬러 가야 고장이 나옵니다. 왼쪽 위 HYD-01에서 오는 선도 들어오는 선이라, 거슬러 가면 이 쿨러가 어느 설비에 달렸는지 알 수 있고요. 오른쪽은 나가는 선들입니다. 위의 두 계측 관계를 따라가면 상태를 볼 유온 센서와 냉각 효율 채널이, 아래 부품 관계를 따라가면 교체품인 쿨러 코어가 나오죠. 들어오는 선을 거슬러 본다고 반대 뜻의 관계를 새로 만드는 건 아닙니다. 이미 저장된 관계를 반대편에서 찾는 것뿐이에요. 그러니 모델을 만들 때는 물음마다 어느 선을 어느 쪽으로 따라갈지 먼저 정해 두면, 무엇을 연결해 둬야 하는지가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 단원에서 배운 말로 경보 하나에 답하는 길을 직접 이어 보겠습니다. 쿨러 성능 저하 경보가 났을 때, 무엇이 보였고, 어느 장치의 어떤 고장이며, 원인을 무엇으로 가리고, 무엇을 교체하느냐를 한 그림에 놓은 겁니다. 위 줄이 경보에서 장치까지예요. 유온 상승이라는 증상은 유온 센서에서 보이고, 냉각 성능 상실이라는 고장 유형을 가리킵니다. 그 고장은 오일 쿨러에서 발생하죠. 아래 줄은 원인 쪽입니다. 쿨러 핀 오염이 냉각 성능 상실을 일으키고, 핀 오염은 냉각 효율이 낮다는 증거로 확인합니다. 오른쪽 아래로 오일 쿨러는 쿨러 코어라는 부품을 씁니다. 앞 회차 쿨러 사건에서 에이전트가 경보에서 원인 후보를 찾고, 후보마다 증거가 되는 값을 확인해 가린 길이 바로 이 선들이에요. 그리고 선 하나가 빠지면 무엇이 막히는지도 보입니다. 핀 오염에서 증거로 가는 선이 없으면, 원인 후보는 찾아도 그 후보를 가릴 방법이 없죠. 모델의 빈 곳은 이렇게 경보 하나를 끝까지 따라가 보면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단원에서는 관계를 한 걸음 더 정밀하게 정합니다. 연결 수를 정하는 카디널리티, 그리고 부품과 공급사처럼 짝마다 달라지는 값을 어디에 둘지입니다. 그다음 이 둘을 써서 설계를 고르고, 요구가 바뀔 때 어디를 고치는지까지 판단해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정비와 구매에서는 유온 센서를 하나 더 달거나 씰 키트에 공급사를 더 잇는 일이 생깁니다. 선은 얼마든지 그릴 수 있지만, 그릴 수 있다는 것과 정의에 맞는다는 건 다른 얘기죠. 관계 양쪽에 대상이 몇 개씩 이어질 수 있는지를 정한 것, 그게 카디널리티예요. 하나는 1, 여럿은 N이나 M으로 적고, 시작 쪽과 끝 쪽에서 한 번씩 읽습니다. 표의 오른쪽 칸이 새 연결을 넣으려 할 때의 판정입니다. 첫 줄 일대일은 팬 인버터가 팬 속도를 바꾸는 관계입니다. 반대쪽에서 읽어도 하나라서, 팬 속도에 구동기를 하나 더 두면 팬 속도 하나에 값을 써 넣는 장치가 둘이 돼 받지 않습니다. 둘째 줄 일대다는 원인 하나에 증거 여럿이에요. 쿨러 핀 오염에는 냉각 효율 평균이 낮다는 것과 팬 진동이 정상이라는 두 증거가 붙어 있고, 앞 회차 쿨러 사건에서 확인한 값이 이 둘이었습니다. 여럿 둘 수 있다는 뜻이지 꼭 둘이라는 뜻은 아니고요. 다만 증거 쪽에서 읽으면 원인이 하나라, 같은 증거를 다른 원인에도 걸 수는 없습니다. 셋째 줄 다대일은 센서가 상태 변수를 읽는 관계입니다. 지금은 상태 변수마다 센서가 하나씩이지만, 같은 유온을 재는 센서를 더 달아도 정의에 맞죠. 마지막 다대다는 부품과 공급사로, 씰 키트는 세 공급사에서 받고 A정밀은 다른 부품도 공급합니다. 그래서 새 공급사를 더할 때는 기존 회사를 지우지 않고 함께 잇습니다. 결국 카디널리티는 그림 속 선의 개수가 아니라 어떤 연결을 받아들일지 정하는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카디널리티를 실제 연결과 맞춰 보겠습니다. 왼쪽은 넣기 전에 막아야 할 연결을 가정한 것이고, 오른쪽은 이미 그래프에 들어 있는 어긋남입니다. 왼쪽은 일대일로 선언한 조작 관계인데, 팬 인버터에서 팬 속도와 펌프 부하로 연결을 둘 넣으려는 상황입니다. 구동기 하나에 상태 변수 둘이니 선언과 맞지 않죠. 이런 연결은 넣기 전에 멈추고, 어느 쪽이 맞는 연결인지 확인합니다. 오른쪽은 설비가 구성 요소를 갖는 관계로, 일대다로 선언돼 있습니다. 그런데 실제로는 같은 기종의 세 설비가 오일 쿨러 노드 하나를 함께 가리켜요. 쿨러 한 대를 셋이 나눠 쓴다는 뜻이 아니라 같은 기종에 공통인 구성 지식을 노드 하나로 적은 거라, 다대다처럼 쓰이고 있습니다. 여기서 꼭 기억할 것이 있습니다. 카디널리티 선언을 적었다고 데이터베이스가 이런 연결을 알아서 막아 주지는 않아요. 선언은 검사할 기준이고, 실제로 저장된 연결을 세어 그 기준을 따르는지 확인하는 일은 따로 해야 합니다. 이미 들어 있는 어긋남을 어느 쪽으로 고칠지는 다음 장에서 고르겠습니다.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오른쪽처럼 선언과 데이터가 어긋날 때, 연결을 바로 지우는 게 답은 아닙니다. 같은 모델 세 대를 어떻게 나타낼지는 두 설계가 다 가능하고, 각각 얻는 것과 잃는 것이 있거든요. 왼쪽이 지금 그래프의 설계로, 이 장치에 어떤 센서와 부품이 있나를 묻기에는 충분하고 노드도 적습니다. 대신 조심할 게 둘 있어요. 세 설비를 합쳐 센서를 세면 같은 센서가 설비마다 한 번씩, 세 번 나옵니다. 그리고 일대다 선언과 맞지 않으니, 이 설계를 쓰려면 선언을 고쳐야 맞죠. 오른쪽은 설비마다 쿨러를 따로 두는 설계입니다. 일대다 선언에 그대로 맞고 설비마다 다른 기록을 붙일 수 있지만, 구성 요소 노드가 설비 수만큼 늘어납니다. 어느 쪽이 맞는지는 답해야 할 질문이 정합니다. 장치별 센서와 부품을 찾는 게 목적이면 왼쪽으로 충분하니 선언을 고칩니다. 반대로 설비마다 쿨러 교체 이력을 따로 남겨야 한다는 요구가 오면, 노드 하나에 이력을 달았을 때 세 설비의 이력이 섞이니 오른쪽처럼 데이터를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씰 키트를 공급사 여러 곳이 공급하는데, 단가도 납기도 다릅니다. 이 값을 부품에 적어야 할까요, 공급사에 적어야 할까요? 부품에 단가 하나를 적으면 세 회사 중 누구 값인지 정할 수 없고, 공급사에 적으면 그 회사가 파는 다른 부품 값과 섞입니다. 부품과 공급사를 함께 골라야 조건 하나가 정해지죠. 그래서 이런 값은 둘을 잇는 공급 관계의 속성으로 둡니다. 숫자가 어디에 붙어 있는지 보세요. 위 가운데 씰 키트에서 세 공급사로 나간 선마다 단가, 불량률, 납기가 차례로 적혀 있습니다. 단가는 만원, 납기는 일, 불량률은 비율이에요. 가장 싼 C트레이딩은 납기도 가장 빠르지만 불량률이 가장 높고, 가장 비싼 B-OEM은 불량률이 가장 낮은 대신 납기가 가장 깁니다. 그래서 세 값을 함께 놓고 따져야 하죠. 오른쪽 아래 팬 베어링에서 오는 선을 보면, 같은 A정밀도 부품이 바뀌면 값이 달라집니다. 반대로 원 안에 적힌 값은 공급사에 붙어 있습니다. 오른쪽 위 C트레이딩은 승인 공급사가 아니에요. 가장 싸고 빠르지만, 그래프의 구매 규칙은 핵심 부품을 승인 공급사에서만 사도록 해서 이 회사를 후보에서 뺍니다. 이 승인 여부는 어느 부품을 사든 같은 값이라 관계가 아니라 공급사의 속성입니다. 실제 구매 업무에서도 승인 공급사 목록을 따로 두고 단가, 품질, 납기를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정보를 받아 보면 대상 이름, 부품 번호, 회사 이름, 납기가 한 줄에 섞여 옵니다. 펌프 축 씰 키트를 A정밀에서 35만원에, 불량률 12퍼센트, 2일 만에 받는다는 공급 견적 한 줄을 이 표로 갈라 보죠. 왼쪽 열이 네 가지 표현, 가운데가 고르는 기준, 오른쪽 열이 그 견적 한 줄에서 각 표현에 들어가는 것입니다. 첫 줄, 같은 속성과 관계를 갖는 대상이 여럿이면 클래스로 둡니다. 부품과 공급사가 그렇고, 공급 견적이 몇 줄이 오든 모두 그 정의를 따릅니다. 둘째 줄, 한 대상에 딸린 값으로 끝나면 속성이에요. 품번은 씰 키트 하나에 딸린 값이고, 승인 공급사라는 표시는 A정밀 하나에 딸린 값이죠. 셋째 줄, 자기 정보를 가진 다른 대상을 가리키면 관계입니다. A정밀은 이름과 승인 여부를 갖고 다른 부품도 공급하는 대상이라, 씰 키트에서 A정밀로 공급 관계를 잇습니다. 마지막 줄, 두 대상의 짝마다 달라지는 값은 관계의 속성으로, 단가와 불량률, 납기가 그 연결에 붙습니다. 잘못 가르면 끊기는 길도 있습니다. 오일 쿨러 칸에 쿨러 코어를 글자로만 적으면 거기서 공급사로 이어 갈 길이 없죠. 그러니 정보 하나를 받으면 이렇게 묻습니다. 한 대상의 값인가, 자기 정보를 가진 다른 대상인가, 두 대상 사이의 조건인가.</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판단 문제입니다. C트레이딩이 씰 키트 단가를 20만원에서 15만원으로 낮췄다고 해 보죠. 그래프와 구매 판단에서 맞는 것은 무엇일까요? 1번, 씰 키트 부품의 단가를 15로 고치고 C트레이딩을 1순위로 둔다. 2번, C트레이딩 공급사의 단가 속성을 15로 고친다. 3번, 씰 키트와 C트레이딩 사이 공급 관계의 단가만 15로 고치고, 여전히 후보에서 뺀다. 4번, 가장 싸졌으니 C트레이딩의 승인 여부를 참으로 바꾼다. 답은 3번입니다. 단가는 짝마다 달라지는 값이라 그 짝의 공급 관계에서만 고칩니다. 1번과 2번은 단가를 부품이나 공급사 한쪽에 두는 잘못이고요. 승인 여부는 가격과 상관없는 공급사의 속성이라, 값이 내려가도 구매 규칙은 C트레이딩을 그대로 뺍니다. 4번처럼 가격을 보고 승인 여부를 바꾸면 규칙이 지키려던 품질 기준이 무너지죠. 다음 시간에는 이 구분을 여러 사람이 함께 따를 정의, 곧 스키마로 적어 두고, 이름이 달라도 같은 대상을 하나로 묶는 식별자와 잘못 들어온 값을 잡는 제약을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앞에서 나눈 대상과 값, 연결을 여러 사람이 함께 따를 정의로 적고, 그 정의를 식별자와 제약으로 지키는 법을 다룹니다. 세 단원을 차례로 갑니다. 스키마와 식별자, 속성과 연결의 조건, 그리고 설비 모델을 설계하고 바꾸는 법입니다. 이번 회차의 세 번째 단원인 스키마와 식별자부터 봅니다. 물음은 이렇습니다. 정비 기록에는 쿨러, 설비 목록에는 오일 쿨러, 또 다른 문서에는 열교환기라고 적혀 있다면, 이 셋이 한 장치라는 걸 컴퓨터는 어떻게 알까요? 설비 이름도 시스템마다 조금씩 다르게 적혀 있습니다. 같은 대상이 이름마다 흩어지면 한쪽에 붙은 지식은 다른 쪽에서 찾을 수 없죠. 단원 끝에서는 이름이 다른 부품 두 줄을 직접 판단해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가운데 열이 스키마, 오른쪽 열이 인스턴스 데이터입니다. 맨 윗줄부터 볼게요. 스키마는 어떤 클래스가 있고, 클래스마다 어떤 속성과 관계를 갖고, 어떤 조건을 지켜야 하는지를 적은 정의입니다. 앞 회차에서 온톨로지를 종류, 속성, 관계, 제약으로 설명했는데, 그걸 실제로 적어 둔 것이 스키마예요. 여기에는 실제 대상이 하나도 들어 있지 않습니다. 실제 대상과 그 사이의 연결은 오른쪽 인스턴스 데이터에 들어가죠. 둘째 줄이 같은 칸을 두 쪽에서 본 예입니다. 스키마는 센서라면 태그가 있어야 하고 그 값은 문자열이라고 정합니다. 특정 센서 이야기가 아니라 모든 센서가 따를 조건이에요. 인스턴스 데이터는 그 조건에 맞춰 유온 센서의 태그를 TS1로 채운 것이고요. 가운데 세 줄은 이 스키마를 누가 읽느냐입니다. 지식을 넣는 사람은 스키마에서 채울 칸과 지킬 조건을 읽습니다. 검사는 스키마를 기준으로 들어온 데이터가 어긋났는지 가르고요. 이 시스템에서 에이전트는 스키마 설명과 질문을 함께 받아서 질의를 만들어요. 어떤 클래스와 관계가 어느 방향으로 있는지 알아야 무엇을 어떻게 찾을지 적을 수 있으니까요. 그리고 그 질의의 답은 인스턴스 데이터에서 나옵니다. 셋이 같은 정의를 보기 때문에, 넣은 사람이 쓴 칸을 검사도 에이전트도 같은 뜻으로 읽게 됩니다. 맨 아래 줄이 현장에서 가장 자주 만나는 장면입니다. 같은 기종의 설비가 한 대 더 들어와도 스키마는 그대로 쓰고, 늘어나는 건 설비 인스턴스와 그 연결뿐이에요. 반대로 스키마를 한 줄 고치면 그 클래스의 모든 인스턴스가 새 기준으로 다시 판정됩니다. 그래서 정의는 함께 정해서 천천히 바꾸고, 데이터는 그 정의에 맞춰 자주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오일 쿨러를 셋으로 등록해 버리면 어떻게 될까요? 쿨러에 달린 센서를 찾을 때 셋 중 한 노드에 붙은 것만 나오고, 나머지 두 노드에 붙은 지식은 놓칩니다. 그래서 대상 자체를 가리키는 값과 사람이 부르는 말을 나눠 둡니다. 화면의 세 칸이 그 구분이에요. 첫 칸 식별자는 대상 하나를 가리키는 고유한 값입니다. 화면에 적힌 오일 쿨러, 유온 센서, 유온의 식별자를 보면 콜론 앞에 붙은 앞머리가 각각 구성 요소, 센서, 상태 변수를 줄인 말이죠. 앞머리가 클래스를 드러내서, 뒷부분이 같은 유온 센서와 유온도 식별자만 보면 다른 종류라는 게 보입니다. 그리고 식별자는 한 번 정하면 바꾸지 않아요. 연결도 검색도 이 값을 기준으로 이어 두기 때문입니다. 둘째 칸 이름은 사람이 읽는 한국어 이름입니다. 이름은 겹칠 수도 있고 알아보기 쉽게 고칠 수도 있습니다. 이름을 고쳐도 식별자가 그대로라서, 그 센서가 유온을 읽는다는 연결도 그대로 남습니다. 셋째 칸 별칭은 같은 대상을 부르는 다른 이름들의 목록입니다. 사람이 질문에 쓰는 말은 제각각이라, 질문의 말에서 대상을 찾을 때 이 목록과 대조합니다. 실제로 이 그래프에서 「작동유 온도」로 이름을 검색하면 첫 결과로 유온이 나옵니다. 유온의 별칭에 있는 TS1은 센서의 태그와 글자가 같지만, 태그는 계측 채널의 칸이고 이 별칭은 물리량을 찾는 단서라서 둘을 하나로 합치지 않습니다. 정비 기록에서 「열교환기 점검」이라는 말을 만나면 별칭으로 오일 쿨러를 찾고, 그다음부터는 식별자로 그 장치의 센서와 부품을 따라가는 거죠.</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저장소를 건너가 보겠습니다. 현장에서 「2호기 유온 이력 좀 보자」는 말을 받았다고 해 보죠. 유온 값은 지식 그래프가 아니라 시계열 저장소에 있고, 생산 오더나 정비 이력 같은 업무 기록은 업무 DB에 있습니다. 표는 이 말 하나를 세 저장소에서 차례로 푸는 순서이고, 가운데 칸이 저장소마다 이 설비를 부르는 실제 값이에요. 첫 줄, 「2호기」라는 말이 적힌 곳은 업무 DB의 설비 표입니다. 이름이 「유압 파워팩 2호기」인 행의 설비 코드가 HYD-02죠. 둘째 줄, 지식 그래프는 같은 설비를 「HYD-02 유압 파워팩」이라고 부릅니다. 이름은 다르지만 설비 코드가 같아서 같은 설비로 이어져요. 이렇게 여러 저장소가 같은 대상을 같은 값으로 적어 두는 것을 공통 식별자라고 합니다. 이 시스템도 저장소를 묶어 볼 때 이름으로 뜻을 짐작하지 않고, 정해 둔 코드끼리만 맞춥니다. 셋째 줄에서 그래프는 유온이 어느 계측 채널인지 알려 줍니다. 그 설비의 구성 요소를 따라가면 유온을 읽는 센서가 나오고, 그 센서의 태그가 TS1이에요. 넷째 줄 시계열 저장소에서는 설비 열에 HYD-02, 이름 열에 TS1을 함께 걸고 보려는 기간을 더합니다. 그래프에서 태그라고 부르는 값이 시계열 표에서는 이름 열에 들어 있죠. 열 이름이 같아서가 아니라, 같은 채널을 뜻하도록 맞춰 둔 값이 같아서 이어지는 겁니다. 마지막 줄은 이 차례를 건너뛸 때입니다. 이름으로 맞추면 첫째 줄과 둘째 줄이 이어지지 않아요. 태그만 걸면 더 조용히 틀립니다. 유온 센서 노드는 같은 기종 세 대가 함께 쓰는 노드라, 태그 TS1만으로는 세 설비의 유온이 한 결과에 섞이거든요. 그래서 사람이 부르는 말은 설비 코드로 먼저 확정하고, 값은 설비 코드와 태그, 기간으로 고릅니다. 업무 DB에서 그 설비의 오더나 정비 이력을 찾을 때는 태그 없이 설비 코드만 있으면 되고요.</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단원의 판단 문제입니다. 구매 기록에는 「오일 쿨러 코어」라는 부품이 있고, 그래프에는 「쿨러 코어」가 있습니다. 두 기록의 부품 번호는 똑같아요. 이 구매 기록 한 줄을 그래프에 어떻게 반영하는 게 맞을까요? 1번, 이름이 다르니 새 식별자로 부품 노드를 하나 더 만든다. 2번, 기존 쿨러 코어 노드의 이름을 「오일 쿨러 코어」로 덮어쓴다. 3번, 부품 번호가 같으니 기존 쿨러 코어로 보고, 다른 이름을 둘 칸이 부품 정의에 있는지 본다. 4번, 이름이 비슷한 오일 쿨러의 별칭에 「오일 쿨러 코어」를 더한다. 답은 3번입니다. 부품 번호는 이 부품을 가리키는 공통 식별자라, 번호가 같으면 이름이 달라도 같은 부품입니다. 업무 DB의 부품 표도 이 번호를 기준으로 적혀 있죠. 그다음 다른 이름을 남기려면 부품 정의를 봐야 합니다. 부품에는 식별자와 이름, 부품 번호 칸만 있고 별칭 칸이 없어요. 그러니 별칭을 남기려면 정의부터 고쳐야 합니다. 그 판단은 이번 시간 마지막 단원에서 다시 씁니다. 1번이 가장 위험합니다. 식별자를 새로 만들면 저장할 때 막아 주는 것도 없어서, 같은 번호의 부품 노드가 둘이 됩니다. 이 시스템의 구매 판단은 부품 번호로 부품을 찾다가 하나가 아니면 구매 범위를 정할 수 없다며 멈춰요. 2번은 다른 기록과 화면이 함께 쓰는 이름을 한 기록에 맞춰 바꾸는 것이고, 4번은 장치인 구성 요소와 교체품인 부품을 섞는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단원에서는 정의를 얼마나 자세히 적느냐를 봅니다. 물음은 이렇습니다. 데이터가 잘못 들어왔다는 걸 무엇을 기준으로 알아볼 수 있을까요, 그리고 그 기준으로도 알아보지 못하는 건 무엇일까요? 클래스 정의 하나를 칸마다 읽고, 자료형과 허용값, 필수와 선택, 관계의 양 끝을 차례로 정합니다. 그다음 그 조건에 어긋난 데이터를 검사가 어떻게 짚는지 보고, 검사를 통과해도 틀린 데이터를 마지막에 가려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화면은 상태 변수 클래스의 정의입니다. 오른쪽 짚을 점 순서대로 읽어 보겠습니다. 맨 위 영문 이름 StateVariable은 그래프에서 이 클래스의 노드에 붙는 이름이 됩니다. 노드가 어느 클래스인지 드러내는 이 이름을 레이블이라고 해요. 유온 노드에는 이 영문 이름이 레이블로 붙고, 그래서 상태 변수를 모두 찾으라는 질의가 유온을 찾아냅니다. 레이블이 그래프 안에 어떻게 저장되는지는 다음 시간에 봅니다. 그 아래 한글 이름은 표와 화면에 쓰는 이름이고, 설명은 이 클래스가 어디까지를 담는지 정합니다. 설비의 물리량이고, 조작 변수와 결과 변수가 있다고 적혀 있죠. 팬 속도처럼 우리가 바꾸는 값도, 유온처럼 따라 변하는 값도 이 클래스에 든다는 뜻입니다. 속성 목록은 한 줄이 칸 하나입니다. 줄마다 칸 이름, 값의 종류, 반드시 있어야 하는지를 적어요. 단위는 문자열이고 필수, 정상값과 한계는 수이고 필수 표시가 없죠. 종류 칸은 조금 다릅니다. 받을 수 있는 값을 세 개로 못 박아 두었어요. 화면은 발췌라서 설명의 일부와 계층, 표준 칸은 뺐습니다. 이렇게 정의 한 벌이 칸마다의 조건까지 정해 두니, 넣는 사람마다 칸을 다르게 만들 여지가 없어집니다.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한계와 비교하려는데 한계가 글자로 들어와 있다면, 사람은 읽을 수 있어도 프로그램은 크기를 견줄 수 없습니다. 그래서 칸마다 값의 종류, 곧 자료형을 정합니다. 표의 가운데 열이 실제 칸과 값, 오른쪽 열이 그 자료형이라서 할 수 있는 일이에요. 첫 줄 문자열은 태그, 단위, 이름처럼 글자인 값입니다. 계산할 일은 없고, 글자가 같은지 맞춰서 찾습니다. 앞에서 태그로 시계열 채널을 고른 게 이거죠. 둘째 줄 수는 정상값 48과 한계 65처럼 크기를 가진 값이라, 측정값과 비교하고 차이를 계산할 수 있습니다. 셋째 참과 거짓은 계산 채널인지, 승인된 공급사인지처럼 둘 중 하나로 가르는 값이고요. 넷째 목록은 별칭처럼 이름이 여럿 필요한 칸에 씁니다. 문자열 하나와 문자열 여러 개의 목록은 같은 모양이 아니에요. 스키마에는 이 밖에 정수, 날짜와 시각을 뜻하는 자료형도 쓰입니다. 마지막 열거형은 미리 정해 둔 허용값 가운데 하나만 받습니다. 상태 변수의 종류 칸이 그래요. 직접 바꾸는 조작 변수, 결과로 나타나는 결과 변수, 바깥에서 영향을 주는 교란 변수, 이 셋 중 하나입니다. 허용값이 왜 필요한지는 조작할 수 있는 변수를 골라낼 때 드러납니다. 이 설비에서 종류가 조작 변수로 적힌 건 팬 속도, 펌프 부하, 운전 펌프 선택 셋인데, 누군가 같은 뜻을 우리말로 적거나 철자를 다르게 적으면 그 변수는 조회에서 빠집니다. 허용값을 정해 두면 쓸 수 있는 표현이 셋으로 묶여서, 조작 변수를 빠짐없이 고를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값의 종류를 정했으면, 다음은 그 칸을 꼭 채워야 하느냐입니다. 미리 말씀드리면 빈 칸이 다 잘못은 아닙니다. 왼쪽과 오른쪽이 빈 칸의 두 가지 뜻이에요. 왼쪽 필수 속성은 반드시 있어야 하는 칸입니다. 상태 변수의 단위와 종류, 센서의 태그가 그렇죠. 단위가 없으면 그 숫자가 온도인지 압력인지 해석할 수 없고, 태그가 없으면 계측 값을 찾아갈 수 없습니다. 이런 칸이 빠진 인스턴스는 정의에 어긋나서 쓸 수가 없어요. 그래서 빠진 걸 발견하면 넣기 전에 그 센서의 실제 태그를 출처에서 확인해 채웁니다. 짐작으로 채우지 않습니다. 오른쪽 선택 속성은 비어 있어도 정의에 맞는 칸입니다. 상태 변수의 한계가 대표적이에요. 유온은 65도, 팬 진동은 초당 2.0밀리미터가 높은 쪽 한계인데, 토출 압력은 130 바가 낮은 쪽 한계입니다. 압력은 떨어지는 쪽이 위험하니까요. 반면 냉각 효율, 유량, 펌프 부하에는 한계가 없습니다. 여기서 꼭 기억할 게, 없음은 0이 아니라 정해진 값이 없다는 뜻이라는 겁니다. 빈 칸을 0으로 채우면 없던 한계를 새로 만든 셈이 됩니다. 오른쪽 맨 아래 줄은 현장에서 실제로 헷갈리는 자리입니다. 쿨러 성능 저하 경보는 냉각 효율이 70퍼센트 아래인지를 봅니다. 그렇다고 그 70을 냉각 효율의 빈 한계 칸에 옮겨 적지는 않아요. 경보의 기준은 이상을 미리 알리는 선이고, 한계는 인터록이 설비를 보호하는 선이라 뜻이 다르거든요. 꼭 필요한데 빠진 칸과, 채우지 않는 게 맞는 칸을 가르는 것, 그게 필수 여부를 정의에 적는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칸에 조건이 있듯 연결에도 조건이 있습니다. 왼쪽 위는 구성 요소가 교체 부품을 쓴다는 관계의 정의예요. 구성 요소에서 부품 쪽으로 향하고, 장치와 부품 양쪽 모두 여럿을 받을 수 있게 다대다로 선언돼 있죠. 아래 네 줄을 오일 쿨러와 쿨러 코어로 읽어 보겠습니다. 첫 줄은 오일 쿨러가 쿨러 코어를 쓴다는 연결이라 정의를 그대로 따릅니다. 둘째 줄은 끝이 부품이 아니라 다른 구성 요소, 예를 들어 쿨러 팬이에요. 셋째 줄은 부품이 장치를 쓴다고 방향을 뒤집었고, 넷째 줄은 같은 뜻을 정의에 없는 이름으로 적었습니다. 사람은 넷째 줄도 뜻을 짐작하지만, 프로그램은 정의된 이름과 방향으로 찾습니다. 비슷한 뜻이라고 이름을 바꾸면 다른 관계가 돼서, 교체 부품을 찾는 질의가 그 연결을 지나쳐 버려요. 이렇게 이름, 방향, 양 끝이 정의를 따르는 연결을 유효한 연결이라고 합니다. 그런데 맨 아래 가정을 보세요. 오일 쿨러에서 팬 베어링으로 같은 관계를 이었습니다. 시작은 구성 요소, 끝은 부품이니 정의에는 맞아요. 하지만 쿨러에 들어가는 부품은 쿨러 코어고, 팬 베어링은 쿨러 팬의 부품입니다. 유효한 연결이라는 건 정의를 따른다는 뜻이지, 실제 대상까지 맞다는 뜻은 아닙니다. 이 차이는 이 단원 끝에서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적은 조건을 실제 데이터에 대어 보겠습니다. 자료형, 필수 여부, 허용값, 관계의 양 끝처럼 정의가 데이터에 거는 조건을 제약이라고 합니다. 앞 회차에서는 제약을 올바른 연결의 조건으로 봤는데, 이렇게 보니 칸의 조건도 모두 제약이죠. 표의 왼쪽이 제약, 가운데가 그 제약에 어긋난 데이터, 오른쪽이 이 시스템의 검사가 내는 판정 문구입니다. 가운데 데이터는 모두 예로 만든 겁니다. 첫 줄은 태그 칸을 비운 압력 센서입니다. 검사는 필수 속성 태그가 없다고 짚어요. 둘째 줄은 종류 칸에 「조작」이라고 우리말로 적은 상태 변수라 허용값이 아니라고 나옵니다. 셋째 줄은 레이블을 센서의 복수형처럼 철자를 바꿔 적은 노드예요. 스키마에 없는 레이블이라 어느 클래스의 노드인지 정할 수 없습니다. 넷째 줄은 부품 노드에 별칭 칸을 적은 경우입니다. 앞의 판단 문제에서 본 것처럼 부품 정의에는 그 칸이 없어서, 정의를 고치지 않고 칸부터 넣으면 스키마에 없는 속성으로 걸려요. 아래 두 줄은 연결입니다. 센서에서 설비로 읽는 관계를 이으면 끝 클래스가 정의와 달라 허용된 끝점이 아니라고 나오고, 오일 쿨러에서 쿨러 코어를 정의에 없는 관계 이름으로 이으면 스키마에 없는 관계로 나옵니다. 판정마다 어긴 조건의 이름이 붙어 있다는 게 중요합니다. 무엇이 틀렸는지 알면 어디로 가서 고칠지도 정해지거든요. 빠진 태그는 출처에서 확인해 채우고, 허용값 밖의 값은 정해진 셋 중 하나로 바로잡고, 없는 칸은 정의를 고칠지 그 칸을 뺄지 판단합니다. 여러 사람이 지식을 넣는 현장에서는 이렇게 판정을 보고 하나씩 돌려보내는 일이 반복됩니다.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단계 더 들어가 보겠습니다. 검사에서 위반이 하나도 안 나왔다면 데이터가 맞는 걸까요? 화면의 두 칸은 검사를 통과하는데도 틀린 데이터입니다. 왼쪽은 형식이 틀린 값입니다. 토출 압력의 한계 칸에 수 130 대신 「130 바」라는 글자를 넣었다고 해 보죠. 정의에는 한계가 수라고 적혀 있지만, 이 시스템의 검사는 필수 칸이 있는지와 허용값만 보고, 값이 수인지 글자인지는 보지 않습니다. 그래서 통과해요. 문제는 그 값을 쓰는 쪽에서 드러납니다. 압력과 한계를 견주는 판단이 글자를 수로 비교하지 못하는 거죠. 수와 단위를 나눠 수는 한계 칸에, 바는 단위 칸에 적어야 합니다. 오른쪽은 대상이 틀린 연결입니다. 유온 센서를 팬 진동에 읽는 관계로 이었다고 해 보죠. 시작은 센서, 끝은 상태 변수라 끝점 검사를 그대로 통과합니다. 앞에서 본 쿨러와 팬 베어링 연결과 같은 경우예요. 이건 정의로는 가릴 수 없고, 그 센서가 실제로 무엇을 재는지와 대조해야 잡힙니다. 검사를 통과하는 틀린 데이터는 이 둘만이 아닙니다. 앞 시간에 본 카디널리티는 선언만 있고 아무도 세어 주지 않았고, 이번 시간에 본 같은 부품의 두 번째 노드도 식별자가 다르면 그대로 저장되죠. 그래서 검사 결과는 이렇게 읽습니다. 위반 없음은 정의에 맞는다는 뜻일 뿐이고, 값의 형식과 실제 대상은 따로 대조할 일로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단원에서는 정의를 직접 만들고, 요구가 바뀔 때 고치는 쪽으로 갑니다. 설계는 어디서부터 시작할까요? 클래스 이름부터 잔뜩 적기보다, 이 모델로 답하려는 질문을 먼저 정하는 게 출발점입니다. 그 질문에서 대상과 값, 길을 골라 설비 모델을 만들고, 새 요구가 들어왔을 때 어떤 데이터와 질의가 깨지는지까지 가늠해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첫 단계에 현장의 물음 셋이 있습니다. 경보에 대응하는 사람은 어느 장치를 어느 센서로 보는지 묻고, 판단하는 사람은 그 물리량의 한계를 묻고, 부품을 주문하는 사람은 교체 부품의 번호를 묻습니다. 이렇게 온톨로지가 답할 수 있어야 하는 질문을 역량 질문이라고 해요. 질문을 먼저 세우면 그 질문이 무엇을 넣을지 정하는 범위가 되고, 다 만든 뒤에는 빠진 게 없는지 확인하는 기준이 됩니다. 둘째 단계는 질문에 나오는 대상을 클래스로 옮기는 일입니다. 장치와 센서를 물으니 설비, 구성 요소, 센서가 필요하고, 한계를 물으니 상태 변수가, 교체 부품을 물으니 부품이 필요하죠. 클래스는 다섯입니다. 셋째 단계는 질문이 묻는 값을 속성으로 정하는 일입니다. 한계는 비교해야 하니 수로, 태그와 부품 번호는 맞춰 찾는 값이니 문자열로 둡니다. 필수 여부와 식별자도 여기서 정하고요. 넷째 단계는 질문이 건너가는 길을 관계로 정하는 일입니다. 설비에서 장치로, 장치에서 센서로, 센서에서 물리량으로, 장치에서 부품으로 가는 길마다 이름과 방향, 양 끝 클래스와 카디널리티를 정합니다. 질문을 먼저 정하면 넣지 않을 것도 분명해집니다. 설비 자료에 색이나 무게가 있어도 이 세 질문에 쓰이지 않으면 지금 모델에 옮기지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질문에서 골라낸 대상과 값을 정의로 적었습니다. 위쪽 다섯 줄이 클래스별 속성이고, 줄 끝에 그 줄이 어느 질문 때문에 들어갔는지 붙였어요. 아래 네 줄이 클래스 사이의 관계입니다. 중괄호 안에서 느낌표가 붙은 칸이 필수입니다. 다섯 클래스 모두 식별자와 이름이 필수죠. 설비의 코드와 센서의 태그에도 느낌표가 있습니다. 둘 다 앞에서 설비 이름을 이을 때 본, 다른 저장소의 값을 찾아갈 공통 식별자예요. 없으면 질문 1의 답을 실제 값까지 이을 수 없습니다. 상태 변수의 단위와 종류도 필수이고, 한계는 선택입니다. 관계 네 줄은 질문의 길 그대로예요. 오른쪽 셋째 짚을 점을 보세요. 질문 3이 묻는 건 부품 번호인데, 부품 줄의 부품 번호에는 느낌표가 없습니다. 정의에서는 선택 속성이에요. 지금 부품들은 모두 번호를 갖고 있어서 당장은 답이 나오지만, 번호 없이 들어온 부품이 생기면 그 부품의 질문 3은 답을 잃습니다. 이렇게 줄마다 맡은 질문을 붙여 두면, 질문에 꼭 필요한 값인데 선택으로 남은 칸이 눈에 띕니다. 이 칸은 단원 끝 판단 문제에서 다시 만납니다. 화면은 질문에 쓰는 속성만 고른 발췌이고, 전체 정의에는 정상값이나 계산 채널 여부 같은 칸이 더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 적은 정의를 실제 대상으로 채워 그렸습니다. 원마다 위 줄이 실제 대상, 아래 줄이 그 클래스이고, 질문의 답이 되는 값도 함께 적었어요. 선 위에는 관계 이름과 그 선을 지나는 질문의 번호를 붙였습니다. 이 그림에서 세 질문의 길을 직접 따라가 보세요. 같이 볼게요. 경보에 대응하는 질문 1은 왼쪽 위 HYD-01에서 출발합니다. 설비가 구성 요소를 갖는 선으로 가운데 오일 쿨러에 오고, 오일 쿨러가 센서로 계측되는 선을 따라 아래 유온 센서에 닿죠. 답은 그 센서의 태그 TS1입니다. 한계를 묻는 질문 2는 같은 길을 와서, 센서가 읽는 물리량으로 한 번 더 가 오른쪽 아래 유온에서 한계 65도를 읽어요. 한계는 센서가 아니라 유온에 달린 값이라, 이 마지막 선이 있어야 닿습니다. 교체품을 묻는 질문 3은 오일 쿨러에서 부품을 쓰는 선을 따라 오른쪽 위 쿨러 코어로 가서 부품 번호를 얻습니다. 세 길이 모두 오일 쿨러를 지나서, 오일 쿨러를 진한 원으로 그렸어요. 이 번호로 설계를 점검합니다. 선을 하나씩 빼 보세요. HYD-01에서 오일 쿨러로 가는 선이 빠지면, 번호가 둘 붙은 선이라 질문 1과 2가 함께 출발점을 잃습니다. 유온 센서에서 유온으로 가는 선이 빠지면 태그까지는 찾아도 한계에는 닿지 못하고, 쿨러 코어 쪽 선이 빠지면 센서 정보가 아무리 자세해도 교체품 질문에는 답하지 못하죠. 번호가 많이 붙은 선일수록 빠졌을 때 여러 질문을 함께 막습니다. 그림에는 HYD-01만 그렸지만, 오일 쿨러는 같은 기종 세 대가 함께 가리키는 노드라 HYD-02에서 출발해도 같은 오일 쿨러와 유온 센서를 지납니다. 설계를 마치면 질문마다 이렇게 실제 대상으로 길을 끝까지 따라가 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쓰다 보면 설비가 더 들어오기도 하고, 지금 정의로는 답할 수 없는 요구가 생기기도 합니다. 두 경우에 고치는 자리가 다릅니다. 왼쪽과 오른쪽이 그 두 경우예요. 왼쪽은 같은 기종의 HYD-04가 들어온다고 가정한 경우입니다. 설비 인스턴스 하나를 더하고 기존 구성 요소들과 잇는 연결을 더하면 됩니다. 센서, 물리량, 부품으로 가는 길은 이미 있으니까요. 그리고 처음의 세 질문을 HYD-04로 다시 물어서 답이 나오는지 봅니다. 정의는 한 줄도 바뀌지 않아요. 이런 일은 자주 일어나고, 데이터만 고칩니다. 오른쪽은 앞의 판단 문제에서 남긴 요구입니다. 구매 쪽에서 쓰는 「오일 쿨러 코어」로도 쿨러 코어를 찾게 해 달라는 거죠. 그런데 부품 정의에는 별칭 칸이 없습니다. 데이터를 아무리 고쳐도 정의에 없는 칸은 채울 수 없으니, 부품에 별칭 칸을 더하는 정의 변경이 필요해요. 스키마를 고치면 그 클래스의 모든 인스턴스가 새 정의로 다시 판정되고, 그 정의를 읽는 검사와 에이전트가 따르는 기준도 함께 바뀝니다. 그래서 이 시스템에서도 정의는 정해 두고, 꼭 필요할 때 기존 클래스 안에서 더하는 쪽으로만 고칩니다. 판단의 순서는 이렇습니다. 질문에 답이 안 나오면 바로 정의를 고치지 않고, 데이터가 빠졌는지, 질의를 다르게 적었는지, 정의에 정말 그 칸이나 관계가 없는지를 차례로 봅니다. 정의를 고치는 건 마지막 경우예요.</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판단 문제입니다. 구매 판단이 부품 번호로 부품을 하나씩 찾으니, 부품 번호를 선택에서 필수로 바꾸자는 요구가 왔다고 해 보죠. 정의를 바꾸기 전에 할 일로 맞는 것은 무엇일까요? 1번, 스키마 한 줄만 고치면 되니 따로 확인할 것이 없다. 2번, 지금 부품마다 번호가 있는지, 번호가 겹치는 부품이 없는지, 부품을 넣는 곳이 번호를 채우는지 본다. 3번, 번호가 없는 부품이 있으면 번호 칸에 0을 넣어 검사를 통과시킨다. 4번, 번호가 필수가 되니 부품의 식별자를 부품 번호로 바꾼다. 답은 2번입니다. 필수로 바꾸면 정의의 조건이 조여지니, 지금 데이터가 새 조건에 맞는지부터 봐야 합니다. 지금 부품 넷은 모두 번호가 있고 서로 달라서 통과해요. 그리고 앞으로 부품을 넣는 쪽이 번호를 채우는지도 봐야 하죠. 번호가 겹치는지까지 보는 데는 까닭이 있습니다. 필수는 칸이 비었는지만 보고, 같은 번호가 둘인지는 보지 않거든요. 그런데 이 요구의 목적은 번호로 부품을 하나만 찾는 겁니다. 구매 판단은 번호로 찾은 부품이 없을 때뿐 아니라 둘일 때도 멈추니, 필수만으로는 목적을 다 채우지 못합니다. 1번은 정의 한 줄이 모든 부품을 다시 판정한다는 걸 놓쳤고, 3번은 빈 칸을 0으로 채워 없던 번호를 만드는 겁니다. 검사는 통과해도 그 번호로는 실제 부품을 찾을 수 없죠. 4번은 그럴듯해 보이지만, 식별자는 바꾸지 않는 값이었습니다. 식별자를 바꾸면 그 식별자로 이어 둔 연결과 찾는 질의가 함께 끊겨요. 요구 하나가 들어오면 이렇게 기존 데이터, 넣는 쪽, 찾는 쪽을 차례로 짚어서 정의 변경의 범위를 정합니다. 다음 시간에는 이렇게 정의한 지식을 그래프 DB에 저장하고, Cypher 쿼리로 찾고 만드는 법을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지금까지 설계한 지식이 그래프 DB 안에 실제로 어떤 모양으로 들어가는지 보고, 그 모양에서 필요한 정보를 찾아 꺼내는 Cypher 쿼리를 배웁니다. 그다음에는 거꾸로 그래프에 지식을 넣고, 제대로 들어갔는지 확인하는 법까지 갑니다. 여섯 번째 단원의 물음은 이겁니다. 설비와 센서, 증상과 원인을 클래스와 관계로 나눠 두었는데, 정비 담당자가 「쿨러를 어떤 센서로 보지?」「이 경보면 무엇을 교체할 준비를 하지?」 하고 물을 때 그 답을 그래프에서 어떤 문장으로 꺼낼까요? 순서는 이렇습니다. 먼저 저장된 모양을 보고, 그 모양을 글자로 옮긴 패턴을 익힌 다음, 결과를 행으로 읽고 거르고 세는 법을 봅니다. 문법을 외우는 것보다, 나온 결과가 정말 그 물음의 답인지 가려내는 게 이 단원의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설계한 유온 센서 한 대는 그래프 DB에 어떤 모양으로 들어 있을까요? 표의 왼쪽 열이 저장되는 부분, 가운데가 실제로 들어 있는 것, 오른쪽이 쿼리가 그 부분을 쓰는 곳입니다. 첫 줄은 노드입니다. 앞에서 인스턴스라고 부른 실제 대상 하나가 노드 하나가 돼요. 유온 센서도, 그 센서가 읽는 물리량인 유온도 각각 노드 하나죠. 강조한 둘째 줄 레이블은 노드가 어느 클래스의 인스턴스인지를 붙여 둔 이름입니다. 유온 센서에는 센서, 유온에는 상태 변수라는 클래스 이름이 그대로 붙고, 쿼리는 이 이름으로 대상의 종류를 고릅니다. 앞에서 관계 이름은 쿼리에 한 글자도 바꾸지 않고 그대로 쓴다고 했는데, 클래스 이름도 마찬가지입니다. 저장된 이름과 쿼리에 적은 이름이 다르면 그래프는 그걸 다른 것으로 봅니다. 셋째 줄 속성은 이름과 값의 짝입니다. 센서에는 식별자와 태그가, 유온에는 단위와 한계 65도가 들어 있어서, 쿼리는 경보에 적힌 태그로 센서를 좁히고 한계 값을 돌려받습니다. 넷째 줄 관계는 이름과 방향을 함께 갖고 노드 사이에 저장됩니다. 값을 표에 담아 두는 데이터베이스는 묻는 순간 행끼리 맞춰서 연결을 만들어 내야 하지만, 그래프 DB는 연결 자체가 저장돼 있어서 쿼리는 그 선을 방향대로 따라가기만 하면 됩니다. 마지막 줄은 앞에서 본 공급 조건입니다. 쿨러 코어와 A정밀 사이의 공급 관계에 단가와 납기가 붙어 있죠. 연결에 붙는 값은 관계 쪽에 속성으로 저장되고, 공급사를 견줄 때 쿼리가 이 값을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 적어 둔 정의가 그래프 DB에 들어가면, 그 조건을 데이터베이스가 다 지켜 줄까요? 표의 왼쪽 열이 스키마가 정한 것, 가운데가 그래프 DB에 실제로 저장되는 꼴, 오른쪽이 적재할 때 그 조건을 누가 지키느냐입니다. 첫 줄부터 보죠. 클래스 이름은 노드의 레이블이 되는데, 그래프 DB는 레이블을 미리 선언하지 않습니다. 오타가 난 레이블을 붙여도 그대로 들어가요. 관계도 이름과 방향은 저장되지만, 어느 클래스에서 어느 클래스로 이어야 하는지는 막지 않습니다. 속성은 정의가 없어도 저장되고, 반드시 있어야 할 값이 빠져도 저장됩니다. 그래서 이 세 줄은 오른쪽 열처럼, 저장된 데이터를 스키마와 대조하는 별도 검사가 맡습니다. 강조한 넷째 줄만 다릅니다. 이렇게 데이터베이스에 걸어 두어 저장하는 순간 직접 검사하는 조건을 DB 제약이라고 하고, 그 가운데 같은 레이블의 노드끼리 식별자가 겹치지 않게 하는 것이 유일 제약입니다. 이 그래프는 클래스마다 식별자에 유일 제약을 걸어 두었어요. 같은 식별자의 센서를 또 만들려고 하면 저장 자체를 거절합니다. 마지막 줄은 아무도 대신 봐 주지 않는 쪽입니다. 숫자여야 할 칸에 글자가 들어갔는지, 일대일로 정한 관계에 연결이 둘 붙었는지는 저장할 때도, 별도 검사에서도 걸리지 않아요. 그래서 오른쪽 열처럼 조회로 직접 세고 값을 대조해야 합니다. 결국 저장에 성공했다는 건 넷째 줄을 통과했다는 뜻일 뿐입니다. 앞에서 카디널리티 선언은 데이터베이스가 막아 주지 않는다고 했던 게 이 표의 맨 아래 줄이죠.</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저장된 그래프에서 정보를 꺼내려면 데이터베이스에 요청을 보내야 합니다. 이 요청을 질의, 또는 쿼리라고 하고, 그래프 DB에 보내는 쿼리를 적는 언어가 Cypher입니다. 앞 회차 쿨러 사건에서 에이전트가 경보로부터 원인 후보를 찾아낸 것도 Cypher 쿼리였어요. 맨 위 주석은 경보를 받은 담당자의 물음입니다. 쿨러 성능 저하 경보의 규칙에 들어 있는 TS1, 이 센서가 읽는 물리량과 한계를 찾으려는 거죠. Cypher는 찾을 연결을 그림 모양 그대로 글자로 적습니다. 그 아래 한 줄이 이 물음을 옮긴 모양이고, 이렇게 적은 모양을 패턴이라고 해요. 데이터베이스는 저장된 그래프에서 이 패턴에 맞는 곳을 모두 찾아 줍니다. 가운데에서 조각마다 보죠. 둥근 괄호 하나가 노드이고, 괄호 안 콜론 뒤가 레이블입니다. 콜론 앞의 짧은 글자는 변수예요. 찾은 노드를 쿼리 뒤쪽에서 다시 부르려고 붙이는 이름이라, 변수에 점을 찍고 속성 이름을 붙이면 그 노드의 값을 읽을 수 있습니다. 이 쿼리 안에서만 쓰는 이름이니 노드의 식별자와는 다르고요. 중괄호는 속성 조건입니다. 센서 전부가 아니라 태그가 TS1인 센서만 찾도록 좁힌 거죠. 레이블로 종류를 고르고, 속성 조건으로 그 안에서 대상을 좁힙니다. 대괄호에는 관계 이름을 적고, 양옆의 선과 화살표로 방향을 나타냅니다. 오른쪽 둘째 칸처럼 센서가 물리량을 읽는다고 저장돼 있으니, 화살표도 센서에서 유온 쪽으로 적었어요. 맨 아래는 수업 그래프에서 이 패턴에 맞는 곳입니다. 유온 센서에서 유온으로 가고, 거기에 한계 65도와 단위가 있습니다. 경보 규칙의 태그 하나에서 그 물리량의 기준까지 패턴 한 줄로 닿은 거예요. 다만 오른쪽 넷째 칸처럼, 태그에는 유일 제약이 없어서 지금은 결과가 하나여도 앞으로도 하나라는 보장은 없어요. 대상 하나를 계속 가리켜야 할 때는 식별자를 조건으로 씁니다. 이런 쿼리를 직접 적어 실행하고 결과를 표와 그래프로 보는 데는 Neo4j Browser 같은 실행 화면을 씁니다. 포털의 지식 지도도 그래프를 보여 주지만, 그건 항목을 골라 기준 지식을 따라가 보는 화면이고, 조건을 직접 적어 묻는 곳은 실행 화면이에요.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오일 쿨러를 어떤 센서로 보는지 묻는 쿼리입니다. 결과를 먼저 보면, 쿨러는 하나인데 이름이 두 번 나와요. 왜 그런지 쿼리와 결과를 맞춰 보죠. 쿼리는 하는 일이 다른 몇 부분으로 나뉘고, 그 한 부분을 절이라고 합니다. MATCH는 찾을 패턴을 적는 절이에요. 이름이 오일 쿨러인 구성 요소에서 계측 관계로 이어진 센서를 찾으라는 거죠. RETURN은 찾은 것 가운데 돌려받을 항목을 정하는 절입니다. 여기서는 쿨러 이름과 센서 태그를 적었으니 결과도 두 열이에요. 결과의 첫 행은 쿨러와 유온 센서의 연결, 둘째 행은 같은 쿨러와 냉각 효율 채널의 연결입니다. 오른쪽 둘째 칸처럼, 패턴에 맞는 연결 하나가 결과의 한 행이 돼요. 연결이 둘이니 두 행이고, 쿨러 노드가 두 개라서 이름이 반복된 게 아닙니다. 화면 아래는 같은 MATCH에서 RETURN만 바꾼 결과입니다. 관계에도 변수를 붙여 두었으니, 이번엔 이름과 태그 같은 값 대신 쿨러 노드, 계측 관계, 센서 노드 자체를 받습니다. 찾은 연결은 그대로라 여전히 두 행이지만, 행마다 노드와 관계가 담겨 있어서 그림으로 그리면 쿨러 하나에서 센서 둘로 선이 뻗은 모양이 됩니다. 두 행의 쿨러가 같은 노드이기 때문이에요. 센서 목록을 정리해 보고할 때는 값을 받고, 연결이 맞게 이어졌는지 눈으로 확인할 때는 노드와 관계를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같은 쿨러가 두 행에 나왔죠. 그럼 장치 이름 목록만 받거나 개수를 셀 때는 어떻게 해야 할까요? 표는 같은 MATCH에서 RETURN만 바꿔 본 여섯 줄입니다. 첫 줄은 쿨러 이름만 받았는데도 이름이 두 번 남습니다. MATCH가 찾은 연결이 여전히 둘이니까요. 같은 값은 한 번만 보고 싶을 때 DISTINCT를 붙입니다. 둘째 줄처럼 쓰면 반복된 이름이 하나로 남아요. 셋째 줄은 DISTINCT를 붙인 채 이름과 태그를 같이 받은 경우입니다. 이름은 같아도 태그가 달라서 두 행이 그대로 남죠. DISTINCT는 한 열만 보는 게 아니라 돌려받는 열 전체의 조합이 같은 행을 하나로 남깁니다. 그리고 DISTINCT는 돌려받는 결과만 정리할 뿐, 저장된 센서나 관계를 지우지 않습니다. 아래 세 줄은 개수입니다. count는 여러 행을 개수 하나로 요약하는 집계 함수예요. 괄호 안에 별표를 넣으면 결과 행을 셉니다. 연결이 둘이니 2죠. 강조한 다섯째 줄처럼 괄호 안에 DISTINCT와 쿨러 변수를 넣으면 서로 다른 구성 요소 노드를 세서 1이 나옵니다. 마지막 줄은 서로 다른 센서 노드라 2고요. 지금은 행 수와 센서 수가 둘로 같지만 뜻은 다릅니다. 한 대상이 여러 연결에 참여하면 여러 행에 다시 나오니까, 대상이 몇 개냐고 물을 때는 대상을 가리키는 변수를 DISTINCT로 셉니다.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이번엔 한 단계가 아니라 여러 단계를 한 번에 가 보겠습니다. HYD-01의 센서들과, 그 센서가 읽는 물리량의 한계를 한꺼번에 찾는 쿼리예요. 설계할 때 그렸던 길을 그대로 이어 적으면 됩니다. 출발점은 설비 코드로 고른 설비입니다. 거기서 구성 요소를 갖는 관계로 장치를 찾고, 계측 관계로 센서로 가고, 읽는 관계로 상태 변수까지 갑니다. 노드와 관계를 번갈아 적어 세 관계를 쿼리 한 번에 건넌 거예요. ORDER BY는 결과를 태그 순서로 놓는 절입니다. 결과의 넷째 줄을 읽어 보죠. 오일 쿨러는 유온 센서로 계측되고, 그 센서는 유온을 읽으며, 유온의 단위는 도, 한계는 65도입니다. 앞에서 유온에 붙여 둔 그 한계가 경로 끝에서 그대로 나오죠. 이렇게 경로 전체가 한 행에 담겨서, 어느 설비의 어느 장치를 어느 채널로 보고 그 기준이 얼마인지를 한 줄로 읽을 수 있습니다. 첫째 줄과 둘째 줄의 한계 칸에는 NULL이 보입니다. 값이 없다는 표시예요. 냉각 효율과 유량에는 한계 값을 적어 두지 않았거든요. 앞에서 본 것처럼 없음은 0이 아니니, 냉각 효율을 보는 기준은 이 빈 칸이 아니라 쿨러 성능 저하 경보의 규칙 쪽에서 찾습니다. 여기서 오른쪽 마지막 칸을 꼭 기억해 주세요. NULL이 나온 행은 물리량까지 길이 닿은 행입니다. 만약 센서와 물리량이 이어져 있지 않았다면 NULL이 아니라 그 행 자체가 결과에 나오지 않아요. 값이 비어 있는 것과 연결이 없는 것은 결과에서 이렇게 다르게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센서에서 물리량까지 찾았으니, 이제 그중 한계가 정해진 물리량만 남겨 보겠습니다. MATCH가 찾은 행 가운데 조건에 맞는 것만 넘기는 절이 WHERE예요. WHERE 줄의 조건을 보세요. IS NOT NULL은 한계 속성에 값이 있는지를 묻습니다. 그래서 결과에는 토출 압력, 유온, 팬 진동 세 행이 남고, 냉각 효율과 유량은 아래처럼 걸러진 행이 됩니다. 이 두 행은 못 찾아서 빠진 게 아니에요. MATCH는 둘 다 찾았고, 그다음 WHERE에서 한계 칸이 비어 걸러진 겁니다. 남은 세 행은 보호 한계를 가진 물리량입니다. 앞 회차에서 본 인터록, 곧 유온이 너무 오르거나 압력이 너무 떨어지거나 진동이 너무 커질 때 설비를 지키는 경계가 이 세 값이에요. 한계를 넘지 않는지 지켜봐야 할 물리량이 무엇인지 묻는다면 이 쿼리가 그 목록을 줍니다. 크기를 비교하는 조건도 적을 수는 있어요. 한계가 100보다 큰 것만 고르는 식이죠. 하지만 단위 열을 보세요. 압력과 온도와 진동은 단위부터 달라서, 한계끼리 숫자 하나로 견주면 뜻이 없는 비교가 됩니다. 그래서 이 쿼리는 단위를 같이 받았어요.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여럿이 되면 실제로 자주 틀리는 곳이 있습니다. 「오일 쿨러나 쿨러 팬에 달린 채널 가운데, 한계가 있는 물리량만 보여 달라」는 물음을 쿼리로 옮겨 보죠. 장치는 둘 중 하나면 되고, 한계는 반드시 있어야 합니다. 왼쪽이 맞게 옮긴 조건입니다. 쿨러라는 조건과 팬이라는 조건을 OR로 잇고 괄호로 묶었어요. OR는 어느 하나만 맞아도 된다는 뜻이라, 쿨러든 팬이든 이 묶음을 통과합니다. 괄호 밖에는 AND로 한계 조건을 붙였죠. AND는 둘 다 맞아야 한다는 뜻이라, 고른 장치 가운데 한계가 있는 것만 남습니다. 결과는 유온과 팬 진동이에요. 쿨러에 달렸어도 한계가 없는 냉각 효율은 빠집니다. 오른쪽은 같은 조건에서 괄호만 뺀 쿼리입니다. 결과에 냉각 효율이 들어와 있죠. Cypher는 괄호가 없으면 AND를 OR보다 먼저 묶습니다. 그래서 「쿨러이거나, 또는 팬이면서 한계가 있는 것」으로 읽혀요. 냉각 효율 행을 따라가 보면, 장치가 쿨러라서 OR의 앞 조건만으로 통과하고 한계 조건은 아예 묻지 않게 됩니다. 가장 조심할 건 두 쿼리 모두 오류 없이 실행된다는 점입니다. 오른쪽 결과를 그대로 받아서 「쿨러와 팬에서 보호 한계를 가진 물리량은 셋」이라고 보고하면, 한계가 없는 냉각 효율까지 기준이 있는 것처럼 섞여 나갑니다. 조건을 쓰기 전에 말로 먼저 읽어 보세요. 「쿨러 또는 팬을 고르고, 그중 한계가 있는 것」. 이렇게 함께 판단할 부분을 괄호에 담으면 말로 정한 범위와 쿼리의 범위가 같아집니다.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점검 회의에서 HYD-01의 장치마다 상태를 몇 개 채널로 보고 있는지 견주려고 합니다. 화면 맨 위 주석이 그 물음이고, 앞에서 본 경로 다섯 행을 장치별로 묶어 세는 쿼리예요. MATCH는 이미 본 길입니다. 설비에서 구성 요소로, 거기서 센서로 가죠. 바뀐 건 RETURN이에요. 구성 요소의 식별자와 이름은 그대로 적고, 센서는 서로 다른 노드를 count로 셉니다. 이렇게 집계 함수와 보통 항목을 같이 적으면, 오른쪽 첫 칸처럼 집계하지 않은 항목의 값이 같은 행끼리 한 묶음으로 묶어서 셉니다. 쿨러 행은 쿨러끼리, 주 펌프 행은 주 펌프끼리 묶이는 거죠. 이름만 두지 않고 식별자를 같이 둔 까닭은, 이름이 같은 다른 장치가 생겨도 한 묶음으로 합쳐지지 않게 하려는 겁니다. 화면 결과에서는 읽기 편하게 식별자 열만 뺐어요. AS 뒤의 말은 결과 열에 붙인 별명입니다. 알아보기 쉽게 붙인 이름일 뿐, 노드에 속성이 새로 생기지는 않아요. 마지막 줄 ORDER BY는 순서를 정합니다. 채널 수 뒤의 DESC는 큰 값부터 놓는 내림차순이고, 수가 같으면 그다음 적은 식별자 순서로 놓습니다. 그래야 결과를 볼 때마다 같은 순서로 비교할 수 있어요. 결과 옆 화살표는 묶인 원래 채널입니다. 쿨러는 냉각 효율과 유온, 주 펌프는 유량과 압력으로 둘씩, 팬은 진동 하나죠. 여기서 셋째 칸의 판단이 나옵니다. 쿨러 팬은 진동 채널 하나로만 보니, 이 채널이 끊기면 그래프에는 팬을 볼 다른 계측 채널이 없어요. 그리고 맨 아래처럼 예비 펌프와 구동 모터, 작동유 탱크는 결과에 없습니다. 이 패턴은 센서까지 길이 있는 장치만 찾으니까, 센서가 없는 장치는 0으로 나오지 않고 행 자체가 빠져요. 이 표는 모든 장치의 감시 현황이 아니라 채널이 달린 장치끼리의 비교입니다.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단원에서 공통 노드 하나로 둘지 설비마다 나눌지 견주면서, 세 설비를 합쳐 세면 같은 센서가 세 번 나온다고 했죠. 그 장면을 실제 쿼리로 확인해 보겠습니다. 이번엔 설비 코드를 정하지 않고 모든 설비에서 출발해, 구성 요소를 지나 센서까지 가는 길을 셉니다. 이 그래프에서는 HYD-01, 02, 03 세 설비가 같은 오일 쿨러, 같은 주 펌프, 같은 팬 노드를 가리킵니다. 같은 기종의 공통 구성 지식을 노드 하나로 적어 두었으니까요. 그러면 설비 하나에서 센서 다섯까지 가는 길이 다섯, 설비가 셋이니 길은 열다섯이 됩니다. 결과 첫 열의 열다섯이 그 행의 수예요. 같은 유온 센서가 설비마다 한 번씩, 세 번 잡힌 겁니다. 서로 다른 설비 노드는 셋, 서로 다른 센서 노드는 다섯이고요. 아래처럼 설비별로 묶어 세면 세 설비 모두 다섯이 나옵니다. 여기서 판단이 갈립니다. 「센서가 몇 개 있느냐」는 보고에 행 수 열다섯을 쓰면 틀립니다. 그렇다고 서로 다른 센서 다섯이 공장에 달린 센서 대수도 아니에요. 다섯은 이 기종에 정의된 계측 채널의 수입니다. 세 설비 각각의 유온 값은 그래프가 가르지 않고, 시계열 저장소에 설비 코드와 함께 쌓이는 값으로 가립니다. 그래서 설비마다 다른 기록이 필요하다는 요구가 오면, 두 번째 단원에서 본 것처럼 구성 요소를 설비마다 나누는 설계로 옮겨 가야 하고요. 공통 노드를 쓰는 그래프에서 합계를 낼 때는 무엇을 세는지, 그 수가 무엇을 뜻하는지를 함께 적어 두세요.</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냉각 성능 상실의 원인 후보를 찾아보겠습니다. 화면의 고장 유형과 원인은 쿨러 사건 때 매뉴얼을 적재한 그래프에 들어 있던 것이에요. 왼쪽부터 따라가 보죠. 쿨러 성능 저하 경보의 이상 패턴이 유온 상승과 냉각 효율 저하, 두 증상을 감지하고, 두 증상이 모두 가운데 고장 유형을 가리킵니다. 여기까지는 화살표가 모두 오른쪽을 향하니 방향대로 따라오면 돼요. 그런데 오른쪽 원인 셋, 쿨러 핀 오염과 팬 구동 불량, 주변 온도 상승에서 나온 선은 고장 유형으로 들어오고 있죠. 이 관계는 쿼리에 어떻게 적어야 할까요? 저장된 사실은 「원인이 고장 유형을 일으킨다」입니다. 그래서 화살표 머리가 고장 유형 쪽에 있어요. 고장 유형에서 출발해 원인을 찾더라도 이 사실의 방향은 바꾸지 않습니다. 메시지에 적은 표기처럼, 고장 유형을 먼저 놓고 거기로 들어오는 관계를 화살표 방향 그대로 적습니다. 저장된 선을 거슬러 원인을 찾는 역방향 탐색이에요. 쿨러 사건에서 이 세 후보를 찾은 게 이 모양의 쿼리였습니다. 고장 유형에서 원인으로 나가는 관계로 뒤집어 적으면, 그런 관계는 저장돼 있지 않으니 결과가 0행입니다. 문제는 뒤집은 쪽도 문법으로는 맞는 문장이라 오류가 아니라 빈 결과가 나온다는 점이에요. 빈 결과를 받으면 「원인이 없다」고 결론 내리기 전에, 쿼리에 적은 레이블과 관계 이름, 화살표 방향을 저장된 모양과 대조해야 합니다. 그리고 반대로 찾겠다고 반대 뜻의 관계를 하나 더 저장하지 않습니다. 같은 사실을 두 번 적으면 한쪽만 고쳤을 때 둘이 어긋나니까요. 또 여기서 찾은 셋은 어디까지나 후보예요. 쿨러 사건의 원인은 연결된 증거의 값을 기준과 대조한 뒤에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하나에 답하는 경로를 쿼리 하나로 이어 보겠습니다. 이번 회차 첫 단원 끝에서 경보에서 교체품까지 가는 길을 그림으로 이었죠. 쿨러 성능 저하 경보가 들어왔을 때, 정비 담당자가 「어떤 부품을 준비해 둬야 하지?」 하고 묻는 장면입니다. 출발점은 경보에 실려 오는 이상 패턴의 코드입니다. 거기서 감지하는 증상으로, 증상이 가리키는 고장 유형으로, 고장이 일어나는 장치로, 그 장치가 쓰는 부품까지 네 관계를 이어 적었어요. 모두 저장된 방향 그대로 따라가는 길이라 화살표가 전부 오른쪽을 봅니다. 그런데 이 쿼리를 실습 1에서 쓸 랩 예제 그래프에 돌리면 결과가 0행입니다. 예제 그래프에는 설비와 센서, 부품 같은 구조만 있고, 고장 유형과 원인 같은 고장 지식은 없거든요. 고장 지식이 로드된 포털의 기준 그래프는 실습 2에서 지식 지도로 직접 따라가 봅니다. 여기서 0행을 「준비할 부품이 없다」로 읽으면 안 되죠. 길의 한 칸이 아직 없다는 뜻입니다. 고장 지식이 있는 그래프에서는 같은 쿼리가 아래 줄처럼 쿨러 냉각 성능 상실, 오일 쿨러, 쿨러 코어와 그 부품 번호를 돌려줍니다. 주문은 이름이 아니라 부품 번호로 하니까 번호까지 받았고요. RETURN 뒤에 DISTINCT를 붙인 까닭이 있습니다. 이 경보는 유온 상승과 냉각 효율 저하, 두 증상을 감지하고, 두 증상이 모두 같은 고장 유형을 가리켜요. 그래서 경로가 두 갈래로 같은 쿨러 코어에 닿고, DISTINCT를 빼면 같은 줄이 두 번 나옵니다. 앞에서 본 「연결 하나가 한 행」이 긴 경로에서도 그대로인 거죠. 그리고 유온 상승은 과열 정지라는 고장 유형에도 이어지는데, 그 고장이 일어나는 구동 모터에는 부품 관계가 없어서 이 쿼리에는 그 길의 행이 생기지 않아요. 길의 어느 한 칸이라도 없으면 그 길은 결과에 없습니다. 셋째 칸은 판단의 순서입니다. 이 쿼리가 주는 건 교체품 후보예요. 앞 장처럼 원인을 증거로 가려야, 핀 오염이라면 쿨러 코어를 세척하거나 교체할지, 주변 온도 때문이라면 부품을 건드릴 필요가 없는지가 정해집니다. 그래도 경보가 들어온 순간 「준비해 둘 부품과 그 번호」를 쿼리 한 번으로 얻을 수 있다는 것, 그게 지식을 그래프로 이어 둔 쓸모입니다.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이미 저장된 그래프를 읽기만 했습니다. 일곱 번째 단원에서는 쓰기로 넘어가요. 새 설비를 들이거나 센서를 등록하면 그래프에 노드와 관계를 넣어야 하는데, 읽을 때와 무엇이 달라질까요? 같은 센서가 두 번 들어가면 안 되고, 관계는 정의한 방향으로 이어야 하고, 넣은 다음에는 정말 의도대로 들어갔는지 확인해야 합니다. 조회와 적재를 먼저 가르고 차례로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 쿼리는 하는 일에 따라 두 갈래로 나뉩니다. 왼쪽이 구조 조회, 오른쪽이 데이터 적재예요. 왼쪽 조회는 지금까지 쓴 MATCH, WHERE, RETURN으로 저장된 연결을 찾아 행으로 돌려줍니다. 정비 담당자가 쿨러의 센서를 묻거나 유온의 한계를 확인하는 일이 여기 속하죠. 조회는 그래프를 바꾸지 않으니, 같은 쿼리를 몇 번 실행해도 그래프는 그대로이고 같은 결과가 나옵니다. 오른쪽 적재는 CREATE, MERGE, SET으로 노드와 관계, 속성을 만들거나 바꿉니다. 새 센서를 등록하고 그 센서를 장치와 물리량에 잇는 일이죠. 적재는 그래프에 노드와 관계를 남깁니다. 그래서 같은 쿼리를 다시 실행하면 그래프가 달라질 수 있어요. 노드가 하나 더 생길 수도 있고, 값이 바뀔 수도 있습니다. 그리고 적재 쿼리가 끝났다는 표시는 요청을 처리했다는 뜻일 뿐, 무엇이 남았는지는 다시 조회해야 알 수 있습니다. 이 구분은 작업할 때의 태도를 바꿉니다. 조회는 마음껏 실행해 보며 결과를 견주어도 되지만, 적재는 실행 전에 어느 그래프에 무엇을 넣는지 먼저 읽어 봐야 해요. 실습에서도 예제 그래프를 조회하는 단계와, 직접 설계한 지식을 따로 마련한 빈 그래프에 적재하는 단계를 나눠 둔 까닭이 이겁니다.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센서를 등록하는 방법이 두 가지 있습니다. 맨 위 CREATE는 적힌 센서 노드를 새로 만들라는 요청입니다. 같은 것이 이미 있는지는 찾아보지 않아요. 맨 아래 오류 메시지가 같은 식별자의 센서가 이미 있을 때 이걸 실행한 결과입니다. 앞에서 본 유일 제약에 걸려 저장이 거절된 거죠. 가운데 MERGE는 식별자로 센서를 찾습니다. 있으면 그 노드를 쓰고, 없으면 만들어요. 그다음 SET이 찾았거나 만든 노드에 이름, 태그, 단위를 넣습니다. 대상을 찾는 일과 값을 넣는 일을 나눠 적은 겁니다. 이 차이가 드러나는 장면은 적재를 다시 돌릴 때입니다. 데이터를 넣다가 중간에 멈춰서 처음부터 다시 실행한다고 해 보죠. 이미 들어간 센서를 또 만들면 안 되고, 같은 식별자로 찾아서 그대로 써야 합니다. MERGE로 적어 두면 몇 번을 다시 돌려도 같은 센서가 하나로 남아요. 이 시스템의 기준 그래프를 넣는 파일도 MERGE만 써서, 같은 파일을 다시 실행해도 결과가 같습니다. 반대로 문서를 적재할 때마다 「언제 무엇을 넣었다」는 기록을 새로 하나씩 남기는 일처럼, 매번 새 대상이 생겨야 하는 곳에는 CREATE를 씁니다. 새 대상을 만드는 일인지, 같은 대상을 다시 다루는 일인지를 보고 고르면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등록한 유온 센서의 표시 이름을 「온도 센서」로 바꾸려고 합니다. 센서 자체는 같은 대상이에요. 화면의 두 쿼리를 같은 처음 상태에서 각각 실행한다면, 어느 쪽이 이 뜻에 맞을까요? 위 쿼리는 식별자만으로 찾습니다. 같은 센서가 있으니 그 노드를 찾고, SET으로 이름만 바꾸죠. 노드는 그대로 하나이고, 다시 실행해도 같은 센서를 찾습니다. 아래 쿼리는 식별자와 새 이름을 둘 다 MERGE의 괄호 안, 곧 찾는 패턴에 넣었습니다. 그런데 기존 노드의 이름은 아직 유온 센서죠. 두 조건을 다 만족하는 노드가 없으니 MERGE는 새로 만들려고 하고, 그 순간 같은 식별자가 이미 있어서 유일 제약이 막습니다. MERGE가 뜻을 이해해서 같은 센서인지 판단해 주는 게 아니에요. 적힌 패턴이 전부 맞는 노드가 있는지만 봅니다. 그래서 넷째 칸이 기준입니다. 대상을 계속 가리킬 값, 곧 식별자는 패턴에 두고, 이름이나 단위처럼 바뀔 수 있는 값은 SET에 둡니다. 현장 이름은 사람마다, 시기마다 바뀌지만 식별자는 바뀌지 않으니까요.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단계 더 들어가 보겠습니다. 앞 장에서는 잘못 적은 MERGE가 거절돼서 오히려 다행이었죠. 그런데 그 거절은 누가 해 준 걸까요? MERGE가 아니라 유일 제약입니다. 뒤의 실습처럼 새로 만든 빈 그래프에 적재할 때는 이 차이가 중요해집니다. 왼쪽은 식별자에 유일 제약이 걸려 있는 경우로, 앞 장에서 실제로 본 결과입니다. 오류가 났으니 쿼리를 다시 보고 패턴을 고칠 수 있어요. 오른쪽은 제약이 없다고 가정한 경우입니다. 같은 MERGE가 기존 노드를 못 찾는 데까지는 똑같아요. 그런데 막는 제약이 없으니, MERGE는 적힌 대로 새 노드를 만듭니다. 식별자가 같은 유온 센서가 둘이 되는 거죠. 오류도 경고도 없이 센서 수만 늘어납니다. 그 뒤 이 식별자로 센서를 찾으면 두 노드가 나오고, 한쪽에만 관계가 이어져 있으면 어느 쪽을 보느냐에 따라 답이 달라져요. 정리하면 MERGE가 중복을 막는 힘은 두 가지에서 나옵니다. 하나는 바뀌지 않는 식별자로 찾는 것, 다른 하나는 그 식별자에 유일 제약을 걸어 두는 것이에요. 이 시스템의 그래프도 인스턴스를 넣기 전에 클래스마다 제약부터 겁니다.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노드를 등록했으면 이제 장치와 물리량에 이어야죠. 화면 맨 위 주석처럼, 유온 센서를 오일 쿨러와 유온에 잇는 쿼리입니다. MATCH가 세 대상을 식별자로 먼저 찾아 변수에 담습니다. 바뀔 수 있는 이름이 아니라 바뀌지 않는 식별자로 양 끝을 붙잡는 거예요. 그다음 MERGE가 쿨러에서 센서로 계측 관계를, 센서에서 유온으로 읽는 관계를 만듭니다. 두 노드 사이에 같은 관계가 이미 있으면 새로 만들지 않고 그대로 써요. 그래서 같은 적재를 다시 돌려도 계측 관계는 하나로 남습니다. 화살표는 스키마가 정한 시작 클래스에서 끝 클래스로, 쿨러에서 센서 쪽으로 적었고요. 가운데는 센서 식별자를 옮겨 적다가 틀린 경우입니다. 센서를 못 찾으면 MATCH가 다음으로 넘길 행이 하나도 없어서, 뒤의 MERGE는 관계를 만들 일이 없습니다. 쿼리는 오류 없이 끝나고, 새로 생긴 관계는 0개예요. 게다가 적재 쿼리에는 RETURN이 없어서 결과 표도 나오지 않으니, 화면만 보고는 성공인지 실패인지 가릴 수 없습니다. 그래서 넷째 칸처럼, 넣은 뒤에는 맨 아래 쿼리로 같은 두 노드 사이의 관계를 다시 셉니다. 쿨러와 유온 센서 사이의 계측 관계가 하나면 맞게 들어간 것이고, 다시 돌려도 하나 그대로예요. 정해진 방향으로 센 관계 수 전체를 예상한 수와 견주면, 오타로 빠진 관계도, 방향을 거꾸로 적어 저장한 관계도 모자란 수로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설계한 지식을 그래프에 넣는 일은 적재에서 끝나지 않고, 확인하는 데까지가 한 과정입니다. 화면의 다섯 칸 가운데 앞 두 칸은 무엇을 넣을지 준비하는 일, 뒤 세 칸은 넣고 확인하는 일이에요. 셋째 칸 적재는 앞에서 본 순서 그대로, 유일 제약을 먼저 걸고 식별자로 MERGE합니다. 넷째 칸 조회에서는 처음 정한 물음을 쿼리로 던져 봅니다. 쿨러를 계측하는 센서가 맞게 나오는지, 물리량의 한계와 교체 부품이 예상한 답과 같은지 보는 거죠. 마지막 검사에서는 필수값, 허용값, 관계의 양 끝 클래스를 스키마와 대조하고, 앞에서 아무도 대신 봐 주지 않는다고 한 수와 자료형은 직접 셉니다. 어긋난 곳이 나오면 정의나 데이터를 고치고요. 조회와 검사가 잡아내는 잘못은 서로 다릅니다. 스키마가 허용한 종류끼리 이었더라도 실제로는 엉뚱한 센서를 골랐을 수 있어요. 유온 센서가 팬 진동을 읽도록 이어도 두 노드의 클래스는 맞으니 검사는 통과하죠. 이런 잘못은 물음의 답을 예상한 답과 대조해야 찾습니다. 반대로 답 한 건이 맞게 나왔다고, 다른 대상의 필수값까지 다 채워졌다고 할 수는 없고요. 물음의 답과 정의의 조건을 둘 다 확인해야, 넣기만 한 데이터가 아니라 믿고 쓸 수 있는 지식이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 배운 것을 이제 네 가지 실습으로 직접 해 봅니다. 첫 실습은 그래프의 관계 조회입니다. 강의용 기준 그래프가 아니라 이 실습에 쓰려고 따로 마련한 예제 그래프에서, 설비의 계측 채널과 물리량의 한계, 교체 부품을 찾습니다. 한 단계 관계와 여러 단계 경로를 Cypher로 적고, WHERE로 한계가 있는 물리량을 걸러 보고, 값을 받은 표와 노드와 관계를 받은 그래프를 나란히 견줍니다. 마지막엔 구성 요소별로 서로 다른 채널 수를 세어 정렬하고, 원래 행을 손으로 묶어 센 수와 맞춰 봐요. 질문에 맞는 대상과 반환 형태를 얻고, 손으로 센 수와 집계가 같으면 성공입니다. 남길 결과물은 질의와 결과, 집계 대조표, 그리고 어느 DB를 썼는지에 대한 기록이에요.</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60~61장 통합 발화는 60장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실습에서는 포털의 지식 지도로 기준 지식을 탐색합니다. 첫 실습이 쿼리를 적어 관계를 찾는 일이라면, 여기서는 항목을 골라 연결을 따라가요. HYD-01에서 출발해 구성 요소와 센서, 그리고 고장 유형까지 이어 가면서, 항목마다 클래스와 속성, 나가는 관계와 들어오는 관계를 기록합니다. 그 탐색 기록이 결과물이고, 출발한 대상과 도착한 대상이 처음 정한 물음에 맞으면 성공입니다. 하나 구별해 둘 게 있어요. 첫 실습의 예제 그래프와 여기서 보는 기준 지식은 서로 다른 환경입니다. 한쪽에서 만들거나 바꾼 것이 다른 쪽에 저절로 나타나지 않아요. 두 곳의 주소를 따로 적어 두는 것도 그래서입니다.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62~63장 통합 발화는 62장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실습은 현장 자료로 온톨로지를 직접 설계하는 일입니다. 먼저 이 자료로 답할 물음을 정합니다. 설비마다 구성 요소에 어떤 센서가 붙는지, 그 센서가 읽는 물리량의 단위와 한계는 무엇인지, 여러 설비가 함께 쓰는 교체 부품은 무엇인지예요. 그 물음에 맞춰 클래스와 속성, 자료형과 필수값, 식별자, 관계의 방향과 끝점, 카디널리티를 정하고, 스키마 파일과 예시 인스턴스 데이터 두 파일을 만듭니다. 이번 물음은 설비마다 센서를 구별해야 하니, 앞에서 견줬던 두 설계 가운데 구성 요소와 센서를 설비마다 나누는 쪽을 고르게 됩니다. 반대로 교체 부품은 여러 설비가 같은 품번으로 주문하니 하나로 묶고요. 고유한 식별자와 필수값, 관계 방향이 정의에 맞고, 공유 부품과 한 구성 요소의 여러 센서가 자료대로 빠짐없이 이어졌다면 성공입니다. 파일을 도구가 만들어 줬더라도, 그 모델이 무엇을 나타내는지 설명하고 자료와 대조하는 건 설계한 사람의 몫이에요.</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64~65장 통합 발화는 64장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실습에서는 세 번째 실습에서 만든 스키마와 예시 데이터를 그래프 DB에 구현하고 검증합니다. 이 단원에서 본 순서 그대로, 빈 그래프에 유일 제약을 먼저 걸고, 식별자로 노드를 MERGE하고, 양 끝 노드를 찾은 뒤 관계를 잇는 Cypher를 만들어 읽어 본 다음 실행합니다. 넣은 뒤에는 세 물음의 답이 자료와 맞는지 조회로 확인합니다. 이때 화면 가운데 카드가 중요해요. 관계의 양 끝 클래스가 맞는다는 것만으로는, 같은 설비의 맞는 계측 대상을 이었다고 볼 수 없습니다. 설비 식별자와 센서 태그, 계측 대상과 단위까지 자료와 대조해야 해요. 잘못된 연결을 찾으면 근거를 찾아 고치고, 같은 적재를 다시 돌려도 노드와 관계의 수가 늘지 않는지도 확인합니다. 결과물은 생성 질의와 저장된 그래프, 그리고 무엇을 대조했고 무엇을 고쳤는지 적은 검증 기록입니다. 다음 시간에는 첫 실습인 관계 조회부터 작업 화면에서 직접 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66~67장 통합 발화는 66장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지금까지 만든 지식 구조에 작업 절차와 판단 조건을 잇습니다. 쿨러 성능 저하 경보에서 원인을 쿨러 핀 오염으로 가렸다고 해 볼게요. 이제 무엇을 할지 정해야 하는데, 매뉴얼에는 쓸 수 있는 조치가 여럿 적혀 있습니다. 그 조치를 어떤 차례로 하는지, 언제 시작해도 되고 무엇을 하면 안 되는지, 언제 끝났다고 하는지를 먼저 절차에서 읽어 내겠습니다. 그다음 조건 문장만 따로 꺼내 결정표로 옮기고, 지금의 값에 대어 판정해 봅니다. 마지막에는 결정표가 대신할 수 없어서 절차에 그대로 남는 것이 무엇인지 가리겠습니다.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왼쪽이 출발점입니다. 냉각 효율은 낮은데 팬 진동은 정상이라 원인을 쿨러 핀 오염으로 가렸고, 고장 유형은 쿨러 냉각 성능 상실이에요. 그런데 오른쪽으로 갈라진 조치가 네 갈래입니다. 위에서부터 볼게요. 팬 최대 운전은 팬만 끝까지 올리고 생산은 그대로 둡니다. 둘째는 팬을 올리면서 펌프 부하도 80퍼센트로 낮춰 열을 덜 만드는 대신 생산 속도가 줄어요. 셋째는 팬은 두고 부하를 70퍼센트까지 낮춘 뒤, 야간 정비 시간에 핀을 씻도록 작업지시를 걸어 둡니다. 마지막은 설비를 세우고 핀을 세척해서 오염 자체를 없애는 안이고, 정비하는 동안은 생산을 못 하죠. 라벨 둘째 줄의 절차 번호는 추천안에 적힌 절차와 작업자가 펼친 매뉴얼의 절차를 맞춰 보는 이름표입니다. 원인을 안다고 할 일이 정해지는 건 아닙니다. 넷 가운데 무엇을 고를지는 두 물음으로 나뉘어요. 지금 이 조치를 해도 되는가, 그리고 해도 되는 것들 가운데 무엇이 나은가. 이번 시간은 앞의 물음, 해도 되는지와 어떻게 하는지를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해도 되는지와 하는 법은 매뉴얼의 SOP에 적혀 있습니다. SOP는 표준 작업 절차예요. 같은 조치를 누가 맡아도 같은 순서로, 같은 확인을 거쳐 끝나게 하려고 문서로 정해 둔 겁니다. 화면 왼쪽에 두 절을 위아래로 놓았습니다. 위는 즉시 완화 절의 팬 최대 운전이고, 아래는 근본 조치 절의 쿨러 핀 세척이에요. 둘 다 번호 붙은 단계가 있죠. 이게 순서 문장입니다. 그런데 번호 밖에도 문장이 있어요. 위 절 머리의 「원격 조치는 원격 자동일 때만 한다」, 2단계 끝 괄호의 「연속 24시간 이내」, 아래 1단계의 정지와 잠금, 2단계의 「고압수는 쓰지 않는다」. 언제 시작해도 되는지, 어디까지 해도 되는지, 무엇을 하면 안 되는지를 정하는 조건 문장입니다. SOP를 읽을 때는 이 두 종류를 같이 가져가야 합니다. 번호 붙은 줄만 옮기면 팬을 올리는 동작은 남는데, 수동 조작 중에는 하지 말라는 조건이 사라질 수 있어요. 그러면 모양은 같아도 원래 매뉴얼과 다른 절차가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SOP에 무엇이 들어 있는지를 여덟 항목으로 나눠 보면 빠뜨린 것을 찾기 쉽습니다. 표의 오른쪽 칸이 그 항목이 답하는 작업자의 물음이에요. 시작하기 전에는 이 절차가 지금 고장에 맞는지, 그게 적용 대상이고요. 지금 시작해도 되는 상태인지가 작업 전제 조건, 손대기 전에 설비를 어떤 상태로 둘지가 안전 조건입니다. 사람과 부품을 갖췄는지가 준비사항인데, 둘째 칸을 보면 쿨러 매뉴얼에는 이 항목에 해당하는 문장이 없어서 같은 설비의 정기 점검표에서 예를 가져왔어요. 쿨러 조치에 인원 넷이 필요하다는 뜻으로 읽으면 안 됩니다. 작업 중에는 무엇을 어떤 차례로 하는지가 수행 단계, 하면 안 되는 일이 금지 사항이에요. 부하를 60퍼센트 아래로 내리지 않는다, 고압수를 쓰지 않는다가 그 예입니다. 담당 역할 줄에는 문장이 둘이죠. 팬을 올리는 완화는 운전원이, 설비를 세우는 근본 조치는 설비보전팀장이 승인합니다. 승인할 사람이 동의한다고 금지 사항이 풀리지는 않아요. 마지막 완료 확인 기준은 언제 끝났다고 하는지예요. 온도가 한 번 내려간 것으로 끝이 아니라, 정해진 시간 동안 기준 아래가 유지돼야 완화에 성공한 겁니다. 둘째 칸의 출처를 위에서 아래로 훑어보면 줄마다 절이 다릅니다. 여덟 항목이 한곳에 모여 있지 않고 여러 절에 흩어져 있다는 뜻이라, 문장을 읽고 항목을 찾아내야 해요.</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항목 가운데 가장 헷갈리는 짝이 전제 조건과 안전 조건입니다. 둘 다 시작 전에 확인하는 것이라 그렇죠. 왼쪽 전제 조건부터 보면, 팬 최대 운전은 운전 모드가 원격 자동이어야 해요. 상위 시스템이 보내는 명령을 받는 상태여야 원격으로 팬을 올릴 수 있으니까요. 수동 조작이 들어와 원격 수동이 되어 있으면 시작하지 않습니다. 오른쪽 안전 조건을 보면, 핀 세척은 설비를 세우고, 현장 제어로 바꾸고, 잠금을 겁니다. LOTO는 에너지원을 잠그고 표지를 달아서, 정비하는 동안 누가 설비를 다시 돌리지 못하게 하는 절차예요. 맨 아래 줄은 같은 설비의 펌프 정비에서 가져온 예입니다. 전원을 끊어도 유압 회로에는 압력이 남을 수 있어서, 남은 압력을 빼고 압력계가 0인지 본 뒤에야 배관을 엽니다. 두 칸을 견주면 시작할 때 갖출 상태가 정반대예요. 그래서 둘을 「준비 완료」 하나로 뭉개면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배운 전제 조건을 네 후보에 대어 보겠습니다. 운전 모드는 설비가 누구의 조작을 받을지 정하는 PLC의 상태예요. 위의 세 열이 원격 자동, 원격 수동, 현장 제어입니다. 윗줄은 팬이나 부하를 원격으로 바꾸는 후보 셋입니다. 원격 자동에서는 남지만, 운전원이 운전 화면에서 직접 조작 중인 원격 수동이나 작업자가 현장 패널을 잡고 있는 현장 제어에서는 빠집니다. 사람이 조작하는 동안 상위 시스템의 명령이 끼어들면 그 사람이 예상하지 못한 방향으로 설비가 움직이거든요. 여기서 셋째 후보를 조심해서 봐야 해요. 이름에 야간 핀 세척이 붙어 있어도 지금 부하를 원격으로 낮추는 동작이 들어 있어서 함께 빠집니다. 후보 이름이 아니라 무엇을 바꾸는지를 봐야 하는 거죠. 아랫줄 핀 세척 작업지시는 세 모드 모두에서 남습니다. 작업지시를 등록하는 일은 설비에 명령을 보내는 게 아니니까요. 다만 남는다는 게 지금 세척해도 된다는 뜻은 아닙니다. 실제 세척은 앞 장의 정지와 잠금을 갖춘 뒤에 해요. 왼쪽 위처럼 쿨러 사건은 원격 자동에 운전 중이었기 때문에 넷이 모두 후보에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절차를 사람이 읽을 수 있게 됐으니, 이번엔 컴퓨터가 꺼내 쓸 수 있게 해야 합니다. 조치 후보를 찾았을 때 그 작업의 단계, 근거가 된 매뉴얼 절, 승인할 사람, 실제로 보낼 명령까지 한 번에 가져오려면 무엇을 이어 둬야 할까요. 이 단원에서는 SOP 한 편을 지식 그래프의 대상과 관계로 나눠 봅니다.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설비를 클래스와 인스턴스, 관계로 옮긴 것처럼 절차도 옮깁니다. 이 모델에는 SOP라는 클래스가 따로 없고, 조치 방법 하나에 SOP 한 편을 담아요. 화면 위의 두 줄이 그 조치 방법입니다. 절차 번호를 그대로 식별자로 쓰니까 추천이든 승인이든 작업 기록이든 같은 절차를 가리키게 되죠. 두 줄의 마지막 값을 견줘 보세요. 팬 최대 운전은 설비를 바로 제어하는 종류이고, 핀 세척은 작업지시를 내는 종류입니다. 앞에서 운전 모드에 따라 윗줄은 빠지고 아랫줄은 남았죠. 사람은 문장을 읽고 그 차이를 알지만, 컴퓨터가 가리려면 이렇게 조치의 종류가 값으로 적혀 있어야 합니다. 가운데는 단계입니다. 조치 방법 하나에 단계가 여럿 이어지고, 단계마다 순서 값이 있어요. 그래프에 넣은 차례가 곧 작업 차례는 아니라서, 순서는 값으로 따로 지켜야 합니다. 단계는 근거가 된 매뉴얼 절을 가리키고, 조치 방법은 승인할 역할로 이어져요. 맨 아래가 중요합니다. 스키마에는 전제 조건이나 금지 사항 같은 칸이 없어요. 그 뜻은 단계 문장에 그대로 남거나, 다음 단원에서 볼 판단 규칙으로 옮겨집니다. 칸 수가 여덟인지보다, 원문의 뜻을 다시 찾아낼 수 있는지가 기준이에요.</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고장 유형에서 조치 방법으로 가는 관계는 두 가지로 나뉩니다. 무엇을 해결하는 조치인지가 다르기 때문이에요. 왼쪽 즉시 완화는 고장의 영향을 지금 줄입니다. 팬을 올리면 유온은 내려가지만 핀에 낀 오염은 그대로죠. 영향을 먼저 줄여서 근본 조치를 할 시간을 버는 겁니다. 그래서 원인을 아직 가리지 못했어도 고장 유형만 알면 후보가 될 수 있어요. 오른쪽 근본 조치는 원인을 없앱니다. 그런데 같은 냉각 성능 상실이라도 원인이 핀 오염이면 핀 세척이, 주변 온도 상승이면 캐비닛 환기 보강이 맞아요. 그래서 근본 조치에서 원인으로 「이 원인을 다룬다」는 관계를 따로 두고, 원인이 맞을 때만 후보에 올립니다. 핀 오염인데 환기 보강을 추천하지 않게 되는 거죠. 셋째 후보, 부하 70퍼센트와 야간 핀 세척을 여기에 대어 보면, 지금 부하를 낮추는 건 즉시 완화이고 밤에 걸어 둔 세척은 근본 조치입니다. 한 후보 안에 때가 다른 두 조치가 함께 들어 있는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완화가 원인을 남긴다는 걸 쿨러 사건의 실제 그래프로 확인해 보겠습니다. 팬 최대 운전을 승인한 뒤 위쪽 유온은 내려갔고, 경보도 해제됐어요. 그러면 쿨러 문제가 끝났다고 보고해도 될까요? 오른쪽 넷을 차례로 보세요. 첫째, 경보는 해제됐습니다. 둘째, 매뉴얼의 완화 성공 판정은 15분 동안 55도 아래가 유지되는 건데, 실제 재관측 구간에서 기준 아래에 있던 몫은 절반을 조금 넘었어요. 기준보다 높은 데서 내려오기 시작했으니까요. 경보 해제와 완화 성공은 다른 기준입니다. 셋째, 아래쪽 냉각 효율은 조금 올랐을 뿐 경보 기준에도 못 미칩니다. 핀 오염은 그대로라는 뜻이죠. 넷째, 그래서 핀 세척 작업지시가 등록됐는데, 등록은 해야 할 정비가 기록됐다는 것이지 세척을 마쳤다는 게 아니에요. 정비 완료는 재가동 뒤 냉각 효율이 정비 완료 기준에 돌아왔는지로 봅니다. 이렇게 완료 기준은 조치의 목적을 따라갑니다. 보고할 때도 어떤 완료를 확인했는지 나눠 적어야, 다음 사람이 설비 상태를 잘못 읽지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정비 담당자가 핀 세척 작업지시를 걸기 전에 지식에서 무엇을 꺼내는지, 지금까지 나눈 연결을 실제 대상으로 따라가 보겠습니다. 왼쪽 아래 쿨러 냉각 성능 상실에서 선이 두 갈래로 나갑니다. 오른쪽으로 가는 즉시 완화의 끝이 팬 최대 운전이고, 위로 가는 근본 조치의 끝이 위 가운데 진한 원, 쿨러 핀 세척이에요. 두 조치의 차이는 왼쪽 위 원인으로 돌아가는 선에 있습니다. 핀 세척에서 쿨러 핀 오염으로 「이 원인을 다룬다」는 선이 있죠. 그래서 원인이 핀 오염으로 가려졌을 때만 핀 세척이 후보가 됩니다. 팬 최대 운전에는 이 선이 없어요. 원인을 다룬다는 연결이 없는 조치는 그 고장 유형의 어느 원인에도 쓸 수 있다는 뜻이라, 원인을 아직 못 가렸어도 후보가 됩니다. 핀 세척이 후보가 되면 나머지는 그 노드에 달린 선으로 따라 나옵니다. 오른쪽 아래가 첫 단계, 설비를 정지하고 잠금을 거는 일이고, 단계는 오른쪽의 근본 조치 절을 근거로 가리켜요. 오른쪽 위 설비보전팀장은 승인할 최소 역할이지 수행하는 주체가 아닙니다. 작업지시는 정비 관리 시스템이 발행하고, 세척은 현장 작업자가 하죠. 무엇을, 무엇에 근거해, 누구의 승인으로 하는지가 핀 세척 노드 하나에서 나오는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추천안이 나온 뒤 정비가 끝나기까지 어떤 기록이 남는지 시간 순서로 놓았습니다. 첫 줄은 절차의 정의예요. 팬 최대 운전의 단계 셋과 승인 역할은 사건 전부터 지식에 있었죠. 둘째 줄이 사람의 승인입니다. 운전원이 11시 14분 56초에 승인했고, 그 순간 시스템이 운전 모드와 설비 상태를 다시 읽어 원격 자동에 운전 중인 것을 확인했어요. 추천할 때 확인한 값이 승인할 때도 같다는 보장이 없으니까요. 셋째 줄이 실행 동작입니다. 단계는 사람이 읽고 확인하는 문장이고, 실행 동작은 더 쪼갤 수 없는 명령 하나나 업무 처리 하나예요. 조치 방법에 이어져 있다가, 사람이 한 번 승인한 뒤에야 프로세스 엔진이 실행합니다. 이 사건에서는 팬 속도를 100퍼센트로 맞추는 명령 하나가 설비로 갔고, 설비가 실행을 마쳤다고 답했어요. 넷째 줄 작업지시 발행도 실행 동작인데, 향한 곳이 설비가 아니라 정비 관리 시스템입니다. 재관측이 끝난 뒤 핀 세척이 배정 상태로 등록됐죠. 마지막 줄 현장 정비 완료에는 실행 동작이 없습니다. 정지, 잠금, 세척, 재가동 확인은 사람이 단계대로 해요. 이 다섯은 각각 다른 사실이라서, 명령이 처리됐다고 정비가 끝났다고 적으면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절차를 지식에 이었으니, 새 단원에서는 절차 속 조건 문장을 다룹니다. 화면의 세 표현은 모두 쿨러 매뉴얼에 실제로 있는 말이에요. 원격 자동일 때만 한다, 이미 24시간을 넘겼다면 감점한다, 예측 유온이 55도 이상이면 다른 조치와 비교한다. 급할 때는 하나쯤 놓칠 수 있고, 정확히 24시간이면 넘긴 건지 사람마다 다르게 읽을 수도 있죠. 이 단원에서는 이런 문장을 누가 따져도 같은 제외, 감점, 경고가 나오는 규칙으로 옮깁니다.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칸의 첫 줄, 답하는 물음부터 보세요. 왼쪽 SOP는 어떻게, 어떤 차례로 하는지에 답합니다. 「팬 속도를 100퍼센트로 올린다」는 값을 몰라도 무엇을 할지 읽히죠. 오른쪽 DMN은 업무 의사결정을 정의하는 표준이에요. 국제 표준 단체인 OMG가 정했습니다. DMN이 답하는 물음은 지금 이 조치를 해도 되는가예요. 오른쪽 원문 「원격 조치는 원격 자동이 아닐 때 쓰지 않는다」는 지금 모드가 무엇인지 모르면 답을 낼 수 없습니다. 그래서 맨 아래처럼 운전 모드가 원격 자동과 다르면 제외한다는 조건과 출력으로 옮기고, 판단하는 시점의 값에 대어 참인지 거짓인지를 정해요. 그렇다고 둘이 서로를 대신하지는 않습니다. 왼쪽 마지막 줄처럼 절차 안에도 모드를 확인하는 단계가 남아 있어요.</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조건을 따지려면 먼저 값을 가져와야겠죠. 판단에 어떤 값이 필요한지를 정해 둔 항목이 입력 데이터입니다. 결정표가 아는 건 입력의 이름과 기준뿐이고, 값은 판정하는 순간 정해진 출처에서 읽어 와요. 그래서 같은 표 하나로 매번 다른 상황을 가릴 수 있습니다. 다섯 줄을 보면 얻는 곳과 뜻이 서로 다릅니다. 운전 모드와 PLC 상태는 SCADA에서 PLC의 지금 상태를 읽어요. 셋째 줄, 팬이 최대로 이어서 돈 시간은 지금 팬 속도 하나로는 알 수 없고 운전 이력을 거슬러 계산해야 해요. 쿨러 사건은 팬이 60퍼센트로 돌고 있어서 0시간이었습니다. 여기서 기록이 없으면 0이 아니라 모르는 값이라는 점을 기억해 두세요. 넷째 줄, 조치 뒤의 예측 유온은 관측한 온도가 아니라 그 조치를 했을 때 머물 값을 후보마다 따로 계산한 겁니다. 팬 최대 운전은 50도가 채 안 되고, 핀 세척은 60도를 넘었어요. 세척은 지금 유온을 내리지 못하니까요. 마지막 줄 조치의 종류는 앞 단원에서 본 그 값입니다. 출처를 함께 적어 두면, 예측 칸에 지금 온도를 넣는 것 같은 실수도 줄어요.</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입력이 정해졌으면 그 값으로 답할 물음이 필요합니다. 화면 맨 위, 후보 가운데 규정상 쓸 수 없거나 감점할 것은 무엇인가. 이 물음이 결정이고, 그 물음에 답하는 규칙을 모은 것이 결정표, 표의 한 행이 규칙이에요. 매뉴얼의 조건 문장 하나가 규칙 한 행이 되고, 왼쪽 조건과 오른쪽 출력으로 나뉩니다. 세 행을 읽어 볼게요. 첫 행은 원격 자동이 아니면 원격 제어 셋을 제외하고, 둘째 행은 팬을 24시간 넘게 최대로 돌렸으면 팬 최대 운전 둘에 20만 원을 감점하고, 셋째 행은 예측 유온이 55도 이상이면 모든 후보에 경고를 붙입니다. 행마다 대상이 적혀 있죠. 조건이 맞는지와 그 조건이 누구에게 걸리는지는 따로 봐야 합니다. 아래에 쿨러 사건의 실제 입력을 넣었습니다. 원격 자동, 연속 0시간이에요. 팬 최대 운전은 예측 유온도 기준 아래라 세 행 어디에도 걸리지 않습니다. 핀 세척은 앞의 두 행의 대상이 아니고, 예측 유온이 높아서 셋째 행만 맞아 경고가 붙었어요. 실제 추천안에도 핀 세척에만 이 경고가 적혀 나왔습니다. 같은 표에 같은 입력이면 사람이 따지든 시스템이 따지든 이 결과가 나오고, 그래서 추천안의 근거를 누구든 다시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 한 줄은 세 부분으로 적습니다. 비교할 입력, 비교하는 방법인 연산자, 그리고 기준값이에요. 연산자는 같다, 다르다, 초과, 이상, 미만, 이하의 여섯 가지입니다. 표의 왼쪽이 원문의 표현, 가운데가 옮긴 조건이고, 오른쪽은 입력이 기준값과 정확히 같을 때의 결과예요. 첫 줄이 가장 조심할 곳입니다. 원문은 「원격 자동일 때만 한다」는 허용 문장인데, 표에서는 뒤집어서 원격 자동과 다르면 제외하는 행으로 적어요. 허용 조건을 행마다 다 적는 대신, 걸리면 빠지는 쪽으로 적는 겁니다. 둘째와 셋째 줄은 말로는 비슷한 「넘으면」과 「이상이면」이에요. 넘으면은 초과라서 정확히 24시간은 맞지 않고, 이상이면은 정확히 55도도 맞습니다. 넷째 줄 미만은 회복 판정의 기준이고요. 다섯째 줄처럼 트립인지 같은 이름으로 된 값은 같다, 다르다로 비교합니다. 마지막 줄은 단위예요. 원문은 시간 단위인데 입력이 분으로 들어온다면 숫자 크기만 비교해서는 안 되겠죠. 그래서 어떤 값을 비교할지 정하고, 같은 단위의 기준값을 놓고, 원문의 포함 여부에 맞는 부호를 고르는 순서로 옮깁니다.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옮긴 규칙은 값을 넣어 확인하는데, 무엇을 넣느냐가 문제입니다. 표의 왼쪽이 넣어 본 입력, 가운데가 바르게 옮긴 행의 판정, 오른쪽이 부호를 하나 바꿔 옮겼다고 가정한 행의 판정이에요. 맨 윗줄은 쿨러 사건의 실제 값입니다. 핀 세척의 예측 유온 62.5도는 이상으로 옮기든 초과로 옮기든 경고가 붙어요. 다섯째 줄 팬 연속 운전 0시간도 어느 부호로 옮기든 감점이 없죠. 사건 값으로만 시험하면 부호를 잘못 옮겨도 결과가 맞아 보이고, 실수가 그대로 남습니다. 55도나 24시간처럼 판정이 갈리는 기준값을 임계값이라고 해요. 임계값 바로 아래, 같은 값, 바로 위를 넣어 보면 강조한 두 줄에서만 두 칸이 갈립니다. 정확히 55도에서 바른 행은 경고를 내는데 바꿔 옮긴 행은 내지 않고, 정확히 24시간에서는 바꿔 옮긴 행만 20만 원을 감점하죠. 그래서 사건 값만이 아니라 경계의 세 값을 넣어 봅니다. 이어지는 실습에서 경계 사례를 대입하는 것도 이 때문이에요.</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둘 이상일 때입니다. 위쪽은 실제 규정 표의 한 행이에요. 조치가 제어 종류인가, 그리고 운전 모드가 원격 자동이 아닌가, 이 두 검사를 한 행에 적고 출력을 제외로 뒀습니다. 한 행에 적은 검사는 모두 맞아야 출력이 나옵니다. 원격 수동에서 팬 최대 운전은 두 검사가 다 맞아 빠지고, 핀 세척은 첫 검사부터 거짓이라 이 행에 걸리지 않죠. 앞에서 핀 세척 작업지시가 어느 모드에서나 남았던 까닭이 이 행에서도 보입니다. 아래는 또는의 예예요. 과열로 트립이 났거나, 고장 유형이 과열 정지로 판정됐거나, 어느 쪽이든 냉각 후 리셋을 후보로 올립니다. 한 행에 「또는」을 적는 대신 같은 출력을 내는 행을 둘로 나눴어요. 어느 쪽이 맞아도 답이 나오고, 둘이 함께 맞을 수도 있습니다. 값이 두 기준 사이에 있어야 하는 범위도 하한 검사와 상한 검사를 한 행에 그리고로 묶어 적어요. 그러니 매뉴얼 문장을 옮길 때는 「그리고」인지 「또는」인지부터 가려야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맞았을 때 내는 출력도 무게가 다릅니다. 첫 줄 후보 선택은 후보를 올리는 출력이에요. 고장 유형이 냉각 성능 상실이라 완화 셋이 오르고, 원인이 핀 오염이라 핀 세척이 올라서 후보가 넷이 됐죠. 나머지는 오른 후보에 붙는 출력입니다. 제외는 비교 대상에서 빼고, 냉각 효과가 아무리 좋아도 점수로 되살리지 않아요. 감점은 후보를 남기되 비교 점수를 깎고, 경고는 남기되 승인하는 사람이 확인할 점을 붙입니다. 마지막 줄이 중요합니다. 제외되지 않고 남았다고 실행이 허가된 건 아니에요. 사람의 승인을 한 번 거치고, 수행하는 시점에 상태를 다시 확인하고, 절차의 제한을 지켜야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하나를 적는 법은 갖췄습니다. 이 단원에서는 행들이 모인 표 전체에 실제 입력을 넣어 봅니다. 여러 행이 함께 맞거나 행끼리 부딪치면 무엇을 답으로 삼는지, 필요한 값을 얻지 못하면 어떻게 하는지, 그리고 그 판정을 나중에 되짚으려면 무엇을 남겨야 하는지예요.</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 후보에 일부러 나쁜 입력을 넣어 봤습니다. 쿨러 사건의 값이 아니라 가정이에요. 운전 모드는 원격 수동, 팬은 이미 30시간을 최대로 돌았고, 예측 유온은 56도입니다. 가운데를 보면 세 행이 모두 맞아요. 표가 잘못된 게 아니라 이 입력에는 정말 셋 다 해당하는 겁니다. 표에서 행이 입력에 맞는 것을 hit이라고 하고, 여러 행이 맞을 때 무엇을 답으로 삼을지 표마다 정해 둔 것이 Hit Policy예요. 규정 적합성 표는 Collect로 정해져 있습니다. 맞은 행의 출력을 빠짐없이 모으는 방식이죠. 아래 결과가 세 칸에 나뉘어 담깁니다. 제외 사유, 감점, 경고예요. 제외 사유가 하나라도 있으니 이 후보는 비교에서 빠지는데, 감점과 경고 사유도 지워지지 않고 같이 남습니다. 운전 모드가 돌아와도 팬의 연속 운전 시간과 높은 예측 유온은 여전히 문제로 남는다는 걸 승인하는 사람이 알 수 있는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입력을 다른 Hit Policy로 처리하면 어떻게 될까요? 오른쪽 칸이 앞 장 입력에 대한 답입니다. Unique는 겹쳐 맞는 행 자체를 허용하지 않아요. 셋이 맞았으니 하나를 골라 주는 게 아니라 표가 잘못됐다고 알립니다. First는 행의 차례대로 보아 처음 맞은 행을 쓰는데, 차례가 화면의 순서라면 제외 하나만 남아요. Priority는 출력에 매겨 둔 우선순위로 하나를 고르는데, 제외를 가장 높게 매겼다면 역시 제외만 남습니다. Collect는 셋을 모두 모으고요. 여기서 눈여겨볼 건, First와 Priority도 후보를 뺀다는 결론은 같다는 점이에요. 차이는 남는 근거입니다. 감점과 경고 사유가 사라지면, 운전 모드만 바로잡으면 되는 줄 알고 다시 팬을 최대로 올리게 될 수 있죠. 그래서 맨 아래 기준처럼, 사유를 빠짐없이 보여야 하는 후보 선택 표와 규정 표는 Collect로 둡니다. 반대로 답이 꼭 하나여야 하는 표, 예컨대 적용할 순위 정책을 고르는 표는 Unique로 둬요.</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행이 늘어날수록 틈도 겹침도 생기기 쉽습니다. 문장이 그럴듯한지만 봐서는 찾기 어렵고, 대표 값, 경계 값, 겹치는 값을 넣어 봐야 드러나요. 첫 줄은 55도 미만과 60도 이상만 적어 둔 가정의 표입니다. 57도처럼 그 사이 값을 넣으면 맞는 행이 하나도 없죠. 처리하려던 입력에 표가 아무 말도 못 하는 것, 누락이에요. 둘째 줄은 같은 뜻의 제외 행이 둘 있는 중복입니다. 당장 틀린 답은 아니지만, 나중에 한 행만 고치면 표가 어긋나요. 셋째 줄은 저장소에 실제로 있는 두 행입니다. 예측 유온 55도 이상이면 경고, 65도 이상이면 제외. 66도를 넣으면 경고와 제외가 함께 나와요. 다른 답이 부딪치는 상충처럼 보이지만, 모으는 표라면 일부러 그렇게 둔 겹침일 수 있습니다. 제외되면서 경고도 남으니까요. 그래서 겹쳤다고 무조건 틀렸다고 하지 않고 표의 목적과 정책을 같이 봅니다. 마지막 줄은 이 시스템이 막아 주는 것이에요. 순위 정책 행이 둘 맞으면 고르지 않고 거절하고, 사람이 읽는 조건 문장과 실제 검사식이 다르면 검사기가 잡습니다. 맞는 행이 없는 틈은 앞에서처럼 시험 입력을 넣어 찾아야 하고요.</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통신이 끊겨 운전 모드를 읽지 못했다고 해 볼게요. 원격 자동일까요, 수동일까요? 둘 중 하나로 찍어 넣으면 안 됩니다. 모르는 상태예요. 이 시스템은 모르는 값이 든 조건을 맞았다고도, 맞지 않았다고도 하지 않습니다. 첫 줄, 원격 제어 셋은 제외 규칙의 값을 모르니 제외 쪽으로 두고 「확인되지 않은 조건」이라고 사유를 남겨요. 모드를 모르는데 원격 제어가 된다고 판단하지 않는 거죠. 둘째 줄 핀 세척은 다릅니다. 그 규칙의 대상이 아니고, 종류와 모드를 함께 보는 행도 첫 검사가 이미 거짓이라 모르는 값과 상관없이 남아요. 셋째 줄은 운전 이력이 없을 때입니다. 0시간으로 채우면 24시간 제한을 넘긴 팬도 감점 없이 통과해 버리죠. 그래서 감점 규칙의 값을 모르면 이것도 제외 쪽으로 둡니다. 반면 넷째 줄처럼 경고 규칙의 값을 모르면 확인되지 않았다는 경고로 남겨요. 맨 아래는 모든 후보가 빠진 경우입니다. 값을 몰라서일 수도 있고, 값을 알아도 설비가 트립 상태면 리셋 말고는 다 빠져요. 이때는 추천을 내지 않고 사유를 보여 줍니다. 빈 추천을 피하려고 조건을 몰래 풀지 않아요.</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핀 세척에 경고가 붙었다는 결과만 받으면, 승인하는 사람은 무엇을 확인해야 할까요? 화면 왼쪽을 위에서 아래로 읽어 보겠습니다. 맨 위는 걸린 규칙입니다. 어느 규칙인지, 판정은 경고라는 것, 걸린 조건, 근거 절이 적혀 있어요. 그 근거 절을 따라가면 맨 아래 매뉴얼 원문에 닿죠. DMN에서는 이렇게 규칙의 근거가 되는 문서를 지식 출처라고 부르고, 그래프에서는 규칙이 매뉴얼 절을 가리키는 관계로 남깁니다. 규칙 자체가 타당한지 따질 때 쓰는 근거예요. 가운데는 판정에 쓴 값입니다. 그때 계산한 예측 유온이 62.5도였다는 기록이죠. 지금 센서 값을 다시 읽어서는 과거 판정을 재현할 수 없어요. 값이 이미 바뀌었을 수 있으니까요. 그 아래는 행마다 맞았는지, 맞지 않았는지, 값을 몰랐는지를 남긴 평가 기록입니다. 맞지 않은 행까지 남아야 무엇을 검사했는지, 앞 장처럼 모르는 값을 어떻게 다뤘는지까지 나중에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 한 장을 가까이 들여다봤으니, 이번 단원에서는 한 걸음 물러섭니다. 경보에서 승인까지 판단이 어떤 차례로 이어지는지, 규칙이 지식 그래프에 어떻게 저장되는지 보고, 마지막으로 결정표가 대신할 수 없는 절차의 몫을 가리겠습니다.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왼쪽부터 다섯 단계입니다. 첫 단계 원인 진단은 증거의 가중치로 원인 순위를 매겨 쿨러 핀 오염을 가렸어요. 이 단계는 결정표 평가가 아니라 따로 계산합니다. 원인이 유력하다는 판단이 곧 어떤 조치의 높은 점수가 되는 것도 아니고요. 둘째 단계에서 후보 선택 표가 고장 유형과 원인에 맞는 조치를 모아 후보 넷이 됐고, 셋째 규정 검사에서 넷 모두 남되 핀 세척에만 경고가 붙었습니다. 두 표 모두 빠짐없이 모으는 Collect죠. 넷째는 남은 후보를 견주는 단계예요. 순위 정책 하나를 Unique로 적용하는데, 후보를 하나로 줄인다는 뜻이 아니라 적용할 정책이 하나라는 뜻입니다. 무엇을 기준으로 견주는지는 다음 회차의 주제예요. 마지막이 사람의 승인과 수행입니다. 승인 순간 모드와 상태를 다시 읽고, 수행은 SOP의 단계대로 하죠. 이렇게 나눠 두면 결과가 이상할 때 볼 곳이 분명합니다. 엉뚱한 조치가 후보에 들어왔으면 고장과 조치의 연결을, 수동 운전인데 원격 제어가 남았으면 규정 표의 입력과 조건을 봐요.</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결정표의 한 행이 그래프에 어떻게 저장되는지, 이번 시간 내내 본 운전 모드 규칙으로 따라가 보겠습니다. 왼쪽 위 규정 적합성이 결정이고, 그 결정을 구현하는 결정표로 내려가요. 그 표에 든 행 하나가 가운데 진한 원, 원격 조치를 제외하는 규칙입니다. 규칙에서 나간 선 셋을 보세요. 아래로는 검사하는 입력인 PLC 운전 모드에 이어지고, 그 선에 연산자 「다르다」와 기준값 원격 자동이 실려 있어요. 앞에서 배운 관계의 속성이죠. 오른쪽으로는 근거가 된 금지와 제한 절, 오른쪽 위로는 걸리는 조치인 팬 최대 운전으로 이어집니다. 나머지 원격 조치 둘에도 같은 선이 있고요. 이제 팬 최대 운전 노드의 오른쪽을 보세요. 앞 단원에서 본 단계가 바로 이 노드에 달려 있고, 첫 단계가 운전 모드가 원격 자동인지 확인하는 일입니다. 그 단계는 즉시 완화 조치 절을 근거로 가리켜요. 규칙은 판단하는 시점에 모드를 검사해 후보를 거르고, 단계는 작업하는 사람이 모드를 확인하게 합니다. 절차와 규칙이 따로 저장되지 않고 같은 조치 노드에서 만나니까, 어떤 조치에 어떤 규칙이 걸리는지, 규칙과 단계가 매뉴얼의 어느 절에서 왔는지를 한 노드에서 따라갈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단계 더 들어가서, DMN이라는 표준과 지금 쓰는 구조의 관계를 짚겠습니다. DMN의 개념으로 판단을 설명할 수 있다는 것과 표준 모델을 그대로 실행한다는 건 다른 얘기예요. 첫 줄, 표준에는 FEEL이라는 식 언어가 있어서 범위나 목록 같은 조건도 식 하나로 적습니다. 이 시스템은 검사 하나에 연산자 하나, 값 하나예요. 범위는 앞에서 본 것처럼 검사 둘을 한 행에 묶고, 또는은 행을 나눕니다. 둘째 줄, 표준의 Hit Policy는 일곱 가지인데 여기서는 Unique, Priority, Collect 셋만 씁니다. 셋째 줄이 가장 중요해요. 표준에서는 DMN 모델 파일을 엔진이 읽어 실행하지만, 이 시스템에는 그런 엔진이 없고 그래프에 저장된 규칙을 평가 함수가 읽어 판정합니다. 추천안을 만드는 에이전트도 규칙 문장을 그때그때 해석하지 않고 이 함수의 결과를 근거로 써요. 넷째 줄, 그래서 표에 선언한 처리 방식과 함수의 평가 방식이 다르면 판정을 내지 않고 거절합니다. 선언은 모으기인데 실제 계산이 다르면 결과를 표만 보고 설명할 수 없으니까요. 이 구분을 알고 있으면, 표준 파일을 가져왔을 때 어떤 식이든 그대로 돌아갈 거라고 기대하지 않게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 처음에 남겨 둔 마지막 물음으로 돌아가 보죠. 조건을 결정표로 옮겼으면 절차는 필요 없을까요? 팬 최대 운전과 핀 세척의 문장 다섯을 하나씩 가려 보겠습니다. 첫 줄, 원격 자동인지 확인하라는 문장은 제외 규칙으로 옮겨집니다. 그래도 절차에는 승인 순간 다시 확인하는 단계가 남아요. 쿨러 사건에서도 승인하는 순간 모드를 다시 읽었죠. 둘째 줄, 연속 24시간 이내는 감점 규칙이 되지만, 감점은 비교에 쓰는 값이고 실제로 그 시간을 지켜 운전하는 일은 절차에 남습니다. 셋째 줄부터는 옮기지 않아요. 15분 재관측으로 회복을 판정하는 건 조치를 한 뒤에야 값이 생기니, 판단 시점의 결정표로는 가릴 수 없습니다. 정지, 현장 제어, 잠금은 현장에서 사람이 확인하는 안전 조건이고요. 마지막 줄, 고압수를 쓰지 않는다는 문장은 판정할 입력 값 자체가 없는 작업 방법의 금지 사항입니다. 결정표에 규칙이 없다고 허용되는 게 아니라, 이런 금지는 절차에 그대로 남아요. 결정표는 판단 시점의 값으로 가릴 수 있는 조건을 누가 따져도 같게 만들고, 절차는 사람이 무엇을 어떤 차례로 하고 언제 끝내는지를 지킵니다. 그래서 절차를 모두 규칙으로 바꿀 수는 없어요.</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마지막 실습에서는 작업 기준에서 조건을 직접 찾아 표로 옮기고, 사례 입력에 대어 판정해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자료는 작업 기준과 매뉴얼 원문, 저장소에서 발췌한 규칙 다섯입니다. 화면의 카드 네 장이 하는 차례입니다. 첫 카드, 원문에서 온도, 압력, 운전 모드, 설비 상태를 비교하는 조건을 찾아요. 둘째 카드, 그 조건을 입력, 연산자, 기준값과 단위, 적용 조치, 결과로 나누어 조건표에 적고, 경고와 감점, 제외를 구별합니다. 셋째 카드, 사례를 한 줄씩 대입합니다. 기준값 바로 아래, 같은 값, 바로 위를 견주고, 제외 사유가 겹친 사례는 사유를 모두 남겨요. 입력이 빠진 사례는, 알려진 제외 사유가 있으면 제외하면서 빠진 항목을 남기고, 제외 사유가 없으면 이 실습의 검토 기록에서는 보류로 둡니다. 앞에서 본 시스템의 처리와는 다른, 수업 검토용 약속이에요. 마지막 카드, 조건을 통과한 후보에도 승인과 작업 단계, 현장 안전 조건이 남는다는 것, 그리고 판단 결과에서 원문 절까지 되짚을 수 있는지를 확인하며 마무리합니다.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조건표까지 만들어 봤으니, 이번 회차에서 배운 것을 쿨러 성능 저하 경보 하나로 되짚어 보겠습니다. 표의 왼쪽 물음마다 답이 어디에 있는지, 오른쪽의 헷갈리기 쉬운 짝을 먼저 스스로 가려 보세요. 첫째, 유온의 한계는 센서가 아니라 센서에서 건너간 상태 변수에 있습니다. 센서를 바꿔도 기준이 한 곳에 남도록 그렇게 뒀죠. 둘째, 「오일 온도」라고 불러도 식별자가 하나라서 같은 유온에 닿습니다. 이름은 바뀌고 겹칠 수 있어도 식별자는 바꾸지 않아요. 셋째, 쿨러의 센서를 찾는 쿼리는 저장된 방향대로 구성 요소에서 센서로 적습니다. 결과가 0행이라고 연결이 없다는 뜻은 아닐 수 있어요. 넷째, 팬 최대 운전을 지금 해도 되는지는 규정 결정표의 규칙에 그때의 입력을 대어 가립니다. 제외는 빠지는 것이고, 감점과 경고는 남되 깎이거나 확인할 점이 붙는 거죠. 다섯째, 어떤 차례로 하고 언제 끝나는지는 SOP의 단계와 완료 기준에 있습니다. 경보가 꺼진 것과 완화에 성공한 것은 다른 기준이었어요.</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용어를 정식 명칭과 뜻으로 정리하겠습니다. 표의 위에서부터 읽겠습니다. 클래스는 같은 정의를 따르는 대상의 유형이고, 인스턴스는 그 유형에 속하는 실제 대상 하나예요. 카디널리티는 관계 한쪽 대상 하나에 반대쪽 대상이 몇 개까지 이어질 수 있는지입니다. 스키마는 클래스, 속성, 관계, 제약을 일관되게 정한 지식 구조의 정의이고, 식별자는 같은 대상을 하나로 가리키는, 바꾸지 않는 고유한 값이죠. 제약은 데이터가 지켜야 할 조건으로, 어긋난 데이터를 가려내는 기준입니다. Cypher 쿼리는 노드와 관계의 패턴으로 그래프 DB를 조회하고 만드는 질의 문장이에요. SOP는 작업의 순서와 전제, 안전, 금지, 완료 기준을 정한 표준 작업 절차입니다. DMN은 의사결정을 정의하는 표준이고, 결정표는 입력 조건에 따른 출력을 규칙 행으로 정한 표예요. 마지막으로 Hit Policy는 한 입력에 여러 규칙 행이 맞을 때 결과를 정하는 방식이에요.</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퀴즈 세 문제로 배운 구분을 판단에 써 보겠습니다. 문제마다 보기를 듣고 잠깐 멈출 테니 그때 답을 골라 보세요. 정답과 까닭은 세 문제를 다 본 뒤에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문제입니다. 쿨러를 계측하는 센서를 찾으려고 센서에서 구성 요소로 향하는 계측 관계의 패턴으로 조회했더니 결과가 0행이었어요. 먼저 할 판단으로 맞는 것은 무엇일까요? 1번, 쿨러에 센서가 없다는 뜻이니 센서를 새로 등록한다. 2번, 센서에서 쿨러로 가는 관계를 새로 만든다. 3번, 중복을 없애고 다시 실행한다. 4번, 저장된 방향대로 화살표를 고쳐 다시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팬이 최대로 이어서 돈 시간을 운전 이력에서 얻지 못한 채, 팬 최대 운전 후보를 규정 적합성 표에 대었어요. 이 후보의 처리로 맞는 것은? 1번, 값이 없으니 0시간으로 채워 감점 없이 비교한다. 2번, 확인되지 않은 조건으로 제외 쪽에 두고 사유를 남긴다. 3번, 감점 규칙만 건너뛰고 나머지 규칙으로 통과시킨다. 4번, 결정표의 오류로 보고 판단 전체를 멈춘다.</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문제입니다. 원격 자동인 설비에서 팬이 100퍼센트로 정확히 24시간을 이어서 돌았고, 팬 최대 운전이 감점 없이 후보에 올랐어요. 결정표와 SOP에 비추어 맞는 판단은? 1번, 감점이 없으니 연속 운전 제한도 지금은 걸리지 않는다. 2번, 24시간에 닿았으니 감점이 빠진 것은 표의 오류이다. 3번, 감점은 붙지 않지만 SOP의 24시간 이내 제한은 규칙과 별도로 지킨다. 4번, 경계값에 걸린 입력이라 판정 전체를 보류한다.</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답과 까닭을 맞춰 보겠습니다. 첫 문제는 4번이에요. 계측 관계는 구성 요소에서 센서로 저장돼 있어서, 화살표를 거꾸로 적으면 연결이 있어도 찾지 못합니다. 1번과 2번은 0행을 연결이 없다는 뜻으로 읽고 데이터를 고쳐 버린 거라, 같은 센서가 둘이 되거나 스키마에 없는 방향의 관계가 생겨요. 3번의 중복 제거는 행을 줄이는 일이지 없는 행을 찾아 주지 않습니다. 두 번째는 2번입니다. 모르는 값은 통과도 0도 아니에요. 0으로 채운 1번은 제한을 넘긴 팬을 감점 없이 통과시키고, 3번은 모르는 조건을 맞지 않은 것처럼 다룬 겁니다. 감점 규칙의 값을 모르면 제외 쪽에 두고 사유를 남겨서, 담당자가 값을 확인하거나 다른 조치를 고를 수 있게 해요. 4번처럼 판단 전체를 멈출 일도 아닙니다. 값을 모르는 건 표의 오류가 아니고, 다른 후보는 그대로 판정할 수 있으니까요. 세 번째는 3번입니다. 「넘으면」은 초과라서 정확히 24시간은 감점 조건에 맞지 않아요. 그래서 2번처럼 표의 오류가 아닙니다. 그런데 감점이 없다는 건 비교에서 깎이지 않는다는 뜻일 뿐, SOP의 24시간 이내 제한이 사라진 게 아니에요. 1번은 규칙의 판정과 절차의 제한을 섞은 거고, 4번처럼 경계값이라고 판정을 미룰 이유도 없습니다. 이번 회차에서는 현장의 대상을 클래스와 관계로 나눠 스키마로 정의하고, 그래프에 저장해 쿼리로 찾았고, 그 지식에 작업 절차와 판단 조건을 이었습니다. 다음 회차에서는 규칙을 통과한 후보들 가운데 무엇이 나은지를 성과와 비용으로 견주고, 현장 문서를 검토 가능한 지식으로 바꾸는 과정을 보겠습니다. 수고 많으셨습니다.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1.png"/><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3.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4.png"/><Relationship Id="rId7"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2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2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26.png"/><Relationship Id="rId4" Type="http://schemas.openxmlformats.org/officeDocument/2006/relationships/image" Target="../media/image18.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27.png"/><Relationship Id="rId4" Type="http://schemas.openxmlformats.org/officeDocument/2006/relationships/image" Target="../media/image14.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2회차 · 지식 구조와 절차·조건 연결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지식 구조와 작업 판단의 설계</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800" b="0">
                <a:solidFill>
                  <a:srgbClr val="C6D0DE"/>
                </a:solidFill>
                <a:latin typeface="맑은 고딕"/>
                <a:ea typeface="맑은 고딕"/>
                <a:cs typeface="맑은 고딕"/>
              </a:rPr>
              <a:t>현장 지식을 설계하고 그래프에서 찾으며, 작업 절차와 판단 조건으로 연결한다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category" descr="categor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hema" descr="schema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경보에 답할 지식을 대상 · 관계 · 스키마로 세우고, 그래프로 찾아 조치를 낼지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클래스 · 인스턴스와 관계</a:t>
            </a:r>
          </a:p>
          <a:p>
            <a:pPr algn="l" eaLnBrk="0" marL="154305" indent="-154305">
              <a:lnSpc>
                <a:spcPct val="110000"/>
              </a:lnSpc>
              <a:spcAft>
                <a:spcPts val="400"/>
              </a:spcAft>
            </a:pPr>
            <a:r>
              <a:rPr sz="1350" b="0">
                <a:solidFill>
                  <a:srgbClr val="1F2A3A"/>
                </a:solidFill>
                <a:latin typeface="맑은 고딕"/>
                <a:ea typeface="맑은 고딕"/>
                <a:cs typeface="맑은 고딕"/>
              </a:rPr>
              <a:t>• HYD-01 · 오일 쿨러 · 유온 센서를 종류와 실제 대상으로 가른다</a:t>
            </a:r>
          </a:p>
          <a:p>
            <a:pPr algn="l" eaLnBrk="0" marL="154305" indent="-154305">
              <a:lnSpc>
                <a:spcPct val="110000"/>
              </a:lnSpc>
              <a:spcAft>
                <a:spcPts val="400"/>
              </a:spcAft>
            </a:pPr>
            <a:r>
              <a:rPr sz="1350" b="0">
                <a:solidFill>
                  <a:srgbClr val="1F2A3A"/>
                </a:solidFill>
                <a:latin typeface="맑은 고딕"/>
                <a:ea typeface="맑은 고딕"/>
                <a:cs typeface="맑은 고딕"/>
              </a:rPr>
              <a:t>• 경보에서 교체품까지 방향과 연결 수를 정해 잇는다</a:t>
            </a:r>
          </a:p>
        </p:txBody>
      </p:sp>
      <p:sp>
        <p:nvSpPr>
          <p:cNvPr id="10" name="Rounded Rectangle 9"/>
          <p:cNvSpPr/>
          <p:nvPr/>
        </p:nvSpPr>
        <p:spPr>
          <a:xfrm>
            <a:off x="777240" y="5429504"/>
            <a:ext cx="15239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경보를 따라갈 길</a:t>
            </a:r>
          </a:p>
        </p:txBody>
      </p:sp>
      <p:sp>
        <p:nvSpPr>
          <p:cNvPr id="12" name="Rounded Rectangle 11"/>
          <p:cNvSpPr/>
          <p:nvPr/>
        </p:nvSpPr>
        <p:spPr>
          <a:xfrm>
            <a:off x="3390823"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4608"/>
            <a:ext cx="731520" cy="731520"/>
          </a:xfrm>
          <a:prstGeom prst="ellipse">
            <a:avLst/>
          </a:prstGeom>
          <a:solidFill>
            <a:srgbClr val="E7F3FD"/>
          </a:solidFill>
          <a:ln>
            <a:noFill/>
          </a:ln>
        </p:spPr>
        <p:txBody>
          <a:bodyPr rtlCol="0" anchor="ctr"/>
          <a:lstStyle/>
          <a:p>
            <a:pPr algn="ctr"/>
          </a:p>
        </p:txBody>
      </p:sp>
      <p:pic>
        <p:nvPicPr>
          <p:cNvPr id="14" name="아이콘:schema" descr="schema_13294B_1.6.png"/>
          <p:cNvPicPr>
            <a:picLocks noChangeAspect="1"/>
          </p:cNvPicPr>
          <p:nvPr/>
        </p:nvPicPr>
        <p:blipFill>
          <a:blip r:embed="rId4"/>
          <a:stretch>
            <a:fillRect/>
          </a:stretch>
        </p:blipFill>
        <p:spPr>
          <a:xfrm>
            <a:off x="3773043" y="2478227"/>
            <a:ext cx="424281" cy="424281"/>
          </a:xfrm>
          <a:prstGeom prst="rect">
            <a:avLst/>
          </a:prstGeom>
        </p:spPr>
      </p:pic>
      <p:sp>
        <p:nvSpPr>
          <p:cNvPr id="15" name="TextBox 14"/>
          <p:cNvSpPr txBox="1"/>
          <p:nvPr/>
        </p:nvSpPr>
        <p:spPr>
          <a:xfrm>
            <a:off x="3555415"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스키마 설계</a:t>
            </a:r>
          </a:p>
          <a:p>
            <a:pPr algn="l" eaLnBrk="0" marL="154305" indent="-154305">
              <a:lnSpc>
                <a:spcPct val="110000"/>
              </a:lnSpc>
              <a:spcAft>
                <a:spcPts val="400"/>
              </a:spcAft>
            </a:pPr>
            <a:r>
              <a:rPr sz="1350" b="0">
                <a:solidFill>
                  <a:srgbClr val="1F2A3A"/>
                </a:solidFill>
                <a:latin typeface="맑은 고딕"/>
                <a:ea typeface="맑은 고딕"/>
                <a:cs typeface="맑은 고딕"/>
              </a:rPr>
              <a:t>• 이름이 다른 같은 부품을 식별자 하나로 묶는다</a:t>
            </a:r>
          </a:p>
          <a:p>
            <a:pPr algn="l" eaLnBrk="0" marL="154305" indent="-154305">
              <a:lnSpc>
                <a:spcPct val="110000"/>
              </a:lnSpc>
              <a:spcAft>
                <a:spcPts val="400"/>
              </a:spcAft>
            </a:pPr>
            <a:r>
              <a:rPr sz="1350" b="0">
                <a:solidFill>
                  <a:srgbClr val="1F2A3A"/>
                </a:solidFill>
                <a:latin typeface="맑은 고딕"/>
                <a:ea typeface="맑은 고딕"/>
                <a:cs typeface="맑은 고딕"/>
              </a:rPr>
              <a:t>• 자료형 · 필수값 · 연결 제약으로 잘못 들어온 값을 잡는다</a:t>
            </a:r>
          </a:p>
        </p:txBody>
      </p:sp>
      <p:sp>
        <p:nvSpPr>
          <p:cNvPr id="16" name="Rounded Rectangle 15"/>
          <p:cNvSpPr/>
          <p:nvPr/>
        </p:nvSpPr>
        <p:spPr>
          <a:xfrm>
            <a:off x="3619423" y="542950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29504"/>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함께 지킬 정의</a:t>
            </a:r>
          </a:p>
        </p:txBody>
      </p:sp>
      <p:sp>
        <p:nvSpPr>
          <p:cNvPr id="18" name="Rounded Rectangle 17"/>
          <p:cNvSpPr/>
          <p:nvPr/>
        </p:nvSpPr>
        <p:spPr>
          <a:xfrm>
            <a:off x="6233007" y="2123439"/>
            <a:ext cx="2567863"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4608"/>
            <a:ext cx="731520" cy="731520"/>
          </a:xfrm>
          <a:prstGeom prst="ellipse">
            <a:avLst/>
          </a:prstGeom>
          <a:solidFill>
            <a:srgbClr val="E7F3FD"/>
          </a:solidFill>
          <a:ln>
            <a:noFill/>
          </a:ln>
        </p:spPr>
        <p:txBody>
          <a:bodyPr rtlCol="0" anchor="ctr"/>
          <a:lstStyle/>
          <a:p>
            <a:pPr algn="ctr"/>
          </a:p>
        </p:txBody>
      </p:sp>
      <p:pic>
        <p:nvPicPr>
          <p:cNvPr id="20" name="아이콘:database-search" descr="database-search_13294B_1.6.png"/>
          <p:cNvPicPr>
            <a:picLocks noChangeAspect="1"/>
          </p:cNvPicPr>
          <p:nvPr/>
        </p:nvPicPr>
        <p:blipFill>
          <a:blip r:embed="rId5"/>
          <a:stretch>
            <a:fillRect/>
          </a:stretch>
        </p:blipFill>
        <p:spPr>
          <a:xfrm>
            <a:off x="6615226" y="2478227"/>
            <a:ext cx="424281" cy="424281"/>
          </a:xfrm>
          <a:prstGeom prst="rect">
            <a:avLst/>
          </a:prstGeom>
        </p:spPr>
      </p:pic>
      <p:sp>
        <p:nvSpPr>
          <p:cNvPr id="21" name="TextBox 20"/>
          <p:cNvSpPr txBox="1"/>
          <p:nvPr/>
        </p:nvSpPr>
        <p:spPr>
          <a:xfrm>
            <a:off x="6397599"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그래프 DB와 Cypher 쿼리</a:t>
            </a:r>
          </a:p>
          <a:p>
            <a:pPr algn="l" eaLnBrk="0" marL="154305" indent="-154305">
              <a:lnSpc>
                <a:spcPct val="110000"/>
              </a:lnSpc>
              <a:spcAft>
                <a:spcPts val="400"/>
              </a:spcAft>
            </a:pPr>
            <a:r>
              <a:rPr sz="1350" b="0">
                <a:solidFill>
                  <a:srgbClr val="1F2A3A"/>
                </a:solidFill>
                <a:latin typeface="맑은 고딕"/>
                <a:ea typeface="맑은 고딕"/>
                <a:cs typeface="맑은 고딕"/>
              </a:rPr>
              <a:t>• 설비에 달린 센서 · 부품을 MATCH · WHERE로 찾는다</a:t>
            </a:r>
          </a:p>
          <a:p>
            <a:pPr algn="l" eaLnBrk="0" marL="154305" indent="-154305">
              <a:lnSpc>
                <a:spcPct val="110000"/>
              </a:lnSpc>
              <a:spcAft>
                <a:spcPts val="400"/>
              </a:spcAft>
            </a:pPr>
            <a:r>
              <a:rPr sz="1350" b="0">
                <a:solidFill>
                  <a:srgbClr val="1F2A3A"/>
                </a:solidFill>
                <a:latin typeface="맑은 고딕"/>
                <a:ea typeface="맑은 고딕"/>
                <a:cs typeface="맑은 고딕"/>
              </a:rPr>
              <a:t>• CREATE · MERGE로 설계한 대상과 관계를 넣는다</a:t>
            </a:r>
          </a:p>
        </p:txBody>
      </p:sp>
      <p:sp>
        <p:nvSpPr>
          <p:cNvPr id="22" name="Rounded Rectangle 21"/>
          <p:cNvSpPr/>
          <p:nvPr/>
        </p:nvSpPr>
        <p:spPr>
          <a:xfrm>
            <a:off x="6461607" y="5429504"/>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찾고 넣기</a:t>
            </a:r>
          </a:p>
        </p:txBody>
      </p:sp>
      <p:sp>
        <p:nvSpPr>
          <p:cNvPr id="24" name="Rounded Rectangle 23"/>
          <p:cNvSpPr/>
          <p:nvPr/>
        </p:nvSpPr>
        <p:spPr>
          <a:xfrm>
            <a:off x="9075191" y="2123439"/>
            <a:ext cx="2567863"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4608"/>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478227"/>
            <a:ext cx="424281" cy="424281"/>
          </a:xfrm>
          <a:prstGeom prst="rect">
            <a:avLst/>
          </a:prstGeom>
        </p:spPr>
      </p:pic>
      <p:sp>
        <p:nvSpPr>
          <p:cNvPr id="27" name="TextBox 26"/>
          <p:cNvSpPr txBox="1"/>
          <p:nvPr/>
        </p:nvSpPr>
        <p:spPr>
          <a:xfrm>
            <a:off x="9239783" y="3147568"/>
            <a:ext cx="2238679" cy="2208784"/>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구현과 작업 판단</a:t>
            </a:r>
          </a:p>
          <a:p>
            <a:pPr algn="l" eaLnBrk="0" marL="154305" indent="-154305">
              <a:lnSpc>
                <a:spcPct val="110000"/>
              </a:lnSpc>
              <a:spcAft>
                <a:spcPts val="400"/>
              </a:spcAft>
            </a:pPr>
            <a:r>
              <a:rPr sz="1350" b="0">
                <a:solidFill>
                  <a:srgbClr val="1F2A3A"/>
                </a:solidFill>
                <a:latin typeface="맑은 고딕"/>
                <a:ea typeface="맑은 고딕"/>
                <a:cs typeface="맑은 고딕"/>
              </a:rPr>
              <a:t>• 설계한 그래프를 넣고 조회해 설계와 맞춘다</a:t>
            </a:r>
          </a:p>
          <a:p>
            <a:pPr algn="l" eaLnBrk="0" marL="154305" indent="-154305">
              <a:lnSpc>
                <a:spcPct val="110000"/>
              </a:lnSpc>
              <a:spcAft>
                <a:spcPts val="400"/>
              </a:spcAft>
            </a:pPr>
            <a:r>
              <a:rPr sz="1350" b="0">
                <a:solidFill>
                  <a:srgbClr val="1F2A3A"/>
                </a:solidFill>
                <a:latin typeface="맑은 고딕"/>
                <a:ea typeface="맑은 고딕"/>
                <a:cs typeface="맑은 고딕"/>
              </a:rPr>
              <a:t>• SOP의 순서와 DMN의 조건을 나눠 조치 허용 · 제외 표를 만든다</a:t>
            </a:r>
          </a:p>
        </p:txBody>
      </p:sp>
      <p:sp>
        <p:nvSpPr>
          <p:cNvPr id="28" name="Rounded Rectangle 27"/>
          <p:cNvSpPr/>
          <p:nvPr/>
        </p:nvSpPr>
        <p:spPr>
          <a:xfrm>
            <a:off x="9303791" y="5429504"/>
            <a:ext cx="15239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조치를 가를 근거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클래스 · 인스턴스와 관계</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01~02</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스키마 · 식별자 · 제약</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03~05</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그래프 DB와 Cypher 조회 · 생성</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06~07</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관계 조회 · 기준 지식 탐색</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1~2</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온톨로지 설계 · 그래프 구현</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3~4</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작업 절차와 수행 조건</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08~09</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결정표와 판단의 연결</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10~12</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조치 허용·제외 조건표</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5</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핵심 용어 · 복습 · 퀴즈</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정리</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클래스 · 인스턴스와 관계의 기초</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센서 교체 · 경보 원인 · 부품 주문에 쓰이도록 대상과 값, 관계를 나눈다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클래스와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클래스는 같은 종류가 따를 정의이고, 인스턴스는 실제 대상 하나라서 적은 줄 수가 아니라 대상 수만큼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클래스(Class)</a:t>
            </a:r>
          </a:p>
        </p:txBody>
      </p:sp>
      <p:sp>
        <p:nvSpPr>
          <p:cNvPr id="8" name="TextBox 7"/>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공통 특성을 가진 대상의 유형</a:t>
            </a:r>
          </a:p>
          <a:p>
            <a:pPr algn="l" eaLnBrk="0" marL="205740" indent="-205740">
              <a:lnSpc>
                <a:spcPct val="110000"/>
              </a:lnSpc>
              <a:spcAft>
                <a:spcPts val="600"/>
              </a:spcAft>
            </a:pPr>
            <a:r>
              <a:rPr sz="1800" b="0">
                <a:solidFill>
                  <a:srgbClr val="1F2A3A"/>
                </a:solidFill>
                <a:latin typeface="맑은 고딕"/>
                <a:ea typeface="맑은 고딕"/>
                <a:cs typeface="맑은 고딕"/>
              </a:rPr>
              <a:t>• 설비(Asset), 센서(Sensor)</a:t>
            </a:r>
          </a:p>
          <a:p>
            <a:pPr algn="l" eaLnBrk="0" marL="205740" indent="-205740">
              <a:lnSpc>
                <a:spcPct val="110000"/>
              </a:lnSpc>
              <a:spcAft>
                <a:spcPts val="600"/>
              </a:spcAft>
            </a:pPr>
            <a:r>
              <a:rPr sz="1800" b="0">
                <a:solidFill>
                  <a:srgbClr val="1F2A3A"/>
                </a:solidFill>
                <a:latin typeface="맑은 고딕"/>
                <a:ea typeface="맑은 고딕"/>
                <a:cs typeface="맑은 고딕"/>
              </a:rPr>
              <a:t>• 적을 속성과 맺을 관계를 정한다</a:t>
            </a:r>
          </a:p>
          <a:p>
            <a:pPr algn="l" eaLnBrk="0" marL="205740" indent="-205740">
              <a:lnSpc>
                <a:spcPct val="110000"/>
              </a:lnSpc>
              <a:spcAft>
                <a:spcPts val="600"/>
              </a:spcAft>
            </a:pPr>
            <a:r>
              <a:rPr sz="1800" b="0">
                <a:solidFill>
                  <a:srgbClr val="1F2A3A"/>
                </a:solidFill>
                <a:latin typeface="맑은 고딕"/>
                <a:ea typeface="맑은 고딕"/>
                <a:cs typeface="맑은 고딕"/>
              </a:rPr>
              <a:t>• 센서를 새로 달아도 다시 만들지 않는다</a:t>
            </a:r>
          </a:p>
        </p:txBody>
      </p:sp>
      <p:sp>
        <p:nvSpPr>
          <p:cNvPr id="9" name="Rounded Rectangle 8"/>
          <p:cNvSpPr/>
          <p:nvPr/>
        </p:nvSpPr>
        <p:spPr>
          <a:xfrm>
            <a:off x="868680" y="5382006"/>
            <a:ext cx="10210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공통 정의</a:t>
            </a:r>
          </a:p>
        </p:txBody>
      </p:sp>
      <p:sp>
        <p:nvSpPr>
          <p:cNvPr id="11" name="Rounded Rectangle 10"/>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인스턴스(Instance)</a:t>
            </a:r>
          </a:p>
        </p:txBody>
      </p:sp>
      <p:sp>
        <p:nvSpPr>
          <p:cNvPr id="13" name="TextBox 12"/>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그 유형에 속하는 실제 대상 하나</a:t>
            </a:r>
          </a:p>
          <a:p>
            <a:pPr algn="l" eaLnBrk="0" marL="205740" indent="-205740">
              <a:lnSpc>
                <a:spcPct val="110000"/>
              </a:lnSpc>
              <a:spcAft>
                <a:spcPts val="600"/>
              </a:spcAft>
            </a:pPr>
            <a:r>
              <a:rPr sz="1800" b="0">
                <a:solidFill>
                  <a:srgbClr val="1F2A3A"/>
                </a:solidFill>
                <a:latin typeface="맑은 고딕"/>
                <a:ea typeface="맑은 고딕"/>
                <a:cs typeface="맑은 고딕"/>
              </a:rPr>
              <a:t>• Asset: HYD-01 · HYD-02 · HYD-03</a:t>
            </a:r>
          </a:p>
          <a:p>
            <a:pPr algn="l" eaLnBrk="0" marL="205740" indent="-205740">
              <a:lnSpc>
                <a:spcPct val="110000"/>
              </a:lnSpc>
              <a:spcAft>
                <a:spcPts val="600"/>
              </a:spcAft>
            </a:pPr>
            <a:r>
              <a:rPr sz="1800" b="0">
                <a:solidFill>
                  <a:srgbClr val="1F2A3A"/>
                </a:solidFill>
                <a:latin typeface="맑은 고딕"/>
                <a:ea typeface="맑은 고딕"/>
                <a:cs typeface="맑은 고딕"/>
              </a:rPr>
              <a:t>• Sensor: 유온 센서 · 냉각 효율 채널</a:t>
            </a:r>
          </a:p>
          <a:p>
            <a:pPr algn="l" eaLnBrk="0" marL="205740" indent="-205740">
              <a:lnSpc>
                <a:spcPct val="110000"/>
              </a:lnSpc>
              <a:spcAft>
                <a:spcPts val="600"/>
              </a:spcAft>
            </a:pPr>
            <a:r>
              <a:rPr sz="1800" b="0">
                <a:solidFill>
                  <a:srgbClr val="1F2A3A"/>
                </a:solidFill>
                <a:latin typeface="맑은 고딕"/>
                <a:ea typeface="맑은 고딕"/>
                <a:cs typeface="맑은 고딕"/>
              </a:rPr>
              <a:t>• 같은 센서를 두 번 등록하면 둘로 세어진다</a:t>
            </a:r>
          </a:p>
        </p:txBody>
      </p:sp>
      <p:sp>
        <p:nvSpPr>
          <p:cNvPr id="14" name="Rounded Rectangle 13"/>
          <p:cNvSpPr/>
          <p:nvPr/>
        </p:nvSpPr>
        <p:spPr>
          <a:xfrm>
            <a:off x="6781647" y="5382006"/>
            <a:ext cx="1021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820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실제 대상</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속성과 속성값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속성(Property)은 값을 담는 항목이고, 같은 항목을 같은 형식으로 채워야 프로그램이 값을 찾고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속성</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유온 센서 · 냉각 효율 채널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현장에서 쓰는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식별자(id)</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sen:ts1 · sen:ce</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같은 센서는</a:t>
            </a:r>
          </a:p>
          <a:p>
            <a:pPr algn="l" eaLnBrk="0">
              <a:lnSpc>
                <a:spcPct val="110000"/>
              </a:lnSpc>
            </a:pPr>
            <a:r>
              <a:rPr sz="1250" b="1">
                <a:solidFill>
                  <a:srgbClr val="556175"/>
                </a:solidFill>
                <a:latin typeface="맑은 고딕"/>
                <a:ea typeface="맑은 고딕"/>
                <a:cs typeface="맑은 고딕"/>
              </a:rPr>
              <a:t>식별자 하나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이름(name)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센서 · 냉각 효율</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사람이 읽는 이름</a:t>
            </a:r>
          </a:p>
          <a:p>
            <a:pPr algn="l" eaLnBrk="0">
              <a:lnSpc>
                <a:spcPct val="110000"/>
              </a:lnSpc>
            </a:pPr>
            <a:r>
              <a:rPr sz="1250" b="1">
                <a:solidFill>
                  <a:srgbClr val="556175"/>
                </a:solidFill>
                <a:latin typeface="맑은 고딕"/>
                <a:ea typeface="맑은 고딕"/>
                <a:cs typeface="맑은 고딕"/>
              </a:rPr>
              <a:t>찾기는 식별자로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태그(tag)</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TS1 · CE</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계측 데이터를</a:t>
            </a:r>
          </a:p>
          <a:p>
            <a:pPr algn="l" eaLnBrk="0">
              <a:lnSpc>
                <a:spcPct val="110000"/>
              </a:lnSpc>
            </a:pPr>
            <a:r>
              <a:rPr sz="1250" b="1">
                <a:solidFill>
                  <a:srgbClr val="556175"/>
                </a:solidFill>
                <a:latin typeface="맑은 고딕"/>
                <a:ea typeface="맑은 고딕"/>
                <a:cs typeface="맑은 고딕"/>
              </a:rPr>
              <a:t>태그로 찾는다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단위(unit)</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 · %</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단위는 단위 칸에만</a:t>
            </a:r>
          </a:p>
          <a:p>
            <a:pPr algn="l" eaLnBrk="0">
              <a:lnSpc>
                <a:spcPct val="110000"/>
              </a:lnSpc>
            </a:pPr>
            <a:r>
              <a:rPr sz="1250" b="1">
                <a:solidFill>
                  <a:srgbClr val="556175"/>
                </a:solidFill>
                <a:latin typeface="맑은 고딕"/>
                <a:ea typeface="맑은 고딕"/>
                <a:cs typeface="맑은 고딕"/>
              </a:rPr>
              <a:t>값과 섞지 않는다</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계산 채널 여부(virtual)</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false: 직접 계측 · true: 다른 계측값으로 계산</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true면 계기가 없어</a:t>
            </a:r>
          </a:p>
          <a:p>
            <a:pPr algn="l" eaLnBrk="0">
              <a:lnSpc>
                <a:spcPct val="110000"/>
              </a:lnSpc>
            </a:pPr>
            <a:r>
              <a:rPr sz="1250" b="1">
                <a:solidFill>
                  <a:srgbClr val="1A6FC4"/>
                </a:solidFill>
                <a:latin typeface="맑은 고딕"/>
                <a:ea typeface="맑은 고딕"/>
                <a:cs typeface="맑은 고딕"/>
              </a:rPr>
              <a:t>값이 이상할 때</a:t>
            </a:r>
          </a:p>
          <a:p>
            <a:pPr algn="l" eaLnBrk="0">
              <a:lnSpc>
                <a:spcPct val="110000"/>
              </a:lnSpc>
            </a:pPr>
            <a:r>
              <a:rPr sz="1250" b="1">
                <a:solidFill>
                  <a:srgbClr val="1A6FC4"/>
                </a:solidFill>
                <a:latin typeface="맑은 고딕"/>
                <a:ea typeface="맑은 고딕"/>
                <a:cs typeface="맑은 고딕"/>
              </a:rPr>
              <a:t>계산에 쓰인 값부터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센서와 상태 변수: 한계를 둘 자리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상태 변수</a:t>
            </a:r>
            <a:r>
              <a:rPr sz="1600" b="0">
                <a:solidFill>
                  <a:srgbClr val="556175"/>
                </a:solidFill>
                <a:latin typeface="맑은 고딕"/>
                <a:ea typeface="맑은 고딕"/>
                <a:cs typeface="맑은 고딕"/>
              </a:rPr>
              <a:t>(StateVariable)는 센서가 재는 설비 상태의 물리량이라, 한계를 여기 두면 센서를 갈아도 기준이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630678"/>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한계를 센서에 적으면 (가정)</a:t>
            </a:r>
          </a:p>
        </p:txBody>
      </p:sp>
      <p:sp>
        <p:nvSpPr>
          <p:cNvPr id="8" name="TextBox 7"/>
          <p:cNvSpPr txBox="1"/>
          <p:nvPr/>
        </p:nvSpPr>
        <p:spPr>
          <a:xfrm>
            <a:off x="822959" y="3481069"/>
            <a:ext cx="4632807" cy="1523492"/>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유온 센서에 한계 65 ℃를 적는다</a:t>
            </a:r>
          </a:p>
          <a:p>
            <a:pPr algn="l" eaLnBrk="0" marL="165735" indent="-165735">
              <a:lnSpc>
                <a:spcPct val="110000"/>
              </a:lnSpc>
              <a:spcAft>
                <a:spcPts val="600"/>
              </a:spcAft>
            </a:pPr>
            <a:r>
              <a:rPr sz="1450" b="0">
                <a:solidFill>
                  <a:srgbClr val="1F2A3A"/>
                </a:solidFill>
                <a:latin typeface="맑은 고딕"/>
                <a:ea typeface="맑은 고딕"/>
                <a:cs typeface="맑은 고딕"/>
              </a:rPr>
              <a:t>• 교체하면 새 센서에 한계를 다시 적는다</a:t>
            </a:r>
          </a:p>
          <a:p>
            <a:pPr algn="l" eaLnBrk="0" marL="165735" indent="-165735">
              <a:lnSpc>
                <a:spcPct val="110000"/>
              </a:lnSpc>
              <a:spcAft>
                <a:spcPts val="600"/>
              </a:spcAft>
            </a:pPr>
            <a:r>
              <a:rPr sz="1450" b="0">
                <a:solidFill>
                  <a:srgbClr val="1F2A3A"/>
                </a:solidFill>
                <a:latin typeface="맑은 고딕"/>
                <a:ea typeface="맑은 고딕"/>
                <a:cs typeface="맑은 고딕"/>
              </a:rPr>
              <a:t>• 하나 더 달면 한계가 두 군데에 생긴다</a:t>
            </a:r>
          </a:p>
          <a:p>
            <a:pPr algn="l" eaLnBrk="0" marL="165735" indent="-165735">
              <a:lnSpc>
                <a:spcPct val="110000"/>
              </a:lnSpc>
              <a:spcAft>
                <a:spcPts val="600"/>
              </a:spcAft>
            </a:pPr>
            <a:r>
              <a:rPr sz="1450" b="0">
                <a:solidFill>
                  <a:srgbClr val="1F2A3A"/>
                </a:solidFill>
                <a:latin typeface="맑은 고딕"/>
                <a:ea typeface="맑은 고딕"/>
                <a:cs typeface="맑은 고딕"/>
              </a:rPr>
              <a:t>• 한쪽만 고치면 같은 유온에 한계가 둘</a:t>
            </a:r>
          </a:p>
        </p:txBody>
      </p:sp>
      <p:sp>
        <p:nvSpPr>
          <p:cNvPr id="9" name="Rounded Rectangle 8"/>
          <p:cNvSpPr/>
          <p:nvPr/>
        </p:nvSpPr>
        <p:spPr>
          <a:xfrm>
            <a:off x="868680" y="5096002"/>
            <a:ext cx="14782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96002"/>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기준이 갈라진다</a:t>
            </a:r>
          </a:p>
        </p:txBody>
      </p:sp>
      <p:sp>
        <p:nvSpPr>
          <p:cNvPr id="11" name="Rounded Rectangle 10"/>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630678"/>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한계를 상태 변수에 두면</a:t>
            </a:r>
          </a:p>
        </p:txBody>
      </p:sp>
      <p:sp>
        <p:nvSpPr>
          <p:cNvPr id="13" name="TextBox 12"/>
          <p:cNvSpPr txBox="1"/>
          <p:nvPr/>
        </p:nvSpPr>
        <p:spPr>
          <a:xfrm>
            <a:off x="6735927" y="3481069"/>
            <a:ext cx="4632807" cy="1523492"/>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유온 센서(Sensor): 태그 TS1 · 단위 ℃만 갖는다</a:t>
            </a:r>
          </a:p>
          <a:p>
            <a:pPr algn="l" eaLnBrk="0" marL="165735" indent="-165735">
              <a:lnSpc>
                <a:spcPct val="110000"/>
              </a:lnSpc>
              <a:spcAft>
                <a:spcPts val="600"/>
              </a:spcAft>
            </a:pPr>
            <a:r>
              <a:rPr sz="1450" b="0">
                <a:solidFill>
                  <a:srgbClr val="1F2A3A"/>
                </a:solidFill>
                <a:latin typeface="맑은 고딕"/>
                <a:ea typeface="맑은 고딕"/>
                <a:cs typeface="맑은 고딕"/>
              </a:rPr>
              <a:t>• 유온(StateVariable): 정상값 48 ℃ · 한계 65 ℃</a:t>
            </a:r>
          </a:p>
          <a:p>
            <a:pPr algn="l" eaLnBrk="0" marL="165735" indent="-165735">
              <a:lnSpc>
                <a:spcPct val="110000"/>
              </a:lnSpc>
              <a:spcAft>
                <a:spcPts val="600"/>
              </a:spcAft>
            </a:pPr>
            <a:r>
              <a:rPr sz="1450" b="0">
                <a:solidFill>
                  <a:srgbClr val="1F2A3A"/>
                </a:solidFill>
                <a:latin typeface="맑은 고딕"/>
                <a:ea typeface="맑은 고딕"/>
                <a:cs typeface="맑은 고딕"/>
              </a:rPr>
              <a:t>• 교체 · 증설 뒤에도 한계는 유온 한 곳에 남는다</a:t>
            </a:r>
          </a:p>
          <a:p>
            <a:pPr algn="l" eaLnBrk="0" marL="165735" indent="-165735">
              <a:lnSpc>
                <a:spcPct val="110000"/>
              </a:lnSpc>
              <a:spcAft>
                <a:spcPts val="600"/>
              </a:spcAft>
            </a:pPr>
            <a:r>
              <a:rPr sz="1450" b="0">
                <a:solidFill>
                  <a:srgbClr val="1F2A3A"/>
                </a:solidFill>
                <a:latin typeface="맑은 고딕"/>
                <a:ea typeface="맑은 고딕"/>
                <a:cs typeface="맑은 고딕"/>
              </a:rPr>
              <a:t>• 경보 기준은 유온에서 찾는다</a:t>
            </a:r>
          </a:p>
        </p:txBody>
      </p:sp>
      <p:sp>
        <p:nvSpPr>
          <p:cNvPr id="14" name="Rounded Rectangle 13"/>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96002"/>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지금 그래프</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데이터 속성과 객체 간 관계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칸 하나로 끝나는 값은 데이터 속성으로, 자기 기준을 가진 대상은 관계로 건너가 읽게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83027"/>
            <a:ext cx="5181447" cy="3216656"/>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58419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데이터 속성(Data Property)</a:t>
            </a:r>
          </a:p>
        </p:txBody>
      </p:sp>
      <p:sp>
        <p:nvSpPr>
          <p:cNvPr id="8" name="TextBox 7"/>
          <p:cNvSpPr txBox="1"/>
          <p:nvPr/>
        </p:nvSpPr>
        <p:spPr>
          <a:xfrm>
            <a:off x="822959"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인스턴스에 값을 붙인다</a:t>
            </a:r>
          </a:p>
          <a:p>
            <a:pPr algn="l" eaLnBrk="0" marL="182880" indent="-182880">
              <a:lnSpc>
                <a:spcPct val="110000"/>
              </a:lnSpc>
              <a:spcAft>
                <a:spcPts val="600"/>
              </a:spcAft>
            </a:pPr>
            <a:r>
              <a:rPr sz="1600" b="0">
                <a:solidFill>
                  <a:srgbClr val="1F2A3A"/>
                </a:solidFill>
                <a:latin typeface="맑은 고딕"/>
                <a:ea typeface="맑은 고딕"/>
                <a:cs typeface="맑은 고딕"/>
              </a:rPr>
              <a:t>• 유온 센서의 tag: 'TS1' · unit: '℃'</a:t>
            </a:r>
          </a:p>
          <a:p>
            <a:pPr algn="l" eaLnBrk="0" marL="182880" indent="-182880">
              <a:lnSpc>
                <a:spcPct val="110000"/>
              </a:lnSpc>
              <a:spcAft>
                <a:spcPts val="600"/>
              </a:spcAft>
            </a:pPr>
            <a:r>
              <a:rPr sz="1600" b="0">
                <a:solidFill>
                  <a:srgbClr val="1F2A3A"/>
                </a:solidFill>
                <a:latin typeface="맑은 고딕"/>
                <a:ea typeface="맑은 고딕"/>
                <a:cs typeface="맑은 고딕"/>
              </a:rPr>
              <a:t>• 칸 하나를 읽으면 끝난다</a:t>
            </a:r>
          </a:p>
        </p:txBody>
      </p:sp>
      <p:sp>
        <p:nvSpPr>
          <p:cNvPr id="9" name="Rounded Rectangle 8"/>
          <p:cNvSpPr/>
          <p:nvPr/>
        </p:nvSpPr>
        <p:spPr>
          <a:xfrm>
            <a:off x="868680" y="5142484"/>
            <a:ext cx="132587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14248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인스턴스와 값</a:t>
            </a:r>
          </a:p>
        </p:txBody>
      </p:sp>
      <p:sp>
        <p:nvSpPr>
          <p:cNvPr id="11" name="Rounded Rectangle 10"/>
          <p:cNvSpPr/>
          <p:nvPr/>
        </p:nvSpPr>
        <p:spPr>
          <a:xfrm>
            <a:off x="6461607" y="2383027"/>
            <a:ext cx="5181447" cy="321665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58419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객체 간 관계(Object Property)</a:t>
            </a:r>
          </a:p>
        </p:txBody>
      </p:sp>
      <p:sp>
        <p:nvSpPr>
          <p:cNvPr id="13" name="TextBox 12"/>
          <p:cNvSpPr txBox="1"/>
          <p:nvPr/>
        </p:nvSpPr>
        <p:spPr>
          <a:xfrm>
            <a:off x="6735927"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인스턴스를 다른 인스턴스에 잇는다</a:t>
            </a:r>
          </a:p>
          <a:p>
            <a:pPr algn="l" eaLnBrk="0" marL="182880" indent="-182880">
              <a:lnSpc>
                <a:spcPct val="110000"/>
              </a:lnSpc>
              <a:spcAft>
                <a:spcPts val="600"/>
              </a:spcAft>
            </a:pPr>
            <a:r>
              <a:rPr sz="1600" b="0">
                <a:solidFill>
                  <a:srgbClr val="1F2A3A"/>
                </a:solidFill>
                <a:latin typeface="맑은 고딕"/>
                <a:ea typeface="맑은 고딕"/>
                <a:cs typeface="맑은 고딕"/>
              </a:rPr>
              <a:t>• 유온 센서는 유온을 읽는다: OBSERVES</a:t>
            </a:r>
          </a:p>
          <a:p>
            <a:pPr algn="l" eaLnBrk="0" marL="182880" indent="-182880">
              <a:lnSpc>
                <a:spcPct val="110000"/>
              </a:lnSpc>
              <a:spcAft>
                <a:spcPts val="600"/>
              </a:spcAft>
            </a:pPr>
            <a:r>
              <a:rPr sz="1600" b="0">
                <a:solidFill>
                  <a:srgbClr val="1F2A3A"/>
                </a:solidFill>
                <a:latin typeface="맑은 고딕"/>
                <a:ea typeface="맑은 고딕"/>
                <a:cs typeface="맑은 고딕"/>
              </a:rPr>
              <a:t>• 건너간 유온에서 한계를 읽는다</a:t>
            </a:r>
          </a:p>
          <a:p>
            <a:pPr algn="l" eaLnBrk="0" marL="182880" indent="-182880">
              <a:lnSpc>
                <a:spcPct val="110000"/>
              </a:lnSpc>
              <a:spcAft>
                <a:spcPts val="600"/>
              </a:spcAft>
            </a:pPr>
            <a:r>
              <a:rPr sz="1600" b="0">
                <a:solidFill>
                  <a:srgbClr val="1F2A3A"/>
                </a:solidFill>
                <a:latin typeface="맑은 고딕"/>
                <a:ea typeface="맑은 고딕"/>
                <a:cs typeface="맑은 고딕"/>
              </a:rPr>
              <a:t>• 오일 온도 · 작동유 온도로 불러도 같은 유온</a:t>
            </a:r>
          </a:p>
        </p:txBody>
      </p:sp>
      <p:sp>
        <p:nvSpPr>
          <p:cNvPr id="14" name="Rounded Rectangle 13"/>
          <p:cNvSpPr/>
          <p:nvPr/>
        </p:nvSpPr>
        <p:spPr>
          <a:xfrm>
            <a:off x="6781647" y="5142484"/>
            <a:ext cx="17830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142484"/>
            <a:ext cx="1783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인스턴스와 인스턴스</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 구성 요소 · 부품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 한 대, 그 안의 장치, 갈아 끼우는 부품을 나누면 상태를 보는 일과 부품 주문이 서로 다른 대상으로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클래스</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실제 대상</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현장에서 찾는 때</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설비(Asset)</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HYD-01 유압 파워팩</a:t>
            </a:r>
          </a:p>
          <a:p>
            <a:pPr algn="l" eaLnBrk="0">
              <a:lnSpc>
                <a:spcPct val="110000"/>
              </a:lnSpc>
            </a:pPr>
            <a:r>
              <a:rPr sz="1400" b="0">
                <a:solidFill>
                  <a:srgbClr val="1F2A3A"/>
                </a:solidFill>
                <a:latin typeface="맑은 고딕"/>
                <a:ea typeface="맑은 고딕"/>
                <a:cs typeface="맑은 고딕"/>
              </a:rPr>
              <a:t>같은 모델 세 대</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경보가 난</a:t>
            </a:r>
          </a:p>
          <a:p>
            <a:pPr algn="l" eaLnBrk="0">
              <a:lnSpc>
                <a:spcPct val="110000"/>
              </a:lnSpc>
            </a:pPr>
            <a:r>
              <a:rPr sz="1250" b="1">
                <a:solidFill>
                  <a:srgbClr val="556175"/>
                </a:solidFill>
                <a:latin typeface="맑은 고딕"/>
                <a:ea typeface="맑은 고딕"/>
                <a:cs typeface="맑은 고딕"/>
              </a:rPr>
              <a:t>한 대를 가린다</a:t>
            </a:r>
          </a:p>
        </p:txBody>
      </p:sp>
      <p:sp>
        <p:nvSpPr>
          <p:cNvPr id="14" name="Rounded Rectangle 13"/>
          <p:cNvSpPr/>
          <p:nvPr/>
        </p:nvSpPr>
        <p:spPr>
          <a:xfrm>
            <a:off x="548640" y="37673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구성 요소(Component)</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a:t>
            </a:r>
          </a:p>
          <a:p>
            <a:pPr algn="l" eaLnBrk="0">
              <a:lnSpc>
                <a:spcPct val="110000"/>
              </a:lnSpc>
            </a:pPr>
            <a:r>
              <a:rPr sz="1400" b="0">
                <a:solidFill>
                  <a:srgbClr val="1F2A3A"/>
                </a:solidFill>
                <a:latin typeface="맑은 고딕"/>
                <a:ea typeface="맑은 고딕"/>
                <a:cs typeface="맑은 고딕"/>
              </a:rPr>
              <a:t>유온 센서와 냉각 효율 채널로 상태를 본다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상태를 본다</a:t>
            </a:r>
          </a:p>
          <a:p>
            <a:pPr algn="l" eaLnBrk="0">
              <a:lnSpc>
                <a:spcPct val="110000"/>
              </a:lnSpc>
            </a:pPr>
            <a:r>
              <a:rPr sz="1250" b="1">
                <a:solidFill>
                  <a:srgbClr val="1A6FC4"/>
                </a:solidFill>
                <a:latin typeface="맑은 고딕"/>
                <a:ea typeface="맑은 고딕"/>
                <a:cs typeface="맑은 고딕"/>
              </a:rPr>
              <a:t>쿨러 · 열교환기도</a:t>
            </a:r>
          </a:p>
          <a:p>
            <a:pPr algn="l" eaLnBrk="0">
              <a:lnSpc>
                <a:spcPct val="110000"/>
              </a:lnSpc>
            </a:pPr>
            <a:r>
              <a:rPr sz="1250" b="1">
                <a:solidFill>
                  <a:srgbClr val="1A6FC4"/>
                </a:solidFill>
                <a:latin typeface="맑은 고딕"/>
                <a:ea typeface="맑은 고딕"/>
                <a:cs typeface="맑은 고딕"/>
              </a:rPr>
              <a:t>같은 장치</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부품(Part)</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코어 · 부품 번호 P-CLR-CORE</a:t>
            </a:r>
          </a:p>
          <a:p>
            <a:pPr algn="l" eaLnBrk="0">
              <a:lnSpc>
                <a:spcPct val="110000"/>
              </a:lnSpc>
            </a:pPr>
            <a:r>
              <a:rPr sz="1400" b="0">
                <a:solidFill>
                  <a:srgbClr val="1F2A3A"/>
                </a:solidFill>
                <a:latin typeface="맑은 고딕"/>
                <a:ea typeface="맑은 고딕"/>
                <a:cs typeface="맑은 고딕"/>
              </a:rPr>
              <a:t>오일 쿨러 안에서 갈아 끼운다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부품 번호로</a:t>
            </a:r>
          </a:p>
          <a:p>
            <a:pPr algn="l" eaLnBrk="0">
              <a:lnSpc>
                <a:spcPct val="110000"/>
              </a:lnSpc>
            </a:pPr>
            <a:r>
              <a:rPr sz="1250" b="1">
                <a:solidFill>
                  <a:srgbClr val="556175"/>
                </a:solidFill>
                <a:latin typeface="맑은 고딕"/>
                <a:ea typeface="맑은 고딕"/>
                <a:cs typeface="맑은 고딕"/>
              </a:rPr>
              <a:t>주문한다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증상 · 고장 유형 · 원인: 경보 순간의 사실과 후보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경보가 울린 순간 사실인 것은 증상뿐이니, 원인은 증거로 가리기 전까지 후보로 따로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클래스</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 · 쿨러 경보에서 적히는 것</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언제 사실이 되나</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증상(Symptom)</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계측값에서 관측한 이상 양상</a:t>
            </a:r>
          </a:p>
          <a:p>
            <a:pPr algn="l" eaLnBrk="0">
              <a:lnSpc>
                <a:spcPct val="110000"/>
              </a:lnSpc>
            </a:pPr>
            <a:r>
              <a:rPr sz="1400" b="0">
                <a:solidFill>
                  <a:srgbClr val="1F2A3A"/>
                </a:solidFill>
                <a:latin typeface="맑은 고딕"/>
                <a:ea typeface="맑은 고딕"/>
                <a:cs typeface="맑은 고딕"/>
              </a:rPr>
              <a:t>유온 상승 · 냉각 효율 저하</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경보가 울린</a:t>
            </a:r>
          </a:p>
          <a:p>
            <a:pPr algn="l" eaLnBrk="0">
              <a:lnSpc>
                <a:spcPct val="110000"/>
              </a:lnSpc>
            </a:pPr>
            <a:r>
              <a:rPr sz="1250" b="1">
                <a:solidFill>
                  <a:srgbClr val="556175"/>
                </a:solidFill>
                <a:latin typeface="맑은 고딕"/>
                <a:ea typeface="맑은 고딕"/>
                <a:cs typeface="맑은 고딕"/>
              </a:rPr>
              <a:t>순간 이미 사실</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고장 유형(FailureMode)</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구성 요소에서 생기는 고장의 양상</a:t>
            </a:r>
          </a:p>
          <a:p>
            <a:pPr algn="l" eaLnBrk="0">
              <a:lnSpc>
                <a:spcPct val="110000"/>
              </a:lnSpc>
            </a:pPr>
            <a:r>
              <a:rPr sz="1400" b="0">
                <a:solidFill>
                  <a:srgbClr val="1F2A3A"/>
                </a:solidFill>
                <a:latin typeface="맑은 고딕"/>
                <a:ea typeface="맑은 고딕"/>
                <a:cs typeface="맑은 고딕"/>
              </a:rPr>
              <a:t>오일 쿨러의 쿨러 냉각 성능 상실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증상이 가리키는</a:t>
            </a:r>
          </a:p>
          <a:p>
            <a:pPr algn="l" eaLnBrk="0">
              <a:lnSpc>
                <a:spcPct val="110000"/>
              </a:lnSpc>
            </a:pPr>
            <a:r>
              <a:rPr sz="1250" b="1">
                <a:solidFill>
                  <a:srgbClr val="1A6FC4"/>
                </a:solidFill>
                <a:latin typeface="맑은 고딕"/>
                <a:ea typeface="맑은 고딕"/>
                <a:cs typeface="맑은 고딕"/>
              </a:rPr>
              <a:t>살펴볼 고장</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원인(Cause)</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고장을 일으키는 근본 원인</a:t>
            </a:r>
          </a:p>
          <a:p>
            <a:pPr algn="l" eaLnBrk="0">
              <a:lnSpc>
                <a:spcPct val="110000"/>
              </a:lnSpc>
            </a:pPr>
            <a:r>
              <a:rPr sz="1400" b="0">
                <a:solidFill>
                  <a:srgbClr val="1F2A3A"/>
                </a:solidFill>
                <a:latin typeface="맑은 고딕"/>
                <a:ea typeface="맑은 고딕"/>
                <a:cs typeface="맑은 고딕"/>
              </a:rPr>
              <a:t>쿨러 핀 오염 · 팬 구동 불량 · 주변 온도 상승</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증거로 하나를</a:t>
            </a:r>
          </a:p>
          <a:p>
            <a:pPr algn="l" eaLnBrk="0">
              <a:lnSpc>
                <a:spcPct val="110000"/>
              </a:lnSpc>
            </a:pPr>
            <a:r>
              <a:rPr sz="1250" b="1">
                <a:solidFill>
                  <a:srgbClr val="556175"/>
                </a:solidFill>
                <a:latin typeface="맑은 고딕"/>
                <a:ea typeface="맑은 고딕"/>
                <a:cs typeface="맑은 고딕"/>
              </a:rPr>
              <a:t>가린 뒤에만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증거(Evidence)</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원인을 가리는 계측값 조건</a:t>
            </a:r>
          </a:p>
          <a:p>
            <a:pPr algn="l" eaLnBrk="0">
              <a:lnSpc>
                <a:spcPct val="110000"/>
              </a:lnSpc>
            </a:pPr>
            <a:r>
              <a:rPr sz="1400" b="0">
                <a:solidFill>
                  <a:srgbClr val="1F2A3A"/>
                </a:solidFill>
                <a:latin typeface="맑은 고딕"/>
                <a:ea typeface="맑은 고딕"/>
                <a:cs typeface="맑은 고딕"/>
              </a:rPr>
              <a:t>쿨러 핀 오염: 냉각 효율 평균 70 % 미만 · 팬 진동 정상</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계측값을</a:t>
            </a:r>
          </a:p>
          <a:p>
            <a:pPr algn="l" eaLnBrk="0">
              <a:lnSpc>
                <a:spcPct val="110000"/>
              </a:lnSpc>
            </a:pPr>
            <a:r>
              <a:rPr sz="1250" b="1">
                <a:solidFill>
                  <a:srgbClr val="556175"/>
                </a:solidFill>
                <a:latin typeface="맑은 고딕"/>
                <a:ea typeface="맑은 고딕"/>
                <a:cs typeface="맑은 고딕"/>
              </a:rPr>
              <a:t>확인한 순간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 유형: 이름 · 방향 · 양 끝 클래스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(Relationship Type)은 이름 · 방향 · 양 끝 클래스를 함께 정해서, 끝이 맞지 않는 연결을 가려낸다.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Oval 5"/>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HYD-01</a:t>
            </a:r>
          </a:p>
          <a:p>
            <a:pPr algn="ctr" eaLnBrk="0">
              <a:lnSpc>
                <a:spcPct val="110000"/>
              </a:lnSpc>
            </a:pPr>
            <a:r>
              <a:rPr sz="1100" b="0">
                <a:solidFill>
                  <a:srgbClr val="556175"/>
                </a:solidFill>
                <a:latin typeface="맑은 고딕"/>
                <a:ea typeface="맑은 고딕"/>
                <a:cs typeface="맑은 고딕"/>
              </a:rPr>
              <a:t>Asset</a:t>
            </a:r>
          </a:p>
        </p:txBody>
      </p:sp>
      <p:sp>
        <p:nvSpPr>
          <p:cNvPr id="8" name="Oval 7"/>
          <p:cNvSpPr/>
          <p:nvPr/>
        </p:nvSpPr>
        <p:spPr>
          <a:xfrm>
            <a:off x="3726993" y="3423056"/>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29406" y="370103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오일 쿨러</a:t>
            </a:r>
          </a:p>
          <a:p>
            <a:pPr algn="ctr" eaLnBrk="0">
              <a:lnSpc>
                <a:spcPct val="110000"/>
              </a:lnSpc>
            </a:pPr>
            <a:r>
              <a:rPr sz="1100" b="0">
                <a:solidFill>
                  <a:srgbClr val="556175"/>
                </a:solidFill>
                <a:latin typeface="맑은 고딕"/>
                <a:ea typeface="맑은 고딕"/>
                <a:cs typeface="맑은 고딕"/>
              </a:rPr>
              <a:t>Component</a:t>
            </a:r>
          </a:p>
        </p:txBody>
      </p:sp>
      <p:sp>
        <p:nvSpPr>
          <p:cNvPr id="10" name="Oval 9"/>
          <p:cNvSpPr/>
          <p:nvPr/>
        </p:nvSpPr>
        <p:spPr>
          <a:xfrm>
            <a:off x="690534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007760"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센서</a:t>
            </a:r>
          </a:p>
          <a:p>
            <a:pPr algn="ctr" eaLnBrk="0">
              <a:lnSpc>
                <a:spcPct val="110000"/>
              </a:lnSpc>
            </a:pPr>
            <a:r>
              <a:rPr sz="1100" b="0">
                <a:solidFill>
                  <a:srgbClr val="556175"/>
                </a:solidFill>
                <a:latin typeface="맑은 고딕"/>
                <a:ea typeface="맑은 고딕"/>
                <a:cs typeface="맑은 고딕"/>
              </a:rPr>
              <a:t>Sensor</a:t>
            </a:r>
          </a:p>
        </p:txBody>
      </p:sp>
      <p:sp>
        <p:nvSpPr>
          <p:cNvPr id="12" name="Oval 11"/>
          <p:cNvSpPr/>
          <p:nvPr/>
        </p:nvSpPr>
        <p:spPr>
          <a:xfrm>
            <a:off x="10180015" y="3423056"/>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282428" y="370103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a:t>
            </a:r>
          </a:p>
          <a:p>
            <a:pPr algn="ctr" eaLnBrk="0">
              <a:lnSpc>
                <a:spcPct val="110000"/>
              </a:lnSpc>
            </a:pPr>
            <a:r>
              <a:rPr sz="1100" b="0">
                <a:solidFill>
                  <a:srgbClr val="556175"/>
                </a:solidFill>
                <a:latin typeface="맑은 고딕"/>
                <a:ea typeface="맑은 고딕"/>
                <a:cs typeface="맑은 고딕"/>
              </a:rPr>
              <a:t>StateVariable</a:t>
            </a:r>
          </a:p>
        </p:txBody>
      </p:sp>
      <p:sp>
        <p:nvSpPr>
          <p:cNvPr id="14" name="Oval 13"/>
          <p:cNvSpPr/>
          <p:nvPr/>
        </p:nvSpPr>
        <p:spPr>
          <a:xfrm>
            <a:off x="548639"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65105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예비 펌프</a:t>
            </a:r>
          </a:p>
          <a:p>
            <a:pPr algn="ctr" eaLnBrk="0">
              <a:lnSpc>
                <a:spcPct val="110000"/>
              </a:lnSpc>
            </a:pPr>
            <a:r>
              <a:rPr sz="1100" b="0">
                <a:solidFill>
                  <a:srgbClr val="556175"/>
                </a:solidFill>
                <a:latin typeface="맑은 고딕"/>
                <a:ea typeface="맑은 고딕"/>
                <a:cs typeface="맑은 고딕"/>
              </a:rPr>
              <a:t>Component</a:t>
            </a:r>
          </a:p>
          <a:p>
            <a:pPr algn="ctr" eaLnBrk="0">
              <a:lnSpc>
                <a:spcPct val="110000"/>
              </a:lnSpc>
            </a:pPr>
            <a:r>
              <a:rPr sz="1100" b="0">
                <a:solidFill>
                  <a:srgbClr val="556175"/>
                </a:solidFill>
                <a:latin typeface="맑은 고딕"/>
                <a:ea typeface="맑은 고딕"/>
                <a:cs typeface="맑은 고딕"/>
              </a:rPr>
              <a:t>계측 태그 없음</a:t>
            </a:r>
          </a:p>
        </p:txBody>
      </p:sp>
      <p:sp>
        <p:nvSpPr>
          <p:cNvPr id="16" name="Oval 15"/>
          <p:cNvSpPr/>
          <p:nvPr/>
        </p:nvSpPr>
        <p:spPr>
          <a:xfrm>
            <a:off x="7483230"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58564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코어</a:t>
            </a:r>
          </a:p>
          <a:p>
            <a:pPr algn="ctr" eaLnBrk="0">
              <a:lnSpc>
                <a:spcPct val="110000"/>
              </a:lnSpc>
            </a:pPr>
            <a:r>
              <a:rPr sz="1100" b="0">
                <a:solidFill>
                  <a:srgbClr val="556175"/>
                </a:solidFill>
                <a:latin typeface="맑은 고딕"/>
                <a:ea typeface="맑은 고딕"/>
                <a:cs typeface="맑은 고딕"/>
              </a:rPr>
              <a:t>Part</a:t>
            </a:r>
          </a:p>
          <a:p>
            <a:pPr algn="ctr" eaLnBrk="0">
              <a:lnSpc>
                <a:spcPct val="110000"/>
              </a:lnSpc>
            </a:pPr>
            <a:r>
              <a:rPr sz="1100" b="0">
                <a:solidFill>
                  <a:srgbClr val="556175"/>
                </a:solidFill>
                <a:latin typeface="맑은 고딕"/>
                <a:ea typeface="맑은 고딕"/>
                <a:cs typeface="맑은 고딕"/>
              </a:rPr>
              <a:t>끝점 위반</a:t>
            </a:r>
          </a:p>
        </p:txBody>
      </p:sp>
      <p:cxnSp>
        <p:nvCxnSpPr>
          <p:cNvPr id="18" name="Connector 17"/>
          <p:cNvCxnSpPr/>
          <p:nvPr/>
        </p:nvCxnSpPr>
        <p:spPr>
          <a:xfrm>
            <a:off x="1956890" y="2741431"/>
            <a:ext cx="1801008" cy="1017373"/>
          </a:xfrm>
          <a:prstGeom prst="line">
            <a:avLst/>
          </a:prstGeom>
          <a:ln w="28575">
            <a:solidFill>
              <a:srgbClr val="13294B"/>
            </a:solidFill>
            <a:tailEnd type="triangle" w="med" len="med"/>
          </a:ln>
        </p:spPr>
      </p:cxnSp>
      <p:sp>
        <p:nvSpPr>
          <p:cNvPr id="19" name="Rounded Rectangle 18"/>
          <p:cNvSpPr/>
          <p:nvPr/>
        </p:nvSpPr>
        <p:spPr>
          <a:xfrm>
            <a:off x="2034325" y="2884358"/>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034325" y="2884358"/>
            <a:ext cx="16461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HAS_COMPONENT</a:t>
            </a:r>
          </a:p>
        </p:txBody>
      </p:sp>
      <p:cxnSp>
        <p:nvCxnSpPr>
          <p:cNvPr id="21" name="Connector 20"/>
          <p:cNvCxnSpPr/>
          <p:nvPr/>
        </p:nvCxnSpPr>
        <p:spPr>
          <a:xfrm flipV="1">
            <a:off x="5135244" y="2754923"/>
            <a:ext cx="1801008" cy="1017374"/>
          </a:xfrm>
          <a:prstGeom prst="line">
            <a:avLst/>
          </a:prstGeom>
          <a:ln w="28575">
            <a:solidFill>
              <a:srgbClr val="13294B"/>
            </a:solidFill>
            <a:tailEnd type="triangle" w="med" len="med"/>
          </a:ln>
        </p:spPr>
      </p:cxnSp>
      <p:sp>
        <p:nvSpPr>
          <p:cNvPr id="22" name="Rounded Rectangle 21"/>
          <p:cNvSpPr/>
          <p:nvPr/>
        </p:nvSpPr>
        <p:spPr>
          <a:xfrm>
            <a:off x="5266104" y="289785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5266104" y="289785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MONITORED_BY</a:t>
            </a:r>
          </a:p>
        </p:txBody>
      </p:sp>
      <p:cxnSp>
        <p:nvCxnSpPr>
          <p:cNvPr id="24" name="Connector 23"/>
          <p:cNvCxnSpPr/>
          <p:nvPr/>
        </p:nvCxnSpPr>
        <p:spPr>
          <a:xfrm>
            <a:off x="8318392" y="2732816"/>
            <a:ext cx="1887564" cy="1034907"/>
          </a:xfrm>
          <a:prstGeom prst="line">
            <a:avLst/>
          </a:prstGeom>
          <a:ln w="28575">
            <a:solidFill>
              <a:srgbClr val="13294B"/>
            </a:solidFill>
            <a:tailEnd type="triangle" w="med" len="med"/>
          </a:ln>
        </p:spPr>
      </p:cxnSp>
      <p:sp>
        <p:nvSpPr>
          <p:cNvPr id="25" name="Rounded Rectangle 24"/>
          <p:cNvSpPr/>
          <p:nvPr/>
        </p:nvSpPr>
        <p:spPr>
          <a:xfrm>
            <a:off x="8697613" y="288451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8697613" y="2884510"/>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OBSERVES</a:t>
            </a:r>
          </a:p>
        </p:txBody>
      </p:sp>
      <p:cxnSp>
        <p:nvCxnSpPr>
          <p:cNvPr id="27" name="Connector 26"/>
          <p:cNvCxnSpPr/>
          <p:nvPr/>
        </p:nvCxnSpPr>
        <p:spPr>
          <a:xfrm>
            <a:off x="1280160" y="3136392"/>
            <a:ext cx="0" cy="1682496"/>
          </a:xfrm>
          <a:prstGeom prst="line">
            <a:avLst/>
          </a:prstGeom>
          <a:ln w="28575">
            <a:solidFill>
              <a:srgbClr val="13294B"/>
            </a:solidFill>
            <a:tailEnd type="triangle" w="med" len="med"/>
          </a:ln>
        </p:spPr>
      </p:cxnSp>
      <p:sp>
        <p:nvSpPr>
          <p:cNvPr id="28" name="Rounded Rectangle 27"/>
          <p:cNvSpPr/>
          <p:nvPr/>
        </p:nvSpPr>
        <p:spPr>
          <a:xfrm>
            <a:off x="1371600" y="3831336"/>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1371600" y="3831336"/>
            <a:ext cx="16461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HAS_COMPONENT</a:t>
            </a:r>
          </a:p>
        </p:txBody>
      </p:sp>
      <p:cxnSp>
        <p:nvCxnSpPr>
          <p:cNvPr id="30" name="Connector 29"/>
          <p:cNvCxnSpPr/>
          <p:nvPr/>
        </p:nvCxnSpPr>
        <p:spPr>
          <a:xfrm>
            <a:off x="5182368" y="4437660"/>
            <a:ext cx="2282979" cy="892824"/>
          </a:xfrm>
          <a:prstGeom prst="line">
            <a:avLst/>
          </a:prstGeom>
          <a:ln w="28575">
            <a:solidFill>
              <a:srgbClr val="1A6FC4"/>
            </a:solidFill>
            <a:prstDash val="dash"/>
            <a:tailEnd type="triangle" w="med" len="med"/>
          </a:ln>
        </p:spPr>
      </p:cxnSp>
      <p:sp>
        <p:nvSpPr>
          <p:cNvPr id="31" name="Rounded Rectangle 30"/>
          <p:cNvSpPr/>
          <p:nvPr/>
        </p:nvSpPr>
        <p:spPr>
          <a:xfrm>
            <a:off x="5406791" y="4518312"/>
            <a:ext cx="1834134" cy="292608"/>
          </a:xfrm>
          <a:prstGeom prst="roundRect">
            <a:avLst>
              <a:gd name="adj" fmla="val 50000"/>
            </a:avLst>
          </a:prstGeom>
          <a:solidFill>
            <a:srgbClr val="FFFFFF"/>
          </a:solidFill>
          <a:ln w="12700">
            <a:solidFill>
              <a:srgbClr val="1A6FC4"/>
            </a:solidFill>
          </a:ln>
        </p:spPr>
        <p:txBody>
          <a:bodyPr rtlCol="0" anchor="ctr"/>
          <a:lstStyle/>
          <a:p>
            <a:pPr algn="ctr"/>
          </a:p>
        </p:txBody>
      </p:sp>
      <p:sp>
        <p:nvSpPr>
          <p:cNvPr id="32" name="TextBox 31"/>
          <p:cNvSpPr txBox="1"/>
          <p:nvPr/>
        </p:nvSpPr>
        <p:spPr>
          <a:xfrm>
            <a:off x="5406791" y="4518312"/>
            <a:ext cx="1834134" cy="292608"/>
          </a:xfrm>
          <a:prstGeom prst="rect">
            <a:avLst/>
          </a:prstGeom>
          <a:noFill/>
        </p:spPr>
        <p:txBody>
          <a:bodyPr wrap="square" anchor="ctr"/>
          <a:lstStyle/>
          <a:p>
            <a:pPr algn="ctr" eaLnBrk="0">
              <a:lnSpc>
                <a:spcPct val="110000"/>
              </a:lnSpc>
            </a:pPr>
            <a:r>
              <a:rPr sz="1150" b="1">
                <a:solidFill>
                  <a:srgbClr val="1A6FC4"/>
                </a:solidFill>
                <a:latin typeface="맑은 고딕"/>
                <a:ea typeface="맑은 고딕"/>
                <a:cs typeface="맑은 고딕"/>
              </a:rPr>
              <a:t>MONITORED_BY (가정)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조작 관계와 물리적 영향의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조치를 고를 때 값을 써 넣을 대상은 조작 관계에서, 그 결과 유온이 움직일 방향은 영향 관계에서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201608"/>
            <a:ext cx="5181447" cy="357949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0277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조작 관계(MANIPULATES)</a:t>
            </a:r>
          </a:p>
        </p:txBody>
      </p:sp>
      <p:sp>
        <p:nvSpPr>
          <p:cNvPr id="8" name="TextBox 7"/>
          <p:cNvSpPr txBox="1"/>
          <p:nvPr/>
        </p:nvSpPr>
        <p:spPr>
          <a:xfrm>
            <a:off x="822959"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구동기(Actuator): PLC가 값을 써서 움직이는 장치</a:t>
            </a:r>
          </a:p>
          <a:p>
            <a:pPr algn="l" eaLnBrk="0" marL="188595" indent="-188595">
              <a:lnSpc>
                <a:spcPct val="110000"/>
              </a:lnSpc>
              <a:spcAft>
                <a:spcPts val="600"/>
              </a:spcAft>
            </a:pPr>
            <a:r>
              <a:rPr sz="1650" b="0">
                <a:solidFill>
                  <a:srgbClr val="1F2A3A"/>
                </a:solidFill>
                <a:latin typeface="맑은 고딕"/>
                <a:ea typeface="맑은 고딕"/>
                <a:cs typeface="맑은 고딕"/>
              </a:rPr>
              <a:t>• 팬 인버터는 팬 속도를 바꾼다</a:t>
            </a:r>
          </a:p>
          <a:p>
            <a:pPr algn="l" eaLnBrk="0" marL="188595" indent="-188595">
              <a:lnSpc>
                <a:spcPct val="110000"/>
              </a:lnSpc>
              <a:spcAft>
                <a:spcPts val="600"/>
              </a:spcAft>
            </a:pPr>
            <a:r>
              <a:rPr sz="1650" b="0">
                <a:solidFill>
                  <a:srgbClr val="1F2A3A"/>
                </a:solidFill>
                <a:latin typeface="맑은 고딕"/>
                <a:ea typeface="맑은 고딕"/>
                <a:cs typeface="맑은 고딕"/>
              </a:rPr>
              <a:t>• 유온에는 직접 값을 써 넣을 수 없다</a:t>
            </a:r>
          </a:p>
        </p:txBody>
      </p:sp>
      <p:sp>
        <p:nvSpPr>
          <p:cNvPr id="9" name="Rounded Rectangle 8"/>
          <p:cNvSpPr/>
          <p:nvPr/>
        </p:nvSpPr>
        <p:spPr>
          <a:xfrm>
            <a:off x="868680" y="5323903"/>
            <a:ext cx="11734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23903"/>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움직일 대상</a:t>
            </a:r>
          </a:p>
        </p:txBody>
      </p:sp>
      <p:sp>
        <p:nvSpPr>
          <p:cNvPr id="11" name="Rounded Rectangle 10"/>
          <p:cNvSpPr/>
          <p:nvPr/>
        </p:nvSpPr>
        <p:spPr>
          <a:xfrm>
            <a:off x="6461607" y="2201608"/>
            <a:ext cx="5181447" cy="357949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0277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영향 관계(INFLUENCES)</a:t>
            </a:r>
          </a:p>
        </p:txBody>
      </p:sp>
      <p:sp>
        <p:nvSpPr>
          <p:cNvPr id="13" name="TextBox 12"/>
          <p:cNvSpPr txBox="1"/>
          <p:nvPr/>
        </p:nvSpPr>
        <p:spPr>
          <a:xfrm>
            <a:off x="6735927"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관계의 속성(Relationship Property): 연결에 붙는 값</a:t>
            </a:r>
          </a:p>
          <a:p>
            <a:pPr algn="l" eaLnBrk="0" marL="188595" indent="-188595">
              <a:lnSpc>
                <a:spcPct val="110000"/>
              </a:lnSpc>
              <a:spcAft>
                <a:spcPts val="600"/>
              </a:spcAft>
            </a:pPr>
            <a:r>
              <a:rPr sz="1650" b="0">
                <a:solidFill>
                  <a:srgbClr val="1F2A3A"/>
                </a:solidFill>
                <a:latin typeface="맑은 고딕"/>
                <a:ea typeface="맑은 고딕"/>
                <a:cs typeface="맑은 고딕"/>
              </a:rPr>
              <a:t>• 팬 속도 → 유온: sign -1</a:t>
            </a:r>
          </a:p>
          <a:p>
            <a:pPr algn="l" eaLnBrk="0" marL="188595" indent="-188595">
              <a:lnSpc>
                <a:spcPct val="110000"/>
              </a:lnSpc>
              <a:spcAft>
                <a:spcPts val="600"/>
              </a:spcAft>
            </a:pPr>
            <a:r>
              <a:rPr sz="1650" b="0">
                <a:solidFill>
                  <a:srgbClr val="1F2A3A"/>
                </a:solidFill>
                <a:latin typeface="맑은 고딕"/>
                <a:ea typeface="맑은 고딕"/>
                <a:cs typeface="맑은 고딕"/>
              </a:rPr>
              <a:t>• 펌프 부하 → 유온: sign +1</a:t>
            </a:r>
          </a:p>
          <a:p>
            <a:pPr algn="l" eaLnBrk="0" marL="188595" indent="-188595">
              <a:lnSpc>
                <a:spcPct val="110000"/>
              </a:lnSpc>
              <a:spcAft>
                <a:spcPts val="600"/>
              </a:spcAft>
            </a:pPr>
            <a:r>
              <a:rPr sz="1650" b="0">
                <a:solidFill>
                  <a:srgbClr val="1F2A3A"/>
                </a:solidFill>
                <a:latin typeface="맑은 고딕"/>
                <a:ea typeface="맑은 고딕"/>
                <a:cs typeface="맑은 고딕"/>
              </a:rPr>
              <a:t>• 부호는 방향일 뿐, 명령도 하락 폭도 아니다</a:t>
            </a:r>
          </a:p>
        </p:txBody>
      </p:sp>
      <p:sp>
        <p:nvSpPr>
          <p:cNvPr id="14" name="Rounded Rectangle 13"/>
          <p:cNvSpPr/>
          <p:nvPr/>
        </p:nvSpPr>
        <p:spPr>
          <a:xfrm>
            <a:off x="6781647" y="5323903"/>
            <a:ext cx="11734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23903"/>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따라올 방향</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오일 쿨러로 들어오는 관계와 나가는 관계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정비 담당자가 오일 쿨러에서 묻는 넷은 선이 들어오는지 나가는지에 따라 거슬러 갈지 따라갈지가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Oval 5"/>
          <p:cNvSpPr/>
          <p:nvPr/>
        </p:nvSpPr>
        <p:spPr>
          <a:xfrm>
            <a:off x="4882758" y="3259836"/>
            <a:ext cx="1463040" cy="146304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4985171"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오일 쿨러</a:t>
            </a:r>
          </a:p>
          <a:p>
            <a:pPr algn="ctr" eaLnBrk="0">
              <a:lnSpc>
                <a:spcPct val="110000"/>
              </a:lnSpc>
            </a:pPr>
            <a:r>
              <a:rPr sz="1100" b="0">
                <a:solidFill>
                  <a:srgbClr val="556175"/>
                </a:solidFill>
                <a:latin typeface="맑은 고딕"/>
                <a:ea typeface="맑은 고딕"/>
                <a:cs typeface="맑은 고딕"/>
              </a:rPr>
              <a:t>Component</a:t>
            </a:r>
          </a:p>
        </p:txBody>
      </p:sp>
      <p:sp>
        <p:nvSpPr>
          <p:cNvPr id="8" name="Oval 7"/>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HYD-01</a:t>
            </a:r>
          </a:p>
          <a:p>
            <a:pPr algn="ctr" eaLnBrk="0">
              <a:lnSpc>
                <a:spcPct val="110000"/>
              </a:lnSpc>
            </a:pPr>
            <a:r>
              <a:rPr sz="1100" b="0">
                <a:solidFill>
                  <a:srgbClr val="556175"/>
                </a:solidFill>
                <a:latin typeface="맑은 고딕"/>
                <a:ea typeface="맑은 고딕"/>
                <a:cs typeface="맑은 고딕"/>
              </a:rPr>
              <a:t>Asset</a:t>
            </a:r>
          </a:p>
          <a:p>
            <a:pPr algn="ctr" eaLnBrk="0">
              <a:lnSpc>
                <a:spcPct val="110000"/>
              </a:lnSpc>
            </a:pPr>
            <a:r>
              <a:rPr sz="1100" b="0">
                <a:solidFill>
                  <a:srgbClr val="556175"/>
                </a:solidFill>
                <a:latin typeface="맑은 고딕"/>
                <a:ea typeface="맑은 고딕"/>
                <a:cs typeface="맑은 고딕"/>
              </a:rPr>
              <a:t>어느 설비?</a:t>
            </a:r>
          </a:p>
        </p:txBody>
      </p:sp>
      <p:sp>
        <p:nvSpPr>
          <p:cNvPr id="10" name="Oval 9"/>
          <p:cNvSpPr/>
          <p:nvPr/>
        </p:nvSpPr>
        <p:spPr>
          <a:xfrm>
            <a:off x="548639"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5105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성능 상실</a:t>
            </a:r>
          </a:p>
          <a:p>
            <a:pPr algn="ctr" eaLnBrk="0">
              <a:lnSpc>
                <a:spcPct val="110000"/>
              </a:lnSpc>
            </a:pPr>
            <a:r>
              <a:rPr sz="1100" b="0">
                <a:solidFill>
                  <a:srgbClr val="556175"/>
                </a:solidFill>
                <a:latin typeface="맑은 고딕"/>
                <a:ea typeface="맑은 고딕"/>
                <a:cs typeface="맑은 고딕"/>
              </a:rPr>
              <a:t>FailureMode</a:t>
            </a:r>
          </a:p>
          <a:p>
            <a:pPr algn="ctr" eaLnBrk="0">
              <a:lnSpc>
                <a:spcPct val="110000"/>
              </a:lnSpc>
            </a:pPr>
            <a:r>
              <a:rPr sz="1100" b="0">
                <a:solidFill>
                  <a:srgbClr val="556175"/>
                </a:solidFill>
                <a:latin typeface="맑은 고딕"/>
                <a:ea typeface="맑은 고딕"/>
                <a:cs typeface="맑은 고딕"/>
              </a:rPr>
              <a:t>어떤 고장?</a:t>
            </a:r>
          </a:p>
        </p:txBody>
      </p:sp>
      <p:sp>
        <p:nvSpPr>
          <p:cNvPr id="12" name="Oval 11"/>
          <p:cNvSpPr/>
          <p:nvPr/>
        </p:nvSpPr>
        <p:spPr>
          <a:xfrm>
            <a:off x="825374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83561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센서</a:t>
            </a:r>
          </a:p>
          <a:p>
            <a:pPr algn="ctr" eaLnBrk="0">
              <a:lnSpc>
                <a:spcPct val="110000"/>
              </a:lnSpc>
            </a:pPr>
            <a:r>
              <a:rPr sz="1100" b="0">
                <a:solidFill>
                  <a:srgbClr val="556175"/>
                </a:solidFill>
                <a:latin typeface="맑은 고딕"/>
                <a:ea typeface="맑은 고딕"/>
                <a:cs typeface="맑은 고딕"/>
              </a:rPr>
              <a:t>Sensor</a:t>
            </a:r>
          </a:p>
          <a:p>
            <a:pPr algn="ctr" eaLnBrk="0">
              <a:lnSpc>
                <a:spcPct val="110000"/>
              </a:lnSpc>
            </a:pPr>
            <a:r>
              <a:rPr sz="1100" b="0">
                <a:solidFill>
                  <a:srgbClr val="556175"/>
                </a:solidFill>
                <a:latin typeface="맑은 고딕"/>
                <a:ea typeface="맑은 고딕"/>
                <a:cs typeface="맑은 고딕"/>
              </a:rPr>
              <a:t>무엇으로 보나?</a:t>
            </a:r>
          </a:p>
        </p:txBody>
      </p:sp>
      <p:sp>
        <p:nvSpPr>
          <p:cNvPr id="14" name="Oval 13"/>
          <p:cNvSpPr/>
          <p:nvPr/>
        </p:nvSpPr>
        <p:spPr>
          <a:xfrm>
            <a:off x="10180015" y="3259836"/>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10282428"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효율 채널</a:t>
            </a:r>
          </a:p>
          <a:p>
            <a:pPr algn="ctr" eaLnBrk="0">
              <a:lnSpc>
                <a:spcPct val="110000"/>
              </a:lnSpc>
            </a:pPr>
            <a:r>
              <a:rPr sz="1100" b="0">
                <a:solidFill>
                  <a:srgbClr val="556175"/>
                </a:solidFill>
                <a:latin typeface="맑은 고딕"/>
                <a:ea typeface="맑은 고딕"/>
                <a:cs typeface="맑은 고딕"/>
              </a:rPr>
              <a:t>Sensor</a:t>
            </a:r>
          </a:p>
          <a:p>
            <a:pPr algn="ctr" eaLnBrk="0">
              <a:lnSpc>
                <a:spcPct val="110000"/>
              </a:lnSpc>
            </a:pPr>
            <a:r>
              <a:rPr sz="1100" b="0">
                <a:solidFill>
                  <a:srgbClr val="556175"/>
                </a:solidFill>
                <a:latin typeface="맑은 고딕"/>
                <a:ea typeface="맑은 고딕"/>
                <a:cs typeface="맑은 고딕"/>
              </a:rPr>
              <a:t>무엇으로 보나?</a:t>
            </a:r>
          </a:p>
        </p:txBody>
      </p:sp>
      <p:sp>
        <p:nvSpPr>
          <p:cNvPr id="16" name="Oval 15"/>
          <p:cNvSpPr/>
          <p:nvPr/>
        </p:nvSpPr>
        <p:spPr>
          <a:xfrm>
            <a:off x="8253740"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835615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코어</a:t>
            </a:r>
          </a:p>
          <a:p>
            <a:pPr algn="ctr" eaLnBrk="0">
              <a:lnSpc>
                <a:spcPct val="110000"/>
              </a:lnSpc>
            </a:pPr>
            <a:r>
              <a:rPr sz="1100" b="0">
                <a:solidFill>
                  <a:srgbClr val="556175"/>
                </a:solidFill>
                <a:latin typeface="맑은 고딕"/>
                <a:ea typeface="맑은 고딕"/>
                <a:cs typeface="맑은 고딕"/>
              </a:rPr>
              <a:t>Part</a:t>
            </a:r>
          </a:p>
          <a:p>
            <a:pPr algn="ctr" eaLnBrk="0">
              <a:lnSpc>
                <a:spcPct val="110000"/>
              </a:lnSpc>
            </a:pPr>
            <a:r>
              <a:rPr sz="1100" b="0">
                <a:solidFill>
                  <a:srgbClr val="556175"/>
                </a:solidFill>
                <a:latin typeface="맑은 고딕"/>
                <a:ea typeface="맑은 고딕"/>
                <a:cs typeface="맑은 고딕"/>
              </a:rPr>
              <a:t>무엇을 교체?</a:t>
            </a:r>
          </a:p>
        </p:txBody>
      </p:sp>
      <p:cxnSp>
        <p:nvCxnSpPr>
          <p:cNvPr id="18" name="Connector 17"/>
          <p:cNvCxnSpPr/>
          <p:nvPr/>
        </p:nvCxnSpPr>
        <p:spPr>
          <a:xfrm>
            <a:off x="2007530" y="2633075"/>
            <a:ext cx="2853706" cy="1074689"/>
          </a:xfrm>
          <a:prstGeom prst="line">
            <a:avLst/>
          </a:prstGeom>
          <a:ln w="28575">
            <a:solidFill>
              <a:srgbClr val="13294B"/>
            </a:solidFill>
            <a:tailEnd type="triangle" w="med" len="med"/>
          </a:ln>
        </p:spPr>
      </p:cxnSp>
      <p:sp>
        <p:nvSpPr>
          <p:cNvPr id="19" name="Rounded Rectangle 18"/>
          <p:cNvSpPr/>
          <p:nvPr/>
        </p:nvSpPr>
        <p:spPr>
          <a:xfrm>
            <a:off x="2611314" y="2804660"/>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611314" y="2804660"/>
            <a:ext cx="16461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HAS_COMPONENT</a:t>
            </a:r>
          </a:p>
        </p:txBody>
      </p:sp>
      <p:cxnSp>
        <p:nvCxnSpPr>
          <p:cNvPr id="21" name="Connector 20"/>
          <p:cNvCxnSpPr/>
          <p:nvPr/>
        </p:nvCxnSpPr>
        <p:spPr>
          <a:xfrm flipV="1">
            <a:off x="2007530" y="4274947"/>
            <a:ext cx="2853706" cy="1074689"/>
          </a:xfrm>
          <a:prstGeom prst="line">
            <a:avLst/>
          </a:prstGeom>
          <a:ln w="28575">
            <a:solidFill>
              <a:srgbClr val="13294B"/>
            </a:solidFill>
            <a:tailEnd type="triangle" w="med" len="med"/>
          </a:ln>
        </p:spPr>
      </p:cxnSp>
      <p:sp>
        <p:nvSpPr>
          <p:cNvPr id="22" name="Rounded Rectangle 21"/>
          <p:cNvSpPr/>
          <p:nvPr/>
        </p:nvSpPr>
        <p:spPr>
          <a:xfrm>
            <a:off x="2825014" y="4446531"/>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825014" y="4446531"/>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OCCURS_IN</a:t>
            </a:r>
          </a:p>
        </p:txBody>
      </p:sp>
      <p:cxnSp>
        <p:nvCxnSpPr>
          <p:cNvPr id="24" name="Connector 23"/>
          <p:cNvCxnSpPr/>
          <p:nvPr/>
        </p:nvCxnSpPr>
        <p:spPr>
          <a:xfrm flipV="1">
            <a:off x="6313830" y="2709824"/>
            <a:ext cx="1947188" cy="942814"/>
          </a:xfrm>
          <a:prstGeom prst="line">
            <a:avLst/>
          </a:prstGeom>
          <a:ln w="28575">
            <a:solidFill>
              <a:srgbClr val="13294B"/>
            </a:solidFill>
            <a:tailEnd type="triangle" w="med" len="med"/>
          </a:ln>
        </p:spPr>
      </p:cxnSp>
      <p:sp>
        <p:nvSpPr>
          <p:cNvPr id="25" name="Rounded Rectangle 24"/>
          <p:cNvSpPr/>
          <p:nvPr/>
        </p:nvSpPr>
        <p:spPr>
          <a:xfrm>
            <a:off x="6517780" y="2815471"/>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6517780" y="2815471"/>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MONITORED_BY</a:t>
            </a:r>
          </a:p>
        </p:txBody>
      </p:sp>
      <p:cxnSp>
        <p:nvCxnSpPr>
          <p:cNvPr id="27" name="Connector 26"/>
          <p:cNvCxnSpPr/>
          <p:nvPr/>
        </p:nvCxnSpPr>
        <p:spPr>
          <a:xfrm>
            <a:off x="6391518" y="3991356"/>
            <a:ext cx="3715345" cy="0"/>
          </a:xfrm>
          <a:prstGeom prst="line">
            <a:avLst/>
          </a:prstGeom>
          <a:ln w="28575">
            <a:solidFill>
              <a:srgbClr val="13294B"/>
            </a:solidFill>
            <a:tailEnd type="triangle" w="med" len="med"/>
          </a:ln>
        </p:spPr>
      </p:cxnSp>
      <p:sp>
        <p:nvSpPr>
          <p:cNvPr id="28" name="Rounded Rectangle 27"/>
          <p:cNvSpPr/>
          <p:nvPr/>
        </p:nvSpPr>
        <p:spPr>
          <a:xfrm>
            <a:off x="7479546"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7479546" y="3625596"/>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MONITORED_BY</a:t>
            </a:r>
          </a:p>
        </p:txBody>
      </p:sp>
      <p:cxnSp>
        <p:nvCxnSpPr>
          <p:cNvPr id="30" name="Connector 29"/>
          <p:cNvCxnSpPr/>
          <p:nvPr/>
        </p:nvCxnSpPr>
        <p:spPr>
          <a:xfrm>
            <a:off x="6313830" y="4330073"/>
            <a:ext cx="1947188" cy="942814"/>
          </a:xfrm>
          <a:prstGeom prst="line">
            <a:avLst/>
          </a:prstGeom>
          <a:ln w="28575">
            <a:solidFill>
              <a:srgbClr val="13294B"/>
            </a:solidFill>
            <a:tailEnd type="triangle" w="med" len="med"/>
          </a:ln>
        </p:spPr>
      </p:cxnSp>
      <p:sp>
        <p:nvSpPr>
          <p:cNvPr id="31" name="Rounded Rectangle 30"/>
          <p:cNvSpPr/>
          <p:nvPr/>
        </p:nvSpPr>
        <p:spPr>
          <a:xfrm>
            <a:off x="6678055" y="4435720"/>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6678055" y="4435720"/>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USES_PART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경보에서 교체품까지 길 잇기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경보에서 교체품까지는 증상 → 고장 유형 → 장치 → 부품으로 잇고, 원인은 고장 유형과 증거에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Oval 5"/>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센서</a:t>
            </a:r>
          </a:p>
          <a:p>
            <a:pPr algn="ctr" eaLnBrk="0">
              <a:lnSpc>
                <a:spcPct val="110000"/>
              </a:lnSpc>
            </a:pPr>
            <a:r>
              <a:rPr sz="1100" b="0">
                <a:solidFill>
                  <a:srgbClr val="556175"/>
                </a:solidFill>
                <a:latin typeface="맑은 고딕"/>
                <a:ea typeface="맑은 고딕"/>
                <a:cs typeface="맑은 고딕"/>
              </a:rPr>
              <a:t>Sensor</a:t>
            </a:r>
          </a:p>
        </p:txBody>
      </p:sp>
      <p:sp>
        <p:nvSpPr>
          <p:cNvPr id="8" name="Oval 7"/>
          <p:cNvSpPr/>
          <p:nvPr/>
        </p:nvSpPr>
        <p:spPr>
          <a:xfrm>
            <a:off x="3534366" y="162763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636779"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상승</a:t>
            </a:r>
          </a:p>
          <a:p>
            <a:pPr algn="ctr" eaLnBrk="0">
              <a:lnSpc>
                <a:spcPct val="110000"/>
              </a:lnSpc>
            </a:pPr>
            <a:r>
              <a:rPr sz="1100" b="0">
                <a:solidFill>
                  <a:srgbClr val="556175"/>
                </a:solidFill>
                <a:latin typeface="맑은 고딕"/>
                <a:ea typeface="맑은 고딕"/>
                <a:cs typeface="맑은 고딕"/>
              </a:rPr>
              <a:t>Symptom</a:t>
            </a:r>
          </a:p>
        </p:txBody>
      </p:sp>
      <p:sp>
        <p:nvSpPr>
          <p:cNvPr id="10" name="Oval 9"/>
          <p:cNvSpPr/>
          <p:nvPr/>
        </p:nvSpPr>
        <p:spPr>
          <a:xfrm>
            <a:off x="6520092" y="1627632"/>
            <a:ext cx="1463040" cy="146304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6622505"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성능 상실</a:t>
            </a:r>
          </a:p>
          <a:p>
            <a:pPr algn="ctr" eaLnBrk="0">
              <a:lnSpc>
                <a:spcPct val="110000"/>
              </a:lnSpc>
            </a:pPr>
            <a:r>
              <a:rPr sz="1100" b="0">
                <a:solidFill>
                  <a:srgbClr val="556175"/>
                </a:solidFill>
                <a:latin typeface="맑은 고딕"/>
                <a:ea typeface="맑은 고딕"/>
                <a:cs typeface="맑은 고딕"/>
              </a:rPr>
              <a:t>FailureMode</a:t>
            </a:r>
          </a:p>
        </p:txBody>
      </p:sp>
      <p:sp>
        <p:nvSpPr>
          <p:cNvPr id="12" name="Oval 11"/>
          <p:cNvSpPr/>
          <p:nvPr/>
        </p:nvSpPr>
        <p:spPr>
          <a:xfrm>
            <a:off x="921687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9319290"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오일 쿨러</a:t>
            </a:r>
          </a:p>
          <a:p>
            <a:pPr algn="ctr" eaLnBrk="0">
              <a:lnSpc>
                <a:spcPct val="110000"/>
              </a:lnSpc>
            </a:pPr>
            <a:r>
              <a:rPr sz="1100" b="0">
                <a:solidFill>
                  <a:srgbClr val="556175"/>
                </a:solidFill>
                <a:latin typeface="맑은 고딕"/>
                <a:ea typeface="맑은 고딕"/>
                <a:cs typeface="맑은 고딕"/>
              </a:rPr>
              <a:t>Component</a:t>
            </a:r>
          </a:p>
        </p:txBody>
      </p:sp>
      <p:sp>
        <p:nvSpPr>
          <p:cNvPr id="14" name="Oval 13"/>
          <p:cNvSpPr/>
          <p:nvPr/>
        </p:nvSpPr>
        <p:spPr>
          <a:xfrm>
            <a:off x="3534366"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3636779"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효율 낮음</a:t>
            </a:r>
          </a:p>
          <a:p>
            <a:pPr algn="ctr" eaLnBrk="0">
              <a:lnSpc>
                <a:spcPct val="110000"/>
              </a:lnSpc>
            </a:pPr>
            <a:r>
              <a:rPr sz="1100" b="0">
                <a:solidFill>
                  <a:srgbClr val="556175"/>
                </a:solidFill>
                <a:latin typeface="맑은 고딕"/>
                <a:ea typeface="맑은 고딕"/>
                <a:cs typeface="맑은 고딕"/>
              </a:rPr>
              <a:t>Evidence</a:t>
            </a:r>
          </a:p>
        </p:txBody>
      </p:sp>
      <p:sp>
        <p:nvSpPr>
          <p:cNvPr id="16" name="Oval 15"/>
          <p:cNvSpPr/>
          <p:nvPr/>
        </p:nvSpPr>
        <p:spPr>
          <a:xfrm>
            <a:off x="652009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6622505"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100" b="0">
                <a:solidFill>
                  <a:srgbClr val="556175"/>
                </a:solidFill>
                <a:latin typeface="맑은 고딕"/>
                <a:ea typeface="맑은 고딕"/>
                <a:cs typeface="맑은 고딕"/>
              </a:rPr>
              <a:t>Cause</a:t>
            </a:r>
          </a:p>
        </p:txBody>
      </p:sp>
      <p:sp>
        <p:nvSpPr>
          <p:cNvPr id="18" name="Oval 17"/>
          <p:cNvSpPr/>
          <p:nvPr/>
        </p:nvSpPr>
        <p:spPr>
          <a:xfrm>
            <a:off x="9216877"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9319290"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코어</a:t>
            </a:r>
          </a:p>
          <a:p>
            <a:pPr algn="ctr" eaLnBrk="0">
              <a:lnSpc>
                <a:spcPct val="110000"/>
              </a:lnSpc>
            </a:pPr>
            <a:r>
              <a:rPr sz="1100" b="0">
                <a:solidFill>
                  <a:srgbClr val="556175"/>
                </a:solidFill>
                <a:latin typeface="맑은 고딕"/>
                <a:ea typeface="맑은 고딕"/>
                <a:cs typeface="맑은 고딕"/>
              </a:rPr>
              <a:t>Part</a:t>
            </a:r>
          </a:p>
        </p:txBody>
      </p:sp>
      <p:cxnSp>
        <p:nvCxnSpPr>
          <p:cNvPr id="20" name="Connector 19"/>
          <p:cNvCxnSpPr/>
          <p:nvPr/>
        </p:nvCxnSpPr>
        <p:spPr>
          <a:xfrm flipH="1">
            <a:off x="2084831" y="2359152"/>
            <a:ext cx="1403815" cy="0"/>
          </a:xfrm>
          <a:prstGeom prst="line">
            <a:avLst/>
          </a:prstGeom>
          <a:ln w="28575">
            <a:solidFill>
              <a:srgbClr val="13294B"/>
            </a:solidFill>
            <a:tailEnd type="triangle" w="med" len="med"/>
          </a:ln>
        </p:spPr>
      </p:cxnSp>
      <p:sp>
        <p:nvSpPr>
          <p:cNvPr id="21" name="Rounded Rectangle 20"/>
          <p:cNvSpPr/>
          <p:nvPr/>
        </p:nvSpPr>
        <p:spPr>
          <a:xfrm>
            <a:off x="2070520" y="1993392"/>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2070520" y="1993392"/>
            <a:ext cx="14324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OBSERVED_BY</a:t>
            </a:r>
          </a:p>
        </p:txBody>
      </p:sp>
      <p:cxnSp>
        <p:nvCxnSpPr>
          <p:cNvPr id="23" name="Connector 22"/>
          <p:cNvCxnSpPr/>
          <p:nvPr/>
        </p:nvCxnSpPr>
        <p:spPr>
          <a:xfrm>
            <a:off x="5043126" y="2359152"/>
            <a:ext cx="1403814" cy="0"/>
          </a:xfrm>
          <a:prstGeom prst="line">
            <a:avLst/>
          </a:prstGeom>
          <a:ln w="28575">
            <a:solidFill>
              <a:srgbClr val="13294B"/>
            </a:solidFill>
            <a:tailEnd type="triangle" w="med" len="med"/>
          </a:ln>
        </p:spPr>
      </p:cxnSp>
      <p:sp>
        <p:nvSpPr>
          <p:cNvPr id="24" name="Rounded Rectangle 23"/>
          <p:cNvSpPr/>
          <p:nvPr/>
        </p:nvSpPr>
        <p:spPr>
          <a:xfrm>
            <a:off x="5127047" y="1993392"/>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5" name="TextBox 24"/>
          <p:cNvSpPr txBox="1"/>
          <p:nvPr/>
        </p:nvSpPr>
        <p:spPr>
          <a:xfrm>
            <a:off x="5127047" y="1993392"/>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26" name="Connector 25"/>
          <p:cNvCxnSpPr/>
          <p:nvPr/>
        </p:nvCxnSpPr>
        <p:spPr>
          <a:xfrm>
            <a:off x="8028852" y="2359152"/>
            <a:ext cx="1114873" cy="0"/>
          </a:xfrm>
          <a:prstGeom prst="line">
            <a:avLst/>
          </a:prstGeom>
          <a:ln w="28575">
            <a:solidFill>
              <a:srgbClr val="13294B"/>
            </a:solidFill>
            <a:tailEnd type="triangle" w="med" len="med"/>
          </a:ln>
        </p:spPr>
      </p:cxnSp>
      <p:sp>
        <p:nvSpPr>
          <p:cNvPr id="27" name="Rounded Rectangle 26"/>
          <p:cNvSpPr/>
          <p:nvPr/>
        </p:nvSpPr>
        <p:spPr>
          <a:xfrm>
            <a:off x="7976920" y="199339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8" name="TextBox 27"/>
          <p:cNvSpPr txBox="1"/>
          <p:nvPr/>
        </p:nvSpPr>
        <p:spPr>
          <a:xfrm>
            <a:off x="7976920" y="1993392"/>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OCCURS_IN</a:t>
            </a:r>
          </a:p>
        </p:txBody>
      </p:sp>
      <p:cxnSp>
        <p:nvCxnSpPr>
          <p:cNvPr id="29" name="Connector 28"/>
          <p:cNvCxnSpPr/>
          <p:nvPr/>
        </p:nvCxnSpPr>
        <p:spPr>
          <a:xfrm flipV="1">
            <a:off x="7251612" y="3163824"/>
            <a:ext cx="0" cy="1682496"/>
          </a:xfrm>
          <a:prstGeom prst="line">
            <a:avLst/>
          </a:prstGeom>
          <a:ln w="28575">
            <a:solidFill>
              <a:srgbClr val="13294B"/>
            </a:solidFill>
            <a:tailEnd type="triangle" w="med" len="med"/>
          </a:ln>
        </p:spPr>
      </p:cxnSp>
      <p:sp>
        <p:nvSpPr>
          <p:cNvPr id="30" name="Rounded Rectangle 29"/>
          <p:cNvSpPr/>
          <p:nvPr/>
        </p:nvSpPr>
        <p:spPr>
          <a:xfrm>
            <a:off x="7343052" y="3858768"/>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1" name="TextBox 30"/>
          <p:cNvSpPr txBox="1"/>
          <p:nvPr/>
        </p:nvSpPr>
        <p:spPr>
          <a:xfrm>
            <a:off x="7343052" y="3858768"/>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32" name="Connector 31"/>
          <p:cNvCxnSpPr/>
          <p:nvPr/>
        </p:nvCxnSpPr>
        <p:spPr>
          <a:xfrm flipH="1">
            <a:off x="5070558" y="5623560"/>
            <a:ext cx="1403814" cy="0"/>
          </a:xfrm>
          <a:prstGeom prst="line">
            <a:avLst/>
          </a:prstGeom>
          <a:ln w="28575">
            <a:solidFill>
              <a:srgbClr val="13294B"/>
            </a:solidFill>
            <a:tailEnd type="triangle" w="med" len="med"/>
          </a:ln>
        </p:spPr>
      </p:cxnSp>
      <p:sp>
        <p:nvSpPr>
          <p:cNvPr id="33" name="Rounded Rectangle 32"/>
          <p:cNvSpPr/>
          <p:nvPr/>
        </p:nvSpPr>
        <p:spPr>
          <a:xfrm>
            <a:off x="5002821" y="525780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4" name="TextBox 33"/>
          <p:cNvSpPr txBox="1"/>
          <p:nvPr/>
        </p:nvSpPr>
        <p:spPr>
          <a:xfrm>
            <a:off x="5002821" y="525780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EVIDENCED_BY</a:t>
            </a:r>
          </a:p>
        </p:txBody>
      </p:sp>
      <p:cxnSp>
        <p:nvCxnSpPr>
          <p:cNvPr id="35" name="Connector 34"/>
          <p:cNvCxnSpPr/>
          <p:nvPr/>
        </p:nvCxnSpPr>
        <p:spPr>
          <a:xfrm>
            <a:off x="9948397" y="3136392"/>
            <a:ext cx="0" cy="1682496"/>
          </a:xfrm>
          <a:prstGeom prst="line">
            <a:avLst/>
          </a:prstGeom>
          <a:ln w="28575">
            <a:solidFill>
              <a:srgbClr val="13294B"/>
            </a:solidFill>
            <a:tailEnd type="triangle" w="med" len="med"/>
          </a:ln>
        </p:spPr>
      </p:cxnSp>
      <p:sp>
        <p:nvSpPr>
          <p:cNvPr id="36" name="Rounded Rectangle 35"/>
          <p:cNvSpPr/>
          <p:nvPr/>
        </p:nvSpPr>
        <p:spPr>
          <a:xfrm>
            <a:off x="10039837" y="383133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7" name="TextBox 36"/>
          <p:cNvSpPr txBox="1"/>
          <p:nvPr/>
        </p:nvSpPr>
        <p:spPr>
          <a:xfrm>
            <a:off x="10039837" y="3831336"/>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USES_PART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카디널리티와 관계의 속성</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연결 수와 짝에 붙는 값을 정하고, 설계 선택과 판단 문제에 써 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카디널리티의 네 형태와 새 연결의 판정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카디널리티</a:t>
            </a:r>
            <a:r>
              <a:rPr sz="1600" b="0">
                <a:solidFill>
                  <a:srgbClr val="556175"/>
                </a:solidFill>
                <a:latin typeface="맑은 고딕"/>
                <a:ea typeface="맑은 고딕"/>
                <a:cs typeface="맑은 고딕"/>
              </a:rPr>
              <a:t>(Cardinality)는 한쪽 대상 하나에 반대쪽이 몇 개까지 이어지는지로, 새 연결을 받을지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형태 · 관계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HYD의 실제 연결 (시작 → 끝)</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새 연결을 넣으면 (가정)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1:1 · MANIPULATES</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팬 인버터 → 팬 속도</a:t>
            </a:r>
          </a:p>
          <a:p>
            <a:pPr algn="l" eaLnBrk="0">
              <a:lnSpc>
                <a:spcPct val="110000"/>
              </a:lnSpc>
            </a:pPr>
            <a:r>
              <a:rPr sz="1400" b="0">
                <a:solidFill>
                  <a:srgbClr val="1F2A3A"/>
                </a:solidFill>
                <a:latin typeface="맑은 고딕"/>
                <a:ea typeface="맑은 고딕"/>
                <a:cs typeface="맑은 고딕"/>
              </a:rPr>
              <a:t>구동기 하나가 조작 변수 하나를 바꾼다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속도에 구동기</a:t>
            </a:r>
          </a:p>
          <a:p>
            <a:pPr algn="l" eaLnBrk="0">
              <a:lnSpc>
                <a:spcPct val="110000"/>
              </a:lnSpc>
            </a:pPr>
            <a:r>
              <a:rPr sz="1250" b="1">
                <a:solidFill>
                  <a:srgbClr val="556175"/>
                </a:solidFill>
                <a:latin typeface="맑은 고딕"/>
                <a:ea typeface="맑은 고딕"/>
                <a:cs typeface="맑은 고딕"/>
              </a:rPr>
              <a:t>하나 더: 받지 않는다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1:N · EVIDENCED_BY</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핀 오염 → 냉각 효율 평균 70 % 미만 · 팬 진동 정상</a:t>
            </a:r>
          </a:p>
          <a:p>
            <a:pPr algn="l" eaLnBrk="0">
              <a:lnSpc>
                <a:spcPct val="110000"/>
              </a:lnSpc>
            </a:pPr>
            <a:r>
              <a:rPr sz="1400" b="0">
                <a:solidFill>
                  <a:srgbClr val="1F2A3A"/>
                </a:solidFill>
                <a:latin typeface="맑은 고딕"/>
                <a:ea typeface="맑은 고딕"/>
                <a:cs typeface="맑은 고딕"/>
              </a:rPr>
              <a:t>원인 하나에 증거 여럿, 증거마다 원인은 하나</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증거 하나를 두 원인에:</a:t>
            </a:r>
          </a:p>
          <a:p>
            <a:pPr algn="l" eaLnBrk="0">
              <a:lnSpc>
                <a:spcPct val="110000"/>
              </a:lnSpc>
            </a:pPr>
            <a:r>
              <a:rPr sz="1250" b="1">
                <a:solidFill>
                  <a:srgbClr val="556175"/>
                </a:solidFill>
                <a:latin typeface="맑은 고딕"/>
                <a:ea typeface="맑은 고딕"/>
                <a:cs typeface="맑은 고딕"/>
              </a:rPr>
              <a:t>받지 않는다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N:1 · OBSERVES</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센서 → 유온</a:t>
            </a:r>
          </a:p>
          <a:p>
            <a:pPr algn="l" eaLnBrk="0">
              <a:lnSpc>
                <a:spcPct val="110000"/>
              </a:lnSpc>
            </a:pPr>
            <a:r>
              <a:rPr sz="1400" b="0">
                <a:solidFill>
                  <a:srgbClr val="1F2A3A"/>
                </a:solidFill>
                <a:latin typeface="맑은 고딕"/>
                <a:ea typeface="맑은 고딕"/>
                <a:cs typeface="맑은 고딕"/>
              </a:rPr>
              <a:t>센서는 상태 변수 하나를 읽고, 유온은 센서 여럿을 받을 수 있다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유온 센서 하나 더:</a:t>
            </a:r>
          </a:p>
          <a:p>
            <a:pPr algn="l" eaLnBrk="0">
              <a:lnSpc>
                <a:spcPct val="110000"/>
              </a:lnSpc>
            </a:pPr>
            <a:r>
              <a:rPr sz="1250" b="1">
                <a:solidFill>
                  <a:srgbClr val="556175"/>
                </a:solidFill>
                <a:latin typeface="맑은 고딕"/>
                <a:ea typeface="맑은 고딕"/>
                <a:cs typeface="맑은 고딕"/>
              </a:rPr>
              <a:t>받는다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N:M · SUPPLIED_BY</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펌프 축 씰 키트 → A정밀 · B-OEM · C트레이딩</a:t>
            </a:r>
          </a:p>
          <a:p>
            <a:pPr algn="l" eaLnBrk="0">
              <a:lnSpc>
                <a:spcPct val="110000"/>
              </a:lnSpc>
            </a:pPr>
            <a:r>
              <a:rPr sz="1400" b="0">
                <a:solidFill>
                  <a:srgbClr val="1F2A3A"/>
                </a:solidFill>
                <a:latin typeface="맑은 고딕"/>
                <a:ea typeface="맑은 고딕"/>
                <a:cs typeface="맑은 고딕"/>
              </a:rPr>
              <a:t>A정밀은 팬 베어링 · 쿨러 코어도 공급한다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공급사 하나 더:</a:t>
            </a:r>
          </a:p>
          <a:p>
            <a:pPr algn="l" eaLnBrk="0">
              <a:lnSpc>
                <a:spcPct val="110000"/>
              </a:lnSpc>
            </a:pPr>
            <a:r>
              <a:rPr sz="1250" b="1">
                <a:solidFill>
                  <a:srgbClr val="556175"/>
                </a:solidFill>
                <a:latin typeface="맑은 고딕"/>
                <a:ea typeface="맑은 고딕"/>
                <a:cs typeface="맑은 고딕"/>
              </a:rPr>
              <a:t>기존 연결과 함께 잇는다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카디널리티 선언과 실제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카디널리티 선언은 데이터베이스가 막아 주지 않아서, 실제 연결 수를 세어 대조해야 어긋남이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22144"/>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575763"/>
            <a:ext cx="424281" cy="424281"/>
          </a:xfrm>
          <a:prstGeom prst="rect">
            <a:avLst/>
          </a:prstGeom>
        </p:spPr>
      </p:pic>
      <p:sp>
        <p:nvSpPr>
          <p:cNvPr id="9" name="TextBox 8"/>
          <p:cNvSpPr txBox="1"/>
          <p:nvPr/>
        </p:nvSpPr>
        <p:spPr>
          <a:xfrm>
            <a:off x="1691640"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넣기 전에 막을 연결</a:t>
            </a:r>
          </a:p>
        </p:txBody>
      </p:sp>
      <p:sp>
        <p:nvSpPr>
          <p:cNvPr id="10" name="TextBox 9"/>
          <p:cNvSpPr txBox="1"/>
          <p:nvPr/>
        </p:nvSpPr>
        <p:spPr>
          <a:xfrm>
            <a:off x="822959" y="3272536"/>
            <a:ext cx="4632807" cy="194056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MANIPULATES는 1:1로 선언되어 있다</a:t>
            </a:r>
          </a:p>
          <a:p>
            <a:pPr algn="l" eaLnBrk="0" marL="171450" indent="-171450">
              <a:lnSpc>
                <a:spcPct val="110000"/>
              </a:lnSpc>
              <a:spcAft>
                <a:spcPts val="600"/>
              </a:spcAft>
            </a:pPr>
            <a:r>
              <a:rPr sz="1500" b="0">
                <a:solidFill>
                  <a:srgbClr val="1F2A3A"/>
                </a:solidFill>
                <a:latin typeface="맑은 고딕"/>
                <a:ea typeface="맑은 고딕"/>
                <a:cs typeface="맑은 고딕"/>
              </a:rPr>
              <a:t>• 가정: 팬 인버터 → 팬 속도와 펌프 부하</a:t>
            </a:r>
          </a:p>
          <a:p>
            <a:pPr algn="l" eaLnBrk="0" marL="171450" indent="-171450">
              <a:lnSpc>
                <a:spcPct val="110000"/>
              </a:lnSpc>
              <a:spcAft>
                <a:spcPts val="600"/>
              </a:spcAft>
            </a:pPr>
            <a:r>
              <a:rPr sz="1500" b="0">
                <a:solidFill>
                  <a:srgbClr val="1F2A3A"/>
                </a:solidFill>
                <a:latin typeface="맑은 고딕"/>
                <a:ea typeface="맑은 고딕"/>
                <a:cs typeface="맑은 고딕"/>
              </a:rPr>
              <a:t>• 구동기 하나에 상태 변수 둘 — 넣기 전에 멈춘다</a:t>
            </a:r>
          </a:p>
        </p:txBody>
      </p:sp>
      <p:sp>
        <p:nvSpPr>
          <p:cNvPr id="11" name="Rounded Rectangle 10"/>
          <p:cNvSpPr/>
          <p:nvPr/>
        </p:nvSpPr>
        <p:spPr>
          <a:xfrm>
            <a:off x="868680" y="5304536"/>
            <a:ext cx="16763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04536"/>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다시 확인할 데이터</a:t>
            </a:r>
          </a:p>
        </p:txBody>
      </p:sp>
      <p:sp>
        <p:nvSpPr>
          <p:cNvPr id="13" name="Rounded Rectangle 12"/>
          <p:cNvSpPr/>
          <p:nvPr/>
        </p:nvSpPr>
        <p:spPr>
          <a:xfrm>
            <a:off x="6461607" y="2220976"/>
            <a:ext cx="5181447" cy="354076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22144"/>
            <a:ext cx="731520" cy="731520"/>
          </a:xfrm>
          <a:prstGeom prst="ellipse">
            <a:avLst/>
          </a:prstGeom>
          <a:solidFill>
            <a:srgbClr val="5CB8F2"/>
          </a:solidFill>
          <a:ln>
            <a:noFill/>
          </a:ln>
        </p:spPr>
        <p:txBody>
          <a:bodyPr rtlCol="0" anchor="ctr"/>
          <a:lstStyle/>
          <a:p>
            <a:pPr algn="ctr"/>
          </a:p>
        </p:txBody>
      </p:sp>
      <p:pic>
        <p:nvPicPr>
          <p:cNvPr id="15" name="아이콘:git-compare" descr="git-compare_13294B_1.6.png"/>
          <p:cNvPicPr>
            <a:picLocks noChangeAspect="1"/>
          </p:cNvPicPr>
          <p:nvPr/>
        </p:nvPicPr>
        <p:blipFill>
          <a:blip r:embed="rId4"/>
          <a:stretch>
            <a:fillRect/>
          </a:stretch>
        </p:blipFill>
        <p:spPr>
          <a:xfrm>
            <a:off x="6889546" y="2575763"/>
            <a:ext cx="424281" cy="424281"/>
          </a:xfrm>
          <a:prstGeom prst="rect">
            <a:avLst/>
          </a:prstGeom>
        </p:spPr>
      </p:pic>
      <p:sp>
        <p:nvSpPr>
          <p:cNvPr id="16" name="TextBox 15"/>
          <p:cNvSpPr txBox="1"/>
          <p:nvPr/>
        </p:nvSpPr>
        <p:spPr>
          <a:xfrm>
            <a:off x="7604607" y="242214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이미 들어 있는 어긋남</a:t>
            </a:r>
          </a:p>
        </p:txBody>
      </p:sp>
      <p:sp>
        <p:nvSpPr>
          <p:cNvPr id="17" name="TextBox 16"/>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HAS_COMPONENT는 1:N으로 선언되어 있다</a:t>
            </a:r>
          </a:p>
          <a:p>
            <a:pPr algn="l" eaLnBrk="0" marL="182880" indent="-182880">
              <a:lnSpc>
                <a:spcPct val="110000"/>
              </a:lnSpc>
              <a:spcAft>
                <a:spcPts val="600"/>
              </a:spcAft>
            </a:pPr>
            <a:r>
              <a:rPr sz="1600" b="0">
                <a:solidFill>
                  <a:srgbClr val="1F2A3A"/>
                </a:solidFill>
                <a:latin typeface="맑은 고딕"/>
                <a:ea typeface="맑은 고딕"/>
                <a:cs typeface="맑은 고딕"/>
              </a:rPr>
              <a:t>• HYD-01 · 02 · 03이 같은 comp:cooler를 가리킨다</a:t>
            </a:r>
          </a:p>
          <a:p>
            <a:pPr algn="l" eaLnBrk="0" marL="182880" indent="-182880">
              <a:lnSpc>
                <a:spcPct val="110000"/>
              </a:lnSpc>
              <a:spcAft>
                <a:spcPts val="600"/>
              </a:spcAft>
            </a:pPr>
            <a:r>
              <a:rPr sz="1600" b="0">
                <a:solidFill>
                  <a:srgbClr val="1F2A3A"/>
                </a:solidFill>
                <a:latin typeface="맑은 고딕"/>
                <a:ea typeface="맑은 고딕"/>
                <a:cs typeface="맑은 고딕"/>
              </a:rPr>
              <a:t>• 기종의 공통 구성 지식이라 다대다처럼 쓰인다</a:t>
            </a:r>
          </a:p>
          <a:p>
            <a:pPr algn="l" eaLnBrk="0" marL="182880" indent="-182880">
              <a:lnSpc>
                <a:spcPct val="110000"/>
              </a:lnSpc>
              <a:spcAft>
                <a:spcPts val="600"/>
              </a:spcAft>
            </a:pPr>
            <a:r>
              <a:rPr sz="1600" b="0">
                <a:solidFill>
                  <a:srgbClr val="1F2A3A"/>
                </a:solidFill>
                <a:latin typeface="맑은 고딕"/>
                <a:ea typeface="맑은 고딕"/>
                <a:cs typeface="맑은 고딕"/>
              </a:rPr>
              <a:t>• 고치는 방향은 다음 장에서 고른다</a:t>
            </a:r>
          </a:p>
        </p:txBody>
      </p:sp>
      <p:sp>
        <p:nvSpPr>
          <p:cNvPr id="18" name="Rounded Rectangle 17"/>
          <p:cNvSpPr/>
          <p:nvPr/>
        </p:nvSpPr>
        <p:spPr>
          <a:xfrm>
            <a:off x="6781647" y="5304536"/>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04536"/>
            <a:ext cx="18288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선언과 데이터의 차이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단계 더: 공통 노드 하나로 둘까, 설비마다 나눌까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모델 세 대를 노드 하나로 둘지 나눌지는 답할 질문이 정하고, 고른 쪽에 선언과 데이터를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220976"/>
            <a:ext cx="5181447" cy="354076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2214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공통 구성 지식 노드 하나</a:t>
            </a:r>
          </a:p>
        </p:txBody>
      </p:sp>
      <p:sp>
        <p:nvSpPr>
          <p:cNvPr id="8" name="TextBox 7"/>
          <p:cNvSpPr txBox="1"/>
          <p:nvPr/>
        </p:nvSpPr>
        <p:spPr>
          <a:xfrm>
            <a:off x="822959"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HYD-01 · 02 · 03이 comp:cooler 하나를 가리킨다</a:t>
            </a:r>
          </a:p>
          <a:p>
            <a:pPr algn="l" eaLnBrk="0" marL="182880" indent="-182880">
              <a:lnSpc>
                <a:spcPct val="110000"/>
              </a:lnSpc>
              <a:spcAft>
                <a:spcPts val="600"/>
              </a:spcAft>
            </a:pPr>
            <a:r>
              <a:rPr sz="1600" b="0">
                <a:solidFill>
                  <a:srgbClr val="1F2A3A"/>
                </a:solidFill>
                <a:latin typeface="맑은 고딕"/>
                <a:ea typeface="맑은 고딕"/>
                <a:cs typeface="맑은 고딕"/>
              </a:rPr>
              <a:t>• 장치별 센서 · 부품 찾기에 충분하다</a:t>
            </a:r>
          </a:p>
          <a:p>
            <a:pPr algn="l" eaLnBrk="0" marL="182880" indent="-182880">
              <a:lnSpc>
                <a:spcPct val="110000"/>
              </a:lnSpc>
              <a:spcAft>
                <a:spcPts val="600"/>
              </a:spcAft>
            </a:pPr>
            <a:r>
              <a:rPr sz="1600" b="0">
                <a:solidFill>
                  <a:srgbClr val="1F2A3A"/>
                </a:solidFill>
                <a:latin typeface="맑은 고딕"/>
                <a:ea typeface="맑은 고딕"/>
                <a:cs typeface="맑은 고딕"/>
              </a:rPr>
              <a:t>• 세 설비를 합쳐 세면 같은 센서가 세 번 나온다</a:t>
            </a:r>
          </a:p>
          <a:p>
            <a:pPr algn="l" eaLnBrk="0" marL="182880" indent="-182880">
              <a:lnSpc>
                <a:spcPct val="110000"/>
              </a:lnSpc>
              <a:spcAft>
                <a:spcPts val="600"/>
              </a:spcAft>
            </a:pPr>
            <a:r>
              <a:rPr sz="1600" b="0">
                <a:solidFill>
                  <a:srgbClr val="1F2A3A"/>
                </a:solidFill>
                <a:latin typeface="맑은 고딕"/>
                <a:ea typeface="맑은 고딕"/>
                <a:cs typeface="맑은 고딕"/>
              </a:rPr>
              <a:t>• 1:N 선언과 어긋나 선언을 고쳐야 맞다</a:t>
            </a:r>
          </a:p>
        </p:txBody>
      </p:sp>
      <p:sp>
        <p:nvSpPr>
          <p:cNvPr id="9" name="Rounded Rectangle 8"/>
          <p:cNvSpPr/>
          <p:nvPr/>
        </p:nvSpPr>
        <p:spPr>
          <a:xfrm>
            <a:off x="868680" y="5304536"/>
            <a:ext cx="11734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0453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지금 그래프</a:t>
            </a:r>
          </a:p>
        </p:txBody>
      </p:sp>
      <p:sp>
        <p:nvSpPr>
          <p:cNvPr id="11" name="Rounded Rectangle 10"/>
          <p:cNvSpPr/>
          <p:nvPr/>
        </p:nvSpPr>
        <p:spPr>
          <a:xfrm>
            <a:off x="6461607" y="2220976"/>
            <a:ext cx="5181447" cy="354076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2214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설비마다 구성 요소를 나눈다</a:t>
            </a:r>
          </a:p>
        </p:txBody>
      </p:sp>
      <p:sp>
        <p:nvSpPr>
          <p:cNvPr id="13" name="TextBox 12"/>
          <p:cNvSpPr txBox="1"/>
          <p:nvPr/>
        </p:nvSpPr>
        <p:spPr>
          <a:xfrm>
            <a:off x="6735927" y="3272536"/>
            <a:ext cx="4632807" cy="1940560"/>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설비마다 다른 기록을 붙일 수 있다</a:t>
            </a:r>
          </a:p>
          <a:p>
            <a:pPr algn="l" eaLnBrk="0" marL="182880" indent="-182880">
              <a:lnSpc>
                <a:spcPct val="110000"/>
              </a:lnSpc>
              <a:spcAft>
                <a:spcPts val="600"/>
              </a:spcAft>
            </a:pPr>
            <a:r>
              <a:rPr sz="1600" b="0">
                <a:solidFill>
                  <a:srgbClr val="1F2A3A"/>
                </a:solidFill>
                <a:latin typeface="맑은 고딕"/>
                <a:ea typeface="맑은 고딕"/>
                <a:cs typeface="맑은 고딕"/>
              </a:rPr>
              <a:t>• 예: 설비별 쿨러 교체 이력</a:t>
            </a:r>
          </a:p>
          <a:p>
            <a:pPr algn="l" eaLnBrk="0" marL="182880" indent="-182880">
              <a:lnSpc>
                <a:spcPct val="110000"/>
              </a:lnSpc>
              <a:spcAft>
                <a:spcPts val="600"/>
              </a:spcAft>
            </a:pPr>
            <a:r>
              <a:rPr sz="1600" b="0">
                <a:solidFill>
                  <a:srgbClr val="1F2A3A"/>
                </a:solidFill>
                <a:latin typeface="맑은 고딕"/>
                <a:ea typeface="맑은 고딕"/>
                <a:cs typeface="맑은 고딕"/>
              </a:rPr>
              <a:t>• 1:N 선언에 맞는다</a:t>
            </a:r>
          </a:p>
          <a:p>
            <a:pPr algn="l" eaLnBrk="0" marL="182880" indent="-182880">
              <a:lnSpc>
                <a:spcPct val="110000"/>
              </a:lnSpc>
              <a:spcAft>
                <a:spcPts val="600"/>
              </a:spcAft>
            </a:pPr>
            <a:r>
              <a:rPr sz="1600" b="0">
                <a:solidFill>
                  <a:srgbClr val="1F2A3A"/>
                </a:solidFill>
                <a:latin typeface="맑은 고딕"/>
                <a:ea typeface="맑은 고딕"/>
                <a:cs typeface="맑은 고딕"/>
              </a:rPr>
              <a:t>• 구성 요소 노드가 설비 수만큼 는다</a:t>
            </a:r>
          </a:p>
        </p:txBody>
      </p:sp>
      <p:sp>
        <p:nvSpPr>
          <p:cNvPr id="14" name="Rounded Rectangle 13"/>
          <p:cNvSpPr/>
          <p:nvPr/>
        </p:nvSpPr>
        <p:spPr>
          <a:xfrm>
            <a:off x="6781647" y="5304536"/>
            <a:ext cx="137160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04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다른 질문일 때</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공급 관계에 딸린 값과 공급사에 딸린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price · failRate · leadDays는 짝마다 달라 공급 관계(SUPPLIED_BY)에 두고, avl은 공급사에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4759314"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4880930"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펌프 축 씰 키트</a:t>
            </a:r>
          </a:p>
          <a:p>
            <a:pPr algn="ctr" eaLnBrk="0">
              <a:lnSpc>
                <a:spcPct val="110000"/>
              </a:lnSpc>
            </a:pPr>
            <a:r>
              <a:rPr sz="1100" b="0">
                <a:solidFill>
                  <a:srgbClr val="556175"/>
                </a:solidFill>
                <a:latin typeface="맑은 고딕"/>
                <a:ea typeface="맑은 고딕"/>
                <a:cs typeface="맑은 고딕"/>
              </a:rPr>
              <a:t>Part</a:t>
            </a:r>
          </a:p>
          <a:p>
            <a:pPr algn="ctr" eaLnBrk="0">
              <a:lnSpc>
                <a:spcPct val="110000"/>
              </a:lnSpc>
            </a:pPr>
            <a:r>
              <a:rPr sz="1100" b="0">
                <a:solidFill>
                  <a:srgbClr val="556175"/>
                </a:solidFill>
                <a:latin typeface="맑은 고딕"/>
                <a:ea typeface="맑은 고딕"/>
                <a:cs typeface="맑은 고딕"/>
              </a:rPr>
              <a:t>P-PMP-SEAL</a:t>
            </a:r>
          </a:p>
        </p:txBody>
      </p:sp>
      <p:sp>
        <p:nvSpPr>
          <p:cNvPr id="8" name="Oval 7"/>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670255"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B-OEM</a:t>
            </a:r>
          </a:p>
          <a:p>
            <a:pPr algn="ctr" eaLnBrk="0">
              <a:lnSpc>
                <a:spcPct val="110000"/>
              </a:lnSpc>
            </a:pPr>
            <a:r>
              <a:rPr sz="1100" b="0">
                <a:solidFill>
                  <a:srgbClr val="556175"/>
                </a:solidFill>
                <a:latin typeface="맑은 고딕"/>
                <a:ea typeface="맑은 고딕"/>
                <a:cs typeface="맑은 고딕"/>
              </a:rPr>
              <a:t>Supplier</a:t>
            </a:r>
          </a:p>
          <a:p>
            <a:pPr algn="ctr" eaLnBrk="0">
              <a:lnSpc>
                <a:spcPct val="110000"/>
              </a:lnSpc>
            </a:pPr>
            <a:r>
              <a:rPr sz="1100" b="0">
                <a:solidFill>
                  <a:srgbClr val="556175"/>
                </a:solidFill>
                <a:latin typeface="맑은 고딕"/>
                <a:ea typeface="맑은 고딕"/>
                <a:cs typeface="맑은 고딕"/>
              </a:rPr>
              <a:t>avl true</a:t>
            </a:r>
          </a:p>
        </p:txBody>
      </p:sp>
      <p:sp>
        <p:nvSpPr>
          <p:cNvPr id="10" name="Oval 9"/>
          <p:cNvSpPr/>
          <p:nvPr/>
        </p:nvSpPr>
        <p:spPr>
          <a:xfrm>
            <a:off x="9905695" y="1627632"/>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10027310"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C트레이딩</a:t>
            </a:r>
          </a:p>
          <a:p>
            <a:pPr algn="ctr" eaLnBrk="0">
              <a:lnSpc>
                <a:spcPct val="110000"/>
              </a:lnSpc>
            </a:pPr>
            <a:r>
              <a:rPr sz="1100" b="0">
                <a:solidFill>
                  <a:srgbClr val="556175"/>
                </a:solidFill>
                <a:latin typeface="맑은 고딕"/>
                <a:ea typeface="맑은 고딕"/>
                <a:cs typeface="맑은 고딕"/>
              </a:rPr>
              <a:t>Supplier</a:t>
            </a:r>
          </a:p>
          <a:p>
            <a:pPr algn="ctr" eaLnBrk="0">
              <a:lnSpc>
                <a:spcPct val="110000"/>
              </a:lnSpc>
            </a:pPr>
            <a:r>
              <a:rPr sz="1100" b="0">
                <a:solidFill>
                  <a:srgbClr val="556175"/>
                </a:solidFill>
                <a:latin typeface="맑은 고딕"/>
                <a:ea typeface="맑은 고딕"/>
                <a:cs typeface="맑은 고딕"/>
              </a:rPr>
              <a:t>avl false</a:t>
            </a:r>
          </a:p>
        </p:txBody>
      </p:sp>
      <p:sp>
        <p:nvSpPr>
          <p:cNvPr id="12" name="Oval 11"/>
          <p:cNvSpPr/>
          <p:nvPr/>
        </p:nvSpPr>
        <p:spPr>
          <a:xfrm>
            <a:off x="4759314"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4880930"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A정밀</a:t>
            </a:r>
          </a:p>
          <a:p>
            <a:pPr algn="ctr" eaLnBrk="0">
              <a:lnSpc>
                <a:spcPct val="110000"/>
              </a:lnSpc>
            </a:pPr>
            <a:r>
              <a:rPr sz="1100" b="0">
                <a:solidFill>
                  <a:srgbClr val="556175"/>
                </a:solidFill>
                <a:latin typeface="맑은 고딕"/>
                <a:ea typeface="맑은 고딕"/>
                <a:cs typeface="맑은 고딕"/>
              </a:rPr>
              <a:t>Supplier</a:t>
            </a:r>
          </a:p>
          <a:p>
            <a:pPr algn="ctr" eaLnBrk="0">
              <a:lnSpc>
                <a:spcPct val="110000"/>
              </a:lnSpc>
            </a:pPr>
            <a:r>
              <a:rPr sz="1100" b="0">
                <a:solidFill>
                  <a:srgbClr val="556175"/>
                </a:solidFill>
                <a:latin typeface="맑은 고딕"/>
                <a:ea typeface="맑은 고딕"/>
                <a:cs typeface="맑은 고딕"/>
              </a:rPr>
              <a:t>avl true</a:t>
            </a:r>
          </a:p>
        </p:txBody>
      </p:sp>
      <p:sp>
        <p:nvSpPr>
          <p:cNvPr id="14" name="Oval 13"/>
          <p:cNvSpPr/>
          <p:nvPr/>
        </p:nvSpPr>
        <p:spPr>
          <a:xfrm>
            <a:off x="9905695"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10027310"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베어링</a:t>
            </a:r>
          </a:p>
          <a:p>
            <a:pPr algn="ctr" eaLnBrk="0">
              <a:lnSpc>
                <a:spcPct val="110000"/>
              </a:lnSpc>
            </a:pPr>
            <a:r>
              <a:rPr sz="1100" b="0">
                <a:solidFill>
                  <a:srgbClr val="556175"/>
                </a:solidFill>
                <a:latin typeface="맑은 고딕"/>
                <a:ea typeface="맑은 고딕"/>
                <a:cs typeface="맑은 고딕"/>
              </a:rPr>
              <a:t>Part</a:t>
            </a:r>
          </a:p>
          <a:p>
            <a:pPr algn="ctr" eaLnBrk="0">
              <a:lnSpc>
                <a:spcPct val="110000"/>
              </a:lnSpc>
            </a:pPr>
            <a:r>
              <a:rPr sz="1100" b="0">
                <a:solidFill>
                  <a:srgbClr val="556175"/>
                </a:solidFill>
                <a:latin typeface="맑은 고딕"/>
                <a:ea typeface="맑은 고딕"/>
                <a:cs typeface="맑은 고딕"/>
              </a:rPr>
              <a:t>P-FAN-BRG</a:t>
            </a:r>
          </a:p>
        </p:txBody>
      </p:sp>
      <p:cxnSp>
        <p:nvCxnSpPr>
          <p:cNvPr id="16" name="Connector 15"/>
          <p:cNvCxnSpPr/>
          <p:nvPr/>
        </p:nvCxnSpPr>
        <p:spPr>
          <a:xfrm flipH="1">
            <a:off x="2359152" y="2496312"/>
            <a:ext cx="2354442" cy="0"/>
          </a:xfrm>
          <a:prstGeom prst="line">
            <a:avLst/>
          </a:prstGeom>
          <a:ln w="28575">
            <a:solidFill>
              <a:srgbClr val="13294B"/>
            </a:solidFill>
            <a:tailEnd type="triangle" w="med" len="med"/>
          </a:ln>
        </p:spPr>
      </p:cxnSp>
      <p:sp>
        <p:nvSpPr>
          <p:cNvPr id="17" name="Rounded Rectangle 16"/>
          <p:cNvSpPr/>
          <p:nvPr/>
        </p:nvSpPr>
        <p:spPr>
          <a:xfrm>
            <a:off x="2636832" y="2130552"/>
            <a:ext cx="179908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36832" y="2130552"/>
            <a:ext cx="179908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55만원 · 0.02 · 5일</a:t>
            </a:r>
          </a:p>
        </p:txBody>
      </p:sp>
      <p:cxnSp>
        <p:nvCxnSpPr>
          <p:cNvPr id="19" name="Connector 18"/>
          <p:cNvCxnSpPr/>
          <p:nvPr/>
        </p:nvCxnSpPr>
        <p:spPr>
          <a:xfrm>
            <a:off x="6542394" y="2496312"/>
            <a:ext cx="3290149" cy="0"/>
          </a:xfrm>
          <a:prstGeom prst="line">
            <a:avLst/>
          </a:prstGeom>
          <a:ln w="28575">
            <a:solidFill>
              <a:srgbClr val="13294B"/>
            </a:solidFill>
            <a:tailEnd type="triangle" w="med" len="med"/>
          </a:ln>
        </p:spPr>
      </p:cxnSp>
      <p:sp>
        <p:nvSpPr>
          <p:cNvPr id="20" name="Rounded Rectangle 19"/>
          <p:cNvSpPr/>
          <p:nvPr/>
        </p:nvSpPr>
        <p:spPr>
          <a:xfrm>
            <a:off x="7287928" y="2130552"/>
            <a:ext cx="179908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7287928" y="2130552"/>
            <a:ext cx="179908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20만원 · 0.30 · 1일</a:t>
            </a:r>
          </a:p>
        </p:txBody>
      </p:sp>
      <p:cxnSp>
        <p:nvCxnSpPr>
          <p:cNvPr id="22" name="Connector 21"/>
          <p:cNvCxnSpPr/>
          <p:nvPr/>
        </p:nvCxnSpPr>
        <p:spPr>
          <a:xfrm>
            <a:off x="5627994" y="3410712"/>
            <a:ext cx="0" cy="1133856"/>
          </a:xfrm>
          <a:prstGeom prst="line">
            <a:avLst/>
          </a:prstGeom>
          <a:ln w="28575">
            <a:solidFill>
              <a:srgbClr val="13294B"/>
            </a:solidFill>
            <a:tailEnd type="triangle" w="med" len="med"/>
          </a:ln>
        </p:spPr>
      </p:cxnSp>
      <p:sp>
        <p:nvSpPr>
          <p:cNvPr id="23" name="Rounded Rectangle 22"/>
          <p:cNvSpPr/>
          <p:nvPr/>
        </p:nvSpPr>
        <p:spPr>
          <a:xfrm>
            <a:off x="5719434" y="3831335"/>
            <a:ext cx="179908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5719434" y="3831335"/>
            <a:ext cx="179908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35만원 · 0.12 · 2일</a:t>
            </a:r>
          </a:p>
        </p:txBody>
      </p:sp>
      <p:cxnSp>
        <p:nvCxnSpPr>
          <p:cNvPr id="25" name="Connector 24"/>
          <p:cNvCxnSpPr/>
          <p:nvPr/>
        </p:nvCxnSpPr>
        <p:spPr>
          <a:xfrm flipH="1">
            <a:off x="6569826" y="5486400"/>
            <a:ext cx="3290149" cy="0"/>
          </a:xfrm>
          <a:prstGeom prst="line">
            <a:avLst/>
          </a:prstGeom>
          <a:ln w="28575">
            <a:solidFill>
              <a:srgbClr val="13294B"/>
            </a:solidFill>
            <a:tailEnd type="triangle" w="med" len="med"/>
          </a:ln>
        </p:spPr>
      </p:cxnSp>
      <p:sp>
        <p:nvSpPr>
          <p:cNvPr id="26" name="Rounded Rectangle 25"/>
          <p:cNvSpPr/>
          <p:nvPr/>
        </p:nvSpPr>
        <p:spPr>
          <a:xfrm>
            <a:off x="7315360" y="5120640"/>
            <a:ext cx="179908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7315360" y="5120640"/>
            <a:ext cx="179908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18만원 · 0.10 · 1일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정보를 표현하는 네 가지 선택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정보 하나를 클래스 · 속성 · 관계 · 관계의 속성 가운데 어디에 둘지는 그 정보가 무엇에 딸렸는지로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표현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고르는 기준</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공급 견적 한 줄에서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클래스</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속성과 관계를 갖는 대상이 여럿이다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부품 · 공급사라는</a:t>
            </a:r>
          </a:p>
          <a:p>
            <a:pPr algn="l" eaLnBrk="0">
              <a:lnSpc>
                <a:spcPct val="110000"/>
              </a:lnSpc>
            </a:pPr>
            <a:r>
              <a:rPr sz="1250" b="1">
                <a:solidFill>
                  <a:srgbClr val="556175"/>
                </a:solidFill>
                <a:latin typeface="맑은 고딕"/>
                <a:ea typeface="맑은 고딕"/>
                <a:cs typeface="맑은 고딕"/>
              </a:rPr>
              <a:t>정의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속성</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한 대상에 딸린 값으로 끝난다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품번 P-PMP-SEAL</a:t>
            </a:r>
          </a:p>
          <a:p>
            <a:pPr algn="l" eaLnBrk="0">
              <a:lnSpc>
                <a:spcPct val="110000"/>
              </a:lnSpc>
            </a:pPr>
            <a:r>
              <a:rPr sz="1250" b="1">
                <a:solidFill>
                  <a:srgbClr val="556175"/>
                </a:solidFill>
                <a:latin typeface="맑은 고딕"/>
                <a:ea typeface="맑은 고딕"/>
                <a:cs typeface="맑은 고딕"/>
              </a:rPr>
              <a:t>승인 공급사: 예(avl)</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자기 정보를 가진 다른 대상을 가리킨다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씰 키트 → A정밀</a:t>
            </a:r>
          </a:p>
          <a:p>
            <a:pPr algn="l" eaLnBrk="0">
              <a:lnSpc>
                <a:spcPct val="110000"/>
              </a:lnSpc>
            </a:pPr>
            <a:r>
              <a:rPr sz="1250" b="1">
                <a:solidFill>
                  <a:srgbClr val="556175"/>
                </a:solidFill>
                <a:latin typeface="맑은 고딕"/>
                <a:ea typeface="맑은 고딕"/>
                <a:cs typeface="맑은 고딕"/>
              </a:rPr>
              <a:t>공급 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관계의 속성</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두 대상의 짝마다 값이 달라진다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35만원 · 0.12 · 2일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비승인 공급사의 가격 인하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C트레이딩이 펌프 축 씰 키트 단가를 20만원에서 15만원으로 낮췄다고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그래프와 구매 판단에서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씰 키트 부품의 단가 속성을 15로 고치고, C트레이딩을 1순위로 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C트레이딩 공급사의 단가 속성을 15로 고친다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씰 키트 → C트레이딩 공급 관계의 price만 15로 고치고, 여전히 후보에서 뺀다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값이 가장 싸졌으니 C트레이딩의 avl을 true로 바꾼다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스키마와 고유 식별자</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여러 사람이 따를 정의를 세우고, 이름이 달라도 같은 대상을 하나로 가리킨다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스키마와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스키마는 넣는 사람 · 검사 · 에이전트가 함께 따르는 정의이고, 인스턴스 데이터는 그 정의를 채운 실제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스키마(Schema)</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인스턴스 데이터</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담는 것</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클래스 · 속성 · 관계 · 제약의 정의</a:t>
            </a:r>
          </a:p>
          <a:p>
            <a:pPr algn="l" eaLnBrk="0">
              <a:lnSpc>
                <a:spcPct val="110000"/>
              </a:lnSpc>
            </a:pPr>
            <a:r>
              <a:rPr sz="1400" b="0">
                <a:solidFill>
                  <a:srgbClr val="1F2A3A"/>
                </a:solidFill>
                <a:latin typeface="맑은 고딕"/>
                <a:ea typeface="맑은 고딕"/>
                <a:cs typeface="맑은 고딕"/>
              </a:rPr>
              <a:t>실제 대상은 담지 않는다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정의에 맞춰 적은</a:t>
            </a:r>
          </a:p>
          <a:p>
            <a:pPr algn="l" eaLnBrk="0">
              <a:lnSpc>
                <a:spcPct val="110000"/>
              </a:lnSpc>
            </a:pPr>
            <a:r>
              <a:rPr sz="1250" b="1">
                <a:solidFill>
                  <a:srgbClr val="556175"/>
                </a:solidFill>
                <a:latin typeface="맑은 고딕"/>
                <a:ea typeface="맑은 고딕"/>
                <a:cs typeface="맑은 고딕"/>
              </a:rPr>
              <a:t>실제 대상과 관계</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센서의 예</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센서에는 tag가 있어야 하고 자료형은 문자열이다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sen:ts1의</a:t>
            </a:r>
          </a:p>
          <a:p>
            <a:pPr algn="l" eaLnBrk="0">
              <a:lnSpc>
                <a:spcPct val="110000"/>
              </a:lnSpc>
            </a:pPr>
            <a:r>
              <a:rPr sz="1250" b="1">
                <a:solidFill>
                  <a:srgbClr val="556175"/>
                </a:solidFill>
                <a:latin typeface="맑은 고딕"/>
                <a:ea typeface="맑은 고딕"/>
                <a:cs typeface="맑은 고딕"/>
              </a:rPr>
              <a:t>tag는 'TS1'</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지식을 넣는 사람</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채울 칸과 지켜야 할 조건</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채워 넣은 값</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검사</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어긋난 데이터를 가를 기준</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검사받는 대상</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질의에 쓸 클래스 · 관계의 이름과 방향</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질의의 답이 되는</a:t>
            </a:r>
          </a:p>
          <a:p>
            <a:pPr algn="l" eaLnBrk="0">
              <a:lnSpc>
                <a:spcPct val="110000"/>
              </a:lnSpc>
            </a:pPr>
            <a:r>
              <a:rPr sz="1250" b="1">
                <a:solidFill>
                  <a:srgbClr val="556175"/>
                </a:solidFill>
                <a:latin typeface="맑은 고딕"/>
                <a:ea typeface="맑은 고딕"/>
                <a:cs typeface="맑은 고딕"/>
              </a:rPr>
              <a:t>대상과 값</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같은 기종이 한 대 늘면</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그대로 쓴다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설비 인스턴스와</a:t>
            </a:r>
          </a:p>
          <a:p>
            <a:pPr algn="l" eaLnBrk="0">
              <a:lnSpc>
                <a:spcPct val="110000"/>
              </a:lnSpc>
            </a:pPr>
            <a:r>
              <a:rPr sz="1250" b="1">
                <a:solidFill>
                  <a:srgbClr val="1A6FC4"/>
                </a:solidFill>
                <a:latin typeface="맑은 고딕"/>
                <a:ea typeface="맑은 고딕"/>
                <a:cs typeface="맑은 고딕"/>
              </a:rPr>
              <a:t>연결이 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식별자 · 이름 · 별칭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이름은 사람마다 달리 적혀도, 바꾸지 않는 </a:t>
            </a: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를 기준으로 두면 연결과 검색이 같은 대상에 모인다.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식별자(Identifier)</a:t>
            </a:r>
          </a:p>
          <a:p>
            <a:pPr algn="l" eaLnBrk="0">
              <a:lnSpc>
                <a:spcPct val="110000"/>
              </a:lnSpc>
              <a:spcAft>
                <a:spcPts val="200"/>
              </a:spcAft>
            </a:pPr>
            <a:r>
              <a:rPr sz="1150" b="0">
                <a:solidFill>
                  <a:srgbClr val="556175"/>
                </a:solidFill>
                <a:latin typeface="맑은 고딕"/>
                <a:ea typeface="맑은 고딕"/>
                <a:cs typeface="맑은 고딕"/>
              </a:rPr>
              <a:t>id</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대상 하나를 가리키는 고유한 값이며, 한 번 정하면 바꾸지 않는다.</a:t>
            </a:r>
          </a:p>
          <a:p>
            <a:pPr algn="l" eaLnBrk="0">
              <a:lnSpc>
                <a:spcPct val="110000"/>
              </a:lnSpc>
              <a:spcAft>
                <a:spcPts val="300"/>
              </a:spcAft>
            </a:pPr>
            <a:r>
              <a:rPr sz="1400" b="0">
                <a:solidFill>
                  <a:srgbClr val="1F2A3A"/>
                </a:solidFill>
                <a:latin typeface="맑은 고딕"/>
                <a:ea typeface="맑은 고딕"/>
                <a:cs typeface="맑은 고딕"/>
              </a:rPr>
              <a:t>앞머리가 클래스를 드러낸다: comp:cooler · sen:ts1 · sv:ts1</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이름(Name)</a:t>
            </a:r>
          </a:p>
          <a:p>
            <a:pPr algn="l" eaLnBrk="0">
              <a:lnSpc>
                <a:spcPct val="110000"/>
              </a:lnSpc>
              <a:spcAft>
                <a:spcPts val="200"/>
              </a:spcAft>
            </a:pPr>
            <a:r>
              <a:rPr sz="1150" b="0">
                <a:solidFill>
                  <a:srgbClr val="556175"/>
                </a:solidFill>
                <a:latin typeface="맑은 고딕"/>
                <a:ea typeface="맑은 고딕"/>
                <a:cs typeface="맑은 고딕"/>
              </a:rPr>
              <a:t>name</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사람이 읽는 한국어 이름이라 겹치거나 고쳐질 수 있다.</a:t>
            </a:r>
          </a:p>
          <a:p>
            <a:pPr algn="l" eaLnBrk="0">
              <a:lnSpc>
                <a:spcPct val="110000"/>
              </a:lnSpc>
              <a:spcAft>
                <a:spcPts val="300"/>
              </a:spcAft>
            </a:pPr>
            <a:r>
              <a:rPr sz="1400" b="0">
                <a:solidFill>
                  <a:srgbClr val="1F2A3A"/>
                </a:solidFill>
                <a:latin typeface="맑은 고딕"/>
                <a:ea typeface="맑은 고딕"/>
                <a:cs typeface="맑은 고딕"/>
              </a:rPr>
              <a:t>오일 쿨러 · 유온 센서 · HYD-01 유압 파워팩</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별칭(Alias)</a:t>
            </a:r>
          </a:p>
          <a:p>
            <a:pPr algn="l" eaLnBrk="0">
              <a:lnSpc>
                <a:spcPct val="110000"/>
              </a:lnSpc>
              <a:spcAft>
                <a:spcPts val="200"/>
              </a:spcAft>
            </a:pPr>
            <a:r>
              <a:rPr sz="1150" b="0">
                <a:solidFill>
                  <a:srgbClr val="556175"/>
                </a:solidFill>
                <a:latin typeface="맑은 고딕"/>
                <a:ea typeface="맑은 고딕"/>
                <a:cs typeface="맑은 고딕"/>
              </a:rPr>
              <a:t>aliases</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같은 대상을 부르는 다른 이름의 목록이며, 질문의 말에서 대상을 찾는 단서다.</a:t>
            </a:r>
          </a:p>
          <a:p>
            <a:pPr algn="l" eaLnBrk="0">
              <a:lnSpc>
                <a:spcPct val="110000"/>
              </a:lnSpc>
              <a:spcAft>
                <a:spcPts val="300"/>
              </a:spcAft>
            </a:pPr>
            <a:r>
              <a:rPr sz="1400" b="0">
                <a:solidFill>
                  <a:srgbClr val="1F2A3A"/>
                </a:solidFill>
                <a:latin typeface="맑은 고딕"/>
                <a:ea typeface="맑은 고딕"/>
                <a:cs typeface="맑은 고딕"/>
              </a:rPr>
              <a:t>오일 쿨러: 쿨러 · 열교환기</a:t>
            </a:r>
          </a:p>
          <a:p>
            <a:pPr algn="l" eaLnBrk="0">
              <a:lnSpc>
                <a:spcPct val="110000"/>
              </a:lnSpc>
              <a:spcAft>
                <a:spcPts val="300"/>
              </a:spcAft>
            </a:pPr>
            <a:r>
              <a:rPr sz="1400" b="0">
                <a:solidFill>
                  <a:srgbClr val="1F2A3A"/>
                </a:solidFill>
                <a:latin typeface="맑은 고딕"/>
                <a:ea typeface="맑은 고딕"/>
                <a:cs typeface="맑은 고딕"/>
              </a:rPr>
              <a:t>유온: 오일 온도 · 작동유 온도 · TS1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이름이 다른 같은 설비 잇기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「2호기」라는 말은 업무 DB에서 설비 코드로 풀고, 세 저장소의 </a:t>
            </a:r>
            <a:r>
              <a:rPr sz="1600" b="1">
                <a:solidFill>
                  <a:srgbClr val="1A6FC4"/>
                </a:solidFill>
                <a:latin typeface="맑은 고딕"/>
                <a:ea typeface="맑은 고딕"/>
                <a:cs typeface="맑은 고딕"/>
              </a:rPr>
              <a:t>공통 식별자</a:t>
            </a:r>
            <a:r>
              <a:rPr sz="1600" b="0">
                <a:solidFill>
                  <a:srgbClr val="556175"/>
                </a:solidFill>
                <a:latin typeface="맑은 고딕"/>
                <a:ea typeface="맑은 고딕"/>
                <a:cs typeface="맑은 고딕"/>
              </a:rPr>
              <a:t> HYD-02에 태그를 더해 값을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찾는 차례</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 저장소가 이 설비를 부르는 실제 값</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 차례에서 얻는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① 업무 DB의 설비 표</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name: 유압 파워팩 2호기</a:t>
            </a:r>
          </a:p>
          <a:p>
            <a:pPr algn="l" eaLnBrk="0">
              <a:lnSpc>
                <a:spcPct val="110000"/>
              </a:lnSpc>
            </a:pPr>
            <a:r>
              <a:rPr sz="1400" b="0">
                <a:solidFill>
                  <a:srgbClr val="1F2A3A"/>
                </a:solidFill>
                <a:latin typeface="맑은 고딕"/>
                <a:ea typeface="맑은 고딕"/>
                <a:cs typeface="맑은 고딕"/>
              </a:rPr>
              <a:t>code: HYD-02</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「2호기」를 설비 코드</a:t>
            </a:r>
          </a:p>
          <a:p>
            <a:pPr algn="l" eaLnBrk="0">
              <a:lnSpc>
                <a:spcPct val="110000"/>
              </a:lnSpc>
            </a:pPr>
            <a:r>
              <a:rPr sz="1250" b="1">
                <a:solidFill>
                  <a:srgbClr val="556175"/>
                </a:solidFill>
                <a:latin typeface="맑은 고딕"/>
                <a:ea typeface="맑은 고딕"/>
                <a:cs typeface="맑은 고딕"/>
              </a:rPr>
              <a:t>HYD-02로 확정</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② 지식 그래프의 설비</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name: HYD-02 유압 파워팩</a:t>
            </a:r>
          </a:p>
          <a:p>
            <a:pPr algn="l" eaLnBrk="0">
              <a:lnSpc>
                <a:spcPct val="110000"/>
              </a:lnSpc>
            </a:pPr>
            <a:r>
              <a:rPr sz="1400" b="0">
                <a:solidFill>
                  <a:srgbClr val="1F2A3A"/>
                </a:solidFill>
                <a:latin typeface="맑은 고딕"/>
                <a:ea typeface="맑은 고딕"/>
                <a:cs typeface="맑은 고딕"/>
              </a:rPr>
              <a:t>code: HYD-02</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이름은 달라도</a:t>
            </a:r>
          </a:p>
          <a:p>
            <a:pPr algn="l" eaLnBrk="0">
              <a:lnSpc>
                <a:spcPct val="110000"/>
              </a:lnSpc>
            </a:pPr>
            <a:r>
              <a:rPr sz="1250" b="1">
                <a:solidFill>
                  <a:srgbClr val="556175"/>
                </a:solidFill>
                <a:latin typeface="맑은 고딕"/>
                <a:ea typeface="맑은 고딕"/>
                <a:cs typeface="맑은 고딕"/>
              </a:rPr>
              <a:t>코드가 같은 설비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③ 지식 그래프의 센서</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name: 유온 센서 · tag: TS1</a:t>
            </a:r>
          </a:p>
          <a:p>
            <a:pPr algn="l" eaLnBrk="0">
              <a:lnSpc>
                <a:spcPct val="110000"/>
              </a:lnSpc>
            </a:pPr>
            <a:r>
              <a:rPr sz="1400" b="0">
                <a:solidFill>
                  <a:srgbClr val="1F2A3A"/>
                </a:solidFill>
                <a:latin typeface="맑은 고딕"/>
                <a:ea typeface="맑은 고딕"/>
                <a:cs typeface="맑은 고딕"/>
              </a:rPr>
              <a:t>같은 기종 세 대가 함께 쓰는 노드</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유온을 읽는 채널의</a:t>
            </a:r>
          </a:p>
          <a:p>
            <a:pPr algn="l" eaLnBrk="0">
              <a:lnSpc>
                <a:spcPct val="110000"/>
              </a:lnSpc>
            </a:pPr>
            <a:r>
              <a:rPr sz="1250" b="1">
                <a:solidFill>
                  <a:srgbClr val="556175"/>
                </a:solidFill>
                <a:latin typeface="맑은 고딕"/>
                <a:ea typeface="맑은 고딕"/>
                <a:cs typeface="맑은 고딕"/>
              </a:rPr>
              <a:t>태그 TS1</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④ 시계열 tag_1s</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asset: HYD-02 · name: TS1 · time: 보려는 기간</a:t>
            </a:r>
          </a:p>
          <a:p>
            <a:pPr algn="l" eaLnBrk="0">
              <a:lnSpc>
                <a:spcPct val="110000"/>
              </a:lnSpc>
            </a:pPr>
            <a:r>
              <a:rPr sz="1400" b="0">
                <a:solidFill>
                  <a:srgbClr val="1F2A3A"/>
                </a:solidFill>
                <a:latin typeface="맑은 고딕"/>
                <a:ea typeface="맑은 고딕"/>
                <a:cs typeface="맑은 고딕"/>
              </a:rPr>
              <a:t>그래프의 태그 값이 이름 열에 들어 있다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2호기 유온만</a:t>
            </a:r>
          </a:p>
          <a:p>
            <a:pPr algn="l" eaLnBrk="0">
              <a:lnSpc>
                <a:spcPct val="110000"/>
              </a:lnSpc>
            </a:pPr>
            <a:r>
              <a:rPr sz="1250" b="1">
                <a:solidFill>
                  <a:srgbClr val="556175"/>
                </a:solidFill>
                <a:latin typeface="맑은 고딕"/>
                <a:ea typeface="맑은 고딕"/>
                <a:cs typeface="맑은 고딕"/>
              </a:rPr>
              <a:t>기간만큼 나온다</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차례를 건너뛰면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이름으로 맞추면 ①과 ②의 이름이 달라 이어지지 않는다</a:t>
            </a:r>
          </a:p>
          <a:p>
            <a:pPr algn="l" eaLnBrk="0">
              <a:lnSpc>
                <a:spcPct val="110000"/>
              </a:lnSpc>
            </a:pPr>
            <a:r>
              <a:rPr sz="1400" b="0">
                <a:solidFill>
                  <a:srgbClr val="1F2A3A"/>
                </a:solidFill>
                <a:latin typeface="맑은 고딕"/>
                <a:ea typeface="맑은 고딕"/>
                <a:cs typeface="맑은 고딕"/>
              </a:rPr>
              <a:t>태그 TS1만 걸면 HYD-01 · 02 · 03의 유온이 섞인다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설비를 못 찾거나</a:t>
            </a:r>
          </a:p>
          <a:p>
            <a:pPr algn="l" eaLnBrk="0">
              <a:lnSpc>
                <a:spcPct val="110000"/>
              </a:lnSpc>
            </a:pPr>
            <a:r>
              <a:rPr sz="1250" b="1">
                <a:solidFill>
                  <a:srgbClr val="1A6FC4"/>
                </a:solidFill>
                <a:latin typeface="맑은 고딕"/>
                <a:ea typeface="맑은 고딕"/>
                <a:cs typeface="맑은 고딕"/>
              </a:rPr>
              <a:t>세 설비 값이 섞인다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이름이 다른 부품 두 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구매 기록의 「오일 쿨러 코어」와 그래프의 「쿨러 코어」가 같은 부품 번호 P-CLR-CORE라고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구매 기록 한 줄을 그래프에 반영하는 방법으로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이름이 다르니 새 식별자로 부품 노드를 하나 더 만든다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기존 쿨러 코어 노드의 이름을 「오일 쿨러 코어」로 덮어쓴다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부품 번호가 같으니 기존 쿨러 코어로 보고, 다른 이름을 둘 칸이 부품 정의에 있는지 본다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이름이 비슷한 오일 쿨러(구성 요소)의 별칭에 「오일 쿨러 코어」를 더한다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속성과 연결의 정의 · 제약</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값과 연결이 지킬 조건을 적고, 검사가 잡는 것과 따로 대조할 것을 가른다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클래스 정의: 레이블 · 뜻 · 속성의 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클래스 정의 한 벌이 노드에 붙일 레이블과 뜻, 칸마다의 자료형 · 필수 여부 · 허용값을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"name": "StateVariable",</a:t>
            </a:r>
          </a:p>
          <a:p>
            <a:pPr algn="l" eaLnBrk="0">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설비의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물리량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"properties": [</a:t>
            </a:r>
          </a:p>
          <a:p>
            <a:pPr algn="l" eaLnBrk="0">
              <a:lnSpc>
                <a:spcPct val="110000"/>
              </a:lnSpc>
              <a:spcAft>
                <a:spcPts val="200"/>
              </a:spcAft>
            </a:pPr>
            <a:r>
              <a:rPr sz="1300" b="0">
                <a:solidFill>
                  <a:srgbClr val="E8EEF6"/>
                </a:solidFill>
                <a:latin typeface="Consolas"/>
                <a:ea typeface="맑은 고딕"/>
                <a:cs typeface="맑은 고딕"/>
              </a:rPr>
              <a:t>    {"name": "id",      "type": "string",   "required": true},</a:t>
            </a:r>
          </a:p>
          <a:p>
            <a:pPr algn="l" eaLnBrk="0">
              <a:lnSpc>
                <a:spcPct val="110000"/>
              </a:lnSpc>
              <a:spcAft>
                <a:spcPts val="200"/>
              </a:spcAft>
            </a:pPr>
            <a:r>
              <a:rPr sz="1300" b="0">
                <a:solidFill>
                  <a:srgbClr val="E8EEF6"/>
                </a:solidFill>
                <a:latin typeface="Consolas"/>
                <a:ea typeface="맑은 고딕"/>
                <a:cs typeface="맑은 고딕"/>
              </a:rPr>
              <a:t>    {"name": "name",    "type": "string",   "required": true},</a:t>
            </a:r>
          </a:p>
          <a:p>
            <a:pPr algn="l" eaLnBrk="0">
              <a:lnSpc>
                <a:spcPct val="110000"/>
              </a:lnSpc>
              <a:spcAft>
                <a:spcPts val="200"/>
              </a:spcAft>
            </a:pPr>
            <a:r>
              <a:rPr sz="1300" b="0">
                <a:solidFill>
                  <a:srgbClr val="E8EEF6"/>
                </a:solidFill>
                <a:latin typeface="Consolas"/>
                <a:ea typeface="맑은 고딕"/>
                <a:cs typeface="맑은 고딕"/>
              </a:rPr>
              <a:t>    {"name": "aliases", "type": "string[]"},</a:t>
            </a:r>
          </a:p>
          <a:p>
            <a:pPr algn="l" eaLnBrk="0">
              <a:lnSpc>
                <a:spcPct val="110000"/>
              </a:lnSpc>
              <a:spcAft>
                <a:spcPts val="200"/>
              </a:spcAft>
            </a:pPr>
            <a:r>
              <a:rPr sz="1300" b="0">
                <a:solidFill>
                  <a:srgbClr val="E8EEF6"/>
                </a:solidFill>
                <a:latin typeface="Consolas"/>
                <a:ea typeface="맑은 고딕"/>
                <a:cs typeface="맑은 고딕"/>
              </a:rPr>
              <a:t>    {"name": "unit",    "type": "string",   "required": true},</a:t>
            </a:r>
          </a:p>
          <a:p>
            <a:pPr algn="l" eaLnBrk="0">
              <a:lnSpc>
                <a:spcPct val="110000"/>
              </a:lnSpc>
              <a:spcAft>
                <a:spcPts val="200"/>
              </a:spcAft>
            </a:pPr>
            <a:r>
              <a:rPr sz="1300" b="0">
                <a:solidFill>
                  <a:srgbClr val="E8EEF6"/>
                </a:solidFill>
                <a:latin typeface="Consolas"/>
                <a:ea typeface="맑은 고딕"/>
                <a:cs typeface="맑은 고딕"/>
              </a:rPr>
              <a:t>    {"name": "kind",    "type": "enum",     "required": true,</a:t>
            </a:r>
          </a:p>
          <a:p>
            <a:pPr algn="l" eaLnBrk="0">
              <a:lnSpc>
                <a:spcPct val="110000"/>
              </a:lnSpc>
              <a:spcAft>
                <a:spcPts val="200"/>
              </a:spcAft>
            </a:pPr>
            <a:r>
              <a:rPr sz="1300" b="0">
                <a:solidFill>
                  <a:srgbClr val="E8EEF6"/>
                </a:solidFill>
                <a:latin typeface="Consolas"/>
                <a:ea typeface="맑은 고딕"/>
                <a:cs typeface="맑은 고딕"/>
              </a:rPr>
              <a:t>     "values": ["manipulated", "controlled", "disturbance"]},</a:t>
            </a:r>
          </a:p>
          <a:p>
            <a:pPr algn="l" eaLnBrk="0">
              <a:lnSpc>
                <a:spcPct val="110000"/>
              </a:lnSpc>
              <a:spcAft>
                <a:spcPts val="200"/>
              </a:spcAft>
            </a:pPr>
            <a:r>
              <a:rPr sz="1300" b="0">
                <a:solidFill>
                  <a:srgbClr val="E8EEF6"/>
                </a:solidFill>
                <a:latin typeface="Consolas"/>
                <a:ea typeface="맑은 고딕"/>
                <a:cs typeface="맑은 고딕"/>
              </a:rPr>
              <a:t>    {"name": "normal",  "type": "number"},</a:t>
            </a:r>
          </a:p>
          <a:p>
            <a:pPr algn="l" eaLnBrk="0">
              <a:lnSpc>
                <a:spcPct val="110000"/>
              </a:lnSpc>
              <a:spcAft>
                <a:spcPts val="200"/>
              </a:spcAft>
            </a:pPr>
            <a:r>
              <a:rPr sz="1300" b="0">
                <a:solidFill>
                  <a:srgbClr val="E8EEF6"/>
                </a:solidFill>
                <a:latin typeface="Consolas"/>
                <a:ea typeface="맑은 고딕"/>
                <a:cs typeface="맑은 고딕"/>
              </a:rPr>
              <a:t>    {"name": "limit",   "type": "number"}</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name: 레이블(Label)</a:t>
            </a:r>
          </a:p>
          <a:p>
            <a:pPr algn="l" eaLnBrk="0">
              <a:lnSpc>
                <a:spcPct val="110000"/>
              </a:lnSpc>
              <a:spcAft>
                <a:spcPts val="400"/>
              </a:spcAft>
            </a:pPr>
            <a:r>
              <a:rPr sz="1400" b="0">
                <a:solidFill>
                  <a:srgbClr val="1F2A3A"/>
                </a:solidFill>
                <a:latin typeface="맑은 고딕"/>
                <a:ea typeface="맑은 고딕"/>
                <a:cs typeface="맑은 고딕"/>
              </a:rPr>
              <a:t>이 영문 이름이 노드에 레이블로 붙어, 그 노드가 어느 클래스인지 드러낸다.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label_ko · description</a:t>
            </a:r>
          </a:p>
          <a:p>
            <a:pPr algn="l" eaLnBrk="0">
              <a:lnSpc>
                <a:spcPct val="110000"/>
              </a:lnSpc>
              <a:spcAft>
                <a:spcPts val="400"/>
              </a:spcAft>
            </a:pPr>
            <a:r>
              <a:rPr sz="1400" b="0">
                <a:solidFill>
                  <a:srgbClr val="1F2A3A"/>
                </a:solidFill>
                <a:latin typeface="맑은 고딕"/>
                <a:ea typeface="맑은 고딕"/>
                <a:cs typeface="맑은 고딕"/>
              </a:rPr>
              <a:t>화면과 표에 쓰는 한글 이름, 그리고 어디까지가 이 클래스인지 정하는 뜻이다.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type · required</a:t>
            </a:r>
          </a:p>
          <a:p>
            <a:pPr algn="l" eaLnBrk="0">
              <a:lnSpc>
                <a:spcPct val="110000"/>
              </a:lnSpc>
              <a:spcAft>
                <a:spcPts val="400"/>
              </a:spcAft>
            </a:pPr>
            <a:r>
              <a:rPr sz="1400" b="0">
                <a:solidFill>
                  <a:srgbClr val="1F2A3A"/>
                </a:solidFill>
                <a:latin typeface="맑은 고딕"/>
                <a:ea typeface="맑은 고딕"/>
                <a:cs typeface="맑은 고딕"/>
              </a:rPr>
              <a:t>칸마다 값의 종류와, 반드시 있어야 하는지를 적는다.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values · 발췌</a:t>
            </a:r>
          </a:p>
          <a:p>
            <a:pPr algn="l" eaLnBrk="0">
              <a:lnSpc>
                <a:spcPct val="110000"/>
              </a:lnSpc>
              <a:spcAft>
                <a:spcPts val="400"/>
              </a:spcAft>
            </a:pPr>
            <a:r>
              <a:rPr sz="1400" b="0">
                <a:solidFill>
                  <a:srgbClr val="1F2A3A"/>
                </a:solidFill>
                <a:latin typeface="맑은 고딕"/>
                <a:ea typeface="맑은 고딕"/>
                <a:cs typeface="맑은 고딕"/>
              </a:rPr>
              <a:t>kind가 받을 수 있는 세 값이다. 계층 · 표준 칸과 설명 일부는 뺐다.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자료형과 허용값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자료형</a:t>
            </a:r>
            <a:r>
              <a:rPr sz="1600" b="0">
                <a:solidFill>
                  <a:srgbClr val="556175"/>
                </a:solidFill>
                <a:latin typeface="맑은 고딕"/>
                <a:ea typeface="맑은 고딕"/>
                <a:cs typeface="맑은 고딕"/>
              </a:rPr>
              <a:t>(Data Type)은 칸에 들어갈 값의 종류여서, 그 값으로 비교할지 · 고를지 · 맞춰 찾을지가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자료형</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실제 칸과 값</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그래서 할 수 있는 일</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문자열(string)</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tag 'TS1' · unit '℃' · name 「유온 센서」</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글자가 같은지</a:t>
            </a:r>
          </a:p>
          <a:p>
            <a:pPr algn="l" eaLnBrk="0">
              <a:lnSpc>
                <a:spcPct val="110000"/>
              </a:lnSpc>
            </a:pPr>
            <a:r>
              <a:rPr sz="1250" b="1">
                <a:solidFill>
                  <a:srgbClr val="556175"/>
                </a:solidFill>
                <a:latin typeface="맑은 고딕"/>
                <a:ea typeface="맑은 고딕"/>
                <a:cs typeface="맑은 고딕"/>
              </a:rPr>
              <a:t>맞춰 찾는다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수(number)</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normal 48 · limit 65</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측정값과</a:t>
            </a:r>
          </a:p>
          <a:p>
            <a:pPr algn="l" eaLnBrk="0">
              <a:lnSpc>
                <a:spcPct val="110000"/>
              </a:lnSpc>
            </a:pPr>
            <a:r>
              <a:rPr sz="1250" b="1">
                <a:solidFill>
                  <a:srgbClr val="556175"/>
                </a:solidFill>
                <a:latin typeface="맑은 고딕"/>
                <a:ea typeface="맑은 고딕"/>
                <a:cs typeface="맑은 고딕"/>
              </a:rPr>
              <a:t>크기를 비교한다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참 · 거짓(boolean)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virtual false · avl true</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둘 중 하나로</a:t>
            </a:r>
          </a:p>
          <a:p>
            <a:pPr algn="l" eaLnBrk="0">
              <a:lnSpc>
                <a:spcPct val="110000"/>
              </a:lnSpc>
            </a:pPr>
            <a:r>
              <a:rPr sz="1250" b="1">
                <a:solidFill>
                  <a:srgbClr val="556175"/>
                </a:solidFill>
                <a:latin typeface="맑은 고딕"/>
                <a:ea typeface="맑은 고딕"/>
                <a:cs typeface="맑은 고딕"/>
              </a:rPr>
              <a:t>가른다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목록(string[])</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aliases: 오일 온도 · 작동유 온도 · TS1</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이름 여럿을</a:t>
            </a:r>
          </a:p>
          <a:p>
            <a:pPr algn="l" eaLnBrk="0">
              <a:lnSpc>
                <a:spcPct val="110000"/>
              </a:lnSpc>
            </a:pPr>
            <a:r>
              <a:rPr sz="1250" b="1">
                <a:solidFill>
                  <a:srgbClr val="556175"/>
                </a:solidFill>
                <a:latin typeface="맑은 고딕"/>
                <a:ea typeface="맑은 고딕"/>
                <a:cs typeface="맑은 고딕"/>
              </a:rPr>
              <a:t>한 칸에 둔다</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열거형(enum)</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kind: manipulated(조작) · controlled(결과) · disturbance(교란)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조작 변수만</a:t>
            </a:r>
          </a:p>
          <a:p>
            <a:pPr algn="l" eaLnBrk="0">
              <a:lnSpc>
                <a:spcPct val="110000"/>
              </a:lnSpc>
            </a:pPr>
            <a:r>
              <a:rPr sz="1250" b="1">
                <a:solidFill>
                  <a:srgbClr val="1A6FC4"/>
                </a:solidFill>
                <a:latin typeface="맑은 고딕"/>
                <a:ea typeface="맑은 고딕"/>
                <a:cs typeface="맑은 고딕"/>
              </a:rPr>
              <a:t>빠짐없이 고른다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필수 속성과 선택 속성의 빈 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필수 속성이 빠진 인스턴스는 쓸 수 없지만, 선택 속성의 빈 칸은 「정해진 값이 없다」는 정보다.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383027"/>
            <a:ext cx="5181447" cy="3216656"/>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58419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필수 속성(Required Property)</a:t>
            </a:r>
          </a:p>
        </p:txBody>
      </p:sp>
      <p:sp>
        <p:nvSpPr>
          <p:cNvPr id="8" name="TextBox 7"/>
          <p:cNvSpPr txBox="1"/>
          <p:nvPr/>
        </p:nvSpPr>
        <p:spPr>
          <a:xfrm>
            <a:off x="822959" y="3434587"/>
            <a:ext cx="4632807" cy="1616456"/>
          </a:xfrm>
          <a:prstGeom prst="rect">
            <a:avLst/>
          </a:prstGeom>
          <a:noFill/>
        </p:spPr>
        <p:txBody>
          <a:bodyPr wrap="square" anchor="t"/>
          <a:lstStyle/>
          <a:p>
            <a:pPr algn="l" eaLnBrk="0" marL="182880" indent="-182880">
              <a:lnSpc>
                <a:spcPct val="110000"/>
              </a:lnSpc>
              <a:spcAft>
                <a:spcPts val="600"/>
              </a:spcAft>
            </a:pPr>
            <a:r>
              <a:rPr sz="1600" b="0">
                <a:solidFill>
                  <a:srgbClr val="1F2A3A"/>
                </a:solidFill>
                <a:latin typeface="맑은 고딕"/>
                <a:ea typeface="맑은 고딕"/>
                <a:cs typeface="맑은 고딕"/>
              </a:rPr>
              <a:t>• 상태 변수의 unit · kind, 센서의 tag</a:t>
            </a:r>
          </a:p>
          <a:p>
            <a:pPr algn="l" eaLnBrk="0" marL="182880" indent="-182880">
              <a:lnSpc>
                <a:spcPct val="110000"/>
              </a:lnSpc>
              <a:spcAft>
                <a:spcPts val="600"/>
              </a:spcAft>
            </a:pPr>
            <a:r>
              <a:rPr sz="1600" b="0">
                <a:solidFill>
                  <a:srgbClr val="1F2A3A"/>
                </a:solidFill>
                <a:latin typeface="맑은 고딕"/>
                <a:ea typeface="맑은 고딕"/>
                <a:cs typeface="맑은 고딕"/>
              </a:rPr>
              <a:t>• unit이 없으면 값의 뜻을 읽을 수 없다</a:t>
            </a:r>
          </a:p>
          <a:p>
            <a:pPr algn="l" eaLnBrk="0" marL="182880" indent="-182880">
              <a:lnSpc>
                <a:spcPct val="110000"/>
              </a:lnSpc>
              <a:spcAft>
                <a:spcPts val="600"/>
              </a:spcAft>
            </a:pPr>
            <a:r>
              <a:rPr sz="1600" b="0">
                <a:solidFill>
                  <a:srgbClr val="1F2A3A"/>
                </a:solidFill>
                <a:latin typeface="맑은 고딕"/>
                <a:ea typeface="맑은 고딕"/>
                <a:cs typeface="맑은 고딕"/>
              </a:rPr>
              <a:t>• tag가 없으면 계측 값을 찾지 못한다</a:t>
            </a:r>
          </a:p>
          <a:p>
            <a:pPr algn="l" eaLnBrk="0" marL="182880" indent="-182880">
              <a:lnSpc>
                <a:spcPct val="110000"/>
              </a:lnSpc>
              <a:spcAft>
                <a:spcPts val="600"/>
              </a:spcAft>
            </a:pPr>
            <a:r>
              <a:rPr sz="1600" b="0">
                <a:solidFill>
                  <a:srgbClr val="1F2A3A"/>
                </a:solidFill>
                <a:latin typeface="맑은 고딕"/>
                <a:ea typeface="맑은 고딕"/>
                <a:cs typeface="맑은 고딕"/>
              </a:rPr>
              <a:t>• 빠지면 넣기 전에 출처에서 확인해 채운다</a:t>
            </a:r>
          </a:p>
        </p:txBody>
      </p:sp>
      <p:sp>
        <p:nvSpPr>
          <p:cNvPr id="9" name="Rounded Rectangle 8"/>
          <p:cNvSpPr/>
          <p:nvPr/>
        </p:nvSpPr>
        <p:spPr>
          <a:xfrm>
            <a:off x="868680" y="5142484"/>
            <a:ext cx="10210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14248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비면 오류</a:t>
            </a:r>
          </a:p>
        </p:txBody>
      </p:sp>
      <p:sp>
        <p:nvSpPr>
          <p:cNvPr id="11" name="Rounded Rectangle 10"/>
          <p:cNvSpPr/>
          <p:nvPr/>
        </p:nvSpPr>
        <p:spPr>
          <a:xfrm>
            <a:off x="6461607" y="2383027"/>
            <a:ext cx="5181447" cy="3216656"/>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58419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선택 속성(Optional Property)</a:t>
            </a:r>
          </a:p>
        </p:txBody>
      </p:sp>
      <p:sp>
        <p:nvSpPr>
          <p:cNvPr id="13" name="TextBox 12"/>
          <p:cNvSpPr txBox="1"/>
          <p:nvPr/>
        </p:nvSpPr>
        <p:spPr>
          <a:xfrm>
            <a:off x="6735927" y="3434587"/>
            <a:ext cx="4632807" cy="1616456"/>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limit: 유온 65, 토출 압력은 낮은 쪽 130</a:t>
            </a:r>
          </a:p>
          <a:p>
            <a:pPr algn="l" eaLnBrk="0" marL="177165" indent="-177165">
              <a:lnSpc>
                <a:spcPct val="110000"/>
              </a:lnSpc>
              <a:spcAft>
                <a:spcPts val="600"/>
              </a:spcAft>
            </a:pPr>
            <a:r>
              <a:rPr sz="1550" b="0">
                <a:solidFill>
                  <a:srgbClr val="1F2A3A"/>
                </a:solidFill>
                <a:latin typeface="맑은 고딕"/>
                <a:ea typeface="맑은 고딕"/>
                <a:cs typeface="맑은 고딕"/>
              </a:rPr>
              <a:t>• 냉각 효율 · 유량 · 펌프 부하는 한계가 없다</a:t>
            </a:r>
          </a:p>
          <a:p>
            <a:pPr algn="l" eaLnBrk="0" marL="177165" indent="-177165">
              <a:lnSpc>
                <a:spcPct val="110000"/>
              </a:lnSpc>
              <a:spcAft>
                <a:spcPts val="600"/>
              </a:spcAft>
            </a:pPr>
            <a:r>
              <a:rPr sz="1550" b="0">
                <a:solidFill>
                  <a:srgbClr val="1F2A3A"/>
                </a:solidFill>
                <a:latin typeface="맑은 고딕"/>
                <a:ea typeface="맑은 고딕"/>
                <a:cs typeface="맑은 고딕"/>
              </a:rPr>
              <a:t>• 빈 칸은 0이 아니다</a:t>
            </a:r>
          </a:p>
          <a:p>
            <a:pPr algn="l" eaLnBrk="0" marL="177165" indent="-177165">
              <a:lnSpc>
                <a:spcPct val="110000"/>
              </a:lnSpc>
              <a:spcAft>
                <a:spcPts val="600"/>
              </a:spcAft>
            </a:pPr>
            <a:r>
              <a:rPr sz="1550" b="0">
                <a:solidFill>
                  <a:srgbClr val="1F2A3A"/>
                </a:solidFill>
                <a:latin typeface="맑은 고딕"/>
                <a:ea typeface="맑은 고딕"/>
                <a:cs typeface="맑은 고딕"/>
              </a:rPr>
              <a:t>• 경보 기준 CE 70 %를 한계 칸에 옮기지 않는다</a:t>
            </a:r>
          </a:p>
        </p:txBody>
      </p:sp>
      <p:sp>
        <p:nvSpPr>
          <p:cNvPr id="14" name="Rounded Rectangle 13"/>
          <p:cNvSpPr/>
          <p:nvPr/>
        </p:nvSpPr>
        <p:spPr>
          <a:xfrm>
            <a:off x="6781647" y="5142484"/>
            <a:ext cx="11734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142484"/>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비어도 맞다</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관계 정의와 유효한 연결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관계 정의가 이름 · 방향 · 양 끝 클래스를 정해 두어야, 정의를 따르는 </a:t>
            </a:r>
            <a:r>
              <a:rPr sz="1600" b="1">
                <a:solidFill>
                  <a:srgbClr val="1A6FC4"/>
                </a:solidFill>
                <a:latin typeface="맑은 고딕"/>
                <a:ea typeface="맑은 고딕"/>
                <a:cs typeface="맑은 고딕"/>
              </a:rPr>
              <a:t>유효한 연결</a:t>
            </a:r>
            <a:r>
              <a:rPr sz="1600" b="0">
                <a:solidFill>
                  <a:srgbClr val="556175"/>
                </a:solidFill>
                <a:latin typeface="맑은 고딕"/>
                <a:ea typeface="맑은 고딕"/>
                <a:cs typeface="맑은 고딕"/>
              </a:rPr>
              <a:t>인지 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"type": "USES_PART",</a:t>
            </a:r>
          </a:p>
          <a:p>
            <a:pPr algn="l" eaLnBrk="0">
              <a:lnSpc>
                <a:spcPct val="110000"/>
              </a:lnSpc>
              <a:spcAft>
                <a:spcPts val="200"/>
              </a:spcAft>
            </a:pPr>
            <a:r>
              <a:rPr sz="1300" b="0">
                <a:solidFill>
                  <a:srgbClr val="E8EEF6"/>
                </a:solidFill>
                <a:latin typeface="Consolas"/>
                <a:ea typeface="맑은 고딕"/>
                <a:cs typeface="맑은 고딕"/>
              </a:rPr>
              <a:t>  "from": ["Component"],</a:t>
            </a:r>
          </a:p>
          <a:p>
            <a:pPr algn="l" eaLnBrk="0">
              <a:lnSpc>
                <a:spcPct val="110000"/>
              </a:lnSpc>
              <a:spcAft>
                <a:spcPts val="200"/>
              </a:spcAft>
            </a:pPr>
            <a:r>
              <a:rPr sz="1300" b="0">
                <a:solidFill>
                  <a:srgbClr val="E8EEF6"/>
                </a:solidFill>
                <a:latin typeface="Consolas"/>
                <a:ea typeface="맑은 고딕"/>
                <a:cs typeface="맑은 고딕"/>
              </a:rPr>
              <a:t>  "to": ["Part"],</a:t>
            </a:r>
          </a:p>
          <a:p>
            <a:pPr algn="l" eaLnBrk="0">
              <a:lnSpc>
                <a:spcPct val="110000"/>
              </a:lnSpc>
              <a:spcAft>
                <a:spcPts val="200"/>
              </a:spcAft>
            </a:pPr>
            <a:r>
              <a:rPr sz="1300" b="0">
                <a:solidFill>
                  <a:srgbClr val="E8EEF6"/>
                </a:solidFill>
                <a:latin typeface="Consolas"/>
                <a:ea typeface="맑은 고딕"/>
                <a:cs typeface="맑은 고딕"/>
              </a:rPr>
              <a:t>  "cardinality": "N:M",</a:t>
            </a:r>
          </a:p>
          <a:p>
            <a:pPr algn="l" eaLnBrk="0">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구성</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요소에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들어가는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교체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(:Component)-[:USES_PART]-&gt;(:Part)        </a:t>
            </a:r>
            <a:r>
              <a:rPr sz="1300" b="0">
                <a:solidFill>
                  <a:srgbClr val="E8EEF6"/>
                </a:solidFill>
                <a:latin typeface="맑은 고딕"/>
                <a:ea typeface="맑은 고딕"/>
                <a:cs typeface="맑은 고딕"/>
              </a:rPr>
              <a:t>유효</a:t>
            </a:r>
          </a:p>
          <a:p>
            <a:pPr algn="l" eaLnBrk="0">
              <a:lnSpc>
                <a:spcPct val="110000"/>
              </a:lnSpc>
              <a:spcAft>
                <a:spcPts val="200"/>
              </a:spcAft>
            </a:pPr>
            <a:r>
              <a:rPr sz="1300" b="0">
                <a:solidFill>
                  <a:srgbClr val="E8EEF6"/>
                </a:solidFill>
                <a:latin typeface="Consolas"/>
                <a:ea typeface="맑은 고딕"/>
                <a:cs typeface="맑은 고딕"/>
              </a:rPr>
              <a:t>(:Component)-[:USES_PART]-&gt;(:Component)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클래스가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다르다</a:t>
            </a:r>
          </a:p>
          <a:p>
            <a:pPr algn="l" eaLnBrk="0">
              <a:lnSpc>
                <a:spcPct val="110000"/>
              </a:lnSpc>
              <a:spcAft>
                <a:spcPts val="200"/>
              </a:spcAft>
            </a:pPr>
            <a:r>
              <a:rPr sz="1300" b="0">
                <a:solidFill>
                  <a:srgbClr val="E8EEF6"/>
                </a:solidFill>
                <a:latin typeface="Consolas"/>
                <a:ea typeface="맑은 고딕"/>
                <a:cs typeface="맑은 고딕"/>
              </a:rPr>
              <a:t>(:Part)-[:USES_PART]-&gt;(:Component)        </a:t>
            </a:r>
            <a:r>
              <a:rPr sz="1300" b="0">
                <a:solidFill>
                  <a:srgbClr val="E8EEF6"/>
                </a:solidFill>
                <a:latin typeface="맑은 고딕"/>
                <a:ea typeface="맑은 고딕"/>
                <a:cs typeface="맑은 고딕"/>
              </a:rPr>
              <a:t>방향이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반대이다</a:t>
            </a:r>
          </a:p>
          <a:p>
            <a:pPr algn="l" eaLnBrk="0">
              <a:lnSpc>
                <a:spcPct val="110000"/>
              </a:lnSpc>
              <a:spcAft>
                <a:spcPts val="200"/>
              </a:spcAft>
            </a:pPr>
            <a:r>
              <a:rPr sz="1300" b="0">
                <a:solidFill>
                  <a:srgbClr val="E8EEF6"/>
                </a:solidFill>
                <a:latin typeface="Consolas"/>
                <a:ea typeface="맑은 고딕"/>
                <a:cs typeface="맑은 고딕"/>
              </a:rPr>
              <a:t>(:Component)-[:HAS_PART]-&gt;(:Part)         </a:t>
            </a:r>
            <a:r>
              <a:rPr sz="1300" b="0">
                <a:solidFill>
                  <a:srgbClr val="E8EEF6"/>
                </a:solidFill>
                <a:latin typeface="맑은 고딕"/>
                <a:ea typeface="맑은 고딕"/>
                <a:cs typeface="맑은 고딕"/>
              </a:rPr>
              <a:t>정의에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가정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베어링을</a:t>
            </a:r>
            <a:r>
              <a:rPr sz="1300" b="0">
                <a:solidFill>
                  <a:srgbClr val="E8EEF6"/>
                </a:solidFill>
                <a:latin typeface="Consolas"/>
                <a:ea typeface="맑은 고딕"/>
                <a:cs typeface="맑은 고딕"/>
              </a:rPr>
              <a:t> USES_PART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잇는다</a:t>
            </a:r>
          </a:p>
          <a:p>
            <a:pPr algn="l" eaLnBrk="0">
              <a:lnSpc>
                <a:spcPct val="110000"/>
              </a:lnSpc>
              <a:spcAft>
                <a:spcPts val="200"/>
              </a:spcAft>
            </a:pPr>
            <a:r>
              <a:rPr sz="1300" b="0">
                <a:solidFill>
                  <a:srgbClr val="E8EEF6"/>
                </a:solidFill>
                <a:latin typeface="맑은 고딕"/>
                <a:ea typeface="맑은 고딕"/>
                <a:cs typeface="맑은 고딕"/>
              </a:rPr>
              <a:t>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클래스는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들어가는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부품은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코어다</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type</a:t>
            </a:r>
          </a:p>
          <a:p>
            <a:pPr algn="l" eaLnBrk="0">
              <a:lnSpc>
                <a:spcPct val="110000"/>
              </a:lnSpc>
              <a:spcAft>
                <a:spcPts val="400"/>
              </a:spcAft>
            </a:pPr>
            <a:r>
              <a:rPr sz="1400" b="0">
                <a:solidFill>
                  <a:srgbClr val="1F2A3A"/>
                </a:solidFill>
                <a:latin typeface="맑은 고딕"/>
                <a:ea typeface="맑은 고딕"/>
                <a:cs typeface="맑은 고딕"/>
              </a:rPr>
              <a:t>관계 유형의 이름이다. 뜻이 비슷한 다른 이름은 다른 관계가 된다.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from · to</a:t>
            </a:r>
          </a:p>
          <a:p>
            <a:pPr algn="l" eaLnBrk="0">
              <a:lnSpc>
                <a:spcPct val="110000"/>
              </a:lnSpc>
              <a:spcAft>
                <a:spcPts val="400"/>
              </a:spcAft>
            </a:pPr>
            <a:r>
              <a:rPr sz="1400" b="0">
                <a:solidFill>
                  <a:srgbClr val="1F2A3A"/>
                </a:solidFill>
                <a:latin typeface="맑은 고딕"/>
                <a:ea typeface="맑은 고딕"/>
                <a:cs typeface="맑은 고딕"/>
              </a:rPr>
              <a:t>시작과 끝 클래스다. 화살표는 from에서 to로, 장치에서 부품으로 향한다.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cardinality</a:t>
            </a:r>
          </a:p>
          <a:p>
            <a:pPr algn="l" eaLnBrk="0">
              <a:lnSpc>
                <a:spcPct val="110000"/>
              </a:lnSpc>
              <a:spcAft>
                <a:spcPts val="400"/>
              </a:spcAft>
            </a:pPr>
            <a:r>
              <a:rPr sz="1400" b="0">
                <a:solidFill>
                  <a:srgbClr val="1F2A3A"/>
                </a:solidFill>
                <a:latin typeface="맑은 고딕"/>
                <a:ea typeface="맑은 고딕"/>
                <a:cs typeface="맑은 고딕"/>
              </a:rPr>
              <a:t>N:M으로 선언되어 장치와 부품 양쪽이 여럿을 받을 수 있다.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유효한 연결(Valid Connection)</a:t>
            </a:r>
          </a:p>
          <a:p>
            <a:pPr algn="l" eaLnBrk="0">
              <a:lnSpc>
                <a:spcPct val="110000"/>
              </a:lnSpc>
              <a:spcAft>
                <a:spcPts val="400"/>
              </a:spcAft>
            </a:pPr>
            <a:r>
              <a:rPr sz="1400" b="0">
                <a:solidFill>
                  <a:srgbClr val="1F2A3A"/>
                </a:solidFill>
                <a:latin typeface="맑은 고딕"/>
                <a:ea typeface="맑은 고딕"/>
                <a:cs typeface="맑은 고딕"/>
              </a:rPr>
              <a:t>이름 · 방향 · 양 끝이 정의를 따르는 연결이다. 실제 대상이 맞는지는 따로 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제약별로 걸러지는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제약</a:t>
            </a:r>
            <a:r>
              <a:rPr sz="1600" b="0">
                <a:solidFill>
                  <a:srgbClr val="556175"/>
                </a:solidFill>
                <a:latin typeface="맑은 고딕"/>
                <a:ea typeface="맑은 고딕"/>
                <a:cs typeface="맑은 고딕"/>
              </a:rPr>
              <a:t>(Constraint)은 정의가 정한 조건이어서, 검사는 어긋난 데이터를 어긴 조건의 이름과 함께 짚어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제약</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어긋난 데이터(가정)</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검사의 판정</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필수 속성</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tag 칸을 비운 압력 센서</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필수 속성</a:t>
            </a:r>
          </a:p>
          <a:p>
            <a:pPr algn="l" eaLnBrk="0">
              <a:lnSpc>
                <a:spcPct val="110000"/>
              </a:lnSpc>
            </a:pPr>
            <a:r>
              <a:rPr sz="1250" b="1">
                <a:solidFill>
                  <a:srgbClr val="556175"/>
                </a:solidFill>
                <a:latin typeface="맑은 고딕"/>
                <a:ea typeface="맑은 고딕"/>
                <a:cs typeface="맑은 고딕"/>
              </a:rPr>
              <a:t>tag 없음</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허용값</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상태 변수의 kind를 '조작'으로 적음</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허용값 아님</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스키마의 레이블</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레이블을 :Sensors로 적은 노드</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스키마에 없는</a:t>
            </a:r>
          </a:p>
          <a:p>
            <a:pPr algn="l" eaLnBrk="0">
              <a:lnSpc>
                <a:spcPct val="110000"/>
              </a:lnSpc>
            </a:pPr>
            <a:r>
              <a:rPr sz="1250" b="1">
                <a:solidFill>
                  <a:srgbClr val="556175"/>
                </a:solidFill>
                <a:latin typeface="맑은 고딕"/>
                <a:ea typeface="맑은 고딕"/>
                <a:cs typeface="맑은 고딕"/>
              </a:rPr>
              <a:t>레이블</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정의된 속성</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부품 노드에 적은 aliases 칸</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스키마에 없는</a:t>
            </a:r>
          </a:p>
          <a:p>
            <a:pPr algn="l" eaLnBrk="0">
              <a:lnSpc>
                <a:spcPct val="110000"/>
              </a:lnSpc>
            </a:pPr>
            <a:r>
              <a:rPr sz="1250" b="1">
                <a:solidFill>
                  <a:srgbClr val="556175"/>
                </a:solidFill>
                <a:latin typeface="맑은 고딕"/>
                <a:ea typeface="맑은 고딕"/>
                <a:cs typeface="맑은 고딕"/>
              </a:rPr>
              <a:t>속성</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끝 클래스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 → 설비로 이은 OBSERVES</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허용된 끝점이</a:t>
            </a:r>
          </a:p>
          <a:p>
            <a:pPr algn="l" eaLnBrk="0">
              <a:lnSpc>
                <a:spcPct val="110000"/>
              </a:lnSpc>
            </a:pPr>
            <a:r>
              <a:rPr sz="1250" b="1">
                <a:solidFill>
                  <a:srgbClr val="556175"/>
                </a:solidFill>
                <a:latin typeface="맑은 고딕"/>
                <a:ea typeface="맑은 고딕"/>
                <a:cs typeface="맑은 고딕"/>
              </a:rPr>
              <a:t>아님</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정의된 관계</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 → 쿨러 코어를 HAS_PART로 이음</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스키마에 없는</a:t>
            </a:r>
          </a:p>
          <a:p>
            <a:pPr algn="l" eaLnBrk="0">
              <a:lnSpc>
                <a:spcPct val="110000"/>
              </a:lnSpc>
            </a:pPr>
            <a:r>
              <a:rPr sz="1250" b="1">
                <a:solidFill>
                  <a:srgbClr val="556175"/>
                </a:solidFill>
                <a:latin typeface="맑은 고딕"/>
                <a:ea typeface="맑은 고딕"/>
                <a:cs typeface="맑은 고딕"/>
              </a:rPr>
              <a:t>관계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단계 더: 검사를 통과해도 틀린 데이터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검사를 통과했다는 것은 정의에 맞는다는 뜻일 뿐이라, 값의 형식과 실제 대상은 따로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521839"/>
            <a:ext cx="5181447" cy="293903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723007"/>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형식이 틀린 값</a:t>
            </a:r>
          </a:p>
        </p:txBody>
      </p:sp>
      <p:sp>
        <p:nvSpPr>
          <p:cNvPr id="8" name="TextBox 7"/>
          <p:cNvSpPr txBox="1"/>
          <p:nvPr/>
        </p:nvSpPr>
        <p:spPr>
          <a:xfrm>
            <a:off x="822959"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가정: limit에 '130 bar'를 글자로 넣는다</a:t>
            </a:r>
          </a:p>
          <a:p>
            <a:pPr algn="l" eaLnBrk="0" marL="194310" indent="-194310">
              <a:lnSpc>
                <a:spcPct val="110000"/>
              </a:lnSpc>
              <a:spcAft>
                <a:spcPts val="600"/>
              </a:spcAft>
            </a:pPr>
            <a:r>
              <a:rPr sz="1700" b="0">
                <a:solidFill>
                  <a:srgbClr val="1F2A3A"/>
                </a:solidFill>
                <a:latin typeface="맑은 고딕"/>
                <a:ea typeface="맑은 고딕"/>
                <a:cs typeface="맑은 고딕"/>
              </a:rPr>
              <a:t>• 검사는 수인지 글자인지 보지 않는다</a:t>
            </a:r>
          </a:p>
          <a:p>
            <a:pPr algn="l" eaLnBrk="0" marL="194310" indent="-194310">
              <a:lnSpc>
                <a:spcPct val="110000"/>
              </a:lnSpc>
              <a:spcAft>
                <a:spcPts val="600"/>
              </a:spcAft>
            </a:pPr>
            <a:r>
              <a:rPr sz="1700" b="0">
                <a:solidFill>
                  <a:srgbClr val="1F2A3A"/>
                </a:solidFill>
                <a:latin typeface="맑은 고딕"/>
                <a:ea typeface="맑은 고딕"/>
                <a:cs typeface="맑은 고딕"/>
              </a:rPr>
              <a:t>• 한계와 견주는 쪽이 수로 비교하지 못한다</a:t>
            </a:r>
          </a:p>
        </p:txBody>
      </p:sp>
      <p:sp>
        <p:nvSpPr>
          <p:cNvPr id="9" name="Rounded Rectangle 8"/>
          <p:cNvSpPr/>
          <p:nvPr/>
        </p:nvSpPr>
        <p:spPr>
          <a:xfrm>
            <a:off x="868680" y="5003673"/>
            <a:ext cx="117348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003673"/>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형식을 대조</a:t>
            </a:r>
          </a:p>
        </p:txBody>
      </p:sp>
      <p:sp>
        <p:nvSpPr>
          <p:cNvPr id="11" name="Rounded Rectangle 10"/>
          <p:cNvSpPr/>
          <p:nvPr/>
        </p:nvSpPr>
        <p:spPr>
          <a:xfrm>
            <a:off x="6461607" y="2521839"/>
            <a:ext cx="5181447" cy="293903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723007"/>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대상이 틀린 연결</a:t>
            </a:r>
          </a:p>
        </p:txBody>
      </p:sp>
      <p:sp>
        <p:nvSpPr>
          <p:cNvPr id="13" name="TextBox 12"/>
          <p:cNvSpPr txBox="1"/>
          <p:nvPr/>
        </p:nvSpPr>
        <p:spPr>
          <a:xfrm>
            <a:off x="6735927" y="3573399"/>
            <a:ext cx="4632807" cy="1338834"/>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가정: 유온 센서 → 팬 진동 OBSERVES</a:t>
            </a:r>
          </a:p>
          <a:p>
            <a:pPr algn="l" eaLnBrk="0" marL="194310" indent="-194310">
              <a:lnSpc>
                <a:spcPct val="110000"/>
              </a:lnSpc>
              <a:spcAft>
                <a:spcPts val="600"/>
              </a:spcAft>
            </a:pPr>
            <a:r>
              <a:rPr sz="1700" b="0">
                <a:solidFill>
                  <a:srgbClr val="1F2A3A"/>
                </a:solidFill>
                <a:latin typeface="맑은 고딕"/>
                <a:ea typeface="맑은 고딕"/>
                <a:cs typeface="맑은 고딕"/>
              </a:rPr>
              <a:t>• 양 끝이 센서와 상태 변수라 통과한다</a:t>
            </a:r>
          </a:p>
          <a:p>
            <a:pPr algn="l" eaLnBrk="0" marL="194310" indent="-194310">
              <a:lnSpc>
                <a:spcPct val="110000"/>
              </a:lnSpc>
              <a:spcAft>
                <a:spcPts val="600"/>
              </a:spcAft>
            </a:pPr>
            <a:r>
              <a:rPr sz="1700" b="0">
                <a:solidFill>
                  <a:srgbClr val="1F2A3A"/>
                </a:solidFill>
                <a:latin typeface="맑은 고딕"/>
                <a:ea typeface="맑은 고딕"/>
                <a:cs typeface="맑은 고딕"/>
              </a:rPr>
              <a:t>• 센서가 실제로 무엇을 재는지와 대조한다</a:t>
            </a:r>
          </a:p>
        </p:txBody>
      </p:sp>
      <p:sp>
        <p:nvSpPr>
          <p:cNvPr id="14" name="Rounded Rectangle 13"/>
          <p:cNvSpPr/>
          <p:nvPr/>
        </p:nvSpPr>
        <p:spPr>
          <a:xfrm>
            <a:off x="6781647" y="5003673"/>
            <a:ext cx="117348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003673"/>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사실을 대조</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설비 모델의 설계와 확장</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답할 질문에서 정의를 고르고, 요구가 바뀌면 깨지는 데이터와 질의를 가늠한다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역량 질문에서 클래스 · 속성 · 관계로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설계는 </a:t>
            </a:r>
            <a:r>
              <a:rPr sz="1600" b="1">
                <a:solidFill>
                  <a:srgbClr val="1A6FC4"/>
                </a:solidFill>
                <a:latin typeface="맑은 고딕"/>
                <a:ea typeface="맑은 고딕"/>
                <a:cs typeface="맑은 고딕"/>
              </a:rPr>
              <a:t>역량 질문</a:t>
            </a:r>
            <a:r>
              <a:rPr sz="1600" b="0">
                <a:solidFill>
                  <a:srgbClr val="556175"/>
                </a:solidFill>
                <a:latin typeface="맑은 고딕"/>
                <a:ea typeface="맑은 고딕"/>
                <a:cs typeface="맑은 고딕"/>
              </a:rPr>
              <a:t>(Competency Question)에서 출발해, 질문에 나오는 대상 · 값 · 길만 정의로 옮긴다.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역량 질문을 적는다</a:t>
            </a:r>
          </a:p>
          <a:p>
            <a:pPr algn="ctr" eaLnBrk="0">
              <a:lnSpc>
                <a:spcPct val="110000"/>
              </a:lnSpc>
              <a:spcAft>
                <a:spcPts val="400"/>
              </a:spcAft>
            </a:pPr>
            <a:r>
              <a:rPr sz="1350" b="0">
                <a:solidFill>
                  <a:srgbClr val="1F2A3A"/>
                </a:solidFill>
                <a:latin typeface="맑은 고딕"/>
                <a:ea typeface="맑은 고딕"/>
                <a:cs typeface="맑은 고딕"/>
              </a:rPr>
              <a:t>경보 대응: 어느 장치를 어느 센서로 보나</a:t>
            </a:r>
          </a:p>
          <a:p>
            <a:pPr algn="ctr" eaLnBrk="0">
              <a:lnSpc>
                <a:spcPct val="110000"/>
              </a:lnSpc>
              <a:spcAft>
                <a:spcPts val="400"/>
              </a:spcAft>
            </a:pPr>
            <a:r>
              <a:rPr sz="1350" b="0">
                <a:solidFill>
                  <a:srgbClr val="1F2A3A"/>
                </a:solidFill>
                <a:latin typeface="맑은 고딕"/>
                <a:ea typeface="맑은 고딕"/>
                <a:cs typeface="맑은 고딕"/>
              </a:rPr>
              <a:t>판단: 그 물리량의 한계는</a:t>
            </a:r>
          </a:p>
          <a:p>
            <a:pPr algn="ctr" eaLnBrk="0">
              <a:lnSpc>
                <a:spcPct val="110000"/>
              </a:lnSpc>
              <a:spcAft>
                <a:spcPts val="400"/>
              </a:spcAft>
            </a:pPr>
            <a:r>
              <a:rPr sz="1350" b="0">
                <a:solidFill>
                  <a:srgbClr val="1F2A3A"/>
                </a:solidFill>
                <a:latin typeface="맑은 고딕"/>
                <a:ea typeface="맑은 고딕"/>
                <a:cs typeface="맑은 고딕"/>
              </a:rPr>
              <a:t>주문: 교체 부품의 번호는</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대상을 클래스로</a:t>
            </a:r>
          </a:p>
          <a:p>
            <a:pPr algn="ctr" eaLnBrk="0">
              <a:lnSpc>
                <a:spcPct val="110000"/>
              </a:lnSpc>
              <a:spcAft>
                <a:spcPts val="400"/>
              </a:spcAft>
            </a:pPr>
            <a:r>
              <a:rPr sz="1350" b="0">
                <a:solidFill>
                  <a:srgbClr val="1F2A3A"/>
                </a:solidFill>
                <a:latin typeface="맑은 고딕"/>
                <a:ea typeface="맑은 고딕"/>
                <a:cs typeface="맑은 고딕"/>
              </a:rPr>
              <a:t>설비 · 구성 요소 · 센서</a:t>
            </a:r>
          </a:p>
          <a:p>
            <a:pPr algn="ctr" eaLnBrk="0">
              <a:lnSpc>
                <a:spcPct val="110000"/>
              </a:lnSpc>
              <a:spcAft>
                <a:spcPts val="400"/>
              </a:spcAft>
            </a:pPr>
            <a:r>
              <a:rPr sz="1350" b="0">
                <a:solidFill>
                  <a:srgbClr val="1F2A3A"/>
                </a:solidFill>
                <a:latin typeface="맑은 고딕"/>
                <a:ea typeface="맑은 고딕"/>
                <a:cs typeface="맑은 고딕"/>
              </a:rPr>
              <a:t>상태 변수 · 부품</a:t>
            </a:r>
          </a:p>
          <a:p>
            <a:pPr algn="ctr" eaLnBrk="0">
              <a:lnSpc>
                <a:spcPct val="110000"/>
              </a:lnSpc>
              <a:spcAft>
                <a:spcPts val="400"/>
              </a:spcAft>
            </a:pPr>
            <a:r>
              <a:rPr sz="1350" b="0">
                <a:solidFill>
                  <a:srgbClr val="1F2A3A"/>
                </a:solidFill>
                <a:latin typeface="맑은 고딕"/>
                <a:ea typeface="맑은 고딕"/>
                <a:cs typeface="맑은 고딕"/>
              </a:rPr>
              <a:t>예: HYD-01 · 오일 쿨러</a:t>
            </a:r>
          </a:p>
          <a:p>
            <a:pPr algn="ctr" eaLnBrk="0">
              <a:lnSpc>
                <a:spcPct val="110000"/>
              </a:lnSpc>
              <a:spcAft>
                <a:spcPts val="400"/>
              </a:spcAft>
            </a:pPr>
            <a:r>
              <a:rPr sz="1350" b="0">
                <a:solidFill>
                  <a:srgbClr val="1F2A3A"/>
                </a:solidFill>
                <a:latin typeface="맑은 고딕"/>
                <a:ea typeface="맑은 고딕"/>
                <a:cs typeface="맑은 고딕"/>
              </a:rPr>
              <a:t>유온 센서 · 유온 · 쿨러 코어</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묻는 값을 속성으로</a:t>
            </a:r>
          </a:p>
          <a:p>
            <a:pPr algn="ctr" eaLnBrk="0">
              <a:lnSpc>
                <a:spcPct val="110000"/>
              </a:lnSpc>
              <a:spcAft>
                <a:spcPts val="400"/>
              </a:spcAft>
            </a:pPr>
            <a:r>
              <a:rPr sz="1350" b="0">
                <a:solidFill>
                  <a:srgbClr val="1F2A3A"/>
                </a:solidFill>
                <a:latin typeface="맑은 고딕"/>
                <a:ea typeface="맑은 고딕"/>
                <a:cs typeface="맑은 고딕"/>
              </a:rPr>
              <a:t>한계는 수</a:t>
            </a:r>
          </a:p>
          <a:p>
            <a:pPr algn="ctr" eaLnBrk="0">
              <a:lnSpc>
                <a:spcPct val="110000"/>
              </a:lnSpc>
              <a:spcAft>
                <a:spcPts val="400"/>
              </a:spcAft>
            </a:pPr>
            <a:r>
              <a:rPr sz="1350" b="0">
                <a:solidFill>
                  <a:srgbClr val="1F2A3A"/>
                </a:solidFill>
                <a:latin typeface="맑은 고딕"/>
                <a:ea typeface="맑은 고딕"/>
                <a:cs typeface="맑은 고딕"/>
              </a:rPr>
              <a:t>태그 · 부품 번호는 문자열</a:t>
            </a:r>
          </a:p>
          <a:p>
            <a:pPr algn="ctr" eaLnBrk="0">
              <a:lnSpc>
                <a:spcPct val="110000"/>
              </a:lnSpc>
              <a:spcAft>
                <a:spcPts val="400"/>
              </a:spcAft>
            </a:pPr>
            <a:r>
              <a:rPr sz="1350" b="0">
                <a:solidFill>
                  <a:srgbClr val="1F2A3A"/>
                </a:solidFill>
                <a:latin typeface="맑은 고딕"/>
                <a:ea typeface="맑은 고딕"/>
                <a:cs typeface="맑은 고딕"/>
              </a:rPr>
              <a:t>필수 여부와 식별자</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eaLnBrk="0">
              <a:lnSpc>
                <a:spcPct val="110000"/>
              </a:lnSpc>
              <a:spcAft>
                <a:spcPts val="400"/>
              </a:spcAft>
            </a:pPr>
            <a:r>
              <a:rPr sz="1700" b="1">
                <a:solidFill>
                  <a:srgbClr val="13294B"/>
                </a:solidFill>
                <a:latin typeface="맑은 고딕"/>
                <a:ea typeface="맑은 고딕"/>
                <a:cs typeface="맑은 고딕"/>
              </a:rPr>
              <a:t>건너가는 길을 관계로</a:t>
            </a:r>
          </a:p>
          <a:p>
            <a:pPr algn="ctr" eaLnBrk="0">
              <a:lnSpc>
                <a:spcPct val="110000"/>
              </a:lnSpc>
              <a:spcAft>
                <a:spcPts val="400"/>
              </a:spcAft>
            </a:pPr>
            <a:r>
              <a:rPr sz="1350" b="0">
                <a:solidFill>
                  <a:srgbClr val="1F2A3A"/>
                </a:solidFill>
                <a:latin typeface="맑은 고딕"/>
                <a:ea typeface="맑은 고딕"/>
                <a:cs typeface="맑은 고딕"/>
              </a:rPr>
              <a:t>이름 · 방향</a:t>
            </a:r>
          </a:p>
          <a:p>
            <a:pPr algn="ctr" eaLnBrk="0">
              <a:lnSpc>
                <a:spcPct val="110000"/>
              </a:lnSpc>
              <a:spcAft>
                <a:spcPts val="400"/>
              </a:spcAft>
            </a:pPr>
            <a:r>
              <a:rPr sz="1350" b="0">
                <a:solidFill>
                  <a:srgbClr val="1F2A3A"/>
                </a:solidFill>
                <a:latin typeface="맑은 고딕"/>
                <a:ea typeface="맑은 고딕"/>
                <a:cs typeface="맑은 고딕"/>
              </a:rPr>
              <a:t>양 끝 클래스</a:t>
            </a:r>
          </a:p>
          <a:p>
            <a:pPr algn="ctr" eaLnBrk="0">
              <a:lnSpc>
                <a:spcPct val="110000"/>
              </a:lnSpc>
              <a:spcAft>
                <a:spcPts val="400"/>
              </a:spcAft>
            </a:pPr>
            <a:r>
              <a:rPr sz="1350" b="0">
                <a:solidFill>
                  <a:srgbClr val="1F2A3A"/>
                </a:solidFill>
                <a:latin typeface="맑은 고딕"/>
                <a:ea typeface="맑은 고딕"/>
                <a:cs typeface="맑은 고딕"/>
              </a:rPr>
              <a:t>카디널리티</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모델의 핵심 정의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질문이 묻는 값은 속성으로, 질문이 건너가는 길은 관계로 적으면 줄마다 어느 질문 때문인지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Asset         { id!  name!  code! }                </a:t>
            </a:r>
            <a:r>
              <a:rPr sz="1300" b="0">
                <a:solidFill>
                  <a:srgbClr val="E8EEF6"/>
                </a:solidFill>
                <a:latin typeface="맑은 고딕"/>
                <a:ea typeface="맑은 고딕"/>
                <a:cs typeface="맑은 고딕"/>
              </a:rPr>
              <a:t>질문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출발</a:t>
            </a:r>
          </a:p>
          <a:p>
            <a:pPr algn="l" eaLnBrk="0">
              <a:lnSpc>
                <a:spcPct val="110000"/>
              </a:lnSpc>
              <a:spcAft>
                <a:spcPts val="200"/>
              </a:spcAft>
            </a:pPr>
            <a:r>
              <a:rPr sz="1300" b="0">
                <a:solidFill>
                  <a:srgbClr val="E8EEF6"/>
                </a:solidFill>
                <a:latin typeface="Consolas"/>
                <a:ea typeface="맑은 고딕"/>
                <a:cs typeface="맑은 고딕"/>
              </a:rPr>
              <a:t>Component     { id!  name!  aliases }              </a:t>
            </a:r>
            <a:r>
              <a:rPr sz="1300" b="0">
                <a:solidFill>
                  <a:srgbClr val="E8EEF6"/>
                </a:solidFill>
                <a:latin typeface="맑은 고딕"/>
                <a:ea typeface="맑은 고딕"/>
                <a:cs typeface="맑은 고딕"/>
              </a:rPr>
              <a:t>길이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곳</a:t>
            </a:r>
          </a:p>
          <a:p>
            <a:pPr algn="l" eaLnBrk="0">
              <a:lnSpc>
                <a:spcPct val="110000"/>
              </a:lnSpc>
              <a:spcAft>
                <a:spcPts val="200"/>
              </a:spcAft>
            </a:pPr>
            <a:r>
              <a:rPr sz="1300" b="0">
                <a:solidFill>
                  <a:srgbClr val="E8EEF6"/>
                </a:solidFill>
                <a:latin typeface="Consolas"/>
                <a:ea typeface="맑은 고딕"/>
                <a:cs typeface="맑은 고딕"/>
              </a:rPr>
              <a:t>Sensor        { id!  name!  tag!  unit }           </a:t>
            </a:r>
            <a:r>
              <a:rPr sz="1300" b="0">
                <a:solidFill>
                  <a:srgbClr val="E8EEF6"/>
                </a:solidFill>
                <a:latin typeface="맑은 고딕"/>
                <a:ea typeface="맑은 고딕"/>
                <a:cs typeface="맑은 고딕"/>
              </a:rPr>
              <a:t>질문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답</a:t>
            </a:r>
          </a:p>
          <a:p>
            <a:pPr algn="l" eaLnBrk="0">
              <a:lnSpc>
                <a:spcPct val="110000"/>
              </a:lnSpc>
              <a:spcAft>
                <a:spcPts val="200"/>
              </a:spcAft>
            </a:pPr>
            <a:r>
              <a:rPr sz="1300" b="0">
                <a:solidFill>
                  <a:srgbClr val="E8EEF6"/>
                </a:solidFill>
                <a:latin typeface="Consolas"/>
                <a:ea typeface="맑은 고딕"/>
                <a:cs typeface="맑은 고딕"/>
              </a:rPr>
              <a:t>StateVariable { id!  name!  unit!  kind!  limit }  </a:t>
            </a:r>
            <a:r>
              <a:rPr sz="1300" b="0">
                <a:solidFill>
                  <a:srgbClr val="E8EEF6"/>
                </a:solidFill>
                <a:latin typeface="맑은 고딕"/>
                <a:ea typeface="맑은 고딕"/>
                <a:cs typeface="맑은 고딕"/>
              </a:rPr>
              <a:t>질문</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답</a:t>
            </a:r>
          </a:p>
          <a:p>
            <a:pPr algn="l" eaLnBrk="0">
              <a:lnSpc>
                <a:spcPct val="110000"/>
              </a:lnSpc>
              <a:spcAft>
                <a:spcPts val="200"/>
              </a:spcAft>
            </a:pPr>
            <a:r>
              <a:rPr sz="1300" b="0">
                <a:solidFill>
                  <a:srgbClr val="E8EEF6"/>
                </a:solidFill>
                <a:latin typeface="Consolas"/>
                <a:ea typeface="맑은 고딕"/>
                <a:cs typeface="맑은 고딕"/>
              </a:rPr>
              <a:t>Part          { id!  name!  partNo }               </a:t>
            </a:r>
            <a:r>
              <a:rPr sz="1300" b="0">
                <a:solidFill>
                  <a:srgbClr val="E8EEF6"/>
                </a:solidFill>
                <a:latin typeface="맑은 고딕"/>
                <a:ea typeface="맑은 고딕"/>
                <a:cs typeface="맑은 고딕"/>
              </a:rPr>
              <a:t>질문</a:t>
            </a:r>
            <a:r>
              <a:rPr sz="1300" b="0">
                <a:solidFill>
                  <a:srgbClr val="E8EEF6"/>
                </a:solidFill>
                <a:latin typeface="Consolas"/>
                <a:ea typeface="맑은 고딕"/>
                <a:cs typeface="맑은 고딕"/>
              </a:rPr>
              <a:t> 3</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답</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HAS_COMPONENT   Asset     -&gt; Component      1:N</a:t>
            </a:r>
          </a:p>
          <a:p>
            <a:pPr algn="l" eaLnBrk="0">
              <a:lnSpc>
                <a:spcPct val="110000"/>
              </a:lnSpc>
              <a:spcAft>
                <a:spcPts val="200"/>
              </a:spcAft>
            </a:pPr>
            <a:r>
              <a:rPr sz="1300" b="0">
                <a:solidFill>
                  <a:srgbClr val="E8EEF6"/>
                </a:solidFill>
                <a:latin typeface="Consolas"/>
                <a:ea typeface="맑은 고딕"/>
                <a:cs typeface="맑은 고딕"/>
              </a:rPr>
              <a:t>MONITORED_BY    Component -&gt; Sensor         N:M</a:t>
            </a:r>
          </a:p>
          <a:p>
            <a:pPr algn="l" eaLnBrk="0">
              <a:lnSpc>
                <a:spcPct val="110000"/>
              </a:lnSpc>
              <a:spcAft>
                <a:spcPts val="200"/>
              </a:spcAft>
            </a:pPr>
            <a:r>
              <a:rPr sz="1300" b="0">
                <a:solidFill>
                  <a:srgbClr val="E8EEF6"/>
                </a:solidFill>
                <a:latin typeface="Consolas"/>
                <a:ea typeface="맑은 고딕"/>
                <a:cs typeface="맑은 고딕"/>
              </a:rPr>
              <a:t>OBSERVES        Sensor    -&gt; StateVariable  N:1</a:t>
            </a:r>
          </a:p>
          <a:p>
            <a:pPr algn="l" eaLnBrk="0">
              <a:lnSpc>
                <a:spcPct val="110000"/>
              </a:lnSpc>
              <a:spcAft>
                <a:spcPts val="200"/>
              </a:spcAft>
            </a:pPr>
            <a:r>
              <a:rPr sz="1300" b="0">
                <a:solidFill>
                  <a:srgbClr val="E8EEF6"/>
                </a:solidFill>
                <a:latin typeface="Consolas"/>
                <a:ea typeface="맑은 고딕"/>
                <a:cs typeface="맑은 고딕"/>
              </a:rPr>
              <a:t>USES_PART       Component -&gt; Part           N:M</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느낌표</a:t>
            </a:r>
          </a:p>
          <a:p>
            <a:pPr algn="l" eaLnBrk="0">
              <a:lnSpc>
                <a:spcPct val="110000"/>
              </a:lnSpc>
              <a:spcAft>
                <a:spcPts val="400"/>
              </a:spcAft>
            </a:pPr>
            <a:r>
              <a:rPr sz="1400" b="0">
                <a:solidFill>
                  <a:srgbClr val="1F2A3A"/>
                </a:solidFill>
                <a:latin typeface="맑은 고딕"/>
                <a:ea typeface="맑은 고딕"/>
                <a:cs typeface="맑은 고딕"/>
              </a:rPr>
              <a:t>필수 속성이다. 다섯 클래스 모두 id와 name이 필수다.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code! · tag!</a:t>
            </a:r>
          </a:p>
          <a:p>
            <a:pPr algn="l" eaLnBrk="0">
              <a:lnSpc>
                <a:spcPct val="110000"/>
              </a:lnSpc>
              <a:spcAft>
                <a:spcPts val="400"/>
              </a:spcAft>
            </a:pPr>
            <a:r>
              <a:rPr sz="1400" b="0">
                <a:solidFill>
                  <a:srgbClr val="1F2A3A"/>
                </a:solidFill>
                <a:latin typeface="맑은 고딕"/>
                <a:ea typeface="맑은 고딕"/>
                <a:cs typeface="맑은 고딕"/>
              </a:rPr>
              <a:t>다른 저장소의 값을 찾아갈 공통 식별자라 필수로 둔다.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partNo</a:t>
            </a:r>
          </a:p>
          <a:p>
            <a:pPr algn="l" eaLnBrk="0">
              <a:lnSpc>
                <a:spcPct val="110000"/>
              </a:lnSpc>
              <a:spcAft>
                <a:spcPts val="400"/>
              </a:spcAft>
            </a:pPr>
            <a:r>
              <a:rPr sz="1400" b="0">
                <a:solidFill>
                  <a:srgbClr val="1F2A3A"/>
                </a:solidFill>
                <a:latin typeface="맑은 고딕"/>
                <a:ea typeface="맑은 고딕"/>
                <a:cs typeface="맑은 고딕"/>
              </a:rPr>
              <a:t>질문 3이 묻는 부품 번호인데, 정의에서는 선택 속성이다.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발췌</a:t>
            </a:r>
          </a:p>
          <a:p>
            <a:pPr algn="l" eaLnBrk="0">
              <a:lnSpc>
                <a:spcPct val="110000"/>
              </a:lnSpc>
              <a:spcAft>
                <a:spcPts val="400"/>
              </a:spcAft>
            </a:pPr>
            <a:r>
              <a:rPr sz="1400" b="0">
                <a:solidFill>
                  <a:srgbClr val="1F2A3A"/>
                </a:solidFill>
                <a:latin typeface="맑은 고딕"/>
                <a:ea typeface="맑은 고딕"/>
                <a:cs typeface="맑은 고딕"/>
              </a:rPr>
              <a:t>질문에 쓰는 속성만 골랐다. 전체 정의에는 normal · virtual 등이 더 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세 질문이 지나는 관계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 대응 · 한계 · 교체품의 세 질문은 모두 </a:t>
            </a:r>
            <a:r>
              <a:rPr sz="1600" b="1">
                <a:solidFill>
                  <a:srgbClr val="1A6FC4"/>
                </a:solidFill>
                <a:latin typeface="맑은 고딕"/>
                <a:ea typeface="맑은 고딕"/>
                <a:cs typeface="맑은 고딕"/>
              </a:rPr>
              <a:t>오일 쿨러</a:t>
            </a:r>
            <a:r>
              <a:rPr sz="1600" b="0">
                <a:solidFill>
                  <a:srgbClr val="556175"/>
                </a:solidFill>
                <a:latin typeface="맑은 고딕"/>
                <a:ea typeface="맑은 고딕"/>
                <a:cs typeface="맑은 고딕"/>
              </a:rPr>
              <a:t>를 지나므로, 선 하나가 빠지면 그 선을 쓰는 질문이 답을 잃는다.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HYD-01</a:t>
            </a:r>
          </a:p>
          <a:p>
            <a:pPr algn="ctr" eaLnBrk="0">
              <a:lnSpc>
                <a:spcPct val="110000"/>
              </a:lnSpc>
            </a:pPr>
            <a:r>
              <a:rPr sz="1100" b="0">
                <a:solidFill>
                  <a:srgbClr val="556175"/>
                </a:solidFill>
                <a:latin typeface="맑은 고딕"/>
                <a:ea typeface="맑은 고딕"/>
                <a:cs typeface="맑은 고딕"/>
              </a:rPr>
              <a:t>Asset</a:t>
            </a:r>
          </a:p>
          <a:p>
            <a:pPr algn="ctr" eaLnBrk="0">
              <a:lnSpc>
                <a:spcPct val="110000"/>
              </a:lnSpc>
            </a:pPr>
            <a:r>
              <a:rPr sz="1100" b="0">
                <a:solidFill>
                  <a:srgbClr val="556175"/>
                </a:solidFill>
                <a:latin typeface="맑은 고딕"/>
                <a:ea typeface="맑은 고딕"/>
                <a:cs typeface="맑은 고딕"/>
              </a:rPr>
              <a:t>code: HYD-01</a:t>
            </a:r>
          </a:p>
        </p:txBody>
      </p:sp>
      <p:sp>
        <p:nvSpPr>
          <p:cNvPr id="8" name="Oval 7"/>
          <p:cNvSpPr/>
          <p:nvPr/>
        </p:nvSpPr>
        <p:spPr>
          <a:xfrm>
            <a:off x="4759314" y="1627632"/>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880930"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오일 쿨러</a:t>
            </a:r>
          </a:p>
          <a:p>
            <a:pPr algn="ctr" eaLnBrk="0">
              <a:lnSpc>
                <a:spcPct val="110000"/>
              </a:lnSpc>
            </a:pPr>
            <a:r>
              <a:rPr sz="1100" b="0">
                <a:solidFill>
                  <a:srgbClr val="556175"/>
                </a:solidFill>
                <a:latin typeface="맑은 고딕"/>
                <a:ea typeface="맑은 고딕"/>
                <a:cs typeface="맑은 고딕"/>
              </a:rPr>
              <a:t>Component</a:t>
            </a:r>
          </a:p>
        </p:txBody>
      </p:sp>
      <p:sp>
        <p:nvSpPr>
          <p:cNvPr id="10" name="Oval 9"/>
          <p:cNvSpPr/>
          <p:nvPr/>
        </p:nvSpPr>
        <p:spPr>
          <a:xfrm>
            <a:off x="4759314"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4880930"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센서</a:t>
            </a:r>
          </a:p>
          <a:p>
            <a:pPr algn="ctr" eaLnBrk="0">
              <a:lnSpc>
                <a:spcPct val="110000"/>
              </a:lnSpc>
            </a:pPr>
            <a:r>
              <a:rPr sz="1100" b="0">
                <a:solidFill>
                  <a:srgbClr val="556175"/>
                </a:solidFill>
                <a:latin typeface="맑은 고딕"/>
                <a:ea typeface="맑은 고딕"/>
                <a:cs typeface="맑은 고딕"/>
              </a:rPr>
              <a:t>Sensor</a:t>
            </a:r>
          </a:p>
          <a:p>
            <a:pPr algn="ctr" eaLnBrk="0">
              <a:lnSpc>
                <a:spcPct val="110000"/>
              </a:lnSpc>
            </a:pPr>
            <a:r>
              <a:rPr sz="1100" b="0">
                <a:solidFill>
                  <a:srgbClr val="556175"/>
                </a:solidFill>
                <a:latin typeface="맑은 고딕"/>
                <a:ea typeface="맑은 고딕"/>
                <a:cs typeface="맑은 고딕"/>
              </a:rPr>
              <a:t>tag: TS1</a:t>
            </a:r>
          </a:p>
        </p:txBody>
      </p:sp>
      <p:sp>
        <p:nvSpPr>
          <p:cNvPr id="12" name="Oval 11"/>
          <p:cNvSpPr/>
          <p:nvPr/>
        </p:nvSpPr>
        <p:spPr>
          <a:xfrm>
            <a:off x="9905695"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a:t>
            </a:r>
          </a:p>
          <a:p>
            <a:pPr algn="ctr" eaLnBrk="0">
              <a:lnSpc>
                <a:spcPct val="110000"/>
              </a:lnSpc>
            </a:pPr>
            <a:r>
              <a:rPr sz="1100" b="0">
                <a:solidFill>
                  <a:srgbClr val="556175"/>
                </a:solidFill>
                <a:latin typeface="맑은 고딕"/>
                <a:ea typeface="맑은 고딕"/>
                <a:cs typeface="맑은 고딕"/>
              </a:rPr>
              <a:t>StateVariable</a:t>
            </a:r>
          </a:p>
          <a:p>
            <a:pPr algn="ctr" eaLnBrk="0">
              <a:lnSpc>
                <a:spcPct val="110000"/>
              </a:lnSpc>
            </a:pPr>
            <a:r>
              <a:rPr sz="1100" b="0">
                <a:solidFill>
                  <a:srgbClr val="556175"/>
                </a:solidFill>
                <a:latin typeface="맑은 고딕"/>
                <a:ea typeface="맑은 고딕"/>
                <a:cs typeface="맑은 고딕"/>
              </a:rPr>
              <a:t>limit: 65</a:t>
            </a:r>
          </a:p>
        </p:txBody>
      </p:sp>
      <p:sp>
        <p:nvSpPr>
          <p:cNvPr id="14" name="Oval 13"/>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10027310"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코어</a:t>
            </a:r>
          </a:p>
          <a:p>
            <a:pPr algn="ctr" eaLnBrk="0">
              <a:lnSpc>
                <a:spcPct val="110000"/>
              </a:lnSpc>
            </a:pPr>
            <a:r>
              <a:rPr sz="1100" b="0">
                <a:solidFill>
                  <a:srgbClr val="556175"/>
                </a:solidFill>
                <a:latin typeface="맑은 고딕"/>
                <a:ea typeface="맑은 고딕"/>
                <a:cs typeface="맑은 고딕"/>
              </a:rPr>
              <a:t>Part</a:t>
            </a:r>
          </a:p>
          <a:p>
            <a:pPr algn="ctr" eaLnBrk="0">
              <a:lnSpc>
                <a:spcPct val="110000"/>
              </a:lnSpc>
            </a:pPr>
            <a:r>
              <a:rPr sz="1100" b="0">
                <a:solidFill>
                  <a:srgbClr val="556175"/>
                </a:solidFill>
                <a:latin typeface="맑은 고딕"/>
                <a:ea typeface="맑은 고딕"/>
                <a:cs typeface="맑은 고딕"/>
              </a:rPr>
              <a:t>P-CLR-CORE</a:t>
            </a:r>
          </a:p>
        </p:txBody>
      </p:sp>
      <p:cxnSp>
        <p:nvCxnSpPr>
          <p:cNvPr id="16" name="Connector 15"/>
          <p:cNvCxnSpPr/>
          <p:nvPr/>
        </p:nvCxnSpPr>
        <p:spPr>
          <a:xfrm>
            <a:off x="2331720" y="2496312"/>
            <a:ext cx="2354442" cy="0"/>
          </a:xfrm>
          <a:prstGeom prst="line">
            <a:avLst/>
          </a:prstGeom>
          <a:ln w="28575">
            <a:solidFill>
              <a:srgbClr val="13294B"/>
            </a:solidFill>
            <a:tailEnd type="triangle" w="med" len="med"/>
          </a:ln>
        </p:spPr>
      </p:cxnSp>
      <p:sp>
        <p:nvSpPr>
          <p:cNvPr id="17" name="Rounded Rectangle 16"/>
          <p:cNvSpPr/>
          <p:nvPr/>
        </p:nvSpPr>
        <p:spPr>
          <a:xfrm>
            <a:off x="2298313" y="2130552"/>
            <a:ext cx="2421254"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298313" y="2130552"/>
            <a:ext cx="2421254"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HAS_COMPONENT · 질문 1 · 2</a:t>
            </a:r>
          </a:p>
        </p:txBody>
      </p:sp>
      <p:cxnSp>
        <p:nvCxnSpPr>
          <p:cNvPr id="19" name="Connector 18"/>
          <p:cNvCxnSpPr/>
          <p:nvPr/>
        </p:nvCxnSpPr>
        <p:spPr>
          <a:xfrm>
            <a:off x="5627994" y="3410712"/>
            <a:ext cx="0" cy="1133856"/>
          </a:xfrm>
          <a:prstGeom prst="line">
            <a:avLst/>
          </a:prstGeom>
          <a:ln w="28575">
            <a:solidFill>
              <a:srgbClr val="13294B"/>
            </a:solidFill>
            <a:tailEnd type="triangle" w="med" len="med"/>
          </a:ln>
        </p:spPr>
      </p:cxnSp>
      <p:sp>
        <p:nvSpPr>
          <p:cNvPr id="20" name="Rounded Rectangle 19"/>
          <p:cNvSpPr/>
          <p:nvPr/>
        </p:nvSpPr>
        <p:spPr>
          <a:xfrm>
            <a:off x="5719434" y="3831335"/>
            <a:ext cx="2330703"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719434" y="3831335"/>
            <a:ext cx="2330703"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MONITORED_BY · 질문 1 · 2</a:t>
            </a:r>
          </a:p>
        </p:txBody>
      </p:sp>
      <p:cxnSp>
        <p:nvCxnSpPr>
          <p:cNvPr id="22" name="Connector 21"/>
          <p:cNvCxnSpPr/>
          <p:nvPr/>
        </p:nvCxnSpPr>
        <p:spPr>
          <a:xfrm>
            <a:off x="6542394" y="5486400"/>
            <a:ext cx="3290149" cy="0"/>
          </a:xfrm>
          <a:prstGeom prst="line">
            <a:avLst/>
          </a:prstGeom>
          <a:ln w="28575">
            <a:solidFill>
              <a:srgbClr val="13294B"/>
            </a:solidFill>
            <a:tailEnd type="triangle" w="med" len="med"/>
          </a:ln>
        </p:spPr>
      </p:cxnSp>
      <p:sp>
        <p:nvSpPr>
          <p:cNvPr id="23" name="Rounded Rectangle 22"/>
          <p:cNvSpPr/>
          <p:nvPr/>
        </p:nvSpPr>
        <p:spPr>
          <a:xfrm>
            <a:off x="7358032" y="5120640"/>
            <a:ext cx="1658874"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7358032" y="5120640"/>
            <a:ext cx="1658874"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OBSERVES · 질문 2</a:t>
            </a:r>
          </a:p>
        </p:txBody>
      </p:sp>
      <p:cxnSp>
        <p:nvCxnSpPr>
          <p:cNvPr id="25" name="Connector 24"/>
          <p:cNvCxnSpPr/>
          <p:nvPr/>
        </p:nvCxnSpPr>
        <p:spPr>
          <a:xfrm>
            <a:off x="6542394" y="2496312"/>
            <a:ext cx="3290149" cy="0"/>
          </a:xfrm>
          <a:prstGeom prst="line">
            <a:avLst/>
          </a:prstGeom>
          <a:ln w="28575">
            <a:solidFill>
              <a:srgbClr val="13294B"/>
            </a:solidFill>
            <a:tailEnd type="triangle" w="med" len="med"/>
          </a:ln>
        </p:spPr>
      </p:cxnSp>
      <p:sp>
        <p:nvSpPr>
          <p:cNvPr id="26" name="Rounded Rectangle 25"/>
          <p:cNvSpPr/>
          <p:nvPr/>
        </p:nvSpPr>
        <p:spPr>
          <a:xfrm>
            <a:off x="7320059" y="2130552"/>
            <a:ext cx="17348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7320059" y="2130552"/>
            <a:ext cx="1734820"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USES_PART · 질문 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인스턴스 추가와 스키마 변경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대상이 늘면 정의는 그대로 두고 인스턴스를 더하며, 정의에 없는 것을 물어야 할 때만 스키마를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8024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인스턴스를 더한다</a:t>
            </a:r>
          </a:p>
        </p:txBody>
      </p:sp>
      <p:sp>
        <p:nvSpPr>
          <p:cNvPr id="8" name="TextBox 7"/>
          <p:cNvSpPr txBox="1"/>
          <p:nvPr/>
        </p:nvSpPr>
        <p:spPr>
          <a:xfrm>
            <a:off x="822959" y="3330638"/>
            <a:ext cx="4632807" cy="1824355"/>
          </a:xfrm>
          <a:prstGeom prst="rect">
            <a:avLst/>
          </a:prstGeom>
          <a:noFill/>
        </p:spPr>
        <p:txBody>
          <a:bodyPr wrap="square" anchor="t"/>
          <a:lstStyle/>
          <a:p>
            <a:pPr algn="l" eaLnBrk="0" marL="165735" indent="-165735">
              <a:lnSpc>
                <a:spcPct val="110000"/>
              </a:lnSpc>
              <a:spcAft>
                <a:spcPts val="600"/>
              </a:spcAft>
            </a:pPr>
            <a:r>
              <a:rPr sz="1450" b="0">
                <a:solidFill>
                  <a:srgbClr val="1F2A3A"/>
                </a:solidFill>
                <a:latin typeface="맑은 고딕"/>
                <a:ea typeface="맑은 고딕"/>
                <a:cs typeface="맑은 고딕"/>
              </a:rPr>
              <a:t>• 가정: 같은 기종 HYD-04가 들어온다</a:t>
            </a:r>
          </a:p>
          <a:p>
            <a:pPr algn="l" eaLnBrk="0" marL="165735" indent="-165735">
              <a:lnSpc>
                <a:spcPct val="110000"/>
              </a:lnSpc>
              <a:spcAft>
                <a:spcPts val="600"/>
              </a:spcAft>
            </a:pPr>
            <a:r>
              <a:rPr sz="1450" b="0">
                <a:solidFill>
                  <a:srgbClr val="1F2A3A"/>
                </a:solidFill>
                <a:latin typeface="맑은 고딕"/>
                <a:ea typeface="맑은 고딕"/>
                <a:cs typeface="맑은 고딕"/>
              </a:rPr>
              <a:t>• 설비 하나와 HAS_COMPONENT 연결을 더한다</a:t>
            </a:r>
          </a:p>
          <a:p>
            <a:pPr algn="l" eaLnBrk="0" marL="165735" indent="-165735">
              <a:lnSpc>
                <a:spcPct val="110000"/>
              </a:lnSpc>
              <a:spcAft>
                <a:spcPts val="600"/>
              </a:spcAft>
            </a:pPr>
            <a:r>
              <a:rPr sz="1450" b="0">
                <a:solidFill>
                  <a:srgbClr val="1F2A3A"/>
                </a:solidFill>
                <a:latin typeface="맑은 고딕"/>
                <a:ea typeface="맑은 고딕"/>
                <a:cs typeface="맑은 고딕"/>
              </a:rPr>
              <a:t>• 세 질문을 HYD-04로 다시 물어 답을 본다</a:t>
            </a:r>
          </a:p>
          <a:p>
            <a:pPr algn="l" eaLnBrk="0" marL="165735" indent="-165735">
              <a:lnSpc>
                <a:spcPct val="110000"/>
              </a:lnSpc>
              <a:spcAft>
                <a:spcPts val="600"/>
              </a:spcAft>
            </a:pPr>
            <a:r>
              <a:rPr sz="1450" b="0">
                <a:solidFill>
                  <a:srgbClr val="1F2A3A"/>
                </a:solidFill>
                <a:latin typeface="맑은 고딕"/>
                <a:ea typeface="맑은 고딕"/>
                <a:cs typeface="맑은 고딕"/>
              </a:rPr>
              <a:t>• 정의는 그대로 쓴다</a:t>
            </a:r>
          </a:p>
        </p:txBody>
      </p:sp>
      <p:sp>
        <p:nvSpPr>
          <p:cNvPr id="9" name="Rounded Rectangle 8"/>
          <p:cNvSpPr/>
          <p:nvPr/>
        </p:nvSpPr>
        <p:spPr>
          <a:xfrm>
            <a:off x="868680" y="5246433"/>
            <a:ext cx="152399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246433"/>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자주 · 데이터만</a:t>
            </a:r>
          </a:p>
        </p:txBody>
      </p:sp>
      <p:sp>
        <p:nvSpPr>
          <p:cNvPr id="11" name="Rounded Rectangle 10"/>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8024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스키마를 고친다</a:t>
            </a:r>
          </a:p>
        </p:txBody>
      </p:sp>
      <p:sp>
        <p:nvSpPr>
          <p:cNvPr id="13" name="TextBox 12"/>
          <p:cNvSpPr txBox="1"/>
          <p:nvPr/>
        </p:nvSpPr>
        <p:spPr>
          <a:xfrm>
            <a:off x="6735927" y="3330638"/>
            <a:ext cx="4632807" cy="1824355"/>
          </a:xfrm>
          <a:prstGeom prst="rect">
            <a:avLst/>
          </a:prstGeom>
          <a:noFill/>
        </p:spPr>
        <p:txBody>
          <a:bodyPr wrap="square" anchor="t"/>
          <a:lstStyle/>
          <a:p>
            <a:pPr algn="l" eaLnBrk="0" marL="154305" indent="-154305">
              <a:lnSpc>
                <a:spcPct val="110000"/>
              </a:lnSpc>
              <a:spcAft>
                <a:spcPts val="600"/>
              </a:spcAft>
            </a:pPr>
            <a:r>
              <a:rPr sz="1350" b="0">
                <a:solidFill>
                  <a:srgbClr val="1F2A3A"/>
                </a:solidFill>
                <a:latin typeface="맑은 고딕"/>
                <a:ea typeface="맑은 고딕"/>
                <a:cs typeface="맑은 고딕"/>
              </a:rPr>
              <a:t>• 가정: 쿨러 코어를 「오일 쿨러 코어」로도 찾는다</a:t>
            </a:r>
          </a:p>
          <a:p>
            <a:pPr algn="l" eaLnBrk="0" marL="154305" indent="-154305">
              <a:lnSpc>
                <a:spcPct val="110000"/>
              </a:lnSpc>
              <a:spcAft>
                <a:spcPts val="600"/>
              </a:spcAft>
            </a:pPr>
            <a:r>
              <a:rPr sz="1350" b="0">
                <a:solidFill>
                  <a:srgbClr val="1F2A3A"/>
                </a:solidFill>
                <a:latin typeface="맑은 고딕"/>
                <a:ea typeface="맑은 고딕"/>
                <a:cs typeface="맑은 고딕"/>
              </a:rPr>
              <a:t>• 부품 정의에 별칭 칸이 없다</a:t>
            </a:r>
          </a:p>
          <a:p>
            <a:pPr algn="l" eaLnBrk="0" marL="154305" indent="-154305">
              <a:lnSpc>
                <a:spcPct val="110000"/>
              </a:lnSpc>
              <a:spcAft>
                <a:spcPts val="600"/>
              </a:spcAft>
            </a:pPr>
            <a:r>
              <a:rPr sz="1350" b="0">
                <a:solidFill>
                  <a:srgbClr val="1F2A3A"/>
                </a:solidFill>
                <a:latin typeface="맑은 고딕"/>
                <a:ea typeface="맑은 고딕"/>
                <a:cs typeface="맑은 고딕"/>
              </a:rPr>
              <a:t>• Part에 aliases를 더하는 정의 변경이 필요하다</a:t>
            </a:r>
          </a:p>
          <a:p>
            <a:pPr algn="l" eaLnBrk="0" marL="154305" indent="-154305">
              <a:lnSpc>
                <a:spcPct val="110000"/>
              </a:lnSpc>
              <a:spcAft>
                <a:spcPts val="600"/>
              </a:spcAft>
            </a:pPr>
            <a:r>
              <a:rPr sz="1350" b="0">
                <a:solidFill>
                  <a:srgbClr val="1F2A3A"/>
                </a:solidFill>
                <a:latin typeface="맑은 고딕"/>
                <a:ea typeface="맑은 고딕"/>
                <a:cs typeface="맑은 고딕"/>
              </a:rPr>
              <a:t>• 그 클래스의 모든 인스턴스가 새 정의로 다시 판정된다</a:t>
            </a:r>
          </a:p>
        </p:txBody>
      </p:sp>
      <p:sp>
        <p:nvSpPr>
          <p:cNvPr id="14" name="Rounded Rectangle 13"/>
          <p:cNvSpPr/>
          <p:nvPr/>
        </p:nvSpPr>
        <p:spPr>
          <a:xfrm>
            <a:off x="6781647" y="5246433"/>
            <a:ext cx="1676399"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246433"/>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드물게 · 정의부터</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판단 문제: 부품 번호를 필수로 바꾸는 요구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부품 번호로 부품을 하나씩 찾는 구매 판단 때문에, partNo를 필수로 바꾸자는 요구가 왔다고 하자.</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정의를 바꾸기 전에 할 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스키마 한 줄만 고치면 되니 따로 확인할 것이 없다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지금 부품마다 번호가 있는지, 번호가 겹치는 부품이 없는지, 부품을 넣는 곳이 번호를 채우는지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번호가 없는 부품이 있으면 번호 칸에 0을 넣어 검사를 통과시킨다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번호가 필수가 되니 부품의 식별자를 부품 번호로 바꾼다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그래프 DB의 저장 구조와</a:t>
            </a:r>
          </a:p>
          <a:p>
            <a:pPr algn="l" eaLnBrk="0">
              <a:lnSpc>
                <a:spcPct val="110000"/>
              </a:lnSpc>
            </a:pPr>
            <a:r>
              <a:rPr sz="3400" b="1">
                <a:solidFill>
                  <a:srgbClr val="13294B"/>
                </a:solidFill>
                <a:latin typeface="맑은 고딕"/>
                <a:ea typeface="맑은 고딕"/>
                <a:cs typeface="맑은 고딕"/>
              </a:rPr>
              <a:t>Cypher 쿼리로 찾기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설계가 저장된 모양을 보고, 정비 · 경보의 물음을 Cypher 패턴으로 적어 답을 찾는다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속성 그래프: 유온 센서 한 대가 저장된 모양</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유온 센서 한 대는 레이블 붙은 노드, 속성, 방향 있는 관계로 저장되어 쿼리는 그 이름을 그대로 적어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저장되는 부분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 그래프에 실제로 들어 있는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쿼리가 이 부분을 쓰는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노드(Node)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센서 한 대가 노드 하나</a:t>
            </a:r>
          </a:p>
          <a:p>
            <a:pPr algn="l" eaLnBrk="0">
              <a:lnSpc>
                <a:spcPct val="110000"/>
              </a:lnSpc>
            </a:pPr>
            <a:r>
              <a:rPr sz="1400" b="0">
                <a:solidFill>
                  <a:srgbClr val="1F2A3A"/>
                </a:solidFill>
                <a:latin typeface="맑은 고딕"/>
                <a:ea typeface="맑은 고딕"/>
                <a:cs typeface="맑은 고딕"/>
              </a:rPr>
              <a:t>그 센서가 읽는 물리량 유온도 노드 하나</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찾을 대상 하나하나</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레이블(Label)</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센서에 :Sensor, 유온에 :StateVariable</a:t>
            </a:r>
          </a:p>
          <a:p>
            <a:pPr algn="l" eaLnBrk="0">
              <a:lnSpc>
                <a:spcPct val="110000"/>
              </a:lnSpc>
            </a:pPr>
            <a:r>
              <a:rPr sz="1400" b="0">
                <a:solidFill>
                  <a:srgbClr val="1F2A3A"/>
                </a:solidFill>
                <a:latin typeface="맑은 고딕"/>
                <a:ea typeface="맑은 고딕"/>
                <a:cs typeface="맑은 고딕"/>
              </a:rPr>
              <a:t>설계한 클래스 이름이 그대로 붙는다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대상의 종류를 고른다</a:t>
            </a:r>
          </a:p>
          <a:p>
            <a:pPr algn="l" eaLnBrk="0">
              <a:lnSpc>
                <a:spcPct val="110000"/>
              </a:lnSpc>
            </a:pPr>
            <a:r>
              <a:rPr sz="1250" b="1">
                <a:solidFill>
                  <a:srgbClr val="1A6FC4"/>
                </a:solidFill>
                <a:latin typeface="맑은 고딕"/>
                <a:ea typeface="맑은 고딕"/>
                <a:cs typeface="맑은 고딕"/>
              </a:rPr>
              <a:t>한 글자만 달라도</a:t>
            </a:r>
          </a:p>
          <a:p>
            <a:pPr algn="l" eaLnBrk="0">
              <a:lnSpc>
                <a:spcPct val="110000"/>
              </a:lnSpc>
            </a:pPr>
            <a:r>
              <a:rPr sz="1250" b="1">
                <a:solidFill>
                  <a:srgbClr val="1A6FC4"/>
                </a:solidFill>
                <a:latin typeface="맑은 고딕"/>
                <a:ea typeface="맑은 고딕"/>
                <a:cs typeface="맑은 고딕"/>
              </a:rPr>
              <a:t>다른 이름으로 본다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속성(Property)</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 id 'sen:ts1' · name '유온 센서' · tag 'TS1'</a:t>
            </a:r>
          </a:p>
          <a:p>
            <a:pPr algn="l" eaLnBrk="0">
              <a:lnSpc>
                <a:spcPct val="110000"/>
              </a:lnSpc>
            </a:pPr>
            <a:r>
              <a:rPr sz="1400" b="0">
                <a:solidFill>
                  <a:srgbClr val="1F2A3A"/>
                </a:solidFill>
                <a:latin typeface="맑은 고딕"/>
                <a:ea typeface="맑은 고딕"/>
                <a:cs typeface="맑은 고딕"/>
              </a:rPr>
              <a:t>유온: unit '℃' · normal 48 · limit 65</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경보의 태그 TS1로 좁히고</a:t>
            </a:r>
          </a:p>
          <a:p>
            <a:pPr algn="l" eaLnBrk="0">
              <a:lnSpc>
                <a:spcPct val="110000"/>
              </a:lnSpc>
            </a:pPr>
            <a:r>
              <a:rPr sz="1250" b="1">
                <a:solidFill>
                  <a:srgbClr val="556175"/>
                </a:solidFill>
                <a:latin typeface="맑은 고딕"/>
                <a:ea typeface="맑은 고딕"/>
                <a:cs typeface="맑은 고딕"/>
              </a:rPr>
              <a:t>한계 65를 돌려받는다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관계(Relationship)</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유온 센서 -OBSERVES-&gt; 유온</a:t>
            </a:r>
          </a:p>
          <a:p>
            <a:pPr algn="l" eaLnBrk="0">
              <a:lnSpc>
                <a:spcPct val="110000"/>
              </a:lnSpc>
            </a:pPr>
            <a:r>
              <a:rPr sz="1400" b="0">
                <a:solidFill>
                  <a:srgbClr val="1F2A3A"/>
                </a:solidFill>
                <a:latin typeface="맑은 고딕"/>
                <a:ea typeface="맑은 고딕"/>
                <a:cs typeface="맑은 고딕"/>
              </a:rPr>
              <a:t>이름과 방향이 노드 사이에 함께 저장된다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따라갈 선과</a:t>
            </a:r>
          </a:p>
          <a:p>
            <a:pPr algn="l" eaLnBrk="0">
              <a:lnSpc>
                <a:spcPct val="110000"/>
              </a:lnSpc>
            </a:pPr>
            <a:r>
              <a:rPr sz="1250" b="1">
                <a:solidFill>
                  <a:srgbClr val="556175"/>
                </a:solidFill>
                <a:latin typeface="맑은 고딕"/>
                <a:ea typeface="맑은 고딕"/>
                <a:cs typeface="맑은 고딕"/>
              </a:rPr>
              <a:t>그 방향</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관계의 속성</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코어 -SUPPLIED_BY-&gt; A정밀</a:t>
            </a:r>
          </a:p>
          <a:p>
            <a:pPr algn="l" eaLnBrk="0">
              <a:lnSpc>
                <a:spcPct val="110000"/>
              </a:lnSpc>
            </a:pPr>
            <a:r>
              <a:rPr sz="1400" b="0">
                <a:solidFill>
                  <a:srgbClr val="1F2A3A"/>
                </a:solidFill>
                <a:latin typeface="맑은 고딕"/>
                <a:ea typeface="맑은 고딕"/>
                <a:cs typeface="맑은 고딕"/>
              </a:rPr>
              <a:t>연결에 붙은 값: price 180 · leadDays 3</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공급사마다 다른</a:t>
            </a:r>
          </a:p>
          <a:p>
            <a:pPr algn="l" eaLnBrk="0">
              <a:lnSpc>
                <a:spcPct val="110000"/>
              </a:lnSpc>
            </a:pPr>
            <a:r>
              <a:rPr sz="1250" b="1">
                <a:solidFill>
                  <a:srgbClr val="556175"/>
                </a:solidFill>
                <a:latin typeface="맑은 고딕"/>
                <a:ea typeface="맑은 고딕"/>
                <a:cs typeface="맑은 고딕"/>
              </a:rPr>
              <a:t>단가 · 납기를 견준다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스키마의 정의와 DB 제약이 지키는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그래프 DB가 저장하는 순간 거절하는 것은 id 유일 제약 같은 </a:t>
            </a:r>
            <a:r>
              <a:rPr sz="1600" b="1">
                <a:solidFill>
                  <a:srgbClr val="1A6FC4"/>
                </a:solidFill>
                <a:latin typeface="맑은 고딕"/>
                <a:ea typeface="맑은 고딕"/>
                <a:cs typeface="맑은 고딕"/>
              </a:rPr>
              <a:t>DB 제약</a:t>
            </a:r>
            <a:r>
              <a:rPr sz="1600" b="0">
                <a:solidFill>
                  <a:srgbClr val="556175"/>
                </a:solidFill>
                <a:latin typeface="맑은 고딕"/>
                <a:ea typeface="맑은 고딕"/>
                <a:cs typeface="맑은 고딕"/>
              </a:rPr>
              <a:t>이고, 나머지 정의는 적재 뒤에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스키마가 정한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그래프 DB에 저장되는 꼴</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적재할 때 지키는 쪽</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클래스 이름</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노드의 레이블</a:t>
            </a:r>
          </a:p>
          <a:p>
            <a:pPr algn="l" eaLnBrk="0">
              <a:lnSpc>
                <a:spcPct val="110000"/>
              </a:lnSpc>
            </a:pPr>
            <a:r>
              <a:rPr sz="1400" b="0">
                <a:solidFill>
                  <a:srgbClr val="1F2A3A"/>
                </a:solidFill>
                <a:latin typeface="맑은 고딕"/>
                <a:ea typeface="맑은 고딕"/>
                <a:cs typeface="맑은 고딕"/>
              </a:rPr>
              <a:t>미리 선언하지 않아 어떤 이름도 붙는다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별도 검사</a:t>
            </a:r>
          </a:p>
          <a:p>
            <a:pPr algn="l" eaLnBrk="0">
              <a:lnSpc>
                <a:spcPct val="110000"/>
              </a:lnSpc>
            </a:pPr>
            <a:r>
              <a:rPr sz="1250" b="1">
                <a:solidFill>
                  <a:srgbClr val="556175"/>
                </a:solidFill>
                <a:latin typeface="맑은 고딕"/>
                <a:ea typeface="맑은 고딕"/>
                <a:cs typeface="맑은 고딕"/>
              </a:rPr>
              <a:t>스키마에 없는 레이블</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관계 유형 · 방향 · 끝점</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관계 유형과 방향</a:t>
            </a:r>
          </a:p>
          <a:p>
            <a:pPr algn="l" eaLnBrk="0">
              <a:lnSpc>
                <a:spcPct val="110000"/>
              </a:lnSpc>
            </a:pPr>
            <a:r>
              <a:rPr sz="1400" b="0">
                <a:solidFill>
                  <a:srgbClr val="1F2A3A"/>
                </a:solidFill>
                <a:latin typeface="맑은 고딕"/>
                <a:ea typeface="맑은 고딕"/>
                <a:cs typeface="맑은 고딕"/>
              </a:rPr>
              <a:t>양 끝 클래스를 제한하지 않는다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별도 검사</a:t>
            </a:r>
          </a:p>
          <a:p>
            <a:pPr algn="l" eaLnBrk="0">
              <a:lnSpc>
                <a:spcPct val="110000"/>
              </a:lnSpc>
            </a:pPr>
            <a:r>
              <a:rPr sz="1250" b="1">
                <a:solidFill>
                  <a:srgbClr val="556175"/>
                </a:solidFill>
                <a:latin typeface="맑은 고딕"/>
                <a:ea typeface="맑은 고딕"/>
                <a:cs typeface="맑은 고딕"/>
              </a:rPr>
              <a:t>허용된 끝점인가</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속성 이름 · 필수값 · 허용값</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속성은 정의 없이 저장된다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별도 검사</a:t>
            </a:r>
          </a:p>
          <a:p>
            <a:pPr algn="l" eaLnBrk="0">
              <a:lnSpc>
                <a:spcPct val="110000"/>
              </a:lnSpc>
            </a:pPr>
            <a:r>
              <a:rPr sz="1250" b="1">
                <a:solidFill>
                  <a:srgbClr val="556175"/>
                </a:solidFill>
                <a:latin typeface="맑은 고딕"/>
                <a:ea typeface="맑은 고딕"/>
                <a:cs typeface="맑은 고딕"/>
              </a:rPr>
              <a:t>빠진 값 · 허용값 밖</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id 고유</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레이블마다 id 유일 제약</a:t>
            </a:r>
          </a:p>
          <a:p>
            <a:pPr algn="l" eaLnBrk="0">
              <a:lnSpc>
                <a:spcPct val="110000"/>
              </a:lnSpc>
            </a:pPr>
            <a:r>
              <a:rPr sz="1400" b="0">
                <a:solidFill>
                  <a:srgbClr val="1F2A3A"/>
                </a:solidFill>
                <a:latin typeface="맑은 고딕"/>
                <a:ea typeface="맑은 고딕"/>
                <a:cs typeface="맑은 고딕"/>
              </a:rPr>
              <a:t>예: Sensor의 id</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DB가 저장을 거절</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자료형(수 · 글자) · 카디널리티</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저장할 때 보지 않는다</a:t>
            </a:r>
          </a:p>
          <a:p>
            <a:pPr algn="l" eaLnBrk="0">
              <a:lnSpc>
                <a:spcPct val="110000"/>
              </a:lnSpc>
            </a:pPr>
            <a:r>
              <a:rPr sz="1400" b="0">
                <a:solidFill>
                  <a:srgbClr val="1F2A3A"/>
                </a:solidFill>
                <a:latin typeface="맑은 고딕"/>
                <a:ea typeface="맑은 고딕"/>
                <a:cs typeface="맑은 고딕"/>
              </a:rPr>
              <a:t>별도 검사도 보지 않는다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조회로 세고</a:t>
            </a:r>
          </a:p>
          <a:p>
            <a:pPr algn="l" eaLnBrk="0">
              <a:lnSpc>
                <a:spcPct val="110000"/>
              </a:lnSpc>
            </a:pPr>
            <a:r>
              <a:rPr sz="1250" b="1">
                <a:solidFill>
                  <a:srgbClr val="556175"/>
                </a:solidFill>
                <a:latin typeface="맑은 고딕"/>
                <a:ea typeface="맑은 고딕"/>
                <a:cs typeface="맑은 고딕"/>
              </a:rPr>
              <a:t>값을 직접 대조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Cypher 패턴: 경보 태그 TS1에서 유온 한계까지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는 찾을 연결을 괄호와 화살표로 적는 질의 언어로, 경보 규칙의 태그에서 그 물리량까지 한 패턴으로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규칙의</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물리량과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한계는</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(s:Sensor {tag: 'TS1'})-[:OBSERVES]-&gt;(v:StateVariable)</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조각마다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              </a:t>
            </a:r>
            <a:r>
              <a:rPr sz="1300" b="0">
                <a:solidFill>
                  <a:srgbClr val="E8EEF6"/>
                </a:solidFill>
                <a:latin typeface="맑은 고딕"/>
                <a:ea typeface="맑은 고딕"/>
                <a:cs typeface="맑은 고딕"/>
              </a:rPr>
              <a:t>노드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하나</a:t>
            </a:r>
          </a:p>
          <a:p>
            <a:pPr algn="l" eaLnBrk="0">
              <a:lnSpc>
                <a:spcPct val="110000"/>
              </a:lnSpc>
              <a:spcAft>
                <a:spcPts val="200"/>
              </a:spcAft>
            </a:pPr>
            <a:r>
              <a:rPr sz="1300" b="0">
                <a:solidFill>
                  <a:srgbClr val="E8EEF6"/>
                </a:solidFill>
                <a:latin typeface="Consolas"/>
                <a:ea typeface="맑은 고딕"/>
                <a:cs typeface="맑은 고딕"/>
              </a:rPr>
              <a:t>s, v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찾은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노드를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부르는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p>
          <a:p>
            <a:pPr algn="l" eaLnBrk="0">
              <a:lnSpc>
                <a:spcPct val="110000"/>
              </a:lnSpc>
              <a:spcAft>
                <a:spcPts val="200"/>
              </a:spcAft>
            </a:pPr>
            <a:r>
              <a:rPr sz="1300" b="0">
                <a:solidFill>
                  <a:srgbClr val="E8EEF6"/>
                </a:solidFill>
                <a:latin typeface="Consolas"/>
                <a:ea typeface="맑은 고딕"/>
                <a:cs typeface="맑은 고딕"/>
              </a:rPr>
              <a:t>:Sensor          </a:t>
            </a:r>
            <a:r>
              <a:rPr sz="1300" b="0">
                <a:solidFill>
                  <a:srgbClr val="E8EEF6"/>
                </a:solidFill>
                <a:latin typeface="맑은 고딕"/>
                <a:ea typeface="맑은 고딕"/>
                <a:cs typeface="맑은 고딕"/>
              </a:rPr>
              <a:t>레이블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노드의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종류</a:t>
            </a:r>
          </a:p>
          <a:p>
            <a:pPr algn="l" eaLnBrk="0">
              <a:lnSpc>
                <a:spcPct val="110000"/>
              </a:lnSpc>
              <a:spcAft>
                <a:spcPts val="200"/>
              </a:spcAft>
            </a:pPr>
            <a:r>
              <a:rPr sz="1300" b="0">
                <a:solidFill>
                  <a:srgbClr val="E8EEF6"/>
                </a:solidFill>
                <a:latin typeface="Consolas"/>
                <a:ea typeface="맑은 고딕"/>
                <a:cs typeface="맑은 고딕"/>
              </a:rPr>
              <a:t>{tag: 'TS1'}     </a:t>
            </a:r>
            <a:r>
              <a:rPr sz="1300" b="0">
                <a:solidFill>
                  <a:srgbClr val="E8EEF6"/>
                </a:solidFill>
                <a:latin typeface="맑은 고딕"/>
                <a:ea typeface="맑은 고딕"/>
                <a:cs typeface="맑은 고딕"/>
              </a:rPr>
              <a:t>속성</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좁힌다</a:t>
            </a:r>
          </a:p>
          <a:p>
            <a:pPr algn="l" eaLnBrk="0">
              <a:lnSpc>
                <a:spcPct val="110000"/>
              </a:lnSpc>
              <a:spcAft>
                <a:spcPts val="200"/>
              </a:spcAft>
            </a:pPr>
            <a:r>
              <a:rPr sz="1300" b="0">
                <a:solidFill>
                  <a:srgbClr val="E8EEF6"/>
                </a:solidFill>
                <a:latin typeface="Consolas"/>
                <a:ea typeface="맑은 고딕"/>
                <a:cs typeface="맑은 고딕"/>
              </a:rPr>
              <a:t>-[:OBSERVES]-&gt;   </a:t>
            </a:r>
            <a:r>
              <a:rPr sz="1300" b="0">
                <a:solidFill>
                  <a:srgbClr val="E8EEF6"/>
                </a:solidFill>
                <a:latin typeface="맑은 고딕"/>
                <a:ea typeface="맑은 고딕"/>
                <a:cs typeface="맑은 고딕"/>
              </a:rPr>
              <a:t>관계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저장된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방향</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패턴에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곳</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(sen:ts1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)-[:OBSERVES]-&gt;(sv:ts1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v.limit 65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v.unit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출발은 경보의 태그</a:t>
            </a:r>
          </a:p>
          <a:p>
            <a:pPr algn="l" eaLnBrk="0">
              <a:lnSpc>
                <a:spcPct val="110000"/>
              </a:lnSpc>
              <a:spcAft>
                <a:spcPts val="400"/>
              </a:spcAft>
            </a:pPr>
            <a:r>
              <a:rPr sz="1400" b="0">
                <a:solidFill>
                  <a:srgbClr val="1F2A3A"/>
                </a:solidFill>
                <a:latin typeface="맑은 고딕"/>
                <a:ea typeface="맑은 고딕"/>
                <a:cs typeface="맑은 고딕"/>
              </a:rPr>
              <a:t>쿨러 성능 저하 경보의 규칙에 적힌 TS1을 속성 조건에 넣어 센서를 고른다.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방향은 저장된 대로</a:t>
            </a:r>
          </a:p>
          <a:p>
            <a:pPr algn="l" eaLnBrk="0">
              <a:lnSpc>
                <a:spcPct val="110000"/>
              </a:lnSpc>
              <a:spcAft>
                <a:spcPts val="400"/>
              </a:spcAft>
            </a:pPr>
            <a:r>
              <a:rPr sz="1400" b="0">
                <a:solidFill>
                  <a:srgbClr val="1F2A3A"/>
                </a:solidFill>
                <a:latin typeface="맑은 고딕"/>
                <a:ea typeface="맑은 고딕"/>
                <a:cs typeface="맑은 고딕"/>
              </a:rPr>
              <a:t>센서가 물리량을 읽으므로 화살표를 센서에서 유온 쪽으로 적는다.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변수와 식별자</a:t>
            </a:r>
          </a:p>
          <a:p>
            <a:pPr algn="l" eaLnBrk="0">
              <a:lnSpc>
                <a:spcPct val="110000"/>
              </a:lnSpc>
              <a:spcAft>
                <a:spcPts val="400"/>
              </a:spcAft>
            </a:pPr>
            <a:r>
              <a:rPr sz="1400" b="0">
                <a:solidFill>
                  <a:srgbClr val="1F2A3A"/>
                </a:solidFill>
                <a:latin typeface="맑은 고딕"/>
                <a:ea typeface="맑은 고딕"/>
                <a:cs typeface="맑은 고딕"/>
              </a:rPr>
              <a:t>s, v는 이 쿼리 안에서만 쓰는 이름이다. 'sen:ts1' 같은 id와 다르다.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tag로 고를 때</a:t>
            </a:r>
          </a:p>
          <a:p>
            <a:pPr algn="l" eaLnBrk="0">
              <a:lnSpc>
                <a:spcPct val="110000"/>
              </a:lnSpc>
              <a:spcAft>
                <a:spcPts val="400"/>
              </a:spcAft>
            </a:pPr>
            <a:r>
              <a:rPr sz="1400" b="0">
                <a:solidFill>
                  <a:srgbClr val="1F2A3A"/>
                </a:solidFill>
                <a:latin typeface="맑은 고딕"/>
                <a:ea typeface="맑은 고딕"/>
                <a:cs typeface="맑은 고딕"/>
              </a:rPr>
              <a:t>tag에는 유일 제약이 없다. 한 대상을 계속 가리켜야 하면 id로 찾는다.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MATCH · RETURN: 찾은 연결과 돌려받는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MATCH가 찾은 연결 하나가 결과의 한 행이 되고, RETURN은 그 행에 값을 담을지 노드를 담을지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-[r:MONITORED_BY]-&gt;(s:Sensor)</a:t>
            </a:r>
          </a:p>
          <a:p>
            <a:pPr algn="l" eaLnBrk="0">
              <a:lnSpc>
                <a:spcPct val="110000"/>
              </a:lnSpc>
              <a:spcAft>
                <a:spcPts val="200"/>
              </a:spcAft>
            </a:pPr>
            <a:r>
              <a:rPr sz="1300" b="0">
                <a:solidFill>
                  <a:srgbClr val="E8EEF6"/>
                </a:solidFill>
                <a:latin typeface="Consolas"/>
                <a:ea typeface="맑은 고딕"/>
                <a:cs typeface="맑은 고딕"/>
              </a:rPr>
              <a:t>RETURN c.name, s.tag</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c.name         s.tag</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MATCH</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RETURN c, r, s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(:Component)-[:MONITORED_BY]-&gt;(:Sensor {tag: 'TS1'})</a:t>
            </a:r>
          </a:p>
          <a:p>
            <a:pPr algn="l" eaLnBrk="0">
              <a:lnSpc>
                <a:spcPct val="110000"/>
              </a:lnSpc>
              <a:spcAft>
                <a:spcPts val="200"/>
              </a:spcAft>
            </a:pPr>
            <a:r>
              <a:rPr sz="1300" b="0">
                <a:solidFill>
                  <a:srgbClr val="E8EEF6"/>
                </a:solidFill>
                <a:latin typeface="Consolas"/>
                <a:ea typeface="맑은 고딕"/>
                <a:cs typeface="맑은 고딕"/>
              </a:rPr>
              <a:t>(:Component)-[:MONITORED_BY]-&gt;(:Sensor {tag: 'CE'})</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MATCH</a:t>
            </a:r>
          </a:p>
          <a:p>
            <a:pPr algn="l" eaLnBrk="0">
              <a:lnSpc>
                <a:spcPct val="110000"/>
              </a:lnSpc>
              <a:spcAft>
                <a:spcPts val="400"/>
              </a:spcAft>
            </a:pPr>
            <a:r>
              <a:rPr sz="1400" b="0">
                <a:solidFill>
                  <a:srgbClr val="1F2A3A"/>
                </a:solidFill>
                <a:latin typeface="맑은 고딕"/>
                <a:ea typeface="맑은 고딕"/>
                <a:cs typeface="맑은 고딕"/>
              </a:rPr>
              <a:t>오일 쿨러에서 계측 관계로 이어진 센서를 모두 찾는다.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행 = 연결 하나</a:t>
            </a:r>
          </a:p>
          <a:p>
            <a:pPr algn="l" eaLnBrk="0">
              <a:lnSpc>
                <a:spcPct val="110000"/>
              </a:lnSpc>
              <a:spcAft>
                <a:spcPts val="400"/>
              </a:spcAft>
            </a:pPr>
            <a:r>
              <a:rPr sz="1400" b="0">
                <a:solidFill>
                  <a:srgbClr val="1F2A3A"/>
                </a:solidFill>
                <a:latin typeface="맑은 고딕"/>
                <a:ea typeface="맑은 고딕"/>
                <a:cs typeface="맑은 고딕"/>
              </a:rPr>
              <a:t>연결이 둘이라 두 행이다. 이름이 두 번 나와도 쿨러 노드는 하나이다.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값을 돌려받기</a:t>
            </a:r>
          </a:p>
          <a:p>
            <a:pPr algn="l" eaLnBrk="0">
              <a:lnSpc>
                <a:spcPct val="110000"/>
              </a:lnSpc>
              <a:spcAft>
                <a:spcPts val="400"/>
              </a:spcAft>
            </a:pPr>
            <a:r>
              <a:rPr sz="1400" b="0">
                <a:solidFill>
                  <a:srgbClr val="1F2A3A"/>
                </a:solidFill>
                <a:latin typeface="맑은 고딕"/>
                <a:ea typeface="맑은 고딕"/>
                <a:cs typeface="맑은 고딕"/>
              </a:rPr>
              <a:t>c.name, s.tag는 속성값이라 표로 읽는다.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노드 · 관계를 돌려받기</a:t>
            </a:r>
          </a:p>
          <a:p>
            <a:pPr algn="l" eaLnBrk="0">
              <a:lnSpc>
                <a:spcPct val="110000"/>
              </a:lnSpc>
              <a:spcAft>
                <a:spcPts val="400"/>
              </a:spcAft>
            </a:pPr>
            <a:r>
              <a:rPr sz="1400" b="0">
                <a:solidFill>
                  <a:srgbClr val="1F2A3A"/>
                </a:solidFill>
                <a:latin typeface="맑은 고딕"/>
                <a:ea typeface="맑은 고딕"/>
                <a:cs typeface="맑은 고딕"/>
              </a:rPr>
              <a:t>c, r, s를 받으면 쿨러 하나에 센서 둘이 이어진 그래프로 그린다.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DISTINCT · COUNT: 행의 수와 대상의 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쿨러가 여러 행에 나오므로, 목록은 DISTINCT로 줄이고 개수는 무엇을 셀지 골라 count로 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같은 MATCH의 RETURN</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읽는 법</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c.name</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 · 오일 쿨러</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연결마다 한 행</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DISTINCT c.name</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값이 같은 행을</a:t>
            </a:r>
          </a:p>
          <a:p>
            <a:pPr algn="l" eaLnBrk="0">
              <a:lnSpc>
                <a:spcPct val="110000"/>
              </a:lnSpc>
            </a:pPr>
            <a:r>
              <a:rPr sz="1250" b="1">
                <a:solidFill>
                  <a:srgbClr val="556175"/>
                </a:solidFill>
                <a:latin typeface="맑은 고딕"/>
                <a:ea typeface="맑은 고딕"/>
                <a:cs typeface="맑은 고딕"/>
              </a:rPr>
              <a:t>하나로 남긴다</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DISTINCT c.name, s.tag</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오일 쿨러 · CE</a:t>
            </a:r>
          </a:p>
          <a:p>
            <a:pPr algn="l" eaLnBrk="0">
              <a:lnSpc>
                <a:spcPct val="110000"/>
              </a:lnSpc>
            </a:pPr>
            <a:r>
              <a:rPr sz="1400" b="0">
                <a:solidFill>
                  <a:srgbClr val="1F2A3A"/>
                </a:solidFill>
                <a:latin typeface="맑은 고딕"/>
                <a:ea typeface="맑은 고딕"/>
                <a:cs typeface="맑은 고딕"/>
              </a:rPr>
              <a:t>오일 쿨러 · TS1</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열 전체의 조합이</a:t>
            </a:r>
          </a:p>
          <a:p>
            <a:pPr algn="l" eaLnBrk="0">
              <a:lnSpc>
                <a:spcPct val="110000"/>
              </a:lnSpc>
            </a:pPr>
            <a:r>
              <a:rPr sz="1250" b="1">
                <a:solidFill>
                  <a:srgbClr val="556175"/>
                </a:solidFill>
                <a:latin typeface="맑은 고딕"/>
                <a:ea typeface="맑은 고딕"/>
                <a:cs typeface="맑은 고딕"/>
              </a:rPr>
              <a:t>다르면 남는다</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count(*)</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행의 수</a:t>
            </a:r>
          </a:p>
        </p:txBody>
      </p:sp>
      <p:sp>
        <p:nvSpPr>
          <p:cNvPr id="26" name="Rounded Rectangle 25"/>
          <p:cNvSpPr/>
          <p:nvPr/>
        </p:nvSpPr>
        <p:spPr>
          <a:xfrm>
            <a:off x="548640" y="4945380"/>
            <a:ext cx="11094415" cy="656843"/>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count(DISTINCT c)</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서로 다른</a:t>
            </a:r>
          </a:p>
          <a:p>
            <a:pPr algn="l" eaLnBrk="0">
              <a:lnSpc>
                <a:spcPct val="110000"/>
              </a:lnSpc>
            </a:pPr>
            <a:r>
              <a:rPr sz="1250" b="1">
                <a:solidFill>
                  <a:srgbClr val="1A6FC4"/>
                </a:solidFill>
                <a:latin typeface="맑은 고딕"/>
                <a:ea typeface="맑은 고딕"/>
                <a:cs typeface="맑은 고딕"/>
              </a:rPr>
              <a:t>구성 요소 노드의 수</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RETURN count(DISTINCT s)</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서로 다른</a:t>
            </a:r>
          </a:p>
          <a:p>
            <a:pPr algn="l" eaLnBrk="0">
              <a:lnSpc>
                <a:spcPct val="110000"/>
              </a:lnSpc>
            </a:pPr>
            <a:r>
              <a:rPr sz="1250" b="1">
                <a:solidFill>
                  <a:srgbClr val="556175"/>
                </a:solidFill>
                <a:latin typeface="맑은 고딕"/>
                <a:ea typeface="맑은 고딕"/>
                <a:cs typeface="맑은 고딕"/>
              </a:rPr>
              <a:t>센서 노드의 수</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여러 관계를 이은 경로와 NULL</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설비의 점검표를 쿼리 하나로 뽑으면 경로 전체가 한 행이 되고, 기준을 적지 않은 칸은 NULL로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장에</a:t>
            </a:r>
          </a:p>
          <a:p>
            <a:pPr algn="l" eaLnBrk="0">
              <a:lnSpc>
                <a:spcPct val="110000"/>
              </a:lnSpc>
              <a:spcAft>
                <a:spcPts val="200"/>
              </a:spcAft>
            </a:pPr>
            <a:r>
              <a:rPr sz="1300" b="0">
                <a:solidFill>
                  <a:srgbClr val="E8EEF6"/>
                </a:solidFill>
                <a:latin typeface="Consolas"/>
                <a:ea typeface="맑은 고딕"/>
                <a:cs typeface="맑은 고딕"/>
              </a:rPr>
              <a:t>MATCH (a:Asset {code: 'HYD-01'})</a:t>
            </a:r>
          </a:p>
          <a:p>
            <a:pPr algn="l" eaLnBrk="0">
              <a:lnSpc>
                <a:spcPct val="110000"/>
              </a:lnSpc>
              <a:spcAft>
                <a:spcPts val="200"/>
              </a:spcAft>
            </a:pPr>
            <a:r>
              <a:rPr sz="1300" b="0">
                <a:solidFill>
                  <a:srgbClr val="E8EEF6"/>
                </a:solidFill>
                <a:latin typeface="Consolas"/>
                <a:ea typeface="맑은 고딕"/>
                <a:cs typeface="맑은 고딕"/>
              </a:rPr>
              <a:t>      -[:HAS_COMPONENT]-&gt;(c:Component)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      -[:OBSERVES]-&gt;(v:StateVariable)</a:t>
            </a:r>
          </a:p>
          <a:p>
            <a:pPr algn="l" eaLnBrk="0">
              <a:lnSpc>
                <a:spcPct val="110000"/>
              </a:lnSpc>
              <a:spcAft>
                <a:spcPts val="200"/>
              </a:spcAft>
            </a:pPr>
            <a:r>
              <a:rPr sz="1300" b="0">
                <a:solidFill>
                  <a:srgbClr val="E8EEF6"/>
                </a:solidFill>
                <a:latin typeface="Consolas"/>
                <a:ea typeface="맑은 고딕"/>
                <a:cs typeface="맑은 고딕"/>
              </a:rPr>
              <a:t>RETURN c.name, s.tag, v.name, v.unit, v.limit</a:t>
            </a:r>
          </a:p>
          <a:p>
            <a:pPr algn="l" eaLnBrk="0">
              <a:lnSpc>
                <a:spcPct val="110000"/>
              </a:lnSpc>
              <a:spcAft>
                <a:spcPts val="200"/>
              </a:spcAft>
            </a:pPr>
            <a:r>
              <a:rPr sz="1300" b="0">
                <a:solidFill>
                  <a:srgbClr val="E8EEF6"/>
                </a:solidFill>
                <a:latin typeface="Consolas"/>
                <a:ea typeface="맑은 고딕"/>
                <a:cs typeface="맑은 고딕"/>
              </a:rPr>
              <a:t>ORDER BY s.tag</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      NULL</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"FS1"  "</a:t>
            </a:r>
            <a:r>
              <a:rPr sz="1300" b="0">
                <a:solidFill>
                  <a:srgbClr val="E8EEF6"/>
                </a:solidFill>
                <a:latin typeface="맑은 고딕"/>
                <a:ea typeface="맑은 고딕"/>
                <a:cs typeface="맑은 고딕"/>
              </a:rPr>
              <a:t>유량</a:t>
            </a:r>
            <a:r>
              <a:rPr sz="1300" b="0">
                <a:solidFill>
                  <a:srgbClr val="E8EEF6"/>
                </a:solidFill>
                <a:latin typeface="Consolas"/>
                <a:ea typeface="맑은 고딕"/>
                <a:cs typeface="맑은 고딕"/>
              </a:rPr>
              <a:t>"       "l/min"  NULL</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"bar"    130</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65</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"mm/s"   2.0</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행 = 채널 하나</a:t>
            </a:r>
          </a:p>
          <a:p>
            <a:pPr algn="l" eaLnBrk="0">
              <a:lnSpc>
                <a:spcPct val="110000"/>
              </a:lnSpc>
              <a:spcAft>
                <a:spcPts val="400"/>
              </a:spcAft>
            </a:pPr>
            <a:r>
              <a:rPr sz="1400" b="0">
                <a:solidFill>
                  <a:srgbClr val="1F2A3A"/>
                </a:solidFill>
                <a:latin typeface="맑은 고딕"/>
                <a:ea typeface="맑은 고딕"/>
                <a:cs typeface="맑은 고딕"/>
              </a:rPr>
              <a:t>장치 · 태그 · 물리량 · 단위 · 한계가 세 관계를 건너 한 줄에 모인다.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ORDER BY s.tag</a:t>
            </a:r>
          </a:p>
          <a:p>
            <a:pPr algn="l" eaLnBrk="0">
              <a:lnSpc>
                <a:spcPct val="110000"/>
              </a:lnSpc>
              <a:spcAft>
                <a:spcPts val="400"/>
              </a:spcAft>
            </a:pPr>
            <a:r>
              <a:rPr sz="1400" b="0">
                <a:solidFill>
                  <a:srgbClr val="1F2A3A"/>
                </a:solidFill>
                <a:latin typeface="맑은 고딕"/>
                <a:ea typeface="맑은 고딕"/>
                <a:cs typeface="맑은 고딕"/>
              </a:rPr>
              <a:t>점검표를 센서 태그 순서로 놓는다.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NULL은 기준 없음</a:t>
            </a:r>
          </a:p>
          <a:p>
            <a:pPr algn="l" eaLnBrk="0">
              <a:lnSpc>
                <a:spcPct val="110000"/>
              </a:lnSpc>
              <a:spcAft>
                <a:spcPts val="400"/>
              </a:spcAft>
            </a:pPr>
            <a:r>
              <a:rPr sz="1400" b="0">
                <a:solidFill>
                  <a:srgbClr val="1F2A3A"/>
                </a:solidFill>
                <a:latin typeface="맑은 고딕"/>
                <a:ea typeface="맑은 고딕"/>
                <a:cs typeface="맑은 고딕"/>
              </a:rPr>
              <a:t>CE · FS1에는 limit을 두지 않았다. 0으로 읽으면 기준이 0인 것처럼 틀린다.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행이 없으면</a:t>
            </a:r>
          </a:p>
          <a:p>
            <a:pPr algn="l" eaLnBrk="0">
              <a:lnSpc>
                <a:spcPct val="110000"/>
              </a:lnSpc>
              <a:spcAft>
                <a:spcPts val="400"/>
              </a:spcAft>
            </a:pPr>
            <a:r>
              <a:rPr sz="1400" b="0">
                <a:solidFill>
                  <a:srgbClr val="1F2A3A"/>
                </a:solidFill>
                <a:latin typeface="맑은 고딕"/>
                <a:ea typeface="맑은 고딕"/>
                <a:cs typeface="맑은 고딕"/>
              </a:rPr>
              <a:t>물리량까지 이어지지 않은 채널은 NULL이 아니라 행 자체가 빠진다.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WHERE: 찾은 행을 거르는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보호 한계가 있는 채널만 경보 점검 목록에 남길 때 WHERE를 쓰며, IS NOT NULL은 값이 있는지만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정해진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목록에</a:t>
            </a:r>
          </a:p>
          <a:p>
            <a:pPr algn="l" eaLnBrk="0">
              <a:lnSpc>
                <a:spcPct val="110000"/>
              </a:lnSpc>
              <a:spcAft>
                <a:spcPts val="200"/>
              </a:spcAft>
            </a:pPr>
            <a:r>
              <a:rPr sz="1300" b="0">
                <a:solidFill>
                  <a:srgbClr val="E8EEF6"/>
                </a:solidFill>
                <a:latin typeface="Consolas"/>
                <a:ea typeface="맑은 고딕"/>
                <a:cs typeface="맑은 고딕"/>
              </a:rPr>
              <a:t>MATCH (s:Sensor)-[:OBSERVES]-&gt;(v:StateVariable)</a:t>
            </a:r>
          </a:p>
          <a:p>
            <a:pPr algn="l" eaLnBrk="0">
              <a:lnSpc>
                <a:spcPct val="110000"/>
              </a:lnSpc>
              <a:spcAft>
                <a:spcPts val="200"/>
              </a:spcAft>
            </a:pPr>
            <a:r>
              <a:rPr sz="1300" b="0">
                <a:solidFill>
                  <a:srgbClr val="E8EEF6"/>
                </a:solidFill>
                <a:latin typeface="Consolas"/>
                <a:ea typeface="맑은 고딕"/>
                <a:cs typeface="맑은 고딕"/>
              </a:rPr>
              <a:t>WHERE v.limit IS NOT NULL</a:t>
            </a:r>
          </a:p>
          <a:p>
            <a:pPr algn="l" eaLnBrk="0">
              <a:lnSpc>
                <a:spcPct val="110000"/>
              </a:lnSpc>
              <a:spcAft>
                <a:spcPts val="200"/>
              </a:spcAft>
            </a:pPr>
            <a:r>
              <a:rPr sz="1300" b="0">
                <a:solidFill>
                  <a:srgbClr val="E8EEF6"/>
                </a:solidFill>
                <a:latin typeface="Consolas"/>
                <a:ea typeface="맑은 고딕"/>
                <a:cs typeface="맑은 고딕"/>
              </a:rPr>
              <a:t>RETURN s.tag, v.name, v.limit, v.unit</a:t>
            </a:r>
          </a:p>
          <a:p>
            <a:pPr algn="l" eaLnBrk="0">
              <a:lnSpc>
                <a:spcPct val="110000"/>
              </a:lnSpc>
              <a:spcAft>
                <a:spcPts val="200"/>
              </a:spcAft>
            </a:pPr>
            <a:r>
              <a:rPr sz="1300" b="0">
                <a:solidFill>
                  <a:srgbClr val="E8EEF6"/>
                </a:solidFill>
                <a:latin typeface="Consolas"/>
                <a:ea typeface="맑은 고딕"/>
                <a:cs typeface="맑은 고딕"/>
              </a:rPr>
              <a:t>ORDER BY s.tag</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   "bar"</a:t>
            </a:r>
          </a:p>
          <a:p>
            <a:pPr algn="l" eaLnBrk="0">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   "mm/s"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걸러진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FS1 </a:t>
            </a:r>
            <a:r>
              <a:rPr sz="1300" b="0">
                <a:solidFill>
                  <a:srgbClr val="E8EEF6"/>
                </a:solidFill>
                <a:latin typeface="맑은 고딕"/>
                <a:ea typeface="맑은 고딕"/>
                <a:cs typeface="맑은 고딕"/>
              </a:rPr>
              <a:t>유량</a:t>
            </a:r>
            <a:r>
              <a:rPr sz="1300" b="0">
                <a:solidFill>
                  <a:srgbClr val="E8EEF6"/>
                </a:solidFill>
                <a:latin typeface="Consolas"/>
                <a:ea typeface="맑은 고딕"/>
                <a:cs typeface="맑은 고딕"/>
              </a:rPr>
              <a:t>: limit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없음</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거르는 자리</a:t>
            </a:r>
          </a:p>
          <a:p>
            <a:pPr algn="l" eaLnBrk="0">
              <a:lnSpc>
                <a:spcPct val="110000"/>
              </a:lnSpc>
              <a:spcAft>
                <a:spcPts val="400"/>
              </a:spcAft>
            </a:pPr>
            <a:r>
              <a:rPr sz="1400" b="0">
                <a:solidFill>
                  <a:srgbClr val="1F2A3A"/>
                </a:solidFill>
                <a:latin typeface="맑은 고딕"/>
                <a:ea typeface="맑은 고딕"/>
                <a:cs typeface="맑은 고딕"/>
              </a:rPr>
              <a:t>MATCH가 찾은 다섯 행 가운데 조건에 맞는 행만 RETURN으로 넘긴다.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IS NOT NULL</a:t>
            </a:r>
          </a:p>
          <a:p>
            <a:pPr algn="l" eaLnBrk="0">
              <a:lnSpc>
                <a:spcPct val="110000"/>
              </a:lnSpc>
              <a:spcAft>
                <a:spcPts val="400"/>
              </a:spcAft>
            </a:pPr>
            <a:r>
              <a:rPr sz="1400" b="0">
                <a:solidFill>
                  <a:srgbClr val="1F2A3A"/>
                </a:solidFill>
                <a:latin typeface="맑은 고딕"/>
                <a:ea typeface="맑은 고딕"/>
                <a:cs typeface="맑은 고딕"/>
              </a:rPr>
              <a:t>한계가 적혀 있는지만 묻는다. 「0보다 크다」와 다른 조건이다.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빠진 두 채널</a:t>
            </a:r>
          </a:p>
          <a:p>
            <a:pPr algn="l" eaLnBrk="0">
              <a:lnSpc>
                <a:spcPct val="110000"/>
              </a:lnSpc>
              <a:spcAft>
                <a:spcPts val="400"/>
              </a:spcAft>
            </a:pPr>
            <a:r>
              <a:rPr sz="1400" b="0">
                <a:solidFill>
                  <a:srgbClr val="1F2A3A"/>
                </a:solidFill>
                <a:latin typeface="맑은 고딕"/>
                <a:ea typeface="맑은 고딕"/>
                <a:cs typeface="맑은 고딕"/>
              </a:rPr>
              <a:t>CE · FS1도 MATCH는 찾았지만 한계 칸이 비어 목록에서 빠진다.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남은 세 한계</a:t>
            </a:r>
          </a:p>
          <a:p>
            <a:pPr algn="l" eaLnBrk="0">
              <a:lnSpc>
                <a:spcPct val="110000"/>
              </a:lnSpc>
              <a:spcAft>
                <a:spcPts val="400"/>
              </a:spcAft>
            </a:pPr>
            <a:r>
              <a:rPr sz="1400" b="0">
                <a:solidFill>
                  <a:srgbClr val="1F2A3A"/>
                </a:solidFill>
                <a:latin typeface="맑은 고딕"/>
                <a:ea typeface="맑은 고딕"/>
                <a:cs typeface="맑은 고딕"/>
              </a:rPr>
              <a:t>130 bar · 65 ℃ · 2.0 mm/s는 단위가 달라 크기끼리 견주지 않는다.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괄호 하나로 달라지는 조회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쿨러나 팬 가운데 한계가 있는 물리량을 물을 때는 OR를 괄호로 묶어야 하며, 빼도 오류 없이 다른 답이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TextBox 6"/>
          <p:cNvSpPr txBox="1"/>
          <p:nvPr/>
        </p:nvSpPr>
        <p:spPr>
          <a:xfrm>
            <a:off x="822959"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(쿨러 OR 팬) AND 한계 있음</a:t>
            </a:r>
          </a:p>
        </p:txBody>
      </p:sp>
      <p:sp>
        <p:nvSpPr>
          <p:cNvPr id="8" name="TextBox 7"/>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WHERE (c.name = '오일 쿨러' OR c.name = '쿨러 팬')</a:t>
            </a:r>
          </a:p>
          <a:p>
            <a:pPr algn="l" eaLnBrk="0" marL="205740" indent="-205740">
              <a:lnSpc>
                <a:spcPct val="110000"/>
              </a:lnSpc>
              <a:spcAft>
                <a:spcPts val="600"/>
              </a:spcAft>
            </a:pPr>
            <a:r>
              <a:rPr sz="1800" b="0">
                <a:solidFill>
                  <a:srgbClr val="1F2A3A"/>
                </a:solidFill>
                <a:latin typeface="맑은 고딕"/>
                <a:ea typeface="맑은 고딕"/>
                <a:cs typeface="맑은 고딕"/>
              </a:rPr>
              <a:t>• AND v.limit IS NOT NULL</a:t>
            </a:r>
          </a:p>
          <a:p>
            <a:pPr algn="l" eaLnBrk="0" marL="205740" indent="-205740">
              <a:lnSpc>
                <a:spcPct val="110000"/>
              </a:lnSpc>
              <a:spcAft>
                <a:spcPts val="600"/>
              </a:spcAft>
            </a:pPr>
            <a:r>
              <a:rPr sz="1800" b="0">
                <a:solidFill>
                  <a:srgbClr val="1F2A3A"/>
                </a:solidFill>
                <a:latin typeface="맑은 고딕"/>
                <a:ea typeface="맑은 고딕"/>
                <a:cs typeface="맑은 고딕"/>
              </a:rPr>
              <a:t>• 결과: TS1 유온 · VS1 팬 진동</a:t>
            </a:r>
          </a:p>
          <a:p>
            <a:pPr algn="l" eaLnBrk="0" marL="205740" indent="-205740">
              <a:lnSpc>
                <a:spcPct val="110000"/>
              </a:lnSpc>
              <a:spcAft>
                <a:spcPts val="600"/>
              </a:spcAft>
            </a:pPr>
            <a:r>
              <a:rPr sz="1800" b="0">
                <a:solidFill>
                  <a:srgbClr val="1F2A3A"/>
                </a:solidFill>
                <a:latin typeface="맑은 고딕"/>
                <a:ea typeface="맑은 고딕"/>
                <a:cs typeface="맑은 고딕"/>
              </a:rPr>
              <a:t>• 장치를 먼저 고르고 한계로 거른다</a:t>
            </a:r>
          </a:p>
        </p:txBody>
      </p:sp>
      <p:sp>
        <p:nvSpPr>
          <p:cNvPr id="9" name="Rounded Rectangle 8"/>
          <p:cNvSpPr/>
          <p:nvPr/>
        </p:nvSpPr>
        <p:spPr>
          <a:xfrm>
            <a:off x="868680" y="5382006"/>
            <a:ext cx="1523999" cy="292608"/>
          </a:xfrm>
          <a:prstGeom prst="roundRect">
            <a:avLst>
              <a:gd name="adj" fmla="val 50000"/>
            </a:avLst>
          </a:prstGeom>
          <a:solidFill>
            <a:srgbClr val="5CB8F2"/>
          </a:solidFill>
          <a:ln>
            <a:noFill/>
          </a:ln>
        </p:spPr>
        <p:txBody>
          <a:bodyPr rtlCol="0" anchor="ctr"/>
          <a:lstStyle/>
          <a:p>
            <a:pPr algn="ctr"/>
          </a:p>
        </p:txBody>
      </p:sp>
      <p:sp>
        <p:nvSpPr>
          <p:cNvPr id="10" name="TextBox 9"/>
          <p:cNvSpPr txBox="1"/>
          <p:nvPr/>
        </p:nvSpPr>
        <p:spPr>
          <a:xfrm>
            <a:off x="868680"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물음과 같은 범위</a:t>
            </a:r>
          </a:p>
        </p:txBody>
      </p:sp>
      <p:sp>
        <p:nvSpPr>
          <p:cNvPr id="11" name="Rounded Rectangle 10"/>
          <p:cNvSpPr/>
          <p:nvPr/>
        </p:nvSpPr>
        <p:spPr>
          <a:xfrm>
            <a:off x="6461607" y="2143505"/>
            <a:ext cx="5181447" cy="3695700"/>
          </a:xfrm>
          <a:prstGeom prst="roundRect">
            <a:avLst>
              <a:gd name="adj" fmla="val 4000"/>
            </a:avLst>
          </a:prstGeom>
          <a:solidFill>
            <a:srgbClr val="F3F6F9"/>
          </a:solidFill>
          <a:ln>
            <a:noFill/>
          </a:ln>
        </p:spPr>
        <p:txBody>
          <a:bodyPr rtlCol="0" anchor="ctr"/>
          <a:lstStyle/>
          <a:p>
            <a:pPr algn="ctr"/>
          </a:p>
        </p:txBody>
      </p:sp>
      <p:sp>
        <p:nvSpPr>
          <p:cNvPr id="12" name="TextBox 11"/>
          <p:cNvSpPr txBox="1"/>
          <p:nvPr/>
        </p:nvSpPr>
        <p:spPr>
          <a:xfrm>
            <a:off x="6735927" y="23446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쿨러 OR (팬 AND 한계 있음)</a:t>
            </a:r>
          </a:p>
        </p:txBody>
      </p:sp>
      <p:sp>
        <p:nvSpPr>
          <p:cNvPr id="13" name="TextBox 12"/>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조건에서 괄호만 뺐다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 CE · TS1 · VS1, 냉각 효율이 섞인다</a:t>
            </a:r>
          </a:p>
          <a:p>
            <a:pPr algn="l" eaLnBrk="0" marL="205740" indent="-205740">
              <a:lnSpc>
                <a:spcPct val="110000"/>
              </a:lnSpc>
              <a:spcAft>
                <a:spcPts val="600"/>
              </a:spcAft>
            </a:pPr>
            <a:r>
              <a:rPr sz="1800" b="0">
                <a:solidFill>
                  <a:srgbClr val="1F2A3A"/>
                </a:solidFill>
                <a:latin typeface="맑은 고딕"/>
                <a:ea typeface="맑은 고딕"/>
                <a:cs typeface="맑은 고딕"/>
              </a:rPr>
              <a:t>• AND가 OR보다 먼저 묶인다</a:t>
            </a:r>
          </a:p>
          <a:p>
            <a:pPr algn="l" eaLnBrk="0" marL="205740" indent="-205740">
              <a:lnSpc>
                <a:spcPct val="110000"/>
              </a:lnSpc>
              <a:spcAft>
                <a:spcPts val="600"/>
              </a:spcAft>
            </a:pPr>
            <a:r>
              <a:rPr sz="1800" b="0">
                <a:solidFill>
                  <a:srgbClr val="1F2A3A"/>
                </a:solidFill>
                <a:latin typeface="맑은 고딕"/>
                <a:ea typeface="맑은 고딕"/>
                <a:cs typeface="맑은 고딕"/>
              </a:rPr>
              <a:t>• 쿨러 쪽은 한계를 묻지 않게 된다</a:t>
            </a:r>
          </a:p>
        </p:txBody>
      </p:sp>
      <p:sp>
        <p:nvSpPr>
          <p:cNvPr id="14" name="Rounded Rectangle 13"/>
          <p:cNvSpPr/>
          <p:nvPr/>
        </p:nvSpPr>
        <p:spPr>
          <a:xfrm>
            <a:off x="6781647" y="5382006"/>
            <a:ext cx="1722120" cy="292608"/>
          </a:xfrm>
          <a:prstGeom prst="roundRect">
            <a:avLst>
              <a:gd name="adj" fmla="val 50000"/>
            </a:avLst>
          </a:prstGeom>
          <a:solidFill>
            <a:srgbClr val="D3D9E1"/>
          </a:solidFill>
          <a:ln>
            <a:noFill/>
          </a:ln>
        </p:spPr>
        <p:txBody>
          <a:bodyPr rtlCol="0" anchor="ctr"/>
          <a:lstStyle/>
          <a:p>
            <a:pPr algn="ctr"/>
          </a:p>
        </p:txBody>
      </p:sp>
      <p:sp>
        <p:nvSpPr>
          <p:cNvPr id="15" name="TextBox 14"/>
          <p:cNvSpPr txBox="1"/>
          <p:nvPr/>
        </p:nvSpPr>
        <p:spPr>
          <a:xfrm>
            <a:off x="6781647" y="5382006"/>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오류 없이 넓어진 답</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구성 요소별 집계와 ORDER BY</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count 밖에 둔 장치 열이 묶는 기준이 되어, 장치마다 몇 채널로 보는지 한 표로 견주고 채널이 적은 장치를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회의</a:t>
            </a:r>
            <a:r>
              <a:rPr sz="1300" b="0">
                <a:solidFill>
                  <a:srgbClr val="E8EEF6"/>
                </a:solidFill>
                <a:latin typeface="Consolas"/>
                <a:ea typeface="맑은 고딕"/>
                <a:cs typeface="맑은 고딕"/>
              </a:rPr>
              <a:t>: HYD-01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장치마다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몇</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있나</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MATCH (a:Asset {code: 'HYD-01'})</a:t>
            </a:r>
          </a:p>
          <a:p>
            <a:pPr algn="l" eaLnBrk="0">
              <a:lnSpc>
                <a:spcPct val="110000"/>
              </a:lnSpc>
              <a:spcAft>
                <a:spcPts val="200"/>
              </a:spcAft>
            </a:pPr>
            <a:r>
              <a:rPr sz="1300" b="0">
                <a:solidFill>
                  <a:srgbClr val="E8EEF6"/>
                </a:solidFill>
                <a:latin typeface="Consolas"/>
                <a:ea typeface="맑은 고딕"/>
                <a:cs typeface="맑은 고딕"/>
              </a:rPr>
              <a:t>      -[:HAS_COMPONENT]-&gt;(c:Component)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RETURN c.id AS componentId, c.name AS component,</a:t>
            </a:r>
          </a:p>
          <a:p>
            <a:pPr algn="l" eaLnBrk="0">
              <a:lnSpc>
                <a:spcPct val="110000"/>
              </a:lnSpc>
              <a:spcAft>
                <a:spcPts val="200"/>
              </a:spcAft>
            </a:pPr>
            <a:r>
              <a:rPr sz="1300" b="0">
                <a:solidFill>
                  <a:srgbClr val="E8EEF6"/>
                </a:solidFill>
                <a:latin typeface="Consolas"/>
                <a:ea typeface="맑은 고딕"/>
                <a:cs typeface="맑은 고딕"/>
              </a:rPr>
              <a:t>       count(DISTINCT s) AS channels</a:t>
            </a:r>
          </a:p>
          <a:p>
            <a:pPr algn="l" eaLnBrk="0">
              <a:lnSpc>
                <a:spcPct val="110000"/>
              </a:lnSpc>
              <a:spcAft>
                <a:spcPts val="200"/>
              </a:spcAft>
            </a:pPr>
            <a:r>
              <a:rPr sz="1300" b="0">
                <a:solidFill>
                  <a:srgbClr val="E8EEF6"/>
                </a:solidFill>
                <a:latin typeface="Consolas"/>
                <a:ea typeface="맑은 고딕"/>
                <a:cs typeface="맑은 고딕"/>
              </a:rPr>
              <a:t>ORDER BY channels DESC, componentId</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(componentId </a:t>
            </a:r>
            <a:r>
              <a:rPr sz="1300" b="0">
                <a:solidFill>
                  <a:srgbClr val="E8EEF6"/>
                </a:solidFill>
                <a:latin typeface="맑은 고딕"/>
                <a:ea typeface="맑은 고딕"/>
                <a:cs typeface="맑은 고딕"/>
              </a:rPr>
              <a:t>열은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component      channels</a:t>
            </a:r>
          </a:p>
          <a:p>
            <a:pPr algn="l" eaLnBrk="0">
              <a:lnSpc>
                <a:spcPct val="110000"/>
              </a:lnSpc>
              <a:spcAft>
                <a:spcPts val="200"/>
              </a:spcAft>
            </a:pP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2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CE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TS1</a:t>
            </a:r>
          </a:p>
          <a:p>
            <a:pPr algn="l" eaLnBrk="0">
              <a:lnSpc>
                <a:spcPct val="110000"/>
              </a:lnSpc>
              <a:spcAft>
                <a:spcPts val="200"/>
              </a:spcAft>
            </a:pPr>
            <a:r>
              <a:rPr sz="1300" b="0">
                <a:solidFill>
                  <a:srgbClr val="E8EEF6"/>
                </a:solidFill>
                <a:latin typeface="맑은 고딕"/>
                <a:ea typeface="맑은 고딕"/>
                <a:cs typeface="맑은 고딕"/>
              </a:rPr>
              <a:t>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(A)    2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FS1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PS1</a:t>
            </a:r>
          </a:p>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VS1</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예비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펌프</a:t>
            </a:r>
            <a:r>
              <a:rPr sz="1300" b="0">
                <a:solidFill>
                  <a:srgbClr val="E8EEF6"/>
                </a:solidFill>
                <a:latin typeface="Consolas"/>
                <a:ea typeface="맑은 고딕"/>
                <a:cs typeface="맑은 고딕"/>
              </a:rPr>
              <a:t> (B)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작동유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탱크</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c.id · c.name이 한 묶음</a:t>
            </a:r>
          </a:p>
          <a:p>
            <a:pPr algn="l" eaLnBrk="0">
              <a:lnSpc>
                <a:spcPct val="110000"/>
              </a:lnSpc>
              <a:spcAft>
                <a:spcPts val="400"/>
              </a:spcAft>
            </a:pPr>
            <a:r>
              <a:rPr sz="1400" b="0">
                <a:solidFill>
                  <a:srgbClr val="1F2A3A"/>
                </a:solidFill>
                <a:latin typeface="맑은 고딕"/>
                <a:ea typeface="맑은 고딕"/>
                <a:cs typeface="맑은 고딕"/>
              </a:rPr>
              <a:t>count로 세지 않은 두 열이 같은 행끼리 센다. 같은 이름의 장치가 더 생겨도 id가 나눈다.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열 이름과 놓는 순서</a:t>
            </a:r>
          </a:p>
          <a:p>
            <a:pPr algn="l" eaLnBrk="0">
              <a:lnSpc>
                <a:spcPct val="110000"/>
              </a:lnSpc>
              <a:spcAft>
                <a:spcPts val="400"/>
              </a:spcAft>
            </a:pPr>
            <a:r>
              <a:rPr sz="1400" b="0">
                <a:solidFill>
                  <a:srgbClr val="1F2A3A"/>
                </a:solidFill>
                <a:latin typeface="맑은 고딕"/>
                <a:ea typeface="맑은 고딕"/>
                <a:cs typeface="맑은 고딕"/>
              </a:rPr>
              <a:t>AS 뒤는 결과 열의 이름일 뿐이다. 채널 수가 큰 장치부터, 수가 같으면 id 순서다.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채널 하나뿐인 팬</a:t>
            </a:r>
          </a:p>
          <a:p>
            <a:pPr algn="l" eaLnBrk="0">
              <a:lnSpc>
                <a:spcPct val="110000"/>
              </a:lnSpc>
              <a:spcAft>
                <a:spcPts val="400"/>
              </a:spcAft>
            </a:pPr>
            <a:r>
              <a:rPr sz="1400" b="0">
                <a:solidFill>
                  <a:srgbClr val="1F2A3A"/>
                </a:solidFill>
                <a:latin typeface="맑은 고딕"/>
                <a:ea typeface="맑은 고딕"/>
                <a:cs typeface="맑은 고딕"/>
              </a:rPr>
              <a:t>쿨러 팬은 VS1 하나로 본다. 이 채널이 끊기면 그래프에 팬을 볼 다른 계측 채널이 없다.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0이 아니라 행이 없다</a:t>
            </a:r>
          </a:p>
          <a:p>
            <a:pPr algn="l" eaLnBrk="0">
              <a:lnSpc>
                <a:spcPct val="110000"/>
              </a:lnSpc>
              <a:spcAft>
                <a:spcPts val="400"/>
              </a:spcAft>
            </a:pPr>
            <a:r>
              <a:rPr sz="1400" b="0">
                <a:solidFill>
                  <a:srgbClr val="1F2A3A"/>
                </a:solidFill>
                <a:latin typeface="맑은 고딕"/>
                <a:ea typeface="맑은 고딕"/>
                <a:cs typeface="맑은 고딕"/>
              </a:rPr>
              <a:t>센서까지 길이 없는 장치는 빠진다. 이 표를 전체 장치의 감시 현황으로 읽지 않는다.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세 설비를 함께 세면 생기는 합산 중복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설비가 같은 구성 요소 노드를 가리키므로, 행을 세면 센서가 설비마다 잡혀 서로 다른 노드로 세야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(a:Asset)-[:HAS_COMPONENT]-&gt;(c:Component)</a:t>
            </a:r>
          </a:p>
          <a:p>
            <a:pPr algn="l" eaLnBrk="0">
              <a:lnSpc>
                <a:spcPct val="110000"/>
              </a:lnSpc>
              <a:spcAft>
                <a:spcPts val="200"/>
              </a:spcAft>
            </a:pPr>
            <a:r>
              <a:rPr sz="1300" b="0">
                <a:solidFill>
                  <a:srgbClr val="E8EEF6"/>
                </a:solidFill>
                <a:latin typeface="Consolas"/>
                <a:ea typeface="맑은 고딕"/>
                <a:cs typeface="맑은 고딕"/>
              </a:rPr>
              <a:t>      -[:MONITORED_BY]-&gt;(s:Sensor)</a:t>
            </a:r>
          </a:p>
          <a:p>
            <a:pPr algn="l" eaLnBrk="0">
              <a:lnSpc>
                <a:spcPct val="110000"/>
              </a:lnSpc>
              <a:spcAft>
                <a:spcPts val="200"/>
              </a:spcAft>
            </a:pPr>
            <a:r>
              <a:rPr sz="1300" b="0">
                <a:solidFill>
                  <a:srgbClr val="E8EEF6"/>
                </a:solidFill>
                <a:latin typeface="Consolas"/>
                <a:ea typeface="맑은 고딕"/>
                <a:cs typeface="맑은 고딕"/>
              </a:rPr>
              <a:t>RETURN count(*) AS rows,</a:t>
            </a:r>
          </a:p>
          <a:p>
            <a:pPr algn="l" eaLnBrk="0">
              <a:lnSpc>
                <a:spcPct val="110000"/>
              </a:lnSpc>
              <a:spcAft>
                <a:spcPts val="200"/>
              </a:spcAft>
            </a:pPr>
            <a:r>
              <a:rPr sz="1300" b="0">
                <a:solidFill>
                  <a:srgbClr val="E8EEF6"/>
                </a:solidFill>
                <a:latin typeface="Consolas"/>
                <a:ea typeface="맑은 고딕"/>
                <a:cs typeface="맑은 고딕"/>
              </a:rPr>
              <a:t>       count(DISTINCT a) AS assets,</a:t>
            </a:r>
          </a:p>
          <a:p>
            <a:pPr algn="l" eaLnBrk="0">
              <a:lnSpc>
                <a:spcPct val="110000"/>
              </a:lnSpc>
              <a:spcAft>
                <a:spcPts val="200"/>
              </a:spcAft>
            </a:pPr>
            <a:r>
              <a:rPr sz="1300" b="0">
                <a:solidFill>
                  <a:srgbClr val="E8EEF6"/>
                </a:solidFill>
                <a:latin typeface="Consolas"/>
                <a:ea typeface="맑은 고딕"/>
                <a:cs typeface="맑은 고딕"/>
              </a:rPr>
              <a:t>       count(DISTINCT s) AS sensors</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저장된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rows    assets    sensors</a:t>
            </a:r>
          </a:p>
          <a:p>
            <a:pPr algn="l" eaLnBrk="0">
              <a:lnSpc>
                <a:spcPct val="110000"/>
              </a:lnSpc>
              <a:spcAft>
                <a:spcPts val="200"/>
              </a:spcAft>
            </a:pPr>
            <a:r>
              <a:rPr sz="1300" b="0">
                <a:solidFill>
                  <a:srgbClr val="E8EEF6"/>
                </a:solidFill>
                <a:latin typeface="Consolas"/>
                <a:ea typeface="맑은 고딕"/>
                <a:cs typeface="맑은 고딕"/>
              </a:rPr>
              <a:t>15      3         5</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설비별로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묶으면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RETURN a.code, count(DISTINCT s)</a:t>
            </a:r>
          </a:p>
          <a:p>
            <a:pPr algn="l" eaLnBrk="0">
              <a:lnSpc>
                <a:spcPct val="110000"/>
              </a:lnSpc>
              <a:spcAft>
                <a:spcPts val="200"/>
              </a:spcAft>
            </a:pPr>
            <a:r>
              <a:rPr sz="1300" b="0">
                <a:solidFill>
                  <a:srgbClr val="E8EEF6"/>
                </a:solidFill>
                <a:latin typeface="Consolas"/>
                <a:ea typeface="맑은 고딕"/>
                <a:cs typeface="맑은 고딕"/>
              </a:rPr>
              <a:t>HYD-01  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HYD-02  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HYD-03  5</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공통 노드</a:t>
            </a:r>
          </a:p>
          <a:p>
            <a:pPr algn="l" eaLnBrk="0">
              <a:lnSpc>
                <a:spcPct val="110000"/>
              </a:lnSpc>
              <a:spcAft>
                <a:spcPts val="400"/>
              </a:spcAft>
            </a:pPr>
            <a:r>
              <a:rPr sz="1400" b="0">
                <a:solidFill>
                  <a:srgbClr val="1F2A3A"/>
                </a:solidFill>
                <a:latin typeface="맑은 고딕"/>
                <a:ea typeface="맑은 고딕"/>
                <a:cs typeface="맑은 고딕"/>
              </a:rPr>
              <a:t>HYD-01 · 02 · 03이 같은 오일 쿨러 · 주 펌프 · 팬 노드를 가리킨다.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rows 15</a:t>
            </a:r>
          </a:p>
          <a:p>
            <a:pPr algn="l" eaLnBrk="0">
              <a:lnSpc>
                <a:spcPct val="110000"/>
              </a:lnSpc>
              <a:spcAft>
                <a:spcPts val="400"/>
              </a:spcAft>
            </a:pPr>
            <a:r>
              <a:rPr sz="1400" b="0">
                <a:solidFill>
                  <a:srgbClr val="1F2A3A"/>
                </a:solidFill>
                <a:latin typeface="맑은 고딕"/>
                <a:ea typeface="맑은 고딕"/>
                <a:cs typeface="맑은 고딕"/>
              </a:rPr>
              <a:t>설비 셋 × 센서 다섯이다. 같은 센서가 설비마다 한 번씩 나온다.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sensors 5</a:t>
            </a:r>
          </a:p>
          <a:p>
            <a:pPr algn="l" eaLnBrk="0">
              <a:lnSpc>
                <a:spcPct val="110000"/>
              </a:lnSpc>
              <a:spcAft>
                <a:spcPts val="400"/>
              </a:spcAft>
            </a:pPr>
            <a:r>
              <a:rPr sz="1400" b="0">
                <a:solidFill>
                  <a:srgbClr val="1F2A3A"/>
                </a:solidFill>
                <a:latin typeface="맑은 고딕"/>
                <a:ea typeface="맑은 고딕"/>
                <a:cs typeface="맑은 고딕"/>
              </a:rPr>
              <a:t>서로 다른 센서 노드의 수이다. 기종에 정의된 계측 채널의 수이다.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설비마다 다른 값</a:t>
            </a:r>
          </a:p>
          <a:p>
            <a:pPr algn="l" eaLnBrk="0">
              <a:lnSpc>
                <a:spcPct val="110000"/>
              </a:lnSpc>
              <a:spcAft>
                <a:spcPts val="400"/>
              </a:spcAft>
            </a:pPr>
            <a:r>
              <a:rPr sz="1350" b="0">
                <a:solidFill>
                  <a:srgbClr val="1F2A3A"/>
                </a:solidFill>
                <a:latin typeface="맑은 고딕"/>
                <a:ea typeface="맑은 고딕"/>
                <a:cs typeface="맑은 고딕"/>
              </a:rPr>
              <a:t>그래프는 세 설비의 센서를 가르지 않는다. 설비별 측정값은 시계열 DB가 설비 열로 가른다.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사건의 원인 후보와 역방향 탐색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 셋은 고장 유형으로 들어오는 CAUSES의 출발점이라 &lt;-[:CAUSES]-로 거슬러 적어야 찾고, 뒤집어 적으면 0행이다.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Oval 5"/>
          <p:cNvSpPr/>
          <p:nvPr/>
        </p:nvSpPr>
        <p:spPr>
          <a:xfrm>
            <a:off x="548639" y="3259836"/>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성능 저하</a:t>
            </a:r>
          </a:p>
          <a:p>
            <a:pPr algn="ctr" eaLnBrk="0">
              <a:lnSpc>
                <a:spcPct val="110000"/>
              </a:lnSpc>
            </a:pPr>
            <a:r>
              <a:rPr sz="1100" b="0">
                <a:solidFill>
                  <a:srgbClr val="556175"/>
                </a:solidFill>
                <a:latin typeface="맑은 고딕"/>
                <a:ea typeface="맑은 고딕"/>
                <a:cs typeface="맑은 고딕"/>
              </a:rPr>
              <a:t>AnomalyPattern</a:t>
            </a:r>
          </a:p>
        </p:txBody>
      </p:sp>
      <p:sp>
        <p:nvSpPr>
          <p:cNvPr id="8" name="Oval 7"/>
          <p:cNvSpPr/>
          <p:nvPr/>
        </p:nvSpPr>
        <p:spPr>
          <a:xfrm>
            <a:off x="3052797" y="1790852"/>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155210" y="2068830"/>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유온 상승</a:t>
            </a:r>
          </a:p>
          <a:p>
            <a:pPr algn="ctr" eaLnBrk="0">
              <a:lnSpc>
                <a:spcPct val="110000"/>
              </a:lnSpc>
            </a:pPr>
            <a:r>
              <a:rPr sz="1100" b="0">
                <a:solidFill>
                  <a:srgbClr val="556175"/>
                </a:solidFill>
                <a:latin typeface="맑은 고딕"/>
                <a:ea typeface="맑은 고딕"/>
                <a:cs typeface="맑은 고딕"/>
              </a:rPr>
              <a:t>Symptom</a:t>
            </a:r>
          </a:p>
        </p:txBody>
      </p:sp>
      <p:sp>
        <p:nvSpPr>
          <p:cNvPr id="10" name="Oval 9"/>
          <p:cNvSpPr/>
          <p:nvPr/>
        </p:nvSpPr>
        <p:spPr>
          <a:xfrm>
            <a:off x="3052797" y="4728819"/>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3155210" y="500679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냉각 효율 저하</a:t>
            </a:r>
          </a:p>
          <a:p>
            <a:pPr algn="ctr" eaLnBrk="0">
              <a:lnSpc>
                <a:spcPct val="110000"/>
              </a:lnSpc>
            </a:pPr>
            <a:r>
              <a:rPr sz="1100" b="0">
                <a:solidFill>
                  <a:srgbClr val="556175"/>
                </a:solidFill>
                <a:latin typeface="맑은 고딕"/>
                <a:ea typeface="맑은 고딕"/>
                <a:cs typeface="맑은 고딕"/>
              </a:rPr>
              <a:t>Symptom</a:t>
            </a:r>
          </a:p>
        </p:txBody>
      </p:sp>
      <p:sp>
        <p:nvSpPr>
          <p:cNvPr id="12" name="Oval 11"/>
          <p:cNvSpPr/>
          <p:nvPr/>
        </p:nvSpPr>
        <p:spPr>
          <a:xfrm>
            <a:off x="5942210" y="3259836"/>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6044622"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냉각 성능 상실</a:t>
            </a:r>
          </a:p>
          <a:p>
            <a:pPr algn="ctr" eaLnBrk="0">
              <a:lnSpc>
                <a:spcPct val="110000"/>
              </a:lnSpc>
            </a:pPr>
            <a:r>
              <a:rPr sz="1100" b="0">
                <a:solidFill>
                  <a:srgbClr val="556175"/>
                </a:solidFill>
                <a:latin typeface="맑은 고딕"/>
                <a:ea typeface="맑은 고딕"/>
                <a:cs typeface="맑은 고딕"/>
              </a:rPr>
              <a:t>FailureMode</a:t>
            </a:r>
          </a:p>
        </p:txBody>
      </p:sp>
      <p:sp>
        <p:nvSpPr>
          <p:cNvPr id="14" name="Oval 13"/>
          <p:cNvSpPr/>
          <p:nvPr/>
        </p:nvSpPr>
        <p:spPr>
          <a:xfrm>
            <a:off x="8831622"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8934035"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100" b="0">
                <a:solidFill>
                  <a:srgbClr val="556175"/>
                </a:solidFill>
                <a:latin typeface="맑은 고딕"/>
                <a:ea typeface="맑은 고딕"/>
                <a:cs typeface="맑은 고딕"/>
              </a:rPr>
              <a:t>Cause</a:t>
            </a:r>
          </a:p>
        </p:txBody>
      </p:sp>
      <p:sp>
        <p:nvSpPr>
          <p:cNvPr id="16" name="Oval 15"/>
          <p:cNvSpPr/>
          <p:nvPr/>
        </p:nvSpPr>
        <p:spPr>
          <a:xfrm>
            <a:off x="10180015" y="3259836"/>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10282428" y="353781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구동 불량</a:t>
            </a:r>
          </a:p>
          <a:p>
            <a:pPr algn="ctr" eaLnBrk="0">
              <a:lnSpc>
                <a:spcPct val="110000"/>
              </a:lnSpc>
            </a:pPr>
            <a:r>
              <a:rPr sz="1100" b="0">
                <a:solidFill>
                  <a:srgbClr val="556175"/>
                </a:solidFill>
                <a:latin typeface="맑은 고딕"/>
                <a:ea typeface="맑은 고딕"/>
                <a:cs typeface="맑은 고딕"/>
              </a:rPr>
              <a:t>Cause</a:t>
            </a:r>
          </a:p>
        </p:txBody>
      </p:sp>
      <p:sp>
        <p:nvSpPr>
          <p:cNvPr id="18" name="Oval 17"/>
          <p:cNvSpPr/>
          <p:nvPr/>
        </p:nvSpPr>
        <p:spPr>
          <a:xfrm>
            <a:off x="883162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8934035"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주변 온도 상승</a:t>
            </a:r>
          </a:p>
          <a:p>
            <a:pPr algn="ctr" eaLnBrk="0">
              <a:lnSpc>
                <a:spcPct val="110000"/>
              </a:lnSpc>
            </a:pPr>
            <a:r>
              <a:rPr sz="1100" b="0">
                <a:solidFill>
                  <a:srgbClr val="556175"/>
                </a:solidFill>
                <a:latin typeface="맑은 고딕"/>
                <a:ea typeface="맑은 고딕"/>
                <a:cs typeface="맑은 고딕"/>
              </a:rPr>
              <a:t>Cause</a:t>
            </a:r>
          </a:p>
        </p:txBody>
      </p:sp>
      <p:cxnSp>
        <p:nvCxnSpPr>
          <p:cNvPr id="20" name="Connector 19"/>
          <p:cNvCxnSpPr/>
          <p:nvPr/>
        </p:nvCxnSpPr>
        <p:spPr>
          <a:xfrm flipV="1">
            <a:off x="1950563" y="2929522"/>
            <a:ext cx="1139690" cy="668563"/>
          </a:xfrm>
          <a:prstGeom prst="line">
            <a:avLst/>
          </a:prstGeom>
          <a:ln w="28575">
            <a:solidFill>
              <a:srgbClr val="13294B"/>
            </a:solidFill>
            <a:tailEnd type="triangle" w="med" len="med"/>
          </a:ln>
        </p:spPr>
      </p:cxnSp>
      <p:sp>
        <p:nvSpPr>
          <p:cNvPr id="21" name="Rounded Rectangle 20"/>
          <p:cNvSpPr/>
          <p:nvPr/>
        </p:nvSpPr>
        <p:spPr>
          <a:xfrm>
            <a:off x="2009272" y="2898044"/>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2009272" y="2898044"/>
            <a:ext cx="10222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DETECTS</a:t>
            </a:r>
          </a:p>
        </p:txBody>
      </p:sp>
      <p:cxnSp>
        <p:nvCxnSpPr>
          <p:cNvPr id="23" name="Connector 22"/>
          <p:cNvCxnSpPr/>
          <p:nvPr/>
        </p:nvCxnSpPr>
        <p:spPr>
          <a:xfrm>
            <a:off x="1950563" y="4384626"/>
            <a:ext cx="1139690" cy="668563"/>
          </a:xfrm>
          <a:prstGeom prst="line">
            <a:avLst/>
          </a:prstGeom>
          <a:ln w="28575">
            <a:solidFill>
              <a:srgbClr val="13294B"/>
            </a:solidFill>
            <a:tailEnd type="triangle" w="med" len="med"/>
          </a:ln>
        </p:spPr>
      </p:cxnSp>
      <p:sp>
        <p:nvSpPr>
          <p:cNvPr id="24" name="Rounded Rectangle 23"/>
          <p:cNvSpPr/>
          <p:nvPr/>
        </p:nvSpPr>
        <p:spPr>
          <a:xfrm>
            <a:off x="2009272" y="4353147"/>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5" name="TextBox 24"/>
          <p:cNvSpPr txBox="1"/>
          <p:nvPr/>
        </p:nvSpPr>
        <p:spPr>
          <a:xfrm>
            <a:off x="2009272" y="4353147"/>
            <a:ext cx="10222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DETECTS</a:t>
            </a:r>
          </a:p>
        </p:txBody>
      </p:sp>
      <p:cxnSp>
        <p:nvCxnSpPr>
          <p:cNvPr id="26" name="Connector 25"/>
          <p:cNvCxnSpPr/>
          <p:nvPr/>
        </p:nvCxnSpPr>
        <p:spPr>
          <a:xfrm>
            <a:off x="4477157" y="2874613"/>
            <a:ext cx="1479279" cy="752069"/>
          </a:xfrm>
          <a:prstGeom prst="line">
            <a:avLst/>
          </a:prstGeom>
          <a:ln w="28575">
            <a:solidFill>
              <a:srgbClr val="13294B"/>
            </a:solidFill>
            <a:tailEnd type="triangle" w="med" len="med"/>
          </a:ln>
        </p:spPr>
      </p:cxnSp>
      <p:sp>
        <p:nvSpPr>
          <p:cNvPr id="27" name="Rounded Rectangle 26"/>
          <p:cNvSpPr/>
          <p:nvPr/>
        </p:nvSpPr>
        <p:spPr>
          <a:xfrm>
            <a:off x="4598811" y="2884888"/>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8" name="TextBox 27"/>
          <p:cNvSpPr txBox="1"/>
          <p:nvPr/>
        </p:nvSpPr>
        <p:spPr>
          <a:xfrm>
            <a:off x="4598811" y="2884888"/>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29" name="Connector 28"/>
          <p:cNvCxnSpPr/>
          <p:nvPr/>
        </p:nvCxnSpPr>
        <p:spPr>
          <a:xfrm flipV="1">
            <a:off x="4477157" y="4356029"/>
            <a:ext cx="1479279" cy="752069"/>
          </a:xfrm>
          <a:prstGeom prst="line">
            <a:avLst/>
          </a:prstGeom>
          <a:ln w="28575">
            <a:solidFill>
              <a:srgbClr val="13294B"/>
            </a:solidFill>
            <a:tailEnd type="triangle" w="med" len="med"/>
          </a:ln>
        </p:spPr>
      </p:cxnSp>
      <p:sp>
        <p:nvSpPr>
          <p:cNvPr id="30" name="Rounded Rectangle 29"/>
          <p:cNvSpPr/>
          <p:nvPr/>
        </p:nvSpPr>
        <p:spPr>
          <a:xfrm>
            <a:off x="4598811" y="4366303"/>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1" name="TextBox 30"/>
          <p:cNvSpPr txBox="1"/>
          <p:nvPr/>
        </p:nvSpPr>
        <p:spPr>
          <a:xfrm>
            <a:off x="4598811" y="4366303"/>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INDICATES</a:t>
            </a:r>
          </a:p>
        </p:txBody>
      </p:sp>
      <p:cxnSp>
        <p:nvCxnSpPr>
          <p:cNvPr id="32" name="Connector 31"/>
          <p:cNvCxnSpPr/>
          <p:nvPr/>
        </p:nvCxnSpPr>
        <p:spPr>
          <a:xfrm flipH="1">
            <a:off x="7374345" y="2741431"/>
            <a:ext cx="1512066" cy="854153"/>
          </a:xfrm>
          <a:prstGeom prst="line">
            <a:avLst/>
          </a:prstGeom>
          <a:ln w="28575">
            <a:solidFill>
              <a:srgbClr val="13294B"/>
            </a:solidFill>
            <a:tailEnd type="triangle" w="med" len="med"/>
          </a:ln>
        </p:spPr>
      </p:cxnSp>
      <p:sp>
        <p:nvSpPr>
          <p:cNvPr id="33" name="Rounded Rectangle 32"/>
          <p:cNvSpPr/>
          <p:nvPr/>
        </p:nvSpPr>
        <p:spPr>
          <a:xfrm>
            <a:off x="7672668" y="2802747"/>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4" name="TextBox 33"/>
          <p:cNvSpPr txBox="1"/>
          <p:nvPr/>
        </p:nvSpPr>
        <p:spPr>
          <a:xfrm>
            <a:off x="7672668" y="2802747"/>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35" name="Connector 34"/>
          <p:cNvCxnSpPr/>
          <p:nvPr/>
        </p:nvCxnSpPr>
        <p:spPr>
          <a:xfrm flipH="1">
            <a:off x="7478402" y="3991356"/>
            <a:ext cx="2655893" cy="0"/>
          </a:xfrm>
          <a:prstGeom prst="line">
            <a:avLst/>
          </a:prstGeom>
          <a:ln w="28575">
            <a:solidFill>
              <a:srgbClr val="13294B"/>
            </a:solidFill>
            <a:tailEnd type="triangle" w="med" len="med"/>
          </a:ln>
        </p:spPr>
      </p:cxnSp>
      <p:sp>
        <p:nvSpPr>
          <p:cNvPr id="36" name="Rounded Rectangle 35"/>
          <p:cNvSpPr/>
          <p:nvPr/>
        </p:nvSpPr>
        <p:spPr>
          <a:xfrm>
            <a:off x="8348638"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7" name="TextBox 36"/>
          <p:cNvSpPr txBox="1"/>
          <p:nvPr/>
        </p:nvSpPr>
        <p:spPr>
          <a:xfrm>
            <a:off x="8348638" y="3625596"/>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38" name="Connector 37"/>
          <p:cNvCxnSpPr/>
          <p:nvPr/>
        </p:nvCxnSpPr>
        <p:spPr>
          <a:xfrm flipH="1" flipV="1">
            <a:off x="7374345" y="4387127"/>
            <a:ext cx="1512066" cy="854153"/>
          </a:xfrm>
          <a:prstGeom prst="line">
            <a:avLst/>
          </a:prstGeom>
          <a:ln w="28575">
            <a:solidFill>
              <a:srgbClr val="13294B"/>
            </a:solidFill>
            <a:tailEnd type="triangle" w="med" len="med"/>
          </a:ln>
        </p:spPr>
      </p:cxnSp>
      <p:sp>
        <p:nvSpPr>
          <p:cNvPr id="39" name="Rounded Rectangle 38"/>
          <p:cNvSpPr/>
          <p:nvPr/>
        </p:nvSpPr>
        <p:spPr>
          <a:xfrm>
            <a:off x="7672668" y="4448444"/>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0" name="TextBox 39"/>
          <p:cNvSpPr txBox="1"/>
          <p:nvPr/>
        </p:nvSpPr>
        <p:spPr>
          <a:xfrm>
            <a:off x="7672668" y="4448444"/>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경보 하나에서 교체품까지 쿼리 하나로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경보의 패턴 코드에서 증상 · 고장 유형 · 장치를 지나 부품까지 이으면, 정비에 준비할 교체품을 한 번에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MATCH (p:AnomalyPattern {code: 'COOLER_DEGRADATION'})</a:t>
            </a:r>
          </a:p>
          <a:p>
            <a:pPr algn="l" eaLnBrk="0">
              <a:lnSpc>
                <a:spcPct val="110000"/>
              </a:lnSpc>
              <a:spcAft>
                <a:spcPts val="200"/>
              </a:spcAft>
            </a:pPr>
            <a:r>
              <a:rPr sz="1300" b="0">
                <a:solidFill>
                  <a:srgbClr val="E8EEF6"/>
                </a:solidFill>
                <a:latin typeface="Consolas"/>
                <a:ea typeface="맑은 고딕"/>
                <a:cs typeface="맑은 고딕"/>
              </a:rPr>
              <a:t>      -[:DETECTS]-&gt;(sym:Symptom)</a:t>
            </a:r>
          </a:p>
          <a:p>
            <a:pPr algn="l" eaLnBrk="0">
              <a:lnSpc>
                <a:spcPct val="110000"/>
              </a:lnSpc>
              <a:spcAft>
                <a:spcPts val="200"/>
              </a:spcAft>
            </a:pPr>
            <a:r>
              <a:rPr sz="1300" b="0">
                <a:solidFill>
                  <a:srgbClr val="E8EEF6"/>
                </a:solidFill>
                <a:latin typeface="Consolas"/>
                <a:ea typeface="맑은 고딕"/>
                <a:cs typeface="맑은 고딕"/>
              </a:rPr>
              <a:t>      -[:INDICATES]-&gt;(fm:FailureMode)</a:t>
            </a:r>
          </a:p>
          <a:p>
            <a:pPr algn="l" eaLnBrk="0">
              <a:lnSpc>
                <a:spcPct val="110000"/>
              </a:lnSpc>
              <a:spcAft>
                <a:spcPts val="200"/>
              </a:spcAft>
            </a:pPr>
            <a:r>
              <a:rPr sz="1300" b="0">
                <a:solidFill>
                  <a:srgbClr val="E8EEF6"/>
                </a:solidFill>
                <a:latin typeface="Consolas"/>
                <a:ea typeface="맑은 고딕"/>
                <a:cs typeface="맑은 고딕"/>
              </a:rPr>
              <a:t>      -[:OCCURS_IN]-&gt;(c:Component)</a:t>
            </a:r>
          </a:p>
          <a:p>
            <a:pPr algn="l" eaLnBrk="0">
              <a:lnSpc>
                <a:spcPct val="110000"/>
              </a:lnSpc>
              <a:spcAft>
                <a:spcPts val="200"/>
              </a:spcAft>
            </a:pPr>
            <a:r>
              <a:rPr sz="1300" b="0">
                <a:solidFill>
                  <a:srgbClr val="E8EEF6"/>
                </a:solidFill>
                <a:latin typeface="Consolas"/>
                <a:ea typeface="맑은 고딕"/>
                <a:cs typeface="맑은 고딕"/>
              </a:rPr>
              <a:t>      -[:USES_PART]-&gt;(pt:Part)</a:t>
            </a:r>
          </a:p>
          <a:p>
            <a:pPr algn="l" eaLnBrk="0">
              <a:lnSpc>
                <a:spcPct val="110000"/>
              </a:lnSpc>
              <a:spcAft>
                <a:spcPts val="200"/>
              </a:spcAft>
            </a:pPr>
            <a:r>
              <a:rPr sz="1300" b="0">
                <a:solidFill>
                  <a:srgbClr val="E8EEF6"/>
                </a:solidFill>
                <a:latin typeface="Consolas"/>
                <a:ea typeface="맑은 고딕"/>
                <a:cs typeface="맑은 고딕"/>
              </a:rPr>
              <a:t>RETURN DISTINCT fm.name, c.name, pt.name, pt.partNo</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지식이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실습</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0</a:t>
            </a: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없다</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지식이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로드된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그래프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코어</a:t>
            </a:r>
            <a:r>
              <a:rPr sz="1300" b="0">
                <a:solidFill>
                  <a:srgbClr val="E8EEF6"/>
                </a:solidFill>
                <a:latin typeface="Consolas"/>
                <a:ea typeface="맑은 고딕"/>
                <a:cs typeface="맑은 고딕"/>
              </a:rPr>
              <a:t>"  "P-CLR-CORE"</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출발</a:t>
            </a:r>
          </a:p>
          <a:p>
            <a:pPr algn="l" eaLnBrk="0">
              <a:lnSpc>
                <a:spcPct val="110000"/>
              </a:lnSpc>
              <a:spcAft>
                <a:spcPts val="400"/>
              </a:spcAft>
            </a:pPr>
            <a:r>
              <a:rPr sz="1400" b="0">
                <a:solidFill>
                  <a:srgbClr val="1F2A3A"/>
                </a:solidFill>
                <a:latin typeface="맑은 고딕"/>
                <a:ea typeface="맑은 고딕"/>
                <a:cs typeface="맑은 고딕"/>
              </a:rPr>
              <a:t>경보에 실려 오는 이상 패턴의 코드로 시작한다.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DISTINCT</a:t>
            </a:r>
          </a:p>
          <a:p>
            <a:pPr algn="l" eaLnBrk="0">
              <a:lnSpc>
                <a:spcPct val="110000"/>
              </a:lnSpc>
              <a:spcAft>
                <a:spcPts val="400"/>
              </a:spcAft>
            </a:pPr>
            <a:r>
              <a:rPr sz="1400" b="0">
                <a:solidFill>
                  <a:srgbClr val="1F2A3A"/>
                </a:solidFill>
                <a:latin typeface="맑은 고딕"/>
                <a:ea typeface="맑은 고딕"/>
                <a:cs typeface="맑은 고딕"/>
              </a:rPr>
              <a:t>유온 상승과 냉각 효율 저하가 같은 고장 유형에 닿아, 빼면 같은 줄이 두 번 나온다.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교체품 후보</a:t>
            </a:r>
          </a:p>
          <a:p>
            <a:pPr algn="l" eaLnBrk="0">
              <a:lnSpc>
                <a:spcPct val="110000"/>
              </a:lnSpc>
              <a:spcAft>
                <a:spcPts val="400"/>
              </a:spcAft>
            </a:pPr>
            <a:r>
              <a:rPr sz="1400" b="0">
                <a:solidFill>
                  <a:srgbClr val="1F2A3A"/>
                </a:solidFill>
                <a:latin typeface="맑은 고딕"/>
                <a:ea typeface="맑은 고딕"/>
                <a:cs typeface="맑은 고딕"/>
              </a:rPr>
              <a:t>고장이 일어나는 장치에 쓰는 부품이다. 교체는 원인을 가린 뒤 정한다.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0행을 읽는 법</a:t>
            </a:r>
          </a:p>
          <a:p>
            <a:pPr algn="l" eaLnBrk="0">
              <a:lnSpc>
                <a:spcPct val="110000"/>
              </a:lnSpc>
              <a:spcAft>
                <a:spcPts val="400"/>
              </a:spcAft>
            </a:pPr>
            <a:r>
              <a:rPr sz="1400" b="0">
                <a:solidFill>
                  <a:srgbClr val="1F2A3A"/>
                </a:solidFill>
                <a:latin typeface="맑은 고딕"/>
                <a:ea typeface="맑은 고딕"/>
                <a:cs typeface="맑은 고딕"/>
              </a:rPr>
              <a:t>길의 한 칸이라도 없으면 행이 없다. 랩 예제의 0행은 「부품 없음」이 아니라 「고장 지식이 없음」이다.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노드 · 관계의 생성 · 병합과</a:t>
            </a:r>
          </a:p>
          <a:p>
            <a:pPr algn="l" eaLnBrk="0">
              <a:lnSpc>
                <a:spcPct val="110000"/>
              </a:lnSpc>
            </a:pPr>
            <a:r>
              <a:rPr sz="3400" b="1">
                <a:solidFill>
                  <a:srgbClr val="13294B"/>
                </a:solidFill>
                <a:latin typeface="맑은 고딕"/>
                <a:ea typeface="맑은 고딕"/>
                <a:cs typeface="맑은 고딕"/>
              </a:rPr>
              <a:t>적재 검증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조회와 적재를 가르고, 식별자로 찾거나 만든 뒤 저장된 결과를 정의와 대조한다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구조 조회와 데이터 적재의 구분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조회 쿼리는 그래프를 바꾸지 않고 행을 돌려주며, 적재 쿼리는 노드와 관계를 남기므로 넣은 뒤 다시 조회해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search" descr="search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구조 조회</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MATCH · WHERE · RETURN</a:t>
            </a:r>
          </a:p>
          <a:p>
            <a:pPr algn="l" eaLnBrk="0" marL="205740" indent="-205740">
              <a:lnSpc>
                <a:spcPct val="110000"/>
              </a:lnSpc>
              <a:spcAft>
                <a:spcPts val="600"/>
              </a:spcAft>
            </a:pPr>
            <a:r>
              <a:rPr sz="1800" b="0">
                <a:solidFill>
                  <a:srgbClr val="1F2A3A"/>
                </a:solidFill>
                <a:latin typeface="맑은 고딕"/>
                <a:ea typeface="맑은 고딕"/>
                <a:cs typeface="맑은 고딕"/>
              </a:rPr>
              <a:t>• 저장된 연결을 찾아 행으로 돌려준다</a:t>
            </a:r>
          </a:p>
          <a:p>
            <a:pPr algn="l" eaLnBrk="0" marL="205740" indent="-205740">
              <a:lnSpc>
                <a:spcPct val="110000"/>
              </a:lnSpc>
              <a:spcAft>
                <a:spcPts val="600"/>
              </a:spcAft>
            </a:pPr>
            <a:r>
              <a:rPr sz="1800" b="0">
                <a:solidFill>
                  <a:srgbClr val="1F2A3A"/>
                </a:solidFill>
                <a:latin typeface="맑은 고딕"/>
                <a:ea typeface="맑은 고딕"/>
                <a:cs typeface="맑은 고딕"/>
              </a:rPr>
              <a:t>• 몇 번 실행해도 그래프는 그대로이다</a:t>
            </a:r>
          </a:p>
          <a:p>
            <a:pPr algn="l" eaLnBrk="0" marL="205740" indent="-205740">
              <a:lnSpc>
                <a:spcPct val="110000"/>
              </a:lnSpc>
              <a:spcAft>
                <a:spcPts val="600"/>
              </a:spcAft>
            </a:pPr>
            <a:r>
              <a:rPr sz="1800" b="0">
                <a:solidFill>
                  <a:srgbClr val="1F2A3A"/>
                </a:solidFill>
                <a:latin typeface="맑은 고딕"/>
                <a:ea typeface="맑은 고딕"/>
                <a:cs typeface="맑은 고딕"/>
              </a:rPr>
              <a:t>• 예: 쿨러의 센서, 유온의 한계</a:t>
            </a:r>
          </a:p>
        </p:txBody>
      </p:sp>
      <p:sp>
        <p:nvSpPr>
          <p:cNvPr id="11" name="Rounded Rectangle 10"/>
          <p:cNvSpPr/>
          <p:nvPr/>
        </p:nvSpPr>
        <p:spPr>
          <a:xfrm>
            <a:off x="868680" y="520446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database-import" descr="database-import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데이터 적재</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CREATE · MERGE · SET</a:t>
            </a:r>
          </a:p>
          <a:p>
            <a:pPr algn="l" eaLnBrk="0" marL="205740" indent="-205740">
              <a:lnSpc>
                <a:spcPct val="110000"/>
              </a:lnSpc>
              <a:spcAft>
                <a:spcPts val="600"/>
              </a:spcAft>
            </a:pPr>
            <a:r>
              <a:rPr sz="1800" b="0">
                <a:solidFill>
                  <a:srgbClr val="1F2A3A"/>
                </a:solidFill>
                <a:latin typeface="맑은 고딕"/>
                <a:ea typeface="맑은 고딕"/>
                <a:cs typeface="맑은 고딕"/>
              </a:rPr>
              <a:t>• 노드 · 관계 · 속성을 만들거나 바꾼다</a:t>
            </a:r>
          </a:p>
          <a:p>
            <a:pPr algn="l" eaLnBrk="0" marL="205740" indent="-205740">
              <a:lnSpc>
                <a:spcPct val="110000"/>
              </a:lnSpc>
              <a:spcAft>
                <a:spcPts val="600"/>
              </a:spcAft>
            </a:pPr>
            <a:r>
              <a:rPr sz="1800" b="0">
                <a:solidFill>
                  <a:srgbClr val="1F2A3A"/>
                </a:solidFill>
                <a:latin typeface="맑은 고딕"/>
                <a:ea typeface="맑은 고딕"/>
                <a:cs typeface="맑은 고딕"/>
              </a:rPr>
              <a:t>• 다시 실행하면 그래프가 달라질 수 있다</a:t>
            </a:r>
          </a:p>
          <a:p>
            <a:pPr algn="l" eaLnBrk="0" marL="205740" indent="-205740">
              <a:lnSpc>
                <a:spcPct val="110000"/>
              </a:lnSpc>
              <a:spcAft>
                <a:spcPts val="600"/>
              </a:spcAft>
            </a:pPr>
            <a:r>
              <a:rPr sz="1800" b="0">
                <a:solidFill>
                  <a:srgbClr val="1F2A3A"/>
                </a:solidFill>
                <a:latin typeface="맑은 고딕"/>
                <a:ea typeface="맑은 고딕"/>
                <a:cs typeface="맑은 고딕"/>
              </a:rPr>
              <a:t>• 예: 새 센서 등록, 센서와 유온 잇기</a:t>
            </a:r>
          </a:p>
        </p:txBody>
      </p:sp>
      <p:sp>
        <p:nvSpPr>
          <p:cNvPr id="18" name="Rounded Rectangle 17"/>
          <p:cNvSpPr/>
          <p:nvPr/>
        </p:nvSpPr>
        <p:spPr>
          <a:xfrm>
            <a:off x="6781647" y="520446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CREATE · MERGE · SET: 새로 만들기와 찾아서 쓰기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적재를 중간에 멈췄다가 다시 돌려도 센서가 하나로 남으려면, 식별자로 찾고 없을 때만 만드는 MERGE를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CREATE (s:Sensor {id: 'sen:ts1',</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tag: 'TS1'})</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MERGE (s:Sensor {id: 'sen:ts1'})</a:t>
            </a:r>
          </a:p>
          <a:p>
            <a:pPr algn="l" eaLnBrk="0">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s.tag  = 'TS1',</a:t>
            </a:r>
          </a:p>
          <a:p>
            <a:pPr algn="l" eaLnBrk="0">
              <a:lnSpc>
                <a:spcPct val="110000"/>
              </a:lnSpc>
              <a:spcAft>
                <a:spcPts val="200"/>
              </a:spcAft>
            </a:pPr>
            <a:r>
              <a:rPr sz="1300" b="0">
                <a:solidFill>
                  <a:srgbClr val="E8EEF6"/>
                </a:solidFill>
                <a:latin typeface="Consolas"/>
                <a:ea typeface="맑은 고딕"/>
                <a:cs typeface="맑은 고딕"/>
              </a:rPr>
              <a:t>    s.unit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sen:ts1</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CREATE</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Node already exists with label `Sensor`</a:t>
            </a:r>
          </a:p>
          <a:p>
            <a:pPr algn="l" eaLnBrk="0">
              <a:lnSpc>
                <a:spcPct val="110000"/>
              </a:lnSpc>
              <a:spcAft>
                <a:spcPts val="200"/>
              </a:spcAft>
            </a:pPr>
            <a:r>
              <a:rPr sz="1300" b="0">
                <a:solidFill>
                  <a:srgbClr val="E8EEF6"/>
                </a:solidFill>
                <a:latin typeface="Consolas"/>
                <a:ea typeface="맑은 고딕"/>
                <a:cs typeface="맑은 고딕"/>
              </a:rPr>
              <a:t>  and property `id` = 'sen:ts1'</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CREATE</a:t>
            </a:r>
          </a:p>
          <a:p>
            <a:pPr algn="l" eaLnBrk="0">
              <a:lnSpc>
                <a:spcPct val="110000"/>
              </a:lnSpc>
              <a:spcAft>
                <a:spcPts val="400"/>
              </a:spcAft>
            </a:pPr>
            <a:r>
              <a:rPr sz="1400" b="0">
                <a:solidFill>
                  <a:srgbClr val="1F2A3A"/>
                </a:solidFill>
                <a:latin typeface="맑은 고딕"/>
                <a:ea typeface="맑은 고딕"/>
                <a:cs typeface="맑은 고딕"/>
              </a:rPr>
              <a:t>있는지 보지 않고 새 노드를 만든다. 같은 id가 있으면 유일 제약이 거절한다.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MERGE</a:t>
            </a:r>
          </a:p>
          <a:p>
            <a:pPr algn="l" eaLnBrk="0">
              <a:lnSpc>
                <a:spcPct val="110000"/>
              </a:lnSpc>
              <a:spcAft>
                <a:spcPts val="400"/>
              </a:spcAft>
            </a:pPr>
            <a:r>
              <a:rPr sz="1350" b="0">
                <a:solidFill>
                  <a:srgbClr val="1F2A3A"/>
                </a:solidFill>
                <a:latin typeface="맑은 고딕"/>
                <a:ea typeface="맑은 고딕"/>
                <a:cs typeface="맑은 고딕"/>
              </a:rPr>
              <a:t>패턴에 맞는 노드를 찾아 쓰고, 없을 때만 만든다.</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SET</a:t>
            </a:r>
          </a:p>
          <a:p>
            <a:pPr algn="l" eaLnBrk="0">
              <a:lnSpc>
                <a:spcPct val="110000"/>
              </a:lnSpc>
              <a:spcAft>
                <a:spcPts val="400"/>
              </a:spcAft>
            </a:pPr>
            <a:r>
              <a:rPr sz="1400" b="0">
                <a:solidFill>
                  <a:srgbClr val="1F2A3A"/>
                </a:solidFill>
                <a:latin typeface="맑은 고딕"/>
                <a:ea typeface="맑은 고딕"/>
                <a:cs typeface="맑은 고딕"/>
              </a:rPr>
              <a:t>찾았거나 만든 노드에 속성값을 넣는다.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쓰는 자리</a:t>
            </a:r>
          </a:p>
          <a:p>
            <a:pPr algn="l" eaLnBrk="0">
              <a:lnSpc>
                <a:spcPct val="110000"/>
              </a:lnSpc>
              <a:spcAft>
                <a:spcPts val="400"/>
              </a:spcAft>
            </a:pPr>
            <a:r>
              <a:rPr sz="1400" b="0">
                <a:solidFill>
                  <a:srgbClr val="1F2A3A"/>
                </a:solidFill>
                <a:latin typeface="맑은 고딕"/>
                <a:ea typeface="맑은 고딕"/>
                <a:cs typeface="맑은 고딕"/>
              </a:rPr>
              <a:t>시드는 MERGE만 써서 다시 돌려도 같다. 매번 새로 남길 기록은 CREATE로 만든다.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MERGE 패턴에 넣을 값과 SET으로 바꿀 값</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MERGE는 적힌 패턴 전체가 맞는 노드만 같은 대상으로 보므로, 바뀔 이름을 패턴에 넣으면 기존 센서를 못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쿼리는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각각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노드</a:t>
            </a:r>
            <a:r>
              <a:rPr sz="1300" b="0">
                <a:solidFill>
                  <a:srgbClr val="E8EEF6"/>
                </a:solidFill>
                <a:latin typeface="Consolas"/>
                <a:ea typeface="맑은 고딕"/>
                <a:cs typeface="맑은 고딕"/>
              </a:rPr>
              <a:t>: id 'sen:ts1',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MERGE (s:Sensor {id: 'sen:ts1'})</a:t>
            </a:r>
          </a:p>
          <a:p>
            <a:pPr algn="l" eaLnBrk="0">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노드의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바뀐다</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MERGE (s:Sensor {id: 'sen:ts1',</a:t>
            </a:r>
          </a:p>
          <a:p>
            <a:pPr algn="l" eaLnBrk="0">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유일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제약으로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하려는 일</a:t>
            </a:r>
          </a:p>
          <a:p>
            <a:pPr algn="l" eaLnBrk="0">
              <a:lnSpc>
                <a:spcPct val="110000"/>
              </a:lnSpc>
              <a:spcAft>
                <a:spcPts val="400"/>
              </a:spcAft>
            </a:pPr>
            <a:r>
              <a:rPr sz="1400" b="0">
                <a:solidFill>
                  <a:srgbClr val="1F2A3A"/>
                </a:solidFill>
                <a:latin typeface="맑은 고딕"/>
                <a:ea typeface="맑은 고딕"/>
                <a:cs typeface="맑은 고딕"/>
              </a:rPr>
              <a:t>같은 유온 센서의 표시 이름을 「온도 센서」로 바꾼다.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식별자로 찾기</a:t>
            </a:r>
          </a:p>
          <a:p>
            <a:pPr algn="l" eaLnBrk="0">
              <a:lnSpc>
                <a:spcPct val="110000"/>
              </a:lnSpc>
              <a:spcAft>
                <a:spcPts val="400"/>
              </a:spcAft>
            </a:pPr>
            <a:r>
              <a:rPr sz="1400" b="0">
                <a:solidFill>
                  <a:srgbClr val="1F2A3A"/>
                </a:solidFill>
                <a:latin typeface="맑은 고딕"/>
                <a:ea typeface="맑은 고딕"/>
                <a:cs typeface="맑은 고딕"/>
              </a:rPr>
              <a:t>id가 같은 노드를 찾고 SET으로 이름만 바꾼다. 노드는 하나 그대로이다.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이름까지 패턴에 넣기</a:t>
            </a:r>
          </a:p>
          <a:p>
            <a:pPr algn="l" eaLnBrk="0">
              <a:lnSpc>
                <a:spcPct val="110000"/>
              </a:lnSpc>
              <a:spcAft>
                <a:spcPts val="400"/>
              </a:spcAft>
            </a:pPr>
            <a:r>
              <a:rPr sz="1400" b="0">
                <a:solidFill>
                  <a:srgbClr val="1F2A3A"/>
                </a:solidFill>
                <a:latin typeface="맑은 고딕"/>
                <a:ea typeface="맑은 고딕"/>
                <a:cs typeface="맑은 고딕"/>
              </a:rPr>
              <a:t>id와 새 이름이 다 맞는 노드가 없어 새로 만들려 한다. 같은 id라 거절된다.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나누는 기준</a:t>
            </a:r>
          </a:p>
          <a:p>
            <a:pPr algn="l" eaLnBrk="0">
              <a:lnSpc>
                <a:spcPct val="110000"/>
              </a:lnSpc>
              <a:spcAft>
                <a:spcPts val="400"/>
              </a:spcAft>
            </a:pPr>
            <a:r>
              <a:rPr sz="1400" b="0">
                <a:solidFill>
                  <a:srgbClr val="1F2A3A"/>
                </a:solidFill>
                <a:latin typeface="맑은 고딕"/>
                <a:ea typeface="맑은 고딕"/>
                <a:cs typeface="맑은 고딕"/>
              </a:rPr>
              <a:t>대상을 계속 가리킬 값은 패턴에, 바뀔 수 있는 값은 SET에 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단계 더: 유일 제약이 없는 DB에서의 MERGE</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MERGE가 중복을 막는 힘은 식별자 검색과 유일 제약에서 나오므로, 새로 만든 빈 그래프에는 제약부터 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556700"/>
            <a:ext cx="5181447" cy="286931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57868"/>
            <a:ext cx="731520" cy="731520"/>
          </a:xfrm>
          <a:prstGeom prst="ellipse">
            <a:avLst/>
          </a:prstGeom>
          <a:solidFill>
            <a:srgbClr val="FFFFFF"/>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76579" y="2911487"/>
            <a:ext cx="424281" cy="424281"/>
          </a:xfrm>
          <a:prstGeom prst="rect">
            <a:avLst/>
          </a:prstGeom>
        </p:spPr>
      </p:pic>
      <p:sp>
        <p:nvSpPr>
          <p:cNvPr id="9" name="TextBox 8"/>
          <p:cNvSpPr txBox="1"/>
          <p:nvPr/>
        </p:nvSpPr>
        <p:spPr>
          <a:xfrm>
            <a:off x="1691640" y="2757868"/>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id 유일 제약이 있을 때</a:t>
            </a:r>
          </a:p>
        </p:txBody>
      </p:sp>
      <p:sp>
        <p:nvSpPr>
          <p:cNvPr id="10" name="TextBox 9"/>
          <p:cNvSpPr txBox="1"/>
          <p:nvPr/>
        </p:nvSpPr>
        <p:spPr>
          <a:xfrm>
            <a:off x="822959" y="3608260"/>
            <a:ext cx="4632807" cy="1269111"/>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이름까지 넣은 MERGE가 기존 노드를 못 찾는다</a:t>
            </a:r>
          </a:p>
          <a:p>
            <a:pPr algn="l" eaLnBrk="0" marL="177165" indent="-177165">
              <a:lnSpc>
                <a:spcPct val="110000"/>
              </a:lnSpc>
              <a:spcAft>
                <a:spcPts val="600"/>
              </a:spcAft>
            </a:pPr>
            <a:r>
              <a:rPr sz="1550" b="0">
                <a:solidFill>
                  <a:srgbClr val="1F2A3A"/>
                </a:solidFill>
                <a:latin typeface="맑은 고딕"/>
                <a:ea typeface="맑은 고딕"/>
                <a:cs typeface="맑은 고딕"/>
              </a:rPr>
              <a:t>• 새로 만들려다 같은 id라 거절된다</a:t>
            </a:r>
          </a:p>
          <a:p>
            <a:pPr algn="l" eaLnBrk="0" marL="177165" indent="-177165">
              <a:lnSpc>
                <a:spcPct val="110000"/>
              </a:lnSpc>
              <a:spcAft>
                <a:spcPts val="600"/>
              </a:spcAft>
            </a:pPr>
            <a:r>
              <a:rPr sz="1550" b="0">
                <a:solidFill>
                  <a:srgbClr val="1F2A3A"/>
                </a:solidFill>
                <a:latin typeface="맑은 고딕"/>
                <a:ea typeface="맑은 고딕"/>
                <a:cs typeface="맑은 고딕"/>
              </a:rPr>
              <a:t>• 오류로 드러나 패턴을 고친다</a:t>
            </a:r>
          </a:p>
        </p:txBody>
      </p:sp>
      <p:sp>
        <p:nvSpPr>
          <p:cNvPr id="11" name="Rounded Rectangle 10"/>
          <p:cNvSpPr/>
          <p:nvPr/>
        </p:nvSpPr>
        <p:spPr>
          <a:xfrm>
            <a:off x="868680" y="4968811"/>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68811"/>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멈추고 알린다</a:t>
            </a:r>
          </a:p>
        </p:txBody>
      </p:sp>
      <p:sp>
        <p:nvSpPr>
          <p:cNvPr id="13" name="Rounded Rectangle 12"/>
          <p:cNvSpPr/>
          <p:nvPr/>
        </p:nvSpPr>
        <p:spPr>
          <a:xfrm>
            <a:off x="6461607" y="2556700"/>
            <a:ext cx="5181447" cy="286931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5786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911487"/>
            <a:ext cx="424281" cy="424281"/>
          </a:xfrm>
          <a:prstGeom prst="rect">
            <a:avLst/>
          </a:prstGeom>
        </p:spPr>
      </p:pic>
      <p:sp>
        <p:nvSpPr>
          <p:cNvPr id="16" name="TextBox 15"/>
          <p:cNvSpPr txBox="1"/>
          <p:nvPr/>
        </p:nvSpPr>
        <p:spPr>
          <a:xfrm>
            <a:off x="7604607" y="2757868"/>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제약이 없을 때(가정)</a:t>
            </a:r>
          </a:p>
        </p:txBody>
      </p:sp>
      <p:sp>
        <p:nvSpPr>
          <p:cNvPr id="17" name="TextBox 16"/>
          <p:cNvSpPr txBox="1"/>
          <p:nvPr/>
        </p:nvSpPr>
        <p:spPr>
          <a:xfrm>
            <a:off x="6735927" y="3608260"/>
            <a:ext cx="4632807" cy="1269111"/>
          </a:xfrm>
          <a:prstGeom prst="rect">
            <a:avLst/>
          </a:prstGeom>
          <a:noFill/>
        </p:spPr>
        <p:txBody>
          <a:bodyPr wrap="square" anchor="t"/>
          <a:lstStyle/>
          <a:p>
            <a:pPr algn="l" eaLnBrk="0" marL="177165" indent="-177165">
              <a:lnSpc>
                <a:spcPct val="110000"/>
              </a:lnSpc>
              <a:spcAft>
                <a:spcPts val="600"/>
              </a:spcAft>
            </a:pPr>
            <a:r>
              <a:rPr sz="1550" b="0">
                <a:solidFill>
                  <a:srgbClr val="1F2A3A"/>
                </a:solidFill>
                <a:latin typeface="맑은 고딕"/>
                <a:ea typeface="맑은 고딕"/>
                <a:cs typeface="맑은 고딕"/>
              </a:rPr>
              <a:t>• 같은 MERGE가 기존 노드를 못 찾는다</a:t>
            </a:r>
          </a:p>
          <a:p>
            <a:pPr algn="l" eaLnBrk="0" marL="177165" indent="-177165">
              <a:lnSpc>
                <a:spcPct val="110000"/>
              </a:lnSpc>
              <a:spcAft>
                <a:spcPts val="600"/>
              </a:spcAft>
            </a:pPr>
            <a:r>
              <a:rPr sz="1550" b="0">
                <a:solidFill>
                  <a:srgbClr val="1F2A3A"/>
                </a:solidFill>
                <a:latin typeface="맑은 고딕"/>
                <a:ea typeface="맑은 고딕"/>
                <a:cs typeface="맑은 고딕"/>
              </a:rPr>
              <a:t>• 같은 id의 센서 노드가 하나 더 생긴다</a:t>
            </a:r>
          </a:p>
          <a:p>
            <a:pPr algn="l" eaLnBrk="0" marL="177165" indent="-177165">
              <a:lnSpc>
                <a:spcPct val="110000"/>
              </a:lnSpc>
              <a:spcAft>
                <a:spcPts val="600"/>
              </a:spcAft>
            </a:pPr>
            <a:r>
              <a:rPr sz="1550" b="0">
                <a:solidFill>
                  <a:srgbClr val="1F2A3A"/>
                </a:solidFill>
                <a:latin typeface="맑은 고딕"/>
                <a:ea typeface="맑은 고딕"/>
                <a:cs typeface="맑은 고딕"/>
              </a:rPr>
              <a:t>• 오류 없이 센서 수만 늘어난다</a:t>
            </a:r>
          </a:p>
        </p:txBody>
      </p:sp>
      <p:sp>
        <p:nvSpPr>
          <p:cNvPr id="18" name="Rounded Rectangle 17"/>
          <p:cNvSpPr/>
          <p:nvPr/>
        </p:nvSpPr>
        <p:spPr>
          <a:xfrm>
            <a:off x="6781647" y="4968811"/>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68811"/>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조용히 중복된다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양 끝 노드를 찾은 뒤 관계 잇기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센서를 장치 · 물리량에 이을 때는 양 끝을 id로 먼저 찾고, id 하나만 틀려도 관계가 소리 없이 빠지니 넣은 뒤 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65478"/>
            <a:ext cx="6766560" cy="465175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802638"/>
            <a:ext cx="6400800" cy="4377436"/>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잇는다</a:t>
            </a:r>
          </a:p>
          <a:p>
            <a:pPr algn="l" eaLnBrk="0">
              <a:lnSpc>
                <a:spcPct val="110000"/>
              </a:lnSpc>
              <a:spcAft>
                <a:spcPts val="200"/>
              </a:spcAft>
            </a:pPr>
            <a:r>
              <a:rPr sz="1300" b="0">
                <a:solidFill>
                  <a:srgbClr val="E8EEF6"/>
                </a:solidFill>
                <a:latin typeface="Consolas"/>
                <a:ea typeface="맑은 고딕"/>
                <a:cs typeface="맑은 고딕"/>
              </a:rPr>
              <a:t>MATCH (c:Component {id: 'comp:cooler'}),</a:t>
            </a:r>
          </a:p>
          <a:p>
            <a:pPr algn="l" eaLnBrk="0">
              <a:lnSpc>
                <a:spcPct val="110000"/>
              </a:lnSpc>
              <a:spcAft>
                <a:spcPts val="200"/>
              </a:spcAft>
            </a:pPr>
            <a:r>
              <a:rPr sz="1300" b="0">
                <a:solidFill>
                  <a:srgbClr val="E8EEF6"/>
                </a:solidFill>
                <a:latin typeface="Consolas"/>
                <a:ea typeface="맑은 고딕"/>
                <a:cs typeface="맑은 고딕"/>
              </a:rPr>
              <a:t>      (s:Sensor {id: 'sen:ts1'}),</a:t>
            </a:r>
          </a:p>
          <a:p>
            <a:pPr algn="l" eaLnBrk="0">
              <a:lnSpc>
                <a:spcPct val="110000"/>
              </a:lnSpc>
              <a:spcAft>
                <a:spcPts val="200"/>
              </a:spcAft>
            </a:pPr>
            <a:r>
              <a:rPr sz="1300" b="0">
                <a:solidFill>
                  <a:srgbClr val="E8EEF6"/>
                </a:solidFill>
                <a:latin typeface="Consolas"/>
                <a:ea typeface="맑은 고딕"/>
                <a:cs typeface="맑은 고딕"/>
              </a:rPr>
              <a:t>      (v:StateVariable {id: 'sv:ts1'})</a:t>
            </a:r>
          </a:p>
          <a:p>
            <a:pPr algn="l" eaLnBrk="0">
              <a:lnSpc>
                <a:spcPct val="110000"/>
              </a:lnSpc>
              <a:spcAft>
                <a:spcPts val="200"/>
              </a:spcAft>
            </a:pPr>
            <a:r>
              <a:rPr sz="1300" b="0">
                <a:solidFill>
                  <a:srgbClr val="E8EEF6"/>
                </a:solidFill>
                <a:latin typeface="Consolas"/>
                <a:ea typeface="맑은 고딕"/>
                <a:cs typeface="맑은 고딕"/>
              </a:rPr>
              <a:t>MERGE (c)-[:MONITORED_BY]-&gt;(s)</a:t>
            </a:r>
          </a:p>
          <a:p>
            <a:pPr algn="l" eaLnBrk="0">
              <a:lnSpc>
                <a:spcPct val="110000"/>
              </a:lnSpc>
              <a:spcAft>
                <a:spcPts val="200"/>
              </a:spcAft>
            </a:pPr>
            <a:r>
              <a:rPr sz="1300" b="0">
                <a:solidFill>
                  <a:srgbClr val="E8EEF6"/>
                </a:solidFill>
                <a:latin typeface="Consolas"/>
                <a:ea typeface="맑은 고딕"/>
                <a:cs typeface="맑은 고딕"/>
              </a:rPr>
              <a:t>MERGE (s)-[:OBSERVES]-&gt;(v)</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 id</a:t>
            </a:r>
            <a:r>
              <a:rPr sz="1300" b="0">
                <a:solidFill>
                  <a:srgbClr val="E8EEF6"/>
                </a:solidFill>
                <a:latin typeface="맑은 고딕"/>
                <a:ea typeface="맑은 고딕"/>
                <a:cs typeface="맑은 고딕"/>
              </a:rPr>
              <a:t>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오타가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MATCH (c:Component {id: 'comp:cooler'}),</a:t>
            </a:r>
          </a:p>
          <a:p>
            <a:pPr algn="l" eaLnBrk="0">
              <a:lnSpc>
                <a:spcPct val="110000"/>
              </a:lnSpc>
              <a:spcAft>
                <a:spcPts val="200"/>
              </a:spcAft>
            </a:pPr>
            <a:r>
              <a:rPr sz="1300" b="0">
                <a:solidFill>
                  <a:srgbClr val="E8EEF6"/>
                </a:solidFill>
                <a:latin typeface="Consolas"/>
                <a:ea typeface="맑은 고딕"/>
                <a:cs typeface="맑은 고딕"/>
              </a:rPr>
              <a:t>      (s:Sensor {id: 'sen:zz9'})</a:t>
            </a:r>
          </a:p>
          <a:p>
            <a:pPr algn="l" eaLnBrk="0">
              <a:lnSpc>
                <a:spcPct val="110000"/>
              </a:lnSpc>
              <a:spcAft>
                <a:spcPts val="200"/>
              </a:spcAft>
            </a:pPr>
            <a:r>
              <a:rPr sz="1300" b="0">
                <a:solidFill>
                  <a:srgbClr val="E8EEF6"/>
                </a:solidFill>
                <a:latin typeface="Consolas"/>
                <a:ea typeface="맑은 고딕"/>
                <a:cs typeface="맑은 고딕"/>
              </a:rPr>
              <a:t>MERGE (c)-[:MONITORED_BY]-&gt;(s)</a:t>
            </a:r>
          </a:p>
          <a:p>
            <a:pPr algn="l" eaLnBrk="0">
              <a:lnSpc>
                <a:spcPct val="110000"/>
              </a:lnSpc>
              <a:spcAft>
                <a:spcPts val="200"/>
              </a:spcAft>
            </a:pP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관계는</a:t>
            </a:r>
            <a:r>
              <a:rPr sz="1300" b="0">
                <a:solidFill>
                  <a:srgbClr val="E8EEF6"/>
                </a:solidFill>
                <a:latin typeface="Consolas"/>
                <a:ea typeface="맑은 고딕"/>
                <a:cs typeface="맑은 고딕"/>
              </a:rPr>
              <a:t> 0</a:t>
            </a:r>
            <a:r>
              <a:rPr sz="1300" b="0">
                <a:solidFill>
                  <a:srgbClr val="E8EEF6"/>
                </a:solidFill>
                <a:latin typeface="맑은 고딕"/>
                <a:ea typeface="맑은 고딕"/>
                <a:cs typeface="맑은 고딕"/>
              </a:rPr>
              <a:t>개</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넣은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MATCH (:Component {id: 'comp:cooler'})</a:t>
            </a:r>
          </a:p>
          <a:p>
            <a:pPr algn="l" eaLnBrk="0">
              <a:lnSpc>
                <a:spcPct val="110000"/>
              </a:lnSpc>
              <a:spcAft>
                <a:spcPts val="200"/>
              </a:spcAft>
            </a:pPr>
            <a:r>
              <a:rPr sz="1300" b="0">
                <a:solidFill>
                  <a:srgbClr val="E8EEF6"/>
                </a:solidFill>
                <a:latin typeface="Consolas"/>
                <a:ea typeface="맑은 고딕"/>
                <a:cs typeface="맑은 고딕"/>
              </a:rPr>
              <a:t>      -[r:MONITORED_BY]-&gt;(:Sensor {id: 'sen:ts1'})</a:t>
            </a:r>
          </a:p>
          <a:p>
            <a:pPr algn="l" eaLnBrk="0">
              <a:lnSpc>
                <a:spcPct val="110000"/>
              </a:lnSpc>
              <a:spcAft>
                <a:spcPts val="200"/>
              </a:spcAft>
            </a:pPr>
            <a:r>
              <a:rPr sz="1300" b="0">
                <a:solidFill>
                  <a:srgbClr val="E8EEF6"/>
                </a:solidFill>
                <a:latin typeface="Consolas"/>
                <a:ea typeface="맑은 고딕"/>
                <a:cs typeface="맑은 고딕"/>
              </a:rPr>
              <a:t>RETURN count(r)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 </a:t>
            </a:r>
            <a:r>
              <a:rPr sz="1300" b="0">
                <a:solidFill>
                  <a:srgbClr val="E8EEF6"/>
                </a:solidFill>
                <a:latin typeface="맑은 고딕"/>
                <a:ea typeface="맑은 고딕"/>
                <a:cs typeface="맑은 고딕"/>
              </a:rPr>
              <a:t>다시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돌려도</a:t>
            </a:r>
            <a:r>
              <a:rPr sz="1300" b="0">
                <a:solidFill>
                  <a:srgbClr val="E8EEF6"/>
                </a:solidFill>
                <a:latin typeface="Consolas"/>
                <a:ea typeface="맑은 고딕"/>
                <a:cs typeface="맑은 고딕"/>
              </a:rPr>
              <a:t> 1</a:t>
            </a:r>
          </a:p>
        </p:txBody>
      </p:sp>
      <p:sp>
        <p:nvSpPr>
          <p:cNvPr id="8" name="TextBox 7"/>
          <p:cNvSpPr txBox="1"/>
          <p:nvPr/>
        </p:nvSpPr>
        <p:spPr>
          <a:xfrm>
            <a:off x="7635240" y="1665478"/>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양 끝부터</a:t>
            </a:r>
          </a:p>
          <a:p>
            <a:pPr algn="l" eaLnBrk="0">
              <a:lnSpc>
                <a:spcPct val="110000"/>
              </a:lnSpc>
              <a:spcAft>
                <a:spcPts val="400"/>
              </a:spcAft>
            </a:pPr>
            <a:r>
              <a:rPr sz="1300" b="0">
                <a:solidFill>
                  <a:srgbClr val="1F2A3A"/>
                </a:solidFill>
                <a:latin typeface="맑은 고딕"/>
                <a:ea typeface="맑은 고딕"/>
                <a:cs typeface="맑은 고딕"/>
              </a:rPr>
              <a:t>오일 쿨러 · 유온 센서 · 유온 세 노드를 id로 먼저 붙잡는다. 바뀔 수 있는 이름으로는 찾지 않는다.</a:t>
            </a:r>
          </a:p>
        </p:txBody>
      </p:sp>
      <p:sp>
        <p:nvSpPr>
          <p:cNvPr id="9" name="TextBox 8"/>
          <p:cNvSpPr txBox="1"/>
          <p:nvPr/>
        </p:nvSpPr>
        <p:spPr>
          <a:xfrm>
            <a:off x="7635240" y="2828417"/>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이미 있으면 그대로</a:t>
            </a:r>
          </a:p>
          <a:p>
            <a:pPr algn="l" eaLnBrk="0">
              <a:lnSpc>
                <a:spcPct val="110000"/>
              </a:lnSpc>
              <a:spcAft>
                <a:spcPts val="400"/>
              </a:spcAft>
            </a:pPr>
            <a:r>
              <a:rPr sz="1400" b="0">
                <a:solidFill>
                  <a:srgbClr val="1F2A3A"/>
                </a:solidFill>
                <a:latin typeface="맑은 고딕"/>
                <a:ea typeface="맑은 고딕"/>
                <a:cs typeface="맑은 고딕"/>
              </a:rPr>
              <a:t>같은 적재를 두 번 돌려도 계측 관계는 하나다. 방향은 스키마가 정한 쪽(쿨러 → 센서)이다.</a:t>
            </a:r>
          </a:p>
        </p:txBody>
      </p:sp>
      <p:sp>
        <p:nvSpPr>
          <p:cNvPr id="10" name="TextBox 9"/>
          <p:cNvSpPr txBox="1"/>
          <p:nvPr/>
        </p:nvSpPr>
        <p:spPr>
          <a:xfrm>
            <a:off x="7635240" y="3991356"/>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id 오타 하나</a:t>
            </a:r>
          </a:p>
          <a:p>
            <a:pPr algn="l" eaLnBrk="0">
              <a:lnSpc>
                <a:spcPct val="110000"/>
              </a:lnSpc>
              <a:spcAft>
                <a:spcPts val="400"/>
              </a:spcAft>
            </a:pPr>
            <a:r>
              <a:rPr sz="1400" b="0">
                <a:solidFill>
                  <a:srgbClr val="1F2A3A"/>
                </a:solidFill>
                <a:latin typeface="맑은 고딕"/>
                <a:ea typeface="맑은 고딕"/>
                <a:cs typeface="맑은 고딕"/>
              </a:rPr>
              <a:t>센서를 못 찾으면 MERGE로 넘어갈 행이 없어, 관계 하나가 소리 없이 빠진다.</a:t>
            </a:r>
          </a:p>
        </p:txBody>
      </p:sp>
      <p:sp>
        <p:nvSpPr>
          <p:cNvPr id="11" name="TextBox 10"/>
          <p:cNvSpPr txBox="1"/>
          <p:nvPr/>
        </p:nvSpPr>
        <p:spPr>
          <a:xfrm>
            <a:off x="7635240" y="5154295"/>
            <a:ext cx="4007815" cy="1162938"/>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넣은 뒤 세기</a:t>
            </a:r>
          </a:p>
          <a:p>
            <a:pPr algn="l" eaLnBrk="0">
              <a:lnSpc>
                <a:spcPct val="110000"/>
              </a:lnSpc>
              <a:spcAft>
                <a:spcPts val="400"/>
              </a:spcAft>
            </a:pPr>
            <a:r>
              <a:rPr sz="1400" b="0">
                <a:solidFill>
                  <a:srgbClr val="1F2A3A"/>
                </a:solidFill>
                <a:latin typeface="맑은 고딕"/>
                <a:ea typeface="맑은 고딕"/>
                <a:cs typeface="맑은 고딕"/>
              </a:rPr>
              <a:t>적재 쿼리에는 결과 표가 없다. 아래 쿼리처럼 다시 세어 예상한 수와 맞춘다.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 정의에서 적재 검증까지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적재가 오류 없이 끝난 것과 설계가 옳은 것은 달라서, 질문의 답과 정의의 조건을 따로 대조해야 지식으로 쓸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108962"/>
            <a:ext cx="1911644" cy="376478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291842"/>
            <a:ext cx="731520" cy="731520"/>
          </a:xfrm>
          <a:prstGeom prst="ellipse">
            <a:avLst/>
          </a:prstGeom>
          <a:solidFill>
            <a:srgbClr val="FFFFFF"/>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1292321" y="2445461"/>
            <a:ext cx="424281" cy="424281"/>
          </a:xfrm>
          <a:prstGeom prst="rect">
            <a:avLst/>
          </a:prstGeom>
        </p:spPr>
      </p:pic>
      <p:sp>
        <p:nvSpPr>
          <p:cNvPr id="9" name="TextBox 8"/>
          <p:cNvSpPr txBox="1"/>
          <p:nvPr/>
        </p:nvSpPr>
        <p:spPr>
          <a:xfrm>
            <a:off x="621792" y="3096514"/>
            <a:ext cx="1765340" cy="2704083"/>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스키마 정의</a:t>
            </a:r>
          </a:p>
          <a:p>
            <a:pPr algn="ctr" eaLnBrk="0">
              <a:lnSpc>
                <a:spcPct val="110000"/>
              </a:lnSpc>
              <a:spcAft>
                <a:spcPts val="400"/>
              </a:spcAft>
            </a:pPr>
            <a:r>
              <a:rPr sz="1450" b="0">
                <a:solidFill>
                  <a:srgbClr val="1F2A3A"/>
                </a:solidFill>
                <a:latin typeface="맑은 고딕"/>
                <a:ea typeface="맑은 고딕"/>
                <a:cs typeface="맑은 고딕"/>
              </a:rPr>
              <a:t>클래스 · 속성</a:t>
            </a:r>
          </a:p>
          <a:p>
            <a:pPr algn="ctr" eaLnBrk="0">
              <a:lnSpc>
                <a:spcPct val="110000"/>
              </a:lnSpc>
              <a:spcAft>
                <a:spcPts val="400"/>
              </a:spcAft>
            </a:pPr>
            <a:r>
              <a:rPr sz="1450" b="0">
                <a:solidFill>
                  <a:srgbClr val="1F2A3A"/>
                </a:solidFill>
                <a:latin typeface="맑은 고딕"/>
                <a:ea typeface="맑은 고딕"/>
                <a:cs typeface="맑은 고딕"/>
              </a:rPr>
              <a:t>관계 · 제약</a:t>
            </a:r>
          </a:p>
          <a:p>
            <a:pPr algn="ctr" eaLnBrk="0">
              <a:lnSpc>
                <a:spcPct val="110000"/>
              </a:lnSpc>
              <a:spcAft>
                <a:spcPts val="400"/>
              </a:spcAft>
            </a:pPr>
            <a:r>
              <a:rPr sz="1450" b="0">
                <a:solidFill>
                  <a:srgbClr val="1F2A3A"/>
                </a:solidFill>
                <a:latin typeface="맑은 고딕"/>
                <a:ea typeface="맑은 고딕"/>
                <a:cs typeface="맑은 고딕"/>
              </a:rPr>
              <a:t>결과물: 정의 파일</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108962"/>
            <a:ext cx="1911644" cy="376478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291842"/>
            <a:ext cx="731520" cy="731520"/>
          </a:xfrm>
          <a:prstGeom prst="ellipse">
            <a:avLst/>
          </a:prstGeom>
          <a:solidFill>
            <a:srgbClr val="FFFFFF"/>
          </a:solidFill>
          <a:ln>
            <a:no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3588014" y="2445461"/>
            <a:ext cx="424281" cy="424281"/>
          </a:xfrm>
          <a:prstGeom prst="rect">
            <a:avLst/>
          </a:prstGeom>
        </p:spPr>
      </p:pic>
      <p:sp>
        <p:nvSpPr>
          <p:cNvPr id="14" name="TextBox 13"/>
          <p:cNvSpPr txBox="1"/>
          <p:nvPr/>
        </p:nvSpPr>
        <p:spPr>
          <a:xfrm>
            <a:off x="2917484" y="3096514"/>
            <a:ext cx="1765340" cy="2704083"/>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인스턴스 데이터</a:t>
            </a:r>
          </a:p>
          <a:p>
            <a:pPr algn="ctr" eaLnBrk="0">
              <a:lnSpc>
                <a:spcPct val="110000"/>
              </a:lnSpc>
              <a:spcAft>
                <a:spcPts val="400"/>
              </a:spcAft>
            </a:pPr>
            <a:r>
              <a:rPr sz="1450" b="0">
                <a:solidFill>
                  <a:srgbClr val="1F2A3A"/>
                </a:solidFill>
                <a:latin typeface="맑은 고딕"/>
                <a:ea typeface="맑은 고딕"/>
                <a:cs typeface="맑은 고딕"/>
              </a:rPr>
              <a:t>실제 대상과 관계를</a:t>
            </a:r>
          </a:p>
          <a:p>
            <a:pPr algn="ctr" eaLnBrk="0">
              <a:lnSpc>
                <a:spcPct val="110000"/>
              </a:lnSpc>
              <a:spcAft>
                <a:spcPts val="400"/>
              </a:spcAft>
            </a:pPr>
            <a:r>
              <a:rPr sz="1450" b="0">
                <a:solidFill>
                  <a:srgbClr val="1F2A3A"/>
                </a:solidFill>
                <a:latin typeface="맑은 고딕"/>
                <a:ea typeface="맑은 고딕"/>
                <a:cs typeface="맑은 고딕"/>
              </a:rPr>
              <a:t>정의에 맞춰 적는다</a:t>
            </a:r>
          </a:p>
          <a:p>
            <a:pPr algn="ctr" eaLnBrk="0">
              <a:lnSpc>
                <a:spcPct val="110000"/>
              </a:lnSpc>
              <a:spcAft>
                <a:spcPts val="400"/>
              </a:spcAft>
            </a:pPr>
            <a:r>
              <a:rPr sz="1450" b="0">
                <a:solidFill>
                  <a:srgbClr val="1F2A3A"/>
                </a:solidFill>
                <a:latin typeface="맑은 고딕"/>
                <a:ea typeface="맑은 고딕"/>
                <a:cs typeface="맑은 고딕"/>
              </a:rPr>
              <a:t>결과물: 예시 데이터</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108962"/>
            <a:ext cx="1911644" cy="376478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291842"/>
            <a:ext cx="731520" cy="731520"/>
          </a:xfrm>
          <a:prstGeom prst="ellipse">
            <a:avLst/>
          </a:prstGeom>
          <a:solidFill>
            <a:srgbClr val="FFFFFF"/>
          </a:solidFill>
          <a:ln>
            <a:noFill/>
          </a:ln>
        </p:spPr>
        <p:txBody>
          <a:bodyPr rtlCol="0" anchor="ctr"/>
          <a:lstStyle/>
          <a:p>
            <a:pPr algn="ctr"/>
          </a:p>
        </p:txBody>
      </p:sp>
      <p:pic>
        <p:nvPicPr>
          <p:cNvPr id="18" name="아이콘:search" descr="search_13294B_1.6.png"/>
          <p:cNvPicPr>
            <a:picLocks noChangeAspect="1"/>
          </p:cNvPicPr>
          <p:nvPr/>
        </p:nvPicPr>
        <p:blipFill>
          <a:blip r:embed="rId5"/>
          <a:stretch>
            <a:fillRect/>
          </a:stretch>
        </p:blipFill>
        <p:spPr>
          <a:xfrm>
            <a:off x="5883706" y="2445461"/>
            <a:ext cx="424281" cy="424281"/>
          </a:xfrm>
          <a:prstGeom prst="rect">
            <a:avLst/>
          </a:prstGeom>
        </p:spPr>
      </p:pic>
      <p:sp>
        <p:nvSpPr>
          <p:cNvPr id="19" name="TextBox 18"/>
          <p:cNvSpPr txBox="1"/>
          <p:nvPr/>
        </p:nvSpPr>
        <p:spPr>
          <a:xfrm>
            <a:off x="5213177" y="3096514"/>
            <a:ext cx="1765340" cy="2704083"/>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적재</a:t>
            </a:r>
          </a:p>
          <a:p>
            <a:pPr algn="ctr" eaLnBrk="0">
              <a:lnSpc>
                <a:spcPct val="110000"/>
              </a:lnSpc>
              <a:spcAft>
                <a:spcPts val="400"/>
              </a:spcAft>
            </a:pPr>
            <a:r>
              <a:rPr sz="1450" b="0">
                <a:solidFill>
                  <a:srgbClr val="1F2A3A"/>
                </a:solidFill>
                <a:latin typeface="맑은 고딕"/>
                <a:ea typeface="맑은 고딕"/>
                <a:cs typeface="맑은 고딕"/>
              </a:rPr>
              <a:t>유일 제약을 먼저 걸고</a:t>
            </a:r>
          </a:p>
          <a:p>
            <a:pPr algn="ctr" eaLnBrk="0">
              <a:lnSpc>
                <a:spcPct val="110000"/>
              </a:lnSpc>
              <a:spcAft>
                <a:spcPts val="400"/>
              </a:spcAft>
            </a:pPr>
            <a:r>
              <a:rPr sz="1450" b="0">
                <a:solidFill>
                  <a:srgbClr val="1F2A3A"/>
                </a:solidFill>
                <a:latin typeface="맑은 고딕"/>
                <a:ea typeface="맑은 고딕"/>
                <a:cs typeface="맑은 고딕"/>
              </a:rPr>
              <a:t>식별자로 MERGE</a:t>
            </a:r>
          </a:p>
          <a:p>
            <a:pPr algn="ctr" eaLnBrk="0">
              <a:lnSpc>
                <a:spcPct val="110000"/>
              </a:lnSpc>
              <a:spcAft>
                <a:spcPts val="400"/>
              </a:spcAft>
            </a:pPr>
            <a:r>
              <a:rPr sz="1450" b="0">
                <a:solidFill>
                  <a:srgbClr val="1F2A3A"/>
                </a:solidFill>
                <a:latin typeface="맑은 고딕"/>
                <a:ea typeface="맑은 고딕"/>
                <a:cs typeface="맑은 고딕"/>
              </a:rPr>
              <a:t>결과물: 그래프</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108962"/>
            <a:ext cx="1911644" cy="376478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291842"/>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445461"/>
            <a:ext cx="424281" cy="424281"/>
          </a:xfrm>
          <a:prstGeom prst="rect">
            <a:avLst/>
          </a:prstGeom>
        </p:spPr>
      </p:pic>
      <p:sp>
        <p:nvSpPr>
          <p:cNvPr id="24" name="TextBox 23"/>
          <p:cNvSpPr txBox="1"/>
          <p:nvPr/>
        </p:nvSpPr>
        <p:spPr>
          <a:xfrm>
            <a:off x="7508869" y="3096514"/>
            <a:ext cx="1765340" cy="2704083"/>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조회</a:t>
            </a:r>
          </a:p>
          <a:p>
            <a:pPr algn="ctr" eaLnBrk="0">
              <a:lnSpc>
                <a:spcPct val="110000"/>
              </a:lnSpc>
              <a:spcAft>
                <a:spcPts val="400"/>
              </a:spcAft>
            </a:pPr>
            <a:r>
              <a:rPr sz="1450" b="0">
                <a:solidFill>
                  <a:srgbClr val="1F2A3A"/>
                </a:solidFill>
                <a:latin typeface="맑은 고딕"/>
                <a:ea typeface="맑은 고딕"/>
                <a:cs typeface="맑은 고딕"/>
              </a:rPr>
              <a:t>처음 정한 질문을</a:t>
            </a:r>
          </a:p>
          <a:p>
            <a:pPr algn="ctr" eaLnBrk="0">
              <a:lnSpc>
                <a:spcPct val="110000"/>
              </a:lnSpc>
              <a:spcAft>
                <a:spcPts val="400"/>
              </a:spcAft>
            </a:pPr>
            <a:r>
              <a:rPr sz="1450" b="0">
                <a:solidFill>
                  <a:srgbClr val="1F2A3A"/>
                </a:solidFill>
                <a:latin typeface="맑은 고딕"/>
                <a:ea typeface="맑은 고딕"/>
                <a:cs typeface="맑은 고딕"/>
              </a:rPr>
              <a:t>쿼리로 묻고</a:t>
            </a:r>
          </a:p>
          <a:p>
            <a:pPr algn="ctr" eaLnBrk="0">
              <a:lnSpc>
                <a:spcPct val="110000"/>
              </a:lnSpc>
              <a:spcAft>
                <a:spcPts val="400"/>
              </a:spcAft>
            </a:pPr>
            <a:r>
              <a:rPr sz="1450" b="0">
                <a:solidFill>
                  <a:srgbClr val="1F2A3A"/>
                </a:solidFill>
                <a:latin typeface="맑은 고딕"/>
                <a:ea typeface="맑은 고딕"/>
                <a:cs typeface="맑은 고딕"/>
              </a:rPr>
              <a:t>예상한 답과 대조</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108962"/>
            <a:ext cx="1911644" cy="376478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291842"/>
            <a:ext cx="731520" cy="731520"/>
          </a:xfrm>
          <a:prstGeom prst="ellipse">
            <a:avLst/>
          </a:prstGeom>
          <a:solidFill>
            <a:srgbClr val="5CB8F2"/>
          </a:solidFill>
          <a:ln>
            <a:noFill/>
          </a:ln>
        </p:spPr>
        <p:txBody>
          <a:bodyPr rtlCol="0" anchor="ctr"/>
          <a:lstStyle/>
          <a:p>
            <a:pPr algn="ctr"/>
          </a:p>
        </p:txBody>
      </p:sp>
      <p:pic>
        <p:nvPicPr>
          <p:cNvPr id="28" name="아이콘:circle-check" descr="circle-check_13294B_1.6.png"/>
          <p:cNvPicPr>
            <a:picLocks noChangeAspect="1"/>
          </p:cNvPicPr>
          <p:nvPr/>
        </p:nvPicPr>
        <p:blipFill>
          <a:blip r:embed="rId7"/>
          <a:stretch>
            <a:fillRect/>
          </a:stretch>
        </p:blipFill>
        <p:spPr>
          <a:xfrm>
            <a:off x="10475092" y="2445461"/>
            <a:ext cx="424281" cy="424281"/>
          </a:xfrm>
          <a:prstGeom prst="rect">
            <a:avLst/>
          </a:prstGeom>
        </p:spPr>
      </p:pic>
      <p:sp>
        <p:nvSpPr>
          <p:cNvPr id="29" name="TextBox 28"/>
          <p:cNvSpPr txBox="1"/>
          <p:nvPr/>
        </p:nvSpPr>
        <p:spPr>
          <a:xfrm>
            <a:off x="9804562" y="3096514"/>
            <a:ext cx="1765340" cy="2704083"/>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검사</a:t>
            </a:r>
          </a:p>
          <a:p>
            <a:pPr algn="ctr" eaLnBrk="0">
              <a:lnSpc>
                <a:spcPct val="110000"/>
              </a:lnSpc>
              <a:spcAft>
                <a:spcPts val="400"/>
              </a:spcAft>
            </a:pPr>
            <a:r>
              <a:rPr sz="1450" b="0">
                <a:solidFill>
                  <a:srgbClr val="1F2A3A"/>
                </a:solidFill>
                <a:latin typeface="맑은 고딕"/>
                <a:ea typeface="맑은 고딕"/>
                <a:cs typeface="맑은 고딕"/>
              </a:rPr>
              <a:t>필수값 · 허용값 · 끝 클래스</a:t>
            </a:r>
          </a:p>
          <a:p>
            <a:pPr algn="ctr" eaLnBrk="0">
              <a:lnSpc>
                <a:spcPct val="110000"/>
              </a:lnSpc>
              <a:spcAft>
                <a:spcPts val="400"/>
              </a:spcAft>
            </a:pPr>
            <a:r>
              <a:rPr sz="1450" b="0">
                <a:solidFill>
                  <a:srgbClr val="1F2A3A"/>
                </a:solidFill>
                <a:latin typeface="맑은 고딕"/>
                <a:ea typeface="맑은 고딕"/>
                <a:cs typeface="맑은 고딕"/>
              </a:rPr>
              <a:t>수와 자료형은 직접 센다</a:t>
            </a:r>
          </a:p>
          <a:p>
            <a:pPr algn="ctr" eaLnBrk="0">
              <a:lnSpc>
                <a:spcPct val="110000"/>
              </a:lnSpc>
              <a:spcAft>
                <a:spcPts val="400"/>
              </a:spcAft>
            </a:pPr>
            <a:r>
              <a:rPr sz="1450" b="0">
                <a:solidFill>
                  <a:srgbClr val="1F2A3A"/>
                </a:solidFill>
                <a:latin typeface="맑은 고딕"/>
                <a:ea typeface="맑은 고딕"/>
                <a:cs typeface="맑은 고딕"/>
              </a:rPr>
              <a:t>어긋나면 정의나 데이터를 고친다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그래프의 관계 조회</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조회 결과와 집계의 대조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예제 그래프에서 관계를 따라 찾은 원래 행과 구성 요소별 채널 수를 맞춰, 질의가 질문에 답하는지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41523"/>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695143"/>
            <a:ext cx="424281" cy="424281"/>
          </a:xfrm>
          <a:prstGeom prst="rect">
            <a:avLst/>
          </a:prstGeom>
        </p:spPr>
      </p:pic>
      <p:sp>
        <p:nvSpPr>
          <p:cNvPr id="9" name="TextBox 8"/>
          <p:cNvSpPr txBox="1"/>
          <p:nvPr/>
        </p:nvSpPr>
        <p:spPr>
          <a:xfrm>
            <a:off x="713232"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입력과 질문</a:t>
            </a:r>
          </a:p>
          <a:p>
            <a:pPr algn="l" eaLnBrk="0" marL="160020" indent="-160020">
              <a:lnSpc>
                <a:spcPct val="110000"/>
              </a:lnSpc>
              <a:spcAft>
                <a:spcPts val="400"/>
              </a:spcAft>
            </a:pPr>
            <a:r>
              <a:rPr sz="1400" b="0">
                <a:solidFill>
                  <a:srgbClr val="1F2A3A"/>
                </a:solidFill>
                <a:latin typeface="맑은 고딕"/>
                <a:ea typeface="맑은 고딕"/>
                <a:cs typeface="맑은 고딕"/>
              </a:rPr>
              <a:t>• 랩 전용 예제 그래프를 읽는다</a:t>
            </a:r>
          </a:p>
          <a:p>
            <a:pPr algn="l" eaLnBrk="0" marL="160020" indent="-160020">
              <a:lnSpc>
                <a:spcPct val="110000"/>
              </a:lnSpc>
              <a:spcAft>
                <a:spcPts val="400"/>
              </a:spcAft>
            </a:pPr>
            <a:r>
              <a:rPr sz="1400" b="0">
                <a:solidFill>
                  <a:srgbClr val="1F2A3A"/>
                </a:solidFill>
                <a:latin typeface="맑은 고딕"/>
                <a:ea typeface="맑은 고딕"/>
                <a:cs typeface="맑은 고딕"/>
              </a:rPr>
              <a:t>• 계측 채널 · 한계 · 교체 부품을 찾는다</a:t>
            </a:r>
          </a:p>
        </p:txBody>
      </p:sp>
      <p:sp>
        <p:nvSpPr>
          <p:cNvPr id="10" name="Rounded Rectangle 9"/>
          <p:cNvSpPr/>
          <p:nvPr/>
        </p:nvSpPr>
        <p:spPr>
          <a:xfrm>
            <a:off x="777240" y="5212588"/>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125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 대상</a:t>
            </a:r>
          </a:p>
        </p:txBody>
      </p:sp>
      <p:sp>
        <p:nvSpPr>
          <p:cNvPr id="12" name="Rounded Rectangle 11"/>
          <p:cNvSpPr/>
          <p:nvPr/>
        </p:nvSpPr>
        <p:spPr>
          <a:xfrm>
            <a:off x="3390823"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41523"/>
            <a:ext cx="731520" cy="731520"/>
          </a:xfrm>
          <a:prstGeom prst="ellipse">
            <a:avLst/>
          </a:prstGeom>
          <a:solidFill>
            <a:srgbClr val="E7F3FD"/>
          </a:solidFill>
          <a:ln>
            <a:noFill/>
          </a:ln>
        </p:spPr>
        <p:txBody>
          <a:bodyPr rtlCol="0" anchor="ctr"/>
          <a:lstStyle/>
          <a:p>
            <a:pPr algn="ctr"/>
          </a:p>
        </p:txBody>
      </p:sp>
      <p:pic>
        <p:nvPicPr>
          <p:cNvPr id="14" name="아이콘:filter" descr="filter_13294B_1.6.png"/>
          <p:cNvPicPr>
            <a:picLocks noChangeAspect="1"/>
          </p:cNvPicPr>
          <p:nvPr/>
        </p:nvPicPr>
        <p:blipFill>
          <a:blip r:embed="rId4"/>
          <a:stretch>
            <a:fillRect/>
          </a:stretch>
        </p:blipFill>
        <p:spPr>
          <a:xfrm>
            <a:off x="3773043" y="2695143"/>
            <a:ext cx="424281" cy="424281"/>
          </a:xfrm>
          <a:prstGeom prst="rect">
            <a:avLst/>
          </a:prstGeom>
        </p:spPr>
      </p:pic>
      <p:sp>
        <p:nvSpPr>
          <p:cNvPr id="15" name="TextBox 14"/>
          <p:cNvSpPr txBox="1"/>
          <p:nvPr/>
        </p:nvSpPr>
        <p:spPr>
          <a:xfrm>
            <a:off x="3555415"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기본 조회</a:t>
            </a:r>
          </a:p>
          <a:p>
            <a:pPr algn="l" eaLnBrk="0" marL="160020" indent="-160020">
              <a:lnSpc>
                <a:spcPct val="110000"/>
              </a:lnSpc>
              <a:spcAft>
                <a:spcPts val="400"/>
              </a:spcAft>
            </a:pPr>
            <a:r>
              <a:rPr sz="1400" b="0">
                <a:solidFill>
                  <a:srgbClr val="1F2A3A"/>
                </a:solidFill>
                <a:latin typeface="맑은 고딕"/>
                <a:ea typeface="맑은 고딕"/>
                <a:cs typeface="맑은 고딕"/>
              </a:rPr>
              <a:t>• 한 단계 · 여러 단계 패턴과 WHERE를 쓴다</a:t>
            </a:r>
          </a:p>
          <a:p>
            <a:pPr algn="l" eaLnBrk="0" marL="160020" indent="-160020">
              <a:lnSpc>
                <a:spcPct val="110000"/>
              </a:lnSpc>
              <a:spcAft>
                <a:spcPts val="400"/>
              </a:spcAft>
            </a:pPr>
            <a:r>
              <a:rPr sz="1400" b="0">
                <a:solidFill>
                  <a:srgbClr val="1F2A3A"/>
                </a:solidFill>
                <a:latin typeface="맑은 고딕"/>
                <a:ea typeface="맑은 고딕"/>
                <a:cs typeface="맑은 고딕"/>
              </a:rPr>
              <a:t>• 값의 표와 연결 그래프를 비교한다</a:t>
            </a:r>
          </a:p>
        </p:txBody>
      </p:sp>
      <p:sp>
        <p:nvSpPr>
          <p:cNvPr id="16" name="Rounded Rectangle 15"/>
          <p:cNvSpPr/>
          <p:nvPr/>
        </p:nvSpPr>
        <p:spPr>
          <a:xfrm>
            <a:off x="3619423" y="521258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1258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기본 결과</a:t>
            </a:r>
          </a:p>
        </p:txBody>
      </p:sp>
      <p:sp>
        <p:nvSpPr>
          <p:cNvPr id="18" name="Rounded Rectangle 17"/>
          <p:cNvSpPr/>
          <p:nvPr/>
        </p:nvSpPr>
        <p:spPr>
          <a:xfrm>
            <a:off x="6233007" y="2340355"/>
            <a:ext cx="2567863" cy="330200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41523"/>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695143"/>
            <a:ext cx="424281" cy="424281"/>
          </a:xfrm>
          <a:prstGeom prst="rect">
            <a:avLst/>
          </a:prstGeom>
        </p:spPr>
      </p:pic>
      <p:sp>
        <p:nvSpPr>
          <p:cNvPr id="21" name="TextBox 20"/>
          <p:cNvSpPr txBox="1"/>
          <p:nvPr/>
        </p:nvSpPr>
        <p:spPr>
          <a:xfrm>
            <a:off x="6397599"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대상별 집계</a:t>
            </a:r>
          </a:p>
          <a:p>
            <a:pPr algn="l" eaLnBrk="0" marL="160020" indent="-160020">
              <a:lnSpc>
                <a:spcPct val="110000"/>
              </a:lnSpc>
              <a:spcAft>
                <a:spcPts val="400"/>
              </a:spcAft>
            </a:pPr>
            <a:r>
              <a:rPr sz="1400" b="0">
                <a:solidFill>
                  <a:srgbClr val="1F2A3A"/>
                </a:solidFill>
                <a:latin typeface="맑은 고딕"/>
                <a:ea typeface="맑은 고딕"/>
                <a:cs typeface="맑은 고딕"/>
              </a:rPr>
              <a:t>• 구성 요소별 채널 수를 구해 정렬한다</a:t>
            </a:r>
          </a:p>
          <a:p>
            <a:pPr algn="l" eaLnBrk="0" marL="160020" indent="-160020">
              <a:lnSpc>
                <a:spcPct val="110000"/>
              </a:lnSpc>
              <a:spcAft>
                <a:spcPts val="400"/>
              </a:spcAft>
            </a:pPr>
            <a:r>
              <a:rPr sz="1400" b="0">
                <a:solidFill>
                  <a:srgbClr val="1F2A3A"/>
                </a:solidFill>
                <a:latin typeface="맑은 고딕"/>
                <a:ea typeface="맑은 고딕"/>
                <a:cs typeface="맑은 고딕"/>
              </a:rPr>
              <a:t>• 손으로 센 수와 대조한다</a:t>
            </a:r>
          </a:p>
        </p:txBody>
      </p:sp>
      <p:sp>
        <p:nvSpPr>
          <p:cNvPr id="22" name="Rounded Rectangle 21"/>
          <p:cNvSpPr/>
          <p:nvPr/>
        </p:nvSpPr>
        <p:spPr>
          <a:xfrm>
            <a:off x="6461607" y="5212588"/>
            <a:ext cx="172212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12588"/>
            <a:ext cx="17221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집계 질의 · 대조표</a:t>
            </a:r>
          </a:p>
        </p:txBody>
      </p:sp>
      <p:sp>
        <p:nvSpPr>
          <p:cNvPr id="24" name="Rounded Rectangle 23"/>
          <p:cNvSpPr/>
          <p:nvPr/>
        </p:nvSpPr>
        <p:spPr>
          <a:xfrm>
            <a:off x="9075191" y="2340355"/>
            <a:ext cx="2567863" cy="330200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41523"/>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695143"/>
            <a:ext cx="424281" cy="424281"/>
          </a:xfrm>
          <a:prstGeom prst="rect">
            <a:avLst/>
          </a:prstGeom>
        </p:spPr>
      </p:pic>
      <p:sp>
        <p:nvSpPr>
          <p:cNvPr id="27" name="TextBox 26"/>
          <p:cNvSpPr txBox="1"/>
          <p:nvPr/>
        </p:nvSpPr>
        <p:spPr>
          <a:xfrm>
            <a:off x="9239783" y="3364483"/>
            <a:ext cx="2238679" cy="1774952"/>
          </a:xfrm>
          <a:prstGeom prst="rect">
            <a:avLst/>
          </a:prstGeom>
          <a:noFill/>
        </p:spPr>
        <p:txBody>
          <a:bodyPr wrap="square" anchor="t"/>
          <a:lstStyle/>
          <a:p>
            <a:pPr algn="l" eaLnBrk="0">
              <a:lnSpc>
                <a:spcPct val="110000"/>
              </a:lnSpc>
              <a:spcAft>
                <a:spcPts val="400"/>
              </a:spcAft>
            </a:pPr>
            <a:r>
              <a:rPr sz="1800" b="1">
                <a:solidFill>
                  <a:srgbClr val="13294B"/>
                </a:solidFill>
                <a:latin typeface="맑은 고딕"/>
                <a:ea typeface="맑은 고딕"/>
                <a:cs typeface="맑은 고딕"/>
              </a:rPr>
              <a:t>성공 기준</a:t>
            </a:r>
          </a:p>
          <a:p>
            <a:pPr algn="l" eaLnBrk="0" marL="160020" indent="-160020">
              <a:lnSpc>
                <a:spcPct val="110000"/>
              </a:lnSpc>
              <a:spcAft>
                <a:spcPts val="400"/>
              </a:spcAft>
            </a:pPr>
            <a:r>
              <a:rPr sz="1400" b="0">
                <a:solidFill>
                  <a:srgbClr val="1F2A3A"/>
                </a:solidFill>
                <a:latin typeface="맑은 고딕"/>
                <a:ea typeface="맑은 고딕"/>
                <a:cs typeface="맑은 고딕"/>
              </a:rPr>
              <a:t>• 질문에 맞는 대상 · 반환 형태</a:t>
            </a:r>
          </a:p>
          <a:p>
            <a:pPr algn="l" eaLnBrk="0" marL="160020" indent="-160020">
              <a:lnSpc>
                <a:spcPct val="110000"/>
              </a:lnSpc>
              <a:spcAft>
                <a:spcPts val="400"/>
              </a:spcAft>
            </a:pPr>
            <a:r>
              <a:rPr sz="1400" b="0">
                <a:solidFill>
                  <a:srgbClr val="1F2A3A"/>
                </a:solidFill>
                <a:latin typeface="맑은 고딕"/>
                <a:ea typeface="맑은 고딕"/>
                <a:cs typeface="맑은 고딕"/>
              </a:rPr>
              <a:t>• 원래 행과 집계 수 일치</a:t>
            </a:r>
          </a:p>
          <a:p>
            <a:pPr algn="l" eaLnBrk="0" marL="160020" indent="-160020">
              <a:lnSpc>
                <a:spcPct val="110000"/>
              </a:lnSpc>
              <a:spcAft>
                <a:spcPts val="400"/>
              </a:spcAft>
            </a:pPr>
            <a:r>
              <a:rPr sz="1400" b="0">
                <a:solidFill>
                  <a:srgbClr val="1F2A3A"/>
                </a:solidFill>
                <a:latin typeface="맑은 고딕"/>
                <a:ea typeface="맑은 고딕"/>
                <a:cs typeface="맑은 고딕"/>
              </a:rPr>
              <a:t>• 질의 · 결과 · 사용한 DB 기록</a:t>
            </a:r>
          </a:p>
        </p:txBody>
      </p:sp>
      <p:sp>
        <p:nvSpPr>
          <p:cNvPr id="28" name="Rounded Rectangle 27"/>
          <p:cNvSpPr/>
          <p:nvPr/>
        </p:nvSpPr>
        <p:spPr>
          <a:xfrm>
            <a:off x="9303791" y="5212588"/>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1258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기준 지식의 연결 탐색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기준 지식에서 확인할 구조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포털 지식 지도에서 설비에 이어진 대상을 따라가며, 클래스 · 속성 · 관계 방향이 실제로 쓰인 모습을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engine" descr="engine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목표 · 입력</a:t>
            </a:r>
          </a:p>
          <a:p>
            <a:pPr algn="l" eaLnBrk="0" marL="182880" indent="-182880">
              <a:lnSpc>
                <a:spcPct val="110000"/>
              </a:lnSpc>
              <a:spcAft>
                <a:spcPts val="400"/>
              </a:spcAft>
            </a:pPr>
            <a:r>
              <a:rPr sz="1600" b="0">
                <a:solidFill>
                  <a:srgbClr val="1F2A3A"/>
                </a:solidFill>
                <a:latin typeface="맑은 고딕"/>
                <a:ea typeface="맑은 고딕"/>
                <a:cs typeface="맑은 고딕"/>
              </a:rPr>
              <a:t>• 지식 지도에서 HYD-01을 골라 구성 요소 · 센서 · 고장 유형으로 따라간다</a:t>
            </a:r>
          </a:p>
          <a:p>
            <a:pPr algn="l" eaLnBrk="0" marL="182880" indent="-182880">
              <a:lnSpc>
                <a:spcPct val="110000"/>
              </a:lnSpc>
              <a:spcAft>
                <a:spcPts val="400"/>
              </a:spcAft>
            </a:pPr>
            <a:r>
              <a:rPr sz="1600" b="0">
                <a:solidFill>
                  <a:srgbClr val="1F2A3A"/>
                </a:solidFill>
                <a:latin typeface="맑은 고딕"/>
                <a:ea typeface="맑은 고딕"/>
                <a:cs typeface="맑은 고딕"/>
              </a:rPr>
              <a:t>• 입력: HYD의 기준 지식</a:t>
            </a:r>
          </a:p>
        </p:txBody>
      </p:sp>
      <p:sp>
        <p:nvSpPr>
          <p:cNvPr id="10" name="Rounded Rectangle 9"/>
          <p:cNvSpPr/>
          <p:nvPr/>
        </p:nvSpPr>
        <p:spPr>
          <a:xfrm>
            <a:off x="777240" y="5429504"/>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설비에서 출발</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범위</a:t>
            </a:r>
          </a:p>
          <a:p>
            <a:pPr algn="l" eaLnBrk="0" marL="182880" indent="-182880">
              <a:lnSpc>
                <a:spcPct val="110000"/>
              </a:lnSpc>
              <a:spcAft>
                <a:spcPts val="400"/>
              </a:spcAft>
            </a:pPr>
            <a:r>
              <a:rPr sz="1600" b="0">
                <a:solidFill>
                  <a:srgbClr val="1F2A3A"/>
                </a:solidFill>
                <a:latin typeface="맑은 고딕"/>
                <a:ea typeface="맑은 고딕"/>
                <a:cs typeface="맑은 고딕"/>
              </a:rPr>
              <a:t>• 항목의 클래스와 속성을 확인한다</a:t>
            </a:r>
          </a:p>
          <a:p>
            <a:pPr algn="l" eaLnBrk="0" marL="182880" indent="-182880">
              <a:lnSpc>
                <a:spcPct val="110000"/>
              </a:lnSpc>
              <a:spcAft>
                <a:spcPts val="400"/>
              </a:spcAft>
            </a:pPr>
            <a:r>
              <a:rPr sz="1600" b="0">
                <a:solidFill>
                  <a:srgbClr val="1F2A3A"/>
                </a:solidFill>
                <a:latin typeface="맑은 고딕"/>
                <a:ea typeface="맑은 고딕"/>
                <a:cs typeface="맑은 고딕"/>
              </a:rPr>
              <a:t>• 나가는 관계와 들어오는 관계를 구분한다</a:t>
            </a:r>
          </a:p>
          <a:p>
            <a:pPr algn="l" eaLnBrk="0" marL="182880" indent="-182880">
              <a:lnSpc>
                <a:spcPct val="110000"/>
              </a:lnSpc>
              <a:spcAft>
                <a:spcPts val="400"/>
              </a:spcAft>
            </a:pPr>
            <a:r>
              <a:rPr sz="1600" b="0">
                <a:solidFill>
                  <a:srgbClr val="1F2A3A"/>
                </a:solidFill>
                <a:latin typeface="맑은 고딕"/>
                <a:ea typeface="맑은 고딕"/>
                <a:cs typeface="맑은 고딕"/>
              </a:rPr>
              <a:t>• 실습 1의 랩 그래프와 기준 지식은 서로 다른 환경이다</a:t>
            </a:r>
          </a:p>
        </p:txBody>
      </p:sp>
      <p:sp>
        <p:nvSpPr>
          <p:cNvPr id="16" name="Rounded Rectangle 15"/>
          <p:cNvSpPr/>
          <p:nvPr/>
        </p:nvSpPr>
        <p:spPr>
          <a:xfrm>
            <a:off x="4566818" y="5429504"/>
            <a:ext cx="192024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클래스 · 속성 · 방향</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산출물 · 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확인한 클래스 · 속성 · 관계를 적은 탐색 기록</a:t>
            </a:r>
          </a:p>
          <a:p>
            <a:pPr algn="l" eaLnBrk="0" marL="182880" indent="-182880">
              <a:lnSpc>
                <a:spcPct val="110000"/>
              </a:lnSpc>
              <a:spcAft>
                <a:spcPts val="400"/>
              </a:spcAft>
            </a:pPr>
            <a:r>
              <a:rPr sz="1600" b="0">
                <a:solidFill>
                  <a:srgbClr val="1F2A3A"/>
                </a:solidFill>
                <a:latin typeface="맑은 고딕"/>
                <a:ea typeface="맑은 고딕"/>
                <a:cs typeface="맑은 고딕"/>
              </a:rPr>
              <a:t>• 출발 대상과 도착 대상이 질문에 맞는다</a:t>
            </a:r>
          </a:p>
        </p:txBody>
      </p:sp>
      <p:sp>
        <p:nvSpPr>
          <p:cNvPr id="22" name="Rounded Rectangle 21"/>
          <p:cNvSpPr/>
          <p:nvPr/>
        </p:nvSpPr>
        <p:spPr>
          <a:xfrm>
            <a:off x="8356396" y="5429504"/>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탐색 기록</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온톨로지 설계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스키마 · 인스턴스의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현장 자료로 답할 질문을 정해 스키마 파일과 예시 인스턴스 데이터를 만들고, 자료의 뜻과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스키마 파일</a:t>
            </a:r>
          </a:p>
          <a:p>
            <a:pPr algn="l" eaLnBrk="0" marL="205740" indent="-205740">
              <a:lnSpc>
                <a:spcPct val="110000"/>
              </a:lnSpc>
              <a:spcAft>
                <a:spcPts val="400"/>
              </a:spcAft>
            </a:pPr>
            <a:r>
              <a:rPr sz="1800" b="0">
                <a:solidFill>
                  <a:srgbClr val="1F2A3A"/>
                </a:solidFill>
                <a:latin typeface="맑은 고딕"/>
                <a:ea typeface="맑은 고딕"/>
                <a:cs typeface="맑은 고딕"/>
              </a:rPr>
              <a:t>• 클래스 · 속성 · 자료형 · 필수값 · 식별자</a:t>
            </a:r>
          </a:p>
          <a:p>
            <a:pPr algn="l" eaLnBrk="0" marL="205740" indent="-205740">
              <a:lnSpc>
                <a:spcPct val="110000"/>
              </a:lnSpc>
              <a:spcAft>
                <a:spcPts val="400"/>
              </a:spcAft>
            </a:pPr>
            <a:r>
              <a:rPr sz="1800" b="0">
                <a:solidFill>
                  <a:srgbClr val="1F2A3A"/>
                </a:solidFill>
                <a:latin typeface="맑은 고딕"/>
                <a:ea typeface="맑은 고딕"/>
                <a:cs typeface="맑은 고딕"/>
              </a:rPr>
              <a:t>• 관계의 유형 · 방향 · 끝점 · 카디널리티</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list-details" descr="list-details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예시 인스턴스 데이터</a:t>
            </a:r>
          </a:p>
          <a:p>
            <a:pPr algn="l" eaLnBrk="0" marL="205740" indent="-205740">
              <a:lnSpc>
                <a:spcPct val="110000"/>
              </a:lnSpc>
              <a:spcAft>
                <a:spcPts val="400"/>
              </a:spcAft>
            </a:pPr>
            <a:r>
              <a:rPr sz="1800" b="0">
                <a:solidFill>
                  <a:srgbClr val="1F2A3A"/>
                </a:solidFill>
                <a:latin typeface="맑은 고딕"/>
                <a:ea typeface="맑은 고딕"/>
                <a:cs typeface="맑은 고딕"/>
              </a:rPr>
              <a:t>• 자료에 나오는 대상을 인스턴스로 적고</a:t>
            </a:r>
          </a:p>
          <a:p>
            <a:pPr algn="l" eaLnBrk="0" marL="205740" indent="-205740">
              <a:lnSpc>
                <a:spcPct val="110000"/>
              </a:lnSpc>
              <a:spcAft>
                <a:spcPts val="400"/>
              </a:spcAft>
            </a:pPr>
            <a:r>
              <a:rPr sz="1800" b="0">
                <a:solidFill>
                  <a:srgbClr val="1F2A3A"/>
                </a:solidFill>
                <a:latin typeface="맑은 고딕"/>
                <a:ea typeface="맑은 고딕"/>
                <a:cs typeface="맑은 고딕"/>
              </a:rPr>
              <a:t>• 정의한 관계로 잇는다</a:t>
            </a:r>
          </a:p>
        </p:txBody>
      </p:sp>
      <p:sp>
        <p:nvSpPr>
          <p:cNvPr id="16" name="Rounded Rectangle 15"/>
          <p:cNvSpPr/>
          <p:nvPr/>
        </p:nvSpPr>
        <p:spPr>
          <a:xfrm>
            <a:off x="4566818" y="539851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실제 대상</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성공 기준</a:t>
            </a:r>
          </a:p>
          <a:p>
            <a:pPr algn="l" eaLnBrk="0" marL="205740" indent="-205740">
              <a:lnSpc>
                <a:spcPct val="110000"/>
              </a:lnSpc>
              <a:spcAft>
                <a:spcPts val="400"/>
              </a:spcAft>
            </a:pPr>
            <a:r>
              <a:rPr sz="1800" b="0">
                <a:solidFill>
                  <a:srgbClr val="1F2A3A"/>
                </a:solidFill>
                <a:latin typeface="맑은 고딕"/>
                <a:ea typeface="맑은 고딕"/>
                <a:cs typeface="맑은 고딕"/>
              </a:rPr>
              <a:t>• 고유 id · 필수값 · 관계 방향이 정의에 맞는다</a:t>
            </a:r>
          </a:p>
          <a:p>
            <a:pPr algn="l" eaLnBrk="0" marL="205740" indent="-205740">
              <a:lnSpc>
                <a:spcPct val="110000"/>
              </a:lnSpc>
              <a:spcAft>
                <a:spcPts val="400"/>
              </a:spcAft>
            </a:pPr>
            <a:r>
              <a:rPr sz="1800" b="0">
                <a:solidFill>
                  <a:srgbClr val="1F2A3A"/>
                </a:solidFill>
                <a:latin typeface="맑은 고딕"/>
                <a:ea typeface="맑은 고딕"/>
                <a:cs typeface="맑은 고딕"/>
              </a:rPr>
              <a:t>• 공유 부품과 한 구성 요소의 여러 센서가 빠짐없이 이어진다</a:t>
            </a:r>
          </a:p>
        </p:txBody>
      </p:sp>
      <p:sp>
        <p:nvSpPr>
          <p:cNvPr id="22" name="Rounded Rectangle 21"/>
          <p:cNvSpPr/>
          <p:nvPr/>
        </p:nvSpPr>
        <p:spPr>
          <a:xfrm>
            <a:off x="8356396" y="539851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자료와 대조</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그래프 구현과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저장된 그래프와 의미 검증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저장된 관계가 스키마에 맞아도 이은 대상이 틀릴 수 있어, 현장 자료와 조회 결과를 함께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구현 결과</a:t>
            </a:r>
          </a:p>
          <a:p>
            <a:pPr algn="l" eaLnBrk="0" marL="182880" indent="-182880">
              <a:lnSpc>
                <a:spcPct val="110000"/>
              </a:lnSpc>
              <a:spcAft>
                <a:spcPts val="400"/>
              </a:spcAft>
            </a:pPr>
            <a:r>
              <a:rPr sz="1600" b="0">
                <a:solidFill>
                  <a:srgbClr val="1F2A3A"/>
                </a:solidFill>
                <a:latin typeface="맑은 고딕"/>
                <a:ea typeface="맑은 고딕"/>
                <a:cs typeface="맑은 고딕"/>
              </a:rPr>
              <a:t>• 설계한 스키마와 인스턴스를 Cypher로 옮긴다</a:t>
            </a:r>
          </a:p>
          <a:p>
            <a:pPr algn="l" eaLnBrk="0" marL="182880" indent="-182880">
              <a:lnSpc>
                <a:spcPct val="110000"/>
              </a:lnSpc>
              <a:spcAft>
                <a:spcPts val="400"/>
              </a:spcAft>
            </a:pPr>
            <a:r>
              <a:rPr sz="1600" b="0">
                <a:solidFill>
                  <a:srgbClr val="1F2A3A"/>
                </a:solidFill>
                <a:latin typeface="맑은 고딕"/>
                <a:ea typeface="맑은 고딕"/>
                <a:cs typeface="맑은 고딕"/>
              </a:rPr>
              <a:t>• 생성 질의 · 저장된 그래프를 남긴다</a:t>
            </a:r>
          </a:p>
        </p:txBody>
      </p:sp>
      <p:sp>
        <p:nvSpPr>
          <p:cNvPr id="10" name="Rounded Rectangle 9"/>
          <p:cNvSpPr/>
          <p:nvPr/>
        </p:nvSpPr>
        <p:spPr>
          <a:xfrm>
            <a:off x="777240" y="5429504"/>
            <a:ext cx="1630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설계에서 저장으로</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topology-star-3" descr="topology-star-3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자료와 연결 대조</a:t>
            </a:r>
          </a:p>
          <a:p>
            <a:pPr algn="l" eaLnBrk="0" marL="182880" indent="-182880">
              <a:lnSpc>
                <a:spcPct val="110000"/>
              </a:lnSpc>
              <a:spcAft>
                <a:spcPts val="400"/>
              </a:spcAft>
            </a:pPr>
            <a:r>
              <a:rPr sz="1600" b="0">
                <a:solidFill>
                  <a:srgbClr val="1F2A3A"/>
                </a:solidFill>
                <a:latin typeface="맑은 고딕"/>
                <a:ea typeface="맑은 고딕"/>
                <a:cs typeface="맑은 고딕"/>
              </a:rPr>
              <a:t>• 설비 ID · 센서 태그를 함께 확인한다</a:t>
            </a:r>
          </a:p>
          <a:p>
            <a:pPr algn="l" eaLnBrk="0" marL="182880" indent="-182880">
              <a:lnSpc>
                <a:spcPct val="110000"/>
              </a:lnSpc>
              <a:spcAft>
                <a:spcPts val="400"/>
              </a:spcAft>
            </a:pPr>
            <a:r>
              <a:rPr sz="1600" b="0">
                <a:solidFill>
                  <a:srgbClr val="1F2A3A"/>
                </a:solidFill>
                <a:latin typeface="맑은 고딕"/>
                <a:ea typeface="맑은 고딕"/>
                <a:cs typeface="맑은 고딕"/>
              </a:rPr>
              <a:t>• 계측 대상 · 단위를 자료와 대조한다</a:t>
            </a:r>
          </a:p>
          <a:p>
            <a:pPr algn="l" eaLnBrk="0" marL="182880" indent="-182880">
              <a:lnSpc>
                <a:spcPct val="110000"/>
              </a:lnSpc>
              <a:spcAft>
                <a:spcPts val="400"/>
              </a:spcAft>
            </a:pPr>
            <a:r>
              <a:rPr sz="1600" b="0">
                <a:solidFill>
                  <a:srgbClr val="1F2A3A"/>
                </a:solidFill>
                <a:latin typeface="맑은 고딕"/>
                <a:ea typeface="맑은 고딕"/>
                <a:cs typeface="맑은 고딕"/>
              </a:rPr>
              <a:t>• 클래스가 맞아도 실제 대상은 다를 수 있다</a:t>
            </a:r>
          </a:p>
        </p:txBody>
      </p:sp>
      <p:sp>
        <p:nvSpPr>
          <p:cNvPr id="16" name="Rounded Rectangle 15"/>
          <p:cNvSpPr/>
          <p:nvPr/>
        </p:nvSpPr>
        <p:spPr>
          <a:xfrm>
            <a:off x="4566818" y="5429504"/>
            <a:ext cx="15239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대상과 의미 확인</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성공 기준</a:t>
            </a:r>
          </a:p>
          <a:p>
            <a:pPr algn="l" eaLnBrk="0" marL="182880" indent="-182880">
              <a:lnSpc>
                <a:spcPct val="110000"/>
              </a:lnSpc>
              <a:spcAft>
                <a:spcPts val="400"/>
              </a:spcAft>
            </a:pPr>
            <a:r>
              <a:rPr sz="1600" b="0">
                <a:solidFill>
                  <a:srgbClr val="1F2A3A"/>
                </a:solidFill>
                <a:latin typeface="맑은 고딕"/>
                <a:ea typeface="맑은 고딕"/>
                <a:cs typeface="맑은 고딕"/>
              </a:rPr>
              <a:t>• 잘못된 연결은 근거로 고친다</a:t>
            </a:r>
          </a:p>
          <a:p>
            <a:pPr algn="l" eaLnBrk="0" marL="182880" indent="-182880">
              <a:lnSpc>
                <a:spcPct val="110000"/>
              </a:lnSpc>
              <a:spcAft>
                <a:spcPts val="400"/>
              </a:spcAft>
            </a:pPr>
            <a:r>
              <a:rPr sz="1600" b="0">
                <a:solidFill>
                  <a:srgbClr val="1F2A3A"/>
                </a:solidFill>
                <a:latin typeface="맑은 고딕"/>
                <a:ea typeface="맑은 고딕"/>
                <a:cs typeface="맑은 고딕"/>
              </a:rPr>
              <a:t>• 세 질문의 답이 자료와 맞는다</a:t>
            </a:r>
          </a:p>
          <a:p>
            <a:pPr algn="l" eaLnBrk="0" marL="182880" indent="-182880">
              <a:lnSpc>
                <a:spcPct val="110000"/>
              </a:lnSpc>
              <a:spcAft>
                <a:spcPts val="400"/>
              </a:spcAft>
            </a:pPr>
            <a:r>
              <a:rPr sz="1600" b="0">
                <a:solidFill>
                  <a:srgbClr val="1F2A3A"/>
                </a:solidFill>
                <a:latin typeface="맑은 고딕"/>
                <a:ea typeface="맑은 고딕"/>
                <a:cs typeface="맑은 고딕"/>
              </a:rPr>
              <a:t>• 다시 적재해도 수가 같다</a:t>
            </a:r>
          </a:p>
          <a:p>
            <a:pPr algn="l" eaLnBrk="0" marL="182880" indent="-182880">
              <a:lnSpc>
                <a:spcPct val="110000"/>
              </a:lnSpc>
              <a:spcAft>
                <a:spcPts val="400"/>
              </a:spcAft>
            </a:pPr>
            <a:r>
              <a:rPr sz="1600" b="0">
                <a:solidFill>
                  <a:srgbClr val="1F2A3A"/>
                </a:solidFill>
                <a:latin typeface="맑은 고딕"/>
                <a:ea typeface="맑은 고딕"/>
                <a:cs typeface="맑은 고딕"/>
              </a:rPr>
              <a:t>• 중복 · 끝점 검사 근거를 남긴다</a:t>
            </a:r>
          </a:p>
        </p:txBody>
      </p:sp>
      <p:sp>
        <p:nvSpPr>
          <p:cNvPr id="22" name="Rounded Rectangle 21"/>
          <p:cNvSpPr/>
          <p:nvPr/>
        </p:nvSpPr>
        <p:spPr>
          <a:xfrm>
            <a:off x="8356396" y="5429504"/>
            <a:ext cx="192024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조회 결과 · 검증 기록</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작업 절차의 단계와 수행 조건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경보의 조치 후보 넷을 단계 · 전제 · 안전 · 금지 조건으로 나누어 읽는다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하나에 걸린 조치 후보 넷</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원인을 핀 오염으로 가려도 쓸 수 있는 조치는 넷이어서, 생산 영향과 지금 해도 되는지를 따로 따져야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pic>
        <p:nvPicPr>
          <p:cNvPr id="6" name="삽화:조치후보_전체.svg" descr="illust_9084809507953500135_179274015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핀 오염</a:t>
            </a:r>
          </a:p>
          <a:p>
            <a:pPr algn="ctr" eaLnBrk="0">
              <a:lnSpc>
                <a:spcPct val="110000"/>
              </a:lnSpc>
              <a:spcAft>
                <a:spcPts val="100"/>
              </a:spcAft>
            </a:pPr>
            <a:r>
              <a:rPr sz="1300" b="0">
                <a:solidFill>
                  <a:srgbClr val="556175"/>
                </a:solidFill>
                <a:latin typeface="맑은 고딕"/>
                <a:ea typeface="맑은 고딕"/>
                <a:cs typeface="맑은 고딕"/>
              </a:rPr>
              <a:t>증거로 가린 원인</a:t>
            </a:r>
          </a:p>
        </p:txBody>
      </p:sp>
      <p:sp>
        <p:nvSpPr>
          <p:cNvPr id="8" name="TextBox 7"/>
          <p:cNvSpPr txBox="1"/>
          <p:nvPr/>
        </p:nvSpPr>
        <p:spPr>
          <a:xfrm>
            <a:off x="3073917" y="4747747"/>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냉각 성능 상실</a:t>
            </a:r>
          </a:p>
          <a:p>
            <a:pPr algn="ctr" eaLnBrk="0">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550483" y="2076739"/>
            <a:ext cx="294556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a:t>
            </a:r>
          </a:p>
          <a:p>
            <a:pPr algn="ctr" eaLnBrk="0">
              <a:lnSpc>
                <a:spcPct val="110000"/>
              </a:lnSpc>
              <a:spcAft>
                <a:spcPts val="100"/>
              </a:spcAft>
            </a:pPr>
            <a:r>
              <a:rPr sz="1300" b="0">
                <a:solidFill>
                  <a:srgbClr val="556175"/>
                </a:solidFill>
                <a:latin typeface="맑은 고딕"/>
                <a:ea typeface="맑은 고딕"/>
                <a:cs typeface="맑은 고딕"/>
              </a:rPr>
              <a:t>SOP-COOL-11 · 생산 유지</a:t>
            </a:r>
          </a:p>
        </p:txBody>
      </p:sp>
      <p:sp>
        <p:nvSpPr>
          <p:cNvPr id="10" name="TextBox 9"/>
          <p:cNvSpPr txBox="1"/>
          <p:nvPr/>
        </p:nvSpPr>
        <p:spPr>
          <a:xfrm>
            <a:off x="8550483" y="3234964"/>
            <a:ext cx="294556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팬 최대 운전과 부하 80 %</a:t>
            </a:r>
          </a:p>
          <a:p>
            <a:pPr algn="ctr" eaLnBrk="0">
              <a:lnSpc>
                <a:spcPct val="110000"/>
              </a:lnSpc>
              <a:spcAft>
                <a:spcPts val="100"/>
              </a:spcAft>
            </a:pPr>
            <a:r>
              <a:rPr sz="1300" b="0">
                <a:solidFill>
                  <a:srgbClr val="556175"/>
                </a:solidFill>
                <a:latin typeface="맑은 고딕"/>
                <a:ea typeface="맑은 고딕"/>
                <a:cs typeface="맑은 고딕"/>
              </a:rPr>
              <a:t>SOP-COOL-12 · 생산 감소</a:t>
            </a:r>
          </a:p>
        </p:txBody>
      </p:sp>
      <p:sp>
        <p:nvSpPr>
          <p:cNvPr id="11" name="TextBox 10"/>
          <p:cNvSpPr txBox="1"/>
          <p:nvPr/>
        </p:nvSpPr>
        <p:spPr>
          <a:xfrm>
            <a:off x="8550483" y="4402643"/>
            <a:ext cx="294556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부하 70 %와 야간 핀 세척</a:t>
            </a:r>
          </a:p>
          <a:p>
            <a:pPr algn="ctr" eaLnBrk="0">
              <a:lnSpc>
                <a:spcPct val="110000"/>
              </a:lnSpc>
              <a:spcAft>
                <a:spcPts val="100"/>
              </a:spcAft>
            </a:pPr>
            <a:r>
              <a:rPr sz="1300" b="0">
                <a:solidFill>
                  <a:srgbClr val="556175"/>
                </a:solidFill>
                <a:latin typeface="맑은 고딕"/>
                <a:ea typeface="맑은 고딕"/>
                <a:cs typeface="맑은 고딕"/>
              </a:rPr>
              <a:t>SOP-COOL-13 · 생산 감소</a:t>
            </a:r>
          </a:p>
        </p:txBody>
      </p:sp>
      <p:sp>
        <p:nvSpPr>
          <p:cNvPr id="12" name="TextBox 11"/>
          <p:cNvSpPr txBox="1"/>
          <p:nvPr/>
        </p:nvSpPr>
        <p:spPr>
          <a:xfrm>
            <a:off x="8550483" y="5565596"/>
            <a:ext cx="2945563"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핀 세척</a:t>
            </a:r>
          </a:p>
          <a:p>
            <a:pPr algn="ctr" eaLnBrk="0">
              <a:lnSpc>
                <a:spcPct val="110000"/>
              </a:lnSpc>
              <a:spcAft>
                <a:spcPts val="100"/>
              </a:spcAft>
            </a:pPr>
            <a:r>
              <a:rPr sz="1300" b="0">
                <a:solidFill>
                  <a:srgbClr val="556175"/>
                </a:solidFill>
                <a:latin typeface="맑은 고딕"/>
                <a:ea typeface="맑은 고딕"/>
                <a:cs typeface="맑은 고딕"/>
              </a:rPr>
              <a:t>SOP-COOL-14 · 정비 동안 정지</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 원문에서 순서와 조건 가려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SOP는 번호 붙은 순서 문장과, 그 순서를 언제 시작하고 무엇을 하지 않을지 정한 조건 문장으로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발췌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eaLnBrk="0">
              <a:lnSpc>
                <a:spcPct val="110000"/>
              </a:lnSpc>
              <a:spcAft>
                <a:spcPts val="200"/>
              </a:spcAft>
            </a:pPr>
            <a:r>
              <a:rPr sz="1300" b="0">
                <a:solidFill>
                  <a:srgbClr val="E8EEF6"/>
                </a:solidFill>
                <a:latin typeface="Consolas"/>
                <a:ea typeface="맑은 고딕"/>
                <a:cs typeface="맑은 고딕"/>
              </a:rPr>
              <a:t>1. PLC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모드가</a:t>
            </a:r>
            <a:r>
              <a:rPr sz="1300" b="0">
                <a:solidFill>
                  <a:srgbClr val="E8EEF6"/>
                </a:solidFill>
                <a:latin typeface="Consolas"/>
                <a:ea typeface="맑은 고딕"/>
                <a:cs typeface="맑은 고딕"/>
              </a:rPr>
              <a:t> REMOTE_AUTO</a:t>
            </a:r>
            <a:r>
              <a:rPr sz="1300" b="0">
                <a:solidFill>
                  <a:srgbClr val="E8EEF6"/>
                </a:solidFill>
                <a:latin typeface="맑은 고딕"/>
                <a:ea typeface="맑은 고딕"/>
                <a:cs typeface="맑은 고딕"/>
              </a:rPr>
              <a:t>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속도를</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연속</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이내</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3. 15</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재관측으로</a:t>
            </a: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HM-8.7 (</a:t>
            </a:r>
            <a:r>
              <a:rPr sz="1300" b="0">
                <a:solidFill>
                  <a:srgbClr val="E8EEF6"/>
                </a:solidFill>
                <a:latin typeface="맑은 고딕"/>
                <a:ea typeface="맑은 고딕"/>
                <a:cs typeface="맑은 고딕"/>
              </a:rPr>
              <a:t>발췌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설비보전팀장이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SOP-COOL-14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세척</a:t>
            </a:r>
          </a:p>
          <a:p>
            <a:pPr algn="l" eaLnBrk="0">
              <a:lnSpc>
                <a:spcPct val="110000"/>
              </a:lnSpc>
              <a:spcAft>
                <a:spcPts val="200"/>
              </a:spcAft>
            </a:pPr>
            <a:r>
              <a:rPr sz="1300" b="0">
                <a:solidFill>
                  <a:srgbClr val="E8EEF6"/>
                </a:solidFill>
                <a:latin typeface="Consolas"/>
                <a:ea typeface="맑은 고딕"/>
                <a:cs typeface="맑은 고딕"/>
              </a:rPr>
              <a:t>1. </a:t>
            </a:r>
            <a:r>
              <a:rPr sz="1300" b="0">
                <a:solidFill>
                  <a:srgbClr val="E8EEF6"/>
                </a:solidFill>
                <a:latin typeface="맑은 고딕"/>
                <a:ea typeface="맑은 고딕"/>
                <a:cs typeface="맑은 고딕"/>
              </a:rPr>
              <a:t>설비를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정지하고</a:t>
            </a:r>
            <a:r>
              <a:rPr sz="1300" b="0">
                <a:solidFill>
                  <a:srgbClr val="E8EEF6"/>
                </a:solidFill>
                <a:latin typeface="Consolas"/>
                <a:ea typeface="맑은 고딕"/>
                <a:cs typeface="맑은 고딕"/>
              </a:rPr>
              <a:t> LOCAL</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전환한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잠금</a:t>
            </a:r>
            <a:r>
              <a:rPr sz="1300" b="0">
                <a:solidFill>
                  <a:srgbClr val="E8EEF6"/>
                </a:solidFill>
                <a:latin typeface="Consolas"/>
                <a:ea typeface="맑은 고딕"/>
                <a:cs typeface="맑은 고딕"/>
              </a:rPr>
              <a:t>(LOTO)</a:t>
            </a:r>
            <a:r>
              <a:rPr sz="1300" b="0">
                <a:solidFill>
                  <a:srgbClr val="E8EEF6"/>
                </a:solidFill>
                <a:latin typeface="맑은 고딕"/>
                <a:ea typeface="맑은 고딕"/>
                <a:cs typeface="맑은 고딕"/>
              </a:rPr>
              <a:t>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2. </a:t>
            </a:r>
            <a:r>
              <a:rPr sz="1300" b="0">
                <a:solidFill>
                  <a:srgbClr val="E8EEF6"/>
                </a:solidFill>
                <a:latin typeface="맑은 고딕"/>
                <a:ea typeface="맑은 고딕"/>
                <a:cs typeface="맑은 고딕"/>
              </a:rPr>
              <a:t>압축공기로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세척한다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고압수는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재가동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CE 80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SOP(Standard Operating Procedure)</a:t>
            </a:r>
          </a:p>
          <a:p>
            <a:pPr algn="l" eaLnBrk="0">
              <a:lnSpc>
                <a:spcPct val="110000"/>
              </a:lnSpc>
              <a:spcAft>
                <a:spcPts val="400"/>
              </a:spcAft>
            </a:pPr>
            <a:r>
              <a:rPr sz="1400" b="0">
                <a:solidFill>
                  <a:srgbClr val="1F2A3A"/>
                </a:solidFill>
                <a:latin typeface="맑은 고딕"/>
                <a:ea typeface="맑은 고딕"/>
                <a:cs typeface="맑은 고딕"/>
              </a:rPr>
              <a:t>표준 작업 절차. 누가 해도 같은 순서 · 같은 확인으로 끝나게 한다.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순서 문장</a:t>
            </a:r>
          </a:p>
          <a:p>
            <a:pPr algn="l" eaLnBrk="0">
              <a:lnSpc>
                <a:spcPct val="110000"/>
              </a:lnSpc>
              <a:spcAft>
                <a:spcPts val="400"/>
              </a:spcAft>
            </a:pPr>
            <a:r>
              <a:rPr sz="1400" b="0">
                <a:solidFill>
                  <a:srgbClr val="1F2A3A"/>
                </a:solidFill>
                <a:latin typeface="맑은 고딕"/>
                <a:ea typeface="맑은 고딕"/>
                <a:cs typeface="맑은 고딕"/>
              </a:rPr>
              <a:t>번호 붙은 단계. 무엇을 어떤 차례로 하는가.</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조건 문장</a:t>
            </a:r>
          </a:p>
          <a:p>
            <a:pPr algn="l" eaLnBrk="0">
              <a:lnSpc>
                <a:spcPct val="110000"/>
              </a:lnSpc>
              <a:spcAft>
                <a:spcPts val="400"/>
              </a:spcAft>
            </a:pPr>
            <a:r>
              <a:rPr sz="1400" b="0">
                <a:solidFill>
                  <a:srgbClr val="1F2A3A"/>
                </a:solidFill>
                <a:latin typeface="맑은 고딕"/>
                <a:ea typeface="맑은 고딕"/>
                <a:cs typeface="맑은 고딕"/>
              </a:rPr>
              <a:t>절 머리와 단계 속의 전제 · 제한 · 금지. 언제 해도 되고 무엇을 하면 안 되는가.</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절차 번호</a:t>
            </a:r>
          </a:p>
          <a:p>
            <a:pPr algn="l" eaLnBrk="0">
              <a:lnSpc>
                <a:spcPct val="110000"/>
              </a:lnSpc>
              <a:spcAft>
                <a:spcPts val="400"/>
              </a:spcAft>
            </a:pPr>
            <a:r>
              <a:rPr sz="1400" b="0">
                <a:solidFill>
                  <a:srgbClr val="1F2A3A"/>
                </a:solidFill>
                <a:latin typeface="맑은 고딕"/>
                <a:ea typeface="맑은 고딕"/>
                <a:cs typeface="맑은 고딕"/>
              </a:rPr>
              <a:t>추천 · 승인 · 작업 기록이 같은 절차를 가리키는 식별자.</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SOP의 여덟 구성요소와 작업자의 물음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SOP의 여덟 구성요소는 작업자가 시작 전 · 작업 중 · 끝낼 때 던지는 물음에 하나씩 답한다.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HM-8 원문 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작업자의 물음</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적용 대상</a:t>
            </a:r>
          </a:p>
        </p:txBody>
      </p:sp>
      <p:sp>
        <p:nvSpPr>
          <p:cNvPr id="12" name="TextBox 11"/>
          <p:cNvSpPr txBox="1"/>
          <p:nvPr/>
        </p:nvSpPr>
        <p:spPr>
          <a:xfrm>
            <a:off x="3200400" y="2029968"/>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「쿨러 냉각 성능 상실은 오일 쿨러에서 생기는 고장이며 …」 HM-8.4</a:t>
            </a:r>
          </a:p>
        </p:txBody>
      </p:sp>
      <p:sp>
        <p:nvSpPr>
          <p:cNvPr id="13" name="TextBox 12"/>
          <p:cNvSpPr txBox="1"/>
          <p:nvPr/>
        </p:nvSpPr>
        <p:spPr>
          <a:xfrm>
            <a:off x="9448495" y="2029968"/>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 고장에 맞는</a:t>
            </a:r>
          </a:p>
          <a:p>
            <a:pPr algn="l" eaLnBrk="0">
              <a:lnSpc>
                <a:spcPct val="110000"/>
              </a:lnSpc>
            </a:pPr>
            <a:r>
              <a:rPr sz="1250" b="1">
                <a:solidFill>
                  <a:srgbClr val="556175"/>
                </a:solidFill>
                <a:latin typeface="맑은 고딕"/>
                <a:ea typeface="맑은 고딕"/>
                <a:cs typeface="맑은 고딕"/>
              </a:rPr>
              <a:t>절차인가</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작업 전제 조건</a:t>
            </a:r>
          </a:p>
        </p:txBody>
      </p:sp>
      <p:sp>
        <p:nvSpPr>
          <p:cNvPr id="16" name="TextBox 15"/>
          <p:cNvSpPr txBox="1"/>
          <p:nvPr/>
        </p:nvSpPr>
        <p:spPr>
          <a:xfrm>
            <a:off x="3200400" y="2570607"/>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「원격 조치는 PLC 운전 모드가 REMOTE_AUTO일 때만 한다.」 HM-8.5</a:t>
            </a:r>
          </a:p>
        </p:txBody>
      </p:sp>
      <p:sp>
        <p:nvSpPr>
          <p:cNvPr id="17" name="TextBox 16"/>
          <p:cNvSpPr txBox="1"/>
          <p:nvPr/>
        </p:nvSpPr>
        <p:spPr>
          <a:xfrm>
            <a:off x="9448495" y="2570607"/>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지금 시작해도</a:t>
            </a:r>
          </a:p>
          <a:p>
            <a:pPr algn="l" eaLnBrk="0">
              <a:lnSpc>
                <a:spcPct val="110000"/>
              </a:lnSpc>
            </a:pPr>
            <a:r>
              <a:rPr sz="1250" b="1">
                <a:solidFill>
                  <a:srgbClr val="556175"/>
                </a:solidFill>
                <a:latin typeface="맑은 고딕"/>
                <a:ea typeface="맑은 고딕"/>
                <a:cs typeface="맑은 고딕"/>
              </a:rPr>
              <a:t>되는 상태인가</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안전 조건</a:t>
            </a:r>
          </a:p>
        </p:txBody>
      </p:sp>
      <p:sp>
        <p:nvSpPr>
          <p:cNvPr id="20" name="TextBox 19"/>
          <p:cNvSpPr txBox="1"/>
          <p:nvPr/>
        </p:nvSpPr>
        <p:spPr>
          <a:xfrm>
            <a:off x="3200400" y="3111246"/>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「설비를 정지하고 … LOCAL로 전환한 뒤 잠금(LOTO)을 건다.」 SOP-COOL-14</a:t>
            </a:r>
          </a:p>
        </p:txBody>
      </p:sp>
      <p:sp>
        <p:nvSpPr>
          <p:cNvPr id="21" name="TextBox 20"/>
          <p:cNvSpPr txBox="1"/>
          <p:nvPr/>
        </p:nvSpPr>
        <p:spPr>
          <a:xfrm>
            <a:off x="9448495" y="3111246"/>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손대기 전</a:t>
            </a:r>
          </a:p>
          <a:p>
            <a:pPr algn="l" eaLnBrk="0">
              <a:lnSpc>
                <a:spcPct val="110000"/>
              </a:lnSpc>
            </a:pPr>
            <a:r>
              <a:rPr sz="1250" b="1">
                <a:solidFill>
                  <a:srgbClr val="556175"/>
                </a:solidFill>
                <a:latin typeface="맑은 고딕"/>
                <a:ea typeface="맑은 고딕"/>
                <a:cs typeface="맑은 고딕"/>
              </a:rPr>
              <a:t>설비 상태는</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준비사항</a:t>
            </a:r>
          </a:p>
        </p:txBody>
      </p:sp>
      <p:sp>
        <p:nvSpPr>
          <p:cNvPr id="24" name="TextBox 23"/>
          <p:cNvSpPr txBox="1"/>
          <p:nvPr/>
        </p:nvSpPr>
        <p:spPr>
          <a:xfrm>
            <a:off x="3200400" y="3651885"/>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HM-8에는 없다. PM-02 예: 「정비 인원 4명과 씰 키트 2개를 확보한다.」</a:t>
            </a:r>
          </a:p>
        </p:txBody>
      </p:sp>
      <p:sp>
        <p:nvSpPr>
          <p:cNvPr id="25" name="TextBox 24"/>
          <p:cNvSpPr txBox="1"/>
          <p:nvPr/>
        </p:nvSpPr>
        <p:spPr>
          <a:xfrm>
            <a:off x="9448495" y="3651885"/>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 · 부품을</a:t>
            </a:r>
          </a:p>
          <a:p>
            <a:pPr algn="l" eaLnBrk="0">
              <a:lnSpc>
                <a:spcPct val="110000"/>
              </a:lnSpc>
            </a:pPr>
            <a:r>
              <a:rPr sz="1250" b="1">
                <a:solidFill>
                  <a:srgbClr val="556175"/>
                </a:solidFill>
                <a:latin typeface="맑은 고딕"/>
                <a:ea typeface="맑은 고딕"/>
                <a:cs typeface="맑은 고딕"/>
              </a:rPr>
              <a:t>갖췄는가</a:t>
            </a:r>
          </a:p>
        </p:txBody>
      </p:sp>
      <p:sp>
        <p:nvSpPr>
          <p:cNvPr id="26" name="Rounded Rectangle 25"/>
          <p:cNvSpPr/>
          <p:nvPr/>
        </p:nvSpPr>
        <p:spPr>
          <a:xfrm>
            <a:off x="548640" y="4224528"/>
            <a:ext cx="11094415" cy="476631"/>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수행 단계</a:t>
            </a:r>
          </a:p>
        </p:txBody>
      </p:sp>
      <p:sp>
        <p:nvSpPr>
          <p:cNvPr id="28" name="TextBox 27"/>
          <p:cNvSpPr txBox="1"/>
          <p:nvPr/>
        </p:nvSpPr>
        <p:spPr>
          <a:xfrm>
            <a:off x="3200400" y="4192524"/>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 모드 확인 → 2. 팬 100 % → 3. 15분 재관측 (SOP-COOL-11)</a:t>
            </a:r>
          </a:p>
        </p:txBody>
      </p:sp>
      <p:sp>
        <p:nvSpPr>
          <p:cNvPr id="29" name="TextBox 28"/>
          <p:cNvSpPr txBox="1"/>
          <p:nvPr/>
        </p:nvSpPr>
        <p:spPr>
          <a:xfrm>
            <a:off x="9448495" y="4192524"/>
            <a:ext cx="2103120" cy="540639"/>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무엇을</a:t>
            </a:r>
          </a:p>
          <a:p>
            <a:pPr algn="l" eaLnBrk="0">
              <a:lnSpc>
                <a:spcPct val="110000"/>
              </a:lnSpc>
            </a:pPr>
            <a:r>
              <a:rPr sz="1250" b="1">
                <a:solidFill>
                  <a:srgbClr val="1A6FC4"/>
                </a:solidFill>
                <a:latin typeface="맑은 고딕"/>
                <a:ea typeface="맑은 고딕"/>
                <a:cs typeface="맑은 고딕"/>
              </a:rPr>
              <a:t>어떤 차례로</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금지 사항</a:t>
            </a:r>
          </a:p>
        </p:txBody>
      </p:sp>
      <p:sp>
        <p:nvSpPr>
          <p:cNvPr id="32" name="TextBox 31"/>
          <p:cNvSpPr txBox="1"/>
          <p:nvPr/>
        </p:nvSpPr>
        <p:spPr>
          <a:xfrm>
            <a:off x="3200400" y="4733163"/>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「펌프 부하를 60 % 미만으로 설정하지 않는다.」 HM-8.8 · 「고압수는 쓰지 않는다.」</a:t>
            </a:r>
          </a:p>
        </p:txBody>
      </p:sp>
      <p:sp>
        <p:nvSpPr>
          <p:cNvPr id="33" name="TextBox 32"/>
          <p:cNvSpPr txBox="1"/>
          <p:nvPr/>
        </p:nvSpPr>
        <p:spPr>
          <a:xfrm>
            <a:off x="9448495" y="4733163"/>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하면 안 되는</a:t>
            </a:r>
          </a:p>
          <a:p>
            <a:pPr algn="l" eaLnBrk="0">
              <a:lnSpc>
                <a:spcPct val="110000"/>
              </a:lnSpc>
            </a:pPr>
            <a:r>
              <a:rPr sz="1250" b="1">
                <a:solidFill>
                  <a:srgbClr val="556175"/>
                </a:solidFill>
                <a:latin typeface="맑은 고딕"/>
                <a:ea typeface="맑은 고딕"/>
                <a:cs typeface="맑은 고딕"/>
              </a:rPr>
              <a:t>일은</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담당 역할</a:t>
            </a:r>
          </a:p>
        </p:txBody>
      </p:sp>
      <p:sp>
        <p:nvSpPr>
          <p:cNvPr id="36" name="TextBox 35"/>
          <p:cNvSpPr txBox="1"/>
          <p:nvPr/>
        </p:nvSpPr>
        <p:spPr>
          <a:xfrm>
            <a:off x="3200400" y="5273802"/>
            <a:ext cx="6156655" cy="540639"/>
          </a:xfrm>
          <a:prstGeom prst="rect">
            <a:avLst/>
          </a:prstGeom>
          <a:noFill/>
        </p:spPr>
        <p:txBody>
          <a:bodyPr wrap="square" anchor="ctr"/>
          <a:lstStyle/>
          <a:p>
            <a:pPr algn="l" eaLnBrk="0">
              <a:lnSpc>
                <a:spcPct val="110000"/>
              </a:lnSpc>
            </a:pPr>
            <a:r>
              <a:rPr sz="1300" b="0">
                <a:solidFill>
                  <a:srgbClr val="1F2A3A"/>
                </a:solidFill>
                <a:latin typeface="맑은 고딕"/>
                <a:ea typeface="맑은 고딕"/>
                <a:cs typeface="맑은 고딕"/>
              </a:rPr>
              <a:t>「승인: 운전원.」 SOP-COOL-11 · 「승인은 설비보전팀장이 한다.」 HM-8.7</a:t>
            </a:r>
          </a:p>
        </p:txBody>
      </p:sp>
      <p:sp>
        <p:nvSpPr>
          <p:cNvPr id="37" name="TextBox 36"/>
          <p:cNvSpPr txBox="1"/>
          <p:nvPr/>
        </p:nvSpPr>
        <p:spPr>
          <a:xfrm>
            <a:off x="9448495" y="5273802"/>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누가</a:t>
            </a:r>
          </a:p>
          <a:p>
            <a:pPr algn="l" eaLnBrk="0">
              <a:lnSpc>
                <a:spcPct val="110000"/>
              </a:lnSpc>
            </a:pPr>
            <a:r>
              <a:rPr sz="1250" b="1">
                <a:solidFill>
                  <a:srgbClr val="556175"/>
                </a:solidFill>
                <a:latin typeface="맑은 고딕"/>
                <a:ea typeface="맑은 고딕"/>
                <a:cs typeface="맑은 고딕"/>
              </a:rPr>
              <a:t>승인하는가</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완료 확인 기준</a:t>
            </a:r>
          </a:p>
        </p:txBody>
      </p:sp>
      <p:sp>
        <p:nvSpPr>
          <p:cNvPr id="40" name="TextBox 39"/>
          <p:cNvSpPr txBox="1"/>
          <p:nvPr/>
        </p:nvSpPr>
        <p:spPr>
          <a:xfrm>
            <a:off x="3200400" y="5814441"/>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「조치 뒤 15분 동안 TS1이 55 ℃ 미만이고 경보가 해제된 상태가 유지되면 …」 HM-8.6</a:t>
            </a:r>
          </a:p>
        </p:txBody>
      </p:sp>
      <p:sp>
        <p:nvSpPr>
          <p:cNvPr id="41" name="TextBox 40"/>
          <p:cNvSpPr txBox="1"/>
          <p:nvPr/>
        </p:nvSpPr>
        <p:spPr>
          <a:xfrm>
            <a:off x="9448495" y="5814441"/>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언제 끝났다고</a:t>
            </a:r>
          </a:p>
          <a:p>
            <a:pPr algn="l" eaLnBrk="0">
              <a:lnSpc>
                <a:spcPct val="110000"/>
              </a:lnSpc>
            </a:pPr>
            <a:r>
              <a:rPr sz="1250" b="1">
                <a:solidFill>
                  <a:srgbClr val="556175"/>
                </a:solidFill>
                <a:latin typeface="맑은 고딕"/>
                <a:ea typeface="맑은 고딕"/>
                <a:cs typeface="맑은 고딕"/>
              </a:rPr>
              <a:t>하는가</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원격 조치의 전제와 현장 작업의 안전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원격 제어는 원격 자동이어야 시작하고, 사람이 손대는 정비는 정지 · 잠금 · 잔압 해제를 확인해야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3065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작업 전제 조건</a:t>
            </a:r>
          </a:p>
        </p:txBody>
      </p:sp>
      <p:sp>
        <p:nvSpPr>
          <p:cNvPr id="8" name="TextBox 7"/>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절차를 지금 쓸 수 있는 상태인가</a:t>
            </a:r>
          </a:p>
          <a:p>
            <a:pPr algn="l" eaLnBrk="0" marL="171450" indent="-171450">
              <a:lnSpc>
                <a:spcPct val="110000"/>
              </a:lnSpc>
              <a:spcAft>
                <a:spcPts val="600"/>
              </a:spcAft>
            </a:pPr>
            <a:r>
              <a:rPr sz="1500" b="0">
                <a:solidFill>
                  <a:srgbClr val="1F2A3A"/>
                </a:solidFill>
                <a:latin typeface="맑은 고딕"/>
                <a:ea typeface="맑은 고딕"/>
                <a:cs typeface="맑은 고딕"/>
              </a:rPr>
              <a:t>• SOP-COOL-11: 운전 모드 REMOTE_AUTO</a:t>
            </a:r>
          </a:p>
          <a:p>
            <a:pPr algn="l" eaLnBrk="0" marL="171450" indent="-171450">
              <a:lnSpc>
                <a:spcPct val="110000"/>
              </a:lnSpc>
              <a:spcAft>
                <a:spcPts val="600"/>
              </a:spcAft>
            </a:pPr>
            <a:r>
              <a:rPr sz="1500" b="0">
                <a:solidFill>
                  <a:srgbClr val="1F2A3A"/>
                </a:solidFill>
                <a:latin typeface="맑은 고딕"/>
                <a:ea typeface="맑은 고딕"/>
                <a:cs typeface="맑은 고딕"/>
              </a:rPr>
              <a:t>• 상위 시스템의 명령을 받는 상태</a:t>
            </a:r>
          </a:p>
          <a:p>
            <a:pPr algn="l" eaLnBrk="0" marL="171450" indent="-171450">
              <a:lnSpc>
                <a:spcPct val="110000"/>
              </a:lnSpc>
              <a:spcAft>
                <a:spcPts val="600"/>
              </a:spcAft>
            </a:pPr>
            <a:r>
              <a:rPr sz="1500" b="0">
                <a:solidFill>
                  <a:srgbClr val="1F2A3A"/>
                </a:solidFill>
                <a:latin typeface="맑은 고딕"/>
                <a:ea typeface="맑은 고딕"/>
                <a:cs typeface="맑은 고딕"/>
              </a:rPr>
              <a:t>• 수동 조작이 들어와 있으면 시작하지 않는다</a:t>
            </a:r>
          </a:p>
        </p:txBody>
      </p:sp>
      <p:sp>
        <p:nvSpPr>
          <p:cNvPr id="9" name="Rounded Rectangle 8"/>
          <p:cNvSpPr/>
          <p:nvPr/>
        </p:nvSpPr>
        <p:spPr>
          <a:xfrm>
            <a:off x="868680" y="5420106"/>
            <a:ext cx="1523999"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4201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원격 제어의 시작</a:t>
            </a:r>
          </a:p>
        </p:txBody>
      </p:sp>
      <p:sp>
        <p:nvSpPr>
          <p:cNvPr id="11" name="Rounded Rectangle 10"/>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306574"/>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안전 조건</a:t>
            </a:r>
          </a:p>
        </p:txBody>
      </p:sp>
      <p:sp>
        <p:nvSpPr>
          <p:cNvPr id="13" name="TextBox 12"/>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사람이 손대기 전 설비를 어떤 상태로 두는가</a:t>
            </a:r>
          </a:p>
          <a:p>
            <a:pPr algn="l" eaLnBrk="0" marL="171450" indent="-171450">
              <a:lnSpc>
                <a:spcPct val="110000"/>
              </a:lnSpc>
              <a:spcAft>
                <a:spcPts val="600"/>
              </a:spcAft>
            </a:pPr>
            <a:r>
              <a:rPr sz="1500" b="0">
                <a:solidFill>
                  <a:srgbClr val="1F2A3A"/>
                </a:solidFill>
                <a:latin typeface="맑은 고딕"/>
                <a:ea typeface="맑은 고딕"/>
                <a:cs typeface="맑은 고딕"/>
              </a:rPr>
              <a:t>• SOP-COOL-14: 정지 → LOCAL → 잠금(LOTO)</a:t>
            </a:r>
          </a:p>
          <a:p>
            <a:pPr algn="l" eaLnBrk="0" marL="171450" indent="-171450">
              <a:lnSpc>
                <a:spcPct val="110000"/>
              </a:lnSpc>
              <a:spcAft>
                <a:spcPts val="600"/>
              </a:spcAft>
            </a:pPr>
            <a:r>
              <a:rPr sz="1500" b="0">
                <a:solidFill>
                  <a:srgbClr val="1F2A3A"/>
                </a:solidFill>
                <a:latin typeface="맑은 고딕"/>
                <a:ea typeface="맑은 고딕"/>
                <a:cs typeface="맑은 고딕"/>
              </a:rPr>
              <a:t>• LOTO(Lockout/Tagout): 에너지원을 잠그고 표지를 단다</a:t>
            </a:r>
          </a:p>
          <a:p>
            <a:pPr algn="l" eaLnBrk="0" marL="171450" indent="-171450">
              <a:lnSpc>
                <a:spcPct val="110000"/>
              </a:lnSpc>
              <a:spcAft>
                <a:spcPts val="600"/>
              </a:spcAft>
            </a:pPr>
            <a:r>
              <a:rPr sz="1500" b="0">
                <a:solidFill>
                  <a:srgbClr val="1F2A3A"/>
                </a:solidFill>
                <a:latin typeface="맑은 고딕"/>
                <a:ea typeface="맑은 고딕"/>
                <a:cs typeface="맑은 고딕"/>
              </a:rPr>
              <a:t>• PM-02 펌프 정비: 잔압 배출, PS1 0 bar 확인 뒤 배관을 연다</a:t>
            </a:r>
          </a:p>
        </p:txBody>
      </p:sp>
      <p:sp>
        <p:nvSpPr>
          <p:cNvPr id="14" name="Rounded Rectangle 13"/>
          <p:cNvSpPr/>
          <p:nvPr/>
        </p:nvSpPr>
        <p:spPr>
          <a:xfrm>
            <a:off x="6781647" y="5420106"/>
            <a:ext cx="1523999"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4201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현장 작업의 시작</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운전 모드가 바뀔 때 남는 후보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원격 수동이나 현장 제어에서는 원격 제어 후보 셋이 빠지고, 핀 세척 작업지시는 남되 세척은 잠금 뒤에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pic>
        <p:nvPicPr>
          <p:cNvPr id="6" name="삽화:운전모드_3.svg" descr="illust_4447568265336869840_179274015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REMOTE_AUTO</a:t>
            </a:r>
          </a:p>
          <a:p>
            <a:pPr algn="ctr" eaLnBrk="0">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REMOTE_MANUAL</a:t>
            </a:r>
          </a:p>
          <a:p>
            <a:pPr algn="ctr" eaLnBrk="0">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LOCAL</a:t>
            </a:r>
          </a:p>
          <a:p>
            <a:pPr algn="ctr" eaLnBrk="0">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1666592" y="3754983"/>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원격 제어 후보</a:t>
            </a:r>
          </a:p>
          <a:p>
            <a:pPr algn="ctr" eaLnBrk="0">
              <a:lnSpc>
                <a:spcPct val="110000"/>
              </a:lnSpc>
              <a:spcAft>
                <a:spcPts val="100"/>
              </a:spcAft>
            </a:pPr>
            <a:r>
              <a:rPr sz="1300" b="0">
                <a:solidFill>
                  <a:srgbClr val="556175"/>
                </a:solidFill>
                <a:latin typeface="맑은 고딕"/>
                <a:ea typeface="맑은 고딕"/>
                <a:cs typeface="맑은 고딕"/>
              </a:rPr>
              <a:t>SOP-COOL-11~13</a:t>
            </a:r>
          </a:p>
        </p:txBody>
      </p:sp>
      <p:sp>
        <p:nvSpPr>
          <p:cNvPr id="11" name="TextBox 10"/>
          <p:cNvSpPr txBox="1"/>
          <p:nvPr/>
        </p:nvSpPr>
        <p:spPr>
          <a:xfrm>
            <a:off x="1666592" y="5125943"/>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정비 작업지시</a:t>
            </a:r>
          </a:p>
          <a:p>
            <a:pPr algn="ctr" eaLnBrk="0">
              <a:lnSpc>
                <a:spcPct val="110000"/>
              </a:lnSpc>
              <a:spcAft>
                <a:spcPts val="100"/>
              </a:spcAft>
            </a:pPr>
            <a:r>
              <a:rPr sz="1300" b="0">
                <a:solidFill>
                  <a:srgbClr val="556175"/>
                </a:solidFill>
                <a:latin typeface="맑은 고딕"/>
                <a:ea typeface="맑은 고딕"/>
                <a:cs typeface="맑은 고딕"/>
              </a:rPr>
              <a:t>SOP-COOL-14</a:t>
            </a:r>
          </a:p>
        </p:txBody>
      </p:sp>
      <p:sp>
        <p:nvSpPr>
          <p:cNvPr id="12" name="TextBox 11"/>
          <p:cNvSpPr txBox="1"/>
          <p:nvPr/>
        </p:nvSpPr>
        <p:spPr>
          <a:xfrm>
            <a:off x="4208504" y="4369551"/>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남는다</a:t>
            </a:r>
          </a:p>
        </p:txBody>
      </p:sp>
      <p:sp>
        <p:nvSpPr>
          <p:cNvPr id="13" name="TextBox 12"/>
          <p:cNvSpPr txBox="1"/>
          <p:nvPr/>
        </p:nvSpPr>
        <p:spPr>
          <a:xfrm>
            <a:off x="6564955" y="4369551"/>
            <a:ext cx="196370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빠진다</a:t>
            </a:r>
          </a:p>
        </p:txBody>
      </p:sp>
      <p:sp>
        <p:nvSpPr>
          <p:cNvPr id="14" name="TextBox 13"/>
          <p:cNvSpPr txBox="1"/>
          <p:nvPr/>
        </p:nvSpPr>
        <p:spPr>
          <a:xfrm>
            <a:off x="8932316" y="4369551"/>
            <a:ext cx="196370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빠진다</a:t>
            </a:r>
          </a:p>
        </p:txBody>
      </p:sp>
      <p:sp>
        <p:nvSpPr>
          <p:cNvPr id="15" name="TextBox 14"/>
          <p:cNvSpPr txBox="1"/>
          <p:nvPr/>
        </p:nvSpPr>
        <p:spPr>
          <a:xfrm>
            <a:off x="4208504" y="5731056"/>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남는다</a:t>
            </a:r>
          </a:p>
        </p:txBody>
      </p:sp>
      <p:sp>
        <p:nvSpPr>
          <p:cNvPr id="16" name="TextBox 15"/>
          <p:cNvSpPr txBox="1"/>
          <p:nvPr/>
        </p:nvSpPr>
        <p:spPr>
          <a:xfrm>
            <a:off x="6564955" y="5731056"/>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남는다</a:t>
            </a:r>
          </a:p>
        </p:txBody>
      </p:sp>
      <p:sp>
        <p:nvSpPr>
          <p:cNvPr id="17" name="TextBox 16"/>
          <p:cNvSpPr txBox="1"/>
          <p:nvPr/>
        </p:nvSpPr>
        <p:spPr>
          <a:xfrm>
            <a:off x="8932316" y="5731056"/>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남는다</a:t>
            </a:r>
          </a:p>
        </p:txBody>
      </p:sp>
      <p:sp>
        <p:nvSpPr>
          <p:cNvPr id="18" name="TextBox 17"/>
          <p:cNvSpPr txBox="1"/>
          <p:nvPr/>
        </p:nvSpPr>
        <p:spPr>
          <a:xfrm>
            <a:off x="750195" y="1911278"/>
            <a:ext cx="349103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쿨러 사건의 모드</a:t>
            </a:r>
          </a:p>
          <a:p>
            <a:pPr algn="ctr" eaLnBrk="0">
              <a:lnSpc>
                <a:spcPct val="110000"/>
              </a:lnSpc>
              <a:spcAft>
                <a:spcPts val="100"/>
              </a:spcAft>
            </a:pPr>
            <a:r>
              <a:rPr sz="1300" b="0">
                <a:solidFill>
                  <a:srgbClr val="556175"/>
                </a:solidFill>
                <a:latin typeface="맑은 고딕"/>
                <a:ea typeface="맑은 고딕"/>
                <a:cs typeface="맑은 고딕"/>
              </a:rPr>
              <a:t>원격 자동 · 운전 중이어서 넷 모두 후보에 남았다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09</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절차를 지식 그래프와 실행에 잇기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절차 한 편을 조치 방법 · 단계 · 근거 절 · 승인 역할 · 실행 동작으로 나누어 잇는다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조치 방법(Skill) · 작업 단계(Step)로 옮긴 SOP</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 한 편은 절차 번호를 식별자로 쓰는 조치 방법 하나가 되고, 단계마다 순서 값과 근거 절이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(:Skill {sopId: 'SOP-COOL-11', name: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kind: 'control'})</a:t>
            </a:r>
          </a:p>
          <a:p>
            <a:pPr algn="l" eaLnBrk="0">
              <a:lnSpc>
                <a:spcPct val="110000"/>
              </a:lnSpc>
              <a:spcAft>
                <a:spcPts val="200"/>
              </a:spcAft>
            </a:pPr>
            <a:r>
              <a:rPr sz="1300" b="0">
                <a:solidFill>
                  <a:srgbClr val="E8EEF6"/>
                </a:solidFill>
                <a:latin typeface="Consolas"/>
                <a:ea typeface="맑은 고딕"/>
                <a:cs typeface="맑은 고딕"/>
              </a:rPr>
              <a:t>(:Skill {sopId: 'SOP-COOL-14', name: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세척</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kind: 'work_order'})</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(:Skill)-[:HAS_STEP]-&gt;(:Step {order: 1, text: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(:Step)-[:REFERS_TO]-&gt;(:ManualSection {ref: 'HM-8.5'})</a:t>
            </a:r>
          </a:p>
          <a:p>
            <a:pPr algn="l" eaLnBrk="0">
              <a:lnSpc>
                <a:spcPct val="110000"/>
              </a:lnSpc>
              <a:spcAft>
                <a:spcPts val="200"/>
              </a:spcAft>
            </a:pPr>
            <a:r>
              <a:rPr sz="1300" b="0">
                <a:solidFill>
                  <a:srgbClr val="E8EEF6"/>
                </a:solidFill>
                <a:latin typeface="Consolas"/>
                <a:ea typeface="맑은 고딕"/>
                <a:cs typeface="맑은 고딕"/>
              </a:rPr>
              <a:t>(:Skill)-[:APPROVED_BY]-&gt;(:Role {name: '</a:t>
            </a:r>
            <a:r>
              <a:rPr sz="1300" b="0">
                <a:solidFill>
                  <a:srgbClr val="E8EEF6"/>
                </a:solidFill>
                <a:latin typeface="맑은 고딕"/>
                <a:ea typeface="맑은 고딕"/>
                <a:cs typeface="맑은 고딕"/>
              </a:rPr>
              <a:t>운전원</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스키마에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안전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문장</a:t>
            </a:r>
            <a:r>
              <a:rPr sz="1300" b="0">
                <a:solidFill>
                  <a:srgbClr val="E8EEF6"/>
                </a:solidFill>
                <a:latin typeface="Consolas"/>
                <a:ea typeface="맑은 고딕"/>
                <a:cs typeface="맑은 고딕"/>
              </a:rPr>
              <a:t>(text)</a:t>
            </a:r>
            <a:r>
              <a:rPr sz="1300" b="0">
                <a:solidFill>
                  <a:srgbClr val="E8EEF6"/>
                </a:solidFill>
                <a:latin typeface="맑은 고딕"/>
                <a:ea typeface="맑은 고딕"/>
                <a:cs typeface="맑은 고딕"/>
              </a:rPr>
              <a:t>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r>
              <a:rPr sz="1300" b="0">
                <a:solidFill>
                  <a:srgbClr val="E8EEF6"/>
                </a:solidFill>
                <a:latin typeface="Consolas"/>
                <a:ea typeface="맑은 고딕"/>
                <a:cs typeface="맑은 고딕"/>
              </a:rPr>
              <a:t>(Rule)</a:t>
            </a:r>
            <a:r>
              <a:rPr sz="1300" b="0">
                <a:solidFill>
                  <a:srgbClr val="E8EEF6"/>
                </a:solidFill>
                <a:latin typeface="맑은 고딕"/>
                <a:ea typeface="맑은 고딕"/>
                <a:cs typeface="맑은 고딕"/>
              </a:rPr>
              <a:t>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옮긴다</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Skill · sopId</a:t>
            </a:r>
          </a:p>
          <a:p>
            <a:pPr algn="l" eaLnBrk="0">
              <a:lnSpc>
                <a:spcPct val="110000"/>
              </a:lnSpc>
              <a:spcAft>
                <a:spcPts val="400"/>
              </a:spcAft>
            </a:pPr>
            <a:r>
              <a:rPr sz="1300" b="0">
                <a:solidFill>
                  <a:srgbClr val="1F2A3A"/>
                </a:solidFill>
                <a:latin typeface="맑은 고딕"/>
                <a:ea typeface="맑은 고딕"/>
                <a:cs typeface="맑은 고딕"/>
              </a:rPr>
              <a:t>조치 방법 = SOP 한 편. 절차 번호를 식별자로 쓴다.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kind</a:t>
            </a:r>
          </a:p>
          <a:p>
            <a:pPr algn="l" eaLnBrk="0">
              <a:lnSpc>
                <a:spcPct val="110000"/>
              </a:lnSpc>
              <a:spcAft>
                <a:spcPts val="400"/>
              </a:spcAft>
            </a:pPr>
            <a:r>
              <a:rPr sz="1400" b="0">
                <a:solidFill>
                  <a:srgbClr val="1F2A3A"/>
                </a:solidFill>
                <a:latin typeface="맑은 고딕"/>
                <a:ea typeface="맑은 고딕"/>
                <a:cs typeface="맑은 고딕"/>
              </a:rPr>
              <a:t>control은 설비를 바로 제어, work_order는 작업지시. 운전 모드 규칙이 이 값으로 갈린다.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Step · order</a:t>
            </a:r>
          </a:p>
          <a:p>
            <a:pPr algn="l" eaLnBrk="0">
              <a:lnSpc>
                <a:spcPct val="110000"/>
              </a:lnSpc>
              <a:spcAft>
                <a:spcPts val="400"/>
              </a:spcAft>
            </a:pPr>
            <a:r>
              <a:rPr sz="1400" b="0">
                <a:solidFill>
                  <a:srgbClr val="1F2A3A"/>
                </a:solidFill>
                <a:latin typeface="맑은 고딕"/>
                <a:ea typeface="맑은 고딕"/>
                <a:cs typeface="맑은 고딕"/>
              </a:rPr>
              <a:t>단계 하나가 노드 하나. 순서는 넣은 차례가 아니라 order 값이 지킨다.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칸이 없는 항목</a:t>
            </a:r>
          </a:p>
          <a:p>
            <a:pPr algn="l" eaLnBrk="0">
              <a:lnSpc>
                <a:spcPct val="110000"/>
              </a:lnSpc>
              <a:spcAft>
                <a:spcPts val="400"/>
              </a:spcAft>
            </a:pPr>
            <a:r>
              <a:rPr sz="1400" b="0">
                <a:solidFill>
                  <a:srgbClr val="1F2A3A"/>
                </a:solidFill>
                <a:latin typeface="맑은 고딕"/>
                <a:ea typeface="맑은 고딕"/>
                <a:cs typeface="맑은 고딕"/>
              </a:rPr>
              <a:t>조건 문장은 단계 문장과 판단 규칙으로 옮겨진다.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즉시 완화(MITIGATED_BY)와 근본 조치(REMEDIED_BY)</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즉시 완화는 지금 유온을 낮춰 시간을 벌고, 근본 조치는 원인을 없애므로 원인이 맞을 때만 후보가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201608"/>
            <a:ext cx="5181447" cy="3579495"/>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822959" y="240277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즉시 완화(MITIGATED_BY)</a:t>
            </a:r>
          </a:p>
        </p:txBody>
      </p:sp>
      <p:sp>
        <p:nvSpPr>
          <p:cNvPr id="8" name="TextBox 7"/>
          <p:cNvSpPr txBox="1"/>
          <p:nvPr/>
        </p:nvSpPr>
        <p:spPr>
          <a:xfrm>
            <a:off x="822959"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고장의 영향을 지금 줄인다. 원인은 남는다</a:t>
            </a:r>
          </a:p>
          <a:p>
            <a:pPr algn="l" eaLnBrk="0" marL="188595" indent="-188595">
              <a:lnSpc>
                <a:spcPct val="110000"/>
              </a:lnSpc>
              <a:spcAft>
                <a:spcPts val="600"/>
              </a:spcAft>
            </a:pPr>
            <a:r>
              <a:rPr sz="1650" b="0">
                <a:solidFill>
                  <a:srgbClr val="1F2A3A"/>
                </a:solidFill>
                <a:latin typeface="맑은 고딕"/>
                <a:ea typeface="맑은 고딕"/>
                <a:cs typeface="맑은 고딕"/>
              </a:rPr>
              <a:t>• SOP-COOL-11 · 12 · 13: 팬 · 부하를 원격 제어</a:t>
            </a:r>
          </a:p>
          <a:p>
            <a:pPr algn="l" eaLnBrk="0" marL="188595" indent="-188595">
              <a:lnSpc>
                <a:spcPct val="110000"/>
              </a:lnSpc>
              <a:spcAft>
                <a:spcPts val="600"/>
              </a:spcAft>
            </a:pPr>
            <a:r>
              <a:rPr sz="1650" b="0">
                <a:solidFill>
                  <a:srgbClr val="1F2A3A"/>
                </a:solidFill>
                <a:latin typeface="맑은 고딕"/>
                <a:ea typeface="맑은 고딕"/>
                <a:cs typeface="맑은 고딕"/>
              </a:rPr>
              <a:t>• 고장 유형만 알아도 후보가 된다</a:t>
            </a:r>
          </a:p>
        </p:txBody>
      </p:sp>
      <p:sp>
        <p:nvSpPr>
          <p:cNvPr id="9" name="Rounded Rectangle 8"/>
          <p:cNvSpPr/>
          <p:nvPr/>
        </p:nvSpPr>
        <p:spPr>
          <a:xfrm>
            <a:off x="868680" y="5323903"/>
            <a:ext cx="1920240" cy="292608"/>
          </a:xfrm>
          <a:prstGeom prst="roundRect">
            <a:avLst>
              <a:gd name="adj" fmla="val 50000"/>
            </a:avLst>
          </a:prstGeom>
          <a:solidFill>
            <a:srgbClr val="D3D9E1"/>
          </a:solidFill>
          <a:ln>
            <a:noFill/>
          </a:ln>
        </p:spPr>
        <p:txBody>
          <a:bodyPr rtlCol="0" anchor="ctr"/>
          <a:lstStyle/>
          <a:p>
            <a:pPr algn="ctr"/>
          </a:p>
        </p:txBody>
      </p:sp>
      <p:sp>
        <p:nvSpPr>
          <p:cNvPr id="10" name="TextBox 9"/>
          <p:cNvSpPr txBox="1"/>
          <p:nvPr/>
        </p:nvSpPr>
        <p:spPr>
          <a:xfrm>
            <a:off x="868680" y="5323903"/>
            <a:ext cx="192024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경보 직후 · 설비 제어</a:t>
            </a:r>
          </a:p>
        </p:txBody>
      </p:sp>
      <p:sp>
        <p:nvSpPr>
          <p:cNvPr id="11" name="Rounded Rectangle 10"/>
          <p:cNvSpPr/>
          <p:nvPr/>
        </p:nvSpPr>
        <p:spPr>
          <a:xfrm>
            <a:off x="6461607" y="2201608"/>
            <a:ext cx="5181447" cy="357949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2" name="TextBox 11"/>
          <p:cNvSpPr txBox="1"/>
          <p:nvPr/>
        </p:nvSpPr>
        <p:spPr>
          <a:xfrm>
            <a:off x="6735927" y="2402776"/>
            <a:ext cx="472424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근본 조치(REMEDIED_BY)</a:t>
            </a:r>
          </a:p>
        </p:txBody>
      </p:sp>
      <p:sp>
        <p:nvSpPr>
          <p:cNvPr id="13" name="TextBox 12"/>
          <p:cNvSpPr txBox="1"/>
          <p:nvPr/>
        </p:nvSpPr>
        <p:spPr>
          <a:xfrm>
            <a:off x="6735927" y="3253168"/>
            <a:ext cx="4632807" cy="1979295"/>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고장을 일으킨 원인을 없앤다</a:t>
            </a:r>
          </a:p>
          <a:p>
            <a:pPr algn="l" eaLnBrk="0" marL="188595" indent="-188595">
              <a:lnSpc>
                <a:spcPct val="110000"/>
              </a:lnSpc>
              <a:spcAft>
                <a:spcPts val="600"/>
              </a:spcAft>
            </a:pPr>
            <a:r>
              <a:rPr sz="1650" b="0">
                <a:solidFill>
                  <a:srgbClr val="1F2A3A"/>
                </a:solidFill>
                <a:latin typeface="맑은 고딕"/>
                <a:ea typeface="맑은 고딕"/>
                <a:cs typeface="맑은 고딕"/>
              </a:rPr>
              <a:t>• SOP-COOL-14 핀 세척 → 쿨러 핀 오염</a:t>
            </a:r>
          </a:p>
          <a:p>
            <a:pPr algn="l" eaLnBrk="0" marL="188595" indent="-188595">
              <a:lnSpc>
                <a:spcPct val="110000"/>
              </a:lnSpc>
              <a:spcAft>
                <a:spcPts val="600"/>
              </a:spcAft>
            </a:pPr>
            <a:r>
              <a:rPr sz="1650" b="0">
                <a:solidFill>
                  <a:srgbClr val="1F2A3A"/>
                </a:solidFill>
                <a:latin typeface="맑은 고딕"/>
                <a:ea typeface="맑은 고딕"/>
                <a:cs typeface="맑은 고딕"/>
              </a:rPr>
              <a:t>• SOP-COOL-15 환기 보강 → 주변 온도 상승</a:t>
            </a:r>
          </a:p>
          <a:p>
            <a:pPr algn="l" eaLnBrk="0" marL="188595" indent="-188595">
              <a:lnSpc>
                <a:spcPct val="110000"/>
              </a:lnSpc>
              <a:spcAft>
                <a:spcPts val="600"/>
              </a:spcAft>
            </a:pPr>
            <a:r>
              <a:rPr sz="1650" b="0">
                <a:solidFill>
                  <a:srgbClr val="1F2A3A"/>
                </a:solidFill>
                <a:latin typeface="맑은 고딕"/>
                <a:ea typeface="맑은 고딕"/>
                <a:cs typeface="맑은 고딕"/>
              </a:rPr>
              <a:t>• 원인과 ADDRESSES로 이어 다른 원인의 조치를 거른다</a:t>
            </a:r>
          </a:p>
        </p:txBody>
      </p:sp>
      <p:sp>
        <p:nvSpPr>
          <p:cNvPr id="14" name="Rounded Rectangle 13"/>
          <p:cNvSpPr/>
          <p:nvPr/>
        </p:nvSpPr>
        <p:spPr>
          <a:xfrm>
            <a:off x="6781647" y="5323903"/>
            <a:ext cx="1874520" cy="292608"/>
          </a:xfrm>
          <a:prstGeom prst="roundRect">
            <a:avLst>
              <a:gd name="adj" fmla="val 50000"/>
            </a:avLst>
          </a:prstGeom>
          <a:solidFill>
            <a:srgbClr val="5CB8F2"/>
          </a:solidFill>
          <a:ln>
            <a:noFill/>
          </a:ln>
        </p:spPr>
        <p:txBody>
          <a:bodyPr rtlCol="0" anchor="ctr"/>
          <a:lstStyle/>
          <a:p>
            <a:pPr algn="ctr"/>
          </a:p>
        </p:txBody>
      </p:sp>
      <p:sp>
        <p:nvSpPr>
          <p:cNvPr id="15" name="TextBox 14"/>
          <p:cNvSpPr txBox="1"/>
          <p:nvPr/>
        </p:nvSpPr>
        <p:spPr>
          <a:xfrm>
            <a:off x="6781647" y="5323903"/>
            <a:ext cx="187452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정비 시간 · 작업지시</a:t>
            </a:r>
          </a:p>
        </p:txBody>
      </p:sp>
      <p:sp>
        <p:nvSpPr>
          <p:cNvPr id="16" name="Oval 15"/>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17" name="TextBox 16"/>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경보가 꺼진 뒤 무엇을 완료로 보고하나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최대 운전 뒤 경보는 꺼졌지만 냉각 효율은 기준 아래라, 완화 성공과 정비 완료를 따로 확인해야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77</a:t>
            </a:r>
          </a:p>
        </p:txBody>
      </p:sp>
      <p:pic>
        <p:nvPicPr>
          <p:cNvPr id="6" name="Picture 5" descr="그래프_쿨러열화_TS1_CE.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경보 해제</a:t>
            </a:r>
          </a:p>
          <a:p>
            <a:pPr algn="l" eaLnBrk="0">
              <a:lnSpc>
                <a:spcPct val="110000"/>
              </a:lnSpc>
              <a:spcAft>
                <a:spcPts val="400"/>
              </a:spcAft>
            </a:pPr>
            <a:r>
              <a:rPr sz="1400" b="0">
                <a:solidFill>
                  <a:srgbClr val="1F2A3A"/>
                </a:solidFill>
                <a:latin typeface="맑은 고딕"/>
                <a:ea typeface="맑은 고딕"/>
                <a:cs typeface="맑은 고딕"/>
              </a:rPr>
              <a:t>승인 11:14:56 뒤 유온이 내려가</a:t>
            </a:r>
          </a:p>
          <a:p>
            <a:pPr algn="l" eaLnBrk="0">
              <a:lnSpc>
                <a:spcPct val="110000"/>
              </a:lnSpc>
              <a:spcAft>
                <a:spcPts val="400"/>
              </a:spcAft>
            </a:pPr>
            <a:r>
              <a:rPr sz="1400" b="0">
                <a:solidFill>
                  <a:srgbClr val="1F2A3A"/>
                </a:solidFill>
                <a:latin typeface="맑은 고딕"/>
                <a:ea typeface="맑은 고딕"/>
                <a:cs typeface="맑은 고딕"/>
              </a:rPr>
              <a:t>경보가 해제되었다.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완화 성공 판정</a:t>
            </a:r>
          </a:p>
          <a:p>
            <a:pPr algn="l" eaLnBrk="0">
              <a:lnSpc>
                <a:spcPct val="110000"/>
              </a:lnSpc>
              <a:spcAft>
                <a:spcPts val="400"/>
              </a:spcAft>
            </a:pPr>
            <a:r>
              <a:rPr sz="1350" b="0">
                <a:solidFill>
                  <a:srgbClr val="1F2A3A"/>
                </a:solidFill>
                <a:latin typeface="맑은 고딕"/>
                <a:ea typeface="맑은 고딕"/>
                <a:cs typeface="맑은 고딕"/>
              </a:rPr>
              <a:t>HM-8.6: 15분 동안 55 ℃ 미만 유지.</a:t>
            </a:r>
          </a:p>
          <a:p>
            <a:pPr algn="l" eaLnBrk="0">
              <a:lnSpc>
                <a:spcPct val="110000"/>
              </a:lnSpc>
              <a:spcAft>
                <a:spcPts val="400"/>
              </a:spcAft>
            </a:pPr>
            <a:r>
              <a:rPr sz="1350" b="0">
                <a:solidFill>
                  <a:srgbClr val="1F2A3A"/>
                </a:solidFill>
                <a:latin typeface="맑은 고딕"/>
                <a:ea typeface="맑은 고딕"/>
                <a:cs typeface="맑은 고딕"/>
              </a:rPr>
              <a:t>재관측 구간의 55 ℃ 미만은 58 %</a:t>
            </a:r>
          </a:p>
        </p:txBody>
      </p:sp>
      <p:sp>
        <p:nvSpPr>
          <p:cNvPr id="13" name="Oval 12"/>
          <p:cNvSpPr/>
          <p:nvPr/>
        </p:nvSpPr>
        <p:spPr>
          <a:xfrm>
            <a:off x="8138160" y="4023359"/>
            <a:ext cx="347472" cy="347472"/>
          </a:xfrm>
          <a:prstGeom prst="ellipse">
            <a:avLst/>
          </a:prstGeom>
          <a:solidFill>
            <a:srgbClr val="5CB8F2"/>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남은 원인</a:t>
            </a:r>
          </a:p>
          <a:p>
            <a:pPr algn="l" eaLnBrk="0">
              <a:lnSpc>
                <a:spcPct val="110000"/>
              </a:lnSpc>
              <a:spcAft>
                <a:spcPts val="400"/>
              </a:spcAft>
            </a:pPr>
            <a:r>
              <a:rPr sz="1400" b="0">
                <a:solidFill>
                  <a:srgbClr val="1F2A3A"/>
                </a:solidFill>
                <a:latin typeface="맑은 고딕"/>
                <a:ea typeface="맑은 고딕"/>
                <a:cs typeface="맑은 고딕"/>
              </a:rPr>
              <a:t>냉각 효율이 경보 기준 70 %에 못 미친다.</a:t>
            </a:r>
          </a:p>
          <a:p>
            <a:pPr algn="l" eaLnBrk="0">
              <a:lnSpc>
                <a:spcPct val="110000"/>
              </a:lnSpc>
              <a:spcAft>
                <a:spcPts val="400"/>
              </a:spcAft>
            </a:pPr>
            <a:r>
              <a:rPr sz="1400" b="0">
                <a:solidFill>
                  <a:srgbClr val="1F2A3A"/>
                </a:solidFill>
                <a:latin typeface="맑은 고딕"/>
                <a:ea typeface="맑은 고딕"/>
                <a:cs typeface="맑은 고딕"/>
              </a:rPr>
              <a:t>핀 오염은 그대로다.</a:t>
            </a:r>
          </a:p>
        </p:txBody>
      </p:sp>
      <p:sp>
        <p:nvSpPr>
          <p:cNvPr id="16" name="Oval 15"/>
          <p:cNvSpPr/>
          <p:nvPr/>
        </p:nvSpPr>
        <p:spPr>
          <a:xfrm>
            <a:off x="8138160" y="5193792"/>
            <a:ext cx="347472" cy="347472"/>
          </a:xfrm>
          <a:prstGeom prst="ellipse">
            <a:avLst/>
          </a:prstGeom>
          <a:solidFill>
            <a:srgbClr val="13294B"/>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정비 완료</a:t>
            </a:r>
          </a:p>
          <a:p>
            <a:pPr algn="l" eaLnBrk="0">
              <a:lnSpc>
                <a:spcPct val="110000"/>
              </a:lnSpc>
              <a:spcAft>
                <a:spcPts val="400"/>
              </a:spcAft>
            </a:pPr>
            <a:r>
              <a:rPr sz="1400" b="0">
                <a:solidFill>
                  <a:srgbClr val="1F2A3A"/>
                </a:solidFill>
                <a:latin typeface="맑은 고딕"/>
                <a:ea typeface="맑은 고딕"/>
                <a:cs typeface="맑은 고딕"/>
              </a:rPr>
              <a:t>핀 세척 작업지시 등록은 완료가 아니다.</a:t>
            </a:r>
          </a:p>
          <a:p>
            <a:pPr algn="l" eaLnBrk="0">
              <a:lnSpc>
                <a:spcPct val="110000"/>
              </a:lnSpc>
              <a:spcAft>
                <a:spcPts val="400"/>
              </a:spcAft>
            </a:pPr>
            <a:r>
              <a:rPr sz="1400" b="0">
                <a:solidFill>
                  <a:srgbClr val="1F2A3A"/>
                </a:solidFill>
                <a:latin typeface="맑은 고딕"/>
                <a:ea typeface="맑은 고딕"/>
                <a:cs typeface="맑은 고딕"/>
              </a:rPr>
              <a:t>재가동 뒤 CE 80 % 이상</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고장 유형에서 핀 세척의 단계 · 근거 · 승인까지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핀 세척은 핀 오염을 다루는 조치라 원인이 맞을 때만 후보가 되고, 그때 단계 · 근거 절 · 승인자가 함께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78</a:t>
            </a:r>
          </a:p>
        </p:txBody>
      </p:sp>
      <p:sp>
        <p:nvSpPr>
          <p:cNvPr id="6" name="Oval 5"/>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오염</a:t>
            </a:r>
          </a:p>
          <a:p>
            <a:pPr algn="ctr" eaLnBrk="0">
              <a:lnSpc>
                <a:spcPct val="110000"/>
              </a:lnSpc>
            </a:pPr>
            <a:r>
              <a:rPr sz="1100" b="0">
                <a:solidFill>
                  <a:srgbClr val="556175"/>
                </a:solidFill>
                <a:latin typeface="맑은 고딕"/>
                <a:ea typeface="맑은 고딕"/>
                <a:cs typeface="맑은 고딕"/>
              </a:rPr>
              <a:t>Cause</a:t>
            </a:r>
          </a:p>
        </p:txBody>
      </p:sp>
      <p:sp>
        <p:nvSpPr>
          <p:cNvPr id="8" name="Oval 7"/>
          <p:cNvSpPr/>
          <p:nvPr/>
        </p:nvSpPr>
        <p:spPr>
          <a:xfrm>
            <a:off x="4401190" y="1627632"/>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50360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핀 세척</a:t>
            </a:r>
          </a:p>
          <a:p>
            <a:pPr algn="ctr" eaLnBrk="0">
              <a:lnSpc>
                <a:spcPct val="110000"/>
              </a:lnSpc>
            </a:pPr>
            <a:r>
              <a:rPr sz="1100" b="0">
                <a:solidFill>
                  <a:srgbClr val="556175"/>
                </a:solidFill>
                <a:latin typeface="맑은 고딕"/>
                <a:ea typeface="맑은 고딕"/>
                <a:cs typeface="맑은 고딕"/>
              </a:rPr>
              <a:t>Skill</a:t>
            </a:r>
          </a:p>
          <a:p>
            <a:pPr algn="ctr" eaLnBrk="0">
              <a:lnSpc>
                <a:spcPct val="110000"/>
              </a:lnSpc>
            </a:pPr>
            <a:r>
              <a:rPr sz="1100" b="0">
                <a:solidFill>
                  <a:srgbClr val="556175"/>
                </a:solidFill>
                <a:latin typeface="맑은 고딕"/>
                <a:ea typeface="맑은 고딕"/>
                <a:cs typeface="맑은 고딕"/>
              </a:rPr>
              <a:t>SOP-COOL-14</a:t>
            </a:r>
          </a:p>
        </p:txBody>
      </p:sp>
      <p:sp>
        <p:nvSpPr>
          <p:cNvPr id="10" name="Oval 9"/>
          <p:cNvSpPr/>
          <p:nvPr/>
        </p:nvSpPr>
        <p:spPr>
          <a:xfrm>
            <a:off x="786848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970897"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설비보전팀장</a:t>
            </a:r>
          </a:p>
          <a:p>
            <a:pPr algn="ctr" eaLnBrk="0">
              <a:lnSpc>
                <a:spcPct val="110000"/>
              </a:lnSpc>
            </a:pPr>
            <a:r>
              <a:rPr sz="1100" b="0">
                <a:solidFill>
                  <a:srgbClr val="556175"/>
                </a:solidFill>
                <a:latin typeface="맑은 고딕"/>
                <a:ea typeface="맑은 고딕"/>
                <a:cs typeface="맑은 고딕"/>
              </a:rPr>
              <a:t>Role</a:t>
            </a:r>
          </a:p>
        </p:txBody>
      </p:sp>
      <p:sp>
        <p:nvSpPr>
          <p:cNvPr id="12" name="Oval 11"/>
          <p:cNvSpPr/>
          <p:nvPr/>
        </p:nvSpPr>
        <p:spPr>
          <a:xfrm>
            <a:off x="1319150"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42156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쿨러 냉각 성능 상실</a:t>
            </a:r>
          </a:p>
          <a:p>
            <a:pPr algn="ctr" eaLnBrk="0">
              <a:lnSpc>
                <a:spcPct val="110000"/>
              </a:lnSpc>
            </a:pPr>
            <a:r>
              <a:rPr sz="1100" b="0">
                <a:solidFill>
                  <a:srgbClr val="556175"/>
                </a:solidFill>
                <a:latin typeface="맑은 고딕"/>
                <a:ea typeface="맑은 고딕"/>
                <a:cs typeface="맑은 고딕"/>
              </a:rPr>
              <a:t>FailureMode</a:t>
            </a:r>
          </a:p>
        </p:txBody>
      </p:sp>
      <p:sp>
        <p:nvSpPr>
          <p:cNvPr id="14" name="Oval 13"/>
          <p:cNvSpPr/>
          <p:nvPr/>
        </p:nvSpPr>
        <p:spPr>
          <a:xfrm>
            <a:off x="4979072"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5081485"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Skill</a:t>
            </a:r>
          </a:p>
          <a:p>
            <a:pPr algn="ctr" eaLnBrk="0">
              <a:lnSpc>
                <a:spcPct val="110000"/>
              </a:lnSpc>
            </a:pPr>
            <a:r>
              <a:rPr sz="1100" b="0">
                <a:solidFill>
                  <a:srgbClr val="556175"/>
                </a:solidFill>
                <a:latin typeface="맑은 고딕"/>
                <a:ea typeface="맑은 고딕"/>
                <a:cs typeface="맑은 고딕"/>
              </a:rPr>
              <a:t>SOP-COOL-11</a:t>
            </a:r>
          </a:p>
        </p:txBody>
      </p:sp>
      <p:sp>
        <p:nvSpPr>
          <p:cNvPr id="16" name="Oval 15"/>
          <p:cNvSpPr/>
          <p:nvPr/>
        </p:nvSpPr>
        <p:spPr>
          <a:xfrm>
            <a:off x="7868485"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970897"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정지 · 잠금(LOTO)</a:t>
            </a:r>
          </a:p>
          <a:p>
            <a:pPr algn="ctr" eaLnBrk="0">
              <a:lnSpc>
                <a:spcPct val="110000"/>
              </a:lnSpc>
            </a:pPr>
            <a:r>
              <a:rPr sz="1100" b="0">
                <a:solidFill>
                  <a:srgbClr val="556175"/>
                </a:solidFill>
                <a:latin typeface="맑은 고딕"/>
                <a:ea typeface="맑은 고딕"/>
                <a:cs typeface="맑은 고딕"/>
              </a:rPr>
              <a:t>Step</a:t>
            </a:r>
          </a:p>
          <a:p>
            <a:pPr algn="ctr" eaLnBrk="0">
              <a:lnSpc>
                <a:spcPct val="110000"/>
              </a:lnSpc>
            </a:pPr>
            <a:r>
              <a:rPr sz="1100" b="0">
                <a:solidFill>
                  <a:srgbClr val="556175"/>
                </a:solidFill>
                <a:latin typeface="맑은 고딕"/>
                <a:ea typeface="맑은 고딕"/>
                <a:cs typeface="맑은 고딕"/>
              </a:rPr>
              <a:t>order 1</a:t>
            </a:r>
          </a:p>
        </p:txBody>
      </p:sp>
      <p:sp>
        <p:nvSpPr>
          <p:cNvPr id="18" name="Oval 17"/>
          <p:cNvSpPr/>
          <p:nvPr/>
        </p:nvSpPr>
        <p:spPr>
          <a:xfrm>
            <a:off x="10180015" y="2606954"/>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10282428" y="2884932"/>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HM-8.7 근본 조치</a:t>
            </a:r>
          </a:p>
          <a:p>
            <a:pPr algn="ctr" eaLnBrk="0">
              <a:lnSpc>
                <a:spcPct val="110000"/>
              </a:lnSpc>
            </a:pPr>
            <a:r>
              <a:rPr sz="1100" b="0">
                <a:solidFill>
                  <a:srgbClr val="556175"/>
                </a:solidFill>
                <a:latin typeface="맑은 고딕"/>
                <a:ea typeface="맑은 고딕"/>
                <a:cs typeface="맑은 고딕"/>
              </a:rPr>
              <a:t>ManualSection</a:t>
            </a:r>
          </a:p>
        </p:txBody>
      </p:sp>
      <p:cxnSp>
        <p:nvCxnSpPr>
          <p:cNvPr id="20" name="Connector 19"/>
          <p:cNvCxnSpPr/>
          <p:nvPr/>
        </p:nvCxnSpPr>
        <p:spPr>
          <a:xfrm>
            <a:off x="1458708" y="3115605"/>
            <a:ext cx="407111" cy="1724802"/>
          </a:xfrm>
          <a:prstGeom prst="line">
            <a:avLst/>
          </a:prstGeom>
          <a:ln w="28575">
            <a:solidFill>
              <a:srgbClr val="13294B"/>
            </a:solidFill>
            <a:tailEnd type="triangle" w="med" len="med"/>
          </a:ln>
        </p:spPr>
      </p:cxnSp>
      <p:sp>
        <p:nvSpPr>
          <p:cNvPr id="21" name="Rounded Rectangle 20"/>
          <p:cNvSpPr/>
          <p:nvPr/>
        </p:nvSpPr>
        <p:spPr>
          <a:xfrm>
            <a:off x="1753704" y="3831702"/>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1753704" y="3831702"/>
            <a:ext cx="9154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CAUSES</a:t>
            </a:r>
          </a:p>
        </p:txBody>
      </p:sp>
      <p:cxnSp>
        <p:nvCxnSpPr>
          <p:cNvPr id="23" name="Connector 22"/>
          <p:cNvCxnSpPr/>
          <p:nvPr/>
        </p:nvCxnSpPr>
        <p:spPr>
          <a:xfrm flipV="1">
            <a:off x="2584248" y="2944249"/>
            <a:ext cx="1996051" cy="2114159"/>
          </a:xfrm>
          <a:prstGeom prst="line">
            <a:avLst/>
          </a:prstGeom>
          <a:ln w="28575">
            <a:solidFill>
              <a:srgbClr val="13294B"/>
            </a:solidFill>
            <a:tailEnd type="triangle" w="med" len="med"/>
          </a:ln>
        </p:spPr>
      </p:cxnSp>
      <p:sp>
        <p:nvSpPr>
          <p:cNvPr id="24" name="Rounded Rectangle 23"/>
          <p:cNvSpPr/>
          <p:nvPr/>
        </p:nvSpPr>
        <p:spPr>
          <a:xfrm>
            <a:off x="3673713" y="3855025"/>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5" name="TextBox 24"/>
          <p:cNvSpPr txBox="1"/>
          <p:nvPr/>
        </p:nvSpPr>
        <p:spPr>
          <a:xfrm>
            <a:off x="3673713" y="3855025"/>
            <a:ext cx="14324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REMEDIED_BY</a:t>
            </a:r>
          </a:p>
        </p:txBody>
      </p:sp>
      <p:cxnSp>
        <p:nvCxnSpPr>
          <p:cNvPr id="26" name="Connector 25"/>
          <p:cNvCxnSpPr/>
          <p:nvPr/>
        </p:nvCxnSpPr>
        <p:spPr>
          <a:xfrm>
            <a:off x="2827910" y="5623560"/>
            <a:ext cx="2078010" cy="0"/>
          </a:xfrm>
          <a:prstGeom prst="line">
            <a:avLst/>
          </a:prstGeom>
          <a:ln w="28575">
            <a:solidFill>
              <a:srgbClr val="13294B"/>
            </a:solidFill>
            <a:tailEnd type="triangle" w="med" len="med"/>
          </a:ln>
        </p:spPr>
      </p:cxnSp>
      <p:sp>
        <p:nvSpPr>
          <p:cNvPr id="27" name="Rounded Rectangle 26"/>
          <p:cNvSpPr/>
          <p:nvPr/>
        </p:nvSpPr>
        <p:spPr>
          <a:xfrm>
            <a:off x="3097271" y="525780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8" name="TextBox 27"/>
          <p:cNvSpPr txBox="1"/>
          <p:nvPr/>
        </p:nvSpPr>
        <p:spPr>
          <a:xfrm>
            <a:off x="3097271" y="5257800"/>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MITIGATED_BY</a:t>
            </a:r>
          </a:p>
        </p:txBody>
      </p:sp>
      <p:cxnSp>
        <p:nvCxnSpPr>
          <p:cNvPr id="29" name="Connector 28"/>
          <p:cNvCxnSpPr/>
          <p:nvPr/>
        </p:nvCxnSpPr>
        <p:spPr>
          <a:xfrm flipH="1">
            <a:off x="2084831" y="2359152"/>
            <a:ext cx="2270639" cy="0"/>
          </a:xfrm>
          <a:prstGeom prst="line">
            <a:avLst/>
          </a:prstGeom>
          <a:ln w="28575">
            <a:solidFill>
              <a:srgbClr val="13294B"/>
            </a:solidFill>
            <a:tailEnd type="triangle" w="med" len="med"/>
          </a:ln>
        </p:spPr>
      </p:cxnSp>
      <p:sp>
        <p:nvSpPr>
          <p:cNvPr id="30" name="Rounded Rectangle 29"/>
          <p:cNvSpPr/>
          <p:nvPr/>
        </p:nvSpPr>
        <p:spPr>
          <a:xfrm>
            <a:off x="2602165" y="1993392"/>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1" name="TextBox 30"/>
          <p:cNvSpPr txBox="1"/>
          <p:nvPr/>
        </p:nvSpPr>
        <p:spPr>
          <a:xfrm>
            <a:off x="2602165" y="1993392"/>
            <a:ext cx="123597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ADDRESSES</a:t>
            </a:r>
          </a:p>
        </p:txBody>
      </p:sp>
      <p:cxnSp>
        <p:nvCxnSpPr>
          <p:cNvPr id="32" name="Connector 31"/>
          <p:cNvCxnSpPr/>
          <p:nvPr/>
        </p:nvCxnSpPr>
        <p:spPr>
          <a:xfrm>
            <a:off x="5909950" y="2359152"/>
            <a:ext cx="1885383" cy="0"/>
          </a:xfrm>
          <a:prstGeom prst="line">
            <a:avLst/>
          </a:prstGeom>
          <a:ln w="28575">
            <a:solidFill>
              <a:srgbClr val="13294B"/>
            </a:solidFill>
            <a:tailEnd type="triangle" w="med" len="med"/>
          </a:ln>
        </p:spPr>
      </p:cxnSp>
      <p:sp>
        <p:nvSpPr>
          <p:cNvPr id="33" name="Rounded Rectangle 32"/>
          <p:cNvSpPr/>
          <p:nvPr/>
        </p:nvSpPr>
        <p:spPr>
          <a:xfrm>
            <a:off x="6136422" y="1993392"/>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4" name="TextBox 33"/>
          <p:cNvSpPr txBox="1"/>
          <p:nvPr/>
        </p:nvSpPr>
        <p:spPr>
          <a:xfrm>
            <a:off x="6136422" y="1993392"/>
            <a:ext cx="143243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APPROVED_BY</a:t>
            </a:r>
          </a:p>
        </p:txBody>
      </p:sp>
      <p:cxnSp>
        <p:nvCxnSpPr>
          <p:cNvPr id="35" name="Connector 34"/>
          <p:cNvCxnSpPr/>
          <p:nvPr/>
        </p:nvCxnSpPr>
        <p:spPr>
          <a:xfrm>
            <a:off x="5698608" y="2891937"/>
            <a:ext cx="2315525" cy="2180033"/>
          </a:xfrm>
          <a:prstGeom prst="line">
            <a:avLst/>
          </a:prstGeom>
          <a:ln w="28575">
            <a:solidFill>
              <a:srgbClr val="13294B"/>
            </a:solidFill>
            <a:tailEnd type="triangle" w="med" len="med"/>
          </a:ln>
        </p:spPr>
      </p:cxnSp>
      <p:sp>
        <p:nvSpPr>
          <p:cNvPr id="36" name="Rounded Rectangle 35"/>
          <p:cNvSpPr/>
          <p:nvPr/>
        </p:nvSpPr>
        <p:spPr>
          <a:xfrm>
            <a:off x="6300427" y="3616193"/>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7" name="TextBox 36"/>
          <p:cNvSpPr txBox="1"/>
          <p:nvPr/>
        </p:nvSpPr>
        <p:spPr>
          <a:xfrm>
            <a:off x="6300427" y="3616193"/>
            <a:ext cx="11118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HAS_STEP</a:t>
            </a:r>
          </a:p>
        </p:txBody>
      </p:sp>
      <p:cxnSp>
        <p:nvCxnSpPr>
          <p:cNvPr id="38" name="Connector 37"/>
          <p:cNvCxnSpPr/>
          <p:nvPr/>
        </p:nvCxnSpPr>
        <p:spPr>
          <a:xfrm flipV="1">
            <a:off x="9152749" y="3904180"/>
            <a:ext cx="1186533" cy="1172959"/>
          </a:xfrm>
          <a:prstGeom prst="line">
            <a:avLst/>
          </a:prstGeom>
          <a:ln w="28575">
            <a:solidFill>
              <a:srgbClr val="13294B"/>
            </a:solidFill>
            <a:tailEnd type="triangle" w="med" len="med"/>
          </a:ln>
        </p:spPr>
      </p:cxnSp>
      <p:sp>
        <p:nvSpPr>
          <p:cNvPr id="39" name="Rounded Rectangle 38"/>
          <p:cNvSpPr/>
          <p:nvPr/>
        </p:nvSpPr>
        <p:spPr>
          <a:xfrm>
            <a:off x="9136647" y="4124899"/>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0" name="TextBox 39"/>
          <p:cNvSpPr txBox="1"/>
          <p:nvPr/>
        </p:nvSpPr>
        <p:spPr>
          <a:xfrm>
            <a:off x="9136647" y="4124899"/>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REFERS_TO</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승인부터 정비 완료까지 따로 남는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절차의 정의, 승인, 실행 동작, 작업지시, 현장 완료는 서로 다른 기록이라 서로를 대신하지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사건에서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지식의 자리</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절차의 정의</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SOP-COOL-11의 단계 셋, 승인 역할 운전원</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Skill · Step</a:t>
            </a:r>
          </a:p>
          <a:p>
            <a:pPr algn="l" eaLnBrk="0">
              <a:lnSpc>
                <a:spcPct val="110000"/>
              </a:lnSpc>
            </a:pPr>
            <a:r>
              <a:rPr sz="1250" b="1">
                <a:solidFill>
                  <a:srgbClr val="556175"/>
                </a:solidFill>
                <a:latin typeface="맑은 고딕"/>
                <a:ea typeface="맑은 고딕"/>
                <a:cs typeface="맑은 고딕"/>
              </a:rPr>
              <a:t>APPROVED_BY</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사람의 승인</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11:14:56 운전원 승인</a:t>
            </a:r>
          </a:p>
          <a:p>
            <a:pPr algn="l" eaLnBrk="0">
              <a:lnSpc>
                <a:spcPct val="110000"/>
              </a:lnSpc>
            </a:pPr>
            <a:r>
              <a:rPr sz="1400" b="0">
                <a:solidFill>
                  <a:srgbClr val="1F2A3A"/>
                </a:solidFill>
                <a:latin typeface="맑은 고딕"/>
                <a:ea typeface="맑은 고딕"/>
                <a:cs typeface="맑은 고딕"/>
              </a:rPr>
              <a:t>승인 순간 다시 읽은 값: 원격 자동 · 운전 중</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건의</a:t>
            </a:r>
          </a:p>
          <a:p>
            <a:pPr algn="l" eaLnBrk="0">
              <a:lnSpc>
                <a:spcPct val="110000"/>
              </a:lnSpc>
            </a:pPr>
            <a:r>
              <a:rPr sz="1250" b="1">
                <a:solidFill>
                  <a:srgbClr val="556175"/>
                </a:solidFill>
                <a:latin typeface="맑은 고딕"/>
                <a:ea typeface="맑은 고딕"/>
                <a:cs typeface="맑은 고딕"/>
              </a:rPr>
              <a:t>승인 기록</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동작(Action)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FAN_SET = 100 명령 하나가 설비로 가 실행 완료로 답했다</a:t>
            </a:r>
          </a:p>
          <a:p>
            <a:pPr algn="l" eaLnBrk="0">
              <a:lnSpc>
                <a:spcPct val="110000"/>
              </a:lnSpc>
            </a:pPr>
            <a:r>
              <a:rPr sz="1400" b="0">
                <a:solidFill>
                  <a:srgbClr val="1F2A3A"/>
                </a:solidFill>
                <a:latin typeface="맑은 고딕"/>
                <a:ea typeface="맑은 고딕"/>
                <a:cs typeface="맑은 고딕"/>
              </a:rPr>
              <a:t>더 쪼갤 수 없는 명령 또는 업무 처리 하나</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Skill</a:t>
            </a:r>
          </a:p>
          <a:p>
            <a:pPr algn="l" eaLnBrk="0">
              <a:lnSpc>
                <a:spcPct val="110000"/>
              </a:lnSpc>
            </a:pPr>
            <a:r>
              <a:rPr sz="1250" b="1">
                <a:solidFill>
                  <a:srgbClr val="1A6FC4"/>
                </a:solidFill>
                <a:latin typeface="맑은 고딕"/>
                <a:ea typeface="맑은 고딕"/>
                <a:cs typeface="맑은 고딕"/>
              </a:rPr>
              <a:t>-CONSISTS_OF→</a:t>
            </a:r>
          </a:p>
          <a:p>
            <a:pPr algn="l" eaLnBrk="0">
              <a:lnSpc>
                <a:spcPct val="110000"/>
              </a:lnSpc>
            </a:pPr>
            <a:r>
              <a:rPr sz="1250" b="1">
                <a:solidFill>
                  <a:srgbClr val="1A6FC4"/>
                </a:solidFill>
                <a:latin typeface="맑은 고딕"/>
                <a:ea typeface="맑은 고딕"/>
                <a:cs typeface="맑은 고딕"/>
              </a:rPr>
              <a:t>Action</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발행</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재관측 뒤 핀 세척 작업지시가 CMMS에 「배정됨」으로 등록됐다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WO_CREATE</a:t>
            </a:r>
          </a:p>
          <a:p>
            <a:pPr algn="l" eaLnBrk="0">
              <a:lnSpc>
                <a:spcPct val="110000"/>
              </a:lnSpc>
            </a:pPr>
            <a:r>
              <a:rPr sz="1250" b="1">
                <a:solidFill>
                  <a:srgbClr val="556175"/>
                </a:solidFill>
                <a:latin typeface="맑은 고딕"/>
                <a:ea typeface="맑은 고딕"/>
                <a:cs typeface="맑은 고딕"/>
              </a:rPr>
              <a:t>→ CMMS</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현장 정비 완료</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정지 · 잠금 · 세척 · 재가동 뒤 CE 80 % 이상 확인</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사람이</a:t>
            </a:r>
          </a:p>
          <a:p>
            <a:pPr algn="l" eaLnBrk="0">
              <a:lnSpc>
                <a:spcPct val="110000"/>
              </a:lnSpc>
            </a:pPr>
            <a:r>
              <a:rPr sz="1250" b="1">
                <a:solidFill>
                  <a:srgbClr val="556175"/>
                </a:solidFill>
                <a:latin typeface="맑은 고딕"/>
                <a:ea typeface="맑은 고딕"/>
                <a:cs typeface="맑은 고딕"/>
              </a:rPr>
              <a:t>단계대로 수행</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10</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매뉴얼의 조건 문장을 판정 규칙으로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「REMOTE_AUTO일 때만」 「24시간을 넘겼다면」 「55 ℃ 이상이면」을 규칙으로</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순서를 정하는 SOP와 판정을 내는 DMN</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SOP의 순서는 값 없이 읽히지만, 「~일 때만」 같은 조건은 판단 시점의 값이 있어야 참 · 거짓이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SOP(표준 작업 절차)</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답하는 물음: 어떻게, 어떤 차례로 하는가</a:t>
            </a:r>
          </a:p>
          <a:p>
            <a:pPr algn="l" eaLnBrk="0" marL="171450" indent="-171450">
              <a:lnSpc>
                <a:spcPct val="110000"/>
              </a:lnSpc>
              <a:spcAft>
                <a:spcPts val="600"/>
              </a:spcAft>
            </a:pPr>
            <a:r>
              <a:rPr sz="1500" b="0">
                <a:solidFill>
                  <a:srgbClr val="1F2A3A"/>
                </a:solidFill>
                <a:latin typeface="맑은 고딕"/>
                <a:ea typeface="맑은 고딕"/>
                <a:cs typeface="맑은 고딕"/>
              </a:rPr>
              <a:t>• 「2. 팬 속도를 100 %로 올린다.」</a:t>
            </a:r>
          </a:p>
          <a:p>
            <a:pPr algn="l" eaLnBrk="0" marL="171450" indent="-171450">
              <a:lnSpc>
                <a:spcPct val="110000"/>
              </a:lnSpc>
              <a:spcAft>
                <a:spcPts val="600"/>
              </a:spcAft>
            </a:pPr>
            <a:r>
              <a:rPr sz="1500" b="0">
                <a:solidFill>
                  <a:srgbClr val="1F2A3A"/>
                </a:solidFill>
                <a:latin typeface="맑은 고딕"/>
                <a:ea typeface="맑은 고딕"/>
                <a:cs typeface="맑은 고딕"/>
              </a:rPr>
              <a:t>• 사람이 단계대로 수행하고 확인한다</a:t>
            </a:r>
          </a:p>
          <a:p>
            <a:pPr algn="l" eaLnBrk="0" marL="171450" indent="-171450">
              <a:lnSpc>
                <a:spcPct val="110000"/>
              </a:lnSpc>
              <a:spcAft>
                <a:spcPts val="600"/>
              </a:spcAft>
            </a:pPr>
            <a:r>
              <a:rPr sz="1500" b="0">
                <a:solidFill>
                  <a:srgbClr val="1F2A3A"/>
                </a:solidFill>
                <a:latin typeface="맑은 고딕"/>
                <a:ea typeface="맑은 고딕"/>
                <a:cs typeface="맑은 고딕"/>
              </a:rPr>
              <a:t>• 수행 때도 1단계처럼 상태를 다시 본다</a:t>
            </a:r>
          </a:p>
        </p:txBody>
      </p:sp>
      <p:sp>
        <p:nvSpPr>
          <p:cNvPr id="11" name="Rounded Rectangle 10"/>
          <p:cNvSpPr/>
          <p:nvPr/>
        </p:nvSpPr>
        <p:spPr>
          <a:xfrm>
            <a:off x="868680" y="5420106"/>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table" descr="table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DMN(Decision Model and Notation)</a:t>
            </a:r>
          </a:p>
        </p:txBody>
      </p:sp>
      <p:sp>
        <p:nvSpPr>
          <p:cNvPr id="17" name="TextBox 16"/>
          <p:cNvSpPr txBox="1"/>
          <p:nvPr/>
        </p:nvSpPr>
        <p:spPr>
          <a:xfrm>
            <a:off x="6735927" y="3156966"/>
            <a:ext cx="4632807" cy="2171700"/>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업무 의사결정을 정의하는 OMG의 표준</a:t>
            </a:r>
          </a:p>
          <a:p>
            <a:pPr algn="l" eaLnBrk="0" marL="160020" indent="-160020">
              <a:lnSpc>
                <a:spcPct val="110000"/>
              </a:lnSpc>
              <a:spcAft>
                <a:spcPts val="600"/>
              </a:spcAft>
            </a:pPr>
            <a:r>
              <a:rPr sz="1400" b="0">
                <a:solidFill>
                  <a:srgbClr val="1F2A3A"/>
                </a:solidFill>
                <a:latin typeface="맑은 고딕"/>
                <a:ea typeface="맑은 고딕"/>
                <a:cs typeface="맑은 고딕"/>
              </a:rPr>
              <a:t>• 답하는 물음: 지금 이 조치를 해도 되는가</a:t>
            </a:r>
          </a:p>
          <a:p>
            <a:pPr algn="l" eaLnBrk="0" marL="160020" indent="-160020">
              <a:lnSpc>
                <a:spcPct val="110000"/>
              </a:lnSpc>
              <a:spcAft>
                <a:spcPts val="600"/>
              </a:spcAft>
            </a:pPr>
            <a:r>
              <a:rPr sz="1400" b="0">
                <a:solidFill>
                  <a:srgbClr val="1F2A3A"/>
                </a:solidFill>
                <a:latin typeface="맑은 고딕"/>
                <a:ea typeface="맑은 고딕"/>
                <a:cs typeface="맑은 고딕"/>
              </a:rPr>
              <a:t>• 「원격 조치는 REMOTE_AUTO가 아닐 때 쓰지 않는다.」</a:t>
            </a:r>
          </a:p>
          <a:p>
            <a:pPr algn="l" eaLnBrk="0" marL="160020" indent="-160020">
              <a:lnSpc>
                <a:spcPct val="110000"/>
              </a:lnSpc>
              <a:spcAft>
                <a:spcPts val="600"/>
              </a:spcAft>
            </a:pPr>
            <a:r>
              <a:rPr sz="1400" b="0">
                <a:solidFill>
                  <a:srgbClr val="1F2A3A"/>
                </a:solidFill>
                <a:latin typeface="맑은 고딕"/>
                <a:ea typeface="맑은 고딕"/>
                <a:cs typeface="맑은 고딕"/>
              </a:rPr>
              <a:t>• 옮긴 조건: plc_mode != 'REMOTE_AUTO'이면 제외</a:t>
            </a:r>
          </a:p>
        </p:txBody>
      </p:sp>
      <p:sp>
        <p:nvSpPr>
          <p:cNvPr id="18" name="Rounded Rectangle 17"/>
          <p:cNvSpPr/>
          <p:nvPr/>
        </p:nvSpPr>
        <p:spPr>
          <a:xfrm>
            <a:off x="6781647" y="5420106"/>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입력 데이터(InputData): 판정에 쓰는 값과 읽는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결정표에는 입력의 이름과 기준만 있고, 값은 판정하는 순간 정해진 출처에서 읽어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 데이터 · 변수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읽는 곳과 뜻</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PLC 운전 모드 · plc_mode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SCADA의 PLC 상태</a:t>
            </a:r>
          </a:p>
          <a:p>
            <a:pPr algn="l" eaLnBrk="0">
              <a:lnSpc>
                <a:spcPct val="110000"/>
              </a:lnSpc>
            </a:pPr>
            <a:r>
              <a:rPr sz="1400" b="0">
                <a:solidFill>
                  <a:srgbClr val="1F2A3A"/>
                </a:solidFill>
                <a:latin typeface="맑은 고딕"/>
                <a:ea typeface="맑은 고딕"/>
                <a:cs typeface="맑은 고딕"/>
              </a:rPr>
              <a:t>REMOTE_AUTO · REMOTE_MANUAL · LOCAL</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REMOTE_AUTO</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PLC 상태 · plc_state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SCADA의 PLC 상태</a:t>
            </a:r>
          </a:p>
          <a:p>
            <a:pPr algn="l" eaLnBrk="0">
              <a:lnSpc>
                <a:spcPct val="110000"/>
              </a:lnSpc>
            </a:pPr>
            <a:r>
              <a:rPr sz="1400" b="0">
                <a:solidFill>
                  <a:srgbClr val="1F2A3A"/>
                </a:solidFill>
                <a:latin typeface="맑은 고딕"/>
                <a:ea typeface="맑은 고딕"/>
                <a:cs typeface="맑은 고딕"/>
              </a:rPr>
              <a:t>운전 중인지, 보호 정지(TRIP)인지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 중</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100 % 연속 운전 시간 · fan100_hours</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 이력(시계열)에서 계산한 지금까지의 연속 시간</a:t>
            </a:r>
          </a:p>
          <a:p>
            <a:pPr algn="l" eaLnBrk="0">
              <a:lnSpc>
                <a:spcPct val="110000"/>
              </a:lnSpc>
            </a:pPr>
            <a:r>
              <a:rPr sz="1400" b="0">
                <a:solidFill>
                  <a:srgbClr val="1F2A3A"/>
                </a:solidFill>
                <a:latin typeface="맑은 고딕"/>
                <a:ea typeface="맑은 고딕"/>
                <a:cs typeface="맑은 고딕"/>
              </a:rPr>
              <a:t>기록이 없으면 0 h가 아니라 모름</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0 h</a:t>
            </a:r>
          </a:p>
          <a:p>
            <a:pPr algn="l" eaLnBrk="0">
              <a:lnSpc>
                <a:spcPct val="110000"/>
              </a:lnSpc>
            </a:pPr>
            <a:r>
              <a:rPr sz="1250" b="1">
                <a:solidFill>
                  <a:srgbClr val="1A6FC4"/>
                </a:solidFill>
                <a:latin typeface="맑은 고딕"/>
                <a:ea typeface="맑은 고딕"/>
                <a:cs typeface="맑은 고딕"/>
              </a:rPr>
              <a:t>(팬 60 %)</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조치 후 예측 유온 · forecast_ts1</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예측 계산, 후보마다 따로</a:t>
            </a:r>
          </a:p>
          <a:p>
            <a:pPr algn="l" eaLnBrk="0">
              <a:lnSpc>
                <a:spcPct val="110000"/>
              </a:lnSpc>
            </a:pPr>
            <a:r>
              <a:rPr sz="1400" b="0">
                <a:solidFill>
                  <a:srgbClr val="1F2A3A"/>
                </a:solidFill>
                <a:latin typeface="맑은 고딕"/>
                <a:ea typeface="맑은 고딕"/>
                <a:cs typeface="맑은 고딕"/>
              </a:rPr>
              <a:t>관측한 온도가 아니다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SOP-COOL-11 49.8 ℃</a:t>
            </a:r>
          </a:p>
          <a:p>
            <a:pPr algn="l" eaLnBrk="0">
              <a:lnSpc>
                <a:spcPct val="110000"/>
              </a:lnSpc>
            </a:pPr>
            <a:r>
              <a:rPr sz="1250" b="1">
                <a:solidFill>
                  <a:srgbClr val="556175"/>
                </a:solidFill>
                <a:latin typeface="맑은 고딕"/>
                <a:ea typeface="맑은 고딕"/>
                <a:cs typeface="맑은 고딕"/>
              </a:rPr>
              <a:t>SOP-COOL-14 62.5 ℃</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후보 조치의 종류 · skill_kind</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후보 조치 방법의 kind</a:t>
            </a:r>
          </a:p>
          <a:p>
            <a:pPr algn="l" eaLnBrk="0">
              <a:lnSpc>
                <a:spcPct val="110000"/>
              </a:lnSpc>
            </a:pPr>
            <a:r>
              <a:rPr sz="1400" b="0">
                <a:solidFill>
                  <a:srgbClr val="1F2A3A"/>
                </a:solidFill>
                <a:latin typeface="맑은 고딕"/>
                <a:ea typeface="맑은 고딕"/>
                <a:cs typeface="맑은 고딕"/>
              </a:rPr>
              <a:t>control · work_order</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후보마다</a:t>
            </a:r>
          </a:p>
          <a:p>
            <a:pPr algn="l" eaLnBrk="0">
              <a:lnSpc>
                <a:spcPct val="110000"/>
              </a:lnSpc>
            </a:pPr>
            <a:r>
              <a:rPr sz="1250" b="1">
                <a:solidFill>
                  <a:srgbClr val="556175"/>
                </a:solidFill>
                <a:latin typeface="맑은 고딕"/>
                <a:ea typeface="맑은 고딕"/>
                <a:cs typeface="맑은 고딕"/>
              </a:rPr>
              <a:t>다르다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 · 결정표 · 규칙으로 쿨러 사건 판정하기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결정표는 한 물음에 답하는 규칙 행의 모음이라, 같은 입력을 대면 누가 판정해도 행마다 같은 결과가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83</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Decision  dec:compliance</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가운데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없거나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무엇인가</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DecisionTable  dt:compliance  (</a:t>
            </a:r>
            <a:r>
              <a:rPr sz="1300" b="0">
                <a:solidFill>
                  <a:srgbClr val="E8EEF6"/>
                </a:solidFill>
                <a:latin typeface="맑은 고딕"/>
                <a:ea typeface="맑은 고딕"/>
                <a:cs typeface="맑은 고딕"/>
              </a:rPr>
              <a:t>규칙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발췌</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R1  plc_mode != 'REMOTE_AUTO'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12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13</a:t>
            </a:r>
          </a:p>
          <a:p>
            <a:pPr algn="l" eaLnBrk="0">
              <a:lnSpc>
                <a:spcPct val="110000"/>
              </a:lnSpc>
              <a:spcAft>
                <a:spcPts val="200"/>
              </a:spcAft>
            </a:pPr>
            <a:r>
              <a:rPr sz="1300" b="0">
                <a:solidFill>
                  <a:srgbClr val="E8EEF6"/>
                </a:solidFill>
                <a:latin typeface="Consolas"/>
                <a:ea typeface="맑은 고딕"/>
                <a:cs typeface="맑은 고딕"/>
              </a:rPr>
              <a:t>  R2  fan100_hours &gt; 24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12</a:t>
            </a:r>
          </a:p>
          <a:p>
            <a:pPr algn="l" eaLnBrk="0">
              <a:lnSpc>
                <a:spcPct val="110000"/>
              </a:lnSpc>
              <a:spcAft>
                <a:spcPts val="200"/>
              </a:spcAft>
            </a:pPr>
            <a:r>
              <a:rPr sz="1300" b="0">
                <a:solidFill>
                  <a:srgbClr val="E8EEF6"/>
                </a:solidFill>
                <a:latin typeface="Consolas"/>
                <a:ea typeface="맑은 고딕"/>
                <a:cs typeface="맑은 고딕"/>
              </a:rPr>
              <a:t>  R3  forecast_ts1 &gt;= 55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경고</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사건</a:t>
            </a:r>
            <a:r>
              <a:rPr sz="1300" b="0">
                <a:solidFill>
                  <a:srgbClr val="E8EEF6"/>
                </a:solidFill>
                <a:latin typeface="Consolas"/>
                <a:ea typeface="맑은 고딕"/>
                <a:cs typeface="맑은 고딕"/>
              </a:rPr>
              <a:t>: REMOTE_AUTO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0 h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SOP-COOL-11  49.8</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R1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R2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R3 </a:t>
            </a:r>
            <a:r>
              <a:rPr sz="1300" b="0">
                <a:solidFill>
                  <a:srgbClr val="E8EEF6"/>
                </a:solidFill>
                <a:latin typeface="맑은 고딕"/>
                <a:ea typeface="맑은 고딕"/>
                <a:cs typeface="맑은 고딕"/>
              </a:rPr>
              <a:t>모두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p>
          <a:p>
            <a:pPr algn="l" eaLnBrk="0">
              <a:lnSpc>
                <a:spcPct val="110000"/>
              </a:lnSpc>
              <a:spcAft>
                <a:spcPts val="200"/>
              </a:spcAft>
            </a:pPr>
            <a:r>
              <a:rPr sz="1300" b="0">
                <a:solidFill>
                  <a:srgbClr val="E8EEF6"/>
                </a:solidFill>
                <a:latin typeface="Consolas"/>
                <a:ea typeface="맑은 고딕"/>
                <a:cs typeface="맑은 고딕"/>
              </a:rPr>
              <a:t>  SOP-COOL-14  62.5</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R3</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경고</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결정(Decision)</a:t>
            </a:r>
          </a:p>
          <a:p>
            <a:pPr algn="l" eaLnBrk="0">
              <a:lnSpc>
                <a:spcPct val="110000"/>
              </a:lnSpc>
              <a:spcAft>
                <a:spcPts val="400"/>
              </a:spcAft>
            </a:pPr>
            <a:r>
              <a:rPr sz="1400" b="0">
                <a:solidFill>
                  <a:srgbClr val="1F2A3A"/>
                </a:solidFill>
                <a:latin typeface="맑은 고딕"/>
                <a:ea typeface="맑은 고딕"/>
                <a:cs typeface="맑은 고딕"/>
              </a:rPr>
              <a:t>판단해서 답할 물음 하나.</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결정표(DecisionTable)</a:t>
            </a:r>
          </a:p>
          <a:p>
            <a:pPr algn="l" eaLnBrk="0">
              <a:lnSpc>
                <a:spcPct val="110000"/>
              </a:lnSpc>
              <a:spcAft>
                <a:spcPts val="400"/>
              </a:spcAft>
            </a:pPr>
            <a:r>
              <a:rPr sz="1400" b="0">
                <a:solidFill>
                  <a:srgbClr val="1F2A3A"/>
                </a:solidFill>
                <a:latin typeface="맑은 고딕"/>
                <a:ea typeface="맑은 고딕"/>
                <a:cs typeface="맑은 고딕"/>
              </a:rPr>
              <a:t>같은 물음에 답하는 규칙의 모음.</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규칙(Rule)</a:t>
            </a:r>
          </a:p>
          <a:p>
            <a:pPr algn="l" eaLnBrk="0">
              <a:lnSpc>
                <a:spcPct val="110000"/>
              </a:lnSpc>
              <a:spcAft>
                <a:spcPts val="400"/>
              </a:spcAft>
            </a:pPr>
            <a:r>
              <a:rPr sz="1400" b="0">
                <a:solidFill>
                  <a:srgbClr val="1F2A3A"/>
                </a:solidFill>
                <a:latin typeface="맑은 고딕"/>
                <a:ea typeface="맑은 고딕"/>
                <a:cs typeface="맑은 고딕"/>
              </a:rPr>
              <a:t>표의 한 행. 조건이 모두 맞으면 출력을 내고, 아니면 아무것도 내지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적용 대상</a:t>
            </a:r>
          </a:p>
          <a:p>
            <a:pPr algn="l" eaLnBrk="0">
              <a:lnSpc>
                <a:spcPct val="110000"/>
              </a:lnSpc>
              <a:spcAft>
                <a:spcPts val="400"/>
              </a:spcAft>
            </a:pPr>
            <a:r>
              <a:rPr sz="1400" b="0">
                <a:solidFill>
                  <a:srgbClr val="1F2A3A"/>
                </a:solidFill>
                <a:latin typeface="맑은 고딕"/>
                <a:ea typeface="맑은 고딕"/>
                <a:cs typeface="맑은 고딕"/>
              </a:rPr>
              <a:t>행마다 걸리는 조치가 정해져 있다. R1 · R2는 SOP-COOL-14에 걸리지 않는다.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조건 문장을 입력 · 연산자 · 기준값으로 옮기기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조건 하나는 입력 · 연산자 · 기준값으로 적고, 「~일 때만 한다」는 반대 조건에 걸리면 제외하는 행으로 옮긴다.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원문의 표현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옮긴 조건과 연산자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기준값 자신은</a:t>
            </a:r>
          </a:p>
        </p:txBody>
      </p:sp>
      <p:sp>
        <p:nvSpPr>
          <p:cNvPr id="10" name="Rounded Rectangle 9"/>
          <p:cNvSpPr/>
          <p:nvPr/>
        </p:nvSpPr>
        <p:spPr>
          <a:xfrm>
            <a:off x="548640" y="2061972"/>
            <a:ext cx="11094415" cy="656843"/>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「REMOTE_AUTO일 때만 한다」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plc_mode != 'REMOTE_AUTO' → 제외</a:t>
            </a:r>
          </a:p>
          <a:p>
            <a:pPr algn="l" eaLnBrk="0">
              <a:lnSpc>
                <a:spcPct val="110000"/>
              </a:lnSpc>
            </a:pPr>
            <a:r>
              <a:rPr sz="1400" b="0">
                <a:solidFill>
                  <a:srgbClr val="1F2A3A"/>
                </a:solidFill>
                <a:latin typeface="맑은 고딕"/>
                <a:ea typeface="맑은 고딕"/>
                <a:cs typeface="맑은 고딕"/>
              </a:rPr>
              <a:t>허용 조건을 뒤집어 제외 행으로 적는다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REMOTE_AUTO면</a:t>
            </a:r>
          </a:p>
          <a:p>
            <a:pPr algn="l" eaLnBrk="0">
              <a:lnSpc>
                <a:spcPct val="110000"/>
              </a:lnSpc>
            </a:pPr>
            <a:r>
              <a:rPr sz="1250" b="1">
                <a:solidFill>
                  <a:srgbClr val="1A6FC4"/>
                </a:solidFill>
                <a:latin typeface="맑은 고딕"/>
                <a:ea typeface="맑은 고딕"/>
                <a:cs typeface="맑은 고딕"/>
              </a:rPr>
              <a:t>후보에 남는다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「24시간을 넘겼다면」</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fan100_hours &gt; 24 → 감점</a:t>
            </a:r>
          </a:p>
          <a:p>
            <a:pPr algn="l" eaLnBrk="0">
              <a:lnSpc>
                <a:spcPct val="110000"/>
              </a:lnSpc>
            </a:pPr>
            <a:r>
              <a:rPr sz="1400" b="0">
                <a:solidFill>
                  <a:srgbClr val="1F2A3A"/>
                </a:solidFill>
                <a:latin typeface="맑은 고딕"/>
                <a:ea typeface="맑은 고딕"/>
                <a:cs typeface="맑은 고딕"/>
              </a:rPr>
              <a:t>&gt; 초과</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24.0 h는</a:t>
            </a:r>
          </a:p>
          <a:p>
            <a:pPr algn="l" eaLnBrk="0">
              <a:lnSpc>
                <a:spcPct val="110000"/>
              </a:lnSpc>
            </a:pPr>
            <a:r>
              <a:rPr sz="1250" b="1">
                <a:solidFill>
                  <a:srgbClr val="556175"/>
                </a:solidFill>
                <a:latin typeface="맑은 고딕"/>
                <a:ea typeface="맑은 고딕"/>
                <a:cs typeface="맑은 고딕"/>
              </a:rPr>
              <a:t>맞지 않는다</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「55 ℃ 이상이면」</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forecast_ts1 &gt;= 55 → 경고</a:t>
            </a:r>
          </a:p>
          <a:p>
            <a:pPr algn="l" eaLnBrk="0">
              <a:lnSpc>
                <a:spcPct val="110000"/>
              </a:lnSpc>
            </a:pPr>
            <a:r>
              <a:rPr sz="1400" b="0">
                <a:solidFill>
                  <a:srgbClr val="1F2A3A"/>
                </a:solidFill>
                <a:latin typeface="맑은 고딕"/>
                <a:ea typeface="맑은 고딕"/>
                <a:cs typeface="맑은 고딕"/>
              </a:rPr>
              <a:t>&gt;= 이상</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55.0 ℃도</a:t>
            </a:r>
          </a:p>
          <a:p>
            <a:pPr algn="l" eaLnBrk="0">
              <a:lnSpc>
                <a:spcPct val="110000"/>
              </a:lnSpc>
            </a:pPr>
            <a:r>
              <a:rPr sz="1250" b="1">
                <a:solidFill>
                  <a:srgbClr val="556175"/>
                </a:solidFill>
                <a:latin typeface="맑은 고딕"/>
                <a:ea typeface="맑은 고딕"/>
                <a:cs typeface="맑은 고딕"/>
              </a:rPr>
              <a:t>맞는다</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「55 ℃ 미만이고 … 유지되면」</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ts1 &lt; 55 (HM-8.6 회복 판정)</a:t>
            </a:r>
          </a:p>
          <a:p>
            <a:pPr algn="l" eaLnBrk="0">
              <a:lnSpc>
                <a:spcPct val="110000"/>
              </a:lnSpc>
            </a:pPr>
            <a:r>
              <a:rPr sz="1400" b="0">
                <a:solidFill>
                  <a:srgbClr val="1F2A3A"/>
                </a:solidFill>
                <a:latin typeface="맑은 고딕"/>
                <a:ea typeface="맑은 고딕"/>
                <a:cs typeface="맑은 고딕"/>
              </a:rPr>
              <a:t>&lt; 미만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55.0 ℃는</a:t>
            </a:r>
          </a:p>
          <a:p>
            <a:pPr algn="l" eaLnBrk="0">
              <a:lnSpc>
                <a:spcPct val="110000"/>
              </a:lnSpc>
            </a:pPr>
            <a:r>
              <a:rPr sz="1250" b="1">
                <a:solidFill>
                  <a:srgbClr val="556175"/>
                </a:solidFill>
                <a:latin typeface="맑은 고딕"/>
                <a:ea typeface="맑은 고딕"/>
                <a:cs typeface="맑은 고딕"/>
              </a:rPr>
              <a:t>맞지 않는다</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「트립 중이면」</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plc_state == 'TRIP'</a:t>
            </a:r>
          </a:p>
          <a:p>
            <a:pPr algn="l" eaLnBrk="0">
              <a:lnSpc>
                <a:spcPct val="110000"/>
              </a:lnSpc>
            </a:pPr>
            <a:r>
              <a:rPr sz="1400" b="0">
                <a:solidFill>
                  <a:srgbClr val="1F2A3A"/>
                </a:solidFill>
                <a:latin typeface="맑은 고딕"/>
                <a:ea typeface="맑은 고딕"/>
                <a:cs typeface="맑은 고딕"/>
              </a:rPr>
              <a:t>== 같다, 이름으로 된 값</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글자가 같아야</a:t>
            </a:r>
          </a:p>
          <a:p>
            <a:pPr algn="l" eaLnBrk="0">
              <a:lnSpc>
                <a:spcPct val="110000"/>
              </a:lnSpc>
            </a:pPr>
            <a:r>
              <a:rPr sz="1250" b="1">
                <a:solidFill>
                  <a:srgbClr val="556175"/>
                </a:solidFill>
                <a:latin typeface="맑은 고딕"/>
                <a:ea typeface="맑은 고딕"/>
                <a:cs typeface="맑은 고딕"/>
              </a:rPr>
              <a:t>맞는다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단위</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fan100_hours는 h, forecast_ts1은 ℃</a:t>
            </a:r>
          </a:p>
          <a:p>
            <a:pPr algn="l" eaLnBrk="0">
              <a:lnSpc>
                <a:spcPct val="110000"/>
              </a:lnSpc>
            </a:pPr>
            <a:r>
              <a:rPr sz="1400" b="0">
                <a:solidFill>
                  <a:srgbClr val="1F2A3A"/>
                </a:solidFill>
                <a:latin typeface="맑은 고딕"/>
                <a:ea typeface="맑은 고딕"/>
                <a:cs typeface="맑은 고딕"/>
              </a:rPr>
              <a:t>입력과 기준값의 단위를 먼저 맞춘다</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분 단위 입력은</a:t>
            </a:r>
          </a:p>
          <a:p>
            <a:pPr algn="l" eaLnBrk="0">
              <a:lnSpc>
                <a:spcPct val="110000"/>
              </a:lnSpc>
            </a:pPr>
            <a:r>
              <a:rPr sz="1250" b="1">
                <a:solidFill>
                  <a:srgbClr val="556175"/>
                </a:solidFill>
                <a:latin typeface="맑은 고딕"/>
                <a:ea typeface="맑은 고딕"/>
                <a:cs typeface="맑은 고딕"/>
              </a:rPr>
              <a:t>바꾼 뒤 비교</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사건 값으로는 보이지 않는 부호 실수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실제 값은 부호를 잘못 옮겨도 판정이 같아서, 기준값과 바로 아래 · 위를 넣어야 실수가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넣어 본 입력</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바르게 옮긴 행</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부호를 바꿔 옮기면(가정)</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62.5 ℃ · 쿨러 사건 값</a:t>
            </a:r>
          </a:p>
        </p:txBody>
      </p:sp>
      <p:sp>
        <p:nvSpPr>
          <p:cNvPr id="12" name="TextBox 11"/>
          <p:cNvSpPr txBox="1"/>
          <p:nvPr/>
        </p:nvSpPr>
        <p:spPr>
          <a:xfrm>
            <a:off x="3200400" y="2029968"/>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forecast_ts1 &gt;= 55 → 경고</a:t>
            </a:r>
          </a:p>
        </p:txBody>
      </p:sp>
      <p:sp>
        <p:nvSpPr>
          <p:cNvPr id="13" name="TextBox 12"/>
          <p:cNvSpPr txBox="1"/>
          <p:nvPr/>
        </p:nvSpPr>
        <p:spPr>
          <a:xfrm>
            <a:off x="9448495" y="2029968"/>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&gt; 55로도 경고</a:t>
            </a:r>
          </a:p>
          <a:p>
            <a:pPr algn="l" eaLnBrk="0">
              <a:lnSpc>
                <a:spcPct val="110000"/>
              </a:lnSpc>
            </a:pPr>
            <a:r>
              <a:rPr sz="1250" b="1">
                <a:solidFill>
                  <a:srgbClr val="556175"/>
                </a:solidFill>
                <a:latin typeface="맑은 고딕"/>
                <a:ea typeface="맑은 고딕"/>
                <a:cs typeface="맑은 고딕"/>
              </a:rPr>
              <a:t>차이가 보이지 않는다</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54.9 ℃</a:t>
            </a:r>
          </a:p>
        </p:txBody>
      </p:sp>
      <p:sp>
        <p:nvSpPr>
          <p:cNvPr id="16" name="TextBox 15"/>
          <p:cNvSpPr txBox="1"/>
          <p:nvPr/>
        </p:nvSpPr>
        <p:spPr>
          <a:xfrm>
            <a:off x="3200400" y="2570607"/>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경고 없음</a:t>
            </a:r>
          </a:p>
        </p:txBody>
      </p:sp>
      <p:sp>
        <p:nvSpPr>
          <p:cNvPr id="17" name="TextBox 16"/>
          <p:cNvSpPr txBox="1"/>
          <p:nvPr/>
        </p:nvSpPr>
        <p:spPr>
          <a:xfrm>
            <a:off x="9448495" y="2570607"/>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경고 없음</a:t>
            </a:r>
          </a:p>
        </p:txBody>
      </p:sp>
      <p:sp>
        <p:nvSpPr>
          <p:cNvPr id="18" name="Rounded Rectangle 17"/>
          <p:cNvSpPr/>
          <p:nvPr/>
        </p:nvSpPr>
        <p:spPr>
          <a:xfrm>
            <a:off x="548640" y="3143250"/>
            <a:ext cx="11094415" cy="476631"/>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55.0 ℃</a:t>
            </a:r>
          </a:p>
        </p:txBody>
      </p:sp>
      <p:sp>
        <p:nvSpPr>
          <p:cNvPr id="20" name="TextBox 19"/>
          <p:cNvSpPr txBox="1"/>
          <p:nvPr/>
        </p:nvSpPr>
        <p:spPr>
          <a:xfrm>
            <a:off x="3200400" y="3111246"/>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경고</a:t>
            </a:r>
          </a:p>
        </p:txBody>
      </p:sp>
      <p:sp>
        <p:nvSpPr>
          <p:cNvPr id="21" name="TextBox 20"/>
          <p:cNvSpPr txBox="1"/>
          <p:nvPr/>
        </p:nvSpPr>
        <p:spPr>
          <a:xfrm>
            <a:off x="9448495" y="3111246"/>
            <a:ext cx="2103120" cy="540639"/>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경고 없음</a:t>
            </a:r>
          </a:p>
          <a:p>
            <a:pPr algn="l" eaLnBrk="0">
              <a:lnSpc>
                <a:spcPct val="110000"/>
              </a:lnSpc>
            </a:pPr>
            <a:r>
              <a:rPr sz="1250" b="1">
                <a:solidFill>
                  <a:srgbClr val="1A6FC4"/>
                </a:solidFill>
                <a:latin typeface="맑은 고딕"/>
                <a:ea typeface="맑은 고딕"/>
                <a:cs typeface="맑은 고딕"/>
              </a:rPr>
              <a:t>여기서만 갈린다</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55.1 ℃</a:t>
            </a:r>
          </a:p>
        </p:txBody>
      </p:sp>
      <p:sp>
        <p:nvSpPr>
          <p:cNvPr id="24" name="TextBox 23"/>
          <p:cNvSpPr txBox="1"/>
          <p:nvPr/>
        </p:nvSpPr>
        <p:spPr>
          <a:xfrm>
            <a:off x="3200400" y="3651885"/>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경고</a:t>
            </a:r>
          </a:p>
        </p:txBody>
      </p:sp>
      <p:sp>
        <p:nvSpPr>
          <p:cNvPr id="25" name="TextBox 24"/>
          <p:cNvSpPr txBox="1"/>
          <p:nvPr/>
        </p:nvSpPr>
        <p:spPr>
          <a:xfrm>
            <a:off x="9448495" y="3651885"/>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경고</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0 h · 쿨러 사건 값</a:t>
            </a:r>
          </a:p>
        </p:txBody>
      </p:sp>
      <p:sp>
        <p:nvSpPr>
          <p:cNvPr id="28" name="TextBox 27"/>
          <p:cNvSpPr txBox="1"/>
          <p:nvPr/>
        </p:nvSpPr>
        <p:spPr>
          <a:xfrm>
            <a:off x="3200400" y="4192524"/>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fan100_hours &gt; 24 → 감점 없음</a:t>
            </a:r>
          </a:p>
        </p:txBody>
      </p:sp>
      <p:sp>
        <p:nvSpPr>
          <p:cNvPr id="29" name="TextBox 28"/>
          <p:cNvSpPr txBox="1"/>
          <p:nvPr/>
        </p:nvSpPr>
        <p:spPr>
          <a:xfrm>
            <a:off x="9448495" y="4192524"/>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&gt;= 24로도 감점 없음</a:t>
            </a:r>
          </a:p>
          <a:p>
            <a:pPr algn="l" eaLnBrk="0">
              <a:lnSpc>
                <a:spcPct val="110000"/>
              </a:lnSpc>
            </a:pPr>
            <a:r>
              <a:rPr sz="1250" b="1">
                <a:solidFill>
                  <a:srgbClr val="556175"/>
                </a:solidFill>
                <a:latin typeface="맑은 고딕"/>
                <a:ea typeface="맑은 고딕"/>
                <a:cs typeface="맑은 고딕"/>
              </a:rPr>
              <a:t>차이가 보이지 않는다</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23.9 h</a:t>
            </a:r>
          </a:p>
        </p:txBody>
      </p:sp>
      <p:sp>
        <p:nvSpPr>
          <p:cNvPr id="32" name="TextBox 31"/>
          <p:cNvSpPr txBox="1"/>
          <p:nvPr/>
        </p:nvSpPr>
        <p:spPr>
          <a:xfrm>
            <a:off x="3200400" y="4733163"/>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감점 없음</a:t>
            </a:r>
          </a:p>
        </p:txBody>
      </p:sp>
      <p:sp>
        <p:nvSpPr>
          <p:cNvPr id="33" name="TextBox 32"/>
          <p:cNvSpPr txBox="1"/>
          <p:nvPr/>
        </p:nvSpPr>
        <p:spPr>
          <a:xfrm>
            <a:off x="9448495" y="4733163"/>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없음</a:t>
            </a:r>
          </a:p>
        </p:txBody>
      </p:sp>
      <p:sp>
        <p:nvSpPr>
          <p:cNvPr id="34" name="Rounded Rectangle 33"/>
          <p:cNvSpPr/>
          <p:nvPr/>
        </p:nvSpPr>
        <p:spPr>
          <a:xfrm>
            <a:off x="548640" y="5305806"/>
            <a:ext cx="11094415" cy="476631"/>
          </a:xfrm>
          <a:prstGeom prst="roundRect">
            <a:avLst>
              <a:gd name="adj" fmla="val 8000"/>
            </a:avLst>
          </a:prstGeom>
          <a:solidFill>
            <a:srgbClr val="E7F3FD"/>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24.0 h</a:t>
            </a:r>
          </a:p>
        </p:txBody>
      </p:sp>
      <p:sp>
        <p:nvSpPr>
          <p:cNvPr id="36" name="TextBox 35"/>
          <p:cNvSpPr txBox="1"/>
          <p:nvPr/>
        </p:nvSpPr>
        <p:spPr>
          <a:xfrm>
            <a:off x="3200400" y="5273802"/>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감점 없음</a:t>
            </a:r>
          </a:p>
        </p:txBody>
      </p:sp>
      <p:sp>
        <p:nvSpPr>
          <p:cNvPr id="37" name="TextBox 36"/>
          <p:cNvSpPr txBox="1"/>
          <p:nvPr/>
        </p:nvSpPr>
        <p:spPr>
          <a:xfrm>
            <a:off x="9448495" y="5273802"/>
            <a:ext cx="2103120" cy="540639"/>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감점 20만 원</a:t>
            </a:r>
          </a:p>
          <a:p>
            <a:pPr algn="l" eaLnBrk="0">
              <a:lnSpc>
                <a:spcPct val="110000"/>
              </a:lnSpc>
            </a:pPr>
            <a:r>
              <a:rPr sz="1250" b="1">
                <a:solidFill>
                  <a:srgbClr val="1A6FC4"/>
                </a:solidFill>
                <a:latin typeface="맑은 고딕"/>
                <a:ea typeface="맑은 고딕"/>
                <a:cs typeface="맑은 고딕"/>
              </a:rPr>
              <a:t>여기서만 갈린다</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24.1 h</a:t>
            </a:r>
          </a:p>
        </p:txBody>
      </p:sp>
      <p:sp>
        <p:nvSpPr>
          <p:cNvPr id="40" name="TextBox 39"/>
          <p:cNvSpPr txBox="1"/>
          <p:nvPr/>
        </p:nvSpPr>
        <p:spPr>
          <a:xfrm>
            <a:off x="3200400" y="5814441"/>
            <a:ext cx="6156655" cy="540639"/>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감점 20만 원</a:t>
            </a:r>
          </a:p>
        </p:txBody>
      </p:sp>
      <p:sp>
        <p:nvSpPr>
          <p:cNvPr id="41" name="TextBox 40"/>
          <p:cNvSpPr txBox="1"/>
          <p:nvPr/>
        </p:nvSpPr>
        <p:spPr>
          <a:xfrm>
            <a:off x="9448495" y="5814441"/>
            <a:ext cx="2103120" cy="540639"/>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감점 20만 원</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행의 AND와 행을 나눈 OR</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행에 적은 검사는 모두 맞아야 출력이 나오고, 둘 중 하나로 같은 답을 내려면 같은 출력의 행을 둘로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검사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둘을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행에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rule:auto-mode</a:t>
            </a:r>
          </a:p>
          <a:p>
            <a:pPr algn="l" eaLnBrk="0">
              <a:lnSpc>
                <a:spcPct val="110000"/>
              </a:lnSpc>
              <a:spcAft>
                <a:spcPts val="200"/>
              </a:spcAft>
            </a:pPr>
            <a:r>
              <a:rPr sz="1300" b="0">
                <a:solidFill>
                  <a:srgbClr val="E8EEF6"/>
                </a:solidFill>
                <a:latin typeface="Consolas"/>
                <a:ea typeface="맑은 고딕"/>
                <a:cs typeface="맑은 고딕"/>
              </a:rPr>
              <a:t>  skill_kind == 'control'  AND  plc_mode != 'REMOTE_AUTO'</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REMOTE_MANUAL    </a:t>
            </a:r>
            <a:r>
              <a:rPr sz="1300" b="0">
                <a:solidFill>
                  <a:srgbClr val="E8EEF6"/>
                </a:solidFill>
                <a:latin typeface="맑은 고딕"/>
                <a:ea typeface="맑은 고딕"/>
                <a:cs typeface="맑은 고딕"/>
              </a:rPr>
              <a:t>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검사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세척</a:t>
            </a:r>
            <a:r>
              <a:rPr sz="1300" b="0">
                <a:solidFill>
                  <a:srgbClr val="E8EEF6"/>
                </a:solidFill>
                <a:latin typeface="Consolas"/>
                <a:ea typeface="맑은 고딕"/>
                <a:cs typeface="맑은 고딕"/>
              </a:rPr>
              <a:t>(work_order)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REMOTE_MANUAL  </a:t>
            </a:r>
            <a:r>
              <a:rPr sz="1300" b="0">
                <a:solidFill>
                  <a:srgbClr val="E8EEF6"/>
                </a:solidFill>
                <a:latin typeface="맑은 고딕"/>
                <a:ea typeface="맑은 고딕"/>
                <a:cs typeface="맑은 고딕"/>
              </a:rPr>
              <a:t>첫</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검사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거짓</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OR: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rule:cand-trip</a:t>
            </a:r>
          </a:p>
          <a:p>
            <a:pPr algn="l" eaLnBrk="0">
              <a:lnSpc>
                <a:spcPct val="110000"/>
              </a:lnSpc>
              <a:spcAft>
                <a:spcPts val="200"/>
              </a:spcAft>
            </a:pPr>
            <a:r>
              <a:rPr sz="1300" b="0">
                <a:solidFill>
                  <a:srgbClr val="E8EEF6"/>
                </a:solidFill>
                <a:latin typeface="Consolas"/>
                <a:ea typeface="맑은 고딕"/>
                <a:cs typeface="맑은 고딕"/>
              </a:rPr>
              <a:t>  plc_state == 'TRIP'  AND  pattern == 'OVERHEAT_TRIP'</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리셋</a:t>
            </a:r>
          </a:p>
          <a:p>
            <a:pPr algn="l" eaLnBrk="0">
              <a:lnSpc>
                <a:spcPct val="110000"/>
              </a:lnSpc>
              <a:spcAft>
                <a:spcPts val="200"/>
              </a:spcAft>
            </a:pPr>
            <a:r>
              <a:rPr sz="1300" b="0">
                <a:solidFill>
                  <a:srgbClr val="E8EEF6"/>
                </a:solidFill>
                <a:latin typeface="Consolas"/>
                <a:ea typeface="맑은 고딕"/>
                <a:cs typeface="맑은 고딕"/>
              </a:rPr>
              <a:t>rule:cand-trip-fm</a:t>
            </a:r>
          </a:p>
          <a:p>
            <a:pPr algn="l" eaLnBrk="0">
              <a:lnSpc>
                <a:spcPct val="110000"/>
              </a:lnSpc>
              <a:spcAft>
                <a:spcPts val="200"/>
              </a:spcAft>
            </a:pPr>
            <a:r>
              <a:rPr sz="1300" b="0">
                <a:solidFill>
                  <a:srgbClr val="E8EEF6"/>
                </a:solidFill>
                <a:latin typeface="Consolas"/>
                <a:ea typeface="맑은 고딕"/>
                <a:cs typeface="맑은 고딕"/>
              </a:rPr>
              <a:t>  failure_mode == 'fm:overheat-trip'</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리셋</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AND</a:t>
            </a:r>
          </a:p>
          <a:p>
            <a:pPr algn="l" eaLnBrk="0">
              <a:lnSpc>
                <a:spcPct val="110000"/>
              </a:lnSpc>
              <a:spcAft>
                <a:spcPts val="400"/>
              </a:spcAft>
            </a:pPr>
            <a:r>
              <a:rPr sz="1400" b="0">
                <a:solidFill>
                  <a:srgbClr val="1F2A3A"/>
                </a:solidFill>
                <a:latin typeface="맑은 고딕"/>
                <a:ea typeface="맑은 고딕"/>
                <a:cs typeface="맑은 고딕"/>
              </a:rPr>
              <a:t>한 행 안의 검사는 모두 맞아야 출력을 낸다.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OR</a:t>
            </a:r>
          </a:p>
          <a:p>
            <a:pPr algn="l" eaLnBrk="0">
              <a:lnSpc>
                <a:spcPct val="110000"/>
              </a:lnSpc>
              <a:spcAft>
                <a:spcPts val="400"/>
              </a:spcAft>
            </a:pPr>
            <a:r>
              <a:rPr sz="1400" b="0">
                <a:solidFill>
                  <a:srgbClr val="1F2A3A"/>
                </a:solidFill>
                <a:latin typeface="맑은 고딕"/>
                <a:ea typeface="맑은 고딕"/>
                <a:cs typeface="맑은 고딕"/>
              </a:rPr>
              <a:t>행을 나눠 같은 출력을 둔다. 두 행이 함께 맞을 수도 있다.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범위</a:t>
            </a:r>
          </a:p>
          <a:p>
            <a:pPr algn="l" eaLnBrk="0">
              <a:lnSpc>
                <a:spcPct val="110000"/>
              </a:lnSpc>
              <a:spcAft>
                <a:spcPts val="400"/>
              </a:spcAft>
            </a:pPr>
            <a:r>
              <a:rPr sz="1400" b="0">
                <a:solidFill>
                  <a:srgbClr val="1F2A3A"/>
                </a:solidFill>
                <a:latin typeface="맑은 고딕"/>
                <a:ea typeface="맑은 고딕"/>
                <a:cs typeface="맑은 고딕"/>
              </a:rPr>
              <a:t>하한과 상한의 검사 둘을 한 행에 AND로 묶는다.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원문 읽기</a:t>
            </a:r>
          </a:p>
          <a:p>
            <a:pPr algn="l" eaLnBrk="0">
              <a:lnSpc>
                <a:spcPct val="110000"/>
              </a:lnSpc>
              <a:spcAft>
                <a:spcPts val="400"/>
              </a:spcAft>
            </a:pPr>
            <a:r>
              <a:rPr sz="1400" b="0">
                <a:solidFill>
                  <a:srgbClr val="1F2A3A"/>
                </a:solidFill>
                <a:latin typeface="맑은 고딕"/>
                <a:ea typeface="맑은 고딕"/>
                <a:cs typeface="맑은 고딕"/>
              </a:rPr>
              <a:t>「그리고」인지 「또는」인지부터 가린다.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규칙의 출력: 후보 선택 · 제외 · 감점 · 경고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후보에 올리는 출력과 오른 후보를 빼고 깎고 알리는 출력이 따로 있어서, 남은 후보도 실행 허가는 아니다.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출력(effect)</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조치의 실제 규칙</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후보는</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후보 선택 SELECT</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성능 상실 → SOP-COOL-11 · 12 · 13 (HM-8.5)</a:t>
            </a:r>
          </a:p>
          <a:p>
            <a:pPr algn="l" eaLnBrk="0">
              <a:lnSpc>
                <a:spcPct val="110000"/>
              </a:lnSpc>
            </a:pPr>
            <a:r>
              <a:rPr sz="1400" b="0">
                <a:solidFill>
                  <a:srgbClr val="1F2A3A"/>
                </a:solidFill>
                <a:latin typeface="맑은 고딕"/>
                <a:ea typeface="맑은 고딕"/>
                <a:cs typeface="맑은 고딕"/>
              </a:rPr>
              <a:t>쿨러 핀 오염 → SOP-COOL-14 (HM-8.7)</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오른다</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제외 EXCLUDE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plc_mode != 'REMOTE_AUTO' → SOP-COOL-11 · 12 · 13 (HM-8.8)</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빠진다</a:t>
            </a:r>
          </a:p>
          <a:p>
            <a:pPr algn="l" eaLnBrk="0">
              <a:lnSpc>
                <a:spcPct val="110000"/>
              </a:lnSpc>
            </a:pPr>
            <a:r>
              <a:rPr sz="1250" b="1">
                <a:solidFill>
                  <a:srgbClr val="1A6FC4"/>
                </a:solidFill>
                <a:latin typeface="맑은 고딕"/>
                <a:ea typeface="맑은 고딕"/>
                <a:cs typeface="맑은 고딕"/>
              </a:rPr>
              <a:t>점수로 되살리지</a:t>
            </a:r>
          </a:p>
          <a:p>
            <a:pPr algn="l" eaLnBrk="0">
              <a:lnSpc>
                <a:spcPct val="110000"/>
              </a:lnSpc>
            </a:pPr>
            <a:r>
              <a:rPr sz="1250" b="1">
                <a:solidFill>
                  <a:srgbClr val="1A6FC4"/>
                </a:solidFill>
                <a:latin typeface="맑은 고딕"/>
                <a:ea typeface="맑은 고딕"/>
                <a:cs typeface="맑은 고딕"/>
              </a:rPr>
              <a:t>않는다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감점 PENALTY</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fan100_hours &gt; 24 → 20만 원, SOP-COOL-11 · 12 (HM-8.8)</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남고 깎인다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경고 WARN</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forecast_ts1 &gt;= 55 → 모든 후보 (HM-8.6)</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남고 확인할</a:t>
            </a:r>
          </a:p>
          <a:p>
            <a:pPr algn="l" eaLnBrk="0">
              <a:lnSpc>
                <a:spcPct val="110000"/>
              </a:lnSpc>
            </a:pPr>
            <a:r>
              <a:rPr sz="1250" b="1">
                <a:solidFill>
                  <a:srgbClr val="556175"/>
                </a:solidFill>
                <a:latin typeface="맑은 고딕"/>
                <a:ea typeface="맑은 고딕"/>
                <a:cs typeface="맑은 고딕"/>
              </a:rPr>
              <a:t>점이 붙는다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승인과 수행</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남은 후보도 사람 승인 1회와 수행 시점의 확인을 거친다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실행은 따로</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결정표를 지금의 값에 대어 판정하기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여러 행이 함께 맞을 때, 값을 모를 때, 행끼리 부딪칠 때의 처리와 남길 근거를 정한다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 Policy: 여러 행이 함께 맞을 때의 처리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Hit Policy</a:t>
            </a:r>
            <a:r>
              <a:rPr sz="1600" b="0">
                <a:solidFill>
                  <a:srgbClr val="556175"/>
                </a:solidFill>
                <a:latin typeface="맑은 고딕"/>
                <a:ea typeface="맑은 고딕"/>
                <a:cs typeface="맑은 고딕"/>
              </a:rPr>
              <a:t>는 한 입력에 여러 행이 맞을 때 무엇을 답으로 삼을지 결정표마다 정해 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89</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SOP-COOL-11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plc_mode = 'REMOTE_MANUAL'</a:t>
            </a:r>
          </a:p>
          <a:p>
            <a:pPr algn="l" eaLnBrk="0">
              <a:lnSpc>
                <a:spcPct val="110000"/>
              </a:lnSpc>
              <a:spcAft>
                <a:spcPts val="200"/>
              </a:spcAft>
            </a:pPr>
            <a:r>
              <a:rPr sz="1300" b="0">
                <a:solidFill>
                  <a:srgbClr val="E8EEF6"/>
                </a:solidFill>
                <a:latin typeface="Consolas"/>
                <a:ea typeface="맑은 고딕"/>
                <a:cs typeface="맑은 고딕"/>
              </a:rPr>
              <a:t>fan100_hours = 30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forecast_ts1 = 56</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적합성</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COLLECT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R1  plc_mode != 'REMOTE_AUTO'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제외</a:t>
            </a:r>
          </a:p>
          <a:p>
            <a:pPr algn="l" eaLnBrk="0">
              <a:lnSpc>
                <a:spcPct val="110000"/>
              </a:lnSpc>
              <a:spcAft>
                <a:spcPts val="200"/>
              </a:spcAft>
            </a:pPr>
            <a:r>
              <a:rPr sz="1300" b="0">
                <a:solidFill>
                  <a:srgbClr val="E8EEF6"/>
                </a:solidFill>
                <a:latin typeface="Consolas"/>
                <a:ea typeface="맑은 고딕"/>
                <a:cs typeface="맑은 고딕"/>
              </a:rPr>
              <a:t>R2  fan100_hours &gt; 24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p>
          <a:p>
            <a:pPr algn="l" eaLnBrk="0">
              <a:lnSpc>
                <a:spcPct val="110000"/>
              </a:lnSpc>
              <a:spcAft>
                <a:spcPts val="200"/>
              </a:spcAft>
            </a:pPr>
            <a:r>
              <a:rPr sz="1300" b="0">
                <a:solidFill>
                  <a:srgbClr val="E8EEF6"/>
                </a:solidFill>
                <a:latin typeface="Consolas"/>
                <a:ea typeface="맑은 고딕"/>
                <a:cs typeface="맑은 고딕"/>
              </a:rPr>
              <a:t>R3  forecast_ts1 &gt;= 55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경고</a:t>
            </a:r>
          </a:p>
          <a:p>
            <a:pPr algn="l" eaLnBrk="0">
              <a:lnSpc>
                <a:spcPct val="110000"/>
              </a:lnSpc>
              <a:spcAft>
                <a:spcPts val="200"/>
              </a:spcAft>
            </a:pP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violations  [</a:t>
            </a: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자동이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아님</a:t>
            </a:r>
            <a:r>
              <a:rPr sz="1300" b="0">
                <a:solidFill>
                  <a:srgbClr val="E8EEF6"/>
                </a:solidFill>
                <a:latin typeface="Consolas"/>
                <a:ea typeface="맑은 고딕"/>
                <a:cs typeface="맑은 고딕"/>
              </a:rPr>
              <a:t>  (HM-8.8)]</a:t>
            </a:r>
          </a:p>
          <a:p>
            <a:pPr algn="l" eaLnBrk="0">
              <a:lnSpc>
                <a:spcPct val="110000"/>
              </a:lnSpc>
              <a:spcAft>
                <a:spcPts val="200"/>
              </a:spcAft>
            </a:pPr>
            <a:r>
              <a:rPr sz="1300" b="0">
                <a:solidFill>
                  <a:srgbClr val="E8EEF6"/>
                </a:solidFill>
                <a:latin typeface="Consolas"/>
                <a:ea typeface="맑은 고딕"/>
                <a:cs typeface="맑은 고딕"/>
              </a:rPr>
              <a:t>penalties   [</a:t>
            </a:r>
            <a:r>
              <a:rPr sz="1300" b="0">
                <a:solidFill>
                  <a:srgbClr val="E8EEF6"/>
                </a:solidFill>
                <a:latin typeface="맑은 고딕"/>
                <a:ea typeface="맑은 고딕"/>
                <a:cs typeface="맑은 고딕"/>
              </a:rPr>
              <a:t>감점</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a:t>
            </a:r>
            <a:r>
              <a:rPr sz="1300" b="0">
                <a:solidFill>
                  <a:srgbClr val="E8EEF6"/>
                </a:solidFill>
                <a:latin typeface="Consolas"/>
                <a:ea typeface="맑은 고딕"/>
                <a:cs typeface="맑은 고딕"/>
              </a:rPr>
              <a:t>  (HM-8.8)]</a:t>
            </a:r>
          </a:p>
          <a:p>
            <a:pPr algn="l" eaLnBrk="0">
              <a:lnSpc>
                <a:spcPct val="110000"/>
              </a:lnSpc>
              <a:spcAft>
                <a:spcPts val="200"/>
              </a:spcAft>
            </a:pPr>
            <a:r>
              <a:rPr sz="1300" b="0">
                <a:solidFill>
                  <a:srgbClr val="E8EEF6"/>
                </a:solidFill>
                <a:latin typeface="Consolas"/>
                <a:ea typeface="맑은 고딕"/>
                <a:cs typeface="맑은 고딕"/>
              </a:rPr>
              <a:t>warnings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55</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a:t>
            </a:r>
            <a:r>
              <a:rPr sz="1300" b="0">
                <a:solidFill>
                  <a:srgbClr val="E8EEF6"/>
                </a:solidFill>
                <a:latin typeface="Consolas"/>
                <a:ea typeface="맑은 고딕"/>
                <a:cs typeface="맑은 고딕"/>
              </a:rPr>
              <a:t>  (HM-8.6)]</a:t>
            </a:r>
          </a:p>
          <a:p>
            <a:pPr algn="l" eaLnBrk="0">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빠지고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셋이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남는다</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hit</a:t>
            </a:r>
          </a:p>
          <a:p>
            <a:pPr algn="l" eaLnBrk="0">
              <a:lnSpc>
                <a:spcPct val="110000"/>
              </a:lnSpc>
              <a:spcAft>
                <a:spcPts val="400"/>
              </a:spcAft>
            </a:pPr>
            <a:r>
              <a:rPr sz="1400" b="0">
                <a:solidFill>
                  <a:srgbClr val="1F2A3A"/>
                </a:solidFill>
                <a:latin typeface="맑은 고딕"/>
                <a:ea typeface="맑은 고딕"/>
                <a:cs typeface="맑은 고딕"/>
              </a:rPr>
              <a:t>표의 한 행이 입력에 맞는 것.</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Collect</a:t>
            </a:r>
          </a:p>
          <a:p>
            <a:pPr algn="l" eaLnBrk="0">
              <a:lnSpc>
                <a:spcPct val="110000"/>
              </a:lnSpc>
              <a:spcAft>
                <a:spcPts val="400"/>
              </a:spcAft>
            </a:pPr>
            <a:r>
              <a:rPr sz="1400" b="0">
                <a:solidFill>
                  <a:srgbClr val="1F2A3A"/>
                </a:solidFill>
                <a:latin typeface="맑은 고딕"/>
                <a:ea typeface="맑은 고딕"/>
                <a:cs typeface="맑은 고딕"/>
              </a:rPr>
              <a:t>맞은 행의 출력을 빠짐없이 모은다.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제외가 있으면</a:t>
            </a:r>
          </a:p>
          <a:p>
            <a:pPr algn="l" eaLnBrk="0">
              <a:lnSpc>
                <a:spcPct val="110000"/>
              </a:lnSpc>
              <a:spcAft>
                <a:spcPts val="400"/>
              </a:spcAft>
            </a:pPr>
            <a:r>
              <a:rPr sz="1400" b="0">
                <a:solidFill>
                  <a:srgbClr val="1F2A3A"/>
                </a:solidFill>
                <a:latin typeface="맑은 고딕"/>
                <a:ea typeface="맑은 고딕"/>
                <a:cs typeface="맑은 고딕"/>
              </a:rPr>
              <a:t>후보는 비교에서 빠지지만 감점 · 경고 사유도 함께 남는다.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HYD의 규정 표</a:t>
            </a:r>
          </a:p>
          <a:p>
            <a:pPr algn="l" eaLnBrk="0">
              <a:lnSpc>
                <a:spcPct val="110000"/>
              </a:lnSpc>
              <a:spcAft>
                <a:spcPts val="400"/>
              </a:spcAft>
            </a:pPr>
            <a:r>
              <a:rPr sz="1400" b="0">
                <a:solidFill>
                  <a:srgbClr val="1F2A3A"/>
                </a:solidFill>
                <a:latin typeface="맑은 고딕"/>
                <a:ea typeface="맑은 고딕"/>
                <a:cs typeface="맑은 고딕"/>
              </a:rPr>
              <a:t>규정 적합성 표는 Collect로 선언되어 있다.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같은 입력에 네 Hit Policy가 내는 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셋이 함께 맞은 입력에 First와 Priority는 제외 하나만 남기고, Collect만 감점과 경고 사유까지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정의</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앞 장 입력의 답</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Unique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겹쳐 맞는 행을 허용하지 않는다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표의 오류</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First</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행의 차례대로 보아 처음 맞은 행을 쓴다</a:t>
            </a:r>
          </a:p>
          <a:p>
            <a:pPr algn="l" eaLnBrk="0">
              <a:lnSpc>
                <a:spcPct val="110000"/>
              </a:lnSpc>
            </a:pPr>
            <a:r>
              <a:rPr sz="1400" b="0">
                <a:solidFill>
                  <a:srgbClr val="1F2A3A"/>
                </a:solidFill>
                <a:latin typeface="맑은 고딕"/>
                <a:ea typeface="맑은 고딕"/>
                <a:cs typeface="맑은 고딕"/>
              </a:rPr>
              <a:t>가정: 차례가 R1 · R2 · R3</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제외만</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Priority</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출력에 매긴 우선순위로 하나를 고른다</a:t>
            </a:r>
          </a:p>
          <a:p>
            <a:pPr algn="l" eaLnBrk="0">
              <a:lnSpc>
                <a:spcPct val="110000"/>
              </a:lnSpc>
            </a:pPr>
            <a:r>
              <a:rPr sz="1400" b="0">
                <a:solidFill>
                  <a:srgbClr val="1F2A3A"/>
                </a:solidFill>
                <a:latin typeface="맑은 고딕"/>
                <a:ea typeface="맑은 고딕"/>
                <a:cs typeface="맑은 고딕"/>
              </a:rPr>
              <a:t>가정: 제외 &gt; 경고 &gt; 감점</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제외만</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Collect</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맞은 행의 출력을 모두 모은다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제외 · 감점 · 경고</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고르는 기준</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사유를 빠짐없이 보여야 하는 후보 · 규정 표는 Collect, 답이 꼭 하나여야 하는 표는 Unique</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표의 목적</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결정표의 누락 · 중복 · 상충 점검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대표 값 · 경계 값 · 겹치는 값을 표에 넣어 보면 맞는 행이 없는 틈과 답이 겹치거나 부딪치는 곳이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결함</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규칙 조각과 시험 입력</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누락</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「55 ℃ 미만: 통과」 · 「60 ℃ 이상: 제외」</a:t>
            </a:r>
          </a:p>
          <a:p>
            <a:pPr algn="l" eaLnBrk="0">
              <a:lnSpc>
                <a:spcPct val="110000"/>
              </a:lnSpc>
            </a:pPr>
            <a:r>
              <a:rPr sz="1400" b="0">
                <a:solidFill>
                  <a:srgbClr val="1F2A3A"/>
                </a:solidFill>
                <a:latin typeface="맑은 고딕"/>
                <a:ea typeface="맑은 고딕"/>
                <a:cs typeface="맑은 고딕"/>
              </a:rPr>
              <a:t>57 ℃ → 맞는 행이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표가 답을</a:t>
            </a:r>
          </a:p>
          <a:p>
            <a:pPr algn="l" eaLnBrk="0">
              <a:lnSpc>
                <a:spcPct val="110000"/>
              </a:lnSpc>
            </a:pPr>
            <a:r>
              <a:rPr sz="1250" b="1">
                <a:solidFill>
                  <a:srgbClr val="556175"/>
                </a:solidFill>
                <a:latin typeface="맑은 고딕"/>
                <a:ea typeface="맑은 고딕"/>
                <a:cs typeface="맑은 고딕"/>
              </a:rPr>
              <a:t>내지 못한다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중복</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가정: 같은 뜻의 제외 행이 둘</a:t>
            </a:r>
          </a:p>
          <a:p>
            <a:pPr algn="l" eaLnBrk="0">
              <a:lnSpc>
                <a:spcPct val="110000"/>
              </a:lnSpc>
            </a:pPr>
            <a:r>
              <a:rPr sz="1400" b="0">
                <a:solidFill>
                  <a:srgbClr val="1F2A3A"/>
                </a:solidFill>
                <a:latin typeface="맑은 고딕"/>
                <a:ea typeface="맑은 고딕"/>
                <a:cs typeface="맑은 고딕"/>
              </a:rPr>
              <a:t>REMOTE_MANUAL → 같은 제외가 두 번</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한 행만 고치면</a:t>
            </a:r>
          </a:p>
          <a:p>
            <a:pPr algn="l" eaLnBrk="0">
              <a:lnSpc>
                <a:spcPct val="110000"/>
              </a:lnSpc>
            </a:pPr>
            <a:r>
              <a:rPr sz="1250" b="1">
                <a:solidFill>
                  <a:srgbClr val="556175"/>
                </a:solidFill>
                <a:latin typeface="맑은 고딕"/>
                <a:ea typeface="맑은 고딕"/>
                <a:cs typeface="맑은 고딕"/>
              </a:rPr>
              <a:t>표가 어긋난다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상충과 의도된 겹침</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forecast_ts1 &gt;= 55 → 경고 · forecast_ts1 &gt;= 65 → 제외</a:t>
            </a:r>
          </a:p>
          <a:p>
            <a:pPr algn="l" eaLnBrk="0">
              <a:lnSpc>
                <a:spcPct val="110000"/>
              </a:lnSpc>
            </a:pPr>
            <a:r>
              <a:rPr sz="1400" b="0">
                <a:solidFill>
                  <a:srgbClr val="1F2A3A"/>
                </a:solidFill>
                <a:latin typeface="맑은 고딕"/>
                <a:ea typeface="맑은 고딕"/>
                <a:cs typeface="맑은 고딕"/>
              </a:rPr>
              <a:t>66 ℃ → 경고와 제외가 함께</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Collect 표라면</a:t>
            </a:r>
          </a:p>
          <a:p>
            <a:pPr algn="l" eaLnBrk="0">
              <a:lnSpc>
                <a:spcPct val="110000"/>
              </a:lnSpc>
            </a:pPr>
            <a:r>
              <a:rPr sz="1250" b="1">
                <a:solidFill>
                  <a:srgbClr val="1A6FC4"/>
                </a:solidFill>
                <a:latin typeface="맑은 고딕"/>
                <a:ea typeface="맑은 고딕"/>
                <a:cs typeface="맑은 고딕"/>
              </a:rPr>
              <a:t>제외되고</a:t>
            </a:r>
          </a:p>
          <a:p>
            <a:pPr algn="l" eaLnBrk="0">
              <a:lnSpc>
                <a:spcPct val="110000"/>
              </a:lnSpc>
            </a:pPr>
            <a:r>
              <a:rPr sz="1250" b="1">
                <a:solidFill>
                  <a:srgbClr val="1A6FC4"/>
                </a:solidFill>
                <a:latin typeface="맑은 고딕"/>
                <a:ea typeface="맑은 고딕"/>
                <a:cs typeface="맑은 고딕"/>
              </a:rPr>
              <a:t>경고도 남는다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HYD가 막는 것</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순위 정책 행이 둘 맞으면 오류로 거절</a:t>
            </a:r>
          </a:p>
          <a:p>
            <a:pPr algn="l" eaLnBrk="0">
              <a:lnSpc>
                <a:spcPct val="110000"/>
              </a:lnSpc>
            </a:pPr>
            <a:r>
              <a:rPr sz="1400" b="0">
                <a:solidFill>
                  <a:srgbClr val="1F2A3A"/>
                </a:solidFill>
                <a:latin typeface="맑은 고딕"/>
                <a:ea typeface="맑은 고딕"/>
                <a:cs typeface="맑은 고딕"/>
              </a:rPr>
              <a:t>문장(when)과 검사(TESTS)가 다르면 검사기가 잡는다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틈은 시험</a:t>
            </a:r>
          </a:p>
          <a:p>
            <a:pPr algn="l" eaLnBrk="0">
              <a:lnSpc>
                <a:spcPct val="110000"/>
              </a:lnSpc>
            </a:pPr>
            <a:r>
              <a:rPr sz="1250" b="1">
                <a:solidFill>
                  <a:srgbClr val="556175"/>
                </a:solidFill>
                <a:latin typeface="맑은 고딕"/>
                <a:ea typeface="맑은 고딕"/>
                <a:cs typeface="맑은 고딕"/>
              </a:rPr>
              <a:t>입력으로 찾는다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운전 모드와 운전 이력을 읽지 못했을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값을 모르는 조건은 통과로 치지 않아서, 제외 · 감점 규칙은 제외 쪽으로, 경고 규칙은 확인되지 않은 경고로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읽지 못한 값</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걸리는 후보와 처리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결과에 남는 말</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plc_mode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SOP-COOL-11 · 12 · 13: 제외 규칙의 값을 모른다 → 제외 쪽</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「확인되지 않은</a:t>
            </a:r>
          </a:p>
          <a:p>
            <a:pPr algn="l" eaLnBrk="0">
              <a:lnSpc>
                <a:spcPct val="110000"/>
              </a:lnSpc>
            </a:pPr>
            <a:r>
              <a:rPr sz="1250" b="1">
                <a:solidFill>
                  <a:srgbClr val="1A6FC4"/>
                </a:solidFill>
                <a:latin typeface="맑은 고딕"/>
                <a:ea typeface="맑은 고딕"/>
                <a:cs typeface="맑은 고딕"/>
              </a:rPr>
              <a:t>조건 (plc_mode)」</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plc_mode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SOP-COOL-14: 그 규칙의 적용 대상이 아니다</a:t>
            </a:r>
          </a:p>
          <a:p>
            <a:pPr algn="l" eaLnBrk="0">
              <a:lnSpc>
                <a:spcPct val="110000"/>
              </a:lnSpc>
            </a:pPr>
            <a:r>
              <a:rPr sz="1400" b="0">
                <a:solidFill>
                  <a:srgbClr val="1F2A3A"/>
                </a:solidFill>
                <a:latin typeface="맑은 고딕"/>
                <a:ea typeface="맑은 고딕"/>
                <a:cs typeface="맑은 고딕"/>
              </a:rPr>
              <a:t>control AND 모드 규칙도 앞 검사가 거짓</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후보에 남는다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fan100_hours</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기록이 없으면 0 h가 아니라 모름</a:t>
            </a:r>
          </a:p>
          <a:p>
            <a:pPr algn="l" eaLnBrk="0">
              <a:lnSpc>
                <a:spcPct val="110000"/>
              </a:lnSpc>
            </a:pPr>
            <a:r>
              <a:rPr sz="1400" b="0">
                <a:solidFill>
                  <a:srgbClr val="1F2A3A"/>
                </a:solidFill>
                <a:latin typeface="맑은 고딕"/>
                <a:ea typeface="맑은 고딕"/>
                <a:cs typeface="맑은 고딕"/>
              </a:rPr>
              <a:t>SOP-COOL-11 · 12: 감점 규칙이라 제외 쪽</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0으로 채우면</a:t>
            </a:r>
          </a:p>
          <a:p>
            <a:pPr algn="l" eaLnBrk="0">
              <a:lnSpc>
                <a:spcPct val="110000"/>
              </a:lnSpc>
            </a:pPr>
            <a:r>
              <a:rPr sz="1250" b="1">
                <a:solidFill>
                  <a:srgbClr val="556175"/>
                </a:solidFill>
                <a:latin typeface="맑은 고딕"/>
                <a:ea typeface="맑은 고딕"/>
                <a:cs typeface="맑은 고딕"/>
              </a:rPr>
              <a:t>제한 넘긴 팬이</a:t>
            </a:r>
          </a:p>
          <a:p>
            <a:pPr algn="l" eaLnBrk="0">
              <a:lnSpc>
                <a:spcPct val="110000"/>
              </a:lnSpc>
            </a:pPr>
            <a:r>
              <a:rPr sz="1250" b="1">
                <a:solidFill>
                  <a:srgbClr val="556175"/>
                </a:solidFill>
                <a:latin typeface="맑은 고딕"/>
                <a:ea typeface="맑은 고딕"/>
                <a:cs typeface="맑은 고딕"/>
              </a:rPr>
              <a:t>통과한다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forecast_ts1</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경고 규칙의 값을 모른다 → 경고로 남긴다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확인되지 않은</a:t>
            </a:r>
          </a:p>
          <a:p>
            <a:pPr algn="l" eaLnBrk="0">
              <a:lnSpc>
                <a:spcPct val="110000"/>
              </a:lnSpc>
            </a:pPr>
            <a:r>
              <a:rPr sz="1250" b="1">
                <a:solidFill>
                  <a:srgbClr val="556175"/>
                </a:solidFill>
                <a:latin typeface="맑은 고딕"/>
                <a:ea typeface="맑은 고딕"/>
                <a:cs typeface="맑은 고딕"/>
              </a:rPr>
              <a:t>경고</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모든 후보가 빠짐</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추천을 내지 않고 제외 사유를 보인다</a:t>
            </a:r>
          </a:p>
          <a:p>
            <a:pPr algn="l" eaLnBrk="0">
              <a:lnSpc>
                <a:spcPct val="110000"/>
              </a:lnSpc>
            </a:pPr>
            <a:r>
              <a:rPr sz="1400" b="0">
                <a:solidFill>
                  <a:srgbClr val="1F2A3A"/>
                </a:solidFill>
                <a:latin typeface="맑은 고딕"/>
                <a:ea typeface="맑은 고딕"/>
                <a:cs typeface="맑은 고딕"/>
              </a:rPr>
              <a:t>값을 알아도: 트립(TRIP)이면 리셋 외 제외</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조건을 몰래</a:t>
            </a:r>
          </a:p>
          <a:p>
            <a:pPr algn="l" eaLnBrk="0">
              <a:lnSpc>
                <a:spcPct val="110000"/>
              </a:lnSpc>
            </a:pPr>
            <a:r>
              <a:rPr sz="1250" b="1">
                <a:solidFill>
                  <a:srgbClr val="556175"/>
                </a:solidFill>
                <a:latin typeface="맑은 고딕"/>
                <a:ea typeface="맑은 고딕"/>
                <a:cs typeface="맑은 고딕"/>
              </a:rPr>
              <a:t>풀지 않는다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판정 근거: 걸린 규칙 · 그때의 값 · 원문 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걸린 규칙과 조건, 그때 읽은 값, 근거 원문이 한 묶음으로 남아야 승인하는 사람이 판정을 되짚을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93</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SOP-COOL-14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세척에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걸린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p>
          <a:p>
            <a:pPr algn="l" eaLnBrk="0">
              <a:lnSpc>
                <a:spcPct val="110000"/>
              </a:lnSpc>
              <a:spcAft>
                <a:spcPts val="200"/>
              </a:spcAft>
            </a:pPr>
            <a:r>
              <a:rPr sz="1300" b="0">
                <a:solidFill>
                  <a:srgbClr val="E8EEF6"/>
                </a:solidFill>
                <a:latin typeface="Consolas"/>
                <a:ea typeface="맑은 고딕"/>
                <a:cs typeface="맑은 고딕"/>
              </a:rPr>
              <a:t>rule      rule:cmp-forecast-ts1-high</a:t>
            </a:r>
          </a:p>
          <a:p>
            <a:pPr algn="l" eaLnBrk="0">
              <a:lnSpc>
                <a:spcPct val="110000"/>
              </a:lnSpc>
              <a:spcAft>
                <a:spcPts val="200"/>
              </a:spcAft>
            </a:pPr>
            <a:r>
              <a:rPr sz="1300" b="0">
                <a:solidFill>
                  <a:srgbClr val="E8EEF6"/>
                </a:solidFill>
                <a:latin typeface="Consolas"/>
                <a:ea typeface="맑은 고딕"/>
                <a:cs typeface="맑은 고딕"/>
              </a:rPr>
              <a:t>effect    WARN</a:t>
            </a:r>
          </a:p>
          <a:p>
            <a:pPr algn="l" eaLnBrk="0">
              <a:lnSpc>
                <a:spcPct val="110000"/>
              </a:lnSpc>
              <a:spcAft>
                <a:spcPts val="200"/>
              </a:spcAft>
            </a:pPr>
            <a:r>
              <a:rPr sz="1300" b="0">
                <a:solidFill>
                  <a:srgbClr val="E8EEF6"/>
                </a:solidFill>
                <a:latin typeface="Consolas"/>
                <a:ea typeface="맑은 고딕"/>
                <a:cs typeface="맑은 고딕"/>
              </a:rPr>
              <a:t>when      forecast_ts1 &gt;= 55</a:t>
            </a:r>
          </a:p>
          <a:p>
            <a:pPr algn="l" eaLnBrk="0">
              <a:lnSpc>
                <a:spcPct val="110000"/>
              </a:lnSpc>
              <a:spcAft>
                <a:spcPts val="200"/>
              </a:spcAft>
            </a:pPr>
            <a:r>
              <a:rPr sz="1300" b="0">
                <a:solidFill>
                  <a:srgbClr val="E8EEF6"/>
                </a:solidFill>
                <a:latin typeface="Consolas"/>
                <a:ea typeface="맑은 고딕"/>
                <a:cs typeface="맑은 고딕"/>
              </a:rPr>
              <a:t>sources   ["HM-8.6"]</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p>
          <a:p>
            <a:pPr algn="l" eaLnBrk="0">
              <a:lnSpc>
                <a:spcPct val="110000"/>
              </a:lnSpc>
              <a:spcAft>
                <a:spcPts val="200"/>
              </a:spcAft>
            </a:pPr>
            <a:r>
              <a:rPr sz="1300" b="0">
                <a:solidFill>
                  <a:srgbClr val="E8EEF6"/>
                </a:solidFill>
                <a:latin typeface="Consolas"/>
                <a:ea typeface="맑은 고딕"/>
                <a:cs typeface="맑은 고딕"/>
              </a:rPr>
              <a:t>forecast_ts1 = 62.5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시점</a:t>
            </a:r>
            <a:r>
              <a:rPr sz="1300" b="0">
                <a:solidFill>
                  <a:srgbClr val="E8EEF6"/>
                </a:solidFill>
                <a:latin typeface="Consolas"/>
                <a:ea typeface="맑은 고딕"/>
                <a:cs typeface="맑은 고딕"/>
              </a:rPr>
              <a:t>)</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trace: </a:t>
            </a:r>
            <a:r>
              <a:rPr sz="1300" b="0">
                <a:solidFill>
                  <a:srgbClr val="E8EEF6"/>
                </a:solidFill>
                <a:latin typeface="맑은 고딕"/>
                <a:ea typeface="맑은 고딕"/>
                <a:cs typeface="맑은 고딕"/>
              </a:rPr>
              <a:t>행마다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맞지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모름</a:t>
            </a:r>
          </a:p>
          <a:p>
            <a:pPr algn="l" eaLnBrk="0">
              <a:lnSpc>
                <a:spcPct val="110000"/>
              </a:lnSpc>
              <a:spcAft>
                <a:spcPts val="200"/>
              </a:spcAft>
            </a:pPr>
            <a:r>
              <a:rPr sz="1300" b="0">
                <a:solidFill>
                  <a:srgbClr val="E8EEF6"/>
                </a:solidFill>
                <a:latin typeface="Consolas"/>
                <a:ea typeface="맑은 고딕"/>
                <a:cs typeface="맑은 고딕"/>
              </a:rPr>
              <a:t>{decision, rule, when, fired, unknown}</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HM-8.6</a:t>
            </a:r>
          </a:p>
          <a:p>
            <a:pPr algn="l" eaLnBrk="0">
              <a:lnSpc>
                <a:spcPct val="110000"/>
              </a:lnSpc>
              <a:spcAft>
                <a:spcPts val="200"/>
              </a:spcAft>
            </a:pP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55</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해제에</a:t>
            </a:r>
          </a:p>
          <a:p>
            <a:pPr algn="l" eaLnBrk="0">
              <a:lnSpc>
                <a:spcPct val="110000"/>
              </a:lnSpc>
              <a:spcAft>
                <a:spcPts val="200"/>
              </a:spcAft>
            </a:pPr>
            <a:r>
              <a:rPr sz="1300" b="0">
                <a:solidFill>
                  <a:srgbClr val="E8EEF6"/>
                </a:solidFill>
                <a:latin typeface="맑은 고딕"/>
                <a:ea typeface="맑은 고딕"/>
                <a:cs typeface="맑은 고딕"/>
              </a:rPr>
              <a:t>실패할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있으므로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지식 출처(Knowledge Source)</a:t>
            </a:r>
          </a:p>
          <a:p>
            <a:pPr algn="l" eaLnBrk="0">
              <a:lnSpc>
                <a:spcPct val="110000"/>
              </a:lnSpc>
              <a:spcAft>
                <a:spcPts val="400"/>
              </a:spcAft>
            </a:pPr>
            <a:r>
              <a:rPr sz="1400" b="0">
                <a:solidFill>
                  <a:srgbClr val="1F2A3A"/>
                </a:solidFill>
                <a:latin typeface="맑은 고딕"/>
                <a:ea typeface="맑은 고딕"/>
                <a:cs typeface="맑은 고딕"/>
              </a:rPr>
              <a:t>규칙의 근거 문서. 규칙은 DERIVED_FROM으로 매뉴얼 절을 가리킨다.</a:t>
            </a:r>
          </a:p>
        </p:txBody>
      </p:sp>
      <p:sp>
        <p:nvSpPr>
          <p:cNvPr id="9" name="TextBox 8"/>
          <p:cNvSpPr txBox="1"/>
          <p:nvPr/>
        </p:nvSpPr>
        <p:spPr>
          <a:xfrm>
            <a:off x="7635240" y="2936875"/>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rule · effect · when</a:t>
            </a:r>
          </a:p>
          <a:p>
            <a:pPr algn="l" eaLnBrk="0">
              <a:lnSpc>
                <a:spcPct val="110000"/>
              </a:lnSpc>
              <a:spcAft>
                <a:spcPts val="400"/>
              </a:spcAft>
            </a:pPr>
            <a:r>
              <a:rPr sz="1400" b="0">
                <a:solidFill>
                  <a:srgbClr val="1F2A3A"/>
                </a:solidFill>
                <a:latin typeface="맑은 고딕"/>
                <a:ea typeface="맑은 고딕"/>
                <a:cs typeface="맑은 고딕"/>
              </a:rPr>
              <a:t>어느 규칙이 어떤 조건으로 무슨 판정을 냈는가.</a:t>
            </a:r>
          </a:p>
        </p:txBody>
      </p:sp>
      <p:sp>
        <p:nvSpPr>
          <p:cNvPr id="10" name="TextBox 9"/>
          <p:cNvSpPr txBox="1"/>
          <p:nvPr/>
        </p:nvSpPr>
        <p:spPr>
          <a:xfrm>
            <a:off x="7635240" y="3991356"/>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판정에 쓴 값</a:t>
            </a:r>
          </a:p>
          <a:p>
            <a:pPr algn="l" eaLnBrk="0">
              <a:lnSpc>
                <a:spcPct val="110000"/>
              </a:lnSpc>
              <a:spcAft>
                <a:spcPts val="400"/>
              </a:spcAft>
            </a:pPr>
            <a:r>
              <a:rPr sz="1400" b="0">
                <a:solidFill>
                  <a:srgbClr val="1F2A3A"/>
                </a:solidFill>
                <a:latin typeface="맑은 고딕"/>
                <a:ea typeface="맑은 고딕"/>
                <a:cs typeface="맑은 고딕"/>
              </a:rPr>
              <a:t>지금 값을 다시 읽어서는 그때의 판정을 재현할 수 없다.</a:t>
            </a:r>
          </a:p>
        </p:txBody>
      </p:sp>
      <p:sp>
        <p:nvSpPr>
          <p:cNvPr id="11" name="TextBox 10"/>
          <p:cNvSpPr txBox="1"/>
          <p:nvPr/>
        </p:nvSpPr>
        <p:spPr>
          <a:xfrm>
            <a:off x="7635240" y="5045837"/>
            <a:ext cx="4007815" cy="1054481"/>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trace</a:t>
            </a:r>
          </a:p>
          <a:p>
            <a:pPr algn="l" eaLnBrk="0">
              <a:lnSpc>
                <a:spcPct val="110000"/>
              </a:lnSpc>
              <a:spcAft>
                <a:spcPts val="400"/>
              </a:spcAft>
            </a:pPr>
            <a:r>
              <a:rPr sz="1300" b="0">
                <a:solidFill>
                  <a:srgbClr val="1F2A3A"/>
                </a:solidFill>
                <a:latin typeface="맑은 고딕"/>
                <a:ea typeface="맑은 고딕"/>
                <a:cs typeface="맑은 고딕"/>
              </a:rPr>
              <a:t>맞지 않은 행과 모르는 값까지 남긴 행별 평가 기록.</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12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판단의 차례와 절차의 몫</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결정표가 이어지는 차례와 저장 구조를 보고, 규칙이 대신할 수 없는 절차를 가린다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원인 진단에서 승인까지 이어지는 판단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원인 진단의 답이 후보 선택 표로, 모인 후보가 규정 표로 넘어가서 판단마다 따로 확인할 근거가 생긴다.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95</a:t>
            </a:r>
          </a:p>
        </p:txBody>
      </p:sp>
      <p:sp>
        <p:nvSpPr>
          <p:cNvPr id="6" name="Rounded Rectangle 5"/>
          <p:cNvSpPr/>
          <p:nvPr/>
        </p:nvSpPr>
        <p:spPr>
          <a:xfrm>
            <a:off x="548640" y="2310383"/>
            <a:ext cx="1911644" cy="336194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493264"/>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292321" y="2646883"/>
            <a:ext cx="424281" cy="424281"/>
          </a:xfrm>
          <a:prstGeom prst="rect">
            <a:avLst/>
          </a:prstGeom>
        </p:spPr>
      </p:pic>
      <p:sp>
        <p:nvSpPr>
          <p:cNvPr id="9" name="TextBox 8"/>
          <p:cNvSpPr txBox="1"/>
          <p:nvPr/>
        </p:nvSpPr>
        <p:spPr>
          <a:xfrm>
            <a:off x="62179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원인 진단</a:t>
            </a:r>
          </a:p>
          <a:p>
            <a:pPr algn="ctr" eaLnBrk="0">
              <a:lnSpc>
                <a:spcPct val="110000"/>
              </a:lnSpc>
              <a:spcAft>
                <a:spcPts val="400"/>
              </a:spcAft>
            </a:pPr>
            <a:r>
              <a:rPr sz="1550" b="0">
                <a:solidFill>
                  <a:srgbClr val="1F2A3A"/>
                </a:solidFill>
                <a:latin typeface="맑은 고딕"/>
                <a:ea typeface="맑은 고딕"/>
                <a:cs typeface="맑은 고딕"/>
              </a:rPr>
              <a:t>증거 가중치로 원인 순위</a:t>
            </a:r>
          </a:p>
          <a:p>
            <a:pPr algn="ctr" eaLnBrk="0">
              <a:lnSpc>
                <a:spcPct val="110000"/>
              </a:lnSpc>
              <a:spcAft>
                <a:spcPts val="400"/>
              </a:spcAft>
            </a:pPr>
            <a:r>
              <a:rPr sz="1550" b="0">
                <a:solidFill>
                  <a:srgbClr val="1F2A3A"/>
                </a:solidFill>
                <a:latin typeface="맑은 고딕"/>
                <a:ea typeface="맑은 고딕"/>
                <a:cs typeface="맑은 고딕"/>
              </a:rPr>
              <a:t>결정표 평가가 아니다</a:t>
            </a:r>
          </a:p>
          <a:p>
            <a:pPr algn="ctr" eaLnBrk="0">
              <a:lnSpc>
                <a:spcPct val="110000"/>
              </a:lnSpc>
              <a:spcAft>
                <a:spcPts val="400"/>
              </a:spcAft>
            </a:pPr>
            <a:r>
              <a:rPr sz="1550" b="0">
                <a:solidFill>
                  <a:srgbClr val="1F2A3A"/>
                </a:solidFill>
                <a:latin typeface="맑은 고딕"/>
                <a:ea typeface="맑은 고딕"/>
                <a:cs typeface="맑은 고딕"/>
              </a:rPr>
              <a:t>→ 쿨러 핀 오염</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10383"/>
            <a:ext cx="1911644" cy="336194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493264"/>
            <a:ext cx="731520" cy="731520"/>
          </a:xfrm>
          <a:prstGeom prst="ellipse">
            <a:avLst/>
          </a:prstGeom>
          <a:solidFill>
            <a:srgbClr val="FFFFFF"/>
          </a:solidFill>
          <a:ln>
            <a:noFill/>
          </a:ln>
        </p:spPr>
        <p:txBody>
          <a:bodyPr rtlCol="0" anchor="ctr"/>
          <a:lstStyle/>
          <a:p>
            <a:pPr algn="ctr"/>
          </a:p>
        </p:txBody>
      </p:sp>
      <p:pic>
        <p:nvPicPr>
          <p:cNvPr id="13" name="아이콘:list-check" descr="list-check_13294B_1.6.png"/>
          <p:cNvPicPr>
            <a:picLocks noChangeAspect="1"/>
          </p:cNvPicPr>
          <p:nvPr/>
        </p:nvPicPr>
        <p:blipFill>
          <a:blip r:embed="rId4"/>
          <a:stretch>
            <a:fillRect/>
          </a:stretch>
        </p:blipFill>
        <p:spPr>
          <a:xfrm>
            <a:off x="3588014" y="2646883"/>
            <a:ext cx="424281" cy="424281"/>
          </a:xfrm>
          <a:prstGeom prst="rect">
            <a:avLst/>
          </a:prstGeom>
        </p:spPr>
      </p:pic>
      <p:sp>
        <p:nvSpPr>
          <p:cNvPr id="14" name="TextBox 13"/>
          <p:cNvSpPr txBox="1"/>
          <p:nvPr/>
        </p:nvSpPr>
        <p:spPr>
          <a:xfrm>
            <a:off x="2917484"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후보 선택</a:t>
            </a:r>
          </a:p>
          <a:p>
            <a:pPr algn="ctr" eaLnBrk="0">
              <a:lnSpc>
                <a:spcPct val="110000"/>
              </a:lnSpc>
              <a:spcAft>
                <a:spcPts val="400"/>
              </a:spcAft>
            </a:pPr>
            <a:r>
              <a:rPr sz="1550" b="0">
                <a:solidFill>
                  <a:srgbClr val="1F2A3A"/>
                </a:solidFill>
                <a:latin typeface="맑은 고딕"/>
                <a:ea typeface="맑은 고딕"/>
                <a:cs typeface="맑은 고딕"/>
              </a:rPr>
              <a:t>COLLECT</a:t>
            </a:r>
          </a:p>
          <a:p>
            <a:pPr algn="ctr" eaLnBrk="0">
              <a:lnSpc>
                <a:spcPct val="110000"/>
              </a:lnSpc>
              <a:spcAft>
                <a:spcPts val="400"/>
              </a:spcAft>
            </a:pPr>
            <a:r>
              <a:rPr sz="1550" b="0">
                <a:solidFill>
                  <a:srgbClr val="1F2A3A"/>
                </a:solidFill>
                <a:latin typeface="맑은 고딕"/>
                <a:ea typeface="맑은 고딕"/>
                <a:cs typeface="맑은 고딕"/>
              </a:rPr>
              <a:t>고장 유형 · 원인에 맞는 조치</a:t>
            </a:r>
          </a:p>
          <a:p>
            <a:pPr algn="ctr" eaLnBrk="0">
              <a:lnSpc>
                <a:spcPct val="110000"/>
              </a:lnSpc>
              <a:spcAft>
                <a:spcPts val="400"/>
              </a:spcAft>
            </a:pPr>
            <a:r>
              <a:rPr sz="1550" b="0">
                <a:solidFill>
                  <a:srgbClr val="1F2A3A"/>
                </a:solidFill>
                <a:latin typeface="맑은 고딕"/>
                <a:ea typeface="맑은 고딕"/>
                <a:cs typeface="맑은 고딕"/>
              </a:rPr>
              <a:t>→ 후보 넷</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10383"/>
            <a:ext cx="1911644" cy="336194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493264"/>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5883706" y="2646883"/>
            <a:ext cx="424281" cy="424281"/>
          </a:xfrm>
          <a:prstGeom prst="rect">
            <a:avLst/>
          </a:prstGeom>
        </p:spPr>
      </p:pic>
      <p:sp>
        <p:nvSpPr>
          <p:cNvPr id="19" name="TextBox 18"/>
          <p:cNvSpPr txBox="1"/>
          <p:nvPr/>
        </p:nvSpPr>
        <p:spPr>
          <a:xfrm>
            <a:off x="5213177"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규정 검사</a:t>
            </a:r>
          </a:p>
          <a:p>
            <a:pPr algn="ctr" eaLnBrk="0">
              <a:lnSpc>
                <a:spcPct val="110000"/>
              </a:lnSpc>
              <a:spcAft>
                <a:spcPts val="400"/>
              </a:spcAft>
            </a:pPr>
            <a:r>
              <a:rPr sz="1550" b="0">
                <a:solidFill>
                  <a:srgbClr val="1F2A3A"/>
                </a:solidFill>
                <a:latin typeface="맑은 고딕"/>
                <a:ea typeface="맑은 고딕"/>
                <a:cs typeface="맑은 고딕"/>
              </a:rPr>
              <a:t>COLLECT</a:t>
            </a:r>
          </a:p>
          <a:p>
            <a:pPr algn="ctr" eaLnBrk="0">
              <a:lnSpc>
                <a:spcPct val="110000"/>
              </a:lnSpc>
              <a:spcAft>
                <a:spcPts val="400"/>
              </a:spcAft>
            </a:pPr>
            <a:r>
              <a:rPr sz="1550" b="0">
                <a:solidFill>
                  <a:srgbClr val="1F2A3A"/>
                </a:solidFill>
                <a:latin typeface="맑은 고딕"/>
                <a:ea typeface="맑은 고딕"/>
                <a:cs typeface="맑은 고딕"/>
              </a:rPr>
              <a:t>후보마다 제외 · 감점 · 경고</a:t>
            </a:r>
          </a:p>
          <a:p>
            <a:pPr algn="ctr" eaLnBrk="0">
              <a:lnSpc>
                <a:spcPct val="110000"/>
              </a:lnSpc>
              <a:spcAft>
                <a:spcPts val="400"/>
              </a:spcAft>
            </a:pPr>
            <a:r>
              <a:rPr sz="1550" b="0">
                <a:solidFill>
                  <a:srgbClr val="1F2A3A"/>
                </a:solidFill>
                <a:latin typeface="맑은 고딕"/>
                <a:ea typeface="맑은 고딕"/>
                <a:cs typeface="맑은 고딕"/>
              </a:rPr>
              <a:t>→ 넷 모두 남고</a:t>
            </a:r>
          </a:p>
          <a:p>
            <a:pPr algn="ctr" eaLnBrk="0">
              <a:lnSpc>
                <a:spcPct val="110000"/>
              </a:lnSpc>
              <a:spcAft>
                <a:spcPts val="400"/>
              </a:spcAft>
            </a:pPr>
            <a:r>
              <a:rPr sz="1550" b="0">
                <a:solidFill>
                  <a:srgbClr val="1F2A3A"/>
                </a:solidFill>
                <a:latin typeface="맑은 고딕"/>
                <a:ea typeface="맑은 고딕"/>
                <a:cs typeface="맑은 고딕"/>
              </a:rPr>
              <a:t>핀 세척에 경고</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10383"/>
            <a:ext cx="1911644" cy="336194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493264"/>
            <a:ext cx="731520" cy="731520"/>
          </a:xfrm>
          <a:prstGeom prst="ellipse">
            <a:avLst/>
          </a:prstGeom>
          <a:solidFill>
            <a:srgbClr val="FFFFFF"/>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179399" y="2646883"/>
            <a:ext cx="424281" cy="424281"/>
          </a:xfrm>
          <a:prstGeom prst="rect">
            <a:avLst/>
          </a:prstGeom>
        </p:spPr>
      </p:pic>
      <p:sp>
        <p:nvSpPr>
          <p:cNvPr id="24" name="TextBox 23"/>
          <p:cNvSpPr txBox="1"/>
          <p:nvPr/>
        </p:nvSpPr>
        <p:spPr>
          <a:xfrm>
            <a:off x="7508869"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남은 후보 비교</a:t>
            </a:r>
          </a:p>
          <a:p>
            <a:pPr algn="ctr" eaLnBrk="0">
              <a:lnSpc>
                <a:spcPct val="110000"/>
              </a:lnSpc>
              <a:spcAft>
                <a:spcPts val="400"/>
              </a:spcAft>
            </a:pPr>
            <a:r>
              <a:rPr sz="1550" b="0">
                <a:solidFill>
                  <a:srgbClr val="1F2A3A"/>
                </a:solidFill>
                <a:latin typeface="맑은 고딕"/>
                <a:ea typeface="맑은 고딕"/>
                <a:cs typeface="맑은 고딕"/>
              </a:rPr>
              <a:t>UNIQUE: 순위 정책 하나</a:t>
            </a:r>
          </a:p>
          <a:p>
            <a:pPr algn="ctr" eaLnBrk="0">
              <a:lnSpc>
                <a:spcPct val="110000"/>
              </a:lnSpc>
              <a:spcAft>
                <a:spcPts val="400"/>
              </a:spcAft>
            </a:pPr>
            <a:r>
              <a:rPr sz="1550" b="0">
                <a:solidFill>
                  <a:srgbClr val="1F2A3A"/>
                </a:solidFill>
                <a:latin typeface="맑은 고딕"/>
                <a:ea typeface="맑은 고딕"/>
                <a:cs typeface="맑은 고딕"/>
              </a:rPr>
              <a:t>성과와 비용으로 견준다</a:t>
            </a:r>
          </a:p>
          <a:p>
            <a:pPr algn="ctr" eaLnBrk="0">
              <a:lnSpc>
                <a:spcPct val="110000"/>
              </a:lnSpc>
              <a:spcAft>
                <a:spcPts val="400"/>
              </a:spcAft>
            </a:pPr>
            <a:r>
              <a:rPr sz="1550" b="0">
                <a:solidFill>
                  <a:srgbClr val="1F2A3A"/>
                </a:solidFill>
                <a:latin typeface="맑은 고딕"/>
                <a:ea typeface="맑은 고딕"/>
                <a:cs typeface="맑은 고딕"/>
              </a:rPr>
              <a:t>→ 다음 회차</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10383"/>
            <a:ext cx="1911644" cy="336194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493264"/>
            <a:ext cx="731520" cy="731520"/>
          </a:xfrm>
          <a:prstGeom prst="ellipse">
            <a:avLst/>
          </a:prstGeom>
          <a:solidFill>
            <a:srgbClr val="5CB8F2"/>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2646883"/>
            <a:ext cx="424281" cy="424281"/>
          </a:xfrm>
          <a:prstGeom prst="rect">
            <a:avLst/>
          </a:prstGeom>
        </p:spPr>
      </p:pic>
      <p:sp>
        <p:nvSpPr>
          <p:cNvPr id="29" name="TextBox 28"/>
          <p:cNvSpPr txBox="1"/>
          <p:nvPr/>
        </p:nvSpPr>
        <p:spPr>
          <a:xfrm>
            <a:off x="980456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승인과 수행</a:t>
            </a:r>
          </a:p>
          <a:p>
            <a:pPr algn="ctr" eaLnBrk="0">
              <a:lnSpc>
                <a:spcPct val="110000"/>
              </a:lnSpc>
              <a:spcAft>
                <a:spcPts val="400"/>
              </a:spcAft>
            </a:pPr>
            <a:r>
              <a:rPr sz="1550" b="0">
                <a:solidFill>
                  <a:srgbClr val="1F2A3A"/>
                </a:solidFill>
                <a:latin typeface="맑은 고딕"/>
                <a:ea typeface="맑은 고딕"/>
                <a:cs typeface="맑은 고딕"/>
              </a:rPr>
              <a:t>사람 승인 1회</a:t>
            </a:r>
          </a:p>
          <a:p>
            <a:pPr algn="ctr" eaLnBrk="0">
              <a:lnSpc>
                <a:spcPct val="110000"/>
              </a:lnSpc>
              <a:spcAft>
                <a:spcPts val="400"/>
              </a:spcAft>
            </a:pPr>
            <a:r>
              <a:rPr sz="1550" b="0">
                <a:solidFill>
                  <a:srgbClr val="1F2A3A"/>
                </a:solidFill>
                <a:latin typeface="맑은 고딕"/>
                <a:ea typeface="맑은 고딕"/>
                <a:cs typeface="맑은 고딕"/>
              </a:rPr>
              <a:t>승인 순간 모드 · 상태 재확인</a:t>
            </a:r>
          </a:p>
          <a:p>
            <a:pPr algn="ctr" eaLnBrk="0">
              <a:lnSpc>
                <a:spcPct val="110000"/>
              </a:lnSpc>
              <a:spcAft>
                <a:spcPts val="400"/>
              </a:spcAft>
            </a:pPr>
            <a:r>
              <a:rPr sz="1550" b="0">
                <a:solidFill>
                  <a:srgbClr val="1F2A3A"/>
                </a:solidFill>
                <a:latin typeface="맑은 고딕"/>
                <a:ea typeface="맑은 고딕"/>
                <a:cs typeface="맑은 고딕"/>
              </a:rPr>
              <a:t>→ SOP 단계대로</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운전 모드 규칙과 단계가 만나는 조치 노드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운전 모드를 검사하는 규칙과 모드를 확인하는 단계가 팬 최대 운전에서 만나고, 둘은 서로 다른 매뉴얼 절로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96</a:t>
            </a:r>
          </a:p>
        </p:txBody>
      </p:sp>
      <p:sp>
        <p:nvSpPr>
          <p:cNvPr id="6" name="Oval 5"/>
          <p:cNvSpPr/>
          <p:nvPr/>
        </p:nvSpPr>
        <p:spPr>
          <a:xfrm>
            <a:off x="548639"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51052"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규정 적합성</a:t>
            </a:r>
          </a:p>
          <a:p>
            <a:pPr algn="ctr" eaLnBrk="0">
              <a:lnSpc>
                <a:spcPct val="110000"/>
              </a:lnSpc>
            </a:pPr>
            <a:r>
              <a:rPr sz="1100" b="0">
                <a:solidFill>
                  <a:srgbClr val="556175"/>
                </a:solidFill>
                <a:latin typeface="맑은 고딕"/>
                <a:ea typeface="맑은 고딕"/>
                <a:cs typeface="맑은 고딕"/>
              </a:rPr>
              <a:t>Decision</a:t>
            </a:r>
          </a:p>
        </p:txBody>
      </p:sp>
      <p:sp>
        <p:nvSpPr>
          <p:cNvPr id="8" name="Oval 7"/>
          <p:cNvSpPr/>
          <p:nvPr/>
        </p:nvSpPr>
        <p:spPr>
          <a:xfrm>
            <a:off x="1319150" y="4892040"/>
            <a:ext cx="1463040" cy="146304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규정 적합성 결정표</a:t>
            </a:r>
          </a:p>
          <a:p>
            <a:pPr algn="ctr" eaLnBrk="0">
              <a:lnSpc>
                <a:spcPct val="110000"/>
              </a:lnSpc>
            </a:pPr>
            <a:r>
              <a:rPr sz="1100" b="0">
                <a:solidFill>
                  <a:srgbClr val="556175"/>
                </a:solidFill>
                <a:latin typeface="맑은 고딕"/>
                <a:ea typeface="맑은 고딕"/>
                <a:cs typeface="맑은 고딕"/>
              </a:rPr>
              <a:t>DecisionTable</a:t>
            </a:r>
          </a:p>
          <a:p>
            <a:pPr algn="ctr" eaLnBrk="0">
              <a:lnSpc>
                <a:spcPct val="110000"/>
              </a:lnSpc>
            </a:pPr>
            <a:r>
              <a:rPr sz="1100" b="0">
                <a:solidFill>
                  <a:srgbClr val="556175"/>
                </a:solidFill>
                <a:latin typeface="맑은 고딕"/>
                <a:ea typeface="맑은 고딕"/>
                <a:cs typeface="맑은 고딕"/>
              </a:rPr>
              <a:t>COLLECT</a:t>
            </a:r>
          </a:p>
        </p:txBody>
      </p:sp>
      <p:sp>
        <p:nvSpPr>
          <p:cNvPr id="10" name="Oval 9"/>
          <p:cNvSpPr/>
          <p:nvPr/>
        </p:nvSpPr>
        <p:spPr>
          <a:xfrm>
            <a:off x="3823307" y="3096615"/>
            <a:ext cx="1463040" cy="146304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3925720" y="3374593"/>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원격 조치 제외</a:t>
            </a:r>
          </a:p>
          <a:p>
            <a:pPr algn="ctr" eaLnBrk="0">
              <a:lnSpc>
                <a:spcPct val="110000"/>
              </a:lnSpc>
            </a:pPr>
            <a:r>
              <a:rPr sz="1100" b="0">
                <a:solidFill>
                  <a:srgbClr val="556175"/>
                </a:solidFill>
                <a:latin typeface="맑은 고딕"/>
                <a:ea typeface="맑은 고딕"/>
                <a:cs typeface="맑은 고딕"/>
              </a:rPr>
              <a:t>Rule</a:t>
            </a:r>
          </a:p>
          <a:p>
            <a:pPr algn="ctr" eaLnBrk="0">
              <a:lnSpc>
                <a:spcPct val="110000"/>
              </a:lnSpc>
            </a:pPr>
            <a:r>
              <a:rPr sz="1100" b="0">
                <a:solidFill>
                  <a:srgbClr val="556175"/>
                </a:solidFill>
                <a:latin typeface="맑은 고딕"/>
                <a:ea typeface="맑은 고딕"/>
                <a:cs typeface="맑은 고딕"/>
              </a:rPr>
              <a:t>EXCLUDE</a:t>
            </a:r>
          </a:p>
        </p:txBody>
      </p:sp>
      <p:sp>
        <p:nvSpPr>
          <p:cNvPr id="12" name="Oval 11"/>
          <p:cNvSpPr/>
          <p:nvPr/>
        </p:nvSpPr>
        <p:spPr>
          <a:xfrm>
            <a:off x="5171700" y="4892040"/>
            <a:ext cx="1463040" cy="146304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5274112"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PLC 운전 모드</a:t>
            </a:r>
          </a:p>
          <a:p>
            <a:pPr algn="ctr" eaLnBrk="0">
              <a:lnSpc>
                <a:spcPct val="110000"/>
              </a:lnSpc>
            </a:pPr>
            <a:r>
              <a:rPr sz="1100" b="0">
                <a:solidFill>
                  <a:srgbClr val="556175"/>
                </a:solidFill>
                <a:latin typeface="맑은 고딕"/>
                <a:ea typeface="맑은 고딕"/>
                <a:cs typeface="맑은 고딕"/>
              </a:rPr>
              <a:t>InputData</a:t>
            </a:r>
          </a:p>
          <a:p>
            <a:pPr algn="ctr" eaLnBrk="0">
              <a:lnSpc>
                <a:spcPct val="110000"/>
              </a:lnSpc>
            </a:pPr>
            <a:r>
              <a:rPr sz="1100" b="0">
                <a:solidFill>
                  <a:srgbClr val="556175"/>
                </a:solidFill>
                <a:latin typeface="맑은 고딕"/>
                <a:ea typeface="맑은 고딕"/>
                <a:cs typeface="맑은 고딕"/>
              </a:rPr>
              <a:t>plc_mode</a:t>
            </a:r>
          </a:p>
        </p:txBody>
      </p:sp>
      <p:sp>
        <p:nvSpPr>
          <p:cNvPr id="14" name="Oval 13"/>
          <p:cNvSpPr/>
          <p:nvPr/>
        </p:nvSpPr>
        <p:spPr>
          <a:xfrm>
            <a:off x="6520092"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6622505"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팬 최대 운전</a:t>
            </a:r>
          </a:p>
          <a:p>
            <a:pPr algn="ctr" eaLnBrk="0">
              <a:lnSpc>
                <a:spcPct val="110000"/>
              </a:lnSpc>
            </a:pPr>
            <a:r>
              <a:rPr sz="1100" b="0">
                <a:solidFill>
                  <a:srgbClr val="556175"/>
                </a:solidFill>
                <a:latin typeface="맑은 고딕"/>
                <a:ea typeface="맑은 고딕"/>
                <a:cs typeface="맑은 고딕"/>
              </a:rPr>
              <a:t>Skill</a:t>
            </a:r>
          </a:p>
          <a:p>
            <a:pPr algn="ctr" eaLnBrk="0">
              <a:lnSpc>
                <a:spcPct val="110000"/>
              </a:lnSpc>
            </a:pPr>
            <a:r>
              <a:rPr sz="1100" b="0">
                <a:solidFill>
                  <a:srgbClr val="556175"/>
                </a:solidFill>
                <a:latin typeface="맑은 고딕"/>
                <a:ea typeface="맑은 고딕"/>
                <a:cs typeface="맑은 고딕"/>
              </a:rPr>
              <a:t>SOP-COOL-11</a:t>
            </a:r>
          </a:p>
        </p:txBody>
      </p:sp>
      <p:sp>
        <p:nvSpPr>
          <p:cNvPr id="16" name="Oval 15"/>
          <p:cNvSpPr/>
          <p:nvPr/>
        </p:nvSpPr>
        <p:spPr>
          <a:xfrm>
            <a:off x="7868485" y="3325124"/>
            <a:ext cx="1463040" cy="1463040"/>
          </a:xfrm>
          <a:prstGeom prst="ellipse">
            <a:avLst/>
          </a:prstGeom>
          <a:solidFill>
            <a:srgbClr val="E7F3FD"/>
          </a:solidFill>
          <a:ln w="25400">
            <a:solidFill>
              <a:srgbClr val="5CB8F2"/>
            </a:solidFill>
          </a:ln>
        </p:spPr>
        <p:txBody>
          <a:bodyPr rtlCol="0" anchor="ctr"/>
          <a:lstStyle/>
          <a:p>
            <a:pPr algn="ctr"/>
          </a:p>
        </p:txBody>
      </p:sp>
      <p:sp>
        <p:nvSpPr>
          <p:cNvPr id="17" name="TextBox 16"/>
          <p:cNvSpPr txBox="1"/>
          <p:nvPr/>
        </p:nvSpPr>
        <p:spPr>
          <a:xfrm>
            <a:off x="7970897" y="3603101"/>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HM-8.8 금지와 제한</a:t>
            </a:r>
          </a:p>
          <a:p>
            <a:pPr algn="ctr" eaLnBrk="0">
              <a:lnSpc>
                <a:spcPct val="110000"/>
              </a:lnSpc>
            </a:pPr>
            <a:r>
              <a:rPr sz="1100" b="0">
                <a:solidFill>
                  <a:srgbClr val="556175"/>
                </a:solidFill>
                <a:latin typeface="맑은 고딕"/>
                <a:ea typeface="맑은 고딕"/>
                <a:cs typeface="맑은 고딕"/>
              </a:rPr>
              <a:t>ManualSection</a:t>
            </a:r>
          </a:p>
        </p:txBody>
      </p:sp>
      <p:sp>
        <p:nvSpPr>
          <p:cNvPr id="18" name="Oval 17"/>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9" name="TextBox 18"/>
          <p:cNvSpPr txBox="1"/>
          <p:nvPr/>
        </p:nvSpPr>
        <p:spPr>
          <a:xfrm>
            <a:off x="9511917" y="1905609"/>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운전 모드 확인</a:t>
            </a:r>
          </a:p>
          <a:p>
            <a:pPr algn="ctr" eaLnBrk="0">
              <a:lnSpc>
                <a:spcPct val="110000"/>
              </a:lnSpc>
            </a:pPr>
            <a:r>
              <a:rPr sz="1100" b="0">
                <a:solidFill>
                  <a:srgbClr val="556175"/>
                </a:solidFill>
                <a:latin typeface="맑은 고딕"/>
                <a:ea typeface="맑은 고딕"/>
                <a:cs typeface="맑은 고딕"/>
              </a:rPr>
              <a:t>Step</a:t>
            </a:r>
          </a:p>
          <a:p>
            <a:pPr algn="ctr" eaLnBrk="0">
              <a:lnSpc>
                <a:spcPct val="110000"/>
              </a:lnSpc>
            </a:pPr>
            <a:r>
              <a:rPr sz="1100" b="0">
                <a:solidFill>
                  <a:srgbClr val="556175"/>
                </a:solidFill>
                <a:latin typeface="맑은 고딕"/>
                <a:ea typeface="맑은 고딕"/>
                <a:cs typeface="맑은 고딕"/>
              </a:rPr>
              <a:t>order 1</a:t>
            </a:r>
          </a:p>
        </p:txBody>
      </p:sp>
      <p:sp>
        <p:nvSpPr>
          <p:cNvPr id="20" name="Oval 19"/>
          <p:cNvSpPr/>
          <p:nvPr/>
        </p:nvSpPr>
        <p:spPr>
          <a:xfrm>
            <a:off x="9409505" y="4892040"/>
            <a:ext cx="1463040" cy="1463040"/>
          </a:xfrm>
          <a:prstGeom prst="ellipse">
            <a:avLst/>
          </a:prstGeom>
          <a:solidFill>
            <a:srgbClr val="E7F3FD"/>
          </a:solidFill>
          <a:ln w="25400">
            <a:solidFill>
              <a:srgbClr val="5CB8F2"/>
            </a:solidFill>
          </a:ln>
        </p:spPr>
        <p:txBody>
          <a:bodyPr rtlCol="0" anchor="ctr"/>
          <a:lstStyle/>
          <a:p>
            <a:pPr algn="ctr"/>
          </a:p>
        </p:txBody>
      </p:sp>
      <p:sp>
        <p:nvSpPr>
          <p:cNvPr id="21" name="TextBox 20"/>
          <p:cNvSpPr txBox="1"/>
          <p:nvPr/>
        </p:nvSpPr>
        <p:spPr>
          <a:xfrm>
            <a:off x="9511917" y="5170017"/>
            <a:ext cx="1258214" cy="907084"/>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HM-8.5 즉시 완화 조치</a:t>
            </a:r>
          </a:p>
          <a:p>
            <a:pPr algn="ctr" eaLnBrk="0">
              <a:lnSpc>
                <a:spcPct val="110000"/>
              </a:lnSpc>
            </a:pPr>
            <a:r>
              <a:rPr sz="1100" b="0">
                <a:solidFill>
                  <a:srgbClr val="556175"/>
                </a:solidFill>
                <a:latin typeface="맑은 고딕"/>
                <a:ea typeface="맑은 고딕"/>
                <a:cs typeface="맑은 고딕"/>
              </a:rPr>
              <a:t>ManualSection</a:t>
            </a:r>
          </a:p>
        </p:txBody>
      </p:sp>
      <p:cxnSp>
        <p:nvCxnSpPr>
          <p:cNvPr id="22" name="Connector 21"/>
          <p:cNvCxnSpPr/>
          <p:nvPr/>
        </p:nvCxnSpPr>
        <p:spPr>
          <a:xfrm>
            <a:off x="1458708" y="3115605"/>
            <a:ext cx="407111" cy="1724802"/>
          </a:xfrm>
          <a:prstGeom prst="line">
            <a:avLst/>
          </a:prstGeom>
          <a:ln w="28575">
            <a:solidFill>
              <a:srgbClr val="13294B"/>
            </a:solidFill>
            <a:tailEnd type="triangle" w="med" len="med"/>
          </a:ln>
        </p:spPr>
      </p:cxnSp>
      <p:sp>
        <p:nvSpPr>
          <p:cNvPr id="23" name="Rounded Rectangle 22"/>
          <p:cNvSpPr/>
          <p:nvPr/>
        </p:nvSpPr>
        <p:spPr>
          <a:xfrm>
            <a:off x="1753704" y="3831702"/>
            <a:ext cx="17529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1753704" y="3831702"/>
            <a:ext cx="17529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IMPLEMENTED_BY</a:t>
            </a:r>
          </a:p>
        </p:txBody>
      </p:sp>
      <p:cxnSp>
        <p:nvCxnSpPr>
          <p:cNvPr id="25" name="Connector 24"/>
          <p:cNvCxnSpPr/>
          <p:nvPr/>
        </p:nvCxnSpPr>
        <p:spPr>
          <a:xfrm flipV="1">
            <a:off x="2682331" y="4297006"/>
            <a:ext cx="1218541" cy="873667"/>
          </a:xfrm>
          <a:prstGeom prst="line">
            <a:avLst/>
          </a:prstGeom>
          <a:ln w="28575">
            <a:solidFill>
              <a:srgbClr val="13294B"/>
            </a:solidFill>
            <a:tailEnd type="triangle" w="med" len="med"/>
          </a:ln>
        </p:spPr>
      </p:cxnSp>
      <p:sp>
        <p:nvSpPr>
          <p:cNvPr id="26" name="Rounded Rectangle 25"/>
          <p:cNvSpPr/>
          <p:nvPr/>
        </p:nvSpPr>
        <p:spPr>
          <a:xfrm>
            <a:off x="2735658" y="4368079"/>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2735658" y="4368079"/>
            <a:ext cx="11118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HAS_RULE</a:t>
            </a:r>
          </a:p>
        </p:txBody>
      </p:sp>
      <p:cxnSp>
        <p:nvCxnSpPr>
          <p:cNvPr id="28" name="Connector 27"/>
          <p:cNvCxnSpPr/>
          <p:nvPr/>
        </p:nvCxnSpPr>
        <p:spPr>
          <a:xfrm>
            <a:off x="5021575" y="4449624"/>
            <a:ext cx="398423" cy="530512"/>
          </a:xfrm>
          <a:prstGeom prst="line">
            <a:avLst/>
          </a:prstGeom>
          <a:ln w="28575">
            <a:solidFill>
              <a:srgbClr val="13294B"/>
            </a:solidFill>
            <a:tailEnd type="triangle" w="med" len="med"/>
          </a:ln>
        </p:spPr>
      </p:cxnSp>
      <p:sp>
        <p:nvSpPr>
          <p:cNvPr id="29" name="Rounded Rectangle 28"/>
          <p:cNvSpPr/>
          <p:nvPr/>
        </p:nvSpPr>
        <p:spPr>
          <a:xfrm>
            <a:off x="5312227" y="4568576"/>
            <a:ext cx="2249324"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0" name="TextBox 29"/>
          <p:cNvSpPr txBox="1"/>
          <p:nvPr/>
        </p:nvSpPr>
        <p:spPr>
          <a:xfrm>
            <a:off x="5312227" y="4568576"/>
            <a:ext cx="2249324"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TESTS != REMOTE_AUTO</a:t>
            </a:r>
          </a:p>
        </p:txBody>
      </p:sp>
      <p:cxnSp>
        <p:nvCxnSpPr>
          <p:cNvPr id="31" name="Connector 30"/>
          <p:cNvCxnSpPr/>
          <p:nvPr/>
        </p:nvCxnSpPr>
        <p:spPr>
          <a:xfrm flipV="1">
            <a:off x="5237374" y="2744068"/>
            <a:ext cx="1307601" cy="712272"/>
          </a:xfrm>
          <a:prstGeom prst="line">
            <a:avLst/>
          </a:prstGeom>
          <a:ln w="28575">
            <a:solidFill>
              <a:srgbClr val="13294B"/>
            </a:solidFill>
            <a:tailEnd type="triangle" w="med" len="med"/>
          </a:ln>
        </p:spPr>
      </p:cxnSp>
      <p:sp>
        <p:nvSpPr>
          <p:cNvPr id="32" name="Rounded Rectangle 31"/>
          <p:cNvSpPr/>
          <p:nvPr/>
        </p:nvSpPr>
        <p:spPr>
          <a:xfrm>
            <a:off x="5228381" y="2734444"/>
            <a:ext cx="13255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3" name="TextBox 32"/>
          <p:cNvSpPr txBox="1"/>
          <p:nvPr/>
        </p:nvSpPr>
        <p:spPr>
          <a:xfrm>
            <a:off x="5228381" y="2734444"/>
            <a:ext cx="13255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APPLIES_TO</a:t>
            </a:r>
          </a:p>
        </p:txBody>
      </p:sp>
      <p:cxnSp>
        <p:nvCxnSpPr>
          <p:cNvPr id="34" name="Connector 33"/>
          <p:cNvCxnSpPr/>
          <p:nvPr/>
        </p:nvCxnSpPr>
        <p:spPr>
          <a:xfrm>
            <a:off x="5330830" y="3871971"/>
            <a:ext cx="2465783" cy="139290"/>
          </a:xfrm>
          <a:prstGeom prst="line">
            <a:avLst/>
          </a:prstGeom>
          <a:ln w="28575">
            <a:solidFill>
              <a:srgbClr val="13294B"/>
            </a:solidFill>
            <a:tailEnd type="triangle" w="med" len="med"/>
          </a:ln>
        </p:spPr>
      </p:cxnSp>
      <p:sp>
        <p:nvSpPr>
          <p:cNvPr id="35" name="Rounded Rectangle 34"/>
          <p:cNvSpPr/>
          <p:nvPr/>
        </p:nvSpPr>
        <p:spPr>
          <a:xfrm>
            <a:off x="5794078" y="357585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6" name="TextBox 35"/>
          <p:cNvSpPr txBox="1"/>
          <p:nvPr/>
        </p:nvSpPr>
        <p:spPr>
          <a:xfrm>
            <a:off x="5794078" y="3575856"/>
            <a:ext cx="1539288"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DERIVED_FROM</a:t>
            </a:r>
          </a:p>
        </p:txBody>
      </p:sp>
      <p:cxnSp>
        <p:nvCxnSpPr>
          <p:cNvPr id="37" name="Connector 36"/>
          <p:cNvCxnSpPr/>
          <p:nvPr/>
        </p:nvCxnSpPr>
        <p:spPr>
          <a:xfrm>
            <a:off x="8028852" y="2359152"/>
            <a:ext cx="1307501" cy="0"/>
          </a:xfrm>
          <a:prstGeom prst="line">
            <a:avLst/>
          </a:prstGeom>
          <a:ln w="28575">
            <a:solidFill>
              <a:srgbClr val="13294B"/>
            </a:solidFill>
            <a:tailEnd type="triangle" w="med" len="med"/>
          </a:ln>
        </p:spPr>
      </p:cxnSp>
      <p:sp>
        <p:nvSpPr>
          <p:cNvPr id="38" name="Rounded Rectangle 37"/>
          <p:cNvSpPr/>
          <p:nvPr/>
        </p:nvSpPr>
        <p:spPr>
          <a:xfrm>
            <a:off x="8126659" y="199339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9" name="TextBox 38"/>
          <p:cNvSpPr txBox="1"/>
          <p:nvPr/>
        </p:nvSpPr>
        <p:spPr>
          <a:xfrm>
            <a:off x="8126659" y="1993392"/>
            <a:ext cx="111188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HAS_STEP</a:t>
            </a:r>
          </a:p>
        </p:txBody>
      </p:sp>
      <p:cxnSp>
        <p:nvCxnSpPr>
          <p:cNvPr id="40" name="Connector 39"/>
          <p:cNvCxnSpPr/>
          <p:nvPr/>
        </p:nvCxnSpPr>
        <p:spPr>
          <a:xfrm>
            <a:off x="10141025" y="3136392"/>
            <a:ext cx="0" cy="1682496"/>
          </a:xfrm>
          <a:prstGeom prst="line">
            <a:avLst/>
          </a:prstGeom>
          <a:ln w="28575">
            <a:solidFill>
              <a:srgbClr val="13294B"/>
            </a:solidFill>
            <a:tailEnd type="triangle" w="med" len="med"/>
          </a:ln>
        </p:spPr>
      </p:cxnSp>
      <p:sp>
        <p:nvSpPr>
          <p:cNvPr id="41" name="Rounded Rectangle 40"/>
          <p:cNvSpPr/>
          <p:nvPr/>
        </p:nvSpPr>
        <p:spPr>
          <a:xfrm>
            <a:off x="10232465" y="3831336"/>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2" name="TextBox 41"/>
          <p:cNvSpPr txBox="1"/>
          <p:nvPr/>
        </p:nvSpPr>
        <p:spPr>
          <a:xfrm>
            <a:off x="10232465" y="3831336"/>
            <a:ext cx="12187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REFERS_TO</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단계 더: DMN 표준과 HYD 평가의 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DMN의 개념을 빌렸어도 표준 엔진으로 실행하는 것은 아니어서, 조건 식과 Hit Policy, 실행 주체가 표준과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DMN 표준</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HYD</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조건 식</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FEEL(Friendly Enough Expression Language): 범위 · 목록을 식 하나로</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TESTS 하나에</a:t>
            </a:r>
          </a:p>
          <a:p>
            <a:pPr algn="l" eaLnBrk="0">
              <a:lnSpc>
                <a:spcPct val="110000"/>
              </a:lnSpc>
            </a:pPr>
            <a:r>
              <a:rPr sz="1250" b="1">
                <a:solidFill>
                  <a:srgbClr val="556175"/>
                </a:solidFill>
                <a:latin typeface="맑은 고딕"/>
                <a:ea typeface="맑은 고딕"/>
                <a:cs typeface="맑은 고딕"/>
              </a:rPr>
              <a:t>연산자 · 값 하나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Hit Policy</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일곱 가지</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Unique · Priority ·</a:t>
            </a:r>
          </a:p>
          <a:p>
            <a:pPr algn="l" eaLnBrk="0">
              <a:lnSpc>
                <a:spcPct val="110000"/>
              </a:lnSpc>
            </a:pPr>
            <a:r>
              <a:rPr sz="1250" b="1">
                <a:solidFill>
                  <a:srgbClr val="556175"/>
                </a:solidFill>
                <a:latin typeface="맑은 고딕"/>
                <a:ea typeface="맑은 고딕"/>
                <a:cs typeface="맑은 고딕"/>
              </a:rPr>
              <a:t>Collect 셋</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주체</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DMN 모델 파일(.dmn)을 엔진이 읽는다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그래프의 규칙을</a:t>
            </a:r>
          </a:p>
          <a:p>
            <a:pPr algn="l" eaLnBrk="0">
              <a:lnSpc>
                <a:spcPct val="110000"/>
              </a:lnSpc>
            </a:pPr>
            <a:r>
              <a:rPr sz="1250" b="1">
                <a:solidFill>
                  <a:srgbClr val="1A6FC4"/>
                </a:solidFill>
                <a:latin typeface="맑은 고딕"/>
                <a:ea typeface="맑은 고딕"/>
                <a:cs typeface="맑은 고딕"/>
              </a:rPr>
              <a:t>평가 함수가 읽는다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선언과 평가</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선언한 정책대로 결과를 해석한다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선언이 평가 방식과</a:t>
            </a:r>
          </a:p>
          <a:p>
            <a:pPr algn="l" eaLnBrk="0">
              <a:lnSpc>
                <a:spcPct val="110000"/>
              </a:lnSpc>
            </a:pPr>
            <a:r>
              <a:rPr sz="1250" b="1">
                <a:solidFill>
                  <a:srgbClr val="556175"/>
                </a:solidFill>
                <a:latin typeface="맑은 고딕"/>
                <a:ea typeface="맑은 고딕"/>
                <a:cs typeface="맑은 고딕"/>
              </a:rPr>
              <a:t>다르면 거절한다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응용: 결정표로 옮겨도 절차에 남는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 시점의 값으로 가릴 수 있는 조건만 결정표로 옮기고, 현장 확인 · 조치 뒤 관측 · 작업 방법은 절차에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SOP의 문장</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결정표로</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절차에 남는 것</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「REMOTE_AUTO인지 확인한다」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제외 규칙</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순간 다시</a:t>
            </a:r>
          </a:p>
          <a:p>
            <a:pPr algn="l" eaLnBrk="0">
              <a:lnSpc>
                <a:spcPct val="110000"/>
              </a:lnSpc>
            </a:pPr>
            <a:r>
              <a:rPr sz="1250" b="1">
                <a:solidFill>
                  <a:srgbClr val="556175"/>
                </a:solidFill>
                <a:latin typeface="맑은 고딕"/>
                <a:ea typeface="맑은 고딕"/>
                <a:cs typeface="맑은 고딕"/>
              </a:rPr>
              <a:t>확인하는 단계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「100 % 연속 운전은 24시간 이내」</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감점 규칙</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연속 운전 시간을</a:t>
            </a:r>
          </a:p>
          <a:p>
            <a:pPr algn="l" eaLnBrk="0">
              <a:lnSpc>
                <a:spcPct val="110000"/>
              </a:lnSpc>
            </a:pPr>
            <a:r>
              <a:rPr sz="1250" b="1">
                <a:solidFill>
                  <a:srgbClr val="556175"/>
                </a:solidFill>
                <a:latin typeface="맑은 고딕"/>
                <a:ea typeface="맑은 고딕"/>
                <a:cs typeface="맑은 고딕"/>
              </a:rPr>
              <a:t>지키는 운전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「15분 재관측으로 회복 판정」</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옮기지 않는다</a:t>
            </a:r>
          </a:p>
          <a:p>
            <a:pPr algn="l" eaLnBrk="0">
              <a:lnSpc>
                <a:spcPct val="110000"/>
              </a:lnSpc>
            </a:pPr>
            <a:r>
              <a:rPr sz="1400" b="0">
                <a:solidFill>
                  <a:srgbClr val="1F2A3A"/>
                </a:solidFill>
                <a:latin typeface="맑은 고딕"/>
                <a:ea typeface="맑은 고딕"/>
                <a:cs typeface="맑은 고딕"/>
              </a:rPr>
              <a:t>조치 뒤에야 값이 생긴다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재관측과</a:t>
            </a:r>
          </a:p>
          <a:p>
            <a:pPr algn="l" eaLnBrk="0">
              <a:lnSpc>
                <a:spcPct val="110000"/>
              </a:lnSpc>
            </a:pPr>
            <a:r>
              <a:rPr sz="1250" b="1">
                <a:solidFill>
                  <a:srgbClr val="556175"/>
                </a:solidFill>
                <a:latin typeface="맑은 고딕"/>
                <a:ea typeface="맑은 고딕"/>
                <a:cs typeface="맑은 고딕"/>
              </a:rPr>
              <a:t>결과 보고</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「정지 · LOCAL · 잠금(LOTO)」</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옮기지 않는다</a:t>
            </a:r>
          </a:p>
          <a:p>
            <a:pPr algn="l" eaLnBrk="0">
              <a:lnSpc>
                <a:spcPct val="110000"/>
              </a:lnSpc>
            </a:pPr>
            <a:r>
              <a:rPr sz="1400" b="0">
                <a:solidFill>
                  <a:srgbClr val="1F2A3A"/>
                </a:solidFill>
                <a:latin typeface="맑은 고딕"/>
                <a:ea typeface="맑은 고딕"/>
                <a:cs typeface="맑은 고딕"/>
              </a:rPr>
              <a:t>현장에서 사람이 확인한다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안전 조건의</a:t>
            </a:r>
          </a:p>
          <a:p>
            <a:pPr algn="l" eaLnBrk="0">
              <a:lnSpc>
                <a:spcPct val="110000"/>
              </a:lnSpc>
            </a:pPr>
            <a:r>
              <a:rPr sz="1250" b="1">
                <a:solidFill>
                  <a:srgbClr val="556175"/>
                </a:solidFill>
                <a:latin typeface="맑은 고딕"/>
                <a:ea typeface="맑은 고딕"/>
                <a:cs typeface="맑은 고딕"/>
              </a:rPr>
              <a:t>확인</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「고압수는 쓰지 않는다」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옮기지 않는다</a:t>
            </a:r>
          </a:p>
          <a:p>
            <a:pPr algn="l" eaLnBrk="0">
              <a:lnSpc>
                <a:spcPct val="110000"/>
              </a:lnSpc>
            </a:pPr>
            <a:r>
              <a:rPr sz="1400" b="0">
                <a:solidFill>
                  <a:srgbClr val="1F2A3A"/>
                </a:solidFill>
                <a:latin typeface="맑은 고딕"/>
                <a:ea typeface="맑은 고딕"/>
                <a:cs typeface="맑은 고딕"/>
              </a:rPr>
              <a:t>판정할 입력 값이 없다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작업 방법의</a:t>
            </a:r>
          </a:p>
          <a:p>
            <a:pPr algn="l" eaLnBrk="0">
              <a:lnSpc>
                <a:spcPct val="110000"/>
              </a:lnSpc>
            </a:pPr>
            <a:r>
              <a:rPr sz="1250" b="1">
                <a:solidFill>
                  <a:srgbClr val="1A6FC4"/>
                </a:solidFill>
                <a:latin typeface="맑은 고딕"/>
                <a:ea typeface="맑은 고딕"/>
                <a:cs typeface="맑은 고딕"/>
              </a:rPr>
              <a:t>금지 사항</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조치 허용 · 제외 조건표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작업 기준의 조건을 표로 옮기고, 경계값 · 겹치는 조건 · 빠진 입력을 사례에 대어 확인한다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조건표와 판단 기록의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작업 순서는 절차에 그대로 두고, 판단 조건과 사례별 적용 결과는 조건표와 판단 기록에 따로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100</a:t>
            </a:r>
          </a:p>
        </p:txBody>
      </p:sp>
      <p:sp>
        <p:nvSpPr>
          <p:cNvPr id="6" name="Rounded Rectangle 5"/>
          <p:cNvSpPr/>
          <p:nvPr/>
        </p:nvSpPr>
        <p:spPr>
          <a:xfrm>
            <a:off x="548640" y="2318004"/>
            <a:ext cx="2567863" cy="33467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519172"/>
            <a:ext cx="2238679" cy="2642616"/>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원문에서 조건 찾기</a:t>
            </a:r>
          </a:p>
          <a:p>
            <a:pPr algn="l" eaLnBrk="0" marL="194310" indent="-194310">
              <a:lnSpc>
                <a:spcPct val="110000"/>
              </a:lnSpc>
              <a:spcAft>
                <a:spcPts val="400"/>
              </a:spcAft>
            </a:pPr>
            <a:r>
              <a:rPr sz="1700" b="0">
                <a:solidFill>
                  <a:srgbClr val="1F2A3A"/>
                </a:solidFill>
                <a:latin typeface="맑은 고딕"/>
                <a:ea typeface="맑은 고딕"/>
                <a:cs typeface="맑은 고딕"/>
              </a:rPr>
              <a:t>• 작업 기준 · HM-8 원문 · 규칙 R1~R5</a:t>
            </a:r>
          </a:p>
          <a:p>
            <a:pPr algn="l" eaLnBrk="0" marL="194310" indent="-194310">
              <a:lnSpc>
                <a:spcPct val="110000"/>
              </a:lnSpc>
              <a:spcAft>
                <a:spcPts val="400"/>
              </a:spcAft>
            </a:pPr>
            <a:r>
              <a:rPr sz="1700" b="0">
                <a:solidFill>
                  <a:srgbClr val="1F2A3A"/>
                </a:solidFill>
                <a:latin typeface="맑은 고딕"/>
                <a:ea typeface="맑은 고딕"/>
                <a:cs typeface="맑은 고딕"/>
              </a:rPr>
              <a:t>• 온도 · 압력 · 운전 모드 · 설비 상태</a:t>
            </a:r>
          </a:p>
        </p:txBody>
      </p:sp>
      <p:sp>
        <p:nvSpPr>
          <p:cNvPr id="8" name="Rounded Rectangle 7"/>
          <p:cNvSpPr/>
          <p:nvPr/>
        </p:nvSpPr>
        <p:spPr>
          <a:xfrm>
            <a:off x="777240" y="5234940"/>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23494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근거</a:t>
            </a:r>
          </a:p>
        </p:txBody>
      </p:sp>
      <p:sp>
        <p:nvSpPr>
          <p:cNvPr id="10" name="Rounded Rectangle 9"/>
          <p:cNvSpPr/>
          <p:nvPr/>
        </p:nvSpPr>
        <p:spPr>
          <a:xfrm>
            <a:off x="3390823" y="2318004"/>
            <a:ext cx="2567863" cy="33467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2519172"/>
            <a:ext cx="2238679" cy="2642616"/>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조건표 작성</a:t>
            </a:r>
          </a:p>
          <a:p>
            <a:pPr algn="l" eaLnBrk="0" marL="194310" indent="-194310">
              <a:lnSpc>
                <a:spcPct val="110000"/>
              </a:lnSpc>
              <a:spcAft>
                <a:spcPts val="400"/>
              </a:spcAft>
            </a:pPr>
            <a:r>
              <a:rPr sz="1700" b="0">
                <a:solidFill>
                  <a:srgbClr val="1F2A3A"/>
                </a:solidFill>
                <a:latin typeface="맑은 고딕"/>
                <a:ea typeface="맑은 고딕"/>
                <a:cs typeface="맑은 고딕"/>
              </a:rPr>
              <a:t>• 입력 · 연산자 · 기준값 · 단위 · 적용 조치 · 결과</a:t>
            </a:r>
          </a:p>
          <a:p>
            <a:pPr algn="l" eaLnBrk="0" marL="194310" indent="-194310">
              <a:lnSpc>
                <a:spcPct val="110000"/>
              </a:lnSpc>
              <a:spcAft>
                <a:spcPts val="400"/>
              </a:spcAft>
            </a:pPr>
            <a:r>
              <a:rPr sz="1700" b="0">
                <a:solidFill>
                  <a:srgbClr val="1F2A3A"/>
                </a:solidFill>
                <a:latin typeface="맑은 고딕"/>
                <a:ea typeface="맑은 고딕"/>
                <a:cs typeface="맑은 고딕"/>
              </a:rPr>
              <a:t>• 경고 · 감점 · 제외를 구별</a:t>
            </a:r>
          </a:p>
        </p:txBody>
      </p:sp>
      <p:sp>
        <p:nvSpPr>
          <p:cNvPr id="12" name="Rounded Rectangle 11"/>
          <p:cNvSpPr/>
          <p:nvPr/>
        </p:nvSpPr>
        <p:spPr>
          <a:xfrm>
            <a:off x="3619423" y="5234940"/>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523494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결과물</a:t>
            </a:r>
          </a:p>
        </p:txBody>
      </p:sp>
      <p:sp>
        <p:nvSpPr>
          <p:cNvPr id="14" name="Rounded Rectangle 13"/>
          <p:cNvSpPr/>
          <p:nvPr/>
        </p:nvSpPr>
        <p:spPr>
          <a:xfrm>
            <a:off x="6233007" y="2318004"/>
            <a:ext cx="2567863" cy="334670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2519172"/>
            <a:ext cx="2238679" cy="2642616"/>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경계와 중첩 확인</a:t>
            </a:r>
          </a:p>
          <a:p>
            <a:pPr algn="l" eaLnBrk="0" marL="194310" indent="-194310">
              <a:lnSpc>
                <a:spcPct val="110000"/>
              </a:lnSpc>
              <a:spcAft>
                <a:spcPts val="400"/>
              </a:spcAft>
            </a:pPr>
            <a:r>
              <a:rPr sz="1700" b="0">
                <a:solidFill>
                  <a:srgbClr val="1F2A3A"/>
                </a:solidFill>
                <a:latin typeface="맑은 고딕"/>
                <a:ea typeface="맑은 고딕"/>
                <a:cs typeface="맑은 고딕"/>
              </a:rPr>
              <a:t>• 기준값 바로 아래 · 같은 값 · 바로 위</a:t>
            </a:r>
          </a:p>
          <a:p>
            <a:pPr algn="l" eaLnBrk="0" marL="194310" indent="-194310">
              <a:lnSpc>
                <a:spcPct val="110000"/>
              </a:lnSpc>
              <a:spcAft>
                <a:spcPts val="400"/>
              </a:spcAft>
            </a:pPr>
            <a:r>
              <a:rPr sz="1700" b="0">
                <a:solidFill>
                  <a:srgbClr val="1F2A3A"/>
                </a:solidFill>
                <a:latin typeface="맑은 고딕"/>
                <a:ea typeface="맑은 고딕"/>
                <a:cs typeface="맑은 고딕"/>
              </a:rPr>
              <a:t>• 제외 사유가 겹친 사례, 입력이 빠진 사례는 보류</a:t>
            </a:r>
          </a:p>
        </p:txBody>
      </p:sp>
      <p:sp>
        <p:nvSpPr>
          <p:cNvPr id="16" name="Rounded Rectangle 15"/>
          <p:cNvSpPr/>
          <p:nvPr/>
        </p:nvSpPr>
        <p:spPr>
          <a:xfrm>
            <a:off x="6461607" y="5234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523494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검토</a:t>
            </a:r>
          </a:p>
        </p:txBody>
      </p:sp>
      <p:sp>
        <p:nvSpPr>
          <p:cNvPr id="18" name="Rounded Rectangle 17"/>
          <p:cNvSpPr/>
          <p:nvPr/>
        </p:nvSpPr>
        <p:spPr>
          <a:xfrm>
            <a:off x="9075191" y="2318004"/>
            <a:ext cx="2567863" cy="334670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TextBox 18"/>
          <p:cNvSpPr txBox="1"/>
          <p:nvPr/>
        </p:nvSpPr>
        <p:spPr>
          <a:xfrm>
            <a:off x="9239783" y="2519172"/>
            <a:ext cx="2238679" cy="2642616"/>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절차와 연결</a:t>
            </a:r>
          </a:p>
          <a:p>
            <a:pPr algn="l" eaLnBrk="0" marL="194310" indent="-194310">
              <a:lnSpc>
                <a:spcPct val="110000"/>
              </a:lnSpc>
              <a:spcAft>
                <a:spcPts val="400"/>
              </a:spcAft>
            </a:pPr>
            <a:r>
              <a:rPr sz="1700" b="0">
                <a:solidFill>
                  <a:srgbClr val="1F2A3A"/>
                </a:solidFill>
                <a:latin typeface="맑은 고딕"/>
                <a:ea typeface="맑은 고딕"/>
                <a:cs typeface="맑은 고딕"/>
              </a:rPr>
              <a:t>• 조건을 통과해도 승인 · 작업 단계 · 현장 안전 조건은 남는다</a:t>
            </a:r>
          </a:p>
          <a:p>
            <a:pPr algn="l" eaLnBrk="0" marL="194310" indent="-194310">
              <a:lnSpc>
                <a:spcPct val="110000"/>
              </a:lnSpc>
              <a:spcAft>
                <a:spcPts val="400"/>
              </a:spcAft>
            </a:pPr>
            <a:r>
              <a:rPr sz="1700" b="0">
                <a:solidFill>
                  <a:srgbClr val="1F2A3A"/>
                </a:solidFill>
                <a:latin typeface="맑은 고딕"/>
                <a:ea typeface="맑은 고딕"/>
                <a:cs typeface="맑은 고딕"/>
              </a:rPr>
              <a:t>• 판단 결과에서 원문 절까지 되짚게 남긴다</a:t>
            </a:r>
          </a:p>
        </p:txBody>
      </p:sp>
      <p:sp>
        <p:nvSpPr>
          <p:cNvPr id="20" name="Rounded Rectangle 19"/>
          <p:cNvSpPr/>
          <p:nvPr/>
        </p:nvSpPr>
        <p:spPr>
          <a:xfrm>
            <a:off x="9303791" y="5234940"/>
            <a:ext cx="822960" cy="292608"/>
          </a:xfrm>
          <a:prstGeom prst="roundRect">
            <a:avLst>
              <a:gd name="adj" fmla="val 50000"/>
            </a:avLst>
          </a:prstGeom>
          <a:solidFill>
            <a:srgbClr val="5CB8F2"/>
          </a:solidFill>
          <a:ln>
            <a:noFill/>
          </a:ln>
        </p:spPr>
        <p:txBody>
          <a:bodyPr rtlCol="0" anchor="ctr"/>
          <a:lstStyle/>
          <a:p>
            <a:pPr algn="ctr"/>
          </a:p>
        </p:txBody>
      </p:sp>
      <p:sp>
        <p:nvSpPr>
          <p:cNvPr id="21" name="TextBox 20"/>
          <p:cNvSpPr txBox="1"/>
          <p:nvPr/>
        </p:nvSpPr>
        <p:spPr>
          <a:xfrm>
            <a:off x="9303791" y="523494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마무리</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쿨러 경보 한 건으로 되짚는 지식 구조와 판단</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경보 하나에서 나오는 물음은 답이 놓인 자리가 저마다 달라, 그 자리를 가리는 것이 이번 회차의 핵심이다.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답이 놓인 자리</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헷갈리기 쉬운 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유온의 한계 65 ℃는 어디서 읽나</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센서에서 OBSERVES로 건너간 상태 변수의 속성</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센서의 속성</a:t>
            </a:r>
          </a:p>
          <a:p>
            <a:pPr algn="l" eaLnBrk="0">
              <a:lnSpc>
                <a:spcPct val="110000"/>
              </a:lnSpc>
            </a:pPr>
            <a:r>
              <a:rPr sz="1250" b="1">
                <a:solidFill>
                  <a:srgbClr val="556175"/>
                </a:solidFill>
                <a:latin typeface="맑은 고딕"/>
                <a:ea typeface="맑은 고딕"/>
                <a:cs typeface="맑은 고딕"/>
              </a:rPr>
              <a:t>vs 상태 변수의 속성</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「오일 온도」로 찾아도 같은 유온인가</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식별자 sv:ts1 하나, 다른 이름은 별칭</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식별자 vs 이름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쿨러를 계측하는 센서는</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구성 요소 → 센서, 저장 방향대로 적은 MATCH 패턴</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0행</a:t>
            </a:r>
          </a:p>
          <a:p>
            <a:pPr algn="l" eaLnBrk="0">
              <a:lnSpc>
                <a:spcPct val="110000"/>
              </a:lnSpc>
            </a:pPr>
            <a:r>
              <a:rPr sz="1250" b="1">
                <a:solidFill>
                  <a:srgbClr val="556175"/>
                </a:solidFill>
                <a:latin typeface="맑은 고딕"/>
                <a:ea typeface="맑은 고딕"/>
                <a:cs typeface="맑은 고딕"/>
              </a:rPr>
              <a:t>vs 연결 없음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팬 최대 운전을 지금 해도 되나</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규정 결정표의 규칙과 그때의 입력 값</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제외 vs 감점 · 경고</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어떤 차례로 하고 언제 끝나나</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SOP의 단계와 완료 확인 기준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경보 해제</a:t>
            </a:r>
          </a:p>
          <a:p>
            <a:pPr algn="l" eaLnBrk="0">
              <a:lnSpc>
                <a:spcPct val="110000"/>
              </a:lnSpc>
            </a:pPr>
            <a:r>
              <a:rPr sz="1250" b="1">
                <a:solidFill>
                  <a:srgbClr val="1A6FC4"/>
                </a:solidFill>
                <a:latin typeface="맑은 고딕"/>
                <a:ea typeface="맑은 고딕"/>
                <a:cs typeface="맑은 고딕"/>
              </a:rPr>
              <a:t>vs 완화 성공</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회차의 지식 구조와 판단에서 쓰는 용어를 정식 명칭과 한 줄 뜻으로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102</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클래스 · 인스턴스</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Class · Instance</a:t>
            </a:r>
          </a:p>
          <a:p>
            <a:pPr algn="l" eaLnBrk="0">
              <a:lnSpc>
                <a:spcPct val="110000"/>
              </a:lnSpc>
            </a:pPr>
            <a:r>
              <a:rPr sz="1250" b="0">
                <a:solidFill>
                  <a:srgbClr val="1F2A3A"/>
                </a:solidFill>
                <a:latin typeface="맑은 고딕"/>
                <a:ea typeface="맑은 고딕"/>
                <a:cs typeface="맑은 고딕"/>
              </a:rPr>
              <a:t>같은 정의를 따르는 대상의 유형과, 그 유형에 속하는 실제 대상 하나</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카디널리티</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Cardinality</a:t>
            </a:r>
          </a:p>
          <a:p>
            <a:pPr algn="l" eaLnBrk="0">
              <a:lnSpc>
                <a:spcPct val="110000"/>
              </a:lnSpc>
            </a:pPr>
            <a:r>
              <a:rPr sz="1250" b="0">
                <a:solidFill>
                  <a:srgbClr val="1F2A3A"/>
                </a:solidFill>
                <a:latin typeface="맑은 고딕"/>
                <a:ea typeface="맑은 고딕"/>
                <a:cs typeface="맑은 고딕"/>
              </a:rPr>
              <a:t>관계 한쪽 대상 하나에 이어질 수 있는 반대쪽 대상의 수</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스키마</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Schema</a:t>
            </a:r>
          </a:p>
          <a:p>
            <a:pPr algn="l" eaLnBrk="0">
              <a:lnSpc>
                <a:spcPct val="110000"/>
              </a:lnSpc>
            </a:pPr>
            <a:r>
              <a:rPr sz="1250" b="0">
                <a:solidFill>
                  <a:srgbClr val="1F2A3A"/>
                </a:solidFill>
                <a:latin typeface="맑은 고딕"/>
                <a:ea typeface="맑은 고딕"/>
                <a:cs typeface="맑은 고딕"/>
              </a:rPr>
              <a:t>클래스 · 속성 · 관계 · 제약을 일관되게 정한 지식 구조의 정의</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식별자</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Identifier</a:t>
            </a:r>
          </a:p>
          <a:p>
            <a:pPr algn="l" eaLnBrk="0">
              <a:lnSpc>
                <a:spcPct val="110000"/>
              </a:lnSpc>
            </a:pPr>
            <a:r>
              <a:rPr sz="1250" b="0">
                <a:solidFill>
                  <a:srgbClr val="1F2A3A"/>
                </a:solidFill>
                <a:latin typeface="맑은 고딕"/>
                <a:ea typeface="맑은 고딕"/>
                <a:cs typeface="맑은 고딕"/>
              </a:rPr>
              <a:t>같은 대상을 하나로 가리키는, 바꾸지 않는 고유한 값</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제약</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Constraint</a:t>
            </a:r>
          </a:p>
          <a:p>
            <a:pPr algn="l" eaLnBrk="0">
              <a:lnSpc>
                <a:spcPct val="110000"/>
              </a:lnSpc>
            </a:pPr>
            <a:r>
              <a:rPr sz="1250" b="0">
                <a:solidFill>
                  <a:srgbClr val="1F2A3A"/>
                </a:solidFill>
                <a:latin typeface="맑은 고딕"/>
                <a:ea typeface="맑은 고딕"/>
                <a:cs typeface="맑은 고딕"/>
              </a:rPr>
              <a:t>데이터가 지켜야 할 조건으로, 어긋난 데이터를 가려내는 기준</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Cypher 쿼리</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Cypher Query</a:t>
            </a:r>
          </a:p>
          <a:p>
            <a:pPr algn="l" eaLnBrk="0">
              <a:lnSpc>
                <a:spcPct val="110000"/>
              </a:lnSpc>
            </a:pPr>
            <a:r>
              <a:rPr sz="1250" b="0">
                <a:solidFill>
                  <a:srgbClr val="1F2A3A"/>
                </a:solidFill>
                <a:latin typeface="맑은 고딕"/>
                <a:ea typeface="맑은 고딕"/>
                <a:cs typeface="맑은 고딕"/>
              </a:rPr>
              <a:t>노드와 관계의 패턴으로 그래프 DB를 조회하고 만드는 질의 문장</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SOP</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Standard Operating Procedure</a:t>
            </a:r>
          </a:p>
          <a:p>
            <a:pPr algn="l" eaLnBrk="0">
              <a:lnSpc>
                <a:spcPct val="110000"/>
              </a:lnSpc>
            </a:pPr>
            <a:r>
              <a:rPr sz="1250" b="0">
                <a:solidFill>
                  <a:srgbClr val="1F2A3A"/>
                </a:solidFill>
                <a:latin typeface="맑은 고딕"/>
                <a:ea typeface="맑은 고딕"/>
                <a:cs typeface="맑은 고딕"/>
              </a:rPr>
              <a:t>작업의 순서와 전제 · 안전 · 금지 · 완료 기준을 정한 표준 작업 절차</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DMN · 결정표</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Decision Model and Notation · Decision Table</a:t>
            </a:r>
          </a:p>
          <a:p>
            <a:pPr algn="l" eaLnBrk="0">
              <a:lnSpc>
                <a:spcPct val="110000"/>
              </a:lnSpc>
            </a:pPr>
            <a:r>
              <a:rPr sz="1250" b="0">
                <a:solidFill>
                  <a:srgbClr val="1F2A3A"/>
                </a:solidFill>
                <a:latin typeface="맑은 고딕"/>
                <a:ea typeface="맑은 고딕"/>
                <a:cs typeface="맑은 고딕"/>
              </a:rPr>
              <a:t>입력 조건에 따른 출력을 규칙 행으로 정하는 의사결정 표준과 그 표</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Hit Policy</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Hit Policy</a:t>
            </a:r>
          </a:p>
          <a:p>
            <a:pPr algn="l" eaLnBrk="0">
              <a:lnSpc>
                <a:spcPct val="110000"/>
              </a:lnSpc>
            </a:pPr>
            <a:r>
              <a:rPr sz="1250" b="0">
                <a:solidFill>
                  <a:srgbClr val="1F2A3A"/>
                </a:solidFill>
                <a:latin typeface="맑은 고딕"/>
                <a:ea typeface="맑은 고딕"/>
                <a:cs typeface="맑은 고딕"/>
              </a:rPr>
              <a:t>한 입력에 여러 규칙 행이 맞을 때 결과를 정하는 방식</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0행을 돌려준 센서 조회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쿨러의 계측 센서를 찾으려고 (s:Sensor)-[:MONITORED_BY]-&gt;(c:Component) 패턴으로 조회했더니 0행이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먼저 할 판단으로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쿨러에 센서가 없다는 뜻이니 센서를 새로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MERGE로 센서에서 쿨러로 가는 관계를 새로 만든다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DISTINCT를 붙여 중복을 없앤 뒤 다시 실행한다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저장 방향(구성 요소 → 센서)대로 화살표를 고쳐 다시 조회한다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읽지 못한 운전 이력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팬 100 % 연속 운전 시간을 운전 이력에서 얻지 못한 채, 팬 최대 운전 후보를 규정 적합성 표에 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후보의 처리로 맞는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값이 없으니 0 h로 채워 감점 없이 비교한다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「확인되지 않은 조건」으로 제외 쪽에 두고 사유를 남긴다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 규칙만 건너뛰고 나머지 규칙으로 통과시킨다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결정표의 오류로 보고 판단 전체를 멈춘다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정확히 24시간을 채운 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원격 자동에서 팬이 100 %로 정확히 24.0 h 이어 돌았고, 팬 최대 운전이 감점 없이 후보에 올랐다.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106</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결정표와 SOP에 비추어 맞는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감점이 없으니 SOP의 연속 운전 제한도 지금은 걸리지 않는다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24시간에 닿았으니 감점 20만 원이 빠진 것은 표의 오류이다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감점은 붙지 않지만, SOP의 24시간 이내 제한은 규칙과 별도로 지킨다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경계값에 걸린 입력이라 판정 전체를 보류한다</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결과 0행의 해석, 모르는 값의 처리, 규칙을 통과한 뒤에도 남는 절차를 바른 근거로 가리는지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관계는 저장된 방향대로 적어야 찾는다. 0행은 연결이 없다는 뜻이 아닐 수 있어 패턴부터 확인한다.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모르는 값은 통과도 0도 아니다. 감점 규칙의 값을 모르면 제외 쪽에 두고 사유를 남긴다.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24.0은 「넘으면」에 맞지 않아 감점이 없다. 그래도 SOP의 24시간 이내 제한은 그대로 남는다.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