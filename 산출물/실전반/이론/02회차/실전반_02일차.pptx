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자료를 지식 구조로 만들고, 필요한 정보를 그래프에서 찾겠습니다. 이어서 작업 절차와 판단 조건을 구별하고, 어떤 조치를 할 수 있는지 근거를 담은 표로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현장의 대상과 값, 관계를 나누고, 여러 사람이 함께 따를 정의인 스키마로 적는 것이 출발점입니다. 식별자와 제약으로 일관성을 지키고, 그래프에 저장한 지식을 Cypher 쿼리라는 요청 문장으로 조회해 설계와 맞는지 확인하겠습니다. 그다음 작업 절차와 판단 조건을 구별합니다. 직접 만든 그래프와 조치 조건표를 원자료에 대어 확인하는 데까지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앞부분은 클래스와 관계, 스키마, 그래프 저장과 조회 순서입니다. 실습에서는 관계를 조회하고 기준 지식을 탐색한 뒤, 설비 자료에서 지식 구조를 직접 만들어 검증하겠습니다. 이어 작업 절차를 읽고 판단 조건을 결정표로 옮기는 방법을 배웁니다. 마지막 실습에서는 허용과 제외의 근거를 표로 남기고, 회차 끝에서는 핵심 용어와 복습, 퀴즈로 정리하겠습니다. 이번 시간에는 대상을 어떻게 나누고 연결하는지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48도,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이렇게 설비의 상태를 보여 주는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HYD-01 유압 파워팩,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부호, 마이너스 1을 보세요. 시작 쪽 값이 오르면 끝 쪽 값은 내려간다는 방향을 뜻합니다. 이렇게 연결 그 자체에 붙이는 값을 관계의 속성이라고 해요. 맨 아래 견줄 것도 보세요. 펌프 부하에서 유온으로 가는 영향 관계에는 플러스 1이 붙어 있습니다. 부하가 오르면, 그러니까 펌프를 더 세게 돌리면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부호가 알려 주는 건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연결이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연결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맞게 되는 건 아닙니다. 공통 구성 지식을 함께 가리키려는 설계가 맞다면 그에 맞게 선언을 정리해야 하고, 설비별 대상을 나타내려는 거라면 데이터를 나눠야겠죠. 만약 설비마다 쿨러의 교체 이력을 따로 관리해야 한다면, 그때는 대상의 범위부터 다시 정해서 설비마다 쿨러를 구별할 수 있게 해야 합니다. 지금 화면은 선언과 실제 연결이 어긋난 채 남아 있는 사례로 보시면 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단위로, 납기는 주문해서 받기까지 걸리는 날수로,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경보를 받아 원인을 진단하고 조치를 마치기까지의 업무 흐름을 떠올려 볼게요. 시작이나 끝을 알리는 이벤트가 있고, 수행할 작업이 있고, 길이 갈라지는 게이트웨이도 있습니다. 하는 일은 서로 다르지만 모두 업무 흐름의 한 지점이라는 공통점이 있죠. 그림 맨 위의 흐름 노드가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작업과 흐름 노드,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PLC가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첫 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다음 시간에는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네 번째부터 여섯 번째 단원까지, 앞 시간에 나눈 대상과 값, 연결을 누가 넣어도 같은 뜻이 되도록 정의로 적는 법을 다룹니다.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카드에는 실제 식별자가 몇 개 적혀 있습니다.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HYD-01 유압 파워팩,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한계를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식별자가 필요하죠. 화면 왼쪽이 지식 그래프입니다. HYD-01 같은 설비 코드와, TS1 같은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납기나 재고 같은 업무 정보를 담는 곳인데,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다른 시스템의 코드를 담을 속성을 스키마에 정해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값의 종류인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설비 코드와 함께 공통 식별자로 쓴 값이 바로 이 태그예요. 정의에 이렇게 적어 두면, 태그 칸이 왜 필수인지도 함께 전해집니다. 필수 표시가 있으면 등록하는 사람은 무엇을 채워야 하는지 알고, 검사하는 쪽은 빠진 값을 찾을 수 있습니다. 화면은 지금 필요한 부분만 뽑은 거예요. 전체 정의에는 계층이나 따르는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자료형을 정해 두는 거예요. 화면에는 다섯 가지를 골랐는데, 스키마에는 이 밖에 정수, 그리고 날짜와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 맨 아래 문장이 그 얘기예요. 단위를 섞은 글자는 수로 바로 비교할 수 없다는 거죠.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모두 구동기가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 쪽은 이상을 미리 알리는 선이고, 한계는 인터록이 설비를 멈추는 선이거든요. 경보에 70퍼센트라는 숫자가 쓰였다고 해서 그 숫자를 냉각 효율의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센서 목록 같은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정의대로 「구성 요소를 갖는다」로, 누구는 카드의 오류 예처럼 「부분을 갖는다」로,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구성 요소를 재는 센서는 무엇일까요?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HYD-01과 오일 쿨러, 유온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센서가 읽는 물리량의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길 모두 가운데 구성 요소를 거치지만, 거기서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HYD-01, 오일 쿨러, 유온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먼저 예시 인스턴스를 넣고, 처음 정한 질문에 답이 나오는지 봅니다. HYD-01에서 유온의 한계 65도까지, 오일 쿨러에서 교체 부품인 쿨러 코어까지 길이 이어지죠.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맨 아래의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클래스를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데이터를 찾는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다음 시간에는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정의한 지식이 그래프 DB 안에 실제로 들어간 모습을 보고, 그 안에서 필요한 정보를 꺼내고 새로 넣는 방법을 다룹니다.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앞에서 본 시계열 표나 업무 DB처럼, 내용을 표에 담아 두는 데이터베이스예요.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다만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포털에도 그래프를 보여 주는 지식 지도가 있습니다. 그런데 하는 일이 다릅니다. 지식 지도는 항목을 골라서, HYD에 이미 들어 있는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앞으로도 늘 하나만 나온다는 보장은 없습니다.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쿼리는 MATCH, RETURN처럼 하는 일이 다른 몇 부분으로 나뉘는데, 그 한 부분을 절이라고 해요.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앞에서 본 결과처럼 표의 칸에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앞에서 본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연결돼 있으면서,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여덟 번째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쿼리마다 아래에 적힌 결과를 보고, 두 결과가 왜 갈리는지 잠깐 생각해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MATCH가 찾은 행이 하나도 없으니까, 뒤의 MERGE도 관계를 만들 일이 없습니다.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 적재는 이 둘을 바탕으로 그래프 DB에 실제로 넣는 일이에요. 식별자로 찾아서 노드와 관계를 만듭니다. 넷째 칸 조회에서는 처음 정한 역량 질문에 답해 봐요. 쿨러를 계측하는 센서가 맞게 나오는지, 물리량의 한계와 교체 부품이 예상대로 나오는지 보는 거죠. 마지막 칸 검사에서는 필수값과 허용값, 끝 클래스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이미 있는 지식을 먼저 찾아보고, 직접 설계한 뒤, 저장한 결과가 질문에 맞는지 확인하게 됩니다.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만든 지식 구조에 작업 절차와 판단 조건을 연결합니다. 먼저 아홉 번째 단원에서는 작업 절차와 수행 조건을 보겠습니다. 조치를 한다고 하면 보통 동작 하나를 떠올리죠. 그런데 그 안에는 순서와 확인이 같이 들어 있어요. 팬을 올리기 전의 확인 조건, 조치 뒤 완료 판단, 지금 수행해도 되는지를 가르는 기준을 구별하겠습니다. 쿨러 사건의 조치 후보에서 출발해서, 매뉴얼에서 하나씩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여기서는 이 설비의 매뉴얼에 제시된 기준으로 판단하겠습니다.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표준 작업 절차가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이 남은 압력, 곧 잔압을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승인된 조치를 명령으로 만들어 내려보내는 위쪽 계층의 시스템 말이에요.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열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 상자의 위쪽은 매뉴얼 원문이고, 아래쪽은 그걸 노드와 관계로 옮긴 모습이에요. 앞부분에서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 그러니까 정해 둔 정비 때가 다가왔다는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승인하기 전후의 그래프예요. 화면 왼쪽 위 그래프에서 조치 승인 선의 오른쪽을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특정 원인에만 맞는 조치, 곧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 엔진이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앞에서는 조치를 어떤 절차로 수행하는지 매뉴얼에서 읽고, 그 절차를 지식 그래프에 이었죠. 이제는 그 조치를 지금 해도 되는지를 다룹니다. 매뉴얼의 조건 문장을 결정표로 바꾸고, 실제 값에 대어 판정해 보고, 여러 판단이 이어지는 흐름과 그 저장 구조까지 봅니다. 먼저 열한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출력은 조건이 맞을 때 내는 답, 여기서는 제외예요.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 시간도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왼쪽 상자 맨 위에 있죠. 후보 가운데 규정상 쓸 수 없거나 감점할 것은 무엇인가. 이 물음이 결정이에요. 후보가 규정에 맞는지를 따지니까, 이 결정을 규정 적합성이라고 부릅니다. 그 물음에 답하는 규칙들을 모은 게 결정표고, 표의 한 행이 규칙입니다. 매뉴얼의 조건 문장 하나가 규칙 한 행이 되고, 화살표 앞의 조건과 화살표 뒤의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운전했다고 가정합니다.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읽어 판정을 계산해 주는 프로그램, 곧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 그러니까 비교 방법을 나타내는 부호들입니다.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위에 그린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조건표에 경계값을 대입해 판단을 대조하는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왼쪽 상자 맨 위의 예를 보면, 가운데 값은 양쪽 검사를 다 통과하죠. 범위 아래 값은 하한 검사를, 범위 위 값은 상한 검사를 통과하지 못합니다.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칸에는 출력마다 그 출력을 내는 결정표도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다음 회차에 성과를 견주면서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열두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왼쪽 상자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앞에서 본 규정 적합성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이렇게 서로 다른 답이 부딪치는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성과 지표는 회사가 성과를 재는 항목인데, 여기서는 정비에 드는 비용입니다.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그 원문을 바로 찾아볼 수 있습니다.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원격 자동인데,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열세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증거마다 얼마나 무겁게 볼지 정해 둔 값, 곧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됐습니다.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OR의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Collect인데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적는 법을 봤으니, 이번 회차의 마지막 실습에서는 조치를 판단하는 조건을 직접 만들어 보겠습니다. 작업 기준 원문에서 조건을 찾아 표로 옮기고, 사례마다 내린 판단과 그 근거를 기록하겠습니다.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자료의 작업 순서와 판단 조건을 구별하겠습니다. 조건은 입력, 비교 연산자, 기준값과 단위, 적용할 조치, 결과로 나누어 적습니다. 경고와 감점, 제외를 구별하며 온도와 압력의 경계값을 대입하고, 운전 모드와 설비 상태가 동시에 걸리는 경우도 확인하겠습니다. 제외 사유는 없는데 필요한 입력이 빠졌으면, 허용으로 넘기지 않고 보류합니다. 결과만 적지 않고 어느 원문 조건 때문에 제외했는지 남기겠습니다. 조건을 통과한 후보에도 승인과 작업 단계는 그대로 남는다는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설계와 조회에 이어, 절차를 읽고 조건표를 만드는 실습까지 마쳤습니다. 이제 설계할 때 나눴던 대상과 값, 연결이 조회에서는 어떻게 쓰였는지 함께 정리해 보겠습니다.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차례로 짚어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절차와 판단에서 사용한 용어도 정리하겠습니다. SOP는 작업 순서와 수행 기준을 정하고, DMN은 업무의 의사결정을 표현하는 표준입니다. 결정표는 입력 조건과 출력을 행으로 적은 것이고, 여러 행이 맞으면 Hit Policy에 따라 처리합니다. HYD는 표준 엔진을 쓰지 않고, 앞에서 본 비교 검사를 평가 함수로 판정합니다. 작업 단계인 Step과 실제 명령이나 업무 처리인 Action도 구별해야 합니다. 조건 통과, 승인, 명령 처리, 현장 정비 완료는 각각 확인할 기록이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네 문제를 풀어 보겠습니다. 배운 구분을 판단에 직접 쓸 수 있는지 확인하는 자리예요. 보기의 이름을 기억하는 것보다, 왜 그 답이 맞는지 설명할 수 있는지가 중요해요. 문제마다 보기를 읽고 나면 잠깐 멈출 테니, 그때 답을 골라 보세요. 정답과 까닭은 네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 코드를 이름으로 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추천 때는 원격 자동이고 운전 중이었지만, 승인 직전에 운전 모드가 원격 수동으로 바뀌었습니다. 절차와 판단의 관계에 맞는 처리는 무엇일까요? 1번, 추천 때 통과했으니 명령을 보냅니다. 2번, 현재 조건을 다시 확인해 원격 조치를 제외하고 근거를 남깁니다. 3번, 결정표가 있으니 SOP의 확인 단계를 지웁니다. 4번, 제외됐으니 현장 정비도 완료로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설비 코드를 클래스 이름으로 쓰면,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잘못된 끝 클래스, 허용값 위반은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문제의 정답은 2번입니다. 추천할 때 확인한 값이 승인할 때도 같다고 보장할 수는 없습니다. 현재 모드가 원격 수동이면 원격 조치를 제외하고, 어떤 조건이 맞았는지 기록합니다. 결정표가 생겨도 현장에서 확인하는 단계는 남습니다. 제외는 그 조치를 실행하지 않는다는 판단이지 정비가 끝났다는 뜻이 아닙니다. 이번 회차에서는 현장 정보를 구조로 정의하고 저장한 뒤, 그 지식에 작업 절차와 판단 조건을 연결했습니다. 다음 회차에서는 조건을 통과한 후보들의 효과와 비용을 비교할 기준으로 이어가겠습니다.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4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4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48.png"/><Relationship Id="rId4" Type="http://schemas.openxmlformats.org/officeDocument/2006/relationships/image" Target="../media/image4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48.png"/><Relationship Id="rId4" Type="http://schemas.openxmlformats.org/officeDocument/2006/relationships/image" Target="../media/image4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5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51.png"/><Relationship Id="rId4" Type="http://schemas.openxmlformats.org/officeDocument/2006/relationships/image" Target="../media/image30.png"/><Relationship Id="rId5" Type="http://schemas.openxmlformats.org/officeDocument/2006/relationships/image" Target="../media/image52.png"/><Relationship Id="rId6" Type="http://schemas.openxmlformats.org/officeDocument/2006/relationships/image" Target="../media/image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5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DB에서 조회하고, 작업 절차와 판단 조건으로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직접 설계한 그래프를 조회해 검증한다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구별하고 조건표를 작성한다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01~03</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04~06</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07~08</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기준</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09~10</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11~13</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 후보에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8763689762316859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(팬 속도가 오르면 유온은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4871683761620428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7967139783344597162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472550581711882835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Task(작업)</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a:t>
            </a:r>
            <a:br>
              <a:rPr sz="1600" b="0">
                <a:solidFill>
                  <a:srgbClr val="1F2A3A"/>
                </a:solidFill>
                <a:latin typeface="맑은 고딕"/>
                <a:ea typeface="맑은 고딕"/>
                <a:cs typeface="맑은 고딕"/>
              </a:rPr>
            </a:br>
            <a:r>
              <a:rPr sz="1600" b="0">
                <a:solidFill>
                  <a:srgbClr val="1F2A3A"/>
                </a:solidFill>
                <a:latin typeface="맑은 고딕"/>
                <a:ea typeface="맑은 고딕"/>
                <a:cs typeface="맑은 고딕"/>
              </a:rPr>
              <a:t>「오일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a:t>
            </a:r>
            <a:br>
              <a:rPr sz="1600" b="0">
                <a:solidFill>
                  <a:srgbClr val="1F2A3A"/>
                </a:solidFill>
                <a:latin typeface="맑은 고딕"/>
                <a:ea typeface="맑은 고딕"/>
                <a:cs typeface="맑은 고딕"/>
              </a:rPr>
            </a:br>
            <a:r>
              <a:rPr sz="1600" b="0">
                <a:solidFill>
                  <a:srgbClr val="1F2A3A"/>
                </a:solidFill>
                <a:latin typeface="맑은 고딕"/>
                <a:ea typeface="맑은 고딕"/>
                <a:cs typeface="맑은 고딕"/>
              </a:rPr>
              <a:t>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19251507537169317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문자열이고,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a:t>
            </a:r>
            <a:br>
              <a:rPr sz="1500" b="0">
                <a:solidFill>
                  <a:srgbClr val="1F2A3A"/>
                </a:solidFill>
                <a:latin typeface="맑은 고딕"/>
                <a:ea typeface="맑은 고딕"/>
                <a:cs typeface="맑은 고딕"/>
              </a:rPr>
            </a:br>
            <a:r>
              <a:rPr sz="1500" b="0">
                <a:solidFill>
                  <a:srgbClr val="1F2A3A"/>
                </a:solidFill>
                <a:latin typeface="맑은 고딕"/>
                <a:ea typeface="맑은 고딕"/>
                <a:cs typeface="맑은 고딕"/>
              </a:rPr>
              <a:t>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역량 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a:t>
            </a:r>
            <a:br>
              <a:rPr sz="1400" b="0">
                <a:solidFill>
                  <a:srgbClr val="1F2A3A"/>
                </a:solidFill>
                <a:latin typeface="맑은 고딕"/>
                <a:ea typeface="맑은 고딕"/>
                <a:cs typeface="맑은 고딕"/>
              </a:rPr>
            </a:br>
            <a:r>
              <a:rPr sz="1400" b="0">
                <a:solidFill>
                  <a:srgbClr val="1F2A3A"/>
                </a:solidFill>
                <a:latin typeface="맑은 고딕"/>
                <a:ea typeface="맑은 고딕"/>
                <a:cs typeface="맑은 고딕"/>
              </a:rPr>
              <a:t>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23758683998814449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a:t>
            </a:r>
            <a:br>
              <a:rPr sz="1450" b="0">
                <a:solidFill>
                  <a:srgbClr val="1F2A3A"/>
                </a:solidFill>
                <a:latin typeface="맑은 고딕"/>
                <a:ea typeface="맑은 고딕"/>
                <a:cs typeface="맑은 고딕"/>
              </a:rPr>
            </a:br>
            <a:r>
              <a:rPr sz="1450" b="0">
                <a:solidFill>
                  <a:srgbClr val="1F2A3A"/>
                </a:solidFill>
                <a:latin typeface="맑은 고딕"/>
                <a:ea typeface="맑은 고딕"/>
                <a:cs typeface="맑은 고딕"/>
              </a:rPr>
              <a:t>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779914137421062867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787033424503687487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23422164363358915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717448763734555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a:t>
            </a:r>
            <a:br>
              <a:rPr sz="1400" b="0">
                <a:solidFill>
                  <a:srgbClr val="1F2A3A"/>
                </a:solidFill>
                <a:latin typeface="맑은 고딕"/>
                <a:ea typeface="맑은 고딕"/>
                <a:cs typeface="맑은 고딕"/>
              </a:rPr>
            </a:br>
            <a:r>
              <a:rPr sz="1400" b="0">
                <a:solidFill>
                  <a:srgbClr val="1F2A3A"/>
                </a:solidFill>
                <a:latin typeface="맑은 고딕"/>
                <a:ea typeface="맑은 고딕"/>
                <a:cs typeface="맑은 고딕"/>
              </a:rPr>
              <a:t>이름은 「유온 센서」이다.</a:t>
            </a:r>
            <a:br>
              <a:rPr sz="1400" b="0">
                <a:solidFill>
                  <a:srgbClr val="1F2A3A"/>
                </a:solidFill>
                <a:latin typeface="맑은 고딕"/>
                <a:ea typeface="맑은 고딕"/>
                <a:cs typeface="맑은 고딕"/>
              </a:rPr>
            </a:br>
            <a:r>
              <a:rPr sz="1400" b="0">
                <a:solidFill>
                  <a:srgbClr val="1F2A3A"/>
                </a:solidFill>
                <a:latin typeface="맑은 고딕"/>
                <a:ea typeface="맑은 고딕"/>
                <a:cs typeface="맑은 고딕"/>
              </a:rPr>
              <a:t>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21945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21945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pic>
        <p:nvPicPr>
          <p:cNvPr id="6" name="삽화:조치연결_그래프.svg" descr="illust_385408451277042781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시각부터 납기 일시까지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pic>
        <p:nvPicPr>
          <p:cNvPr id="6" name="삽화:수직선_경계.svg" descr="illust_23352153149717076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br/>
            <a:r>
              <a:rPr sz="1600" b="1">
                <a:solidFill>
                  <a:srgbClr val="13294B"/>
                </a:solidFill>
                <a:latin typeface="맑은 고딕"/>
                <a:ea typeface="맑은 고딕"/>
                <a:cs typeface="맑은 고딕"/>
              </a:rPr>
              <a:t>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a:r>
            <a:br/>
            <a:r>
              <a:rPr sz="1600" b="1">
                <a:solidFill>
                  <a:srgbClr val="13294B"/>
                </a:solidFill>
                <a:latin typeface="맑은 고딕"/>
                <a:ea typeface="맑은 고딕"/>
                <a:cs typeface="맑은 고딕"/>
              </a:rPr>
              <a:t>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점수로 되살리지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br/>
            <a:r>
              <a:rPr sz="1600" b="1">
                <a:solidFill>
                  <a:srgbClr val="13294B"/>
                </a:solidFill>
                <a:latin typeface="맑은 고딕"/>
                <a:ea typeface="맑은 고딕"/>
                <a:cs typeface="맑은 고딕"/>
              </a:rPr>
              <a:t>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br/>
            <a:r>
              <a:rPr sz="1600" b="1">
                <a:solidFill>
                  <a:srgbClr val="13294B"/>
                </a:solidFill>
                <a:latin typeface="맑은 고딕"/>
                <a:ea typeface="맑은 고딕"/>
                <a:cs typeface="맑은 고딕"/>
              </a:rPr>
              <a:t>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a:t>
            </a:r>
            <a:br/>
            <a:r>
              <a:rPr sz="1600" b="1">
                <a:solidFill>
                  <a:srgbClr val="13294B"/>
                </a:solidFill>
                <a:latin typeface="맑은 고딕"/>
                <a:ea typeface="맑은 고딕"/>
                <a:cs typeface="맑은 고딕"/>
              </a:rPr>
              <a:t>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pic>
        <p:nvPicPr>
          <p:cNvPr id="6" name="삽화:결정표_그래프.svg" descr="illust_520352522716881512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허용·제외 조건표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원문 조건을 표로 옮기고 경계값과 겹치는 조건을 대조한다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근거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보존하고, 판단 조건과 적용 결과를 별도로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원문에서 조건 찾기</a:t>
            </a:r>
          </a:p>
          <a:p>
            <a:pPr algn="l" eaLnBrk="0" marL="160020" indent="-160020">
              <a:lnSpc>
                <a:spcPct val="110000"/>
              </a:lnSpc>
              <a:spcAft>
                <a:spcPts val="400"/>
              </a:spcAft>
            </a:pPr>
            <a:r>
              <a:rPr sz="1400" b="0">
                <a:solidFill>
                  <a:srgbClr val="1F2A3A"/>
                </a:solidFill>
                <a:latin typeface="맑은 고딕"/>
                <a:ea typeface="맑은 고딕"/>
                <a:cs typeface="맑은 고딕"/>
              </a:rPr>
              <a:t>• 온도 · 압력 · 운전 모드 · 설비 상태</a:t>
            </a:r>
          </a:p>
          <a:p>
            <a:pPr algn="l" eaLnBrk="0" marL="160020" indent="-160020">
              <a:lnSpc>
                <a:spcPct val="110000"/>
              </a:lnSpc>
              <a:spcAft>
                <a:spcPts val="400"/>
              </a:spcAft>
            </a:pPr>
            <a:r>
              <a:rPr sz="1400" b="0">
                <a:solidFill>
                  <a:srgbClr val="1F2A3A"/>
                </a:solidFill>
                <a:latin typeface="맑은 고딕"/>
                <a:ea typeface="맑은 고딕"/>
                <a:cs typeface="맑은 고딕"/>
              </a:rPr>
              <a:t>• 단위와 비교 범위를 함께 기록</a:t>
            </a:r>
          </a:p>
        </p:txBody>
      </p:sp>
      <p:sp>
        <p:nvSpPr>
          <p:cNvPr id="8" name="Rounded Rectangle 7"/>
          <p:cNvSpPr/>
          <p:nvPr/>
        </p:nvSpPr>
        <p:spPr>
          <a:xfrm>
            <a:off x="777240" y="4801108"/>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조건표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입력 · 연산자 · 기준 · 적용 조치 · 출력</a:t>
            </a:r>
          </a:p>
          <a:p>
            <a:pPr algn="l" eaLnBrk="0" marL="160020" indent="-160020">
              <a:lnSpc>
                <a:spcPct val="110000"/>
              </a:lnSpc>
              <a:spcAft>
                <a:spcPts val="400"/>
              </a:spcAft>
            </a:pPr>
            <a:r>
              <a:rPr sz="1400" b="0">
                <a:solidFill>
                  <a:srgbClr val="1F2A3A"/>
                </a:solidFill>
                <a:latin typeface="맑은 고딕"/>
                <a:ea typeface="맑은 고딕"/>
                <a:cs typeface="맑은 고딕"/>
              </a:rPr>
              <a:t>• 경고 · 감점 · 제외와 보류를 구별</a:t>
            </a:r>
          </a:p>
        </p:txBody>
      </p:sp>
      <p:sp>
        <p:nvSpPr>
          <p:cNvPr id="12" name="Rounded Rectangle 11"/>
          <p:cNvSpPr/>
          <p:nvPr/>
        </p:nvSpPr>
        <p:spPr>
          <a:xfrm>
            <a:off x="3619423" y="4801108"/>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경계와 중첩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기준값 바로 아래 · 같은 값 · 바로 위</a:t>
            </a:r>
          </a:p>
          <a:p>
            <a:pPr algn="l" eaLnBrk="0" marL="160020" indent="-160020">
              <a:lnSpc>
                <a:spcPct val="110000"/>
              </a:lnSpc>
              <a:spcAft>
                <a:spcPts val="400"/>
              </a:spcAft>
            </a:pPr>
            <a:r>
              <a:rPr sz="1400" b="0">
                <a:solidFill>
                  <a:srgbClr val="1F2A3A"/>
                </a:solidFill>
                <a:latin typeface="맑은 고딕"/>
                <a:ea typeface="맑은 고딕"/>
                <a:cs typeface="맑은 고딕"/>
              </a:rPr>
              <a:t>• 여러 제외 사유와 입력 누락을 함께 검사</a:t>
            </a:r>
          </a:p>
        </p:txBody>
      </p:sp>
      <p:sp>
        <p:nvSpPr>
          <p:cNvPr id="16" name="Rounded Rectangle 15"/>
          <p:cNvSpPr/>
          <p:nvPr/>
        </p:nvSpPr>
        <p:spPr>
          <a:xfrm>
            <a:off x="6461607" y="48011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751835"/>
            <a:ext cx="2567863" cy="24790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절차와 연결</a:t>
            </a:r>
          </a:p>
          <a:p>
            <a:pPr algn="l" eaLnBrk="0" marL="160020" indent="-160020">
              <a:lnSpc>
                <a:spcPct val="110000"/>
              </a:lnSpc>
              <a:spcAft>
                <a:spcPts val="400"/>
              </a:spcAft>
            </a:pPr>
            <a:r>
              <a:rPr sz="1400" b="0">
                <a:solidFill>
                  <a:srgbClr val="1F2A3A"/>
                </a:solidFill>
                <a:latin typeface="맑은 고딕"/>
                <a:ea typeface="맑은 고딕"/>
                <a:cs typeface="맑은 고딕"/>
              </a:rPr>
              <a:t>• 조건을 통과해도 승인과 작업 단계는 남는다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결과에서 원문 절까지 되짚을 수 있게 남긴다</a:t>
            </a:r>
          </a:p>
        </p:txBody>
      </p:sp>
      <p:sp>
        <p:nvSpPr>
          <p:cNvPr id="20" name="Rounded Rectangle 19"/>
          <p:cNvSpPr/>
          <p:nvPr/>
        </p:nvSpPr>
        <p:spPr>
          <a:xfrm>
            <a:off x="9303791" y="4801108"/>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절차와 판단의 핵심 용어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 판단 규칙, 실행 동작의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Standard Operating Procedure</a:t>
            </a:r>
          </a:p>
          <a:p>
            <a:pPr algn="l" eaLnBrk="0">
              <a:lnSpc>
                <a:spcPct val="110000"/>
              </a:lnSpc>
            </a:pPr>
            <a:r>
              <a:rPr sz="1400" b="0">
                <a:solidFill>
                  <a:srgbClr val="1F2A3A"/>
                </a:solidFill>
                <a:latin typeface="맑은 고딕"/>
                <a:ea typeface="맑은 고딕"/>
                <a:cs typeface="맑은 고딕"/>
              </a:rPr>
              <a:t>작업 순서와 수행 기준을 정한 표준 작업 절차</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DMN</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Model and Notation</a:t>
            </a:r>
          </a:p>
          <a:p>
            <a:pPr algn="l" eaLnBrk="0">
              <a:lnSpc>
                <a:spcPct val="110000"/>
              </a:lnSpc>
            </a:pPr>
            <a:r>
              <a:rPr sz="1400" b="0">
                <a:solidFill>
                  <a:srgbClr val="1F2A3A"/>
                </a:solidFill>
                <a:latin typeface="맑은 고딕"/>
                <a:ea typeface="맑은 고딕"/>
                <a:cs typeface="맑은 고딕"/>
              </a:rPr>
              <a:t>업무의 의사결정을 표현하는 모델과 표기 표준</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Table</a:t>
            </a:r>
          </a:p>
          <a:p>
            <a:pPr algn="l" eaLnBrk="0">
              <a:lnSpc>
                <a:spcPct val="110000"/>
              </a:lnSpc>
            </a:pPr>
            <a:r>
              <a:rPr sz="1400" b="0">
                <a:solidFill>
                  <a:srgbClr val="1F2A3A"/>
                </a:solidFill>
                <a:latin typeface="맑은 고딕"/>
                <a:ea typeface="맑은 고딕"/>
                <a:cs typeface="맑은 고딕"/>
              </a:rPr>
              <a:t>입력 조건에 따른 출력을 행으로 나타낸 표</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여러 행이 맞을 때 결과를 처리하는 정책</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Step · Action</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수행하는 작업 단계 · 시스템이 실행하는 명령 또는 업무 처리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조건 통과와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 시점에는 원격 자동 · 운전 중 조건을 통과했지만 승인 직전에 운전 모드가 원격 수동으로 바뀌었다.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절차와 판단의 관계에 맞는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 때 통과했으므로 그대로 명령을 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현재 조건을 다시 확인해 원격 조치를 제외하고 근거를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결정표가 있으므로 SOP의 확인 단계를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제외됐으므로 현장 정비까지 완료로 기록한다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판단의 정답과 회차 마무리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조건표의 판단은 해당 시점의 입력에 대한 결과이며 작업 완료를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8757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8757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8757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8757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직전의 모드와 상태를 다시 검사한다. 원격 수동이면 원격 조치를 제외하고 근거를 남긴다.</a:t>
            </a:r>
          </a:p>
        </p:txBody>
      </p:sp>
      <p:sp>
        <p:nvSpPr>
          <p:cNvPr id="13" name="TextBox 12"/>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절차와 기록</a:t>
            </a:r>
          </a:p>
        </p:txBody>
      </p:sp>
      <p:sp>
        <p:nvSpPr>
          <p:cNvPr id="16" name="TextBox 15"/>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확인 · 승인 · 현장 작업은 조건표와 별도로 수행하고 기록한다.</a:t>
            </a:r>
          </a:p>
        </p:txBody>
      </p:sp>
      <p:sp>
        <p:nvSpPr>
          <p:cNvPr id="17" name="TextBox 16"/>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역할 구별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