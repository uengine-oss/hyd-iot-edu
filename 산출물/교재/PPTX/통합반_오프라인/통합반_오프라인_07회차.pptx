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5회차와 6회차에는 에이전트가 일하는 방식과 에이전트에 붙이는 지침과 도구를 다루었습니다. 오늘은 그 에이전트를 믿고 쓰기 위한 세 가지, 곧 사람이 결정하는 자리와 명세와 행동 검증을 다루고 네 개의 실습에서 직접 고치고 검증합니다. 마지막에는 에이전트 영역 전체를 정리합니다. 이 네 가지를 자료 없이 자신의 말로 설명할 수 있는지가 오늘의 기준입니다.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5회차에는 에이전트가 추천안을 내기까지의 94초를 보았습니다. 오늘은 그 뒤의 13초에서 시작합니다. 추천안이 올라온 뒤 13초가 지난 11시 14분 56초에 운전원이 승인했습니다. 승인했기 때문에 1초 뒤에 팬 속도 명령이 만들어졌고, 거절했다면 아래 갈래처럼 명령 없이 닫혔을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왜 그 13초에 사람이 있어야 하는지를 봅니다. 왼쪽의 조회와 계산은 틀려도 다시 하면 되고 설비는 그대로입니다. 오른쪽의 설비 명령과 작업지시는 실행하는 순간 현장이 달라지고, 그 결과를 책임질 사람이 있어야 합니다. HITL이라는 이름의 구조가 이 경계를 정해 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사람이 끼어드는 자리는 승인 하나만이 아닙니다. 위의 띠는 처리의 구간이고, 아래의 세 장면은 사람이 개입하는 자리입니다. 왼쪽 둘은 에이전트가 일하는 동안에 생깁니다. 에이전트가 필요한 정보가 없어 묻는 경우와, 실행 시간이나 형식 교정 횟수의 한도를 넘겨 멈춘 작업을 사람이 닫는 경우입니다. 오른쪽은 추천안이 나온 뒤 실행하기 전에 담당자가 승인하거나 거절하는 단계입니다.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결정이 무엇을 남기는지를 견줍니다. 처리 건은 경보 하나가 열어 끝날 때까지 이어지는 업무 한 건을 가리킵니다. 쿨러 사건에서는 운전원이 승인했고, 그 순간 시스템이 유온과 운전 모드를 다시 확인한 다음 팬 속도 명령을 만들었습니다. 거절은 사유를 적어야 받아들여지며, 설비 명령도 업무 처리도 만들어지지 않습니다. 결과 보고에는 누가 왜 거절했는지와 명령을 내지 않았다는 사실이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누가 승인할 수 있는지는 조치마다 정해져 있습니다. 팬 최대 운전은 운전원이, 쿨러 핀 세척은 설비보전팀장이 승인합니다. 역할에는 등급이 있고, 승인하려는 사람이 그 역할의 구성원인지와 등급이 충분한지를 시스템이 검사합니다. 조건에 맞지 않는 승인은 받아들여지지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에이전트가 사람에게 묻는 실제 장면입니다. 조회할 설비가 요청에 없자 에이전트는 설비를 짐작하지 않고 「조회할 대상 설비를 선택해 주세요」라고 묻고 멈췄습니다. 담당자가 HYD-02라고 답하자 에이전트는 처음부터 다시 시작하지 않고 하던 실행을 이어, 업무 DB를 조회해 HYD-02의 결과를 냈습니다. 질문에는 선택지를 붙일 수 있고, 한 질문에 답은 한 번만 받습니다.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현장에서 보류라고 부르는 상황을 나누어 봅니다. 첫째는 담당자가 아직 결정하지 않은 경우이고, 승인 작업이 기다리고 있을 뿐입니다. 둘째는 5회차에 본 에이전트의 보류로, 근거가 모자라 에이전트가 결과를 내지 않은 경우입니다. 이때 담당자는 값을 다시 읽어 평가하도록 재평가를 요청하거나 작업을 닫습니다. 셋째는 방금 본 에이전트의 질문이며 담당자가 답하면 이어집니다.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지점은 멈춘 작업을 닫는 일입니다. 정해 둔 한도, 곧 실행 시간 1,800초나 형식 교정 두 번을 넘긴 에이전트 작업은 결과 없이 멈춘 채로 남습니다. 그대로 두면 처리 건이 끝나지 않으므로 담당자가 기록을 읽고 사유를 적어 닫습니다. 이렇게 끝난 처리 건은 조치가 완료되어 끝난 처리 건과 구분되도록 사람이 닫았다는 표시가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사람 앞에는 자동 검사가 하나 더 있습니다. 가드레일, Guardrail은 에이전트의 출력이 규칙을 지켰는지를 시스템이 검사하는 장치입니다. 추천안에 대해서는 후보마다 그것을 고른 규칙이 인용되어 있는지, 추천이 제외 규칙에 걸리지 않았는지, 승인 역할과 SOP 단계가 붙어 있는지를 봅니다. 하나라도 어기면 추천안은 제출되지 않아 담당자에게 올라가지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관문이 하는 일을 구분합니다. 가드레일을 통과한 추천안은 승인을 기다리는 상태가 될 뿐, 승인된 것이 아닙니다. 가드레일은 형식과 규칙을 지켰는지를 보고, 지금 이 조치를 해도 되는지는 보지 않습니다. 왼쪽 아래에 적은 AI의 검토, 곧 에이전트가 자기 결과를 다시 살피는 일이나 다른 에이전트가 검토해 문제없다고 하는 일도 승인이 아닙니다. 실행해도 된다는 결정은 승인 역할의 담당자만 내립니다.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쿨러 사건을 처리한 에이전트는 지금 잘 동작합니다. 여기에 현장에서 요구 하나가 들어왔다고 해 보겠습니다. 긴급한 경보는 빨리 처리되게 해 달라는 한 문장입니다. 뜻은 분명해 보이지만 어떤 경보가 긴급한지, 무엇을 바꾸어 빨라지게 하는지, 무엇은 건드리면 안 되는지가 적혀 있지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문장을 구현하려면 세 군데에서 해석이 갈립니다. 위는 출력 형식으로, 긴급하다는 표시를 결과에 더하면서 기존 항목까지 손댈 수 있습니다. 가운데는 승인 조건으로, 빨리 처리하라는 말을 승인을 기다리지 말라는 뜻으로 읽을 수 있습니다. 아래는 기존 요청의 처리로, 긴급하지 않은 경보의 결과까지 달라질 수 있습니다. 어느 해석이 맞는지는 요청 문장만으로는 정해지지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해석이 갈리는 자리를 구현하기 전에 정해 두는 방식이 SDD, Spec-Driven Development입니다. 우리말로는 명세 주도 개발이라고 합니다. 명세, Specification은 만들 것이 무엇을 받아 무엇을 내고 무엇을 하지 않는지를 적은 문서입니다. 보통 프로젝트 안에 spec.md 같은 파일로 두고, 기능을 바꿀 때 코드보다 이 파일을 먼저 고칩니다.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명세에 적는 것은 다섯 가지입니다. 맨 위의 요구사항은 무엇을 하는지, 이번에 무엇이 달라지는지를 적습니다. 입력 계약과 출력 계약은 무엇을 받고 무엇을 내는지를 항목과 형식으로 정합니다. 금지 조건은 어떤 요구가 더해져도 하지 않을 일이고, 수용 기준은 무엇이 확인되면 다 된 것으로 볼지입니다. 앞에서 본 한 문장에는 이 가운데 요구사항의 일부만 들어 있었습니다.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요구사항과 금지 조건을 따로 적는 까닭을 봅니다. 요구사항은 해야 할 일이어서 변경 요청이 올 때마다 줄이 늘어납니다. 금지 조건은 어떤 요구가 더해져도 그대로 남습니다. 긴급한 경보를 빨리 처리하라는 요구가 와도, 승인하기 전에는 어떤 조치도 실행하지 않는다는 줄이 명세에 있으면 승인을 건너뛰는 해석은 처음부터 배제됩니다.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다섯째 요소인 수용 기준, Acceptance Criteria입니다. 구현이 요구를 채웠다고 받아들이는 조건이며, 실행해 보고 참인지 거짓인지를 가를 수 있는 문장으로 적습니다. 어떤 상황에서 어떤 결과가 나와야 하는지를 한 문장에 하나씩 적습니다. 구현하기 전에는 만들 것의 기준이 되고, 구현한 뒤에는 그대로 확인 항목이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처음의 한 문장을 명세로 옮겨 본 예입니다. 요구사항은 긴급의 기준을 유온 60도 이상이라는 수치로 정했습니다. 출력 계약은 기존 다섯 항목은 그대로 두고 urgent라는 항목 하나를 더한다고 적었습니다. 금지 조건은 긴급 경보라도 승인 전에는 조치를 실행하지 않는다는 것이고, 수용 기준은 기존 경보와 긴급 경보의 기대 결과를 한 줄씩 적었습니다. 한 문장에서 갈렸던 해석을 AI가 아니라 명세가 정한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단원에서 본 명세에서 시작하겠습니다. 요구사항과 함께 입력 계약, 출력 계약, 금지 조건, 수용 기준을 적어 에이전트가 지킬 것을 정했습니다. 그러나 명세는 문서이고, 에이전트가 실제로 낸 결과는 실행해 보아야 나옵니다. 이 단원에서 다루는 것은 아래쪽의 점선, 곧 명세와 실제 결과를 대어 보는 일입니다.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문제를 다루는 방식이 BDD, Behavior-Driven Development입니다. 우리말로는 행동 주도 개발이라고 합니다. 기대하는 행동을 누구나 읽을 수 있는 시나리오로 먼저 적고, 그 시나리오를 실행해서 확인합니다. 여기서 행동은 내부의 구현이 아니라 밖에서 관찰할 수 있는 결과를 가리킵니다.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시나리오는 세 부분으로 나누어 적습니다. Given은 행동이 일어나기 전의 상태, When은 확인하려는 행동 하나, Then은 그 뒤에 관찰되어야 하는 결과입니다. 쿨러 사건의 승인 단계로 보면, 추천안이 올라와 있는 상태가 Given이고 담당자의 거절이 When입니다. Then은 설비 명령도 업무 처리도 없이 처리 건이 거절로 닫히는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거절을 글로 적은 시나리오입니다. 첫 줄은 시나리오의 이름이고, Given과 When과 Then이 차례로 이어집니다. Then 아래의 And는 기대 결과가 여럿일 때 한 줄에 하나씩 이어 적는 낱말입니다. 이 시나리오의 Then 세 줄 가운데 두 줄은 일어나지 않아야 하는 일입니다.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단원의 SDD와 이 단원의 BDD를 나란히 놓겠습니다. SDD는 구현하기 전에 무엇을 지킬지를 정하고, 명세 문서를 남깁니다. BDD는 만든 것이 정한 대로 행동하는지를 실행으로 확인하고, 시나리오와 실행 결과를 남깁니다. 둘은 경쟁하는 방식이 아니라 앞뒤로 이어지는 일입니다.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회귀 시험은 무언가를 바꾼 뒤에 기존 시나리오를 다시 실행하는 것입니다. 왼쪽은 변경 전이고 기존 시나리오 넷이 모두 통과한 상태입니다. 명세에 긴급 조건을 더한 뒤에는 새 시나리오 하나가 늘어납니다. 이때 새 시나리오만 실행하면 일반 요청이나 거절의 행동이 달라졌는지를 알 수 없으므로, 기존 넷도 모두 다시 실행합니다.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실습에서는 승인을 기다리는 처리 건의 상태를 읽습니다. 먼저 올라온 추천안과 그 조치의 승인 역할을 확인하고, 권한이 없는 역할로는 승인이 받아들여지지 않는 것을 봅니다. 그런 다음 가드레일을 통과한 추천안이 승인된 것이 아니라 승인 대기 상태라는 것과, 승인한 사람과 역할은 승인 뒤에만 기록된다는 것을 확인합니다. AI의 검토를 통과한 것과 사람이 승인한 것이 다른 상태라는 점을 처리 건에서 직접 읽습니다.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실습에서는 5회차에 만든 에이전트를 다시 씁니다. 필수 입력이 빠진 요청을 주었을 때, 에이전트가 그 값을 짐작해 확정하지 않고 확인 질문을 내도록 고칩니다. 추가 입력을 받으면 같은 요청을 다시 판단하고, 질문 전과 답변 후의 상태를 기록으로 남깁니다. 다시 판단한 결과도 승인을 받기 전에는 확정된 것으로 적지 않습니다. 온톨로지와 SOP는 이미 있는 것을 그대로 씁니다.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실습은 같은 프로젝트에서 이어집니다. 먼저 긴급 조건을 모호한 요청으로 더했을 때 결과의 항목이나 승인 조건이 고치기 전과 달라진 사례를 견줍니다. 그런 다음 spec.md에 기존 일반 요청의 처리와 긴급 조건, 값이 입력되지 않았을 때의 보류, 승인 없이 확정하지 않는다는 금지, 결과 형식과 수용 기준을 적습니다. 그 명세를 기준으로 코드를 고쳐 기존 일반 요청과 긴급 요청을 다시 실행하고, 입력과 기대 결과를 저장해 다음 실습의 검증에 씁니다.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넷째 실습에서는 시나리오를 실행하고 실패를 고칩니다. 정상, 긴급, 미입력, 거절의 네 경우를 Given, When, Then으로 실행한 뒤, 실제로 실패한 시나리오만 골라 원인을 따라가 고치고 다시 실행합니다. 마지막에는 전체 회귀를 돌려, 긴급 조건이 동작하면서 기존의 일반 요청과 보류와 거절 조건이 그대로인지를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회차 동안 에이전트 하나에 무엇을 더해 왔는지를 한 장에 놓았습니다. 5회차에는 모델에 목표와 도구를 주어 에이전트를 세웠습니다. 6회차에는 수행 방법을 스킬로 적고 도구를 MCP로 연결했습니다. 오늘은 사람이 개입하는 지점과 명세를 정하고, 그 명세대로 행동하는지를 시나리오로 확인했습니다.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회차의 내용을 여덟 물음으로 바꾸었습니다. 위의 다섯은 에이전트를 만드는 물음이고, 아래의 셋은 그 에이전트를 믿고 쓰기 위한 물음입니다. 오른쪽 칸은 쿨러 사건에서 그 답에 해당하는 것입니다. 새 에이전트를 만들 때에도 이 여덟 물음에 차례로 답하면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내용을 쿨러 사건 한 건의 시간 위에 놓았습니다. 11시 13분 8초에 경보가 오면 에이전트가 스킬을 읽고 도구를 불러 추천안을 냅니다. 그 결과는 시스템의 검사를 거쳐 사람에게 올라가고, 11시 14분 56초에 운전원이 승인한 뒤에야 팬을 100 %로 올리는 명령이 만들어집니다. 아래의 괄호처럼 시나리오와 회귀 시험은 이 전체의 행동을 되풀이해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5회차의 내용을 하나가 빠진 경우로 되짚습니다. 목표가 없으면 무엇을 이루어야 끝나는지가 없어서 질문에 한 번 답하고 멈춥니다. 도구가 없으면 유온이나 납기 오더 같은 지금의 값을 읽지 못합니다. 멈춤 조건이 없으면 근거가 부족하거나 도구가 실패해도 결과를 채워서 냅니다.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5회차의 네 정보원을 추천안 한 건으로 모이는 두 갈래로 다시 놓았습니다. 위쪽은 지식이며, 원인 후보 셋에서 고장 유형을 거쳐 조치 방법으로 가는 관계는 1회차부터 4회차까지 만든 지식 그래프에서 읽었습니다. 아래쪽은 현재값이며, 냉각 효율 46.2 %는 시계열 DB에서, 납기 오더는 업무 DB에서 판단하는 순간에 읽었습니다. 두 갈래가 도구 호출을 거쳐 추천안에 모이고, 변하지 않는 지식과 변하는 값을 섞지 않는 것이 근거를 다루는 기준이었습니다.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6회차의 스킬과 MCP는 무엇을 바꾸려 하는가로 구분하면 쉽습니다. 도구를 부르는 순서나 근거가 없을 때의 행동, 결과 항목의 이름을 바꾸려면 스킬을 고칩니다. 새 시스템의 값을 읽게 하거나 부를 수 있는 도구의 범위를 바꾸려면 MCP 서버의 연결을 고칩니다. 스킬은 수행 방법이고 MCP는 연결된 실행 도구입니다.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첫 단원의 내용을 추천안이 지나는 문 둘로 다시 놓았습니다. 첫째 문은 시스템의 자동 검사이며, 형식이 맞는지와 규칙을 인용했는지와 승인 역할이 붙어 있는지를 보고, 통과해도 상태는 승인 대기입니다. 둘째 문은 승인 역할의 담당자이며, 내용과 상황을 보고 승인해야 설비 명령이 만들어지고 누가 어느 역할로 승인했는지가 결정 기록으로 남습니다. 에이전트의 자기 검토나 다른 에이전트의 검토는 첫째 문 쪽에 속하고 승인이 되지 않습니다. 왼쪽 아래의 두 장면은 에이전트가 일하는 동안 사람이 들어가는 나머지 두 자리, 곧 질문에 답하는 때와 멈춘 작업을 닫는 때입니다.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오늘의 용어를 한 그림에 이었습니다. 명세에서 화살표가 둘 나갑니다. 하나는 에이전트가 지킬 기준이 되고, 하나는 시나리오의 기대값이 됩니다. 시나리오는 에이전트의 행동을 확인합니다. 에이전트가 낸 추천안은 가드레일의 검사를 거쳐 담당자에게 올라가고, 승인 역할의 담당자가 승인합니다.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명세와 시나리오를 변경 한 번의 순서로 이었습니다. 단계마다 아래 줄은 실습에서 다룬 긴급 조건의 예입니다. 요구가 바뀌면 먼저 명세에 새 조건을 적고, 그 조건의 시나리오와 기대값을 더한 다음에 지침이나 코드를 고칩니다. 마지막으로 새 시나리오와 함께 일반 요청, 보류, 거절의 기존 시나리오를 모두 다시 실행합니다.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본 장치는 작동하는 때가 둘로 나뉩니다. 출력 계약의 검사와 가드레일과 사람의 승인은 에이전트가 실행될 때마다 작동해서 그 한 건의 잘못된 결과를 막습니다. 시나리오의 실행과 전체 회귀는 무언가를 바꿀 때마다 실행해서 달라진 행동을 미리 찾습니다. 한쪽이 있다고 다른 쪽을 생략할 수는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응용에 따라 산출물이 어떻게 달라지는지를 봅니다. HYD에는 쿨러 사건의 에이전트 말고도 정기 정비의 시점을 정하는 에이전트와 예비품의 발주를 정하는 에이전트가 있습니다. 가운데의 하늘색 구획이 셋에 공통인 틀이며, 목표가 있고 스킬과 도구가 있고 출력 계약이 있습니다. 위에서부터 쿨러 성능 저하 경보를 맡은 에이전트는 팬 최대 운전과 대안 셋을 담은 추천안을 냅니다. 정기 정비를 맡은 에이전트는 언제 정비할지를, 예비품 구매를 맡은 에이전트는 공급사와 수량과 금액을 담은 발주안을 냅니다. 새 업무를 맡길 때에도 틀은 그대로 두고 그 자리에 넣을 것을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5회차와 6회차의 실습에서 만든 산출물 넷을 모았습니다. 후보 원인과 점검 순서, 품질 대응 카드, 작업 목록, 도구를 조합해 만든 업무 항목입니다. 형식은 서로 다릅니다. 그러나 확인되지 않은 원인은 가설로, 없는 담당자는 미정으로, 실패한 항목은 미완료로 적어 확정하지 않고, 아는 것에는 출처를 붙인다는 점은 같습니다.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실습의 산출물은 서로 이어집니다. 둘째 실습에서 만든 확인 질문은 필수 정보가 빠진 경우의 시나리오가 되었고, 셋째 실습에서 spec.md와 함께 저장한 입력과 기대 결과는 넷째 실습에서 시나리오의 재료가 되었습니다. 시나리오는 실행되어 회귀 기록으로 남고, 그 기록이 다음에 요구가 바뀔 때의 기준이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산출물의 형식이 왜 달랐는지를 정리합니다. 형식은 누가 읽느냐와 그 뒤에 무슨 일이 이어지느냐로 정해집니다. 사람이 읽는 작업 목록은 문서로 내면 되지만, 승인 단계가 읽는 추천안은 항목의 이름까지 정해 둔 JSON이어야 다음 단계가 읽을 수 있습니다. 그래서 출력 계약이 가장 엄격한 것은 시스템이 읽는 산출물입니다.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회차의 장치를 문제가 생겼을 때 찾아갈 순서로 놓았습니다. 값이 실제와 다르면 호출 기록에서 입력과 응답을 봅니다. 정해 둔 단계를 건너뛰면 스킬의 절차를, 값을 받지 못했으면 서버의 연결과 허용 목록을 봅니다. 묻지 않고 확정했다면 금지 조건과 개입 지점을, 고친 뒤 기존 결과가 달라졌다면 회귀 시험에서 실패한 시나리오를 봅니다.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회차를 사람과 에이전트의 몫으로 나누면 이렇습니다. 목표와 절차, 도구와 권한의 범위, 계약과 금지 조건과 기대값은 사람이 실행 전에 정합니다. 에이전트는 그 안에서 이번에 부를 도구와 다음 행동, 다시 시도할지 보류할지, 설명의 문장을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회차에 나온 여섯 개념을 각각이 푼 문제로 이었습니다. 에이전트는 답만 하던 모델이 목표까지 수행하게 했고, 스킬은 실행마다 다르던 순서를 정했으며, MCP는 시스템의 값을 도구로 읽게 했습니다. 여기까지가 일을 해내게 하는 쪽입니다. HITL은 실행의 결정을 사람에게 두었고, SDD는 지킬 것을 먼저 적게 했으며, BDD는 적은 대로 하는지를 실행으로 확인하게 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회차를 한 문장으로 줄이면 이렇습니다. 정한 것을 적어 두고, 그대로 행동하는지를 실행으로 확인합니다. 목표와 스킬과 명세가 적어 둔 기준이고, 출력 계약의 검사와 사람의 승인이 실행 중의 방어입니다. 시나리오와 회귀 시험은 요구가 바뀔 때마다 그 기준을 다시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나온 약어와 영문 용어의 정식 명칭을 한곳에 모았습니다. 이 일곱 개와 함께 승인 역할, 에이전트의 질문, 명세, 계약, 금지 조건, 시나리오가 오늘의 용어입니다. 하나를 골라 자료를 덮고 자신의 문장으로 써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자동 검사와 AI의 검토와 사람의 승인을 구분하는지를 확인하는 문항입니다. 보기마다 그것이 무엇을 확인해 주는지, 실행의 결정까지 포함하는지를 따져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판정할 수 있는 문장을 가려내는 문항입니다. 보기마다 실행한 뒤에 무엇을 세거나 대조하면 참과 거짓이 정해지는지를 따져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변경 뒤에 무엇을 확인해야 하는지를 묻는 문항입니다. 통과한 시나리오가 알려 주는 범위가 어디까지인지를 따져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정답보다 판단 기준이 중요합니다. 첫 문항의 3번은 두 번 확인했다는 점에서 그럴듯하지만, 두 확인 모두 실행의 결정은 아닙니다. 둘째 문항의 1번은 얼마나 빨라야 하는지가 적혀 있지 않아 판정할 수 없습니다. 셋째 문항의 2번은 새 시나리오만 되풀이하므로 기존 행동을 알려 주지 못합니다.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5.png"/><Relationship Id="rId6"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6.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6.png"/><Relationship Id="rId4"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3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31.png"/><Relationship Id="rId4" Type="http://schemas.openxmlformats.org/officeDocument/2006/relationships/image" Target="../media/image14.png"/><Relationship Id="rId5" Type="http://schemas.openxmlformats.org/officeDocument/2006/relationships/image" Target="../media/image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32.png"/><Relationship Id="rId4" Type="http://schemas.openxmlformats.org/officeDocument/2006/relationships/image" Target="../media/image17.png"/><Relationship Id="rId5" Type="http://schemas.openxmlformats.org/officeDocument/2006/relationships/image" Target="../media/image33.png"/><Relationship Id="rId6" Type="http://schemas.openxmlformats.org/officeDocument/2006/relationships/image" Target="../media/image2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34.png"/><Relationship Id="rId4" Type="http://schemas.openxmlformats.org/officeDocument/2006/relationships/image" Target="../media/image6.png"/><Relationship Id="rId5" Type="http://schemas.openxmlformats.org/officeDocument/2006/relationships/image" Target="../media/image35.png"/><Relationship Id="rId6" Type="http://schemas.openxmlformats.org/officeDocument/2006/relationships/image" Target="../media/image18.png"/><Relationship Id="rId7" Type="http://schemas.openxmlformats.org/officeDocument/2006/relationships/image" Target="../media/image3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18.png"/><Relationship Id="rId4" Type="http://schemas.openxmlformats.org/officeDocument/2006/relationships/image" Target="../media/image37.png"/><Relationship Id="rId5" Type="http://schemas.openxmlformats.org/officeDocument/2006/relationships/image" Target="../media/image3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3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4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4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6.png"/><Relationship Id="rId4" Type="http://schemas.openxmlformats.org/officeDocument/2006/relationships/image" Target="../media/image4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4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47.png"/><Relationship Id="rId4" Type="http://schemas.openxmlformats.org/officeDocument/2006/relationships/image" Target="../media/image7.png"/><Relationship Id="rId5" Type="http://schemas.openxmlformats.org/officeDocument/2006/relationships/image" Target="../media/image35.png"/><Relationship Id="rId6" Type="http://schemas.openxmlformats.org/officeDocument/2006/relationships/image" Target="../media/image15.png"/><Relationship Id="rId7" Type="http://schemas.openxmlformats.org/officeDocument/2006/relationships/image" Target="../media/image48.png"/><Relationship Id="rId8" Type="http://schemas.openxmlformats.org/officeDocument/2006/relationships/image" Target="../media/image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48.png"/><Relationship Id="rId4" Type="http://schemas.openxmlformats.org/officeDocument/2006/relationships/image" Target="../media/image3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4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17.png"/><Relationship Id="rId4" Type="http://schemas.openxmlformats.org/officeDocument/2006/relationships/image" Target="../media/image6.png"/><Relationship Id="rId5" Type="http://schemas.openxmlformats.org/officeDocument/2006/relationships/image" Target="../media/image18.png"/><Relationship Id="rId6" Type="http://schemas.openxmlformats.org/officeDocument/2006/relationships/image" Target="../media/image3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52.png"/><Relationship Id="rId4" Type="http://schemas.openxmlformats.org/officeDocument/2006/relationships/image" Target="../media/image3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35.png"/><Relationship Id="rId4" Type="http://schemas.openxmlformats.org/officeDocument/2006/relationships/image" Target="../media/image6.png"/><Relationship Id="rId5" Type="http://schemas.openxmlformats.org/officeDocument/2006/relationships/image" Target="../media/image45.png"/><Relationship Id="rId6" Type="http://schemas.openxmlformats.org/officeDocument/2006/relationships/image" Target="../media/image5.png"/><Relationship Id="rId7" Type="http://schemas.openxmlformats.org/officeDocument/2006/relationships/image" Target="../media/image47.png"/><Relationship Id="rId8" Type="http://schemas.openxmlformats.org/officeDocument/2006/relationships/image" Target="../media/image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6.png"/><Relationship Id="rId4" Type="http://schemas.openxmlformats.org/officeDocument/2006/relationships/image" Target="../media/image48.png"/><Relationship Id="rId5" Type="http://schemas.openxmlformats.org/officeDocument/2006/relationships/image" Target="../media/image3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a:lnSpc>
                <a:spcPct val="110000"/>
              </a:lnSpc>
            </a:pPr>
            <a:r>
              <a:rPr sz="1800" b="1">
                <a:solidFill>
                  <a:srgbClr val="8FCFF8"/>
                </a:solidFill>
                <a:latin typeface="맑은 고딕"/>
                <a:ea typeface="맑은 고딕"/>
                <a:cs typeface="맑은 고딕"/>
              </a:rPr>
              <a:t>통합반 오프라인 7회차</a:t>
            </a:r>
          </a:p>
        </p:txBody>
      </p:sp>
      <p:sp>
        <p:nvSpPr>
          <p:cNvPr id="5" name="TextBox 4"/>
          <p:cNvSpPr txBox="1"/>
          <p:nvPr/>
        </p:nvSpPr>
        <p:spPr>
          <a:xfrm>
            <a:off x="457200" y="2395728"/>
            <a:ext cx="8412480" cy="1920240"/>
          </a:xfrm>
          <a:prstGeom prst="rect">
            <a:avLst/>
          </a:prstGeom>
          <a:noFill/>
        </p:spPr>
        <p:txBody>
          <a:bodyPr wrap="square" anchor="t"/>
          <a:lstStyle/>
          <a:p>
            <a:pPr algn="l">
              <a:lnSpc>
                <a:spcPct val="110000"/>
              </a:lnSpc>
            </a:pPr>
            <a:r>
              <a:rPr sz="4000" b="1">
                <a:solidFill>
                  <a:srgbClr val="FFFFFF"/>
                </a:solidFill>
                <a:latin typeface="맑은 고딕"/>
                <a:ea typeface="맑은 고딕"/>
                <a:cs typeface="맑은 고딕"/>
              </a:rPr>
              <a:t>사람의 확인과 검증으로 완성하는</a:t>
            </a:r>
          </a:p>
          <a:p>
            <a:pPr algn="l">
              <a:lnSpc>
                <a:spcPct val="110000"/>
              </a:lnSpc>
            </a:pPr>
            <a:r>
              <a:rPr sz="4000" b="1">
                <a:solidFill>
                  <a:srgbClr val="FFFFFF"/>
                </a:solidFill>
                <a:latin typeface="맑은 고딕"/>
                <a:ea typeface="맑은 고딕"/>
                <a:cs typeface="맑은 고딕"/>
              </a:rPr>
              <a:t>신뢰할 수 있는 AI 에이전트</a:t>
            </a:r>
          </a:p>
        </p:txBody>
      </p:sp>
      <p:sp>
        <p:nvSpPr>
          <p:cNvPr id="6" name="TextBox 5"/>
          <p:cNvSpPr txBox="1"/>
          <p:nvPr/>
        </p:nvSpPr>
        <p:spPr>
          <a:xfrm>
            <a:off x="457200" y="4407408"/>
            <a:ext cx="8412480" cy="731520"/>
          </a:xfrm>
          <a:prstGeom prst="rect">
            <a:avLst/>
          </a:prstGeom>
          <a:noFill/>
        </p:spPr>
        <p:txBody>
          <a:bodyPr wrap="square" anchor="t"/>
          <a:lstStyle/>
          <a:p>
            <a:pPr algn="l">
              <a:lnSpc>
                <a:spcPct val="110000"/>
              </a:lnSpc>
            </a:pPr>
            <a:r>
              <a:rPr sz="1900" b="0">
                <a:solidFill>
                  <a:srgbClr val="C6D0DE"/>
                </a:solidFill>
                <a:latin typeface="맑은 고딕"/>
                <a:ea typeface="맑은 고딕"/>
                <a:cs typeface="맑은 고딕"/>
              </a:rPr>
              <a:t>사람의 승인, 명세, 행동 검증과 에이전트 영역의 정리</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user-check" descr="user-check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file-text" descr="file-text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checklist" descr="checklist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사람의 결정과 명세와 시나리오로 에이전트를 믿고 쓰는 근거를 세우고, 에이전트 영역 전체를 정리한다.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515171"/>
            <a:ext cx="731520" cy="731520"/>
          </a:xfrm>
          <a:prstGeom prst="ellipse">
            <a:avLst/>
          </a:prstGeom>
          <a:solidFill>
            <a:srgbClr val="E7F3FD"/>
          </a:solidFill>
          <a:ln>
            <a:noFill/>
          </a:ln>
        </p:spPr>
        <p:txBody>
          <a:bodyPr rtlCol="0" anchor="ctr"/>
          <a:lstStyle/>
          <a:p>
            <a:pPr algn="ctr"/>
          </a:p>
        </p:txBody>
      </p:sp>
      <p:pic>
        <p:nvPicPr>
          <p:cNvPr id="8" name="아이콘:user-check" descr="user-check_13294B_1.6.png"/>
          <p:cNvPicPr>
            <a:picLocks noChangeAspect="1"/>
          </p:cNvPicPr>
          <p:nvPr/>
        </p:nvPicPr>
        <p:blipFill>
          <a:blip r:embed="rId3"/>
          <a:stretch>
            <a:fillRect/>
          </a:stretch>
        </p:blipFill>
        <p:spPr>
          <a:xfrm>
            <a:off x="930859" y="2668790"/>
            <a:ext cx="424281" cy="424281"/>
          </a:xfrm>
          <a:prstGeom prst="rect">
            <a:avLst/>
          </a:prstGeom>
        </p:spPr>
      </p:pic>
      <p:sp>
        <p:nvSpPr>
          <p:cNvPr id="9" name="TextBox 8"/>
          <p:cNvSpPr txBox="1"/>
          <p:nvPr/>
        </p:nvSpPr>
        <p:spPr>
          <a:xfrm>
            <a:off x="713232"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사람의 결정</a:t>
            </a:r>
          </a:p>
          <a:p>
            <a:pPr algn="l">
              <a:lnSpc>
                <a:spcPct val="110000"/>
              </a:lnSpc>
              <a:spcAft>
                <a:spcPts val="400"/>
              </a:spcAft>
            </a:pPr>
            <a:r>
              <a:rPr sz="1350" b="0">
                <a:solidFill>
                  <a:srgbClr val="1F2A3A"/>
                </a:solidFill>
                <a:latin typeface="맑은 고딕"/>
                <a:ea typeface="맑은 고딕"/>
                <a:cs typeface="맑은 고딕"/>
              </a:rPr>
              <a:t>승인, 거절, 보류가 언제 누구에게서 나오는지와 검토와 승인의 차이를 설명한다</a:t>
            </a:r>
          </a:p>
        </p:txBody>
      </p:sp>
      <p:sp>
        <p:nvSpPr>
          <p:cNvPr id="10" name="Rounded Rectangle 9"/>
          <p:cNvSpPr/>
          <p:nvPr/>
        </p:nvSpPr>
        <p:spPr>
          <a:xfrm>
            <a:off x="777240" y="523894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HITL</a:t>
            </a:r>
          </a:p>
        </p:txBody>
      </p:sp>
      <p:sp>
        <p:nvSpPr>
          <p:cNvPr id="12" name="Rounded Rectangle 11"/>
          <p:cNvSpPr/>
          <p:nvPr/>
        </p:nvSpPr>
        <p:spPr>
          <a:xfrm>
            <a:off x="3390823"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515171"/>
            <a:ext cx="731520" cy="731520"/>
          </a:xfrm>
          <a:prstGeom prst="ellipse">
            <a:avLst/>
          </a:prstGeom>
          <a:solidFill>
            <a:srgbClr val="E7F3FD"/>
          </a:solidFill>
          <a:ln>
            <a:noFill/>
          </a:ln>
        </p:spPr>
        <p:txBody>
          <a:bodyPr rtlCol="0" anchor="ctr"/>
          <a:lstStyle/>
          <a:p>
            <a:pPr algn="ctr"/>
          </a:p>
        </p:txBody>
      </p:sp>
      <p:pic>
        <p:nvPicPr>
          <p:cNvPr id="14" name="아이콘:file-text" descr="file-text_13294B_1.6.png"/>
          <p:cNvPicPr>
            <a:picLocks noChangeAspect="1"/>
          </p:cNvPicPr>
          <p:nvPr/>
        </p:nvPicPr>
        <p:blipFill>
          <a:blip r:embed="rId4"/>
          <a:stretch>
            <a:fillRect/>
          </a:stretch>
        </p:blipFill>
        <p:spPr>
          <a:xfrm>
            <a:off x="3773043" y="2668790"/>
            <a:ext cx="424281" cy="424281"/>
          </a:xfrm>
          <a:prstGeom prst="rect">
            <a:avLst/>
          </a:prstGeom>
        </p:spPr>
      </p:pic>
      <p:sp>
        <p:nvSpPr>
          <p:cNvPr id="15" name="TextBox 14"/>
          <p:cNvSpPr txBox="1"/>
          <p:nvPr/>
        </p:nvSpPr>
        <p:spPr>
          <a:xfrm>
            <a:off x="3555415"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명세</a:t>
            </a:r>
          </a:p>
          <a:p>
            <a:pPr algn="l">
              <a:lnSpc>
                <a:spcPct val="110000"/>
              </a:lnSpc>
              <a:spcAft>
                <a:spcPts val="400"/>
              </a:spcAft>
            </a:pPr>
            <a:r>
              <a:rPr sz="1350" b="0">
                <a:solidFill>
                  <a:srgbClr val="1F2A3A"/>
                </a:solidFill>
                <a:latin typeface="맑은 고딕"/>
                <a:ea typeface="맑은 고딕"/>
                <a:cs typeface="맑은 고딕"/>
              </a:rPr>
              <a:t>변경 요청 한 문장을 입력 계약, 출력 계약, 금지 조건, 수용 기준으로 옮겨 적는다</a:t>
            </a:r>
          </a:p>
        </p:txBody>
      </p:sp>
      <p:sp>
        <p:nvSpPr>
          <p:cNvPr id="16" name="Rounded Rectangle 15"/>
          <p:cNvSpPr/>
          <p:nvPr/>
        </p:nvSpPr>
        <p:spPr>
          <a:xfrm>
            <a:off x="3619423" y="523894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SDD</a:t>
            </a:r>
          </a:p>
        </p:txBody>
      </p:sp>
      <p:sp>
        <p:nvSpPr>
          <p:cNvPr id="18" name="Rounded Rectangle 17"/>
          <p:cNvSpPr/>
          <p:nvPr/>
        </p:nvSpPr>
        <p:spPr>
          <a:xfrm>
            <a:off x="6233007"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515171"/>
            <a:ext cx="731520" cy="731520"/>
          </a:xfrm>
          <a:prstGeom prst="ellipse">
            <a:avLst/>
          </a:prstGeom>
          <a:solidFill>
            <a:srgbClr val="E7F3FD"/>
          </a:solidFill>
          <a:ln>
            <a:noFill/>
          </a:ln>
        </p:spPr>
        <p:txBody>
          <a:bodyPr rtlCol="0" anchor="ctr"/>
          <a:lstStyle/>
          <a:p>
            <a:pPr algn="ctr"/>
          </a:p>
        </p:txBody>
      </p:sp>
      <p:pic>
        <p:nvPicPr>
          <p:cNvPr id="20" name="아이콘:checklist" descr="checklist_13294B_1.6.png"/>
          <p:cNvPicPr>
            <a:picLocks noChangeAspect="1"/>
          </p:cNvPicPr>
          <p:nvPr/>
        </p:nvPicPr>
        <p:blipFill>
          <a:blip r:embed="rId5"/>
          <a:stretch>
            <a:fillRect/>
          </a:stretch>
        </p:blipFill>
        <p:spPr>
          <a:xfrm>
            <a:off x="6615226" y="2668790"/>
            <a:ext cx="424281" cy="424281"/>
          </a:xfrm>
          <a:prstGeom prst="rect">
            <a:avLst/>
          </a:prstGeom>
        </p:spPr>
      </p:pic>
      <p:sp>
        <p:nvSpPr>
          <p:cNvPr id="21" name="TextBox 20"/>
          <p:cNvSpPr txBox="1"/>
          <p:nvPr/>
        </p:nvSpPr>
        <p:spPr>
          <a:xfrm>
            <a:off x="6397599"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행동 검증</a:t>
            </a:r>
          </a:p>
          <a:p>
            <a:pPr algn="l">
              <a:lnSpc>
                <a:spcPct val="110000"/>
              </a:lnSpc>
              <a:spcAft>
                <a:spcPts val="400"/>
              </a:spcAft>
            </a:pPr>
            <a:r>
              <a:rPr sz="1350" b="0">
                <a:solidFill>
                  <a:srgbClr val="1F2A3A"/>
                </a:solidFill>
                <a:latin typeface="맑은 고딕"/>
                <a:ea typeface="맑은 고딕"/>
                <a:cs typeface="맑은 고딕"/>
              </a:rPr>
              <a:t>기대 행동을 Given · When · Then으로 적고 변경 뒤에 기존 시나리오까지 다시 실행한다</a:t>
            </a:r>
          </a:p>
        </p:txBody>
      </p:sp>
      <p:sp>
        <p:nvSpPr>
          <p:cNvPr id="22" name="Rounded Rectangle 21"/>
          <p:cNvSpPr/>
          <p:nvPr/>
        </p:nvSpPr>
        <p:spPr>
          <a:xfrm>
            <a:off x="6461607" y="5238940"/>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BDD</a:t>
            </a:r>
          </a:p>
        </p:txBody>
      </p:sp>
      <p:sp>
        <p:nvSpPr>
          <p:cNvPr id="24" name="Rounded Rectangle 23"/>
          <p:cNvSpPr/>
          <p:nvPr/>
        </p:nvSpPr>
        <p:spPr>
          <a:xfrm>
            <a:off x="9075191" y="2314003"/>
            <a:ext cx="2567863" cy="335470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515171"/>
            <a:ext cx="731520" cy="731520"/>
          </a:xfrm>
          <a:prstGeom prst="ellipse">
            <a:avLst/>
          </a:prstGeom>
          <a:solidFill>
            <a:srgbClr val="5CB8F2"/>
          </a:solidFill>
          <a:ln>
            <a:noFill/>
          </a:ln>
        </p:spPr>
        <p:txBody>
          <a:bodyPr rtlCol="0" anchor="ctr"/>
          <a:lstStyle/>
          <a:p>
            <a:pPr algn="ctr"/>
          </a:p>
        </p:txBody>
      </p:sp>
      <p:pic>
        <p:nvPicPr>
          <p:cNvPr id="26" name="아이콘:route" descr="route_13294B_1.6.png"/>
          <p:cNvPicPr>
            <a:picLocks noChangeAspect="1"/>
          </p:cNvPicPr>
          <p:nvPr/>
        </p:nvPicPr>
        <p:blipFill>
          <a:blip r:embed="rId6"/>
          <a:stretch>
            <a:fillRect/>
          </a:stretch>
        </p:blipFill>
        <p:spPr>
          <a:xfrm>
            <a:off x="9457410" y="2668790"/>
            <a:ext cx="424281" cy="424281"/>
          </a:xfrm>
          <a:prstGeom prst="rect">
            <a:avLst/>
          </a:prstGeom>
        </p:spPr>
      </p:pic>
      <p:sp>
        <p:nvSpPr>
          <p:cNvPr id="27" name="TextBox 26"/>
          <p:cNvSpPr txBox="1"/>
          <p:nvPr/>
        </p:nvSpPr>
        <p:spPr>
          <a:xfrm>
            <a:off x="9239783"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전체 과정의 정리</a:t>
            </a:r>
          </a:p>
          <a:p>
            <a:pPr algn="l">
              <a:lnSpc>
                <a:spcPct val="110000"/>
              </a:lnSpc>
              <a:spcAft>
                <a:spcPts val="400"/>
              </a:spcAft>
            </a:pPr>
            <a:r>
              <a:rPr sz="1350" b="0">
                <a:solidFill>
                  <a:srgbClr val="1F2A3A"/>
                </a:solidFill>
                <a:latin typeface="맑은 고딕"/>
                <a:ea typeface="맑은 고딕"/>
                <a:cs typeface="맑은 고딕"/>
              </a:rPr>
              <a:t>목표와 도구에서 검증까지 에이전트를 만들고 믿기까지의 순서를 설명한다</a:t>
            </a:r>
          </a:p>
        </p:txBody>
      </p:sp>
      <p:sp>
        <p:nvSpPr>
          <p:cNvPr id="28" name="Rounded Rectangle 27"/>
          <p:cNvSpPr/>
          <p:nvPr/>
        </p:nvSpPr>
        <p:spPr>
          <a:xfrm>
            <a:off x="9303791" y="5238940"/>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정리</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1234440"/>
            <a:ext cx="822960" cy="64008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1234440"/>
            <a:ext cx="8488375" cy="64008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사람이 개입하는 지점의 설계: 승인, 질문, 닫기</a:t>
            </a:r>
          </a:p>
        </p:txBody>
      </p:sp>
      <p:sp>
        <p:nvSpPr>
          <p:cNvPr id="6" name="Rounded Rectangle 5"/>
          <p:cNvSpPr/>
          <p:nvPr/>
        </p:nvSpPr>
        <p:spPr>
          <a:xfrm>
            <a:off x="10088575" y="1408176"/>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140817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186537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1874519"/>
            <a:ext cx="822960" cy="64008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1874519"/>
            <a:ext cx="8488375" cy="64008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명세 주도 개발: 요구사항 변경과 기존 기능의 보존</a:t>
            </a:r>
          </a:p>
        </p:txBody>
      </p:sp>
      <p:sp>
        <p:nvSpPr>
          <p:cNvPr id="11" name="Rounded Rectangle 10"/>
          <p:cNvSpPr/>
          <p:nvPr/>
        </p:nvSpPr>
        <p:spPr>
          <a:xfrm>
            <a:off x="10088575" y="2048255"/>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204825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13" name="Rectangle 12"/>
          <p:cNvSpPr/>
          <p:nvPr/>
        </p:nvSpPr>
        <p:spPr>
          <a:xfrm>
            <a:off x="548640" y="250545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2514600"/>
            <a:ext cx="822960" cy="64008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2514600"/>
            <a:ext cx="8488375" cy="64008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행동 검증: 시나리오와 회귀 시험</a:t>
            </a:r>
          </a:p>
        </p:txBody>
      </p:sp>
      <p:sp>
        <p:nvSpPr>
          <p:cNvPr id="16" name="Rounded Rectangle 15"/>
          <p:cNvSpPr/>
          <p:nvPr/>
        </p:nvSpPr>
        <p:spPr>
          <a:xfrm>
            <a:off x="10088575" y="268833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268833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18" name="Rectangle 17"/>
          <p:cNvSpPr/>
          <p:nvPr/>
        </p:nvSpPr>
        <p:spPr>
          <a:xfrm>
            <a:off x="548640" y="3145536"/>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548640" y="3154679"/>
            <a:ext cx="822960" cy="64008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04</a:t>
            </a:r>
          </a:p>
        </p:txBody>
      </p:sp>
      <p:sp>
        <p:nvSpPr>
          <p:cNvPr id="20" name="TextBox 19"/>
          <p:cNvSpPr txBox="1"/>
          <p:nvPr/>
        </p:nvSpPr>
        <p:spPr>
          <a:xfrm>
            <a:off x="1417319" y="3154679"/>
            <a:ext cx="8488375" cy="64008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사람이 개입하는 업무 상태 확인</a:t>
            </a:r>
          </a:p>
        </p:txBody>
      </p:sp>
      <p:sp>
        <p:nvSpPr>
          <p:cNvPr id="21" name="Rounded Rectangle 20"/>
          <p:cNvSpPr/>
          <p:nvPr/>
        </p:nvSpPr>
        <p:spPr>
          <a:xfrm>
            <a:off x="10088575" y="3328415"/>
            <a:ext cx="1371600" cy="292608"/>
          </a:xfrm>
          <a:prstGeom prst="roundRect">
            <a:avLst>
              <a:gd name="adj" fmla="val 50000"/>
            </a:avLst>
          </a:prstGeom>
          <a:solidFill>
            <a:srgbClr val="D3D9E1"/>
          </a:solidFill>
          <a:ln>
            <a:noFill/>
          </a:ln>
        </p:spPr>
        <p:txBody>
          <a:bodyPr rtlCol="0" anchor="ctr"/>
          <a:lstStyle/>
          <a:p>
            <a:pPr algn="ctr"/>
          </a:p>
        </p:txBody>
      </p:sp>
      <p:sp>
        <p:nvSpPr>
          <p:cNvPr id="22" name="TextBox 21"/>
          <p:cNvSpPr txBox="1"/>
          <p:nvPr/>
        </p:nvSpPr>
        <p:spPr>
          <a:xfrm>
            <a:off x="10088575" y="332841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3" name="Rectangle 22"/>
          <p:cNvSpPr/>
          <p:nvPr/>
        </p:nvSpPr>
        <p:spPr>
          <a:xfrm>
            <a:off x="548640" y="3785615"/>
            <a:ext cx="11094415" cy="13716"/>
          </a:xfrm>
          <a:prstGeom prst="rect">
            <a:avLst/>
          </a:prstGeom>
          <a:solidFill>
            <a:srgbClr val="D3D9E1"/>
          </a:solidFill>
          <a:ln>
            <a:noFill/>
          </a:ln>
        </p:spPr>
        <p:txBody>
          <a:bodyPr rtlCol="0" anchor="ctr"/>
          <a:lstStyle/>
          <a:p>
            <a:pPr algn="ctr"/>
          </a:p>
        </p:txBody>
      </p:sp>
      <p:sp>
        <p:nvSpPr>
          <p:cNvPr id="24" name="TextBox 23"/>
          <p:cNvSpPr txBox="1"/>
          <p:nvPr/>
        </p:nvSpPr>
        <p:spPr>
          <a:xfrm>
            <a:off x="548640" y="3794760"/>
            <a:ext cx="822960" cy="64008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05</a:t>
            </a:r>
          </a:p>
        </p:txBody>
      </p:sp>
      <p:sp>
        <p:nvSpPr>
          <p:cNvPr id="25" name="TextBox 24"/>
          <p:cNvSpPr txBox="1"/>
          <p:nvPr/>
        </p:nvSpPr>
        <p:spPr>
          <a:xfrm>
            <a:off x="1417319" y="3794760"/>
            <a:ext cx="8488375" cy="64008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정보가 부족하면 질문하고 다시 처리하는 에이전트</a:t>
            </a:r>
          </a:p>
        </p:txBody>
      </p:sp>
      <p:sp>
        <p:nvSpPr>
          <p:cNvPr id="26" name="Rounded Rectangle 25"/>
          <p:cNvSpPr/>
          <p:nvPr/>
        </p:nvSpPr>
        <p:spPr>
          <a:xfrm>
            <a:off x="10088575" y="3968496"/>
            <a:ext cx="1371600" cy="292608"/>
          </a:xfrm>
          <a:prstGeom prst="roundRect">
            <a:avLst>
              <a:gd name="adj" fmla="val 50000"/>
            </a:avLst>
          </a:prstGeom>
          <a:solidFill>
            <a:srgbClr val="D3D9E1"/>
          </a:solidFill>
          <a:ln>
            <a:noFill/>
          </a:ln>
        </p:spPr>
        <p:txBody>
          <a:bodyPr rtlCol="0" anchor="ctr"/>
          <a:lstStyle/>
          <a:p>
            <a:pPr algn="ctr"/>
          </a:p>
        </p:txBody>
      </p:sp>
      <p:sp>
        <p:nvSpPr>
          <p:cNvPr id="27" name="TextBox 26"/>
          <p:cNvSpPr txBox="1"/>
          <p:nvPr/>
        </p:nvSpPr>
        <p:spPr>
          <a:xfrm>
            <a:off x="10088575" y="396849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8" name="Rectangle 27"/>
          <p:cNvSpPr/>
          <p:nvPr/>
        </p:nvSpPr>
        <p:spPr>
          <a:xfrm>
            <a:off x="548640" y="4425696"/>
            <a:ext cx="11094415" cy="13716"/>
          </a:xfrm>
          <a:prstGeom prst="rect">
            <a:avLst/>
          </a:prstGeom>
          <a:solidFill>
            <a:srgbClr val="D3D9E1"/>
          </a:solidFill>
          <a:ln>
            <a:noFill/>
          </a:ln>
        </p:spPr>
        <p:txBody>
          <a:bodyPr rtlCol="0" anchor="ctr"/>
          <a:lstStyle/>
          <a:p>
            <a:pPr algn="ctr"/>
          </a:p>
        </p:txBody>
      </p:sp>
      <p:sp>
        <p:nvSpPr>
          <p:cNvPr id="29" name="TextBox 28"/>
          <p:cNvSpPr txBox="1"/>
          <p:nvPr/>
        </p:nvSpPr>
        <p:spPr>
          <a:xfrm>
            <a:off x="548640" y="4434840"/>
            <a:ext cx="822960" cy="64008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06</a:t>
            </a:r>
          </a:p>
        </p:txBody>
      </p:sp>
      <p:sp>
        <p:nvSpPr>
          <p:cNvPr id="30" name="TextBox 29"/>
          <p:cNvSpPr txBox="1"/>
          <p:nvPr/>
        </p:nvSpPr>
        <p:spPr>
          <a:xfrm>
            <a:off x="1417319" y="4434840"/>
            <a:ext cx="8488375" cy="64008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명세를 갱신해 기존 기능을 유지하며 요구사항 추가</a:t>
            </a:r>
          </a:p>
        </p:txBody>
      </p:sp>
      <p:sp>
        <p:nvSpPr>
          <p:cNvPr id="31" name="Rounded Rectangle 30"/>
          <p:cNvSpPr/>
          <p:nvPr/>
        </p:nvSpPr>
        <p:spPr>
          <a:xfrm>
            <a:off x="10088575" y="4608575"/>
            <a:ext cx="1371600" cy="292608"/>
          </a:xfrm>
          <a:prstGeom prst="roundRect">
            <a:avLst>
              <a:gd name="adj" fmla="val 50000"/>
            </a:avLst>
          </a:prstGeom>
          <a:solidFill>
            <a:srgbClr val="D3D9E1"/>
          </a:solidFill>
          <a:ln>
            <a:noFill/>
          </a:ln>
        </p:spPr>
        <p:txBody>
          <a:bodyPr rtlCol="0" anchor="ctr"/>
          <a:lstStyle/>
          <a:p>
            <a:pPr algn="ctr"/>
          </a:p>
        </p:txBody>
      </p:sp>
      <p:sp>
        <p:nvSpPr>
          <p:cNvPr id="32" name="TextBox 31"/>
          <p:cNvSpPr txBox="1"/>
          <p:nvPr/>
        </p:nvSpPr>
        <p:spPr>
          <a:xfrm>
            <a:off x="10088575" y="460857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33" name="Rectangle 32"/>
          <p:cNvSpPr/>
          <p:nvPr/>
        </p:nvSpPr>
        <p:spPr>
          <a:xfrm>
            <a:off x="548640" y="5065776"/>
            <a:ext cx="11094415" cy="13716"/>
          </a:xfrm>
          <a:prstGeom prst="rect">
            <a:avLst/>
          </a:prstGeom>
          <a:solidFill>
            <a:srgbClr val="D3D9E1"/>
          </a:solidFill>
          <a:ln>
            <a:noFill/>
          </a:ln>
        </p:spPr>
        <p:txBody>
          <a:bodyPr rtlCol="0" anchor="ctr"/>
          <a:lstStyle/>
          <a:p>
            <a:pPr algn="ctr"/>
          </a:p>
        </p:txBody>
      </p:sp>
      <p:sp>
        <p:nvSpPr>
          <p:cNvPr id="34" name="TextBox 33"/>
          <p:cNvSpPr txBox="1"/>
          <p:nvPr/>
        </p:nvSpPr>
        <p:spPr>
          <a:xfrm>
            <a:off x="548640" y="5074919"/>
            <a:ext cx="822960" cy="64008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07</a:t>
            </a:r>
          </a:p>
        </p:txBody>
      </p:sp>
      <p:sp>
        <p:nvSpPr>
          <p:cNvPr id="35" name="TextBox 34"/>
          <p:cNvSpPr txBox="1"/>
          <p:nvPr/>
        </p:nvSpPr>
        <p:spPr>
          <a:xfrm>
            <a:off x="1417319" y="5074919"/>
            <a:ext cx="8488375" cy="64008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새 기능과 기존 기능의 시나리오 실행과 회귀 검증</a:t>
            </a:r>
          </a:p>
        </p:txBody>
      </p:sp>
      <p:sp>
        <p:nvSpPr>
          <p:cNvPr id="36" name="Rounded Rectangle 35"/>
          <p:cNvSpPr/>
          <p:nvPr/>
        </p:nvSpPr>
        <p:spPr>
          <a:xfrm>
            <a:off x="10088575" y="5248655"/>
            <a:ext cx="1371600" cy="292608"/>
          </a:xfrm>
          <a:prstGeom prst="roundRect">
            <a:avLst>
              <a:gd name="adj" fmla="val 50000"/>
            </a:avLst>
          </a:prstGeom>
          <a:solidFill>
            <a:srgbClr val="D3D9E1"/>
          </a:solidFill>
          <a:ln>
            <a:noFill/>
          </a:ln>
        </p:spPr>
        <p:txBody>
          <a:bodyPr rtlCol="0" anchor="ctr"/>
          <a:lstStyle/>
          <a:p>
            <a:pPr algn="ctr"/>
          </a:p>
        </p:txBody>
      </p:sp>
      <p:sp>
        <p:nvSpPr>
          <p:cNvPr id="37" name="TextBox 36"/>
          <p:cNvSpPr txBox="1"/>
          <p:nvPr/>
        </p:nvSpPr>
        <p:spPr>
          <a:xfrm>
            <a:off x="10088575" y="524865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38" name="Rectangle 37"/>
          <p:cNvSpPr/>
          <p:nvPr/>
        </p:nvSpPr>
        <p:spPr>
          <a:xfrm>
            <a:off x="548640" y="5705855"/>
            <a:ext cx="11094415" cy="13716"/>
          </a:xfrm>
          <a:prstGeom prst="rect">
            <a:avLst/>
          </a:prstGeom>
          <a:solidFill>
            <a:srgbClr val="D3D9E1"/>
          </a:solidFill>
          <a:ln>
            <a:noFill/>
          </a:ln>
        </p:spPr>
        <p:txBody>
          <a:bodyPr rtlCol="0" anchor="ctr"/>
          <a:lstStyle/>
          <a:p>
            <a:pPr algn="ctr"/>
          </a:p>
        </p:txBody>
      </p:sp>
      <p:sp>
        <p:nvSpPr>
          <p:cNvPr id="39" name="TextBox 38"/>
          <p:cNvSpPr txBox="1"/>
          <p:nvPr/>
        </p:nvSpPr>
        <p:spPr>
          <a:xfrm>
            <a:off x="548640" y="5715000"/>
            <a:ext cx="822960" cy="64008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08</a:t>
            </a:r>
          </a:p>
        </p:txBody>
      </p:sp>
      <p:sp>
        <p:nvSpPr>
          <p:cNvPr id="40" name="TextBox 39"/>
          <p:cNvSpPr txBox="1"/>
          <p:nvPr/>
        </p:nvSpPr>
        <p:spPr>
          <a:xfrm>
            <a:off x="1417319" y="5715000"/>
            <a:ext cx="8488375" cy="64008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에이전트 제작부터 검증까지의 전체 과정</a:t>
            </a:r>
          </a:p>
        </p:txBody>
      </p:sp>
      <p:sp>
        <p:nvSpPr>
          <p:cNvPr id="41" name="Rounded Rectangle 40"/>
          <p:cNvSpPr/>
          <p:nvPr/>
        </p:nvSpPr>
        <p:spPr>
          <a:xfrm>
            <a:off x="10088575" y="5888736"/>
            <a:ext cx="1371600" cy="292608"/>
          </a:xfrm>
          <a:prstGeom prst="roundRect">
            <a:avLst>
              <a:gd name="adj" fmla="val 50000"/>
            </a:avLst>
          </a:prstGeom>
          <a:solidFill>
            <a:srgbClr val="D3D9E1"/>
          </a:solidFill>
          <a:ln>
            <a:noFill/>
          </a:ln>
        </p:spPr>
        <p:txBody>
          <a:bodyPr rtlCol="0" anchor="ctr"/>
          <a:lstStyle/>
          <a:p>
            <a:pPr algn="ctr"/>
          </a:p>
        </p:txBody>
      </p:sp>
      <p:sp>
        <p:nvSpPr>
          <p:cNvPr id="42" name="TextBox 41"/>
          <p:cNvSpPr txBox="1"/>
          <p:nvPr/>
        </p:nvSpPr>
        <p:spPr>
          <a:xfrm>
            <a:off x="10088575" y="588873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43" name="TextBox 42"/>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사람이 개입하는 지점의 설계:</a:t>
            </a:r>
          </a:p>
          <a:p>
            <a:pPr algn="l">
              <a:lnSpc>
                <a:spcPct val="110000"/>
              </a:lnSpc>
            </a:pPr>
            <a:r>
              <a:rPr sz="3400" b="1">
                <a:solidFill>
                  <a:srgbClr val="13294B"/>
                </a:solidFill>
                <a:latin typeface="맑은 고딕"/>
                <a:ea typeface="맑은 고딕"/>
                <a:cs typeface="맑은 고딕"/>
              </a:rPr>
              <a:t>승인, 질문, 닫기</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에이전트의 추천안을 사람이 결정하는 자리와 그 결정이 남기는 기록</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추천안이 나온 뒤의 13초: 승인과 거절의 갈림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추천안이 올라온 뒤 승인까지의 13초는 담당자가 </a:t>
            </a:r>
            <a:r>
              <a:rPr sz="1600" b="1">
                <a:solidFill>
                  <a:srgbClr val="1A6FC4"/>
                </a:solidFill>
                <a:latin typeface="맑은 고딕"/>
                <a:ea typeface="맑은 고딕"/>
                <a:cs typeface="맑은 고딕"/>
              </a:rPr>
              <a:t>승인</a:t>
            </a:r>
            <a:r>
              <a:rPr sz="1600" b="0">
                <a:solidFill>
                  <a:srgbClr val="556175"/>
                </a:solidFill>
                <a:latin typeface="맑은 고딕"/>
                <a:ea typeface="맑은 고딕"/>
                <a:cs typeface="맑은 고딕"/>
              </a:rPr>
              <a:t>과 거절 가운데 하나를 고른 시간이다.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a:t>
            </a:r>
          </a:p>
        </p:txBody>
      </p:sp>
      <p:pic>
        <p:nvPicPr>
          <p:cNvPr id="6" name="삽화:갈림.svg" descr="illust_5599960153118363836_179173607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077479" y="4558649"/>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
        <p:nvSpPr>
          <p:cNvPr id="8" name="TextBox 7"/>
          <p:cNvSpPr txBox="1"/>
          <p:nvPr/>
        </p:nvSpPr>
        <p:spPr>
          <a:xfrm>
            <a:off x="2626628" y="2100376"/>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추천안</a:t>
            </a:r>
          </a:p>
          <a:p>
            <a:pPr algn="ctr">
              <a:lnSpc>
                <a:spcPct val="110000"/>
              </a:lnSpc>
              <a:spcAft>
                <a:spcPts val="100"/>
              </a:spcAft>
            </a:pPr>
            <a:r>
              <a:rPr sz="1300" b="0">
                <a:solidFill>
                  <a:srgbClr val="556175"/>
                </a:solidFill>
                <a:latin typeface="맑은 고딕"/>
                <a:ea typeface="맑은 고딕"/>
                <a:cs typeface="맑은 고딕"/>
              </a:rPr>
              <a:t>추천 하나와 대안 셋</a:t>
            </a:r>
          </a:p>
        </p:txBody>
      </p:sp>
      <p:sp>
        <p:nvSpPr>
          <p:cNvPr id="9" name="TextBox 8"/>
          <p:cNvSpPr txBox="1"/>
          <p:nvPr/>
        </p:nvSpPr>
        <p:spPr>
          <a:xfrm>
            <a:off x="5004898" y="2242200"/>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담당자</a:t>
            </a:r>
          </a:p>
          <a:p>
            <a:pPr algn="ctr">
              <a:lnSpc>
                <a:spcPct val="110000"/>
              </a:lnSpc>
              <a:spcAft>
                <a:spcPts val="100"/>
              </a:spcAft>
            </a:pPr>
            <a:r>
              <a:rPr sz="1300" b="0">
                <a:solidFill>
                  <a:srgbClr val="556175"/>
                </a:solidFill>
                <a:latin typeface="맑은 고딕"/>
                <a:ea typeface="맑은 고딕"/>
                <a:cs typeface="맑은 고딕"/>
              </a:rPr>
              <a:t>승인 11:14:56</a:t>
            </a:r>
          </a:p>
        </p:txBody>
      </p:sp>
      <p:sp>
        <p:nvSpPr>
          <p:cNvPr id="10" name="TextBox 9"/>
          <p:cNvSpPr txBox="1"/>
          <p:nvPr/>
        </p:nvSpPr>
        <p:spPr>
          <a:xfrm>
            <a:off x="3870310" y="5220492"/>
            <a:ext cx="218189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 대기 약 13초</a:t>
            </a:r>
          </a:p>
        </p:txBody>
      </p:sp>
      <p:sp>
        <p:nvSpPr>
          <p:cNvPr id="11" name="TextBox 10"/>
          <p:cNvSpPr txBox="1"/>
          <p:nvPr/>
        </p:nvSpPr>
        <p:spPr>
          <a:xfrm>
            <a:off x="7732271" y="3093140"/>
            <a:ext cx="87275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a:t>
            </a:r>
          </a:p>
        </p:txBody>
      </p:sp>
      <p:sp>
        <p:nvSpPr>
          <p:cNvPr id="12" name="TextBox 11"/>
          <p:cNvSpPr txBox="1"/>
          <p:nvPr/>
        </p:nvSpPr>
        <p:spPr>
          <a:xfrm>
            <a:off x="8168651" y="3282238"/>
            <a:ext cx="1854614" cy="825246"/>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설비 명령 11:14:57</a:t>
            </a:r>
          </a:p>
          <a:p>
            <a:pPr algn="ctr">
              <a:lnSpc>
                <a:spcPct val="110000"/>
              </a:lnSpc>
              <a:spcAft>
                <a:spcPts val="100"/>
              </a:spcAft>
            </a:pPr>
            <a:r>
              <a:rPr sz="1300" b="0">
                <a:solidFill>
                  <a:srgbClr val="556175"/>
                </a:solidFill>
                <a:latin typeface="맑은 고딕"/>
                <a:ea typeface="맑은 고딕"/>
                <a:cs typeface="맑은 고딕"/>
              </a:rPr>
              <a:t>팬 속도 100 %</a:t>
            </a:r>
          </a:p>
        </p:txBody>
      </p:sp>
      <p:sp>
        <p:nvSpPr>
          <p:cNvPr id="13" name="TextBox 12"/>
          <p:cNvSpPr txBox="1"/>
          <p:nvPr/>
        </p:nvSpPr>
        <p:spPr>
          <a:xfrm>
            <a:off x="10110541" y="3140415"/>
            <a:ext cx="1418234"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재관측과 작업지시</a:t>
            </a:r>
          </a:p>
        </p:txBody>
      </p:sp>
      <p:sp>
        <p:nvSpPr>
          <p:cNvPr id="14" name="TextBox 13"/>
          <p:cNvSpPr txBox="1"/>
          <p:nvPr/>
        </p:nvSpPr>
        <p:spPr>
          <a:xfrm>
            <a:off x="7732271" y="4464100"/>
            <a:ext cx="87275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거절</a:t>
            </a:r>
          </a:p>
        </p:txBody>
      </p:sp>
      <p:sp>
        <p:nvSpPr>
          <p:cNvPr id="15" name="TextBox 14"/>
          <p:cNvSpPr txBox="1"/>
          <p:nvPr/>
        </p:nvSpPr>
        <p:spPr>
          <a:xfrm>
            <a:off x="9586886" y="5031394"/>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명령 없이 닫힌다</a:t>
            </a:r>
          </a:p>
          <a:p>
            <a:pPr algn="ctr">
              <a:lnSpc>
                <a:spcPct val="110000"/>
              </a:lnSpc>
              <a:spcAft>
                <a:spcPts val="100"/>
              </a:spcAft>
            </a:pPr>
            <a:r>
              <a:rPr sz="1300" b="0">
                <a:solidFill>
                  <a:srgbClr val="556175"/>
                </a:solidFill>
                <a:latin typeface="맑은 고딕"/>
                <a:ea typeface="맑은 고딕"/>
                <a:cs typeface="맑은 고딕"/>
              </a:rPr>
              <a:t>사유가 기록에 남는다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자동으로 처리하는 일과 사람이 결정하는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HITL(Human-in-the-Loop)은 자동 처리의 정해진 지점에 사람의 결정을 넣는 방식이며, 설비를 바꾸는 결정이 대상이다.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settings-automation" descr="settings-automation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자동으로 처리한다</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값의 조회, 원인 판정, 후보 비교, 형식 검사</a:t>
            </a:r>
          </a:p>
          <a:p>
            <a:pPr algn="l">
              <a:lnSpc>
                <a:spcPct val="110000"/>
              </a:lnSpc>
              <a:spcAft>
                <a:spcPts val="600"/>
              </a:spcAft>
            </a:pPr>
            <a:r>
              <a:rPr sz="1450" b="0">
                <a:solidFill>
                  <a:srgbClr val="1F2A3A"/>
                </a:solidFill>
                <a:latin typeface="맑은 고딕"/>
                <a:ea typeface="맑은 고딕"/>
                <a:cs typeface="맑은 고딕"/>
              </a:rPr>
              <a:t>• 틀렸으면 다시 실행하면 된다</a:t>
            </a:r>
          </a:p>
          <a:p>
            <a:pPr algn="l">
              <a:lnSpc>
                <a:spcPct val="110000"/>
              </a:lnSpc>
              <a:spcAft>
                <a:spcPts val="600"/>
              </a:spcAft>
            </a:pPr>
            <a:r>
              <a:rPr sz="1450" b="0">
                <a:solidFill>
                  <a:srgbClr val="1F2A3A"/>
                </a:solidFill>
                <a:latin typeface="맑은 고딕"/>
                <a:ea typeface="맑은 고딕"/>
                <a:cs typeface="맑은 고딕"/>
              </a:rPr>
              <a:t>• 설비와 업무 기록은 그대로이다</a:t>
            </a:r>
          </a:p>
        </p:txBody>
      </p:sp>
      <p:sp>
        <p:nvSpPr>
          <p:cNvPr id="11" name="Rounded Rectangle 10"/>
          <p:cNvSpPr/>
          <p:nvPr/>
        </p:nvSpPr>
        <p:spPr>
          <a:xfrm>
            <a:off x="868680" y="4945570"/>
            <a:ext cx="16306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630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에이전트와 시스템</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user-check" descr="user-check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사람이 결정한다</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설비 명령과 작업지시처럼 현장을 바꾸는 일</a:t>
            </a:r>
          </a:p>
          <a:p>
            <a:pPr algn="l">
              <a:lnSpc>
                <a:spcPct val="110000"/>
              </a:lnSpc>
              <a:spcAft>
                <a:spcPts val="600"/>
              </a:spcAft>
            </a:pPr>
            <a:r>
              <a:rPr sz="1450" b="0">
                <a:solidFill>
                  <a:srgbClr val="1F2A3A"/>
                </a:solidFill>
                <a:latin typeface="맑은 고딕"/>
                <a:ea typeface="맑은 고딕"/>
                <a:cs typeface="맑은 고딕"/>
              </a:rPr>
              <a:t>• 실행하면 설비의 상태와 생산이 달라진다</a:t>
            </a:r>
          </a:p>
          <a:p>
            <a:pPr algn="l">
              <a:lnSpc>
                <a:spcPct val="110000"/>
              </a:lnSpc>
              <a:spcAft>
                <a:spcPts val="600"/>
              </a:spcAft>
            </a:pPr>
            <a:r>
              <a:rPr sz="1450" b="0">
                <a:solidFill>
                  <a:srgbClr val="1F2A3A"/>
                </a:solidFill>
                <a:latin typeface="맑은 고딕"/>
                <a:ea typeface="맑은 고딕"/>
                <a:cs typeface="맑은 고딕"/>
              </a:rPr>
              <a:t>• 결과를 책임질 사람이 정해져 있어야 한다</a:t>
            </a:r>
          </a:p>
        </p:txBody>
      </p:sp>
      <p:sp>
        <p:nvSpPr>
          <p:cNvPr id="18" name="Rounded Rectangle 17"/>
          <p:cNvSpPr/>
          <p:nvPr/>
        </p:nvSpPr>
        <p:spPr>
          <a:xfrm>
            <a:off x="6781647" y="4945570"/>
            <a:ext cx="16763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6763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승인 역할의 담당자</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사람이 개입하는 세 지점</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사람이 개입하는 자리는 추천안을 승인하는 단계, 에이전트의 질문에 답하는 때, 멈춘 작업을 닫는 때의 셋이다.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a:t>
            </a:r>
          </a:p>
        </p:txBody>
      </p:sp>
      <p:pic>
        <p:nvPicPr>
          <p:cNvPr id="6" name="삽화:세지점.svg" descr="illust_8093600345434687229_179173607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150283" y="1627632"/>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에이전트 단계</a:t>
            </a:r>
          </a:p>
        </p:txBody>
      </p:sp>
      <p:sp>
        <p:nvSpPr>
          <p:cNvPr id="8" name="TextBox 7"/>
          <p:cNvSpPr txBox="1"/>
          <p:nvPr/>
        </p:nvSpPr>
        <p:spPr>
          <a:xfrm>
            <a:off x="7295892" y="1627632"/>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단계</a:t>
            </a:r>
          </a:p>
        </p:txBody>
      </p:sp>
      <p:sp>
        <p:nvSpPr>
          <p:cNvPr id="9" name="TextBox 8"/>
          <p:cNvSpPr txBox="1"/>
          <p:nvPr/>
        </p:nvSpPr>
        <p:spPr>
          <a:xfrm>
            <a:off x="9150506" y="1627632"/>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시스템 실행</a:t>
            </a:r>
          </a:p>
        </p:txBody>
      </p:sp>
      <p:sp>
        <p:nvSpPr>
          <p:cNvPr id="10" name="TextBox 9"/>
          <p:cNvSpPr txBox="1"/>
          <p:nvPr/>
        </p:nvSpPr>
        <p:spPr>
          <a:xfrm>
            <a:off x="1241122" y="5267766"/>
            <a:ext cx="3054658"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에이전트의 질문</a:t>
            </a:r>
          </a:p>
          <a:p>
            <a:pPr algn="ctr">
              <a:lnSpc>
                <a:spcPct val="110000"/>
              </a:lnSpc>
              <a:spcAft>
                <a:spcPts val="100"/>
              </a:spcAft>
            </a:pPr>
            <a:r>
              <a:rPr sz="1100" b="0">
                <a:solidFill>
                  <a:srgbClr val="556175"/>
                </a:solidFill>
                <a:latin typeface="맑은 고딕"/>
                <a:ea typeface="맑은 고딕"/>
                <a:cs typeface="맑은 고딕"/>
              </a:rPr>
              <a:t>필수 정보가 없을 때</a:t>
            </a:r>
          </a:p>
          <a:p>
            <a:pPr algn="ctr">
              <a:lnSpc>
                <a:spcPct val="110000"/>
              </a:lnSpc>
              <a:spcAft>
                <a:spcPts val="100"/>
              </a:spcAft>
            </a:pPr>
            <a:r>
              <a:rPr sz="1100" b="0">
                <a:solidFill>
                  <a:srgbClr val="556175"/>
                </a:solidFill>
                <a:latin typeface="맑은 고딕"/>
                <a:ea typeface="맑은 고딕"/>
                <a:cs typeface="맑은 고딕"/>
              </a:rPr>
              <a:t>담당자가 답하면 이어서 처리한다</a:t>
            </a:r>
          </a:p>
        </p:txBody>
      </p:sp>
      <p:sp>
        <p:nvSpPr>
          <p:cNvPr id="11" name="TextBox 10"/>
          <p:cNvSpPr txBox="1"/>
          <p:nvPr/>
        </p:nvSpPr>
        <p:spPr>
          <a:xfrm>
            <a:off x="4623065" y="5267766"/>
            <a:ext cx="2836468"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멈춘 작업 닫기</a:t>
            </a:r>
          </a:p>
          <a:p>
            <a:pPr algn="ctr">
              <a:lnSpc>
                <a:spcPct val="110000"/>
              </a:lnSpc>
              <a:spcAft>
                <a:spcPts val="100"/>
              </a:spcAft>
            </a:pPr>
            <a:r>
              <a:rPr sz="1100" b="0">
                <a:solidFill>
                  <a:srgbClr val="556175"/>
                </a:solidFill>
                <a:latin typeface="맑은 고딕"/>
                <a:ea typeface="맑은 고딕"/>
                <a:cs typeface="맑은 고딕"/>
              </a:rPr>
              <a:t>한도를 넘겨 멈췄을 때</a:t>
            </a:r>
          </a:p>
          <a:p>
            <a:pPr algn="ctr">
              <a:lnSpc>
                <a:spcPct val="110000"/>
              </a:lnSpc>
              <a:spcAft>
                <a:spcPts val="100"/>
              </a:spcAft>
            </a:pPr>
            <a:r>
              <a:rPr sz="1100" b="0">
                <a:solidFill>
                  <a:srgbClr val="556175"/>
                </a:solidFill>
                <a:latin typeface="맑은 고딕"/>
                <a:ea typeface="맑은 고딕"/>
                <a:cs typeface="맑은 고딕"/>
              </a:rPr>
              <a:t>담당자가 사유를 적고 닫는다</a:t>
            </a:r>
          </a:p>
        </p:txBody>
      </p:sp>
      <p:sp>
        <p:nvSpPr>
          <p:cNvPr id="12" name="TextBox 11"/>
          <p:cNvSpPr txBox="1"/>
          <p:nvPr/>
        </p:nvSpPr>
        <p:spPr>
          <a:xfrm>
            <a:off x="7950461" y="5267766"/>
            <a:ext cx="3272848" cy="678053"/>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승인과 거절</a:t>
            </a:r>
          </a:p>
          <a:p>
            <a:pPr algn="ctr">
              <a:lnSpc>
                <a:spcPct val="110000"/>
              </a:lnSpc>
              <a:spcAft>
                <a:spcPts val="100"/>
              </a:spcAft>
            </a:pPr>
            <a:r>
              <a:rPr sz="1100" b="0">
                <a:solidFill>
                  <a:srgbClr val="556175"/>
                </a:solidFill>
                <a:latin typeface="맑은 고딕"/>
                <a:ea typeface="맑은 고딕"/>
                <a:cs typeface="맑은 고딕"/>
              </a:rPr>
              <a:t>추천안이 나온 뒤, 실행하기 전</a:t>
            </a:r>
          </a:p>
          <a:p>
            <a:pPr algn="ctr">
              <a:lnSpc>
                <a:spcPct val="110000"/>
              </a:lnSpc>
              <a:spcAft>
                <a:spcPts val="100"/>
              </a:spcAft>
            </a:pPr>
            <a:r>
              <a:rPr sz="1100" b="0">
                <a:solidFill>
                  <a:srgbClr val="556175"/>
                </a:solidFill>
                <a:latin typeface="맑은 고딕"/>
                <a:ea typeface="맑은 고딕"/>
                <a:cs typeface="맑은 고딕"/>
              </a:rPr>
              <a:t>승인 역할의 담당자가 결정한다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승인과 거절: 두 결정이 남기는 결과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승인은 설비 명령과 재관측과 작업지시로 이어지고, 거절은 사유만 남긴 채 명령 없이 처리 건을 닫는다.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a:t>
            </a:r>
          </a:p>
        </p:txBody>
      </p:sp>
      <p:sp>
        <p:nvSpPr>
          <p:cNvPr id="6" name="Rounded Rectangle 5"/>
          <p:cNvSpPr/>
          <p:nvPr/>
        </p:nvSpPr>
        <p:spPr>
          <a:xfrm>
            <a:off x="548640" y="1978215"/>
            <a:ext cx="5181447" cy="4026281"/>
          </a:xfrm>
          <a:prstGeom prst="roundRect">
            <a:avLst>
              <a:gd name="adj" fmla="val 4000"/>
            </a:avLst>
          </a:prstGeom>
          <a:solidFill>
            <a:srgbClr val="E7F3FD"/>
          </a:solidFill>
          <a:ln w="28575">
            <a:solidFill>
              <a:srgbClr val="5CB8F2"/>
            </a:solidFill>
          </a:ln>
        </p:spPr>
        <p:txBody>
          <a:bodyPr rtlCol="0" anchor="ctr"/>
          <a:lstStyle/>
          <a:p>
            <a:pPr algn="ctr"/>
          </a:p>
        </p:txBody>
      </p:sp>
      <p:sp>
        <p:nvSpPr>
          <p:cNvPr id="7" name="Oval 6"/>
          <p:cNvSpPr/>
          <p:nvPr/>
        </p:nvSpPr>
        <p:spPr>
          <a:xfrm>
            <a:off x="822959" y="2179383"/>
            <a:ext cx="731520" cy="731520"/>
          </a:xfrm>
          <a:prstGeom prst="ellipse">
            <a:avLst/>
          </a:prstGeom>
          <a:solidFill>
            <a:srgbClr val="5CB8F2"/>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76579" y="2333002"/>
            <a:ext cx="424281" cy="424281"/>
          </a:xfrm>
          <a:prstGeom prst="rect">
            <a:avLst/>
          </a:prstGeom>
        </p:spPr>
      </p:pic>
      <p:sp>
        <p:nvSpPr>
          <p:cNvPr id="9" name="TextBox 8"/>
          <p:cNvSpPr txBox="1"/>
          <p:nvPr/>
        </p:nvSpPr>
        <p:spPr>
          <a:xfrm>
            <a:off x="1691640" y="2179383"/>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승인</a:t>
            </a:r>
          </a:p>
        </p:txBody>
      </p:sp>
      <p:sp>
        <p:nvSpPr>
          <p:cNvPr id="10" name="TextBox 9"/>
          <p:cNvSpPr txBox="1"/>
          <p:nvPr/>
        </p:nvSpPr>
        <p:spPr>
          <a:xfrm>
            <a:off x="822959" y="3029775"/>
            <a:ext cx="4632807" cy="2426081"/>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승인하는 순간의 유온과 운전 모드를 다시 확인한다</a:t>
            </a:r>
          </a:p>
          <a:p>
            <a:pPr algn="l">
              <a:lnSpc>
                <a:spcPct val="110000"/>
              </a:lnSpc>
              <a:spcAft>
                <a:spcPts val="600"/>
              </a:spcAft>
            </a:pPr>
            <a:r>
              <a:rPr sz="1450" b="0">
                <a:solidFill>
                  <a:srgbClr val="1F2A3A"/>
                </a:solidFill>
                <a:latin typeface="맑은 고딕"/>
                <a:ea typeface="맑은 고딕"/>
                <a:cs typeface="맑은 고딕"/>
              </a:rPr>
              <a:t>• 1초 뒤에 팬 속도 100 % 명령이 만들어진다</a:t>
            </a:r>
          </a:p>
          <a:p>
            <a:pPr algn="l">
              <a:lnSpc>
                <a:spcPct val="110000"/>
              </a:lnSpc>
              <a:spcAft>
                <a:spcPts val="600"/>
              </a:spcAft>
            </a:pPr>
            <a:r>
              <a:rPr sz="1450" b="0">
                <a:solidFill>
                  <a:srgbClr val="1F2A3A"/>
                </a:solidFill>
                <a:latin typeface="맑은 고딕"/>
                <a:ea typeface="맑은 고딕"/>
                <a:cs typeface="맑은 고딕"/>
              </a:rPr>
              <a:t>• 재관측에서 유온 51.5 ℃, 경보가 해제된다</a:t>
            </a:r>
          </a:p>
          <a:p>
            <a:pPr algn="l">
              <a:lnSpc>
                <a:spcPct val="110000"/>
              </a:lnSpc>
              <a:spcAft>
                <a:spcPts val="600"/>
              </a:spcAft>
            </a:pPr>
            <a:r>
              <a:rPr sz="1450" b="0">
                <a:solidFill>
                  <a:srgbClr val="1F2A3A"/>
                </a:solidFill>
                <a:latin typeface="맑은 고딕"/>
                <a:ea typeface="맑은 고딕"/>
                <a:cs typeface="맑은 고딕"/>
              </a:rPr>
              <a:t>• 작업지시 WO-1010-C058이 등록된다</a:t>
            </a:r>
          </a:p>
        </p:txBody>
      </p:sp>
      <p:sp>
        <p:nvSpPr>
          <p:cNvPr id="11" name="Rounded Rectangle 10"/>
          <p:cNvSpPr/>
          <p:nvPr/>
        </p:nvSpPr>
        <p:spPr>
          <a:xfrm>
            <a:off x="868680" y="5547296"/>
            <a:ext cx="1630680" cy="292608"/>
          </a:xfrm>
          <a:prstGeom prst="roundRect">
            <a:avLst>
              <a:gd name="adj" fmla="val 50000"/>
            </a:avLst>
          </a:prstGeom>
          <a:solidFill>
            <a:srgbClr val="5CB8F2"/>
          </a:solidFill>
          <a:ln>
            <a:noFill/>
          </a:ln>
        </p:spPr>
        <p:txBody>
          <a:bodyPr rtlCol="0" anchor="ctr"/>
          <a:lstStyle/>
          <a:p>
            <a:pPr algn="ctr"/>
          </a:p>
        </p:txBody>
      </p:sp>
      <p:sp>
        <p:nvSpPr>
          <p:cNvPr id="12" name="TextBox 11"/>
          <p:cNvSpPr txBox="1"/>
          <p:nvPr/>
        </p:nvSpPr>
        <p:spPr>
          <a:xfrm>
            <a:off x="868680" y="5547296"/>
            <a:ext cx="1630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명령이 만들어진다</a:t>
            </a:r>
          </a:p>
        </p:txBody>
      </p:sp>
      <p:sp>
        <p:nvSpPr>
          <p:cNvPr id="13" name="Rounded Rectangle 12"/>
          <p:cNvSpPr/>
          <p:nvPr/>
        </p:nvSpPr>
        <p:spPr>
          <a:xfrm>
            <a:off x="6461607" y="1978215"/>
            <a:ext cx="5181447" cy="4026281"/>
          </a:xfrm>
          <a:prstGeom prst="roundRect">
            <a:avLst>
              <a:gd name="adj" fmla="val 4000"/>
            </a:avLst>
          </a:prstGeom>
          <a:solidFill>
            <a:srgbClr val="F3F6F9"/>
          </a:solidFill>
          <a:ln>
            <a:noFill/>
          </a:ln>
        </p:spPr>
        <p:txBody>
          <a:bodyPr rtlCol="0" anchor="ctr"/>
          <a:lstStyle/>
          <a:p>
            <a:pPr algn="ctr"/>
          </a:p>
        </p:txBody>
      </p:sp>
      <p:sp>
        <p:nvSpPr>
          <p:cNvPr id="14" name="Oval 13"/>
          <p:cNvSpPr/>
          <p:nvPr/>
        </p:nvSpPr>
        <p:spPr>
          <a:xfrm>
            <a:off x="6735927" y="2179383"/>
            <a:ext cx="731520" cy="731520"/>
          </a:xfrm>
          <a:prstGeom prst="ellipse">
            <a:avLst/>
          </a:prstGeom>
          <a:solidFill>
            <a:srgbClr val="FFFFFF"/>
          </a:solidFill>
          <a:ln>
            <a:noFill/>
          </a:ln>
        </p:spPr>
        <p:txBody>
          <a:bodyPr rtlCol="0" anchor="ctr"/>
          <a:lstStyle/>
          <a:p>
            <a:pPr algn="ctr"/>
          </a:p>
        </p:txBody>
      </p:sp>
      <p:pic>
        <p:nvPicPr>
          <p:cNvPr id="15" name="아이콘:ban" descr="ban_13294B_1.6.png"/>
          <p:cNvPicPr>
            <a:picLocks noChangeAspect="1"/>
          </p:cNvPicPr>
          <p:nvPr/>
        </p:nvPicPr>
        <p:blipFill>
          <a:blip r:embed="rId4"/>
          <a:stretch>
            <a:fillRect/>
          </a:stretch>
        </p:blipFill>
        <p:spPr>
          <a:xfrm>
            <a:off x="6889546" y="2333002"/>
            <a:ext cx="424281" cy="424281"/>
          </a:xfrm>
          <a:prstGeom prst="rect">
            <a:avLst/>
          </a:prstGeom>
        </p:spPr>
      </p:pic>
      <p:sp>
        <p:nvSpPr>
          <p:cNvPr id="16" name="TextBox 15"/>
          <p:cNvSpPr txBox="1"/>
          <p:nvPr/>
        </p:nvSpPr>
        <p:spPr>
          <a:xfrm>
            <a:off x="7604607" y="2179383"/>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거절</a:t>
            </a:r>
          </a:p>
        </p:txBody>
      </p:sp>
      <p:sp>
        <p:nvSpPr>
          <p:cNvPr id="17" name="TextBox 16"/>
          <p:cNvSpPr txBox="1"/>
          <p:nvPr/>
        </p:nvSpPr>
        <p:spPr>
          <a:xfrm>
            <a:off x="6735927" y="3029775"/>
            <a:ext cx="4632807" cy="2426081"/>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거절하는 사유를 반드시 적는다</a:t>
            </a:r>
          </a:p>
          <a:p>
            <a:pPr algn="l">
              <a:lnSpc>
                <a:spcPct val="110000"/>
              </a:lnSpc>
              <a:spcAft>
                <a:spcPts val="600"/>
              </a:spcAft>
            </a:pPr>
            <a:r>
              <a:rPr sz="1450" b="0">
                <a:solidFill>
                  <a:srgbClr val="1F2A3A"/>
                </a:solidFill>
                <a:latin typeface="맑은 고딕"/>
                <a:ea typeface="맑은 고딕"/>
                <a:cs typeface="맑은 고딕"/>
              </a:rPr>
              <a:t>• 설비 명령과 업무 처리는 한 건도 만들어지지 않는다</a:t>
            </a:r>
          </a:p>
          <a:p>
            <a:pPr algn="l">
              <a:lnSpc>
                <a:spcPct val="110000"/>
              </a:lnSpc>
              <a:spcAft>
                <a:spcPts val="600"/>
              </a:spcAft>
            </a:pPr>
            <a:r>
              <a:rPr sz="1450" b="0">
                <a:solidFill>
                  <a:srgbClr val="1F2A3A"/>
                </a:solidFill>
                <a:latin typeface="맑은 고딕"/>
                <a:ea typeface="맑은 고딕"/>
                <a:cs typeface="맑은 고딕"/>
              </a:rPr>
              <a:t>• 결과 보고: 「담당자가 거절했습니다 — 사유: … 설비 명령은 내지 않았습니다」</a:t>
            </a:r>
          </a:p>
          <a:p>
            <a:pPr algn="l">
              <a:lnSpc>
                <a:spcPct val="110000"/>
              </a:lnSpc>
              <a:spcAft>
                <a:spcPts val="600"/>
              </a:spcAft>
            </a:pPr>
            <a:r>
              <a:rPr sz="1450" b="0">
                <a:solidFill>
                  <a:srgbClr val="1F2A3A"/>
                </a:solidFill>
                <a:latin typeface="맑은 고딕"/>
                <a:ea typeface="맑은 고딕"/>
                <a:cs typeface="맑은 고딕"/>
              </a:rPr>
              <a:t>• 처리 건: 경보 하나가 열어 끝날 때까지 이어지는 업무 한 건</a:t>
            </a:r>
          </a:p>
        </p:txBody>
      </p:sp>
      <p:sp>
        <p:nvSpPr>
          <p:cNvPr id="18" name="Rounded Rectangle 17"/>
          <p:cNvSpPr/>
          <p:nvPr/>
        </p:nvSpPr>
        <p:spPr>
          <a:xfrm>
            <a:off x="6781647" y="5547296"/>
            <a:ext cx="1523999" cy="292608"/>
          </a:xfrm>
          <a:prstGeom prst="roundRect">
            <a:avLst>
              <a:gd name="adj" fmla="val 50000"/>
            </a:avLst>
          </a:prstGeom>
          <a:solidFill>
            <a:srgbClr val="D3D9E1"/>
          </a:solidFill>
          <a:ln>
            <a:noFill/>
          </a:ln>
        </p:spPr>
        <p:txBody>
          <a:bodyPr rtlCol="0" anchor="ctr"/>
          <a:lstStyle/>
          <a:p>
            <a:pPr algn="ctr"/>
          </a:p>
        </p:txBody>
      </p:sp>
      <p:sp>
        <p:nvSpPr>
          <p:cNvPr id="19" name="TextBox 18"/>
          <p:cNvSpPr txBox="1"/>
          <p:nvPr/>
        </p:nvSpPr>
        <p:spPr>
          <a:xfrm>
            <a:off x="6781647" y="5547296"/>
            <a:ext cx="15239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명령 없이 닫힌다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승인권자: 조치마다 정해진 승인 역할</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승인할 수 있는 사람은 화면을 연 사람이 아니라 그 조치에 정해진 </a:t>
            </a:r>
            <a:r>
              <a:rPr sz="1600" b="1">
                <a:solidFill>
                  <a:srgbClr val="1A6FC4"/>
                </a:solidFill>
                <a:latin typeface="맑은 고딕"/>
                <a:ea typeface="맑은 고딕"/>
                <a:cs typeface="맑은 고딕"/>
              </a:rPr>
              <a:t>승인 역할</a:t>
            </a:r>
            <a:r>
              <a:rPr sz="1600" b="0">
                <a:solidFill>
                  <a:srgbClr val="556175"/>
                </a:solidFill>
                <a:latin typeface="맑은 고딕"/>
                <a:ea typeface="맑은 고딕"/>
                <a:cs typeface="맑은 고딕"/>
              </a:rPr>
              <a:t>의 구성원이다.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id" descr="id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조치마다 승인 역할이 있다</a:t>
            </a:r>
          </a:p>
          <a:p>
            <a:pPr algn="l">
              <a:lnSpc>
                <a:spcPct val="110000"/>
              </a:lnSpc>
              <a:spcAft>
                <a:spcPts val="400"/>
              </a:spcAft>
            </a:pPr>
            <a:r>
              <a:rPr sz="1400" b="0">
                <a:solidFill>
                  <a:srgbClr val="1F2A3A"/>
                </a:solidFill>
                <a:latin typeface="맑은 고딕"/>
                <a:ea typeface="맑은 고딕"/>
                <a:cs typeface="맑은 고딕"/>
              </a:rPr>
              <a:t>• 팬 최대 운전: 운전원</a:t>
            </a:r>
          </a:p>
          <a:p>
            <a:pPr algn="l">
              <a:lnSpc>
                <a:spcPct val="110000"/>
              </a:lnSpc>
              <a:spcAft>
                <a:spcPts val="400"/>
              </a:spcAft>
            </a:pPr>
            <a:r>
              <a:rPr sz="1400" b="0">
                <a:solidFill>
                  <a:srgbClr val="1F2A3A"/>
                </a:solidFill>
                <a:latin typeface="맑은 고딕"/>
                <a:ea typeface="맑은 고딕"/>
                <a:cs typeface="맑은 고딕"/>
              </a:rPr>
              <a:t>• 쿨러 핀 세척: 설비보전팀장</a:t>
            </a:r>
          </a:p>
        </p:txBody>
      </p:sp>
      <p:sp>
        <p:nvSpPr>
          <p:cNvPr id="10" name="Rounded Rectangle 9"/>
          <p:cNvSpPr/>
          <p:nvPr/>
        </p:nvSpPr>
        <p:spPr>
          <a:xfrm>
            <a:off x="777240" y="5041392"/>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누가</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list-numbers" descr="list-numbers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역할에는 등급이 있다</a:t>
            </a:r>
          </a:p>
          <a:p>
            <a:pPr algn="l">
              <a:lnSpc>
                <a:spcPct val="110000"/>
              </a:lnSpc>
              <a:spcAft>
                <a:spcPts val="400"/>
              </a:spcAft>
            </a:pPr>
            <a:r>
              <a:rPr sz="1400" b="0">
                <a:solidFill>
                  <a:srgbClr val="1F2A3A"/>
                </a:solidFill>
                <a:latin typeface="맑은 고딕"/>
                <a:ea typeface="맑은 고딕"/>
                <a:cs typeface="맑은 고딕"/>
              </a:rPr>
              <a:t>• 운전원 1</a:t>
            </a:r>
          </a:p>
          <a:p>
            <a:pPr algn="l">
              <a:lnSpc>
                <a:spcPct val="110000"/>
              </a:lnSpc>
              <a:spcAft>
                <a:spcPts val="400"/>
              </a:spcAft>
            </a:pPr>
            <a:r>
              <a:rPr sz="1400" b="0">
                <a:solidFill>
                  <a:srgbClr val="1F2A3A"/>
                </a:solidFill>
                <a:latin typeface="맑은 고딕"/>
                <a:ea typeface="맑은 고딕"/>
                <a:cs typeface="맑은 고딕"/>
              </a:rPr>
              <a:t>• 생산관리자 2 · 설비보전팀장 2</a:t>
            </a:r>
          </a:p>
          <a:p>
            <a:pPr algn="l">
              <a:lnSpc>
                <a:spcPct val="110000"/>
              </a:lnSpc>
              <a:spcAft>
                <a:spcPts val="400"/>
              </a:spcAft>
            </a:pPr>
            <a:r>
              <a:rPr sz="1400" b="0">
                <a:solidFill>
                  <a:srgbClr val="1F2A3A"/>
                </a:solidFill>
                <a:latin typeface="맑은 고딕"/>
                <a:ea typeface="맑은 고딕"/>
                <a:cs typeface="맑은 고딕"/>
              </a:rPr>
              <a:t>• 공장장 3</a:t>
            </a:r>
          </a:p>
        </p:txBody>
      </p:sp>
      <p:sp>
        <p:nvSpPr>
          <p:cNvPr id="16" name="Rounded Rectangle 15"/>
          <p:cNvSpPr/>
          <p:nvPr/>
        </p:nvSpPr>
        <p:spPr>
          <a:xfrm>
            <a:off x="4566818" y="5041392"/>
            <a:ext cx="9753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어디까지</a:t>
            </a:r>
          </a:p>
        </p:txBody>
      </p:sp>
      <p:sp>
        <p:nvSpPr>
          <p:cNvPr id="18" name="Rounded Rectangle 17"/>
          <p:cNvSpPr/>
          <p:nvPr/>
        </p:nvSpPr>
        <p:spPr>
          <a:xfrm>
            <a:off x="8127796"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5CB8F2"/>
          </a:solidFill>
          <a:ln>
            <a:noFill/>
          </a:ln>
        </p:spPr>
        <p:txBody>
          <a:bodyPr rtlCol="0" anchor="ctr"/>
          <a:lstStyle/>
          <a:p>
            <a:pPr algn="ctr"/>
          </a:p>
        </p:txBody>
      </p:sp>
      <p:pic>
        <p:nvPicPr>
          <p:cNvPr id="20" name="아이콘:ban" descr="ban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권한 밖의 승인은 거부된다</a:t>
            </a:r>
          </a:p>
          <a:p>
            <a:pPr algn="l">
              <a:lnSpc>
                <a:spcPct val="110000"/>
              </a:lnSpc>
              <a:spcAft>
                <a:spcPts val="400"/>
              </a:spcAft>
            </a:pPr>
            <a:r>
              <a:rPr sz="1400" b="0">
                <a:solidFill>
                  <a:srgbClr val="1F2A3A"/>
                </a:solidFill>
                <a:latin typeface="맑은 고딕"/>
                <a:ea typeface="맑은 고딕"/>
                <a:cs typeface="맑은 고딕"/>
              </a:rPr>
              <a:t>그 역할의 구성원이 아니거나 등급이 모자라면 승인이 받아들여지지 않는다</a:t>
            </a:r>
          </a:p>
        </p:txBody>
      </p:sp>
      <p:sp>
        <p:nvSpPr>
          <p:cNvPr id="22" name="Rounded Rectangle 21"/>
          <p:cNvSpPr/>
          <p:nvPr/>
        </p:nvSpPr>
        <p:spPr>
          <a:xfrm>
            <a:off x="8356396" y="5041392"/>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경계</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에이전트의 질문: 묻고, 답을 받아, 이어서 처리한다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필수 업무 정보가 없고 도구로도 확인할 수 없을 때 에이전트는 값을 짐작하지 않고 담당자에게 묻고 기다린다.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zoom-question" descr="zoom-question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정보가 없다</a:t>
            </a:r>
          </a:p>
          <a:p>
            <a:pPr algn="ctr">
              <a:lnSpc>
                <a:spcPct val="110000"/>
              </a:lnSpc>
              <a:spcAft>
                <a:spcPts val="400"/>
              </a:spcAft>
            </a:pPr>
            <a:r>
              <a:rPr sz="1350" b="0">
                <a:solidFill>
                  <a:srgbClr val="1F2A3A"/>
                </a:solidFill>
                <a:latin typeface="맑은 고딕"/>
                <a:ea typeface="맑은 고딕"/>
                <a:cs typeface="맑은 고딕"/>
              </a:rPr>
              <a:t>조회할 대상 설비가</a:t>
            </a:r>
          </a:p>
          <a:p>
            <a:pPr algn="ctr">
              <a:lnSpc>
                <a:spcPct val="110000"/>
              </a:lnSpc>
              <a:spcAft>
                <a:spcPts val="400"/>
              </a:spcAft>
            </a:pPr>
            <a:r>
              <a:rPr sz="1350" b="0">
                <a:solidFill>
                  <a:srgbClr val="1F2A3A"/>
                </a:solidFill>
                <a:latin typeface="맑은 고딕"/>
                <a:ea typeface="맑은 고딕"/>
                <a:cs typeface="맑은 고딕"/>
              </a:rPr>
              <a:t>요청에 적혀 있지 않다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4295279" y="2786062"/>
            <a:ext cx="731520" cy="731520"/>
          </a:xfrm>
          <a:prstGeom prst="ellipse">
            <a:avLst/>
          </a:prstGeom>
          <a:solidFill>
            <a:srgbClr val="5CB8F2"/>
          </a:solidFill>
          <a:ln>
            <a:noFill/>
          </a:ln>
        </p:spPr>
        <p:txBody>
          <a:bodyPr rtlCol="0" anchor="ctr"/>
          <a:lstStyle/>
          <a:p>
            <a:pPr algn="ctr"/>
          </a:p>
        </p:txBody>
      </p:sp>
      <p:pic>
        <p:nvPicPr>
          <p:cNvPr id="13" name="아이콘:message-question" descr="message-question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묻고 멈춘다</a:t>
            </a:r>
          </a:p>
          <a:p>
            <a:pPr algn="ctr">
              <a:lnSpc>
                <a:spcPct val="110000"/>
              </a:lnSpc>
              <a:spcAft>
                <a:spcPts val="400"/>
              </a:spcAft>
            </a:pPr>
            <a:r>
              <a:rPr sz="1350" b="0">
                <a:solidFill>
                  <a:srgbClr val="1F2A3A"/>
                </a:solidFill>
                <a:latin typeface="맑은 고딕"/>
                <a:ea typeface="맑은 고딕"/>
                <a:cs typeface="맑은 고딕"/>
              </a:rPr>
              <a:t>「조회할 대상 설비를</a:t>
            </a:r>
          </a:p>
          <a:p>
            <a:pPr algn="ctr">
              <a:lnSpc>
                <a:spcPct val="110000"/>
              </a:lnSpc>
              <a:spcAft>
                <a:spcPts val="400"/>
              </a:spcAft>
            </a:pPr>
            <a:r>
              <a:rPr sz="1350" b="0">
                <a:solidFill>
                  <a:srgbClr val="1F2A3A"/>
                </a:solidFill>
                <a:latin typeface="맑은 고딕"/>
                <a:ea typeface="맑은 고딕"/>
                <a:cs typeface="맑은 고딕"/>
              </a:rPr>
              <a:t>선택해 주세요.」</a:t>
            </a:r>
          </a:p>
          <a:p>
            <a:pPr algn="ctr">
              <a:lnSpc>
                <a:spcPct val="110000"/>
              </a:lnSpc>
              <a:spcAft>
                <a:spcPts val="400"/>
              </a:spcAft>
            </a:pPr>
            <a:r>
              <a:rPr sz="1350" b="0">
                <a:solidFill>
                  <a:srgbClr val="1F2A3A"/>
                </a:solidFill>
                <a:latin typeface="맑은 고딕"/>
                <a:ea typeface="맑은 고딕"/>
                <a:cs typeface="맑은 고딕"/>
              </a:rPr>
              <a:t>선택지: HYD-02, HYD-03</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user-check" descr="user-check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담당자가 답한다</a:t>
            </a:r>
          </a:p>
          <a:p>
            <a:pPr algn="ctr">
              <a:lnSpc>
                <a:spcPct val="110000"/>
              </a:lnSpc>
              <a:spcAft>
                <a:spcPts val="400"/>
              </a:spcAft>
            </a:pPr>
            <a:r>
              <a:rPr sz="1350" b="0">
                <a:solidFill>
                  <a:srgbClr val="1F2A3A"/>
                </a:solidFill>
                <a:latin typeface="맑은 고딕"/>
                <a:ea typeface="맑은 고딕"/>
                <a:cs typeface="맑은 고딕"/>
              </a:rPr>
              <a:t>「HYD-02」</a:t>
            </a:r>
          </a:p>
          <a:p>
            <a:pPr algn="ctr">
              <a:lnSpc>
                <a:spcPct val="110000"/>
              </a:lnSpc>
              <a:spcAft>
                <a:spcPts val="400"/>
              </a:spcAft>
            </a:pPr>
            <a:r>
              <a:rPr sz="1350" b="0">
                <a:solidFill>
                  <a:srgbClr val="1F2A3A"/>
                </a:solidFill>
                <a:latin typeface="맑은 고딕"/>
                <a:ea typeface="맑은 고딕"/>
                <a:cs typeface="맑은 고딕"/>
              </a:rPr>
              <a:t>답은 한 번만 받는다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786062"/>
            <a:ext cx="731520" cy="731520"/>
          </a:xfrm>
          <a:prstGeom prst="ellipse">
            <a:avLst/>
          </a:prstGeom>
          <a:solidFill>
            <a:srgbClr val="FFFFFF"/>
          </a:solidFill>
          <a:ln>
            <a:noFill/>
          </a:ln>
        </p:spPr>
        <p:txBody>
          <a:bodyPr rtlCol="0" anchor="ctr"/>
          <a:lstStyle/>
          <a:p>
            <a:pPr algn="ctr"/>
          </a:p>
        </p:txBody>
      </p:sp>
      <p:pic>
        <p:nvPicPr>
          <p:cNvPr id="23" name="아이콘:player-play" descr="player-play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이어서 처리한다</a:t>
            </a:r>
          </a:p>
          <a:p>
            <a:pPr algn="ctr">
              <a:lnSpc>
                <a:spcPct val="110000"/>
              </a:lnSpc>
              <a:spcAft>
                <a:spcPts val="400"/>
              </a:spcAft>
            </a:pPr>
            <a:r>
              <a:rPr sz="1350" b="0">
                <a:solidFill>
                  <a:srgbClr val="1F2A3A"/>
                </a:solidFill>
                <a:latin typeface="맑은 고딕"/>
                <a:ea typeface="맑은 고딕"/>
                <a:cs typeface="맑은 고딕"/>
              </a:rPr>
              <a:t>하던 실행을 이어</a:t>
            </a:r>
          </a:p>
          <a:p>
            <a:pPr algn="ctr">
              <a:lnSpc>
                <a:spcPct val="110000"/>
              </a:lnSpc>
              <a:spcAft>
                <a:spcPts val="400"/>
              </a:spcAft>
            </a:pPr>
            <a:r>
              <a:rPr sz="1350" b="0">
                <a:solidFill>
                  <a:srgbClr val="1F2A3A"/>
                </a:solidFill>
                <a:latin typeface="맑은 고딕"/>
                <a:ea typeface="맑은 고딕"/>
                <a:cs typeface="맑은 고딕"/>
              </a:rPr>
              <a:t>업무 DB를 조회하고</a:t>
            </a:r>
          </a:p>
          <a:p>
            <a:pPr algn="ctr">
              <a:lnSpc>
                <a:spcPct val="110000"/>
              </a:lnSpc>
              <a:spcAft>
                <a:spcPts val="400"/>
              </a:spcAft>
            </a:pPr>
            <a:r>
              <a:rPr sz="1350" b="0">
                <a:solidFill>
                  <a:srgbClr val="1F2A3A"/>
                </a:solidFill>
                <a:latin typeface="맑은 고딕"/>
                <a:ea typeface="맑은 고딕"/>
                <a:cs typeface="맑은 고딕"/>
              </a:rPr>
              <a:t>HYD-02의 결과를 낸다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「보류」가 가리키는 세 가지 상황</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「보류」라는 한 낱말이 결정이 미뤄진 세 가지 다른 상황을 가리키고, 누가 미루었는가에 따라 담당자가 할 일이 다르다.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상황</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미룬 쪽과 까닭</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담당자가 할 일</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응답 없음</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담당자</a:t>
            </a:r>
          </a:p>
          <a:p>
            <a:pPr algn="l">
              <a:lnSpc>
                <a:spcPct val="110000"/>
              </a:lnSpc>
            </a:pPr>
            <a:r>
              <a:rPr sz="1400" b="0">
                <a:solidFill>
                  <a:srgbClr val="1F2A3A"/>
                </a:solidFill>
                <a:latin typeface="맑은 고딕"/>
                <a:ea typeface="맑은 고딕"/>
                <a:cs typeface="맑은 고딕"/>
              </a:rPr>
              <a:t>아직 승인도 거절도 하지 않았다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승인하거나 거절한다</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에이전트의 보류</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에이전트</a:t>
            </a:r>
          </a:p>
          <a:p>
            <a:pPr algn="l">
              <a:lnSpc>
                <a:spcPct val="110000"/>
              </a:lnSpc>
            </a:pPr>
            <a:r>
              <a:rPr sz="1400" b="0">
                <a:solidFill>
                  <a:srgbClr val="1F2A3A"/>
                </a:solidFill>
                <a:latin typeface="맑은 고딕"/>
                <a:ea typeface="맑은 고딕"/>
                <a:cs typeface="맑은 고딕"/>
              </a:rPr>
              <a:t>근거가 모자라 결과를 내지 않고 멈췄다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재평가를 요청하거나 닫는다</a:t>
            </a:r>
          </a:p>
        </p:txBody>
      </p:sp>
      <p:sp>
        <p:nvSpPr>
          <p:cNvPr id="18" name="Rounded Rectangle 17"/>
          <p:cNvSpPr/>
          <p:nvPr/>
        </p:nvSpPr>
        <p:spPr>
          <a:xfrm>
            <a:off x="548640" y="46817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에이전트의 질문</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에이전트</a:t>
            </a:r>
          </a:p>
          <a:p>
            <a:pPr algn="l">
              <a:lnSpc>
                <a:spcPct val="110000"/>
              </a:lnSpc>
            </a:pPr>
            <a:r>
              <a:rPr sz="1400" b="0">
                <a:solidFill>
                  <a:srgbClr val="1F2A3A"/>
                </a:solidFill>
                <a:latin typeface="맑은 고딕"/>
                <a:ea typeface="맑은 고딕"/>
                <a:cs typeface="맑은 고딕"/>
              </a:rPr>
              <a:t>필수 업무 정보가 없어 묻고 기다린다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질문에 답한다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멈춘 작업 닫기: 끝나지 않는 작업을 사람이 끝낸다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한도를 넘겨 멈춘 에이전트 작업은 저절로 끝나지 않아, 담당자가 사유를 적어 닫아야 처리 건이 끝난다.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a:t>
            </a:r>
          </a:p>
        </p:txBody>
      </p:sp>
      <p:sp>
        <p:nvSpPr>
          <p:cNvPr id="6" name="Rectangle 5"/>
          <p:cNvSpPr/>
          <p:nvPr/>
        </p:nvSpPr>
        <p:spPr>
          <a:xfrm>
            <a:off x="1935441" y="3042094"/>
            <a:ext cx="8320811" cy="36576"/>
          </a:xfrm>
          <a:prstGeom prst="rect">
            <a:avLst/>
          </a:prstGeom>
          <a:solidFill>
            <a:srgbClr val="D3D9E1"/>
          </a:solidFill>
          <a:ln>
            <a:noFill/>
          </a:ln>
        </p:spPr>
        <p:txBody>
          <a:bodyPr rtlCol="0" anchor="ctr"/>
          <a:lstStyle/>
          <a:p>
            <a:pPr algn="ctr"/>
          </a:p>
        </p:txBody>
      </p:sp>
      <p:sp>
        <p:nvSpPr>
          <p:cNvPr id="7" name="Oval 6"/>
          <p:cNvSpPr/>
          <p:nvPr/>
        </p:nvSpPr>
        <p:spPr>
          <a:xfrm>
            <a:off x="1501101" y="2626042"/>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player-stop" descr="player-stop_13294B_1.6.png"/>
          <p:cNvPicPr>
            <a:picLocks noChangeAspect="1"/>
          </p:cNvPicPr>
          <p:nvPr/>
        </p:nvPicPr>
        <p:blipFill>
          <a:blip r:embed="rId3"/>
          <a:stretch>
            <a:fillRect/>
          </a:stretch>
        </p:blipFill>
        <p:spPr>
          <a:xfrm>
            <a:off x="1718271" y="2843212"/>
            <a:ext cx="434340" cy="434340"/>
          </a:xfrm>
          <a:prstGeom prst="rect">
            <a:avLst/>
          </a:prstGeom>
        </p:spPr>
      </p:pic>
      <p:sp>
        <p:nvSpPr>
          <p:cNvPr id="9" name="Oval 8"/>
          <p:cNvSpPr/>
          <p:nvPr/>
        </p:nvSpPr>
        <p:spPr>
          <a:xfrm>
            <a:off x="2095461" y="2580322"/>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2095461"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1"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작업이 멈춘다</a:t>
            </a:r>
          </a:p>
          <a:p>
            <a:pPr algn="ctr">
              <a:lnSpc>
                <a:spcPct val="110000"/>
              </a:lnSpc>
              <a:spcAft>
                <a:spcPts val="400"/>
              </a:spcAft>
            </a:pPr>
            <a:r>
              <a:rPr sz="1350" b="0">
                <a:solidFill>
                  <a:srgbClr val="1F2A3A"/>
                </a:solidFill>
                <a:latin typeface="맑은 고딕"/>
                <a:ea typeface="맑은 고딕"/>
                <a:cs typeface="맑은 고딕"/>
              </a:rPr>
              <a:t>실행 시간 1,800초나 형식 교정 두 번의 한도를 넘기면 결과 없이 멈춘 상태로 남는다</a:t>
            </a:r>
          </a:p>
        </p:txBody>
      </p:sp>
      <p:sp>
        <p:nvSpPr>
          <p:cNvPr id="12" name="Oval 11"/>
          <p:cNvSpPr/>
          <p:nvPr/>
        </p:nvSpPr>
        <p:spPr>
          <a:xfrm>
            <a:off x="4274705" y="2626042"/>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history" descr="history_13294B_1.6.png"/>
          <p:cNvPicPr>
            <a:picLocks noChangeAspect="1"/>
          </p:cNvPicPr>
          <p:nvPr/>
        </p:nvPicPr>
        <p:blipFill>
          <a:blip r:embed="rId4"/>
          <a:stretch>
            <a:fillRect/>
          </a:stretch>
        </p:blipFill>
        <p:spPr>
          <a:xfrm>
            <a:off x="4491875" y="2843212"/>
            <a:ext cx="434340" cy="434340"/>
          </a:xfrm>
          <a:prstGeom prst="rect">
            <a:avLst/>
          </a:prstGeom>
        </p:spPr>
      </p:pic>
      <p:sp>
        <p:nvSpPr>
          <p:cNvPr id="14" name="Oval 13"/>
          <p:cNvSpPr/>
          <p:nvPr/>
        </p:nvSpPr>
        <p:spPr>
          <a:xfrm>
            <a:off x="4869065" y="2580322"/>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4869065"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3395395"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담당자가 기록을 읽는다</a:t>
            </a:r>
          </a:p>
          <a:p>
            <a:pPr algn="ctr">
              <a:lnSpc>
                <a:spcPct val="110000"/>
              </a:lnSpc>
              <a:spcAft>
                <a:spcPts val="400"/>
              </a:spcAft>
            </a:pPr>
            <a:r>
              <a:rPr sz="1350" b="0">
                <a:solidFill>
                  <a:srgbClr val="1F2A3A"/>
                </a:solidFill>
                <a:latin typeface="맑은 고딕"/>
                <a:ea typeface="맑은 고딕"/>
                <a:cs typeface="맑은 고딕"/>
              </a:rPr>
              <a:t>어디까지 진행되었고 왜 멈췄는지를 처리 기록에서 확인한다</a:t>
            </a:r>
          </a:p>
        </p:txBody>
      </p:sp>
      <p:sp>
        <p:nvSpPr>
          <p:cNvPr id="17" name="Oval 16"/>
          <p:cNvSpPr/>
          <p:nvPr/>
        </p:nvSpPr>
        <p:spPr>
          <a:xfrm>
            <a:off x="7048309" y="2626042"/>
            <a:ext cx="868680" cy="868680"/>
          </a:xfrm>
          <a:prstGeom prst="ellipse">
            <a:avLst/>
          </a:prstGeom>
          <a:solidFill>
            <a:srgbClr val="5CB8F2"/>
          </a:solidFill>
          <a:ln>
            <a:noFill/>
          </a:ln>
        </p:spPr>
        <p:txBody>
          <a:bodyPr rtlCol="0" anchor="ctr"/>
          <a:lstStyle/>
          <a:p>
            <a:pPr algn="ctr"/>
          </a:p>
        </p:txBody>
      </p:sp>
      <p:pic>
        <p:nvPicPr>
          <p:cNvPr id="18" name="아이콘:pencil" descr="pencil_13294B_1.6.png"/>
          <p:cNvPicPr>
            <a:picLocks noChangeAspect="1"/>
          </p:cNvPicPr>
          <p:nvPr/>
        </p:nvPicPr>
        <p:blipFill>
          <a:blip r:embed="rId5"/>
          <a:stretch>
            <a:fillRect/>
          </a:stretch>
        </p:blipFill>
        <p:spPr>
          <a:xfrm>
            <a:off x="7265479" y="2843212"/>
            <a:ext cx="434340" cy="434340"/>
          </a:xfrm>
          <a:prstGeom prst="rect">
            <a:avLst/>
          </a:prstGeom>
        </p:spPr>
      </p:pic>
      <p:sp>
        <p:nvSpPr>
          <p:cNvPr id="19" name="Oval 18"/>
          <p:cNvSpPr/>
          <p:nvPr/>
        </p:nvSpPr>
        <p:spPr>
          <a:xfrm>
            <a:off x="7642669" y="2580322"/>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7642669"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6168999"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사유를 적고 닫는다</a:t>
            </a:r>
          </a:p>
          <a:p>
            <a:pPr algn="ctr">
              <a:lnSpc>
                <a:spcPct val="110000"/>
              </a:lnSpc>
              <a:spcAft>
                <a:spcPts val="400"/>
              </a:spcAft>
            </a:pPr>
            <a:r>
              <a:rPr sz="1350" b="0">
                <a:solidFill>
                  <a:srgbClr val="1F2A3A"/>
                </a:solidFill>
                <a:latin typeface="맑은 고딕"/>
                <a:ea typeface="맑은 고딕"/>
                <a:cs typeface="맑은 고딕"/>
              </a:rPr>
              <a:t>닫은 사람과 사유가 기록에 남고, 그 작업은 취소로 표시된다</a:t>
            </a:r>
          </a:p>
        </p:txBody>
      </p:sp>
      <p:sp>
        <p:nvSpPr>
          <p:cNvPr id="22" name="Oval 21"/>
          <p:cNvSpPr/>
          <p:nvPr/>
        </p:nvSpPr>
        <p:spPr>
          <a:xfrm>
            <a:off x="9821913" y="2626042"/>
            <a:ext cx="868680" cy="868680"/>
          </a:xfrm>
          <a:prstGeom prst="ellipse">
            <a:avLst/>
          </a:prstGeom>
          <a:solidFill>
            <a:srgbClr val="FFFFFF"/>
          </a:solidFill>
          <a:ln w="25400">
            <a:solidFill>
              <a:srgbClr val="13294B"/>
            </a:solidFill>
          </a:ln>
        </p:spPr>
        <p:txBody>
          <a:bodyPr rtlCol="0" anchor="ctr"/>
          <a:lstStyle/>
          <a:p>
            <a:pPr algn="ctr"/>
          </a:p>
        </p:txBody>
      </p:sp>
      <p:pic>
        <p:nvPicPr>
          <p:cNvPr id="23" name="아이콘:circle-check" descr="circle-check_13294B_1.6.png"/>
          <p:cNvPicPr>
            <a:picLocks noChangeAspect="1"/>
          </p:cNvPicPr>
          <p:nvPr/>
        </p:nvPicPr>
        <p:blipFill>
          <a:blip r:embed="rId6"/>
          <a:stretch>
            <a:fillRect/>
          </a:stretch>
        </p:blipFill>
        <p:spPr>
          <a:xfrm>
            <a:off x="10039083" y="2843212"/>
            <a:ext cx="434340" cy="434340"/>
          </a:xfrm>
          <a:prstGeom prst="rect">
            <a:avLst/>
          </a:prstGeom>
        </p:spPr>
      </p:pic>
      <p:sp>
        <p:nvSpPr>
          <p:cNvPr id="24" name="Oval 23"/>
          <p:cNvSpPr/>
          <p:nvPr/>
        </p:nvSpPr>
        <p:spPr>
          <a:xfrm>
            <a:off x="10416273" y="2580322"/>
            <a:ext cx="347472" cy="347472"/>
          </a:xfrm>
          <a:prstGeom prst="ellipse">
            <a:avLst/>
          </a:prstGeom>
          <a:solidFill>
            <a:srgbClr val="13294B"/>
          </a:solidFill>
          <a:ln>
            <a:noFill/>
          </a:ln>
        </p:spPr>
        <p:txBody>
          <a:bodyPr rtlCol="0" anchor="ctr"/>
          <a:lstStyle/>
          <a:p>
            <a:pPr algn="ctr"/>
          </a:p>
        </p:txBody>
      </p:sp>
      <p:sp>
        <p:nvSpPr>
          <p:cNvPr id="25" name="TextBox 24"/>
          <p:cNvSpPr txBox="1"/>
          <p:nvPr/>
        </p:nvSpPr>
        <p:spPr>
          <a:xfrm>
            <a:off x="10416273"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4</a:t>
            </a:r>
          </a:p>
        </p:txBody>
      </p:sp>
      <p:sp>
        <p:nvSpPr>
          <p:cNvPr id="26" name="TextBox 25"/>
          <p:cNvSpPr txBox="1"/>
          <p:nvPr/>
        </p:nvSpPr>
        <p:spPr>
          <a:xfrm>
            <a:off x="8942603"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처리 건이 끝난다</a:t>
            </a:r>
          </a:p>
          <a:p>
            <a:pPr algn="ctr">
              <a:lnSpc>
                <a:spcPct val="110000"/>
              </a:lnSpc>
              <a:spcAft>
                <a:spcPts val="400"/>
              </a:spcAft>
            </a:pPr>
            <a:r>
              <a:rPr sz="1350" b="0">
                <a:solidFill>
                  <a:srgbClr val="1F2A3A"/>
                </a:solidFill>
                <a:latin typeface="맑은 고딕"/>
                <a:ea typeface="맑은 고딕"/>
                <a:cs typeface="맑은 고딕"/>
              </a:rPr>
              <a:t>열려 있는 다른 작업이 없으면 처리 건은 사람이 닫았다는 표시와 함께 끝난다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가드레일: 추천안이 사람에게 올라가기 전의 자동 검사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1">
                <a:solidFill>
                  <a:srgbClr val="1A6FC4"/>
                </a:solidFill>
                <a:latin typeface="맑은 고딕"/>
                <a:ea typeface="맑은 고딕"/>
                <a:cs typeface="맑은 고딕"/>
              </a:rPr>
              <a:t>가드레일</a:t>
            </a:r>
            <a:r>
              <a:rPr sz="1600" b="0">
                <a:solidFill>
                  <a:srgbClr val="556175"/>
                </a:solidFill>
                <a:latin typeface="맑은 고딕"/>
                <a:ea typeface="맑은 고딕"/>
                <a:cs typeface="맑은 고딕"/>
              </a:rPr>
              <a:t>은 추천안이 담당자에게 올라가기 전에 시스템이 정해 둔 규칙에 대어 보는 자동 검사이다.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가드레일</a:t>
            </a:r>
          </a:p>
          <a:p>
            <a:pPr algn="l">
              <a:lnSpc>
                <a:spcPct val="110000"/>
              </a:lnSpc>
              <a:spcAft>
                <a:spcPts val="200"/>
              </a:spcAft>
            </a:pPr>
            <a:r>
              <a:rPr sz="1150" b="0">
                <a:solidFill>
                  <a:srgbClr val="556175"/>
                </a:solidFill>
                <a:latin typeface="맑은 고딕"/>
                <a:ea typeface="맑은 고딕"/>
                <a:cs typeface="맑은 고딕"/>
              </a:rPr>
              <a:t>Guardrail</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에이전트의 출력이 정해진 규칙을 지켰는지를 시스템이 검사하는 장치이다.</a:t>
            </a:r>
          </a:p>
          <a:p>
            <a:pPr algn="l">
              <a:lnSpc>
                <a:spcPct val="110000"/>
              </a:lnSpc>
              <a:spcAft>
                <a:spcPts val="300"/>
              </a:spcAft>
            </a:pPr>
            <a:r>
              <a:rPr sz="1400" b="0">
                <a:solidFill>
                  <a:srgbClr val="1F2A3A"/>
                </a:solidFill>
                <a:latin typeface="맑은 고딕"/>
                <a:ea typeface="맑은 고딕"/>
                <a:cs typeface="맑은 고딕"/>
              </a:rPr>
              <a:t>모델에게 다시 묻는 것이 아니라 정해 둔 규칙에 대어 본다.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추천안에서 검사하는 것</a:t>
            </a:r>
          </a:p>
          <a:p>
            <a:pPr algn="l">
              <a:lnSpc>
                <a:spcPct val="110000"/>
              </a:lnSpc>
              <a:spcAft>
                <a:spcPts val="200"/>
              </a:spcAft>
            </a:pPr>
            <a:r>
              <a:rPr sz="1150" b="0">
                <a:solidFill>
                  <a:srgbClr val="556175"/>
                </a:solidFill>
                <a:latin typeface="맑은 고딕"/>
                <a:ea typeface="맑은 고딕"/>
                <a:cs typeface="맑은 고딕"/>
              </a:rPr>
              <a:t>네 가지</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후보마다 그 후보를 고른 규칙의 인용이 있는가</a:t>
            </a:r>
          </a:p>
          <a:p>
            <a:pPr algn="l">
              <a:lnSpc>
                <a:spcPct val="110000"/>
              </a:lnSpc>
              <a:spcAft>
                <a:spcPts val="300"/>
              </a:spcAft>
            </a:pPr>
            <a:r>
              <a:rPr sz="1400" b="0">
                <a:solidFill>
                  <a:srgbClr val="1F2A3A"/>
                </a:solidFill>
                <a:latin typeface="맑은 고딕"/>
                <a:ea typeface="맑은 고딕"/>
                <a:cs typeface="맑은 고딕"/>
              </a:rPr>
              <a:t>추천이 제외 규칙에 걸려 있지 않은가</a:t>
            </a:r>
          </a:p>
          <a:p>
            <a:pPr algn="l">
              <a:lnSpc>
                <a:spcPct val="110000"/>
              </a:lnSpc>
              <a:spcAft>
                <a:spcPts val="300"/>
              </a:spcAft>
            </a:pPr>
            <a:r>
              <a:rPr sz="1400" b="0">
                <a:solidFill>
                  <a:srgbClr val="1F2A3A"/>
                </a:solidFill>
                <a:latin typeface="맑은 고딕"/>
                <a:ea typeface="맑은 고딕"/>
                <a:cs typeface="맑은 고딕"/>
              </a:rPr>
              <a:t>추천에 승인 역할이 붙어 있는가</a:t>
            </a:r>
          </a:p>
          <a:p>
            <a:pPr algn="l">
              <a:lnSpc>
                <a:spcPct val="110000"/>
              </a:lnSpc>
              <a:spcAft>
                <a:spcPts val="300"/>
              </a:spcAft>
            </a:pPr>
            <a:r>
              <a:rPr sz="1400" b="0">
                <a:solidFill>
                  <a:srgbClr val="1F2A3A"/>
                </a:solidFill>
                <a:latin typeface="맑은 고딕"/>
                <a:ea typeface="맑은 고딕"/>
                <a:cs typeface="맑은 고딕"/>
              </a:rPr>
              <a:t>추천에 SOP 단계가 붙어 있는가</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어겼을 때</a:t>
            </a:r>
          </a:p>
          <a:p>
            <a:pPr algn="l">
              <a:lnSpc>
                <a:spcPct val="110000"/>
              </a:lnSpc>
              <a:spcAft>
                <a:spcPts val="200"/>
              </a:spcAft>
            </a:pPr>
            <a:r>
              <a:rPr sz="1150" b="0">
                <a:solidFill>
                  <a:srgbClr val="556175"/>
                </a:solidFill>
                <a:latin typeface="맑은 고딕"/>
                <a:ea typeface="맑은 고딕"/>
                <a:cs typeface="맑은 고딕"/>
              </a:rPr>
              <a:t>제출 거부</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추천안은 제출되지 않고 담당자의 승인 화면에 올라가지 않는다.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가드레일의 통과와 사람의 승인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가드레일의 통과와 AI의 검토는 올려도 된다는 확인이고, 실행해도 된다는 결정은 사람의 승인에서만 나온다.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14</a:t>
            </a:r>
          </a:p>
        </p:txBody>
      </p:sp>
      <p:pic>
        <p:nvPicPr>
          <p:cNvPr id="6" name="삽화:두관문.svg" descr="illust_6170194520989995767_179173607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92018" y="3991356"/>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
        <p:nvSpPr>
          <p:cNvPr id="8" name="TextBox 7"/>
          <p:cNvSpPr txBox="1"/>
          <p:nvPr/>
        </p:nvSpPr>
        <p:spPr>
          <a:xfrm>
            <a:off x="2713904" y="3991356"/>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추천안</a:t>
            </a:r>
          </a:p>
        </p:txBody>
      </p:sp>
      <p:sp>
        <p:nvSpPr>
          <p:cNvPr id="9" name="TextBox 8"/>
          <p:cNvSpPr txBox="1"/>
          <p:nvPr/>
        </p:nvSpPr>
        <p:spPr>
          <a:xfrm>
            <a:off x="4241233" y="1769455"/>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가드레일</a:t>
            </a:r>
          </a:p>
          <a:p>
            <a:pPr algn="ctr">
              <a:lnSpc>
                <a:spcPct val="110000"/>
              </a:lnSpc>
              <a:spcAft>
                <a:spcPts val="100"/>
              </a:spcAft>
            </a:pPr>
            <a:r>
              <a:rPr sz="1300" b="0">
                <a:solidFill>
                  <a:srgbClr val="556175"/>
                </a:solidFill>
                <a:latin typeface="맑은 고딕"/>
                <a:ea typeface="맑은 고딕"/>
                <a:cs typeface="맑은 고딕"/>
              </a:rPr>
              <a:t>시스템의 자동 검사</a:t>
            </a:r>
          </a:p>
        </p:txBody>
      </p:sp>
      <p:sp>
        <p:nvSpPr>
          <p:cNvPr id="10" name="TextBox 9"/>
          <p:cNvSpPr txBox="1"/>
          <p:nvPr/>
        </p:nvSpPr>
        <p:spPr>
          <a:xfrm>
            <a:off x="6597684" y="1769455"/>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사람의 승인</a:t>
            </a:r>
          </a:p>
          <a:p>
            <a:pPr algn="ctr">
              <a:lnSpc>
                <a:spcPct val="110000"/>
              </a:lnSpc>
              <a:spcAft>
                <a:spcPts val="100"/>
              </a:spcAft>
            </a:pPr>
            <a:r>
              <a:rPr sz="1300" b="0">
                <a:solidFill>
                  <a:srgbClr val="556175"/>
                </a:solidFill>
                <a:latin typeface="맑은 고딕"/>
                <a:ea typeface="맑은 고딕"/>
                <a:cs typeface="맑은 고딕"/>
              </a:rPr>
              <a:t>승인 역할의 담당자</a:t>
            </a:r>
          </a:p>
        </p:txBody>
      </p:sp>
      <p:sp>
        <p:nvSpPr>
          <p:cNvPr id="11" name="TextBox 10"/>
          <p:cNvSpPr txBox="1"/>
          <p:nvPr/>
        </p:nvSpPr>
        <p:spPr>
          <a:xfrm>
            <a:off x="6019481" y="2809494"/>
            <a:ext cx="98185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통과</a:t>
            </a:r>
          </a:p>
        </p:txBody>
      </p:sp>
      <p:sp>
        <p:nvSpPr>
          <p:cNvPr id="12" name="TextBox 11"/>
          <p:cNvSpPr txBox="1"/>
          <p:nvPr/>
        </p:nvSpPr>
        <p:spPr>
          <a:xfrm>
            <a:off x="8397751" y="2809494"/>
            <a:ext cx="98185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a:t>
            </a:r>
          </a:p>
        </p:txBody>
      </p:sp>
      <p:sp>
        <p:nvSpPr>
          <p:cNvPr id="13" name="TextBox 12"/>
          <p:cNvSpPr txBox="1"/>
          <p:nvPr/>
        </p:nvSpPr>
        <p:spPr>
          <a:xfrm>
            <a:off x="9335967" y="3991356"/>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설비 명령</a:t>
            </a:r>
          </a:p>
        </p:txBody>
      </p:sp>
      <p:sp>
        <p:nvSpPr>
          <p:cNvPr id="14" name="TextBox 13"/>
          <p:cNvSpPr txBox="1"/>
          <p:nvPr/>
        </p:nvSpPr>
        <p:spPr>
          <a:xfrm>
            <a:off x="5659467" y="5362315"/>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제출되지 않는다</a:t>
            </a:r>
          </a:p>
          <a:p>
            <a:pPr algn="ctr">
              <a:lnSpc>
                <a:spcPct val="110000"/>
              </a:lnSpc>
              <a:spcAft>
                <a:spcPts val="100"/>
              </a:spcAft>
            </a:pPr>
            <a:r>
              <a:rPr sz="1300" b="0">
                <a:solidFill>
                  <a:srgbClr val="556175"/>
                </a:solidFill>
                <a:latin typeface="맑은 고딕"/>
                <a:ea typeface="맑은 고딕"/>
                <a:cs typeface="맑은 고딕"/>
              </a:rPr>
              <a:t>규칙을 어긴 추천안</a:t>
            </a:r>
          </a:p>
        </p:txBody>
      </p:sp>
      <p:sp>
        <p:nvSpPr>
          <p:cNvPr id="15" name="TextBox 14"/>
          <p:cNvSpPr txBox="1"/>
          <p:nvPr/>
        </p:nvSpPr>
        <p:spPr>
          <a:xfrm>
            <a:off x="8168651" y="5362315"/>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명령 없이 닫힌다</a:t>
            </a:r>
          </a:p>
          <a:p>
            <a:pPr algn="ctr">
              <a:lnSpc>
                <a:spcPct val="110000"/>
              </a:lnSpc>
              <a:spcAft>
                <a:spcPts val="100"/>
              </a:spcAft>
            </a:pPr>
            <a:r>
              <a:rPr sz="1300" b="0">
                <a:solidFill>
                  <a:srgbClr val="556175"/>
                </a:solidFill>
                <a:latin typeface="맑은 고딕"/>
                <a:ea typeface="맑은 고딕"/>
                <a:cs typeface="맑은 고딕"/>
              </a:rPr>
              <a:t>거절한 추천안</a:t>
            </a:r>
          </a:p>
        </p:txBody>
      </p:sp>
      <p:sp>
        <p:nvSpPr>
          <p:cNvPr id="16" name="TextBox 15"/>
          <p:cNvSpPr txBox="1"/>
          <p:nvPr/>
        </p:nvSpPr>
        <p:spPr>
          <a:xfrm>
            <a:off x="859290" y="4842296"/>
            <a:ext cx="3272848" cy="980185"/>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AI의 검토</a:t>
            </a:r>
          </a:p>
          <a:p>
            <a:pPr algn="ctr">
              <a:lnSpc>
                <a:spcPct val="110000"/>
              </a:lnSpc>
              <a:spcAft>
                <a:spcPts val="100"/>
              </a:spcAft>
            </a:pPr>
            <a:r>
              <a:rPr sz="1300" b="0">
                <a:solidFill>
                  <a:srgbClr val="556175"/>
                </a:solidFill>
                <a:latin typeface="맑은 고딕"/>
                <a:ea typeface="맑은 고딕"/>
                <a:cs typeface="맑은 고딕"/>
              </a:rPr>
              <a:t>에이전트의 자기 검토와</a:t>
            </a:r>
          </a:p>
          <a:p>
            <a:pPr algn="ctr">
              <a:lnSpc>
                <a:spcPct val="110000"/>
              </a:lnSpc>
              <a:spcAft>
                <a:spcPts val="100"/>
              </a:spcAft>
            </a:pPr>
            <a:r>
              <a:rPr sz="1300" b="0">
                <a:solidFill>
                  <a:srgbClr val="556175"/>
                </a:solidFill>
                <a:latin typeface="맑은 고딕"/>
                <a:ea typeface="맑은 고딕"/>
                <a:cs typeface="맑은 고딕"/>
              </a:rPr>
              <a:t>다른 에이전트의 검토도</a:t>
            </a:r>
          </a:p>
          <a:p>
            <a:pPr algn="ctr">
              <a:lnSpc>
                <a:spcPct val="110000"/>
              </a:lnSpc>
              <a:spcAft>
                <a:spcPts val="100"/>
              </a:spcAft>
            </a:pPr>
            <a:r>
              <a:rPr sz="1300" b="0">
                <a:solidFill>
                  <a:srgbClr val="556175"/>
                </a:solidFill>
                <a:latin typeface="맑은 고딕"/>
                <a:ea typeface="맑은 고딕"/>
                <a:cs typeface="맑은 고딕"/>
              </a:rPr>
              <a:t>승인이 아니다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명세 주도 개발:</a:t>
            </a:r>
          </a:p>
          <a:p>
            <a:pPr algn="l">
              <a:lnSpc>
                <a:spcPct val="110000"/>
              </a:lnSpc>
            </a:pPr>
            <a:r>
              <a:rPr sz="3400" b="1">
                <a:solidFill>
                  <a:srgbClr val="13294B"/>
                </a:solidFill>
                <a:latin typeface="맑은 고딕"/>
                <a:ea typeface="맑은 고딕"/>
                <a:cs typeface="맑은 고딕"/>
              </a:rPr>
              <a:t>요구사항 변경과 기존 기능의 보존</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에이전트를 고칠 때 달라지는 것과 지킬 것을 구현 전에 정하는 방법</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잘 동작하는 에이전트에 붙은 새 요구 한 문장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한 문장으로 온 변경 요청에는 바뀌면 안 되는 것이 적혀 있지 않다.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16</a:t>
            </a:r>
          </a:p>
        </p:txBody>
      </p:sp>
      <p:sp>
        <p:nvSpPr>
          <p:cNvPr id="6" name="Rounded Rectangle 5"/>
          <p:cNvSpPr/>
          <p:nvPr/>
        </p:nvSpPr>
        <p:spPr>
          <a:xfrm>
            <a:off x="548640" y="2562860"/>
            <a:ext cx="11094415" cy="1371600"/>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822959" y="2562860"/>
            <a:ext cx="10545775" cy="137160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「긴급한 경보는 빨리</a:t>
            </a:r>
          </a:p>
          <a:p>
            <a:pPr algn="ctr">
              <a:lnSpc>
                <a:spcPct val="110000"/>
              </a:lnSpc>
            </a:pPr>
            <a:r>
              <a:rPr sz="2600" b="1">
                <a:solidFill>
                  <a:srgbClr val="13294B"/>
                </a:solidFill>
                <a:latin typeface="맑은 고딕"/>
                <a:ea typeface="맑은 고딕"/>
                <a:cs typeface="맑은 고딕"/>
              </a:rPr>
              <a:t>처리되게 해 주세요.」</a:t>
            </a:r>
          </a:p>
        </p:txBody>
      </p:sp>
      <p:sp>
        <p:nvSpPr>
          <p:cNvPr id="8" name="Oval 7"/>
          <p:cNvSpPr/>
          <p:nvPr/>
        </p:nvSpPr>
        <p:spPr>
          <a:xfrm>
            <a:off x="548640" y="4300220"/>
            <a:ext cx="731520" cy="731520"/>
          </a:xfrm>
          <a:prstGeom prst="ellipse">
            <a:avLst/>
          </a:prstGeom>
          <a:solidFill>
            <a:srgbClr val="E7F3FD"/>
          </a:solidFill>
          <a:ln>
            <a:noFill/>
          </a:ln>
        </p:spPr>
        <p:txBody>
          <a:bodyPr rtlCol="0" anchor="ctr"/>
          <a:lstStyle/>
          <a:p>
            <a:pPr algn="ctr"/>
          </a:p>
        </p:txBody>
      </p:sp>
      <p:pic>
        <p:nvPicPr>
          <p:cNvPr id="9" name="아이콘:help-circle" descr="help-circle_13294B_1.6.png"/>
          <p:cNvPicPr>
            <a:picLocks noChangeAspect="1"/>
          </p:cNvPicPr>
          <p:nvPr/>
        </p:nvPicPr>
        <p:blipFill>
          <a:blip r:embed="rId3"/>
          <a:stretch>
            <a:fillRect/>
          </a:stretch>
        </p:blipFill>
        <p:spPr>
          <a:xfrm>
            <a:off x="702259" y="4453839"/>
            <a:ext cx="424281" cy="424281"/>
          </a:xfrm>
          <a:prstGeom prst="rect">
            <a:avLst/>
          </a:prstGeom>
        </p:spPr>
      </p:pic>
      <p:sp>
        <p:nvSpPr>
          <p:cNvPr id="10" name="TextBox 9"/>
          <p:cNvSpPr txBox="1"/>
          <p:nvPr/>
        </p:nvSpPr>
        <p:spPr>
          <a:xfrm>
            <a:off x="1371600" y="42545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긴급의 기준</a:t>
            </a:r>
          </a:p>
          <a:p>
            <a:pPr algn="l">
              <a:lnSpc>
                <a:spcPct val="110000"/>
              </a:lnSpc>
              <a:spcAft>
                <a:spcPts val="400"/>
              </a:spcAft>
            </a:pPr>
            <a:r>
              <a:rPr sz="1400" b="0">
                <a:solidFill>
                  <a:srgbClr val="1F2A3A"/>
                </a:solidFill>
                <a:latin typeface="맑은 고딕"/>
                <a:ea typeface="맑은 고딕"/>
                <a:cs typeface="맑은 고딕"/>
              </a:rPr>
              <a:t>어떤 경보가 긴급한지 정하지 않았다</a:t>
            </a:r>
          </a:p>
        </p:txBody>
      </p:sp>
      <p:sp>
        <p:nvSpPr>
          <p:cNvPr id="11" name="Oval 10"/>
          <p:cNvSpPr/>
          <p:nvPr/>
        </p:nvSpPr>
        <p:spPr>
          <a:xfrm>
            <a:off x="4338218" y="4300220"/>
            <a:ext cx="731520" cy="731520"/>
          </a:xfrm>
          <a:prstGeom prst="ellipse">
            <a:avLst/>
          </a:prstGeom>
          <a:solidFill>
            <a:srgbClr val="E7F3FD"/>
          </a:solidFill>
          <a:ln>
            <a:noFill/>
          </a:ln>
        </p:spPr>
        <p:txBody>
          <a:bodyPr rtlCol="0" anchor="ctr"/>
          <a:lstStyle/>
          <a:p>
            <a:pPr algn="ctr"/>
          </a:p>
        </p:txBody>
      </p:sp>
      <p:pic>
        <p:nvPicPr>
          <p:cNvPr id="12" name="아이콘:help-circle" descr="help-circle_13294B_1.6.png"/>
          <p:cNvPicPr>
            <a:picLocks noChangeAspect="1"/>
          </p:cNvPicPr>
          <p:nvPr/>
        </p:nvPicPr>
        <p:blipFill>
          <a:blip r:embed="rId3"/>
          <a:stretch>
            <a:fillRect/>
          </a:stretch>
        </p:blipFill>
        <p:spPr>
          <a:xfrm>
            <a:off x="4491837" y="4453839"/>
            <a:ext cx="424281" cy="424281"/>
          </a:xfrm>
          <a:prstGeom prst="rect">
            <a:avLst/>
          </a:prstGeom>
        </p:spPr>
      </p:pic>
      <p:sp>
        <p:nvSpPr>
          <p:cNvPr id="13" name="TextBox 12"/>
          <p:cNvSpPr txBox="1"/>
          <p:nvPr/>
        </p:nvSpPr>
        <p:spPr>
          <a:xfrm>
            <a:off x="5161178" y="42545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빨라지는 방법</a:t>
            </a:r>
          </a:p>
          <a:p>
            <a:pPr algn="l">
              <a:lnSpc>
                <a:spcPct val="110000"/>
              </a:lnSpc>
              <a:spcAft>
                <a:spcPts val="400"/>
              </a:spcAft>
            </a:pPr>
            <a:r>
              <a:rPr sz="1400" b="0">
                <a:solidFill>
                  <a:srgbClr val="1F2A3A"/>
                </a:solidFill>
                <a:latin typeface="맑은 고딕"/>
                <a:ea typeface="맑은 고딕"/>
                <a:cs typeface="맑은 고딕"/>
              </a:rPr>
              <a:t>무엇을 바꾸어 빠르게 할지는 맡겨져 있다</a:t>
            </a:r>
          </a:p>
        </p:txBody>
      </p:sp>
      <p:sp>
        <p:nvSpPr>
          <p:cNvPr id="14" name="Oval 13"/>
          <p:cNvSpPr/>
          <p:nvPr/>
        </p:nvSpPr>
        <p:spPr>
          <a:xfrm>
            <a:off x="8127796" y="4300220"/>
            <a:ext cx="731520" cy="731520"/>
          </a:xfrm>
          <a:prstGeom prst="ellipse">
            <a:avLst/>
          </a:prstGeom>
          <a:solidFill>
            <a:srgbClr val="E7F3FD"/>
          </a:solidFill>
          <a:ln>
            <a:noFill/>
          </a:ln>
        </p:spPr>
        <p:txBody>
          <a:bodyPr rtlCol="0" anchor="ctr"/>
          <a:lstStyle/>
          <a:p>
            <a:pPr algn="ctr"/>
          </a:p>
        </p:txBody>
      </p:sp>
      <p:pic>
        <p:nvPicPr>
          <p:cNvPr id="15" name="아이콘:help-circle" descr="help-circle_13294B_1.6.png"/>
          <p:cNvPicPr>
            <a:picLocks noChangeAspect="1"/>
          </p:cNvPicPr>
          <p:nvPr/>
        </p:nvPicPr>
        <p:blipFill>
          <a:blip r:embed="rId3"/>
          <a:stretch>
            <a:fillRect/>
          </a:stretch>
        </p:blipFill>
        <p:spPr>
          <a:xfrm>
            <a:off x="8281416" y="4453839"/>
            <a:ext cx="424281" cy="424281"/>
          </a:xfrm>
          <a:prstGeom prst="rect">
            <a:avLst/>
          </a:prstGeom>
        </p:spPr>
      </p:pic>
      <p:sp>
        <p:nvSpPr>
          <p:cNvPr id="16" name="TextBox 15"/>
          <p:cNvSpPr txBox="1"/>
          <p:nvPr/>
        </p:nvSpPr>
        <p:spPr>
          <a:xfrm>
            <a:off x="8950756" y="42545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그대로 둘 것</a:t>
            </a:r>
          </a:p>
          <a:p>
            <a:pPr algn="l">
              <a:lnSpc>
                <a:spcPct val="110000"/>
              </a:lnSpc>
              <a:spcAft>
                <a:spcPts val="400"/>
              </a:spcAft>
            </a:pPr>
            <a:r>
              <a:rPr sz="1400" b="0">
                <a:solidFill>
                  <a:srgbClr val="1F2A3A"/>
                </a:solidFill>
                <a:latin typeface="맑은 고딕"/>
                <a:ea typeface="맑은 고딕"/>
                <a:cs typeface="맑은 고딕"/>
              </a:rPr>
              <a:t>건드리면 안 되는 것은 언급이 없다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한 문장의 세 가지 해석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「빨리 처리」 한마디는 출력 형식, 승인 조건, 기존 요청의 처리 가운데 어느 것을 바꾸라는 뜻으로도 읽힌다.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17</a:t>
            </a:r>
          </a:p>
        </p:txBody>
      </p:sp>
      <p:pic>
        <p:nvPicPr>
          <p:cNvPr id="6" name="삽화:세해석.svg" descr="illust_7458182855676937707_179173607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41100" y="1911278"/>
            <a:ext cx="2727373"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변경 요청</a:t>
            </a:r>
          </a:p>
          <a:p>
            <a:pPr algn="ctr">
              <a:lnSpc>
                <a:spcPct val="110000"/>
              </a:lnSpc>
              <a:spcAft>
                <a:spcPts val="100"/>
              </a:spcAft>
            </a:pPr>
            <a:r>
              <a:rPr sz="1300" b="0">
                <a:solidFill>
                  <a:srgbClr val="556175"/>
                </a:solidFill>
                <a:latin typeface="맑은 고딕"/>
                <a:ea typeface="맑은 고딕"/>
                <a:cs typeface="맑은 고딕"/>
              </a:rPr>
              <a:t>「긴급한 경보는 빨리</a:t>
            </a:r>
          </a:p>
          <a:p>
            <a:pPr algn="ctr">
              <a:lnSpc>
                <a:spcPct val="110000"/>
              </a:lnSpc>
              <a:spcAft>
                <a:spcPts val="100"/>
              </a:spcAft>
            </a:pPr>
            <a:r>
              <a:rPr sz="1300" b="0">
                <a:solidFill>
                  <a:srgbClr val="556175"/>
                </a:solidFill>
                <a:latin typeface="맑은 고딕"/>
                <a:ea typeface="맑은 고딕"/>
                <a:cs typeface="맑은 고딕"/>
              </a:rPr>
              <a:t>처리되게 해 주세요.」</a:t>
            </a:r>
          </a:p>
        </p:txBody>
      </p:sp>
      <p:sp>
        <p:nvSpPr>
          <p:cNvPr id="8" name="TextBox 7"/>
          <p:cNvSpPr txBox="1"/>
          <p:nvPr/>
        </p:nvSpPr>
        <p:spPr>
          <a:xfrm>
            <a:off x="6532227" y="1958553"/>
            <a:ext cx="4800177"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출력 형식</a:t>
            </a:r>
          </a:p>
          <a:p>
            <a:pPr algn="ctr">
              <a:lnSpc>
                <a:spcPct val="110000"/>
              </a:lnSpc>
              <a:spcAft>
                <a:spcPts val="100"/>
              </a:spcAft>
            </a:pPr>
            <a:r>
              <a:rPr sz="1300" b="0">
                <a:solidFill>
                  <a:srgbClr val="556175"/>
                </a:solidFill>
                <a:latin typeface="맑은 고딕"/>
                <a:ea typeface="맑은 고딕"/>
                <a:cs typeface="맑은 고딕"/>
              </a:rPr>
              <a:t>결과에 긴급 표시를 더하는가</a:t>
            </a:r>
          </a:p>
          <a:p>
            <a:pPr algn="ctr">
              <a:lnSpc>
                <a:spcPct val="110000"/>
              </a:lnSpc>
              <a:spcAft>
                <a:spcPts val="100"/>
              </a:spcAft>
            </a:pPr>
            <a:r>
              <a:rPr sz="1300" b="0">
                <a:solidFill>
                  <a:srgbClr val="556175"/>
                </a:solidFill>
                <a:latin typeface="맑은 고딕"/>
                <a:ea typeface="맑은 고딕"/>
                <a:cs typeface="맑은 고딕"/>
              </a:rPr>
              <a:t>기존 항목의 이름이나 뜻도 바뀌는가</a:t>
            </a:r>
          </a:p>
        </p:txBody>
      </p:sp>
      <p:sp>
        <p:nvSpPr>
          <p:cNvPr id="9" name="TextBox 8"/>
          <p:cNvSpPr txBox="1"/>
          <p:nvPr/>
        </p:nvSpPr>
        <p:spPr>
          <a:xfrm>
            <a:off x="6532227" y="3565885"/>
            <a:ext cx="4800177"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승인 조건</a:t>
            </a:r>
          </a:p>
          <a:p>
            <a:pPr algn="ctr">
              <a:lnSpc>
                <a:spcPct val="110000"/>
              </a:lnSpc>
              <a:spcAft>
                <a:spcPts val="100"/>
              </a:spcAft>
            </a:pPr>
            <a:r>
              <a:rPr sz="1300" b="0">
                <a:solidFill>
                  <a:srgbClr val="556175"/>
                </a:solidFill>
                <a:latin typeface="맑은 고딕"/>
                <a:ea typeface="맑은 고딕"/>
                <a:cs typeface="맑은 고딕"/>
              </a:rPr>
              <a:t>긴급하면 승인을 기다리지 않는가</a:t>
            </a:r>
          </a:p>
          <a:p>
            <a:pPr algn="ctr">
              <a:lnSpc>
                <a:spcPct val="110000"/>
              </a:lnSpc>
              <a:spcAft>
                <a:spcPts val="100"/>
              </a:spcAft>
            </a:pPr>
            <a:r>
              <a:rPr sz="1300" b="0">
                <a:solidFill>
                  <a:srgbClr val="556175"/>
                </a:solidFill>
                <a:latin typeface="맑은 고딕"/>
                <a:ea typeface="맑은 고딕"/>
                <a:cs typeface="맑은 고딕"/>
              </a:rPr>
              <a:t>승인하는 역할이 달라지는가</a:t>
            </a:r>
          </a:p>
        </p:txBody>
      </p:sp>
      <p:sp>
        <p:nvSpPr>
          <p:cNvPr id="10" name="TextBox 9"/>
          <p:cNvSpPr txBox="1"/>
          <p:nvPr/>
        </p:nvSpPr>
        <p:spPr>
          <a:xfrm>
            <a:off x="6532227" y="5173218"/>
            <a:ext cx="4800177"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기존 요청의 처리</a:t>
            </a:r>
          </a:p>
          <a:p>
            <a:pPr algn="ctr">
              <a:lnSpc>
                <a:spcPct val="110000"/>
              </a:lnSpc>
              <a:spcAft>
                <a:spcPts val="100"/>
              </a:spcAft>
            </a:pPr>
            <a:r>
              <a:rPr sz="1300" b="0">
                <a:solidFill>
                  <a:srgbClr val="556175"/>
                </a:solidFill>
                <a:latin typeface="맑은 고딕"/>
                <a:ea typeface="맑은 고딕"/>
                <a:cs typeface="맑은 고딕"/>
              </a:rPr>
              <a:t>긴급하지 않은 경보는</a:t>
            </a:r>
          </a:p>
          <a:p>
            <a:pPr algn="ctr">
              <a:lnSpc>
                <a:spcPct val="110000"/>
              </a:lnSpc>
              <a:spcAft>
                <a:spcPts val="100"/>
              </a:spcAft>
            </a:pPr>
            <a:r>
              <a:rPr sz="1300" b="0">
                <a:solidFill>
                  <a:srgbClr val="556175"/>
                </a:solidFill>
                <a:latin typeface="맑은 고딕"/>
                <a:ea typeface="맑은 고딕"/>
                <a:cs typeface="맑은 고딕"/>
              </a:rPr>
              <a:t>이전과 같은 결과를 내는가</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SDD: 명세 주도 개발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1">
                <a:solidFill>
                  <a:srgbClr val="1A6FC4"/>
                </a:solidFill>
                <a:latin typeface="맑은 고딕"/>
                <a:ea typeface="맑은 고딕"/>
                <a:cs typeface="맑은 고딕"/>
              </a:rPr>
              <a:t>SDD</a:t>
            </a:r>
            <a:r>
              <a:rPr sz="1600" b="0">
                <a:solidFill>
                  <a:srgbClr val="556175"/>
                </a:solidFill>
                <a:latin typeface="맑은 고딕"/>
                <a:ea typeface="맑은 고딕"/>
                <a:cs typeface="맑은 고딕"/>
              </a:rPr>
              <a:t>는 무엇을 만들고 무엇을 지킬지를 구현하기 전에 명세로 정하고, 그 명세를 구현과 확인의 기준으로 삼는다.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18</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SDD</a:t>
            </a:r>
          </a:p>
          <a:p>
            <a:pPr algn="l">
              <a:lnSpc>
                <a:spcPct val="110000"/>
              </a:lnSpc>
              <a:spcAft>
                <a:spcPts val="200"/>
              </a:spcAft>
            </a:pPr>
            <a:r>
              <a:rPr sz="1150" b="0">
                <a:solidFill>
                  <a:srgbClr val="556175"/>
                </a:solidFill>
                <a:latin typeface="맑은 고딕"/>
                <a:ea typeface="맑은 고딕"/>
                <a:cs typeface="맑은 고딕"/>
              </a:rPr>
              <a:t>Spec-Driven Development</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요구사항, 입력과 출력의 계약, 금지 조건, 수용 기준을 구현 전에 명세로 정하는 개발 방식이다.</a:t>
            </a:r>
          </a:p>
          <a:p>
            <a:pPr algn="l">
              <a:lnSpc>
                <a:spcPct val="110000"/>
              </a:lnSpc>
              <a:spcAft>
                <a:spcPts val="300"/>
              </a:spcAft>
            </a:pPr>
            <a:r>
              <a:rPr sz="1400" b="0">
                <a:solidFill>
                  <a:srgbClr val="1F2A3A"/>
                </a:solidFill>
                <a:latin typeface="맑은 고딕"/>
                <a:ea typeface="맑은 고딕"/>
                <a:cs typeface="맑은 고딕"/>
              </a:rPr>
              <a:t>구현과 확인은 그 명세를 기준으로 한다.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명세</a:t>
            </a:r>
          </a:p>
          <a:p>
            <a:pPr algn="l">
              <a:lnSpc>
                <a:spcPct val="110000"/>
              </a:lnSpc>
              <a:spcAft>
                <a:spcPts val="200"/>
              </a:spcAft>
            </a:pPr>
            <a:r>
              <a:rPr sz="1150" b="0">
                <a:solidFill>
                  <a:srgbClr val="556175"/>
                </a:solidFill>
                <a:latin typeface="맑은 고딕"/>
                <a:ea typeface="맑은 고딕"/>
                <a:cs typeface="맑은 고딕"/>
              </a:rPr>
              <a:t>Specification</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만들 것이 무엇을 받아 무엇을 내고 무엇을 하지 않는지를 적은 문서이다.</a:t>
            </a:r>
          </a:p>
          <a:p>
            <a:pPr algn="l">
              <a:lnSpc>
                <a:spcPct val="110000"/>
              </a:lnSpc>
              <a:spcAft>
                <a:spcPts val="300"/>
              </a:spcAft>
            </a:pPr>
            <a:r>
              <a:rPr sz="1400" b="0">
                <a:solidFill>
                  <a:srgbClr val="1F2A3A"/>
                </a:solidFill>
                <a:latin typeface="맑은 고딕"/>
                <a:ea typeface="맑은 고딕"/>
                <a:cs typeface="맑은 고딕"/>
              </a:rPr>
              <a:t>사람과 AI가 같은 문서를 기준으로 삼는다.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놓이는 곳</a:t>
            </a:r>
          </a:p>
          <a:p>
            <a:pPr algn="l">
              <a:lnSpc>
                <a:spcPct val="110000"/>
              </a:lnSpc>
              <a:spcAft>
                <a:spcPts val="200"/>
              </a:spcAft>
            </a:pPr>
            <a:r>
              <a:rPr sz="1150" b="0">
                <a:solidFill>
                  <a:srgbClr val="556175"/>
                </a:solidFill>
                <a:latin typeface="맑은 고딕"/>
                <a:ea typeface="맑은 고딕"/>
                <a:cs typeface="맑은 고딕"/>
              </a:rPr>
              <a:t>spec.md</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프로젝트 안에 spec.md 같은 파일로 두고, 기능을 바꿀 때마다 코드보다 먼저 고친다.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명세에 적는 다섯 가지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명세에는 요구사항과 함께 입력 계약, 출력 계약, 금지 조건, 수용 기준을 적어 해석이 갈릴 자리를 없앤다.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19</a:t>
            </a:r>
          </a:p>
        </p:txBody>
      </p:sp>
      <p:pic>
        <p:nvPicPr>
          <p:cNvPr id="6" name="삽화:명세문서.svg" descr="illust_5092232027065391292_179173607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204942" y="2242200"/>
            <a:ext cx="523655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요구사항</a:t>
            </a:r>
          </a:p>
          <a:p>
            <a:pPr algn="ctr">
              <a:lnSpc>
                <a:spcPct val="110000"/>
              </a:lnSpc>
              <a:spcAft>
                <a:spcPts val="100"/>
              </a:spcAft>
            </a:pPr>
            <a:r>
              <a:rPr sz="1300" b="0">
                <a:solidFill>
                  <a:srgbClr val="556175"/>
                </a:solidFill>
                <a:latin typeface="맑은 고딕"/>
                <a:ea typeface="맑은 고딕"/>
                <a:cs typeface="맑은 고딕"/>
              </a:rPr>
              <a:t>무엇을 하는가, 이번에 무엇이 달라지는가</a:t>
            </a:r>
          </a:p>
        </p:txBody>
      </p:sp>
      <p:sp>
        <p:nvSpPr>
          <p:cNvPr id="8" name="TextBox 7"/>
          <p:cNvSpPr txBox="1"/>
          <p:nvPr/>
        </p:nvSpPr>
        <p:spPr>
          <a:xfrm>
            <a:off x="6204942" y="2974954"/>
            <a:ext cx="523655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입력 계약</a:t>
            </a:r>
          </a:p>
          <a:p>
            <a:pPr algn="ctr">
              <a:lnSpc>
                <a:spcPct val="110000"/>
              </a:lnSpc>
              <a:spcAft>
                <a:spcPts val="100"/>
              </a:spcAft>
            </a:pPr>
            <a:r>
              <a:rPr sz="1300" b="0">
                <a:solidFill>
                  <a:srgbClr val="556175"/>
                </a:solidFill>
                <a:latin typeface="맑은 고딕"/>
                <a:ea typeface="맑은 고딕"/>
                <a:cs typeface="맑은 고딕"/>
              </a:rPr>
              <a:t>어떤 입력을 어떤 형식으로 받는가</a:t>
            </a:r>
          </a:p>
        </p:txBody>
      </p:sp>
      <p:sp>
        <p:nvSpPr>
          <p:cNvPr id="9" name="TextBox 8"/>
          <p:cNvSpPr txBox="1"/>
          <p:nvPr/>
        </p:nvSpPr>
        <p:spPr>
          <a:xfrm>
            <a:off x="6204942" y="3778620"/>
            <a:ext cx="523655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출력 계약</a:t>
            </a:r>
          </a:p>
          <a:p>
            <a:pPr algn="ctr">
              <a:lnSpc>
                <a:spcPct val="110000"/>
              </a:lnSpc>
              <a:spcAft>
                <a:spcPts val="100"/>
              </a:spcAft>
            </a:pPr>
            <a:r>
              <a:rPr sz="1300" b="0">
                <a:solidFill>
                  <a:srgbClr val="556175"/>
                </a:solidFill>
                <a:latin typeface="맑은 고딕"/>
                <a:ea typeface="맑은 고딕"/>
                <a:cs typeface="맑은 고딕"/>
              </a:rPr>
              <a:t>어떤 항목을 어떤 형식으로 내는가</a:t>
            </a:r>
          </a:p>
        </p:txBody>
      </p:sp>
      <p:sp>
        <p:nvSpPr>
          <p:cNvPr id="10" name="TextBox 9"/>
          <p:cNvSpPr txBox="1"/>
          <p:nvPr/>
        </p:nvSpPr>
        <p:spPr>
          <a:xfrm>
            <a:off x="6204942" y="4605924"/>
            <a:ext cx="5236557"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금지 조건</a:t>
            </a:r>
          </a:p>
          <a:p>
            <a:pPr algn="ctr">
              <a:lnSpc>
                <a:spcPct val="110000"/>
              </a:lnSpc>
              <a:spcAft>
                <a:spcPts val="100"/>
              </a:spcAft>
            </a:pPr>
            <a:r>
              <a:rPr sz="1300" b="0">
                <a:solidFill>
                  <a:srgbClr val="556175"/>
                </a:solidFill>
                <a:latin typeface="맑은 고딕"/>
                <a:ea typeface="맑은 고딕"/>
                <a:cs typeface="맑은 고딕"/>
              </a:rPr>
              <a:t>어떤 요구가 더해져도 하지 않을 일</a:t>
            </a:r>
          </a:p>
        </p:txBody>
      </p:sp>
      <p:sp>
        <p:nvSpPr>
          <p:cNvPr id="11" name="TextBox 10"/>
          <p:cNvSpPr txBox="1"/>
          <p:nvPr/>
        </p:nvSpPr>
        <p:spPr>
          <a:xfrm>
            <a:off x="6204942" y="5456864"/>
            <a:ext cx="5236557"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수용 기준</a:t>
            </a:r>
          </a:p>
          <a:p>
            <a:pPr algn="ctr">
              <a:lnSpc>
                <a:spcPct val="110000"/>
              </a:lnSpc>
              <a:spcAft>
                <a:spcPts val="100"/>
              </a:spcAft>
            </a:pPr>
            <a:r>
              <a:rPr sz="1300" b="0">
                <a:solidFill>
                  <a:srgbClr val="556175"/>
                </a:solidFill>
                <a:latin typeface="맑은 고딕"/>
                <a:ea typeface="맑은 고딕"/>
                <a:cs typeface="맑은 고딕"/>
              </a:rPr>
              <a:t>무엇이 확인되면 다 된 것으로 보는가</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요구사항은 늘어나고 금지 조건은 남는다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요구사항은 변경 때마다 늘어나지만 금지 조건은 그대로 남아, 새 요구를 금지에 어긋나게 해석하는 길을 막는다.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20</a:t>
            </a:r>
          </a:p>
        </p:txBody>
      </p:sp>
      <p:sp>
        <p:nvSpPr>
          <p:cNvPr id="6" name="Rounded Rectangle 5"/>
          <p:cNvSpPr/>
          <p:nvPr/>
        </p:nvSpPr>
        <p:spPr>
          <a:xfrm>
            <a:off x="548640" y="2128647"/>
            <a:ext cx="5181447" cy="372541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29815"/>
            <a:ext cx="731520" cy="731520"/>
          </a:xfrm>
          <a:prstGeom prst="ellipse">
            <a:avLst/>
          </a:prstGeom>
          <a:solidFill>
            <a:srgbClr val="FFFFFF"/>
          </a:solidFill>
          <a:ln>
            <a:noFill/>
          </a:ln>
        </p:spPr>
        <p:txBody>
          <a:bodyPr rtlCol="0" anchor="ctr"/>
          <a:lstStyle/>
          <a:p>
            <a:pPr algn="ctr"/>
          </a:p>
        </p:txBody>
      </p:sp>
      <p:pic>
        <p:nvPicPr>
          <p:cNvPr id="8" name="아이콘:list-details" descr="list-details_13294B_1.6.png"/>
          <p:cNvPicPr>
            <a:picLocks noChangeAspect="1"/>
          </p:cNvPicPr>
          <p:nvPr/>
        </p:nvPicPr>
        <p:blipFill>
          <a:blip r:embed="rId3"/>
          <a:stretch>
            <a:fillRect/>
          </a:stretch>
        </p:blipFill>
        <p:spPr>
          <a:xfrm>
            <a:off x="976579" y="2483434"/>
            <a:ext cx="424281" cy="424281"/>
          </a:xfrm>
          <a:prstGeom prst="rect">
            <a:avLst/>
          </a:prstGeom>
        </p:spPr>
      </p:pic>
      <p:sp>
        <p:nvSpPr>
          <p:cNvPr id="9" name="TextBox 8"/>
          <p:cNvSpPr txBox="1"/>
          <p:nvPr/>
        </p:nvSpPr>
        <p:spPr>
          <a:xfrm>
            <a:off x="1691640"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요구사항</a:t>
            </a:r>
          </a:p>
        </p:txBody>
      </p:sp>
      <p:sp>
        <p:nvSpPr>
          <p:cNvPr id="10" name="TextBox 9"/>
          <p:cNvSpPr txBox="1"/>
          <p:nvPr/>
        </p:nvSpPr>
        <p:spPr>
          <a:xfrm>
            <a:off x="822959"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해야 할 일을 적는다</a:t>
            </a:r>
          </a:p>
          <a:p>
            <a:pPr algn="l">
              <a:lnSpc>
                <a:spcPct val="110000"/>
              </a:lnSpc>
              <a:spcAft>
                <a:spcPts val="600"/>
              </a:spcAft>
            </a:pPr>
            <a:r>
              <a:rPr sz="1450" b="0">
                <a:solidFill>
                  <a:srgbClr val="1F2A3A"/>
                </a:solidFill>
                <a:latin typeface="맑은 고딕"/>
                <a:ea typeface="맑은 고딕"/>
                <a:cs typeface="맑은 고딕"/>
              </a:rPr>
              <a:t>• 변경 요청이 올 때마다 줄이 늘어난다</a:t>
            </a:r>
          </a:p>
          <a:p>
            <a:pPr algn="l">
              <a:lnSpc>
                <a:spcPct val="110000"/>
              </a:lnSpc>
              <a:spcAft>
                <a:spcPts val="600"/>
              </a:spcAft>
            </a:pPr>
            <a:r>
              <a:rPr sz="1450" b="0">
                <a:solidFill>
                  <a:srgbClr val="1F2A3A"/>
                </a:solidFill>
                <a:latin typeface="맑은 고딕"/>
                <a:ea typeface="맑은 고딕"/>
                <a:cs typeface="맑은 고딕"/>
              </a:rPr>
              <a:t>• 예: 원인을 가리고 조치 후보를 견주어 추천안을 낸다</a:t>
            </a:r>
          </a:p>
          <a:p>
            <a:pPr algn="l">
              <a:lnSpc>
                <a:spcPct val="110000"/>
              </a:lnSpc>
              <a:spcAft>
                <a:spcPts val="600"/>
              </a:spcAft>
            </a:pPr>
            <a:r>
              <a:rPr sz="1450" b="0">
                <a:solidFill>
                  <a:srgbClr val="1F2A3A"/>
                </a:solidFill>
                <a:latin typeface="맑은 고딕"/>
                <a:ea typeface="맑은 고딕"/>
                <a:cs typeface="맑은 고딕"/>
              </a:rPr>
              <a:t>• 예: 긴급한 경보에는 긴급 여부를 함께 낸다</a:t>
            </a:r>
          </a:p>
        </p:txBody>
      </p:sp>
      <p:sp>
        <p:nvSpPr>
          <p:cNvPr id="11" name="Rounded Rectangle 10"/>
          <p:cNvSpPr/>
          <p:nvPr/>
        </p:nvSpPr>
        <p:spPr>
          <a:xfrm>
            <a:off x="868680" y="5396865"/>
            <a:ext cx="9753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96865"/>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늘어난다</a:t>
            </a:r>
          </a:p>
        </p:txBody>
      </p:sp>
      <p:sp>
        <p:nvSpPr>
          <p:cNvPr id="13" name="Rounded Rectangle 12"/>
          <p:cNvSpPr/>
          <p:nvPr/>
        </p:nvSpPr>
        <p:spPr>
          <a:xfrm>
            <a:off x="6461607" y="2128647"/>
            <a:ext cx="5181447" cy="372541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29815"/>
            <a:ext cx="731520" cy="731520"/>
          </a:xfrm>
          <a:prstGeom prst="ellipse">
            <a:avLst/>
          </a:prstGeom>
          <a:solidFill>
            <a:srgbClr val="5CB8F2"/>
          </a:solidFill>
          <a:ln>
            <a:noFill/>
          </a:ln>
        </p:spPr>
        <p:txBody>
          <a:bodyPr rtlCol="0" anchor="ctr"/>
          <a:lstStyle/>
          <a:p>
            <a:pPr algn="ctr"/>
          </a:p>
        </p:txBody>
      </p:sp>
      <p:pic>
        <p:nvPicPr>
          <p:cNvPr id="15" name="아이콘:forbid" descr="forbid_13294B_1.6.png"/>
          <p:cNvPicPr>
            <a:picLocks noChangeAspect="1"/>
          </p:cNvPicPr>
          <p:nvPr/>
        </p:nvPicPr>
        <p:blipFill>
          <a:blip r:embed="rId4"/>
          <a:stretch>
            <a:fillRect/>
          </a:stretch>
        </p:blipFill>
        <p:spPr>
          <a:xfrm>
            <a:off x="6889546" y="2483434"/>
            <a:ext cx="424281" cy="424281"/>
          </a:xfrm>
          <a:prstGeom prst="rect">
            <a:avLst/>
          </a:prstGeom>
        </p:spPr>
      </p:pic>
      <p:sp>
        <p:nvSpPr>
          <p:cNvPr id="16" name="TextBox 15"/>
          <p:cNvSpPr txBox="1"/>
          <p:nvPr/>
        </p:nvSpPr>
        <p:spPr>
          <a:xfrm>
            <a:off x="7604607"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금지 조건</a:t>
            </a:r>
          </a:p>
        </p:txBody>
      </p:sp>
      <p:sp>
        <p:nvSpPr>
          <p:cNvPr id="17" name="TextBox 16"/>
          <p:cNvSpPr txBox="1"/>
          <p:nvPr/>
        </p:nvSpPr>
        <p:spPr>
          <a:xfrm>
            <a:off x="6735927"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어떤 요구가 더해져도 하지 않을 일을 적는다</a:t>
            </a:r>
          </a:p>
          <a:p>
            <a:pPr algn="l">
              <a:lnSpc>
                <a:spcPct val="110000"/>
              </a:lnSpc>
              <a:spcAft>
                <a:spcPts val="600"/>
              </a:spcAft>
            </a:pPr>
            <a:r>
              <a:rPr sz="1450" b="0">
                <a:solidFill>
                  <a:srgbClr val="1F2A3A"/>
                </a:solidFill>
                <a:latin typeface="맑은 고딕"/>
                <a:ea typeface="맑은 고딕"/>
                <a:cs typeface="맑은 고딕"/>
              </a:rPr>
              <a:t>• 변경 요청이 와도 그대로 둔다</a:t>
            </a:r>
          </a:p>
          <a:p>
            <a:pPr algn="l">
              <a:lnSpc>
                <a:spcPct val="110000"/>
              </a:lnSpc>
              <a:spcAft>
                <a:spcPts val="600"/>
              </a:spcAft>
            </a:pPr>
            <a:r>
              <a:rPr sz="1450" b="0">
                <a:solidFill>
                  <a:srgbClr val="1F2A3A"/>
                </a:solidFill>
                <a:latin typeface="맑은 고딕"/>
                <a:ea typeface="맑은 고딕"/>
                <a:cs typeface="맑은 고딕"/>
              </a:rPr>
              <a:t>• 예: 사람이 승인하기 전에는 어떤 조치도 실행하지 않는다</a:t>
            </a:r>
          </a:p>
          <a:p>
            <a:pPr algn="l">
              <a:lnSpc>
                <a:spcPct val="110000"/>
              </a:lnSpc>
              <a:spcAft>
                <a:spcPts val="600"/>
              </a:spcAft>
            </a:pPr>
            <a:r>
              <a:rPr sz="1450" b="0">
                <a:solidFill>
                  <a:srgbClr val="1F2A3A"/>
                </a:solidFill>
                <a:latin typeface="맑은 고딕"/>
                <a:ea typeface="맑은 고딕"/>
                <a:cs typeface="맑은 고딕"/>
              </a:rPr>
              <a:t>• 「빨리 처리」를 승인 생략으로 읽는 해석이 여기서 막힌다</a:t>
            </a:r>
          </a:p>
        </p:txBody>
      </p:sp>
      <p:sp>
        <p:nvSpPr>
          <p:cNvPr id="18" name="Rounded Rectangle 17"/>
          <p:cNvSpPr/>
          <p:nvPr/>
        </p:nvSpPr>
        <p:spPr>
          <a:xfrm>
            <a:off x="6781647" y="5396865"/>
            <a:ext cx="8229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96865"/>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남는다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수용 기준: 다 되었는지를 가르는 조건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1">
                <a:solidFill>
                  <a:srgbClr val="1A6FC4"/>
                </a:solidFill>
                <a:latin typeface="맑은 고딕"/>
                <a:ea typeface="맑은 고딕"/>
                <a:cs typeface="맑은 고딕"/>
              </a:rPr>
              <a:t>수용 기준</a:t>
            </a:r>
            <a:r>
              <a:rPr sz="1600" b="0">
                <a:solidFill>
                  <a:srgbClr val="556175"/>
                </a:solidFill>
                <a:latin typeface="맑은 고딕"/>
                <a:ea typeface="맑은 고딕"/>
                <a:cs typeface="맑은 고딕"/>
              </a:rPr>
              <a:t>은 구현이 끝났는지를 참과 거짓으로 가를 수 있게 적은 조건이다.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수용 기준</a:t>
            </a:r>
          </a:p>
          <a:p>
            <a:pPr algn="l">
              <a:lnSpc>
                <a:spcPct val="110000"/>
              </a:lnSpc>
              <a:spcAft>
                <a:spcPts val="200"/>
              </a:spcAft>
            </a:pPr>
            <a:r>
              <a:rPr sz="1150" b="0">
                <a:solidFill>
                  <a:srgbClr val="556175"/>
                </a:solidFill>
                <a:latin typeface="맑은 고딕"/>
                <a:ea typeface="맑은 고딕"/>
                <a:cs typeface="맑은 고딕"/>
              </a:rPr>
              <a:t>Acceptance Criteria</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구현이 요구를 채웠다고 받아들이는 조건이다.</a:t>
            </a:r>
          </a:p>
          <a:p>
            <a:pPr algn="l">
              <a:lnSpc>
                <a:spcPct val="110000"/>
              </a:lnSpc>
              <a:spcAft>
                <a:spcPts val="300"/>
              </a:spcAft>
            </a:pPr>
            <a:r>
              <a:rPr sz="1400" b="0">
                <a:solidFill>
                  <a:srgbClr val="1F2A3A"/>
                </a:solidFill>
                <a:latin typeface="맑은 고딕"/>
                <a:ea typeface="맑은 고딕"/>
                <a:cs typeface="맑은 고딕"/>
              </a:rPr>
              <a:t>실행해 보고 참인지 거짓인지를 가를 수 있는 문장으로 적는다.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적는 내용</a:t>
            </a:r>
          </a:p>
          <a:p>
            <a:pPr algn="l">
              <a:lnSpc>
                <a:spcPct val="110000"/>
              </a:lnSpc>
              <a:spcAft>
                <a:spcPts val="200"/>
              </a:spcAft>
            </a:pPr>
            <a:r>
              <a:rPr sz="1150" b="0">
                <a:solidFill>
                  <a:srgbClr val="556175"/>
                </a:solidFill>
                <a:latin typeface="맑은 고딕"/>
                <a:ea typeface="맑은 고딕"/>
                <a:cs typeface="맑은 고딕"/>
              </a:rPr>
              <a:t>상황과 기대 결과</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어떤 상황에서 어떤 결과가 나와야 하는지를 한 문장에 하나씩 적는다.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쓰이는 때</a:t>
            </a:r>
          </a:p>
          <a:p>
            <a:pPr algn="l">
              <a:lnSpc>
                <a:spcPct val="110000"/>
              </a:lnSpc>
              <a:spcAft>
                <a:spcPts val="200"/>
              </a:spcAft>
            </a:pPr>
            <a:r>
              <a:rPr sz="1150" b="0">
                <a:solidFill>
                  <a:srgbClr val="556175"/>
                </a:solidFill>
                <a:latin typeface="맑은 고딕"/>
                <a:ea typeface="맑은 고딕"/>
                <a:cs typeface="맑은 고딕"/>
              </a:rPr>
              <a:t>구현 전과 후</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구현 전에는 무엇을 만들지의 기준이 되고, 구현 뒤에는 다 되었는지를 확인하는 항목이 된다.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명세로 다시 쓴 변경 요청</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명세로 옮기면 갈렸던 해석이 요구사항, 출력 계약, 금지 조건, 수용 기준의 줄에서 하나씩 정해진다.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22</a:t>
            </a:r>
          </a:p>
        </p:txBody>
      </p:sp>
      <p:sp>
        <p:nvSpPr>
          <p:cNvPr id="6" name="Rounded Rectangle 5"/>
          <p:cNvSpPr/>
          <p:nvPr/>
        </p:nvSpPr>
        <p:spPr>
          <a:xfrm>
            <a:off x="548640" y="1990852"/>
            <a:ext cx="6766560" cy="400100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128012"/>
            <a:ext cx="6400800" cy="3726688"/>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대응</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명세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추가</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요구사항</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a:t>
            </a:r>
            <a:r>
              <a:rPr sz="1300" b="0">
                <a:solidFill>
                  <a:srgbClr val="E8EEF6"/>
                </a:solidFill>
                <a:latin typeface="Consolas"/>
                <a:ea typeface="맑은 고딕"/>
                <a:cs typeface="맑은 고딕"/>
              </a:rPr>
              <a:t> 60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이상의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성능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저하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추천안에는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여부를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함께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낸다</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출력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계약</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기존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다섯</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항목의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이름과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형식은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바꾸지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않는다</a:t>
            </a:r>
          </a:p>
          <a:p>
            <a:pPr algn="l">
              <a:lnSpc>
                <a:spcPct val="110000"/>
              </a:lnSpc>
              <a:spcAft>
                <a:spcPts val="200"/>
              </a:spcAft>
            </a:pPr>
            <a:r>
              <a:rPr sz="1300" b="0">
                <a:solidFill>
                  <a:srgbClr val="E8EEF6"/>
                </a:solidFill>
                <a:latin typeface="Consolas"/>
                <a:ea typeface="맑은 고딕"/>
                <a:cs typeface="맑은 고딕"/>
              </a:rPr>
              <a:t>- urgent </a:t>
            </a:r>
            <a:r>
              <a:rPr sz="1300" b="0">
                <a:solidFill>
                  <a:srgbClr val="E8EEF6"/>
                </a:solidFill>
                <a:latin typeface="맑은 고딕"/>
                <a:ea typeface="맑은 고딕"/>
                <a:cs typeface="맑은 고딕"/>
              </a:rPr>
              <a:t>항목을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더한다</a:t>
            </a:r>
            <a:r>
              <a:rPr sz="1300" b="0">
                <a:solidFill>
                  <a:srgbClr val="E8EEF6"/>
                </a:solidFill>
                <a:latin typeface="Consolas"/>
                <a:ea typeface="맑은 고딕"/>
                <a:cs typeface="맑은 고딕"/>
              </a:rPr>
              <a:t> (true </a:t>
            </a:r>
            <a:r>
              <a:rPr sz="1300" b="0">
                <a:solidFill>
                  <a:srgbClr val="E8EEF6"/>
                </a:solidFill>
                <a:latin typeface="맑은 고딕"/>
                <a:ea typeface="맑은 고딕"/>
                <a:cs typeface="맑은 고딕"/>
              </a:rPr>
              <a:t>또는</a:t>
            </a:r>
            <a:r>
              <a:rPr sz="1300" b="0">
                <a:solidFill>
                  <a:srgbClr val="E8EEF6"/>
                </a:solidFill>
                <a:latin typeface="Consolas"/>
                <a:ea typeface="맑은 고딕"/>
                <a:cs typeface="맑은 고딕"/>
              </a:rPr>
              <a:t> false)</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금지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조건</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전에는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실행하지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않는다</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필수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값을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읽지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못하면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채우지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보류한다</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수용</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기준</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긴급하지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변경</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전과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같다</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추천안도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상태가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된다</a:t>
            </a:r>
          </a:p>
        </p:txBody>
      </p:sp>
      <p:sp>
        <p:nvSpPr>
          <p:cNvPr id="8" name="TextBox 7"/>
          <p:cNvSpPr txBox="1"/>
          <p:nvPr/>
        </p:nvSpPr>
        <p:spPr>
          <a:xfrm>
            <a:off x="7635240" y="1990852"/>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요구사항</a:t>
            </a:r>
          </a:p>
          <a:p>
            <a:pPr algn="l">
              <a:lnSpc>
                <a:spcPct val="110000"/>
              </a:lnSpc>
              <a:spcAft>
                <a:spcPts val="400"/>
              </a:spcAft>
            </a:pPr>
            <a:r>
              <a:rPr sz="1400" b="0">
                <a:solidFill>
                  <a:srgbClr val="1F2A3A"/>
                </a:solidFill>
                <a:latin typeface="맑은 고딕"/>
                <a:ea typeface="맑은 고딕"/>
                <a:cs typeface="맑은 고딕"/>
              </a:rPr>
              <a:t>어떤 경보가 긴급한가: 수치로 정했다.</a:t>
            </a:r>
          </a:p>
        </p:txBody>
      </p:sp>
      <p:sp>
        <p:nvSpPr>
          <p:cNvPr id="9" name="TextBox 8"/>
          <p:cNvSpPr txBox="1"/>
          <p:nvPr/>
        </p:nvSpPr>
        <p:spPr>
          <a:xfrm>
            <a:off x="7635240" y="2991104"/>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출력 계약</a:t>
            </a:r>
          </a:p>
          <a:p>
            <a:pPr algn="l">
              <a:lnSpc>
                <a:spcPct val="110000"/>
              </a:lnSpc>
              <a:spcAft>
                <a:spcPts val="400"/>
              </a:spcAft>
            </a:pPr>
            <a:r>
              <a:rPr sz="1400" b="0">
                <a:solidFill>
                  <a:srgbClr val="1F2A3A"/>
                </a:solidFill>
                <a:latin typeface="맑은 고딕"/>
                <a:ea typeface="맑은 고딕"/>
                <a:cs typeface="맑은 고딕"/>
              </a:rPr>
              <a:t>무엇이 달라지는가: 항목 하나를 더하고 기존 항목은 둔다.</a:t>
            </a:r>
          </a:p>
        </p:txBody>
      </p:sp>
      <p:sp>
        <p:nvSpPr>
          <p:cNvPr id="10" name="TextBox 9"/>
          <p:cNvSpPr txBox="1"/>
          <p:nvPr/>
        </p:nvSpPr>
        <p:spPr>
          <a:xfrm>
            <a:off x="7635240" y="3991356"/>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금지 조건</a:t>
            </a:r>
          </a:p>
          <a:p>
            <a:pPr algn="l">
              <a:lnSpc>
                <a:spcPct val="110000"/>
              </a:lnSpc>
              <a:spcAft>
                <a:spcPts val="400"/>
              </a:spcAft>
            </a:pPr>
            <a:r>
              <a:rPr sz="1400" b="0">
                <a:solidFill>
                  <a:srgbClr val="1F2A3A"/>
                </a:solidFill>
                <a:latin typeface="맑은 고딕"/>
                <a:ea typeface="맑은 고딕"/>
                <a:cs typeface="맑은 고딕"/>
              </a:rPr>
              <a:t>승인을 건너뛰는가: 건너뛰지 않는다.</a:t>
            </a:r>
          </a:p>
        </p:txBody>
      </p:sp>
      <p:sp>
        <p:nvSpPr>
          <p:cNvPr id="11" name="TextBox 10"/>
          <p:cNvSpPr txBox="1"/>
          <p:nvPr/>
        </p:nvSpPr>
        <p:spPr>
          <a:xfrm>
            <a:off x="7635240" y="4991608"/>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수용 기준</a:t>
            </a:r>
          </a:p>
          <a:p>
            <a:pPr algn="l">
              <a:lnSpc>
                <a:spcPct val="110000"/>
              </a:lnSpc>
              <a:spcAft>
                <a:spcPts val="400"/>
              </a:spcAft>
            </a:pPr>
            <a:r>
              <a:rPr sz="1400" b="0">
                <a:solidFill>
                  <a:srgbClr val="1F2A3A"/>
                </a:solidFill>
                <a:latin typeface="맑은 고딕"/>
                <a:ea typeface="맑은 고딕"/>
                <a:cs typeface="맑은 고딕"/>
              </a:rPr>
              <a:t>기존 경보는 그대로인가: 변경 전과 같아야 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03</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행동 검증:</a:t>
            </a:r>
          </a:p>
          <a:p>
            <a:pPr algn="l">
              <a:lnSpc>
                <a:spcPct val="110000"/>
              </a:lnSpc>
            </a:pPr>
            <a:r>
              <a:rPr sz="3400" b="1">
                <a:solidFill>
                  <a:srgbClr val="13294B"/>
                </a:solidFill>
                <a:latin typeface="맑은 고딕"/>
                <a:ea typeface="맑은 고딕"/>
                <a:cs typeface="맑은 고딕"/>
              </a:rPr>
              <a:t>시나리오와 회귀 시험</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기대한 행동을 시나리오로 적고 실행으로 되풀이해 확인하는 방법</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명세에 적은 것과 실제로 일어나는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명세는 지킬 것을 정할 뿐이고, 에이전트가 그대로 행동하는지는 실행 결과를 명세와 대어 보아야 드러난다.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24</a:t>
            </a:r>
          </a:p>
        </p:txBody>
      </p:sp>
      <p:pic>
        <p:nvPicPr>
          <p:cNvPr id="6" name="삽화:명세와실행.svg" descr="illust_6868342084711537259_179177036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322943" y="2464390"/>
            <a:ext cx="2727373"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입력 계약</a:t>
            </a:r>
          </a:p>
        </p:txBody>
      </p:sp>
      <p:sp>
        <p:nvSpPr>
          <p:cNvPr id="8" name="TextBox 7"/>
          <p:cNvSpPr txBox="1"/>
          <p:nvPr/>
        </p:nvSpPr>
        <p:spPr>
          <a:xfrm>
            <a:off x="1322943" y="3201872"/>
            <a:ext cx="2727373"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출력 계약</a:t>
            </a:r>
          </a:p>
        </p:txBody>
      </p:sp>
      <p:sp>
        <p:nvSpPr>
          <p:cNvPr id="9" name="TextBox 8"/>
          <p:cNvSpPr txBox="1"/>
          <p:nvPr/>
        </p:nvSpPr>
        <p:spPr>
          <a:xfrm>
            <a:off x="1322943" y="3934626"/>
            <a:ext cx="2727373"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금지 조건</a:t>
            </a:r>
          </a:p>
        </p:txBody>
      </p:sp>
      <p:sp>
        <p:nvSpPr>
          <p:cNvPr id="10" name="TextBox 9"/>
          <p:cNvSpPr txBox="1"/>
          <p:nvPr/>
        </p:nvSpPr>
        <p:spPr>
          <a:xfrm>
            <a:off x="1322943" y="4672108"/>
            <a:ext cx="2727373"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수용 기준</a:t>
            </a:r>
          </a:p>
        </p:txBody>
      </p:sp>
      <p:sp>
        <p:nvSpPr>
          <p:cNvPr id="11" name="TextBox 10"/>
          <p:cNvSpPr txBox="1"/>
          <p:nvPr/>
        </p:nvSpPr>
        <p:spPr>
          <a:xfrm>
            <a:off x="4895803" y="2478572"/>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에이전트의 실행</a:t>
            </a:r>
          </a:p>
        </p:txBody>
      </p:sp>
      <p:sp>
        <p:nvSpPr>
          <p:cNvPr id="12" name="TextBox 11"/>
          <p:cNvSpPr txBox="1"/>
          <p:nvPr/>
        </p:nvSpPr>
        <p:spPr>
          <a:xfrm>
            <a:off x="8026828" y="2289474"/>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실제 결과</a:t>
            </a:r>
          </a:p>
          <a:p>
            <a:pPr algn="ctr">
              <a:lnSpc>
                <a:spcPct val="110000"/>
              </a:lnSpc>
              <a:spcAft>
                <a:spcPts val="100"/>
              </a:spcAft>
            </a:pPr>
            <a:r>
              <a:rPr sz="1300" b="0">
                <a:solidFill>
                  <a:srgbClr val="556175"/>
                </a:solidFill>
                <a:latin typeface="맑은 고딕"/>
                <a:ea typeface="맑은 고딕"/>
                <a:cs typeface="맑은 고딕"/>
              </a:rPr>
              <a:t>추천안</a:t>
            </a:r>
          </a:p>
        </p:txBody>
      </p:sp>
      <p:sp>
        <p:nvSpPr>
          <p:cNvPr id="13" name="TextBox 12"/>
          <p:cNvSpPr txBox="1"/>
          <p:nvPr/>
        </p:nvSpPr>
        <p:spPr>
          <a:xfrm>
            <a:off x="4132138" y="4889571"/>
            <a:ext cx="349103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명세와 실제 결과의 대조</a:t>
            </a:r>
          </a:p>
          <a:p>
            <a:pPr algn="ctr">
              <a:lnSpc>
                <a:spcPct val="110000"/>
              </a:lnSpc>
              <a:spcAft>
                <a:spcPts val="100"/>
              </a:spcAft>
            </a:pPr>
            <a:r>
              <a:rPr sz="1300" b="0">
                <a:solidFill>
                  <a:srgbClr val="556175"/>
                </a:solidFill>
                <a:latin typeface="맑은 고딕"/>
                <a:ea typeface="맑은 고딕"/>
                <a:cs typeface="맑은 고딕"/>
              </a:rPr>
              <a:t>적은 대로 행동했는지는 실행해야 알 수 있다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BDD: 행동을 시나리오로 적고 실행으로 확인하는 개발 방식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BDD는 기대하는 행동을 누구나 읽을 수 있는 시나리오로 적고, 그 시나리오를 실행해 확인하는 방식이다.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25</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BDD</a:t>
            </a:r>
          </a:p>
          <a:p>
            <a:pPr algn="l">
              <a:lnSpc>
                <a:spcPct val="110000"/>
              </a:lnSpc>
              <a:spcAft>
                <a:spcPts val="200"/>
              </a:spcAft>
            </a:pPr>
            <a:r>
              <a:rPr sz="1150" b="0">
                <a:solidFill>
                  <a:srgbClr val="556175"/>
                </a:solidFill>
                <a:latin typeface="맑은 고딕"/>
                <a:ea typeface="맑은 고딕"/>
                <a:cs typeface="맑은 고딕"/>
              </a:rPr>
              <a:t>Behavior-Driven Development</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기대하는 행동을 시나리오로 먼저 적고, 그 시나리오를 실행 가능한 검증으로 연결하는 개발 방식이다.</a:t>
            </a:r>
          </a:p>
          <a:p>
            <a:pPr algn="l">
              <a:lnSpc>
                <a:spcPct val="110000"/>
              </a:lnSpc>
              <a:spcAft>
                <a:spcPts val="300"/>
              </a:spcAft>
            </a:pPr>
            <a:r>
              <a:rPr sz="1400" b="0">
                <a:solidFill>
                  <a:srgbClr val="1F2A3A"/>
                </a:solidFill>
                <a:latin typeface="맑은 고딕"/>
                <a:ea typeface="맑은 고딕"/>
                <a:cs typeface="맑은 고딕"/>
              </a:rPr>
              <a:t>개발자가 아닌 사람도 시나리오를 읽고 맞는지 판단할 수 있다.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행동</a:t>
            </a:r>
          </a:p>
          <a:p>
            <a:pPr algn="l">
              <a:lnSpc>
                <a:spcPct val="110000"/>
              </a:lnSpc>
              <a:spcAft>
                <a:spcPts val="200"/>
              </a:spcAft>
            </a:pPr>
            <a:r>
              <a:rPr sz="1150" b="0">
                <a:solidFill>
                  <a:srgbClr val="556175"/>
                </a:solidFill>
                <a:latin typeface="맑은 고딕"/>
                <a:ea typeface="맑은 고딕"/>
                <a:cs typeface="맑은 고딕"/>
              </a:rPr>
              <a:t>Behavior</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정해진 상황에서 시스템이 내놓는, 밖에서 관찰할 수 있는 결과이다.</a:t>
            </a:r>
          </a:p>
          <a:p>
            <a:pPr algn="l">
              <a:lnSpc>
                <a:spcPct val="110000"/>
              </a:lnSpc>
              <a:spcAft>
                <a:spcPts val="300"/>
              </a:spcAft>
            </a:pPr>
            <a:r>
              <a:rPr sz="1400" b="0">
                <a:solidFill>
                  <a:srgbClr val="1F2A3A"/>
                </a:solidFill>
                <a:latin typeface="맑은 고딕"/>
                <a:ea typeface="맑은 고딕"/>
                <a:cs typeface="맑은 고딕"/>
              </a:rPr>
              <a:t>예: 거절하면 설비 명령이 만들어지지 않는다.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시나리오</a:t>
            </a:r>
          </a:p>
          <a:p>
            <a:pPr algn="l">
              <a:lnSpc>
                <a:spcPct val="110000"/>
              </a:lnSpc>
              <a:spcAft>
                <a:spcPts val="200"/>
              </a:spcAft>
            </a:pPr>
            <a:r>
              <a:rPr sz="1150" b="0">
                <a:solidFill>
                  <a:srgbClr val="556175"/>
                </a:solidFill>
                <a:latin typeface="맑은 고딕"/>
                <a:ea typeface="맑은 고딕"/>
                <a:cs typeface="맑은 고딕"/>
              </a:rPr>
              <a:t>Scenario</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한 가지 상황에서 기대하는 행동 하나를 적은 글이다.</a:t>
            </a:r>
          </a:p>
          <a:p>
            <a:pPr algn="l">
              <a:lnSpc>
                <a:spcPct val="110000"/>
              </a:lnSpc>
              <a:spcAft>
                <a:spcPts val="300"/>
              </a:spcAft>
            </a:pPr>
            <a:r>
              <a:rPr sz="1400" b="0">
                <a:solidFill>
                  <a:srgbClr val="1F2A3A"/>
                </a:solidFill>
                <a:latin typeface="맑은 고딕"/>
                <a:ea typeface="맑은 고딕"/>
                <a:cs typeface="맑은 고딕"/>
              </a:rPr>
              <a:t>전제, 행동, 기대 결과의 세 부분으로 쓴다.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Given · When · Then: 시나리오의 세 부분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시나리오를 전제 Given, 행동 When, 기대 결과 Then으로 나누어 적으면 준비할 것과 확인할 것이 갈린다.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26</a:t>
            </a:r>
          </a:p>
        </p:txBody>
      </p:sp>
      <p:pic>
        <p:nvPicPr>
          <p:cNvPr id="6" name="삽화:세부분.svg" descr="illust_418845985692869814_179177036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022932" y="1769455"/>
            <a:ext cx="305465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Given</a:t>
            </a:r>
          </a:p>
          <a:p>
            <a:pPr algn="ctr">
              <a:lnSpc>
                <a:spcPct val="110000"/>
              </a:lnSpc>
              <a:spcAft>
                <a:spcPts val="100"/>
              </a:spcAft>
            </a:pPr>
            <a:r>
              <a:rPr sz="1300" b="0">
                <a:solidFill>
                  <a:srgbClr val="556175"/>
                </a:solidFill>
                <a:latin typeface="맑은 고딕"/>
                <a:ea typeface="맑은 고딕"/>
                <a:cs typeface="맑은 고딕"/>
              </a:rPr>
              <a:t>전제: 행동이 일어나기 전의 상태</a:t>
            </a:r>
          </a:p>
        </p:txBody>
      </p:sp>
      <p:sp>
        <p:nvSpPr>
          <p:cNvPr id="8" name="TextBox 7"/>
          <p:cNvSpPr txBox="1"/>
          <p:nvPr/>
        </p:nvSpPr>
        <p:spPr>
          <a:xfrm>
            <a:off x="4568518" y="1769455"/>
            <a:ext cx="305465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When</a:t>
            </a:r>
          </a:p>
          <a:p>
            <a:pPr algn="ctr">
              <a:lnSpc>
                <a:spcPct val="110000"/>
              </a:lnSpc>
              <a:spcAft>
                <a:spcPts val="100"/>
              </a:spcAft>
            </a:pPr>
            <a:r>
              <a:rPr sz="1300" b="0">
                <a:solidFill>
                  <a:srgbClr val="556175"/>
                </a:solidFill>
                <a:latin typeface="맑은 고딕"/>
                <a:ea typeface="맑은 고딕"/>
                <a:cs typeface="맑은 고딕"/>
              </a:rPr>
              <a:t>행동: 확인하려는 행동 하나</a:t>
            </a:r>
          </a:p>
        </p:txBody>
      </p:sp>
      <p:sp>
        <p:nvSpPr>
          <p:cNvPr id="9" name="TextBox 8"/>
          <p:cNvSpPr txBox="1"/>
          <p:nvPr/>
        </p:nvSpPr>
        <p:spPr>
          <a:xfrm>
            <a:off x="8114104" y="1769455"/>
            <a:ext cx="305465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Then</a:t>
            </a:r>
          </a:p>
          <a:p>
            <a:pPr algn="ctr">
              <a:lnSpc>
                <a:spcPct val="110000"/>
              </a:lnSpc>
              <a:spcAft>
                <a:spcPts val="100"/>
              </a:spcAft>
            </a:pPr>
            <a:r>
              <a:rPr sz="1300" b="0">
                <a:solidFill>
                  <a:srgbClr val="556175"/>
                </a:solidFill>
                <a:latin typeface="맑은 고딕"/>
                <a:ea typeface="맑은 고딕"/>
                <a:cs typeface="맑은 고딕"/>
              </a:rPr>
              <a:t>기대 결과: 관찰할 수 있는 사실</a:t>
            </a:r>
          </a:p>
        </p:txBody>
      </p:sp>
      <p:sp>
        <p:nvSpPr>
          <p:cNvPr id="10" name="TextBox 9"/>
          <p:cNvSpPr txBox="1"/>
          <p:nvPr/>
        </p:nvSpPr>
        <p:spPr>
          <a:xfrm>
            <a:off x="1132027" y="4653198"/>
            <a:ext cx="283646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 단계가 열려 있다</a:t>
            </a:r>
          </a:p>
          <a:p>
            <a:pPr algn="ctr">
              <a:lnSpc>
                <a:spcPct val="110000"/>
              </a:lnSpc>
              <a:spcAft>
                <a:spcPts val="100"/>
              </a:spcAft>
            </a:pPr>
            <a:r>
              <a:rPr sz="1300" b="0">
                <a:solidFill>
                  <a:srgbClr val="556175"/>
                </a:solidFill>
                <a:latin typeface="맑은 고딕"/>
                <a:ea typeface="맑은 고딕"/>
                <a:cs typeface="맑은 고딕"/>
              </a:rPr>
              <a:t>추천안이 올라와 담당자의 결정을 기다린다</a:t>
            </a:r>
          </a:p>
        </p:txBody>
      </p:sp>
      <p:sp>
        <p:nvSpPr>
          <p:cNvPr id="11" name="TextBox 10"/>
          <p:cNvSpPr txBox="1"/>
          <p:nvPr/>
        </p:nvSpPr>
        <p:spPr>
          <a:xfrm>
            <a:off x="4677613" y="4653198"/>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사유를 적고 거절한다</a:t>
            </a:r>
          </a:p>
          <a:p>
            <a:pPr algn="ctr">
              <a:lnSpc>
                <a:spcPct val="110000"/>
              </a:lnSpc>
              <a:spcAft>
                <a:spcPts val="100"/>
              </a:spcAft>
            </a:pPr>
            <a:r>
              <a:rPr sz="1300" b="0">
                <a:solidFill>
                  <a:srgbClr val="556175"/>
                </a:solidFill>
                <a:latin typeface="맑은 고딕"/>
                <a:ea typeface="맑은 고딕"/>
                <a:cs typeface="맑은 고딕"/>
              </a:rPr>
              <a:t>승인 권한이 있는 담당자가 한다</a:t>
            </a:r>
          </a:p>
        </p:txBody>
      </p:sp>
      <p:sp>
        <p:nvSpPr>
          <p:cNvPr id="12" name="TextBox 11"/>
          <p:cNvSpPr txBox="1"/>
          <p:nvPr/>
        </p:nvSpPr>
        <p:spPr>
          <a:xfrm>
            <a:off x="8223199" y="4653198"/>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명령도 업무 처리도 없다</a:t>
            </a:r>
          </a:p>
          <a:p>
            <a:pPr algn="ctr">
              <a:lnSpc>
                <a:spcPct val="110000"/>
              </a:lnSpc>
              <a:spcAft>
                <a:spcPts val="100"/>
              </a:spcAft>
            </a:pPr>
            <a:r>
              <a:rPr sz="1300" b="0">
                <a:solidFill>
                  <a:srgbClr val="556175"/>
                </a:solidFill>
                <a:latin typeface="맑은 고딕"/>
                <a:ea typeface="맑은 고딕"/>
                <a:cs typeface="맑은 고딕"/>
              </a:rPr>
              <a:t>처리 건은 거절로 닫힌다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시나리오 한 편: 승인 단계의 거절</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거절의 시나리오는 Then에 일어나지 않아야 할 일까지 적어, 금지 조건이 지켜지는지를 확인하게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27</a:t>
            </a:r>
          </a:p>
        </p:txBody>
      </p:sp>
      <p:sp>
        <p:nvSpPr>
          <p:cNvPr id="6" name="Rounded Rectangle 5"/>
          <p:cNvSpPr/>
          <p:nvPr/>
        </p:nvSpPr>
        <p:spPr>
          <a:xfrm>
            <a:off x="548640" y="1990852"/>
            <a:ext cx="6766560" cy="400100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128012"/>
            <a:ext cx="6400800" cy="3726688"/>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Scenario: </a:t>
            </a:r>
            <a:r>
              <a:rPr sz="1300" b="0">
                <a:solidFill>
                  <a:srgbClr val="E8EEF6"/>
                </a:solidFill>
                <a:latin typeface="맑은 고딕"/>
                <a:ea typeface="맑은 고딕"/>
                <a:cs typeface="맑은 고딕"/>
              </a:rPr>
              <a:t>담당자가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추천을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거절한다</a:t>
            </a:r>
          </a:p>
          <a:p>
            <a:pPr algn="l">
              <a:lnSpc>
                <a:spcPct val="110000"/>
              </a:lnSpc>
              <a:spcAft>
                <a:spcPts val="200"/>
              </a:spcAft>
            </a:pPr>
            <a:r>
              <a:rPr sz="1300" b="0">
                <a:solidFill>
                  <a:srgbClr val="E8EEF6"/>
                </a:solidFill>
                <a:latin typeface="Consolas"/>
                <a:ea typeface="맑은 고딕"/>
                <a:cs typeface="맑은 고딕"/>
              </a:rPr>
              <a:t>  Given </a:t>
            </a:r>
            <a:r>
              <a:rPr sz="1300" b="0">
                <a:solidFill>
                  <a:srgbClr val="E8EEF6"/>
                </a:solidFill>
                <a:latin typeface="맑은 고딕"/>
                <a:ea typeface="맑은 고딕"/>
                <a:cs typeface="맑은 고딕"/>
              </a:rPr>
              <a:t>에이전트가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추천안을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내어</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단계가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열려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있다</a:t>
            </a:r>
          </a:p>
          <a:p>
            <a:pPr algn="l">
              <a:lnSpc>
                <a:spcPct val="110000"/>
              </a:lnSpc>
              <a:spcAft>
                <a:spcPts val="200"/>
              </a:spcAft>
            </a:pPr>
            <a:r>
              <a:rPr sz="1300" b="0">
                <a:solidFill>
                  <a:srgbClr val="E8EEF6"/>
                </a:solidFill>
                <a:latin typeface="Consolas"/>
                <a:ea typeface="맑은 고딕"/>
                <a:cs typeface="맑은 고딕"/>
              </a:rPr>
              <a:t>  When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권한이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있는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담당자가</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사유를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적고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거절한다</a:t>
            </a:r>
          </a:p>
          <a:p>
            <a:pPr algn="l">
              <a:lnSpc>
                <a:spcPct val="110000"/>
              </a:lnSpc>
              <a:spcAft>
                <a:spcPts val="200"/>
              </a:spcAft>
            </a:pPr>
            <a:r>
              <a:rPr sz="1300" b="0">
                <a:solidFill>
                  <a:srgbClr val="E8EEF6"/>
                </a:solidFill>
                <a:latin typeface="Consolas"/>
                <a:ea typeface="맑은 고딕"/>
                <a:cs typeface="맑은 고딕"/>
              </a:rPr>
              <a:t>  Then  </a:t>
            </a:r>
            <a:r>
              <a:rPr sz="1300" b="0">
                <a:solidFill>
                  <a:srgbClr val="E8EEF6"/>
                </a:solidFill>
                <a:latin typeface="맑은 고딕"/>
                <a:ea typeface="맑은 고딕"/>
                <a:cs typeface="맑은 고딕"/>
              </a:rPr>
              <a:t>설비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명령이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만들어지지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않는다</a:t>
            </a:r>
          </a:p>
          <a:p>
            <a:pPr algn="l">
              <a:lnSpc>
                <a:spcPct val="110000"/>
              </a:lnSpc>
              <a:spcAft>
                <a:spcPts val="200"/>
              </a:spcAft>
            </a:pPr>
            <a:r>
              <a:rPr sz="1300" b="0">
                <a:solidFill>
                  <a:srgbClr val="E8EEF6"/>
                </a:solidFill>
                <a:latin typeface="Consolas"/>
                <a:ea typeface="맑은 고딕"/>
                <a:cs typeface="맑은 고딕"/>
              </a:rPr>
              <a:t>  And   </a:t>
            </a:r>
            <a:r>
              <a:rPr sz="1300" b="0">
                <a:solidFill>
                  <a:srgbClr val="E8EEF6"/>
                </a:solidFill>
                <a:latin typeface="맑은 고딕"/>
                <a:ea typeface="맑은 고딕"/>
                <a:cs typeface="맑은 고딕"/>
              </a:rPr>
              <a:t>업무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처리가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일어나지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않는다</a:t>
            </a:r>
          </a:p>
          <a:p>
            <a:pPr algn="l">
              <a:lnSpc>
                <a:spcPct val="110000"/>
              </a:lnSpc>
              <a:spcAft>
                <a:spcPts val="200"/>
              </a:spcAft>
            </a:pPr>
            <a:r>
              <a:rPr sz="1300" b="0">
                <a:solidFill>
                  <a:srgbClr val="E8EEF6"/>
                </a:solidFill>
                <a:latin typeface="Consolas"/>
                <a:ea typeface="맑은 고딕"/>
                <a:cs typeface="맑은 고딕"/>
              </a:rPr>
              <a:t>  And   </a:t>
            </a:r>
            <a:r>
              <a:rPr sz="1300" b="0">
                <a:solidFill>
                  <a:srgbClr val="E8EEF6"/>
                </a:solidFill>
                <a:latin typeface="맑은 고딕"/>
                <a:ea typeface="맑은 고딕"/>
                <a:cs typeface="맑은 고딕"/>
              </a:rPr>
              <a:t>처리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건이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닫힌다</a:t>
            </a:r>
          </a:p>
        </p:txBody>
      </p:sp>
      <p:sp>
        <p:nvSpPr>
          <p:cNvPr id="8" name="TextBox 7"/>
          <p:cNvSpPr txBox="1"/>
          <p:nvPr/>
        </p:nvSpPr>
        <p:spPr>
          <a:xfrm>
            <a:off x="7635240" y="1990852"/>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서식</a:t>
            </a:r>
          </a:p>
          <a:p>
            <a:pPr algn="l">
              <a:lnSpc>
                <a:spcPct val="110000"/>
              </a:lnSpc>
              <a:spcAft>
                <a:spcPts val="400"/>
              </a:spcAft>
            </a:pPr>
            <a:r>
              <a:rPr sz="1400" b="0">
                <a:solidFill>
                  <a:srgbClr val="1F2A3A"/>
                </a:solidFill>
                <a:latin typeface="맑은 고딕"/>
                <a:ea typeface="맑은 고딕"/>
                <a:cs typeface="맑은 고딕"/>
              </a:rPr>
              <a:t>Scenario, Given, When, Then, And로 적는 이 서식의 이름이 Gherkin이다.</a:t>
            </a:r>
          </a:p>
        </p:txBody>
      </p:sp>
      <p:sp>
        <p:nvSpPr>
          <p:cNvPr id="9" name="TextBox 8"/>
          <p:cNvSpPr txBox="1"/>
          <p:nvPr/>
        </p:nvSpPr>
        <p:spPr>
          <a:xfrm>
            <a:off x="7635240" y="2991104"/>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Given</a:t>
            </a:r>
          </a:p>
          <a:p>
            <a:pPr algn="l">
              <a:lnSpc>
                <a:spcPct val="110000"/>
              </a:lnSpc>
              <a:spcAft>
                <a:spcPts val="400"/>
              </a:spcAft>
            </a:pPr>
            <a:r>
              <a:rPr sz="1400" b="0">
                <a:solidFill>
                  <a:srgbClr val="1F2A3A"/>
                </a:solidFill>
                <a:latin typeface="맑은 고딕"/>
                <a:ea typeface="맑은 고딕"/>
                <a:cs typeface="맑은 고딕"/>
              </a:rPr>
              <a:t>승인 단계가 열린 상태까지가 전제이다.</a:t>
            </a:r>
          </a:p>
        </p:txBody>
      </p:sp>
      <p:sp>
        <p:nvSpPr>
          <p:cNvPr id="10" name="TextBox 9"/>
          <p:cNvSpPr txBox="1"/>
          <p:nvPr/>
        </p:nvSpPr>
        <p:spPr>
          <a:xfrm>
            <a:off x="7635240" y="3991356"/>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When</a:t>
            </a:r>
          </a:p>
          <a:p>
            <a:pPr algn="l">
              <a:lnSpc>
                <a:spcPct val="110000"/>
              </a:lnSpc>
              <a:spcAft>
                <a:spcPts val="400"/>
              </a:spcAft>
            </a:pPr>
            <a:r>
              <a:rPr sz="1400" b="0">
                <a:solidFill>
                  <a:srgbClr val="1F2A3A"/>
                </a:solidFill>
                <a:latin typeface="맑은 고딕"/>
                <a:ea typeface="맑은 고딕"/>
                <a:cs typeface="맑은 고딕"/>
              </a:rPr>
              <a:t>행동은 거절 하나뿐이다.</a:t>
            </a:r>
          </a:p>
        </p:txBody>
      </p:sp>
      <p:sp>
        <p:nvSpPr>
          <p:cNvPr id="11" name="TextBox 10"/>
          <p:cNvSpPr txBox="1"/>
          <p:nvPr/>
        </p:nvSpPr>
        <p:spPr>
          <a:xfrm>
            <a:off x="7635240" y="4991608"/>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Then · And</a:t>
            </a:r>
          </a:p>
          <a:p>
            <a:pPr algn="l">
              <a:lnSpc>
                <a:spcPct val="110000"/>
              </a:lnSpc>
              <a:spcAft>
                <a:spcPts val="400"/>
              </a:spcAft>
            </a:pPr>
            <a:r>
              <a:rPr sz="1400" b="0">
                <a:solidFill>
                  <a:srgbClr val="1F2A3A"/>
                </a:solidFill>
                <a:latin typeface="맑은 고딕"/>
                <a:ea typeface="맑은 고딕"/>
                <a:cs typeface="맑은 고딕"/>
              </a:rPr>
              <a:t>기대 결과를 한 줄에 하나씩 적는다. And는 앞줄과 같은 부분을 잇는다.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SDD와 BDD: 정하는 일과 확인하는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SDD와 BDD는 묻는 것과 하는 때와 남기는 것이 다르며, 명세가 먼저 있어야 시나리오의 기대값을 적을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28</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SDD · 요구 명세</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묻는 것: 무엇을 만들고 무엇을 지킬 것인가</a:t>
            </a:r>
          </a:p>
          <a:p>
            <a:pPr algn="l">
              <a:lnSpc>
                <a:spcPct val="110000"/>
              </a:lnSpc>
              <a:spcAft>
                <a:spcPts val="600"/>
              </a:spcAft>
            </a:pPr>
            <a:r>
              <a:rPr sz="1450" b="0">
                <a:solidFill>
                  <a:srgbClr val="1F2A3A"/>
                </a:solidFill>
                <a:latin typeface="맑은 고딕"/>
                <a:ea typeface="맑은 고딕"/>
                <a:cs typeface="맑은 고딕"/>
              </a:rPr>
              <a:t>• 때: 구현하기 전</a:t>
            </a:r>
          </a:p>
          <a:p>
            <a:pPr algn="l">
              <a:lnSpc>
                <a:spcPct val="110000"/>
              </a:lnSpc>
              <a:spcAft>
                <a:spcPts val="600"/>
              </a:spcAft>
            </a:pPr>
            <a:r>
              <a:rPr sz="1450" b="0">
                <a:solidFill>
                  <a:srgbClr val="1F2A3A"/>
                </a:solidFill>
                <a:latin typeface="맑은 고딕"/>
                <a:ea typeface="맑은 고딕"/>
                <a:cs typeface="맑은 고딕"/>
              </a:rPr>
              <a:t>• 남는 것: 명세 문서</a:t>
            </a:r>
          </a:p>
          <a:p>
            <a:pPr algn="l">
              <a:lnSpc>
                <a:spcPct val="110000"/>
              </a:lnSpc>
              <a:spcAft>
                <a:spcPts val="600"/>
              </a:spcAft>
            </a:pPr>
            <a:r>
              <a:rPr sz="1450" b="0">
                <a:solidFill>
                  <a:srgbClr val="1F2A3A"/>
                </a:solidFill>
                <a:latin typeface="맑은 고딕"/>
                <a:ea typeface="맑은 고딕"/>
                <a:cs typeface="맑은 고딕"/>
              </a:rPr>
              <a:t>• 예: 「승인 없이 설비 명령을 내지 않는다」</a:t>
            </a:r>
          </a:p>
        </p:txBody>
      </p:sp>
      <p:sp>
        <p:nvSpPr>
          <p:cNvPr id="11" name="Rounded Rectangle 10"/>
          <p:cNvSpPr/>
          <p:nvPr/>
        </p:nvSpPr>
        <p:spPr>
          <a:xfrm>
            <a:off x="868680" y="5096002"/>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정한다</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checklist" descr="checklist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BDD · 행동 검증</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묻는 것: 만든 것이 정한 대로 행동하는가</a:t>
            </a:r>
          </a:p>
          <a:p>
            <a:pPr algn="l">
              <a:lnSpc>
                <a:spcPct val="110000"/>
              </a:lnSpc>
              <a:spcAft>
                <a:spcPts val="600"/>
              </a:spcAft>
            </a:pPr>
            <a:r>
              <a:rPr sz="1450" b="0">
                <a:solidFill>
                  <a:srgbClr val="1F2A3A"/>
                </a:solidFill>
                <a:latin typeface="맑은 고딕"/>
                <a:ea typeface="맑은 고딕"/>
                <a:cs typeface="맑은 고딕"/>
              </a:rPr>
              <a:t>• 때: 구현한 뒤, 그리고 바꿀 때마다</a:t>
            </a:r>
          </a:p>
          <a:p>
            <a:pPr algn="l">
              <a:lnSpc>
                <a:spcPct val="110000"/>
              </a:lnSpc>
              <a:spcAft>
                <a:spcPts val="600"/>
              </a:spcAft>
            </a:pPr>
            <a:r>
              <a:rPr sz="1450" b="0">
                <a:solidFill>
                  <a:srgbClr val="1F2A3A"/>
                </a:solidFill>
                <a:latin typeface="맑은 고딕"/>
                <a:ea typeface="맑은 고딕"/>
                <a:cs typeface="맑은 고딕"/>
              </a:rPr>
              <a:t>• 남는 것: 시나리오와 실행 결과</a:t>
            </a:r>
          </a:p>
          <a:p>
            <a:pPr algn="l">
              <a:lnSpc>
                <a:spcPct val="110000"/>
              </a:lnSpc>
              <a:spcAft>
                <a:spcPts val="600"/>
              </a:spcAft>
            </a:pPr>
            <a:r>
              <a:rPr sz="1450" b="0">
                <a:solidFill>
                  <a:srgbClr val="1F2A3A"/>
                </a:solidFill>
                <a:latin typeface="맑은 고딕"/>
                <a:ea typeface="맑은 고딕"/>
                <a:cs typeface="맑은 고딕"/>
              </a:rPr>
              <a:t>• 예: 「거절하면 설비 명령이 0건이다」가 통과한다</a:t>
            </a:r>
          </a:p>
        </p:txBody>
      </p:sp>
      <p:sp>
        <p:nvSpPr>
          <p:cNvPr id="18" name="Rounded Rectangle 17"/>
          <p:cNvSpPr/>
          <p:nvPr/>
        </p:nvSpPr>
        <p:spPr>
          <a:xfrm>
            <a:off x="6781647" y="5096002"/>
            <a:ext cx="9753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확인한다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회귀 시험: 변경 뒤에 다시 실행하는 기존 시나리오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새 조건을 더한 뒤에 기존 시나리오까지 모두 다시 실행해야, 고치지 않은 행동이 달라졌는지를 알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29</a:t>
            </a:r>
          </a:p>
        </p:txBody>
      </p:sp>
      <p:pic>
        <p:nvPicPr>
          <p:cNvPr id="6" name="삽화:회귀.svg" descr="illust_4343967776034291423_179177036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862963" y="2242200"/>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변경 전</a:t>
            </a:r>
          </a:p>
        </p:txBody>
      </p:sp>
      <p:sp>
        <p:nvSpPr>
          <p:cNvPr id="8" name="TextBox 7"/>
          <p:cNvSpPr txBox="1"/>
          <p:nvPr/>
        </p:nvSpPr>
        <p:spPr>
          <a:xfrm>
            <a:off x="2059334" y="5007757"/>
            <a:ext cx="261827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기존 시나리오 넷</a:t>
            </a:r>
          </a:p>
          <a:p>
            <a:pPr algn="ctr">
              <a:lnSpc>
                <a:spcPct val="110000"/>
              </a:lnSpc>
              <a:spcAft>
                <a:spcPts val="100"/>
              </a:spcAft>
            </a:pPr>
            <a:r>
              <a:rPr sz="1300" b="0">
                <a:solidFill>
                  <a:srgbClr val="556175"/>
                </a:solidFill>
                <a:latin typeface="맑은 고딕"/>
                <a:ea typeface="맑은 고딕"/>
                <a:cs typeface="맑은 고딕"/>
              </a:rPr>
              <a:t>일반 요청, 보류, 거절 등</a:t>
            </a:r>
          </a:p>
          <a:p>
            <a:pPr algn="ctr">
              <a:lnSpc>
                <a:spcPct val="110000"/>
              </a:lnSpc>
              <a:spcAft>
                <a:spcPts val="100"/>
              </a:spcAft>
            </a:pPr>
            <a:r>
              <a:rPr sz="1300" b="0">
                <a:solidFill>
                  <a:srgbClr val="556175"/>
                </a:solidFill>
                <a:latin typeface="맑은 고딕"/>
                <a:ea typeface="맑은 고딕"/>
                <a:cs typeface="맑은 고딕"/>
              </a:rPr>
              <a:t>모두 통과한 상태</a:t>
            </a:r>
          </a:p>
        </p:txBody>
      </p:sp>
      <p:sp>
        <p:nvSpPr>
          <p:cNvPr id="9" name="TextBox 8"/>
          <p:cNvSpPr txBox="1"/>
          <p:nvPr/>
        </p:nvSpPr>
        <p:spPr>
          <a:xfrm>
            <a:off x="4568518" y="4180453"/>
            <a:ext cx="2072804"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요구의 변경</a:t>
            </a:r>
          </a:p>
          <a:p>
            <a:pPr algn="ctr">
              <a:lnSpc>
                <a:spcPct val="110000"/>
              </a:lnSpc>
              <a:spcAft>
                <a:spcPts val="100"/>
              </a:spcAft>
            </a:pPr>
            <a:r>
              <a:rPr sz="1300" b="0">
                <a:solidFill>
                  <a:srgbClr val="556175"/>
                </a:solidFill>
                <a:latin typeface="맑은 고딕"/>
                <a:ea typeface="맑은 고딕"/>
                <a:cs typeface="맑은 고딕"/>
              </a:rPr>
              <a:t>명세에 긴급 조건을 더한다</a:t>
            </a:r>
          </a:p>
        </p:txBody>
      </p:sp>
      <p:sp>
        <p:nvSpPr>
          <p:cNvPr id="10" name="TextBox 9"/>
          <p:cNvSpPr txBox="1"/>
          <p:nvPr/>
        </p:nvSpPr>
        <p:spPr>
          <a:xfrm>
            <a:off x="8059556" y="2242200"/>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변경 후</a:t>
            </a:r>
          </a:p>
        </p:txBody>
      </p:sp>
      <p:sp>
        <p:nvSpPr>
          <p:cNvPr id="11" name="TextBox 10"/>
          <p:cNvSpPr txBox="1"/>
          <p:nvPr/>
        </p:nvSpPr>
        <p:spPr>
          <a:xfrm>
            <a:off x="10241455" y="3329513"/>
            <a:ext cx="130913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회귀 시험</a:t>
            </a:r>
          </a:p>
          <a:p>
            <a:pPr algn="ctr">
              <a:lnSpc>
                <a:spcPct val="110000"/>
              </a:lnSpc>
              <a:spcAft>
                <a:spcPts val="100"/>
              </a:spcAft>
            </a:pPr>
            <a:r>
              <a:rPr sz="1300" b="0">
                <a:solidFill>
                  <a:srgbClr val="556175"/>
                </a:solidFill>
                <a:latin typeface="맑은 고딕"/>
                <a:ea typeface="맑은 고딕"/>
                <a:cs typeface="맑은 고딕"/>
              </a:rPr>
              <a:t>기존 넷 재실행</a:t>
            </a:r>
          </a:p>
        </p:txBody>
      </p:sp>
      <p:sp>
        <p:nvSpPr>
          <p:cNvPr id="12" name="TextBox 11"/>
          <p:cNvSpPr txBox="1"/>
          <p:nvPr/>
        </p:nvSpPr>
        <p:spPr>
          <a:xfrm>
            <a:off x="10241455" y="4511375"/>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새 시나리오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사람이 개입하는 업무 상태 확인</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HYD 포털의 승인 대기 건에서 승인 역할의 제한을 확인하고 AI의 검토와 사람의 승인을 구분한다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확인하는 상태와 구분하는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실습에서는 승인 대기 건 하나에서 승인 역할의 제한과, 검사를 통과한 상태와 승인된 상태의 차이를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31</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eye" descr="eye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 대기 건을 읽는다</a:t>
            </a:r>
          </a:p>
          <a:p>
            <a:pPr algn="l">
              <a:lnSpc>
                <a:spcPct val="110000"/>
              </a:lnSpc>
              <a:spcAft>
                <a:spcPts val="400"/>
              </a:spcAft>
            </a:pPr>
            <a:r>
              <a:rPr sz="1400" b="0">
                <a:solidFill>
                  <a:srgbClr val="1F2A3A"/>
                </a:solidFill>
                <a:latin typeface="맑은 고딕"/>
                <a:ea typeface="맑은 고딕"/>
                <a:cs typeface="맑은 고딕"/>
              </a:rPr>
              <a:t>올라온 추천안과, 처리 건이 사람의 승인을 기다리는 상태임을 확인한다</a:t>
            </a:r>
          </a:p>
        </p:txBody>
      </p:sp>
      <p:sp>
        <p:nvSpPr>
          <p:cNvPr id="10" name="Rounded Rectangle 9"/>
          <p:cNvSpPr/>
          <p:nvPr/>
        </p:nvSpPr>
        <p:spPr>
          <a:xfrm>
            <a:off x="777240" y="514985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상태</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id" descr="id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역할 제한을 확인한다</a:t>
            </a:r>
          </a:p>
          <a:p>
            <a:pPr algn="l">
              <a:lnSpc>
                <a:spcPct val="110000"/>
              </a:lnSpc>
              <a:spcAft>
                <a:spcPts val="400"/>
              </a:spcAft>
            </a:pPr>
            <a:r>
              <a:rPr sz="1400" b="0">
                <a:solidFill>
                  <a:srgbClr val="1F2A3A"/>
                </a:solidFill>
                <a:latin typeface="맑은 고딕"/>
                <a:ea typeface="맑은 고딕"/>
                <a:cs typeface="맑은 고딕"/>
              </a:rPr>
              <a:t>• 그 조치의 승인 역할을 확인한다</a:t>
            </a:r>
          </a:p>
          <a:p>
            <a:pPr algn="l">
              <a:lnSpc>
                <a:spcPct val="110000"/>
              </a:lnSpc>
              <a:spcAft>
                <a:spcPts val="400"/>
              </a:spcAft>
            </a:pPr>
            <a:r>
              <a:rPr sz="1400" b="0">
                <a:solidFill>
                  <a:srgbClr val="1F2A3A"/>
                </a:solidFill>
                <a:latin typeface="맑은 고딕"/>
                <a:ea typeface="맑은 고딕"/>
                <a:cs typeface="맑은 고딕"/>
              </a:rPr>
              <a:t>• 권한이 없는 역할의 승인이 받아들여지지 않는 것을 본다</a:t>
            </a:r>
          </a:p>
        </p:txBody>
      </p:sp>
      <p:sp>
        <p:nvSpPr>
          <p:cNvPr id="16" name="Rounded Rectangle 15"/>
          <p:cNvSpPr/>
          <p:nvPr/>
        </p:nvSpPr>
        <p:spPr>
          <a:xfrm>
            <a:off x="4566818" y="514985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경계</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user-check" descr="user-check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검토와 승인을 구분한다</a:t>
            </a:r>
          </a:p>
          <a:p>
            <a:pPr algn="l">
              <a:lnSpc>
                <a:spcPct val="110000"/>
              </a:lnSpc>
              <a:spcAft>
                <a:spcPts val="400"/>
              </a:spcAft>
            </a:pPr>
            <a:r>
              <a:rPr sz="1400" b="0">
                <a:solidFill>
                  <a:srgbClr val="1F2A3A"/>
                </a:solidFill>
                <a:latin typeface="맑은 고딕"/>
                <a:ea typeface="맑은 고딕"/>
                <a:cs typeface="맑은 고딕"/>
              </a:rPr>
              <a:t>• 가드레일을 통과한 추천안의 상태가 승인 대기임을 확인한다</a:t>
            </a:r>
          </a:p>
          <a:p>
            <a:pPr algn="l">
              <a:lnSpc>
                <a:spcPct val="110000"/>
              </a:lnSpc>
              <a:spcAft>
                <a:spcPts val="400"/>
              </a:spcAft>
            </a:pPr>
            <a:r>
              <a:rPr sz="1400" b="0">
                <a:solidFill>
                  <a:srgbClr val="1F2A3A"/>
                </a:solidFill>
                <a:latin typeface="맑은 고딕"/>
                <a:ea typeface="맑은 고딕"/>
                <a:cs typeface="맑은 고딕"/>
              </a:rPr>
              <a:t>• 승인한 사람과 역할은 승인 뒤에만 기록되는 것을 본다</a:t>
            </a:r>
          </a:p>
        </p:txBody>
      </p:sp>
      <p:sp>
        <p:nvSpPr>
          <p:cNvPr id="22" name="Rounded Rectangle 21"/>
          <p:cNvSpPr/>
          <p:nvPr/>
        </p:nvSpPr>
        <p:spPr>
          <a:xfrm>
            <a:off x="8356396" y="5149850"/>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구분</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정보가 부족하면 질문하고</a:t>
            </a:r>
          </a:p>
          <a:p>
            <a:pPr algn="l">
              <a:lnSpc>
                <a:spcPct val="110000"/>
              </a:lnSpc>
            </a:pPr>
            <a:r>
              <a:rPr sz="3400" b="1">
                <a:solidFill>
                  <a:srgbClr val="13294B"/>
                </a:solidFill>
                <a:latin typeface="맑은 고딕"/>
                <a:ea typeface="맑은 고딕"/>
                <a:cs typeface="맑은 고딕"/>
              </a:rPr>
              <a:t>다시 처리하는 에이전트</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5회차에 만든 에이전트가 빠진 정보를 확정하지 않고 확인 질문을 내도록 고친다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고치는 동작과 남는 기록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빠진 정보를 확정하지 않고 확인 질문을 내게 고친 뒤, 추가 입력을 받아 다시 판단한 결과와 전후 상태를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33</a:t>
            </a:r>
          </a:p>
        </p:txBody>
      </p:sp>
      <p:sp>
        <p:nvSpPr>
          <p:cNvPr id="6" name="Rounded Rectangle 5"/>
          <p:cNvSpPr/>
          <p:nvPr/>
        </p:nvSpPr>
        <p:spPr>
          <a:xfrm>
            <a:off x="548640" y="2498598"/>
            <a:ext cx="2485567" cy="2985515"/>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681478"/>
            <a:ext cx="731520" cy="731520"/>
          </a:xfrm>
          <a:prstGeom prst="ellipse">
            <a:avLst/>
          </a:prstGeom>
          <a:solidFill>
            <a:srgbClr val="FFFFFF"/>
          </a:solidFill>
          <a:ln>
            <a:noFill/>
          </a:ln>
        </p:spPr>
        <p:txBody>
          <a:bodyPr rtlCol="0" anchor="ctr"/>
          <a:lstStyle/>
          <a:p>
            <a:pPr algn="ctr"/>
          </a:p>
        </p:txBody>
      </p:sp>
      <p:pic>
        <p:nvPicPr>
          <p:cNvPr id="8" name="아이콘:file-x" descr="file-x_13294B_1.6.png"/>
          <p:cNvPicPr>
            <a:picLocks noChangeAspect="1"/>
          </p:cNvPicPr>
          <p:nvPr/>
        </p:nvPicPr>
        <p:blipFill>
          <a:blip r:embed="rId3"/>
          <a:stretch>
            <a:fillRect/>
          </a:stretch>
        </p:blipFill>
        <p:spPr>
          <a:xfrm>
            <a:off x="1579283" y="2835097"/>
            <a:ext cx="424281" cy="424281"/>
          </a:xfrm>
          <a:prstGeom prst="rect">
            <a:avLst/>
          </a:prstGeom>
        </p:spPr>
      </p:pic>
      <p:sp>
        <p:nvSpPr>
          <p:cNvPr id="9" name="TextBox 8"/>
          <p:cNvSpPr txBox="1"/>
          <p:nvPr/>
        </p:nvSpPr>
        <p:spPr>
          <a:xfrm>
            <a:off x="621792"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빠진 요청을 넣는다</a:t>
            </a:r>
          </a:p>
          <a:p>
            <a:pPr algn="ctr">
              <a:lnSpc>
                <a:spcPct val="110000"/>
              </a:lnSpc>
              <a:spcAft>
                <a:spcPts val="400"/>
              </a:spcAft>
            </a:pPr>
            <a:r>
              <a:rPr sz="1350" b="0">
                <a:solidFill>
                  <a:srgbClr val="1F2A3A"/>
                </a:solidFill>
                <a:latin typeface="맑은 고딕"/>
                <a:ea typeface="맑은 고딕"/>
                <a:cs typeface="맑은 고딕"/>
              </a:rPr>
              <a:t>필수 입력이 빠진</a:t>
            </a:r>
          </a:p>
          <a:p>
            <a:pPr algn="ctr">
              <a:lnSpc>
                <a:spcPct val="110000"/>
              </a:lnSpc>
              <a:spcAft>
                <a:spcPts val="400"/>
              </a:spcAft>
            </a:pPr>
            <a:r>
              <a:rPr sz="1350" b="0">
                <a:solidFill>
                  <a:srgbClr val="1F2A3A"/>
                </a:solidFill>
                <a:latin typeface="맑은 고딕"/>
                <a:ea typeface="맑은 고딕"/>
                <a:cs typeface="맑은 고딕"/>
              </a:rPr>
              <a:t>요청을 준다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498598"/>
            <a:ext cx="2485567" cy="2985515"/>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4295279" y="2681478"/>
            <a:ext cx="731520" cy="731520"/>
          </a:xfrm>
          <a:prstGeom prst="ellipse">
            <a:avLst/>
          </a:prstGeom>
          <a:solidFill>
            <a:srgbClr val="5CB8F2"/>
          </a:solidFill>
          <a:ln>
            <a:noFill/>
          </a:ln>
        </p:spPr>
        <p:txBody>
          <a:bodyPr rtlCol="0" anchor="ctr"/>
          <a:lstStyle/>
          <a:p>
            <a:pPr algn="ctr"/>
          </a:p>
        </p:txBody>
      </p:sp>
      <p:pic>
        <p:nvPicPr>
          <p:cNvPr id="13" name="아이콘:message-question" descr="message-question_13294B_1.6.png"/>
          <p:cNvPicPr>
            <a:picLocks noChangeAspect="1"/>
          </p:cNvPicPr>
          <p:nvPr/>
        </p:nvPicPr>
        <p:blipFill>
          <a:blip r:embed="rId4"/>
          <a:stretch>
            <a:fillRect/>
          </a:stretch>
        </p:blipFill>
        <p:spPr>
          <a:xfrm>
            <a:off x="4448898" y="2835097"/>
            <a:ext cx="424281" cy="424281"/>
          </a:xfrm>
          <a:prstGeom prst="rect">
            <a:avLst/>
          </a:prstGeom>
        </p:spPr>
      </p:pic>
      <p:sp>
        <p:nvSpPr>
          <p:cNvPr id="14" name="TextBox 13"/>
          <p:cNvSpPr txBox="1"/>
          <p:nvPr/>
        </p:nvSpPr>
        <p:spPr>
          <a:xfrm>
            <a:off x="3491407"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질문을 만든다</a:t>
            </a:r>
          </a:p>
          <a:p>
            <a:pPr algn="ctr">
              <a:lnSpc>
                <a:spcPct val="110000"/>
              </a:lnSpc>
              <a:spcAft>
                <a:spcPts val="400"/>
              </a:spcAft>
            </a:pPr>
            <a:r>
              <a:rPr sz="1350" b="0">
                <a:solidFill>
                  <a:srgbClr val="1F2A3A"/>
                </a:solidFill>
                <a:latin typeface="맑은 고딕"/>
                <a:ea typeface="맑은 고딕"/>
                <a:cs typeface="맑은 고딕"/>
              </a:rPr>
              <a:t>빠진 값을 확정하지 않고</a:t>
            </a:r>
          </a:p>
          <a:p>
            <a:pPr algn="ctr">
              <a:lnSpc>
                <a:spcPct val="110000"/>
              </a:lnSpc>
              <a:spcAft>
                <a:spcPts val="400"/>
              </a:spcAft>
            </a:pPr>
            <a:r>
              <a:rPr sz="1350" b="0">
                <a:solidFill>
                  <a:srgbClr val="1F2A3A"/>
                </a:solidFill>
                <a:latin typeface="맑은 고딕"/>
                <a:ea typeface="맑은 고딕"/>
                <a:cs typeface="맑은 고딕"/>
              </a:rPr>
              <a:t>확인 질문을 낸다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498598"/>
            <a:ext cx="2485567" cy="2985515"/>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681478"/>
            <a:ext cx="731520" cy="731520"/>
          </a:xfrm>
          <a:prstGeom prst="ellipse">
            <a:avLst/>
          </a:prstGeom>
          <a:solidFill>
            <a:srgbClr val="FFFFFF"/>
          </a:solidFill>
          <a:ln>
            <a:noFill/>
          </a:ln>
        </p:spPr>
        <p:txBody>
          <a:bodyPr rtlCol="0" anchor="ctr"/>
          <a:lstStyle/>
          <a:p>
            <a:pPr algn="ctr"/>
          </a:p>
        </p:txBody>
      </p:sp>
      <p:pic>
        <p:nvPicPr>
          <p:cNvPr id="18" name="아이콘:refresh" descr="refresh_13294B_1.6.png"/>
          <p:cNvPicPr>
            <a:picLocks noChangeAspect="1"/>
          </p:cNvPicPr>
          <p:nvPr/>
        </p:nvPicPr>
        <p:blipFill>
          <a:blip r:embed="rId5"/>
          <a:stretch>
            <a:fillRect/>
          </a:stretch>
        </p:blipFill>
        <p:spPr>
          <a:xfrm>
            <a:off x="7318514" y="2835097"/>
            <a:ext cx="424281" cy="424281"/>
          </a:xfrm>
          <a:prstGeom prst="rect">
            <a:avLst/>
          </a:prstGeom>
        </p:spPr>
      </p:pic>
      <p:sp>
        <p:nvSpPr>
          <p:cNvPr id="19" name="TextBox 18"/>
          <p:cNvSpPr txBox="1"/>
          <p:nvPr/>
        </p:nvSpPr>
        <p:spPr>
          <a:xfrm>
            <a:off x="6361023"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다시 판단한다</a:t>
            </a:r>
          </a:p>
          <a:p>
            <a:pPr algn="ctr">
              <a:lnSpc>
                <a:spcPct val="110000"/>
              </a:lnSpc>
              <a:spcAft>
                <a:spcPts val="400"/>
              </a:spcAft>
            </a:pPr>
            <a:r>
              <a:rPr sz="1350" b="0">
                <a:solidFill>
                  <a:srgbClr val="1F2A3A"/>
                </a:solidFill>
                <a:latin typeface="맑은 고딕"/>
                <a:ea typeface="맑은 고딕"/>
                <a:cs typeface="맑은 고딕"/>
              </a:rPr>
              <a:t>추가 입력을 받아</a:t>
            </a:r>
          </a:p>
          <a:p>
            <a:pPr algn="ctr">
              <a:lnSpc>
                <a:spcPct val="110000"/>
              </a:lnSpc>
              <a:spcAft>
                <a:spcPts val="400"/>
              </a:spcAft>
            </a:pPr>
            <a:r>
              <a:rPr sz="1350" b="0">
                <a:solidFill>
                  <a:srgbClr val="1F2A3A"/>
                </a:solidFill>
                <a:latin typeface="맑은 고딕"/>
                <a:ea typeface="맑은 고딕"/>
                <a:cs typeface="맑은 고딕"/>
              </a:rPr>
              <a:t>같은 요청을</a:t>
            </a:r>
          </a:p>
          <a:p>
            <a:pPr algn="ctr">
              <a:lnSpc>
                <a:spcPct val="110000"/>
              </a:lnSpc>
              <a:spcAft>
                <a:spcPts val="400"/>
              </a:spcAft>
            </a:pPr>
            <a:r>
              <a:rPr sz="1350" b="0">
                <a:solidFill>
                  <a:srgbClr val="1F2A3A"/>
                </a:solidFill>
                <a:latin typeface="맑은 고딕"/>
                <a:ea typeface="맑은 고딕"/>
                <a:cs typeface="맑은 고딕"/>
              </a:rPr>
              <a:t>다시 처리한다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498598"/>
            <a:ext cx="2485567" cy="2985515"/>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681478"/>
            <a:ext cx="731520" cy="731520"/>
          </a:xfrm>
          <a:prstGeom prst="ellipse">
            <a:avLst/>
          </a:prstGeom>
          <a:solidFill>
            <a:srgbClr val="FFFFFF"/>
          </a:solidFill>
          <a:ln>
            <a:noFill/>
          </a:ln>
        </p:spPr>
        <p:txBody>
          <a:bodyPr rtlCol="0" anchor="ctr"/>
          <a:lstStyle/>
          <a:p>
            <a:pPr algn="ctr"/>
          </a:p>
        </p:txBody>
      </p:sp>
      <p:pic>
        <p:nvPicPr>
          <p:cNvPr id="23" name="아이콘:history" descr="history_13294B_1.6.png"/>
          <p:cNvPicPr>
            <a:picLocks noChangeAspect="1"/>
          </p:cNvPicPr>
          <p:nvPr/>
        </p:nvPicPr>
        <p:blipFill>
          <a:blip r:embed="rId6"/>
          <a:stretch>
            <a:fillRect/>
          </a:stretch>
        </p:blipFill>
        <p:spPr>
          <a:xfrm>
            <a:off x="10188130" y="2835097"/>
            <a:ext cx="424281" cy="424281"/>
          </a:xfrm>
          <a:prstGeom prst="rect">
            <a:avLst/>
          </a:prstGeom>
        </p:spPr>
      </p:pic>
      <p:sp>
        <p:nvSpPr>
          <p:cNvPr id="24" name="TextBox 23"/>
          <p:cNvSpPr txBox="1"/>
          <p:nvPr/>
        </p:nvSpPr>
        <p:spPr>
          <a:xfrm>
            <a:off x="9230639"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전후를 기록한다</a:t>
            </a:r>
          </a:p>
          <a:p>
            <a:pPr algn="ctr">
              <a:lnSpc>
                <a:spcPct val="110000"/>
              </a:lnSpc>
              <a:spcAft>
                <a:spcPts val="400"/>
              </a:spcAft>
            </a:pPr>
            <a:r>
              <a:rPr sz="1350" b="0">
                <a:solidFill>
                  <a:srgbClr val="1F2A3A"/>
                </a:solidFill>
                <a:latin typeface="맑은 고딕"/>
                <a:ea typeface="맑은 고딕"/>
                <a:cs typeface="맑은 고딕"/>
              </a:rPr>
              <a:t>질문 전과 답변 후의</a:t>
            </a:r>
          </a:p>
          <a:p>
            <a:pPr algn="ctr">
              <a:lnSpc>
                <a:spcPct val="110000"/>
              </a:lnSpc>
              <a:spcAft>
                <a:spcPts val="400"/>
              </a:spcAft>
            </a:pPr>
            <a:r>
              <a:rPr sz="1350" b="0">
                <a:solidFill>
                  <a:srgbClr val="1F2A3A"/>
                </a:solidFill>
                <a:latin typeface="맑은 고딕"/>
                <a:ea typeface="맑은 고딕"/>
                <a:cs typeface="맑은 고딕"/>
              </a:rPr>
              <a:t>상태를 남기고</a:t>
            </a:r>
          </a:p>
          <a:p>
            <a:pPr algn="ctr">
              <a:lnSpc>
                <a:spcPct val="110000"/>
              </a:lnSpc>
              <a:spcAft>
                <a:spcPts val="400"/>
              </a:spcAft>
            </a:pPr>
            <a:r>
              <a:rPr sz="1350" b="0">
                <a:solidFill>
                  <a:srgbClr val="1F2A3A"/>
                </a:solidFill>
                <a:latin typeface="맑은 고딕"/>
                <a:ea typeface="맑은 고딕"/>
                <a:cs typeface="맑은 고딕"/>
              </a:rPr>
              <a:t>승인 전에는</a:t>
            </a:r>
          </a:p>
          <a:p>
            <a:pPr algn="ctr">
              <a:lnSpc>
                <a:spcPct val="110000"/>
              </a:lnSpc>
              <a:spcAft>
                <a:spcPts val="400"/>
              </a:spcAft>
            </a:pPr>
            <a:r>
              <a:rPr sz="1350" b="0">
                <a:solidFill>
                  <a:srgbClr val="1F2A3A"/>
                </a:solidFill>
                <a:latin typeface="맑은 고딕"/>
                <a:ea typeface="맑은 고딕"/>
                <a:cs typeface="맑은 고딕"/>
              </a:rPr>
              <a:t>확정하지 않는다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명세를 갱신해 기존 기능을</a:t>
            </a:r>
          </a:p>
          <a:p>
            <a:pPr algn="l">
              <a:lnSpc>
                <a:spcPct val="110000"/>
              </a:lnSpc>
            </a:pPr>
            <a:r>
              <a:rPr sz="3400" b="1">
                <a:solidFill>
                  <a:srgbClr val="13294B"/>
                </a:solidFill>
                <a:latin typeface="맑은 고딕"/>
                <a:ea typeface="맑은 고딕"/>
                <a:cs typeface="맑은 고딕"/>
              </a:rPr>
              <a:t>유지하며 요구사항 추가</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모호한 요청이 만든 변화의 사례를 견준 뒤 spec.md에 지킬 것과 달라질 것을 적고 그 명세대로 고친다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쓰는 명세와 저장하는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갱신한 spec.md와 두 요청의 재실행 결과, 그리고 다음 실습에 쓸 입력과 기대 결과가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35</a:t>
            </a:r>
          </a:p>
        </p:txBody>
      </p:sp>
      <p:sp>
        <p:nvSpPr>
          <p:cNvPr id="6" name="Rounded Rectangle 5"/>
          <p:cNvSpPr/>
          <p:nvPr/>
        </p:nvSpPr>
        <p:spPr>
          <a:xfrm>
            <a:off x="548640" y="2529586"/>
            <a:ext cx="1911644" cy="2923539"/>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712466"/>
            <a:ext cx="731520" cy="731520"/>
          </a:xfrm>
          <a:prstGeom prst="ellipse">
            <a:avLst/>
          </a:prstGeom>
          <a:solidFill>
            <a:srgbClr val="FFFFFF"/>
          </a:solidFill>
          <a:ln>
            <a:noFill/>
          </a:ln>
        </p:spPr>
        <p:txBody>
          <a:bodyPr rtlCol="0" anchor="ctr"/>
          <a:lstStyle/>
          <a:p>
            <a:pPr algn="ctr"/>
          </a:p>
        </p:txBody>
      </p:sp>
      <p:pic>
        <p:nvPicPr>
          <p:cNvPr id="8" name="아이콘:git-compare" descr="git-compare_13294B_1.6.png"/>
          <p:cNvPicPr>
            <a:picLocks noChangeAspect="1"/>
          </p:cNvPicPr>
          <p:nvPr/>
        </p:nvPicPr>
        <p:blipFill>
          <a:blip r:embed="rId3"/>
          <a:stretch>
            <a:fillRect/>
          </a:stretch>
        </p:blipFill>
        <p:spPr>
          <a:xfrm>
            <a:off x="1292321" y="2866085"/>
            <a:ext cx="424281" cy="424281"/>
          </a:xfrm>
          <a:prstGeom prst="rect">
            <a:avLst/>
          </a:prstGeom>
        </p:spPr>
      </p:pic>
      <p:sp>
        <p:nvSpPr>
          <p:cNvPr id="9" name="TextBox 8"/>
          <p:cNvSpPr txBox="1"/>
          <p:nvPr/>
        </p:nvSpPr>
        <p:spPr>
          <a:xfrm>
            <a:off x="621792"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사례를 견준다</a:t>
            </a:r>
          </a:p>
          <a:p>
            <a:pPr algn="ctr">
              <a:lnSpc>
                <a:spcPct val="110000"/>
              </a:lnSpc>
              <a:spcAft>
                <a:spcPts val="400"/>
              </a:spcAft>
            </a:pPr>
            <a:r>
              <a:rPr sz="1250" b="0">
                <a:solidFill>
                  <a:srgbClr val="1F2A3A"/>
                </a:solidFill>
                <a:latin typeface="맑은 고딕"/>
                <a:ea typeface="맑은 고딕"/>
                <a:cs typeface="맑은 고딕"/>
              </a:rPr>
              <a:t>모호한 요청으로</a:t>
            </a:r>
          </a:p>
          <a:p>
            <a:pPr algn="ctr">
              <a:lnSpc>
                <a:spcPct val="110000"/>
              </a:lnSpc>
              <a:spcAft>
                <a:spcPts val="400"/>
              </a:spcAft>
            </a:pPr>
            <a:r>
              <a:rPr sz="1250" b="0">
                <a:solidFill>
                  <a:srgbClr val="1F2A3A"/>
                </a:solidFill>
                <a:latin typeface="맑은 고딕"/>
                <a:ea typeface="맑은 고딕"/>
                <a:cs typeface="맑은 고딕"/>
              </a:rPr>
              <a:t>고친 결과가</a:t>
            </a:r>
          </a:p>
          <a:p>
            <a:pPr algn="ctr">
              <a:lnSpc>
                <a:spcPct val="110000"/>
              </a:lnSpc>
              <a:spcAft>
                <a:spcPts val="400"/>
              </a:spcAft>
            </a:pPr>
            <a:r>
              <a:rPr sz="1250" b="0">
                <a:solidFill>
                  <a:srgbClr val="1F2A3A"/>
                </a:solidFill>
                <a:latin typeface="맑은 고딕"/>
                <a:ea typeface="맑은 고딕"/>
                <a:cs typeface="맑은 고딕"/>
              </a:rPr>
              <a:t>달라진 곳을 본다</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529586"/>
            <a:ext cx="1911644" cy="2923539"/>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3434394" y="2712466"/>
            <a:ext cx="731520" cy="731520"/>
          </a:xfrm>
          <a:prstGeom prst="ellipse">
            <a:avLst/>
          </a:prstGeom>
          <a:solidFill>
            <a:srgbClr val="5CB8F2"/>
          </a:solidFill>
          <a:ln>
            <a:noFill/>
          </a:ln>
        </p:spPr>
        <p:txBody>
          <a:bodyPr rtlCol="0" anchor="ctr"/>
          <a:lstStyle/>
          <a:p>
            <a:pPr algn="ctr"/>
          </a:p>
        </p:txBody>
      </p:sp>
      <p:pic>
        <p:nvPicPr>
          <p:cNvPr id="13" name="아이콘:file-text" descr="file-text_13294B_1.6.png"/>
          <p:cNvPicPr>
            <a:picLocks noChangeAspect="1"/>
          </p:cNvPicPr>
          <p:nvPr/>
        </p:nvPicPr>
        <p:blipFill>
          <a:blip r:embed="rId4"/>
          <a:stretch>
            <a:fillRect/>
          </a:stretch>
        </p:blipFill>
        <p:spPr>
          <a:xfrm>
            <a:off x="3588014" y="2866085"/>
            <a:ext cx="424281" cy="424281"/>
          </a:xfrm>
          <a:prstGeom prst="rect">
            <a:avLst/>
          </a:prstGeom>
        </p:spPr>
      </p:pic>
      <p:sp>
        <p:nvSpPr>
          <p:cNvPr id="14" name="TextBox 13"/>
          <p:cNvSpPr txBox="1"/>
          <p:nvPr/>
        </p:nvSpPr>
        <p:spPr>
          <a:xfrm>
            <a:off x="2917484"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명세를 쓴다</a:t>
            </a:r>
          </a:p>
          <a:p>
            <a:pPr algn="ctr">
              <a:lnSpc>
                <a:spcPct val="110000"/>
              </a:lnSpc>
              <a:spcAft>
                <a:spcPts val="400"/>
              </a:spcAft>
            </a:pPr>
            <a:r>
              <a:rPr sz="1250" b="0">
                <a:solidFill>
                  <a:srgbClr val="1F2A3A"/>
                </a:solidFill>
                <a:latin typeface="맑은 고딕"/>
                <a:ea typeface="맑은 고딕"/>
                <a:cs typeface="맑은 고딕"/>
              </a:rPr>
              <a:t>일반 요청, 긴급 요청,</a:t>
            </a:r>
          </a:p>
          <a:p>
            <a:pPr algn="ctr">
              <a:lnSpc>
                <a:spcPct val="110000"/>
              </a:lnSpc>
              <a:spcAft>
                <a:spcPts val="400"/>
              </a:spcAft>
            </a:pPr>
            <a:r>
              <a:rPr sz="1250" b="0">
                <a:solidFill>
                  <a:srgbClr val="1F2A3A"/>
                </a:solidFill>
                <a:latin typeface="맑은 고딕"/>
                <a:ea typeface="맑은 고딕"/>
                <a:cs typeface="맑은 고딕"/>
              </a:rPr>
              <a:t>미입력 시 보류,</a:t>
            </a:r>
          </a:p>
          <a:p>
            <a:pPr algn="ctr">
              <a:lnSpc>
                <a:spcPct val="110000"/>
              </a:lnSpc>
              <a:spcAft>
                <a:spcPts val="400"/>
              </a:spcAft>
            </a:pPr>
            <a:r>
              <a:rPr sz="1250" b="0">
                <a:solidFill>
                  <a:srgbClr val="1F2A3A"/>
                </a:solidFill>
                <a:latin typeface="맑은 고딕"/>
                <a:ea typeface="맑은 고딕"/>
                <a:cs typeface="맑은 고딕"/>
              </a:rPr>
              <a:t>승인 없이 확정 금지,</a:t>
            </a:r>
          </a:p>
          <a:p>
            <a:pPr algn="ctr">
              <a:lnSpc>
                <a:spcPct val="110000"/>
              </a:lnSpc>
              <a:spcAft>
                <a:spcPts val="400"/>
              </a:spcAft>
            </a:pPr>
            <a:r>
              <a:rPr sz="1250" b="0">
                <a:solidFill>
                  <a:srgbClr val="1F2A3A"/>
                </a:solidFill>
                <a:latin typeface="맑은 고딕"/>
                <a:ea typeface="맑은 고딕"/>
                <a:cs typeface="맑은 고딕"/>
              </a:rPr>
              <a:t>수용 기준</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529586"/>
            <a:ext cx="1911644" cy="2923539"/>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712466"/>
            <a:ext cx="731520" cy="731520"/>
          </a:xfrm>
          <a:prstGeom prst="ellipse">
            <a:avLst/>
          </a:prstGeom>
          <a:solidFill>
            <a:srgbClr val="FFFFFF"/>
          </a:solidFill>
          <a:ln>
            <a:noFill/>
          </a:ln>
        </p:spPr>
        <p:txBody>
          <a:bodyPr rtlCol="0" anchor="ctr"/>
          <a:lstStyle/>
          <a:p>
            <a:pPr algn="ctr"/>
          </a:p>
        </p:txBody>
      </p:sp>
      <p:pic>
        <p:nvPicPr>
          <p:cNvPr id="18" name="아이콘:robot" descr="robot_13294B_1.6.png"/>
          <p:cNvPicPr>
            <a:picLocks noChangeAspect="1"/>
          </p:cNvPicPr>
          <p:nvPr/>
        </p:nvPicPr>
        <p:blipFill>
          <a:blip r:embed="rId5"/>
          <a:stretch>
            <a:fillRect/>
          </a:stretch>
        </p:blipFill>
        <p:spPr>
          <a:xfrm>
            <a:off x="5883706" y="2866085"/>
            <a:ext cx="424281" cy="424281"/>
          </a:xfrm>
          <a:prstGeom prst="rect">
            <a:avLst/>
          </a:prstGeom>
        </p:spPr>
      </p:pic>
      <p:sp>
        <p:nvSpPr>
          <p:cNvPr id="19" name="TextBox 18"/>
          <p:cNvSpPr txBox="1"/>
          <p:nvPr/>
        </p:nvSpPr>
        <p:spPr>
          <a:xfrm>
            <a:off x="5213177"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명세대로 고친다</a:t>
            </a:r>
          </a:p>
          <a:p>
            <a:pPr algn="ctr">
              <a:lnSpc>
                <a:spcPct val="110000"/>
              </a:lnSpc>
              <a:spcAft>
                <a:spcPts val="400"/>
              </a:spcAft>
            </a:pPr>
            <a:r>
              <a:rPr sz="1250" b="0">
                <a:solidFill>
                  <a:srgbClr val="1F2A3A"/>
                </a:solidFill>
                <a:latin typeface="맑은 고딕"/>
                <a:ea typeface="맑은 고딕"/>
                <a:cs typeface="맑은 고딕"/>
              </a:rPr>
              <a:t>명세를 기준으로</a:t>
            </a:r>
          </a:p>
          <a:p>
            <a:pPr algn="ctr">
              <a:lnSpc>
                <a:spcPct val="110000"/>
              </a:lnSpc>
              <a:spcAft>
                <a:spcPts val="400"/>
              </a:spcAft>
            </a:pPr>
            <a:r>
              <a:rPr sz="1250" b="0">
                <a:solidFill>
                  <a:srgbClr val="1F2A3A"/>
                </a:solidFill>
                <a:latin typeface="맑은 고딕"/>
                <a:ea typeface="맑은 고딕"/>
                <a:cs typeface="맑은 고딕"/>
              </a:rPr>
              <a:t>코드를 수정한다</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529586"/>
            <a:ext cx="1911644" cy="2923539"/>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712466"/>
            <a:ext cx="731520" cy="731520"/>
          </a:xfrm>
          <a:prstGeom prst="ellipse">
            <a:avLst/>
          </a:prstGeom>
          <a:solidFill>
            <a:srgbClr val="FFFFFF"/>
          </a:solidFill>
          <a:ln>
            <a:noFill/>
          </a:ln>
        </p:spPr>
        <p:txBody>
          <a:bodyPr rtlCol="0" anchor="ctr"/>
          <a:lstStyle/>
          <a:p>
            <a:pPr algn="ctr"/>
          </a:p>
        </p:txBody>
      </p:sp>
      <p:pic>
        <p:nvPicPr>
          <p:cNvPr id="23" name="아이콘:player-play" descr="player-play_13294B_1.6.png"/>
          <p:cNvPicPr>
            <a:picLocks noChangeAspect="1"/>
          </p:cNvPicPr>
          <p:nvPr/>
        </p:nvPicPr>
        <p:blipFill>
          <a:blip r:embed="rId6"/>
          <a:stretch>
            <a:fillRect/>
          </a:stretch>
        </p:blipFill>
        <p:spPr>
          <a:xfrm>
            <a:off x="8179399" y="2866085"/>
            <a:ext cx="424281" cy="424281"/>
          </a:xfrm>
          <a:prstGeom prst="rect">
            <a:avLst/>
          </a:prstGeom>
        </p:spPr>
      </p:pic>
      <p:sp>
        <p:nvSpPr>
          <p:cNvPr id="24" name="TextBox 23"/>
          <p:cNvSpPr txBox="1"/>
          <p:nvPr/>
        </p:nvSpPr>
        <p:spPr>
          <a:xfrm>
            <a:off x="7508869"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다시 실행한다</a:t>
            </a:r>
          </a:p>
          <a:p>
            <a:pPr algn="ctr">
              <a:lnSpc>
                <a:spcPct val="110000"/>
              </a:lnSpc>
              <a:spcAft>
                <a:spcPts val="400"/>
              </a:spcAft>
            </a:pPr>
            <a:r>
              <a:rPr sz="1250" b="0">
                <a:solidFill>
                  <a:srgbClr val="1F2A3A"/>
                </a:solidFill>
                <a:latin typeface="맑은 고딕"/>
                <a:ea typeface="맑은 고딕"/>
                <a:cs typeface="맑은 고딕"/>
              </a:rPr>
              <a:t>기존 일반 요청과</a:t>
            </a:r>
          </a:p>
          <a:p>
            <a:pPr algn="ctr">
              <a:lnSpc>
                <a:spcPct val="110000"/>
              </a:lnSpc>
              <a:spcAft>
                <a:spcPts val="400"/>
              </a:spcAft>
            </a:pPr>
            <a:r>
              <a:rPr sz="1250" b="0">
                <a:solidFill>
                  <a:srgbClr val="1F2A3A"/>
                </a:solidFill>
                <a:latin typeface="맑은 고딕"/>
                <a:ea typeface="맑은 고딕"/>
                <a:cs typeface="맑은 고딕"/>
              </a:rPr>
              <a:t>추가한 긴급 요청을</a:t>
            </a:r>
          </a:p>
          <a:p>
            <a:pPr algn="ctr">
              <a:lnSpc>
                <a:spcPct val="110000"/>
              </a:lnSpc>
              <a:spcAft>
                <a:spcPts val="400"/>
              </a:spcAft>
            </a:pPr>
            <a:r>
              <a:rPr sz="1250" b="0">
                <a:solidFill>
                  <a:srgbClr val="1F2A3A"/>
                </a:solidFill>
                <a:latin typeface="맑은 고딕"/>
                <a:ea typeface="맑은 고딕"/>
                <a:cs typeface="맑은 고딕"/>
              </a:rPr>
              <a:t>실행한다</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529586"/>
            <a:ext cx="1911644" cy="2923539"/>
          </a:xfrm>
          <a:prstGeom prst="roundRect">
            <a:avLst>
              <a:gd name="adj" fmla="val 5000"/>
            </a:avLst>
          </a:prstGeom>
          <a:solidFill>
            <a:srgbClr val="F3F6F9"/>
          </a:solidFill>
          <a:ln>
            <a:noFill/>
          </a:ln>
        </p:spPr>
        <p:txBody>
          <a:bodyPr rtlCol="0" anchor="ctr"/>
          <a:lstStyle/>
          <a:p>
            <a:pPr algn="ctr"/>
          </a:p>
        </p:txBody>
      </p:sp>
      <p:sp>
        <p:nvSpPr>
          <p:cNvPr id="27" name="Oval 26"/>
          <p:cNvSpPr/>
          <p:nvPr/>
        </p:nvSpPr>
        <p:spPr>
          <a:xfrm>
            <a:off x="10321472" y="2712466"/>
            <a:ext cx="731520" cy="731520"/>
          </a:xfrm>
          <a:prstGeom prst="ellipse">
            <a:avLst/>
          </a:prstGeom>
          <a:solidFill>
            <a:srgbClr val="FFFFFF"/>
          </a:solidFill>
          <a:ln>
            <a:noFill/>
          </a:ln>
        </p:spPr>
        <p:txBody>
          <a:bodyPr rtlCol="0" anchor="ctr"/>
          <a:lstStyle/>
          <a:p>
            <a:pPr algn="ctr"/>
          </a:p>
        </p:txBody>
      </p:sp>
      <p:pic>
        <p:nvPicPr>
          <p:cNvPr id="28" name="아이콘:device-floppy" descr="device-floppy_13294B_1.6.png"/>
          <p:cNvPicPr>
            <a:picLocks noChangeAspect="1"/>
          </p:cNvPicPr>
          <p:nvPr/>
        </p:nvPicPr>
        <p:blipFill>
          <a:blip r:embed="rId7"/>
          <a:stretch>
            <a:fillRect/>
          </a:stretch>
        </p:blipFill>
        <p:spPr>
          <a:xfrm>
            <a:off x="10475092" y="2866085"/>
            <a:ext cx="424281" cy="424281"/>
          </a:xfrm>
          <a:prstGeom prst="rect">
            <a:avLst/>
          </a:prstGeom>
        </p:spPr>
      </p:pic>
      <p:sp>
        <p:nvSpPr>
          <p:cNvPr id="29" name="TextBox 28"/>
          <p:cNvSpPr txBox="1"/>
          <p:nvPr/>
        </p:nvSpPr>
        <p:spPr>
          <a:xfrm>
            <a:off x="9804562"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저장한다</a:t>
            </a:r>
          </a:p>
          <a:p>
            <a:pPr algn="ctr">
              <a:lnSpc>
                <a:spcPct val="110000"/>
              </a:lnSpc>
              <a:spcAft>
                <a:spcPts val="400"/>
              </a:spcAft>
            </a:pPr>
            <a:r>
              <a:rPr sz="1250" b="0">
                <a:solidFill>
                  <a:srgbClr val="1F2A3A"/>
                </a:solidFill>
                <a:latin typeface="맑은 고딕"/>
                <a:ea typeface="맑은 고딕"/>
                <a:cs typeface="맑은 고딕"/>
              </a:rPr>
              <a:t>입력과 기대 결과를</a:t>
            </a:r>
          </a:p>
          <a:p>
            <a:pPr algn="ctr">
              <a:lnSpc>
                <a:spcPct val="110000"/>
              </a:lnSpc>
              <a:spcAft>
                <a:spcPts val="400"/>
              </a:spcAft>
            </a:pPr>
            <a:r>
              <a:rPr sz="1250" b="0">
                <a:solidFill>
                  <a:srgbClr val="1F2A3A"/>
                </a:solidFill>
                <a:latin typeface="맑은 고딕"/>
                <a:ea typeface="맑은 고딕"/>
                <a:cs typeface="맑은 고딕"/>
              </a:rPr>
              <a:t>다음 실습의</a:t>
            </a:r>
          </a:p>
          <a:p>
            <a:pPr algn="ctr">
              <a:lnSpc>
                <a:spcPct val="110000"/>
              </a:lnSpc>
              <a:spcAft>
                <a:spcPts val="400"/>
              </a:spcAft>
            </a:pPr>
            <a:r>
              <a:rPr sz="1250" b="0">
                <a:solidFill>
                  <a:srgbClr val="1F2A3A"/>
                </a:solidFill>
                <a:latin typeface="맑은 고딕"/>
                <a:ea typeface="맑은 고딕"/>
                <a:cs typeface="맑은 고딕"/>
              </a:rPr>
              <a:t>검증용으로 남긴다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새 기능과 기존 기능의</a:t>
            </a:r>
          </a:p>
          <a:p>
            <a:pPr algn="l">
              <a:lnSpc>
                <a:spcPct val="110000"/>
              </a:lnSpc>
            </a:pPr>
            <a:r>
              <a:rPr sz="3400" b="1">
                <a:solidFill>
                  <a:srgbClr val="13294B"/>
                </a:solidFill>
                <a:latin typeface="맑은 고딕"/>
                <a:ea typeface="맑은 고딕"/>
                <a:cs typeface="맑은 고딕"/>
              </a:rPr>
              <a:t>시나리오 실행과 회귀 검증</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정상, 긴급, 미입력, 거절의 시나리오를 실행해 실패를 고치고 기존 행동이 유지되는지를 확인한다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실행하는 시나리오와 다시 확인하는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실패한 시나리오만 원인을 따라가 고치고, 전체 회귀로 긴급 조건과 기존 조건이 함께 통과하는지를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37</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player-play" descr="player-play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시나리오 실행</a:t>
            </a:r>
          </a:p>
          <a:p>
            <a:pPr algn="l">
              <a:lnSpc>
                <a:spcPct val="110000"/>
              </a:lnSpc>
              <a:spcAft>
                <a:spcPts val="400"/>
              </a:spcAft>
            </a:pPr>
            <a:r>
              <a:rPr sz="1400" b="0">
                <a:solidFill>
                  <a:srgbClr val="1F2A3A"/>
                </a:solidFill>
                <a:latin typeface="맑은 고딕"/>
                <a:ea typeface="맑은 고딕"/>
                <a:cs typeface="맑은 고딕"/>
              </a:rPr>
              <a:t>정상, 긴급, 미입력, 거절의 Given · When · Then을 같은 프로젝트에서 실행한다</a:t>
            </a:r>
          </a:p>
        </p:txBody>
      </p:sp>
      <p:sp>
        <p:nvSpPr>
          <p:cNvPr id="10" name="Rounded Rectangle 9"/>
          <p:cNvSpPr/>
          <p:nvPr/>
        </p:nvSpPr>
        <p:spPr>
          <a:xfrm>
            <a:off x="777240" y="5041392"/>
            <a:ext cx="8686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868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네 경우</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bug" descr="bug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원인 추적과 수정</a:t>
            </a:r>
          </a:p>
          <a:p>
            <a:pPr algn="l">
              <a:lnSpc>
                <a:spcPct val="110000"/>
              </a:lnSpc>
              <a:spcAft>
                <a:spcPts val="400"/>
              </a:spcAft>
            </a:pPr>
            <a:r>
              <a:rPr sz="1400" b="0">
                <a:solidFill>
                  <a:srgbClr val="1F2A3A"/>
                </a:solidFill>
                <a:latin typeface="맑은 고딕"/>
                <a:ea typeface="맑은 고딕"/>
                <a:cs typeface="맑은 고딕"/>
              </a:rPr>
              <a:t>실제로 실패한 시나리오만 골라 원인을 따라가 고치고 다시 실행한다</a:t>
            </a:r>
          </a:p>
        </p:txBody>
      </p:sp>
      <p:sp>
        <p:nvSpPr>
          <p:cNvPr id="16" name="Rounded Rectangle 15"/>
          <p:cNvSpPr/>
          <p:nvPr/>
        </p:nvSpPr>
        <p:spPr>
          <a:xfrm>
            <a:off x="4566818" y="5041392"/>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실패한 것만</a:t>
            </a:r>
          </a:p>
        </p:txBody>
      </p:sp>
      <p:sp>
        <p:nvSpPr>
          <p:cNvPr id="18" name="Rounded Rectangle 17"/>
          <p:cNvSpPr/>
          <p:nvPr/>
        </p:nvSpPr>
        <p:spPr>
          <a:xfrm>
            <a:off x="8127796"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5CB8F2"/>
          </a:solidFill>
          <a:ln>
            <a:noFill/>
          </a:ln>
        </p:spPr>
        <p:txBody>
          <a:bodyPr rtlCol="0" anchor="ctr"/>
          <a:lstStyle/>
          <a:p>
            <a:pPr algn="ctr"/>
          </a:p>
        </p:txBody>
      </p:sp>
      <p:pic>
        <p:nvPicPr>
          <p:cNvPr id="20" name="아이콘:repeat" descr="repeat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전체 회귀</a:t>
            </a:r>
          </a:p>
          <a:p>
            <a:pPr algn="l">
              <a:lnSpc>
                <a:spcPct val="110000"/>
              </a:lnSpc>
              <a:spcAft>
                <a:spcPts val="400"/>
              </a:spcAft>
            </a:pPr>
            <a:r>
              <a:rPr sz="1400" b="0">
                <a:solidFill>
                  <a:srgbClr val="1F2A3A"/>
                </a:solidFill>
                <a:latin typeface="맑은 고딕"/>
                <a:ea typeface="맑은 고딕"/>
                <a:cs typeface="맑은 고딕"/>
              </a:rPr>
              <a:t>긴급 조건이 동작하면서 기존의 일반 요청, 보류, 거절 조건이 그대로인지를 확인한다</a:t>
            </a:r>
          </a:p>
        </p:txBody>
      </p:sp>
      <p:sp>
        <p:nvSpPr>
          <p:cNvPr id="22" name="Rounded Rectangle 21"/>
          <p:cNvSpPr/>
          <p:nvPr/>
        </p:nvSpPr>
        <p:spPr>
          <a:xfrm>
            <a:off x="8356396" y="5041392"/>
            <a:ext cx="10210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041392"/>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유지 확인</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04</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에이전트 제작부터 검증까지의</a:t>
            </a:r>
          </a:p>
          <a:p>
            <a:pPr algn="l">
              <a:lnSpc>
                <a:spcPct val="110000"/>
              </a:lnSpc>
            </a:pPr>
            <a:r>
              <a:rPr sz="3400" b="1">
                <a:solidFill>
                  <a:srgbClr val="13294B"/>
                </a:solidFill>
                <a:latin typeface="맑은 고딕"/>
                <a:ea typeface="맑은 고딕"/>
                <a:cs typeface="맑은 고딕"/>
              </a:rPr>
              <a:t>전체 과정</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목표와 도구, 스킬과 연결, 사람의 결정, 명세와 검증을 하나로 잇는다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회차의 흐름: 에이전트 하나에 더해진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모델에 목표와 도구를 주어 에이전트를 세운 뒤, 수행 방법과 연결, 사람의 결정과 명세, 행동의 검증을 차례로 더해 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39</a:t>
            </a:r>
          </a:p>
        </p:txBody>
      </p:sp>
      <p:pic>
        <p:nvPicPr>
          <p:cNvPr id="6" name="삽화:더해진것.svg" descr="illust_8801975417355213572_179177036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001113" y="1864004"/>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5회차</a:t>
            </a:r>
          </a:p>
          <a:p>
            <a:pPr algn="ctr">
              <a:lnSpc>
                <a:spcPct val="110000"/>
              </a:lnSpc>
              <a:spcAft>
                <a:spcPts val="100"/>
              </a:spcAft>
            </a:pPr>
            <a:r>
              <a:rPr sz="1300" b="0">
                <a:solidFill>
                  <a:srgbClr val="556175"/>
                </a:solidFill>
                <a:latin typeface="맑은 고딕"/>
                <a:ea typeface="맑은 고딕"/>
                <a:cs typeface="맑은 고딕"/>
              </a:rPr>
              <a:t>목표와 도구, 실행 고리, 정보원</a:t>
            </a:r>
          </a:p>
        </p:txBody>
      </p:sp>
      <p:sp>
        <p:nvSpPr>
          <p:cNvPr id="8" name="TextBox 7"/>
          <p:cNvSpPr txBox="1"/>
          <p:nvPr/>
        </p:nvSpPr>
        <p:spPr>
          <a:xfrm>
            <a:off x="7917733" y="1864004"/>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6회차</a:t>
            </a:r>
          </a:p>
          <a:p>
            <a:pPr algn="ctr">
              <a:lnSpc>
                <a:spcPct val="110000"/>
              </a:lnSpc>
              <a:spcAft>
                <a:spcPts val="100"/>
              </a:spcAft>
            </a:pPr>
            <a:r>
              <a:rPr sz="1300" b="0">
                <a:solidFill>
                  <a:srgbClr val="556175"/>
                </a:solidFill>
                <a:latin typeface="맑은 고딕"/>
                <a:ea typeface="맑은 고딕"/>
                <a:cs typeface="맑은 고딕"/>
              </a:rPr>
              <a:t>에이전트 스킬과 MCP, 안전 기준</a:t>
            </a:r>
          </a:p>
        </p:txBody>
      </p:sp>
      <p:sp>
        <p:nvSpPr>
          <p:cNvPr id="9" name="TextBox 8"/>
          <p:cNvSpPr txBox="1"/>
          <p:nvPr/>
        </p:nvSpPr>
        <p:spPr>
          <a:xfrm>
            <a:off x="1001113" y="4251365"/>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7회차 ①</a:t>
            </a:r>
          </a:p>
          <a:p>
            <a:pPr algn="ctr">
              <a:lnSpc>
                <a:spcPct val="110000"/>
              </a:lnSpc>
              <a:spcAft>
                <a:spcPts val="100"/>
              </a:spcAft>
            </a:pPr>
            <a:r>
              <a:rPr sz="1300" b="0">
                <a:solidFill>
                  <a:srgbClr val="556175"/>
                </a:solidFill>
                <a:latin typeface="맑은 고딕"/>
                <a:ea typeface="맑은 고딕"/>
                <a:cs typeface="맑은 고딕"/>
              </a:rPr>
              <a:t>사람이 개입하는 지점과 명세</a:t>
            </a:r>
          </a:p>
        </p:txBody>
      </p:sp>
      <p:sp>
        <p:nvSpPr>
          <p:cNvPr id="10" name="TextBox 9"/>
          <p:cNvSpPr txBox="1"/>
          <p:nvPr/>
        </p:nvSpPr>
        <p:spPr>
          <a:xfrm>
            <a:off x="7917733" y="4251365"/>
            <a:ext cx="327284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7회차 ②</a:t>
            </a:r>
          </a:p>
          <a:p>
            <a:pPr algn="ctr">
              <a:lnSpc>
                <a:spcPct val="110000"/>
              </a:lnSpc>
              <a:spcAft>
                <a:spcPts val="100"/>
              </a:spcAft>
            </a:pPr>
            <a:r>
              <a:rPr sz="1300" b="0">
                <a:solidFill>
                  <a:srgbClr val="556175"/>
                </a:solidFill>
                <a:latin typeface="맑은 고딕"/>
                <a:ea typeface="맑은 고딕"/>
                <a:cs typeface="맑은 고딕"/>
              </a:rPr>
              <a:t>시나리오와 회귀 시험</a:t>
            </a:r>
          </a:p>
        </p:txBody>
      </p:sp>
      <p:sp>
        <p:nvSpPr>
          <p:cNvPr id="11" name="TextBox 10"/>
          <p:cNvSpPr txBox="1"/>
          <p:nvPr/>
        </p:nvSpPr>
        <p:spPr>
          <a:xfrm>
            <a:off x="5332182" y="4936845"/>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여덟 물음: 에이전트를 만들고 믿기까지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여덟 물음은 에이전트를 업무에 쓰기 전에 답해 두는 것이며, 위의 다섯은 만드는 일을, 아래의 셋은 믿는 근거를 묻는다.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40</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물음</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답이 놓이는 곳</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쿨러 사건의 예</a:t>
            </a:r>
          </a:p>
        </p:txBody>
      </p:sp>
      <p:sp>
        <p:nvSpPr>
          <p:cNvPr id="10" name="Rounded Rectangle 9"/>
          <p:cNvSpPr/>
          <p:nvPr/>
        </p:nvSpPr>
        <p:spPr>
          <a:xfrm>
            <a:off x="548640" y="2061972"/>
            <a:ext cx="11094415" cy="476631"/>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무엇을 위해 있는가</a:t>
            </a:r>
          </a:p>
        </p:txBody>
      </p:sp>
      <p:sp>
        <p:nvSpPr>
          <p:cNvPr id="12" name="TextBox 11"/>
          <p:cNvSpPr txBox="1"/>
          <p:nvPr/>
        </p:nvSpPr>
        <p:spPr>
          <a:xfrm>
            <a:off x="3200400" y="2029968"/>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에이전트의 목표</a:t>
            </a:r>
          </a:p>
        </p:txBody>
      </p:sp>
      <p:sp>
        <p:nvSpPr>
          <p:cNvPr id="13" name="TextBox 12"/>
          <p:cNvSpPr txBox="1"/>
          <p:nvPr/>
        </p:nvSpPr>
        <p:spPr>
          <a:xfrm>
            <a:off x="9448495" y="2029968"/>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원인 진단과 조치 추천</a:t>
            </a:r>
          </a:p>
        </p:txBody>
      </p:sp>
      <p:sp>
        <p:nvSpPr>
          <p:cNvPr id="14" name="Rounded Rectangle 13"/>
          <p:cNvSpPr/>
          <p:nvPr/>
        </p:nvSpPr>
        <p:spPr>
          <a:xfrm>
            <a:off x="548640" y="2602611"/>
            <a:ext cx="11094415" cy="476631"/>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570607"/>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무엇을 근거로 하는가</a:t>
            </a:r>
          </a:p>
        </p:txBody>
      </p:sp>
      <p:sp>
        <p:nvSpPr>
          <p:cNvPr id="16" name="TextBox 15"/>
          <p:cNvSpPr txBox="1"/>
          <p:nvPr/>
        </p:nvSpPr>
        <p:spPr>
          <a:xfrm>
            <a:off x="3200400" y="2570607"/>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지식 그래프와 두 DB</a:t>
            </a:r>
          </a:p>
        </p:txBody>
      </p:sp>
      <p:sp>
        <p:nvSpPr>
          <p:cNvPr id="17" name="TextBox 16"/>
          <p:cNvSpPr txBox="1"/>
          <p:nvPr/>
        </p:nvSpPr>
        <p:spPr>
          <a:xfrm>
            <a:off x="9448495" y="2570607"/>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냉각 효율 46.2 %</a:t>
            </a:r>
          </a:p>
        </p:txBody>
      </p:sp>
      <p:sp>
        <p:nvSpPr>
          <p:cNvPr id="18" name="Rounded Rectangle 17"/>
          <p:cNvSpPr/>
          <p:nvPr/>
        </p:nvSpPr>
        <p:spPr>
          <a:xfrm>
            <a:off x="548640" y="3143250"/>
            <a:ext cx="11094415" cy="476631"/>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111246"/>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어떤 방법으로 하는가</a:t>
            </a:r>
          </a:p>
        </p:txBody>
      </p:sp>
      <p:sp>
        <p:nvSpPr>
          <p:cNvPr id="20" name="TextBox 19"/>
          <p:cNvSpPr txBox="1"/>
          <p:nvPr/>
        </p:nvSpPr>
        <p:spPr>
          <a:xfrm>
            <a:off x="3200400" y="3111246"/>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에이전트 스킬</a:t>
            </a:r>
          </a:p>
        </p:txBody>
      </p:sp>
      <p:sp>
        <p:nvSpPr>
          <p:cNvPr id="21" name="TextBox 20"/>
          <p:cNvSpPr txBox="1"/>
          <p:nvPr/>
        </p:nvSpPr>
        <p:spPr>
          <a:xfrm>
            <a:off x="9448495" y="3111246"/>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냉각 긴급 대응 스킬</a:t>
            </a:r>
          </a:p>
        </p:txBody>
      </p:sp>
      <p:sp>
        <p:nvSpPr>
          <p:cNvPr id="22" name="Rounded Rectangle 21"/>
          <p:cNvSpPr/>
          <p:nvPr/>
        </p:nvSpPr>
        <p:spPr>
          <a:xfrm>
            <a:off x="548640" y="3683888"/>
            <a:ext cx="11094415" cy="476631"/>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3651885"/>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무엇을 연결해 쓰는가</a:t>
            </a:r>
          </a:p>
        </p:txBody>
      </p:sp>
      <p:sp>
        <p:nvSpPr>
          <p:cNvPr id="24" name="TextBox 23"/>
          <p:cNvSpPr txBox="1"/>
          <p:nvPr/>
        </p:nvSpPr>
        <p:spPr>
          <a:xfrm>
            <a:off x="3200400" y="3651885"/>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MCP 서버의 도구</a:t>
            </a:r>
          </a:p>
        </p:txBody>
      </p:sp>
      <p:sp>
        <p:nvSpPr>
          <p:cNvPr id="25" name="TextBox 24"/>
          <p:cNvSpPr txBox="1"/>
          <p:nvPr/>
        </p:nvSpPr>
        <p:spPr>
          <a:xfrm>
            <a:off x="9448495" y="3651885"/>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hyd-dmn의 diagnose</a:t>
            </a:r>
          </a:p>
        </p:txBody>
      </p:sp>
      <p:sp>
        <p:nvSpPr>
          <p:cNvPr id="26" name="Rounded Rectangle 25"/>
          <p:cNvSpPr/>
          <p:nvPr/>
        </p:nvSpPr>
        <p:spPr>
          <a:xfrm>
            <a:off x="548640" y="4224528"/>
            <a:ext cx="11094415" cy="476631"/>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192524"/>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무엇을 내는가</a:t>
            </a:r>
          </a:p>
        </p:txBody>
      </p:sp>
      <p:sp>
        <p:nvSpPr>
          <p:cNvPr id="28" name="TextBox 27"/>
          <p:cNvSpPr txBox="1"/>
          <p:nvPr/>
        </p:nvSpPr>
        <p:spPr>
          <a:xfrm>
            <a:off x="3200400" y="4192524"/>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출력 계약</a:t>
            </a:r>
          </a:p>
        </p:txBody>
      </p:sp>
      <p:sp>
        <p:nvSpPr>
          <p:cNvPr id="29" name="TextBox 28"/>
          <p:cNvSpPr txBox="1"/>
          <p:nvPr/>
        </p:nvSpPr>
        <p:spPr>
          <a:xfrm>
            <a:off x="9448495" y="4192524"/>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추천안</a:t>
            </a:r>
          </a:p>
        </p:txBody>
      </p:sp>
      <p:sp>
        <p:nvSpPr>
          <p:cNvPr id="30" name="Rounded Rectangle 29"/>
          <p:cNvSpPr/>
          <p:nvPr/>
        </p:nvSpPr>
        <p:spPr>
          <a:xfrm>
            <a:off x="548640" y="4765167"/>
            <a:ext cx="11094415" cy="476631"/>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4733163"/>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어디서 사람이 결정하는가</a:t>
            </a:r>
          </a:p>
        </p:txBody>
      </p:sp>
      <p:sp>
        <p:nvSpPr>
          <p:cNvPr id="32" name="TextBox 31"/>
          <p:cNvSpPr txBox="1"/>
          <p:nvPr/>
        </p:nvSpPr>
        <p:spPr>
          <a:xfrm>
            <a:off x="3200400" y="4733163"/>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 단계</a:t>
            </a:r>
          </a:p>
        </p:txBody>
      </p:sp>
      <p:sp>
        <p:nvSpPr>
          <p:cNvPr id="33" name="TextBox 32"/>
          <p:cNvSpPr txBox="1"/>
          <p:nvPr/>
        </p:nvSpPr>
        <p:spPr>
          <a:xfrm>
            <a:off x="9448495" y="4733163"/>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운전원의 승인</a:t>
            </a:r>
          </a:p>
        </p:txBody>
      </p:sp>
      <p:sp>
        <p:nvSpPr>
          <p:cNvPr id="34" name="Rounded Rectangle 33"/>
          <p:cNvSpPr/>
          <p:nvPr/>
        </p:nvSpPr>
        <p:spPr>
          <a:xfrm>
            <a:off x="548640" y="5305806"/>
            <a:ext cx="11094415" cy="476631"/>
          </a:xfrm>
          <a:prstGeom prst="roundRect">
            <a:avLst>
              <a:gd name="adj" fmla="val 8000"/>
            </a:avLst>
          </a:prstGeom>
          <a:solidFill>
            <a:srgbClr val="F3F6F9"/>
          </a:solidFill>
          <a:ln>
            <a:noFill/>
          </a:ln>
        </p:spPr>
        <p:txBody>
          <a:bodyPr rtlCol="0" anchor="ctr"/>
          <a:lstStyle/>
          <a:p>
            <a:pPr algn="ctr"/>
          </a:p>
        </p:txBody>
      </p:sp>
      <p:sp>
        <p:nvSpPr>
          <p:cNvPr id="35" name="TextBox 34"/>
          <p:cNvSpPr txBox="1"/>
          <p:nvPr/>
        </p:nvSpPr>
        <p:spPr>
          <a:xfrm>
            <a:off x="685800" y="5273802"/>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무엇을 지키기로 했는가</a:t>
            </a:r>
          </a:p>
        </p:txBody>
      </p:sp>
      <p:sp>
        <p:nvSpPr>
          <p:cNvPr id="36" name="TextBox 35"/>
          <p:cNvSpPr txBox="1"/>
          <p:nvPr/>
        </p:nvSpPr>
        <p:spPr>
          <a:xfrm>
            <a:off x="3200400" y="5273802"/>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명세</a:t>
            </a:r>
          </a:p>
        </p:txBody>
      </p:sp>
      <p:sp>
        <p:nvSpPr>
          <p:cNvPr id="37" name="TextBox 36"/>
          <p:cNvSpPr txBox="1"/>
          <p:nvPr/>
        </p:nvSpPr>
        <p:spPr>
          <a:xfrm>
            <a:off x="9448495" y="5273802"/>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승인 전 명령 금지</a:t>
            </a:r>
          </a:p>
        </p:txBody>
      </p:sp>
      <p:sp>
        <p:nvSpPr>
          <p:cNvPr id="38" name="Rounded Rectangle 37"/>
          <p:cNvSpPr/>
          <p:nvPr/>
        </p:nvSpPr>
        <p:spPr>
          <a:xfrm>
            <a:off x="548640" y="5846445"/>
            <a:ext cx="11094415" cy="476631"/>
          </a:xfrm>
          <a:prstGeom prst="roundRect">
            <a:avLst>
              <a:gd name="adj" fmla="val 8000"/>
            </a:avLst>
          </a:prstGeom>
          <a:solidFill>
            <a:srgbClr val="E7F3FD"/>
          </a:solidFill>
          <a:ln>
            <a:noFill/>
          </a:ln>
        </p:spPr>
        <p:txBody>
          <a:bodyPr rtlCol="0" anchor="ctr"/>
          <a:lstStyle/>
          <a:p>
            <a:pPr algn="ctr"/>
          </a:p>
        </p:txBody>
      </p:sp>
      <p:sp>
        <p:nvSpPr>
          <p:cNvPr id="39" name="TextBox 38"/>
          <p:cNvSpPr txBox="1"/>
          <p:nvPr/>
        </p:nvSpPr>
        <p:spPr>
          <a:xfrm>
            <a:off x="685800" y="5814441"/>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정한 대로 행동하는가</a:t>
            </a:r>
          </a:p>
        </p:txBody>
      </p:sp>
      <p:sp>
        <p:nvSpPr>
          <p:cNvPr id="40" name="TextBox 39"/>
          <p:cNvSpPr txBox="1"/>
          <p:nvPr/>
        </p:nvSpPr>
        <p:spPr>
          <a:xfrm>
            <a:off x="3200400" y="5814441"/>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시나리오와 회귀 시험</a:t>
            </a:r>
          </a:p>
        </p:txBody>
      </p:sp>
      <p:sp>
        <p:nvSpPr>
          <p:cNvPr id="41" name="TextBox 40"/>
          <p:cNvSpPr txBox="1"/>
          <p:nvPr/>
        </p:nvSpPr>
        <p:spPr>
          <a:xfrm>
            <a:off x="9448495" y="5814441"/>
            <a:ext cx="2103120" cy="540639"/>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거절하면 명령 0건</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쿨러 사건 한 건 위에 놓은 장치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 한 건이 설비 명령에 닿기까지 스킬, 도구, 검사, 승인이 차례로 놓이고, 시나리오는 그 전체를 되풀이해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41</a:t>
            </a:r>
          </a:p>
        </p:txBody>
      </p:sp>
      <p:pic>
        <p:nvPicPr>
          <p:cNvPr id="6" name="삽화:사건위장치.svg" descr="illust_4915852875266658788_179177036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59290" y="2431298"/>
            <a:ext cx="120004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경보</a:t>
            </a:r>
          </a:p>
          <a:p>
            <a:pPr algn="ctr">
              <a:lnSpc>
                <a:spcPct val="110000"/>
              </a:lnSpc>
              <a:spcAft>
                <a:spcPts val="100"/>
              </a:spcAft>
            </a:pPr>
            <a:r>
              <a:rPr sz="1300" b="0">
                <a:solidFill>
                  <a:srgbClr val="556175"/>
                </a:solidFill>
                <a:latin typeface="맑은 고딕"/>
                <a:ea typeface="맑은 고딕"/>
                <a:cs typeface="맑은 고딕"/>
              </a:rPr>
              <a:t>11:13:08</a:t>
            </a:r>
          </a:p>
        </p:txBody>
      </p:sp>
      <p:sp>
        <p:nvSpPr>
          <p:cNvPr id="8" name="TextBox 7"/>
          <p:cNvSpPr txBox="1"/>
          <p:nvPr/>
        </p:nvSpPr>
        <p:spPr>
          <a:xfrm>
            <a:off x="2310252" y="2573121"/>
            <a:ext cx="120004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스킬</a:t>
            </a:r>
          </a:p>
        </p:txBody>
      </p:sp>
      <p:sp>
        <p:nvSpPr>
          <p:cNvPr id="9" name="TextBox 8"/>
          <p:cNvSpPr txBox="1"/>
          <p:nvPr/>
        </p:nvSpPr>
        <p:spPr>
          <a:xfrm>
            <a:off x="3717577" y="2573121"/>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도구 호출</a:t>
            </a:r>
          </a:p>
        </p:txBody>
      </p:sp>
      <p:sp>
        <p:nvSpPr>
          <p:cNvPr id="10" name="TextBox 9"/>
          <p:cNvSpPr txBox="1"/>
          <p:nvPr/>
        </p:nvSpPr>
        <p:spPr>
          <a:xfrm>
            <a:off x="5004898" y="2573121"/>
            <a:ext cx="163642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추천안</a:t>
            </a:r>
          </a:p>
        </p:txBody>
      </p:sp>
      <p:sp>
        <p:nvSpPr>
          <p:cNvPr id="11" name="TextBox 10"/>
          <p:cNvSpPr txBox="1"/>
          <p:nvPr/>
        </p:nvSpPr>
        <p:spPr>
          <a:xfrm>
            <a:off x="6674050" y="2573121"/>
            <a:ext cx="120004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검사</a:t>
            </a:r>
          </a:p>
        </p:txBody>
      </p:sp>
      <p:sp>
        <p:nvSpPr>
          <p:cNvPr id="12" name="TextBox 11"/>
          <p:cNvSpPr txBox="1"/>
          <p:nvPr/>
        </p:nvSpPr>
        <p:spPr>
          <a:xfrm>
            <a:off x="8135923" y="2360386"/>
            <a:ext cx="120004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a:t>
            </a:r>
          </a:p>
          <a:p>
            <a:pPr algn="ctr">
              <a:lnSpc>
                <a:spcPct val="110000"/>
              </a:lnSpc>
              <a:spcAft>
                <a:spcPts val="100"/>
              </a:spcAft>
            </a:pPr>
            <a:r>
              <a:rPr sz="1300" b="0">
                <a:solidFill>
                  <a:srgbClr val="556175"/>
                </a:solidFill>
                <a:latin typeface="맑은 고딕"/>
                <a:ea typeface="맑은 고딕"/>
                <a:cs typeface="맑은 고딕"/>
              </a:rPr>
              <a:t>11:14:56</a:t>
            </a:r>
          </a:p>
        </p:txBody>
      </p:sp>
      <p:sp>
        <p:nvSpPr>
          <p:cNvPr id="13" name="TextBox 12"/>
          <p:cNvSpPr txBox="1"/>
          <p:nvPr/>
        </p:nvSpPr>
        <p:spPr>
          <a:xfrm>
            <a:off x="9717799" y="2431298"/>
            <a:ext cx="130913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설비 명령</a:t>
            </a:r>
          </a:p>
          <a:p>
            <a:pPr algn="ctr">
              <a:lnSpc>
                <a:spcPct val="110000"/>
              </a:lnSpc>
              <a:spcAft>
                <a:spcPts val="100"/>
              </a:spcAft>
            </a:pPr>
            <a:r>
              <a:rPr sz="1300" b="0">
                <a:solidFill>
                  <a:srgbClr val="556175"/>
                </a:solidFill>
                <a:latin typeface="맑은 고딕"/>
                <a:ea typeface="맑은 고딕"/>
                <a:cs typeface="맑은 고딕"/>
              </a:rPr>
              <a:t>팬 100 %</a:t>
            </a:r>
          </a:p>
        </p:txBody>
      </p:sp>
      <p:sp>
        <p:nvSpPr>
          <p:cNvPr id="14" name="TextBox 13"/>
          <p:cNvSpPr txBox="1"/>
          <p:nvPr/>
        </p:nvSpPr>
        <p:spPr>
          <a:xfrm>
            <a:off x="2250250" y="4062267"/>
            <a:ext cx="283646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방법과 실행 도구 · 5~6회차</a:t>
            </a:r>
          </a:p>
        </p:txBody>
      </p:sp>
      <p:sp>
        <p:nvSpPr>
          <p:cNvPr id="15" name="TextBox 14"/>
          <p:cNvSpPr txBox="1"/>
          <p:nvPr/>
        </p:nvSpPr>
        <p:spPr>
          <a:xfrm>
            <a:off x="6586774" y="4062267"/>
            <a:ext cx="283646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검사와 사람의 결정 · 7회차</a:t>
            </a:r>
          </a:p>
        </p:txBody>
      </p:sp>
      <p:sp>
        <p:nvSpPr>
          <p:cNvPr id="16" name="TextBox 15"/>
          <p:cNvSpPr txBox="1"/>
          <p:nvPr/>
        </p:nvSpPr>
        <p:spPr>
          <a:xfrm>
            <a:off x="7295892" y="5433227"/>
            <a:ext cx="327284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시나리오와 회귀 시험 · 7회차</a:t>
            </a:r>
          </a:p>
          <a:p>
            <a:pPr algn="ctr">
              <a:lnSpc>
                <a:spcPct val="110000"/>
              </a:lnSpc>
              <a:spcAft>
                <a:spcPts val="100"/>
              </a:spcAft>
            </a:pPr>
            <a:r>
              <a:rPr sz="1300" b="0">
                <a:solidFill>
                  <a:srgbClr val="556175"/>
                </a:solidFill>
                <a:latin typeface="맑은 고딕"/>
                <a:ea typeface="맑은 고딕"/>
                <a:cs typeface="맑은 고딕"/>
              </a:rPr>
              <a:t>경보에서 명령까지의 행동을 되풀이해 확인한다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목표, 도구, 멈춤 조건: 하나가 빠졌을 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목표가 없으면 끝을 정하지 못하고, 도구가 없으면 현재값을 알지 못하며, 멈춤 조건이 없으면 모르는 것을 채워서 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42</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target" descr="target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목표가 없다</a:t>
            </a:r>
          </a:p>
          <a:p>
            <a:pPr algn="l">
              <a:lnSpc>
                <a:spcPct val="110000"/>
              </a:lnSpc>
              <a:spcAft>
                <a:spcPts val="400"/>
              </a:spcAft>
            </a:pPr>
            <a:r>
              <a:rPr sz="1400" b="0">
                <a:solidFill>
                  <a:srgbClr val="1F2A3A"/>
                </a:solidFill>
                <a:latin typeface="맑은 고딕"/>
                <a:ea typeface="맑은 고딕"/>
                <a:cs typeface="맑은 고딕"/>
              </a:rPr>
              <a:t>• 무엇을 이루면 끝나는지가 정해지지 않는다</a:t>
            </a:r>
          </a:p>
          <a:p>
            <a:pPr algn="l">
              <a:lnSpc>
                <a:spcPct val="110000"/>
              </a:lnSpc>
              <a:spcAft>
                <a:spcPts val="400"/>
              </a:spcAft>
            </a:pPr>
            <a:r>
              <a:rPr sz="1400" b="0">
                <a:solidFill>
                  <a:srgbClr val="1F2A3A"/>
                </a:solidFill>
                <a:latin typeface="맑은 고딕"/>
                <a:ea typeface="맑은 고딕"/>
                <a:cs typeface="맑은 고딕"/>
              </a:rPr>
              <a:t>• 질문에 한 번 답하고 멈춘다</a:t>
            </a:r>
          </a:p>
        </p:txBody>
      </p:sp>
      <p:sp>
        <p:nvSpPr>
          <p:cNvPr id="10" name="Rounded Rectangle 9"/>
          <p:cNvSpPr/>
          <p:nvPr/>
        </p:nvSpPr>
        <p:spPr>
          <a:xfrm>
            <a:off x="777240" y="5041392"/>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목표</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tools" descr="tools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도구가 없다</a:t>
            </a:r>
          </a:p>
          <a:p>
            <a:pPr algn="l">
              <a:lnSpc>
                <a:spcPct val="110000"/>
              </a:lnSpc>
              <a:spcAft>
                <a:spcPts val="400"/>
              </a:spcAft>
            </a:pPr>
            <a:r>
              <a:rPr sz="1400" b="0">
                <a:solidFill>
                  <a:srgbClr val="1F2A3A"/>
                </a:solidFill>
                <a:latin typeface="맑은 고딕"/>
                <a:ea typeface="맑은 고딕"/>
                <a:cs typeface="맑은 고딕"/>
              </a:rPr>
              <a:t>• 유온과 납기 오더 같은 지금의 값을 읽지 못한다</a:t>
            </a:r>
          </a:p>
          <a:p>
            <a:pPr algn="l">
              <a:lnSpc>
                <a:spcPct val="110000"/>
              </a:lnSpc>
              <a:spcAft>
                <a:spcPts val="400"/>
              </a:spcAft>
            </a:pPr>
            <a:r>
              <a:rPr sz="1400" b="0">
                <a:solidFill>
                  <a:srgbClr val="1F2A3A"/>
                </a:solidFill>
                <a:latin typeface="맑은 고딕"/>
                <a:ea typeface="맑은 고딕"/>
                <a:cs typeface="맑은 고딕"/>
              </a:rPr>
              <a:t>• 모델이 학습한 내용만으로 답한다</a:t>
            </a:r>
          </a:p>
        </p:txBody>
      </p:sp>
      <p:sp>
        <p:nvSpPr>
          <p:cNvPr id="16" name="Rounded Rectangle 15"/>
          <p:cNvSpPr/>
          <p:nvPr/>
        </p:nvSpPr>
        <p:spPr>
          <a:xfrm>
            <a:off x="4566818" y="5041392"/>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도구</a:t>
            </a:r>
          </a:p>
        </p:txBody>
      </p:sp>
      <p:sp>
        <p:nvSpPr>
          <p:cNvPr id="18" name="Rounded Rectangle 17"/>
          <p:cNvSpPr/>
          <p:nvPr/>
        </p:nvSpPr>
        <p:spPr>
          <a:xfrm>
            <a:off x="8127796"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5CB8F2"/>
          </a:solidFill>
          <a:ln>
            <a:noFill/>
          </a:ln>
        </p:spPr>
        <p:txBody>
          <a:bodyPr rtlCol="0" anchor="ctr"/>
          <a:lstStyle/>
          <a:p>
            <a:pPr algn="ctr"/>
          </a:p>
        </p:txBody>
      </p:sp>
      <p:pic>
        <p:nvPicPr>
          <p:cNvPr id="20" name="아이콘:hand-stop" descr="hand-stop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멈춤 조건이 없다</a:t>
            </a:r>
          </a:p>
          <a:p>
            <a:pPr algn="l">
              <a:lnSpc>
                <a:spcPct val="110000"/>
              </a:lnSpc>
              <a:spcAft>
                <a:spcPts val="400"/>
              </a:spcAft>
            </a:pPr>
            <a:r>
              <a:rPr sz="1400" b="0">
                <a:solidFill>
                  <a:srgbClr val="1F2A3A"/>
                </a:solidFill>
                <a:latin typeface="맑은 고딕"/>
                <a:ea typeface="맑은 고딕"/>
                <a:cs typeface="맑은 고딕"/>
              </a:rPr>
              <a:t>근거가 부족하거나 도구가 실패해도 결과를 채워서 낸다</a:t>
            </a:r>
          </a:p>
        </p:txBody>
      </p:sp>
      <p:sp>
        <p:nvSpPr>
          <p:cNvPr id="22" name="Rounded Rectangle 21"/>
          <p:cNvSpPr/>
          <p:nvPr/>
        </p:nvSpPr>
        <p:spPr>
          <a:xfrm>
            <a:off x="8356396" y="5041392"/>
            <a:ext cx="10210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041392"/>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멈춤 조건</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근거가 놓인 자리: 지식과 현재값</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사건의 추천안에 든 근거는 지식 그래프의 관계와, 판단하는 순간에 도구로 읽은 값에서 따로 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43</a:t>
            </a:r>
          </a:p>
        </p:txBody>
      </p:sp>
      <p:pic>
        <p:nvPicPr>
          <p:cNvPr id="6" name="삽화:근거자리.svg" descr="illust_5824766439178977946_179177088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68384" y="2242200"/>
            <a:ext cx="1527329"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지식</a:t>
            </a:r>
          </a:p>
          <a:p>
            <a:pPr algn="ctr">
              <a:lnSpc>
                <a:spcPct val="110000"/>
              </a:lnSpc>
              <a:spcAft>
                <a:spcPts val="100"/>
              </a:spcAft>
            </a:pPr>
            <a:r>
              <a:rPr sz="1300" b="0">
                <a:solidFill>
                  <a:srgbClr val="556175"/>
                </a:solidFill>
                <a:latin typeface="맑은 고딕"/>
                <a:ea typeface="맑은 고딕"/>
                <a:cs typeface="맑은 고딕"/>
              </a:rPr>
              <a:t>지식 그래프에 정해 둔 관계</a:t>
            </a:r>
          </a:p>
        </p:txBody>
      </p:sp>
      <p:sp>
        <p:nvSpPr>
          <p:cNvPr id="8" name="TextBox 7"/>
          <p:cNvSpPr txBox="1"/>
          <p:nvPr/>
        </p:nvSpPr>
        <p:spPr>
          <a:xfrm>
            <a:off x="2255705" y="3234964"/>
            <a:ext cx="163642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원인 후보 셋</a:t>
            </a:r>
          </a:p>
          <a:p>
            <a:pPr algn="ctr">
              <a:lnSpc>
                <a:spcPct val="110000"/>
              </a:lnSpc>
              <a:spcAft>
                <a:spcPts val="100"/>
              </a:spcAft>
            </a:pPr>
            <a:r>
              <a:rPr sz="1300" b="0">
                <a:solidFill>
                  <a:srgbClr val="556175"/>
                </a:solidFill>
                <a:latin typeface="맑은 고딕"/>
                <a:ea typeface="맑은 고딕"/>
                <a:cs typeface="맑은 고딕"/>
              </a:rPr>
              <a:t>쿨러 핀 오염 외 둘</a:t>
            </a:r>
          </a:p>
        </p:txBody>
      </p:sp>
      <p:sp>
        <p:nvSpPr>
          <p:cNvPr id="9" name="TextBox 8"/>
          <p:cNvSpPr txBox="1"/>
          <p:nvPr/>
        </p:nvSpPr>
        <p:spPr>
          <a:xfrm>
            <a:off x="3826672" y="2880405"/>
            <a:ext cx="120004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고장 유형</a:t>
            </a:r>
          </a:p>
        </p:txBody>
      </p:sp>
      <p:sp>
        <p:nvSpPr>
          <p:cNvPr id="10" name="TextBox 9"/>
          <p:cNvSpPr txBox="1"/>
          <p:nvPr/>
        </p:nvSpPr>
        <p:spPr>
          <a:xfrm>
            <a:off x="5201269" y="3069503"/>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조치 방법</a:t>
            </a:r>
          </a:p>
          <a:p>
            <a:pPr algn="ctr">
              <a:lnSpc>
                <a:spcPct val="110000"/>
              </a:lnSpc>
              <a:spcAft>
                <a:spcPts val="100"/>
              </a:spcAft>
            </a:pPr>
            <a:r>
              <a:rPr sz="1300" b="0">
                <a:solidFill>
                  <a:srgbClr val="556175"/>
                </a:solidFill>
                <a:latin typeface="맑은 고딕"/>
                <a:ea typeface="맑은 고딕"/>
                <a:cs typeface="맑은 고딕"/>
              </a:rPr>
              <a:t>SOP-COOL-11</a:t>
            </a:r>
          </a:p>
        </p:txBody>
      </p:sp>
      <p:sp>
        <p:nvSpPr>
          <p:cNvPr id="11" name="TextBox 10"/>
          <p:cNvSpPr txBox="1"/>
          <p:nvPr/>
        </p:nvSpPr>
        <p:spPr>
          <a:xfrm>
            <a:off x="968384" y="4558649"/>
            <a:ext cx="1527329"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현재값</a:t>
            </a:r>
          </a:p>
          <a:p>
            <a:pPr algn="ctr">
              <a:lnSpc>
                <a:spcPct val="110000"/>
              </a:lnSpc>
              <a:spcAft>
                <a:spcPts val="100"/>
              </a:spcAft>
            </a:pPr>
            <a:r>
              <a:rPr sz="1300" b="0">
                <a:solidFill>
                  <a:srgbClr val="556175"/>
                </a:solidFill>
                <a:latin typeface="맑은 고딕"/>
                <a:ea typeface="맑은 고딕"/>
                <a:cs typeface="맑은 고딕"/>
              </a:rPr>
              <a:t>판단하는 순간에 읽는 값</a:t>
            </a:r>
          </a:p>
        </p:txBody>
      </p:sp>
      <p:sp>
        <p:nvSpPr>
          <p:cNvPr id="12" name="TextBox 11"/>
          <p:cNvSpPr txBox="1"/>
          <p:nvPr/>
        </p:nvSpPr>
        <p:spPr>
          <a:xfrm>
            <a:off x="2495714" y="5362315"/>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시계열 DB</a:t>
            </a:r>
          </a:p>
          <a:p>
            <a:pPr algn="ctr">
              <a:lnSpc>
                <a:spcPct val="110000"/>
              </a:lnSpc>
              <a:spcAft>
                <a:spcPts val="100"/>
              </a:spcAft>
            </a:pPr>
            <a:r>
              <a:rPr sz="1300" b="0">
                <a:solidFill>
                  <a:srgbClr val="556175"/>
                </a:solidFill>
                <a:latin typeface="맑은 고딕"/>
                <a:ea typeface="맑은 고딕"/>
                <a:cs typeface="맑은 고딕"/>
              </a:rPr>
              <a:t>냉각 효율 46.2 %</a:t>
            </a:r>
          </a:p>
        </p:txBody>
      </p:sp>
      <p:sp>
        <p:nvSpPr>
          <p:cNvPr id="13" name="TextBox 12"/>
          <p:cNvSpPr txBox="1"/>
          <p:nvPr/>
        </p:nvSpPr>
        <p:spPr>
          <a:xfrm>
            <a:off x="4241233" y="5362315"/>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업무 DB</a:t>
            </a:r>
          </a:p>
          <a:p>
            <a:pPr algn="ctr">
              <a:lnSpc>
                <a:spcPct val="110000"/>
              </a:lnSpc>
              <a:spcAft>
                <a:spcPts val="100"/>
              </a:spcAft>
            </a:pPr>
            <a:r>
              <a:rPr sz="1300" b="0">
                <a:solidFill>
                  <a:srgbClr val="556175"/>
                </a:solidFill>
                <a:latin typeface="맑은 고딕"/>
                <a:ea typeface="맑은 고딕"/>
                <a:cs typeface="맑은 고딕"/>
              </a:rPr>
              <a:t>납기 오더 MO-0930-0412</a:t>
            </a:r>
          </a:p>
        </p:txBody>
      </p:sp>
      <p:sp>
        <p:nvSpPr>
          <p:cNvPr id="14" name="TextBox 13"/>
          <p:cNvSpPr txBox="1"/>
          <p:nvPr/>
        </p:nvSpPr>
        <p:spPr>
          <a:xfrm>
            <a:off x="6804964" y="3873169"/>
            <a:ext cx="981854"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도구 호출</a:t>
            </a:r>
          </a:p>
        </p:txBody>
      </p:sp>
      <p:sp>
        <p:nvSpPr>
          <p:cNvPr id="15" name="TextBox 14"/>
          <p:cNvSpPr txBox="1"/>
          <p:nvPr/>
        </p:nvSpPr>
        <p:spPr>
          <a:xfrm>
            <a:off x="9292329" y="4629561"/>
            <a:ext cx="2072804"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추천안</a:t>
            </a:r>
          </a:p>
          <a:p>
            <a:pPr algn="ctr">
              <a:lnSpc>
                <a:spcPct val="110000"/>
              </a:lnSpc>
              <a:spcAft>
                <a:spcPts val="100"/>
              </a:spcAft>
            </a:pPr>
            <a:r>
              <a:rPr sz="1300" b="0">
                <a:solidFill>
                  <a:srgbClr val="556175"/>
                </a:solidFill>
                <a:latin typeface="맑은 고딕"/>
                <a:ea typeface="맑은 고딕"/>
                <a:cs typeface="맑은 고딕"/>
              </a:rPr>
              <a:t>근거마다 읽은 곳이 남는다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스킬과 MCP: 바꾸려는 것에 따라 고칠 곳</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일하는 순서와 결과의 모양을 바꾸려면 스킬을 고치고, 읽을 수 있는 시스템을 늘리려면 MCP 서버의 연결을 고친다.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44</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스킬을 고치는 경우</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도구를 부르는 순서를 바꾼다</a:t>
            </a:r>
          </a:p>
          <a:p>
            <a:pPr algn="l">
              <a:lnSpc>
                <a:spcPct val="110000"/>
              </a:lnSpc>
              <a:spcAft>
                <a:spcPts val="600"/>
              </a:spcAft>
            </a:pPr>
            <a:r>
              <a:rPr sz="1450" b="0">
                <a:solidFill>
                  <a:srgbClr val="1F2A3A"/>
                </a:solidFill>
                <a:latin typeface="맑은 고딕"/>
                <a:ea typeface="맑은 고딕"/>
                <a:cs typeface="맑은 고딕"/>
              </a:rPr>
              <a:t>• 근거가 없을 때의 행동을 정한다</a:t>
            </a:r>
          </a:p>
          <a:p>
            <a:pPr algn="l">
              <a:lnSpc>
                <a:spcPct val="110000"/>
              </a:lnSpc>
              <a:spcAft>
                <a:spcPts val="600"/>
              </a:spcAft>
            </a:pPr>
            <a:r>
              <a:rPr sz="1450" b="0">
                <a:solidFill>
                  <a:srgbClr val="1F2A3A"/>
                </a:solidFill>
                <a:latin typeface="맑은 고딕"/>
                <a:ea typeface="맑은 고딕"/>
                <a:cs typeface="맑은 고딕"/>
              </a:rPr>
              <a:t>• 결과 항목의 이름을 정한다</a:t>
            </a:r>
          </a:p>
        </p:txBody>
      </p:sp>
      <p:sp>
        <p:nvSpPr>
          <p:cNvPr id="11" name="Rounded Rectangle 10"/>
          <p:cNvSpPr/>
          <p:nvPr/>
        </p:nvSpPr>
        <p:spPr>
          <a:xfrm>
            <a:off x="868680" y="4945570"/>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수행 방법</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plug-connected" descr="plug-connected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연결을 고치는 경우</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새 시스템의 값을 읽게 한다</a:t>
            </a:r>
          </a:p>
          <a:p>
            <a:pPr algn="l">
              <a:lnSpc>
                <a:spcPct val="110000"/>
              </a:lnSpc>
              <a:spcAft>
                <a:spcPts val="600"/>
              </a:spcAft>
            </a:pPr>
            <a:r>
              <a:rPr sz="1450" b="0">
                <a:solidFill>
                  <a:srgbClr val="1F2A3A"/>
                </a:solidFill>
                <a:latin typeface="맑은 고딕"/>
                <a:ea typeface="맑은 고딕"/>
                <a:cs typeface="맑은 고딕"/>
              </a:rPr>
              <a:t>• 부를 수 있는 도구의 범위를 좁힌다</a:t>
            </a:r>
          </a:p>
          <a:p>
            <a:pPr algn="l">
              <a:lnSpc>
                <a:spcPct val="110000"/>
              </a:lnSpc>
              <a:spcAft>
                <a:spcPts val="600"/>
              </a:spcAft>
            </a:pPr>
            <a:r>
              <a:rPr sz="1450" b="0">
                <a:solidFill>
                  <a:srgbClr val="1F2A3A"/>
                </a:solidFill>
                <a:latin typeface="맑은 고딕"/>
                <a:ea typeface="맑은 고딕"/>
                <a:cs typeface="맑은 고딕"/>
              </a:rPr>
              <a:t>• 서버마다 접근 권한을 정한다</a:t>
            </a:r>
          </a:p>
        </p:txBody>
      </p:sp>
      <p:sp>
        <p:nvSpPr>
          <p:cNvPr id="18" name="Rounded Rectangle 17"/>
          <p:cNvSpPr/>
          <p:nvPr/>
        </p:nvSpPr>
        <p:spPr>
          <a:xfrm>
            <a:off x="6781647" y="4945570"/>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 도구</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검사를 통과한 것과 승인된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검사를 통과한 결과는 사람에게 올려도 된다는 뜻일 뿐이며, 실행해도 된다는 결정은 사람의 승인에서만 나온다.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45</a:t>
            </a:r>
          </a:p>
        </p:txBody>
      </p:sp>
      <p:pic>
        <p:nvPicPr>
          <p:cNvPr id="6" name="삽화:두문.svg" descr="illust_776727210014945903_179177088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68384" y="2194925"/>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에이전트</a:t>
            </a:r>
          </a:p>
        </p:txBody>
      </p:sp>
      <p:sp>
        <p:nvSpPr>
          <p:cNvPr id="8" name="TextBox 7"/>
          <p:cNvSpPr txBox="1"/>
          <p:nvPr/>
        </p:nvSpPr>
        <p:spPr>
          <a:xfrm>
            <a:off x="2582990" y="2454935"/>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추천안</a:t>
            </a:r>
          </a:p>
        </p:txBody>
      </p:sp>
      <p:sp>
        <p:nvSpPr>
          <p:cNvPr id="9" name="TextBox 8"/>
          <p:cNvSpPr txBox="1"/>
          <p:nvPr/>
        </p:nvSpPr>
        <p:spPr>
          <a:xfrm>
            <a:off x="3575754" y="1769455"/>
            <a:ext cx="261827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자동 검사</a:t>
            </a:r>
          </a:p>
          <a:p>
            <a:pPr algn="ctr">
              <a:lnSpc>
                <a:spcPct val="110000"/>
              </a:lnSpc>
              <a:spcAft>
                <a:spcPts val="100"/>
              </a:spcAft>
            </a:pPr>
            <a:r>
              <a:rPr sz="1100" b="0">
                <a:solidFill>
                  <a:srgbClr val="556175"/>
                </a:solidFill>
                <a:latin typeface="맑은 고딕"/>
                <a:ea typeface="맑은 고딕"/>
                <a:cs typeface="맑은 고딕"/>
              </a:rPr>
              <a:t>형식, 규칙의 인용, 승인 역할</a:t>
            </a:r>
          </a:p>
        </p:txBody>
      </p:sp>
      <p:sp>
        <p:nvSpPr>
          <p:cNvPr id="10" name="TextBox 9"/>
          <p:cNvSpPr txBox="1"/>
          <p:nvPr/>
        </p:nvSpPr>
        <p:spPr>
          <a:xfrm>
            <a:off x="4121229" y="4275002"/>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올려도 된다</a:t>
            </a:r>
          </a:p>
        </p:txBody>
      </p:sp>
      <p:sp>
        <p:nvSpPr>
          <p:cNvPr id="11" name="TextBox 10"/>
          <p:cNvSpPr txBox="1"/>
          <p:nvPr/>
        </p:nvSpPr>
        <p:spPr>
          <a:xfrm>
            <a:off x="6008571" y="3636797"/>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대기</a:t>
            </a:r>
          </a:p>
        </p:txBody>
      </p:sp>
      <p:sp>
        <p:nvSpPr>
          <p:cNvPr id="12" name="TextBox 11"/>
          <p:cNvSpPr txBox="1"/>
          <p:nvPr/>
        </p:nvSpPr>
        <p:spPr>
          <a:xfrm>
            <a:off x="7055883" y="1769455"/>
            <a:ext cx="2400088"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담당자의 승인</a:t>
            </a:r>
          </a:p>
          <a:p>
            <a:pPr algn="ctr">
              <a:lnSpc>
                <a:spcPct val="110000"/>
              </a:lnSpc>
              <a:spcAft>
                <a:spcPts val="100"/>
              </a:spcAft>
            </a:pPr>
            <a:r>
              <a:rPr sz="1100" b="0">
                <a:solidFill>
                  <a:srgbClr val="556175"/>
                </a:solidFill>
                <a:latin typeface="맑은 고딕"/>
                <a:ea typeface="맑은 고딕"/>
                <a:cs typeface="맑은 고딕"/>
              </a:rPr>
              <a:t>추천의 내용과 지금의 상황을 본다</a:t>
            </a:r>
          </a:p>
        </p:txBody>
      </p:sp>
      <p:sp>
        <p:nvSpPr>
          <p:cNvPr id="13" name="TextBox 12"/>
          <p:cNvSpPr txBox="1"/>
          <p:nvPr/>
        </p:nvSpPr>
        <p:spPr>
          <a:xfrm>
            <a:off x="7492262" y="4275002"/>
            <a:ext cx="1527329"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실행해도 된다</a:t>
            </a:r>
          </a:p>
        </p:txBody>
      </p:sp>
      <p:sp>
        <p:nvSpPr>
          <p:cNvPr id="14" name="TextBox 13"/>
          <p:cNvSpPr txBox="1"/>
          <p:nvPr/>
        </p:nvSpPr>
        <p:spPr>
          <a:xfrm>
            <a:off x="9455972" y="3802258"/>
            <a:ext cx="196370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설비 명령</a:t>
            </a:r>
          </a:p>
          <a:p>
            <a:pPr algn="ctr">
              <a:lnSpc>
                <a:spcPct val="110000"/>
              </a:lnSpc>
              <a:spcAft>
                <a:spcPts val="100"/>
              </a:spcAft>
            </a:pPr>
            <a:r>
              <a:rPr sz="1100" b="0">
                <a:solidFill>
                  <a:srgbClr val="556175"/>
                </a:solidFill>
                <a:latin typeface="맑은 고딕"/>
                <a:ea typeface="맑은 고딕"/>
                <a:cs typeface="맑은 고딕"/>
              </a:rPr>
              <a:t>승인 뒤에만 만들어진다</a:t>
            </a:r>
          </a:p>
        </p:txBody>
      </p:sp>
      <p:sp>
        <p:nvSpPr>
          <p:cNvPr id="15" name="TextBox 14"/>
          <p:cNvSpPr txBox="1"/>
          <p:nvPr/>
        </p:nvSpPr>
        <p:spPr>
          <a:xfrm>
            <a:off x="8823221" y="5409590"/>
            <a:ext cx="196370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결정 기록</a:t>
            </a:r>
          </a:p>
          <a:p>
            <a:pPr algn="ctr">
              <a:lnSpc>
                <a:spcPct val="110000"/>
              </a:lnSpc>
              <a:spcAft>
                <a:spcPts val="100"/>
              </a:spcAft>
            </a:pPr>
            <a:r>
              <a:rPr sz="1100" b="0">
                <a:solidFill>
                  <a:srgbClr val="556175"/>
                </a:solidFill>
                <a:latin typeface="맑은 고딕"/>
                <a:ea typeface="맑은 고딕"/>
                <a:cs typeface="맑은 고딕"/>
              </a:rPr>
              <a:t>승인한 사람과 역할</a:t>
            </a:r>
          </a:p>
        </p:txBody>
      </p:sp>
      <p:sp>
        <p:nvSpPr>
          <p:cNvPr id="16" name="TextBox 15"/>
          <p:cNvSpPr txBox="1"/>
          <p:nvPr/>
        </p:nvSpPr>
        <p:spPr>
          <a:xfrm>
            <a:off x="657464" y="5385953"/>
            <a:ext cx="1690971"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에이전트의 질문</a:t>
            </a:r>
          </a:p>
          <a:p>
            <a:pPr algn="ctr">
              <a:lnSpc>
                <a:spcPct val="110000"/>
              </a:lnSpc>
              <a:spcAft>
                <a:spcPts val="100"/>
              </a:spcAft>
            </a:pPr>
            <a:r>
              <a:rPr sz="1100" b="0">
                <a:solidFill>
                  <a:srgbClr val="556175"/>
                </a:solidFill>
                <a:latin typeface="맑은 고딕"/>
                <a:ea typeface="맑은 고딕"/>
                <a:cs typeface="맑은 고딕"/>
              </a:rPr>
              <a:t>필수 정보가 없을 때</a:t>
            </a:r>
          </a:p>
        </p:txBody>
      </p:sp>
      <p:sp>
        <p:nvSpPr>
          <p:cNvPr id="17" name="TextBox 16"/>
          <p:cNvSpPr txBox="1"/>
          <p:nvPr/>
        </p:nvSpPr>
        <p:spPr>
          <a:xfrm>
            <a:off x="2441166" y="5385953"/>
            <a:ext cx="185461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멈춘 작업 닫기</a:t>
            </a:r>
          </a:p>
          <a:p>
            <a:pPr algn="ctr">
              <a:lnSpc>
                <a:spcPct val="110000"/>
              </a:lnSpc>
              <a:spcAft>
                <a:spcPts val="100"/>
              </a:spcAft>
            </a:pPr>
            <a:r>
              <a:rPr sz="1100" b="0">
                <a:solidFill>
                  <a:srgbClr val="556175"/>
                </a:solidFill>
                <a:latin typeface="맑은 고딕"/>
                <a:ea typeface="맑은 고딕"/>
                <a:cs typeface="맑은 고딕"/>
              </a:rPr>
              <a:t>한도를 넘겨 멈췄을 때</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명세, 시나리오, 가드레일, 승인이 추천안에 걸리는 자리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명세는 에이전트의 기준이자 시나리오의 기대값이 되고, 에이전트가 낸 추천안은 가드레일과 담당자의 승인을 거친다.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46</a:t>
            </a:r>
          </a:p>
        </p:txBody>
      </p:sp>
      <p:sp>
        <p:nvSpPr>
          <p:cNvPr id="6" name="Oval 5"/>
          <p:cNvSpPr/>
          <p:nvPr/>
        </p:nvSpPr>
        <p:spPr>
          <a:xfrm>
            <a:off x="1319150" y="2019360"/>
            <a:ext cx="1463040" cy="1463040"/>
          </a:xfrm>
          <a:prstGeom prst="ellipse">
            <a:avLst/>
          </a:prstGeom>
          <a:solidFill>
            <a:srgbClr val="E7F3FD"/>
          </a:solidFill>
          <a:ln w="25400">
            <a:solidFill>
              <a:srgbClr val="5CB8F2"/>
            </a:solidFill>
          </a:ln>
        </p:spPr>
        <p:txBody>
          <a:bodyPr rtlCol="0" anchor="ctr"/>
          <a:lstStyle/>
          <a:p>
            <a:pPr algn="ctr"/>
          </a:p>
        </p:txBody>
      </p:sp>
      <p:pic>
        <p:nvPicPr>
          <p:cNvPr id="7" name="아이콘:file-check" descr="file-check_13294B_1.6.png"/>
          <p:cNvPicPr>
            <a:picLocks noChangeAspect="1"/>
          </p:cNvPicPr>
          <p:nvPr/>
        </p:nvPicPr>
        <p:blipFill>
          <a:blip r:embed="rId3"/>
          <a:stretch>
            <a:fillRect/>
          </a:stretch>
        </p:blipFill>
        <p:spPr>
          <a:xfrm>
            <a:off x="1875105" y="2224186"/>
            <a:ext cx="351129" cy="351129"/>
          </a:xfrm>
          <a:prstGeom prst="rect">
            <a:avLst/>
          </a:prstGeom>
        </p:spPr>
      </p:pic>
      <p:sp>
        <p:nvSpPr>
          <p:cNvPr id="8" name="TextBox 7"/>
          <p:cNvSpPr txBox="1"/>
          <p:nvPr/>
        </p:nvSpPr>
        <p:spPr>
          <a:xfrm>
            <a:off x="1421562" y="2604576"/>
            <a:ext cx="1258214" cy="73152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명세</a:t>
            </a:r>
          </a:p>
          <a:p>
            <a:pPr algn="ctr">
              <a:lnSpc>
                <a:spcPct val="110000"/>
              </a:lnSpc>
            </a:pPr>
            <a:r>
              <a:rPr sz="1100" b="0">
                <a:solidFill>
                  <a:srgbClr val="556175"/>
                </a:solidFill>
                <a:latin typeface="맑은 고딕"/>
                <a:ea typeface="맑은 고딕"/>
                <a:cs typeface="맑은 고딕"/>
              </a:rPr>
              <a:t>지킬 것</a:t>
            </a:r>
          </a:p>
        </p:txBody>
      </p:sp>
      <p:sp>
        <p:nvSpPr>
          <p:cNvPr id="9" name="Oval 8"/>
          <p:cNvSpPr/>
          <p:nvPr/>
        </p:nvSpPr>
        <p:spPr>
          <a:xfrm>
            <a:off x="1319150" y="4500311"/>
            <a:ext cx="1463040" cy="1463040"/>
          </a:xfrm>
          <a:prstGeom prst="ellipse">
            <a:avLst/>
          </a:prstGeom>
          <a:solidFill>
            <a:srgbClr val="E7F3FD"/>
          </a:solidFill>
          <a:ln w="25400">
            <a:solidFill>
              <a:srgbClr val="5CB8F2"/>
            </a:solidFill>
          </a:ln>
        </p:spPr>
        <p:txBody>
          <a:bodyPr rtlCol="0" anchor="ctr"/>
          <a:lstStyle/>
          <a:p>
            <a:pPr algn="ctr"/>
          </a:p>
        </p:txBody>
      </p:sp>
      <p:pic>
        <p:nvPicPr>
          <p:cNvPr id="10" name="아이콘:checklist" descr="checklist_13294B_1.6.png"/>
          <p:cNvPicPr>
            <a:picLocks noChangeAspect="1"/>
          </p:cNvPicPr>
          <p:nvPr/>
        </p:nvPicPr>
        <p:blipFill>
          <a:blip r:embed="rId4"/>
          <a:stretch>
            <a:fillRect/>
          </a:stretch>
        </p:blipFill>
        <p:spPr>
          <a:xfrm>
            <a:off x="1875105" y="4705136"/>
            <a:ext cx="351129" cy="351129"/>
          </a:xfrm>
          <a:prstGeom prst="rect">
            <a:avLst/>
          </a:prstGeom>
        </p:spPr>
      </p:pic>
      <p:sp>
        <p:nvSpPr>
          <p:cNvPr id="11" name="TextBox 10"/>
          <p:cNvSpPr txBox="1"/>
          <p:nvPr/>
        </p:nvSpPr>
        <p:spPr>
          <a:xfrm>
            <a:off x="1421562" y="5085527"/>
            <a:ext cx="1258214" cy="73152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시나리오</a:t>
            </a:r>
          </a:p>
          <a:p>
            <a:pPr algn="ctr">
              <a:lnSpc>
                <a:spcPct val="110000"/>
              </a:lnSpc>
            </a:pPr>
            <a:r>
              <a:rPr sz="1100" b="0">
                <a:solidFill>
                  <a:srgbClr val="556175"/>
                </a:solidFill>
                <a:latin typeface="맑은 고딕"/>
                <a:ea typeface="맑은 고딕"/>
                <a:cs typeface="맑은 고딕"/>
              </a:rPr>
              <a:t>기대값</a:t>
            </a:r>
          </a:p>
        </p:txBody>
      </p:sp>
      <p:sp>
        <p:nvSpPr>
          <p:cNvPr id="12" name="Oval 11"/>
          <p:cNvSpPr/>
          <p:nvPr/>
        </p:nvSpPr>
        <p:spPr>
          <a:xfrm>
            <a:off x="4208562" y="3259836"/>
            <a:ext cx="1463040" cy="1463040"/>
          </a:xfrm>
          <a:prstGeom prst="ellipse">
            <a:avLst/>
          </a:prstGeom>
          <a:solidFill>
            <a:srgbClr val="E7F3FD"/>
          </a:solidFill>
          <a:ln w="25400">
            <a:solidFill>
              <a:srgbClr val="5CB8F2"/>
            </a:solidFill>
          </a:ln>
        </p:spPr>
        <p:txBody>
          <a:bodyPr rtlCol="0" anchor="ctr"/>
          <a:lstStyle/>
          <a:p>
            <a:pPr algn="ctr"/>
          </a:p>
        </p:txBody>
      </p:sp>
      <p:pic>
        <p:nvPicPr>
          <p:cNvPr id="13" name="아이콘:robot" descr="robot_13294B_1.6.png"/>
          <p:cNvPicPr>
            <a:picLocks noChangeAspect="1"/>
          </p:cNvPicPr>
          <p:nvPr/>
        </p:nvPicPr>
        <p:blipFill>
          <a:blip r:embed="rId5"/>
          <a:stretch>
            <a:fillRect/>
          </a:stretch>
        </p:blipFill>
        <p:spPr>
          <a:xfrm>
            <a:off x="4764517" y="3464661"/>
            <a:ext cx="351129" cy="351129"/>
          </a:xfrm>
          <a:prstGeom prst="rect">
            <a:avLst/>
          </a:prstGeom>
        </p:spPr>
      </p:pic>
      <p:sp>
        <p:nvSpPr>
          <p:cNvPr id="14" name="TextBox 13"/>
          <p:cNvSpPr txBox="1"/>
          <p:nvPr/>
        </p:nvSpPr>
        <p:spPr>
          <a:xfrm>
            <a:off x="4310975" y="3845052"/>
            <a:ext cx="1258214" cy="73152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에이전트</a:t>
            </a:r>
          </a:p>
          <a:p>
            <a:pPr algn="ctr">
              <a:lnSpc>
                <a:spcPct val="110000"/>
              </a:lnSpc>
            </a:pPr>
            <a:r>
              <a:rPr sz="1100" b="0">
                <a:solidFill>
                  <a:srgbClr val="556175"/>
                </a:solidFill>
                <a:latin typeface="맑은 고딕"/>
                <a:ea typeface="맑은 고딕"/>
                <a:cs typeface="맑은 고딕"/>
              </a:rPr>
              <a:t>실행</a:t>
            </a:r>
          </a:p>
        </p:txBody>
      </p:sp>
      <p:sp>
        <p:nvSpPr>
          <p:cNvPr id="15" name="Oval 14"/>
          <p:cNvSpPr/>
          <p:nvPr/>
        </p:nvSpPr>
        <p:spPr>
          <a:xfrm>
            <a:off x="6520092" y="3259836"/>
            <a:ext cx="1463040" cy="1463040"/>
          </a:xfrm>
          <a:prstGeom prst="ellipse">
            <a:avLst/>
          </a:prstGeom>
          <a:solidFill>
            <a:srgbClr val="5CB8F2"/>
          </a:solidFill>
          <a:ln w="25400">
            <a:solidFill>
              <a:srgbClr val="13294B"/>
            </a:solidFill>
          </a:ln>
        </p:spPr>
        <p:txBody>
          <a:bodyPr rtlCol="0" anchor="ctr"/>
          <a:lstStyle/>
          <a:p>
            <a:pPr algn="ctr"/>
          </a:p>
        </p:txBody>
      </p:sp>
      <p:pic>
        <p:nvPicPr>
          <p:cNvPr id="16" name="아이콘:list-numbers" descr="list-numbers_13294B_1.6.png"/>
          <p:cNvPicPr>
            <a:picLocks noChangeAspect="1"/>
          </p:cNvPicPr>
          <p:nvPr/>
        </p:nvPicPr>
        <p:blipFill>
          <a:blip r:embed="rId6"/>
          <a:stretch>
            <a:fillRect/>
          </a:stretch>
        </p:blipFill>
        <p:spPr>
          <a:xfrm>
            <a:off x="7076047" y="3464661"/>
            <a:ext cx="351129" cy="351129"/>
          </a:xfrm>
          <a:prstGeom prst="rect">
            <a:avLst/>
          </a:prstGeom>
        </p:spPr>
      </p:pic>
      <p:sp>
        <p:nvSpPr>
          <p:cNvPr id="17" name="TextBox 16"/>
          <p:cNvSpPr txBox="1"/>
          <p:nvPr/>
        </p:nvSpPr>
        <p:spPr>
          <a:xfrm>
            <a:off x="6622505" y="3845052"/>
            <a:ext cx="1258214" cy="73152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추천안</a:t>
            </a:r>
          </a:p>
          <a:p>
            <a:pPr algn="ctr">
              <a:lnSpc>
                <a:spcPct val="110000"/>
              </a:lnSpc>
            </a:pPr>
            <a:r>
              <a:rPr sz="1100" b="0">
                <a:solidFill>
                  <a:srgbClr val="556175"/>
                </a:solidFill>
                <a:latin typeface="맑은 고딕"/>
                <a:ea typeface="맑은 고딕"/>
                <a:cs typeface="맑은 고딕"/>
              </a:rPr>
              <a:t>산출물</a:t>
            </a:r>
          </a:p>
        </p:txBody>
      </p:sp>
      <p:sp>
        <p:nvSpPr>
          <p:cNvPr id="18" name="Oval 17"/>
          <p:cNvSpPr/>
          <p:nvPr/>
        </p:nvSpPr>
        <p:spPr>
          <a:xfrm>
            <a:off x="9024250" y="2084649"/>
            <a:ext cx="1463040" cy="1463040"/>
          </a:xfrm>
          <a:prstGeom prst="ellipse">
            <a:avLst/>
          </a:prstGeom>
          <a:solidFill>
            <a:srgbClr val="E7F3FD"/>
          </a:solidFill>
          <a:ln w="25400">
            <a:solidFill>
              <a:srgbClr val="5CB8F2"/>
            </a:solidFill>
          </a:ln>
        </p:spPr>
        <p:txBody>
          <a:bodyPr rtlCol="0" anchor="ctr"/>
          <a:lstStyle/>
          <a:p>
            <a:pPr algn="ctr"/>
          </a:p>
        </p:txBody>
      </p:sp>
      <p:pic>
        <p:nvPicPr>
          <p:cNvPr id="19" name="아이콘:shield-check" descr="shield-check_13294B_1.6.png"/>
          <p:cNvPicPr>
            <a:picLocks noChangeAspect="1"/>
          </p:cNvPicPr>
          <p:nvPr/>
        </p:nvPicPr>
        <p:blipFill>
          <a:blip r:embed="rId7"/>
          <a:stretch>
            <a:fillRect/>
          </a:stretch>
        </p:blipFill>
        <p:spPr>
          <a:xfrm>
            <a:off x="9580205" y="2289474"/>
            <a:ext cx="351129" cy="351129"/>
          </a:xfrm>
          <a:prstGeom prst="rect">
            <a:avLst/>
          </a:prstGeom>
        </p:spPr>
      </p:pic>
      <p:sp>
        <p:nvSpPr>
          <p:cNvPr id="20" name="TextBox 19"/>
          <p:cNvSpPr txBox="1"/>
          <p:nvPr/>
        </p:nvSpPr>
        <p:spPr>
          <a:xfrm>
            <a:off x="9126662" y="2669865"/>
            <a:ext cx="1258214" cy="73152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가드레일</a:t>
            </a:r>
          </a:p>
          <a:p>
            <a:pPr algn="ctr">
              <a:lnSpc>
                <a:spcPct val="110000"/>
              </a:lnSpc>
            </a:pPr>
            <a:r>
              <a:rPr sz="1100" b="0">
                <a:solidFill>
                  <a:srgbClr val="556175"/>
                </a:solidFill>
                <a:latin typeface="맑은 고딕"/>
                <a:ea typeface="맑은 고딕"/>
                <a:cs typeface="맑은 고딕"/>
              </a:rPr>
              <a:t>자동 검사</a:t>
            </a:r>
          </a:p>
        </p:txBody>
      </p:sp>
      <p:sp>
        <p:nvSpPr>
          <p:cNvPr id="21" name="Oval 20"/>
          <p:cNvSpPr/>
          <p:nvPr/>
        </p:nvSpPr>
        <p:spPr>
          <a:xfrm>
            <a:off x="9024250" y="4435022"/>
            <a:ext cx="1463040" cy="1463040"/>
          </a:xfrm>
          <a:prstGeom prst="ellipse">
            <a:avLst/>
          </a:prstGeom>
          <a:solidFill>
            <a:srgbClr val="E7F3FD"/>
          </a:solidFill>
          <a:ln w="25400">
            <a:solidFill>
              <a:srgbClr val="5CB8F2"/>
            </a:solidFill>
          </a:ln>
        </p:spPr>
        <p:txBody>
          <a:bodyPr rtlCol="0" anchor="ctr"/>
          <a:lstStyle/>
          <a:p>
            <a:pPr algn="ctr"/>
          </a:p>
        </p:txBody>
      </p:sp>
      <p:pic>
        <p:nvPicPr>
          <p:cNvPr id="22" name="아이콘:user-check" descr="user-check_13294B_1.6.png"/>
          <p:cNvPicPr>
            <a:picLocks noChangeAspect="1"/>
          </p:cNvPicPr>
          <p:nvPr/>
        </p:nvPicPr>
        <p:blipFill>
          <a:blip r:embed="rId8"/>
          <a:stretch>
            <a:fillRect/>
          </a:stretch>
        </p:blipFill>
        <p:spPr>
          <a:xfrm>
            <a:off x="9580205" y="4639848"/>
            <a:ext cx="351129" cy="351129"/>
          </a:xfrm>
          <a:prstGeom prst="rect">
            <a:avLst/>
          </a:prstGeom>
        </p:spPr>
      </p:pic>
      <p:sp>
        <p:nvSpPr>
          <p:cNvPr id="23" name="TextBox 22"/>
          <p:cNvSpPr txBox="1"/>
          <p:nvPr/>
        </p:nvSpPr>
        <p:spPr>
          <a:xfrm>
            <a:off x="9126662" y="5020238"/>
            <a:ext cx="1258214" cy="73152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담당자</a:t>
            </a:r>
          </a:p>
          <a:p>
            <a:pPr algn="ctr">
              <a:lnSpc>
                <a:spcPct val="110000"/>
              </a:lnSpc>
            </a:pPr>
            <a:r>
              <a:rPr sz="1100" b="0">
                <a:solidFill>
                  <a:srgbClr val="556175"/>
                </a:solidFill>
                <a:latin typeface="맑은 고딕"/>
                <a:ea typeface="맑은 고딕"/>
                <a:cs typeface="맑은 고딕"/>
              </a:rPr>
              <a:t>승인 역할</a:t>
            </a:r>
          </a:p>
        </p:txBody>
      </p:sp>
      <p:cxnSp>
        <p:nvCxnSpPr>
          <p:cNvPr id="24" name="Connector 23"/>
          <p:cNvCxnSpPr/>
          <p:nvPr/>
        </p:nvCxnSpPr>
        <p:spPr>
          <a:xfrm>
            <a:off x="2764873" y="3057500"/>
            <a:ext cx="1435799" cy="616414"/>
          </a:xfrm>
          <a:prstGeom prst="line">
            <a:avLst/>
          </a:prstGeom>
          <a:ln w="28575">
            <a:solidFill>
              <a:srgbClr val="13294B"/>
            </a:solidFill>
            <a:tailEnd type="triangle" w="med" len="med"/>
          </a:ln>
        </p:spPr>
      </p:cxnSp>
      <p:sp>
        <p:nvSpPr>
          <p:cNvPr id="25" name="Rounded Rectangle 24"/>
          <p:cNvSpPr/>
          <p:nvPr/>
        </p:nvSpPr>
        <p:spPr>
          <a:xfrm>
            <a:off x="2958580" y="2999947"/>
            <a:ext cx="1048385"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6" name="TextBox 25"/>
          <p:cNvSpPr txBox="1"/>
          <p:nvPr/>
        </p:nvSpPr>
        <p:spPr>
          <a:xfrm>
            <a:off x="2958580" y="2999947"/>
            <a:ext cx="1048385"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기준이 된다</a:t>
            </a:r>
          </a:p>
        </p:txBody>
      </p:sp>
      <p:cxnSp>
        <p:nvCxnSpPr>
          <p:cNvPr id="27" name="Connector 26"/>
          <p:cNvCxnSpPr/>
          <p:nvPr/>
        </p:nvCxnSpPr>
        <p:spPr>
          <a:xfrm>
            <a:off x="2050670" y="3528120"/>
            <a:ext cx="0" cy="899039"/>
          </a:xfrm>
          <a:prstGeom prst="line">
            <a:avLst/>
          </a:prstGeom>
          <a:ln w="28575">
            <a:solidFill>
              <a:srgbClr val="13294B"/>
            </a:solidFill>
            <a:tailEnd type="triangle" w="med" len="med"/>
          </a:ln>
        </p:spPr>
      </p:cxnSp>
      <p:sp>
        <p:nvSpPr>
          <p:cNvPr id="28" name="Rounded Rectangle 27"/>
          <p:cNvSpPr/>
          <p:nvPr/>
        </p:nvSpPr>
        <p:spPr>
          <a:xfrm>
            <a:off x="2142110" y="3831335"/>
            <a:ext cx="1194435"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9" name="TextBox 28"/>
          <p:cNvSpPr txBox="1"/>
          <p:nvPr/>
        </p:nvSpPr>
        <p:spPr>
          <a:xfrm>
            <a:off x="2142110" y="3831335"/>
            <a:ext cx="1194435"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기대값을 준다</a:t>
            </a:r>
          </a:p>
        </p:txBody>
      </p:sp>
      <p:cxnSp>
        <p:nvCxnSpPr>
          <p:cNvPr id="30" name="Connector 29"/>
          <p:cNvCxnSpPr/>
          <p:nvPr/>
        </p:nvCxnSpPr>
        <p:spPr>
          <a:xfrm flipV="1">
            <a:off x="2764873" y="4308797"/>
            <a:ext cx="1435799" cy="616414"/>
          </a:xfrm>
          <a:prstGeom prst="line">
            <a:avLst/>
          </a:prstGeom>
          <a:ln w="28575">
            <a:solidFill>
              <a:srgbClr val="13294B"/>
            </a:solidFill>
            <a:tailEnd type="triangle" w="med" len="med"/>
          </a:ln>
        </p:spPr>
      </p:cxnSp>
      <p:sp>
        <p:nvSpPr>
          <p:cNvPr id="31" name="Rounded Rectangle 30"/>
          <p:cNvSpPr/>
          <p:nvPr/>
        </p:nvSpPr>
        <p:spPr>
          <a:xfrm>
            <a:off x="2812530" y="4251244"/>
            <a:ext cx="1340485"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2" name="TextBox 31"/>
          <p:cNvSpPr txBox="1"/>
          <p:nvPr/>
        </p:nvSpPr>
        <p:spPr>
          <a:xfrm>
            <a:off x="2812530" y="4251244"/>
            <a:ext cx="1340485"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행동을 확인한다</a:t>
            </a:r>
          </a:p>
        </p:txBody>
      </p:sp>
      <p:cxnSp>
        <p:nvCxnSpPr>
          <p:cNvPr id="33" name="Connector 32"/>
          <p:cNvCxnSpPr/>
          <p:nvPr/>
        </p:nvCxnSpPr>
        <p:spPr>
          <a:xfrm>
            <a:off x="5717322" y="3991356"/>
            <a:ext cx="729618" cy="0"/>
          </a:xfrm>
          <a:prstGeom prst="line">
            <a:avLst/>
          </a:prstGeom>
          <a:ln w="28575">
            <a:solidFill>
              <a:srgbClr val="13294B"/>
            </a:solidFill>
            <a:tailEnd type="triangle" w="med" len="med"/>
          </a:ln>
        </p:spPr>
      </p:cxnSp>
      <p:sp>
        <p:nvSpPr>
          <p:cNvPr id="34" name="Rounded Rectangle 33"/>
          <p:cNvSpPr/>
          <p:nvPr/>
        </p:nvSpPr>
        <p:spPr>
          <a:xfrm>
            <a:off x="5798921" y="3625596"/>
            <a:ext cx="566420"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5" name="TextBox 34"/>
          <p:cNvSpPr txBox="1"/>
          <p:nvPr/>
        </p:nvSpPr>
        <p:spPr>
          <a:xfrm>
            <a:off x="5798921" y="3625596"/>
            <a:ext cx="566420"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낸다</a:t>
            </a:r>
          </a:p>
        </p:txBody>
      </p:sp>
      <p:cxnSp>
        <p:nvCxnSpPr>
          <p:cNvPr id="36" name="Connector 35"/>
          <p:cNvCxnSpPr/>
          <p:nvPr/>
        </p:nvCxnSpPr>
        <p:spPr>
          <a:xfrm flipH="1">
            <a:off x="7980057" y="3146370"/>
            <a:ext cx="1072101" cy="503130"/>
          </a:xfrm>
          <a:prstGeom prst="line">
            <a:avLst/>
          </a:prstGeom>
          <a:ln w="28575">
            <a:solidFill>
              <a:srgbClr val="13294B"/>
            </a:solidFill>
            <a:tailEnd type="triangle" w="med" len="med"/>
          </a:ln>
        </p:spPr>
      </p:cxnSp>
      <p:sp>
        <p:nvSpPr>
          <p:cNvPr id="37" name="Rounded Rectangle 36"/>
          <p:cNvSpPr/>
          <p:nvPr/>
        </p:nvSpPr>
        <p:spPr>
          <a:xfrm>
            <a:off x="8086848" y="3032175"/>
            <a:ext cx="858520"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8" name="TextBox 37"/>
          <p:cNvSpPr txBox="1"/>
          <p:nvPr/>
        </p:nvSpPr>
        <p:spPr>
          <a:xfrm>
            <a:off x="8086848" y="3032175"/>
            <a:ext cx="858520"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검사한다</a:t>
            </a:r>
          </a:p>
        </p:txBody>
      </p:sp>
      <p:cxnSp>
        <p:nvCxnSpPr>
          <p:cNvPr id="39" name="Connector 38"/>
          <p:cNvCxnSpPr/>
          <p:nvPr/>
        </p:nvCxnSpPr>
        <p:spPr>
          <a:xfrm flipH="1" flipV="1">
            <a:off x="7980057" y="4333211"/>
            <a:ext cx="1072101" cy="503130"/>
          </a:xfrm>
          <a:prstGeom prst="line">
            <a:avLst/>
          </a:prstGeom>
          <a:ln w="28575">
            <a:solidFill>
              <a:srgbClr val="13294B"/>
            </a:solidFill>
            <a:tailEnd type="triangle" w="med" len="med"/>
          </a:ln>
        </p:spPr>
      </p:cxnSp>
      <p:sp>
        <p:nvSpPr>
          <p:cNvPr id="40" name="Rounded Rectangle 39"/>
          <p:cNvSpPr/>
          <p:nvPr/>
        </p:nvSpPr>
        <p:spPr>
          <a:xfrm>
            <a:off x="8086848" y="4219016"/>
            <a:ext cx="858520"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41" name="TextBox 40"/>
          <p:cNvSpPr txBox="1"/>
          <p:nvPr/>
        </p:nvSpPr>
        <p:spPr>
          <a:xfrm>
            <a:off x="8086848" y="4219016"/>
            <a:ext cx="858520"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승인한다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요구가 바뀔 때의 순서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요구가 바뀌면 코드를 먼저 고치지 않고 명세를 고친 다음, 새 시나리오를 더하고 구현한 뒤에 전체를 다시 실행한다.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47</a:t>
            </a:r>
          </a:p>
        </p:txBody>
      </p:sp>
      <p:sp>
        <p:nvSpPr>
          <p:cNvPr id="6" name="Rectangle 5"/>
          <p:cNvSpPr/>
          <p:nvPr/>
        </p:nvSpPr>
        <p:spPr>
          <a:xfrm>
            <a:off x="1935441" y="2937510"/>
            <a:ext cx="8320811" cy="36576"/>
          </a:xfrm>
          <a:prstGeom prst="rect">
            <a:avLst/>
          </a:prstGeom>
          <a:solidFill>
            <a:srgbClr val="D3D9E1"/>
          </a:solidFill>
          <a:ln>
            <a:noFill/>
          </a:ln>
        </p:spPr>
        <p:txBody>
          <a:bodyPr rtlCol="0" anchor="ctr"/>
          <a:lstStyle/>
          <a:p>
            <a:pPr algn="ctr"/>
          </a:p>
        </p:txBody>
      </p:sp>
      <p:sp>
        <p:nvSpPr>
          <p:cNvPr id="7" name="Oval 6"/>
          <p:cNvSpPr/>
          <p:nvPr/>
        </p:nvSpPr>
        <p:spPr>
          <a:xfrm>
            <a:off x="1501101" y="2521458"/>
            <a:ext cx="868680" cy="868680"/>
          </a:xfrm>
          <a:prstGeom prst="ellipse">
            <a:avLst/>
          </a:prstGeom>
          <a:solidFill>
            <a:srgbClr val="FFFFFF"/>
          </a:solidFill>
          <a:ln w="25400">
            <a:solidFill>
              <a:srgbClr val="13294B"/>
            </a:solidFill>
          </a:ln>
        </p:spPr>
        <p:txBody>
          <a:bodyPr rtlCol="0" anchor="ctr"/>
          <a:lstStyle/>
          <a:p>
            <a:pPr algn="ctr"/>
          </a:p>
        </p:txBody>
      </p:sp>
      <p:sp>
        <p:nvSpPr>
          <p:cNvPr id="8" name="TextBox 7"/>
          <p:cNvSpPr txBox="1"/>
          <p:nvPr/>
        </p:nvSpPr>
        <p:spPr>
          <a:xfrm>
            <a:off x="1501101" y="2521458"/>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1</a:t>
            </a:r>
          </a:p>
        </p:txBody>
      </p:sp>
      <p:sp>
        <p:nvSpPr>
          <p:cNvPr id="9" name="TextBox 8"/>
          <p:cNvSpPr txBox="1"/>
          <p:nvPr/>
        </p:nvSpPr>
        <p:spPr>
          <a:xfrm>
            <a:off x="621791" y="3573018"/>
            <a:ext cx="2627299" cy="188823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명세를 고친다</a:t>
            </a:r>
          </a:p>
          <a:p>
            <a:pPr algn="ctr">
              <a:lnSpc>
                <a:spcPct val="110000"/>
              </a:lnSpc>
              <a:spcAft>
                <a:spcPts val="400"/>
              </a:spcAft>
            </a:pPr>
            <a:r>
              <a:rPr sz="1350" b="0">
                <a:solidFill>
                  <a:srgbClr val="1F2A3A"/>
                </a:solidFill>
                <a:latin typeface="맑은 고딕"/>
                <a:ea typeface="맑은 고딕"/>
                <a:cs typeface="맑은 고딕"/>
              </a:rPr>
              <a:t>새 조건의 계약과 금지 조건, 수용 기준을 적는다</a:t>
            </a:r>
          </a:p>
          <a:p>
            <a:pPr algn="ctr">
              <a:lnSpc>
                <a:spcPct val="110000"/>
              </a:lnSpc>
              <a:spcAft>
                <a:spcPts val="400"/>
              </a:spcAft>
            </a:pPr>
            <a:r>
              <a:rPr sz="1350" b="0">
                <a:solidFill>
                  <a:srgbClr val="1F2A3A"/>
                </a:solidFill>
                <a:latin typeface="맑은 고딕"/>
                <a:ea typeface="맑은 고딕"/>
                <a:cs typeface="맑은 고딕"/>
              </a:rPr>
              <a:t>예: 긴급 조건을 더하고 「승인 없이 확정 금지」는 그대로 둔다</a:t>
            </a:r>
          </a:p>
        </p:txBody>
      </p:sp>
      <p:sp>
        <p:nvSpPr>
          <p:cNvPr id="10" name="Oval 9"/>
          <p:cNvSpPr/>
          <p:nvPr/>
        </p:nvSpPr>
        <p:spPr>
          <a:xfrm>
            <a:off x="4274705" y="2521458"/>
            <a:ext cx="868680" cy="868680"/>
          </a:xfrm>
          <a:prstGeom prst="ellipse">
            <a:avLst/>
          </a:prstGeom>
          <a:solidFill>
            <a:srgbClr val="FFFFFF"/>
          </a:solidFill>
          <a:ln w="25400">
            <a:solidFill>
              <a:srgbClr val="13294B"/>
            </a:solidFill>
          </a:ln>
        </p:spPr>
        <p:txBody>
          <a:bodyPr rtlCol="0" anchor="ctr"/>
          <a:lstStyle/>
          <a:p>
            <a:pPr algn="ctr"/>
          </a:p>
        </p:txBody>
      </p:sp>
      <p:sp>
        <p:nvSpPr>
          <p:cNvPr id="11" name="TextBox 10"/>
          <p:cNvSpPr txBox="1"/>
          <p:nvPr/>
        </p:nvSpPr>
        <p:spPr>
          <a:xfrm>
            <a:off x="4274705" y="2521458"/>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2</a:t>
            </a:r>
          </a:p>
        </p:txBody>
      </p:sp>
      <p:sp>
        <p:nvSpPr>
          <p:cNvPr id="12" name="TextBox 11"/>
          <p:cNvSpPr txBox="1"/>
          <p:nvPr/>
        </p:nvSpPr>
        <p:spPr>
          <a:xfrm>
            <a:off x="3395395" y="3573018"/>
            <a:ext cx="2627299" cy="188823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시나리오를 더한다</a:t>
            </a:r>
          </a:p>
          <a:p>
            <a:pPr algn="ctr">
              <a:lnSpc>
                <a:spcPct val="110000"/>
              </a:lnSpc>
              <a:spcAft>
                <a:spcPts val="400"/>
              </a:spcAft>
            </a:pPr>
            <a:r>
              <a:rPr sz="1350" b="0">
                <a:solidFill>
                  <a:srgbClr val="1F2A3A"/>
                </a:solidFill>
                <a:latin typeface="맑은 고딕"/>
                <a:ea typeface="맑은 고딕"/>
                <a:cs typeface="맑은 고딕"/>
              </a:rPr>
              <a:t>새 조건의 Given · When · Then과 기대값을 적는다</a:t>
            </a:r>
          </a:p>
          <a:p>
            <a:pPr algn="ctr">
              <a:lnSpc>
                <a:spcPct val="110000"/>
              </a:lnSpc>
              <a:spcAft>
                <a:spcPts val="400"/>
              </a:spcAft>
            </a:pPr>
            <a:r>
              <a:rPr sz="1350" b="0">
                <a:solidFill>
                  <a:srgbClr val="1F2A3A"/>
                </a:solidFill>
                <a:latin typeface="맑은 고딕"/>
                <a:ea typeface="맑은 고딕"/>
                <a:cs typeface="맑은 고딕"/>
              </a:rPr>
              <a:t>예: 긴급 요청의 시나리오 한 편</a:t>
            </a:r>
          </a:p>
        </p:txBody>
      </p:sp>
      <p:sp>
        <p:nvSpPr>
          <p:cNvPr id="13" name="Oval 12"/>
          <p:cNvSpPr/>
          <p:nvPr/>
        </p:nvSpPr>
        <p:spPr>
          <a:xfrm>
            <a:off x="7048309" y="2521458"/>
            <a:ext cx="868680" cy="868680"/>
          </a:xfrm>
          <a:prstGeom prst="ellipse">
            <a:avLst/>
          </a:prstGeom>
          <a:solidFill>
            <a:srgbClr val="FFFFFF"/>
          </a:solidFill>
          <a:ln w="25400">
            <a:solidFill>
              <a:srgbClr val="13294B"/>
            </a:solidFill>
          </a:ln>
        </p:spPr>
        <p:txBody>
          <a:bodyPr rtlCol="0" anchor="ctr"/>
          <a:lstStyle/>
          <a:p>
            <a:pPr algn="ctr"/>
          </a:p>
        </p:txBody>
      </p:sp>
      <p:sp>
        <p:nvSpPr>
          <p:cNvPr id="14" name="TextBox 13"/>
          <p:cNvSpPr txBox="1"/>
          <p:nvPr/>
        </p:nvSpPr>
        <p:spPr>
          <a:xfrm>
            <a:off x="7048309" y="2521458"/>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3</a:t>
            </a:r>
          </a:p>
        </p:txBody>
      </p:sp>
      <p:sp>
        <p:nvSpPr>
          <p:cNvPr id="15" name="TextBox 14"/>
          <p:cNvSpPr txBox="1"/>
          <p:nvPr/>
        </p:nvSpPr>
        <p:spPr>
          <a:xfrm>
            <a:off x="6168999" y="3573018"/>
            <a:ext cx="2627299" cy="188823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구현한다</a:t>
            </a:r>
          </a:p>
          <a:p>
            <a:pPr algn="ctr">
              <a:lnSpc>
                <a:spcPct val="110000"/>
              </a:lnSpc>
              <a:spcAft>
                <a:spcPts val="400"/>
              </a:spcAft>
            </a:pPr>
            <a:r>
              <a:rPr sz="1350" b="0">
                <a:solidFill>
                  <a:srgbClr val="1F2A3A"/>
                </a:solidFill>
                <a:latin typeface="맑은 고딕"/>
                <a:ea typeface="맑은 고딕"/>
                <a:cs typeface="맑은 고딕"/>
              </a:rPr>
              <a:t>지침이나 코드를 명세에 맞추어 고친다</a:t>
            </a:r>
          </a:p>
          <a:p>
            <a:pPr algn="ctr">
              <a:lnSpc>
                <a:spcPct val="110000"/>
              </a:lnSpc>
              <a:spcAft>
                <a:spcPts val="400"/>
              </a:spcAft>
            </a:pPr>
            <a:r>
              <a:rPr sz="1350" b="0">
                <a:solidFill>
                  <a:srgbClr val="1F2A3A"/>
                </a:solidFill>
                <a:latin typeface="맑은 고딕"/>
                <a:ea typeface="맑은 고딕"/>
                <a:cs typeface="맑은 고딕"/>
              </a:rPr>
              <a:t>예: 스킬의 절차나 해당 기능의 코드</a:t>
            </a:r>
          </a:p>
        </p:txBody>
      </p:sp>
      <p:sp>
        <p:nvSpPr>
          <p:cNvPr id="16" name="Oval 15"/>
          <p:cNvSpPr/>
          <p:nvPr/>
        </p:nvSpPr>
        <p:spPr>
          <a:xfrm>
            <a:off x="9821913" y="2521458"/>
            <a:ext cx="868680" cy="868680"/>
          </a:xfrm>
          <a:prstGeom prst="ellipse">
            <a:avLst/>
          </a:prstGeom>
          <a:solidFill>
            <a:srgbClr val="5CB8F2"/>
          </a:solidFill>
          <a:ln>
            <a:noFill/>
          </a:ln>
        </p:spPr>
        <p:txBody>
          <a:bodyPr rtlCol="0" anchor="ctr"/>
          <a:lstStyle/>
          <a:p>
            <a:pPr algn="ctr"/>
          </a:p>
        </p:txBody>
      </p:sp>
      <p:sp>
        <p:nvSpPr>
          <p:cNvPr id="17" name="TextBox 16"/>
          <p:cNvSpPr txBox="1"/>
          <p:nvPr/>
        </p:nvSpPr>
        <p:spPr>
          <a:xfrm>
            <a:off x="9821913" y="2521458"/>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4</a:t>
            </a:r>
          </a:p>
        </p:txBody>
      </p:sp>
      <p:sp>
        <p:nvSpPr>
          <p:cNvPr id="18" name="TextBox 17"/>
          <p:cNvSpPr txBox="1"/>
          <p:nvPr/>
        </p:nvSpPr>
        <p:spPr>
          <a:xfrm>
            <a:off x="8942603" y="3573018"/>
            <a:ext cx="2627299" cy="188823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전체를 다시 실행한다</a:t>
            </a:r>
          </a:p>
          <a:p>
            <a:pPr algn="ctr">
              <a:lnSpc>
                <a:spcPct val="110000"/>
              </a:lnSpc>
              <a:spcAft>
                <a:spcPts val="400"/>
              </a:spcAft>
            </a:pPr>
            <a:r>
              <a:rPr sz="1350" b="0">
                <a:solidFill>
                  <a:srgbClr val="1F2A3A"/>
                </a:solidFill>
                <a:latin typeface="맑은 고딕"/>
                <a:ea typeface="맑은 고딕"/>
                <a:cs typeface="맑은 고딕"/>
              </a:rPr>
              <a:t>새 시나리오와 기존 시나리오가 모두 통과하는지 확인한다</a:t>
            </a:r>
          </a:p>
          <a:p>
            <a:pPr algn="ctr">
              <a:lnSpc>
                <a:spcPct val="110000"/>
              </a:lnSpc>
              <a:spcAft>
                <a:spcPts val="400"/>
              </a:spcAft>
            </a:pPr>
            <a:r>
              <a:rPr sz="1350" b="0">
                <a:solidFill>
                  <a:srgbClr val="1F2A3A"/>
                </a:solidFill>
                <a:latin typeface="맑은 고딕"/>
                <a:ea typeface="맑은 고딕"/>
                <a:cs typeface="맑은 고딕"/>
              </a:rPr>
              <a:t>예: 일반 요청, 보류, 거절의 시나리오까지</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실행할 때마다 작동하는 장치와 바꿀 때마다 하는 검증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검사와 승인은 실행 한 건의 잘못을 그 자리에서 막고, 시나리오와 회귀 시험은 변경이 만든 잘못을 미리 찾는다.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48</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shield-check" descr="shield-check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실행할 때마다</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출력 계약의 검사</a:t>
            </a:r>
          </a:p>
          <a:p>
            <a:pPr algn="l">
              <a:lnSpc>
                <a:spcPct val="110000"/>
              </a:lnSpc>
              <a:spcAft>
                <a:spcPts val="600"/>
              </a:spcAft>
            </a:pPr>
            <a:r>
              <a:rPr sz="1450" b="0">
                <a:solidFill>
                  <a:srgbClr val="1F2A3A"/>
                </a:solidFill>
                <a:latin typeface="맑은 고딕"/>
                <a:ea typeface="맑은 고딕"/>
                <a:cs typeface="맑은 고딕"/>
              </a:rPr>
              <a:t>• 가드레일</a:t>
            </a:r>
          </a:p>
          <a:p>
            <a:pPr algn="l">
              <a:lnSpc>
                <a:spcPct val="110000"/>
              </a:lnSpc>
              <a:spcAft>
                <a:spcPts val="600"/>
              </a:spcAft>
            </a:pPr>
            <a:r>
              <a:rPr sz="1450" b="0">
                <a:solidFill>
                  <a:srgbClr val="1F2A3A"/>
                </a:solidFill>
                <a:latin typeface="맑은 고딕"/>
                <a:ea typeface="맑은 고딕"/>
                <a:cs typeface="맑은 고딕"/>
              </a:rPr>
              <a:t>• 사람의 승인</a:t>
            </a:r>
          </a:p>
          <a:p>
            <a:pPr algn="l">
              <a:lnSpc>
                <a:spcPct val="110000"/>
              </a:lnSpc>
              <a:spcAft>
                <a:spcPts val="600"/>
              </a:spcAft>
            </a:pPr>
            <a:r>
              <a:rPr sz="1450" b="0">
                <a:solidFill>
                  <a:srgbClr val="1F2A3A"/>
                </a:solidFill>
                <a:latin typeface="맑은 고딕"/>
                <a:ea typeface="맑은 고딕"/>
                <a:cs typeface="맑은 고딕"/>
              </a:rPr>
              <a:t>• 막는 것: 그 한 건의 잘못된 결과</a:t>
            </a:r>
          </a:p>
        </p:txBody>
      </p:sp>
      <p:sp>
        <p:nvSpPr>
          <p:cNvPr id="11" name="Rounded Rectangle 10"/>
          <p:cNvSpPr/>
          <p:nvPr/>
        </p:nvSpPr>
        <p:spPr>
          <a:xfrm>
            <a:off x="868680" y="5096002"/>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 중의 방어</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repeat" descr="repeat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바꿀 때마다</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시나리오의 실행</a:t>
            </a:r>
          </a:p>
          <a:p>
            <a:pPr algn="l">
              <a:lnSpc>
                <a:spcPct val="110000"/>
              </a:lnSpc>
              <a:spcAft>
                <a:spcPts val="600"/>
              </a:spcAft>
            </a:pPr>
            <a:r>
              <a:rPr sz="1450" b="0">
                <a:solidFill>
                  <a:srgbClr val="1F2A3A"/>
                </a:solidFill>
                <a:latin typeface="맑은 고딕"/>
                <a:ea typeface="맑은 고딕"/>
                <a:cs typeface="맑은 고딕"/>
              </a:rPr>
              <a:t>• 전체 회귀</a:t>
            </a:r>
          </a:p>
          <a:p>
            <a:pPr algn="l">
              <a:lnSpc>
                <a:spcPct val="110000"/>
              </a:lnSpc>
              <a:spcAft>
                <a:spcPts val="600"/>
              </a:spcAft>
            </a:pPr>
            <a:r>
              <a:rPr sz="1450" b="0">
                <a:solidFill>
                  <a:srgbClr val="1F2A3A"/>
                </a:solidFill>
                <a:latin typeface="맑은 고딕"/>
                <a:ea typeface="맑은 고딕"/>
                <a:cs typeface="맑은 고딕"/>
              </a:rPr>
              <a:t>• 찾는 것: 변경으로 달라진 행동</a:t>
            </a:r>
          </a:p>
        </p:txBody>
      </p:sp>
      <p:sp>
        <p:nvSpPr>
          <p:cNvPr id="18" name="Rounded Rectangle 17"/>
          <p:cNvSpPr/>
          <p:nvPr/>
        </p:nvSpPr>
        <p:spPr>
          <a:xfrm>
            <a:off x="6781647" y="5096002"/>
            <a:ext cx="13716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변경 전의 확인</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HYD의 세 에이전트가 내는 산출물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목표, 스킬과 도구, 출력 계약이라는 틀은 세 에이전트가 같고, 그 자리에 넣은 것이 달라서 서로 다른 산출물이 나온다.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49</a:t>
            </a:r>
          </a:p>
        </p:txBody>
      </p:sp>
      <p:pic>
        <p:nvPicPr>
          <p:cNvPr id="6" name="삽화:세산출물.svg" descr="illust_5396549616800000604_179177088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041189" y="1627632"/>
            <a:ext cx="283646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같은 틀</a:t>
            </a:r>
          </a:p>
          <a:p>
            <a:pPr algn="ctr">
              <a:lnSpc>
                <a:spcPct val="110000"/>
              </a:lnSpc>
              <a:spcAft>
                <a:spcPts val="100"/>
              </a:spcAft>
            </a:pPr>
            <a:r>
              <a:rPr sz="1100" b="0">
                <a:solidFill>
                  <a:srgbClr val="556175"/>
                </a:solidFill>
                <a:latin typeface="맑은 고딕"/>
                <a:ea typeface="맑은 고딕"/>
                <a:cs typeface="맑은 고딕"/>
              </a:rPr>
              <a:t>목표, 스킬과 도구, 출력 계약</a:t>
            </a:r>
          </a:p>
        </p:txBody>
      </p:sp>
      <p:sp>
        <p:nvSpPr>
          <p:cNvPr id="8" name="TextBox 7"/>
          <p:cNvSpPr txBox="1"/>
          <p:nvPr/>
        </p:nvSpPr>
        <p:spPr>
          <a:xfrm>
            <a:off x="553824" y="3045866"/>
            <a:ext cx="196370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쿨러 성능 저하 경보</a:t>
            </a:r>
          </a:p>
        </p:txBody>
      </p:sp>
      <p:sp>
        <p:nvSpPr>
          <p:cNvPr id="9" name="TextBox 8"/>
          <p:cNvSpPr txBox="1"/>
          <p:nvPr/>
        </p:nvSpPr>
        <p:spPr>
          <a:xfrm>
            <a:off x="553824" y="4464100"/>
            <a:ext cx="196370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정기 정비 도래</a:t>
            </a:r>
          </a:p>
        </p:txBody>
      </p:sp>
      <p:sp>
        <p:nvSpPr>
          <p:cNvPr id="10" name="TextBox 9"/>
          <p:cNvSpPr txBox="1"/>
          <p:nvPr/>
        </p:nvSpPr>
        <p:spPr>
          <a:xfrm>
            <a:off x="553824" y="5882335"/>
            <a:ext cx="196370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예비품 재고 기준 이탈</a:t>
            </a:r>
          </a:p>
        </p:txBody>
      </p:sp>
      <p:sp>
        <p:nvSpPr>
          <p:cNvPr id="11" name="TextBox 10"/>
          <p:cNvSpPr txBox="1"/>
          <p:nvPr/>
        </p:nvSpPr>
        <p:spPr>
          <a:xfrm>
            <a:off x="3041189" y="3022229"/>
            <a:ext cx="283646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긴급 대응</a:t>
            </a:r>
          </a:p>
          <a:p>
            <a:pPr algn="ctr">
              <a:lnSpc>
                <a:spcPct val="110000"/>
              </a:lnSpc>
              <a:spcAft>
                <a:spcPts val="100"/>
              </a:spcAft>
            </a:pPr>
            <a:r>
              <a:rPr sz="1100" b="0">
                <a:solidFill>
                  <a:srgbClr val="556175"/>
                </a:solidFill>
                <a:latin typeface="맑은 고딕"/>
                <a:ea typeface="맑은 고딕"/>
                <a:cs typeface="맑은 고딕"/>
              </a:rPr>
              <a:t>cooling-emergency-response</a:t>
            </a:r>
          </a:p>
        </p:txBody>
      </p:sp>
      <p:sp>
        <p:nvSpPr>
          <p:cNvPr id="12" name="TextBox 11"/>
          <p:cNvSpPr txBox="1"/>
          <p:nvPr/>
        </p:nvSpPr>
        <p:spPr>
          <a:xfrm>
            <a:off x="3041189" y="4440463"/>
            <a:ext cx="283646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정기 정비 계획</a:t>
            </a:r>
          </a:p>
          <a:p>
            <a:pPr algn="ctr">
              <a:lnSpc>
                <a:spcPct val="110000"/>
              </a:lnSpc>
              <a:spcAft>
                <a:spcPts val="100"/>
              </a:spcAft>
            </a:pPr>
            <a:r>
              <a:rPr sz="1100" b="0">
                <a:solidFill>
                  <a:srgbClr val="556175"/>
                </a:solidFill>
                <a:latin typeface="맑은 고딕"/>
                <a:ea typeface="맑은 고딕"/>
                <a:cs typeface="맑은 고딕"/>
              </a:rPr>
              <a:t>pm-schedule-planning</a:t>
            </a:r>
          </a:p>
        </p:txBody>
      </p:sp>
      <p:sp>
        <p:nvSpPr>
          <p:cNvPr id="13" name="TextBox 12"/>
          <p:cNvSpPr txBox="1"/>
          <p:nvPr/>
        </p:nvSpPr>
        <p:spPr>
          <a:xfrm>
            <a:off x="3041189" y="5811423"/>
            <a:ext cx="283646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예비품 구매</a:t>
            </a:r>
          </a:p>
          <a:p>
            <a:pPr algn="ctr">
              <a:lnSpc>
                <a:spcPct val="110000"/>
              </a:lnSpc>
              <a:spcAft>
                <a:spcPts val="100"/>
              </a:spcAft>
            </a:pPr>
            <a:r>
              <a:rPr sz="1100" b="0">
                <a:solidFill>
                  <a:srgbClr val="556175"/>
                </a:solidFill>
                <a:latin typeface="맑은 고딕"/>
                <a:ea typeface="맑은 고딕"/>
                <a:cs typeface="맑은 고딕"/>
              </a:rPr>
              <a:t>spare-purchase-planning</a:t>
            </a:r>
          </a:p>
        </p:txBody>
      </p:sp>
      <p:sp>
        <p:nvSpPr>
          <p:cNvPr id="14" name="TextBox 13"/>
          <p:cNvSpPr txBox="1"/>
          <p:nvPr/>
        </p:nvSpPr>
        <p:spPr>
          <a:xfrm>
            <a:off x="8823221" y="2384023"/>
            <a:ext cx="2400088"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추천안</a:t>
            </a:r>
          </a:p>
          <a:p>
            <a:pPr algn="ctr">
              <a:lnSpc>
                <a:spcPct val="110000"/>
              </a:lnSpc>
              <a:spcAft>
                <a:spcPts val="100"/>
              </a:spcAft>
            </a:pPr>
            <a:r>
              <a:rPr sz="1100" b="0">
                <a:solidFill>
                  <a:srgbClr val="556175"/>
                </a:solidFill>
                <a:latin typeface="맑은 고딕"/>
                <a:ea typeface="맑은 고딕"/>
                <a:cs typeface="맑은 고딕"/>
              </a:rPr>
              <a:t>팬 최대 운전과 대안 셋</a:t>
            </a:r>
          </a:p>
        </p:txBody>
      </p:sp>
      <p:sp>
        <p:nvSpPr>
          <p:cNvPr id="15" name="TextBox 14"/>
          <p:cNvSpPr txBox="1"/>
          <p:nvPr/>
        </p:nvSpPr>
        <p:spPr>
          <a:xfrm>
            <a:off x="8823221" y="3802258"/>
            <a:ext cx="2400088"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정비 시간</a:t>
            </a:r>
          </a:p>
          <a:p>
            <a:pPr algn="ctr">
              <a:lnSpc>
                <a:spcPct val="110000"/>
              </a:lnSpc>
              <a:spcAft>
                <a:spcPts val="100"/>
              </a:spcAft>
            </a:pPr>
            <a:r>
              <a:rPr sz="1100" b="0">
                <a:solidFill>
                  <a:srgbClr val="556175"/>
                </a:solidFill>
                <a:latin typeface="맑은 고딕"/>
                <a:ea typeface="맑은 고딕"/>
                <a:cs typeface="맑은 고딕"/>
              </a:rPr>
              <a:t>언제 정비할 것인가</a:t>
            </a:r>
          </a:p>
        </p:txBody>
      </p:sp>
      <p:sp>
        <p:nvSpPr>
          <p:cNvPr id="16" name="TextBox 15"/>
          <p:cNvSpPr txBox="1"/>
          <p:nvPr/>
        </p:nvSpPr>
        <p:spPr>
          <a:xfrm>
            <a:off x="8823221" y="5220492"/>
            <a:ext cx="2400088"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발주안</a:t>
            </a:r>
          </a:p>
          <a:p>
            <a:pPr algn="ctr">
              <a:lnSpc>
                <a:spcPct val="110000"/>
              </a:lnSpc>
              <a:spcAft>
                <a:spcPts val="100"/>
              </a:spcAft>
            </a:pPr>
            <a:r>
              <a:rPr sz="1100" b="0">
                <a:solidFill>
                  <a:srgbClr val="556175"/>
                </a:solidFill>
                <a:latin typeface="맑은 고딕"/>
                <a:ea typeface="맑은 고딕"/>
                <a:cs typeface="맑은 고딕"/>
              </a:rPr>
              <a:t>공급사, 수량, 금액</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5 · 6회차 실습의 산출물과 근거를 다루는 방식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5회차와 6회차의 산출물은 형식이 달라도, 모르는 것은 확정하지 않고 아는 것에는 출처를 붙인다는 점이 공통이다.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50</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산출물</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입력</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근거를 다루는 방식</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후보 원인과 점검 순서</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온톨로지의 관계와 센서 입력</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확인되지 않은</a:t>
            </a:r>
          </a:p>
          <a:p>
            <a:pPr algn="l">
              <a:lnSpc>
                <a:spcPct val="110000"/>
              </a:lnSpc>
            </a:pPr>
            <a:r>
              <a:rPr sz="1250" b="1">
                <a:solidFill>
                  <a:srgbClr val="556175"/>
                </a:solidFill>
                <a:latin typeface="맑은 고딕"/>
                <a:ea typeface="맑은 고딕"/>
                <a:cs typeface="맑은 고딕"/>
              </a:rPr>
              <a:t>원인은 가설로 표시</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품질 대응 카드</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불량 접수 메시지</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원인이 미확정이면</a:t>
            </a:r>
          </a:p>
          <a:p>
            <a:pPr algn="l">
              <a:lnSpc>
                <a:spcPct val="110000"/>
              </a:lnSpc>
            </a:pPr>
            <a:r>
              <a:rPr sz="1250" b="1">
                <a:solidFill>
                  <a:srgbClr val="556175"/>
                </a:solidFill>
                <a:latin typeface="맑은 고딕"/>
                <a:ea typeface="맑은 고딕"/>
                <a:cs typeface="맑은 고딕"/>
              </a:rPr>
              <a:t>조사 요청으로</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작업 목록</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회의록</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담당자가 없으면</a:t>
            </a:r>
          </a:p>
          <a:p>
            <a:pPr algn="l">
              <a:lnSpc>
                <a:spcPct val="110000"/>
              </a:lnSpc>
            </a:pPr>
            <a:r>
              <a:rPr sz="1250" b="1">
                <a:solidFill>
                  <a:srgbClr val="556175"/>
                </a:solidFill>
                <a:latin typeface="맑은 고딕"/>
                <a:ea typeface="맑은 고딕"/>
                <a:cs typeface="맑은 고딕"/>
              </a:rPr>
              <a:t>미정</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도구를 조합해 만든 업무 항목</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회의록 파일과 Git의 변경 기록</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도구가 실패한 항목은</a:t>
            </a:r>
          </a:p>
          <a:p>
            <a:pPr algn="l">
              <a:lnSpc>
                <a:spcPct val="110000"/>
              </a:lnSpc>
            </a:pPr>
            <a:r>
              <a:rPr sz="1250" b="1">
                <a:solidFill>
                  <a:srgbClr val="556175"/>
                </a:solidFill>
                <a:latin typeface="맑은 고딕"/>
                <a:ea typeface="맑은 고딕"/>
                <a:cs typeface="맑은 고딕"/>
              </a:rPr>
              <a:t>미완료</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7회차 실습의 산출물과 그것이 쓰이는 곳</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확인 질문과 명세는 시나리오의 재료가 되었고, 시나리오와 회귀 기록은 다음 변경의 기준으로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51</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message-question" descr="message-question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확인 질문과 전후 기록</a:t>
            </a:r>
          </a:p>
          <a:p>
            <a:pPr algn="ctr">
              <a:lnSpc>
                <a:spcPct val="110000"/>
              </a:lnSpc>
              <a:spcAft>
                <a:spcPts val="400"/>
              </a:spcAft>
            </a:pPr>
            <a:r>
              <a:rPr sz="1350" b="0">
                <a:solidFill>
                  <a:srgbClr val="1F2A3A"/>
                </a:solidFill>
                <a:latin typeface="맑은 고딕"/>
                <a:ea typeface="맑은 고딕"/>
                <a:cs typeface="맑은 고딕"/>
              </a:rPr>
              <a:t>둘째 실습</a:t>
            </a:r>
          </a:p>
          <a:p>
            <a:pPr algn="ctr">
              <a:lnSpc>
                <a:spcPct val="110000"/>
              </a:lnSpc>
              <a:spcAft>
                <a:spcPts val="400"/>
              </a:spcAft>
            </a:pPr>
            <a:r>
              <a:rPr sz="1350" b="0">
                <a:solidFill>
                  <a:srgbClr val="1F2A3A"/>
                </a:solidFill>
                <a:latin typeface="맑은 고딕"/>
                <a:ea typeface="맑은 고딕"/>
                <a:cs typeface="맑은 고딕"/>
              </a:rPr>
              <a:t>빠진 정보를 묻고</a:t>
            </a:r>
          </a:p>
          <a:p>
            <a:pPr algn="ctr">
              <a:lnSpc>
                <a:spcPct val="110000"/>
              </a:lnSpc>
              <a:spcAft>
                <a:spcPts val="400"/>
              </a:spcAft>
            </a:pPr>
            <a:r>
              <a:rPr sz="1350" b="0">
                <a:solidFill>
                  <a:srgbClr val="1F2A3A"/>
                </a:solidFill>
                <a:latin typeface="맑은 고딕"/>
                <a:ea typeface="맑은 고딕"/>
                <a:cs typeface="맑은 고딕"/>
              </a:rPr>
              <a:t>다시 처리한 기록</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4295279" y="2786062"/>
            <a:ext cx="731520" cy="731520"/>
          </a:xfrm>
          <a:prstGeom prst="ellipse">
            <a:avLst/>
          </a:prstGeom>
          <a:solidFill>
            <a:srgbClr val="5CB8F2"/>
          </a:solidFill>
          <a:ln>
            <a:noFill/>
          </a:ln>
        </p:spPr>
        <p:txBody>
          <a:bodyPr rtlCol="0" anchor="ctr"/>
          <a:lstStyle/>
          <a:p>
            <a:pPr algn="ctr"/>
          </a:p>
        </p:txBody>
      </p:sp>
      <p:pic>
        <p:nvPicPr>
          <p:cNvPr id="13" name="아이콘:file-text" descr="file-text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spec.md와 기대 결과</a:t>
            </a:r>
          </a:p>
          <a:p>
            <a:pPr algn="ctr">
              <a:lnSpc>
                <a:spcPct val="110000"/>
              </a:lnSpc>
              <a:spcAft>
                <a:spcPts val="400"/>
              </a:spcAft>
            </a:pPr>
            <a:r>
              <a:rPr sz="1350" b="0">
                <a:solidFill>
                  <a:srgbClr val="1F2A3A"/>
                </a:solidFill>
                <a:latin typeface="맑은 고딕"/>
                <a:ea typeface="맑은 고딕"/>
                <a:cs typeface="맑은 고딕"/>
              </a:rPr>
              <a:t>셋째 실습</a:t>
            </a:r>
          </a:p>
          <a:p>
            <a:pPr algn="ctr">
              <a:lnSpc>
                <a:spcPct val="110000"/>
              </a:lnSpc>
              <a:spcAft>
                <a:spcPts val="400"/>
              </a:spcAft>
            </a:pPr>
            <a:r>
              <a:rPr sz="1350" b="0">
                <a:solidFill>
                  <a:srgbClr val="1F2A3A"/>
                </a:solidFill>
                <a:latin typeface="맑은 고딕"/>
                <a:ea typeface="맑은 고딕"/>
                <a:cs typeface="맑은 고딕"/>
              </a:rPr>
              <a:t>갱신한 명세와</a:t>
            </a:r>
          </a:p>
          <a:p>
            <a:pPr algn="ctr">
              <a:lnSpc>
                <a:spcPct val="110000"/>
              </a:lnSpc>
              <a:spcAft>
                <a:spcPts val="400"/>
              </a:spcAft>
            </a:pPr>
            <a:r>
              <a:rPr sz="1350" b="0">
                <a:solidFill>
                  <a:srgbClr val="1F2A3A"/>
                </a:solidFill>
                <a:latin typeface="맑은 고딕"/>
                <a:ea typeface="맑은 고딕"/>
                <a:cs typeface="맑은 고딕"/>
              </a:rPr>
              <a:t>저장한 입력, 기대값</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player-play" descr="player-play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시나리오와 회귀 기록</a:t>
            </a:r>
          </a:p>
          <a:p>
            <a:pPr algn="ctr">
              <a:lnSpc>
                <a:spcPct val="110000"/>
              </a:lnSpc>
              <a:spcAft>
                <a:spcPts val="400"/>
              </a:spcAft>
            </a:pPr>
            <a:r>
              <a:rPr sz="1350" b="0">
                <a:solidFill>
                  <a:srgbClr val="1F2A3A"/>
                </a:solidFill>
                <a:latin typeface="맑은 고딕"/>
                <a:ea typeface="맑은 고딕"/>
                <a:cs typeface="맑은 고딕"/>
              </a:rPr>
              <a:t>넷째 실습</a:t>
            </a:r>
          </a:p>
          <a:p>
            <a:pPr algn="ctr">
              <a:lnSpc>
                <a:spcPct val="110000"/>
              </a:lnSpc>
              <a:spcAft>
                <a:spcPts val="400"/>
              </a:spcAft>
            </a:pPr>
            <a:r>
              <a:rPr sz="1350" b="0">
                <a:solidFill>
                  <a:srgbClr val="1F2A3A"/>
                </a:solidFill>
                <a:latin typeface="맑은 고딕"/>
                <a:ea typeface="맑은 고딕"/>
                <a:cs typeface="맑은 고딕"/>
              </a:rPr>
              <a:t>네 경우의 실행과</a:t>
            </a:r>
          </a:p>
          <a:p>
            <a:pPr algn="ctr">
              <a:lnSpc>
                <a:spcPct val="110000"/>
              </a:lnSpc>
              <a:spcAft>
                <a:spcPts val="400"/>
              </a:spcAft>
            </a:pPr>
            <a:r>
              <a:rPr sz="1350" b="0">
                <a:solidFill>
                  <a:srgbClr val="1F2A3A"/>
                </a:solidFill>
                <a:latin typeface="맑은 고딕"/>
                <a:ea typeface="맑은 고딕"/>
                <a:cs typeface="맑은 고딕"/>
              </a:rPr>
              <a:t>전체 재실행의 결과</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786062"/>
            <a:ext cx="731520" cy="731520"/>
          </a:xfrm>
          <a:prstGeom prst="ellipse">
            <a:avLst/>
          </a:prstGeom>
          <a:solidFill>
            <a:srgbClr val="FFFFFF"/>
          </a:solidFill>
          <a:ln>
            <a:noFill/>
          </a:ln>
        </p:spPr>
        <p:txBody>
          <a:bodyPr rtlCol="0" anchor="ctr"/>
          <a:lstStyle/>
          <a:p>
            <a:pPr algn="ctr"/>
          </a:p>
        </p:txBody>
      </p:sp>
      <p:pic>
        <p:nvPicPr>
          <p:cNvPr id="23" name="아이콘:repeat" descr="repeat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다음 변경의 기준</a:t>
            </a:r>
          </a:p>
          <a:p>
            <a:pPr algn="ctr">
              <a:lnSpc>
                <a:spcPct val="110000"/>
              </a:lnSpc>
              <a:spcAft>
                <a:spcPts val="400"/>
              </a:spcAft>
            </a:pPr>
            <a:r>
              <a:rPr sz="1350" b="0">
                <a:solidFill>
                  <a:srgbClr val="1F2A3A"/>
                </a:solidFill>
                <a:latin typeface="맑은 고딕"/>
                <a:ea typeface="맑은 고딕"/>
                <a:cs typeface="맑은 고딕"/>
              </a:rPr>
              <a:t>요구가 또 바뀌면</a:t>
            </a:r>
          </a:p>
          <a:p>
            <a:pPr algn="ctr">
              <a:lnSpc>
                <a:spcPct val="110000"/>
              </a:lnSpc>
              <a:spcAft>
                <a:spcPts val="400"/>
              </a:spcAft>
            </a:pPr>
            <a:r>
              <a:rPr sz="1350" b="0">
                <a:solidFill>
                  <a:srgbClr val="1F2A3A"/>
                </a:solidFill>
                <a:latin typeface="맑은 고딕"/>
                <a:ea typeface="맑은 고딕"/>
                <a:cs typeface="맑은 고딕"/>
              </a:rPr>
              <a:t>이 시나리오를</a:t>
            </a:r>
          </a:p>
          <a:p>
            <a:pPr algn="ctr">
              <a:lnSpc>
                <a:spcPct val="110000"/>
              </a:lnSpc>
              <a:spcAft>
                <a:spcPts val="400"/>
              </a:spcAft>
            </a:pPr>
            <a:r>
              <a:rPr sz="1350" b="0">
                <a:solidFill>
                  <a:srgbClr val="1F2A3A"/>
                </a:solidFill>
                <a:latin typeface="맑은 고딕"/>
                <a:ea typeface="맑은 고딕"/>
                <a:cs typeface="맑은 고딕"/>
              </a:rPr>
              <a:t>다시 실행한다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산출물의 형식을 정하는 것: 읽는 쪽과 이어지는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산출물의 형식은 누가 읽고 무슨 일이 이어지는가로 정해지며, 시스템이 읽는 것은 항목의 이름까지 정해 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52</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users" descr="users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읽는 쪽</a:t>
            </a:r>
          </a:p>
          <a:p>
            <a:pPr algn="l">
              <a:lnSpc>
                <a:spcPct val="110000"/>
              </a:lnSpc>
              <a:spcAft>
                <a:spcPts val="400"/>
              </a:spcAft>
            </a:pPr>
            <a:r>
              <a:rPr sz="1400" b="0">
                <a:solidFill>
                  <a:srgbClr val="1F2A3A"/>
                </a:solidFill>
                <a:latin typeface="맑은 고딕"/>
                <a:ea typeface="맑은 고딕"/>
                <a:cs typeface="맑은 고딕"/>
              </a:rPr>
              <a:t>• 작업 목록은 일을 맡을 담당자가 읽는다</a:t>
            </a:r>
          </a:p>
          <a:p>
            <a:pPr algn="l">
              <a:lnSpc>
                <a:spcPct val="110000"/>
              </a:lnSpc>
              <a:spcAft>
                <a:spcPts val="400"/>
              </a:spcAft>
            </a:pPr>
            <a:r>
              <a:rPr sz="1400" b="0">
                <a:solidFill>
                  <a:srgbClr val="1F2A3A"/>
                </a:solidFill>
                <a:latin typeface="맑은 고딕"/>
                <a:ea typeface="맑은 고딕"/>
                <a:cs typeface="맑은 고딕"/>
              </a:rPr>
              <a:t>• 추천안은 승인 단계가 읽는다</a:t>
            </a:r>
          </a:p>
        </p:txBody>
      </p:sp>
      <p:sp>
        <p:nvSpPr>
          <p:cNvPr id="10" name="Rounded Rectangle 9"/>
          <p:cNvSpPr/>
          <p:nvPr/>
        </p:nvSpPr>
        <p:spPr>
          <a:xfrm>
            <a:off x="777240" y="5149850"/>
            <a:ext cx="1325879"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사람과 시스템</a:t>
            </a:r>
          </a:p>
        </p:txBody>
      </p:sp>
      <p:sp>
        <p:nvSpPr>
          <p:cNvPr id="12" name="Rounded Rectangle 11"/>
          <p:cNvSpPr/>
          <p:nvPr/>
        </p:nvSpPr>
        <p:spPr>
          <a:xfrm>
            <a:off x="4338218"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5CB8F2"/>
          </a:solidFill>
          <a:ln>
            <a:noFill/>
          </a:ln>
        </p:spPr>
        <p:txBody>
          <a:bodyPr rtlCol="0" anchor="ctr"/>
          <a:lstStyle/>
          <a:p>
            <a:pPr algn="ctr"/>
          </a:p>
        </p:txBody>
      </p:sp>
      <p:pic>
        <p:nvPicPr>
          <p:cNvPr id="14" name="아이콘:file-code" descr="file-code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형식</a:t>
            </a:r>
          </a:p>
          <a:p>
            <a:pPr algn="l">
              <a:lnSpc>
                <a:spcPct val="110000"/>
              </a:lnSpc>
              <a:spcAft>
                <a:spcPts val="400"/>
              </a:spcAft>
            </a:pPr>
            <a:r>
              <a:rPr sz="1400" b="0">
                <a:solidFill>
                  <a:srgbClr val="1F2A3A"/>
                </a:solidFill>
                <a:latin typeface="맑은 고딕"/>
                <a:ea typeface="맑은 고딕"/>
                <a:cs typeface="맑은 고딕"/>
              </a:rPr>
              <a:t>• 사람이 읽는 것은 문서로 낸다</a:t>
            </a:r>
          </a:p>
          <a:p>
            <a:pPr algn="l">
              <a:lnSpc>
                <a:spcPct val="110000"/>
              </a:lnSpc>
              <a:spcAft>
                <a:spcPts val="400"/>
              </a:spcAft>
            </a:pPr>
            <a:r>
              <a:rPr sz="1400" b="0">
                <a:solidFill>
                  <a:srgbClr val="1F2A3A"/>
                </a:solidFill>
                <a:latin typeface="맑은 고딕"/>
                <a:ea typeface="맑은 고딕"/>
                <a:cs typeface="맑은 고딕"/>
              </a:rPr>
              <a:t>• 시스템이 읽는 것은 항목 이름이 정해진 JSON으로 낸다</a:t>
            </a:r>
          </a:p>
        </p:txBody>
      </p:sp>
      <p:sp>
        <p:nvSpPr>
          <p:cNvPr id="16" name="Rounded Rectangle 15"/>
          <p:cNvSpPr/>
          <p:nvPr/>
        </p:nvSpPr>
        <p:spPr>
          <a:xfrm>
            <a:off x="4566818" y="5149850"/>
            <a:ext cx="1173480"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514985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문서와 구조</a:t>
            </a:r>
          </a:p>
        </p:txBody>
      </p:sp>
      <p:sp>
        <p:nvSpPr>
          <p:cNvPr id="18" name="Rounded Rectangle 17"/>
          <p:cNvSpPr/>
          <p:nvPr/>
        </p:nvSpPr>
        <p:spPr>
          <a:xfrm>
            <a:off x="8127796"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E7F3FD"/>
          </a:solidFill>
          <a:ln>
            <a:noFill/>
          </a:ln>
        </p:spPr>
        <p:txBody>
          <a:bodyPr rtlCol="0" anchor="ctr"/>
          <a:lstStyle/>
          <a:p>
            <a:pPr algn="ctr"/>
          </a:p>
        </p:txBody>
      </p:sp>
      <p:pic>
        <p:nvPicPr>
          <p:cNvPr id="20" name="아이콘:route" descr="route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이어지는 일</a:t>
            </a:r>
          </a:p>
          <a:p>
            <a:pPr algn="l">
              <a:lnSpc>
                <a:spcPct val="110000"/>
              </a:lnSpc>
              <a:spcAft>
                <a:spcPts val="400"/>
              </a:spcAft>
            </a:pPr>
            <a:r>
              <a:rPr sz="1400" b="0">
                <a:solidFill>
                  <a:srgbClr val="1F2A3A"/>
                </a:solidFill>
                <a:latin typeface="맑은 고딕"/>
                <a:ea typeface="맑은 고딕"/>
                <a:cs typeface="맑은 고딕"/>
              </a:rPr>
              <a:t>• 추천안은 승인으로</a:t>
            </a:r>
          </a:p>
          <a:p>
            <a:pPr algn="l">
              <a:lnSpc>
                <a:spcPct val="110000"/>
              </a:lnSpc>
              <a:spcAft>
                <a:spcPts val="400"/>
              </a:spcAft>
            </a:pPr>
            <a:r>
              <a:rPr sz="1400" b="0">
                <a:solidFill>
                  <a:srgbClr val="1F2A3A"/>
                </a:solidFill>
                <a:latin typeface="맑은 고딕"/>
                <a:ea typeface="맑은 고딕"/>
                <a:cs typeface="맑은 고딕"/>
              </a:rPr>
              <a:t>• 품질 대응 카드는 조사 요청으로</a:t>
            </a:r>
          </a:p>
          <a:p>
            <a:pPr algn="l">
              <a:lnSpc>
                <a:spcPct val="110000"/>
              </a:lnSpc>
              <a:spcAft>
                <a:spcPts val="400"/>
              </a:spcAft>
            </a:pPr>
            <a:r>
              <a:rPr sz="1400" b="0">
                <a:solidFill>
                  <a:srgbClr val="1F2A3A"/>
                </a:solidFill>
                <a:latin typeface="맑은 고딕"/>
                <a:ea typeface="맑은 고딕"/>
                <a:cs typeface="맑은 고딕"/>
              </a:rPr>
              <a:t>• 작업 목록은 담당자의 다음 행동으로</a:t>
            </a:r>
          </a:p>
        </p:txBody>
      </p:sp>
      <p:sp>
        <p:nvSpPr>
          <p:cNvPr id="22" name="Rounded Rectangle 21"/>
          <p:cNvSpPr/>
          <p:nvPr/>
        </p:nvSpPr>
        <p:spPr>
          <a:xfrm>
            <a:off x="8356396" y="5149850"/>
            <a:ext cx="10210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14985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다음 행동</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결과가 기대와 다를 때 먼저 살펴볼 곳</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에이전트의 결과가 기대와 다를 때에는 증상이 가리키는 장치부터 살펴보아야 고치지 않아도 될 곳을 건드리지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53</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증상</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먼저 살펴볼 곳</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배운 때</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값이 실제와 다르다</a:t>
            </a:r>
          </a:p>
        </p:txBody>
      </p:sp>
      <p:sp>
        <p:nvSpPr>
          <p:cNvPr id="12" name="TextBox 11"/>
          <p:cNvSpPr txBox="1"/>
          <p:nvPr/>
        </p:nvSpPr>
        <p:spPr>
          <a:xfrm>
            <a:off x="3200400" y="2029968"/>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호출 기록의 입력과 응답</a:t>
            </a:r>
          </a:p>
        </p:txBody>
      </p:sp>
      <p:sp>
        <p:nvSpPr>
          <p:cNvPr id="13" name="TextBox 12"/>
          <p:cNvSpPr txBox="1"/>
          <p:nvPr/>
        </p:nvSpPr>
        <p:spPr>
          <a:xfrm>
            <a:off x="9448495" y="2029968"/>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5회차</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정해 둔 단계를 건너뛴다</a:t>
            </a:r>
          </a:p>
        </p:txBody>
      </p:sp>
      <p:sp>
        <p:nvSpPr>
          <p:cNvPr id="16" name="TextBox 15"/>
          <p:cNvSpPr txBox="1"/>
          <p:nvPr/>
        </p:nvSpPr>
        <p:spPr>
          <a:xfrm>
            <a:off x="3200400" y="2894990"/>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스킬의 절차</a:t>
            </a:r>
          </a:p>
        </p:txBody>
      </p:sp>
      <p:sp>
        <p:nvSpPr>
          <p:cNvPr id="17" name="TextBox 16"/>
          <p:cNvSpPr txBox="1"/>
          <p:nvPr/>
        </p:nvSpPr>
        <p:spPr>
          <a:xfrm>
            <a:off x="9448495" y="2894990"/>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6회차</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필요한 값을 받지 못했다</a:t>
            </a:r>
          </a:p>
        </p:txBody>
      </p:sp>
      <p:sp>
        <p:nvSpPr>
          <p:cNvPr id="20" name="TextBox 19"/>
          <p:cNvSpPr txBox="1"/>
          <p:nvPr/>
        </p:nvSpPr>
        <p:spPr>
          <a:xfrm>
            <a:off x="3200400" y="3760012"/>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서버의 연결과 허용 목록</a:t>
            </a:r>
          </a:p>
        </p:txBody>
      </p:sp>
      <p:sp>
        <p:nvSpPr>
          <p:cNvPr id="21" name="TextBox 20"/>
          <p:cNvSpPr txBox="1"/>
          <p:nvPr/>
        </p:nvSpPr>
        <p:spPr>
          <a:xfrm>
            <a:off x="9448495" y="3760012"/>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6회차</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묻지 않고 확정했다</a:t>
            </a:r>
          </a:p>
        </p:txBody>
      </p:sp>
      <p:sp>
        <p:nvSpPr>
          <p:cNvPr id="24" name="TextBox 23"/>
          <p:cNvSpPr txBox="1"/>
          <p:nvPr/>
        </p:nvSpPr>
        <p:spPr>
          <a:xfrm>
            <a:off x="3200400" y="4625035"/>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금지 조건과 사람의 개입 지점</a:t>
            </a:r>
          </a:p>
        </p:txBody>
      </p:sp>
      <p:sp>
        <p:nvSpPr>
          <p:cNvPr id="25" name="TextBox 24"/>
          <p:cNvSpPr txBox="1"/>
          <p:nvPr/>
        </p:nvSpPr>
        <p:spPr>
          <a:xfrm>
            <a:off x="9448495" y="4625035"/>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7회차</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고친 뒤 기존 요청의 결과가 달라졌다</a:t>
            </a:r>
          </a:p>
        </p:txBody>
      </p:sp>
      <p:sp>
        <p:nvSpPr>
          <p:cNvPr id="28" name="TextBox 27"/>
          <p:cNvSpPr txBox="1"/>
          <p:nvPr/>
        </p:nvSpPr>
        <p:spPr>
          <a:xfrm>
            <a:off x="3200400" y="5490057"/>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회귀 시험에서 실패한 시나리오</a:t>
            </a:r>
          </a:p>
        </p:txBody>
      </p:sp>
      <p:sp>
        <p:nvSpPr>
          <p:cNvPr id="29" name="TextBox 28"/>
          <p:cNvSpPr txBox="1"/>
          <p:nvPr/>
        </p:nvSpPr>
        <p:spPr>
          <a:xfrm>
            <a:off x="9448495" y="5490057"/>
            <a:ext cx="2103120" cy="865022"/>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7회차</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사람이 정하는 기준과 에이전트가 정하는 과정</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기준과 한계는 사람이 실행 전에 정하고, 그 안에서 어느 도구를 언제 부르고 어떻게 설명할지는 에이전트가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54</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user" descr="user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사람이 정한다</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목표와 스킬의 절차</a:t>
            </a:r>
          </a:p>
          <a:p>
            <a:pPr algn="l">
              <a:lnSpc>
                <a:spcPct val="110000"/>
              </a:lnSpc>
              <a:spcAft>
                <a:spcPts val="600"/>
              </a:spcAft>
            </a:pPr>
            <a:r>
              <a:rPr sz="1450" b="0">
                <a:solidFill>
                  <a:srgbClr val="1F2A3A"/>
                </a:solidFill>
                <a:latin typeface="맑은 고딕"/>
                <a:ea typeface="맑은 고딕"/>
                <a:cs typeface="맑은 고딕"/>
              </a:rPr>
              <a:t>• 연결할 도구와 권한의 범위</a:t>
            </a:r>
          </a:p>
          <a:p>
            <a:pPr algn="l">
              <a:lnSpc>
                <a:spcPct val="110000"/>
              </a:lnSpc>
              <a:spcAft>
                <a:spcPts val="600"/>
              </a:spcAft>
            </a:pPr>
            <a:r>
              <a:rPr sz="1450" b="0">
                <a:solidFill>
                  <a:srgbClr val="1F2A3A"/>
                </a:solidFill>
                <a:latin typeface="맑은 고딕"/>
                <a:ea typeface="맑은 고딕"/>
                <a:cs typeface="맑은 고딕"/>
              </a:rPr>
              <a:t>• 계약과 금지 조건</a:t>
            </a:r>
          </a:p>
          <a:p>
            <a:pPr algn="l">
              <a:lnSpc>
                <a:spcPct val="110000"/>
              </a:lnSpc>
              <a:spcAft>
                <a:spcPts val="600"/>
              </a:spcAft>
            </a:pPr>
            <a:r>
              <a:rPr sz="1450" b="0">
                <a:solidFill>
                  <a:srgbClr val="1F2A3A"/>
                </a:solidFill>
                <a:latin typeface="맑은 고딕"/>
                <a:ea typeface="맑은 고딕"/>
                <a:cs typeface="맑은 고딕"/>
              </a:rPr>
              <a:t>• 시나리오의 기대값</a:t>
            </a:r>
          </a:p>
        </p:txBody>
      </p:sp>
      <p:sp>
        <p:nvSpPr>
          <p:cNvPr id="11" name="Rounded Rectangle 10"/>
          <p:cNvSpPr/>
          <p:nvPr/>
        </p:nvSpPr>
        <p:spPr>
          <a:xfrm>
            <a:off x="868680" y="5096002"/>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기준과 한계</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robot" descr="robot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에이전트가 정한다</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이번에 부를 도구와 입력</a:t>
            </a:r>
          </a:p>
          <a:p>
            <a:pPr algn="l">
              <a:lnSpc>
                <a:spcPct val="110000"/>
              </a:lnSpc>
              <a:spcAft>
                <a:spcPts val="600"/>
              </a:spcAft>
            </a:pPr>
            <a:r>
              <a:rPr sz="1450" b="0">
                <a:solidFill>
                  <a:srgbClr val="1F2A3A"/>
                </a:solidFill>
                <a:latin typeface="맑은 고딕"/>
                <a:ea typeface="맑은 고딕"/>
                <a:cs typeface="맑은 고딕"/>
              </a:rPr>
              <a:t>• 결과를 보고 고르는 다음 행동</a:t>
            </a:r>
          </a:p>
          <a:p>
            <a:pPr algn="l">
              <a:lnSpc>
                <a:spcPct val="110000"/>
              </a:lnSpc>
              <a:spcAft>
                <a:spcPts val="600"/>
              </a:spcAft>
            </a:pPr>
            <a:r>
              <a:rPr sz="1450" b="0">
                <a:solidFill>
                  <a:srgbClr val="1F2A3A"/>
                </a:solidFill>
                <a:latin typeface="맑은 고딕"/>
                <a:ea typeface="맑은 고딕"/>
                <a:cs typeface="맑은 고딕"/>
              </a:rPr>
              <a:t>• 다시 시도할지, 보류할지</a:t>
            </a:r>
          </a:p>
          <a:p>
            <a:pPr algn="l">
              <a:lnSpc>
                <a:spcPct val="110000"/>
              </a:lnSpc>
              <a:spcAft>
                <a:spcPts val="600"/>
              </a:spcAft>
            </a:pPr>
            <a:r>
              <a:rPr sz="1450" b="0">
                <a:solidFill>
                  <a:srgbClr val="1F2A3A"/>
                </a:solidFill>
                <a:latin typeface="맑은 고딕"/>
                <a:ea typeface="맑은 고딕"/>
                <a:cs typeface="맑은 고딕"/>
              </a:rPr>
              <a:t>• 설명의 문장</a:t>
            </a:r>
          </a:p>
        </p:txBody>
      </p:sp>
      <p:sp>
        <p:nvSpPr>
          <p:cNvPr id="18" name="Rounded Rectangle 17"/>
          <p:cNvSpPr/>
          <p:nvPr/>
        </p:nvSpPr>
        <p:spPr>
          <a:xfrm>
            <a:off x="6781647" y="5096002"/>
            <a:ext cx="13716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 중의 과정</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여섯 개념이 차례로 푼 문제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 스킬, MCP는 일을 해내게 하는 문제를, HITL, SDD, BDD는 그 일을 믿고 맡기게 하는 문제를 풀었다.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55</a:t>
            </a:r>
          </a:p>
        </p:txBody>
      </p:sp>
      <p:sp>
        <p:nvSpPr>
          <p:cNvPr id="6" name="Rounded Rectangle 5"/>
          <p:cNvSpPr/>
          <p:nvPr/>
        </p:nvSpPr>
        <p:spPr>
          <a:xfrm>
            <a:off x="612647" y="2454085"/>
            <a:ext cx="5419191" cy="3074541"/>
          </a:xfrm>
          <a:prstGeom prst="roundRect">
            <a:avLst>
              <a:gd name="adj" fmla="val 4000"/>
            </a:avLst>
          </a:prstGeom>
          <a:solidFill>
            <a:srgbClr val="F3F6F9"/>
          </a:solidFill>
          <a:ln>
            <a:noFill/>
          </a:ln>
        </p:spPr>
        <p:txBody>
          <a:bodyPr rtlCol="0" anchor="ctr"/>
          <a:lstStyle/>
          <a:p>
            <a:pPr algn="ctr"/>
          </a:p>
        </p:txBody>
      </p:sp>
      <p:sp>
        <p:nvSpPr>
          <p:cNvPr id="7" name="TextBox 6"/>
          <p:cNvSpPr txBox="1"/>
          <p:nvPr/>
        </p:nvSpPr>
        <p:spPr>
          <a:xfrm>
            <a:off x="612647" y="2508949"/>
            <a:ext cx="5419191"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일을 해내게 한다</a:t>
            </a:r>
          </a:p>
        </p:txBody>
      </p:sp>
      <p:sp>
        <p:nvSpPr>
          <p:cNvPr id="8" name="Rounded Rectangle 7"/>
          <p:cNvSpPr/>
          <p:nvPr/>
        </p:nvSpPr>
        <p:spPr>
          <a:xfrm>
            <a:off x="6159855" y="2454085"/>
            <a:ext cx="5419191" cy="3074541"/>
          </a:xfrm>
          <a:prstGeom prst="roundRect">
            <a:avLst>
              <a:gd name="adj" fmla="val 4000"/>
            </a:avLst>
          </a:prstGeom>
          <a:solidFill>
            <a:srgbClr val="F3F6F9"/>
          </a:solidFill>
          <a:ln>
            <a:noFill/>
          </a:ln>
        </p:spPr>
        <p:txBody>
          <a:bodyPr rtlCol="0" anchor="ctr"/>
          <a:lstStyle/>
          <a:p>
            <a:pPr algn="ctr"/>
          </a:p>
        </p:txBody>
      </p:sp>
      <p:sp>
        <p:nvSpPr>
          <p:cNvPr id="9" name="TextBox 8"/>
          <p:cNvSpPr txBox="1"/>
          <p:nvPr/>
        </p:nvSpPr>
        <p:spPr>
          <a:xfrm>
            <a:off x="6159855" y="2508949"/>
            <a:ext cx="5419191"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믿고 맡기게 한다</a:t>
            </a:r>
          </a:p>
        </p:txBody>
      </p:sp>
      <p:sp>
        <p:nvSpPr>
          <p:cNvPr id="10" name="Rectangle 9"/>
          <p:cNvSpPr/>
          <p:nvPr/>
        </p:nvSpPr>
        <p:spPr>
          <a:xfrm>
            <a:off x="1473174" y="3776090"/>
            <a:ext cx="9245346" cy="146304"/>
          </a:xfrm>
          <a:prstGeom prst="rect">
            <a:avLst/>
          </a:prstGeom>
          <a:solidFill>
            <a:srgbClr val="5CB8F2"/>
          </a:solidFill>
          <a:ln>
            <a:noFill/>
          </a:ln>
        </p:spPr>
        <p:txBody>
          <a:bodyPr rtlCol="0" anchor="ctr"/>
          <a:lstStyle/>
          <a:p>
            <a:pPr algn="ctr"/>
          </a:p>
        </p:txBody>
      </p:sp>
      <p:sp>
        <p:nvSpPr>
          <p:cNvPr id="11" name="Chevron 10"/>
          <p:cNvSpPr/>
          <p:nvPr/>
        </p:nvSpPr>
        <p:spPr>
          <a:xfrm>
            <a:off x="2278837" y="3666362"/>
            <a:ext cx="237744" cy="365760"/>
          </a:xfrm>
          <a:prstGeom prst="chevron">
            <a:avLst/>
          </a:prstGeom>
          <a:solidFill>
            <a:srgbClr val="13294B"/>
          </a:solidFill>
          <a:ln>
            <a:noFill/>
          </a:ln>
        </p:spPr>
        <p:txBody>
          <a:bodyPr rtlCol="0" anchor="ctr"/>
          <a:lstStyle/>
          <a:p>
            <a:pPr algn="ctr"/>
          </a:p>
        </p:txBody>
      </p:sp>
      <p:sp>
        <p:nvSpPr>
          <p:cNvPr id="12" name="Oval 11"/>
          <p:cNvSpPr/>
          <p:nvPr/>
        </p:nvSpPr>
        <p:spPr>
          <a:xfrm>
            <a:off x="992416" y="3368485"/>
            <a:ext cx="961515" cy="961515"/>
          </a:xfrm>
          <a:prstGeom prst="ellipse">
            <a:avLst/>
          </a:prstGeom>
          <a:solidFill>
            <a:srgbClr val="FFFFFF"/>
          </a:solidFill>
          <a:ln w="28575">
            <a:solidFill>
              <a:srgbClr val="13294B"/>
            </a:solidFill>
          </a:ln>
        </p:spPr>
        <p:txBody>
          <a:bodyPr rtlCol="0" anchor="ctr"/>
          <a:lstStyle/>
          <a:p>
            <a:pPr algn="ctr"/>
          </a:p>
        </p:txBody>
      </p:sp>
      <p:pic>
        <p:nvPicPr>
          <p:cNvPr id="13" name="아이콘:robot" descr="robot_13294B_1.6.png"/>
          <p:cNvPicPr>
            <a:picLocks noChangeAspect="1"/>
          </p:cNvPicPr>
          <p:nvPr/>
        </p:nvPicPr>
        <p:blipFill>
          <a:blip r:embed="rId3"/>
          <a:stretch>
            <a:fillRect/>
          </a:stretch>
        </p:blipFill>
        <p:spPr>
          <a:xfrm>
            <a:off x="1223180" y="3599248"/>
            <a:ext cx="499988" cy="499988"/>
          </a:xfrm>
          <a:prstGeom prst="rect">
            <a:avLst/>
          </a:prstGeom>
        </p:spPr>
      </p:pic>
      <p:sp>
        <p:nvSpPr>
          <p:cNvPr id="14" name="TextBox 13"/>
          <p:cNvSpPr txBox="1"/>
          <p:nvPr/>
        </p:nvSpPr>
        <p:spPr>
          <a:xfrm>
            <a:off x="640079" y="4467160"/>
            <a:ext cx="1666189" cy="878585"/>
          </a:xfrm>
          <a:prstGeom prst="rect">
            <a:avLst/>
          </a:prstGeom>
          <a:noFill/>
        </p:spPr>
        <p:txBody>
          <a:bodyPr wrap="square" anchor="t"/>
          <a:lstStyle/>
          <a:p>
            <a:pPr algn="ctr">
              <a:lnSpc>
                <a:spcPct val="110000"/>
              </a:lnSpc>
              <a:spcAft>
                <a:spcPts val="400"/>
              </a:spcAft>
            </a:pPr>
            <a:r>
              <a:rPr sz="1500" b="1">
                <a:solidFill>
                  <a:srgbClr val="13294B"/>
                </a:solidFill>
                <a:latin typeface="맑은 고딕"/>
                <a:ea typeface="맑은 고딕"/>
                <a:cs typeface="맑은 고딕"/>
              </a:rPr>
              <a:t>에이전트</a:t>
            </a:r>
          </a:p>
          <a:p>
            <a:pPr algn="ctr">
              <a:lnSpc>
                <a:spcPct val="110000"/>
              </a:lnSpc>
              <a:spcAft>
                <a:spcPts val="400"/>
              </a:spcAft>
            </a:pPr>
            <a:r>
              <a:rPr sz="1200" b="0">
                <a:solidFill>
                  <a:srgbClr val="1F2A3A"/>
                </a:solidFill>
                <a:latin typeface="맑은 고딕"/>
                <a:ea typeface="맑은 고딕"/>
                <a:cs typeface="맑은 고딕"/>
              </a:rPr>
              <a:t>답만 하던 모델이</a:t>
            </a:r>
          </a:p>
          <a:p>
            <a:pPr algn="ctr">
              <a:lnSpc>
                <a:spcPct val="110000"/>
              </a:lnSpc>
              <a:spcAft>
                <a:spcPts val="400"/>
              </a:spcAft>
            </a:pPr>
            <a:r>
              <a:rPr sz="1200" b="0">
                <a:solidFill>
                  <a:srgbClr val="1F2A3A"/>
                </a:solidFill>
                <a:latin typeface="맑은 고딕"/>
                <a:ea typeface="맑은 고딕"/>
                <a:cs typeface="맑은 고딕"/>
              </a:rPr>
              <a:t>목표까지 수행한다</a:t>
            </a:r>
          </a:p>
        </p:txBody>
      </p:sp>
      <p:sp>
        <p:nvSpPr>
          <p:cNvPr id="15" name="Chevron 14"/>
          <p:cNvSpPr/>
          <p:nvPr/>
        </p:nvSpPr>
        <p:spPr>
          <a:xfrm>
            <a:off x="4127906" y="3666362"/>
            <a:ext cx="237744" cy="365760"/>
          </a:xfrm>
          <a:prstGeom prst="chevron">
            <a:avLst/>
          </a:prstGeom>
          <a:solidFill>
            <a:srgbClr val="13294B"/>
          </a:solidFill>
          <a:ln>
            <a:noFill/>
          </a:ln>
        </p:spPr>
        <p:txBody>
          <a:bodyPr rtlCol="0" anchor="ctr"/>
          <a:lstStyle/>
          <a:p>
            <a:pPr algn="ctr"/>
          </a:p>
        </p:txBody>
      </p:sp>
      <p:sp>
        <p:nvSpPr>
          <p:cNvPr id="16" name="Oval 15"/>
          <p:cNvSpPr/>
          <p:nvPr/>
        </p:nvSpPr>
        <p:spPr>
          <a:xfrm>
            <a:off x="2841485" y="3368485"/>
            <a:ext cx="961515" cy="961515"/>
          </a:xfrm>
          <a:prstGeom prst="ellipse">
            <a:avLst/>
          </a:prstGeom>
          <a:solidFill>
            <a:srgbClr val="FFFFFF"/>
          </a:solidFill>
          <a:ln w="28575">
            <a:solidFill>
              <a:srgbClr val="13294B"/>
            </a:solidFill>
          </a:ln>
        </p:spPr>
        <p:txBody>
          <a:bodyPr rtlCol="0" anchor="ctr"/>
          <a:lstStyle/>
          <a:p>
            <a:pPr algn="ctr"/>
          </a:p>
        </p:txBody>
      </p:sp>
      <p:pic>
        <p:nvPicPr>
          <p:cNvPr id="17" name="아이콘:file-text" descr="file-text_13294B_1.6.png"/>
          <p:cNvPicPr>
            <a:picLocks noChangeAspect="1"/>
          </p:cNvPicPr>
          <p:nvPr/>
        </p:nvPicPr>
        <p:blipFill>
          <a:blip r:embed="rId4"/>
          <a:stretch>
            <a:fillRect/>
          </a:stretch>
        </p:blipFill>
        <p:spPr>
          <a:xfrm>
            <a:off x="3072249" y="3599248"/>
            <a:ext cx="499988" cy="499988"/>
          </a:xfrm>
          <a:prstGeom prst="rect">
            <a:avLst/>
          </a:prstGeom>
        </p:spPr>
      </p:pic>
      <p:sp>
        <p:nvSpPr>
          <p:cNvPr id="18" name="TextBox 17"/>
          <p:cNvSpPr txBox="1"/>
          <p:nvPr/>
        </p:nvSpPr>
        <p:spPr>
          <a:xfrm>
            <a:off x="2489149" y="4467160"/>
            <a:ext cx="1666189" cy="878585"/>
          </a:xfrm>
          <a:prstGeom prst="rect">
            <a:avLst/>
          </a:prstGeom>
          <a:noFill/>
        </p:spPr>
        <p:txBody>
          <a:bodyPr wrap="square" anchor="t"/>
          <a:lstStyle/>
          <a:p>
            <a:pPr algn="ctr">
              <a:lnSpc>
                <a:spcPct val="110000"/>
              </a:lnSpc>
              <a:spcAft>
                <a:spcPts val="400"/>
              </a:spcAft>
            </a:pPr>
            <a:r>
              <a:rPr sz="1500" b="1">
                <a:solidFill>
                  <a:srgbClr val="13294B"/>
                </a:solidFill>
                <a:latin typeface="맑은 고딕"/>
                <a:ea typeface="맑은 고딕"/>
                <a:cs typeface="맑은 고딕"/>
              </a:rPr>
              <a:t>스킬</a:t>
            </a:r>
          </a:p>
          <a:p>
            <a:pPr algn="ctr">
              <a:lnSpc>
                <a:spcPct val="110000"/>
              </a:lnSpc>
              <a:spcAft>
                <a:spcPts val="400"/>
              </a:spcAft>
            </a:pPr>
            <a:r>
              <a:rPr sz="1200" b="0">
                <a:solidFill>
                  <a:srgbClr val="1F2A3A"/>
                </a:solidFill>
                <a:latin typeface="맑은 고딕"/>
                <a:ea typeface="맑은 고딕"/>
                <a:cs typeface="맑은 고딕"/>
              </a:rPr>
              <a:t>실행마다 다르던</a:t>
            </a:r>
          </a:p>
          <a:p>
            <a:pPr algn="ctr">
              <a:lnSpc>
                <a:spcPct val="110000"/>
              </a:lnSpc>
              <a:spcAft>
                <a:spcPts val="400"/>
              </a:spcAft>
            </a:pPr>
            <a:r>
              <a:rPr sz="1200" b="0">
                <a:solidFill>
                  <a:srgbClr val="1F2A3A"/>
                </a:solidFill>
                <a:latin typeface="맑은 고딕"/>
                <a:ea typeface="맑은 고딕"/>
                <a:cs typeface="맑은 고딕"/>
              </a:rPr>
              <a:t>순서가 정해진다</a:t>
            </a:r>
          </a:p>
        </p:txBody>
      </p:sp>
      <p:sp>
        <p:nvSpPr>
          <p:cNvPr id="19" name="Chevron 18"/>
          <p:cNvSpPr/>
          <p:nvPr/>
        </p:nvSpPr>
        <p:spPr>
          <a:xfrm>
            <a:off x="5976975" y="3666362"/>
            <a:ext cx="237744" cy="365760"/>
          </a:xfrm>
          <a:prstGeom prst="chevron">
            <a:avLst/>
          </a:prstGeom>
          <a:solidFill>
            <a:srgbClr val="13294B"/>
          </a:solidFill>
          <a:ln>
            <a:noFill/>
          </a:ln>
        </p:spPr>
        <p:txBody>
          <a:bodyPr rtlCol="0" anchor="ctr"/>
          <a:lstStyle/>
          <a:p>
            <a:pPr algn="ctr"/>
          </a:p>
        </p:txBody>
      </p:sp>
      <p:sp>
        <p:nvSpPr>
          <p:cNvPr id="20" name="Oval 19"/>
          <p:cNvSpPr/>
          <p:nvPr/>
        </p:nvSpPr>
        <p:spPr>
          <a:xfrm>
            <a:off x="4690555" y="3368485"/>
            <a:ext cx="961515" cy="961515"/>
          </a:xfrm>
          <a:prstGeom prst="ellipse">
            <a:avLst/>
          </a:prstGeom>
          <a:solidFill>
            <a:srgbClr val="FFFFFF"/>
          </a:solidFill>
          <a:ln w="28575">
            <a:solidFill>
              <a:srgbClr val="13294B"/>
            </a:solidFill>
          </a:ln>
        </p:spPr>
        <p:txBody>
          <a:bodyPr rtlCol="0" anchor="ctr"/>
          <a:lstStyle/>
          <a:p>
            <a:pPr algn="ctr"/>
          </a:p>
        </p:txBody>
      </p:sp>
      <p:pic>
        <p:nvPicPr>
          <p:cNvPr id="21" name="아이콘:plug-connected" descr="plug-connected_13294B_1.6.png"/>
          <p:cNvPicPr>
            <a:picLocks noChangeAspect="1"/>
          </p:cNvPicPr>
          <p:nvPr/>
        </p:nvPicPr>
        <p:blipFill>
          <a:blip r:embed="rId5"/>
          <a:stretch>
            <a:fillRect/>
          </a:stretch>
        </p:blipFill>
        <p:spPr>
          <a:xfrm>
            <a:off x="4921318" y="3599248"/>
            <a:ext cx="499988" cy="499988"/>
          </a:xfrm>
          <a:prstGeom prst="rect">
            <a:avLst/>
          </a:prstGeom>
        </p:spPr>
      </p:pic>
      <p:sp>
        <p:nvSpPr>
          <p:cNvPr id="22" name="TextBox 21"/>
          <p:cNvSpPr txBox="1"/>
          <p:nvPr/>
        </p:nvSpPr>
        <p:spPr>
          <a:xfrm>
            <a:off x="4338218" y="4467160"/>
            <a:ext cx="1666189" cy="878585"/>
          </a:xfrm>
          <a:prstGeom prst="rect">
            <a:avLst/>
          </a:prstGeom>
          <a:noFill/>
        </p:spPr>
        <p:txBody>
          <a:bodyPr wrap="square" anchor="t"/>
          <a:lstStyle/>
          <a:p>
            <a:pPr algn="ctr">
              <a:lnSpc>
                <a:spcPct val="110000"/>
              </a:lnSpc>
              <a:spcAft>
                <a:spcPts val="400"/>
              </a:spcAft>
            </a:pPr>
            <a:r>
              <a:rPr sz="1500" b="1">
                <a:solidFill>
                  <a:srgbClr val="13294B"/>
                </a:solidFill>
                <a:latin typeface="맑은 고딕"/>
                <a:ea typeface="맑은 고딕"/>
                <a:cs typeface="맑은 고딕"/>
              </a:rPr>
              <a:t>MCP</a:t>
            </a:r>
          </a:p>
          <a:p>
            <a:pPr algn="ctr">
              <a:lnSpc>
                <a:spcPct val="110000"/>
              </a:lnSpc>
              <a:spcAft>
                <a:spcPts val="400"/>
              </a:spcAft>
            </a:pPr>
            <a:r>
              <a:rPr sz="1200" b="0">
                <a:solidFill>
                  <a:srgbClr val="1F2A3A"/>
                </a:solidFill>
                <a:latin typeface="맑은 고딕"/>
                <a:ea typeface="맑은 고딕"/>
                <a:cs typeface="맑은 고딕"/>
              </a:rPr>
              <a:t>시스템의 값을</a:t>
            </a:r>
          </a:p>
          <a:p>
            <a:pPr algn="ctr">
              <a:lnSpc>
                <a:spcPct val="110000"/>
              </a:lnSpc>
              <a:spcAft>
                <a:spcPts val="400"/>
              </a:spcAft>
            </a:pPr>
            <a:r>
              <a:rPr sz="1200" b="0">
                <a:solidFill>
                  <a:srgbClr val="1F2A3A"/>
                </a:solidFill>
                <a:latin typeface="맑은 고딕"/>
                <a:ea typeface="맑은 고딕"/>
                <a:cs typeface="맑은 고딕"/>
              </a:rPr>
              <a:t>도구로 읽는다</a:t>
            </a:r>
          </a:p>
        </p:txBody>
      </p:sp>
      <p:sp>
        <p:nvSpPr>
          <p:cNvPr id="23" name="Chevron 22"/>
          <p:cNvSpPr/>
          <p:nvPr/>
        </p:nvSpPr>
        <p:spPr>
          <a:xfrm>
            <a:off x="7826044" y="3666362"/>
            <a:ext cx="237744" cy="365760"/>
          </a:xfrm>
          <a:prstGeom prst="chevron">
            <a:avLst/>
          </a:prstGeom>
          <a:solidFill>
            <a:srgbClr val="13294B"/>
          </a:solidFill>
          <a:ln>
            <a:noFill/>
          </a:ln>
        </p:spPr>
        <p:txBody>
          <a:bodyPr rtlCol="0" anchor="ctr"/>
          <a:lstStyle/>
          <a:p>
            <a:pPr algn="ctr"/>
          </a:p>
        </p:txBody>
      </p:sp>
      <p:sp>
        <p:nvSpPr>
          <p:cNvPr id="24" name="Oval 23"/>
          <p:cNvSpPr/>
          <p:nvPr/>
        </p:nvSpPr>
        <p:spPr>
          <a:xfrm>
            <a:off x="6539624" y="3368485"/>
            <a:ext cx="961515" cy="961515"/>
          </a:xfrm>
          <a:prstGeom prst="ellipse">
            <a:avLst/>
          </a:prstGeom>
          <a:solidFill>
            <a:srgbClr val="FFFFFF"/>
          </a:solidFill>
          <a:ln w="28575">
            <a:solidFill>
              <a:srgbClr val="13294B"/>
            </a:solidFill>
          </a:ln>
        </p:spPr>
        <p:txBody>
          <a:bodyPr rtlCol="0" anchor="ctr"/>
          <a:lstStyle/>
          <a:p>
            <a:pPr algn="ctr"/>
          </a:p>
        </p:txBody>
      </p:sp>
      <p:pic>
        <p:nvPicPr>
          <p:cNvPr id="25" name="아이콘:user-check" descr="user-check_13294B_1.6.png"/>
          <p:cNvPicPr>
            <a:picLocks noChangeAspect="1"/>
          </p:cNvPicPr>
          <p:nvPr/>
        </p:nvPicPr>
        <p:blipFill>
          <a:blip r:embed="rId6"/>
          <a:stretch>
            <a:fillRect/>
          </a:stretch>
        </p:blipFill>
        <p:spPr>
          <a:xfrm>
            <a:off x="6770388" y="3599248"/>
            <a:ext cx="499988" cy="499988"/>
          </a:xfrm>
          <a:prstGeom prst="rect">
            <a:avLst/>
          </a:prstGeom>
        </p:spPr>
      </p:pic>
      <p:sp>
        <p:nvSpPr>
          <p:cNvPr id="26" name="TextBox 25"/>
          <p:cNvSpPr txBox="1"/>
          <p:nvPr/>
        </p:nvSpPr>
        <p:spPr>
          <a:xfrm>
            <a:off x="6187287" y="4467160"/>
            <a:ext cx="1666189" cy="878585"/>
          </a:xfrm>
          <a:prstGeom prst="rect">
            <a:avLst/>
          </a:prstGeom>
          <a:noFill/>
        </p:spPr>
        <p:txBody>
          <a:bodyPr wrap="square" anchor="t"/>
          <a:lstStyle/>
          <a:p>
            <a:pPr algn="ctr">
              <a:lnSpc>
                <a:spcPct val="110000"/>
              </a:lnSpc>
              <a:spcAft>
                <a:spcPts val="400"/>
              </a:spcAft>
            </a:pPr>
            <a:r>
              <a:rPr sz="1500" b="1">
                <a:solidFill>
                  <a:srgbClr val="13294B"/>
                </a:solidFill>
                <a:latin typeface="맑은 고딕"/>
                <a:ea typeface="맑은 고딕"/>
                <a:cs typeface="맑은 고딕"/>
              </a:rPr>
              <a:t>HITL</a:t>
            </a:r>
          </a:p>
          <a:p>
            <a:pPr algn="ctr">
              <a:lnSpc>
                <a:spcPct val="110000"/>
              </a:lnSpc>
              <a:spcAft>
                <a:spcPts val="400"/>
              </a:spcAft>
            </a:pPr>
            <a:r>
              <a:rPr sz="1200" b="0">
                <a:solidFill>
                  <a:srgbClr val="1F2A3A"/>
                </a:solidFill>
                <a:latin typeface="맑은 고딕"/>
                <a:ea typeface="맑은 고딕"/>
                <a:cs typeface="맑은 고딕"/>
              </a:rPr>
              <a:t>실행의 결정을</a:t>
            </a:r>
          </a:p>
          <a:p>
            <a:pPr algn="ctr">
              <a:lnSpc>
                <a:spcPct val="110000"/>
              </a:lnSpc>
              <a:spcAft>
                <a:spcPts val="400"/>
              </a:spcAft>
            </a:pPr>
            <a:r>
              <a:rPr sz="1200" b="0">
                <a:solidFill>
                  <a:srgbClr val="1F2A3A"/>
                </a:solidFill>
                <a:latin typeface="맑은 고딕"/>
                <a:ea typeface="맑은 고딕"/>
                <a:cs typeface="맑은 고딕"/>
              </a:rPr>
              <a:t>사람이 내린다</a:t>
            </a:r>
          </a:p>
        </p:txBody>
      </p:sp>
      <p:sp>
        <p:nvSpPr>
          <p:cNvPr id="27" name="Chevron 26"/>
          <p:cNvSpPr/>
          <p:nvPr/>
        </p:nvSpPr>
        <p:spPr>
          <a:xfrm>
            <a:off x="9675114" y="3666362"/>
            <a:ext cx="237744" cy="365760"/>
          </a:xfrm>
          <a:prstGeom prst="chevron">
            <a:avLst/>
          </a:prstGeom>
          <a:solidFill>
            <a:srgbClr val="13294B"/>
          </a:solidFill>
          <a:ln>
            <a:noFill/>
          </a:ln>
        </p:spPr>
        <p:txBody>
          <a:bodyPr rtlCol="0" anchor="ctr"/>
          <a:lstStyle/>
          <a:p>
            <a:pPr algn="ctr"/>
          </a:p>
        </p:txBody>
      </p:sp>
      <p:sp>
        <p:nvSpPr>
          <p:cNvPr id="28" name="Oval 27"/>
          <p:cNvSpPr/>
          <p:nvPr/>
        </p:nvSpPr>
        <p:spPr>
          <a:xfrm>
            <a:off x="8388693" y="3368485"/>
            <a:ext cx="961515" cy="961515"/>
          </a:xfrm>
          <a:prstGeom prst="ellipse">
            <a:avLst/>
          </a:prstGeom>
          <a:solidFill>
            <a:srgbClr val="FFFFFF"/>
          </a:solidFill>
          <a:ln w="28575">
            <a:solidFill>
              <a:srgbClr val="13294B"/>
            </a:solidFill>
          </a:ln>
        </p:spPr>
        <p:txBody>
          <a:bodyPr rtlCol="0" anchor="ctr"/>
          <a:lstStyle/>
          <a:p>
            <a:pPr algn="ctr"/>
          </a:p>
        </p:txBody>
      </p:sp>
      <p:pic>
        <p:nvPicPr>
          <p:cNvPr id="29" name="아이콘:file-check" descr="file-check_13294B_1.6.png"/>
          <p:cNvPicPr>
            <a:picLocks noChangeAspect="1"/>
          </p:cNvPicPr>
          <p:nvPr/>
        </p:nvPicPr>
        <p:blipFill>
          <a:blip r:embed="rId7"/>
          <a:stretch>
            <a:fillRect/>
          </a:stretch>
        </p:blipFill>
        <p:spPr>
          <a:xfrm>
            <a:off x="8619457" y="3599248"/>
            <a:ext cx="499988" cy="499988"/>
          </a:xfrm>
          <a:prstGeom prst="rect">
            <a:avLst/>
          </a:prstGeom>
        </p:spPr>
      </p:pic>
      <p:sp>
        <p:nvSpPr>
          <p:cNvPr id="30" name="TextBox 29"/>
          <p:cNvSpPr txBox="1"/>
          <p:nvPr/>
        </p:nvSpPr>
        <p:spPr>
          <a:xfrm>
            <a:off x="8036356" y="4467160"/>
            <a:ext cx="1666189" cy="878585"/>
          </a:xfrm>
          <a:prstGeom prst="rect">
            <a:avLst/>
          </a:prstGeom>
          <a:noFill/>
        </p:spPr>
        <p:txBody>
          <a:bodyPr wrap="square" anchor="t"/>
          <a:lstStyle/>
          <a:p>
            <a:pPr algn="ctr">
              <a:lnSpc>
                <a:spcPct val="110000"/>
              </a:lnSpc>
              <a:spcAft>
                <a:spcPts val="400"/>
              </a:spcAft>
            </a:pPr>
            <a:r>
              <a:rPr sz="1500" b="1">
                <a:solidFill>
                  <a:srgbClr val="13294B"/>
                </a:solidFill>
                <a:latin typeface="맑은 고딕"/>
                <a:ea typeface="맑은 고딕"/>
                <a:cs typeface="맑은 고딕"/>
              </a:rPr>
              <a:t>SDD</a:t>
            </a:r>
          </a:p>
          <a:p>
            <a:pPr algn="ctr">
              <a:lnSpc>
                <a:spcPct val="110000"/>
              </a:lnSpc>
              <a:spcAft>
                <a:spcPts val="400"/>
              </a:spcAft>
            </a:pPr>
            <a:r>
              <a:rPr sz="1200" b="0">
                <a:solidFill>
                  <a:srgbClr val="1F2A3A"/>
                </a:solidFill>
                <a:latin typeface="맑은 고딕"/>
                <a:ea typeface="맑은 고딕"/>
                <a:cs typeface="맑은 고딕"/>
              </a:rPr>
              <a:t>지킬 것을</a:t>
            </a:r>
          </a:p>
          <a:p>
            <a:pPr algn="ctr">
              <a:lnSpc>
                <a:spcPct val="110000"/>
              </a:lnSpc>
              <a:spcAft>
                <a:spcPts val="400"/>
              </a:spcAft>
            </a:pPr>
            <a:r>
              <a:rPr sz="1200" b="0">
                <a:solidFill>
                  <a:srgbClr val="1F2A3A"/>
                </a:solidFill>
                <a:latin typeface="맑은 고딕"/>
                <a:ea typeface="맑은 고딕"/>
                <a:cs typeface="맑은 고딕"/>
              </a:rPr>
              <a:t>먼저 적어 둔다</a:t>
            </a:r>
          </a:p>
        </p:txBody>
      </p:sp>
      <p:sp>
        <p:nvSpPr>
          <p:cNvPr id="31" name="Oval 30"/>
          <p:cNvSpPr/>
          <p:nvPr/>
        </p:nvSpPr>
        <p:spPr>
          <a:xfrm>
            <a:off x="10237762" y="3368485"/>
            <a:ext cx="961515" cy="961515"/>
          </a:xfrm>
          <a:prstGeom prst="ellipse">
            <a:avLst/>
          </a:prstGeom>
          <a:solidFill>
            <a:srgbClr val="5CB8F2"/>
          </a:solidFill>
          <a:ln w="28575">
            <a:solidFill>
              <a:srgbClr val="13294B"/>
            </a:solidFill>
          </a:ln>
        </p:spPr>
        <p:txBody>
          <a:bodyPr rtlCol="0" anchor="ctr"/>
          <a:lstStyle/>
          <a:p>
            <a:pPr algn="ctr"/>
          </a:p>
        </p:txBody>
      </p:sp>
      <p:pic>
        <p:nvPicPr>
          <p:cNvPr id="32" name="아이콘:checklist" descr="checklist_13294B_1.6.png"/>
          <p:cNvPicPr>
            <a:picLocks noChangeAspect="1"/>
          </p:cNvPicPr>
          <p:nvPr/>
        </p:nvPicPr>
        <p:blipFill>
          <a:blip r:embed="rId8"/>
          <a:stretch>
            <a:fillRect/>
          </a:stretch>
        </p:blipFill>
        <p:spPr>
          <a:xfrm>
            <a:off x="10468526" y="3599248"/>
            <a:ext cx="499988" cy="499988"/>
          </a:xfrm>
          <a:prstGeom prst="rect">
            <a:avLst/>
          </a:prstGeom>
        </p:spPr>
      </p:pic>
      <p:sp>
        <p:nvSpPr>
          <p:cNvPr id="33" name="TextBox 32"/>
          <p:cNvSpPr txBox="1"/>
          <p:nvPr/>
        </p:nvSpPr>
        <p:spPr>
          <a:xfrm>
            <a:off x="9885426" y="4467160"/>
            <a:ext cx="1666189" cy="878585"/>
          </a:xfrm>
          <a:prstGeom prst="rect">
            <a:avLst/>
          </a:prstGeom>
          <a:noFill/>
        </p:spPr>
        <p:txBody>
          <a:bodyPr wrap="square" anchor="t"/>
          <a:lstStyle/>
          <a:p>
            <a:pPr algn="ctr">
              <a:lnSpc>
                <a:spcPct val="110000"/>
              </a:lnSpc>
              <a:spcAft>
                <a:spcPts val="400"/>
              </a:spcAft>
            </a:pPr>
            <a:r>
              <a:rPr sz="1500" b="1">
                <a:solidFill>
                  <a:srgbClr val="13294B"/>
                </a:solidFill>
                <a:latin typeface="맑은 고딕"/>
                <a:ea typeface="맑은 고딕"/>
                <a:cs typeface="맑은 고딕"/>
              </a:rPr>
              <a:t>BDD</a:t>
            </a:r>
          </a:p>
          <a:p>
            <a:pPr algn="ctr">
              <a:lnSpc>
                <a:spcPct val="110000"/>
              </a:lnSpc>
              <a:spcAft>
                <a:spcPts val="400"/>
              </a:spcAft>
            </a:pPr>
            <a:r>
              <a:rPr sz="1200" b="0">
                <a:solidFill>
                  <a:srgbClr val="1F2A3A"/>
                </a:solidFill>
                <a:latin typeface="맑은 고딕"/>
                <a:ea typeface="맑은 고딕"/>
                <a:cs typeface="맑은 고딕"/>
              </a:rPr>
              <a:t>적은 대로 하는지</a:t>
            </a:r>
          </a:p>
          <a:p>
            <a:pPr algn="ctr">
              <a:lnSpc>
                <a:spcPct val="110000"/>
              </a:lnSpc>
              <a:spcAft>
                <a:spcPts val="400"/>
              </a:spcAft>
            </a:pPr>
            <a:r>
              <a:rPr sz="1200" b="0">
                <a:solidFill>
                  <a:srgbClr val="1F2A3A"/>
                </a:solidFill>
                <a:latin typeface="맑은 고딕"/>
                <a:ea typeface="맑은 고딕"/>
                <a:cs typeface="맑은 고딕"/>
              </a:rPr>
              <a:t>실행으로 확인한다</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정리: 믿고 쓸 수 있는 에이전트의 근거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에이전트를 믿고 쓰는 근거는 적어 둔 기준과, 바꿀 때마다 그 기준을 다시 통과한 실행의 기록이다.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56</a:t>
            </a:r>
          </a:p>
        </p:txBody>
      </p:sp>
      <p:sp>
        <p:nvSpPr>
          <p:cNvPr id="6" name="Rounded Rectangle 5"/>
          <p:cNvSpPr/>
          <p:nvPr/>
        </p:nvSpPr>
        <p:spPr>
          <a:xfrm>
            <a:off x="548640" y="2671318"/>
            <a:ext cx="11094415" cy="1371600"/>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822959" y="2671318"/>
            <a:ext cx="10545775" cy="137160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정한 것을 적어 두고,</a:t>
            </a:r>
          </a:p>
          <a:p>
            <a:pPr algn="ctr">
              <a:lnSpc>
                <a:spcPct val="110000"/>
              </a:lnSpc>
            </a:pPr>
            <a:r>
              <a:rPr sz="2600" b="1">
                <a:solidFill>
                  <a:srgbClr val="13294B"/>
                </a:solidFill>
                <a:latin typeface="맑은 고딕"/>
                <a:ea typeface="맑은 고딕"/>
                <a:cs typeface="맑은 고딕"/>
              </a:rPr>
              <a:t>그대로 행동하는지 실행으로 확인한다</a:t>
            </a:r>
          </a:p>
        </p:txBody>
      </p:sp>
      <p:sp>
        <p:nvSpPr>
          <p:cNvPr id="8" name="Oval 7"/>
          <p:cNvSpPr/>
          <p:nvPr/>
        </p:nvSpPr>
        <p:spPr>
          <a:xfrm>
            <a:off x="548640" y="4408678"/>
            <a:ext cx="731520" cy="731520"/>
          </a:xfrm>
          <a:prstGeom prst="ellipse">
            <a:avLst/>
          </a:prstGeom>
          <a:solidFill>
            <a:srgbClr val="E7F3FD"/>
          </a:solidFill>
          <a:ln>
            <a:noFill/>
          </a:ln>
        </p:spPr>
        <p:txBody>
          <a:bodyPr rtlCol="0" anchor="ctr"/>
          <a:lstStyle/>
          <a:p>
            <a:pPr algn="ctr"/>
          </a:p>
        </p:txBody>
      </p:sp>
      <p:pic>
        <p:nvPicPr>
          <p:cNvPr id="9" name="아이콘:file-text" descr="file-text_13294B_1.6.png"/>
          <p:cNvPicPr>
            <a:picLocks noChangeAspect="1"/>
          </p:cNvPicPr>
          <p:nvPr/>
        </p:nvPicPr>
        <p:blipFill>
          <a:blip r:embed="rId3"/>
          <a:stretch>
            <a:fillRect/>
          </a:stretch>
        </p:blipFill>
        <p:spPr>
          <a:xfrm>
            <a:off x="702259" y="4562297"/>
            <a:ext cx="424281" cy="424281"/>
          </a:xfrm>
          <a:prstGeom prst="rect">
            <a:avLst/>
          </a:prstGeom>
        </p:spPr>
      </p:pic>
      <p:sp>
        <p:nvSpPr>
          <p:cNvPr id="10" name="TextBox 9"/>
          <p:cNvSpPr txBox="1"/>
          <p:nvPr/>
        </p:nvSpPr>
        <p:spPr>
          <a:xfrm>
            <a:off x="1371600" y="4362958"/>
            <a:ext cx="2692298" cy="1085596"/>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적어 둔 기준</a:t>
            </a:r>
          </a:p>
          <a:p>
            <a:pPr algn="l">
              <a:lnSpc>
                <a:spcPct val="110000"/>
              </a:lnSpc>
              <a:spcAft>
                <a:spcPts val="400"/>
              </a:spcAft>
            </a:pPr>
            <a:r>
              <a:rPr sz="1400" b="0">
                <a:solidFill>
                  <a:srgbClr val="1F2A3A"/>
                </a:solidFill>
                <a:latin typeface="맑은 고딕"/>
                <a:ea typeface="맑은 고딕"/>
                <a:cs typeface="맑은 고딕"/>
              </a:rPr>
              <a:t>목표, 스킬, 명세</a:t>
            </a:r>
          </a:p>
        </p:txBody>
      </p:sp>
      <p:sp>
        <p:nvSpPr>
          <p:cNvPr id="11" name="Oval 10"/>
          <p:cNvSpPr/>
          <p:nvPr/>
        </p:nvSpPr>
        <p:spPr>
          <a:xfrm>
            <a:off x="4338218" y="4408678"/>
            <a:ext cx="731520" cy="731520"/>
          </a:xfrm>
          <a:prstGeom prst="ellipse">
            <a:avLst/>
          </a:prstGeom>
          <a:solidFill>
            <a:srgbClr val="E7F3FD"/>
          </a:solidFill>
          <a:ln>
            <a:noFill/>
          </a:ln>
        </p:spPr>
        <p:txBody>
          <a:bodyPr rtlCol="0" anchor="ctr"/>
          <a:lstStyle/>
          <a:p>
            <a:pPr algn="ctr"/>
          </a:p>
        </p:txBody>
      </p:sp>
      <p:pic>
        <p:nvPicPr>
          <p:cNvPr id="12" name="아이콘:shield-check" descr="shield-check_13294B_1.6.png"/>
          <p:cNvPicPr>
            <a:picLocks noChangeAspect="1"/>
          </p:cNvPicPr>
          <p:nvPr/>
        </p:nvPicPr>
        <p:blipFill>
          <a:blip r:embed="rId4"/>
          <a:stretch>
            <a:fillRect/>
          </a:stretch>
        </p:blipFill>
        <p:spPr>
          <a:xfrm>
            <a:off x="4491837" y="4562297"/>
            <a:ext cx="424281" cy="424281"/>
          </a:xfrm>
          <a:prstGeom prst="rect">
            <a:avLst/>
          </a:prstGeom>
        </p:spPr>
      </p:pic>
      <p:sp>
        <p:nvSpPr>
          <p:cNvPr id="13" name="TextBox 12"/>
          <p:cNvSpPr txBox="1"/>
          <p:nvPr/>
        </p:nvSpPr>
        <p:spPr>
          <a:xfrm>
            <a:off x="5161178" y="4362958"/>
            <a:ext cx="2692298" cy="1085596"/>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실행 중의 방어</a:t>
            </a:r>
          </a:p>
          <a:p>
            <a:pPr algn="l">
              <a:lnSpc>
                <a:spcPct val="110000"/>
              </a:lnSpc>
              <a:spcAft>
                <a:spcPts val="400"/>
              </a:spcAft>
            </a:pPr>
            <a:r>
              <a:rPr sz="1400" b="0">
                <a:solidFill>
                  <a:srgbClr val="1F2A3A"/>
                </a:solidFill>
                <a:latin typeface="맑은 고딕"/>
                <a:ea typeface="맑은 고딕"/>
                <a:cs typeface="맑은 고딕"/>
              </a:rPr>
              <a:t>출력 계약의 검사, 사람의 승인</a:t>
            </a:r>
          </a:p>
        </p:txBody>
      </p:sp>
      <p:sp>
        <p:nvSpPr>
          <p:cNvPr id="14" name="Oval 13"/>
          <p:cNvSpPr/>
          <p:nvPr/>
        </p:nvSpPr>
        <p:spPr>
          <a:xfrm>
            <a:off x="8127796" y="4408678"/>
            <a:ext cx="731520" cy="731520"/>
          </a:xfrm>
          <a:prstGeom prst="ellipse">
            <a:avLst/>
          </a:prstGeom>
          <a:solidFill>
            <a:srgbClr val="E7F3FD"/>
          </a:solidFill>
          <a:ln>
            <a:noFill/>
          </a:ln>
        </p:spPr>
        <p:txBody>
          <a:bodyPr rtlCol="0" anchor="ctr"/>
          <a:lstStyle/>
          <a:p>
            <a:pPr algn="ctr"/>
          </a:p>
        </p:txBody>
      </p:sp>
      <p:pic>
        <p:nvPicPr>
          <p:cNvPr id="15" name="아이콘:repeat" descr="repeat_13294B_1.6.png"/>
          <p:cNvPicPr>
            <a:picLocks noChangeAspect="1"/>
          </p:cNvPicPr>
          <p:nvPr/>
        </p:nvPicPr>
        <p:blipFill>
          <a:blip r:embed="rId5"/>
          <a:stretch>
            <a:fillRect/>
          </a:stretch>
        </p:blipFill>
        <p:spPr>
          <a:xfrm>
            <a:off x="8281416" y="4562297"/>
            <a:ext cx="424281" cy="424281"/>
          </a:xfrm>
          <a:prstGeom prst="rect">
            <a:avLst/>
          </a:prstGeom>
        </p:spPr>
      </p:pic>
      <p:sp>
        <p:nvSpPr>
          <p:cNvPr id="16" name="TextBox 15"/>
          <p:cNvSpPr txBox="1"/>
          <p:nvPr/>
        </p:nvSpPr>
        <p:spPr>
          <a:xfrm>
            <a:off x="8950756" y="4362958"/>
            <a:ext cx="2692298" cy="1085596"/>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되풀이한 확인</a:t>
            </a:r>
          </a:p>
          <a:p>
            <a:pPr algn="l">
              <a:lnSpc>
                <a:spcPct val="110000"/>
              </a:lnSpc>
              <a:spcAft>
                <a:spcPts val="400"/>
              </a:spcAft>
            </a:pPr>
            <a:r>
              <a:rPr sz="1400" b="0">
                <a:solidFill>
                  <a:srgbClr val="1F2A3A"/>
                </a:solidFill>
                <a:latin typeface="맑은 고딕"/>
                <a:ea typeface="맑은 고딕"/>
                <a:cs typeface="맑은 고딕"/>
              </a:rPr>
              <a:t>시나리오와 회귀 시험</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약어와 영문 용어의 정식 명칭, 그리고 그 용어가 에이전트를 믿고 쓰는 데에서 맡은 자리를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57</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정식 명칭</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맡은 자리</a:t>
            </a:r>
          </a:p>
        </p:txBody>
      </p:sp>
      <p:sp>
        <p:nvSpPr>
          <p:cNvPr id="10" name="Rounded Rectangle 9"/>
          <p:cNvSpPr/>
          <p:nvPr/>
        </p:nvSpPr>
        <p:spPr>
          <a:xfrm>
            <a:off x="548640" y="2061972"/>
            <a:ext cx="11094415" cy="553865"/>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617873"/>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HITL</a:t>
            </a:r>
          </a:p>
        </p:txBody>
      </p:sp>
      <p:sp>
        <p:nvSpPr>
          <p:cNvPr id="12" name="TextBox 11"/>
          <p:cNvSpPr txBox="1"/>
          <p:nvPr/>
        </p:nvSpPr>
        <p:spPr>
          <a:xfrm>
            <a:off x="3200400" y="2029968"/>
            <a:ext cx="6156655" cy="617873"/>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Human-in-the-Loop</a:t>
            </a:r>
          </a:p>
        </p:txBody>
      </p:sp>
      <p:sp>
        <p:nvSpPr>
          <p:cNvPr id="13" name="TextBox 12"/>
          <p:cNvSpPr txBox="1"/>
          <p:nvPr/>
        </p:nvSpPr>
        <p:spPr>
          <a:xfrm>
            <a:off x="9448495" y="2029968"/>
            <a:ext cx="2103120" cy="617873"/>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정해진 지점에 넣는 사람의 결정</a:t>
            </a:r>
          </a:p>
        </p:txBody>
      </p:sp>
      <p:sp>
        <p:nvSpPr>
          <p:cNvPr id="14" name="Rounded Rectangle 13"/>
          <p:cNvSpPr/>
          <p:nvPr/>
        </p:nvSpPr>
        <p:spPr>
          <a:xfrm>
            <a:off x="548640" y="2679845"/>
            <a:ext cx="11094415" cy="553865"/>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647841"/>
            <a:ext cx="2514600" cy="617873"/>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가드레일</a:t>
            </a:r>
          </a:p>
        </p:txBody>
      </p:sp>
      <p:sp>
        <p:nvSpPr>
          <p:cNvPr id="16" name="TextBox 15"/>
          <p:cNvSpPr txBox="1"/>
          <p:nvPr/>
        </p:nvSpPr>
        <p:spPr>
          <a:xfrm>
            <a:off x="3200400" y="2647841"/>
            <a:ext cx="6156655" cy="617873"/>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Guardrail</a:t>
            </a:r>
          </a:p>
        </p:txBody>
      </p:sp>
      <p:sp>
        <p:nvSpPr>
          <p:cNvPr id="17" name="TextBox 16"/>
          <p:cNvSpPr txBox="1"/>
          <p:nvPr/>
        </p:nvSpPr>
        <p:spPr>
          <a:xfrm>
            <a:off x="9448495" y="2647841"/>
            <a:ext cx="2103120" cy="617873"/>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승인 대기로 가기 전의 자동 검사</a:t>
            </a:r>
          </a:p>
        </p:txBody>
      </p:sp>
      <p:sp>
        <p:nvSpPr>
          <p:cNvPr id="18" name="Rounded Rectangle 17"/>
          <p:cNvSpPr/>
          <p:nvPr/>
        </p:nvSpPr>
        <p:spPr>
          <a:xfrm>
            <a:off x="548640" y="3297718"/>
            <a:ext cx="11094415" cy="553865"/>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265714"/>
            <a:ext cx="2514600" cy="617873"/>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SDD</a:t>
            </a:r>
          </a:p>
        </p:txBody>
      </p:sp>
      <p:sp>
        <p:nvSpPr>
          <p:cNvPr id="20" name="TextBox 19"/>
          <p:cNvSpPr txBox="1"/>
          <p:nvPr/>
        </p:nvSpPr>
        <p:spPr>
          <a:xfrm>
            <a:off x="3200400" y="3265714"/>
            <a:ext cx="6156655" cy="617873"/>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Spec-Driven Development</a:t>
            </a:r>
          </a:p>
        </p:txBody>
      </p:sp>
      <p:sp>
        <p:nvSpPr>
          <p:cNvPr id="21" name="TextBox 20"/>
          <p:cNvSpPr txBox="1"/>
          <p:nvPr/>
        </p:nvSpPr>
        <p:spPr>
          <a:xfrm>
            <a:off x="9448495" y="3265714"/>
            <a:ext cx="2103120" cy="617873"/>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변경 전에 먼저 고치는 명세</a:t>
            </a:r>
          </a:p>
        </p:txBody>
      </p:sp>
      <p:sp>
        <p:nvSpPr>
          <p:cNvPr id="22" name="Rounded Rectangle 21"/>
          <p:cNvSpPr/>
          <p:nvPr/>
        </p:nvSpPr>
        <p:spPr>
          <a:xfrm>
            <a:off x="548640" y="3915591"/>
            <a:ext cx="11094415" cy="553865"/>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3883587"/>
            <a:ext cx="2514600" cy="617873"/>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수용 기준</a:t>
            </a:r>
          </a:p>
        </p:txBody>
      </p:sp>
      <p:sp>
        <p:nvSpPr>
          <p:cNvPr id="24" name="TextBox 23"/>
          <p:cNvSpPr txBox="1"/>
          <p:nvPr/>
        </p:nvSpPr>
        <p:spPr>
          <a:xfrm>
            <a:off x="3200400" y="3883587"/>
            <a:ext cx="6156655" cy="617873"/>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Acceptance Criteria</a:t>
            </a:r>
          </a:p>
        </p:txBody>
      </p:sp>
      <p:sp>
        <p:nvSpPr>
          <p:cNvPr id="25" name="TextBox 24"/>
          <p:cNvSpPr txBox="1"/>
          <p:nvPr/>
        </p:nvSpPr>
        <p:spPr>
          <a:xfrm>
            <a:off x="9448495" y="3883587"/>
            <a:ext cx="2103120" cy="617873"/>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다 되었는지를 가르는 조건</a:t>
            </a:r>
          </a:p>
        </p:txBody>
      </p:sp>
      <p:sp>
        <p:nvSpPr>
          <p:cNvPr id="26" name="Rounded Rectangle 25"/>
          <p:cNvSpPr/>
          <p:nvPr/>
        </p:nvSpPr>
        <p:spPr>
          <a:xfrm>
            <a:off x="548640" y="4533464"/>
            <a:ext cx="11094415" cy="553865"/>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501460"/>
            <a:ext cx="2514600" cy="617873"/>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BDD</a:t>
            </a:r>
          </a:p>
        </p:txBody>
      </p:sp>
      <p:sp>
        <p:nvSpPr>
          <p:cNvPr id="28" name="TextBox 27"/>
          <p:cNvSpPr txBox="1"/>
          <p:nvPr/>
        </p:nvSpPr>
        <p:spPr>
          <a:xfrm>
            <a:off x="3200400" y="4501460"/>
            <a:ext cx="6156655" cy="617873"/>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Behavior-Driven Development</a:t>
            </a:r>
          </a:p>
        </p:txBody>
      </p:sp>
      <p:sp>
        <p:nvSpPr>
          <p:cNvPr id="29" name="TextBox 28"/>
          <p:cNvSpPr txBox="1"/>
          <p:nvPr/>
        </p:nvSpPr>
        <p:spPr>
          <a:xfrm>
            <a:off x="9448495" y="4501460"/>
            <a:ext cx="2103120" cy="617873"/>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시나리오로 행동 확인</a:t>
            </a:r>
          </a:p>
        </p:txBody>
      </p:sp>
      <p:sp>
        <p:nvSpPr>
          <p:cNvPr id="30" name="Rounded Rectangle 29"/>
          <p:cNvSpPr/>
          <p:nvPr/>
        </p:nvSpPr>
        <p:spPr>
          <a:xfrm>
            <a:off x="548640" y="5151337"/>
            <a:ext cx="11094415" cy="553865"/>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119333"/>
            <a:ext cx="2514600" cy="617873"/>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Gherkin</a:t>
            </a:r>
          </a:p>
        </p:txBody>
      </p:sp>
      <p:sp>
        <p:nvSpPr>
          <p:cNvPr id="32" name="TextBox 31"/>
          <p:cNvSpPr txBox="1"/>
          <p:nvPr/>
        </p:nvSpPr>
        <p:spPr>
          <a:xfrm>
            <a:off x="3200400" y="5119333"/>
            <a:ext cx="6156655" cy="617873"/>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Given · When · Then 서식</a:t>
            </a:r>
          </a:p>
        </p:txBody>
      </p:sp>
      <p:sp>
        <p:nvSpPr>
          <p:cNvPr id="33" name="TextBox 32"/>
          <p:cNvSpPr txBox="1"/>
          <p:nvPr/>
        </p:nvSpPr>
        <p:spPr>
          <a:xfrm>
            <a:off x="9448495" y="5119333"/>
            <a:ext cx="2103120" cy="617873"/>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시나리오를 적는 서식</a:t>
            </a:r>
          </a:p>
        </p:txBody>
      </p:sp>
      <p:sp>
        <p:nvSpPr>
          <p:cNvPr id="34" name="Rounded Rectangle 33"/>
          <p:cNvSpPr/>
          <p:nvPr/>
        </p:nvSpPr>
        <p:spPr>
          <a:xfrm>
            <a:off x="548640" y="5769210"/>
            <a:ext cx="11094415" cy="553865"/>
          </a:xfrm>
          <a:prstGeom prst="roundRect">
            <a:avLst>
              <a:gd name="adj" fmla="val 8000"/>
            </a:avLst>
          </a:prstGeom>
          <a:solidFill>
            <a:srgbClr val="F3F6F9"/>
          </a:solidFill>
          <a:ln>
            <a:noFill/>
          </a:ln>
        </p:spPr>
        <p:txBody>
          <a:bodyPr rtlCol="0" anchor="ctr"/>
          <a:lstStyle/>
          <a:p>
            <a:pPr algn="ctr"/>
          </a:p>
        </p:txBody>
      </p:sp>
      <p:sp>
        <p:nvSpPr>
          <p:cNvPr id="35" name="TextBox 34"/>
          <p:cNvSpPr txBox="1"/>
          <p:nvPr/>
        </p:nvSpPr>
        <p:spPr>
          <a:xfrm>
            <a:off x="685800" y="5737206"/>
            <a:ext cx="2514600" cy="617873"/>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회귀 시험</a:t>
            </a:r>
          </a:p>
        </p:txBody>
      </p:sp>
      <p:sp>
        <p:nvSpPr>
          <p:cNvPr id="36" name="TextBox 35"/>
          <p:cNvSpPr txBox="1"/>
          <p:nvPr/>
        </p:nvSpPr>
        <p:spPr>
          <a:xfrm>
            <a:off x="3200400" y="5737206"/>
            <a:ext cx="6156655" cy="617873"/>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Regression Test</a:t>
            </a:r>
          </a:p>
        </p:txBody>
      </p:sp>
      <p:sp>
        <p:nvSpPr>
          <p:cNvPr id="37" name="TextBox 36"/>
          <p:cNvSpPr txBox="1"/>
          <p:nvPr/>
        </p:nvSpPr>
        <p:spPr>
          <a:xfrm>
            <a:off x="9448495" y="5737206"/>
            <a:ext cx="2103120" cy="617873"/>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변경 뒤의 재실행</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배운 내용을 바탕으로 정답을 맞혀 보세요.</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1. 조치를 실행해도 되는 근거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추천안이 가드레일을 통과했고, 검토를 맡은 다른 에이전트도 근거와 수량에 빠진 것이 없다는 의견을 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59</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조치를 실행해도 된다는 근거가 되는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추천안이 가드레일을 통과했다는 사실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검토 에이전트가 낸 문제없다는 의견</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통과와 검토 의견이 모두 갖추어졌다는 사실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승인 역할의 담당자가 승인했다는 기록</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2. 수용 기준이 되는 문장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「긴급한 경보는 빨리 처리되게 해 주세요」라는 요청을 명세로 옮기면서 수용 기준을 적으려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60</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수용 기준으로 알맞은 문장은?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긴급한 경보는 일반 경보보다 눈에 띄게 빨리 처리된다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긴급한 경보의 추천안은 상황에 맞는 조치를 담고 있다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긴급하지 않은 경보의 결과 다섯 항목은 변경 전과 같다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긴급한 경보에서는 승인 절차가 알맞게 간소화된다</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3. 새 시나리오만 통과한 변경</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긴급 조건을 더한 뒤 긴급 시나리오는 통과했고, 일반 요청과 거절의 시나리오는 아직 다시 실행하지 않았다.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61</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지금 내릴 수 있는 판단은?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기존 시나리오를 모두 다시 실행한 뒤에 판단한다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긴급 시나리오를 열 번 더 실행해 평균을 본다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새 기능이 통과했으므로 변경을 내보낸다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일반 요청의 기대값을 긴급 조건에 맞추어 고친다</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문항은 검토와 승인, 판정할 수 있는 문장과 없는 문장, 통과가 알려 주는 범위를 구분하는지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62</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가드레일과 AI의 검토는 올려도 되는지를 확인할 뿐이다. 실행해도 된다는 결정은 사람의 승인에서만 나온다.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4번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변경 전과 후의 결과를 대조하면 참과 거짓이 정해지는 문장이다. 나머지는 판정할 기준이 없다.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3번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새 시나리오의 통과는 새 행동만 알려 준다. 기존 행동은 기존 시나리오를 다시 실행해야 확인된다.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1번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