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회차에서 할 일은 네 가지입니다. 먼저 자동으로 처리하는 일과 사람이 결정하는 일을 가르고, 사람이 끼어드는 자리를 찾습니다. 이어서 누가 승인할 수 있는지와 무엇이 기록되는지, 자동 검사와 사람의 승인이 어떻게 다른지를 봅니다. 마지막으로 에이전트에 새 요구가 붙을 때 명세를 먼저 써서 기존 기능을 지키는 방법을 다룹니다.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에이전트가 추천안을 낸 다음 장면에서 출발합니다. 추천안이 올라온 뒤 누가 무엇을 결정하는지, 결정하지 않으면 어떻게 되는지를 봅니다. 이어서 에이전트가 일하는 도중에 사람이 끼어드는 자리까지 넓혀 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사건에서 에이전트가 낸 추천안은 승인을 기다리는 상태로 담당자에게 올라갔습니다. 약 13초 뒤인 11시 14분 56초에 운전원이 승인했고, 1초 뒤에 팬 속도 명령이 만들어졌습니다. 아래 갈래는 같은 자리에서 거절했다면 갔을 길로, 명령 없이 닫히고 사유가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왼쪽의 조회와 계산은 틀려도 다시 하면 되고 설비는 그대로입니다. 오른쪽의 설비 명령과 작업지시는 실행하는 순간 현장이 달라지고, 그 결과를 책임질 사람이 있어야 합니다. HITL은 이 경계를 정해 두고, 경계를 넘는 결정은 정해진 사람이 내리게 하는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위의 띠는 처리의 구간이고, 아래의 세 장면이 사람이 개입하는 자리입니다. 왼쪽 둘은 에이전트가 일하는 동안에 생깁니다. 필요한 정보가 없어 에이전트가 묻는 경우와, 한도를 넘겨 멈춘 작업을 사람이 닫는 경우입니다. 오른쪽은 추천안이 나온 뒤 실행하기 전에 담당자가 승인하거나 거절하는 단계입니다.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건은 경보 하나가 열어 끝날 때까지 이어지는 업무 한 건입니다. 쿨러 사건에서는 승인 뒤 팬 속도 명령, 재관측, 작업지시가 차례로 이어졌습니다. 거절은 사유를 적어야 받아들여지고, 설비 명령도 업무 처리도 메일도 만들어지지 않습니다. 결과 보고에는 누가 왜 거절했는지와 명령을 내지 않았다는 사실이 남고, 사건도 닫힙니다.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승인도 거절도 하지 않는 경우입니다. 기한 10분이 지나도록 응답이 없으면 「승인 대기 중, 승인하거나 거절할 때까지 기다립니다」라는 알림이 나갑니다. 알림 뒤에도 승인 작업은 닫히지 않고, 시스템이 대신 승인하거나 거절하지도 않습니다. 담당자가 뒤늦게 승인하면 정상으로 처리됩니다.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에이전트가 사람에게 묻는 실제 장면입니다. 조회할 설비가 요청에 없자 에이전트는 설비를 짐작하지 않고 선택지를 붙여 묻고 멈췄습니다. 담당자가 HYD-02라고 답하자 처음부터 다시 하지 않고 멈춘 지점부터 이어서 업무 DB를 조회해 결과를 냈습니다. 한 질문에는 한 번만 답할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질문에는 쓰임의 한계가 있습니다. 요청에서 빠졌고 도구로도 확인할 수 없는 업무 정보는 묻습니다. 도구로 읽을 수 있는 값은 묻지 않고 조회해야 하며, 막힌 도구를 쓰게 해 달라거나 조치를 승인해 달라고 묻는 데 쓰면 안 됩니다. 담당자가 답에 진행하라고 적어도 실행 권한은 그대로이고 승인은 승인 단계에서만 일어납니다.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지금까지 본 기다림을 보류라는 말로 모아 봅니다. 첫째는 담당자가 아직 결정하지 않은 경우로, 승인 작업이 기다리고 있을 뿐입니다. 둘째는 근거가 모자라 에이전트가 결과를 내지 않고 멈춘 보류로, 담당자는 값을 새로 읽어 다시 평가하라고 요청하거나 닫습니다. 셋째는 에이전트의 질문이며 답하면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지점은 멈춘 작업을 닫는 일입니다. 실행 시간이나 형식 교정의 한도를 넘긴 에이전트 작업은 결과 없이 멈춘 채로 남고, 그대로 두면 처리 건이 끝나지 않습니다. 담당자가 기록을 읽고 사유를 적어 닫으면 그 작업은 취소로 기록됩니다. 이렇게 끝난 처리 건에는 조치가 완료되어 끝난 처리 건과 구분되도록 사람이 닫았다는 표시가 남습니다.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단원에서는 사람이 개입하는 자리를 찾았습니다. 이 단원에서는 그 자리에 설 수 있는 사람과, 그 사람의 결정이 남기는 기록을 봅니다. 승인 앞에 놓인 자동 검사와 AI의 검토가 승인과 어떻게 다른지도 가립니다.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누가 승인할 수 있는지는 조치마다 정해져 있습니다. 팬 최대 운전은 운전원이, 쿨러 핀 세척은 설비보전팀장이 승인 역할입니다. 시스템은 승인하는 사람이 내세운 역할의 구성원인지, 그 역할이 승인 역할이거나 더 높은 등급인지를 검사합니다. 둘 중 하나라도 맞지 않으면 승인이 받아들여지지 않고, 거절도 그 판단을 승인할 수 있는 역할만 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결정에는 책임이 따르므로 누가 결정했는지가 남아야 합니다. 승인하는 순간 시스템이 승인한 사람과 역할, 고른 안의 사본, 시각을 적고, 담당자가 추천안 그대로 골랐는지 다른 안을 골랐는지도 남깁니다. 이 항목들은 승인을 받은 시스템만 채울 수 있어서 에이전트가 자기 결과에 승인한 사람을 적어도 쓰이지 않습니다. 넷째 줄처럼 승인하는 순간의 유온과 운전 모드도 다시 읽어 함께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추천안이 나온 때와 승인하는 때 사이에도 설비는 움직입니다. 그래서 시스템은 승인된 안을 넘기기 전에 원천에서 지금의 값을 다시 읽어 규칙에 대 봅니다. 통과하면 명령과 작업지시로 넘기고, 그 사이 조건이 달라져 지금은 실행할 수 없으면 명령을 내지 않고 새 판단과 승인을 요구합니다. 사람의 승인은 지금의 조건에서 확인된 뒤에야 실행으로 이어집니다.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 앞에는 자동 검사가 하나 더 있습니다. 가드레일은 에이전트의 출력이 규칙을 지켰는지를 시스템이 검사하는 장치입니다. 추천안에서는 후보마다 고른 규칙이 인용되었는지, 참고용 절차가 실행할 안으로 섞이지 않았는지, 추천이 제외 규칙에 걸리지 않았는지, 승인 역할과 SOP 단계가 붙어 있는지를 봅니다. 하나라도 어기면 추천안은 제출되지 않아 담당자에게 올라가지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가드레일을 통과한 추천안은 승인을 기다리는 상태가 될 뿐, 승인된 것이 아닙니다. 가드레일은 형식과 규칙을 지켰는지를 보고, 지금 이 조치를 해도 되는지는 결정하지 않습니다. 에이전트가 자기 결과를 다시 살피거나 다른 에이전트가 검토해 문제없다고 하는 일도 승인이 아닙니다. 실행해도 된다는 결정은 승인 역할의 담당자만 내립니다.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처리 건과 내 작업함에서 승인을 기다리는 건을 열어 추천안과 승인 역할을 먼저 확인합니다. 권한 있는 역할로 승인하거나 사유를 적어 거절하고, 처리 기록에서 흐름 상태가 어떻게 바뀌었는지 읽습니다. 승인 역할이 아닌 역할로 결정하면 받아들여지지 않는 까닭도 설명합니다. 마지막에는 승인한 건과 거절한 건의 완성 기록을 나란히 놓고 차이를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부품 수량이나 긴급 사유, 승인권자가 빠진 요청을 에이전트에 주고, 그 값을 짐작해 채우지 않고 확인 질문을 내도록 바이브 코딩으로 고칩니다. 답을 넣으면 같은 요청을 다시 판단하게 하고, 질문 전과 답변 뒤의 상태를 기록으로 남깁니다. 결과 리뷰에서는 질문이 필요한 값만 물었는지, 답한 값만 반영했는지를 봅니다. 기존 온톨로지와 SOP는 다시 만들지 않고 그대로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작성 역할의 에이전트가 업무 요청의 초안을 만들고, 검토 역할의 에이전트가 근거와 수량과 승인 정보가 빠졌는지를 따로 검토합니다. 검토 의견에 따라 초안을 고쳐 수정본을 만듭니다. 마지막 줄이 이 실습의 요점으로, AI끼리의 검토 결과와 사람의 최종 승인 여부를 한 항목에 섞지 않습니다. 완성본에서는 두 항목이 어떻게 나뉘어 남는지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에이전트는 지금 잘 동작하고, 그 결과를 사람이 승인하는 자리도 정해져 있습니다. 여기에 새 요구 한 문장이 붙었을 때 무엇이 흔들릴 수 있는지에서 출발합니다. 요청을 그대로 AI에게 맡기는 방식과 그 방식이 남기는 빈자리를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사건을 처리한 에이전트에 현장에서 요구 하나가 들어왔다고 해 보겠습니다. 긴급한 경보는 빨리 처리되게 해 달라는 한 문장입니다. 뜻은 분명해 보이지만 어떤 경보가 긴급한지, 무엇을 바꾸어 빨라지게 하는지, 무엇은 건드리면 안 되는지가 적혀 있지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한 문장을 그대로 AI에게 주고 고쳐 달라고 하는 방식이 바이브 코딩입니다. 자연어로 요청하고 AI가 쓴 코드를 실행해 보며 다시 요청하는 방식이라 시작이 빠릅니다. 다만 요청에 적지 않은 부분은 AI가 그 자리에서 정합니다. 새로 만드는 작은 도구라면 괜찮지만, 결과를 읽는 쪽과 지킬 규칙이 이미 있는 에이전트에서는 그 빈자리가 문제가 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문장을 구현하려면 세 군데에서 해석이 갈립니다. 위는 출력 형식으로, 긴급 표시를 더하면서 기존 항목까지 손댈 수 있습니다. 가운데는 승인 조건으로, 빨리 처리하라는 말을 승인을 기다리지 말라는 뜻으로 읽을 수 있습니다. 아래는 기존 요청의 처리로, 긴급하지 않은 경보의 결과까지 달라질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 형식이 흔들리면 무슨 일이 생기는지를 봅니다. 에이전트의 결과는 혼자 쓰이지 않습니다. 형식 검사가 정해진 이름의 항목이 있는지 보고, 사건 기록이 진단 카드를 실어 승인할 수 있는 조치의 범위로 쓰고, 승인 화면이 판단 번호로 추천안을 찾아 담당자에게 보입니다. 긴급 표시를 넣으면서 이 이름 가운데 하나를 바꾸면 뒤의 단계가 그 항목을 찾지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모호한 요청으로 고친 결과가 반드시 틀리는 것은 아닙니다. 문제는 틀렸는지를 알 방법이 없다는 데 있습니다. 고친 사람은 대개 왼쪽처럼 새 기능만 실행해 보고 긴급 표시가 나오면 끝났다고 봅니다. 오른쪽의 세 가지는 무엇이 그대로여야 하는지 적어 둔 것이 없어서 실행해 볼 생각조차 하지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AI가 그때그때 정하게 두지 않으려면, 구현하기 전에 사람이 정해 두어야 합니다. 그 방식이 명세 주도 개발입니다. 정의와 바이브 코딩과의 차이, 명세에 무엇을 적는지를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해석이 갈리는 자리를 구현하기 전에 정해 두는 방식이 SDD이고, 우리말로는 명세 주도 개발이라고 합니다. 명세는 만들 것이 무엇을 받아 무엇을 내고 무엇을 하지 않는지를 적은 문서입니다. 사람은 이 문서로 무엇이 맞는지 판단하고, AI는 이 문서를 받아 구현합니다. 보통 프로젝트 안에 spec.md 같은 파일로 두고, 기능을 바꿀 때 코드보다 이 파일을 먼저 고칩니다.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방식의 차이는 AI를 쓰느냐가 아니라 순서입니다. 바이브 코딩은 요청 문장을 그대로 AI에게 주고, 해석은 AI가 그때그때 정합니다. SDD는 요청을 받으면 명세부터 고치고, 해석은 사람이 명세에서 정합니다. 구현은 두 경우 모두 AI에게 맡길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적는 것은 다섯 가지입니다. 요구사항은 무엇을 하고 이번에 무엇이 달라지는지를 적습니다. 입력 계약과 출력 계약은 무엇을 받고 무엇을 내는지를 항목과 형식으로 정합니다. 금지 조건은 어떤 요구가 더해져도 하지 않을 일이고, 수용 기준은 무엇이 확인되면 다 된 것으로 볼지입니다.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명세의 다섯 요소 가운데 요구사항을 뺀 넷을 쿨러 사건의 에이전트에서 실제로 찾아봅니다. 에이전트가 받는 입력과 내는 출력, 하지 않을 일, 다 되었는지를 가르는 조건입니다. 이 넷은 이미 시스템 안에서 일하고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계약은 데이터를 주는 쪽과 받는 쪽이 지키기로 한 항목과 형식입니다. 에이전트는 가운데에 있어서 계약이 둘입니다. 왼쪽의 입력 계약은 처리 건이 에이전트에게 주는 것을, 오른쪽의 출력 계약은 에이전트가 승인 화면과 뒤 단계에 내는 것을 정합니다. 어느 한쪽만 바꾸면 맞은편이 읽지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성능 저하 경보 한 건에서 에이전트가 실제로 받은 입력입니다. 같은 시나리오를 다시 돌린 실행의 기록이라 경보 번호가 앞의 사건과 다릅니다. 설비, 경보, 사건 번호의 세 항목이며 유온이나 냉각 효율 같은 값은 들어 있지 않습니다. 그런 값은 에이전트가 판단하는 순간 도구로 읽어 오므로, 입력 계약은 무엇에 대해 일할지만 정합니다.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출력 계약은 다섯 항목마다 이름, 형식, 뜻을 정합니다. 넷째 줄의 decision을 보면 그 안에 1순위로 추천하는 조치와 설명과 후보의 순서가 들어 있습니다. 이렇게 적혀 있으면 긴급 여부를 새 항목으로 더하는 것은 계약을 넓히는 변경이고, 추천 항목의 이름이나 뜻을 바꾸는 것은 계약을 깨는 변경이라는 구분이 생깁니다. 넓히면 기존에 읽던 쪽이 그대로 읽고, 깨면 더는 읽지 못합니다.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쿨러 사건의 에이전트가 읽는 작업 규칙에는 절대 금지라는 절이 따로 있습니다. 첫째 줄은 설비 명령과 업무 조치의 실행, 사람 대신 승인하는 일을 금지합니다. 둘째 줄은 지식과 규칙을 고치지 못하게 하고, 셋째 줄은 판단 제출이 승인이나 실행이 아니라는 점을 못 박습니다. 이 절은 원인을 가리고 조치를 견주는 업무의 절차와 따로 적혀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요구사항과 금지 조건을 따로 적는 까닭은 바뀌는 방식이 다르기 때문입니다. 요구사항은 해야 할 일이어서 변경 요청이 올 때마다 줄이 늘어납니다. 금지 조건은 어떤 요구가 더해져도 그대로 남습니다. 승인하기 전에는 어떤 조치도 실행하지 않는다는 줄이 명세에 있으면, 빨리 처리하라는 요구를 승인 생략으로 읽는 해석은 처음부터 막힙니다.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수용 기준은 구현이 요구를 채웠다고 받아들이는 조건이며, 실행해 보고 참인지 거짓인지를 가를 수 있는 문장으로 적습니다. 어떤 상황에서 어떤 결과가 나와야 하는지를 한 문장에 하나씩 적습니다. 구현하기 전에는 만들 것의 기준이 되고, 구현한 뒤에는 그대로 확인 항목이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왼쪽의 「거절이 잘 처리된다」는 실행해 보아도 잘 된 것인지 아닌지를 사람마다 다르게 봅니다. 오른쪽의 「거절하면 설비 명령이 0건이다」는 실행하고 명령의 수를 세면 참과 거짓이 정해집니다. 수용 기준을 쓸 때에는 그 문장이 세거나 대조해서 판정되는지를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앞에서 본 승인 단계의 동작은 우연히 그렇게 된 것이 아닙니다. 상황마다 확인되어야 하는 결과가 정해져 있고, 시험이 매번 같은 입력으로 그것을 확인합니다. 승인하면 누가 승인했는지가 기록되고 끝까지 처리되며, 거절하면 명령과 업무 처리가 0건입니다. 사유가 없거나 권한이 없는 거절은 받아들여지지 않고, 응답이 없으면 알림만 나가고 기다리며, 알림 뒤의 승인도 정상으로 처리됩니다.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계약과 금지 조건과 수용 기준을 실제 대상에서 확인했으니, 처음의 한 문장으로 돌아갑니다. 그 요청을 명세로 다시 쓰고, 명세를 기준으로 구현을 맡기고, 변경 뒤에 무엇을 다시 실행할지를 봅니다.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처음의 한 문장을 명세로 옮겨 본 예입니다. 요구사항은 긴급의 기준을 유온 60도 이상이라는 수치로 정했고, 출력 계약은 기존 다섯 항목을 그대로 두고 urgent라는 항목 하나를 더한다고 적었습니다. 금지 조건은 긴급 경보라도 승인 전에는 조치를 실행하지 않는다는 것이고, 수용 기준은 기존 경보와 긴급 경보의 기대 결과를 한 줄씩 적었습니다. 한 문장에서 갈렸던 해석을 AI가 아니라 명세가 정한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명세를 고치고, 그 명세를 AI에게 함께 주어 구현을 맡깁니다. 구현이 끝나면 수용 기준을 하나씩 실행해 참과 거짓을 가립니다. 거짓이 나왔을 때 구현이 명세와 다르면 구현을 고치고, 명세에 빠진 것이 있었다면 명세를 고칩니다. 어느 쪽이 틀렸는지를 가릴 기준이 문서로 있다는 점이 한 문장만 주었을 때와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명세에 적은 것은 실행되는 검사로 옮겨 둘 때 힘을 가집니다. 왼쪽은 같은 경보에 대한 추천안의 기대 결과를 저장해 두는 것으로, 변경 뒤의 결과가 달라지면 바로 드러나고 일부러 바꿀 때에만 근거와 함께 갱신합니다. 오른쪽은 기준 에이전트의 작업 규칙을 고정해 두는 것으로, 한 글자라도 달라지면 검사가 실패합니다.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구현을 마친 뒤에는 새 요청만이 아니라 기존 요청도 함께 다시 실행합니다. 기존 요청은 결과가 그대로여야 하고, 새 요청은 명세대로 달라져야 하며, 값을 읽지 못한 경우의 보류처럼 지켜야 할 동작도 그대로여야 합니다. 이때 쓴 입력과 기대 결과를 저장해 두면 다음 검증의 재료가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고치기 전 버전으로 기존 일반 요청을 실행해 출력을 남겨 둡니다. 그다음 긴급 정비 조건을 한두 문장의 모호한 요청으로 더하고, 일반 요청과 긴급 요청을 두 버전에 넣어 결과 항목과 승인 조건이 달라진 곳을 찾습니다. 달라진 곳이 없을 수도 있으며, 그때에는 실패를 지어내지 않고 두 버전의 동작을 있는 그대로 견줍니다.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앞 실습과 같은 프로젝트의 spec.md에 기존 일반 정비 처리, 긴급 조건, 값이 없을 때의 보류, 승인 없이 확정하지 않는다는 금지, 결과 형식과 수용 기준을 적습니다. 그 명세를 함께 주어 코드를 고친 다음 기존 일반 요청과 긴급 요청을 다시 실행하고, 수용 기준마다 참과 거짓을 가립니다. 끝으로 두 요청의 입력과 기대 결과를 저장해 다음 검증에 씁니다.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상황마다 무엇을 먼저 갈라야 하는지 말해 봅니다. 첫째는 사람이 아직 결정하지 않은 대기, 둘째는 업무 정보를 묻는 질문, 셋째는 자동 검사와 승인의 구분, 넷째는 출력 계약을 깨는 변경, 다섯째는 새 기능만 확인하고 기존 기능을 놓친 경우입니다. 각 상황에서 오른쪽의 근거를 어디서 찾는지까지 말할 수 있으면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용어의 정식 명칭과 뜻을 확인합니다. 영문 정식 명칭은 화면에 두고, 대본에서는 뜻을 짚습니다. 앞의 복습에서 가른 상황을 여기서 다시 풀지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검사와 AI의 검토와 사람의 승인을 구분하는지를 확인하는 책임 경계 문항입니다. 보기마다 그것이 무엇을 확인해 주는지, 실행의 결정까지 포함하는지를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에이전트의 질문과 사람의 승인 사이의 경계를 판단하는 시나리오 문항입니다. 담당자의 답에서 에이전트가 받아도 되는 것과 받을 수 없는 것을 갈라 봅니다.</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판정할 수 있는 문장을 가려내는 근거 구분 문항입니다. 보기마다 실행한 뒤에 무엇을 세거나 대조하면 참과 거짓이 정해지는지를 따져 봅니다.</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문항의 4번은 두 번 확인했다는 점에서 그럴듯하지만, 두 확인 모두 실행의 결정은 아닙니다. 둘째 문항의 1번은 답변을 승인으로 바꾸어 쓴 것이고, 3번은 시스템만 적는 기록을 에이전트가 채운 것이며, 2번은 빠진 값을 짐작으로 채운 것입니다. 셋째 문항의 1번은 얼마나 빨라야 하는지가 없어 판정할 수 없고, 4번은 금지 조건에 어긋납니다.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5.png"/><Relationship Id="rId6"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22.png"/><Relationship Id="rId5"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image" Target="../media/image30.png"/><Relationship Id="rId6" Type="http://schemas.openxmlformats.org/officeDocument/2006/relationships/image" Target="../media/image3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2.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7.png"/><Relationship Id="rId4"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5.png"/><Relationship Id="rId4" Type="http://schemas.openxmlformats.org/officeDocument/2006/relationships/image" Target="../media/image2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8.png"/><Relationship Id="rId4" Type="http://schemas.openxmlformats.org/officeDocument/2006/relationships/image" Target="../media/image39.png"/><Relationship Id="rId5" Type="http://schemas.openxmlformats.org/officeDocument/2006/relationships/image" Target="../media/image29.png"/><Relationship Id="rId6" Type="http://schemas.openxmlformats.org/officeDocument/2006/relationships/image" Target="../media/image4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41.png"/><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0.png"/><Relationship Id="rId4" Type="http://schemas.openxmlformats.org/officeDocument/2006/relationships/image" Target="../media/image42.png"/><Relationship Id="rId5" Type="http://schemas.openxmlformats.org/officeDocument/2006/relationships/image" Target="../media/image1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457200" y="841248"/>
            <a:ext cx="8229600" cy="457200"/>
          </a:xfrm>
          <a:prstGeom prst="rect">
            <a:avLst/>
          </a:prstGeom>
          <a:noFill/>
        </p:spPr>
        <p:txBody>
          <a:bodyPr wrap="square" anchor="t"/>
          <a:lstStyle/>
          <a:p>
            <a:pPr algn="l" eaLnBrk="0">
              <a:lnSpc>
                <a:spcPct val="110000"/>
              </a:lnSpc>
            </a:pPr>
            <a:r>
              <a:rPr sz="2000" b="1">
                <a:solidFill>
                  <a:srgbClr val="8FCFF8"/>
                </a:solidFill>
                <a:latin typeface="맑은 고딕"/>
                <a:ea typeface="맑은 고딕"/>
                <a:cs typeface="맑은 고딕"/>
              </a:rPr>
              <a:t>경남대학교 피지컬AI 사관학교</a:t>
            </a:r>
          </a:p>
        </p:txBody>
      </p:sp>
      <p:sp>
        <p:nvSpPr>
          <p:cNvPr id="3" name="Rectangle 2"/>
          <p:cNvSpPr/>
          <p:nvPr/>
        </p:nvSpPr>
        <p:spPr>
          <a:xfrm>
            <a:off x="548640" y="13167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1700784"/>
            <a:ext cx="7863840" cy="420624"/>
          </a:xfrm>
          <a:prstGeom prst="rect">
            <a:avLst/>
          </a:prstGeom>
          <a:noFill/>
        </p:spPr>
        <p:txBody>
          <a:bodyPr wrap="square" anchor="t"/>
          <a:lstStyle/>
          <a:p>
            <a:pPr algn="l" eaLnBrk="0">
              <a:lnSpc>
                <a:spcPct val="110000"/>
              </a:lnSpc>
            </a:pPr>
            <a:r>
              <a:rPr sz="1800" b="1">
                <a:solidFill>
                  <a:srgbClr val="8FCFF8"/>
                </a:solidFill>
                <a:latin typeface="맑은 고딕"/>
                <a:ea typeface="맑은 고딕"/>
                <a:cs typeface="맑은 고딕"/>
              </a:rPr>
              <a:t>사람의 판단과 명확한 요구사항으로 AI 업무의 신뢰성 높이기</a:t>
            </a:r>
          </a:p>
        </p:txBody>
      </p:sp>
      <p:sp>
        <p:nvSpPr>
          <p:cNvPr id="5" name="TextBox 4"/>
          <p:cNvSpPr txBox="1"/>
          <p:nvPr/>
        </p:nvSpPr>
        <p:spPr>
          <a:xfrm>
            <a:off x="457200" y="2395728"/>
            <a:ext cx="8412480" cy="1920240"/>
          </a:xfrm>
          <a:prstGeom prst="rect">
            <a:avLst/>
          </a:prstGeom>
          <a:noFill/>
        </p:spPr>
        <p:txBody>
          <a:bodyPr wrap="square" anchor="t"/>
          <a:lstStyle/>
          <a:p>
            <a:pPr algn="l" eaLnBrk="0">
              <a:lnSpc>
                <a:spcPct val="110000"/>
              </a:lnSpc>
            </a:pPr>
            <a:r>
              <a:rPr sz="4000" b="1">
                <a:solidFill>
                  <a:srgbClr val="FFFFFF"/>
                </a:solidFill>
                <a:latin typeface="맑은 고딕"/>
                <a:ea typeface="맑은 고딕"/>
                <a:cs typeface="맑은 고딕"/>
              </a:rPr>
              <a:t>사람의 승인과</a:t>
            </a:r>
          </a:p>
          <a:p>
            <a:pPr algn="l" eaLnBrk="0">
              <a:lnSpc>
                <a:spcPct val="110000"/>
              </a:lnSpc>
            </a:pPr>
            <a:r>
              <a:rPr sz="4000" b="1">
                <a:solidFill>
                  <a:srgbClr val="FFFFFF"/>
                </a:solidFill>
                <a:latin typeface="맑은 고딕"/>
                <a:ea typeface="맑은 고딕"/>
                <a:cs typeface="맑은 고딕"/>
              </a:rPr>
              <a:t>명세 주도 개발</a:t>
            </a:r>
          </a:p>
        </p:txBody>
      </p:sp>
      <p:sp>
        <p:nvSpPr>
          <p:cNvPr id="6" name="TextBox 5"/>
          <p:cNvSpPr txBox="1"/>
          <p:nvPr/>
        </p:nvSpPr>
        <p:spPr>
          <a:xfrm>
            <a:off x="457200" y="4407408"/>
            <a:ext cx="8412480" cy="731520"/>
          </a:xfrm>
          <a:prstGeom prst="rect">
            <a:avLst/>
          </a:prstGeom>
          <a:noFill/>
        </p:spPr>
        <p:txBody>
          <a:bodyPr wrap="square" anchor="t"/>
          <a:lstStyle/>
          <a:p>
            <a:pPr algn="l" eaLnBrk="0">
              <a:lnSpc>
                <a:spcPct val="110000"/>
              </a:lnSpc>
            </a:pPr>
            <a:r>
              <a:rPr sz="1900" b="0">
                <a:solidFill>
                  <a:srgbClr val="C6D0DE"/>
                </a:solidFill>
                <a:latin typeface="맑은 고딕"/>
                <a:ea typeface="맑은 고딕"/>
                <a:cs typeface="맑은 고딕"/>
              </a:rPr>
              <a:t>에이전트의 추천을 사람이 결정하는 자리를 설계하고, 요구사항이 바뀌어도 기존 기능을 지키는 명세를 쓴다</a:t>
            </a:r>
          </a:p>
        </p:txBody>
      </p:sp>
      <p:pic>
        <p:nvPicPr>
          <p:cNvPr id="7" name="로고:uEngine" descr="logo-uengine_FFFFFF_None.png"/>
          <p:cNvPicPr>
            <a:picLocks noChangeAspect="1"/>
          </p:cNvPicPr>
          <p:nvPr/>
        </p:nvPicPr>
        <p:blipFill>
          <a:blip r:embed="rId2"/>
          <a:stretch>
            <a:fillRect/>
          </a:stretch>
        </p:blipFill>
        <p:spPr>
          <a:xfrm>
            <a:off x="7315200" y="5669280"/>
            <a:ext cx="1325880" cy="275115"/>
          </a:xfrm>
          <a:prstGeom prst="rect">
            <a:avLst/>
          </a:prstGeom>
        </p:spPr>
      </p:pic>
      <p:sp>
        <p:nvSpPr>
          <p:cNvPr id="8" name="Rectangle 7"/>
          <p:cNvSpPr/>
          <p:nvPr/>
        </p:nvSpPr>
        <p:spPr>
          <a:xfrm>
            <a:off x="9464040" y="1188719"/>
            <a:ext cx="1188720" cy="1188720"/>
          </a:xfrm>
          <a:prstGeom prst="rect">
            <a:avLst/>
          </a:prstGeom>
          <a:solidFill>
            <a:srgbClr val="243D66"/>
          </a:solidFill>
          <a:ln>
            <a:noFill/>
          </a:ln>
        </p:spPr>
        <p:txBody>
          <a:bodyPr rtlCol="0" anchor="ctr"/>
          <a:lstStyle/>
          <a:p>
            <a:pPr algn="ctr"/>
          </a:p>
        </p:txBody>
      </p:sp>
      <p:pic>
        <p:nvPicPr>
          <p:cNvPr id="9" name="아이콘:user-check" descr="user-check_5CB8F2_1.5.png"/>
          <p:cNvPicPr>
            <a:picLocks noChangeAspect="1"/>
          </p:cNvPicPr>
          <p:nvPr/>
        </p:nvPicPr>
        <p:blipFill>
          <a:blip r:embed="rId3"/>
          <a:stretch>
            <a:fillRect/>
          </a:stretch>
        </p:blipFill>
        <p:spPr>
          <a:xfrm>
            <a:off x="9701784" y="1426463"/>
            <a:ext cx="713232" cy="713232"/>
          </a:xfrm>
          <a:prstGeom prst="rect">
            <a:avLst/>
          </a:prstGeom>
        </p:spPr>
      </p:pic>
      <p:sp>
        <p:nvSpPr>
          <p:cNvPr id="10" name="Down Arrow 9"/>
          <p:cNvSpPr/>
          <p:nvPr/>
        </p:nvSpPr>
        <p:spPr>
          <a:xfrm>
            <a:off x="9902952" y="2450591"/>
            <a:ext cx="310896" cy="310896"/>
          </a:xfrm>
          <a:prstGeom prst="downArrow">
            <a:avLst/>
          </a:prstGeom>
          <a:solidFill>
            <a:srgbClr val="5CB8F2"/>
          </a:solidFill>
          <a:ln>
            <a:noFill/>
          </a:ln>
        </p:spPr>
        <p:txBody>
          <a:bodyPr rtlCol="0" anchor="ctr"/>
          <a:lstStyle/>
          <a:p>
            <a:pPr algn="ctr"/>
          </a:p>
        </p:txBody>
      </p:sp>
      <p:sp>
        <p:nvSpPr>
          <p:cNvPr id="11" name="Rectangle 10"/>
          <p:cNvSpPr/>
          <p:nvPr/>
        </p:nvSpPr>
        <p:spPr>
          <a:xfrm>
            <a:off x="9464040" y="2834639"/>
            <a:ext cx="1188720" cy="1188720"/>
          </a:xfrm>
          <a:prstGeom prst="rect">
            <a:avLst/>
          </a:prstGeom>
          <a:solidFill>
            <a:srgbClr val="243D66"/>
          </a:solidFill>
          <a:ln>
            <a:noFill/>
          </a:ln>
        </p:spPr>
        <p:txBody>
          <a:bodyPr rtlCol="0" anchor="ctr"/>
          <a:lstStyle/>
          <a:p>
            <a:pPr algn="ctr"/>
          </a:p>
        </p:txBody>
      </p:sp>
      <p:pic>
        <p:nvPicPr>
          <p:cNvPr id="12" name="아이콘:shield-check" descr="shield-check_5CB8F2_1.5.png"/>
          <p:cNvPicPr>
            <a:picLocks noChangeAspect="1"/>
          </p:cNvPicPr>
          <p:nvPr/>
        </p:nvPicPr>
        <p:blipFill>
          <a:blip r:embed="rId4"/>
          <a:stretch>
            <a:fillRect/>
          </a:stretch>
        </p:blipFill>
        <p:spPr>
          <a:xfrm>
            <a:off x="9701784" y="3072383"/>
            <a:ext cx="713232" cy="713232"/>
          </a:xfrm>
          <a:prstGeom prst="rect">
            <a:avLst/>
          </a:prstGeom>
        </p:spPr>
      </p:pic>
      <p:sp>
        <p:nvSpPr>
          <p:cNvPr id="13" name="Down Arrow 12"/>
          <p:cNvSpPr/>
          <p:nvPr/>
        </p:nvSpPr>
        <p:spPr>
          <a:xfrm>
            <a:off x="9902952" y="4096511"/>
            <a:ext cx="310896" cy="310896"/>
          </a:xfrm>
          <a:prstGeom prst="downArrow">
            <a:avLst/>
          </a:prstGeom>
          <a:solidFill>
            <a:srgbClr val="5CB8F2"/>
          </a:solidFill>
          <a:ln>
            <a:noFill/>
          </a:ln>
        </p:spPr>
        <p:txBody>
          <a:bodyPr rtlCol="0" anchor="ctr"/>
          <a:lstStyle/>
          <a:p>
            <a:pPr algn="ctr"/>
          </a:p>
        </p:txBody>
      </p:sp>
      <p:sp>
        <p:nvSpPr>
          <p:cNvPr id="14" name="Rectangle 13"/>
          <p:cNvSpPr/>
          <p:nvPr/>
        </p:nvSpPr>
        <p:spPr>
          <a:xfrm>
            <a:off x="9464040" y="4480560"/>
            <a:ext cx="1188720" cy="1188720"/>
          </a:xfrm>
          <a:prstGeom prst="rect">
            <a:avLst/>
          </a:prstGeom>
          <a:solidFill>
            <a:srgbClr val="5CB8F2"/>
          </a:solidFill>
          <a:ln>
            <a:noFill/>
          </a:ln>
        </p:spPr>
        <p:txBody>
          <a:bodyPr rtlCol="0" anchor="ctr"/>
          <a:lstStyle/>
          <a:p>
            <a:pPr algn="ctr"/>
          </a:p>
        </p:txBody>
      </p:sp>
      <p:pic>
        <p:nvPicPr>
          <p:cNvPr id="15" name="아이콘:file-text" descr="file-text_13294B_1.5.png"/>
          <p:cNvPicPr>
            <a:picLocks noChangeAspect="1"/>
          </p:cNvPicPr>
          <p:nvPr/>
        </p:nvPicPr>
        <p:blipFill>
          <a:blip r:embed="rId5"/>
          <a:stretch>
            <a:fillRect/>
          </a:stretch>
        </p:blipFill>
        <p:spPr>
          <a:xfrm>
            <a:off x="9701784" y="4718304"/>
            <a:ext cx="713232" cy="7132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학습목표</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에이전트의 추천을 사람이 결정하는 자리와 책임을 가르고, 바뀐 요구를 명세로 옮겨 기존 기능을 지킨다.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a:t>
            </a:r>
          </a:p>
        </p:txBody>
      </p:sp>
      <p:sp>
        <p:nvSpPr>
          <p:cNvPr id="6" name="Rounded Rectangle 5"/>
          <p:cNvSpPr/>
          <p:nvPr/>
        </p:nvSpPr>
        <p:spPr>
          <a:xfrm>
            <a:off x="548640"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20734"/>
            <a:ext cx="731520" cy="731520"/>
          </a:xfrm>
          <a:prstGeom prst="ellipse">
            <a:avLst/>
          </a:prstGeom>
          <a:solidFill>
            <a:srgbClr val="E7F3FD"/>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930859" y="2474353"/>
            <a:ext cx="424281" cy="424281"/>
          </a:xfrm>
          <a:prstGeom prst="rect">
            <a:avLst/>
          </a:prstGeom>
        </p:spPr>
      </p:pic>
      <p:sp>
        <p:nvSpPr>
          <p:cNvPr id="9" name="TextBox 8"/>
          <p:cNvSpPr txBox="1"/>
          <p:nvPr/>
        </p:nvSpPr>
        <p:spPr>
          <a:xfrm>
            <a:off x="713232"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사람이 개입하는 자리</a:t>
            </a:r>
          </a:p>
          <a:p>
            <a:pPr algn="l" eaLnBrk="0" marL="177165" indent="-177165">
              <a:lnSpc>
                <a:spcPct val="110000"/>
              </a:lnSpc>
              <a:spcAft>
                <a:spcPts val="400"/>
              </a:spcAft>
            </a:pPr>
            <a:r>
              <a:rPr sz="1550" b="0">
                <a:solidFill>
                  <a:srgbClr val="1F2A3A"/>
                </a:solidFill>
                <a:latin typeface="맑은 고딕"/>
                <a:ea typeface="맑은 고딕"/>
                <a:cs typeface="맑은 고딕"/>
              </a:rPr>
              <a:t>• 자동 처리와 사람의 결정을 가른다</a:t>
            </a:r>
          </a:p>
          <a:p>
            <a:pPr algn="l" eaLnBrk="0" marL="177165" indent="-177165">
              <a:lnSpc>
                <a:spcPct val="110000"/>
              </a:lnSpc>
              <a:spcAft>
                <a:spcPts val="400"/>
              </a:spcAft>
            </a:pPr>
            <a:r>
              <a:rPr sz="1550" b="0">
                <a:solidFill>
                  <a:srgbClr val="1F2A3A"/>
                </a:solidFill>
                <a:latin typeface="맑은 고딕"/>
                <a:ea typeface="맑은 고딕"/>
                <a:cs typeface="맑은 고딕"/>
              </a:rPr>
              <a:t>• 승인 · 대기 · 질문 · 닫기의 때를 설명한다</a:t>
            </a:r>
          </a:p>
        </p:txBody>
      </p:sp>
      <p:sp>
        <p:nvSpPr>
          <p:cNvPr id="10" name="Rounded Rectangle 9"/>
          <p:cNvSpPr/>
          <p:nvPr/>
        </p:nvSpPr>
        <p:spPr>
          <a:xfrm>
            <a:off x="777240" y="5433377"/>
            <a:ext cx="10210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433377"/>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개입 지점</a:t>
            </a:r>
          </a:p>
        </p:txBody>
      </p:sp>
      <p:sp>
        <p:nvSpPr>
          <p:cNvPr id="12" name="Rounded Rectangle 11"/>
          <p:cNvSpPr/>
          <p:nvPr/>
        </p:nvSpPr>
        <p:spPr>
          <a:xfrm>
            <a:off x="3390823"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3619423" y="2320734"/>
            <a:ext cx="731520" cy="731520"/>
          </a:xfrm>
          <a:prstGeom prst="ellipse">
            <a:avLst/>
          </a:prstGeom>
          <a:solidFill>
            <a:srgbClr val="E7F3FD"/>
          </a:solidFill>
          <a:ln>
            <a:noFill/>
          </a:ln>
        </p:spPr>
        <p:txBody>
          <a:bodyPr rtlCol="0" anchor="ctr"/>
          <a:lstStyle/>
          <a:p>
            <a:pPr algn="ctr"/>
          </a:p>
        </p:txBody>
      </p:sp>
      <p:pic>
        <p:nvPicPr>
          <p:cNvPr id="14" name="아이콘:id" descr="id_13294B_1.6.png"/>
          <p:cNvPicPr>
            <a:picLocks noChangeAspect="1"/>
          </p:cNvPicPr>
          <p:nvPr/>
        </p:nvPicPr>
        <p:blipFill>
          <a:blip r:embed="rId4"/>
          <a:stretch>
            <a:fillRect/>
          </a:stretch>
        </p:blipFill>
        <p:spPr>
          <a:xfrm>
            <a:off x="3773043" y="2474353"/>
            <a:ext cx="424281" cy="424281"/>
          </a:xfrm>
          <a:prstGeom prst="rect">
            <a:avLst/>
          </a:prstGeom>
        </p:spPr>
      </p:pic>
      <p:sp>
        <p:nvSpPr>
          <p:cNvPr id="15" name="TextBox 14"/>
          <p:cNvSpPr txBox="1"/>
          <p:nvPr/>
        </p:nvSpPr>
        <p:spPr>
          <a:xfrm>
            <a:off x="3555415"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권한과 결정 기록</a:t>
            </a:r>
          </a:p>
          <a:p>
            <a:pPr algn="l" eaLnBrk="0" marL="177165" indent="-177165">
              <a:lnSpc>
                <a:spcPct val="110000"/>
              </a:lnSpc>
              <a:spcAft>
                <a:spcPts val="400"/>
              </a:spcAft>
            </a:pPr>
            <a:r>
              <a:rPr sz="1550" b="0">
                <a:solidFill>
                  <a:srgbClr val="1F2A3A"/>
                </a:solidFill>
                <a:latin typeface="맑은 고딕"/>
                <a:ea typeface="맑은 고딕"/>
                <a:cs typeface="맑은 고딕"/>
              </a:rPr>
              <a:t>• 승인할 수 있는 사람을 역할과 등급으로 가린다</a:t>
            </a:r>
          </a:p>
          <a:p>
            <a:pPr algn="l" eaLnBrk="0" marL="177165" indent="-177165">
              <a:lnSpc>
                <a:spcPct val="110000"/>
              </a:lnSpc>
              <a:spcAft>
                <a:spcPts val="400"/>
              </a:spcAft>
            </a:pPr>
            <a:r>
              <a:rPr sz="1550" b="0">
                <a:solidFill>
                  <a:srgbClr val="1F2A3A"/>
                </a:solidFill>
                <a:latin typeface="맑은 고딕"/>
                <a:ea typeface="맑은 고딕"/>
                <a:cs typeface="맑은 고딕"/>
              </a:rPr>
              <a:t>• 결정 기록에 남는 것을 짚는다</a:t>
            </a:r>
          </a:p>
        </p:txBody>
      </p:sp>
      <p:sp>
        <p:nvSpPr>
          <p:cNvPr id="16" name="Rounded Rectangle 15"/>
          <p:cNvSpPr/>
          <p:nvPr/>
        </p:nvSpPr>
        <p:spPr>
          <a:xfrm>
            <a:off x="3619423" y="5433377"/>
            <a:ext cx="8229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3619423"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책임</a:t>
            </a:r>
          </a:p>
        </p:txBody>
      </p:sp>
      <p:sp>
        <p:nvSpPr>
          <p:cNvPr id="18" name="Rounded Rectangle 17"/>
          <p:cNvSpPr/>
          <p:nvPr/>
        </p:nvSpPr>
        <p:spPr>
          <a:xfrm>
            <a:off x="6233007" y="2119566"/>
            <a:ext cx="2567863" cy="3743579"/>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6461607" y="2320734"/>
            <a:ext cx="731520" cy="731520"/>
          </a:xfrm>
          <a:prstGeom prst="ellipse">
            <a:avLst/>
          </a:prstGeom>
          <a:solidFill>
            <a:srgbClr val="E7F3FD"/>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6615226" y="2474353"/>
            <a:ext cx="424281" cy="424281"/>
          </a:xfrm>
          <a:prstGeom prst="rect">
            <a:avLst/>
          </a:prstGeom>
        </p:spPr>
      </p:pic>
      <p:sp>
        <p:nvSpPr>
          <p:cNvPr id="21" name="TextBox 20"/>
          <p:cNvSpPr txBox="1"/>
          <p:nvPr/>
        </p:nvSpPr>
        <p:spPr>
          <a:xfrm>
            <a:off x="6397599"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검토와 승인의 구분</a:t>
            </a:r>
          </a:p>
          <a:p>
            <a:pPr algn="l" eaLnBrk="0" marL="177165" indent="-177165">
              <a:lnSpc>
                <a:spcPct val="110000"/>
              </a:lnSpc>
              <a:spcAft>
                <a:spcPts val="400"/>
              </a:spcAft>
            </a:pPr>
            <a:r>
              <a:rPr sz="1550" b="0">
                <a:solidFill>
                  <a:srgbClr val="1F2A3A"/>
                </a:solidFill>
                <a:latin typeface="맑은 고딕"/>
                <a:ea typeface="맑은 고딕"/>
                <a:cs typeface="맑은 고딕"/>
              </a:rPr>
              <a:t>• 가드레일의 통과와 AI의 검토를</a:t>
            </a:r>
          </a:p>
          <a:p>
            <a:pPr algn="l" eaLnBrk="0" marL="177165" indent="-177165">
              <a:lnSpc>
                <a:spcPct val="110000"/>
              </a:lnSpc>
              <a:spcAft>
                <a:spcPts val="400"/>
              </a:spcAft>
            </a:pPr>
            <a:r>
              <a:rPr sz="1550" b="0">
                <a:solidFill>
                  <a:srgbClr val="1F2A3A"/>
                </a:solidFill>
                <a:latin typeface="맑은 고딕"/>
                <a:ea typeface="맑은 고딕"/>
                <a:cs typeface="맑은 고딕"/>
              </a:rPr>
              <a:t>• 사람의 승인과 구분한다</a:t>
            </a:r>
          </a:p>
        </p:txBody>
      </p:sp>
      <p:sp>
        <p:nvSpPr>
          <p:cNvPr id="22" name="Rounded Rectangle 21"/>
          <p:cNvSpPr/>
          <p:nvPr/>
        </p:nvSpPr>
        <p:spPr>
          <a:xfrm>
            <a:off x="6461607" y="5433377"/>
            <a:ext cx="82296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6461607"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구분</a:t>
            </a:r>
          </a:p>
        </p:txBody>
      </p:sp>
      <p:sp>
        <p:nvSpPr>
          <p:cNvPr id="24" name="Rounded Rectangle 23"/>
          <p:cNvSpPr/>
          <p:nvPr/>
        </p:nvSpPr>
        <p:spPr>
          <a:xfrm>
            <a:off x="9075191" y="2119566"/>
            <a:ext cx="2567863" cy="3743579"/>
          </a:xfrm>
          <a:prstGeom prst="roundRect">
            <a:avLst>
              <a:gd name="adj" fmla="val 4000"/>
            </a:avLst>
          </a:prstGeom>
          <a:solidFill>
            <a:srgbClr val="FFFFFF"/>
          </a:solidFill>
          <a:ln w="28575">
            <a:solidFill>
              <a:srgbClr val="5CB8F2"/>
            </a:solidFill>
          </a:ln>
        </p:spPr>
        <p:txBody>
          <a:bodyPr rtlCol="0" anchor="ctr"/>
          <a:lstStyle/>
          <a:p>
            <a:pPr algn="ctr"/>
          </a:p>
        </p:txBody>
      </p:sp>
      <p:sp>
        <p:nvSpPr>
          <p:cNvPr id="25" name="Oval 24"/>
          <p:cNvSpPr/>
          <p:nvPr/>
        </p:nvSpPr>
        <p:spPr>
          <a:xfrm>
            <a:off x="9303791" y="2320734"/>
            <a:ext cx="731520" cy="731520"/>
          </a:xfrm>
          <a:prstGeom prst="ellipse">
            <a:avLst/>
          </a:prstGeom>
          <a:solidFill>
            <a:srgbClr val="5CB8F2"/>
          </a:solidFill>
          <a:ln>
            <a:noFill/>
          </a:ln>
        </p:spPr>
        <p:txBody>
          <a:bodyPr rtlCol="0" anchor="ctr"/>
          <a:lstStyle/>
          <a:p>
            <a:pPr algn="ctr"/>
          </a:p>
        </p:txBody>
      </p:sp>
      <p:pic>
        <p:nvPicPr>
          <p:cNvPr id="26" name="아이콘:file-text" descr="file-text_13294B_1.6.png"/>
          <p:cNvPicPr>
            <a:picLocks noChangeAspect="1"/>
          </p:cNvPicPr>
          <p:nvPr/>
        </p:nvPicPr>
        <p:blipFill>
          <a:blip r:embed="rId6"/>
          <a:stretch>
            <a:fillRect/>
          </a:stretch>
        </p:blipFill>
        <p:spPr>
          <a:xfrm>
            <a:off x="9457410" y="2474353"/>
            <a:ext cx="424281" cy="424281"/>
          </a:xfrm>
          <a:prstGeom prst="rect">
            <a:avLst/>
          </a:prstGeom>
        </p:spPr>
      </p:pic>
      <p:sp>
        <p:nvSpPr>
          <p:cNvPr id="27" name="TextBox 26"/>
          <p:cNvSpPr txBox="1"/>
          <p:nvPr/>
        </p:nvSpPr>
        <p:spPr>
          <a:xfrm>
            <a:off x="9239783" y="3143694"/>
            <a:ext cx="2238679" cy="2216531"/>
          </a:xfrm>
          <a:prstGeom prst="rect">
            <a:avLst/>
          </a:prstGeom>
          <a:noFill/>
        </p:spPr>
        <p:txBody>
          <a:bodyPr wrap="square" anchor="t"/>
          <a:lstStyle/>
          <a:p>
            <a:pPr algn="l" eaLnBrk="0">
              <a:lnSpc>
                <a:spcPct val="110000"/>
              </a:lnSpc>
              <a:spcAft>
                <a:spcPts val="400"/>
              </a:spcAft>
            </a:pPr>
            <a:r>
              <a:rPr sz="1950" b="1">
                <a:solidFill>
                  <a:srgbClr val="13294B"/>
                </a:solidFill>
                <a:latin typeface="맑은 고딕"/>
                <a:ea typeface="맑은 고딕"/>
                <a:cs typeface="맑은 고딕"/>
              </a:rPr>
              <a:t>명세로 지키는 기존 기능</a:t>
            </a:r>
          </a:p>
          <a:p>
            <a:pPr algn="l" eaLnBrk="0" marL="177165" indent="-177165">
              <a:lnSpc>
                <a:spcPct val="110000"/>
              </a:lnSpc>
              <a:spcAft>
                <a:spcPts val="400"/>
              </a:spcAft>
            </a:pPr>
            <a:r>
              <a:rPr sz="1550" b="0">
                <a:solidFill>
                  <a:srgbClr val="1F2A3A"/>
                </a:solidFill>
                <a:latin typeface="맑은 고딕"/>
                <a:ea typeface="맑은 고딕"/>
                <a:cs typeface="맑은 고딕"/>
              </a:rPr>
              <a:t>• 변경 요청을 명세의 요소로 옮긴다</a:t>
            </a:r>
          </a:p>
          <a:p>
            <a:pPr algn="l" eaLnBrk="0" marL="177165" indent="-177165">
              <a:lnSpc>
                <a:spcPct val="110000"/>
              </a:lnSpc>
              <a:spcAft>
                <a:spcPts val="400"/>
              </a:spcAft>
            </a:pPr>
            <a:r>
              <a:rPr sz="1550" b="0">
                <a:solidFill>
                  <a:srgbClr val="1F2A3A"/>
                </a:solidFill>
                <a:latin typeface="맑은 고딕"/>
                <a:ea typeface="맑은 고딕"/>
                <a:cs typeface="맑은 고딕"/>
              </a:rPr>
              <a:t>• 기존 요청과 새 요청을 함께 다시 실행한다</a:t>
            </a:r>
          </a:p>
        </p:txBody>
      </p:sp>
      <p:sp>
        <p:nvSpPr>
          <p:cNvPr id="28" name="Rounded Rectangle 27"/>
          <p:cNvSpPr/>
          <p:nvPr/>
        </p:nvSpPr>
        <p:spPr>
          <a:xfrm>
            <a:off x="9303791" y="5433377"/>
            <a:ext cx="822960" cy="292608"/>
          </a:xfrm>
          <a:prstGeom prst="roundRect">
            <a:avLst>
              <a:gd name="adj" fmla="val 50000"/>
            </a:avLst>
          </a:prstGeom>
          <a:solidFill>
            <a:srgbClr val="5CB8F2"/>
          </a:solidFill>
          <a:ln>
            <a:noFill/>
          </a:ln>
        </p:spPr>
        <p:txBody>
          <a:bodyPr rtlCol="0" anchor="ctr"/>
          <a:lstStyle/>
          <a:p>
            <a:pPr algn="ctr"/>
          </a:p>
        </p:txBody>
      </p:sp>
      <p:sp>
        <p:nvSpPr>
          <p:cNvPr id="29" name="TextBox 28"/>
          <p:cNvSpPr txBox="1"/>
          <p:nvPr/>
        </p:nvSpPr>
        <p:spPr>
          <a:xfrm>
            <a:off x="9303791" y="5433377"/>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명세</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목차</a:t>
            </a:r>
          </a:p>
        </p:txBody>
      </p:sp>
      <p:sp>
        <p:nvSpPr>
          <p:cNvPr id="3" name="Rectangle 2"/>
          <p:cNvSpPr/>
          <p:nvPr/>
        </p:nvSpPr>
        <p:spPr>
          <a:xfrm>
            <a:off x="548640" y="1097280"/>
            <a:ext cx="11094415" cy="18288"/>
          </a:xfrm>
          <a:prstGeom prst="rect">
            <a:avLst/>
          </a:prstGeom>
          <a:solidFill>
            <a:srgbClr val="D3D9E1"/>
          </a:solidFill>
          <a:ln>
            <a:noFill/>
          </a:ln>
        </p:spPr>
        <p:txBody>
          <a:bodyPr rtlCol="0" anchor="ctr"/>
          <a:lstStyle/>
          <a:p>
            <a:pPr algn="ctr"/>
          </a:p>
        </p:txBody>
      </p:sp>
      <p:sp>
        <p:nvSpPr>
          <p:cNvPr id="4" name="TextBox 3"/>
          <p:cNvSpPr txBox="1"/>
          <p:nvPr/>
        </p:nvSpPr>
        <p:spPr>
          <a:xfrm>
            <a:off x="548640" y="1600199"/>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01</a:t>
            </a:r>
          </a:p>
        </p:txBody>
      </p:sp>
      <p:sp>
        <p:nvSpPr>
          <p:cNvPr id="5" name="TextBox 4"/>
          <p:cNvSpPr txBox="1"/>
          <p:nvPr/>
        </p:nvSpPr>
        <p:spPr>
          <a:xfrm>
            <a:off x="1417319" y="1600199"/>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HITL: 사람이 결정하는 자리</a:t>
            </a:r>
          </a:p>
        </p:txBody>
      </p:sp>
      <p:sp>
        <p:nvSpPr>
          <p:cNvPr id="6" name="Rounded Rectangle 5"/>
          <p:cNvSpPr/>
          <p:nvPr/>
        </p:nvSpPr>
        <p:spPr>
          <a:xfrm>
            <a:off x="10088575" y="1819655"/>
            <a:ext cx="1371600" cy="292608"/>
          </a:xfrm>
          <a:prstGeom prst="roundRect">
            <a:avLst>
              <a:gd name="adj" fmla="val 50000"/>
            </a:avLst>
          </a:prstGeom>
          <a:solidFill>
            <a:srgbClr val="D3D9E1"/>
          </a:solidFill>
          <a:ln>
            <a:noFill/>
          </a:ln>
        </p:spPr>
        <p:txBody>
          <a:bodyPr rtlCol="0" anchor="ctr"/>
          <a:lstStyle/>
          <a:p>
            <a:pPr algn="ctr"/>
          </a:p>
        </p:txBody>
      </p:sp>
      <p:sp>
        <p:nvSpPr>
          <p:cNvPr id="7" name="TextBox 6"/>
          <p:cNvSpPr txBox="1"/>
          <p:nvPr/>
        </p:nvSpPr>
        <p:spPr>
          <a:xfrm>
            <a:off x="10088575" y="181965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8" name="Rectangle 7"/>
          <p:cNvSpPr/>
          <p:nvPr/>
        </p:nvSpPr>
        <p:spPr>
          <a:xfrm>
            <a:off x="548640" y="2322576"/>
            <a:ext cx="11094415" cy="13716"/>
          </a:xfrm>
          <a:prstGeom prst="rect">
            <a:avLst/>
          </a:prstGeom>
          <a:solidFill>
            <a:srgbClr val="D3D9E1"/>
          </a:solidFill>
          <a:ln>
            <a:noFill/>
          </a:ln>
        </p:spPr>
        <p:txBody>
          <a:bodyPr rtlCol="0" anchor="ctr"/>
          <a:lstStyle/>
          <a:p>
            <a:pPr algn="ctr"/>
          </a:p>
        </p:txBody>
      </p:sp>
      <p:sp>
        <p:nvSpPr>
          <p:cNvPr id="9" name="TextBox 8"/>
          <p:cNvSpPr txBox="1"/>
          <p:nvPr/>
        </p:nvSpPr>
        <p:spPr>
          <a:xfrm>
            <a:off x="548640" y="233172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02</a:t>
            </a:r>
          </a:p>
        </p:txBody>
      </p:sp>
      <p:sp>
        <p:nvSpPr>
          <p:cNvPr id="10" name="TextBox 9"/>
          <p:cNvSpPr txBox="1"/>
          <p:nvPr/>
        </p:nvSpPr>
        <p:spPr>
          <a:xfrm>
            <a:off x="1417319" y="233172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승인 권한 · 결정 기록과 AI의 검토</a:t>
            </a:r>
          </a:p>
        </p:txBody>
      </p:sp>
      <p:sp>
        <p:nvSpPr>
          <p:cNvPr id="11" name="Rounded Rectangle 10"/>
          <p:cNvSpPr/>
          <p:nvPr/>
        </p:nvSpPr>
        <p:spPr>
          <a:xfrm>
            <a:off x="10088575" y="2551175"/>
            <a:ext cx="137160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10088575" y="255117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13" name="Rectangle 12"/>
          <p:cNvSpPr/>
          <p:nvPr/>
        </p:nvSpPr>
        <p:spPr>
          <a:xfrm>
            <a:off x="548640" y="3054096"/>
            <a:ext cx="11094415" cy="13716"/>
          </a:xfrm>
          <a:prstGeom prst="rect">
            <a:avLst/>
          </a:prstGeom>
          <a:solidFill>
            <a:srgbClr val="D3D9E1"/>
          </a:solidFill>
          <a:ln>
            <a:noFill/>
          </a:ln>
        </p:spPr>
        <p:txBody>
          <a:bodyPr rtlCol="0" anchor="ctr"/>
          <a:lstStyle/>
          <a:p>
            <a:pPr algn="ctr"/>
          </a:p>
        </p:txBody>
      </p:sp>
      <p:sp>
        <p:nvSpPr>
          <p:cNvPr id="14" name="TextBox 13"/>
          <p:cNvSpPr txBox="1"/>
          <p:nvPr/>
        </p:nvSpPr>
        <p:spPr>
          <a:xfrm>
            <a:off x="548640" y="3063239"/>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03</a:t>
            </a:r>
          </a:p>
        </p:txBody>
      </p:sp>
      <p:sp>
        <p:nvSpPr>
          <p:cNvPr id="15" name="TextBox 14"/>
          <p:cNvSpPr txBox="1"/>
          <p:nvPr/>
        </p:nvSpPr>
        <p:spPr>
          <a:xfrm>
            <a:off x="1417319" y="3063239"/>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요구사항 변경과 바이브 코딩</a:t>
            </a:r>
          </a:p>
        </p:txBody>
      </p:sp>
      <p:sp>
        <p:nvSpPr>
          <p:cNvPr id="16" name="Rounded Rectangle 15"/>
          <p:cNvSpPr/>
          <p:nvPr/>
        </p:nvSpPr>
        <p:spPr>
          <a:xfrm>
            <a:off x="10088575" y="3282695"/>
            <a:ext cx="137160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10088575" y="3282695"/>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18" name="Rectangle 17"/>
          <p:cNvSpPr/>
          <p:nvPr/>
        </p:nvSpPr>
        <p:spPr>
          <a:xfrm>
            <a:off x="548640" y="3785615"/>
            <a:ext cx="11094415" cy="13716"/>
          </a:xfrm>
          <a:prstGeom prst="rect">
            <a:avLst/>
          </a:prstGeom>
          <a:solidFill>
            <a:srgbClr val="D3D9E1"/>
          </a:solidFill>
          <a:ln>
            <a:noFill/>
          </a:ln>
        </p:spPr>
        <p:txBody>
          <a:bodyPr rtlCol="0" anchor="ctr"/>
          <a:lstStyle/>
          <a:p>
            <a:pPr algn="ctr"/>
          </a:p>
        </p:txBody>
      </p:sp>
      <p:sp>
        <p:nvSpPr>
          <p:cNvPr id="19" name="TextBox 18"/>
          <p:cNvSpPr txBox="1"/>
          <p:nvPr/>
        </p:nvSpPr>
        <p:spPr>
          <a:xfrm>
            <a:off x="548640" y="379476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04</a:t>
            </a:r>
          </a:p>
        </p:txBody>
      </p:sp>
      <p:sp>
        <p:nvSpPr>
          <p:cNvPr id="20" name="TextBox 19"/>
          <p:cNvSpPr txBox="1"/>
          <p:nvPr/>
        </p:nvSpPr>
        <p:spPr>
          <a:xfrm>
            <a:off x="1417319" y="379476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SDD: 명세 주도 개발</a:t>
            </a:r>
          </a:p>
        </p:txBody>
      </p:sp>
      <p:sp>
        <p:nvSpPr>
          <p:cNvPr id="21" name="Rounded Rectangle 20"/>
          <p:cNvSpPr/>
          <p:nvPr/>
        </p:nvSpPr>
        <p:spPr>
          <a:xfrm>
            <a:off x="10088575" y="4014216"/>
            <a:ext cx="1371600" cy="292608"/>
          </a:xfrm>
          <a:prstGeom prst="roundRect">
            <a:avLst>
              <a:gd name="adj" fmla="val 50000"/>
            </a:avLst>
          </a:prstGeom>
          <a:solidFill>
            <a:srgbClr val="D3D9E1"/>
          </a:solidFill>
          <a:ln>
            <a:noFill/>
          </a:ln>
        </p:spPr>
        <p:txBody>
          <a:bodyPr rtlCol="0" anchor="ctr"/>
          <a:lstStyle/>
          <a:p>
            <a:pPr algn="ctr"/>
          </a:p>
        </p:txBody>
      </p:sp>
      <p:sp>
        <p:nvSpPr>
          <p:cNvPr id="22" name="TextBox 21"/>
          <p:cNvSpPr txBox="1"/>
          <p:nvPr/>
        </p:nvSpPr>
        <p:spPr>
          <a:xfrm>
            <a:off x="10088575" y="401421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3" name="Rectangle 22"/>
          <p:cNvSpPr/>
          <p:nvPr/>
        </p:nvSpPr>
        <p:spPr>
          <a:xfrm>
            <a:off x="548640" y="4517136"/>
            <a:ext cx="11094415" cy="13716"/>
          </a:xfrm>
          <a:prstGeom prst="rect">
            <a:avLst/>
          </a:prstGeom>
          <a:solidFill>
            <a:srgbClr val="D3D9E1"/>
          </a:solidFill>
          <a:ln>
            <a:noFill/>
          </a:ln>
        </p:spPr>
        <p:txBody>
          <a:bodyPr rtlCol="0" anchor="ctr"/>
          <a:lstStyle/>
          <a:p>
            <a:pPr algn="ctr"/>
          </a:p>
        </p:txBody>
      </p:sp>
      <p:sp>
        <p:nvSpPr>
          <p:cNvPr id="24" name="TextBox 23"/>
          <p:cNvSpPr txBox="1"/>
          <p:nvPr/>
        </p:nvSpPr>
        <p:spPr>
          <a:xfrm>
            <a:off x="548640" y="4526279"/>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05</a:t>
            </a:r>
          </a:p>
        </p:txBody>
      </p:sp>
      <p:sp>
        <p:nvSpPr>
          <p:cNvPr id="25" name="TextBox 24"/>
          <p:cNvSpPr txBox="1"/>
          <p:nvPr/>
        </p:nvSpPr>
        <p:spPr>
          <a:xfrm>
            <a:off x="1417319" y="4526279"/>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계약 · 금지 조건 · 수용 기준</a:t>
            </a:r>
          </a:p>
        </p:txBody>
      </p:sp>
      <p:sp>
        <p:nvSpPr>
          <p:cNvPr id="26" name="Rounded Rectangle 25"/>
          <p:cNvSpPr/>
          <p:nvPr/>
        </p:nvSpPr>
        <p:spPr>
          <a:xfrm>
            <a:off x="10088575" y="4745736"/>
            <a:ext cx="1371600" cy="292608"/>
          </a:xfrm>
          <a:prstGeom prst="roundRect">
            <a:avLst>
              <a:gd name="adj" fmla="val 50000"/>
            </a:avLst>
          </a:prstGeom>
          <a:solidFill>
            <a:srgbClr val="D3D9E1"/>
          </a:solidFill>
          <a:ln>
            <a:noFill/>
          </a:ln>
        </p:spPr>
        <p:txBody>
          <a:bodyPr rtlCol="0" anchor="ctr"/>
          <a:lstStyle/>
          <a:p>
            <a:pPr algn="ctr"/>
          </a:p>
        </p:txBody>
      </p:sp>
      <p:sp>
        <p:nvSpPr>
          <p:cNvPr id="27" name="TextBox 26"/>
          <p:cNvSpPr txBox="1"/>
          <p:nvPr/>
        </p:nvSpPr>
        <p:spPr>
          <a:xfrm>
            <a:off x="10088575" y="474573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a:t>
            </a:r>
          </a:p>
        </p:txBody>
      </p:sp>
      <p:sp>
        <p:nvSpPr>
          <p:cNvPr id="28" name="Rectangle 27"/>
          <p:cNvSpPr/>
          <p:nvPr/>
        </p:nvSpPr>
        <p:spPr>
          <a:xfrm>
            <a:off x="548640" y="5248655"/>
            <a:ext cx="11094415" cy="13716"/>
          </a:xfrm>
          <a:prstGeom prst="rect">
            <a:avLst/>
          </a:prstGeom>
          <a:solidFill>
            <a:srgbClr val="D3D9E1"/>
          </a:solidFill>
          <a:ln>
            <a:noFill/>
          </a:ln>
        </p:spPr>
        <p:txBody>
          <a:bodyPr rtlCol="0" anchor="ctr"/>
          <a:lstStyle/>
          <a:p>
            <a:pPr algn="ctr"/>
          </a:p>
        </p:txBody>
      </p:sp>
      <p:sp>
        <p:nvSpPr>
          <p:cNvPr id="29" name="TextBox 28"/>
          <p:cNvSpPr txBox="1"/>
          <p:nvPr/>
        </p:nvSpPr>
        <p:spPr>
          <a:xfrm>
            <a:off x="548640" y="5257800"/>
            <a:ext cx="822960" cy="731520"/>
          </a:xfrm>
          <a:prstGeom prst="rect">
            <a:avLst/>
          </a:prstGeom>
          <a:noFill/>
        </p:spPr>
        <p:txBody>
          <a:bodyPr wrap="square" anchor="ctr"/>
          <a:lstStyle/>
          <a:p>
            <a:pPr algn="l" eaLnBrk="0">
              <a:lnSpc>
                <a:spcPct val="110000"/>
              </a:lnSpc>
            </a:pPr>
            <a:r>
              <a:rPr sz="2200" b="1">
                <a:solidFill>
                  <a:srgbClr val="1A6FC4"/>
                </a:solidFill>
                <a:latin typeface="맑은 고딕"/>
                <a:ea typeface="맑은 고딕"/>
                <a:cs typeface="맑은 고딕"/>
              </a:rPr>
              <a:t>06</a:t>
            </a:r>
          </a:p>
        </p:txBody>
      </p:sp>
      <p:sp>
        <p:nvSpPr>
          <p:cNvPr id="30" name="TextBox 29"/>
          <p:cNvSpPr txBox="1"/>
          <p:nvPr/>
        </p:nvSpPr>
        <p:spPr>
          <a:xfrm>
            <a:off x="1417319" y="5257800"/>
            <a:ext cx="8488375" cy="731520"/>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명세에 따른 구현과 변경의 확인</a:t>
            </a:r>
          </a:p>
        </p:txBody>
      </p:sp>
      <p:sp>
        <p:nvSpPr>
          <p:cNvPr id="31" name="Rounded Rectangle 30"/>
          <p:cNvSpPr/>
          <p:nvPr/>
        </p:nvSpPr>
        <p:spPr>
          <a:xfrm>
            <a:off x="10088575" y="5477256"/>
            <a:ext cx="1371600" cy="292608"/>
          </a:xfrm>
          <a:prstGeom prst="roundRect">
            <a:avLst>
              <a:gd name="adj" fmla="val 50000"/>
            </a:avLst>
          </a:prstGeom>
          <a:solidFill>
            <a:srgbClr val="D3D9E1"/>
          </a:solidFill>
          <a:ln>
            <a:noFill/>
          </a:ln>
        </p:spPr>
        <p:txBody>
          <a:bodyPr rtlCol="0" anchor="ctr"/>
          <a:lstStyle/>
          <a:p>
            <a:pPr algn="ctr"/>
          </a:p>
        </p:txBody>
      </p:sp>
      <p:sp>
        <p:nvSpPr>
          <p:cNvPr id="32" name="TextBox 31"/>
          <p:cNvSpPr txBox="1"/>
          <p:nvPr/>
        </p:nvSpPr>
        <p:spPr>
          <a:xfrm>
            <a:off x="10088575" y="5477256"/>
            <a:ext cx="137160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이론 · 실습</a:t>
            </a:r>
          </a:p>
        </p:txBody>
      </p:sp>
      <p:sp>
        <p:nvSpPr>
          <p:cNvPr id="33" name="TextBox 32"/>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01</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HITL: 사람이 결정하는 자리</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추천안이 나온 뒤의 승인 · 거절 · 대기, 그리고 에이전트가 사람에게 묻고 멈추는 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추천안이 나온 뒤: 승인과 거절의 갈림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사건의 설비 명령은 추천안이 아니라 약 13초 뒤 담당자의 </a:t>
            </a:r>
            <a:r>
              <a:rPr sz="1600" b="1">
                <a:solidFill>
                  <a:srgbClr val="1A6FC4"/>
                </a:solidFill>
                <a:latin typeface="맑은 고딕"/>
                <a:ea typeface="맑은 고딕"/>
                <a:cs typeface="맑은 고딕"/>
              </a:rPr>
              <a:t>승인</a:t>
            </a:r>
            <a:r>
              <a:rPr sz="1600" b="0">
                <a:solidFill>
                  <a:srgbClr val="556175"/>
                </a:solidFill>
                <a:latin typeface="맑은 고딕"/>
                <a:ea typeface="맑은 고딕"/>
                <a:cs typeface="맑은 고딕"/>
              </a:rPr>
              <a:t>에서 출발했다.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a:t>
            </a:r>
          </a:p>
        </p:txBody>
      </p:sp>
      <p:pic>
        <p:nvPicPr>
          <p:cNvPr id="6" name="삽화:갈림.svg" descr="illust_695054421254327960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077479" y="455864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626628" y="2100376"/>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a:p>
            <a:pPr algn="ctr" eaLnBrk="0">
              <a:lnSpc>
                <a:spcPct val="110000"/>
              </a:lnSpc>
              <a:spcAft>
                <a:spcPts val="100"/>
              </a:spcAft>
            </a:pPr>
            <a:r>
              <a:rPr sz="1300" b="0">
                <a:solidFill>
                  <a:srgbClr val="556175"/>
                </a:solidFill>
                <a:latin typeface="맑은 고딕"/>
                <a:ea typeface="맑은 고딕"/>
                <a:cs typeface="맑은 고딕"/>
              </a:rPr>
              <a:t>추천 하나와 대안 셋</a:t>
            </a:r>
          </a:p>
        </p:txBody>
      </p:sp>
      <p:sp>
        <p:nvSpPr>
          <p:cNvPr id="9" name="TextBox 8"/>
          <p:cNvSpPr txBox="1"/>
          <p:nvPr/>
        </p:nvSpPr>
        <p:spPr>
          <a:xfrm>
            <a:off x="5004898" y="2242200"/>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담당자</a:t>
            </a:r>
          </a:p>
          <a:p>
            <a:pPr algn="ctr" eaLnBrk="0">
              <a:lnSpc>
                <a:spcPct val="110000"/>
              </a:lnSpc>
              <a:spcAft>
                <a:spcPts val="100"/>
              </a:spcAft>
            </a:pPr>
            <a:r>
              <a:rPr sz="1300" b="0">
                <a:solidFill>
                  <a:srgbClr val="556175"/>
                </a:solidFill>
                <a:latin typeface="맑은 고딕"/>
                <a:ea typeface="맑은 고딕"/>
                <a:cs typeface="맑은 고딕"/>
              </a:rPr>
              <a:t>승인 11:14:56</a:t>
            </a:r>
          </a:p>
        </p:txBody>
      </p:sp>
      <p:sp>
        <p:nvSpPr>
          <p:cNvPr id="10" name="TextBox 9"/>
          <p:cNvSpPr txBox="1"/>
          <p:nvPr/>
        </p:nvSpPr>
        <p:spPr>
          <a:xfrm>
            <a:off x="3870310" y="5220492"/>
            <a:ext cx="218189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대기 약 13초</a:t>
            </a:r>
          </a:p>
        </p:txBody>
      </p:sp>
      <p:sp>
        <p:nvSpPr>
          <p:cNvPr id="11" name="TextBox 10"/>
          <p:cNvSpPr txBox="1"/>
          <p:nvPr/>
        </p:nvSpPr>
        <p:spPr>
          <a:xfrm>
            <a:off x="7732271" y="3093140"/>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2" name="TextBox 11"/>
          <p:cNvSpPr txBox="1"/>
          <p:nvPr/>
        </p:nvSpPr>
        <p:spPr>
          <a:xfrm>
            <a:off x="8168651" y="3282238"/>
            <a:ext cx="1854614" cy="825246"/>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 11:14:57</a:t>
            </a:r>
          </a:p>
          <a:p>
            <a:pPr algn="ctr" eaLnBrk="0">
              <a:lnSpc>
                <a:spcPct val="110000"/>
              </a:lnSpc>
              <a:spcAft>
                <a:spcPts val="100"/>
              </a:spcAft>
            </a:pPr>
            <a:r>
              <a:rPr sz="1300" b="0">
                <a:solidFill>
                  <a:srgbClr val="556175"/>
                </a:solidFill>
                <a:latin typeface="맑은 고딕"/>
                <a:ea typeface="맑은 고딕"/>
                <a:cs typeface="맑은 고딕"/>
              </a:rPr>
              <a:t>팬 속도 100 %</a:t>
            </a:r>
          </a:p>
        </p:txBody>
      </p:sp>
      <p:sp>
        <p:nvSpPr>
          <p:cNvPr id="13" name="TextBox 12"/>
          <p:cNvSpPr txBox="1"/>
          <p:nvPr/>
        </p:nvSpPr>
        <p:spPr>
          <a:xfrm>
            <a:off x="10110541" y="3140415"/>
            <a:ext cx="1418234" cy="62382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재관측과 작업지시</a:t>
            </a:r>
          </a:p>
        </p:txBody>
      </p:sp>
      <p:sp>
        <p:nvSpPr>
          <p:cNvPr id="14" name="TextBox 13"/>
          <p:cNvSpPr txBox="1"/>
          <p:nvPr/>
        </p:nvSpPr>
        <p:spPr>
          <a:xfrm>
            <a:off x="7732271" y="4464100"/>
            <a:ext cx="87275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거절</a:t>
            </a:r>
          </a:p>
        </p:txBody>
      </p:sp>
      <p:sp>
        <p:nvSpPr>
          <p:cNvPr id="15" name="TextBox 14"/>
          <p:cNvSpPr txBox="1"/>
          <p:nvPr/>
        </p:nvSpPr>
        <p:spPr>
          <a:xfrm>
            <a:off x="9586886" y="5031394"/>
            <a:ext cx="196370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없이 닫힌다</a:t>
            </a:r>
          </a:p>
          <a:p>
            <a:pPr algn="ctr" eaLnBrk="0">
              <a:lnSpc>
                <a:spcPct val="110000"/>
              </a:lnSpc>
              <a:spcAft>
                <a:spcPts val="100"/>
              </a:spcAft>
            </a:pPr>
            <a:r>
              <a:rPr sz="1300" b="0">
                <a:solidFill>
                  <a:srgbClr val="556175"/>
                </a:solidFill>
                <a:latin typeface="맑은 고딕"/>
                <a:ea typeface="맑은 고딕"/>
                <a:cs typeface="맑은 고딕"/>
              </a:rPr>
              <a:t>사유가 기록에 남는다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HITL(Human-in-the-Loop): 자동 처리와 사람의 결정</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HITL은 자동 처리의 정해진 지점에 사람의 결정을 넣어, 되돌리기 어려운 결정을 책임질 사람에게 맡긴다.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a:t>
            </a:r>
          </a:p>
        </p:txBody>
      </p:sp>
      <p:sp>
        <p:nvSpPr>
          <p:cNvPr id="6" name="Rounded Rectangle 5"/>
          <p:cNvSpPr/>
          <p:nvPr/>
        </p:nvSpPr>
        <p:spPr>
          <a:xfrm>
            <a:off x="548640" y="2533459"/>
            <a:ext cx="5181447" cy="2915793"/>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34627"/>
            <a:ext cx="731520" cy="731520"/>
          </a:xfrm>
          <a:prstGeom prst="ellipse">
            <a:avLst/>
          </a:prstGeom>
          <a:solidFill>
            <a:srgbClr val="FFFFFF"/>
          </a:solidFill>
          <a:ln>
            <a:noFill/>
          </a:ln>
        </p:spPr>
        <p:txBody>
          <a:bodyPr rtlCol="0" anchor="ctr"/>
          <a:lstStyle/>
          <a:p>
            <a:pPr algn="ctr"/>
          </a:p>
        </p:txBody>
      </p:sp>
      <p:pic>
        <p:nvPicPr>
          <p:cNvPr id="8" name="아이콘:settings-automation" descr="settings-automation_13294B_1.6.png"/>
          <p:cNvPicPr>
            <a:picLocks noChangeAspect="1"/>
          </p:cNvPicPr>
          <p:nvPr/>
        </p:nvPicPr>
        <p:blipFill>
          <a:blip r:embed="rId3"/>
          <a:stretch>
            <a:fillRect/>
          </a:stretch>
        </p:blipFill>
        <p:spPr>
          <a:xfrm>
            <a:off x="976579" y="2888246"/>
            <a:ext cx="424281" cy="424281"/>
          </a:xfrm>
          <a:prstGeom prst="rect">
            <a:avLst/>
          </a:prstGeom>
        </p:spPr>
      </p:pic>
      <p:sp>
        <p:nvSpPr>
          <p:cNvPr id="9" name="TextBox 8"/>
          <p:cNvSpPr txBox="1"/>
          <p:nvPr/>
        </p:nvSpPr>
        <p:spPr>
          <a:xfrm>
            <a:off x="1691640"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자동으로 처리한다</a:t>
            </a:r>
          </a:p>
        </p:txBody>
      </p:sp>
      <p:sp>
        <p:nvSpPr>
          <p:cNvPr id="10" name="TextBox 9"/>
          <p:cNvSpPr txBox="1"/>
          <p:nvPr/>
        </p:nvSpPr>
        <p:spPr>
          <a:xfrm>
            <a:off x="822959"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값의 조회, 원인 판정, 후보 비교, 형식 검사</a:t>
            </a:r>
          </a:p>
          <a:p>
            <a:pPr algn="l" eaLnBrk="0" marL="188595" indent="-188595">
              <a:lnSpc>
                <a:spcPct val="110000"/>
              </a:lnSpc>
              <a:spcAft>
                <a:spcPts val="600"/>
              </a:spcAft>
            </a:pPr>
            <a:r>
              <a:rPr sz="1650" b="0">
                <a:solidFill>
                  <a:srgbClr val="1F2A3A"/>
                </a:solidFill>
                <a:latin typeface="맑은 고딕"/>
                <a:ea typeface="맑은 고딕"/>
                <a:cs typeface="맑은 고딕"/>
              </a:rPr>
              <a:t>• 틀리면 다시 실행하면 된다</a:t>
            </a:r>
          </a:p>
          <a:p>
            <a:pPr algn="l" eaLnBrk="0" marL="188595" indent="-188595">
              <a:lnSpc>
                <a:spcPct val="110000"/>
              </a:lnSpc>
              <a:spcAft>
                <a:spcPts val="600"/>
              </a:spcAft>
            </a:pPr>
            <a:r>
              <a:rPr sz="1650" b="0">
                <a:solidFill>
                  <a:srgbClr val="1F2A3A"/>
                </a:solidFill>
                <a:latin typeface="맑은 고딕"/>
                <a:ea typeface="맑은 고딕"/>
                <a:cs typeface="맑은 고딕"/>
              </a:rPr>
              <a:t>• 설비와 업무 기록은 그대로이다</a:t>
            </a:r>
          </a:p>
        </p:txBody>
      </p:sp>
      <p:sp>
        <p:nvSpPr>
          <p:cNvPr id="11" name="Rounded Rectangle 10"/>
          <p:cNvSpPr/>
          <p:nvPr/>
        </p:nvSpPr>
        <p:spPr>
          <a:xfrm>
            <a:off x="868680" y="4992052"/>
            <a:ext cx="1630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92052"/>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에이전트와 시스템</a:t>
            </a:r>
          </a:p>
        </p:txBody>
      </p:sp>
      <p:sp>
        <p:nvSpPr>
          <p:cNvPr id="13" name="Rounded Rectangle 12"/>
          <p:cNvSpPr/>
          <p:nvPr/>
        </p:nvSpPr>
        <p:spPr>
          <a:xfrm>
            <a:off x="6461607" y="2533459"/>
            <a:ext cx="5181447" cy="2915793"/>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34627"/>
            <a:ext cx="731520" cy="731520"/>
          </a:xfrm>
          <a:prstGeom prst="ellipse">
            <a:avLst/>
          </a:prstGeom>
          <a:solidFill>
            <a:srgbClr val="5CB8F2"/>
          </a:solidFill>
          <a:ln>
            <a:noFill/>
          </a:ln>
        </p:spPr>
        <p:txBody>
          <a:bodyPr rtlCol="0" anchor="ctr"/>
          <a:lstStyle/>
          <a:p>
            <a:pPr algn="ctr"/>
          </a:p>
        </p:txBody>
      </p:sp>
      <p:pic>
        <p:nvPicPr>
          <p:cNvPr id="15" name="아이콘:user-check" descr="user-check_13294B_1.6.png"/>
          <p:cNvPicPr>
            <a:picLocks noChangeAspect="1"/>
          </p:cNvPicPr>
          <p:nvPr/>
        </p:nvPicPr>
        <p:blipFill>
          <a:blip r:embed="rId4"/>
          <a:stretch>
            <a:fillRect/>
          </a:stretch>
        </p:blipFill>
        <p:spPr>
          <a:xfrm>
            <a:off x="6889546" y="2888246"/>
            <a:ext cx="424281" cy="424281"/>
          </a:xfrm>
          <a:prstGeom prst="rect">
            <a:avLst/>
          </a:prstGeom>
        </p:spPr>
      </p:pic>
      <p:sp>
        <p:nvSpPr>
          <p:cNvPr id="16" name="TextBox 15"/>
          <p:cNvSpPr txBox="1"/>
          <p:nvPr/>
        </p:nvSpPr>
        <p:spPr>
          <a:xfrm>
            <a:off x="7604607" y="2734627"/>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사람이 결정한다</a:t>
            </a:r>
          </a:p>
        </p:txBody>
      </p:sp>
      <p:sp>
        <p:nvSpPr>
          <p:cNvPr id="17" name="TextBox 16"/>
          <p:cNvSpPr txBox="1"/>
          <p:nvPr/>
        </p:nvSpPr>
        <p:spPr>
          <a:xfrm>
            <a:off x="6735927" y="3585019"/>
            <a:ext cx="4632807" cy="1315593"/>
          </a:xfrm>
          <a:prstGeom prst="rect">
            <a:avLst/>
          </a:prstGeom>
          <a:noFill/>
        </p:spPr>
        <p:txBody>
          <a:bodyPr wrap="square" anchor="t"/>
          <a:lstStyle/>
          <a:p>
            <a:pPr algn="l" eaLnBrk="0" marL="188595" indent="-188595">
              <a:lnSpc>
                <a:spcPct val="110000"/>
              </a:lnSpc>
              <a:spcAft>
                <a:spcPts val="600"/>
              </a:spcAft>
            </a:pPr>
            <a:r>
              <a:rPr sz="1650" b="0">
                <a:solidFill>
                  <a:srgbClr val="1F2A3A"/>
                </a:solidFill>
                <a:latin typeface="맑은 고딕"/>
                <a:ea typeface="맑은 고딕"/>
                <a:cs typeface="맑은 고딕"/>
              </a:rPr>
              <a:t>• 설비 명령, 작업지시처럼 현장을 바꾸는 일</a:t>
            </a:r>
          </a:p>
          <a:p>
            <a:pPr algn="l" eaLnBrk="0" marL="188595" indent="-188595">
              <a:lnSpc>
                <a:spcPct val="110000"/>
              </a:lnSpc>
              <a:spcAft>
                <a:spcPts val="600"/>
              </a:spcAft>
            </a:pPr>
            <a:r>
              <a:rPr sz="1650" b="0">
                <a:solidFill>
                  <a:srgbClr val="1F2A3A"/>
                </a:solidFill>
                <a:latin typeface="맑은 고딕"/>
                <a:ea typeface="맑은 고딕"/>
                <a:cs typeface="맑은 고딕"/>
              </a:rPr>
              <a:t>• 실행하면 설비의 상태와 생산이 달라진다</a:t>
            </a:r>
          </a:p>
          <a:p>
            <a:pPr algn="l" eaLnBrk="0" marL="188595" indent="-188595">
              <a:lnSpc>
                <a:spcPct val="110000"/>
              </a:lnSpc>
              <a:spcAft>
                <a:spcPts val="600"/>
              </a:spcAft>
            </a:pPr>
            <a:r>
              <a:rPr sz="1650" b="0">
                <a:solidFill>
                  <a:srgbClr val="1F2A3A"/>
                </a:solidFill>
                <a:latin typeface="맑은 고딕"/>
                <a:ea typeface="맑은 고딕"/>
                <a:cs typeface="맑은 고딕"/>
              </a:rPr>
              <a:t>• 결과를 책임질 역할이 정해져 있다</a:t>
            </a:r>
          </a:p>
        </p:txBody>
      </p:sp>
      <p:sp>
        <p:nvSpPr>
          <p:cNvPr id="18" name="Rounded Rectangle 17"/>
          <p:cNvSpPr/>
          <p:nvPr/>
        </p:nvSpPr>
        <p:spPr>
          <a:xfrm>
            <a:off x="6781647" y="4992052"/>
            <a:ext cx="16763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92052"/>
            <a:ext cx="16763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승인 역할의 담당자</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사람이 개입하는 세 지점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사람이 개입하는 자리는 추천안을 승인하는 단계, 에이전트의 질문에 답하는 때, 멈춘 작업을 닫는 때의 셋이다.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7</a:t>
            </a:r>
          </a:p>
        </p:txBody>
      </p:sp>
      <p:pic>
        <p:nvPicPr>
          <p:cNvPr id="6" name="삽화:세지점.svg" descr="illust_2105988814217506253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3150283" y="1627632"/>
            <a:ext cx="218189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 단계</a:t>
            </a:r>
          </a:p>
        </p:txBody>
      </p:sp>
      <p:sp>
        <p:nvSpPr>
          <p:cNvPr id="8" name="TextBox 7"/>
          <p:cNvSpPr txBox="1"/>
          <p:nvPr/>
        </p:nvSpPr>
        <p:spPr>
          <a:xfrm>
            <a:off x="7295892" y="162763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승인 단계</a:t>
            </a:r>
          </a:p>
        </p:txBody>
      </p:sp>
      <p:sp>
        <p:nvSpPr>
          <p:cNvPr id="9" name="TextBox 8"/>
          <p:cNvSpPr txBox="1"/>
          <p:nvPr/>
        </p:nvSpPr>
        <p:spPr>
          <a:xfrm>
            <a:off x="9150506" y="1627632"/>
            <a:ext cx="1527329" cy="337185"/>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시스템 실행</a:t>
            </a:r>
          </a:p>
        </p:txBody>
      </p:sp>
      <p:sp>
        <p:nvSpPr>
          <p:cNvPr id="10" name="TextBox 9"/>
          <p:cNvSpPr txBox="1"/>
          <p:nvPr/>
        </p:nvSpPr>
        <p:spPr>
          <a:xfrm>
            <a:off x="1241122" y="5267766"/>
            <a:ext cx="3054658"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에이전트의 질문</a:t>
            </a:r>
          </a:p>
          <a:p>
            <a:pPr algn="ctr" eaLnBrk="0">
              <a:lnSpc>
                <a:spcPct val="110000"/>
              </a:lnSpc>
              <a:spcAft>
                <a:spcPts val="100"/>
              </a:spcAft>
            </a:pPr>
            <a:r>
              <a:rPr sz="1100" b="0">
                <a:solidFill>
                  <a:srgbClr val="556175"/>
                </a:solidFill>
                <a:latin typeface="맑은 고딕"/>
                <a:ea typeface="맑은 고딕"/>
                <a:cs typeface="맑은 고딕"/>
              </a:rPr>
              <a:t>필수 정보가 없을 때</a:t>
            </a:r>
          </a:p>
          <a:p>
            <a:pPr algn="ctr" eaLnBrk="0">
              <a:lnSpc>
                <a:spcPct val="110000"/>
              </a:lnSpc>
              <a:spcAft>
                <a:spcPts val="100"/>
              </a:spcAft>
            </a:pPr>
            <a:r>
              <a:rPr sz="1100" b="0">
                <a:solidFill>
                  <a:srgbClr val="556175"/>
                </a:solidFill>
                <a:latin typeface="맑은 고딕"/>
                <a:ea typeface="맑은 고딕"/>
                <a:cs typeface="맑은 고딕"/>
              </a:rPr>
              <a:t>담당자가 답하면 이어서 처리한다</a:t>
            </a:r>
          </a:p>
        </p:txBody>
      </p:sp>
      <p:sp>
        <p:nvSpPr>
          <p:cNvPr id="11" name="TextBox 10"/>
          <p:cNvSpPr txBox="1"/>
          <p:nvPr/>
        </p:nvSpPr>
        <p:spPr>
          <a:xfrm>
            <a:off x="4623065" y="5267766"/>
            <a:ext cx="2836468" cy="678053"/>
          </a:xfrm>
          <a:prstGeom prst="rect">
            <a:avLst/>
          </a:prstGeom>
          <a:noFill/>
        </p:spPr>
        <p:txBody>
          <a:bodyPr wrap="square" anchor="t"/>
          <a:lstStyle/>
          <a:p>
            <a:pPr algn="ctr" eaLnBrk="0">
              <a:lnSpc>
                <a:spcPct val="110000"/>
              </a:lnSpc>
              <a:spcAft>
                <a:spcPts val="100"/>
              </a:spcAft>
            </a:pPr>
            <a:r>
              <a:rPr sz="1350" b="1">
                <a:solidFill>
                  <a:srgbClr val="13294B"/>
                </a:solidFill>
                <a:latin typeface="맑은 고딕"/>
                <a:ea typeface="맑은 고딕"/>
                <a:cs typeface="맑은 고딕"/>
              </a:rPr>
              <a:t>멈춘 작업 닫기</a:t>
            </a:r>
          </a:p>
          <a:p>
            <a:pPr algn="ctr" eaLnBrk="0">
              <a:lnSpc>
                <a:spcPct val="110000"/>
              </a:lnSpc>
              <a:spcAft>
                <a:spcPts val="100"/>
              </a:spcAft>
            </a:pPr>
            <a:r>
              <a:rPr sz="1100" b="0">
                <a:solidFill>
                  <a:srgbClr val="556175"/>
                </a:solidFill>
                <a:latin typeface="맑은 고딕"/>
                <a:ea typeface="맑은 고딕"/>
                <a:cs typeface="맑은 고딕"/>
              </a:rPr>
              <a:t>한도를 넘겨 멈췄을 때</a:t>
            </a:r>
          </a:p>
          <a:p>
            <a:pPr algn="ctr" eaLnBrk="0">
              <a:lnSpc>
                <a:spcPct val="110000"/>
              </a:lnSpc>
              <a:spcAft>
                <a:spcPts val="100"/>
              </a:spcAft>
            </a:pPr>
            <a:r>
              <a:rPr sz="1100" b="0">
                <a:solidFill>
                  <a:srgbClr val="556175"/>
                </a:solidFill>
                <a:latin typeface="맑은 고딕"/>
                <a:ea typeface="맑은 고딕"/>
                <a:cs typeface="맑은 고딕"/>
              </a:rPr>
              <a:t>담당자가 사유를 적고 닫는다</a:t>
            </a:r>
          </a:p>
        </p:txBody>
      </p:sp>
      <p:sp>
        <p:nvSpPr>
          <p:cNvPr id="12" name="TextBox 11"/>
          <p:cNvSpPr txBox="1"/>
          <p:nvPr/>
        </p:nvSpPr>
        <p:spPr>
          <a:xfrm>
            <a:off x="7950461" y="5267766"/>
            <a:ext cx="3272848" cy="678053"/>
          </a:xfrm>
          <a:prstGeom prst="rect">
            <a:avLst/>
          </a:prstGeom>
          <a:noFill/>
        </p:spPr>
        <p:txBody>
          <a:bodyPr wrap="square" anchor="t"/>
          <a:lstStyle/>
          <a:p>
            <a:pPr algn="ctr" eaLnBrk="0">
              <a:lnSpc>
                <a:spcPct val="110000"/>
              </a:lnSpc>
              <a:spcAft>
                <a:spcPts val="100"/>
              </a:spcAft>
            </a:pPr>
            <a:r>
              <a:rPr sz="1350" b="1">
                <a:solidFill>
                  <a:srgbClr val="1A6FC4"/>
                </a:solidFill>
                <a:latin typeface="맑은 고딕"/>
                <a:ea typeface="맑은 고딕"/>
                <a:cs typeface="맑은 고딕"/>
              </a:rPr>
              <a:t>승인과 거절</a:t>
            </a:r>
          </a:p>
          <a:p>
            <a:pPr algn="ctr" eaLnBrk="0">
              <a:lnSpc>
                <a:spcPct val="110000"/>
              </a:lnSpc>
              <a:spcAft>
                <a:spcPts val="100"/>
              </a:spcAft>
            </a:pPr>
            <a:r>
              <a:rPr sz="1100" b="0">
                <a:solidFill>
                  <a:srgbClr val="556175"/>
                </a:solidFill>
                <a:latin typeface="맑은 고딕"/>
                <a:ea typeface="맑은 고딕"/>
                <a:cs typeface="맑은 고딕"/>
              </a:rPr>
              <a:t>추천안이 나온 뒤, 실행하기 전</a:t>
            </a:r>
          </a:p>
          <a:p>
            <a:pPr algn="ctr" eaLnBrk="0">
              <a:lnSpc>
                <a:spcPct val="110000"/>
              </a:lnSpc>
              <a:spcAft>
                <a:spcPts val="100"/>
              </a:spcAft>
            </a:pPr>
            <a:r>
              <a:rPr sz="1100" b="0">
                <a:solidFill>
                  <a:srgbClr val="556175"/>
                </a:solidFill>
                <a:latin typeface="맑은 고딕"/>
                <a:ea typeface="맑은 고딕"/>
                <a:cs typeface="맑은 고딕"/>
              </a:rPr>
              <a:t>승인 역할의 담당자가 결정한다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승인과 거절이 남기는 결과</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승인은 설비 명령과 재관측과 작업지시로 이어지고, 거절은 사유만 남긴 채 명령 없이 처리 건을 닫는다.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8</a:t>
            </a:r>
          </a:p>
        </p:txBody>
      </p:sp>
      <p:sp>
        <p:nvSpPr>
          <p:cNvPr id="6" name="Rounded Rectangle 5"/>
          <p:cNvSpPr/>
          <p:nvPr/>
        </p:nvSpPr>
        <p:spPr>
          <a:xfrm>
            <a:off x="548640"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7" name="Oval 6"/>
          <p:cNvSpPr/>
          <p:nvPr/>
        </p:nvSpPr>
        <p:spPr>
          <a:xfrm>
            <a:off x="822959" y="2344674"/>
            <a:ext cx="731520" cy="731520"/>
          </a:xfrm>
          <a:prstGeom prst="ellipse">
            <a:avLst/>
          </a:prstGeom>
          <a:solidFill>
            <a:srgbClr val="5CB8F2"/>
          </a:solidFill>
          <a:ln>
            <a:noFill/>
          </a:ln>
        </p:spPr>
        <p:txBody>
          <a:bodyPr rtlCol="0" anchor="ctr"/>
          <a:lstStyle/>
          <a:p>
            <a:pPr algn="ctr"/>
          </a:p>
        </p:txBody>
      </p:sp>
      <p:pic>
        <p:nvPicPr>
          <p:cNvPr id="8" name="아이콘:circle-check" descr="circle-check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승인</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1초 뒤 팬 속도 100 % 명령이 나간다</a:t>
            </a:r>
          </a:p>
          <a:p>
            <a:pPr algn="l" eaLnBrk="0" marL="205740" indent="-205740">
              <a:lnSpc>
                <a:spcPct val="110000"/>
              </a:lnSpc>
              <a:spcAft>
                <a:spcPts val="600"/>
              </a:spcAft>
            </a:pPr>
            <a:r>
              <a:rPr sz="1800" b="0">
                <a:solidFill>
                  <a:srgbClr val="1F2A3A"/>
                </a:solidFill>
                <a:latin typeface="맑은 고딕"/>
                <a:ea typeface="맑은 고딕"/>
                <a:cs typeface="맑은 고딕"/>
              </a:rPr>
              <a:t>• 재관측에서 유온 51.5 ℃, 경보가 해제된다</a:t>
            </a:r>
          </a:p>
          <a:p>
            <a:pPr algn="l" eaLnBrk="0" marL="205740" indent="-205740">
              <a:lnSpc>
                <a:spcPct val="110000"/>
              </a:lnSpc>
              <a:spcAft>
                <a:spcPts val="600"/>
              </a:spcAft>
            </a:pPr>
            <a:r>
              <a:rPr sz="1800" b="0">
                <a:solidFill>
                  <a:srgbClr val="1F2A3A"/>
                </a:solidFill>
                <a:latin typeface="맑은 고딕"/>
                <a:ea typeface="맑은 고딕"/>
                <a:cs typeface="맑은 고딕"/>
              </a:rPr>
              <a:t>• 작업지시 WO-1010-C058이 등록된다</a:t>
            </a:r>
          </a:p>
        </p:txBody>
      </p:sp>
      <p:sp>
        <p:nvSpPr>
          <p:cNvPr id="11" name="Rounded Rectangle 10"/>
          <p:cNvSpPr/>
          <p:nvPr/>
        </p:nvSpPr>
        <p:spPr>
          <a:xfrm>
            <a:off x="868680" y="5382006"/>
            <a:ext cx="1630680" cy="292608"/>
          </a:xfrm>
          <a:prstGeom prst="roundRect">
            <a:avLst>
              <a:gd name="adj" fmla="val 50000"/>
            </a:avLst>
          </a:prstGeom>
          <a:solidFill>
            <a:srgbClr val="5CB8F2"/>
          </a:solidFill>
          <a:ln>
            <a:noFill/>
          </a:ln>
        </p:spPr>
        <p:txBody>
          <a:bodyPr rtlCol="0" anchor="ctr"/>
          <a:lstStyle/>
          <a:p>
            <a:pPr algn="ctr"/>
          </a:p>
        </p:txBody>
      </p:sp>
      <p:sp>
        <p:nvSpPr>
          <p:cNvPr id="12" name="TextBox 11"/>
          <p:cNvSpPr txBox="1"/>
          <p:nvPr/>
        </p:nvSpPr>
        <p:spPr>
          <a:xfrm>
            <a:off x="868680" y="5382006"/>
            <a:ext cx="1630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명령이 만들어진다</a:t>
            </a:r>
          </a:p>
        </p:txBody>
      </p:sp>
      <p:sp>
        <p:nvSpPr>
          <p:cNvPr id="13" name="Rounded Rectangle 12"/>
          <p:cNvSpPr/>
          <p:nvPr/>
        </p:nvSpPr>
        <p:spPr>
          <a:xfrm>
            <a:off x="6461607" y="2143505"/>
            <a:ext cx="5181447" cy="3695700"/>
          </a:xfrm>
          <a:prstGeom prst="roundRect">
            <a:avLst>
              <a:gd name="adj" fmla="val 4000"/>
            </a:avLst>
          </a:prstGeom>
          <a:solidFill>
            <a:srgbClr val="F3F6F9"/>
          </a:solidFill>
          <a:ln>
            <a:noFill/>
          </a:ln>
        </p:spPr>
        <p:txBody>
          <a:bodyPr rtlCol="0" anchor="ctr"/>
          <a:lstStyle/>
          <a:p>
            <a:pPr algn="ctr"/>
          </a:p>
        </p:txBody>
      </p:sp>
      <p:sp>
        <p:nvSpPr>
          <p:cNvPr id="14" name="Oval 13"/>
          <p:cNvSpPr/>
          <p:nvPr/>
        </p:nvSpPr>
        <p:spPr>
          <a:xfrm>
            <a:off x="6735927" y="2344674"/>
            <a:ext cx="731520" cy="731520"/>
          </a:xfrm>
          <a:prstGeom prst="ellipse">
            <a:avLst/>
          </a:prstGeom>
          <a:solidFill>
            <a:srgbClr val="FFFFFF"/>
          </a:solidFill>
          <a:ln>
            <a:noFill/>
          </a:ln>
        </p:spPr>
        <p:txBody>
          <a:bodyPr rtlCol="0" anchor="ctr"/>
          <a:lstStyle/>
          <a:p>
            <a:pPr algn="ctr"/>
          </a:p>
        </p:txBody>
      </p:sp>
      <p:pic>
        <p:nvPicPr>
          <p:cNvPr id="15" name="아이콘:ban" descr="ban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거절</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사유를 적어야 거절이 받아들여진다</a:t>
            </a:r>
          </a:p>
          <a:p>
            <a:pPr algn="l" eaLnBrk="0" marL="205740" indent="-205740">
              <a:lnSpc>
                <a:spcPct val="110000"/>
              </a:lnSpc>
              <a:spcAft>
                <a:spcPts val="600"/>
              </a:spcAft>
            </a:pPr>
            <a:r>
              <a:rPr sz="1800" b="0">
                <a:solidFill>
                  <a:srgbClr val="1F2A3A"/>
                </a:solidFill>
                <a:latin typeface="맑은 고딕"/>
                <a:ea typeface="맑은 고딕"/>
                <a:cs typeface="맑은 고딕"/>
              </a:rPr>
              <a:t>• 설비 명령 · 업무 처리 · 메일이 0건이다</a:t>
            </a:r>
          </a:p>
          <a:p>
            <a:pPr algn="l" eaLnBrk="0" marL="205740" indent="-205740">
              <a:lnSpc>
                <a:spcPct val="110000"/>
              </a:lnSpc>
              <a:spcAft>
                <a:spcPts val="600"/>
              </a:spcAft>
            </a:pPr>
            <a:r>
              <a:rPr sz="1800" b="0">
                <a:solidFill>
                  <a:srgbClr val="1F2A3A"/>
                </a:solidFill>
                <a:latin typeface="맑은 고딕"/>
                <a:ea typeface="맑은 고딕"/>
                <a:cs typeface="맑은 고딕"/>
              </a:rPr>
              <a:t>• 「담당자가 거절했습니다 — 사유: … 설비 명령은 내지 않았습니다」</a:t>
            </a:r>
          </a:p>
        </p:txBody>
      </p:sp>
      <p:sp>
        <p:nvSpPr>
          <p:cNvPr id="18" name="Rounded Rectangle 17"/>
          <p:cNvSpPr/>
          <p:nvPr/>
        </p:nvSpPr>
        <p:spPr>
          <a:xfrm>
            <a:off x="6781647" y="5382006"/>
            <a:ext cx="1523999" cy="292608"/>
          </a:xfrm>
          <a:prstGeom prst="roundRect">
            <a:avLst>
              <a:gd name="adj" fmla="val 50000"/>
            </a:avLst>
          </a:prstGeom>
          <a:solidFill>
            <a:srgbClr val="D3D9E1"/>
          </a:solidFill>
          <a:ln>
            <a:noFill/>
          </a:ln>
        </p:spPr>
        <p:txBody>
          <a:bodyPr rtlCol="0" anchor="ctr"/>
          <a:lstStyle/>
          <a:p>
            <a:pPr algn="ctr"/>
          </a:p>
        </p:txBody>
      </p:sp>
      <p:sp>
        <p:nvSpPr>
          <p:cNvPr id="19" name="TextBox 18"/>
          <p:cNvSpPr txBox="1"/>
          <p:nvPr/>
        </p:nvSpPr>
        <p:spPr>
          <a:xfrm>
            <a:off x="6781647"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명령 없이 닫힌다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응답이 없을 때: 지연 알림과 대기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응답이 없는 승인 작업은 기한 10분 뒤에 지연 알림을 낼 뿐 닫히지 않고 담당자의 결정을 계속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9</a:t>
            </a:r>
          </a:p>
        </p:txBody>
      </p:sp>
      <p:pic>
        <p:nvPicPr>
          <p:cNvPr id="6" name="삽화:무응답.svg" descr="illust_5682981713098808367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1273850" y="167490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요청</a:t>
            </a:r>
          </a:p>
          <a:p>
            <a:pPr algn="ctr" eaLnBrk="0">
              <a:lnSpc>
                <a:spcPct val="110000"/>
              </a:lnSpc>
              <a:spcAft>
                <a:spcPts val="100"/>
              </a:spcAft>
            </a:pPr>
            <a:r>
              <a:rPr sz="1300" b="0">
                <a:solidFill>
                  <a:srgbClr val="556175"/>
                </a:solidFill>
                <a:latin typeface="맑은 고딕"/>
                <a:ea typeface="맑은 고딕"/>
                <a:cs typeface="맑은 고딕"/>
              </a:rPr>
              <a:t>추천안이 올라온다</a:t>
            </a:r>
          </a:p>
        </p:txBody>
      </p:sp>
      <p:sp>
        <p:nvSpPr>
          <p:cNvPr id="8" name="TextBox 7"/>
          <p:cNvSpPr txBox="1"/>
          <p:nvPr/>
        </p:nvSpPr>
        <p:spPr>
          <a:xfrm>
            <a:off x="4863074" y="1674906"/>
            <a:ext cx="283646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 지연 알림</a:t>
            </a:r>
          </a:p>
          <a:p>
            <a:pPr algn="ctr" eaLnBrk="0">
              <a:lnSpc>
                <a:spcPct val="110000"/>
              </a:lnSpc>
              <a:spcAft>
                <a:spcPts val="100"/>
              </a:spcAft>
            </a:pPr>
            <a:r>
              <a:rPr sz="1300" b="0">
                <a:solidFill>
                  <a:srgbClr val="556175"/>
                </a:solidFill>
                <a:latin typeface="맑은 고딕"/>
                <a:ea typeface="맑은 고딕"/>
                <a:cs typeface="맑은 고딕"/>
              </a:rPr>
              <a:t>기한 10분이 지나면 나간다</a:t>
            </a:r>
          </a:p>
        </p:txBody>
      </p:sp>
      <p:sp>
        <p:nvSpPr>
          <p:cNvPr id="9" name="TextBox 8"/>
          <p:cNvSpPr txBox="1"/>
          <p:nvPr/>
        </p:nvSpPr>
        <p:spPr>
          <a:xfrm>
            <a:off x="8277746" y="1674906"/>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뒤늦은 승인</a:t>
            </a:r>
          </a:p>
          <a:p>
            <a:pPr algn="ctr" eaLnBrk="0">
              <a:lnSpc>
                <a:spcPct val="110000"/>
              </a:lnSpc>
              <a:spcAft>
                <a:spcPts val="100"/>
              </a:spcAft>
            </a:pPr>
            <a:r>
              <a:rPr sz="1300" b="0">
                <a:solidFill>
                  <a:srgbClr val="556175"/>
                </a:solidFill>
                <a:latin typeface="맑은 고딕"/>
                <a:ea typeface="맑은 고딕"/>
                <a:cs typeface="맑은 고딕"/>
              </a:rPr>
              <a:t>정상으로 처리된다</a:t>
            </a:r>
          </a:p>
        </p:txBody>
      </p:sp>
      <p:sp>
        <p:nvSpPr>
          <p:cNvPr id="10" name="TextBox 9"/>
          <p:cNvSpPr txBox="1"/>
          <p:nvPr/>
        </p:nvSpPr>
        <p:spPr>
          <a:xfrm>
            <a:off x="3510297" y="3896807"/>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응답 없음</a:t>
            </a:r>
          </a:p>
        </p:txBody>
      </p:sp>
      <p:sp>
        <p:nvSpPr>
          <p:cNvPr id="11" name="TextBox 10"/>
          <p:cNvSpPr txBox="1"/>
          <p:nvPr/>
        </p:nvSpPr>
        <p:spPr>
          <a:xfrm>
            <a:off x="3368473" y="5409590"/>
            <a:ext cx="501836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작업은 열린 채로 기다린다</a:t>
            </a:r>
          </a:p>
          <a:p>
            <a:pPr algn="ctr" eaLnBrk="0">
              <a:lnSpc>
                <a:spcPct val="110000"/>
              </a:lnSpc>
              <a:spcAft>
                <a:spcPts val="100"/>
              </a:spcAft>
            </a:pPr>
            <a:r>
              <a:rPr sz="1300" b="0">
                <a:solidFill>
                  <a:srgbClr val="556175"/>
                </a:solidFill>
                <a:latin typeface="맑은 고딕"/>
                <a:ea typeface="맑은 고딕"/>
                <a:cs typeface="맑은 고딕"/>
              </a:rPr>
              <a:t>알림 뒤에도 승인과 거절을 모두 받는다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에이전트의 질문: 묻고, 답을 받아, 이어서 처리한다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필수 업무 정보가 없고 도구로도 확인할 수 없을 때 에이전트는 값을 짐작하지 않고 담당자에게 묻고 기다린다.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10</a:t>
            </a:r>
          </a:p>
        </p:txBody>
      </p:sp>
      <p:sp>
        <p:nvSpPr>
          <p:cNvPr id="6" name="Rounded Rectangle 5"/>
          <p:cNvSpPr/>
          <p:nvPr/>
        </p:nvSpPr>
        <p:spPr>
          <a:xfrm>
            <a:off x="548640" y="2387854"/>
            <a:ext cx="2485567" cy="320700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570734"/>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1579283" y="2724353"/>
            <a:ext cx="424281" cy="424281"/>
          </a:xfrm>
          <a:prstGeom prst="rect">
            <a:avLst/>
          </a:prstGeom>
        </p:spPr>
      </p:pic>
      <p:sp>
        <p:nvSpPr>
          <p:cNvPr id="9" name="TextBox 8"/>
          <p:cNvSpPr txBox="1"/>
          <p:nvPr/>
        </p:nvSpPr>
        <p:spPr>
          <a:xfrm>
            <a:off x="621792"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정보가 없다</a:t>
            </a:r>
          </a:p>
          <a:p>
            <a:pPr algn="ctr" eaLnBrk="0">
              <a:lnSpc>
                <a:spcPct val="110000"/>
              </a:lnSpc>
              <a:spcAft>
                <a:spcPts val="400"/>
              </a:spcAft>
            </a:pPr>
            <a:r>
              <a:rPr sz="1650" b="0">
                <a:solidFill>
                  <a:srgbClr val="1F2A3A"/>
                </a:solidFill>
                <a:latin typeface="맑은 고딕"/>
                <a:ea typeface="맑은 고딕"/>
                <a:cs typeface="맑은 고딕"/>
              </a:rPr>
              <a:t>조회할 대상 설비가</a:t>
            </a:r>
          </a:p>
          <a:p>
            <a:pPr algn="ctr" eaLnBrk="0">
              <a:lnSpc>
                <a:spcPct val="110000"/>
              </a:lnSpc>
              <a:spcAft>
                <a:spcPts val="400"/>
              </a:spcAft>
            </a:pPr>
            <a:r>
              <a:rPr sz="1650" b="0">
                <a:solidFill>
                  <a:srgbClr val="1F2A3A"/>
                </a:solidFill>
                <a:latin typeface="맑은 고딕"/>
                <a:ea typeface="맑은 고딕"/>
                <a:cs typeface="맑은 고딕"/>
              </a:rPr>
              <a:t>요청에 없고</a:t>
            </a:r>
          </a:p>
          <a:p>
            <a:pPr algn="ctr" eaLnBrk="0">
              <a:lnSpc>
                <a:spcPct val="110000"/>
              </a:lnSpc>
              <a:spcAft>
                <a:spcPts val="400"/>
              </a:spcAft>
            </a:pPr>
            <a:r>
              <a:rPr sz="1650" b="0">
                <a:solidFill>
                  <a:srgbClr val="1F2A3A"/>
                </a:solidFill>
                <a:latin typeface="맑은 고딕"/>
                <a:ea typeface="맑은 고딕"/>
                <a:cs typeface="맑은 고딕"/>
              </a:rPr>
              <a:t>도구로도 정할 수 없다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387854"/>
            <a:ext cx="2485567" cy="320700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2" name="Oval 11"/>
          <p:cNvSpPr/>
          <p:nvPr/>
        </p:nvSpPr>
        <p:spPr>
          <a:xfrm>
            <a:off x="4295279" y="2570734"/>
            <a:ext cx="731520" cy="731520"/>
          </a:xfrm>
          <a:prstGeom prst="ellipse">
            <a:avLst/>
          </a:prstGeom>
          <a:solidFill>
            <a:srgbClr val="5CB8F2"/>
          </a:solidFill>
          <a:ln>
            <a:noFill/>
          </a:ln>
        </p:spPr>
        <p:txBody>
          <a:bodyPr rtlCol="0" anchor="ctr"/>
          <a:lstStyle/>
          <a:p>
            <a:pPr algn="ctr"/>
          </a:p>
        </p:txBody>
      </p:sp>
      <p:pic>
        <p:nvPicPr>
          <p:cNvPr id="13" name="아이콘:message-question" descr="message-question_13294B_1.6.png"/>
          <p:cNvPicPr>
            <a:picLocks noChangeAspect="1"/>
          </p:cNvPicPr>
          <p:nvPr/>
        </p:nvPicPr>
        <p:blipFill>
          <a:blip r:embed="rId4"/>
          <a:stretch>
            <a:fillRect/>
          </a:stretch>
        </p:blipFill>
        <p:spPr>
          <a:xfrm>
            <a:off x="4448898" y="2724353"/>
            <a:ext cx="424281" cy="424281"/>
          </a:xfrm>
          <a:prstGeom prst="rect">
            <a:avLst/>
          </a:prstGeom>
        </p:spPr>
      </p:pic>
      <p:sp>
        <p:nvSpPr>
          <p:cNvPr id="14" name="TextBox 13"/>
          <p:cNvSpPr txBox="1"/>
          <p:nvPr/>
        </p:nvSpPr>
        <p:spPr>
          <a:xfrm>
            <a:off x="3491407"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묻고 멈춘다</a:t>
            </a:r>
          </a:p>
          <a:p>
            <a:pPr algn="ctr" eaLnBrk="0">
              <a:lnSpc>
                <a:spcPct val="110000"/>
              </a:lnSpc>
              <a:spcAft>
                <a:spcPts val="400"/>
              </a:spcAft>
            </a:pPr>
            <a:r>
              <a:rPr sz="1650" b="0">
                <a:solidFill>
                  <a:srgbClr val="1F2A3A"/>
                </a:solidFill>
                <a:latin typeface="맑은 고딕"/>
                <a:ea typeface="맑은 고딕"/>
                <a:cs typeface="맑은 고딕"/>
              </a:rPr>
              <a:t>「조회할 대상 설비를</a:t>
            </a:r>
          </a:p>
          <a:p>
            <a:pPr algn="ctr" eaLnBrk="0">
              <a:lnSpc>
                <a:spcPct val="110000"/>
              </a:lnSpc>
              <a:spcAft>
                <a:spcPts val="400"/>
              </a:spcAft>
            </a:pPr>
            <a:r>
              <a:rPr sz="1650" b="0">
                <a:solidFill>
                  <a:srgbClr val="1F2A3A"/>
                </a:solidFill>
                <a:latin typeface="맑은 고딕"/>
                <a:ea typeface="맑은 고딕"/>
                <a:cs typeface="맑은 고딕"/>
              </a:rPr>
              <a:t>선택해 주세요.」</a:t>
            </a:r>
          </a:p>
          <a:p>
            <a:pPr algn="ctr" eaLnBrk="0">
              <a:lnSpc>
                <a:spcPct val="110000"/>
              </a:lnSpc>
              <a:spcAft>
                <a:spcPts val="400"/>
              </a:spcAft>
            </a:pPr>
            <a:r>
              <a:rPr sz="1650" b="0">
                <a:solidFill>
                  <a:srgbClr val="1F2A3A"/>
                </a:solidFill>
                <a:latin typeface="맑은 고딕"/>
                <a:ea typeface="맑은 고딕"/>
                <a:cs typeface="맑은 고딕"/>
              </a:rPr>
              <a:t>선택지: HYD-02, HYD-03</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387854"/>
            <a:ext cx="2485567" cy="320700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570734"/>
            <a:ext cx="731520" cy="731520"/>
          </a:xfrm>
          <a:prstGeom prst="ellipse">
            <a:avLst/>
          </a:prstGeom>
          <a:solidFill>
            <a:srgbClr val="FFFFFF"/>
          </a:solidFill>
          <a:ln>
            <a:noFill/>
          </a:ln>
        </p:spPr>
        <p:txBody>
          <a:bodyPr rtlCol="0" anchor="ctr"/>
          <a:lstStyle/>
          <a:p>
            <a:pPr algn="ctr"/>
          </a:p>
        </p:txBody>
      </p:sp>
      <p:pic>
        <p:nvPicPr>
          <p:cNvPr id="18" name="아이콘:user-check" descr="user-check_13294B_1.6.png"/>
          <p:cNvPicPr>
            <a:picLocks noChangeAspect="1"/>
          </p:cNvPicPr>
          <p:nvPr/>
        </p:nvPicPr>
        <p:blipFill>
          <a:blip r:embed="rId5"/>
          <a:stretch>
            <a:fillRect/>
          </a:stretch>
        </p:blipFill>
        <p:spPr>
          <a:xfrm>
            <a:off x="7318514" y="2724353"/>
            <a:ext cx="424281" cy="424281"/>
          </a:xfrm>
          <a:prstGeom prst="rect">
            <a:avLst/>
          </a:prstGeom>
        </p:spPr>
      </p:pic>
      <p:sp>
        <p:nvSpPr>
          <p:cNvPr id="19" name="TextBox 18"/>
          <p:cNvSpPr txBox="1"/>
          <p:nvPr/>
        </p:nvSpPr>
        <p:spPr>
          <a:xfrm>
            <a:off x="6361023"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담당자가 답한다</a:t>
            </a:r>
          </a:p>
          <a:p>
            <a:pPr algn="ctr" eaLnBrk="0">
              <a:lnSpc>
                <a:spcPct val="110000"/>
              </a:lnSpc>
              <a:spcAft>
                <a:spcPts val="400"/>
              </a:spcAft>
            </a:pPr>
            <a:r>
              <a:rPr sz="1650" b="0">
                <a:solidFill>
                  <a:srgbClr val="1F2A3A"/>
                </a:solidFill>
                <a:latin typeface="맑은 고딕"/>
                <a:ea typeface="맑은 고딕"/>
                <a:cs typeface="맑은 고딕"/>
              </a:rPr>
              <a:t>「HYD-02」</a:t>
            </a:r>
          </a:p>
          <a:p>
            <a:pPr algn="ctr" eaLnBrk="0">
              <a:lnSpc>
                <a:spcPct val="110000"/>
              </a:lnSpc>
              <a:spcAft>
                <a:spcPts val="400"/>
              </a:spcAft>
            </a:pPr>
            <a:r>
              <a:rPr sz="1650" b="0">
                <a:solidFill>
                  <a:srgbClr val="1F2A3A"/>
                </a:solidFill>
                <a:latin typeface="맑은 고딕"/>
                <a:ea typeface="맑은 고딕"/>
                <a:cs typeface="맑은 고딕"/>
              </a:rPr>
              <a:t>한 질문에</a:t>
            </a:r>
          </a:p>
          <a:p>
            <a:pPr algn="ctr" eaLnBrk="0">
              <a:lnSpc>
                <a:spcPct val="110000"/>
              </a:lnSpc>
              <a:spcAft>
                <a:spcPts val="400"/>
              </a:spcAft>
            </a:pPr>
            <a:r>
              <a:rPr sz="1650" b="0">
                <a:solidFill>
                  <a:srgbClr val="1F2A3A"/>
                </a:solidFill>
                <a:latin typeface="맑은 고딕"/>
                <a:ea typeface="맑은 고딕"/>
                <a:cs typeface="맑은 고딕"/>
              </a:rPr>
              <a:t>답은 한 번</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387854"/>
            <a:ext cx="2485567" cy="320700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570734"/>
            <a:ext cx="731520" cy="731520"/>
          </a:xfrm>
          <a:prstGeom prst="ellipse">
            <a:avLst/>
          </a:prstGeom>
          <a:solidFill>
            <a:srgbClr val="FFFFFF"/>
          </a:solidFill>
          <a:ln>
            <a:noFill/>
          </a:ln>
        </p:spPr>
        <p:txBody>
          <a:bodyPr rtlCol="0" anchor="ctr"/>
          <a:lstStyle/>
          <a:p>
            <a:pPr algn="ctr"/>
          </a:p>
        </p:txBody>
      </p:sp>
      <p:pic>
        <p:nvPicPr>
          <p:cNvPr id="23" name="아이콘:player-play" descr="player-play_13294B_1.6.png"/>
          <p:cNvPicPr>
            <a:picLocks noChangeAspect="1"/>
          </p:cNvPicPr>
          <p:nvPr/>
        </p:nvPicPr>
        <p:blipFill>
          <a:blip r:embed="rId6"/>
          <a:stretch>
            <a:fillRect/>
          </a:stretch>
        </p:blipFill>
        <p:spPr>
          <a:xfrm>
            <a:off x="10188130" y="2724353"/>
            <a:ext cx="424281" cy="424281"/>
          </a:xfrm>
          <a:prstGeom prst="rect">
            <a:avLst/>
          </a:prstGeom>
        </p:spPr>
      </p:pic>
      <p:sp>
        <p:nvSpPr>
          <p:cNvPr id="24" name="TextBox 23"/>
          <p:cNvSpPr txBox="1"/>
          <p:nvPr/>
        </p:nvSpPr>
        <p:spPr>
          <a:xfrm>
            <a:off x="9230639" y="3375406"/>
            <a:ext cx="2339263" cy="2146299"/>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이어서 처리한다</a:t>
            </a:r>
          </a:p>
          <a:p>
            <a:pPr algn="ctr" eaLnBrk="0">
              <a:lnSpc>
                <a:spcPct val="110000"/>
              </a:lnSpc>
              <a:spcAft>
                <a:spcPts val="400"/>
              </a:spcAft>
            </a:pPr>
            <a:r>
              <a:rPr sz="1650" b="0">
                <a:solidFill>
                  <a:srgbClr val="1F2A3A"/>
                </a:solidFill>
                <a:latin typeface="맑은 고딕"/>
                <a:ea typeface="맑은 고딕"/>
                <a:cs typeface="맑은 고딕"/>
              </a:rPr>
              <a:t>멈춘 지점부터 이어</a:t>
            </a:r>
          </a:p>
          <a:p>
            <a:pPr algn="ctr" eaLnBrk="0">
              <a:lnSpc>
                <a:spcPct val="110000"/>
              </a:lnSpc>
              <a:spcAft>
                <a:spcPts val="400"/>
              </a:spcAft>
            </a:pPr>
            <a:r>
              <a:rPr sz="1650" b="0">
                <a:solidFill>
                  <a:srgbClr val="1F2A3A"/>
                </a:solidFill>
                <a:latin typeface="맑은 고딕"/>
                <a:ea typeface="맑은 고딕"/>
                <a:cs typeface="맑은 고딕"/>
              </a:rPr>
              <a:t>업무 DB를 조회하고</a:t>
            </a:r>
          </a:p>
          <a:p>
            <a:pPr algn="ctr" eaLnBrk="0">
              <a:lnSpc>
                <a:spcPct val="110000"/>
              </a:lnSpc>
              <a:spcAft>
                <a:spcPts val="400"/>
              </a:spcAft>
            </a:pPr>
            <a:r>
              <a:rPr sz="1650" b="0">
                <a:solidFill>
                  <a:srgbClr val="1F2A3A"/>
                </a:solidFill>
                <a:latin typeface="맑은 고딕"/>
                <a:ea typeface="맑은 고딕"/>
                <a:cs typeface="맑은 고딕"/>
              </a:rPr>
              <a:t>HYD-02의 결과를 낸다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질문으로 채우는 것과 바꾸지 못하는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담당자의 답은 모자란 업무 정보를 채우는 데에만 쓰이고, 도구 권한이나 설비 조치의 승인을 대신하지 못한다.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11</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message-question" descr="message-question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묻는다</a:t>
            </a:r>
          </a:p>
        </p:txBody>
      </p:sp>
      <p:sp>
        <p:nvSpPr>
          <p:cNvPr id="10" name="TextBox 9"/>
          <p:cNvSpPr txBox="1"/>
          <p:nvPr/>
        </p:nvSpPr>
        <p:spPr>
          <a:xfrm>
            <a:off x="822959" y="3214433"/>
            <a:ext cx="4632807" cy="2056765"/>
          </a:xfrm>
          <a:prstGeom prst="rect">
            <a:avLst/>
          </a:prstGeom>
          <a:noFill/>
        </p:spPr>
        <p:txBody>
          <a:bodyPr wrap="square" anchor="t"/>
          <a:lstStyle/>
          <a:p>
            <a:pPr algn="l" eaLnBrk="0" marL="194310" indent="-194310">
              <a:lnSpc>
                <a:spcPct val="110000"/>
              </a:lnSpc>
              <a:spcAft>
                <a:spcPts val="600"/>
              </a:spcAft>
            </a:pPr>
            <a:r>
              <a:rPr sz="1700" b="0">
                <a:solidFill>
                  <a:srgbClr val="1F2A3A"/>
                </a:solidFill>
                <a:latin typeface="맑은 고딕"/>
                <a:ea typeface="맑은 고딕"/>
                <a:cs typeface="맑은 고딕"/>
              </a:rPr>
              <a:t>• 대상 설비, 수량, 사유처럼 요청에서 빠진 업무 정보</a:t>
            </a:r>
          </a:p>
          <a:p>
            <a:pPr algn="l" eaLnBrk="0" marL="194310" indent="-194310">
              <a:lnSpc>
                <a:spcPct val="110000"/>
              </a:lnSpc>
              <a:spcAft>
                <a:spcPts val="600"/>
              </a:spcAft>
            </a:pPr>
            <a:r>
              <a:rPr sz="1700" b="0">
                <a:solidFill>
                  <a:srgbClr val="1F2A3A"/>
                </a:solidFill>
                <a:latin typeface="맑은 고딕"/>
                <a:ea typeface="맑은 고딕"/>
                <a:cs typeface="맑은 고딕"/>
              </a:rPr>
              <a:t>• 연결된 도구로 조회해도 확인할 수 없는 것</a:t>
            </a:r>
          </a:p>
          <a:p>
            <a:pPr algn="l" eaLnBrk="0" marL="194310" indent="-194310">
              <a:lnSpc>
                <a:spcPct val="110000"/>
              </a:lnSpc>
              <a:spcAft>
                <a:spcPts val="600"/>
              </a:spcAft>
            </a:pPr>
            <a:r>
              <a:rPr sz="1700" b="0">
                <a:solidFill>
                  <a:srgbClr val="1F2A3A"/>
                </a:solidFill>
                <a:latin typeface="맑은 고딕"/>
                <a:ea typeface="맑은 고딕"/>
                <a:cs typeface="맑은 고딕"/>
              </a:rPr>
              <a:t>• 답은 그 값을 채우는 입력이 된다</a:t>
            </a:r>
          </a:p>
        </p:txBody>
      </p:sp>
      <p:sp>
        <p:nvSpPr>
          <p:cNvPr id="11" name="Rounded Rectangle 10"/>
          <p:cNvSpPr/>
          <p:nvPr/>
        </p:nvSpPr>
        <p:spPr>
          <a:xfrm>
            <a:off x="868680" y="5362638"/>
            <a:ext cx="10210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업무 정보</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바꾸지 못한다</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도구로 읽을 수 있는 값은 묻지 않고 조회한다</a:t>
            </a:r>
          </a:p>
          <a:p>
            <a:pPr algn="l" eaLnBrk="0" marL="200025" indent="-200025">
              <a:lnSpc>
                <a:spcPct val="110000"/>
              </a:lnSpc>
              <a:spcAft>
                <a:spcPts val="600"/>
              </a:spcAft>
            </a:pPr>
            <a:r>
              <a:rPr sz="1750" b="0">
                <a:solidFill>
                  <a:srgbClr val="1F2A3A"/>
                </a:solidFill>
                <a:latin typeface="맑은 고딕"/>
                <a:ea typeface="맑은 고딕"/>
                <a:cs typeface="맑은 고딕"/>
              </a:rPr>
              <a:t>• 「도구 접근 거절이나 설비 조치 승인 우회에는 쓰지 마세요」</a:t>
            </a:r>
          </a:p>
          <a:p>
            <a:pPr algn="l" eaLnBrk="0" marL="200025" indent="-200025">
              <a:lnSpc>
                <a:spcPct val="110000"/>
              </a:lnSpc>
              <a:spcAft>
                <a:spcPts val="600"/>
              </a:spcAft>
            </a:pPr>
            <a:r>
              <a:rPr sz="1750" b="0">
                <a:solidFill>
                  <a:srgbClr val="1F2A3A"/>
                </a:solidFill>
                <a:latin typeface="맑은 고딕"/>
                <a:ea typeface="맑은 고딕"/>
                <a:cs typeface="맑은 고딕"/>
              </a:rPr>
              <a:t>• 「답변은 실행 권한을 바꾸지 않습니다」</a:t>
            </a:r>
          </a:p>
        </p:txBody>
      </p:sp>
      <p:sp>
        <p:nvSpPr>
          <p:cNvPr id="18" name="Rounded Rectangle 17"/>
          <p:cNvSpPr/>
          <p:nvPr/>
        </p:nvSpPr>
        <p:spPr>
          <a:xfrm>
            <a:off x="6781647" y="5362638"/>
            <a:ext cx="11734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권한과 승인</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「보류」가 가리키는 세 가지 상황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「보류」라는 한 낱말이 결정이 미뤄진 세 가지 다른 상황을 가리키며, 누가 미뤘는가에 따라 담당자가 할 일이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12</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미룬 쪽과 까닭</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담당자가 할 일</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응답 없음</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담당자</a:t>
            </a:r>
          </a:p>
          <a:p>
            <a:pPr algn="l" eaLnBrk="0">
              <a:lnSpc>
                <a:spcPct val="110000"/>
              </a:lnSpc>
            </a:pPr>
            <a:r>
              <a:rPr sz="1400" b="0">
                <a:solidFill>
                  <a:srgbClr val="1F2A3A"/>
                </a:solidFill>
                <a:latin typeface="맑은 고딕"/>
                <a:ea typeface="맑은 고딕"/>
                <a:cs typeface="맑은 고딕"/>
              </a:rPr>
              <a:t>아직 승인도 거절도 하지 않았다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승인하거나 거절한다</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에이전트의 보류</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a:p>
            <a:pPr algn="l" eaLnBrk="0">
              <a:lnSpc>
                <a:spcPct val="110000"/>
              </a:lnSpc>
            </a:pPr>
            <a:r>
              <a:rPr sz="1400" b="0">
                <a:solidFill>
                  <a:srgbClr val="1F2A3A"/>
                </a:solidFill>
                <a:latin typeface="맑은 고딕"/>
                <a:ea typeface="맑은 고딕"/>
                <a:cs typeface="맑은 고딕"/>
              </a:rPr>
              <a:t>근거가 모자라 결과를 내지 않고 멈췄다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재평가를 요청하거나</a:t>
            </a:r>
          </a:p>
          <a:p>
            <a:pPr algn="l" eaLnBrk="0">
              <a:lnSpc>
                <a:spcPct val="110000"/>
              </a:lnSpc>
            </a:pPr>
            <a:r>
              <a:rPr sz="1250" b="1">
                <a:solidFill>
                  <a:srgbClr val="556175"/>
                </a:solidFill>
                <a:latin typeface="맑은 고딕"/>
                <a:ea typeface="맑은 고딕"/>
                <a:cs typeface="맑은 고딕"/>
              </a:rPr>
              <a:t>닫는다</a:t>
            </a:r>
          </a:p>
        </p:txBody>
      </p:sp>
      <p:sp>
        <p:nvSpPr>
          <p:cNvPr id="18" name="Rounded Rectangle 17"/>
          <p:cNvSpPr/>
          <p:nvPr/>
        </p:nvSpPr>
        <p:spPr>
          <a:xfrm>
            <a:off x="548640" y="46817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에이전트의 질문</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에이전트</a:t>
            </a:r>
          </a:p>
          <a:p>
            <a:pPr algn="l" eaLnBrk="0">
              <a:lnSpc>
                <a:spcPct val="110000"/>
              </a:lnSpc>
            </a:pPr>
            <a:r>
              <a:rPr sz="1400" b="0">
                <a:solidFill>
                  <a:srgbClr val="1F2A3A"/>
                </a:solidFill>
                <a:latin typeface="맑은 고딕"/>
                <a:ea typeface="맑은 고딕"/>
                <a:cs typeface="맑은 고딕"/>
              </a:rPr>
              <a:t>필수 업무 정보가 없어 묻고 기다린다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질문에 답한다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멈춘 작업 닫기: 끝나지 않는 작업을 사람이 끝낸다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한도를 넘겨 멈춘 에이전트 작업은 저절로 끝나지 않아, 담당자가 사유를 적어 닫아야 처리 건이 끝난다.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13</a:t>
            </a:r>
          </a:p>
        </p:txBody>
      </p:sp>
      <p:sp>
        <p:nvSpPr>
          <p:cNvPr id="6" name="Rectangle 5"/>
          <p:cNvSpPr/>
          <p:nvPr/>
        </p:nvSpPr>
        <p:spPr>
          <a:xfrm>
            <a:off x="1935441" y="2716720"/>
            <a:ext cx="8320811" cy="36576"/>
          </a:xfrm>
          <a:prstGeom prst="rect">
            <a:avLst/>
          </a:prstGeom>
          <a:solidFill>
            <a:srgbClr val="D3D9E1"/>
          </a:solidFill>
          <a:ln>
            <a:noFill/>
          </a:ln>
        </p:spPr>
        <p:txBody>
          <a:bodyPr rtlCol="0" anchor="ctr"/>
          <a:lstStyle/>
          <a:p>
            <a:pPr algn="ctr"/>
          </a:p>
        </p:txBody>
      </p:sp>
      <p:sp>
        <p:nvSpPr>
          <p:cNvPr id="7" name="Oval 6"/>
          <p:cNvSpPr/>
          <p:nvPr/>
        </p:nvSpPr>
        <p:spPr>
          <a:xfrm>
            <a:off x="1501101" y="2300668"/>
            <a:ext cx="868680" cy="868680"/>
          </a:xfrm>
          <a:prstGeom prst="ellipse">
            <a:avLst/>
          </a:prstGeom>
          <a:solidFill>
            <a:srgbClr val="FFFFFF"/>
          </a:solidFill>
          <a:ln w="25400">
            <a:solidFill>
              <a:srgbClr val="13294B"/>
            </a:solidFill>
          </a:ln>
        </p:spPr>
        <p:txBody>
          <a:bodyPr rtlCol="0" anchor="ctr"/>
          <a:lstStyle/>
          <a:p>
            <a:pPr algn="ctr"/>
          </a:p>
        </p:txBody>
      </p:sp>
      <p:pic>
        <p:nvPicPr>
          <p:cNvPr id="8" name="아이콘:player-stop" descr="player-stop_13294B_1.6.png"/>
          <p:cNvPicPr>
            <a:picLocks noChangeAspect="1"/>
          </p:cNvPicPr>
          <p:nvPr/>
        </p:nvPicPr>
        <p:blipFill>
          <a:blip r:embed="rId3"/>
          <a:stretch>
            <a:fillRect/>
          </a:stretch>
        </p:blipFill>
        <p:spPr>
          <a:xfrm>
            <a:off x="1718271" y="2517838"/>
            <a:ext cx="434340" cy="434340"/>
          </a:xfrm>
          <a:prstGeom prst="rect">
            <a:avLst/>
          </a:prstGeom>
        </p:spPr>
      </p:pic>
      <p:sp>
        <p:nvSpPr>
          <p:cNvPr id="9" name="Oval 8"/>
          <p:cNvSpPr/>
          <p:nvPr/>
        </p:nvSpPr>
        <p:spPr>
          <a:xfrm>
            <a:off x="2095461" y="2254948"/>
            <a:ext cx="347472" cy="347472"/>
          </a:xfrm>
          <a:prstGeom prst="ellipse">
            <a:avLst/>
          </a:prstGeom>
          <a:solidFill>
            <a:srgbClr val="13294B"/>
          </a:solidFill>
          <a:ln>
            <a:noFill/>
          </a:ln>
        </p:spPr>
        <p:txBody>
          <a:bodyPr rtlCol="0" anchor="ctr"/>
          <a:lstStyle/>
          <a:p>
            <a:pPr algn="ctr"/>
          </a:p>
        </p:txBody>
      </p:sp>
      <p:sp>
        <p:nvSpPr>
          <p:cNvPr id="10" name="TextBox 9"/>
          <p:cNvSpPr txBox="1"/>
          <p:nvPr/>
        </p:nvSpPr>
        <p:spPr>
          <a:xfrm>
            <a:off x="2095461" y="225494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1</a:t>
            </a:r>
          </a:p>
        </p:txBody>
      </p:sp>
      <p:sp>
        <p:nvSpPr>
          <p:cNvPr id="11" name="TextBox 10"/>
          <p:cNvSpPr txBox="1"/>
          <p:nvPr/>
        </p:nvSpPr>
        <p:spPr>
          <a:xfrm>
            <a:off x="621791"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작업이 멈춘다</a:t>
            </a:r>
          </a:p>
          <a:p>
            <a:pPr algn="ctr" eaLnBrk="0">
              <a:lnSpc>
                <a:spcPct val="110000"/>
              </a:lnSpc>
              <a:spcAft>
                <a:spcPts val="400"/>
              </a:spcAft>
            </a:pPr>
            <a:r>
              <a:rPr sz="1650" b="0">
                <a:solidFill>
                  <a:srgbClr val="1F2A3A"/>
                </a:solidFill>
                <a:latin typeface="맑은 고딕"/>
                <a:ea typeface="맑은 고딕"/>
                <a:cs typeface="맑은 고딕"/>
              </a:rPr>
              <a:t>실행 1,800초나 형식 교정 두 번의 한도를 넘기거나 실행이 실패하면 결과 없이 멈춘 상태로 남는다</a:t>
            </a:r>
          </a:p>
        </p:txBody>
      </p:sp>
      <p:sp>
        <p:nvSpPr>
          <p:cNvPr id="12" name="Oval 11"/>
          <p:cNvSpPr/>
          <p:nvPr/>
        </p:nvSpPr>
        <p:spPr>
          <a:xfrm>
            <a:off x="4274705" y="2300668"/>
            <a:ext cx="868680" cy="868680"/>
          </a:xfrm>
          <a:prstGeom prst="ellipse">
            <a:avLst/>
          </a:prstGeom>
          <a:solidFill>
            <a:srgbClr val="FFFFFF"/>
          </a:solidFill>
          <a:ln w="25400">
            <a:solidFill>
              <a:srgbClr val="13294B"/>
            </a:solidFill>
          </a:ln>
        </p:spPr>
        <p:txBody>
          <a:bodyPr rtlCol="0" anchor="ctr"/>
          <a:lstStyle/>
          <a:p>
            <a:pPr algn="ctr"/>
          </a:p>
        </p:txBody>
      </p:sp>
      <p:pic>
        <p:nvPicPr>
          <p:cNvPr id="13" name="아이콘:history" descr="history_13294B_1.6.png"/>
          <p:cNvPicPr>
            <a:picLocks noChangeAspect="1"/>
          </p:cNvPicPr>
          <p:nvPr/>
        </p:nvPicPr>
        <p:blipFill>
          <a:blip r:embed="rId4"/>
          <a:stretch>
            <a:fillRect/>
          </a:stretch>
        </p:blipFill>
        <p:spPr>
          <a:xfrm>
            <a:off x="4491875" y="2517838"/>
            <a:ext cx="434340" cy="434340"/>
          </a:xfrm>
          <a:prstGeom prst="rect">
            <a:avLst/>
          </a:prstGeom>
        </p:spPr>
      </p:pic>
      <p:sp>
        <p:nvSpPr>
          <p:cNvPr id="14" name="Oval 13"/>
          <p:cNvSpPr/>
          <p:nvPr/>
        </p:nvSpPr>
        <p:spPr>
          <a:xfrm>
            <a:off x="4869065" y="2254948"/>
            <a:ext cx="347472" cy="347472"/>
          </a:xfrm>
          <a:prstGeom prst="ellipse">
            <a:avLst/>
          </a:prstGeom>
          <a:solidFill>
            <a:srgbClr val="13294B"/>
          </a:solidFill>
          <a:ln>
            <a:noFill/>
          </a:ln>
        </p:spPr>
        <p:txBody>
          <a:bodyPr rtlCol="0" anchor="ctr"/>
          <a:lstStyle/>
          <a:p>
            <a:pPr algn="ctr"/>
          </a:p>
        </p:txBody>
      </p:sp>
      <p:sp>
        <p:nvSpPr>
          <p:cNvPr id="15" name="TextBox 14"/>
          <p:cNvSpPr txBox="1"/>
          <p:nvPr/>
        </p:nvSpPr>
        <p:spPr>
          <a:xfrm>
            <a:off x="4869065" y="225494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2</a:t>
            </a:r>
          </a:p>
        </p:txBody>
      </p:sp>
      <p:sp>
        <p:nvSpPr>
          <p:cNvPr id="16" name="TextBox 15"/>
          <p:cNvSpPr txBox="1"/>
          <p:nvPr/>
        </p:nvSpPr>
        <p:spPr>
          <a:xfrm>
            <a:off x="3395395"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담당자가 기록을 읽는다</a:t>
            </a:r>
          </a:p>
          <a:p>
            <a:pPr algn="ctr" eaLnBrk="0">
              <a:lnSpc>
                <a:spcPct val="110000"/>
              </a:lnSpc>
              <a:spcAft>
                <a:spcPts val="400"/>
              </a:spcAft>
            </a:pPr>
            <a:r>
              <a:rPr sz="1650" b="0">
                <a:solidFill>
                  <a:srgbClr val="1F2A3A"/>
                </a:solidFill>
                <a:latin typeface="맑은 고딕"/>
                <a:ea typeface="맑은 고딕"/>
                <a:cs typeface="맑은 고딕"/>
              </a:rPr>
              <a:t>어디까지 진행했고 왜 멈췄는지를 처리 기록에서 확인한다</a:t>
            </a:r>
          </a:p>
        </p:txBody>
      </p:sp>
      <p:sp>
        <p:nvSpPr>
          <p:cNvPr id="17" name="Oval 16"/>
          <p:cNvSpPr/>
          <p:nvPr/>
        </p:nvSpPr>
        <p:spPr>
          <a:xfrm>
            <a:off x="7048309" y="2300668"/>
            <a:ext cx="868680" cy="868680"/>
          </a:xfrm>
          <a:prstGeom prst="ellipse">
            <a:avLst/>
          </a:prstGeom>
          <a:solidFill>
            <a:srgbClr val="5CB8F2"/>
          </a:solidFill>
          <a:ln>
            <a:noFill/>
          </a:ln>
        </p:spPr>
        <p:txBody>
          <a:bodyPr rtlCol="0" anchor="ctr"/>
          <a:lstStyle/>
          <a:p>
            <a:pPr algn="ctr"/>
          </a:p>
        </p:txBody>
      </p:sp>
      <p:pic>
        <p:nvPicPr>
          <p:cNvPr id="18" name="아이콘:pencil" descr="pencil_13294B_1.6.png"/>
          <p:cNvPicPr>
            <a:picLocks noChangeAspect="1"/>
          </p:cNvPicPr>
          <p:nvPr/>
        </p:nvPicPr>
        <p:blipFill>
          <a:blip r:embed="rId5"/>
          <a:stretch>
            <a:fillRect/>
          </a:stretch>
        </p:blipFill>
        <p:spPr>
          <a:xfrm>
            <a:off x="7265479" y="2517838"/>
            <a:ext cx="434340" cy="434340"/>
          </a:xfrm>
          <a:prstGeom prst="rect">
            <a:avLst/>
          </a:prstGeom>
        </p:spPr>
      </p:pic>
      <p:sp>
        <p:nvSpPr>
          <p:cNvPr id="19" name="Oval 18"/>
          <p:cNvSpPr/>
          <p:nvPr/>
        </p:nvSpPr>
        <p:spPr>
          <a:xfrm>
            <a:off x="7642669" y="2254948"/>
            <a:ext cx="347472" cy="347472"/>
          </a:xfrm>
          <a:prstGeom prst="ellipse">
            <a:avLst/>
          </a:prstGeom>
          <a:solidFill>
            <a:srgbClr val="13294B"/>
          </a:solidFill>
          <a:ln>
            <a:noFill/>
          </a:ln>
        </p:spPr>
        <p:txBody>
          <a:bodyPr rtlCol="0" anchor="ctr"/>
          <a:lstStyle/>
          <a:p>
            <a:pPr algn="ctr"/>
          </a:p>
        </p:txBody>
      </p:sp>
      <p:sp>
        <p:nvSpPr>
          <p:cNvPr id="20" name="TextBox 19"/>
          <p:cNvSpPr txBox="1"/>
          <p:nvPr/>
        </p:nvSpPr>
        <p:spPr>
          <a:xfrm>
            <a:off x="7642669" y="225494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3</a:t>
            </a:r>
          </a:p>
        </p:txBody>
      </p:sp>
      <p:sp>
        <p:nvSpPr>
          <p:cNvPr id="21" name="TextBox 20"/>
          <p:cNvSpPr txBox="1"/>
          <p:nvPr/>
        </p:nvSpPr>
        <p:spPr>
          <a:xfrm>
            <a:off x="6168999"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사유를 적고 닫는다</a:t>
            </a:r>
          </a:p>
          <a:p>
            <a:pPr algn="ctr" eaLnBrk="0">
              <a:lnSpc>
                <a:spcPct val="110000"/>
              </a:lnSpc>
              <a:spcAft>
                <a:spcPts val="400"/>
              </a:spcAft>
            </a:pPr>
            <a:r>
              <a:rPr sz="1650" b="0">
                <a:solidFill>
                  <a:srgbClr val="1F2A3A"/>
                </a:solidFill>
                <a:latin typeface="맑은 고딕"/>
                <a:ea typeface="맑은 고딕"/>
                <a:cs typeface="맑은 고딕"/>
              </a:rPr>
              <a:t>닫은 사람과 사유가 남고 그 작업은 취소로 표시된다</a:t>
            </a:r>
          </a:p>
          <a:p>
            <a:pPr algn="ctr" eaLnBrk="0">
              <a:lnSpc>
                <a:spcPct val="110000"/>
              </a:lnSpc>
              <a:spcAft>
                <a:spcPts val="400"/>
              </a:spcAft>
            </a:pPr>
            <a:r>
              <a:rPr sz="1650" b="0">
                <a:solidFill>
                  <a:srgbClr val="1F2A3A"/>
                </a:solidFill>
                <a:latin typeface="맑은 고딕"/>
                <a:ea typeface="맑은 고딕"/>
                <a:cs typeface="맑은 고딕"/>
              </a:rPr>
              <a:t>사람 작업과 진행 중인 작업은 닫을 수 없다</a:t>
            </a:r>
          </a:p>
        </p:txBody>
      </p:sp>
      <p:sp>
        <p:nvSpPr>
          <p:cNvPr id="22" name="Oval 21"/>
          <p:cNvSpPr/>
          <p:nvPr/>
        </p:nvSpPr>
        <p:spPr>
          <a:xfrm>
            <a:off x="9821913" y="2300668"/>
            <a:ext cx="868680" cy="868680"/>
          </a:xfrm>
          <a:prstGeom prst="ellipse">
            <a:avLst/>
          </a:prstGeom>
          <a:solidFill>
            <a:srgbClr val="FFFFFF"/>
          </a:solidFill>
          <a:ln w="25400">
            <a:solidFill>
              <a:srgbClr val="13294B"/>
            </a:solidFill>
          </a:ln>
        </p:spPr>
        <p:txBody>
          <a:bodyPr rtlCol="0" anchor="ctr"/>
          <a:lstStyle/>
          <a:p>
            <a:pPr algn="ctr"/>
          </a:p>
        </p:txBody>
      </p:sp>
      <p:pic>
        <p:nvPicPr>
          <p:cNvPr id="23" name="아이콘:circle-check" descr="circle-check_13294B_1.6.png"/>
          <p:cNvPicPr>
            <a:picLocks noChangeAspect="1"/>
          </p:cNvPicPr>
          <p:nvPr/>
        </p:nvPicPr>
        <p:blipFill>
          <a:blip r:embed="rId6"/>
          <a:stretch>
            <a:fillRect/>
          </a:stretch>
        </p:blipFill>
        <p:spPr>
          <a:xfrm>
            <a:off x="10039083" y="2517838"/>
            <a:ext cx="434340" cy="434340"/>
          </a:xfrm>
          <a:prstGeom prst="rect">
            <a:avLst/>
          </a:prstGeom>
        </p:spPr>
      </p:pic>
      <p:sp>
        <p:nvSpPr>
          <p:cNvPr id="24" name="Oval 23"/>
          <p:cNvSpPr/>
          <p:nvPr/>
        </p:nvSpPr>
        <p:spPr>
          <a:xfrm>
            <a:off x="10416273" y="2254948"/>
            <a:ext cx="347472" cy="347472"/>
          </a:xfrm>
          <a:prstGeom prst="ellipse">
            <a:avLst/>
          </a:prstGeom>
          <a:solidFill>
            <a:srgbClr val="13294B"/>
          </a:solidFill>
          <a:ln>
            <a:noFill/>
          </a:ln>
        </p:spPr>
        <p:txBody>
          <a:bodyPr rtlCol="0" anchor="ctr"/>
          <a:lstStyle/>
          <a:p>
            <a:pPr algn="ctr"/>
          </a:p>
        </p:txBody>
      </p:sp>
      <p:sp>
        <p:nvSpPr>
          <p:cNvPr id="25" name="TextBox 24"/>
          <p:cNvSpPr txBox="1"/>
          <p:nvPr/>
        </p:nvSpPr>
        <p:spPr>
          <a:xfrm>
            <a:off x="10416273" y="2254948"/>
            <a:ext cx="347472" cy="347472"/>
          </a:xfrm>
          <a:prstGeom prst="rect">
            <a:avLst/>
          </a:prstGeom>
          <a:noFill/>
        </p:spPr>
        <p:txBody>
          <a:bodyPr wrap="square" anchor="ctr"/>
          <a:lstStyle/>
          <a:p>
            <a:pPr algn="ctr" eaLnBrk="0">
              <a:lnSpc>
                <a:spcPct val="110000"/>
              </a:lnSpc>
            </a:pPr>
            <a:r>
              <a:rPr sz="1200" b="1">
                <a:solidFill>
                  <a:srgbClr val="FFFFFF"/>
                </a:solidFill>
                <a:latin typeface="맑은 고딕"/>
                <a:ea typeface="맑은 고딕"/>
                <a:cs typeface="맑은 고딕"/>
              </a:rPr>
              <a:t>4</a:t>
            </a:r>
          </a:p>
        </p:txBody>
      </p:sp>
      <p:sp>
        <p:nvSpPr>
          <p:cNvPr id="26" name="TextBox 25"/>
          <p:cNvSpPr txBox="1"/>
          <p:nvPr/>
        </p:nvSpPr>
        <p:spPr>
          <a:xfrm>
            <a:off x="8942603" y="3352228"/>
            <a:ext cx="2627299" cy="2329815"/>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처리 건이 끝난다</a:t>
            </a:r>
          </a:p>
          <a:p>
            <a:pPr algn="ctr" eaLnBrk="0">
              <a:lnSpc>
                <a:spcPct val="110000"/>
              </a:lnSpc>
              <a:spcAft>
                <a:spcPts val="400"/>
              </a:spcAft>
            </a:pPr>
            <a:r>
              <a:rPr sz="1650" b="0">
                <a:solidFill>
                  <a:srgbClr val="1F2A3A"/>
                </a:solidFill>
                <a:latin typeface="맑은 고딕"/>
                <a:ea typeface="맑은 고딕"/>
                <a:cs typeface="맑은 고딕"/>
              </a:rPr>
              <a:t>열린 일이 없으면 사람이 닫았다는 표시로 끝나 업무 완료와 구분된다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02</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승인 권한 · 결정 기록과</a:t>
            </a:r>
          </a:p>
          <a:p>
            <a:pPr algn="l" eaLnBrk="0">
              <a:lnSpc>
                <a:spcPct val="110000"/>
              </a:lnSpc>
            </a:pPr>
            <a:r>
              <a:rPr sz="3400" b="1">
                <a:solidFill>
                  <a:srgbClr val="13294B"/>
                </a:solidFill>
                <a:latin typeface="맑은 고딕"/>
                <a:ea typeface="맑은 고딕"/>
                <a:cs typeface="맑은 고딕"/>
              </a:rPr>
              <a:t>AI의 검토</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승인할 수 있는 사람, 승인이 남기는 기록, 자동 검사와 사람의 승인</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역할과 등급: 승인할 수 있는 사람</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승인할 수 있는 사람은 화면을 연 사람이 아니라, 그 조치의 </a:t>
            </a:r>
            <a:r>
              <a:rPr sz="1600" b="1">
                <a:solidFill>
                  <a:srgbClr val="1A6FC4"/>
                </a:solidFill>
                <a:latin typeface="맑은 고딕"/>
                <a:ea typeface="맑은 고딕"/>
                <a:cs typeface="맑은 고딕"/>
              </a:rPr>
              <a:t>승인 역할</a:t>
            </a:r>
            <a:r>
              <a:rPr sz="1600" b="0">
                <a:solidFill>
                  <a:srgbClr val="556175"/>
                </a:solidFill>
                <a:latin typeface="맑은 고딕"/>
                <a:ea typeface="맑은 고딕"/>
                <a:cs typeface="맑은 고딕"/>
              </a:rPr>
              <a:t>이나 더 높은 등급의 역할을 가진 구성원이다.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15</a:t>
            </a:r>
          </a:p>
        </p:txBody>
      </p:sp>
      <p:sp>
        <p:nvSpPr>
          <p:cNvPr id="6" name="Rounded Rectangle 5"/>
          <p:cNvSpPr/>
          <p:nvPr/>
        </p:nvSpPr>
        <p:spPr>
          <a:xfrm>
            <a:off x="548640"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355596"/>
            <a:ext cx="731520" cy="731520"/>
          </a:xfrm>
          <a:prstGeom prst="ellipse">
            <a:avLst/>
          </a:prstGeom>
          <a:solidFill>
            <a:srgbClr val="E7F3FD"/>
          </a:solidFill>
          <a:ln>
            <a:noFill/>
          </a:ln>
        </p:spPr>
        <p:txBody>
          <a:bodyPr rtlCol="0" anchor="ctr"/>
          <a:lstStyle/>
          <a:p>
            <a:pPr algn="ctr"/>
          </a:p>
        </p:txBody>
      </p:sp>
      <p:pic>
        <p:nvPicPr>
          <p:cNvPr id="8" name="아이콘:id" descr="id_13294B_1.6.png"/>
          <p:cNvPicPr>
            <a:picLocks noChangeAspect="1"/>
          </p:cNvPicPr>
          <p:nvPr/>
        </p:nvPicPr>
        <p:blipFill>
          <a:blip r:embed="rId3"/>
          <a:stretch>
            <a:fillRect/>
          </a:stretch>
        </p:blipFill>
        <p:spPr>
          <a:xfrm>
            <a:off x="930859" y="2509215"/>
            <a:ext cx="424281" cy="424281"/>
          </a:xfrm>
          <a:prstGeom prst="rect">
            <a:avLst/>
          </a:prstGeom>
        </p:spPr>
      </p:pic>
      <p:sp>
        <p:nvSpPr>
          <p:cNvPr id="9" name="TextBox 8"/>
          <p:cNvSpPr txBox="1"/>
          <p:nvPr/>
        </p:nvSpPr>
        <p:spPr>
          <a:xfrm>
            <a:off x="713232"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조치마다 승인 역할</a:t>
            </a:r>
          </a:p>
          <a:p>
            <a:pPr algn="l" eaLnBrk="0" marL="205740" indent="-205740">
              <a:lnSpc>
                <a:spcPct val="110000"/>
              </a:lnSpc>
              <a:spcAft>
                <a:spcPts val="400"/>
              </a:spcAft>
            </a:pPr>
            <a:r>
              <a:rPr sz="1800" b="0">
                <a:solidFill>
                  <a:srgbClr val="1F2A3A"/>
                </a:solidFill>
                <a:latin typeface="맑은 고딕"/>
                <a:ea typeface="맑은 고딕"/>
                <a:cs typeface="맑은 고딕"/>
              </a:rPr>
              <a:t>• 팬 최대 운전: 운전원</a:t>
            </a:r>
          </a:p>
          <a:p>
            <a:pPr algn="l" eaLnBrk="0" marL="205740" indent="-205740">
              <a:lnSpc>
                <a:spcPct val="110000"/>
              </a:lnSpc>
              <a:spcAft>
                <a:spcPts val="400"/>
              </a:spcAft>
            </a:pPr>
            <a:r>
              <a:rPr sz="1800" b="0">
                <a:solidFill>
                  <a:srgbClr val="1F2A3A"/>
                </a:solidFill>
                <a:latin typeface="맑은 고딕"/>
                <a:ea typeface="맑은 고딕"/>
                <a:cs typeface="맑은 고딕"/>
              </a:rPr>
              <a:t>• 쿨러 핀 세척: 설비보전팀장</a:t>
            </a:r>
          </a:p>
        </p:txBody>
      </p:sp>
      <p:sp>
        <p:nvSpPr>
          <p:cNvPr id="10" name="Rounded Rectangle 9"/>
          <p:cNvSpPr/>
          <p:nvPr/>
        </p:nvSpPr>
        <p:spPr>
          <a:xfrm>
            <a:off x="777240" y="5398516"/>
            <a:ext cx="82296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누가</a:t>
            </a:r>
          </a:p>
        </p:txBody>
      </p:sp>
      <p:sp>
        <p:nvSpPr>
          <p:cNvPr id="12" name="Rounded Rectangle 11"/>
          <p:cNvSpPr/>
          <p:nvPr/>
        </p:nvSpPr>
        <p:spPr>
          <a:xfrm>
            <a:off x="4338218" y="2154427"/>
            <a:ext cx="3515258" cy="3673856"/>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3" name="Oval 12"/>
          <p:cNvSpPr/>
          <p:nvPr/>
        </p:nvSpPr>
        <p:spPr>
          <a:xfrm>
            <a:off x="4566818" y="2355596"/>
            <a:ext cx="731520" cy="731520"/>
          </a:xfrm>
          <a:prstGeom prst="ellipse">
            <a:avLst/>
          </a:prstGeom>
          <a:solidFill>
            <a:srgbClr val="E7F3FD"/>
          </a:solidFill>
          <a:ln>
            <a:noFill/>
          </a:ln>
        </p:spPr>
        <p:txBody>
          <a:bodyPr rtlCol="0" anchor="ctr"/>
          <a:lstStyle/>
          <a:p>
            <a:pPr algn="ctr"/>
          </a:p>
        </p:txBody>
      </p:sp>
      <p:pic>
        <p:nvPicPr>
          <p:cNvPr id="14" name="아이콘:list-numbers" descr="list-numbers_13294B_1.6.png"/>
          <p:cNvPicPr>
            <a:picLocks noChangeAspect="1"/>
          </p:cNvPicPr>
          <p:nvPr/>
        </p:nvPicPr>
        <p:blipFill>
          <a:blip r:embed="rId4"/>
          <a:stretch>
            <a:fillRect/>
          </a:stretch>
        </p:blipFill>
        <p:spPr>
          <a:xfrm>
            <a:off x="4720437" y="2509215"/>
            <a:ext cx="424281" cy="424281"/>
          </a:xfrm>
          <a:prstGeom prst="rect">
            <a:avLst/>
          </a:prstGeom>
        </p:spPr>
      </p:pic>
      <p:sp>
        <p:nvSpPr>
          <p:cNvPr id="15" name="TextBox 14"/>
          <p:cNvSpPr txBox="1"/>
          <p:nvPr/>
        </p:nvSpPr>
        <p:spPr>
          <a:xfrm>
            <a:off x="4502810"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역할의 등급</a:t>
            </a:r>
          </a:p>
          <a:p>
            <a:pPr algn="l" eaLnBrk="0" marL="205740" indent="-205740">
              <a:lnSpc>
                <a:spcPct val="110000"/>
              </a:lnSpc>
              <a:spcAft>
                <a:spcPts val="400"/>
              </a:spcAft>
            </a:pPr>
            <a:r>
              <a:rPr sz="1800" b="0">
                <a:solidFill>
                  <a:srgbClr val="1F2A3A"/>
                </a:solidFill>
                <a:latin typeface="맑은 고딕"/>
                <a:ea typeface="맑은 고딕"/>
                <a:cs typeface="맑은 고딕"/>
              </a:rPr>
              <a:t>• 운전원 1</a:t>
            </a:r>
          </a:p>
          <a:p>
            <a:pPr algn="l" eaLnBrk="0" marL="205740" indent="-205740">
              <a:lnSpc>
                <a:spcPct val="110000"/>
              </a:lnSpc>
              <a:spcAft>
                <a:spcPts val="400"/>
              </a:spcAft>
            </a:pPr>
            <a:r>
              <a:rPr sz="1800" b="0">
                <a:solidFill>
                  <a:srgbClr val="1F2A3A"/>
                </a:solidFill>
                <a:latin typeface="맑은 고딕"/>
                <a:ea typeface="맑은 고딕"/>
                <a:cs typeface="맑은 고딕"/>
              </a:rPr>
              <a:t>• 생산관리자 · 설비보전팀장 · 구매팀장 · 품질팀장 2</a:t>
            </a:r>
          </a:p>
          <a:p>
            <a:pPr algn="l" eaLnBrk="0" marL="205740" indent="-205740">
              <a:lnSpc>
                <a:spcPct val="110000"/>
              </a:lnSpc>
              <a:spcAft>
                <a:spcPts val="400"/>
              </a:spcAft>
            </a:pPr>
            <a:r>
              <a:rPr sz="1800" b="0">
                <a:solidFill>
                  <a:srgbClr val="1F2A3A"/>
                </a:solidFill>
                <a:latin typeface="맑은 고딕"/>
                <a:ea typeface="맑은 고딕"/>
                <a:cs typeface="맑은 고딕"/>
              </a:rPr>
              <a:t>• 공장장 3</a:t>
            </a:r>
          </a:p>
        </p:txBody>
      </p:sp>
      <p:sp>
        <p:nvSpPr>
          <p:cNvPr id="16" name="Rounded Rectangle 15"/>
          <p:cNvSpPr/>
          <p:nvPr/>
        </p:nvSpPr>
        <p:spPr>
          <a:xfrm>
            <a:off x="4566818" y="5398516"/>
            <a:ext cx="975360" cy="292608"/>
          </a:xfrm>
          <a:prstGeom prst="roundRect">
            <a:avLst>
              <a:gd name="adj" fmla="val 50000"/>
            </a:avLst>
          </a:prstGeom>
          <a:solidFill>
            <a:srgbClr val="D3D9E1"/>
          </a:solidFill>
          <a:ln>
            <a:noFill/>
          </a:ln>
        </p:spPr>
        <p:txBody>
          <a:bodyPr rtlCol="0" anchor="ctr"/>
          <a:lstStyle/>
          <a:p>
            <a:pPr algn="ctr"/>
          </a:p>
        </p:txBody>
      </p:sp>
      <p:sp>
        <p:nvSpPr>
          <p:cNvPr id="17" name="TextBox 16"/>
          <p:cNvSpPr txBox="1"/>
          <p:nvPr/>
        </p:nvSpPr>
        <p:spPr>
          <a:xfrm>
            <a:off x="4566818" y="5398516"/>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어디까지</a:t>
            </a:r>
          </a:p>
        </p:txBody>
      </p:sp>
      <p:sp>
        <p:nvSpPr>
          <p:cNvPr id="18" name="Rounded Rectangle 17"/>
          <p:cNvSpPr/>
          <p:nvPr/>
        </p:nvSpPr>
        <p:spPr>
          <a:xfrm>
            <a:off x="8127796" y="2154427"/>
            <a:ext cx="3515258" cy="3673856"/>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9" name="Oval 18"/>
          <p:cNvSpPr/>
          <p:nvPr/>
        </p:nvSpPr>
        <p:spPr>
          <a:xfrm>
            <a:off x="8356396" y="2355596"/>
            <a:ext cx="731520" cy="731520"/>
          </a:xfrm>
          <a:prstGeom prst="ellipse">
            <a:avLst/>
          </a:prstGeom>
          <a:solidFill>
            <a:srgbClr val="5CB8F2"/>
          </a:solidFill>
          <a:ln>
            <a:noFill/>
          </a:ln>
        </p:spPr>
        <p:txBody>
          <a:bodyPr rtlCol="0" anchor="ctr"/>
          <a:lstStyle/>
          <a:p>
            <a:pPr algn="ctr"/>
          </a:p>
        </p:txBody>
      </p:sp>
      <p:pic>
        <p:nvPicPr>
          <p:cNvPr id="20" name="아이콘:shield-check" descr="shield-check_13294B_1.6.png"/>
          <p:cNvPicPr>
            <a:picLocks noChangeAspect="1"/>
          </p:cNvPicPr>
          <p:nvPr/>
        </p:nvPicPr>
        <p:blipFill>
          <a:blip r:embed="rId5"/>
          <a:stretch>
            <a:fillRect/>
          </a:stretch>
        </p:blipFill>
        <p:spPr>
          <a:xfrm>
            <a:off x="8510016" y="2509215"/>
            <a:ext cx="424281" cy="424281"/>
          </a:xfrm>
          <a:prstGeom prst="rect">
            <a:avLst/>
          </a:prstGeom>
        </p:spPr>
      </p:pic>
      <p:sp>
        <p:nvSpPr>
          <p:cNvPr id="21" name="TextBox 20"/>
          <p:cNvSpPr txBox="1"/>
          <p:nvPr/>
        </p:nvSpPr>
        <p:spPr>
          <a:xfrm>
            <a:off x="8292388" y="3178556"/>
            <a:ext cx="3186074" cy="2146808"/>
          </a:xfrm>
          <a:prstGeom prst="rect">
            <a:avLst/>
          </a:prstGeom>
          <a:noFill/>
        </p:spPr>
        <p:txBody>
          <a:bodyPr wrap="square" anchor="t"/>
          <a:lstStyle/>
          <a:p>
            <a:pPr algn="l" eaLnBrk="0">
              <a:lnSpc>
                <a:spcPct val="110000"/>
              </a:lnSpc>
              <a:spcAft>
                <a:spcPts val="400"/>
              </a:spcAft>
            </a:pPr>
            <a:r>
              <a:rPr sz="2200" b="1">
                <a:solidFill>
                  <a:srgbClr val="13294B"/>
                </a:solidFill>
                <a:latin typeface="맑은 고딕"/>
                <a:ea typeface="맑은 고딕"/>
                <a:cs typeface="맑은 고딕"/>
              </a:rPr>
              <a:t>두 가지 검사</a:t>
            </a:r>
          </a:p>
          <a:p>
            <a:pPr algn="l" eaLnBrk="0" marL="205740" indent="-205740">
              <a:lnSpc>
                <a:spcPct val="110000"/>
              </a:lnSpc>
              <a:spcAft>
                <a:spcPts val="400"/>
              </a:spcAft>
            </a:pPr>
            <a:r>
              <a:rPr sz="1800" b="0">
                <a:solidFill>
                  <a:srgbClr val="1F2A3A"/>
                </a:solidFill>
                <a:latin typeface="맑은 고딕"/>
                <a:ea typeface="맑은 고딕"/>
                <a:cs typeface="맑은 고딕"/>
              </a:rPr>
              <a:t>• 승인하는 사람이 내세운 역할의 구성원인가</a:t>
            </a:r>
          </a:p>
          <a:p>
            <a:pPr algn="l" eaLnBrk="0" marL="205740" indent="-205740">
              <a:lnSpc>
                <a:spcPct val="110000"/>
              </a:lnSpc>
              <a:spcAft>
                <a:spcPts val="400"/>
              </a:spcAft>
            </a:pPr>
            <a:r>
              <a:rPr sz="1800" b="0">
                <a:solidFill>
                  <a:srgbClr val="1F2A3A"/>
                </a:solidFill>
                <a:latin typeface="맑은 고딕"/>
                <a:ea typeface="맑은 고딕"/>
                <a:cs typeface="맑은 고딕"/>
              </a:rPr>
              <a:t>• 그 역할이 승인 역할이거나 더 높은 등급인가</a:t>
            </a:r>
          </a:p>
        </p:txBody>
      </p:sp>
      <p:sp>
        <p:nvSpPr>
          <p:cNvPr id="22" name="Rounded Rectangle 21"/>
          <p:cNvSpPr/>
          <p:nvPr/>
        </p:nvSpPr>
        <p:spPr>
          <a:xfrm>
            <a:off x="8356396" y="5398516"/>
            <a:ext cx="822960" cy="292608"/>
          </a:xfrm>
          <a:prstGeom prst="roundRect">
            <a:avLst>
              <a:gd name="adj" fmla="val 50000"/>
            </a:avLst>
          </a:prstGeom>
          <a:solidFill>
            <a:srgbClr val="5CB8F2"/>
          </a:solidFill>
          <a:ln>
            <a:noFill/>
          </a:ln>
        </p:spPr>
        <p:txBody>
          <a:bodyPr rtlCol="0" anchor="ctr"/>
          <a:lstStyle/>
          <a:p>
            <a:pPr algn="ctr"/>
          </a:p>
        </p:txBody>
      </p:sp>
      <p:sp>
        <p:nvSpPr>
          <p:cNvPr id="23" name="TextBox 22"/>
          <p:cNvSpPr txBox="1"/>
          <p:nvPr/>
        </p:nvSpPr>
        <p:spPr>
          <a:xfrm>
            <a:off x="8356396" y="539851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경계</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결정 기록: 승인하는 순간 남는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결정 기록의 승인한 사람과 역할은 승인을 받은 시스템만 적어, 에이전트가 스스로 채워 넣을 수 없다.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16</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남는 것</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정해진 방식</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쿨러 사건</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승인한 사람과 역할</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승인을 받은 시스템이 적는다</a:t>
            </a:r>
          </a:p>
          <a:p>
            <a:pPr algn="l" eaLnBrk="0">
              <a:lnSpc>
                <a:spcPct val="110000"/>
              </a:lnSpc>
            </a:pPr>
            <a:r>
              <a:rPr sz="1400" b="0">
                <a:solidFill>
                  <a:srgbClr val="1F2A3A"/>
                </a:solidFill>
                <a:latin typeface="맑은 고딕"/>
                <a:ea typeface="맑은 고딕"/>
                <a:cs typeface="맑은 고딕"/>
              </a:rPr>
              <a:t>에이전트의 출력으로는 채울 수 없다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운전원</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고른 안</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고른 안의 사본과 함께</a:t>
            </a:r>
          </a:p>
          <a:p>
            <a:pPr algn="l" eaLnBrk="0">
              <a:lnSpc>
                <a:spcPct val="110000"/>
              </a:lnSpc>
            </a:pPr>
            <a:r>
              <a:rPr sz="1400" b="0">
                <a:solidFill>
                  <a:srgbClr val="1F2A3A"/>
                </a:solidFill>
                <a:latin typeface="맑은 고딕"/>
                <a:ea typeface="맑은 고딕"/>
                <a:cs typeface="맑은 고딕"/>
              </a:rPr>
              <a:t>추천안 그대로인지 대신 골랐는지가 남는다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팬 최대 운전</a:t>
            </a:r>
          </a:p>
          <a:p>
            <a:pPr algn="l" eaLnBrk="0">
              <a:lnSpc>
                <a:spcPct val="110000"/>
              </a:lnSpc>
            </a:pPr>
            <a:r>
              <a:rPr sz="1250" b="1">
                <a:solidFill>
                  <a:srgbClr val="556175"/>
                </a:solidFill>
                <a:latin typeface="맑은 고딕"/>
                <a:ea typeface="맑은 고딕"/>
                <a:cs typeface="맑은 고딕"/>
              </a:rPr>
              <a:t>추천안 그대로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시각과 기다린 시간</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승인이 접수된 때와</a:t>
            </a:r>
          </a:p>
          <a:p>
            <a:pPr algn="l" eaLnBrk="0">
              <a:lnSpc>
                <a:spcPct val="110000"/>
              </a:lnSpc>
            </a:pPr>
            <a:r>
              <a:rPr sz="1400" b="0">
                <a:solidFill>
                  <a:srgbClr val="1F2A3A"/>
                </a:solidFill>
                <a:latin typeface="맑은 고딕"/>
                <a:ea typeface="맑은 고딕"/>
                <a:cs typeface="맑은 고딕"/>
              </a:rPr>
              <a:t>승인 요청부터 기다린 시간</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11:14:56</a:t>
            </a:r>
          </a:p>
          <a:p>
            <a:pPr algn="l" eaLnBrk="0">
              <a:lnSpc>
                <a:spcPct val="110000"/>
              </a:lnSpc>
            </a:pPr>
            <a:r>
              <a:rPr sz="1250" b="1">
                <a:solidFill>
                  <a:srgbClr val="556175"/>
                </a:solidFill>
                <a:latin typeface="맑은 고딕"/>
                <a:ea typeface="맑은 고딕"/>
                <a:cs typeface="맑은 고딕"/>
              </a:rPr>
              <a:t>약 13초</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순간 다시 확인한 값</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추천 때의 값이 아니라</a:t>
            </a:r>
          </a:p>
          <a:p>
            <a:pPr algn="l" eaLnBrk="0">
              <a:lnSpc>
                <a:spcPct val="110000"/>
              </a:lnSpc>
            </a:pPr>
            <a:r>
              <a:rPr sz="1400" b="0">
                <a:solidFill>
                  <a:srgbClr val="1F2A3A"/>
                </a:solidFill>
                <a:latin typeface="맑은 고딕"/>
                <a:ea typeface="맑은 고딕"/>
                <a:cs typeface="맑은 고딕"/>
              </a:rPr>
              <a:t>승인할 때 다시 읽은 값</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유온 61.8 ℃</a:t>
            </a:r>
          </a:p>
          <a:p>
            <a:pPr algn="l" eaLnBrk="0">
              <a:lnSpc>
                <a:spcPct val="110000"/>
              </a:lnSpc>
            </a:pPr>
            <a:r>
              <a:rPr sz="1250" b="1">
                <a:solidFill>
                  <a:srgbClr val="1A6FC4"/>
                </a:solidFill>
                <a:latin typeface="맑은 고딕"/>
                <a:ea typeface="맑은 고딕"/>
                <a:cs typeface="맑은 고딕"/>
              </a:rPr>
              <a:t>원격 자동, 운전 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뒤의 재확인: 지금도 실행할 수 있는가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승인한 안은 시스템에 넘기기 전에 지금의 값으로 다시 검사되고, 조건이 달라졌으면 명령 없이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17</a:t>
            </a:r>
          </a:p>
        </p:txBody>
      </p:sp>
      <p:sp>
        <p:nvSpPr>
          <p:cNvPr id="6" name="Rounded Rectangle 5"/>
          <p:cNvSpPr/>
          <p:nvPr/>
        </p:nvSpPr>
        <p:spPr>
          <a:xfrm>
            <a:off x="548640" y="2426589"/>
            <a:ext cx="2485567" cy="312953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609469"/>
            <a:ext cx="731520" cy="731520"/>
          </a:xfrm>
          <a:prstGeom prst="ellipse">
            <a:avLst/>
          </a:prstGeom>
          <a:solidFill>
            <a:srgbClr val="FFFFFF"/>
          </a:solidFill>
          <a:ln>
            <a:noFill/>
          </a:ln>
        </p:spPr>
        <p:txBody>
          <a:bodyPr rtlCol="0" anchor="ctr"/>
          <a:lstStyle/>
          <a:p>
            <a:pPr algn="ctr"/>
          </a:p>
        </p:txBody>
      </p:sp>
      <p:pic>
        <p:nvPicPr>
          <p:cNvPr id="8" name="아이콘:user-check" descr="user-check_13294B_1.6.png"/>
          <p:cNvPicPr>
            <a:picLocks noChangeAspect="1"/>
          </p:cNvPicPr>
          <p:nvPr/>
        </p:nvPicPr>
        <p:blipFill>
          <a:blip r:embed="rId3"/>
          <a:stretch>
            <a:fillRect/>
          </a:stretch>
        </p:blipFill>
        <p:spPr>
          <a:xfrm>
            <a:off x="1579283" y="2763088"/>
            <a:ext cx="424281" cy="424281"/>
          </a:xfrm>
          <a:prstGeom prst="rect">
            <a:avLst/>
          </a:prstGeom>
        </p:spPr>
      </p:pic>
      <p:sp>
        <p:nvSpPr>
          <p:cNvPr id="9" name="TextBox 8"/>
          <p:cNvSpPr txBox="1"/>
          <p:nvPr/>
        </p:nvSpPr>
        <p:spPr>
          <a:xfrm>
            <a:off x="621792"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승인 접수</a:t>
            </a:r>
          </a:p>
          <a:p>
            <a:pPr algn="ctr" eaLnBrk="0">
              <a:lnSpc>
                <a:spcPct val="110000"/>
              </a:lnSpc>
              <a:spcAft>
                <a:spcPts val="400"/>
              </a:spcAft>
            </a:pPr>
            <a:r>
              <a:rPr sz="1550" b="0">
                <a:solidFill>
                  <a:srgbClr val="1F2A3A"/>
                </a:solidFill>
                <a:latin typeface="맑은 고딕"/>
                <a:ea typeface="맑은 고딕"/>
                <a:cs typeface="맑은 고딕"/>
              </a:rPr>
              <a:t>담당자가 고른 안과</a:t>
            </a:r>
          </a:p>
          <a:p>
            <a:pPr algn="ctr" eaLnBrk="0">
              <a:lnSpc>
                <a:spcPct val="110000"/>
              </a:lnSpc>
              <a:spcAft>
                <a:spcPts val="400"/>
              </a:spcAft>
            </a:pPr>
            <a:r>
              <a:rPr sz="1550" b="0">
                <a:solidFill>
                  <a:srgbClr val="1F2A3A"/>
                </a:solidFill>
                <a:latin typeface="맑은 고딕"/>
                <a:ea typeface="맑은 고딕"/>
                <a:cs typeface="맑은 고딕"/>
              </a:rPr>
              <a:t>역할을 받는다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426589"/>
            <a:ext cx="2485567" cy="312953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609469"/>
            <a:ext cx="731520" cy="731520"/>
          </a:xfrm>
          <a:prstGeom prst="ellipse">
            <a:avLst/>
          </a:prstGeom>
          <a:solidFill>
            <a:srgbClr val="FFFFFF"/>
          </a:solidFill>
          <a:ln>
            <a:noFill/>
          </a:ln>
        </p:spPr>
        <p:txBody>
          <a:bodyPr rtlCol="0" anchor="ctr"/>
          <a:lstStyle/>
          <a:p>
            <a:pPr algn="ctr"/>
          </a:p>
        </p:txBody>
      </p:sp>
      <p:pic>
        <p:nvPicPr>
          <p:cNvPr id="13" name="아이콘:refresh" descr="refresh_13294B_1.6.png"/>
          <p:cNvPicPr>
            <a:picLocks noChangeAspect="1"/>
          </p:cNvPicPr>
          <p:nvPr/>
        </p:nvPicPr>
        <p:blipFill>
          <a:blip r:embed="rId4"/>
          <a:stretch>
            <a:fillRect/>
          </a:stretch>
        </p:blipFill>
        <p:spPr>
          <a:xfrm>
            <a:off x="4448898" y="2763088"/>
            <a:ext cx="424281" cy="424281"/>
          </a:xfrm>
          <a:prstGeom prst="rect">
            <a:avLst/>
          </a:prstGeom>
        </p:spPr>
      </p:pic>
      <p:sp>
        <p:nvSpPr>
          <p:cNvPr id="14" name="TextBox 13"/>
          <p:cNvSpPr txBox="1"/>
          <p:nvPr/>
        </p:nvSpPr>
        <p:spPr>
          <a:xfrm>
            <a:off x="3491407"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지금의 값을 읽는다</a:t>
            </a:r>
          </a:p>
          <a:p>
            <a:pPr algn="ctr" eaLnBrk="0">
              <a:lnSpc>
                <a:spcPct val="110000"/>
              </a:lnSpc>
              <a:spcAft>
                <a:spcPts val="400"/>
              </a:spcAft>
            </a:pPr>
            <a:r>
              <a:rPr sz="1550" b="0">
                <a:solidFill>
                  <a:srgbClr val="1F2A3A"/>
                </a:solidFill>
                <a:latin typeface="맑은 고딕"/>
                <a:ea typeface="맑은 고딕"/>
                <a:cs typeface="맑은 고딕"/>
              </a:rPr>
              <a:t>추천 때가 아니라</a:t>
            </a:r>
          </a:p>
          <a:p>
            <a:pPr algn="ctr" eaLnBrk="0">
              <a:lnSpc>
                <a:spcPct val="110000"/>
              </a:lnSpc>
              <a:spcAft>
                <a:spcPts val="400"/>
              </a:spcAft>
            </a:pPr>
            <a:r>
              <a:rPr sz="1550" b="0">
                <a:solidFill>
                  <a:srgbClr val="1F2A3A"/>
                </a:solidFill>
                <a:latin typeface="맑은 고딕"/>
                <a:ea typeface="맑은 고딕"/>
                <a:cs typeface="맑은 고딕"/>
              </a:rPr>
              <a:t>지금의 유온, 운전 모드,</a:t>
            </a:r>
          </a:p>
          <a:p>
            <a:pPr algn="ctr" eaLnBrk="0">
              <a:lnSpc>
                <a:spcPct val="110000"/>
              </a:lnSpc>
              <a:spcAft>
                <a:spcPts val="400"/>
              </a:spcAft>
            </a:pPr>
            <a:r>
              <a:rPr sz="1550" b="0">
                <a:solidFill>
                  <a:srgbClr val="1F2A3A"/>
                </a:solidFill>
                <a:latin typeface="맑은 고딕"/>
                <a:ea typeface="맑은 고딕"/>
                <a:cs typeface="맑은 고딕"/>
              </a:rPr>
              <a:t>업무 값을 다시 읽는다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426589"/>
            <a:ext cx="2485567" cy="3129534"/>
          </a:xfrm>
          <a:prstGeom prst="roundRect">
            <a:avLst>
              <a:gd name="adj" fmla="val 5000"/>
            </a:avLst>
          </a:prstGeom>
          <a:solidFill>
            <a:srgbClr val="F3F6F9"/>
          </a:solidFill>
          <a:ln>
            <a:noFill/>
          </a:ln>
        </p:spPr>
        <p:txBody>
          <a:bodyPr rtlCol="0" anchor="ctr"/>
          <a:lstStyle/>
          <a:p>
            <a:pPr algn="ctr"/>
          </a:p>
        </p:txBody>
      </p:sp>
      <p:sp>
        <p:nvSpPr>
          <p:cNvPr id="17" name="Oval 16"/>
          <p:cNvSpPr/>
          <p:nvPr/>
        </p:nvSpPr>
        <p:spPr>
          <a:xfrm>
            <a:off x="7164895" y="2609469"/>
            <a:ext cx="731520" cy="731520"/>
          </a:xfrm>
          <a:prstGeom prst="ellipse">
            <a:avLst/>
          </a:prstGeom>
          <a:solidFill>
            <a:srgbClr val="FFFFFF"/>
          </a:solidFill>
          <a:ln>
            <a:noFill/>
          </a:ln>
        </p:spPr>
        <p:txBody>
          <a:bodyPr rtlCol="0" anchor="ctr"/>
          <a:lstStyle/>
          <a:p>
            <a:pPr algn="ctr"/>
          </a:p>
        </p:txBody>
      </p:sp>
      <p:pic>
        <p:nvPicPr>
          <p:cNvPr id="18" name="아이콘:checklist" descr="checklist_13294B_1.6.png"/>
          <p:cNvPicPr>
            <a:picLocks noChangeAspect="1"/>
          </p:cNvPicPr>
          <p:nvPr/>
        </p:nvPicPr>
        <p:blipFill>
          <a:blip r:embed="rId5"/>
          <a:stretch>
            <a:fillRect/>
          </a:stretch>
        </p:blipFill>
        <p:spPr>
          <a:xfrm>
            <a:off x="7318514" y="2763088"/>
            <a:ext cx="424281" cy="424281"/>
          </a:xfrm>
          <a:prstGeom prst="rect">
            <a:avLst/>
          </a:prstGeom>
        </p:spPr>
      </p:pic>
      <p:sp>
        <p:nvSpPr>
          <p:cNvPr id="19" name="TextBox 18"/>
          <p:cNvSpPr txBox="1"/>
          <p:nvPr/>
        </p:nvSpPr>
        <p:spPr>
          <a:xfrm>
            <a:off x="6361023"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규칙에 다시 대 본다</a:t>
            </a:r>
          </a:p>
          <a:p>
            <a:pPr algn="ctr" eaLnBrk="0">
              <a:lnSpc>
                <a:spcPct val="110000"/>
              </a:lnSpc>
              <a:spcAft>
                <a:spcPts val="400"/>
              </a:spcAft>
            </a:pPr>
            <a:r>
              <a:rPr sz="1550" b="0">
                <a:solidFill>
                  <a:srgbClr val="1F2A3A"/>
                </a:solidFill>
                <a:latin typeface="맑은 고딕"/>
                <a:ea typeface="맑은 고딕"/>
                <a:cs typeface="맑은 고딕"/>
              </a:rPr>
              <a:t>그 안이 지금도</a:t>
            </a:r>
          </a:p>
          <a:p>
            <a:pPr algn="ctr" eaLnBrk="0">
              <a:lnSpc>
                <a:spcPct val="110000"/>
              </a:lnSpc>
              <a:spcAft>
                <a:spcPts val="400"/>
              </a:spcAft>
            </a:pPr>
            <a:r>
              <a:rPr sz="1550" b="0">
                <a:solidFill>
                  <a:srgbClr val="1F2A3A"/>
                </a:solidFill>
                <a:latin typeface="맑은 고딕"/>
                <a:ea typeface="맑은 고딕"/>
                <a:cs typeface="맑은 고딕"/>
              </a:rPr>
              <a:t>제외 규칙에 걸리지 않고</a:t>
            </a:r>
          </a:p>
          <a:p>
            <a:pPr algn="ctr" eaLnBrk="0">
              <a:lnSpc>
                <a:spcPct val="110000"/>
              </a:lnSpc>
              <a:spcAft>
                <a:spcPts val="400"/>
              </a:spcAft>
            </a:pPr>
            <a:r>
              <a:rPr sz="1550" b="0">
                <a:solidFill>
                  <a:srgbClr val="1F2A3A"/>
                </a:solidFill>
                <a:latin typeface="맑은 고딕"/>
                <a:ea typeface="맑은 고딕"/>
                <a:cs typeface="맑은 고딕"/>
              </a:rPr>
              <a:t>근거가 갖춰졌는가</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426589"/>
            <a:ext cx="2485567" cy="312953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22" name="Oval 21"/>
          <p:cNvSpPr/>
          <p:nvPr/>
        </p:nvSpPr>
        <p:spPr>
          <a:xfrm>
            <a:off x="10034511" y="2609469"/>
            <a:ext cx="731520" cy="731520"/>
          </a:xfrm>
          <a:prstGeom prst="ellipse">
            <a:avLst/>
          </a:prstGeom>
          <a:solidFill>
            <a:srgbClr val="5CB8F2"/>
          </a:solidFill>
          <a:ln>
            <a:noFill/>
          </a:ln>
        </p:spPr>
        <p:txBody>
          <a:bodyPr rtlCol="0" anchor="ctr"/>
          <a:lstStyle/>
          <a:p>
            <a:pPr algn="ctr"/>
          </a:p>
        </p:txBody>
      </p:sp>
      <p:pic>
        <p:nvPicPr>
          <p:cNvPr id="23" name="아이콘:settings-automation" descr="settings-automation_13294B_1.6.png"/>
          <p:cNvPicPr>
            <a:picLocks noChangeAspect="1"/>
          </p:cNvPicPr>
          <p:nvPr/>
        </p:nvPicPr>
        <p:blipFill>
          <a:blip r:embed="rId6"/>
          <a:stretch>
            <a:fillRect/>
          </a:stretch>
        </p:blipFill>
        <p:spPr>
          <a:xfrm>
            <a:off x="10188130" y="2763088"/>
            <a:ext cx="424281" cy="424281"/>
          </a:xfrm>
          <a:prstGeom prst="rect">
            <a:avLst/>
          </a:prstGeom>
        </p:spPr>
      </p:pic>
      <p:sp>
        <p:nvSpPr>
          <p:cNvPr id="24" name="TextBox 23"/>
          <p:cNvSpPr txBox="1"/>
          <p:nvPr/>
        </p:nvSpPr>
        <p:spPr>
          <a:xfrm>
            <a:off x="9230639" y="3414141"/>
            <a:ext cx="2339263" cy="2068829"/>
          </a:xfrm>
          <a:prstGeom prst="rect">
            <a:avLst/>
          </a:prstGeom>
          <a:noFill/>
        </p:spPr>
        <p:txBody>
          <a:bodyPr wrap="square" anchor="t"/>
          <a:lstStyle/>
          <a:p>
            <a:pPr algn="ctr" eaLnBrk="0">
              <a:lnSpc>
                <a:spcPct val="110000"/>
              </a:lnSpc>
              <a:spcAft>
                <a:spcPts val="400"/>
              </a:spcAft>
            </a:pPr>
            <a:r>
              <a:rPr sz="1900" b="1">
                <a:solidFill>
                  <a:srgbClr val="13294B"/>
                </a:solidFill>
                <a:latin typeface="맑은 고딕"/>
                <a:ea typeface="맑은 고딕"/>
                <a:cs typeface="맑은 고딕"/>
              </a:rPr>
              <a:t>넘기거나 멈춘다</a:t>
            </a:r>
          </a:p>
          <a:p>
            <a:pPr algn="ctr" eaLnBrk="0">
              <a:lnSpc>
                <a:spcPct val="110000"/>
              </a:lnSpc>
              <a:spcAft>
                <a:spcPts val="400"/>
              </a:spcAft>
            </a:pPr>
            <a:r>
              <a:rPr sz="1550" b="0">
                <a:solidFill>
                  <a:srgbClr val="1F2A3A"/>
                </a:solidFill>
                <a:latin typeface="맑은 고딕"/>
                <a:ea typeface="맑은 고딕"/>
                <a:cs typeface="맑은 고딕"/>
              </a:rPr>
              <a:t>통과하면 명령과</a:t>
            </a:r>
          </a:p>
          <a:p>
            <a:pPr algn="ctr" eaLnBrk="0">
              <a:lnSpc>
                <a:spcPct val="110000"/>
              </a:lnSpc>
              <a:spcAft>
                <a:spcPts val="400"/>
              </a:spcAft>
            </a:pPr>
            <a:r>
              <a:rPr sz="1550" b="0">
                <a:solidFill>
                  <a:srgbClr val="1F2A3A"/>
                </a:solidFill>
                <a:latin typeface="맑은 고딕"/>
                <a:ea typeface="맑은 고딕"/>
                <a:cs typeface="맑은 고딕"/>
              </a:rPr>
              <a:t>작업지시로 넘긴다</a:t>
            </a:r>
          </a:p>
          <a:p>
            <a:pPr algn="ctr" eaLnBrk="0">
              <a:lnSpc>
                <a:spcPct val="110000"/>
              </a:lnSpc>
              <a:spcAft>
                <a:spcPts val="400"/>
              </a:spcAft>
            </a:pPr>
            <a:r>
              <a:rPr sz="1550" b="0">
                <a:solidFill>
                  <a:srgbClr val="1F2A3A"/>
                </a:solidFill>
                <a:latin typeface="맑은 고딕"/>
                <a:ea typeface="맑은 고딕"/>
                <a:cs typeface="맑은 고딕"/>
              </a:rPr>
              <a:t>달라졌으면 새 판단과</a:t>
            </a:r>
          </a:p>
          <a:p>
            <a:pPr algn="ctr" eaLnBrk="0">
              <a:lnSpc>
                <a:spcPct val="110000"/>
              </a:lnSpc>
              <a:spcAft>
                <a:spcPts val="400"/>
              </a:spcAft>
            </a:pPr>
            <a:r>
              <a:rPr sz="1550" b="0">
                <a:solidFill>
                  <a:srgbClr val="1F2A3A"/>
                </a:solidFill>
                <a:latin typeface="맑은 고딕"/>
                <a:ea typeface="맑은 고딕"/>
                <a:cs typeface="맑은 고딕"/>
              </a:rPr>
              <a:t>승인을 요구한다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가드레일: 추천안이 올라가기 전의 자동 검사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가드레일</a:t>
            </a:r>
            <a:r>
              <a:rPr sz="1600" b="0">
                <a:solidFill>
                  <a:srgbClr val="556175"/>
                </a:solidFill>
                <a:latin typeface="맑은 고딕"/>
                <a:ea typeface="맑은 고딕"/>
                <a:cs typeface="맑은 고딕"/>
              </a:rPr>
              <a:t>은 추천안이 담당자에게 올라가기 전에 시스템이 정해 둔 규칙에 대어 보는 자동 검사이다.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가드레일</a:t>
            </a:r>
          </a:p>
          <a:p>
            <a:pPr algn="l" eaLnBrk="0">
              <a:lnSpc>
                <a:spcPct val="110000"/>
              </a:lnSpc>
              <a:spcAft>
                <a:spcPts val="200"/>
              </a:spcAft>
            </a:pPr>
            <a:r>
              <a:rPr sz="1150" b="0">
                <a:solidFill>
                  <a:srgbClr val="556175"/>
                </a:solidFill>
                <a:latin typeface="맑은 고딕"/>
                <a:ea typeface="맑은 고딕"/>
                <a:cs typeface="맑은 고딕"/>
              </a:rPr>
              <a:t>Guardrail</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에이전트의 출력이 정해진 규칙을 지켰는지 시스템이 검사하는 장치이다.</a:t>
            </a:r>
          </a:p>
          <a:p>
            <a:pPr algn="l" eaLnBrk="0">
              <a:lnSpc>
                <a:spcPct val="110000"/>
              </a:lnSpc>
              <a:spcAft>
                <a:spcPts val="300"/>
              </a:spcAft>
            </a:pPr>
            <a:r>
              <a:rPr sz="1400" b="0">
                <a:solidFill>
                  <a:srgbClr val="1F2A3A"/>
                </a:solidFill>
                <a:latin typeface="맑은 고딕"/>
                <a:ea typeface="맑은 고딕"/>
                <a:cs typeface="맑은 고딕"/>
              </a:rPr>
              <a:t>모델에게 다시 묻지 않고 정해 둔 규칙에 대어 본다.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추천안에서 검사하는 것</a:t>
            </a:r>
          </a:p>
          <a:p>
            <a:pPr algn="l" eaLnBrk="0">
              <a:lnSpc>
                <a:spcPct val="110000"/>
              </a:lnSpc>
              <a:spcAft>
                <a:spcPts val="200"/>
              </a:spcAft>
            </a:pPr>
            <a:r>
              <a:rPr sz="1150" b="0">
                <a:solidFill>
                  <a:srgbClr val="556175"/>
                </a:solidFill>
                <a:latin typeface="맑은 고딕"/>
                <a:ea typeface="맑은 고딕"/>
                <a:cs typeface="맑은 고딕"/>
              </a:rPr>
              <a:t>규칙 · 역할 · 단계</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후보마다 그 후보를 고른 규칙의 인용이 있는가</a:t>
            </a:r>
          </a:p>
          <a:p>
            <a:pPr algn="l" eaLnBrk="0">
              <a:lnSpc>
                <a:spcPct val="110000"/>
              </a:lnSpc>
              <a:spcAft>
                <a:spcPts val="300"/>
              </a:spcAft>
            </a:pPr>
            <a:r>
              <a:rPr sz="1400" b="0">
                <a:solidFill>
                  <a:srgbClr val="1F2A3A"/>
                </a:solidFill>
                <a:latin typeface="맑은 고딕"/>
                <a:ea typeface="맑은 고딕"/>
                <a:cs typeface="맑은 고딕"/>
              </a:rPr>
              <a:t>참고용 절차가 실행할 안으로 들어오지 않았는가</a:t>
            </a:r>
          </a:p>
          <a:p>
            <a:pPr algn="l" eaLnBrk="0">
              <a:lnSpc>
                <a:spcPct val="110000"/>
              </a:lnSpc>
              <a:spcAft>
                <a:spcPts val="300"/>
              </a:spcAft>
            </a:pPr>
            <a:r>
              <a:rPr sz="1400" b="0">
                <a:solidFill>
                  <a:srgbClr val="1F2A3A"/>
                </a:solidFill>
                <a:latin typeface="맑은 고딕"/>
                <a:ea typeface="맑은 고딕"/>
                <a:cs typeface="맑은 고딕"/>
              </a:rPr>
              <a:t>추천이 제외 규칙에 걸리지 않았는가</a:t>
            </a:r>
          </a:p>
          <a:p>
            <a:pPr algn="l" eaLnBrk="0">
              <a:lnSpc>
                <a:spcPct val="110000"/>
              </a:lnSpc>
              <a:spcAft>
                <a:spcPts val="300"/>
              </a:spcAft>
            </a:pPr>
            <a:r>
              <a:rPr sz="1400" b="0">
                <a:solidFill>
                  <a:srgbClr val="1F2A3A"/>
                </a:solidFill>
                <a:latin typeface="맑은 고딕"/>
                <a:ea typeface="맑은 고딕"/>
                <a:cs typeface="맑은 고딕"/>
              </a:rPr>
              <a:t>추천에 승인 역할과 SOP 단계가 붙어 있는가</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어겼을 때</a:t>
            </a:r>
          </a:p>
          <a:p>
            <a:pPr algn="l" eaLnBrk="0">
              <a:lnSpc>
                <a:spcPct val="110000"/>
              </a:lnSpc>
              <a:spcAft>
                <a:spcPts val="200"/>
              </a:spcAft>
            </a:pPr>
            <a:r>
              <a:rPr sz="1150" b="0">
                <a:solidFill>
                  <a:srgbClr val="556175"/>
                </a:solidFill>
                <a:latin typeface="맑은 고딕"/>
                <a:ea typeface="맑은 고딕"/>
                <a:cs typeface="맑은 고딕"/>
              </a:rPr>
              <a:t>제출 거부</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추천안은 제출되지 않아 승인 화면에 올라가지 않는다.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가드레일의 통과, AI의 검토, 사람의 승인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가드레일의 통과와 AI의 검토는 올려도 된다는 확인이고, 실행해도 된다는 결정은 사람의 승인에서만 나온다.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19</a:t>
            </a:r>
          </a:p>
        </p:txBody>
      </p:sp>
      <p:pic>
        <p:nvPicPr>
          <p:cNvPr id="6" name="삽화:두관문.svg" descr="illust_5735425566613267312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892018" y="3991356"/>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8" name="TextBox 7"/>
          <p:cNvSpPr txBox="1"/>
          <p:nvPr/>
        </p:nvSpPr>
        <p:spPr>
          <a:xfrm>
            <a:off x="2713904" y="3991356"/>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추천안</a:t>
            </a:r>
          </a:p>
        </p:txBody>
      </p:sp>
      <p:sp>
        <p:nvSpPr>
          <p:cNvPr id="9" name="TextBox 8"/>
          <p:cNvSpPr txBox="1"/>
          <p:nvPr/>
        </p:nvSpPr>
        <p:spPr>
          <a:xfrm>
            <a:off x="4241233" y="1769455"/>
            <a:ext cx="218189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가드레일</a:t>
            </a:r>
          </a:p>
          <a:p>
            <a:pPr algn="ctr" eaLnBrk="0">
              <a:lnSpc>
                <a:spcPct val="110000"/>
              </a:lnSpc>
              <a:spcAft>
                <a:spcPts val="100"/>
              </a:spcAft>
            </a:pPr>
            <a:r>
              <a:rPr sz="1300" b="0">
                <a:solidFill>
                  <a:srgbClr val="556175"/>
                </a:solidFill>
                <a:latin typeface="맑은 고딕"/>
                <a:ea typeface="맑은 고딕"/>
                <a:cs typeface="맑은 고딕"/>
              </a:rPr>
              <a:t>시스템의 자동 검사</a:t>
            </a:r>
          </a:p>
        </p:txBody>
      </p:sp>
      <p:sp>
        <p:nvSpPr>
          <p:cNvPr id="10" name="TextBox 9"/>
          <p:cNvSpPr txBox="1"/>
          <p:nvPr/>
        </p:nvSpPr>
        <p:spPr>
          <a:xfrm>
            <a:off x="6597684" y="1769455"/>
            <a:ext cx="2181899"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사람의 승인</a:t>
            </a:r>
          </a:p>
          <a:p>
            <a:pPr algn="ctr" eaLnBrk="0">
              <a:lnSpc>
                <a:spcPct val="110000"/>
              </a:lnSpc>
              <a:spcAft>
                <a:spcPts val="100"/>
              </a:spcAft>
            </a:pPr>
            <a:r>
              <a:rPr sz="1300" b="0">
                <a:solidFill>
                  <a:srgbClr val="556175"/>
                </a:solidFill>
                <a:latin typeface="맑은 고딕"/>
                <a:ea typeface="맑은 고딕"/>
                <a:cs typeface="맑은 고딕"/>
              </a:rPr>
              <a:t>승인 역할의 담당자</a:t>
            </a:r>
          </a:p>
        </p:txBody>
      </p:sp>
      <p:sp>
        <p:nvSpPr>
          <p:cNvPr id="11" name="TextBox 10"/>
          <p:cNvSpPr txBox="1"/>
          <p:nvPr/>
        </p:nvSpPr>
        <p:spPr>
          <a:xfrm>
            <a:off x="6019481" y="2809494"/>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통과</a:t>
            </a:r>
          </a:p>
        </p:txBody>
      </p:sp>
      <p:sp>
        <p:nvSpPr>
          <p:cNvPr id="12" name="TextBox 11"/>
          <p:cNvSpPr txBox="1"/>
          <p:nvPr/>
        </p:nvSpPr>
        <p:spPr>
          <a:xfrm>
            <a:off x="8397751" y="2809494"/>
            <a:ext cx="981854"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a:t>
            </a:r>
          </a:p>
        </p:txBody>
      </p:sp>
      <p:sp>
        <p:nvSpPr>
          <p:cNvPr id="13" name="TextBox 12"/>
          <p:cNvSpPr txBox="1"/>
          <p:nvPr/>
        </p:nvSpPr>
        <p:spPr>
          <a:xfrm>
            <a:off x="9335967" y="3991356"/>
            <a:ext cx="152732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명령</a:t>
            </a:r>
          </a:p>
        </p:txBody>
      </p:sp>
      <p:sp>
        <p:nvSpPr>
          <p:cNvPr id="14" name="TextBox 13"/>
          <p:cNvSpPr txBox="1"/>
          <p:nvPr/>
        </p:nvSpPr>
        <p:spPr>
          <a:xfrm>
            <a:off x="5659467" y="5362315"/>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제출되지 않는다</a:t>
            </a:r>
          </a:p>
          <a:p>
            <a:pPr algn="ctr" eaLnBrk="0">
              <a:lnSpc>
                <a:spcPct val="110000"/>
              </a:lnSpc>
              <a:spcAft>
                <a:spcPts val="100"/>
              </a:spcAft>
            </a:pPr>
            <a:r>
              <a:rPr sz="1300" b="0">
                <a:solidFill>
                  <a:srgbClr val="556175"/>
                </a:solidFill>
                <a:latin typeface="맑은 고딕"/>
                <a:ea typeface="맑은 고딕"/>
                <a:cs typeface="맑은 고딕"/>
              </a:rPr>
              <a:t>규칙을 어긴 추천안</a:t>
            </a:r>
          </a:p>
        </p:txBody>
      </p:sp>
      <p:sp>
        <p:nvSpPr>
          <p:cNvPr id="15" name="TextBox 14"/>
          <p:cNvSpPr txBox="1"/>
          <p:nvPr/>
        </p:nvSpPr>
        <p:spPr>
          <a:xfrm>
            <a:off x="8168651" y="5362315"/>
            <a:ext cx="2400088"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명령 없이 닫힌다</a:t>
            </a:r>
          </a:p>
          <a:p>
            <a:pPr algn="ctr" eaLnBrk="0">
              <a:lnSpc>
                <a:spcPct val="110000"/>
              </a:lnSpc>
              <a:spcAft>
                <a:spcPts val="100"/>
              </a:spcAft>
            </a:pPr>
            <a:r>
              <a:rPr sz="1300" b="0">
                <a:solidFill>
                  <a:srgbClr val="556175"/>
                </a:solidFill>
                <a:latin typeface="맑은 고딕"/>
                <a:ea typeface="맑은 고딕"/>
                <a:cs typeface="맑은 고딕"/>
              </a:rPr>
              <a:t>거절한 추천안</a:t>
            </a:r>
          </a:p>
        </p:txBody>
      </p:sp>
      <p:sp>
        <p:nvSpPr>
          <p:cNvPr id="16" name="TextBox 15"/>
          <p:cNvSpPr txBox="1"/>
          <p:nvPr/>
        </p:nvSpPr>
        <p:spPr>
          <a:xfrm>
            <a:off x="859290" y="4842296"/>
            <a:ext cx="3272848" cy="980185"/>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AI의 검토</a:t>
            </a:r>
          </a:p>
          <a:p>
            <a:pPr algn="ctr" eaLnBrk="0">
              <a:lnSpc>
                <a:spcPct val="110000"/>
              </a:lnSpc>
              <a:spcAft>
                <a:spcPts val="100"/>
              </a:spcAft>
            </a:pPr>
            <a:r>
              <a:rPr sz="1300" b="0">
                <a:solidFill>
                  <a:srgbClr val="556175"/>
                </a:solidFill>
                <a:latin typeface="맑은 고딕"/>
                <a:ea typeface="맑은 고딕"/>
                <a:cs typeface="맑은 고딕"/>
              </a:rPr>
              <a:t>에이전트의 자기 검토와</a:t>
            </a:r>
          </a:p>
          <a:p>
            <a:pPr algn="ctr" eaLnBrk="0">
              <a:lnSpc>
                <a:spcPct val="110000"/>
              </a:lnSpc>
              <a:spcAft>
                <a:spcPts val="100"/>
              </a:spcAft>
            </a:pPr>
            <a:r>
              <a:rPr sz="1300" b="0">
                <a:solidFill>
                  <a:srgbClr val="556175"/>
                </a:solidFill>
                <a:latin typeface="맑은 고딕"/>
                <a:ea typeface="맑은 고딕"/>
                <a:cs typeface="맑은 고딕"/>
              </a:rPr>
              <a:t>다른 에이전트의 검토도</a:t>
            </a:r>
          </a:p>
          <a:p>
            <a:pPr algn="ctr" eaLnBrk="0">
              <a:lnSpc>
                <a:spcPct val="110000"/>
              </a:lnSpc>
              <a:spcAft>
                <a:spcPts val="100"/>
              </a:spcAft>
            </a:pPr>
            <a:r>
              <a:rPr sz="1300" b="0">
                <a:solidFill>
                  <a:srgbClr val="556175"/>
                </a:solidFill>
                <a:latin typeface="맑은 고딕"/>
                <a:ea typeface="맑은 고딕"/>
                <a:cs typeface="맑은 고딕"/>
              </a:rPr>
              <a:t>승인이 아니다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승인과 거절이 처리 결과를</a:t>
            </a:r>
          </a:p>
          <a:p>
            <a:pPr algn="l" eaLnBrk="0">
              <a:lnSpc>
                <a:spcPct val="110000"/>
              </a:lnSpc>
            </a:pPr>
            <a:r>
              <a:rPr sz="3400" b="1">
                <a:solidFill>
                  <a:srgbClr val="13294B"/>
                </a:solidFill>
                <a:latin typeface="맑은 고딕"/>
                <a:ea typeface="맑은 고딕"/>
                <a:cs typeface="맑은 고딕"/>
              </a:rPr>
              <a:t>바꾸는 과정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승인 대기 건의 역할을 확인하고, 승인과 거절이 처리 건에 남기는 결과를 견준다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승인 대기 건의 결정과 결과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승인 대기 건을 권한 있는 역할로 결정하고, 승인과 거절이 처리 건의 상태와 기록에 남긴 차이를 대조한다.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승인 대기 건</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처리 건과 내 작업함에서 추천안과</a:t>
            </a:r>
          </a:p>
          <a:p>
            <a:pPr algn="l" eaLnBrk="0">
              <a:lnSpc>
                <a:spcPct val="110000"/>
              </a:lnSpc>
            </a:pPr>
            <a:r>
              <a:rPr sz="1400" b="0">
                <a:solidFill>
                  <a:srgbClr val="1F2A3A"/>
                </a:solidFill>
                <a:latin typeface="맑은 고딕"/>
                <a:ea typeface="맑은 고딕"/>
                <a:cs typeface="맑은 고딕"/>
              </a:rPr>
              <a:t>그 조치의 승인 역할을 확인한다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대기 건의 승인 역할을</a:t>
            </a:r>
          </a:p>
          <a:p>
            <a:pPr algn="l" eaLnBrk="0">
              <a:lnSpc>
                <a:spcPct val="110000"/>
              </a:lnSpc>
            </a:pPr>
            <a:r>
              <a:rPr sz="1250" b="1">
                <a:solidFill>
                  <a:srgbClr val="556175"/>
                </a:solidFill>
                <a:latin typeface="맑은 고딕"/>
                <a:ea typeface="맑은 고딕"/>
                <a:cs typeface="맑은 고딕"/>
              </a:rPr>
              <a:t>말할 수 있음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있는 결정</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권한 있는 역할로 승인하거나</a:t>
            </a:r>
          </a:p>
          <a:p>
            <a:pPr algn="l" eaLnBrk="0">
              <a:lnSpc>
                <a:spcPct val="110000"/>
              </a:lnSpc>
            </a:pPr>
            <a:r>
              <a:rPr sz="1400" b="0">
                <a:solidFill>
                  <a:srgbClr val="1F2A3A"/>
                </a:solidFill>
                <a:latin typeface="맑은 고딕"/>
                <a:ea typeface="맑은 고딕"/>
                <a:cs typeface="맑은 고딕"/>
              </a:rPr>
              <a:t>사유를 적어 거절한다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결정과 흐름 상태의 변화가</a:t>
            </a:r>
          </a:p>
          <a:p>
            <a:pPr algn="l" eaLnBrk="0">
              <a:lnSpc>
                <a:spcPct val="110000"/>
              </a:lnSpc>
            </a:pPr>
            <a:r>
              <a:rPr sz="1250" b="1">
                <a:solidFill>
                  <a:srgbClr val="556175"/>
                </a:solidFill>
                <a:latin typeface="맑은 고딕"/>
                <a:ea typeface="맑은 고딕"/>
                <a:cs typeface="맑은 고딕"/>
              </a:rPr>
              <a:t>처리 기록에 남음</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없는 역할</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 역할이 아닌 역할로</a:t>
            </a:r>
          </a:p>
          <a:p>
            <a:pPr algn="l" eaLnBrk="0">
              <a:lnSpc>
                <a:spcPct val="110000"/>
              </a:lnSpc>
            </a:pPr>
            <a:r>
              <a:rPr sz="1400" b="0">
                <a:solidFill>
                  <a:srgbClr val="1F2A3A"/>
                </a:solidFill>
                <a:latin typeface="맑은 고딕"/>
                <a:ea typeface="맑은 고딕"/>
                <a:cs typeface="맑은 고딕"/>
              </a:rPr>
              <a:t>결정을 시도한다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받아들여지지 않는 까닭을</a:t>
            </a:r>
          </a:p>
          <a:p>
            <a:pPr algn="l" eaLnBrk="0">
              <a:lnSpc>
                <a:spcPct val="110000"/>
              </a:lnSpc>
            </a:pPr>
            <a:r>
              <a:rPr sz="1250" b="1">
                <a:solidFill>
                  <a:srgbClr val="556175"/>
                </a:solidFill>
                <a:latin typeface="맑은 고딕"/>
                <a:ea typeface="맑은 고딕"/>
                <a:cs typeface="맑은 고딕"/>
              </a:rPr>
              <a:t>설명함</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완성본 확인</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건과 거절한 건의</a:t>
            </a:r>
          </a:p>
          <a:p>
            <a:pPr algn="l" eaLnBrk="0">
              <a:lnSpc>
                <a:spcPct val="110000"/>
              </a:lnSpc>
            </a:pPr>
            <a:r>
              <a:rPr sz="1400" b="0">
                <a:solidFill>
                  <a:srgbClr val="1F2A3A"/>
                </a:solidFill>
                <a:latin typeface="맑은 고딕"/>
                <a:ea typeface="맑은 고딕"/>
                <a:cs typeface="맑은 고딕"/>
              </a:rPr>
              <a:t>처리 기록을 나란히 본다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명령 · 작업지시의 유무와</a:t>
            </a:r>
          </a:p>
          <a:p>
            <a:pPr algn="l" eaLnBrk="0">
              <a:lnSpc>
                <a:spcPct val="110000"/>
              </a:lnSpc>
            </a:pPr>
            <a:r>
              <a:rPr sz="1250" b="1">
                <a:solidFill>
                  <a:srgbClr val="1A6FC4"/>
                </a:solidFill>
                <a:latin typeface="맑은 고딕"/>
                <a:ea typeface="맑은 고딕"/>
                <a:cs typeface="맑은 고딕"/>
              </a:rPr>
              <a:t>끝난 모양의 차이를 설명함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정보가 부족하면 질문하고</a:t>
            </a:r>
          </a:p>
          <a:p>
            <a:pPr algn="l" eaLnBrk="0">
              <a:lnSpc>
                <a:spcPct val="110000"/>
              </a:lnSpc>
            </a:pPr>
            <a:r>
              <a:rPr sz="3400" b="1">
                <a:solidFill>
                  <a:srgbClr val="13294B"/>
                </a:solidFill>
                <a:latin typeface="맑은 고딕"/>
                <a:ea typeface="맑은 고딕"/>
                <a:cs typeface="맑은 고딕"/>
              </a:rPr>
              <a:t>다시 처리하는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앞서 만든 업무 에이전트가 빠진 정보를 확정하지 않고 확인 질문을 내도록 바이브 코딩으로 고친다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확인 질문과 재처리의 전후 기록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빠진 정보를 확정하지 않고 확인 질문을 내게 고친 뒤, 추가 입력으로 다시 판단한 결과와 전후 상태를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정보가 빠진 요청</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부품 수량 · 긴급 사유 · 승인권자가</a:t>
            </a:r>
          </a:p>
          <a:p>
            <a:pPr algn="l" eaLnBrk="0">
              <a:lnSpc>
                <a:spcPct val="110000"/>
              </a:lnSpc>
            </a:pPr>
            <a:r>
              <a:rPr sz="1400" b="0">
                <a:solidFill>
                  <a:srgbClr val="1F2A3A"/>
                </a:solidFill>
                <a:latin typeface="맑은 고딕"/>
                <a:ea typeface="맑은 고딕"/>
                <a:cs typeface="맑은 고딕"/>
              </a:rPr>
              <a:t>빠진 요청을 에이전트에 준다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빠진 값을</a:t>
            </a:r>
          </a:p>
          <a:p>
            <a:pPr algn="l" eaLnBrk="0">
              <a:lnSpc>
                <a:spcPct val="110000"/>
              </a:lnSpc>
            </a:pPr>
            <a:r>
              <a:rPr sz="1250" b="1">
                <a:solidFill>
                  <a:srgbClr val="556175"/>
                </a:solidFill>
                <a:latin typeface="맑은 고딕"/>
                <a:ea typeface="맑은 고딕"/>
                <a:cs typeface="맑은 고딕"/>
              </a:rPr>
              <a:t>지어내지 않음</a:t>
            </a:r>
          </a:p>
        </p:txBody>
      </p:sp>
      <p:sp>
        <p:nvSpPr>
          <p:cNvPr id="14" name="Rounded Rectangle 13"/>
          <p:cNvSpPr/>
          <p:nvPr/>
        </p:nvSpPr>
        <p:spPr>
          <a:xfrm>
            <a:off x="548640" y="3310127"/>
            <a:ext cx="11094415" cy="850392"/>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확인 질문</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빠진 값을 확정하지 않고</a:t>
            </a:r>
          </a:p>
          <a:p>
            <a:pPr algn="l" eaLnBrk="0">
              <a:lnSpc>
                <a:spcPct val="110000"/>
              </a:lnSpc>
            </a:pPr>
            <a:r>
              <a:rPr sz="1400" b="0">
                <a:solidFill>
                  <a:srgbClr val="1F2A3A"/>
                </a:solidFill>
                <a:latin typeface="맑은 고딕"/>
                <a:ea typeface="맑은 고딕"/>
                <a:cs typeface="맑은 고딕"/>
              </a:rPr>
              <a:t>담당자에게 물을 질문을 내게 고친다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무엇이 왜 필요한지</a:t>
            </a:r>
          </a:p>
          <a:p>
            <a:pPr algn="l" eaLnBrk="0">
              <a:lnSpc>
                <a:spcPct val="110000"/>
              </a:lnSpc>
            </a:pPr>
            <a:r>
              <a:rPr sz="1250" b="1">
                <a:solidFill>
                  <a:srgbClr val="1A6FC4"/>
                </a:solidFill>
                <a:latin typeface="맑은 고딕"/>
                <a:ea typeface="맑은 고딕"/>
                <a:cs typeface="맑은 고딕"/>
              </a:rPr>
              <a:t>질문에 드러남</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다시 판단</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추가 입력을 받아</a:t>
            </a:r>
          </a:p>
          <a:p>
            <a:pPr algn="l" eaLnBrk="0">
              <a:lnSpc>
                <a:spcPct val="110000"/>
              </a:lnSpc>
            </a:pPr>
            <a:r>
              <a:rPr sz="1400" b="0">
                <a:solidFill>
                  <a:srgbClr val="1F2A3A"/>
                </a:solidFill>
                <a:latin typeface="맑은 고딕"/>
                <a:ea typeface="맑은 고딕"/>
                <a:cs typeface="맑은 고딕"/>
              </a:rPr>
              <a:t>같은 요청을 다시 처리한다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답한 값만 반영해</a:t>
            </a:r>
          </a:p>
          <a:p>
            <a:pPr algn="l" eaLnBrk="0">
              <a:lnSpc>
                <a:spcPct val="110000"/>
              </a:lnSpc>
            </a:pPr>
            <a:r>
              <a:rPr sz="1250" b="1">
                <a:solidFill>
                  <a:srgbClr val="556175"/>
                </a:solidFill>
                <a:latin typeface="맑은 고딕"/>
                <a:ea typeface="맑은 고딕"/>
                <a:cs typeface="맑은 고딕"/>
              </a:rPr>
              <a:t>결과를 냄</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전후 기록</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질문 전과 답변 뒤의 상태를 남긴다</a:t>
            </a:r>
          </a:p>
          <a:p>
            <a:pPr algn="l" eaLnBrk="0">
              <a:lnSpc>
                <a:spcPct val="110000"/>
              </a:lnSpc>
            </a:pPr>
            <a:r>
              <a:rPr sz="1400" b="0">
                <a:solidFill>
                  <a:srgbClr val="1F2A3A"/>
                </a:solidFill>
                <a:latin typeface="맑은 고딕"/>
                <a:ea typeface="맑은 고딕"/>
                <a:cs typeface="맑은 고딕"/>
              </a:rPr>
              <a:t>온톨로지와 SOP는 그대로 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상태 변화를</a:t>
            </a:r>
          </a:p>
          <a:p>
            <a:pPr algn="l" eaLnBrk="0">
              <a:lnSpc>
                <a:spcPct val="110000"/>
              </a:lnSpc>
            </a:pPr>
            <a:r>
              <a:rPr sz="1250" b="1">
                <a:solidFill>
                  <a:srgbClr val="556175"/>
                </a:solidFill>
                <a:latin typeface="맑은 고딕"/>
                <a:ea typeface="맑은 고딕"/>
                <a:cs typeface="맑은 고딕"/>
              </a:rPr>
              <a:t>기록으로 대조함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제안과 검토를 나누어 맡는</a:t>
            </a:r>
          </a:p>
          <a:p>
            <a:pPr algn="l" eaLnBrk="0">
              <a:lnSpc>
                <a:spcPct val="110000"/>
              </a:lnSpc>
            </a:pPr>
            <a:r>
              <a:rPr sz="3400" b="1">
                <a:solidFill>
                  <a:srgbClr val="13294B"/>
                </a:solidFill>
                <a:latin typeface="맑은 고딕"/>
                <a:ea typeface="맑은 고딕"/>
                <a:cs typeface="맑은 고딕"/>
              </a:rPr>
              <a:t>두 에이전트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작성 역할의 초안을 검토 역할이 따로 검토하고, 그 결과를 사람의 승인과 다른 항목에 남긴다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초안 · 검토 의견 · 수정본과 승인 항목</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작성과 검토를 다른 에이전트에 나눠 초안을 고치고, AI의 검토 결과와 사람의 최종 승인을 서로 다른 항목에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25</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맡는 쪽</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작성 역할</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요청의 초안을 만든다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초안</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검토 역할</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근거 · 수량 · 승인 정보의 누락을</a:t>
            </a:r>
          </a:p>
          <a:p>
            <a:pPr algn="l" eaLnBrk="0">
              <a:lnSpc>
                <a:spcPct val="110000"/>
              </a:lnSpc>
            </a:pPr>
            <a:r>
              <a:rPr sz="1400" b="0">
                <a:solidFill>
                  <a:srgbClr val="1F2A3A"/>
                </a:solidFill>
                <a:latin typeface="맑은 고딕"/>
                <a:ea typeface="맑은 고딕"/>
                <a:cs typeface="맑은 고딕"/>
              </a:rPr>
              <a:t>작성 역할과 따로 검토한다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누락을 짚은</a:t>
            </a:r>
          </a:p>
          <a:p>
            <a:pPr algn="l" eaLnBrk="0">
              <a:lnSpc>
                <a:spcPct val="110000"/>
              </a:lnSpc>
            </a:pPr>
            <a:r>
              <a:rPr sz="1250" b="1">
                <a:solidFill>
                  <a:srgbClr val="556175"/>
                </a:solidFill>
                <a:latin typeface="맑은 고딕"/>
                <a:ea typeface="맑은 고딕"/>
                <a:cs typeface="맑은 고딕"/>
              </a:rPr>
              <a:t>검토 의견</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수정</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검토 의견에 따라 초안을 고친다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의견이 반영된</a:t>
            </a:r>
          </a:p>
          <a:p>
            <a:pPr algn="l" eaLnBrk="0">
              <a:lnSpc>
                <a:spcPct val="110000"/>
              </a:lnSpc>
            </a:pPr>
            <a:r>
              <a:rPr sz="1250" b="1">
                <a:solidFill>
                  <a:srgbClr val="556175"/>
                </a:solidFill>
                <a:latin typeface="맑은 고딕"/>
                <a:ea typeface="맑은 고딕"/>
                <a:cs typeface="맑은 고딕"/>
              </a:rPr>
              <a:t>수정본</a:t>
            </a:r>
          </a:p>
        </p:txBody>
      </p:sp>
      <p:sp>
        <p:nvSpPr>
          <p:cNvPr id="22" name="Rounded Rectangle 21"/>
          <p:cNvSpPr/>
          <p:nvPr/>
        </p:nvSpPr>
        <p:spPr>
          <a:xfrm>
            <a:off x="548640" y="5138927"/>
            <a:ext cx="11094415" cy="850392"/>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검토와 승인의 구분</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AI 사이의 검토 결과와</a:t>
            </a:r>
          </a:p>
          <a:p>
            <a:pPr algn="l" eaLnBrk="0">
              <a:lnSpc>
                <a:spcPct val="110000"/>
              </a:lnSpc>
            </a:pPr>
            <a:r>
              <a:rPr sz="1400" b="0">
                <a:solidFill>
                  <a:srgbClr val="1F2A3A"/>
                </a:solidFill>
                <a:latin typeface="맑은 고딕"/>
                <a:ea typeface="맑은 고딕"/>
                <a:cs typeface="맑은 고딕"/>
              </a:rPr>
              <a:t>사람의 최종 승인 여부를</a:t>
            </a:r>
          </a:p>
          <a:p>
            <a:pPr algn="l" eaLnBrk="0">
              <a:lnSpc>
                <a:spcPct val="110000"/>
              </a:lnSpc>
            </a:pPr>
            <a:r>
              <a:rPr sz="1400" b="0">
                <a:solidFill>
                  <a:srgbClr val="1F2A3A"/>
                </a:solidFill>
                <a:latin typeface="맑은 고딕"/>
                <a:ea typeface="맑은 고딕"/>
                <a:cs typeface="맑은 고딕"/>
              </a:rPr>
              <a:t>서로 다른 항목에 남긴다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검토가 승인으로</a:t>
            </a:r>
          </a:p>
          <a:p>
            <a:pPr algn="l" eaLnBrk="0">
              <a:lnSpc>
                <a:spcPct val="110000"/>
              </a:lnSpc>
            </a:pPr>
            <a:r>
              <a:rPr sz="1250" b="1">
                <a:solidFill>
                  <a:srgbClr val="1A6FC4"/>
                </a:solidFill>
                <a:latin typeface="맑은 고딕"/>
                <a:ea typeface="맑은 고딕"/>
                <a:cs typeface="맑은 고딕"/>
              </a:rPr>
              <a:t>읽히지 않음</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03</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요구사항 변경과 바이브 코딩</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잘 동작하는 에이전트에 한 문장의 새 요구가 붙을 때 흔들릴 수 있는 자리</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잘 동작하는 에이전트에 붙은 새 요구 한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한 문장으로 온 변경 요청에는 바뀌면 안 되는 것이 적혀 있지 않다.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27</a:t>
            </a:r>
          </a:p>
        </p:txBody>
      </p:sp>
      <p:sp>
        <p:nvSpPr>
          <p:cNvPr id="6" name="Rounded Rectangle 5"/>
          <p:cNvSpPr/>
          <p:nvPr/>
        </p:nvSpPr>
        <p:spPr>
          <a:xfrm>
            <a:off x="548640" y="2562860"/>
            <a:ext cx="11094415" cy="1371600"/>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822959" y="2562860"/>
            <a:ext cx="10545775" cy="1371600"/>
          </a:xfrm>
          <a:prstGeom prst="rect">
            <a:avLst/>
          </a:prstGeom>
          <a:noFill/>
        </p:spPr>
        <p:txBody>
          <a:bodyPr wrap="square" anchor="ctr"/>
          <a:lstStyle/>
          <a:p>
            <a:pPr algn="ctr" eaLnBrk="0">
              <a:lnSpc>
                <a:spcPct val="110000"/>
              </a:lnSpc>
            </a:pPr>
            <a:r>
              <a:rPr sz="2600" b="1">
                <a:solidFill>
                  <a:srgbClr val="13294B"/>
                </a:solidFill>
                <a:latin typeface="맑은 고딕"/>
                <a:ea typeface="맑은 고딕"/>
                <a:cs typeface="맑은 고딕"/>
              </a:rPr>
              <a:t>「긴급한 경보는 빨리</a:t>
            </a:r>
          </a:p>
          <a:p>
            <a:pPr algn="ctr" eaLnBrk="0">
              <a:lnSpc>
                <a:spcPct val="110000"/>
              </a:lnSpc>
            </a:pPr>
            <a:r>
              <a:rPr sz="2600" b="1">
                <a:solidFill>
                  <a:srgbClr val="13294B"/>
                </a:solidFill>
                <a:latin typeface="맑은 고딕"/>
                <a:ea typeface="맑은 고딕"/>
                <a:cs typeface="맑은 고딕"/>
              </a:rPr>
              <a:t>처리되게 해 주세요.」</a:t>
            </a:r>
          </a:p>
        </p:txBody>
      </p:sp>
      <p:sp>
        <p:nvSpPr>
          <p:cNvPr id="8" name="Oval 7"/>
          <p:cNvSpPr/>
          <p:nvPr/>
        </p:nvSpPr>
        <p:spPr>
          <a:xfrm>
            <a:off x="548640" y="4300220"/>
            <a:ext cx="731520" cy="731520"/>
          </a:xfrm>
          <a:prstGeom prst="ellipse">
            <a:avLst/>
          </a:prstGeom>
          <a:solidFill>
            <a:srgbClr val="E7F3FD"/>
          </a:solidFill>
          <a:ln>
            <a:noFill/>
          </a:ln>
        </p:spPr>
        <p:txBody>
          <a:bodyPr rtlCol="0" anchor="ctr"/>
          <a:lstStyle/>
          <a:p>
            <a:pPr algn="ctr"/>
          </a:p>
        </p:txBody>
      </p:sp>
      <p:pic>
        <p:nvPicPr>
          <p:cNvPr id="9" name="아이콘:help-circle" descr="help-circle_13294B_1.6.png"/>
          <p:cNvPicPr>
            <a:picLocks noChangeAspect="1"/>
          </p:cNvPicPr>
          <p:nvPr/>
        </p:nvPicPr>
        <p:blipFill>
          <a:blip r:embed="rId3"/>
          <a:stretch>
            <a:fillRect/>
          </a:stretch>
        </p:blipFill>
        <p:spPr>
          <a:xfrm>
            <a:off x="702259" y="4453839"/>
            <a:ext cx="424281" cy="424281"/>
          </a:xfrm>
          <a:prstGeom prst="rect">
            <a:avLst/>
          </a:prstGeom>
        </p:spPr>
      </p:pic>
      <p:sp>
        <p:nvSpPr>
          <p:cNvPr id="10" name="TextBox 9"/>
          <p:cNvSpPr txBox="1"/>
          <p:nvPr/>
        </p:nvSpPr>
        <p:spPr>
          <a:xfrm>
            <a:off x="1371600"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긴급의 기준</a:t>
            </a:r>
          </a:p>
          <a:p>
            <a:pPr algn="l" eaLnBrk="0">
              <a:lnSpc>
                <a:spcPct val="110000"/>
              </a:lnSpc>
              <a:spcAft>
                <a:spcPts val="400"/>
              </a:spcAft>
            </a:pPr>
            <a:r>
              <a:rPr sz="1400" b="0">
                <a:solidFill>
                  <a:srgbClr val="1F2A3A"/>
                </a:solidFill>
                <a:latin typeface="맑은 고딕"/>
                <a:ea typeface="맑은 고딕"/>
                <a:cs typeface="맑은 고딕"/>
              </a:rPr>
              <a:t>어떤 경보가 긴급한지 정하지 않았다</a:t>
            </a:r>
          </a:p>
        </p:txBody>
      </p:sp>
      <p:sp>
        <p:nvSpPr>
          <p:cNvPr id="11" name="Oval 10"/>
          <p:cNvSpPr/>
          <p:nvPr/>
        </p:nvSpPr>
        <p:spPr>
          <a:xfrm>
            <a:off x="4338218" y="4300220"/>
            <a:ext cx="731520" cy="731520"/>
          </a:xfrm>
          <a:prstGeom prst="ellipse">
            <a:avLst/>
          </a:prstGeom>
          <a:solidFill>
            <a:srgbClr val="E7F3FD"/>
          </a:solidFill>
          <a:ln>
            <a:noFill/>
          </a:ln>
        </p:spPr>
        <p:txBody>
          <a:bodyPr rtlCol="0" anchor="ctr"/>
          <a:lstStyle/>
          <a:p>
            <a:pPr algn="ctr"/>
          </a:p>
        </p:txBody>
      </p:sp>
      <p:pic>
        <p:nvPicPr>
          <p:cNvPr id="12" name="아이콘:help-circle" descr="help-circle_13294B_1.6.png"/>
          <p:cNvPicPr>
            <a:picLocks noChangeAspect="1"/>
          </p:cNvPicPr>
          <p:nvPr/>
        </p:nvPicPr>
        <p:blipFill>
          <a:blip r:embed="rId3"/>
          <a:stretch>
            <a:fillRect/>
          </a:stretch>
        </p:blipFill>
        <p:spPr>
          <a:xfrm>
            <a:off x="4491837" y="4453839"/>
            <a:ext cx="424281" cy="424281"/>
          </a:xfrm>
          <a:prstGeom prst="rect">
            <a:avLst/>
          </a:prstGeom>
        </p:spPr>
      </p:pic>
      <p:sp>
        <p:nvSpPr>
          <p:cNvPr id="13" name="TextBox 12"/>
          <p:cNvSpPr txBox="1"/>
          <p:nvPr/>
        </p:nvSpPr>
        <p:spPr>
          <a:xfrm>
            <a:off x="5161178"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빨라지는 방법</a:t>
            </a:r>
          </a:p>
          <a:p>
            <a:pPr algn="l" eaLnBrk="0">
              <a:lnSpc>
                <a:spcPct val="110000"/>
              </a:lnSpc>
              <a:spcAft>
                <a:spcPts val="400"/>
              </a:spcAft>
            </a:pPr>
            <a:r>
              <a:rPr sz="1400" b="0">
                <a:solidFill>
                  <a:srgbClr val="1F2A3A"/>
                </a:solidFill>
                <a:latin typeface="맑은 고딕"/>
                <a:ea typeface="맑은 고딕"/>
                <a:cs typeface="맑은 고딕"/>
              </a:rPr>
              <a:t>무엇을 바꾸어 빠르게 할지는 맡겨져 있다</a:t>
            </a:r>
          </a:p>
        </p:txBody>
      </p:sp>
      <p:sp>
        <p:nvSpPr>
          <p:cNvPr id="14" name="Oval 13"/>
          <p:cNvSpPr/>
          <p:nvPr/>
        </p:nvSpPr>
        <p:spPr>
          <a:xfrm>
            <a:off x="8127796" y="4300220"/>
            <a:ext cx="731520" cy="731520"/>
          </a:xfrm>
          <a:prstGeom prst="ellipse">
            <a:avLst/>
          </a:prstGeom>
          <a:solidFill>
            <a:srgbClr val="E7F3FD"/>
          </a:solidFill>
          <a:ln>
            <a:noFill/>
          </a:ln>
        </p:spPr>
        <p:txBody>
          <a:bodyPr rtlCol="0" anchor="ctr"/>
          <a:lstStyle/>
          <a:p>
            <a:pPr algn="ctr"/>
          </a:p>
        </p:txBody>
      </p:sp>
      <p:pic>
        <p:nvPicPr>
          <p:cNvPr id="15" name="아이콘:help-circle" descr="help-circle_13294B_1.6.png"/>
          <p:cNvPicPr>
            <a:picLocks noChangeAspect="1"/>
          </p:cNvPicPr>
          <p:nvPr/>
        </p:nvPicPr>
        <p:blipFill>
          <a:blip r:embed="rId3"/>
          <a:stretch>
            <a:fillRect/>
          </a:stretch>
        </p:blipFill>
        <p:spPr>
          <a:xfrm>
            <a:off x="8281416" y="4453839"/>
            <a:ext cx="424281" cy="424281"/>
          </a:xfrm>
          <a:prstGeom prst="rect">
            <a:avLst/>
          </a:prstGeom>
        </p:spPr>
      </p:pic>
      <p:sp>
        <p:nvSpPr>
          <p:cNvPr id="16" name="TextBox 15"/>
          <p:cNvSpPr txBox="1"/>
          <p:nvPr/>
        </p:nvSpPr>
        <p:spPr>
          <a:xfrm>
            <a:off x="8950756" y="4254500"/>
            <a:ext cx="2692298" cy="1302512"/>
          </a:xfrm>
          <a:prstGeom prst="rect">
            <a:avLst/>
          </a:prstGeom>
          <a:noFill/>
        </p:spPr>
        <p:txBody>
          <a:bodyPr wrap="square" anchor="t"/>
          <a:lstStyle/>
          <a:p>
            <a:pPr algn="l" eaLnBrk="0">
              <a:lnSpc>
                <a:spcPct val="110000"/>
              </a:lnSpc>
              <a:spcAft>
                <a:spcPts val="400"/>
              </a:spcAft>
            </a:pPr>
            <a:r>
              <a:rPr sz="1700" b="1">
                <a:solidFill>
                  <a:srgbClr val="13294B"/>
                </a:solidFill>
                <a:latin typeface="맑은 고딕"/>
                <a:ea typeface="맑은 고딕"/>
                <a:cs typeface="맑은 고딕"/>
              </a:rPr>
              <a:t>그대로 둘 것</a:t>
            </a:r>
          </a:p>
          <a:p>
            <a:pPr algn="l" eaLnBrk="0">
              <a:lnSpc>
                <a:spcPct val="110000"/>
              </a:lnSpc>
              <a:spcAft>
                <a:spcPts val="400"/>
              </a:spcAft>
            </a:pPr>
            <a:r>
              <a:rPr sz="1400" b="0">
                <a:solidFill>
                  <a:srgbClr val="1F2A3A"/>
                </a:solidFill>
                <a:latin typeface="맑은 고딕"/>
                <a:ea typeface="맑은 고딕"/>
                <a:cs typeface="맑은 고딕"/>
              </a:rPr>
              <a:t>건드리면 안 되는 것은 언급이 없다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바이브 코딩: 자연어 요청으로 구현을 맡기는 방식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바이브 코딩은 명세 없이 자연어 요청만으로 AI에게 구현을 맡기는 방식이어서, 요청에 없는 부분은 AI가 정한다.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28</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바이브 코딩</a:t>
            </a:r>
          </a:p>
          <a:p>
            <a:pPr algn="l" eaLnBrk="0">
              <a:lnSpc>
                <a:spcPct val="110000"/>
              </a:lnSpc>
              <a:spcAft>
                <a:spcPts val="200"/>
              </a:spcAft>
            </a:pPr>
            <a:r>
              <a:rPr sz="1150" b="0">
                <a:solidFill>
                  <a:srgbClr val="556175"/>
                </a:solidFill>
                <a:latin typeface="맑은 고딕"/>
                <a:ea typeface="맑은 고딕"/>
                <a:cs typeface="맑은 고딕"/>
              </a:rPr>
              <a:t>Vibe Coding</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상세한 명세 없이 자연어로 요청하고, AI가 쓴 코드를 실행해 보며 고쳐 가는 개발 방식이다.</a:t>
            </a:r>
          </a:p>
          <a:p>
            <a:pPr algn="l" eaLnBrk="0">
              <a:lnSpc>
                <a:spcPct val="110000"/>
              </a:lnSpc>
              <a:spcAft>
                <a:spcPts val="300"/>
              </a:spcAft>
            </a:pPr>
            <a:r>
              <a:rPr sz="1400" b="0">
                <a:solidFill>
                  <a:srgbClr val="1F2A3A"/>
                </a:solidFill>
                <a:latin typeface="맑은 고딕"/>
                <a:ea typeface="맑은 고딕"/>
                <a:cs typeface="맑은 고딕"/>
              </a:rPr>
              <a:t>시작이 빨라 시제품이나 작은 도구를 만드는 데 알맞다.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요청에 없는 부분</a:t>
            </a:r>
          </a:p>
          <a:p>
            <a:pPr algn="l" eaLnBrk="0">
              <a:lnSpc>
                <a:spcPct val="110000"/>
              </a:lnSpc>
              <a:spcAft>
                <a:spcPts val="200"/>
              </a:spcAft>
            </a:pPr>
            <a:r>
              <a:rPr sz="1150" b="0">
                <a:solidFill>
                  <a:srgbClr val="556175"/>
                </a:solidFill>
                <a:latin typeface="맑은 고딕"/>
                <a:ea typeface="맑은 고딕"/>
                <a:cs typeface="맑은 고딕"/>
              </a:rPr>
              <a:t>AI가 채운다</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300" b="0">
                <a:solidFill>
                  <a:srgbClr val="1F2A3A"/>
                </a:solidFill>
                <a:latin typeface="맑은 고딕"/>
                <a:ea typeface="맑은 고딕"/>
                <a:cs typeface="맑은 고딕"/>
              </a:rPr>
              <a:t>출력의 형식, 예외의 처리, 기존 기능의 보존처럼 요청에 적지 않은 것은 AI가 그 자리에서 정한다.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기존 시스템에 붙일 때</a:t>
            </a:r>
          </a:p>
          <a:p>
            <a:pPr algn="l" eaLnBrk="0">
              <a:lnSpc>
                <a:spcPct val="110000"/>
              </a:lnSpc>
              <a:spcAft>
                <a:spcPts val="200"/>
              </a:spcAft>
            </a:pPr>
            <a:r>
              <a:rPr sz="1150" b="0">
                <a:solidFill>
                  <a:srgbClr val="556175"/>
                </a:solidFill>
                <a:latin typeface="맑은 고딕"/>
                <a:ea typeface="맑은 고딕"/>
                <a:cs typeface="맑은 고딕"/>
              </a:rPr>
              <a:t>지킬 것이 있다</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이미 결과를 읽는 쪽과 지켜야 할 규칙이 있어, AI가 채운 빈자리가 그것과 어긋날 수 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한 문장의 세 가지 해석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「빨리 처리」 한마디는 출력 형식, 승인 조건, 기존 요청의 처리 가운데 어느 것을 바꾸라는 뜻으로도 읽힌다.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29</a:t>
            </a:r>
          </a:p>
        </p:txBody>
      </p:sp>
      <p:pic>
        <p:nvPicPr>
          <p:cNvPr id="6" name="삽화:세해석.svg" descr="illust_867093979690905466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41100" y="1911278"/>
            <a:ext cx="2727373" cy="778764"/>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변경 요청</a:t>
            </a:r>
          </a:p>
          <a:p>
            <a:pPr algn="ctr" eaLnBrk="0">
              <a:lnSpc>
                <a:spcPct val="110000"/>
              </a:lnSpc>
              <a:spcAft>
                <a:spcPts val="100"/>
              </a:spcAft>
            </a:pPr>
            <a:r>
              <a:rPr sz="1300" b="0">
                <a:solidFill>
                  <a:srgbClr val="556175"/>
                </a:solidFill>
                <a:latin typeface="맑은 고딕"/>
                <a:ea typeface="맑은 고딕"/>
                <a:cs typeface="맑은 고딕"/>
              </a:rPr>
              <a:t>「긴급한 경보는 빨리</a:t>
            </a:r>
          </a:p>
          <a:p>
            <a:pPr algn="ctr" eaLnBrk="0">
              <a:lnSpc>
                <a:spcPct val="110000"/>
              </a:lnSpc>
              <a:spcAft>
                <a:spcPts val="100"/>
              </a:spcAft>
            </a:pPr>
            <a:r>
              <a:rPr sz="1300" b="0">
                <a:solidFill>
                  <a:srgbClr val="556175"/>
                </a:solidFill>
                <a:latin typeface="맑은 고딕"/>
                <a:ea typeface="맑은 고딕"/>
                <a:cs typeface="맑은 고딕"/>
              </a:rPr>
              <a:t>처리되게 해 주세요.」</a:t>
            </a:r>
          </a:p>
        </p:txBody>
      </p:sp>
      <p:sp>
        <p:nvSpPr>
          <p:cNvPr id="8" name="TextBox 7"/>
          <p:cNvSpPr txBox="1"/>
          <p:nvPr/>
        </p:nvSpPr>
        <p:spPr>
          <a:xfrm>
            <a:off x="6532227" y="1958553"/>
            <a:ext cx="4800177"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출력 형식</a:t>
            </a:r>
          </a:p>
          <a:p>
            <a:pPr algn="ctr" eaLnBrk="0">
              <a:lnSpc>
                <a:spcPct val="110000"/>
              </a:lnSpc>
              <a:spcAft>
                <a:spcPts val="100"/>
              </a:spcAft>
            </a:pPr>
            <a:r>
              <a:rPr sz="1300" b="0">
                <a:solidFill>
                  <a:srgbClr val="556175"/>
                </a:solidFill>
                <a:latin typeface="맑은 고딕"/>
                <a:ea typeface="맑은 고딕"/>
                <a:cs typeface="맑은 고딕"/>
              </a:rPr>
              <a:t>결과에 긴급 표시를 더하는가</a:t>
            </a:r>
          </a:p>
          <a:p>
            <a:pPr algn="ctr" eaLnBrk="0">
              <a:lnSpc>
                <a:spcPct val="110000"/>
              </a:lnSpc>
              <a:spcAft>
                <a:spcPts val="100"/>
              </a:spcAft>
            </a:pPr>
            <a:r>
              <a:rPr sz="1300" b="0">
                <a:solidFill>
                  <a:srgbClr val="556175"/>
                </a:solidFill>
                <a:latin typeface="맑은 고딕"/>
                <a:ea typeface="맑은 고딕"/>
                <a:cs typeface="맑은 고딕"/>
              </a:rPr>
              <a:t>기존 항목의 이름이나 뜻도 바뀌는가</a:t>
            </a:r>
          </a:p>
        </p:txBody>
      </p:sp>
      <p:sp>
        <p:nvSpPr>
          <p:cNvPr id="9" name="TextBox 8"/>
          <p:cNvSpPr txBox="1"/>
          <p:nvPr/>
        </p:nvSpPr>
        <p:spPr>
          <a:xfrm>
            <a:off x="6532227" y="3565885"/>
            <a:ext cx="4800177"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승인 조건</a:t>
            </a:r>
          </a:p>
          <a:p>
            <a:pPr algn="ctr" eaLnBrk="0">
              <a:lnSpc>
                <a:spcPct val="110000"/>
              </a:lnSpc>
              <a:spcAft>
                <a:spcPts val="100"/>
              </a:spcAft>
            </a:pPr>
            <a:r>
              <a:rPr sz="1300" b="0">
                <a:solidFill>
                  <a:srgbClr val="556175"/>
                </a:solidFill>
                <a:latin typeface="맑은 고딕"/>
                <a:ea typeface="맑은 고딕"/>
                <a:cs typeface="맑은 고딕"/>
              </a:rPr>
              <a:t>긴급하면 승인을 기다리지 않는가</a:t>
            </a:r>
          </a:p>
          <a:p>
            <a:pPr algn="ctr" eaLnBrk="0">
              <a:lnSpc>
                <a:spcPct val="110000"/>
              </a:lnSpc>
              <a:spcAft>
                <a:spcPts val="100"/>
              </a:spcAft>
            </a:pPr>
            <a:r>
              <a:rPr sz="1300" b="0">
                <a:solidFill>
                  <a:srgbClr val="556175"/>
                </a:solidFill>
                <a:latin typeface="맑은 고딕"/>
                <a:ea typeface="맑은 고딕"/>
                <a:cs typeface="맑은 고딕"/>
              </a:rPr>
              <a:t>승인하는 역할이 달라지는가</a:t>
            </a:r>
          </a:p>
        </p:txBody>
      </p:sp>
      <p:sp>
        <p:nvSpPr>
          <p:cNvPr id="10" name="TextBox 9"/>
          <p:cNvSpPr txBox="1"/>
          <p:nvPr/>
        </p:nvSpPr>
        <p:spPr>
          <a:xfrm>
            <a:off x="6532227" y="5173218"/>
            <a:ext cx="4800177" cy="778764"/>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기존 요청의 처리</a:t>
            </a:r>
          </a:p>
          <a:p>
            <a:pPr algn="ctr" eaLnBrk="0">
              <a:lnSpc>
                <a:spcPct val="110000"/>
              </a:lnSpc>
              <a:spcAft>
                <a:spcPts val="100"/>
              </a:spcAft>
            </a:pPr>
            <a:r>
              <a:rPr sz="1300" b="0">
                <a:solidFill>
                  <a:srgbClr val="556175"/>
                </a:solidFill>
                <a:latin typeface="맑은 고딕"/>
                <a:ea typeface="맑은 고딕"/>
                <a:cs typeface="맑은 고딕"/>
              </a:rPr>
              <a:t>긴급하지 않은 경보는</a:t>
            </a:r>
          </a:p>
          <a:p>
            <a:pPr algn="ctr" eaLnBrk="0">
              <a:lnSpc>
                <a:spcPct val="110000"/>
              </a:lnSpc>
              <a:spcAft>
                <a:spcPts val="100"/>
              </a:spcAft>
            </a:pPr>
            <a:r>
              <a:rPr sz="1300" b="0">
                <a:solidFill>
                  <a:srgbClr val="556175"/>
                </a:solidFill>
                <a:latin typeface="맑은 고딕"/>
                <a:ea typeface="맑은 고딕"/>
                <a:cs typeface="맑은 고딕"/>
              </a:rPr>
              <a:t>이전과 같은 결과를 내는가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결과 항목을 이름으로 읽는 곳</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에이전트의 결과는 형식 검사와 사건 기록과 승인 화면이 항목 이름으로 읽어, 이름 하나를 바꾸면 그 뒤가 함께 멈춘다.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30</a:t>
            </a:r>
          </a:p>
        </p:txBody>
      </p:sp>
      <p:sp>
        <p:nvSpPr>
          <p:cNvPr id="6" name="Rectangle 5"/>
          <p:cNvSpPr/>
          <p:nvPr/>
        </p:nvSpPr>
        <p:spPr>
          <a:xfrm>
            <a:off x="1935441" y="3566096"/>
            <a:ext cx="8320811" cy="146304"/>
          </a:xfrm>
          <a:prstGeom prst="rect">
            <a:avLst/>
          </a:prstGeom>
          <a:solidFill>
            <a:srgbClr val="5CB8F2"/>
          </a:solidFill>
          <a:ln>
            <a:noFill/>
          </a:ln>
        </p:spPr>
        <p:txBody>
          <a:bodyPr rtlCol="0" anchor="ctr"/>
          <a:lstStyle/>
          <a:p>
            <a:pPr algn="ctr"/>
          </a:p>
        </p:txBody>
      </p:sp>
      <p:sp>
        <p:nvSpPr>
          <p:cNvPr id="7" name="Chevron 6"/>
          <p:cNvSpPr/>
          <p:nvPr/>
        </p:nvSpPr>
        <p:spPr>
          <a:xfrm>
            <a:off x="3203371" y="3456368"/>
            <a:ext cx="237744" cy="365760"/>
          </a:xfrm>
          <a:prstGeom prst="chevron">
            <a:avLst/>
          </a:prstGeom>
          <a:solidFill>
            <a:srgbClr val="13294B"/>
          </a:solidFill>
          <a:ln>
            <a:noFill/>
          </a:ln>
        </p:spPr>
        <p:txBody>
          <a:bodyPr rtlCol="0" anchor="ctr"/>
          <a:lstStyle/>
          <a:p>
            <a:pPr algn="ctr"/>
          </a:p>
        </p:txBody>
      </p:sp>
      <p:sp>
        <p:nvSpPr>
          <p:cNvPr id="8" name="Oval 7"/>
          <p:cNvSpPr/>
          <p:nvPr/>
        </p:nvSpPr>
        <p:spPr>
          <a:xfrm>
            <a:off x="1341081"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9" name="아이콘:braces" descr="braces_13294B_1.6.png"/>
          <p:cNvPicPr>
            <a:picLocks noChangeAspect="1"/>
          </p:cNvPicPr>
          <p:nvPr/>
        </p:nvPicPr>
        <p:blipFill>
          <a:blip r:embed="rId3"/>
          <a:stretch>
            <a:fillRect/>
          </a:stretch>
        </p:blipFill>
        <p:spPr>
          <a:xfrm>
            <a:off x="1626374" y="3330181"/>
            <a:ext cx="618134" cy="618134"/>
          </a:xfrm>
          <a:prstGeom prst="rect">
            <a:avLst/>
          </a:prstGeom>
        </p:spPr>
      </p:pic>
      <p:sp>
        <p:nvSpPr>
          <p:cNvPr id="10" name="TextBox 9"/>
          <p:cNvSpPr txBox="1"/>
          <p:nvPr/>
        </p:nvSpPr>
        <p:spPr>
          <a:xfrm>
            <a:off x="640079"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결과 객체</a:t>
            </a:r>
          </a:p>
          <a:p>
            <a:pPr algn="ctr" eaLnBrk="0">
              <a:lnSpc>
                <a:spcPct val="110000"/>
              </a:lnSpc>
              <a:spcAft>
                <a:spcPts val="400"/>
              </a:spcAft>
            </a:pPr>
            <a:r>
              <a:rPr sz="1300" b="0">
                <a:solidFill>
                  <a:srgbClr val="1F2A3A"/>
                </a:solidFill>
                <a:latin typeface="맑은 고딕"/>
                <a:ea typeface="맑은 고딕"/>
                <a:cs typeface="맑은 고딕"/>
              </a:rPr>
              <a:t>에이전트가 낸</a:t>
            </a:r>
          </a:p>
          <a:p>
            <a:pPr algn="ctr" eaLnBrk="0">
              <a:lnSpc>
                <a:spcPct val="110000"/>
              </a:lnSpc>
              <a:spcAft>
                <a:spcPts val="400"/>
              </a:spcAft>
            </a:pPr>
            <a:r>
              <a:rPr sz="1300" b="0">
                <a:solidFill>
                  <a:srgbClr val="1F2A3A"/>
                </a:solidFill>
                <a:latin typeface="맑은 고딕"/>
                <a:ea typeface="맑은 고딕"/>
                <a:cs typeface="맑은 고딕"/>
              </a:rPr>
              <a:t>다섯 항목</a:t>
            </a:r>
          </a:p>
        </p:txBody>
      </p:sp>
      <p:sp>
        <p:nvSpPr>
          <p:cNvPr id="11" name="Chevron 10"/>
          <p:cNvSpPr/>
          <p:nvPr/>
        </p:nvSpPr>
        <p:spPr>
          <a:xfrm>
            <a:off x="5976975" y="3456368"/>
            <a:ext cx="237744" cy="365760"/>
          </a:xfrm>
          <a:prstGeom prst="chevron">
            <a:avLst/>
          </a:prstGeom>
          <a:solidFill>
            <a:srgbClr val="13294B"/>
          </a:solidFill>
          <a:ln>
            <a:noFill/>
          </a:ln>
        </p:spPr>
        <p:txBody>
          <a:bodyPr rtlCol="0" anchor="ctr"/>
          <a:lstStyle/>
          <a:p>
            <a:pPr algn="ctr"/>
          </a:p>
        </p:txBody>
      </p:sp>
      <p:sp>
        <p:nvSpPr>
          <p:cNvPr id="12" name="Oval 11"/>
          <p:cNvSpPr/>
          <p:nvPr/>
        </p:nvSpPr>
        <p:spPr>
          <a:xfrm>
            <a:off x="4114685"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3" name="아이콘:checks" descr="checks_13294B_1.6.png"/>
          <p:cNvPicPr>
            <a:picLocks noChangeAspect="1"/>
          </p:cNvPicPr>
          <p:nvPr/>
        </p:nvPicPr>
        <p:blipFill>
          <a:blip r:embed="rId4"/>
          <a:stretch>
            <a:fillRect/>
          </a:stretch>
        </p:blipFill>
        <p:spPr>
          <a:xfrm>
            <a:off x="4399978" y="3330181"/>
            <a:ext cx="618134" cy="618134"/>
          </a:xfrm>
          <a:prstGeom prst="rect">
            <a:avLst/>
          </a:prstGeom>
        </p:spPr>
      </p:pic>
      <p:sp>
        <p:nvSpPr>
          <p:cNvPr id="14" name="TextBox 13"/>
          <p:cNvSpPr txBox="1"/>
          <p:nvPr/>
        </p:nvSpPr>
        <p:spPr>
          <a:xfrm>
            <a:off x="3413683"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형식 검사</a:t>
            </a:r>
          </a:p>
          <a:p>
            <a:pPr algn="ctr" eaLnBrk="0">
              <a:lnSpc>
                <a:spcPct val="110000"/>
              </a:lnSpc>
              <a:spcAft>
                <a:spcPts val="400"/>
              </a:spcAft>
            </a:pPr>
            <a:r>
              <a:rPr sz="1300" b="0">
                <a:solidFill>
                  <a:srgbClr val="1F2A3A"/>
                </a:solidFill>
                <a:latin typeface="맑은 고딕"/>
                <a:ea typeface="맑은 고딕"/>
                <a:cs typeface="맑은 고딕"/>
              </a:rPr>
              <a:t>정해진 이름의 항목이</a:t>
            </a:r>
          </a:p>
          <a:p>
            <a:pPr algn="ctr" eaLnBrk="0">
              <a:lnSpc>
                <a:spcPct val="110000"/>
              </a:lnSpc>
              <a:spcAft>
                <a:spcPts val="400"/>
              </a:spcAft>
            </a:pPr>
            <a:r>
              <a:rPr sz="1300" b="0">
                <a:solidFill>
                  <a:srgbClr val="1F2A3A"/>
                </a:solidFill>
                <a:latin typeface="맑은 고딕"/>
                <a:ea typeface="맑은 고딕"/>
                <a:cs typeface="맑은 고딕"/>
              </a:rPr>
              <a:t>있는지 본다</a:t>
            </a:r>
          </a:p>
        </p:txBody>
      </p:sp>
      <p:sp>
        <p:nvSpPr>
          <p:cNvPr id="15" name="Chevron 14"/>
          <p:cNvSpPr/>
          <p:nvPr/>
        </p:nvSpPr>
        <p:spPr>
          <a:xfrm>
            <a:off x="8750579" y="3456368"/>
            <a:ext cx="237744" cy="365760"/>
          </a:xfrm>
          <a:prstGeom prst="chevron">
            <a:avLst/>
          </a:prstGeom>
          <a:solidFill>
            <a:srgbClr val="13294B"/>
          </a:solidFill>
          <a:ln>
            <a:noFill/>
          </a:ln>
        </p:spPr>
        <p:txBody>
          <a:bodyPr rtlCol="0" anchor="ctr"/>
          <a:lstStyle/>
          <a:p>
            <a:pPr algn="ctr"/>
          </a:p>
        </p:txBody>
      </p:sp>
      <p:sp>
        <p:nvSpPr>
          <p:cNvPr id="16" name="Oval 15"/>
          <p:cNvSpPr/>
          <p:nvPr/>
        </p:nvSpPr>
        <p:spPr>
          <a:xfrm>
            <a:off x="6888289" y="3044888"/>
            <a:ext cx="1188720" cy="1188720"/>
          </a:xfrm>
          <a:prstGeom prst="ellipse">
            <a:avLst/>
          </a:prstGeom>
          <a:solidFill>
            <a:srgbClr val="FFFFFF"/>
          </a:solidFill>
          <a:ln w="28575">
            <a:solidFill>
              <a:srgbClr val="13294B"/>
            </a:solidFill>
          </a:ln>
        </p:spPr>
        <p:txBody>
          <a:bodyPr rtlCol="0" anchor="ctr"/>
          <a:lstStyle/>
          <a:p>
            <a:pPr algn="ctr"/>
          </a:p>
        </p:txBody>
      </p:sp>
      <p:pic>
        <p:nvPicPr>
          <p:cNvPr id="17" name="아이콘:file-description" descr="file-description_13294B_1.6.png"/>
          <p:cNvPicPr>
            <a:picLocks noChangeAspect="1"/>
          </p:cNvPicPr>
          <p:nvPr/>
        </p:nvPicPr>
        <p:blipFill>
          <a:blip r:embed="rId5"/>
          <a:stretch>
            <a:fillRect/>
          </a:stretch>
        </p:blipFill>
        <p:spPr>
          <a:xfrm>
            <a:off x="7173582" y="3330181"/>
            <a:ext cx="618134" cy="618134"/>
          </a:xfrm>
          <a:prstGeom prst="rect">
            <a:avLst/>
          </a:prstGeom>
        </p:spPr>
      </p:pic>
      <p:sp>
        <p:nvSpPr>
          <p:cNvPr id="18" name="TextBox 17"/>
          <p:cNvSpPr txBox="1"/>
          <p:nvPr/>
        </p:nvSpPr>
        <p:spPr>
          <a:xfrm>
            <a:off x="6187287"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사건 기록</a:t>
            </a:r>
          </a:p>
          <a:p>
            <a:pPr algn="ctr" eaLnBrk="0">
              <a:lnSpc>
                <a:spcPct val="110000"/>
              </a:lnSpc>
              <a:spcAft>
                <a:spcPts val="400"/>
              </a:spcAft>
            </a:pPr>
            <a:r>
              <a:rPr sz="1300" b="0">
                <a:solidFill>
                  <a:srgbClr val="1F2A3A"/>
                </a:solidFill>
                <a:latin typeface="맑은 고딕"/>
                <a:ea typeface="맑은 고딕"/>
                <a:cs typeface="맑은 고딕"/>
              </a:rPr>
              <a:t>guide_card를 실어</a:t>
            </a:r>
          </a:p>
          <a:p>
            <a:pPr algn="ctr" eaLnBrk="0">
              <a:lnSpc>
                <a:spcPct val="110000"/>
              </a:lnSpc>
              <a:spcAft>
                <a:spcPts val="400"/>
              </a:spcAft>
            </a:pPr>
            <a:r>
              <a:rPr sz="1300" b="0">
                <a:solidFill>
                  <a:srgbClr val="1F2A3A"/>
                </a:solidFill>
                <a:latin typeface="맑은 고딕"/>
                <a:ea typeface="맑은 고딕"/>
                <a:cs typeface="맑은 고딕"/>
              </a:rPr>
              <a:t>승인할 조치의 범위로 쓴다</a:t>
            </a:r>
          </a:p>
        </p:txBody>
      </p:sp>
      <p:sp>
        <p:nvSpPr>
          <p:cNvPr id="19" name="Oval 18"/>
          <p:cNvSpPr/>
          <p:nvPr/>
        </p:nvSpPr>
        <p:spPr>
          <a:xfrm>
            <a:off x="9661893" y="3044888"/>
            <a:ext cx="1188720" cy="1188720"/>
          </a:xfrm>
          <a:prstGeom prst="ellipse">
            <a:avLst/>
          </a:prstGeom>
          <a:solidFill>
            <a:srgbClr val="5CB8F2"/>
          </a:solidFill>
          <a:ln w="28575">
            <a:solidFill>
              <a:srgbClr val="13294B"/>
            </a:solidFill>
          </a:ln>
        </p:spPr>
        <p:txBody>
          <a:bodyPr rtlCol="0" anchor="ctr"/>
          <a:lstStyle/>
          <a:p>
            <a:pPr algn="ctr"/>
          </a:p>
        </p:txBody>
      </p:sp>
      <p:pic>
        <p:nvPicPr>
          <p:cNvPr id="20" name="아이콘:device-desktop" descr="device-desktop_13294B_1.6.png"/>
          <p:cNvPicPr>
            <a:picLocks noChangeAspect="1"/>
          </p:cNvPicPr>
          <p:nvPr/>
        </p:nvPicPr>
        <p:blipFill>
          <a:blip r:embed="rId6"/>
          <a:stretch>
            <a:fillRect/>
          </a:stretch>
        </p:blipFill>
        <p:spPr>
          <a:xfrm>
            <a:off x="9947186" y="3330181"/>
            <a:ext cx="618134" cy="618134"/>
          </a:xfrm>
          <a:prstGeom prst="rect">
            <a:avLst/>
          </a:prstGeom>
        </p:spPr>
      </p:pic>
      <p:sp>
        <p:nvSpPr>
          <p:cNvPr id="21" name="TextBox 20"/>
          <p:cNvSpPr txBox="1"/>
          <p:nvPr/>
        </p:nvSpPr>
        <p:spPr>
          <a:xfrm>
            <a:off x="8960891" y="4370768"/>
            <a:ext cx="2590723" cy="932815"/>
          </a:xfrm>
          <a:prstGeom prst="rect">
            <a:avLst/>
          </a:prstGeom>
          <a:noFill/>
        </p:spPr>
        <p:txBody>
          <a:bodyPr wrap="square" anchor="t"/>
          <a:lstStyle/>
          <a:p>
            <a:pPr algn="ctr" eaLnBrk="0">
              <a:lnSpc>
                <a:spcPct val="110000"/>
              </a:lnSpc>
              <a:spcAft>
                <a:spcPts val="400"/>
              </a:spcAft>
            </a:pPr>
            <a:r>
              <a:rPr sz="1650" b="1">
                <a:solidFill>
                  <a:srgbClr val="13294B"/>
                </a:solidFill>
                <a:latin typeface="맑은 고딕"/>
                <a:ea typeface="맑은 고딕"/>
                <a:cs typeface="맑은 고딕"/>
              </a:rPr>
              <a:t>승인 화면</a:t>
            </a:r>
          </a:p>
          <a:p>
            <a:pPr algn="ctr" eaLnBrk="0">
              <a:lnSpc>
                <a:spcPct val="110000"/>
              </a:lnSpc>
              <a:spcAft>
                <a:spcPts val="400"/>
              </a:spcAft>
            </a:pPr>
            <a:r>
              <a:rPr sz="1300" b="0">
                <a:solidFill>
                  <a:srgbClr val="1F2A3A"/>
                </a:solidFill>
                <a:latin typeface="맑은 고딕"/>
                <a:ea typeface="맑은 고딕"/>
                <a:cs typeface="맑은 고딕"/>
              </a:rPr>
              <a:t>decision_id로 판단을 찾아</a:t>
            </a:r>
          </a:p>
          <a:p>
            <a:pPr algn="ctr" eaLnBrk="0">
              <a:lnSpc>
                <a:spcPct val="110000"/>
              </a:lnSpc>
              <a:spcAft>
                <a:spcPts val="400"/>
              </a:spcAft>
            </a:pPr>
            <a:r>
              <a:rPr sz="1300" b="0">
                <a:solidFill>
                  <a:srgbClr val="1F2A3A"/>
                </a:solidFill>
                <a:latin typeface="맑은 고딕"/>
                <a:ea typeface="맑은 고딕"/>
                <a:cs typeface="맑은 고딕"/>
              </a:rPr>
              <a:t>추천안을 보인다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새 기능만 실행해 본 확인이 놓치는 것</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고친 뒤에 새 기능만 실행해 보는 확인으로는 기존 요청과 승인 조건이 달라졌는지가 드러나지 않는다.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31</a:t>
            </a:r>
          </a:p>
        </p:txBody>
      </p:sp>
      <p:sp>
        <p:nvSpPr>
          <p:cNvPr id="6" name="Rounded Rectangle 5"/>
          <p:cNvSpPr/>
          <p:nvPr/>
        </p:nvSpPr>
        <p:spPr>
          <a:xfrm>
            <a:off x="548640" y="2568321"/>
            <a:ext cx="5181447" cy="284607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769489"/>
            <a:ext cx="731520" cy="731520"/>
          </a:xfrm>
          <a:prstGeom prst="ellipse">
            <a:avLst/>
          </a:prstGeom>
          <a:solidFill>
            <a:srgbClr val="FFFFFF"/>
          </a:solidFill>
          <a:ln>
            <a:noFill/>
          </a:ln>
        </p:spPr>
        <p:txBody>
          <a:bodyPr rtlCol="0" anchor="ctr"/>
          <a:lstStyle/>
          <a:p>
            <a:pPr algn="ctr"/>
          </a:p>
        </p:txBody>
      </p:sp>
      <p:pic>
        <p:nvPicPr>
          <p:cNvPr id="8" name="아이콘:eye" descr="eye_13294B_1.6.png"/>
          <p:cNvPicPr>
            <a:picLocks noChangeAspect="1"/>
          </p:cNvPicPr>
          <p:nvPr/>
        </p:nvPicPr>
        <p:blipFill>
          <a:blip r:embed="rId3"/>
          <a:stretch>
            <a:fillRect/>
          </a:stretch>
        </p:blipFill>
        <p:spPr>
          <a:xfrm>
            <a:off x="976579" y="2923108"/>
            <a:ext cx="424281" cy="424281"/>
          </a:xfrm>
          <a:prstGeom prst="rect">
            <a:avLst/>
          </a:prstGeom>
        </p:spPr>
      </p:pic>
      <p:sp>
        <p:nvSpPr>
          <p:cNvPr id="9" name="TextBox 8"/>
          <p:cNvSpPr txBox="1"/>
          <p:nvPr/>
        </p:nvSpPr>
        <p:spPr>
          <a:xfrm>
            <a:off x="1691640"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실행해 본 것</a:t>
            </a:r>
          </a:p>
        </p:txBody>
      </p:sp>
      <p:sp>
        <p:nvSpPr>
          <p:cNvPr id="10" name="TextBox 9"/>
          <p:cNvSpPr txBox="1"/>
          <p:nvPr/>
        </p:nvSpPr>
        <p:spPr>
          <a:xfrm>
            <a:off x="822959"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긴급한 경보 한 건을 넣는다</a:t>
            </a:r>
          </a:p>
          <a:p>
            <a:pPr algn="l" eaLnBrk="0" marL="171450" indent="-171450">
              <a:lnSpc>
                <a:spcPct val="110000"/>
              </a:lnSpc>
              <a:spcAft>
                <a:spcPts val="600"/>
              </a:spcAft>
            </a:pPr>
            <a:r>
              <a:rPr sz="1500" b="0">
                <a:solidFill>
                  <a:srgbClr val="1F2A3A"/>
                </a:solidFill>
                <a:latin typeface="맑은 고딕"/>
                <a:ea typeface="맑은 고딕"/>
                <a:cs typeface="맑은 고딕"/>
              </a:rPr>
              <a:t>• 추천안이 나오고 긴급하다는 표시도 보인다</a:t>
            </a:r>
          </a:p>
          <a:p>
            <a:pPr algn="l" eaLnBrk="0" marL="171450" indent="-171450">
              <a:lnSpc>
                <a:spcPct val="110000"/>
              </a:lnSpc>
              <a:spcAft>
                <a:spcPts val="600"/>
              </a:spcAft>
            </a:pPr>
            <a:r>
              <a:rPr sz="1500" b="0">
                <a:solidFill>
                  <a:srgbClr val="1F2A3A"/>
                </a:solidFill>
                <a:latin typeface="맑은 고딕"/>
                <a:ea typeface="맑은 고딕"/>
                <a:cs typeface="맑은 고딕"/>
              </a:rPr>
              <a:t>• 요청한 기능은 된 것으로 보인다</a:t>
            </a:r>
          </a:p>
        </p:txBody>
      </p:sp>
      <p:sp>
        <p:nvSpPr>
          <p:cNvPr id="11" name="Rounded Rectangle 10"/>
          <p:cNvSpPr/>
          <p:nvPr/>
        </p:nvSpPr>
        <p:spPr>
          <a:xfrm>
            <a:off x="868680" y="4957191"/>
            <a:ext cx="8686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4957191"/>
            <a:ext cx="8686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새 기능</a:t>
            </a:r>
          </a:p>
        </p:txBody>
      </p:sp>
      <p:sp>
        <p:nvSpPr>
          <p:cNvPr id="13" name="Rounded Rectangle 12"/>
          <p:cNvSpPr/>
          <p:nvPr/>
        </p:nvSpPr>
        <p:spPr>
          <a:xfrm>
            <a:off x="6461607" y="2568321"/>
            <a:ext cx="5181447" cy="284607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769489"/>
            <a:ext cx="731520" cy="731520"/>
          </a:xfrm>
          <a:prstGeom prst="ellipse">
            <a:avLst/>
          </a:prstGeom>
          <a:solidFill>
            <a:srgbClr val="5CB8F2"/>
          </a:solidFill>
          <a:ln>
            <a:noFill/>
          </a:ln>
        </p:spPr>
        <p:txBody>
          <a:bodyPr rtlCol="0" anchor="ctr"/>
          <a:lstStyle/>
          <a:p>
            <a:pPr algn="ctr"/>
          </a:p>
        </p:txBody>
      </p:sp>
      <p:pic>
        <p:nvPicPr>
          <p:cNvPr id="15" name="아이콘:eye-off" descr="eye-off_13294B_1.6.png"/>
          <p:cNvPicPr>
            <a:picLocks noChangeAspect="1"/>
          </p:cNvPicPr>
          <p:nvPr/>
        </p:nvPicPr>
        <p:blipFill>
          <a:blip r:embed="rId4"/>
          <a:stretch>
            <a:fillRect/>
          </a:stretch>
        </p:blipFill>
        <p:spPr>
          <a:xfrm>
            <a:off x="6889546" y="2923108"/>
            <a:ext cx="424281" cy="424281"/>
          </a:xfrm>
          <a:prstGeom prst="rect">
            <a:avLst/>
          </a:prstGeom>
        </p:spPr>
      </p:pic>
      <p:sp>
        <p:nvSpPr>
          <p:cNvPr id="16" name="TextBox 15"/>
          <p:cNvSpPr txBox="1"/>
          <p:nvPr/>
        </p:nvSpPr>
        <p:spPr>
          <a:xfrm>
            <a:off x="7604607" y="2769489"/>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실행해 보지 않은 것</a:t>
            </a:r>
          </a:p>
        </p:txBody>
      </p:sp>
      <p:sp>
        <p:nvSpPr>
          <p:cNvPr id="17" name="TextBox 16"/>
          <p:cNvSpPr txBox="1"/>
          <p:nvPr/>
        </p:nvSpPr>
        <p:spPr>
          <a:xfrm>
            <a:off x="6735927" y="3619881"/>
            <a:ext cx="4632807" cy="124587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긴급하지 않은 경보의 결과 항목이 이전과 같은가</a:t>
            </a:r>
          </a:p>
          <a:p>
            <a:pPr algn="l" eaLnBrk="0" marL="171450" indent="-171450">
              <a:lnSpc>
                <a:spcPct val="110000"/>
              </a:lnSpc>
              <a:spcAft>
                <a:spcPts val="600"/>
              </a:spcAft>
            </a:pPr>
            <a:r>
              <a:rPr sz="1500" b="0">
                <a:solidFill>
                  <a:srgbClr val="1F2A3A"/>
                </a:solidFill>
                <a:latin typeface="맑은 고딕"/>
                <a:ea typeface="맑은 고딕"/>
                <a:cs typeface="맑은 고딕"/>
              </a:rPr>
              <a:t>• 추천안이 여전히 승인을 기다리는가</a:t>
            </a:r>
          </a:p>
          <a:p>
            <a:pPr algn="l" eaLnBrk="0" marL="171450" indent="-171450">
              <a:lnSpc>
                <a:spcPct val="110000"/>
              </a:lnSpc>
              <a:spcAft>
                <a:spcPts val="600"/>
              </a:spcAft>
            </a:pPr>
            <a:r>
              <a:rPr sz="1500" b="0">
                <a:solidFill>
                  <a:srgbClr val="1F2A3A"/>
                </a:solidFill>
                <a:latin typeface="맑은 고딕"/>
                <a:ea typeface="맑은 고딕"/>
                <a:cs typeface="맑은 고딕"/>
              </a:rPr>
              <a:t>• 하지 않기로 한 일을 여전히 하지 않는가</a:t>
            </a:r>
          </a:p>
        </p:txBody>
      </p:sp>
      <p:sp>
        <p:nvSpPr>
          <p:cNvPr id="18" name="Rounded Rectangle 17"/>
          <p:cNvSpPr/>
          <p:nvPr/>
        </p:nvSpPr>
        <p:spPr>
          <a:xfrm>
            <a:off x="6781647" y="4957191"/>
            <a:ext cx="102108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4957191"/>
            <a:ext cx="10210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기존 기능</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04</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SDD: 명세 주도 개발</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무엇을 만들고 무엇을 지킬지를 구현 전에 정해 두는 개발 방식</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SDD(Spec-Driven Development)와 명세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SDD</a:t>
            </a:r>
            <a:r>
              <a:rPr sz="1600" b="0">
                <a:solidFill>
                  <a:srgbClr val="556175"/>
                </a:solidFill>
                <a:latin typeface="맑은 고딕"/>
                <a:ea typeface="맑은 고딕"/>
                <a:cs typeface="맑은 고딕"/>
              </a:rPr>
              <a:t>는 무엇을 만들고 무엇을 지킬지를 구현하기 전에 명세로 정하고, 그 명세를 구현과 확인의 기준으로 삼는다.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33</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SDD</a:t>
            </a:r>
          </a:p>
          <a:p>
            <a:pPr algn="l" eaLnBrk="0">
              <a:lnSpc>
                <a:spcPct val="110000"/>
              </a:lnSpc>
              <a:spcAft>
                <a:spcPts val="200"/>
              </a:spcAft>
            </a:pPr>
            <a:r>
              <a:rPr sz="1150" b="0">
                <a:solidFill>
                  <a:srgbClr val="556175"/>
                </a:solidFill>
                <a:latin typeface="맑은 고딕"/>
                <a:ea typeface="맑은 고딕"/>
                <a:cs typeface="맑은 고딕"/>
              </a:rPr>
              <a:t>Spec-Driven Development</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300" b="0">
                <a:solidFill>
                  <a:srgbClr val="1F2A3A"/>
                </a:solidFill>
                <a:latin typeface="맑은 고딕"/>
                <a:ea typeface="맑은 고딕"/>
                <a:cs typeface="맑은 고딕"/>
              </a:rPr>
              <a:t>요구사항, 입력과 출력의 계약, 금지 조건, 수용 기준을 구현 전에 명세로 정하는 개발 방식이다.</a:t>
            </a:r>
          </a:p>
          <a:p>
            <a:pPr algn="l" eaLnBrk="0">
              <a:lnSpc>
                <a:spcPct val="110000"/>
              </a:lnSpc>
              <a:spcAft>
                <a:spcPts val="300"/>
              </a:spcAft>
            </a:pPr>
            <a:r>
              <a:rPr sz="1300" b="0">
                <a:solidFill>
                  <a:srgbClr val="1F2A3A"/>
                </a:solidFill>
                <a:latin typeface="맑은 고딕"/>
                <a:ea typeface="맑은 고딕"/>
                <a:cs typeface="맑은 고딕"/>
              </a:rPr>
              <a:t>구현과 확인은 그 명세를 기준으로 한다.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명세</a:t>
            </a:r>
          </a:p>
          <a:p>
            <a:pPr algn="l" eaLnBrk="0">
              <a:lnSpc>
                <a:spcPct val="110000"/>
              </a:lnSpc>
              <a:spcAft>
                <a:spcPts val="200"/>
              </a:spcAft>
            </a:pPr>
            <a:r>
              <a:rPr sz="1150" b="0">
                <a:solidFill>
                  <a:srgbClr val="556175"/>
                </a:solidFill>
                <a:latin typeface="맑은 고딕"/>
                <a:ea typeface="맑은 고딕"/>
                <a:cs typeface="맑은 고딕"/>
              </a:rPr>
              <a:t>Specification</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만들 것이 무엇을 받아 무엇을 내고 무엇을 하지 않는지를 적은 문서이다.</a:t>
            </a:r>
          </a:p>
          <a:p>
            <a:pPr algn="l" eaLnBrk="0">
              <a:lnSpc>
                <a:spcPct val="110000"/>
              </a:lnSpc>
              <a:spcAft>
                <a:spcPts val="300"/>
              </a:spcAft>
            </a:pPr>
            <a:r>
              <a:rPr sz="1400" b="0">
                <a:solidFill>
                  <a:srgbClr val="1F2A3A"/>
                </a:solidFill>
                <a:latin typeface="맑은 고딕"/>
                <a:ea typeface="맑은 고딕"/>
                <a:cs typeface="맑은 고딕"/>
              </a:rPr>
              <a:t>사람과 AI가 같은 문서를 기준으로 삼는다.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놓이는 곳</a:t>
            </a:r>
          </a:p>
          <a:p>
            <a:pPr algn="l" eaLnBrk="0">
              <a:lnSpc>
                <a:spcPct val="110000"/>
              </a:lnSpc>
              <a:spcAft>
                <a:spcPts val="200"/>
              </a:spcAft>
            </a:pPr>
            <a:r>
              <a:rPr sz="1150" b="0">
                <a:solidFill>
                  <a:srgbClr val="556175"/>
                </a:solidFill>
                <a:latin typeface="맑은 고딕"/>
                <a:ea typeface="맑은 고딕"/>
                <a:cs typeface="맑은 고딕"/>
              </a:rPr>
              <a:t>spec.md</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프로젝트 안에 spec.md 같은 파일로 두고, 기능을 바꿀 때마다 코드보다 먼저 고친다.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요청에서 코드까지의 순서: 바이브 코딩과 SDD</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바이브 코딩은 요청에서 곧바로 코드로 가고, SDD는 요청을 명세로 옮긴 다음에 코드로 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34</a:t>
            </a:r>
          </a:p>
        </p:txBody>
      </p:sp>
      <p:sp>
        <p:nvSpPr>
          <p:cNvPr id="6" name="Rounded Rectangle 5"/>
          <p:cNvSpPr/>
          <p:nvPr/>
        </p:nvSpPr>
        <p:spPr>
          <a:xfrm>
            <a:off x="548640" y="2162873"/>
            <a:ext cx="5181447" cy="3656965"/>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64041"/>
            <a:ext cx="731520" cy="731520"/>
          </a:xfrm>
          <a:prstGeom prst="ellipse">
            <a:avLst/>
          </a:prstGeom>
          <a:solidFill>
            <a:srgbClr val="FFFFFF"/>
          </a:solidFill>
          <a:ln>
            <a:noFill/>
          </a:ln>
        </p:spPr>
        <p:txBody>
          <a:bodyPr rtlCol="0" anchor="ctr"/>
          <a:lstStyle/>
          <a:p>
            <a:pPr algn="ctr"/>
          </a:p>
        </p:txBody>
      </p:sp>
      <p:pic>
        <p:nvPicPr>
          <p:cNvPr id="8" name="아이콘:bolt" descr="bolt_13294B_1.6.png"/>
          <p:cNvPicPr>
            <a:picLocks noChangeAspect="1"/>
          </p:cNvPicPr>
          <p:nvPr/>
        </p:nvPicPr>
        <p:blipFill>
          <a:blip r:embed="rId3"/>
          <a:stretch>
            <a:fillRect/>
          </a:stretch>
        </p:blipFill>
        <p:spPr>
          <a:xfrm>
            <a:off x="976579" y="2517660"/>
            <a:ext cx="424281" cy="424281"/>
          </a:xfrm>
          <a:prstGeom prst="rect">
            <a:avLst/>
          </a:prstGeom>
        </p:spPr>
      </p:pic>
      <p:sp>
        <p:nvSpPr>
          <p:cNvPr id="9" name="TextBox 8"/>
          <p:cNvSpPr txBox="1"/>
          <p:nvPr/>
        </p:nvSpPr>
        <p:spPr>
          <a:xfrm>
            <a:off x="1691640"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바이브 코딩</a:t>
            </a:r>
          </a:p>
        </p:txBody>
      </p:sp>
      <p:sp>
        <p:nvSpPr>
          <p:cNvPr id="10" name="TextBox 9"/>
          <p:cNvSpPr txBox="1"/>
          <p:nvPr/>
        </p:nvSpPr>
        <p:spPr>
          <a:xfrm>
            <a:off x="822959"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요청 한 문장을 그대로 AI에게 준다</a:t>
            </a:r>
          </a:p>
          <a:p>
            <a:pPr algn="l" eaLnBrk="0" marL="200025" indent="-200025">
              <a:lnSpc>
                <a:spcPct val="110000"/>
              </a:lnSpc>
              <a:spcAft>
                <a:spcPts val="600"/>
              </a:spcAft>
            </a:pPr>
            <a:r>
              <a:rPr sz="1750" b="0">
                <a:solidFill>
                  <a:srgbClr val="1F2A3A"/>
                </a:solidFill>
                <a:latin typeface="맑은 고딕"/>
                <a:ea typeface="맑은 고딕"/>
                <a:cs typeface="맑은 고딕"/>
              </a:rPr>
              <a:t>• 해석은 AI가 그때그때 정한다</a:t>
            </a:r>
          </a:p>
          <a:p>
            <a:pPr algn="l" eaLnBrk="0" marL="200025" indent="-200025">
              <a:lnSpc>
                <a:spcPct val="110000"/>
              </a:lnSpc>
              <a:spcAft>
                <a:spcPts val="600"/>
              </a:spcAft>
            </a:pPr>
            <a:r>
              <a:rPr sz="1750" b="0">
                <a:solidFill>
                  <a:srgbClr val="1F2A3A"/>
                </a:solidFill>
                <a:latin typeface="맑은 고딕"/>
                <a:ea typeface="맑은 고딕"/>
                <a:cs typeface="맑은 고딕"/>
              </a:rPr>
              <a:t>• 실행해 보고 마음에 들지 않으면 다시 요청한다</a:t>
            </a:r>
          </a:p>
          <a:p>
            <a:pPr algn="l" eaLnBrk="0" marL="200025" indent="-200025">
              <a:lnSpc>
                <a:spcPct val="110000"/>
              </a:lnSpc>
              <a:spcAft>
                <a:spcPts val="600"/>
              </a:spcAft>
            </a:pPr>
            <a:r>
              <a:rPr sz="1750" b="0">
                <a:solidFill>
                  <a:srgbClr val="1F2A3A"/>
                </a:solidFill>
                <a:latin typeface="맑은 고딕"/>
                <a:ea typeface="맑은 고딕"/>
                <a:cs typeface="맑은 고딕"/>
              </a:rPr>
              <a:t>• 무엇이 그대로여야 하는지는 남지 않는다</a:t>
            </a:r>
          </a:p>
        </p:txBody>
      </p:sp>
      <p:sp>
        <p:nvSpPr>
          <p:cNvPr id="11" name="Rounded Rectangle 10"/>
          <p:cNvSpPr/>
          <p:nvPr/>
        </p:nvSpPr>
        <p:spPr>
          <a:xfrm>
            <a:off x="868680" y="5362638"/>
            <a:ext cx="1219199"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62638"/>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요청 → 코드</a:t>
            </a:r>
          </a:p>
        </p:txBody>
      </p:sp>
      <p:sp>
        <p:nvSpPr>
          <p:cNvPr id="13" name="Rounded Rectangle 12"/>
          <p:cNvSpPr/>
          <p:nvPr/>
        </p:nvSpPr>
        <p:spPr>
          <a:xfrm>
            <a:off x="6461607" y="2162873"/>
            <a:ext cx="5181447" cy="3656965"/>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64041"/>
            <a:ext cx="731520" cy="731520"/>
          </a:xfrm>
          <a:prstGeom prst="ellipse">
            <a:avLst/>
          </a:prstGeom>
          <a:solidFill>
            <a:srgbClr val="5CB8F2"/>
          </a:solidFill>
          <a:ln>
            <a:noFill/>
          </a:ln>
        </p:spPr>
        <p:txBody>
          <a:bodyPr rtlCol="0" anchor="ctr"/>
          <a:lstStyle/>
          <a:p>
            <a:pPr algn="ctr"/>
          </a:p>
        </p:txBody>
      </p:sp>
      <p:pic>
        <p:nvPicPr>
          <p:cNvPr id="15" name="아이콘:file-text" descr="file-text_13294B_1.6.png"/>
          <p:cNvPicPr>
            <a:picLocks noChangeAspect="1"/>
          </p:cNvPicPr>
          <p:nvPr/>
        </p:nvPicPr>
        <p:blipFill>
          <a:blip r:embed="rId4"/>
          <a:stretch>
            <a:fillRect/>
          </a:stretch>
        </p:blipFill>
        <p:spPr>
          <a:xfrm>
            <a:off x="6889546" y="2517660"/>
            <a:ext cx="424281" cy="424281"/>
          </a:xfrm>
          <a:prstGeom prst="rect">
            <a:avLst/>
          </a:prstGeom>
        </p:spPr>
      </p:pic>
      <p:sp>
        <p:nvSpPr>
          <p:cNvPr id="16" name="TextBox 15"/>
          <p:cNvSpPr txBox="1"/>
          <p:nvPr/>
        </p:nvSpPr>
        <p:spPr>
          <a:xfrm>
            <a:off x="7604607" y="2364041"/>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SDD</a:t>
            </a:r>
          </a:p>
        </p:txBody>
      </p:sp>
      <p:sp>
        <p:nvSpPr>
          <p:cNvPr id="17" name="TextBox 16"/>
          <p:cNvSpPr txBox="1"/>
          <p:nvPr/>
        </p:nvSpPr>
        <p:spPr>
          <a:xfrm>
            <a:off x="6735927" y="3214433"/>
            <a:ext cx="4632807" cy="2056765"/>
          </a:xfrm>
          <a:prstGeom prst="rect">
            <a:avLst/>
          </a:prstGeom>
          <a:noFill/>
        </p:spPr>
        <p:txBody>
          <a:bodyPr wrap="square" anchor="t"/>
          <a:lstStyle/>
          <a:p>
            <a:pPr algn="l" eaLnBrk="0" marL="200025" indent="-200025">
              <a:lnSpc>
                <a:spcPct val="110000"/>
              </a:lnSpc>
              <a:spcAft>
                <a:spcPts val="600"/>
              </a:spcAft>
            </a:pPr>
            <a:r>
              <a:rPr sz="1750" b="0">
                <a:solidFill>
                  <a:srgbClr val="1F2A3A"/>
                </a:solidFill>
                <a:latin typeface="맑은 고딕"/>
                <a:ea typeface="맑은 고딕"/>
                <a:cs typeface="맑은 고딕"/>
              </a:rPr>
              <a:t>• 요청을 받으면 명세부터 고친다</a:t>
            </a:r>
          </a:p>
          <a:p>
            <a:pPr algn="l" eaLnBrk="0" marL="200025" indent="-200025">
              <a:lnSpc>
                <a:spcPct val="110000"/>
              </a:lnSpc>
              <a:spcAft>
                <a:spcPts val="600"/>
              </a:spcAft>
            </a:pPr>
            <a:r>
              <a:rPr sz="1750" b="0">
                <a:solidFill>
                  <a:srgbClr val="1F2A3A"/>
                </a:solidFill>
                <a:latin typeface="맑은 고딕"/>
                <a:ea typeface="맑은 고딕"/>
                <a:cs typeface="맑은 고딕"/>
              </a:rPr>
              <a:t>• 해석은 사람이 명세에서 정한다</a:t>
            </a:r>
          </a:p>
          <a:p>
            <a:pPr algn="l" eaLnBrk="0" marL="200025" indent="-200025">
              <a:lnSpc>
                <a:spcPct val="110000"/>
              </a:lnSpc>
              <a:spcAft>
                <a:spcPts val="600"/>
              </a:spcAft>
            </a:pPr>
            <a:r>
              <a:rPr sz="1750" b="0">
                <a:solidFill>
                  <a:srgbClr val="1F2A3A"/>
                </a:solidFill>
                <a:latin typeface="맑은 고딕"/>
                <a:ea typeface="맑은 고딕"/>
                <a:cs typeface="맑은 고딕"/>
              </a:rPr>
              <a:t>• AI는 명세를 기준으로 구현한다</a:t>
            </a:r>
          </a:p>
          <a:p>
            <a:pPr algn="l" eaLnBrk="0" marL="200025" indent="-200025">
              <a:lnSpc>
                <a:spcPct val="110000"/>
              </a:lnSpc>
              <a:spcAft>
                <a:spcPts val="600"/>
              </a:spcAft>
            </a:pPr>
            <a:r>
              <a:rPr sz="1750" b="0">
                <a:solidFill>
                  <a:srgbClr val="1F2A3A"/>
                </a:solidFill>
                <a:latin typeface="맑은 고딕"/>
                <a:ea typeface="맑은 고딕"/>
                <a:cs typeface="맑은 고딕"/>
              </a:rPr>
              <a:t>• 달라지는 것과 지킬 것이 문서로 남는다</a:t>
            </a:r>
          </a:p>
        </p:txBody>
      </p:sp>
      <p:sp>
        <p:nvSpPr>
          <p:cNvPr id="18" name="Rounded Rectangle 17"/>
          <p:cNvSpPr/>
          <p:nvPr/>
        </p:nvSpPr>
        <p:spPr>
          <a:xfrm>
            <a:off x="6781647" y="5362638"/>
            <a:ext cx="176783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62638"/>
            <a:ext cx="176783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요청 → 명세 → 코드</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명세에 적는 다섯 가지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명세에는 요구사항과 함께 입력 계약, 출력 계약, 금지 조건, 수용 기준을 적어 해석이 갈릴 자리를 없앤다.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35</a:t>
            </a:r>
          </a:p>
        </p:txBody>
      </p:sp>
      <p:pic>
        <p:nvPicPr>
          <p:cNvPr id="6" name="삽화:명세문서.svg" descr="illust_1195927433592806027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6204942" y="224220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요구사항</a:t>
            </a:r>
          </a:p>
          <a:p>
            <a:pPr algn="ctr" eaLnBrk="0">
              <a:lnSpc>
                <a:spcPct val="110000"/>
              </a:lnSpc>
              <a:spcAft>
                <a:spcPts val="100"/>
              </a:spcAft>
            </a:pPr>
            <a:r>
              <a:rPr sz="1300" b="0">
                <a:solidFill>
                  <a:srgbClr val="556175"/>
                </a:solidFill>
                <a:latin typeface="맑은 고딕"/>
                <a:ea typeface="맑은 고딕"/>
                <a:cs typeface="맑은 고딕"/>
              </a:rPr>
              <a:t>무엇을 하는가, 이번에 무엇이 달라지는가</a:t>
            </a:r>
          </a:p>
        </p:txBody>
      </p:sp>
      <p:sp>
        <p:nvSpPr>
          <p:cNvPr id="8" name="TextBox 7"/>
          <p:cNvSpPr txBox="1"/>
          <p:nvPr/>
        </p:nvSpPr>
        <p:spPr>
          <a:xfrm>
            <a:off x="6204942" y="2974954"/>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입력 계약</a:t>
            </a:r>
          </a:p>
          <a:p>
            <a:pPr algn="ctr" eaLnBrk="0">
              <a:lnSpc>
                <a:spcPct val="110000"/>
              </a:lnSpc>
              <a:spcAft>
                <a:spcPts val="100"/>
              </a:spcAft>
            </a:pPr>
            <a:r>
              <a:rPr sz="1300" b="0">
                <a:solidFill>
                  <a:srgbClr val="556175"/>
                </a:solidFill>
                <a:latin typeface="맑은 고딕"/>
                <a:ea typeface="맑은 고딕"/>
                <a:cs typeface="맑은 고딕"/>
              </a:rPr>
              <a:t>어떤 입력을 어떤 형식으로 받는가</a:t>
            </a:r>
          </a:p>
        </p:txBody>
      </p:sp>
      <p:sp>
        <p:nvSpPr>
          <p:cNvPr id="9" name="TextBox 8"/>
          <p:cNvSpPr txBox="1"/>
          <p:nvPr/>
        </p:nvSpPr>
        <p:spPr>
          <a:xfrm>
            <a:off x="6204942" y="3778620"/>
            <a:ext cx="523655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출력 계약</a:t>
            </a:r>
          </a:p>
          <a:p>
            <a:pPr algn="ctr" eaLnBrk="0">
              <a:lnSpc>
                <a:spcPct val="110000"/>
              </a:lnSpc>
              <a:spcAft>
                <a:spcPts val="100"/>
              </a:spcAft>
            </a:pPr>
            <a:r>
              <a:rPr sz="1300" b="0">
                <a:solidFill>
                  <a:srgbClr val="556175"/>
                </a:solidFill>
                <a:latin typeface="맑은 고딕"/>
                <a:ea typeface="맑은 고딕"/>
                <a:cs typeface="맑은 고딕"/>
              </a:rPr>
              <a:t>어떤 항목을 어떤 형식으로 내는가</a:t>
            </a:r>
          </a:p>
        </p:txBody>
      </p:sp>
      <p:sp>
        <p:nvSpPr>
          <p:cNvPr id="10" name="TextBox 9"/>
          <p:cNvSpPr txBox="1"/>
          <p:nvPr/>
        </p:nvSpPr>
        <p:spPr>
          <a:xfrm>
            <a:off x="6204942" y="4605924"/>
            <a:ext cx="523655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금지 조건</a:t>
            </a:r>
          </a:p>
          <a:p>
            <a:pPr algn="ctr" eaLnBrk="0">
              <a:lnSpc>
                <a:spcPct val="110000"/>
              </a:lnSpc>
              <a:spcAft>
                <a:spcPts val="100"/>
              </a:spcAft>
            </a:pPr>
            <a:r>
              <a:rPr sz="1300" b="0">
                <a:solidFill>
                  <a:srgbClr val="556175"/>
                </a:solidFill>
                <a:latin typeface="맑은 고딕"/>
                <a:ea typeface="맑은 고딕"/>
                <a:cs typeface="맑은 고딕"/>
              </a:rPr>
              <a:t>어떤 요구가 더해져도 하지 않을 일</a:t>
            </a:r>
          </a:p>
        </p:txBody>
      </p:sp>
      <p:sp>
        <p:nvSpPr>
          <p:cNvPr id="11" name="TextBox 10"/>
          <p:cNvSpPr txBox="1"/>
          <p:nvPr/>
        </p:nvSpPr>
        <p:spPr>
          <a:xfrm>
            <a:off x="6204942" y="5456864"/>
            <a:ext cx="5236557"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수용 기준</a:t>
            </a:r>
          </a:p>
          <a:p>
            <a:pPr algn="ctr" eaLnBrk="0">
              <a:lnSpc>
                <a:spcPct val="110000"/>
              </a:lnSpc>
              <a:spcAft>
                <a:spcPts val="100"/>
              </a:spcAft>
            </a:pPr>
            <a:r>
              <a:rPr sz="1300" b="0">
                <a:solidFill>
                  <a:srgbClr val="556175"/>
                </a:solidFill>
                <a:latin typeface="맑은 고딕"/>
                <a:ea typeface="맑은 고딕"/>
                <a:cs typeface="맑은 고딕"/>
              </a:rPr>
              <a:t>무엇이 확인되면 다 된 것으로 보는가</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05</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계약 · 금지 조건 · 수용 기준</a:t>
            </a:r>
          </a:p>
        </p:txBody>
      </p:sp>
      <p:sp>
        <p:nvSpPr>
          <p:cNvPr id="6" name="Rounded Rectangle 5"/>
          <p:cNvSpPr/>
          <p:nvPr/>
        </p:nvSpPr>
        <p:spPr>
          <a:xfrm>
            <a:off x="3108960" y="4160520"/>
            <a:ext cx="822960"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쿨러 사건의 에이전트에 실제로 있는 계약과 금지 조건, 승인 단계가 지키는 수용 기준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계약: 주는 쪽과 받는 쪽이 지키는 항목과 형식</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계약은 주는 쪽과 받는 쪽이 지키기로 한 항목과 형식이며, 에이전트에는 받는 입력과 내는 출력의 두 계약이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37</a:t>
            </a:r>
          </a:p>
        </p:txBody>
      </p:sp>
      <p:pic>
        <p:nvPicPr>
          <p:cNvPr id="6" name="삽화:계약.svg" descr="illust_2143187942059234196_1792123197.png"/>
          <p:cNvPicPr>
            <a:picLocks noChangeAspect="1"/>
          </p:cNvPicPr>
          <p:nvPr/>
        </p:nvPicPr>
        <p:blipFill>
          <a:blip r:embed="rId3"/>
          <a:stretch>
            <a:fillRect/>
          </a:stretch>
        </p:blipFill>
        <p:spPr>
          <a:xfrm>
            <a:off x="641100" y="1627632"/>
            <a:ext cx="10909495" cy="4727448"/>
          </a:xfrm>
          <a:prstGeom prst="rect">
            <a:avLst/>
          </a:prstGeom>
        </p:spPr>
      </p:pic>
      <p:sp>
        <p:nvSpPr>
          <p:cNvPr id="7" name="TextBox 6"/>
          <p:cNvSpPr txBox="1"/>
          <p:nvPr/>
        </p:nvSpPr>
        <p:spPr>
          <a:xfrm>
            <a:off x="772014" y="4558649"/>
            <a:ext cx="1745519"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처리 건</a:t>
            </a:r>
          </a:p>
          <a:p>
            <a:pPr algn="ctr" eaLnBrk="0">
              <a:lnSpc>
                <a:spcPct val="110000"/>
              </a:lnSpc>
              <a:spcAft>
                <a:spcPts val="100"/>
              </a:spcAft>
            </a:pPr>
            <a:r>
              <a:rPr sz="1300" b="0">
                <a:solidFill>
                  <a:srgbClr val="556175"/>
                </a:solidFill>
                <a:latin typeface="맑은 고딕"/>
                <a:ea typeface="맑은 고딕"/>
                <a:cs typeface="맑은 고딕"/>
              </a:rPr>
              <a:t>입력을 주는 쪽</a:t>
            </a:r>
          </a:p>
        </p:txBody>
      </p:sp>
      <p:sp>
        <p:nvSpPr>
          <p:cNvPr id="8" name="TextBox 7"/>
          <p:cNvSpPr txBox="1"/>
          <p:nvPr/>
        </p:nvSpPr>
        <p:spPr>
          <a:xfrm>
            <a:off x="2670266"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입력 계약</a:t>
            </a:r>
          </a:p>
          <a:p>
            <a:pPr algn="ctr" eaLnBrk="0">
              <a:lnSpc>
                <a:spcPct val="110000"/>
              </a:lnSpc>
              <a:spcAft>
                <a:spcPts val="100"/>
              </a:spcAft>
            </a:pPr>
            <a:r>
              <a:rPr sz="1300" b="0">
                <a:solidFill>
                  <a:srgbClr val="556175"/>
                </a:solidFill>
                <a:latin typeface="맑은 고딕"/>
                <a:ea typeface="맑은 고딕"/>
                <a:cs typeface="맑은 고딕"/>
              </a:rPr>
              <a:t>받는 입력의 항목과 형식</a:t>
            </a:r>
          </a:p>
        </p:txBody>
      </p:sp>
      <p:sp>
        <p:nvSpPr>
          <p:cNvPr id="9" name="TextBox 8"/>
          <p:cNvSpPr txBox="1"/>
          <p:nvPr/>
        </p:nvSpPr>
        <p:spPr>
          <a:xfrm>
            <a:off x="5441277" y="4558649"/>
            <a:ext cx="1309139"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에이전트</a:t>
            </a:r>
          </a:p>
        </p:txBody>
      </p:sp>
      <p:sp>
        <p:nvSpPr>
          <p:cNvPr id="10" name="TextBox 9"/>
          <p:cNvSpPr txBox="1"/>
          <p:nvPr/>
        </p:nvSpPr>
        <p:spPr>
          <a:xfrm>
            <a:off x="7121340" y="4558649"/>
            <a:ext cx="2400088" cy="577342"/>
          </a:xfrm>
          <a:prstGeom prst="rect">
            <a:avLst/>
          </a:prstGeom>
          <a:noFill/>
        </p:spPr>
        <p:txBody>
          <a:bodyPr wrap="square" anchor="t"/>
          <a:lstStyle/>
          <a:p>
            <a:pPr algn="ctr" eaLnBrk="0">
              <a:lnSpc>
                <a:spcPct val="110000"/>
              </a:lnSpc>
              <a:spcAft>
                <a:spcPts val="100"/>
              </a:spcAft>
            </a:pPr>
            <a:r>
              <a:rPr sz="1600" b="1">
                <a:solidFill>
                  <a:srgbClr val="1A6FC4"/>
                </a:solidFill>
                <a:latin typeface="맑은 고딕"/>
                <a:ea typeface="맑은 고딕"/>
                <a:cs typeface="맑은 고딕"/>
              </a:rPr>
              <a:t>출력 계약</a:t>
            </a:r>
          </a:p>
          <a:p>
            <a:pPr algn="ctr" eaLnBrk="0">
              <a:lnSpc>
                <a:spcPct val="110000"/>
              </a:lnSpc>
              <a:spcAft>
                <a:spcPts val="100"/>
              </a:spcAft>
            </a:pPr>
            <a:r>
              <a:rPr sz="1300" b="0">
                <a:solidFill>
                  <a:srgbClr val="556175"/>
                </a:solidFill>
                <a:latin typeface="맑은 고딕"/>
                <a:ea typeface="맑은 고딕"/>
                <a:cs typeface="맑은 고딕"/>
              </a:rPr>
              <a:t>내는 결과의 항목과 형식</a:t>
            </a:r>
          </a:p>
        </p:txBody>
      </p:sp>
      <p:sp>
        <p:nvSpPr>
          <p:cNvPr id="11" name="TextBox 10"/>
          <p:cNvSpPr txBox="1"/>
          <p:nvPr/>
        </p:nvSpPr>
        <p:spPr>
          <a:xfrm>
            <a:off x="9423243" y="4558649"/>
            <a:ext cx="2072804"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승인 화면과 뒤 단계</a:t>
            </a:r>
          </a:p>
          <a:p>
            <a:pPr algn="ctr" eaLnBrk="0">
              <a:lnSpc>
                <a:spcPct val="110000"/>
              </a:lnSpc>
              <a:spcAft>
                <a:spcPts val="100"/>
              </a:spcAft>
            </a:pPr>
            <a:r>
              <a:rPr sz="1300" b="0">
                <a:solidFill>
                  <a:srgbClr val="556175"/>
                </a:solidFill>
                <a:latin typeface="맑은 고딕"/>
                <a:ea typeface="맑은 고딕"/>
                <a:cs typeface="맑은 고딕"/>
              </a:rPr>
              <a:t>결과를 읽는 쪽</a:t>
            </a:r>
          </a:p>
        </p:txBody>
      </p:sp>
      <p:sp>
        <p:nvSpPr>
          <p:cNvPr id="12" name="TextBox 11"/>
          <p:cNvSpPr txBox="1"/>
          <p:nvPr/>
        </p:nvSpPr>
        <p:spPr>
          <a:xfrm>
            <a:off x="2670266" y="243129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설비, 경보, 사건 번호</a:t>
            </a:r>
          </a:p>
        </p:txBody>
      </p:sp>
      <p:sp>
        <p:nvSpPr>
          <p:cNvPr id="13" name="TextBox 12"/>
          <p:cNvSpPr txBox="1"/>
          <p:nvPr/>
        </p:nvSpPr>
        <p:spPr>
          <a:xfrm>
            <a:off x="7121340" y="2431298"/>
            <a:ext cx="2400088" cy="375920"/>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원인, 추천, 판단 번호</a:t>
            </a:r>
          </a:p>
        </p:txBody>
      </p:sp>
      <p:sp>
        <p:nvSpPr>
          <p:cNvPr id="14" name="TextBox 13"/>
          <p:cNvSpPr txBox="1"/>
          <p:nvPr/>
        </p:nvSpPr>
        <p:spPr>
          <a:xfrm>
            <a:off x="3695758" y="5598688"/>
            <a:ext cx="4800177" cy="577342"/>
          </a:xfrm>
          <a:prstGeom prst="rect">
            <a:avLst/>
          </a:prstGeom>
          <a:noFill/>
        </p:spPr>
        <p:txBody>
          <a:bodyPr wrap="square" anchor="t"/>
          <a:lstStyle/>
          <a:p>
            <a:pPr algn="ctr" eaLnBrk="0">
              <a:lnSpc>
                <a:spcPct val="110000"/>
              </a:lnSpc>
              <a:spcAft>
                <a:spcPts val="100"/>
              </a:spcAft>
            </a:pPr>
            <a:r>
              <a:rPr sz="1600" b="1">
                <a:solidFill>
                  <a:srgbClr val="13294B"/>
                </a:solidFill>
                <a:latin typeface="맑은 고딕"/>
                <a:ea typeface="맑은 고딕"/>
                <a:cs typeface="맑은 고딕"/>
              </a:rPr>
              <a:t>계약 Contract</a:t>
            </a:r>
          </a:p>
          <a:p>
            <a:pPr algn="ctr" eaLnBrk="0">
              <a:lnSpc>
                <a:spcPct val="110000"/>
              </a:lnSpc>
              <a:spcAft>
                <a:spcPts val="100"/>
              </a:spcAft>
            </a:pPr>
            <a:r>
              <a:rPr sz="1300" b="0">
                <a:solidFill>
                  <a:srgbClr val="556175"/>
                </a:solidFill>
                <a:latin typeface="맑은 고딕"/>
                <a:ea typeface="맑은 고딕"/>
                <a:cs typeface="맑은 고딕"/>
              </a:rPr>
              <a:t>한쪽만 바꾸면 다른 쪽이 읽지 못한다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입력 계약의 실제: 쿨러 성능 저하 경보의 입력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쿨러 성능 저하 경보에서 에이전트가 받는 입력은 설비, 경보, 사건 번호의 세 항목으로 정해져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38</a:t>
            </a:r>
          </a:p>
        </p:txBody>
      </p:sp>
      <p:sp>
        <p:nvSpPr>
          <p:cNvPr id="6" name="Rounded Rectangle 5"/>
          <p:cNvSpPr/>
          <p:nvPr/>
        </p:nvSpPr>
        <p:spPr>
          <a:xfrm>
            <a:off x="548640" y="2099310"/>
            <a:ext cx="6766560" cy="3784091"/>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236470"/>
            <a:ext cx="6400800" cy="3509771"/>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"asset": "HYD-01",</a:t>
            </a:r>
          </a:p>
          <a:p>
            <a:pPr algn="l" eaLnBrk="0">
              <a:lnSpc>
                <a:spcPct val="110000"/>
              </a:lnSpc>
              <a:spcAft>
                <a:spcPts val="200"/>
              </a:spcAft>
            </a:pPr>
            <a:r>
              <a:rPr sz="1300" b="0">
                <a:solidFill>
                  <a:srgbClr val="E8EEF6"/>
                </a:solidFill>
                <a:latin typeface="Consolas"/>
                <a:ea typeface="맑은 고딕"/>
                <a:cs typeface="맑은 고딕"/>
              </a:rPr>
              <a:t>  "alert": {</a:t>
            </a:r>
          </a:p>
          <a:p>
            <a:pPr algn="l" eaLnBrk="0">
              <a:lnSpc>
                <a:spcPct val="110000"/>
              </a:lnSpc>
              <a:spcAft>
                <a:spcPts val="200"/>
              </a:spcAft>
            </a:pPr>
            <a:r>
              <a:rPr sz="1300" b="0">
                <a:solidFill>
                  <a:srgbClr val="E8EEF6"/>
                </a:solidFill>
                <a:latin typeface="Consolas"/>
                <a:ea typeface="맑은 고딕"/>
                <a:cs typeface="맑은 고딕"/>
              </a:rPr>
              <a:t>    "alertId": "ALT-hyd01-0025-b8ed",</a:t>
            </a:r>
          </a:p>
          <a:p>
            <a:pPr algn="l" eaLnBrk="0">
              <a:lnSpc>
                <a:spcPct val="110000"/>
              </a:lnSpc>
              <a:spcAft>
                <a:spcPts val="200"/>
              </a:spcAft>
            </a:pPr>
            <a:r>
              <a:rPr sz="1300" b="0">
                <a:solidFill>
                  <a:srgbClr val="E8EEF6"/>
                </a:solidFill>
                <a:latin typeface="Consolas"/>
                <a:ea typeface="맑은 고딕"/>
                <a:cs typeface="맑은 고딕"/>
              </a:rPr>
              <a:t>    "pattern": "COOLER_DEGRADATION",</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p>
          <a:p>
            <a:pPr algn="l" eaLnBrk="0">
              <a:lnSpc>
                <a:spcPct val="110000"/>
              </a:lnSpc>
              <a:spcAft>
                <a:spcPts val="200"/>
              </a:spcAft>
            </a:pPr>
            <a:r>
              <a:rPr sz="1300" b="0">
                <a:solidFill>
                  <a:srgbClr val="E8EEF6"/>
                </a:solidFill>
                <a:latin typeface="Consolas"/>
                <a:ea typeface="맑은 고딕"/>
                <a:cs typeface="맑은 고딕"/>
              </a:rPr>
              <a:t>  "incident": "INC-1010-07-0f3d"</a:t>
            </a:r>
          </a:p>
          <a:p>
            <a:pPr algn="l" eaLnBrk="0">
              <a:lnSpc>
                <a:spcPct val="110000"/>
              </a:lnSpc>
              <a:spcAft>
                <a:spcPts val="200"/>
              </a:spcAft>
            </a:pPr>
            <a:r>
              <a:rPr sz="1300" b="0">
                <a:solidFill>
                  <a:srgbClr val="E8EEF6"/>
                </a:solidFill>
                <a:latin typeface="Consolas"/>
                <a:ea typeface="맑은 고딕"/>
                <a:cs typeface="맑은 고딕"/>
              </a:rPr>
              <a:t>}</a:t>
            </a:r>
          </a:p>
        </p:txBody>
      </p:sp>
      <p:sp>
        <p:nvSpPr>
          <p:cNvPr id="8" name="TextBox 7"/>
          <p:cNvSpPr txBox="1"/>
          <p:nvPr/>
        </p:nvSpPr>
        <p:spPr>
          <a:xfrm>
            <a:off x="7635240" y="2099310"/>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asset</a:t>
            </a:r>
          </a:p>
          <a:p>
            <a:pPr algn="l" eaLnBrk="0">
              <a:lnSpc>
                <a:spcPct val="110000"/>
              </a:lnSpc>
              <a:spcAft>
                <a:spcPts val="400"/>
              </a:spcAft>
            </a:pPr>
            <a:r>
              <a:rPr sz="1400" b="0">
                <a:solidFill>
                  <a:srgbClr val="1F2A3A"/>
                </a:solidFill>
                <a:latin typeface="맑은 고딕"/>
                <a:ea typeface="맑은 고딕"/>
                <a:cs typeface="맑은 고딕"/>
              </a:rPr>
              <a:t>대상 설비의 식별자이다.</a:t>
            </a:r>
          </a:p>
        </p:txBody>
      </p:sp>
      <p:sp>
        <p:nvSpPr>
          <p:cNvPr id="9" name="TextBox 8"/>
          <p:cNvSpPr txBox="1"/>
          <p:nvPr/>
        </p:nvSpPr>
        <p:spPr>
          <a:xfrm>
            <a:off x="7635240" y="3045332"/>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alert</a:t>
            </a:r>
          </a:p>
          <a:p>
            <a:pPr algn="l" eaLnBrk="0">
              <a:lnSpc>
                <a:spcPct val="110000"/>
              </a:lnSpc>
              <a:spcAft>
                <a:spcPts val="400"/>
              </a:spcAft>
            </a:pPr>
            <a:r>
              <a:rPr sz="1400" b="0">
                <a:solidFill>
                  <a:srgbClr val="1F2A3A"/>
                </a:solidFill>
                <a:latin typeface="맑은 고딕"/>
                <a:ea typeface="맑은 고딕"/>
                <a:cs typeface="맑은 고딕"/>
              </a:rPr>
              <a:t>경보 번호와 경보의 유형을 담는다.</a:t>
            </a:r>
          </a:p>
        </p:txBody>
      </p:sp>
      <p:sp>
        <p:nvSpPr>
          <p:cNvPr id="10" name="TextBox 9"/>
          <p:cNvSpPr txBox="1"/>
          <p:nvPr/>
        </p:nvSpPr>
        <p:spPr>
          <a:xfrm>
            <a:off x="7635240" y="3991356"/>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incident</a:t>
            </a:r>
          </a:p>
          <a:p>
            <a:pPr algn="l" eaLnBrk="0">
              <a:lnSpc>
                <a:spcPct val="110000"/>
              </a:lnSpc>
              <a:spcAft>
                <a:spcPts val="400"/>
              </a:spcAft>
            </a:pPr>
            <a:r>
              <a:rPr sz="1400" b="0">
                <a:solidFill>
                  <a:srgbClr val="1F2A3A"/>
                </a:solidFill>
                <a:latin typeface="맑은 고딕"/>
                <a:ea typeface="맑은 고딕"/>
                <a:cs typeface="맑은 고딕"/>
              </a:rPr>
              <a:t>이 경보가 속한 사건의 번호이다.</a:t>
            </a:r>
          </a:p>
        </p:txBody>
      </p:sp>
      <p:sp>
        <p:nvSpPr>
          <p:cNvPr id="11" name="TextBox 10"/>
          <p:cNvSpPr txBox="1"/>
          <p:nvPr/>
        </p:nvSpPr>
        <p:spPr>
          <a:xfrm>
            <a:off x="7635240" y="4937379"/>
            <a:ext cx="4007815" cy="94602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정해진 세 항목</a:t>
            </a:r>
          </a:p>
          <a:p>
            <a:pPr algn="l" eaLnBrk="0">
              <a:lnSpc>
                <a:spcPct val="110000"/>
              </a:lnSpc>
              <a:spcAft>
                <a:spcPts val="400"/>
              </a:spcAft>
            </a:pPr>
            <a:r>
              <a:rPr sz="1400" b="0">
                <a:solidFill>
                  <a:srgbClr val="1F2A3A"/>
                </a:solidFill>
                <a:latin typeface="맑은 고딕"/>
                <a:ea typeface="맑은 고딕"/>
                <a:cs typeface="맑은 고딕"/>
              </a:rPr>
              <a:t>유온 같은 값은 입력에 없으며 에이전트가 도구로 읽는다.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출력 계약: 항목마다 정하는 이름, 형식, 뜻</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출력 계약에 적힌 이름, 형식, 뜻은 새 항목을 더하는 변경과 기존 항목을 바꾸는 변경을 가르는 기준이 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39</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이름</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형식과 예</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뜻</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cause</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식별자</a:t>
            </a:r>
          </a:p>
          <a:p>
            <a:pPr algn="l" eaLnBrk="0">
              <a:lnSpc>
                <a:spcPct val="110000"/>
              </a:lnSpc>
            </a:pPr>
            <a:r>
              <a:rPr sz="1400" b="0">
                <a:solidFill>
                  <a:srgbClr val="1F2A3A"/>
                </a:solidFill>
                <a:latin typeface="맑은 고딕"/>
                <a:ea typeface="맑은 고딕"/>
                <a:cs typeface="맑은 고딕"/>
              </a:rPr>
              <a:t>cause:cooler-fin-fouling</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진단한 원인</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failure_mode</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지식 그래프의 식별자</a:t>
            </a:r>
          </a:p>
          <a:p>
            <a:pPr algn="l" eaLnBrk="0">
              <a:lnSpc>
                <a:spcPct val="110000"/>
              </a:lnSpc>
            </a:pPr>
            <a:r>
              <a:rPr sz="1400" b="0">
                <a:solidFill>
                  <a:srgbClr val="1F2A3A"/>
                </a:solidFill>
                <a:latin typeface="맑은 고딕"/>
                <a:ea typeface="맑은 고딕"/>
                <a:cs typeface="맑은 고딕"/>
              </a:rPr>
              <a:t>fm:cooler-performance-loss</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고장 유형</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guide_card</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진단 결과의 가이드 카드</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사건 기록에 실려</a:t>
            </a:r>
          </a:p>
          <a:p>
            <a:pPr algn="l" eaLnBrk="0">
              <a:lnSpc>
                <a:spcPct val="110000"/>
              </a:lnSpc>
            </a:pPr>
            <a:r>
              <a:rPr sz="1250" b="1">
                <a:solidFill>
                  <a:srgbClr val="556175"/>
                </a:solidFill>
                <a:latin typeface="맑은 고딕"/>
                <a:ea typeface="맑은 고딕"/>
                <a:cs typeface="맑은 고딕"/>
              </a:rPr>
              <a:t>승인할 조치의 범위가 된다</a:t>
            </a:r>
          </a:p>
        </p:txBody>
      </p:sp>
      <p:sp>
        <p:nvSpPr>
          <p:cNvPr id="22" name="Rounded Rectangle 21"/>
          <p:cNvSpPr/>
          <p:nvPr/>
        </p:nvSpPr>
        <p:spPr>
          <a:xfrm>
            <a:off x="548640" y="4657039"/>
            <a:ext cx="11094415" cy="801014"/>
          </a:xfrm>
          <a:prstGeom prst="roundRect">
            <a:avLst>
              <a:gd name="adj" fmla="val 8000"/>
            </a:avLst>
          </a:prstGeom>
          <a:solidFill>
            <a:srgbClr val="E7F3FD"/>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recommended · explanation · order</a:t>
            </a:r>
          </a:p>
          <a:p>
            <a:pPr algn="l" eaLnBrk="0">
              <a:lnSpc>
                <a:spcPct val="110000"/>
              </a:lnSpc>
            </a:pPr>
            <a:r>
              <a:rPr sz="1400" b="0">
                <a:solidFill>
                  <a:srgbClr val="1F2A3A"/>
                </a:solidFill>
                <a:latin typeface="맑은 고딕"/>
                <a:ea typeface="맑은 고딕"/>
                <a:cs typeface="맑은 고딕"/>
              </a:rPr>
              <a:t>추천: skill:sop-cool-11</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1순위 조치, 설명,</a:t>
            </a:r>
          </a:p>
          <a:p>
            <a:pPr algn="l" eaLnBrk="0">
              <a:lnSpc>
                <a:spcPct val="110000"/>
              </a:lnSpc>
            </a:pPr>
            <a:r>
              <a:rPr sz="1250" b="1">
                <a:solidFill>
                  <a:srgbClr val="1A6FC4"/>
                </a:solidFill>
                <a:latin typeface="맑은 고딕"/>
                <a:ea typeface="맑은 고딕"/>
                <a:cs typeface="맑은 고딕"/>
              </a:rPr>
              <a:t>후보의 순서</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decision_id</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제출하고 받은 번호</a:t>
            </a:r>
          </a:p>
          <a:p>
            <a:pPr algn="l" eaLnBrk="0">
              <a:lnSpc>
                <a:spcPct val="110000"/>
              </a:lnSpc>
            </a:pPr>
            <a:r>
              <a:rPr sz="1400" b="0">
                <a:solidFill>
                  <a:srgbClr val="1F2A3A"/>
                </a:solidFill>
                <a:latin typeface="맑은 고딕"/>
                <a:ea typeface="맑은 고딕"/>
                <a:cs typeface="맑은 고딕"/>
              </a:rPr>
              <a:t>DEC-1010-056-0972</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이 판단을 가리키는 번호</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금지 조건의 실제: 작업 규칙의 「절대 금지」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「절대 금지」 절은 에이전트가 하지 않을 일을 업무의 절차와 따로 적어 둔 금지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40</a:t>
            </a:r>
          </a:p>
        </p:txBody>
      </p:sp>
      <p:sp>
        <p:nvSpPr>
          <p:cNvPr id="6" name="Rounded Rectangle 5"/>
          <p:cNvSpPr/>
          <p:nvPr/>
        </p:nvSpPr>
        <p:spPr>
          <a:xfrm>
            <a:off x="548640" y="2328291"/>
            <a:ext cx="6766560" cy="3326129"/>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465451"/>
            <a:ext cx="6400800" cy="3051810"/>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절대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명령</a:t>
            </a:r>
            <a:r>
              <a:rPr sz="1300" b="0">
                <a:solidFill>
                  <a:srgbClr val="E8EEF6"/>
                </a:solidFill>
                <a:latin typeface="Consolas"/>
                <a:ea typeface="맑은 고딕"/>
                <a:cs typeface="맑은 고딕"/>
              </a:rPr>
              <a:t>(PLC </a:t>
            </a:r>
            <a:r>
              <a:rPr sz="1300" b="0">
                <a:solidFill>
                  <a:srgbClr val="E8EEF6"/>
                </a:solidFill>
                <a:latin typeface="맑은 고딕"/>
                <a:ea typeface="맑은 고딕"/>
                <a:cs typeface="맑은 고딕"/>
              </a:rPr>
              <a:t>쓰기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시스템</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사람이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승인하기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어떤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않습니다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온톨로지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스키마·규칙·스킬의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수정</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Neo4j</a:t>
            </a:r>
            <a:r>
              <a:rPr sz="1300" b="0">
                <a:solidFill>
                  <a:srgbClr val="E8EEF6"/>
                </a:solidFill>
                <a:latin typeface="맑은 고딕"/>
                <a:ea typeface="맑은 고딕"/>
                <a:cs typeface="맑은 고딕"/>
              </a:rPr>
              <a:t>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도구만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사용합니다</a:t>
            </a:r>
            <a:r>
              <a:rPr sz="1300" b="0">
                <a:solidFill>
                  <a:srgbClr val="E8EEF6"/>
                </a:solidFill>
                <a:latin typeface="Consolas"/>
                <a:ea typeface="맑은 고딕"/>
                <a:cs typeface="맑은 고딕"/>
              </a:rPr>
              <a:t>.</a:t>
            </a:r>
          </a:p>
          <a:p>
            <a:pPr algn="l" eaLnBrk="0">
              <a:lnSpc>
                <a:spcPct val="110000"/>
              </a:lnSpc>
              <a:spcAft>
                <a:spcPts val="200"/>
              </a:spcAft>
            </a:pPr>
            <a:r>
              <a:rPr sz="1300" b="0">
                <a:solidFill>
                  <a:srgbClr val="E8EEF6"/>
                </a:solidFill>
                <a:latin typeface="Consolas"/>
                <a:ea typeface="맑은 고딕"/>
                <a:cs typeface="맑은 고딕"/>
              </a:rPr>
              <a:t>- hyd-dmn.submit_decision</a:t>
            </a:r>
            <a:r>
              <a:rPr sz="1300" b="0">
                <a:solidFill>
                  <a:srgbClr val="E8EEF6"/>
                </a:solidFill>
                <a:latin typeface="맑은 고딕"/>
                <a:ea typeface="맑은 고딕"/>
                <a:cs typeface="맑은 고딕"/>
              </a:rPr>
              <a:t>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선택할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카드의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제출만</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허용합니다</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설비</a:t>
            </a:r>
            <a:r>
              <a:rPr sz="1300" b="0">
                <a:solidFill>
                  <a:srgbClr val="E8EEF6"/>
                </a:solidFill>
                <a:latin typeface="Consolas"/>
                <a:ea typeface="맑은 고딕"/>
                <a:cs typeface="맑은 고딕"/>
              </a:rPr>
              <a:t>/</a:t>
            </a:r>
            <a:r>
              <a:rPr sz="1300" b="0">
                <a:solidFill>
                  <a:srgbClr val="E8EEF6"/>
                </a:solidFill>
                <a:latin typeface="맑은 고딕"/>
                <a:ea typeface="맑은 고딕"/>
                <a:cs typeface="맑은 고딕"/>
              </a:rPr>
              <a:t>업무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조치의</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승인이나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아닙니다</a:t>
            </a:r>
            <a:r>
              <a:rPr sz="1300" b="0">
                <a:solidFill>
                  <a:srgbClr val="E8EEF6"/>
                </a:solidFill>
                <a:latin typeface="Consolas"/>
                <a:ea typeface="맑은 고딕"/>
                <a:cs typeface="맑은 고딕"/>
              </a:rPr>
              <a:t>.</a:t>
            </a:r>
          </a:p>
        </p:txBody>
      </p:sp>
      <p:sp>
        <p:nvSpPr>
          <p:cNvPr id="8" name="TextBox 7"/>
          <p:cNvSpPr txBox="1"/>
          <p:nvPr/>
        </p:nvSpPr>
        <p:spPr>
          <a:xfrm>
            <a:off x="7635240" y="232829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첫째 줄</a:t>
            </a:r>
          </a:p>
          <a:p>
            <a:pPr algn="l" eaLnBrk="0">
              <a:lnSpc>
                <a:spcPct val="110000"/>
              </a:lnSpc>
              <a:spcAft>
                <a:spcPts val="400"/>
              </a:spcAft>
            </a:pPr>
            <a:r>
              <a:rPr sz="1400" b="0">
                <a:solidFill>
                  <a:srgbClr val="1F2A3A"/>
                </a:solidFill>
                <a:latin typeface="맑은 고딕"/>
                <a:ea typeface="맑은 고딕"/>
                <a:cs typeface="맑은 고딕"/>
              </a:rPr>
              <a:t>설비 명령, 업무 조치의 실행, 승인의 대행을 금지한다.</a:t>
            </a:r>
          </a:p>
        </p:txBody>
      </p:sp>
      <p:sp>
        <p:nvSpPr>
          <p:cNvPr id="9" name="TextBox 8"/>
          <p:cNvSpPr txBox="1"/>
          <p:nvPr/>
        </p:nvSpPr>
        <p:spPr>
          <a:xfrm>
            <a:off x="7635240" y="343700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둘째 줄</a:t>
            </a:r>
          </a:p>
          <a:p>
            <a:pPr algn="l" eaLnBrk="0">
              <a:lnSpc>
                <a:spcPct val="110000"/>
              </a:lnSpc>
              <a:spcAft>
                <a:spcPts val="400"/>
              </a:spcAft>
            </a:pPr>
            <a:r>
              <a:rPr sz="1400" b="0">
                <a:solidFill>
                  <a:srgbClr val="1F2A3A"/>
                </a:solidFill>
                <a:latin typeface="맑은 고딕"/>
                <a:ea typeface="맑은 고딕"/>
                <a:cs typeface="맑은 고딕"/>
              </a:rPr>
              <a:t>지식 그래프의 스키마와 규칙, 스킬을 고치지 못하게 한다.</a:t>
            </a:r>
          </a:p>
        </p:txBody>
      </p:sp>
      <p:sp>
        <p:nvSpPr>
          <p:cNvPr id="10" name="TextBox 9"/>
          <p:cNvSpPr txBox="1"/>
          <p:nvPr/>
        </p:nvSpPr>
        <p:spPr>
          <a:xfrm>
            <a:off x="7635240" y="4545711"/>
            <a:ext cx="4007815" cy="1108710"/>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셋째 줄</a:t>
            </a:r>
          </a:p>
          <a:p>
            <a:pPr algn="l" eaLnBrk="0">
              <a:lnSpc>
                <a:spcPct val="110000"/>
              </a:lnSpc>
              <a:spcAft>
                <a:spcPts val="400"/>
              </a:spcAft>
            </a:pPr>
            <a:r>
              <a:rPr sz="1400" b="0">
                <a:solidFill>
                  <a:srgbClr val="1F2A3A"/>
                </a:solidFill>
                <a:latin typeface="맑은 고딕"/>
                <a:ea typeface="맑은 고딕"/>
                <a:cs typeface="맑은 고딕"/>
              </a:rPr>
              <a:t>판단 제출은 고를 안을 올리는 일이며 승인도 실행도 아님을 못 박는다.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요구사항은 늘어나고 금지 조건은 남는다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요구사항은 변경 때마다 늘어나지만 금지 조건은 그대로 남아, 새 요구를 금지에 어긋나게 해석하는 길을 막는다.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41</a:t>
            </a:r>
          </a:p>
        </p:txBody>
      </p:sp>
      <p:sp>
        <p:nvSpPr>
          <p:cNvPr id="6" name="Rounded Rectangle 5"/>
          <p:cNvSpPr/>
          <p:nvPr/>
        </p:nvSpPr>
        <p:spPr>
          <a:xfrm>
            <a:off x="548640" y="2105406"/>
            <a:ext cx="5181447" cy="37719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06574"/>
            <a:ext cx="731520" cy="731520"/>
          </a:xfrm>
          <a:prstGeom prst="ellipse">
            <a:avLst/>
          </a:prstGeom>
          <a:solidFill>
            <a:srgbClr val="FFFFFF"/>
          </a:solidFill>
          <a:ln>
            <a:noFill/>
          </a:ln>
        </p:spPr>
        <p:txBody>
          <a:bodyPr rtlCol="0" anchor="ctr"/>
          <a:lstStyle/>
          <a:p>
            <a:pPr algn="ctr"/>
          </a:p>
        </p:txBody>
      </p:sp>
      <p:pic>
        <p:nvPicPr>
          <p:cNvPr id="8" name="아이콘:list-details" descr="list-details_13294B_1.6.png"/>
          <p:cNvPicPr>
            <a:picLocks noChangeAspect="1"/>
          </p:cNvPicPr>
          <p:nvPr/>
        </p:nvPicPr>
        <p:blipFill>
          <a:blip r:embed="rId3"/>
          <a:stretch>
            <a:fillRect/>
          </a:stretch>
        </p:blipFill>
        <p:spPr>
          <a:xfrm>
            <a:off x="976579" y="2460193"/>
            <a:ext cx="424281" cy="424281"/>
          </a:xfrm>
          <a:prstGeom prst="rect">
            <a:avLst/>
          </a:prstGeom>
        </p:spPr>
      </p:pic>
      <p:sp>
        <p:nvSpPr>
          <p:cNvPr id="9" name="TextBox 8"/>
          <p:cNvSpPr txBox="1"/>
          <p:nvPr/>
        </p:nvSpPr>
        <p:spPr>
          <a:xfrm>
            <a:off x="1691640"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요구사항</a:t>
            </a:r>
          </a:p>
        </p:txBody>
      </p:sp>
      <p:sp>
        <p:nvSpPr>
          <p:cNvPr id="10" name="TextBox 9"/>
          <p:cNvSpPr txBox="1"/>
          <p:nvPr/>
        </p:nvSpPr>
        <p:spPr>
          <a:xfrm>
            <a:off x="822959" y="3156966"/>
            <a:ext cx="4632807" cy="2171700"/>
          </a:xfrm>
          <a:prstGeom prst="rect">
            <a:avLst/>
          </a:prstGeom>
          <a:noFill/>
        </p:spPr>
        <p:txBody>
          <a:bodyPr wrap="square" anchor="t"/>
          <a:lstStyle/>
          <a:p>
            <a:pPr algn="l" eaLnBrk="0" marL="160020" indent="-160020">
              <a:lnSpc>
                <a:spcPct val="110000"/>
              </a:lnSpc>
              <a:spcAft>
                <a:spcPts val="600"/>
              </a:spcAft>
            </a:pPr>
            <a:r>
              <a:rPr sz="1400" b="0">
                <a:solidFill>
                  <a:srgbClr val="1F2A3A"/>
                </a:solidFill>
                <a:latin typeface="맑은 고딕"/>
                <a:ea typeface="맑은 고딕"/>
                <a:cs typeface="맑은 고딕"/>
              </a:rPr>
              <a:t>• 해야 할 일을 적는다</a:t>
            </a:r>
          </a:p>
          <a:p>
            <a:pPr algn="l" eaLnBrk="0" marL="160020" indent="-160020">
              <a:lnSpc>
                <a:spcPct val="110000"/>
              </a:lnSpc>
              <a:spcAft>
                <a:spcPts val="600"/>
              </a:spcAft>
            </a:pPr>
            <a:r>
              <a:rPr sz="1400" b="0">
                <a:solidFill>
                  <a:srgbClr val="1F2A3A"/>
                </a:solidFill>
                <a:latin typeface="맑은 고딕"/>
                <a:ea typeface="맑은 고딕"/>
                <a:cs typeface="맑은 고딕"/>
              </a:rPr>
              <a:t>• 변경 요청이 올 때마다 줄이 늘어난다</a:t>
            </a:r>
          </a:p>
          <a:p>
            <a:pPr algn="l" eaLnBrk="0" marL="160020" indent="-160020">
              <a:lnSpc>
                <a:spcPct val="110000"/>
              </a:lnSpc>
              <a:spcAft>
                <a:spcPts val="600"/>
              </a:spcAft>
            </a:pPr>
            <a:r>
              <a:rPr sz="1400" b="0">
                <a:solidFill>
                  <a:srgbClr val="1F2A3A"/>
                </a:solidFill>
                <a:latin typeface="맑은 고딕"/>
                <a:ea typeface="맑은 고딕"/>
                <a:cs typeface="맑은 고딕"/>
              </a:rPr>
              <a:t>• 예: 원인을 가리고 조치 후보를 견주어 추천안을 낸다</a:t>
            </a:r>
          </a:p>
          <a:p>
            <a:pPr algn="l" eaLnBrk="0" marL="160020" indent="-160020">
              <a:lnSpc>
                <a:spcPct val="110000"/>
              </a:lnSpc>
              <a:spcAft>
                <a:spcPts val="600"/>
              </a:spcAft>
            </a:pPr>
            <a:r>
              <a:rPr sz="1400" b="0">
                <a:solidFill>
                  <a:srgbClr val="1F2A3A"/>
                </a:solidFill>
                <a:latin typeface="맑은 고딕"/>
                <a:ea typeface="맑은 고딕"/>
                <a:cs typeface="맑은 고딕"/>
              </a:rPr>
              <a:t>• 예: 긴급한 경보에는 긴급 여부를 함께 낸다</a:t>
            </a:r>
          </a:p>
        </p:txBody>
      </p:sp>
      <p:sp>
        <p:nvSpPr>
          <p:cNvPr id="11" name="Rounded Rectangle 10"/>
          <p:cNvSpPr/>
          <p:nvPr/>
        </p:nvSpPr>
        <p:spPr>
          <a:xfrm>
            <a:off x="868680" y="5420106"/>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420106"/>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늘어난다</a:t>
            </a:r>
          </a:p>
        </p:txBody>
      </p:sp>
      <p:sp>
        <p:nvSpPr>
          <p:cNvPr id="13" name="Rounded Rectangle 12"/>
          <p:cNvSpPr/>
          <p:nvPr/>
        </p:nvSpPr>
        <p:spPr>
          <a:xfrm>
            <a:off x="6461607" y="2105406"/>
            <a:ext cx="5181447" cy="37719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06574"/>
            <a:ext cx="731520" cy="731520"/>
          </a:xfrm>
          <a:prstGeom prst="ellipse">
            <a:avLst/>
          </a:prstGeom>
          <a:solidFill>
            <a:srgbClr val="5CB8F2"/>
          </a:solidFill>
          <a:ln>
            <a:noFill/>
          </a:ln>
        </p:spPr>
        <p:txBody>
          <a:bodyPr rtlCol="0" anchor="ctr"/>
          <a:lstStyle/>
          <a:p>
            <a:pPr algn="ctr"/>
          </a:p>
        </p:txBody>
      </p:sp>
      <p:pic>
        <p:nvPicPr>
          <p:cNvPr id="15" name="아이콘:forbid" descr="forbid_13294B_1.6.png"/>
          <p:cNvPicPr>
            <a:picLocks noChangeAspect="1"/>
          </p:cNvPicPr>
          <p:nvPr/>
        </p:nvPicPr>
        <p:blipFill>
          <a:blip r:embed="rId4"/>
          <a:stretch>
            <a:fillRect/>
          </a:stretch>
        </p:blipFill>
        <p:spPr>
          <a:xfrm>
            <a:off x="6889546" y="2460193"/>
            <a:ext cx="424281" cy="424281"/>
          </a:xfrm>
          <a:prstGeom prst="rect">
            <a:avLst/>
          </a:prstGeom>
        </p:spPr>
      </p:pic>
      <p:sp>
        <p:nvSpPr>
          <p:cNvPr id="16" name="TextBox 15"/>
          <p:cNvSpPr txBox="1"/>
          <p:nvPr/>
        </p:nvSpPr>
        <p:spPr>
          <a:xfrm>
            <a:off x="7604607" y="23065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금지 조건</a:t>
            </a:r>
          </a:p>
        </p:txBody>
      </p:sp>
      <p:sp>
        <p:nvSpPr>
          <p:cNvPr id="17" name="TextBox 16"/>
          <p:cNvSpPr txBox="1"/>
          <p:nvPr/>
        </p:nvSpPr>
        <p:spPr>
          <a:xfrm>
            <a:off x="6735927" y="3156966"/>
            <a:ext cx="4632807" cy="2171700"/>
          </a:xfrm>
          <a:prstGeom prst="rect">
            <a:avLst/>
          </a:prstGeom>
          <a:noFill/>
        </p:spPr>
        <p:txBody>
          <a:bodyPr wrap="square" anchor="t"/>
          <a:lstStyle/>
          <a:p>
            <a:pPr algn="l" eaLnBrk="0" marL="171450" indent="-171450">
              <a:lnSpc>
                <a:spcPct val="110000"/>
              </a:lnSpc>
              <a:spcAft>
                <a:spcPts val="600"/>
              </a:spcAft>
            </a:pPr>
            <a:r>
              <a:rPr sz="1500" b="0">
                <a:solidFill>
                  <a:srgbClr val="1F2A3A"/>
                </a:solidFill>
                <a:latin typeface="맑은 고딕"/>
                <a:ea typeface="맑은 고딕"/>
                <a:cs typeface="맑은 고딕"/>
              </a:rPr>
              <a:t>• 어떤 요구가 더해져도 하지 않을 일을 적는다</a:t>
            </a:r>
          </a:p>
          <a:p>
            <a:pPr algn="l" eaLnBrk="0" marL="171450" indent="-171450">
              <a:lnSpc>
                <a:spcPct val="110000"/>
              </a:lnSpc>
              <a:spcAft>
                <a:spcPts val="600"/>
              </a:spcAft>
            </a:pPr>
            <a:r>
              <a:rPr sz="1500" b="0">
                <a:solidFill>
                  <a:srgbClr val="1F2A3A"/>
                </a:solidFill>
                <a:latin typeface="맑은 고딕"/>
                <a:ea typeface="맑은 고딕"/>
                <a:cs typeface="맑은 고딕"/>
              </a:rPr>
              <a:t>• 변경 요청이 와도 그대로 둔다</a:t>
            </a:r>
          </a:p>
          <a:p>
            <a:pPr algn="l" eaLnBrk="0" marL="171450" indent="-171450">
              <a:lnSpc>
                <a:spcPct val="110000"/>
              </a:lnSpc>
              <a:spcAft>
                <a:spcPts val="600"/>
              </a:spcAft>
            </a:pPr>
            <a:r>
              <a:rPr sz="1500" b="0">
                <a:solidFill>
                  <a:srgbClr val="1F2A3A"/>
                </a:solidFill>
                <a:latin typeface="맑은 고딕"/>
                <a:ea typeface="맑은 고딕"/>
                <a:cs typeface="맑은 고딕"/>
              </a:rPr>
              <a:t>• 예: 사람이 승인하기 전에는 어떤 조치도 실행하지 않는다</a:t>
            </a:r>
          </a:p>
          <a:p>
            <a:pPr algn="l" eaLnBrk="0" marL="171450" indent="-171450">
              <a:lnSpc>
                <a:spcPct val="110000"/>
              </a:lnSpc>
              <a:spcAft>
                <a:spcPts val="600"/>
              </a:spcAft>
            </a:pPr>
            <a:r>
              <a:rPr sz="1500" b="0">
                <a:solidFill>
                  <a:srgbClr val="1F2A3A"/>
                </a:solidFill>
                <a:latin typeface="맑은 고딕"/>
                <a:ea typeface="맑은 고딕"/>
                <a:cs typeface="맑은 고딕"/>
              </a:rPr>
              <a:t>• 「빨리 처리」를 승인 생략으로 읽는 해석이 여기서 막힌다</a:t>
            </a:r>
          </a:p>
        </p:txBody>
      </p:sp>
      <p:sp>
        <p:nvSpPr>
          <p:cNvPr id="18" name="Rounded Rectangle 17"/>
          <p:cNvSpPr/>
          <p:nvPr/>
        </p:nvSpPr>
        <p:spPr>
          <a:xfrm>
            <a:off x="6781647" y="5420106"/>
            <a:ext cx="822960"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420106"/>
            <a:ext cx="8229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남는다</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수용 기준: 다 되었는지를 가르는 조건</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1">
                <a:solidFill>
                  <a:srgbClr val="1A6FC4"/>
                </a:solidFill>
                <a:latin typeface="맑은 고딕"/>
                <a:ea typeface="맑은 고딕"/>
                <a:cs typeface="맑은 고딕"/>
              </a:rPr>
              <a:t>수용 기준</a:t>
            </a:r>
            <a:r>
              <a:rPr sz="1600" b="0">
                <a:solidFill>
                  <a:srgbClr val="556175"/>
                </a:solidFill>
                <a:latin typeface="맑은 고딕"/>
                <a:ea typeface="맑은 고딕"/>
                <a:cs typeface="맑은 고딕"/>
              </a:rPr>
              <a:t>은 구현이 끝났는지를 참과 거짓으로 가를 수 있게 적은 조건이다.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42</a:t>
            </a:r>
          </a:p>
        </p:txBody>
      </p:sp>
      <p:sp>
        <p:nvSpPr>
          <p:cNvPr id="6" name="Rounded Rectangle 5"/>
          <p:cNvSpPr/>
          <p:nvPr/>
        </p:nvSpPr>
        <p:spPr>
          <a:xfrm>
            <a:off x="548640" y="1961388"/>
            <a:ext cx="11094415" cy="1316736"/>
          </a:xfrm>
          <a:prstGeom prst="roundRect">
            <a:avLst>
              <a:gd name="adj" fmla="val 6000"/>
            </a:avLst>
          </a:prstGeom>
          <a:solidFill>
            <a:srgbClr val="E7F3FD"/>
          </a:solidFill>
          <a:ln>
            <a:noFill/>
          </a:ln>
        </p:spPr>
        <p:txBody>
          <a:bodyPr rtlCol="0" anchor="ctr"/>
          <a:lstStyle/>
          <a:p>
            <a:pPr algn="ctr"/>
          </a:p>
        </p:txBody>
      </p:sp>
      <p:sp>
        <p:nvSpPr>
          <p:cNvPr id="7" name="TextBox 6"/>
          <p:cNvSpPr txBox="1"/>
          <p:nvPr/>
        </p:nvSpPr>
        <p:spPr>
          <a:xfrm>
            <a:off x="640080" y="19339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수용 기준</a:t>
            </a:r>
          </a:p>
          <a:p>
            <a:pPr algn="l" eaLnBrk="0">
              <a:lnSpc>
                <a:spcPct val="110000"/>
              </a:lnSpc>
              <a:spcAft>
                <a:spcPts val="200"/>
              </a:spcAft>
            </a:pPr>
            <a:r>
              <a:rPr sz="1150" b="0">
                <a:solidFill>
                  <a:srgbClr val="556175"/>
                </a:solidFill>
                <a:latin typeface="맑은 고딕"/>
                <a:ea typeface="맑은 고딕"/>
                <a:cs typeface="맑은 고딕"/>
              </a:rPr>
              <a:t>Acceptance Criteria</a:t>
            </a:r>
          </a:p>
        </p:txBody>
      </p:sp>
      <p:sp>
        <p:nvSpPr>
          <p:cNvPr id="8" name="TextBox 7"/>
          <p:cNvSpPr txBox="1"/>
          <p:nvPr/>
        </p:nvSpPr>
        <p:spPr>
          <a:xfrm>
            <a:off x="4023359" y="19339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구현이 요구를 채웠다고 받아들이는 조건이다.</a:t>
            </a:r>
          </a:p>
          <a:p>
            <a:pPr algn="l" eaLnBrk="0">
              <a:lnSpc>
                <a:spcPct val="110000"/>
              </a:lnSpc>
              <a:spcAft>
                <a:spcPts val="300"/>
              </a:spcAft>
            </a:pPr>
            <a:r>
              <a:rPr sz="1400" b="0">
                <a:solidFill>
                  <a:srgbClr val="1F2A3A"/>
                </a:solidFill>
                <a:latin typeface="맑은 고딕"/>
                <a:ea typeface="맑은 고딕"/>
                <a:cs typeface="맑은 고딕"/>
              </a:rPr>
              <a:t>실행해 보고 참인지 거짓인지를 가를 수 있는 문장으로 적는다.</a:t>
            </a:r>
          </a:p>
        </p:txBody>
      </p:sp>
      <p:sp>
        <p:nvSpPr>
          <p:cNvPr id="9" name="Rectangle 8"/>
          <p:cNvSpPr/>
          <p:nvPr/>
        </p:nvSpPr>
        <p:spPr>
          <a:xfrm>
            <a:off x="548640" y="3296412"/>
            <a:ext cx="11094415" cy="13716"/>
          </a:xfrm>
          <a:prstGeom prst="rect">
            <a:avLst/>
          </a:prstGeom>
          <a:solidFill>
            <a:srgbClr val="D3D9E1"/>
          </a:solidFill>
          <a:ln>
            <a:noFill/>
          </a:ln>
        </p:spPr>
        <p:txBody>
          <a:bodyPr rtlCol="0" anchor="ctr"/>
          <a:lstStyle/>
          <a:p>
            <a:pPr algn="ctr"/>
          </a:p>
        </p:txBody>
      </p:sp>
      <p:sp>
        <p:nvSpPr>
          <p:cNvPr id="10" name="TextBox 9"/>
          <p:cNvSpPr txBox="1"/>
          <p:nvPr/>
        </p:nvSpPr>
        <p:spPr>
          <a:xfrm>
            <a:off x="640080" y="33055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적는 내용</a:t>
            </a:r>
          </a:p>
          <a:p>
            <a:pPr algn="l" eaLnBrk="0">
              <a:lnSpc>
                <a:spcPct val="110000"/>
              </a:lnSpc>
              <a:spcAft>
                <a:spcPts val="200"/>
              </a:spcAft>
            </a:pPr>
            <a:r>
              <a:rPr sz="1150" b="0">
                <a:solidFill>
                  <a:srgbClr val="556175"/>
                </a:solidFill>
                <a:latin typeface="맑은 고딕"/>
                <a:ea typeface="맑은 고딕"/>
                <a:cs typeface="맑은 고딕"/>
              </a:rPr>
              <a:t>상황과 기대 결과</a:t>
            </a:r>
          </a:p>
        </p:txBody>
      </p:sp>
      <p:sp>
        <p:nvSpPr>
          <p:cNvPr id="11" name="TextBox 10"/>
          <p:cNvSpPr txBox="1"/>
          <p:nvPr/>
        </p:nvSpPr>
        <p:spPr>
          <a:xfrm>
            <a:off x="4023359" y="3305556"/>
            <a:ext cx="7528255" cy="1371600"/>
          </a:xfrm>
          <a:prstGeom prst="rect">
            <a:avLst/>
          </a:prstGeom>
          <a:noFill/>
        </p:spPr>
        <p:txBody>
          <a:bodyPr wrap="square" anchor="ctr"/>
          <a:lstStyle/>
          <a:p>
            <a:pPr algn="l" eaLnBrk="0">
              <a:lnSpc>
                <a:spcPct val="110000"/>
              </a:lnSpc>
              <a:spcAft>
                <a:spcPts val="300"/>
              </a:spcAft>
            </a:pPr>
            <a:r>
              <a:rPr sz="1400" b="0">
                <a:solidFill>
                  <a:srgbClr val="1F2A3A"/>
                </a:solidFill>
                <a:latin typeface="맑은 고딕"/>
                <a:ea typeface="맑은 고딕"/>
                <a:cs typeface="맑은 고딕"/>
              </a:rPr>
              <a:t>어떤 상황에서 어떤 결과가 나와야 하는지를 한 문장에 하나씩 적는다.</a:t>
            </a:r>
          </a:p>
        </p:txBody>
      </p:sp>
      <p:sp>
        <p:nvSpPr>
          <p:cNvPr id="12" name="Rectangle 11"/>
          <p:cNvSpPr/>
          <p:nvPr/>
        </p:nvSpPr>
        <p:spPr>
          <a:xfrm>
            <a:off x="548640" y="4668012"/>
            <a:ext cx="11094415" cy="13716"/>
          </a:xfrm>
          <a:prstGeom prst="rect">
            <a:avLst/>
          </a:prstGeom>
          <a:solidFill>
            <a:srgbClr val="D3D9E1"/>
          </a:solidFill>
          <a:ln>
            <a:noFill/>
          </a:ln>
        </p:spPr>
        <p:txBody>
          <a:bodyPr rtlCol="0" anchor="ctr"/>
          <a:lstStyle/>
          <a:p>
            <a:pPr algn="ctr"/>
          </a:p>
        </p:txBody>
      </p:sp>
      <p:sp>
        <p:nvSpPr>
          <p:cNvPr id="13" name="TextBox 12"/>
          <p:cNvSpPr txBox="1"/>
          <p:nvPr/>
        </p:nvSpPr>
        <p:spPr>
          <a:xfrm>
            <a:off x="640080" y="4677156"/>
            <a:ext cx="3291839" cy="1371600"/>
          </a:xfrm>
          <a:prstGeom prst="rect">
            <a:avLst/>
          </a:prstGeom>
          <a:noFill/>
        </p:spPr>
        <p:txBody>
          <a:bodyPr wrap="square" anchor="ctr"/>
          <a:lstStyle/>
          <a:p>
            <a:pPr algn="l" eaLnBrk="0">
              <a:lnSpc>
                <a:spcPct val="110000"/>
              </a:lnSpc>
              <a:spcAft>
                <a:spcPts val="200"/>
              </a:spcAft>
            </a:pPr>
            <a:r>
              <a:rPr sz="1800" b="1">
                <a:solidFill>
                  <a:srgbClr val="13294B"/>
                </a:solidFill>
                <a:latin typeface="맑은 고딕"/>
                <a:ea typeface="맑은 고딕"/>
                <a:cs typeface="맑은 고딕"/>
              </a:rPr>
              <a:t>쓰이는 때</a:t>
            </a:r>
          </a:p>
          <a:p>
            <a:pPr algn="l" eaLnBrk="0">
              <a:lnSpc>
                <a:spcPct val="110000"/>
              </a:lnSpc>
              <a:spcAft>
                <a:spcPts val="200"/>
              </a:spcAft>
            </a:pPr>
            <a:r>
              <a:rPr sz="1150" b="0">
                <a:solidFill>
                  <a:srgbClr val="556175"/>
                </a:solidFill>
                <a:latin typeface="맑은 고딕"/>
                <a:ea typeface="맑은 고딕"/>
                <a:cs typeface="맑은 고딕"/>
              </a:rPr>
              <a:t>구현 전과 후</a:t>
            </a:r>
          </a:p>
        </p:txBody>
      </p:sp>
      <p:sp>
        <p:nvSpPr>
          <p:cNvPr id="14" name="TextBox 13"/>
          <p:cNvSpPr txBox="1"/>
          <p:nvPr/>
        </p:nvSpPr>
        <p:spPr>
          <a:xfrm>
            <a:off x="4023359" y="4677156"/>
            <a:ext cx="7528255" cy="1371600"/>
          </a:xfrm>
          <a:prstGeom prst="rect">
            <a:avLst/>
          </a:prstGeom>
          <a:noFill/>
        </p:spPr>
        <p:txBody>
          <a:bodyPr wrap="square" anchor="ctr"/>
          <a:lstStyle/>
          <a:p>
            <a:pPr algn="l" eaLnBrk="0">
              <a:lnSpc>
                <a:spcPct val="110000"/>
              </a:lnSpc>
              <a:spcAft>
                <a:spcPts val="300"/>
              </a:spcAft>
            </a:pPr>
            <a:r>
              <a:rPr sz="1350" b="0">
                <a:solidFill>
                  <a:srgbClr val="1F2A3A"/>
                </a:solidFill>
                <a:latin typeface="맑은 고딕"/>
                <a:ea typeface="맑은 고딕"/>
                <a:cs typeface="맑은 고딕"/>
              </a:rPr>
              <a:t>구현 전에는 무엇을 만들지의 기준이 되고, 구현 뒤에는 다 되었는지를 확인하는 항목이 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판정할 수 있는 문장과 판정할 수 없는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「잘 처리된다」 같은 문장은 실행해 보아도 맞았는지 가릴 수 없어, 상황과 기대 결과를 적은 문장으로 바꾸어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43</a:t>
            </a:r>
          </a:p>
        </p:txBody>
      </p:sp>
      <p:sp>
        <p:nvSpPr>
          <p:cNvPr id="6" name="Rounded Rectangle 5"/>
          <p:cNvSpPr/>
          <p:nvPr/>
        </p:nvSpPr>
        <p:spPr>
          <a:xfrm>
            <a:off x="548640" y="2321052"/>
            <a:ext cx="5181447" cy="3340608"/>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522220"/>
            <a:ext cx="731520" cy="731520"/>
          </a:xfrm>
          <a:prstGeom prst="ellipse">
            <a:avLst/>
          </a:prstGeom>
          <a:solidFill>
            <a:srgbClr val="FFFFFF"/>
          </a:solidFill>
          <a:ln>
            <a:noFill/>
          </a:ln>
        </p:spPr>
        <p:txBody>
          <a:bodyPr rtlCol="0" anchor="ctr"/>
          <a:lstStyle/>
          <a:p>
            <a:pPr algn="ctr"/>
          </a:p>
        </p:txBody>
      </p:sp>
      <p:pic>
        <p:nvPicPr>
          <p:cNvPr id="8" name="아이콘:zoom-question" descr="zoom-question_13294B_1.6.png"/>
          <p:cNvPicPr>
            <a:picLocks noChangeAspect="1"/>
          </p:cNvPicPr>
          <p:nvPr/>
        </p:nvPicPr>
        <p:blipFill>
          <a:blip r:embed="rId3"/>
          <a:stretch>
            <a:fillRect/>
          </a:stretch>
        </p:blipFill>
        <p:spPr>
          <a:xfrm>
            <a:off x="976579" y="2675839"/>
            <a:ext cx="424281" cy="424281"/>
          </a:xfrm>
          <a:prstGeom prst="rect">
            <a:avLst/>
          </a:prstGeom>
        </p:spPr>
      </p:pic>
      <p:sp>
        <p:nvSpPr>
          <p:cNvPr id="9" name="TextBox 8"/>
          <p:cNvSpPr txBox="1"/>
          <p:nvPr/>
        </p:nvSpPr>
        <p:spPr>
          <a:xfrm>
            <a:off x="1691640"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판정할 수 없는 문장</a:t>
            </a:r>
          </a:p>
        </p:txBody>
      </p:sp>
      <p:sp>
        <p:nvSpPr>
          <p:cNvPr id="10" name="TextBox 9"/>
          <p:cNvSpPr txBox="1"/>
          <p:nvPr/>
        </p:nvSpPr>
        <p:spPr>
          <a:xfrm>
            <a:off x="822959"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「거절이 잘 처리된다」</a:t>
            </a:r>
          </a:p>
          <a:p>
            <a:pPr algn="l" eaLnBrk="0" marL="205740" indent="-205740">
              <a:lnSpc>
                <a:spcPct val="110000"/>
              </a:lnSpc>
              <a:spcAft>
                <a:spcPts val="600"/>
              </a:spcAft>
            </a:pPr>
            <a:r>
              <a:rPr sz="1800" b="0">
                <a:solidFill>
                  <a:srgbClr val="1F2A3A"/>
                </a:solidFill>
                <a:latin typeface="맑은 고딕"/>
                <a:ea typeface="맑은 고딕"/>
                <a:cs typeface="맑은 고딕"/>
              </a:rPr>
              <a:t>• 「긴급한 경보가 빨리 처리된다」</a:t>
            </a:r>
          </a:p>
          <a:p>
            <a:pPr algn="l" eaLnBrk="0" marL="205740" indent="-205740">
              <a:lnSpc>
                <a:spcPct val="110000"/>
              </a:lnSpc>
              <a:spcAft>
                <a:spcPts val="600"/>
              </a:spcAft>
            </a:pPr>
            <a:r>
              <a:rPr sz="1800" b="0">
                <a:solidFill>
                  <a:srgbClr val="1F2A3A"/>
                </a:solidFill>
                <a:latin typeface="맑은 고딕"/>
                <a:ea typeface="맑은 고딕"/>
                <a:cs typeface="맑은 고딕"/>
              </a:rPr>
              <a:t>• 실행한 사람마다 판정이 달라진다</a:t>
            </a:r>
          </a:p>
        </p:txBody>
      </p:sp>
      <p:sp>
        <p:nvSpPr>
          <p:cNvPr id="11" name="Rounded Rectangle 10"/>
          <p:cNvSpPr/>
          <p:nvPr/>
        </p:nvSpPr>
        <p:spPr>
          <a:xfrm>
            <a:off x="868680" y="5204460"/>
            <a:ext cx="97536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204460"/>
            <a:ext cx="97536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모호하다</a:t>
            </a:r>
          </a:p>
        </p:txBody>
      </p:sp>
      <p:sp>
        <p:nvSpPr>
          <p:cNvPr id="13" name="Rounded Rectangle 12"/>
          <p:cNvSpPr/>
          <p:nvPr/>
        </p:nvSpPr>
        <p:spPr>
          <a:xfrm>
            <a:off x="6461607" y="2321052"/>
            <a:ext cx="5181447" cy="3340608"/>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522220"/>
            <a:ext cx="731520" cy="731520"/>
          </a:xfrm>
          <a:prstGeom prst="ellipse">
            <a:avLst/>
          </a:prstGeom>
          <a:solidFill>
            <a:srgbClr val="5CB8F2"/>
          </a:solidFill>
          <a:ln>
            <a:noFill/>
          </a:ln>
        </p:spPr>
        <p:txBody>
          <a:bodyPr rtlCol="0" anchor="ctr"/>
          <a:lstStyle/>
          <a:p>
            <a:pPr algn="ctr"/>
          </a:p>
        </p:txBody>
      </p:sp>
      <p:pic>
        <p:nvPicPr>
          <p:cNvPr id="15" name="아이콘:checks" descr="checks_13294B_1.6.png"/>
          <p:cNvPicPr>
            <a:picLocks noChangeAspect="1"/>
          </p:cNvPicPr>
          <p:nvPr/>
        </p:nvPicPr>
        <p:blipFill>
          <a:blip r:embed="rId4"/>
          <a:stretch>
            <a:fillRect/>
          </a:stretch>
        </p:blipFill>
        <p:spPr>
          <a:xfrm>
            <a:off x="6889546" y="2675839"/>
            <a:ext cx="424281" cy="424281"/>
          </a:xfrm>
          <a:prstGeom prst="rect">
            <a:avLst/>
          </a:prstGeom>
        </p:spPr>
      </p:pic>
      <p:sp>
        <p:nvSpPr>
          <p:cNvPr id="16" name="TextBox 15"/>
          <p:cNvSpPr txBox="1"/>
          <p:nvPr/>
        </p:nvSpPr>
        <p:spPr>
          <a:xfrm>
            <a:off x="7604607" y="2522220"/>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판정할 수 있는 문장</a:t>
            </a:r>
          </a:p>
        </p:txBody>
      </p:sp>
      <p:sp>
        <p:nvSpPr>
          <p:cNvPr id="17" name="TextBox 16"/>
          <p:cNvSpPr txBox="1"/>
          <p:nvPr/>
        </p:nvSpPr>
        <p:spPr>
          <a:xfrm>
            <a:off x="6735927" y="3372611"/>
            <a:ext cx="4632807" cy="1740408"/>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「거절하면 설비 명령이 0건이다」</a:t>
            </a:r>
          </a:p>
          <a:p>
            <a:pPr algn="l" eaLnBrk="0" marL="205740" indent="-205740">
              <a:lnSpc>
                <a:spcPct val="110000"/>
              </a:lnSpc>
              <a:spcAft>
                <a:spcPts val="600"/>
              </a:spcAft>
            </a:pPr>
            <a:r>
              <a:rPr sz="1800" b="0">
                <a:solidFill>
                  <a:srgbClr val="1F2A3A"/>
                </a:solidFill>
                <a:latin typeface="맑은 고딕"/>
                <a:ea typeface="맑은 고딕"/>
                <a:cs typeface="맑은 고딕"/>
              </a:rPr>
              <a:t>• 「긴급한 경보의 추천안도 승인 대기 상태가 된다」</a:t>
            </a:r>
          </a:p>
          <a:p>
            <a:pPr algn="l" eaLnBrk="0" marL="205740" indent="-205740">
              <a:lnSpc>
                <a:spcPct val="110000"/>
              </a:lnSpc>
              <a:spcAft>
                <a:spcPts val="600"/>
              </a:spcAft>
            </a:pPr>
            <a:r>
              <a:rPr sz="1800" b="0">
                <a:solidFill>
                  <a:srgbClr val="1F2A3A"/>
                </a:solidFill>
                <a:latin typeface="맑은 고딕"/>
                <a:ea typeface="맑은 고딕"/>
                <a:cs typeface="맑은 고딕"/>
              </a:rPr>
              <a:t>• 누가 실행해도 같은 판정이 나온다</a:t>
            </a:r>
          </a:p>
        </p:txBody>
      </p:sp>
      <p:sp>
        <p:nvSpPr>
          <p:cNvPr id="18" name="Rounded Rectangle 17"/>
          <p:cNvSpPr/>
          <p:nvPr/>
        </p:nvSpPr>
        <p:spPr>
          <a:xfrm>
            <a:off x="6781647" y="5204460"/>
            <a:ext cx="12191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204460"/>
            <a:ext cx="12191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참 또는 거짓</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승인 단계가 지키는 수용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01단원에서 본 승인 단계의 동작은 상황마다 기대 결과를 적은 수용 기준이 되어 검사로 확인된다.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확인되어야 하는 결과</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구분</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권한 있는 담당자가 승인한다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승인한 사람과 역할이 기록되고 처리 건이 끝까지 처리된다</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a:t>
            </a:r>
          </a:p>
        </p:txBody>
      </p:sp>
      <p:sp>
        <p:nvSpPr>
          <p:cNvPr id="14" name="Rounded Rectangle 13"/>
          <p:cNvSpPr/>
          <p:nvPr/>
        </p:nvSpPr>
        <p:spPr>
          <a:xfrm>
            <a:off x="548640" y="2926994"/>
            <a:ext cx="11094415" cy="801014"/>
          </a:xfrm>
          <a:prstGeom prst="roundRect">
            <a:avLst>
              <a:gd name="adj" fmla="val 8000"/>
            </a:avLst>
          </a:prstGeom>
          <a:solidFill>
            <a:srgbClr val="E7F3FD"/>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사유를 적고 거절한다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설비 명령과 업무 처리가 0건이고 처리 건은 반려로 닫힌다</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거절</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사유 없이, 또는 권한 없는 역할로 거절한다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거절 요청이 받아들여지지 않는다</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누락</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담당자가 응답하지 않는다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지연 알림만 나가고 처리 건은 계속 기다린다</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무응답</a:t>
            </a:r>
          </a:p>
        </p:txBody>
      </p:sp>
      <p:sp>
        <p:nvSpPr>
          <p:cNvPr id="26" name="Rounded Rectangle 25"/>
          <p:cNvSpPr/>
          <p:nvPr/>
        </p:nvSpPr>
        <p:spPr>
          <a:xfrm>
            <a:off x="548640" y="5522061"/>
            <a:ext cx="11094415" cy="801014"/>
          </a:xfrm>
          <a:prstGeom prst="roundRect">
            <a:avLst>
              <a:gd name="adj" fmla="val 8000"/>
            </a:avLst>
          </a:prstGeom>
          <a:solidFill>
            <a:srgbClr val="F3F6F9"/>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알림 뒤에 승인한다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정상으로 처리된다</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늦은 승인</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548640" y="2148840"/>
            <a:ext cx="2377440" cy="1737360"/>
          </a:xfrm>
          <a:prstGeom prst="rect">
            <a:avLst/>
          </a:prstGeom>
          <a:noFill/>
        </p:spPr>
        <p:txBody>
          <a:bodyPr wrap="square" anchor="ctr"/>
          <a:lstStyle/>
          <a:p>
            <a:pPr algn="l" eaLnBrk="0">
              <a:lnSpc>
                <a:spcPct val="110000"/>
              </a:lnSpc>
            </a:pPr>
            <a:r>
              <a:rPr sz="8800" b="1">
                <a:solidFill>
                  <a:srgbClr val="5CB8F2"/>
                </a:solidFill>
                <a:latin typeface="맑은 고딕"/>
                <a:ea typeface="맑은 고딕"/>
                <a:cs typeface="맑은 고딕"/>
              </a:rPr>
              <a:t>06</a:t>
            </a:r>
          </a:p>
        </p:txBody>
      </p:sp>
      <p:sp>
        <p:nvSpPr>
          <p:cNvPr id="5" name="TextBox 4"/>
          <p:cNvSpPr txBox="1"/>
          <p:nvPr/>
        </p:nvSpPr>
        <p:spPr>
          <a:xfrm>
            <a:off x="3017520" y="2011680"/>
            <a:ext cx="8625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명세에 따른 구현과</a:t>
            </a:r>
          </a:p>
          <a:p>
            <a:pPr algn="l" eaLnBrk="0">
              <a:lnSpc>
                <a:spcPct val="110000"/>
              </a:lnSpc>
            </a:pPr>
            <a:r>
              <a:rPr sz="3400" b="1">
                <a:solidFill>
                  <a:srgbClr val="13294B"/>
                </a:solidFill>
                <a:latin typeface="맑은 고딕"/>
                <a:ea typeface="맑은 고딕"/>
                <a:cs typeface="맑은 고딕"/>
              </a:rPr>
              <a:t>변경의 확인</a:t>
            </a:r>
          </a:p>
        </p:txBody>
      </p:sp>
      <p:sp>
        <p:nvSpPr>
          <p:cNvPr id="6" name="Rounded Rectangle 5"/>
          <p:cNvSpPr/>
          <p:nvPr/>
        </p:nvSpPr>
        <p:spPr>
          <a:xfrm>
            <a:off x="3108960" y="4160520"/>
            <a:ext cx="1290319" cy="347472"/>
          </a:xfrm>
          <a:prstGeom prst="roundRect">
            <a:avLst>
              <a:gd name="adj" fmla="val 50000"/>
            </a:avLst>
          </a:prstGeom>
          <a:solidFill>
            <a:srgbClr val="5CB8F2"/>
          </a:solidFill>
          <a:ln>
            <a:noFill/>
          </a:ln>
        </p:spPr>
        <p:txBody>
          <a:bodyPr rtlCol="0" anchor="ctr"/>
          <a:lstStyle/>
          <a:p>
            <a:pPr algn="ctr"/>
          </a:p>
        </p:txBody>
      </p:sp>
      <p:sp>
        <p:nvSpPr>
          <p:cNvPr id="7" name="TextBox 6"/>
          <p:cNvSpPr txBox="1"/>
          <p:nvPr/>
        </p:nvSpPr>
        <p:spPr>
          <a:xfrm>
            <a:off x="3108960" y="4160520"/>
            <a:ext cx="1290319"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이론 · 실습</a:t>
            </a:r>
          </a:p>
        </p:txBody>
      </p:sp>
      <p:sp>
        <p:nvSpPr>
          <p:cNvPr id="8" name="TextBox 7"/>
          <p:cNvSpPr txBox="1"/>
          <p:nvPr/>
        </p:nvSpPr>
        <p:spPr>
          <a:xfrm>
            <a:off x="3017520" y="4617720"/>
            <a:ext cx="8625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요청을 명세로 다시 쓰고, 명세대로 구현한 뒤 두 요청을 함께 확인한다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명세로 다시 쓴 변경 요청</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명세로 옮기면 갈렸던 해석이 요구사항, 출력 계약, 금지 조건, 수용 기준의 줄에서 하나씩 정해진다.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46</a:t>
            </a:r>
          </a:p>
        </p:txBody>
      </p:sp>
      <p:sp>
        <p:nvSpPr>
          <p:cNvPr id="6" name="Rounded Rectangle 5"/>
          <p:cNvSpPr/>
          <p:nvPr/>
        </p:nvSpPr>
        <p:spPr>
          <a:xfrm>
            <a:off x="548640" y="1990852"/>
            <a:ext cx="6766560" cy="4001008"/>
          </a:xfrm>
          <a:prstGeom prst="roundRect">
            <a:avLst>
              <a:gd name="adj" fmla="val 3000"/>
            </a:avLst>
          </a:prstGeom>
          <a:solidFill>
            <a:srgbClr val="13294B"/>
          </a:solidFill>
          <a:ln>
            <a:noFill/>
          </a:ln>
        </p:spPr>
        <p:txBody>
          <a:bodyPr rtlCol="0" anchor="ctr"/>
          <a:lstStyle/>
          <a:p>
            <a:pPr algn="ctr"/>
          </a:p>
        </p:txBody>
      </p:sp>
      <p:sp>
        <p:nvSpPr>
          <p:cNvPr id="7" name="TextBox 6"/>
          <p:cNvSpPr txBox="1"/>
          <p:nvPr/>
        </p:nvSpPr>
        <p:spPr>
          <a:xfrm>
            <a:off x="731520" y="2128012"/>
            <a:ext cx="6400800" cy="3726688"/>
          </a:xfrm>
          <a:prstGeom prst="rect">
            <a:avLst/>
          </a:prstGeom>
          <a:noFill/>
        </p:spPr>
        <p:txBody>
          <a:bodyPr wrap="square" anchor="t"/>
          <a:lstStyle/>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냉각</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대응</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명세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요구사항</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유온</a:t>
            </a:r>
            <a:r>
              <a:rPr sz="1300" b="0">
                <a:solidFill>
                  <a:srgbClr val="E8EEF6"/>
                </a:solidFill>
                <a:latin typeface="Consolas"/>
                <a:ea typeface="맑은 고딕"/>
                <a:cs typeface="맑은 고딕"/>
              </a:rPr>
              <a:t> 60</a:t>
            </a:r>
            <a:r>
              <a:rPr sz="1300" b="0">
                <a:solidFill>
                  <a:srgbClr val="E8EEF6"/>
                </a:solidFill>
                <a:latin typeface="맑은 고딕"/>
                <a:ea typeface="맑은 고딕"/>
                <a:cs typeface="맑은 고딕"/>
              </a:rPr>
              <a:t> ℃</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이상의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쿨러</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성능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저하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여부를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함께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낸다</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출력</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계약</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다섯</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항목의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이름과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형식은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바꾸지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urgent </a:t>
            </a:r>
            <a:r>
              <a:rPr sz="1300" b="0">
                <a:solidFill>
                  <a:srgbClr val="E8EEF6"/>
                </a:solidFill>
                <a:latin typeface="맑은 고딕"/>
                <a:ea typeface="맑은 고딕"/>
                <a:cs typeface="맑은 고딕"/>
              </a:rPr>
              <a:t>항목을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더한다</a:t>
            </a:r>
            <a:r>
              <a:rPr sz="1300" b="0">
                <a:solidFill>
                  <a:srgbClr val="E8EEF6"/>
                </a:solidFill>
                <a:latin typeface="Consolas"/>
                <a:ea typeface="맑은 고딕"/>
                <a:cs typeface="맑은 고딕"/>
              </a:rPr>
              <a:t> (true </a:t>
            </a:r>
            <a:r>
              <a:rPr sz="1300" b="0">
                <a:solidFill>
                  <a:srgbClr val="E8EEF6"/>
                </a:solidFill>
                <a:latin typeface="맑은 고딕"/>
                <a:ea typeface="맑은 고딕"/>
                <a:cs typeface="맑은 고딕"/>
              </a:rPr>
              <a:t>또는</a:t>
            </a:r>
            <a:r>
              <a:rPr sz="1300" b="0">
                <a:solidFill>
                  <a:srgbClr val="E8EEF6"/>
                </a:solidFill>
                <a:latin typeface="Consolas"/>
                <a:ea typeface="맑은 고딕"/>
                <a:cs typeface="맑은 고딕"/>
              </a:rPr>
              <a:t> false)</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금지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조건</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전에는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조치를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실행하지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않는다</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필수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값을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읽지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못하면</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채우지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않고</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보류한다</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수용</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기준</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긴급하지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않은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결과는</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변경</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전과</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같다</a:t>
            </a:r>
          </a:p>
          <a:p>
            <a:pPr algn="l" eaLnBrk="0">
              <a:lnSpc>
                <a:spcPct val="110000"/>
              </a:lnSpc>
              <a:spcAft>
                <a:spcPts val="200"/>
              </a:spcAft>
            </a:pP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긴급</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경보의</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추천안도</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승인</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대기</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상태가</a:t>
            </a:r>
            <a:r>
              <a:rPr sz="1300" b="0">
                <a:solidFill>
                  <a:srgbClr val="E8EEF6"/>
                </a:solidFill>
                <a:latin typeface="Consolas"/>
                <a:ea typeface="맑은 고딕"/>
                <a:cs typeface="맑은 고딕"/>
              </a:rPr>
              <a:t> </a:t>
            </a:r>
            <a:r>
              <a:rPr sz="1300" b="0">
                <a:solidFill>
                  <a:srgbClr val="E8EEF6"/>
                </a:solidFill>
                <a:latin typeface="맑은 고딕"/>
                <a:ea typeface="맑은 고딕"/>
                <a:cs typeface="맑은 고딕"/>
              </a:rPr>
              <a:t>된다</a:t>
            </a:r>
          </a:p>
        </p:txBody>
      </p:sp>
      <p:sp>
        <p:nvSpPr>
          <p:cNvPr id="8" name="TextBox 7"/>
          <p:cNvSpPr txBox="1"/>
          <p:nvPr/>
        </p:nvSpPr>
        <p:spPr>
          <a:xfrm>
            <a:off x="7635240" y="1990852"/>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요구사항</a:t>
            </a:r>
          </a:p>
          <a:p>
            <a:pPr algn="l" eaLnBrk="0">
              <a:lnSpc>
                <a:spcPct val="110000"/>
              </a:lnSpc>
              <a:spcAft>
                <a:spcPts val="400"/>
              </a:spcAft>
            </a:pPr>
            <a:r>
              <a:rPr sz="1400" b="0">
                <a:solidFill>
                  <a:srgbClr val="1F2A3A"/>
                </a:solidFill>
                <a:latin typeface="맑은 고딕"/>
                <a:ea typeface="맑은 고딕"/>
                <a:cs typeface="맑은 고딕"/>
              </a:rPr>
              <a:t>어떤 경보가 긴급한가: 수치로 정했다.</a:t>
            </a:r>
          </a:p>
        </p:txBody>
      </p:sp>
      <p:sp>
        <p:nvSpPr>
          <p:cNvPr id="9" name="TextBox 8"/>
          <p:cNvSpPr txBox="1"/>
          <p:nvPr/>
        </p:nvSpPr>
        <p:spPr>
          <a:xfrm>
            <a:off x="7635240" y="2991104"/>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출력 계약</a:t>
            </a:r>
          </a:p>
          <a:p>
            <a:pPr algn="l" eaLnBrk="0">
              <a:lnSpc>
                <a:spcPct val="110000"/>
              </a:lnSpc>
              <a:spcAft>
                <a:spcPts val="400"/>
              </a:spcAft>
            </a:pPr>
            <a:r>
              <a:rPr sz="1400" b="0">
                <a:solidFill>
                  <a:srgbClr val="1F2A3A"/>
                </a:solidFill>
                <a:latin typeface="맑은 고딕"/>
                <a:ea typeface="맑은 고딕"/>
                <a:cs typeface="맑은 고딕"/>
              </a:rPr>
              <a:t>무엇이 달라지는가: 항목 하나를 더하고 기존 항목은 둔다.</a:t>
            </a:r>
          </a:p>
        </p:txBody>
      </p:sp>
      <p:sp>
        <p:nvSpPr>
          <p:cNvPr id="10" name="TextBox 9"/>
          <p:cNvSpPr txBox="1"/>
          <p:nvPr/>
        </p:nvSpPr>
        <p:spPr>
          <a:xfrm>
            <a:off x="7635240" y="3991356"/>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금지 조건</a:t>
            </a:r>
          </a:p>
          <a:p>
            <a:pPr algn="l" eaLnBrk="0">
              <a:lnSpc>
                <a:spcPct val="110000"/>
              </a:lnSpc>
              <a:spcAft>
                <a:spcPts val="400"/>
              </a:spcAft>
            </a:pPr>
            <a:r>
              <a:rPr sz="1400" b="0">
                <a:solidFill>
                  <a:srgbClr val="1F2A3A"/>
                </a:solidFill>
                <a:latin typeface="맑은 고딕"/>
                <a:ea typeface="맑은 고딕"/>
                <a:cs typeface="맑은 고딕"/>
              </a:rPr>
              <a:t>승인을 건너뛰는가: 건너뛰지 않는다.</a:t>
            </a:r>
          </a:p>
        </p:txBody>
      </p:sp>
      <p:sp>
        <p:nvSpPr>
          <p:cNvPr id="11" name="TextBox 10"/>
          <p:cNvSpPr txBox="1"/>
          <p:nvPr/>
        </p:nvSpPr>
        <p:spPr>
          <a:xfrm>
            <a:off x="7635240" y="4991608"/>
            <a:ext cx="4007815" cy="1000252"/>
          </a:xfrm>
          <a:prstGeom prst="rect">
            <a:avLst/>
          </a:prstGeom>
          <a:noFill/>
        </p:spPr>
        <p:txBody>
          <a:bodyPr wrap="square" anchor="ctr"/>
          <a:lstStyle/>
          <a:p>
            <a:pPr algn="l" eaLnBrk="0">
              <a:lnSpc>
                <a:spcPct val="110000"/>
              </a:lnSpc>
              <a:spcAft>
                <a:spcPts val="400"/>
              </a:spcAft>
            </a:pPr>
            <a:r>
              <a:rPr sz="1700" b="1">
                <a:solidFill>
                  <a:srgbClr val="13294B"/>
                </a:solidFill>
                <a:latin typeface="맑은 고딕"/>
                <a:ea typeface="맑은 고딕"/>
                <a:cs typeface="맑은 고딕"/>
              </a:rPr>
              <a:t>수용 기준</a:t>
            </a:r>
          </a:p>
          <a:p>
            <a:pPr algn="l" eaLnBrk="0">
              <a:lnSpc>
                <a:spcPct val="110000"/>
              </a:lnSpc>
              <a:spcAft>
                <a:spcPts val="400"/>
              </a:spcAft>
            </a:pPr>
            <a:r>
              <a:rPr sz="1350" b="0">
                <a:solidFill>
                  <a:srgbClr val="1F2A3A"/>
                </a:solidFill>
                <a:latin typeface="맑은 고딕"/>
                <a:ea typeface="맑은 고딕"/>
                <a:cs typeface="맑은 고딕"/>
              </a:rPr>
              <a:t>기존 경보는 그대로인가: 변경 전과 같아야 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명세를 기준 문서로 삼는 구현</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AI에게 구현을 맡길 때 명세를 함께 주면, 결과가 어긋났을 때 구현과 명세 가운데 고칠 쪽을 가릴 수 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47</a:t>
            </a:r>
          </a:p>
        </p:txBody>
      </p:sp>
      <p:sp>
        <p:nvSpPr>
          <p:cNvPr id="6" name="Rounded Rectangle 5"/>
          <p:cNvSpPr/>
          <p:nvPr/>
        </p:nvSpPr>
        <p:spPr>
          <a:xfrm>
            <a:off x="548640" y="2105088"/>
            <a:ext cx="2485567" cy="3772534"/>
          </a:xfrm>
          <a:prstGeom prst="roundRect">
            <a:avLst>
              <a:gd name="adj" fmla="val 5000"/>
            </a:avLst>
          </a:prstGeom>
          <a:solidFill>
            <a:srgbClr val="F3F6F9"/>
          </a:solidFill>
          <a:ln>
            <a:noFill/>
          </a:ln>
        </p:spPr>
        <p:txBody>
          <a:bodyPr rtlCol="0" anchor="ctr"/>
          <a:lstStyle/>
          <a:p>
            <a:pPr algn="ctr"/>
          </a:p>
        </p:txBody>
      </p:sp>
      <p:sp>
        <p:nvSpPr>
          <p:cNvPr id="7" name="Oval 6"/>
          <p:cNvSpPr/>
          <p:nvPr/>
        </p:nvSpPr>
        <p:spPr>
          <a:xfrm>
            <a:off x="1425663" y="2287968"/>
            <a:ext cx="731520" cy="731520"/>
          </a:xfrm>
          <a:prstGeom prst="ellipse">
            <a:avLst/>
          </a:prstGeom>
          <a:solidFill>
            <a:srgbClr val="FFFFFF"/>
          </a:solidFill>
          <a:ln>
            <a:noFill/>
          </a:ln>
        </p:spPr>
        <p:txBody>
          <a:bodyPr rtlCol="0" anchor="ctr"/>
          <a:lstStyle/>
          <a:p>
            <a:pPr algn="ctr"/>
          </a:p>
        </p:txBody>
      </p:sp>
      <p:pic>
        <p:nvPicPr>
          <p:cNvPr id="8" name="아이콘:file-text" descr="file-text_13294B_1.6.png"/>
          <p:cNvPicPr>
            <a:picLocks noChangeAspect="1"/>
          </p:cNvPicPr>
          <p:nvPr/>
        </p:nvPicPr>
        <p:blipFill>
          <a:blip r:embed="rId3"/>
          <a:stretch>
            <a:fillRect/>
          </a:stretch>
        </p:blipFill>
        <p:spPr>
          <a:xfrm>
            <a:off x="1579283" y="2441587"/>
            <a:ext cx="424281" cy="424281"/>
          </a:xfrm>
          <a:prstGeom prst="rect">
            <a:avLst/>
          </a:prstGeom>
        </p:spPr>
      </p:pic>
      <p:sp>
        <p:nvSpPr>
          <p:cNvPr id="9" name="TextBox 8"/>
          <p:cNvSpPr txBox="1"/>
          <p:nvPr/>
        </p:nvSpPr>
        <p:spPr>
          <a:xfrm>
            <a:off x="621792"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명세를 고친다</a:t>
            </a:r>
          </a:p>
          <a:p>
            <a:pPr algn="ctr" eaLnBrk="0">
              <a:lnSpc>
                <a:spcPct val="110000"/>
              </a:lnSpc>
              <a:spcAft>
                <a:spcPts val="400"/>
              </a:spcAft>
            </a:pPr>
            <a:r>
              <a:rPr sz="1650" b="0">
                <a:solidFill>
                  <a:srgbClr val="1F2A3A"/>
                </a:solidFill>
                <a:latin typeface="맑은 고딕"/>
                <a:ea typeface="맑은 고딕"/>
                <a:cs typeface="맑은 고딕"/>
              </a:rPr>
              <a:t>달라지는 것과</a:t>
            </a:r>
          </a:p>
          <a:p>
            <a:pPr algn="ctr" eaLnBrk="0">
              <a:lnSpc>
                <a:spcPct val="110000"/>
              </a:lnSpc>
              <a:spcAft>
                <a:spcPts val="400"/>
              </a:spcAft>
            </a:pPr>
            <a:r>
              <a:rPr sz="1650" b="0">
                <a:solidFill>
                  <a:srgbClr val="1F2A3A"/>
                </a:solidFill>
                <a:latin typeface="맑은 고딕"/>
                <a:ea typeface="맑은 고딕"/>
                <a:cs typeface="맑은 고딕"/>
              </a:rPr>
              <a:t>지킬 것을 적는다</a:t>
            </a:r>
          </a:p>
        </p:txBody>
      </p:sp>
      <p:sp>
        <p:nvSpPr>
          <p:cNvPr id="10" name="Right Arrow 9"/>
          <p:cNvSpPr/>
          <p:nvPr/>
        </p:nvSpPr>
        <p:spPr>
          <a:xfrm>
            <a:off x="3098215" y="3854196"/>
            <a:ext cx="256031" cy="274320"/>
          </a:xfrm>
          <a:prstGeom prst="rightArrow">
            <a:avLst/>
          </a:prstGeom>
          <a:solidFill>
            <a:srgbClr val="13294B"/>
          </a:solidFill>
          <a:ln>
            <a:noFill/>
          </a:ln>
        </p:spPr>
        <p:txBody>
          <a:bodyPr rtlCol="0" anchor="ctr"/>
          <a:lstStyle/>
          <a:p>
            <a:pPr algn="ctr"/>
          </a:p>
        </p:txBody>
      </p:sp>
      <p:sp>
        <p:nvSpPr>
          <p:cNvPr id="11" name="Rounded Rectangle 10"/>
          <p:cNvSpPr/>
          <p:nvPr/>
        </p:nvSpPr>
        <p:spPr>
          <a:xfrm>
            <a:off x="3418255" y="2105088"/>
            <a:ext cx="2485567" cy="3772534"/>
          </a:xfrm>
          <a:prstGeom prst="roundRect">
            <a:avLst>
              <a:gd name="adj" fmla="val 5000"/>
            </a:avLst>
          </a:prstGeom>
          <a:solidFill>
            <a:srgbClr val="F3F6F9"/>
          </a:solidFill>
          <a:ln>
            <a:noFill/>
          </a:ln>
        </p:spPr>
        <p:txBody>
          <a:bodyPr rtlCol="0" anchor="ctr"/>
          <a:lstStyle/>
          <a:p>
            <a:pPr algn="ctr"/>
          </a:p>
        </p:txBody>
      </p:sp>
      <p:sp>
        <p:nvSpPr>
          <p:cNvPr id="12" name="Oval 11"/>
          <p:cNvSpPr/>
          <p:nvPr/>
        </p:nvSpPr>
        <p:spPr>
          <a:xfrm>
            <a:off x="4295279" y="2287968"/>
            <a:ext cx="731520" cy="731520"/>
          </a:xfrm>
          <a:prstGeom prst="ellipse">
            <a:avLst/>
          </a:prstGeom>
          <a:solidFill>
            <a:srgbClr val="FFFFFF"/>
          </a:solidFill>
          <a:ln>
            <a:noFill/>
          </a:ln>
        </p:spPr>
        <p:txBody>
          <a:bodyPr rtlCol="0" anchor="ctr"/>
          <a:lstStyle/>
          <a:p>
            <a:pPr algn="ctr"/>
          </a:p>
        </p:txBody>
      </p:sp>
      <p:pic>
        <p:nvPicPr>
          <p:cNvPr id="13" name="아이콘:robot" descr="robot_13294B_1.6.png"/>
          <p:cNvPicPr>
            <a:picLocks noChangeAspect="1"/>
          </p:cNvPicPr>
          <p:nvPr/>
        </p:nvPicPr>
        <p:blipFill>
          <a:blip r:embed="rId4"/>
          <a:stretch>
            <a:fillRect/>
          </a:stretch>
        </p:blipFill>
        <p:spPr>
          <a:xfrm>
            <a:off x="4448898" y="2441587"/>
            <a:ext cx="424281" cy="424281"/>
          </a:xfrm>
          <a:prstGeom prst="rect">
            <a:avLst/>
          </a:prstGeom>
        </p:spPr>
      </p:pic>
      <p:sp>
        <p:nvSpPr>
          <p:cNvPr id="14" name="TextBox 13"/>
          <p:cNvSpPr txBox="1"/>
          <p:nvPr/>
        </p:nvSpPr>
        <p:spPr>
          <a:xfrm>
            <a:off x="3491407"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구현을 맡긴다</a:t>
            </a:r>
          </a:p>
          <a:p>
            <a:pPr algn="ctr" eaLnBrk="0">
              <a:lnSpc>
                <a:spcPct val="110000"/>
              </a:lnSpc>
              <a:spcAft>
                <a:spcPts val="400"/>
              </a:spcAft>
            </a:pPr>
            <a:r>
              <a:rPr sz="1650" b="0">
                <a:solidFill>
                  <a:srgbClr val="1F2A3A"/>
                </a:solidFill>
                <a:latin typeface="맑은 고딕"/>
                <a:ea typeface="맑은 고딕"/>
                <a:cs typeface="맑은 고딕"/>
              </a:rPr>
              <a:t>명세를 함께 주고</a:t>
            </a:r>
          </a:p>
          <a:p>
            <a:pPr algn="ctr" eaLnBrk="0">
              <a:lnSpc>
                <a:spcPct val="110000"/>
              </a:lnSpc>
              <a:spcAft>
                <a:spcPts val="400"/>
              </a:spcAft>
            </a:pPr>
            <a:r>
              <a:rPr sz="1650" b="0">
                <a:solidFill>
                  <a:srgbClr val="1F2A3A"/>
                </a:solidFill>
                <a:latin typeface="맑은 고딕"/>
                <a:ea typeface="맑은 고딕"/>
                <a:cs typeface="맑은 고딕"/>
              </a:rPr>
              <a:t>AI가 코드를 고친다</a:t>
            </a:r>
          </a:p>
        </p:txBody>
      </p:sp>
      <p:sp>
        <p:nvSpPr>
          <p:cNvPr id="15" name="Right Arrow 14"/>
          <p:cNvSpPr/>
          <p:nvPr/>
        </p:nvSpPr>
        <p:spPr>
          <a:xfrm>
            <a:off x="5967831" y="3854196"/>
            <a:ext cx="256031" cy="274320"/>
          </a:xfrm>
          <a:prstGeom prst="rightArrow">
            <a:avLst/>
          </a:prstGeom>
          <a:solidFill>
            <a:srgbClr val="13294B"/>
          </a:solidFill>
          <a:ln>
            <a:noFill/>
          </a:ln>
        </p:spPr>
        <p:txBody>
          <a:bodyPr rtlCol="0" anchor="ctr"/>
          <a:lstStyle/>
          <a:p>
            <a:pPr algn="ctr"/>
          </a:p>
        </p:txBody>
      </p:sp>
      <p:sp>
        <p:nvSpPr>
          <p:cNvPr id="16" name="Rounded Rectangle 15"/>
          <p:cNvSpPr/>
          <p:nvPr/>
        </p:nvSpPr>
        <p:spPr>
          <a:xfrm>
            <a:off x="6287871" y="2105088"/>
            <a:ext cx="2485567" cy="3772534"/>
          </a:xfrm>
          <a:prstGeom prst="roundRect">
            <a:avLst>
              <a:gd name="adj" fmla="val 5000"/>
            </a:avLst>
          </a:prstGeom>
          <a:solidFill>
            <a:srgbClr val="E7F3FD"/>
          </a:solidFill>
          <a:ln w="25400">
            <a:solidFill>
              <a:srgbClr val="5CB8F2"/>
            </a:solidFill>
          </a:ln>
        </p:spPr>
        <p:txBody>
          <a:bodyPr rtlCol="0" anchor="ctr"/>
          <a:lstStyle/>
          <a:p>
            <a:pPr algn="ctr"/>
          </a:p>
        </p:txBody>
      </p:sp>
      <p:sp>
        <p:nvSpPr>
          <p:cNvPr id="17" name="Oval 16"/>
          <p:cNvSpPr/>
          <p:nvPr/>
        </p:nvSpPr>
        <p:spPr>
          <a:xfrm>
            <a:off x="7164895" y="2287968"/>
            <a:ext cx="731520" cy="731520"/>
          </a:xfrm>
          <a:prstGeom prst="ellipse">
            <a:avLst/>
          </a:prstGeom>
          <a:solidFill>
            <a:srgbClr val="5CB8F2"/>
          </a:solidFill>
          <a:ln>
            <a:noFill/>
          </a:ln>
        </p:spPr>
        <p:txBody>
          <a:bodyPr rtlCol="0" anchor="ctr"/>
          <a:lstStyle/>
          <a:p>
            <a:pPr algn="ctr"/>
          </a:p>
        </p:txBody>
      </p:sp>
      <p:pic>
        <p:nvPicPr>
          <p:cNvPr id="18" name="아이콘:checks" descr="checks_13294B_1.6.png"/>
          <p:cNvPicPr>
            <a:picLocks noChangeAspect="1"/>
          </p:cNvPicPr>
          <p:nvPr/>
        </p:nvPicPr>
        <p:blipFill>
          <a:blip r:embed="rId5"/>
          <a:stretch>
            <a:fillRect/>
          </a:stretch>
        </p:blipFill>
        <p:spPr>
          <a:xfrm>
            <a:off x="7318514" y="2441587"/>
            <a:ext cx="424281" cy="424281"/>
          </a:xfrm>
          <a:prstGeom prst="rect">
            <a:avLst/>
          </a:prstGeom>
        </p:spPr>
      </p:pic>
      <p:sp>
        <p:nvSpPr>
          <p:cNvPr id="19" name="TextBox 18"/>
          <p:cNvSpPr txBox="1"/>
          <p:nvPr/>
        </p:nvSpPr>
        <p:spPr>
          <a:xfrm>
            <a:off x="6361023"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수용 기준으로 확인한다</a:t>
            </a:r>
          </a:p>
          <a:p>
            <a:pPr algn="ctr" eaLnBrk="0">
              <a:lnSpc>
                <a:spcPct val="110000"/>
              </a:lnSpc>
              <a:spcAft>
                <a:spcPts val="400"/>
              </a:spcAft>
            </a:pPr>
            <a:r>
              <a:rPr sz="1650" b="0">
                <a:solidFill>
                  <a:srgbClr val="1F2A3A"/>
                </a:solidFill>
                <a:latin typeface="맑은 고딕"/>
                <a:ea typeface="맑은 고딕"/>
                <a:cs typeface="맑은 고딕"/>
              </a:rPr>
              <a:t>기준마다 실행해</a:t>
            </a:r>
          </a:p>
          <a:p>
            <a:pPr algn="ctr" eaLnBrk="0">
              <a:lnSpc>
                <a:spcPct val="110000"/>
              </a:lnSpc>
              <a:spcAft>
                <a:spcPts val="400"/>
              </a:spcAft>
            </a:pPr>
            <a:r>
              <a:rPr sz="1650" b="0">
                <a:solidFill>
                  <a:srgbClr val="1F2A3A"/>
                </a:solidFill>
                <a:latin typeface="맑은 고딕"/>
                <a:ea typeface="맑은 고딕"/>
                <a:cs typeface="맑은 고딕"/>
              </a:rPr>
              <a:t>참과 거짓을 가린다</a:t>
            </a:r>
          </a:p>
        </p:txBody>
      </p:sp>
      <p:sp>
        <p:nvSpPr>
          <p:cNvPr id="20" name="Right Arrow 19"/>
          <p:cNvSpPr/>
          <p:nvPr/>
        </p:nvSpPr>
        <p:spPr>
          <a:xfrm>
            <a:off x="8837447" y="3854196"/>
            <a:ext cx="256031" cy="274320"/>
          </a:xfrm>
          <a:prstGeom prst="rightArrow">
            <a:avLst/>
          </a:prstGeom>
          <a:solidFill>
            <a:srgbClr val="13294B"/>
          </a:solidFill>
          <a:ln>
            <a:noFill/>
          </a:ln>
        </p:spPr>
        <p:txBody>
          <a:bodyPr rtlCol="0" anchor="ctr"/>
          <a:lstStyle/>
          <a:p>
            <a:pPr algn="ctr"/>
          </a:p>
        </p:txBody>
      </p:sp>
      <p:sp>
        <p:nvSpPr>
          <p:cNvPr id="21" name="Rounded Rectangle 20"/>
          <p:cNvSpPr/>
          <p:nvPr/>
        </p:nvSpPr>
        <p:spPr>
          <a:xfrm>
            <a:off x="9157487" y="2105088"/>
            <a:ext cx="2485567" cy="3772534"/>
          </a:xfrm>
          <a:prstGeom prst="roundRect">
            <a:avLst>
              <a:gd name="adj" fmla="val 5000"/>
            </a:avLst>
          </a:prstGeom>
          <a:solidFill>
            <a:srgbClr val="F3F6F9"/>
          </a:solidFill>
          <a:ln>
            <a:noFill/>
          </a:ln>
        </p:spPr>
        <p:txBody>
          <a:bodyPr rtlCol="0" anchor="ctr"/>
          <a:lstStyle/>
          <a:p>
            <a:pPr algn="ctr"/>
          </a:p>
        </p:txBody>
      </p:sp>
      <p:sp>
        <p:nvSpPr>
          <p:cNvPr id="22" name="Oval 21"/>
          <p:cNvSpPr/>
          <p:nvPr/>
        </p:nvSpPr>
        <p:spPr>
          <a:xfrm>
            <a:off x="10034511" y="2287968"/>
            <a:ext cx="731520" cy="731520"/>
          </a:xfrm>
          <a:prstGeom prst="ellipse">
            <a:avLst/>
          </a:prstGeom>
          <a:solidFill>
            <a:srgbClr val="FFFFFF"/>
          </a:solidFill>
          <a:ln>
            <a:noFill/>
          </a:ln>
        </p:spPr>
        <p:txBody>
          <a:bodyPr rtlCol="0" anchor="ctr"/>
          <a:lstStyle/>
          <a:p>
            <a:pPr algn="ctr"/>
          </a:p>
        </p:txBody>
      </p:sp>
      <p:pic>
        <p:nvPicPr>
          <p:cNvPr id="23" name="아이콘:arrow-back-up" descr="arrow-back-up_13294B_1.6.png"/>
          <p:cNvPicPr>
            <a:picLocks noChangeAspect="1"/>
          </p:cNvPicPr>
          <p:nvPr/>
        </p:nvPicPr>
        <p:blipFill>
          <a:blip r:embed="rId6"/>
          <a:stretch>
            <a:fillRect/>
          </a:stretch>
        </p:blipFill>
        <p:spPr>
          <a:xfrm>
            <a:off x="10188130" y="2441587"/>
            <a:ext cx="424281" cy="424281"/>
          </a:xfrm>
          <a:prstGeom prst="rect">
            <a:avLst/>
          </a:prstGeom>
        </p:spPr>
      </p:pic>
      <p:sp>
        <p:nvSpPr>
          <p:cNvPr id="24" name="TextBox 23"/>
          <p:cNvSpPr txBox="1"/>
          <p:nvPr/>
        </p:nvSpPr>
        <p:spPr>
          <a:xfrm>
            <a:off x="9230639" y="3092640"/>
            <a:ext cx="2339263" cy="2711830"/>
          </a:xfrm>
          <a:prstGeom prst="rect">
            <a:avLst/>
          </a:prstGeom>
          <a:noFill/>
        </p:spPr>
        <p:txBody>
          <a:bodyPr wrap="square" anchor="t"/>
          <a:lstStyle/>
          <a:p>
            <a:pPr algn="ctr" eaLnBrk="0">
              <a:lnSpc>
                <a:spcPct val="110000"/>
              </a:lnSpc>
              <a:spcAft>
                <a:spcPts val="400"/>
              </a:spcAft>
            </a:pPr>
            <a:r>
              <a:rPr sz="2000" b="1">
                <a:solidFill>
                  <a:srgbClr val="13294B"/>
                </a:solidFill>
                <a:latin typeface="맑은 고딕"/>
                <a:ea typeface="맑은 고딕"/>
                <a:cs typeface="맑은 고딕"/>
              </a:rPr>
              <a:t>어긋난 곳을 고친다</a:t>
            </a:r>
          </a:p>
          <a:p>
            <a:pPr algn="ctr" eaLnBrk="0">
              <a:lnSpc>
                <a:spcPct val="110000"/>
              </a:lnSpc>
              <a:spcAft>
                <a:spcPts val="400"/>
              </a:spcAft>
            </a:pPr>
            <a:r>
              <a:rPr sz="1650" b="0">
                <a:solidFill>
                  <a:srgbClr val="1F2A3A"/>
                </a:solidFill>
                <a:latin typeface="맑은 고딕"/>
                <a:ea typeface="맑은 고딕"/>
                <a:cs typeface="맑은 고딕"/>
              </a:rPr>
              <a:t>구현이 틀렸으면 구현을,</a:t>
            </a:r>
          </a:p>
          <a:p>
            <a:pPr algn="ctr" eaLnBrk="0">
              <a:lnSpc>
                <a:spcPct val="110000"/>
              </a:lnSpc>
              <a:spcAft>
                <a:spcPts val="400"/>
              </a:spcAft>
            </a:pPr>
            <a:r>
              <a:rPr sz="1650" b="0">
                <a:solidFill>
                  <a:srgbClr val="1F2A3A"/>
                </a:solidFill>
                <a:latin typeface="맑은 고딕"/>
                <a:ea typeface="맑은 고딕"/>
                <a:cs typeface="맑은 고딕"/>
              </a:rPr>
              <a:t>명세에 빠진 것이 있으면</a:t>
            </a:r>
          </a:p>
          <a:p>
            <a:pPr algn="ctr" eaLnBrk="0">
              <a:lnSpc>
                <a:spcPct val="110000"/>
              </a:lnSpc>
              <a:spcAft>
                <a:spcPts val="400"/>
              </a:spcAft>
            </a:pPr>
            <a:r>
              <a:rPr sz="1650" b="0">
                <a:solidFill>
                  <a:srgbClr val="1F2A3A"/>
                </a:solidFill>
                <a:latin typeface="맑은 고딕"/>
                <a:ea typeface="맑은 고딕"/>
                <a:cs typeface="맑은 고딕"/>
              </a:rPr>
              <a:t>명세를 고친다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명세를 실행되는 검사로 옮긴 두 가지 예</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명세에 적은 기대 결과와 금지 조건은 실행되는 검사로 옮겨 두어야 변경할 때마다 대조된다.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48</a:t>
            </a:r>
          </a:p>
        </p:txBody>
      </p:sp>
      <p:sp>
        <p:nvSpPr>
          <p:cNvPr id="6" name="Rounded Rectangle 5"/>
          <p:cNvSpPr/>
          <p:nvPr/>
        </p:nvSpPr>
        <p:spPr>
          <a:xfrm>
            <a:off x="548640" y="2143505"/>
            <a:ext cx="5181447" cy="3695700"/>
          </a:xfrm>
          <a:prstGeom prst="roundRect">
            <a:avLst>
              <a:gd name="adj" fmla="val 4000"/>
            </a:avLst>
          </a:prstGeom>
          <a:solidFill>
            <a:srgbClr val="F3F6F9"/>
          </a:solidFill>
          <a:ln>
            <a:noFill/>
          </a:ln>
        </p:spPr>
        <p:txBody>
          <a:bodyPr rtlCol="0" anchor="ctr"/>
          <a:lstStyle/>
          <a:p>
            <a:pPr algn="ctr"/>
          </a:p>
        </p:txBody>
      </p:sp>
      <p:sp>
        <p:nvSpPr>
          <p:cNvPr id="7" name="Oval 6"/>
          <p:cNvSpPr/>
          <p:nvPr/>
        </p:nvSpPr>
        <p:spPr>
          <a:xfrm>
            <a:off x="822959" y="2344674"/>
            <a:ext cx="731520" cy="731520"/>
          </a:xfrm>
          <a:prstGeom prst="ellipse">
            <a:avLst/>
          </a:prstGeom>
          <a:solidFill>
            <a:srgbClr val="FFFFFF"/>
          </a:solidFill>
          <a:ln>
            <a:noFill/>
          </a:ln>
        </p:spPr>
        <p:txBody>
          <a:bodyPr rtlCol="0" anchor="ctr"/>
          <a:lstStyle/>
          <a:p>
            <a:pPr algn="ctr"/>
          </a:p>
        </p:txBody>
      </p:sp>
      <p:pic>
        <p:nvPicPr>
          <p:cNvPr id="8" name="아이콘:camera" descr="camera_13294B_1.6.png"/>
          <p:cNvPicPr>
            <a:picLocks noChangeAspect="1"/>
          </p:cNvPicPr>
          <p:nvPr/>
        </p:nvPicPr>
        <p:blipFill>
          <a:blip r:embed="rId3"/>
          <a:stretch>
            <a:fillRect/>
          </a:stretch>
        </p:blipFill>
        <p:spPr>
          <a:xfrm>
            <a:off x="976579" y="2498293"/>
            <a:ext cx="424281" cy="424281"/>
          </a:xfrm>
          <a:prstGeom prst="rect">
            <a:avLst/>
          </a:prstGeom>
        </p:spPr>
      </p:pic>
      <p:sp>
        <p:nvSpPr>
          <p:cNvPr id="9" name="TextBox 8"/>
          <p:cNvSpPr txBox="1"/>
          <p:nvPr/>
        </p:nvSpPr>
        <p:spPr>
          <a:xfrm>
            <a:off x="1691640"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기대 결과의 저장</a:t>
            </a:r>
          </a:p>
        </p:txBody>
      </p:sp>
      <p:sp>
        <p:nvSpPr>
          <p:cNvPr id="10" name="TextBox 9"/>
          <p:cNvSpPr txBox="1"/>
          <p:nvPr/>
        </p:nvSpPr>
        <p:spPr>
          <a:xfrm>
            <a:off x="822959"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같은 경보에 대한 추천안의 기대 결과를 저장해 둔다</a:t>
            </a:r>
          </a:p>
          <a:p>
            <a:pPr algn="l" eaLnBrk="0" marL="205740" indent="-205740">
              <a:lnSpc>
                <a:spcPct val="110000"/>
              </a:lnSpc>
              <a:spcAft>
                <a:spcPts val="600"/>
              </a:spcAft>
            </a:pPr>
            <a:r>
              <a:rPr sz="1800" b="0">
                <a:solidFill>
                  <a:srgbClr val="1F2A3A"/>
                </a:solidFill>
                <a:latin typeface="맑은 고딕"/>
                <a:ea typeface="맑은 고딕"/>
                <a:cs typeface="맑은 고딕"/>
              </a:rPr>
              <a:t>• 변경 뒤의 결과를 저장한 것과 견준다</a:t>
            </a:r>
          </a:p>
          <a:p>
            <a:pPr algn="l" eaLnBrk="0" marL="205740" indent="-205740">
              <a:lnSpc>
                <a:spcPct val="110000"/>
              </a:lnSpc>
              <a:spcAft>
                <a:spcPts val="600"/>
              </a:spcAft>
            </a:pPr>
            <a:r>
              <a:rPr sz="1800" b="0">
                <a:solidFill>
                  <a:srgbClr val="1F2A3A"/>
                </a:solidFill>
                <a:latin typeface="맑은 고딕"/>
                <a:ea typeface="맑은 고딕"/>
                <a:cs typeface="맑은 고딕"/>
              </a:rPr>
              <a:t>• 결과를 일부러 바꿀 때에만 근거와 함께 갱신한다</a:t>
            </a:r>
          </a:p>
        </p:txBody>
      </p:sp>
      <p:sp>
        <p:nvSpPr>
          <p:cNvPr id="11" name="Rounded Rectangle 10"/>
          <p:cNvSpPr/>
          <p:nvPr/>
        </p:nvSpPr>
        <p:spPr>
          <a:xfrm>
            <a:off x="868680" y="5382006"/>
            <a:ext cx="1173480" cy="292608"/>
          </a:xfrm>
          <a:prstGeom prst="roundRect">
            <a:avLst>
              <a:gd name="adj" fmla="val 50000"/>
            </a:avLst>
          </a:prstGeom>
          <a:solidFill>
            <a:srgbClr val="D3D9E1"/>
          </a:solidFill>
          <a:ln>
            <a:noFill/>
          </a:ln>
        </p:spPr>
        <p:txBody>
          <a:bodyPr rtlCol="0" anchor="ctr"/>
          <a:lstStyle/>
          <a:p>
            <a:pPr algn="ctr"/>
          </a:p>
        </p:txBody>
      </p:sp>
      <p:sp>
        <p:nvSpPr>
          <p:cNvPr id="12" name="TextBox 11"/>
          <p:cNvSpPr txBox="1"/>
          <p:nvPr/>
        </p:nvSpPr>
        <p:spPr>
          <a:xfrm>
            <a:off x="868680" y="5382006"/>
            <a:ext cx="11734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출력의 보존</a:t>
            </a:r>
          </a:p>
        </p:txBody>
      </p:sp>
      <p:sp>
        <p:nvSpPr>
          <p:cNvPr id="13" name="Rounded Rectangle 12"/>
          <p:cNvSpPr/>
          <p:nvPr/>
        </p:nvSpPr>
        <p:spPr>
          <a:xfrm>
            <a:off x="6461607" y="2143505"/>
            <a:ext cx="5181447" cy="3695700"/>
          </a:xfrm>
          <a:prstGeom prst="roundRect">
            <a:avLst>
              <a:gd name="adj" fmla="val 4000"/>
            </a:avLst>
          </a:prstGeom>
          <a:solidFill>
            <a:srgbClr val="E7F3FD"/>
          </a:solidFill>
          <a:ln w="28575">
            <a:solidFill>
              <a:srgbClr val="5CB8F2"/>
            </a:solidFill>
          </a:ln>
        </p:spPr>
        <p:txBody>
          <a:bodyPr rtlCol="0" anchor="ctr"/>
          <a:lstStyle/>
          <a:p>
            <a:pPr algn="ctr"/>
          </a:p>
        </p:txBody>
      </p:sp>
      <p:sp>
        <p:nvSpPr>
          <p:cNvPr id="14" name="Oval 13"/>
          <p:cNvSpPr/>
          <p:nvPr/>
        </p:nvSpPr>
        <p:spPr>
          <a:xfrm>
            <a:off x="6735927" y="2344674"/>
            <a:ext cx="731520" cy="731520"/>
          </a:xfrm>
          <a:prstGeom prst="ellipse">
            <a:avLst/>
          </a:prstGeom>
          <a:solidFill>
            <a:srgbClr val="5CB8F2"/>
          </a:solidFill>
          <a:ln>
            <a:noFill/>
          </a:ln>
        </p:spPr>
        <p:txBody>
          <a:bodyPr rtlCol="0" anchor="ctr"/>
          <a:lstStyle/>
          <a:p>
            <a:pPr algn="ctr"/>
          </a:p>
        </p:txBody>
      </p:sp>
      <p:pic>
        <p:nvPicPr>
          <p:cNvPr id="15" name="아이콘:lock" descr="lock_13294B_1.6.png"/>
          <p:cNvPicPr>
            <a:picLocks noChangeAspect="1"/>
          </p:cNvPicPr>
          <p:nvPr/>
        </p:nvPicPr>
        <p:blipFill>
          <a:blip r:embed="rId4"/>
          <a:stretch>
            <a:fillRect/>
          </a:stretch>
        </p:blipFill>
        <p:spPr>
          <a:xfrm>
            <a:off x="6889546" y="2498293"/>
            <a:ext cx="424281" cy="424281"/>
          </a:xfrm>
          <a:prstGeom prst="rect">
            <a:avLst/>
          </a:prstGeom>
        </p:spPr>
      </p:pic>
      <p:sp>
        <p:nvSpPr>
          <p:cNvPr id="16" name="TextBox 15"/>
          <p:cNvSpPr txBox="1"/>
          <p:nvPr/>
        </p:nvSpPr>
        <p:spPr>
          <a:xfrm>
            <a:off x="7604607" y="2344674"/>
            <a:ext cx="3855567" cy="731520"/>
          </a:xfrm>
          <a:prstGeom prst="rect">
            <a:avLst/>
          </a:prstGeom>
          <a:noFill/>
        </p:spPr>
        <p:txBody>
          <a:bodyPr wrap="square" anchor="ctr"/>
          <a:lstStyle/>
          <a:p>
            <a:pPr algn="l" eaLnBrk="0">
              <a:lnSpc>
                <a:spcPct val="110000"/>
              </a:lnSpc>
            </a:pPr>
            <a:r>
              <a:rPr sz="2000" b="1">
                <a:solidFill>
                  <a:srgbClr val="13294B"/>
                </a:solidFill>
                <a:latin typeface="맑은 고딕"/>
                <a:ea typeface="맑은 고딕"/>
                <a:cs typeface="맑은 고딕"/>
              </a:rPr>
              <a:t>금지 조건의 고정</a:t>
            </a:r>
          </a:p>
        </p:txBody>
      </p:sp>
      <p:sp>
        <p:nvSpPr>
          <p:cNvPr id="17" name="TextBox 16"/>
          <p:cNvSpPr txBox="1"/>
          <p:nvPr/>
        </p:nvSpPr>
        <p:spPr>
          <a:xfrm>
            <a:off x="6735927" y="3195065"/>
            <a:ext cx="4632807" cy="2095500"/>
          </a:xfrm>
          <a:prstGeom prst="rect">
            <a:avLst/>
          </a:prstGeom>
          <a:noFill/>
        </p:spPr>
        <p:txBody>
          <a:bodyPr wrap="square" anchor="t"/>
          <a:lstStyle/>
          <a:p>
            <a:pPr algn="l" eaLnBrk="0" marL="205740" indent="-205740">
              <a:lnSpc>
                <a:spcPct val="110000"/>
              </a:lnSpc>
              <a:spcAft>
                <a:spcPts val="600"/>
              </a:spcAft>
            </a:pPr>
            <a:r>
              <a:rPr sz="1800" b="0">
                <a:solidFill>
                  <a:srgbClr val="1F2A3A"/>
                </a:solidFill>
                <a:latin typeface="맑은 고딕"/>
                <a:ea typeface="맑은 고딕"/>
                <a:cs typeface="맑은 고딕"/>
              </a:rPr>
              <a:t>• 기준 에이전트의 작업 규칙을 고정해 둔다</a:t>
            </a:r>
          </a:p>
          <a:p>
            <a:pPr algn="l" eaLnBrk="0" marL="205740" indent="-205740">
              <a:lnSpc>
                <a:spcPct val="110000"/>
              </a:lnSpc>
              <a:spcAft>
                <a:spcPts val="600"/>
              </a:spcAft>
            </a:pPr>
            <a:r>
              <a:rPr sz="1800" b="0">
                <a:solidFill>
                  <a:srgbClr val="1F2A3A"/>
                </a:solidFill>
                <a:latin typeface="맑은 고딕"/>
                <a:ea typeface="맑은 고딕"/>
                <a:cs typeface="맑은 고딕"/>
              </a:rPr>
              <a:t>• 한 글자라도 달라지면 검사가 실패한다</a:t>
            </a:r>
          </a:p>
          <a:p>
            <a:pPr algn="l" eaLnBrk="0" marL="205740" indent="-205740">
              <a:lnSpc>
                <a:spcPct val="110000"/>
              </a:lnSpc>
              <a:spcAft>
                <a:spcPts val="600"/>
              </a:spcAft>
            </a:pPr>
            <a:r>
              <a:rPr sz="1800" b="0">
                <a:solidFill>
                  <a:srgbClr val="1F2A3A"/>
                </a:solidFill>
                <a:latin typeface="맑은 고딕"/>
                <a:ea typeface="맑은 고딕"/>
                <a:cs typeface="맑은 고딕"/>
              </a:rPr>
              <a:t>• 「절대 금지」가 변경 도중에 빠지는 일을 막는다</a:t>
            </a:r>
          </a:p>
        </p:txBody>
      </p:sp>
      <p:sp>
        <p:nvSpPr>
          <p:cNvPr id="18" name="Rounded Rectangle 17"/>
          <p:cNvSpPr/>
          <p:nvPr/>
        </p:nvSpPr>
        <p:spPr>
          <a:xfrm>
            <a:off x="6781647" y="5382006"/>
            <a:ext cx="1523999" cy="292608"/>
          </a:xfrm>
          <a:prstGeom prst="roundRect">
            <a:avLst>
              <a:gd name="adj" fmla="val 50000"/>
            </a:avLst>
          </a:prstGeom>
          <a:solidFill>
            <a:srgbClr val="5CB8F2"/>
          </a:solidFill>
          <a:ln>
            <a:noFill/>
          </a:ln>
        </p:spPr>
        <p:txBody>
          <a:bodyPr rtlCol="0" anchor="ctr"/>
          <a:lstStyle/>
          <a:p>
            <a:pPr algn="ctr"/>
          </a:p>
        </p:txBody>
      </p:sp>
      <p:sp>
        <p:nvSpPr>
          <p:cNvPr id="19" name="TextBox 18"/>
          <p:cNvSpPr txBox="1"/>
          <p:nvPr/>
        </p:nvSpPr>
        <p:spPr>
          <a:xfrm>
            <a:off x="6781647" y="5382006"/>
            <a:ext cx="152399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금지 조건의 보존</a:t>
            </a:r>
          </a:p>
        </p:txBody>
      </p:sp>
      <p:sp>
        <p:nvSpPr>
          <p:cNvPr id="20" name="Oval 19"/>
          <p:cNvSpPr/>
          <p:nvPr/>
        </p:nvSpPr>
        <p:spPr>
          <a:xfrm>
            <a:off x="5821527" y="3717036"/>
            <a:ext cx="548640" cy="548640"/>
          </a:xfrm>
          <a:prstGeom prst="ellipse">
            <a:avLst/>
          </a:prstGeom>
          <a:solidFill>
            <a:srgbClr val="13294B"/>
          </a:solidFill>
          <a:ln>
            <a:noFill/>
          </a:ln>
        </p:spPr>
        <p:txBody>
          <a:bodyPr rtlCol="0" anchor="ctr"/>
          <a:lstStyle/>
          <a:p>
            <a:pPr algn="ctr"/>
          </a:p>
        </p:txBody>
      </p:sp>
      <p:sp>
        <p:nvSpPr>
          <p:cNvPr id="21" name="TextBox 20"/>
          <p:cNvSpPr txBox="1"/>
          <p:nvPr/>
        </p:nvSpPr>
        <p:spPr>
          <a:xfrm>
            <a:off x="5821527" y="3717036"/>
            <a:ext cx="548640" cy="548640"/>
          </a:xfrm>
          <a:prstGeom prst="rect">
            <a:avLst/>
          </a:prstGeom>
          <a:noFill/>
        </p:spPr>
        <p:txBody>
          <a:bodyPr wrap="square" anchor="ctr"/>
          <a:lstStyle/>
          <a:p>
            <a:pPr algn="ctr" eaLnBrk="0">
              <a:lnSpc>
                <a:spcPct val="110000"/>
              </a:lnSpc>
            </a:pPr>
            <a:r>
              <a:rPr sz="1400" b="1">
                <a:solidFill>
                  <a:srgbClr val="FFFFFF"/>
                </a:solidFill>
                <a:latin typeface="맑은 고딕"/>
                <a:ea typeface="맑은 고딕"/>
                <a:cs typeface="맑은 고딕"/>
              </a:rPr>
              <a:t>vs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변경 뒤의 확인: 기존 요청과 새 요청을 함께 실행한다</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변경 뒤에는 기존 요청과 새 요청을 함께 다시 실행하고, 그 입력과 기대 결과를 저장해 다음 검증에 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49</a:t>
            </a:r>
          </a:p>
        </p:txBody>
      </p:sp>
      <p:sp>
        <p:nvSpPr>
          <p:cNvPr id="6" name="Rounded Rectangle 5"/>
          <p:cNvSpPr/>
          <p:nvPr/>
        </p:nvSpPr>
        <p:spPr>
          <a:xfrm>
            <a:off x="548640" y="2526284"/>
            <a:ext cx="3515258" cy="293014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7" name="Oval 6"/>
          <p:cNvSpPr/>
          <p:nvPr/>
        </p:nvSpPr>
        <p:spPr>
          <a:xfrm>
            <a:off x="777240" y="2727452"/>
            <a:ext cx="731520" cy="731520"/>
          </a:xfrm>
          <a:prstGeom prst="ellipse">
            <a:avLst/>
          </a:prstGeom>
          <a:solidFill>
            <a:srgbClr val="E7F3FD"/>
          </a:solidFill>
          <a:ln>
            <a:noFill/>
          </a:ln>
        </p:spPr>
        <p:txBody>
          <a:bodyPr rtlCol="0" anchor="ctr"/>
          <a:lstStyle/>
          <a:p>
            <a:pPr algn="ctr"/>
          </a:p>
        </p:txBody>
      </p:sp>
      <p:pic>
        <p:nvPicPr>
          <p:cNvPr id="8" name="아이콘:history" descr="history_13294B_1.6.png"/>
          <p:cNvPicPr>
            <a:picLocks noChangeAspect="1"/>
          </p:cNvPicPr>
          <p:nvPr/>
        </p:nvPicPr>
        <p:blipFill>
          <a:blip r:embed="rId3"/>
          <a:stretch>
            <a:fillRect/>
          </a:stretch>
        </p:blipFill>
        <p:spPr>
          <a:xfrm>
            <a:off x="930859" y="2881071"/>
            <a:ext cx="424281" cy="424281"/>
          </a:xfrm>
          <a:prstGeom prst="rect">
            <a:avLst/>
          </a:prstGeom>
        </p:spPr>
      </p:pic>
      <p:sp>
        <p:nvSpPr>
          <p:cNvPr id="9" name="TextBox 8"/>
          <p:cNvSpPr txBox="1"/>
          <p:nvPr/>
        </p:nvSpPr>
        <p:spPr>
          <a:xfrm>
            <a:off x="713232" y="3550412"/>
            <a:ext cx="3186074" cy="140309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기존 요청</a:t>
            </a:r>
          </a:p>
          <a:p>
            <a:pPr algn="l" eaLnBrk="0" marL="171450" indent="-171450">
              <a:lnSpc>
                <a:spcPct val="110000"/>
              </a:lnSpc>
              <a:spcAft>
                <a:spcPts val="400"/>
              </a:spcAft>
            </a:pPr>
            <a:r>
              <a:rPr sz="1500" b="0">
                <a:solidFill>
                  <a:srgbClr val="1F2A3A"/>
                </a:solidFill>
                <a:latin typeface="맑은 고딕"/>
                <a:ea typeface="맑은 고딕"/>
                <a:cs typeface="맑은 고딕"/>
              </a:rPr>
              <a:t>• 입력: 긴급하지 않은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다섯 항목이 변경 전과 같고 승인 대기가 된다</a:t>
            </a:r>
          </a:p>
        </p:txBody>
      </p:sp>
      <p:sp>
        <p:nvSpPr>
          <p:cNvPr id="10" name="Rounded Rectangle 9"/>
          <p:cNvSpPr/>
          <p:nvPr/>
        </p:nvSpPr>
        <p:spPr>
          <a:xfrm>
            <a:off x="777240" y="5026660"/>
            <a:ext cx="1478280" cy="292608"/>
          </a:xfrm>
          <a:prstGeom prst="roundRect">
            <a:avLst>
              <a:gd name="adj" fmla="val 50000"/>
            </a:avLst>
          </a:prstGeom>
          <a:solidFill>
            <a:srgbClr val="D3D9E1"/>
          </a:solidFill>
          <a:ln>
            <a:noFill/>
          </a:ln>
        </p:spPr>
        <p:txBody>
          <a:bodyPr rtlCol="0" anchor="ctr"/>
          <a:lstStyle/>
          <a:p>
            <a:pPr algn="ctr"/>
          </a:p>
        </p:txBody>
      </p:sp>
      <p:sp>
        <p:nvSpPr>
          <p:cNvPr id="11" name="TextBox 10"/>
          <p:cNvSpPr txBox="1"/>
          <p:nvPr/>
        </p:nvSpPr>
        <p:spPr>
          <a:xfrm>
            <a:off x="777240" y="5026660"/>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그대로여야 한다</a:t>
            </a:r>
          </a:p>
        </p:txBody>
      </p:sp>
      <p:sp>
        <p:nvSpPr>
          <p:cNvPr id="12" name="Rounded Rectangle 11"/>
          <p:cNvSpPr/>
          <p:nvPr/>
        </p:nvSpPr>
        <p:spPr>
          <a:xfrm>
            <a:off x="4338218" y="2526284"/>
            <a:ext cx="3515258" cy="2930144"/>
          </a:xfrm>
          <a:prstGeom prst="roundRect">
            <a:avLst>
              <a:gd name="adj" fmla="val 4000"/>
            </a:avLst>
          </a:prstGeom>
          <a:solidFill>
            <a:srgbClr val="FFFFFF"/>
          </a:solidFill>
          <a:ln w="28575">
            <a:solidFill>
              <a:srgbClr val="5CB8F2"/>
            </a:solidFill>
          </a:ln>
        </p:spPr>
        <p:txBody>
          <a:bodyPr rtlCol="0" anchor="ctr"/>
          <a:lstStyle/>
          <a:p>
            <a:pPr algn="ctr"/>
          </a:p>
        </p:txBody>
      </p:sp>
      <p:sp>
        <p:nvSpPr>
          <p:cNvPr id="13" name="Oval 12"/>
          <p:cNvSpPr/>
          <p:nvPr/>
        </p:nvSpPr>
        <p:spPr>
          <a:xfrm>
            <a:off x="4566818" y="2727452"/>
            <a:ext cx="731520" cy="731520"/>
          </a:xfrm>
          <a:prstGeom prst="ellipse">
            <a:avLst/>
          </a:prstGeom>
          <a:solidFill>
            <a:srgbClr val="5CB8F2"/>
          </a:solidFill>
          <a:ln>
            <a:noFill/>
          </a:ln>
        </p:spPr>
        <p:txBody>
          <a:bodyPr rtlCol="0" anchor="ctr"/>
          <a:lstStyle/>
          <a:p>
            <a:pPr algn="ctr"/>
          </a:p>
        </p:txBody>
      </p:sp>
      <p:pic>
        <p:nvPicPr>
          <p:cNvPr id="14" name="아이콘:urgent" descr="urgent_13294B_1.6.png"/>
          <p:cNvPicPr>
            <a:picLocks noChangeAspect="1"/>
          </p:cNvPicPr>
          <p:nvPr/>
        </p:nvPicPr>
        <p:blipFill>
          <a:blip r:embed="rId4"/>
          <a:stretch>
            <a:fillRect/>
          </a:stretch>
        </p:blipFill>
        <p:spPr>
          <a:xfrm>
            <a:off x="4720437" y="2881071"/>
            <a:ext cx="424281" cy="424281"/>
          </a:xfrm>
          <a:prstGeom prst="rect">
            <a:avLst/>
          </a:prstGeom>
        </p:spPr>
      </p:pic>
      <p:sp>
        <p:nvSpPr>
          <p:cNvPr id="15" name="TextBox 14"/>
          <p:cNvSpPr txBox="1"/>
          <p:nvPr/>
        </p:nvSpPr>
        <p:spPr>
          <a:xfrm>
            <a:off x="4502810" y="3550412"/>
            <a:ext cx="3186074" cy="140309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새 요청</a:t>
            </a:r>
          </a:p>
          <a:p>
            <a:pPr algn="l" eaLnBrk="0" marL="171450" indent="-171450">
              <a:lnSpc>
                <a:spcPct val="110000"/>
              </a:lnSpc>
              <a:spcAft>
                <a:spcPts val="400"/>
              </a:spcAft>
            </a:pPr>
            <a:r>
              <a:rPr sz="1500" b="0">
                <a:solidFill>
                  <a:srgbClr val="1F2A3A"/>
                </a:solidFill>
                <a:latin typeface="맑은 고딕"/>
                <a:ea typeface="맑은 고딕"/>
                <a:cs typeface="맑은 고딕"/>
              </a:rPr>
              <a:t>• 입력: 유온 60 ℃ 이상의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urgent 항목이 더해지고 승인 대기가 된다</a:t>
            </a:r>
          </a:p>
        </p:txBody>
      </p:sp>
      <p:sp>
        <p:nvSpPr>
          <p:cNvPr id="16" name="Rounded Rectangle 15"/>
          <p:cNvSpPr/>
          <p:nvPr/>
        </p:nvSpPr>
        <p:spPr>
          <a:xfrm>
            <a:off x="4566818" y="5026660"/>
            <a:ext cx="1325879" cy="292608"/>
          </a:xfrm>
          <a:prstGeom prst="roundRect">
            <a:avLst>
              <a:gd name="adj" fmla="val 50000"/>
            </a:avLst>
          </a:prstGeom>
          <a:solidFill>
            <a:srgbClr val="5CB8F2"/>
          </a:solidFill>
          <a:ln>
            <a:noFill/>
          </a:ln>
        </p:spPr>
        <p:txBody>
          <a:bodyPr rtlCol="0" anchor="ctr"/>
          <a:lstStyle/>
          <a:p>
            <a:pPr algn="ctr"/>
          </a:p>
        </p:txBody>
      </p:sp>
      <p:sp>
        <p:nvSpPr>
          <p:cNvPr id="17" name="TextBox 16"/>
          <p:cNvSpPr txBox="1"/>
          <p:nvPr/>
        </p:nvSpPr>
        <p:spPr>
          <a:xfrm>
            <a:off x="4566818" y="5026660"/>
            <a:ext cx="1325879"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달라져야 한다</a:t>
            </a:r>
          </a:p>
        </p:txBody>
      </p:sp>
      <p:sp>
        <p:nvSpPr>
          <p:cNvPr id="18" name="Rounded Rectangle 17"/>
          <p:cNvSpPr/>
          <p:nvPr/>
        </p:nvSpPr>
        <p:spPr>
          <a:xfrm>
            <a:off x="8127796" y="2526284"/>
            <a:ext cx="3515258" cy="2930144"/>
          </a:xfrm>
          <a:prstGeom prst="roundRect">
            <a:avLst>
              <a:gd name="adj" fmla="val 4000"/>
            </a:avLst>
          </a:prstGeom>
          <a:solidFill>
            <a:srgbClr val="FFFFFF"/>
          </a:solidFill>
          <a:ln w="15875">
            <a:solidFill>
              <a:srgbClr val="D3D9E1"/>
            </a:solidFill>
          </a:ln>
        </p:spPr>
        <p:txBody>
          <a:bodyPr rtlCol="0" anchor="ctr"/>
          <a:lstStyle/>
          <a:p>
            <a:pPr algn="ctr"/>
          </a:p>
        </p:txBody>
      </p:sp>
      <p:sp>
        <p:nvSpPr>
          <p:cNvPr id="19" name="Oval 18"/>
          <p:cNvSpPr/>
          <p:nvPr/>
        </p:nvSpPr>
        <p:spPr>
          <a:xfrm>
            <a:off x="8356396" y="2727452"/>
            <a:ext cx="731520" cy="731520"/>
          </a:xfrm>
          <a:prstGeom prst="ellipse">
            <a:avLst/>
          </a:prstGeom>
          <a:solidFill>
            <a:srgbClr val="E7F3FD"/>
          </a:solidFill>
          <a:ln>
            <a:noFill/>
          </a:ln>
        </p:spPr>
        <p:txBody>
          <a:bodyPr rtlCol="0" anchor="ctr"/>
          <a:lstStyle/>
          <a:p>
            <a:pPr algn="ctr"/>
          </a:p>
        </p:txBody>
      </p:sp>
      <p:pic>
        <p:nvPicPr>
          <p:cNvPr id="20" name="아이콘:player-stop" descr="player-stop_13294B_1.6.png"/>
          <p:cNvPicPr>
            <a:picLocks noChangeAspect="1"/>
          </p:cNvPicPr>
          <p:nvPr/>
        </p:nvPicPr>
        <p:blipFill>
          <a:blip r:embed="rId5"/>
          <a:stretch>
            <a:fillRect/>
          </a:stretch>
        </p:blipFill>
        <p:spPr>
          <a:xfrm>
            <a:off x="8510016" y="2881071"/>
            <a:ext cx="424281" cy="424281"/>
          </a:xfrm>
          <a:prstGeom prst="rect">
            <a:avLst/>
          </a:prstGeom>
        </p:spPr>
      </p:pic>
      <p:sp>
        <p:nvSpPr>
          <p:cNvPr id="21" name="TextBox 20"/>
          <p:cNvSpPr txBox="1"/>
          <p:nvPr/>
        </p:nvSpPr>
        <p:spPr>
          <a:xfrm>
            <a:off x="8292388" y="3550412"/>
            <a:ext cx="3186074" cy="1403096"/>
          </a:xfrm>
          <a:prstGeom prst="rect">
            <a:avLst/>
          </a:prstGeom>
          <a:noFill/>
        </p:spPr>
        <p:txBody>
          <a:bodyPr wrap="square" anchor="t"/>
          <a:lstStyle/>
          <a:p>
            <a:pPr algn="l" eaLnBrk="0">
              <a:lnSpc>
                <a:spcPct val="110000"/>
              </a:lnSpc>
              <a:spcAft>
                <a:spcPts val="400"/>
              </a:spcAft>
            </a:pPr>
            <a:r>
              <a:rPr sz="1900" b="1">
                <a:solidFill>
                  <a:srgbClr val="13294B"/>
                </a:solidFill>
                <a:latin typeface="맑은 고딕"/>
                <a:ea typeface="맑은 고딕"/>
                <a:cs typeface="맑은 고딕"/>
              </a:rPr>
              <a:t>지켜야 할 경우</a:t>
            </a:r>
          </a:p>
          <a:p>
            <a:pPr algn="l" eaLnBrk="0" marL="171450" indent="-171450">
              <a:lnSpc>
                <a:spcPct val="110000"/>
              </a:lnSpc>
              <a:spcAft>
                <a:spcPts val="400"/>
              </a:spcAft>
            </a:pPr>
            <a:r>
              <a:rPr sz="1500" b="0">
                <a:solidFill>
                  <a:srgbClr val="1F2A3A"/>
                </a:solidFill>
                <a:latin typeface="맑은 고딕"/>
                <a:ea typeface="맑은 고딕"/>
                <a:cs typeface="맑은 고딕"/>
              </a:rPr>
              <a:t>• 입력: 필수 값을 읽지 못한 경보</a:t>
            </a:r>
          </a:p>
          <a:p>
            <a:pPr algn="l" eaLnBrk="0" marL="171450" indent="-171450">
              <a:lnSpc>
                <a:spcPct val="110000"/>
              </a:lnSpc>
              <a:spcAft>
                <a:spcPts val="400"/>
              </a:spcAft>
            </a:pPr>
            <a:r>
              <a:rPr sz="1500" b="0">
                <a:solidFill>
                  <a:srgbClr val="1F2A3A"/>
                </a:solidFill>
                <a:latin typeface="맑은 고딕"/>
                <a:ea typeface="맑은 고딕"/>
                <a:cs typeface="맑은 고딕"/>
              </a:rPr>
              <a:t>• 기대: 결과를 채우지 않고 보류한다</a:t>
            </a:r>
          </a:p>
        </p:txBody>
      </p:sp>
      <p:sp>
        <p:nvSpPr>
          <p:cNvPr id="22" name="Rounded Rectangle 21"/>
          <p:cNvSpPr/>
          <p:nvPr/>
        </p:nvSpPr>
        <p:spPr>
          <a:xfrm>
            <a:off x="8356396" y="5026660"/>
            <a:ext cx="1478280" cy="292608"/>
          </a:xfrm>
          <a:prstGeom prst="roundRect">
            <a:avLst>
              <a:gd name="adj" fmla="val 50000"/>
            </a:avLst>
          </a:prstGeom>
          <a:solidFill>
            <a:srgbClr val="D3D9E1"/>
          </a:solidFill>
          <a:ln>
            <a:noFill/>
          </a:ln>
        </p:spPr>
        <p:txBody>
          <a:bodyPr rtlCol="0" anchor="ctr"/>
          <a:lstStyle/>
          <a:p>
            <a:pPr algn="ctr"/>
          </a:p>
        </p:txBody>
      </p:sp>
      <p:sp>
        <p:nvSpPr>
          <p:cNvPr id="23" name="TextBox 22"/>
          <p:cNvSpPr txBox="1"/>
          <p:nvPr/>
        </p:nvSpPr>
        <p:spPr>
          <a:xfrm>
            <a:off x="8356396" y="5026660"/>
            <a:ext cx="1478280" cy="292608"/>
          </a:xfrm>
          <a:prstGeom prst="rect">
            <a:avLst/>
          </a:prstGeom>
          <a:noFill/>
        </p:spPr>
        <p:txBody>
          <a:bodyPr wrap="square" anchor="ctr"/>
          <a:lstStyle/>
          <a:p>
            <a:pPr algn="ctr" eaLnBrk="0">
              <a:lnSpc>
                <a:spcPct val="110000"/>
              </a:lnSpc>
            </a:pPr>
            <a:r>
              <a:rPr sz="1200" b="1">
                <a:solidFill>
                  <a:srgbClr val="13294B"/>
                </a:solidFill>
                <a:latin typeface="맑은 고딕"/>
                <a:ea typeface="맑은 고딕"/>
                <a:cs typeface="맑은 고딕"/>
              </a:rPr>
              <a:t>그대로여야 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모호한 요청으로 기능을</a:t>
            </a:r>
          </a:p>
          <a:p>
            <a:pPr algn="l" eaLnBrk="0">
              <a:lnSpc>
                <a:spcPct val="110000"/>
              </a:lnSpc>
            </a:pPr>
            <a:r>
              <a:rPr sz="3400" b="1">
                <a:solidFill>
                  <a:srgbClr val="13294B"/>
                </a:solidFill>
                <a:latin typeface="맑은 고딕"/>
                <a:ea typeface="맑은 고딕"/>
                <a:cs typeface="맑은 고딕"/>
              </a:rPr>
              <a:t>추가했을 때의 변화 확인</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앞서 만든 에이전트에 긴급 정비 조건을 모호한 요청으로 더하고, 고치기 전과 같은 요청으로 출력을 견준다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두 버전의 출력 비교</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모호한 요청으로 고친 버전과 고치기 전 버전에 같은 요청을 넣어 출력과 승인 조건의 차이를 찾는다.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51</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입력과 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고치기 전 버전</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기존 일반 요청을 실행해</a:t>
            </a:r>
          </a:p>
          <a:p>
            <a:pPr algn="l" eaLnBrk="0">
              <a:lnSpc>
                <a:spcPct val="110000"/>
              </a:lnSpc>
            </a:pPr>
            <a:r>
              <a:rPr sz="1400" b="0">
                <a:solidFill>
                  <a:srgbClr val="1F2A3A"/>
                </a:solidFill>
                <a:latin typeface="맑은 고딕"/>
                <a:ea typeface="맑은 고딕"/>
                <a:cs typeface="맑은 고딕"/>
              </a:rPr>
              <a:t>출력을 남겨 둔다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비교의 기준이 되는</a:t>
            </a:r>
          </a:p>
          <a:p>
            <a:pPr algn="l" eaLnBrk="0">
              <a:lnSpc>
                <a:spcPct val="110000"/>
              </a:lnSpc>
            </a:pPr>
            <a:r>
              <a:rPr sz="1250" b="1">
                <a:solidFill>
                  <a:srgbClr val="556175"/>
                </a:solidFill>
                <a:latin typeface="맑은 고딕"/>
                <a:ea typeface="맑은 고딕"/>
                <a:cs typeface="맑은 고딕"/>
              </a:rPr>
              <a:t>출력</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모호한 변경</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긴급 정비 조건을</a:t>
            </a:r>
          </a:p>
          <a:p>
            <a:pPr algn="l" eaLnBrk="0">
              <a:lnSpc>
                <a:spcPct val="110000"/>
              </a:lnSpc>
            </a:pPr>
            <a:r>
              <a:rPr sz="1400" b="0">
                <a:solidFill>
                  <a:srgbClr val="1F2A3A"/>
                </a:solidFill>
                <a:latin typeface="맑은 고딕"/>
                <a:ea typeface="맑은 고딕"/>
                <a:cs typeface="맑은 고딕"/>
              </a:rPr>
              <a:t>한두 문장의 요청으로 바이브 코딩해 더한다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고친 버전</a:t>
            </a:r>
          </a:p>
        </p:txBody>
      </p:sp>
      <p:sp>
        <p:nvSpPr>
          <p:cNvPr id="18" name="Rounded Rectangle 17"/>
          <p:cNvSpPr/>
          <p:nvPr/>
        </p:nvSpPr>
        <p:spPr>
          <a:xfrm>
            <a:off x="548640" y="4224527"/>
            <a:ext cx="11094415" cy="850392"/>
          </a:xfrm>
          <a:prstGeom prst="roundRect">
            <a:avLst>
              <a:gd name="adj" fmla="val 8000"/>
            </a:avLst>
          </a:prstGeom>
          <a:solidFill>
            <a:srgbClr val="E7F3FD"/>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같은 요청으로 비교</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일반 요청과 긴급 요청을</a:t>
            </a:r>
          </a:p>
          <a:p>
            <a:pPr algn="l" eaLnBrk="0">
              <a:lnSpc>
                <a:spcPct val="110000"/>
              </a:lnSpc>
            </a:pPr>
            <a:r>
              <a:rPr sz="1400" b="0">
                <a:solidFill>
                  <a:srgbClr val="1F2A3A"/>
                </a:solidFill>
                <a:latin typeface="맑은 고딕"/>
                <a:ea typeface="맑은 고딕"/>
                <a:cs typeface="맑은 고딕"/>
              </a:rPr>
              <a:t>두 버전에 넣어 실행한다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출력 항목과</a:t>
            </a:r>
          </a:p>
          <a:p>
            <a:pPr algn="l" eaLnBrk="0">
              <a:lnSpc>
                <a:spcPct val="110000"/>
              </a:lnSpc>
            </a:pPr>
            <a:r>
              <a:rPr sz="1250" b="1">
                <a:solidFill>
                  <a:srgbClr val="1A6FC4"/>
                </a:solidFill>
                <a:latin typeface="맑은 고딕"/>
                <a:ea typeface="맑은 고딕"/>
                <a:cs typeface="맑은 고딕"/>
              </a:rPr>
              <a:t>승인 조건의 차이</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차이가 없을 때</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실패를 만들지 않고</a:t>
            </a:r>
          </a:p>
          <a:p>
            <a:pPr algn="l" eaLnBrk="0">
              <a:lnSpc>
                <a:spcPct val="110000"/>
              </a:lnSpc>
            </a:pPr>
            <a:r>
              <a:rPr sz="1400" b="0">
                <a:solidFill>
                  <a:srgbClr val="1F2A3A"/>
                </a:solidFill>
                <a:latin typeface="맑은 고딕"/>
                <a:ea typeface="맑은 고딕"/>
                <a:cs typeface="맑은 고딕"/>
              </a:rPr>
              <a:t>두 버전의 동작을 그대로 견준다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있는 그대로의</a:t>
            </a:r>
          </a:p>
          <a:p>
            <a:pPr algn="l" eaLnBrk="0">
              <a:lnSpc>
                <a:spcPct val="110000"/>
              </a:lnSpc>
            </a:pPr>
            <a:r>
              <a:rPr sz="1250" b="1">
                <a:solidFill>
                  <a:srgbClr val="556175"/>
                </a:solidFill>
                <a:latin typeface="맑은 고딕"/>
                <a:ea typeface="맑은 고딕"/>
                <a:cs typeface="맑은 고딕"/>
              </a:rPr>
              <a:t>비교 기록</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실습: 명세를 갱신해 기존 기능을</a:t>
            </a:r>
          </a:p>
          <a:p>
            <a:pPr algn="l" eaLnBrk="0">
              <a:lnSpc>
                <a:spcPct val="110000"/>
              </a:lnSpc>
            </a:pPr>
            <a:r>
              <a:rPr sz="3400" b="1">
                <a:solidFill>
                  <a:srgbClr val="13294B"/>
                </a:solidFill>
                <a:latin typeface="맑은 고딕"/>
                <a:ea typeface="맑은 고딕"/>
                <a:cs typeface="맑은 고딕"/>
              </a:rPr>
              <a:t>유지하며 요구사항 추가</a:t>
            </a:r>
          </a:p>
        </p:txBody>
      </p:sp>
      <p:sp>
        <p:nvSpPr>
          <p:cNvPr id="5" name="Rounded Rectangle 4"/>
          <p:cNvSpPr/>
          <p:nvPr/>
        </p:nvSpPr>
        <p:spPr>
          <a:xfrm>
            <a:off x="822960" y="4160520"/>
            <a:ext cx="822960" cy="347472"/>
          </a:xfrm>
          <a:prstGeom prst="roundRect">
            <a:avLst>
              <a:gd name="adj" fmla="val 50000"/>
            </a:avLst>
          </a:prstGeom>
          <a:solidFill>
            <a:srgbClr val="5CB8F2"/>
          </a:solidFill>
          <a:ln>
            <a:noFill/>
          </a:ln>
        </p:spPr>
        <p:txBody>
          <a:bodyPr rtlCol="0" anchor="ctr"/>
          <a:lstStyle/>
          <a:p>
            <a:pPr algn="ctr"/>
          </a:p>
        </p:txBody>
      </p:sp>
      <p:sp>
        <p:nvSpPr>
          <p:cNvPr id="6" name="TextBox 5"/>
          <p:cNvSpPr txBox="1"/>
          <p:nvPr/>
        </p:nvSpPr>
        <p:spPr>
          <a:xfrm>
            <a:off x="822960" y="4160520"/>
            <a:ext cx="822960" cy="347472"/>
          </a:xfrm>
          <a:prstGeom prst="rect">
            <a:avLst/>
          </a:prstGeom>
          <a:noFill/>
        </p:spPr>
        <p:txBody>
          <a:bodyPr wrap="square" anchor="ctr"/>
          <a:lstStyle/>
          <a:p>
            <a:pPr algn="ctr" eaLnBrk="0">
              <a:lnSpc>
                <a:spcPct val="110000"/>
              </a:lnSpc>
            </a:pPr>
            <a:r>
              <a:rPr sz="1300" b="1">
                <a:solidFill>
                  <a:srgbClr val="13294B"/>
                </a:solidFill>
                <a:latin typeface="맑은 고딕"/>
                <a:ea typeface="맑은 고딕"/>
                <a:cs typeface="맑은 고딕"/>
              </a:rPr>
              <a:t>실습</a:t>
            </a:r>
          </a:p>
        </p:txBody>
      </p:sp>
      <p:sp>
        <p:nvSpPr>
          <p:cNvPr id="7" name="TextBox 6"/>
          <p:cNvSpPr txBox="1"/>
          <p:nvPr/>
        </p:nvSpPr>
        <p:spPr>
          <a:xfrm>
            <a:off x="731520" y="46177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같은 프로젝트의 spec.md에 지킬 것과 달라질 것을 적고, 그 명세대로 고쳐 다시 실행한다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실습: spec.md 갱신과 두 요청의 재실행</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spec.md에 지킬 것과 달라질 것을 적고 그 명세대로 고친 뒤, 두 요청의 결과와 입력 · 기대 결과를 남긴다.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53</a:t>
            </a:r>
          </a:p>
        </p:txBody>
      </p:sp>
      <p:sp>
        <p:nvSpPr>
          <p:cNvPr id="6" name="Rounded Rectangle 5"/>
          <p:cNvSpPr/>
          <p:nvPr/>
        </p:nvSpPr>
        <p:spPr>
          <a:xfrm>
            <a:off x="548640" y="19613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9613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대상</a:t>
            </a:r>
          </a:p>
        </p:txBody>
      </p:sp>
      <p:sp>
        <p:nvSpPr>
          <p:cNvPr id="8" name="TextBox 7"/>
          <p:cNvSpPr txBox="1"/>
          <p:nvPr/>
        </p:nvSpPr>
        <p:spPr>
          <a:xfrm>
            <a:off x="3200400" y="19613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수행할 일</a:t>
            </a:r>
          </a:p>
        </p:txBody>
      </p:sp>
      <p:sp>
        <p:nvSpPr>
          <p:cNvPr id="9" name="TextBox 8"/>
          <p:cNvSpPr txBox="1"/>
          <p:nvPr/>
        </p:nvSpPr>
        <p:spPr>
          <a:xfrm>
            <a:off x="9448495" y="19613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산출물 · 성공 기준</a:t>
            </a:r>
          </a:p>
        </p:txBody>
      </p:sp>
      <p:sp>
        <p:nvSpPr>
          <p:cNvPr id="10" name="Rounded Rectangle 9"/>
          <p:cNvSpPr/>
          <p:nvPr/>
        </p:nvSpPr>
        <p:spPr>
          <a:xfrm>
            <a:off x="548640" y="2395727"/>
            <a:ext cx="11094415" cy="850392"/>
          </a:xfrm>
          <a:prstGeom prst="roundRect">
            <a:avLst>
              <a:gd name="adj" fmla="val 8000"/>
            </a:avLst>
          </a:prstGeom>
          <a:solidFill>
            <a:srgbClr val="E7F3FD"/>
          </a:solidFill>
          <a:ln>
            <a:noFill/>
          </a:ln>
        </p:spPr>
        <p:txBody>
          <a:bodyPr rtlCol="0" anchor="ctr"/>
          <a:lstStyle/>
          <a:p>
            <a:pPr algn="ctr"/>
          </a:p>
        </p:txBody>
      </p:sp>
      <p:sp>
        <p:nvSpPr>
          <p:cNvPr id="11" name="TextBox 10"/>
          <p:cNvSpPr txBox="1"/>
          <p:nvPr/>
        </p:nvSpPr>
        <p:spPr>
          <a:xfrm>
            <a:off x="685800" y="2363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spec.md</a:t>
            </a:r>
          </a:p>
        </p:txBody>
      </p:sp>
      <p:sp>
        <p:nvSpPr>
          <p:cNvPr id="12" name="TextBox 11"/>
          <p:cNvSpPr txBox="1"/>
          <p:nvPr/>
        </p:nvSpPr>
        <p:spPr>
          <a:xfrm>
            <a:off x="3200400" y="2363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기존 일반 정비 처리 · 긴급 조건</a:t>
            </a:r>
          </a:p>
          <a:p>
            <a:pPr algn="l" eaLnBrk="0">
              <a:lnSpc>
                <a:spcPct val="110000"/>
              </a:lnSpc>
            </a:pPr>
            <a:r>
              <a:rPr sz="1400" b="0">
                <a:solidFill>
                  <a:srgbClr val="1F2A3A"/>
                </a:solidFill>
                <a:latin typeface="맑은 고딕"/>
                <a:ea typeface="맑은 고딕"/>
                <a:cs typeface="맑은 고딕"/>
              </a:rPr>
              <a:t>미입력 시 보류 · 승인 없이 확정 금지</a:t>
            </a:r>
          </a:p>
          <a:p>
            <a:pPr algn="l" eaLnBrk="0">
              <a:lnSpc>
                <a:spcPct val="110000"/>
              </a:lnSpc>
            </a:pPr>
            <a:r>
              <a:rPr sz="1400" b="0">
                <a:solidFill>
                  <a:srgbClr val="1F2A3A"/>
                </a:solidFill>
                <a:latin typeface="맑은 고딕"/>
                <a:ea typeface="맑은 고딕"/>
                <a:cs typeface="맑은 고딕"/>
              </a:rPr>
              <a:t>결과 형식 · 수용 기준을 적는다</a:t>
            </a:r>
          </a:p>
        </p:txBody>
      </p:sp>
      <p:sp>
        <p:nvSpPr>
          <p:cNvPr id="13" name="TextBox 12"/>
          <p:cNvSpPr txBox="1"/>
          <p:nvPr/>
        </p:nvSpPr>
        <p:spPr>
          <a:xfrm>
            <a:off x="9448495" y="2363723"/>
            <a:ext cx="2103120" cy="914400"/>
          </a:xfrm>
          <a:prstGeom prst="rect">
            <a:avLst/>
          </a:prstGeom>
          <a:noFill/>
        </p:spPr>
        <p:txBody>
          <a:bodyPr wrap="square" anchor="ctr"/>
          <a:lstStyle/>
          <a:p>
            <a:pPr algn="l" eaLnBrk="0">
              <a:lnSpc>
                <a:spcPct val="110000"/>
              </a:lnSpc>
            </a:pPr>
            <a:r>
              <a:rPr sz="1250" b="1">
                <a:solidFill>
                  <a:srgbClr val="1A6FC4"/>
                </a:solidFill>
                <a:latin typeface="맑은 고딕"/>
                <a:ea typeface="맑은 고딕"/>
                <a:cs typeface="맑은 고딕"/>
              </a:rPr>
              <a:t>지킬 것과 달라질 것이</a:t>
            </a:r>
          </a:p>
          <a:p>
            <a:pPr algn="l" eaLnBrk="0">
              <a:lnSpc>
                <a:spcPct val="110000"/>
              </a:lnSpc>
            </a:pPr>
            <a:r>
              <a:rPr sz="1250" b="1">
                <a:solidFill>
                  <a:srgbClr val="1A6FC4"/>
                </a:solidFill>
                <a:latin typeface="맑은 고딕"/>
                <a:ea typeface="맑은 고딕"/>
                <a:cs typeface="맑은 고딕"/>
              </a:rPr>
              <a:t>문서에 있음</a:t>
            </a:r>
          </a:p>
        </p:txBody>
      </p:sp>
      <p:sp>
        <p:nvSpPr>
          <p:cNvPr id="14" name="Rounded Rectangle 13"/>
          <p:cNvSpPr/>
          <p:nvPr/>
        </p:nvSpPr>
        <p:spPr>
          <a:xfrm>
            <a:off x="548640" y="33101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2781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명세대로 수정</a:t>
            </a:r>
          </a:p>
        </p:txBody>
      </p:sp>
      <p:sp>
        <p:nvSpPr>
          <p:cNvPr id="16" name="TextBox 15"/>
          <p:cNvSpPr txBox="1"/>
          <p:nvPr/>
        </p:nvSpPr>
        <p:spPr>
          <a:xfrm>
            <a:off x="3200400" y="32781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명세를 함께 주고 코드를 고친다</a:t>
            </a:r>
          </a:p>
        </p:txBody>
      </p:sp>
      <p:sp>
        <p:nvSpPr>
          <p:cNvPr id="17" name="TextBox 16"/>
          <p:cNvSpPr txBox="1"/>
          <p:nvPr/>
        </p:nvSpPr>
        <p:spPr>
          <a:xfrm>
            <a:off x="9448495" y="32781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수정한 코드</a:t>
            </a:r>
          </a:p>
        </p:txBody>
      </p:sp>
      <p:sp>
        <p:nvSpPr>
          <p:cNvPr id="18" name="Rounded Rectangle 17"/>
          <p:cNvSpPr/>
          <p:nvPr/>
        </p:nvSpPr>
        <p:spPr>
          <a:xfrm>
            <a:off x="548640" y="42245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1925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다시 실행</a:t>
            </a:r>
          </a:p>
        </p:txBody>
      </p:sp>
      <p:sp>
        <p:nvSpPr>
          <p:cNvPr id="20" name="TextBox 19"/>
          <p:cNvSpPr txBox="1"/>
          <p:nvPr/>
        </p:nvSpPr>
        <p:spPr>
          <a:xfrm>
            <a:off x="3200400" y="41925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기존 일반 요청과</a:t>
            </a:r>
          </a:p>
          <a:p>
            <a:pPr algn="l" eaLnBrk="0">
              <a:lnSpc>
                <a:spcPct val="110000"/>
              </a:lnSpc>
            </a:pPr>
            <a:r>
              <a:rPr sz="1400" b="0">
                <a:solidFill>
                  <a:srgbClr val="1F2A3A"/>
                </a:solidFill>
                <a:latin typeface="맑은 고딕"/>
                <a:ea typeface="맑은 고딕"/>
                <a:cs typeface="맑은 고딕"/>
              </a:rPr>
              <a:t>추가한 긴급 요청을 실행한다</a:t>
            </a:r>
          </a:p>
        </p:txBody>
      </p:sp>
      <p:sp>
        <p:nvSpPr>
          <p:cNvPr id="21" name="TextBox 20"/>
          <p:cNvSpPr txBox="1"/>
          <p:nvPr/>
        </p:nvSpPr>
        <p:spPr>
          <a:xfrm>
            <a:off x="9448495" y="41925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수용 기준마다</a:t>
            </a:r>
          </a:p>
          <a:p>
            <a:pPr algn="l" eaLnBrk="0">
              <a:lnSpc>
                <a:spcPct val="110000"/>
              </a:lnSpc>
            </a:pPr>
            <a:r>
              <a:rPr sz="1250" b="1">
                <a:solidFill>
                  <a:srgbClr val="556175"/>
                </a:solidFill>
                <a:latin typeface="맑은 고딕"/>
                <a:ea typeface="맑은 고딕"/>
                <a:cs typeface="맑은 고딕"/>
              </a:rPr>
              <a:t>참 · 거짓 판정</a:t>
            </a:r>
          </a:p>
        </p:txBody>
      </p:sp>
      <p:sp>
        <p:nvSpPr>
          <p:cNvPr id="22" name="Rounded Rectangle 21"/>
          <p:cNvSpPr/>
          <p:nvPr/>
        </p:nvSpPr>
        <p:spPr>
          <a:xfrm>
            <a:off x="548640" y="5138927"/>
            <a:ext cx="11094415" cy="850392"/>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5106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저장</a:t>
            </a:r>
          </a:p>
        </p:txBody>
      </p:sp>
      <p:sp>
        <p:nvSpPr>
          <p:cNvPr id="24" name="TextBox 23"/>
          <p:cNvSpPr txBox="1"/>
          <p:nvPr/>
        </p:nvSpPr>
        <p:spPr>
          <a:xfrm>
            <a:off x="3200400" y="5106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두 요청의 입력과 기대 결과를</a:t>
            </a:r>
          </a:p>
          <a:p>
            <a:pPr algn="l" eaLnBrk="0">
              <a:lnSpc>
                <a:spcPct val="110000"/>
              </a:lnSpc>
            </a:pPr>
            <a:r>
              <a:rPr sz="1400" b="0">
                <a:solidFill>
                  <a:srgbClr val="1F2A3A"/>
                </a:solidFill>
                <a:latin typeface="맑은 고딕"/>
                <a:ea typeface="맑은 고딕"/>
                <a:cs typeface="맑은 고딕"/>
              </a:rPr>
              <a:t>다음 검증에 쓸 수 있게 남긴다</a:t>
            </a:r>
          </a:p>
        </p:txBody>
      </p:sp>
      <p:sp>
        <p:nvSpPr>
          <p:cNvPr id="25" name="TextBox 24"/>
          <p:cNvSpPr txBox="1"/>
          <p:nvPr/>
        </p:nvSpPr>
        <p:spPr>
          <a:xfrm>
            <a:off x="9448495" y="5106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입력 · 기대 결과 파일</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복습: 결정의 자리와 바뀐 요구의 확인</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결정, 에이전트의 멈춤, 자동 검사, 계약의 변경, 변경의 확인은 서로 다른 판단이며 각각 확인할 근거가 다르다.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54</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상황</a:t>
            </a:r>
          </a:p>
        </p:txBody>
      </p:sp>
      <p:sp>
        <p:nvSpPr>
          <p:cNvPr id="8" name="TextBox 7"/>
          <p:cNvSpPr txBox="1"/>
          <p:nvPr/>
        </p:nvSpPr>
        <p:spPr>
          <a:xfrm>
            <a:off x="3200400" y="1627632"/>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먼저 가를 것</a:t>
            </a:r>
          </a:p>
        </p:txBody>
      </p:sp>
      <p:sp>
        <p:nvSpPr>
          <p:cNvPr id="9" name="TextBox 8"/>
          <p:cNvSpPr txBox="1"/>
          <p:nvPr/>
        </p:nvSpPr>
        <p:spPr>
          <a:xfrm>
            <a:off x="9448495" y="1627632"/>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확인할 근거</a:t>
            </a:r>
          </a:p>
        </p:txBody>
      </p:sp>
      <p:sp>
        <p:nvSpPr>
          <p:cNvPr id="10" name="Rounded Rectangle 9"/>
          <p:cNvSpPr/>
          <p:nvPr/>
        </p:nvSpPr>
        <p:spPr>
          <a:xfrm>
            <a:off x="548640" y="2061972"/>
            <a:ext cx="11094415" cy="801014"/>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029968"/>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추천안이 올라온 지 10분이 지나도록 결정이 없다</a:t>
            </a:r>
          </a:p>
        </p:txBody>
      </p:sp>
      <p:sp>
        <p:nvSpPr>
          <p:cNvPr id="12" name="TextBox 11"/>
          <p:cNvSpPr txBox="1"/>
          <p:nvPr/>
        </p:nvSpPr>
        <p:spPr>
          <a:xfrm>
            <a:off x="3200400" y="2029968"/>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사람의 대기인가,</a:t>
            </a:r>
          </a:p>
          <a:p>
            <a:pPr algn="l" eaLnBrk="0">
              <a:lnSpc>
                <a:spcPct val="110000"/>
              </a:lnSpc>
            </a:pPr>
            <a:r>
              <a:rPr sz="1400" b="0">
                <a:solidFill>
                  <a:srgbClr val="1F2A3A"/>
                </a:solidFill>
                <a:latin typeface="맑은 고딕"/>
                <a:ea typeface="맑은 고딕"/>
                <a:cs typeface="맑은 고딕"/>
              </a:rPr>
              <a:t>에이전트의 멈춤인가</a:t>
            </a:r>
          </a:p>
        </p:txBody>
      </p:sp>
      <p:sp>
        <p:nvSpPr>
          <p:cNvPr id="13" name="TextBox 12"/>
          <p:cNvSpPr txBox="1"/>
          <p:nvPr/>
        </p:nvSpPr>
        <p:spPr>
          <a:xfrm>
            <a:off x="9448495" y="2029968"/>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지연 알림만 나가고</a:t>
            </a:r>
          </a:p>
          <a:p>
            <a:pPr algn="l" eaLnBrk="0">
              <a:lnSpc>
                <a:spcPct val="110000"/>
              </a:lnSpc>
            </a:pPr>
            <a:r>
              <a:rPr sz="1250" b="1">
                <a:solidFill>
                  <a:srgbClr val="556175"/>
                </a:solidFill>
                <a:latin typeface="맑은 고딕"/>
                <a:ea typeface="맑은 고딕"/>
                <a:cs typeface="맑은 고딕"/>
              </a:rPr>
              <a:t>승인 작업은 열린 채</a:t>
            </a:r>
          </a:p>
        </p:txBody>
      </p:sp>
      <p:sp>
        <p:nvSpPr>
          <p:cNvPr id="14" name="Rounded Rectangle 13"/>
          <p:cNvSpPr/>
          <p:nvPr/>
        </p:nvSpPr>
        <p:spPr>
          <a:xfrm>
            <a:off x="548640" y="2926994"/>
            <a:ext cx="11094415" cy="801014"/>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2894990"/>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에이전트가 대상 설비를 묻고 멈췄다</a:t>
            </a:r>
          </a:p>
        </p:txBody>
      </p:sp>
      <p:sp>
        <p:nvSpPr>
          <p:cNvPr id="16" name="TextBox 15"/>
          <p:cNvSpPr txBox="1"/>
          <p:nvPr/>
        </p:nvSpPr>
        <p:spPr>
          <a:xfrm>
            <a:off x="3200400" y="2894990"/>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업무 정보인가,</a:t>
            </a:r>
          </a:p>
          <a:p>
            <a:pPr algn="l" eaLnBrk="0">
              <a:lnSpc>
                <a:spcPct val="110000"/>
              </a:lnSpc>
            </a:pPr>
            <a:r>
              <a:rPr sz="1400" b="0">
                <a:solidFill>
                  <a:srgbClr val="1F2A3A"/>
                </a:solidFill>
                <a:latin typeface="맑은 고딕"/>
                <a:ea typeface="맑은 고딕"/>
                <a:cs typeface="맑은 고딕"/>
              </a:rPr>
              <a:t>승인인가</a:t>
            </a:r>
          </a:p>
        </p:txBody>
      </p:sp>
      <p:sp>
        <p:nvSpPr>
          <p:cNvPr id="17" name="TextBox 16"/>
          <p:cNvSpPr txBox="1"/>
          <p:nvPr/>
        </p:nvSpPr>
        <p:spPr>
          <a:xfrm>
            <a:off x="9448495" y="2894990"/>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답은 빠진 값만 채우고</a:t>
            </a:r>
          </a:p>
          <a:p>
            <a:pPr algn="l" eaLnBrk="0">
              <a:lnSpc>
                <a:spcPct val="110000"/>
              </a:lnSpc>
            </a:pPr>
            <a:r>
              <a:rPr sz="1250" b="1">
                <a:solidFill>
                  <a:srgbClr val="556175"/>
                </a:solidFill>
                <a:latin typeface="맑은 고딕"/>
                <a:ea typeface="맑은 고딕"/>
                <a:cs typeface="맑은 고딕"/>
              </a:rPr>
              <a:t>승인은 승인 단계에서</a:t>
            </a:r>
          </a:p>
        </p:txBody>
      </p:sp>
      <p:sp>
        <p:nvSpPr>
          <p:cNvPr id="18" name="Rounded Rectangle 17"/>
          <p:cNvSpPr/>
          <p:nvPr/>
        </p:nvSpPr>
        <p:spPr>
          <a:xfrm>
            <a:off x="548640" y="3792016"/>
            <a:ext cx="11094415" cy="801014"/>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760012"/>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가드레일을 통과한 추천안이 올라왔다</a:t>
            </a:r>
          </a:p>
        </p:txBody>
      </p:sp>
      <p:sp>
        <p:nvSpPr>
          <p:cNvPr id="20" name="TextBox 19"/>
          <p:cNvSpPr txBox="1"/>
          <p:nvPr/>
        </p:nvSpPr>
        <p:spPr>
          <a:xfrm>
            <a:off x="3200400" y="3760012"/>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올려도 되는가,</a:t>
            </a:r>
          </a:p>
          <a:p>
            <a:pPr algn="l" eaLnBrk="0">
              <a:lnSpc>
                <a:spcPct val="110000"/>
              </a:lnSpc>
            </a:pPr>
            <a:r>
              <a:rPr sz="1400" b="0">
                <a:solidFill>
                  <a:srgbClr val="1F2A3A"/>
                </a:solidFill>
                <a:latin typeface="맑은 고딕"/>
                <a:ea typeface="맑은 고딕"/>
                <a:cs typeface="맑은 고딕"/>
              </a:rPr>
              <a:t>실행해도 되는가</a:t>
            </a:r>
          </a:p>
        </p:txBody>
      </p:sp>
      <p:sp>
        <p:nvSpPr>
          <p:cNvPr id="21" name="TextBox 20"/>
          <p:cNvSpPr txBox="1"/>
          <p:nvPr/>
        </p:nvSpPr>
        <p:spPr>
          <a:xfrm>
            <a:off x="9448495" y="3760012"/>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승인 역할의 담당자가</a:t>
            </a:r>
          </a:p>
          <a:p>
            <a:pPr algn="l" eaLnBrk="0">
              <a:lnSpc>
                <a:spcPct val="110000"/>
              </a:lnSpc>
            </a:pPr>
            <a:r>
              <a:rPr sz="1250" b="1">
                <a:solidFill>
                  <a:srgbClr val="556175"/>
                </a:solidFill>
                <a:latin typeface="맑은 고딕"/>
                <a:ea typeface="맑은 고딕"/>
                <a:cs typeface="맑은 고딕"/>
              </a:rPr>
              <a:t>남긴 결정 기록</a:t>
            </a:r>
          </a:p>
        </p:txBody>
      </p:sp>
      <p:sp>
        <p:nvSpPr>
          <p:cNvPr id="22" name="Rounded Rectangle 21"/>
          <p:cNvSpPr/>
          <p:nvPr/>
        </p:nvSpPr>
        <p:spPr>
          <a:xfrm>
            <a:off x="548640" y="4657039"/>
            <a:ext cx="11094415" cy="801014"/>
          </a:xfrm>
          <a:prstGeom prst="roundRect">
            <a:avLst>
              <a:gd name="adj" fmla="val 8000"/>
            </a:avLst>
          </a:prstGeom>
          <a:solidFill>
            <a:srgbClr val="F3F6F9"/>
          </a:solidFill>
          <a:ln>
            <a:noFill/>
          </a:ln>
        </p:spPr>
        <p:txBody>
          <a:bodyPr rtlCol="0" anchor="ctr"/>
          <a:lstStyle/>
          <a:p>
            <a:pPr algn="ctr"/>
          </a:p>
        </p:txBody>
      </p:sp>
      <p:sp>
        <p:nvSpPr>
          <p:cNvPr id="23" name="TextBox 22"/>
          <p:cNvSpPr txBox="1"/>
          <p:nvPr/>
        </p:nvSpPr>
        <p:spPr>
          <a:xfrm>
            <a:off x="685800" y="4625035"/>
            <a:ext cx="2514600" cy="865022"/>
          </a:xfrm>
          <a:prstGeom prst="rect">
            <a:avLst/>
          </a:prstGeom>
          <a:noFill/>
        </p:spPr>
        <p:txBody>
          <a:bodyPr wrap="square" anchor="ctr"/>
          <a:lstStyle/>
          <a:p>
            <a:pPr algn="l" eaLnBrk="0">
              <a:lnSpc>
                <a:spcPct val="110000"/>
              </a:lnSpc>
            </a:pPr>
            <a:r>
              <a:rPr sz="1500" b="1">
                <a:solidFill>
                  <a:srgbClr val="13294B"/>
                </a:solidFill>
                <a:latin typeface="맑은 고딕"/>
                <a:ea typeface="맑은 고딕"/>
                <a:cs typeface="맑은 고딕"/>
              </a:rPr>
              <a:t>긴급 표시를 넣으며 추천 항목의 이름을 바꾸려 한다</a:t>
            </a:r>
          </a:p>
        </p:txBody>
      </p:sp>
      <p:sp>
        <p:nvSpPr>
          <p:cNvPr id="24" name="TextBox 23"/>
          <p:cNvSpPr txBox="1"/>
          <p:nvPr/>
        </p:nvSpPr>
        <p:spPr>
          <a:xfrm>
            <a:off x="3200400" y="4625035"/>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계약을 넓히는가,</a:t>
            </a:r>
          </a:p>
          <a:p>
            <a:pPr algn="l" eaLnBrk="0">
              <a:lnSpc>
                <a:spcPct val="110000"/>
              </a:lnSpc>
            </a:pPr>
            <a:r>
              <a:rPr sz="1400" b="0">
                <a:solidFill>
                  <a:srgbClr val="1F2A3A"/>
                </a:solidFill>
                <a:latin typeface="맑은 고딕"/>
                <a:ea typeface="맑은 고딕"/>
                <a:cs typeface="맑은 고딕"/>
              </a:rPr>
              <a:t>깨는가</a:t>
            </a:r>
          </a:p>
        </p:txBody>
      </p:sp>
      <p:sp>
        <p:nvSpPr>
          <p:cNvPr id="25" name="TextBox 24"/>
          <p:cNvSpPr txBox="1"/>
          <p:nvPr/>
        </p:nvSpPr>
        <p:spPr>
          <a:xfrm>
            <a:off x="9448495" y="4625035"/>
            <a:ext cx="2103120" cy="865022"/>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출력 계약의</a:t>
            </a:r>
          </a:p>
          <a:p>
            <a:pPr algn="l" eaLnBrk="0">
              <a:lnSpc>
                <a:spcPct val="110000"/>
              </a:lnSpc>
            </a:pPr>
            <a:r>
              <a:rPr sz="1250" b="1">
                <a:solidFill>
                  <a:srgbClr val="556175"/>
                </a:solidFill>
                <a:latin typeface="맑은 고딕"/>
                <a:ea typeface="맑은 고딕"/>
                <a:cs typeface="맑은 고딕"/>
              </a:rPr>
              <a:t>이름 · 형식 · 뜻</a:t>
            </a:r>
          </a:p>
        </p:txBody>
      </p:sp>
      <p:sp>
        <p:nvSpPr>
          <p:cNvPr id="26" name="Rounded Rectangle 25"/>
          <p:cNvSpPr/>
          <p:nvPr/>
        </p:nvSpPr>
        <p:spPr>
          <a:xfrm>
            <a:off x="548640" y="5522061"/>
            <a:ext cx="11094415" cy="801014"/>
          </a:xfrm>
          <a:prstGeom prst="roundRect">
            <a:avLst>
              <a:gd name="adj" fmla="val 8000"/>
            </a:avLst>
          </a:prstGeom>
          <a:solidFill>
            <a:srgbClr val="E7F3FD"/>
          </a:solidFill>
          <a:ln>
            <a:noFill/>
          </a:ln>
        </p:spPr>
        <p:txBody>
          <a:bodyPr rtlCol="0" anchor="ctr"/>
          <a:lstStyle/>
          <a:p>
            <a:pPr algn="ctr"/>
          </a:p>
        </p:txBody>
      </p:sp>
      <p:sp>
        <p:nvSpPr>
          <p:cNvPr id="27" name="TextBox 26"/>
          <p:cNvSpPr txBox="1"/>
          <p:nvPr/>
        </p:nvSpPr>
        <p:spPr>
          <a:xfrm>
            <a:off x="685800" y="5490057"/>
            <a:ext cx="2514600" cy="865022"/>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고친 뒤 긴급 경보 한 건만 실행해 보았다</a:t>
            </a:r>
          </a:p>
        </p:txBody>
      </p:sp>
      <p:sp>
        <p:nvSpPr>
          <p:cNvPr id="28" name="TextBox 27"/>
          <p:cNvSpPr txBox="1"/>
          <p:nvPr/>
        </p:nvSpPr>
        <p:spPr>
          <a:xfrm>
            <a:off x="3200400" y="5490057"/>
            <a:ext cx="6156655" cy="865022"/>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새 기능의 확인인가,</a:t>
            </a:r>
          </a:p>
          <a:p>
            <a:pPr algn="l" eaLnBrk="0">
              <a:lnSpc>
                <a:spcPct val="110000"/>
              </a:lnSpc>
            </a:pPr>
            <a:r>
              <a:rPr sz="1400" b="0">
                <a:solidFill>
                  <a:srgbClr val="1F2A3A"/>
                </a:solidFill>
                <a:latin typeface="맑은 고딕"/>
                <a:ea typeface="맑은 고딕"/>
                <a:cs typeface="맑은 고딕"/>
              </a:rPr>
              <a:t>기존 기능의 확인인가</a:t>
            </a:r>
          </a:p>
        </p:txBody>
      </p:sp>
      <p:sp>
        <p:nvSpPr>
          <p:cNvPr id="29" name="TextBox 28"/>
          <p:cNvSpPr txBox="1"/>
          <p:nvPr/>
        </p:nvSpPr>
        <p:spPr>
          <a:xfrm>
            <a:off x="9448495" y="5490057"/>
            <a:ext cx="2103120" cy="865022"/>
          </a:xfrm>
          <a:prstGeom prst="rect">
            <a:avLst/>
          </a:prstGeom>
          <a:noFill/>
        </p:spPr>
        <p:txBody>
          <a:bodyPr wrap="square" anchor="ctr"/>
          <a:lstStyle/>
          <a:p>
            <a:pPr algn="l" eaLnBrk="0">
              <a:lnSpc>
                <a:spcPct val="110000"/>
              </a:lnSpc>
            </a:pPr>
            <a:r>
              <a:rPr sz="1200" b="1">
                <a:solidFill>
                  <a:srgbClr val="1A6FC4"/>
                </a:solidFill>
                <a:latin typeface="맑은 고딕"/>
                <a:ea typeface="맑은 고딕"/>
                <a:cs typeface="맑은 고딕"/>
              </a:rPr>
              <a:t>기존 · 긴급 · 보류 요청의</a:t>
            </a:r>
          </a:p>
          <a:p>
            <a:pPr algn="l" eaLnBrk="0">
              <a:lnSpc>
                <a:spcPct val="110000"/>
              </a:lnSpc>
            </a:pPr>
            <a:r>
              <a:rPr sz="1200" b="1">
                <a:solidFill>
                  <a:srgbClr val="1A6FC4"/>
                </a:solidFill>
                <a:latin typeface="맑은 고딕"/>
                <a:ea typeface="맑은 고딕"/>
                <a:cs typeface="맑은 고딕"/>
              </a:rPr>
              <a:t>수용 기준</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오늘 다룬 핵심 개념과 주요 용어 정리</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사람의 결정과 명세에 관한 핵심 용어의 정식 명칭과 뜻을 한곳에 모은다.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55</a:t>
            </a:r>
          </a:p>
        </p:txBody>
      </p:sp>
      <p:sp>
        <p:nvSpPr>
          <p:cNvPr id="6" name="Rounded Rectangle 5"/>
          <p:cNvSpPr/>
          <p:nvPr/>
        </p:nvSpPr>
        <p:spPr>
          <a:xfrm>
            <a:off x="548640" y="1627632"/>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1627632"/>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용어</a:t>
            </a:r>
          </a:p>
        </p:txBody>
      </p:sp>
      <p:sp>
        <p:nvSpPr>
          <p:cNvPr id="8" name="TextBox 7"/>
          <p:cNvSpPr txBox="1"/>
          <p:nvPr/>
        </p:nvSpPr>
        <p:spPr>
          <a:xfrm>
            <a:off x="3200400" y="1627632"/>
            <a:ext cx="844265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정식 명칭 · 풀이</a:t>
            </a:r>
          </a:p>
        </p:txBody>
      </p:sp>
      <p:sp>
        <p:nvSpPr>
          <p:cNvPr id="9" name="Rounded Rectangle 8"/>
          <p:cNvSpPr/>
          <p:nvPr/>
        </p:nvSpPr>
        <p:spPr>
          <a:xfrm>
            <a:off x="548640" y="2061972"/>
            <a:ext cx="11094415" cy="553865"/>
          </a:xfrm>
          <a:prstGeom prst="roundRect">
            <a:avLst>
              <a:gd name="adj" fmla="val 8000"/>
            </a:avLst>
          </a:prstGeom>
          <a:solidFill>
            <a:srgbClr val="F3F6F9"/>
          </a:solidFill>
          <a:ln>
            <a:noFill/>
          </a:ln>
        </p:spPr>
        <p:txBody>
          <a:bodyPr rtlCol="0" anchor="ctr"/>
          <a:lstStyle/>
          <a:p>
            <a:pPr algn="ctr"/>
          </a:p>
        </p:txBody>
      </p:sp>
      <p:sp>
        <p:nvSpPr>
          <p:cNvPr id="10" name="TextBox 9"/>
          <p:cNvSpPr txBox="1"/>
          <p:nvPr/>
        </p:nvSpPr>
        <p:spPr>
          <a:xfrm>
            <a:off x="685800" y="2029968"/>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HITL</a:t>
            </a:r>
          </a:p>
        </p:txBody>
      </p:sp>
      <p:sp>
        <p:nvSpPr>
          <p:cNvPr id="11" name="TextBox 10"/>
          <p:cNvSpPr txBox="1"/>
          <p:nvPr/>
        </p:nvSpPr>
        <p:spPr>
          <a:xfrm>
            <a:off x="3200400" y="2029968"/>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Human-in-the-Loop</a:t>
            </a:r>
          </a:p>
          <a:p>
            <a:pPr algn="l" eaLnBrk="0">
              <a:lnSpc>
                <a:spcPct val="110000"/>
              </a:lnSpc>
            </a:pPr>
            <a:r>
              <a:rPr sz="1400" b="0">
                <a:solidFill>
                  <a:srgbClr val="1F2A3A"/>
                </a:solidFill>
                <a:latin typeface="맑은 고딕"/>
                <a:ea typeface="맑은 고딕"/>
                <a:cs typeface="맑은 고딕"/>
              </a:rPr>
              <a:t>자동 처리의 정해진 지점에 사람의 결정을 넣는 방식</a:t>
            </a:r>
          </a:p>
        </p:txBody>
      </p:sp>
      <p:sp>
        <p:nvSpPr>
          <p:cNvPr id="12" name="Rounded Rectangle 11"/>
          <p:cNvSpPr/>
          <p:nvPr/>
        </p:nvSpPr>
        <p:spPr>
          <a:xfrm>
            <a:off x="548640" y="2679845"/>
            <a:ext cx="11094415" cy="553865"/>
          </a:xfrm>
          <a:prstGeom prst="roundRect">
            <a:avLst>
              <a:gd name="adj" fmla="val 8000"/>
            </a:avLst>
          </a:prstGeom>
          <a:solidFill>
            <a:srgbClr val="F3F6F9"/>
          </a:solidFill>
          <a:ln>
            <a:noFill/>
          </a:ln>
        </p:spPr>
        <p:txBody>
          <a:bodyPr rtlCol="0" anchor="ctr"/>
          <a:lstStyle/>
          <a:p>
            <a:pPr algn="ctr"/>
          </a:p>
        </p:txBody>
      </p:sp>
      <p:sp>
        <p:nvSpPr>
          <p:cNvPr id="13" name="TextBox 12"/>
          <p:cNvSpPr txBox="1"/>
          <p:nvPr/>
        </p:nvSpPr>
        <p:spPr>
          <a:xfrm>
            <a:off x="685800" y="2647841"/>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가드레일</a:t>
            </a:r>
          </a:p>
        </p:txBody>
      </p:sp>
      <p:sp>
        <p:nvSpPr>
          <p:cNvPr id="14" name="TextBox 13"/>
          <p:cNvSpPr txBox="1"/>
          <p:nvPr/>
        </p:nvSpPr>
        <p:spPr>
          <a:xfrm>
            <a:off x="3200400" y="2647841"/>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Guardrail</a:t>
            </a:r>
          </a:p>
          <a:p>
            <a:pPr algn="l" eaLnBrk="0">
              <a:lnSpc>
                <a:spcPct val="110000"/>
              </a:lnSpc>
            </a:pPr>
            <a:r>
              <a:rPr sz="1400" b="0">
                <a:solidFill>
                  <a:srgbClr val="1F2A3A"/>
                </a:solidFill>
                <a:latin typeface="맑은 고딕"/>
                <a:ea typeface="맑은 고딕"/>
                <a:cs typeface="맑은 고딕"/>
              </a:rPr>
              <a:t>에이전트의 출력이 정해진 규칙을 지켰는지 시스템이 검사하는 장치</a:t>
            </a:r>
          </a:p>
        </p:txBody>
      </p:sp>
      <p:sp>
        <p:nvSpPr>
          <p:cNvPr id="15" name="Rounded Rectangle 14"/>
          <p:cNvSpPr/>
          <p:nvPr/>
        </p:nvSpPr>
        <p:spPr>
          <a:xfrm>
            <a:off x="548640" y="3297718"/>
            <a:ext cx="11094415" cy="553865"/>
          </a:xfrm>
          <a:prstGeom prst="roundRect">
            <a:avLst>
              <a:gd name="adj" fmla="val 8000"/>
            </a:avLst>
          </a:prstGeom>
          <a:solidFill>
            <a:srgbClr val="F3F6F9"/>
          </a:solidFill>
          <a:ln>
            <a:noFill/>
          </a:ln>
        </p:spPr>
        <p:txBody>
          <a:bodyPr rtlCol="0" anchor="ctr"/>
          <a:lstStyle/>
          <a:p>
            <a:pPr algn="ctr"/>
          </a:p>
        </p:txBody>
      </p:sp>
      <p:sp>
        <p:nvSpPr>
          <p:cNvPr id="16" name="TextBox 15"/>
          <p:cNvSpPr txBox="1"/>
          <p:nvPr/>
        </p:nvSpPr>
        <p:spPr>
          <a:xfrm>
            <a:off x="685800" y="3265714"/>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바이브 코딩</a:t>
            </a:r>
          </a:p>
        </p:txBody>
      </p:sp>
      <p:sp>
        <p:nvSpPr>
          <p:cNvPr id="17" name="TextBox 16"/>
          <p:cNvSpPr txBox="1"/>
          <p:nvPr/>
        </p:nvSpPr>
        <p:spPr>
          <a:xfrm>
            <a:off x="3200400" y="3265714"/>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Vibe Coding</a:t>
            </a:r>
          </a:p>
          <a:p>
            <a:pPr algn="l" eaLnBrk="0">
              <a:lnSpc>
                <a:spcPct val="110000"/>
              </a:lnSpc>
            </a:pPr>
            <a:r>
              <a:rPr sz="1400" b="0">
                <a:solidFill>
                  <a:srgbClr val="1F2A3A"/>
                </a:solidFill>
                <a:latin typeface="맑은 고딕"/>
                <a:ea typeface="맑은 고딕"/>
                <a:cs typeface="맑은 고딕"/>
              </a:rPr>
              <a:t>명세 없이 자연어로 요청하고 실행해 보며 고쳐 가는 개발 방식</a:t>
            </a:r>
          </a:p>
        </p:txBody>
      </p:sp>
      <p:sp>
        <p:nvSpPr>
          <p:cNvPr id="18" name="Rounded Rectangle 17"/>
          <p:cNvSpPr/>
          <p:nvPr/>
        </p:nvSpPr>
        <p:spPr>
          <a:xfrm>
            <a:off x="548640" y="3915591"/>
            <a:ext cx="11094415" cy="553865"/>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3883587"/>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SDD</a:t>
            </a:r>
          </a:p>
        </p:txBody>
      </p:sp>
      <p:sp>
        <p:nvSpPr>
          <p:cNvPr id="20" name="TextBox 19"/>
          <p:cNvSpPr txBox="1"/>
          <p:nvPr/>
        </p:nvSpPr>
        <p:spPr>
          <a:xfrm>
            <a:off x="3200400" y="3883587"/>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Spec-Driven Development</a:t>
            </a:r>
          </a:p>
          <a:p>
            <a:pPr algn="l" eaLnBrk="0">
              <a:lnSpc>
                <a:spcPct val="110000"/>
              </a:lnSpc>
            </a:pPr>
            <a:r>
              <a:rPr sz="1400" b="0">
                <a:solidFill>
                  <a:srgbClr val="1F2A3A"/>
                </a:solidFill>
                <a:latin typeface="맑은 고딕"/>
                <a:ea typeface="맑은 고딕"/>
                <a:cs typeface="맑은 고딕"/>
              </a:rPr>
              <a:t>구현 전에 명세를 정하고 그 명세로 구현과 확인을 하는 개발 방식</a:t>
            </a:r>
          </a:p>
        </p:txBody>
      </p:sp>
      <p:sp>
        <p:nvSpPr>
          <p:cNvPr id="21" name="Rounded Rectangle 20"/>
          <p:cNvSpPr/>
          <p:nvPr/>
        </p:nvSpPr>
        <p:spPr>
          <a:xfrm>
            <a:off x="548640" y="4533464"/>
            <a:ext cx="11094415" cy="553865"/>
          </a:xfrm>
          <a:prstGeom prst="roundRect">
            <a:avLst>
              <a:gd name="adj" fmla="val 8000"/>
            </a:avLst>
          </a:prstGeom>
          <a:solidFill>
            <a:srgbClr val="F3F6F9"/>
          </a:solidFill>
          <a:ln>
            <a:noFill/>
          </a:ln>
        </p:spPr>
        <p:txBody>
          <a:bodyPr rtlCol="0" anchor="ctr"/>
          <a:lstStyle/>
          <a:p>
            <a:pPr algn="ctr"/>
          </a:p>
        </p:txBody>
      </p:sp>
      <p:sp>
        <p:nvSpPr>
          <p:cNvPr id="22" name="TextBox 21"/>
          <p:cNvSpPr txBox="1"/>
          <p:nvPr/>
        </p:nvSpPr>
        <p:spPr>
          <a:xfrm>
            <a:off x="685800" y="4501460"/>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명세</a:t>
            </a:r>
          </a:p>
        </p:txBody>
      </p:sp>
      <p:sp>
        <p:nvSpPr>
          <p:cNvPr id="23" name="TextBox 22"/>
          <p:cNvSpPr txBox="1"/>
          <p:nvPr/>
        </p:nvSpPr>
        <p:spPr>
          <a:xfrm>
            <a:off x="3200400" y="4501460"/>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Specification</a:t>
            </a:r>
          </a:p>
          <a:p>
            <a:pPr algn="l" eaLnBrk="0">
              <a:lnSpc>
                <a:spcPct val="110000"/>
              </a:lnSpc>
            </a:pPr>
            <a:r>
              <a:rPr sz="1400" b="0">
                <a:solidFill>
                  <a:srgbClr val="1F2A3A"/>
                </a:solidFill>
                <a:latin typeface="맑은 고딕"/>
                <a:ea typeface="맑은 고딕"/>
                <a:cs typeface="맑은 고딕"/>
              </a:rPr>
              <a:t>무엇을 받아 무엇을 내고 무엇을 하지 않는지 적은 문서</a:t>
            </a:r>
          </a:p>
        </p:txBody>
      </p:sp>
      <p:sp>
        <p:nvSpPr>
          <p:cNvPr id="24" name="Rounded Rectangle 23"/>
          <p:cNvSpPr/>
          <p:nvPr/>
        </p:nvSpPr>
        <p:spPr>
          <a:xfrm>
            <a:off x="548640" y="5151337"/>
            <a:ext cx="11094415" cy="553865"/>
          </a:xfrm>
          <a:prstGeom prst="roundRect">
            <a:avLst>
              <a:gd name="adj" fmla="val 8000"/>
            </a:avLst>
          </a:prstGeom>
          <a:solidFill>
            <a:srgbClr val="F3F6F9"/>
          </a:solidFill>
          <a:ln>
            <a:noFill/>
          </a:ln>
        </p:spPr>
        <p:txBody>
          <a:bodyPr rtlCol="0" anchor="ctr"/>
          <a:lstStyle/>
          <a:p>
            <a:pPr algn="ctr"/>
          </a:p>
        </p:txBody>
      </p:sp>
      <p:sp>
        <p:nvSpPr>
          <p:cNvPr id="25" name="TextBox 24"/>
          <p:cNvSpPr txBox="1"/>
          <p:nvPr/>
        </p:nvSpPr>
        <p:spPr>
          <a:xfrm>
            <a:off x="685800" y="5119333"/>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계약</a:t>
            </a:r>
          </a:p>
        </p:txBody>
      </p:sp>
      <p:sp>
        <p:nvSpPr>
          <p:cNvPr id="26" name="TextBox 25"/>
          <p:cNvSpPr txBox="1"/>
          <p:nvPr/>
        </p:nvSpPr>
        <p:spPr>
          <a:xfrm>
            <a:off x="3200400" y="5119333"/>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Contract</a:t>
            </a:r>
          </a:p>
          <a:p>
            <a:pPr algn="l" eaLnBrk="0">
              <a:lnSpc>
                <a:spcPct val="110000"/>
              </a:lnSpc>
            </a:pPr>
            <a:r>
              <a:rPr sz="1400" b="0">
                <a:solidFill>
                  <a:srgbClr val="1F2A3A"/>
                </a:solidFill>
                <a:latin typeface="맑은 고딕"/>
                <a:ea typeface="맑은 고딕"/>
                <a:cs typeface="맑은 고딕"/>
              </a:rPr>
              <a:t>주는 쪽과 받는 쪽이 지키기로 한 항목과 형식</a:t>
            </a:r>
          </a:p>
        </p:txBody>
      </p:sp>
      <p:sp>
        <p:nvSpPr>
          <p:cNvPr id="27" name="Rounded Rectangle 26"/>
          <p:cNvSpPr/>
          <p:nvPr/>
        </p:nvSpPr>
        <p:spPr>
          <a:xfrm>
            <a:off x="548640" y="5769210"/>
            <a:ext cx="11094415" cy="553865"/>
          </a:xfrm>
          <a:prstGeom prst="roundRect">
            <a:avLst>
              <a:gd name="adj" fmla="val 8000"/>
            </a:avLst>
          </a:prstGeom>
          <a:solidFill>
            <a:srgbClr val="F3F6F9"/>
          </a:solidFill>
          <a:ln>
            <a:noFill/>
          </a:ln>
        </p:spPr>
        <p:txBody>
          <a:bodyPr rtlCol="0" anchor="ctr"/>
          <a:lstStyle/>
          <a:p>
            <a:pPr algn="ctr"/>
          </a:p>
        </p:txBody>
      </p:sp>
      <p:sp>
        <p:nvSpPr>
          <p:cNvPr id="28" name="TextBox 27"/>
          <p:cNvSpPr txBox="1"/>
          <p:nvPr/>
        </p:nvSpPr>
        <p:spPr>
          <a:xfrm>
            <a:off x="685800" y="5737206"/>
            <a:ext cx="2514600" cy="617873"/>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수용 기준</a:t>
            </a:r>
          </a:p>
        </p:txBody>
      </p:sp>
      <p:sp>
        <p:nvSpPr>
          <p:cNvPr id="29" name="TextBox 28"/>
          <p:cNvSpPr txBox="1"/>
          <p:nvPr/>
        </p:nvSpPr>
        <p:spPr>
          <a:xfrm>
            <a:off x="3200400" y="5737206"/>
            <a:ext cx="8351215" cy="617873"/>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Acceptance Criteria</a:t>
            </a:r>
          </a:p>
          <a:p>
            <a:pPr algn="l" eaLnBrk="0">
              <a:lnSpc>
                <a:spcPct val="110000"/>
              </a:lnSpc>
            </a:pPr>
            <a:r>
              <a:rPr sz="1400" b="0">
                <a:solidFill>
                  <a:srgbClr val="1F2A3A"/>
                </a:solidFill>
                <a:latin typeface="맑은 고딕"/>
                <a:ea typeface="맑은 고딕"/>
                <a:cs typeface="맑은 고딕"/>
              </a:rPr>
              <a:t>구현이 끝났는지를 참과 거짓으로 가를 수 있게 적은 조건</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7F3FD"/>
        </a:solidFill>
        <a:effectLst/>
      </p:bgPr>
    </p:bg>
    <p:spTree>
      <p:nvGrpSpPr>
        <p:cNvPr id="1" name=""/>
        <p:cNvGrpSpPr/>
        <p:nvPr/>
      </p:nvGrpSpPr>
      <p:grpSpPr/>
      <p:sp>
        <p:nvSpPr>
          <p:cNvPr id="2" name="TextBox 1"/>
          <p:cNvSpPr txBox="1"/>
          <p:nvPr/>
        </p:nvSpPr>
        <p:spPr>
          <a:xfrm>
            <a:off x="457200" y="384048"/>
            <a:ext cx="8229600" cy="457200"/>
          </a:xfrm>
          <a:prstGeom prst="rect">
            <a:avLst/>
          </a:prstGeom>
          <a:noFill/>
        </p:spPr>
        <p:txBody>
          <a:bodyPr wrap="square" anchor="t"/>
          <a:lstStyle/>
          <a:p>
            <a:pPr algn="l" eaLnBrk="0">
              <a:lnSpc>
                <a:spcPct val="110000"/>
              </a:lnSpc>
            </a:pPr>
            <a:r>
              <a:rPr sz="2000" b="1">
                <a:solidFill>
                  <a:srgbClr val="5CB8F2"/>
                </a:solidFill>
                <a:latin typeface="맑은 고딕"/>
                <a:ea typeface="맑은 고딕"/>
                <a:cs typeface="맑은 고딕"/>
              </a:rPr>
              <a:t>경남대학교 피지컬AI 사관학교</a:t>
            </a:r>
          </a:p>
        </p:txBody>
      </p:sp>
      <p:sp>
        <p:nvSpPr>
          <p:cNvPr id="3" name="Rectangle 2"/>
          <p:cNvSpPr/>
          <p:nvPr/>
        </p:nvSpPr>
        <p:spPr>
          <a:xfrm>
            <a:off x="548640" y="859536"/>
            <a:ext cx="3606800" cy="41148"/>
          </a:xfrm>
          <a:prstGeom prst="rect">
            <a:avLst/>
          </a:prstGeom>
          <a:solidFill>
            <a:srgbClr val="5CB8F2"/>
          </a:solidFill>
          <a:ln>
            <a:noFill/>
          </a:ln>
        </p:spPr>
        <p:txBody>
          <a:bodyPr rtlCol="0" anchor="ctr"/>
          <a:lstStyle/>
          <a:p>
            <a:pPr algn="ctr"/>
          </a:p>
        </p:txBody>
      </p:sp>
      <p:sp>
        <p:nvSpPr>
          <p:cNvPr id="4" name="TextBox 3"/>
          <p:cNvSpPr txBox="1"/>
          <p:nvPr/>
        </p:nvSpPr>
        <p:spPr>
          <a:xfrm>
            <a:off x="731520" y="2011680"/>
            <a:ext cx="10911535" cy="2011680"/>
          </a:xfrm>
          <a:prstGeom prst="rect">
            <a:avLst/>
          </a:prstGeom>
          <a:noFill/>
        </p:spPr>
        <p:txBody>
          <a:bodyPr wrap="square" anchor="ctr"/>
          <a:lstStyle/>
          <a:p>
            <a:pPr algn="l" eaLnBrk="0">
              <a:lnSpc>
                <a:spcPct val="110000"/>
              </a:lnSpc>
            </a:pPr>
            <a:r>
              <a:rPr sz="3400" b="1">
                <a:solidFill>
                  <a:srgbClr val="13294B"/>
                </a:solidFill>
                <a:latin typeface="맑은 고딕"/>
                <a:ea typeface="맑은 고딕"/>
                <a:cs typeface="맑은 고딕"/>
              </a:rPr>
              <a:t>Review Quiz: 핵심 흐름 되짚어보기</a:t>
            </a:r>
          </a:p>
        </p:txBody>
      </p:sp>
      <p:sp>
        <p:nvSpPr>
          <p:cNvPr id="5" name="TextBox 4"/>
          <p:cNvSpPr txBox="1"/>
          <p:nvPr/>
        </p:nvSpPr>
        <p:spPr>
          <a:xfrm>
            <a:off x="731520" y="4160520"/>
            <a:ext cx="10911535" cy="457200"/>
          </a:xfrm>
          <a:prstGeom prst="rect">
            <a:avLst/>
          </a:prstGeom>
          <a:noFill/>
        </p:spPr>
        <p:txBody>
          <a:bodyPr wrap="square" anchor="t"/>
          <a:lstStyle/>
          <a:p>
            <a:pPr algn="l" eaLnBrk="0">
              <a:lnSpc>
                <a:spcPct val="110000"/>
              </a:lnSpc>
            </a:pPr>
            <a:r>
              <a:rPr sz="1700" b="0">
                <a:solidFill>
                  <a:srgbClr val="556175"/>
                </a:solidFill>
                <a:latin typeface="맑은 고딕"/>
                <a:ea typeface="맑은 고딕"/>
                <a:cs typeface="맑은 고딕"/>
              </a:rPr>
              <a:t>배운 내용을 바탕으로 정답을 맞혀 보세요.</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1. 조치를 실행해도 되는 근거</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추천안이 가드레일을 통과했고, 검토를 맡은 다른 에이전트도 근거와 수량에 빠진 것이 없다는 의견을 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57</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조치를 실행해도 된다는 근거가 되는 것은?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추천안이 가드레일을 통과했다는 사실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승인 역할의 담당자가 승인했다는 기록</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검토 에이전트가 낸 문제없다는 의견</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통과와 검토 의견이 모두 갖추어졌다는 사실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2. 승인이 섞인 답변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에이전트가 요청에 빠진 부품 수량을 물었고, 담당자가 「10개. 급하니 승인한 것으로 하고 진행해」라고 답했다.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58</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이 답을 받은 뒤의 올바른 처리는?</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담당자가 승인할 뜻을 밝혔으므로 승인 단계를 건너뛰고 실행한다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답에 승인이 섞였으므로 답을 버리고 수량을 짐작해 채운다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결정 기록의 승인한 사람 칸에 담당자를 에이전트가 적어 넣는다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수량만 업무 정보로 받아 이어 가고, 승인은 승인 단계에서 받는다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Quiz 3. 수용 기준이 되는 문장</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「긴급한 경보는 빨리 처리되게 해 주세요」라는 요청을 명세로 옮기면서 수용 기준을 적으려 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59</a:t>
            </a:r>
          </a:p>
        </p:txBody>
      </p:sp>
      <p:sp>
        <p:nvSpPr>
          <p:cNvPr id="6" name="Rounded Rectangle 5"/>
          <p:cNvSpPr/>
          <p:nvPr/>
        </p:nvSpPr>
        <p:spPr>
          <a:xfrm>
            <a:off x="548640" y="1627632"/>
            <a:ext cx="11094415" cy="704088"/>
          </a:xfrm>
          <a:prstGeom prst="roundRect">
            <a:avLst>
              <a:gd name="adj" fmla="val 5000"/>
            </a:avLst>
          </a:prstGeom>
          <a:solidFill>
            <a:srgbClr val="E7F3FD"/>
          </a:solidFill>
          <a:ln>
            <a:noFill/>
          </a:ln>
        </p:spPr>
        <p:txBody>
          <a:bodyPr rtlCol="0" anchor="ctr"/>
          <a:lstStyle/>
          <a:p>
            <a:pPr algn="ctr"/>
          </a:p>
        </p:txBody>
      </p:sp>
      <p:sp>
        <p:nvSpPr>
          <p:cNvPr id="7" name="TextBox 6"/>
          <p:cNvSpPr txBox="1"/>
          <p:nvPr/>
        </p:nvSpPr>
        <p:spPr>
          <a:xfrm>
            <a:off x="777240" y="1627632"/>
            <a:ext cx="10637215" cy="704088"/>
          </a:xfrm>
          <a:prstGeom prst="rect">
            <a:avLst/>
          </a:prstGeom>
          <a:noFill/>
        </p:spPr>
        <p:txBody>
          <a:bodyPr wrap="square" anchor="ctr"/>
          <a:lstStyle/>
          <a:p>
            <a:pPr algn="l" eaLnBrk="0">
              <a:lnSpc>
                <a:spcPct val="110000"/>
              </a:lnSpc>
            </a:pPr>
            <a:r>
              <a:rPr sz="1900" b="1">
                <a:solidFill>
                  <a:srgbClr val="13294B"/>
                </a:solidFill>
                <a:latin typeface="맑은 고딕"/>
                <a:ea typeface="맑은 고딕"/>
                <a:cs typeface="맑은 고딕"/>
              </a:rPr>
              <a:t>수용 기준으로 알맞은 문장은?</a:t>
            </a:r>
          </a:p>
        </p:txBody>
      </p:sp>
      <p:sp>
        <p:nvSpPr>
          <p:cNvPr id="8" name="Rounded Rectangle 7"/>
          <p:cNvSpPr/>
          <p:nvPr/>
        </p:nvSpPr>
        <p:spPr>
          <a:xfrm>
            <a:off x="548640" y="2560320"/>
            <a:ext cx="11094415" cy="822960"/>
          </a:xfrm>
          <a:prstGeom prst="roundRect">
            <a:avLst>
              <a:gd name="adj" fmla="val 8000"/>
            </a:avLst>
          </a:prstGeom>
          <a:solidFill>
            <a:srgbClr val="F3F6F9"/>
          </a:solidFill>
          <a:ln>
            <a:noFill/>
          </a:ln>
        </p:spPr>
        <p:txBody>
          <a:bodyPr rtlCol="0" anchor="ctr"/>
          <a:lstStyle/>
          <a:p>
            <a:pPr algn="ctr"/>
          </a:p>
        </p:txBody>
      </p:sp>
      <p:sp>
        <p:nvSpPr>
          <p:cNvPr id="9" name="Oval 8"/>
          <p:cNvSpPr/>
          <p:nvPr/>
        </p:nvSpPr>
        <p:spPr>
          <a:xfrm>
            <a:off x="731520" y="2788920"/>
            <a:ext cx="365760" cy="365760"/>
          </a:xfrm>
          <a:prstGeom prst="ellipse">
            <a:avLst/>
          </a:prstGeom>
          <a:solidFill>
            <a:srgbClr val="13294B"/>
          </a:solidFill>
          <a:ln>
            <a:noFill/>
          </a:ln>
        </p:spPr>
        <p:txBody>
          <a:bodyPr rtlCol="0" anchor="ctr"/>
          <a:lstStyle/>
          <a:p>
            <a:pPr algn="ctr"/>
          </a:p>
        </p:txBody>
      </p:sp>
      <p:sp>
        <p:nvSpPr>
          <p:cNvPr id="10" name="TextBox 9"/>
          <p:cNvSpPr txBox="1"/>
          <p:nvPr/>
        </p:nvSpPr>
        <p:spPr>
          <a:xfrm>
            <a:off x="731520" y="27889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1</a:t>
            </a:r>
          </a:p>
        </p:txBody>
      </p:sp>
      <p:sp>
        <p:nvSpPr>
          <p:cNvPr id="11" name="TextBox 10"/>
          <p:cNvSpPr txBox="1"/>
          <p:nvPr/>
        </p:nvSpPr>
        <p:spPr>
          <a:xfrm>
            <a:off x="1234440" y="25146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경보는 일반 경보보다 눈에 띄게 빨리 처리된다</a:t>
            </a:r>
          </a:p>
        </p:txBody>
      </p:sp>
      <p:sp>
        <p:nvSpPr>
          <p:cNvPr id="12" name="Rounded Rectangle 11"/>
          <p:cNvSpPr/>
          <p:nvPr/>
        </p:nvSpPr>
        <p:spPr>
          <a:xfrm>
            <a:off x="548640" y="3474720"/>
            <a:ext cx="11094415" cy="822960"/>
          </a:xfrm>
          <a:prstGeom prst="roundRect">
            <a:avLst>
              <a:gd name="adj" fmla="val 8000"/>
            </a:avLst>
          </a:prstGeom>
          <a:solidFill>
            <a:srgbClr val="F3F6F9"/>
          </a:solidFill>
          <a:ln>
            <a:noFill/>
          </a:ln>
        </p:spPr>
        <p:txBody>
          <a:bodyPr rtlCol="0" anchor="ctr"/>
          <a:lstStyle/>
          <a:p>
            <a:pPr algn="ctr"/>
          </a:p>
        </p:txBody>
      </p:sp>
      <p:sp>
        <p:nvSpPr>
          <p:cNvPr id="13" name="Oval 12"/>
          <p:cNvSpPr/>
          <p:nvPr/>
        </p:nvSpPr>
        <p:spPr>
          <a:xfrm>
            <a:off x="731520" y="3703320"/>
            <a:ext cx="365760" cy="365760"/>
          </a:xfrm>
          <a:prstGeom prst="ellipse">
            <a:avLst/>
          </a:prstGeom>
          <a:solidFill>
            <a:srgbClr val="13294B"/>
          </a:solidFill>
          <a:ln>
            <a:noFill/>
          </a:ln>
        </p:spPr>
        <p:txBody>
          <a:bodyPr rtlCol="0" anchor="ctr"/>
          <a:lstStyle/>
          <a:p>
            <a:pPr algn="ctr"/>
          </a:p>
        </p:txBody>
      </p:sp>
      <p:sp>
        <p:nvSpPr>
          <p:cNvPr id="14" name="TextBox 13"/>
          <p:cNvSpPr txBox="1"/>
          <p:nvPr/>
        </p:nvSpPr>
        <p:spPr>
          <a:xfrm>
            <a:off x="731520" y="37033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2</a:t>
            </a:r>
          </a:p>
        </p:txBody>
      </p:sp>
      <p:sp>
        <p:nvSpPr>
          <p:cNvPr id="15" name="TextBox 14"/>
          <p:cNvSpPr txBox="1"/>
          <p:nvPr/>
        </p:nvSpPr>
        <p:spPr>
          <a:xfrm>
            <a:off x="1234440" y="34290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경보의 추천안은 상황에 맞는 조치를 담고 있다</a:t>
            </a:r>
          </a:p>
        </p:txBody>
      </p:sp>
      <p:sp>
        <p:nvSpPr>
          <p:cNvPr id="16" name="Rounded Rectangle 15"/>
          <p:cNvSpPr/>
          <p:nvPr/>
        </p:nvSpPr>
        <p:spPr>
          <a:xfrm>
            <a:off x="548640" y="4389120"/>
            <a:ext cx="11094415" cy="822960"/>
          </a:xfrm>
          <a:prstGeom prst="roundRect">
            <a:avLst>
              <a:gd name="adj" fmla="val 8000"/>
            </a:avLst>
          </a:prstGeom>
          <a:solidFill>
            <a:srgbClr val="F3F6F9"/>
          </a:solidFill>
          <a:ln>
            <a:noFill/>
          </a:ln>
        </p:spPr>
        <p:txBody>
          <a:bodyPr rtlCol="0" anchor="ctr"/>
          <a:lstStyle/>
          <a:p>
            <a:pPr algn="ctr"/>
          </a:p>
        </p:txBody>
      </p:sp>
      <p:sp>
        <p:nvSpPr>
          <p:cNvPr id="17" name="Oval 16"/>
          <p:cNvSpPr/>
          <p:nvPr/>
        </p:nvSpPr>
        <p:spPr>
          <a:xfrm>
            <a:off x="731520" y="4617720"/>
            <a:ext cx="365760" cy="365760"/>
          </a:xfrm>
          <a:prstGeom prst="ellipse">
            <a:avLst/>
          </a:prstGeom>
          <a:solidFill>
            <a:srgbClr val="13294B"/>
          </a:solidFill>
          <a:ln>
            <a:noFill/>
          </a:ln>
        </p:spPr>
        <p:txBody>
          <a:bodyPr rtlCol="0" anchor="ctr"/>
          <a:lstStyle/>
          <a:p>
            <a:pPr algn="ctr"/>
          </a:p>
        </p:txBody>
      </p:sp>
      <p:sp>
        <p:nvSpPr>
          <p:cNvPr id="18" name="TextBox 17"/>
          <p:cNvSpPr txBox="1"/>
          <p:nvPr/>
        </p:nvSpPr>
        <p:spPr>
          <a:xfrm>
            <a:off x="731520" y="46177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3</a:t>
            </a:r>
          </a:p>
        </p:txBody>
      </p:sp>
      <p:sp>
        <p:nvSpPr>
          <p:cNvPr id="19" name="TextBox 18"/>
          <p:cNvSpPr txBox="1"/>
          <p:nvPr/>
        </p:nvSpPr>
        <p:spPr>
          <a:xfrm>
            <a:off x="1234440" y="43434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긴급하지 않은 경보의 결과 다섯 항목은 변경 전과 같다</a:t>
            </a:r>
          </a:p>
        </p:txBody>
      </p:sp>
      <p:sp>
        <p:nvSpPr>
          <p:cNvPr id="20" name="Rounded Rectangle 19"/>
          <p:cNvSpPr/>
          <p:nvPr/>
        </p:nvSpPr>
        <p:spPr>
          <a:xfrm>
            <a:off x="548640" y="5303520"/>
            <a:ext cx="11094415" cy="822960"/>
          </a:xfrm>
          <a:prstGeom prst="roundRect">
            <a:avLst>
              <a:gd name="adj" fmla="val 8000"/>
            </a:avLst>
          </a:prstGeom>
          <a:solidFill>
            <a:srgbClr val="F3F6F9"/>
          </a:solidFill>
          <a:ln>
            <a:noFill/>
          </a:ln>
        </p:spPr>
        <p:txBody>
          <a:bodyPr rtlCol="0" anchor="ctr"/>
          <a:lstStyle/>
          <a:p>
            <a:pPr algn="ctr"/>
          </a:p>
        </p:txBody>
      </p:sp>
      <p:sp>
        <p:nvSpPr>
          <p:cNvPr id="21" name="Oval 20"/>
          <p:cNvSpPr/>
          <p:nvPr/>
        </p:nvSpPr>
        <p:spPr>
          <a:xfrm>
            <a:off x="731520" y="5532120"/>
            <a:ext cx="365760" cy="365760"/>
          </a:xfrm>
          <a:prstGeom prst="ellipse">
            <a:avLst/>
          </a:prstGeom>
          <a:solidFill>
            <a:srgbClr val="13294B"/>
          </a:solidFill>
          <a:ln>
            <a:noFill/>
          </a:ln>
        </p:spPr>
        <p:txBody>
          <a:bodyPr rtlCol="0" anchor="ctr"/>
          <a:lstStyle/>
          <a:p>
            <a:pPr algn="ctr"/>
          </a:p>
        </p:txBody>
      </p:sp>
      <p:sp>
        <p:nvSpPr>
          <p:cNvPr id="22" name="TextBox 21"/>
          <p:cNvSpPr txBox="1"/>
          <p:nvPr/>
        </p:nvSpPr>
        <p:spPr>
          <a:xfrm>
            <a:off x="731520" y="5532120"/>
            <a:ext cx="365760" cy="365760"/>
          </a:xfrm>
          <a:prstGeom prst="rect">
            <a:avLst/>
          </a:prstGeom>
          <a:noFill/>
        </p:spPr>
        <p:txBody>
          <a:bodyPr wrap="square" anchor="ctr"/>
          <a:lstStyle/>
          <a:p>
            <a:pPr algn="ctr" eaLnBrk="0">
              <a:lnSpc>
                <a:spcPct val="110000"/>
              </a:lnSpc>
            </a:pPr>
            <a:r>
              <a:rPr sz="1300" b="1">
                <a:solidFill>
                  <a:srgbClr val="FFFFFF"/>
                </a:solidFill>
                <a:latin typeface="맑은 고딕"/>
                <a:ea typeface="맑은 고딕"/>
                <a:cs typeface="맑은 고딕"/>
              </a:rPr>
              <a:t>4</a:t>
            </a:r>
          </a:p>
        </p:txBody>
      </p:sp>
      <p:sp>
        <p:nvSpPr>
          <p:cNvPr id="23" name="TextBox 22"/>
          <p:cNvSpPr txBox="1"/>
          <p:nvPr/>
        </p:nvSpPr>
        <p:spPr>
          <a:xfrm>
            <a:off x="1234440" y="5257800"/>
            <a:ext cx="10225735" cy="914400"/>
          </a:xfrm>
          <a:prstGeom prst="rect">
            <a:avLst/>
          </a:prstGeom>
          <a:noFill/>
        </p:spPr>
        <p:txBody>
          <a:bodyPr wrap="square" anchor="ctr"/>
          <a:lstStyle/>
          <a:p>
            <a:pPr algn="l" eaLnBrk="0">
              <a:lnSpc>
                <a:spcPct val="110000"/>
              </a:lnSpc>
            </a:pPr>
            <a:r>
              <a:rPr sz="1550" b="1">
                <a:solidFill>
                  <a:srgbClr val="1F2A3A"/>
                </a:solidFill>
                <a:latin typeface="맑은 고딕"/>
                <a:ea typeface="맑은 고딕"/>
                <a:cs typeface="맑은 고딕"/>
              </a:rPr>
              <a:t>긴급한 경보에서는 승인 절차가 알맞게 간소화된다</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329184"/>
            <a:ext cx="11277295" cy="603504"/>
          </a:xfrm>
          <a:prstGeom prst="rect">
            <a:avLst/>
          </a:prstGeom>
          <a:noFill/>
        </p:spPr>
        <p:txBody>
          <a:bodyPr wrap="square" anchor="ctr"/>
          <a:lstStyle/>
          <a:p>
            <a:pPr algn="l" eaLnBrk="0">
              <a:lnSpc>
                <a:spcPct val="110000"/>
              </a:lnSpc>
            </a:pPr>
            <a:r>
              <a:rPr sz="2800" b="1">
                <a:solidFill>
                  <a:srgbClr val="13294B"/>
                </a:solidFill>
                <a:latin typeface="맑은 고딕"/>
                <a:ea typeface="맑은 고딕"/>
                <a:cs typeface="맑은 고딕"/>
              </a:rPr>
              <a:t>정답과 판단 기준</a:t>
            </a:r>
          </a:p>
        </p:txBody>
      </p:sp>
      <p:sp>
        <p:nvSpPr>
          <p:cNvPr id="3" name="TextBox 2"/>
          <p:cNvSpPr txBox="1"/>
          <p:nvPr/>
        </p:nvSpPr>
        <p:spPr>
          <a:xfrm>
            <a:off x="457200" y="932688"/>
            <a:ext cx="11277295" cy="420624"/>
          </a:xfrm>
          <a:prstGeom prst="rect">
            <a:avLst/>
          </a:prstGeom>
          <a:noFill/>
        </p:spPr>
        <p:txBody>
          <a:bodyPr wrap="square" anchor="ctr"/>
          <a:lstStyle/>
          <a:p>
            <a:pPr algn="l" eaLnBrk="0">
              <a:lnSpc>
                <a:spcPct val="110000"/>
              </a:lnSpc>
            </a:pPr>
            <a:r>
              <a:rPr sz="1600" b="0">
                <a:solidFill>
                  <a:srgbClr val="556175"/>
                </a:solidFill>
                <a:latin typeface="맑은 고딕"/>
                <a:ea typeface="맑은 고딕"/>
                <a:cs typeface="맑은 고딕"/>
              </a:rPr>
              <a:t>세 문항은 검토와 승인, 답변과 승인, 판정할 수 있는 문장과 없는 문장을 올바르게 구분하는지 확인한다.</a:t>
            </a:r>
          </a:p>
        </p:txBody>
      </p:sp>
      <p:sp>
        <p:nvSpPr>
          <p:cNvPr id="4" name="Rectangle 3"/>
          <p:cNvSpPr/>
          <p:nvPr/>
        </p:nvSpPr>
        <p:spPr>
          <a:xfrm>
            <a:off x="548640" y="1408176"/>
            <a:ext cx="11094415" cy="18288"/>
          </a:xfrm>
          <a:prstGeom prst="rect">
            <a:avLst/>
          </a:prstGeom>
          <a:solidFill>
            <a:srgbClr val="D3D9E1"/>
          </a:solidFill>
          <a:ln>
            <a:noFill/>
          </a:ln>
        </p:spPr>
        <p:txBody>
          <a:bodyPr rtlCol="0" anchor="ctr"/>
          <a:lstStyle/>
          <a:p>
            <a:pPr algn="ctr"/>
          </a:p>
        </p:txBody>
      </p:sp>
      <p:sp>
        <p:nvSpPr>
          <p:cNvPr id="5" name="TextBox 4"/>
          <p:cNvSpPr txBox="1"/>
          <p:nvPr/>
        </p:nvSpPr>
        <p:spPr>
          <a:xfrm>
            <a:off x="10911535" y="6473952"/>
            <a:ext cx="822960" cy="274320"/>
          </a:xfrm>
          <a:prstGeom prst="rect">
            <a:avLst/>
          </a:prstGeom>
          <a:noFill/>
        </p:spPr>
        <p:txBody>
          <a:bodyPr wrap="square" anchor="t"/>
          <a:lstStyle/>
          <a:p>
            <a:pPr algn="r" eaLnBrk="0">
              <a:lnSpc>
                <a:spcPct val="110000"/>
              </a:lnSpc>
            </a:pPr>
            <a:r>
              <a:rPr sz="1000" b="0">
                <a:solidFill>
                  <a:srgbClr val="556175"/>
                </a:solidFill>
                <a:latin typeface="맑은 고딕"/>
                <a:ea typeface="맑은 고딕"/>
                <a:cs typeface="맑은 고딕"/>
              </a:rPr>
              <a:t>60</a:t>
            </a:r>
          </a:p>
        </p:txBody>
      </p:sp>
      <p:sp>
        <p:nvSpPr>
          <p:cNvPr id="6" name="Rounded Rectangle 5"/>
          <p:cNvSpPr/>
          <p:nvPr/>
        </p:nvSpPr>
        <p:spPr>
          <a:xfrm>
            <a:off x="548640" y="2418587"/>
            <a:ext cx="11094415" cy="347472"/>
          </a:xfrm>
          <a:prstGeom prst="roundRect">
            <a:avLst>
              <a:gd name="adj" fmla="val 12000"/>
            </a:avLst>
          </a:prstGeom>
          <a:solidFill>
            <a:srgbClr val="13294B"/>
          </a:solidFill>
          <a:ln>
            <a:noFill/>
          </a:ln>
        </p:spPr>
        <p:txBody>
          <a:bodyPr rtlCol="0" anchor="ctr"/>
          <a:lstStyle/>
          <a:p>
            <a:pPr algn="ctr"/>
          </a:p>
        </p:txBody>
      </p:sp>
      <p:sp>
        <p:nvSpPr>
          <p:cNvPr id="7" name="TextBox 6"/>
          <p:cNvSpPr txBox="1"/>
          <p:nvPr/>
        </p:nvSpPr>
        <p:spPr>
          <a:xfrm>
            <a:off x="685800" y="2418587"/>
            <a:ext cx="251460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문항</a:t>
            </a:r>
          </a:p>
        </p:txBody>
      </p:sp>
      <p:sp>
        <p:nvSpPr>
          <p:cNvPr id="8" name="TextBox 7"/>
          <p:cNvSpPr txBox="1"/>
          <p:nvPr/>
        </p:nvSpPr>
        <p:spPr>
          <a:xfrm>
            <a:off x="3200400" y="2418587"/>
            <a:ext cx="6248095"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판단 기준</a:t>
            </a:r>
          </a:p>
        </p:txBody>
      </p:sp>
      <p:sp>
        <p:nvSpPr>
          <p:cNvPr id="9" name="TextBox 8"/>
          <p:cNvSpPr txBox="1"/>
          <p:nvPr/>
        </p:nvSpPr>
        <p:spPr>
          <a:xfrm>
            <a:off x="9448495" y="2418587"/>
            <a:ext cx="2194560" cy="347472"/>
          </a:xfrm>
          <a:prstGeom prst="rect">
            <a:avLst/>
          </a:prstGeom>
          <a:noFill/>
        </p:spPr>
        <p:txBody>
          <a:bodyPr wrap="square" anchor="ctr"/>
          <a:lstStyle/>
          <a:p>
            <a:pPr algn="l" eaLnBrk="0">
              <a:lnSpc>
                <a:spcPct val="110000"/>
              </a:lnSpc>
            </a:pPr>
            <a:r>
              <a:rPr sz="1300" b="1">
                <a:solidFill>
                  <a:srgbClr val="FFFFFF"/>
                </a:solidFill>
                <a:latin typeface="맑은 고딕"/>
                <a:ea typeface="맑은 고딕"/>
                <a:cs typeface="맑은 고딕"/>
              </a:rPr>
              <a:t>정답</a:t>
            </a:r>
          </a:p>
        </p:txBody>
      </p:sp>
      <p:sp>
        <p:nvSpPr>
          <p:cNvPr id="10" name="Rounded Rectangle 9"/>
          <p:cNvSpPr/>
          <p:nvPr/>
        </p:nvSpPr>
        <p:spPr>
          <a:xfrm>
            <a:off x="548640" y="2852927"/>
            <a:ext cx="11094415" cy="850392"/>
          </a:xfrm>
          <a:prstGeom prst="roundRect">
            <a:avLst>
              <a:gd name="adj" fmla="val 8000"/>
            </a:avLst>
          </a:prstGeom>
          <a:solidFill>
            <a:srgbClr val="F3F6F9"/>
          </a:solidFill>
          <a:ln>
            <a:noFill/>
          </a:ln>
        </p:spPr>
        <p:txBody>
          <a:bodyPr rtlCol="0" anchor="ctr"/>
          <a:lstStyle/>
          <a:p>
            <a:pPr algn="ctr"/>
          </a:p>
        </p:txBody>
      </p:sp>
      <p:sp>
        <p:nvSpPr>
          <p:cNvPr id="11" name="TextBox 10"/>
          <p:cNvSpPr txBox="1"/>
          <p:nvPr/>
        </p:nvSpPr>
        <p:spPr>
          <a:xfrm>
            <a:off x="685800" y="28209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1</a:t>
            </a:r>
          </a:p>
        </p:txBody>
      </p:sp>
      <p:sp>
        <p:nvSpPr>
          <p:cNvPr id="12" name="TextBox 11"/>
          <p:cNvSpPr txBox="1"/>
          <p:nvPr/>
        </p:nvSpPr>
        <p:spPr>
          <a:xfrm>
            <a:off x="3200400" y="28209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가드레일과 AI의 검토는 올려도 되는지를 확인할 뿐이다. 실행해도 된다는 결정은 사람의 승인에서만 나온다.</a:t>
            </a:r>
          </a:p>
        </p:txBody>
      </p:sp>
      <p:sp>
        <p:nvSpPr>
          <p:cNvPr id="13" name="TextBox 12"/>
          <p:cNvSpPr txBox="1"/>
          <p:nvPr/>
        </p:nvSpPr>
        <p:spPr>
          <a:xfrm>
            <a:off x="9448495" y="28209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2번</a:t>
            </a:r>
          </a:p>
        </p:txBody>
      </p:sp>
      <p:sp>
        <p:nvSpPr>
          <p:cNvPr id="14" name="Rounded Rectangle 13"/>
          <p:cNvSpPr/>
          <p:nvPr/>
        </p:nvSpPr>
        <p:spPr>
          <a:xfrm>
            <a:off x="548640" y="3767327"/>
            <a:ext cx="11094415" cy="850392"/>
          </a:xfrm>
          <a:prstGeom prst="roundRect">
            <a:avLst>
              <a:gd name="adj" fmla="val 8000"/>
            </a:avLst>
          </a:prstGeom>
          <a:solidFill>
            <a:srgbClr val="F3F6F9"/>
          </a:solidFill>
          <a:ln>
            <a:noFill/>
          </a:ln>
        </p:spPr>
        <p:txBody>
          <a:bodyPr rtlCol="0" anchor="ctr"/>
          <a:lstStyle/>
          <a:p>
            <a:pPr algn="ctr"/>
          </a:p>
        </p:txBody>
      </p:sp>
      <p:sp>
        <p:nvSpPr>
          <p:cNvPr id="15" name="TextBox 14"/>
          <p:cNvSpPr txBox="1"/>
          <p:nvPr/>
        </p:nvSpPr>
        <p:spPr>
          <a:xfrm>
            <a:off x="685800" y="37353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2</a:t>
            </a:r>
          </a:p>
        </p:txBody>
      </p:sp>
      <p:sp>
        <p:nvSpPr>
          <p:cNvPr id="16" name="TextBox 15"/>
          <p:cNvSpPr txBox="1"/>
          <p:nvPr/>
        </p:nvSpPr>
        <p:spPr>
          <a:xfrm>
            <a:off x="3200400" y="37353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답변에서 받는 것은 업무 정보뿐이다. 답변은 승인이 되지 않고, 결정 기록은 승인을 받은 시스템만 적는다.</a:t>
            </a:r>
          </a:p>
        </p:txBody>
      </p:sp>
      <p:sp>
        <p:nvSpPr>
          <p:cNvPr id="17" name="TextBox 16"/>
          <p:cNvSpPr txBox="1"/>
          <p:nvPr/>
        </p:nvSpPr>
        <p:spPr>
          <a:xfrm>
            <a:off x="9448495" y="37353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4번</a:t>
            </a:r>
          </a:p>
        </p:txBody>
      </p:sp>
      <p:sp>
        <p:nvSpPr>
          <p:cNvPr id="18" name="Rounded Rectangle 17"/>
          <p:cNvSpPr/>
          <p:nvPr/>
        </p:nvSpPr>
        <p:spPr>
          <a:xfrm>
            <a:off x="548640" y="4681727"/>
            <a:ext cx="11094415" cy="850392"/>
          </a:xfrm>
          <a:prstGeom prst="roundRect">
            <a:avLst>
              <a:gd name="adj" fmla="val 8000"/>
            </a:avLst>
          </a:prstGeom>
          <a:solidFill>
            <a:srgbClr val="F3F6F9"/>
          </a:solidFill>
          <a:ln>
            <a:noFill/>
          </a:ln>
        </p:spPr>
        <p:txBody>
          <a:bodyPr rtlCol="0" anchor="ctr"/>
          <a:lstStyle/>
          <a:p>
            <a:pPr algn="ctr"/>
          </a:p>
        </p:txBody>
      </p:sp>
      <p:sp>
        <p:nvSpPr>
          <p:cNvPr id="19" name="TextBox 18"/>
          <p:cNvSpPr txBox="1"/>
          <p:nvPr/>
        </p:nvSpPr>
        <p:spPr>
          <a:xfrm>
            <a:off x="685800" y="4649723"/>
            <a:ext cx="2514600" cy="914400"/>
          </a:xfrm>
          <a:prstGeom prst="rect">
            <a:avLst/>
          </a:prstGeom>
          <a:noFill/>
        </p:spPr>
        <p:txBody>
          <a:bodyPr wrap="square" anchor="ctr"/>
          <a:lstStyle/>
          <a:p>
            <a:pPr algn="l" eaLnBrk="0">
              <a:lnSpc>
                <a:spcPct val="110000"/>
              </a:lnSpc>
            </a:pPr>
            <a:r>
              <a:rPr sz="1600" b="1">
                <a:solidFill>
                  <a:srgbClr val="13294B"/>
                </a:solidFill>
                <a:latin typeface="맑은 고딕"/>
                <a:ea typeface="맑은 고딕"/>
                <a:cs typeface="맑은 고딕"/>
              </a:rPr>
              <a:t>Quiz 3</a:t>
            </a:r>
          </a:p>
        </p:txBody>
      </p:sp>
      <p:sp>
        <p:nvSpPr>
          <p:cNvPr id="20" name="TextBox 19"/>
          <p:cNvSpPr txBox="1"/>
          <p:nvPr/>
        </p:nvSpPr>
        <p:spPr>
          <a:xfrm>
            <a:off x="3200400" y="4649723"/>
            <a:ext cx="6156655" cy="914400"/>
          </a:xfrm>
          <a:prstGeom prst="rect">
            <a:avLst/>
          </a:prstGeom>
          <a:noFill/>
        </p:spPr>
        <p:txBody>
          <a:bodyPr wrap="square" anchor="ctr"/>
          <a:lstStyle/>
          <a:p>
            <a:pPr algn="l" eaLnBrk="0">
              <a:lnSpc>
                <a:spcPct val="110000"/>
              </a:lnSpc>
            </a:pPr>
            <a:r>
              <a:rPr sz="1400" b="0">
                <a:solidFill>
                  <a:srgbClr val="1F2A3A"/>
                </a:solidFill>
                <a:latin typeface="맑은 고딕"/>
                <a:ea typeface="맑은 고딕"/>
                <a:cs typeface="맑은 고딕"/>
              </a:rPr>
              <a:t>변경 전과 후의 결과를 대조하면 참과 거짓이 정해지는 문장이다. 나머지는 판정할 기준이 없다.</a:t>
            </a:r>
          </a:p>
        </p:txBody>
      </p:sp>
      <p:sp>
        <p:nvSpPr>
          <p:cNvPr id="21" name="TextBox 20"/>
          <p:cNvSpPr txBox="1"/>
          <p:nvPr/>
        </p:nvSpPr>
        <p:spPr>
          <a:xfrm>
            <a:off x="9448495" y="4649723"/>
            <a:ext cx="2103120" cy="914400"/>
          </a:xfrm>
          <a:prstGeom prst="rect">
            <a:avLst/>
          </a:prstGeom>
          <a:noFill/>
        </p:spPr>
        <p:txBody>
          <a:bodyPr wrap="square" anchor="ctr"/>
          <a:lstStyle/>
          <a:p>
            <a:pPr algn="l" eaLnBrk="0">
              <a:lnSpc>
                <a:spcPct val="110000"/>
              </a:lnSpc>
            </a:pPr>
            <a:r>
              <a:rPr sz="1250" b="1">
                <a:solidFill>
                  <a:srgbClr val="556175"/>
                </a:solidFill>
                <a:latin typeface="맑은 고딕"/>
                <a:ea typeface="맑은 고딕"/>
                <a:cs typeface="맑은 고딕"/>
              </a:rPr>
              <a:t>3번</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