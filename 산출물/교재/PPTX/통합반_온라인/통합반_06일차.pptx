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에이전트가 일하는 방법을 적어 두는 스킬 파일을 원문으로 읽고, 현장의 SOP와 한 번 쓰고 마는 프롬프트와 구별합니다. 다음으로 그 스킬이 부르는 도구가 MCP라는 표준으로 어떻게 연결되고 호출되는지 봅니다. 셋째로 도구를 연결할 때 지킬 안전 기준을 다루고, 마지막 실습에서 도구를 직접 연결하고 스킬을 써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경보를 맡은 에이전트에게 목표와 도구만 주었다고 해 보겠습니다. 앞에는 판단 엔진 도구 19개와 업무 DB 도구 14개가 놓여 있습니다. 무엇부터 부를지, 어떤 순서로 부를지, 근거가 없을 때 어떻게 할지, 무엇을 내고 끝낼지를 그때마다 정해야 합니다. 같은 경보라도 실행마다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실행 고리는 그대로이고, 달라진 것은 에이전트 위에 놓인 지침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스킬이라고 합니다. 스킬의 본체는 SKILL.md라는 파일 하나이고, 스킬 이름과 같은 폴더 안에 놓입니다. HYD에서 쿨러 성능 저하 경보에 쓰는 스킬의 이름은 cooling-emergency-response입니다. 이름이 있으므로 같은 일이 올 때마다 다시 꺼내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하나를 작업 폴더에 넣고 실행한다는 줄로 시작합니다. 입력, 지침, 결과가 한 폴더 안에서 각자의 자리를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지는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출력의 다섯 항목은 이 결과 절이 이름을 정해 둔 것이어서, 사람의 승인을 받는 다음 단계가 실행마다 같은 이름으로 값을 읽습니다. 추천 값 skill:sop-cool-11은 팬 최대 운전을 가리키는 식별자입니다. 이 파일은 같은 스킬로 처리한 다른 쿨러 경보 한 건의 기록이라 판단 번호가 그 건의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설비의 상태를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가르겠습니다. 조치 방법의 클래스 이름이 Skill이고, 앞의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있고, 저마다 에이전트 하나에 붙어 있습니다. 세 스킬 모두 머리말과 절차와 결과로 이루어져 틀이 같고, 절차에 적힌 업무와 부르는 도구만 다릅니다. 에이전트에 붙이지 않은 스킬은 어떤 실행에도 들어가지 않으므로, 스킬을 만든 뒤에는 그 일을 맡을 에이전트에 붙여야 합니다. 셋째 칸의 서버는 각 스킬의 절차가 부르는 도구가 있는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그 시스템 쪽 한 곳만 맞추면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처리 건마다 에이전트를 띄워 실행하는 프로그램입니다.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19개의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하고, 적어 둔 것과 실제가 어긋날 수 있습니다.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옮겼습니다. 구매 쪽 업무 DB 서버가 내주는 part_quotes라는 도구입니다. 이름과 설명과 입력 스키마가 있고, 모델은 이 설명을 읽고 지금 이 도구를 부를지를 정합니다. 그래서 도구의 설명은 사람이 읽는 주석에 그치지 않고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기록에서 원인 진단 호출을 요청의 원래 모양으로 꺼냈습니다. 도구 이름 앞에 서버 이름이 붙어 전체 이름이 되고, 이름이 같은 도구가 두 서버에 있어도 이 전체 이름으로 구분됩니다. 입력은 스키마가 정한 세 항목을 채운 JSON입니다. 입력 스키마는 계약이어서, 포털의 도구 시험은 입력이 스키마를 어기면 서버에 보내기 전에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자체보다 값을 싸고 있는 응답의 모양입니다. 맨 앞의 result가 성공 여부를 알리고, document 안에 값을 읽은 시각 as_of가 들어 있습니다. facts는 판단에 바로 쓰는 값만 추린 자리이고 records는 업무 DB에서 읽은 원래의 행입니다.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몫을 왼쪽부터 나누어 보겠습니다. 모델이 하는 일은 어느 도구를 어떤 값으로 부르겠다는 요청을 내는 데까지입니다. 호스트가 그 요청을 받아 허용된 도구인지 확인하고, 클라이언트가 서버에 전달하며, 서버가 뒤의 시스템에서 값을 읽어 응답을 만듭니다. 응답은 같은 길을 거슬러 모델에게 돌아오고,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있어서, 호스트가 이 명령으로 서버를 직접 띄우는 stdio 방식입니다. hyd-dmn 서버는 주소로 적혀 있고, 이미 떠 있는 서버에 접속하는 Streamable HTTP 방식입니다. 그래서 stdio 서버는 그것을 띄우는 쪽의 PC에서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둘이 함께 있을 때 절차대로 부른 도구의 값이 판단의 근거로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경보의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4단계의 후보 비교는 응답이 너무 커서 본문이 전달되지 않았고, 5단계에서 다시 hyd-dmn 서버가 판단 번호를 돌려주었습니다.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19개 가운데 17개가 true이고, 판단을 제출하는 submit_decision과 submit_purchase 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서버가 도구에 다는 표시입니다. 둘째 겹은 연결 검사이며, 서버에 실제로 연결해 도구 목록을 받고 읽기 표시가 있으면서 이름도 쓰기를 뜻하지 않는 도구만 통과시킵니다. 표시가 false이거나 아예 없는 도구는 여기서 걸러지고, 셋째 겹인 허용 목록에는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허용 목록이라는 이름은 멈춤 조건에서 이미 보았고, 이것이 그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올리며, 쓰기나 표시 없는 도구는 아예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 승인, 실행의 경계를 연결된 도구로 다시 읽습니다. hyd-dmn의 쓰기 둘인 submit_decision과 submit_purchase가 쓰는 것은 사람이 고를 추천안이고, 설비와 업무 기록은 건드리지 않습니다. 설비 명령과 작업지시는 담당자가 승인한 뒤에 시스템이 만들고, 메일을 보내는 send_mail은 에이전트에 아예 연결하지 않습니다. 경계가 지침의 문장에만 있지 않고 도구의 연결에도 놓여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설정에는 값 대신 이름만 적은 자리표시자를 두고, 실제 값은 따로 보관했다가 실행 직전에만 채웁니다.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조치 후보를 비교하는 도구의 응답이 두 쿨러 경보의 실행에서 모두 12만 자를 넘었고, 본문이 에이전트에게 전달되지 않았습니다. 첫째 경보의 실행은 필요한 항목만 좁혀 다시 조회했고, 둘째 경보의 실행은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멈춤 조건에서 이미 구분했고, 위의 두 줄이 그것입니다. 도구를 연결해 쓰면 경우가 둘 더 생깁니다. 정해진 시간 안에 응답하지 못한 호출은 실패로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서버를 등록하거나 도구를 시험할 때 연결이 실패하면, 검사는 빈 목록을 성공처럼 돌려주지 않고 실패로 알립니다. 실패에는 분류와 사람이 읽는 사유가 함께 붙습니다. 응답하는 서버가 없는지, 주소를 못 찾았는지, 시간이 넘었는지, 인증이 만료됐는지에 따라 다음에 확인할 곳이 달라집니다. 도구 목록을 받지 못하면 그 서버는 연결되지 않은 것으로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쿨러 경보의 실행 기록 한 줄을 근거 표시의 눈으로 다시 읽습니다. 여러 서버를 연결하면 값이 어느 서버의 어느 도구에서 왔는지가 중요해지며, 기록에는 hyd-dmn의 diagnose라는 이름이 남아 있습니다. 응답 안의 값에는 원천과 관측 시각이 따로 붙어서, 납기까지 5.98시간이라는 값이 MES에서 왔다는 것까지 따라갈 수 있습니다. 이 두 겹의 표시가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엔진 서버의 등록 상태와 도구 목록을 확인하고, 실습용 서버를 등록해 연결 검사를 거친 뒤 읽기 도구를 불러 봅니다. 도구 이름, 입력 값, 반환된 행이 호출 기록에 남는지 확인하고, 그 도구를 기존 에이전트에 연결합니다. 쓰기 도구가 호출 대상에서 빠진 까닭을 앞에서 본 세 겹으로 설명할 수 있으면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내 PC의 개발 환경에서 바이브 코딩으로 진행합니다. 준비된 파일시스템, Git, 시간 서버를 각각 연결하고 접근 권한을 서버별로 정합니다. 서버마다 도구 목록과 호출 결과를 견준 뒤, 세 서버의 도구를 한 요청에서 이어 부른 결과를 남깁니다. HYD 포털과 내 PC의 개발 도구가 서버를 연결하는 방식의 차이를 설명할 수 있으면 실습의 목표를 이룬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완료 시점을 뽑는 SKILL.md를 작성하고, 담당자나 기한이 적혀 있지 않은 항목은 미정으로 표시하도록 예외 지침을 넣습니다. 그 스킬로 만든 작업 목록을 회의록 원문과 한 항목씩 대조합니다. 요약에서 끝나지 않고 누가 언제까지 무엇을 하는지가 남으면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학습노트나 제공된 매뉴얼에서 문항을 만들고, 학생의 답을 받아 정답과 출처를 붙여 되짚어 준 뒤 다음 문항으로 넘어갑니다. 텍스트 파일을 읽는 방식으로 끝까지 완주하는 것이 목표이고, 피드백마다 원문의 자리가 붙어 있으면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상황마다 먼저 볼 자리를 학생이 고른 뒤 가운데 칸과 대조합니다. 첫 줄은 반복을 맡길 지침이고, 둘째 줄은 사람이 설비에 하는 일의 절차입니다. 셋째 줄은 도구가 늘어도 호스트를 고치지 않는 까닭이고, 넷째 줄은 비밀값을 설정에 남기지 않는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흐름을 다시 정리하는 자리는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시나리오 문항입니다. 스킬에 방법이 적혀 있는데도 실행되지 않았다면 무엇이 빠졌는지를 따져 봅니다. 보기마다 스킬을 고치는 일인지, 연결을 고치는 일인지를 먼저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알려 준 사실과 알려 주지 않은 사실을 가리는 근거 구분 문항입니다. 실패한 조회가 재고에 대해 무엇을 말해 주는지를 따져 봅니다. 보기마다 그 결과를 읽은 사람이 어떤 판단을 하게 될지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어떻게 정하는지를 묻는 책임 경계 문항입니다. 세 도구가 연결 검사에서 각각 어떻게 판정되는지를 따져 봅니다. 표시가 없는 도구를 어떻게 다루는지가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1번과 3번은 스킬을 고치는 일이어서 빠진 연결을 채우지 못하고, 4번은 남은 도구까지 줄입니다. 둘째 문항의 1번은 실패를 값 없음으로 바꾼 것이고, 2번은 지난 값을 지금 값처럼 쓴 것이며, 3번은 확인하지 못했다는 사실까지 지웁니다.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25.png"/><Relationship Id="rId7"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5.png"/><Relationship Id="rId4"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6.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5.png"/><Relationship Id="rId4" Type="http://schemas.openxmlformats.org/officeDocument/2006/relationships/image" Target="../media/image6.png"/><Relationship Id="rId5" Type="http://schemas.openxmlformats.org/officeDocument/2006/relationships/image" Target="../media/image45.png"/><Relationship Id="rId6"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22.png"/><Relationship Id="rId5" Type="http://schemas.openxmlformats.org/officeDocument/2006/relationships/image" Target="../media/image47.png"/><Relationship Id="rId6" Type="http://schemas.openxmlformats.org/officeDocument/2006/relationships/image" Target="../media/image4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49.png"/><Relationship Id="rId5"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9.png"/><Relationship Id="rId4" Type="http://schemas.openxmlformats.org/officeDocument/2006/relationships/image" Target="../media/image36.png"/><Relationship Id="rId5" Type="http://schemas.openxmlformats.org/officeDocument/2006/relationships/image" Target="../media/image51.png"/><Relationship Id="rId6"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업무 능력을 재사용하고 여러 외부 시스템을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업무 지침의 재사용과</a:t>
            </a:r>
          </a:p>
          <a:p>
            <a:pPr algn="l" eaLnBrk="0">
              <a:lnSpc>
                <a:spcPct val="110000"/>
              </a:lnSpc>
            </a:pPr>
            <a:r>
              <a:rPr sz="4000" b="1">
                <a:solidFill>
                  <a:srgbClr val="FFFFFF"/>
                </a:solidFill>
                <a:latin typeface="맑은 고딕"/>
                <a:ea typeface="맑은 고딕"/>
                <a:cs typeface="맑은 고딕"/>
              </a:rPr>
              <a:t>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에이전트가 일하는 방법을 스킬로 남기고, 그 스킬이 부르는 도구를 MCP로 안전하게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일하는 방법을 스킬로 적고, 그 스킬이 부르는 도구를 연결하는 원리와 안전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4784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1468"/>
            <a:ext cx="424281" cy="424281"/>
          </a:xfrm>
          <a:prstGeom prst="rect">
            <a:avLst/>
          </a:prstGeom>
        </p:spPr>
      </p:pic>
      <p:sp>
        <p:nvSpPr>
          <p:cNvPr id="9" name="TextBox 8"/>
          <p:cNvSpPr txBox="1"/>
          <p:nvPr/>
        </p:nvSpPr>
        <p:spPr>
          <a:xfrm>
            <a:off x="713232" y="3170809"/>
            <a:ext cx="2238679" cy="2162302"/>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에이전트 스킬</a:t>
            </a:r>
          </a:p>
          <a:p>
            <a:pPr algn="l" eaLnBrk="0" marL="171450" indent="-171450">
              <a:lnSpc>
                <a:spcPct val="110000"/>
              </a:lnSpc>
              <a:spcAft>
                <a:spcPts val="400"/>
              </a:spcAft>
            </a:pPr>
            <a:r>
              <a:rPr sz="1500" b="0">
                <a:solidFill>
                  <a:srgbClr val="1F2A3A"/>
                </a:solidFill>
                <a:latin typeface="맑은 고딕"/>
                <a:ea typeface="맑은 고딕"/>
                <a:cs typeface="맑은 고딕"/>
              </a:rPr>
              <a:t>• SKILL.md의 머리말 · 절차 · 결과가 맡는 일을 원문에서 짚는다</a:t>
            </a:r>
          </a:p>
          <a:p>
            <a:pPr algn="l" eaLnBrk="0" marL="171450" indent="-171450">
              <a:lnSpc>
                <a:spcPct val="110000"/>
              </a:lnSpc>
              <a:spcAft>
                <a:spcPts val="400"/>
              </a:spcAft>
            </a:pPr>
            <a:r>
              <a:rPr sz="1500" b="0">
                <a:solidFill>
                  <a:srgbClr val="1F2A3A"/>
                </a:solidFill>
                <a:latin typeface="맑은 고딕"/>
                <a:ea typeface="맑은 고딕"/>
                <a:cs typeface="맑은 고딕"/>
              </a:rPr>
              <a:t>• SOP, 한 번의 프롬프트와 구분한다</a:t>
            </a:r>
          </a:p>
        </p:txBody>
      </p:sp>
      <p:sp>
        <p:nvSpPr>
          <p:cNvPr id="10" name="Rounded Rectangle 9"/>
          <p:cNvSpPr/>
          <p:nvPr/>
        </p:nvSpPr>
        <p:spPr>
          <a:xfrm>
            <a:off x="777240" y="540626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626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2" name="Rounded Rectangle 11"/>
          <p:cNvSpPr/>
          <p:nvPr/>
        </p:nvSpPr>
        <p:spPr>
          <a:xfrm>
            <a:off x="3390823"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47849"/>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01468"/>
            <a:ext cx="424281" cy="424281"/>
          </a:xfrm>
          <a:prstGeom prst="rect">
            <a:avLst/>
          </a:prstGeom>
        </p:spPr>
      </p:pic>
      <p:sp>
        <p:nvSpPr>
          <p:cNvPr id="15" name="TextBox 14"/>
          <p:cNvSpPr txBox="1"/>
          <p:nvPr/>
        </p:nvSpPr>
        <p:spPr>
          <a:xfrm>
            <a:off x="3555415" y="3170809"/>
            <a:ext cx="2238679" cy="2162302"/>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MCP 연결</a:t>
            </a:r>
          </a:p>
          <a:p>
            <a:pPr algn="l" eaLnBrk="0" marL="171450" indent="-171450">
              <a:lnSpc>
                <a:spcPct val="110000"/>
              </a:lnSpc>
              <a:spcAft>
                <a:spcPts val="400"/>
              </a:spcAft>
            </a:pPr>
            <a:r>
              <a:rPr sz="1500" b="0">
                <a:solidFill>
                  <a:srgbClr val="1F2A3A"/>
                </a:solidFill>
                <a:latin typeface="맑은 고딕"/>
                <a:ea typeface="맑은 고딕"/>
                <a:cs typeface="맑은 고딕"/>
              </a:rPr>
              <a:t>• 호스트 · 클라이언트 · 서버 · 도구의 관계를 설명한다</a:t>
            </a:r>
          </a:p>
          <a:p>
            <a:pPr algn="l" eaLnBrk="0" marL="171450" indent="-171450">
              <a:lnSpc>
                <a:spcPct val="110000"/>
              </a:lnSpc>
              <a:spcAft>
                <a:spcPts val="400"/>
              </a:spcAft>
            </a:pPr>
            <a:r>
              <a:rPr sz="1500" b="0">
                <a:solidFill>
                  <a:srgbClr val="1F2A3A"/>
                </a:solidFill>
                <a:latin typeface="맑은 고딕"/>
                <a:ea typeface="맑은 고딕"/>
                <a:cs typeface="맑은 고딕"/>
              </a:rPr>
              <a:t>• 도구 목록에서 입력 스키마와 응답을 읽는다</a:t>
            </a:r>
          </a:p>
        </p:txBody>
      </p:sp>
      <p:sp>
        <p:nvSpPr>
          <p:cNvPr id="16" name="Rounded Rectangle 15"/>
          <p:cNvSpPr/>
          <p:nvPr/>
        </p:nvSpPr>
        <p:spPr>
          <a:xfrm>
            <a:off x="3619423" y="540626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47849"/>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501468"/>
            <a:ext cx="424281" cy="424281"/>
          </a:xfrm>
          <a:prstGeom prst="rect">
            <a:avLst/>
          </a:prstGeom>
        </p:spPr>
      </p:pic>
      <p:sp>
        <p:nvSpPr>
          <p:cNvPr id="21" name="TextBox 20"/>
          <p:cNvSpPr txBox="1"/>
          <p:nvPr/>
        </p:nvSpPr>
        <p:spPr>
          <a:xfrm>
            <a:off x="6397599" y="3170809"/>
            <a:ext cx="2238679" cy="2162302"/>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연결의 안전 기준</a:t>
            </a:r>
          </a:p>
          <a:p>
            <a:pPr algn="l" eaLnBrk="0" marL="171450" indent="-171450">
              <a:lnSpc>
                <a:spcPct val="110000"/>
              </a:lnSpc>
              <a:spcAft>
                <a:spcPts val="400"/>
              </a:spcAft>
            </a:pPr>
            <a:r>
              <a:rPr sz="1500" b="0">
                <a:solidFill>
                  <a:srgbClr val="1F2A3A"/>
                </a:solidFill>
                <a:latin typeface="맑은 고딕"/>
                <a:ea typeface="맑은 고딕"/>
                <a:cs typeface="맑은 고딕"/>
              </a:rPr>
              <a:t>• 읽기 · 쓰기 권한, 파일 범위, 비밀값을 점검한다</a:t>
            </a:r>
          </a:p>
          <a:p>
            <a:pPr algn="l" eaLnBrk="0" marL="171450" indent="-171450">
              <a:lnSpc>
                <a:spcPct val="110000"/>
              </a:lnSpc>
              <a:spcAft>
                <a:spcPts val="400"/>
              </a:spcAft>
            </a:pPr>
            <a:r>
              <a:rPr sz="1500" b="0">
                <a:solidFill>
                  <a:srgbClr val="1F2A3A"/>
                </a:solidFill>
                <a:latin typeface="맑은 고딕"/>
                <a:ea typeface="맑은 고딕"/>
                <a:cs typeface="맑은 고딕"/>
              </a:rPr>
              <a:t>• 실패 · 잘림을 구분하고 근거를 남긴다</a:t>
            </a:r>
          </a:p>
        </p:txBody>
      </p:sp>
      <p:sp>
        <p:nvSpPr>
          <p:cNvPr id="22" name="Rounded Rectangle 21"/>
          <p:cNvSpPr/>
          <p:nvPr/>
        </p:nvSpPr>
        <p:spPr>
          <a:xfrm>
            <a:off x="6461607" y="540626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안전</a:t>
            </a:r>
          </a:p>
        </p:txBody>
      </p:sp>
      <p:sp>
        <p:nvSpPr>
          <p:cNvPr id="24" name="Rounded Rectangle 23"/>
          <p:cNvSpPr/>
          <p:nvPr/>
        </p:nvSpPr>
        <p:spPr>
          <a:xfrm>
            <a:off x="9075191" y="2146680"/>
            <a:ext cx="2567863" cy="368935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47849"/>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01468"/>
            <a:ext cx="424281" cy="424281"/>
          </a:xfrm>
          <a:prstGeom prst="rect">
            <a:avLst/>
          </a:prstGeom>
        </p:spPr>
      </p:pic>
      <p:sp>
        <p:nvSpPr>
          <p:cNvPr id="27" name="TextBox 26"/>
          <p:cNvSpPr txBox="1"/>
          <p:nvPr/>
        </p:nvSpPr>
        <p:spPr>
          <a:xfrm>
            <a:off x="9239783" y="3170809"/>
            <a:ext cx="2238679" cy="2162302"/>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연결과 지침의 실습</a:t>
            </a:r>
          </a:p>
          <a:p>
            <a:pPr algn="l" eaLnBrk="0" marL="171450" indent="-171450">
              <a:lnSpc>
                <a:spcPct val="110000"/>
              </a:lnSpc>
              <a:spcAft>
                <a:spcPts val="400"/>
              </a:spcAft>
            </a:pPr>
            <a:r>
              <a:rPr sz="1500" b="0">
                <a:solidFill>
                  <a:srgbClr val="1F2A3A"/>
                </a:solidFill>
                <a:latin typeface="맑은 고딕"/>
                <a:ea typeface="맑은 고딕"/>
                <a:cs typeface="맑은 고딕"/>
              </a:rPr>
              <a:t>• 업무 도구와 여러 MCP 서버를 연결해 호출한다</a:t>
            </a:r>
          </a:p>
          <a:p>
            <a:pPr algn="l" eaLnBrk="0" marL="171450" indent="-171450">
              <a:lnSpc>
                <a:spcPct val="110000"/>
              </a:lnSpc>
              <a:spcAft>
                <a:spcPts val="400"/>
              </a:spcAft>
            </a:pPr>
            <a:r>
              <a:rPr sz="1500" b="0">
                <a:solidFill>
                  <a:srgbClr val="1F2A3A"/>
                </a:solidFill>
                <a:latin typeface="맑은 고딕"/>
                <a:ea typeface="맑은 고딕"/>
                <a:cs typeface="맑은 고딕"/>
              </a:rPr>
              <a:t>• 스킬을 직접 써서 결과를 원문과 대조한다</a:t>
            </a:r>
          </a:p>
        </p:txBody>
      </p:sp>
      <p:sp>
        <p:nvSpPr>
          <p:cNvPr id="28" name="Rounded Rectangle 27"/>
          <p:cNvSpPr/>
          <p:nvPr/>
        </p:nvSpPr>
        <p:spPr>
          <a:xfrm>
            <a:off x="9303791" y="540626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스킬과 SKILL.md</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재사용 지침: SOP · 프롬프트와의 구분</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MCP의 구성: 호스트 · 클라이언트 · 서버 · 도구</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도구의 발견 · 호출 · 연결 방식</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스킬과 MCP: 수행 방법과 실행 도구</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 권한과 연결 검사</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파일 범위 · 비밀값 · 불완전한 응답</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도구 연결 · MCP 조합 · 회의록 스킬 · 학습 코치</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고리_1.svg" descr="illust_7053380959192950691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특정한 일을 수행하는 방법을 이름을 붙여 적어 둔 지침 묶음이며, 에이전트가 필요할 때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eaLnBrk="0">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스킬의 본체가 되는 파일이다.</a:t>
            </a:r>
          </a:p>
          <a:p>
            <a:pPr algn="l" eaLnBrk="0">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eaLnBrk="0">
              <a:lnSpc>
                <a:spcPct val="110000"/>
              </a:lnSpc>
              <a:spcAft>
                <a:spcPts val="300"/>
              </a:spcAft>
            </a:pPr>
            <a:r>
              <a:rPr sz="1400" b="0">
                <a:solidFill>
                  <a:srgbClr val="1F2A3A"/>
                </a:solidFill>
                <a:latin typeface="맑은 고딕"/>
                <a:ea typeface="맑은 고딕"/>
                <a:cs typeface="맑은 고딕"/>
              </a:rPr>
              <a:t>스킬 폴더의 이름과 같아야 저장된다.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eaLnBrk="0">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설명이 모호할 때</a:t>
            </a:r>
          </a:p>
          <a:p>
            <a:pPr algn="l" eaLnBrk="0">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 · 4 · 5단계</a:t>
            </a:r>
          </a:p>
          <a:p>
            <a:pPr algn="l" eaLnBrk="0">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2단계의 끝</a:t>
            </a:r>
          </a:p>
          <a:p>
            <a:pPr algn="l" eaLnBrk="0">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스킬문서.svg" descr="illust_9151646119851132581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45080"/>
            <a:ext cx="5181447" cy="289255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4624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899867"/>
            <a:ext cx="424281" cy="424281"/>
          </a:xfrm>
          <a:prstGeom prst="rect">
            <a:avLst/>
          </a:prstGeom>
        </p:spPr>
      </p:pic>
      <p:sp>
        <p:nvSpPr>
          <p:cNvPr id="9" name="TextBox 8"/>
          <p:cNvSpPr txBox="1"/>
          <p:nvPr/>
        </p:nvSpPr>
        <p:spPr>
          <a:xfrm>
            <a:off x="1691640" y="274624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596640"/>
            <a:ext cx="4632807" cy="1292352"/>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8043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804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45080"/>
            <a:ext cx="5181447" cy="289255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46248"/>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899867"/>
            <a:ext cx="424281" cy="424281"/>
          </a:xfrm>
          <a:prstGeom prst="rect">
            <a:avLst/>
          </a:prstGeom>
        </p:spPr>
      </p:pic>
      <p:sp>
        <p:nvSpPr>
          <p:cNvPr id="16" name="TextBox 15"/>
          <p:cNvSpPr txBox="1"/>
          <p:nvPr/>
        </p:nvSpPr>
        <p:spPr>
          <a:xfrm>
            <a:off x="7604607" y="274624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596640"/>
            <a:ext cx="4632807" cy="1292352"/>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8043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804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두절차.svg" descr="illust_2263895350967582912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읽는 이: 현장 작업자</a:t>
            </a:r>
          </a:p>
          <a:p>
            <a:pPr algn="l" eaLnBrk="0" marL="160020" indent="-160020">
              <a:lnSpc>
                <a:spcPct val="110000"/>
              </a:lnSpc>
              <a:spcAft>
                <a:spcPts val="600"/>
              </a:spcAft>
            </a:pPr>
            <a:r>
              <a:rPr sz="1400" b="0">
                <a:solidFill>
                  <a:srgbClr val="1F2A3A"/>
                </a:solidFill>
                <a:latin typeface="맑은 고딕"/>
                <a:ea typeface="맑은 고딕"/>
                <a:cs typeface="맑은 고딕"/>
              </a:rPr>
              <a:t>• 적는 것: 설비를 다루는 순서, 안전 조건, 금지 사항</a:t>
            </a:r>
          </a:p>
          <a:p>
            <a:pPr algn="l" eaLnBrk="0" marL="160020" indent="-160020">
              <a:lnSpc>
                <a:spcPct val="110000"/>
              </a:lnSpc>
              <a:spcAft>
                <a:spcPts val="600"/>
              </a:spcAft>
            </a:pPr>
            <a:r>
              <a:rPr sz="1400" b="0">
                <a:solidFill>
                  <a:srgbClr val="1F2A3A"/>
                </a:solidFill>
                <a:latin typeface="맑은 고딕"/>
                <a:ea typeface="맑은 고딕"/>
                <a:cs typeface="맑은 고딕"/>
              </a:rPr>
              <a:t>• 형식: 설비 매뉴얼의 한 절</a:t>
            </a:r>
          </a:p>
          <a:p>
            <a:pPr algn="l" eaLnBrk="0" marL="160020" indent="-160020">
              <a:lnSpc>
                <a:spcPct val="110000"/>
              </a:lnSpc>
              <a:spcAft>
                <a:spcPts val="600"/>
              </a:spcAft>
            </a:pPr>
            <a:r>
              <a:rPr sz="140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42010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읽는 이: 에이전트</a:t>
            </a:r>
          </a:p>
          <a:p>
            <a:pPr algn="l" eaLnBrk="0" marL="171450" indent="-171450">
              <a:lnSpc>
                <a:spcPct val="110000"/>
              </a:lnSpc>
              <a:spcAft>
                <a:spcPts val="600"/>
              </a:spcAft>
            </a:pPr>
            <a:r>
              <a:rPr sz="1500" b="0">
                <a:solidFill>
                  <a:srgbClr val="1F2A3A"/>
                </a:solidFill>
                <a:latin typeface="맑은 고딕"/>
                <a:ea typeface="맑은 고딕"/>
                <a:cs typeface="맑은 고딕"/>
              </a:rPr>
              <a:t>• 적는 것: 부를 도구와 순서, 근거가 없을 때의 행동, 결과의 모양</a:t>
            </a:r>
          </a:p>
          <a:p>
            <a:pPr algn="l" eaLnBrk="0" marL="171450" indent="-171450">
              <a:lnSpc>
                <a:spcPct val="110000"/>
              </a:lnSpc>
              <a:spcAft>
                <a:spcPts val="600"/>
              </a:spcAft>
            </a:pPr>
            <a:r>
              <a:rPr sz="1500" b="0">
                <a:solidFill>
                  <a:srgbClr val="1F2A3A"/>
                </a:solidFill>
                <a:latin typeface="맑은 고딕"/>
                <a:ea typeface="맑은 고딕"/>
                <a:cs typeface="맑은 고딕"/>
              </a:rPr>
              <a:t>• 형식: 머리말과 본문을 가진 SKILL.md</a:t>
            </a:r>
          </a:p>
          <a:p>
            <a:pPr algn="l" eaLnBrk="0" marL="171450" indent="-171450">
              <a:lnSpc>
                <a:spcPct val="110000"/>
              </a:lnSpc>
              <a:spcAft>
                <a:spcPts val="600"/>
              </a:spcAft>
            </a:pPr>
            <a:r>
              <a:rPr sz="150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42010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파일</a:t>
            </a:r>
          </a:p>
          <a:p>
            <a:pPr algn="l" eaLnBrk="0">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재사용.svg" descr="illust_7500001637192504005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그 실행에만 쓰인다</a:t>
            </a:r>
          </a:p>
          <a:p>
            <a:pPr algn="l" eaLnBrk="0" marL="200025" indent="-200025">
              <a:lnSpc>
                <a:spcPct val="110000"/>
              </a:lnSpc>
              <a:spcAft>
                <a:spcPts val="600"/>
              </a:spcAft>
            </a:pPr>
            <a:r>
              <a:rPr sz="1750" b="0">
                <a:solidFill>
                  <a:srgbClr val="1F2A3A"/>
                </a:solidFill>
                <a:latin typeface="맑은 고딕"/>
                <a:ea typeface="맑은 고딕"/>
                <a:cs typeface="맑은 고딕"/>
              </a:rPr>
              <a:t>• 이름이 없어 다시 찾아 쓰기 어렵다</a:t>
            </a:r>
          </a:p>
          <a:p>
            <a:pPr algn="l" eaLnBrk="0" marL="200025" indent="-200025">
              <a:lnSpc>
                <a:spcPct val="110000"/>
              </a:lnSpc>
              <a:spcAft>
                <a:spcPts val="600"/>
              </a:spcAft>
            </a:pPr>
            <a:r>
              <a:rPr sz="1750" b="0">
                <a:solidFill>
                  <a:srgbClr val="1F2A3A"/>
                </a:solidFill>
                <a:latin typeface="맑은 고딕"/>
                <a:ea typeface="맑은 고딕"/>
                <a:cs typeface="맑은 고딕"/>
              </a:rPr>
              <a:t>• 쓸 때마다 내용이 조금씩 달라진다</a:t>
            </a:r>
          </a:p>
          <a:p>
            <a:pPr algn="l" eaLnBrk="0" marL="200025" indent="-200025">
              <a:lnSpc>
                <a:spcPct val="110000"/>
              </a:lnSpc>
              <a:spcAft>
                <a:spcPts val="600"/>
              </a:spcAft>
            </a:pPr>
            <a:r>
              <a:rPr sz="17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36263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이름으로 보관되어 실행마다 다시 쓰인다</a:t>
            </a:r>
          </a:p>
          <a:p>
            <a:pPr algn="l" eaLnBrk="0" marL="200025" indent="-200025">
              <a:lnSpc>
                <a:spcPct val="110000"/>
              </a:lnSpc>
              <a:spcAft>
                <a:spcPts val="600"/>
              </a:spcAft>
            </a:pPr>
            <a:r>
              <a:rPr sz="1750" b="0">
                <a:solidFill>
                  <a:srgbClr val="1F2A3A"/>
                </a:solidFill>
                <a:latin typeface="맑은 고딕"/>
                <a:ea typeface="맑은 고딕"/>
                <a:cs typeface="맑은 고딕"/>
              </a:rPr>
              <a:t>• 여러 에이전트에 붙일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한곳을 고치면 붙어 있는 모든 곳에 반영된다</a:t>
            </a:r>
          </a:p>
          <a:p>
            <a:pPr algn="l" eaLnBrk="0" marL="200025" indent="-200025">
              <a:lnSpc>
                <a:spcPct val="110000"/>
              </a:lnSpc>
              <a:spcAft>
                <a:spcPts val="600"/>
              </a:spcAft>
            </a:pPr>
            <a:r>
              <a:rPr sz="17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362638"/>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description</a:t>
            </a:r>
          </a:p>
          <a:p>
            <a:pPr algn="l" eaLnBrk="0">
              <a:lnSpc>
                <a:spcPct val="110000"/>
              </a:lnSpc>
              <a:spcAft>
                <a:spcPts val="400"/>
              </a:spcAft>
            </a:pPr>
            <a:r>
              <a:rPr sz="17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도구 이름</a:t>
            </a:r>
          </a:p>
          <a:p>
            <a:pPr algn="l" eaLnBrk="0" marL="200025" indent="-200025">
              <a:lnSpc>
                <a:spcPct val="110000"/>
              </a:lnSpc>
              <a:spcAft>
                <a:spcPts val="400"/>
              </a:spcAft>
            </a:pPr>
            <a:r>
              <a:rPr sz="1750" b="0">
                <a:solidFill>
                  <a:srgbClr val="1F2A3A"/>
                </a:solidFill>
                <a:latin typeface="맑은 고딕"/>
                <a:ea typeface="맑은 고딕"/>
                <a:cs typeface="맑은 고딕"/>
              </a:rPr>
              <a:t>• 도구 목록에 있는 이름을 그대로 옮겨 적는다</a:t>
            </a:r>
          </a:p>
          <a:p>
            <a:pPr algn="l" eaLnBrk="0" marL="200025" indent="-200025">
              <a:lnSpc>
                <a:spcPct val="110000"/>
              </a:lnSpc>
              <a:spcAft>
                <a:spcPts val="400"/>
              </a:spcAft>
            </a:pPr>
            <a:r>
              <a:rPr sz="17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752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결과 항목</a:t>
            </a:r>
          </a:p>
          <a:p>
            <a:pPr algn="l" eaLnBrk="0">
              <a:lnSpc>
                <a:spcPct val="110000"/>
              </a:lnSpc>
              <a:spcAft>
                <a:spcPts val="400"/>
              </a:spcAft>
            </a:pPr>
            <a:r>
              <a:rPr sz="17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연결의수.svg" descr="illust_8902333687749770915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eaLnBrk="0">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eaLnBrk="0">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a:t>
            </a:r>
          </a:p>
          <a:p>
            <a:pPr algn="l" eaLnBrk="0">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eaLnBrk="0">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MCP구성.svg" descr="illust_8856518439744581166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에이전트를 실행하는 프로그램이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에이전트를 띄워 실행하는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목록호출.svg" descr="illust_4983723427391261570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19개의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서버의 도구가 바뀌면 호스트도 고쳐야 한다</a:t>
            </a:r>
          </a:p>
          <a:p>
            <a:pPr algn="l" eaLnBrk="0" marL="188595" indent="-188595">
              <a:lnSpc>
                <a:spcPct val="110000"/>
              </a:lnSpc>
              <a:spcAft>
                <a:spcPts val="600"/>
              </a:spcAft>
            </a:pPr>
            <a:r>
              <a:rPr sz="16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9205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서버가 지금 내주는 도구를 그대로 받는다</a:t>
            </a:r>
          </a:p>
          <a:p>
            <a:pPr algn="l" eaLnBrk="0" marL="188595" indent="-188595">
              <a:lnSpc>
                <a:spcPct val="110000"/>
              </a:lnSpc>
              <a:spcAft>
                <a:spcPts val="600"/>
              </a:spcAft>
            </a:pPr>
            <a:r>
              <a:rPr sz="1650" b="0">
                <a:solidFill>
                  <a:srgbClr val="1F2A3A"/>
                </a:solidFill>
                <a:latin typeface="맑은 고딕"/>
                <a:ea typeface="맑은 고딕"/>
                <a:cs typeface="맑은 고딕"/>
              </a:rPr>
              <a:t>• 이름, 설명, 입력 스키마가 목록에 함께 온다</a:t>
            </a:r>
          </a:p>
          <a:p>
            <a:pPr algn="l" eaLnBrk="0" marL="188595" indent="-188595">
              <a:lnSpc>
                <a:spcPct val="110000"/>
              </a:lnSpc>
              <a:spcAft>
                <a:spcPts val="600"/>
              </a:spcAft>
            </a:pPr>
            <a:r>
              <a:rPr sz="16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9205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넘길 값의 이름, 형, 기본값을 JSON Schema로 정한다.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포털의 도구 시험은 입력이 스키마를 어기면 서버에 보내지 않고 거절한다.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result</a:t>
            </a:r>
          </a:p>
          <a:p>
            <a:pPr algn="l" eaLnBrk="0">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a:t>
            </a:r>
          </a:p>
          <a:p>
            <a:pPr algn="l" eaLnBrk="0">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부를 도구와 값을 요청으로 낼 뿐이고, 호스트가 허용을 확인한 요청을 클라이언트가 서버에 전달해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서버를 호스트가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연결방식.svg" descr="illust_81690525442455955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스스로는 아무것도 실행하지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스킬만 있다</a:t>
            </a:r>
          </a:p>
          <a:p>
            <a:pPr algn="l" eaLnBrk="0" marL="205740" indent="-205740">
              <a:lnSpc>
                <a:spcPct val="110000"/>
              </a:lnSpc>
              <a:spcAft>
                <a:spcPts val="400"/>
              </a:spcAft>
            </a:pPr>
            <a:r>
              <a:rPr sz="1800" b="0">
                <a:solidFill>
                  <a:srgbClr val="1F2A3A"/>
                </a:solidFill>
                <a:latin typeface="맑은 고딕"/>
                <a:ea typeface="맑은 고딕"/>
                <a:cs typeface="맑은 고딕"/>
              </a:rPr>
              <a:t>• 절차에 적힌 도구를 부를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도구만 있다</a:t>
            </a:r>
          </a:p>
          <a:p>
            <a:pPr algn="l" eaLnBrk="0" marL="205740" indent="-205740">
              <a:lnSpc>
                <a:spcPct val="110000"/>
              </a:lnSpc>
              <a:spcAft>
                <a:spcPts val="400"/>
              </a:spcAft>
            </a:pPr>
            <a:r>
              <a:rPr sz="1800" b="0">
                <a:solidFill>
                  <a:srgbClr val="1F2A3A"/>
                </a:solidFill>
                <a:latin typeface="맑은 고딕"/>
                <a:ea typeface="맑은 고딕"/>
                <a:cs typeface="맑은 고딕"/>
              </a:rPr>
              <a:t>• 무엇을 어떤 순서로 부를지 에이전트가 처음부터 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둘 다 있다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스킬의 절차대로 서버의 도구를 부른다</a:t>
            </a:r>
          </a:p>
          <a:p>
            <a:pPr algn="l" eaLnBrk="0" marL="205740" indent="-205740">
              <a:lnSpc>
                <a:spcPct val="110000"/>
              </a:lnSpc>
              <a:spcAft>
                <a:spcPts val="400"/>
              </a:spcAft>
            </a:pPr>
            <a:r>
              <a:rPr sz="18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둘째 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시스템의 상태를 바꾸지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잘못 불렀으면 다시 부르면 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520446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시스템의 상태를 바꾸거나 밖으로 내보낸다</a:t>
            </a:r>
          </a:p>
          <a:p>
            <a:pPr algn="l" eaLnBrk="0" marL="205740" indent="-205740">
              <a:lnSpc>
                <a:spcPct val="110000"/>
              </a:lnSpc>
              <a:spcAft>
                <a:spcPts val="600"/>
              </a:spcAft>
            </a:pPr>
            <a:r>
              <a:rPr sz="1800" b="0">
                <a:solidFill>
                  <a:srgbClr val="1F2A3A"/>
                </a:solidFill>
                <a:latin typeface="맑은 고딕"/>
                <a:ea typeface="맑은 고딕"/>
                <a:cs typeface="맑은 고딕"/>
              </a:rPr>
              <a:t>• 한 번 실행되면 되돌리기 어렵다</a:t>
            </a:r>
          </a:p>
          <a:p>
            <a:pPr algn="l" eaLnBrk="0" marL="205740" indent="-205740">
              <a:lnSpc>
                <a:spcPct val="110000"/>
              </a:lnSpc>
              <a:spcAft>
                <a:spcPts val="600"/>
              </a:spcAft>
            </a:pPr>
            <a:r>
              <a:rPr sz="180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세겹.svg" descr="illust_9102558884871054429_17921266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읽기로 인정된 도구의 이름만 오르고, 나머지는 막는다.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에이전트에 연결된 쓰기 도구는 사람이 고를 판단을 제출하는 두 도구뿐이며, 설비에 명령을 내는 도구는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설비와 업무 기록은 건드리지 않는다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a:lnSpc>
                <a:spcPct val="110000"/>
              </a:lnSpc>
              <a:spcAft>
                <a:spcPts val="400"/>
              </a:spcAft>
            </a:pPr>
            <a:r>
              <a:rPr sz="18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 토큰을 그대로 적으면 설정을 보는 누구에게나 드러나므로, </a:t>
            </a:r>
            <a:r>
              <a:rPr sz="1600" b="1">
                <a:solidFill>
                  <a:srgbClr val="1A6FC4"/>
                </a:solidFill>
                <a:latin typeface="맑은 고딕"/>
                <a:ea typeface="맑은 고딕"/>
                <a:cs typeface="맑은 고딕"/>
              </a:rPr>
              <a:t>자리표시자</a:t>
            </a:r>
            <a:r>
              <a:rPr sz="1600" b="0">
                <a:solidFill>
                  <a:srgbClr val="556175"/>
                </a:solidFill>
                <a:latin typeface="맑은 고딕"/>
                <a:ea typeface="맑은 고딕"/>
                <a:cs typeface="맑은 고딕"/>
              </a:rPr>
              <a:t>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후보를 비교한 응답은 두 실행 모두 12만 자를 넘어 전달되지 않았고, 에이전트는 받지 못한 범위를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evaluate_cards</a:t>
            </a:r>
          </a:p>
          <a:p>
            <a:pPr algn="ctr" eaLnBrk="0">
              <a:lnSpc>
                <a:spcPct val="110000"/>
              </a:lnSpc>
              <a:spcAft>
                <a:spcPts val="400"/>
              </a:spcAft>
            </a:pPr>
            <a:r>
              <a:rPr sz="1650" b="0">
                <a:solidFill>
                  <a:srgbClr val="1F2A3A"/>
                </a:solidFill>
                <a:latin typeface="맑은 고딕"/>
                <a:ea typeface="맑은 고딕"/>
                <a:cs typeface="맑은 고딕"/>
              </a:rPr>
              <a:t>두 실행에서 같은 도구</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응답</a:t>
            </a:r>
          </a:p>
          <a:p>
            <a:pPr algn="ctr" eaLnBrk="0">
              <a:lnSpc>
                <a:spcPct val="110000"/>
              </a:lnSpc>
              <a:spcAft>
                <a:spcPts val="400"/>
              </a:spcAft>
            </a:pPr>
            <a:r>
              <a:rPr sz="1650" b="0">
                <a:solidFill>
                  <a:srgbClr val="1F2A3A"/>
                </a:solidFill>
                <a:latin typeface="맑은 고딕"/>
                <a:ea typeface="맑은 고딕"/>
                <a:cs typeface="맑은 고딕"/>
              </a:rPr>
              <a:t>128,466자와 128,468자</a:t>
            </a:r>
          </a:p>
          <a:p>
            <a:pPr algn="ctr" eaLnBrk="0">
              <a:lnSpc>
                <a:spcPct val="110000"/>
              </a:lnSpc>
              <a:spcAft>
                <a:spcPts val="400"/>
              </a:spcAft>
            </a:pPr>
            <a:r>
              <a:rPr sz="1650" b="0">
                <a:solidFill>
                  <a:srgbClr val="1F2A3A"/>
                </a:solidFill>
                <a:latin typeface="맑은 고딕"/>
                <a:ea typeface="맑은 고딕"/>
                <a:cs typeface="맑은 고딕"/>
              </a:rPr>
              <a:t>본문이 전달되지 않음</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첫째 경보의 실행</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둘째 경보의 실행</a:t>
            </a:r>
          </a:p>
          <a:p>
            <a:pPr algn="ctr" eaLnBrk="0">
              <a:lnSpc>
                <a:spcPct val="110000"/>
              </a:lnSpc>
              <a:spcAft>
                <a:spcPts val="400"/>
              </a:spcAft>
            </a:pPr>
            <a:r>
              <a:rPr sz="1650" b="0">
                <a:solidFill>
                  <a:srgbClr val="1F2A3A"/>
                </a:solidFill>
                <a:latin typeface="맑은 고딕"/>
                <a:ea typeface="맑은 고딕"/>
                <a:cs typeface="맑은 고딕"/>
              </a:rPr>
              <a:t>열어 보지 못한 출력이</a:t>
            </a:r>
          </a:p>
          <a:p>
            <a:pPr algn="ctr" eaLnBrk="0">
              <a:lnSpc>
                <a:spcPct val="110000"/>
              </a:lnSpc>
              <a:spcAft>
                <a:spcPts val="400"/>
              </a:spcAft>
            </a:pPr>
            <a:r>
              <a:rPr sz="1650" b="0">
                <a:solidFill>
                  <a:srgbClr val="1F2A3A"/>
                </a:solidFill>
                <a:latin typeface="맑은 고딕"/>
                <a:ea typeface="맑은 고딕"/>
                <a:cs typeface="맑은 고딕"/>
              </a:rPr>
              <a:t>있음을 보고에 적었다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result가 error이고</a:t>
            </a:r>
          </a:p>
          <a:p>
            <a:pPr algn="l" eaLnBrk="0">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실패로 적는다</a:t>
            </a:r>
          </a:p>
          <a:p>
            <a:pPr algn="l" eaLnBrk="0">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시간 안에 응답하지 못해</a:t>
            </a:r>
          </a:p>
          <a:p>
            <a:pPr algn="l" eaLnBrk="0">
              <a:lnSpc>
                <a:spcPct val="110000"/>
              </a:lnSpc>
            </a:pPr>
            <a:r>
              <a:rPr sz="1400" b="0">
                <a:solidFill>
                  <a:srgbClr val="1F2A3A"/>
                </a:solidFill>
                <a:latin typeface="맑은 고딕"/>
                <a:ea typeface="맑은 고딕"/>
                <a:cs typeface="맑은 고딕"/>
              </a:rPr>
              <a:t>실패로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본문의 일부만 오거나</a:t>
            </a:r>
          </a:p>
          <a:p>
            <a:pPr algn="l" eaLnBrk="0">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주소에 닿았으나 응답하는 서버가 없다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서버가 켜져 있는지,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주소 자체를 찾지 못했다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서비스 이름 · 호스트 이름</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시간 안에 응답이 없다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서버가 느리거나 방화벽이 막는지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인증이 만료되었거나 없다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토큰을 새로 받아 다시 연결</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형식이 아니다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주소의 경로(보통 /mcp)</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서버의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명령을 띄우는 쪽의 PC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a:p>
            <a:pPr algn="l" eaLnBrk="0">
              <a:lnSpc>
                <a:spcPct val="110000"/>
              </a:lnSpc>
              <a:spcAft>
                <a:spcPts val="400"/>
              </a:spcAft>
            </a:pPr>
            <a:r>
              <a:rPr sz="1400" b="0">
                <a:solidFill>
                  <a:srgbClr val="1F2A3A"/>
                </a:solidFill>
                <a:latin typeface="맑은 고딕"/>
                <a:ea typeface="맑은 고딕"/>
                <a:cs typeface="맑은 고딕"/>
              </a:rPr>
              <a:t>예: 납기까지 5.98시간의 원천은 MES이다.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 서버의 도구를 확인하고 등록한 서버를 연결 검사로 통과시켜, 읽기 도구의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실습용으로 제공하는 읽기 전용 서버 하나</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서버마다 설정</a:t>
            </a:r>
          </a:p>
          <a:p>
            <a:pPr algn="l" eaLnBrk="0">
              <a:lnSpc>
                <a:spcPct val="110000"/>
              </a:lnSpc>
              <a:spcAft>
                <a:spcPts val="400"/>
              </a:spcAft>
            </a:pPr>
            <a:r>
              <a:rPr sz="145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목록과 결과의 비교</a:t>
            </a:r>
          </a:p>
          <a:p>
            <a:pPr algn="l" eaLnBrk="0">
              <a:lnSpc>
                <a:spcPct val="110000"/>
              </a:lnSpc>
              <a:spcAft>
                <a:spcPts val="400"/>
              </a:spcAft>
            </a:pPr>
            <a:r>
              <a:rPr sz="145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한 요청에서 조합</a:t>
            </a:r>
          </a:p>
          <a:p>
            <a:pPr algn="l" eaLnBrk="0">
              <a:lnSpc>
                <a:spcPct val="110000"/>
              </a:lnSpc>
              <a:spcAft>
                <a:spcPts val="400"/>
              </a:spcAft>
            </a:pPr>
            <a:r>
              <a:rPr sz="145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34816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 방식의 대조</a:t>
            </a:r>
          </a:p>
          <a:p>
            <a:pPr algn="l" eaLnBrk="0" marL="165735" indent="-165735">
              <a:lnSpc>
                <a:spcPct val="110000"/>
              </a:lnSpc>
              <a:spcAft>
                <a:spcPts val="400"/>
              </a:spcAft>
            </a:pPr>
            <a:r>
              <a:rPr sz="1450" b="0">
                <a:solidFill>
                  <a:srgbClr val="1F2A3A"/>
                </a:solidFill>
                <a:latin typeface="맑은 고딕"/>
                <a:ea typeface="맑은 고딕"/>
                <a:cs typeface="맑은 고딕"/>
              </a:rPr>
              <a:t>• HYD 포털은 연결 검사를 통과한 서버만 에이전트에 붙인다</a:t>
            </a:r>
          </a:p>
          <a:p>
            <a:pPr algn="l" eaLnBrk="0" marL="165735" indent="-165735">
              <a:lnSpc>
                <a:spcPct val="110000"/>
              </a:lnSpc>
              <a:spcAft>
                <a:spcPts val="400"/>
              </a:spcAft>
            </a:pPr>
            <a:r>
              <a:rPr sz="1450" b="0">
                <a:solidFill>
                  <a:srgbClr val="1F2A3A"/>
                </a:solidFill>
                <a:latin typeface="맑은 고딕"/>
                <a:ea typeface="맑은 고딕"/>
                <a:cs typeface="맑은 고딕"/>
              </a:rPr>
              <a:t>• 내 PC의 코딩 도구는 설정 파일에 적은 서버를 사용자가 허용해야 쓴다</a:t>
            </a:r>
          </a:p>
        </p:txBody>
      </p:sp>
      <p:sp>
        <p:nvSpPr>
          <p:cNvPr id="28" name="Rounded Rectangle 27"/>
          <p:cNvSpPr/>
          <p:nvPr/>
        </p:nvSpPr>
        <p:spPr>
          <a:xfrm>
            <a:off x="9303791" y="534816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스킬 작성</a:t>
            </a:r>
          </a:p>
          <a:p>
            <a:pPr algn="l" eaLnBrk="0" marL="205740" indent="-205740">
              <a:lnSpc>
                <a:spcPct val="110000"/>
              </a:lnSpc>
              <a:spcAft>
                <a:spcPts val="400"/>
              </a:spcAft>
            </a:pPr>
            <a:r>
              <a:rPr sz="1800" b="0">
                <a:solidFill>
                  <a:srgbClr val="1F2A3A"/>
                </a:solidFill>
                <a:latin typeface="맑은 고딕"/>
                <a:ea typeface="맑은 고딕"/>
                <a:cs typeface="맑은 고딕"/>
              </a:rPr>
              <a:t>• 예제 회의록을 입력으로 받는다</a:t>
            </a:r>
          </a:p>
          <a:p>
            <a:pPr algn="l" eaLnBrk="0" marL="205740" indent="-205740">
              <a:lnSpc>
                <a:spcPct val="110000"/>
              </a:lnSpc>
              <a:spcAft>
                <a:spcPts val="400"/>
              </a:spcAft>
            </a:pPr>
            <a:r>
              <a:rPr sz="18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398516"/>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예외 지침</a:t>
            </a:r>
          </a:p>
          <a:p>
            <a:pPr algn="l" eaLnBrk="0">
              <a:lnSpc>
                <a:spcPct val="110000"/>
              </a:lnSpc>
              <a:spcAft>
                <a:spcPts val="400"/>
              </a:spcAft>
            </a:pPr>
            <a:r>
              <a:rPr sz="18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작업 목록과 검토</a:t>
            </a:r>
          </a:p>
          <a:p>
            <a:pPr algn="l" eaLnBrk="0" marL="205740" indent="-205740">
              <a:lnSpc>
                <a:spcPct val="110000"/>
              </a:lnSpc>
              <a:spcAft>
                <a:spcPts val="400"/>
              </a:spcAft>
            </a:pPr>
            <a:r>
              <a:rPr sz="1800" b="0">
                <a:solidFill>
                  <a:srgbClr val="1F2A3A"/>
                </a:solidFill>
                <a:latin typeface="맑은 고딕"/>
                <a:ea typeface="맑은 고딕"/>
                <a:cs typeface="맑은 고딕"/>
              </a:rPr>
              <a:t>• Markdown과 JSON 작업 목록을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문항 · 답변 · 출처 피드백으로 이어지는 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학습노트에서 문항을 내고, 답을 받아 정답과 출처로 되짚은 뒤 다음 문항으로 넘어가는 대화를 텍스트 파일로 완주한다.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46667"/>
            <a:ext cx="2485567" cy="288937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295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83166"/>
            <a:ext cx="424281" cy="424281"/>
          </a:xfrm>
          <a:prstGeom prst="rect">
            <a:avLst/>
          </a:prstGeom>
        </p:spPr>
      </p:pic>
      <p:sp>
        <p:nvSpPr>
          <p:cNvPr id="9" name="TextBox 8"/>
          <p:cNvSpPr txBox="1"/>
          <p:nvPr/>
        </p:nvSpPr>
        <p:spPr>
          <a:xfrm>
            <a:off x="621792" y="3534219"/>
            <a:ext cx="2339263" cy="182867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문항 생성</a:t>
            </a:r>
          </a:p>
          <a:p>
            <a:pPr algn="ctr" eaLnBrk="0">
              <a:lnSpc>
                <a:spcPct val="110000"/>
              </a:lnSpc>
              <a:spcAft>
                <a:spcPts val="400"/>
              </a:spcAft>
            </a:pPr>
            <a:r>
              <a:rPr sz="1550" b="0">
                <a:solidFill>
                  <a:srgbClr val="1F2A3A"/>
                </a:solidFill>
                <a:latin typeface="맑은 고딕"/>
                <a:ea typeface="맑은 고딕"/>
                <a:cs typeface="맑은 고딕"/>
              </a:rPr>
              <a:t>내보낸 학습노트나</a:t>
            </a:r>
          </a:p>
          <a:p>
            <a:pPr algn="ctr" eaLnBrk="0">
              <a:lnSpc>
                <a:spcPct val="110000"/>
              </a:lnSpc>
              <a:spcAft>
                <a:spcPts val="400"/>
              </a:spcAft>
            </a:pPr>
            <a:r>
              <a:rPr sz="1550" b="0">
                <a:solidFill>
                  <a:srgbClr val="1F2A3A"/>
                </a:solidFill>
                <a:latin typeface="맑은 고딕"/>
                <a:ea typeface="맑은 고딕"/>
                <a:cs typeface="맑은 고딕"/>
              </a:rPr>
              <a:t>제공된 매뉴얼에서</a:t>
            </a:r>
          </a:p>
          <a:p>
            <a:pPr algn="ctr" eaLnBrk="0">
              <a:lnSpc>
                <a:spcPct val="110000"/>
              </a:lnSpc>
              <a:spcAft>
                <a:spcPts val="400"/>
              </a:spcAft>
            </a:pPr>
            <a:r>
              <a:rPr sz="15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46667"/>
            <a:ext cx="2485567" cy="288937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295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2883166"/>
            <a:ext cx="424281" cy="424281"/>
          </a:xfrm>
          <a:prstGeom prst="rect">
            <a:avLst/>
          </a:prstGeom>
        </p:spPr>
      </p:pic>
      <p:sp>
        <p:nvSpPr>
          <p:cNvPr id="14" name="TextBox 13"/>
          <p:cNvSpPr txBox="1"/>
          <p:nvPr/>
        </p:nvSpPr>
        <p:spPr>
          <a:xfrm>
            <a:off x="3491407" y="3534219"/>
            <a:ext cx="2339263" cy="182867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답변 입력</a:t>
            </a:r>
          </a:p>
          <a:p>
            <a:pPr algn="ctr" eaLnBrk="0">
              <a:lnSpc>
                <a:spcPct val="110000"/>
              </a:lnSpc>
              <a:spcAft>
                <a:spcPts val="400"/>
              </a:spcAft>
            </a:pPr>
            <a:r>
              <a:rPr sz="1550" b="0">
                <a:solidFill>
                  <a:srgbClr val="1F2A3A"/>
                </a:solidFill>
                <a:latin typeface="맑은 고딕"/>
                <a:ea typeface="맑은 고딕"/>
                <a:cs typeface="맑은 고딕"/>
              </a:rPr>
              <a:t>학생이</a:t>
            </a:r>
          </a:p>
          <a:p>
            <a:pPr algn="ctr" eaLnBrk="0">
              <a:lnSpc>
                <a:spcPct val="110000"/>
              </a:lnSpc>
              <a:spcAft>
                <a:spcPts val="400"/>
              </a:spcAft>
            </a:pPr>
            <a:r>
              <a:rPr sz="15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46667"/>
            <a:ext cx="2485567" cy="288937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295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883166"/>
            <a:ext cx="424281" cy="424281"/>
          </a:xfrm>
          <a:prstGeom prst="rect">
            <a:avLst/>
          </a:prstGeom>
        </p:spPr>
      </p:pic>
      <p:sp>
        <p:nvSpPr>
          <p:cNvPr id="19" name="TextBox 18"/>
          <p:cNvSpPr txBox="1"/>
          <p:nvPr/>
        </p:nvSpPr>
        <p:spPr>
          <a:xfrm>
            <a:off x="6361023" y="3534219"/>
            <a:ext cx="2339263" cy="182867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출처 기반 피드백</a:t>
            </a:r>
          </a:p>
          <a:p>
            <a:pPr algn="ctr" eaLnBrk="0">
              <a:lnSpc>
                <a:spcPct val="110000"/>
              </a:lnSpc>
              <a:spcAft>
                <a:spcPts val="400"/>
              </a:spcAft>
            </a:pPr>
            <a:r>
              <a:rPr sz="1550" b="0">
                <a:solidFill>
                  <a:srgbClr val="1F2A3A"/>
                </a:solidFill>
                <a:latin typeface="맑은 고딕"/>
                <a:ea typeface="맑은 고딕"/>
                <a:cs typeface="맑은 고딕"/>
              </a:rPr>
              <a:t>정답과 그 근거가 된</a:t>
            </a:r>
          </a:p>
          <a:p>
            <a:pPr algn="ctr" eaLnBrk="0">
              <a:lnSpc>
                <a:spcPct val="110000"/>
              </a:lnSpc>
              <a:spcAft>
                <a:spcPts val="400"/>
              </a:spcAft>
            </a:pPr>
            <a:r>
              <a:rPr sz="15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46667"/>
            <a:ext cx="2485567" cy="288937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295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2883166"/>
            <a:ext cx="424281" cy="424281"/>
          </a:xfrm>
          <a:prstGeom prst="rect">
            <a:avLst/>
          </a:prstGeom>
        </p:spPr>
      </p:pic>
      <p:sp>
        <p:nvSpPr>
          <p:cNvPr id="24" name="TextBox 23"/>
          <p:cNvSpPr txBox="1"/>
          <p:nvPr/>
        </p:nvSpPr>
        <p:spPr>
          <a:xfrm>
            <a:off x="9230639" y="3534219"/>
            <a:ext cx="2339263" cy="182867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다음 문항</a:t>
            </a:r>
          </a:p>
          <a:p>
            <a:pPr algn="ctr" eaLnBrk="0">
              <a:lnSpc>
                <a:spcPct val="110000"/>
              </a:lnSpc>
              <a:spcAft>
                <a:spcPts val="400"/>
              </a:spcAft>
            </a:pPr>
            <a:r>
              <a:rPr sz="1550" b="0">
                <a:solidFill>
                  <a:srgbClr val="1F2A3A"/>
                </a:solidFill>
                <a:latin typeface="맑은 고딕"/>
                <a:ea typeface="맑은 고딕"/>
                <a:cs typeface="맑은 고딕"/>
              </a:rPr>
              <a:t>같은 순서로</a:t>
            </a:r>
          </a:p>
          <a:p>
            <a:pPr algn="ctr" eaLnBrk="0">
              <a:lnSpc>
                <a:spcPct val="110000"/>
              </a:lnSpc>
              <a:spcAft>
                <a:spcPts val="400"/>
              </a:spcAft>
            </a:pPr>
            <a:r>
              <a:rPr sz="1550" b="0">
                <a:solidFill>
                  <a:srgbClr val="1F2A3A"/>
                </a:solidFill>
                <a:latin typeface="맑은 고딕"/>
                <a:ea typeface="맑은 고딕"/>
                <a:cs typeface="맑은 고딕"/>
              </a:rPr>
              <a:t>이어 간다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에이전트의 일이 막혔을 때 먼저 볼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막힌 곳이 방법인지, 사람의 절차인지, 연결인지,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까닭</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경보도 같은 방법으로 처리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있는 지침을</a:t>
            </a:r>
          </a:p>
          <a:p>
            <a:pPr algn="l" eaLnBrk="0">
              <a:lnSpc>
                <a:spcPct val="110000"/>
              </a:lnSpc>
            </a:pPr>
            <a:r>
              <a:rPr sz="1250" b="1">
                <a:solidFill>
                  <a:srgbClr val="556175"/>
                </a:solidFill>
                <a:latin typeface="맑은 고딕"/>
                <a:ea typeface="맑은 고딕"/>
                <a:cs typeface="맑은 고딕"/>
              </a:rPr>
              <a:t>에이전트에 붙인다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100 % 작업 순서를 찾는다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설비에 하는</a:t>
            </a:r>
          </a:p>
          <a:p>
            <a:pPr algn="l" eaLnBrk="0">
              <a:lnSpc>
                <a:spcPct val="110000"/>
              </a:lnSpc>
            </a:pPr>
            <a:r>
              <a:rPr sz="1250" b="1">
                <a:solidFill>
                  <a:srgbClr val="556175"/>
                </a:solidFill>
                <a:latin typeface="맑은 고딕"/>
                <a:ea typeface="맑은 고딕"/>
                <a:cs typeface="맑은 고딕"/>
              </a:rPr>
              <a:t>일의 절차다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 엔진 서버의 도구가 셋 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 목록(tools/list)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연결할 때 받아 오므로</a:t>
            </a:r>
          </a:p>
          <a:p>
            <a:pPr algn="l" eaLnBrk="0">
              <a:lnSpc>
                <a:spcPct val="110000"/>
              </a:lnSpc>
            </a:pPr>
            <a:r>
              <a:rPr sz="1250" b="1">
                <a:solidFill>
                  <a:srgbClr val="556175"/>
                </a:solidFill>
                <a:latin typeface="맑은 고딕"/>
                <a:ea typeface="맑은 고딕"/>
                <a:cs typeface="맑은 고딕"/>
              </a:rPr>
              <a:t>호스트를 고치지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토큰이 필요한 외부 서버를 등록한다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자리표시자</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값은 설정 밖에 두고</a:t>
            </a:r>
          </a:p>
          <a:p>
            <a:pPr algn="l" eaLnBrk="0">
              <a:lnSpc>
                <a:spcPct val="110000"/>
              </a:lnSpc>
            </a:pPr>
            <a:r>
              <a:rPr sz="1250" b="1">
                <a:solidFill>
                  <a:srgbClr val="1A6FC4"/>
                </a:solidFill>
                <a:latin typeface="맑은 고딕"/>
                <a:ea typeface="맑은 고딕"/>
                <a:cs typeface="맑은 고딕"/>
              </a:rPr>
              <a:t>실행 직전에 채운다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읽기 표시가 있고 이름도 쓰기가 아닌 도구만 오른다.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