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카드는 현장의 대상을 클래스와 인스턴스로 나누고, 대상에 적을 값과 다른 대상으로 이어질 관계를 구별하는 거예요. 두 번째 카드는 그 구분을 여러 사람이 함께 쓸 스키마로 적는 일입니다. 식별자와 제약으로 어긋난 데이터를 가려내는 것까지 포함하고요. 세 번째는 정의한 지식을 그래프 DB에 저장하고, Cypher 쿼리로 조회하고 만드는 겁니다. 마지막 카드는 실습이에요. 설비 자료에서 직접 설계한 지식을 그래프에 넣고, 조회 결과가 설계와 맞는지 확인합니다. 용어가 꽤 많아 보이죠. 그런데 전부 하나의 물음으로 이어집니다. 쿨러 사건에 나온 대상을 어떻게 적고, 어떻게 찾느냐는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50도 조금 아래,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이런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유압 설비,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마이너스 1을 보세요. 앞의 값이 오르면 뒤의 값은 내려간다는 방향을 뜻합니다. 이렇게 연결 그 자체에 붙이는 값을 관계의 속성이라고 해요. 맨 아래 견줄 것도 보세요. 펌프 부하에서 유온으로 가는 영향 관계에는 플러스 1이 붙어 있습니다. 부하가 오르면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관계에 적은 지식은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선이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선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맞아지는 건 아닙니다. 공통 구성 지식을 함께 가리키려는 설계가 맞다면 그에 맞게 선언을 정리해야 하고, 설비별 대상을 나타내려는 거라면 데이터를 나눠야겠죠. 지금 화면은 이 불일치가 남아 있는 사례로 보시면 됩니다. 만약 설비마다 쿨러의 교체 이력을 따로 관리해야 한다면, 그때는 대상의 범위부터 다시 정해서 설비마다 쿨러를 구별할 수 있게 해야 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 납기는 일 단위,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흐름을 떠올려 보면, 시작이나 끝을 알리는 지점이 있고, 수행할 작업이 있고, 길이 갈라지는 지점도 있습니다. 하는 일은 서로 다르지만 모두 업무 흐름의 한 지점이라는 공통점이 있죠. 그림 맨 위의 FlowNode가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하나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Task와 FlowNode,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맨 윗줄처럼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이제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 적힌 문자열들이 그 역할을 합니다.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유온 센서,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기준을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정보가 필요하죠. 화면 왼쪽이 지식 그래프입니다. 설비 코드와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스키마에 다른 시스템의 코드를 받아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본 공통 식별자가 바로 이 태그예요. 정의에 이렇게 적어 두면, 태그 칸이 왜 필수인지도 함께 전해집니다. 이렇게 적어 두면 등록하는 사람은 무엇을 채워야 하는지 알고, 검사하는 쪽은 빠진 값을 찾을 수 있습니다. 화면은 지금 필요한 부분만 뽑은 거예요. 전체 정의에는 계층이나 준용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값의 종류, 곧 자료형을 정해요. 화면에는 다섯 가지를 골랐는데, 스키마에는 이 밖에 정수와 날짜 ·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줄에 단위를 섞은 글자는 수로 바로 비교할 수 없다고 적어 둔 게 그 얘기입니다.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구동기가 값을 써서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경보에 숫자가 쓰였다고 해서 그 숫자를 상태 변수의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「갖는다」로, 누구는 「속한다」로,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설비의 상태를 어떤 센서로 확인할 수 있을까요?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설비와 쿨러,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질문 모두 같은 쿨러에서 출발하지만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설비, 쿨러,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아래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대상을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이어서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그런데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포털의 지식 지도에서도 그래프를 볼 수 있죠. 그런데 하는 일이 다릅니다. 지식 지도는 항목을 골라서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그 조건이 고유성을 보장하는 건 아닙니다.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결과 표의 칸에는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이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연결된 채널이면서,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화면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잠깐 결과를 예상해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뒤로 넘길 행이 없으니까 관계도 만들어지지 않습니다.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칸에서는 이 둘을 바탕으로, 식별자를 써서 노드와 관계를 적재합니다. 넷째 칸 조회에서는 처음 정한 역량 질문에 답해 봐요. 쿨러를 계측하는 센서가 맞게 나오는지, 물리량의 한계와 교체 부품이 예상대로 나오는지 보는 거죠. 마지막 칸 검사에서는 필수값과 허용값, 관계 끝점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넣고, 원자료와 조회 결과를 대조하는 실습을 마쳤습니다. 이제 설계할 때 나눴던 대상과 값, 연결이 조회에서는 어떻게 쓰였는지 함께 정리해 보겠습니다. 먼저 복습입니다.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거꾸로 읽어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설비의 이름으로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대상 이름으로 클래스를 만들면,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관계 끝점, 허용값 위반은 저장된 데이터를 스키마와 대조하는 검사에서 드러납니다. 이번 회차에서는 질문에 필요한 지식을 정의하고, 그래프에 저장한 뒤 답을 확인하는 과정을 살펴봤습니다. 다음 회차에서는 이렇게 연결한 지식을 바탕으로 어떤 조치를 고를지 살펴보겠습니다. 지금 해도 되는 조치인지 먼저 가리고, 가능한 조치들의 효과와 비용을 비교해 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어떤 구조로 정리하고, 그걸 어떻게 저장해서 찾아 쓰는지 배워 보겠습니다. 쿨러에 이상이 생겼다면 어떤 센서부터 봐야 할까요? 그 센서가 재는 값의 한계는 어디에 적혀 있고, 어떤 원인을 의심해야 할까요? 사람이라면 매뉴얼과 기록을 뒤져서 이 연결을 찾아내겠죠. 그런데 컴퓨터가 같은 길을 따라가려면 얘기가 달라집니다. 설비와 센서, 증상과 원인이 미리 정해진 구조로 연결돼 있어야 해요. 그래서 이번 회차는 이 물음에서 출발합니다. 현장 정보를 클래스와 관계로 나누고, 그 구분을 스키마로 정의한 다음, 그래프 DB에 저장해서 Cypher 쿼리로 직접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 갈 길을 목차로 보겠습니다. 위에서부터 여덟 줄이 이론 단원이고, 맨 아래 한 줄이 실습 넷이에요. 처음 세 단원은 대상과 값, 연결을 구별하는 단원입니다. 첫 단원은 유온 센서 하나에서 출발해서 클래스와 인스턴스로 대상을 나누고 관계로 잇습니다. 다음 두 단원에서는 관계 양쪽의 연결 수와 짝에 붙는 값을 본 다음, 클래스를 어떤 기준으로 나눌지 정해요. 다음 세 단원에서는 그 구분을 여러 사람이 함께 쓸 스키마로 적어요. 식별자로 같은 대상을 가리키고, 속성과 연결에 제약을 두고, 설비 자료에서 모델을 직접 설계해 봅니다. 일곱 번째 단원에서는 그래프 DB에 지식이 어떤 모양으로 저장되는지 보고 Cypher 쿼리로 조회하며, 여덟 번째 단원에서는 노드와 관계를 직접 만들어 봅니다. 실습은 이미 있는 그래프를 조회하고 지식 지도를 탐색하는 데서 시작합니다. 그다음에 설비 자료로 직접 설계하고, 그걸 그래프에 구현해서 확인하겠습니다. 먼저 대상과 값, 연결을 구별하는 세 단원부터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번째부터 여섯 번째 단원에서는 앞에서 구별한 대상과 값, 연결을 여러 사람이 함께 쓸 정의로 적어 봅니다.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어떻게 정의할지 정했으니, 이제 그래프 DB에 저장하고 Cypher 쿼리로 찾고 만드는 법을 보겠습니다.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마지막 이론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센서를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 이어지는 실습은 같은 연결을 포털에서 찾아보는 활동이에요.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 조회와 탐색으로 이미 만들어진 구조를 살펴본 뒤에는, 직접 설계하는 활동으로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 이렇게 만든 스키마와 예시 데이터는 마지막 실습에서 실제 그래프로 옮길 겁니다.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이때 의미가 틀린 연결 한 건도 같이 살펴봅니다. 스키마를 배울 때 가정으로 봤던 바로 그 연결이에요. 화면 가운데 카드처럼, 오류 사본에서는 유온 센서가 유온이 아니라 팬 진동에 연결돼 있습니다. 클래스와 방향은 정의에 맞지만, 실제로 재는 대상이 잘못 연결된 거죠. 원자료와 조회 결과를 근거로 잘못된 끝점을 찾아서 고치고, 다시 조회한 대상이 원자료와 일치하면 성공입니다. 결과물은 생성 질의와 그래프, 그리고 수정 전후를 적은 검증 기록이에요. 실습의 순서를 보면, 먼저 있는 지식을 찾아보고, 직접 설계한 뒤, 저장한 결과가 질문에 맞는지 확인하게 됩니다. 자료를 내려받아 작업 폴더를 열고,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세 문제를 풀어 보겠습니다. 배운 구분을 판단에 직접 쓸 수 있는지 확인하는 자리예요. 보기의 이름을 기억하는 것보다, 왜 그 자리에 정보를 놓아야 하는지 설명할 수 있는지가 중요해요. 문제마다 보기를 읽고 나면 잠깐 멈출 테니, 그때 답을 골라 보세요. 정답과 까닭은 세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DB의 저장 구조와 Cypher 쿼리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7101961872910406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 팬 속도 증가, 유온 감소</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53209512867211559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8395168492216903743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575502664424847082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878143081079448430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39917819625872350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380254943278186310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808956187448189792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312808894537218112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660869801824379297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구성 요소와 계측 채널을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검토 사례</a:t>
            </a:r>
          </a:p>
          <a:p>
            <a:pPr algn="l" eaLnBrk="0" marL="171450" indent="-171450">
              <a:lnSpc>
                <a:spcPct val="110000"/>
              </a:lnSpc>
              <a:spcAft>
                <a:spcPts val="400"/>
              </a:spcAft>
            </a:pPr>
            <a:r>
              <a:rPr sz="1500" b="0">
                <a:solidFill>
                  <a:srgbClr val="1F2A3A"/>
                </a:solidFill>
                <a:latin typeface="맑은 고딕"/>
                <a:ea typeface="맑은 고딕"/>
                <a:cs typeface="맑은 고딕"/>
              </a:rPr>
              <a:t>• 원자료: 유온 센서 → 유온</a:t>
            </a:r>
          </a:p>
          <a:p>
            <a:pPr algn="l" eaLnBrk="0" marL="171450" indent="-171450">
              <a:lnSpc>
                <a:spcPct val="110000"/>
              </a:lnSpc>
              <a:spcAft>
                <a:spcPts val="400"/>
              </a:spcAft>
            </a:pPr>
            <a:r>
              <a:rPr sz="1500" b="0">
                <a:solidFill>
                  <a:srgbClr val="1F2A3A"/>
                </a:solidFill>
                <a:latin typeface="맑은 고딕"/>
                <a:ea typeface="맑은 고딕"/>
                <a:cs typeface="맑은 고딕"/>
              </a:rPr>
              <a:t>• 오류 사본: 유온 센서 → 팬 진동</a:t>
            </a:r>
          </a:p>
          <a:p>
            <a:pPr algn="l" eaLnBrk="0" marL="171450" indent="-171450">
              <a:lnSpc>
                <a:spcPct val="110000"/>
              </a:lnSpc>
              <a:spcAft>
                <a:spcPts val="400"/>
              </a:spcAft>
            </a:pPr>
            <a:r>
              <a:rPr sz="1500" b="0">
                <a:solidFill>
                  <a:srgbClr val="1F2A3A"/>
                </a:solidFill>
                <a:latin typeface="맑은 고딕"/>
                <a:ea typeface="맑은 고딕"/>
                <a:cs typeface="맑은 고딕"/>
              </a:rPr>
              <a:t>• Sensor → StateVariable 조건은 둘 다 맞는다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의미가 틀린 연결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 고른 끝점을 찾아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다시 조회한 대상이 원자료와 일치한다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검사와 수정 기록을 남긴다</a:t>
            </a:r>
          </a:p>
        </p:txBody>
      </p:sp>
      <p:sp>
        <p:nvSpPr>
          <p:cNvPr id="22" name="Rounded Rectangle 21"/>
          <p:cNvSpPr/>
          <p:nvPr/>
        </p:nvSpPr>
        <p:spPr>
          <a:xfrm>
            <a:off x="8356396" y="5429504"/>
            <a:ext cx="17221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 실행 · 대조</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