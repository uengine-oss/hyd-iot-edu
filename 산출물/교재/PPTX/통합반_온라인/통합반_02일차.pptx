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쿨러 사건에 나온 대상을 클래스와 인스턴스, 속성값과 관계로 나누어 봅니다. 이어서 그 구분을 스키마라는 한 벌의 정의로 적고, 식별자와 제약으로 데이터를 일관되게 지키는 법을 다룹니다. 그런 다음 정의한 지식을 그래프 DB에 저장하고 관계를 따라 조회하고 만드는 방법을 익힙니다. 마지막으로 설비 자료에서 직접 설계한 지식을 그래프에 넣고, 조회 결과가 설계와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유온 센서를 지식 그래프에 등록한다고 생각해 볼게요. 센서의 이름을 적은 다음에는 무엇을 재고 어느 장치를 보는지도 나타내야 합니다. 대상을 구별하고 값을 채운 뒤 관계를 연결하는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목록에 HYD-01과 HYD-02가 있으면 어느 설비인지 구별할 수 있습니다. 이들이 모두 설비라는 유형에 속한다는 공통점은 클래스로 정합니다. 센서도 마찬가지여서 유온 센서와 냉각 효율 채널은 같은 센서 클래스에 속하는 서로 다른 인스턴스입니다. 공통 정의를 한 번 세우고 개별 대상의 내용을 각각 채우는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공통 정의에 따라 유온 센서와 냉각 효율 채널의 정보를 채운 표입니다. 같은 가로줄은 같은 속성이고, 각 칸에 채운 내용이 속성값이에요. 태그 줄에서는 계측 데이터를 찾을 이름을, 마지막 줄에서는 값을 얻는 방식의 차이를 확인할 수 있습니다. 직접 재든 계산하든 값을 내놓는 계측 채널이므로 둘 다 센서 클래스에 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관리할 한계를 찾으려면 센서의 이름만으로는 부족합니다. 유온 센서는 재는 쪽이고 유온은 재어지는 물리량이에요. 정상값과 한계는 유온의 속성으로 적혀 있습니다. 센서를 나타내는 정보와 물리량을 관리하는 기준을 이렇게 나누어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태그가 무엇인지 물으면 센서의 속성값을 읽으면 됩니다. 무엇을 재는지와 그 물리량의 한계까지 찾으려면 센서에서 유온이라는 다른 대상으로 연결되어야 해요. 값 하나를 붙이는 것을 데이터 속성, 다른 인스턴스에 잇는 것을 객체 간 관계라고 합니다. 이 장에서는 유온 센서가 유온을 읽는다는 연결 하나만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상태를 보는 장치는 오일 쿨러입니다. 오일 쿨러는 설비를 이루는 구성 요소이고, 쿨러 코어는 그 안에서 교체하는 부품이에요. 계측할 장치를 찾는 질문과 교체품을 찾는 질문이 서로 다른 대상으로 이어집니다. 센서·상태 변수와 함께 이 세 클래스를 구별하면 설비 쪽 대상의 역할이 정리됩니다.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쿨러에서 무슨 문제가 생겼는지 적을 때도 대상을 나눕니다. 유온이 오른 것은 증상이고, 쿨러가 냉각 성능을 잃은 것은 고장 유형이며, 핀 오염은 그 원인입니다. 유온 상승을 확인한 것과 원인을 확인한 것은 서로 다른 판단이에요. 물건이 아닌 이런 대상도 각각 인스턴스로 두어 진단 지식을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설비에서 출발해 화살표를 따라가겠습니다. 설비는 구성 요소를 갖고, 구성 요소는 센서로 계측되며, 센서는 상태 변수를 읽습니다. 앞에서 나눈 실제 대상들을 이 클래스 자리에 대어 보면 유압 설비, 오일 쿨러, 유온 센서, 유온이 이어집니다. 관계 유형은 이런 연결에서 쓸 이름과 방향, 양 끝의 종류를 함께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인버터가 직접 바꾸는 것은 팬 속도이고, 그 변화가 유온에 영향을 줍니다. 팬 속도가 올라갈 때 유온이 내려가는 방향을 영향 관계의 sign 값 마이너스 1로 적었습니다. 화살표는 영향을 주는 쪽에서 받는 쪽으로 향하고 부호는 두 값이 변하는 방향을 설명합니다. 이 값은 온도를 1도 내리라는 명령이나 온도 감소량이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 구성 요소를 오일 쿨러라고 놓고 보겠습니다. 어느 설비에 연결되는지, 어떤 고장이 생기는지는 왼쪽에서 들어오는 관계로 찾습니다. 상태를 볼 센서와 교체 부품은 오른쪽으로 나가는 관계로 찾고요. 들어오는 관계도 거슬러 찾아갈 수 있으므로 같은 사실을 반대 방향의 관계로 다시 적을 필요는 없습니다. 센서의 이름과 값을 적는 데서 시작한 지식이 이제 쿨러의 계측과 정비 질문에 답할 수 있는 연결이 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함께 정하는 것이 카디널리티이며, 하나를 1로, 여럿을 N이나 M으로 적고 왼쪽이 시작 클래스, 오른쪽이 끝 클래스 쪽입니다. 이 선언에서는 구동기 하나가 상태 변수 하나를 바꾸고 그 상태 변수에도 구동기 하나만 대응하므로 팬 인버터와 팬 속도는 일대일이고, 조치 방법 하나에는 단계가 여럿 있어 팬 최대 운전의 단계 셋이 일대다로 이어집니다. 역할 여럿이 부서 하나에 속하므로 운전원과 생산관리자는 다대일로 생산팀에 이어집니다. 부품 하나를 여러 공급사가 공급하고 공급사 하나가 여러 부품을 공급하므로 SUPPLIED_BY는 다대다이며, 고장 유형 하나에 원인이 여럿 붙고 원인 하나가 여러 고장 유형을 일으킬 수 있는 CAUSES도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정해 두면 넣은 데이터가 정의에 맞는지 따져 볼 기준이 생깁니다. 왼쪽은 일대일로 정한 MANIPULATES에 상태 변수 둘을 이은 가정이며, 잘못 넣은 데이터일 가능성이 높아 다시 확인합니다. 오른쪽은 실제 데이터로, 구성 요소 노드를 같은 기종의 세 설비가 함께 가리키므로 일대다라는 선언과 다르게 쓰입니다. 선언을 적었다고 저장할 때 자동으로 막히는 것은 아니므로, 선언과 데이터는 조회해서 대조해야 합니다. 공유 노드는 물리적인 쿨러 한 대를 세 설비가 함께 쓴다는 뜻이 아니라 같은 기종의 구성 지식을 나타냅니다. 설비별 개별 쿨러의 이력을 묻는다면 현재 공유 노드만으로는 구별할 수 없으므로 대상의 범위부터 재검토해야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펌프 축 씰 키트인데 단가와 납기가 공급사마다 다릅니다. 단가를 부품의 속성으로 두면 공급사가 셋이라 값을 하나로 정할 수 없고, 공급사의 속성으로 두면 그 공급사가 공급하는 다른 부품의 값과 섞입니다. 그래서 값은 부품과 공급사를 잇는 SUPPLIED_BY 관계에 속성으로 붙이며, 위쪽 정의가 그 칸을, 아래쪽 세 줄이 실제 값을 보여 줍니다. A정밀과 B-OEM은 각각 펌프 축 씰 키트·팬 베어링·쿨러 코어를 공급하고, C트레이딩은 이 가운데 펌프 축 씰 키트만 공급해 관계가 일곱입니다. 위쪽 정의에서 price와 failRate는 수이며 필수이고, leadDays는 수이며 선택입니다. 카디널리티가 연결의 수를 정했다면 관계의 속성은 연결 하나하나에 값을 붙입니다. 불량률도 부품과 공급사의 짝에 붙습니다. 펌프 축 씰 키트의 값 0.12, 0.02, 0.30은 각각 12 %, 2 %, 30 %이며, 공급사 일반의 고정 불량률로 읽지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업무 흐름의 한 지점을 뜻하는 흐름 노드가 id와 name을 정하면, 그 아래의 이벤트, 작업, 게이트웨이는 이 속성을 따로 적지 않아도 모두 갖고, 작업은 여기에 작업의 종류 taskType을 더합니다. 하위 클래스의 인스턴스는 상위 클래스의 인스턴스이기도 해서, 「규정 검토」 작업은 Task와 FlowNode의 레이블을 함께 답니다. 설비 쪽 클래스에는 이런 계층이 없으며, 오일 쿨러는 구성 요소 클래스의 하위 클래스가 아니라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값을 읽고, 구동기는 PLC가 값을 써서 움직이는 장치여서 쓰기 자원 resource와 범위 min · max를 가지며 상태 변수를 바꿉니다. 속성도 관계도 다르므로 두 클래스로 나눕니다. 반대로 유온 센서와 토출 압력 센서는 재는 대상만 다를 뿐 속성과 관계가 같으므로, 센서마다 클래스를 만들면 센서가 늘 때마다 클래스가 늘고 센서 전체를 한 번에 찾기 어려워집니다. 팬 인버터의 min 0과 max 100은 쓰는 설정값의 범위입니다. 유온의 normal 48과 limit 65는 재어지는 물리량의 기준이므로 같은 숫자 칸으로 섞지 않습니다. 반면 센서끼리 단위가 다른 것은 같은 unit 칸의 값이 다른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판단을 네 가지 선택으로 모았습니다. 부품 번호는 쿨러 코어 하나에 딸린 값이고, 승인 공급사인지를 뜻하는 avl도 공급사 하나에 딸린 참 · 거짓 값이라 속성입니다. 쿨러 코어는 부품 번호를 갖고 공급사와도 이어지는 대상이므로, 오일 쿨러에 글자로 적지 않고 인스턴스로 두어 USES_PART로 잇습니다. 정보가 어느 하나에 딸렸는지, 다른 대상인지, 두 대상의 짝에 딸렸는지를 차례로 따지면 자리가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정해 둔 약속 없이 여러 사람이 데이터를 넣으면, 같은 장치가 다른 이름으로, 같은 관계가 다른 이름과 방향으로, 같은 값이 다른 형식으로 들어가는 의미 불일치가 생깁니다. 이를 막으려고 무엇이 있을 수 있는지를 먼저 정의한 것이 스키마이며, 온톨로지가 정의하는 종류 · 속성 · 관계 · 제약을 실제로 적어 둔 것입니다. 양식이 칸을 정하고 작성된 문서가 칸을 채우는 것과 닮았지만, 스키마는 어떤 대상끼리 이어질 수 있는지까지 정한다는 점이 다릅니다. Sensor라는 클래스와 tag라는 속성까지가 스키마이고, 유온 센서라는 대상은 인스턴스 데이터에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오일 쿨러, 쿨러, 열교환기라고 따로 넣으면 노드가 셋으로 흩어지고, 쿨러에 달린 센서를 찾을 때 그중 하나에 붙은 것만 나옵니다. 그래서 대상은 고유한 식별자 하나로 가리키고, 사람이 읽는 이름은 name에, 다른 이름은 aliases 목록에 둡니다. 유온 센서라는 이름을 고쳐도 sen:ts1은 그대로여서 이 센서로 이어진 관계도 그대로 남습니다. 질문에 「작동유 온도」라고 쓰여 있어도 별칭을 대조해 sv:ts1 유온 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그래프의 오일 쿨러와 유온 센서 노드는 같은 기종의 세 설비가 함께 가리키므로, HYD-01의 유온과 HYD-02의 유온은 그래프의 노드로는 구별되지 않습니다. 계측값은 시계열 저장소의 tag_1s 표에 설비 코드(asset 열)와 태그(name 열)를 붙여 쌓이고, 쿨러 성능 저하 경보가 난 11시 13분 8초의 유온 55.71 ℃도 설비 코드 HYD-01, 태그 TS1과 해당 시각을 함께 지정해 찾습니다. 정비나 생산 같은 업무 데이터를 담은 DB도 설비를 같은 코드로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 센서 클래스로 봅니다. 먼저 영문 이름 Sensor가 이 클래스를 가리키는 하나뿐인 이름이고, 센서는 사람이 읽는 한글 이름입니다. 다음으로 의미 문장은 범위를 정하는데, 센서라는 낱말만 있으면 계기만 뜻하는지 계산한 값도 포함하는지를 사람마다 다르게 읽으므로 계측 채널이라고 적어 둡니다. 마지막 칸이 속성 목록이며, 앞에서 본 다섯 칸이 속성명, 자료형, 필수 여부의 순서로 한 줄씩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자료형은 그 값으로 무엇을 할 수 있는지를 정합니다. 한계가 수로 정해져 있어야 잰 값이 한계를 넘었는지 비교할 수 있고, 한 곳에 「130 bar」처럼 단위까지 붙인 글자로 넣으면 같은 비교를 바로 할 수 없습니다. 상태 변수의 kind는 열거형이어서 팬 속도 같은 조작 변수, 유온 같은 결과 변수, 쿨러 핀 오염도 같은 교란 변수 가운데 하나만 받으며, 그래서 조작할 수 있는 변수만 고를 수 있습니다. 이 밖에 정수와 날짜 · 시각을 뜻하는 자료형도 스키마에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단위와 종류는 필수여서 여섯 행 모두에 있습니다. 단위 없는 물리량은 해석할 수 없고, 종류가 없으면 조작할 변수인지 결과로 나타나는 변수인지를 가릴 수 없기 때문입니다. 정상값과 한계는 선택 속성이라 냉각 효율, 유량, 펌프 부하에는 한계가 없으며, 이 「없음」은 0이 아니라 정해진 한계가 없다는 뜻입니다. 센서의 tag처럼 필수 속성이 빠진 인스턴스는 그 속성으로 하던 일, 곧 계측값을 찾는 일을 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정의하며, OBSERVES는 Sensor에서 시작해 StateVariable에서 끝나는 다대일 관계라고 적혀 있습니다. 아래 네 줄을 유온 센서, 유온, HYD-01로 읽으면 첫 줄만 유효합니다. 둘째 줄은 끝이 설비라서, 셋째 줄은 시작과 끝이 바뀌어서, 넷째 줄은 스키마에 없는 이름이라서 정의에 어긋납니다. 사람이 의도를 짐작할 수 있어도 이름과 방향을 바꾸면 정의에 맞는 연결이 아닙니다. 정의된 이름과 방향으로 조회하면 어긋난 연결은 찾아지지 않습니다. 유온 센서를 팬 진동 상태 변수에 잇는 마지막 가정은 양 끝 클래스 조건에는 맞지만 실제 계측 대상과 다릅니다. 종류가 맞는지 검사하는 것과 실제 대응 자료를 확인하는 것은 별개입니다.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온톨로지의 정의에서 관계 그림과 온톨로지를 가르는 것이 제약이었고, 이 단원에서 본 정의가 모두 제약으로 모입니다. 필수 속성, 자료형과 허용값, 고유한 식별자, 연결 조건은 각각 빠진 값, 형식이 다른 값, 중복된 대상, 어긋난 연결을 찾아낼 기준입니다. 정의 없이 넣으면 설비와 구성 요소의 같은 사실이 HAS_PART, BELONGS_TO, CONTAINS처럼 여러 이름으로 들어가는데, 연결 조건이 있으면 정의에 없는 이름을 가려낼 수 있습니다. 기준을 정하는 것과 그 기준으로 데이터를 검사하는 일은 별개이며, 검사는 저장된 데이터를 읽어 이 기준과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설계의 출발점은 클래스가 아니라 이 지식으로 답할 질문입니다. 질문을 정하면 넣을 것과 넣지 않을 것이 갈리며, 설비의 색이나 제조 연도는 이 세 질문에 쓰이지 않으므로 넣지 않습니다. 질문에 나오는 낱말을 클래스와 예시 인스턴스로 가르고, 한계처럼 비교할 값은 수로 정하며, 질문이 건너가는 길을 관계로 놓습니다. 이 세 질문은 설계를 끝낸 뒤 모델이 제 구실을 하는지 확인하는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클래스의 속성을 중괄호 안에 나열했고, 느낌표가 붙은 것이 필수 속성입니다. 모든 클래스에 식별자와 이름을 두고, 설비에는 설비 코드, 센서에는 태그와 단위, 상태 변수에는 단위와 종류와 한계, 부품에는 부품 번호를 더했습니다. 아래 네 줄은 질문이 건너가는 길이며, 첫 질문은 HAS_COMPONENT와 MONITORED_BY를, 둘째 질문은 OBSERVES를, 셋째 질문은 USES_PART를 지납니다. 오일 쿨러는 유온 센서와 냉각 효율로 계측되고 한 센서가 여러 구성 요소를 잴 수도 있으므로 MONITORED_BY는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정의를 그래프로 놓았습니다. 설비에서 출발해 구성 요소, 센서, 상태 변수로 가는 위쪽 길이 첫째와 둘째 질문의 길이고, 구성 요소에서 부품으로 내려가는 길이 셋째 질문의 길입니다. 세 질문이 모두 지나는 Component에 관계가 모이므로 가운데 진한 원으로 그렸고, 상태 변수는 구성 요소에 직접 붙지 않아 바깥 색으로 두었습니다. 이 그림에는 HYD-01도 오일 쿨러도 없고, 어떤 유형이 어떻게 이어질 수 있는가만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정의에 맞춰 예시 인스턴스를 넣고 관계를 따라가면, 설비에서 유온 센서와 유온의 한계 65까지, 오일 쿨러에서 쿨러 코어까지 처음 질문의 답이 나옵니다. 답이 나오지 않으면 정의의 누락, 데이터의 누락, 질의의 오류를 나누어 확인합니다. 반면 쿨러 코어를 공급하는 곳은 지금 정의로는 답할 수 없으므로 공급사 클래스와 SUPPLIED_BY 관계를 더하고, 이미 정한 다섯 클래스는 그대로 둡니다. 스키마를 고치면 그 클래스의 모든 인스턴스가 영향을 받으므로 스키마는 처음에 신중하게 정하고 드물게 넓힙니다. Sensor.unit을 선택에서 필수로 바꾸는 것은 가정입니다. 이 경우 기존에 unit이 없던 센서도 새 정의에서는 누락으로 판정되므로, 실제 단위를 확인해 기존 데이터를 보완해야 합니다. 새 클래스 추가와 기존 조건 변경은 영향 범위가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설계한 것은 HYD 온톨로지의 설비 묶음 가운데 일부입니다. 쿨러 사건에서 따라간 증상, 고장 유형, 원인, 증거는 진단 묶음의 클래스입니다. 판단 묶음과 성과 묶음의 클래스도 이름과 의미, 속성, 관계, 제약을 같은 방식으로 정의해 두었습니다. 설계는 언제나 답할 질문에서 출발하며, 새 질문이 생기면 이 묶음 안에서 필요한 클래스를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된 데이터베이스가 관계형 DB이며, 쿨러 코어를 공급하는 곳을 알려면 부품 테이블과 공급사 테이블에서 part_no 값이 같은 행을 찾아 맞추어야 합니다. 같은 사실이 그래프 DB에는 쿨러 코어 노드에서 두 공급사 노드로 가는 관계로 이미 저장되어 있어, 그 관계를 따라가기만 하면 됩니다. 매초 쌓이는 같은 모양의 계측값은 관계형 DB에, 뜻과 연결은 그래프 DB에 두고 공통 식별자로 둘을 잇습니다. 어느 쪽이 늘 더 낫다는 뜻이 아니라, 하는 일이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DB에서는 인스턴스 하나가 노드 하나가 되고, 노드에 붙는 이름표인 레이블에 클래스 이름을 씁니다. 두 노드를 잇는 관계에는 방향과 관계 유형이 함께 저장되며, 관계 유형에는 스키마에서 정의한 이름을 그대로 씁니다. 노드 옆의 상자가 속성이고, 클래스가 정한 칸과 인스턴스의 값이 이름과 값의 짝으로 들어가며, 관계에도 같은 방식으로 속성을 붙일 수 있습니다. 대상을 노드로, 연결을 이름과 방향이 있는 관계로 나타내는 표현에 레이블과 속성이 더해진 것이 그래프 DB가 지식을 담는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스키마는 지식이 어떤 모양이어야 하는지를 정한 의미 모델이고, 그 정의는 그래프 DB에서 레이블, 관계 유형, 속성으로 옮겨집니다. 그러나 스키마의 제약이 모두 데이터베이스의 제약이 되는 것은 아니며, 여기서 예로 든 Sensor 노드에는 id 유일 제약이 걸려 있습니다. 필수 속성, 허용값, 끝 클래스는 저장된 데이터를 읽어 스키마와 대조하는 검사가 확인하고, 자료형 전체와 카디널리티는 이 검사기가 자동으로 확인하지 않으므로 별도로 대조해야 합니다. 그래서 같은 id의 센서를 또 만들면 저장할 때 거절되지만, tag가 빠진 센서는 저장된 뒤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이 과정은 그래프 DB 전용 질의 언어인 Cypher로 쿼리를 적으며, Cypher 쿼리는 찾고 싶은 노드와 관계의 모양을 그림 그리듯 글자로 적습니다. 쿨러 사건에서 에이전트가 관계를 따라 원인 후보를 찾은 것도 이런 질의였고, 사람이 실행 화면에 적는 질의와 같은 언어입니다. 실행 화면은 데이터베이스에 딸린 창구이고, 포털의 지식 지도는 기준 지식의 속성과 연결을 살피는 화면입니다.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그래프를 아래 한 줄의 글자로 옮겼습니다. 둥근 괄호가 노드이고 콜론 뒤의 Sensor가 레이블이며, 가운데 대괄호 안의 콜론 뒤가 관계 유형이고 화살표가 방향입니다. 콜론 앞의 s와 v는 쓰는 사람이 정하는 변수여서, 뒤에서 s.tag라고 쓰면 찾은 센서 노드의 tag 속성을 가리킵니다. 중괄호의 {tag: 'TS1'}은 tag가 TS1인 센서 노드만 찾는 조건이며, 대상 하나를 늘 같은 노드로 가리키려면 바뀌지 않는 id를 조건으로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하나를 찾았는데 결과가 왜 두 행인지 살펴봅니다. 쿨러에서 유온 센서로 가는 연결과 냉각 효율 채널로 가는 연결이 각각 패턴에 맞습니다. MATCH가 두 연결을 찾고 RETURN이 각 연결에서 필요한 값 두 개를 꺼내므로 두 열 두 행이 나옵니다. 이름이 반복되는 것은 같은 쿨러가 서로 다른 연결에 참여하기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목록이 필요한지 연결 그림이 필요한지에 따라 반환할 항목을 고릅니다. 위는 속성값만 받고 아래는 관계에도 변수를 붙여 노드와 관계를 받습니다. 찾는 연결과 결과의 행 수는 같지만 한 칸에 담기는 내용이 다릅니다. 글자 값만 받은 결과에 그래프 보기를 누른다고 관계가 생기는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출발점을 설비 HYD-01로 두고 노드와 관계를 번갈아 이어 적어, 설비에서 구성 요소로, 구성 요소에서 센서로, 센서에서 상태 변수로 세 단계를 건넙니다. 넷째 행을 읽으면 HYD-01의 오일 쿨러는 TS1로 계측되고, 그 센서는 유온을 읽으며, 유온의 단위는 섭씨이고 한계는 65입니다. 냉각 효율과 유량의 한계 칸에 나온 NULL은 0이 아니라 정해진 값이 없다는 뜻입니다. 설비 모델을 설계할 때 정한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조건 절 WHERE를 씁니다. 한계가 정해진 상태 변수만 남기면 세 행이 나오며, 유온 65 ℃, 토출 압력 130 bar, 팬 진동 2.0 mm/s가 HYD-01의 인터록 세 가지와 같은 값입니다. 값이 없는지 따지는 일과 크기를 비교하는 일은 다르며, 한계가 수로 정의되어 있어야 크기 비교를 할 수 있습니다. 유온은 65 ℃ 초과, 팬 진동은 2.0 mm/s 이상, 토출 압력은 130 bar 미만일 때 인터록이 걸립니다. limit &gt; 100은 수를 거르는 문법 예이며 서로 다른 단위의 위험도를 비교하는 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경보의 이상 패턴에서 증상을 거쳐 고장 유형까지는 화살표를 따라가고, 원인은 고장 유형으로 들어오는 CAUSES를 거슬러 찾습니다. 그래서 질의에서는 CAUSES를 원인에서 고장 유형으로 저장된 방향 그대로 적고 화살표의 머리만 고장 유형 쪽으로 둡니다. 화살표를 뒤집어 적으면 그런 모양이 저장되어 있지 않아 오류 없이 빈 결과가 나오며, MONITORED_BY를 거꾸로 적어 세어 보아도 다섯이 아니라 0이 나옵니다. 반대 뜻의 관계를 따로 만들어 두지 않는 것도 같은 사실을 두 번 적으면 한쪽만 고칠 때 어긋나기 때문이며, 이 질의가 찾는 것은 확정된 원인이 아니라 증거로 가릴 원인 후보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만들기이며 표기는 조회와 같습니다. 위의 CREATE는 이미 있는지 보지 않고 새로 만들므로, 같은 id가 이미 있으면 유일 제약 때문에 저장이 거절됩니다. 아래의 MERGE는 괄호 안의 패턴으로 먼저 찾고 없을 때만 만들므로, 설비나 센서처럼 한 번만 있어야 하는 지식을 넣다가 멈추어 처음부터 다시 실행해도 중복이 생기지 않습니다. 무엇을 같다고 볼지는 괄호 안에 적은 것으로 정해지므로, 바뀔 수 있는 이름은 SET으로 넣고 괄호에는 식별자만 적습니다. CREATE는 문서를 적재할 때마다 기록이 한 건씩 새로 생겨야 하는 곳처럼 실행마다 새 대상이 필요한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이름을 온도 센서로 바꾸는 상황입니다. 위 쿼리는 식별자로 기존 센서를 찾고 이름을 바꾸므로 같은 노드가 남습니다. 아래 쿼리는 식별자와 새 이름이 모두 맞는 노드를 찾으므로 기존 노드와 일치하지 않습니다. 새 노드를 만들려는 순간 유일 제약이 막으므로, 변경할 값은 검색 조건과 나누어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 노드가 있어야 이을 수 있으므로, 먼저 식별자로 오일 쿨러와 유온 센서와 유온을 찾습니다. 그다음 오일 쿨러에서 유온 센서로 MONITORED_BY를, 유온 센서에서 유온으로 OBSERVES를 스키마가 정한 방향대로 만듭니다. 식별자를 잘못 적어 끝 노드를 찾지 못하면 오류 없이 아무것도 만들어지지 않으므로, 실행 뒤 관계가 실제로 생겼는지 조회로 확인합니다. 방향을 거꾸로 적으면 만들어지기는 하지만 정의에 어긋난 연결이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만드는 과정을 다섯 걸음으로 놓았습니다. 저장이 오류 없이 끝났다고 설계가 옳은 것은 아니며, 끝 노드를 찾지 못해 관계가 빠지거나 방향이 뒤집혀도 오류는 나지 않습니다. 그래서 넣은 뒤에는 처음 정한 질문을 질의로 던져 답이 나오는지 보고, 필수값과 허용값과 끝 클래스를 정의와 대조해 어긋난 곳을 고칩니다. 걸음마다 남는 결과물을 함께 적어 두었으므로, 어느 걸음에서 어긋났는지 결과물로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보며, 질의를 외우는 것이 아니라 묻고 싶은 것을 노드와 관계의 패턴으로 바꾸어 적는 연습을 합니다. 한 단계 관계와 여러 단계 관계를 따라가는 질의를 실행하고, 속성값을 돌려받은 결과와 노드나 경로를 돌려받은 결과를 견줍니다. 결과가 예상과 다르면 레이블과 관계 유형의 철자, 화살표의 방향부터 확인합니다. 결과물은 실행한 질의와 그 결과, 그리고 어느 그래프를 조회했는지에 대한 기록입니다. 완성본에서는 완성 쿼리를 실행해 속성값 표와 연결 그래프가 각각 무엇을 담는지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포털의 지식 지도에서 같은 지식을 찾아봅니다. 설비를 고른 뒤 항목을 하나씩 열어, 앞에서 배운 클래스, 인스턴스, 속성, 들어오고 나가는 관계가 실제 시스템에서 어떻게 보이는지 짚어 봅니다. 지식 지도가 보이는 것은 HYD의 기준 지식이고, 직접 설계해 만드는 그래프는 이와 다른 환경에 두므로 한쪽에서 바꾼 것이 다른 쪽에 나타나지 않습니다. 결과물은 확인한 클래스와 관계를 적은 탐색 기록입니다. 완성본에서는 완성 탐색 기록의 경로를 다시 따라가며 출발 대상과 도착 대상을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모델을 설계하며 따라간 순서를 제공된 설비 자료로 직접 밟습니다. 자료를 읽고 답할 질문을 정한 다음, 대상을 클래스와 예시 인스턴스로 가르고 속성과 관계를 정의합니다. 정의한 내용은 AI에게 요구사항으로 전달해 바이브 코딩으로 파일을 만들되, 무엇을 클래스로 두고 무엇을 속성으로 둘지는 설계하는 사람이 정합니다. 만든 결과는 원래 자료의 뜻과 맞는지, 특히 공유 부품과 여러 센서가 빠짐없이 이어졌는지 대조합니다. 완성본에서는 완성 스키마와 예시 데이터를 설명하고, 필수값과 관계 조건 검사를 실행한다.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스키마와 예시 인스턴스를 그래프 DB에 넣습니다. AI가 만든 생성 질의를 실행하기 전에 읽고, 노드를 식별자로 MERGE하는지, 관계의 방향이 스키마의 정의와 같은지 확인합니다. 넣은 뒤에는 그래프로 결과를 보고, 처음 정한 질문을 조회해 답이 나오는지와 중복이나 어긋난 연결이 없는지를 봅니다. 결과물은 생성 질의, 저장된 그래프, 그리고 설계와 대조한 검증 기록입니다. 완성본에서는 완성 생성 쿼리를 설명하고 실행한 뒤, 처음 질문의 답을 다시 조회한다.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정보 하나를 설계 용어와 저장 용어로 이어 읽습니다. 태그는 센서 노드의 속성이고 유온은 센서와 연결된 별도 노드입니다. 유온의 한계를 찾으려면 관계를 건넌 뒤 속성을 읽습니다. 쿨러를 계측하는 센서를 찾는 쿼리도 같은 구조를 사용하므로 설계와 조회가 한 흐름으로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정의한 핵심 용어 아홉을 모았습니다. 위의 여섯은 지식을 정의하는 쪽의 말이고, 아래 셋은 그래프 DB에 저장하고 조회하는 쪽의 말입니다. 정식 이름과 뜻을 한 줄씩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새로 생긴 것이 유형인지 대상 하나인지를 가리는 시나리오 문항입니다. 설비 코드 HYD-04는 Asset 클래스의 code 속성에 들어갈 값입니다. 보기마다 스키마를 바꾸는 일인지, 인스턴스 데이터를 바꾸는 일인지를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 곧 그 값의 근거가 무엇인지를 가리는 문항입니다. 같은 부품이라도 공급사가 바뀌면 값이 바뀐다는 점이 단서입니다. 보기마다 그 자리에 두었을 때 값을 하나로 정할 수 있는지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제약 가운데 무엇을 데이터베이스가 직접 막고 무엇을 저장 뒤의 검사가 찾는지, 책임의 경계를 묻는 문항입니다. 유일 제약은 같은 레이블의 노드끼리 id가 겹치지 않게 하는 조건입니다. 네 보기가 모두 스키마에 어긋난다는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대상마다 클래스를 만드는 실수, 2번은 대상 하나의 순번을 모든 설비의 속성 칸으로 만드는 실수이고, 4번은 이미 있는 설비의 식별 값을 바꾸어 HYD-01을 잃습니다. 둘째 문항의 2번과 3번은 공급사가 셋이거나 부품이 여럿이라 값을 하나로 정할 수 없고, 4번은 값을 따라갈 곳 없는 노드로 만듭니다. 셋째 문항의 1번, 3번, 4번도 스키마에 어긋나지만 데이터베이스는 저장을 막지 않고,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0.png"/><Relationship Id="rId4" Type="http://schemas.openxmlformats.org/officeDocument/2006/relationships/image" Target="../media/image38.png"/><Relationship Id="rId5" Type="http://schemas.openxmlformats.org/officeDocument/2006/relationships/image" Target="../media/image41.png"/><Relationship Id="rId6" Type="http://schemas.openxmlformats.org/officeDocument/2006/relationships/image" Target="../media/image4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지식을 노드 · 레이블 · 관계 · 속성으로 저장하는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 쿼리로 관계를 찾고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패턴 조회와 조건</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노드 · 관계 생성과 병합</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센서는 값을 내놓는 계측 채널이고, 유온은 정상값과 한계를 가진 상태 변수이다.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속성: normal 48 ℃ · 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연결한 대상의 속성을 이어서 찾는다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7347618082768350082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속도 · 끝: 유온</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 팬 속도 증가, 유온 감소</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1830750629788874950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3596701989610689131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HAS_STEP</a:t>
            </a:r>
          </a:p>
          <a:p>
            <a:pPr algn="ctr" eaLnBrk="0">
              <a:lnSpc>
                <a:spcPct val="110000"/>
              </a:lnSpc>
              <a:spcAft>
                <a:spcPts val="100"/>
              </a:spcAft>
            </a:pPr>
            <a:r>
              <a:rPr sz="1300" b="0">
                <a:solidFill>
                  <a:srgbClr val="556175"/>
                </a:solidFill>
                <a:latin typeface="맑은 고딕"/>
                <a:ea typeface="맑은 고딕"/>
                <a:cs typeface="맑은 고딕"/>
              </a:rPr>
              <a:t>팬 최대 운전 → 단계 셋</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MEMBER_OF</a:t>
            </a:r>
          </a:p>
          <a:p>
            <a:pPr algn="ctr" eaLnBrk="0">
              <a:lnSpc>
                <a:spcPct val="110000"/>
              </a:lnSpc>
              <a:spcAft>
                <a:spcPts val="100"/>
              </a:spcAft>
            </a:pPr>
            <a:r>
              <a:rPr sz="1300" b="0">
                <a:solidFill>
                  <a:srgbClr val="556175"/>
                </a:solidFill>
                <a:latin typeface="맑은 고딕"/>
                <a:ea typeface="맑은 고딕"/>
                <a:cs typeface="맑은 고딕"/>
              </a:rPr>
              <a:t>역할 여럿 → 생산팀</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a:t>
            </a:r>
            <a:r>
              <a:rPr sz="1600" b="1">
                <a:solidFill>
                  <a:srgbClr val="1A6FC4"/>
                </a:solidFill>
                <a:latin typeface="맑은 고딕"/>
                <a:ea typeface="맑은 고딕"/>
                <a:cs typeface="맑은 고딕"/>
              </a:rPr>
              <a:t>관계의 속성</a:t>
            </a:r>
            <a:r>
              <a:rPr sz="1600" b="0">
                <a:solidFill>
                  <a:srgbClr val="556175"/>
                </a:solidFill>
                <a:latin typeface="맑은 고딕"/>
                <a:ea typeface="맑은 고딕"/>
                <a:cs typeface="맑은 고딕"/>
              </a:rPr>
              <a:t>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관계의 속성(Relationship Property)</a:t>
            </a:r>
          </a:p>
          <a:p>
            <a:pPr algn="l" eaLnBrk="0">
              <a:lnSpc>
                <a:spcPct val="110000"/>
              </a:lnSpc>
              <a:spcAft>
                <a:spcPts val="400"/>
              </a:spcAft>
            </a:pPr>
            <a:r>
              <a:rPr sz="1350" b="0">
                <a:solidFill>
                  <a:srgbClr val="1F2A3A"/>
                </a:solidFill>
                <a:latin typeface="맑은 고딕"/>
                <a:ea typeface="맑은 고딕"/>
                <a:cs typeface="맑은 고딕"/>
              </a:rPr>
              <a:t>두 대상의 짝에 딸린 값이다. 같은 부품도 공급사마다 값이 달라 한쪽에 하나로 둘 수 없다.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price</a:t>
            </a:r>
          </a:p>
          <a:p>
            <a:pPr algn="l" eaLnBrk="0">
              <a:lnSpc>
                <a:spcPct val="110000"/>
              </a:lnSpc>
              <a:spcAft>
                <a:spcPts val="400"/>
              </a:spcAft>
            </a:pPr>
            <a:r>
              <a:rPr sz="1400" b="0">
                <a:solidFill>
                  <a:srgbClr val="1F2A3A"/>
                </a:solidFill>
                <a:latin typeface="맑은 고딕"/>
                <a:ea typeface="맑은 고딕"/>
                <a:cs typeface="맑은 고딕"/>
              </a:rPr>
              <a:t>단가이며 만원 단위이다: 35 · 55 · 20만원.</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leadDays</a:t>
            </a:r>
          </a:p>
          <a:p>
            <a:pPr algn="l" eaLnBrk="0">
              <a:lnSpc>
                <a:spcPct val="110000"/>
              </a:lnSpc>
              <a:spcAft>
                <a:spcPts val="400"/>
              </a:spcAft>
            </a:pPr>
            <a:r>
              <a:rPr sz="1400" b="0">
                <a:solidFill>
                  <a:srgbClr val="1F2A3A"/>
                </a:solidFill>
                <a:latin typeface="맑은 고딕"/>
                <a:ea typeface="맑은 고딕"/>
                <a:cs typeface="맑은 고딕"/>
              </a:rPr>
              <a:t>납기이며 일 단위이다: 2 · 5 · 1일.</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failRate</a:t>
            </a:r>
          </a:p>
          <a:p>
            <a:pPr algn="l" eaLnBrk="0">
              <a:lnSpc>
                <a:spcPct val="110000"/>
              </a:lnSpc>
              <a:spcAft>
                <a:spcPts val="400"/>
              </a:spcAft>
            </a:pPr>
            <a:r>
              <a:rPr sz="1400" b="0">
                <a:solidFill>
                  <a:srgbClr val="1F2A3A"/>
                </a:solidFill>
                <a:latin typeface="맑은 고딕"/>
                <a:ea typeface="맑은 고딕"/>
                <a:cs typeface="맑은 고딕"/>
              </a:rPr>
              <a:t>불량률이다: 0.12 · 0.02 · 0.30, 곧 12 · 2 · 30 %이다.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1176245174423305781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요소·센서 노드를 세 설비가 공유하므로, 계측값은 설비 코드와 태그로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7590385194060567429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5807283040459771454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396865"/>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패턴 조회와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찾을 노드와 관계의 패턴을 적고, 조건으로 조회 결과를 좁힌다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3094909966211827685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2612153327158209313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그래프 DB에 보낼 요청을 노드와 관계의 패턴(Pattern)으로 적는 질의 언어이다.</a:t>
            </a:r>
          </a:p>
          <a:p>
            <a:pPr algn="l" eaLnBrk="0">
              <a:lnSpc>
                <a:spcPct val="110000"/>
              </a:lnSpc>
              <a:spcAft>
                <a:spcPts val="300"/>
              </a:spcAft>
            </a:pPr>
            <a:r>
              <a:rPr sz="1400" b="0">
                <a:solidFill>
                  <a:srgbClr val="1F2A3A"/>
                </a:solidFill>
                <a:latin typeface="맑은 고딕"/>
                <a:ea typeface="맑은 고딕"/>
                <a:cs typeface="맑은 고딕"/>
              </a:rPr>
              <a:t>노드와 관계의 패턴에 맞는 데이터를 찾고, 값을 읽거나 노드와 관계를 만든다.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6134820382685874965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절로 한계가 있는 물리량만 남기면 인터록 기준 셋이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WHERE v.limit &gt; 100 </a:t>
            </a:r>
            <a:r>
              <a:rPr sz="1300" b="0">
                <a:solidFill>
                  <a:srgbClr val="E8EEF6"/>
                </a:solidFill>
                <a:latin typeface="맑은 고딕"/>
                <a:ea typeface="맑은 고딕"/>
                <a:cs typeface="맑은 고딕"/>
              </a:rPr>
              <a:t>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바꾸면</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것 가운데 조건에 맞는 것만 남기는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수의 비교</a:t>
            </a:r>
          </a:p>
          <a:p>
            <a:pPr algn="l" eaLnBrk="0">
              <a:lnSpc>
                <a:spcPct val="110000"/>
              </a:lnSpc>
              <a:spcAft>
                <a:spcPts val="400"/>
              </a:spcAft>
            </a:pPr>
            <a:r>
              <a:rPr sz="1400" b="0">
                <a:solidFill>
                  <a:srgbClr val="1F2A3A"/>
                </a:solidFill>
                <a:latin typeface="맑은 고딕"/>
                <a:ea typeface="맑은 고딕"/>
                <a:cs typeface="맑은 고딕"/>
              </a:rPr>
              <a:t>limit이 number라서 v.limit &gt; 100처럼 크기를 비교할 수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한계의 방향</a:t>
            </a:r>
          </a:p>
          <a:p>
            <a:pPr algn="l" eaLnBrk="0">
              <a:lnSpc>
                <a:spcPct val="110000"/>
              </a:lnSpc>
              <a:spcAft>
                <a:spcPts val="400"/>
              </a:spcAft>
            </a:pPr>
            <a:r>
              <a:rPr sz="1400" b="0">
                <a:solidFill>
                  <a:srgbClr val="1F2A3A"/>
                </a:solidFill>
                <a:latin typeface="맑은 고딕"/>
                <a:ea typeface="맑은 고딕"/>
                <a:cs typeface="맑은 고딕"/>
              </a:rPr>
              <a:t>유온 &gt; 65 ℃, 팬 진동 ≥ 2.0 mm/s, 토출 압력 &lt; 130 bar이면 인터록이 걸린다.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pic>
        <p:nvPicPr>
          <p:cNvPr id="6" name="삽화:역방향탐색.svg" descr="illust_267524025160538284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확인점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설비에 이어진 구성 요소와 센서를 직접 쓴 질의로 찾고, 결과의 형태를 표와 그래프로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구조 확인</a:t>
            </a:r>
          </a:p>
          <a:p>
            <a:pPr algn="l" eaLnBrk="0">
              <a:lnSpc>
                <a:spcPct val="110000"/>
              </a:lnSpc>
              <a:spcAft>
                <a:spcPts val="400"/>
              </a:spcAft>
            </a:pPr>
            <a:r>
              <a:rPr sz="140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그래프 읽기</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한 단계 조회</a:t>
            </a:r>
          </a:p>
          <a:p>
            <a:pPr algn="l" eaLnBrk="0">
              <a:lnSpc>
                <a:spcPct val="110000"/>
              </a:lnSpc>
              <a:spcAft>
                <a:spcPts val="400"/>
              </a:spcAft>
            </a:pPr>
            <a:r>
              <a:rPr sz="1400" b="0">
                <a:solidFill>
                  <a:srgbClr val="1F2A3A"/>
                </a:solidFill>
                <a:latin typeface="맑은 고딕"/>
                <a:ea typeface="맑은 고딕"/>
                <a:cs typeface="맑은 고딕"/>
              </a:rPr>
              <a:t>설비에 이어진 구성 요소, 구성 요소에 이어진 센서를 찾는다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여러 단계 조회</a:t>
            </a:r>
          </a:p>
          <a:p>
            <a:pPr algn="l" eaLnBrk="0">
              <a:lnSpc>
                <a:spcPct val="110000"/>
              </a:lnSpc>
              <a:spcAft>
                <a:spcPts val="400"/>
              </a:spcAft>
            </a:pPr>
            <a:r>
              <a:rPr sz="1400" b="0">
                <a:solidFill>
                  <a:srgbClr val="1F2A3A"/>
                </a:solidFill>
                <a:latin typeface="맑은 고딕"/>
                <a:ea typeface="맑은 고딕"/>
                <a:cs typeface="맑은 고딕"/>
              </a:rPr>
              <a:t>관계를 이어 적어 설비에서 상태 변수까지 따라간다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결과 비교</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속성값을 받은 표와 노드 · 경로를 받은 그래프를 견준다</a:t>
            </a:r>
          </a:p>
          <a:p>
            <a:pPr algn="l" eaLnBrk="0" marL="160020" indent="-160020">
              <a:lnSpc>
                <a:spcPct val="110000"/>
              </a:lnSpc>
              <a:spcAft>
                <a:spcPts val="400"/>
              </a:spcAft>
            </a:pPr>
            <a:r>
              <a:rPr sz="1400" b="0">
                <a:solidFill>
                  <a:srgbClr val="1F2A3A"/>
                </a:solidFill>
                <a:latin typeface="맑은 고딕"/>
                <a:ea typeface="맑은 고딕"/>
                <a:cs typeface="맑은 고딕"/>
              </a:rPr>
              <a:t>• 어느 그래프를 조회했는지 함께 적는다</a:t>
            </a:r>
          </a:p>
          <a:p>
            <a:pPr algn="l" eaLnBrk="0" marL="160020" indent="-160020">
              <a:lnSpc>
                <a:spcPct val="110000"/>
              </a:lnSpc>
              <a:spcAft>
                <a:spcPts val="400"/>
              </a:spcAft>
            </a:pPr>
            <a:r>
              <a:rPr sz="1400" b="0">
                <a:solidFill>
                  <a:srgbClr val="1F2A3A"/>
                </a:solidFill>
                <a:latin typeface="맑은 고딕"/>
                <a:ea typeface="맑은 고딕"/>
                <a:cs typeface="맑은 고딕"/>
              </a:rPr>
              <a:t>• 완성 쿼리의 실행 결과와 대조한다</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연결 탐색</a:t>
            </a:r>
          </a:p>
          <a:p>
            <a:pPr algn="l" eaLnBrk="0">
              <a:lnSpc>
                <a:spcPct val="110000"/>
              </a:lnSpc>
              <a:spcAft>
                <a:spcPts val="400"/>
              </a:spcAft>
            </a:pPr>
            <a:r>
              <a:rPr sz="1600" b="0">
                <a:solidFill>
                  <a:srgbClr val="1F2A3A"/>
                </a:solidFill>
                <a:latin typeface="맑은 고딕"/>
                <a:ea typeface="맑은 고딕"/>
                <a:cs typeface="맑은 고딕"/>
              </a:rPr>
              <a:t>설비 하나를 골라 이어진 구성 요소와 센서로 따라간다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항목 읽기</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 기록의 탐색 경로를 재현한다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두 그래프의 구분</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지도는 HYD의 기준 지식을 보인다</a:t>
            </a:r>
          </a:p>
          <a:p>
            <a:pPr algn="l" eaLnBrk="0" marL="182880" indent="-182880">
              <a:lnSpc>
                <a:spcPct val="110000"/>
              </a:lnSpc>
              <a:spcAft>
                <a:spcPts val="400"/>
              </a:spcAft>
            </a:pPr>
            <a:r>
              <a:rPr sz="1600" b="0">
                <a:solidFill>
                  <a:srgbClr val="1F2A3A"/>
                </a:solidFill>
                <a:latin typeface="맑은 고딕"/>
                <a:ea typeface="맑은 고딕"/>
                <a:cs typeface="맑은 고딕"/>
              </a:rPr>
              <a:t>• 실습에서 직접 만드는 그래프는 기준 지식과 다른 환경에 둔다</a:t>
            </a:r>
          </a:p>
        </p:txBody>
      </p:sp>
      <p:sp>
        <p:nvSpPr>
          <p:cNvPr id="22" name="Rounded Rectangle 21"/>
          <p:cNvSpPr/>
          <p:nvPr/>
        </p:nvSpPr>
        <p:spPr>
          <a:xfrm>
            <a:off x="8356396" y="542950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대상 구분</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확인할 것</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방향</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a:t>
            </a:r>
          </a:p>
          <a:p>
            <a:pPr algn="l" eaLnBrk="0" marL="205740" indent="-205740">
              <a:lnSpc>
                <a:spcPct val="110000"/>
              </a:lnSpc>
              <a:spcAft>
                <a:spcPts val="400"/>
              </a:spcAft>
            </a:pPr>
            <a:r>
              <a:rPr sz="1800" b="0">
                <a:solidFill>
                  <a:srgbClr val="1F2A3A"/>
                </a:solidFill>
                <a:latin typeface="맑은 고딕"/>
                <a:ea typeface="맑은 고딕"/>
                <a:cs typeface="맑은 고딕"/>
              </a:rPr>
              <a:t>• 완성 파일의 정의와 검사 결과를 대조한다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검증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설계한 스키마와 인스턴스를 질의로 옮겨 그래프 DB에 넣고, 조회 결과가 설계와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생성 질의</a:t>
            </a:r>
          </a:p>
          <a:p>
            <a:pPr algn="l" eaLnBrk="0" marL="182880" indent="-182880">
              <a:lnSpc>
                <a:spcPct val="110000"/>
              </a:lnSpc>
              <a:spcAft>
                <a:spcPts val="400"/>
              </a:spcAft>
            </a:pPr>
            <a:r>
              <a:rPr sz="1600" b="0">
                <a:solidFill>
                  <a:srgbClr val="1F2A3A"/>
                </a:solidFill>
                <a:latin typeface="맑은 고딕"/>
                <a:ea typeface="맑은 고딕"/>
                <a:cs typeface="맑은 고딕"/>
              </a:rPr>
              <a:t>• 노드는 id로 찾아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관계는 양 끝을 찾은 뒤 스키마의 방향으로 잇는다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질의</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저장된 그래프</a:t>
            </a:r>
          </a:p>
          <a:p>
            <a:pPr algn="l" eaLnBrk="0">
              <a:lnSpc>
                <a:spcPct val="110000"/>
              </a:lnSpc>
              <a:spcAft>
                <a:spcPts val="400"/>
              </a:spcAft>
            </a:pPr>
            <a:r>
              <a:rPr sz="1600" b="0">
                <a:solidFill>
                  <a:srgbClr val="1F2A3A"/>
                </a:solidFill>
                <a:latin typeface="맑은 고딕"/>
                <a:ea typeface="맑은 고딕"/>
                <a:cs typeface="맑은 고딕"/>
              </a:rPr>
              <a:t>클래스는 레이블로, 인스턴스는 노드로, 연결은 관계로 남는다</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검증</a:t>
            </a:r>
          </a:p>
          <a:p>
            <a:pPr algn="l" eaLnBrk="0" marL="182880" indent="-182880">
              <a:lnSpc>
                <a:spcPct val="110000"/>
              </a:lnSpc>
              <a:spcAft>
                <a:spcPts val="400"/>
              </a:spcAft>
            </a:pPr>
            <a:r>
              <a:rPr sz="1600" b="0">
                <a:solidFill>
                  <a:srgbClr val="1F2A3A"/>
                </a:solidFill>
                <a:latin typeface="맑은 고딕"/>
                <a:ea typeface="맑은 고딕"/>
                <a:cs typeface="맑은 고딕"/>
              </a:rPr>
              <a:t>• 중복 id와 관계의 끝점을 검사한다</a:t>
            </a:r>
          </a:p>
          <a:p>
            <a:pPr algn="l" eaLnBrk="0" marL="182880" indent="-182880">
              <a:lnSpc>
                <a:spcPct val="110000"/>
              </a:lnSpc>
              <a:spcAft>
                <a:spcPts val="400"/>
              </a:spcAft>
            </a:pPr>
            <a:r>
              <a:rPr sz="1600" b="0">
                <a:solidFill>
                  <a:srgbClr val="1F2A3A"/>
                </a:solidFill>
                <a:latin typeface="맑은 고딕"/>
                <a:ea typeface="맑은 고딕"/>
                <a:cs typeface="맑은 고딕"/>
              </a:rPr>
              <a:t>• 조회 결과를 예상한 답과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 쿼리의 실행 · 조회 결과를 확인한다</a:t>
            </a:r>
          </a:p>
        </p:txBody>
      </p:sp>
      <p:sp>
        <p:nvSpPr>
          <p:cNvPr id="22" name="Rounded Rectangle 21"/>
          <p:cNvSpPr/>
          <p:nvPr/>
        </p:nvSpPr>
        <p:spPr>
          <a:xfrm>
            <a:off x="8356396" y="5429504"/>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대조</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대상의 특성을 이름과 값으로 적은 것</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고유한 이름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