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경보가 난 설비는 HYD-01이었고, 같은 기종의 HYD-02와 HYD-03도 공장에 있습니다. 온톨로지가 정의하는 대상의 종류가 클래스이고, 그 유형에 속해 하나하나 구별되는 대상이 인스턴스입니다. 설비라는 유형은 Asset이라는 클래스 이름으로, HYD-01이라는 대상은 asset:hyd-01이라는 인스턴스의 식별자로 적습니다. 「HYD-01은 설비의 하나이다」처럼 읽히면 앞이 인스턴스, 뒤가 클래스입니다. 이렇게 나누어 두어야 설비 한 대에 대해 적은 지식을 같은 클래스의 다른 설비에도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「TS1」이라는 말은 센서를 가리키기도 하고 태그 값을 가리키기도 했습니다. 왼쪽부터 읽으면 Sensor는 계측 채널이라는 유형의 이름이고, sen:ts1은 그 유형에 속하는 유온 센서 하나이며, TS1은 그 인스턴스의 tag 칸에 들어 있는 값입니다. 같은 Sensor 클래스에는 냉각 효율 CE, 토출 압력 PS1, 유량 FS1, 팬 진동 VS1의 인스턴스도 속합니다. 세 층을 나누어 적어야 TS1이라는 값을 찾는 일과 유온 센서라는 대상을 찾는 일이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설비 쪽 대표 대상을 다섯 클래스로 나누어 봅니다. 유온 센서와 유온은 이름이 비슷하지만, 센서는 재는 쪽이고 유온은 재어지는 물리량이어서 정상값 48과 한계 65는 센서가 아니라 상태 변수에 붙습니다. 일상에서는 쿨러도 부품이라고 부르지만, 설비를 이루는 장치는 구성 요소이고 그 안에서 갈아 끼우는 교체품만 부품입니다. 오일 쿨러에는 쿨러 코어가, 쿨러 팬에는 팬 베어링이, 주 펌프에는 펌프 축 씰 키트가, 작동유 탱크에는 리턴 필터 엘리먼트가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쿨러 사건에서 따라간 유온 상승, 쿨러 냉각 성능 상실, 쿨러 핀 오염도 각각 증상, 고장 유형, 원인 클래스의 인스턴스입니다. 이 대상들이 인스턴스로 있어야 증상이 고장 유형을 가리키고 원인이 고장 유형을 일으킨다는 관계를 적을 수 있습니다. 센서도 마찬가지여서, 냉각 효율의 수치 자체가 센서 인스턴스인 것은 아닙니다. 그 수치를 계산해 내놓는 채널 sen:ce가 Sensor의 인스턴스이고, 그 채널이 읽는 물리량은 상태 변수 sv:ce로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온톨로지에서 속성은 대상이 갖는 값을 담는 항목이고, 그 항목의 칸을 정하는 것이 클래스입니다. 왼쪽의 Sensor 클래스는 식별자 id, 이름 name, 태그 tag, 단위 unit, 계산으로 만든 채널인지를 나타내는 virtual의 다섯 칸을 정합니다. 가운데 유온 센서와 오른쪽 냉각 효율은 칸이 같고 값만 다르며, 앞에서 값이라고 가른 TS1이 tag 칸의 값입니다. 냉각 효율은 계산으로 만든 채널이어서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태그나 단위처럼 값 하나로 끝나면 데이터 속성이고, 더 따라갈 곳이 없으므로 단위나 한계를 노드로 만들 까닭이 없습니다. 유온은 정상값과 한계라는 자기 속성을 가지므로 글자 값이 아니라 인스턴스로 두고, 유온 센서와는 읽는다는 뜻의 OBSERVES로 잇습니다. 팬 인버터는 팬 속도를 바꾸고(MANIPULATES), 팬 속도는 유온에 영향을 주므로(INFLUENCES), 쿨러 사건에서 팬을 올리자 유온이 내려간 일이 이 관계를 따라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먼저 유형을 정합니다. 설비에서 출발해 읽으면 HAS_COMPONENT는 Asset에서 Component로, MONITORED_BY는 Component에서 Sensor로, OBSERVES는 Sensor에서 StateVariable로 향하며, 화살표가 시작하는 쪽이 시작 클래스, 닿는 쪽이 끝 클래스입니다. 실제 데이터에서는 HYD-01이 오일 쿨러를 구성 요소로 갖고, 오일 쿨러는 유온 센서로 계측되며, 유온 센서는 유온을 읽습니다. 그 연결 하나하나가 이 그래프에 정의된 관계 유형을 따릅니다.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요소 하나를 가운데 두고, 그에 붙는 관계 가운데 넷만 골라 그린 부분도입니다. 왼쪽의 두 화살표는 구성 요소로 들어오는 관계이며, 고장 유형 중심 지도에서 고장 유형이 구성 요소에서 일어난다고 읽은 것이 OCCURS_IN입니다. 오른쪽의 두 화살표는 구성 요소에서 나가는 관계로, 오일 쿨러는 유온 센서와 냉각 효율로 계측되고 쿨러 코어를 부품으로 씁니다. 이렇게 쿨러 사건의 대상은 클래스와 인스턴스, 속성값, 관계로 나뉘어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그래프의 질의 언어는 찾고 싶은 노드와 관계의 모양을 그림 그리듯 글자로 적으며, 이 역할에는 Neo4j의 Cypher 같은 것이 있습니다.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질의는 오일 쿨러를 재는 센서가 무엇인지를 묻고, 센서가 몇 개인지는 적지 않았습니다. 찾을 패턴에 맞는 것을 모두 찾는 것이 MATCH의 동작이고, RETURN에 구성 요소의 이름과 센서의 태그를 달라고 적었으므로 결과는 두 열입니다. 한 행이 패턴에 맞는 연결 하나여서, 첫 행은 오일 쿨러에서 TS1로 가는 연결입니다. 여기처럼 속성값만 돌려받으면 결과는 표로 읽고, 결과를 그래프로 보려면 노드나 관계, 경로 자체를 돌려받아야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조건 절 WHERE를 씁니다. 한계가 정해진 상태 변수만 남기면 세 행이 나오며, 유온 65 ℃, 토출 압력 130 bar, 팬 진동 2.0 mm/s가 HYD-01의 인터록 세 가지와 같은 값입니다. 값이 없는지 따지는 일과 크기를 비교하는 일은 다르며, 한계가 수로 정의되어 있어야 크기 비교를 할 수 있습니다. 유온은 65 ℃ 초과, 팬 진동은 2.0 mm/s 이상, 토출 압력은 130 bar 미만일 때 인터록이 걸립니다. limit &gt; 100은 수를 거르는 문법 예이며 서로 다른 단위의 위험도를 비교하는 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보며, 질의를 외우는 것이 아니라 묻고 싶은 것을 노드와 관계의 패턴으로 바꾸어 적는 연습을 합니다. 한 단계 관계와 여러 단계 관계를 따라가는 질의를 실행하고, 속성값을 돌려받은 결과와 노드나 경로를 돌려받은 결과를 견줍니다. 결과가 예상과 다르면 레이블과 관계 유형의 철자, 화살표의 방향부터 확인합니다. 결과물은 실행한 질의와 그 결과, 그리고 어느 그래프를 조회했는지에 대한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스키마와 예시 인스턴스를 그래프 DB에 넣습니다. AI가 만든 생성 질의를 실행하기 전에 읽고, 노드를 식별자로 MERGE하는지, 관계의 방향이 스키마의 정의와 같은지 확인합니다. 넣은 뒤에는 그래프로 결과를 보고, 처음 정한 질문을 조회해 답이 나오는지와 중복이나 어긋난 연결이 없는지를 봅니다. 결과물은 생성 질의, 저장된 그래프, 그리고 설계와 대조한 검증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핵심 용어 아홉을 모았습니다. 위의 여섯은 지식을 정의하는 쪽의 말이고, 아래 셋은 그래프 DB에 저장하고 조회하는 쪽의 말입니다. 뜻은 본문에서 풀었으므로 여기서는 정식 명칭과 HYD의 예만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3.png"/><Relationship Id="rId6"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9.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34.png"/><Relationship Id="rId7" Type="http://schemas.openxmlformats.org/officeDocument/2006/relationships/image" Target="../media/image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4.png"/><Relationship Id="rId6" Type="http://schemas.openxmlformats.org/officeDocument/2006/relationships/image" Target="../media/image4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2.png"/><Relationship Id="rId4" Type="http://schemas.openxmlformats.org/officeDocument/2006/relationships/image" Target="../media/image46.png"/><Relationship Id="rId5"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46.png"/><Relationship Id="rId5"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저장과 질의</a:t>
            </a:r>
          </a:p>
          <a:p>
            <a:pPr algn="l" eaLnBrk="0" marL="154305" indent="-154305">
              <a:lnSpc>
                <a:spcPct val="110000"/>
              </a:lnSpc>
              <a:spcAft>
                <a:spcPts val="400"/>
              </a:spcAft>
            </a:pPr>
            <a:r>
              <a:rPr sz="1350" b="0">
                <a:solidFill>
                  <a:srgbClr val="1F2A3A"/>
                </a:solidFill>
                <a:latin typeface="맑은 고딕"/>
                <a:ea typeface="맑은 고딕"/>
                <a:cs typeface="맑은 고딕"/>
              </a:rPr>
              <a:t>• 지식을 노드 · 레이블 · 관계 · 속성으로 저장하는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패턴 질의로 관계를 따라 찾고 식별자로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저장 구조와 관계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생성과 검증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유형의 대상을 함께 다루려면 유형인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와 개별 대상인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를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공통 특성을 가진 대상의 유형이다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설비(Asset)</a:t>
            </a:r>
          </a:p>
          <a:p>
            <a:pPr algn="l" eaLnBrk="0" marL="177165" indent="-177165">
              <a:lnSpc>
                <a:spcPct val="110000"/>
              </a:lnSpc>
              <a:spcAft>
                <a:spcPts val="600"/>
              </a:spcAft>
            </a:pPr>
            <a:r>
              <a:rPr sz="1550" b="0">
                <a:solidFill>
                  <a:srgbClr val="1F2A3A"/>
                </a:solidFill>
                <a:latin typeface="맑은 고딕"/>
                <a:ea typeface="맑은 고딕"/>
                <a:cs typeface="맑은 고딕"/>
              </a:rPr>
              <a:t>• 그 유형이 가질 속성의 칸과 맺을 관계를 정한다</a:t>
            </a:r>
          </a:p>
        </p:txBody>
      </p:sp>
      <p:sp>
        <p:nvSpPr>
          <p:cNvPr id="11" name="Rounded Rectangle 10"/>
          <p:cNvSpPr/>
          <p:nvPr/>
        </p:nvSpPr>
        <p:spPr>
          <a:xfrm>
            <a:off x="868680" y="528516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클래스에 속하는 개별 대상 하나이다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asset:hyd-01 「HYD-01 유압 파워팩」</a:t>
            </a:r>
          </a:p>
          <a:p>
            <a:pPr algn="l" eaLnBrk="0" marL="177165" indent="-177165">
              <a:lnSpc>
                <a:spcPct val="110000"/>
              </a:lnSpc>
              <a:spcAft>
                <a:spcPts val="600"/>
              </a:spcAft>
            </a:pPr>
            <a:r>
              <a:rPr sz="1550" b="0">
                <a:solidFill>
                  <a:srgbClr val="1F2A3A"/>
                </a:solidFill>
                <a:latin typeface="맑은 고딕"/>
                <a:ea typeface="맑은 고딕"/>
                <a:cs typeface="맑은 고딕"/>
              </a:rPr>
              <a:t>• HYD-02 · HYD-03도 같은 클래스의 다른 인스턴스이다</a:t>
            </a:r>
          </a:p>
          <a:p>
            <a:pPr algn="l" eaLnBrk="0" marL="177165" indent="-177165">
              <a:lnSpc>
                <a:spcPct val="110000"/>
              </a:lnSpc>
              <a:spcAft>
                <a:spcPts val="600"/>
              </a:spcAft>
            </a:pPr>
            <a:r>
              <a:rPr sz="1550" b="0">
                <a:solidFill>
                  <a:srgbClr val="1F2A3A"/>
                </a:solidFill>
                <a:latin typeface="맑은 고딕"/>
                <a:ea typeface="맑은 고딕"/>
                <a:cs typeface="맑은 고딕"/>
              </a:rPr>
              <a:t>• 「HYD-01은 설비의 하나이다」로 읽힌다</a:t>
            </a:r>
          </a:p>
        </p:txBody>
      </p:sp>
      <p:sp>
        <p:nvSpPr>
          <p:cNvPr id="18" name="Rounded Rectangle 17"/>
          <p:cNvSpPr/>
          <p:nvPr/>
        </p:nvSpPr>
        <p:spPr>
          <a:xfrm>
            <a:off x="6781647" y="5285168"/>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 인스턴스 · 속성값의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「TS1」이라도 센서라는 유형, 유온 센서라는 대상, 태그라는 값은 서로 다른 층에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클래스</a:t>
            </a:r>
          </a:p>
          <a:p>
            <a:pPr algn="l" eaLnBrk="0" marL="205740" indent="-205740">
              <a:lnSpc>
                <a:spcPct val="110000"/>
              </a:lnSpc>
              <a:spcAft>
                <a:spcPts val="400"/>
              </a:spcAft>
            </a:pPr>
            <a:r>
              <a:rPr sz="1800" b="0">
                <a:solidFill>
                  <a:srgbClr val="1F2A3A"/>
                </a:solidFill>
                <a:latin typeface="맑은 고딕"/>
                <a:ea typeface="맑은 고딕"/>
                <a:cs typeface="맑은 고딕"/>
              </a:rPr>
              <a:t>• 센서(Sensor)</a:t>
            </a:r>
          </a:p>
          <a:p>
            <a:pPr algn="l" eaLnBrk="0" marL="205740" indent="-205740">
              <a:lnSpc>
                <a:spcPct val="110000"/>
              </a:lnSpc>
              <a:spcAft>
                <a:spcPts val="400"/>
              </a:spcAft>
            </a:pPr>
            <a:r>
              <a:rPr sz="1800" b="0">
                <a:solidFill>
                  <a:srgbClr val="1F2A3A"/>
                </a:solidFill>
                <a:latin typeface="맑은 고딕"/>
                <a:ea typeface="맑은 고딕"/>
                <a:cs typeface="맑은 고딕"/>
              </a:rPr>
              <a:t>• 값을 재어 내놓는 계측 채널의 유형이다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인스턴스</a:t>
            </a:r>
          </a:p>
          <a:p>
            <a:pPr algn="l" eaLnBrk="0" marL="205740" indent="-205740">
              <a:lnSpc>
                <a:spcPct val="110000"/>
              </a:lnSpc>
              <a:spcAft>
                <a:spcPts val="400"/>
              </a:spcAft>
            </a:pPr>
            <a:r>
              <a:rPr sz="1800" b="0">
                <a:solidFill>
                  <a:srgbClr val="1F2A3A"/>
                </a:solidFill>
                <a:latin typeface="맑은 고딕"/>
                <a:ea typeface="맑은 고딕"/>
                <a:cs typeface="맑은 고딕"/>
              </a:rPr>
              <a:t>• sen:ts1 「유온 센서」</a:t>
            </a:r>
          </a:p>
          <a:p>
            <a:pPr algn="l" eaLnBrk="0" marL="205740" indent="-205740">
              <a:lnSpc>
                <a:spcPct val="110000"/>
              </a:lnSpc>
              <a:spcAft>
                <a:spcPts val="400"/>
              </a:spcAft>
            </a:pPr>
            <a:r>
              <a:rPr sz="1800" b="0">
                <a:solidFill>
                  <a:srgbClr val="1F2A3A"/>
                </a:solidFill>
                <a:latin typeface="맑은 고딕"/>
                <a:ea typeface="맑은 고딕"/>
                <a:cs typeface="맑은 고딕"/>
              </a:rPr>
              <a:t>• 같은 클래스: sen:ce(CE) · sen:ps1(PS1) · sen:fs1(FS1) · sen:vs1(VS1)</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속성값(Property Value)</a:t>
            </a:r>
          </a:p>
          <a:p>
            <a:pPr algn="l" eaLnBrk="0" marL="205740" indent="-205740">
              <a:lnSpc>
                <a:spcPct val="110000"/>
              </a:lnSpc>
              <a:spcAft>
                <a:spcPts val="400"/>
              </a:spcAft>
            </a:pPr>
            <a:r>
              <a:rPr sz="1800" b="0">
                <a:solidFill>
                  <a:srgbClr val="1F2A3A"/>
                </a:solidFill>
                <a:latin typeface="맑은 고딕"/>
                <a:ea typeface="맑은 고딕"/>
                <a:cs typeface="맑은 고딕"/>
              </a:rPr>
              <a:t>• tag: 'TS1'</a:t>
            </a:r>
          </a:p>
          <a:p>
            <a:pPr algn="l" eaLnBrk="0" marL="205740" indent="-205740">
              <a:lnSpc>
                <a:spcPct val="110000"/>
              </a:lnSpc>
              <a:spcAft>
                <a:spcPts val="400"/>
              </a:spcAft>
            </a:pPr>
            <a:r>
              <a:rPr sz="1800" b="0">
                <a:solidFill>
                  <a:srgbClr val="1F2A3A"/>
                </a:solidFill>
                <a:latin typeface="맑은 고딕"/>
                <a:ea typeface="맑은 고딕"/>
                <a:cs typeface="맑은 고딕"/>
              </a:rPr>
              <a:t>• 인스턴스에 붙은 값이며 그 자체로 다른 대상과 관계를 맺지 않는다</a:t>
            </a:r>
          </a:p>
        </p:txBody>
      </p:sp>
      <p:sp>
        <p:nvSpPr>
          <p:cNvPr id="22" name="Rounded Rectangle 21"/>
          <p:cNvSpPr/>
          <p:nvPr/>
        </p:nvSpPr>
        <p:spPr>
          <a:xfrm>
            <a:off x="8356396" y="542950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인스턴스에 딸린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지식을 이루는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쪽 대상은 설비 · 구성 요소 · 센서 · 상태 변수 · 부품의 다섯 클래스에 나뉘어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인스턴스의 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a:t>
            </a:r>
          </a:p>
          <a:p>
            <a:pPr algn="l" eaLnBrk="0">
              <a:lnSpc>
                <a:spcPct val="110000"/>
              </a:lnSpc>
            </a:pPr>
            <a:r>
              <a:rPr sz="1250" b="1">
                <a:solidFill>
                  <a:srgbClr val="556175"/>
                </a:solidFill>
                <a:latin typeface="맑은 고딕"/>
                <a:ea typeface="맑은 고딕"/>
                <a:cs typeface="맑은 고딕"/>
              </a:rPr>
              <a:t>「HYD-01 유압 파워팩」</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comp:cooler</a:t>
            </a:r>
          </a:p>
          <a:p>
            <a:pPr algn="l" eaLnBrk="0">
              <a:lnSpc>
                <a:spcPct val="110000"/>
              </a:lnSpc>
            </a:pPr>
            <a:r>
              <a:rPr sz="1250" b="1">
                <a:solidFill>
                  <a:srgbClr val="556175"/>
                </a:solidFill>
                <a:latin typeface="맑은 고딕"/>
                <a:ea typeface="맑은 고딕"/>
                <a:cs typeface="맑은 고딕"/>
              </a:rPr>
              <a:t>「오일 쿨러」</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센서(Sensor)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재는 쪽. 태그 이름이 실시간 데이터와 이어지는 계측 채널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a:p>
            <a:pPr algn="l" eaLnBrk="0">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상태 변수(StateVariable)</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재어지는 쪽. 설비의 물리량이며 정상값과 한계가 여기에 붙는다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sv:ts1 「유온」</a:t>
            </a:r>
          </a:p>
          <a:p>
            <a:pPr algn="l" eaLnBrk="0">
              <a:lnSpc>
                <a:spcPct val="110000"/>
              </a:lnSpc>
            </a:pPr>
            <a:r>
              <a:rPr sz="1250" b="1">
                <a:solidFill>
                  <a:srgbClr val="556175"/>
                </a:solidFill>
                <a:latin typeface="맑은 고딕"/>
                <a:ea typeface="맑은 고딕"/>
                <a:cs typeface="맑은 고딕"/>
              </a:rPr>
              <a:t>normal 48 ℃ · limit 65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안에서 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part:cooler-core</a:t>
            </a:r>
          </a:p>
          <a:p>
            <a:pPr algn="l" eaLnBrk="0">
              <a:lnSpc>
                <a:spcPct val="110000"/>
              </a:lnSpc>
            </a:pPr>
            <a:r>
              <a:rPr sz="1250" b="1">
                <a:solidFill>
                  <a:srgbClr val="556175"/>
                </a:solidFill>
                <a:latin typeface="맑은 고딕"/>
                <a:ea typeface="맑은 고딕"/>
                <a:cs typeface="맑은 고딕"/>
              </a:rPr>
              <a:t>「쿨러 코어」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원인의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 고장 유형, 원인처럼 물건이 아닌 대상도 클래스로 두어야 진단 지식을 관계로 이을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계측값의 이상 양상이다.</a:t>
            </a:r>
          </a:p>
          <a:p>
            <a:pPr algn="l" eaLnBrk="0">
              <a:lnSpc>
                <a:spcPct val="110000"/>
              </a:lnSpc>
              <a:spcAft>
                <a:spcPts val="300"/>
              </a:spcAft>
            </a:pPr>
            <a:r>
              <a:rPr sz="1400" b="0">
                <a:solidFill>
                  <a:srgbClr val="1F2A3A"/>
                </a:solidFill>
                <a:latin typeface="맑은 고딕"/>
                <a:ea typeface="맑은 고딕"/>
                <a:cs typeface="맑은 고딕"/>
              </a:rPr>
              <a:t>인스턴스: 유온 상승(sym:ts1-rise), 냉각 효율 저하</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단위의 고장 양상이다.</a:t>
            </a:r>
          </a:p>
          <a:p>
            <a:pPr algn="l" eaLnBrk="0">
              <a:lnSpc>
                <a:spcPct val="110000"/>
              </a:lnSpc>
              <a:spcAft>
                <a:spcPts val="300"/>
              </a:spcAft>
            </a:pPr>
            <a:r>
              <a:rPr sz="1400" b="0">
                <a:solidFill>
                  <a:srgbClr val="1F2A3A"/>
                </a:solidFill>
                <a:latin typeface="맑은 고딕"/>
                <a:ea typeface="맑은 고딕"/>
                <a:cs typeface="맑은 고딕"/>
              </a:rPr>
              <a:t>인스턴스: 쿨러 냉각 성능 상실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근본 원인이다.</a:t>
            </a:r>
          </a:p>
          <a:p>
            <a:pPr algn="l" eaLnBrk="0">
              <a:lnSpc>
                <a:spcPct val="110000"/>
              </a:lnSpc>
              <a:spcAft>
                <a:spcPts val="300"/>
              </a:spcAft>
            </a:pPr>
            <a:r>
              <a:rPr sz="1400" b="0">
                <a:solidFill>
                  <a:srgbClr val="1F2A3A"/>
                </a:solidFill>
                <a:latin typeface="맑은 고딕"/>
                <a:ea typeface="맑은 고딕"/>
                <a:cs typeface="맑은 고딕"/>
              </a:rPr>
              <a:t>인스턴스: 쿨러 핀 오염, 팬 구동 불량, 주변 온도 상승</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인스턴스의 범위</a:t>
            </a:r>
          </a:p>
          <a:p>
            <a:pPr algn="l" eaLnBrk="0">
              <a:lnSpc>
                <a:spcPct val="110000"/>
              </a:lnSpc>
              <a:spcAft>
                <a:spcPts val="200"/>
              </a:spcAft>
            </a:pPr>
            <a:r>
              <a:rPr sz="1150" b="0">
                <a:solidFill>
                  <a:srgbClr val="556175"/>
                </a:solidFill>
                <a:latin typeface="맑은 고딕"/>
                <a:ea typeface="맑은 고딕"/>
                <a:cs typeface="맑은 고딕"/>
              </a:rPr>
              <a:t>구별되는 대상</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모델에서 하나하나 구별해 다루는 대상이면 인스턴스이다.</a:t>
            </a:r>
          </a:p>
          <a:p>
            <a:pPr algn="l" eaLnBrk="0">
              <a:lnSpc>
                <a:spcPct val="110000"/>
              </a:lnSpc>
              <a:spcAft>
                <a:spcPts val="300"/>
              </a:spcAft>
            </a:pPr>
            <a:r>
              <a:rPr sz="1400" b="0">
                <a:solidFill>
                  <a:srgbClr val="1F2A3A"/>
                </a:solidFill>
                <a:latin typeface="맑은 고딕"/>
                <a:ea typeface="맑은 고딕"/>
                <a:cs typeface="맑은 고딕"/>
              </a:rPr>
              <a:t>냉각 효율을 계산해 내놓는 채널 sen:ce도 Sensor의 인스턴스이다.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정의와 인스턴스의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같은 클래스의 인스턴스는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속성_3.svg" descr="illust_2807355169795599464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34192"/>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 클래스</a:t>
            </a:r>
          </a:p>
          <a:p>
            <a:pPr algn="ctr" eaLnBrk="0">
              <a:lnSpc>
                <a:spcPct val="110000"/>
              </a:lnSpc>
              <a:spcAft>
                <a:spcPts val="100"/>
              </a:spcAft>
            </a:pPr>
            <a:r>
              <a:rPr sz="1100" b="0">
                <a:solidFill>
                  <a:srgbClr val="556175"/>
                </a:solidFill>
                <a:latin typeface="맑은 고딕"/>
                <a:ea typeface="맑은 고딕"/>
                <a:cs typeface="맑은 고딕"/>
              </a:rPr>
              <a:t>속성(Property)</a:t>
            </a:r>
          </a:p>
        </p:txBody>
      </p:sp>
      <p:sp>
        <p:nvSpPr>
          <p:cNvPr id="8" name="TextBox 7"/>
          <p:cNvSpPr txBox="1"/>
          <p:nvPr/>
        </p:nvSpPr>
        <p:spPr>
          <a:xfrm>
            <a:off x="1273850" y="286622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속성값과 다른 대상의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값으로 끝나면 속성으로, 자기 속성을 가진 대상을 가리키면 관계로 두어 따라갈 길을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인스턴스에 값을 붙인다</a:t>
            </a:r>
          </a:p>
          <a:p>
            <a:pPr algn="l" eaLnBrk="0" marL="171450" indent="-171450">
              <a:lnSpc>
                <a:spcPct val="110000"/>
              </a:lnSpc>
              <a:spcAft>
                <a:spcPts val="600"/>
              </a:spcAft>
            </a:pPr>
            <a:r>
              <a:rPr sz="1500" b="0">
                <a:solidFill>
                  <a:srgbClr val="1F2A3A"/>
                </a:solidFill>
                <a:latin typeface="맑은 고딕"/>
                <a:ea typeface="맑은 고딕"/>
                <a:cs typeface="맑은 고딕"/>
              </a:rPr>
              <a:t>• 유온 센서의 tag: 'TS1', unit: '℃'</a:t>
            </a:r>
          </a:p>
          <a:p>
            <a:pPr algn="l" eaLnBrk="0" marL="171450" indent="-171450">
              <a:lnSpc>
                <a:spcPct val="110000"/>
              </a:lnSpc>
              <a:spcAft>
                <a:spcPts val="600"/>
              </a:spcAft>
            </a:pPr>
            <a:r>
              <a:rPr sz="1500" b="0">
                <a:solidFill>
                  <a:srgbClr val="1F2A3A"/>
                </a:solidFill>
                <a:latin typeface="맑은 고딕"/>
                <a:ea typeface="맑은 고딕"/>
                <a:cs typeface="맑은 고딕"/>
              </a:rPr>
              <a:t>• 유온의 limit: 65</a:t>
            </a:r>
          </a:p>
          <a:p>
            <a:pPr algn="l" eaLnBrk="0" marL="171450" indent="-171450">
              <a:lnSpc>
                <a:spcPct val="110000"/>
              </a:lnSpc>
              <a:spcAft>
                <a:spcPts val="600"/>
              </a:spcAft>
            </a:pPr>
            <a:r>
              <a:rPr sz="1500" b="0">
                <a:solidFill>
                  <a:srgbClr val="1F2A3A"/>
                </a:solidFill>
                <a:latin typeface="맑은 고딕"/>
                <a:ea typeface="맑은 고딕"/>
                <a:cs typeface="맑은 고딕"/>
              </a:rPr>
              <a:t>• 단위나 65를 노드로 만들면 따라갈 곳 없는 노드만 는다</a:t>
            </a:r>
          </a:p>
        </p:txBody>
      </p:sp>
      <p:sp>
        <p:nvSpPr>
          <p:cNvPr id="11" name="Rounded Rectangle 10"/>
          <p:cNvSpPr/>
          <p:nvPr/>
        </p:nvSpPr>
        <p:spPr>
          <a:xfrm>
            <a:off x="868680" y="542010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인스턴스를 다른 인스턴스에 잇는다</a:t>
            </a:r>
          </a:p>
          <a:p>
            <a:pPr algn="l" eaLnBrk="0" marL="171450" indent="-171450">
              <a:lnSpc>
                <a:spcPct val="110000"/>
              </a:lnSpc>
              <a:spcAft>
                <a:spcPts val="600"/>
              </a:spcAft>
            </a:pPr>
            <a:r>
              <a:rPr sz="1500" b="0">
                <a:solidFill>
                  <a:srgbClr val="1F2A3A"/>
                </a:solidFill>
                <a:latin typeface="맑은 고딕"/>
                <a:ea typeface="맑은 고딕"/>
                <a:cs typeface="맑은 고딕"/>
              </a:rPr>
              <a:t>• 유온 센서 → 유온: OBSERVES</a:t>
            </a:r>
          </a:p>
          <a:p>
            <a:pPr algn="l" eaLnBrk="0" marL="171450" indent="-171450">
              <a:lnSpc>
                <a:spcPct val="110000"/>
              </a:lnSpc>
              <a:spcAft>
                <a:spcPts val="600"/>
              </a:spcAft>
            </a:pPr>
            <a:r>
              <a:rPr sz="1500" b="0">
                <a:solidFill>
                  <a:srgbClr val="1F2A3A"/>
                </a:solidFill>
                <a:latin typeface="맑은 고딕"/>
                <a:ea typeface="맑은 고딕"/>
                <a:cs typeface="맑은 고딕"/>
              </a:rPr>
              <a:t>• 팬 인버터 → 팬 속도: MANIPULATES</a:t>
            </a:r>
          </a:p>
          <a:p>
            <a:pPr algn="l" eaLnBrk="0" marL="171450" indent="-171450">
              <a:lnSpc>
                <a:spcPct val="110000"/>
              </a:lnSpc>
              <a:spcAft>
                <a:spcPts val="600"/>
              </a:spcAft>
            </a:pPr>
            <a:r>
              <a:rPr sz="1500" b="0">
                <a:solidFill>
                  <a:srgbClr val="1F2A3A"/>
                </a:solidFill>
                <a:latin typeface="맑은 고딕"/>
                <a:ea typeface="맑은 고딕"/>
                <a:cs typeface="맑은 고딕"/>
              </a:rPr>
              <a:t>• 팬 속도 → 유온: INFLUENCES</a:t>
            </a:r>
          </a:p>
          <a:p>
            <a:pPr algn="l" eaLnBrk="0" marL="171450" indent="-171450">
              <a:lnSpc>
                <a:spcPct val="110000"/>
              </a:lnSpc>
              <a:spcAft>
                <a:spcPts val="600"/>
              </a:spcAft>
            </a:pPr>
            <a:r>
              <a:rPr sz="1500" b="0">
                <a:solidFill>
                  <a:srgbClr val="1F2A3A"/>
                </a:solidFill>
                <a:latin typeface="맑은 고딕"/>
                <a:ea typeface="맑은 고딕"/>
                <a:cs typeface="맑은 고딕"/>
              </a:rPr>
              <a:t>• 유온은 normal 48 · limit 65를 가진 인스턴스이다</a:t>
            </a:r>
          </a:p>
        </p:txBody>
      </p:sp>
      <p:sp>
        <p:nvSpPr>
          <p:cNvPr id="18" name="Rounded Rectangle 17"/>
          <p:cNvSpPr/>
          <p:nvPr/>
        </p:nvSpPr>
        <p:spPr>
          <a:xfrm>
            <a:off x="6781647" y="542010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유형과 실제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유형(Relationship Type)</a:t>
            </a:r>
            <a:r>
              <a:rPr sz="1600" b="0">
                <a:solidFill>
                  <a:srgbClr val="556175"/>
                </a:solidFill>
                <a:latin typeface="맑은 고딕"/>
                <a:ea typeface="맑은 고딕"/>
                <a:cs typeface="맑은 고딕"/>
              </a:rPr>
              <a:t>은 이름·방향·양 끝 클래스를 정하고, 실제 연결은 이를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53676093354548500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나가는 관계와 들어오는 관계를 함께 보아야 한 대상에 이어진 것이 빠짐없이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들고나는관계.svg" descr="illust_3336636884058489369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카디널리티.svg" descr="illust_1002346244181204075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02776"/>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56395"/>
            <a:ext cx="424281" cy="424281"/>
          </a:xfrm>
          <a:prstGeom prst="rect">
            <a:avLst/>
          </a:prstGeom>
        </p:spPr>
      </p:pic>
      <p:sp>
        <p:nvSpPr>
          <p:cNvPr id="9" name="TextBox 8"/>
          <p:cNvSpPr txBox="1"/>
          <p:nvPr/>
        </p:nvSpPr>
        <p:spPr>
          <a:xfrm>
            <a:off x="1691640"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MANIPULATES는 1:1로 선언되어 있다</a:t>
            </a:r>
          </a:p>
          <a:p>
            <a:pPr algn="l" eaLnBrk="0" marL="188595" indent="-188595">
              <a:lnSpc>
                <a:spcPct val="110000"/>
              </a:lnSpc>
              <a:spcAft>
                <a:spcPts val="600"/>
              </a:spcAft>
            </a:pPr>
            <a:r>
              <a:rPr sz="1650" b="0">
                <a:solidFill>
                  <a:srgbClr val="1F2A3A"/>
                </a:solidFill>
                <a:latin typeface="맑은 고딕"/>
                <a:ea typeface="맑은 고딕"/>
                <a:cs typeface="맑은 고딕"/>
              </a:rPr>
              <a:t>• 가정: 팬 인버터 → 팬 속도와 펌프 부하</a:t>
            </a:r>
          </a:p>
          <a:p>
            <a:pPr algn="l" eaLnBrk="0" marL="188595" indent="-188595">
              <a:lnSpc>
                <a:spcPct val="110000"/>
              </a:lnSpc>
              <a:spcAft>
                <a:spcPts val="600"/>
              </a:spcAft>
            </a:pPr>
            <a:r>
              <a:rPr sz="16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323903"/>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23903"/>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02776"/>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556395"/>
            <a:ext cx="424281" cy="424281"/>
          </a:xfrm>
          <a:prstGeom prst="rect">
            <a:avLst/>
          </a:prstGeom>
        </p:spPr>
      </p:pic>
      <p:sp>
        <p:nvSpPr>
          <p:cNvPr id="16" name="TextBox 15"/>
          <p:cNvSpPr txBox="1"/>
          <p:nvPr/>
        </p:nvSpPr>
        <p:spPr>
          <a:xfrm>
            <a:off x="7604607"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HAS_COMPONENT는 1:N으로 선언되어 있다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기종의 HYD-01 · HYD-02 · HYD-03이 같은 comp:cooler를 가리킨다</a:t>
            </a:r>
          </a:p>
          <a:p>
            <a:pPr algn="l" eaLnBrk="0" marL="188595" indent="-188595">
              <a:lnSpc>
                <a:spcPct val="110000"/>
              </a:lnSpc>
              <a:spcAft>
                <a:spcPts val="600"/>
              </a:spcAft>
            </a:pPr>
            <a:r>
              <a:rPr sz="16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32390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2390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price 35  leadDays 2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a:t>
            </a:r>
            <a:r>
              <a:rPr sz="1300" b="0">
                <a:solidFill>
                  <a:srgbClr val="E8EEF6"/>
                </a:solidFill>
                <a:latin typeface="맑은 고딕"/>
                <a:ea typeface="맑은 고딕"/>
                <a:cs typeface="맑은 고딕"/>
              </a:rPr>
              <a:t>정밀</a:t>
            </a:r>
          </a:p>
          <a:p>
            <a:pPr algn="l" eaLnBrk="0">
              <a:lnSpc>
                <a:spcPct val="110000"/>
              </a:lnSpc>
              <a:spcAft>
                <a:spcPts val="200"/>
              </a:spcAft>
            </a:pPr>
            <a:r>
              <a:rPr sz="1300" b="0">
                <a:solidFill>
                  <a:srgbClr val="E8EEF6"/>
                </a:solidFill>
                <a:latin typeface="Consolas"/>
                <a:ea typeface="맑은 고딕"/>
                <a:cs typeface="맑은 고딕"/>
              </a:rPr>
              <a:t>price 55  leadDays 5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B-OEM</a:t>
            </a:r>
          </a:p>
          <a:p>
            <a:pPr algn="l" eaLnBrk="0">
              <a:lnSpc>
                <a:spcPct val="110000"/>
              </a:lnSpc>
              <a:spcAft>
                <a:spcPts val="200"/>
              </a:spcAft>
            </a:pPr>
            <a:r>
              <a:rPr sz="1300" b="0">
                <a:solidFill>
                  <a:srgbClr val="E8EEF6"/>
                </a:solidFill>
                <a:latin typeface="Consolas"/>
                <a:ea typeface="맑은 고딕"/>
                <a:cs typeface="맑은 고딕"/>
              </a:rPr>
              <a:t>price 20  leadDays 1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이 짝에 함께 실린 값이다.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상속_하위.svg" descr="illust_2226100753529469212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02776"/>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556395"/>
            <a:ext cx="424281" cy="424281"/>
          </a:xfrm>
          <a:prstGeom prst="rect">
            <a:avLst/>
          </a:prstGeom>
        </p:spPr>
      </p:pic>
      <p:sp>
        <p:nvSpPr>
          <p:cNvPr id="9" name="TextBox 8"/>
          <p:cNvSpPr txBox="1"/>
          <p:nvPr/>
        </p:nvSpPr>
        <p:spPr>
          <a:xfrm>
            <a:off x="1691640"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센서(Sensor): tag · unit, 상태 변수를 읽는다(OBSERVES)</a:t>
            </a:r>
          </a:p>
          <a:p>
            <a:pPr algn="l" eaLnBrk="0" marL="188595" indent="-188595">
              <a:lnSpc>
                <a:spcPct val="110000"/>
              </a:lnSpc>
              <a:spcAft>
                <a:spcPts val="600"/>
              </a:spcAft>
            </a:pPr>
            <a:r>
              <a:rPr sz="1650" b="0">
                <a:solidFill>
                  <a:srgbClr val="1F2A3A"/>
                </a:solidFill>
                <a:latin typeface="맑은 고딕"/>
                <a:ea typeface="맑은 고딕"/>
                <a:cs typeface="맑은 고딕"/>
              </a:rPr>
              <a:t>• 구동기(Actuator): resource · min · max, 상태 변수를 바꾼다(MANIPULATES)</a:t>
            </a:r>
          </a:p>
          <a:p>
            <a:pPr algn="l" eaLnBrk="0" marL="188595" indent="-188595">
              <a:lnSpc>
                <a:spcPct val="110000"/>
              </a:lnSpc>
              <a:spcAft>
                <a:spcPts val="600"/>
              </a:spcAft>
            </a:pPr>
            <a:r>
              <a:rPr sz="1650" b="0">
                <a:solidFill>
                  <a:srgbClr val="1F2A3A"/>
                </a:solidFill>
                <a:latin typeface="맑은 고딕"/>
                <a:ea typeface="맑은 고딕"/>
                <a:cs typeface="맑은 고딕"/>
              </a:rPr>
              <a:t>• 속성과 관계가 달라 한 클래스로 묶지 않는다</a:t>
            </a:r>
          </a:p>
        </p:txBody>
      </p:sp>
      <p:sp>
        <p:nvSpPr>
          <p:cNvPr id="11" name="Rounded Rectangle 10"/>
          <p:cNvSpPr/>
          <p:nvPr/>
        </p:nvSpPr>
        <p:spPr>
          <a:xfrm>
            <a:off x="868680" y="532390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2390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02776"/>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556395"/>
            <a:ext cx="424281" cy="424281"/>
          </a:xfrm>
          <a:prstGeom prst="rect">
            <a:avLst/>
          </a:prstGeom>
        </p:spPr>
      </p:pic>
      <p:sp>
        <p:nvSpPr>
          <p:cNvPr id="16" name="TextBox 15"/>
          <p:cNvSpPr txBox="1"/>
          <p:nvPr/>
        </p:nvSpPr>
        <p:spPr>
          <a:xfrm>
            <a:off x="7604607"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유온 센서 · 토출 압력 센서 · 팬 진동 센서는 속성과 관계가 같다</a:t>
            </a:r>
          </a:p>
          <a:p>
            <a:pPr algn="l" eaLnBrk="0" marL="188595" indent="-188595">
              <a:lnSpc>
                <a:spcPct val="110000"/>
              </a:lnSpc>
              <a:spcAft>
                <a:spcPts val="600"/>
              </a:spcAft>
            </a:pPr>
            <a:r>
              <a:rPr sz="1650" b="0">
                <a:solidFill>
                  <a:srgbClr val="1F2A3A"/>
                </a:solidFill>
                <a:latin typeface="맑은 고딕"/>
                <a:ea typeface="맑은 고딕"/>
                <a:cs typeface="맑은 고딕"/>
              </a:rPr>
              <a:t>• 셋 모두 Sensor의 인스턴스로 둔다</a:t>
            </a:r>
          </a:p>
          <a:p>
            <a:pPr algn="l" eaLnBrk="0" marL="188595" indent="-188595">
              <a:lnSpc>
                <a:spcPct val="110000"/>
              </a:lnSpc>
              <a:spcAft>
                <a:spcPts val="600"/>
              </a:spcAft>
            </a:pPr>
            <a:r>
              <a:rPr sz="165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2390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23903"/>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클래스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속성과 관계를 갖는 대상이 여럿이다</a:t>
            </a:r>
          </a:p>
          <a:p>
            <a:pPr algn="l" eaLnBrk="0" marL="182880" indent="-182880">
              <a:lnSpc>
                <a:spcPct val="110000"/>
              </a:lnSpc>
              <a:spcAft>
                <a:spcPts val="400"/>
              </a:spcAft>
            </a:pPr>
            <a:r>
              <a:rPr sz="1600" b="0">
                <a:solidFill>
                  <a:srgbClr val="1F2A3A"/>
                </a:solidFill>
                <a:latin typeface="맑은 고딕"/>
                <a:ea typeface="맑은 고딕"/>
                <a:cs typeface="맑은 고딕"/>
              </a:rPr>
              <a:t>• 예: Sensor, Actuator</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orms" descr="forms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속성</a:t>
            </a:r>
          </a:p>
          <a:p>
            <a:pPr algn="l" eaLnBrk="0" marL="182880" indent="-182880">
              <a:lnSpc>
                <a:spcPct val="110000"/>
              </a:lnSpc>
              <a:spcAft>
                <a:spcPts val="400"/>
              </a:spcAft>
            </a:pPr>
            <a:r>
              <a:rPr sz="1600" b="0">
                <a:solidFill>
                  <a:srgbClr val="1F2A3A"/>
                </a:solidFill>
                <a:latin typeface="맑은 고딕"/>
                <a:ea typeface="맑은 고딕"/>
                <a:cs typeface="맑은 고딕"/>
              </a:rPr>
              <a:t>• 한 대상에 딸린 값으로 끝난다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쿨러 코어의 partNo</a:t>
            </a:r>
          </a:p>
          <a:p>
            <a:pPr algn="l" eaLnBrk="0" marL="182880" indent="-182880">
              <a:lnSpc>
                <a:spcPct val="110000"/>
              </a:lnSpc>
              <a:spcAft>
                <a:spcPts val="400"/>
              </a:spcAft>
            </a:pPr>
            <a:r>
              <a:rPr sz="1600" b="0">
                <a:solidFill>
                  <a:srgbClr val="1F2A3A"/>
                </a:solidFill>
                <a:latin typeface="맑은 고딕"/>
                <a:ea typeface="맑은 고딕"/>
                <a:cs typeface="맑은 고딕"/>
              </a:rPr>
              <a:t>• 예: 공급사의 avl</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관계</a:t>
            </a:r>
          </a:p>
          <a:p>
            <a:pPr algn="l" eaLnBrk="0" marL="182880" indent="-182880">
              <a:lnSpc>
                <a:spcPct val="110000"/>
              </a:lnSpc>
              <a:spcAft>
                <a:spcPts val="400"/>
              </a:spcAft>
            </a:pPr>
            <a:r>
              <a:rPr sz="1600" b="0">
                <a:solidFill>
                  <a:srgbClr val="1F2A3A"/>
                </a:solidFill>
                <a:latin typeface="맑은 고딕"/>
                <a:ea typeface="맑은 고딕"/>
                <a:cs typeface="맑은 고딕"/>
              </a:rPr>
              <a:t>• 자기 속성과 관계를 가진 다른 대상을 가리킨다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오일 쿨러 → 쿨러 코어: USES_PART</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관계의 속성</a:t>
            </a:r>
          </a:p>
          <a:p>
            <a:pPr algn="l" eaLnBrk="0" marL="182880" indent="-182880">
              <a:lnSpc>
                <a:spcPct val="110000"/>
              </a:lnSpc>
              <a:spcAft>
                <a:spcPts val="400"/>
              </a:spcAft>
            </a:pPr>
            <a:r>
              <a:rPr sz="1600" b="0">
                <a:solidFill>
                  <a:srgbClr val="1F2A3A"/>
                </a:solidFill>
                <a:latin typeface="맑은 고딕"/>
                <a:ea typeface="맑은 고딕"/>
                <a:cs typeface="맑은 고딕"/>
              </a:rPr>
              <a:t>• 두 대상의 짝마다 값이 달라진다</a:t>
            </a:r>
          </a:p>
          <a:p>
            <a:pPr algn="l" eaLnBrk="0" marL="182880" indent="-182880">
              <a:lnSpc>
                <a:spcPct val="110000"/>
              </a:lnSpc>
              <a:spcAft>
                <a:spcPts val="400"/>
              </a:spcAft>
            </a:pPr>
            <a:r>
              <a:rPr sz="1600" b="0">
                <a:solidFill>
                  <a:srgbClr val="1F2A3A"/>
                </a:solidFill>
                <a:latin typeface="맑은 고딕"/>
                <a:ea typeface="맑은 고딕"/>
                <a:cs typeface="맑은 고딕"/>
              </a:rPr>
              <a:t>• 예: SUPPLIED_BY의 price · leadDays</a:t>
            </a:r>
          </a:p>
        </p:txBody>
      </p:sp>
      <p:sp>
        <p:nvSpPr>
          <p:cNvPr id="28" name="Rounded Rectangle 27"/>
          <p:cNvSpPr/>
          <p:nvPr/>
        </p:nvSpPr>
        <p:spPr>
          <a:xfrm>
            <a:off x="9303791" y="5429504"/>
            <a:ext cx="8686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짝의 값</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공통식별자_2.svg" descr="illust_8828803254101093309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스키마의 연결 조건을 만족한다. 이 예는 이름·방향·양 끝 클래스를 검사한다.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설비모델.svg" descr="illust_342895325956231763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확장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질문에 쓰일 대상은 인스턴스로 더하고, 답할 수 없는 새 질문이 생기면 스키마를 넓힌다.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예시 인스턴스를 넣고 처음 질문에 답이 나오는지 본다</a:t>
            </a:r>
          </a:p>
          <a:p>
            <a:pPr algn="l" eaLnBrk="0" marL="171450" indent="-171450">
              <a:lnSpc>
                <a:spcPct val="110000"/>
              </a:lnSpc>
              <a:spcAft>
                <a:spcPts val="600"/>
              </a:spcAft>
            </a:pPr>
            <a:r>
              <a:rPr sz="1500" b="0">
                <a:solidFill>
                  <a:srgbClr val="1F2A3A"/>
                </a:solidFill>
                <a:latin typeface="맑은 고딕"/>
                <a:ea typeface="맑은 고딕"/>
                <a:cs typeface="맑은 고딕"/>
              </a:rPr>
              <a:t>• HYD-01 → 오일 쿨러 → 유온 센서 TS1 → 유온 limit 65</a:t>
            </a:r>
          </a:p>
          <a:p>
            <a:pPr algn="l" eaLnBrk="0" marL="171450" indent="-171450">
              <a:lnSpc>
                <a:spcPct val="110000"/>
              </a:lnSpc>
              <a:spcAft>
                <a:spcPts val="600"/>
              </a:spcAft>
            </a:pPr>
            <a:r>
              <a:rPr sz="1500" b="0">
                <a:solidFill>
                  <a:srgbClr val="1F2A3A"/>
                </a:solidFill>
                <a:latin typeface="맑은 고딕"/>
                <a:ea typeface="맑은 고딕"/>
                <a:cs typeface="맑은 고딕"/>
              </a:rPr>
              <a:t>• 오일 쿨러 → 쿨러 코어: 질문 3의 답</a:t>
            </a:r>
          </a:p>
          <a:p>
            <a:pPr algn="l" eaLnBrk="0" marL="171450" indent="-171450">
              <a:lnSpc>
                <a:spcPct val="110000"/>
              </a:lnSpc>
              <a:spcAft>
                <a:spcPts val="600"/>
              </a:spcAft>
            </a:pPr>
            <a:r>
              <a:rPr sz="150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42010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넓힌다</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새 질문: 쿨러 코어를 공급하는 곳</a:t>
            </a:r>
          </a:p>
          <a:p>
            <a:pPr algn="l" eaLnBrk="0" marL="171450" indent="-171450">
              <a:lnSpc>
                <a:spcPct val="110000"/>
              </a:lnSpc>
              <a:spcAft>
                <a:spcPts val="600"/>
              </a:spcAft>
            </a:pPr>
            <a:r>
              <a:rPr sz="1500" b="0">
                <a:solidFill>
                  <a:srgbClr val="1F2A3A"/>
                </a:solidFill>
                <a:latin typeface="맑은 고딕"/>
                <a:ea typeface="맑은 고딕"/>
                <a:cs typeface="맑은 고딕"/>
              </a:rPr>
              <a:t>• 빠진 것: 공급사 클래스와 부품에서 공급사로 가는 관계</a:t>
            </a:r>
          </a:p>
          <a:p>
            <a:pPr algn="l" eaLnBrk="0" marL="171450" indent="-171450">
              <a:lnSpc>
                <a:spcPct val="110000"/>
              </a:lnSpc>
              <a:spcAft>
                <a:spcPts val="600"/>
              </a:spcAft>
            </a:pPr>
            <a:r>
              <a:rPr sz="1500" b="0">
                <a:solidFill>
                  <a:srgbClr val="1F2A3A"/>
                </a:solidFill>
                <a:latin typeface="맑은 고딕"/>
                <a:ea typeface="맑은 고딕"/>
                <a:cs typeface="맑은 고딕"/>
              </a:rPr>
              <a:t>• 더한 것: Supplier, SUPPLIED_BY(Part → Supplier)</a:t>
            </a:r>
          </a:p>
          <a:p>
            <a:pPr algn="l" eaLnBrk="0" marL="171450" indent="-171450">
              <a:lnSpc>
                <a:spcPct val="110000"/>
              </a:lnSpc>
              <a:spcAft>
                <a:spcPts val="600"/>
              </a:spcAft>
            </a:pPr>
            <a:r>
              <a:rPr sz="1500" b="0">
                <a:solidFill>
                  <a:srgbClr val="1F2A3A"/>
                </a:solidFill>
                <a:latin typeface="맑은 고딕"/>
                <a:ea typeface="맑은 고딕"/>
                <a:cs typeface="맑은 고딕"/>
              </a:rPr>
              <a:t>• 더한 뒤의 답: A정밀, B-OEM</a:t>
            </a:r>
          </a:p>
        </p:txBody>
      </p:sp>
      <p:sp>
        <p:nvSpPr>
          <p:cNvPr id="18" name="Rounded Rectangle 17"/>
          <p:cNvSpPr/>
          <p:nvPr/>
        </p:nvSpPr>
        <p:spPr>
          <a:xfrm>
            <a:off x="6781647" y="542010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저장 구조와 관계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조인_그래프.svg" descr="illust_7805229943252177405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속성그래프_대각.svg" descr="illust_8258602251950207153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질의 언어와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질의</a:t>
            </a:r>
            <a:r>
              <a:rPr sz="1600" b="0">
                <a:solidFill>
                  <a:srgbClr val="556175"/>
                </a:solidFill>
                <a:latin typeface="맑은 고딕"/>
                <a:ea typeface="맑은 고딕"/>
                <a:cs typeface="맑은 고딕"/>
              </a:rPr>
              <a:t>로 꺼내고 만들며, 질의 언어는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언어(Query Language)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DB에 보낼 요청을 적는 언어이다. 여기서는 노드와 관계의 패턴(Pattern)을 적는다.</a:t>
            </a:r>
          </a:p>
          <a:p>
            <a:pPr algn="l" eaLnBrk="0">
              <a:lnSpc>
                <a:spcPct val="110000"/>
              </a:lnSpc>
              <a:spcAft>
                <a:spcPts val="300"/>
              </a:spcAft>
            </a:pPr>
            <a:r>
              <a:rPr sz="1400" b="0">
                <a:solidFill>
                  <a:srgbClr val="1F2A3A"/>
                </a:solidFill>
                <a:latin typeface="맑은 고딕"/>
                <a:ea typeface="맑은 고딕"/>
                <a:cs typeface="맑은 고딕"/>
              </a:rPr>
              <a:t>그래프 DB의 질의 언어로는 Neo4j의 Cypher 같은 것이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노드는 둥근 괄호, 관계는 대괄호와 화살표로 적고, </a:t>
            </a: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와 중괄호의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표기_그래프.svg" descr="illust_1891632795728856147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센서</a:t>
            </a:r>
          </a:p>
        </p:txBody>
      </p:sp>
      <p:sp>
        <p:nvSpPr>
          <p:cNvPr id="8" name="TextBox 7"/>
          <p:cNvSpPr txBox="1"/>
          <p:nvPr/>
        </p:nvSpPr>
        <p:spPr>
          <a:xfrm>
            <a:off x="857544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상태 변수</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조회와 반환 결과의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질의는 찾을 패턴과 돌려받을 항목을 적으며, 패턴에 맞는 것 하나가 결과의 한 행이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속성값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찾을 패턴을 적는 절이다. 이름이 오일 쿨러인 구성 요소에서 MONITORED_BY로 이어진 센서를 모두 찾는다.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돌려받을 항목을 적는 절이다. 적은 항목 하나가 결과의 열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결과의 행</a:t>
            </a:r>
          </a:p>
          <a:p>
            <a:pPr algn="l" eaLnBrk="0">
              <a:lnSpc>
                <a:spcPct val="110000"/>
              </a:lnSpc>
              <a:spcAft>
                <a:spcPts val="400"/>
              </a:spcAft>
            </a:pPr>
            <a:r>
              <a:rPr sz="1400" b="0">
                <a:solidFill>
                  <a:srgbClr val="1F2A3A"/>
                </a:solidFill>
                <a:latin typeface="맑은 고딕"/>
                <a:ea typeface="맑은 고딕"/>
                <a:cs typeface="맑은 고딕"/>
              </a:rPr>
              <a:t>패턴에 맞는 것 하나가 한 행이다. 오일 쿨러는 TS1과 CE 두 채널로 계측되어 두 행이 나온다.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반환의 형태</a:t>
            </a:r>
          </a:p>
          <a:p>
            <a:pPr algn="l" eaLnBrk="0">
              <a:lnSpc>
                <a:spcPct val="110000"/>
              </a:lnSpc>
              <a:spcAft>
                <a:spcPts val="400"/>
              </a:spcAft>
            </a:pPr>
            <a:r>
              <a:rPr sz="1400" b="0">
                <a:solidFill>
                  <a:srgbClr val="1F2A3A"/>
                </a:solidFill>
                <a:latin typeface="맑은 고딕"/>
                <a:ea typeface="맑은 고딕"/>
                <a:cs typeface="맑은 고딕"/>
              </a:rPr>
              <a:t>위처럼 속성값을 받으면 표가 된다. 아래처럼 노드 · 관계를 받아야 그래프로 그릴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절과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절로 한계가 있는 물리량만 남기면 인터록 기준 셋이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WHERE v.limit &gt; 100 </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바꾸면</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것 가운데 조건에 맞는 것만 남기는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수의 비교</a:t>
            </a:r>
          </a:p>
          <a:p>
            <a:pPr algn="l" eaLnBrk="0">
              <a:lnSpc>
                <a:spcPct val="110000"/>
              </a:lnSpc>
              <a:spcAft>
                <a:spcPts val="400"/>
              </a:spcAft>
            </a:pPr>
            <a:r>
              <a:rPr sz="1400" b="0">
                <a:solidFill>
                  <a:srgbClr val="1F2A3A"/>
                </a:solidFill>
                <a:latin typeface="맑은 고딕"/>
                <a:ea typeface="맑은 고딕"/>
                <a:cs typeface="맑은 고딕"/>
              </a:rPr>
              <a:t>limit이 number라서 v.limit &gt; 100처럼 크기를 비교할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한계의 방향</a:t>
            </a:r>
          </a:p>
          <a:p>
            <a:pPr algn="l" eaLnBrk="0">
              <a:lnSpc>
                <a:spcPct val="110000"/>
              </a:lnSpc>
              <a:spcAft>
                <a:spcPts val="400"/>
              </a:spcAft>
            </a:pPr>
            <a:r>
              <a:rPr sz="1400" b="0">
                <a:solidFill>
                  <a:srgbClr val="1F2A3A"/>
                </a:solidFill>
                <a:latin typeface="맑은 고딕"/>
                <a:ea typeface="맑은 고딕"/>
                <a:cs typeface="맑은 고딕"/>
              </a:rPr>
              <a:t>유온 &gt; 65 ℃, 팬 진동 ≥ 2.0 mm/s, 토출 압력 &lt; 130 bar이면 인터록이 걸린다.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역방향탐색.svg" descr="illust_7984604974007066111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생성과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생성과 병합의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350" b="0">
                <a:solidFill>
                  <a:srgbClr val="1F2A3A"/>
                </a:solidFill>
                <a:latin typeface="맑은 고딕"/>
                <a:ea typeface="맑은 고딕"/>
                <a:cs typeface="맑은 고딕"/>
              </a:rPr>
              <a:t>괄호 안에는 바뀌지 않는 id만 적는다. 이름까지 넣으면 이름을 고친 뒤 같은 노드를 찾지 못한다.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확인점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 이어진 구성 요소와 센서를 직접 쓴 질의로 찾고, 결과의 형태를 표와 그래프로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구조 확인</a:t>
            </a:r>
          </a:p>
          <a:p>
            <a:pPr algn="l" eaLnBrk="0">
              <a:lnSpc>
                <a:spcPct val="110000"/>
              </a:lnSpc>
              <a:spcAft>
                <a:spcPts val="400"/>
              </a:spcAft>
            </a:pPr>
            <a:r>
              <a:rPr sz="160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그래프 읽기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단계 조회</a:t>
            </a:r>
          </a:p>
          <a:p>
            <a:pPr algn="l" eaLnBrk="0">
              <a:lnSpc>
                <a:spcPct val="110000"/>
              </a:lnSpc>
              <a:spcAft>
                <a:spcPts val="400"/>
              </a:spcAft>
            </a:pPr>
            <a:r>
              <a:rPr sz="1600" b="0">
                <a:solidFill>
                  <a:srgbClr val="1F2A3A"/>
                </a:solidFill>
                <a:latin typeface="맑은 고딕"/>
                <a:ea typeface="맑은 고딕"/>
                <a:cs typeface="맑은 고딕"/>
              </a:rPr>
              <a:t>설비에 이어진 구성 요소, 구성 요소에 이어진 센서를 찾는다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여러 단계 조회</a:t>
            </a:r>
          </a:p>
          <a:p>
            <a:pPr algn="l" eaLnBrk="0">
              <a:lnSpc>
                <a:spcPct val="110000"/>
              </a:lnSpc>
              <a:spcAft>
                <a:spcPts val="400"/>
              </a:spcAft>
            </a:pPr>
            <a:r>
              <a:rPr sz="1600" b="0">
                <a:solidFill>
                  <a:srgbClr val="1F2A3A"/>
                </a:solidFill>
                <a:latin typeface="맑은 고딕"/>
                <a:ea typeface="맑은 고딕"/>
                <a:cs typeface="맑은 고딕"/>
              </a:rPr>
              <a:t>관계를 이어 적어 설비에서 상태 변수까지 따라간다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 비교</a:t>
            </a:r>
          </a:p>
          <a:p>
            <a:pPr algn="l" eaLnBrk="0" marL="182880" indent="-182880">
              <a:lnSpc>
                <a:spcPct val="110000"/>
              </a:lnSpc>
              <a:spcAft>
                <a:spcPts val="400"/>
              </a:spcAft>
            </a:pPr>
            <a:r>
              <a:rPr sz="1600" b="0">
                <a:solidFill>
                  <a:srgbClr val="1F2A3A"/>
                </a:solidFill>
                <a:latin typeface="맑은 고딕"/>
                <a:ea typeface="맑은 고딕"/>
                <a:cs typeface="맑은 고딕"/>
              </a:rPr>
              <a:t>• 속성값을 받은 표와 노드 · 경로를 받은 그래프를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어느 그래프를 조회했는지 함께 적는다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연결 탐색</a:t>
            </a:r>
          </a:p>
          <a:p>
            <a:pPr algn="l" eaLnBrk="0">
              <a:lnSpc>
                <a:spcPct val="110000"/>
              </a:lnSpc>
              <a:spcAft>
                <a:spcPts val="400"/>
              </a:spcAft>
            </a:pPr>
            <a:r>
              <a:rPr sz="18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항목 읽기</a:t>
            </a:r>
          </a:p>
          <a:p>
            <a:pPr algn="l" eaLnBrk="0" marL="205740" indent="-205740">
              <a:lnSpc>
                <a:spcPct val="110000"/>
              </a:lnSpc>
              <a:spcAft>
                <a:spcPts val="400"/>
              </a:spcAft>
            </a:pPr>
            <a:r>
              <a:rPr sz="1800" b="0">
                <a:solidFill>
                  <a:srgbClr val="1F2A3A"/>
                </a:solidFill>
                <a:latin typeface="맑은 고딕"/>
                <a:ea typeface="맑은 고딕"/>
                <a:cs typeface="맑은 고딕"/>
              </a:rPr>
              <a:t>• 항목의 클래스와 속성을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398516"/>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그래프의 구분</a:t>
            </a:r>
          </a:p>
          <a:p>
            <a:pPr algn="l" eaLnBrk="0" marL="205740" indent="-205740">
              <a:lnSpc>
                <a:spcPct val="110000"/>
              </a:lnSpc>
              <a:spcAft>
                <a:spcPts val="400"/>
              </a:spcAft>
            </a:pPr>
            <a:r>
              <a:rPr sz="1800" b="0">
                <a:solidFill>
                  <a:srgbClr val="1F2A3A"/>
                </a:solidFill>
                <a:latin typeface="맑은 고딕"/>
                <a:ea typeface="맑은 고딕"/>
                <a:cs typeface="맑은 고딕"/>
              </a:rPr>
              <a:t>• 지식 지도는 HYD의 기준 지식을 보인다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398516"/>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p:txBody>
      </p:sp>
      <p:sp>
        <p:nvSpPr>
          <p:cNvPr id="22" name="Rounded Rectangle 21"/>
          <p:cNvSpPr/>
          <p:nvPr/>
        </p:nvSpPr>
        <p:spPr>
          <a:xfrm>
            <a:off x="8356396" y="5259070"/>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검증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스키마와 인스턴스를 질의로 옮겨 그래프 DB에 넣고, 조회 결과가 설계와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생성 질의</a:t>
            </a:r>
          </a:p>
          <a:p>
            <a:pPr algn="l" eaLnBrk="0" marL="205740" indent="-205740">
              <a:lnSpc>
                <a:spcPct val="110000"/>
              </a:lnSpc>
              <a:spcAft>
                <a:spcPts val="400"/>
              </a:spcAft>
            </a:pPr>
            <a:r>
              <a:rPr sz="1800" b="0">
                <a:solidFill>
                  <a:srgbClr val="1F2A3A"/>
                </a:solidFill>
                <a:latin typeface="맑은 고딕"/>
                <a:ea typeface="맑은 고딕"/>
                <a:cs typeface="맑은 고딕"/>
              </a:rPr>
              <a:t>• 노드는 id로 찾아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관계는 양 끝을 찾은 뒤 스키마의 방향으로 잇는다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저장된 그래프</a:t>
            </a:r>
          </a:p>
          <a:p>
            <a:pPr algn="l" eaLnBrk="0">
              <a:lnSpc>
                <a:spcPct val="110000"/>
              </a:lnSpc>
              <a:spcAft>
                <a:spcPts val="400"/>
              </a:spcAft>
            </a:pPr>
            <a:r>
              <a:rPr sz="1800" b="0">
                <a:solidFill>
                  <a:srgbClr val="1F2A3A"/>
                </a:solidFill>
                <a:latin typeface="맑은 고딕"/>
                <a:ea typeface="맑은 고딕"/>
                <a:cs typeface="맑은 고딕"/>
              </a:rPr>
              <a:t>클래스는 레이블로, 인스턴스는 노드로, 연결은 관계로 남는다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검증</a:t>
            </a:r>
          </a:p>
          <a:p>
            <a:pPr algn="l" eaLnBrk="0" marL="205740" indent="-205740">
              <a:lnSpc>
                <a:spcPct val="110000"/>
              </a:lnSpc>
              <a:spcAft>
                <a:spcPts val="400"/>
              </a:spcAft>
            </a:pPr>
            <a:r>
              <a:rPr sz="1800" b="0">
                <a:solidFill>
                  <a:srgbClr val="1F2A3A"/>
                </a:solidFill>
                <a:latin typeface="맑은 고딕"/>
                <a:ea typeface="맑은 고딕"/>
                <a:cs typeface="맑은 고딕"/>
              </a:rPr>
              <a:t>• 중복 id와 관계의 끝점을 검사한다</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결과를 예상한 답과 대조한다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대조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HYD의 실제 예를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1"/>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p:txBody>
      </p:sp>
      <p:sp>
        <p:nvSpPr>
          <p:cNvPr id="13" name="TextBox 12"/>
          <p:cNvSpPr txBox="1"/>
          <p:nvPr/>
        </p:nvSpPr>
        <p:spPr>
          <a:xfrm>
            <a:off x="9448495" y="202996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Sensor, Asset</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1053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p:txBody>
      </p:sp>
      <p:sp>
        <p:nvSpPr>
          <p:cNvPr id="17" name="TextBox 16"/>
          <p:cNvSpPr txBox="1"/>
          <p:nvPr/>
        </p:nvSpPr>
        <p:spPr>
          <a:xfrm>
            <a:off x="9448495" y="251053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299110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p:txBody>
      </p:sp>
      <p:sp>
        <p:nvSpPr>
          <p:cNvPr id="21" name="TextBox 20"/>
          <p:cNvSpPr txBox="1"/>
          <p:nvPr/>
        </p:nvSpPr>
        <p:spPr>
          <a:xfrm>
            <a:off x="9448495" y="299110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tag: 'TS1', limit: 65</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47167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p:txBody>
      </p:sp>
      <p:sp>
        <p:nvSpPr>
          <p:cNvPr id="25" name="TextBox 24"/>
          <p:cNvSpPr txBox="1"/>
          <p:nvPr/>
        </p:nvSpPr>
        <p:spPr>
          <a:xfrm>
            <a:off x="9448495" y="347167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SUPPLIED_BY N:M</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p:txBody>
      </p:sp>
      <p:sp>
        <p:nvSpPr>
          <p:cNvPr id="29" name="TextBox 28"/>
          <p:cNvSpPr txBox="1"/>
          <p:nvPr/>
        </p:nvSpPr>
        <p:spPr>
          <a:xfrm>
            <a:off x="9448495" y="3952239"/>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「센서에는 tag가 있다」</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p:txBody>
      </p:sp>
      <p:sp>
        <p:nvSpPr>
          <p:cNvPr id="33" name="TextBox 32"/>
          <p:cNvSpPr txBox="1"/>
          <p:nvPr/>
        </p:nvSpPr>
        <p:spPr>
          <a:xfrm>
            <a:off x="9448495" y="443280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 sen:ts1</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491337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p:txBody>
      </p:sp>
      <p:sp>
        <p:nvSpPr>
          <p:cNvPr id="37" name="TextBox 36"/>
          <p:cNvSpPr txBox="1"/>
          <p:nvPr/>
        </p:nvSpPr>
        <p:spPr>
          <a:xfrm>
            <a:off x="9448495" y="491337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:Sensor</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39394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Query</a:t>
            </a:r>
          </a:p>
        </p:txBody>
      </p:sp>
      <p:sp>
        <p:nvSpPr>
          <p:cNvPr id="41" name="TextBox 40"/>
          <p:cNvSpPr txBox="1"/>
          <p:nvPr/>
        </p:nvSpPr>
        <p:spPr>
          <a:xfrm>
            <a:off x="9448495" y="539394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HYD-01의 경로 조회</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44" name="TextBox 43"/>
          <p:cNvSpPr txBox="1"/>
          <p:nvPr/>
        </p:nvSpPr>
        <p:spPr>
          <a:xfrm>
            <a:off x="3200400" y="587451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p:txBody>
      </p:sp>
      <p:sp>
        <p:nvSpPr>
          <p:cNvPr id="45" name="TextBox 44"/>
          <p:cNvSpPr txBox="1"/>
          <p:nvPr/>
        </p:nvSpPr>
        <p:spPr>
          <a:xfrm>
            <a:off x="9448495" y="587451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Sensor의 id 유일 제약</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