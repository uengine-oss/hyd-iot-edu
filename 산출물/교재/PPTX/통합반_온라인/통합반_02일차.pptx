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유온 센서를 지식 그래프에 등록한다고 생각해 볼게요. 센서의 이름을 적은 다음에는 무엇을 재고 어느 장치를 보는지도 나타내야 합니다. 대상을 구별하고 값을 채운 뒤 관계를 연결하는 순서로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목록에 HYD-01과 HYD-02가 있으면 어느 설비인지 구별할 수 있습니다. 이들이 모두 설비라는 유형에 속한다는 공통점은 클래스로 정합니다. 센서도 마찬가지여서 유온 센서와 냉각 효율 채널은 같은 센서 클래스에 속하는 서로 다른 인스턴스입니다. 공통 정의를 한 번 세우고 개별 대상의 내용을 각각 채우는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센서라는 공통 정의에 따라 유온 센서와 냉각 효율 채널의 정보를 채운 표입니다. 같은 가로줄은 같은 속성이고, 각 칸에 채운 내용이 속성값이에요. 태그 줄에서는 계측 데이터를 찾을 이름을, 마지막 줄에서는 값을 얻는 방식의 차이를 확인할 수 있습니다. 직접 재든 계산하든 값을 내놓는 계측 채널이므로 둘 다 센서 클래스에 속합니다.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관리할 한계를 찾으려면 센서의 이름만으로는 부족합니다. 유온 센서는 재는 쪽이고 유온은 재어지는 물리량이에요. 정상값과 한계는 유온의 속성으로 적혀 있습니다. 센서를 나타내는 정보와 물리량을 관리하는 기준을 이렇게 나누어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태그가 무엇인지 물으면 센서의 속성값을 읽으면 됩니다. 무엇을 재는지와 그 물리량의 한계까지 찾으려면 센서에서 유온이라는 다른 대상으로 연결되어야 해요. 값 하나를 붙이는 것을 데이터 속성, 다른 인스턴스에 잇는 것을 객체 간 관계라고 합니다. 이 장에서는 유온 센서가 유온을 읽는다는 연결 하나만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센서가 상태를 보는 장치는 오일 쿨러입니다. 오일 쿨러는 설비를 이루는 구성 요소이고, 쿨러 코어는 그 안에서 교체하는 부품이에요. 계측할 장치를 찾는 질문과 교체품을 찾는 질문이 서로 다른 대상으로 이어집니다. 센서·상태 변수와 함께 이 세 클래스를 구별하면 설비 쪽 대상의 역할이 정리됩니다.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오일 쿨러에서 무슨 문제가 생겼는지 적을 때도 대상을 나눕니다. 유온이 오른 것은 증상이고, 쿨러가 냉각 성능을 잃은 것은 고장 유형이며, 핀 오염은 그 원인입니다. 유온 상승을 확인한 것과 원인을 확인한 것은 서로 다른 판단이에요. 물건이 아닌 이런 대상도 각각 인스턴스로 두어 진단 지식을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설비에서 출발해 화살표를 따라가겠습니다. 설비는 구성 요소를 갖고, 구성 요소는 센서로 계측되며, 센서는 상태 변수를 읽습니다. 앞에서 나눈 실제 대상들을 이 클래스 자리에 대어 보면 유압 설비, 오일 쿨러, 유온 센서, 유온이 이어집니다. 관계 유형은 이런 연결에서 쓸 이름과 방향, 양 끝의 종류를 함께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인버터가 직접 바꾸는 것은 팬 속도이고, 그 변화가 유온에 영향을 줍니다. 팬 속도가 올라갈 때 유온이 내려가는 방향을 영향 관계의 sign 값 마이너스 1로 적었습니다. 화살표는 영향을 주는 쪽에서 받는 쪽으로 향하고 부호는 두 값이 변하는 방향을 설명합니다. 이 값은 온도를 1도 내리라는 명령이나 온도 감소량이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 구성 요소를 오일 쿨러라고 놓고 보겠습니다. 어느 설비에 연결되는지, 어떤 고장이 생기는지는 왼쪽에서 들어오는 관계로 찾습니다. 상태를 볼 센서와 교체 부품은 오른쪽으로 나가는 관계로 찾고요. 들어오는 관계도 거슬러 찾아갈 수 있으므로 같은 사실을 반대 방향의 관계로 다시 적을 필요는 없습니다. 센서의 이름과 값을 적는 데서 시작한 지식이 이제 쿨러의 계측과 정비 질문에 답할 수 있는 연결이 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 공유 노드는 물리적인 쿨러 한 대를 세 설비가 함께 쓴다는 뜻이 아니라 같은 기종의 구성 지식을 나타냅니다. 설비별 개별 쿨러의 이력을 묻는다면 현재 공유 노드만으로는 구별할 수 없으므로 대상의 범위부터 재검토해야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 불량률도 부품과 공급사의 짝에 붙습니다. 펌프 축 씰 키트의 값 0.12, 0.02, 0.30은 각각 12 %, 2 %, 30 %이며, 공급사 일반의 고정 불량률로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 팬 인버터의 min 0과 max 100은 쓰는 설정값의 범위입니다. 유온의 normal 48과 limit 65는 재어지는 물리량의 기준이므로 같은 숫자 칸으로 섞지 않습니다. 반면 센서끼리 단위가 다른 것은 같은 unit 칸의 값이 다른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 유온 센서를 팬 진동 상태 변수에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 Sensor.unit을 선택에서 필수로 바꾸는 것은 가정입니다. 이 경우 기존에 unit이 없던 센서도 새 정의에서는 누락으로 판정되므로, 실제 단위를 확인해 기존 데이터를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이 과정은 그래프 DB 전용 질의 언어인 Cypher로 쿼리를 적으며, Cypher 쿼리는 찾고 싶은 노드와 관계의 모양을 그림 그리듯 글자로 적습니다.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하나를 찾았는데 결과가 왜 두 행인지 살펴봅니다. 쿨러에서 유온 센서로 가는 연결과 냉각 효율 채널로 가는 연결이 각각 패턴에 맞습니다. MATCH가 두 연결을 찾고 RETURN이 각 연결에서 필요한 값 두 개를 꺼내므로 두 열 두 행이 나옵니다. 이름이 반복되는 것은 같은 쿨러가 서로 다른 연결에 참여하기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쿨러 이름이 두 행에 나옵니다. 쿨러의 이름 목록만 필요하면 DISTINCT로 하나를 남깁니다. 센서 태그도 함께 받으면 두 행의 태그가 다르므로 둘 다 남아요. DISTINCT는 반환하는 전체 열의 조합을 비교하며 이름이 같다는 이유로 노드를 합치거나 지우지 않습니다. 같은 이름의 다른 노드까지 구별하려면 노드나 고유 식별자를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쿨러와 두 채널을 찾은 결과에서 행 수, 구성 요소 수, 채널 수를 각각 셉니다. 행은 둘이지만 쿨러는 하나예요. 센서의 수를 물었다면 센서 노드를 구별해서 세어야 합니다. 지금 행 수와 채널 수가 같은 것은 이 패턴의 결과이지 언제나 같은 수가 된다는 규칙은 아닙니다. AS는 결과 열에 이름을 붙이며 원래 노드의 속성을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목록이 필요한지 연결 그림이 필요한지에 따라 반환할 항목을 고릅니다. 위는 속성값만 받고 아래는 관계에도 변수를 붙여 노드와 관계를 받습니다. 찾는 연결과 결과의 행 수는 같지만 한 칸에 담기는 내용이 다릅니다. 글자 값만 받은 결과에 그래프 보기를 누른다고 관계가 생기는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MATCH (s:Sensor)-[:OBSERVES]-&gt;(v:StateVariable)에 표의 WHERE와 RETURN을 붙인 결과입니다. 값이 있는지 확인하는 조건과 크기를 비교하는 조건은 다릅니다. limit &gt; 100 같은 숫자 비교도 문법상 가능하지만 단위가 다른 물리량을 한 기준으로 비교해 위험도를 판단해서는 안 됩니다. 실제 인터록의 방향은 각 물리량의 기준을 따릅니다. 실측 결과는 태그 순으로 정렬했으며 값과 비교 방향은 기존 47장과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찾을 것은 쿨러 또는 팬의 채널 중 한계가 있는 물리량입니다. OR로 장치를 고르는 두 조건을 괄호에 묶고 그 묶음 전체에 AND로 한계 존재 조건을 붙입니다. 괄호를 빼면 쿨러이거나, 팬이면서 한계가 있는 것으로 뜻이 달라집니다. 따라서 한계가 없는 냉각 효율도 통과합니다. 문법 오류가 없어도 질문과 다른 조건일 수 있음을 두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구성 요소와 센서로 가는 길은 그대로 둡니다. RETURN에서 구성 요소의 식별자와 이름을 남기고 서로 다른 센서를 세면 각 장치마다 한 행이 나옵니다. 쿨러와 주 펌프가 각각 두 채널, 팬이 한 채널입니다. ORDER BY로 채널 수가 큰 장치부터 놓고 동점은 식별자로 정렬합니다. 이 순서는 계측 채널 수의 순서이며 고장 위험도 순위가 아닙니다. 실습에서는 원래 다섯 행을 묶은 결과와 집계 결과를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등록한 유온 센서의 이름을 온도 센서로 바꾸는 상황입니다. 위 쿼리는 식별자로 기존 센서를 찾고 이름을 바꾸므로 같은 노드가 남습니다. 아래 쿼리는 식별자와 새 이름이 모두 맞는 노드를 찾으므로 기존 노드와 일치하지 않습니다. 새 노드를 만들려는 순간 유일 제약이 막으므로, 변경할 값은 검색 조건과 나누어 적습니다.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조회 뒤에 같은 결과를 구성 요소별로 묶습니다. 계측 채널이 있는 구성 요소만 대상으로 하고, 이름이 같아도 다른 장치를 합치지 않도록 식별자를 함께 씁니다. 결과물은 기본 조회와 집계 질의, 원래 행과 집계 결과의 대조표입니다. 부분 완성 질의와 고정 예제 그래프를 제공하고 완성본 실행으로 확인합니다. 학생용 환경은 기준 지식과 분리해 준비해야 하며 아직 확정되지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 완성본에서는 완성 탐색 기록의 경로를 다시 따라가며 출발 대상과 도착 대상을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 완성본에서는 완성 스키마와 예시 데이터를 설명하고, 필수값과 관계 조건 검사를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앞서 만든 스키마와 인스턴스를 그래프로 구현하고 질문의 답을 확인합니다. 검토 사례 하나는 유온 센서가 팬 진동을 읽도록 잘못 연결한 사본입니다. 클래스와 방향은 맞아서 저장되지만 실제 측정 대상과 다릅니다. 원자료와 조회 결과로 끝점을 찾아 고친 뒤 같은 질문으로 확인합니다. 오류 사본은 기준 지식과 분리하며 완성본에서는 수정된 연결을 실제로 조회합니다. 기존 구현 실습의 검토 과정에 포함하고 별도 실습 시간을 더하지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유온 센서의 태그와 유온의 한계가 같은 노드의 값인지 학생이 구별하고 표의 대응과 대조합니다. 이어 쿨러가 두 행에 나왔을 때 구성 요소도 둘인지 판단합니다. 관계를 건너 속성을 읽는 과정과, 결과 행 수와 대상 수의 차이를 확인하며 설계에서 조회까지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설계·저장·조회 흐름을 다시 설명하거나 DB 제약의 사례를 여기서 되풀이하지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25.png"/><Relationship Id="rId6"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5.png"/><Relationship Id="rId4" Type="http://schemas.openxmlformats.org/officeDocument/2006/relationships/image" Target="../media/image2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png"/><Relationship Id="rId4" Type="http://schemas.openxmlformats.org/officeDocument/2006/relationships/image" Target="../media/image3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0.png"/><Relationship Id="rId7" Type="http://schemas.openxmlformats.org/officeDocument/2006/relationships/image" Target="../media/image3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3.png"/><Relationship Id="rId5" Type="http://schemas.openxmlformats.org/officeDocument/2006/relationships/image" Target="../media/image1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png"/><Relationship Id="rId4" Type="http://schemas.openxmlformats.org/officeDocument/2006/relationships/image" Target="../media/image43.png"/><Relationship Id="rId5" Type="http://schemas.openxmlformats.org/officeDocument/2006/relationships/image" Target="../media/image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DB와 Cypher 쿼리</a:t>
            </a:r>
          </a:p>
          <a:p>
            <a:pPr algn="l" eaLnBrk="0" marL="154305" indent="-154305">
              <a:lnSpc>
                <a:spcPct val="110000"/>
              </a:lnSpc>
              <a:spcAft>
                <a:spcPts val="400"/>
              </a:spcAft>
            </a:pPr>
            <a:r>
              <a:rPr sz="1350" b="0">
                <a:solidFill>
                  <a:srgbClr val="1F2A3A"/>
                </a:solidFill>
                <a:latin typeface="맑은 고딕"/>
                <a:ea typeface="맑은 고딕"/>
                <a:cs typeface="맑은 고딕"/>
              </a:rPr>
              <a:t>• 노드 · 관계 · 속성의 저장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Cypher로 조회 · 집계하고 노드와 관계를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패턴 조회 · 조건 · 집계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센서의 이름과 값을 적고, 측정 대상과 주변 장치를 관계로 잇는다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클래스는 공통 특성을 가진 대상의 유형이고, 인스턴스는 그 유형에 속하는 개별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공통 특성을 가진 대상의 유형</a:t>
            </a:r>
          </a:p>
          <a:p>
            <a:pPr algn="l" eaLnBrk="0" marL="200025" indent="-200025">
              <a:lnSpc>
                <a:spcPct val="110000"/>
              </a:lnSpc>
              <a:spcAft>
                <a:spcPts val="600"/>
              </a:spcAft>
            </a:pPr>
            <a:r>
              <a:rPr sz="1750" b="0">
                <a:solidFill>
                  <a:srgbClr val="1F2A3A"/>
                </a:solidFill>
                <a:latin typeface="맑은 고딕"/>
                <a:ea typeface="맑은 고딕"/>
                <a:cs typeface="맑은 고딕"/>
              </a:rPr>
              <a:t>• 설비(Asset), 센서(Sensor)</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유형이 사용할 속성과 관계를 정한다</a:t>
            </a:r>
          </a:p>
        </p:txBody>
      </p:sp>
      <p:sp>
        <p:nvSpPr>
          <p:cNvPr id="9" name="Rounded Rectangle 8"/>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정의</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클래스에 속하는 개별 대상</a:t>
            </a:r>
          </a:p>
          <a:p>
            <a:pPr algn="l" eaLnBrk="0" marL="200025" indent="-200025">
              <a:lnSpc>
                <a:spcPct val="110000"/>
              </a:lnSpc>
              <a:spcAft>
                <a:spcPts val="600"/>
              </a:spcAft>
            </a:pPr>
            <a:r>
              <a:rPr sz="1750" b="0">
                <a:solidFill>
                  <a:srgbClr val="1F2A3A"/>
                </a:solidFill>
                <a:latin typeface="맑은 고딕"/>
                <a:ea typeface="맑은 고딕"/>
                <a:cs typeface="맑은 고딕"/>
              </a:rPr>
              <a:t>• Asset: HYD-01 · HYD-02 · HYD-03</a:t>
            </a:r>
          </a:p>
          <a:p>
            <a:pPr algn="l" eaLnBrk="0" marL="200025" indent="-200025">
              <a:lnSpc>
                <a:spcPct val="110000"/>
              </a:lnSpc>
              <a:spcAft>
                <a:spcPts val="600"/>
              </a:spcAft>
            </a:pPr>
            <a:r>
              <a:rPr sz="1750" b="0">
                <a:solidFill>
                  <a:srgbClr val="1F2A3A"/>
                </a:solidFill>
                <a:latin typeface="맑은 고딕"/>
                <a:ea typeface="맑은 고딕"/>
                <a:cs typeface="맑은 고딕"/>
              </a:rPr>
              <a:t>• Sensor: 유온 센서 · 냉각 효율 채널</a:t>
            </a:r>
          </a:p>
          <a:p>
            <a:pPr algn="l" eaLnBrk="0" marL="200025" indent="-200025">
              <a:lnSpc>
                <a:spcPct val="110000"/>
              </a:lnSpc>
              <a:spcAft>
                <a:spcPts val="600"/>
              </a:spcAft>
            </a:pPr>
            <a:r>
              <a:rPr sz="1750" b="0">
                <a:solidFill>
                  <a:srgbClr val="1F2A3A"/>
                </a:solidFill>
                <a:latin typeface="맑은 고딕"/>
                <a:ea typeface="맑은 고딕"/>
                <a:cs typeface="맑은 고딕"/>
              </a:rPr>
              <a:t>• 「유온 센서는 센서의 하나이다」</a:t>
            </a:r>
          </a:p>
        </p:txBody>
      </p:sp>
      <p:sp>
        <p:nvSpPr>
          <p:cNvPr id="14" name="Rounded Rectangle 13"/>
          <p:cNvSpPr/>
          <p:nvPr/>
        </p:nvSpPr>
        <p:spPr>
          <a:xfrm>
            <a:off x="6781647" y="518896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 클래스의 속성과 속성값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속성(Property)은 값을 담는 항목이고, 그 항목에 채운 내용은 속성값(Property Value)이다.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속성</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유온 센서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냉각 효율 채널</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식별자(id)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sen:ce</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이름(name)</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센서</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냉각 효율</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태그(tag)</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TS1</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CE</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단위(unit)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 채널 여부(virtual)</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false: 직접 계측</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true: 다른 계측값으로 계산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센서와 상태 변수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센서는 값을 내놓는 계측 채널이고, 유온은 정상값과 한계를 가진 상태 변수이다.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센서(Sensor)</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값을 내놓는 계측 채널</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 sen:ts1</a:t>
            </a:r>
          </a:p>
          <a:p>
            <a:pPr algn="l" eaLnBrk="0" marL="205740" indent="-205740">
              <a:lnSpc>
                <a:spcPct val="110000"/>
              </a:lnSpc>
              <a:spcAft>
                <a:spcPts val="600"/>
              </a:spcAft>
            </a:pPr>
            <a:r>
              <a:rPr sz="1800" b="0">
                <a:solidFill>
                  <a:srgbClr val="1F2A3A"/>
                </a:solidFill>
                <a:latin typeface="맑은 고딕"/>
                <a:ea typeface="맑은 고딕"/>
                <a:cs typeface="맑은 고딕"/>
              </a:rPr>
              <a:t>• 태그 TS1 · 단위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무엇으로 재는가</a:t>
            </a:r>
          </a:p>
        </p:txBody>
      </p:sp>
      <p:sp>
        <p:nvSpPr>
          <p:cNvPr id="9" name="Rounded Rectangle 8"/>
          <p:cNvSpPr/>
          <p:nvPr/>
        </p:nvSpPr>
        <p:spPr>
          <a:xfrm>
            <a:off x="868680" y="5382006"/>
            <a:ext cx="8686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쪽</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상태 변수(StateVariable)</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설비의 상태를 나타내는 물리량</a:t>
            </a:r>
          </a:p>
          <a:p>
            <a:pPr algn="l" eaLnBrk="0" marL="205740" indent="-205740">
              <a:lnSpc>
                <a:spcPct val="110000"/>
              </a:lnSpc>
              <a:spcAft>
                <a:spcPts val="600"/>
              </a:spcAft>
            </a:pPr>
            <a:r>
              <a:rPr sz="1800" b="0">
                <a:solidFill>
                  <a:srgbClr val="1F2A3A"/>
                </a:solidFill>
                <a:latin typeface="맑은 고딕"/>
                <a:ea typeface="맑은 고딕"/>
                <a:cs typeface="맑은 고딕"/>
              </a:rPr>
              <a:t>• 유온: sv:ts1</a:t>
            </a:r>
          </a:p>
          <a:p>
            <a:pPr algn="l" eaLnBrk="0" marL="205740" indent="-205740">
              <a:lnSpc>
                <a:spcPct val="110000"/>
              </a:lnSpc>
              <a:spcAft>
                <a:spcPts val="600"/>
              </a:spcAft>
            </a:pPr>
            <a:r>
              <a:rPr sz="1800" b="0">
                <a:solidFill>
                  <a:srgbClr val="1F2A3A"/>
                </a:solidFill>
                <a:latin typeface="맑은 고딕"/>
                <a:ea typeface="맑은 고딕"/>
                <a:cs typeface="맑은 고딕"/>
              </a:rPr>
              <a:t>• 정상값(normal) 48 ℃ · 한계(limit)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무엇을 재고 어느 기준과 비교하는가</a:t>
            </a:r>
          </a:p>
        </p:txBody>
      </p:sp>
      <p:sp>
        <p:nvSpPr>
          <p:cNvPr id="14" name="Rounded Rectangle 13"/>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재어지는 쪽</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속성과 객체 간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태그는 센서의 속성값으로 적고, 정상값과 한계를 가진 유온은 별도 인스턴스로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8" name="TextBox 7"/>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인스턴스에 값을 붙인다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tag: 'TS1'</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센서의 unit: '℃'</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limit: 65</a:t>
            </a:r>
          </a:p>
        </p:txBody>
      </p:sp>
      <p:sp>
        <p:nvSpPr>
          <p:cNvPr id="9" name="Rounded Rectangle 8"/>
          <p:cNvSpPr/>
          <p:nvPr/>
        </p:nvSpPr>
        <p:spPr>
          <a:xfrm>
            <a:off x="868680" y="5204460"/>
            <a:ext cx="132587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값</a:t>
            </a:r>
          </a:p>
        </p:txBody>
      </p:sp>
      <p:sp>
        <p:nvSpPr>
          <p:cNvPr id="11" name="Rounded Rectangle 10"/>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22220"/>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3" name="TextBox 12"/>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인스턴스를 다른 인스턴스에 잇는다</a:t>
            </a:r>
          </a:p>
          <a:p>
            <a:pPr algn="l" eaLnBrk="0" marL="205740" indent="-205740">
              <a:lnSpc>
                <a:spcPct val="110000"/>
              </a:lnSpc>
              <a:spcAft>
                <a:spcPts val="600"/>
              </a:spcAft>
            </a:pPr>
            <a:r>
              <a:rPr sz="1800" b="0">
                <a:solidFill>
                  <a:srgbClr val="1F2A3A"/>
                </a:solidFill>
                <a:latin typeface="맑은 고딕"/>
                <a:ea typeface="맑은 고딕"/>
                <a:cs typeface="맑은 고딕"/>
              </a:rPr>
              <a:t>• 유온 센서는 유온을 읽는다: 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유온의 속성: normal 48 ℃ · limit 65 ℃</a:t>
            </a:r>
          </a:p>
          <a:p>
            <a:pPr algn="l" eaLnBrk="0" marL="205740" indent="-205740">
              <a:lnSpc>
                <a:spcPct val="110000"/>
              </a:lnSpc>
              <a:spcAft>
                <a:spcPts val="600"/>
              </a:spcAft>
            </a:pPr>
            <a:r>
              <a:rPr sz="1800" b="0">
                <a:solidFill>
                  <a:srgbClr val="1F2A3A"/>
                </a:solidFill>
                <a:latin typeface="맑은 고딕"/>
                <a:ea typeface="맑은 고딕"/>
                <a:cs typeface="맑은 고딕"/>
              </a:rPr>
              <a:t>• 연결한 대상의 속성을 이어서 찾는다</a:t>
            </a:r>
          </a:p>
        </p:txBody>
      </p:sp>
      <p:sp>
        <p:nvSpPr>
          <p:cNvPr id="14" name="Rounded Rectangle 13"/>
          <p:cNvSpPr/>
          <p:nvPr/>
        </p:nvSpPr>
        <p:spPr>
          <a:xfrm>
            <a:off x="6781647" y="5204460"/>
            <a:ext cx="1783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04460"/>
            <a:ext cx="1783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인스턴스와 인스턴스</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구성 요소 · 부품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한 대, 설비를 이루는 장치, 교체할 부품을 구별하면 계측과 정비의 대상을 분명히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설비(Asset)</a:t>
            </a:r>
          </a:p>
          <a:p>
            <a:pPr algn="l" eaLnBrk="0">
              <a:lnSpc>
                <a:spcPct val="110000"/>
              </a:lnSpc>
              <a:spcAft>
                <a:spcPts val="200"/>
              </a:spcAft>
            </a:pPr>
            <a:r>
              <a:rPr sz="1150" b="0">
                <a:solidFill>
                  <a:srgbClr val="556175"/>
                </a:solidFill>
                <a:latin typeface="맑은 고딕"/>
                <a:ea typeface="맑은 고딕"/>
                <a:cs typeface="맑은 고딕"/>
              </a:rPr>
              <a:t>설비 한 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한 대를 나타낸다.</a:t>
            </a:r>
          </a:p>
          <a:p>
            <a:pPr algn="l" eaLnBrk="0">
              <a:lnSpc>
                <a:spcPct val="110000"/>
              </a:lnSpc>
              <a:spcAft>
                <a:spcPts val="300"/>
              </a:spcAft>
            </a:pPr>
            <a:r>
              <a:rPr sz="1400" b="0">
                <a:solidFill>
                  <a:srgbClr val="1F2A3A"/>
                </a:solidFill>
                <a:latin typeface="맑은 고딕"/>
                <a:ea typeface="맑은 고딕"/>
                <a:cs typeface="맑은 고딕"/>
              </a:rPr>
              <a:t>HYD-01 유압 파워팩 · asset:hyd-01</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구성 요소(Component)</a:t>
            </a:r>
          </a:p>
          <a:p>
            <a:pPr algn="l" eaLnBrk="0">
              <a:lnSpc>
                <a:spcPct val="110000"/>
              </a:lnSpc>
              <a:spcAft>
                <a:spcPts val="200"/>
              </a:spcAft>
            </a:pPr>
            <a:r>
              <a:rPr sz="1150" b="0">
                <a:solidFill>
                  <a:srgbClr val="556175"/>
                </a:solidFill>
                <a:latin typeface="맑은 고딕"/>
                <a:ea typeface="맑은 고딕"/>
                <a:cs typeface="맑은 고딕"/>
              </a:rPr>
              <a:t>상태를 살피는 장치</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설비를 이루는 장치이다.</a:t>
            </a:r>
          </a:p>
          <a:p>
            <a:pPr algn="l" eaLnBrk="0">
              <a:lnSpc>
                <a:spcPct val="110000"/>
              </a:lnSpc>
              <a:spcAft>
                <a:spcPts val="300"/>
              </a:spcAft>
            </a:pPr>
            <a:r>
              <a:rPr sz="1400" b="0">
                <a:solidFill>
                  <a:srgbClr val="1F2A3A"/>
                </a:solidFill>
                <a:latin typeface="맑은 고딕"/>
                <a:ea typeface="맑은 고딕"/>
                <a:cs typeface="맑은 고딕"/>
              </a:rPr>
              <a:t>오일 쿨러 · comp:cooler</a:t>
            </a:r>
          </a:p>
          <a:p>
            <a:pPr algn="l" eaLnBrk="0">
              <a:lnSpc>
                <a:spcPct val="110000"/>
              </a:lnSpc>
              <a:spcAft>
                <a:spcPts val="300"/>
              </a:spcAft>
            </a:pPr>
            <a:r>
              <a:rPr sz="1400" b="0">
                <a:solidFill>
                  <a:srgbClr val="1F2A3A"/>
                </a:solidFill>
                <a:latin typeface="맑은 고딕"/>
                <a:ea typeface="맑은 고딕"/>
                <a:cs typeface="맑은 고딕"/>
              </a:rPr>
              <a:t>유온 센서와 냉각 효율 채널로 상태를 확인한다.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부품(Part)</a:t>
            </a:r>
          </a:p>
          <a:p>
            <a:pPr algn="l" eaLnBrk="0">
              <a:lnSpc>
                <a:spcPct val="110000"/>
              </a:lnSpc>
              <a:spcAft>
                <a:spcPts val="200"/>
              </a:spcAft>
            </a:pPr>
            <a:r>
              <a:rPr sz="1150" b="0">
                <a:solidFill>
                  <a:srgbClr val="556175"/>
                </a:solidFill>
                <a:latin typeface="맑은 고딕"/>
                <a:ea typeface="맑은 고딕"/>
                <a:cs typeface="맑은 고딕"/>
              </a:rPr>
              <a:t>교체할 대상</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안에서 갈아 끼우는 교체 부품이다.</a:t>
            </a:r>
          </a:p>
          <a:p>
            <a:pPr algn="l" eaLnBrk="0">
              <a:lnSpc>
                <a:spcPct val="110000"/>
              </a:lnSpc>
              <a:spcAft>
                <a:spcPts val="300"/>
              </a:spcAft>
            </a:pPr>
            <a:r>
              <a:rPr sz="1400" b="0">
                <a:solidFill>
                  <a:srgbClr val="1F2A3A"/>
                </a:solidFill>
                <a:latin typeface="맑은 고딕"/>
                <a:ea typeface="맑은 고딕"/>
                <a:cs typeface="맑은 고딕"/>
              </a:rPr>
              <a:t>쿨러 코어 · part:cooler-core</a:t>
            </a:r>
          </a:p>
          <a:p>
            <a:pPr algn="l" eaLnBrk="0">
              <a:lnSpc>
                <a:spcPct val="110000"/>
              </a:lnSpc>
              <a:spcAft>
                <a:spcPts val="300"/>
              </a:spcAft>
            </a:pPr>
            <a:r>
              <a:rPr sz="1400" b="0">
                <a:solidFill>
                  <a:srgbClr val="1F2A3A"/>
                </a:solidFill>
                <a:latin typeface="맑은 고딕"/>
                <a:ea typeface="맑은 고딕"/>
                <a:cs typeface="맑은 고딕"/>
              </a:rPr>
              <a:t>부품 번호: P-CLR-CORE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상승은 관측된 증상, 냉각 성능 상실은 고장 유형, 쿨러 핀 오염은 그 원인에 해당한다.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a:p>
            <a:pPr algn="l" eaLnBrk="0">
              <a:lnSpc>
                <a:spcPct val="110000"/>
              </a:lnSpc>
              <a:spcAft>
                <a:spcPts val="200"/>
              </a:spcAft>
            </a:pPr>
            <a:r>
              <a:rPr sz="1150" b="0">
                <a:solidFill>
                  <a:srgbClr val="556175"/>
                </a:solidFill>
                <a:latin typeface="맑은 고딕"/>
                <a:ea typeface="맑은 고딕"/>
                <a:cs typeface="맑은 고딕"/>
              </a:rPr>
              <a:t>무엇이 보이는가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계측값에서 관측한 이상 양상이다.</a:t>
            </a:r>
          </a:p>
          <a:p>
            <a:pPr algn="l" eaLnBrk="0">
              <a:lnSpc>
                <a:spcPct val="110000"/>
              </a:lnSpc>
              <a:spcAft>
                <a:spcPts val="300"/>
              </a:spcAft>
            </a:pPr>
            <a:r>
              <a:rPr sz="1400" b="0">
                <a:solidFill>
                  <a:srgbClr val="1F2A3A"/>
                </a:solidFill>
                <a:latin typeface="맑은 고딕"/>
                <a:ea typeface="맑은 고딕"/>
                <a:cs typeface="맑은 고딕"/>
              </a:rPr>
              <a:t>유온 상승 · 냉각 효율 저하</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a:p>
            <a:pPr algn="l" eaLnBrk="0">
              <a:lnSpc>
                <a:spcPct val="110000"/>
              </a:lnSpc>
              <a:spcAft>
                <a:spcPts val="200"/>
              </a:spcAft>
            </a:pPr>
            <a:r>
              <a:rPr sz="1150" b="0">
                <a:solidFill>
                  <a:srgbClr val="556175"/>
                </a:solidFill>
                <a:latin typeface="맑은 고딕"/>
                <a:ea typeface="맑은 고딕"/>
                <a:cs typeface="맑은 고딕"/>
              </a:rPr>
              <a:t>어떤 기능에 문제가 있는가</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요소에서 발생하는 고장의 양상이다.</a:t>
            </a:r>
          </a:p>
          <a:p>
            <a:pPr algn="l" eaLnBrk="0">
              <a:lnSpc>
                <a:spcPct val="110000"/>
              </a:lnSpc>
              <a:spcAft>
                <a:spcPts val="300"/>
              </a:spcAft>
            </a:pPr>
            <a:r>
              <a:rPr sz="1400" b="0">
                <a:solidFill>
                  <a:srgbClr val="1F2A3A"/>
                </a:solidFill>
                <a:latin typeface="맑은 고딕"/>
                <a:ea typeface="맑은 고딕"/>
                <a:cs typeface="맑은 고딕"/>
              </a:rPr>
              <a:t>쿨러 냉각 성능 상실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a:p>
            <a:pPr algn="l" eaLnBrk="0">
              <a:lnSpc>
                <a:spcPct val="110000"/>
              </a:lnSpc>
              <a:spcAft>
                <a:spcPts val="200"/>
              </a:spcAft>
            </a:pPr>
            <a:r>
              <a:rPr sz="1150" b="0">
                <a:solidFill>
                  <a:srgbClr val="556175"/>
                </a:solidFill>
                <a:latin typeface="맑은 고딕"/>
                <a:ea typeface="맑은 고딕"/>
                <a:cs typeface="맑은 고딕"/>
              </a:rPr>
              <a:t>왜 문제가 생겼는가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고장을 일으키는 근본 원인이다.</a:t>
            </a:r>
          </a:p>
          <a:p>
            <a:pPr algn="l" eaLnBrk="0">
              <a:lnSpc>
                <a:spcPct val="110000"/>
              </a:lnSpc>
              <a:spcAft>
                <a:spcPts val="300"/>
              </a:spcAft>
            </a:pPr>
            <a:r>
              <a:rPr sz="1400" b="0">
                <a:solidFill>
                  <a:srgbClr val="1F2A3A"/>
                </a:solidFill>
                <a:latin typeface="맑은 고딕"/>
                <a:ea typeface="맑은 고딕"/>
                <a:cs typeface="맑은 고딕"/>
              </a:rPr>
              <a:t>쿨러 핀 오염 · 팬 구동 불량 · 주변 온도 상승</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유형(Relationship Type)은 연결의 이름과 방향, 시작 클래스와 끝 클래스를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699912084623654135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조작 관계와 물리적 영향의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인버터는 팬 속도를 바꾸고, 팬 속도가 유온을 낮추는 영향은 관계의 부호로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조작 관계(MANIPULATES)</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PLC가 값을 써서 움직이는 장치</a:t>
            </a:r>
          </a:p>
          <a:p>
            <a:pPr algn="l" eaLnBrk="0" marL="205740" indent="-205740">
              <a:lnSpc>
                <a:spcPct val="110000"/>
              </a:lnSpc>
              <a:spcAft>
                <a:spcPts val="600"/>
              </a:spcAft>
            </a:pPr>
            <a:r>
              <a:rPr sz="1800" b="0">
                <a:solidFill>
                  <a:srgbClr val="1F2A3A"/>
                </a:solidFill>
                <a:latin typeface="맑은 고딕"/>
                <a:ea typeface="맑은 고딕"/>
                <a:cs typeface="맑은 고딕"/>
              </a:rPr>
              <a:t>• 팬 인버터는 팬 속도를 바꾼다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인버터 · 끝: 팬 속도</a:t>
            </a:r>
          </a:p>
        </p:txBody>
      </p:sp>
      <p:sp>
        <p:nvSpPr>
          <p:cNvPr id="9" name="Rounded Rectangle 8"/>
          <p:cNvSpPr/>
          <p:nvPr/>
        </p:nvSpPr>
        <p:spPr>
          <a:xfrm>
            <a:off x="868680" y="5382006"/>
            <a:ext cx="11734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바꾸는 대상</a:t>
            </a:r>
          </a:p>
        </p:txBody>
      </p:sp>
      <p:sp>
        <p:nvSpPr>
          <p:cNvPr id="11" name="Rounded Rectangle 10"/>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영향 관계(INFLUENCES)</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속도는 유온에 영향을 준다</a:t>
            </a:r>
          </a:p>
          <a:p>
            <a:pPr algn="l" eaLnBrk="0" marL="205740" indent="-205740">
              <a:lnSpc>
                <a:spcPct val="110000"/>
              </a:lnSpc>
              <a:spcAft>
                <a:spcPts val="600"/>
              </a:spcAft>
            </a:pPr>
            <a:r>
              <a:rPr sz="1800" b="0">
                <a:solidFill>
                  <a:srgbClr val="1F2A3A"/>
                </a:solidFill>
                <a:latin typeface="맑은 고딕"/>
                <a:ea typeface="맑은 고딕"/>
                <a:cs typeface="맑은 고딕"/>
              </a:rPr>
              <a:t>• 시작: 팬 속도 · 끝: 유온</a:t>
            </a:r>
          </a:p>
          <a:p>
            <a:pPr algn="l" eaLnBrk="0" marL="205740" indent="-205740">
              <a:lnSpc>
                <a:spcPct val="110000"/>
              </a:lnSpc>
              <a:spcAft>
                <a:spcPts val="600"/>
              </a:spcAft>
            </a:pPr>
            <a:r>
              <a:rPr sz="1800" b="0">
                <a:solidFill>
                  <a:srgbClr val="1F2A3A"/>
                </a:solidFill>
                <a:latin typeface="맑은 고딕"/>
                <a:ea typeface="맑은 고딕"/>
                <a:cs typeface="맑은 고딕"/>
              </a:rPr>
              <a:t>• 관계의 속성(Relationship Property): 두 대상의 연결에 붙는 값</a:t>
            </a:r>
          </a:p>
          <a:p>
            <a:pPr algn="l" eaLnBrk="0" marL="205740" indent="-205740">
              <a:lnSpc>
                <a:spcPct val="110000"/>
              </a:lnSpc>
              <a:spcAft>
                <a:spcPts val="600"/>
              </a:spcAft>
            </a:pPr>
            <a:r>
              <a:rPr sz="1800" b="0">
                <a:solidFill>
                  <a:srgbClr val="1F2A3A"/>
                </a:solidFill>
                <a:latin typeface="맑은 고딕"/>
                <a:ea typeface="맑은 고딕"/>
                <a:cs typeface="맑은 고딕"/>
              </a:rPr>
              <a:t>• sign: -1 → 팬 속도 증가, 유온 감소</a:t>
            </a:r>
          </a:p>
        </p:txBody>
      </p:sp>
      <p:sp>
        <p:nvSpPr>
          <p:cNvPr id="14" name="Rounded Rectangle 13"/>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변화 방향</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대상의 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오일 쿨러의 설비와 고장은 들어오는 관계로, 계측 채널과 교체품은 나가는 관계로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삽화:들고나는관계.svg" descr="illust_2569598980050396168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pic>
        <p:nvPicPr>
          <p:cNvPr id="6" name="삽화:카디널리티.svg" descr="illust_5733309647154286969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0.12 · 0.02 · 0.30, 곧 12 · 2 · 30 %이다.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상속_하위.svg" descr="illust_5979283604117019099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공통식별자_2.svg" descr="illust_1950283478317106800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설비모델.svg" descr="illust_2046417457033923915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396865"/>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패턴 조회 · 조건 · 집계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찾을 노드와 관계의 패턴을 적고, 조건으로 조회 결과를 좁힌다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조인_그래프.svg" descr="illust_4088451418017652921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속성그래프_대각.svg" descr="illust_9162484516651558742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그래프 DB에 보낼 요청을 노드와 관계의 패턴(Pattern)으로 적는 질의 언어이다.</a:t>
            </a:r>
          </a:p>
          <a:p>
            <a:pPr algn="l" eaLnBrk="0">
              <a:lnSpc>
                <a:spcPct val="110000"/>
              </a:lnSpc>
              <a:spcAft>
                <a:spcPts val="300"/>
              </a:spcAft>
            </a:pPr>
            <a:r>
              <a:rPr sz="1400" b="0">
                <a:solidFill>
                  <a:srgbClr val="1F2A3A"/>
                </a:solidFill>
                <a:latin typeface="맑은 고딕"/>
                <a:ea typeface="맑은 고딕"/>
                <a:cs typeface="맑은 고딕"/>
              </a:rPr>
              <a:t>노드와 관계의 패턴에 맞는 데이터를 찾고, 값을 읽거나 노드와 관계를 만든다.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(Variable)는 찾은 대상을 다시 부르는 이름이며, 속성 조건으로 검색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표기_그래프.svg" descr="illust_478196221534990334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p:txBody>
      </p:sp>
      <p:sp>
        <p:nvSpPr>
          <p:cNvPr id="8" name="TextBox 7"/>
          <p:cNvSpPr txBox="1"/>
          <p:nvPr/>
        </p:nvSpPr>
        <p:spPr>
          <a:xfrm>
            <a:off x="8511726" y="2440753"/>
            <a:ext cx="1539790"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MATCH · RETURN: 패턴과 결과의 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MATCH는 패턴에 맞는 연결을 찾고, RETURN은 그 결과에서 돌려받을 항목을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c.name         s.tag</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이름이 오일 쿨러인 구성 요소에서 계측 관계로 이어진 센서를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구성 요소 이름과 센서 태그를 결과의 두 열로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행의 수</a:t>
            </a:r>
          </a:p>
          <a:p>
            <a:pPr algn="l" eaLnBrk="0">
              <a:lnSpc>
                <a:spcPct val="110000"/>
              </a:lnSpc>
              <a:spcAft>
                <a:spcPts val="400"/>
              </a:spcAft>
            </a:pPr>
            <a:r>
              <a:rPr sz="1400" b="0">
                <a:solidFill>
                  <a:srgbClr val="1F2A3A"/>
                </a:solidFill>
                <a:latin typeface="맑은 고딕"/>
                <a:ea typeface="맑은 고딕"/>
                <a:cs typeface="맑은 고딕"/>
              </a:rPr>
              <a:t>쿨러 하나에 계측 채널 둘이 연결되어 결과는 두 행이다.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행과 노드</a:t>
            </a:r>
          </a:p>
          <a:p>
            <a:pPr algn="l" eaLnBrk="0">
              <a:lnSpc>
                <a:spcPct val="110000"/>
              </a:lnSpc>
              <a:spcAft>
                <a:spcPts val="400"/>
              </a:spcAft>
            </a:pPr>
            <a:r>
              <a:rPr sz="1400" b="0">
                <a:solidFill>
                  <a:srgbClr val="1F2A3A"/>
                </a:solidFill>
                <a:latin typeface="맑은 고딕"/>
                <a:ea typeface="맑은 고딕"/>
                <a:cs typeface="맑은 고딕"/>
              </a:rPr>
              <a:t>두 행의 오일 쿨러는 같은 노드이다. 이름의 반복이 노드의 중복을 뜻하지 않는다.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DISTINCT: 반환한 값의 중복 제거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DISTINCT는 반환하는 값의 조합이 같은 행을 하나로 남기며, 저장된 노드를 지우지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MATCH의 반환 절</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행</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c.name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a:p>
            <a:pPr algn="l" eaLnBrk="0">
              <a:lnSpc>
                <a:spcPct val="110000"/>
              </a:lnSpc>
            </a:pPr>
            <a:r>
              <a:rPr sz="1400" b="0">
                <a:solidFill>
                  <a:srgbClr val="1F2A3A"/>
                </a:solidFill>
                <a:latin typeface="맑은 고딕"/>
                <a:ea typeface="맑은 고딕"/>
                <a:cs typeface="맑은 고딕"/>
              </a:rPr>
              <a:t>오일 쿨러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1행</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DISTINCT c.name, s.tag</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오일 쿨러 · CE</a:t>
            </a:r>
          </a:p>
          <a:p>
            <a:pPr algn="l" eaLnBrk="0">
              <a:lnSpc>
                <a:spcPct val="110000"/>
              </a:lnSpc>
            </a:pPr>
            <a:r>
              <a:rPr sz="1400" b="0">
                <a:solidFill>
                  <a:srgbClr val="1F2A3A"/>
                </a:solidFill>
                <a:latin typeface="맑은 고딕"/>
                <a:ea typeface="맑은 고딕"/>
                <a:cs typeface="맑은 고딕"/>
              </a:rPr>
              <a:t>오일 쿨러 · TS1</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2행</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 제거(DISTINCT)</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 계측 채널 둘의 같은 패턴에서 반환 절만 바꾼다</a:t>
            </a:r>
          </a:p>
          <a:p>
            <a:pPr algn="l" eaLnBrk="0">
              <a:lnSpc>
                <a:spcPct val="110000"/>
              </a:lnSpc>
            </a:pPr>
            <a:r>
              <a:rPr sz="1400" b="0">
                <a:solidFill>
                  <a:srgbClr val="1F2A3A"/>
                </a:solidFill>
                <a:latin typeface="맑은 고딕"/>
                <a:ea typeface="맑은 고딕"/>
                <a:cs typeface="맑은 고딕"/>
              </a:rPr>
              <a:t>반환한 모든 열의 값이 같을 때 한 행으로 남긴다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정리</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COUNT: 결과 행과 서로 다른 대상의 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COUNT로 행을 셀지 서로 다른 대상을 셀지 정해야 질문에 맞는 개수를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count(*) AS rows,</a:t>
            </a:r>
          </a:p>
          <a:p>
            <a:pPr algn="l" eaLnBrk="0">
              <a:lnSpc>
                <a:spcPct val="110000"/>
              </a:lnSpc>
              <a:spcAft>
                <a:spcPts val="200"/>
              </a:spcAft>
            </a:pPr>
            <a:r>
              <a:rPr sz="1300" b="0">
                <a:solidFill>
                  <a:srgbClr val="E8EEF6"/>
                </a:solidFill>
                <a:latin typeface="Consolas"/>
                <a:ea typeface="맑은 고딕"/>
                <a:cs typeface="맑은 고딕"/>
              </a:rPr>
              <a:t>       count(DISTINCT c) AS components,</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rows    components    channels</a:t>
            </a:r>
          </a:p>
          <a:p>
            <a:pPr algn="l" eaLnBrk="0">
              <a:lnSpc>
                <a:spcPct val="110000"/>
              </a:lnSpc>
              <a:spcAft>
                <a:spcPts val="200"/>
              </a:spcAft>
            </a:pPr>
            <a:r>
              <a:rPr sz="1300" b="0">
                <a:solidFill>
                  <a:srgbClr val="E8EEF6"/>
                </a:solidFill>
                <a:latin typeface="Consolas"/>
                <a:ea typeface="맑은 고딕"/>
                <a:cs typeface="맑은 고딕"/>
              </a:rPr>
              <a:t>2       1             2</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집계 함수(COUNT)</a:t>
            </a:r>
          </a:p>
          <a:p>
            <a:pPr algn="l" eaLnBrk="0">
              <a:lnSpc>
                <a:spcPct val="110000"/>
              </a:lnSpc>
              <a:spcAft>
                <a:spcPts val="400"/>
              </a:spcAft>
            </a:pPr>
            <a:r>
              <a:rPr sz="1400" b="0">
                <a:solidFill>
                  <a:srgbClr val="1F2A3A"/>
                </a:solidFill>
                <a:latin typeface="맑은 고딕"/>
                <a:ea typeface="맑은 고딕"/>
                <a:cs typeface="맑은 고딕"/>
              </a:rPr>
              <a:t>여러 행을 개수 하나로 요약한다. count(*)는 입력 행을 센다.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COUNT와 DISTINCT</a:t>
            </a:r>
          </a:p>
          <a:p>
            <a:pPr algn="l" eaLnBrk="0">
              <a:lnSpc>
                <a:spcPct val="110000"/>
              </a:lnSpc>
              <a:spcAft>
                <a:spcPts val="400"/>
              </a:spcAft>
            </a:pPr>
            <a:r>
              <a:rPr sz="1400" b="0">
                <a:solidFill>
                  <a:srgbClr val="1F2A3A"/>
                </a:solidFill>
                <a:latin typeface="맑은 고딕"/>
                <a:ea typeface="맑은 고딕"/>
                <a:cs typeface="맑은 고딕"/>
              </a:rPr>
              <a:t>count(DISTINCT c)는 서로 다른 구성 요소 노드를 센다. 같은 쿨러가 두 번 나와도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세는 대상</a:t>
            </a:r>
          </a:p>
          <a:p>
            <a:pPr algn="l" eaLnBrk="0">
              <a:lnSpc>
                <a:spcPct val="110000"/>
              </a:lnSpc>
              <a:spcAft>
                <a:spcPts val="400"/>
              </a:spcAft>
            </a:pPr>
            <a:r>
              <a:rPr sz="1400" b="0">
                <a:solidFill>
                  <a:srgbClr val="1F2A3A"/>
                </a:solidFill>
                <a:latin typeface="맑은 고딕"/>
                <a:ea typeface="맑은 고딕"/>
                <a:cs typeface="맑은 고딕"/>
              </a:rPr>
              <a:t>count(DISTINCT s)는 서로 다른 센서 노드를 센다. 이름이 아니라 노드 자체를 구별한다.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별명(AS)</a:t>
            </a:r>
          </a:p>
          <a:p>
            <a:pPr algn="l" eaLnBrk="0">
              <a:lnSpc>
                <a:spcPct val="110000"/>
              </a:lnSpc>
              <a:spcAft>
                <a:spcPts val="400"/>
              </a:spcAft>
            </a:pPr>
            <a:r>
              <a:rPr sz="1400" b="0">
                <a:solidFill>
                  <a:srgbClr val="1F2A3A"/>
                </a:solidFill>
                <a:latin typeface="맑은 고딕"/>
                <a:ea typeface="맑은 고딕"/>
                <a:cs typeface="맑은 고딕"/>
              </a:rPr>
              <a:t>계산 결과의 열에 rows · components · channels라는 이름을 붙인다.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RETURN: 속성값과 노드 ·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패턴을 찾더라도 속성값을 받으면 표로 읽고, 노드와 관계를 받으면 연결을 그릴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MATCH,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RETURN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반환하는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속성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찾는 패턴</a:t>
            </a:r>
          </a:p>
          <a:p>
            <a:pPr algn="l" eaLnBrk="0">
              <a:lnSpc>
                <a:spcPct val="110000"/>
              </a:lnSpc>
              <a:spcAft>
                <a:spcPts val="400"/>
              </a:spcAft>
            </a:pPr>
            <a:r>
              <a:rPr sz="1350" b="0">
                <a:solidFill>
                  <a:srgbClr val="1F2A3A"/>
                </a:solidFill>
                <a:latin typeface="맑은 고딕"/>
                <a:ea typeface="맑은 고딕"/>
                <a:cs typeface="맑은 고딕"/>
              </a:rPr>
              <a:t>두 쿼리 모두 같은 쿨러와 센서의 연결을 찾는다.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속성값 반환</a:t>
            </a:r>
          </a:p>
          <a:p>
            <a:pPr algn="l" eaLnBrk="0">
              <a:lnSpc>
                <a:spcPct val="110000"/>
              </a:lnSpc>
              <a:spcAft>
                <a:spcPts val="400"/>
              </a:spcAft>
            </a:pPr>
            <a:r>
              <a:rPr sz="1400" b="0">
                <a:solidFill>
                  <a:srgbClr val="1F2A3A"/>
                </a:solidFill>
                <a:latin typeface="맑은 고딕"/>
                <a:ea typeface="맑은 고딕"/>
                <a:cs typeface="맑은 고딕"/>
              </a:rPr>
              <a:t>c.name, s.tag는 각 노드의 값이다. 이름과 태그 두 열을 받는다.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노드 · 관계 반환</a:t>
            </a:r>
          </a:p>
          <a:p>
            <a:pPr algn="l" eaLnBrk="0">
              <a:lnSpc>
                <a:spcPct val="110000"/>
              </a:lnSpc>
              <a:spcAft>
                <a:spcPts val="400"/>
              </a:spcAft>
            </a:pPr>
            <a:r>
              <a:rPr sz="1400" b="0">
                <a:solidFill>
                  <a:srgbClr val="1F2A3A"/>
                </a:solidFill>
                <a:latin typeface="맑은 고딕"/>
                <a:ea typeface="맑은 고딕"/>
                <a:cs typeface="맑은 고딕"/>
              </a:rPr>
              <a:t>c, r, s는 구성 요소 노드, 계측 관계, 센서 노드 자체이다.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표와 그래프</a:t>
            </a:r>
          </a:p>
          <a:p>
            <a:pPr algn="l" eaLnBrk="0">
              <a:lnSpc>
                <a:spcPct val="110000"/>
              </a:lnSpc>
              <a:spcAft>
                <a:spcPts val="400"/>
              </a:spcAft>
            </a:pPr>
            <a:r>
              <a:rPr sz="1400" b="0">
                <a:solidFill>
                  <a:srgbClr val="1F2A3A"/>
                </a:solidFill>
                <a:latin typeface="맑은 고딕"/>
                <a:ea typeface="맑은 고딕"/>
                <a:cs typeface="맑은 고딕"/>
              </a:rPr>
              <a:t>두 결과 모두 두 행이다. 아래 결과를 그래프로 그리면 쿨러 하나와 센서 둘이 나타난다.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 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 속성값을 두지 않았다.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WHERE: 조건과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WHERE로 한계가 있는 물리량만 남기면, 값이 없는 상태 변수를 결과에서 구별할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조건 절과 반환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 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것</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MATCH (s:Sensor)</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-[:OBSERVES]-&gt;(v:StateVariable)</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 → 상태 변수</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WHERE v.limit IS NOT NULL</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한계 속성에 값이 있는 행만 남긴다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 절(WHERE)</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RETURN s.tag, v.name, v.limit, v.unit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 태그 · 물리량 · 한계 · 단위</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센서 → 상태 변수</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PS1 · 토출 압력</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130 bar</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저압: &lt; 130</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TS1 · 유온</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과열: &gt; 65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VS1 · 팬 진동</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2.0 mm/s</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고진동: ≥ 2.0</a:t>
            </a:r>
          </a:p>
        </p:txBody>
      </p:sp>
      <p:sp>
        <p:nvSpPr>
          <p:cNvPr id="34" name="Rounded Rectangle 33"/>
          <p:cNvSpPr/>
          <p:nvPr/>
        </p:nvSpPr>
        <p:spPr>
          <a:xfrm>
            <a:off x="548640" y="5769210"/>
            <a:ext cx="11094415" cy="553865"/>
          </a:xfrm>
          <a:prstGeom prst="roundRect">
            <a:avLst>
              <a:gd name="adj" fmla="val 8000"/>
            </a:avLst>
          </a:prstGeom>
          <a:solidFill>
            <a:srgbClr val="E7F3FD"/>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빠진 행: CE · FS1</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효율과 유량에는 limit 값이 없다</a:t>
            </a:r>
          </a:p>
          <a:p>
            <a:pPr algn="l" eaLnBrk="0">
              <a:lnSpc>
                <a:spcPct val="110000"/>
              </a:lnSpc>
            </a:pPr>
            <a:r>
              <a:rPr sz="1400" b="0">
                <a:solidFill>
                  <a:srgbClr val="1F2A3A"/>
                </a:solidFill>
                <a:latin typeface="맑은 고딕"/>
                <a:ea typeface="맑은 고딕"/>
                <a:cs typeface="맑은 고딕"/>
              </a:rPr>
              <a:t>NULL은 0이 아니라 값 없음이다</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IS NOT NULL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AND · OR: 조건을 괄호로 묶기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또는 팬이라는 선택을 먼저 묶어야 두 장치 모두에 한계 값 조건을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42693"/>
            <a:ext cx="6766560" cy="349732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79853"/>
            <a:ext cx="6400800" cy="322300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WHERE (c.name =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OR c.name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AND v.limit IS NOT NULL</a:t>
            </a:r>
          </a:p>
          <a:p>
            <a:pPr algn="l" eaLnBrk="0">
              <a:lnSpc>
                <a:spcPct val="110000"/>
              </a:lnSpc>
              <a:spcAft>
                <a:spcPts val="200"/>
              </a:spcAft>
            </a:pPr>
            <a:r>
              <a:rPr sz="1300" b="0">
                <a:solidFill>
                  <a:srgbClr val="E8EEF6"/>
                </a:solidFill>
                <a:latin typeface="Consolas"/>
                <a:ea typeface="맑은 고딕"/>
                <a:cs typeface="맑은 고딕"/>
              </a:rPr>
              <a:t>RETURN s.tag, v.name</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괄호를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p>
        </p:txBody>
      </p:sp>
      <p:sp>
        <p:nvSpPr>
          <p:cNvPr id="8" name="TextBox 7"/>
          <p:cNvSpPr txBox="1"/>
          <p:nvPr/>
        </p:nvSpPr>
        <p:spPr>
          <a:xfrm>
            <a:off x="7635240" y="224269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 어느 하나</a:t>
            </a:r>
          </a:p>
          <a:p>
            <a:pPr algn="l" eaLnBrk="0">
              <a:lnSpc>
                <a:spcPct val="110000"/>
              </a:lnSpc>
              <a:spcAft>
                <a:spcPts val="400"/>
              </a:spcAft>
            </a:pPr>
            <a:r>
              <a:rPr sz="1400" b="0">
                <a:solidFill>
                  <a:srgbClr val="1F2A3A"/>
                </a:solidFill>
                <a:latin typeface="맑은 고딕"/>
                <a:ea typeface="맑은 고딕"/>
                <a:cs typeface="맑은 고딕"/>
              </a:rPr>
              <a:t>오일 쿨러이거나 쿨러 팬인 구성 요소를 고른다.</a:t>
            </a:r>
          </a:p>
        </p:txBody>
      </p:sp>
      <p:sp>
        <p:nvSpPr>
          <p:cNvPr id="9" name="TextBox 8"/>
          <p:cNvSpPr txBox="1"/>
          <p:nvPr/>
        </p:nvSpPr>
        <p:spPr>
          <a:xfrm>
            <a:off x="7635240" y="3408468"/>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 모두</a:t>
            </a:r>
          </a:p>
          <a:p>
            <a:pPr algn="l" eaLnBrk="0">
              <a:lnSpc>
                <a:spcPct val="110000"/>
              </a:lnSpc>
              <a:spcAft>
                <a:spcPts val="400"/>
              </a:spcAft>
            </a:pPr>
            <a:r>
              <a:rPr sz="1300" b="0">
                <a:solidFill>
                  <a:srgbClr val="1F2A3A"/>
                </a:solidFill>
                <a:latin typeface="맑은 고딕"/>
                <a:ea typeface="맑은 고딕"/>
                <a:cs typeface="맑은 고딕"/>
              </a:rPr>
              <a:t>고른 장치의 채널 중 한계가 있는 물리량만 남긴다.</a:t>
            </a:r>
          </a:p>
        </p:txBody>
      </p:sp>
      <p:sp>
        <p:nvSpPr>
          <p:cNvPr id="10" name="TextBox 9"/>
          <p:cNvSpPr txBox="1"/>
          <p:nvPr/>
        </p:nvSpPr>
        <p:spPr>
          <a:xfrm>
            <a:off x="7635240" y="4574243"/>
            <a:ext cx="4007815" cy="1165775"/>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괄호: 조건의 묶음</a:t>
            </a:r>
          </a:p>
          <a:p>
            <a:pPr algn="l" eaLnBrk="0">
              <a:lnSpc>
                <a:spcPct val="110000"/>
              </a:lnSpc>
              <a:spcAft>
                <a:spcPts val="400"/>
              </a:spcAft>
            </a:pPr>
            <a:r>
              <a:rPr sz="1400" b="0">
                <a:solidFill>
                  <a:srgbClr val="1F2A3A"/>
                </a:solidFill>
                <a:latin typeface="맑은 고딕"/>
                <a:ea typeface="맑은 고딕"/>
                <a:cs typeface="맑은 고딕"/>
              </a:rPr>
              <a:t>괄호가 없으면 AND가 OR보다 먼저 묶인다. 쿨러 쪽은 한계 값 조건을 거치지 않는다.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구성 요소별 집계와 ORDER BY 정렬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요소를 구별해 채널 수를 집계하면 원래의 다섯 행을 장치별 세 행으로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c.id AS componentId, c.name AS component,</a:t>
            </a:r>
          </a:p>
          <a:p>
            <a:pPr algn="l" eaLnBrk="0">
              <a:lnSpc>
                <a:spcPct val="110000"/>
              </a:lnSpc>
              <a:spcAft>
                <a:spcPts val="200"/>
              </a:spcAft>
            </a:pPr>
            <a:r>
              <a:rPr sz="1300" b="0">
                <a:solidFill>
                  <a:srgbClr val="E8EEF6"/>
                </a:solidFill>
                <a:latin typeface="Consolas"/>
                <a:ea typeface="맑은 고딕"/>
                <a:cs typeface="맑은 고딕"/>
              </a:rPr>
              <a:t>       count(DISTINCT s) AS channels</a:t>
            </a:r>
          </a:p>
          <a:p>
            <a:pPr algn="l" eaLnBrk="0">
              <a:lnSpc>
                <a:spcPct val="110000"/>
              </a:lnSpc>
              <a:spcAft>
                <a:spcPts val="200"/>
              </a:spcAft>
            </a:pPr>
            <a:r>
              <a:rPr sz="1300" b="0">
                <a:solidFill>
                  <a:srgbClr val="E8EEF6"/>
                </a:solidFill>
                <a:latin typeface="Consolas"/>
                <a:ea typeface="맑은 고딕"/>
                <a:cs typeface="맑은 고딕"/>
              </a:rPr>
              <a:t>ORDER BY channels DESC, componentId</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(componentId </a:t>
            </a:r>
            <a:r>
              <a:rPr sz="1300" b="0">
                <a:solidFill>
                  <a:srgbClr val="E8EEF6"/>
                </a:solidFill>
                <a:latin typeface="맑은 고딕"/>
                <a:ea typeface="맑은 고딕"/>
                <a:cs typeface="맑은 고딕"/>
              </a:rPr>
              <a:t>열은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channels</a:t>
            </a:r>
          </a:p>
          <a:p>
            <a:pPr algn="l" eaLnBrk="0">
              <a:lnSpc>
                <a:spcPct val="110000"/>
              </a:lnSpc>
              <a:spcAft>
                <a:spcPts val="200"/>
              </a:spcAft>
            </a:pP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2</a:t>
            </a:r>
          </a:p>
          <a:p>
            <a:pPr algn="l" eaLnBrk="0">
              <a:lnSpc>
                <a:spcPct val="110000"/>
              </a:lnSpc>
              <a:spcAft>
                <a:spcPts val="200"/>
              </a:spcAft>
            </a:pP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2</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묶는 기준</a:t>
            </a:r>
          </a:p>
          <a:p>
            <a:pPr algn="l" eaLnBrk="0">
              <a:lnSpc>
                <a:spcPct val="110000"/>
              </a:lnSpc>
              <a:spcAft>
                <a:spcPts val="400"/>
              </a:spcAft>
            </a:pPr>
            <a:r>
              <a:rPr sz="1400" b="0">
                <a:solidFill>
                  <a:srgbClr val="1F2A3A"/>
                </a:solidFill>
                <a:latin typeface="맑은 고딕"/>
                <a:ea typeface="맑은 고딕"/>
                <a:cs typeface="맑은 고딕"/>
              </a:rPr>
              <a:t>집계하지 않은 c.id와 c.name의 조합별로 센서를 센다. 같은 이름의 다른 장치도 id로 구별한다.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정렬(ORDER BY)</a:t>
            </a:r>
          </a:p>
          <a:p>
            <a:pPr algn="l" eaLnBrk="0">
              <a:lnSpc>
                <a:spcPct val="110000"/>
              </a:lnSpc>
              <a:spcAft>
                <a:spcPts val="400"/>
              </a:spcAft>
            </a:pPr>
            <a:r>
              <a:rPr sz="1400" b="0">
                <a:solidFill>
                  <a:srgbClr val="1F2A3A"/>
                </a:solidFill>
                <a:latin typeface="맑은 고딕"/>
                <a:ea typeface="맑은 고딕"/>
                <a:cs typeface="맑은 고딕"/>
              </a:rPr>
              <a:t>DESC는 큰 값부터 놓는 내림차순이다. 수가 같으면 componentId 오름차순으로 놓는다.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원래 행과 대조</a:t>
            </a:r>
          </a:p>
          <a:p>
            <a:pPr algn="l" eaLnBrk="0">
              <a:lnSpc>
                <a:spcPct val="110000"/>
              </a:lnSpc>
              <a:spcAft>
                <a:spcPts val="400"/>
              </a:spcAft>
            </a:pPr>
            <a:r>
              <a:rPr sz="1400" b="0">
                <a:solidFill>
                  <a:srgbClr val="1F2A3A"/>
                </a:solidFill>
                <a:latin typeface="맑은 고딕"/>
                <a:ea typeface="맑은 고딕"/>
                <a:cs typeface="맑은 고딕"/>
              </a:rPr>
              <a:t>쿨러: CE · TS1</a:t>
            </a:r>
          </a:p>
          <a:p>
            <a:pPr algn="l" eaLnBrk="0">
              <a:lnSpc>
                <a:spcPct val="110000"/>
              </a:lnSpc>
              <a:spcAft>
                <a:spcPts val="400"/>
              </a:spcAft>
            </a:pPr>
            <a:r>
              <a:rPr sz="1400" b="0">
                <a:solidFill>
                  <a:srgbClr val="1F2A3A"/>
                </a:solidFill>
                <a:latin typeface="맑은 고딕"/>
                <a:ea typeface="맑은 고딕"/>
                <a:cs typeface="맑은 고딕"/>
              </a:rPr>
              <a:t>주 펌프: FS1 · PS1</a:t>
            </a:r>
          </a:p>
          <a:p>
            <a:pPr algn="l" eaLnBrk="0">
              <a:lnSpc>
                <a:spcPct val="110000"/>
              </a:lnSpc>
              <a:spcAft>
                <a:spcPts val="400"/>
              </a:spcAft>
            </a:pPr>
            <a:r>
              <a:rPr sz="1400" b="0">
                <a:solidFill>
                  <a:srgbClr val="1F2A3A"/>
                </a:solidFill>
                <a:latin typeface="맑은 고딕"/>
                <a:ea typeface="맑은 고딕"/>
                <a:cs typeface="맑은 고딕"/>
              </a:rPr>
              <a:t>팬: VS1</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조회 범위</a:t>
            </a:r>
          </a:p>
          <a:p>
            <a:pPr algn="l" eaLnBrk="0">
              <a:lnSpc>
                <a:spcPct val="110000"/>
              </a:lnSpc>
              <a:spcAft>
                <a:spcPts val="400"/>
              </a:spcAft>
            </a:pPr>
            <a:r>
              <a:rPr sz="1400" b="0">
                <a:solidFill>
                  <a:srgbClr val="1F2A3A"/>
                </a:solidFill>
                <a:latin typeface="맑은 고딕"/>
                <a:ea typeface="맑은 고딕"/>
                <a:cs typeface="맑은 고딕"/>
              </a:rPr>
              <a:t>HYD-01에서 센서로 이어지는 구성 요소를 센다. 센서가 없는 구성 요소는 이 패턴에 나오지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역방향탐색.svg" descr="illust_108848113909537481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CREATE · MERGE · SET의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65477"/>
            <a:ext cx="6766560" cy="4651756"/>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7"/>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6547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28417"/>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54295"/>
            <a:ext cx="4007815" cy="116293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400" b="0">
                <a:solidFill>
                  <a:srgbClr val="1F2A3A"/>
                </a:solidFill>
                <a:latin typeface="맑은 고딕"/>
                <a:ea typeface="맑은 고딕"/>
                <a:cs typeface="맑은 고딕"/>
              </a:rPr>
              <a:t>같은 id를 조건으로 기존 센서를 찾는다. 이름과 태그 같은 값은 SET으로 넣는다.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MERGE의 검색 조건과 SET의 변경값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센서의 이름을 바꿀 때는 식별자로 찾고, 바뀔 이름은 SET으로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쿼리는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초기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각각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id: 'sen:ts1'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변경</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유일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제약으로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 전</a:t>
            </a:r>
          </a:p>
          <a:p>
            <a:pPr algn="l" eaLnBrk="0">
              <a:lnSpc>
                <a:spcPct val="110000"/>
              </a:lnSpc>
              <a:spcAft>
                <a:spcPts val="400"/>
              </a:spcAft>
            </a:pPr>
            <a:r>
              <a:rPr sz="1400" b="0">
                <a:solidFill>
                  <a:srgbClr val="1F2A3A"/>
                </a:solidFill>
                <a:latin typeface="맑은 고딕"/>
                <a:ea typeface="맑은 고딕"/>
                <a:cs typeface="맑은 고딕"/>
              </a:rPr>
              <a:t>같은 id의 센서가 있으며 이름은 「유온 센서」이다. Sensor.id 유일 제약이 걸려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찾기</a:t>
            </a:r>
          </a:p>
          <a:p>
            <a:pPr algn="l" eaLnBrk="0">
              <a:lnSpc>
                <a:spcPct val="110000"/>
              </a:lnSpc>
              <a:spcAft>
                <a:spcPts val="400"/>
              </a:spcAft>
            </a:pPr>
            <a:r>
              <a:rPr sz="1400" b="0">
                <a:solidFill>
                  <a:srgbClr val="1F2A3A"/>
                </a:solidFill>
                <a:latin typeface="맑은 고딕"/>
                <a:ea typeface="맑은 고딕"/>
                <a:cs typeface="맑은 고딕"/>
              </a:rPr>
              <a:t>id가 같은 노드를 찾고 SET으로 이름만 바꾼다. 센서 노드는 하나 그대로이다.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이름까지 검색 조건에 넣기</a:t>
            </a:r>
          </a:p>
          <a:p>
            <a:pPr algn="l" eaLnBrk="0">
              <a:lnSpc>
                <a:spcPct val="110000"/>
              </a:lnSpc>
              <a:spcAft>
                <a:spcPts val="400"/>
              </a:spcAft>
            </a:pPr>
            <a:r>
              <a:rPr sz="1400" b="0">
                <a:solidFill>
                  <a:srgbClr val="1F2A3A"/>
                </a:solidFill>
                <a:latin typeface="맑은 고딕"/>
                <a:ea typeface="맑은 고딕"/>
                <a:cs typeface="맑은 고딕"/>
              </a:rPr>
              <a:t>id와 새 이름이 모두 맞는 노드가 없다. 만들려다 id 유일 제약으로 거절된다.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반복 실행</a:t>
            </a:r>
          </a:p>
          <a:p>
            <a:pPr algn="l" eaLnBrk="0">
              <a:lnSpc>
                <a:spcPct val="110000"/>
              </a:lnSpc>
              <a:spcAft>
                <a:spcPts val="400"/>
              </a:spcAft>
            </a:pPr>
            <a:r>
              <a:rPr sz="1400" b="0">
                <a:solidFill>
                  <a:srgbClr val="1F2A3A"/>
                </a:solidFill>
                <a:latin typeface="맑은 고딕"/>
                <a:ea typeface="맑은 고딕"/>
                <a:cs typeface="맑은 고딕"/>
              </a:rPr>
              <a:t>첫 쿼리를 다시 실행해도 같은 노드를 찾는다. 대상의 동일성과 바뀌는 속성을 분리한다.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집계의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관계를 따라 찾은 원래 행과 구성 요소별 채널 수를 대조해 질의가 질문에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질문</a:t>
            </a:r>
          </a:p>
          <a:p>
            <a:pPr algn="l" eaLnBrk="0" marL="160020" indent="-160020">
              <a:lnSpc>
                <a:spcPct val="110000"/>
              </a:lnSpc>
              <a:spcAft>
                <a:spcPts val="400"/>
              </a:spcAft>
            </a:pPr>
            <a:r>
              <a:rPr sz="1400" b="0">
                <a:solidFill>
                  <a:srgbClr val="1F2A3A"/>
                </a:solidFill>
                <a:latin typeface="맑은 고딕"/>
                <a:ea typeface="맑은 고딕"/>
                <a:cs typeface="맑은 고딕"/>
              </a:rPr>
              <a:t>• 예제 그래프의 관계 · 방향을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설비의 구성 요소와 계측 채널을 찾는다</a:t>
            </a:r>
          </a:p>
        </p:txBody>
      </p:sp>
      <p:sp>
        <p:nvSpPr>
          <p:cNvPr id="10" name="Rounded Rectangle 9"/>
          <p:cNvSpPr/>
          <p:nvPr/>
        </p:nvSpPr>
        <p:spPr>
          <a:xfrm>
            <a:off x="777240" y="532104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대상</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filter" descr="filter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기본 조회</a:t>
            </a:r>
          </a:p>
          <a:p>
            <a:pPr algn="l" eaLnBrk="0" marL="160020" indent="-160020">
              <a:lnSpc>
                <a:spcPct val="110000"/>
              </a:lnSpc>
              <a:spcAft>
                <a:spcPts val="400"/>
              </a:spcAft>
            </a:pPr>
            <a:r>
              <a:rPr sz="1400" b="0">
                <a:solidFill>
                  <a:srgbClr val="1F2A3A"/>
                </a:solidFill>
                <a:latin typeface="맑은 고딕"/>
                <a:ea typeface="맑은 고딕"/>
                <a:cs typeface="맑은 고딕"/>
              </a:rPr>
              <a:t>• 한 단계 · 여러 단계 패턴과 조건을 쓴다</a:t>
            </a:r>
          </a:p>
          <a:p>
            <a:pPr algn="l" eaLnBrk="0" marL="160020" indent="-160020">
              <a:lnSpc>
                <a:spcPct val="110000"/>
              </a:lnSpc>
              <a:spcAft>
                <a:spcPts val="400"/>
              </a:spcAft>
            </a:pPr>
            <a:r>
              <a:rPr sz="1400" b="0">
                <a:solidFill>
                  <a:srgbClr val="1F2A3A"/>
                </a:solidFill>
                <a:latin typeface="맑은 고딕"/>
                <a:ea typeface="맑은 고딕"/>
                <a:cs typeface="맑은 고딕"/>
              </a:rPr>
              <a:t>• 속성값 표와 연결 그래프를 비교한다</a:t>
            </a:r>
          </a:p>
        </p:txBody>
      </p:sp>
      <p:sp>
        <p:nvSpPr>
          <p:cNvPr id="16" name="Rounded Rectangle 15"/>
          <p:cNvSpPr/>
          <p:nvPr/>
        </p:nvSpPr>
        <p:spPr>
          <a:xfrm>
            <a:off x="3619423" y="532104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결과</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대상별 집계</a:t>
            </a:r>
          </a:p>
          <a:p>
            <a:pPr algn="l" eaLnBrk="0" marL="160020" indent="-160020">
              <a:lnSpc>
                <a:spcPct val="110000"/>
              </a:lnSpc>
              <a:spcAft>
                <a:spcPts val="400"/>
              </a:spcAft>
            </a:pPr>
            <a:r>
              <a:rPr sz="1400" b="0">
                <a:solidFill>
                  <a:srgbClr val="1F2A3A"/>
                </a:solidFill>
                <a:latin typeface="맑은 고딕"/>
                <a:ea typeface="맑은 고딕"/>
                <a:cs typeface="맑은 고딕"/>
              </a:rPr>
              <a:t>• 구성 요소별 서로 다른 채널 수를 구해 정렬한다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행을 직접 묶어 계산한 수와 대조한다</a:t>
            </a:r>
          </a:p>
        </p:txBody>
      </p:sp>
      <p:sp>
        <p:nvSpPr>
          <p:cNvPr id="22" name="Rounded Rectangle 21"/>
          <p:cNvSpPr/>
          <p:nvPr/>
        </p:nvSpPr>
        <p:spPr>
          <a:xfrm>
            <a:off x="6461607" y="5321046"/>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집계 질의 · 대조표</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질문에 맞는 대상 · 반환 형태를 얻는다</a:t>
            </a:r>
          </a:p>
          <a:p>
            <a:pPr algn="l" eaLnBrk="0" marL="160020" indent="-160020">
              <a:lnSpc>
                <a:spcPct val="110000"/>
              </a:lnSpc>
              <a:spcAft>
                <a:spcPts val="400"/>
              </a:spcAft>
            </a:pPr>
            <a:r>
              <a:rPr sz="1400" b="0">
                <a:solidFill>
                  <a:srgbClr val="1F2A3A"/>
                </a:solidFill>
                <a:latin typeface="맑은 고딕"/>
                <a:ea typeface="맑은 고딕"/>
                <a:cs typeface="맑은 고딕"/>
              </a:rPr>
              <a:t>• 원래 행과 집계 수가 일치한다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질의 · 결과 · 조회한 그래프를 기록한다</a:t>
            </a:r>
          </a:p>
        </p:txBody>
      </p:sp>
      <p:sp>
        <p:nvSpPr>
          <p:cNvPr id="28" name="Rounded Rectangle 27"/>
          <p:cNvSpPr/>
          <p:nvPr/>
        </p:nvSpPr>
        <p:spPr>
          <a:xfrm>
            <a:off x="9303791" y="5321046"/>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확인</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탐색</a:t>
            </a:r>
          </a:p>
          <a:p>
            <a:pPr algn="l" eaLnBrk="0">
              <a:lnSpc>
                <a:spcPct val="110000"/>
              </a:lnSpc>
              <a:spcAft>
                <a:spcPts val="400"/>
              </a:spcAft>
            </a:pPr>
            <a:r>
              <a:rPr sz="16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항목 읽기</a:t>
            </a:r>
          </a:p>
          <a:p>
            <a:pPr algn="l" eaLnBrk="0" marL="182880" indent="-182880">
              <a:lnSpc>
                <a:spcPct val="110000"/>
              </a:lnSpc>
              <a:spcAft>
                <a:spcPts val="400"/>
              </a:spcAft>
            </a:pPr>
            <a:r>
              <a:rPr sz="1600" b="0">
                <a:solidFill>
                  <a:srgbClr val="1F2A3A"/>
                </a:solidFill>
                <a:latin typeface="맑은 고딕"/>
                <a:ea typeface="맑은 고딕"/>
                <a:cs typeface="맑은 고딕"/>
              </a:rPr>
              <a:t>• 항목의 클래스와 속성을 확인한다</a:t>
            </a:r>
          </a:p>
          <a:p>
            <a:pPr algn="l" eaLnBrk="0" marL="182880" indent="-182880">
              <a:lnSpc>
                <a:spcPct val="110000"/>
              </a:lnSpc>
              <a:spcAft>
                <a:spcPts val="400"/>
              </a:spcAft>
            </a:pPr>
            <a:r>
              <a:rPr sz="1600" b="0">
                <a:solidFill>
                  <a:srgbClr val="1F2A3A"/>
                </a:solidFill>
                <a:latin typeface="맑은 고딕"/>
                <a:ea typeface="맑은 고딕"/>
                <a:cs typeface="맑은 고딕"/>
              </a:rPr>
              <a:t>• 나가는 관계와 들어오는 관계를 구분한다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 기록의 탐색 경로를 재현한다</a:t>
            </a:r>
          </a:p>
        </p:txBody>
      </p:sp>
      <p:sp>
        <p:nvSpPr>
          <p:cNvPr id="16" name="Rounded Rectangle 15"/>
          <p:cNvSpPr/>
          <p:nvPr/>
        </p:nvSpPr>
        <p:spPr>
          <a:xfrm>
            <a:off x="4566818" y="5429504"/>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두 그래프의 구분</a:t>
            </a:r>
          </a:p>
          <a:p>
            <a:pPr algn="l" eaLnBrk="0" marL="182880" indent="-182880">
              <a:lnSpc>
                <a:spcPct val="110000"/>
              </a:lnSpc>
              <a:spcAft>
                <a:spcPts val="400"/>
              </a:spcAft>
            </a:pPr>
            <a:r>
              <a:rPr sz="1600" b="0">
                <a:solidFill>
                  <a:srgbClr val="1F2A3A"/>
                </a:solidFill>
                <a:latin typeface="맑은 고딕"/>
                <a:ea typeface="맑은 고딕"/>
                <a:cs typeface="맑은 고딕"/>
              </a:rPr>
              <a:t>• 지식 지도는 HYD의 기준 지식을 보인다</a:t>
            </a:r>
          </a:p>
          <a:p>
            <a:pPr algn="l" eaLnBrk="0" marL="182880" indent="-182880">
              <a:lnSpc>
                <a:spcPct val="110000"/>
              </a:lnSpc>
              <a:spcAft>
                <a:spcPts val="400"/>
              </a:spcAft>
            </a:pPr>
            <a:r>
              <a:rPr sz="16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42950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39851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a:p>
            <a:pPr algn="l" eaLnBrk="0" marL="205740" indent="-205740">
              <a:lnSpc>
                <a:spcPct val="110000"/>
              </a:lnSpc>
              <a:spcAft>
                <a:spcPts val="400"/>
              </a:spcAft>
            </a:pPr>
            <a:r>
              <a:rPr sz="1800" b="0">
                <a:solidFill>
                  <a:srgbClr val="1F2A3A"/>
                </a:solidFill>
                <a:latin typeface="맑은 고딕"/>
                <a:ea typeface="맑은 고딕"/>
                <a:cs typeface="맑은 고딕"/>
              </a:rPr>
              <a:t>• 완성 파일의 정의와 검사 결과를 대조한다</a:t>
            </a:r>
          </a:p>
        </p:txBody>
      </p:sp>
      <p:sp>
        <p:nvSpPr>
          <p:cNvPr id="22" name="Rounded Rectangle 21"/>
          <p:cNvSpPr/>
          <p:nvPr/>
        </p:nvSpPr>
        <p:spPr>
          <a:xfrm>
            <a:off x="8356396" y="539851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의미 검증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관계가 스키마에 맞아도 실제 대상이 다를 수 있으므로 원자료와 조회 결과를 함께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구현 결과</a:t>
            </a:r>
          </a:p>
          <a:p>
            <a:pPr algn="l" eaLnBrk="0" marL="182880" indent="-182880">
              <a:lnSpc>
                <a:spcPct val="110000"/>
              </a:lnSpc>
              <a:spcAft>
                <a:spcPts val="400"/>
              </a:spcAft>
            </a:pPr>
            <a:r>
              <a:rPr sz="1600" b="0">
                <a:solidFill>
                  <a:srgbClr val="1F2A3A"/>
                </a:solidFill>
                <a:latin typeface="맑은 고딕"/>
                <a:ea typeface="맑은 고딕"/>
                <a:cs typeface="맑은 고딕"/>
              </a:rPr>
              <a:t>• 설계한 스키마와 인스턴스를 Cypher로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생성 질의 · 저장된 그래프를 남긴다</a:t>
            </a:r>
          </a:p>
        </p:txBody>
      </p:sp>
      <p:sp>
        <p:nvSpPr>
          <p:cNvPr id="10" name="Rounded Rectangle 9"/>
          <p:cNvSpPr/>
          <p:nvPr/>
        </p:nvSpPr>
        <p:spPr>
          <a:xfrm>
            <a:off x="777240" y="5429504"/>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설계에서 저장으로</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검토 사례</a:t>
            </a:r>
          </a:p>
          <a:p>
            <a:pPr algn="l" eaLnBrk="0" marL="171450" indent="-171450">
              <a:lnSpc>
                <a:spcPct val="110000"/>
              </a:lnSpc>
              <a:spcAft>
                <a:spcPts val="400"/>
              </a:spcAft>
            </a:pPr>
            <a:r>
              <a:rPr sz="1500" b="0">
                <a:solidFill>
                  <a:srgbClr val="1F2A3A"/>
                </a:solidFill>
                <a:latin typeface="맑은 고딕"/>
                <a:ea typeface="맑은 고딕"/>
                <a:cs typeface="맑은 고딕"/>
              </a:rPr>
              <a:t>• 원자료: 유온 센서 → 유온</a:t>
            </a:r>
          </a:p>
          <a:p>
            <a:pPr algn="l" eaLnBrk="0" marL="171450" indent="-171450">
              <a:lnSpc>
                <a:spcPct val="110000"/>
              </a:lnSpc>
              <a:spcAft>
                <a:spcPts val="400"/>
              </a:spcAft>
            </a:pPr>
            <a:r>
              <a:rPr sz="1500" b="0">
                <a:solidFill>
                  <a:srgbClr val="1F2A3A"/>
                </a:solidFill>
                <a:latin typeface="맑은 고딕"/>
                <a:ea typeface="맑은 고딕"/>
                <a:cs typeface="맑은 고딕"/>
              </a:rPr>
              <a:t>• 오류 사본: 유온 센서 → 팬 진동</a:t>
            </a:r>
          </a:p>
          <a:p>
            <a:pPr algn="l" eaLnBrk="0" marL="171450" indent="-171450">
              <a:lnSpc>
                <a:spcPct val="110000"/>
              </a:lnSpc>
              <a:spcAft>
                <a:spcPts val="400"/>
              </a:spcAft>
            </a:pPr>
            <a:r>
              <a:rPr sz="1500" b="0">
                <a:solidFill>
                  <a:srgbClr val="1F2A3A"/>
                </a:solidFill>
                <a:latin typeface="맑은 고딕"/>
                <a:ea typeface="맑은 고딕"/>
                <a:cs typeface="맑은 고딕"/>
              </a:rPr>
              <a:t>• Sensor → StateVariable 조건은 둘 다 맞는다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의미가 틀린 연결</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잘못 고른 끝점을 찾아 수정한다</a:t>
            </a:r>
          </a:p>
          <a:p>
            <a:pPr algn="l" eaLnBrk="0" marL="182880" indent="-182880">
              <a:lnSpc>
                <a:spcPct val="110000"/>
              </a:lnSpc>
              <a:spcAft>
                <a:spcPts val="400"/>
              </a:spcAft>
            </a:pPr>
            <a:r>
              <a:rPr sz="1600" b="0">
                <a:solidFill>
                  <a:srgbClr val="1F2A3A"/>
                </a:solidFill>
                <a:latin typeface="맑은 고딕"/>
                <a:ea typeface="맑은 고딕"/>
                <a:cs typeface="맑은 고딕"/>
              </a:rPr>
              <a:t>• 다시 조회한 대상이 원자료와 일치한다</a:t>
            </a:r>
          </a:p>
          <a:p>
            <a:pPr algn="l" eaLnBrk="0" marL="182880" indent="-182880">
              <a:lnSpc>
                <a:spcPct val="110000"/>
              </a:lnSpc>
              <a:spcAft>
                <a:spcPts val="400"/>
              </a:spcAft>
            </a:pPr>
            <a:r>
              <a:rPr sz="1600" b="0">
                <a:solidFill>
                  <a:srgbClr val="1F2A3A"/>
                </a:solidFill>
                <a:latin typeface="맑은 고딕"/>
                <a:ea typeface="맑은 고딕"/>
                <a:cs typeface="맑은 고딕"/>
              </a:rPr>
              <a:t>• 중복 · 끝점 검사와 수정 기록을 남긴다</a:t>
            </a:r>
          </a:p>
        </p:txBody>
      </p:sp>
      <p:sp>
        <p:nvSpPr>
          <p:cNvPr id="22" name="Rounded Rectangle 21"/>
          <p:cNvSpPr/>
          <p:nvPr/>
        </p:nvSpPr>
        <p:spPr>
          <a:xfrm>
            <a:off x="8356396" y="5429504"/>
            <a:ext cx="17221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 실행 · 대조</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설계에서 조회까지: 같은 정보를 이어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설계에서 정한 대상과 관계는 그래프에 저장되고, 쿼리는 그 구조에서 질문의 답을 꺼낸다.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설계에서의 자리</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저장 · 조회에서의 자리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센서의 이름 · 태그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인스턴스의 속성값</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노드의 name · tag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센서 → 유온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Sensor → StateVariable</a:t>
            </a:r>
          </a:p>
          <a:p>
            <a:pPr algn="l" eaLnBrk="0">
              <a:lnSpc>
                <a:spcPct val="110000"/>
              </a:lnSpc>
            </a:pPr>
            <a:r>
              <a:rPr sz="1400" b="0">
                <a:solidFill>
                  <a:srgbClr val="1F2A3A"/>
                </a:solidFill>
                <a:latin typeface="맑은 고딕"/>
                <a:ea typeface="맑은 고딕"/>
                <a:cs typeface="맑은 고딕"/>
              </a:rPr>
              <a:t>OBSERVES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노드 사이의 방향 있는 관계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유온의 한계</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StateVariable의 limit 속성</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연결된 노드에서 읽는 값</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쿨러를 계측하는 센서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Component → Sensor</a:t>
            </a:r>
          </a:p>
          <a:p>
            <a:pPr algn="l" eaLnBrk="0">
              <a:lnSpc>
                <a:spcPct val="110000"/>
              </a:lnSpc>
            </a:pPr>
            <a:r>
              <a:rPr sz="1400" b="0">
                <a:solidFill>
                  <a:srgbClr val="1F2A3A"/>
                </a:solidFill>
                <a:latin typeface="맑은 고딕"/>
                <a:ea typeface="맑은 고딕"/>
                <a:cs typeface="맑은 고딕"/>
              </a:rPr>
              <a:t>MONITORED_BY</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MATCH로 연결을 찾고 RETURN으로 받는 답</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조회 결과 두 행</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하나 · 서로 다른 계측 채널 둘</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count(*) = 2</a:t>
            </a:r>
          </a:p>
          <a:p>
            <a:pPr algn="l" eaLnBrk="0">
              <a:lnSpc>
                <a:spcPct val="110000"/>
              </a:lnSpc>
            </a:pPr>
            <a:r>
              <a:rPr sz="1250" b="1">
                <a:solidFill>
                  <a:srgbClr val="556175"/>
                </a:solidFill>
                <a:latin typeface="맑은 고딕"/>
                <a:ea typeface="맑은 고딕"/>
                <a:cs typeface="맑은 고딕"/>
              </a:rPr>
              <a:t>count(DISTINCT c) =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대상의 특성을 이름과 값으로 적은 것</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고유한 이름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