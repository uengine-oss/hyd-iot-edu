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쿨러 사건에 나온 대상을 클래스와 인스턴스, 속성값과 관계로 나누어 봅니다. 이어서 그 구분을 스키마라는 한 벌의 정의로 적고, 식별자와 제약으로 데이터를 일관되게 지키는 법을 다룹니다. 그런 다음 정의한 지식을 그래프 DB에 저장하고 관계를 따라 조회하고 만드는 방법을 익힙니다. 마지막으로 설비 자료에서 직접 설계한 지식을 그래프에 넣고, 조회 결과가 설계와 맞는지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경보가 난 설비는 HYD-01이었고, 같은 기종의 HYD-02와 HYD-03도 공장에 있습니다. 온톨로지가 정의하는 대상의 종류가 클래스이고, 그 유형에 속해 하나하나 구별되는 대상이 인스턴스입니다. 설비라는 유형은 Asset이라는 클래스 이름으로, HYD-01이라는 대상은 asset:hyd-01이라는 인스턴스의 식별자로 적습니다. 「HYD-01은 설비의 하나이다」처럼 읽히면 앞이 인스턴스, 뒤가 클래스입니다. 이렇게 나누어 두어야 설비 한 대에 대해 적은 지식을 같은 클래스의 다른 설비에도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「TS1」이라는 말은 센서를 가리키기도 하고 태그 값을 가리키기도 했습니다. 왼쪽부터 읽으면 Sensor는 계측 채널이라는 유형의 이름이고, sen:ts1은 그 유형에 속하는 유온 센서 하나이며, TS1은 그 인스턴스의 tag 칸에 들어 있는 값입니다. 같은 Sensor 클래스에는 냉각 효율 CE, 토출 압력 PS1, 유량 FS1, 팬 진동 VS1의 인스턴스도 속합니다. 세 층을 나누어 적어야 TS1이라는 값을 찾는 일과 유온 센서라는 대상을 찾는 일이 섞이지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설비 쪽 대표 대상을 다섯 클래스로 나누어 봅니다. 유온 센서와 유온은 이름이 비슷하지만, 센서는 재는 쪽이고 유온은 재어지는 물리량이어서 정상값 48과 한계 65는 센서가 아니라 상태 변수에 붙습니다. 일상에서는 쿨러도 부품이라고 부르지만, 설비를 이루는 장치는 구성 요소이고 그 안에서 갈아 끼우는 교체품만 부품입니다. 오일 쿨러에는 쿨러 코어가, 쿨러 팬에는 팬 베어링이, 주 펌프에는 펌프 축 씰 키트가, 작동유 탱크에는 리턴 필터 엘리먼트가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클래스는 손에 잡히는 물건에만 쓰는 것이 아닙니다. 쿨러 사건에서 따라간 유온 상승, 쿨러 냉각 성능 상실, 쿨러 핀 오염도 각각 증상, 고장 유형, 원인 클래스의 인스턴스입니다. 이 대상들이 인스턴스로 있어야 증상이 고장 유형을 가리키고 원인이 고장 유형을 일으킨다는 관계를 적을 수 있습니다. 센서도 마찬가지여서, 냉각 효율의 수치 자체가 센서 인스턴스인 것은 아닙니다. 그 수치를 계산해 내놓는 채널 sen:ce가 Sensor의 인스턴스이고, 그 채널이 읽는 물리량은 상태 변수 sv:ce로 구별합니다.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온톨로지에서 속성은 대상이 갖는 값을 담는 항목이고, 그 항목의 칸을 정하는 것이 클래스입니다. 왼쪽의 Sensor 클래스는 식별자 id, 이름 name, 태그 tag, 단위 unit, 계산으로 만든 채널인지를 나타내는 virtual의 다섯 칸을 정합니다. 가운데 유온 센서와 오른쪽 냉각 효율은 칸이 같고 값만 다르며, 앞에서 값이라고 가른 TS1이 tag 칸의 값입니다. 냉각 효율은 계산으로 만든 채널이어서 virtual이 true입니다.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인스턴스에 무엇인가를 붙이는 방법은 둘입니다. 태그나 단위처럼 값 하나로 끝나면 데이터 속성이고, 더 따라갈 곳이 없으므로 단위나 한계를 노드로 만들 까닭이 없습니다. 유온은 정상값과 한계라는 자기 속성을 가지므로 글자 값이 아니라 인스턴스로 두고, 유온 센서와는 읽는다는 뜻의 OBSERVES로 잇습니다. 팬 인버터는 팬 속도를 바꾸고(MANIPULATES), 팬 속도는 유온에 영향을 주므로(INFLUENCES), 쿨러 사건에서 팬을 올리자 유온이 내려간 일이 이 관계를 따라 설명됩니다.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먼저 유형을 정합니다. 설비에서 출발해 읽으면 HAS_COMPONENT는 Asset에서 Component로, MONITORED_BY는 Component에서 Sensor로, OBSERVES는 Sensor에서 StateVariable로 향하며, 화살표가 시작하는 쪽이 시작 클래스, 닿는 쪽이 끝 클래스입니다. 실제 데이터에서는 HYD-01이 오일 쿨러를 구성 요소로 갖고, 오일 쿨러는 유온 센서로 계측되며, 유온 센서는 유온을 읽습니다. 그 연결 하나하나가 이 그래프에 정의된 관계 유형을 따릅니다.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구성 요소 하나를 가운데 두고, 그에 붙는 관계 가운데 넷만 골라 그린 부분도입니다. 왼쪽의 두 화살표는 구성 요소로 들어오는 관계이며, 고장 유형 중심 지도에서 고장 유형이 구성 요소에서 일어난다고 읽은 것이 OCCURS_IN입니다. 오른쪽의 두 화살표는 구성 요소에서 나가는 관계로, 오일 쿨러는 유온 센서와 냉각 효율로 계측되고 쿨러 코어를 부품으로 씁니다. 이렇게 쿨러 사건의 대상은 클래스와 인스턴스, 속성값, 관계로 나뉘어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유형을 정의할 때 함께 정하는 것이 카디널리티이며, 하나를 1로, 여럿을 N이나 M으로 적고 왼쪽이 시작 클래스, 오른쪽이 끝 클래스 쪽입니다. 이 선언에서는 구동기 하나가 상태 변수 하나를 바꾸고 그 상태 변수에도 구동기 하나만 대응하므로 팬 인버터와 팬 속도는 일대일이고, 조치 방법 하나에는 단계가 여럿 있어 팬 최대 운전의 단계 셋이 일대다로 이어집니다. 역할 여럿이 부서 하나에 속하므로 운전원과 생산관리자는 다대일로 생산팀에 이어집니다. 부품 하나를 여러 공급사가 공급하고 공급사 하나가 여러 부품을 공급하므로 SUPPLIED_BY는 다대다이며, 고장 유형 하나에 원인이 여럿 붙고 원인 하나가 여러 고장 유형을 일으킬 수 있는 CAUSES도 다대다입니다.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카디널리티를 정해 두면 넣은 데이터가 정의에 맞는지 따져 볼 기준이 생깁니다. 왼쪽은 일대일로 정한 MANIPULATES에 상태 변수 둘을 이은 가정이며, 잘못 넣은 데이터일 가능성이 높아 다시 확인합니다. 오른쪽은 실제 데이터로, 구성 요소 노드를 같은 기종의 세 설비가 함께 가리키므로 일대다라는 선언과 다르게 쓰입니다. 선언을 적었다고 저장할 때 자동으로 막히는 것은 아니므로, 선언과 데이터는 조회해서 대조해야 합니다. 공유 노드는 물리적인 쿨러 한 대를 세 설비가 함께 쓴다는 뜻이 아니라 같은 기종의 구성 지식을 나타냅니다. 설비별 개별 쿨러의 이력을 묻는다면 현재 공유 노드만으로는 구별할 수 없으므로 대상의 범위부터 재검토해야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펌프 축 씰 키트인데 단가와 납기가 공급사마다 다릅니다. 단가를 부품의 속성으로 두면 공급사가 셋이라 값을 하나로 정할 수 없고, 공급사의 속성으로 두면 그 공급사가 공급하는 다른 부품의 값과 섞입니다. 그래서 값은 부품과 공급사를 잇는 SUPPLIED_BY 관계에 속성으로 붙이며, 위쪽 정의가 그 칸을, 아래쪽 세 줄이 실제 값을 보여 줍니다. A정밀과 B-OEM은 각각 펌프 축 씰 키트·팬 베어링·쿨러 코어를 공급하고, C트레이딩은 이 가운데 펌프 축 씰 키트만 공급해 관계가 일곱입니다. 위쪽 정의에서 price와 failRate는 수이며 필수이고, leadDays는 수이며 선택입니다. 카디널리티가 연결의 수를 정했다면 관계의 속성은 연결 하나하나에 값을 붙입니다. 불량률도 부품과 공급사의 짝에 붙습니다. 펌프 축 씰 키트의 값 0.12, 0.02, 0.30은 각각 12 %, 2 %, 30 %이며, 공급사 일반의 고정 불량률로 읽지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클래스끼리도 위아래가 있을 수 있습니다. 업무 흐름의 한 지점을 뜻하는 흐름 노드가 id와 name을 정하면, 그 아래의 이벤트, 작업, 게이트웨이는 이 속성을 따로 적지 않아도 모두 갖고, 작업은 여기에 작업의 종류 taskType을 더합니다. 하위 클래스의 인스턴스는 상위 클래스의 인스턴스이기도 해서, 「규정 검토」 작업은 Task와 FlowNode의 레이블을 함께 답니다. 설비 쪽 클래스에는 이런 계층이 없으며, 오일 쿨러는 구성 요소 클래스의 하위 클래스가 아니라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센서와 구동기는 둘 다 설비에 달린 장치이지만 하는 일이 반대입니다. 센서는 값을 읽고, 구동기는 PLC가 값을 써서 움직이는 장치여서 쓰기 자원 resource와 범위 min · max를 가지며 상태 변수를 바꿉니다. 속성도 관계도 다르므로 두 클래스로 나눕니다. 반대로 유온 센서와 토출 압력 센서는 재는 대상만 다를 뿐 속성과 관계가 같으므로, 센서마다 클래스를 만들면 센서가 늘 때마다 클래스가 늘고 센서 전체를 한 번에 찾기 어려워집니다. 팬 인버터의 min 0과 max 100은 쓰는 설정값의 범위입니다. 유온의 normal 48과 limit 65는 재어지는 물리량의 기준이므로 같은 숫자 칸으로 섞지 않습니다. 반면 센서끼리 단위가 다른 것은 같은 unit 칸의 값이 다른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판단을 네 가지 선택으로 모았습니다. 부품 번호는 쿨러 코어 하나에 딸린 값이고, 승인 공급사인지를 뜻하는 avl도 공급사 하나에 딸린 참 · 거짓 값이라 속성입니다. 쿨러 코어는 부품 번호를 갖고 공급사와도 이어지는 대상이므로, 오일 쿨러에 글자로 적지 않고 인스턴스로 두어 USES_PART로 잇습니다. 정보가 어느 하나에 딸렸는지, 다른 대상인지, 두 대상의 짝에 딸렸는지를 차례로 따지면 자리가 정해집니다.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정해 둔 약속 없이 여러 사람이 데이터를 넣으면, 같은 장치가 다른 이름으로, 같은 관계가 다른 이름과 방향으로, 같은 값이 다른 형식으로 들어가는 의미 불일치가 생깁니다. 이를 막으려고 무엇이 있을 수 있는지를 먼저 정의한 것이 스키마이며, 온톨로지가 정의하는 종류 · 속성 · 관계 · 제약을 실제로 적어 둔 것입니다. 양식이 칸을 정하고 작성된 문서가 칸을 채우는 것과 닮았지만, 스키마는 어떤 대상끼리 이어질 수 있는지까지 정한다는 점이 다릅니다. Sensor라는 클래스와 tag라는 속성까지가 스키마이고, 유온 센서라는 대상은 인스턴스 데이터에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사람이 같은 장치를 오일 쿨러, 쿨러, 열교환기라고 따로 넣으면 노드가 셋으로 흩어지고, 쿨러에 달린 센서를 찾을 때 그중 하나에 붙은 것만 나옵니다. 그래서 대상은 고유한 식별자 하나로 가리키고, 사람이 읽는 이름은 name에, 다른 이름은 aliases 목록에 둡니다. 유온 센서라는 이름을 고쳐도 sen:ts1은 그대로여서 이 센서로 이어진 관계도 그대로 남습니다. 질문에 「작동유 온도」라고 쓰여 있어도 별칭을 대조해 sv:ts1 유온 하나에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그래프의 오일 쿨러와 유온 센서 노드는 같은 기종의 세 설비가 함께 가리키므로, HYD-01의 유온과 HYD-02의 유온은 그래프의 노드로는 구별되지 않습니다. 계측값은 시계열 저장소의 tag_1s 표에 설비 코드(asset 열)와 태그(name 열)를 붙여 쌓이고, 쿨러 성능 저하 경보가 난 11시 13분 8초의 유온 55.71 ℃도 설비 코드 HYD-01, 태그 TS1과 해당 시각을 함께 지정해 찾습니다. 정비나 생산 같은 업무 데이터를 담은 DB도 설비를 같은 코드로 적습니다. 스키마를 설계할 때 다른 시스템이 이미 쓰는 식별자를 속성으로 받아 두는 것은 이 때문이며, 값이 한 글자라도 다르면 이어지지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스키마에 클래스 하나가 어떻게 적히는지 센서 클래스로 봅니다. 먼저 영문 이름 Sensor가 이 클래스를 가리키는 하나뿐인 이름이고, 센서는 사람이 읽는 한글 이름입니다. 다음으로 의미 문장은 범위를 정하는데, 센서라는 낱말만 있으면 계기만 뜻하는지 계산한 값도 포함하는지를 사람마다 다르게 읽으므로 계측 채널이라고 적어 둡니다. 마지막 칸이 속성 목록이며, 앞에서 본 다섯 칸이 속성명, 자료형, 필수 여부의 순서로 한 줄씩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자료형은 그 값으로 무엇을 할 수 있는지를 정합니다. 한계가 수로 정해져 있어야 잰 값이 한계를 넘었는지 비교할 수 있고, 한 곳에 「130 bar」처럼 단위까지 붙인 글자로 넣으면 같은 비교를 바로 할 수 없습니다. 상태 변수의 kind는 열거형이어서 팬 속도 같은 조작 변수, 유온 같은 결과 변수, 쿨러 핀 오염도 같은 교란 변수 가운데 하나만 받으며, 그래서 조작할 수 있는 변수만 고를 수 있습니다. 이 밖에 정수와 날짜 · 시각을 뜻하는 자료형도 스키마에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변수의 단위와 종류는 필수여서 여섯 행 모두에 있습니다. 단위 없는 물리량은 해석할 수 없고, 종류가 없으면 조작할 변수인지 결과로 나타나는 변수인지를 가릴 수 없기 때문입니다. 정상값과 한계는 선택 속성이라 냉각 효율, 유량, 펌프 부하에는 한계가 없으며, 이 「없음」은 0이 아니라 정해진 한계가 없다는 뜻입니다. 센서의 tag처럼 필수 속성이 빠진 인스턴스는 그 속성으로 하던 일, 곧 계측값을 찾는 일을 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스키마에 정의하며, OBSERVES는 Sensor에서 시작해 StateVariable에서 끝나는 다대일 관계라고 적혀 있습니다. 아래 네 줄을 유온 센서, 유온, HYD-01로 읽으면 첫 줄만 유효합니다. 둘째 줄은 끝이 설비라서, 셋째 줄은 시작과 끝이 바뀌어서, 넷째 줄은 스키마에 없는 이름이라서 정의에 어긋납니다. 사람이 의도를 짐작할 수 있어도 이름과 방향을 바꾸면 정의에 맞는 연결이 아닙니다. 정의된 이름과 방향으로 조회하면 어긋난 연결은 찾아지지 않습니다. 유온 센서를 팬 진동 상태 변수에 잇는 마지막 가정은 양 끝 클래스 조건에는 맞지만 실제 계측 대상과 다릅니다. 종류가 맞는지 검사하는 것과 실제 대응 자료를 확인하는 것은 별개입니다.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온톨로지의 정의에서 관계 그림과 온톨로지를 가르는 것이 제약이었고, 이 단원에서 본 정의가 모두 제약으로 모입니다. 필수 속성, 자료형과 허용값, 고유한 식별자, 연결 조건은 각각 빠진 값, 형식이 다른 값, 중복된 대상, 어긋난 연결을 찾아낼 기준입니다. 정의 없이 넣으면 설비와 구성 요소의 같은 사실이 HAS_PART, BELONGS_TO, CONTAINS처럼 여러 이름으로 들어가는데, 연결 조건이 있으면 정의에 없는 이름을 가려낼 수 있습니다. 기준을 정하는 것과 그 기준으로 데이터를 검사하는 일은 별개이며, 검사는 저장된 데이터를 읽어 이 기준과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설계의 출발점은 클래스가 아니라 이 지식으로 답할 질문입니다. 질문을 정하면 넣을 것과 넣지 않을 것이 갈리며, 설비의 색이나 제조 연도는 이 세 질문에 쓰이지 않으므로 넣지 않습니다. 질문에 나오는 낱말을 클래스와 예시 인스턴스로 가르고, 한계처럼 비교할 값은 수로 정하며, 질문이 건너가는 길을 관계로 놓습니다. 이 세 질문은 설계를 끝낸 뒤 모델이 제 구실을 하는지 확인하는 기준이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클래스의 속성을 중괄호 안에 나열했고, 느낌표가 붙은 것이 필수 속성입니다. 모든 클래스에 식별자와 이름을 두고, 설비에는 설비 코드, 센서에는 태그와 단위, 상태 변수에는 단위와 종류와 한계, 부품에는 부품 번호를 더했습니다. 아래 네 줄은 질문이 건너가는 길이며, 첫 질문은 HAS_COMPONENT와 MONITORED_BY를, 둘째 질문은 OBSERVES를, 셋째 질문은 USES_PART를 지납니다. 오일 쿨러는 유온 센서와 냉각 효율로 계측되고 한 센서가 여러 구성 요소를 잴 수도 있으므로 MONITORED_BY는 다대다입니다.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장의 정의를 그래프로 놓았습니다. 설비에서 출발해 구성 요소, 센서, 상태 변수로 가는 위쪽 길이 첫째와 둘째 질문의 길이고, 구성 요소에서 부품으로 내려가는 길이 셋째 질문의 길입니다. 세 질문이 모두 지나는 Component에 관계가 모이므로 가운데 진한 원으로 그렸고, 상태 변수는 구성 요소에 직접 붙지 않아 바깥 색으로 두었습니다. 이 그림에는 HYD-01도 오일 쿨러도 없고, 어떤 유형이 어떻게 이어질 수 있는가만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정의에 맞춰 예시 인스턴스를 넣고 관계를 따라가면, 설비에서 유온 센서와 유온의 한계 65까지, 오일 쿨러에서 쿨러 코어까지 처음 질문의 답이 나옵니다. 답이 나오지 않으면 정의의 누락, 데이터의 누락, 질의의 오류를 나누어 확인합니다. 반면 쿨러 코어를 공급하는 곳은 지금 정의로는 답할 수 없으므로 공급사 클래스와 SUPPLIED_BY 관계를 더하고, 이미 정한 다섯 클래스는 그대로 둡니다. 스키마를 고치면 그 클래스의 모든 인스턴스가 영향을 받으므로 스키마는 처음에 신중하게 정하고 드물게 넓힙니다. Sensor.unit을 선택에서 필수로 바꾸는 것은 가정입니다. 이 경우 기존에 unit이 없던 센서도 새 정의에서는 누락으로 판정되므로, 실제 단위를 확인해 기존 데이터를 보완해야 합니다. 새 클래스 추가와 기존 조건 변경은 영향 범위가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설계한 것은 HYD 온톨로지의 설비 묶음 가운데 일부입니다. 쿨러 사건에서 따라간 증상, 고장 유형, 원인, 증거는 진단 묶음의 클래스입니다. 판단 묶음과 성과 묶음의 클래스도 이름과 의미, 속성, 관계, 제약을 같은 방식으로 정의해 두었습니다. 설계는 언제나 답할 질문에서 출발하며, 새 질문이 생기면 이 묶음 안에서 필요한 클래스를 더합니다.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표로 된 데이터베이스가 관계형 DB이며, 쿨러 코어를 공급하는 곳을 알려면 부품 테이블과 공급사 테이블에서 part_no 값이 같은 행을 찾아 맞추어야 합니다. 같은 사실이 그래프 DB에는 쿨러 코어 노드에서 두 공급사 노드로 가는 관계로 이미 저장되어 있어, 그 관계를 따라가기만 하면 됩니다. 매초 쌓이는 같은 모양의 계측값은 관계형 DB에, 뜻과 연결은 그래프 DB에 두고 공통 식별자로 둘을 잇습니다. 어느 쪽이 늘 더 낫다는 뜻이 아니라, 하는 일이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DB에서는 인스턴스 하나가 노드 하나가 되고, 노드에 붙는 이름표인 레이블에 클래스 이름을 씁니다. 두 노드를 잇는 관계에는 방향과 관계 유형이 함께 저장되며, 관계 유형에는 스키마에서 정의한 이름을 그대로 씁니다. 노드 옆의 상자가 속성이고, 클래스가 정한 칸과 인스턴스의 값이 이름과 값의 짝으로 들어가며, 관계에도 같은 방식으로 속성을 붙일 수 있습니다. 대상을 노드로, 연결을 이름과 방향이 있는 관계로 나타내는 표현에 레이블과 속성이 더해진 것이 그래프 DB가 지식을 담는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스키마는 지식이 어떤 모양이어야 하는지를 정한 의미 모델이고, 그 정의는 그래프 DB에서 레이블, 관계 유형, 속성으로 옮겨집니다. 그러나 스키마의 제약이 모두 데이터베이스의 제약이 되는 것은 아니며, 여기서 예로 든 Sensor 노드에는 id 유일 제약이 걸려 있습니다. 필수 속성, 허용값, 끝 클래스는 저장된 데이터를 읽어 스키마와 대조하는 검사가 확인하고, 자료형 전체와 카디널리티는 이 검사기가 자동으로 확인하지 않으므로 별도로 대조해야 합니다. 그래서 같은 id의 센서를 또 만들면 저장할 때 거절되지만, tag가 빠진 센서는 저장된 뒤 검사에서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들어 있는 것을 꺼내 보려면 질의를 보냅니다. 그래프의 질의 언어는 찾고 싶은 노드와 관계의 모양을 그림 그리듯 글자로 적으며, 이 역할에는 Neo4j의 Cypher 같은 것이 있습니다. 쿨러 사건에서 에이전트가 관계를 따라 원인 후보를 찾은 것도 이런 질의였고, 사람이 실행 화면에 적는 질의와 같은 언어입니다. 실행 화면은 데이터베이스에 딸린 창구이고, 포털의 지식 지도는 기준 지식의 속성과 연결을 살피는 화면입니다.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그래프를 아래 한 줄의 글자로 옮겼습니다. 둥근 괄호가 노드이고 콜론 뒤의 Sensor가 레이블이며, 가운데 대괄호 안의 콜론 뒤가 관계 유형이고 화살표가 방향입니다. 콜론 앞의 s와 v는 쓰는 사람이 정하는 변수여서, 뒤에서 s.tag라고 쓰면 찾은 센서 노드의 tag 속성을 가리킵니다. 중괄호의 {tag: 'TS1'}은 tag가 TS1인 센서 노드만 찾는 조건이며, 대상 하나를 늘 같은 노드로 가리키려면 바뀌지 않는 id를 조건으로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질의는 오일 쿨러를 재는 센서가 무엇인지를 묻고, 센서가 몇 개인지는 적지 않았습니다. 찾을 패턴에 맞는 것을 모두 찾는 것이 MATCH의 동작이고, RETURN에 구성 요소의 이름과 센서의 태그를 달라고 적었으므로 결과는 두 열입니다. 한 행이 패턴에 맞는 연결 하나여서, 첫 행은 오일 쿨러에서 TS1로 가는 연결입니다. 여기처럼 속성값만 돌려받으면 결과는 표로 읽고, 결과를 그래프로 보려면 노드나 관계, 경로 자체를 돌려받아야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출발점을 설비 HYD-01로 두고 노드와 관계를 번갈아 이어 적어, 설비에서 구성 요소로, 구성 요소에서 센서로, 센서에서 상태 변수로 세 단계를 건넙니다. 넷째 행을 읽으면 HYD-01의 오일 쿨러는 TS1로 계측되고, 그 센서는 유온을 읽으며, 유온의 단위는 섭씨이고 한계는 65입니다. 냉각 효율과 유량의 한계 칸에 나온 NULL은 0이 아니라 정해진 값이 없다는 뜻입니다. 설비 모델을 설계할 때 정한 질문 1과 질문 2의 답이 이 질의 하나로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찾은 것 가운데 일부만 보고 싶을 때 조건 절 WHERE를 씁니다. 한계가 정해진 상태 변수만 남기면 세 행이 나오며, 유온 65 ℃, 토출 압력 130 bar, 팬 진동 2.0 mm/s가 HYD-01의 인터록 세 가지와 같은 값입니다. 값이 없는지 따지는 일과 크기를 비교하는 일은 다르며, 한계가 수로 정의되어 있어야 크기 비교를 할 수 있습니다. 유온은 65 ℃ 초과, 팬 진동은 2.0 mm/s 이상, 토출 압력은 130 bar 미만일 때 인터록이 걸립니다. limit &gt; 100은 수를 거르는 문법 예이며 서로 다른 단위의 위험도를 비교하는 조건이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성능 저하 경보의 이상 패턴에서 증상을 거쳐 고장 유형까지는 화살표를 따라가고, 원인은 고장 유형으로 들어오는 CAUSES를 거슬러 찾습니다. 그래서 질의에서는 CAUSES를 원인에서 고장 유형으로 저장된 방향 그대로 적고 화살표의 머리만 고장 유형 쪽으로 둡니다. 화살표를 뒤집어 적으면 그런 모양이 저장되어 있지 않아 오류 없이 빈 결과가 나오며, MONITORED_BY를 거꾸로 적어 세어 보아도 다섯이 아니라 0이 나옵니다. 반대 뜻의 관계를 따로 만들어 두지 않는 것도 같은 사실을 두 번 적으면 한쪽만 고칠 때 어긋나기 때문이며, 이 질의가 찾는 것은 확정된 원인이 아니라 증거로 가릴 원인 후보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 다음은 만들기이며 표기는 조회와 같습니다. 위의 CREATE는 이미 있는지 보지 않고 새로 만들므로, 같은 id가 이미 있으면 유일 제약 때문에 저장이 거절됩니다. 아래의 MERGE는 괄호 안의 패턴으로 먼저 찾고 없을 때만 만들므로, 설비나 센서처럼 한 번만 있어야 하는 지식을 넣다가 멈추어 처음부터 다시 실행해도 중복이 생기지 않습니다. 무엇을 같다고 볼지는 괄호 안에 적은 것으로 정해지므로, 바뀔 수 있는 이름은 SET으로 넣고 괄호에는 식별자만 적습니다. CREATE는 문서를 적재할 때마다 기록이 한 건씩 새로 생겨야 하는 곳처럼 실행마다 새 대상이 필요한 데이터에 씁니다.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양 끝 노드가 있어야 이을 수 있으므로, 먼저 식별자로 오일 쿨러와 유온 센서와 유온을 찾습니다. 그다음 오일 쿨러에서 유온 센서로 MONITORED_BY를, 유온 센서에서 유온으로 OBSERVES를 스키마가 정한 방향대로 만듭니다. 식별자를 잘못 적어 끝 노드를 찾지 못하면 오류 없이 아무것도 만들어지지 않으므로, 실행 뒤 관계가 실제로 생겼는지 조회로 확인합니다. 방향을 거꾸로 적으면 만들어지기는 하지만 정의에 어긋난 연결이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만드는 과정을 다섯 걸음으로 놓았습니다. 저장이 오류 없이 끝났다고 설계가 옳은 것은 아니며, 끝 노드를 찾지 못해 관계가 빠지거나 방향이 뒤집혀도 오류는 나지 않습니다. 그래서 넣은 뒤에는 처음 정한 질문을 질의로 던져 답이 나오는지 보고, 필수값과 허용값과 끝 클래스를 정의와 대조해 어긋난 곳을 고칩니다. 걸음마다 남는 결과물을 함께 적어 두었으므로, 어느 걸음에서 어긋났는지 결과물로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읽은 질의를 직접 써 보며, 질의를 외우는 것이 아니라 묻고 싶은 것을 노드와 관계의 패턴으로 바꾸어 적는 연습을 합니다. 한 단계 관계와 여러 단계 관계를 따라가는 질의를 실행하고, 속성값을 돌려받은 결과와 노드나 경로를 돌려받은 결과를 견줍니다. 결과가 예상과 다르면 레이블과 관계 유형의 철자, 화살표의 방향부터 확인합니다. 결과물은 실행한 질의와 그 결과, 그리고 어느 그래프를 조회했는지에 대한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질의를 쓰지 않고 포털의 지식 지도에서 같은 지식을 찾아봅니다. 설비를 고른 뒤 항목을 하나씩 열어, 앞에서 배운 클래스, 인스턴스, 속성, 들어오고 나가는 관계가 실제 시스템에서 어떻게 보이는지 짚어 봅니다. 지식 지도가 보이는 것은 HYD의 기준 지식이고, 직접 설계해 만드는 그래프는 이와 다른 환경에 두므로 한쪽에서 바꾼 것이 다른 쪽에 나타나지 않습니다. 결과물은 확인한 클래스와 관계를 적은 탐색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모델을 설계하며 따라간 순서를 제공된 설비 자료로 직접 밟습니다. 자료를 읽고 답할 질문을 정한 다음, 대상을 클래스와 예시 인스턴스로 가르고 속성과 관계를 정의합니다. 정의한 내용은 AI에게 요구사항으로 전달해 바이브 코딩으로 파일을 만들되, 무엇을 클래스로 두고 무엇을 속성으로 둘지는 설계하는 사람이 정합니다. 만든 결과는 원래 자료의 뜻과 맞는지, 특히 공유 부품과 여러 센서가 빠짐없이 이어졌는지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설계한 스키마와 예시 인스턴스를 그래프 DB에 넣습니다. AI가 만든 생성 질의를 실행하기 전에 읽고, 노드를 식별자로 MERGE하는지, 관계의 방향이 스키마의 정의와 같은지 확인합니다. 넣은 뒤에는 그래프로 결과를 보고, 처음 정한 질문을 조회해 답이 나오는지와 중복이나 어긋난 연결이 없는지를 봅니다. 결과물은 생성 질의, 저장된 그래프, 그리고 설계와 대조한 검증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정의한 핵심 용어 아홉을 모았습니다. 위의 여섯은 지식을 정의하는 쪽의 말이고, 아래 셋은 그래프 DB에 저장하고 조회하는 쪽의 말입니다. 정식 이름과 뜻을 한 줄씩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새로 생긴 것이 유형인지 대상 하나인지를 가리는 시나리오 문항입니다. 설비 코드 HYD-04는 Asset 클래스의 code 속성에 들어갈 값입니다. 보기마다 스키마를 바꾸는 일인지, 인스턴스 데이터를 바꾸는 일인지를 먼저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어느 대상에 딸려 있는지, 곧 그 값의 근거가 무엇인지를 가리는 문항입니다. 같은 부품이라도 공급사가 바뀌면 값이 바뀐다는 점이 단서입니다. 보기마다 그 자리에 두었을 때 값을 하나로 정할 수 있는지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스키마의 제약 가운데 무엇을 데이터베이스가 직접 막고 무엇을 저장 뒤의 검사가 찾는지, 책임의 경계를 묻는 문항입니다. 유일 제약은 같은 레이블의 노드끼리 id가 겹치지 않게 하는 조건입니다. 네 보기가 모두 스키마에 어긋난다는 점은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1번은 대상마다 클래스를 만드는 실수, 2번은 대상 하나의 순번을 모든 설비의 속성 칸으로 만드는 실수이고, 4번은 이미 있는 설비의 식별 값을 바꾸어 HYD-01을 잃습니다. 둘째 문항의 2번과 3번은 공급사가 셋이거나 부품이 여럿이라 값을 하나로 정할 수 없고, 4번은 값을 따라갈 곳 없는 노드로 만듭니다. 셋째 문항의 1번, 3번, 4번도 스키마에 어긋나지만 데이터베이스는 저장을 막지 않고, 저장된 데이터를 스키마와 대조하는 검사에서 드러납니다.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2.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7.png"/><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8.png"/><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6.png"/><Relationship Id="rId4"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2.png"/><Relationship Id="rId6" Type="http://schemas.openxmlformats.org/officeDocument/2006/relationships/image" Target="../media/image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8.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image" Target="../media/image1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0.png"/><Relationship Id="rId4" Type="http://schemas.openxmlformats.org/officeDocument/2006/relationships/image" Target="../media/image3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6.png"/><Relationship Id="rId4" Type="http://schemas.openxmlformats.org/officeDocument/2006/relationships/image" Target="../media/image3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6.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33.png"/><Relationship Id="rId7" Type="http://schemas.openxmlformats.org/officeDocument/2006/relationships/image" Target="../media/image4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42.png"/><Relationship Id="rId4" Type="http://schemas.openxmlformats.org/officeDocument/2006/relationships/image" Target="../media/image40.png"/><Relationship Id="rId5" Type="http://schemas.openxmlformats.org/officeDocument/2006/relationships/image" Target="../media/image43.png"/><Relationship Id="rId6" Type="http://schemas.openxmlformats.org/officeDocument/2006/relationships/image" Target="../media/image4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1.png"/><Relationship Id="rId4" Type="http://schemas.openxmlformats.org/officeDocument/2006/relationships/image" Target="../media/image45.png"/><Relationship Id="rId5" Type="http://schemas.openxmlformats.org/officeDocument/2006/relationships/image" Target="../media/image1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6.png"/><Relationship Id="rId4" Type="http://schemas.openxmlformats.org/officeDocument/2006/relationships/image" Target="../media/image45.png"/><Relationship Id="rId5" Type="http://schemas.openxmlformats.org/officeDocument/2006/relationships/image" Target="../media/image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3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설비와 데이터의 관계를 체계화해 필요한 정보 찾기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구조의 설계와 그래프 조회</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현장 정보를 클래스와 관계로 나누어 스키마로 정의하고, 그래프에 저장해 관계를 따라 찾는다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정보를 클래스와 관계로 나누어 스키마로 정의하고, 그래프 DB에 저장해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클래스 · 인스턴스와 관계</a:t>
            </a:r>
          </a:p>
          <a:p>
            <a:pPr algn="l" eaLnBrk="0" marL="154305" indent="-154305">
              <a:lnSpc>
                <a:spcPct val="110000"/>
              </a:lnSpc>
              <a:spcAft>
                <a:spcPts val="400"/>
              </a:spcAft>
            </a:pPr>
            <a:r>
              <a:rPr sz="1350" b="0">
                <a:solidFill>
                  <a:srgbClr val="1F2A3A"/>
                </a:solidFill>
                <a:latin typeface="맑은 고딕"/>
                <a:ea typeface="맑은 고딕"/>
                <a:cs typeface="맑은 고딕"/>
              </a:rPr>
              <a:t>• 현장의 대상을 클래스, 인스턴스, 속성값으로 나눈다</a:t>
            </a:r>
          </a:p>
          <a:p>
            <a:pPr algn="l" eaLnBrk="0" marL="154305" indent="-154305">
              <a:lnSpc>
                <a:spcPct val="110000"/>
              </a:lnSpc>
              <a:spcAft>
                <a:spcPts val="400"/>
              </a:spcAft>
            </a:pPr>
            <a:r>
              <a:rPr sz="1350" b="0">
                <a:solidFill>
                  <a:srgbClr val="1F2A3A"/>
                </a:solidFill>
                <a:latin typeface="맑은 고딕"/>
                <a:ea typeface="맑은 고딕"/>
                <a:cs typeface="맑은 고딕"/>
              </a:rPr>
              <a:t>• 관계의 방향과 카디널리티를 실제 연결에 대어 읽는다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표현</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스키마 설계</a:t>
            </a:r>
          </a:p>
          <a:p>
            <a:pPr algn="l" eaLnBrk="0" marL="154305" indent="-154305">
              <a:lnSpc>
                <a:spcPct val="110000"/>
              </a:lnSpc>
              <a:spcAft>
                <a:spcPts val="400"/>
              </a:spcAft>
            </a:pPr>
            <a:r>
              <a:rPr sz="1350" b="0">
                <a:solidFill>
                  <a:srgbClr val="1F2A3A"/>
                </a:solidFill>
                <a:latin typeface="맑은 고딕"/>
                <a:ea typeface="맑은 고딕"/>
                <a:cs typeface="맑은 고딕"/>
              </a:rPr>
              <a:t>• 클래스 · 속성 · 관계 · 제약을 한 벌의 정의로 적는다</a:t>
            </a:r>
          </a:p>
          <a:p>
            <a:pPr algn="l" eaLnBrk="0" marL="154305" indent="-154305">
              <a:lnSpc>
                <a:spcPct val="110000"/>
              </a:lnSpc>
              <a:spcAft>
                <a:spcPts val="400"/>
              </a:spcAft>
            </a:pPr>
            <a:r>
              <a:rPr sz="1350" b="0">
                <a:solidFill>
                  <a:srgbClr val="1F2A3A"/>
                </a:solidFill>
                <a:latin typeface="맑은 고딕"/>
                <a:ea typeface="맑은 고딕"/>
                <a:cs typeface="맑은 고딕"/>
              </a:rPr>
              <a:t>• 식별자로 같은 대상을 가리키고 어긋난 데이터를 가려낸다</a:t>
            </a:r>
          </a:p>
        </p:txBody>
      </p:sp>
      <p:sp>
        <p:nvSpPr>
          <p:cNvPr id="16" name="Rounded Rectangle 15"/>
          <p:cNvSpPr/>
          <p:nvPr/>
        </p:nvSpPr>
        <p:spPr>
          <a:xfrm>
            <a:off x="3619423"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정의와 제약</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그래프 저장과 질의</a:t>
            </a:r>
          </a:p>
          <a:p>
            <a:pPr algn="l" eaLnBrk="0" marL="154305" indent="-154305">
              <a:lnSpc>
                <a:spcPct val="110000"/>
              </a:lnSpc>
              <a:spcAft>
                <a:spcPts val="400"/>
              </a:spcAft>
            </a:pPr>
            <a:r>
              <a:rPr sz="1350" b="0">
                <a:solidFill>
                  <a:srgbClr val="1F2A3A"/>
                </a:solidFill>
                <a:latin typeface="맑은 고딕"/>
                <a:ea typeface="맑은 고딕"/>
                <a:cs typeface="맑은 고딕"/>
              </a:rPr>
              <a:t>• 지식을 노드 · 레이블 · 관계 · 속성으로 저장하는 구조를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패턴 질의로 관계를 따라 찾고 식별자로 만든다</a:t>
            </a:r>
          </a:p>
        </p:txBody>
      </p:sp>
      <p:sp>
        <p:nvSpPr>
          <p:cNvPr id="22" name="Rounded Rectangle 21"/>
          <p:cNvSpPr/>
          <p:nvPr/>
        </p:nvSpPr>
        <p:spPr>
          <a:xfrm>
            <a:off x="6461607" y="5429504"/>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 · 조회 · 생성</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설계와 구현의 검증</a:t>
            </a:r>
          </a:p>
          <a:p>
            <a:pPr algn="l" eaLnBrk="0" marL="154305" indent="-154305">
              <a:lnSpc>
                <a:spcPct val="110000"/>
              </a:lnSpc>
              <a:spcAft>
                <a:spcPts val="400"/>
              </a:spcAft>
            </a:pPr>
            <a:r>
              <a:rPr sz="1350" b="0">
                <a:solidFill>
                  <a:srgbClr val="1F2A3A"/>
                </a:solidFill>
                <a:latin typeface="맑은 고딕"/>
                <a:ea typeface="맑은 고딕"/>
                <a:cs typeface="맑은 고딕"/>
              </a:rPr>
              <a:t>• 설비 자료에서 스키마와 예시 인스턴스를 설계한다</a:t>
            </a:r>
          </a:p>
          <a:p>
            <a:pPr algn="l" eaLnBrk="0" marL="154305" indent="-154305">
              <a:lnSpc>
                <a:spcPct val="110000"/>
              </a:lnSpc>
              <a:spcAft>
                <a:spcPts val="400"/>
              </a:spcAft>
            </a:pPr>
            <a:r>
              <a:rPr sz="1350" b="0">
                <a:solidFill>
                  <a:srgbClr val="1F2A3A"/>
                </a:solidFill>
                <a:latin typeface="맑은 고딕"/>
                <a:ea typeface="맑은 고딕"/>
                <a:cs typeface="맑은 고딕"/>
              </a:rPr>
              <a:t>• 그래프 DB에 넣고 조회 결과를 설계와 대조한다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 검증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카디널리티와 관계의 속성</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계층과 모델링 선택</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스키마와 식별자</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속성과 연결의 정의 · 제약</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설비 모델의 설계와 확장</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저장 구조와 관계 조회</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생성과 검증</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 조회 · 기준 지식 탐색 · 온톨로지 설계 · 그래프 구현</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클래스와 인스턴스의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유형의 대상을 함께 다루려면 유형인 </a:t>
            </a:r>
            <a:r>
              <a:rPr sz="1600" b="1">
                <a:solidFill>
                  <a:srgbClr val="1A6FC4"/>
                </a:solidFill>
                <a:latin typeface="맑은 고딕"/>
                <a:ea typeface="맑은 고딕"/>
                <a:cs typeface="맑은 고딕"/>
              </a:rPr>
              <a:t>클래스</a:t>
            </a:r>
            <a:r>
              <a:rPr sz="1600" b="0">
                <a:solidFill>
                  <a:srgbClr val="556175"/>
                </a:solidFill>
                <a:latin typeface="맑은 고딕"/>
                <a:ea typeface="맑은 고딕"/>
                <a:cs typeface="맑은 고딕"/>
              </a:rPr>
              <a:t>와 개별 대상인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를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클래스(Class)</a:t>
            </a:r>
          </a:p>
        </p:txBody>
      </p:sp>
      <p:sp>
        <p:nvSpPr>
          <p:cNvPr id="10" name="TextBox 9"/>
          <p:cNvSpPr txBox="1"/>
          <p:nvPr/>
        </p:nvSpPr>
        <p:spPr>
          <a:xfrm>
            <a:off x="822959"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공통 특성을 가진 대상의 유형이다</a:t>
            </a:r>
          </a:p>
          <a:p>
            <a:pPr algn="l" eaLnBrk="0" marL="177165" indent="-177165">
              <a:lnSpc>
                <a:spcPct val="110000"/>
              </a:lnSpc>
              <a:spcAft>
                <a:spcPts val="600"/>
              </a:spcAft>
            </a:pPr>
            <a:r>
              <a:rPr sz="1550" b="0">
                <a:solidFill>
                  <a:srgbClr val="1F2A3A"/>
                </a:solidFill>
                <a:latin typeface="맑은 고딕"/>
                <a:ea typeface="맑은 고딕"/>
                <a:cs typeface="맑은 고딕"/>
              </a:rPr>
              <a:t>• 예: 설비(Asset)</a:t>
            </a:r>
          </a:p>
          <a:p>
            <a:pPr algn="l" eaLnBrk="0" marL="177165" indent="-177165">
              <a:lnSpc>
                <a:spcPct val="110000"/>
              </a:lnSpc>
              <a:spcAft>
                <a:spcPts val="600"/>
              </a:spcAft>
            </a:pPr>
            <a:r>
              <a:rPr sz="1550" b="0">
                <a:solidFill>
                  <a:srgbClr val="1F2A3A"/>
                </a:solidFill>
                <a:latin typeface="맑은 고딕"/>
                <a:ea typeface="맑은 고딕"/>
                <a:cs typeface="맑은 고딕"/>
              </a:rPr>
              <a:t>• 그 유형이 가질 속성의 칸과 맺을 관계를 정한다</a:t>
            </a:r>
          </a:p>
        </p:txBody>
      </p:sp>
      <p:sp>
        <p:nvSpPr>
          <p:cNvPr id="11" name="Rounded Rectangle 10"/>
          <p:cNvSpPr/>
          <p:nvPr/>
        </p:nvSpPr>
        <p:spPr>
          <a:xfrm>
            <a:off x="868680" y="5285168"/>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유형</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target" descr="target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인스턴스(Instance)</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클래스에 속하는 개별 대상 하나이다</a:t>
            </a:r>
          </a:p>
          <a:p>
            <a:pPr algn="l" eaLnBrk="0" marL="177165" indent="-177165">
              <a:lnSpc>
                <a:spcPct val="110000"/>
              </a:lnSpc>
              <a:spcAft>
                <a:spcPts val="600"/>
              </a:spcAft>
            </a:pPr>
            <a:r>
              <a:rPr sz="1550" b="0">
                <a:solidFill>
                  <a:srgbClr val="1F2A3A"/>
                </a:solidFill>
                <a:latin typeface="맑은 고딕"/>
                <a:ea typeface="맑은 고딕"/>
                <a:cs typeface="맑은 고딕"/>
              </a:rPr>
              <a:t>• 예: asset:hyd-01 「HYD-01 유압 파워팩」</a:t>
            </a:r>
          </a:p>
          <a:p>
            <a:pPr algn="l" eaLnBrk="0" marL="177165" indent="-177165">
              <a:lnSpc>
                <a:spcPct val="110000"/>
              </a:lnSpc>
              <a:spcAft>
                <a:spcPts val="600"/>
              </a:spcAft>
            </a:pPr>
            <a:r>
              <a:rPr sz="1550" b="0">
                <a:solidFill>
                  <a:srgbClr val="1F2A3A"/>
                </a:solidFill>
                <a:latin typeface="맑은 고딕"/>
                <a:ea typeface="맑은 고딕"/>
                <a:cs typeface="맑은 고딕"/>
              </a:rPr>
              <a:t>• HYD-02 · HYD-03도 같은 클래스의 다른 인스턴스이다</a:t>
            </a:r>
          </a:p>
          <a:p>
            <a:pPr algn="l" eaLnBrk="0" marL="177165" indent="-177165">
              <a:lnSpc>
                <a:spcPct val="110000"/>
              </a:lnSpc>
              <a:spcAft>
                <a:spcPts val="600"/>
              </a:spcAft>
            </a:pPr>
            <a:r>
              <a:rPr sz="1550" b="0">
                <a:solidFill>
                  <a:srgbClr val="1F2A3A"/>
                </a:solidFill>
                <a:latin typeface="맑은 고딕"/>
                <a:ea typeface="맑은 고딕"/>
                <a:cs typeface="맑은 고딕"/>
              </a:rPr>
              <a:t>• 「HYD-01은 설비의 하나이다」로 읽힌다</a:t>
            </a:r>
          </a:p>
        </p:txBody>
      </p:sp>
      <p:sp>
        <p:nvSpPr>
          <p:cNvPr id="18" name="Rounded Rectangle 17"/>
          <p:cNvSpPr/>
          <p:nvPr/>
        </p:nvSpPr>
        <p:spPr>
          <a:xfrm>
            <a:off x="6781647" y="5285168"/>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개별 대상</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 인스턴스 · 속성값의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「TS1」이라도 센서라는 유형, 유온 센서라는 대상, 태그라는 값은 서로 다른 층에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클래스</a:t>
            </a:r>
          </a:p>
          <a:p>
            <a:pPr algn="l" eaLnBrk="0" marL="205740" indent="-205740">
              <a:lnSpc>
                <a:spcPct val="110000"/>
              </a:lnSpc>
              <a:spcAft>
                <a:spcPts val="400"/>
              </a:spcAft>
            </a:pPr>
            <a:r>
              <a:rPr sz="1800" b="0">
                <a:solidFill>
                  <a:srgbClr val="1F2A3A"/>
                </a:solidFill>
                <a:latin typeface="맑은 고딕"/>
                <a:ea typeface="맑은 고딕"/>
                <a:cs typeface="맑은 고딕"/>
              </a:rPr>
              <a:t>• 센서(Sensor)</a:t>
            </a:r>
          </a:p>
          <a:p>
            <a:pPr algn="l" eaLnBrk="0" marL="205740" indent="-205740">
              <a:lnSpc>
                <a:spcPct val="110000"/>
              </a:lnSpc>
              <a:spcAft>
                <a:spcPts val="400"/>
              </a:spcAft>
            </a:pPr>
            <a:r>
              <a:rPr sz="1800" b="0">
                <a:solidFill>
                  <a:srgbClr val="1F2A3A"/>
                </a:solidFill>
                <a:latin typeface="맑은 고딕"/>
                <a:ea typeface="맑은 고딕"/>
                <a:cs typeface="맑은 고딕"/>
              </a:rPr>
              <a:t>• 값을 재어 내놓는 계측 채널의 유형이다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유형</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arget" descr="target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인스턴스</a:t>
            </a:r>
          </a:p>
          <a:p>
            <a:pPr algn="l" eaLnBrk="0" marL="205740" indent="-205740">
              <a:lnSpc>
                <a:spcPct val="110000"/>
              </a:lnSpc>
              <a:spcAft>
                <a:spcPts val="400"/>
              </a:spcAft>
            </a:pPr>
            <a:r>
              <a:rPr sz="1800" b="0">
                <a:solidFill>
                  <a:srgbClr val="1F2A3A"/>
                </a:solidFill>
                <a:latin typeface="맑은 고딕"/>
                <a:ea typeface="맑은 고딕"/>
                <a:cs typeface="맑은 고딕"/>
              </a:rPr>
              <a:t>• sen:ts1 「유온 센서」</a:t>
            </a:r>
          </a:p>
          <a:p>
            <a:pPr algn="l" eaLnBrk="0" marL="205740" indent="-205740">
              <a:lnSpc>
                <a:spcPct val="110000"/>
              </a:lnSpc>
              <a:spcAft>
                <a:spcPts val="400"/>
              </a:spcAft>
            </a:pPr>
            <a:r>
              <a:rPr sz="1800" b="0">
                <a:solidFill>
                  <a:srgbClr val="1F2A3A"/>
                </a:solidFill>
                <a:latin typeface="맑은 고딕"/>
                <a:ea typeface="맑은 고딕"/>
                <a:cs typeface="맑은 고딕"/>
              </a:rPr>
              <a:t>• 같은 클래스: sen:ce(CE) · sen:ps1(PS1) · sen:fs1(FS1) · sen:vs1(VS1)</a:t>
            </a:r>
          </a:p>
        </p:txBody>
      </p:sp>
      <p:sp>
        <p:nvSpPr>
          <p:cNvPr id="16" name="Rounded Rectangle 15"/>
          <p:cNvSpPr/>
          <p:nvPr/>
        </p:nvSpPr>
        <p:spPr>
          <a:xfrm>
            <a:off x="4566818"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개별 대상</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hash" descr="hash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속성값(Property Value)</a:t>
            </a:r>
          </a:p>
          <a:p>
            <a:pPr algn="l" eaLnBrk="0" marL="205740" indent="-205740">
              <a:lnSpc>
                <a:spcPct val="110000"/>
              </a:lnSpc>
              <a:spcAft>
                <a:spcPts val="400"/>
              </a:spcAft>
            </a:pPr>
            <a:r>
              <a:rPr sz="1800" b="0">
                <a:solidFill>
                  <a:srgbClr val="1F2A3A"/>
                </a:solidFill>
                <a:latin typeface="맑은 고딕"/>
                <a:ea typeface="맑은 고딕"/>
                <a:cs typeface="맑은 고딕"/>
              </a:rPr>
              <a:t>• tag: 'TS1'</a:t>
            </a:r>
          </a:p>
          <a:p>
            <a:pPr algn="l" eaLnBrk="0" marL="205740" indent="-205740">
              <a:lnSpc>
                <a:spcPct val="110000"/>
              </a:lnSpc>
              <a:spcAft>
                <a:spcPts val="400"/>
              </a:spcAft>
            </a:pPr>
            <a:r>
              <a:rPr sz="1800" b="0">
                <a:solidFill>
                  <a:srgbClr val="1F2A3A"/>
                </a:solidFill>
                <a:latin typeface="맑은 고딕"/>
                <a:ea typeface="맑은 고딕"/>
                <a:cs typeface="맑은 고딕"/>
              </a:rPr>
              <a:t>• 인스턴스에 붙은 값이며 그 자체로 다른 대상과 관계를 맺지 않는다</a:t>
            </a:r>
          </a:p>
        </p:txBody>
      </p:sp>
      <p:sp>
        <p:nvSpPr>
          <p:cNvPr id="22" name="Rounded Rectangle 21"/>
          <p:cNvSpPr/>
          <p:nvPr/>
        </p:nvSpPr>
        <p:spPr>
          <a:xfrm>
            <a:off x="8356396" y="5429504"/>
            <a:ext cx="16763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인스턴스에 딸린 값</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지식을 이루는 다섯 클래스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설비 쪽 대상은 설비 · 구성 요소 · 센서 · 상태 변수 · 부품의 다섯 클래스에 나뉘어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클래스</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인스턴스의 예</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설비(Asset)</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 한 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asset:hyd-01</a:t>
            </a:r>
          </a:p>
          <a:p>
            <a:pPr algn="l" eaLnBrk="0">
              <a:lnSpc>
                <a:spcPct val="110000"/>
              </a:lnSpc>
            </a:pPr>
            <a:r>
              <a:rPr sz="1250" b="1">
                <a:solidFill>
                  <a:srgbClr val="556175"/>
                </a:solidFill>
                <a:latin typeface="맑은 고딕"/>
                <a:ea typeface="맑은 고딕"/>
                <a:cs typeface="맑은 고딕"/>
              </a:rPr>
              <a:t>「HYD-01 유압 파워팩」</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구성 요소(Component)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설비를 이루는 장치: 쿨러, 팬, 주 펌프, 예비 펌프, 모터, 탱크</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comp:cooler</a:t>
            </a:r>
          </a:p>
          <a:p>
            <a:pPr algn="l" eaLnBrk="0">
              <a:lnSpc>
                <a:spcPct val="110000"/>
              </a:lnSpc>
            </a:pPr>
            <a:r>
              <a:rPr sz="1250" b="1">
                <a:solidFill>
                  <a:srgbClr val="556175"/>
                </a:solidFill>
                <a:latin typeface="맑은 고딕"/>
                <a:ea typeface="맑은 고딕"/>
                <a:cs typeface="맑은 고딕"/>
              </a:rPr>
              <a:t>「오일 쿨러」</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센서(Sensor)</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재는 쪽. 태그 이름이 실시간 데이터와 이어지는 계측 채널</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sen:ts1 「유온 센서」</a:t>
            </a:r>
          </a:p>
          <a:p>
            <a:pPr algn="l" eaLnBrk="0">
              <a:lnSpc>
                <a:spcPct val="110000"/>
              </a:lnSpc>
            </a:pPr>
            <a:r>
              <a:rPr sz="1250" b="1">
                <a:solidFill>
                  <a:srgbClr val="556175"/>
                </a:solidFill>
                <a:latin typeface="맑은 고딕"/>
                <a:ea typeface="맑은 고딕"/>
                <a:cs typeface="맑은 고딕"/>
              </a:rPr>
              <a:t>tag: TS1</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상태 변수(StateVariable)</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재어지는 쪽. 설비의 물리량이며 정상값과 한계가 여기에 붙는다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sv:ts1 「유온」</a:t>
            </a:r>
          </a:p>
          <a:p>
            <a:pPr algn="l" eaLnBrk="0">
              <a:lnSpc>
                <a:spcPct val="110000"/>
              </a:lnSpc>
            </a:pPr>
            <a:r>
              <a:rPr sz="1250" b="1">
                <a:solidFill>
                  <a:srgbClr val="556175"/>
                </a:solidFill>
                <a:latin typeface="맑은 고딕"/>
                <a:ea typeface="맑은 고딕"/>
                <a:cs typeface="맑은 고딕"/>
              </a:rPr>
              <a:t>normal 48 ℃ · limit 65 ℃</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부품(Part)</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구성 요소 안에서 갈아 끼우는 교체 부품</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part:cooler-core</a:t>
            </a:r>
          </a:p>
          <a:p>
            <a:pPr algn="l" eaLnBrk="0">
              <a:lnSpc>
                <a:spcPct val="110000"/>
              </a:lnSpc>
            </a:pPr>
            <a:r>
              <a:rPr sz="1250" b="1">
                <a:solidFill>
                  <a:srgbClr val="556175"/>
                </a:solidFill>
                <a:latin typeface="맑은 고딕"/>
                <a:ea typeface="맑은 고딕"/>
                <a:cs typeface="맑은 고딕"/>
              </a:rPr>
              <a:t>「쿨러 코어」</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증상 · 고장 유형 · 원인의 클래스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 고장 유형, 원인처럼 물건이 아닌 대상도 클래스로 두어야 진단 지식을 관계로 이을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증상(Symptom)</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계측값의 이상 양상이다.</a:t>
            </a:r>
          </a:p>
          <a:p>
            <a:pPr algn="l" eaLnBrk="0">
              <a:lnSpc>
                <a:spcPct val="110000"/>
              </a:lnSpc>
              <a:spcAft>
                <a:spcPts val="300"/>
              </a:spcAft>
            </a:pPr>
            <a:r>
              <a:rPr sz="1400" b="0">
                <a:solidFill>
                  <a:srgbClr val="1F2A3A"/>
                </a:solidFill>
                <a:latin typeface="맑은 고딕"/>
                <a:ea typeface="맑은 고딕"/>
                <a:cs typeface="맑은 고딕"/>
              </a:rPr>
              <a:t>인스턴스: 유온 상승(sym:ts1-rise), 냉각 효율 저하</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고장 유형(FailureMode)</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 단위의 고장 양상이다.</a:t>
            </a:r>
          </a:p>
          <a:p>
            <a:pPr algn="l" eaLnBrk="0">
              <a:lnSpc>
                <a:spcPct val="110000"/>
              </a:lnSpc>
              <a:spcAft>
                <a:spcPts val="300"/>
              </a:spcAft>
            </a:pPr>
            <a:r>
              <a:rPr sz="1400" b="0">
                <a:solidFill>
                  <a:srgbClr val="1F2A3A"/>
                </a:solidFill>
                <a:latin typeface="맑은 고딕"/>
                <a:ea typeface="맑은 고딕"/>
                <a:cs typeface="맑은 고딕"/>
              </a:rPr>
              <a:t>인스턴스: 쿨러 냉각 성능 상실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원인(Cause)</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고장의 근본 원인이다.</a:t>
            </a:r>
          </a:p>
          <a:p>
            <a:pPr algn="l" eaLnBrk="0">
              <a:lnSpc>
                <a:spcPct val="110000"/>
              </a:lnSpc>
              <a:spcAft>
                <a:spcPts val="300"/>
              </a:spcAft>
            </a:pPr>
            <a:r>
              <a:rPr sz="1400" b="0">
                <a:solidFill>
                  <a:srgbClr val="1F2A3A"/>
                </a:solidFill>
                <a:latin typeface="맑은 고딕"/>
                <a:ea typeface="맑은 고딕"/>
                <a:cs typeface="맑은 고딕"/>
              </a:rPr>
              <a:t>인스턴스: 쿨러 핀 오염, 팬 구동 불량, 주변 온도 상승</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인스턴스의 범위</a:t>
            </a:r>
          </a:p>
          <a:p>
            <a:pPr algn="l" eaLnBrk="0">
              <a:lnSpc>
                <a:spcPct val="110000"/>
              </a:lnSpc>
              <a:spcAft>
                <a:spcPts val="200"/>
              </a:spcAft>
            </a:pPr>
            <a:r>
              <a:rPr sz="1150" b="0">
                <a:solidFill>
                  <a:srgbClr val="556175"/>
                </a:solidFill>
                <a:latin typeface="맑은 고딕"/>
                <a:ea typeface="맑은 고딕"/>
                <a:cs typeface="맑은 고딕"/>
              </a:rPr>
              <a:t>구별되는 대상</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모델에서 하나하나 구별해 다루는 대상이면 인스턴스이다.</a:t>
            </a:r>
          </a:p>
          <a:p>
            <a:pPr algn="l" eaLnBrk="0">
              <a:lnSpc>
                <a:spcPct val="110000"/>
              </a:lnSpc>
              <a:spcAft>
                <a:spcPts val="300"/>
              </a:spcAft>
            </a:pPr>
            <a:r>
              <a:rPr sz="1400" b="0">
                <a:solidFill>
                  <a:srgbClr val="1F2A3A"/>
                </a:solidFill>
                <a:latin typeface="맑은 고딕"/>
                <a:ea typeface="맑은 고딕"/>
                <a:cs typeface="맑은 고딕"/>
              </a:rPr>
              <a:t>냉각 효율을 계산해 내놓는 채널 sen:ce도 Sensor의 인스턴스이다.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속성 정의와 인스턴스의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클래스가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의 칸을 정하므로 같은 클래스의 인스턴스는 칸이 같고 채운 값만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pic>
        <p:nvPicPr>
          <p:cNvPr id="6" name="삽화:속성_3.svg" descr="illust_929779497836729520_179203333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55660" y="2034192"/>
            <a:ext cx="26182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 클래스</a:t>
            </a:r>
          </a:p>
          <a:p>
            <a:pPr algn="ctr" eaLnBrk="0">
              <a:lnSpc>
                <a:spcPct val="110000"/>
              </a:lnSpc>
              <a:spcAft>
                <a:spcPts val="100"/>
              </a:spcAft>
            </a:pPr>
            <a:r>
              <a:rPr sz="1100" b="0">
                <a:solidFill>
                  <a:srgbClr val="556175"/>
                </a:solidFill>
                <a:latin typeface="맑은 고딕"/>
                <a:ea typeface="맑은 고딕"/>
                <a:cs typeface="맑은 고딕"/>
              </a:rPr>
              <a:t>속성(Property)</a:t>
            </a:r>
          </a:p>
        </p:txBody>
      </p:sp>
      <p:sp>
        <p:nvSpPr>
          <p:cNvPr id="8" name="TextBox 7"/>
          <p:cNvSpPr txBox="1"/>
          <p:nvPr/>
        </p:nvSpPr>
        <p:spPr>
          <a:xfrm>
            <a:off x="1273850" y="2866223"/>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id</a:t>
            </a:r>
          </a:p>
        </p:txBody>
      </p:sp>
      <p:sp>
        <p:nvSpPr>
          <p:cNvPr id="9" name="TextBox 8"/>
          <p:cNvSpPr txBox="1"/>
          <p:nvPr/>
        </p:nvSpPr>
        <p:spPr>
          <a:xfrm>
            <a:off x="1273850" y="3575340"/>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273850" y="4284457"/>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tag</a:t>
            </a:r>
          </a:p>
        </p:txBody>
      </p:sp>
      <p:sp>
        <p:nvSpPr>
          <p:cNvPr id="11" name="TextBox 10"/>
          <p:cNvSpPr txBox="1"/>
          <p:nvPr/>
        </p:nvSpPr>
        <p:spPr>
          <a:xfrm>
            <a:off x="1273850" y="4993574"/>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unit</a:t>
            </a:r>
          </a:p>
        </p:txBody>
      </p:sp>
      <p:sp>
        <p:nvSpPr>
          <p:cNvPr id="12" name="TextBox 11"/>
          <p:cNvSpPr txBox="1"/>
          <p:nvPr/>
        </p:nvSpPr>
        <p:spPr>
          <a:xfrm>
            <a:off x="1273850" y="5702692"/>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virtual</a:t>
            </a:r>
          </a:p>
        </p:txBody>
      </p:sp>
      <p:sp>
        <p:nvSpPr>
          <p:cNvPr id="13" name="TextBox 12"/>
          <p:cNvSpPr txBox="1"/>
          <p:nvPr/>
        </p:nvSpPr>
        <p:spPr>
          <a:xfrm>
            <a:off x="5081264" y="2866223"/>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sen:ts1</a:t>
            </a:r>
          </a:p>
        </p:txBody>
      </p:sp>
      <p:sp>
        <p:nvSpPr>
          <p:cNvPr id="14" name="TextBox 13"/>
          <p:cNvSpPr txBox="1"/>
          <p:nvPr/>
        </p:nvSpPr>
        <p:spPr>
          <a:xfrm>
            <a:off x="5081264" y="3575340"/>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5081264" y="4284457"/>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TS1</a:t>
            </a:r>
          </a:p>
        </p:txBody>
      </p:sp>
      <p:sp>
        <p:nvSpPr>
          <p:cNvPr id="16" name="TextBox 15"/>
          <p:cNvSpPr txBox="1"/>
          <p:nvPr/>
        </p:nvSpPr>
        <p:spPr>
          <a:xfrm>
            <a:off x="5081264" y="4993574"/>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t>
            </a:r>
          </a:p>
        </p:txBody>
      </p:sp>
      <p:sp>
        <p:nvSpPr>
          <p:cNvPr id="17" name="TextBox 16"/>
          <p:cNvSpPr txBox="1"/>
          <p:nvPr/>
        </p:nvSpPr>
        <p:spPr>
          <a:xfrm>
            <a:off x="5081264" y="5702692"/>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false</a:t>
            </a:r>
          </a:p>
        </p:txBody>
      </p:sp>
      <p:sp>
        <p:nvSpPr>
          <p:cNvPr id="18" name="TextBox 17"/>
          <p:cNvSpPr txBox="1"/>
          <p:nvPr/>
        </p:nvSpPr>
        <p:spPr>
          <a:xfrm>
            <a:off x="8528664" y="2866223"/>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sen:ce</a:t>
            </a:r>
          </a:p>
        </p:txBody>
      </p:sp>
      <p:sp>
        <p:nvSpPr>
          <p:cNvPr id="19" name="TextBox 18"/>
          <p:cNvSpPr txBox="1"/>
          <p:nvPr/>
        </p:nvSpPr>
        <p:spPr>
          <a:xfrm>
            <a:off x="8528664" y="3575340"/>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효율</a:t>
            </a:r>
          </a:p>
        </p:txBody>
      </p:sp>
      <p:sp>
        <p:nvSpPr>
          <p:cNvPr id="20" name="TextBox 19"/>
          <p:cNvSpPr txBox="1"/>
          <p:nvPr/>
        </p:nvSpPr>
        <p:spPr>
          <a:xfrm>
            <a:off x="8528664" y="4284457"/>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CE</a:t>
            </a:r>
          </a:p>
        </p:txBody>
      </p:sp>
      <p:sp>
        <p:nvSpPr>
          <p:cNvPr id="21" name="TextBox 20"/>
          <p:cNvSpPr txBox="1"/>
          <p:nvPr/>
        </p:nvSpPr>
        <p:spPr>
          <a:xfrm>
            <a:off x="8528664" y="4993574"/>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t>
            </a:r>
          </a:p>
        </p:txBody>
      </p:sp>
      <p:sp>
        <p:nvSpPr>
          <p:cNvPr id="22" name="TextBox 21"/>
          <p:cNvSpPr txBox="1"/>
          <p:nvPr/>
        </p:nvSpPr>
        <p:spPr>
          <a:xfrm>
            <a:off x="8528664" y="5702692"/>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true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속성값과 다른 대상의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값으로 끝나면 속성으로, 자기 속성을 가진 대상을 가리키면 관계로 두어 따라갈 길을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forms" descr="forms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데이터 속성(Data Property)</a:t>
            </a:r>
          </a:p>
        </p:txBody>
      </p:sp>
      <p:sp>
        <p:nvSpPr>
          <p:cNvPr id="10" name="TextBox 9"/>
          <p:cNvSpPr txBox="1"/>
          <p:nvPr/>
        </p:nvSpPr>
        <p:spPr>
          <a:xfrm>
            <a:off x="822959" y="3029775"/>
            <a:ext cx="4632807" cy="2426081"/>
          </a:xfrm>
          <a:prstGeom prst="rect">
            <a:avLst/>
          </a:prstGeom>
          <a:noFill/>
        </p:spPr>
        <p:txBody>
          <a:bodyPr wrap="square" anchor="t"/>
          <a:lstStyle/>
          <a:p>
            <a:pPr algn="l" eaLnBrk="0" marL="154305" indent="-154305">
              <a:lnSpc>
                <a:spcPct val="110000"/>
              </a:lnSpc>
              <a:spcAft>
                <a:spcPts val="600"/>
              </a:spcAft>
            </a:pPr>
            <a:r>
              <a:rPr sz="1350" b="0">
                <a:solidFill>
                  <a:srgbClr val="1F2A3A"/>
                </a:solidFill>
                <a:latin typeface="맑은 고딕"/>
                <a:ea typeface="맑은 고딕"/>
                <a:cs typeface="맑은 고딕"/>
              </a:rPr>
              <a:t>• 인스턴스에 값을 붙인다</a:t>
            </a:r>
          </a:p>
          <a:p>
            <a:pPr algn="l" eaLnBrk="0" marL="154305" indent="-154305">
              <a:lnSpc>
                <a:spcPct val="110000"/>
              </a:lnSpc>
              <a:spcAft>
                <a:spcPts val="600"/>
              </a:spcAft>
            </a:pPr>
            <a:r>
              <a:rPr sz="1350" b="0">
                <a:solidFill>
                  <a:srgbClr val="1F2A3A"/>
                </a:solidFill>
                <a:latin typeface="맑은 고딕"/>
                <a:ea typeface="맑은 고딕"/>
                <a:cs typeface="맑은 고딕"/>
              </a:rPr>
              <a:t>• 유온 센서의 tag: 'TS1', unit: '℃'</a:t>
            </a:r>
          </a:p>
          <a:p>
            <a:pPr algn="l" eaLnBrk="0" marL="154305" indent="-154305">
              <a:lnSpc>
                <a:spcPct val="110000"/>
              </a:lnSpc>
              <a:spcAft>
                <a:spcPts val="600"/>
              </a:spcAft>
            </a:pPr>
            <a:r>
              <a:rPr sz="1350" b="0">
                <a:solidFill>
                  <a:srgbClr val="1F2A3A"/>
                </a:solidFill>
                <a:latin typeface="맑은 고딕"/>
                <a:ea typeface="맑은 고딕"/>
                <a:cs typeface="맑은 고딕"/>
              </a:rPr>
              <a:t>• 유온의 limit: 65</a:t>
            </a:r>
          </a:p>
          <a:p>
            <a:pPr algn="l" eaLnBrk="0" marL="154305" indent="-154305">
              <a:lnSpc>
                <a:spcPct val="110000"/>
              </a:lnSpc>
              <a:spcAft>
                <a:spcPts val="600"/>
              </a:spcAft>
            </a:pPr>
            <a:r>
              <a:rPr sz="1350" b="0">
                <a:solidFill>
                  <a:srgbClr val="1F2A3A"/>
                </a:solidFill>
                <a:latin typeface="맑은 고딕"/>
                <a:ea typeface="맑은 고딕"/>
                <a:cs typeface="맑은 고딕"/>
              </a:rPr>
              <a:t>• 단위나 65를 노드로 만들면 따라갈 곳 없는 노드만 는다</a:t>
            </a:r>
          </a:p>
        </p:txBody>
      </p:sp>
      <p:sp>
        <p:nvSpPr>
          <p:cNvPr id="11" name="Rounded Rectangle 10"/>
          <p:cNvSpPr/>
          <p:nvPr/>
        </p:nvSpPr>
        <p:spPr>
          <a:xfrm>
            <a:off x="868680" y="554729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 → 값</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arrows-right" descr="arrows-righ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객체 간 관계(Object Property)</a:t>
            </a:r>
          </a:p>
        </p:txBody>
      </p:sp>
      <p:sp>
        <p:nvSpPr>
          <p:cNvPr id="17" name="TextBox 16"/>
          <p:cNvSpPr txBox="1"/>
          <p:nvPr/>
        </p:nvSpPr>
        <p:spPr>
          <a:xfrm>
            <a:off x="6735927" y="3029775"/>
            <a:ext cx="4632807" cy="2426081"/>
          </a:xfrm>
          <a:prstGeom prst="rect">
            <a:avLst/>
          </a:prstGeom>
          <a:noFill/>
        </p:spPr>
        <p:txBody>
          <a:bodyPr wrap="square" anchor="t"/>
          <a:lstStyle/>
          <a:p>
            <a:pPr algn="l" eaLnBrk="0" marL="154305" indent="-154305">
              <a:lnSpc>
                <a:spcPct val="110000"/>
              </a:lnSpc>
              <a:spcAft>
                <a:spcPts val="600"/>
              </a:spcAft>
            </a:pPr>
            <a:r>
              <a:rPr sz="1350" b="0">
                <a:solidFill>
                  <a:srgbClr val="1F2A3A"/>
                </a:solidFill>
                <a:latin typeface="맑은 고딕"/>
                <a:ea typeface="맑은 고딕"/>
                <a:cs typeface="맑은 고딕"/>
              </a:rPr>
              <a:t>• 인스턴스를 다른 인스턴스에 잇는다</a:t>
            </a:r>
          </a:p>
          <a:p>
            <a:pPr algn="l" eaLnBrk="0" marL="154305" indent="-154305">
              <a:lnSpc>
                <a:spcPct val="110000"/>
              </a:lnSpc>
              <a:spcAft>
                <a:spcPts val="600"/>
              </a:spcAft>
            </a:pPr>
            <a:r>
              <a:rPr sz="1350" b="0">
                <a:solidFill>
                  <a:srgbClr val="1F2A3A"/>
                </a:solidFill>
                <a:latin typeface="맑은 고딕"/>
                <a:ea typeface="맑은 고딕"/>
                <a:cs typeface="맑은 고딕"/>
              </a:rPr>
              <a:t>• 유온 센서 → 유온: OBSERVES</a:t>
            </a:r>
          </a:p>
          <a:p>
            <a:pPr algn="l" eaLnBrk="0" marL="154305" indent="-154305">
              <a:lnSpc>
                <a:spcPct val="110000"/>
              </a:lnSpc>
              <a:spcAft>
                <a:spcPts val="600"/>
              </a:spcAft>
            </a:pPr>
            <a:r>
              <a:rPr sz="1350" b="0">
                <a:solidFill>
                  <a:srgbClr val="1F2A3A"/>
                </a:solidFill>
                <a:latin typeface="맑은 고딕"/>
                <a:ea typeface="맑은 고딕"/>
                <a:cs typeface="맑은 고딕"/>
              </a:rPr>
              <a:t>• 팬 인버터 → 팬 속도: MANIPULATES</a:t>
            </a:r>
          </a:p>
          <a:p>
            <a:pPr algn="l" eaLnBrk="0" marL="154305" indent="-154305">
              <a:lnSpc>
                <a:spcPct val="110000"/>
              </a:lnSpc>
              <a:spcAft>
                <a:spcPts val="600"/>
              </a:spcAft>
            </a:pPr>
            <a:r>
              <a:rPr sz="1350" b="0">
                <a:solidFill>
                  <a:srgbClr val="1F2A3A"/>
                </a:solidFill>
                <a:latin typeface="맑은 고딕"/>
                <a:ea typeface="맑은 고딕"/>
                <a:cs typeface="맑은 고딕"/>
              </a:rPr>
              <a:t>• 팬 속도 → 유온: INFLUENCES(sign -1, 반대로 변화)</a:t>
            </a:r>
          </a:p>
          <a:p>
            <a:pPr algn="l" eaLnBrk="0" marL="154305" indent="-154305">
              <a:lnSpc>
                <a:spcPct val="110000"/>
              </a:lnSpc>
              <a:spcAft>
                <a:spcPts val="600"/>
              </a:spcAft>
            </a:pPr>
            <a:r>
              <a:rPr sz="1350" b="0">
                <a:solidFill>
                  <a:srgbClr val="1F2A3A"/>
                </a:solidFill>
                <a:latin typeface="맑은 고딕"/>
                <a:ea typeface="맑은 고딕"/>
                <a:cs typeface="맑은 고딕"/>
              </a:rPr>
              <a:t>• 유온은 normal 48 · limit 65를 가진 인스턴스이다</a:t>
            </a:r>
          </a:p>
        </p:txBody>
      </p:sp>
      <p:sp>
        <p:nvSpPr>
          <p:cNvPr id="18" name="Rounded Rectangle 17"/>
          <p:cNvSpPr/>
          <p:nvPr/>
        </p:nvSpPr>
        <p:spPr>
          <a:xfrm>
            <a:off x="6781647" y="5547296"/>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 → 인스턴스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유형과 실제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관계 유형(Relationship Type)</a:t>
            </a:r>
            <a:r>
              <a:rPr sz="1600" b="0">
                <a:solidFill>
                  <a:srgbClr val="556175"/>
                </a:solidFill>
                <a:latin typeface="맑은 고딕"/>
                <a:ea typeface="맑은 고딕"/>
                <a:cs typeface="맑은 고딕"/>
              </a:rPr>
              <a:t>은 이름·방향·양 끝 클래스를 정하고, 실제 연결은 이를 따른다.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pic>
        <p:nvPicPr>
          <p:cNvPr id="6" name="삽화:관계유형.svg" descr="illust_9005405859657272529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525847"/>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3876424" y="4804477"/>
            <a:ext cx="11681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6956006" y="2615668"/>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478078" y="4889571"/>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1858767" y="4095359"/>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2" name="TextBox 11"/>
          <p:cNvSpPr txBox="1"/>
          <p:nvPr/>
        </p:nvSpPr>
        <p:spPr>
          <a:xfrm>
            <a:off x="4996755" y="3338968"/>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3" name="TextBox 12"/>
          <p:cNvSpPr txBox="1"/>
          <p:nvPr/>
        </p:nvSpPr>
        <p:spPr>
          <a:xfrm>
            <a:off x="8086956" y="4081177"/>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들어오는 관계와 나가는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나가는 관계와 들어오는 관계를 함께 보아야 한 대상에 이어진 것이 빠짐없이 보인다.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pic>
        <p:nvPicPr>
          <p:cNvPr id="6" name="삽화:들고나는관계.svg" descr="illust_7388052566821396466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5432144" y="3840077"/>
            <a:ext cx="1327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8" name="TextBox 7"/>
          <p:cNvSpPr txBox="1"/>
          <p:nvPr/>
        </p:nvSpPr>
        <p:spPr>
          <a:xfrm>
            <a:off x="1614524"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9" name="TextBox 8"/>
          <p:cNvSpPr txBox="1"/>
          <p:nvPr/>
        </p:nvSpPr>
        <p:spPr>
          <a:xfrm>
            <a:off x="1603905" y="5244129"/>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578960"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1" name="TextBox 10"/>
          <p:cNvSpPr txBox="1"/>
          <p:nvPr/>
        </p:nvSpPr>
        <p:spPr>
          <a:xfrm>
            <a:off x="9626747" y="5244129"/>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3324223" y="275749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3748993" y="486120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14" name="TextBox 13"/>
          <p:cNvSpPr txBox="1"/>
          <p:nvPr/>
        </p:nvSpPr>
        <p:spPr>
          <a:xfrm>
            <a:off x="7534755" y="3461881"/>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5" name="TextBox 14"/>
          <p:cNvSpPr txBox="1"/>
          <p:nvPr/>
        </p:nvSpPr>
        <p:spPr>
          <a:xfrm>
            <a:off x="7646257" y="4260820"/>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카디널리티와 관계의 속성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카디널리티의 네 가지 형태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 한쪽의 대상 하나에 이어질 수 있는 반대쪽 대상의 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카디널리티.svg" descr="illust_8889759215765717455_179203333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1:1 · MANIPULATES</a:t>
            </a:r>
          </a:p>
          <a:p>
            <a:pPr algn="ctr" eaLnBrk="0">
              <a:lnSpc>
                <a:spcPct val="110000"/>
              </a:lnSpc>
              <a:spcAft>
                <a:spcPts val="100"/>
              </a:spcAft>
            </a:pPr>
            <a:r>
              <a:rPr sz="1300" b="0">
                <a:solidFill>
                  <a:srgbClr val="556175"/>
                </a:solidFill>
                <a:latin typeface="맑은 고딕"/>
                <a:ea typeface="맑은 고딕"/>
                <a:cs typeface="맑은 고딕"/>
              </a:rPr>
              <a:t>팬 인버터 → 팬 속도</a:t>
            </a:r>
          </a:p>
        </p:txBody>
      </p:sp>
      <p:sp>
        <p:nvSpPr>
          <p:cNvPr id="8" name="TextBox 7"/>
          <p:cNvSpPr txBox="1"/>
          <p:nvPr/>
        </p:nvSpPr>
        <p:spPr>
          <a:xfrm>
            <a:off x="3477568"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1:N · HAS_STEP</a:t>
            </a:r>
          </a:p>
          <a:p>
            <a:pPr algn="ctr" eaLnBrk="0">
              <a:lnSpc>
                <a:spcPct val="110000"/>
              </a:lnSpc>
              <a:spcAft>
                <a:spcPts val="100"/>
              </a:spcAft>
            </a:pPr>
            <a:r>
              <a:rPr sz="1300" b="0">
                <a:solidFill>
                  <a:srgbClr val="556175"/>
                </a:solidFill>
                <a:latin typeface="맑은 고딕"/>
                <a:ea typeface="맑은 고딕"/>
                <a:cs typeface="맑은 고딕"/>
              </a:rPr>
              <a:t>팬 최대 운전 → 단계 셋</a:t>
            </a:r>
          </a:p>
        </p:txBody>
      </p:sp>
      <p:sp>
        <p:nvSpPr>
          <p:cNvPr id="9" name="TextBox 8"/>
          <p:cNvSpPr txBox="1"/>
          <p:nvPr/>
        </p:nvSpPr>
        <p:spPr>
          <a:xfrm>
            <a:off x="6204942"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N:1 · MEMBER_OF</a:t>
            </a:r>
          </a:p>
          <a:p>
            <a:pPr algn="ctr" eaLnBrk="0">
              <a:lnSpc>
                <a:spcPct val="110000"/>
              </a:lnSpc>
              <a:spcAft>
                <a:spcPts val="100"/>
              </a:spcAft>
            </a:pPr>
            <a:r>
              <a:rPr sz="1300" b="0">
                <a:solidFill>
                  <a:srgbClr val="556175"/>
                </a:solidFill>
                <a:latin typeface="맑은 고딕"/>
                <a:ea typeface="맑은 고딕"/>
                <a:cs typeface="맑은 고딕"/>
              </a:rPr>
              <a:t>역할 여럿 → 생산팀</a:t>
            </a:r>
          </a:p>
        </p:txBody>
      </p:sp>
      <p:sp>
        <p:nvSpPr>
          <p:cNvPr id="10" name="TextBox 9"/>
          <p:cNvSpPr txBox="1"/>
          <p:nvPr/>
        </p:nvSpPr>
        <p:spPr>
          <a:xfrm>
            <a:off x="8932316"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N:M · SUPPLIED_BY</a:t>
            </a:r>
          </a:p>
          <a:p>
            <a:pPr algn="ctr" eaLnBrk="0">
              <a:lnSpc>
                <a:spcPct val="110000"/>
              </a:lnSpc>
              <a:spcAft>
                <a:spcPts val="100"/>
              </a:spcAft>
            </a:pPr>
            <a:r>
              <a:rPr sz="1300" b="0">
                <a:solidFill>
                  <a:srgbClr val="556175"/>
                </a:solidFill>
                <a:latin typeface="맑은 고딕"/>
                <a:ea typeface="맑은 고딕"/>
                <a:cs typeface="맑은 고딕"/>
              </a:rPr>
              <a:t>부품 ↔ 공급사</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 선언과 실제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카디널리티는 스키마에 적은 선언이어서, 실제 데이터가 선언과 맞는지는 따로 대조해야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선언에 어긋난 데이터</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MANIPULATES는 1:1로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가정: 팬 인버터 → 팬 속도와 펌프 부하</a:t>
            </a:r>
          </a:p>
          <a:p>
            <a:pPr algn="l" eaLnBrk="0" marL="165735" indent="-165735">
              <a:lnSpc>
                <a:spcPct val="110000"/>
              </a:lnSpc>
              <a:spcAft>
                <a:spcPts val="600"/>
              </a:spcAft>
            </a:pPr>
            <a:r>
              <a:rPr sz="1450" b="0">
                <a:solidFill>
                  <a:srgbClr val="1F2A3A"/>
                </a:solidFill>
                <a:latin typeface="맑은 고딕"/>
                <a:ea typeface="맑은 고딕"/>
                <a:cs typeface="맑은 고딕"/>
              </a:rPr>
              <a:t>• 구동기 하나에 상태 변수 둘이 이어졌다</a:t>
            </a:r>
          </a:p>
        </p:txBody>
      </p:sp>
      <p:sp>
        <p:nvSpPr>
          <p:cNvPr id="11" name="Rounded Rectangle 10"/>
          <p:cNvSpPr/>
          <p:nvPr/>
        </p:nvSpPr>
        <p:spPr>
          <a:xfrm>
            <a:off x="868680" y="5547296"/>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다시 확인할 데이터</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git-compare" descr="git-compar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선언과 다르게 쓰이는 관계</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HAS_COMPONENT는 1:N으로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HYD-02 · HYD-03이 같은 comp:cooler를 가리킨다</a:t>
            </a:r>
          </a:p>
          <a:p>
            <a:pPr algn="l" eaLnBrk="0" marL="165735" indent="-165735">
              <a:lnSpc>
                <a:spcPct val="110000"/>
              </a:lnSpc>
              <a:spcAft>
                <a:spcPts val="600"/>
              </a:spcAft>
            </a:pPr>
            <a:r>
              <a:rPr sz="1450" b="0">
                <a:solidFill>
                  <a:srgbClr val="1F2A3A"/>
                </a:solidFill>
                <a:latin typeface="맑은 고딕"/>
                <a:ea typeface="맑은 고딕"/>
                <a:cs typeface="맑은 고딕"/>
              </a:rPr>
              <a:t>• 기종의 공통 구성 지식이며, 개별 쿨러를 구별하지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구성 요소 하나에 설비 셋이 이어져 다대다처럼 쓰인다</a:t>
            </a:r>
          </a:p>
        </p:txBody>
      </p:sp>
      <p:sp>
        <p:nvSpPr>
          <p:cNvPr id="18" name="Rounded Rectangle 17"/>
          <p:cNvSpPr/>
          <p:nvPr/>
        </p:nvSpPr>
        <p:spPr>
          <a:xfrm>
            <a:off x="6781647" y="5547296"/>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선언과 데이터의 차이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대상의 짝에 붙는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부품과 공급사의 짝마다 달라지는 단가와 납기는 둘을 잇는 </a:t>
            </a:r>
            <a:r>
              <a:rPr sz="1600" b="1">
                <a:solidFill>
                  <a:srgbClr val="1A6FC4"/>
                </a:solidFill>
                <a:latin typeface="맑은 고딕"/>
                <a:ea typeface="맑은 고딕"/>
                <a:cs typeface="맑은 고딕"/>
              </a:rPr>
              <a:t>관계의 속성</a:t>
            </a:r>
            <a:r>
              <a:rPr sz="1600" b="0">
                <a:solidFill>
                  <a:srgbClr val="556175"/>
                </a:solidFill>
                <a:latin typeface="맑은 고딕"/>
                <a:ea typeface="맑은 고딕"/>
                <a:cs typeface="맑은 고딕"/>
              </a:rPr>
              <a:t>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"type": "SUPPLIED_BY",</a:t>
            </a:r>
          </a:p>
          <a:p>
            <a:pPr algn="l" eaLnBrk="0">
              <a:lnSpc>
                <a:spcPct val="110000"/>
              </a:lnSpc>
              <a:spcAft>
                <a:spcPts val="200"/>
              </a:spcAft>
            </a:pPr>
            <a:r>
              <a:rPr sz="1300" b="0">
                <a:solidFill>
                  <a:srgbClr val="E8EEF6"/>
                </a:solidFill>
                <a:latin typeface="Consolas"/>
                <a:ea typeface="맑은 고딕"/>
                <a:cs typeface="맑은 고딕"/>
              </a:rPr>
              <a:t>"from": ["Part"],  "to": ["Supplier"],</a:t>
            </a:r>
          </a:p>
          <a:p>
            <a:pPr algn="l" eaLnBrk="0">
              <a:lnSpc>
                <a:spcPct val="110000"/>
              </a:lnSpc>
              <a:spcAft>
                <a:spcPts val="200"/>
              </a:spcAft>
            </a:pPr>
            <a:r>
              <a:rPr sz="1300" b="0">
                <a:solidFill>
                  <a:srgbClr val="E8EEF6"/>
                </a:solidFill>
                <a:latin typeface="Consolas"/>
                <a:ea typeface="맑은 고딕"/>
                <a:cs typeface="맑은 고딕"/>
              </a:rPr>
              <a:t>"cardinality": "N:M",</a:t>
            </a:r>
          </a:p>
          <a:p>
            <a:pPr algn="l" eaLnBrk="0">
              <a:lnSpc>
                <a:spcPct val="110000"/>
              </a:lnSpc>
              <a:spcAft>
                <a:spcPts val="200"/>
              </a:spcAft>
            </a:pPr>
            <a:r>
              <a:rPr sz="1300" b="0">
                <a:solidFill>
                  <a:srgbClr val="E8EEF6"/>
                </a:solidFill>
                <a:latin typeface="Consolas"/>
                <a:ea typeface="맑은 고딕"/>
                <a:cs typeface="맑은 고딕"/>
              </a:rPr>
              <a:t>"properties": [</a:t>
            </a:r>
          </a:p>
          <a:p>
            <a:pPr algn="l" eaLnBrk="0">
              <a:lnSpc>
                <a:spcPct val="110000"/>
              </a:lnSpc>
              <a:spcAft>
                <a:spcPts val="200"/>
              </a:spcAft>
            </a:pPr>
            <a:r>
              <a:rPr sz="1300" b="0">
                <a:solidFill>
                  <a:srgbClr val="E8EEF6"/>
                </a:solidFill>
                <a:latin typeface="Consolas"/>
                <a:ea typeface="맑은 고딕"/>
                <a:cs typeface="맑은 고딕"/>
              </a:rPr>
              <a:t>  {"name": "price",    "type": "number", "required": true},</a:t>
            </a:r>
          </a:p>
          <a:p>
            <a:pPr algn="l" eaLnBrk="0">
              <a:lnSpc>
                <a:spcPct val="110000"/>
              </a:lnSpc>
              <a:spcAft>
                <a:spcPts val="200"/>
              </a:spcAft>
            </a:pPr>
            <a:r>
              <a:rPr sz="1300" b="0">
                <a:solidFill>
                  <a:srgbClr val="E8EEF6"/>
                </a:solidFill>
                <a:latin typeface="Consolas"/>
                <a:ea typeface="맑은 고딕"/>
                <a:cs typeface="맑은 고딕"/>
              </a:rPr>
              <a:t>  {"name": "failRate", "type": "number", "required": true},</a:t>
            </a:r>
          </a:p>
          <a:p>
            <a:pPr algn="l" eaLnBrk="0">
              <a:lnSpc>
                <a:spcPct val="110000"/>
              </a:lnSpc>
              <a:spcAft>
                <a:spcPts val="200"/>
              </a:spcAft>
            </a:pPr>
            <a:r>
              <a:rPr sz="1300" b="0">
                <a:solidFill>
                  <a:srgbClr val="E8EEF6"/>
                </a:solidFill>
                <a:latin typeface="Consolas"/>
                <a:ea typeface="맑은 고딕"/>
                <a:cs typeface="맑은 고딕"/>
              </a:rPr>
              <a:t>  {"name": "leadDays", "type": "number"} ]</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eaLnBrk="0">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price 35, failRate 0.12, leadDays 2</a:t>
            </a:r>
          </a:p>
          <a:p>
            <a:pPr algn="l" eaLnBrk="0">
              <a:lnSpc>
                <a:spcPct val="110000"/>
              </a:lnSpc>
              <a:spcAft>
                <a:spcPts val="200"/>
              </a:spcAft>
            </a:pPr>
            <a:r>
              <a:rPr sz="1300" b="0">
                <a:solidFill>
                  <a:srgbClr val="E8EEF6"/>
                </a:solidFill>
                <a:latin typeface="Consolas"/>
                <a:ea typeface="맑은 고딕"/>
                <a:cs typeface="맑은 고딕"/>
              </a:rPr>
              <a:t>B-OEM:     price 55, failRate 0.02, leadDays 5</a:t>
            </a:r>
          </a:p>
          <a:p>
            <a:pPr algn="l" eaLnBrk="0">
              <a:lnSpc>
                <a:spcPct val="110000"/>
              </a:lnSpc>
              <a:spcAft>
                <a:spcPts val="200"/>
              </a:spcAft>
            </a:pPr>
            <a:r>
              <a:rPr sz="1300" b="0">
                <a:solidFill>
                  <a:srgbClr val="E8EEF6"/>
                </a:solidFill>
                <a:latin typeface="Consolas"/>
                <a:ea typeface="맑은 고딕"/>
                <a:cs typeface="맑은 고딕"/>
              </a:rPr>
              <a:t>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price 20, failRate 0.30, leadDays 1</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관계의 속성(Relationship Property)</a:t>
            </a:r>
          </a:p>
          <a:p>
            <a:pPr algn="l" eaLnBrk="0">
              <a:lnSpc>
                <a:spcPct val="110000"/>
              </a:lnSpc>
              <a:spcAft>
                <a:spcPts val="400"/>
              </a:spcAft>
            </a:pPr>
            <a:r>
              <a:rPr sz="1350" b="0">
                <a:solidFill>
                  <a:srgbClr val="1F2A3A"/>
                </a:solidFill>
                <a:latin typeface="맑은 고딕"/>
                <a:ea typeface="맑은 고딕"/>
                <a:cs typeface="맑은 고딕"/>
              </a:rPr>
              <a:t>두 대상의 짝에 딸린 값이다. 같은 부품도 공급사마다 값이 달라 한쪽에 하나로 둘 수 없다.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price</a:t>
            </a:r>
          </a:p>
          <a:p>
            <a:pPr algn="l" eaLnBrk="0">
              <a:lnSpc>
                <a:spcPct val="110000"/>
              </a:lnSpc>
              <a:spcAft>
                <a:spcPts val="400"/>
              </a:spcAft>
            </a:pPr>
            <a:r>
              <a:rPr sz="1400" b="0">
                <a:solidFill>
                  <a:srgbClr val="1F2A3A"/>
                </a:solidFill>
                <a:latin typeface="맑은 고딕"/>
                <a:ea typeface="맑은 고딕"/>
                <a:cs typeface="맑은 고딕"/>
              </a:rPr>
              <a:t>단가이며 만원 단위이다: 35 · 55 · 20만원.</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leadDays</a:t>
            </a:r>
          </a:p>
          <a:p>
            <a:pPr algn="l" eaLnBrk="0">
              <a:lnSpc>
                <a:spcPct val="110000"/>
              </a:lnSpc>
              <a:spcAft>
                <a:spcPts val="400"/>
              </a:spcAft>
            </a:pPr>
            <a:r>
              <a:rPr sz="1400" b="0">
                <a:solidFill>
                  <a:srgbClr val="1F2A3A"/>
                </a:solidFill>
                <a:latin typeface="맑은 고딕"/>
                <a:ea typeface="맑은 고딕"/>
                <a:cs typeface="맑은 고딕"/>
              </a:rPr>
              <a:t>납기이며 일 단위이다: 2 · 5 · 1일.</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failRate</a:t>
            </a:r>
          </a:p>
          <a:p>
            <a:pPr algn="l" eaLnBrk="0">
              <a:lnSpc>
                <a:spcPct val="110000"/>
              </a:lnSpc>
              <a:spcAft>
                <a:spcPts val="400"/>
              </a:spcAft>
            </a:pPr>
            <a:r>
              <a:rPr sz="1400" b="0">
                <a:solidFill>
                  <a:srgbClr val="1F2A3A"/>
                </a:solidFill>
                <a:latin typeface="맑은 고딕"/>
                <a:ea typeface="맑은 고딕"/>
                <a:cs typeface="맑은 고딕"/>
              </a:rPr>
              <a:t>불량률이다: 0.12 · 0.02 · 0.30, 곧 12 · 2 · 30 %이다.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계층과 모델링 선택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계층과 상속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FlowNode의 id·name을 세 하위 클래스가 </a:t>
            </a:r>
            <a:r>
              <a:rPr sz="1600" b="1">
                <a:solidFill>
                  <a:srgbClr val="1A6FC4"/>
                </a:solidFill>
                <a:latin typeface="맑은 고딕"/>
                <a:ea typeface="맑은 고딕"/>
                <a:cs typeface="맑은 고딕"/>
              </a:rPr>
              <a:t>상속</a:t>
            </a:r>
            <a:r>
              <a:rPr sz="1600" b="0">
                <a:solidFill>
                  <a:srgbClr val="556175"/>
                </a:solidFill>
                <a:latin typeface="맑은 고딕"/>
                <a:ea typeface="맑은 고딕"/>
                <a:cs typeface="맑은 고딕"/>
              </a:rPr>
              <a:t>하고, Task는 taskType을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pic>
        <p:nvPicPr>
          <p:cNvPr id="6" name="삽화:상속_하위.svg" descr="illust_1578750903048685873_179203333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568518" y="2100376"/>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상위 클래스(Superclass)</a:t>
            </a:r>
          </a:p>
          <a:p>
            <a:pPr algn="ctr" eaLnBrk="0">
              <a:lnSpc>
                <a:spcPct val="110000"/>
              </a:lnSpc>
              <a:spcAft>
                <a:spcPts val="100"/>
              </a:spcAft>
            </a:pPr>
            <a:r>
              <a:rPr sz="1300" b="0">
                <a:solidFill>
                  <a:srgbClr val="556175"/>
                </a:solidFill>
                <a:latin typeface="맑은 고딕"/>
                <a:ea typeface="맑은 고딕"/>
                <a:cs typeface="맑은 고딕"/>
              </a:rPr>
              <a:t>FlowNode</a:t>
            </a:r>
          </a:p>
        </p:txBody>
      </p:sp>
      <p:sp>
        <p:nvSpPr>
          <p:cNvPr id="8" name="TextBox 7"/>
          <p:cNvSpPr txBox="1"/>
          <p:nvPr/>
        </p:nvSpPr>
        <p:spPr>
          <a:xfrm>
            <a:off x="6423132" y="3310603"/>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상속(Inheritance)</a:t>
            </a:r>
          </a:p>
        </p:txBody>
      </p:sp>
      <p:sp>
        <p:nvSpPr>
          <p:cNvPr id="9" name="TextBox 8"/>
          <p:cNvSpPr txBox="1"/>
          <p:nvPr/>
        </p:nvSpPr>
        <p:spPr>
          <a:xfrm>
            <a:off x="121930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Event</a:t>
            </a:r>
          </a:p>
        </p:txBody>
      </p:sp>
      <p:sp>
        <p:nvSpPr>
          <p:cNvPr id="10" name="TextBox 9"/>
          <p:cNvSpPr txBox="1"/>
          <p:nvPr/>
        </p:nvSpPr>
        <p:spPr>
          <a:xfrm>
            <a:off x="4552154" y="4657926"/>
            <a:ext cx="30873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작업(Task)</a:t>
            </a:r>
          </a:p>
          <a:p>
            <a:pPr algn="ctr" eaLnBrk="0">
              <a:lnSpc>
                <a:spcPct val="110000"/>
              </a:lnSpc>
              <a:spcAft>
                <a:spcPts val="100"/>
              </a:spcAft>
            </a:pPr>
            <a:r>
              <a:rPr sz="1300" b="0">
                <a:solidFill>
                  <a:srgbClr val="556175"/>
                </a:solidFill>
                <a:latin typeface="맑은 고딕"/>
                <a:ea typeface="맑은 고딕"/>
                <a:cs typeface="맑은 고딕"/>
              </a:rPr>
              <a:t>규정 검토</a:t>
            </a:r>
          </a:p>
        </p:txBody>
      </p:sp>
      <p:sp>
        <p:nvSpPr>
          <p:cNvPr id="11" name="TextBox 10"/>
          <p:cNvSpPr txBox="1"/>
          <p:nvPr/>
        </p:nvSpPr>
        <p:spPr>
          <a:xfrm>
            <a:off x="813592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Gateway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새 클래스를 정의하는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갖는 속성과 맺는 관계가 다르면 클래스를 나누고, 같은 유형의 대상이 늘면 인스턴스를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클래스를 나눈다</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센서(Sensor): tag TS1 · unit ℃</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읽는다(OBSERVES)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resource FanSpeedSP · min 0 · max 100</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바꾼다(MANIPULATES)</a:t>
            </a:r>
          </a:p>
        </p:txBody>
      </p:sp>
      <p:sp>
        <p:nvSpPr>
          <p:cNvPr id="11" name="Rounded Rectangle 10"/>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클래스</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circle-plus" descr="circle-plus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유온 센서 · 토출 압력 센서 · 팬 진동 센서는 속성과 관계가 같다</a:t>
            </a:r>
          </a:p>
          <a:p>
            <a:pPr algn="l" eaLnBrk="0" marL="205740" indent="-205740">
              <a:lnSpc>
                <a:spcPct val="110000"/>
              </a:lnSpc>
              <a:spcAft>
                <a:spcPts val="600"/>
              </a:spcAft>
            </a:pPr>
            <a:r>
              <a:rPr sz="1800" b="0">
                <a:solidFill>
                  <a:srgbClr val="1F2A3A"/>
                </a:solidFill>
                <a:latin typeface="맑은 고딕"/>
                <a:ea typeface="맑은 고딕"/>
                <a:cs typeface="맑은 고딕"/>
              </a:rPr>
              <a:t>• 셋 모두 Sensor의 인스턴스로 둔다</a:t>
            </a:r>
          </a:p>
          <a:p>
            <a:pPr algn="l" eaLnBrk="0" marL="205740" indent="-205740">
              <a:lnSpc>
                <a:spcPct val="110000"/>
              </a:lnSpc>
              <a:spcAft>
                <a:spcPts val="600"/>
              </a:spcAft>
            </a:pPr>
            <a:r>
              <a:rPr sz="1800" b="0">
                <a:solidFill>
                  <a:srgbClr val="1F2A3A"/>
                </a:solidFill>
                <a:latin typeface="맑은 고딕"/>
                <a:ea typeface="맑은 고딕"/>
                <a:cs typeface="맑은 고딕"/>
              </a:rPr>
              <a:t>• 이 모델의 질문 범위에서는 센서마다 클래스를 둘 까닭이 없다</a:t>
            </a:r>
          </a:p>
        </p:txBody>
      </p:sp>
      <p:sp>
        <p:nvSpPr>
          <p:cNvPr id="18" name="Rounded Rectangle 17"/>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기존 클래스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정보를 표현하는 네 가지 선택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정보 하나를 클래스 · 속성 · 관계 · 관계의 속성 가운데 어디에 둘지는 그 정보가 무엇에 딸렸는지로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고르는 기준과 실제 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값이 딸린 자리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속성과 관계를 갖는 대상이 여럿이다</a:t>
            </a:r>
          </a:p>
          <a:p>
            <a:pPr algn="l" eaLnBrk="0">
              <a:lnSpc>
                <a:spcPct val="110000"/>
              </a:lnSpc>
            </a:pPr>
            <a:r>
              <a:rPr sz="1400" b="0">
                <a:solidFill>
                  <a:srgbClr val="1F2A3A"/>
                </a:solidFill>
                <a:latin typeface="맑은 고딕"/>
                <a:ea typeface="맑은 고딕"/>
                <a:cs typeface="맑은 고딕"/>
              </a:rPr>
              <a:t>예: Sensor, Actuator</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유형</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한 대상에 딸린 값으로 끝난다</a:t>
            </a:r>
          </a:p>
          <a:p>
            <a:pPr algn="l" eaLnBrk="0">
              <a:lnSpc>
                <a:spcPct val="110000"/>
              </a:lnSpc>
            </a:pPr>
            <a:r>
              <a:rPr sz="1400" b="0">
                <a:solidFill>
                  <a:srgbClr val="1F2A3A"/>
                </a:solidFill>
                <a:latin typeface="맑은 고딕"/>
                <a:ea typeface="맑은 고딕"/>
                <a:cs typeface="맑은 고딕"/>
              </a:rPr>
              <a:t>쿨러 코어: partNo P-CLR-CORE</a:t>
            </a:r>
          </a:p>
          <a:p>
            <a:pPr algn="l" eaLnBrk="0">
              <a:lnSpc>
                <a:spcPct val="110000"/>
              </a:lnSpc>
            </a:pPr>
            <a:r>
              <a:rPr sz="1400" b="0">
                <a:solidFill>
                  <a:srgbClr val="1F2A3A"/>
                </a:solidFill>
                <a:latin typeface="맑은 고딕"/>
                <a:ea typeface="맑은 고딕"/>
                <a:cs typeface="맑은 고딕"/>
              </a:rPr>
              <a:t>공급사 A정밀: avl true</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자기 속성과 관계를 가진 다른 대상을 가리킨다</a:t>
            </a:r>
          </a:p>
          <a:p>
            <a:pPr algn="l" eaLnBrk="0">
              <a:lnSpc>
                <a:spcPct val="110000"/>
              </a:lnSpc>
            </a:pPr>
            <a:r>
              <a:rPr sz="1400" b="0">
                <a:solidFill>
                  <a:srgbClr val="1F2A3A"/>
                </a:solidFill>
                <a:latin typeface="맑은 고딕"/>
                <a:ea typeface="맑은 고딕"/>
                <a:cs typeface="맑은 고딕"/>
              </a:rPr>
              <a:t>예: 오일 쿨러 → 쿨러 코어: USES_PART</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관계의 속성</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두 대상의 짝마다 값이 달라진다</a:t>
            </a:r>
          </a:p>
          <a:p>
            <a:pPr algn="l" eaLnBrk="0">
              <a:lnSpc>
                <a:spcPct val="110000"/>
              </a:lnSpc>
            </a:pPr>
            <a:r>
              <a:rPr sz="1400" b="0">
                <a:solidFill>
                  <a:srgbClr val="1F2A3A"/>
                </a:solidFill>
                <a:latin typeface="맑은 고딕"/>
                <a:ea typeface="맑은 고딕"/>
                <a:cs typeface="맑은 고딕"/>
              </a:rPr>
              <a:t>SUPPLIED_BY: price · leadDays</a:t>
            </a:r>
          </a:p>
          <a:p>
            <a:pPr algn="l" eaLnBrk="0">
              <a:lnSpc>
                <a:spcPct val="110000"/>
              </a:lnSpc>
            </a:pPr>
            <a:r>
              <a:rPr sz="1400" b="0">
                <a:solidFill>
                  <a:srgbClr val="1F2A3A"/>
                </a:solidFill>
                <a:latin typeface="맑은 고딕"/>
                <a:ea typeface="맑은 고딕"/>
                <a:cs typeface="맑은 고딕"/>
              </a:rPr>
              <a:t>펌프 축 씰 키트 → A정밀: 35만원 · 2일</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짝의 값</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스키마와 식별자</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의미 불일치를 막으려고,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가 있을 수 있는 클래스 · 속성 · 관계를 먼저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60879"/>
            <a:ext cx="731520" cy="731520"/>
          </a:xfrm>
          <a:prstGeom prst="ellipse">
            <a:avLst/>
          </a:prstGeom>
          <a:solidFill>
            <a:srgbClr val="5CB8F2"/>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스키마(Schema)</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클래스 · 속성 · 관계 · 제약의 정의만 담는다</a:t>
            </a:r>
          </a:p>
          <a:p>
            <a:pPr algn="l" eaLnBrk="0" marL="171450" indent="-171450">
              <a:lnSpc>
                <a:spcPct val="110000"/>
              </a:lnSpc>
              <a:spcAft>
                <a:spcPts val="600"/>
              </a:spcAft>
            </a:pPr>
            <a:r>
              <a:rPr sz="1500" b="0">
                <a:solidFill>
                  <a:srgbClr val="1F2A3A"/>
                </a:solidFill>
                <a:latin typeface="맑은 고딕"/>
                <a:ea typeface="맑은 고딕"/>
                <a:cs typeface="맑은 고딕"/>
              </a:rPr>
              <a:t>• 실제 대상은 들어 있지 않다</a:t>
            </a:r>
          </a:p>
          <a:p>
            <a:pPr algn="l" eaLnBrk="0" marL="171450" indent="-171450">
              <a:lnSpc>
                <a:spcPct val="110000"/>
              </a:lnSpc>
              <a:spcAft>
                <a:spcPts val="600"/>
              </a:spcAft>
            </a:pPr>
            <a:r>
              <a:rPr sz="1500" b="0">
                <a:solidFill>
                  <a:srgbClr val="1F2A3A"/>
                </a:solidFill>
                <a:latin typeface="맑은 고딕"/>
                <a:ea typeface="맑은 고딕"/>
                <a:cs typeface="맑은 고딕"/>
              </a:rPr>
              <a:t>• 예: 「센서에는 tag가 있어야 한다」</a:t>
            </a:r>
          </a:p>
          <a:p>
            <a:pPr algn="l" eaLnBrk="0" marL="171450" indent="-171450">
              <a:lnSpc>
                <a:spcPct val="110000"/>
              </a:lnSpc>
              <a:spcAft>
                <a:spcPts val="600"/>
              </a:spcAft>
            </a:pPr>
            <a:r>
              <a:rPr sz="1500" b="0">
                <a:solidFill>
                  <a:srgbClr val="1F2A3A"/>
                </a:solidFill>
                <a:latin typeface="맑은 고딕"/>
                <a:ea typeface="맑은 고딕"/>
                <a:cs typeface="맑은 고딕"/>
              </a:rPr>
              <a:t>• 넣는 사람과 읽는 프로그램이 같은 정의를 기준으로 삼는다</a:t>
            </a:r>
          </a:p>
        </p:txBody>
      </p:sp>
      <p:sp>
        <p:nvSpPr>
          <p:cNvPr id="11" name="Rounded Rectangle 10"/>
          <p:cNvSpPr/>
          <p:nvPr/>
        </p:nvSpPr>
        <p:spPr>
          <a:xfrm>
            <a:off x="868680" y="5265801"/>
            <a:ext cx="141732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65801"/>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있을 수 있는 것</a:t>
            </a:r>
          </a:p>
        </p:txBody>
      </p:sp>
      <p:sp>
        <p:nvSpPr>
          <p:cNvPr id="13" name="Rounded Rectangle 12"/>
          <p:cNvSpPr/>
          <p:nvPr/>
        </p:nvSpPr>
        <p:spPr>
          <a:xfrm>
            <a:off x="6461607" y="2259711"/>
            <a:ext cx="5181447" cy="346329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60879"/>
            <a:ext cx="731520" cy="731520"/>
          </a:xfrm>
          <a:prstGeom prst="ellipse">
            <a:avLst/>
          </a:prstGeom>
          <a:solidFill>
            <a:srgbClr val="FFFFFF"/>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 데이터(Instance Data)</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정의에 맞춰 적은 실제 대상과 그 사이의 관계이다</a:t>
            </a:r>
          </a:p>
          <a:p>
            <a:pPr algn="l" eaLnBrk="0" marL="165735" indent="-165735">
              <a:lnSpc>
                <a:spcPct val="110000"/>
              </a:lnSpc>
              <a:spcAft>
                <a:spcPts val="600"/>
              </a:spcAft>
            </a:pPr>
            <a:r>
              <a:rPr sz="1450" b="0">
                <a:solidFill>
                  <a:srgbClr val="1F2A3A"/>
                </a:solidFill>
                <a:latin typeface="맑은 고딕"/>
                <a:ea typeface="맑은 고딕"/>
                <a:cs typeface="맑은 고딕"/>
              </a:rPr>
              <a:t>• 예: 「유온 센서 sen:ts1의 tag는 TS1이다」</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늘면 이쪽에 인스턴스를 더한다</a:t>
            </a:r>
          </a:p>
        </p:txBody>
      </p:sp>
      <p:sp>
        <p:nvSpPr>
          <p:cNvPr id="18" name="Rounded Rectangle 17"/>
          <p:cNvSpPr/>
          <p:nvPr/>
        </p:nvSpPr>
        <p:spPr>
          <a:xfrm>
            <a:off x="6781647" y="5265801"/>
            <a:ext cx="137160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65801"/>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실제로 있는 것</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 · 이름 · 별칭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장치가 이름마다 다른 노드로 흩어지지 않게, 고유한 </a:t>
            </a: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로 가리키고 이름과 별칭은 따로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24608"/>
            <a:ext cx="731520" cy="731520"/>
          </a:xfrm>
          <a:prstGeom prst="ellipse">
            <a:avLst/>
          </a:prstGeom>
          <a:solidFill>
            <a:srgbClr val="5CB8F2"/>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식별자(Identifier)</a:t>
            </a:r>
          </a:p>
          <a:p>
            <a:pPr algn="l" eaLnBrk="0" marL="182880" indent="-182880">
              <a:lnSpc>
                <a:spcPct val="110000"/>
              </a:lnSpc>
              <a:spcAft>
                <a:spcPts val="400"/>
              </a:spcAft>
            </a:pPr>
            <a:r>
              <a:rPr sz="1600" b="0">
                <a:solidFill>
                  <a:srgbClr val="1F2A3A"/>
                </a:solidFill>
                <a:latin typeface="맑은 고딕"/>
                <a:ea typeface="맑은 고딕"/>
                <a:cs typeface="맑은 고딕"/>
              </a:rPr>
              <a:t>• 대상 하나의 고유한 값이며 바꾸지 않는다</a:t>
            </a:r>
          </a:p>
          <a:p>
            <a:pPr algn="l" eaLnBrk="0" marL="182880" indent="-182880">
              <a:lnSpc>
                <a:spcPct val="110000"/>
              </a:lnSpc>
              <a:spcAft>
                <a:spcPts val="400"/>
              </a:spcAft>
            </a:pPr>
            <a:r>
              <a:rPr sz="1600" b="0">
                <a:solidFill>
                  <a:srgbClr val="1F2A3A"/>
                </a:solidFill>
                <a:latin typeface="맑은 고딕"/>
                <a:ea typeface="맑은 고딕"/>
                <a:cs typeface="맑은 고딕"/>
              </a:rPr>
              <a:t>• 설비: asset:hyd-01 · asset:hyd-02 · asset:hyd-03</a:t>
            </a:r>
          </a:p>
          <a:p>
            <a:pPr algn="l" eaLnBrk="0" marL="182880" indent="-182880">
              <a:lnSpc>
                <a:spcPct val="110000"/>
              </a:lnSpc>
              <a:spcAft>
                <a:spcPts val="400"/>
              </a:spcAft>
            </a:pPr>
            <a:r>
              <a:rPr sz="1600" b="0">
                <a:solidFill>
                  <a:srgbClr val="1F2A3A"/>
                </a:solidFill>
                <a:latin typeface="맑은 고딕"/>
                <a:ea typeface="맑은 고딕"/>
                <a:cs typeface="맑은 고딕"/>
              </a:rPr>
              <a:t>• 센서: sen:ts1</a:t>
            </a:r>
          </a:p>
          <a:p>
            <a:pPr algn="l" eaLnBrk="0" marL="182880" indent="-182880">
              <a:lnSpc>
                <a:spcPct val="110000"/>
              </a:lnSpc>
              <a:spcAft>
                <a:spcPts val="400"/>
              </a:spcAft>
            </a:pPr>
            <a:r>
              <a:rPr sz="1600" b="0">
                <a:solidFill>
                  <a:srgbClr val="1F2A3A"/>
                </a:solidFill>
                <a:latin typeface="맑은 고딕"/>
                <a:ea typeface="맑은 고딕"/>
                <a:cs typeface="맑은 고딕"/>
              </a:rPr>
              <a:t>• 상태 변수: sv:ts1</a:t>
            </a:r>
          </a:p>
        </p:txBody>
      </p:sp>
      <p:sp>
        <p:nvSpPr>
          <p:cNvPr id="10" name="Rounded Rectangle 9"/>
          <p:cNvSpPr/>
          <p:nvPr/>
        </p:nvSpPr>
        <p:spPr>
          <a:xfrm>
            <a:off x="777240" y="542950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id</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ag" descr="tag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이름(Name)</a:t>
            </a:r>
          </a:p>
          <a:p>
            <a:pPr algn="l" eaLnBrk="0" marL="182880" indent="-182880">
              <a:lnSpc>
                <a:spcPct val="110000"/>
              </a:lnSpc>
              <a:spcAft>
                <a:spcPts val="400"/>
              </a:spcAft>
            </a:pPr>
            <a:r>
              <a:rPr sz="1600" b="0">
                <a:solidFill>
                  <a:srgbClr val="1F2A3A"/>
                </a:solidFill>
                <a:latin typeface="맑은 고딕"/>
                <a:ea typeface="맑은 고딕"/>
                <a:cs typeface="맑은 고딕"/>
              </a:rPr>
              <a:t>• 사람이 읽는 한국어 이름이며 겹치거나 바뀔 수 있다</a:t>
            </a:r>
          </a:p>
          <a:p>
            <a:pPr algn="l" eaLnBrk="0" marL="182880" indent="-182880">
              <a:lnSpc>
                <a:spcPct val="110000"/>
              </a:lnSpc>
              <a:spcAft>
                <a:spcPts val="400"/>
              </a:spcAft>
            </a:pPr>
            <a:r>
              <a:rPr sz="1600" b="0">
                <a:solidFill>
                  <a:srgbClr val="1F2A3A"/>
                </a:solidFill>
                <a:latin typeface="맑은 고딕"/>
                <a:ea typeface="맑은 고딕"/>
                <a:cs typeface="맑은 고딕"/>
              </a:rPr>
              <a:t>• 「HYD-01 유압 파워팩」, 「오일 쿨러」</a:t>
            </a:r>
          </a:p>
        </p:txBody>
      </p:sp>
      <p:sp>
        <p:nvSpPr>
          <p:cNvPr id="16" name="Rounded Rectangle 15"/>
          <p:cNvSpPr/>
          <p:nvPr/>
        </p:nvSpPr>
        <p:spPr>
          <a:xfrm>
            <a:off x="4566818"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name</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list-search" descr="list-search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별칭(Alias)</a:t>
            </a:r>
          </a:p>
          <a:p>
            <a:pPr algn="l" eaLnBrk="0" marL="182880" indent="-182880">
              <a:lnSpc>
                <a:spcPct val="110000"/>
              </a:lnSpc>
              <a:spcAft>
                <a:spcPts val="400"/>
              </a:spcAft>
            </a:pPr>
            <a:r>
              <a:rPr sz="1600" b="0">
                <a:solidFill>
                  <a:srgbClr val="1F2A3A"/>
                </a:solidFill>
                <a:latin typeface="맑은 고딕"/>
                <a:ea typeface="맑은 고딕"/>
                <a:cs typeface="맑은 고딕"/>
              </a:rPr>
              <a:t>• 같은 대상을 부르는 다른 이름의 목록이다</a:t>
            </a:r>
          </a:p>
          <a:p>
            <a:pPr algn="l" eaLnBrk="0" marL="182880" indent="-182880">
              <a:lnSpc>
                <a:spcPct val="110000"/>
              </a:lnSpc>
              <a:spcAft>
                <a:spcPts val="400"/>
              </a:spcAft>
            </a:pPr>
            <a:r>
              <a:rPr sz="1600" b="0">
                <a:solidFill>
                  <a:srgbClr val="1F2A3A"/>
                </a:solidFill>
                <a:latin typeface="맑은 고딕"/>
                <a:ea typeface="맑은 고딕"/>
                <a:cs typeface="맑은 고딕"/>
              </a:rPr>
              <a:t>• comp:cooler: 쿨러, 열교환기</a:t>
            </a:r>
          </a:p>
          <a:p>
            <a:pPr algn="l" eaLnBrk="0" marL="182880" indent="-182880">
              <a:lnSpc>
                <a:spcPct val="110000"/>
              </a:lnSpc>
              <a:spcAft>
                <a:spcPts val="400"/>
              </a:spcAft>
            </a:pPr>
            <a:r>
              <a:rPr sz="1600" b="0">
                <a:solidFill>
                  <a:srgbClr val="1F2A3A"/>
                </a:solidFill>
                <a:latin typeface="맑은 고딕"/>
                <a:ea typeface="맑은 고딕"/>
                <a:cs typeface="맑은 고딕"/>
              </a:rPr>
              <a:t>• sv:ts1: 오일 온도, 작동유 온도, TS1</a:t>
            </a:r>
          </a:p>
        </p:txBody>
      </p:sp>
      <p:sp>
        <p:nvSpPr>
          <p:cNvPr id="22" name="Rounded Rectangle 21"/>
          <p:cNvSpPr/>
          <p:nvPr/>
        </p:nvSpPr>
        <p:spPr>
          <a:xfrm>
            <a:off x="8356396" y="5429504"/>
            <a:ext cx="920496"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92049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aliases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여러 저장소를 잇는 공통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구성 요소·센서 노드를 세 설비가 공유하므로, 계측값은 설비 코드와 태그로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pic>
        <p:nvPicPr>
          <p:cNvPr id="6" name="삽화:공통식별자_2.svg" descr="illust_1269675745633768100_179203333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3542248"/>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공통 식별자</a:t>
            </a:r>
          </a:p>
          <a:p>
            <a:pPr algn="ctr" eaLnBrk="0">
              <a:lnSpc>
                <a:spcPct val="110000"/>
              </a:lnSpc>
              <a:spcAft>
                <a:spcPts val="100"/>
              </a:spcAft>
            </a:pPr>
            <a:r>
              <a:rPr sz="1300" b="0">
                <a:solidFill>
                  <a:srgbClr val="556175"/>
                </a:solidFill>
                <a:latin typeface="맑은 고딕"/>
                <a:ea typeface="맑은 고딕"/>
                <a:cs typeface="맑은 고딕"/>
              </a:rPr>
              <a:t>설비 코드 + 태그</a:t>
            </a:r>
          </a:p>
        </p:txBody>
      </p:sp>
      <p:sp>
        <p:nvSpPr>
          <p:cNvPr id="8" name="TextBox 7"/>
          <p:cNvSpPr txBox="1"/>
          <p:nvPr/>
        </p:nvSpPr>
        <p:spPr>
          <a:xfrm>
            <a:off x="859290" y="4109542"/>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그래프</a:t>
            </a:r>
          </a:p>
          <a:p>
            <a:pPr algn="ctr" eaLnBrk="0">
              <a:lnSpc>
                <a:spcPct val="110000"/>
              </a:lnSpc>
              <a:spcAft>
                <a:spcPts val="100"/>
              </a:spcAft>
            </a:pPr>
            <a:r>
              <a:rPr sz="1300" b="0">
                <a:solidFill>
                  <a:srgbClr val="556175"/>
                </a:solidFill>
                <a:latin typeface="맑은 고딕"/>
                <a:ea typeface="맑은 고딕"/>
                <a:cs typeface="맑은 고딕"/>
              </a:rPr>
              <a:t>Asset.code: HYD-01</a:t>
            </a:r>
          </a:p>
          <a:p>
            <a:pPr algn="ctr" eaLnBrk="0">
              <a:lnSpc>
                <a:spcPct val="110000"/>
              </a:lnSpc>
              <a:spcAft>
                <a:spcPts val="100"/>
              </a:spcAft>
            </a:pPr>
            <a:r>
              <a:rPr sz="1300" b="0">
                <a:solidFill>
                  <a:srgbClr val="556175"/>
                </a:solidFill>
                <a:latin typeface="맑은 고딕"/>
                <a:ea typeface="맑은 고딕"/>
                <a:cs typeface="맑은 고딕"/>
              </a:rPr>
              <a:t>Sensor.tag: TS1</a:t>
            </a:r>
          </a:p>
        </p:txBody>
      </p:sp>
      <p:sp>
        <p:nvSpPr>
          <p:cNvPr id="9" name="TextBox 8"/>
          <p:cNvSpPr txBox="1"/>
          <p:nvPr/>
        </p:nvSpPr>
        <p:spPr>
          <a:xfrm>
            <a:off x="8299565" y="3211327"/>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저장소 tag_1s</a:t>
            </a:r>
          </a:p>
          <a:p>
            <a:pPr algn="ctr" eaLnBrk="0">
              <a:lnSpc>
                <a:spcPct val="110000"/>
              </a:lnSpc>
              <a:spcAft>
                <a:spcPts val="100"/>
              </a:spcAft>
            </a:pPr>
            <a:r>
              <a:rPr sz="1300" b="0">
                <a:solidFill>
                  <a:srgbClr val="556175"/>
                </a:solidFill>
                <a:latin typeface="맑은 고딕"/>
                <a:ea typeface="맑은 고딕"/>
                <a:cs typeface="맑은 고딕"/>
              </a:rPr>
              <a:t>asset: HYD-01 · name: TS1</a:t>
            </a:r>
          </a:p>
          <a:p>
            <a:pPr algn="ctr" eaLnBrk="0">
              <a:lnSpc>
                <a:spcPct val="110000"/>
              </a:lnSpc>
              <a:spcAft>
                <a:spcPts val="100"/>
              </a:spcAft>
            </a:pPr>
            <a:r>
              <a:rPr sz="1300" b="0">
                <a:solidFill>
                  <a:srgbClr val="556175"/>
                </a:solidFill>
                <a:latin typeface="맑은 고딕"/>
                <a:ea typeface="맑은 고딕"/>
                <a:cs typeface="맑은 고딕"/>
              </a:rPr>
              <a:t>11:13:08 → 55.71 ℃</a:t>
            </a:r>
          </a:p>
        </p:txBody>
      </p:sp>
      <p:sp>
        <p:nvSpPr>
          <p:cNvPr id="10" name="TextBox 9"/>
          <p:cNvSpPr txBox="1"/>
          <p:nvPr/>
        </p:nvSpPr>
        <p:spPr>
          <a:xfrm>
            <a:off x="8517755" y="5575051"/>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DB의 설비 표</a:t>
            </a:r>
          </a:p>
          <a:p>
            <a:pPr algn="ctr" eaLnBrk="0">
              <a:lnSpc>
                <a:spcPct val="110000"/>
              </a:lnSpc>
              <a:spcAft>
                <a:spcPts val="100"/>
              </a:spcAft>
            </a:pPr>
            <a:r>
              <a:rPr sz="1300" b="0">
                <a:solidFill>
                  <a:srgbClr val="556175"/>
                </a:solidFill>
                <a:latin typeface="맑은 고딕"/>
                <a:ea typeface="맑은 고딕"/>
                <a:cs typeface="맑은 고딕"/>
              </a:rPr>
              <a:t>code: HYD-01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속성과 연결의 정의 · 제약</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이름 · 의미 · 속성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 정의는 이름과 의미로 범위를 정하고, 속성마다 속성명 · 자료형 · 필수 여부를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"name": "Sensor",</a:t>
            </a:r>
          </a:p>
          <a:p>
            <a:pPr algn="l" eaLnBrk="0">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"properties": [</a:t>
            </a:r>
          </a:p>
          <a:p>
            <a:pPr algn="l" eaLnBrk="0">
              <a:lnSpc>
                <a:spcPct val="110000"/>
              </a:lnSpc>
              <a:spcAft>
                <a:spcPts val="200"/>
              </a:spcAft>
            </a:pPr>
            <a:r>
              <a:rPr sz="1300" b="0">
                <a:solidFill>
                  <a:srgbClr val="E8EEF6"/>
                </a:solidFill>
                <a:latin typeface="Consolas"/>
                <a:ea typeface="맑은 고딕"/>
                <a:cs typeface="맑은 고딕"/>
              </a:rPr>
              <a:t>    {"name": "id",      "type": "string", "required": true},</a:t>
            </a:r>
          </a:p>
          <a:p>
            <a:pPr algn="l" eaLnBrk="0">
              <a:lnSpc>
                <a:spcPct val="110000"/>
              </a:lnSpc>
              <a:spcAft>
                <a:spcPts val="200"/>
              </a:spcAft>
            </a:pPr>
            <a:r>
              <a:rPr sz="1300" b="0">
                <a:solidFill>
                  <a:srgbClr val="E8EEF6"/>
                </a:solidFill>
                <a:latin typeface="Consolas"/>
                <a:ea typeface="맑은 고딕"/>
                <a:cs typeface="맑은 고딕"/>
              </a:rPr>
              <a:t>    {"name": "name",    "type": "string", "required": true},</a:t>
            </a:r>
          </a:p>
          <a:p>
            <a:pPr algn="l" eaLnBrk="0">
              <a:lnSpc>
                <a:spcPct val="110000"/>
              </a:lnSpc>
              <a:spcAft>
                <a:spcPts val="200"/>
              </a:spcAft>
            </a:pPr>
            <a:r>
              <a:rPr sz="1300" b="0">
                <a:solidFill>
                  <a:srgbClr val="E8EEF6"/>
                </a:solidFill>
                <a:latin typeface="Consolas"/>
                <a:ea typeface="맑은 고딕"/>
                <a:cs typeface="맑은 고딕"/>
              </a:rPr>
              <a:t>    {"name": "tag",     "type": "string", "required": true},</a:t>
            </a:r>
          </a:p>
          <a:p>
            <a:pPr algn="l" eaLnBrk="0">
              <a:lnSpc>
                <a:spcPct val="110000"/>
              </a:lnSpc>
              <a:spcAft>
                <a:spcPts val="200"/>
              </a:spcAft>
            </a:pPr>
            <a:r>
              <a:rPr sz="1300" b="0">
                <a:solidFill>
                  <a:srgbClr val="E8EEF6"/>
                </a:solidFill>
                <a:latin typeface="Consolas"/>
                <a:ea typeface="맑은 고딕"/>
                <a:cs typeface="맑은 고딕"/>
              </a:rPr>
              <a:t>    {"name": "unit",    "type": "string"},</a:t>
            </a:r>
          </a:p>
          <a:p>
            <a:pPr algn="l" eaLnBrk="0">
              <a:lnSpc>
                <a:spcPct val="110000"/>
              </a:lnSpc>
              <a:spcAft>
                <a:spcPts val="200"/>
              </a:spcAft>
            </a:pPr>
            <a:r>
              <a:rPr sz="1300" b="0">
                <a:solidFill>
                  <a:srgbClr val="E8EEF6"/>
                </a:solidFill>
                <a:latin typeface="Consolas"/>
                <a:ea typeface="맑은 고딕"/>
                <a:cs typeface="맑은 고딕"/>
              </a:rPr>
              <a:t>    {"name": "virtual", "type": "boolean"}</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 · label_ko</a:t>
            </a:r>
          </a:p>
          <a:p>
            <a:pPr algn="l" eaLnBrk="0">
              <a:lnSpc>
                <a:spcPct val="110000"/>
              </a:lnSpc>
              <a:spcAft>
                <a:spcPts val="400"/>
              </a:spcAft>
            </a:pPr>
            <a:r>
              <a:rPr sz="1400" b="0">
                <a:solidFill>
                  <a:srgbClr val="1F2A3A"/>
                </a:solidFill>
                <a:latin typeface="맑은 고딕"/>
                <a:ea typeface="맑은 고딕"/>
                <a:cs typeface="맑은 고딕"/>
              </a:rPr>
              <a:t>클래스를 가리키는 하나뿐인 영문 이름과, 화면과 문서에 쓰는 한글 이름이다.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300" b="0">
                <a:solidFill>
                  <a:srgbClr val="1F2A3A"/>
                </a:solidFill>
                <a:latin typeface="맑은 고딕"/>
                <a:ea typeface="맑은 고딕"/>
                <a:cs typeface="맑은 고딕"/>
              </a:rPr>
              <a:t>클래스의 의미이다. 「계측 채널」이라고 적어 냉각 효율을 계산해 내놓는 채널도 이 클래스에 든다.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속성명 · 자료형 · 필수 여부</a:t>
            </a:r>
          </a:p>
          <a:p>
            <a:pPr algn="l" eaLnBrk="0">
              <a:lnSpc>
                <a:spcPct val="110000"/>
              </a:lnSpc>
              <a:spcAft>
                <a:spcPts val="400"/>
              </a:spcAft>
            </a:pPr>
            <a:r>
              <a:rPr sz="1300" b="0">
                <a:solidFill>
                  <a:srgbClr val="1F2A3A"/>
                </a:solidFill>
                <a:latin typeface="맑은 고딕"/>
                <a:ea typeface="맑은 고딕"/>
                <a:cs typeface="맑은 고딕"/>
              </a:rPr>
              <a:t>properties의 한 줄이 속성 하나이다. tag는 이름이 tag, 자료형은 글자이고, 반드시 있어야 한다.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발췌</a:t>
            </a:r>
          </a:p>
          <a:p>
            <a:pPr algn="l" eaLnBrk="0">
              <a:lnSpc>
                <a:spcPct val="110000"/>
              </a:lnSpc>
              <a:spcAft>
                <a:spcPts val="400"/>
              </a:spcAft>
            </a:pPr>
            <a:r>
              <a:rPr sz="1400" b="0">
                <a:solidFill>
                  <a:srgbClr val="1F2A3A"/>
                </a:solidFill>
                <a:latin typeface="맑은 고딕"/>
                <a:ea typeface="맑은 고딕"/>
                <a:cs typeface="맑은 고딕"/>
              </a:rPr>
              <a:t>원래 정의의 계층 · 준용 표준 칸과 virtual의 설명은 뺐다.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자료형과 허용값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(Data Type)은 칸에 들어갈 값의 종류를 정해, 그 값으로 할 수 있는 비교와 계산의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TextBox 5"/>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문자열(string)</a:t>
            </a:r>
          </a:p>
        </p:txBody>
      </p:sp>
      <p:sp>
        <p:nvSpPr>
          <p:cNvPr id="7" name="TextBox 6"/>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글자이다.</a:t>
            </a:r>
          </a:p>
          <a:p>
            <a:pPr algn="l" eaLnBrk="0">
              <a:lnSpc>
                <a:spcPct val="110000"/>
              </a:lnSpc>
              <a:spcAft>
                <a:spcPts val="300"/>
              </a:spcAft>
            </a:pPr>
            <a:r>
              <a:rPr sz="1400" b="0">
                <a:solidFill>
                  <a:srgbClr val="1F2A3A"/>
                </a:solidFill>
                <a:latin typeface="맑은 고딕"/>
                <a:ea typeface="맑은 고딕"/>
                <a:cs typeface="맑은 고딕"/>
              </a:rPr>
              <a:t>name: 「유온 센서」, tag: 'TS1', unit: '℃'</a:t>
            </a:r>
          </a:p>
        </p:txBody>
      </p:sp>
      <p:sp>
        <p:nvSpPr>
          <p:cNvPr id="8" name="Rectangle 7"/>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수(number)</a:t>
            </a:r>
          </a:p>
        </p:txBody>
      </p:sp>
      <p:sp>
        <p:nvSpPr>
          <p:cNvPr id="10" name="TextBox 9"/>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크기를 비교하고 계산할 수 있다.</a:t>
            </a:r>
          </a:p>
          <a:p>
            <a:pPr algn="l" eaLnBrk="0">
              <a:lnSpc>
                <a:spcPct val="110000"/>
              </a:lnSpc>
              <a:spcAft>
                <a:spcPts val="300"/>
              </a:spcAft>
            </a:pPr>
            <a:r>
              <a:rPr sz="1400" b="0">
                <a:solidFill>
                  <a:srgbClr val="1F2A3A"/>
                </a:solidFill>
                <a:latin typeface="맑은 고딕"/>
                <a:ea typeface="맑은 고딕"/>
                <a:cs typeface="맑은 고딕"/>
              </a:rPr>
              <a:t>normal: 48, limit: 65</a:t>
            </a:r>
          </a:p>
          <a:p>
            <a:pPr algn="l" eaLnBrk="0">
              <a:lnSpc>
                <a:spcPct val="110000"/>
              </a:lnSpc>
              <a:spcAft>
                <a:spcPts val="300"/>
              </a:spcAft>
            </a:pPr>
            <a:r>
              <a:rPr sz="1400" b="0">
                <a:solidFill>
                  <a:srgbClr val="1F2A3A"/>
                </a:solidFill>
                <a:latin typeface="맑은 고딕"/>
                <a:ea typeface="맑은 고딕"/>
                <a:cs typeface="맑은 고딕"/>
              </a:rPr>
              <a:t>「130 bar」처럼 단위를 섞은 글자는 수로 바로 비교할 수 없다.</a:t>
            </a:r>
          </a:p>
        </p:txBody>
      </p:sp>
      <p:sp>
        <p:nvSpPr>
          <p:cNvPr id="11" name="Rectangle 10"/>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참 · 거짓(boolean)</a:t>
            </a:r>
          </a:p>
        </p:txBody>
      </p:sp>
      <p:sp>
        <p:nvSpPr>
          <p:cNvPr id="13" name="TextBox 12"/>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둘 가운데 하나이다.</a:t>
            </a:r>
          </a:p>
          <a:p>
            <a:pPr algn="l" eaLnBrk="0">
              <a:lnSpc>
                <a:spcPct val="110000"/>
              </a:lnSpc>
              <a:spcAft>
                <a:spcPts val="300"/>
              </a:spcAft>
            </a:pPr>
            <a:r>
              <a:rPr sz="1400" b="0">
                <a:solidFill>
                  <a:srgbClr val="1F2A3A"/>
                </a:solidFill>
                <a:latin typeface="맑은 고딕"/>
                <a:ea typeface="맑은 고딕"/>
                <a:cs typeface="맑은 고딕"/>
              </a:rPr>
              <a:t>virtual: false, avl: true</a:t>
            </a:r>
          </a:p>
        </p:txBody>
      </p:sp>
      <p:sp>
        <p:nvSpPr>
          <p:cNvPr id="14" name="Rectangle 13"/>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5" name="TextBox 14"/>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목록(string[])</a:t>
            </a:r>
          </a:p>
        </p:txBody>
      </p:sp>
      <p:sp>
        <p:nvSpPr>
          <p:cNvPr id="16" name="TextBox 15"/>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값이 여럿일 때 쓴다.</a:t>
            </a:r>
          </a:p>
          <a:p>
            <a:pPr algn="l" eaLnBrk="0">
              <a:lnSpc>
                <a:spcPct val="110000"/>
              </a:lnSpc>
              <a:spcAft>
                <a:spcPts val="300"/>
              </a:spcAft>
            </a:pPr>
            <a:r>
              <a:rPr sz="1400" b="0">
                <a:solidFill>
                  <a:srgbClr val="1F2A3A"/>
                </a:solidFill>
                <a:latin typeface="맑은 고딕"/>
                <a:ea typeface="맑은 고딕"/>
                <a:cs typeface="맑은 고딕"/>
              </a:rPr>
              <a:t>aliases: 오일 온도, 작동유 온도, TS1</a:t>
            </a:r>
          </a:p>
        </p:txBody>
      </p:sp>
      <p:sp>
        <p:nvSpPr>
          <p:cNvPr id="17" name="Rectangle 16"/>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8" name="Rounded Rectangle 17"/>
          <p:cNvSpPr/>
          <p:nvPr/>
        </p:nvSpPr>
        <p:spPr>
          <a:xfrm>
            <a:off x="548640" y="5437022"/>
            <a:ext cx="11094415" cy="890625"/>
          </a:xfrm>
          <a:prstGeom prst="roundRect">
            <a:avLst>
              <a:gd name="adj" fmla="val 6000"/>
            </a:avLst>
          </a:prstGeom>
          <a:solidFill>
            <a:srgbClr val="E7F3FD"/>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열거형(enum)</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 둔 허용값 가운데 하나만 받는다.</a:t>
            </a:r>
          </a:p>
          <a:p>
            <a:pPr algn="l" eaLnBrk="0">
              <a:lnSpc>
                <a:spcPct val="110000"/>
              </a:lnSpc>
              <a:spcAft>
                <a:spcPts val="300"/>
              </a:spcAft>
            </a:pPr>
            <a:r>
              <a:rPr sz="1400" b="0">
                <a:solidFill>
                  <a:srgbClr val="1F2A3A"/>
                </a:solidFill>
                <a:latin typeface="맑은 고딕"/>
                <a:ea typeface="맑은 고딕"/>
                <a:cs typeface="맑은 고딕"/>
              </a:rPr>
              <a:t>kind: manipulated(조작) · controlled(결과) · disturbance(교란)</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필수 속성과 선택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필수 속성이 빠진 인스턴스는 정의에 어긋나지만, 선택 속성은 비어 있어도 정의에 맞는다.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상태 변수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필수: unit · kind</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선택: normal · limit</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sv:ts1</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48 · 65</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토출 압력 sv:ps1</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bar · controlled</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182 · 130</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진동 sv:vs1</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mm/s · controlled</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0.6 · 2.0</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sv:ce</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84 · 없음(경보의 CE &lt; 70 %와 구별)</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유량 sv:fs1</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l/min · controlled</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 · 없음</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펌프 부하 sv:load</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manipulated</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90 · 없음</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정의와 유효한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유효한 연결</a:t>
            </a:r>
            <a:r>
              <a:rPr sz="1600" b="0">
                <a:solidFill>
                  <a:srgbClr val="556175"/>
                </a:solidFill>
                <a:latin typeface="맑은 고딕"/>
                <a:ea typeface="맑은 고딕"/>
                <a:cs typeface="맑은 고딕"/>
              </a:rPr>
              <a:t>은 스키마의 조건을 따르며, 이름·방향·양 끝 클래스부터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"type": "OBSERVES",</a:t>
            </a:r>
          </a:p>
          <a:p>
            <a:pPr algn="l" eaLnBrk="0">
              <a:lnSpc>
                <a:spcPct val="110000"/>
              </a:lnSpc>
              <a:spcAft>
                <a:spcPts val="200"/>
              </a:spcAft>
            </a:pPr>
            <a:r>
              <a:rPr sz="1300" b="0">
                <a:solidFill>
                  <a:srgbClr val="E8EEF6"/>
                </a:solidFill>
                <a:latin typeface="Consolas"/>
                <a:ea typeface="맑은 고딕"/>
                <a:cs typeface="맑은 고딕"/>
              </a:rPr>
              <a:t>  "from": ["Sensor"],</a:t>
            </a:r>
          </a:p>
          <a:p>
            <a:pPr algn="l" eaLnBrk="0">
              <a:lnSpc>
                <a:spcPct val="110000"/>
              </a:lnSpc>
              <a:spcAft>
                <a:spcPts val="200"/>
              </a:spcAft>
            </a:pPr>
            <a:r>
              <a:rPr sz="1300" b="0">
                <a:solidFill>
                  <a:srgbClr val="E8EEF6"/>
                </a:solidFill>
                <a:latin typeface="Consolas"/>
                <a:ea typeface="맑은 고딕"/>
                <a:cs typeface="맑은 고딕"/>
              </a:rPr>
              <a:t>  "to": ["StateVariable"],</a:t>
            </a:r>
          </a:p>
          <a:p>
            <a:pPr algn="l" eaLnBrk="0">
              <a:lnSpc>
                <a:spcPct val="110000"/>
              </a:lnSpc>
              <a:spcAft>
                <a:spcPts val="200"/>
              </a:spcAft>
            </a:pPr>
            <a:r>
              <a:rPr sz="1300" b="0">
                <a:solidFill>
                  <a:srgbClr val="E8EEF6"/>
                </a:solidFill>
                <a:latin typeface="Consolas"/>
                <a:ea typeface="맑은 고딕"/>
                <a:cs typeface="맑은 고딕"/>
              </a:rPr>
              <a:t>  "cardinality": "N:1",</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(:Sensor)-[:OBSERVES]-&gt;(:StateVariable)   </a:t>
            </a:r>
            <a:r>
              <a:rPr sz="1300" b="0">
                <a:solidFill>
                  <a:srgbClr val="E8EEF6"/>
                </a:solidFill>
                <a:latin typeface="맑은 고딕"/>
                <a:ea typeface="맑은 고딕"/>
                <a:cs typeface="맑은 고딕"/>
              </a:rPr>
              <a:t>유효</a:t>
            </a:r>
          </a:p>
          <a:p>
            <a:pPr algn="l" eaLnBrk="0">
              <a:lnSpc>
                <a:spcPct val="110000"/>
              </a:lnSpc>
              <a:spcAft>
                <a:spcPts val="200"/>
              </a:spcAft>
            </a:pPr>
            <a:r>
              <a:rPr sz="1300" b="0">
                <a:solidFill>
                  <a:srgbClr val="E8EEF6"/>
                </a:solidFill>
                <a:latin typeface="Consolas"/>
                <a:ea typeface="맑은 고딕"/>
                <a:cs typeface="맑은 고딕"/>
              </a:rPr>
              <a:t>(:Sensor)-[:OBSERVES]-&gt;(:Asset)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다르다</a:t>
            </a:r>
          </a:p>
          <a:p>
            <a:pPr algn="l" eaLnBrk="0">
              <a:lnSpc>
                <a:spcPct val="110000"/>
              </a:lnSpc>
              <a:spcAft>
                <a:spcPts val="200"/>
              </a:spcAft>
            </a:pPr>
            <a:r>
              <a:rPr sz="1300" b="0">
                <a:solidFill>
                  <a:srgbClr val="E8EEF6"/>
                </a:solidFill>
                <a:latin typeface="Consolas"/>
                <a:ea typeface="맑은 고딕"/>
                <a:cs typeface="맑은 고딕"/>
              </a:rPr>
              <a:t>(:StateVariable)-[:OBSERVES]-&gt;(:Sensor)   </a:t>
            </a:r>
            <a:r>
              <a:rPr sz="1300" b="0">
                <a:solidFill>
                  <a:srgbClr val="E8EEF6"/>
                </a:solidFill>
                <a:latin typeface="맑은 고딕"/>
                <a:ea typeface="맑은 고딕"/>
                <a:cs typeface="맑은 고딕"/>
              </a:rPr>
              <a:t>방향이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반대이다</a:t>
            </a:r>
          </a:p>
          <a:p>
            <a:pPr algn="l" eaLnBrk="0">
              <a:lnSpc>
                <a:spcPct val="110000"/>
              </a:lnSpc>
              <a:spcAft>
                <a:spcPts val="200"/>
              </a:spcAft>
            </a:pPr>
            <a:r>
              <a:rPr sz="1300" b="0">
                <a:solidFill>
                  <a:srgbClr val="E8EEF6"/>
                </a:solidFill>
                <a:latin typeface="Consolas"/>
                <a:ea typeface="맑은 고딕"/>
                <a:cs typeface="맑은 고딕"/>
              </a:rPr>
              <a:t>(:Sensor)-[:WATCHES]-&gt;(:StateVariable)    </a:t>
            </a:r>
            <a:r>
              <a:rPr sz="1300" b="0">
                <a:solidFill>
                  <a:srgbClr val="E8EEF6"/>
                </a:solidFill>
                <a:latin typeface="맑은 고딕"/>
                <a:ea typeface="맑은 고딕"/>
                <a:cs typeface="맑은 고딕"/>
              </a:rPr>
              <a:t>정의에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가정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진동을</a:t>
            </a:r>
            <a:r>
              <a:rPr sz="1300" b="0">
                <a:solidFill>
                  <a:srgbClr val="E8EEF6"/>
                </a:solidFill>
                <a:latin typeface="Consolas"/>
                <a:ea typeface="맑은 고딕"/>
                <a:cs typeface="맑은 고딕"/>
              </a:rPr>
              <a:t> OBSERVES</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잇는다</a:t>
            </a:r>
          </a:p>
          <a:p>
            <a:pPr algn="l" eaLnBrk="0">
              <a:lnSpc>
                <a:spcPct val="110000"/>
              </a:lnSpc>
              <a:spcAft>
                <a:spcPts val="200"/>
              </a:spcAft>
            </a:pPr>
            <a:r>
              <a:rPr sz="1300" b="0">
                <a:solidFill>
                  <a:srgbClr val="E8EEF6"/>
                </a:solidFill>
                <a:latin typeface="맑은 고딕"/>
                <a:ea typeface="맑은 고딕"/>
                <a:cs typeface="맑은 고딕"/>
              </a:rPr>
              <a:t>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틀리다</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type</a:t>
            </a:r>
          </a:p>
          <a:p>
            <a:pPr algn="l" eaLnBrk="0">
              <a:lnSpc>
                <a:spcPct val="110000"/>
              </a:lnSpc>
              <a:spcAft>
                <a:spcPts val="400"/>
              </a:spcAft>
            </a:pPr>
            <a:r>
              <a:rPr sz="1400" b="0">
                <a:solidFill>
                  <a:srgbClr val="1F2A3A"/>
                </a:solidFill>
                <a:latin typeface="맑은 고딕"/>
                <a:ea typeface="맑은 고딕"/>
                <a:cs typeface="맑은 고딕"/>
              </a:rPr>
              <a:t>관계 유형의 이름이다.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from · to</a:t>
            </a:r>
          </a:p>
          <a:p>
            <a:pPr algn="l" eaLnBrk="0">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cardinality</a:t>
            </a:r>
          </a:p>
          <a:p>
            <a:pPr algn="l" eaLnBrk="0">
              <a:lnSpc>
                <a:spcPct val="110000"/>
              </a:lnSpc>
              <a:spcAft>
                <a:spcPts val="400"/>
              </a:spcAft>
            </a:pPr>
            <a:r>
              <a:rPr sz="1400" b="0">
                <a:solidFill>
                  <a:srgbClr val="1F2A3A"/>
                </a:solidFill>
                <a:latin typeface="맑은 고딕"/>
                <a:ea typeface="맑은 고딕"/>
                <a:cs typeface="맑은 고딕"/>
              </a:rPr>
              <a:t>N:1. 여러 센서가 한 상태 변수를 읽을 수 있다.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유효한 연결(Valid Connection)</a:t>
            </a:r>
          </a:p>
          <a:p>
            <a:pPr algn="l" eaLnBrk="0">
              <a:lnSpc>
                <a:spcPct val="110000"/>
              </a:lnSpc>
              <a:spcAft>
                <a:spcPts val="400"/>
              </a:spcAft>
            </a:pPr>
            <a:r>
              <a:rPr sz="1400" b="0">
                <a:solidFill>
                  <a:srgbClr val="1F2A3A"/>
                </a:solidFill>
                <a:latin typeface="맑은 고딕"/>
                <a:ea typeface="맑은 고딕"/>
                <a:cs typeface="맑은 고딕"/>
              </a:rPr>
              <a:t>연결 조건을 만족한다. 클래스가 맞아도 실제 대상이 맞는지는 별도로 확인한다.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스키마의 제약과 데이터 오류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(Constraint)은 데이터가 지킬 조건을 정한 것이어서, 어긋난 데이터를 찾아낼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91879"/>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45498"/>
            <a:ext cx="424281" cy="424281"/>
          </a:xfrm>
          <a:prstGeom prst="rect">
            <a:avLst/>
          </a:prstGeom>
        </p:spPr>
      </p:pic>
      <p:sp>
        <p:nvSpPr>
          <p:cNvPr id="9" name="TextBox 8"/>
          <p:cNvSpPr txBox="1"/>
          <p:nvPr/>
        </p:nvSpPr>
        <p:spPr>
          <a:xfrm>
            <a:off x="713232"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필수 속성</a:t>
            </a:r>
          </a:p>
          <a:p>
            <a:pPr algn="l" eaLnBrk="0" marL="171450" indent="-171450">
              <a:lnSpc>
                <a:spcPct val="110000"/>
              </a:lnSpc>
              <a:spcAft>
                <a:spcPts val="400"/>
              </a:spcAft>
            </a:pPr>
            <a:r>
              <a:rPr sz="1500" b="0">
                <a:solidFill>
                  <a:srgbClr val="1F2A3A"/>
                </a:solidFill>
                <a:latin typeface="맑은 고딕"/>
                <a:ea typeface="맑은 고딕"/>
                <a:cs typeface="맑은 고딕"/>
              </a:rPr>
              <a:t>• 센서에는 tag가 있다</a:t>
            </a:r>
          </a:p>
          <a:p>
            <a:pPr algn="l" eaLnBrk="0" marL="171450" indent="-171450">
              <a:lnSpc>
                <a:spcPct val="110000"/>
              </a:lnSpc>
              <a:spcAft>
                <a:spcPts val="400"/>
              </a:spcAft>
            </a:pPr>
            <a:r>
              <a:rPr sz="1500" b="0">
                <a:solidFill>
                  <a:srgbClr val="1F2A3A"/>
                </a:solidFill>
                <a:latin typeface="맑은 고딕"/>
                <a:ea typeface="맑은 고딕"/>
                <a:cs typeface="맑은 고딕"/>
              </a:rPr>
              <a:t>• 오류: tag 없는 센서</a:t>
            </a:r>
          </a:p>
        </p:txBody>
      </p:sp>
      <p:sp>
        <p:nvSpPr>
          <p:cNvPr id="10" name="Rounded Rectangle 9"/>
          <p:cNvSpPr/>
          <p:nvPr/>
        </p:nvSpPr>
        <p:spPr>
          <a:xfrm>
            <a:off x="777240" y="5162232"/>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2232"/>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91879"/>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45498"/>
            <a:ext cx="424281" cy="424281"/>
          </a:xfrm>
          <a:prstGeom prst="rect">
            <a:avLst/>
          </a:prstGeom>
        </p:spPr>
      </p:pic>
      <p:sp>
        <p:nvSpPr>
          <p:cNvPr id="15" name="TextBox 14"/>
          <p:cNvSpPr txBox="1"/>
          <p:nvPr/>
        </p:nvSpPr>
        <p:spPr>
          <a:xfrm>
            <a:off x="3555415"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자료형 · 허용값</a:t>
            </a:r>
          </a:p>
          <a:p>
            <a:pPr algn="l" eaLnBrk="0" marL="171450" indent="-171450">
              <a:lnSpc>
                <a:spcPct val="110000"/>
              </a:lnSpc>
              <a:spcAft>
                <a:spcPts val="400"/>
              </a:spcAft>
            </a:pPr>
            <a:r>
              <a:rPr sz="1500" b="0">
                <a:solidFill>
                  <a:srgbClr val="1F2A3A"/>
                </a:solidFill>
                <a:latin typeface="맑은 고딕"/>
                <a:ea typeface="맑은 고딕"/>
                <a:cs typeface="맑은 고딕"/>
              </a:rPr>
              <a:t>• limit은 수, kind는 세 값 중 하나</a:t>
            </a:r>
          </a:p>
          <a:p>
            <a:pPr algn="l" eaLnBrk="0" marL="171450" indent="-171450">
              <a:lnSpc>
                <a:spcPct val="110000"/>
              </a:lnSpc>
              <a:spcAft>
                <a:spcPts val="400"/>
              </a:spcAft>
            </a:pPr>
            <a:r>
              <a:rPr sz="1500" b="0">
                <a:solidFill>
                  <a:srgbClr val="1F2A3A"/>
                </a:solidFill>
                <a:latin typeface="맑은 고딕"/>
                <a:ea typeface="맑은 고딕"/>
                <a:cs typeface="맑은 고딕"/>
              </a:rPr>
              <a:t>• 오류: 「130 bar」, kind 'x'</a:t>
            </a:r>
          </a:p>
        </p:txBody>
      </p:sp>
      <p:sp>
        <p:nvSpPr>
          <p:cNvPr id="16" name="Rounded Rectangle 15"/>
          <p:cNvSpPr/>
          <p:nvPr/>
        </p:nvSpPr>
        <p:spPr>
          <a:xfrm>
            <a:off x="3619423" y="5162232"/>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223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91879"/>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45498"/>
            <a:ext cx="424281" cy="424281"/>
          </a:xfrm>
          <a:prstGeom prst="rect">
            <a:avLst/>
          </a:prstGeom>
        </p:spPr>
      </p:pic>
      <p:sp>
        <p:nvSpPr>
          <p:cNvPr id="21" name="TextBox 20"/>
          <p:cNvSpPr txBox="1"/>
          <p:nvPr/>
        </p:nvSpPr>
        <p:spPr>
          <a:xfrm>
            <a:off x="6397599"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고유한 식별자</a:t>
            </a:r>
          </a:p>
          <a:p>
            <a:pPr algn="l" eaLnBrk="0" marL="177165" indent="-177165">
              <a:lnSpc>
                <a:spcPct val="110000"/>
              </a:lnSpc>
              <a:spcAft>
                <a:spcPts val="400"/>
              </a:spcAft>
            </a:pPr>
            <a:r>
              <a:rPr sz="1550" b="0">
                <a:solidFill>
                  <a:srgbClr val="1F2A3A"/>
                </a:solidFill>
                <a:latin typeface="맑은 고딕"/>
                <a:ea typeface="맑은 고딕"/>
                <a:cs typeface="맑은 고딕"/>
              </a:rPr>
              <a:t>• 같은 id는 하나뿐이다</a:t>
            </a:r>
          </a:p>
          <a:p>
            <a:pPr algn="l" eaLnBrk="0" marL="177165" indent="-177165">
              <a:lnSpc>
                <a:spcPct val="110000"/>
              </a:lnSpc>
              <a:spcAft>
                <a:spcPts val="400"/>
              </a:spcAft>
            </a:pPr>
            <a:r>
              <a:rPr sz="1550" b="0">
                <a:solidFill>
                  <a:srgbClr val="1F2A3A"/>
                </a:solidFill>
                <a:latin typeface="맑은 고딕"/>
                <a:ea typeface="맑은 고딕"/>
                <a:cs typeface="맑은 고딕"/>
              </a:rPr>
              <a:t>• 오류: sen:ts1 노드가 둘</a:t>
            </a:r>
          </a:p>
        </p:txBody>
      </p:sp>
      <p:sp>
        <p:nvSpPr>
          <p:cNvPr id="22" name="Rounded Rectangle 21"/>
          <p:cNvSpPr/>
          <p:nvPr/>
        </p:nvSpPr>
        <p:spPr>
          <a:xfrm>
            <a:off x="6461607" y="516223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223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390711"/>
            <a:ext cx="2567863" cy="320128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91879"/>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45498"/>
            <a:ext cx="424281" cy="424281"/>
          </a:xfrm>
          <a:prstGeom prst="rect">
            <a:avLst/>
          </a:prstGeom>
        </p:spPr>
      </p:pic>
      <p:sp>
        <p:nvSpPr>
          <p:cNvPr id="27" name="TextBox 26"/>
          <p:cNvSpPr txBox="1"/>
          <p:nvPr/>
        </p:nvSpPr>
        <p:spPr>
          <a:xfrm>
            <a:off x="9239783"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연결 조건</a:t>
            </a:r>
          </a:p>
          <a:p>
            <a:pPr algn="l" eaLnBrk="0" marL="177165" indent="-177165">
              <a:lnSpc>
                <a:spcPct val="110000"/>
              </a:lnSpc>
              <a:spcAft>
                <a:spcPts val="400"/>
              </a:spcAft>
            </a:pPr>
            <a:r>
              <a:rPr sz="1550" b="0">
                <a:solidFill>
                  <a:srgbClr val="1F2A3A"/>
                </a:solidFill>
                <a:latin typeface="맑은 고딕"/>
                <a:ea typeface="맑은 고딕"/>
                <a:cs typeface="맑은 고딕"/>
              </a:rPr>
              <a:t>• OBSERVES: 센서 → 상태 변수</a:t>
            </a:r>
          </a:p>
          <a:p>
            <a:pPr algn="l" eaLnBrk="0" marL="177165" indent="-177165">
              <a:lnSpc>
                <a:spcPct val="110000"/>
              </a:lnSpc>
              <a:spcAft>
                <a:spcPts val="400"/>
              </a:spcAft>
            </a:pPr>
            <a:r>
              <a:rPr sz="1550" b="0">
                <a:solidFill>
                  <a:srgbClr val="1F2A3A"/>
                </a:solidFill>
                <a:latin typeface="맑은 고딕"/>
                <a:ea typeface="맑은 고딕"/>
                <a:cs typeface="맑은 고딕"/>
              </a:rPr>
              <a:t>• 오류: 역방향 · 미정의 HAS_PART</a:t>
            </a:r>
          </a:p>
        </p:txBody>
      </p:sp>
      <p:sp>
        <p:nvSpPr>
          <p:cNvPr id="28" name="Rounded Rectangle 27"/>
          <p:cNvSpPr/>
          <p:nvPr/>
        </p:nvSpPr>
        <p:spPr>
          <a:xfrm>
            <a:off x="9303791" y="5162232"/>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62232"/>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양 끝과 이름</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설비 모델의 설계와 확장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질문에서 클래스 · 속성 · 관계로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설계는 답할 질문에서 출발해, 질문에 쓰이는 대상과 값과 연결만 클래스 · 속성 · 관계로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ectangle 5"/>
          <p:cNvSpPr/>
          <p:nvPr/>
        </p:nvSpPr>
        <p:spPr>
          <a:xfrm>
            <a:off x="1935441" y="2635377"/>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21932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718271" y="2436495"/>
            <a:ext cx="434340" cy="434340"/>
          </a:xfrm>
          <a:prstGeom prst="rect">
            <a:avLst/>
          </a:prstGeom>
        </p:spPr>
      </p:pic>
      <p:sp>
        <p:nvSpPr>
          <p:cNvPr id="9" name="Oval 8"/>
          <p:cNvSpPr/>
          <p:nvPr/>
        </p:nvSpPr>
        <p:spPr>
          <a:xfrm>
            <a:off x="2095461" y="2173605"/>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질문을 정한다</a:t>
            </a:r>
          </a:p>
          <a:p>
            <a:pPr algn="ctr" eaLnBrk="0">
              <a:lnSpc>
                <a:spcPct val="110000"/>
              </a:lnSpc>
              <a:spcAft>
                <a:spcPts val="400"/>
              </a:spcAft>
            </a:pPr>
            <a:r>
              <a:rPr sz="1550" b="0">
                <a:solidFill>
                  <a:srgbClr val="1F2A3A"/>
                </a:solidFill>
                <a:latin typeface="맑은 고딕"/>
                <a:ea typeface="맑은 고딕"/>
                <a:cs typeface="맑은 고딕"/>
              </a:rPr>
              <a:t>질문 1: HYD-01의 구성 요소를 재는 센서</a:t>
            </a:r>
          </a:p>
          <a:p>
            <a:pPr algn="ctr" eaLnBrk="0">
              <a:lnSpc>
                <a:spcPct val="110000"/>
              </a:lnSpc>
              <a:spcAft>
                <a:spcPts val="400"/>
              </a:spcAft>
            </a:pPr>
            <a:r>
              <a:rPr sz="1550" b="0">
                <a:solidFill>
                  <a:srgbClr val="1F2A3A"/>
                </a:solidFill>
                <a:latin typeface="맑은 고딕"/>
                <a:ea typeface="맑은 고딕"/>
                <a:cs typeface="맑은 고딕"/>
              </a:rPr>
              <a:t>질문 2: 그 센서가 읽는 물리량의 한계</a:t>
            </a:r>
          </a:p>
          <a:p>
            <a:pPr algn="ctr" eaLnBrk="0">
              <a:lnSpc>
                <a:spcPct val="110000"/>
              </a:lnSpc>
              <a:spcAft>
                <a:spcPts val="400"/>
              </a:spcAft>
            </a:pPr>
            <a:r>
              <a:rPr sz="1550" b="0">
                <a:solidFill>
                  <a:srgbClr val="1F2A3A"/>
                </a:solidFill>
                <a:latin typeface="맑은 고딕"/>
                <a:ea typeface="맑은 고딕"/>
                <a:cs typeface="맑은 고딕"/>
              </a:rPr>
              <a:t>질문 3: 오일 쿨러에 들어가는 교체 부품</a:t>
            </a:r>
          </a:p>
        </p:txBody>
      </p:sp>
      <p:sp>
        <p:nvSpPr>
          <p:cNvPr id="12" name="Oval 11"/>
          <p:cNvSpPr/>
          <p:nvPr/>
        </p:nvSpPr>
        <p:spPr>
          <a:xfrm>
            <a:off x="4274705"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91875" y="2436495"/>
            <a:ext cx="434340" cy="434340"/>
          </a:xfrm>
          <a:prstGeom prst="rect">
            <a:avLst/>
          </a:prstGeom>
        </p:spPr>
      </p:pic>
      <p:sp>
        <p:nvSpPr>
          <p:cNvPr id="14" name="Oval 13"/>
          <p:cNvSpPr/>
          <p:nvPr/>
        </p:nvSpPr>
        <p:spPr>
          <a:xfrm>
            <a:off x="4869065" y="2173605"/>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클래스와 인스턴스를 나눈다</a:t>
            </a:r>
          </a:p>
          <a:p>
            <a:pPr algn="ctr" eaLnBrk="0">
              <a:lnSpc>
                <a:spcPct val="110000"/>
              </a:lnSpc>
              <a:spcAft>
                <a:spcPts val="400"/>
              </a:spcAft>
            </a:pPr>
            <a:r>
              <a:rPr sz="1550" b="0">
                <a:solidFill>
                  <a:srgbClr val="1F2A3A"/>
                </a:solidFill>
                <a:latin typeface="맑은 고딕"/>
                <a:ea typeface="맑은 고딕"/>
                <a:cs typeface="맑은 고딕"/>
              </a:rPr>
              <a:t>Asset · Component · Sensor</a:t>
            </a:r>
          </a:p>
          <a:p>
            <a:pPr algn="ctr" eaLnBrk="0">
              <a:lnSpc>
                <a:spcPct val="110000"/>
              </a:lnSpc>
              <a:spcAft>
                <a:spcPts val="400"/>
              </a:spcAft>
            </a:pPr>
            <a:r>
              <a:rPr sz="1550" b="0">
                <a:solidFill>
                  <a:srgbClr val="1F2A3A"/>
                </a:solidFill>
                <a:latin typeface="맑은 고딕"/>
                <a:ea typeface="맑은 고딕"/>
                <a:cs typeface="맑은 고딕"/>
              </a:rPr>
              <a:t>StateVariable · Part</a:t>
            </a:r>
          </a:p>
          <a:p>
            <a:pPr algn="ctr" eaLnBrk="0">
              <a:lnSpc>
                <a:spcPct val="110000"/>
              </a:lnSpc>
              <a:spcAft>
                <a:spcPts val="400"/>
              </a:spcAft>
            </a:pPr>
            <a:r>
              <a:rPr sz="1550" b="0">
                <a:solidFill>
                  <a:srgbClr val="1F2A3A"/>
                </a:solidFill>
                <a:latin typeface="맑은 고딕"/>
                <a:ea typeface="맑은 고딕"/>
                <a:cs typeface="맑은 고딕"/>
              </a:rPr>
              <a:t>예: HYD-01, 오일 쿨러,</a:t>
            </a:r>
          </a:p>
          <a:p>
            <a:pPr algn="ctr" eaLnBrk="0">
              <a:lnSpc>
                <a:spcPct val="110000"/>
              </a:lnSpc>
              <a:spcAft>
                <a:spcPts val="400"/>
              </a:spcAft>
            </a:pPr>
            <a:r>
              <a:rPr sz="1550" b="0">
                <a:solidFill>
                  <a:srgbClr val="1F2A3A"/>
                </a:solidFill>
                <a:latin typeface="맑은 고딕"/>
                <a:ea typeface="맑은 고딕"/>
                <a:cs typeface="맑은 고딕"/>
              </a:rPr>
              <a:t>유온 센서, 유온, 쿨러 코어</a:t>
            </a:r>
          </a:p>
        </p:txBody>
      </p:sp>
      <p:sp>
        <p:nvSpPr>
          <p:cNvPr id="17" name="Oval 16"/>
          <p:cNvSpPr/>
          <p:nvPr/>
        </p:nvSpPr>
        <p:spPr>
          <a:xfrm>
            <a:off x="7048309"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265479" y="2436495"/>
            <a:ext cx="434340" cy="434340"/>
          </a:xfrm>
          <a:prstGeom prst="rect">
            <a:avLst/>
          </a:prstGeom>
        </p:spPr>
      </p:pic>
      <p:sp>
        <p:nvSpPr>
          <p:cNvPr id="19" name="Oval 18"/>
          <p:cNvSpPr/>
          <p:nvPr/>
        </p:nvSpPr>
        <p:spPr>
          <a:xfrm>
            <a:off x="7642669" y="2173605"/>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속성을 정한다</a:t>
            </a:r>
          </a:p>
          <a:p>
            <a:pPr algn="ctr" eaLnBrk="0">
              <a:lnSpc>
                <a:spcPct val="110000"/>
              </a:lnSpc>
              <a:spcAft>
                <a:spcPts val="400"/>
              </a:spcAft>
            </a:pPr>
            <a:r>
              <a:rPr sz="1550" b="0">
                <a:solidFill>
                  <a:srgbClr val="1F2A3A"/>
                </a:solidFill>
                <a:latin typeface="맑은 고딕"/>
                <a:ea typeface="맑은 고딕"/>
                <a:cs typeface="맑은 고딕"/>
              </a:rPr>
              <a:t>속성명 · 자료형</a:t>
            </a:r>
          </a:p>
          <a:p>
            <a:pPr algn="ctr" eaLnBrk="0">
              <a:lnSpc>
                <a:spcPct val="110000"/>
              </a:lnSpc>
              <a:spcAft>
                <a:spcPts val="400"/>
              </a:spcAft>
            </a:pPr>
            <a:r>
              <a:rPr sz="1550" b="0">
                <a:solidFill>
                  <a:srgbClr val="1F2A3A"/>
                </a:solidFill>
                <a:latin typeface="맑은 고딕"/>
                <a:ea typeface="맑은 고딕"/>
                <a:cs typeface="맑은 고딕"/>
              </a:rPr>
              <a:t>필수 여부 · 식별자</a:t>
            </a:r>
          </a:p>
          <a:p>
            <a:pPr algn="ctr" eaLnBrk="0">
              <a:lnSpc>
                <a:spcPct val="110000"/>
              </a:lnSpc>
              <a:spcAft>
                <a:spcPts val="400"/>
              </a:spcAft>
            </a:pPr>
            <a:r>
              <a:rPr sz="1550" b="0">
                <a:solidFill>
                  <a:srgbClr val="1F2A3A"/>
                </a:solidFill>
                <a:latin typeface="맑은 고딕"/>
                <a:ea typeface="맑은 고딕"/>
                <a:cs typeface="맑은 고딕"/>
              </a:rPr>
              <a:t>한계는 수로 둔다</a:t>
            </a:r>
          </a:p>
        </p:txBody>
      </p:sp>
      <p:sp>
        <p:nvSpPr>
          <p:cNvPr id="22" name="Oval 21"/>
          <p:cNvSpPr/>
          <p:nvPr/>
        </p:nvSpPr>
        <p:spPr>
          <a:xfrm>
            <a:off x="9821913" y="2219324"/>
            <a:ext cx="868680" cy="86868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039083" y="2436495"/>
            <a:ext cx="434340" cy="434340"/>
          </a:xfrm>
          <a:prstGeom prst="rect">
            <a:avLst/>
          </a:prstGeom>
        </p:spPr>
      </p:pic>
      <p:sp>
        <p:nvSpPr>
          <p:cNvPr id="24" name="Oval 23"/>
          <p:cNvSpPr/>
          <p:nvPr/>
        </p:nvSpPr>
        <p:spPr>
          <a:xfrm>
            <a:off x="10416273" y="2173605"/>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관계를 정한다</a:t>
            </a:r>
          </a:p>
          <a:p>
            <a:pPr algn="ctr" eaLnBrk="0">
              <a:lnSpc>
                <a:spcPct val="110000"/>
              </a:lnSpc>
              <a:spcAft>
                <a:spcPts val="400"/>
              </a:spcAft>
            </a:pPr>
            <a:r>
              <a:rPr sz="1550" b="0">
                <a:solidFill>
                  <a:srgbClr val="1F2A3A"/>
                </a:solidFill>
                <a:latin typeface="맑은 고딕"/>
                <a:ea typeface="맑은 고딕"/>
                <a:cs typeface="맑은 고딕"/>
              </a:rPr>
              <a:t>이름 · 방향</a:t>
            </a:r>
          </a:p>
          <a:p>
            <a:pPr algn="ctr" eaLnBrk="0">
              <a:lnSpc>
                <a:spcPct val="110000"/>
              </a:lnSpc>
              <a:spcAft>
                <a:spcPts val="400"/>
              </a:spcAft>
            </a:pPr>
            <a:r>
              <a:rPr sz="1550" b="0">
                <a:solidFill>
                  <a:srgbClr val="1F2A3A"/>
                </a:solidFill>
                <a:latin typeface="맑은 고딕"/>
                <a:ea typeface="맑은 고딕"/>
                <a:cs typeface="맑은 고딕"/>
              </a:rPr>
              <a:t>양 끝 클래스</a:t>
            </a:r>
          </a:p>
          <a:p>
            <a:pPr algn="ctr" eaLnBrk="0">
              <a:lnSpc>
                <a:spcPct val="110000"/>
              </a:lnSpc>
              <a:spcAft>
                <a:spcPts val="400"/>
              </a:spcAft>
            </a:pPr>
            <a:r>
              <a:rPr sz="1550" b="0">
                <a:solidFill>
                  <a:srgbClr val="1F2A3A"/>
                </a:solidFill>
                <a:latin typeface="맑은 고딕"/>
                <a:ea typeface="맑은 고딕"/>
                <a:cs typeface="맑은 고딕"/>
              </a:rPr>
              <a:t>카디널리티</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속성과 관계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질문에 쓰이는 값은 속성으로, 질문이 건너가는 길은 관계로 적은 것이 설비 모델의 핵심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Asset         { id!  name!  code! }</a:t>
            </a:r>
          </a:p>
          <a:p>
            <a:pPr algn="l" eaLnBrk="0">
              <a:lnSpc>
                <a:spcPct val="110000"/>
              </a:lnSpc>
              <a:spcAft>
                <a:spcPts val="200"/>
              </a:spcAft>
            </a:pPr>
            <a:r>
              <a:rPr sz="1300" b="0">
                <a:solidFill>
                  <a:srgbClr val="E8EEF6"/>
                </a:solidFill>
                <a:latin typeface="Consolas"/>
                <a:ea typeface="맑은 고딕"/>
                <a:cs typeface="맑은 고딕"/>
              </a:rPr>
              <a:t>Component     { id!  name!  aliases }</a:t>
            </a:r>
          </a:p>
          <a:p>
            <a:pPr algn="l" eaLnBrk="0">
              <a:lnSpc>
                <a:spcPct val="110000"/>
              </a:lnSpc>
              <a:spcAft>
                <a:spcPts val="200"/>
              </a:spcAft>
            </a:pPr>
            <a:r>
              <a:rPr sz="1300" b="0">
                <a:solidFill>
                  <a:srgbClr val="E8EEF6"/>
                </a:solidFill>
                <a:latin typeface="Consolas"/>
                <a:ea typeface="맑은 고딕"/>
                <a:cs typeface="맑은 고딕"/>
              </a:rPr>
              <a:t>Sensor        { id!  name!  tag!  unit }</a:t>
            </a:r>
          </a:p>
          <a:p>
            <a:pPr algn="l" eaLnBrk="0">
              <a:lnSpc>
                <a:spcPct val="110000"/>
              </a:lnSpc>
              <a:spcAft>
                <a:spcPts val="200"/>
              </a:spcAft>
            </a:pPr>
            <a:r>
              <a:rPr sz="1300" b="0">
                <a:solidFill>
                  <a:srgbClr val="E8EEF6"/>
                </a:solidFill>
                <a:latin typeface="Consolas"/>
                <a:ea typeface="맑은 고딕"/>
                <a:cs typeface="맑은 고딕"/>
              </a:rPr>
              <a:t>StateVariable { id!  name!  unit!  kind!  limit }</a:t>
            </a:r>
          </a:p>
          <a:p>
            <a:pPr algn="l" eaLnBrk="0">
              <a:lnSpc>
                <a:spcPct val="110000"/>
              </a:lnSpc>
              <a:spcAft>
                <a:spcPts val="200"/>
              </a:spcAft>
            </a:pPr>
            <a:r>
              <a:rPr sz="1300" b="0">
                <a:solidFill>
                  <a:srgbClr val="E8EEF6"/>
                </a:solidFill>
                <a:latin typeface="Consolas"/>
                <a:ea typeface="맑은 고딕"/>
                <a:cs typeface="맑은 고딕"/>
              </a:rPr>
              <a:t>Part          { id!  name!  partNo }</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HAS_COMPONENT   Asset     -&gt; Component      1:N</a:t>
            </a:r>
          </a:p>
          <a:p>
            <a:pPr algn="l" eaLnBrk="0">
              <a:lnSpc>
                <a:spcPct val="110000"/>
              </a:lnSpc>
              <a:spcAft>
                <a:spcPts val="200"/>
              </a:spcAft>
            </a:pPr>
            <a:r>
              <a:rPr sz="1300" b="0">
                <a:solidFill>
                  <a:srgbClr val="E8EEF6"/>
                </a:solidFill>
                <a:latin typeface="Consolas"/>
                <a:ea typeface="맑은 고딕"/>
                <a:cs typeface="맑은 고딕"/>
              </a:rPr>
              <a:t>MONITORED_BY    Component -&gt; Sensor         N:M</a:t>
            </a:r>
          </a:p>
          <a:p>
            <a:pPr algn="l" eaLnBrk="0">
              <a:lnSpc>
                <a:spcPct val="110000"/>
              </a:lnSpc>
              <a:spcAft>
                <a:spcPts val="200"/>
              </a:spcAft>
            </a:pPr>
            <a:r>
              <a:rPr sz="1300" b="0">
                <a:solidFill>
                  <a:srgbClr val="E8EEF6"/>
                </a:solidFill>
                <a:latin typeface="Consolas"/>
                <a:ea typeface="맑은 고딕"/>
                <a:cs typeface="맑은 고딕"/>
              </a:rPr>
              <a:t>OBSERVES        Sensor    -&gt; StateVariable  N:1</a:t>
            </a:r>
          </a:p>
          <a:p>
            <a:pPr algn="l" eaLnBrk="0">
              <a:lnSpc>
                <a:spcPct val="110000"/>
              </a:lnSpc>
              <a:spcAft>
                <a:spcPts val="200"/>
              </a:spcAft>
            </a:pPr>
            <a:r>
              <a:rPr sz="1300" b="0">
                <a:solidFill>
                  <a:srgbClr val="E8EEF6"/>
                </a:solidFill>
                <a:latin typeface="Consolas"/>
                <a:ea typeface="맑은 고딕"/>
                <a:cs typeface="맑은 고딕"/>
              </a:rPr>
              <a:t>USES_PART       Component -&gt; Part           N:M</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느낌표</a:t>
            </a:r>
          </a:p>
          <a:p>
            <a:pPr algn="l" eaLnBrk="0">
              <a:lnSpc>
                <a:spcPct val="110000"/>
              </a:lnSpc>
              <a:spcAft>
                <a:spcPts val="400"/>
              </a:spcAft>
            </a:pPr>
            <a:r>
              <a:rPr sz="1400" b="0">
                <a:solidFill>
                  <a:srgbClr val="1F2A3A"/>
                </a:solidFill>
                <a:latin typeface="맑은 고딕"/>
                <a:ea typeface="맑은 고딕"/>
                <a:cs typeface="맑은 고딕"/>
              </a:rPr>
              <a:t>필수 속성이다. 이 다섯 클래스에서 id와 name은 필수이다.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필수로 둔 값</a:t>
            </a:r>
          </a:p>
          <a:p>
            <a:pPr algn="l" eaLnBrk="0">
              <a:lnSpc>
                <a:spcPct val="110000"/>
              </a:lnSpc>
              <a:spcAft>
                <a:spcPts val="400"/>
              </a:spcAft>
            </a:pPr>
            <a:r>
              <a:rPr sz="1400" b="0">
                <a:solidFill>
                  <a:srgbClr val="1F2A3A"/>
                </a:solidFill>
                <a:latin typeface="맑은 고딕"/>
                <a:ea typeface="맑은 고딕"/>
                <a:cs typeface="맑은 고딕"/>
              </a:rPr>
              <a:t>설비의 code, 센서의 tag, 상태 변수의 unit · kind는 없으면 쓸 수 없다.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핵심 정의 발췌</a:t>
            </a:r>
          </a:p>
          <a:p>
            <a:pPr algn="l" eaLnBrk="0">
              <a:lnSpc>
                <a:spcPct val="110000"/>
              </a:lnSpc>
              <a:spcAft>
                <a:spcPts val="400"/>
              </a:spcAft>
            </a:pPr>
            <a:r>
              <a:rPr sz="1400" b="0">
                <a:solidFill>
                  <a:srgbClr val="1F2A3A"/>
                </a:solidFill>
                <a:latin typeface="맑은 고딕"/>
                <a:ea typeface="맑은 고딕"/>
                <a:cs typeface="맑은 고딕"/>
              </a:rPr>
              <a:t>질문에 쓰이는 속성만 골랐다. 전체 정의에는 normal · virtual 등이 더 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HAS_COMPONENT</a:t>
            </a:r>
          </a:p>
          <a:p>
            <a:pPr algn="l" eaLnBrk="0">
              <a:lnSpc>
                <a:spcPct val="110000"/>
              </a:lnSpc>
              <a:spcAft>
                <a:spcPts val="400"/>
              </a:spcAft>
            </a:pPr>
            <a:r>
              <a:rPr sz="1400" b="0">
                <a:solidFill>
                  <a:srgbClr val="1F2A3A"/>
                </a:solidFill>
                <a:latin typeface="맑은 고딕"/>
                <a:ea typeface="맑은 고딕"/>
                <a:cs typeface="맑은 고딕"/>
              </a:rPr>
              <a:t>1:N으로 선언되어 있지만 구성 요소 노드는 세 설비가 함께 가리킨다.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관계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클래스를 네 관계로 이으면 세 질문이 모두 구성 요소를 거쳐 가는 구조가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pic>
        <p:nvPicPr>
          <p:cNvPr id="6" name="삽화:설비모델.svg" descr="illust_5186291705924773712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440753"/>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4094119" y="3665162"/>
            <a:ext cx="126369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7210868"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658605" y="4104814"/>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6653358" y="5329223"/>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2485303" y="270076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5379048" y="2667670"/>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4" name="TextBox 13"/>
          <p:cNvSpPr txBox="1"/>
          <p:nvPr/>
        </p:nvSpPr>
        <p:spPr>
          <a:xfrm>
            <a:off x="8352437" y="3556430"/>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
        <p:nvSpPr>
          <p:cNvPr id="15" name="TextBox 14"/>
          <p:cNvSpPr txBox="1"/>
          <p:nvPr/>
        </p:nvSpPr>
        <p:spPr>
          <a:xfrm>
            <a:off x="5140115" y="484229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인스턴스 추가와 스키마 변경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대상이 늘면 인스턴스를 더하고, 질문이나 기존 조건이 바뀌면 스키마와 데이터를 함께 살핀다.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0" name="TextBox 9"/>
          <p:cNvSpPr txBox="1"/>
          <p:nvPr/>
        </p:nvSpPr>
        <p:spPr>
          <a:xfrm>
            <a:off x="822959" y="3180207"/>
            <a:ext cx="4632807" cy="2125218"/>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예시 인스턴스를 넣고 처음 질문에 답이 나오는지 본다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오일 쿨러 → 유온 센서 TS1 → 유온 limit 65</a:t>
            </a:r>
          </a:p>
          <a:p>
            <a:pPr algn="l" eaLnBrk="0" marL="165735" indent="-165735">
              <a:lnSpc>
                <a:spcPct val="110000"/>
              </a:lnSpc>
              <a:spcAft>
                <a:spcPts val="600"/>
              </a:spcAft>
            </a:pPr>
            <a:r>
              <a:rPr sz="1450" b="0">
                <a:solidFill>
                  <a:srgbClr val="1F2A3A"/>
                </a:solidFill>
                <a:latin typeface="맑은 고딕"/>
                <a:ea typeface="맑은 고딕"/>
                <a:cs typeface="맑은 고딕"/>
              </a:rPr>
              <a:t>• 오일 쿨러 → 쿨러 코어: 질문 3의 답</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늘어도 스키마는 그대로이다</a:t>
            </a:r>
          </a:p>
        </p:txBody>
      </p:sp>
      <p:sp>
        <p:nvSpPr>
          <p:cNvPr id="11" name="Rounded Rectangle 10"/>
          <p:cNvSpPr/>
          <p:nvPr/>
        </p:nvSpPr>
        <p:spPr>
          <a:xfrm>
            <a:off x="868680" y="5396865"/>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자주 일어난다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edit" descr="edi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스키마를 고친다</a:t>
            </a:r>
          </a:p>
        </p:txBody>
      </p:sp>
      <p:sp>
        <p:nvSpPr>
          <p:cNvPr id="17" name="TextBox 16"/>
          <p:cNvSpPr txBox="1"/>
          <p:nvPr/>
        </p:nvSpPr>
        <p:spPr>
          <a:xfrm>
            <a:off x="6735927" y="3180207"/>
            <a:ext cx="4632807" cy="2125218"/>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새 질문: 쿨러 코어의 공급사</a:t>
            </a:r>
          </a:p>
          <a:p>
            <a:pPr algn="l" eaLnBrk="0" marL="165735" indent="-165735">
              <a:lnSpc>
                <a:spcPct val="110000"/>
              </a:lnSpc>
              <a:spcAft>
                <a:spcPts val="600"/>
              </a:spcAft>
            </a:pPr>
            <a:r>
              <a:rPr sz="1450" b="0">
                <a:solidFill>
                  <a:srgbClr val="1F2A3A"/>
                </a:solidFill>
                <a:latin typeface="맑은 고딕"/>
                <a:ea typeface="맑은 고딕"/>
                <a:cs typeface="맑은 고딕"/>
              </a:rPr>
              <a:t>• 추가: Supplier · SUPPLIED_BY(Part → Supplier)</a:t>
            </a:r>
          </a:p>
          <a:p>
            <a:pPr algn="l" eaLnBrk="0" marL="165735" indent="-165735">
              <a:lnSpc>
                <a:spcPct val="110000"/>
              </a:lnSpc>
              <a:spcAft>
                <a:spcPts val="600"/>
              </a:spcAft>
            </a:pPr>
            <a:r>
              <a:rPr sz="1450" b="0">
                <a:solidFill>
                  <a:srgbClr val="1F2A3A"/>
                </a:solidFill>
                <a:latin typeface="맑은 고딕"/>
                <a:ea typeface="맑은 고딕"/>
                <a:cs typeface="맑은 고딕"/>
              </a:rPr>
              <a:t>• 답: A정밀 · B-OEM</a:t>
            </a:r>
          </a:p>
          <a:p>
            <a:pPr algn="l" eaLnBrk="0" marL="165735" indent="-165735">
              <a:lnSpc>
                <a:spcPct val="110000"/>
              </a:lnSpc>
              <a:spcAft>
                <a:spcPts val="600"/>
              </a:spcAft>
            </a:pPr>
            <a:r>
              <a:rPr sz="1450" b="0">
                <a:solidFill>
                  <a:srgbClr val="1F2A3A"/>
                </a:solidFill>
                <a:latin typeface="맑은 고딕"/>
                <a:ea typeface="맑은 고딕"/>
                <a:cs typeface="맑은 고딕"/>
              </a:rPr>
              <a:t>• 기존 조건 변경(가정): Sensor.unit 선택 → 필수</a:t>
            </a:r>
          </a:p>
          <a:p>
            <a:pPr algn="l" eaLnBrk="0" marL="165735" indent="-165735">
              <a:lnSpc>
                <a:spcPct val="110000"/>
              </a:lnSpc>
              <a:spcAft>
                <a:spcPts val="600"/>
              </a:spcAft>
            </a:pPr>
            <a:r>
              <a:rPr sz="1450" b="0">
                <a:solidFill>
                  <a:srgbClr val="1F2A3A"/>
                </a:solidFill>
                <a:latin typeface="맑은 고딕"/>
                <a:ea typeface="맑은 고딕"/>
                <a:cs typeface="맑은 고딕"/>
              </a:rPr>
              <a:t>• 영향: 기존 센서의 단위 누락도 확인한다</a:t>
            </a:r>
          </a:p>
        </p:txBody>
      </p:sp>
      <p:sp>
        <p:nvSpPr>
          <p:cNvPr id="18" name="Rounded Rectangle 17"/>
          <p:cNvSpPr/>
          <p:nvPr/>
        </p:nvSpPr>
        <p:spPr>
          <a:xfrm>
            <a:off x="6781647" y="5396865"/>
            <a:ext cx="15575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55752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드물게, 신중하게</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진단 · 판단 · 성과의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방식으로 정의한 클래스가 설비 · 진단 · 판단 · 성과의 네 묶음으로 온톨로지에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313241"/>
            <a:ext cx="2567863"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514409"/>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설비</a:t>
            </a:r>
          </a:p>
          <a:p>
            <a:pPr algn="l" eaLnBrk="0">
              <a:lnSpc>
                <a:spcPct val="110000"/>
              </a:lnSpc>
              <a:spcAft>
                <a:spcPts val="400"/>
              </a:spcAft>
            </a:pPr>
            <a:r>
              <a:rPr sz="1750" b="0">
                <a:solidFill>
                  <a:srgbClr val="1F2A3A"/>
                </a:solidFill>
                <a:latin typeface="맑은 고딕"/>
                <a:ea typeface="맑은 고딕"/>
                <a:cs typeface="맑은 고딕"/>
              </a:rPr>
              <a:t>Asset, Component, Sensor, Actuator, StateVariable, Part, Supplier</a:t>
            </a:r>
          </a:p>
        </p:txBody>
      </p:sp>
      <p:sp>
        <p:nvSpPr>
          <p:cNvPr id="10" name="Rounded Rectangle 9"/>
          <p:cNvSpPr/>
          <p:nvPr/>
        </p:nvSpPr>
        <p:spPr>
          <a:xfrm>
            <a:off x="777240" y="5239702"/>
            <a:ext cx="193548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39702"/>
            <a:ext cx="1935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무엇으로 이루어졌는가</a:t>
            </a:r>
          </a:p>
        </p:txBody>
      </p:sp>
      <p:sp>
        <p:nvSpPr>
          <p:cNvPr id="12" name="Rounded Rectangle 11"/>
          <p:cNvSpPr/>
          <p:nvPr/>
        </p:nvSpPr>
        <p:spPr>
          <a:xfrm>
            <a:off x="3390823"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4409"/>
            <a:ext cx="731520" cy="731520"/>
          </a:xfrm>
          <a:prstGeom prst="ellipse">
            <a:avLst/>
          </a:prstGeom>
          <a:solidFill>
            <a:srgbClr val="E7F3FD"/>
          </a:solidFill>
          <a:ln>
            <a:noFill/>
          </a:ln>
        </p:spPr>
        <p:txBody>
          <a:bodyPr rtlCol="0" anchor="ctr"/>
          <a:lstStyle/>
          <a:p>
            <a:pPr algn="ctr"/>
          </a:p>
        </p:txBody>
      </p:sp>
      <p:pic>
        <p:nvPicPr>
          <p:cNvPr id="14" name="아이콘:stethoscope" descr="stethoscope_13294B_1.6.png"/>
          <p:cNvPicPr>
            <a:picLocks noChangeAspect="1"/>
          </p:cNvPicPr>
          <p:nvPr/>
        </p:nvPicPr>
        <p:blipFill>
          <a:blip r:embed="rId4"/>
          <a:stretch>
            <a:fillRect/>
          </a:stretch>
        </p:blipFill>
        <p:spPr>
          <a:xfrm>
            <a:off x="3773043" y="2668028"/>
            <a:ext cx="424281" cy="424281"/>
          </a:xfrm>
          <a:prstGeom prst="rect">
            <a:avLst/>
          </a:prstGeom>
        </p:spPr>
      </p:pic>
      <p:sp>
        <p:nvSpPr>
          <p:cNvPr id="15" name="TextBox 14"/>
          <p:cNvSpPr txBox="1"/>
          <p:nvPr/>
        </p:nvSpPr>
        <p:spPr>
          <a:xfrm>
            <a:off x="3555415"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진단</a:t>
            </a:r>
          </a:p>
          <a:p>
            <a:pPr algn="l" eaLnBrk="0">
              <a:lnSpc>
                <a:spcPct val="110000"/>
              </a:lnSpc>
              <a:spcAft>
                <a:spcPts val="400"/>
              </a:spcAft>
            </a:pPr>
            <a:r>
              <a:rPr sz="1750" b="0">
                <a:solidFill>
                  <a:srgbClr val="1F2A3A"/>
                </a:solidFill>
                <a:latin typeface="맑은 고딕"/>
                <a:ea typeface="맑은 고딕"/>
                <a:cs typeface="맑은 고딕"/>
              </a:rPr>
              <a:t>AnomalyPattern, Symptom, FailureMode, Cause, Evidence</a:t>
            </a:r>
          </a:p>
        </p:txBody>
      </p:sp>
      <p:sp>
        <p:nvSpPr>
          <p:cNvPr id="16" name="Rounded Rectangle 15"/>
          <p:cNvSpPr/>
          <p:nvPr/>
        </p:nvSpPr>
        <p:spPr>
          <a:xfrm>
            <a:off x="3619423" y="5239702"/>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9702"/>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왜 잘못되었는가</a:t>
            </a:r>
          </a:p>
        </p:txBody>
      </p:sp>
      <p:sp>
        <p:nvSpPr>
          <p:cNvPr id="18" name="Rounded Rectangle 17"/>
          <p:cNvSpPr/>
          <p:nvPr/>
        </p:nvSpPr>
        <p:spPr>
          <a:xfrm>
            <a:off x="6233007"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4409"/>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668028"/>
            <a:ext cx="424281" cy="424281"/>
          </a:xfrm>
          <a:prstGeom prst="rect">
            <a:avLst/>
          </a:prstGeom>
        </p:spPr>
      </p:pic>
      <p:sp>
        <p:nvSpPr>
          <p:cNvPr id="21" name="TextBox 20"/>
          <p:cNvSpPr txBox="1"/>
          <p:nvPr/>
        </p:nvSpPr>
        <p:spPr>
          <a:xfrm>
            <a:off x="6397599"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판단</a:t>
            </a:r>
          </a:p>
          <a:p>
            <a:pPr algn="l" eaLnBrk="0">
              <a:lnSpc>
                <a:spcPct val="110000"/>
              </a:lnSpc>
              <a:spcAft>
                <a:spcPts val="400"/>
              </a:spcAft>
            </a:pPr>
            <a:r>
              <a:rPr sz="1750" b="0">
                <a:solidFill>
                  <a:srgbClr val="1F2A3A"/>
                </a:solidFill>
                <a:latin typeface="맑은 고딕"/>
                <a:ea typeface="맑은 고딕"/>
                <a:cs typeface="맑은 고딕"/>
              </a:rPr>
              <a:t>Skill, Decision, DecisionTable, Rule 등 조치 방법과 판단 규칙의 클래스</a:t>
            </a:r>
          </a:p>
        </p:txBody>
      </p:sp>
      <p:sp>
        <p:nvSpPr>
          <p:cNvPr id="22" name="Rounded Rectangle 21"/>
          <p:cNvSpPr/>
          <p:nvPr/>
        </p:nvSpPr>
        <p:spPr>
          <a:xfrm>
            <a:off x="6461607" y="5239702"/>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9702"/>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무엇을 할 수 있는가</a:t>
            </a:r>
          </a:p>
        </p:txBody>
      </p:sp>
      <p:sp>
        <p:nvSpPr>
          <p:cNvPr id="24" name="Rounded Rectangle 23"/>
          <p:cNvSpPr/>
          <p:nvPr/>
        </p:nvSpPr>
        <p:spPr>
          <a:xfrm>
            <a:off x="9075191"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14409"/>
            <a:ext cx="731520" cy="731520"/>
          </a:xfrm>
          <a:prstGeom prst="ellipse">
            <a:avLst/>
          </a:prstGeom>
          <a:solidFill>
            <a:srgbClr val="E7F3FD"/>
          </a:solidFill>
          <a:ln>
            <a:noFill/>
          </a:ln>
        </p:spPr>
        <p:txBody>
          <a:bodyPr rtlCol="0" anchor="ctr"/>
          <a:lstStyle/>
          <a:p>
            <a:pPr algn="ctr"/>
          </a:p>
        </p:txBody>
      </p:sp>
      <p:pic>
        <p:nvPicPr>
          <p:cNvPr id="26" name="아이콘:target" descr="target_13294B_1.6.png"/>
          <p:cNvPicPr>
            <a:picLocks noChangeAspect="1"/>
          </p:cNvPicPr>
          <p:nvPr/>
        </p:nvPicPr>
        <p:blipFill>
          <a:blip r:embed="rId6"/>
          <a:stretch>
            <a:fillRect/>
          </a:stretch>
        </p:blipFill>
        <p:spPr>
          <a:xfrm>
            <a:off x="9457410" y="2668028"/>
            <a:ext cx="424281" cy="424281"/>
          </a:xfrm>
          <a:prstGeom prst="rect">
            <a:avLst/>
          </a:prstGeom>
        </p:spPr>
      </p:pic>
      <p:sp>
        <p:nvSpPr>
          <p:cNvPr id="27" name="TextBox 26"/>
          <p:cNvSpPr txBox="1"/>
          <p:nvPr/>
        </p:nvSpPr>
        <p:spPr>
          <a:xfrm>
            <a:off x="9239783"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성과</a:t>
            </a:r>
          </a:p>
          <a:p>
            <a:pPr algn="l" eaLnBrk="0">
              <a:lnSpc>
                <a:spcPct val="110000"/>
              </a:lnSpc>
              <a:spcAft>
                <a:spcPts val="400"/>
              </a:spcAft>
            </a:pPr>
            <a:r>
              <a:rPr sz="1750" b="0">
                <a:solidFill>
                  <a:srgbClr val="1F2A3A"/>
                </a:solidFill>
                <a:latin typeface="맑은 고딕"/>
                <a:ea typeface="맑은 고딕"/>
                <a:cs typeface="맑은 고딕"/>
              </a:rPr>
              <a:t>Perspective, Objective, Measure 등 목표와 성과 지표의 클래스</a:t>
            </a:r>
          </a:p>
        </p:txBody>
      </p:sp>
      <p:sp>
        <p:nvSpPr>
          <p:cNvPr id="28" name="Rounded Rectangle 27"/>
          <p:cNvSpPr/>
          <p:nvPr/>
        </p:nvSpPr>
        <p:spPr>
          <a:xfrm>
            <a:off x="9303791" y="5239702"/>
            <a:ext cx="16306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239702"/>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무엇이 좋아지는가</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저장 구조와 관계 조회</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테이블의 조인과 그래프의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관계형 DB는 테이블의 행을 열 값으로 </a:t>
            </a:r>
            <a:r>
              <a:rPr sz="1600" b="1">
                <a:solidFill>
                  <a:srgbClr val="1A6FC4"/>
                </a:solidFill>
                <a:latin typeface="맑은 고딕"/>
                <a:ea typeface="맑은 고딕"/>
                <a:cs typeface="맑은 고딕"/>
              </a:rPr>
              <a:t>조인</a:t>
            </a:r>
            <a:r>
              <a:rPr sz="1600" b="0">
                <a:solidFill>
                  <a:srgbClr val="556175"/>
                </a:solidFill>
                <a:latin typeface="맑은 고딕"/>
                <a:ea typeface="맑은 고딕"/>
                <a:cs typeface="맑은 고딕"/>
              </a:rPr>
              <a:t>하고, 그래프 DB는 저장된 관계를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pic>
        <p:nvPicPr>
          <p:cNvPr id="6" name="삽화:조인_그래프.svg" descr="illust_784819988012067720_179203333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1778910"/>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parts</a:t>
            </a:r>
          </a:p>
        </p:txBody>
      </p:sp>
      <p:sp>
        <p:nvSpPr>
          <p:cNvPr id="8" name="TextBox 7"/>
          <p:cNvSpPr txBox="1"/>
          <p:nvPr/>
        </p:nvSpPr>
        <p:spPr>
          <a:xfrm>
            <a:off x="1066570" y="2384023"/>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9" name="TextBox 8"/>
          <p:cNvSpPr txBox="1"/>
          <p:nvPr/>
        </p:nvSpPr>
        <p:spPr>
          <a:xfrm>
            <a:off x="1066570" y="2842586"/>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0" name="TextBox 9"/>
          <p:cNvSpPr txBox="1"/>
          <p:nvPr/>
        </p:nvSpPr>
        <p:spPr>
          <a:xfrm>
            <a:off x="1066570"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id</a:t>
            </a:r>
          </a:p>
        </p:txBody>
      </p:sp>
      <p:sp>
        <p:nvSpPr>
          <p:cNvPr id="11" name="TextBox 10"/>
          <p:cNvSpPr txBox="1"/>
          <p:nvPr/>
        </p:nvSpPr>
        <p:spPr>
          <a:xfrm>
            <a:off x="2615718"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12" name="TextBox 11"/>
          <p:cNvSpPr txBox="1"/>
          <p:nvPr/>
        </p:nvSpPr>
        <p:spPr>
          <a:xfrm>
            <a:off x="1066570"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sup:a</a:t>
            </a:r>
          </a:p>
        </p:txBody>
      </p:sp>
      <p:sp>
        <p:nvSpPr>
          <p:cNvPr id="13" name="TextBox 12"/>
          <p:cNvSpPr txBox="1"/>
          <p:nvPr/>
        </p:nvSpPr>
        <p:spPr>
          <a:xfrm>
            <a:off x="2615718"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4" name="TextBox 13"/>
          <p:cNvSpPr txBox="1"/>
          <p:nvPr/>
        </p:nvSpPr>
        <p:spPr>
          <a:xfrm>
            <a:off x="1066570"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sup:b</a:t>
            </a:r>
          </a:p>
        </p:txBody>
      </p:sp>
      <p:sp>
        <p:nvSpPr>
          <p:cNvPr id="15" name="TextBox 14"/>
          <p:cNvSpPr txBox="1"/>
          <p:nvPr/>
        </p:nvSpPr>
        <p:spPr>
          <a:xfrm>
            <a:off x="2615718"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6" name="TextBox 15"/>
          <p:cNvSpPr txBox="1"/>
          <p:nvPr/>
        </p:nvSpPr>
        <p:spPr>
          <a:xfrm>
            <a:off x="1350217" y="5858697"/>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suppliers</a:t>
            </a:r>
          </a:p>
        </p:txBody>
      </p:sp>
      <p:sp>
        <p:nvSpPr>
          <p:cNvPr id="17" name="TextBox 16"/>
          <p:cNvSpPr txBox="1"/>
          <p:nvPr/>
        </p:nvSpPr>
        <p:spPr>
          <a:xfrm>
            <a:off x="3750306" y="3542248"/>
            <a:ext cx="19637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조인(JOIN)</a:t>
            </a:r>
          </a:p>
          <a:p>
            <a:pPr algn="ctr" eaLnBrk="0">
              <a:lnSpc>
                <a:spcPct val="110000"/>
              </a:lnSpc>
              <a:spcAft>
                <a:spcPts val="100"/>
              </a:spcAft>
            </a:pPr>
            <a:r>
              <a:rPr sz="1100" b="0">
                <a:solidFill>
                  <a:srgbClr val="556175"/>
                </a:solidFill>
                <a:latin typeface="맑은 고딕"/>
                <a:ea typeface="맑은 고딕"/>
                <a:cs typeface="맑은 고딕"/>
              </a:rPr>
              <a:t>part_no 값이 같은 행</a:t>
            </a:r>
          </a:p>
        </p:txBody>
      </p:sp>
      <p:sp>
        <p:nvSpPr>
          <p:cNvPr id="18" name="TextBox 17"/>
          <p:cNvSpPr txBox="1"/>
          <p:nvPr/>
        </p:nvSpPr>
        <p:spPr>
          <a:xfrm>
            <a:off x="7001335" y="3929899"/>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9" name="TextBox 18"/>
          <p:cNvSpPr txBox="1"/>
          <p:nvPr/>
        </p:nvSpPr>
        <p:spPr>
          <a:xfrm>
            <a:off x="9914170" y="2563666"/>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0" name="TextBox 19"/>
          <p:cNvSpPr txBox="1"/>
          <p:nvPr/>
        </p:nvSpPr>
        <p:spPr>
          <a:xfrm>
            <a:off x="9914170" y="5291404"/>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1" name="TextBox 20"/>
          <p:cNvSpPr txBox="1"/>
          <p:nvPr/>
        </p:nvSpPr>
        <p:spPr>
          <a:xfrm>
            <a:off x="7895914" y="2691307"/>
            <a:ext cx="13091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SUPPLIED_BY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레이블 · 관계 ·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그래프 DB는 인스턴스를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로, 클래스 이름을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(Label)로, 값을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속성그래프_대각.svg" descr="illust_624687218090857740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124248" y="2823676"/>
            <a:ext cx="169907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8" name="TextBox 7"/>
          <p:cNvSpPr txBox="1"/>
          <p:nvPr/>
        </p:nvSpPr>
        <p:spPr>
          <a:xfrm>
            <a:off x="6063989" y="4705200"/>
            <a:ext cx="169907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9" name="TextBox 8"/>
          <p:cNvSpPr txBox="1"/>
          <p:nvPr/>
        </p:nvSpPr>
        <p:spPr>
          <a:xfrm>
            <a:off x="4885253" y="2128741"/>
            <a:ext cx="3185774"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'sen:ts1'</a:t>
            </a:r>
          </a:p>
          <a:p>
            <a:pPr algn="ctr" eaLnBrk="0">
              <a:lnSpc>
                <a:spcPct val="110000"/>
              </a:lnSpc>
              <a:spcAft>
                <a:spcPts val="100"/>
              </a:spcAft>
            </a:pPr>
            <a:r>
              <a:rPr sz="1300" b="0">
                <a:solidFill>
                  <a:srgbClr val="556175"/>
                </a:solidFill>
                <a:latin typeface="맑은 고딕"/>
                <a:ea typeface="맑은 고딕"/>
                <a:cs typeface="맑은 고딕"/>
              </a:rPr>
              <a:t>name: '유온 센서'</a:t>
            </a:r>
          </a:p>
          <a:p>
            <a:pPr algn="ctr" eaLnBrk="0">
              <a:lnSpc>
                <a:spcPct val="110000"/>
              </a:lnSpc>
              <a:spcAft>
                <a:spcPts val="100"/>
              </a:spcAft>
            </a:pPr>
            <a:r>
              <a:rPr sz="1300" b="0">
                <a:solidFill>
                  <a:srgbClr val="556175"/>
                </a:solidFill>
                <a:latin typeface="맑은 고딕"/>
                <a:ea typeface="맑은 고딕"/>
                <a:cs typeface="맑은 고딕"/>
              </a:rPr>
              <a:t>tag: 'TS1'</a:t>
            </a:r>
          </a:p>
        </p:txBody>
      </p:sp>
      <p:sp>
        <p:nvSpPr>
          <p:cNvPr id="10" name="TextBox 9"/>
          <p:cNvSpPr txBox="1"/>
          <p:nvPr/>
        </p:nvSpPr>
        <p:spPr>
          <a:xfrm>
            <a:off x="8543584" y="4492465"/>
            <a:ext cx="2601715"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'sv:ts1'</a:t>
            </a:r>
          </a:p>
          <a:p>
            <a:pPr algn="ctr" eaLnBrk="0">
              <a:lnSpc>
                <a:spcPct val="110000"/>
              </a:lnSpc>
              <a:spcAft>
                <a:spcPts val="100"/>
              </a:spcAft>
            </a:pPr>
            <a:r>
              <a:rPr sz="1300" b="0">
                <a:solidFill>
                  <a:srgbClr val="556175"/>
                </a:solidFill>
                <a:latin typeface="맑은 고딕"/>
                <a:ea typeface="맑은 고딕"/>
                <a:cs typeface="맑은 고딕"/>
              </a:rPr>
              <a:t>name: '유온'</a:t>
            </a:r>
          </a:p>
          <a:p>
            <a:pPr algn="ctr" eaLnBrk="0">
              <a:lnSpc>
                <a:spcPct val="110000"/>
              </a:lnSpc>
              <a:spcAft>
                <a:spcPts val="100"/>
              </a:spcAft>
            </a:pPr>
            <a:r>
              <a:rPr sz="1300" b="0">
                <a:solidFill>
                  <a:srgbClr val="556175"/>
                </a:solidFill>
                <a:latin typeface="맑은 고딕"/>
                <a:ea typeface="맑은 고딕"/>
                <a:cs typeface="맑은 고딕"/>
              </a:rPr>
              <a:t>limit: 65 · unit: '℃'</a:t>
            </a:r>
          </a:p>
        </p:txBody>
      </p:sp>
      <p:sp>
        <p:nvSpPr>
          <p:cNvPr id="11" name="TextBox 10"/>
          <p:cNvSpPr txBox="1"/>
          <p:nvPr/>
        </p:nvSpPr>
        <p:spPr>
          <a:xfrm>
            <a:off x="4163144" y="4185181"/>
            <a:ext cx="1274309"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스키마와 DB 제약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스키마는 옳은 데이터의 조건을 정하고, </a:t>
            </a:r>
            <a:r>
              <a:rPr sz="1600" b="1">
                <a:solidFill>
                  <a:srgbClr val="1A6FC4"/>
                </a:solidFill>
                <a:latin typeface="맑은 고딕"/>
                <a:ea typeface="맑은 고딕"/>
                <a:cs typeface="맑은 고딕"/>
              </a:rPr>
              <a:t>DB 제약</a:t>
            </a:r>
            <a:r>
              <a:rPr sz="1600" b="0">
                <a:solidFill>
                  <a:srgbClr val="556175"/>
                </a:solidFill>
                <a:latin typeface="맑은 고딕"/>
                <a:ea typeface="맑은 고딕"/>
                <a:cs typeface="맑은 고딕"/>
              </a:rPr>
              <a:t>은 그중 저장할 때 데이터베이스가 직접 막는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온톨로지 스키마</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클래스 → 레이블, 관계 유형 → 관계 유형, 속성 → 속성으로 옮겨진다</a:t>
            </a:r>
          </a:p>
          <a:p>
            <a:pPr algn="l" eaLnBrk="0" marL="165735" indent="-165735">
              <a:lnSpc>
                <a:spcPct val="110000"/>
              </a:lnSpc>
              <a:spcAft>
                <a:spcPts val="600"/>
              </a:spcAft>
            </a:pPr>
            <a:r>
              <a:rPr sz="1450" b="0">
                <a:solidFill>
                  <a:srgbClr val="1F2A3A"/>
                </a:solidFill>
                <a:latin typeface="맑은 고딕"/>
                <a:ea typeface="맑은 고딕"/>
                <a:cs typeface="맑은 고딕"/>
              </a:rPr>
              <a:t>• 필수 속성 · 자료형 · 허용값 · 끝 클래스 · 카디널리티를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별도 검사기가 필수값 · 허용값 · 끝 클래스를 확인한다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자료형 전체와 카디널리티는 자동 검사되지 않는다</a:t>
            </a:r>
          </a:p>
        </p:txBody>
      </p:sp>
      <p:sp>
        <p:nvSpPr>
          <p:cNvPr id="11" name="Rounded Rectangle 10"/>
          <p:cNvSpPr/>
          <p:nvPr/>
        </p:nvSpPr>
        <p:spPr>
          <a:xfrm>
            <a:off x="868680" y="5547296"/>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의미 모델의 정의</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DB 제약(DB Constraint)</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데이터베이스에 걸어 두어 저장하는 순간 검사하는 조건이다</a:t>
            </a:r>
          </a:p>
          <a:p>
            <a:pPr algn="l" eaLnBrk="0" marL="165735" indent="-165735">
              <a:lnSpc>
                <a:spcPct val="110000"/>
              </a:lnSpc>
              <a:spcAft>
                <a:spcPts val="600"/>
              </a:spcAft>
            </a:pPr>
            <a:r>
              <a:rPr sz="1450" b="0">
                <a:solidFill>
                  <a:srgbClr val="1F2A3A"/>
                </a:solidFill>
                <a:latin typeface="맑은 고딕"/>
                <a:ea typeface="맑은 고딕"/>
                <a:cs typeface="맑은 고딕"/>
              </a:rPr>
              <a:t>• 유일 제약(Unique Constraint): 같은 레이블의 노드끼리 id가 겹치지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예: id가 sen:ts1인 Sensor 노드를 또 만들면 저장을 거절한다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저장할 때 강제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질의 언어와 실행 화면의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그래프는 </a:t>
            </a:r>
            <a:r>
              <a:rPr sz="1600" b="1">
                <a:solidFill>
                  <a:srgbClr val="1A6FC4"/>
                </a:solidFill>
                <a:latin typeface="맑은 고딕"/>
                <a:ea typeface="맑은 고딕"/>
                <a:cs typeface="맑은 고딕"/>
              </a:rPr>
              <a:t>질의</a:t>
            </a:r>
            <a:r>
              <a:rPr sz="1600" b="0">
                <a:solidFill>
                  <a:srgbClr val="556175"/>
                </a:solidFill>
                <a:latin typeface="맑은 고딕"/>
                <a:ea typeface="맑은 고딕"/>
                <a:cs typeface="맑은 고딕"/>
              </a:rPr>
              <a:t>로 꺼내고 만들며, 질의 언어는 찾을 노드와 관계의 모양을 글자로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질의(Query)</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찾거나 만들지를 적는다.</a:t>
            </a:r>
          </a:p>
          <a:p>
            <a:pPr algn="l" eaLnBrk="0">
              <a:lnSpc>
                <a:spcPct val="110000"/>
              </a:lnSpc>
              <a:spcAft>
                <a:spcPts val="300"/>
              </a:spcAft>
            </a:pPr>
            <a:r>
              <a:rPr sz="1400" b="0">
                <a:solidFill>
                  <a:srgbClr val="1F2A3A"/>
                </a:solidFill>
                <a:latin typeface="맑은 고딕"/>
                <a:ea typeface="맑은 고딕"/>
                <a:cs typeface="맑은 고딕"/>
              </a:rPr>
              <a:t>쿨러 사건에서 경보로부터 원인 후보를 찾은 것도 그래프에 보낸 질의였다.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 언어(Query Language)</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DB에 보낼 요청을 적는 언어이다. 여기서는 노드와 관계의 패턴(Pattern)을 적는다.</a:t>
            </a:r>
          </a:p>
          <a:p>
            <a:pPr algn="l" eaLnBrk="0">
              <a:lnSpc>
                <a:spcPct val="110000"/>
              </a:lnSpc>
              <a:spcAft>
                <a:spcPts val="300"/>
              </a:spcAft>
            </a:pPr>
            <a:r>
              <a:rPr sz="1400" b="0">
                <a:solidFill>
                  <a:srgbClr val="1F2A3A"/>
                </a:solidFill>
                <a:latin typeface="맑은 고딕"/>
                <a:ea typeface="맑은 고딕"/>
                <a:cs typeface="맑은 고딕"/>
              </a:rPr>
              <a:t>그래프 DB의 질의 언어로는 Neo4j의 Cypher 같은 것이 있다.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 실행 화면</a:t>
            </a:r>
          </a:p>
          <a:p>
            <a:pPr algn="l" eaLnBrk="0">
              <a:lnSpc>
                <a:spcPct val="110000"/>
              </a:lnSpc>
              <a:spcAft>
                <a:spcPts val="200"/>
              </a:spcAft>
            </a:pPr>
            <a:r>
              <a:rPr sz="1150" b="0">
                <a:solidFill>
                  <a:srgbClr val="556175"/>
                </a:solidFill>
                <a:latin typeface="맑은 고딕"/>
                <a:ea typeface="맑은 고딕"/>
                <a:cs typeface="맑은 고딕"/>
              </a:rPr>
              <a:t>사람이 쓰는 창구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사람이 질의를 입력해 실행하고 결과를 표와 그래프로 보는 화면이다.</a:t>
            </a:r>
          </a:p>
          <a:p>
            <a:pPr algn="l" eaLnBrk="0">
              <a:lnSpc>
                <a:spcPct val="110000"/>
              </a:lnSpc>
              <a:spcAft>
                <a:spcPts val="300"/>
              </a:spcAft>
            </a:pPr>
            <a:r>
              <a:rPr sz="1400" b="0">
                <a:solidFill>
                  <a:srgbClr val="1F2A3A"/>
                </a:solidFill>
                <a:latin typeface="맑은 고딕"/>
                <a:ea typeface="맑은 고딕"/>
                <a:cs typeface="맑은 고딕"/>
              </a:rPr>
              <a:t>Neo4j Browser 같은 것이 있으며, 포털의 지식 지도와는 별개이다.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관계 · 변수 · 속성 조건의 표기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노드는 둥근 괄호, 관계는 대괄호와 화살표로 적고, </a:t>
            </a:r>
            <a:r>
              <a:rPr sz="1600" b="1">
                <a:solidFill>
                  <a:srgbClr val="1A6FC4"/>
                </a:solidFill>
                <a:latin typeface="맑은 고딕"/>
                <a:ea typeface="맑은 고딕"/>
                <a:cs typeface="맑은 고딕"/>
              </a:rPr>
              <a:t>변수</a:t>
            </a:r>
            <a:r>
              <a:rPr sz="1600" b="0">
                <a:solidFill>
                  <a:srgbClr val="556175"/>
                </a:solidFill>
                <a:latin typeface="맑은 고딕"/>
                <a:ea typeface="맑은 고딕"/>
                <a:cs typeface="맑은 고딕"/>
              </a:rPr>
              <a:t>와 중괄호의 속성 조건으로 대상을 좁힌다.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pic>
        <p:nvPicPr>
          <p:cNvPr id="6" name="삽화:표기_그래프.svg" descr="illust_6205344567687305085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352562" y="2440753"/>
            <a:ext cx="14123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센서</a:t>
            </a:r>
          </a:p>
        </p:txBody>
      </p:sp>
      <p:sp>
        <p:nvSpPr>
          <p:cNvPr id="8" name="TextBox 7"/>
          <p:cNvSpPr txBox="1"/>
          <p:nvPr/>
        </p:nvSpPr>
        <p:spPr>
          <a:xfrm>
            <a:off x="8575442" y="2440753"/>
            <a:ext cx="14123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상태 변수</a:t>
            </a:r>
          </a:p>
        </p:txBody>
      </p:sp>
      <p:sp>
        <p:nvSpPr>
          <p:cNvPr id="9" name="TextBox 8"/>
          <p:cNvSpPr txBox="1"/>
          <p:nvPr/>
        </p:nvSpPr>
        <p:spPr>
          <a:xfrm>
            <a:off x="5766650" y="2147651"/>
            <a:ext cx="106192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
        <p:nvSpPr>
          <p:cNvPr id="10" name="TextBox 9"/>
          <p:cNvSpPr txBox="1"/>
          <p:nvPr/>
        </p:nvSpPr>
        <p:spPr>
          <a:xfrm>
            <a:off x="1253470" y="4960482"/>
            <a:ext cx="36105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(s:Sensor {tag: 'TS1'})</a:t>
            </a:r>
          </a:p>
        </p:txBody>
      </p:sp>
      <p:sp>
        <p:nvSpPr>
          <p:cNvPr id="11" name="TextBox 10"/>
          <p:cNvSpPr txBox="1"/>
          <p:nvPr/>
        </p:nvSpPr>
        <p:spPr>
          <a:xfrm>
            <a:off x="5315332" y="4960482"/>
            <a:ext cx="1964560"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-[:OBSERVES]-&gt;</a:t>
            </a:r>
          </a:p>
        </p:txBody>
      </p:sp>
      <p:sp>
        <p:nvSpPr>
          <p:cNvPr id="12" name="TextBox 11"/>
          <p:cNvSpPr txBox="1"/>
          <p:nvPr/>
        </p:nvSpPr>
        <p:spPr>
          <a:xfrm>
            <a:off x="7741831" y="4960482"/>
            <a:ext cx="3079581"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(v:StateVariable)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패턴 조회와 반환 결과의 형태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질의는 찾을 패턴과 돌려받을 항목을 적으며, 패턴에 맞는 것 하나가 결과의 한 행이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속성값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-[r:MONITORED_BY]-&gt;(s:Sensor)</a:t>
            </a:r>
          </a:p>
          <a:p>
            <a:pPr algn="l" eaLnBrk="0">
              <a:lnSpc>
                <a:spcPct val="110000"/>
              </a:lnSpc>
              <a:spcAft>
                <a:spcPts val="200"/>
              </a:spcAft>
            </a:pPr>
            <a:r>
              <a:rPr sz="1300" b="0">
                <a:solidFill>
                  <a:srgbClr val="E8EEF6"/>
                </a:solidFill>
                <a:latin typeface="Consolas"/>
                <a:ea typeface="맑은 고딕"/>
                <a:cs typeface="맑은 고딕"/>
              </a:rPr>
              <a:t>RETURN c, r, 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[:MONITORED_BY]  (:Sensor {tag: "TS1"})</a:t>
            </a:r>
          </a:p>
          <a:p>
            <a:pPr algn="l" eaLnBrk="0">
              <a:lnSpc>
                <a:spcPct val="110000"/>
              </a:lnSpc>
              <a:spcAft>
                <a:spcPts val="200"/>
              </a:spcAft>
            </a:pPr>
            <a:r>
              <a:rPr sz="1300" b="0">
                <a:solidFill>
                  <a:srgbClr val="E8EEF6"/>
                </a:solidFill>
                <a:latin typeface="Consolas"/>
                <a:ea typeface="맑은 고딕"/>
                <a:cs typeface="맑은 고딕"/>
              </a:rPr>
              <a:t>(:Component)  [:MONITORED_BY]  (:Sensor {tag: "CE"})</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찾을 패턴을 적는 절이다. 이름이 오일 쿨러인 구성 요소에서 MONITORED_BY로 이어진 센서를 모두 찾는다.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RETURN</a:t>
            </a:r>
          </a:p>
          <a:p>
            <a:pPr algn="l" eaLnBrk="0">
              <a:lnSpc>
                <a:spcPct val="110000"/>
              </a:lnSpc>
              <a:spcAft>
                <a:spcPts val="400"/>
              </a:spcAft>
            </a:pPr>
            <a:r>
              <a:rPr sz="1400" b="0">
                <a:solidFill>
                  <a:srgbClr val="1F2A3A"/>
                </a:solidFill>
                <a:latin typeface="맑은 고딕"/>
                <a:ea typeface="맑은 고딕"/>
                <a:cs typeface="맑은 고딕"/>
              </a:rPr>
              <a:t>돌려받을 항목을 적는 절이다. 적은 항목 하나가 결과의 열 하나이다.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결과의 행</a:t>
            </a:r>
          </a:p>
          <a:p>
            <a:pPr algn="l" eaLnBrk="0">
              <a:lnSpc>
                <a:spcPct val="110000"/>
              </a:lnSpc>
              <a:spcAft>
                <a:spcPts val="400"/>
              </a:spcAft>
            </a:pPr>
            <a:r>
              <a:rPr sz="1400" b="0">
                <a:solidFill>
                  <a:srgbClr val="1F2A3A"/>
                </a:solidFill>
                <a:latin typeface="맑은 고딕"/>
                <a:ea typeface="맑은 고딕"/>
                <a:cs typeface="맑은 고딕"/>
              </a:rPr>
              <a:t>같은 쿨러가 TS1·CE에 이어져 두 행이다. 행마다 이름이 반복돼도 쿨러 노드는 하나이다.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반환의 형태</a:t>
            </a:r>
          </a:p>
          <a:p>
            <a:pPr algn="l" eaLnBrk="0">
              <a:lnSpc>
                <a:spcPct val="110000"/>
              </a:lnSpc>
              <a:spcAft>
                <a:spcPts val="400"/>
              </a:spcAft>
            </a:pPr>
            <a:r>
              <a:rPr sz="1400" b="0">
                <a:solidFill>
                  <a:srgbClr val="1F2A3A"/>
                </a:solidFill>
                <a:latin typeface="맑은 고딕"/>
                <a:ea typeface="맑은 고딕"/>
                <a:cs typeface="맑은 고딕"/>
              </a:rPr>
              <a:t>위처럼 속성값을 받으면 표가 된다. 아래처럼 노드 · 관계를 받아야 그래프로 그릴 수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여러 관계를 잇는 경로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노드와 관계를 번갈아 이어 적으면 설비에서 물리량의 한계까지 질의 한 번으로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RETURN c.name, s.tag, v.name, v.unit, v.limit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"l/min"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"bar"    130</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65</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"mm/s"   2.0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출발</a:t>
            </a:r>
          </a:p>
          <a:p>
            <a:pPr algn="l" eaLnBrk="0">
              <a:lnSpc>
                <a:spcPct val="110000"/>
              </a:lnSpc>
              <a:spcAft>
                <a:spcPts val="400"/>
              </a:spcAft>
            </a:pPr>
            <a:r>
              <a:rPr sz="1400" b="0">
                <a:solidFill>
                  <a:srgbClr val="1F2A3A"/>
                </a:solidFill>
                <a:latin typeface="맑은 고딕"/>
                <a:ea typeface="맑은 고딕"/>
                <a:cs typeface="맑은 고딕"/>
              </a:rPr>
              <a:t>설비 코드가 HYD-01인 Asset에서 시작한다.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이어 적은 관계</a:t>
            </a:r>
          </a:p>
          <a:p>
            <a:pPr algn="l" eaLnBrk="0">
              <a:lnSpc>
                <a:spcPct val="110000"/>
              </a:lnSpc>
              <a:spcAft>
                <a:spcPts val="400"/>
              </a:spcAft>
            </a:pPr>
            <a:r>
              <a:rPr sz="1400" b="0">
                <a:solidFill>
                  <a:srgbClr val="1F2A3A"/>
                </a:solidFill>
                <a:latin typeface="맑은 고딕"/>
                <a:ea typeface="맑은 고딕"/>
                <a:cs typeface="맑은 고딕"/>
              </a:rPr>
              <a:t>노드와 관계를 번갈아 적어 세 관계를 한 번에 건넌다.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NULL</a:t>
            </a:r>
          </a:p>
          <a:p>
            <a:pPr algn="l" eaLnBrk="0">
              <a:lnSpc>
                <a:spcPct val="110000"/>
              </a:lnSpc>
              <a:spcAft>
                <a:spcPts val="400"/>
              </a:spcAft>
            </a:pPr>
            <a:r>
              <a:rPr sz="1400" b="0">
                <a:solidFill>
                  <a:srgbClr val="1F2A3A"/>
                </a:solidFill>
                <a:latin typeface="맑은 고딕"/>
                <a:ea typeface="맑은 고딕"/>
                <a:cs typeface="맑은 고딕"/>
              </a:rPr>
              <a:t>값이 없다는 표시이다. 냉각 효율과 유량에는 한계가 없다.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결과</a:t>
            </a:r>
          </a:p>
          <a:p>
            <a:pPr algn="l" eaLnBrk="0">
              <a:lnSpc>
                <a:spcPct val="110000"/>
              </a:lnSpc>
              <a:spcAft>
                <a:spcPts val="400"/>
              </a:spcAft>
            </a:pPr>
            <a:r>
              <a:rPr sz="1400" b="0">
                <a:solidFill>
                  <a:srgbClr val="1F2A3A"/>
                </a:solidFill>
                <a:latin typeface="맑은 고딕"/>
                <a:ea typeface="맑은 고딕"/>
                <a:cs typeface="맑은 고딕"/>
              </a:rPr>
              <a:t>HYD-01의 구성 요소에 달린 센서마다 한 행이다. TS1 행이 질문 1 · 2의 답이다.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 절과 값의 존재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 절로 한계가 있는 물리량만 남기면 인터록 기준 셋이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(s:Sensor)-[:OBSERVES]-&gt;(v:StateVariable)</a:t>
            </a:r>
          </a:p>
          <a:p>
            <a:pPr algn="l" eaLnBrk="0">
              <a:lnSpc>
                <a:spcPct val="110000"/>
              </a:lnSpc>
              <a:spcAft>
                <a:spcPts val="200"/>
              </a:spcAft>
            </a:pPr>
            <a:r>
              <a:rPr sz="1300" b="0">
                <a:solidFill>
                  <a:srgbClr val="E8EEF6"/>
                </a:solidFill>
                <a:latin typeface="Consolas"/>
                <a:ea typeface="맑은 고딕"/>
                <a:cs typeface="맑은 고딕"/>
              </a:rPr>
              <a:t>WHERE v.limit IS NOT NULL</a:t>
            </a:r>
          </a:p>
          <a:p>
            <a:pPr algn="l" eaLnBrk="0">
              <a:lnSpc>
                <a:spcPct val="110000"/>
              </a:lnSpc>
              <a:spcAft>
                <a:spcPts val="200"/>
              </a:spcAft>
            </a:pPr>
            <a:r>
              <a:rPr sz="1300" b="0">
                <a:solidFill>
                  <a:srgbClr val="E8EEF6"/>
                </a:solidFill>
                <a:latin typeface="Consolas"/>
                <a:ea typeface="맑은 고딕"/>
                <a:cs typeface="맑은 고딕"/>
              </a:rPr>
              <a:t>RETURN s.tag, v.name, v.limit, v.unit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  "bar"</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  "mm/s"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WHERE v.limit &gt; 100 </a:t>
            </a:r>
            <a:r>
              <a:rPr sz="1300" b="0">
                <a:solidFill>
                  <a:srgbClr val="E8EEF6"/>
                </a:solidFill>
                <a:latin typeface="맑은 고딕"/>
                <a:ea typeface="맑은 고딕"/>
                <a:cs typeface="맑은 고딕"/>
              </a:rPr>
              <a:t>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바꾸면</a:t>
            </a:r>
          </a:p>
          <a:p>
            <a:pPr algn="l" eaLnBrk="0">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  "bar"</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WHERE</a:t>
            </a:r>
          </a:p>
          <a:p>
            <a:pPr algn="l" eaLnBrk="0">
              <a:lnSpc>
                <a:spcPct val="110000"/>
              </a:lnSpc>
              <a:spcAft>
                <a:spcPts val="400"/>
              </a:spcAft>
            </a:pPr>
            <a:r>
              <a:rPr sz="1400" b="0">
                <a:solidFill>
                  <a:srgbClr val="1F2A3A"/>
                </a:solidFill>
                <a:latin typeface="맑은 고딕"/>
                <a:ea typeface="맑은 고딕"/>
                <a:cs typeface="맑은 고딕"/>
              </a:rPr>
              <a:t>MATCH가 찾은 것 가운데 조건에 맞는 것만 남기는 절이다.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IS NOT NULL</a:t>
            </a:r>
          </a:p>
          <a:p>
            <a:pPr algn="l" eaLnBrk="0">
              <a:lnSpc>
                <a:spcPct val="110000"/>
              </a:lnSpc>
              <a:spcAft>
                <a:spcPts val="400"/>
              </a:spcAft>
            </a:pPr>
            <a:r>
              <a:rPr sz="1400" b="0">
                <a:solidFill>
                  <a:srgbClr val="1F2A3A"/>
                </a:solidFill>
                <a:latin typeface="맑은 고딕"/>
                <a:ea typeface="맑은 고딕"/>
                <a:cs typeface="맑은 고딕"/>
              </a:rPr>
              <a:t>값이 있는 것만 남긴다. 한계가 정해진 상태 변수 셋이 남는다.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수의 비교</a:t>
            </a:r>
          </a:p>
          <a:p>
            <a:pPr algn="l" eaLnBrk="0">
              <a:lnSpc>
                <a:spcPct val="110000"/>
              </a:lnSpc>
              <a:spcAft>
                <a:spcPts val="400"/>
              </a:spcAft>
            </a:pPr>
            <a:r>
              <a:rPr sz="1400" b="0">
                <a:solidFill>
                  <a:srgbClr val="1F2A3A"/>
                </a:solidFill>
                <a:latin typeface="맑은 고딕"/>
                <a:ea typeface="맑은 고딕"/>
                <a:cs typeface="맑은 고딕"/>
              </a:rPr>
              <a:t>limit이 number라서 v.limit &gt; 100처럼 크기를 비교할 수 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한계의 방향</a:t>
            </a:r>
          </a:p>
          <a:p>
            <a:pPr algn="l" eaLnBrk="0">
              <a:lnSpc>
                <a:spcPct val="110000"/>
              </a:lnSpc>
              <a:spcAft>
                <a:spcPts val="400"/>
              </a:spcAft>
            </a:pPr>
            <a:r>
              <a:rPr sz="1400" b="0">
                <a:solidFill>
                  <a:srgbClr val="1F2A3A"/>
                </a:solidFill>
                <a:latin typeface="맑은 고딕"/>
                <a:ea typeface="맑은 고딕"/>
                <a:cs typeface="맑은 고딕"/>
              </a:rPr>
              <a:t>유온 &gt; 65 ℃, 팬 진동 ≥ 2.0 mm/s, 토출 압력 &lt; 130 bar이면 인터록이 걸린다.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저장 방향과 탐색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저장된 방향대로 적고 화살표를 거슬러 읽으며, 방향을 뒤집어 적으면 찾지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pic>
        <p:nvPicPr>
          <p:cNvPr id="6" name="삽화:역방향탐색.svg" descr="illust_886799446346190695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50821" y="2790584"/>
            <a:ext cx="16035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p:txBody>
      </p:sp>
      <p:sp>
        <p:nvSpPr>
          <p:cNvPr id="8" name="TextBox 7"/>
          <p:cNvSpPr txBox="1"/>
          <p:nvPr/>
        </p:nvSpPr>
        <p:spPr>
          <a:xfrm>
            <a:off x="3605633" y="4364824"/>
            <a:ext cx="100882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p:txBody>
      </p:sp>
      <p:sp>
        <p:nvSpPr>
          <p:cNvPr id="9" name="TextBox 8"/>
          <p:cNvSpPr txBox="1"/>
          <p:nvPr/>
        </p:nvSpPr>
        <p:spPr>
          <a:xfrm>
            <a:off x="6159563" y="3140415"/>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796655" y="209092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1" name="TextBox 10"/>
          <p:cNvSpPr txBox="1"/>
          <p:nvPr/>
        </p:nvSpPr>
        <p:spPr>
          <a:xfrm>
            <a:off x="10327617" y="3490246"/>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2" name="TextBox 11"/>
          <p:cNvSpPr txBox="1"/>
          <p:nvPr/>
        </p:nvSpPr>
        <p:spPr>
          <a:xfrm>
            <a:off x="9276312" y="462956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3" name="TextBox 12"/>
          <p:cNvSpPr txBox="1"/>
          <p:nvPr/>
        </p:nvSpPr>
        <p:spPr>
          <a:xfrm>
            <a:off x="2278227" y="3887352"/>
            <a:ext cx="92387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4" name="TextBox 13"/>
          <p:cNvSpPr txBox="1"/>
          <p:nvPr/>
        </p:nvSpPr>
        <p:spPr>
          <a:xfrm>
            <a:off x="5065780" y="4090632"/>
            <a:ext cx="110440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5" name="TextBox 14"/>
          <p:cNvSpPr txBox="1"/>
          <p:nvPr/>
        </p:nvSpPr>
        <p:spPr>
          <a:xfrm>
            <a:off x="8033860" y="2379296"/>
            <a:ext cx="838920"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6" name="TextBox 15"/>
          <p:cNvSpPr txBox="1"/>
          <p:nvPr/>
        </p:nvSpPr>
        <p:spPr>
          <a:xfrm>
            <a:off x="1455236"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(fm:FailureMode)&lt;-[:CAUSES]-(c:Cause)</a:t>
            </a:r>
          </a:p>
          <a:p>
            <a:pPr algn="ctr" eaLnBrk="0">
              <a:lnSpc>
                <a:spcPct val="110000"/>
              </a:lnSpc>
              <a:spcAft>
                <a:spcPts val="100"/>
              </a:spcAft>
            </a:pPr>
            <a:r>
              <a:rPr sz="1100" b="0">
                <a:solidFill>
                  <a:srgbClr val="556175"/>
                </a:solidFill>
                <a:latin typeface="맑은 고딕"/>
                <a:ea typeface="맑은 고딕"/>
                <a:cs typeface="맑은 고딕"/>
              </a:rPr>
              <a:t>역방향 탐색 · 원인 후보</a:t>
            </a:r>
          </a:p>
        </p:txBody>
      </p:sp>
      <p:sp>
        <p:nvSpPr>
          <p:cNvPr id="17" name="TextBox 16"/>
          <p:cNvSpPr txBox="1"/>
          <p:nvPr/>
        </p:nvSpPr>
        <p:spPr>
          <a:xfrm>
            <a:off x="6733002"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(fm:FailureMode)-[:CAUSES]-&gt;(c:Cause)</a:t>
            </a:r>
          </a:p>
          <a:p>
            <a:pPr algn="ctr" eaLnBrk="0">
              <a:lnSpc>
                <a:spcPct val="110000"/>
              </a:lnSpc>
              <a:spcAft>
                <a:spcPts val="100"/>
              </a:spcAft>
            </a:pPr>
            <a:r>
              <a:rPr sz="1100" b="0">
                <a:solidFill>
                  <a:srgbClr val="556175"/>
                </a:solidFill>
                <a:latin typeface="맑은 고딕"/>
                <a:ea typeface="맑은 고딕"/>
                <a:cs typeface="맑은 고딕"/>
              </a:rPr>
              <a:t>뒤집어 적은 관계 · 결과 없음</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생성과 검증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생성과 병합의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다시 실행해도 같은 대상이 하나로 남게 하려면, 바뀌지 않는 식별자로 찾고 없을 때만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CREATE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tag: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s.tag  = 'TS1',</a:t>
            </a:r>
          </a:p>
          <a:p>
            <a:pPr algn="l" eaLnBrk="0">
              <a:lnSpc>
                <a:spcPct val="110000"/>
              </a:lnSpc>
              <a:spcAft>
                <a:spcPts val="200"/>
              </a:spcAft>
            </a:pPr>
            <a:r>
              <a:rPr sz="1300" b="0">
                <a:solidFill>
                  <a:srgbClr val="E8EEF6"/>
                </a:solidFill>
                <a:latin typeface="Consolas"/>
                <a:ea typeface="맑은 고딕"/>
                <a:cs typeface="맑은 고딕"/>
              </a:rPr>
              <a:t>    s.unit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sen:ts1</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CREATE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Node already exists with label `Sensor`</a:t>
            </a:r>
          </a:p>
          <a:p>
            <a:pPr algn="l" eaLnBrk="0">
              <a:lnSpc>
                <a:spcPct val="110000"/>
              </a:lnSpc>
              <a:spcAft>
                <a:spcPts val="200"/>
              </a:spcAft>
            </a:pPr>
            <a:r>
              <a:rPr sz="1300" b="0">
                <a:solidFill>
                  <a:srgbClr val="E8EEF6"/>
                </a:solidFill>
                <a:latin typeface="Consolas"/>
                <a:ea typeface="맑은 고딕"/>
                <a:cs typeface="맑은 고딕"/>
              </a:rPr>
              <a:t>  and property `id` = 'sen:ts1'</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CREATE</a:t>
            </a:r>
          </a:p>
          <a:p>
            <a:pPr algn="l" eaLnBrk="0">
              <a:lnSpc>
                <a:spcPct val="110000"/>
              </a:lnSpc>
              <a:spcAft>
                <a:spcPts val="400"/>
              </a:spcAft>
            </a:pPr>
            <a:r>
              <a:rPr sz="1400" b="0">
                <a:solidFill>
                  <a:srgbClr val="1F2A3A"/>
                </a:solidFill>
                <a:latin typeface="맑은 고딕"/>
                <a:ea typeface="맑은 고딕"/>
                <a:cs typeface="맑은 고딕"/>
              </a:rPr>
              <a:t>적은 대로 새 노드를 만든다. 이미 있는지는 보지 않는다. sen:ts1이 이미 있으면 유일 제약에 걸려 거절된다.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패턴에 맞는 노드를 찾고 없으면 만든다. 이 예는 id 유일 제약 아래 같은 id로 반복 실행한다.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SET</a:t>
            </a:r>
          </a:p>
          <a:p>
            <a:pPr algn="l" eaLnBrk="0">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찾는다</a:t>
            </a:r>
          </a:p>
          <a:p>
            <a:pPr algn="l" eaLnBrk="0">
              <a:lnSpc>
                <a:spcPct val="110000"/>
              </a:lnSpc>
              <a:spcAft>
                <a:spcPts val="400"/>
              </a:spcAft>
            </a:pPr>
            <a:r>
              <a:rPr sz="1350" b="0">
                <a:solidFill>
                  <a:srgbClr val="1F2A3A"/>
                </a:solidFill>
                <a:latin typeface="맑은 고딕"/>
                <a:ea typeface="맑은 고딕"/>
                <a:cs typeface="맑은 고딕"/>
              </a:rPr>
              <a:t>괄호 안에는 바뀌지 않는 id만 적는다. 이름까지 넣으면 이름을 고친 뒤 같은 노드를 찾지 못한다.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기존 노드를 찾아 관계 생성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양 끝 노드를 식별자로 먼저 찾은 뒤, 스키마의 방향대로 그 사이에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'sen:ts1'}),</a:t>
            </a:r>
          </a:p>
          <a:p>
            <a:pPr algn="l" eaLnBrk="0">
              <a:lnSpc>
                <a:spcPct val="110000"/>
              </a:lnSpc>
              <a:spcAft>
                <a:spcPts val="200"/>
              </a:spcAft>
            </a:pPr>
            <a:r>
              <a:rPr sz="1300" b="0">
                <a:solidFill>
                  <a:srgbClr val="E8EEF6"/>
                </a:solidFill>
                <a:latin typeface="Consolas"/>
                <a:ea typeface="맑은 고딕"/>
                <a:cs typeface="맑은 고딕"/>
              </a:rPr>
              <a:t>      (v:StateVariable {id: 'sv:ts1'})</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Consolas"/>
                <a:ea typeface="맑은 고딕"/>
                <a:cs typeface="맑은 고딕"/>
              </a:rPr>
              <a:t>MERGE (s)-[:OBSERVES]-&gt;(v)</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찾으면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'sen:zz9'})</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이을 노드 셋을 식별자로 찾아 변수 c, s, v에 담는다.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변수로 부른 두 노드 사이에 그 관계가 없을 때만 만든다.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방향</a:t>
            </a:r>
          </a:p>
          <a:p>
            <a:pPr algn="l" eaLnBrk="0">
              <a:lnSpc>
                <a:spcPct val="110000"/>
              </a:lnSpc>
              <a:spcAft>
                <a:spcPts val="400"/>
              </a:spcAft>
            </a:pPr>
            <a:r>
              <a:rPr sz="1400" b="0">
                <a:solidFill>
                  <a:srgbClr val="1F2A3A"/>
                </a:solidFill>
                <a:latin typeface="맑은 고딕"/>
                <a:ea typeface="맑은 고딕"/>
                <a:cs typeface="맑은 고딕"/>
              </a:rPr>
              <a:t>화살표는 스키마의 시작 클래스에서 끝 클래스로 향하게 적는다.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끝점 누락</a:t>
            </a:r>
          </a:p>
          <a:p>
            <a:pPr algn="l" eaLnBrk="0">
              <a:lnSpc>
                <a:spcPct val="110000"/>
              </a:lnSpc>
              <a:spcAft>
                <a:spcPts val="400"/>
              </a:spcAft>
            </a:pPr>
            <a:r>
              <a:rPr sz="1400" b="0">
                <a:solidFill>
                  <a:srgbClr val="1F2A3A"/>
                </a:solidFill>
                <a:latin typeface="맑은 고딕"/>
                <a:ea typeface="맑은 고딕"/>
                <a:cs typeface="맑은 고딕"/>
              </a:rPr>
              <a:t>찾는 노드가 하나라도 없으면 아무 관계도 만들어지지 않는다.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정의 · 적재 · 조회 · 검사의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저장이 성공한 것과 설계가 옳은 것은 다르므로, 넣은 뒤 조회와 검사로 정의와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167064"/>
            <a:ext cx="1911644" cy="364858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349944"/>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292321" y="2503563"/>
            <a:ext cx="424281" cy="424281"/>
          </a:xfrm>
          <a:prstGeom prst="rect">
            <a:avLst/>
          </a:prstGeom>
        </p:spPr>
      </p:pic>
      <p:sp>
        <p:nvSpPr>
          <p:cNvPr id="9" name="TextBox 8"/>
          <p:cNvSpPr txBox="1"/>
          <p:nvPr/>
        </p:nvSpPr>
        <p:spPr>
          <a:xfrm>
            <a:off x="62179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스키마 정의</a:t>
            </a:r>
          </a:p>
          <a:p>
            <a:pPr algn="ctr" eaLnBrk="0">
              <a:lnSpc>
                <a:spcPct val="110000"/>
              </a:lnSpc>
              <a:spcAft>
                <a:spcPts val="400"/>
              </a:spcAft>
            </a:pPr>
            <a:r>
              <a:rPr sz="1500" b="0">
                <a:solidFill>
                  <a:srgbClr val="1F2A3A"/>
                </a:solidFill>
                <a:latin typeface="맑은 고딕"/>
                <a:ea typeface="맑은 고딕"/>
                <a:cs typeface="맑은 고딕"/>
              </a:rPr>
              <a:t>클래스 · 속성</a:t>
            </a:r>
          </a:p>
          <a:p>
            <a:pPr algn="ctr" eaLnBrk="0">
              <a:lnSpc>
                <a:spcPct val="110000"/>
              </a:lnSpc>
              <a:spcAft>
                <a:spcPts val="400"/>
              </a:spcAft>
            </a:pPr>
            <a:r>
              <a:rPr sz="1500" b="0">
                <a:solidFill>
                  <a:srgbClr val="1F2A3A"/>
                </a:solidFill>
                <a:latin typeface="맑은 고딕"/>
                <a:ea typeface="맑은 고딕"/>
                <a:cs typeface="맑은 고딕"/>
              </a:rPr>
              <a:t>관계 · 제약</a:t>
            </a:r>
          </a:p>
          <a:p>
            <a:pPr algn="ctr" eaLnBrk="0">
              <a:lnSpc>
                <a:spcPct val="110000"/>
              </a:lnSpc>
              <a:spcAft>
                <a:spcPts val="400"/>
              </a:spcAft>
            </a:pPr>
            <a:r>
              <a:rPr sz="1500" b="0">
                <a:solidFill>
                  <a:srgbClr val="1F2A3A"/>
                </a:solidFill>
                <a:latin typeface="맑은 고딕"/>
                <a:ea typeface="맑은 고딕"/>
                <a:cs typeface="맑은 고딕"/>
              </a:rPr>
              <a:t>결과물: 정의 파일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67064"/>
            <a:ext cx="1911644" cy="364858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349944"/>
            <a:ext cx="731520" cy="731520"/>
          </a:xfrm>
          <a:prstGeom prst="ellipse">
            <a:avLst/>
          </a:prstGeom>
          <a:solidFill>
            <a:srgbClr val="FFFFFF"/>
          </a:solidFill>
          <a:ln>
            <a:no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3588014" y="2503563"/>
            <a:ext cx="424281" cy="424281"/>
          </a:xfrm>
          <a:prstGeom prst="rect">
            <a:avLst/>
          </a:prstGeom>
        </p:spPr>
      </p:pic>
      <p:sp>
        <p:nvSpPr>
          <p:cNvPr id="14" name="TextBox 13"/>
          <p:cNvSpPr txBox="1"/>
          <p:nvPr/>
        </p:nvSpPr>
        <p:spPr>
          <a:xfrm>
            <a:off x="2917484"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인스턴스 데이터</a:t>
            </a:r>
          </a:p>
          <a:p>
            <a:pPr algn="ctr" eaLnBrk="0">
              <a:lnSpc>
                <a:spcPct val="110000"/>
              </a:lnSpc>
              <a:spcAft>
                <a:spcPts val="400"/>
              </a:spcAft>
            </a:pPr>
            <a:r>
              <a:rPr sz="1550" b="0">
                <a:solidFill>
                  <a:srgbClr val="1F2A3A"/>
                </a:solidFill>
                <a:latin typeface="맑은 고딕"/>
                <a:ea typeface="맑은 고딕"/>
                <a:cs typeface="맑은 고딕"/>
              </a:rPr>
              <a:t>정의에 맞춘</a:t>
            </a:r>
          </a:p>
          <a:p>
            <a:pPr algn="ctr" eaLnBrk="0">
              <a:lnSpc>
                <a:spcPct val="110000"/>
              </a:lnSpc>
              <a:spcAft>
                <a:spcPts val="400"/>
              </a:spcAft>
            </a:pPr>
            <a:r>
              <a:rPr sz="1550" b="0">
                <a:solidFill>
                  <a:srgbClr val="1F2A3A"/>
                </a:solidFill>
                <a:latin typeface="맑은 고딕"/>
                <a:ea typeface="맑은 고딕"/>
                <a:cs typeface="맑은 고딕"/>
              </a:rPr>
              <a:t>실제 대상과 관계</a:t>
            </a:r>
          </a:p>
          <a:p>
            <a:pPr algn="ctr" eaLnBrk="0">
              <a:lnSpc>
                <a:spcPct val="110000"/>
              </a:lnSpc>
              <a:spcAft>
                <a:spcPts val="400"/>
              </a:spcAft>
            </a:pPr>
            <a:r>
              <a:rPr sz="1550" b="0">
                <a:solidFill>
                  <a:srgbClr val="1F2A3A"/>
                </a:solidFill>
                <a:latin typeface="맑은 고딕"/>
                <a:ea typeface="맑은 고딕"/>
                <a:cs typeface="맑은 고딕"/>
              </a:rPr>
              <a:t>결과물: 예시 데이터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67064"/>
            <a:ext cx="1911644" cy="364858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349944"/>
            <a:ext cx="731520" cy="731520"/>
          </a:xfrm>
          <a:prstGeom prst="ellipse">
            <a:avLst/>
          </a:prstGeom>
          <a:solidFill>
            <a:srgbClr val="FFFFFF"/>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5883706" y="2503563"/>
            <a:ext cx="424281" cy="424281"/>
          </a:xfrm>
          <a:prstGeom prst="rect">
            <a:avLst/>
          </a:prstGeom>
        </p:spPr>
      </p:pic>
      <p:sp>
        <p:nvSpPr>
          <p:cNvPr id="19" name="TextBox 18"/>
          <p:cNvSpPr txBox="1"/>
          <p:nvPr/>
        </p:nvSpPr>
        <p:spPr>
          <a:xfrm>
            <a:off x="5213177"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적재</a:t>
            </a:r>
          </a:p>
          <a:p>
            <a:pPr algn="ctr" eaLnBrk="0">
              <a:lnSpc>
                <a:spcPct val="110000"/>
              </a:lnSpc>
              <a:spcAft>
                <a:spcPts val="400"/>
              </a:spcAft>
            </a:pPr>
            <a:r>
              <a:rPr sz="1550" b="0">
                <a:solidFill>
                  <a:srgbClr val="1F2A3A"/>
                </a:solidFill>
                <a:latin typeface="맑은 고딕"/>
                <a:ea typeface="맑은 고딕"/>
                <a:cs typeface="맑은 고딕"/>
              </a:rPr>
              <a:t>식별자로 찾아</a:t>
            </a:r>
          </a:p>
          <a:p>
            <a:pPr algn="ctr" eaLnBrk="0">
              <a:lnSpc>
                <a:spcPct val="110000"/>
              </a:lnSpc>
              <a:spcAft>
                <a:spcPts val="400"/>
              </a:spcAft>
            </a:pPr>
            <a:r>
              <a:rPr sz="1550" b="0">
                <a:solidFill>
                  <a:srgbClr val="1F2A3A"/>
                </a:solidFill>
                <a:latin typeface="맑은 고딕"/>
                <a:ea typeface="맑은 고딕"/>
                <a:cs typeface="맑은 고딕"/>
              </a:rPr>
              <a:t>노드와 관계를</a:t>
            </a:r>
          </a:p>
          <a:p>
            <a:pPr algn="ctr" eaLnBrk="0">
              <a:lnSpc>
                <a:spcPct val="110000"/>
              </a:lnSpc>
              <a:spcAft>
                <a:spcPts val="400"/>
              </a:spcAft>
            </a:pPr>
            <a:r>
              <a:rPr sz="1550" b="0">
                <a:solidFill>
                  <a:srgbClr val="1F2A3A"/>
                </a:solidFill>
                <a:latin typeface="맑은 고딕"/>
                <a:ea typeface="맑은 고딕"/>
                <a:cs typeface="맑은 고딕"/>
              </a:rPr>
              <a:t>만든다</a:t>
            </a:r>
          </a:p>
          <a:p>
            <a:pPr algn="ctr" eaLnBrk="0">
              <a:lnSpc>
                <a:spcPct val="110000"/>
              </a:lnSpc>
              <a:spcAft>
                <a:spcPts val="400"/>
              </a:spcAft>
            </a:pPr>
            <a:r>
              <a:rPr sz="1550" b="0">
                <a:solidFill>
                  <a:srgbClr val="1F2A3A"/>
                </a:solidFill>
                <a:latin typeface="맑은 고딕"/>
                <a:ea typeface="맑은 고딕"/>
                <a:cs typeface="맑은 고딕"/>
              </a:rPr>
              <a:t>결과물: 그래프</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67064"/>
            <a:ext cx="1911644" cy="364858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349944"/>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503563"/>
            <a:ext cx="424281" cy="424281"/>
          </a:xfrm>
          <a:prstGeom prst="rect">
            <a:avLst/>
          </a:prstGeom>
        </p:spPr>
      </p:pic>
      <p:sp>
        <p:nvSpPr>
          <p:cNvPr id="24" name="TextBox 23"/>
          <p:cNvSpPr txBox="1"/>
          <p:nvPr/>
        </p:nvSpPr>
        <p:spPr>
          <a:xfrm>
            <a:off x="7508869"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조회</a:t>
            </a:r>
          </a:p>
          <a:p>
            <a:pPr algn="ctr" eaLnBrk="0">
              <a:lnSpc>
                <a:spcPct val="110000"/>
              </a:lnSpc>
              <a:spcAft>
                <a:spcPts val="400"/>
              </a:spcAft>
            </a:pPr>
            <a:r>
              <a:rPr sz="1550" b="0">
                <a:solidFill>
                  <a:srgbClr val="1F2A3A"/>
                </a:solidFill>
                <a:latin typeface="맑은 고딕"/>
                <a:ea typeface="맑은 고딕"/>
                <a:cs typeface="맑은 고딕"/>
              </a:rPr>
              <a:t>처음 정한 질문을</a:t>
            </a:r>
          </a:p>
          <a:p>
            <a:pPr algn="ctr" eaLnBrk="0">
              <a:lnSpc>
                <a:spcPct val="110000"/>
              </a:lnSpc>
              <a:spcAft>
                <a:spcPts val="400"/>
              </a:spcAft>
            </a:pPr>
            <a:r>
              <a:rPr sz="1550" b="0">
                <a:solidFill>
                  <a:srgbClr val="1F2A3A"/>
                </a:solidFill>
                <a:latin typeface="맑은 고딕"/>
                <a:ea typeface="맑은 고딕"/>
                <a:cs typeface="맑은 고딕"/>
              </a:rPr>
              <a:t>질의로 던진다</a:t>
            </a:r>
          </a:p>
          <a:p>
            <a:pPr algn="ctr" eaLnBrk="0">
              <a:lnSpc>
                <a:spcPct val="110000"/>
              </a:lnSpc>
              <a:spcAft>
                <a:spcPts val="400"/>
              </a:spcAft>
            </a:pPr>
            <a:r>
              <a:rPr sz="1550" b="0">
                <a:solidFill>
                  <a:srgbClr val="1F2A3A"/>
                </a:solidFill>
                <a:latin typeface="맑은 고딕"/>
                <a:ea typeface="맑은 고딕"/>
                <a:cs typeface="맑은 고딕"/>
              </a:rPr>
              <a:t>결과물: 답의 행</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67064"/>
            <a:ext cx="1911644" cy="364858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349944"/>
            <a:ext cx="731520" cy="731520"/>
          </a:xfrm>
          <a:prstGeom prst="ellipse">
            <a:avLst/>
          </a:prstGeom>
          <a:solidFill>
            <a:srgbClr val="5CB8F2"/>
          </a:solidFill>
          <a:ln>
            <a:noFill/>
          </a:ln>
        </p:spPr>
        <p:txBody>
          <a:bodyPr rtlCol="0" anchor="ctr"/>
          <a:lstStyle/>
          <a:p>
            <a:pPr algn="ctr"/>
          </a:p>
        </p:txBody>
      </p:sp>
      <p:pic>
        <p:nvPicPr>
          <p:cNvPr id="28" name="아이콘:circle-check" descr="circle-check_13294B_1.6.png"/>
          <p:cNvPicPr>
            <a:picLocks noChangeAspect="1"/>
          </p:cNvPicPr>
          <p:nvPr/>
        </p:nvPicPr>
        <p:blipFill>
          <a:blip r:embed="rId7"/>
          <a:stretch>
            <a:fillRect/>
          </a:stretch>
        </p:blipFill>
        <p:spPr>
          <a:xfrm>
            <a:off x="10475092" y="2503563"/>
            <a:ext cx="424281" cy="424281"/>
          </a:xfrm>
          <a:prstGeom prst="rect">
            <a:avLst/>
          </a:prstGeom>
        </p:spPr>
      </p:pic>
      <p:sp>
        <p:nvSpPr>
          <p:cNvPr id="29" name="TextBox 28"/>
          <p:cNvSpPr txBox="1"/>
          <p:nvPr/>
        </p:nvSpPr>
        <p:spPr>
          <a:xfrm>
            <a:off x="980456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검사</a:t>
            </a:r>
          </a:p>
          <a:p>
            <a:pPr algn="ctr" eaLnBrk="0">
              <a:lnSpc>
                <a:spcPct val="110000"/>
              </a:lnSpc>
              <a:spcAft>
                <a:spcPts val="400"/>
              </a:spcAft>
            </a:pPr>
            <a:r>
              <a:rPr sz="1550" b="0">
                <a:solidFill>
                  <a:srgbClr val="1F2A3A"/>
                </a:solidFill>
                <a:latin typeface="맑은 고딕"/>
                <a:ea typeface="맑은 고딕"/>
                <a:cs typeface="맑은 고딕"/>
              </a:rPr>
              <a:t>필수값 · 허용값 · 끝 클래스</a:t>
            </a:r>
          </a:p>
          <a:p>
            <a:pPr algn="ctr" eaLnBrk="0">
              <a:lnSpc>
                <a:spcPct val="110000"/>
              </a:lnSpc>
              <a:spcAft>
                <a:spcPts val="400"/>
              </a:spcAft>
            </a:pPr>
            <a:r>
              <a:rPr sz="1550" b="0">
                <a:solidFill>
                  <a:srgbClr val="1F2A3A"/>
                </a:solidFill>
                <a:latin typeface="맑은 고딕"/>
                <a:ea typeface="맑은 고딕"/>
                <a:cs typeface="맑은 고딕"/>
              </a:rPr>
              <a:t>어긋남을 찾아</a:t>
            </a:r>
          </a:p>
          <a:p>
            <a:pPr algn="ctr" eaLnBrk="0">
              <a:lnSpc>
                <a:spcPct val="110000"/>
              </a:lnSpc>
              <a:spcAft>
                <a:spcPts val="400"/>
              </a:spcAft>
            </a:pPr>
            <a:r>
              <a:rPr sz="1550" b="0">
                <a:solidFill>
                  <a:srgbClr val="1F2A3A"/>
                </a:solidFill>
                <a:latin typeface="맑은 고딕"/>
                <a:ea typeface="맑은 고딕"/>
                <a:cs typeface="맑은 고딕"/>
              </a:rPr>
              <a:t>정의나 데이터를 고친다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그래프의 관계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 결과와 확인점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설비에 이어진 구성 요소와 센서를 직접 쓴 질의로 찾고, 결과의 형태를 표와 그래프로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구조 확인</a:t>
            </a:r>
          </a:p>
          <a:p>
            <a:pPr algn="l" eaLnBrk="0">
              <a:lnSpc>
                <a:spcPct val="110000"/>
              </a:lnSpc>
              <a:spcAft>
                <a:spcPts val="400"/>
              </a:spcAft>
            </a:pPr>
            <a:r>
              <a:rPr sz="1600" b="0">
                <a:solidFill>
                  <a:srgbClr val="1F2A3A"/>
                </a:solidFill>
                <a:latin typeface="맑은 고딕"/>
                <a:ea typeface="맑은 고딕"/>
                <a:cs typeface="맑은 고딕"/>
              </a:rPr>
              <a:t>노드의 레이블과 속성, 관계의 유형과 방향을 확인한다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그래프 읽기</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search" descr="search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한 단계 조회</a:t>
            </a:r>
          </a:p>
          <a:p>
            <a:pPr algn="l" eaLnBrk="0">
              <a:lnSpc>
                <a:spcPct val="110000"/>
              </a:lnSpc>
              <a:spcAft>
                <a:spcPts val="400"/>
              </a:spcAft>
            </a:pPr>
            <a:r>
              <a:rPr sz="1600" b="0">
                <a:solidFill>
                  <a:srgbClr val="1F2A3A"/>
                </a:solidFill>
                <a:latin typeface="맑은 고딕"/>
                <a:ea typeface="맑은 고딕"/>
                <a:cs typeface="맑은 고딕"/>
              </a:rPr>
              <a:t>설비에 이어진 구성 요소, 구성 요소에 이어진 센서를 찾는다</a:t>
            </a:r>
          </a:p>
        </p:txBody>
      </p:sp>
      <p:sp>
        <p:nvSpPr>
          <p:cNvPr id="16" name="Rounded Rectangle 15"/>
          <p:cNvSpPr/>
          <p:nvPr/>
        </p:nvSpPr>
        <p:spPr>
          <a:xfrm>
            <a:off x="3619423"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조회</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여러 단계 조회</a:t>
            </a:r>
          </a:p>
          <a:p>
            <a:pPr algn="l" eaLnBrk="0">
              <a:lnSpc>
                <a:spcPct val="110000"/>
              </a:lnSpc>
              <a:spcAft>
                <a:spcPts val="400"/>
              </a:spcAft>
            </a:pPr>
            <a:r>
              <a:rPr sz="1600" b="0">
                <a:solidFill>
                  <a:srgbClr val="1F2A3A"/>
                </a:solidFill>
                <a:latin typeface="맑은 고딕"/>
                <a:ea typeface="맑은 고딕"/>
                <a:cs typeface="맑은 고딕"/>
              </a:rPr>
              <a:t>관계를 이어 적어 설비에서 상태 변수까지 따라간다</a:t>
            </a:r>
          </a:p>
        </p:txBody>
      </p:sp>
      <p:sp>
        <p:nvSpPr>
          <p:cNvPr id="22" name="Rounded Rectangle 21"/>
          <p:cNvSpPr/>
          <p:nvPr/>
        </p:nvSpPr>
        <p:spPr>
          <a:xfrm>
            <a:off x="6461607" y="5429504"/>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경로 조회</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table" descr="table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결과 비교</a:t>
            </a:r>
          </a:p>
          <a:p>
            <a:pPr algn="l" eaLnBrk="0" marL="182880" indent="-182880">
              <a:lnSpc>
                <a:spcPct val="110000"/>
              </a:lnSpc>
              <a:spcAft>
                <a:spcPts val="400"/>
              </a:spcAft>
            </a:pPr>
            <a:r>
              <a:rPr sz="1600" b="0">
                <a:solidFill>
                  <a:srgbClr val="1F2A3A"/>
                </a:solidFill>
                <a:latin typeface="맑은 고딕"/>
                <a:ea typeface="맑은 고딕"/>
                <a:cs typeface="맑은 고딕"/>
              </a:rPr>
              <a:t>• 속성값을 받은 표와 노드 · 경로를 받은 그래프를 견준다</a:t>
            </a:r>
          </a:p>
          <a:p>
            <a:pPr algn="l" eaLnBrk="0" marL="182880" indent="-182880">
              <a:lnSpc>
                <a:spcPct val="110000"/>
              </a:lnSpc>
              <a:spcAft>
                <a:spcPts val="400"/>
              </a:spcAft>
            </a:pPr>
            <a:r>
              <a:rPr sz="1600" b="0">
                <a:solidFill>
                  <a:srgbClr val="1F2A3A"/>
                </a:solidFill>
                <a:latin typeface="맑은 고딕"/>
                <a:ea typeface="맑은 고딕"/>
                <a:cs typeface="맑은 고딕"/>
              </a:rPr>
              <a:t>• 어느 그래프를 조회했는지 함께 적는다</a:t>
            </a:r>
          </a:p>
        </p:txBody>
      </p:sp>
      <p:sp>
        <p:nvSpPr>
          <p:cNvPr id="28" name="Rounded Rectangle 27"/>
          <p:cNvSpPr/>
          <p:nvPr/>
        </p:nvSpPr>
        <p:spPr>
          <a:xfrm>
            <a:off x="9303791" y="5429504"/>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 읽기</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기준 지식의 연결 탐색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 지식에서 확인할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지도에서 설비에 이어진 대상을 따라가며, 클래스 · 속성 · 관계가 실제로 쓰이는 모습을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연결 탐색</a:t>
            </a:r>
          </a:p>
          <a:p>
            <a:pPr algn="l" eaLnBrk="0">
              <a:lnSpc>
                <a:spcPct val="110000"/>
              </a:lnSpc>
              <a:spcAft>
                <a:spcPts val="400"/>
              </a:spcAft>
            </a:pPr>
            <a:r>
              <a:rPr sz="1800" b="0">
                <a:solidFill>
                  <a:srgbClr val="1F2A3A"/>
                </a:solidFill>
                <a:latin typeface="맑은 고딕"/>
                <a:ea typeface="맑은 고딕"/>
                <a:cs typeface="맑은 고딕"/>
              </a:rPr>
              <a:t>설비 하나를 골라 이어진 구성 요소와 센서로 따라간다</a:t>
            </a:r>
          </a:p>
        </p:txBody>
      </p:sp>
      <p:sp>
        <p:nvSpPr>
          <p:cNvPr id="10" name="Rounded Rectangle 9"/>
          <p:cNvSpPr/>
          <p:nvPr/>
        </p:nvSpPr>
        <p:spPr>
          <a:xfrm>
            <a:off x="777240" y="5398516"/>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설비에서 출발</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항목 읽기</a:t>
            </a:r>
          </a:p>
          <a:p>
            <a:pPr algn="l" eaLnBrk="0" marL="205740" indent="-205740">
              <a:lnSpc>
                <a:spcPct val="110000"/>
              </a:lnSpc>
              <a:spcAft>
                <a:spcPts val="400"/>
              </a:spcAft>
            </a:pPr>
            <a:r>
              <a:rPr sz="1800" b="0">
                <a:solidFill>
                  <a:srgbClr val="1F2A3A"/>
                </a:solidFill>
                <a:latin typeface="맑은 고딕"/>
                <a:ea typeface="맑은 고딕"/>
                <a:cs typeface="맑은 고딕"/>
              </a:rPr>
              <a:t>• 항목의 클래스와 속성을 확인한다</a:t>
            </a:r>
          </a:p>
          <a:p>
            <a:pPr algn="l" eaLnBrk="0" marL="205740" indent="-205740">
              <a:lnSpc>
                <a:spcPct val="110000"/>
              </a:lnSpc>
              <a:spcAft>
                <a:spcPts val="400"/>
              </a:spcAft>
            </a:pPr>
            <a:r>
              <a:rPr sz="1800" b="0">
                <a:solidFill>
                  <a:srgbClr val="1F2A3A"/>
                </a:solidFill>
                <a:latin typeface="맑은 고딕"/>
                <a:ea typeface="맑은 고딕"/>
                <a:cs typeface="맑은 고딕"/>
              </a:rPr>
              <a:t>• 나가는 관계와 들어오는 관계를 구분한다</a:t>
            </a:r>
          </a:p>
        </p:txBody>
      </p:sp>
      <p:sp>
        <p:nvSpPr>
          <p:cNvPr id="16" name="Rounded Rectangle 15"/>
          <p:cNvSpPr/>
          <p:nvPr/>
        </p:nvSpPr>
        <p:spPr>
          <a:xfrm>
            <a:off x="4566818" y="5398516"/>
            <a:ext cx="192024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클래스 · 속성 · 방향</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두 그래프의 구분</a:t>
            </a:r>
          </a:p>
          <a:p>
            <a:pPr algn="l" eaLnBrk="0" marL="205740" indent="-205740">
              <a:lnSpc>
                <a:spcPct val="110000"/>
              </a:lnSpc>
              <a:spcAft>
                <a:spcPts val="400"/>
              </a:spcAft>
            </a:pPr>
            <a:r>
              <a:rPr sz="1800" b="0">
                <a:solidFill>
                  <a:srgbClr val="1F2A3A"/>
                </a:solidFill>
                <a:latin typeface="맑은 고딕"/>
                <a:ea typeface="맑은 고딕"/>
                <a:cs typeface="맑은 고딕"/>
              </a:rPr>
              <a:t>• 지식 지도는 HYD의 기준 지식을 보인다</a:t>
            </a:r>
          </a:p>
          <a:p>
            <a:pPr algn="l" eaLnBrk="0" marL="205740" indent="-205740">
              <a:lnSpc>
                <a:spcPct val="110000"/>
              </a:lnSpc>
              <a:spcAft>
                <a:spcPts val="400"/>
              </a:spcAft>
            </a:pPr>
            <a:r>
              <a:rPr sz="1800" b="0">
                <a:solidFill>
                  <a:srgbClr val="1F2A3A"/>
                </a:solidFill>
                <a:latin typeface="맑은 고딕"/>
                <a:ea typeface="맑은 고딕"/>
                <a:cs typeface="맑은 고딕"/>
              </a:rPr>
              <a:t>• 실습에서 직접 만드는 그래프는 기준 지식과 다른 환경에 둔다</a:t>
            </a:r>
          </a:p>
        </p:txBody>
      </p:sp>
      <p:sp>
        <p:nvSpPr>
          <p:cNvPr id="22" name="Rounded Rectangle 21"/>
          <p:cNvSpPr/>
          <p:nvPr/>
        </p:nvSpPr>
        <p:spPr>
          <a:xfrm>
            <a:off x="8356396" y="5398516"/>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작업 대상 구분</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온톨로지 설계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 · 인스턴스의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자료에서 답할 질문을 정해 스키마 파일과 예시 인스턴스 데이터를 만들고, 자료의 뜻과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스키마 파일</a:t>
            </a:r>
          </a:p>
          <a:p>
            <a:pPr algn="l" eaLnBrk="0" marL="205740" indent="-205740">
              <a:lnSpc>
                <a:spcPct val="110000"/>
              </a:lnSpc>
              <a:spcAft>
                <a:spcPts val="400"/>
              </a:spcAft>
            </a:pPr>
            <a:r>
              <a:rPr sz="1800" b="0">
                <a:solidFill>
                  <a:srgbClr val="1F2A3A"/>
                </a:solidFill>
                <a:latin typeface="맑은 고딕"/>
                <a:ea typeface="맑은 고딕"/>
                <a:cs typeface="맑은 고딕"/>
              </a:rPr>
              <a:t>• 클래스 · 속성 · 자료형 · 필수값 · 식별자</a:t>
            </a:r>
          </a:p>
          <a:p>
            <a:pPr algn="l" eaLnBrk="0" marL="205740" indent="-205740">
              <a:lnSpc>
                <a:spcPct val="110000"/>
              </a:lnSpc>
              <a:spcAft>
                <a:spcPts val="400"/>
              </a:spcAft>
            </a:pPr>
            <a:r>
              <a:rPr sz="1800" b="0">
                <a:solidFill>
                  <a:srgbClr val="1F2A3A"/>
                </a:solidFill>
                <a:latin typeface="맑은 고딕"/>
                <a:ea typeface="맑은 고딕"/>
                <a:cs typeface="맑은 고딕"/>
              </a:rPr>
              <a:t>• 관계의 유형 · 방향 · 연결 제약</a:t>
            </a:r>
          </a:p>
        </p:txBody>
      </p:sp>
      <p:sp>
        <p:nvSpPr>
          <p:cNvPr id="10" name="Rounded Rectangle 9"/>
          <p:cNvSpPr/>
          <p:nvPr/>
        </p:nvSpPr>
        <p:spPr>
          <a:xfrm>
            <a:off x="777240" y="525907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예시 인스턴스 데이터</a:t>
            </a:r>
          </a:p>
          <a:p>
            <a:pPr algn="l" eaLnBrk="0" marL="205740" indent="-205740">
              <a:lnSpc>
                <a:spcPct val="110000"/>
              </a:lnSpc>
              <a:spcAft>
                <a:spcPts val="400"/>
              </a:spcAft>
            </a:pPr>
            <a:r>
              <a:rPr sz="1800" b="0">
                <a:solidFill>
                  <a:srgbClr val="1F2A3A"/>
                </a:solidFill>
                <a:latin typeface="맑은 고딕"/>
                <a:ea typeface="맑은 고딕"/>
                <a:cs typeface="맑은 고딕"/>
              </a:rPr>
              <a:t>• 자료에 나오는 대상을 인스턴스로 적고</a:t>
            </a:r>
          </a:p>
          <a:p>
            <a:pPr algn="l" eaLnBrk="0" marL="205740" indent="-205740">
              <a:lnSpc>
                <a:spcPct val="110000"/>
              </a:lnSpc>
              <a:spcAft>
                <a:spcPts val="400"/>
              </a:spcAft>
            </a:pPr>
            <a:r>
              <a:rPr sz="1800" b="0">
                <a:solidFill>
                  <a:srgbClr val="1F2A3A"/>
                </a:solidFill>
                <a:latin typeface="맑은 고딕"/>
                <a:ea typeface="맑은 고딕"/>
                <a:cs typeface="맑은 고딕"/>
              </a:rPr>
              <a:t>• 정의한 관계로 잇는다</a:t>
            </a:r>
          </a:p>
        </p:txBody>
      </p:sp>
      <p:sp>
        <p:nvSpPr>
          <p:cNvPr id="16" name="Rounded Rectangle 15"/>
          <p:cNvSpPr/>
          <p:nvPr/>
        </p:nvSpPr>
        <p:spPr>
          <a:xfrm>
            <a:off x="4566818" y="5259070"/>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확인할 것</a:t>
            </a:r>
          </a:p>
          <a:p>
            <a:pPr algn="l" eaLnBrk="0" marL="205740" indent="-205740">
              <a:lnSpc>
                <a:spcPct val="110000"/>
              </a:lnSpc>
              <a:spcAft>
                <a:spcPts val="400"/>
              </a:spcAft>
            </a:pPr>
            <a:r>
              <a:rPr sz="1800" b="0">
                <a:solidFill>
                  <a:srgbClr val="1F2A3A"/>
                </a:solidFill>
                <a:latin typeface="맑은 고딕"/>
                <a:ea typeface="맑은 고딕"/>
                <a:cs typeface="맑은 고딕"/>
              </a:rPr>
              <a:t>• 고유 id · 필수값 · 방향</a:t>
            </a:r>
          </a:p>
          <a:p>
            <a:pPr algn="l" eaLnBrk="0" marL="205740" indent="-205740">
              <a:lnSpc>
                <a:spcPct val="110000"/>
              </a:lnSpc>
              <a:spcAft>
                <a:spcPts val="400"/>
              </a:spcAft>
            </a:pPr>
            <a:r>
              <a:rPr sz="1800" b="0">
                <a:solidFill>
                  <a:srgbClr val="1F2A3A"/>
                </a:solidFill>
                <a:latin typeface="맑은 고딕"/>
                <a:ea typeface="맑은 고딕"/>
                <a:cs typeface="맑은 고딕"/>
              </a:rPr>
              <a:t>• 함께 쓰는 부품과 한 구성 요소의 여러 센서</a:t>
            </a:r>
          </a:p>
        </p:txBody>
      </p:sp>
      <p:sp>
        <p:nvSpPr>
          <p:cNvPr id="22" name="Rounded Rectangle 21"/>
          <p:cNvSpPr/>
          <p:nvPr/>
        </p:nvSpPr>
        <p:spPr>
          <a:xfrm>
            <a:off x="8356396" y="5259070"/>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원래 자료와 대조</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 구현과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저장된 그래프와 검증 결과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설계한 스키마와 인스턴스를 질의로 옮겨 그래프 DB에 넣고, 조회 결과가 설계와 맞는지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생성 질의</a:t>
            </a:r>
          </a:p>
          <a:p>
            <a:pPr algn="l" eaLnBrk="0" marL="205740" indent="-205740">
              <a:lnSpc>
                <a:spcPct val="110000"/>
              </a:lnSpc>
              <a:spcAft>
                <a:spcPts val="400"/>
              </a:spcAft>
            </a:pPr>
            <a:r>
              <a:rPr sz="1800" b="0">
                <a:solidFill>
                  <a:srgbClr val="1F2A3A"/>
                </a:solidFill>
                <a:latin typeface="맑은 고딕"/>
                <a:ea typeface="맑은 고딕"/>
                <a:cs typeface="맑은 고딕"/>
              </a:rPr>
              <a:t>• 노드는 id로 찾아 만든다</a:t>
            </a:r>
          </a:p>
          <a:p>
            <a:pPr algn="l" eaLnBrk="0" marL="205740" indent="-205740">
              <a:lnSpc>
                <a:spcPct val="110000"/>
              </a:lnSpc>
              <a:spcAft>
                <a:spcPts val="400"/>
              </a:spcAft>
            </a:pPr>
            <a:r>
              <a:rPr sz="1800" b="0">
                <a:solidFill>
                  <a:srgbClr val="1F2A3A"/>
                </a:solidFill>
                <a:latin typeface="맑은 고딕"/>
                <a:ea typeface="맑은 고딕"/>
                <a:cs typeface="맑은 고딕"/>
              </a:rPr>
              <a:t>• 관계는 양 끝을 찾은 뒤 스키마의 방향으로 잇는다</a:t>
            </a:r>
          </a:p>
        </p:txBody>
      </p:sp>
      <p:sp>
        <p:nvSpPr>
          <p:cNvPr id="10" name="Rounded Rectangle 9"/>
          <p:cNvSpPr/>
          <p:nvPr/>
        </p:nvSpPr>
        <p:spPr>
          <a:xfrm>
            <a:off x="777240" y="525907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질의</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저장된 그래프</a:t>
            </a:r>
          </a:p>
          <a:p>
            <a:pPr algn="l" eaLnBrk="0">
              <a:lnSpc>
                <a:spcPct val="110000"/>
              </a:lnSpc>
              <a:spcAft>
                <a:spcPts val="400"/>
              </a:spcAft>
            </a:pPr>
            <a:r>
              <a:rPr sz="1800" b="0">
                <a:solidFill>
                  <a:srgbClr val="1F2A3A"/>
                </a:solidFill>
                <a:latin typeface="맑은 고딕"/>
                <a:ea typeface="맑은 고딕"/>
                <a:cs typeface="맑은 고딕"/>
              </a:rPr>
              <a:t>클래스는 레이블로, 인스턴스는 노드로, 연결은 관계로 남는다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검증</a:t>
            </a:r>
          </a:p>
          <a:p>
            <a:pPr algn="l" eaLnBrk="0" marL="205740" indent="-205740">
              <a:lnSpc>
                <a:spcPct val="110000"/>
              </a:lnSpc>
              <a:spcAft>
                <a:spcPts val="400"/>
              </a:spcAft>
            </a:pPr>
            <a:r>
              <a:rPr sz="1800" b="0">
                <a:solidFill>
                  <a:srgbClr val="1F2A3A"/>
                </a:solidFill>
                <a:latin typeface="맑은 고딕"/>
                <a:ea typeface="맑은 고딕"/>
                <a:cs typeface="맑은 고딕"/>
              </a:rPr>
              <a:t>• 중복 id와 관계의 끝점을 검사한다</a:t>
            </a:r>
          </a:p>
          <a:p>
            <a:pPr algn="l" eaLnBrk="0" marL="205740" indent="-205740">
              <a:lnSpc>
                <a:spcPct val="110000"/>
              </a:lnSpc>
              <a:spcAft>
                <a:spcPts val="400"/>
              </a:spcAft>
            </a:pPr>
            <a:r>
              <a:rPr sz="1800" b="0">
                <a:solidFill>
                  <a:srgbClr val="1F2A3A"/>
                </a:solidFill>
                <a:latin typeface="맑은 고딕"/>
                <a:ea typeface="맑은 고딕"/>
                <a:cs typeface="맑은 고딕"/>
              </a:rPr>
              <a:t>• 조회 결과를 예상한 답과 대조한다</a:t>
            </a:r>
          </a:p>
        </p:txBody>
      </p:sp>
      <p:sp>
        <p:nvSpPr>
          <p:cNvPr id="22" name="Rounded Rectangle 21"/>
          <p:cNvSpPr/>
          <p:nvPr/>
        </p:nvSpPr>
        <p:spPr>
          <a:xfrm>
            <a:off x="8356396" y="525907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설계와 대조</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클래스</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Class</a:t>
            </a:r>
          </a:p>
          <a:p>
            <a:pPr algn="l" eaLnBrk="0">
              <a:lnSpc>
                <a:spcPct val="110000"/>
              </a:lnSpc>
            </a:pPr>
            <a:r>
              <a:rPr sz="1250" b="0">
                <a:solidFill>
                  <a:srgbClr val="1F2A3A"/>
                </a:solidFill>
                <a:latin typeface="맑은 고딕"/>
                <a:ea typeface="맑은 고딕"/>
                <a:cs typeface="맑은 고딕"/>
              </a:rPr>
              <a:t>공통 특성을 가진 대상의 유형</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인스턴스</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Instance</a:t>
            </a:r>
          </a:p>
          <a:p>
            <a:pPr algn="l" eaLnBrk="0">
              <a:lnSpc>
                <a:spcPct val="110000"/>
              </a:lnSpc>
            </a:pPr>
            <a:r>
              <a:rPr sz="1250" b="0">
                <a:solidFill>
                  <a:srgbClr val="1F2A3A"/>
                </a:solidFill>
                <a:latin typeface="맑은 고딕"/>
                <a:ea typeface="맑은 고딕"/>
                <a:cs typeface="맑은 고딕"/>
              </a:rPr>
              <a:t>클래스에 속하는 실제 개별 대상</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속성</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Property</a:t>
            </a:r>
          </a:p>
          <a:p>
            <a:pPr algn="l" eaLnBrk="0">
              <a:lnSpc>
                <a:spcPct val="110000"/>
              </a:lnSpc>
            </a:pPr>
            <a:r>
              <a:rPr sz="1250" b="0">
                <a:solidFill>
                  <a:srgbClr val="1F2A3A"/>
                </a:solidFill>
                <a:latin typeface="맑은 고딕"/>
                <a:ea typeface="맑은 고딕"/>
                <a:cs typeface="맑은 고딕"/>
              </a:rPr>
              <a:t>대상의 특성을 이름과 값으로 적은 것</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카디널리티</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Cardinality</a:t>
            </a:r>
          </a:p>
          <a:p>
            <a:pPr algn="l" eaLnBrk="0">
              <a:lnSpc>
                <a:spcPct val="110000"/>
              </a:lnSpc>
            </a:pPr>
            <a:r>
              <a:rPr sz="1250" b="0">
                <a:solidFill>
                  <a:srgbClr val="1F2A3A"/>
                </a:solidFill>
                <a:latin typeface="맑은 고딕"/>
                <a:ea typeface="맑은 고딕"/>
                <a:cs typeface="맑은 고딕"/>
              </a:rPr>
              <a:t>한 관계에서 양쪽 대상이 몇 개씩 이어질 수 있는지(1:1 · 1:N · N:M)</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스키마</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Schema</a:t>
            </a:r>
          </a:p>
          <a:p>
            <a:pPr algn="l" eaLnBrk="0">
              <a:lnSpc>
                <a:spcPct val="110000"/>
              </a:lnSpc>
            </a:pPr>
            <a:r>
              <a:rPr sz="1250" b="0">
                <a:solidFill>
                  <a:srgbClr val="1F2A3A"/>
                </a:solidFill>
                <a:latin typeface="맑은 고딕"/>
                <a:ea typeface="맑은 고딕"/>
                <a:cs typeface="맑은 고딕"/>
              </a:rPr>
              <a:t>클래스 · 속성 · 관계 · 제약을 일관되게 정한 지식 구조의 정의</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식별자</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Identifier</a:t>
            </a:r>
          </a:p>
          <a:p>
            <a:pPr algn="l" eaLnBrk="0">
              <a:lnSpc>
                <a:spcPct val="110000"/>
              </a:lnSpc>
            </a:pPr>
            <a:r>
              <a:rPr sz="1250" b="0">
                <a:solidFill>
                  <a:srgbClr val="1F2A3A"/>
                </a:solidFill>
                <a:latin typeface="맑은 고딕"/>
                <a:ea typeface="맑은 고딕"/>
                <a:cs typeface="맑은 고딕"/>
              </a:rPr>
              <a:t>같은 대상을 하나로 가리키는 고유한 이름</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레이블</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Label</a:t>
            </a:r>
          </a:p>
          <a:p>
            <a:pPr algn="l" eaLnBrk="0">
              <a:lnSpc>
                <a:spcPct val="110000"/>
              </a:lnSpc>
            </a:pPr>
            <a:r>
              <a:rPr sz="1250" b="0">
                <a:solidFill>
                  <a:srgbClr val="1F2A3A"/>
                </a:solidFill>
                <a:latin typeface="맑은 고딕"/>
                <a:ea typeface="맑은 고딕"/>
                <a:cs typeface="맑은 고딕"/>
              </a:rPr>
              <a:t>그래프 DB에서 노드의 종류를 나타내는 이름</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질의</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Query</a:t>
            </a:r>
          </a:p>
          <a:p>
            <a:pPr algn="l" eaLnBrk="0">
              <a:lnSpc>
                <a:spcPct val="110000"/>
              </a:lnSpc>
            </a:pPr>
            <a:r>
              <a:rPr sz="1250" b="0">
                <a:solidFill>
                  <a:srgbClr val="1F2A3A"/>
                </a:solidFill>
                <a:latin typeface="맑은 고딕"/>
                <a:ea typeface="맑은 고딕"/>
                <a:cs typeface="맑은 고딕"/>
              </a:rPr>
              <a:t>저장된 데이터에서 조건에 맞는 것을 찾는 요청</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DB 제약</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DB Constraint</a:t>
            </a:r>
          </a:p>
          <a:p>
            <a:pPr algn="l" eaLnBrk="0">
              <a:lnSpc>
                <a:spcPct val="110000"/>
              </a:lnSpc>
            </a:pPr>
            <a:r>
              <a:rPr sz="1250" b="0">
                <a:solidFill>
                  <a:srgbClr val="1F2A3A"/>
                </a:solidFill>
                <a:latin typeface="맑은 고딕"/>
                <a:ea typeface="맑은 고딕"/>
                <a:cs typeface="맑은 고딕"/>
              </a:rPr>
              <a:t>데이터베이스가 저장할 때 강제하는 규칙</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공장에 같은 기종의 유압 파워팩 한 대가 새로 들어와 설비 코드 HYD-04를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설비를 지식 그래프에 반영하는 방법으로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Asset의 인스턴스 하나를 더하고 구성 요소와 HAS_COMPONENT로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기존 asset:hyd-01의 code 값을 HYD-04로 고친다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 「펌프 축 씰 키트」를 세 공급사가 공급하며, 단가는 35 · 55 · 20만원, 납기는 2 · 5 · 1일이다.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단가와 납기를 두는 자리로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부품과 공급사를 잇는 SUPPLIED_BY 관계의 속성</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Part 클래스의 속성</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Supplier 클래스의 속성</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「단가」라는 새 클래스의 인스턴스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저장을 막는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Sensor 노드의 id에 유일 제약이 걸린 그래프 DB에 아래 네 가지를 저장하려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저장하는 순간 데이터베이스가 직접 거절하는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tag가 빠진 센서 노드</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이미 있는 sen:ts1과 같은 id를 가진 새 Sensor 노드</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센서에서 설비로 그은 OBSERVES 관계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kind에 허용값이 아닌 'x'를 넣은 상태 변수</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유형과 대상, 값이 딸린 자리, 제약을 지키게 하는 주체를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단가와 납기는 부품과 공급사의 짝마다 달라진다. 짝에 딸린 값은 둘을 잇는 관계의 속성으로 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센서의 id 유일 제약은 저장을 막는다. 필수값 · 허용값 · 끝 클래스는 별도 검사가 찾는다.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