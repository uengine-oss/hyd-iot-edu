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기록을 남기는 것과 나중에 다시 쓰는 것은 다릅니다. 개념을 내 말로 쓰고 출처를 연결해 두면, 설명이 맞는지 원문으로 돌아가 확인할 수 있습니다. 실습 과정과 결과까지 연결하면 개념을 어디에 썼는지도 찾을 수 있습니다. 이해가 바뀔 때 기록을 보완하며 자신의 지식으로 쌓아 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 아래에 개념 정리, 참고 자료, 실습 결과의 자리를 마련하고 학습노트에 분류 정보를 붙입니다. 개념 하나를 내 말로 쓴 뒤 참고 자료와 연결하면 첫 기록이 완성됩니다. 페이지와 링크를 다루는 법은 실습에서 직접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생기는 압력과 온도는 센서를 거쳐 계측값이 됩니다. PLC는 그 값을 읽어 제어 출력을 정하고, 관제 화면은 사람이 상태를 보고 조작하는 자리가 됩니다. HYD-01에서는 유온 TS1을 읽고 팬 속도와 펌프 부하를 조정합니다. 이 데이터를 수집해 판단과 조치에 쓰는 구조도 같은 출발점을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파워팩 HYD-01은 탱크의 작동유를 모터와 펌프로 보내 압력을 만들고, 부하를 거친 작동유를 쿨러에서 식혀 다시 탱크로 돌려보냅니다. 팬은 쿨러에 바람을 보내 열을 공기로 내보냅니다. 태그는 계측값의 이름이며, TS1은 쿨러로 들어가기 직전의 작동유 온도입니다. 정상 운전점은 유온 48 ℃, 토출 압력 182 bar, 팬 진동 0.6 mm/s이며 냉각 효율 CE는 84 %입니다.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1은 센서 네트워크와 설비이며, 제어 판단은 설비 옆 PLC가 맡습니다. PLC는 스캔 주기마다 입력을 읽고 프로그램을 실행해 출력을 쓰며, 팬 속도와 부하의 설정값을 적용합니다. 위험 조건에서는 인터록이 우선해 설비를 보호 정지시킵니다. 서버의 응답을 기다리지 않으므로 통신 지연이나 단절 중에도 현장 보호 판단을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반복해서 판단하려면 그사이에 오가는 신호도 매번 제시간에 도착해야 합니다. 지연은 걸리는 시간이고 지터는 그 시간이 흔들리는 정도이며, 결정성은 최악의 경우에도 시한 안에 도착하는 성질입니다. 사무 통신이 지연의 변동을 어느 정도 허용하는 것과 요구가 다릅니다. 암호화와 인증이 없는 전통 Modbus의 보호 한계는 망 구조와 상위 계층이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이름을 붙여 보내기 전의 설비 상태 값이고, 아래쪽은 수집 메시지입니다. 엣지 게이트웨이는 ts1 값을 태그 TS1에 대응시키고 보낸 시각과 품질을 붙입니다. 태그 메시지와 별도로 운전 모드, 팬 속도, 부하, 인터록 상태도 보냅니다. 냉각 효율 CE는 직접 계측한 값이 아니라 계산으로 얻는 가상 센서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받아야 하는 곳은 운전 화면과 수집 서비스이며 더 늘어날 수 있습니다. 점대점 방식에서는 송신자가 각 수신자의 주소를 알고 직접 연결하므로, 수신자가 늘면 송신 측도 고쳐야 합니다. 이런 변경 의존을 강한 결합이라고 합니다. 브로커를 사이에 두면 송신자는 브로커에만 보내고 수신자가 구독을 등록하므로 느슨한 결합이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구독 등록이 먼저 있고, 발행 뒤에는 브로커가 구독자에게 메시지를 밀어 줍니다. QoS는 전달 보장 수준이며, QoS 1에서는 중복 전달이 가능하므로 받는 쪽의 중복 검사가 필요합니다. 보존 메시지는 새 구독자에게 마지막 한 건을 주는 기능으로 과거 이력 저장과는 다릅니다. HYD의 태그 값은 보존하지 않지만 운전 상태는 보존하며, 명령은 새로 연결했을 때 지난 명령이 실행되지 않도록 보존하지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DMZ는 OT와 IT 사이에서 연결을 제한하는 완충 구역입니다. 수집 서비스는 OT 브로커를 구독하고 받은 데이터를 IT 이벤트 로그로 옮깁니다. 이 서비스는 OT 쪽으로 아무것도 발행하지 않으며, 자동 명령은 별도의 명령 관문을 거칩니다. 경로를 나누고 검사하는 구조가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브로커의 메시지이고 아래쪽은 수집 서비스가 이벤트 로그에 남긴 레코드입니다. 토픽 경로에 있던 hyd01과 TS1이 asset과 name으로 본문 안에 들어왔습니다. 보낸 시각 t, 값 v, 품질 q는 함께 옮겨집니다. 키 hyd01은 같은 설비의 레코드를 같은 파티션에 모으는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로그는 전달이 끝난 메시지를 기록으로 남겨 여러 소비자가 다시 사용할 수 있게 합니다. 감지 서비스와 저장 서비스는 서로의 읽기 속도에 맞출 필요 없이 각자의 위치를 관리합니다. 오프셋은 파티션 안의 위치이며, 순서도 그 파티션 안에서 보장됩니다. 다시 읽을 수 있는 범위는 보존 기간까지이고, HYD의 태그 원본 로그는 하루를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울리는 조건과 해제되는 조건은 다릅니다. 유온이 55 ℃를 넘는 복합 조건으로 발생하고, 52 ℃ 아래로 내려가 상승하지 않는 상태가 이어져야 해제됩니다. 이렇게 두 기준을 나누는 것이 히스테리시스입니다. 품질이 나쁘거나 값이 빠졌다고 설비가 회복된 것은 아니므로, 데이터 누락만으로 경보를 해제하지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7은 판단의 근거가 되는 관계와 기준을 보관하고, Layer 8의 에이전트는 그것을 실제 값과 대조해 진단하고 추천합니다. 에이전트에게는 설비 명령 권한이 없습니다. Layer 9에서 담당자가 추천과 근거를 보고 판단하는 구조를 HITL이라고 합니다. 프로세스 엔진은 승인된 조치만 실행하며 응답과 재관측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엔진이 만든 명령은 이벤트 로그의 action.cmd에 기록됩니다. 명령 관문이 승인 기록과 명령 내용을 검사하고, 통과한 명령만 브로커와 엣지 게이트웨이를 거쳐 PLC에 닿습니다. PLC는 설비 상태와 설정값 범위를 다시 검사합니다. 명령서가 정상이더라도 설비가 받을 수 없는 상태라면 거부하는 여러 겹의 보호가 심층 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관문은 형식과 허용 조치뿐 아니라 만료, 중복, 승인 기록, 운전 모드, 빈도를 검사합니다. 승인자 이름만 적혀 있다고 통과하는 것이 아니라 승인 장부의 명령 내용과도 대조합니다. PLC는 모드와 출처부터 다시 확인하고, 팬 속도 0에서 100 %, 부하 60에서 100 %의 범위와 인터록을 검사합니다. 두 검사를 모두 통과해야 설정값이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명령은 11시 14분 57초에 나갔고, 응답은 58초에 돌아왔으며 이 단계의 실측 소요는 865밀리초였습니다. cmdId는 명령을 식별하고 PLC가 그 식별자로 중복을 검사합니다. ACK의 DONE과 PASS는 명령이 실행되고 인터록이 정상이라는 뜻입니다. 실제 회복은 유온을 다시 읽어 55 ℃ 아래인지와 경보가 해제되었는지를 함께 확인해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건을 처리하는 사건에는 판단과 명령, 작업지시가 연결됩니다. 명령은 팬 속도를 바꾸고, 작업지시는 남아 있는 핀 오염을 제거하는 작업을 남깁니다. 작업지시가 참조하는 판단 기록에서 출발해 원인과 증거, 경보 당시의 계측값을 거슬러 확인할 수 있습니다. 서로 다른 기록이므로 식별자도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실선은 PLC에서 나온 태그 값이 엣지 게이트웨이와 브로커, 수집 서비스를 거쳐 IT로 올라가는 경로입니다. 이벤트 로그의 기록을 감지 서비스가 읽어 이상을 판단합니다. 아래쪽 점선은 반대로 프로세스 엔진에서 출발한 승인된 자동 명령이 이벤트 로그, 명령 관문, 브로커, 엣지를 거쳐 PLC에 닿는 경로입니다. 데이터 수집과 자동 명령의 경로를 나누고 명령 관문과 PLC에서 검사해 설비를 보호합니다.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준비된 환경에서 HYD 서비스를 실행하고 상태를 확인합니다. VS Code에서 GitHub Copilot에 말로 요청하고 AI가 쓴 코드를 실행하며 고쳐 가는 방식을 바이브 코딩이라고 합니다. Docker Compose는 파일에 정의된 여러 서비스를 함께 실행하며, 모든 프로그램을 대신 실행하는 것은 아닙니다. 컨테이너 상태와 주요 서비스 접속을 확인하고 포털이 열리면 목표 상태에 도달한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열화 한 건을 처음부터 끝까지 처리합니다. 경보가 남긴 값에서 출발해 원인 진단과 추천의 근거가 무엇인지 확인하고, 담당자의 승인이 명령으로 이어지는 경계를 봅니다. 명령이 실행되었다는 ACK 뒤에도 계측값을 다시 읽어 완화 결과를 확인합니다. 유온이 내려가도 핀 오염은 남아 있어 세척 작업지시가 별도로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오염은 먼지나 유막이 핀을 막는 것이고, 팬 구동 불량은 팬이 제 속도를 내지 못하는 것이며, 주변 온도 상승은 설비 주변 공기가 더운 상태입니다. 유온 상승만으로는 세 원인을 가릴 수 없어, 확인할 값과 기준인 증거를 대조합니다. 냉각 효율의 30초 평균 46.2 %와 팬 진동의 2분 평균 0.575 mm/s는 핀 오염 기준에 맞습니다. 팬 진동과 캐비닛 온도의 평균은 나머지 두 원인의 기준에 못 미칩니다.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확인하고 고장 유형을 짐작한 뒤 원인 후보를 떠올립니다. 후보마다 볼 센서를 알고 실제 값을 기준과 대조한 다음 생산 일정까지 고려해 조치를 고릅니다. 이 연결이 머릿속에만 있으면 사람마다 후보와 순서가 달라지고 숙련자가 없을 때 판단이 늦어집니다. 쿨러 사건에서도 경보 뒤 2분이 되기 전에 유온이 61.8 ℃까지 올랐으므로, 컴퓨터가 같은 경로를 따라갈 수 있게 연결을 기록할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표에서는 원인과 확인할 값이 여럿이라 같은 고장 유형이 네 행에 반복됩니다. 매뉴얼의 문장은 사람이 읽고 해석해야 하며, 판별 기준을 코드에 직접 넣으면 기준이 바뀔 때 코드도 고쳐야 합니다. 표를 컴퓨터가 읽을 수 없거나 코드에 근거를 남길 수 없다는 뜻은 아닙니다. 대상과 관계, 판별 기준을 별도 지식으로 두면 사람이 검토하고 컴퓨터가 따라가며 프로그램과 독립적으로 고칠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머릿속 지식을 정해진 형식으로 정의해 사람과 컴퓨터가 같은 뜻으로 쓰게 하는 모델입니다. 대상의 종류를 나누고, 유온의 단위와 정상값 같은 속성을 적습니다. 같은 고장 유형에서 조치로 이어져도 MITIGATED_BY는 완화, REMEDIED_BY는 근본 조치라는 뜻을 구별합니다. 제약은 CAUSES의 양 끝을 원인과 고장 유형으로 정하므로, 「유온 상승 — CAUSES → 팬 최대 운전」처럼 증상에서 조치로 이은 연결은 어긋납니다. 정의를 적었다고 자동으로 검사가 실행되는 것은 아니며 검증이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 도구입니다. 지식 그래프는 온톨로지에 맞춰 실제 대상과 관계를 채운 것이며, HYD에서는 그래프 DB에 저장합니다. 여기에는 값을 읽는 방법을 두고, 계속 바뀌는 센서 값은 시계열 저장소에서 읽습니다. 온톨로지는 원인 후보와 근거를 찾는 바탕이며,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핀 오염과 오른쪽의 냉각 성능 상실은 각각 대상 하나를 나타내는 노드입니다. 관계 CAUSES는 핀 오염에서 냉각 성능 상실로 향하며 「일으킨다」로 읽습니다. 같은 방식으로 INDICATES는 「유온 상승은 냉각 성능 상실을 가리킨다」, MITIGATED_BY는 「냉각 성능 상실은 팬 최대 운전으로 완화된다」로 읽습니다. 문장이 자연스러운지 확인한 뒤 실제 사실과 양 끝 대상의 종류도 맞는지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설비·구성 요소·센서를 진단 지식에 연결하면 같은 지식을 다른 설비의 값에도 적용할 수 있습니다.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그래프에서 찾은 것은 원인 이름만이 아니라 확인할 태그와 집계 구간, 판별 기준입니다. 냉각 효율과 팬 진동의 평균을 대조해 핀 오염을 판단하고, 팬 진동과 캐비닛 온도로 다른 두 후보를 배제합니다. 조치 후보는 고장 유형에 연결된 팬 최대 운전이며, 단계와 문서 참조를 거쳐 매뉴얼 HM-8.5에 닿습니다. 이 관계와 실제 값을 함께 남겨야 추천의 근거를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다섯 걸음으로 정리하겠습니다. 경보는 조건을 벗어났다는 사실만 알리고 판단에 필요한 정보는 흩어져 있으므로, 대상과 관계를 온톨로지로 정의합니다. 컴퓨터는 그 관계를 따라 원인 후보와 증거를 찾고, 에이전트는 값을 대조해 조치를 추천합니다. 담당자가 승인한 뒤에만 프로세스 엔진이 조치를 명령으로 만들어 내려보냅니다. 온톨로지는 이 판단의 바탕이며, 스스로 조치를 결정하지는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사례의 대상을 노드로 놓고 관계의 이름과 방향을 직접 정합니다. 완성물은 대상을 나열한 목록이 아니라 대상 사이의 뜻이 보이는 그림 한 장입니다. 화살표마다 문장으로 읽어 사실과 맞는지 확인합니다. 관계 이름을 스스로 정할 수 있지만 이름과 방향의 뜻은 일치해야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모았습니다. 뜻은 앞에서 설명했으므로 여기서는 이름과 역할을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8.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4987036"/>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870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4987036"/>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9870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565908"/>
            <a:ext cx="3515258" cy="28508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p:txBody>
      </p:sp>
      <p:sp>
        <p:nvSpPr>
          <p:cNvPr id="16" name="Rounded Rectangle 15"/>
          <p:cNvSpPr/>
          <p:nvPr/>
        </p:nvSpPr>
        <p:spPr>
          <a:xfrm>
            <a:off x="8356396" y="4987036"/>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49870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계측값에는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붙고, 유온 TS1은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182145903515546049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10110541" y="5740511"/>
            <a:ext cx="1418234"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현장 제어와 인터록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400" b="0">
                <a:solidFill>
                  <a:srgbClr val="1F2A3A"/>
                </a:solidFill>
                <a:latin typeface="맑은 고딕"/>
                <a:ea typeface="맑은 고딕"/>
                <a:cs typeface="맑은 고딕"/>
              </a:rPr>
              <a:t>현장 값을 읽어 수집 메시지로 변환한다. 이 역할에는 EdgeX Foundry 같은 것이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7205808721888646715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1635456387453693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8707086184492634005_1791992996.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실행을 한곳에서 진행한다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열화 한 건이 경보에서 최종 결과까지 이어지는 과정을 확인한다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처리 결과까지의 정보 전달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열화의 경보·진단·추천·승인·실행·재관측에서, 앞 단계의 어떤 결과가 다음 단계로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854325"/>
            <a:ext cx="1911644" cy="2274061"/>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경보</a:t>
            </a:r>
          </a:p>
          <a:p>
            <a:pPr algn="ctr" eaLnBrk="0">
              <a:lnSpc>
                <a:spcPct val="110000"/>
              </a:lnSpc>
              <a:spcAft>
                <a:spcPts val="400"/>
              </a:spcAft>
            </a:pPr>
            <a:r>
              <a:rPr sz="1400" b="0">
                <a:solidFill>
                  <a:srgbClr val="1F2A3A"/>
                </a:solidFill>
                <a:latin typeface="맑은 고딕"/>
                <a:ea typeface="맑은 고딕"/>
                <a:cs typeface="맑은 고딕"/>
              </a:rPr>
              <a:t>TS1 55.71 ℃</a:t>
            </a:r>
          </a:p>
          <a:p>
            <a:pPr algn="ctr" eaLnBrk="0">
              <a:lnSpc>
                <a:spcPct val="110000"/>
              </a:lnSpc>
              <a:spcAft>
                <a:spcPts val="400"/>
              </a:spcAft>
            </a:pPr>
            <a:r>
              <a:rPr sz="1400" b="0">
                <a:solidFill>
                  <a:srgbClr val="1F2A3A"/>
                </a:solidFill>
                <a:latin typeface="맑은 고딕"/>
                <a:ea typeface="맑은 고딕"/>
                <a:cs typeface="맑은 고딕"/>
              </a:rPr>
              <a:t>CE 46.2 %</a:t>
            </a:r>
          </a:p>
          <a:p>
            <a:pPr algn="ctr" eaLnBrk="0">
              <a:lnSpc>
                <a:spcPct val="110000"/>
              </a:lnSpc>
              <a:spcAft>
                <a:spcPts val="400"/>
              </a:spcAft>
            </a:pPr>
            <a:r>
              <a:rPr sz="1400" b="0">
                <a:solidFill>
                  <a:srgbClr val="1F2A3A"/>
                </a:solidFill>
                <a:latin typeface="맑은 고딕"/>
                <a:ea typeface="맑은 고딕"/>
                <a:cs typeface="맑은 고딕"/>
              </a:rPr>
              <a:t>조건과 근거 값을</a:t>
            </a:r>
          </a:p>
          <a:p>
            <a:pPr algn="ctr" eaLnBrk="0">
              <a:lnSpc>
                <a:spcPct val="110000"/>
              </a:lnSpc>
              <a:spcAft>
                <a:spcPts val="400"/>
              </a:spcAft>
            </a:pPr>
            <a:r>
              <a:rPr sz="1400" b="0">
                <a:solidFill>
                  <a:srgbClr val="1F2A3A"/>
                </a:solidFill>
                <a:latin typeface="맑은 고딕"/>
                <a:ea typeface="맑은 고딕"/>
                <a:cs typeface="맑은 고딕"/>
              </a:rPr>
              <a:t>경보로 남긴다</a:t>
            </a:r>
          </a:p>
        </p:txBody>
      </p:sp>
      <p:sp>
        <p:nvSpPr>
          <p:cNvPr id="8" name="Right Arrow 7"/>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2844332" y="2854325"/>
            <a:ext cx="1911644" cy="2274061"/>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2917484"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진단과 추천</a:t>
            </a:r>
          </a:p>
          <a:p>
            <a:pPr algn="ctr" eaLnBrk="0">
              <a:lnSpc>
                <a:spcPct val="110000"/>
              </a:lnSpc>
              <a:spcAft>
                <a:spcPts val="400"/>
              </a:spcAft>
            </a:pPr>
            <a:r>
              <a:rPr sz="1400" b="0">
                <a:solidFill>
                  <a:srgbClr val="1F2A3A"/>
                </a:solidFill>
                <a:latin typeface="맑은 고딕"/>
                <a:ea typeface="맑은 고딕"/>
                <a:cs typeface="맑은 고딕"/>
              </a:rPr>
              <a:t>판별 기준과</a:t>
            </a:r>
          </a:p>
          <a:p>
            <a:pPr algn="ctr" eaLnBrk="0">
              <a:lnSpc>
                <a:spcPct val="110000"/>
              </a:lnSpc>
              <a:spcAft>
                <a:spcPts val="400"/>
              </a:spcAft>
            </a:pPr>
            <a:r>
              <a:rPr sz="1400" b="0">
                <a:solidFill>
                  <a:srgbClr val="1F2A3A"/>
                </a:solidFill>
                <a:latin typeface="맑은 고딕"/>
                <a:ea typeface="맑은 고딕"/>
                <a:cs typeface="맑은 고딕"/>
              </a:rPr>
              <a:t>실제 값을 대조한다</a:t>
            </a:r>
          </a:p>
          <a:p>
            <a:pPr algn="ctr" eaLnBrk="0">
              <a:lnSpc>
                <a:spcPct val="110000"/>
              </a:lnSpc>
              <a:spcAft>
                <a:spcPts val="400"/>
              </a:spcAft>
            </a:pPr>
            <a:r>
              <a:rPr sz="1400" b="0">
                <a:solidFill>
                  <a:srgbClr val="1F2A3A"/>
                </a:solidFill>
                <a:latin typeface="맑은 고딕"/>
                <a:ea typeface="맑은 고딕"/>
                <a:cs typeface="맑은 고딕"/>
              </a:rPr>
              <a:t>핀 오염 진단과</a:t>
            </a:r>
          </a:p>
          <a:p>
            <a:pPr algn="ctr" eaLnBrk="0">
              <a:lnSpc>
                <a:spcPct val="110000"/>
              </a:lnSpc>
              <a:spcAft>
                <a:spcPts val="400"/>
              </a:spcAft>
            </a:pPr>
            <a:r>
              <a:rPr sz="1400" b="0">
                <a:solidFill>
                  <a:srgbClr val="1F2A3A"/>
                </a:solidFill>
                <a:latin typeface="맑은 고딕"/>
                <a:ea typeface="맑은 고딕"/>
                <a:cs typeface="맑은 고딕"/>
              </a:rPr>
              <a:t>팬 최대 운전 추천</a:t>
            </a:r>
          </a:p>
        </p:txBody>
      </p:sp>
      <p:sp>
        <p:nvSpPr>
          <p:cNvPr id="11" name="Right Arrow 10"/>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5140025" y="2854325"/>
            <a:ext cx="1911644" cy="227406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213177"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 또는 거절</a:t>
            </a:r>
          </a:p>
          <a:p>
            <a:pPr algn="ctr" eaLnBrk="0">
              <a:lnSpc>
                <a:spcPct val="110000"/>
              </a:lnSpc>
              <a:spcAft>
                <a:spcPts val="400"/>
              </a:spcAft>
            </a:pPr>
            <a:r>
              <a:rPr sz="1400" b="0">
                <a:solidFill>
                  <a:srgbClr val="1F2A3A"/>
                </a:solidFill>
                <a:latin typeface="맑은 고딕"/>
                <a:ea typeface="맑은 고딕"/>
                <a:cs typeface="맑은 고딕"/>
              </a:rPr>
              <a:t>담당자가</a:t>
            </a:r>
          </a:p>
          <a:p>
            <a:pPr algn="ctr" eaLnBrk="0">
              <a:lnSpc>
                <a:spcPct val="110000"/>
              </a:lnSpc>
              <a:spcAft>
                <a:spcPts val="400"/>
              </a:spcAft>
            </a:pPr>
            <a:r>
              <a:rPr sz="1400" b="0">
                <a:solidFill>
                  <a:srgbClr val="1F2A3A"/>
                </a:solidFill>
                <a:latin typeface="맑은 고딕"/>
                <a:ea typeface="맑은 고딕"/>
                <a:cs typeface="맑은 고딕"/>
              </a:rPr>
              <a:t>추천과 근거를 본다</a:t>
            </a:r>
          </a:p>
          <a:p>
            <a:pPr algn="ctr" eaLnBrk="0">
              <a:lnSpc>
                <a:spcPct val="110000"/>
              </a:lnSpc>
              <a:spcAft>
                <a:spcPts val="400"/>
              </a:spcAft>
            </a:pPr>
            <a:r>
              <a:rPr sz="1400" b="0">
                <a:solidFill>
                  <a:srgbClr val="1F2A3A"/>
                </a:solidFill>
                <a:latin typeface="맑은 고딕"/>
                <a:ea typeface="맑은 고딕"/>
                <a:cs typeface="맑은 고딕"/>
              </a:rPr>
              <a:t>승인해야</a:t>
            </a:r>
          </a:p>
          <a:p>
            <a:pPr algn="ctr" eaLnBrk="0">
              <a:lnSpc>
                <a:spcPct val="110000"/>
              </a:lnSpc>
              <a:spcAft>
                <a:spcPts val="400"/>
              </a:spcAft>
            </a:pPr>
            <a:r>
              <a:rPr sz="1400" b="0">
                <a:solidFill>
                  <a:srgbClr val="1F2A3A"/>
                </a:solidFill>
                <a:latin typeface="맑은 고딕"/>
                <a:ea typeface="맑은 고딕"/>
                <a:cs typeface="맑은 고딕"/>
              </a:rPr>
              <a:t>명령이 만들어진다</a:t>
            </a:r>
          </a:p>
        </p:txBody>
      </p:sp>
      <p:sp>
        <p:nvSpPr>
          <p:cNvPr id="14" name="Right Arrow 13"/>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7435717" y="2854325"/>
            <a:ext cx="1911644" cy="2274061"/>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7508869"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적용한다</a:t>
            </a:r>
          </a:p>
          <a:p>
            <a:pPr algn="ctr" eaLnBrk="0">
              <a:lnSpc>
                <a:spcPct val="110000"/>
              </a:lnSpc>
              <a:spcAft>
                <a:spcPts val="400"/>
              </a:spcAft>
            </a:pPr>
            <a:r>
              <a:rPr sz="1400" b="0">
                <a:solidFill>
                  <a:srgbClr val="1F2A3A"/>
                </a:solidFill>
                <a:latin typeface="맑은 고딕"/>
                <a:ea typeface="맑은 고딕"/>
                <a:cs typeface="맑은 고딕"/>
              </a:rPr>
              <a:t>PLC가 ACK로</a:t>
            </a:r>
          </a:p>
          <a:p>
            <a:pPr algn="ctr" eaLnBrk="0">
              <a:lnSpc>
                <a:spcPct val="110000"/>
              </a:lnSpc>
              <a:spcAft>
                <a:spcPts val="400"/>
              </a:spcAft>
            </a:pPr>
            <a:r>
              <a:rPr sz="1400" b="0">
                <a:solidFill>
                  <a:srgbClr val="1F2A3A"/>
                </a:solidFill>
                <a:latin typeface="맑은 고딕"/>
                <a:ea typeface="맑은 고딕"/>
                <a:cs typeface="맑은 고딕"/>
              </a:rPr>
              <a:t>처리 결과를 알린다</a:t>
            </a:r>
          </a:p>
        </p:txBody>
      </p:sp>
      <p:sp>
        <p:nvSpPr>
          <p:cNvPr id="17" name="Right Arrow 16"/>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18" name="Rounded Rectangle 17"/>
          <p:cNvSpPr/>
          <p:nvPr/>
        </p:nvSpPr>
        <p:spPr>
          <a:xfrm>
            <a:off x="9731410" y="2854325"/>
            <a:ext cx="1911644" cy="2274061"/>
          </a:xfrm>
          <a:prstGeom prst="roundRect">
            <a:avLst>
              <a:gd name="adj" fmla="val 5000"/>
            </a:avLst>
          </a:prstGeom>
          <a:solidFill>
            <a:srgbClr val="F3F6F9"/>
          </a:solidFill>
          <a:ln>
            <a:noFill/>
          </a:ln>
        </p:spPr>
        <p:txBody>
          <a:bodyPr rtlCol="0" anchor="ctr"/>
          <a:lstStyle/>
          <a:p>
            <a:pPr algn="ctr"/>
          </a:p>
        </p:txBody>
      </p:sp>
      <p:sp>
        <p:nvSpPr>
          <p:cNvPr id="19" name="TextBox 18"/>
          <p:cNvSpPr txBox="1"/>
          <p:nvPr/>
        </p:nvSpPr>
        <p:spPr>
          <a:xfrm>
            <a:off x="9804562"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재관측과 결과</a:t>
            </a:r>
          </a:p>
          <a:p>
            <a:pPr algn="ctr" eaLnBrk="0">
              <a:lnSpc>
                <a:spcPct val="110000"/>
              </a:lnSpc>
              <a:spcAft>
                <a:spcPts val="400"/>
              </a:spcAft>
            </a:pPr>
            <a:r>
              <a:rPr sz="1400" b="0">
                <a:solidFill>
                  <a:srgbClr val="1F2A3A"/>
                </a:solidFill>
                <a:latin typeface="맑은 고딕"/>
                <a:ea typeface="맑은 고딕"/>
                <a:cs typeface="맑은 고딕"/>
              </a:rPr>
              <a:t>유온과 CLEAR로</a:t>
            </a:r>
          </a:p>
          <a:p>
            <a:pPr algn="ctr" eaLnBrk="0">
              <a:lnSpc>
                <a:spcPct val="110000"/>
              </a:lnSpc>
              <a:spcAft>
                <a:spcPts val="400"/>
              </a:spcAft>
            </a:pPr>
            <a:r>
              <a:rPr sz="1400" b="0">
                <a:solidFill>
                  <a:srgbClr val="1F2A3A"/>
                </a:solidFill>
                <a:latin typeface="맑은 고딕"/>
                <a:ea typeface="맑은 고딕"/>
                <a:cs typeface="맑은 고딕"/>
              </a:rPr>
              <a:t>완화를 확인한다</a:t>
            </a:r>
          </a:p>
          <a:p>
            <a:pPr algn="ctr" eaLnBrk="0">
              <a:lnSpc>
                <a:spcPct val="110000"/>
              </a:lnSpc>
              <a:spcAft>
                <a:spcPts val="400"/>
              </a:spcAft>
            </a:pPr>
            <a:r>
              <a:rPr sz="1400" b="0">
                <a:solidFill>
                  <a:srgbClr val="1F2A3A"/>
                </a:solidFill>
                <a:latin typeface="맑은 고딕"/>
                <a:ea typeface="맑은 고딕"/>
                <a:cs typeface="맑은 고딕"/>
              </a:rPr>
              <a:t>핀 세척 작업지시를</a:t>
            </a:r>
          </a:p>
          <a:p>
            <a:pPr algn="ctr" eaLnBrk="0">
              <a:lnSpc>
                <a:spcPct val="110000"/>
              </a:lnSpc>
              <a:spcAft>
                <a:spcPts val="400"/>
              </a:spcAft>
            </a:pPr>
            <a:r>
              <a:rPr sz="1400" b="0">
                <a:solidFill>
                  <a:srgbClr val="1F2A3A"/>
                </a:solidFill>
                <a:latin typeface="맑은 고딕"/>
                <a:ea typeface="맑은 고딕"/>
                <a:cs typeface="맑은 고딕"/>
              </a:rPr>
              <a:t>별도로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108초 동안 한 일</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효율은 55 %로 기준 아래에 머문다</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5026914"/>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103167416150617330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일반적인 유압 설비 지식으로 그럴듯한 답을 낸다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설비의 매뉴얼과 판별 기준을 알지 못한다</a:t>
            </a:r>
          </a:p>
          <a:p>
            <a:pPr algn="l" eaLnBrk="0" marL="171450" indent="-171450">
              <a:lnSpc>
                <a:spcPct val="110000"/>
              </a:lnSpc>
              <a:spcAft>
                <a:spcPts val="600"/>
              </a:spcAft>
            </a:pPr>
            <a:r>
              <a:rPr sz="1500" b="0">
                <a:solidFill>
                  <a:srgbClr val="1F2A3A"/>
                </a:solidFill>
                <a:latin typeface="맑은 고딕"/>
                <a:ea typeface="맑은 고딕"/>
                <a:cs typeface="맑은 고딕"/>
              </a:rPr>
              <a:t>• 현재 센서 값을 보지 못한다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65801"/>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p:txBody>
      </p:sp>
      <p:sp>
        <p:nvSpPr>
          <p:cNvPr id="18" name="Rounded Rectangle 17"/>
          <p:cNvSpPr/>
          <p:nvPr/>
        </p:nvSpPr>
        <p:spPr>
          <a:xfrm>
            <a:off x="6781647" y="5265801"/>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72766"/>
            <a:ext cx="3515258" cy="28371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73934"/>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27553"/>
            <a:ext cx="424281" cy="424281"/>
          </a:xfrm>
          <a:prstGeom prst="rect">
            <a:avLst/>
          </a:prstGeom>
        </p:spPr>
      </p:pic>
      <p:sp>
        <p:nvSpPr>
          <p:cNvPr id="9" name="TextBox 8"/>
          <p:cNvSpPr txBox="1"/>
          <p:nvPr/>
        </p:nvSpPr>
        <p:spPr>
          <a:xfrm>
            <a:off x="713232"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상승</a:t>
            </a:r>
          </a:p>
          <a:p>
            <a:pPr algn="l" eaLnBrk="0">
              <a:lnSpc>
                <a:spcPct val="110000"/>
              </a:lnSpc>
              <a:spcAft>
                <a:spcPts val="400"/>
              </a:spcAft>
            </a:pPr>
            <a:r>
              <a:rPr sz="18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80178"/>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73934"/>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27553"/>
            <a:ext cx="424281" cy="424281"/>
          </a:xfrm>
          <a:prstGeom prst="rect">
            <a:avLst/>
          </a:prstGeom>
        </p:spPr>
      </p:pic>
      <p:sp>
        <p:nvSpPr>
          <p:cNvPr id="15" name="TextBox 14"/>
          <p:cNvSpPr txBox="1"/>
          <p:nvPr/>
        </p:nvSpPr>
        <p:spPr>
          <a:xfrm>
            <a:off x="4502810"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냉각 효율 저하</a:t>
            </a:r>
          </a:p>
          <a:p>
            <a:pPr algn="l" eaLnBrk="0">
              <a:lnSpc>
                <a:spcPct val="110000"/>
              </a:lnSpc>
              <a:spcAft>
                <a:spcPts val="400"/>
              </a:spcAft>
            </a:pPr>
            <a:r>
              <a:rPr sz="18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8017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73934"/>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27553"/>
            <a:ext cx="424281" cy="424281"/>
          </a:xfrm>
          <a:prstGeom prst="rect">
            <a:avLst/>
          </a:prstGeom>
        </p:spPr>
      </p:pic>
      <p:sp>
        <p:nvSpPr>
          <p:cNvPr id="21" name="TextBox 20"/>
          <p:cNvSpPr txBox="1"/>
          <p:nvPr/>
        </p:nvSpPr>
        <p:spPr>
          <a:xfrm>
            <a:off x="8292388"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진동 증가</a:t>
            </a:r>
          </a:p>
          <a:p>
            <a:pPr algn="l" eaLnBrk="0">
              <a:lnSpc>
                <a:spcPct val="110000"/>
              </a:lnSpc>
              <a:spcAft>
                <a:spcPts val="400"/>
              </a:spcAft>
            </a:pPr>
            <a:r>
              <a:rPr sz="18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8017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온톨로지와 혼동하기 쉬운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그림은 표현, 그래프 DB는 저장 도구, 지식 그래프는 채운 결과, 온톨로지는 공통 정의다.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하지 않는 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보도록 대상과 선으로 나타낸 표현이다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뜻이 맞는지 검사하지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 조회한다</a:t>
            </a:r>
          </a:p>
          <a:p>
            <a:pPr algn="l" eaLnBrk="0">
              <a:lnSpc>
                <a:spcPct val="110000"/>
              </a:lnSpc>
            </a:pPr>
            <a:r>
              <a:rPr sz="1400" b="0">
                <a:solidFill>
                  <a:srgbClr val="1F2A3A"/>
                </a:solidFill>
                <a:latin typeface="맑은 고딕"/>
                <a:ea typeface="맑은 고딕"/>
                <a:cs typeface="맑은 고딕"/>
              </a:rPr>
              <a:t>Neo4j 등이 이 역할을 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무엇을 넣을지 정하지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온톨로지에 맞춰 실제 대상과 관계를 채운 지식이다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HYD의 실시간 값은 별도 저장한다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어떤 종류의 대상과 관계가 있을 수 있는지 정의한다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조치를 결정하지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8284888985841970713_1791959960.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088627814610418049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6321935017588451373_179199299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2618043" y="5187400"/>
            <a:ext cx="9663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4327742" y="3702981"/>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원인 후보와 증거를 찾아 핀 오염을 확인하고, 그 고장 유형에 연결된 완화 조치를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6544321665801108343_179199299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2618043" y="5187400"/>
            <a:ext cx="9663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4327742" y="3702981"/>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5729483" y="5537231"/>
            <a:ext cx="96635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p:txBody>
      </p:sp>
      <p:sp>
        <p:nvSpPr>
          <p:cNvPr id="11" name="TextBox 10"/>
          <p:cNvSpPr txBox="1"/>
          <p:nvPr/>
        </p:nvSpPr>
        <p:spPr>
          <a:xfrm>
            <a:off x="6881671" y="2341476"/>
            <a:ext cx="12955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p:txBody>
      </p:sp>
      <p:sp>
        <p:nvSpPr>
          <p:cNvPr id="12" name="TextBox 11"/>
          <p:cNvSpPr txBox="1"/>
          <p:nvPr/>
        </p:nvSpPr>
        <p:spPr>
          <a:xfrm>
            <a:off x="7402015" y="3962991"/>
            <a:ext cx="129554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7147153" y="5494684"/>
            <a:ext cx="129554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4" name="TextBox 13"/>
          <p:cNvSpPr txBox="1"/>
          <p:nvPr/>
        </p:nvSpPr>
        <p:spPr>
          <a:xfrm>
            <a:off x="9663914" y="2341476"/>
            <a:ext cx="106192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p:txBody>
      </p:sp>
      <p:sp>
        <p:nvSpPr>
          <p:cNvPr id="15" name="TextBox 14"/>
          <p:cNvSpPr txBox="1"/>
          <p:nvPr/>
        </p:nvSpPr>
        <p:spPr>
          <a:xfrm>
            <a:off x="10194877" y="3962991"/>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p:txBody>
      </p:sp>
      <p:sp>
        <p:nvSpPr>
          <p:cNvPr id="16" name="TextBox 15"/>
          <p:cNvSpPr txBox="1"/>
          <p:nvPr/>
        </p:nvSpPr>
        <p:spPr>
          <a:xfrm>
            <a:off x="9971873" y="5494684"/>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조회한 기준과 실제 값으로 남기는 판단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그래프에서 찾은 판별 기준을 저장소의 값과 대조하고, 조치가 가리키는 매뉴얼 근거까지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 판별</a:t>
            </a:r>
          </a:p>
          <a:p>
            <a:pPr algn="l" eaLnBrk="0">
              <a:lnSpc>
                <a:spcPct val="110000"/>
              </a:lnSpc>
              <a:spcAft>
                <a:spcPts val="200"/>
              </a:spcAft>
            </a:pPr>
            <a:r>
              <a:rPr sz="1150" b="0">
                <a:solidFill>
                  <a:srgbClr val="556175"/>
                </a:solidFill>
                <a:latin typeface="맑은 고딕"/>
                <a:ea typeface="맑은 고딕"/>
                <a:cs typeface="맑은 고딕"/>
              </a:rPr>
              <a:t>기준과 실측값</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핀 오염: CE의 30초 평균 46.2 % &lt; 70 %</a:t>
            </a:r>
          </a:p>
          <a:p>
            <a:pPr algn="l" eaLnBrk="0">
              <a:lnSpc>
                <a:spcPct val="110000"/>
              </a:lnSpc>
              <a:spcAft>
                <a:spcPts val="300"/>
              </a:spcAft>
            </a:pPr>
            <a:r>
              <a:rPr sz="1400" b="0">
                <a:solidFill>
                  <a:srgbClr val="1F2A3A"/>
                </a:solidFill>
                <a:latin typeface="맑은 고딕"/>
                <a:ea typeface="맑은 고딕"/>
                <a:cs typeface="맑은 고딕"/>
              </a:rPr>
              <a:t>VS1의 2분 평균 0.575 mm/s &lt; 0.9 mm/s</a:t>
            </a:r>
          </a:p>
          <a:p>
            <a:pPr algn="l" eaLnBrk="0">
              <a:lnSpc>
                <a:spcPct val="110000"/>
              </a:lnSpc>
              <a:spcAft>
                <a:spcPts val="300"/>
              </a:spcAft>
            </a:pPr>
            <a:r>
              <a:rPr sz="1400" b="0">
                <a:solidFill>
                  <a:srgbClr val="1F2A3A"/>
                </a:solidFill>
                <a:latin typeface="맑은 고딕"/>
                <a:ea typeface="맑은 고딕"/>
                <a:cs typeface="맑은 고딕"/>
              </a:rPr>
              <a:t>두 조건이 맞아 핀 오염으로 판단한다.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다른 후보의 배제</a:t>
            </a:r>
          </a:p>
          <a:p>
            <a:pPr algn="l" eaLnBrk="0">
              <a:lnSpc>
                <a:spcPct val="110000"/>
              </a:lnSpc>
              <a:spcAft>
                <a:spcPts val="200"/>
              </a:spcAft>
            </a:pPr>
            <a:r>
              <a:rPr sz="1150" b="0">
                <a:solidFill>
                  <a:srgbClr val="556175"/>
                </a:solidFill>
                <a:latin typeface="맑은 고딕"/>
                <a:ea typeface="맑은 고딕"/>
                <a:cs typeface="맑은 고딕"/>
              </a:rPr>
              <a:t>배제 근거</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 구동 불량: VS1 평균이 0.9 mm/s 미만이다.</a:t>
            </a:r>
          </a:p>
          <a:p>
            <a:pPr algn="l" eaLnBrk="0">
              <a:lnSpc>
                <a:spcPct val="110000"/>
              </a:lnSpc>
              <a:spcAft>
                <a:spcPts val="300"/>
              </a:spcAft>
            </a:pPr>
            <a:r>
              <a:rPr sz="1400" b="0">
                <a:solidFill>
                  <a:srgbClr val="1F2A3A"/>
                </a:solidFill>
                <a:latin typeface="맑은 고딕"/>
                <a:ea typeface="맑은 고딕"/>
                <a:cs typeface="맑은 고딕"/>
              </a:rPr>
              <a:t>주변 온도 상승: TS4의 2분 평균 28 ℃가 35 ℃ 미만이다.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지식과 값의 분리</a:t>
            </a:r>
          </a:p>
          <a:p>
            <a:pPr algn="l" eaLnBrk="0">
              <a:lnSpc>
                <a:spcPct val="110000"/>
              </a:lnSpc>
              <a:spcAft>
                <a:spcPts val="200"/>
              </a:spcAft>
            </a:pPr>
            <a:r>
              <a:rPr sz="1150" b="0">
                <a:solidFill>
                  <a:srgbClr val="556175"/>
                </a:solidFill>
                <a:latin typeface="맑은 고딕"/>
                <a:ea typeface="맑은 고딕"/>
                <a:cs typeface="맑은 고딕"/>
              </a:rPr>
              <a:t>정의와 관측</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 그래프에는 확인할 태그·집계 구간·판별 기준이 있다.</a:t>
            </a:r>
          </a:p>
          <a:p>
            <a:pPr algn="l" eaLnBrk="0">
              <a:lnSpc>
                <a:spcPct val="110000"/>
              </a:lnSpc>
              <a:spcAft>
                <a:spcPts val="300"/>
              </a:spcAft>
            </a:pPr>
            <a:r>
              <a:rPr sz="1400" b="0">
                <a:solidFill>
                  <a:srgbClr val="1F2A3A"/>
                </a:solidFill>
                <a:latin typeface="맑은 고딕"/>
                <a:ea typeface="맑은 고딕"/>
                <a:cs typeface="맑은 고딕"/>
              </a:rPr>
              <a:t>계속 바뀌는 값은 시계열 저장소에서 읽어 대조한다.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조치와 근거 문서</a:t>
            </a:r>
          </a:p>
          <a:p>
            <a:pPr algn="l" eaLnBrk="0">
              <a:lnSpc>
                <a:spcPct val="110000"/>
              </a:lnSpc>
              <a:spcAft>
                <a:spcPts val="200"/>
              </a:spcAft>
            </a:pPr>
            <a:r>
              <a:rPr sz="1150" b="0">
                <a:solidFill>
                  <a:srgbClr val="556175"/>
                </a:solidFill>
                <a:latin typeface="맑은 고딕"/>
                <a:ea typeface="맑은 고딕"/>
                <a:cs typeface="맑은 고딕"/>
              </a:rPr>
              <a:t>추천의 근거</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 최대 운전은 고장 유형의 MITIGATED_BY로 찾는 완화 조치이다.</a:t>
            </a:r>
          </a:p>
          <a:p>
            <a:pPr algn="l" eaLnBrk="0">
              <a:lnSpc>
                <a:spcPct val="110000"/>
              </a:lnSpc>
              <a:spcAft>
                <a:spcPts val="300"/>
              </a:spcAft>
            </a:pPr>
            <a:r>
              <a:rPr sz="1400" b="0">
                <a:solidFill>
                  <a:srgbClr val="1F2A3A"/>
                </a:solidFill>
                <a:latin typeface="맑은 고딕"/>
                <a:ea typeface="맑은 고딕"/>
                <a:cs typeface="맑은 고딕"/>
              </a:rPr>
              <a:t>조치 방법 → 단계(Step) → 매뉴얼 절(ManualSection)</a:t>
            </a:r>
          </a:p>
          <a:p>
            <a:pPr algn="l" eaLnBrk="0">
              <a:lnSpc>
                <a:spcPct val="110000"/>
              </a:lnSpc>
              <a:spcAft>
                <a:spcPts val="300"/>
              </a:spcAft>
            </a:pPr>
            <a:r>
              <a:rPr sz="1400" b="0">
                <a:solidFill>
                  <a:srgbClr val="1F2A3A"/>
                </a:solidFill>
                <a:latin typeface="맑은 고딕"/>
                <a:ea typeface="맑은 고딕"/>
                <a:cs typeface="맑은 고딕"/>
              </a:rPr>
              <a:t>HAS_STEP과 REFERS_TO를 거쳐 HM-8.5를 근거로 찾는다.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온톨로지로 원인 후보와 근거를 찾고, 에이전트가 추천한 조치를 사람이 승인하면 프로세스가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643505"/>
            <a:ext cx="1911644"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138702" y="2826385"/>
            <a:ext cx="731520" cy="731520"/>
          </a:xfrm>
          <a:prstGeom prst="ellipse">
            <a:avLst/>
          </a:prstGeom>
          <a:solidFill>
            <a:srgbClr val="5CB8F2"/>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80004"/>
            <a:ext cx="424281" cy="424281"/>
          </a:xfrm>
          <a:prstGeom prst="rect">
            <a:avLst/>
          </a:prstGeom>
        </p:spPr>
      </p:pic>
      <p:sp>
        <p:nvSpPr>
          <p:cNvPr id="9" name="TextBox 8"/>
          <p:cNvSpPr txBox="1"/>
          <p:nvPr/>
        </p:nvSpPr>
        <p:spPr>
          <a:xfrm>
            <a:off x="621792"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정의</a:t>
            </a:r>
          </a:p>
          <a:p>
            <a:pPr algn="ctr" eaLnBrk="0">
              <a:lnSpc>
                <a:spcPct val="110000"/>
              </a:lnSpc>
              <a:spcAft>
                <a:spcPts val="400"/>
              </a:spcAft>
            </a:pPr>
            <a:r>
              <a:rPr sz="1250" b="0">
                <a:solidFill>
                  <a:srgbClr val="1F2A3A"/>
                </a:solidFill>
                <a:latin typeface="맑은 고딕"/>
                <a:ea typeface="맑은 고딕"/>
                <a:cs typeface="맑은 고딕"/>
              </a:rPr>
              <a:t>온톨로지가</a:t>
            </a:r>
          </a:p>
          <a:p>
            <a:pPr algn="ctr" eaLnBrk="0">
              <a:lnSpc>
                <a:spcPct val="110000"/>
              </a:lnSpc>
              <a:spcAft>
                <a:spcPts val="400"/>
              </a:spcAft>
            </a:pPr>
            <a:r>
              <a:rPr sz="1250" b="0">
                <a:solidFill>
                  <a:srgbClr val="1F2A3A"/>
                </a:solidFill>
                <a:latin typeface="맑은 고딕"/>
                <a:ea typeface="맑은 고딕"/>
                <a:cs typeface="맑은 고딕"/>
              </a:rPr>
              <a:t>대상의 종류, 속성,</a:t>
            </a:r>
          </a:p>
          <a:p>
            <a:pPr algn="ctr" eaLnBrk="0">
              <a:lnSpc>
                <a:spcPct val="110000"/>
              </a:lnSpc>
              <a:spcAft>
                <a:spcPts val="400"/>
              </a:spcAft>
            </a:pPr>
            <a:r>
              <a:rPr sz="1250" b="0">
                <a:solidFill>
                  <a:srgbClr val="1F2A3A"/>
                </a:solidFill>
                <a:latin typeface="맑은 고딕"/>
                <a:ea typeface="맑은 고딕"/>
                <a:cs typeface="맑은 고딕"/>
              </a:rPr>
              <a:t>관계, 제약을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43505"/>
            <a:ext cx="1911644"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26385"/>
            <a:ext cx="731520" cy="731520"/>
          </a:xfrm>
          <a:prstGeom prst="ellipse">
            <a:avLst/>
          </a:prstGeom>
          <a:solidFill>
            <a:srgbClr val="FFFFFF"/>
          </a:solidFill>
          <a:ln>
            <a:noFill/>
          </a:ln>
        </p:spPr>
        <p:txBody>
          <a:bodyPr rtlCol="0" anchor="ctr"/>
          <a:lstStyle/>
          <a:p>
            <a:pPr algn="ctr"/>
          </a:p>
        </p:txBody>
      </p:sp>
      <p:pic>
        <p:nvPicPr>
          <p:cNvPr id="13" name="아이콘:route" descr="route_13294B_1.6.png"/>
          <p:cNvPicPr>
            <a:picLocks noChangeAspect="1"/>
          </p:cNvPicPr>
          <p:nvPr/>
        </p:nvPicPr>
        <p:blipFill>
          <a:blip r:embed="rId4"/>
          <a:stretch>
            <a:fillRect/>
          </a:stretch>
        </p:blipFill>
        <p:spPr>
          <a:xfrm>
            <a:off x="3588014" y="2980004"/>
            <a:ext cx="424281" cy="424281"/>
          </a:xfrm>
          <a:prstGeom prst="rect">
            <a:avLst/>
          </a:prstGeom>
        </p:spPr>
      </p:pic>
      <p:sp>
        <p:nvSpPr>
          <p:cNvPr id="14" name="TextBox 13"/>
          <p:cNvSpPr txBox="1"/>
          <p:nvPr/>
        </p:nvSpPr>
        <p:spPr>
          <a:xfrm>
            <a:off x="2917484"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조회</a:t>
            </a:r>
          </a:p>
          <a:p>
            <a:pPr algn="ctr" eaLnBrk="0">
              <a:lnSpc>
                <a:spcPct val="110000"/>
              </a:lnSpc>
              <a:spcAft>
                <a:spcPts val="400"/>
              </a:spcAft>
            </a:pPr>
            <a:r>
              <a:rPr sz="1250" b="0">
                <a:solidFill>
                  <a:srgbClr val="1F2A3A"/>
                </a:solidFill>
                <a:latin typeface="맑은 고딕"/>
                <a:ea typeface="맑은 고딕"/>
                <a:cs typeface="맑은 고딕"/>
              </a:rPr>
              <a:t>경보에서 관계를 따라</a:t>
            </a:r>
          </a:p>
          <a:p>
            <a:pPr algn="ctr" eaLnBrk="0">
              <a:lnSpc>
                <a:spcPct val="110000"/>
              </a:lnSpc>
              <a:spcAft>
                <a:spcPts val="400"/>
              </a:spcAft>
            </a:pPr>
            <a:r>
              <a:rPr sz="1250" b="0">
                <a:solidFill>
                  <a:srgbClr val="1F2A3A"/>
                </a:solidFill>
                <a:latin typeface="맑은 고딕"/>
                <a:ea typeface="맑은 고딕"/>
                <a:cs typeface="맑은 고딕"/>
              </a:rPr>
              <a:t>원인 후보와</a:t>
            </a:r>
          </a:p>
          <a:p>
            <a:pPr algn="ctr" eaLnBrk="0">
              <a:lnSpc>
                <a:spcPct val="110000"/>
              </a:lnSpc>
              <a:spcAft>
                <a:spcPts val="400"/>
              </a:spcAft>
            </a:pPr>
            <a:r>
              <a:rPr sz="1250" b="0">
                <a:solidFill>
                  <a:srgbClr val="1F2A3A"/>
                </a:solidFill>
                <a:latin typeface="맑은 고딕"/>
                <a:ea typeface="맑은 고딕"/>
                <a:cs typeface="맑은 고딕"/>
              </a:rPr>
              <a:t>증거를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43505"/>
            <a:ext cx="1911644"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26385"/>
            <a:ext cx="731520" cy="731520"/>
          </a:xfrm>
          <a:prstGeom prst="ellipse">
            <a:avLst/>
          </a:prstGeom>
          <a:solidFill>
            <a:srgbClr val="FFFFFF"/>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980004"/>
            <a:ext cx="424281" cy="424281"/>
          </a:xfrm>
          <a:prstGeom prst="rect">
            <a:avLst/>
          </a:prstGeom>
        </p:spPr>
      </p:pic>
      <p:sp>
        <p:nvSpPr>
          <p:cNvPr id="19" name="TextBox 18"/>
          <p:cNvSpPr txBox="1"/>
          <p:nvPr/>
        </p:nvSpPr>
        <p:spPr>
          <a:xfrm>
            <a:off x="5213177"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판단</a:t>
            </a:r>
          </a:p>
          <a:p>
            <a:pPr algn="ctr" eaLnBrk="0">
              <a:lnSpc>
                <a:spcPct val="110000"/>
              </a:lnSpc>
              <a:spcAft>
                <a:spcPts val="400"/>
              </a:spcAft>
            </a:pPr>
            <a:r>
              <a:rPr sz="1250" b="0">
                <a:solidFill>
                  <a:srgbClr val="1F2A3A"/>
                </a:solidFill>
                <a:latin typeface="맑은 고딕"/>
                <a:ea typeface="맑은 고딕"/>
                <a:cs typeface="맑은 고딕"/>
              </a:rPr>
              <a:t>에이전트가</a:t>
            </a:r>
          </a:p>
          <a:p>
            <a:pPr algn="ctr" eaLnBrk="0">
              <a:lnSpc>
                <a:spcPct val="110000"/>
              </a:lnSpc>
              <a:spcAft>
                <a:spcPts val="400"/>
              </a:spcAft>
            </a:pPr>
            <a:r>
              <a:rPr sz="1250" b="0">
                <a:solidFill>
                  <a:srgbClr val="1F2A3A"/>
                </a:solidFill>
                <a:latin typeface="맑은 고딕"/>
                <a:ea typeface="맑은 고딕"/>
                <a:cs typeface="맑은 고딕"/>
              </a:rPr>
              <a:t>값을 대조해</a:t>
            </a:r>
          </a:p>
          <a:p>
            <a:pPr algn="ctr" eaLnBrk="0">
              <a:lnSpc>
                <a:spcPct val="110000"/>
              </a:lnSpc>
              <a:spcAft>
                <a:spcPts val="400"/>
              </a:spcAft>
            </a:pPr>
            <a:r>
              <a:rPr sz="1250" b="0">
                <a:solidFill>
                  <a:srgbClr val="1F2A3A"/>
                </a:solidFill>
                <a:latin typeface="맑은 고딕"/>
                <a:ea typeface="맑은 고딕"/>
                <a:cs typeface="맑은 고딕"/>
              </a:rPr>
              <a:t>조치를 추천한다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43505"/>
            <a:ext cx="1911644" cy="269570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26385"/>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8179399" y="2980004"/>
            <a:ext cx="424281" cy="424281"/>
          </a:xfrm>
          <a:prstGeom prst="rect">
            <a:avLst/>
          </a:prstGeom>
        </p:spPr>
      </p:pic>
      <p:sp>
        <p:nvSpPr>
          <p:cNvPr id="24" name="TextBox 23"/>
          <p:cNvSpPr txBox="1"/>
          <p:nvPr/>
        </p:nvSpPr>
        <p:spPr>
          <a:xfrm>
            <a:off x="7508869"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a:t>
            </a:r>
          </a:p>
          <a:p>
            <a:pPr algn="ctr" eaLnBrk="0">
              <a:lnSpc>
                <a:spcPct val="110000"/>
              </a:lnSpc>
              <a:spcAft>
                <a:spcPts val="400"/>
              </a:spcAft>
            </a:pPr>
            <a:r>
              <a:rPr sz="1250" b="0">
                <a:solidFill>
                  <a:srgbClr val="1F2A3A"/>
                </a:solidFill>
                <a:latin typeface="맑은 고딕"/>
                <a:ea typeface="맑은 고딕"/>
                <a:cs typeface="맑은 고딕"/>
              </a:rPr>
              <a:t>담당자가</a:t>
            </a:r>
          </a:p>
          <a:p>
            <a:pPr algn="ctr" eaLnBrk="0">
              <a:lnSpc>
                <a:spcPct val="110000"/>
              </a:lnSpc>
              <a:spcAft>
                <a:spcPts val="400"/>
              </a:spcAft>
            </a:pPr>
            <a:r>
              <a:rPr sz="1250" b="0">
                <a:solidFill>
                  <a:srgbClr val="1F2A3A"/>
                </a:solidFill>
                <a:latin typeface="맑은 고딕"/>
                <a:ea typeface="맑은 고딕"/>
                <a:cs typeface="맑은 고딕"/>
              </a:rPr>
              <a:t>추천과 근거를 보고</a:t>
            </a:r>
          </a:p>
          <a:p>
            <a:pPr algn="ctr" eaLnBrk="0">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43505"/>
            <a:ext cx="1911644" cy="2695702"/>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26385"/>
            <a:ext cx="731520" cy="731520"/>
          </a:xfrm>
          <a:prstGeom prst="ellipse">
            <a:avLst/>
          </a:prstGeom>
          <a:solidFill>
            <a:srgbClr val="FFFFFF"/>
          </a:solidFill>
          <a:ln>
            <a:noFill/>
          </a:ln>
        </p:spPr>
        <p:txBody>
          <a:bodyPr rtlCol="0" anchor="ctr"/>
          <a:lstStyle/>
          <a:p>
            <a:pPr algn="ctr"/>
          </a:p>
        </p:txBody>
      </p:sp>
      <p:pic>
        <p:nvPicPr>
          <p:cNvPr id="28" name="아이콘:settings-automation" descr="settings-automation_13294B_1.6.png"/>
          <p:cNvPicPr>
            <a:picLocks noChangeAspect="1"/>
          </p:cNvPicPr>
          <p:nvPr/>
        </p:nvPicPr>
        <p:blipFill>
          <a:blip r:embed="rId7"/>
          <a:stretch>
            <a:fillRect/>
          </a:stretch>
        </p:blipFill>
        <p:spPr>
          <a:xfrm>
            <a:off x="10475092" y="2980004"/>
            <a:ext cx="424281" cy="424281"/>
          </a:xfrm>
          <a:prstGeom prst="rect">
            <a:avLst/>
          </a:prstGeom>
        </p:spPr>
      </p:pic>
      <p:sp>
        <p:nvSpPr>
          <p:cNvPr id="29" name="TextBox 28"/>
          <p:cNvSpPr txBox="1"/>
          <p:nvPr/>
        </p:nvSpPr>
        <p:spPr>
          <a:xfrm>
            <a:off x="9804562"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프로세스 엔진이</a:t>
            </a:r>
          </a:p>
          <a:p>
            <a:pPr algn="ctr" eaLnBrk="0">
              <a:lnSpc>
                <a:spcPct val="110000"/>
              </a:lnSpc>
              <a:spcAft>
                <a:spcPts val="400"/>
              </a:spcAft>
            </a:pPr>
            <a:r>
              <a:rPr sz="1250" b="0">
                <a:solidFill>
                  <a:srgbClr val="1F2A3A"/>
                </a:solidFill>
                <a:latin typeface="맑은 고딕"/>
                <a:ea typeface="맑은 고딕"/>
                <a:cs typeface="맑은 고딕"/>
              </a:rPr>
              <a:t>승인된 조치만</a:t>
            </a:r>
          </a:p>
          <a:p>
            <a:pPr algn="ctr" eaLnBrk="0">
              <a:lnSpc>
                <a:spcPct val="110000"/>
              </a:lnSpc>
              <a:spcAft>
                <a:spcPts val="400"/>
              </a:spcAft>
            </a:pPr>
            <a:r>
              <a:rPr sz="1250" b="0">
                <a:solidFill>
                  <a:srgbClr val="1F2A3A"/>
                </a:solidFill>
                <a:latin typeface="맑은 고딕"/>
                <a:ea typeface="맑은 고딕"/>
                <a:cs typeface="맑은 고딕"/>
              </a:rPr>
              <a:t>명령으로 내려보낸다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arrows.app에서 노드와 관계를 배치하고 이름과 방향을 정한다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완성하는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설비·센서·증상·원인·조치를 이름과 방향이 있는 관계로 연결하고, 문장으로 읽어 그림을 점검한다.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58872"/>
            <a:ext cx="3515258" cy="26649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사례의 대상</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유온 센서 TS1, 유온 상승, 쿨러 핀 오염, 팬 최대 운전을 노드로 둔다</a:t>
            </a:r>
          </a:p>
          <a:p>
            <a:pPr algn="l" eaLnBrk="0" marL="182880" indent="-182880">
              <a:lnSpc>
                <a:spcPct val="110000"/>
              </a:lnSpc>
              <a:spcAft>
                <a:spcPts val="400"/>
              </a:spcAft>
            </a:pPr>
            <a:r>
              <a:rPr sz="1600" b="0">
                <a:solidFill>
                  <a:srgbClr val="1F2A3A"/>
                </a:solidFill>
                <a:latin typeface="맑은 고딕"/>
                <a:ea typeface="맑은 고딕"/>
                <a:cs typeface="맑은 고딕"/>
              </a:rPr>
              <a:t>• 필요한 고장 유형과 구성 요소도 함께 놓는다</a:t>
            </a:r>
          </a:p>
        </p:txBody>
      </p:sp>
      <p:sp>
        <p:nvSpPr>
          <p:cNvPr id="8" name="Rounded Rectangle 7"/>
          <p:cNvSpPr/>
          <p:nvPr/>
        </p:nvSpPr>
        <p:spPr>
          <a:xfrm>
            <a:off x="777240" y="4894072"/>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940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4338218" y="2658872"/>
            <a:ext cx="3515258" cy="26649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이름과 방향이 있는 그림</a:t>
            </a:r>
          </a:p>
          <a:p>
            <a:pPr algn="l" eaLnBrk="0" marL="182880" indent="-182880">
              <a:lnSpc>
                <a:spcPct val="110000"/>
              </a:lnSpc>
              <a:spcAft>
                <a:spcPts val="400"/>
              </a:spcAft>
            </a:pPr>
            <a:r>
              <a:rPr sz="1600" b="0">
                <a:solidFill>
                  <a:srgbClr val="1F2A3A"/>
                </a:solidFill>
                <a:latin typeface="맑은 고딕"/>
                <a:ea typeface="맑은 고딕"/>
                <a:cs typeface="맑은 고딕"/>
              </a:rPr>
              <a:t>• 노드를 화살표로 연결하고 관계 이름을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정보 목록에 없던 대상 사이의 뜻이 그림에 드러나야 한다</a:t>
            </a:r>
          </a:p>
        </p:txBody>
      </p:sp>
      <p:sp>
        <p:nvSpPr>
          <p:cNvPr id="12" name="Rounded Rectangle 11"/>
          <p:cNvSpPr/>
          <p:nvPr/>
        </p:nvSpPr>
        <p:spPr>
          <a:xfrm>
            <a:off x="4566818" y="4894072"/>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8940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4" name="Rounded Rectangle 13"/>
          <p:cNvSpPr/>
          <p:nvPr/>
        </p:nvSpPr>
        <p:spPr>
          <a:xfrm>
            <a:off x="8127796" y="2658872"/>
            <a:ext cx="3515258" cy="26649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문장으로 확인</a:t>
            </a:r>
          </a:p>
          <a:p>
            <a:pPr algn="l" eaLnBrk="0" marL="182880" indent="-182880">
              <a:lnSpc>
                <a:spcPct val="110000"/>
              </a:lnSpc>
              <a:spcAft>
                <a:spcPts val="400"/>
              </a:spcAft>
            </a:pPr>
            <a:r>
              <a:rPr sz="1600" b="0">
                <a:solidFill>
                  <a:srgbClr val="1F2A3A"/>
                </a:solidFill>
                <a:latin typeface="맑은 고딕"/>
                <a:ea typeface="맑은 고딕"/>
                <a:cs typeface="맑은 고딕"/>
              </a:rPr>
              <a:t>• 출발점·관계·도착점을 주어·서술어·목적어로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사실과 맞지 않거나 뜻이 어색하면 이름과 방향을 고친다</a:t>
            </a:r>
          </a:p>
        </p:txBody>
      </p:sp>
      <p:sp>
        <p:nvSpPr>
          <p:cNvPr id="16" name="Rounded Rectangle 15"/>
          <p:cNvSpPr/>
          <p:nvPr/>
        </p:nvSpPr>
        <p:spPr>
          <a:xfrm>
            <a:off x="8356396" y="4894072"/>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48940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판단</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HYD에서 해당 역할을 맡는 구성 요소를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태그·상태 전달</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감시·제어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