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회차에서 할 일은 네 가지입니다. 먼저 배운 내용을 자신의 지식으로 남기는 방법을 익히고 개인 학습노트를 만듭니다. 이어서 제조 설비에서 AI의 판단과 조치까지 이어지는 HYD의 구조를 계층별로 살펴보고, 데이터가 오가는 길을 따라갑니다. 실행 환경을 갖춘 뒤에는 설비 이상 한 건이 처리되는 과정을 포털에서 확인합니다. 마지막으로 이 시스템의 판단에 왜 온톨로지가 필요한지 알아봅니다.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필기와 강의 자료를 AI에게 넘기면 깔끔한 문서가 금방 나옵니다. 하지만 읽기 쉬운 형태로 바뀌었을 뿐, 그 내용이 머릿속에 들어온 것은 아닙니다. 더 큰 문제는 잘 정리된 문서를 보며 그 내용을 내가 안다고 착각하는 것입니다. 자료를 덮고 백지에 직접 써 보면 무엇을 알고 무엇을 모르는지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자료를 덮고 백지에 이해한 내용을 써 봅니다. 타이핑해도 되고 말로 풀어 받아 적게 해도 되며, 처음에는 한 가지를 깊이 파기보다 아는 내용을 넓게 훑으며 쭉 써 봅니다. 그러면 틀린 곳, 횡설수설한 곳, 막혀서 더 쓰지 못하는 곳이 드러나는데, 바로 그 부분이 공부할 범위입니다. 먼저 틀린 곳과 횡설수설한 곳을 바로잡아 전체의 줄기를 잡습니다. 그런 다음 막힌 곳을 하나씩 골라 깊이 파고듭니다.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깊이 파고들 때는 막힌 곳에 집중합니다. 모르는 용어의 뜻을 묻고, 설명에 또 모르는 말이 나오면 다시 묻습니다. 초등학생도 알아들을 수 있게 풀어 달라고 해도 괜찮습니다. 더 내려갈 곳이 없으면 거기서부터 하나씩 이어 붙이며 처음의 용어로 돌아옵니다.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용어를 이해할 때 정의 문장을 그대로 외울 필요는 없습니다. 원리에서 벗어나지 않는다면 같은 뜻의 쉬운 말로 이해해도 됩니다. 내 말로 풀어낼 수 있어야 다른 말로 물어도 답할 수 있습니다. 앞으로 배우는 내용도 넓게 써 보고 고친 다음, 막힌 곳을 깊이 파며 정리합니다. 이렇게 내 말로 풀어 쓴 기록을 개인 학습노트에 쌓으면 이 과정에서 만드는 지식 자산이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기록을 남기는 것과 나중에 다시 쓰는 것은 다릅니다. 개념을 내 말로 쓰고 출처를 연결해 두면, 설명이 맞는지 원문으로 돌아가 확인할 수 있습니다. 실습 과정과 결과까지 연결하면 개념을 어디에 썼는지도 찾을 수 있습니다. 이해가 바뀔 때 기록을 보완하며 자신의 지식으로 쌓아 갑니다.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실습에서는 노션으로 학습 기록을 담을 틀을 만듭니다. 과정 홈 아래에 개념 정리, 참고 자료, 실습 결과의 자리를 마련하고 학습노트에 분류 정보를 붙입니다. 개념 하나를 내 말로 쓴 뒤 참고 자료와 연결하면 첫 기록이 완성됩니다. 페이지와 링크를 다루는 법은 실습에서 직접 익힙니다.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설비에서 생기는 압력과 온도는 센서를 거쳐 계측값이 됩니다. PLC는 그 값을 읽어 제어 출력을 정하고, 관제 화면은 사람이 상태를 보고 조작하는 자리가 됩니다. HYD-01에서는 유온 TS1을 읽고 팬 속도와 펌프 부하를 조정합니다. 이 데이터를 수집해 판단과 조치에 쓰는 구조도 같은 출발점을 가집니다.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유압 파워팩 HYD-01은 탱크의 작동유를 모터와 펌프로 보내 압력을 만들고, 부하를 거친 작동유를 쿨러에서 식혀 다시 탱크로 돌려보냅니다. 팬은 쿨러에 바람을 보내 열을 공기로 내보냅니다. 태그는 계측값의 이름이며, TS1은 쿨러로 들어가기 직전의 작동유 온도입니다. 정상 운전점은 유온 48 ℃, 토출 압력 182 bar, 팬 진동 0.6 mm/s이며 냉각 효율 CE는 84 %입니다.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1은 센서 네트워크와 설비이며, 제어 판단은 설비 옆 PLC가 맡습니다. PLC는 스캔 주기마다 입력을 읽고 프로그램을 실행해 출력을 쓰며, 팬 속도와 부하의 설정값을 적용합니다. 위험 조건에서는 인터록이 우선해 설비를 보호 정지시킵니다. 서버의 응답을 기다리지 않으므로 통신 지연이나 단절 중에도 현장 보호 판단을 수행합니다.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HYD-01의 인터록은 세 가지입니다. 유온이 65 ℃를 넘거나, 토출 압력이 130 bar 아래로 떨어지거나, 팬 진동이 2.0 mm/s 이상이 되면 PLC가 설비를 세웁니다. 세 조건 모두 그대로 두면 설비가 손상될 수 있는 상태입니다. 유온 65 ℃와 팬 진동 2.0 mm/s는 이 단원의 경보와 조치 사례에서도 쓰이는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PLC가 반복해서 판단하려면 그사이에 오가는 신호도 매번 제시간에 도착해야 합니다. 지연은 걸리는 시간이고 지터는 그 시간이 흔들리는 정도이며, 결정성은 최악의 경우에도 시한 안에 도착하는 성질입니다. 사무 통신이 지연의 변동을 어느 정도 허용하는 것과 요구가 다릅니다. 암호화와 인증이 없는 전통 Modbus의 보호 한계는 망 구조와 상위 계층이 보완합니다.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위쪽은 이름을 붙여 보내기 전의 설비 상태 값이고, 아래쪽은 수집 메시지입니다. 엣지 게이트웨이는 ts1 값을 태그 TS1에 대응시키고 보낸 시각과 품질을 붙입니다. 태그 메시지와 별도로 운전 모드, 팬 속도, 부하, 인터록 상태도 보냅니다. 냉각 효율 CE는 직접 계측한 값이 아니라 계산으로 얻는 가상 센서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유온을 받아야 하는 곳은 운전 화면과 수집 서비스이며 더 늘어날 수 있습니다. 점대점 방식에서는 송신자가 각 수신자의 주소를 알고 직접 연결하므로, 수신자가 늘면 송신 측도 고쳐야 합니다. 이런 변경 의존을 강한 결합이라고 합니다. 브로커를 사이에 두면 송신자는 브로커에만 보내고 수신자가 구독을 등록하므로 느슨한 결합이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MQTT(Message Queuing Telemetry Transport)는 작은 장치와 불안정한 네트워크를 위한 가벼운 발행 · 구독(Publish/Subscribe) 규약이며, 가운데의 메시지 브로커를 줄여 브로커라고 합니다. 먼저 운전 화면과 수집 서비스가 받을 토픽을 브로커에 구독해 둡니다. 엣지 게이트웨이가 유온 값을 토픽 plant/hyd01/tag/TS1로 발행하면, 브로커는 그 순간 이 토픽을 구독 중인 모든 구독자에게 메시지를 전달합니다. 이 계측 메시지는 그 순간의 전달에 쓰이므로, 나중에 연결한 구독자는 지나간 값을 받지 못합니다. 발행자는 구독자가 누구인지 몰라도 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구독 등록이 먼저 있고, 발행 뒤에는 브로커가 구독자에게 메시지를 밀어 줍니다. QoS는 전달 보장 수준이며, QoS 1에서는 중복 전달이 가능하므로 받는 쪽의 중복 검사가 필요합니다. 보존 메시지는 새 구독자에게 마지막 한 건을 주는 기능으로 과거 이력 저장과는 다릅니다. HYD의 태그 값은 보존하지 않지만 운전 상태는 보존하며, 명령은 새로 연결했을 때 지난 명령이 실행되지 않도록 보존하지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화면의 계측 토픽을 나누면 공장, 설비, 종류, 태그 이름의 네 칸입니다. HYD에는 같은 구조의 유압 파워팩이 세 대 있어 설비 자리만 hyd01, hyd02, hyd03으로 바뀝니다. 운전 상태 토픽은 태그 이름 없이 세 칸으로 끝납니다. 구독자는 토픽을 지정해 필요한 메시지만 골라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데이터가 브로커까지 왔지만, 분석하고 저장하는 서버는 브로커에 직접 연결되지 않습니다. 설비를 다루는 OT는 멈추지 않는 가용성과 안전을 우선합니다. 업무 데이터를 다루는 IT는 외부 연결을 통한 침해에 노출되어 있어 기밀성과 무결성을 중시합니다. 그래서 망 분리(Network Segmentation)로 두 영역을 나누고, 사이에 완충 구역을 둡니다. 설비를 지키는 판단을 PLC에 맡긴 것도 IT 쪽 서버를 거치지 않게 하기 위해서입니다.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DMZ는 OT와 IT 사이에서 연결을 제한하는 완충 구역입니다. 수집 서비스는 OT 브로커를 구독하고 받은 데이터를 IT 이벤트 로그로 옮깁니다. 이 서비스는 OT 쪽으로 아무것도 발행하지 않으며, 자동 명령은 별도의 명령 관문을 거칩니다. 경로를 나누고 검사하는 구조가 현장 통신 규약에 부족한 보호 기능을 보완합니다.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위쪽은 브로커의 메시지이고 아래쪽은 수집 서비스가 이벤트 로그에 남긴 레코드입니다. 토픽 경로에 있던 hyd01과 TS1이 asset과 name으로 본문 안에 들어왔습니다. 보낸 시각 t, 값 v, 품질 q는 함께 옮겨집니다. 키 hyd01은 같은 설비의 레코드를 같은 파티션에 모으는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이벤트 로그는 전달이 끝난 메시지를 기록으로 남겨 여러 소비자가 다시 사용할 수 있게 합니다. 감지 서비스와 저장 서비스는 서로의 읽기 속도에 맞출 필요 없이 각자의 위치를 관리합니다. 오프셋은 파티션 안의 위치이며, 순서도 그 파티션 안에서 보장됩니다. 다시 읽을 수 있는 범위는 보존 기간까지이고, HYD의 태그 원본 로그는 하루를 보관합니다.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이벤트 로그의 데이터를 읽는 첫 번째 계층은 Layer 4, 스트림 처리입니다. 데이터를 저장소에 모아 두었다가 주기적으로 한꺼번에 처리하는 방식을 배치 처리(Batch Processing)라고 합니다. 이 방식에서는 이상이 생긴 때와 알아차리는 때 사이에 지연이 생깁니다. 감지 서비스는 데이터가 기록되는 대로 받아 조건과 비교합니다. 이렇게 끊임없이 도착하는 데이터를 그 자리에서 처리하는 방식이 스트림 처리입니다.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오른쪽 맨 위의 세 조건을 보겠습니다. 유온이 55 ℃를 넘고, 냉각 효율이 70 % 아래이며, 유온이 오르는 중이어야 쿨러 성능 저하로 봅니다. 값 하나의 임계치 대신 여러 값의 조합과 추세, 지속 시간으로 판정하는 방식을 복합 이벤트 처리(CEP, Complex Event Processing)라고 합니다. 그래프에서 유온이 55 ℃를 넘은 11시 13분 4초와 경보가 난 11시 13분 8초를 차례로 짚어 봅니다. 경보가 성립하려면 조건이 이어져야 하는 시간을 유지 시간이라고 하며, 값이 잠깐 튀었다가 돌아오면 경보는 울리지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경보가 울리는 조건과 해제되는 조건은 다릅니다. 유온이 55 ℃를 넘는 복합 조건으로 발생하고, 52 ℃ 아래로 내려가 상승하지 않는 상태가 이어져야 해제됩니다. 이렇게 두 기준을 나누는 것이 히스테리시스입니다. 품질이 나쁘거나 값이 빠졌다고 설비가 회복된 것은 아니므로, 데이터 누락만으로 경보를 해제하지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조건이 성립하면 감지 서비스가 경보를 냅니다. 경보는 계측값 자체가 아니라 어떤 일이 일어났는지를 남긴 기록입니다. 식별자는 경보 한 건을 가리키고, 패턴은 쿨러 성능 저하 조건이 성립했음을 나타냅니다. 계측값은 계속 바뀌므로 경보가 난 순간의 유온 55.71 ℃와 냉각 효율 46.2 %를 근거로 붙여 둡니다.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이벤트 로그의 데이터를 읽는 두 번째 계층은 Layer 5, 시계열 저장소입니다. 이상은 흐르는 데이터에서 감지하지만, 과거 값을 시각으로 찾아보려면 따로 저장해 두어야 합니다. 계측값 하나가 시각, 설비, 태그 이름, 값으로 이루어진 한 행에 들어갑니다. 가운데 행의 55.71이 경보가 난 순간의 유온입니다.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데이터를 사람에게 보여 주는 계층은 Layer 6, 관제입니다. 화면은 두 가지입니다. 운전 화면은 OT에서 브로커를 직접 구독해 현재 값을 보여 주고 조작을 받으며, IT 쪽 서버가 멈춰도 계속 동작합니다. 분석 화면은 IT에서 시계열 저장소를 조회해 이력과 추세를 보여 주며, 설비를 조작하지는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유온을 보더라도 세 곳의 반응 기준과 역할은 다릅니다. 감지 서비스는 유온 55 ℃ 초과, 냉각 효율 저하, 유온 상승이 정해진 시간 동안 이어지면 경보를 냅니다. 운전 화면은 60 ℃를 기준으로 알람을 표시하고, PLC는 유온이 65 ℃를 넘으면 인터록으로 설비를 세웁니다. 경보와 알람은 상황을 알리고, 인터록은 보호 정지를 실행합니다. 인터록은 사람이 리셋해야 풀리므로, 그 전에 울리는 경보가 조치할 시간을 벌어 줍니다.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7은 판단의 근거가 되는 관계와 기준을 보관하고, Layer 8의 에이전트는 그것을 실제 값과 대조해 진단하고 추천합니다. 에이전트에게는 설비 명령 권한이 없습니다. Layer 9에서 담당자가 추천과 근거를 보고 판단하는 구조를 HITL이라고 합니다. 프로세스 엔진은 승인된 조치만 실행하며 응답과 재관측 결과를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 엔진이 만든 명령은 이벤트 로그의 action.cmd에 기록됩니다. 명령 관문이 승인 기록과 명령 내용을 검사하고, 통과한 명령만 브로커와 엣지 게이트웨이를 거쳐 PLC에 닿습니다. PLC는 설비 상태와 설정값 범위를 다시 검사합니다. 명령서가 정상이더라도 설비가 받을 수 없는 상태라면 거부하는 여러 겹의 보호가 심층 방어입니다.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명령 관문은 형식과 허용 조치뿐 아니라 만료, 중복, 승인 기록, 운전 모드, 빈도를 검사합니다. 승인자 이름만 적혀 있다고 통과하는 것이 아니라 승인 장부의 명령 내용과도 대조합니다. PLC는 모드와 출처부터 다시 확인하고, 팬 속도 0에서 100 %, 부하 60에서 100 %의 범위와 인터록을 검사합니다. 두 검사를 모두 통과해야 설정값이 바뀝니다.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승인된 명령은 11시 14분 57초에 나갔고, 응답은 58초에 돌아왔으며 이 단계의 실측 소요는 865밀리초였습니다. cmdId는 명령을 식별하고 PLC가 그 식별자로 중복을 검사합니다. ACK의 DONE과 PASS는 명령이 실행되고 인터록이 정상이라는 뜻입니다. 실제 회복은 유온을 다시 읽어 55 ℃ 아래인지와 경보가 해제되었는지를 함께 확인해 판정합니다.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데이터가 어디서 왔고 어떻게 바뀌어 판단에 쓰였는지 남긴 내력이 데이터 리니지입니다. 센서가 잰 유온 계측값이 원천 데이터이고, 감지 서비스가 그 변화로 계산한 기울기가 가공 데이터입니다. 화면의 가공 레코드에는 유온 값과 계산한 기울기가 함께 실려 있습니다. 기울기가 0보다 크다는 것은 세 번째 경보 조건이며, 조건이 성립해 기록된 경보를 바탕으로 판단 결과가 나왔습니다. 판단이 어떤 계측값에서 비롯되었는지 거꾸로 되짚을 수 있는 성질을 추적성(Traceability)이라고 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 한 건을 처리하는 사건에는 판단과 명령, 작업지시가 연결됩니다. 명령은 팬 속도를 바꾸고, 작업지시는 남아 있는 핀 오염을 제거하는 작업을 남깁니다. 작업지시가 참조하는 판단 기록에서 출발해 원인과 증거, 경보 당시의 계측값을 거슬러 확인할 수 있습니다. 서로 다른 기록이므로 식별자도 구분합니다.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살펴본 구조를 모으면, Layer 1~3은 설비와 제어기, 엣지 게이트웨이와 브로커, 이벤트 로그입니다. Layer 4~6은 스트림 처리, 시계열 저장소, 관제 화면입니다. Layer 7~9는 온톨로지, AI 에이전트, 프로세스와 승인·앱입니다. 계층은 하는 일에 따른 구분이고, 오른쪽 세 칸은 각 요소가 놓인 망에 따른 보안 영역입니다. 파란 점은 각 계층이 놓인 영역을 나타내며, 같은 계층 안에서도 영역은 다를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위쪽 실선은 PLC에서 나온 태그 값이 엣지 게이트웨이와 브로커, 수집 서비스를 거쳐 IT로 올라가는 경로입니다. 이벤트 로그의 기록을 감지 서비스가 읽어 이상을 판단합니다. 아래쪽 점선은 반대로 프로세스 엔진에서 출발한 승인된 자동 명령이 이벤트 로그, 명령 관문, 브로커, 엣지를 거쳐 PLC에 닿는 경로입니다. 데이터 수집과 자동 명령의 경로를 나누고 명령 관문과 PLC에서 검사해 설비를 보호합니다.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실습에서는 준비된 환경에서 HYD 서비스를 실행하고 상태를 확인합니다. VS Code에서 GitHub Copilot에 말로 요청하고 AI가 쓴 코드를 실행하며 고쳐 가는 방식을 바이브 코딩이라고 합니다. Docker Compose는 파일에 정의된 여러 서비스를 함께 실행하며, 모든 프로그램을 대신 실행하는 것은 아닙니다. 컨테이너 상태와 주요 서비스 접속을 확인하고 포털이 열리면 목표 상태에 도달한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실습에서는 쿨러 열화 한 건을 처음부터 끝까지 처리합니다. 경보가 남긴 값에서 출발해 원인 진단과 추천의 근거가 무엇인지 확인하고, 담당자의 승인이 명령으로 이어지는 경계를 봅니다. 명령이 실행되었다는 ACK 뒤에도 계측값을 다시 읽어 완화 결과를 확인합니다. 유온이 내려가도 핀 오염은 남아 있어 세척 작업지시가 별도로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저장된 값으로 쿨러 사건을 살펴보면, 위쪽은 유온이고 아래쪽은 냉각 효율입니다. 경보는 11시 13분 8초에 났지만 조치는 108초 뒤에 승인되었고, 그동안 유온은 61.8 ℃까지 올랐습니다. 경보만으로는 원인을 알 수 없어, 원인을 가리고 조치안을 비교하는 과정이 필요했습니다. 체온계의 고열 표시처럼 이상은 바로 알 수 있어도 원인은 따로 확인해야 합니다. 다만 이 사건에서는 응급 조치를 고를 때도 원인 판단이 먼저 필요했습니다.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사건의 판단을 네 질문으로 나누어, 다섯 문장으로 살펴보겠습니다. 46.2만으로는 무엇을 잰 값인지, 단위와 기준이 무엇인지 알 수 없어 어느 질문에도 답하지 못합니다. 대상과 단위가 붙으면 「지금 얼마인가」에, 기준이 붙으면 「벗어났는가」에 답할 수 있습니다. 태그 이름과 경보 조건이 이 역할을 합니다. 아래 두 줄처럼 정보가 원인으로, 원인이 조치로 이어진 지식이 있어야 「왜 벗어났는가」와 「무엇을 할 것인가」에 답할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핀 오염은 먼지나 유막이 핀을 막는 것이고, 팬 구동 불량은 팬이 제 속도를 내지 못하는 것이며, 주변 온도 상승은 설비 주변 공기가 더운 상태입니다. 유온 상승만으로는 세 원인을 가릴 수 없어, 확인할 값과 기준인 증거를 대조합니다. 냉각 효율의 30초 평균 46.2 %와 팬 진동의 2분 평균 0.575 mm/s는 핀 오염 기준에 맞습니다. 팬 진동과 캐비닛 온도의 평균은 나머지 두 원인의 기준에 못 미칩니다.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가려야 하는 이유는 원인에 따라 조치가 달라지기 때문입니다. 핀이 막혔으면 세척하고, 팬에 문제가 있으면 벨트를 점검하며, 주변 공기가 더우면 환기를 보강합니다. 원인에 맞지 않는 조치로는 근본 문제를 해결할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조치에는 두 가지가 있습니다. 이 사건에서 승인된 팬 최대 운전은 유온을 우선 낮추는 완화 조치입니다. 팬 속도를 올려도 핀은 여전히 막혀 있어 냉각 효율은 기준 아래에 머물렀습니다. 원인을 없애는 근본 조치는 핀 세척이며, 작업지시로 따로 등록되었습니다. 매뉴얼은 팬 100 % 연속 운전을 24시간 안으로 제한하고, 핀 세척은 설비보전팀장이 승인하도록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가리지 않은 조치는 해가 될 수도 있습니다. 이 사건에서는 팬 최대 운전이 맞았지만, 팬 베어링이 닳은 설비에서 같은 조치를 하면 진동이 인터록 기준을 넘어 설비가 멈춥니다. 유온이 오르면 팬 속도를 올린다는 한 줄의 규칙으로는 부족합니다.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판단에 쓰인 정보가 어디에 있었는지 보겠습니다. 센서 값, 운전 상태, 매뉴얼, 생산 일정은 서로 다른 곳에 있습니다. 센서 값과 운전 상태는 운전 중 바뀌며, 생산 계획과 실적을 관리하는 MES에는 긴급 오더의 납기까지 약 6시간이 남았다고 기록되어 있었습니다. 그림의 점선은 이 정보들을 지식으로 연결하기 전의 상태를 나타냅니다.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왼쪽의 매뉴얼 문장에는 원인 후보와 확인할 값, 기준이 모두 들어 있지만 사람이 읽고 해석해야 합니다. 이를 컴퓨터가 따라가게 하려면 오른쪽의 세 연결을 명시해야 합니다. 경보가 매뉴얼의 어느 대목에 해당하는지, 그 기준을 어느 태그 값과 비교할지, 확인한 원인에 어떤 조치가 맞는지를 잇는 것입니다. 정보가 있는 곳을 찾는 데서 나아가, 판단에 필요한 관계를 기록해야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숙련자는 증상을 확인하고 고장 유형을 짐작한 뒤 원인 후보를 떠올립니다. 후보마다 볼 센서를 알고 실제 값을 기준과 대조한 다음 생산 일정까지 고려해 조치를 고릅니다. 이 연결이 머릿속에만 있으면 사람마다 후보와 순서가 달라지고 숙련자가 없을 때 판단이 늦어집니다. 쿨러 사건에서도 경보 뒤 2분이 되기 전에 유온이 61.8 ℃까지 올랐으므로, 컴퓨터가 같은 경로를 따라갈 수 있게 연결을 기록할 필요가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 표에서는 원인과 확인할 값이 여럿이라 같은 고장 유형이 네 행에 반복됩니다. 매뉴얼의 문장은 사람이 읽고 해석해야 하며, 판별 기준을 코드에 직접 넣으면 기준이 바뀔 때 코드도 고쳐야 합니다. 표를 컴퓨터가 읽을 수 없거나 코드에 근거를 남길 수 없다는 뜻은 아닙니다. 대상과 관계, 판별 기준을 별도 지식으로 두면 사람이 검토하고 컴퓨터가 따라가며 프로그램과 독립적으로 고칠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AI에게 그대로 물으면 그럴듯한 답이 나옵니다. 하지만 이 설비의 매뉴얼과 현재 값을 주지 않으면 답의 근거를 확인할 수 없습니다. 적어 둔 지식과 값을 조회하게 하고 그 과정을 기록하면 무엇을 근거로 판단했는지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온톨로지는 머릿속 지식을 정해진 형식으로 정의해 사람과 컴퓨터가 같은 뜻으로 쓰게 하는 모델입니다. 대상의 종류를 나누고, 유온의 단위와 정상값 같은 속성을 적습니다. 같은 고장 유형에서 조치로 이어져도 MITIGATED_BY는 완화, REMEDIED_BY는 근본 조치라는 뜻을 구별합니다. 제약은 CAUSES의 양 끝을 원인과 고장 유형으로 정하므로, 「유온 상승 — CAUSES → 팬 최대 운전」처럼 증상에서 조치로 이은 연결은 어긋납니다. 정의를 적었다고 자동으로 검사가 실행되는 것은 아니며 검증이 그 기준을 적용합니다.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뜻으로 쓴다는 것이 어떤 모습인지 보겠습니다. 같은 증상을 두고 어떤 사람은 온도 상승이라고 하고, 어떤 사람은 과열이라고 합니다. HYD의 온톨로지는 이 말들을 유온 상승이라는 하나의 대상에 묶어 두고, 구성 요소인 오일 쿨러도 쿨러나 열교환기라는 말과 묶어 둡니다. 그래서 누가 어떤 말로 부르든 같은 대상을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온톨로지는 관계 그림이나 그래프 DB와 자주 혼동됩니다. 관계 그림은 사람이 보는 표현이고, 그래프 DB는 저장 도구입니다. 지식 그래프는 온톨로지에 맞춰 실제 대상과 관계를 채운 것이며, HYD에서는 그래프 DB에 저장합니다. 여기에는 값을 읽는 방법을 두고, 계속 바뀌는 센서 값은 시계열 저장소에서 읽습니다. 온톨로지는 원인 후보와 근거를 찾는 바탕이며, 조치는 사람이 승인합니다.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왼쪽의 핀 오염과 오른쪽의 냉각 성능 상실은 각각 대상 하나를 나타내는 노드입니다. 관계 CAUSES는 핀 오염에서 냉각 성능 상실로 향하며 「일으킨다」로 읽습니다. 같은 방식으로 INDICATES는 「유온 상승은 냉각 성능 상실을 가리킨다」, MITIGATED_BY는 「냉각 성능 상실은 팬 최대 운전으로 완화된다」로 읽습니다. 문장이 자연스러운지 확인한 뒤 실제 사실과 양 끝 대상의 종류도 맞는지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설비·구성 요소·센서를 진단 지식에 연결하면 같은 지식을 다른 설비의 값에도 적용할 수 있습니다. HYD-01의 구성 요소인 오일 쿨러는 유온 센서 TS1로 계측되며, 이 센서에서 유온 상승이라는 증상이 관측됩니다. 증상인 유온 상승과 원인인 쿨러 핀 오염은 모두 쿨러 냉각 성능 상실로 이어지고, 이 고장 유형은 오일 쿨러에서 발생하며 팬 최대 운전으로 완화됩니다. 조치 방법은 단계(Step)를 거쳐 매뉴얼 HM-8.5를 근거로 가리키지만, 지도에서는 그 단계를 줄여 화살표 하나로 나타냈습니다. 고장 유형에 연결된 완화 조치 후보는 원인 확인 전에도 찾을 수 있지만, 실제 추천은 원인과 증거를 확인한 뒤에 합니다.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화살표의 방향은 관계 이름의 뜻이 정합니다. CAUSES는 원인이 고장 유형을 일으킨다는 뜻이므로 원인에서 고장 유형으로 저장됩니다. 경보에서 출발하면 고장 유형에 먼저 도착하므로, 컴퓨터는 들어오는 CAUSES를 거슬러 원인 후보를 찾습니다. 반대 방향의 관계를 새로 만드는 것이 아니라 저장된 관계를 거슬러 따라가는 것입니다. 잘못된 것은 거슬러 조회하는 일이 아니라 관계 이름과 저장 방향이 어긋난 경우입니다.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컴퓨터가 이 그래프로 원인과 조치를 찾는 과정을 두 걸음으로 나누어 보겠습니다. 출발점인 경보에는 쿨러 성능 저하라는 이상 패턴의 이름 COOLER_DEGRADATION이 실려 옵니다. 이상 패턴은 DETECTS로 유온 상승이라는 증상을 감지하고, 증상은 INDICATES로 쿨러 냉각 성능 상실이라는 고장 유형을 가리킵니다. 앞의 지도에서 생략한 이상 패턴이 경보와 지식 그래프를 잇는 입구입니다.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고장 유형에서 들어오는 CAUSES를 거슬러 원인 후보 셋을 모읍니다. 원인마다 EVIDENCED_BY로 연결된 증거에 어떤 값을 어느 기준과 비교할지 적혀 있어, 해당 값을 시계열 저장소에서 읽어 대조합니다. 평균값인 냉각 효율 46.2 %와 팬 진동 0.575 mm/s가 기준에 맞아 쿨러 핀 오염으로 판단하고, 나머지 둘은 배제합니다. 조치는 고장 유형에서 MITIGATED_BY를 따라 팬 최대 운전을 찾습니다. 판별 기준은 지식 그래프에 두고 바뀌는 값은 저장소에서 읽으며, 이렇게 숙련자의 머릿속 연결을 컴퓨터가 따라갑니다. 모든 후보에 대해 통과한 증거가 없거나 조회가 불완전하면 조치를 보류합니다. 관계가 있다고 원인이 확정되는 것은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그래프에서 찾은 것은 원인 이름만이 아니라 확인할 태그와 집계 구간, 판별 기준입니다. 냉각 효율과 팬 진동의 평균을 대조해 핀 오염을 판단하고, 팬 진동과 캐비닛 온도로 다른 두 후보를 배제합니다. 조치 후보는 고장 유형에 연결된 팬 최대 운전이며, 단계와 문서 참조를 거쳐 매뉴얼 HM-8.5에 닿습니다. 고장 유형에 이어진 완화 조치 셋과 근본 조치 하나를 비교해 다른 대안의 순위도 함께 남깁니다. 이 관계와 실제 값을 함께 남겨야 추천의 근거를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온톨로지는 공통 기준을 정의하고, 에이전트는 조회한 증거와 값을 대조해 조치를 추천합니다. 담당자의 승인 시점에는 시스템이 현재 값으로 실행 가능성을 다시 확인합니다. 거절은 추천안의 명령을 만들지 않고 거절 기록을 남기는 것이며, 설비를 정지시키는 동작은 아닙니다. 승인된 명령의 실행 뒤에도 재관측으로 회복을 확인하며, 완화하지 못하면 사건을 사람에게 다시 넘깁니다. 온톨로지는 이 판단의 바탕이며 스스로 조치를 결정하지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실습에서는 쿨러 사례의 대상을 노드로 놓고 관계의 이름과 방향을 직접 정합니다. 완성물은 대상을 나열한 목록이 아니라 대상 사이의 뜻이 보이는 그림 한 장입니다. 화살표마다 문장으로 읽어 사실과 맞는지 확인합니다. 관계 이름을 스스로 정할 수 있지만 이름과 방향의 뜻은 일치해야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본문에서 풀어 쓴 약어를 모았습니다. 정식 이름과 뜻을 한 줄씩 다시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경보가 알려 주는 사실과 원인 판단을 구분하는 문항입니다. 앞의 사건과 다른 값을 넣은 가정이며, VS1은 팬 진동이고 TS4는 캐비닛 온도입니다. 화면의 값을 판별 기준과 대조해 보세요.</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화살표 방향을 외웠는지가 아니라, 관계를 문장으로 읽었을 때 뜻이 맞는지 확인하는 문항입니다. 보기를 하나씩 문장으로 읽어 보세요.</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무엇을 할 수 있는지 묻는 문항입니다. 시연에서 에이전트가 한 일과 담당자가 승인한 뒤에 일어난 일을 떠올려 보세요.</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문항의 판단 기준입니다. 첫 문항은 경보와 원인을, 둘째 문항은 이름과 방향을, 셋째 문항은 추천과 실행을 구분하는지 봅니다. 둘째 문항의 2번에서 INDICATES는 증상에서 고장 유형으로 이어지는 관계이므로, 원인을 주어로 두면 양 끝의 종류가 맞지 않습니다.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5.pn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8.png"/><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6.png"/><Relationship Id="rId4" Type="http://schemas.openxmlformats.org/officeDocument/2006/relationships/image" Target="../media/image30.png"/><Relationship Id="rId5"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4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46.png"/><Relationship Id="rId4" Type="http://schemas.openxmlformats.org/officeDocument/2006/relationships/image" Target="../media/image4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49.png"/><Relationship Id="rId4" Type="http://schemas.openxmlformats.org/officeDocument/2006/relationships/image" Target="../media/image5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5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52.png"/><Relationship Id="rId4" Type="http://schemas.openxmlformats.org/officeDocument/2006/relationships/image" Target="../media/image5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19.png"/><Relationship Id="rId4" Type="http://schemas.openxmlformats.org/officeDocument/2006/relationships/image" Target="../media/image47.png"/><Relationship Id="rId5" Type="http://schemas.openxmlformats.org/officeDocument/2006/relationships/image" Target="../media/image21.png"/><Relationship Id="rId6" Type="http://schemas.openxmlformats.org/officeDocument/2006/relationships/image" Target="../media/image4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5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5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56.png"/><Relationship Id="rId4" Type="http://schemas.openxmlformats.org/officeDocument/2006/relationships/image" Target="../media/image5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5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5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eaLnBrk="0">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eaLnBrk="0">
              <a:lnSpc>
                <a:spcPct val="110000"/>
              </a:lnSpc>
            </a:pPr>
            <a:r>
              <a:rPr sz="1800" b="1">
                <a:solidFill>
                  <a:srgbClr val="8FCFF8"/>
                </a:solidFill>
                <a:latin typeface="맑은 고딕"/>
                <a:ea typeface="맑은 고딕"/>
                <a:cs typeface="맑은 고딕"/>
              </a:rPr>
              <a:t>설비 데이터와 지식 모델</a:t>
            </a:r>
          </a:p>
        </p:txBody>
      </p:sp>
      <p:sp>
        <p:nvSpPr>
          <p:cNvPr id="5" name="TextBox 4"/>
          <p:cNvSpPr txBox="1"/>
          <p:nvPr/>
        </p:nvSpPr>
        <p:spPr>
          <a:xfrm>
            <a:off x="457200" y="2395728"/>
            <a:ext cx="8412480" cy="1920240"/>
          </a:xfrm>
          <a:prstGeom prst="rect">
            <a:avLst/>
          </a:prstGeom>
          <a:noFill/>
        </p:spPr>
        <p:txBody>
          <a:bodyPr wrap="square" anchor="t"/>
          <a:lstStyle/>
          <a:p>
            <a:pPr algn="l" eaLnBrk="0">
              <a:lnSpc>
                <a:spcPct val="110000"/>
              </a:lnSpc>
            </a:pPr>
            <a:r>
              <a:rPr sz="4000" b="1">
                <a:solidFill>
                  <a:srgbClr val="FFFFFF"/>
                </a:solidFill>
                <a:latin typeface="맑은 고딕"/>
                <a:ea typeface="맑은 고딕"/>
                <a:cs typeface="맑은 고딕"/>
              </a:rPr>
              <a:t>설비 데이터에서 판단과 조치까지,</a:t>
            </a:r>
          </a:p>
          <a:p>
            <a:pPr algn="l" eaLnBrk="0">
              <a:lnSpc>
                <a:spcPct val="110000"/>
              </a:lnSpc>
            </a:pPr>
            <a:r>
              <a:rPr sz="4000" b="1">
                <a:solidFill>
                  <a:srgbClr val="FFFFFF"/>
                </a:solidFill>
                <a:latin typeface="맑은 고딕"/>
                <a:ea typeface="맑은 고딕"/>
                <a:cs typeface="맑은 고딕"/>
              </a:rPr>
              <a:t>그리고 온톨로지가 필요한 이유</a:t>
            </a:r>
          </a:p>
        </p:txBody>
      </p:sp>
      <p:sp>
        <p:nvSpPr>
          <p:cNvPr id="6" name="TextBox 5"/>
          <p:cNvSpPr txBox="1"/>
          <p:nvPr/>
        </p:nvSpPr>
        <p:spPr>
          <a:xfrm>
            <a:off x="457200" y="4407408"/>
            <a:ext cx="8412480" cy="731520"/>
          </a:xfrm>
          <a:prstGeom prst="rect">
            <a:avLst/>
          </a:prstGeom>
          <a:noFill/>
        </p:spPr>
        <p:txBody>
          <a:bodyPr wrap="square" anchor="t"/>
          <a:lstStyle/>
          <a:p>
            <a:pPr algn="l" eaLnBrk="0">
              <a:lnSpc>
                <a:spcPct val="110000"/>
              </a:lnSpc>
            </a:pPr>
            <a:r>
              <a:rPr sz="1900" b="0">
                <a:solidFill>
                  <a:srgbClr val="C6D0DE"/>
                </a:solidFill>
                <a:latin typeface="맑은 고딕"/>
                <a:ea typeface="맑은 고딕"/>
                <a:cs typeface="맑은 고딕"/>
              </a:rPr>
              <a:t>HYD 시스템을 직접 실행하며 설비 이상 한 건이 처리되는 과정을 따라간다</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temperature-plus" descr="temperature-plus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topology-star-3" descr="topology-star-3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user-check" descr="user-check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배움을 지식 자산으로 남기고, HYD의 구조와 처리 흐름을 따라 온톨로지가 필요한 이유를 이해한다.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018855"/>
            <a:ext cx="2567863" cy="3945001"/>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220023"/>
            <a:ext cx="731520" cy="731520"/>
          </a:xfrm>
          <a:prstGeom prst="ellipse">
            <a:avLst/>
          </a:prstGeom>
          <a:solidFill>
            <a:srgbClr val="E7F3FD"/>
          </a:solidFill>
          <a:ln>
            <a:noFill/>
          </a:ln>
        </p:spPr>
        <p:txBody>
          <a:bodyPr rtlCol="0" anchor="ctr"/>
          <a:lstStyle/>
          <a:p>
            <a:pPr algn="ctr"/>
          </a:p>
        </p:txBody>
      </p:sp>
      <p:pic>
        <p:nvPicPr>
          <p:cNvPr id="8" name="아이콘:notebook" descr="notebook_13294B_1.6.png"/>
          <p:cNvPicPr>
            <a:picLocks noChangeAspect="1"/>
          </p:cNvPicPr>
          <p:nvPr/>
        </p:nvPicPr>
        <p:blipFill>
          <a:blip r:embed="rId3"/>
          <a:stretch>
            <a:fillRect/>
          </a:stretch>
        </p:blipFill>
        <p:spPr>
          <a:xfrm>
            <a:off x="930859" y="2373642"/>
            <a:ext cx="424281" cy="424281"/>
          </a:xfrm>
          <a:prstGeom prst="rect">
            <a:avLst/>
          </a:prstGeom>
        </p:spPr>
      </p:pic>
      <p:sp>
        <p:nvSpPr>
          <p:cNvPr id="9" name="TextBox 8"/>
          <p:cNvSpPr txBox="1"/>
          <p:nvPr/>
        </p:nvSpPr>
        <p:spPr>
          <a:xfrm>
            <a:off x="713232" y="3042983"/>
            <a:ext cx="2238679" cy="2417953"/>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지식 자산화</a:t>
            </a:r>
          </a:p>
          <a:p>
            <a:pPr algn="l" eaLnBrk="0" marL="154305" indent="-154305">
              <a:lnSpc>
                <a:spcPct val="110000"/>
              </a:lnSpc>
              <a:spcAft>
                <a:spcPts val="400"/>
              </a:spcAft>
            </a:pPr>
            <a:r>
              <a:rPr sz="1350" b="0">
                <a:solidFill>
                  <a:srgbClr val="1F2A3A"/>
                </a:solidFill>
                <a:latin typeface="맑은 고딕"/>
                <a:ea typeface="맑은 고딕"/>
                <a:cs typeface="맑은 고딕"/>
              </a:rPr>
              <a:t>• 배운 내용을 자신의 문장으로 기록하고 다시 찾아 쓰는 방법을 익힌다</a:t>
            </a:r>
          </a:p>
          <a:p>
            <a:pPr algn="l" eaLnBrk="0" marL="154305" indent="-154305">
              <a:lnSpc>
                <a:spcPct val="110000"/>
              </a:lnSpc>
              <a:spcAft>
                <a:spcPts val="400"/>
              </a:spcAft>
            </a:pPr>
            <a:r>
              <a:rPr sz="1350" b="0">
                <a:solidFill>
                  <a:srgbClr val="1F2A3A"/>
                </a:solidFill>
                <a:latin typeface="맑은 고딕"/>
                <a:ea typeface="맑은 고딕"/>
                <a:cs typeface="맑은 고딕"/>
              </a:rPr>
              <a:t>• 개인 학습노트를 만들어 앞으로의 배움을 쌓아 간다</a:t>
            </a:r>
          </a:p>
        </p:txBody>
      </p:sp>
      <p:sp>
        <p:nvSpPr>
          <p:cNvPr id="10" name="Rounded Rectangle 9"/>
          <p:cNvSpPr/>
          <p:nvPr/>
        </p:nvSpPr>
        <p:spPr>
          <a:xfrm>
            <a:off x="777240" y="5534088"/>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534088"/>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학습 기록</a:t>
            </a:r>
          </a:p>
        </p:txBody>
      </p:sp>
      <p:sp>
        <p:nvSpPr>
          <p:cNvPr id="12" name="Rounded Rectangle 11"/>
          <p:cNvSpPr/>
          <p:nvPr/>
        </p:nvSpPr>
        <p:spPr>
          <a:xfrm>
            <a:off x="3390823" y="2018855"/>
            <a:ext cx="2567863" cy="3945001"/>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220023"/>
            <a:ext cx="731520" cy="731520"/>
          </a:xfrm>
          <a:prstGeom prst="ellipse">
            <a:avLst/>
          </a:prstGeom>
          <a:solidFill>
            <a:srgbClr val="E7F3FD"/>
          </a:solidFill>
          <a:ln>
            <a:noFill/>
          </a:ln>
        </p:spPr>
        <p:txBody>
          <a:bodyPr rtlCol="0" anchor="ctr"/>
          <a:lstStyle/>
          <a:p>
            <a:pPr algn="ctr"/>
          </a:p>
        </p:txBody>
      </p:sp>
      <p:pic>
        <p:nvPicPr>
          <p:cNvPr id="14" name="아이콘:sitemap" descr="sitemap_13294B_1.6.png"/>
          <p:cNvPicPr>
            <a:picLocks noChangeAspect="1"/>
          </p:cNvPicPr>
          <p:nvPr/>
        </p:nvPicPr>
        <p:blipFill>
          <a:blip r:embed="rId4"/>
          <a:stretch>
            <a:fillRect/>
          </a:stretch>
        </p:blipFill>
        <p:spPr>
          <a:xfrm>
            <a:off x="3773043" y="2373642"/>
            <a:ext cx="424281" cy="424281"/>
          </a:xfrm>
          <a:prstGeom prst="rect">
            <a:avLst/>
          </a:prstGeom>
        </p:spPr>
      </p:pic>
      <p:sp>
        <p:nvSpPr>
          <p:cNvPr id="15" name="TextBox 14"/>
          <p:cNvSpPr txBox="1"/>
          <p:nvPr/>
        </p:nvSpPr>
        <p:spPr>
          <a:xfrm>
            <a:off x="3555415" y="3042983"/>
            <a:ext cx="2238679" cy="2417953"/>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시스템 아키텍처와 계층</a:t>
            </a:r>
          </a:p>
          <a:p>
            <a:pPr algn="l" eaLnBrk="0" marL="154305" indent="-154305">
              <a:lnSpc>
                <a:spcPct val="110000"/>
              </a:lnSpc>
              <a:spcAft>
                <a:spcPts val="400"/>
              </a:spcAft>
            </a:pPr>
            <a:r>
              <a:rPr sz="1350" b="0">
                <a:solidFill>
                  <a:srgbClr val="1F2A3A"/>
                </a:solidFill>
                <a:latin typeface="맑은 고딕"/>
                <a:ea typeface="맑은 고딕"/>
                <a:cs typeface="맑은 고딕"/>
              </a:rPr>
              <a:t>• 제조 설비에서 AI의 판단과 조치까지 이어지는 HYD의 구조를 계층별로 이해한다</a:t>
            </a:r>
          </a:p>
          <a:p>
            <a:pPr algn="l" eaLnBrk="0" marL="154305" indent="-154305">
              <a:lnSpc>
                <a:spcPct val="110000"/>
              </a:lnSpc>
              <a:spcAft>
                <a:spcPts val="400"/>
              </a:spcAft>
            </a:pPr>
            <a:r>
              <a:rPr sz="1350" b="0">
                <a:solidFill>
                  <a:srgbClr val="1F2A3A"/>
                </a:solidFill>
                <a:latin typeface="맑은 고딕"/>
                <a:ea typeface="맑은 고딕"/>
                <a:cs typeface="맑은 고딕"/>
              </a:rPr>
              <a:t>• 데이터가 올라가는 길과 명령이 내려가는 길을 따라간다</a:t>
            </a:r>
          </a:p>
        </p:txBody>
      </p:sp>
      <p:sp>
        <p:nvSpPr>
          <p:cNvPr id="16" name="Rounded Rectangle 15"/>
          <p:cNvSpPr/>
          <p:nvPr/>
        </p:nvSpPr>
        <p:spPr>
          <a:xfrm>
            <a:off x="3619423" y="5534088"/>
            <a:ext cx="16763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534088"/>
            <a:ext cx="16763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구조와 데이터 흐름</a:t>
            </a:r>
          </a:p>
        </p:txBody>
      </p:sp>
      <p:sp>
        <p:nvSpPr>
          <p:cNvPr id="18" name="Rounded Rectangle 17"/>
          <p:cNvSpPr/>
          <p:nvPr/>
        </p:nvSpPr>
        <p:spPr>
          <a:xfrm>
            <a:off x="6233007" y="2018855"/>
            <a:ext cx="2567863" cy="3945001"/>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220023"/>
            <a:ext cx="731520" cy="731520"/>
          </a:xfrm>
          <a:prstGeom prst="ellipse">
            <a:avLst/>
          </a:prstGeom>
          <a:solidFill>
            <a:srgbClr val="E7F3FD"/>
          </a:solidFill>
          <a:ln>
            <a:noFill/>
          </a:ln>
        </p:spPr>
        <p:txBody>
          <a:bodyPr rtlCol="0" anchor="ctr"/>
          <a:lstStyle/>
          <a:p>
            <a:pPr algn="ctr"/>
          </a:p>
        </p:txBody>
      </p:sp>
      <p:pic>
        <p:nvPicPr>
          <p:cNvPr id="20" name="아이콘:player-play" descr="player-play_13294B_1.6.png"/>
          <p:cNvPicPr>
            <a:picLocks noChangeAspect="1"/>
          </p:cNvPicPr>
          <p:nvPr/>
        </p:nvPicPr>
        <p:blipFill>
          <a:blip r:embed="rId5"/>
          <a:stretch>
            <a:fillRect/>
          </a:stretch>
        </p:blipFill>
        <p:spPr>
          <a:xfrm>
            <a:off x="6615226" y="2373642"/>
            <a:ext cx="424281" cy="424281"/>
          </a:xfrm>
          <a:prstGeom prst="rect">
            <a:avLst/>
          </a:prstGeom>
        </p:spPr>
      </p:pic>
      <p:sp>
        <p:nvSpPr>
          <p:cNvPr id="21" name="TextBox 20"/>
          <p:cNvSpPr txBox="1"/>
          <p:nvPr/>
        </p:nvSpPr>
        <p:spPr>
          <a:xfrm>
            <a:off x="6397599" y="3042983"/>
            <a:ext cx="2238679" cy="2417953"/>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전체 흐름의 실행</a:t>
            </a:r>
          </a:p>
          <a:p>
            <a:pPr algn="l" eaLnBrk="0" marL="154305" indent="-154305">
              <a:lnSpc>
                <a:spcPct val="110000"/>
              </a:lnSpc>
              <a:spcAft>
                <a:spcPts val="400"/>
              </a:spcAft>
            </a:pPr>
            <a:r>
              <a:rPr sz="1350" b="0">
                <a:solidFill>
                  <a:srgbClr val="1F2A3A"/>
                </a:solidFill>
                <a:latin typeface="맑은 고딕"/>
                <a:ea typeface="맑은 고딕"/>
                <a:cs typeface="맑은 고딕"/>
              </a:rPr>
              <a:t>• 실행 환경을 갖추고 설비 이상 한 건을 직접 처리해 본다</a:t>
            </a:r>
          </a:p>
          <a:p>
            <a:pPr algn="l" eaLnBrk="0" marL="154305" indent="-154305">
              <a:lnSpc>
                <a:spcPct val="110000"/>
              </a:lnSpc>
              <a:spcAft>
                <a:spcPts val="400"/>
              </a:spcAft>
            </a:pPr>
            <a:r>
              <a:rPr sz="1350" b="0">
                <a:solidFill>
                  <a:srgbClr val="1F2A3A"/>
                </a:solidFill>
                <a:latin typeface="맑은 고딕"/>
                <a:ea typeface="맑은 고딕"/>
                <a:cs typeface="맑은 고딕"/>
              </a:rPr>
              <a:t>• 경보에서 조치까지의 과정을 포털에서 확인한다</a:t>
            </a:r>
          </a:p>
        </p:txBody>
      </p:sp>
      <p:sp>
        <p:nvSpPr>
          <p:cNvPr id="22" name="Rounded Rectangle 21"/>
          <p:cNvSpPr/>
          <p:nvPr/>
        </p:nvSpPr>
        <p:spPr>
          <a:xfrm>
            <a:off x="6461607" y="5534088"/>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53408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실행과 확인</a:t>
            </a:r>
          </a:p>
        </p:txBody>
      </p:sp>
      <p:sp>
        <p:nvSpPr>
          <p:cNvPr id="24" name="Rounded Rectangle 23"/>
          <p:cNvSpPr/>
          <p:nvPr/>
        </p:nvSpPr>
        <p:spPr>
          <a:xfrm>
            <a:off x="9075191" y="2018855"/>
            <a:ext cx="2567863" cy="3945001"/>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220023"/>
            <a:ext cx="731520" cy="731520"/>
          </a:xfrm>
          <a:prstGeom prst="ellipse">
            <a:avLst/>
          </a:prstGeom>
          <a:solidFill>
            <a:srgbClr val="5CB8F2"/>
          </a:solidFill>
          <a:ln>
            <a:noFill/>
          </a:ln>
        </p:spPr>
        <p:txBody>
          <a:bodyPr rtlCol="0" anchor="ctr"/>
          <a:lstStyle/>
          <a:p>
            <a:pPr algn="ctr"/>
          </a:p>
        </p:txBody>
      </p:sp>
      <p:pic>
        <p:nvPicPr>
          <p:cNvPr id="26" name="아이콘:topology-star-3" descr="topology-star-3_13294B_1.6.png"/>
          <p:cNvPicPr>
            <a:picLocks noChangeAspect="1"/>
          </p:cNvPicPr>
          <p:nvPr/>
        </p:nvPicPr>
        <p:blipFill>
          <a:blip r:embed="rId6"/>
          <a:stretch>
            <a:fillRect/>
          </a:stretch>
        </p:blipFill>
        <p:spPr>
          <a:xfrm>
            <a:off x="9457410" y="2373642"/>
            <a:ext cx="424281" cy="424281"/>
          </a:xfrm>
          <a:prstGeom prst="rect">
            <a:avLst/>
          </a:prstGeom>
        </p:spPr>
      </p:pic>
      <p:sp>
        <p:nvSpPr>
          <p:cNvPr id="27" name="TextBox 26"/>
          <p:cNvSpPr txBox="1"/>
          <p:nvPr/>
        </p:nvSpPr>
        <p:spPr>
          <a:xfrm>
            <a:off x="9239783" y="3042983"/>
            <a:ext cx="2238679" cy="2417953"/>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온톨로지의 필요성</a:t>
            </a:r>
          </a:p>
          <a:p>
            <a:pPr algn="l" eaLnBrk="0" marL="154305" indent="-154305">
              <a:lnSpc>
                <a:spcPct val="110000"/>
              </a:lnSpc>
              <a:spcAft>
                <a:spcPts val="400"/>
              </a:spcAft>
            </a:pPr>
            <a:r>
              <a:rPr sz="1350" b="0">
                <a:solidFill>
                  <a:srgbClr val="1F2A3A"/>
                </a:solidFill>
                <a:latin typeface="맑은 고딕"/>
                <a:ea typeface="맑은 고딕"/>
                <a:cs typeface="맑은 고딕"/>
              </a:rPr>
              <a:t>• 원인을 가리고 조치를 고르는 데 온톨로지가 필요한 이유를 설명한다</a:t>
            </a:r>
          </a:p>
          <a:p>
            <a:pPr algn="l" eaLnBrk="0" marL="154305" indent="-154305">
              <a:lnSpc>
                <a:spcPct val="110000"/>
              </a:lnSpc>
              <a:spcAft>
                <a:spcPts val="400"/>
              </a:spcAft>
            </a:pPr>
            <a:r>
              <a:rPr sz="1350" b="0">
                <a:solidFill>
                  <a:srgbClr val="1F2A3A"/>
                </a:solidFill>
                <a:latin typeface="맑은 고딕"/>
                <a:ea typeface="맑은 고딕"/>
                <a:cs typeface="맑은 고딕"/>
              </a:rPr>
              <a:t>• 증상, 원인, 조치를 이름과 방향이 있는 관계로 그려 본다</a:t>
            </a:r>
          </a:p>
        </p:txBody>
      </p:sp>
      <p:sp>
        <p:nvSpPr>
          <p:cNvPr id="28" name="Rounded Rectangle 27"/>
          <p:cNvSpPr/>
          <p:nvPr/>
        </p:nvSpPr>
        <p:spPr>
          <a:xfrm>
            <a:off x="9303791" y="5534088"/>
            <a:ext cx="9753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534088"/>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온톨로지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96596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96596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학습 내용의 지식 자산화</a:t>
            </a:r>
          </a:p>
        </p:txBody>
      </p:sp>
      <p:sp>
        <p:nvSpPr>
          <p:cNvPr id="6" name="Rounded Rectangle 5"/>
          <p:cNvSpPr/>
          <p:nvPr/>
        </p:nvSpPr>
        <p:spPr>
          <a:xfrm>
            <a:off x="10088575" y="218541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18541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 실습</a:t>
            </a:r>
          </a:p>
        </p:txBody>
      </p:sp>
      <p:sp>
        <p:nvSpPr>
          <p:cNvPr id="8" name="Rectangle 7"/>
          <p:cNvSpPr/>
          <p:nvPr/>
        </p:nvSpPr>
        <p:spPr>
          <a:xfrm>
            <a:off x="548640" y="268833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69748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69748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HYD 시스템 구조와 데이터 흐름</a:t>
            </a:r>
          </a:p>
        </p:txBody>
      </p:sp>
      <p:sp>
        <p:nvSpPr>
          <p:cNvPr id="11" name="Rounded Rectangle 10"/>
          <p:cNvSpPr/>
          <p:nvPr/>
        </p:nvSpPr>
        <p:spPr>
          <a:xfrm>
            <a:off x="10088575" y="291693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9169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 실습</a:t>
            </a:r>
          </a:p>
        </p:txBody>
      </p:sp>
      <p:sp>
        <p:nvSpPr>
          <p:cNvPr id="13" name="Rectangle 12"/>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42900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42900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수치만으로 조치를 정할 수 없는 이유</a:t>
            </a:r>
          </a:p>
        </p:txBody>
      </p:sp>
      <p:sp>
        <p:nvSpPr>
          <p:cNvPr id="16" name="Rounded Rectangle 1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64845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8" name="Rectangle 17"/>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416052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416052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판단 근거의 연결</a:t>
            </a:r>
          </a:p>
        </p:txBody>
      </p:sp>
      <p:sp>
        <p:nvSpPr>
          <p:cNvPr id="21" name="Rounded Rectangle 20"/>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37997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3" name="Rectangle 22"/>
          <p:cNvSpPr/>
          <p:nvPr/>
        </p:nvSpPr>
        <p:spPr>
          <a:xfrm>
            <a:off x="548640" y="488289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89204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89204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온톨로지의 정의와 관계</a:t>
            </a:r>
          </a:p>
        </p:txBody>
      </p:sp>
      <p:sp>
        <p:nvSpPr>
          <p:cNvPr id="26" name="Rounded Rectangle 25"/>
          <p:cNvSpPr/>
          <p:nvPr/>
        </p:nvSpPr>
        <p:spPr>
          <a:xfrm>
            <a:off x="10088575" y="5111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511149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 실습</a:t>
            </a:r>
          </a:p>
        </p:txBody>
      </p:sp>
      <p:sp>
        <p:nvSpPr>
          <p:cNvPr id="28" name="TextBox 27"/>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학습 내용의 지식 자산화</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강의에 앞서, 배운 것을 내 말로 남겨 자산으로 만드는 방법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AI가 정리한 자료와 내 머릿속의 이해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AI가 정리한 문서는 읽기 쉬워졌을 뿐인데도, 그 내용을 내가 안다는 착각을 일으킨다.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a:t>
            </a:r>
          </a:p>
        </p:txBody>
      </p:sp>
      <p:sp>
        <p:nvSpPr>
          <p:cNvPr id="6" name="Rounded Rectangle 5"/>
          <p:cNvSpPr/>
          <p:nvPr/>
        </p:nvSpPr>
        <p:spPr>
          <a:xfrm>
            <a:off x="548640" y="2240343"/>
            <a:ext cx="5181447" cy="350202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41511"/>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595130"/>
            <a:ext cx="424281" cy="424281"/>
          </a:xfrm>
          <a:prstGeom prst="rect">
            <a:avLst/>
          </a:prstGeom>
        </p:spPr>
      </p:pic>
      <p:sp>
        <p:nvSpPr>
          <p:cNvPr id="9" name="TextBox 8"/>
          <p:cNvSpPr txBox="1"/>
          <p:nvPr/>
        </p:nvSpPr>
        <p:spPr>
          <a:xfrm>
            <a:off x="1691640" y="244151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AI에게 넘겨 만든 자료</a:t>
            </a:r>
          </a:p>
        </p:txBody>
      </p:sp>
      <p:sp>
        <p:nvSpPr>
          <p:cNvPr id="10" name="TextBox 9"/>
          <p:cNvSpPr txBox="1"/>
          <p:nvPr/>
        </p:nvSpPr>
        <p:spPr>
          <a:xfrm>
            <a:off x="822959" y="3291903"/>
            <a:ext cx="4632807" cy="1901825"/>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필기와 강의 자료를 넘기면 보기 좋게 정리해 준다</a:t>
            </a:r>
          </a:p>
          <a:p>
            <a:pPr algn="l" eaLnBrk="0" marL="165735" indent="-165735">
              <a:lnSpc>
                <a:spcPct val="110000"/>
              </a:lnSpc>
              <a:spcAft>
                <a:spcPts val="600"/>
              </a:spcAft>
            </a:pPr>
            <a:r>
              <a:rPr sz="1450" b="0">
                <a:solidFill>
                  <a:srgbClr val="1F2A3A"/>
                </a:solidFill>
                <a:latin typeface="맑은 고딕"/>
                <a:ea typeface="맑은 고딕"/>
                <a:cs typeface="맑은 고딕"/>
              </a:rPr>
              <a:t>• 읽기 쉬운 형태로 바뀔 뿐이다</a:t>
            </a:r>
          </a:p>
          <a:p>
            <a:pPr algn="l" eaLnBrk="0" marL="165735" indent="-165735">
              <a:lnSpc>
                <a:spcPct val="110000"/>
              </a:lnSpc>
              <a:spcAft>
                <a:spcPts val="600"/>
              </a:spcAft>
            </a:pPr>
            <a:r>
              <a:rPr sz="1450" b="0">
                <a:solidFill>
                  <a:srgbClr val="1F2A3A"/>
                </a:solidFill>
                <a:latin typeface="맑은 고딕"/>
                <a:ea typeface="맑은 고딕"/>
                <a:cs typeface="맑은 고딕"/>
              </a:rPr>
              <a:t>• 정리된 문서를 보면 그 내용을 안다고 착각한다</a:t>
            </a:r>
          </a:p>
          <a:p>
            <a:pPr algn="l" eaLnBrk="0" marL="165735" indent="-165735">
              <a:lnSpc>
                <a:spcPct val="110000"/>
              </a:lnSpc>
              <a:spcAft>
                <a:spcPts val="600"/>
              </a:spcAft>
            </a:pPr>
            <a:r>
              <a:rPr sz="1450" b="0">
                <a:solidFill>
                  <a:srgbClr val="1F2A3A"/>
                </a:solidFill>
                <a:latin typeface="맑은 고딕"/>
                <a:ea typeface="맑은 고딕"/>
                <a:cs typeface="맑은 고딕"/>
              </a:rPr>
              <a:t>• 자료를 덮으면 설명이 막힌다</a:t>
            </a:r>
          </a:p>
        </p:txBody>
      </p:sp>
      <p:sp>
        <p:nvSpPr>
          <p:cNvPr id="11" name="Rounded Rectangle 10"/>
          <p:cNvSpPr/>
          <p:nvPr/>
        </p:nvSpPr>
        <p:spPr>
          <a:xfrm>
            <a:off x="868680" y="5285168"/>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85168"/>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읽기 좋은 문서</a:t>
            </a:r>
          </a:p>
        </p:txBody>
      </p:sp>
      <p:sp>
        <p:nvSpPr>
          <p:cNvPr id="13" name="Rounded Rectangle 12"/>
          <p:cNvSpPr/>
          <p:nvPr/>
        </p:nvSpPr>
        <p:spPr>
          <a:xfrm>
            <a:off x="6461607" y="2240343"/>
            <a:ext cx="5181447" cy="350202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41511"/>
            <a:ext cx="731520" cy="731520"/>
          </a:xfrm>
          <a:prstGeom prst="ellipse">
            <a:avLst/>
          </a:prstGeom>
          <a:solidFill>
            <a:srgbClr val="5CB8F2"/>
          </a:solidFill>
          <a:ln>
            <a:noFill/>
          </a:ln>
        </p:spPr>
        <p:txBody>
          <a:bodyPr rtlCol="0" anchor="ctr"/>
          <a:lstStyle/>
          <a:p>
            <a:pPr algn="ctr"/>
          </a:p>
        </p:txBody>
      </p:sp>
      <p:pic>
        <p:nvPicPr>
          <p:cNvPr id="15" name="아이콘:pencil" descr="pencil_13294B_1.6.png"/>
          <p:cNvPicPr>
            <a:picLocks noChangeAspect="1"/>
          </p:cNvPicPr>
          <p:nvPr/>
        </p:nvPicPr>
        <p:blipFill>
          <a:blip r:embed="rId4"/>
          <a:stretch>
            <a:fillRect/>
          </a:stretch>
        </p:blipFill>
        <p:spPr>
          <a:xfrm>
            <a:off x="6889546" y="2595130"/>
            <a:ext cx="424281" cy="424281"/>
          </a:xfrm>
          <a:prstGeom prst="rect">
            <a:avLst/>
          </a:prstGeom>
        </p:spPr>
      </p:pic>
      <p:sp>
        <p:nvSpPr>
          <p:cNvPr id="16" name="TextBox 15"/>
          <p:cNvSpPr txBox="1"/>
          <p:nvPr/>
        </p:nvSpPr>
        <p:spPr>
          <a:xfrm>
            <a:off x="7604607" y="244151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백지에 내 말로 쓴 기록</a:t>
            </a:r>
          </a:p>
        </p:txBody>
      </p:sp>
      <p:sp>
        <p:nvSpPr>
          <p:cNvPr id="17" name="TextBox 16"/>
          <p:cNvSpPr txBox="1"/>
          <p:nvPr/>
        </p:nvSpPr>
        <p:spPr>
          <a:xfrm>
            <a:off x="6735927" y="3291903"/>
            <a:ext cx="4632807" cy="1901825"/>
          </a:xfrm>
          <a:prstGeom prst="rect">
            <a:avLst/>
          </a:prstGeom>
          <a:noFill/>
        </p:spPr>
        <p:txBody>
          <a:bodyPr wrap="square" anchor="t"/>
          <a:lstStyle/>
          <a:p>
            <a:pPr algn="l" eaLnBrk="0" marL="177165" indent="-177165">
              <a:lnSpc>
                <a:spcPct val="110000"/>
              </a:lnSpc>
              <a:spcAft>
                <a:spcPts val="600"/>
              </a:spcAft>
            </a:pPr>
            <a:r>
              <a:rPr sz="1550" b="0">
                <a:solidFill>
                  <a:srgbClr val="1F2A3A"/>
                </a:solidFill>
                <a:latin typeface="맑은 고딕"/>
                <a:ea typeface="맑은 고딕"/>
                <a:cs typeface="맑은 고딕"/>
              </a:rPr>
              <a:t>• 자료를 덮고 이해한 만큼 형식에 얽매이지 않고 써 본다</a:t>
            </a:r>
          </a:p>
          <a:p>
            <a:pPr algn="l" eaLnBrk="0" marL="177165" indent="-177165">
              <a:lnSpc>
                <a:spcPct val="110000"/>
              </a:lnSpc>
              <a:spcAft>
                <a:spcPts val="600"/>
              </a:spcAft>
            </a:pPr>
            <a:r>
              <a:rPr sz="1550" b="0">
                <a:solidFill>
                  <a:srgbClr val="1F2A3A"/>
                </a:solidFill>
                <a:latin typeface="맑은 고딕"/>
                <a:ea typeface="맑은 고딕"/>
                <a:cs typeface="맑은 고딕"/>
              </a:rPr>
              <a:t>• 쓰다가 막히는 곳에서 모르는 부분이 드러난다</a:t>
            </a:r>
          </a:p>
          <a:p>
            <a:pPr algn="l" eaLnBrk="0" marL="177165" indent="-177165">
              <a:lnSpc>
                <a:spcPct val="110000"/>
              </a:lnSpc>
              <a:spcAft>
                <a:spcPts val="600"/>
              </a:spcAft>
            </a:pPr>
            <a:r>
              <a:rPr sz="1550" b="0">
                <a:solidFill>
                  <a:srgbClr val="1F2A3A"/>
                </a:solidFill>
                <a:latin typeface="맑은 고딕"/>
                <a:ea typeface="맑은 고딕"/>
                <a:cs typeface="맑은 고딕"/>
              </a:rPr>
              <a:t>• 직접 쓰고 고친 내용은 머릿속에 남는다</a:t>
            </a:r>
          </a:p>
        </p:txBody>
      </p:sp>
      <p:sp>
        <p:nvSpPr>
          <p:cNvPr id="18" name="Rounded Rectangle 17"/>
          <p:cNvSpPr/>
          <p:nvPr/>
        </p:nvSpPr>
        <p:spPr>
          <a:xfrm>
            <a:off x="6781647" y="5285168"/>
            <a:ext cx="141732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85168"/>
            <a:ext cx="14173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내 것이 된 지식</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백지에 넓게 써 보고, 너비부터 고친다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넓게 써서 틀리거나 흐릿한 곳을 먼저 바로잡고, 막힌 곳을 하나씩 골라 깊이 파고든다.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433320"/>
            <a:ext cx="3515258" cy="311607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34488"/>
            <a:ext cx="731520" cy="731520"/>
          </a:xfrm>
          <a:prstGeom prst="ellipse">
            <a:avLst/>
          </a:prstGeom>
          <a:solidFill>
            <a:srgbClr val="E7F3FD"/>
          </a:solidFill>
          <a:ln>
            <a:noFill/>
          </a:ln>
        </p:spPr>
        <p:txBody>
          <a:bodyPr rtlCol="0" anchor="ctr"/>
          <a:lstStyle/>
          <a:p>
            <a:pPr algn="ctr"/>
          </a:p>
        </p:txBody>
      </p:sp>
      <p:pic>
        <p:nvPicPr>
          <p:cNvPr id="8" name="아이콘:x" descr="x_13294B_1.6.png"/>
          <p:cNvPicPr>
            <a:picLocks noChangeAspect="1"/>
          </p:cNvPicPr>
          <p:nvPr/>
        </p:nvPicPr>
        <p:blipFill>
          <a:blip r:embed="rId3"/>
          <a:stretch>
            <a:fillRect/>
          </a:stretch>
        </p:blipFill>
        <p:spPr>
          <a:xfrm>
            <a:off x="930859" y="2788107"/>
            <a:ext cx="424281" cy="424281"/>
          </a:xfrm>
          <a:prstGeom prst="rect">
            <a:avLst/>
          </a:prstGeom>
        </p:spPr>
      </p:pic>
      <p:sp>
        <p:nvSpPr>
          <p:cNvPr id="9" name="TextBox 8"/>
          <p:cNvSpPr txBox="1"/>
          <p:nvPr/>
        </p:nvSpPr>
        <p:spPr>
          <a:xfrm>
            <a:off x="713232" y="3457448"/>
            <a:ext cx="3186074" cy="1589023"/>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틀린 곳</a:t>
            </a:r>
          </a:p>
          <a:p>
            <a:pPr algn="l" eaLnBrk="0" marL="205740" indent="-205740">
              <a:lnSpc>
                <a:spcPct val="110000"/>
              </a:lnSpc>
              <a:spcAft>
                <a:spcPts val="400"/>
              </a:spcAft>
            </a:pPr>
            <a:r>
              <a:rPr sz="1800" b="0">
                <a:solidFill>
                  <a:srgbClr val="1F2A3A"/>
                </a:solidFill>
                <a:latin typeface="맑은 고딕"/>
                <a:ea typeface="맑은 고딕"/>
                <a:cs typeface="맑은 고딕"/>
              </a:rPr>
              <a:t>• 사실과 다르게 쓴 문장</a:t>
            </a:r>
          </a:p>
          <a:p>
            <a:pPr algn="l" eaLnBrk="0" marL="205740" indent="-205740">
              <a:lnSpc>
                <a:spcPct val="110000"/>
              </a:lnSpc>
              <a:spcAft>
                <a:spcPts val="400"/>
              </a:spcAft>
            </a:pPr>
            <a:r>
              <a:rPr sz="1800" b="0">
                <a:solidFill>
                  <a:srgbClr val="1F2A3A"/>
                </a:solidFill>
                <a:latin typeface="맑은 고딕"/>
                <a:ea typeface="맑은 고딕"/>
                <a:cs typeface="맑은 고딕"/>
              </a:rPr>
              <a:t>• 먼저 바로잡는다</a:t>
            </a:r>
          </a:p>
        </p:txBody>
      </p:sp>
      <p:sp>
        <p:nvSpPr>
          <p:cNvPr id="10" name="Rounded Rectangle 9"/>
          <p:cNvSpPr/>
          <p:nvPr/>
        </p:nvSpPr>
        <p:spPr>
          <a:xfrm>
            <a:off x="777240" y="5119624"/>
            <a:ext cx="156972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19624"/>
            <a:ext cx="15697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잘못 알고 있는 것</a:t>
            </a:r>
          </a:p>
        </p:txBody>
      </p:sp>
      <p:sp>
        <p:nvSpPr>
          <p:cNvPr id="12" name="Rounded Rectangle 11"/>
          <p:cNvSpPr/>
          <p:nvPr/>
        </p:nvSpPr>
        <p:spPr>
          <a:xfrm>
            <a:off x="4338218" y="2433320"/>
            <a:ext cx="3515258" cy="311607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34488"/>
            <a:ext cx="731520" cy="731520"/>
          </a:xfrm>
          <a:prstGeom prst="ellipse">
            <a:avLst/>
          </a:prstGeom>
          <a:solidFill>
            <a:srgbClr val="E7F3FD"/>
          </a:solidFill>
          <a:ln>
            <a:noFill/>
          </a:ln>
        </p:spPr>
        <p:txBody>
          <a:bodyPr rtlCol="0" anchor="ctr"/>
          <a:lstStyle/>
          <a:p>
            <a:pPr algn="ctr"/>
          </a:p>
        </p:txBody>
      </p:sp>
      <p:pic>
        <p:nvPicPr>
          <p:cNvPr id="14" name="아이콘:message-dots" descr="message-dots_13294B_1.6.png"/>
          <p:cNvPicPr>
            <a:picLocks noChangeAspect="1"/>
          </p:cNvPicPr>
          <p:nvPr/>
        </p:nvPicPr>
        <p:blipFill>
          <a:blip r:embed="rId4"/>
          <a:stretch>
            <a:fillRect/>
          </a:stretch>
        </p:blipFill>
        <p:spPr>
          <a:xfrm>
            <a:off x="4720437" y="2788107"/>
            <a:ext cx="424281" cy="424281"/>
          </a:xfrm>
          <a:prstGeom prst="rect">
            <a:avLst/>
          </a:prstGeom>
        </p:spPr>
      </p:pic>
      <p:sp>
        <p:nvSpPr>
          <p:cNvPr id="15" name="TextBox 14"/>
          <p:cNvSpPr txBox="1"/>
          <p:nvPr/>
        </p:nvSpPr>
        <p:spPr>
          <a:xfrm>
            <a:off x="4502810" y="3457448"/>
            <a:ext cx="3186074" cy="1589023"/>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횡설수설한 곳</a:t>
            </a:r>
          </a:p>
          <a:p>
            <a:pPr algn="l" eaLnBrk="0" marL="205740" indent="-205740">
              <a:lnSpc>
                <a:spcPct val="110000"/>
              </a:lnSpc>
              <a:spcAft>
                <a:spcPts val="400"/>
              </a:spcAft>
            </a:pPr>
            <a:r>
              <a:rPr sz="1800" b="0">
                <a:solidFill>
                  <a:srgbClr val="1F2A3A"/>
                </a:solidFill>
                <a:latin typeface="맑은 고딕"/>
                <a:ea typeface="맑은 고딕"/>
                <a:cs typeface="맑은 고딕"/>
              </a:rPr>
              <a:t>• 말은 이어지지만 뜻이 분명하지 않은 문장</a:t>
            </a:r>
          </a:p>
          <a:p>
            <a:pPr algn="l" eaLnBrk="0" marL="205740" indent="-205740">
              <a:lnSpc>
                <a:spcPct val="110000"/>
              </a:lnSpc>
              <a:spcAft>
                <a:spcPts val="400"/>
              </a:spcAft>
            </a:pPr>
            <a:r>
              <a:rPr sz="1800" b="0">
                <a:solidFill>
                  <a:srgbClr val="1F2A3A"/>
                </a:solidFill>
                <a:latin typeface="맑은 고딕"/>
                <a:ea typeface="맑은 고딕"/>
                <a:cs typeface="맑은 고딕"/>
              </a:rPr>
              <a:t>• 먼저 바로잡는다</a:t>
            </a:r>
          </a:p>
        </p:txBody>
      </p:sp>
      <p:sp>
        <p:nvSpPr>
          <p:cNvPr id="16" name="Rounded Rectangle 15"/>
          <p:cNvSpPr/>
          <p:nvPr/>
        </p:nvSpPr>
        <p:spPr>
          <a:xfrm>
            <a:off x="4566818" y="5119624"/>
            <a:ext cx="15239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19624"/>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흐릿하게 아는 것</a:t>
            </a:r>
          </a:p>
        </p:txBody>
      </p:sp>
      <p:sp>
        <p:nvSpPr>
          <p:cNvPr id="18" name="Rounded Rectangle 17"/>
          <p:cNvSpPr/>
          <p:nvPr/>
        </p:nvSpPr>
        <p:spPr>
          <a:xfrm>
            <a:off x="8127796" y="2433320"/>
            <a:ext cx="3515258" cy="311607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34488"/>
            <a:ext cx="731520" cy="731520"/>
          </a:xfrm>
          <a:prstGeom prst="ellipse">
            <a:avLst/>
          </a:prstGeom>
          <a:solidFill>
            <a:srgbClr val="5CB8F2"/>
          </a:solidFill>
          <a:ln>
            <a:noFill/>
          </a:ln>
        </p:spPr>
        <p:txBody>
          <a:bodyPr rtlCol="0" anchor="ctr"/>
          <a:lstStyle/>
          <a:p>
            <a:pPr algn="ctr"/>
          </a:p>
        </p:txBody>
      </p:sp>
      <p:pic>
        <p:nvPicPr>
          <p:cNvPr id="20" name="아이콘:lock" descr="lock_13294B_1.6.png"/>
          <p:cNvPicPr>
            <a:picLocks noChangeAspect="1"/>
          </p:cNvPicPr>
          <p:nvPr/>
        </p:nvPicPr>
        <p:blipFill>
          <a:blip r:embed="rId5"/>
          <a:stretch>
            <a:fillRect/>
          </a:stretch>
        </p:blipFill>
        <p:spPr>
          <a:xfrm>
            <a:off x="8510016" y="2788107"/>
            <a:ext cx="424281" cy="424281"/>
          </a:xfrm>
          <a:prstGeom prst="rect">
            <a:avLst/>
          </a:prstGeom>
        </p:spPr>
      </p:pic>
      <p:sp>
        <p:nvSpPr>
          <p:cNvPr id="21" name="TextBox 20"/>
          <p:cNvSpPr txBox="1"/>
          <p:nvPr/>
        </p:nvSpPr>
        <p:spPr>
          <a:xfrm>
            <a:off x="8292388" y="3457448"/>
            <a:ext cx="3186074" cy="1589023"/>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막힌 곳</a:t>
            </a:r>
          </a:p>
          <a:p>
            <a:pPr algn="l" eaLnBrk="0" marL="205740" indent="-205740">
              <a:lnSpc>
                <a:spcPct val="110000"/>
              </a:lnSpc>
              <a:spcAft>
                <a:spcPts val="400"/>
              </a:spcAft>
            </a:pPr>
            <a:r>
              <a:rPr sz="1800" b="0">
                <a:solidFill>
                  <a:srgbClr val="1F2A3A"/>
                </a:solidFill>
                <a:latin typeface="맑은 고딕"/>
                <a:ea typeface="맑은 고딕"/>
                <a:cs typeface="맑은 고딕"/>
              </a:rPr>
              <a:t>• 더 쓰지 못하고 멈춘 자리</a:t>
            </a:r>
          </a:p>
          <a:p>
            <a:pPr algn="l" eaLnBrk="0" marL="205740" indent="-205740">
              <a:lnSpc>
                <a:spcPct val="110000"/>
              </a:lnSpc>
              <a:spcAft>
                <a:spcPts val="400"/>
              </a:spcAft>
            </a:pPr>
            <a:r>
              <a:rPr sz="1800" b="0">
                <a:solidFill>
                  <a:srgbClr val="1F2A3A"/>
                </a:solidFill>
                <a:latin typeface="맑은 고딕"/>
                <a:ea typeface="맑은 고딕"/>
                <a:cs typeface="맑은 고딕"/>
              </a:rPr>
              <a:t>• 줄기를 잡은 뒤 하나씩 깊이 판다</a:t>
            </a:r>
          </a:p>
        </p:txBody>
      </p:sp>
      <p:sp>
        <p:nvSpPr>
          <p:cNvPr id="22" name="Rounded Rectangle 21"/>
          <p:cNvSpPr/>
          <p:nvPr/>
        </p:nvSpPr>
        <p:spPr>
          <a:xfrm>
            <a:off x="8356396" y="5119624"/>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19624"/>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모르는 것</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모르는 말은 바닥까지 내려가 판다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모르는 말은 뜻을 계속 물으며 바닥까지 내려간 뒤, 하나씩 이어 붙이며 처음의 용어를 이해한다.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445956"/>
            <a:ext cx="2485567" cy="309079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28836"/>
            <a:ext cx="731520" cy="731520"/>
          </a:xfrm>
          <a:prstGeom prst="ellipse">
            <a:avLst/>
          </a:prstGeom>
          <a:solidFill>
            <a:srgbClr val="FFFFFF"/>
          </a:solidFill>
          <a:ln>
            <a:noFill/>
          </a:ln>
        </p:spPr>
        <p:txBody>
          <a:bodyPr rtlCol="0" anchor="ctr"/>
          <a:lstStyle/>
          <a:p>
            <a:pPr algn="ctr"/>
          </a:p>
        </p:txBody>
      </p:sp>
      <p:pic>
        <p:nvPicPr>
          <p:cNvPr id="8" name="아이콘:lock" descr="lock_13294B_1.6.png"/>
          <p:cNvPicPr>
            <a:picLocks noChangeAspect="1"/>
          </p:cNvPicPr>
          <p:nvPr/>
        </p:nvPicPr>
        <p:blipFill>
          <a:blip r:embed="rId3"/>
          <a:stretch>
            <a:fillRect/>
          </a:stretch>
        </p:blipFill>
        <p:spPr>
          <a:xfrm>
            <a:off x="1579283" y="2782455"/>
            <a:ext cx="424281" cy="424281"/>
          </a:xfrm>
          <a:prstGeom prst="rect">
            <a:avLst/>
          </a:prstGeom>
        </p:spPr>
      </p:pic>
      <p:sp>
        <p:nvSpPr>
          <p:cNvPr id="9" name="TextBox 8"/>
          <p:cNvSpPr txBox="1"/>
          <p:nvPr/>
        </p:nvSpPr>
        <p:spPr>
          <a:xfrm>
            <a:off x="621792" y="3433508"/>
            <a:ext cx="2339263" cy="2030094"/>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막힌 용어</a:t>
            </a:r>
          </a:p>
          <a:p>
            <a:pPr algn="ctr" eaLnBrk="0">
              <a:lnSpc>
                <a:spcPct val="110000"/>
              </a:lnSpc>
              <a:spcAft>
                <a:spcPts val="400"/>
              </a:spcAft>
            </a:pPr>
            <a:r>
              <a:rPr sz="1500" b="0">
                <a:solidFill>
                  <a:srgbClr val="1F2A3A"/>
                </a:solidFill>
                <a:latin typeface="맑은 고딕"/>
                <a:ea typeface="맑은 고딕"/>
                <a:cs typeface="맑은 고딕"/>
              </a:rPr>
              <a:t>공부할 범위에서</a:t>
            </a:r>
          </a:p>
          <a:p>
            <a:pPr algn="ctr" eaLnBrk="0">
              <a:lnSpc>
                <a:spcPct val="110000"/>
              </a:lnSpc>
              <a:spcAft>
                <a:spcPts val="400"/>
              </a:spcAft>
            </a:pPr>
            <a:r>
              <a:rPr sz="1500" b="0">
                <a:solidFill>
                  <a:srgbClr val="1F2A3A"/>
                </a:solidFill>
                <a:latin typeface="맑은 고딕"/>
                <a:ea typeface="맑은 고딕"/>
                <a:cs typeface="맑은 고딕"/>
              </a:rPr>
              <a:t>모르는 용어를</a:t>
            </a:r>
          </a:p>
          <a:p>
            <a:pPr algn="ctr" eaLnBrk="0">
              <a:lnSpc>
                <a:spcPct val="110000"/>
              </a:lnSpc>
              <a:spcAft>
                <a:spcPts val="400"/>
              </a:spcAft>
            </a:pPr>
            <a:r>
              <a:rPr sz="1500" b="0">
                <a:solidFill>
                  <a:srgbClr val="1F2A3A"/>
                </a:solidFill>
                <a:latin typeface="맑은 고딕"/>
                <a:ea typeface="맑은 고딕"/>
                <a:cs typeface="맑은 고딕"/>
              </a:rPr>
              <a:t>고른다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45956"/>
            <a:ext cx="2485567" cy="309079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28836"/>
            <a:ext cx="731520" cy="731520"/>
          </a:xfrm>
          <a:prstGeom prst="ellipse">
            <a:avLst/>
          </a:prstGeom>
          <a:solidFill>
            <a:srgbClr val="FFFFFF"/>
          </a:solidFill>
          <a:ln>
            <a:noFill/>
          </a:ln>
        </p:spPr>
        <p:txBody>
          <a:bodyPr rtlCol="0" anchor="ctr"/>
          <a:lstStyle/>
          <a:p>
            <a:pPr algn="ctr"/>
          </a:p>
        </p:txBody>
      </p:sp>
      <p:pic>
        <p:nvPicPr>
          <p:cNvPr id="13" name="아이콘:help" descr="help_13294B_1.6.png"/>
          <p:cNvPicPr>
            <a:picLocks noChangeAspect="1"/>
          </p:cNvPicPr>
          <p:nvPr/>
        </p:nvPicPr>
        <p:blipFill>
          <a:blip r:embed="rId4"/>
          <a:stretch>
            <a:fillRect/>
          </a:stretch>
        </p:blipFill>
        <p:spPr>
          <a:xfrm>
            <a:off x="4448898" y="2782455"/>
            <a:ext cx="424281" cy="424281"/>
          </a:xfrm>
          <a:prstGeom prst="rect">
            <a:avLst/>
          </a:prstGeom>
        </p:spPr>
      </p:pic>
      <p:sp>
        <p:nvSpPr>
          <p:cNvPr id="14" name="TextBox 13"/>
          <p:cNvSpPr txBox="1"/>
          <p:nvPr/>
        </p:nvSpPr>
        <p:spPr>
          <a:xfrm>
            <a:off x="3491407" y="3433508"/>
            <a:ext cx="2339263" cy="2030094"/>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뜻을 묻는다</a:t>
            </a:r>
          </a:p>
          <a:p>
            <a:pPr algn="ctr" eaLnBrk="0">
              <a:lnSpc>
                <a:spcPct val="110000"/>
              </a:lnSpc>
              <a:spcAft>
                <a:spcPts val="400"/>
              </a:spcAft>
            </a:pPr>
            <a:r>
              <a:rPr sz="1500" b="0">
                <a:solidFill>
                  <a:srgbClr val="1F2A3A"/>
                </a:solidFill>
                <a:latin typeface="맑은 고딕"/>
                <a:ea typeface="맑은 고딕"/>
                <a:cs typeface="맑은 고딕"/>
              </a:rPr>
              <a:t>그 용어가</a:t>
            </a:r>
          </a:p>
          <a:p>
            <a:pPr algn="ctr" eaLnBrk="0">
              <a:lnSpc>
                <a:spcPct val="110000"/>
              </a:lnSpc>
              <a:spcAft>
                <a:spcPts val="400"/>
              </a:spcAft>
            </a:pPr>
            <a:r>
              <a:rPr sz="1500" b="0">
                <a:solidFill>
                  <a:srgbClr val="1F2A3A"/>
                </a:solidFill>
                <a:latin typeface="맑은 고딕"/>
                <a:ea typeface="맑은 고딕"/>
                <a:cs typeface="맑은 고딕"/>
              </a:rPr>
              <a:t>무엇을 뜻하는지</a:t>
            </a:r>
          </a:p>
          <a:p>
            <a:pPr algn="ctr" eaLnBrk="0">
              <a:lnSpc>
                <a:spcPct val="110000"/>
              </a:lnSpc>
              <a:spcAft>
                <a:spcPts val="400"/>
              </a:spcAft>
            </a:pPr>
            <a:r>
              <a:rPr sz="1500" b="0">
                <a:solidFill>
                  <a:srgbClr val="1F2A3A"/>
                </a:solidFill>
                <a:latin typeface="맑은 고딕"/>
                <a:ea typeface="맑은 고딕"/>
                <a:cs typeface="맑은 고딕"/>
              </a:rPr>
              <a:t>AI에게 묻는다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45956"/>
            <a:ext cx="2485567" cy="309079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28836"/>
            <a:ext cx="731520" cy="731520"/>
          </a:xfrm>
          <a:prstGeom prst="ellipse">
            <a:avLst/>
          </a:prstGeom>
          <a:solidFill>
            <a:srgbClr val="FFFFFF"/>
          </a:solidFill>
          <a:ln>
            <a:noFill/>
          </a:ln>
        </p:spPr>
        <p:txBody>
          <a:bodyPr rtlCol="0" anchor="ctr"/>
          <a:lstStyle/>
          <a:p>
            <a:pPr algn="ctr"/>
          </a:p>
        </p:txBody>
      </p:sp>
      <p:pic>
        <p:nvPicPr>
          <p:cNvPr id="18" name="아이콘:arrow-down" descr="arrow-down_13294B_1.6.png"/>
          <p:cNvPicPr>
            <a:picLocks noChangeAspect="1"/>
          </p:cNvPicPr>
          <p:nvPr/>
        </p:nvPicPr>
        <p:blipFill>
          <a:blip r:embed="rId5"/>
          <a:stretch>
            <a:fillRect/>
          </a:stretch>
        </p:blipFill>
        <p:spPr>
          <a:xfrm>
            <a:off x="7318514" y="2782455"/>
            <a:ext cx="424281" cy="424281"/>
          </a:xfrm>
          <a:prstGeom prst="rect">
            <a:avLst/>
          </a:prstGeom>
        </p:spPr>
      </p:pic>
      <p:sp>
        <p:nvSpPr>
          <p:cNvPr id="19" name="TextBox 18"/>
          <p:cNvSpPr txBox="1"/>
          <p:nvPr/>
        </p:nvSpPr>
        <p:spPr>
          <a:xfrm>
            <a:off x="6361023" y="3433508"/>
            <a:ext cx="2339263" cy="2030094"/>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계속 내려간다</a:t>
            </a:r>
          </a:p>
          <a:p>
            <a:pPr algn="ctr" eaLnBrk="0">
              <a:lnSpc>
                <a:spcPct val="110000"/>
              </a:lnSpc>
              <a:spcAft>
                <a:spcPts val="400"/>
              </a:spcAft>
            </a:pPr>
            <a:r>
              <a:rPr sz="1500" b="0">
                <a:solidFill>
                  <a:srgbClr val="1F2A3A"/>
                </a:solidFill>
                <a:latin typeface="맑은 고딕"/>
                <a:ea typeface="맑은 고딕"/>
                <a:cs typeface="맑은 고딕"/>
              </a:rPr>
              <a:t>설명 속에 또 모르는 말이</a:t>
            </a:r>
          </a:p>
          <a:p>
            <a:pPr algn="ctr" eaLnBrk="0">
              <a:lnSpc>
                <a:spcPct val="110000"/>
              </a:lnSpc>
              <a:spcAft>
                <a:spcPts val="400"/>
              </a:spcAft>
            </a:pPr>
            <a:r>
              <a:rPr sz="1500" b="0">
                <a:solidFill>
                  <a:srgbClr val="1F2A3A"/>
                </a:solidFill>
                <a:latin typeface="맑은 고딕"/>
                <a:ea typeface="맑은 고딕"/>
                <a:cs typeface="맑은 고딕"/>
              </a:rPr>
              <a:t>있으면 다시 묻는다</a:t>
            </a:r>
          </a:p>
          <a:p>
            <a:pPr algn="ctr" eaLnBrk="0">
              <a:lnSpc>
                <a:spcPct val="110000"/>
              </a:lnSpc>
              <a:spcAft>
                <a:spcPts val="400"/>
              </a:spcAft>
            </a:pPr>
            <a:r>
              <a:rPr sz="1500" b="0">
                <a:solidFill>
                  <a:srgbClr val="1F2A3A"/>
                </a:solidFill>
                <a:latin typeface="맑은 고딕"/>
                <a:ea typeface="맑은 고딕"/>
                <a:cs typeface="맑은 고딕"/>
              </a:rPr>
              <a:t>초등학생에게 설명하듯</a:t>
            </a:r>
          </a:p>
          <a:p>
            <a:pPr algn="ctr" eaLnBrk="0">
              <a:lnSpc>
                <a:spcPct val="110000"/>
              </a:lnSpc>
              <a:spcAft>
                <a:spcPts val="400"/>
              </a:spcAft>
            </a:pPr>
            <a:r>
              <a:rPr sz="1500" b="0">
                <a:solidFill>
                  <a:srgbClr val="1F2A3A"/>
                </a:solidFill>
                <a:latin typeface="맑은 고딕"/>
                <a:ea typeface="맑은 고딕"/>
                <a:cs typeface="맑은 고딕"/>
              </a:rPr>
              <a:t>풀어 달라고 해도 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45956"/>
            <a:ext cx="2485567" cy="309079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28836"/>
            <a:ext cx="731520" cy="731520"/>
          </a:xfrm>
          <a:prstGeom prst="ellipse">
            <a:avLst/>
          </a:prstGeom>
          <a:solidFill>
            <a:srgbClr val="5CB8F2"/>
          </a:solidFill>
          <a:ln>
            <a:noFill/>
          </a:ln>
        </p:spPr>
        <p:txBody>
          <a:bodyPr rtlCol="0" anchor="ctr"/>
          <a:lstStyle/>
          <a:p>
            <a:pPr algn="ctr"/>
          </a:p>
        </p:txBody>
      </p:sp>
      <p:pic>
        <p:nvPicPr>
          <p:cNvPr id="23" name="아이콘:arrow-up" descr="arrow-up_13294B_1.6.png"/>
          <p:cNvPicPr>
            <a:picLocks noChangeAspect="1"/>
          </p:cNvPicPr>
          <p:nvPr/>
        </p:nvPicPr>
        <p:blipFill>
          <a:blip r:embed="rId6"/>
          <a:stretch>
            <a:fillRect/>
          </a:stretch>
        </p:blipFill>
        <p:spPr>
          <a:xfrm>
            <a:off x="10188130" y="2782455"/>
            <a:ext cx="424281" cy="424281"/>
          </a:xfrm>
          <a:prstGeom prst="rect">
            <a:avLst/>
          </a:prstGeom>
        </p:spPr>
      </p:pic>
      <p:sp>
        <p:nvSpPr>
          <p:cNvPr id="24" name="TextBox 23"/>
          <p:cNvSpPr txBox="1"/>
          <p:nvPr/>
        </p:nvSpPr>
        <p:spPr>
          <a:xfrm>
            <a:off x="9230639" y="3433508"/>
            <a:ext cx="2339263" cy="2030094"/>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올라온다</a:t>
            </a:r>
          </a:p>
          <a:p>
            <a:pPr algn="ctr" eaLnBrk="0">
              <a:lnSpc>
                <a:spcPct val="110000"/>
              </a:lnSpc>
              <a:spcAft>
                <a:spcPts val="400"/>
              </a:spcAft>
            </a:pPr>
            <a:r>
              <a:rPr sz="1500" b="0">
                <a:solidFill>
                  <a:srgbClr val="1F2A3A"/>
                </a:solidFill>
                <a:latin typeface="맑은 고딕"/>
                <a:ea typeface="맑은 고딕"/>
                <a:cs typeface="맑은 고딕"/>
              </a:rPr>
              <a:t>바닥에서부터</a:t>
            </a:r>
          </a:p>
          <a:p>
            <a:pPr algn="ctr" eaLnBrk="0">
              <a:lnSpc>
                <a:spcPct val="110000"/>
              </a:lnSpc>
              <a:spcAft>
                <a:spcPts val="400"/>
              </a:spcAft>
            </a:pPr>
            <a:r>
              <a:rPr sz="1500" b="0">
                <a:solidFill>
                  <a:srgbClr val="1F2A3A"/>
                </a:solidFill>
                <a:latin typeface="맑은 고딕"/>
                <a:ea typeface="맑은 고딕"/>
                <a:cs typeface="맑은 고딕"/>
              </a:rPr>
              <a:t>하나씩 이어 붙이며</a:t>
            </a:r>
          </a:p>
          <a:p>
            <a:pPr algn="ctr" eaLnBrk="0">
              <a:lnSpc>
                <a:spcPct val="110000"/>
              </a:lnSpc>
              <a:spcAft>
                <a:spcPts val="400"/>
              </a:spcAft>
            </a:pPr>
            <a:r>
              <a:rPr sz="1500" b="0">
                <a:solidFill>
                  <a:srgbClr val="1F2A3A"/>
                </a:solidFill>
                <a:latin typeface="맑은 고딕"/>
                <a:ea typeface="맑은 고딕"/>
                <a:cs typeface="맑은 고딕"/>
              </a:rPr>
              <a:t>처음의 용어로</a:t>
            </a:r>
          </a:p>
          <a:p>
            <a:pPr algn="ctr" eaLnBrk="0">
              <a:lnSpc>
                <a:spcPct val="110000"/>
              </a:lnSpc>
              <a:spcAft>
                <a:spcPts val="400"/>
              </a:spcAft>
            </a:pPr>
            <a:r>
              <a:rPr sz="1500" b="0">
                <a:solidFill>
                  <a:srgbClr val="1F2A3A"/>
                </a:solidFill>
                <a:latin typeface="맑은 고딕"/>
                <a:ea typeface="맑은 고딕"/>
                <a:cs typeface="맑은 고딕"/>
              </a:rPr>
              <a:t>돌아온다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뜻을 내 말로 옮겨 학습노트에 쌓는다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정의를 외우는 대신 내 말로 풀어 쓴 기록을 학습노트에 쌓으면, 그 기록이 지식 자산이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336546"/>
            <a:ext cx="5181447" cy="330962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37714"/>
            <a:ext cx="731520" cy="731520"/>
          </a:xfrm>
          <a:prstGeom prst="ellipse">
            <a:avLst/>
          </a:prstGeom>
          <a:solidFill>
            <a:srgbClr val="FFFFFF"/>
          </a:solidFill>
          <a:ln>
            <a:noFill/>
          </a:ln>
        </p:spPr>
        <p:txBody>
          <a:bodyPr rtlCol="0" anchor="ctr"/>
          <a:lstStyle/>
          <a:p>
            <a:pPr algn="ctr"/>
          </a:p>
        </p:txBody>
      </p:sp>
      <p:pic>
        <p:nvPicPr>
          <p:cNvPr id="8" name="아이콘:book" descr="book_13294B_1.6.png"/>
          <p:cNvPicPr>
            <a:picLocks noChangeAspect="1"/>
          </p:cNvPicPr>
          <p:nvPr/>
        </p:nvPicPr>
        <p:blipFill>
          <a:blip r:embed="rId3"/>
          <a:stretch>
            <a:fillRect/>
          </a:stretch>
        </p:blipFill>
        <p:spPr>
          <a:xfrm>
            <a:off x="976579" y="2691333"/>
            <a:ext cx="424281" cy="424281"/>
          </a:xfrm>
          <a:prstGeom prst="rect">
            <a:avLst/>
          </a:prstGeom>
        </p:spPr>
      </p:pic>
      <p:sp>
        <p:nvSpPr>
          <p:cNvPr id="9" name="TextBox 8"/>
          <p:cNvSpPr txBox="1"/>
          <p:nvPr/>
        </p:nvSpPr>
        <p:spPr>
          <a:xfrm>
            <a:off x="1691640" y="253771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정의를 그대로 외운다</a:t>
            </a:r>
          </a:p>
        </p:txBody>
      </p:sp>
      <p:sp>
        <p:nvSpPr>
          <p:cNvPr id="10" name="TextBox 9"/>
          <p:cNvSpPr txBox="1"/>
          <p:nvPr/>
        </p:nvSpPr>
        <p:spPr>
          <a:xfrm>
            <a:off x="822959" y="3388105"/>
            <a:ext cx="4632807" cy="1709420"/>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문장은 기억하지만 다른 말로 물으면 답하지 못한다</a:t>
            </a:r>
          </a:p>
          <a:p>
            <a:pPr algn="l" eaLnBrk="0" marL="200025" indent="-200025">
              <a:lnSpc>
                <a:spcPct val="110000"/>
              </a:lnSpc>
              <a:spcAft>
                <a:spcPts val="600"/>
              </a:spcAft>
            </a:pPr>
            <a:r>
              <a:rPr sz="1750" b="0">
                <a:solidFill>
                  <a:srgbClr val="1F2A3A"/>
                </a:solidFill>
                <a:latin typeface="맑은 고딕"/>
                <a:ea typeface="맑은 고딕"/>
                <a:cs typeface="맑은 고딕"/>
              </a:rPr>
              <a:t>• 외운 문장을 벗어나면 설명하지 못한다</a:t>
            </a:r>
          </a:p>
        </p:txBody>
      </p:sp>
      <p:sp>
        <p:nvSpPr>
          <p:cNvPr id="11" name="Rounded Rectangle 10"/>
          <p:cNvSpPr/>
          <p:nvPr/>
        </p:nvSpPr>
        <p:spPr>
          <a:xfrm>
            <a:off x="868680" y="5188966"/>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18896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외운 문장</a:t>
            </a:r>
          </a:p>
        </p:txBody>
      </p:sp>
      <p:sp>
        <p:nvSpPr>
          <p:cNvPr id="13" name="Rounded Rectangle 12"/>
          <p:cNvSpPr/>
          <p:nvPr/>
        </p:nvSpPr>
        <p:spPr>
          <a:xfrm>
            <a:off x="6461607" y="2336546"/>
            <a:ext cx="5181447" cy="330962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37714"/>
            <a:ext cx="731520" cy="731520"/>
          </a:xfrm>
          <a:prstGeom prst="ellipse">
            <a:avLst/>
          </a:prstGeom>
          <a:solidFill>
            <a:srgbClr val="5CB8F2"/>
          </a:solidFill>
          <a:ln>
            <a:noFill/>
          </a:ln>
        </p:spPr>
        <p:txBody>
          <a:bodyPr rtlCol="0" anchor="ctr"/>
          <a:lstStyle/>
          <a:p>
            <a:pPr algn="ctr"/>
          </a:p>
        </p:txBody>
      </p:sp>
      <p:pic>
        <p:nvPicPr>
          <p:cNvPr id="15" name="아이콘:notebook" descr="notebook_13294B_1.6.png"/>
          <p:cNvPicPr>
            <a:picLocks noChangeAspect="1"/>
          </p:cNvPicPr>
          <p:nvPr/>
        </p:nvPicPr>
        <p:blipFill>
          <a:blip r:embed="rId4"/>
          <a:stretch>
            <a:fillRect/>
          </a:stretch>
        </p:blipFill>
        <p:spPr>
          <a:xfrm>
            <a:off x="6889546" y="2691333"/>
            <a:ext cx="424281" cy="424281"/>
          </a:xfrm>
          <a:prstGeom prst="rect">
            <a:avLst/>
          </a:prstGeom>
        </p:spPr>
      </p:pic>
      <p:sp>
        <p:nvSpPr>
          <p:cNvPr id="16" name="TextBox 15"/>
          <p:cNvSpPr txBox="1"/>
          <p:nvPr/>
        </p:nvSpPr>
        <p:spPr>
          <a:xfrm>
            <a:off x="7604607" y="253771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내 말로 옮겨 쌓는다</a:t>
            </a:r>
          </a:p>
        </p:txBody>
      </p:sp>
      <p:sp>
        <p:nvSpPr>
          <p:cNvPr id="17" name="TextBox 16"/>
          <p:cNvSpPr txBox="1"/>
          <p:nvPr/>
        </p:nvSpPr>
        <p:spPr>
          <a:xfrm>
            <a:off x="6735927" y="3388105"/>
            <a:ext cx="4632807" cy="1709420"/>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원리는 그대로 두고 표현만 쉽게 바꾼다</a:t>
            </a:r>
          </a:p>
          <a:p>
            <a:pPr algn="l" eaLnBrk="0" marL="200025" indent="-200025">
              <a:lnSpc>
                <a:spcPct val="110000"/>
              </a:lnSpc>
              <a:spcAft>
                <a:spcPts val="600"/>
              </a:spcAft>
            </a:pPr>
            <a:r>
              <a:rPr sz="1750" b="0">
                <a:solidFill>
                  <a:srgbClr val="1F2A3A"/>
                </a:solidFill>
                <a:latin typeface="맑은 고딕"/>
                <a:ea typeface="맑은 고딕"/>
                <a:cs typeface="맑은 고딕"/>
              </a:rPr>
              <a:t>• 다른 말로 물어도 답하고 남에게 설명할 수 있다</a:t>
            </a:r>
          </a:p>
          <a:p>
            <a:pPr algn="l" eaLnBrk="0" marL="200025" indent="-200025">
              <a:lnSpc>
                <a:spcPct val="110000"/>
              </a:lnSpc>
              <a:spcAft>
                <a:spcPts val="600"/>
              </a:spcAft>
            </a:pPr>
            <a:r>
              <a:rPr sz="1750" b="0">
                <a:solidFill>
                  <a:srgbClr val="1F2A3A"/>
                </a:solidFill>
                <a:latin typeface="맑은 고딕"/>
                <a:ea typeface="맑은 고딕"/>
                <a:cs typeface="맑은 고딕"/>
              </a:rPr>
              <a:t>• 이렇게 쓴 기록을 개인 학습노트에 모은다</a:t>
            </a:r>
          </a:p>
        </p:txBody>
      </p:sp>
      <p:sp>
        <p:nvSpPr>
          <p:cNvPr id="18" name="Rounded Rectangle 17"/>
          <p:cNvSpPr/>
          <p:nvPr/>
        </p:nvSpPr>
        <p:spPr>
          <a:xfrm>
            <a:off x="6781647" y="5188966"/>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18896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쌓이는 자산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다시 찾아 쓰는 학습 기록의 연결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내 말로 쓴 개념에 출처와 실습 결과를 연결하면, 기록을 다시 찾아 확인하고 보완할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기록</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함께 남길 내용</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다시 쓰는 때</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개념과 원리</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용어의 뜻과 작동 원리를 내 말로 쓴다</a:t>
            </a:r>
          </a:p>
          <a:p>
            <a:pPr algn="l" eaLnBrk="0">
              <a:lnSpc>
                <a:spcPct val="110000"/>
              </a:lnSpc>
            </a:pPr>
            <a:r>
              <a:rPr sz="1400" b="0">
                <a:solidFill>
                  <a:srgbClr val="1F2A3A"/>
                </a:solidFill>
                <a:latin typeface="맑은 고딕"/>
                <a:ea typeface="맑은 고딕"/>
                <a:cs typeface="맑은 고딕"/>
              </a:rPr>
              <a:t>다른 개념과 이어지는 지점을 함께 적는다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설명할 때</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참고 자료와 출처</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문서 이름과 해당 부분의 링크를 개념에 연결한다</a:t>
            </a:r>
          </a:p>
          <a:p>
            <a:pPr algn="l" eaLnBrk="0">
              <a:lnSpc>
                <a:spcPct val="110000"/>
              </a:lnSpc>
            </a:pPr>
            <a:r>
              <a:rPr sz="1400" b="0">
                <a:solidFill>
                  <a:srgbClr val="1F2A3A"/>
                </a:solidFill>
                <a:latin typeface="맑은 고딕"/>
                <a:ea typeface="맑은 고딕"/>
                <a:cs typeface="맑은 고딕"/>
              </a:rPr>
              <a:t>내 설명이 맞는지 원문으로 돌아가 확인한다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확인할 때</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실습 과정과 결과</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무엇을 했고 어떤 결과가 나왔는지 적는다</a:t>
            </a:r>
          </a:p>
          <a:p>
            <a:pPr algn="l" eaLnBrk="0">
              <a:lnSpc>
                <a:spcPct val="110000"/>
              </a:lnSpc>
            </a:pPr>
            <a:r>
              <a:rPr sz="1400" b="0">
                <a:solidFill>
                  <a:srgbClr val="1F2A3A"/>
                </a:solidFill>
                <a:latin typeface="맑은 고딕"/>
                <a:ea typeface="맑은 고딕"/>
                <a:cs typeface="맑은 고딕"/>
              </a:rPr>
              <a:t>막힌 점과 해결한 방법을 관련 개념에 연결한다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다시 적용할 때</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검색과 보완</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분야와 이해도로 기록을 찾는다</a:t>
            </a:r>
          </a:p>
          <a:p>
            <a:pPr algn="l" eaLnBrk="0">
              <a:lnSpc>
                <a:spcPct val="110000"/>
              </a:lnSpc>
            </a:pPr>
            <a:r>
              <a:rPr sz="1400" b="0">
                <a:solidFill>
                  <a:srgbClr val="1F2A3A"/>
                </a:solidFill>
                <a:latin typeface="맑은 고딕"/>
                <a:ea typeface="맑은 고딕"/>
                <a:cs typeface="맑은 고딕"/>
              </a:rPr>
              <a:t>이해가 달라지면 설명과 연결된 기록을 함께 고친다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지식을 쌓을 때</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지식 자산화를 위한 개인 학습노트 만들기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앞으로 배울 내용을 내 말로 쌓아 갈 학습노트의 틀을 만든다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실습에서 만드는 학습노트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과정 홈과 학습노트를 만들고, 내 말로 쓴 개념 하나에 참고 자료를 연결해 첫 기록을 완성한다.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565908"/>
            <a:ext cx="3515258" cy="285089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2767076"/>
            <a:ext cx="3186074" cy="2146807"/>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과정 홈</a:t>
            </a:r>
          </a:p>
          <a:p>
            <a:pPr algn="l" eaLnBrk="0" marL="205740" indent="-205740">
              <a:lnSpc>
                <a:spcPct val="110000"/>
              </a:lnSpc>
              <a:spcAft>
                <a:spcPts val="400"/>
              </a:spcAft>
            </a:pPr>
            <a:r>
              <a:rPr sz="1800" b="0">
                <a:solidFill>
                  <a:srgbClr val="1F2A3A"/>
                </a:solidFill>
                <a:latin typeface="맑은 고딕"/>
                <a:ea typeface="맑은 고딕"/>
                <a:cs typeface="맑은 고딕"/>
              </a:rPr>
              <a:t>• 전체 기록으로 들어가는 첫 페이지이다</a:t>
            </a:r>
          </a:p>
          <a:p>
            <a:pPr algn="l" eaLnBrk="0" marL="205740" indent="-205740">
              <a:lnSpc>
                <a:spcPct val="110000"/>
              </a:lnSpc>
              <a:spcAft>
                <a:spcPts val="400"/>
              </a:spcAft>
            </a:pPr>
            <a:r>
              <a:rPr sz="1800" b="0">
                <a:solidFill>
                  <a:srgbClr val="1F2A3A"/>
                </a:solidFill>
                <a:latin typeface="맑은 고딕"/>
                <a:ea typeface="맑은 고딕"/>
                <a:cs typeface="맑은 고딕"/>
              </a:rPr>
              <a:t>• 개념 정리·참고 자료·실습 결과의 세 구획과 작성 규칙을 둔다</a:t>
            </a:r>
          </a:p>
        </p:txBody>
      </p:sp>
      <p:sp>
        <p:nvSpPr>
          <p:cNvPr id="8" name="Rounded Rectangle 7"/>
          <p:cNvSpPr/>
          <p:nvPr/>
        </p:nvSpPr>
        <p:spPr>
          <a:xfrm>
            <a:off x="777240" y="4987036"/>
            <a:ext cx="1173480"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498703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기록의 입구</a:t>
            </a:r>
          </a:p>
        </p:txBody>
      </p:sp>
      <p:sp>
        <p:nvSpPr>
          <p:cNvPr id="10" name="Rounded Rectangle 9"/>
          <p:cNvSpPr/>
          <p:nvPr/>
        </p:nvSpPr>
        <p:spPr>
          <a:xfrm>
            <a:off x="4338218" y="2565908"/>
            <a:ext cx="3515258" cy="285089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4502810" y="2767076"/>
            <a:ext cx="3186074" cy="2146807"/>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학습노트 데이터베이스</a:t>
            </a:r>
          </a:p>
          <a:p>
            <a:pPr algn="l" eaLnBrk="0" marL="205740" indent="-205740">
              <a:lnSpc>
                <a:spcPct val="110000"/>
              </a:lnSpc>
              <a:spcAft>
                <a:spcPts val="400"/>
              </a:spcAft>
            </a:pPr>
            <a:r>
              <a:rPr sz="1800" b="0">
                <a:solidFill>
                  <a:srgbClr val="1F2A3A"/>
                </a:solidFill>
                <a:latin typeface="맑은 고딕"/>
                <a:ea typeface="맑은 고딕"/>
                <a:cs typeface="맑은 고딕"/>
              </a:rPr>
              <a:t>• 기록마다 분야·이해도·작성일을 붙인다</a:t>
            </a:r>
          </a:p>
          <a:p>
            <a:pPr algn="l" eaLnBrk="0" marL="205740" indent="-205740">
              <a:lnSpc>
                <a:spcPct val="110000"/>
              </a:lnSpc>
              <a:spcAft>
                <a:spcPts val="400"/>
              </a:spcAft>
            </a:pPr>
            <a:r>
              <a:rPr sz="1800" b="0">
                <a:solidFill>
                  <a:srgbClr val="1F2A3A"/>
                </a:solidFill>
                <a:latin typeface="맑은 고딕"/>
                <a:ea typeface="맑은 고딕"/>
                <a:cs typeface="맑은 고딕"/>
              </a:rPr>
              <a:t>• 이해도가 낮은 기록을 모아 다시 볼 수 있게 한다</a:t>
            </a:r>
          </a:p>
        </p:txBody>
      </p:sp>
      <p:sp>
        <p:nvSpPr>
          <p:cNvPr id="12" name="Rounded Rectangle 11"/>
          <p:cNvSpPr/>
          <p:nvPr/>
        </p:nvSpPr>
        <p:spPr>
          <a:xfrm>
            <a:off x="4566818" y="4987036"/>
            <a:ext cx="1173480"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4566818" y="498703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분류와 검색</a:t>
            </a:r>
          </a:p>
        </p:txBody>
      </p:sp>
      <p:sp>
        <p:nvSpPr>
          <p:cNvPr id="14" name="Rounded Rectangle 13"/>
          <p:cNvSpPr/>
          <p:nvPr/>
        </p:nvSpPr>
        <p:spPr>
          <a:xfrm>
            <a:off x="8127796" y="2565908"/>
            <a:ext cx="3515258" cy="285089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5" name="TextBox 14"/>
          <p:cNvSpPr txBox="1"/>
          <p:nvPr/>
        </p:nvSpPr>
        <p:spPr>
          <a:xfrm>
            <a:off x="8292388" y="2767076"/>
            <a:ext cx="3186074" cy="2146807"/>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첫 기록</a:t>
            </a:r>
          </a:p>
          <a:p>
            <a:pPr algn="l" eaLnBrk="0" marL="205740" indent="-205740">
              <a:lnSpc>
                <a:spcPct val="110000"/>
              </a:lnSpc>
              <a:spcAft>
                <a:spcPts val="400"/>
              </a:spcAft>
            </a:pPr>
            <a:r>
              <a:rPr sz="1800" b="0">
                <a:solidFill>
                  <a:srgbClr val="1F2A3A"/>
                </a:solidFill>
                <a:latin typeface="맑은 고딕"/>
                <a:ea typeface="맑은 고딕"/>
                <a:cs typeface="맑은 고딕"/>
              </a:rPr>
              <a:t>• 개념 하나를 내 말로 설명하고 출처를 연결한다</a:t>
            </a:r>
          </a:p>
          <a:p>
            <a:pPr algn="l" eaLnBrk="0" marL="205740" indent="-205740">
              <a:lnSpc>
                <a:spcPct val="110000"/>
              </a:lnSpc>
              <a:spcAft>
                <a:spcPts val="400"/>
              </a:spcAft>
            </a:pPr>
            <a:r>
              <a:rPr sz="1800" b="0">
                <a:solidFill>
                  <a:srgbClr val="1F2A3A"/>
                </a:solidFill>
                <a:latin typeface="맑은 고딕"/>
                <a:ea typeface="맑은 고딕"/>
                <a:cs typeface="맑은 고딕"/>
              </a:rPr>
              <a:t>• 실습 기록에는 과정·결과·배운 점을 남길 자리를 둔다</a:t>
            </a:r>
          </a:p>
        </p:txBody>
      </p:sp>
      <p:sp>
        <p:nvSpPr>
          <p:cNvPr id="16" name="Rounded Rectangle 15"/>
          <p:cNvSpPr/>
          <p:nvPr/>
        </p:nvSpPr>
        <p:spPr>
          <a:xfrm>
            <a:off x="8356396" y="4987036"/>
            <a:ext cx="1523999"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8356396" y="4987036"/>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연결된 학습 기록</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HYD 시스템 구조와 데이터 흐름</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제조 설비에서 AI의 판단과 조치까지 이어지는 시스템의 구조, 계층, 데이터 흐름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설비·센서·PLC·관제의 역할</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설비의 물리량은 센서에서 계측값이 되고, PLC의 제어와 관제 화면의 감시·조작에 쓰인다.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13</a:t>
            </a:r>
          </a:p>
        </p:txBody>
      </p:sp>
      <p:sp>
        <p:nvSpPr>
          <p:cNvPr id="6" name="TextBox 5"/>
          <p:cNvSpPr txBox="1"/>
          <p:nvPr/>
        </p:nvSpPr>
        <p:spPr>
          <a:xfrm>
            <a:off x="640080" y="1627632"/>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설비</a:t>
            </a:r>
          </a:p>
          <a:p>
            <a:pPr algn="l" eaLnBrk="0">
              <a:lnSpc>
                <a:spcPct val="110000"/>
              </a:lnSpc>
              <a:spcAft>
                <a:spcPts val="200"/>
              </a:spcAft>
            </a:pPr>
            <a:r>
              <a:rPr sz="1150" b="0">
                <a:solidFill>
                  <a:srgbClr val="556175"/>
                </a:solidFill>
                <a:latin typeface="맑은 고딕"/>
                <a:ea typeface="맑은 고딕"/>
                <a:cs typeface="맑은 고딕"/>
              </a:rPr>
              <a:t>Asset</a:t>
            </a:r>
          </a:p>
        </p:txBody>
      </p:sp>
      <p:sp>
        <p:nvSpPr>
          <p:cNvPr id="7" name="TextBox 6"/>
          <p:cNvSpPr txBox="1"/>
          <p:nvPr/>
        </p:nvSpPr>
        <p:spPr>
          <a:xfrm>
            <a:off x="4023359" y="1627632"/>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압력·온도·진동 같은 물리량이 생기는 대상이다.</a:t>
            </a:r>
          </a:p>
          <a:p>
            <a:pPr algn="l" eaLnBrk="0">
              <a:lnSpc>
                <a:spcPct val="110000"/>
              </a:lnSpc>
              <a:spcAft>
                <a:spcPts val="300"/>
              </a:spcAft>
            </a:pPr>
            <a:r>
              <a:rPr sz="1400" b="0">
                <a:solidFill>
                  <a:srgbClr val="1F2A3A"/>
                </a:solidFill>
                <a:latin typeface="맑은 고딕"/>
                <a:ea typeface="맑은 고딕"/>
                <a:cs typeface="맑은 고딕"/>
              </a:rPr>
              <a:t>HYD-01에서는 작동유가 순환하며 압력과 온도가 변한다.</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센서</a:t>
            </a:r>
          </a:p>
          <a:p>
            <a:pPr algn="l" eaLnBrk="0">
              <a:lnSpc>
                <a:spcPct val="110000"/>
              </a:lnSpc>
              <a:spcAft>
                <a:spcPts val="200"/>
              </a:spcAft>
            </a:pPr>
            <a:r>
              <a:rPr sz="1150" b="0">
                <a:solidFill>
                  <a:srgbClr val="556175"/>
                </a:solidFill>
                <a:latin typeface="맑은 고딕"/>
                <a:ea typeface="맑은 고딕"/>
                <a:cs typeface="맑은 고딕"/>
              </a:rPr>
              <a:t>계측</a:t>
            </a:r>
          </a:p>
        </p:txBody>
      </p:sp>
      <p:sp>
        <p:nvSpPr>
          <p:cNvPr id="10" name="TextBox 9"/>
          <p:cNvSpPr txBox="1"/>
          <p:nvPr/>
        </p:nvSpPr>
        <p:spPr>
          <a:xfrm>
            <a:off x="4023359" y="2809494"/>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센서(Sensor)는 물리량을 전기 신호로 바꿔 계측값을 내놓는다.</a:t>
            </a:r>
          </a:p>
          <a:p>
            <a:pPr algn="l" eaLnBrk="0">
              <a:lnSpc>
                <a:spcPct val="110000"/>
              </a:lnSpc>
              <a:spcAft>
                <a:spcPts val="300"/>
              </a:spcAft>
            </a:pPr>
            <a:r>
              <a:rPr sz="1400" b="0">
                <a:solidFill>
                  <a:srgbClr val="1F2A3A"/>
                </a:solidFill>
                <a:latin typeface="맑은 고딕"/>
                <a:ea typeface="맑은 고딕"/>
                <a:cs typeface="맑은 고딕"/>
              </a:rPr>
              <a:t>유온 TS1은 쿨러 입구의 작동유 온도이다.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991356"/>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PLC</a:t>
            </a:r>
          </a:p>
          <a:p>
            <a:pPr algn="l" eaLnBrk="0">
              <a:lnSpc>
                <a:spcPct val="110000"/>
              </a:lnSpc>
              <a:spcAft>
                <a:spcPts val="200"/>
              </a:spcAft>
            </a:pPr>
            <a:r>
              <a:rPr sz="1150" b="0">
                <a:solidFill>
                  <a:srgbClr val="556175"/>
                </a:solidFill>
                <a:latin typeface="맑은 고딕"/>
                <a:ea typeface="맑은 고딕"/>
                <a:cs typeface="맑은 고딕"/>
              </a:rPr>
              <a:t>제어</a:t>
            </a:r>
          </a:p>
        </p:txBody>
      </p:sp>
      <p:sp>
        <p:nvSpPr>
          <p:cNvPr id="13" name="TextBox 12"/>
          <p:cNvSpPr txBox="1"/>
          <p:nvPr/>
        </p:nvSpPr>
        <p:spPr>
          <a:xfrm>
            <a:off x="4023359" y="3991356"/>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PLC(Programmable Logic Controller)는 계측값을 읽고 제어 출력을 정한다.</a:t>
            </a:r>
          </a:p>
          <a:p>
            <a:pPr algn="l" eaLnBrk="0">
              <a:lnSpc>
                <a:spcPct val="110000"/>
              </a:lnSpc>
              <a:spcAft>
                <a:spcPts val="300"/>
              </a:spcAft>
            </a:pPr>
            <a:r>
              <a:rPr sz="1400" b="0">
                <a:solidFill>
                  <a:srgbClr val="1F2A3A"/>
                </a:solidFill>
                <a:latin typeface="맑은 고딕"/>
                <a:ea typeface="맑은 고딕"/>
                <a:cs typeface="맑은 고딕"/>
              </a:rPr>
              <a:t>HYD-01의 팬 속도와 펌프 부하 설정값을 설비에 반영한다.</a:t>
            </a:r>
          </a:p>
        </p:txBody>
      </p:sp>
      <p:sp>
        <p:nvSpPr>
          <p:cNvPr id="14" name="Rectangle 13"/>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5" name="Rounded Rectangle 14"/>
          <p:cNvSpPr/>
          <p:nvPr/>
        </p:nvSpPr>
        <p:spPr>
          <a:xfrm>
            <a:off x="548640" y="5200650"/>
            <a:ext cx="11094415" cy="1126998"/>
          </a:xfrm>
          <a:prstGeom prst="roundRect">
            <a:avLst>
              <a:gd name="adj" fmla="val 6000"/>
            </a:avLst>
          </a:prstGeom>
          <a:solidFill>
            <a:srgbClr val="E7F3FD"/>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관제</a:t>
            </a:r>
          </a:p>
          <a:p>
            <a:pPr algn="l" eaLnBrk="0">
              <a:lnSpc>
                <a:spcPct val="110000"/>
              </a:lnSpc>
              <a:spcAft>
                <a:spcPts val="200"/>
              </a:spcAft>
            </a:pPr>
            <a:r>
              <a:rPr sz="1150" b="0">
                <a:solidFill>
                  <a:srgbClr val="556175"/>
                </a:solidFill>
                <a:latin typeface="맑은 고딕"/>
                <a:ea typeface="맑은 고딕"/>
                <a:cs typeface="맑은 고딕"/>
              </a:rPr>
              <a:t>감시·조작</a:t>
            </a:r>
          </a:p>
        </p:txBody>
      </p:sp>
      <p:sp>
        <p:nvSpPr>
          <p:cNvPr id="17" name="TextBox 16"/>
          <p:cNvSpPr txBox="1"/>
          <p:nvPr/>
        </p:nvSpPr>
        <p:spPr>
          <a:xfrm>
            <a:off x="4023359" y="5173218"/>
            <a:ext cx="7528255" cy="1181862"/>
          </a:xfrm>
          <a:prstGeom prst="rect">
            <a:avLst/>
          </a:prstGeom>
          <a:noFill/>
        </p:spPr>
        <p:txBody>
          <a:bodyPr wrap="square" anchor="ctr"/>
          <a:lstStyle/>
          <a:p>
            <a:pPr algn="l" eaLnBrk="0">
              <a:lnSpc>
                <a:spcPct val="110000"/>
              </a:lnSpc>
              <a:spcAft>
                <a:spcPts val="300"/>
              </a:spcAft>
            </a:pPr>
            <a:r>
              <a:rPr sz="1350" b="0">
                <a:solidFill>
                  <a:srgbClr val="1F2A3A"/>
                </a:solidFill>
                <a:latin typeface="맑은 고딕"/>
                <a:ea typeface="맑은 고딕"/>
                <a:cs typeface="맑은 고딕"/>
              </a:rPr>
              <a:t>SCADA(Supervisory Control and Data Acquisition)는 설비를 감시·제어하는 시스템이다.</a:t>
            </a:r>
          </a:p>
          <a:p>
            <a:pPr algn="l" eaLnBrk="0">
              <a:lnSpc>
                <a:spcPct val="110000"/>
              </a:lnSpc>
              <a:spcAft>
                <a:spcPts val="300"/>
              </a:spcAft>
            </a:pPr>
            <a:r>
              <a:rPr sz="1350" b="0">
                <a:solidFill>
                  <a:srgbClr val="1F2A3A"/>
                </a:solidFill>
                <a:latin typeface="맑은 고딕"/>
                <a:ea typeface="맑은 고딕"/>
                <a:cs typeface="맑은 고딕"/>
              </a:rPr>
              <a:t>운전 화면에서 계측값을 보고 조작한다.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유압 파워팩 HYD-01의 구성과 유온 TS1의 계측 지점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계측값에는 </a:t>
            </a:r>
            <a:r>
              <a:rPr sz="1600" b="1">
                <a:solidFill>
                  <a:srgbClr val="1A6FC4"/>
                </a:solidFill>
                <a:latin typeface="맑은 고딕"/>
                <a:ea typeface="맑은 고딕"/>
                <a:cs typeface="맑은 고딕"/>
              </a:rPr>
              <a:t>태그</a:t>
            </a:r>
            <a:r>
              <a:rPr sz="1600" b="0">
                <a:solidFill>
                  <a:srgbClr val="556175"/>
                </a:solidFill>
                <a:latin typeface="맑은 고딕"/>
                <a:ea typeface="맑은 고딕"/>
                <a:cs typeface="맑은 고딕"/>
              </a:rPr>
              <a:t>(Tag)라는 이름이 붙고, 유온 TS1은 쿨러 입구에서 잰 작동유 온도이다.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14</a:t>
            </a:r>
          </a:p>
        </p:txBody>
      </p:sp>
      <p:pic>
        <p:nvPicPr>
          <p:cNvPr id="6" name="삽화:설비_유압파워팩.svg" descr="illust_8756888415835958382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41122" y="5315041"/>
            <a:ext cx="152732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탱크(Tank)</a:t>
            </a:r>
          </a:p>
          <a:p>
            <a:pPr algn="ctr" eaLnBrk="0">
              <a:lnSpc>
                <a:spcPct val="110000"/>
              </a:lnSpc>
              <a:spcAft>
                <a:spcPts val="100"/>
              </a:spcAft>
            </a:pPr>
            <a:r>
              <a:rPr sz="1100" b="0">
                <a:solidFill>
                  <a:srgbClr val="556175"/>
                </a:solidFill>
                <a:latin typeface="맑은 고딕"/>
                <a:ea typeface="맑은 고딕"/>
                <a:cs typeface="맑은 고딕"/>
              </a:rPr>
              <a:t>작동유 탱크</a:t>
            </a:r>
          </a:p>
        </p:txBody>
      </p:sp>
      <p:sp>
        <p:nvSpPr>
          <p:cNvPr id="8" name="TextBox 7"/>
          <p:cNvSpPr txBox="1"/>
          <p:nvPr/>
        </p:nvSpPr>
        <p:spPr>
          <a:xfrm>
            <a:off x="1415674" y="3116778"/>
            <a:ext cx="1636424"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펌프(Pump)</a:t>
            </a:r>
          </a:p>
          <a:p>
            <a:pPr algn="ctr" eaLnBrk="0">
              <a:lnSpc>
                <a:spcPct val="110000"/>
              </a:lnSpc>
              <a:spcAft>
                <a:spcPts val="100"/>
              </a:spcAft>
            </a:pPr>
            <a:r>
              <a:rPr sz="1100" b="0">
                <a:solidFill>
                  <a:srgbClr val="556175"/>
                </a:solidFill>
                <a:latin typeface="맑은 고딕"/>
                <a:ea typeface="맑은 고딕"/>
                <a:cs typeface="맑은 고딕"/>
              </a:rPr>
              <a:t>모터 · 펌프</a:t>
            </a:r>
          </a:p>
        </p:txBody>
      </p:sp>
      <p:sp>
        <p:nvSpPr>
          <p:cNvPr id="9" name="TextBox 8"/>
          <p:cNvSpPr txBox="1"/>
          <p:nvPr/>
        </p:nvSpPr>
        <p:spPr>
          <a:xfrm>
            <a:off x="5168540" y="1901823"/>
            <a:ext cx="152732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압력(Pressure)</a:t>
            </a:r>
          </a:p>
          <a:p>
            <a:pPr algn="ctr" eaLnBrk="0">
              <a:lnSpc>
                <a:spcPct val="110000"/>
              </a:lnSpc>
              <a:spcAft>
                <a:spcPts val="100"/>
              </a:spcAft>
            </a:pPr>
            <a:r>
              <a:rPr sz="1100" b="0">
                <a:solidFill>
                  <a:srgbClr val="556175"/>
                </a:solidFill>
                <a:latin typeface="맑은 고딕"/>
                <a:ea typeface="맑은 고딕"/>
                <a:cs typeface="맑은 고딕"/>
              </a:rPr>
              <a:t>PS1 · 182 bar</a:t>
            </a:r>
          </a:p>
        </p:txBody>
      </p:sp>
      <p:sp>
        <p:nvSpPr>
          <p:cNvPr id="10" name="TextBox 9"/>
          <p:cNvSpPr txBox="1"/>
          <p:nvPr/>
        </p:nvSpPr>
        <p:spPr>
          <a:xfrm>
            <a:off x="7481353" y="1807275"/>
            <a:ext cx="196370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부하(Load)</a:t>
            </a:r>
          </a:p>
          <a:p>
            <a:pPr algn="ctr" eaLnBrk="0">
              <a:lnSpc>
                <a:spcPct val="110000"/>
              </a:lnSpc>
              <a:spcAft>
                <a:spcPts val="100"/>
              </a:spcAft>
            </a:pPr>
            <a:r>
              <a:rPr sz="1100" b="0">
                <a:solidFill>
                  <a:srgbClr val="556175"/>
                </a:solidFill>
                <a:latin typeface="맑은 고딕"/>
                <a:ea typeface="맑은 고딕"/>
                <a:cs typeface="맑은 고딕"/>
              </a:rPr>
              <a:t>유압 구동부</a:t>
            </a:r>
          </a:p>
        </p:txBody>
      </p:sp>
      <p:sp>
        <p:nvSpPr>
          <p:cNvPr id="11" name="TextBox 10"/>
          <p:cNvSpPr txBox="1"/>
          <p:nvPr/>
        </p:nvSpPr>
        <p:spPr>
          <a:xfrm>
            <a:off x="5550372" y="2762219"/>
            <a:ext cx="2072804"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유온(Temperature)</a:t>
            </a:r>
          </a:p>
          <a:p>
            <a:pPr algn="ctr" eaLnBrk="0">
              <a:lnSpc>
                <a:spcPct val="110000"/>
              </a:lnSpc>
              <a:spcAft>
                <a:spcPts val="100"/>
              </a:spcAft>
            </a:pPr>
            <a:r>
              <a:rPr sz="1100" b="0">
                <a:solidFill>
                  <a:srgbClr val="556175"/>
                </a:solidFill>
                <a:latin typeface="맑은 고딕"/>
                <a:ea typeface="맑은 고딕"/>
                <a:cs typeface="맑은 고딕"/>
              </a:rPr>
              <a:t>TS1 · 48 ℃</a:t>
            </a:r>
          </a:p>
        </p:txBody>
      </p:sp>
      <p:sp>
        <p:nvSpPr>
          <p:cNvPr id="12" name="TextBox 11"/>
          <p:cNvSpPr txBox="1"/>
          <p:nvPr/>
        </p:nvSpPr>
        <p:spPr>
          <a:xfrm>
            <a:off x="6695869" y="5244129"/>
            <a:ext cx="240008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쿨러(Cooler)</a:t>
            </a:r>
          </a:p>
          <a:p>
            <a:pPr algn="ctr" eaLnBrk="0">
              <a:lnSpc>
                <a:spcPct val="110000"/>
              </a:lnSpc>
              <a:spcAft>
                <a:spcPts val="100"/>
              </a:spcAft>
            </a:pPr>
            <a:r>
              <a:rPr sz="1100" b="0">
                <a:solidFill>
                  <a:srgbClr val="556175"/>
                </a:solidFill>
                <a:latin typeface="맑은 고딕"/>
                <a:ea typeface="맑은 고딕"/>
                <a:cs typeface="맑은 고딕"/>
              </a:rPr>
              <a:t>오일 쿨러</a:t>
            </a:r>
          </a:p>
        </p:txBody>
      </p:sp>
      <p:sp>
        <p:nvSpPr>
          <p:cNvPr id="13" name="TextBox 12"/>
          <p:cNvSpPr txBox="1"/>
          <p:nvPr/>
        </p:nvSpPr>
        <p:spPr>
          <a:xfrm>
            <a:off x="9979627" y="3944081"/>
            <a:ext cx="1418234"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팬(Fan)</a:t>
            </a:r>
          </a:p>
          <a:p>
            <a:pPr algn="ctr" eaLnBrk="0">
              <a:lnSpc>
                <a:spcPct val="110000"/>
              </a:lnSpc>
              <a:spcAft>
                <a:spcPts val="100"/>
              </a:spcAft>
            </a:pPr>
            <a:r>
              <a:rPr sz="1100" b="0">
                <a:solidFill>
                  <a:srgbClr val="556175"/>
                </a:solidFill>
                <a:latin typeface="맑은 고딕"/>
                <a:ea typeface="맑은 고딕"/>
                <a:cs typeface="맑은 고딕"/>
              </a:rPr>
              <a:t>쿨러 팬</a:t>
            </a:r>
          </a:p>
        </p:txBody>
      </p:sp>
      <p:sp>
        <p:nvSpPr>
          <p:cNvPr id="14" name="TextBox 13"/>
          <p:cNvSpPr txBox="1"/>
          <p:nvPr/>
        </p:nvSpPr>
        <p:spPr>
          <a:xfrm>
            <a:off x="10110541" y="5740511"/>
            <a:ext cx="1418234" cy="71678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진동(Vibration)</a:t>
            </a:r>
          </a:p>
          <a:p>
            <a:pPr algn="ctr" eaLnBrk="0">
              <a:lnSpc>
                <a:spcPct val="110000"/>
              </a:lnSpc>
              <a:spcAft>
                <a:spcPts val="100"/>
              </a:spcAft>
            </a:pPr>
            <a:r>
              <a:rPr sz="1100" b="0">
                <a:solidFill>
                  <a:srgbClr val="556175"/>
                </a:solidFill>
                <a:latin typeface="맑은 고딕"/>
                <a:ea typeface="맑은 고딕"/>
                <a:cs typeface="맑은 고딕"/>
              </a:rPr>
              <a:t>VS1 · 0.6 mm/s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Layer 1 · PLC의 현장 제어와 인터록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PLC는 짧은 스캔 주기로 설비를 제어하고, 위험 조건에서는 </a:t>
            </a:r>
            <a:r>
              <a:rPr sz="1600" b="1">
                <a:solidFill>
                  <a:srgbClr val="1A6FC4"/>
                </a:solidFill>
                <a:latin typeface="맑은 고딕"/>
                <a:ea typeface="맑은 고딕"/>
                <a:cs typeface="맑은 고딕"/>
              </a:rPr>
              <a:t>인터록</a:t>
            </a:r>
            <a:r>
              <a:rPr sz="1600" b="0">
                <a:solidFill>
                  <a:srgbClr val="556175"/>
                </a:solidFill>
                <a:latin typeface="맑은 고딕"/>
                <a:ea typeface="맑은 고딕"/>
                <a:cs typeface="맑은 고딕"/>
              </a:rPr>
              <a:t>으로 보호 정지를 실행한다.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15</a:t>
            </a:r>
          </a:p>
        </p:txBody>
      </p:sp>
      <p:sp>
        <p:nvSpPr>
          <p:cNvPr id="6" name="TextBox 5"/>
          <p:cNvSpPr txBox="1"/>
          <p:nvPr/>
        </p:nvSpPr>
        <p:spPr>
          <a:xfrm>
            <a:off x="640080" y="1627632"/>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스캔 주기(Scan Cycle)</a:t>
            </a:r>
          </a:p>
          <a:p>
            <a:pPr algn="l" eaLnBrk="0">
              <a:lnSpc>
                <a:spcPct val="110000"/>
              </a:lnSpc>
              <a:spcAft>
                <a:spcPts val="200"/>
              </a:spcAft>
            </a:pPr>
            <a:r>
              <a:rPr sz="1150" b="0">
                <a:solidFill>
                  <a:srgbClr val="556175"/>
                </a:solidFill>
                <a:latin typeface="맑은 고딕"/>
                <a:ea typeface="맑은 고딕"/>
                <a:cs typeface="맑은 고딕"/>
              </a:rPr>
              <a:t>반복 제어</a:t>
            </a:r>
          </a:p>
        </p:txBody>
      </p:sp>
      <p:sp>
        <p:nvSpPr>
          <p:cNvPr id="7" name="TextBox 6"/>
          <p:cNvSpPr txBox="1"/>
          <p:nvPr/>
        </p:nvSpPr>
        <p:spPr>
          <a:xfrm>
            <a:off x="4023359" y="1627632"/>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입력 읽기 → 프로그램 실행 → 출력 쓰기를 반복하는 주기이다.</a:t>
            </a:r>
          </a:p>
          <a:p>
            <a:pPr algn="l" eaLnBrk="0">
              <a:lnSpc>
                <a:spcPct val="110000"/>
              </a:lnSpc>
              <a:spcAft>
                <a:spcPts val="300"/>
              </a:spcAft>
            </a:pPr>
            <a:r>
              <a:rPr sz="1400" b="0">
                <a:solidFill>
                  <a:srgbClr val="1F2A3A"/>
                </a:solidFill>
                <a:latin typeface="맑은 고딕"/>
                <a:ea typeface="맑은 고딕"/>
                <a:cs typeface="맑은 고딕"/>
              </a:rPr>
              <a:t>PLC가 1초에도 수십 번씩 계측값을 읽고 판단한다.</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설정값(Setpoint, SP)</a:t>
            </a:r>
          </a:p>
          <a:p>
            <a:pPr algn="l" eaLnBrk="0">
              <a:lnSpc>
                <a:spcPct val="110000"/>
              </a:lnSpc>
              <a:spcAft>
                <a:spcPts val="200"/>
              </a:spcAft>
            </a:pPr>
            <a:r>
              <a:rPr sz="1150" b="0">
                <a:solidFill>
                  <a:srgbClr val="556175"/>
                </a:solidFill>
                <a:latin typeface="맑은 고딕"/>
                <a:ea typeface="맑은 고딕"/>
                <a:cs typeface="맑은 고딕"/>
              </a:rPr>
              <a:t>제어 목표</a:t>
            </a:r>
          </a:p>
        </p:txBody>
      </p:sp>
      <p:sp>
        <p:nvSpPr>
          <p:cNvPr id="10" name="TextBox 9"/>
          <p:cNvSpPr txBox="1"/>
          <p:nvPr/>
        </p:nvSpPr>
        <p:spPr>
          <a:xfrm>
            <a:off x="4023359" y="2809494"/>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제어할 목표값이다.</a:t>
            </a:r>
          </a:p>
          <a:p>
            <a:pPr algn="l" eaLnBrk="0">
              <a:lnSpc>
                <a:spcPct val="110000"/>
              </a:lnSpc>
              <a:spcAft>
                <a:spcPts val="300"/>
              </a:spcAft>
            </a:pPr>
            <a:r>
              <a:rPr sz="1400" b="0">
                <a:solidFill>
                  <a:srgbClr val="1F2A3A"/>
                </a:solidFill>
                <a:latin typeface="맑은 고딕"/>
                <a:ea typeface="맑은 고딕"/>
                <a:cs typeface="맑은 고딕"/>
              </a:rPr>
              <a:t>HYD-01은 팬 속도 60 %, 펌프 부하 90 % 같은 설정값을 적용한다.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Rounded Rectangle 11"/>
          <p:cNvSpPr/>
          <p:nvPr/>
        </p:nvSpPr>
        <p:spPr>
          <a:xfrm>
            <a:off x="548640" y="4018788"/>
            <a:ext cx="11094415" cy="1126998"/>
          </a:xfrm>
          <a:prstGeom prst="roundRect">
            <a:avLst>
              <a:gd name="adj" fmla="val 6000"/>
            </a:avLst>
          </a:prstGeom>
          <a:solidFill>
            <a:srgbClr val="E7F3FD"/>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인터록(Interlock)</a:t>
            </a:r>
          </a:p>
          <a:p>
            <a:pPr algn="l" eaLnBrk="0">
              <a:lnSpc>
                <a:spcPct val="110000"/>
              </a:lnSpc>
              <a:spcAft>
                <a:spcPts val="200"/>
              </a:spcAft>
            </a:pPr>
            <a:r>
              <a:rPr sz="1150" b="0">
                <a:solidFill>
                  <a:srgbClr val="556175"/>
                </a:solidFill>
                <a:latin typeface="맑은 고딕"/>
                <a:ea typeface="맑은 고딕"/>
                <a:cs typeface="맑은 고딕"/>
              </a:rPr>
              <a:t>설비 보호</a:t>
            </a:r>
          </a:p>
        </p:txBody>
      </p:sp>
      <p:sp>
        <p:nvSpPr>
          <p:cNvPr id="14" name="TextBox 13"/>
          <p:cNvSpPr txBox="1"/>
          <p:nvPr/>
        </p:nvSpPr>
        <p:spPr>
          <a:xfrm>
            <a:off x="4023359" y="3991356"/>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위험 조건에서 다른 명령보다 우선해 설비를 안전한 상태로 전환한다.</a:t>
            </a:r>
          </a:p>
          <a:p>
            <a:pPr algn="l" eaLnBrk="0">
              <a:lnSpc>
                <a:spcPct val="110000"/>
              </a:lnSpc>
              <a:spcAft>
                <a:spcPts val="300"/>
              </a:spcAft>
            </a:pPr>
            <a:r>
              <a:rPr sz="1400" b="0">
                <a:solidFill>
                  <a:srgbClr val="1F2A3A"/>
                </a:solidFill>
                <a:latin typeface="맑은 고딕"/>
                <a:ea typeface="맑은 고딕"/>
                <a:cs typeface="맑은 고딕"/>
              </a:rPr>
              <a:t>유온 TS1 &gt; 65 ℃이면 트립(Trip, 보호 정지)시킨다.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현장 제어</a:t>
            </a:r>
          </a:p>
          <a:p>
            <a:pPr algn="l" eaLnBrk="0">
              <a:lnSpc>
                <a:spcPct val="110000"/>
              </a:lnSpc>
              <a:spcAft>
                <a:spcPts val="200"/>
              </a:spcAft>
            </a:pPr>
            <a:r>
              <a:rPr sz="1150" b="0">
                <a:solidFill>
                  <a:srgbClr val="556175"/>
                </a:solidFill>
                <a:latin typeface="맑은 고딕"/>
                <a:ea typeface="맑은 고딕"/>
                <a:cs typeface="맑은 고딕"/>
              </a:rPr>
              <a:t>실시간성</a:t>
            </a:r>
          </a:p>
        </p:txBody>
      </p:sp>
      <p:sp>
        <p:nvSpPr>
          <p:cNvPr id="17" name="TextBox 16"/>
          <p:cNvSpPr txBox="1"/>
          <p:nvPr/>
        </p:nvSpPr>
        <p:spPr>
          <a:xfrm>
            <a:off x="4023359" y="5173218"/>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서버를 거치면 통신 지연이나 단절의 영향을 받는다.</a:t>
            </a:r>
          </a:p>
          <a:p>
            <a:pPr algn="l" eaLnBrk="0">
              <a:lnSpc>
                <a:spcPct val="110000"/>
              </a:lnSpc>
              <a:spcAft>
                <a:spcPts val="300"/>
              </a:spcAft>
            </a:pPr>
            <a:r>
              <a:rPr sz="1400" b="0">
                <a:solidFill>
                  <a:srgbClr val="1F2A3A"/>
                </a:solidFill>
                <a:latin typeface="맑은 고딕"/>
                <a:ea typeface="맑은 고딕"/>
                <a:cs typeface="맑은 고딕"/>
              </a:rPr>
              <a:t>설비를 지키는 판단은 통신과 서버를 기다리지 않고 PLC에서 끝낸다.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HYD-01의 인터록 세 가지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유온·토출 압력·팬 진동 중 하나라도 위험 조건에 이르면, HYD-01의 PLC가 설비를 보호 정지시킨다.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2293873"/>
            <a:ext cx="3515258" cy="339496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495042"/>
            <a:ext cx="731520" cy="731520"/>
          </a:xfrm>
          <a:prstGeom prst="ellipse">
            <a:avLst/>
          </a:prstGeom>
          <a:solidFill>
            <a:srgbClr val="5CB8F2"/>
          </a:solidFill>
          <a:ln>
            <a:noFill/>
          </a:ln>
        </p:spPr>
        <p:txBody>
          <a:bodyPr rtlCol="0" anchor="ctr"/>
          <a:lstStyle/>
          <a:p>
            <a:pPr algn="ctr"/>
          </a:p>
        </p:txBody>
      </p:sp>
      <p:pic>
        <p:nvPicPr>
          <p:cNvPr id="8" name="아이콘:temperature" descr="temperature_13294B_1.6.png"/>
          <p:cNvPicPr>
            <a:picLocks noChangeAspect="1"/>
          </p:cNvPicPr>
          <p:nvPr/>
        </p:nvPicPr>
        <p:blipFill>
          <a:blip r:embed="rId3"/>
          <a:stretch>
            <a:fillRect/>
          </a:stretch>
        </p:blipFill>
        <p:spPr>
          <a:xfrm>
            <a:off x="930859" y="2648661"/>
            <a:ext cx="424281" cy="424281"/>
          </a:xfrm>
          <a:prstGeom prst="rect">
            <a:avLst/>
          </a:prstGeom>
        </p:spPr>
      </p:pic>
      <p:sp>
        <p:nvSpPr>
          <p:cNvPr id="9" name="TextBox 8"/>
          <p:cNvSpPr txBox="1"/>
          <p:nvPr/>
        </p:nvSpPr>
        <p:spPr>
          <a:xfrm>
            <a:off x="713232"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유온 TS1</a:t>
            </a:r>
          </a:p>
          <a:p>
            <a:pPr algn="l" eaLnBrk="0" marL="205740" indent="-205740">
              <a:lnSpc>
                <a:spcPct val="110000"/>
              </a:lnSpc>
              <a:spcAft>
                <a:spcPts val="400"/>
              </a:spcAft>
            </a:pPr>
            <a:r>
              <a:rPr sz="1800" b="0">
                <a:solidFill>
                  <a:srgbClr val="1F2A3A"/>
                </a:solidFill>
                <a:latin typeface="맑은 고딕"/>
                <a:ea typeface="맑은 고딕"/>
                <a:cs typeface="맑은 고딕"/>
              </a:rPr>
              <a:t>• 65 ℃를 넘으면 트립된다</a:t>
            </a:r>
          </a:p>
          <a:p>
            <a:pPr algn="l" eaLnBrk="0" marL="205740" indent="-205740">
              <a:lnSpc>
                <a:spcPct val="110000"/>
              </a:lnSpc>
              <a:spcAft>
                <a:spcPts val="400"/>
              </a:spcAft>
            </a:pPr>
            <a:r>
              <a:rPr sz="1800" b="0">
                <a:solidFill>
                  <a:srgbClr val="1F2A3A"/>
                </a:solidFill>
                <a:latin typeface="맑은 고딕"/>
                <a:ea typeface="맑은 고딕"/>
                <a:cs typeface="맑은 고딕"/>
              </a:rPr>
              <a:t>• 작동유의 점도가 떨어져 마모가 빨라진다</a:t>
            </a:r>
          </a:p>
        </p:txBody>
      </p:sp>
      <p:sp>
        <p:nvSpPr>
          <p:cNvPr id="10" name="Rounded Rectangle 9"/>
          <p:cNvSpPr/>
          <p:nvPr/>
        </p:nvSpPr>
        <p:spPr>
          <a:xfrm>
            <a:off x="777240" y="5259070"/>
            <a:ext cx="822960"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과열</a:t>
            </a:r>
          </a:p>
        </p:txBody>
      </p:sp>
      <p:sp>
        <p:nvSpPr>
          <p:cNvPr id="12" name="Rounded Rectangle 11"/>
          <p:cNvSpPr/>
          <p:nvPr/>
        </p:nvSpPr>
        <p:spPr>
          <a:xfrm>
            <a:off x="4338218"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042"/>
            <a:ext cx="731520" cy="731520"/>
          </a:xfrm>
          <a:prstGeom prst="ellipse">
            <a:avLst/>
          </a:prstGeom>
          <a:solidFill>
            <a:srgbClr val="E7F3FD"/>
          </a:solidFill>
          <a:ln>
            <a:noFill/>
          </a:ln>
        </p:spPr>
        <p:txBody>
          <a:bodyPr rtlCol="0" anchor="ctr"/>
          <a:lstStyle/>
          <a:p>
            <a:pPr algn="ctr"/>
          </a:p>
        </p:txBody>
      </p:sp>
      <p:pic>
        <p:nvPicPr>
          <p:cNvPr id="14" name="아이콘:gauge" descr="gauge_13294B_1.6.png"/>
          <p:cNvPicPr>
            <a:picLocks noChangeAspect="1"/>
          </p:cNvPicPr>
          <p:nvPr/>
        </p:nvPicPr>
        <p:blipFill>
          <a:blip r:embed="rId4"/>
          <a:stretch>
            <a:fillRect/>
          </a:stretch>
        </p:blipFill>
        <p:spPr>
          <a:xfrm>
            <a:off x="4720437" y="2648661"/>
            <a:ext cx="424281" cy="424281"/>
          </a:xfrm>
          <a:prstGeom prst="rect">
            <a:avLst/>
          </a:prstGeom>
        </p:spPr>
      </p:pic>
      <p:sp>
        <p:nvSpPr>
          <p:cNvPr id="15" name="TextBox 14"/>
          <p:cNvSpPr txBox="1"/>
          <p:nvPr/>
        </p:nvSpPr>
        <p:spPr>
          <a:xfrm>
            <a:off x="4502810"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토출 압력 PS1</a:t>
            </a:r>
          </a:p>
          <a:p>
            <a:pPr algn="l" eaLnBrk="0" marL="205740" indent="-205740">
              <a:lnSpc>
                <a:spcPct val="110000"/>
              </a:lnSpc>
              <a:spcAft>
                <a:spcPts val="400"/>
              </a:spcAft>
            </a:pPr>
            <a:r>
              <a:rPr sz="1800" b="0">
                <a:solidFill>
                  <a:srgbClr val="1F2A3A"/>
                </a:solidFill>
                <a:latin typeface="맑은 고딕"/>
                <a:ea typeface="맑은 고딕"/>
                <a:cs typeface="맑은 고딕"/>
              </a:rPr>
              <a:t>• 130 bar 아래로 내려가면 트립된다</a:t>
            </a:r>
          </a:p>
          <a:p>
            <a:pPr algn="l" eaLnBrk="0" marL="205740" indent="-205740">
              <a:lnSpc>
                <a:spcPct val="110000"/>
              </a:lnSpc>
              <a:spcAft>
                <a:spcPts val="400"/>
              </a:spcAft>
            </a:pPr>
            <a:r>
              <a:rPr sz="1800" b="0">
                <a:solidFill>
                  <a:srgbClr val="1F2A3A"/>
                </a:solidFill>
                <a:latin typeface="맑은 고딕"/>
                <a:ea typeface="맑은 고딕"/>
                <a:cs typeface="맑은 고딕"/>
              </a:rPr>
              <a:t>• 펌프 마모나 내부 누설을 의심한다</a:t>
            </a:r>
          </a:p>
        </p:txBody>
      </p:sp>
      <p:sp>
        <p:nvSpPr>
          <p:cNvPr id="16" name="Rounded Rectangle 15"/>
          <p:cNvSpPr/>
          <p:nvPr/>
        </p:nvSpPr>
        <p:spPr>
          <a:xfrm>
            <a:off x="4566818" y="525907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저압</a:t>
            </a:r>
          </a:p>
        </p:txBody>
      </p:sp>
      <p:sp>
        <p:nvSpPr>
          <p:cNvPr id="18" name="Rounded Rectangle 17"/>
          <p:cNvSpPr/>
          <p:nvPr/>
        </p:nvSpPr>
        <p:spPr>
          <a:xfrm>
            <a:off x="8127796"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495042"/>
            <a:ext cx="731520" cy="731520"/>
          </a:xfrm>
          <a:prstGeom prst="ellipse">
            <a:avLst/>
          </a:prstGeom>
          <a:solidFill>
            <a:srgbClr val="E7F3FD"/>
          </a:solidFill>
          <a:ln>
            <a:noFill/>
          </a:ln>
        </p:spPr>
        <p:txBody>
          <a:bodyPr rtlCol="0" anchor="ctr"/>
          <a:lstStyle/>
          <a:p>
            <a:pPr algn="ctr"/>
          </a:p>
        </p:txBody>
      </p:sp>
      <p:pic>
        <p:nvPicPr>
          <p:cNvPr id="20" name="아이콘:activity" descr="activity_13294B_1.6.png"/>
          <p:cNvPicPr>
            <a:picLocks noChangeAspect="1"/>
          </p:cNvPicPr>
          <p:nvPr/>
        </p:nvPicPr>
        <p:blipFill>
          <a:blip r:embed="rId5"/>
          <a:stretch>
            <a:fillRect/>
          </a:stretch>
        </p:blipFill>
        <p:spPr>
          <a:xfrm>
            <a:off x="8510016" y="2648661"/>
            <a:ext cx="424281" cy="424281"/>
          </a:xfrm>
          <a:prstGeom prst="rect">
            <a:avLst/>
          </a:prstGeom>
        </p:spPr>
      </p:pic>
      <p:sp>
        <p:nvSpPr>
          <p:cNvPr id="21" name="TextBox 20"/>
          <p:cNvSpPr txBox="1"/>
          <p:nvPr/>
        </p:nvSpPr>
        <p:spPr>
          <a:xfrm>
            <a:off x="8292388"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팬 진동 VS1</a:t>
            </a:r>
          </a:p>
          <a:p>
            <a:pPr algn="l" eaLnBrk="0" marL="205740" indent="-205740">
              <a:lnSpc>
                <a:spcPct val="110000"/>
              </a:lnSpc>
              <a:spcAft>
                <a:spcPts val="400"/>
              </a:spcAft>
            </a:pPr>
            <a:r>
              <a:rPr sz="1800" b="0">
                <a:solidFill>
                  <a:srgbClr val="1F2A3A"/>
                </a:solidFill>
                <a:latin typeface="맑은 고딕"/>
                <a:ea typeface="맑은 고딕"/>
                <a:cs typeface="맑은 고딕"/>
              </a:rPr>
              <a:t>• 2.0 mm/s 이상이면 트립된다</a:t>
            </a:r>
          </a:p>
          <a:p>
            <a:pPr algn="l" eaLnBrk="0" marL="205740" indent="-205740">
              <a:lnSpc>
                <a:spcPct val="110000"/>
              </a:lnSpc>
              <a:spcAft>
                <a:spcPts val="400"/>
              </a:spcAft>
            </a:pPr>
            <a:r>
              <a:rPr sz="1800" b="0">
                <a:solidFill>
                  <a:srgbClr val="1F2A3A"/>
                </a:solidFill>
                <a:latin typeface="맑은 고딕"/>
                <a:ea typeface="맑은 고딕"/>
                <a:cs typeface="맑은 고딕"/>
              </a:rPr>
              <a:t>• 그대로 돌리면 팬 베어링이 손상된다</a:t>
            </a:r>
          </a:p>
        </p:txBody>
      </p:sp>
      <p:sp>
        <p:nvSpPr>
          <p:cNvPr id="22" name="Rounded Rectangle 21"/>
          <p:cNvSpPr/>
          <p:nvPr/>
        </p:nvSpPr>
        <p:spPr>
          <a:xfrm>
            <a:off x="8356396" y="525907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고진동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현장 통신의 지연·지터·결정성</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현장 제어 신호는 매번 제시간에 도착해야 하며, 지연의 평균뿐 아니라 변동과 최악의 경우를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17</a:t>
            </a:r>
          </a:p>
        </p:txBody>
      </p:sp>
      <p:sp>
        <p:nvSpPr>
          <p:cNvPr id="6" name="TextBox 5"/>
          <p:cNvSpPr txBox="1"/>
          <p:nvPr/>
        </p:nvSpPr>
        <p:spPr>
          <a:xfrm>
            <a:off x="640080" y="1627632"/>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지연(Latency)</a:t>
            </a:r>
          </a:p>
          <a:p>
            <a:pPr algn="l" eaLnBrk="0">
              <a:lnSpc>
                <a:spcPct val="110000"/>
              </a:lnSpc>
              <a:spcAft>
                <a:spcPts val="200"/>
              </a:spcAft>
            </a:pPr>
            <a:r>
              <a:rPr sz="1150" b="0">
                <a:solidFill>
                  <a:srgbClr val="556175"/>
                </a:solidFill>
                <a:latin typeface="맑은 고딕"/>
                <a:ea typeface="맑은 고딕"/>
                <a:cs typeface="맑은 고딕"/>
              </a:rPr>
              <a:t>걸리는 시간</a:t>
            </a:r>
          </a:p>
        </p:txBody>
      </p:sp>
      <p:sp>
        <p:nvSpPr>
          <p:cNvPr id="7" name="TextBox 6"/>
          <p:cNvSpPr txBox="1"/>
          <p:nvPr/>
        </p:nvSpPr>
        <p:spPr>
          <a:xfrm>
            <a:off x="4023359" y="1627632"/>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신호를 보내고 도착하기까지 걸리는 시간이다.</a:t>
            </a:r>
          </a:p>
          <a:p>
            <a:pPr algn="l" eaLnBrk="0">
              <a:lnSpc>
                <a:spcPct val="110000"/>
              </a:lnSpc>
              <a:spcAft>
                <a:spcPts val="300"/>
              </a:spcAft>
            </a:pPr>
            <a:r>
              <a:rPr sz="1400" b="0">
                <a:solidFill>
                  <a:srgbClr val="1F2A3A"/>
                </a:solidFill>
                <a:latin typeface="맑은 고딕"/>
                <a:ea typeface="맑은 고딕"/>
                <a:cs typeface="맑은 고딕"/>
              </a:rPr>
              <a:t>사무 통신은 평균 지연과 처리량을 중시한다.</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지터(Jitter)</a:t>
            </a:r>
          </a:p>
          <a:p>
            <a:pPr algn="l" eaLnBrk="0">
              <a:lnSpc>
                <a:spcPct val="110000"/>
              </a:lnSpc>
              <a:spcAft>
                <a:spcPts val="200"/>
              </a:spcAft>
            </a:pPr>
            <a:r>
              <a:rPr sz="1150" b="0">
                <a:solidFill>
                  <a:srgbClr val="556175"/>
                </a:solidFill>
                <a:latin typeface="맑은 고딕"/>
                <a:ea typeface="맑은 고딕"/>
                <a:cs typeface="맑은 고딕"/>
              </a:rPr>
              <a:t>지연의 변동</a:t>
            </a:r>
          </a:p>
        </p:txBody>
      </p:sp>
      <p:sp>
        <p:nvSpPr>
          <p:cNvPr id="10" name="TextBox 9"/>
          <p:cNvSpPr txBox="1"/>
          <p:nvPr/>
        </p:nvSpPr>
        <p:spPr>
          <a:xfrm>
            <a:off x="4023359" y="2809494"/>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지연이 매번 달라지는 정도이다.</a:t>
            </a:r>
          </a:p>
          <a:p>
            <a:pPr algn="l" eaLnBrk="0">
              <a:lnSpc>
                <a:spcPct val="110000"/>
              </a:lnSpc>
              <a:spcAft>
                <a:spcPts val="300"/>
              </a:spcAft>
            </a:pPr>
            <a:r>
              <a:rPr sz="1400" b="0">
                <a:solidFill>
                  <a:srgbClr val="1F2A3A"/>
                </a:solidFill>
                <a:latin typeface="맑은 고딕"/>
                <a:ea typeface="맑은 고딕"/>
                <a:cs typeface="맑은 고딕"/>
              </a:rPr>
              <a:t>PLC의 반복 판단에 맞춰 신호가 도착하려면 지터가 작아야 한다.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Rounded Rectangle 11"/>
          <p:cNvSpPr/>
          <p:nvPr/>
        </p:nvSpPr>
        <p:spPr>
          <a:xfrm>
            <a:off x="548640" y="4018788"/>
            <a:ext cx="11094415" cy="1126998"/>
          </a:xfrm>
          <a:prstGeom prst="roundRect">
            <a:avLst>
              <a:gd name="adj" fmla="val 6000"/>
            </a:avLst>
          </a:prstGeom>
          <a:solidFill>
            <a:srgbClr val="E7F3FD"/>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결정성(Determinism)</a:t>
            </a:r>
          </a:p>
          <a:p>
            <a:pPr algn="l" eaLnBrk="0">
              <a:lnSpc>
                <a:spcPct val="110000"/>
              </a:lnSpc>
              <a:spcAft>
                <a:spcPts val="200"/>
              </a:spcAft>
            </a:pPr>
            <a:r>
              <a:rPr sz="1150" b="0">
                <a:solidFill>
                  <a:srgbClr val="556175"/>
                </a:solidFill>
                <a:latin typeface="맑은 고딕"/>
                <a:ea typeface="맑은 고딕"/>
                <a:cs typeface="맑은 고딕"/>
              </a:rPr>
              <a:t>도착 시한</a:t>
            </a:r>
          </a:p>
        </p:txBody>
      </p:sp>
      <p:sp>
        <p:nvSpPr>
          <p:cNvPr id="14" name="TextBox 13"/>
          <p:cNvSpPr txBox="1"/>
          <p:nvPr/>
        </p:nvSpPr>
        <p:spPr>
          <a:xfrm>
            <a:off x="4023359" y="3991356"/>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최악의 경우에도 정해진 시간 안에 전달되는 성질이다.</a:t>
            </a:r>
          </a:p>
          <a:p>
            <a:pPr algn="l" eaLnBrk="0">
              <a:lnSpc>
                <a:spcPct val="110000"/>
              </a:lnSpc>
              <a:spcAft>
                <a:spcPts val="300"/>
              </a:spcAft>
            </a:pPr>
            <a:r>
              <a:rPr sz="1400" b="0">
                <a:solidFill>
                  <a:srgbClr val="1F2A3A"/>
                </a:solidFill>
                <a:latin typeface="맑은 고딕"/>
                <a:ea typeface="맑은 고딕"/>
                <a:cs typeface="맑은 고딕"/>
              </a:rPr>
              <a:t>평균적으로 빠른 것만으로는 현장 제어의 시간 조건을 보장하지 못한다.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통신 보안</a:t>
            </a:r>
          </a:p>
          <a:p>
            <a:pPr algn="l" eaLnBrk="0">
              <a:lnSpc>
                <a:spcPct val="110000"/>
              </a:lnSpc>
              <a:spcAft>
                <a:spcPts val="200"/>
              </a:spcAft>
            </a:pPr>
            <a:r>
              <a:rPr sz="1150" b="0">
                <a:solidFill>
                  <a:srgbClr val="556175"/>
                </a:solidFill>
                <a:latin typeface="맑은 고딕"/>
                <a:ea typeface="맑은 고딕"/>
                <a:cs typeface="맑은 고딕"/>
              </a:rPr>
              <a:t>보호의 분담</a:t>
            </a:r>
          </a:p>
        </p:txBody>
      </p:sp>
      <p:sp>
        <p:nvSpPr>
          <p:cNvPr id="17" name="TextBox 16"/>
          <p:cNvSpPr txBox="1"/>
          <p:nvPr/>
        </p:nvSpPr>
        <p:spPr>
          <a:xfrm>
            <a:off x="4023359" y="5173218"/>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기밀성과 무결성을 위해 암호화와 인증이 필요하다.</a:t>
            </a:r>
          </a:p>
          <a:p>
            <a:pPr algn="l" eaLnBrk="0">
              <a:lnSpc>
                <a:spcPct val="110000"/>
              </a:lnSpc>
              <a:spcAft>
                <a:spcPts val="300"/>
              </a:spcAft>
            </a:pPr>
            <a:r>
              <a:rPr sz="1400" b="0">
                <a:solidFill>
                  <a:srgbClr val="1F2A3A"/>
                </a:solidFill>
                <a:latin typeface="맑은 고딕"/>
                <a:ea typeface="맑은 고딕"/>
                <a:cs typeface="맑은 고딕"/>
              </a:rPr>
              <a:t>Modbus 같은 전통 규약에 부족한 보호 기능은 망 구조와 상위 계층이 보완한다.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Layer 2 · 원시 값에서 태그 메시지로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엣지 게이트웨이는 원시 값을 태그에 대응시키고 시각과 품질을 붙여, 수집할 수 있는 메시지로 바꾼다.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변환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a:t>
            </a:r>
          </a:p>
          <a:p>
            <a:pPr algn="l" eaLnBrk="0">
              <a:lnSpc>
                <a:spcPct val="110000"/>
              </a:lnSpc>
              <a:spcAft>
                <a:spcPts val="200"/>
              </a:spcAft>
            </a:pPr>
            <a:r>
              <a:rPr sz="1300" b="0">
                <a:solidFill>
                  <a:srgbClr val="E8EEF6"/>
                </a:solidFill>
                <a:latin typeface="Consolas"/>
                <a:ea typeface="맑은 고딕"/>
                <a:cs typeface="맑은 고딕"/>
              </a:rPr>
              <a:t>ts1       48.00090867787168</a:t>
            </a:r>
          </a:p>
          <a:p>
            <a:pPr algn="l" eaLnBrk="0">
              <a:lnSpc>
                <a:spcPct val="110000"/>
              </a:lnSpc>
              <a:spcAft>
                <a:spcPts val="200"/>
              </a:spcAft>
            </a:pPr>
            <a:r>
              <a:rPr sz="1300" b="0">
                <a:solidFill>
                  <a:srgbClr val="E8EEF6"/>
                </a:solidFill>
                <a:latin typeface="Consolas"/>
                <a:ea typeface="맑은 고딕"/>
                <a:cs typeface="맑은 고딕"/>
              </a:rPr>
              <a:t>fan_pct   60.0   load_pct 90.0</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태그로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대응한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a:t>
            </a:r>
          </a:p>
          <a:p>
            <a:pPr algn="l" eaLnBrk="0">
              <a:lnSpc>
                <a:spcPct val="110000"/>
              </a:lnSpc>
              <a:spcAft>
                <a:spcPts val="200"/>
              </a:spcAft>
            </a:pPr>
            <a:r>
              <a:rPr sz="1300" b="0">
                <a:solidFill>
                  <a:srgbClr val="E8EEF6"/>
                </a:solidFill>
                <a:latin typeface="Consolas"/>
                <a:ea typeface="맑은 고딕"/>
                <a:cs typeface="맑은 고딕"/>
              </a:rPr>
              <a:t>TS1 48.0   CE 84.0   PS1 182.0   VS1 0.6</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변환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태그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메시지</a:t>
            </a:r>
          </a:p>
          <a:p>
            <a:pPr algn="l" eaLnBrk="0">
              <a:lnSpc>
                <a:spcPct val="110000"/>
              </a:lnSpc>
              <a:spcAft>
                <a:spcPts val="200"/>
              </a:spcAft>
            </a:pPr>
            <a:r>
              <a:rPr sz="1300" b="0">
                <a:solidFill>
                  <a:srgbClr val="E8EEF6"/>
                </a:solidFill>
                <a:latin typeface="Consolas"/>
                <a:ea typeface="맑은 고딕"/>
                <a:cs typeface="맑은 고딕"/>
              </a:rPr>
              <a:t>topic plant/hyd01/tag/TS1</a:t>
            </a:r>
          </a:p>
          <a:p>
            <a:pPr algn="l" eaLnBrk="0">
              <a:lnSpc>
                <a:spcPct val="110000"/>
              </a:lnSpc>
              <a:spcAft>
                <a:spcPts val="200"/>
              </a:spcAft>
            </a:pPr>
            <a:r>
              <a:rPr sz="1300" b="0">
                <a:solidFill>
                  <a:srgbClr val="E8EEF6"/>
                </a:solidFill>
                <a:latin typeface="Consolas"/>
                <a:ea typeface="맑은 고딕"/>
                <a:cs typeface="맑은 고딕"/>
              </a:rPr>
              <a:t>{"t":"2026-10-10T13:02:38.654Z",</a:t>
            </a:r>
          </a:p>
          <a:p>
            <a:pPr algn="l" eaLnBrk="0">
              <a:lnSpc>
                <a:spcPct val="110000"/>
              </a:lnSpc>
              <a:spcAft>
                <a:spcPts val="200"/>
              </a:spcAft>
            </a:pPr>
            <a:r>
              <a:rPr sz="1300" b="0">
                <a:solidFill>
                  <a:srgbClr val="E8EEF6"/>
                </a:solidFill>
                <a:latin typeface="Consolas"/>
                <a:ea typeface="맑은 고딕"/>
                <a:cs typeface="맑은 고딕"/>
              </a:rPr>
              <a:t> "v":48.0,"q":"good"}</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메시지의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주요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a:t>
            </a:r>
          </a:p>
          <a:p>
            <a:pPr algn="l" eaLnBrk="0">
              <a:lnSpc>
                <a:spcPct val="110000"/>
              </a:lnSpc>
              <a:spcAft>
                <a:spcPts val="200"/>
              </a:spcAft>
            </a:pPr>
            <a:r>
              <a:rPr sz="1300" b="0">
                <a:solidFill>
                  <a:srgbClr val="E8EEF6"/>
                </a:solidFill>
                <a:latin typeface="Consolas"/>
                <a:ea typeface="맑은 고딕"/>
                <a:cs typeface="맑은 고딕"/>
              </a:rPr>
              <a:t>mode REMOTE_AUTO    state RUN</a:t>
            </a:r>
          </a:p>
          <a:p>
            <a:pPr algn="l" eaLnBrk="0">
              <a:lnSpc>
                <a:spcPct val="110000"/>
              </a:lnSpc>
              <a:spcAft>
                <a:spcPts val="200"/>
              </a:spcAft>
            </a:pPr>
            <a:r>
              <a:rPr sz="1300" b="0">
                <a:solidFill>
                  <a:srgbClr val="E8EEF6"/>
                </a:solidFill>
                <a:latin typeface="Consolas"/>
                <a:ea typeface="맑은 고딕"/>
                <a:cs typeface="맑은 고딕"/>
              </a:rPr>
              <a:t>fan_pct 60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load_pct 90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interlock PASS</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엣지 게이트웨이(Edge Gateway)</a:t>
            </a:r>
          </a:p>
          <a:p>
            <a:pPr algn="l" eaLnBrk="0">
              <a:lnSpc>
                <a:spcPct val="110000"/>
              </a:lnSpc>
              <a:spcAft>
                <a:spcPts val="400"/>
              </a:spcAft>
            </a:pPr>
            <a:r>
              <a:rPr sz="1400" b="0">
                <a:solidFill>
                  <a:srgbClr val="1F2A3A"/>
                </a:solidFill>
                <a:latin typeface="맑은 고딕"/>
                <a:ea typeface="맑은 고딕"/>
                <a:cs typeface="맑은 고딕"/>
              </a:rPr>
              <a:t>현장 값을 읽어 수집 메시지로 변환한다. 이 역할에는 EdgeX Foundry 같은 것이 있다.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태그(Tag)와 메시지</a:t>
            </a:r>
          </a:p>
          <a:p>
            <a:pPr algn="l" eaLnBrk="0">
              <a:lnSpc>
                <a:spcPct val="110000"/>
              </a:lnSpc>
              <a:spcAft>
                <a:spcPts val="400"/>
              </a:spcAft>
            </a:pPr>
            <a:r>
              <a:rPr sz="1400" b="0">
                <a:solidFill>
                  <a:srgbClr val="1F2A3A"/>
                </a:solidFill>
                <a:latin typeface="맑은 고딕"/>
                <a:ea typeface="맑은 고딕"/>
                <a:cs typeface="맑은 고딕"/>
              </a:rPr>
              <a:t>TS1은 값의 이름이다. t는 보낸 시각, v는 값, q는 품질이며 good은 정상 품질이다.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가상 센서(Virtual Sensor)</a:t>
            </a:r>
          </a:p>
          <a:p>
            <a:pPr algn="l" eaLnBrk="0">
              <a:lnSpc>
                <a:spcPct val="110000"/>
              </a:lnSpc>
              <a:spcAft>
                <a:spcPts val="400"/>
              </a:spcAft>
            </a:pPr>
            <a:r>
              <a:rPr sz="1400" b="0">
                <a:solidFill>
                  <a:srgbClr val="1F2A3A"/>
                </a:solidFill>
                <a:latin typeface="맑은 고딕"/>
                <a:ea typeface="맑은 고딕"/>
                <a:cs typeface="맑은 고딕"/>
              </a:rPr>
              <a:t>직접 재지 않고 계산한 값이다. 냉각 효율 CE의 정상 운전점은 84 %이다.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운전 상태(Status)</a:t>
            </a:r>
          </a:p>
          <a:p>
            <a:pPr algn="l" eaLnBrk="0">
              <a:lnSpc>
                <a:spcPct val="110000"/>
              </a:lnSpc>
              <a:spcAft>
                <a:spcPts val="400"/>
              </a:spcAft>
            </a:pPr>
            <a:r>
              <a:rPr sz="1400" b="0">
                <a:solidFill>
                  <a:srgbClr val="1F2A3A"/>
                </a:solidFill>
                <a:latin typeface="맑은 고딕"/>
                <a:ea typeface="맑은 고딕"/>
                <a:cs typeface="맑은 고딕"/>
              </a:rPr>
              <a:t>원격 자동 REMOTE_AUTO, 운전 중 RUN, 인터록 정상 PASS를 명령 검사에 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점대점 연결과 브로커 중개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송신자와 수신자를 직접 묶으면 한쪽 변경이 다른 쪽에 번지므로, 브로커로 연결 의존성을 줄인다.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2220976"/>
            <a:ext cx="5181447" cy="3540760"/>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422144"/>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점대점(Point-to-Point)</a:t>
            </a:r>
          </a:p>
        </p:txBody>
      </p:sp>
      <p:sp>
        <p:nvSpPr>
          <p:cNvPr id="8" name="TextBox 7"/>
          <p:cNvSpPr txBox="1"/>
          <p:nvPr/>
        </p:nvSpPr>
        <p:spPr>
          <a:xfrm>
            <a:off x="822959" y="3272536"/>
            <a:ext cx="4632807" cy="1940560"/>
          </a:xfrm>
          <a:prstGeom prst="rect">
            <a:avLst/>
          </a:prstGeom>
          <a:noFill/>
        </p:spPr>
        <p:txBody>
          <a:bodyPr wrap="square" anchor="t"/>
          <a:lstStyle/>
          <a:p>
            <a:pPr algn="l" eaLnBrk="0" marL="182880" indent="-182880">
              <a:lnSpc>
                <a:spcPct val="110000"/>
              </a:lnSpc>
              <a:spcAft>
                <a:spcPts val="600"/>
              </a:spcAft>
            </a:pPr>
            <a:r>
              <a:rPr sz="1600" b="0">
                <a:solidFill>
                  <a:srgbClr val="1F2A3A"/>
                </a:solidFill>
                <a:latin typeface="맑은 고딕"/>
                <a:ea typeface="맑은 고딕"/>
                <a:cs typeface="맑은 고딕"/>
              </a:rPr>
              <a:t>• 송신자가 수신자마다 직접 연결하는 방식이다</a:t>
            </a:r>
          </a:p>
          <a:p>
            <a:pPr algn="l" eaLnBrk="0" marL="182880" indent="-182880">
              <a:lnSpc>
                <a:spcPct val="110000"/>
              </a:lnSpc>
              <a:spcAft>
                <a:spcPts val="600"/>
              </a:spcAft>
            </a:pPr>
            <a:r>
              <a:rPr sz="1600" b="0">
                <a:solidFill>
                  <a:srgbClr val="1F2A3A"/>
                </a:solidFill>
                <a:latin typeface="맑은 고딕"/>
                <a:ea typeface="맑은 고딕"/>
                <a:cs typeface="맑은 고딕"/>
              </a:rPr>
              <a:t>• 엣지 → 운전 화면, 엣지 → 수집 서비스</a:t>
            </a:r>
          </a:p>
          <a:p>
            <a:pPr algn="l" eaLnBrk="0" marL="182880" indent="-182880">
              <a:lnSpc>
                <a:spcPct val="110000"/>
              </a:lnSpc>
              <a:spcAft>
                <a:spcPts val="600"/>
              </a:spcAft>
            </a:pPr>
            <a:r>
              <a:rPr sz="1600" b="0">
                <a:solidFill>
                  <a:srgbClr val="1F2A3A"/>
                </a:solidFill>
                <a:latin typeface="맑은 고딕"/>
                <a:ea typeface="맑은 고딕"/>
                <a:cs typeface="맑은 고딕"/>
              </a:rPr>
              <a:t>• 새 수신자를 더하면 송신 측의 연결도 고친다</a:t>
            </a:r>
          </a:p>
          <a:p>
            <a:pPr algn="l" eaLnBrk="0" marL="182880" indent="-182880">
              <a:lnSpc>
                <a:spcPct val="110000"/>
              </a:lnSpc>
              <a:spcAft>
                <a:spcPts val="600"/>
              </a:spcAft>
            </a:pPr>
            <a:r>
              <a:rPr sz="1600" b="0">
                <a:solidFill>
                  <a:srgbClr val="1F2A3A"/>
                </a:solidFill>
                <a:latin typeface="맑은 고딕"/>
                <a:ea typeface="맑은 고딕"/>
                <a:cs typeface="맑은 고딕"/>
              </a:rPr>
              <a:t>• 강한 결합(Tight Coupling): 한쪽 변경이 다른 쪽 변경을 요구한다</a:t>
            </a:r>
          </a:p>
        </p:txBody>
      </p:sp>
      <p:sp>
        <p:nvSpPr>
          <p:cNvPr id="9" name="Rounded Rectangle 8"/>
          <p:cNvSpPr/>
          <p:nvPr/>
        </p:nvSpPr>
        <p:spPr>
          <a:xfrm>
            <a:off x="868680" y="5304536"/>
            <a:ext cx="1021080"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30453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직접 연결</a:t>
            </a:r>
          </a:p>
        </p:txBody>
      </p:sp>
      <p:sp>
        <p:nvSpPr>
          <p:cNvPr id="11" name="Rounded Rectangle 10"/>
          <p:cNvSpPr/>
          <p:nvPr/>
        </p:nvSpPr>
        <p:spPr>
          <a:xfrm>
            <a:off x="6461607" y="2220976"/>
            <a:ext cx="5181447" cy="354076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422144"/>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브로커(Broker) 중개</a:t>
            </a:r>
          </a:p>
        </p:txBody>
      </p:sp>
      <p:sp>
        <p:nvSpPr>
          <p:cNvPr id="13" name="TextBox 12"/>
          <p:cNvSpPr txBox="1"/>
          <p:nvPr/>
        </p:nvSpPr>
        <p:spPr>
          <a:xfrm>
            <a:off x="6735927" y="3272536"/>
            <a:ext cx="4632807" cy="1940560"/>
          </a:xfrm>
          <a:prstGeom prst="rect">
            <a:avLst/>
          </a:prstGeom>
          <a:noFill/>
        </p:spPr>
        <p:txBody>
          <a:bodyPr wrap="square" anchor="t"/>
          <a:lstStyle/>
          <a:p>
            <a:pPr algn="l" eaLnBrk="0" marL="182880" indent="-182880">
              <a:lnSpc>
                <a:spcPct val="110000"/>
              </a:lnSpc>
              <a:spcAft>
                <a:spcPts val="600"/>
              </a:spcAft>
            </a:pPr>
            <a:r>
              <a:rPr sz="1600" b="0">
                <a:solidFill>
                  <a:srgbClr val="1F2A3A"/>
                </a:solidFill>
                <a:latin typeface="맑은 고딕"/>
                <a:ea typeface="맑은 고딕"/>
                <a:cs typeface="맑은 고딕"/>
              </a:rPr>
              <a:t>• 메시지 중개 서버를 사이에 둔다</a:t>
            </a:r>
          </a:p>
          <a:p>
            <a:pPr algn="l" eaLnBrk="0" marL="182880" indent="-182880">
              <a:lnSpc>
                <a:spcPct val="110000"/>
              </a:lnSpc>
              <a:spcAft>
                <a:spcPts val="600"/>
              </a:spcAft>
            </a:pPr>
            <a:r>
              <a:rPr sz="1600" b="0">
                <a:solidFill>
                  <a:srgbClr val="1F2A3A"/>
                </a:solidFill>
                <a:latin typeface="맑은 고딕"/>
                <a:ea typeface="맑은 고딕"/>
                <a:cs typeface="맑은 고딕"/>
              </a:rPr>
              <a:t>• 엣지 → 브로커 → 운전 화면·수집 서비스</a:t>
            </a:r>
          </a:p>
          <a:p>
            <a:pPr algn="l" eaLnBrk="0" marL="182880" indent="-182880">
              <a:lnSpc>
                <a:spcPct val="110000"/>
              </a:lnSpc>
              <a:spcAft>
                <a:spcPts val="600"/>
              </a:spcAft>
            </a:pPr>
            <a:r>
              <a:rPr sz="1600" b="0">
                <a:solidFill>
                  <a:srgbClr val="1F2A3A"/>
                </a:solidFill>
                <a:latin typeface="맑은 고딕"/>
                <a:ea typeface="맑은 고딕"/>
                <a:cs typeface="맑은 고딕"/>
              </a:rPr>
              <a:t>• 새 수신자는 브로커에 구독을 등록한다</a:t>
            </a:r>
          </a:p>
          <a:p>
            <a:pPr algn="l" eaLnBrk="0" marL="182880" indent="-182880">
              <a:lnSpc>
                <a:spcPct val="110000"/>
              </a:lnSpc>
              <a:spcAft>
                <a:spcPts val="600"/>
              </a:spcAft>
            </a:pPr>
            <a:r>
              <a:rPr sz="1600" b="0">
                <a:solidFill>
                  <a:srgbClr val="1F2A3A"/>
                </a:solidFill>
                <a:latin typeface="맑은 고딕"/>
                <a:ea typeface="맑은 고딕"/>
                <a:cs typeface="맑은 고딕"/>
              </a:rPr>
              <a:t>• 느슨한 결합(Loose Coupling): 송신자와 수신자의 직접 의존을 줄인다</a:t>
            </a:r>
          </a:p>
        </p:txBody>
      </p:sp>
      <p:sp>
        <p:nvSpPr>
          <p:cNvPr id="14" name="Rounded Rectangle 13"/>
          <p:cNvSpPr/>
          <p:nvPr/>
        </p:nvSpPr>
        <p:spPr>
          <a:xfrm>
            <a:off x="6781647" y="5304536"/>
            <a:ext cx="102108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30453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중개 연결</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MQTT와 브로커: 발행과 구독</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MQTT(Message Queuing Telemetry Transport)는 </a:t>
            </a:r>
            <a:r>
              <a:rPr sz="1600" b="1">
                <a:solidFill>
                  <a:srgbClr val="1A6FC4"/>
                </a:solidFill>
                <a:latin typeface="맑은 고딕"/>
                <a:ea typeface="맑은 고딕"/>
                <a:cs typeface="맑은 고딕"/>
              </a:rPr>
              <a:t>브로커</a:t>
            </a:r>
            <a:r>
              <a:rPr sz="1600" b="0">
                <a:solidFill>
                  <a:srgbClr val="556175"/>
                </a:solidFill>
                <a:latin typeface="맑은 고딕"/>
                <a:ea typeface="맑은 고딕"/>
                <a:cs typeface="맑은 고딕"/>
              </a:rPr>
              <a:t>를 통한 발행·구독 규약이다.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20</a:t>
            </a:r>
          </a:p>
        </p:txBody>
      </p:sp>
      <p:pic>
        <p:nvPicPr>
          <p:cNvPr id="6" name="삽화:리니지_1_MQTT.svg" descr="illust_855383769195964596_1791978726.png"/>
          <p:cNvPicPr>
            <a:picLocks noChangeAspect="1"/>
          </p:cNvPicPr>
          <p:nvPr/>
        </p:nvPicPr>
        <p:blipFill>
          <a:blip r:embed="rId3"/>
          <a:stretch>
            <a:fillRect/>
          </a:stretch>
        </p:blipFill>
        <p:spPr>
          <a:xfrm>
            <a:off x="895655" y="1627632"/>
            <a:ext cx="10400385" cy="4727448"/>
          </a:xfrm>
          <a:prstGeom prst="rect">
            <a:avLst/>
          </a:prstGeom>
        </p:spPr>
      </p:pic>
      <p:sp>
        <p:nvSpPr>
          <p:cNvPr id="7" name="TextBox 6"/>
          <p:cNvSpPr txBox="1"/>
          <p:nvPr/>
        </p:nvSpPr>
        <p:spPr>
          <a:xfrm>
            <a:off x="1155664" y="4156816"/>
            <a:ext cx="156005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HYD-01</a:t>
            </a:r>
          </a:p>
          <a:p>
            <a:pPr algn="ctr" eaLnBrk="0">
              <a:lnSpc>
                <a:spcPct val="110000"/>
              </a:lnSpc>
              <a:spcAft>
                <a:spcPts val="100"/>
              </a:spcAft>
            </a:pPr>
            <a:r>
              <a:rPr sz="1100" b="0">
                <a:solidFill>
                  <a:srgbClr val="556175"/>
                </a:solidFill>
                <a:latin typeface="맑은 고딕"/>
                <a:ea typeface="맑은 고딕"/>
                <a:cs typeface="맑은 고딕"/>
              </a:rPr>
              <a:t>유온 TS1</a:t>
            </a:r>
          </a:p>
        </p:txBody>
      </p:sp>
      <p:sp>
        <p:nvSpPr>
          <p:cNvPr id="8" name="TextBox 7"/>
          <p:cNvSpPr txBox="1"/>
          <p:nvPr/>
        </p:nvSpPr>
        <p:spPr>
          <a:xfrm>
            <a:off x="3214940" y="4156816"/>
            <a:ext cx="1976073"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발행자(Publisher)</a:t>
            </a:r>
          </a:p>
          <a:p>
            <a:pPr algn="ctr" eaLnBrk="0">
              <a:lnSpc>
                <a:spcPct val="110000"/>
              </a:lnSpc>
              <a:spcAft>
                <a:spcPts val="100"/>
              </a:spcAft>
            </a:pPr>
            <a:r>
              <a:rPr sz="1100" b="0">
                <a:solidFill>
                  <a:srgbClr val="556175"/>
                </a:solidFill>
                <a:latin typeface="맑은 고딕"/>
                <a:ea typeface="맑은 고딕"/>
                <a:cs typeface="맑은 고딕"/>
              </a:rPr>
              <a:t>엣지 게이트웨이</a:t>
            </a:r>
          </a:p>
        </p:txBody>
      </p:sp>
      <p:sp>
        <p:nvSpPr>
          <p:cNvPr id="9" name="TextBox 8"/>
          <p:cNvSpPr txBox="1"/>
          <p:nvPr/>
        </p:nvSpPr>
        <p:spPr>
          <a:xfrm>
            <a:off x="5024607" y="2289474"/>
            <a:ext cx="1768065"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토픽(Topic)</a:t>
            </a:r>
          </a:p>
          <a:p>
            <a:pPr algn="ctr" eaLnBrk="0">
              <a:lnSpc>
                <a:spcPct val="110000"/>
              </a:lnSpc>
              <a:spcAft>
                <a:spcPts val="100"/>
              </a:spcAft>
            </a:pPr>
            <a:r>
              <a:rPr sz="1100" b="0">
                <a:solidFill>
                  <a:srgbClr val="556175"/>
                </a:solidFill>
                <a:latin typeface="맑은 고딕"/>
                <a:ea typeface="맑은 고딕"/>
                <a:cs typeface="맑은 고딕"/>
              </a:rPr>
              <a:t>plant/hyd01/tag/TS1</a:t>
            </a:r>
          </a:p>
        </p:txBody>
      </p:sp>
      <p:sp>
        <p:nvSpPr>
          <p:cNvPr id="10" name="TextBox 9"/>
          <p:cNvSpPr txBox="1"/>
          <p:nvPr/>
        </p:nvSpPr>
        <p:spPr>
          <a:xfrm>
            <a:off x="6771872" y="1958553"/>
            <a:ext cx="1664061" cy="337185"/>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브로커(Broker)</a:t>
            </a:r>
          </a:p>
        </p:txBody>
      </p:sp>
      <p:sp>
        <p:nvSpPr>
          <p:cNvPr id="11" name="TextBox 10"/>
          <p:cNvSpPr txBox="1"/>
          <p:nvPr/>
        </p:nvSpPr>
        <p:spPr>
          <a:xfrm>
            <a:off x="6615866" y="5598688"/>
            <a:ext cx="1976073"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구독자(Subscriber)</a:t>
            </a:r>
          </a:p>
          <a:p>
            <a:pPr algn="ctr" eaLnBrk="0">
              <a:lnSpc>
                <a:spcPct val="110000"/>
              </a:lnSpc>
              <a:spcAft>
                <a:spcPts val="100"/>
              </a:spcAft>
            </a:pPr>
            <a:r>
              <a:rPr sz="1100" b="0">
                <a:solidFill>
                  <a:srgbClr val="556175"/>
                </a:solidFill>
                <a:latin typeface="맑은 고딕"/>
                <a:ea typeface="맑은 고딕"/>
                <a:cs typeface="맑은 고딕"/>
              </a:rPr>
              <a:t>운전 화면</a:t>
            </a:r>
          </a:p>
        </p:txBody>
      </p:sp>
      <p:sp>
        <p:nvSpPr>
          <p:cNvPr id="12" name="TextBox 11"/>
          <p:cNvSpPr txBox="1"/>
          <p:nvPr/>
        </p:nvSpPr>
        <p:spPr>
          <a:xfrm>
            <a:off x="9174361" y="4156816"/>
            <a:ext cx="1976073"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구독자(Subscriber)</a:t>
            </a:r>
          </a:p>
          <a:p>
            <a:pPr algn="ctr" eaLnBrk="0">
              <a:lnSpc>
                <a:spcPct val="110000"/>
              </a:lnSpc>
              <a:spcAft>
                <a:spcPts val="100"/>
              </a:spcAft>
            </a:pPr>
            <a:r>
              <a:rPr sz="1100" b="0">
                <a:solidFill>
                  <a:srgbClr val="556175"/>
                </a:solidFill>
                <a:latin typeface="맑은 고딕"/>
                <a:ea typeface="맑은 고딕"/>
                <a:cs typeface="맑은 고딕"/>
              </a:rPr>
              <a:t>수집 서비스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발행·구독의 전달과 보존 범위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발행·구독의 전달 품질과 메시지 보존은 별개이며, 계측값·운전 상태·명령에 맞춰 다르게 사용한다.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21</a:t>
            </a:r>
          </a:p>
        </p:txBody>
      </p:sp>
      <p:sp>
        <p:nvSpPr>
          <p:cNvPr id="6" name="TextBox 5"/>
          <p:cNvSpPr txBox="1"/>
          <p:nvPr/>
        </p:nvSpPr>
        <p:spPr>
          <a:xfrm>
            <a:off x="640080" y="1627632"/>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발행·구독(Publish/Subscribe)</a:t>
            </a:r>
          </a:p>
          <a:p>
            <a:pPr algn="l" eaLnBrk="0">
              <a:lnSpc>
                <a:spcPct val="110000"/>
              </a:lnSpc>
              <a:spcAft>
                <a:spcPts val="200"/>
              </a:spcAft>
            </a:pPr>
            <a:r>
              <a:rPr sz="1150" b="0">
                <a:solidFill>
                  <a:srgbClr val="556175"/>
                </a:solidFill>
                <a:latin typeface="맑은 고딕"/>
                <a:ea typeface="맑은 고딕"/>
                <a:cs typeface="맑은 고딕"/>
              </a:rPr>
              <a:t>연결의 방식</a:t>
            </a:r>
          </a:p>
        </p:txBody>
      </p:sp>
      <p:sp>
        <p:nvSpPr>
          <p:cNvPr id="7" name="TextBox 6"/>
          <p:cNvSpPr txBox="1"/>
          <p:nvPr/>
        </p:nvSpPr>
        <p:spPr>
          <a:xfrm>
            <a:off x="4023359" y="1627632"/>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구독자는 받을 토픽을 등록하고, 발행자는 그 토픽으로 메시지를 보낸다.</a:t>
            </a:r>
          </a:p>
          <a:p>
            <a:pPr algn="l" eaLnBrk="0">
              <a:lnSpc>
                <a:spcPct val="110000"/>
              </a:lnSpc>
              <a:spcAft>
                <a:spcPts val="300"/>
              </a:spcAft>
            </a:pPr>
            <a:r>
              <a:rPr sz="1400" b="0">
                <a:solidFill>
                  <a:srgbClr val="1F2A3A"/>
                </a:solidFill>
                <a:latin typeface="맑은 고딕"/>
                <a:ea typeface="맑은 고딕"/>
                <a:cs typeface="맑은 고딕"/>
              </a:rPr>
              <a:t>브로커가 구독자에게 밀어 보내는 전달을 푸시(Push)라고 한다.</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전달 품질(QoS)</a:t>
            </a:r>
          </a:p>
          <a:p>
            <a:pPr algn="l" eaLnBrk="0">
              <a:lnSpc>
                <a:spcPct val="110000"/>
              </a:lnSpc>
              <a:spcAft>
                <a:spcPts val="200"/>
              </a:spcAft>
            </a:pPr>
            <a:r>
              <a:rPr sz="1150" b="0">
                <a:solidFill>
                  <a:srgbClr val="556175"/>
                </a:solidFill>
                <a:latin typeface="맑은 고딕"/>
                <a:ea typeface="맑은 고딕"/>
                <a:cs typeface="맑은 고딕"/>
              </a:rPr>
              <a:t>전달 보장</a:t>
            </a:r>
          </a:p>
        </p:txBody>
      </p:sp>
      <p:sp>
        <p:nvSpPr>
          <p:cNvPr id="10" name="TextBox 9"/>
          <p:cNvSpPr txBox="1"/>
          <p:nvPr/>
        </p:nvSpPr>
        <p:spPr>
          <a:xfrm>
            <a:off x="4023359" y="2809494"/>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Quality of Service: 전달 보장 수준이다.</a:t>
            </a:r>
          </a:p>
          <a:p>
            <a:pPr algn="l" eaLnBrk="0">
              <a:lnSpc>
                <a:spcPct val="110000"/>
              </a:lnSpc>
              <a:spcAft>
                <a:spcPts val="300"/>
              </a:spcAft>
            </a:pPr>
            <a:r>
              <a:rPr sz="1400" b="0">
                <a:solidFill>
                  <a:srgbClr val="1F2A3A"/>
                </a:solidFill>
                <a:latin typeface="맑은 고딕"/>
                <a:ea typeface="맑은 고딕"/>
                <a:cs typeface="맑은 고딕"/>
              </a:rPr>
              <a:t>QoS 0은 최대 한 번, 1은 최소 한 번, 2는 정확히 한 번 전달한다.</a:t>
            </a:r>
          </a:p>
          <a:p>
            <a:pPr algn="l" eaLnBrk="0">
              <a:lnSpc>
                <a:spcPct val="110000"/>
              </a:lnSpc>
              <a:spcAft>
                <a:spcPts val="300"/>
              </a:spcAft>
            </a:pPr>
            <a:r>
              <a:rPr sz="1400" b="0">
                <a:solidFill>
                  <a:srgbClr val="1F2A3A"/>
                </a:solidFill>
                <a:latin typeface="맑은 고딕"/>
                <a:ea typeface="맑은 고딕"/>
                <a:cs typeface="맑은 고딕"/>
              </a:rPr>
              <a:t>QoS 1에서는 같은 메시지가 다시 도착할 수 있다.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991356"/>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보존 메시지</a:t>
            </a:r>
          </a:p>
          <a:p>
            <a:pPr algn="l" eaLnBrk="0">
              <a:lnSpc>
                <a:spcPct val="110000"/>
              </a:lnSpc>
              <a:spcAft>
                <a:spcPts val="200"/>
              </a:spcAft>
            </a:pPr>
            <a:r>
              <a:rPr sz="1150" b="0">
                <a:solidFill>
                  <a:srgbClr val="556175"/>
                </a:solidFill>
                <a:latin typeface="맑은 고딕"/>
                <a:ea typeface="맑은 고딕"/>
                <a:cs typeface="맑은 고딕"/>
              </a:rPr>
              <a:t>마지막 한 건</a:t>
            </a:r>
          </a:p>
        </p:txBody>
      </p:sp>
      <p:sp>
        <p:nvSpPr>
          <p:cNvPr id="13" name="TextBox 12"/>
          <p:cNvSpPr txBox="1"/>
          <p:nvPr/>
        </p:nvSpPr>
        <p:spPr>
          <a:xfrm>
            <a:off x="4023359" y="3991356"/>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보존 메시지(Retained Message)는 토픽의 마지막 한 건을 새 구독자에게도 전달한다.</a:t>
            </a:r>
          </a:p>
          <a:p>
            <a:pPr algn="l" eaLnBrk="0">
              <a:lnSpc>
                <a:spcPct val="110000"/>
              </a:lnSpc>
              <a:spcAft>
                <a:spcPts val="300"/>
              </a:spcAft>
            </a:pPr>
            <a:r>
              <a:rPr sz="1400" b="0">
                <a:solidFill>
                  <a:srgbClr val="1F2A3A"/>
                </a:solidFill>
                <a:latin typeface="맑은 고딕"/>
                <a:ea typeface="맑은 고딕"/>
                <a:cs typeface="맑은 고딕"/>
              </a:rPr>
              <a:t>운전 상태는 보존하지만, 과거 이력을 모두 쌓는 기능은 아니다.</a:t>
            </a:r>
          </a:p>
        </p:txBody>
      </p:sp>
      <p:sp>
        <p:nvSpPr>
          <p:cNvPr id="14" name="Rectangle 13"/>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5" name="Rounded Rectangle 14"/>
          <p:cNvSpPr/>
          <p:nvPr/>
        </p:nvSpPr>
        <p:spPr>
          <a:xfrm>
            <a:off x="548640" y="5200650"/>
            <a:ext cx="11094415" cy="1126998"/>
          </a:xfrm>
          <a:prstGeom prst="roundRect">
            <a:avLst>
              <a:gd name="adj" fmla="val 6000"/>
            </a:avLst>
          </a:prstGeom>
          <a:solidFill>
            <a:srgbClr val="E7F3FD"/>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HYD의 메시지별 사용</a:t>
            </a:r>
          </a:p>
          <a:p>
            <a:pPr algn="l" eaLnBrk="0">
              <a:lnSpc>
                <a:spcPct val="110000"/>
              </a:lnSpc>
              <a:spcAft>
                <a:spcPts val="200"/>
              </a:spcAft>
            </a:pPr>
            <a:r>
              <a:rPr sz="1150" b="0">
                <a:solidFill>
                  <a:srgbClr val="556175"/>
                </a:solidFill>
                <a:latin typeface="맑은 고딕"/>
                <a:ea typeface="맑은 고딕"/>
                <a:cs typeface="맑은 고딕"/>
              </a:rPr>
              <a:t>값·상태·명령</a:t>
            </a:r>
          </a:p>
        </p:txBody>
      </p:sp>
      <p:sp>
        <p:nvSpPr>
          <p:cNvPr id="17" name="TextBox 16"/>
          <p:cNvSpPr txBox="1"/>
          <p:nvPr/>
        </p:nvSpPr>
        <p:spPr>
          <a:xfrm>
            <a:off x="4023359" y="5173218"/>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태그 값: QoS 0 · 보존 안 함</a:t>
            </a:r>
          </a:p>
          <a:p>
            <a:pPr algn="l" eaLnBrk="0">
              <a:lnSpc>
                <a:spcPct val="110000"/>
              </a:lnSpc>
              <a:spcAft>
                <a:spcPts val="300"/>
              </a:spcAft>
            </a:pPr>
            <a:r>
              <a:rPr sz="1400" b="0">
                <a:solidFill>
                  <a:srgbClr val="1F2A3A"/>
                </a:solidFill>
                <a:latin typeface="맑은 고딕"/>
                <a:ea typeface="맑은 고딕"/>
                <a:cs typeface="맑은 고딕"/>
              </a:rPr>
              <a:t>운전 상태: QoS 1 · 마지막 값 보존</a:t>
            </a:r>
          </a:p>
          <a:p>
            <a:pPr algn="l" eaLnBrk="0">
              <a:lnSpc>
                <a:spcPct val="110000"/>
              </a:lnSpc>
              <a:spcAft>
                <a:spcPts val="300"/>
              </a:spcAft>
            </a:pPr>
            <a:r>
              <a:rPr sz="1400" b="0">
                <a:solidFill>
                  <a:srgbClr val="1F2A3A"/>
                </a:solidFill>
                <a:latin typeface="맑은 고딕"/>
                <a:ea typeface="맑은 고딕"/>
                <a:cs typeface="맑은 고딕"/>
              </a:rPr>
              <a:t>설비 명령: QoS 1 · 보존 안 함</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토픽의 구조: 빗금으로 나눈 계층형 주소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토픽은 빗금으로 계층을 나눈 문자열이므로, 설비나 태그가 바뀌면 해당 자리만 달라진다.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2545207"/>
            <a:ext cx="6766560" cy="2892297"/>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682367"/>
            <a:ext cx="6400800" cy="261797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plant / hyd01 / tag / TS1</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plant/hyd01/tag/TS1     HYD-01</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p>
          <a:p>
            <a:pPr algn="l" eaLnBrk="0">
              <a:lnSpc>
                <a:spcPct val="110000"/>
              </a:lnSpc>
              <a:spcAft>
                <a:spcPts val="200"/>
              </a:spcAft>
            </a:pPr>
            <a:r>
              <a:rPr sz="1300" b="0">
                <a:solidFill>
                  <a:srgbClr val="E8EEF6"/>
                </a:solidFill>
                <a:latin typeface="Consolas"/>
                <a:ea typeface="맑은 고딕"/>
                <a:cs typeface="맑은 고딕"/>
              </a:rPr>
              <a:t>plant/hyd01/tag/CE      HYD-01</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p>
          <a:p>
            <a:pPr algn="l" eaLnBrk="0">
              <a:lnSpc>
                <a:spcPct val="110000"/>
              </a:lnSpc>
              <a:spcAft>
                <a:spcPts val="200"/>
              </a:spcAft>
            </a:pPr>
            <a:r>
              <a:rPr sz="1300" b="0">
                <a:solidFill>
                  <a:srgbClr val="E8EEF6"/>
                </a:solidFill>
                <a:latin typeface="Consolas"/>
                <a:ea typeface="맑은 고딕"/>
                <a:cs typeface="맑은 고딕"/>
              </a:rPr>
              <a:t>plant/hyd02/tag/TS1     HYD-02</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p>
          <a:p>
            <a:pPr algn="l" eaLnBrk="0">
              <a:lnSpc>
                <a:spcPct val="110000"/>
              </a:lnSpc>
              <a:spcAft>
                <a:spcPts val="200"/>
              </a:spcAft>
            </a:pPr>
            <a:r>
              <a:rPr sz="1300" b="0">
                <a:solidFill>
                  <a:srgbClr val="E8EEF6"/>
                </a:solidFill>
                <a:latin typeface="Consolas"/>
                <a:ea typeface="맑은 고딕"/>
                <a:cs typeface="맑은 고딕"/>
              </a:rPr>
              <a:t>plant/hyd01/status      HYD-01</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a:t>
            </a:r>
          </a:p>
        </p:txBody>
      </p:sp>
      <p:sp>
        <p:nvSpPr>
          <p:cNvPr id="8" name="TextBox 7"/>
          <p:cNvSpPr txBox="1"/>
          <p:nvPr/>
        </p:nvSpPr>
        <p:spPr>
          <a:xfrm>
            <a:off x="7635240" y="2545207"/>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hyd01</a:t>
            </a:r>
          </a:p>
          <a:p>
            <a:pPr algn="l" eaLnBrk="0">
              <a:lnSpc>
                <a:spcPct val="110000"/>
              </a:lnSpc>
              <a:spcAft>
                <a:spcPts val="400"/>
              </a:spcAft>
            </a:pPr>
            <a:r>
              <a:rPr sz="1400" b="0">
                <a:solidFill>
                  <a:srgbClr val="1F2A3A"/>
                </a:solidFill>
                <a:latin typeface="맑은 고딕"/>
                <a:ea typeface="맑은 고딕"/>
                <a:cs typeface="맑은 고딕"/>
              </a:rPr>
              <a:t>설비 자리이다. HYD-01, HYD-02, HYD-03 세 대가 hyd01, hyd02, hyd03으로 들어간다.</a:t>
            </a:r>
          </a:p>
        </p:txBody>
      </p:sp>
      <p:sp>
        <p:nvSpPr>
          <p:cNvPr id="9" name="TextBox 8"/>
          <p:cNvSpPr txBox="1"/>
          <p:nvPr/>
        </p:nvSpPr>
        <p:spPr>
          <a:xfrm>
            <a:off x="7635240" y="3509306"/>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tag · TS1</a:t>
            </a:r>
          </a:p>
          <a:p>
            <a:pPr algn="l" eaLnBrk="0">
              <a:lnSpc>
                <a:spcPct val="110000"/>
              </a:lnSpc>
              <a:spcAft>
                <a:spcPts val="400"/>
              </a:spcAft>
            </a:pPr>
            <a:r>
              <a:rPr sz="1400" b="0">
                <a:solidFill>
                  <a:srgbClr val="1F2A3A"/>
                </a:solidFill>
                <a:latin typeface="맑은 고딕"/>
                <a:ea typeface="맑은 고딕"/>
                <a:cs typeface="맑은 고딕"/>
              </a:rPr>
              <a:t>태그 값이라는 표시와 태그 이름이다.</a:t>
            </a:r>
          </a:p>
        </p:txBody>
      </p:sp>
      <p:sp>
        <p:nvSpPr>
          <p:cNvPr id="10" name="TextBox 9"/>
          <p:cNvSpPr txBox="1"/>
          <p:nvPr/>
        </p:nvSpPr>
        <p:spPr>
          <a:xfrm>
            <a:off x="7635240" y="4473405"/>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status</a:t>
            </a:r>
          </a:p>
          <a:p>
            <a:pPr algn="l" eaLnBrk="0">
              <a:lnSpc>
                <a:spcPct val="110000"/>
              </a:lnSpc>
              <a:spcAft>
                <a:spcPts val="400"/>
              </a:spcAft>
            </a:pPr>
            <a:r>
              <a:rPr sz="1400" b="0">
                <a:solidFill>
                  <a:srgbClr val="1F2A3A"/>
                </a:solidFill>
                <a:latin typeface="맑은 고딕"/>
                <a:ea typeface="맑은 고딕"/>
                <a:cs typeface="맑은 고딕"/>
              </a:rPr>
              <a:t>앞에서 본 운전 상태가 올라오는 토픽이다.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OT와 IT를 직접 잇지 않는 이유</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외부와 연결된 IT의 침해가 설비 사고로 번지지 않도록, OT와 IT의 망을 나누어 직접 연결을 막는다.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220976"/>
            <a:ext cx="5181447" cy="354076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22144"/>
            <a:ext cx="731520" cy="731520"/>
          </a:xfrm>
          <a:prstGeom prst="ellipse">
            <a:avLst/>
          </a:prstGeom>
          <a:solidFill>
            <a:srgbClr val="FFFFFF"/>
          </a:solidFill>
          <a:ln>
            <a:noFill/>
          </a:ln>
        </p:spPr>
        <p:txBody>
          <a:bodyPr rtlCol="0" anchor="ctr"/>
          <a:lstStyle/>
          <a:p>
            <a:pPr algn="ctr"/>
          </a:p>
        </p:txBody>
      </p:sp>
      <p:pic>
        <p:nvPicPr>
          <p:cNvPr id="8" name="아이콘:engine" descr="engine_13294B_1.6.png"/>
          <p:cNvPicPr>
            <a:picLocks noChangeAspect="1"/>
          </p:cNvPicPr>
          <p:nvPr/>
        </p:nvPicPr>
        <p:blipFill>
          <a:blip r:embed="rId3"/>
          <a:stretch>
            <a:fillRect/>
          </a:stretch>
        </p:blipFill>
        <p:spPr>
          <a:xfrm>
            <a:off x="976579" y="2575763"/>
            <a:ext cx="424281" cy="424281"/>
          </a:xfrm>
          <a:prstGeom prst="rect">
            <a:avLst/>
          </a:prstGeom>
        </p:spPr>
      </p:pic>
      <p:sp>
        <p:nvSpPr>
          <p:cNvPr id="9" name="TextBox 8"/>
          <p:cNvSpPr txBox="1"/>
          <p:nvPr/>
        </p:nvSpPr>
        <p:spPr>
          <a:xfrm>
            <a:off x="1691640" y="242214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OT</a:t>
            </a:r>
          </a:p>
        </p:txBody>
      </p:sp>
      <p:sp>
        <p:nvSpPr>
          <p:cNvPr id="10" name="TextBox 9"/>
          <p:cNvSpPr txBox="1"/>
          <p:nvPr/>
        </p:nvSpPr>
        <p:spPr>
          <a:xfrm>
            <a:off x="822959" y="3272536"/>
            <a:ext cx="4632807" cy="1940560"/>
          </a:xfrm>
          <a:prstGeom prst="rect">
            <a:avLst/>
          </a:prstGeom>
          <a:noFill/>
        </p:spPr>
        <p:txBody>
          <a:bodyPr wrap="square" anchor="t"/>
          <a:lstStyle/>
          <a:p>
            <a:pPr algn="l" eaLnBrk="0" marL="182880" indent="-182880">
              <a:lnSpc>
                <a:spcPct val="110000"/>
              </a:lnSpc>
              <a:spcAft>
                <a:spcPts val="600"/>
              </a:spcAft>
            </a:pPr>
            <a:r>
              <a:rPr sz="1600" b="0">
                <a:solidFill>
                  <a:srgbClr val="1F2A3A"/>
                </a:solidFill>
                <a:latin typeface="맑은 고딕"/>
                <a:ea typeface="맑은 고딕"/>
                <a:cs typeface="맑은 고딕"/>
              </a:rPr>
              <a:t>• Operational Technology</a:t>
            </a:r>
          </a:p>
          <a:p>
            <a:pPr algn="l" eaLnBrk="0" marL="182880" indent="-182880">
              <a:lnSpc>
                <a:spcPct val="110000"/>
              </a:lnSpc>
              <a:spcAft>
                <a:spcPts val="600"/>
              </a:spcAft>
            </a:pPr>
            <a:r>
              <a:rPr sz="1600" b="0">
                <a:solidFill>
                  <a:srgbClr val="1F2A3A"/>
                </a:solidFill>
                <a:latin typeface="맑은 고딕"/>
                <a:ea typeface="맑은 고딕"/>
                <a:cs typeface="맑은 고딕"/>
              </a:rPr>
              <a:t>• 설비를 직접 감시 · 제어한다</a:t>
            </a:r>
          </a:p>
          <a:p>
            <a:pPr algn="l" eaLnBrk="0" marL="182880" indent="-182880">
              <a:lnSpc>
                <a:spcPct val="110000"/>
              </a:lnSpc>
              <a:spcAft>
                <a:spcPts val="600"/>
              </a:spcAft>
            </a:pPr>
            <a:r>
              <a:rPr sz="1600" b="0">
                <a:solidFill>
                  <a:srgbClr val="1F2A3A"/>
                </a:solidFill>
                <a:latin typeface="맑은 고딕"/>
                <a:ea typeface="맑은 고딕"/>
                <a:cs typeface="맑은 고딕"/>
              </a:rPr>
              <a:t>• 가용성과 안전이 최우선이다</a:t>
            </a:r>
          </a:p>
          <a:p>
            <a:pPr algn="l" eaLnBrk="0" marL="182880" indent="-182880">
              <a:lnSpc>
                <a:spcPct val="110000"/>
              </a:lnSpc>
              <a:spcAft>
                <a:spcPts val="600"/>
              </a:spcAft>
            </a:pPr>
            <a:r>
              <a:rPr sz="1600" b="0">
                <a:solidFill>
                  <a:srgbClr val="1F2A3A"/>
                </a:solidFill>
                <a:latin typeface="맑은 고딕"/>
                <a:ea typeface="맑은 고딕"/>
                <a:cs typeface="맑은 고딕"/>
              </a:rPr>
              <a:t>• 잘못된 명령은 곧 설비 사고로 이어진다</a:t>
            </a:r>
          </a:p>
        </p:txBody>
      </p:sp>
      <p:sp>
        <p:nvSpPr>
          <p:cNvPr id="11" name="Rounded Rectangle 10"/>
          <p:cNvSpPr/>
          <p:nvPr/>
        </p:nvSpPr>
        <p:spPr>
          <a:xfrm>
            <a:off x="868680" y="530453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045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가용성 · 안전</a:t>
            </a:r>
          </a:p>
        </p:txBody>
      </p:sp>
      <p:sp>
        <p:nvSpPr>
          <p:cNvPr id="13" name="Rounded Rectangle 12"/>
          <p:cNvSpPr/>
          <p:nvPr/>
        </p:nvSpPr>
        <p:spPr>
          <a:xfrm>
            <a:off x="6461607" y="2220976"/>
            <a:ext cx="5181447" cy="3540760"/>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422144"/>
            <a:ext cx="731520" cy="731520"/>
          </a:xfrm>
          <a:prstGeom prst="ellipse">
            <a:avLst/>
          </a:prstGeom>
          <a:solidFill>
            <a:srgbClr val="FFFFFF"/>
          </a:solidFill>
          <a:ln>
            <a:noFill/>
          </a:ln>
        </p:spPr>
        <p:txBody>
          <a:bodyPr rtlCol="0" anchor="ctr"/>
          <a:lstStyle/>
          <a:p>
            <a:pPr algn="ctr"/>
          </a:p>
        </p:txBody>
      </p:sp>
      <p:pic>
        <p:nvPicPr>
          <p:cNvPr id="15" name="아이콘:world" descr="world_13294B_1.6.png"/>
          <p:cNvPicPr>
            <a:picLocks noChangeAspect="1"/>
          </p:cNvPicPr>
          <p:nvPr/>
        </p:nvPicPr>
        <p:blipFill>
          <a:blip r:embed="rId4"/>
          <a:stretch>
            <a:fillRect/>
          </a:stretch>
        </p:blipFill>
        <p:spPr>
          <a:xfrm>
            <a:off x="6889546" y="2575763"/>
            <a:ext cx="424281" cy="424281"/>
          </a:xfrm>
          <a:prstGeom prst="rect">
            <a:avLst/>
          </a:prstGeom>
        </p:spPr>
      </p:pic>
      <p:sp>
        <p:nvSpPr>
          <p:cNvPr id="16" name="TextBox 15"/>
          <p:cNvSpPr txBox="1"/>
          <p:nvPr/>
        </p:nvSpPr>
        <p:spPr>
          <a:xfrm>
            <a:off x="7604607" y="242214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IT</a:t>
            </a:r>
          </a:p>
        </p:txBody>
      </p:sp>
      <p:sp>
        <p:nvSpPr>
          <p:cNvPr id="17" name="TextBox 16"/>
          <p:cNvSpPr txBox="1"/>
          <p:nvPr/>
        </p:nvSpPr>
        <p:spPr>
          <a:xfrm>
            <a:off x="6735927" y="3272536"/>
            <a:ext cx="4632807" cy="1940560"/>
          </a:xfrm>
          <a:prstGeom prst="rect">
            <a:avLst/>
          </a:prstGeom>
          <a:noFill/>
        </p:spPr>
        <p:txBody>
          <a:bodyPr wrap="square" anchor="t"/>
          <a:lstStyle/>
          <a:p>
            <a:pPr algn="l" eaLnBrk="0" marL="182880" indent="-182880">
              <a:lnSpc>
                <a:spcPct val="110000"/>
              </a:lnSpc>
              <a:spcAft>
                <a:spcPts val="600"/>
              </a:spcAft>
            </a:pPr>
            <a:r>
              <a:rPr sz="1600" b="0">
                <a:solidFill>
                  <a:srgbClr val="1F2A3A"/>
                </a:solidFill>
                <a:latin typeface="맑은 고딕"/>
                <a:ea typeface="맑은 고딕"/>
                <a:cs typeface="맑은 고딕"/>
              </a:rPr>
              <a:t>• Information Technology</a:t>
            </a:r>
          </a:p>
          <a:p>
            <a:pPr algn="l" eaLnBrk="0" marL="182880" indent="-182880">
              <a:lnSpc>
                <a:spcPct val="110000"/>
              </a:lnSpc>
              <a:spcAft>
                <a:spcPts val="600"/>
              </a:spcAft>
            </a:pPr>
            <a:r>
              <a:rPr sz="1600" b="0">
                <a:solidFill>
                  <a:srgbClr val="1F2A3A"/>
                </a:solidFill>
                <a:latin typeface="맑은 고딕"/>
                <a:ea typeface="맑은 고딕"/>
                <a:cs typeface="맑은 고딕"/>
              </a:rPr>
              <a:t>• 업무 데이터를 다룬다</a:t>
            </a:r>
          </a:p>
          <a:p>
            <a:pPr algn="l" eaLnBrk="0" marL="182880" indent="-182880">
              <a:lnSpc>
                <a:spcPct val="110000"/>
              </a:lnSpc>
              <a:spcAft>
                <a:spcPts val="600"/>
              </a:spcAft>
            </a:pPr>
            <a:r>
              <a:rPr sz="1600" b="0">
                <a:solidFill>
                  <a:srgbClr val="1F2A3A"/>
                </a:solidFill>
                <a:latin typeface="맑은 고딕"/>
                <a:ea typeface="맑은 고딕"/>
                <a:cs typeface="맑은 고딕"/>
              </a:rPr>
              <a:t>• 사무망 · 인터넷과 연결되어 침해에 노출된다</a:t>
            </a:r>
          </a:p>
          <a:p>
            <a:pPr algn="l" eaLnBrk="0" marL="182880" indent="-182880">
              <a:lnSpc>
                <a:spcPct val="110000"/>
              </a:lnSpc>
              <a:spcAft>
                <a:spcPts val="600"/>
              </a:spcAft>
            </a:pPr>
            <a:r>
              <a:rPr sz="1600" b="0">
                <a:solidFill>
                  <a:srgbClr val="1F2A3A"/>
                </a:solidFill>
                <a:latin typeface="맑은 고딕"/>
                <a:ea typeface="맑은 고딕"/>
                <a:cs typeface="맑은 고딕"/>
              </a:rPr>
              <a:t>• 망 분리(Network Segmentation)로 OT와 직접 연결을 제한한다</a:t>
            </a:r>
          </a:p>
        </p:txBody>
      </p:sp>
      <p:sp>
        <p:nvSpPr>
          <p:cNvPr id="18" name="Rounded Rectangle 17"/>
          <p:cNvSpPr/>
          <p:nvPr/>
        </p:nvSpPr>
        <p:spPr>
          <a:xfrm>
            <a:off x="6781647" y="5304536"/>
            <a:ext cx="1523999"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304536"/>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기밀성 · 무결성</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완충 구역과 단방향 수집</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OT와 IT 사이의 </a:t>
            </a:r>
            <a:r>
              <a:rPr sz="1600" b="1">
                <a:solidFill>
                  <a:srgbClr val="1A6FC4"/>
                </a:solidFill>
                <a:latin typeface="맑은 고딕"/>
                <a:ea typeface="맑은 고딕"/>
                <a:cs typeface="맑은 고딕"/>
              </a:rPr>
              <a:t>DMZ</a:t>
            </a:r>
            <a:r>
              <a:rPr sz="1600" b="0">
                <a:solidFill>
                  <a:srgbClr val="556175"/>
                </a:solidFill>
                <a:latin typeface="맑은 고딕"/>
                <a:ea typeface="맑은 고딕"/>
                <a:cs typeface="맑은 고딕"/>
              </a:rPr>
              <a:t>에서 수집 서비스가 계측 데이터를 복제하고, 자동 명령은 별도 관문에서 검사한다.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DMZ(Demilitarized Zone)</a:t>
            </a:r>
          </a:p>
          <a:p>
            <a:pPr algn="l" eaLnBrk="0">
              <a:lnSpc>
                <a:spcPct val="110000"/>
              </a:lnSpc>
              <a:spcAft>
                <a:spcPts val="200"/>
              </a:spcAft>
            </a:pPr>
            <a:r>
              <a:rPr sz="1150" b="0">
                <a:solidFill>
                  <a:srgbClr val="556175"/>
                </a:solidFill>
                <a:latin typeface="맑은 고딕"/>
                <a:ea typeface="맑은 고딕"/>
                <a:cs typeface="맑은 고딕"/>
              </a:rPr>
              <a:t>완충 구역</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OT와 IT를 직접 잇지 않고 중간에서 연결을 제한하는 완충 구역이다.</a:t>
            </a:r>
          </a:p>
          <a:p>
            <a:pPr algn="l" eaLnBrk="0">
              <a:lnSpc>
                <a:spcPct val="110000"/>
              </a:lnSpc>
              <a:spcAft>
                <a:spcPts val="300"/>
              </a:spcAft>
            </a:pPr>
            <a:r>
              <a:rPr sz="1400" b="0">
                <a:solidFill>
                  <a:srgbClr val="1F2A3A"/>
                </a:solidFill>
                <a:latin typeface="맑은 고딕"/>
                <a:ea typeface="맑은 고딕"/>
                <a:cs typeface="맑은 고딕"/>
              </a:rPr>
              <a:t>수집 서비스와 명령 관문이 이 영역에 놓인다.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수집 서비스</a:t>
            </a:r>
          </a:p>
          <a:p>
            <a:pPr algn="l" eaLnBrk="0">
              <a:lnSpc>
                <a:spcPct val="110000"/>
              </a:lnSpc>
              <a:spcAft>
                <a:spcPts val="200"/>
              </a:spcAft>
            </a:pPr>
            <a:r>
              <a:rPr sz="1150" b="0">
                <a:solidFill>
                  <a:srgbClr val="556175"/>
                </a:solidFill>
                <a:latin typeface="맑은 고딕"/>
                <a:ea typeface="맑은 고딕"/>
                <a:cs typeface="맑은 고딕"/>
              </a:rPr>
              <a:t>데이터 수집</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OT 브로커를 구독해 받은 메시지를 IT 이벤트 로그로 옮긴다.</a:t>
            </a:r>
          </a:p>
          <a:p>
            <a:pPr algn="l" eaLnBrk="0">
              <a:lnSpc>
                <a:spcPct val="110000"/>
              </a:lnSpc>
              <a:spcAft>
                <a:spcPts val="300"/>
              </a:spcAft>
            </a:pPr>
            <a:r>
              <a:rPr sz="1400" b="0">
                <a:solidFill>
                  <a:srgbClr val="1F2A3A"/>
                </a:solidFill>
                <a:latin typeface="맑은 고딕"/>
                <a:ea typeface="맑은 고딕"/>
                <a:cs typeface="맑은 고딕"/>
              </a:rPr>
              <a:t>브로커 → 수집 서비스 → 이벤트 로그</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단방향 복제</a:t>
            </a:r>
          </a:p>
          <a:p>
            <a:pPr algn="l" eaLnBrk="0">
              <a:lnSpc>
                <a:spcPct val="110000"/>
              </a:lnSpc>
              <a:spcAft>
                <a:spcPts val="200"/>
              </a:spcAft>
            </a:pPr>
            <a:r>
              <a:rPr sz="1150" b="0">
                <a:solidFill>
                  <a:srgbClr val="556175"/>
                </a:solidFill>
                <a:latin typeface="맑은 고딕"/>
                <a:ea typeface="맑은 고딕"/>
                <a:cs typeface="맑은 고딕"/>
              </a:rPr>
              <a:t>방향의 분리</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단방향 복제(One-way Replication)는 한 방향으로만 데이터를 복사하는 것이다.</a:t>
            </a:r>
          </a:p>
          <a:p>
            <a:pPr algn="l" eaLnBrk="0">
              <a:lnSpc>
                <a:spcPct val="110000"/>
              </a:lnSpc>
              <a:spcAft>
                <a:spcPts val="300"/>
              </a:spcAft>
            </a:pPr>
            <a:r>
              <a:rPr sz="1400" b="0">
                <a:solidFill>
                  <a:srgbClr val="1F2A3A"/>
                </a:solidFill>
                <a:latin typeface="맑은 고딕"/>
                <a:ea typeface="맑은 고딕"/>
                <a:cs typeface="맑은 고딕"/>
              </a:rPr>
              <a:t>수집 서비스는 OT에 발행하지 않으며, 자동 명령은 별도 경로로 전달한다.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Layer 3 · 메시지를 기록으로 옮긴다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토픽에 있던 설비와 태그 이름을 메시지 본문에 넣으면, 레코드 한 건으로 값의 출처를 알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브로커가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전달한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메시지</a:t>
            </a:r>
          </a:p>
          <a:p>
            <a:pPr algn="l" eaLnBrk="0">
              <a:lnSpc>
                <a:spcPct val="110000"/>
              </a:lnSpc>
              <a:spcAft>
                <a:spcPts val="200"/>
              </a:spcAft>
            </a:pPr>
            <a:r>
              <a:rPr sz="1300" b="0">
                <a:solidFill>
                  <a:srgbClr val="E8EEF6"/>
                </a:solidFill>
                <a:latin typeface="Consolas"/>
                <a:ea typeface="맑은 고딕"/>
                <a:cs typeface="맑은 고딕"/>
              </a:rPr>
              <a:t>topic   plant/hyd01/tag/TS1</a:t>
            </a:r>
          </a:p>
          <a:p>
            <a:pPr algn="l" eaLnBrk="0">
              <a:lnSpc>
                <a:spcPct val="110000"/>
              </a:lnSpc>
              <a:spcAft>
                <a:spcPts val="200"/>
              </a:spcAft>
            </a:pPr>
            <a:r>
              <a:rPr sz="1300" b="0">
                <a:solidFill>
                  <a:srgbClr val="E8EEF6"/>
                </a:solidFill>
                <a:latin typeface="Consolas"/>
                <a:ea typeface="맑은 고딕"/>
                <a:cs typeface="맑은 고딕"/>
              </a:rPr>
              <a:t>payload {"t":"2026-10-10T02:13:08.508Z",</a:t>
            </a:r>
          </a:p>
          <a:p>
            <a:pPr algn="l" eaLnBrk="0">
              <a:lnSpc>
                <a:spcPct val="110000"/>
              </a:lnSpc>
              <a:spcAft>
                <a:spcPts val="200"/>
              </a:spcAft>
            </a:pPr>
            <a:r>
              <a:rPr sz="1300" b="0">
                <a:solidFill>
                  <a:srgbClr val="E8EEF6"/>
                </a:solidFill>
                <a:latin typeface="Consolas"/>
                <a:ea typeface="맑은 고딕"/>
                <a:cs typeface="맑은 고딕"/>
              </a:rPr>
              <a:t>         "v":55.71,"q":"good"}</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수집</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서비스가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남긴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레코드</a:t>
            </a:r>
          </a:p>
          <a:p>
            <a:pPr algn="l" eaLnBrk="0">
              <a:lnSpc>
                <a:spcPct val="110000"/>
              </a:lnSpc>
              <a:spcAft>
                <a:spcPts val="200"/>
              </a:spcAft>
            </a:pPr>
            <a:r>
              <a:rPr sz="1300" b="0">
                <a:solidFill>
                  <a:srgbClr val="E8EEF6"/>
                </a:solidFill>
                <a:latin typeface="Consolas"/>
                <a:ea typeface="맑은 고딕"/>
                <a:cs typeface="맑은 고딕"/>
              </a:rPr>
              <a:t>topic   plant.tag</a:t>
            </a:r>
          </a:p>
          <a:p>
            <a:pPr algn="l" eaLnBrk="0">
              <a:lnSpc>
                <a:spcPct val="110000"/>
              </a:lnSpc>
              <a:spcAft>
                <a:spcPts val="200"/>
              </a:spcAft>
            </a:pPr>
            <a:r>
              <a:rPr sz="1300" b="0">
                <a:solidFill>
                  <a:srgbClr val="E8EEF6"/>
                </a:solidFill>
                <a:latin typeface="Consolas"/>
                <a:ea typeface="맑은 고딕"/>
                <a:cs typeface="맑은 고딕"/>
              </a:rPr>
              <a:t>key     hyd01</a:t>
            </a:r>
          </a:p>
          <a:p>
            <a:pPr algn="l" eaLnBrk="0">
              <a:lnSpc>
                <a:spcPct val="110000"/>
              </a:lnSpc>
              <a:spcAft>
                <a:spcPts val="200"/>
              </a:spcAft>
            </a:pPr>
            <a:r>
              <a:rPr sz="1300" b="0">
                <a:solidFill>
                  <a:srgbClr val="E8EEF6"/>
                </a:solidFill>
                <a:latin typeface="Consolas"/>
                <a:ea typeface="맑은 고딕"/>
                <a:cs typeface="맑은 고딕"/>
              </a:rPr>
              <a:t>value   {"asset":"HYD-01","name":"TS1",</a:t>
            </a:r>
          </a:p>
          <a:p>
            <a:pPr algn="l" eaLnBrk="0">
              <a:lnSpc>
                <a:spcPct val="110000"/>
              </a:lnSpc>
              <a:spcAft>
                <a:spcPts val="200"/>
              </a:spcAft>
            </a:pPr>
            <a:r>
              <a:rPr sz="1300" b="0">
                <a:solidFill>
                  <a:srgbClr val="E8EEF6"/>
                </a:solidFill>
                <a:latin typeface="Consolas"/>
                <a:ea typeface="맑은 고딕"/>
                <a:cs typeface="맑은 고딕"/>
              </a:rPr>
              <a:t>         "t":"2026-10-10T02:13:08.508Z",</a:t>
            </a:r>
          </a:p>
          <a:p>
            <a:pPr algn="l" eaLnBrk="0">
              <a:lnSpc>
                <a:spcPct val="110000"/>
              </a:lnSpc>
              <a:spcAft>
                <a:spcPts val="200"/>
              </a:spcAft>
            </a:pPr>
            <a:r>
              <a:rPr sz="1300" b="0">
                <a:solidFill>
                  <a:srgbClr val="E8EEF6"/>
                </a:solidFill>
                <a:latin typeface="Consolas"/>
                <a:ea typeface="맑은 고딕"/>
                <a:cs typeface="맑은 고딕"/>
              </a:rPr>
              <a:t>         "v":55.71,"q":"good"}</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페이로드(Payload)</a:t>
            </a:r>
          </a:p>
          <a:p>
            <a:pPr algn="l" eaLnBrk="0">
              <a:lnSpc>
                <a:spcPct val="110000"/>
              </a:lnSpc>
              <a:spcAft>
                <a:spcPts val="400"/>
              </a:spcAft>
            </a:pPr>
            <a:r>
              <a:rPr sz="1400" b="0">
                <a:solidFill>
                  <a:srgbClr val="1F2A3A"/>
                </a:solidFill>
                <a:latin typeface="맑은 고딕"/>
                <a:ea typeface="맑은 고딕"/>
                <a:cs typeface="맑은 고딕"/>
              </a:rPr>
              <a:t>메시지의 본문이다. 토픽 경로의 설비와 태그가 asset·name으로 본문 안에 들어왔다.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레코드(Record)</a:t>
            </a:r>
          </a:p>
          <a:p>
            <a:pPr algn="l" eaLnBrk="0">
              <a:lnSpc>
                <a:spcPct val="110000"/>
              </a:lnSpc>
              <a:spcAft>
                <a:spcPts val="400"/>
              </a:spcAft>
            </a:pPr>
            <a:r>
              <a:rPr sz="1400" b="0">
                <a:solidFill>
                  <a:srgbClr val="1F2A3A"/>
                </a:solidFill>
                <a:latin typeface="맑은 고딕"/>
                <a:ea typeface="맑은 고딕"/>
                <a:cs typeface="맑은 고딕"/>
              </a:rPr>
              <a:t>이벤트 로그에 남기는 기록 한 건이다. 시각 t, 값 v, 품질 q와 출처를 함께 보관한다.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키(Key) hyd01</a:t>
            </a:r>
          </a:p>
          <a:p>
            <a:pPr algn="l" eaLnBrk="0">
              <a:lnSpc>
                <a:spcPct val="110000"/>
              </a:lnSpc>
              <a:spcAft>
                <a:spcPts val="400"/>
              </a:spcAft>
            </a:pPr>
            <a:r>
              <a:rPr sz="1400" b="0">
                <a:solidFill>
                  <a:srgbClr val="1F2A3A"/>
                </a:solidFill>
                <a:latin typeface="맑은 고딕"/>
                <a:ea typeface="맑은 고딕"/>
                <a:cs typeface="맑은 고딕"/>
              </a:rPr>
              <a:t>같은 설비의 레코드를 같은 파티션으로 보내 순서대로 읽게 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이벤트 로그의 기록·순서·다시 읽기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이벤트 로그는 기록을 덧붙여 보관하고, 소비자는 각자의 읽기 위치를 기준으로 필요한 기록을 다시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26</a:t>
            </a:r>
          </a:p>
        </p:txBody>
      </p:sp>
      <p:sp>
        <p:nvSpPr>
          <p:cNvPr id="6" name="TextBox 5"/>
          <p:cNvSpPr txBox="1"/>
          <p:nvPr/>
        </p:nvSpPr>
        <p:spPr>
          <a:xfrm>
            <a:off x="640080" y="1627632"/>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추가 전용 로그</a:t>
            </a:r>
          </a:p>
          <a:p>
            <a:pPr algn="l" eaLnBrk="0">
              <a:lnSpc>
                <a:spcPct val="110000"/>
              </a:lnSpc>
              <a:spcAft>
                <a:spcPts val="200"/>
              </a:spcAft>
            </a:pPr>
            <a:r>
              <a:rPr sz="1150" b="0">
                <a:solidFill>
                  <a:srgbClr val="556175"/>
                </a:solidFill>
                <a:latin typeface="맑은 고딕"/>
                <a:ea typeface="맑은 고딕"/>
                <a:cs typeface="맑은 고딕"/>
              </a:rPr>
              <a:t>기록의 보관</a:t>
            </a:r>
          </a:p>
        </p:txBody>
      </p:sp>
      <p:sp>
        <p:nvSpPr>
          <p:cNvPr id="7" name="TextBox 6"/>
          <p:cNvSpPr txBox="1"/>
          <p:nvPr/>
        </p:nvSpPr>
        <p:spPr>
          <a:xfrm>
            <a:off x="4023359" y="1627632"/>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추가 전용 로그(Append-only Log)는 받은 레코드를 뒤에 덧붙이는 기록이다.</a:t>
            </a:r>
          </a:p>
          <a:p>
            <a:pPr algn="l" eaLnBrk="0">
              <a:lnSpc>
                <a:spcPct val="110000"/>
              </a:lnSpc>
              <a:spcAft>
                <a:spcPts val="300"/>
              </a:spcAft>
            </a:pPr>
            <a:r>
              <a:rPr sz="1400" b="0">
                <a:solidFill>
                  <a:srgbClr val="1F2A3A"/>
                </a:solidFill>
                <a:latin typeface="맑은 고딕"/>
                <a:ea typeface="맑은 고딕"/>
                <a:cs typeface="맑은 고딕"/>
              </a:rPr>
              <a:t>지나간 메시지도 보존 기간 안에서는 다시 읽을 수 있다.</a:t>
            </a:r>
          </a:p>
          <a:p>
            <a:pPr algn="l" eaLnBrk="0">
              <a:lnSpc>
                <a:spcPct val="110000"/>
              </a:lnSpc>
              <a:spcAft>
                <a:spcPts val="300"/>
              </a:spcAft>
            </a:pPr>
            <a:r>
              <a:rPr sz="1400" b="0">
                <a:solidFill>
                  <a:srgbClr val="1F2A3A"/>
                </a:solidFill>
                <a:latin typeface="맑은 고딕"/>
                <a:ea typeface="맑은 고딕"/>
                <a:cs typeface="맑은 고딕"/>
              </a:rPr>
              <a:t>이 역할에는 Kafka 같은 것이 있다.</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생산자·소비자</a:t>
            </a:r>
          </a:p>
          <a:p>
            <a:pPr algn="l" eaLnBrk="0">
              <a:lnSpc>
                <a:spcPct val="110000"/>
              </a:lnSpc>
              <a:spcAft>
                <a:spcPts val="200"/>
              </a:spcAft>
            </a:pPr>
            <a:r>
              <a:rPr sz="1150" b="0">
                <a:solidFill>
                  <a:srgbClr val="556175"/>
                </a:solidFill>
                <a:latin typeface="맑은 고딕"/>
                <a:ea typeface="맑은 고딕"/>
                <a:cs typeface="맑은 고딕"/>
              </a:rPr>
              <a:t>쓰기와 읽기</a:t>
            </a:r>
          </a:p>
        </p:txBody>
      </p:sp>
      <p:sp>
        <p:nvSpPr>
          <p:cNvPr id="10" name="TextBox 9"/>
          <p:cNvSpPr txBox="1"/>
          <p:nvPr/>
        </p:nvSpPr>
        <p:spPr>
          <a:xfrm>
            <a:off x="4023359" y="2809494"/>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생산자(Producer)는 기록을 쓰고 소비자(Consumer)는 읽는다.</a:t>
            </a:r>
          </a:p>
          <a:p>
            <a:pPr algn="l" eaLnBrk="0">
              <a:lnSpc>
                <a:spcPct val="110000"/>
              </a:lnSpc>
              <a:spcAft>
                <a:spcPts val="300"/>
              </a:spcAft>
            </a:pPr>
            <a:r>
              <a:rPr sz="1400" b="0">
                <a:solidFill>
                  <a:srgbClr val="1F2A3A"/>
                </a:solidFill>
                <a:latin typeface="맑은 고딕"/>
                <a:ea typeface="맑은 고딕"/>
                <a:cs typeface="맑은 고딕"/>
              </a:rPr>
              <a:t>수집 서비스가 쓰고, 감지 서비스와 저장 서비스가 각자 읽는다.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Rounded Rectangle 11"/>
          <p:cNvSpPr/>
          <p:nvPr/>
        </p:nvSpPr>
        <p:spPr>
          <a:xfrm>
            <a:off x="548640" y="4018788"/>
            <a:ext cx="11094415" cy="1126998"/>
          </a:xfrm>
          <a:prstGeom prst="roundRect">
            <a:avLst>
              <a:gd name="adj" fmla="val 6000"/>
            </a:avLst>
          </a:prstGeom>
          <a:solidFill>
            <a:srgbClr val="E7F3FD"/>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오프셋(Offset)</a:t>
            </a:r>
          </a:p>
          <a:p>
            <a:pPr algn="l" eaLnBrk="0">
              <a:lnSpc>
                <a:spcPct val="110000"/>
              </a:lnSpc>
              <a:spcAft>
                <a:spcPts val="200"/>
              </a:spcAft>
            </a:pPr>
            <a:r>
              <a:rPr sz="1150" b="0">
                <a:solidFill>
                  <a:srgbClr val="556175"/>
                </a:solidFill>
                <a:latin typeface="맑은 고딕"/>
                <a:ea typeface="맑은 고딕"/>
                <a:cs typeface="맑은 고딕"/>
              </a:rPr>
              <a:t>각자의 읽기 위치</a:t>
            </a:r>
          </a:p>
        </p:txBody>
      </p:sp>
      <p:sp>
        <p:nvSpPr>
          <p:cNvPr id="14" name="TextBox 13"/>
          <p:cNvSpPr txBox="1"/>
          <p:nvPr/>
        </p:nvSpPr>
        <p:spPr>
          <a:xfrm>
            <a:off x="4023359" y="3991356"/>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파티션 안에서 레코드를 가리키는 위치이다.</a:t>
            </a:r>
          </a:p>
          <a:p>
            <a:pPr algn="l" eaLnBrk="0">
              <a:lnSpc>
                <a:spcPct val="110000"/>
              </a:lnSpc>
              <a:spcAft>
                <a:spcPts val="300"/>
              </a:spcAft>
            </a:pPr>
            <a:r>
              <a:rPr sz="1400" b="0">
                <a:solidFill>
                  <a:srgbClr val="1F2A3A"/>
                </a:solidFill>
                <a:latin typeface="맑은 고딕"/>
                <a:ea typeface="맑은 고딕"/>
                <a:cs typeface="맑은 고딕"/>
              </a:rPr>
              <a:t>소비자는 읽기 위치를 따로 관리하며 필요하면 이전 위치부터 다시 읽는다.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파티션(Partition)</a:t>
            </a:r>
          </a:p>
          <a:p>
            <a:pPr algn="l" eaLnBrk="0">
              <a:lnSpc>
                <a:spcPct val="110000"/>
              </a:lnSpc>
              <a:spcAft>
                <a:spcPts val="200"/>
              </a:spcAft>
            </a:pPr>
            <a:r>
              <a:rPr sz="1150" b="0">
                <a:solidFill>
                  <a:srgbClr val="556175"/>
                </a:solidFill>
                <a:latin typeface="맑은 고딕"/>
                <a:ea typeface="맑은 고딕"/>
                <a:cs typeface="맑은 고딕"/>
              </a:rPr>
              <a:t>순서와 보존 범위</a:t>
            </a:r>
          </a:p>
        </p:txBody>
      </p:sp>
      <p:sp>
        <p:nvSpPr>
          <p:cNvPr id="17" name="TextBox 16"/>
          <p:cNvSpPr txBox="1"/>
          <p:nvPr/>
        </p:nvSpPr>
        <p:spPr>
          <a:xfrm>
            <a:off x="4023359" y="5173218"/>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순서가 보장되는 로그의 한 구획이다.</a:t>
            </a:r>
          </a:p>
          <a:p>
            <a:pPr algn="l" eaLnBrk="0">
              <a:lnSpc>
                <a:spcPct val="110000"/>
              </a:lnSpc>
              <a:spcAft>
                <a:spcPts val="300"/>
              </a:spcAft>
            </a:pPr>
            <a:r>
              <a:rPr sz="1400" b="0">
                <a:solidFill>
                  <a:srgbClr val="1F2A3A"/>
                </a:solidFill>
                <a:latin typeface="맑은 고딕"/>
                <a:ea typeface="맑은 고딕"/>
                <a:cs typeface="맑은 고딕"/>
              </a:rPr>
              <a:t>같은 키 hyd01의 기록은 같은 구획에 쌓인다.</a:t>
            </a:r>
          </a:p>
          <a:p>
            <a:pPr algn="l" eaLnBrk="0">
              <a:lnSpc>
                <a:spcPct val="110000"/>
              </a:lnSpc>
              <a:spcAft>
                <a:spcPts val="300"/>
              </a:spcAft>
            </a:pPr>
            <a:r>
              <a:rPr sz="1400" b="0">
                <a:solidFill>
                  <a:srgbClr val="1F2A3A"/>
                </a:solidFill>
                <a:latin typeface="맑은 고딕"/>
                <a:ea typeface="맑은 고딕"/>
                <a:cs typeface="맑은 고딕"/>
              </a:rPr>
              <a:t>HYD의 plant.tag 보존 기간은 1일이다.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Layer 4 · 스트림 처리: 흐르는 데이터에서 알아챈다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감지 서비스는 이상을 제때 알아차리도록, 이벤트 로그에 데이터가 기록되는 대로 읽어 조건과 비교한다.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105406"/>
            <a:ext cx="5181447" cy="377190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06574"/>
            <a:ext cx="731520" cy="731520"/>
          </a:xfrm>
          <a:prstGeom prst="ellipse">
            <a:avLst/>
          </a:prstGeom>
          <a:solidFill>
            <a:srgbClr val="FFFFFF"/>
          </a:solidFill>
          <a:ln>
            <a:noFill/>
          </a:ln>
        </p:spPr>
        <p:txBody>
          <a:bodyPr rtlCol="0" anchor="ctr"/>
          <a:lstStyle/>
          <a:p>
            <a:pPr algn="ctr"/>
          </a:p>
        </p:txBody>
      </p:sp>
      <p:pic>
        <p:nvPicPr>
          <p:cNvPr id="8" name="아이콘:database" descr="database_13294B_1.6.png"/>
          <p:cNvPicPr>
            <a:picLocks noChangeAspect="1"/>
          </p:cNvPicPr>
          <p:nvPr/>
        </p:nvPicPr>
        <p:blipFill>
          <a:blip r:embed="rId3"/>
          <a:stretch>
            <a:fillRect/>
          </a:stretch>
        </p:blipFill>
        <p:spPr>
          <a:xfrm>
            <a:off x="976579" y="2460193"/>
            <a:ext cx="424281" cy="424281"/>
          </a:xfrm>
          <a:prstGeom prst="rect">
            <a:avLst/>
          </a:prstGeom>
        </p:spPr>
      </p:pic>
      <p:sp>
        <p:nvSpPr>
          <p:cNvPr id="9" name="TextBox 8"/>
          <p:cNvSpPr txBox="1"/>
          <p:nvPr/>
        </p:nvSpPr>
        <p:spPr>
          <a:xfrm>
            <a:off x="1691640"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배치 처리(Batch Processing)</a:t>
            </a:r>
          </a:p>
        </p:txBody>
      </p:sp>
      <p:sp>
        <p:nvSpPr>
          <p:cNvPr id="10" name="TextBox 9"/>
          <p:cNvSpPr txBox="1"/>
          <p:nvPr/>
        </p:nvSpPr>
        <p:spPr>
          <a:xfrm>
            <a:off x="822959"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데이터를 저장소에 쌓은 뒤 주기적으로 질의한다</a:t>
            </a:r>
          </a:p>
          <a:p>
            <a:pPr algn="l" eaLnBrk="0" marL="171450" indent="-171450">
              <a:lnSpc>
                <a:spcPct val="110000"/>
              </a:lnSpc>
              <a:spcAft>
                <a:spcPts val="600"/>
              </a:spcAft>
            </a:pPr>
            <a:r>
              <a:rPr sz="1500" b="0">
                <a:solidFill>
                  <a:srgbClr val="1F2A3A"/>
                </a:solidFill>
                <a:latin typeface="맑은 고딕"/>
                <a:ea typeface="맑은 고딕"/>
                <a:cs typeface="맑은 고딕"/>
              </a:rPr>
              <a:t>• 이상이 생긴 시점과 알아차리는 시점 사이에 지연이 생긴다</a:t>
            </a:r>
          </a:p>
        </p:txBody>
      </p:sp>
      <p:sp>
        <p:nvSpPr>
          <p:cNvPr id="11" name="Rounded Rectangle 10"/>
          <p:cNvSpPr/>
          <p:nvPr/>
        </p:nvSpPr>
        <p:spPr>
          <a:xfrm>
            <a:off x="868680" y="5420106"/>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42010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나중에 조회</a:t>
            </a:r>
          </a:p>
        </p:txBody>
      </p:sp>
      <p:sp>
        <p:nvSpPr>
          <p:cNvPr id="13" name="Rounded Rectangle 12"/>
          <p:cNvSpPr/>
          <p:nvPr/>
        </p:nvSpPr>
        <p:spPr>
          <a:xfrm>
            <a:off x="6461607" y="2105406"/>
            <a:ext cx="5181447" cy="37719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06574"/>
            <a:ext cx="731520" cy="731520"/>
          </a:xfrm>
          <a:prstGeom prst="ellipse">
            <a:avLst/>
          </a:prstGeom>
          <a:solidFill>
            <a:srgbClr val="5CB8F2"/>
          </a:solidFill>
          <a:ln>
            <a:noFill/>
          </a:ln>
        </p:spPr>
        <p:txBody>
          <a:bodyPr rtlCol="0" anchor="ctr"/>
          <a:lstStyle/>
          <a:p>
            <a:pPr algn="ctr"/>
          </a:p>
        </p:txBody>
      </p:sp>
      <p:pic>
        <p:nvPicPr>
          <p:cNvPr id="15" name="아이콘:radar" descr="radar_13294B_1.6.png"/>
          <p:cNvPicPr>
            <a:picLocks noChangeAspect="1"/>
          </p:cNvPicPr>
          <p:nvPr/>
        </p:nvPicPr>
        <p:blipFill>
          <a:blip r:embed="rId4"/>
          <a:stretch>
            <a:fillRect/>
          </a:stretch>
        </p:blipFill>
        <p:spPr>
          <a:xfrm>
            <a:off x="6889546" y="2460193"/>
            <a:ext cx="424281" cy="424281"/>
          </a:xfrm>
          <a:prstGeom prst="rect">
            <a:avLst/>
          </a:prstGeom>
        </p:spPr>
      </p:pic>
      <p:sp>
        <p:nvSpPr>
          <p:cNvPr id="16" name="TextBox 15"/>
          <p:cNvSpPr txBox="1"/>
          <p:nvPr/>
        </p:nvSpPr>
        <p:spPr>
          <a:xfrm>
            <a:off x="7604607"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스트림 처리(Stream Processing)</a:t>
            </a:r>
          </a:p>
        </p:txBody>
      </p:sp>
      <p:sp>
        <p:nvSpPr>
          <p:cNvPr id="17" name="TextBox 16"/>
          <p:cNvSpPr txBox="1"/>
          <p:nvPr/>
        </p:nvSpPr>
        <p:spPr>
          <a:xfrm>
            <a:off x="6735927"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데이터가 기록되는 대로 하나씩 받아 조건과 비교한다</a:t>
            </a:r>
          </a:p>
          <a:p>
            <a:pPr algn="l" eaLnBrk="0" marL="171450" indent="-171450">
              <a:lnSpc>
                <a:spcPct val="110000"/>
              </a:lnSpc>
              <a:spcAft>
                <a:spcPts val="600"/>
              </a:spcAft>
            </a:pPr>
            <a:r>
              <a:rPr sz="1500" b="0">
                <a:solidFill>
                  <a:srgbClr val="1F2A3A"/>
                </a:solidFill>
                <a:latin typeface="맑은 고딕"/>
                <a:ea typeface="맑은 고딕"/>
                <a:cs typeface="맑은 고딕"/>
              </a:rPr>
              <a:t>• 끊임없이 도착하는 데이터를 그 자리에서 처리하는 방식이 스트림 처리(Stream Processing)이다</a:t>
            </a:r>
          </a:p>
          <a:p>
            <a:pPr algn="l" eaLnBrk="0" marL="171450" indent="-171450">
              <a:lnSpc>
                <a:spcPct val="110000"/>
              </a:lnSpc>
              <a:spcAft>
                <a:spcPts val="600"/>
              </a:spcAft>
            </a:pPr>
            <a:r>
              <a:rPr sz="1500" b="0">
                <a:solidFill>
                  <a:srgbClr val="1F2A3A"/>
                </a:solidFill>
                <a:latin typeface="맑은 고딕"/>
                <a:ea typeface="맑은 고딕"/>
                <a:cs typeface="맑은 고딕"/>
              </a:rPr>
              <a:t>• 이 역할에는 Flink 같은 스트림 처리 엔진이 있다</a:t>
            </a:r>
          </a:p>
        </p:txBody>
      </p:sp>
      <p:sp>
        <p:nvSpPr>
          <p:cNvPr id="18" name="Rounded Rectangle 17"/>
          <p:cNvSpPr/>
          <p:nvPr/>
        </p:nvSpPr>
        <p:spPr>
          <a:xfrm>
            <a:off x="6781647" y="5420106"/>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420106"/>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그 자리에서 판정</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복합 이벤트 처리: 경보 조건과 유지 시간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유온 하나로 경보를 내지 않고, 유온·냉각 효율·상승 추세의 조건이 유지 시간 동안 이어지는지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28</a:t>
            </a:r>
          </a:p>
        </p:txBody>
      </p:sp>
      <p:pic>
        <p:nvPicPr>
          <p:cNvPr id="6" name="Picture 5" descr="그래프_경보순간_TS1.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91640"/>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91640"/>
            <a:ext cx="347472" cy="347472"/>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36776"/>
            <a:ext cx="3093415" cy="1554480"/>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복합 이벤트 처리(CEP)</a:t>
            </a:r>
          </a:p>
          <a:p>
            <a:pPr algn="l" eaLnBrk="0">
              <a:lnSpc>
                <a:spcPct val="110000"/>
              </a:lnSpc>
              <a:spcAft>
                <a:spcPts val="400"/>
              </a:spcAft>
            </a:pPr>
            <a:r>
              <a:rPr sz="1400" b="0">
                <a:solidFill>
                  <a:srgbClr val="1F2A3A"/>
                </a:solidFill>
                <a:latin typeface="맑은 고딕"/>
                <a:ea typeface="맑은 고딕"/>
                <a:cs typeface="맑은 고딕"/>
              </a:rPr>
              <a:t>Complex Event Processing</a:t>
            </a:r>
          </a:p>
          <a:p>
            <a:pPr algn="l" eaLnBrk="0">
              <a:lnSpc>
                <a:spcPct val="110000"/>
              </a:lnSpc>
              <a:spcAft>
                <a:spcPts val="400"/>
              </a:spcAft>
            </a:pPr>
            <a:r>
              <a:rPr sz="1400" b="0">
                <a:solidFill>
                  <a:srgbClr val="1F2A3A"/>
                </a:solidFill>
                <a:latin typeface="맑은 고딕"/>
                <a:ea typeface="맑은 고딕"/>
                <a:cs typeface="맑은 고딕"/>
              </a:rPr>
              <a:t>여러 값·추세·지속 시간의 조합</a:t>
            </a:r>
          </a:p>
          <a:p>
            <a:pPr algn="l" eaLnBrk="0">
              <a:lnSpc>
                <a:spcPct val="110000"/>
              </a:lnSpc>
              <a:spcAft>
                <a:spcPts val="400"/>
              </a:spcAft>
            </a:pPr>
            <a:r>
              <a:rPr sz="1400" b="0">
                <a:solidFill>
                  <a:srgbClr val="1F2A3A"/>
                </a:solidFill>
                <a:latin typeface="맑은 고딕"/>
                <a:ea typeface="맑은 고딕"/>
                <a:cs typeface="맑은 고딕"/>
              </a:rPr>
              <a:t>TS1 &gt; 55 ℃ · CE &lt; 70 %</a:t>
            </a:r>
          </a:p>
          <a:p>
            <a:pPr algn="l" eaLnBrk="0">
              <a:lnSpc>
                <a:spcPct val="110000"/>
              </a:lnSpc>
              <a:spcAft>
                <a:spcPts val="400"/>
              </a:spcAft>
            </a:pPr>
            <a:r>
              <a:rPr sz="1400" b="0">
                <a:solidFill>
                  <a:srgbClr val="1F2A3A"/>
                </a:solidFill>
                <a:latin typeface="맑은 고딕"/>
                <a:ea typeface="맑은 고딕"/>
                <a:cs typeface="맑은 고딕"/>
              </a:rPr>
              <a:t>유온 기울기 &gt; 0</a:t>
            </a:r>
          </a:p>
        </p:txBody>
      </p:sp>
      <p:sp>
        <p:nvSpPr>
          <p:cNvPr id="10" name="Oval 9"/>
          <p:cNvSpPr/>
          <p:nvPr/>
        </p:nvSpPr>
        <p:spPr>
          <a:xfrm>
            <a:off x="8138160" y="3246120"/>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3246120"/>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3191256"/>
            <a:ext cx="3093415" cy="1554480"/>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유지 시간(Hold Time)</a:t>
            </a:r>
          </a:p>
          <a:p>
            <a:pPr algn="l" eaLnBrk="0">
              <a:lnSpc>
                <a:spcPct val="110000"/>
              </a:lnSpc>
              <a:spcAft>
                <a:spcPts val="400"/>
              </a:spcAft>
            </a:pPr>
            <a:r>
              <a:rPr sz="1400" b="0">
                <a:solidFill>
                  <a:srgbClr val="1F2A3A"/>
                </a:solidFill>
                <a:latin typeface="맑은 고딕"/>
                <a:ea typeface="맑은 고딕"/>
                <a:cs typeface="맑은 고딕"/>
              </a:rPr>
              <a:t>조건이 정해진 시간 동안 이어져야 경보가 성립한다. 11:13:04에 유온이 55 ℃를 넘었지만 아직 경보는 없다.</a:t>
            </a:r>
          </a:p>
        </p:txBody>
      </p:sp>
      <p:sp>
        <p:nvSpPr>
          <p:cNvPr id="13" name="Oval 12"/>
          <p:cNvSpPr/>
          <p:nvPr/>
        </p:nvSpPr>
        <p:spPr>
          <a:xfrm>
            <a:off x="8138160" y="4800600"/>
            <a:ext cx="347472" cy="347472"/>
          </a:xfrm>
          <a:prstGeom prst="ellipse">
            <a:avLst/>
          </a:prstGeom>
          <a:solidFill>
            <a:srgbClr val="5CB8F2"/>
          </a:solidFill>
          <a:ln>
            <a:noFill/>
          </a:ln>
        </p:spPr>
        <p:txBody>
          <a:bodyPr rtlCol="0" anchor="ctr"/>
          <a:lstStyle/>
          <a:p>
            <a:pPr algn="ctr"/>
          </a:p>
        </p:txBody>
      </p:sp>
      <p:sp>
        <p:nvSpPr>
          <p:cNvPr id="14" name="TextBox 13"/>
          <p:cNvSpPr txBox="1"/>
          <p:nvPr/>
        </p:nvSpPr>
        <p:spPr>
          <a:xfrm>
            <a:off x="8138160" y="4800600"/>
            <a:ext cx="347472" cy="347472"/>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3</a:t>
            </a:r>
          </a:p>
        </p:txBody>
      </p:sp>
      <p:sp>
        <p:nvSpPr>
          <p:cNvPr id="15" name="TextBox 14"/>
          <p:cNvSpPr txBox="1"/>
          <p:nvPr/>
        </p:nvSpPr>
        <p:spPr>
          <a:xfrm>
            <a:off x="8549640" y="4745736"/>
            <a:ext cx="3093415" cy="1554480"/>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경보 발생 11:13:08</a:t>
            </a:r>
          </a:p>
          <a:p>
            <a:pPr algn="l" eaLnBrk="0">
              <a:lnSpc>
                <a:spcPct val="110000"/>
              </a:lnSpc>
              <a:spcAft>
                <a:spcPts val="400"/>
              </a:spcAft>
            </a:pPr>
            <a:r>
              <a:rPr sz="1400" b="0">
                <a:solidFill>
                  <a:srgbClr val="1F2A3A"/>
                </a:solidFill>
                <a:latin typeface="맑은 고딕"/>
                <a:ea typeface="맑은 고딕"/>
                <a:cs typeface="맑은 고딕"/>
              </a:rPr>
              <a:t>기준을 넘은 첫 관측에서 4.0초 뒤에 경보가 울렸다. 이때 유온은 55.71 ℃였다.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경보의 발생·해제와 데이터 품질</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경보는 발생과 해제의 기준을 달리하고 조건의 지속을 확인하며, 잘못되거나 빠진 값으로 판정하지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29</a:t>
            </a:r>
          </a:p>
        </p:txBody>
      </p:sp>
      <p:sp>
        <p:nvSpPr>
          <p:cNvPr id="6" name="TextBox 5"/>
          <p:cNvSpPr txBox="1"/>
          <p:nvPr/>
        </p:nvSpPr>
        <p:spPr>
          <a:xfrm>
            <a:off x="640080" y="1627632"/>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발생(RAISE)</a:t>
            </a:r>
          </a:p>
          <a:p>
            <a:pPr algn="l" eaLnBrk="0">
              <a:lnSpc>
                <a:spcPct val="110000"/>
              </a:lnSpc>
              <a:spcAft>
                <a:spcPts val="200"/>
              </a:spcAft>
            </a:pPr>
            <a:r>
              <a:rPr sz="1150" b="0">
                <a:solidFill>
                  <a:srgbClr val="556175"/>
                </a:solidFill>
                <a:latin typeface="맑은 고딕"/>
                <a:ea typeface="맑은 고딕"/>
                <a:cs typeface="맑은 고딕"/>
              </a:rPr>
              <a:t>이상 알림</a:t>
            </a:r>
          </a:p>
        </p:txBody>
      </p:sp>
      <p:sp>
        <p:nvSpPr>
          <p:cNvPr id="7" name="TextBox 6"/>
          <p:cNvSpPr txBox="1"/>
          <p:nvPr/>
        </p:nvSpPr>
        <p:spPr>
          <a:xfrm>
            <a:off x="4023359" y="1627632"/>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TS1 &gt; 55 ℃ · CE &lt; 70 % · 유온 기울기 &gt; 0</a:t>
            </a:r>
          </a:p>
          <a:p>
            <a:pPr algn="l" eaLnBrk="0">
              <a:lnSpc>
                <a:spcPct val="110000"/>
              </a:lnSpc>
              <a:spcAft>
                <a:spcPts val="300"/>
              </a:spcAft>
            </a:pPr>
            <a:r>
              <a:rPr sz="1400" b="0">
                <a:solidFill>
                  <a:srgbClr val="1F2A3A"/>
                </a:solidFill>
                <a:latin typeface="맑은 고딕"/>
                <a:ea typeface="맑은 고딕"/>
                <a:cs typeface="맑은 고딕"/>
              </a:rPr>
              <a:t>세 조건이 유지 시간 동안 이어지면 쿨러 성능 저하 경보를 낸다.</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해제(CLEAR)</a:t>
            </a:r>
          </a:p>
          <a:p>
            <a:pPr algn="l" eaLnBrk="0">
              <a:lnSpc>
                <a:spcPct val="110000"/>
              </a:lnSpc>
              <a:spcAft>
                <a:spcPts val="200"/>
              </a:spcAft>
            </a:pPr>
            <a:r>
              <a:rPr sz="1150" b="0">
                <a:solidFill>
                  <a:srgbClr val="556175"/>
                </a:solidFill>
                <a:latin typeface="맑은 고딕"/>
                <a:ea typeface="맑은 고딕"/>
                <a:cs typeface="맑은 고딕"/>
              </a:rPr>
              <a:t>경보 해제</a:t>
            </a:r>
          </a:p>
        </p:txBody>
      </p:sp>
      <p:sp>
        <p:nvSpPr>
          <p:cNvPr id="10" name="TextBox 9"/>
          <p:cNvSpPr txBox="1"/>
          <p:nvPr/>
        </p:nvSpPr>
        <p:spPr>
          <a:xfrm>
            <a:off x="4023359" y="2809494"/>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TS1 &lt; 52 ℃ · 유온 기울기 ≤ 0</a:t>
            </a:r>
          </a:p>
          <a:p>
            <a:pPr algn="l" eaLnBrk="0">
              <a:lnSpc>
                <a:spcPct val="110000"/>
              </a:lnSpc>
              <a:spcAft>
                <a:spcPts val="300"/>
              </a:spcAft>
            </a:pPr>
            <a:r>
              <a:rPr sz="1400" b="0">
                <a:solidFill>
                  <a:srgbClr val="1F2A3A"/>
                </a:solidFill>
                <a:latin typeface="맑은 고딕"/>
                <a:ea typeface="맑은 고딕"/>
                <a:cs typeface="맑은 고딕"/>
              </a:rPr>
              <a:t>해제 조건도 정해진 시간 동안 이어져야 한다.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Rounded Rectangle 11"/>
          <p:cNvSpPr/>
          <p:nvPr/>
        </p:nvSpPr>
        <p:spPr>
          <a:xfrm>
            <a:off x="548640" y="4018788"/>
            <a:ext cx="11094415" cy="1126998"/>
          </a:xfrm>
          <a:prstGeom prst="roundRect">
            <a:avLst>
              <a:gd name="adj" fmla="val 6000"/>
            </a:avLst>
          </a:prstGeom>
          <a:solidFill>
            <a:srgbClr val="E7F3FD"/>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히스테리시스(Hysteresis)</a:t>
            </a:r>
          </a:p>
          <a:p>
            <a:pPr algn="l" eaLnBrk="0">
              <a:lnSpc>
                <a:spcPct val="110000"/>
              </a:lnSpc>
              <a:spcAft>
                <a:spcPts val="200"/>
              </a:spcAft>
            </a:pPr>
            <a:r>
              <a:rPr sz="1150" b="0">
                <a:solidFill>
                  <a:srgbClr val="556175"/>
                </a:solidFill>
                <a:latin typeface="맑은 고딕"/>
                <a:ea typeface="맑은 고딕"/>
                <a:cs typeface="맑은 고딕"/>
              </a:rPr>
              <a:t>기준의 간격</a:t>
            </a:r>
          </a:p>
        </p:txBody>
      </p:sp>
      <p:sp>
        <p:nvSpPr>
          <p:cNvPr id="14" name="TextBox 13"/>
          <p:cNvSpPr txBox="1"/>
          <p:nvPr/>
        </p:nvSpPr>
        <p:spPr>
          <a:xfrm>
            <a:off x="4023359" y="3991356"/>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발생과 해제의 기준을 달리해 경계 부근에서 경보가 반복되는 것을 줄인다.</a:t>
            </a:r>
          </a:p>
          <a:p>
            <a:pPr algn="l" eaLnBrk="0">
              <a:lnSpc>
                <a:spcPct val="110000"/>
              </a:lnSpc>
              <a:spcAft>
                <a:spcPts val="300"/>
              </a:spcAft>
            </a:pPr>
            <a:r>
              <a:rPr sz="1400" b="0">
                <a:solidFill>
                  <a:srgbClr val="1F2A3A"/>
                </a:solidFill>
                <a:latin typeface="맑은 고딕"/>
                <a:ea typeface="맑은 고딕"/>
                <a:cs typeface="맑은 고딕"/>
              </a:rPr>
              <a:t>이 경보는 유온 55 ℃와 52 ℃를 다르게 쓴다.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데이터 품질</a:t>
            </a:r>
          </a:p>
          <a:p>
            <a:pPr algn="l" eaLnBrk="0">
              <a:lnSpc>
                <a:spcPct val="110000"/>
              </a:lnSpc>
              <a:spcAft>
                <a:spcPts val="200"/>
              </a:spcAft>
            </a:pPr>
            <a:r>
              <a:rPr sz="1150" b="0">
                <a:solidFill>
                  <a:srgbClr val="556175"/>
                </a:solidFill>
                <a:latin typeface="맑은 고딕"/>
                <a:ea typeface="맑은 고딕"/>
                <a:cs typeface="맑은 고딕"/>
              </a:rPr>
              <a:t>판정의 전제</a:t>
            </a:r>
          </a:p>
        </p:txBody>
      </p:sp>
      <p:sp>
        <p:nvSpPr>
          <p:cNvPr id="17" name="TextBox 16"/>
          <p:cNvSpPr txBox="1"/>
          <p:nvPr/>
        </p:nvSpPr>
        <p:spPr>
          <a:xfrm>
            <a:off x="4023359" y="5173218"/>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품질이 나쁘거나 값이 없으면 진행 중인 유지 시간 판정을 초기화한다.</a:t>
            </a:r>
          </a:p>
          <a:p>
            <a:pPr algn="l" eaLnBrk="0">
              <a:lnSpc>
                <a:spcPct val="110000"/>
              </a:lnSpc>
              <a:spcAft>
                <a:spcPts val="300"/>
              </a:spcAft>
            </a:pPr>
            <a:r>
              <a:rPr sz="1400" b="0">
                <a:solidFill>
                  <a:srgbClr val="1F2A3A"/>
                </a:solidFill>
                <a:latin typeface="맑은 고딕"/>
                <a:ea typeface="맑은 고딕"/>
                <a:cs typeface="맑은 고딕"/>
              </a:rPr>
              <a:t>데이터 누락만으로 이미 발생한 경보를 해제하지 않는다.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이상 이벤트: 경보 한 건의 실제 모습</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이상 이벤트는 이상 조건의 발생·해제 기록이며, 경보에는 식별자와 당시의 근거 값이 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alertId    ALT-hyd01-0014-e0a1</a:t>
            </a:r>
          </a:p>
          <a:p>
            <a:pPr algn="l" eaLnBrk="0">
              <a:lnSpc>
                <a:spcPct val="110000"/>
              </a:lnSpc>
              <a:spcAft>
                <a:spcPts val="200"/>
              </a:spcAft>
            </a:pPr>
            <a:r>
              <a:rPr sz="1300" b="0">
                <a:solidFill>
                  <a:srgbClr val="E8EEF6"/>
                </a:solidFill>
                <a:latin typeface="Consolas"/>
                <a:ea typeface="맑은 고딕"/>
                <a:cs typeface="맑은 고딕"/>
              </a:rPr>
              <a:t>asset      HYD-01</a:t>
            </a:r>
          </a:p>
          <a:p>
            <a:pPr algn="l" eaLnBrk="0">
              <a:lnSpc>
                <a:spcPct val="110000"/>
              </a:lnSpc>
              <a:spcAft>
                <a:spcPts val="200"/>
              </a:spcAft>
            </a:pPr>
            <a:r>
              <a:rPr sz="1300" b="0">
                <a:solidFill>
                  <a:srgbClr val="E8EEF6"/>
                </a:solidFill>
                <a:latin typeface="Consolas"/>
                <a:ea typeface="맑은 고딕"/>
                <a:cs typeface="맑은 고딕"/>
              </a:rPr>
              <a:t>pattern    COOLER_DEGRADATION</a:t>
            </a:r>
          </a:p>
          <a:p>
            <a:pPr algn="l" eaLnBrk="0">
              <a:lnSpc>
                <a:spcPct val="110000"/>
              </a:lnSpc>
              <a:spcAft>
                <a:spcPts val="200"/>
              </a:spcAft>
            </a:pPr>
            <a:r>
              <a:rPr sz="1300" b="0">
                <a:solidFill>
                  <a:srgbClr val="E8EEF6"/>
                </a:solidFill>
                <a:latin typeface="Consolas"/>
                <a:ea typeface="맑은 고딕"/>
                <a:cs typeface="맑은 고딕"/>
              </a:rPr>
              <a:t>severity   HIGH</a:t>
            </a:r>
          </a:p>
          <a:p>
            <a:pPr algn="l" eaLnBrk="0">
              <a:lnSpc>
                <a:spcPct val="110000"/>
              </a:lnSpc>
              <a:spcAft>
                <a:spcPts val="200"/>
              </a:spcAft>
            </a:pPr>
            <a:r>
              <a:rPr sz="1300" b="0">
                <a:solidFill>
                  <a:srgbClr val="E8EEF6"/>
                </a:solidFill>
                <a:latin typeface="Consolas"/>
                <a:ea typeface="맑은 고딕"/>
                <a:cs typeface="맑은 고딕"/>
              </a:rPr>
              <a:t>state      RAISE</a:t>
            </a:r>
          </a:p>
          <a:p>
            <a:pPr algn="l" eaLnBrk="0">
              <a:lnSpc>
                <a:spcPct val="110000"/>
              </a:lnSpc>
              <a:spcAft>
                <a:spcPts val="200"/>
              </a:spcAft>
            </a:pPr>
            <a:r>
              <a:rPr sz="1300" b="0">
                <a:solidFill>
                  <a:srgbClr val="E8EEF6"/>
                </a:solidFill>
                <a:latin typeface="Consolas"/>
                <a:ea typeface="맑은 고딕"/>
                <a:cs typeface="맑은 고딕"/>
              </a:rPr>
              <a:t>t          2026-10-10 11:13:08</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evidence.values  TS1 55.71, CE 46.2</a:t>
            </a:r>
          </a:p>
        </p:txBody>
      </p:sp>
      <p:sp>
        <p:nvSpPr>
          <p:cNvPr id="8" name="TextBox 7"/>
          <p:cNvSpPr txBox="1"/>
          <p:nvPr/>
        </p:nvSpPr>
        <p:spPr>
          <a:xfrm>
            <a:off x="7635240" y="1882394"/>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alertId</a:t>
            </a:r>
          </a:p>
          <a:p>
            <a:pPr algn="l" eaLnBrk="0">
              <a:lnSpc>
                <a:spcPct val="110000"/>
              </a:lnSpc>
              <a:spcAft>
                <a:spcPts val="400"/>
              </a:spcAft>
            </a:pPr>
            <a:r>
              <a:rPr sz="1400" b="0">
                <a:solidFill>
                  <a:srgbClr val="1F2A3A"/>
                </a:solidFill>
                <a:latin typeface="맑은 고딕"/>
                <a:ea typeface="맑은 고딕"/>
                <a:cs typeface="맑은 고딕"/>
              </a:rPr>
              <a:t>이 경보 한 건을 가리키는 식별자이다.</a:t>
            </a:r>
          </a:p>
        </p:txBody>
      </p:sp>
      <p:sp>
        <p:nvSpPr>
          <p:cNvPr id="9" name="TextBox 8"/>
          <p:cNvSpPr txBox="1"/>
          <p:nvPr/>
        </p:nvSpPr>
        <p:spPr>
          <a:xfrm>
            <a:off x="7635240" y="2936875"/>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pattern</a:t>
            </a:r>
          </a:p>
          <a:p>
            <a:pPr algn="l" eaLnBrk="0">
              <a:lnSpc>
                <a:spcPct val="110000"/>
              </a:lnSpc>
              <a:spcAft>
                <a:spcPts val="400"/>
              </a:spcAft>
            </a:pPr>
            <a:r>
              <a:rPr sz="1400" b="0">
                <a:solidFill>
                  <a:srgbClr val="1F2A3A"/>
                </a:solidFill>
                <a:latin typeface="맑은 고딕"/>
                <a:ea typeface="맑은 고딕"/>
                <a:cs typeface="맑은 고딕"/>
              </a:rPr>
              <a:t>어떤 조건이 성립했는지를 나타낸다. 쿨러 성능 저하이다.</a:t>
            </a:r>
          </a:p>
        </p:txBody>
      </p:sp>
      <p:sp>
        <p:nvSpPr>
          <p:cNvPr id="10" name="TextBox 9"/>
          <p:cNvSpPr txBox="1"/>
          <p:nvPr/>
        </p:nvSpPr>
        <p:spPr>
          <a:xfrm>
            <a:off x="7635240" y="3991356"/>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evidence.values</a:t>
            </a:r>
          </a:p>
          <a:p>
            <a:pPr algn="l" eaLnBrk="0">
              <a:lnSpc>
                <a:spcPct val="110000"/>
              </a:lnSpc>
              <a:spcAft>
                <a:spcPts val="400"/>
              </a:spcAft>
            </a:pPr>
            <a:r>
              <a:rPr sz="1400" b="0">
                <a:solidFill>
                  <a:srgbClr val="1F2A3A"/>
                </a:solidFill>
                <a:latin typeface="맑은 고딕"/>
                <a:ea typeface="맑은 고딕"/>
                <a:cs typeface="맑은 고딕"/>
              </a:rPr>
              <a:t>판정 당시의 근거 값이다. 계측값은 계속 바뀌므로 사용한 값을 경보에 붙여 둔다.</a:t>
            </a:r>
          </a:p>
        </p:txBody>
      </p:sp>
      <p:sp>
        <p:nvSpPr>
          <p:cNvPr id="11" name="TextBox 10"/>
          <p:cNvSpPr txBox="1"/>
          <p:nvPr/>
        </p:nvSpPr>
        <p:spPr>
          <a:xfrm>
            <a:off x="7635240" y="5045837"/>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그 밖의 칸</a:t>
            </a:r>
          </a:p>
          <a:p>
            <a:pPr algn="l" eaLnBrk="0">
              <a:lnSpc>
                <a:spcPct val="110000"/>
              </a:lnSpc>
              <a:spcAft>
                <a:spcPts val="400"/>
              </a:spcAft>
            </a:pPr>
            <a:r>
              <a:rPr sz="1400" b="0">
                <a:solidFill>
                  <a:srgbClr val="1F2A3A"/>
                </a:solidFill>
                <a:latin typeface="맑은 고딕"/>
                <a:ea typeface="맑은 고딕"/>
                <a:cs typeface="맑은 고딕"/>
              </a:rPr>
              <a:t>설비, 심각도(severity), 경보 상태(RAISE)와 발생 시각이 함께 적힌다.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Layer 5 · 시계열 저장소: 시각으로 찾는다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시계열 저장소는 과거 값을 시각으로 찾도록, 계측값마다 시각·설비·태그 이름·값을 한 행에 저장한다.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002917"/>
            <a:ext cx="6766560" cy="397687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40077"/>
            <a:ext cx="6400800" cy="370255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표</a:t>
            </a:r>
            <a:r>
              <a:rPr sz="1300" b="0">
                <a:solidFill>
                  <a:srgbClr val="E8EEF6"/>
                </a:solidFill>
                <a:latin typeface="Consolas"/>
                <a:ea typeface="맑은 고딕"/>
                <a:cs typeface="맑은 고딕"/>
              </a:rPr>
              <a:t> tag_1s</a:t>
            </a:r>
          </a:p>
          <a:p>
            <a:pPr algn="l" eaLnBrk="0">
              <a:lnSpc>
                <a:spcPct val="110000"/>
              </a:lnSpc>
              <a:spcAft>
                <a:spcPts val="200"/>
              </a:spcAft>
            </a:pPr>
            <a:r>
              <a:rPr sz="1300" b="0">
                <a:solidFill>
                  <a:srgbClr val="E8EEF6"/>
                </a:solidFill>
                <a:latin typeface="Consolas"/>
                <a:ea typeface="맑은 고딕"/>
                <a:cs typeface="맑은 고딕"/>
              </a:rPr>
              <a:t>time       asset    name   value</a:t>
            </a:r>
          </a:p>
          <a:p>
            <a:pPr algn="l" eaLnBrk="0">
              <a:lnSpc>
                <a:spcPct val="110000"/>
              </a:lnSpc>
              <a:spcAft>
                <a:spcPts val="200"/>
              </a:spcAft>
            </a:pPr>
            <a:r>
              <a:rPr sz="1300" b="0">
                <a:solidFill>
                  <a:srgbClr val="E8EEF6"/>
                </a:solidFill>
                <a:latin typeface="Consolas"/>
                <a:ea typeface="맑은 고딕"/>
                <a:cs typeface="맑은 고딕"/>
              </a:rPr>
              <a:t>11:13:07   HYD-01   TS1    55.56</a:t>
            </a:r>
          </a:p>
          <a:p>
            <a:pPr algn="l" eaLnBrk="0">
              <a:lnSpc>
                <a:spcPct val="110000"/>
              </a:lnSpc>
              <a:spcAft>
                <a:spcPts val="200"/>
              </a:spcAft>
            </a:pPr>
            <a:r>
              <a:rPr sz="1300" b="0">
                <a:solidFill>
                  <a:srgbClr val="E8EEF6"/>
                </a:solidFill>
                <a:latin typeface="Consolas"/>
                <a:ea typeface="맑은 고딕"/>
                <a:cs typeface="맑은 고딕"/>
              </a:rPr>
              <a:t>11:13:07   HYD-01   CE     46.2</a:t>
            </a:r>
          </a:p>
          <a:p>
            <a:pPr algn="l" eaLnBrk="0">
              <a:lnSpc>
                <a:spcPct val="110000"/>
              </a:lnSpc>
              <a:spcAft>
                <a:spcPts val="200"/>
              </a:spcAft>
            </a:pPr>
            <a:r>
              <a:rPr sz="1300" b="0">
                <a:solidFill>
                  <a:srgbClr val="E8EEF6"/>
                </a:solidFill>
                <a:latin typeface="Consolas"/>
                <a:ea typeface="맑은 고딕"/>
                <a:cs typeface="맑은 고딕"/>
              </a:rPr>
              <a:t>11:13:08   HYD-01   TS1    55.71</a:t>
            </a:r>
          </a:p>
          <a:p>
            <a:pPr algn="l" eaLnBrk="0">
              <a:lnSpc>
                <a:spcPct val="110000"/>
              </a:lnSpc>
              <a:spcAft>
                <a:spcPts val="200"/>
              </a:spcAft>
            </a:pPr>
            <a:r>
              <a:rPr sz="1300" b="0">
                <a:solidFill>
                  <a:srgbClr val="E8EEF6"/>
                </a:solidFill>
                <a:latin typeface="Consolas"/>
                <a:ea typeface="맑은 고딕"/>
                <a:cs typeface="맑은 고딕"/>
              </a:rPr>
              <a:t>11:13:08   HYD-01   CE     46.2</a:t>
            </a:r>
          </a:p>
          <a:p>
            <a:pPr algn="l" eaLnBrk="0">
              <a:lnSpc>
                <a:spcPct val="110000"/>
              </a:lnSpc>
              <a:spcAft>
                <a:spcPts val="200"/>
              </a:spcAft>
            </a:pPr>
            <a:r>
              <a:rPr sz="1300" b="0">
                <a:solidFill>
                  <a:srgbClr val="E8EEF6"/>
                </a:solidFill>
                <a:latin typeface="Consolas"/>
                <a:ea typeface="맑은 고딕"/>
                <a:cs typeface="맑은 고딕"/>
              </a:rPr>
              <a:t>11:13:09   HYD-01   TS1    55.86</a:t>
            </a:r>
          </a:p>
        </p:txBody>
      </p:sp>
      <p:sp>
        <p:nvSpPr>
          <p:cNvPr id="8" name="TextBox 7"/>
          <p:cNvSpPr txBox="1"/>
          <p:nvPr/>
        </p:nvSpPr>
        <p:spPr>
          <a:xfrm>
            <a:off x="7635240" y="2002917"/>
            <a:ext cx="4007815" cy="1325626"/>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한 행</a:t>
            </a:r>
          </a:p>
          <a:p>
            <a:pPr algn="l" eaLnBrk="0">
              <a:lnSpc>
                <a:spcPct val="110000"/>
              </a:lnSpc>
              <a:spcAft>
                <a:spcPts val="400"/>
              </a:spcAft>
            </a:pPr>
            <a:r>
              <a:rPr sz="1400" b="0">
                <a:solidFill>
                  <a:srgbClr val="1F2A3A"/>
                </a:solidFill>
                <a:latin typeface="맑은 고딕"/>
                <a:ea typeface="맑은 고딕"/>
                <a:cs typeface="맑은 고딕"/>
              </a:rPr>
              <a:t>계측값 하나가 (시각, 설비, 태그, 값) 한 행이다. 태그가 늘어도 열이 아니라 행만 늘어난다.</a:t>
            </a:r>
          </a:p>
        </p:txBody>
      </p:sp>
      <p:sp>
        <p:nvSpPr>
          <p:cNvPr id="9" name="TextBox 8"/>
          <p:cNvSpPr txBox="1"/>
          <p:nvPr/>
        </p:nvSpPr>
        <p:spPr>
          <a:xfrm>
            <a:off x="7635240" y="3328543"/>
            <a:ext cx="4007815" cy="1325626"/>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55.71</a:t>
            </a:r>
          </a:p>
          <a:p>
            <a:pPr algn="l" eaLnBrk="0">
              <a:lnSpc>
                <a:spcPct val="110000"/>
              </a:lnSpc>
              <a:spcAft>
                <a:spcPts val="400"/>
              </a:spcAft>
            </a:pPr>
            <a:r>
              <a:rPr sz="1350" b="0">
                <a:solidFill>
                  <a:srgbClr val="1F2A3A"/>
                </a:solidFill>
                <a:latin typeface="맑은 고딕"/>
                <a:ea typeface="맑은 고딕"/>
                <a:cs typeface="맑은 고딕"/>
              </a:rPr>
              <a:t>11:13:08의 유온이다. 경보가 난 순간의 값이다.</a:t>
            </a:r>
          </a:p>
        </p:txBody>
      </p:sp>
      <p:sp>
        <p:nvSpPr>
          <p:cNvPr id="10" name="TextBox 9"/>
          <p:cNvSpPr txBox="1"/>
          <p:nvPr/>
        </p:nvSpPr>
        <p:spPr>
          <a:xfrm>
            <a:off x="7635240" y="4654169"/>
            <a:ext cx="4007815" cy="1325626"/>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시계열 저장소</a:t>
            </a:r>
          </a:p>
          <a:p>
            <a:pPr algn="l" eaLnBrk="0">
              <a:lnSpc>
                <a:spcPct val="110000"/>
              </a:lnSpc>
              <a:spcAft>
                <a:spcPts val="400"/>
              </a:spcAft>
            </a:pPr>
            <a:r>
              <a:rPr sz="1400" b="0">
                <a:solidFill>
                  <a:srgbClr val="1F2A3A"/>
                </a:solidFill>
                <a:latin typeface="맑은 고딕"/>
                <a:ea typeface="맑은 고딕"/>
                <a:cs typeface="맑은 고딕"/>
              </a:rPr>
              <a:t>시각을 기준으로 데이터를 쌓고 시간 범위로 조회하는 시계열 데이터베이스(TSDB, Time Series Database)이다. 이 역할에는 TimescaleDB 같은 것이 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Layer 6 · 운전 화면과 분석 화면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운전 화면은 IT 서버가 멈춰도 OT에서 동작하고, 분석 화면은 IT에서 이력을 읽기 전용으로 보여 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179383"/>
            <a:ext cx="731520" cy="731520"/>
          </a:xfrm>
          <a:prstGeom prst="ellipse">
            <a:avLst/>
          </a:prstGeom>
          <a:solidFill>
            <a:srgbClr val="FFFFFF"/>
          </a:solidFill>
          <a:ln>
            <a:noFill/>
          </a:ln>
        </p:spPr>
        <p:txBody>
          <a:bodyPr rtlCol="0" anchor="ctr"/>
          <a:lstStyle/>
          <a:p>
            <a:pPr algn="ctr"/>
          </a:p>
        </p:txBody>
      </p:sp>
      <p:pic>
        <p:nvPicPr>
          <p:cNvPr id="8" name="아이콘:adjustments-horizontal" descr="adjustments-horizontal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운전 화면</a:t>
            </a:r>
          </a:p>
        </p:txBody>
      </p:sp>
      <p:sp>
        <p:nvSpPr>
          <p:cNvPr id="10" name="TextBox 9"/>
          <p:cNvSpPr txBox="1"/>
          <p:nvPr/>
        </p:nvSpPr>
        <p:spPr>
          <a:xfrm>
            <a:off x="822959" y="3029775"/>
            <a:ext cx="4632807" cy="2426081"/>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SCADA에서 사람이 보고 조작하는 HMI(Human-Machine Interface)에 해당한다</a:t>
            </a:r>
          </a:p>
          <a:p>
            <a:pPr algn="l" eaLnBrk="0" marL="165735" indent="-165735">
              <a:lnSpc>
                <a:spcPct val="110000"/>
              </a:lnSpc>
              <a:spcAft>
                <a:spcPts val="600"/>
              </a:spcAft>
            </a:pPr>
            <a:r>
              <a:rPr sz="1450" b="0">
                <a:solidFill>
                  <a:srgbClr val="1F2A3A"/>
                </a:solidFill>
                <a:latin typeface="맑은 고딕"/>
                <a:ea typeface="맑은 고딕"/>
                <a:cs typeface="맑은 고딕"/>
              </a:rPr>
              <a:t>• OT에서 브로커를 직접 구독해 실시간 값과 알람을 보여 준다</a:t>
            </a:r>
          </a:p>
          <a:p>
            <a:pPr algn="l" eaLnBrk="0" marL="165735" indent="-165735">
              <a:lnSpc>
                <a:spcPct val="110000"/>
              </a:lnSpc>
              <a:spcAft>
                <a:spcPts val="600"/>
              </a:spcAft>
            </a:pPr>
            <a:r>
              <a:rPr sz="1450" b="0">
                <a:solidFill>
                  <a:srgbClr val="1F2A3A"/>
                </a:solidFill>
                <a:latin typeface="맑은 고딕"/>
                <a:ea typeface="맑은 고딕"/>
                <a:cs typeface="맑은 고딕"/>
              </a:rPr>
              <a:t>• 운전원이 팬 속도와 펌프 부하의 설정값을 바꾼다</a:t>
            </a:r>
          </a:p>
          <a:p>
            <a:pPr algn="l" eaLnBrk="0" marL="165735" indent="-165735">
              <a:lnSpc>
                <a:spcPct val="110000"/>
              </a:lnSpc>
              <a:spcAft>
                <a:spcPts val="600"/>
              </a:spcAft>
            </a:pPr>
            <a:r>
              <a:rPr sz="1450" b="0">
                <a:solidFill>
                  <a:srgbClr val="1F2A3A"/>
                </a:solidFill>
                <a:latin typeface="맑은 고딕"/>
                <a:ea typeface="맑은 고딕"/>
                <a:cs typeface="맑은 고딕"/>
              </a:rPr>
              <a:t>• IT 쪽 서버가 멈춰도 계속 동작한다</a:t>
            </a:r>
          </a:p>
          <a:p>
            <a:pPr algn="l" eaLnBrk="0" marL="165735" indent="-165735">
              <a:lnSpc>
                <a:spcPct val="110000"/>
              </a:lnSpc>
              <a:spcAft>
                <a:spcPts val="600"/>
              </a:spcAft>
            </a:pPr>
            <a:r>
              <a:rPr sz="1450" b="0">
                <a:solidFill>
                  <a:srgbClr val="1F2A3A"/>
                </a:solidFill>
                <a:latin typeface="맑은 고딕"/>
                <a:ea typeface="맑은 고딕"/>
                <a:cs typeface="맑은 고딕"/>
              </a:rPr>
              <a:t>• 예: FUXA</a:t>
            </a:r>
          </a:p>
        </p:txBody>
      </p:sp>
      <p:sp>
        <p:nvSpPr>
          <p:cNvPr id="11" name="Rounded Rectangle 10"/>
          <p:cNvSpPr/>
          <p:nvPr/>
        </p:nvSpPr>
        <p:spPr>
          <a:xfrm>
            <a:off x="868680" y="5547296"/>
            <a:ext cx="207263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547296"/>
            <a:ext cx="207263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운전 · 실시간 값과 조작</a:t>
            </a:r>
          </a:p>
        </p:txBody>
      </p:sp>
      <p:sp>
        <p:nvSpPr>
          <p:cNvPr id="13" name="Rounded Rectangle 12"/>
          <p:cNvSpPr/>
          <p:nvPr/>
        </p:nvSpPr>
        <p:spPr>
          <a:xfrm>
            <a:off x="6461607" y="1978215"/>
            <a:ext cx="5181447" cy="402628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179383"/>
            <a:ext cx="731520" cy="731520"/>
          </a:xfrm>
          <a:prstGeom prst="ellipse">
            <a:avLst/>
          </a:prstGeom>
          <a:solidFill>
            <a:srgbClr val="5CB8F2"/>
          </a:solidFill>
          <a:ln>
            <a:noFill/>
          </a:ln>
        </p:spPr>
        <p:txBody>
          <a:bodyPr rtlCol="0" anchor="ctr"/>
          <a:lstStyle/>
          <a:p>
            <a:pPr algn="ctr"/>
          </a:p>
        </p:txBody>
      </p:sp>
      <p:pic>
        <p:nvPicPr>
          <p:cNvPr id="15" name="아이콘:chart-line" descr="chart-line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분석 화면</a:t>
            </a:r>
          </a:p>
        </p:txBody>
      </p:sp>
      <p:sp>
        <p:nvSpPr>
          <p:cNvPr id="17" name="TextBox 16"/>
          <p:cNvSpPr txBox="1"/>
          <p:nvPr/>
        </p:nvSpPr>
        <p:spPr>
          <a:xfrm>
            <a:off x="6735927" y="3029775"/>
            <a:ext cx="4632807" cy="2426081"/>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이력 데이터를 그래프로 보여 주는 대시보드이다</a:t>
            </a:r>
          </a:p>
          <a:p>
            <a:pPr algn="l" eaLnBrk="0" marL="165735" indent="-165735">
              <a:lnSpc>
                <a:spcPct val="110000"/>
              </a:lnSpc>
              <a:spcAft>
                <a:spcPts val="600"/>
              </a:spcAft>
            </a:pPr>
            <a:r>
              <a:rPr sz="1450" b="0">
                <a:solidFill>
                  <a:srgbClr val="1F2A3A"/>
                </a:solidFill>
                <a:latin typeface="맑은 고딕"/>
                <a:ea typeface="맑은 고딕"/>
                <a:cs typeface="맑은 고딕"/>
              </a:rPr>
              <a:t>• IT에서 시계열 저장소를 조회해 이력과 추세를 보여 준다</a:t>
            </a:r>
          </a:p>
          <a:p>
            <a:pPr algn="l" eaLnBrk="0" marL="165735" indent="-165735">
              <a:lnSpc>
                <a:spcPct val="110000"/>
              </a:lnSpc>
              <a:spcAft>
                <a:spcPts val="600"/>
              </a:spcAft>
            </a:pPr>
            <a:r>
              <a:rPr sz="1450" b="0">
                <a:solidFill>
                  <a:srgbClr val="1F2A3A"/>
                </a:solidFill>
                <a:latin typeface="맑은 고딕"/>
                <a:ea typeface="맑은 고딕"/>
                <a:cs typeface="맑은 고딕"/>
              </a:rPr>
              <a:t>• 읽기 전용이며 설비를 조작하지 않는다</a:t>
            </a:r>
          </a:p>
          <a:p>
            <a:pPr algn="l" eaLnBrk="0" marL="165735" indent="-165735">
              <a:lnSpc>
                <a:spcPct val="110000"/>
              </a:lnSpc>
              <a:spcAft>
                <a:spcPts val="600"/>
              </a:spcAft>
            </a:pPr>
            <a:r>
              <a:rPr sz="1450" b="0">
                <a:solidFill>
                  <a:srgbClr val="1F2A3A"/>
                </a:solidFill>
                <a:latin typeface="맑은 고딕"/>
                <a:ea typeface="맑은 고딕"/>
                <a:cs typeface="맑은 고딕"/>
              </a:rPr>
              <a:t>• 추세선 위에 경보와 조치 시점을 주석으로 표시한다</a:t>
            </a:r>
          </a:p>
          <a:p>
            <a:pPr algn="l" eaLnBrk="0" marL="165735" indent="-165735">
              <a:lnSpc>
                <a:spcPct val="110000"/>
              </a:lnSpc>
              <a:spcAft>
                <a:spcPts val="600"/>
              </a:spcAft>
            </a:pPr>
            <a:r>
              <a:rPr sz="1450" b="0">
                <a:solidFill>
                  <a:srgbClr val="1F2A3A"/>
                </a:solidFill>
                <a:latin typeface="맑은 고딕"/>
                <a:ea typeface="맑은 고딕"/>
                <a:cs typeface="맑은 고딕"/>
              </a:rPr>
              <a:t>• 예: Grafana</a:t>
            </a:r>
          </a:p>
        </p:txBody>
      </p:sp>
      <p:sp>
        <p:nvSpPr>
          <p:cNvPr id="18" name="Rounded Rectangle 17"/>
          <p:cNvSpPr/>
          <p:nvPr/>
        </p:nvSpPr>
        <p:spPr>
          <a:xfrm>
            <a:off x="6781647" y="5547296"/>
            <a:ext cx="172212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547296"/>
            <a:ext cx="17221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분석 · 이력과 추세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같은 유온에 반응하는 세 기준: 55, 60, 65 ℃</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경보는 사람이 리셋해야 풀리는 유온 65 ℃ 초과 인터록보다 먼저 울려, 조치할 시간을 벌어 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260028"/>
            <a:ext cx="3442106" cy="346265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7" name="Oval 6"/>
          <p:cNvSpPr/>
          <p:nvPr/>
        </p:nvSpPr>
        <p:spPr>
          <a:xfrm>
            <a:off x="1903933" y="2442908"/>
            <a:ext cx="731520" cy="731520"/>
          </a:xfrm>
          <a:prstGeom prst="ellipse">
            <a:avLst/>
          </a:prstGeom>
          <a:solidFill>
            <a:srgbClr val="5CB8F2"/>
          </a:solidFill>
          <a:ln>
            <a:noFill/>
          </a:ln>
        </p:spPr>
        <p:txBody>
          <a:bodyPr rtlCol="0" anchor="ctr"/>
          <a:lstStyle/>
          <a:p>
            <a:pPr algn="ctr"/>
          </a:p>
        </p:txBody>
      </p:sp>
      <p:pic>
        <p:nvPicPr>
          <p:cNvPr id="8" name="아이콘:radar" descr="radar_13294B_1.6.png"/>
          <p:cNvPicPr>
            <a:picLocks noChangeAspect="1"/>
          </p:cNvPicPr>
          <p:nvPr/>
        </p:nvPicPr>
        <p:blipFill>
          <a:blip r:embed="rId3"/>
          <a:stretch>
            <a:fillRect/>
          </a:stretch>
        </p:blipFill>
        <p:spPr>
          <a:xfrm>
            <a:off x="2057552" y="2596527"/>
            <a:ext cx="424281" cy="424281"/>
          </a:xfrm>
          <a:prstGeom prst="rect">
            <a:avLst/>
          </a:prstGeom>
        </p:spPr>
      </p:pic>
      <p:sp>
        <p:nvSpPr>
          <p:cNvPr id="9" name="TextBox 8"/>
          <p:cNvSpPr txBox="1"/>
          <p:nvPr/>
        </p:nvSpPr>
        <p:spPr>
          <a:xfrm>
            <a:off x="621792" y="3247580"/>
            <a:ext cx="3295802" cy="2401951"/>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55 ℃</a:t>
            </a:r>
          </a:p>
          <a:p>
            <a:pPr algn="ctr" eaLnBrk="0">
              <a:lnSpc>
                <a:spcPct val="110000"/>
              </a:lnSpc>
              <a:spcAft>
                <a:spcPts val="400"/>
              </a:spcAft>
            </a:pPr>
            <a:r>
              <a:rPr sz="1650" b="0">
                <a:solidFill>
                  <a:srgbClr val="1F2A3A"/>
                </a:solidFill>
                <a:latin typeface="맑은 고딕"/>
                <a:ea typeface="맑은 고딕"/>
                <a:cs typeface="맑은 고딕"/>
              </a:rPr>
              <a:t>감지 서비스의 경보</a:t>
            </a:r>
          </a:p>
          <a:p>
            <a:pPr algn="ctr" eaLnBrk="0">
              <a:lnSpc>
                <a:spcPct val="110000"/>
              </a:lnSpc>
              <a:spcAft>
                <a:spcPts val="400"/>
              </a:spcAft>
            </a:pPr>
            <a:r>
              <a:rPr sz="1650" b="0">
                <a:solidFill>
                  <a:srgbClr val="1F2A3A"/>
                </a:solidFill>
                <a:latin typeface="맑은 고딕"/>
                <a:ea typeface="맑은 고딕"/>
                <a:cs typeface="맑은 고딕"/>
              </a:rPr>
              <a:t>여러 값과 추세를 함께 보는 복합 조건</a:t>
            </a:r>
          </a:p>
          <a:p>
            <a:pPr algn="ctr" eaLnBrk="0">
              <a:lnSpc>
                <a:spcPct val="110000"/>
              </a:lnSpc>
              <a:spcAft>
                <a:spcPts val="400"/>
              </a:spcAft>
            </a:pPr>
            <a:r>
              <a:rPr sz="1650" b="0">
                <a:solidFill>
                  <a:srgbClr val="1F2A3A"/>
                </a:solidFill>
                <a:latin typeface="맑은 고딕"/>
                <a:ea typeface="맑은 고딕"/>
                <a:cs typeface="맑은 고딕"/>
              </a:rPr>
              <a:t>원인 진단과 조치의 흐름을 시작한다</a:t>
            </a:r>
          </a:p>
        </p:txBody>
      </p:sp>
      <p:sp>
        <p:nvSpPr>
          <p:cNvPr id="10" name="Right Arrow 9"/>
          <p:cNvSpPr/>
          <p:nvPr/>
        </p:nvSpPr>
        <p:spPr>
          <a:xfrm>
            <a:off x="4054754"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4374794" y="2260028"/>
            <a:ext cx="3442106" cy="346265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5730087" y="2442908"/>
            <a:ext cx="731520" cy="731520"/>
          </a:xfrm>
          <a:prstGeom prst="ellipse">
            <a:avLst/>
          </a:prstGeom>
          <a:solidFill>
            <a:srgbClr val="FFFFFF"/>
          </a:solidFill>
          <a:ln>
            <a:noFill/>
          </a:ln>
        </p:spPr>
        <p:txBody>
          <a:bodyPr rtlCol="0" anchor="ctr"/>
          <a:lstStyle/>
          <a:p>
            <a:pPr algn="ctr"/>
          </a:p>
        </p:txBody>
      </p:sp>
      <p:pic>
        <p:nvPicPr>
          <p:cNvPr id="13" name="아이콘:bell" descr="bell_13294B_1.6.png"/>
          <p:cNvPicPr>
            <a:picLocks noChangeAspect="1"/>
          </p:cNvPicPr>
          <p:nvPr/>
        </p:nvPicPr>
        <p:blipFill>
          <a:blip r:embed="rId4"/>
          <a:stretch>
            <a:fillRect/>
          </a:stretch>
        </p:blipFill>
        <p:spPr>
          <a:xfrm>
            <a:off x="5883706" y="2596527"/>
            <a:ext cx="424281" cy="424281"/>
          </a:xfrm>
          <a:prstGeom prst="rect">
            <a:avLst/>
          </a:prstGeom>
        </p:spPr>
      </p:pic>
      <p:sp>
        <p:nvSpPr>
          <p:cNvPr id="14" name="TextBox 13"/>
          <p:cNvSpPr txBox="1"/>
          <p:nvPr/>
        </p:nvSpPr>
        <p:spPr>
          <a:xfrm>
            <a:off x="4447946" y="3247580"/>
            <a:ext cx="3295802" cy="2401951"/>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60 ℃</a:t>
            </a:r>
          </a:p>
          <a:p>
            <a:pPr algn="ctr" eaLnBrk="0">
              <a:lnSpc>
                <a:spcPct val="110000"/>
              </a:lnSpc>
              <a:spcAft>
                <a:spcPts val="400"/>
              </a:spcAft>
            </a:pPr>
            <a:r>
              <a:rPr sz="1650" b="0">
                <a:solidFill>
                  <a:srgbClr val="1F2A3A"/>
                </a:solidFill>
                <a:latin typeface="맑은 고딕"/>
                <a:ea typeface="맑은 고딕"/>
                <a:cs typeface="맑은 고딕"/>
              </a:rPr>
              <a:t>운전 화면의 알람</a:t>
            </a:r>
          </a:p>
          <a:p>
            <a:pPr algn="ctr" eaLnBrk="0">
              <a:lnSpc>
                <a:spcPct val="110000"/>
              </a:lnSpc>
              <a:spcAft>
                <a:spcPts val="400"/>
              </a:spcAft>
            </a:pPr>
            <a:r>
              <a:rPr sz="1650" b="0">
                <a:solidFill>
                  <a:srgbClr val="1F2A3A"/>
                </a:solidFill>
                <a:latin typeface="맑은 고딕"/>
                <a:ea typeface="맑은 고딕"/>
                <a:cs typeface="맑은 고딕"/>
              </a:rPr>
              <a:t>값 하나의 단일 임계치(Threshold)</a:t>
            </a:r>
          </a:p>
          <a:p>
            <a:pPr algn="ctr" eaLnBrk="0">
              <a:lnSpc>
                <a:spcPct val="110000"/>
              </a:lnSpc>
              <a:spcAft>
                <a:spcPts val="400"/>
              </a:spcAft>
            </a:pPr>
            <a:r>
              <a:rPr sz="1650" b="0">
                <a:solidFill>
                  <a:srgbClr val="1F2A3A"/>
                </a:solidFill>
                <a:latin typeface="맑은 고딕"/>
                <a:ea typeface="맑은 고딕"/>
                <a:cs typeface="맑은 고딕"/>
              </a:rPr>
              <a:t>운전원에게 현재 상태를 알린다</a:t>
            </a:r>
          </a:p>
        </p:txBody>
      </p:sp>
      <p:sp>
        <p:nvSpPr>
          <p:cNvPr id="15" name="Right Arrow 14"/>
          <p:cNvSpPr/>
          <p:nvPr/>
        </p:nvSpPr>
        <p:spPr>
          <a:xfrm>
            <a:off x="7880908"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8200948" y="2260028"/>
            <a:ext cx="3442106" cy="346265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9556242" y="2442908"/>
            <a:ext cx="731520" cy="731520"/>
          </a:xfrm>
          <a:prstGeom prst="ellipse">
            <a:avLst/>
          </a:prstGeom>
          <a:solidFill>
            <a:srgbClr val="FFFFFF"/>
          </a:solidFill>
          <a:ln>
            <a:noFill/>
          </a:ln>
        </p:spPr>
        <p:txBody>
          <a:bodyPr rtlCol="0" anchor="ctr"/>
          <a:lstStyle/>
          <a:p>
            <a:pPr algn="ctr"/>
          </a:p>
        </p:txBody>
      </p:sp>
      <p:pic>
        <p:nvPicPr>
          <p:cNvPr id="18" name="아이콘:shield-check" descr="shield-check_13294B_1.6.png"/>
          <p:cNvPicPr>
            <a:picLocks noChangeAspect="1"/>
          </p:cNvPicPr>
          <p:nvPr/>
        </p:nvPicPr>
        <p:blipFill>
          <a:blip r:embed="rId5"/>
          <a:stretch>
            <a:fillRect/>
          </a:stretch>
        </p:blipFill>
        <p:spPr>
          <a:xfrm>
            <a:off x="9709861" y="2596527"/>
            <a:ext cx="424281" cy="424281"/>
          </a:xfrm>
          <a:prstGeom prst="rect">
            <a:avLst/>
          </a:prstGeom>
        </p:spPr>
      </p:pic>
      <p:sp>
        <p:nvSpPr>
          <p:cNvPr id="19" name="TextBox 18"/>
          <p:cNvSpPr txBox="1"/>
          <p:nvPr/>
        </p:nvSpPr>
        <p:spPr>
          <a:xfrm>
            <a:off x="8274100" y="3247580"/>
            <a:ext cx="3295802" cy="2401951"/>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65 ℃</a:t>
            </a:r>
          </a:p>
          <a:p>
            <a:pPr algn="ctr" eaLnBrk="0">
              <a:lnSpc>
                <a:spcPct val="110000"/>
              </a:lnSpc>
              <a:spcAft>
                <a:spcPts val="400"/>
              </a:spcAft>
            </a:pPr>
            <a:r>
              <a:rPr sz="1650" b="0">
                <a:solidFill>
                  <a:srgbClr val="1F2A3A"/>
                </a:solidFill>
                <a:latin typeface="맑은 고딕"/>
                <a:ea typeface="맑은 고딕"/>
                <a:cs typeface="맑은 고딕"/>
              </a:rPr>
              <a:t>PLC의 인터록</a:t>
            </a:r>
          </a:p>
          <a:p>
            <a:pPr algn="ctr" eaLnBrk="0">
              <a:lnSpc>
                <a:spcPct val="110000"/>
              </a:lnSpc>
              <a:spcAft>
                <a:spcPts val="400"/>
              </a:spcAft>
            </a:pPr>
            <a:r>
              <a:rPr sz="1650" b="0">
                <a:solidFill>
                  <a:srgbClr val="1F2A3A"/>
                </a:solidFill>
                <a:latin typeface="맑은 고딕"/>
                <a:ea typeface="맑은 고딕"/>
                <a:cs typeface="맑은 고딕"/>
              </a:rPr>
              <a:t>설비를 트립시킨다</a:t>
            </a:r>
          </a:p>
          <a:p>
            <a:pPr algn="ctr" eaLnBrk="0">
              <a:lnSpc>
                <a:spcPct val="110000"/>
              </a:lnSpc>
              <a:spcAft>
                <a:spcPts val="400"/>
              </a:spcAft>
            </a:pPr>
            <a:r>
              <a:rPr sz="1650" b="0">
                <a:solidFill>
                  <a:srgbClr val="1F2A3A"/>
                </a:solidFill>
                <a:latin typeface="맑은 고딕"/>
                <a:ea typeface="맑은 고딕"/>
                <a:cs typeface="맑은 고딕"/>
              </a:rPr>
              <a:t>자동 복귀하지 않으며, 유온이 55 ℃ 아래로</a:t>
            </a:r>
          </a:p>
          <a:p>
            <a:pPr algn="ctr" eaLnBrk="0">
              <a:lnSpc>
                <a:spcPct val="110000"/>
              </a:lnSpc>
              <a:spcAft>
                <a:spcPts val="400"/>
              </a:spcAft>
            </a:pPr>
            <a:r>
              <a:rPr sz="1650" b="0">
                <a:solidFill>
                  <a:srgbClr val="1F2A3A"/>
                </a:solidFill>
                <a:latin typeface="맑은 고딕"/>
                <a:ea typeface="맑은 고딕"/>
                <a:cs typeface="맑은 고딕"/>
              </a:rPr>
              <a:t>내려온 뒤 사람이 리셋한다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Layer 7~9 · 지식·추천·승인·실행</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지식과 데이터를 조회한 에이전트는 조치를 추천하며, 사람이 승인한 조치만 프로세스 엔진이 실행한다.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34</a:t>
            </a:r>
          </a:p>
        </p:txBody>
      </p:sp>
      <p:sp>
        <p:nvSpPr>
          <p:cNvPr id="6" name="TextBox 5"/>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Layer 7 · 온톨로지·원인분석</a:t>
            </a:r>
          </a:p>
          <a:p>
            <a:pPr algn="l" eaLnBrk="0">
              <a:lnSpc>
                <a:spcPct val="110000"/>
              </a:lnSpc>
              <a:spcAft>
                <a:spcPts val="200"/>
              </a:spcAft>
            </a:pPr>
            <a:r>
              <a:rPr sz="1150" b="0">
                <a:solidFill>
                  <a:srgbClr val="556175"/>
                </a:solidFill>
                <a:latin typeface="맑은 고딕"/>
                <a:ea typeface="맑은 고딕"/>
                <a:cs typeface="맑은 고딕"/>
              </a:rPr>
              <a:t>판단의 근거</a:t>
            </a:r>
          </a:p>
        </p:txBody>
      </p:sp>
      <p:sp>
        <p:nvSpPr>
          <p:cNvPr id="7" name="TextBox 6"/>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증상·원인·조치의 관계와 판별 기준을 지식으로 보관한다.</a:t>
            </a:r>
          </a:p>
          <a:p>
            <a:pPr algn="l" eaLnBrk="0">
              <a:lnSpc>
                <a:spcPct val="110000"/>
              </a:lnSpc>
              <a:spcAft>
                <a:spcPts val="300"/>
              </a:spcAft>
            </a:pPr>
            <a:r>
              <a:rPr sz="1400" b="0">
                <a:solidFill>
                  <a:srgbClr val="1F2A3A"/>
                </a:solidFill>
                <a:latin typeface="맑은 고딕"/>
                <a:ea typeface="맑은 고딕"/>
                <a:cs typeface="맑은 고딕"/>
              </a:rPr>
              <a:t>쿨러 성능 저하 → 원인 후보와 증거</a:t>
            </a:r>
          </a:p>
          <a:p>
            <a:pPr algn="l" eaLnBrk="0">
              <a:lnSpc>
                <a:spcPct val="110000"/>
              </a:lnSpc>
              <a:spcAft>
                <a:spcPts val="300"/>
              </a:spcAft>
            </a:pPr>
            <a:r>
              <a:rPr sz="1400" b="0">
                <a:solidFill>
                  <a:srgbClr val="1F2A3A"/>
                </a:solidFill>
                <a:latin typeface="맑은 고딕"/>
                <a:ea typeface="맑은 고딕"/>
                <a:cs typeface="맑은 고딕"/>
              </a:rPr>
              <a:t>이 역할에는 Neo4j 같은 그래프 DB가 있다.</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Layer 8 · AI 에이전트</a:t>
            </a:r>
          </a:p>
          <a:p>
            <a:pPr algn="l" eaLnBrk="0">
              <a:lnSpc>
                <a:spcPct val="110000"/>
              </a:lnSpc>
              <a:spcAft>
                <a:spcPts val="200"/>
              </a:spcAft>
            </a:pPr>
            <a:r>
              <a:rPr sz="1150" b="0">
                <a:solidFill>
                  <a:srgbClr val="556175"/>
                </a:solidFill>
                <a:latin typeface="맑은 고딕"/>
                <a:ea typeface="맑은 고딕"/>
                <a:cs typeface="맑은 고딕"/>
              </a:rPr>
              <a:t>진단과 추천</a:t>
            </a:r>
          </a:p>
        </p:txBody>
      </p:sp>
      <p:sp>
        <p:nvSpPr>
          <p:cNvPr id="10" name="TextBox 9"/>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지식과 데이터를 조회해 원인을 진단하고 조치안을 추천한다.</a:t>
            </a:r>
          </a:p>
          <a:p>
            <a:pPr algn="l" eaLnBrk="0">
              <a:lnSpc>
                <a:spcPct val="110000"/>
              </a:lnSpc>
              <a:spcAft>
                <a:spcPts val="300"/>
              </a:spcAft>
            </a:pPr>
            <a:r>
              <a:rPr sz="1400" b="0">
                <a:solidFill>
                  <a:srgbClr val="1F2A3A"/>
                </a:solidFill>
                <a:latin typeface="맑은 고딕"/>
                <a:ea typeface="맑은 고딕"/>
                <a:cs typeface="맑은 고딕"/>
              </a:rPr>
              <a:t>쿨러 핀 오염 진단 → 팬 최대 운전 추천</a:t>
            </a:r>
          </a:p>
          <a:p>
            <a:pPr algn="l" eaLnBrk="0">
              <a:lnSpc>
                <a:spcPct val="110000"/>
              </a:lnSpc>
              <a:spcAft>
                <a:spcPts val="300"/>
              </a:spcAft>
            </a:pPr>
            <a:r>
              <a:rPr sz="1400" b="0">
                <a:solidFill>
                  <a:srgbClr val="1F2A3A"/>
                </a:solidFill>
                <a:latin typeface="맑은 고딕"/>
                <a:ea typeface="맑은 고딕"/>
                <a:cs typeface="맑은 고딕"/>
              </a:rPr>
              <a:t>설비 명령을 보낼 권한과 수단은 없다.</a:t>
            </a:r>
          </a:p>
        </p:txBody>
      </p:sp>
      <p:sp>
        <p:nvSpPr>
          <p:cNvPr id="11" name="Rectangle 10"/>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2" name="Rounded Rectangle 11"/>
          <p:cNvSpPr/>
          <p:nvPr/>
        </p:nvSpPr>
        <p:spPr>
          <a:xfrm>
            <a:off x="548640" y="4704588"/>
            <a:ext cx="11094415" cy="1316736"/>
          </a:xfrm>
          <a:prstGeom prst="roundRect">
            <a:avLst>
              <a:gd name="adj" fmla="val 6000"/>
            </a:avLst>
          </a:prstGeom>
          <a:solidFill>
            <a:srgbClr val="E7F3FD"/>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Layer 9 · 승인과 프로세스</a:t>
            </a:r>
          </a:p>
          <a:p>
            <a:pPr algn="l" eaLnBrk="0">
              <a:lnSpc>
                <a:spcPct val="110000"/>
              </a:lnSpc>
              <a:spcAft>
                <a:spcPts val="200"/>
              </a:spcAft>
            </a:pPr>
            <a:r>
              <a:rPr sz="1150" b="0">
                <a:solidFill>
                  <a:srgbClr val="556175"/>
                </a:solidFill>
                <a:latin typeface="맑은 고딕"/>
                <a:ea typeface="맑은 고딕"/>
                <a:cs typeface="맑은 고딕"/>
              </a:rPr>
              <a:t>승인과 실행</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HITL(Human-in-the-Loop): 사람의 판단을 거쳐 실행하는 구조이다.</a:t>
            </a:r>
          </a:p>
          <a:p>
            <a:pPr algn="l" eaLnBrk="0">
              <a:lnSpc>
                <a:spcPct val="110000"/>
              </a:lnSpc>
              <a:spcAft>
                <a:spcPts val="300"/>
              </a:spcAft>
            </a:pPr>
            <a:r>
              <a:rPr sz="1400" b="0">
                <a:solidFill>
                  <a:srgbClr val="1F2A3A"/>
                </a:solidFill>
                <a:latin typeface="맑은 고딕"/>
                <a:ea typeface="맑은 고딕"/>
                <a:cs typeface="맑은 고딕"/>
              </a:rPr>
              <a:t>담당자가 추천과 근거를 보고 승인하거나 거절한다.</a:t>
            </a:r>
          </a:p>
          <a:p>
            <a:pPr algn="l" eaLnBrk="0">
              <a:lnSpc>
                <a:spcPct val="110000"/>
              </a:lnSpc>
              <a:spcAft>
                <a:spcPts val="300"/>
              </a:spcAft>
            </a:pPr>
            <a:r>
              <a:rPr sz="1400" b="0">
                <a:solidFill>
                  <a:srgbClr val="1F2A3A"/>
                </a:solidFill>
                <a:latin typeface="맑은 고딕"/>
                <a:ea typeface="맑은 고딕"/>
                <a:cs typeface="맑은 고딕"/>
              </a:rPr>
              <a:t>프로세스 엔진은 승인된 조치를 명령으로 만들고 결과를 확인한다.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승인된 명령이 PLC에 닿는 경로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승인된 명령은 명령 관문과 PLC의 검사를 모두 거치는 </a:t>
            </a:r>
            <a:r>
              <a:rPr sz="1600" b="1">
                <a:solidFill>
                  <a:srgbClr val="1A6FC4"/>
                </a:solidFill>
                <a:latin typeface="맑은 고딕"/>
                <a:ea typeface="맑은 고딕"/>
                <a:cs typeface="맑은 고딕"/>
              </a:rPr>
              <a:t>심층 방어</a:t>
            </a:r>
            <a:r>
              <a:rPr sz="1600" b="0">
                <a:solidFill>
                  <a:srgbClr val="556175"/>
                </a:solidFill>
                <a:latin typeface="맑은 고딕"/>
                <a:ea typeface="맑은 고딕"/>
                <a:cs typeface="맑은 고딕"/>
              </a:rPr>
              <a:t>(Defense in Depth)로 보호된다.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612647" y="2454085"/>
            <a:ext cx="3570122" cy="3074541"/>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612647" y="2508949"/>
            <a:ext cx="3570122"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IT</a:t>
            </a:r>
          </a:p>
        </p:txBody>
      </p:sp>
      <p:sp>
        <p:nvSpPr>
          <p:cNvPr id="8" name="Rounded Rectangle 7"/>
          <p:cNvSpPr/>
          <p:nvPr/>
        </p:nvSpPr>
        <p:spPr>
          <a:xfrm>
            <a:off x="4310786" y="2454085"/>
            <a:ext cx="1721053" cy="3074541"/>
          </a:xfrm>
          <a:prstGeom prst="roundRect">
            <a:avLst>
              <a:gd name="adj" fmla="val 4000"/>
            </a:avLst>
          </a:prstGeom>
          <a:solidFill>
            <a:srgbClr val="F3F6F9"/>
          </a:solidFill>
          <a:ln>
            <a:noFill/>
          </a:ln>
        </p:spPr>
        <p:txBody>
          <a:bodyPr rtlCol="0" anchor="ctr"/>
          <a:lstStyle/>
          <a:p>
            <a:pPr algn="ctr"/>
          </a:p>
        </p:txBody>
      </p:sp>
      <p:sp>
        <p:nvSpPr>
          <p:cNvPr id="9" name="TextBox 8"/>
          <p:cNvSpPr txBox="1"/>
          <p:nvPr/>
        </p:nvSpPr>
        <p:spPr>
          <a:xfrm>
            <a:off x="4310786" y="2508949"/>
            <a:ext cx="1721053"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DMZ</a:t>
            </a:r>
          </a:p>
        </p:txBody>
      </p:sp>
      <p:sp>
        <p:nvSpPr>
          <p:cNvPr id="10" name="Rounded Rectangle 9"/>
          <p:cNvSpPr/>
          <p:nvPr/>
        </p:nvSpPr>
        <p:spPr>
          <a:xfrm>
            <a:off x="6159855" y="2454085"/>
            <a:ext cx="5419191" cy="3074541"/>
          </a:xfrm>
          <a:prstGeom prst="roundRect">
            <a:avLst>
              <a:gd name="adj" fmla="val 4000"/>
            </a:avLst>
          </a:prstGeom>
          <a:solidFill>
            <a:srgbClr val="F3F6F9"/>
          </a:solidFill>
          <a:ln>
            <a:noFill/>
          </a:ln>
        </p:spPr>
        <p:txBody>
          <a:bodyPr rtlCol="0" anchor="ctr"/>
          <a:lstStyle/>
          <a:p>
            <a:pPr algn="ctr"/>
          </a:p>
        </p:txBody>
      </p:sp>
      <p:sp>
        <p:nvSpPr>
          <p:cNvPr id="11" name="TextBox 10"/>
          <p:cNvSpPr txBox="1"/>
          <p:nvPr/>
        </p:nvSpPr>
        <p:spPr>
          <a:xfrm>
            <a:off x="6159855" y="2508949"/>
            <a:ext cx="5419191"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OT</a:t>
            </a:r>
          </a:p>
        </p:txBody>
      </p:sp>
      <p:sp>
        <p:nvSpPr>
          <p:cNvPr id="12" name="Rectangle 11"/>
          <p:cNvSpPr/>
          <p:nvPr/>
        </p:nvSpPr>
        <p:spPr>
          <a:xfrm>
            <a:off x="1473174" y="3776090"/>
            <a:ext cx="9245346" cy="146304"/>
          </a:xfrm>
          <a:prstGeom prst="rect">
            <a:avLst/>
          </a:prstGeom>
          <a:solidFill>
            <a:srgbClr val="5CB8F2"/>
          </a:solidFill>
          <a:ln>
            <a:noFill/>
          </a:ln>
        </p:spPr>
        <p:txBody>
          <a:bodyPr rtlCol="0" anchor="ctr"/>
          <a:lstStyle/>
          <a:p>
            <a:pPr algn="ctr"/>
          </a:p>
        </p:txBody>
      </p:sp>
      <p:sp>
        <p:nvSpPr>
          <p:cNvPr id="13" name="Chevron 12"/>
          <p:cNvSpPr/>
          <p:nvPr/>
        </p:nvSpPr>
        <p:spPr>
          <a:xfrm>
            <a:off x="2278837" y="3666362"/>
            <a:ext cx="237744" cy="365760"/>
          </a:xfrm>
          <a:prstGeom prst="chevron">
            <a:avLst/>
          </a:prstGeom>
          <a:solidFill>
            <a:srgbClr val="13294B"/>
          </a:solidFill>
          <a:ln>
            <a:noFill/>
          </a:ln>
        </p:spPr>
        <p:txBody>
          <a:bodyPr rtlCol="0" anchor="ctr"/>
          <a:lstStyle/>
          <a:p>
            <a:pPr algn="ctr"/>
          </a:p>
        </p:txBody>
      </p:sp>
      <p:sp>
        <p:nvSpPr>
          <p:cNvPr id="14" name="TextBox 13"/>
          <p:cNvSpPr txBox="1"/>
          <p:nvPr/>
        </p:nvSpPr>
        <p:spPr>
          <a:xfrm>
            <a:off x="1862492" y="3318890"/>
            <a:ext cx="107043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기록</a:t>
            </a:r>
          </a:p>
        </p:txBody>
      </p:sp>
      <p:sp>
        <p:nvSpPr>
          <p:cNvPr id="15" name="Oval 14"/>
          <p:cNvSpPr/>
          <p:nvPr/>
        </p:nvSpPr>
        <p:spPr>
          <a:xfrm>
            <a:off x="992416" y="3368485"/>
            <a:ext cx="961515" cy="961515"/>
          </a:xfrm>
          <a:prstGeom prst="ellipse">
            <a:avLst/>
          </a:prstGeom>
          <a:solidFill>
            <a:srgbClr val="FFFFFF"/>
          </a:solidFill>
          <a:ln w="28575">
            <a:solidFill>
              <a:srgbClr val="13294B"/>
            </a:solidFill>
          </a:ln>
        </p:spPr>
        <p:txBody>
          <a:bodyPr rtlCol="0" anchor="ctr"/>
          <a:lstStyle/>
          <a:p>
            <a:pPr algn="ctr"/>
          </a:p>
        </p:txBody>
      </p:sp>
      <p:pic>
        <p:nvPicPr>
          <p:cNvPr id="16" name="아이콘:settings" descr="settings_13294B_1.6.png"/>
          <p:cNvPicPr>
            <a:picLocks noChangeAspect="1"/>
          </p:cNvPicPr>
          <p:nvPr/>
        </p:nvPicPr>
        <p:blipFill>
          <a:blip r:embed="rId3"/>
          <a:stretch>
            <a:fillRect/>
          </a:stretch>
        </p:blipFill>
        <p:spPr>
          <a:xfrm>
            <a:off x="1223180" y="3599248"/>
            <a:ext cx="499988" cy="499988"/>
          </a:xfrm>
          <a:prstGeom prst="rect">
            <a:avLst/>
          </a:prstGeom>
        </p:spPr>
      </p:pic>
      <p:sp>
        <p:nvSpPr>
          <p:cNvPr id="17" name="TextBox 16"/>
          <p:cNvSpPr txBox="1"/>
          <p:nvPr/>
        </p:nvSpPr>
        <p:spPr>
          <a:xfrm>
            <a:off x="640079"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프로세스 엔진</a:t>
            </a:r>
          </a:p>
          <a:p>
            <a:pPr algn="ctr" eaLnBrk="0">
              <a:lnSpc>
                <a:spcPct val="110000"/>
              </a:lnSpc>
              <a:spcAft>
                <a:spcPts val="400"/>
              </a:spcAft>
            </a:pPr>
            <a:r>
              <a:rPr sz="1200" b="0">
                <a:solidFill>
                  <a:srgbClr val="1F2A3A"/>
                </a:solidFill>
                <a:latin typeface="맑은 고딕"/>
                <a:ea typeface="맑은 고딕"/>
                <a:cs typeface="맑은 고딕"/>
              </a:rPr>
              <a:t>승인된 조치를</a:t>
            </a:r>
          </a:p>
          <a:p>
            <a:pPr algn="ctr" eaLnBrk="0">
              <a:lnSpc>
                <a:spcPct val="110000"/>
              </a:lnSpc>
              <a:spcAft>
                <a:spcPts val="400"/>
              </a:spcAft>
            </a:pPr>
            <a:r>
              <a:rPr sz="1200" b="0">
                <a:solidFill>
                  <a:srgbClr val="1F2A3A"/>
                </a:solidFill>
                <a:latin typeface="맑은 고딕"/>
                <a:ea typeface="맑은 고딕"/>
                <a:cs typeface="맑은 고딕"/>
              </a:rPr>
              <a:t>명령으로 만든다</a:t>
            </a:r>
          </a:p>
        </p:txBody>
      </p:sp>
      <p:sp>
        <p:nvSpPr>
          <p:cNvPr id="18" name="Chevron 17"/>
          <p:cNvSpPr/>
          <p:nvPr/>
        </p:nvSpPr>
        <p:spPr>
          <a:xfrm>
            <a:off x="4127906" y="3666362"/>
            <a:ext cx="237744" cy="365760"/>
          </a:xfrm>
          <a:prstGeom prst="chevron">
            <a:avLst/>
          </a:prstGeom>
          <a:solidFill>
            <a:srgbClr val="13294B"/>
          </a:solidFill>
          <a:ln>
            <a:noFill/>
          </a:ln>
        </p:spPr>
        <p:txBody>
          <a:bodyPr rtlCol="0" anchor="ctr"/>
          <a:lstStyle/>
          <a:p>
            <a:pPr algn="ctr"/>
          </a:p>
        </p:txBody>
      </p:sp>
      <p:sp>
        <p:nvSpPr>
          <p:cNvPr id="19" name="TextBox 18"/>
          <p:cNvSpPr txBox="1"/>
          <p:nvPr/>
        </p:nvSpPr>
        <p:spPr>
          <a:xfrm>
            <a:off x="3711561" y="3318890"/>
            <a:ext cx="107043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읽기</a:t>
            </a:r>
          </a:p>
        </p:txBody>
      </p:sp>
      <p:sp>
        <p:nvSpPr>
          <p:cNvPr id="20" name="Oval 19"/>
          <p:cNvSpPr/>
          <p:nvPr/>
        </p:nvSpPr>
        <p:spPr>
          <a:xfrm>
            <a:off x="2841485"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1" name="아이콘:stack" descr="stack_13294B_1.6.png"/>
          <p:cNvPicPr>
            <a:picLocks noChangeAspect="1"/>
          </p:cNvPicPr>
          <p:nvPr/>
        </p:nvPicPr>
        <p:blipFill>
          <a:blip r:embed="rId4"/>
          <a:stretch>
            <a:fillRect/>
          </a:stretch>
        </p:blipFill>
        <p:spPr>
          <a:xfrm>
            <a:off x="3072249" y="3599248"/>
            <a:ext cx="499988" cy="499988"/>
          </a:xfrm>
          <a:prstGeom prst="rect">
            <a:avLst/>
          </a:prstGeom>
        </p:spPr>
      </p:pic>
      <p:sp>
        <p:nvSpPr>
          <p:cNvPr id="22" name="TextBox 21"/>
          <p:cNvSpPr txBox="1"/>
          <p:nvPr/>
        </p:nvSpPr>
        <p:spPr>
          <a:xfrm>
            <a:off x="2489149"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이벤트 로그</a:t>
            </a:r>
          </a:p>
          <a:p>
            <a:pPr algn="ctr" eaLnBrk="0">
              <a:lnSpc>
                <a:spcPct val="110000"/>
              </a:lnSpc>
              <a:spcAft>
                <a:spcPts val="400"/>
              </a:spcAft>
            </a:pPr>
            <a:r>
              <a:rPr sz="1200" b="0">
                <a:solidFill>
                  <a:srgbClr val="1F2A3A"/>
                </a:solidFill>
                <a:latin typeface="맑은 고딕"/>
                <a:ea typeface="맑은 고딕"/>
                <a:cs typeface="맑은 고딕"/>
              </a:rPr>
              <a:t>action.cmd에</a:t>
            </a:r>
          </a:p>
          <a:p>
            <a:pPr algn="ctr" eaLnBrk="0">
              <a:lnSpc>
                <a:spcPct val="110000"/>
              </a:lnSpc>
              <a:spcAft>
                <a:spcPts val="400"/>
              </a:spcAft>
            </a:pPr>
            <a:r>
              <a:rPr sz="1200" b="0">
                <a:solidFill>
                  <a:srgbClr val="1F2A3A"/>
                </a:solidFill>
                <a:latin typeface="맑은 고딕"/>
                <a:ea typeface="맑은 고딕"/>
                <a:cs typeface="맑은 고딕"/>
              </a:rPr>
              <a:t>명령을 남긴다</a:t>
            </a:r>
          </a:p>
        </p:txBody>
      </p:sp>
      <p:sp>
        <p:nvSpPr>
          <p:cNvPr id="23" name="Chevron 22"/>
          <p:cNvSpPr/>
          <p:nvPr/>
        </p:nvSpPr>
        <p:spPr>
          <a:xfrm>
            <a:off x="5976975" y="3666362"/>
            <a:ext cx="237744" cy="365760"/>
          </a:xfrm>
          <a:prstGeom prst="chevron">
            <a:avLst/>
          </a:prstGeom>
          <a:solidFill>
            <a:srgbClr val="13294B"/>
          </a:solidFill>
          <a:ln>
            <a:noFill/>
          </a:ln>
        </p:spPr>
        <p:txBody>
          <a:bodyPr rtlCol="0" anchor="ctr"/>
          <a:lstStyle/>
          <a:p>
            <a:pPr algn="ctr"/>
          </a:p>
        </p:txBody>
      </p:sp>
      <p:sp>
        <p:nvSpPr>
          <p:cNvPr id="24" name="TextBox 23"/>
          <p:cNvSpPr txBox="1"/>
          <p:nvPr/>
        </p:nvSpPr>
        <p:spPr>
          <a:xfrm>
            <a:off x="5560630" y="3318890"/>
            <a:ext cx="107043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통과</a:t>
            </a:r>
          </a:p>
        </p:txBody>
      </p:sp>
      <p:sp>
        <p:nvSpPr>
          <p:cNvPr id="25" name="Oval 24"/>
          <p:cNvSpPr/>
          <p:nvPr/>
        </p:nvSpPr>
        <p:spPr>
          <a:xfrm>
            <a:off x="4690555" y="3368485"/>
            <a:ext cx="961515" cy="961515"/>
          </a:xfrm>
          <a:prstGeom prst="ellipse">
            <a:avLst/>
          </a:prstGeom>
          <a:solidFill>
            <a:srgbClr val="5CB8F2"/>
          </a:solidFill>
          <a:ln w="28575">
            <a:solidFill>
              <a:srgbClr val="13294B"/>
            </a:solidFill>
          </a:ln>
        </p:spPr>
        <p:txBody>
          <a:bodyPr rtlCol="0" anchor="ctr"/>
          <a:lstStyle/>
          <a:p>
            <a:pPr algn="ctr"/>
          </a:p>
        </p:txBody>
      </p:sp>
      <p:pic>
        <p:nvPicPr>
          <p:cNvPr id="26" name="아이콘:shield" descr="shield_13294B_1.6.png"/>
          <p:cNvPicPr>
            <a:picLocks noChangeAspect="1"/>
          </p:cNvPicPr>
          <p:nvPr/>
        </p:nvPicPr>
        <p:blipFill>
          <a:blip r:embed="rId5"/>
          <a:stretch>
            <a:fillRect/>
          </a:stretch>
        </p:blipFill>
        <p:spPr>
          <a:xfrm>
            <a:off x="4921318" y="3599248"/>
            <a:ext cx="499988" cy="499988"/>
          </a:xfrm>
          <a:prstGeom prst="rect">
            <a:avLst/>
          </a:prstGeom>
        </p:spPr>
      </p:pic>
      <p:sp>
        <p:nvSpPr>
          <p:cNvPr id="27" name="TextBox 26"/>
          <p:cNvSpPr txBox="1"/>
          <p:nvPr/>
        </p:nvSpPr>
        <p:spPr>
          <a:xfrm>
            <a:off x="4338218"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명령 관문</a:t>
            </a:r>
          </a:p>
          <a:p>
            <a:pPr algn="ctr" eaLnBrk="0">
              <a:lnSpc>
                <a:spcPct val="110000"/>
              </a:lnSpc>
              <a:spcAft>
                <a:spcPts val="400"/>
              </a:spcAft>
            </a:pPr>
            <a:r>
              <a:rPr sz="1200" b="0">
                <a:solidFill>
                  <a:srgbClr val="1F2A3A"/>
                </a:solidFill>
                <a:latin typeface="맑은 고딕"/>
                <a:ea typeface="맑은 고딕"/>
                <a:cs typeface="맑은 고딕"/>
              </a:rPr>
              <a:t>명령과</a:t>
            </a:r>
          </a:p>
          <a:p>
            <a:pPr algn="ctr" eaLnBrk="0">
              <a:lnSpc>
                <a:spcPct val="110000"/>
              </a:lnSpc>
              <a:spcAft>
                <a:spcPts val="400"/>
              </a:spcAft>
            </a:pPr>
            <a:r>
              <a:rPr sz="1200" b="0">
                <a:solidFill>
                  <a:srgbClr val="1F2A3A"/>
                </a:solidFill>
                <a:latin typeface="맑은 고딕"/>
                <a:ea typeface="맑은 고딕"/>
                <a:cs typeface="맑은 고딕"/>
              </a:rPr>
              <a:t>승인 기록 검사</a:t>
            </a:r>
          </a:p>
        </p:txBody>
      </p:sp>
      <p:sp>
        <p:nvSpPr>
          <p:cNvPr id="28" name="Chevron 27"/>
          <p:cNvSpPr/>
          <p:nvPr/>
        </p:nvSpPr>
        <p:spPr>
          <a:xfrm>
            <a:off x="7826044" y="3666362"/>
            <a:ext cx="237744" cy="365760"/>
          </a:xfrm>
          <a:prstGeom prst="chevron">
            <a:avLst/>
          </a:prstGeom>
          <a:solidFill>
            <a:srgbClr val="13294B"/>
          </a:solidFill>
          <a:ln>
            <a:noFill/>
          </a:ln>
        </p:spPr>
        <p:txBody>
          <a:bodyPr rtlCol="0" anchor="ctr"/>
          <a:lstStyle/>
          <a:p>
            <a:pPr algn="ctr"/>
          </a:p>
        </p:txBody>
      </p:sp>
      <p:sp>
        <p:nvSpPr>
          <p:cNvPr id="29" name="TextBox 28"/>
          <p:cNvSpPr txBox="1"/>
          <p:nvPr/>
        </p:nvSpPr>
        <p:spPr>
          <a:xfrm>
            <a:off x="7409700" y="3318890"/>
            <a:ext cx="107043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전달</a:t>
            </a:r>
          </a:p>
        </p:txBody>
      </p:sp>
      <p:sp>
        <p:nvSpPr>
          <p:cNvPr id="30" name="Oval 29"/>
          <p:cNvSpPr/>
          <p:nvPr/>
        </p:nvSpPr>
        <p:spPr>
          <a:xfrm>
            <a:off x="6539624" y="3368485"/>
            <a:ext cx="961515" cy="961515"/>
          </a:xfrm>
          <a:prstGeom prst="ellipse">
            <a:avLst/>
          </a:prstGeom>
          <a:solidFill>
            <a:srgbClr val="FFFFFF"/>
          </a:solidFill>
          <a:ln w="28575">
            <a:solidFill>
              <a:srgbClr val="13294B"/>
            </a:solidFill>
          </a:ln>
        </p:spPr>
        <p:txBody>
          <a:bodyPr rtlCol="0" anchor="ctr"/>
          <a:lstStyle/>
          <a:p>
            <a:pPr algn="ctr"/>
          </a:p>
        </p:txBody>
      </p:sp>
      <p:pic>
        <p:nvPicPr>
          <p:cNvPr id="31" name="아이콘:broadcast" descr="broadcast_13294B_1.6.png"/>
          <p:cNvPicPr>
            <a:picLocks noChangeAspect="1"/>
          </p:cNvPicPr>
          <p:nvPr/>
        </p:nvPicPr>
        <p:blipFill>
          <a:blip r:embed="rId6"/>
          <a:stretch>
            <a:fillRect/>
          </a:stretch>
        </p:blipFill>
        <p:spPr>
          <a:xfrm>
            <a:off x="6770388" y="3599248"/>
            <a:ext cx="499988" cy="499988"/>
          </a:xfrm>
          <a:prstGeom prst="rect">
            <a:avLst/>
          </a:prstGeom>
        </p:spPr>
      </p:pic>
      <p:sp>
        <p:nvSpPr>
          <p:cNvPr id="32" name="TextBox 31"/>
          <p:cNvSpPr txBox="1"/>
          <p:nvPr/>
        </p:nvSpPr>
        <p:spPr>
          <a:xfrm>
            <a:off x="6187287"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브로커</a:t>
            </a:r>
          </a:p>
          <a:p>
            <a:pPr algn="ctr" eaLnBrk="0">
              <a:lnSpc>
                <a:spcPct val="110000"/>
              </a:lnSpc>
              <a:spcAft>
                <a:spcPts val="400"/>
              </a:spcAft>
            </a:pPr>
            <a:r>
              <a:rPr sz="1200" b="0">
                <a:solidFill>
                  <a:srgbClr val="1F2A3A"/>
                </a:solidFill>
                <a:latin typeface="맑은 고딕"/>
                <a:ea typeface="맑은 고딕"/>
                <a:cs typeface="맑은 고딕"/>
              </a:rPr>
              <a:t>cmd/auto로</a:t>
            </a:r>
          </a:p>
          <a:p>
            <a:pPr algn="ctr" eaLnBrk="0">
              <a:lnSpc>
                <a:spcPct val="110000"/>
              </a:lnSpc>
              <a:spcAft>
                <a:spcPts val="400"/>
              </a:spcAft>
            </a:pPr>
            <a:r>
              <a:rPr sz="1200" b="0">
                <a:solidFill>
                  <a:srgbClr val="1F2A3A"/>
                </a:solidFill>
                <a:latin typeface="맑은 고딕"/>
                <a:ea typeface="맑은 고딕"/>
                <a:cs typeface="맑은 고딕"/>
              </a:rPr>
              <a:t>전달한다</a:t>
            </a:r>
          </a:p>
        </p:txBody>
      </p:sp>
      <p:sp>
        <p:nvSpPr>
          <p:cNvPr id="33" name="Chevron 32"/>
          <p:cNvSpPr/>
          <p:nvPr/>
        </p:nvSpPr>
        <p:spPr>
          <a:xfrm>
            <a:off x="9675114" y="3666362"/>
            <a:ext cx="237744" cy="365760"/>
          </a:xfrm>
          <a:prstGeom prst="chevron">
            <a:avLst/>
          </a:prstGeom>
          <a:solidFill>
            <a:srgbClr val="13294B"/>
          </a:solidFill>
          <a:ln>
            <a:noFill/>
          </a:ln>
        </p:spPr>
        <p:txBody>
          <a:bodyPr rtlCol="0" anchor="ctr"/>
          <a:lstStyle/>
          <a:p>
            <a:pPr algn="ctr"/>
          </a:p>
        </p:txBody>
      </p:sp>
      <p:sp>
        <p:nvSpPr>
          <p:cNvPr id="34" name="TextBox 33"/>
          <p:cNvSpPr txBox="1"/>
          <p:nvPr/>
        </p:nvSpPr>
        <p:spPr>
          <a:xfrm>
            <a:off x="9258769" y="3318890"/>
            <a:ext cx="107043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설정 쓰기</a:t>
            </a:r>
          </a:p>
        </p:txBody>
      </p:sp>
      <p:sp>
        <p:nvSpPr>
          <p:cNvPr id="35" name="Oval 34"/>
          <p:cNvSpPr/>
          <p:nvPr/>
        </p:nvSpPr>
        <p:spPr>
          <a:xfrm>
            <a:off x="8388693" y="3368485"/>
            <a:ext cx="961515" cy="961515"/>
          </a:xfrm>
          <a:prstGeom prst="ellipse">
            <a:avLst/>
          </a:prstGeom>
          <a:solidFill>
            <a:srgbClr val="FFFFFF"/>
          </a:solidFill>
          <a:ln w="28575">
            <a:solidFill>
              <a:srgbClr val="13294B"/>
            </a:solidFill>
          </a:ln>
        </p:spPr>
        <p:txBody>
          <a:bodyPr rtlCol="0" anchor="ctr"/>
          <a:lstStyle/>
          <a:p>
            <a:pPr algn="ctr"/>
          </a:p>
        </p:txBody>
      </p:sp>
      <p:pic>
        <p:nvPicPr>
          <p:cNvPr id="36" name="아이콘:plug-connected" descr="plug-connected_13294B_1.6.png"/>
          <p:cNvPicPr>
            <a:picLocks noChangeAspect="1"/>
          </p:cNvPicPr>
          <p:nvPr/>
        </p:nvPicPr>
        <p:blipFill>
          <a:blip r:embed="rId7"/>
          <a:stretch>
            <a:fillRect/>
          </a:stretch>
        </p:blipFill>
        <p:spPr>
          <a:xfrm>
            <a:off x="8619457" y="3599248"/>
            <a:ext cx="499988" cy="499988"/>
          </a:xfrm>
          <a:prstGeom prst="rect">
            <a:avLst/>
          </a:prstGeom>
        </p:spPr>
      </p:pic>
      <p:sp>
        <p:nvSpPr>
          <p:cNvPr id="37" name="TextBox 36"/>
          <p:cNvSpPr txBox="1"/>
          <p:nvPr/>
        </p:nvSpPr>
        <p:spPr>
          <a:xfrm>
            <a:off x="8036356"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엣지 게이트웨이</a:t>
            </a:r>
          </a:p>
          <a:p>
            <a:pPr algn="ctr" eaLnBrk="0">
              <a:lnSpc>
                <a:spcPct val="110000"/>
              </a:lnSpc>
              <a:spcAft>
                <a:spcPts val="400"/>
              </a:spcAft>
            </a:pPr>
            <a:r>
              <a:rPr sz="1200" b="0">
                <a:solidFill>
                  <a:srgbClr val="1F2A3A"/>
                </a:solidFill>
                <a:latin typeface="맑은 고딕"/>
                <a:ea typeface="맑은 고딕"/>
                <a:cs typeface="맑은 고딕"/>
              </a:rPr>
              <a:t>명령을 받아</a:t>
            </a:r>
          </a:p>
          <a:p>
            <a:pPr algn="ctr" eaLnBrk="0">
              <a:lnSpc>
                <a:spcPct val="110000"/>
              </a:lnSpc>
              <a:spcAft>
                <a:spcPts val="400"/>
              </a:spcAft>
            </a:pPr>
            <a:r>
              <a:rPr sz="1200" b="0">
                <a:solidFill>
                  <a:srgbClr val="1F2A3A"/>
                </a:solidFill>
                <a:latin typeface="맑은 고딕"/>
                <a:ea typeface="맑은 고딕"/>
                <a:cs typeface="맑은 고딕"/>
              </a:rPr>
              <a:t>PLC에 넘긴다</a:t>
            </a:r>
          </a:p>
        </p:txBody>
      </p:sp>
      <p:sp>
        <p:nvSpPr>
          <p:cNvPr id="38" name="Oval 37"/>
          <p:cNvSpPr/>
          <p:nvPr/>
        </p:nvSpPr>
        <p:spPr>
          <a:xfrm>
            <a:off x="10237762" y="3368485"/>
            <a:ext cx="961515" cy="961515"/>
          </a:xfrm>
          <a:prstGeom prst="ellipse">
            <a:avLst/>
          </a:prstGeom>
          <a:solidFill>
            <a:srgbClr val="5CB8F2"/>
          </a:solidFill>
          <a:ln w="28575">
            <a:solidFill>
              <a:srgbClr val="13294B"/>
            </a:solidFill>
          </a:ln>
        </p:spPr>
        <p:txBody>
          <a:bodyPr rtlCol="0" anchor="ctr"/>
          <a:lstStyle/>
          <a:p>
            <a:pPr algn="ctr"/>
          </a:p>
        </p:txBody>
      </p:sp>
      <p:pic>
        <p:nvPicPr>
          <p:cNvPr id="39" name="아이콘:cpu" descr="cpu_13294B_1.6.png"/>
          <p:cNvPicPr>
            <a:picLocks noChangeAspect="1"/>
          </p:cNvPicPr>
          <p:nvPr/>
        </p:nvPicPr>
        <p:blipFill>
          <a:blip r:embed="rId8"/>
          <a:stretch>
            <a:fillRect/>
          </a:stretch>
        </p:blipFill>
        <p:spPr>
          <a:xfrm>
            <a:off x="10468526" y="3599248"/>
            <a:ext cx="499988" cy="499988"/>
          </a:xfrm>
          <a:prstGeom prst="rect">
            <a:avLst/>
          </a:prstGeom>
        </p:spPr>
      </p:pic>
      <p:sp>
        <p:nvSpPr>
          <p:cNvPr id="40" name="TextBox 39"/>
          <p:cNvSpPr txBox="1"/>
          <p:nvPr/>
        </p:nvSpPr>
        <p:spPr>
          <a:xfrm>
            <a:off x="9885426"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PLC</a:t>
            </a:r>
          </a:p>
          <a:p>
            <a:pPr algn="ctr" eaLnBrk="0">
              <a:lnSpc>
                <a:spcPct val="110000"/>
              </a:lnSpc>
              <a:spcAft>
                <a:spcPts val="400"/>
              </a:spcAft>
            </a:pPr>
            <a:r>
              <a:rPr sz="1200" b="0">
                <a:solidFill>
                  <a:srgbClr val="1F2A3A"/>
                </a:solidFill>
                <a:latin typeface="맑은 고딕"/>
                <a:ea typeface="맑은 고딕"/>
                <a:cs typeface="맑은 고딕"/>
              </a:rPr>
              <a:t>설비 상태를 검사해</a:t>
            </a:r>
          </a:p>
          <a:p>
            <a:pPr algn="ctr" eaLnBrk="0">
              <a:lnSpc>
                <a:spcPct val="110000"/>
              </a:lnSpc>
              <a:spcAft>
                <a:spcPts val="400"/>
              </a:spcAft>
            </a:pPr>
            <a:r>
              <a:rPr sz="1200" b="0">
                <a:solidFill>
                  <a:srgbClr val="1F2A3A"/>
                </a:solidFill>
                <a:latin typeface="맑은 고딕"/>
                <a:ea typeface="맑은 고딕"/>
                <a:cs typeface="맑은 고딕"/>
              </a:rPr>
              <a:t>설정값을 적용한다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명령 관문과 PLC가 검사하는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명령 관문은 승인된 명령인지 확인하고, PLC는 지금 그 설정값을 적용해도 되는지 다시 검사한다.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179383"/>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명령 관문(Command Gateway)</a:t>
            </a:r>
          </a:p>
        </p:txBody>
      </p:sp>
      <p:sp>
        <p:nvSpPr>
          <p:cNvPr id="8" name="TextBox 7"/>
          <p:cNvSpPr txBox="1"/>
          <p:nvPr/>
        </p:nvSpPr>
        <p:spPr>
          <a:xfrm>
            <a:off x="822959" y="3029775"/>
            <a:ext cx="4632807" cy="2426081"/>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스키마(Schema): 필수 항목과 형식</a:t>
            </a:r>
          </a:p>
          <a:p>
            <a:pPr algn="l" eaLnBrk="0" marL="165735" indent="-165735">
              <a:lnSpc>
                <a:spcPct val="110000"/>
              </a:lnSpc>
              <a:spcAft>
                <a:spcPts val="600"/>
              </a:spcAft>
            </a:pPr>
            <a:r>
              <a:rPr sz="1450" b="0">
                <a:solidFill>
                  <a:srgbClr val="1F2A3A"/>
                </a:solidFill>
                <a:latin typeface="맑은 고딕"/>
                <a:ea typeface="맑은 고딕"/>
                <a:cs typeface="맑은 고딕"/>
              </a:rPr>
              <a:t>• 허용 목록(Whitelist): 허용된 조치</a:t>
            </a:r>
          </a:p>
          <a:p>
            <a:pPr algn="l" eaLnBrk="0" marL="165735" indent="-165735">
              <a:lnSpc>
                <a:spcPct val="110000"/>
              </a:lnSpc>
              <a:spcAft>
                <a:spcPts val="600"/>
              </a:spcAft>
            </a:pPr>
            <a:r>
              <a:rPr sz="1450" b="0">
                <a:solidFill>
                  <a:srgbClr val="1F2A3A"/>
                </a:solidFill>
                <a:latin typeface="맑은 고딕"/>
                <a:ea typeface="맑은 고딕"/>
                <a:cs typeface="맑은 고딕"/>
              </a:rPr>
              <a:t>• 만료: expiresAt 이전인지</a:t>
            </a:r>
          </a:p>
          <a:p>
            <a:pPr algn="l" eaLnBrk="0" marL="165735" indent="-165735">
              <a:lnSpc>
                <a:spcPct val="110000"/>
              </a:lnSpc>
              <a:spcAft>
                <a:spcPts val="600"/>
              </a:spcAft>
            </a:pPr>
            <a:r>
              <a:rPr sz="1450" b="0">
                <a:solidFill>
                  <a:srgbClr val="1F2A3A"/>
                </a:solidFill>
                <a:latin typeface="맑은 고딕"/>
                <a:ea typeface="맑은 고딕"/>
                <a:cs typeface="맑은 고딕"/>
              </a:rPr>
              <a:t>• 중복: 최근 256개 cmdId와 대조</a:t>
            </a:r>
          </a:p>
          <a:p>
            <a:pPr algn="l" eaLnBrk="0" marL="165735" indent="-165735">
              <a:lnSpc>
                <a:spcPct val="110000"/>
              </a:lnSpc>
              <a:spcAft>
                <a:spcPts val="600"/>
              </a:spcAft>
            </a:pPr>
            <a:r>
              <a:rPr sz="1450" b="0">
                <a:solidFill>
                  <a:srgbClr val="1F2A3A"/>
                </a:solidFill>
                <a:latin typeface="맑은 고딕"/>
                <a:ea typeface="맑은 고딕"/>
                <a:cs typeface="맑은 고딕"/>
              </a:rPr>
              <a:t>• 승인 기록: 승인된 명령과 내용이 같은지</a:t>
            </a:r>
          </a:p>
          <a:p>
            <a:pPr algn="l" eaLnBrk="0" marL="165735" indent="-165735">
              <a:lnSpc>
                <a:spcPct val="110000"/>
              </a:lnSpc>
              <a:spcAft>
                <a:spcPts val="600"/>
              </a:spcAft>
            </a:pPr>
            <a:r>
              <a:rPr sz="1450" b="0">
                <a:solidFill>
                  <a:srgbClr val="1F2A3A"/>
                </a:solidFill>
                <a:latin typeface="맑은 고딕"/>
                <a:ea typeface="맑은 고딕"/>
                <a:cs typeface="맑은 고딕"/>
              </a:rPr>
              <a:t>• 운전 모드: REMOTE_AUTO인지</a:t>
            </a:r>
          </a:p>
          <a:p>
            <a:pPr algn="l" eaLnBrk="0" marL="165735" indent="-165735">
              <a:lnSpc>
                <a:spcPct val="110000"/>
              </a:lnSpc>
              <a:spcAft>
                <a:spcPts val="600"/>
              </a:spcAft>
            </a:pPr>
            <a:r>
              <a:rPr sz="1450" b="0">
                <a:solidFill>
                  <a:srgbClr val="1F2A3A"/>
                </a:solidFill>
                <a:latin typeface="맑은 고딕"/>
                <a:ea typeface="맑은 고딕"/>
                <a:cs typeface="맑은 고딕"/>
              </a:rPr>
              <a:t>• 빈도 제한: 초당 최대 2건</a:t>
            </a:r>
          </a:p>
        </p:txBody>
      </p:sp>
      <p:sp>
        <p:nvSpPr>
          <p:cNvPr id="9" name="Rounded Rectangle 8"/>
          <p:cNvSpPr/>
          <p:nvPr/>
        </p:nvSpPr>
        <p:spPr>
          <a:xfrm>
            <a:off x="868680" y="5547296"/>
            <a:ext cx="1466088"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547296"/>
            <a:ext cx="1466088"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7가지 거절 사유</a:t>
            </a:r>
          </a:p>
        </p:txBody>
      </p:sp>
      <p:sp>
        <p:nvSpPr>
          <p:cNvPr id="11" name="Rounded Rectangle 10"/>
          <p:cNvSpPr/>
          <p:nvPr/>
        </p:nvSpPr>
        <p:spPr>
          <a:xfrm>
            <a:off x="6461607" y="1978215"/>
            <a:ext cx="5181447" cy="402628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179383"/>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PLC의 재검사</a:t>
            </a:r>
          </a:p>
        </p:txBody>
      </p:sp>
      <p:sp>
        <p:nvSpPr>
          <p:cNvPr id="13" name="TextBox 12"/>
          <p:cNvSpPr txBox="1"/>
          <p:nvPr/>
        </p:nvSpPr>
        <p:spPr>
          <a:xfrm>
            <a:off x="6735927" y="3029775"/>
            <a:ext cx="4632807" cy="2426081"/>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모드·출처: 자동 명령을 받을 수 있는지</a:t>
            </a:r>
          </a:p>
          <a:p>
            <a:pPr algn="l" eaLnBrk="0" marL="165735" indent="-165735">
              <a:lnSpc>
                <a:spcPct val="110000"/>
              </a:lnSpc>
              <a:spcAft>
                <a:spcPts val="600"/>
              </a:spcAft>
            </a:pPr>
            <a:r>
              <a:rPr sz="1450" b="0">
                <a:solidFill>
                  <a:srgbClr val="1F2A3A"/>
                </a:solidFill>
                <a:latin typeface="맑은 고딕"/>
                <a:ea typeface="맑은 고딕"/>
                <a:cs typeface="맑은 고딕"/>
              </a:rPr>
              <a:t>• 만료: PLC 시계로 다시 검사</a:t>
            </a:r>
          </a:p>
          <a:p>
            <a:pPr algn="l" eaLnBrk="0" marL="165735" indent="-165735">
              <a:lnSpc>
                <a:spcPct val="110000"/>
              </a:lnSpc>
              <a:spcAft>
                <a:spcPts val="600"/>
              </a:spcAft>
            </a:pPr>
            <a:r>
              <a:rPr sz="1450" b="0">
                <a:solidFill>
                  <a:srgbClr val="1F2A3A"/>
                </a:solidFill>
                <a:latin typeface="맑은 고딕"/>
                <a:ea typeface="맑은 고딕"/>
                <a:cs typeface="맑은 고딕"/>
              </a:rPr>
              <a:t>• 중복: 최근 32개 cmdId와 대조</a:t>
            </a:r>
          </a:p>
          <a:p>
            <a:pPr algn="l" eaLnBrk="0" marL="165735" indent="-165735">
              <a:lnSpc>
                <a:spcPct val="110000"/>
              </a:lnSpc>
              <a:spcAft>
                <a:spcPts val="600"/>
              </a:spcAft>
            </a:pPr>
            <a:r>
              <a:rPr sz="1450" b="0">
                <a:solidFill>
                  <a:srgbClr val="1F2A3A"/>
                </a:solidFill>
                <a:latin typeface="맑은 고딕"/>
                <a:ea typeface="맑은 고딕"/>
                <a:cs typeface="맑은 고딕"/>
              </a:rPr>
              <a:t>• 범위: 팬 0~100 % · 부하 60~100 %</a:t>
            </a:r>
          </a:p>
          <a:p>
            <a:pPr algn="l" eaLnBrk="0" marL="165735" indent="-165735">
              <a:lnSpc>
                <a:spcPct val="110000"/>
              </a:lnSpc>
              <a:spcAft>
                <a:spcPts val="600"/>
              </a:spcAft>
            </a:pPr>
            <a:r>
              <a:rPr sz="1450" b="0">
                <a:solidFill>
                  <a:srgbClr val="1F2A3A"/>
                </a:solidFill>
                <a:latin typeface="맑은 고딕"/>
                <a:ea typeface="맑은 고딕"/>
                <a:cs typeface="맑은 고딕"/>
              </a:rPr>
              <a:t>• 인터록: 트립 중 일반 설정 변경 거절</a:t>
            </a:r>
          </a:p>
        </p:txBody>
      </p:sp>
      <p:sp>
        <p:nvSpPr>
          <p:cNvPr id="14" name="Rounded Rectangle 13"/>
          <p:cNvSpPr/>
          <p:nvPr/>
        </p:nvSpPr>
        <p:spPr>
          <a:xfrm>
            <a:off x="6781647" y="5547296"/>
            <a:ext cx="1115568"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547296"/>
            <a:ext cx="1115568"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5단계 검사</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명령·확인 응답·재관측의 구별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PLC의 확인 응답은 명령 처리 결과를 알리며, 설비가 회복되었는지는 계측값을 다시 읽어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a:t>
            </a:r>
            <a:r>
              <a:rPr sz="1300" b="0">
                <a:solidFill>
                  <a:srgbClr val="E8EEF6"/>
                </a:solidFill>
                <a:latin typeface="Consolas"/>
                <a:ea typeface="맑은 고딕"/>
                <a:cs typeface="맑은 고딕"/>
              </a:rPr>
              <a:t>: 11:14:57</a:t>
            </a:r>
          </a:p>
          <a:p>
            <a:pPr algn="l" eaLnBrk="0">
              <a:lnSpc>
                <a:spcPct val="110000"/>
              </a:lnSpc>
              <a:spcAft>
                <a:spcPts val="200"/>
              </a:spcAft>
            </a:pPr>
            <a:r>
              <a:rPr sz="1300" b="0">
                <a:solidFill>
                  <a:srgbClr val="E8EEF6"/>
                </a:solidFill>
                <a:latin typeface="Consolas"/>
                <a:ea typeface="맑은 고딕"/>
                <a:cs typeface="맑은 고딕"/>
              </a:rPr>
              <a:t>cmdId       CMD-1010-0001-b94a</a:t>
            </a:r>
          </a:p>
          <a:p>
            <a:pPr algn="l" eaLnBrk="0">
              <a:lnSpc>
                <a:spcPct val="110000"/>
              </a:lnSpc>
              <a:spcAft>
                <a:spcPts val="200"/>
              </a:spcAft>
            </a:pPr>
            <a:r>
              <a:rPr sz="1300" b="0">
                <a:solidFill>
                  <a:srgbClr val="E8EEF6"/>
                </a:solidFill>
                <a:latin typeface="Consolas"/>
                <a:ea typeface="맑은 고딕"/>
                <a:cs typeface="맑은 고딕"/>
              </a:rPr>
              <a:t>asset       HYD-01</a:t>
            </a:r>
          </a:p>
          <a:p>
            <a:pPr algn="l" eaLnBrk="0">
              <a:lnSpc>
                <a:spcPct val="110000"/>
              </a:lnSpc>
              <a:spcAft>
                <a:spcPts val="200"/>
              </a:spcAft>
            </a:pPr>
            <a:r>
              <a:rPr sz="1300" b="0">
                <a:solidFill>
                  <a:srgbClr val="E8EEF6"/>
                </a:solidFill>
                <a:latin typeface="Consolas"/>
                <a:ea typeface="맑은 고딕"/>
                <a:cs typeface="맑은 고딕"/>
              </a:rPr>
              <a:t>incident    INC-1010-01-d55a</a:t>
            </a:r>
          </a:p>
          <a:p>
            <a:pPr algn="l" eaLnBrk="0">
              <a:lnSpc>
                <a:spcPct val="110000"/>
              </a:lnSpc>
              <a:spcAft>
                <a:spcPts val="200"/>
              </a:spcAft>
            </a:pPr>
            <a:r>
              <a:rPr sz="1300" b="0">
                <a:solidFill>
                  <a:srgbClr val="E8EEF6"/>
                </a:solidFill>
                <a:latin typeface="Consolas"/>
                <a:ea typeface="맑은 고딕"/>
                <a:cs typeface="맑은 고딕"/>
              </a:rPr>
              <a:t>actions     FAN_SET fan_pct 100</a:t>
            </a:r>
          </a:p>
          <a:p>
            <a:pPr algn="l" eaLnBrk="0">
              <a:lnSpc>
                <a:spcPct val="110000"/>
              </a:lnSpc>
              <a:spcAft>
                <a:spcPts val="200"/>
              </a:spcAft>
            </a:pPr>
            <a:r>
              <a:rPr sz="1300" b="0">
                <a:solidFill>
                  <a:srgbClr val="E8EEF6"/>
                </a:solidFill>
                <a:latin typeface="Consolas"/>
                <a:ea typeface="맑은 고딕"/>
                <a:cs typeface="맑은 고딕"/>
              </a:rPr>
              <a:t>approvedBy  user:kim-op</a:t>
            </a:r>
          </a:p>
          <a:p>
            <a:pPr algn="l" eaLnBrk="0">
              <a:lnSpc>
                <a:spcPct val="110000"/>
              </a:lnSpc>
              <a:spcAft>
                <a:spcPts val="200"/>
              </a:spcAft>
            </a:pPr>
            <a:r>
              <a:rPr sz="1300" b="0">
                <a:solidFill>
                  <a:srgbClr val="E8EEF6"/>
                </a:solidFill>
                <a:latin typeface="Consolas"/>
                <a:ea typeface="맑은 고딕"/>
                <a:cs typeface="맑은 고딕"/>
              </a:rPr>
              <a:t>expiresAt   11:16:57</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PLC </a:t>
            </a:r>
            <a:r>
              <a:rPr sz="1300" b="0">
                <a:solidFill>
                  <a:srgbClr val="E8EEF6"/>
                </a:solidFill>
                <a:latin typeface="맑은 고딕"/>
                <a:ea typeface="맑은 고딕"/>
                <a:cs typeface="맑은 고딕"/>
              </a:rPr>
              <a:t>확인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응답</a:t>
            </a:r>
            <a:r>
              <a:rPr sz="1300" b="0">
                <a:solidFill>
                  <a:srgbClr val="E8EEF6"/>
                </a:solidFill>
                <a:latin typeface="Consolas"/>
                <a:ea typeface="맑은 고딕"/>
                <a:cs typeface="맑은 고딕"/>
              </a:rPr>
              <a:t>: 11:14:58</a:t>
            </a:r>
          </a:p>
          <a:p>
            <a:pPr algn="l" eaLnBrk="0">
              <a:lnSpc>
                <a:spcPct val="110000"/>
              </a:lnSpc>
              <a:spcAft>
                <a:spcPts val="200"/>
              </a:spcAft>
            </a:pPr>
            <a:r>
              <a:rPr sz="1300" b="0">
                <a:solidFill>
                  <a:srgbClr val="E8EEF6"/>
                </a:solidFill>
                <a:latin typeface="Consolas"/>
                <a:ea typeface="맑은 고딕"/>
                <a:cs typeface="맑은 고딕"/>
              </a:rPr>
              <a:t>cmdId       CMD-1010-0001-b94a</a:t>
            </a:r>
          </a:p>
          <a:p>
            <a:pPr algn="l" eaLnBrk="0">
              <a:lnSpc>
                <a:spcPct val="110000"/>
              </a:lnSpc>
              <a:spcAft>
                <a:spcPts val="200"/>
              </a:spcAft>
            </a:pPr>
            <a:r>
              <a:rPr sz="1300" b="0">
                <a:solidFill>
                  <a:srgbClr val="E8EEF6"/>
                </a:solidFill>
                <a:latin typeface="Consolas"/>
                <a:ea typeface="맑은 고딕"/>
                <a:cs typeface="맑은 고딕"/>
              </a:rPr>
              <a:t>result      DONE</a:t>
            </a:r>
          </a:p>
          <a:p>
            <a:pPr algn="l" eaLnBrk="0">
              <a:lnSpc>
                <a:spcPct val="110000"/>
              </a:lnSpc>
              <a:spcAft>
                <a:spcPts val="200"/>
              </a:spcAft>
            </a:pPr>
            <a:r>
              <a:rPr sz="1300" b="0">
                <a:solidFill>
                  <a:srgbClr val="E8EEF6"/>
                </a:solidFill>
                <a:latin typeface="Consolas"/>
                <a:ea typeface="맑은 고딕"/>
                <a:cs typeface="맑은 고딕"/>
              </a:rPr>
              <a:t>interlock   PASS</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재관측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p>
          <a:p>
            <a:pPr algn="l" eaLnBrk="0">
              <a:lnSpc>
                <a:spcPct val="110000"/>
              </a:lnSpc>
              <a:spcAft>
                <a:spcPts val="200"/>
              </a:spcAft>
            </a:pPr>
            <a:r>
              <a:rPr sz="1300" b="0">
                <a:solidFill>
                  <a:srgbClr val="E8EEF6"/>
                </a:solidFill>
                <a:latin typeface="Consolas"/>
                <a:ea typeface="맑은 고딕"/>
                <a:cs typeface="맑은 고딕"/>
              </a:rPr>
              <a:t>TS1         61.4</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51.5</a:t>
            </a:r>
            <a:r>
              <a:rPr sz="1300" b="0">
                <a:solidFill>
                  <a:srgbClr val="E8EEF6"/>
                </a:solidFill>
                <a:latin typeface="맑은 고딕"/>
                <a:ea typeface="맑은 고딕"/>
                <a:cs typeface="맑은 고딕"/>
              </a:rPr>
              <a:t> ℃</a:t>
            </a:r>
          </a:p>
          <a:p>
            <a:pPr algn="l" eaLnBrk="0">
              <a:lnSpc>
                <a:spcPct val="110000"/>
              </a:lnSpc>
              <a:spcAft>
                <a:spcPts val="200"/>
              </a:spcAft>
            </a:pPr>
            <a:r>
              <a:rPr sz="1300" b="0">
                <a:solidFill>
                  <a:srgbClr val="E8EEF6"/>
                </a:solidFill>
                <a:latin typeface="Consolas"/>
                <a:ea typeface="맑은 고딕"/>
                <a:cs typeface="맑은 고딕"/>
              </a:rPr>
              <a:t>alert       CLEAR</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승인된 명령</a:t>
            </a:r>
          </a:p>
          <a:p>
            <a:pPr algn="l" eaLnBrk="0">
              <a:lnSpc>
                <a:spcPct val="110000"/>
              </a:lnSpc>
              <a:spcAft>
                <a:spcPts val="400"/>
              </a:spcAft>
            </a:pPr>
            <a:r>
              <a:rPr sz="1400" b="0">
                <a:solidFill>
                  <a:srgbClr val="1F2A3A"/>
                </a:solidFill>
                <a:latin typeface="맑은 고딕"/>
                <a:ea typeface="맑은 고딕"/>
                <a:cs typeface="맑은 고딕"/>
              </a:rPr>
              <a:t>11:14:56에 승인한 팬 최대 운전이다. 팬 속도를 60 %에서 100 %로 올린다.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cmdId와 만료 시각</a:t>
            </a:r>
          </a:p>
          <a:p>
            <a:pPr algn="l" eaLnBrk="0">
              <a:lnSpc>
                <a:spcPct val="110000"/>
              </a:lnSpc>
              <a:spcAft>
                <a:spcPts val="400"/>
              </a:spcAft>
            </a:pPr>
            <a:r>
              <a:rPr sz="1400" b="0">
                <a:solidFill>
                  <a:srgbClr val="1F2A3A"/>
                </a:solidFill>
                <a:latin typeface="맑은 고딕"/>
                <a:ea typeface="맑은 고딕"/>
                <a:cs typeface="맑은 고딕"/>
              </a:rPr>
              <a:t>cmdId는 같은 명령을 식별한다. PLC가 중복을 검사하며 expiresAt 뒤에는 실행을 거절한다.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확인 응답(ACK)</a:t>
            </a:r>
          </a:p>
          <a:p>
            <a:pPr algn="l" eaLnBrk="0">
              <a:lnSpc>
                <a:spcPct val="110000"/>
              </a:lnSpc>
              <a:spcAft>
                <a:spcPts val="400"/>
              </a:spcAft>
            </a:pPr>
            <a:r>
              <a:rPr sz="1400" b="0">
                <a:solidFill>
                  <a:srgbClr val="1F2A3A"/>
                </a:solidFill>
                <a:latin typeface="맑은 고딕"/>
                <a:ea typeface="맑은 고딕"/>
                <a:cs typeface="맑은 고딕"/>
              </a:rPr>
              <a:t>Acknowledgement: 처리 결과의 확인이다. DONE은 실행 완료, PASS는 인터록 정상이다.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재관측</a:t>
            </a:r>
          </a:p>
          <a:p>
            <a:pPr algn="l" eaLnBrk="0">
              <a:lnSpc>
                <a:spcPct val="110000"/>
              </a:lnSpc>
              <a:spcAft>
                <a:spcPts val="400"/>
              </a:spcAft>
            </a:pPr>
            <a:r>
              <a:rPr sz="1400" b="0">
                <a:solidFill>
                  <a:srgbClr val="1F2A3A"/>
                </a:solidFill>
                <a:latin typeface="맑은 고딕"/>
                <a:ea typeface="맑은 고딕"/>
                <a:cs typeface="맑은 고딕"/>
              </a:rPr>
              <a:t>실행 응답은 회복 판정과 다르다. 유온의 회복 기준과 경보 CLEAR를 함께 확인한다.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데이터 리니지: 원천 데이터에서 판단 결과까지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데이터 리니지(Data Lineage)는 판단 결과에서 원천 계측값까지 되짚을 수 있게 남긴 내력이다.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1665478"/>
            <a:ext cx="6766560" cy="465175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802638"/>
            <a:ext cx="6400800" cy="4377436"/>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데이터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TS1 (</a:t>
            </a:r>
            <a:r>
              <a:rPr sz="1300" b="0">
                <a:solidFill>
                  <a:srgbClr val="E8EEF6"/>
                </a:solidFill>
                <a:latin typeface="맑은 고딕"/>
                <a:ea typeface="맑은 고딕"/>
                <a:cs typeface="맑은 고딕"/>
              </a:rPr>
              <a:t>표</a:t>
            </a:r>
            <a:r>
              <a:rPr sz="1300" b="0">
                <a:solidFill>
                  <a:srgbClr val="E8EEF6"/>
                </a:solidFill>
                <a:latin typeface="Consolas"/>
                <a:ea typeface="맑은 고딕"/>
                <a:cs typeface="맑은 고딕"/>
              </a:rPr>
              <a:t> tag_1s)</a:t>
            </a:r>
          </a:p>
          <a:p>
            <a:pPr algn="l" eaLnBrk="0">
              <a:lnSpc>
                <a:spcPct val="110000"/>
              </a:lnSpc>
              <a:spcAft>
                <a:spcPts val="200"/>
              </a:spcAft>
            </a:pPr>
            <a:r>
              <a:rPr sz="1300" b="0">
                <a:solidFill>
                  <a:srgbClr val="E8EEF6"/>
                </a:solidFill>
                <a:latin typeface="Consolas"/>
                <a:ea typeface="맑은 고딕"/>
                <a:cs typeface="맑은 고딕"/>
              </a:rPr>
              <a:t>11:13:06   55.41</a:t>
            </a:r>
          </a:p>
          <a:p>
            <a:pPr algn="l" eaLnBrk="0">
              <a:lnSpc>
                <a:spcPct val="110000"/>
              </a:lnSpc>
              <a:spcAft>
                <a:spcPts val="200"/>
              </a:spcAft>
            </a:pPr>
            <a:r>
              <a:rPr sz="1300" b="0">
                <a:solidFill>
                  <a:srgbClr val="E8EEF6"/>
                </a:solidFill>
                <a:latin typeface="Consolas"/>
                <a:ea typeface="맑은 고딕"/>
                <a:cs typeface="맑은 고딕"/>
              </a:rPr>
              <a:t>11:13:07   55.56</a:t>
            </a:r>
          </a:p>
          <a:p>
            <a:pPr algn="l" eaLnBrk="0">
              <a:lnSpc>
                <a:spcPct val="110000"/>
              </a:lnSpc>
              <a:spcAft>
                <a:spcPts val="200"/>
              </a:spcAft>
            </a:pPr>
            <a:r>
              <a:rPr sz="1300" b="0">
                <a:solidFill>
                  <a:srgbClr val="E8EEF6"/>
                </a:solidFill>
                <a:latin typeface="Consolas"/>
                <a:ea typeface="맑은 고딕"/>
                <a:cs typeface="맑은 고딕"/>
              </a:rPr>
              <a:t>11:13:08   55.71</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가공</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데이터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기울기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표</a:t>
            </a:r>
            <a:r>
              <a:rPr sz="1300" b="0">
                <a:solidFill>
                  <a:srgbClr val="E8EEF6"/>
                </a:solidFill>
                <a:latin typeface="Consolas"/>
                <a:ea typeface="맑은 고딕"/>
                <a:cs typeface="맑은 고딕"/>
              </a:rPr>
              <a:t> feat_1s)</a:t>
            </a:r>
          </a:p>
          <a:p>
            <a:pPr algn="l" eaLnBrk="0">
              <a:lnSpc>
                <a:spcPct val="110000"/>
              </a:lnSpc>
              <a:spcAft>
                <a:spcPts val="200"/>
              </a:spcAft>
            </a:pPr>
            <a:r>
              <a:rPr sz="1300" b="0">
                <a:solidFill>
                  <a:srgbClr val="E8EEF6"/>
                </a:solidFill>
                <a:latin typeface="Consolas"/>
                <a:ea typeface="맑은 고딕"/>
                <a:cs typeface="맑은 고딕"/>
              </a:rPr>
              <a:t>11:13:08   mean 55.71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slope </a:t>
            </a:r>
            <a:r>
              <a:rPr sz="1300" b="0">
                <a:solidFill>
                  <a:srgbClr val="E8EEF6"/>
                </a:solidFill>
                <a:latin typeface="맑은 고딕"/>
                <a:ea typeface="맑은 고딕"/>
                <a:cs typeface="맑은 고딕"/>
              </a:rPr>
              <a:t>양수</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오르는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중</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이벤트</a:t>
            </a:r>
          </a:p>
          <a:p>
            <a:pPr algn="l" eaLnBrk="0">
              <a:lnSpc>
                <a:spcPct val="110000"/>
              </a:lnSpc>
              <a:spcAft>
                <a:spcPts val="200"/>
              </a:spcAft>
            </a:pPr>
            <a:r>
              <a:rPr sz="1300" b="0">
                <a:solidFill>
                  <a:srgbClr val="E8EEF6"/>
                </a:solidFill>
                <a:latin typeface="Consolas"/>
                <a:ea typeface="맑은 고딕"/>
                <a:cs typeface="맑은 고딕"/>
              </a:rPr>
              <a:t>ALT-hyd01-0014-e0a1   COOLER_DEGRADATION</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p>
          <a:p>
            <a:pPr algn="l" eaLnBrk="0">
              <a:lnSpc>
                <a:spcPct val="110000"/>
              </a:lnSpc>
              <a:spcAft>
                <a:spcPts val="200"/>
              </a:spcAft>
            </a:pPr>
            <a:r>
              <a:rPr sz="1300" b="0">
                <a:solidFill>
                  <a:srgbClr val="E8EEF6"/>
                </a:solidFill>
                <a:latin typeface="Consolas"/>
                <a:ea typeface="맑은 고딕"/>
                <a:cs typeface="맑은 고딕"/>
              </a:rPr>
              <a:t>DEC-1010-002-408b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a:t>
            </a:r>
          </a:p>
        </p:txBody>
      </p:sp>
      <p:sp>
        <p:nvSpPr>
          <p:cNvPr id="8" name="TextBox 7"/>
          <p:cNvSpPr txBox="1"/>
          <p:nvPr/>
        </p:nvSpPr>
        <p:spPr>
          <a:xfrm>
            <a:off x="7635240" y="1665478"/>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원천 데이터</a:t>
            </a:r>
          </a:p>
          <a:p>
            <a:pPr algn="l" eaLnBrk="0">
              <a:lnSpc>
                <a:spcPct val="110000"/>
              </a:lnSpc>
              <a:spcAft>
                <a:spcPts val="400"/>
              </a:spcAft>
            </a:pPr>
            <a:r>
              <a:rPr sz="1400" b="0">
                <a:solidFill>
                  <a:srgbClr val="1F2A3A"/>
                </a:solidFill>
                <a:latin typeface="맑은 고딕"/>
                <a:ea typeface="맑은 고딕"/>
                <a:cs typeface="맑은 고딕"/>
              </a:rPr>
              <a:t>센서와 PLC가 만들고 브로커가 전달한 계측값이다.</a:t>
            </a:r>
          </a:p>
        </p:txBody>
      </p:sp>
      <p:sp>
        <p:nvSpPr>
          <p:cNvPr id="9" name="TextBox 8"/>
          <p:cNvSpPr txBox="1"/>
          <p:nvPr/>
        </p:nvSpPr>
        <p:spPr>
          <a:xfrm>
            <a:off x="7635240" y="2828417"/>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가공 데이터</a:t>
            </a:r>
          </a:p>
          <a:p>
            <a:pPr algn="l" eaLnBrk="0">
              <a:lnSpc>
                <a:spcPct val="110000"/>
              </a:lnSpc>
              <a:spcAft>
                <a:spcPts val="400"/>
              </a:spcAft>
            </a:pPr>
            <a:r>
              <a:rPr sz="1400" b="0">
                <a:solidFill>
                  <a:srgbClr val="1F2A3A"/>
                </a:solidFill>
                <a:latin typeface="맑은 고딕"/>
                <a:ea typeface="맑은 고딕"/>
                <a:cs typeface="맑은 고딕"/>
              </a:rPr>
              <a:t>감지 서비스가 원천 데이터로 계산한 값이다. 기울기가 0보다 크면 유온이 오르는 중이다.</a:t>
            </a:r>
          </a:p>
        </p:txBody>
      </p:sp>
      <p:sp>
        <p:nvSpPr>
          <p:cNvPr id="10" name="TextBox 9"/>
          <p:cNvSpPr txBox="1"/>
          <p:nvPr/>
        </p:nvSpPr>
        <p:spPr>
          <a:xfrm>
            <a:off x="7635240" y="3991356"/>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이상 이벤트</a:t>
            </a:r>
          </a:p>
          <a:p>
            <a:pPr algn="l" eaLnBrk="0">
              <a:lnSpc>
                <a:spcPct val="110000"/>
              </a:lnSpc>
              <a:spcAft>
                <a:spcPts val="400"/>
              </a:spcAft>
            </a:pPr>
            <a:r>
              <a:rPr sz="1400" b="0">
                <a:solidFill>
                  <a:srgbClr val="1F2A3A"/>
                </a:solidFill>
                <a:latin typeface="맑은 고딕"/>
                <a:ea typeface="맑은 고딕"/>
                <a:cs typeface="맑은 고딕"/>
              </a:rPr>
              <a:t>조건이 성립했을 때 감지 서비스가 남긴 경보이다.</a:t>
            </a:r>
          </a:p>
        </p:txBody>
      </p:sp>
      <p:sp>
        <p:nvSpPr>
          <p:cNvPr id="11" name="TextBox 10"/>
          <p:cNvSpPr txBox="1"/>
          <p:nvPr/>
        </p:nvSpPr>
        <p:spPr>
          <a:xfrm>
            <a:off x="7635240" y="5154295"/>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판단 결과와 추적성</a:t>
            </a:r>
          </a:p>
          <a:p>
            <a:pPr algn="l" eaLnBrk="0">
              <a:lnSpc>
                <a:spcPct val="110000"/>
              </a:lnSpc>
              <a:spcAft>
                <a:spcPts val="400"/>
              </a:spcAft>
            </a:pPr>
            <a:r>
              <a:rPr sz="1400" b="0">
                <a:solidFill>
                  <a:srgbClr val="1F2A3A"/>
                </a:solidFill>
                <a:latin typeface="맑은 고딕"/>
                <a:ea typeface="맑은 고딕"/>
                <a:cs typeface="맑은 고딕"/>
              </a:rPr>
              <a:t>에이전트의 진단·추천과 승인 기록이다. 추적성(Traceability)은 결과에서 근거를 되짚는 성질이다.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식별자로 이어지는 판단과 작업 기록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경보·사건·판단·명령·작업지시를 식별자로 연결하면, 실행 결과에서 판단 근거까지 거슬러 확인할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기록</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식별자</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남기는 것</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경보(Alert)</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ALT-hyd01-0014-e0a1</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발생 조건과</a:t>
            </a:r>
          </a:p>
          <a:p>
            <a:pPr algn="l" eaLnBrk="0">
              <a:lnSpc>
                <a:spcPct val="110000"/>
              </a:lnSpc>
            </a:pPr>
            <a:r>
              <a:rPr sz="1250" b="1">
                <a:solidFill>
                  <a:srgbClr val="556175"/>
                </a:solidFill>
                <a:latin typeface="맑은 고딕"/>
                <a:ea typeface="맑은 고딕"/>
                <a:cs typeface="맑은 고딕"/>
              </a:rPr>
              <a:t>당시의 값</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사건(Incident)</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INC-1010-01-d55a</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경보 처리의</a:t>
            </a:r>
          </a:p>
          <a:p>
            <a:pPr algn="l" eaLnBrk="0">
              <a:lnSpc>
                <a:spcPct val="110000"/>
              </a:lnSpc>
            </a:pPr>
            <a:r>
              <a:rPr sz="1250" b="1">
                <a:solidFill>
                  <a:srgbClr val="556175"/>
                </a:solidFill>
                <a:latin typeface="맑은 고딕"/>
                <a:ea typeface="맑은 고딕"/>
                <a:cs typeface="맑은 고딕"/>
              </a:rPr>
              <a:t>진행 상태</a:t>
            </a:r>
          </a:p>
        </p:txBody>
      </p:sp>
      <p:sp>
        <p:nvSpPr>
          <p:cNvPr id="18" name="Rounded Rectangle 17"/>
          <p:cNvSpPr/>
          <p:nvPr/>
        </p:nvSpPr>
        <p:spPr>
          <a:xfrm>
            <a:off x="548640" y="3792016"/>
            <a:ext cx="11094415" cy="801014"/>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판단(Decision)</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DEC-1010-002-408b</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원인 진단과</a:t>
            </a:r>
          </a:p>
          <a:p>
            <a:pPr algn="l" eaLnBrk="0">
              <a:lnSpc>
                <a:spcPct val="110000"/>
              </a:lnSpc>
            </a:pPr>
            <a:r>
              <a:rPr sz="1250" b="1">
                <a:solidFill>
                  <a:srgbClr val="1A6FC4"/>
                </a:solidFill>
                <a:latin typeface="맑은 고딕"/>
                <a:ea typeface="맑은 고딕"/>
                <a:cs typeface="맑은 고딕"/>
              </a:rPr>
              <a:t>조치 추천</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명령(Command)</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CMD-1010-0001-b94a</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승인된</a:t>
            </a:r>
          </a:p>
          <a:p>
            <a:pPr algn="l" eaLnBrk="0">
              <a:lnSpc>
                <a:spcPct val="110000"/>
              </a:lnSpc>
            </a:pPr>
            <a:r>
              <a:rPr sz="1250" b="1">
                <a:solidFill>
                  <a:srgbClr val="556175"/>
                </a:solidFill>
                <a:latin typeface="맑은 고딕"/>
                <a:ea typeface="맑은 고딕"/>
                <a:cs typeface="맑은 고딕"/>
              </a:rPr>
              <a:t>팬 속도 변경</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작업지시(Work Order)</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WO-1010-C058</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쿨러 핀 세척</a:t>
            </a:r>
          </a:p>
          <a:p>
            <a:pPr algn="l" eaLnBrk="0">
              <a:lnSpc>
                <a:spcPct val="110000"/>
              </a:lnSpc>
            </a:pPr>
            <a:r>
              <a:rPr sz="1250" b="1">
                <a:solidFill>
                  <a:srgbClr val="556175"/>
                </a:solidFill>
                <a:latin typeface="맑은 고딕"/>
                <a:ea typeface="맑은 고딕"/>
                <a:cs typeface="맑은 고딕"/>
              </a:rPr>
              <a:t>판단 기록 참조</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지나온 길: 아홉 기능 계층과 세 보안 영역</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시스템을 하는 일로 나누면 아홉 기능 계층이고, 각 요소가 놓인 망으로 나누면 세 보안 영역이다.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40</a:t>
            </a:r>
          </a:p>
        </p:txBody>
      </p:sp>
      <p:pic>
        <p:nvPicPr>
          <p:cNvPr id="6" name="삽화:계층_0_전체.svg" descr="illust_1791386866990714394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50195" y="1641814"/>
            <a:ext cx="8945785"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OT: Operational Technology · DMZ: Demilitarized Zone · IT: Information Technology</a:t>
            </a:r>
          </a:p>
        </p:txBody>
      </p:sp>
      <p:sp>
        <p:nvSpPr>
          <p:cNvPr id="8" name="TextBox 7"/>
          <p:cNvSpPr txBox="1"/>
          <p:nvPr/>
        </p:nvSpPr>
        <p:spPr>
          <a:xfrm>
            <a:off x="9799621" y="1641814"/>
            <a:ext cx="600022"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OT</a:t>
            </a:r>
          </a:p>
        </p:txBody>
      </p:sp>
      <p:sp>
        <p:nvSpPr>
          <p:cNvPr id="9" name="TextBox 8"/>
          <p:cNvSpPr txBox="1"/>
          <p:nvPr/>
        </p:nvSpPr>
        <p:spPr>
          <a:xfrm>
            <a:off x="10317822" y="1641814"/>
            <a:ext cx="65456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DMZ</a:t>
            </a:r>
          </a:p>
        </p:txBody>
      </p:sp>
      <p:sp>
        <p:nvSpPr>
          <p:cNvPr id="10" name="TextBox 9"/>
          <p:cNvSpPr txBox="1"/>
          <p:nvPr/>
        </p:nvSpPr>
        <p:spPr>
          <a:xfrm>
            <a:off x="10890570" y="1641814"/>
            <a:ext cx="600022"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IT</a:t>
            </a:r>
          </a:p>
        </p:txBody>
      </p:sp>
      <p:sp>
        <p:nvSpPr>
          <p:cNvPr id="11" name="TextBox 10"/>
          <p:cNvSpPr txBox="1"/>
          <p:nvPr/>
        </p:nvSpPr>
        <p:spPr>
          <a:xfrm>
            <a:off x="1841144" y="2020010"/>
            <a:ext cx="7636646"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Layer 9 · 프로세스 · 승인 · 앱</a:t>
            </a:r>
          </a:p>
        </p:txBody>
      </p:sp>
      <p:sp>
        <p:nvSpPr>
          <p:cNvPr id="12" name="TextBox 11"/>
          <p:cNvSpPr txBox="1"/>
          <p:nvPr/>
        </p:nvSpPr>
        <p:spPr>
          <a:xfrm>
            <a:off x="1841144" y="2502209"/>
            <a:ext cx="7636646"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Layer 8 · AI 에이전트</a:t>
            </a:r>
          </a:p>
        </p:txBody>
      </p:sp>
      <p:sp>
        <p:nvSpPr>
          <p:cNvPr id="13" name="TextBox 12"/>
          <p:cNvSpPr txBox="1"/>
          <p:nvPr/>
        </p:nvSpPr>
        <p:spPr>
          <a:xfrm>
            <a:off x="1841144" y="2984409"/>
            <a:ext cx="7636646"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Layer 7 · 온톨로지 · 원인분석</a:t>
            </a:r>
          </a:p>
        </p:txBody>
      </p:sp>
      <p:sp>
        <p:nvSpPr>
          <p:cNvPr id="14" name="TextBox 13"/>
          <p:cNvSpPr txBox="1"/>
          <p:nvPr/>
        </p:nvSpPr>
        <p:spPr>
          <a:xfrm>
            <a:off x="1841144" y="3466609"/>
            <a:ext cx="7636646"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Layer 6 · 관제 · SCADA</a:t>
            </a:r>
          </a:p>
        </p:txBody>
      </p:sp>
      <p:sp>
        <p:nvSpPr>
          <p:cNvPr id="15" name="TextBox 14"/>
          <p:cNvSpPr txBox="1"/>
          <p:nvPr/>
        </p:nvSpPr>
        <p:spPr>
          <a:xfrm>
            <a:off x="1841144" y="3948808"/>
            <a:ext cx="7636646"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Layer 5 · 시계열 저장소</a:t>
            </a:r>
          </a:p>
        </p:txBody>
      </p:sp>
      <p:sp>
        <p:nvSpPr>
          <p:cNvPr id="16" name="TextBox 15"/>
          <p:cNvSpPr txBox="1"/>
          <p:nvPr/>
        </p:nvSpPr>
        <p:spPr>
          <a:xfrm>
            <a:off x="1841144" y="4431008"/>
            <a:ext cx="7636646"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Layer 4 · 스트림 처리</a:t>
            </a:r>
          </a:p>
        </p:txBody>
      </p:sp>
      <p:sp>
        <p:nvSpPr>
          <p:cNvPr id="17" name="TextBox 16"/>
          <p:cNvSpPr txBox="1"/>
          <p:nvPr/>
        </p:nvSpPr>
        <p:spPr>
          <a:xfrm>
            <a:off x="1841144" y="4913208"/>
            <a:ext cx="7636646"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Layer 3 · 이벤트 백본</a:t>
            </a:r>
          </a:p>
        </p:txBody>
      </p:sp>
      <p:sp>
        <p:nvSpPr>
          <p:cNvPr id="18" name="TextBox 17"/>
          <p:cNvSpPr txBox="1"/>
          <p:nvPr/>
        </p:nvSpPr>
        <p:spPr>
          <a:xfrm>
            <a:off x="1841144" y="5395408"/>
            <a:ext cx="7636646"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Layer 2 · IoT 미들웨어 · MQTT</a:t>
            </a:r>
          </a:p>
        </p:txBody>
      </p:sp>
      <p:sp>
        <p:nvSpPr>
          <p:cNvPr id="19" name="TextBox 18"/>
          <p:cNvSpPr txBox="1"/>
          <p:nvPr/>
        </p:nvSpPr>
        <p:spPr>
          <a:xfrm>
            <a:off x="1841144" y="5877607"/>
            <a:ext cx="7636646"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Layer 1 · 센서 네트워크 · 설비</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데이터 수집과 승인된 자동 명령의 두 경로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데이터는 OT에서 IT로 수집하고, 승인된 자동 명령은 별도 경로의 검사를 거쳐 설비에 적용한다.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41</a:t>
            </a:r>
          </a:p>
        </p:txBody>
      </p:sp>
      <p:pic>
        <p:nvPicPr>
          <p:cNvPr id="6" name="삽화:데이터_명령_두경로.svg" descr="illust_4388171028780121578_1791992996.png"/>
          <p:cNvPicPr>
            <a:picLocks noChangeAspect="1"/>
          </p:cNvPicPr>
          <p:nvPr/>
        </p:nvPicPr>
        <p:blipFill>
          <a:blip r:embed="rId3"/>
          <a:stretch>
            <a:fillRect/>
          </a:stretch>
        </p:blipFill>
        <p:spPr>
          <a:xfrm>
            <a:off x="548640" y="1772473"/>
            <a:ext cx="11094414" cy="4437765"/>
          </a:xfrm>
          <a:prstGeom prst="rect">
            <a:avLst/>
          </a:prstGeom>
        </p:spPr>
      </p:pic>
      <p:sp>
        <p:nvSpPr>
          <p:cNvPr id="7" name="TextBox 6"/>
          <p:cNvSpPr txBox="1"/>
          <p:nvPr/>
        </p:nvSpPr>
        <p:spPr>
          <a:xfrm>
            <a:off x="826000" y="1816851"/>
            <a:ext cx="4992486"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OT</a:t>
            </a:r>
          </a:p>
        </p:txBody>
      </p:sp>
      <p:sp>
        <p:nvSpPr>
          <p:cNvPr id="8" name="TextBox 7"/>
          <p:cNvSpPr txBox="1"/>
          <p:nvPr/>
        </p:nvSpPr>
        <p:spPr>
          <a:xfrm>
            <a:off x="6243736" y="1816851"/>
            <a:ext cx="155321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DMZ</a:t>
            </a:r>
          </a:p>
        </p:txBody>
      </p:sp>
      <p:sp>
        <p:nvSpPr>
          <p:cNvPr id="9" name="TextBox 8"/>
          <p:cNvSpPr txBox="1"/>
          <p:nvPr/>
        </p:nvSpPr>
        <p:spPr>
          <a:xfrm>
            <a:off x="8129786" y="1816851"/>
            <a:ext cx="332832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IT</a:t>
            </a:r>
          </a:p>
        </p:txBody>
      </p:sp>
      <p:sp>
        <p:nvSpPr>
          <p:cNvPr id="10" name="TextBox 9"/>
          <p:cNvSpPr txBox="1"/>
          <p:nvPr/>
        </p:nvSpPr>
        <p:spPr>
          <a:xfrm>
            <a:off x="696529" y="2327194"/>
            <a:ext cx="155321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PLC</a:t>
            </a:r>
          </a:p>
          <a:p>
            <a:pPr algn="ctr" eaLnBrk="0">
              <a:lnSpc>
                <a:spcPct val="110000"/>
              </a:lnSpc>
              <a:spcAft>
                <a:spcPts val="100"/>
              </a:spcAft>
            </a:pPr>
            <a:r>
              <a:rPr sz="1100" b="0">
                <a:solidFill>
                  <a:srgbClr val="556175"/>
                </a:solidFill>
                <a:latin typeface="맑은 고딕"/>
                <a:ea typeface="맑은 고딕"/>
                <a:cs typeface="맑은 고딕"/>
              </a:rPr>
              <a:t>HYD-01</a:t>
            </a:r>
          </a:p>
        </p:txBody>
      </p:sp>
      <p:sp>
        <p:nvSpPr>
          <p:cNvPr id="11" name="TextBox 10"/>
          <p:cNvSpPr txBox="1"/>
          <p:nvPr/>
        </p:nvSpPr>
        <p:spPr>
          <a:xfrm>
            <a:off x="2545635" y="2327194"/>
            <a:ext cx="155321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엣지 게이트웨이</a:t>
            </a:r>
          </a:p>
          <a:p>
            <a:pPr algn="ctr" eaLnBrk="0">
              <a:lnSpc>
                <a:spcPct val="110000"/>
              </a:lnSpc>
              <a:spcAft>
                <a:spcPts val="100"/>
              </a:spcAft>
            </a:pPr>
            <a:r>
              <a:rPr sz="1100" b="0">
                <a:solidFill>
                  <a:srgbClr val="556175"/>
                </a:solidFill>
                <a:latin typeface="맑은 고딕"/>
                <a:ea typeface="맑은 고딕"/>
                <a:cs typeface="맑은 고딕"/>
              </a:rPr>
              <a:t>TS1</a:t>
            </a:r>
          </a:p>
        </p:txBody>
      </p:sp>
      <p:sp>
        <p:nvSpPr>
          <p:cNvPr id="12" name="TextBox 11"/>
          <p:cNvSpPr txBox="1"/>
          <p:nvPr/>
        </p:nvSpPr>
        <p:spPr>
          <a:xfrm>
            <a:off x="4394741" y="2327194"/>
            <a:ext cx="155321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브로커</a:t>
            </a:r>
          </a:p>
          <a:p>
            <a:pPr algn="ctr" eaLnBrk="0">
              <a:lnSpc>
                <a:spcPct val="110000"/>
              </a:lnSpc>
              <a:spcAft>
                <a:spcPts val="100"/>
              </a:spcAft>
            </a:pPr>
            <a:r>
              <a:rPr sz="1100" b="0">
                <a:solidFill>
                  <a:srgbClr val="556175"/>
                </a:solidFill>
                <a:latin typeface="맑은 고딕"/>
                <a:ea typeface="맑은 고딕"/>
                <a:cs typeface="맑은 고딕"/>
              </a:rPr>
              <a:t>MQTT</a:t>
            </a:r>
          </a:p>
        </p:txBody>
      </p:sp>
      <p:sp>
        <p:nvSpPr>
          <p:cNvPr id="13" name="TextBox 12"/>
          <p:cNvSpPr txBox="1"/>
          <p:nvPr/>
        </p:nvSpPr>
        <p:spPr>
          <a:xfrm>
            <a:off x="6243736" y="2327194"/>
            <a:ext cx="155321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수집 서비스</a:t>
            </a:r>
          </a:p>
        </p:txBody>
      </p:sp>
      <p:sp>
        <p:nvSpPr>
          <p:cNvPr id="14" name="TextBox 13"/>
          <p:cNvSpPr txBox="1"/>
          <p:nvPr/>
        </p:nvSpPr>
        <p:spPr>
          <a:xfrm>
            <a:off x="8092842" y="2327194"/>
            <a:ext cx="155321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이벤트 로그</a:t>
            </a:r>
          </a:p>
          <a:p>
            <a:pPr algn="ctr" eaLnBrk="0">
              <a:lnSpc>
                <a:spcPct val="110000"/>
              </a:lnSpc>
              <a:spcAft>
                <a:spcPts val="100"/>
              </a:spcAft>
            </a:pPr>
            <a:r>
              <a:rPr sz="1100" b="0">
                <a:solidFill>
                  <a:srgbClr val="556175"/>
                </a:solidFill>
                <a:latin typeface="맑은 고딕"/>
                <a:ea typeface="맑은 고딕"/>
                <a:cs typeface="맑은 고딕"/>
              </a:rPr>
              <a:t>plant.tag</a:t>
            </a:r>
          </a:p>
        </p:txBody>
      </p:sp>
      <p:sp>
        <p:nvSpPr>
          <p:cNvPr id="15" name="TextBox 14"/>
          <p:cNvSpPr txBox="1"/>
          <p:nvPr/>
        </p:nvSpPr>
        <p:spPr>
          <a:xfrm>
            <a:off x="9941948" y="2327194"/>
            <a:ext cx="155321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감지 서비스</a:t>
            </a:r>
          </a:p>
        </p:txBody>
      </p:sp>
      <p:sp>
        <p:nvSpPr>
          <p:cNvPr id="16" name="TextBox 15"/>
          <p:cNvSpPr txBox="1"/>
          <p:nvPr/>
        </p:nvSpPr>
        <p:spPr>
          <a:xfrm>
            <a:off x="696529" y="5544573"/>
            <a:ext cx="155321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PLC</a:t>
            </a:r>
          </a:p>
          <a:p>
            <a:pPr algn="ctr" eaLnBrk="0">
              <a:lnSpc>
                <a:spcPct val="110000"/>
              </a:lnSpc>
              <a:spcAft>
                <a:spcPts val="100"/>
              </a:spcAft>
            </a:pPr>
            <a:r>
              <a:rPr sz="1100" b="0">
                <a:solidFill>
                  <a:srgbClr val="556175"/>
                </a:solidFill>
                <a:latin typeface="맑은 고딕"/>
                <a:ea typeface="맑은 고딕"/>
                <a:cs typeface="맑은 고딕"/>
              </a:rPr>
              <a:t>HYD-01</a:t>
            </a:r>
          </a:p>
        </p:txBody>
      </p:sp>
      <p:sp>
        <p:nvSpPr>
          <p:cNvPr id="17" name="TextBox 16"/>
          <p:cNvSpPr txBox="1"/>
          <p:nvPr/>
        </p:nvSpPr>
        <p:spPr>
          <a:xfrm>
            <a:off x="2545635" y="5544573"/>
            <a:ext cx="155321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엣지 게이트웨이</a:t>
            </a:r>
          </a:p>
          <a:p>
            <a:pPr algn="ctr" eaLnBrk="0">
              <a:lnSpc>
                <a:spcPct val="110000"/>
              </a:lnSpc>
              <a:spcAft>
                <a:spcPts val="100"/>
              </a:spcAft>
            </a:pPr>
            <a:r>
              <a:rPr sz="1100" b="0">
                <a:solidFill>
                  <a:srgbClr val="556175"/>
                </a:solidFill>
                <a:latin typeface="맑은 고딕"/>
                <a:ea typeface="맑은 고딕"/>
                <a:cs typeface="맑은 고딕"/>
              </a:rPr>
              <a:t>FanSpeedSP</a:t>
            </a:r>
          </a:p>
        </p:txBody>
      </p:sp>
      <p:sp>
        <p:nvSpPr>
          <p:cNvPr id="18" name="TextBox 17"/>
          <p:cNvSpPr txBox="1"/>
          <p:nvPr/>
        </p:nvSpPr>
        <p:spPr>
          <a:xfrm>
            <a:off x="4394741" y="5544573"/>
            <a:ext cx="155321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브로커</a:t>
            </a:r>
          </a:p>
          <a:p>
            <a:pPr algn="ctr" eaLnBrk="0">
              <a:lnSpc>
                <a:spcPct val="110000"/>
              </a:lnSpc>
              <a:spcAft>
                <a:spcPts val="100"/>
              </a:spcAft>
            </a:pPr>
            <a:r>
              <a:rPr sz="1100" b="0">
                <a:solidFill>
                  <a:srgbClr val="556175"/>
                </a:solidFill>
                <a:latin typeface="맑은 고딕"/>
                <a:ea typeface="맑은 고딕"/>
                <a:cs typeface="맑은 고딕"/>
              </a:rPr>
              <a:t>MQTT</a:t>
            </a:r>
          </a:p>
        </p:txBody>
      </p:sp>
      <p:sp>
        <p:nvSpPr>
          <p:cNvPr id="19" name="TextBox 18"/>
          <p:cNvSpPr txBox="1"/>
          <p:nvPr/>
        </p:nvSpPr>
        <p:spPr>
          <a:xfrm>
            <a:off x="6243736" y="5544573"/>
            <a:ext cx="155321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명령 관문</a:t>
            </a:r>
          </a:p>
        </p:txBody>
      </p:sp>
      <p:sp>
        <p:nvSpPr>
          <p:cNvPr id="20" name="TextBox 19"/>
          <p:cNvSpPr txBox="1"/>
          <p:nvPr/>
        </p:nvSpPr>
        <p:spPr>
          <a:xfrm>
            <a:off x="8092842" y="5544573"/>
            <a:ext cx="155321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이벤트 로그</a:t>
            </a:r>
          </a:p>
          <a:p>
            <a:pPr algn="ctr" eaLnBrk="0">
              <a:lnSpc>
                <a:spcPct val="110000"/>
              </a:lnSpc>
              <a:spcAft>
                <a:spcPts val="100"/>
              </a:spcAft>
            </a:pPr>
            <a:r>
              <a:rPr sz="1100" b="0">
                <a:solidFill>
                  <a:srgbClr val="556175"/>
                </a:solidFill>
                <a:latin typeface="맑은 고딕"/>
                <a:ea typeface="맑은 고딕"/>
                <a:cs typeface="맑은 고딕"/>
              </a:rPr>
              <a:t>action.cmd</a:t>
            </a:r>
          </a:p>
        </p:txBody>
      </p:sp>
      <p:sp>
        <p:nvSpPr>
          <p:cNvPr id="21" name="TextBox 20"/>
          <p:cNvSpPr txBox="1"/>
          <p:nvPr/>
        </p:nvSpPr>
        <p:spPr>
          <a:xfrm>
            <a:off x="9941948" y="5544573"/>
            <a:ext cx="155321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프로세스 엔진</a:t>
            </a:r>
          </a:p>
          <a:p>
            <a:pPr algn="ctr" eaLnBrk="0">
              <a:lnSpc>
                <a:spcPct val="110000"/>
              </a:lnSpc>
              <a:spcAft>
                <a:spcPts val="100"/>
              </a:spcAft>
            </a:pPr>
            <a:r>
              <a:rPr sz="1100" b="0">
                <a:solidFill>
                  <a:srgbClr val="556175"/>
                </a:solidFill>
                <a:latin typeface="맑은 고딕"/>
                <a:ea typeface="맑은 고딕"/>
                <a:cs typeface="맑은 고딕"/>
              </a:rPr>
              <a:t>FAN_SET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실행 환경 구성과 서비스 동작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준비된 환경에서 HYD 서비스를 실행하고 포털이 열리는지 확인한다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실습에서 쓰는 도구와 확인하는 상태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정의된 서비스를 실행해 컨테이너 상태와 주요 서비스 접속을 확인하고, 포털이 열리는 상태를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1945259"/>
            <a:ext cx="2567863" cy="409219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146427"/>
            <a:ext cx="731520" cy="731520"/>
          </a:xfrm>
          <a:prstGeom prst="ellipse">
            <a:avLst/>
          </a:prstGeom>
          <a:solidFill>
            <a:srgbClr val="E7F3FD"/>
          </a:solidFill>
          <a:ln>
            <a:noFill/>
          </a:ln>
        </p:spPr>
        <p:txBody>
          <a:bodyPr rtlCol="0" anchor="ctr"/>
          <a:lstStyle/>
          <a:p>
            <a:pPr algn="ctr"/>
          </a:p>
        </p:txBody>
      </p:sp>
      <p:pic>
        <p:nvPicPr>
          <p:cNvPr id="8" name="아이콘:brand-vscode" descr="brand-vscode_13294B_1.6.png"/>
          <p:cNvPicPr>
            <a:picLocks noChangeAspect="1"/>
          </p:cNvPicPr>
          <p:nvPr/>
        </p:nvPicPr>
        <p:blipFill>
          <a:blip r:embed="rId3"/>
          <a:stretch>
            <a:fillRect/>
          </a:stretch>
        </p:blipFill>
        <p:spPr>
          <a:xfrm>
            <a:off x="930859" y="2300046"/>
            <a:ext cx="424281" cy="424281"/>
          </a:xfrm>
          <a:prstGeom prst="rect">
            <a:avLst/>
          </a:prstGeom>
        </p:spPr>
      </p:pic>
      <p:sp>
        <p:nvSpPr>
          <p:cNvPr id="9" name="TextBox 8"/>
          <p:cNvSpPr txBox="1"/>
          <p:nvPr/>
        </p:nvSpPr>
        <p:spPr>
          <a:xfrm>
            <a:off x="713232" y="2969387"/>
            <a:ext cx="2238679" cy="2565146"/>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VS Code</a:t>
            </a:r>
          </a:p>
          <a:p>
            <a:pPr algn="l" eaLnBrk="0" marL="154305" indent="-154305">
              <a:lnSpc>
                <a:spcPct val="110000"/>
              </a:lnSpc>
              <a:spcAft>
                <a:spcPts val="400"/>
              </a:spcAft>
            </a:pPr>
            <a:r>
              <a:rPr sz="1350" b="0">
                <a:solidFill>
                  <a:srgbClr val="1F2A3A"/>
                </a:solidFill>
                <a:latin typeface="맑은 고딕"/>
                <a:ea typeface="맑은 고딕"/>
                <a:cs typeface="맑은 고딕"/>
              </a:rPr>
              <a:t>• 파일 편집과 터미널 작업을 하는 도구이다</a:t>
            </a:r>
          </a:p>
          <a:p>
            <a:pPr algn="l" eaLnBrk="0" marL="154305" indent="-154305">
              <a:lnSpc>
                <a:spcPct val="110000"/>
              </a:lnSpc>
              <a:spcAft>
                <a:spcPts val="400"/>
              </a:spcAft>
            </a:pPr>
            <a:r>
              <a:rPr sz="1350" b="0">
                <a:solidFill>
                  <a:srgbClr val="1F2A3A"/>
                </a:solidFill>
                <a:latin typeface="맑은 고딕"/>
                <a:ea typeface="맑은 고딕"/>
                <a:cs typeface="맑은 고딕"/>
              </a:rPr>
              <a:t>• 파일 편집과 실행을 한곳에서 진행한다</a:t>
            </a:r>
          </a:p>
        </p:txBody>
      </p:sp>
      <p:sp>
        <p:nvSpPr>
          <p:cNvPr id="10" name="Rounded Rectangle 9"/>
          <p:cNvSpPr/>
          <p:nvPr/>
        </p:nvSpPr>
        <p:spPr>
          <a:xfrm>
            <a:off x="777240" y="5607685"/>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607685"/>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개발</a:t>
            </a:r>
          </a:p>
        </p:txBody>
      </p:sp>
      <p:sp>
        <p:nvSpPr>
          <p:cNvPr id="12" name="Rounded Rectangle 11"/>
          <p:cNvSpPr/>
          <p:nvPr/>
        </p:nvSpPr>
        <p:spPr>
          <a:xfrm>
            <a:off x="3390823" y="1945259"/>
            <a:ext cx="2567863" cy="409219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146427"/>
            <a:ext cx="731520" cy="731520"/>
          </a:xfrm>
          <a:prstGeom prst="ellipse">
            <a:avLst/>
          </a:prstGeom>
          <a:solidFill>
            <a:srgbClr val="E7F3FD"/>
          </a:solidFill>
          <a:ln>
            <a:noFill/>
          </a:ln>
        </p:spPr>
        <p:txBody>
          <a:bodyPr rtlCol="0" anchor="ctr"/>
          <a:lstStyle/>
          <a:p>
            <a:pPr algn="ctr"/>
          </a:p>
        </p:txBody>
      </p:sp>
      <p:pic>
        <p:nvPicPr>
          <p:cNvPr id="14" name="아이콘:brand-github-copilot" descr="brand-github-copilot_13294B_1.6.png"/>
          <p:cNvPicPr>
            <a:picLocks noChangeAspect="1"/>
          </p:cNvPicPr>
          <p:nvPr/>
        </p:nvPicPr>
        <p:blipFill>
          <a:blip r:embed="rId4"/>
          <a:stretch>
            <a:fillRect/>
          </a:stretch>
        </p:blipFill>
        <p:spPr>
          <a:xfrm>
            <a:off x="3773043" y="2300046"/>
            <a:ext cx="424281" cy="424281"/>
          </a:xfrm>
          <a:prstGeom prst="rect">
            <a:avLst/>
          </a:prstGeom>
        </p:spPr>
      </p:pic>
      <p:sp>
        <p:nvSpPr>
          <p:cNvPr id="15" name="TextBox 14"/>
          <p:cNvSpPr txBox="1"/>
          <p:nvPr/>
        </p:nvSpPr>
        <p:spPr>
          <a:xfrm>
            <a:off x="3555415" y="2969387"/>
            <a:ext cx="2238679" cy="2565146"/>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GitHub Copilot</a:t>
            </a:r>
          </a:p>
          <a:p>
            <a:pPr algn="l" eaLnBrk="0" marL="148590" indent="-148590">
              <a:lnSpc>
                <a:spcPct val="110000"/>
              </a:lnSpc>
              <a:spcAft>
                <a:spcPts val="400"/>
              </a:spcAft>
            </a:pPr>
            <a:r>
              <a:rPr sz="1300" b="0">
                <a:solidFill>
                  <a:srgbClr val="1F2A3A"/>
                </a:solidFill>
                <a:latin typeface="맑은 고딕"/>
                <a:ea typeface="맑은 고딕"/>
                <a:cs typeface="맑은 고딕"/>
              </a:rPr>
              <a:t>• VS Code 채팅에서 자연어로 요청하면 파일을 읽고 고치는 코딩 에이전트이다</a:t>
            </a:r>
          </a:p>
          <a:p>
            <a:pPr algn="l" eaLnBrk="0" marL="148590" indent="-148590">
              <a:lnSpc>
                <a:spcPct val="110000"/>
              </a:lnSpc>
              <a:spcAft>
                <a:spcPts val="400"/>
              </a:spcAft>
            </a:pPr>
            <a:r>
              <a:rPr sz="1300" b="0">
                <a:solidFill>
                  <a:srgbClr val="1F2A3A"/>
                </a:solidFill>
                <a:latin typeface="맑은 고딕"/>
                <a:ea typeface="맑은 고딕"/>
                <a:cs typeface="맑은 고딕"/>
              </a:rPr>
              <a:t>• AI에게 요청하고 코드를 실행·수정하며 만드는 방식을 바이브 코딩(Vibe Coding)이라고 한다</a:t>
            </a:r>
          </a:p>
        </p:txBody>
      </p:sp>
      <p:sp>
        <p:nvSpPr>
          <p:cNvPr id="16" name="Rounded Rectangle 15"/>
          <p:cNvSpPr/>
          <p:nvPr/>
        </p:nvSpPr>
        <p:spPr>
          <a:xfrm>
            <a:off x="3619423" y="5607685"/>
            <a:ext cx="905256"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607685"/>
            <a:ext cx="905256"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AI 코딩</a:t>
            </a:r>
          </a:p>
        </p:txBody>
      </p:sp>
      <p:sp>
        <p:nvSpPr>
          <p:cNvPr id="18" name="Rounded Rectangle 17"/>
          <p:cNvSpPr/>
          <p:nvPr/>
        </p:nvSpPr>
        <p:spPr>
          <a:xfrm>
            <a:off x="6233007" y="1945259"/>
            <a:ext cx="2567863" cy="409219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146427"/>
            <a:ext cx="731520" cy="731520"/>
          </a:xfrm>
          <a:prstGeom prst="ellipse">
            <a:avLst/>
          </a:prstGeom>
          <a:solidFill>
            <a:srgbClr val="E7F3FD"/>
          </a:solidFill>
          <a:ln>
            <a:noFill/>
          </a:ln>
        </p:spPr>
        <p:txBody>
          <a:bodyPr rtlCol="0" anchor="ctr"/>
          <a:lstStyle/>
          <a:p>
            <a:pPr algn="ctr"/>
          </a:p>
        </p:txBody>
      </p:sp>
      <p:pic>
        <p:nvPicPr>
          <p:cNvPr id="20" name="아이콘:brand-python" descr="brand-python_13294B_1.6.png"/>
          <p:cNvPicPr>
            <a:picLocks noChangeAspect="1"/>
          </p:cNvPicPr>
          <p:nvPr/>
        </p:nvPicPr>
        <p:blipFill>
          <a:blip r:embed="rId5"/>
          <a:stretch>
            <a:fillRect/>
          </a:stretch>
        </p:blipFill>
        <p:spPr>
          <a:xfrm>
            <a:off x="6615226" y="2300046"/>
            <a:ext cx="424281" cy="424281"/>
          </a:xfrm>
          <a:prstGeom prst="rect">
            <a:avLst/>
          </a:prstGeom>
        </p:spPr>
      </p:pic>
      <p:sp>
        <p:nvSpPr>
          <p:cNvPr id="21" name="TextBox 20"/>
          <p:cNvSpPr txBox="1"/>
          <p:nvPr/>
        </p:nvSpPr>
        <p:spPr>
          <a:xfrm>
            <a:off x="6397599" y="2969387"/>
            <a:ext cx="2238679" cy="2565146"/>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Python</a:t>
            </a:r>
          </a:p>
          <a:p>
            <a:pPr algn="l" eaLnBrk="0">
              <a:lnSpc>
                <a:spcPct val="110000"/>
              </a:lnSpc>
              <a:spcAft>
                <a:spcPts val="400"/>
              </a:spcAft>
            </a:pPr>
            <a:r>
              <a:rPr sz="1350" b="0">
                <a:solidFill>
                  <a:srgbClr val="1F2A3A"/>
                </a:solidFill>
                <a:latin typeface="맑은 고딕"/>
                <a:ea typeface="맑은 고딕"/>
                <a:cs typeface="맑은 고딕"/>
              </a:rPr>
              <a:t>HYD 서비스와 랩 코드를 작성하는 프로그래밍 언어이다</a:t>
            </a:r>
          </a:p>
        </p:txBody>
      </p:sp>
      <p:sp>
        <p:nvSpPr>
          <p:cNvPr id="22" name="Rounded Rectangle 21"/>
          <p:cNvSpPr/>
          <p:nvPr/>
        </p:nvSpPr>
        <p:spPr>
          <a:xfrm>
            <a:off x="6461607" y="5607685"/>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607685"/>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언어</a:t>
            </a:r>
          </a:p>
        </p:txBody>
      </p:sp>
      <p:sp>
        <p:nvSpPr>
          <p:cNvPr id="24" name="Rounded Rectangle 23"/>
          <p:cNvSpPr/>
          <p:nvPr/>
        </p:nvSpPr>
        <p:spPr>
          <a:xfrm>
            <a:off x="9075191" y="1945259"/>
            <a:ext cx="2567863" cy="409219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146427"/>
            <a:ext cx="731520" cy="731520"/>
          </a:xfrm>
          <a:prstGeom prst="ellipse">
            <a:avLst/>
          </a:prstGeom>
          <a:solidFill>
            <a:srgbClr val="5CB8F2"/>
          </a:solidFill>
          <a:ln>
            <a:noFill/>
          </a:ln>
        </p:spPr>
        <p:txBody>
          <a:bodyPr rtlCol="0" anchor="ctr"/>
          <a:lstStyle/>
          <a:p>
            <a:pPr algn="ctr"/>
          </a:p>
        </p:txBody>
      </p:sp>
      <p:pic>
        <p:nvPicPr>
          <p:cNvPr id="26" name="아이콘:brand-docker" descr="brand-docker_13294B_1.6.png"/>
          <p:cNvPicPr>
            <a:picLocks noChangeAspect="1"/>
          </p:cNvPicPr>
          <p:nvPr/>
        </p:nvPicPr>
        <p:blipFill>
          <a:blip r:embed="rId6"/>
          <a:stretch>
            <a:fillRect/>
          </a:stretch>
        </p:blipFill>
        <p:spPr>
          <a:xfrm>
            <a:off x="9457410" y="2300046"/>
            <a:ext cx="424281" cy="424281"/>
          </a:xfrm>
          <a:prstGeom prst="rect">
            <a:avLst/>
          </a:prstGeom>
        </p:spPr>
      </p:pic>
      <p:sp>
        <p:nvSpPr>
          <p:cNvPr id="27" name="TextBox 26"/>
          <p:cNvSpPr txBox="1"/>
          <p:nvPr/>
        </p:nvSpPr>
        <p:spPr>
          <a:xfrm>
            <a:off x="9239783" y="2969387"/>
            <a:ext cx="2238679" cy="2565146"/>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Docker</a:t>
            </a:r>
          </a:p>
          <a:p>
            <a:pPr algn="l" eaLnBrk="0" marL="154305" indent="-154305">
              <a:lnSpc>
                <a:spcPct val="110000"/>
              </a:lnSpc>
              <a:spcAft>
                <a:spcPts val="400"/>
              </a:spcAft>
            </a:pPr>
            <a:r>
              <a:rPr sz="1350" b="0">
                <a:solidFill>
                  <a:srgbClr val="1F2A3A"/>
                </a:solidFill>
                <a:latin typeface="맑은 고딕"/>
                <a:ea typeface="맑은 고딕"/>
                <a:cs typeface="맑은 고딕"/>
              </a:rPr>
              <a:t>• Docker Desktop은 컨테이너를 실행하는 프로그램이다</a:t>
            </a:r>
          </a:p>
          <a:p>
            <a:pPr algn="l" eaLnBrk="0" marL="154305" indent="-154305">
              <a:lnSpc>
                <a:spcPct val="110000"/>
              </a:lnSpc>
              <a:spcAft>
                <a:spcPts val="400"/>
              </a:spcAft>
            </a:pPr>
            <a:r>
              <a:rPr sz="1350" b="0">
                <a:solidFill>
                  <a:srgbClr val="1F2A3A"/>
                </a:solidFill>
                <a:latin typeface="맑은 고딕"/>
                <a:ea typeface="맑은 고딕"/>
                <a:cs typeface="맑은 고딕"/>
              </a:rPr>
              <a:t>• Docker Compose는 한 파일에 정의된 여러 서비스를 함께 실행한다</a:t>
            </a:r>
          </a:p>
        </p:txBody>
      </p:sp>
      <p:sp>
        <p:nvSpPr>
          <p:cNvPr id="28" name="Rounded Rectangle 27"/>
          <p:cNvSpPr/>
          <p:nvPr/>
        </p:nvSpPr>
        <p:spPr>
          <a:xfrm>
            <a:off x="9303791" y="5607685"/>
            <a:ext cx="11734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607685"/>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서비스 실행</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설비 이상에서 조치까지 전체 과정 시연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쿨러 열화 한 건이 경보에서 최종 결과까지 이어지는 과정을 확인한다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경보에서 처리 결과까지의 정보 전달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열화의 경보·진단·추천·승인·실행·재관측에서, 앞 단계의 어떤 결과가 다음 단계로 전달되는지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854325"/>
            <a:ext cx="1911644" cy="2274061"/>
          </a:xfrm>
          <a:prstGeom prst="roundRect">
            <a:avLst>
              <a:gd name="adj" fmla="val 5000"/>
            </a:avLst>
          </a:prstGeom>
          <a:solidFill>
            <a:srgbClr val="F3F6F9"/>
          </a:solidFill>
          <a:ln>
            <a:noFill/>
          </a:ln>
        </p:spPr>
        <p:txBody>
          <a:bodyPr rtlCol="0" anchor="ctr"/>
          <a:lstStyle/>
          <a:p>
            <a:pPr algn="ctr"/>
          </a:p>
        </p:txBody>
      </p:sp>
      <p:sp>
        <p:nvSpPr>
          <p:cNvPr id="7" name="TextBox 6"/>
          <p:cNvSpPr txBox="1"/>
          <p:nvPr/>
        </p:nvSpPr>
        <p:spPr>
          <a:xfrm>
            <a:off x="621792" y="3037205"/>
            <a:ext cx="1765340" cy="2018029"/>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경보</a:t>
            </a:r>
          </a:p>
          <a:p>
            <a:pPr algn="ctr" eaLnBrk="0">
              <a:lnSpc>
                <a:spcPct val="110000"/>
              </a:lnSpc>
              <a:spcAft>
                <a:spcPts val="400"/>
              </a:spcAft>
            </a:pPr>
            <a:r>
              <a:rPr sz="1400" b="0">
                <a:solidFill>
                  <a:srgbClr val="1F2A3A"/>
                </a:solidFill>
                <a:latin typeface="맑은 고딕"/>
                <a:ea typeface="맑은 고딕"/>
                <a:cs typeface="맑은 고딕"/>
              </a:rPr>
              <a:t>TS1 55.71 ℃</a:t>
            </a:r>
          </a:p>
          <a:p>
            <a:pPr algn="ctr" eaLnBrk="0">
              <a:lnSpc>
                <a:spcPct val="110000"/>
              </a:lnSpc>
              <a:spcAft>
                <a:spcPts val="400"/>
              </a:spcAft>
            </a:pPr>
            <a:r>
              <a:rPr sz="1400" b="0">
                <a:solidFill>
                  <a:srgbClr val="1F2A3A"/>
                </a:solidFill>
                <a:latin typeface="맑은 고딕"/>
                <a:ea typeface="맑은 고딕"/>
                <a:cs typeface="맑은 고딕"/>
              </a:rPr>
              <a:t>CE 46.2 %</a:t>
            </a:r>
          </a:p>
          <a:p>
            <a:pPr algn="ctr" eaLnBrk="0">
              <a:lnSpc>
                <a:spcPct val="110000"/>
              </a:lnSpc>
              <a:spcAft>
                <a:spcPts val="400"/>
              </a:spcAft>
            </a:pPr>
            <a:r>
              <a:rPr sz="1400" b="0">
                <a:solidFill>
                  <a:srgbClr val="1F2A3A"/>
                </a:solidFill>
                <a:latin typeface="맑은 고딕"/>
                <a:ea typeface="맑은 고딕"/>
                <a:cs typeface="맑은 고딕"/>
              </a:rPr>
              <a:t>조건과 근거 값을</a:t>
            </a:r>
          </a:p>
          <a:p>
            <a:pPr algn="ctr" eaLnBrk="0">
              <a:lnSpc>
                <a:spcPct val="110000"/>
              </a:lnSpc>
              <a:spcAft>
                <a:spcPts val="400"/>
              </a:spcAft>
            </a:pPr>
            <a:r>
              <a:rPr sz="1400" b="0">
                <a:solidFill>
                  <a:srgbClr val="1F2A3A"/>
                </a:solidFill>
                <a:latin typeface="맑은 고딕"/>
                <a:ea typeface="맑은 고딕"/>
                <a:cs typeface="맑은 고딕"/>
              </a:rPr>
              <a:t>경보로 남긴다</a:t>
            </a:r>
          </a:p>
        </p:txBody>
      </p:sp>
      <p:sp>
        <p:nvSpPr>
          <p:cNvPr id="8" name="Right Arrow 7"/>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9" name="Rounded Rectangle 8"/>
          <p:cNvSpPr/>
          <p:nvPr/>
        </p:nvSpPr>
        <p:spPr>
          <a:xfrm>
            <a:off x="2844332" y="2854325"/>
            <a:ext cx="1911644" cy="2274061"/>
          </a:xfrm>
          <a:prstGeom prst="roundRect">
            <a:avLst>
              <a:gd name="adj" fmla="val 5000"/>
            </a:avLst>
          </a:prstGeom>
          <a:solidFill>
            <a:srgbClr val="F3F6F9"/>
          </a:solidFill>
          <a:ln>
            <a:noFill/>
          </a:ln>
        </p:spPr>
        <p:txBody>
          <a:bodyPr rtlCol="0" anchor="ctr"/>
          <a:lstStyle/>
          <a:p>
            <a:pPr algn="ctr"/>
          </a:p>
        </p:txBody>
      </p:sp>
      <p:sp>
        <p:nvSpPr>
          <p:cNvPr id="10" name="TextBox 9"/>
          <p:cNvSpPr txBox="1"/>
          <p:nvPr/>
        </p:nvSpPr>
        <p:spPr>
          <a:xfrm>
            <a:off x="2917484" y="3037205"/>
            <a:ext cx="1765340" cy="2018029"/>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진단과 추천</a:t>
            </a:r>
          </a:p>
          <a:p>
            <a:pPr algn="ctr" eaLnBrk="0">
              <a:lnSpc>
                <a:spcPct val="110000"/>
              </a:lnSpc>
              <a:spcAft>
                <a:spcPts val="400"/>
              </a:spcAft>
            </a:pPr>
            <a:r>
              <a:rPr sz="1400" b="0">
                <a:solidFill>
                  <a:srgbClr val="1F2A3A"/>
                </a:solidFill>
                <a:latin typeface="맑은 고딕"/>
                <a:ea typeface="맑은 고딕"/>
                <a:cs typeface="맑은 고딕"/>
              </a:rPr>
              <a:t>판별 기준과</a:t>
            </a:r>
          </a:p>
          <a:p>
            <a:pPr algn="ctr" eaLnBrk="0">
              <a:lnSpc>
                <a:spcPct val="110000"/>
              </a:lnSpc>
              <a:spcAft>
                <a:spcPts val="400"/>
              </a:spcAft>
            </a:pPr>
            <a:r>
              <a:rPr sz="1400" b="0">
                <a:solidFill>
                  <a:srgbClr val="1F2A3A"/>
                </a:solidFill>
                <a:latin typeface="맑은 고딕"/>
                <a:ea typeface="맑은 고딕"/>
                <a:cs typeface="맑은 고딕"/>
              </a:rPr>
              <a:t>실제 값을 대조한다</a:t>
            </a:r>
          </a:p>
          <a:p>
            <a:pPr algn="ctr" eaLnBrk="0">
              <a:lnSpc>
                <a:spcPct val="110000"/>
              </a:lnSpc>
              <a:spcAft>
                <a:spcPts val="400"/>
              </a:spcAft>
            </a:pPr>
            <a:r>
              <a:rPr sz="1400" b="0">
                <a:solidFill>
                  <a:srgbClr val="1F2A3A"/>
                </a:solidFill>
                <a:latin typeface="맑은 고딕"/>
                <a:ea typeface="맑은 고딕"/>
                <a:cs typeface="맑은 고딕"/>
              </a:rPr>
              <a:t>핀 오염 진단과</a:t>
            </a:r>
          </a:p>
          <a:p>
            <a:pPr algn="ctr" eaLnBrk="0">
              <a:lnSpc>
                <a:spcPct val="110000"/>
              </a:lnSpc>
              <a:spcAft>
                <a:spcPts val="400"/>
              </a:spcAft>
            </a:pPr>
            <a:r>
              <a:rPr sz="1400" b="0">
                <a:solidFill>
                  <a:srgbClr val="1F2A3A"/>
                </a:solidFill>
                <a:latin typeface="맑은 고딕"/>
                <a:ea typeface="맑은 고딕"/>
                <a:cs typeface="맑은 고딕"/>
              </a:rPr>
              <a:t>팬 최대 운전 추천</a:t>
            </a:r>
          </a:p>
        </p:txBody>
      </p:sp>
      <p:sp>
        <p:nvSpPr>
          <p:cNvPr id="11" name="Right Arrow 10"/>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2" name="Rounded Rectangle 11"/>
          <p:cNvSpPr/>
          <p:nvPr/>
        </p:nvSpPr>
        <p:spPr>
          <a:xfrm>
            <a:off x="5140025" y="2854325"/>
            <a:ext cx="1911644" cy="2274061"/>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5213177" y="3037205"/>
            <a:ext cx="1765340" cy="2018029"/>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승인 또는 거절</a:t>
            </a:r>
          </a:p>
          <a:p>
            <a:pPr algn="ctr" eaLnBrk="0">
              <a:lnSpc>
                <a:spcPct val="110000"/>
              </a:lnSpc>
              <a:spcAft>
                <a:spcPts val="400"/>
              </a:spcAft>
            </a:pPr>
            <a:r>
              <a:rPr sz="1400" b="0">
                <a:solidFill>
                  <a:srgbClr val="1F2A3A"/>
                </a:solidFill>
                <a:latin typeface="맑은 고딕"/>
                <a:ea typeface="맑은 고딕"/>
                <a:cs typeface="맑은 고딕"/>
              </a:rPr>
              <a:t>담당자가</a:t>
            </a:r>
          </a:p>
          <a:p>
            <a:pPr algn="ctr" eaLnBrk="0">
              <a:lnSpc>
                <a:spcPct val="110000"/>
              </a:lnSpc>
              <a:spcAft>
                <a:spcPts val="400"/>
              </a:spcAft>
            </a:pPr>
            <a:r>
              <a:rPr sz="1400" b="0">
                <a:solidFill>
                  <a:srgbClr val="1F2A3A"/>
                </a:solidFill>
                <a:latin typeface="맑은 고딕"/>
                <a:ea typeface="맑은 고딕"/>
                <a:cs typeface="맑은 고딕"/>
              </a:rPr>
              <a:t>추천과 근거를 본다</a:t>
            </a:r>
          </a:p>
          <a:p>
            <a:pPr algn="ctr" eaLnBrk="0">
              <a:lnSpc>
                <a:spcPct val="110000"/>
              </a:lnSpc>
              <a:spcAft>
                <a:spcPts val="400"/>
              </a:spcAft>
            </a:pPr>
            <a:r>
              <a:rPr sz="1400" b="0">
                <a:solidFill>
                  <a:srgbClr val="1F2A3A"/>
                </a:solidFill>
                <a:latin typeface="맑은 고딕"/>
                <a:ea typeface="맑은 고딕"/>
                <a:cs typeface="맑은 고딕"/>
              </a:rPr>
              <a:t>승인해야</a:t>
            </a:r>
          </a:p>
          <a:p>
            <a:pPr algn="ctr" eaLnBrk="0">
              <a:lnSpc>
                <a:spcPct val="110000"/>
              </a:lnSpc>
              <a:spcAft>
                <a:spcPts val="400"/>
              </a:spcAft>
            </a:pPr>
            <a:r>
              <a:rPr sz="1400" b="0">
                <a:solidFill>
                  <a:srgbClr val="1F2A3A"/>
                </a:solidFill>
                <a:latin typeface="맑은 고딕"/>
                <a:ea typeface="맑은 고딕"/>
                <a:cs typeface="맑은 고딕"/>
              </a:rPr>
              <a:t>명령이 만들어진다</a:t>
            </a:r>
          </a:p>
        </p:txBody>
      </p:sp>
      <p:sp>
        <p:nvSpPr>
          <p:cNvPr id="14" name="Right Arrow 13"/>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15" name="Rounded Rectangle 14"/>
          <p:cNvSpPr/>
          <p:nvPr/>
        </p:nvSpPr>
        <p:spPr>
          <a:xfrm>
            <a:off x="7435717" y="2854325"/>
            <a:ext cx="1911644" cy="2274061"/>
          </a:xfrm>
          <a:prstGeom prst="roundRect">
            <a:avLst>
              <a:gd name="adj" fmla="val 5000"/>
            </a:avLst>
          </a:prstGeom>
          <a:solidFill>
            <a:srgbClr val="F3F6F9"/>
          </a:solidFill>
          <a:ln>
            <a:noFill/>
          </a:ln>
        </p:spPr>
        <p:txBody>
          <a:bodyPr rtlCol="0" anchor="ctr"/>
          <a:lstStyle/>
          <a:p>
            <a:pPr algn="ctr"/>
          </a:p>
        </p:txBody>
      </p:sp>
      <p:sp>
        <p:nvSpPr>
          <p:cNvPr id="16" name="TextBox 15"/>
          <p:cNvSpPr txBox="1"/>
          <p:nvPr/>
        </p:nvSpPr>
        <p:spPr>
          <a:xfrm>
            <a:off x="7508869" y="3037205"/>
            <a:ext cx="1765340" cy="2018029"/>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실행</a:t>
            </a:r>
          </a:p>
          <a:p>
            <a:pPr algn="ctr" eaLnBrk="0">
              <a:lnSpc>
                <a:spcPct val="110000"/>
              </a:lnSpc>
              <a:spcAft>
                <a:spcPts val="400"/>
              </a:spcAft>
            </a:pPr>
            <a:r>
              <a:rPr sz="1400" b="0">
                <a:solidFill>
                  <a:srgbClr val="1F2A3A"/>
                </a:solidFill>
                <a:latin typeface="맑은 고딕"/>
                <a:ea typeface="맑은 고딕"/>
                <a:cs typeface="맑은 고딕"/>
              </a:rPr>
              <a:t>팬 속도 100 %</a:t>
            </a:r>
          </a:p>
          <a:p>
            <a:pPr algn="ctr" eaLnBrk="0">
              <a:lnSpc>
                <a:spcPct val="110000"/>
              </a:lnSpc>
              <a:spcAft>
                <a:spcPts val="400"/>
              </a:spcAft>
            </a:pPr>
            <a:r>
              <a:rPr sz="1400" b="0">
                <a:solidFill>
                  <a:srgbClr val="1F2A3A"/>
                </a:solidFill>
                <a:latin typeface="맑은 고딕"/>
                <a:ea typeface="맑은 고딕"/>
                <a:cs typeface="맑은 고딕"/>
              </a:rPr>
              <a:t>명령을 적용한다</a:t>
            </a:r>
          </a:p>
          <a:p>
            <a:pPr algn="ctr" eaLnBrk="0">
              <a:lnSpc>
                <a:spcPct val="110000"/>
              </a:lnSpc>
              <a:spcAft>
                <a:spcPts val="400"/>
              </a:spcAft>
            </a:pPr>
            <a:r>
              <a:rPr sz="1400" b="0">
                <a:solidFill>
                  <a:srgbClr val="1F2A3A"/>
                </a:solidFill>
                <a:latin typeface="맑은 고딕"/>
                <a:ea typeface="맑은 고딕"/>
                <a:cs typeface="맑은 고딕"/>
              </a:rPr>
              <a:t>PLC가 ACK로</a:t>
            </a:r>
          </a:p>
          <a:p>
            <a:pPr algn="ctr" eaLnBrk="0">
              <a:lnSpc>
                <a:spcPct val="110000"/>
              </a:lnSpc>
              <a:spcAft>
                <a:spcPts val="400"/>
              </a:spcAft>
            </a:pPr>
            <a:r>
              <a:rPr sz="1400" b="0">
                <a:solidFill>
                  <a:srgbClr val="1F2A3A"/>
                </a:solidFill>
                <a:latin typeface="맑은 고딕"/>
                <a:ea typeface="맑은 고딕"/>
                <a:cs typeface="맑은 고딕"/>
              </a:rPr>
              <a:t>처리 결과를 알린다</a:t>
            </a:r>
          </a:p>
        </p:txBody>
      </p:sp>
      <p:sp>
        <p:nvSpPr>
          <p:cNvPr id="17" name="Right Arrow 16"/>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18" name="Rounded Rectangle 17"/>
          <p:cNvSpPr/>
          <p:nvPr/>
        </p:nvSpPr>
        <p:spPr>
          <a:xfrm>
            <a:off x="9731410" y="2854325"/>
            <a:ext cx="1911644" cy="2274061"/>
          </a:xfrm>
          <a:prstGeom prst="roundRect">
            <a:avLst>
              <a:gd name="adj" fmla="val 5000"/>
            </a:avLst>
          </a:prstGeom>
          <a:solidFill>
            <a:srgbClr val="F3F6F9"/>
          </a:solidFill>
          <a:ln>
            <a:noFill/>
          </a:ln>
        </p:spPr>
        <p:txBody>
          <a:bodyPr rtlCol="0" anchor="ctr"/>
          <a:lstStyle/>
          <a:p>
            <a:pPr algn="ctr"/>
          </a:p>
        </p:txBody>
      </p:sp>
      <p:sp>
        <p:nvSpPr>
          <p:cNvPr id="19" name="TextBox 18"/>
          <p:cNvSpPr txBox="1"/>
          <p:nvPr/>
        </p:nvSpPr>
        <p:spPr>
          <a:xfrm>
            <a:off x="9804562" y="3037205"/>
            <a:ext cx="1765340" cy="2018029"/>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재관측과 결과</a:t>
            </a:r>
          </a:p>
          <a:p>
            <a:pPr algn="ctr" eaLnBrk="0">
              <a:lnSpc>
                <a:spcPct val="110000"/>
              </a:lnSpc>
              <a:spcAft>
                <a:spcPts val="400"/>
              </a:spcAft>
            </a:pPr>
            <a:r>
              <a:rPr sz="1400" b="0">
                <a:solidFill>
                  <a:srgbClr val="1F2A3A"/>
                </a:solidFill>
                <a:latin typeface="맑은 고딕"/>
                <a:ea typeface="맑은 고딕"/>
                <a:cs typeface="맑은 고딕"/>
              </a:rPr>
              <a:t>유온과 CLEAR로</a:t>
            </a:r>
          </a:p>
          <a:p>
            <a:pPr algn="ctr" eaLnBrk="0">
              <a:lnSpc>
                <a:spcPct val="110000"/>
              </a:lnSpc>
              <a:spcAft>
                <a:spcPts val="400"/>
              </a:spcAft>
            </a:pPr>
            <a:r>
              <a:rPr sz="1400" b="0">
                <a:solidFill>
                  <a:srgbClr val="1F2A3A"/>
                </a:solidFill>
                <a:latin typeface="맑은 고딕"/>
                <a:ea typeface="맑은 고딕"/>
                <a:cs typeface="맑은 고딕"/>
              </a:rPr>
              <a:t>완화를 확인한다</a:t>
            </a:r>
          </a:p>
          <a:p>
            <a:pPr algn="ctr" eaLnBrk="0">
              <a:lnSpc>
                <a:spcPct val="110000"/>
              </a:lnSpc>
              <a:spcAft>
                <a:spcPts val="400"/>
              </a:spcAft>
            </a:pPr>
            <a:r>
              <a:rPr sz="1400" b="0">
                <a:solidFill>
                  <a:srgbClr val="1F2A3A"/>
                </a:solidFill>
                <a:latin typeface="맑은 고딕"/>
                <a:ea typeface="맑은 고딕"/>
                <a:cs typeface="맑은 고딕"/>
              </a:rPr>
              <a:t>핀 세척 작업지시를</a:t>
            </a:r>
          </a:p>
          <a:p>
            <a:pPr algn="ctr" eaLnBrk="0">
              <a:lnSpc>
                <a:spcPct val="110000"/>
              </a:lnSpc>
              <a:spcAft>
                <a:spcPts val="400"/>
              </a:spcAft>
            </a:pPr>
            <a:r>
              <a:rPr sz="1400" b="0">
                <a:solidFill>
                  <a:srgbClr val="1F2A3A"/>
                </a:solidFill>
                <a:latin typeface="맑은 고딕"/>
                <a:ea typeface="맑은 고딕"/>
                <a:cs typeface="맑은 고딕"/>
              </a:rPr>
              <a:t>별도로 남긴다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수치만으로 조치를 정할 수 없는 이유</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같은 경보라도 원인에 따라 조치가 달라지는 까닭</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경보 발생에서 조치 승인까지의 108초</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경보는 조건을 벗어났다는 사실만 알리므로, 조치를 정하려면 </a:t>
            </a:r>
            <a:r>
              <a:rPr sz="1600" b="1">
                <a:solidFill>
                  <a:srgbClr val="1A6FC4"/>
                </a:solidFill>
                <a:latin typeface="맑은 고딕"/>
                <a:ea typeface="맑은 고딕"/>
                <a:cs typeface="맑은 고딕"/>
              </a:rPr>
              <a:t>원인</a:t>
            </a:r>
            <a:r>
              <a:rPr sz="1600" b="0">
                <a:solidFill>
                  <a:srgbClr val="556175"/>
                </a:solidFill>
                <a:latin typeface="맑은 고딕"/>
                <a:ea typeface="맑은 고딕"/>
                <a:cs typeface="맑은 고딕"/>
              </a:rPr>
              <a:t>을 먼저 가려야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47</a:t>
            </a:r>
          </a:p>
        </p:txBody>
      </p:sp>
      <p:pic>
        <p:nvPicPr>
          <p:cNvPr id="6" name="Picture 5" descr="그래프_쿨러열화_TS1_CE.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82496"/>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82496"/>
            <a:ext cx="347472" cy="347472"/>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27632"/>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경보 발생 11:13:08</a:t>
            </a:r>
          </a:p>
          <a:p>
            <a:pPr algn="l" eaLnBrk="0">
              <a:lnSpc>
                <a:spcPct val="110000"/>
              </a:lnSpc>
              <a:spcAft>
                <a:spcPts val="400"/>
              </a:spcAft>
            </a:pPr>
            <a:r>
              <a:rPr sz="1400" b="0">
                <a:solidFill>
                  <a:srgbClr val="1F2A3A"/>
                </a:solidFill>
                <a:latin typeface="맑은 고딕"/>
                <a:ea typeface="맑은 고딕"/>
                <a:cs typeface="맑은 고딕"/>
              </a:rPr>
              <a:t>유온 55.71 ℃, 냉각 효율 46.2 %.</a:t>
            </a:r>
          </a:p>
          <a:p>
            <a:pPr algn="l" eaLnBrk="0">
              <a:lnSpc>
                <a:spcPct val="110000"/>
              </a:lnSpc>
              <a:spcAft>
                <a:spcPts val="400"/>
              </a:spcAft>
            </a:pPr>
            <a:r>
              <a:rPr sz="1400" b="0">
                <a:solidFill>
                  <a:srgbClr val="1F2A3A"/>
                </a:solidFill>
                <a:latin typeface="맑은 고딕"/>
                <a:ea typeface="맑은 고딕"/>
                <a:cs typeface="맑은 고딕"/>
              </a:rPr>
              <a:t>감지 서비스의 경보 조건이 성립했다.</a:t>
            </a:r>
          </a:p>
        </p:txBody>
      </p:sp>
      <p:sp>
        <p:nvSpPr>
          <p:cNvPr id="10" name="Oval 9"/>
          <p:cNvSpPr/>
          <p:nvPr/>
        </p:nvSpPr>
        <p:spPr>
          <a:xfrm>
            <a:off x="8138160" y="2852928"/>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2852928"/>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2798064"/>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108초 동안 한 일</a:t>
            </a:r>
          </a:p>
          <a:p>
            <a:pPr algn="l" eaLnBrk="0">
              <a:lnSpc>
                <a:spcPct val="110000"/>
              </a:lnSpc>
              <a:spcAft>
                <a:spcPts val="400"/>
              </a:spcAft>
            </a:pPr>
            <a:r>
              <a:rPr sz="1400" b="0">
                <a:solidFill>
                  <a:srgbClr val="1F2A3A"/>
                </a:solidFill>
                <a:latin typeface="맑은 고딕"/>
                <a:ea typeface="맑은 고딕"/>
                <a:cs typeface="맑은 고딕"/>
              </a:rPr>
              <a:t>원인을 가리고 조치안을 비교하는 데 약 94초, 승인을 기다리는 데 약 13초. 유온은 61.8 ℃까지 올랐다.</a:t>
            </a:r>
          </a:p>
        </p:txBody>
      </p:sp>
      <p:sp>
        <p:nvSpPr>
          <p:cNvPr id="13" name="Oval 12"/>
          <p:cNvSpPr/>
          <p:nvPr/>
        </p:nvSpPr>
        <p:spPr>
          <a:xfrm>
            <a:off x="8138160" y="4023359"/>
            <a:ext cx="347472" cy="347472"/>
          </a:xfrm>
          <a:prstGeom prst="ellipse">
            <a:avLst/>
          </a:prstGeom>
          <a:solidFill>
            <a:srgbClr val="13294B"/>
          </a:solidFill>
          <a:ln>
            <a:noFill/>
          </a:ln>
        </p:spPr>
        <p:txBody>
          <a:bodyPr rtlCol="0" anchor="ctr"/>
          <a:lstStyle/>
          <a:p>
            <a:pPr algn="ctr"/>
          </a:p>
        </p:txBody>
      </p:sp>
      <p:sp>
        <p:nvSpPr>
          <p:cNvPr id="14" name="TextBox 13"/>
          <p:cNvSpPr txBox="1"/>
          <p:nvPr/>
        </p:nvSpPr>
        <p:spPr>
          <a:xfrm>
            <a:off x="8138160" y="4023359"/>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3</a:t>
            </a:r>
          </a:p>
        </p:txBody>
      </p:sp>
      <p:sp>
        <p:nvSpPr>
          <p:cNvPr id="15" name="TextBox 14"/>
          <p:cNvSpPr txBox="1"/>
          <p:nvPr/>
        </p:nvSpPr>
        <p:spPr>
          <a:xfrm>
            <a:off x="8549640" y="3968496"/>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조치 승인 11:14:56</a:t>
            </a:r>
          </a:p>
          <a:p>
            <a:pPr algn="l" eaLnBrk="0">
              <a:lnSpc>
                <a:spcPct val="110000"/>
              </a:lnSpc>
              <a:spcAft>
                <a:spcPts val="400"/>
              </a:spcAft>
            </a:pPr>
            <a:r>
              <a:rPr sz="1400" b="0">
                <a:solidFill>
                  <a:srgbClr val="1F2A3A"/>
                </a:solidFill>
                <a:latin typeface="맑은 고딕"/>
                <a:ea typeface="맑은 고딕"/>
                <a:cs typeface="맑은 고딕"/>
              </a:rPr>
              <a:t>운전원이 「팬 최대 운전」을 승인했다. 명령 전송은 11:14:57이다.</a:t>
            </a:r>
          </a:p>
        </p:txBody>
      </p:sp>
      <p:sp>
        <p:nvSpPr>
          <p:cNvPr id="16" name="Oval 15"/>
          <p:cNvSpPr/>
          <p:nvPr/>
        </p:nvSpPr>
        <p:spPr>
          <a:xfrm>
            <a:off x="8138160" y="5193792"/>
            <a:ext cx="347472" cy="347472"/>
          </a:xfrm>
          <a:prstGeom prst="ellipse">
            <a:avLst/>
          </a:prstGeom>
          <a:solidFill>
            <a:srgbClr val="13294B"/>
          </a:solidFill>
          <a:ln>
            <a:noFill/>
          </a:ln>
        </p:spPr>
        <p:txBody>
          <a:bodyPr rtlCol="0" anchor="ctr"/>
          <a:lstStyle/>
          <a:p>
            <a:pPr algn="ctr"/>
          </a:p>
        </p:txBody>
      </p:sp>
      <p:sp>
        <p:nvSpPr>
          <p:cNvPr id="17" name="TextBox 16"/>
          <p:cNvSpPr txBox="1"/>
          <p:nvPr/>
        </p:nvSpPr>
        <p:spPr>
          <a:xfrm>
            <a:off x="8138160" y="5193792"/>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4</a:t>
            </a:r>
          </a:p>
        </p:txBody>
      </p:sp>
      <p:sp>
        <p:nvSpPr>
          <p:cNvPr id="18" name="TextBox 17"/>
          <p:cNvSpPr txBox="1"/>
          <p:nvPr/>
        </p:nvSpPr>
        <p:spPr>
          <a:xfrm>
            <a:off x="8549640" y="5138928"/>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경보 해제 11:15:52</a:t>
            </a:r>
          </a:p>
          <a:p>
            <a:pPr algn="l" eaLnBrk="0">
              <a:lnSpc>
                <a:spcPct val="110000"/>
              </a:lnSpc>
              <a:spcAft>
                <a:spcPts val="400"/>
              </a:spcAft>
            </a:pPr>
            <a:r>
              <a:rPr sz="1400" b="0">
                <a:solidFill>
                  <a:srgbClr val="1F2A3A"/>
                </a:solidFill>
                <a:latin typeface="맑은 고딕"/>
                <a:ea typeface="맑은 고딕"/>
                <a:cs typeface="맑은 고딕"/>
              </a:rPr>
              <a:t>유온은 내려갔으나 냉각 효율은</a:t>
            </a:r>
          </a:p>
          <a:p>
            <a:pPr algn="l" eaLnBrk="0">
              <a:lnSpc>
                <a:spcPct val="110000"/>
              </a:lnSpc>
              <a:spcAft>
                <a:spcPts val="400"/>
              </a:spcAft>
            </a:pPr>
            <a:r>
              <a:rPr sz="1400" b="0">
                <a:solidFill>
                  <a:srgbClr val="1F2A3A"/>
                </a:solidFill>
                <a:latin typeface="맑은 고딕"/>
                <a:ea typeface="맑은 고딕"/>
                <a:cs typeface="맑은 고딕"/>
              </a:rPr>
              <a:t>55 %로, 기준 70 %에 못 미친다.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데이터, 정보, 지식과 판단의 네 질문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값과 이상 여부는 정보로 알 수 있지만, 원인을 가리고 조치를 정하려면 </a:t>
            </a:r>
            <a:r>
              <a:rPr sz="1600" b="1">
                <a:solidFill>
                  <a:srgbClr val="1A6FC4"/>
                </a:solidFill>
                <a:latin typeface="맑은 고딕"/>
                <a:ea typeface="맑은 고딕"/>
                <a:cs typeface="맑은 고딕"/>
              </a:rPr>
              <a:t>지식</a:t>
            </a:r>
            <a:r>
              <a:rPr sz="1600" b="0">
                <a:solidFill>
                  <a:srgbClr val="556175"/>
                </a:solidFill>
                <a:latin typeface="맑은 고딕"/>
                <a:ea typeface="맑은 고딕"/>
                <a:cs typeface="맑은 고딕"/>
              </a:rPr>
              <a:t>이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구분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같은 사건의 문장</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답하는 질문</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데이터</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46.2</a:t>
            </a:r>
          </a:p>
          <a:p>
            <a:pPr algn="l" eaLnBrk="0">
              <a:lnSpc>
                <a:spcPct val="110000"/>
              </a:lnSpc>
            </a:pPr>
            <a:r>
              <a:rPr sz="1400" b="0">
                <a:solidFill>
                  <a:srgbClr val="1F2A3A"/>
                </a:solidFill>
                <a:latin typeface="맑은 고딕"/>
                <a:ea typeface="맑은 고딕"/>
                <a:cs typeface="맑은 고딕"/>
              </a:rPr>
              <a:t>무엇을 잰 값인지, 단위와 기준을 알 수 없다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답할 수 없음</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정보</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HYD-01의 냉각 효율이 46.2 %이다</a:t>
            </a:r>
          </a:p>
          <a:p>
            <a:pPr algn="l" eaLnBrk="0">
              <a:lnSpc>
                <a:spcPct val="110000"/>
              </a:lnSpc>
            </a:pPr>
            <a:r>
              <a:rPr sz="1400" b="0">
                <a:solidFill>
                  <a:srgbClr val="1F2A3A"/>
                </a:solidFill>
                <a:latin typeface="맑은 고딕"/>
                <a:ea typeface="맑은 고딕"/>
                <a:cs typeface="맑은 고딕"/>
              </a:rPr>
              <a:t>대상과 단위가 붙었다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지금 얼마인가</a:t>
            </a:r>
          </a:p>
          <a:p>
            <a:pPr algn="l" eaLnBrk="0">
              <a:lnSpc>
                <a:spcPct val="110000"/>
              </a:lnSpc>
            </a:pPr>
            <a:r>
              <a:rPr sz="1250" b="1">
                <a:solidFill>
                  <a:srgbClr val="556175"/>
                </a:solidFill>
                <a:latin typeface="맑은 고딕"/>
                <a:ea typeface="맑은 고딕"/>
                <a:cs typeface="맑은 고딕"/>
              </a:rPr>
              <a:t>계측값</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정보</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냉각 효율이 기준 70 %보다 낮다</a:t>
            </a:r>
          </a:p>
          <a:p>
            <a:pPr algn="l" eaLnBrk="0">
              <a:lnSpc>
                <a:spcPct val="110000"/>
              </a:lnSpc>
            </a:pPr>
            <a:r>
              <a:rPr sz="1400" b="0">
                <a:solidFill>
                  <a:srgbClr val="1F2A3A"/>
                </a:solidFill>
                <a:latin typeface="맑은 고딕"/>
                <a:ea typeface="맑은 고딕"/>
                <a:cs typeface="맑은 고딕"/>
              </a:rPr>
              <a:t>기준이 붙었다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벗어났는가</a:t>
            </a:r>
          </a:p>
          <a:p>
            <a:pPr algn="l" eaLnBrk="0">
              <a:lnSpc>
                <a:spcPct val="110000"/>
              </a:lnSpc>
            </a:pPr>
            <a:r>
              <a:rPr sz="1250" b="1">
                <a:solidFill>
                  <a:srgbClr val="556175"/>
                </a:solidFill>
                <a:latin typeface="맑은 고딕"/>
                <a:ea typeface="맑은 고딕"/>
                <a:cs typeface="맑은 고딕"/>
              </a:rPr>
              <a:t>이상 감지</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지식</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냉각 효율이 낮고 팬 진동이 정상이면 쿨러 핀 오염이다</a:t>
            </a:r>
          </a:p>
          <a:p>
            <a:pPr algn="l" eaLnBrk="0">
              <a:lnSpc>
                <a:spcPct val="110000"/>
              </a:lnSpc>
            </a:pPr>
            <a:r>
              <a:rPr sz="1400" b="0">
                <a:solidFill>
                  <a:srgbClr val="1F2A3A"/>
                </a:solidFill>
                <a:latin typeface="맑은 고딕"/>
                <a:ea typeface="맑은 고딕"/>
                <a:cs typeface="맑은 고딕"/>
              </a:rPr>
              <a:t>정보가 원인으로 이어졌다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왜 벗어났는가</a:t>
            </a:r>
          </a:p>
          <a:p>
            <a:pPr algn="l" eaLnBrk="0">
              <a:lnSpc>
                <a:spcPct val="110000"/>
              </a:lnSpc>
            </a:pPr>
            <a:r>
              <a:rPr sz="1250" b="1">
                <a:solidFill>
                  <a:srgbClr val="1A6FC4"/>
                </a:solidFill>
                <a:latin typeface="맑은 고딕"/>
                <a:ea typeface="맑은 고딕"/>
                <a:cs typeface="맑은 고딕"/>
              </a:rPr>
              <a:t>고장 진단</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지식</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쿨러 핀 오염이면 핀을 세척한다</a:t>
            </a:r>
          </a:p>
          <a:p>
            <a:pPr algn="l" eaLnBrk="0">
              <a:lnSpc>
                <a:spcPct val="110000"/>
              </a:lnSpc>
            </a:pPr>
            <a:r>
              <a:rPr sz="1400" b="0">
                <a:solidFill>
                  <a:srgbClr val="1F2A3A"/>
                </a:solidFill>
                <a:latin typeface="맑은 고딕"/>
                <a:ea typeface="맑은 고딕"/>
                <a:cs typeface="맑은 고딕"/>
              </a:rPr>
              <a:t>원인이 조치로 이어졌다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무엇을 할 것인가</a:t>
            </a:r>
          </a:p>
          <a:p>
            <a:pPr algn="l" eaLnBrk="0">
              <a:lnSpc>
                <a:spcPct val="110000"/>
              </a:lnSpc>
            </a:pPr>
            <a:r>
              <a:rPr sz="1250" b="1">
                <a:solidFill>
                  <a:srgbClr val="1A6FC4"/>
                </a:solidFill>
                <a:latin typeface="맑은 고딕"/>
                <a:ea typeface="맑은 고딕"/>
                <a:cs typeface="맑은 고딕"/>
              </a:rPr>
              <a:t>조치 판단</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원인 후보와 증거의 대조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증거</a:t>
            </a:r>
            <a:r>
              <a:rPr sz="1600" b="0">
                <a:solidFill>
                  <a:srgbClr val="556175"/>
                </a:solidFill>
                <a:latin typeface="맑은 고딕"/>
                <a:ea typeface="맑은 고딕"/>
                <a:cs typeface="맑은 고딕"/>
              </a:rPr>
              <a:t>(Evidence)는 확인할 값과 판별 기준이며, 실제 값을 대조해 같은 경보의 원인 후보를 가린다.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원인 후보</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판별 기준과 실제 값</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a:t>
            </a:r>
          </a:p>
        </p:txBody>
      </p:sp>
      <p:sp>
        <p:nvSpPr>
          <p:cNvPr id="10" name="Rounded Rectangle 9"/>
          <p:cNvSpPr/>
          <p:nvPr/>
        </p:nvSpPr>
        <p:spPr>
          <a:xfrm>
            <a:off x="548640" y="28529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쿨러 핀 오염</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CE의 30초 평균 &lt; 70 % → 46.2 %</a:t>
            </a:r>
          </a:p>
          <a:p>
            <a:pPr algn="l" eaLnBrk="0">
              <a:lnSpc>
                <a:spcPct val="110000"/>
              </a:lnSpc>
            </a:pPr>
            <a:r>
              <a:rPr sz="1400" b="0">
                <a:solidFill>
                  <a:srgbClr val="1F2A3A"/>
                </a:solidFill>
                <a:latin typeface="맑은 고딕"/>
                <a:ea typeface="맑은 고딕"/>
                <a:cs typeface="맑은 고딕"/>
              </a:rPr>
              <a:t>VS1의 2분 평균 &lt; 0.9 mm/s → 0.575 mm/s</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두 조건 충족</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팬 구동 불량</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VS1의 2분 평균 ≥ 0.9 mm/s</a:t>
            </a:r>
          </a:p>
          <a:p>
            <a:pPr algn="l" eaLnBrk="0">
              <a:lnSpc>
                <a:spcPct val="110000"/>
              </a:lnSpc>
            </a:pPr>
            <a:r>
              <a:rPr sz="1400" b="0">
                <a:solidFill>
                  <a:srgbClr val="1F2A3A"/>
                </a:solidFill>
                <a:latin typeface="맑은 고딕"/>
                <a:ea typeface="맑은 고딕"/>
                <a:cs typeface="맑은 고딕"/>
              </a:rPr>
              <a:t>실제 평균 0.575 mm/s</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해당 없음</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주변 온도 상승</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TS4의 2분 평균 ≥ 35 ℃</a:t>
            </a:r>
          </a:p>
          <a:p>
            <a:pPr algn="l" eaLnBrk="0">
              <a:lnSpc>
                <a:spcPct val="110000"/>
              </a:lnSpc>
            </a:pPr>
            <a:r>
              <a:rPr sz="1400" b="0">
                <a:solidFill>
                  <a:srgbClr val="1F2A3A"/>
                </a:solidFill>
                <a:latin typeface="맑은 고딕"/>
                <a:ea typeface="맑은 고딕"/>
                <a:cs typeface="맑은 고딕"/>
              </a:rPr>
              <a:t>실제 평균 28 ℃</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해당 없음</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원인에 따라 달라지는 근본 조치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증상이 같아도 원인이 다르면 이를 없애는 조치가 달라지므로, 원인을 가려야 조치를 정할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042"/>
            <a:ext cx="731520" cy="731520"/>
          </a:xfrm>
          <a:prstGeom prst="ellipse">
            <a:avLst/>
          </a:prstGeom>
          <a:solidFill>
            <a:srgbClr val="E7F3FD"/>
          </a:solidFill>
          <a:ln>
            <a:noFill/>
          </a:ln>
        </p:spPr>
        <p:txBody>
          <a:bodyPr rtlCol="0" anchor="ctr"/>
          <a:lstStyle/>
          <a:p>
            <a:pPr algn="ctr"/>
          </a:p>
        </p:txBody>
      </p:sp>
      <p:pic>
        <p:nvPicPr>
          <p:cNvPr id="8" name="아이콘:filter" descr="filter_13294B_1.6.png"/>
          <p:cNvPicPr>
            <a:picLocks noChangeAspect="1"/>
          </p:cNvPicPr>
          <p:nvPr/>
        </p:nvPicPr>
        <p:blipFill>
          <a:blip r:embed="rId3"/>
          <a:stretch>
            <a:fillRect/>
          </a:stretch>
        </p:blipFill>
        <p:spPr>
          <a:xfrm>
            <a:off x="930859" y="2648661"/>
            <a:ext cx="424281" cy="424281"/>
          </a:xfrm>
          <a:prstGeom prst="rect">
            <a:avLst/>
          </a:prstGeom>
        </p:spPr>
      </p:pic>
      <p:sp>
        <p:nvSpPr>
          <p:cNvPr id="9" name="TextBox 8"/>
          <p:cNvSpPr txBox="1"/>
          <p:nvPr/>
        </p:nvSpPr>
        <p:spPr>
          <a:xfrm>
            <a:off x="713232"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쿨러 핀 오염</a:t>
            </a:r>
          </a:p>
          <a:p>
            <a:pPr algn="l" eaLnBrk="0" marL="205740" indent="-205740">
              <a:lnSpc>
                <a:spcPct val="110000"/>
              </a:lnSpc>
              <a:spcAft>
                <a:spcPts val="400"/>
              </a:spcAft>
            </a:pPr>
            <a:r>
              <a:rPr sz="1800" b="0">
                <a:solidFill>
                  <a:srgbClr val="1F2A3A"/>
                </a:solidFill>
                <a:latin typeface="맑은 고딕"/>
                <a:ea typeface="맑은 고딕"/>
                <a:cs typeface="맑은 고딕"/>
              </a:rPr>
              <a:t>• 쿨러의 핀을 세척한다</a:t>
            </a:r>
          </a:p>
          <a:p>
            <a:pPr algn="l" eaLnBrk="0" marL="205740" indent="-205740">
              <a:lnSpc>
                <a:spcPct val="110000"/>
              </a:lnSpc>
              <a:spcAft>
                <a:spcPts val="400"/>
              </a:spcAft>
            </a:pPr>
            <a:r>
              <a:rPr sz="1800" b="0">
                <a:solidFill>
                  <a:srgbClr val="1F2A3A"/>
                </a:solidFill>
                <a:latin typeface="맑은 고딕"/>
                <a:ea typeface="맑은 고딕"/>
                <a:cs typeface="맑은 고딕"/>
              </a:rPr>
              <a:t>• 핀의 막힘이 풀려 냉각 효율이 돌아온다</a:t>
            </a:r>
          </a:p>
        </p:txBody>
      </p:sp>
      <p:sp>
        <p:nvSpPr>
          <p:cNvPr id="10" name="Rounded Rectangle 9"/>
          <p:cNvSpPr/>
          <p:nvPr/>
        </p:nvSpPr>
        <p:spPr>
          <a:xfrm>
            <a:off x="777240" y="5259070"/>
            <a:ext cx="1450847"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9070"/>
            <a:ext cx="1450847"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원인: 핀이 막힘</a:t>
            </a:r>
          </a:p>
        </p:txBody>
      </p:sp>
      <p:sp>
        <p:nvSpPr>
          <p:cNvPr id="12" name="Rounded Rectangle 11"/>
          <p:cNvSpPr/>
          <p:nvPr/>
        </p:nvSpPr>
        <p:spPr>
          <a:xfrm>
            <a:off x="4338218"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042"/>
            <a:ext cx="731520" cy="731520"/>
          </a:xfrm>
          <a:prstGeom prst="ellipse">
            <a:avLst/>
          </a:prstGeom>
          <a:solidFill>
            <a:srgbClr val="E7F3FD"/>
          </a:solidFill>
          <a:ln>
            <a:noFill/>
          </a:ln>
        </p:spPr>
        <p:txBody>
          <a:bodyPr rtlCol="0" anchor="ctr"/>
          <a:lstStyle/>
          <a:p>
            <a:pPr algn="ctr"/>
          </a:p>
        </p:txBody>
      </p:sp>
      <p:pic>
        <p:nvPicPr>
          <p:cNvPr id="14" name="아이콘:propeller" descr="propeller_13294B_1.6.png"/>
          <p:cNvPicPr>
            <a:picLocks noChangeAspect="1"/>
          </p:cNvPicPr>
          <p:nvPr/>
        </p:nvPicPr>
        <p:blipFill>
          <a:blip r:embed="rId4"/>
          <a:stretch>
            <a:fillRect/>
          </a:stretch>
        </p:blipFill>
        <p:spPr>
          <a:xfrm>
            <a:off x="4720437" y="2648661"/>
            <a:ext cx="424281" cy="424281"/>
          </a:xfrm>
          <a:prstGeom prst="rect">
            <a:avLst/>
          </a:prstGeom>
        </p:spPr>
      </p:pic>
      <p:sp>
        <p:nvSpPr>
          <p:cNvPr id="15" name="TextBox 14"/>
          <p:cNvSpPr txBox="1"/>
          <p:nvPr/>
        </p:nvSpPr>
        <p:spPr>
          <a:xfrm>
            <a:off x="4502810"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팬 구동 불량</a:t>
            </a:r>
          </a:p>
          <a:p>
            <a:pPr algn="l" eaLnBrk="0" marL="205740" indent="-205740">
              <a:lnSpc>
                <a:spcPct val="110000"/>
              </a:lnSpc>
              <a:spcAft>
                <a:spcPts val="400"/>
              </a:spcAft>
            </a:pPr>
            <a:r>
              <a:rPr sz="1800" b="0">
                <a:solidFill>
                  <a:srgbClr val="1F2A3A"/>
                </a:solidFill>
                <a:latin typeface="맑은 고딕"/>
                <a:ea typeface="맑은 고딕"/>
                <a:cs typeface="맑은 고딕"/>
              </a:rPr>
              <a:t>• 쿨러 팬의 벨트를 점검한다</a:t>
            </a:r>
          </a:p>
          <a:p>
            <a:pPr algn="l" eaLnBrk="0" marL="205740" indent="-205740">
              <a:lnSpc>
                <a:spcPct val="110000"/>
              </a:lnSpc>
              <a:spcAft>
                <a:spcPts val="400"/>
              </a:spcAft>
            </a:pPr>
            <a:r>
              <a:rPr sz="1800" b="0">
                <a:solidFill>
                  <a:srgbClr val="1F2A3A"/>
                </a:solidFill>
                <a:latin typeface="맑은 고딕"/>
                <a:ea typeface="맑은 고딕"/>
                <a:cs typeface="맑은 고딕"/>
              </a:rPr>
              <a:t>• 팬이 제 속도로 돌아야 바람이 충분해진다</a:t>
            </a:r>
          </a:p>
        </p:txBody>
      </p:sp>
      <p:sp>
        <p:nvSpPr>
          <p:cNvPr id="16" name="Rounded Rectangle 15"/>
          <p:cNvSpPr/>
          <p:nvPr/>
        </p:nvSpPr>
        <p:spPr>
          <a:xfrm>
            <a:off x="4566818" y="5259070"/>
            <a:ext cx="1496568"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9070"/>
            <a:ext cx="1496568"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원인: 팬이 덜 돎</a:t>
            </a:r>
          </a:p>
        </p:txBody>
      </p:sp>
      <p:sp>
        <p:nvSpPr>
          <p:cNvPr id="18" name="Rounded Rectangle 17"/>
          <p:cNvSpPr/>
          <p:nvPr/>
        </p:nvSpPr>
        <p:spPr>
          <a:xfrm>
            <a:off x="8127796"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495042"/>
            <a:ext cx="731520" cy="731520"/>
          </a:xfrm>
          <a:prstGeom prst="ellipse">
            <a:avLst/>
          </a:prstGeom>
          <a:solidFill>
            <a:srgbClr val="E7F3FD"/>
          </a:solidFill>
          <a:ln>
            <a:noFill/>
          </a:ln>
        </p:spPr>
        <p:txBody>
          <a:bodyPr rtlCol="0" anchor="ctr"/>
          <a:lstStyle/>
          <a:p>
            <a:pPr algn="ctr"/>
          </a:p>
        </p:txBody>
      </p:sp>
      <p:pic>
        <p:nvPicPr>
          <p:cNvPr id="20" name="아이콘:wind" descr="wind_13294B_1.6.png"/>
          <p:cNvPicPr>
            <a:picLocks noChangeAspect="1"/>
          </p:cNvPicPr>
          <p:nvPr/>
        </p:nvPicPr>
        <p:blipFill>
          <a:blip r:embed="rId5"/>
          <a:stretch>
            <a:fillRect/>
          </a:stretch>
        </p:blipFill>
        <p:spPr>
          <a:xfrm>
            <a:off x="8510016" y="2648661"/>
            <a:ext cx="424281" cy="424281"/>
          </a:xfrm>
          <a:prstGeom prst="rect">
            <a:avLst/>
          </a:prstGeom>
        </p:spPr>
      </p:pic>
      <p:sp>
        <p:nvSpPr>
          <p:cNvPr id="21" name="TextBox 20"/>
          <p:cNvSpPr txBox="1"/>
          <p:nvPr/>
        </p:nvSpPr>
        <p:spPr>
          <a:xfrm>
            <a:off x="8292388"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주변 온도 상승</a:t>
            </a:r>
          </a:p>
          <a:p>
            <a:pPr algn="l" eaLnBrk="0" marL="205740" indent="-205740">
              <a:lnSpc>
                <a:spcPct val="110000"/>
              </a:lnSpc>
              <a:spcAft>
                <a:spcPts val="400"/>
              </a:spcAft>
            </a:pPr>
            <a:r>
              <a:rPr sz="1800" b="0">
                <a:solidFill>
                  <a:srgbClr val="1F2A3A"/>
                </a:solidFill>
                <a:latin typeface="맑은 고딕"/>
                <a:ea typeface="맑은 고딕"/>
                <a:cs typeface="맑은 고딕"/>
              </a:rPr>
              <a:t>• 캐비닛의 환기를 보강한다</a:t>
            </a:r>
          </a:p>
          <a:p>
            <a:pPr algn="l" eaLnBrk="0" marL="205740" indent="-205740">
              <a:lnSpc>
                <a:spcPct val="110000"/>
              </a:lnSpc>
              <a:spcAft>
                <a:spcPts val="400"/>
              </a:spcAft>
            </a:pPr>
            <a:r>
              <a:rPr sz="1800" b="0">
                <a:solidFill>
                  <a:srgbClr val="1F2A3A"/>
                </a:solidFill>
                <a:latin typeface="맑은 고딕"/>
                <a:ea typeface="맑은 고딕"/>
                <a:cs typeface="맑은 고딕"/>
              </a:rPr>
              <a:t>• 쿨러로 들어가는 공기의 온도를 낮춘다</a:t>
            </a:r>
          </a:p>
        </p:txBody>
      </p:sp>
      <p:sp>
        <p:nvSpPr>
          <p:cNvPr id="22" name="Rounded Rectangle 21"/>
          <p:cNvSpPr/>
          <p:nvPr/>
        </p:nvSpPr>
        <p:spPr>
          <a:xfrm>
            <a:off x="8356396" y="5259070"/>
            <a:ext cx="1953768"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259070"/>
            <a:ext cx="1953768"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원인: 주변 공기가 더움</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완화 조치와 근본 조치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증상을 우선 낮추는 완화 조치와 원인을 없애는 근본 조치는 서로 다른 조치이다.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propeller" descr="propeller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완화 조치</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팬을 최대로 돌려 유온을 우선 낮춘다</a:t>
            </a:r>
          </a:p>
          <a:p>
            <a:pPr algn="l" eaLnBrk="0" marL="205740" indent="-205740">
              <a:lnSpc>
                <a:spcPct val="110000"/>
              </a:lnSpc>
              <a:spcAft>
                <a:spcPts val="600"/>
              </a:spcAft>
            </a:pPr>
            <a:r>
              <a:rPr sz="1800" b="0">
                <a:solidFill>
                  <a:srgbClr val="1F2A3A"/>
                </a:solidFill>
                <a:latin typeface="맑은 고딕"/>
                <a:ea typeface="맑은 고딕"/>
                <a:cs typeface="맑은 고딕"/>
              </a:rPr>
              <a:t>• 쿨러의 핀은 여전히 막혀 있다</a:t>
            </a:r>
          </a:p>
          <a:p>
            <a:pPr algn="l" eaLnBrk="0" marL="205740" indent="-205740">
              <a:lnSpc>
                <a:spcPct val="110000"/>
              </a:lnSpc>
              <a:spcAft>
                <a:spcPts val="600"/>
              </a:spcAft>
            </a:pPr>
            <a:r>
              <a:rPr sz="1800" b="0">
                <a:solidFill>
                  <a:srgbClr val="1F2A3A"/>
                </a:solidFill>
                <a:latin typeface="맑은 고딕"/>
                <a:ea typeface="맑은 고딕"/>
                <a:cs typeface="맑은 고딕"/>
              </a:rPr>
              <a:t>• 냉각 효율 55 %: 기준 미달</a:t>
            </a:r>
          </a:p>
          <a:p>
            <a:pPr algn="l" eaLnBrk="0" marL="205740" indent="-205740">
              <a:lnSpc>
                <a:spcPct val="110000"/>
              </a:lnSpc>
              <a:spcAft>
                <a:spcPts val="600"/>
              </a:spcAft>
            </a:pPr>
            <a:r>
              <a:rPr sz="1800" b="0">
                <a:solidFill>
                  <a:srgbClr val="1F2A3A"/>
                </a:solidFill>
                <a:latin typeface="맑은 고딕"/>
                <a:ea typeface="맑은 고딕"/>
                <a:cs typeface="맑은 고딕"/>
              </a:rPr>
              <a:t>• 팬 100 % 연속 운전: 24시간 이내</a:t>
            </a:r>
          </a:p>
        </p:txBody>
      </p:sp>
      <p:sp>
        <p:nvSpPr>
          <p:cNvPr id="11" name="Rounded Rectangle 10"/>
          <p:cNvSpPr/>
          <p:nvPr/>
        </p:nvSpPr>
        <p:spPr>
          <a:xfrm>
            <a:off x="868680" y="5204460"/>
            <a:ext cx="12191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팬 최대 운전</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tool" descr="tool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근본 조치</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막힌 핀을 세척해 원인을 없앤다</a:t>
            </a:r>
          </a:p>
          <a:p>
            <a:pPr algn="l" eaLnBrk="0" marL="205740" indent="-205740">
              <a:lnSpc>
                <a:spcPct val="110000"/>
              </a:lnSpc>
              <a:spcAft>
                <a:spcPts val="600"/>
              </a:spcAft>
            </a:pPr>
            <a:r>
              <a:rPr sz="1800" b="0">
                <a:solidFill>
                  <a:srgbClr val="1F2A3A"/>
                </a:solidFill>
                <a:latin typeface="맑은 고딕"/>
                <a:ea typeface="맑은 고딕"/>
                <a:cs typeface="맑은 고딕"/>
              </a:rPr>
              <a:t>• 설비를 멈추고 해야 하는 작업이다</a:t>
            </a:r>
          </a:p>
          <a:p>
            <a:pPr algn="l" eaLnBrk="0" marL="205740" indent="-205740">
              <a:lnSpc>
                <a:spcPct val="110000"/>
              </a:lnSpc>
              <a:spcAft>
                <a:spcPts val="600"/>
              </a:spcAft>
            </a:pPr>
            <a:r>
              <a:rPr sz="1800" b="0">
                <a:solidFill>
                  <a:srgbClr val="1F2A3A"/>
                </a:solidFill>
                <a:latin typeface="맑은 고딕"/>
                <a:ea typeface="맑은 고딕"/>
                <a:cs typeface="맑은 고딕"/>
              </a:rPr>
              <a:t>• 작업지시로 따로 등록된다</a:t>
            </a:r>
          </a:p>
          <a:p>
            <a:pPr algn="l" eaLnBrk="0" marL="205740" indent="-205740">
              <a:lnSpc>
                <a:spcPct val="110000"/>
              </a:lnSpc>
              <a:spcAft>
                <a:spcPts val="600"/>
              </a:spcAft>
            </a:pPr>
            <a:r>
              <a:rPr sz="1800" b="0">
                <a:solidFill>
                  <a:srgbClr val="1F2A3A"/>
                </a:solidFill>
                <a:latin typeface="맑은 고딕"/>
                <a:ea typeface="맑은 고딕"/>
                <a:cs typeface="맑은 고딕"/>
              </a:rPr>
              <a:t>• 설비보전팀장이 승인한다</a:t>
            </a:r>
          </a:p>
        </p:txBody>
      </p:sp>
      <p:sp>
        <p:nvSpPr>
          <p:cNvPr id="18" name="Rounded Rectangle 17"/>
          <p:cNvSpPr/>
          <p:nvPr/>
        </p:nvSpPr>
        <p:spPr>
          <a:xfrm>
            <a:off x="6781647" y="5204460"/>
            <a:ext cx="1219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쿨러 핀 세척</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같은 조치가 원인에 따라 설비를 세우는 경우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유온이 오르면 팬을 최대로 돌린다는 한 줄의 규칙은, 원인에 따라 설비를 멈추게 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쿨러 핀이 막힌 설비</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팬 속도를 100 %로 올린다</a:t>
            </a:r>
          </a:p>
          <a:p>
            <a:pPr algn="l" eaLnBrk="0" marL="205740" indent="-205740">
              <a:lnSpc>
                <a:spcPct val="110000"/>
              </a:lnSpc>
              <a:spcAft>
                <a:spcPts val="600"/>
              </a:spcAft>
            </a:pPr>
            <a:r>
              <a:rPr sz="1800" b="0">
                <a:solidFill>
                  <a:srgbClr val="1F2A3A"/>
                </a:solidFill>
                <a:latin typeface="맑은 고딕"/>
                <a:ea typeface="맑은 고딕"/>
                <a:cs typeface="맑은 고딕"/>
              </a:rPr>
              <a:t>• 바람이 늘어 유온이 61.4 ℃에서 51.5 ℃로 내려간다</a:t>
            </a:r>
          </a:p>
          <a:p>
            <a:pPr algn="l" eaLnBrk="0" marL="205740" indent="-205740">
              <a:lnSpc>
                <a:spcPct val="110000"/>
              </a:lnSpc>
              <a:spcAft>
                <a:spcPts val="600"/>
              </a:spcAft>
            </a:pPr>
            <a:r>
              <a:rPr sz="1800" b="0">
                <a:solidFill>
                  <a:srgbClr val="1F2A3A"/>
                </a:solidFill>
                <a:latin typeface="맑은 고딕"/>
                <a:ea typeface="맑은 고딕"/>
                <a:cs typeface="맑은 고딕"/>
              </a:rPr>
              <a:t>• 경보가 해제된다</a:t>
            </a:r>
          </a:p>
        </p:txBody>
      </p:sp>
      <p:sp>
        <p:nvSpPr>
          <p:cNvPr id="11" name="Rounded Rectangle 10"/>
          <p:cNvSpPr/>
          <p:nvPr/>
        </p:nvSpPr>
        <p:spPr>
          <a:xfrm>
            <a:off x="868680" y="5204460"/>
            <a:ext cx="16763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16763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조치가 효과를 낸다</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팬 베어링이 닳은 설비</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같은 조치로 팬 속도를 100 %로 올린다</a:t>
            </a:r>
          </a:p>
          <a:p>
            <a:pPr algn="l" eaLnBrk="0" marL="205740" indent="-205740">
              <a:lnSpc>
                <a:spcPct val="110000"/>
              </a:lnSpc>
              <a:spcAft>
                <a:spcPts val="600"/>
              </a:spcAft>
            </a:pPr>
            <a:r>
              <a:rPr sz="1800" b="0">
                <a:solidFill>
                  <a:srgbClr val="1F2A3A"/>
                </a:solidFill>
                <a:latin typeface="맑은 고딕"/>
                <a:ea typeface="맑은 고딕"/>
                <a:cs typeface="맑은 고딕"/>
              </a:rPr>
              <a:t>• 팬 진동 VS1이 약 2.8 mm/s로 뛴다</a:t>
            </a:r>
          </a:p>
          <a:p>
            <a:pPr algn="l" eaLnBrk="0" marL="205740" indent="-205740">
              <a:lnSpc>
                <a:spcPct val="110000"/>
              </a:lnSpc>
              <a:spcAft>
                <a:spcPts val="600"/>
              </a:spcAft>
            </a:pPr>
            <a:r>
              <a:rPr sz="1800" b="0">
                <a:solidFill>
                  <a:srgbClr val="1F2A3A"/>
                </a:solidFill>
                <a:latin typeface="맑은 고딕"/>
                <a:ea typeface="맑은 고딕"/>
                <a:cs typeface="맑은 고딕"/>
              </a:rPr>
              <a:t>• 진동 인터록 2.0 mm/s에 걸려 PLC가 설비를 멈춘다</a:t>
            </a:r>
          </a:p>
        </p:txBody>
      </p:sp>
      <p:sp>
        <p:nvSpPr>
          <p:cNvPr id="18" name="Rounded Rectangle 17"/>
          <p:cNvSpPr/>
          <p:nvPr/>
        </p:nvSpPr>
        <p:spPr>
          <a:xfrm>
            <a:off x="6781647" y="5204460"/>
            <a:ext cx="132587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설비가 멈춘다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판단 근거의 연결</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판단에 필요한 정보가 흩어져 있을 때 무엇이 부족한가</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판단에 쓰이는 정보가 놓인 곳</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원인을 가리고 조치를 정하는 데 필요한 정보는 서로 다른 시스템과 문서에 </a:t>
            </a:r>
            <a:r>
              <a:rPr sz="1600" b="1">
                <a:solidFill>
                  <a:srgbClr val="1A6FC4"/>
                </a:solidFill>
                <a:latin typeface="맑은 고딕"/>
                <a:ea typeface="맑은 고딕"/>
                <a:cs typeface="맑은 고딕"/>
              </a:rPr>
              <a:t>흩어져</a:t>
            </a:r>
            <a:r>
              <a:rPr sz="1600" b="0">
                <a:solidFill>
                  <a:srgbClr val="556175"/>
                </a:solidFill>
                <a:latin typeface="맑은 고딕"/>
                <a:ea typeface="맑은 고딕"/>
                <a:cs typeface="맑은 고딕"/>
              </a:rPr>
              <a:t>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54</a:t>
            </a:r>
          </a:p>
        </p:txBody>
      </p:sp>
      <p:pic>
        <p:nvPicPr>
          <p:cNvPr id="6" name="삽화:흩어진정보.svg" descr="illust_5773859378940579892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7471" y="3022229"/>
            <a:ext cx="305465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시계열 저장소(TSDB)</a:t>
            </a:r>
          </a:p>
          <a:p>
            <a:pPr algn="ctr" eaLnBrk="0">
              <a:lnSpc>
                <a:spcPct val="110000"/>
              </a:lnSpc>
              <a:spcAft>
                <a:spcPts val="100"/>
              </a:spcAft>
            </a:pPr>
            <a:r>
              <a:rPr sz="1100" b="0">
                <a:solidFill>
                  <a:srgbClr val="556175"/>
                </a:solidFill>
                <a:latin typeface="맑은 고딕"/>
                <a:ea typeface="맑은 고딕"/>
                <a:cs typeface="맑은 고딕"/>
              </a:rPr>
              <a:t>CE 46.2 % · TS4 28 ℃</a:t>
            </a:r>
          </a:p>
        </p:txBody>
      </p:sp>
      <p:sp>
        <p:nvSpPr>
          <p:cNvPr id="8" name="TextBox 7"/>
          <p:cNvSpPr txBox="1"/>
          <p:nvPr/>
        </p:nvSpPr>
        <p:spPr>
          <a:xfrm>
            <a:off x="837471" y="5244129"/>
            <a:ext cx="305465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운전 상태(Status)</a:t>
            </a:r>
          </a:p>
          <a:p>
            <a:pPr algn="ctr" eaLnBrk="0">
              <a:lnSpc>
                <a:spcPct val="110000"/>
              </a:lnSpc>
              <a:spcAft>
                <a:spcPts val="100"/>
              </a:spcAft>
            </a:pPr>
            <a:r>
              <a:rPr sz="1100" b="0">
                <a:solidFill>
                  <a:srgbClr val="556175"/>
                </a:solidFill>
                <a:latin typeface="맑은 고딕"/>
                <a:ea typeface="맑은 고딕"/>
                <a:cs typeface="맑은 고딕"/>
              </a:rPr>
              <a:t>REMOTE_AUTO · 팬 60 %</a:t>
            </a:r>
          </a:p>
        </p:txBody>
      </p:sp>
      <p:sp>
        <p:nvSpPr>
          <p:cNvPr id="9" name="TextBox 8"/>
          <p:cNvSpPr txBox="1"/>
          <p:nvPr/>
        </p:nvSpPr>
        <p:spPr>
          <a:xfrm>
            <a:off x="8070466" y="3022229"/>
            <a:ext cx="305465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매뉴얼(Manual)</a:t>
            </a:r>
          </a:p>
          <a:p>
            <a:pPr algn="ctr" eaLnBrk="0">
              <a:lnSpc>
                <a:spcPct val="110000"/>
              </a:lnSpc>
              <a:spcAft>
                <a:spcPts val="100"/>
              </a:spcAft>
            </a:pPr>
            <a:r>
              <a:rPr sz="1100" b="0">
                <a:solidFill>
                  <a:srgbClr val="556175"/>
                </a:solidFill>
                <a:latin typeface="맑은 고딕"/>
                <a:ea typeface="맑은 고딕"/>
                <a:cs typeface="맑은 고딕"/>
              </a:rPr>
              <a:t>HM-8</a:t>
            </a:r>
          </a:p>
        </p:txBody>
      </p:sp>
      <p:sp>
        <p:nvSpPr>
          <p:cNvPr id="10" name="TextBox 9"/>
          <p:cNvSpPr txBox="1"/>
          <p:nvPr/>
        </p:nvSpPr>
        <p:spPr>
          <a:xfrm>
            <a:off x="7743181" y="5244129"/>
            <a:ext cx="370922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MES(Manufacturing Execution System)</a:t>
            </a:r>
          </a:p>
          <a:p>
            <a:pPr algn="ctr" eaLnBrk="0">
              <a:lnSpc>
                <a:spcPct val="110000"/>
              </a:lnSpc>
              <a:spcAft>
                <a:spcPts val="100"/>
              </a:spcAft>
            </a:pPr>
            <a:r>
              <a:rPr sz="1100" b="0">
                <a:solidFill>
                  <a:srgbClr val="556175"/>
                </a:solidFill>
                <a:latin typeface="맑은 고딕"/>
                <a:ea typeface="맑은 고딕"/>
                <a:cs typeface="맑은 고딕"/>
              </a:rPr>
              <a:t>긴급 오더 납기 · 5.98시간</a:t>
            </a:r>
          </a:p>
        </p:txBody>
      </p:sp>
      <p:sp>
        <p:nvSpPr>
          <p:cNvPr id="11" name="TextBox 10"/>
          <p:cNvSpPr txBox="1"/>
          <p:nvPr/>
        </p:nvSpPr>
        <p:spPr>
          <a:xfrm>
            <a:off x="4677613" y="4298640"/>
            <a:ext cx="283646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경보(Alert)</a:t>
            </a:r>
          </a:p>
          <a:p>
            <a:pPr algn="ctr" eaLnBrk="0">
              <a:lnSpc>
                <a:spcPct val="110000"/>
              </a:lnSpc>
              <a:spcAft>
                <a:spcPts val="100"/>
              </a:spcAft>
            </a:pPr>
            <a:r>
              <a:rPr sz="1100" b="0">
                <a:solidFill>
                  <a:srgbClr val="556175"/>
                </a:solidFill>
                <a:latin typeface="맑은 고딕"/>
                <a:ea typeface="맑은 고딕"/>
                <a:cs typeface="맑은 고딕"/>
              </a:rPr>
              <a:t>유온 상승 · 냉각 효율 저하</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매뉴얼의 문장에 들어 있는 것과 없는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매뉴얼에 적힌 판별 기준을 경보·태그 값·조치와 잇는 관계로 옮겨야 컴퓨터가 따라갈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eaLnBrk="0">
              <a:lnSpc>
                <a:spcPct val="110000"/>
              </a:lnSpc>
              <a:spcAft>
                <a:spcPts val="200"/>
              </a:spcAft>
            </a:pP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매뉴얼</a:t>
            </a:r>
            <a:r>
              <a:rPr sz="1300" b="0">
                <a:solidFill>
                  <a:srgbClr val="E8EEF6"/>
                </a:solidFill>
                <a:latin typeface="Consolas"/>
                <a:ea typeface="맑은 고딕"/>
                <a:cs typeface="맑은 고딕"/>
              </a:rPr>
              <a:t> HM-8.4</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먼지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유막으로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막힘</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이</a:t>
            </a:r>
          </a:p>
          <a:p>
            <a:pPr algn="l" eaLnBrk="0">
              <a:lnSpc>
                <a:spcPct val="110000"/>
              </a:lnSpc>
              <a:spcAft>
                <a:spcPts val="200"/>
              </a:spcAft>
            </a:pPr>
            <a:r>
              <a:rPr sz="1300" b="0">
                <a:solidFill>
                  <a:srgbClr val="E8EEF6"/>
                </a:solidFill>
                <a:latin typeface="맑은 고딕"/>
                <a:ea typeface="맑은 고딕"/>
                <a:cs typeface="맑은 고딕"/>
              </a:rPr>
              <a:t>가장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흔하다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최근</a:t>
            </a:r>
            <a:r>
              <a:rPr sz="1300" b="0">
                <a:solidFill>
                  <a:srgbClr val="E8EEF6"/>
                </a:solidFill>
                <a:latin typeface="Consolas"/>
                <a:ea typeface="맑은 고딕"/>
                <a:cs typeface="맑은 고딕"/>
              </a:rPr>
              <a:t> 30</a:t>
            </a:r>
            <a:r>
              <a:rPr sz="1300" b="0">
                <a:solidFill>
                  <a:srgbClr val="E8EEF6"/>
                </a:solidFill>
                <a:latin typeface="맑은 고딕"/>
                <a:ea typeface="맑은 고딕"/>
                <a:cs typeface="맑은 고딕"/>
              </a:rPr>
              <a:t>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평균이</a:t>
            </a:r>
            <a:r>
              <a:rPr sz="1300" b="0">
                <a:solidFill>
                  <a:srgbClr val="E8EEF6"/>
                </a:solidFill>
                <a:latin typeface="Consolas"/>
                <a:ea typeface="맑은 고딕"/>
                <a:cs typeface="맑은 고딕"/>
              </a:rPr>
              <a:t> 70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미만이고</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최근</a:t>
            </a:r>
            <a:r>
              <a:rPr sz="1300" b="0">
                <a:solidFill>
                  <a:srgbClr val="E8EEF6"/>
                </a:solidFill>
                <a:latin typeface="Consolas"/>
                <a:ea typeface="맑은 고딕"/>
                <a:cs typeface="맑은 고딕"/>
              </a:rPr>
              <a:t> 2</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a:t>
            </a:r>
            <a:r>
              <a:rPr sz="1300" b="0">
                <a:solidFill>
                  <a:srgbClr val="E8EEF6"/>
                </a:solidFill>
                <a:latin typeface="Consolas"/>
                <a:ea typeface="맑은 고딕"/>
                <a:cs typeface="맑은 고딕"/>
              </a:rPr>
              <a:t> VS1 </a:t>
            </a:r>
            <a:r>
              <a:rPr sz="1300" b="0">
                <a:solidFill>
                  <a:srgbClr val="E8EEF6"/>
                </a:solidFill>
                <a:latin typeface="맑은 고딕"/>
                <a:ea typeface="맑은 고딕"/>
                <a:cs typeface="맑은 고딕"/>
              </a:rPr>
              <a:t>평균이</a:t>
            </a:r>
          </a:p>
          <a:p>
            <a:pPr algn="l" eaLnBrk="0">
              <a:lnSpc>
                <a:spcPct val="110000"/>
              </a:lnSpc>
              <a:spcAft>
                <a:spcPts val="200"/>
              </a:spcAft>
            </a:pPr>
            <a:r>
              <a:rPr sz="1300" b="0">
                <a:solidFill>
                  <a:srgbClr val="E8EEF6"/>
                </a:solidFill>
                <a:latin typeface="Consolas"/>
                <a:ea typeface="맑은 고딕"/>
                <a:cs typeface="맑은 고딕"/>
              </a:rPr>
              <a:t>0.9</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mm/s </a:t>
            </a:r>
            <a:r>
              <a:rPr sz="1300" b="0">
                <a:solidFill>
                  <a:srgbClr val="E8EEF6"/>
                </a:solidFill>
                <a:latin typeface="맑은 고딕"/>
                <a:ea typeface="맑은 고딕"/>
                <a:cs typeface="맑은 고딕"/>
              </a:rPr>
              <a:t>미만</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팬은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이면</a:t>
            </a:r>
          </a:p>
          <a:p>
            <a:pPr algn="l" eaLnBrk="0">
              <a:lnSpc>
                <a:spcPct val="110000"/>
              </a:lnSpc>
              <a:spcAft>
                <a:spcPts val="200"/>
              </a:spcAft>
            </a:pP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판정한다</a:t>
            </a:r>
            <a:r>
              <a:rPr sz="1300" b="0">
                <a:solidFill>
                  <a:srgbClr val="E8EEF6"/>
                </a:solidFill>
                <a:latin typeface="Consolas"/>
                <a:ea typeface="맑은 고딕"/>
                <a:cs typeface="맑은 고딕"/>
              </a:rPr>
              <a:t>.</a:t>
            </a:r>
          </a:p>
        </p:txBody>
      </p:sp>
      <p:sp>
        <p:nvSpPr>
          <p:cNvPr id="8" name="TextBox 7"/>
          <p:cNvSpPr txBox="1"/>
          <p:nvPr/>
        </p:nvSpPr>
        <p:spPr>
          <a:xfrm>
            <a:off x="7635240" y="2099310"/>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들어 있는 것</a:t>
            </a:r>
          </a:p>
          <a:p>
            <a:pPr algn="l" eaLnBrk="0">
              <a:lnSpc>
                <a:spcPct val="110000"/>
              </a:lnSpc>
              <a:spcAft>
                <a:spcPts val="400"/>
              </a:spcAft>
            </a:pPr>
            <a:r>
              <a:rPr sz="1400" b="0">
                <a:solidFill>
                  <a:srgbClr val="1F2A3A"/>
                </a:solidFill>
                <a:latin typeface="맑은 고딕"/>
                <a:ea typeface="맑은 고딕"/>
                <a:cs typeface="맑은 고딕"/>
              </a:rPr>
              <a:t>원인 후보, 확인할 값, 기준이다. 사람이 읽고 해석해야 하는 문장이다. 아래 세 연결은 없다.</a:t>
            </a:r>
          </a:p>
        </p:txBody>
      </p:sp>
      <p:sp>
        <p:nvSpPr>
          <p:cNvPr id="9" name="TextBox 8"/>
          <p:cNvSpPr txBox="1"/>
          <p:nvPr/>
        </p:nvSpPr>
        <p:spPr>
          <a:xfrm>
            <a:off x="7635240" y="3045332"/>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경보 → 매뉴얼 대목</a:t>
            </a:r>
          </a:p>
          <a:p>
            <a:pPr algn="l" eaLnBrk="0">
              <a:lnSpc>
                <a:spcPct val="110000"/>
              </a:lnSpc>
              <a:spcAft>
                <a:spcPts val="400"/>
              </a:spcAft>
            </a:pPr>
            <a:r>
              <a:rPr sz="1400" b="0">
                <a:solidFill>
                  <a:srgbClr val="1F2A3A"/>
                </a:solidFill>
                <a:latin typeface="맑은 고딕"/>
                <a:ea typeface="맑은 고딕"/>
                <a:cs typeface="맑은 고딕"/>
              </a:rPr>
              <a:t>이 경보에는 매뉴얼의 어느 대목이 해당하는가</a:t>
            </a:r>
          </a:p>
        </p:txBody>
      </p:sp>
      <p:sp>
        <p:nvSpPr>
          <p:cNvPr id="10" name="TextBox 9"/>
          <p:cNvSpPr txBox="1"/>
          <p:nvPr/>
        </p:nvSpPr>
        <p:spPr>
          <a:xfrm>
            <a:off x="7635240" y="3991356"/>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기준 → 태그 값</a:t>
            </a:r>
          </a:p>
          <a:p>
            <a:pPr algn="l" eaLnBrk="0">
              <a:lnSpc>
                <a:spcPct val="110000"/>
              </a:lnSpc>
              <a:spcAft>
                <a:spcPts val="400"/>
              </a:spcAft>
            </a:pPr>
            <a:r>
              <a:rPr sz="1400" b="0">
                <a:solidFill>
                  <a:srgbClr val="1F2A3A"/>
                </a:solidFill>
                <a:latin typeface="맑은 고딕"/>
                <a:ea typeface="맑은 고딕"/>
                <a:cs typeface="맑은 고딕"/>
              </a:rPr>
              <a:t>그 대목의 기준은 어느 태그의 값과 비교하는가</a:t>
            </a:r>
          </a:p>
        </p:txBody>
      </p:sp>
      <p:sp>
        <p:nvSpPr>
          <p:cNvPr id="11" name="TextBox 10"/>
          <p:cNvSpPr txBox="1"/>
          <p:nvPr/>
        </p:nvSpPr>
        <p:spPr>
          <a:xfrm>
            <a:off x="7635240" y="4937379"/>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원인 → 조치</a:t>
            </a:r>
          </a:p>
          <a:p>
            <a:pPr algn="l" eaLnBrk="0">
              <a:lnSpc>
                <a:spcPct val="110000"/>
              </a:lnSpc>
              <a:spcAft>
                <a:spcPts val="400"/>
              </a:spcAft>
            </a:pPr>
            <a:r>
              <a:rPr sz="1400" b="0">
                <a:solidFill>
                  <a:srgbClr val="1F2A3A"/>
                </a:solidFill>
                <a:latin typeface="맑은 고딕"/>
                <a:ea typeface="맑은 고딕"/>
                <a:cs typeface="맑은 고딕"/>
              </a:rPr>
              <a:t>그 원인이면 어떤 조치가 맞는가</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숙련자의 판단 경로와 기록되지 않은 연결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숙련자는 증상에서 원인과 조치를 잇지만, 연결을 기록하지 않으면 같은 정보에서도 판단 경로가 달라진다.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단계</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머릿속에서 잇는 연결</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한계</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증상·고장 유형·원인 후보</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유온 상승 → 쿨러 냉각 성능 상실</a:t>
            </a:r>
          </a:p>
          <a:p>
            <a:pPr algn="l" eaLnBrk="0">
              <a:lnSpc>
                <a:spcPct val="110000"/>
              </a:lnSpc>
            </a:pPr>
            <a:r>
              <a:rPr sz="1400" b="0">
                <a:solidFill>
                  <a:srgbClr val="1F2A3A"/>
                </a:solidFill>
                <a:latin typeface="맑은 고딕"/>
                <a:ea typeface="맑은 고딕"/>
                <a:cs typeface="맑은 고딕"/>
              </a:rPr>
              <a:t>경험과 매뉴얼에서 핀 오염·팬 구동 불량·주변 온도 상승을 꼽는다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사람마다</a:t>
            </a:r>
          </a:p>
          <a:p>
            <a:pPr algn="l" eaLnBrk="0">
              <a:lnSpc>
                <a:spcPct val="110000"/>
              </a:lnSpc>
            </a:pPr>
            <a:r>
              <a:rPr sz="1250" b="1">
                <a:solidFill>
                  <a:srgbClr val="556175"/>
                </a:solidFill>
                <a:latin typeface="맑은 고딕"/>
                <a:ea typeface="맑은 고딕"/>
                <a:cs typeface="맑은 고딕"/>
              </a:rPr>
              <a:t>후보와 순서가 다름</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증거 대조</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원인마다 어떤 센서를 볼지 정한다</a:t>
            </a:r>
          </a:p>
          <a:p>
            <a:pPr algn="l" eaLnBrk="0">
              <a:lnSpc>
                <a:spcPct val="110000"/>
              </a:lnSpc>
            </a:pPr>
            <a:r>
              <a:rPr sz="1400" b="0">
                <a:solidFill>
                  <a:srgbClr val="1F2A3A"/>
                </a:solidFill>
                <a:latin typeface="맑은 고딕"/>
                <a:ea typeface="맑은 고딕"/>
                <a:cs typeface="맑은 고딕"/>
              </a:rPr>
              <a:t>냉각 효율·팬 진동·캐비닛 온도를 찾아 기준과 비교한다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숙련자가 없으면</a:t>
            </a:r>
          </a:p>
          <a:p>
            <a:pPr algn="l" eaLnBrk="0">
              <a:lnSpc>
                <a:spcPct val="110000"/>
              </a:lnSpc>
            </a:pPr>
            <a:r>
              <a:rPr sz="1250" b="1">
                <a:solidFill>
                  <a:srgbClr val="556175"/>
                </a:solidFill>
                <a:latin typeface="맑은 고딕"/>
                <a:ea typeface="맑은 고딕"/>
                <a:cs typeface="맑은 고딕"/>
              </a:rPr>
              <a:t>판단이 늦어짐</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조치 선택</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원인에 맞는 조치를 고른다</a:t>
            </a:r>
          </a:p>
          <a:p>
            <a:pPr algn="l" eaLnBrk="0">
              <a:lnSpc>
                <a:spcPct val="110000"/>
              </a:lnSpc>
            </a:pPr>
            <a:r>
              <a:rPr sz="1400" b="0">
                <a:solidFill>
                  <a:srgbClr val="1F2A3A"/>
                </a:solidFill>
                <a:latin typeface="맑은 고딕"/>
                <a:ea typeface="맑은 고딕"/>
                <a:cs typeface="맑은 고딕"/>
              </a:rPr>
              <a:t>생산 일정의 제약까지 고려해 실행할 조치를 정한다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연결이 없으면</a:t>
            </a:r>
          </a:p>
          <a:p>
            <a:pPr algn="l" eaLnBrk="0">
              <a:lnSpc>
                <a:spcPct val="110000"/>
              </a:lnSpc>
            </a:pPr>
            <a:r>
              <a:rPr sz="1250" b="1">
                <a:solidFill>
                  <a:srgbClr val="1A6FC4"/>
                </a:solidFill>
                <a:latin typeface="맑은 고딕"/>
                <a:ea typeface="맑은 고딕"/>
                <a:cs typeface="맑은 고딕"/>
              </a:rPr>
              <a:t>컴퓨터가 같은</a:t>
            </a:r>
          </a:p>
          <a:p>
            <a:pPr algn="l" eaLnBrk="0">
              <a:lnSpc>
                <a:spcPct val="110000"/>
              </a:lnSpc>
            </a:pPr>
            <a:r>
              <a:rPr sz="1250" b="1">
                <a:solidFill>
                  <a:srgbClr val="1A6FC4"/>
                </a:solidFill>
                <a:latin typeface="맑은 고딕"/>
                <a:ea typeface="맑은 고딕"/>
                <a:cs typeface="맑은 고딕"/>
              </a:rPr>
              <a:t>경로를 못 따름</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표·문서·코드에서 지식을 분리하는 이유</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표 사이의 연결과 코드 속 판단 기준을 별도 지식으로 적으면, 사람과 컴퓨터가 함께 검토하고 고칠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표에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펼치면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같은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반복된다</a:t>
            </a:r>
          </a:p>
          <a:p>
            <a:pPr algn="l" eaLnBrk="0">
              <a:lnSpc>
                <a:spcPct val="110000"/>
              </a:lnSpc>
              <a:spcAft>
                <a:spcPts val="200"/>
              </a:spcAft>
            </a:pP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a:t>
            </a:r>
          </a:p>
          <a:p>
            <a:pPr algn="l" eaLnBrk="0">
              <a:lnSpc>
                <a:spcPct val="110000"/>
              </a:lnSpc>
              <a:spcAft>
                <a:spcPts val="200"/>
              </a:spcAft>
            </a:pP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       CE</a:t>
            </a:r>
          </a:p>
          <a:p>
            <a:pPr algn="l" eaLnBrk="0">
              <a:lnSpc>
                <a:spcPct val="110000"/>
              </a:lnSpc>
              <a:spcAft>
                <a:spcPts val="200"/>
              </a:spcAft>
            </a:pP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       VS1</a:t>
            </a:r>
          </a:p>
          <a:p>
            <a:pPr algn="l" eaLnBrk="0">
              <a:lnSpc>
                <a:spcPct val="110000"/>
              </a:lnSpc>
              <a:spcAft>
                <a:spcPts val="200"/>
              </a:spcAft>
            </a:pP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구동</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불량</a:t>
            </a:r>
            <a:r>
              <a:rPr sz="1300" b="0">
                <a:solidFill>
                  <a:srgbClr val="E8EEF6"/>
                </a:solidFill>
                <a:latin typeface="Consolas"/>
                <a:ea typeface="맑은 고딕"/>
                <a:cs typeface="맑은 고딕"/>
              </a:rPr>
              <a:t>   VS1</a:t>
            </a:r>
          </a:p>
          <a:p>
            <a:pPr algn="l" eaLnBrk="0">
              <a:lnSpc>
                <a:spcPct val="110000"/>
              </a:lnSpc>
              <a:spcAft>
                <a:spcPts val="200"/>
              </a:spcAft>
            </a:pP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주변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온도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상승</a:t>
            </a:r>
            <a:r>
              <a:rPr sz="1300" b="0">
                <a:solidFill>
                  <a:srgbClr val="E8EEF6"/>
                </a:solidFill>
                <a:latin typeface="Consolas"/>
                <a:ea typeface="맑은 고딕"/>
                <a:cs typeface="맑은 고딕"/>
              </a:rPr>
              <a:t> TS4</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코드에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직접</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적은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예</a:t>
            </a:r>
          </a:p>
          <a:p>
            <a:pPr algn="l" eaLnBrk="0">
              <a:lnSpc>
                <a:spcPct val="110000"/>
              </a:lnSpc>
              <a:spcAft>
                <a:spcPts val="200"/>
              </a:spcAft>
            </a:pPr>
            <a:r>
              <a:rPr sz="1300" b="0">
                <a:solidFill>
                  <a:srgbClr val="E8EEF6"/>
                </a:solidFill>
                <a:latin typeface="Consolas"/>
                <a:ea typeface="맑은 고딕"/>
                <a:cs typeface="맑은 고딕"/>
              </a:rPr>
              <a:t>if CE_avg_30s &lt; 70 and VS1_avg_2m &lt; 0.9:</a:t>
            </a:r>
          </a:p>
          <a:p>
            <a:pPr algn="l" eaLnBrk="0">
              <a:lnSpc>
                <a:spcPct val="110000"/>
              </a:lnSpc>
              <a:spcAft>
                <a:spcPts val="200"/>
              </a:spcAft>
            </a:pPr>
            <a:r>
              <a:rPr sz="1300" b="0">
                <a:solidFill>
                  <a:srgbClr val="E8EEF6"/>
                </a:solidFill>
                <a:latin typeface="Consolas"/>
                <a:ea typeface="맑은 고딕"/>
                <a:cs typeface="맑은 고딕"/>
              </a:rPr>
              <a:t>    cause =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표</a:t>
            </a:r>
          </a:p>
          <a:p>
            <a:pPr algn="l" eaLnBrk="0">
              <a:lnSpc>
                <a:spcPct val="110000"/>
              </a:lnSpc>
              <a:spcAft>
                <a:spcPts val="400"/>
              </a:spcAft>
            </a:pPr>
            <a:r>
              <a:rPr sz="1400" b="0">
                <a:solidFill>
                  <a:srgbClr val="1F2A3A"/>
                </a:solidFill>
                <a:latin typeface="맑은 고딕"/>
                <a:ea typeface="맑은 고딕"/>
                <a:cs typeface="맑은 고딕"/>
              </a:rPr>
              <a:t>같은 고장 유형이 네 행에 반복된다. 표 사이의 의미 연결은 따로 정의해야 한다.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문서</a:t>
            </a:r>
          </a:p>
          <a:p>
            <a:pPr algn="l" eaLnBrk="0">
              <a:lnSpc>
                <a:spcPct val="110000"/>
              </a:lnSpc>
              <a:spcAft>
                <a:spcPts val="400"/>
              </a:spcAft>
            </a:pPr>
            <a:r>
              <a:rPr sz="1400" b="0">
                <a:solidFill>
                  <a:srgbClr val="1F2A3A"/>
                </a:solidFill>
                <a:latin typeface="맑은 고딕"/>
                <a:ea typeface="맑은 고딕"/>
                <a:cs typeface="맑은 고딕"/>
              </a:rPr>
              <a:t>매뉴얼 문장은 사람이 해석한다. 같은 대상을 문서마다 다르게 부르기도 한다.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프로그램 코드</a:t>
            </a:r>
          </a:p>
          <a:p>
            <a:pPr algn="l" eaLnBrk="0">
              <a:lnSpc>
                <a:spcPct val="110000"/>
              </a:lnSpc>
              <a:spcAft>
                <a:spcPts val="400"/>
              </a:spcAft>
            </a:pPr>
            <a:r>
              <a:rPr sz="1400" b="0">
                <a:solidFill>
                  <a:srgbClr val="1F2A3A"/>
                </a:solidFill>
                <a:latin typeface="맑은 고딕"/>
                <a:ea typeface="맑은 고딕"/>
                <a:cs typeface="맑은 고딕"/>
              </a:rPr>
              <a:t>기준 변경에 코드 수정이 필요하다. 판단 근거와 출처도 별도로 기록해야 한다.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분리된 지식</a:t>
            </a:r>
          </a:p>
          <a:p>
            <a:pPr algn="l" eaLnBrk="0">
              <a:lnSpc>
                <a:spcPct val="110000"/>
              </a:lnSpc>
              <a:spcAft>
                <a:spcPts val="400"/>
              </a:spcAft>
            </a:pPr>
            <a:r>
              <a:rPr sz="1400" b="0">
                <a:solidFill>
                  <a:srgbClr val="1F2A3A"/>
                </a:solidFill>
                <a:latin typeface="맑은 고딕"/>
                <a:ea typeface="맑은 고딕"/>
                <a:cs typeface="맑은 고딕"/>
              </a:rPr>
              <a:t>대상과 관계를 사람이 검토하고 컴퓨터가 따라가게 적는다. 프로그램과 별개로 고친다.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AI에게 그대로 묻는 방식과 지식을 조회하게 하는 방식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AI가 설비의 지식과 현재 값을 조회하고 기록해야, 답이 무엇에 근거했는지 확인할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179383"/>
            <a:ext cx="731520" cy="731520"/>
          </a:xfrm>
          <a:prstGeom prst="ellipse">
            <a:avLst/>
          </a:prstGeom>
          <a:solidFill>
            <a:srgbClr val="FFFFFF"/>
          </a:solidFill>
          <a:ln>
            <a:noFill/>
          </a:ln>
        </p:spPr>
        <p:txBody>
          <a:bodyPr rtlCol="0" anchor="ctr"/>
          <a:lstStyle/>
          <a:p>
            <a:pPr algn="ctr"/>
          </a:p>
        </p:txBody>
      </p:sp>
      <p:pic>
        <p:nvPicPr>
          <p:cNvPr id="8" name="아이콘:message-chatbot" descr="message-chatbot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AI에게 그대로 묻는다</a:t>
            </a:r>
          </a:p>
        </p:txBody>
      </p:sp>
      <p:sp>
        <p:nvSpPr>
          <p:cNvPr id="10" name="TextBox 9"/>
          <p:cNvSpPr txBox="1"/>
          <p:nvPr/>
        </p:nvSpPr>
        <p:spPr>
          <a:xfrm>
            <a:off x="822959" y="3029775"/>
            <a:ext cx="4632807" cy="2426081"/>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일반적인 유압 설비 지식으로 그럴듯한 답을 낸다</a:t>
            </a:r>
          </a:p>
          <a:p>
            <a:pPr algn="l" eaLnBrk="0" marL="165735" indent="-165735">
              <a:lnSpc>
                <a:spcPct val="110000"/>
              </a:lnSpc>
              <a:spcAft>
                <a:spcPts val="600"/>
              </a:spcAft>
            </a:pPr>
            <a:r>
              <a:rPr sz="1450" b="0">
                <a:solidFill>
                  <a:srgbClr val="1F2A3A"/>
                </a:solidFill>
                <a:latin typeface="맑은 고딕"/>
                <a:ea typeface="맑은 고딕"/>
                <a:cs typeface="맑은 고딕"/>
              </a:rPr>
              <a:t>• 이 설비의 매뉴얼과 판별 기준을 알지 못한다</a:t>
            </a:r>
          </a:p>
          <a:p>
            <a:pPr algn="l" eaLnBrk="0" marL="165735" indent="-165735">
              <a:lnSpc>
                <a:spcPct val="110000"/>
              </a:lnSpc>
              <a:spcAft>
                <a:spcPts val="600"/>
              </a:spcAft>
            </a:pPr>
            <a:r>
              <a:rPr sz="1450" b="0">
                <a:solidFill>
                  <a:srgbClr val="1F2A3A"/>
                </a:solidFill>
                <a:latin typeface="맑은 고딕"/>
                <a:ea typeface="맑은 고딕"/>
                <a:cs typeface="맑은 고딕"/>
              </a:rPr>
              <a:t>• 현재 센서 값을 보지 못한다</a:t>
            </a:r>
          </a:p>
          <a:p>
            <a:pPr algn="l" eaLnBrk="0" marL="165735" indent="-165735">
              <a:lnSpc>
                <a:spcPct val="110000"/>
              </a:lnSpc>
              <a:spcAft>
                <a:spcPts val="600"/>
              </a:spcAft>
            </a:pPr>
            <a:r>
              <a:rPr sz="1450" b="0">
                <a:solidFill>
                  <a:srgbClr val="1F2A3A"/>
                </a:solidFill>
                <a:latin typeface="맑은 고딕"/>
                <a:ea typeface="맑은 고딕"/>
                <a:cs typeface="맑은 고딕"/>
              </a:rPr>
              <a:t>• 답의 근거를 확인할 방법이 없다</a:t>
            </a:r>
          </a:p>
        </p:txBody>
      </p:sp>
      <p:sp>
        <p:nvSpPr>
          <p:cNvPr id="11" name="Rounded Rectangle 10"/>
          <p:cNvSpPr/>
          <p:nvPr/>
        </p:nvSpPr>
        <p:spPr>
          <a:xfrm>
            <a:off x="868680" y="5547296"/>
            <a:ext cx="187452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547296"/>
            <a:ext cx="18745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근거를 확인할 수 없다</a:t>
            </a:r>
          </a:p>
        </p:txBody>
      </p:sp>
      <p:sp>
        <p:nvSpPr>
          <p:cNvPr id="13" name="Rounded Rectangle 12"/>
          <p:cNvSpPr/>
          <p:nvPr/>
        </p:nvSpPr>
        <p:spPr>
          <a:xfrm>
            <a:off x="6461607" y="1978215"/>
            <a:ext cx="5181447" cy="402628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179383"/>
            <a:ext cx="731520" cy="731520"/>
          </a:xfrm>
          <a:prstGeom prst="ellipse">
            <a:avLst/>
          </a:prstGeom>
          <a:solidFill>
            <a:srgbClr val="5CB8F2"/>
          </a:solidFill>
          <a:ln>
            <a:noFill/>
          </a:ln>
        </p:spPr>
        <p:txBody>
          <a:bodyPr rtlCol="0" anchor="ctr"/>
          <a:lstStyle/>
          <a:p>
            <a:pPr algn="ctr"/>
          </a:p>
        </p:txBody>
      </p:sp>
      <p:pic>
        <p:nvPicPr>
          <p:cNvPr id="15" name="아이콘:report-search" descr="report-search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지식을 조회하게 한다</a:t>
            </a:r>
          </a:p>
        </p:txBody>
      </p:sp>
      <p:sp>
        <p:nvSpPr>
          <p:cNvPr id="17" name="TextBox 16"/>
          <p:cNvSpPr txBox="1"/>
          <p:nvPr/>
        </p:nvSpPr>
        <p:spPr>
          <a:xfrm>
            <a:off x="6735927" y="3029775"/>
            <a:ext cx="4632807" cy="2426081"/>
          </a:xfrm>
          <a:prstGeom prst="rect">
            <a:avLst/>
          </a:prstGeom>
          <a:noFill/>
        </p:spPr>
        <p:txBody>
          <a:bodyPr wrap="square" anchor="t"/>
          <a:lstStyle/>
          <a:p>
            <a:pPr algn="l" eaLnBrk="0" marL="160020" indent="-160020">
              <a:lnSpc>
                <a:spcPct val="110000"/>
              </a:lnSpc>
              <a:spcAft>
                <a:spcPts val="600"/>
              </a:spcAft>
            </a:pPr>
            <a:r>
              <a:rPr sz="1400" b="0">
                <a:solidFill>
                  <a:srgbClr val="1F2A3A"/>
                </a:solidFill>
                <a:latin typeface="맑은 고딕"/>
                <a:ea typeface="맑은 고딕"/>
                <a:cs typeface="맑은 고딕"/>
              </a:rPr>
              <a:t>• 적어 둔 관계를 따라 원인 후보와 판별 기준을 찾는다</a:t>
            </a:r>
          </a:p>
          <a:p>
            <a:pPr algn="l" eaLnBrk="0" marL="160020" indent="-160020">
              <a:lnSpc>
                <a:spcPct val="110000"/>
              </a:lnSpc>
              <a:spcAft>
                <a:spcPts val="600"/>
              </a:spcAft>
            </a:pPr>
            <a:r>
              <a:rPr sz="1400" b="0">
                <a:solidFill>
                  <a:srgbClr val="1F2A3A"/>
                </a:solidFill>
                <a:latin typeface="맑은 고딕"/>
                <a:ea typeface="맑은 고딕"/>
                <a:cs typeface="맑은 고딕"/>
              </a:rPr>
              <a:t>• 기준에 적힌 값을 저장소에서 읽어 대조한다</a:t>
            </a:r>
          </a:p>
          <a:p>
            <a:pPr algn="l" eaLnBrk="0" marL="160020" indent="-160020">
              <a:lnSpc>
                <a:spcPct val="110000"/>
              </a:lnSpc>
              <a:spcAft>
                <a:spcPts val="600"/>
              </a:spcAft>
            </a:pPr>
            <a:r>
              <a:rPr sz="1400" b="0">
                <a:solidFill>
                  <a:srgbClr val="1F2A3A"/>
                </a:solidFill>
                <a:latin typeface="맑은 고딕"/>
                <a:ea typeface="맑은 고딕"/>
                <a:cs typeface="맑은 고딕"/>
              </a:rPr>
              <a:t>• 값이 오래되었거나 비어 있으면 판정을 보류한다</a:t>
            </a:r>
          </a:p>
          <a:p>
            <a:pPr algn="l" eaLnBrk="0" marL="160020" indent="-160020">
              <a:lnSpc>
                <a:spcPct val="110000"/>
              </a:lnSpc>
              <a:spcAft>
                <a:spcPts val="600"/>
              </a:spcAft>
            </a:pPr>
            <a:r>
              <a:rPr sz="1400" b="0">
                <a:solidFill>
                  <a:srgbClr val="1F2A3A"/>
                </a:solidFill>
                <a:latin typeface="맑은 고딕"/>
                <a:ea typeface="맑은 고딕"/>
                <a:cs typeface="맑은 고딕"/>
              </a:rPr>
              <a:t>• 어떤 지식과 값으로 판단했는지 기록에 남는다</a:t>
            </a:r>
          </a:p>
          <a:p>
            <a:pPr algn="l" eaLnBrk="0" marL="160020" indent="-160020">
              <a:lnSpc>
                <a:spcPct val="110000"/>
              </a:lnSpc>
              <a:spcAft>
                <a:spcPts val="600"/>
              </a:spcAft>
            </a:pPr>
            <a:r>
              <a:rPr sz="1400" b="0">
                <a:solidFill>
                  <a:srgbClr val="1F2A3A"/>
                </a:solidFill>
                <a:latin typeface="맑은 고딕"/>
                <a:ea typeface="맑은 고딕"/>
                <a:cs typeface="맑은 고딕"/>
              </a:rPr>
              <a:t>• 쿨러 사건: 팬 진동 2분 구간의 값 120개, 가장 긴 틈 약 1초</a:t>
            </a:r>
          </a:p>
        </p:txBody>
      </p:sp>
      <p:sp>
        <p:nvSpPr>
          <p:cNvPr id="18" name="Rounded Rectangle 17"/>
          <p:cNvSpPr/>
          <p:nvPr/>
        </p:nvSpPr>
        <p:spPr>
          <a:xfrm>
            <a:off x="6781647" y="5547296"/>
            <a:ext cx="132587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547296"/>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근거가 남는다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05</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온톨로지의 정의와 관계</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대상의 종류, 속성, 관계, 제약을 정의해 사람과 컴퓨터가 같은 뜻으로 쓰게 하는 방법</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온톨로지: 공통 의미를 정의하는 지식 모델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온톨로지는 대상의 종류·속성·관계·제약을 </a:t>
            </a:r>
            <a:r>
              <a:rPr sz="1600" b="1">
                <a:solidFill>
                  <a:srgbClr val="1A6FC4"/>
                </a:solidFill>
                <a:latin typeface="맑은 고딕"/>
                <a:ea typeface="맑은 고딕"/>
                <a:cs typeface="맑은 고딕"/>
              </a:rPr>
              <a:t>명시적으로 정의</a:t>
            </a:r>
            <a:r>
              <a:rPr sz="1600" b="0">
                <a:solidFill>
                  <a:srgbClr val="556175"/>
                </a:solidFill>
                <a:latin typeface="맑은 고딕"/>
                <a:ea typeface="맑은 고딕"/>
                <a:cs typeface="맑은 고딕"/>
              </a:rPr>
              <a:t>해 사람과 컴퓨터가 함께 쓰는 지식 모델이다.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1655064"/>
            <a:ext cx="11094415" cy="890625"/>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627632"/>
            <a:ext cx="3291839" cy="945489"/>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온톨로지(Ontology)</a:t>
            </a:r>
          </a:p>
          <a:p>
            <a:pPr algn="l" eaLnBrk="0">
              <a:lnSpc>
                <a:spcPct val="110000"/>
              </a:lnSpc>
              <a:spcAft>
                <a:spcPts val="200"/>
              </a:spcAft>
            </a:pPr>
            <a:r>
              <a:rPr sz="1150" b="0">
                <a:solidFill>
                  <a:srgbClr val="556175"/>
                </a:solidFill>
                <a:latin typeface="맑은 고딕"/>
                <a:ea typeface="맑은 고딕"/>
                <a:cs typeface="맑은 고딕"/>
              </a:rPr>
              <a:t>공통 의미</a:t>
            </a:r>
          </a:p>
        </p:txBody>
      </p:sp>
      <p:sp>
        <p:nvSpPr>
          <p:cNvPr id="8" name="TextBox 7"/>
          <p:cNvSpPr txBox="1"/>
          <p:nvPr/>
        </p:nvSpPr>
        <p:spPr>
          <a:xfrm>
            <a:off x="4023359" y="1627632"/>
            <a:ext cx="7528255" cy="945489"/>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한 분야의 대상과 관계를 정해진 형식으로 정의한 지식 모델이다.</a:t>
            </a:r>
          </a:p>
          <a:p>
            <a:pPr algn="l" eaLnBrk="0">
              <a:lnSpc>
                <a:spcPct val="110000"/>
              </a:lnSpc>
              <a:spcAft>
                <a:spcPts val="300"/>
              </a:spcAft>
            </a:pPr>
            <a:r>
              <a:rPr sz="1400" b="0">
                <a:solidFill>
                  <a:srgbClr val="1F2A3A"/>
                </a:solidFill>
                <a:latin typeface="맑은 고딕"/>
                <a:ea typeface="맑은 고딕"/>
                <a:cs typeface="맑은 고딕"/>
              </a:rPr>
              <a:t>「쿨러 핀 오염」이 누구에게나 같은 대상을 뜻하게 한다.</a:t>
            </a:r>
          </a:p>
        </p:txBody>
      </p:sp>
      <p:sp>
        <p:nvSpPr>
          <p:cNvPr id="9" name="Rectangle 8"/>
          <p:cNvSpPr/>
          <p:nvPr/>
        </p:nvSpPr>
        <p:spPr>
          <a:xfrm>
            <a:off x="548640" y="2563977"/>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2573121"/>
            <a:ext cx="3291839" cy="945489"/>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종류</a:t>
            </a:r>
          </a:p>
          <a:p>
            <a:pPr algn="l" eaLnBrk="0">
              <a:lnSpc>
                <a:spcPct val="110000"/>
              </a:lnSpc>
              <a:spcAft>
                <a:spcPts val="200"/>
              </a:spcAft>
            </a:pPr>
            <a:r>
              <a:rPr sz="1150" b="0">
                <a:solidFill>
                  <a:srgbClr val="556175"/>
                </a:solidFill>
                <a:latin typeface="맑은 고딕"/>
                <a:ea typeface="맑은 고딕"/>
                <a:cs typeface="맑은 고딕"/>
              </a:rPr>
              <a:t>대상의 갈래</a:t>
            </a:r>
          </a:p>
        </p:txBody>
      </p:sp>
      <p:sp>
        <p:nvSpPr>
          <p:cNvPr id="11" name="TextBox 10"/>
          <p:cNvSpPr txBox="1"/>
          <p:nvPr/>
        </p:nvSpPr>
        <p:spPr>
          <a:xfrm>
            <a:off x="4023359" y="2573121"/>
            <a:ext cx="7528255" cy="945489"/>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설비 쪽: 설비·구성 요소·센서</a:t>
            </a:r>
          </a:p>
          <a:p>
            <a:pPr algn="l" eaLnBrk="0">
              <a:lnSpc>
                <a:spcPct val="110000"/>
              </a:lnSpc>
              <a:spcAft>
                <a:spcPts val="300"/>
              </a:spcAft>
            </a:pPr>
            <a:r>
              <a:rPr sz="1400" b="0">
                <a:solidFill>
                  <a:srgbClr val="1F2A3A"/>
                </a:solidFill>
                <a:latin typeface="맑은 고딕"/>
                <a:ea typeface="맑은 고딕"/>
                <a:cs typeface="맑은 고딕"/>
              </a:rPr>
              <a:t>진단 쪽: 이상 패턴·증상·고장 유형·원인·증거</a:t>
            </a:r>
          </a:p>
          <a:p>
            <a:pPr algn="l" eaLnBrk="0">
              <a:lnSpc>
                <a:spcPct val="110000"/>
              </a:lnSpc>
              <a:spcAft>
                <a:spcPts val="300"/>
              </a:spcAft>
            </a:pPr>
            <a:r>
              <a:rPr sz="1400" b="0">
                <a:solidFill>
                  <a:srgbClr val="1F2A3A"/>
                </a:solidFill>
                <a:latin typeface="맑은 고딕"/>
                <a:ea typeface="맑은 고딕"/>
                <a:cs typeface="맑은 고딕"/>
              </a:rPr>
              <a:t>조치 쪽: 조치 방법·근거 문서</a:t>
            </a:r>
          </a:p>
        </p:txBody>
      </p:sp>
      <p:sp>
        <p:nvSpPr>
          <p:cNvPr id="12" name="Rectangle 11"/>
          <p:cNvSpPr/>
          <p:nvPr/>
        </p:nvSpPr>
        <p:spPr>
          <a:xfrm>
            <a:off x="548640" y="3509467"/>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3518611"/>
            <a:ext cx="3291839" cy="945489"/>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속성(Property)</a:t>
            </a:r>
          </a:p>
          <a:p>
            <a:pPr algn="l" eaLnBrk="0">
              <a:lnSpc>
                <a:spcPct val="110000"/>
              </a:lnSpc>
              <a:spcAft>
                <a:spcPts val="200"/>
              </a:spcAft>
            </a:pPr>
            <a:r>
              <a:rPr sz="1150" b="0">
                <a:solidFill>
                  <a:srgbClr val="556175"/>
                </a:solidFill>
                <a:latin typeface="맑은 고딕"/>
                <a:ea typeface="맑은 고딕"/>
                <a:cs typeface="맑은 고딕"/>
              </a:rPr>
              <a:t>값의 항목</a:t>
            </a:r>
          </a:p>
        </p:txBody>
      </p:sp>
      <p:sp>
        <p:nvSpPr>
          <p:cNvPr id="14" name="TextBox 13"/>
          <p:cNvSpPr txBox="1"/>
          <p:nvPr/>
        </p:nvSpPr>
        <p:spPr>
          <a:xfrm>
            <a:off x="4023359" y="3518611"/>
            <a:ext cx="7528255" cy="945489"/>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대상이 갖는 값을 담는 항목이다.</a:t>
            </a:r>
          </a:p>
          <a:p>
            <a:pPr algn="l" eaLnBrk="0">
              <a:lnSpc>
                <a:spcPct val="110000"/>
              </a:lnSpc>
              <a:spcAft>
                <a:spcPts val="300"/>
              </a:spcAft>
            </a:pPr>
            <a:r>
              <a:rPr sz="1400" b="0">
                <a:solidFill>
                  <a:srgbClr val="1F2A3A"/>
                </a:solidFill>
                <a:latin typeface="맑은 고딕"/>
                <a:ea typeface="맑은 고딕"/>
                <a:cs typeface="맑은 고딕"/>
              </a:rPr>
              <a:t>유온: 단위 ℃ · 정상값 48 ℃ · 한계 65 ℃</a:t>
            </a:r>
          </a:p>
        </p:txBody>
      </p:sp>
      <p:sp>
        <p:nvSpPr>
          <p:cNvPr id="15" name="Rectangle 14"/>
          <p:cNvSpPr/>
          <p:nvPr/>
        </p:nvSpPr>
        <p:spPr>
          <a:xfrm>
            <a:off x="548640" y="4454956"/>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4464100"/>
            <a:ext cx="3291839" cy="945489"/>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관계(Relationship)</a:t>
            </a:r>
          </a:p>
          <a:p>
            <a:pPr algn="l" eaLnBrk="0">
              <a:lnSpc>
                <a:spcPct val="110000"/>
              </a:lnSpc>
              <a:spcAft>
                <a:spcPts val="200"/>
              </a:spcAft>
            </a:pPr>
            <a:r>
              <a:rPr sz="1150" b="0">
                <a:solidFill>
                  <a:srgbClr val="556175"/>
                </a:solidFill>
                <a:latin typeface="맑은 고딕"/>
                <a:ea typeface="맑은 고딕"/>
                <a:cs typeface="맑은 고딕"/>
              </a:rPr>
              <a:t>이름과 방향</a:t>
            </a:r>
          </a:p>
        </p:txBody>
      </p:sp>
      <p:sp>
        <p:nvSpPr>
          <p:cNvPr id="17" name="TextBox 16"/>
          <p:cNvSpPr txBox="1"/>
          <p:nvPr/>
        </p:nvSpPr>
        <p:spPr>
          <a:xfrm>
            <a:off x="4023359" y="4464100"/>
            <a:ext cx="7528255" cy="945489"/>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이름과 방향으로 대상 사이의 뜻을 정한다.</a:t>
            </a:r>
          </a:p>
          <a:p>
            <a:pPr algn="l" eaLnBrk="0">
              <a:lnSpc>
                <a:spcPct val="110000"/>
              </a:lnSpc>
              <a:spcAft>
                <a:spcPts val="300"/>
              </a:spcAft>
            </a:pPr>
            <a:r>
              <a:rPr sz="1400" b="0">
                <a:solidFill>
                  <a:srgbClr val="1F2A3A"/>
                </a:solidFill>
                <a:latin typeface="맑은 고딕"/>
                <a:ea typeface="맑은 고딕"/>
                <a:cs typeface="맑은 고딕"/>
              </a:rPr>
              <a:t>MITIGATED_BY → 팬 최대 운전: 우선 완화</a:t>
            </a:r>
          </a:p>
          <a:p>
            <a:pPr algn="l" eaLnBrk="0">
              <a:lnSpc>
                <a:spcPct val="110000"/>
              </a:lnSpc>
              <a:spcAft>
                <a:spcPts val="300"/>
              </a:spcAft>
            </a:pPr>
            <a:r>
              <a:rPr sz="1400" b="0">
                <a:solidFill>
                  <a:srgbClr val="1F2A3A"/>
                </a:solidFill>
                <a:latin typeface="맑은 고딕"/>
                <a:ea typeface="맑은 고딕"/>
                <a:cs typeface="맑은 고딕"/>
              </a:rPr>
              <a:t>REMEDIED_BY → 쿨러 핀 세척: 근본 조치</a:t>
            </a:r>
          </a:p>
        </p:txBody>
      </p:sp>
      <p:sp>
        <p:nvSpPr>
          <p:cNvPr id="18" name="Rectangle 17"/>
          <p:cNvSpPr/>
          <p:nvPr/>
        </p:nvSpPr>
        <p:spPr>
          <a:xfrm>
            <a:off x="548640" y="540044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640080" y="5409590"/>
            <a:ext cx="3291839" cy="945489"/>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제약(Constraint)</a:t>
            </a:r>
          </a:p>
          <a:p>
            <a:pPr algn="l" eaLnBrk="0">
              <a:lnSpc>
                <a:spcPct val="110000"/>
              </a:lnSpc>
              <a:spcAft>
                <a:spcPts val="200"/>
              </a:spcAft>
            </a:pPr>
            <a:r>
              <a:rPr sz="1150" b="0">
                <a:solidFill>
                  <a:srgbClr val="556175"/>
                </a:solidFill>
                <a:latin typeface="맑은 고딕"/>
                <a:ea typeface="맑은 고딕"/>
                <a:cs typeface="맑은 고딕"/>
              </a:rPr>
              <a:t>검사할 기준</a:t>
            </a:r>
          </a:p>
        </p:txBody>
      </p:sp>
      <p:sp>
        <p:nvSpPr>
          <p:cNvPr id="20" name="TextBox 19"/>
          <p:cNvSpPr txBox="1"/>
          <p:nvPr/>
        </p:nvSpPr>
        <p:spPr>
          <a:xfrm>
            <a:off x="4023359" y="5409590"/>
            <a:ext cx="7528255" cy="945489"/>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관계 양 끝의 종류 등 올바른 연결의 조건을 정한다.</a:t>
            </a:r>
          </a:p>
          <a:p>
            <a:pPr algn="l" eaLnBrk="0">
              <a:lnSpc>
                <a:spcPct val="110000"/>
              </a:lnSpc>
              <a:spcAft>
                <a:spcPts val="300"/>
              </a:spcAft>
            </a:pPr>
            <a:r>
              <a:rPr sz="1400" b="0">
                <a:solidFill>
                  <a:srgbClr val="1F2A3A"/>
                </a:solidFill>
                <a:latin typeface="맑은 고딕"/>
                <a:ea typeface="맑은 고딕"/>
                <a:cs typeface="맑은 고딕"/>
              </a:rPr>
              <a:t>CAUSES는 원인에서 고장 유형으로 잇는다.</a:t>
            </a:r>
          </a:p>
          <a:p>
            <a:pPr algn="l" eaLnBrk="0">
              <a:lnSpc>
                <a:spcPct val="110000"/>
              </a:lnSpc>
              <a:spcAft>
                <a:spcPts val="300"/>
              </a:spcAft>
            </a:pPr>
            <a:r>
              <a:rPr sz="1400" b="0">
                <a:solidFill>
                  <a:srgbClr val="1F2A3A"/>
                </a:solidFill>
                <a:latin typeface="맑은 고딕"/>
                <a:ea typeface="맑은 고딕"/>
                <a:cs typeface="맑은 고딕"/>
              </a:rPr>
              <a:t>정의한 제약은 잘못된 연결을 검사할 기준이 된다.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같은 대상을 가리키는 여러 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온톨로지는 사람마다 다르게 부르는 말을 하나의 대상에 묶어, 누구나 같은 대상을 가리키게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2448814"/>
            <a:ext cx="2567863" cy="308508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649982"/>
            <a:ext cx="731520" cy="731520"/>
          </a:xfrm>
          <a:prstGeom prst="ellipse">
            <a:avLst/>
          </a:prstGeom>
          <a:solidFill>
            <a:srgbClr val="5CB8F2"/>
          </a:solidFill>
          <a:ln>
            <a:noFill/>
          </a:ln>
        </p:spPr>
        <p:txBody>
          <a:bodyPr rtlCol="0" anchor="ctr"/>
          <a:lstStyle/>
          <a:p>
            <a:pPr algn="ctr"/>
          </a:p>
        </p:txBody>
      </p:sp>
      <p:pic>
        <p:nvPicPr>
          <p:cNvPr id="8" name="아이콘:temperature" descr="temperature_13294B_1.6.png"/>
          <p:cNvPicPr>
            <a:picLocks noChangeAspect="1"/>
          </p:cNvPicPr>
          <p:nvPr/>
        </p:nvPicPr>
        <p:blipFill>
          <a:blip r:embed="rId3"/>
          <a:stretch>
            <a:fillRect/>
          </a:stretch>
        </p:blipFill>
        <p:spPr>
          <a:xfrm>
            <a:off x="930859" y="2803601"/>
            <a:ext cx="424281" cy="424281"/>
          </a:xfrm>
          <a:prstGeom prst="rect">
            <a:avLst/>
          </a:prstGeom>
        </p:spPr>
      </p:pic>
      <p:sp>
        <p:nvSpPr>
          <p:cNvPr id="9" name="TextBox 8"/>
          <p:cNvSpPr txBox="1"/>
          <p:nvPr/>
        </p:nvSpPr>
        <p:spPr>
          <a:xfrm>
            <a:off x="713232" y="3472942"/>
            <a:ext cx="2238679" cy="155803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유온 상승</a:t>
            </a:r>
          </a:p>
          <a:p>
            <a:pPr algn="l" eaLnBrk="0">
              <a:lnSpc>
                <a:spcPct val="110000"/>
              </a:lnSpc>
              <a:spcAft>
                <a:spcPts val="400"/>
              </a:spcAft>
            </a:pPr>
            <a:r>
              <a:rPr sz="1750" b="0">
                <a:solidFill>
                  <a:srgbClr val="1F2A3A"/>
                </a:solidFill>
                <a:latin typeface="맑은 고딕"/>
                <a:ea typeface="맑은 고딕"/>
                <a:cs typeface="맑은 고딕"/>
              </a:rPr>
              <a:t>「온도 상승」, 「과열」이라고도 부른다</a:t>
            </a:r>
          </a:p>
        </p:txBody>
      </p:sp>
      <p:sp>
        <p:nvSpPr>
          <p:cNvPr id="10" name="Rounded Rectangle 9"/>
          <p:cNvSpPr/>
          <p:nvPr/>
        </p:nvSpPr>
        <p:spPr>
          <a:xfrm>
            <a:off x="777240" y="5104130"/>
            <a:ext cx="822960"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510413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증상</a:t>
            </a:r>
          </a:p>
        </p:txBody>
      </p:sp>
      <p:sp>
        <p:nvSpPr>
          <p:cNvPr id="12" name="Rounded Rectangle 11"/>
          <p:cNvSpPr/>
          <p:nvPr/>
        </p:nvSpPr>
        <p:spPr>
          <a:xfrm>
            <a:off x="3390823" y="2448814"/>
            <a:ext cx="2567863" cy="308508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49982"/>
            <a:ext cx="731520" cy="731520"/>
          </a:xfrm>
          <a:prstGeom prst="ellipse">
            <a:avLst/>
          </a:prstGeom>
          <a:solidFill>
            <a:srgbClr val="E7F3FD"/>
          </a:solidFill>
          <a:ln>
            <a:noFill/>
          </a:ln>
        </p:spPr>
        <p:txBody>
          <a:bodyPr rtlCol="0" anchor="ctr"/>
          <a:lstStyle/>
          <a:p>
            <a:pPr algn="ctr"/>
          </a:p>
        </p:txBody>
      </p:sp>
      <p:pic>
        <p:nvPicPr>
          <p:cNvPr id="14" name="아이콘:wind" descr="wind_13294B_1.6.png"/>
          <p:cNvPicPr>
            <a:picLocks noChangeAspect="1"/>
          </p:cNvPicPr>
          <p:nvPr/>
        </p:nvPicPr>
        <p:blipFill>
          <a:blip r:embed="rId4"/>
          <a:stretch>
            <a:fillRect/>
          </a:stretch>
        </p:blipFill>
        <p:spPr>
          <a:xfrm>
            <a:off x="3773043" y="2803601"/>
            <a:ext cx="424281" cy="424281"/>
          </a:xfrm>
          <a:prstGeom prst="rect">
            <a:avLst/>
          </a:prstGeom>
        </p:spPr>
      </p:pic>
      <p:sp>
        <p:nvSpPr>
          <p:cNvPr id="15" name="TextBox 14"/>
          <p:cNvSpPr txBox="1"/>
          <p:nvPr/>
        </p:nvSpPr>
        <p:spPr>
          <a:xfrm>
            <a:off x="3555415" y="3472942"/>
            <a:ext cx="2238679" cy="155803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냉각 효율 저하</a:t>
            </a:r>
          </a:p>
          <a:p>
            <a:pPr algn="l" eaLnBrk="0">
              <a:lnSpc>
                <a:spcPct val="110000"/>
              </a:lnSpc>
              <a:spcAft>
                <a:spcPts val="400"/>
              </a:spcAft>
            </a:pPr>
            <a:r>
              <a:rPr sz="1750" b="0">
                <a:solidFill>
                  <a:srgbClr val="1F2A3A"/>
                </a:solidFill>
                <a:latin typeface="맑은 고딕"/>
                <a:ea typeface="맑은 고딕"/>
                <a:cs typeface="맑은 고딕"/>
              </a:rPr>
              <a:t>「냉각 불량」이라고도 부른다</a:t>
            </a:r>
          </a:p>
        </p:txBody>
      </p:sp>
      <p:sp>
        <p:nvSpPr>
          <p:cNvPr id="16" name="Rounded Rectangle 15"/>
          <p:cNvSpPr/>
          <p:nvPr/>
        </p:nvSpPr>
        <p:spPr>
          <a:xfrm>
            <a:off x="3619423" y="510413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0413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증상</a:t>
            </a:r>
          </a:p>
        </p:txBody>
      </p:sp>
      <p:sp>
        <p:nvSpPr>
          <p:cNvPr id="18" name="Rounded Rectangle 17"/>
          <p:cNvSpPr/>
          <p:nvPr/>
        </p:nvSpPr>
        <p:spPr>
          <a:xfrm>
            <a:off x="6233007" y="2448814"/>
            <a:ext cx="2567863" cy="308508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49982"/>
            <a:ext cx="731520" cy="731520"/>
          </a:xfrm>
          <a:prstGeom prst="ellipse">
            <a:avLst/>
          </a:prstGeom>
          <a:solidFill>
            <a:srgbClr val="E7F3FD"/>
          </a:solidFill>
          <a:ln>
            <a:noFill/>
          </a:ln>
        </p:spPr>
        <p:txBody>
          <a:bodyPr rtlCol="0" anchor="ctr"/>
          <a:lstStyle/>
          <a:p>
            <a:pPr algn="ctr"/>
          </a:p>
        </p:txBody>
      </p:sp>
      <p:pic>
        <p:nvPicPr>
          <p:cNvPr id="20" name="아이콘:activity" descr="activity_13294B_1.6.png"/>
          <p:cNvPicPr>
            <a:picLocks noChangeAspect="1"/>
          </p:cNvPicPr>
          <p:nvPr/>
        </p:nvPicPr>
        <p:blipFill>
          <a:blip r:embed="rId5"/>
          <a:stretch>
            <a:fillRect/>
          </a:stretch>
        </p:blipFill>
        <p:spPr>
          <a:xfrm>
            <a:off x="6615226" y="2803601"/>
            <a:ext cx="424281" cy="424281"/>
          </a:xfrm>
          <a:prstGeom prst="rect">
            <a:avLst/>
          </a:prstGeom>
        </p:spPr>
      </p:pic>
      <p:sp>
        <p:nvSpPr>
          <p:cNvPr id="21" name="TextBox 20"/>
          <p:cNvSpPr txBox="1"/>
          <p:nvPr/>
        </p:nvSpPr>
        <p:spPr>
          <a:xfrm>
            <a:off x="6397599" y="3472942"/>
            <a:ext cx="2238679" cy="155803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진동 증가</a:t>
            </a:r>
          </a:p>
          <a:p>
            <a:pPr algn="l" eaLnBrk="0">
              <a:lnSpc>
                <a:spcPct val="110000"/>
              </a:lnSpc>
              <a:spcAft>
                <a:spcPts val="400"/>
              </a:spcAft>
            </a:pPr>
            <a:r>
              <a:rPr sz="1750" b="0">
                <a:solidFill>
                  <a:srgbClr val="1F2A3A"/>
                </a:solidFill>
                <a:latin typeface="맑은 고딕"/>
                <a:ea typeface="맑은 고딕"/>
                <a:cs typeface="맑은 고딕"/>
              </a:rPr>
              <a:t>「떨림」, 「소음」이라고도 부른다</a:t>
            </a:r>
          </a:p>
        </p:txBody>
      </p:sp>
      <p:sp>
        <p:nvSpPr>
          <p:cNvPr id="22" name="Rounded Rectangle 21"/>
          <p:cNvSpPr/>
          <p:nvPr/>
        </p:nvSpPr>
        <p:spPr>
          <a:xfrm>
            <a:off x="6461607" y="510413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0413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증상</a:t>
            </a:r>
          </a:p>
        </p:txBody>
      </p:sp>
      <p:sp>
        <p:nvSpPr>
          <p:cNvPr id="24" name="Rounded Rectangle 23"/>
          <p:cNvSpPr/>
          <p:nvPr/>
        </p:nvSpPr>
        <p:spPr>
          <a:xfrm>
            <a:off x="9075191" y="2448814"/>
            <a:ext cx="2567863" cy="308508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649982"/>
            <a:ext cx="731520" cy="731520"/>
          </a:xfrm>
          <a:prstGeom prst="ellipse">
            <a:avLst/>
          </a:prstGeom>
          <a:solidFill>
            <a:srgbClr val="E7F3FD"/>
          </a:solidFill>
          <a:ln>
            <a:noFill/>
          </a:ln>
        </p:spPr>
        <p:txBody>
          <a:bodyPr rtlCol="0" anchor="ctr"/>
          <a:lstStyle/>
          <a:p>
            <a:pPr algn="ctr"/>
          </a:p>
        </p:txBody>
      </p:sp>
      <p:pic>
        <p:nvPicPr>
          <p:cNvPr id="26" name="아이콘:filter" descr="filter_13294B_1.6.png"/>
          <p:cNvPicPr>
            <a:picLocks noChangeAspect="1"/>
          </p:cNvPicPr>
          <p:nvPr/>
        </p:nvPicPr>
        <p:blipFill>
          <a:blip r:embed="rId6"/>
          <a:stretch>
            <a:fillRect/>
          </a:stretch>
        </p:blipFill>
        <p:spPr>
          <a:xfrm>
            <a:off x="9457410" y="2803601"/>
            <a:ext cx="424281" cy="424281"/>
          </a:xfrm>
          <a:prstGeom prst="rect">
            <a:avLst/>
          </a:prstGeom>
        </p:spPr>
      </p:pic>
      <p:sp>
        <p:nvSpPr>
          <p:cNvPr id="27" name="TextBox 26"/>
          <p:cNvSpPr txBox="1"/>
          <p:nvPr/>
        </p:nvSpPr>
        <p:spPr>
          <a:xfrm>
            <a:off x="9239783" y="3472942"/>
            <a:ext cx="2238679" cy="155803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오일 쿨러</a:t>
            </a:r>
          </a:p>
          <a:p>
            <a:pPr algn="l" eaLnBrk="0">
              <a:lnSpc>
                <a:spcPct val="110000"/>
              </a:lnSpc>
              <a:spcAft>
                <a:spcPts val="400"/>
              </a:spcAft>
            </a:pPr>
            <a:r>
              <a:rPr sz="1750" b="0">
                <a:solidFill>
                  <a:srgbClr val="1F2A3A"/>
                </a:solidFill>
                <a:latin typeface="맑은 고딕"/>
                <a:ea typeface="맑은 고딕"/>
                <a:cs typeface="맑은 고딕"/>
              </a:rPr>
              <a:t>다른 이름: 쿨러, 열교환기</a:t>
            </a:r>
          </a:p>
        </p:txBody>
      </p:sp>
      <p:sp>
        <p:nvSpPr>
          <p:cNvPr id="28" name="Rounded Rectangle 27"/>
          <p:cNvSpPr/>
          <p:nvPr/>
        </p:nvSpPr>
        <p:spPr>
          <a:xfrm>
            <a:off x="9303791" y="5104130"/>
            <a:ext cx="102108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104130"/>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구성 요소</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온톨로지와 혼동하기 쉬운 세 가지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관계 그림은 표현, 그래프 DB는 저장 도구, 지식 그래프는 채운 결과, 온톨로지는 공통 정의다.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62</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구분</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하는 일</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하지 않는 일</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관계 그림</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사람이 보도록 대상과 선으로 나타낸 표현이다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150" b="1">
                <a:solidFill>
                  <a:srgbClr val="556175"/>
                </a:solidFill>
                <a:latin typeface="맑은 고딕"/>
                <a:ea typeface="맑은 고딕"/>
                <a:cs typeface="맑은 고딕"/>
              </a:rPr>
              <a:t>뜻이 맞는지 검사하지 않는다</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그래프 DB</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대상과 관계를 저장하고 조회한다</a:t>
            </a:r>
          </a:p>
          <a:p>
            <a:pPr algn="l" eaLnBrk="0">
              <a:lnSpc>
                <a:spcPct val="110000"/>
              </a:lnSpc>
            </a:pPr>
            <a:r>
              <a:rPr sz="1400" b="0">
                <a:solidFill>
                  <a:srgbClr val="1F2A3A"/>
                </a:solidFill>
                <a:latin typeface="맑은 고딕"/>
                <a:ea typeface="맑은 고딕"/>
                <a:cs typeface="맑은 고딕"/>
              </a:rPr>
              <a:t>Neo4j 등이 이 역할을 한다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150" b="1">
                <a:solidFill>
                  <a:srgbClr val="556175"/>
                </a:solidFill>
                <a:latin typeface="맑은 고딕"/>
                <a:ea typeface="맑은 고딕"/>
                <a:cs typeface="맑은 고딕"/>
              </a:rPr>
              <a:t>무엇을 넣을지 정하지 않는다</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지식 그래프</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온톨로지에 맞춰 실제 대상과 관계를 채운 지식이다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HYD의 실시간 값은 별도 저장한다</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온톨로지</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어떤 종류의 대상과 관계가 있을 수 있는지 정의한다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조치를 결정하지 않는다</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노드·관계·방향을 문장으로 읽는다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대상은 노드, 연결은 이름과 방향을 가진 관계로 나타내며, 주어·서술어·목적어로 읽어 뜻을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63</a:t>
            </a:r>
          </a:p>
        </p:txBody>
      </p:sp>
      <p:pic>
        <p:nvPicPr>
          <p:cNvPr id="6" name="Picture 5" descr="illust_6037506120837694956_1791959960.png"/>
          <p:cNvPicPr>
            <a:picLocks noChangeAspect="1"/>
          </p:cNvPicPr>
          <p:nvPr/>
        </p:nvPicPr>
        <p:blipFill>
          <a:blip r:embed="rId3"/>
          <a:stretch>
            <a:fillRect/>
          </a:stretch>
        </p:blipFill>
        <p:spPr>
          <a:xfrm>
            <a:off x="548640" y="2403348"/>
            <a:ext cx="7223760" cy="3130296"/>
          </a:xfrm>
          <a:prstGeom prst="rect">
            <a:avLst/>
          </a:prstGeom>
          <a:ln w="12700">
            <a:solidFill>
              <a:srgbClr val="D3D9E1"/>
            </a:solidFill>
          </a:ln>
        </p:spPr>
      </p:pic>
      <p:sp>
        <p:nvSpPr>
          <p:cNvPr id="7" name="Oval 6"/>
          <p:cNvSpPr/>
          <p:nvPr/>
        </p:nvSpPr>
        <p:spPr>
          <a:xfrm>
            <a:off x="8138160" y="1691640"/>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91640"/>
            <a:ext cx="347472" cy="347472"/>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36776"/>
            <a:ext cx="3093415" cy="1554480"/>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노드(Node)</a:t>
            </a:r>
          </a:p>
          <a:p>
            <a:pPr algn="l" eaLnBrk="0">
              <a:lnSpc>
                <a:spcPct val="110000"/>
              </a:lnSpc>
              <a:spcAft>
                <a:spcPts val="400"/>
              </a:spcAft>
            </a:pPr>
            <a:r>
              <a:rPr sz="1400" b="0">
                <a:solidFill>
                  <a:srgbClr val="1F2A3A"/>
                </a:solidFill>
                <a:latin typeface="맑은 고딕"/>
                <a:ea typeface="맑은 고딕"/>
                <a:cs typeface="맑은 고딕"/>
              </a:rPr>
              <a:t>대상 하나를 나타낸다. 왼쪽은 쿨러 핀 오염, 오른쪽은 쿨러 냉각 성능 상실이다.</a:t>
            </a:r>
          </a:p>
        </p:txBody>
      </p:sp>
      <p:sp>
        <p:nvSpPr>
          <p:cNvPr id="10" name="Oval 9"/>
          <p:cNvSpPr/>
          <p:nvPr/>
        </p:nvSpPr>
        <p:spPr>
          <a:xfrm>
            <a:off x="8138160" y="3246120"/>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3246120"/>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3191256"/>
            <a:ext cx="3093415" cy="1554480"/>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관계(Relationship)</a:t>
            </a:r>
          </a:p>
          <a:p>
            <a:pPr algn="l" eaLnBrk="0">
              <a:lnSpc>
                <a:spcPct val="110000"/>
              </a:lnSpc>
              <a:spcAft>
                <a:spcPts val="400"/>
              </a:spcAft>
            </a:pPr>
            <a:r>
              <a:rPr sz="1400" b="0">
                <a:solidFill>
                  <a:srgbClr val="1F2A3A"/>
                </a:solidFill>
                <a:latin typeface="맑은 고딕"/>
                <a:ea typeface="맑은 고딕"/>
                <a:cs typeface="맑은 고딕"/>
              </a:rPr>
              <a:t>두 노드를 잇는 이름 있는 연결이다. 이 화살표의 이름 CAUSES는 「일으킨다」이다.</a:t>
            </a:r>
          </a:p>
        </p:txBody>
      </p:sp>
      <p:sp>
        <p:nvSpPr>
          <p:cNvPr id="13" name="Oval 12"/>
          <p:cNvSpPr/>
          <p:nvPr/>
        </p:nvSpPr>
        <p:spPr>
          <a:xfrm>
            <a:off x="8138160" y="4800600"/>
            <a:ext cx="347472" cy="347472"/>
          </a:xfrm>
          <a:prstGeom prst="ellipse">
            <a:avLst/>
          </a:prstGeom>
          <a:solidFill>
            <a:srgbClr val="5CB8F2"/>
          </a:solidFill>
          <a:ln>
            <a:noFill/>
          </a:ln>
        </p:spPr>
        <p:txBody>
          <a:bodyPr rtlCol="0" anchor="ctr"/>
          <a:lstStyle/>
          <a:p>
            <a:pPr algn="ctr"/>
          </a:p>
        </p:txBody>
      </p:sp>
      <p:sp>
        <p:nvSpPr>
          <p:cNvPr id="14" name="TextBox 13"/>
          <p:cNvSpPr txBox="1"/>
          <p:nvPr/>
        </p:nvSpPr>
        <p:spPr>
          <a:xfrm>
            <a:off x="8138160" y="4800600"/>
            <a:ext cx="347472" cy="347472"/>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3</a:t>
            </a:r>
          </a:p>
        </p:txBody>
      </p:sp>
      <p:sp>
        <p:nvSpPr>
          <p:cNvPr id="15" name="TextBox 14"/>
          <p:cNvSpPr txBox="1"/>
          <p:nvPr/>
        </p:nvSpPr>
        <p:spPr>
          <a:xfrm>
            <a:off x="8549640" y="4745736"/>
            <a:ext cx="3093415" cy="1554480"/>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방향(Direction)</a:t>
            </a:r>
          </a:p>
          <a:p>
            <a:pPr algn="l" eaLnBrk="0">
              <a:lnSpc>
                <a:spcPct val="110000"/>
              </a:lnSpc>
              <a:spcAft>
                <a:spcPts val="400"/>
              </a:spcAft>
            </a:pPr>
            <a:r>
              <a:rPr sz="1400" b="0">
                <a:solidFill>
                  <a:srgbClr val="1F2A3A"/>
                </a:solidFill>
                <a:latin typeface="맑은 고딕"/>
                <a:ea typeface="맑은 고딕"/>
                <a:cs typeface="맑은 고딕"/>
              </a:rPr>
              <a:t>출발 노드가 주어, 관계가 서술어, 도착 노드가 목적어다. 「핀 오염은 냉각 성능 상실을 일으킨다」로 읽는다.</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HYD 지식 그래프 지도: 설비 쪽과 진단 · 조치 쪽</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증상·원인·조치·구성 요소는 </a:t>
            </a:r>
            <a:r>
              <a:rPr sz="1600" b="1">
                <a:solidFill>
                  <a:srgbClr val="1A6FC4"/>
                </a:solidFill>
                <a:latin typeface="맑은 고딕"/>
                <a:ea typeface="맑은 고딕"/>
                <a:cs typeface="맑은 고딕"/>
              </a:rPr>
              <a:t>고장 유형</a:t>
            </a:r>
            <a:r>
              <a:rPr sz="1600" b="0">
                <a:solidFill>
                  <a:srgbClr val="556175"/>
                </a:solidFill>
                <a:latin typeface="맑은 고딕"/>
                <a:ea typeface="맑은 고딕"/>
                <a:cs typeface="맑은 고딕"/>
              </a:rPr>
              <a:t>에 직접 연결되고, 설비·센서·매뉴얼은 그 바깥에 연결된다.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64</a:t>
            </a:r>
          </a:p>
        </p:txBody>
      </p:sp>
      <p:pic>
        <p:nvPicPr>
          <p:cNvPr id="6" name="삽화:지식그래프_지도.svg" descr="illust_8394421098557352658_1791978726.png"/>
          <p:cNvPicPr>
            <a:picLocks noChangeAspect="1"/>
          </p:cNvPicPr>
          <p:nvPr/>
        </p:nvPicPr>
        <p:blipFill>
          <a:blip r:embed="rId3"/>
          <a:stretch>
            <a:fillRect/>
          </a:stretch>
        </p:blipFill>
        <p:spPr>
          <a:xfrm>
            <a:off x="786223" y="1627632"/>
            <a:ext cx="10619248" cy="4727448"/>
          </a:xfrm>
          <a:prstGeom prst="rect">
            <a:avLst/>
          </a:prstGeom>
        </p:spPr>
      </p:pic>
      <p:sp>
        <p:nvSpPr>
          <p:cNvPr id="7" name="TextBox 6"/>
          <p:cNvSpPr txBox="1"/>
          <p:nvPr/>
        </p:nvSpPr>
        <p:spPr>
          <a:xfrm>
            <a:off x="972060" y="2303657"/>
            <a:ext cx="103006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설비</a:t>
            </a:r>
          </a:p>
          <a:p>
            <a:pPr algn="ctr" eaLnBrk="0">
              <a:lnSpc>
                <a:spcPct val="110000"/>
              </a:lnSpc>
              <a:spcAft>
                <a:spcPts val="100"/>
              </a:spcAft>
            </a:pPr>
            <a:r>
              <a:rPr sz="1100" b="0">
                <a:solidFill>
                  <a:srgbClr val="556175"/>
                </a:solidFill>
                <a:latin typeface="맑은 고딕"/>
                <a:ea typeface="맑은 고딕"/>
                <a:cs typeface="맑은 고딕"/>
              </a:rPr>
              <a:t>(Asset)</a:t>
            </a:r>
          </a:p>
        </p:txBody>
      </p:sp>
      <p:sp>
        <p:nvSpPr>
          <p:cNvPr id="8" name="TextBox 7"/>
          <p:cNvSpPr txBox="1"/>
          <p:nvPr/>
        </p:nvSpPr>
        <p:spPr>
          <a:xfrm>
            <a:off x="3568466" y="2303657"/>
            <a:ext cx="116811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구성 요소</a:t>
            </a:r>
          </a:p>
          <a:p>
            <a:pPr algn="ctr" eaLnBrk="0">
              <a:lnSpc>
                <a:spcPct val="110000"/>
              </a:lnSpc>
              <a:spcAft>
                <a:spcPts val="100"/>
              </a:spcAft>
            </a:pPr>
            <a:r>
              <a:rPr sz="1100" b="0">
                <a:solidFill>
                  <a:srgbClr val="556175"/>
                </a:solidFill>
                <a:latin typeface="맑은 고딕"/>
                <a:ea typeface="맑은 고딕"/>
                <a:cs typeface="맑은 고딕"/>
              </a:rPr>
              <a:t>(Component)</a:t>
            </a:r>
          </a:p>
        </p:txBody>
      </p:sp>
      <p:sp>
        <p:nvSpPr>
          <p:cNvPr id="9" name="TextBox 8"/>
          <p:cNvSpPr txBox="1"/>
          <p:nvPr/>
        </p:nvSpPr>
        <p:spPr>
          <a:xfrm>
            <a:off x="1587976" y="5281949"/>
            <a:ext cx="103006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센서</a:t>
            </a:r>
          </a:p>
          <a:p>
            <a:pPr algn="ctr" eaLnBrk="0">
              <a:lnSpc>
                <a:spcPct val="110000"/>
              </a:lnSpc>
              <a:spcAft>
                <a:spcPts val="100"/>
              </a:spcAft>
            </a:pPr>
            <a:r>
              <a:rPr sz="1100" b="0">
                <a:solidFill>
                  <a:srgbClr val="556175"/>
                </a:solidFill>
                <a:latin typeface="맑은 고딕"/>
                <a:ea typeface="맑은 고딕"/>
                <a:cs typeface="맑은 고딕"/>
              </a:rPr>
              <a:t>(Sensor)</a:t>
            </a:r>
          </a:p>
        </p:txBody>
      </p:sp>
      <p:sp>
        <p:nvSpPr>
          <p:cNvPr id="10" name="TextBox 9"/>
          <p:cNvSpPr txBox="1"/>
          <p:nvPr/>
        </p:nvSpPr>
        <p:spPr>
          <a:xfrm>
            <a:off x="4343671" y="5281949"/>
            <a:ext cx="1104401"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증상</a:t>
            </a:r>
          </a:p>
          <a:p>
            <a:pPr algn="ctr" eaLnBrk="0">
              <a:lnSpc>
                <a:spcPct val="110000"/>
              </a:lnSpc>
              <a:spcAft>
                <a:spcPts val="100"/>
              </a:spcAft>
            </a:pPr>
            <a:r>
              <a:rPr sz="1100" b="0">
                <a:solidFill>
                  <a:srgbClr val="556175"/>
                </a:solidFill>
                <a:latin typeface="맑은 고딕"/>
                <a:ea typeface="맑은 고딕"/>
                <a:cs typeface="맑은 고딕"/>
              </a:rPr>
              <a:t>(Symptom)</a:t>
            </a:r>
          </a:p>
        </p:txBody>
      </p:sp>
      <p:sp>
        <p:nvSpPr>
          <p:cNvPr id="11" name="TextBox 10"/>
          <p:cNvSpPr txBox="1"/>
          <p:nvPr/>
        </p:nvSpPr>
        <p:spPr>
          <a:xfrm>
            <a:off x="6223278" y="3721891"/>
            <a:ext cx="1380502"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고장 유형</a:t>
            </a:r>
          </a:p>
          <a:p>
            <a:pPr algn="ctr" eaLnBrk="0">
              <a:lnSpc>
                <a:spcPct val="110000"/>
              </a:lnSpc>
              <a:spcAft>
                <a:spcPts val="100"/>
              </a:spcAft>
            </a:pPr>
            <a:r>
              <a:rPr sz="1100" b="0">
                <a:solidFill>
                  <a:srgbClr val="556175"/>
                </a:solidFill>
                <a:latin typeface="맑은 고딕"/>
                <a:ea typeface="맑은 고딕"/>
                <a:cs typeface="맑은 고딕"/>
              </a:rPr>
              <a:t>(FailureMode)</a:t>
            </a:r>
          </a:p>
        </p:txBody>
      </p:sp>
      <p:sp>
        <p:nvSpPr>
          <p:cNvPr id="12" name="TextBox 11"/>
          <p:cNvSpPr txBox="1"/>
          <p:nvPr/>
        </p:nvSpPr>
        <p:spPr>
          <a:xfrm>
            <a:off x="8809065" y="2199653"/>
            <a:ext cx="103006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원인</a:t>
            </a:r>
          </a:p>
          <a:p>
            <a:pPr algn="ctr" eaLnBrk="0">
              <a:lnSpc>
                <a:spcPct val="110000"/>
              </a:lnSpc>
              <a:spcAft>
                <a:spcPts val="100"/>
              </a:spcAft>
            </a:pPr>
            <a:r>
              <a:rPr sz="1100" b="0">
                <a:solidFill>
                  <a:srgbClr val="556175"/>
                </a:solidFill>
                <a:latin typeface="맑은 고딕"/>
                <a:ea typeface="맑은 고딕"/>
                <a:cs typeface="맑은 고딕"/>
              </a:rPr>
              <a:t>(Cause)</a:t>
            </a:r>
          </a:p>
        </p:txBody>
      </p:sp>
      <p:sp>
        <p:nvSpPr>
          <p:cNvPr id="13" name="TextBox 12"/>
          <p:cNvSpPr txBox="1"/>
          <p:nvPr/>
        </p:nvSpPr>
        <p:spPr>
          <a:xfrm>
            <a:off x="8336508" y="5367043"/>
            <a:ext cx="1104401"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조치 방법</a:t>
            </a:r>
          </a:p>
          <a:p>
            <a:pPr algn="ctr" eaLnBrk="0">
              <a:lnSpc>
                <a:spcPct val="110000"/>
              </a:lnSpc>
              <a:spcAft>
                <a:spcPts val="100"/>
              </a:spcAft>
            </a:pPr>
            <a:r>
              <a:rPr sz="1100" b="0">
                <a:solidFill>
                  <a:srgbClr val="556175"/>
                </a:solidFill>
                <a:latin typeface="맑은 고딕"/>
                <a:ea typeface="맑은 고딕"/>
                <a:cs typeface="맑은 고딕"/>
              </a:rPr>
              <a:t>(Skill)</a:t>
            </a:r>
          </a:p>
        </p:txBody>
      </p:sp>
      <p:sp>
        <p:nvSpPr>
          <p:cNvPr id="14" name="TextBox 13"/>
          <p:cNvSpPr txBox="1"/>
          <p:nvPr/>
        </p:nvSpPr>
        <p:spPr>
          <a:xfrm>
            <a:off x="9934705" y="3721891"/>
            <a:ext cx="1454836"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매뉴얼 절</a:t>
            </a:r>
          </a:p>
          <a:p>
            <a:pPr algn="ctr" eaLnBrk="0">
              <a:lnSpc>
                <a:spcPct val="110000"/>
              </a:lnSpc>
              <a:spcAft>
                <a:spcPts val="100"/>
              </a:spcAft>
            </a:pPr>
            <a:r>
              <a:rPr sz="1100" b="0">
                <a:solidFill>
                  <a:srgbClr val="556175"/>
                </a:solidFill>
                <a:latin typeface="맑은 고딕"/>
                <a:ea typeface="맑은 고딕"/>
                <a:cs typeface="맑은 고딕"/>
              </a:rPr>
              <a:t>(ManualSection)</a:t>
            </a:r>
          </a:p>
        </p:txBody>
      </p:sp>
      <p:sp>
        <p:nvSpPr>
          <p:cNvPr id="15" name="TextBox 14"/>
          <p:cNvSpPr txBox="1"/>
          <p:nvPr/>
        </p:nvSpPr>
        <p:spPr>
          <a:xfrm>
            <a:off x="1975579" y="2157106"/>
            <a:ext cx="1592887"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HAS_COMPONENT</a:t>
            </a:r>
          </a:p>
        </p:txBody>
      </p:sp>
      <p:sp>
        <p:nvSpPr>
          <p:cNvPr id="16" name="TextBox 15"/>
          <p:cNvSpPr txBox="1"/>
          <p:nvPr/>
        </p:nvSpPr>
        <p:spPr>
          <a:xfrm>
            <a:off x="1880006" y="3546975"/>
            <a:ext cx="1507933"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MONITORED_BY</a:t>
            </a:r>
          </a:p>
        </p:txBody>
      </p:sp>
      <p:sp>
        <p:nvSpPr>
          <p:cNvPr id="17" name="TextBox 16"/>
          <p:cNvSpPr txBox="1"/>
          <p:nvPr/>
        </p:nvSpPr>
        <p:spPr>
          <a:xfrm>
            <a:off x="2793261" y="5575051"/>
            <a:ext cx="142297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OBSERVED_BY</a:t>
            </a:r>
          </a:p>
        </p:txBody>
      </p:sp>
      <p:sp>
        <p:nvSpPr>
          <p:cNvPr id="18" name="TextBox 17"/>
          <p:cNvSpPr txBox="1"/>
          <p:nvPr/>
        </p:nvSpPr>
        <p:spPr>
          <a:xfrm>
            <a:off x="5469311" y="4969937"/>
            <a:ext cx="127430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INDICATES</a:t>
            </a:r>
          </a:p>
        </p:txBody>
      </p:sp>
      <p:sp>
        <p:nvSpPr>
          <p:cNvPr id="19" name="TextBox 18"/>
          <p:cNvSpPr txBox="1"/>
          <p:nvPr/>
        </p:nvSpPr>
        <p:spPr>
          <a:xfrm>
            <a:off x="7879881" y="3268056"/>
            <a:ext cx="1019447"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CAUSES</a:t>
            </a:r>
          </a:p>
        </p:txBody>
      </p:sp>
      <p:sp>
        <p:nvSpPr>
          <p:cNvPr id="20" name="TextBox 19"/>
          <p:cNvSpPr txBox="1"/>
          <p:nvPr/>
        </p:nvSpPr>
        <p:spPr>
          <a:xfrm>
            <a:off x="5055161" y="2733854"/>
            <a:ext cx="1253071"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OCCURS_IN</a:t>
            </a:r>
          </a:p>
        </p:txBody>
      </p:sp>
      <p:sp>
        <p:nvSpPr>
          <p:cNvPr id="21" name="TextBox 20"/>
          <p:cNvSpPr txBox="1"/>
          <p:nvPr/>
        </p:nvSpPr>
        <p:spPr>
          <a:xfrm>
            <a:off x="6849814" y="5050304"/>
            <a:ext cx="1507933"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MITIGATED_BY</a:t>
            </a:r>
          </a:p>
        </p:txBody>
      </p:sp>
      <p:sp>
        <p:nvSpPr>
          <p:cNvPr id="22" name="TextBox 21"/>
          <p:cNvSpPr txBox="1"/>
          <p:nvPr/>
        </p:nvSpPr>
        <p:spPr>
          <a:xfrm>
            <a:off x="9393124" y="5003029"/>
            <a:ext cx="1348644" cy="468884"/>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HAS_STEP ·</a:t>
            </a:r>
          </a:p>
          <a:p>
            <a:pPr algn="ctr" eaLnBrk="0">
              <a:lnSpc>
                <a:spcPct val="110000"/>
              </a:lnSpc>
              <a:spcAft>
                <a:spcPts val="100"/>
              </a:spcAft>
            </a:pPr>
            <a:r>
              <a:rPr sz="1100" b="0">
                <a:solidFill>
                  <a:srgbClr val="13294B"/>
                </a:solidFill>
                <a:latin typeface="맑은 고딕"/>
                <a:ea typeface="맑은 고딕"/>
                <a:cs typeface="맑은 고딕"/>
              </a:rPr>
              <a:t>REFERS_TO</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관계의 방향: 저장된 방향과 따라가는 방향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관계 이름의 뜻이 저장 방향을 정하며, 조회할 때는 새 관계를 만들지 않고 그 방향을 거슬러 갈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2105406"/>
            <a:ext cx="5181447" cy="377190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06574"/>
            <a:ext cx="731520" cy="731520"/>
          </a:xfrm>
          <a:prstGeom prst="ellipse">
            <a:avLst/>
          </a:prstGeom>
          <a:solidFill>
            <a:srgbClr val="FFFFFF"/>
          </a:solidFill>
          <a:ln>
            <a:noFill/>
          </a:ln>
        </p:spPr>
        <p:txBody>
          <a:bodyPr rtlCol="0" anchor="ctr"/>
          <a:lstStyle/>
          <a:p>
            <a:pPr algn="ctr"/>
          </a:p>
        </p:txBody>
      </p:sp>
      <p:pic>
        <p:nvPicPr>
          <p:cNvPr id="8" name="아이콘:arrow-right" descr="arrow-right_13294B_1.6.png"/>
          <p:cNvPicPr>
            <a:picLocks noChangeAspect="1"/>
          </p:cNvPicPr>
          <p:nvPr/>
        </p:nvPicPr>
        <p:blipFill>
          <a:blip r:embed="rId3"/>
          <a:stretch>
            <a:fillRect/>
          </a:stretch>
        </p:blipFill>
        <p:spPr>
          <a:xfrm>
            <a:off x="976579" y="2460193"/>
            <a:ext cx="424281" cy="424281"/>
          </a:xfrm>
          <a:prstGeom prst="rect">
            <a:avLst/>
          </a:prstGeom>
        </p:spPr>
      </p:pic>
      <p:sp>
        <p:nvSpPr>
          <p:cNvPr id="9" name="TextBox 8"/>
          <p:cNvSpPr txBox="1"/>
          <p:nvPr/>
        </p:nvSpPr>
        <p:spPr>
          <a:xfrm>
            <a:off x="1691640"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저장된 방향</a:t>
            </a:r>
          </a:p>
        </p:txBody>
      </p:sp>
      <p:sp>
        <p:nvSpPr>
          <p:cNvPr id="10" name="TextBox 9"/>
          <p:cNvSpPr txBox="1"/>
          <p:nvPr/>
        </p:nvSpPr>
        <p:spPr>
          <a:xfrm>
            <a:off x="822959"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CAUSES: 쿨러 핀 오염 → 쿨러 냉각 성능 상실</a:t>
            </a:r>
          </a:p>
          <a:p>
            <a:pPr algn="l" eaLnBrk="0" marL="171450" indent="-171450">
              <a:lnSpc>
                <a:spcPct val="110000"/>
              </a:lnSpc>
              <a:spcAft>
                <a:spcPts val="600"/>
              </a:spcAft>
            </a:pPr>
            <a:r>
              <a:rPr sz="1500" b="0">
                <a:solidFill>
                  <a:srgbClr val="1F2A3A"/>
                </a:solidFill>
                <a:latin typeface="맑은 고딕"/>
                <a:ea typeface="맑은 고딕"/>
                <a:cs typeface="맑은 고딕"/>
              </a:rPr>
              <a:t>• 원인이 주어다: 「핀 오염은 냉각 성능 상실을 일으킨다」</a:t>
            </a:r>
          </a:p>
          <a:p>
            <a:pPr algn="l" eaLnBrk="0" marL="171450" indent="-171450">
              <a:lnSpc>
                <a:spcPct val="110000"/>
              </a:lnSpc>
              <a:spcAft>
                <a:spcPts val="600"/>
              </a:spcAft>
            </a:pPr>
            <a:r>
              <a:rPr sz="1500" b="0">
                <a:solidFill>
                  <a:srgbClr val="1F2A3A"/>
                </a:solidFill>
                <a:latin typeface="맑은 고딕"/>
                <a:ea typeface="맑은 고딕"/>
                <a:cs typeface="맑은 고딕"/>
              </a:rPr>
              <a:t>• 관계 이름의 뜻이 화살표의 방향을 정한다</a:t>
            </a:r>
          </a:p>
        </p:txBody>
      </p:sp>
      <p:sp>
        <p:nvSpPr>
          <p:cNvPr id="11" name="Rounded Rectangle 10"/>
          <p:cNvSpPr/>
          <p:nvPr/>
        </p:nvSpPr>
        <p:spPr>
          <a:xfrm>
            <a:off x="868680" y="5420106"/>
            <a:ext cx="156972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420106"/>
            <a:ext cx="15697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원인 → 고장 유형</a:t>
            </a:r>
          </a:p>
        </p:txBody>
      </p:sp>
      <p:sp>
        <p:nvSpPr>
          <p:cNvPr id="13" name="Rounded Rectangle 12"/>
          <p:cNvSpPr/>
          <p:nvPr/>
        </p:nvSpPr>
        <p:spPr>
          <a:xfrm>
            <a:off x="6461607" y="2105406"/>
            <a:ext cx="5181447" cy="37719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06574"/>
            <a:ext cx="731520" cy="731520"/>
          </a:xfrm>
          <a:prstGeom prst="ellipse">
            <a:avLst/>
          </a:prstGeom>
          <a:solidFill>
            <a:srgbClr val="5CB8F2"/>
          </a:solidFill>
          <a:ln>
            <a:noFill/>
          </a:ln>
        </p:spPr>
        <p:txBody>
          <a:bodyPr rtlCol="0" anchor="ctr"/>
          <a:lstStyle/>
          <a:p>
            <a:pPr algn="ctr"/>
          </a:p>
        </p:txBody>
      </p:sp>
      <p:pic>
        <p:nvPicPr>
          <p:cNvPr id="15" name="아이콘:arrow-back-up" descr="arrow-back-up_13294B_1.6.png"/>
          <p:cNvPicPr>
            <a:picLocks noChangeAspect="1"/>
          </p:cNvPicPr>
          <p:nvPr/>
        </p:nvPicPr>
        <p:blipFill>
          <a:blip r:embed="rId4"/>
          <a:stretch>
            <a:fillRect/>
          </a:stretch>
        </p:blipFill>
        <p:spPr>
          <a:xfrm>
            <a:off x="6889546" y="2460193"/>
            <a:ext cx="424281" cy="424281"/>
          </a:xfrm>
          <a:prstGeom prst="rect">
            <a:avLst/>
          </a:prstGeom>
        </p:spPr>
      </p:pic>
      <p:sp>
        <p:nvSpPr>
          <p:cNvPr id="16" name="TextBox 15"/>
          <p:cNvSpPr txBox="1"/>
          <p:nvPr/>
        </p:nvSpPr>
        <p:spPr>
          <a:xfrm>
            <a:off x="7604607"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따라가는 방향</a:t>
            </a:r>
          </a:p>
        </p:txBody>
      </p:sp>
      <p:sp>
        <p:nvSpPr>
          <p:cNvPr id="17" name="TextBox 16"/>
          <p:cNvSpPr txBox="1"/>
          <p:nvPr/>
        </p:nvSpPr>
        <p:spPr>
          <a:xfrm>
            <a:off x="6735927"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고장 유형으로 들어오는 CAUSES를 거슬러 원인 후보를 찾는다</a:t>
            </a:r>
          </a:p>
          <a:p>
            <a:pPr algn="l" eaLnBrk="0" marL="171450" indent="-171450">
              <a:lnSpc>
                <a:spcPct val="110000"/>
              </a:lnSpc>
              <a:spcAft>
                <a:spcPts val="600"/>
              </a:spcAft>
            </a:pPr>
            <a:r>
              <a:rPr sz="1500" b="0">
                <a:solidFill>
                  <a:srgbClr val="1F2A3A"/>
                </a:solidFill>
                <a:latin typeface="맑은 고딕"/>
                <a:ea typeface="맑은 고딕"/>
                <a:cs typeface="맑은 고딕"/>
              </a:rPr>
              <a:t>• 저장된 관계를 그대로 쓰며, 역방향 관계를 따로 만들지 않는다</a:t>
            </a:r>
          </a:p>
          <a:p>
            <a:pPr algn="l" eaLnBrk="0" marL="171450" indent="-171450">
              <a:lnSpc>
                <a:spcPct val="110000"/>
              </a:lnSpc>
              <a:spcAft>
                <a:spcPts val="600"/>
              </a:spcAft>
            </a:pPr>
            <a:r>
              <a:rPr sz="1500" b="0">
                <a:solidFill>
                  <a:srgbClr val="1F2A3A"/>
                </a:solidFill>
                <a:latin typeface="맑은 고딕"/>
                <a:ea typeface="맑은 고딕"/>
                <a:cs typeface="맑은 고딕"/>
              </a:rPr>
              <a:t>• 화살표는 한쪽으로만 다녀야 하는 통행 방향이 아니다</a:t>
            </a:r>
          </a:p>
        </p:txBody>
      </p:sp>
      <p:sp>
        <p:nvSpPr>
          <p:cNvPr id="18" name="Rounded Rectangle 17"/>
          <p:cNvSpPr/>
          <p:nvPr/>
        </p:nvSpPr>
        <p:spPr>
          <a:xfrm>
            <a:off x="6781647" y="5420106"/>
            <a:ext cx="233172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420106"/>
            <a:ext cx="23317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고장 유형에서 원인을 찾는다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관계를 따라가는 과정 ①: 경보에서 고장 유형까지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성능 저하 경보의 이상 패턴은 증상을 거쳐 고장 유형으로 이어지며, 이 관계가 원인 조회의 입구가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66</a:t>
            </a:r>
          </a:p>
        </p:txBody>
      </p:sp>
      <p:pic>
        <p:nvPicPr>
          <p:cNvPr id="6" name="삽화:경로2_1.svg" descr="illust_1459224463968820039_1791992996.png"/>
          <p:cNvPicPr>
            <a:picLocks noChangeAspect="1"/>
          </p:cNvPicPr>
          <p:nvPr/>
        </p:nvPicPr>
        <p:blipFill>
          <a:blip r:embed="rId3"/>
          <a:stretch>
            <a:fillRect/>
          </a:stretch>
        </p:blipFill>
        <p:spPr>
          <a:xfrm>
            <a:off x="786223" y="1627632"/>
            <a:ext cx="10619248" cy="4727448"/>
          </a:xfrm>
          <a:prstGeom prst="rect">
            <a:avLst/>
          </a:prstGeom>
        </p:spPr>
      </p:pic>
      <p:sp>
        <p:nvSpPr>
          <p:cNvPr id="7" name="TextBox 6"/>
          <p:cNvSpPr txBox="1"/>
          <p:nvPr/>
        </p:nvSpPr>
        <p:spPr>
          <a:xfrm>
            <a:off x="873301" y="2473845"/>
            <a:ext cx="1752175"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AnomalyPattern</a:t>
            </a:r>
          </a:p>
        </p:txBody>
      </p:sp>
      <p:sp>
        <p:nvSpPr>
          <p:cNvPr id="8" name="TextBox 7"/>
          <p:cNvSpPr txBox="1"/>
          <p:nvPr/>
        </p:nvSpPr>
        <p:spPr>
          <a:xfrm>
            <a:off x="2618043" y="5187400"/>
            <a:ext cx="966351"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Symptom</a:t>
            </a:r>
          </a:p>
        </p:txBody>
      </p:sp>
      <p:sp>
        <p:nvSpPr>
          <p:cNvPr id="9" name="TextBox 8"/>
          <p:cNvSpPr txBox="1"/>
          <p:nvPr/>
        </p:nvSpPr>
        <p:spPr>
          <a:xfrm>
            <a:off x="4327742" y="3702981"/>
            <a:ext cx="1327406"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FailureMode</a:t>
            </a:r>
          </a:p>
        </p:txBody>
      </p:sp>
      <p:sp>
        <p:nvSpPr>
          <p:cNvPr id="10" name="TextBox 9"/>
          <p:cNvSpPr txBox="1"/>
          <p:nvPr/>
        </p:nvSpPr>
        <p:spPr>
          <a:xfrm>
            <a:off x="2676449" y="3726618"/>
            <a:ext cx="955732"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DETECTS</a:t>
            </a:r>
          </a:p>
        </p:txBody>
      </p:sp>
      <p:sp>
        <p:nvSpPr>
          <p:cNvPr id="11" name="TextBox 10"/>
          <p:cNvSpPr txBox="1"/>
          <p:nvPr/>
        </p:nvSpPr>
        <p:spPr>
          <a:xfrm>
            <a:off x="3929521" y="4780839"/>
            <a:ext cx="1061924"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INDICATES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관계를 따라가는 과정 ②: 원인 후보, 증거, 조치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증거로 원인 후보를 가려 조치를 찾으며, 뒷받침할 증거가 없거나 조회가 불완전하면 조치를 보류한다.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67</a:t>
            </a:r>
          </a:p>
        </p:txBody>
      </p:sp>
      <p:pic>
        <p:nvPicPr>
          <p:cNvPr id="6" name="삽화:경로2_2.svg" descr="illust_1776431025005328081_1791992996.png"/>
          <p:cNvPicPr>
            <a:picLocks noChangeAspect="1"/>
          </p:cNvPicPr>
          <p:nvPr/>
        </p:nvPicPr>
        <p:blipFill>
          <a:blip r:embed="rId3"/>
          <a:stretch>
            <a:fillRect/>
          </a:stretch>
        </p:blipFill>
        <p:spPr>
          <a:xfrm>
            <a:off x="786223" y="1627632"/>
            <a:ext cx="10619248" cy="4727448"/>
          </a:xfrm>
          <a:prstGeom prst="rect">
            <a:avLst/>
          </a:prstGeom>
        </p:spPr>
      </p:pic>
      <p:sp>
        <p:nvSpPr>
          <p:cNvPr id="7" name="TextBox 6"/>
          <p:cNvSpPr txBox="1"/>
          <p:nvPr/>
        </p:nvSpPr>
        <p:spPr>
          <a:xfrm>
            <a:off x="873301" y="2473845"/>
            <a:ext cx="1752175"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AnomalyPattern</a:t>
            </a:r>
          </a:p>
        </p:txBody>
      </p:sp>
      <p:sp>
        <p:nvSpPr>
          <p:cNvPr id="8" name="TextBox 7"/>
          <p:cNvSpPr txBox="1"/>
          <p:nvPr/>
        </p:nvSpPr>
        <p:spPr>
          <a:xfrm>
            <a:off x="2618043" y="5187400"/>
            <a:ext cx="966351"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Symptom</a:t>
            </a:r>
          </a:p>
        </p:txBody>
      </p:sp>
      <p:sp>
        <p:nvSpPr>
          <p:cNvPr id="9" name="TextBox 8"/>
          <p:cNvSpPr txBox="1"/>
          <p:nvPr/>
        </p:nvSpPr>
        <p:spPr>
          <a:xfrm>
            <a:off x="4327742" y="3702981"/>
            <a:ext cx="1327406"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FailureMode</a:t>
            </a:r>
          </a:p>
        </p:txBody>
      </p:sp>
      <p:sp>
        <p:nvSpPr>
          <p:cNvPr id="10" name="TextBox 9"/>
          <p:cNvSpPr txBox="1"/>
          <p:nvPr/>
        </p:nvSpPr>
        <p:spPr>
          <a:xfrm>
            <a:off x="5729483" y="5537231"/>
            <a:ext cx="966351" cy="337185"/>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Skill</a:t>
            </a:r>
          </a:p>
        </p:txBody>
      </p:sp>
      <p:sp>
        <p:nvSpPr>
          <p:cNvPr id="11" name="TextBox 10"/>
          <p:cNvSpPr txBox="1"/>
          <p:nvPr/>
        </p:nvSpPr>
        <p:spPr>
          <a:xfrm>
            <a:off x="6881671" y="2341476"/>
            <a:ext cx="1295548" cy="337185"/>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Cause</a:t>
            </a:r>
          </a:p>
        </p:txBody>
      </p:sp>
      <p:sp>
        <p:nvSpPr>
          <p:cNvPr id="12" name="TextBox 11"/>
          <p:cNvSpPr txBox="1"/>
          <p:nvPr/>
        </p:nvSpPr>
        <p:spPr>
          <a:xfrm>
            <a:off x="7402015" y="3962991"/>
            <a:ext cx="1295548"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Cause</a:t>
            </a:r>
          </a:p>
        </p:txBody>
      </p:sp>
      <p:sp>
        <p:nvSpPr>
          <p:cNvPr id="13" name="TextBox 12"/>
          <p:cNvSpPr txBox="1"/>
          <p:nvPr/>
        </p:nvSpPr>
        <p:spPr>
          <a:xfrm>
            <a:off x="7147153" y="5494684"/>
            <a:ext cx="1295548"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Cause</a:t>
            </a:r>
          </a:p>
        </p:txBody>
      </p:sp>
      <p:sp>
        <p:nvSpPr>
          <p:cNvPr id="14" name="TextBox 13"/>
          <p:cNvSpPr txBox="1"/>
          <p:nvPr/>
        </p:nvSpPr>
        <p:spPr>
          <a:xfrm>
            <a:off x="9663914" y="2341476"/>
            <a:ext cx="1061924" cy="337185"/>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Evidence</a:t>
            </a:r>
          </a:p>
        </p:txBody>
      </p:sp>
      <p:sp>
        <p:nvSpPr>
          <p:cNvPr id="15" name="TextBox 14"/>
          <p:cNvSpPr txBox="1"/>
          <p:nvPr/>
        </p:nvSpPr>
        <p:spPr>
          <a:xfrm>
            <a:off x="10194877" y="3962991"/>
            <a:ext cx="106192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Evidence</a:t>
            </a:r>
          </a:p>
        </p:txBody>
      </p:sp>
      <p:sp>
        <p:nvSpPr>
          <p:cNvPr id="16" name="TextBox 15"/>
          <p:cNvSpPr txBox="1"/>
          <p:nvPr/>
        </p:nvSpPr>
        <p:spPr>
          <a:xfrm>
            <a:off x="9971873" y="5494684"/>
            <a:ext cx="106192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Evidence</a:t>
            </a:r>
          </a:p>
        </p:txBody>
      </p:sp>
      <p:sp>
        <p:nvSpPr>
          <p:cNvPr id="17" name="TextBox 16"/>
          <p:cNvSpPr txBox="1"/>
          <p:nvPr/>
        </p:nvSpPr>
        <p:spPr>
          <a:xfrm>
            <a:off x="6053370" y="3509156"/>
            <a:ext cx="84953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CAUSES</a:t>
            </a:r>
          </a:p>
        </p:txBody>
      </p:sp>
      <p:sp>
        <p:nvSpPr>
          <p:cNvPr id="18" name="TextBox 17"/>
          <p:cNvSpPr txBox="1"/>
          <p:nvPr/>
        </p:nvSpPr>
        <p:spPr>
          <a:xfrm>
            <a:off x="8272793" y="2133468"/>
            <a:ext cx="127430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EVIDENCED_BY</a:t>
            </a:r>
          </a:p>
        </p:txBody>
      </p:sp>
      <p:sp>
        <p:nvSpPr>
          <p:cNvPr id="19" name="TextBox 18"/>
          <p:cNvSpPr txBox="1"/>
          <p:nvPr/>
        </p:nvSpPr>
        <p:spPr>
          <a:xfrm>
            <a:off x="4184382" y="4903753"/>
            <a:ext cx="127430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MITIGATED_BY</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조회한 기준과 실제 값으로 남기는 판단 근거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지식 그래프에서 찾은 판별 기준을 저장소의 값과 대조하고, 조치가 가리키는 매뉴얼 근거까지 함께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68</a:t>
            </a:r>
          </a:p>
        </p:txBody>
      </p:sp>
      <p:sp>
        <p:nvSpPr>
          <p:cNvPr id="6" name="Rounded Rectangle 5"/>
          <p:cNvSpPr/>
          <p:nvPr/>
        </p:nvSpPr>
        <p:spPr>
          <a:xfrm>
            <a:off x="548640" y="1655064"/>
            <a:ext cx="11094415" cy="890625"/>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627632"/>
            <a:ext cx="3291839" cy="945489"/>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원인 판별</a:t>
            </a:r>
          </a:p>
          <a:p>
            <a:pPr algn="l" eaLnBrk="0">
              <a:lnSpc>
                <a:spcPct val="110000"/>
              </a:lnSpc>
              <a:spcAft>
                <a:spcPts val="200"/>
              </a:spcAft>
            </a:pPr>
            <a:r>
              <a:rPr sz="1150" b="0">
                <a:solidFill>
                  <a:srgbClr val="556175"/>
                </a:solidFill>
                <a:latin typeface="맑은 고딕"/>
                <a:ea typeface="맑은 고딕"/>
                <a:cs typeface="맑은 고딕"/>
              </a:rPr>
              <a:t>기준과 실측값</a:t>
            </a:r>
          </a:p>
        </p:txBody>
      </p:sp>
      <p:sp>
        <p:nvSpPr>
          <p:cNvPr id="8" name="TextBox 7"/>
          <p:cNvSpPr txBox="1"/>
          <p:nvPr/>
        </p:nvSpPr>
        <p:spPr>
          <a:xfrm>
            <a:off x="4023359" y="1627632"/>
            <a:ext cx="7528255" cy="945489"/>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쿨러 핀 오염: CE의 30초 평균 46.2 % &lt; 70 %</a:t>
            </a:r>
          </a:p>
          <a:p>
            <a:pPr algn="l" eaLnBrk="0">
              <a:lnSpc>
                <a:spcPct val="110000"/>
              </a:lnSpc>
              <a:spcAft>
                <a:spcPts val="300"/>
              </a:spcAft>
            </a:pPr>
            <a:r>
              <a:rPr sz="1400" b="0">
                <a:solidFill>
                  <a:srgbClr val="1F2A3A"/>
                </a:solidFill>
                <a:latin typeface="맑은 고딕"/>
                <a:ea typeface="맑은 고딕"/>
                <a:cs typeface="맑은 고딕"/>
              </a:rPr>
              <a:t>VS1의 2분 평균 0.575 mm/s &lt; 0.9 mm/s</a:t>
            </a:r>
          </a:p>
          <a:p>
            <a:pPr algn="l" eaLnBrk="0">
              <a:lnSpc>
                <a:spcPct val="110000"/>
              </a:lnSpc>
              <a:spcAft>
                <a:spcPts val="300"/>
              </a:spcAft>
            </a:pPr>
            <a:r>
              <a:rPr sz="1400" b="0">
                <a:solidFill>
                  <a:srgbClr val="1F2A3A"/>
                </a:solidFill>
                <a:latin typeface="맑은 고딕"/>
                <a:ea typeface="맑은 고딕"/>
                <a:cs typeface="맑은 고딕"/>
              </a:rPr>
              <a:t>두 조건이 맞아 핀 오염으로 판단한다.</a:t>
            </a:r>
          </a:p>
        </p:txBody>
      </p:sp>
      <p:sp>
        <p:nvSpPr>
          <p:cNvPr id="9" name="Rectangle 8"/>
          <p:cNvSpPr/>
          <p:nvPr/>
        </p:nvSpPr>
        <p:spPr>
          <a:xfrm>
            <a:off x="548640" y="2563977"/>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2573121"/>
            <a:ext cx="3291839" cy="945489"/>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다른 후보의 배제</a:t>
            </a:r>
          </a:p>
          <a:p>
            <a:pPr algn="l" eaLnBrk="0">
              <a:lnSpc>
                <a:spcPct val="110000"/>
              </a:lnSpc>
              <a:spcAft>
                <a:spcPts val="200"/>
              </a:spcAft>
            </a:pPr>
            <a:r>
              <a:rPr sz="1150" b="0">
                <a:solidFill>
                  <a:srgbClr val="556175"/>
                </a:solidFill>
                <a:latin typeface="맑은 고딕"/>
                <a:ea typeface="맑은 고딕"/>
                <a:cs typeface="맑은 고딕"/>
              </a:rPr>
              <a:t>배제 근거</a:t>
            </a:r>
          </a:p>
        </p:txBody>
      </p:sp>
      <p:sp>
        <p:nvSpPr>
          <p:cNvPr id="11" name="TextBox 10"/>
          <p:cNvSpPr txBox="1"/>
          <p:nvPr/>
        </p:nvSpPr>
        <p:spPr>
          <a:xfrm>
            <a:off x="4023359" y="2573121"/>
            <a:ext cx="7528255" cy="945489"/>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팬 구동 불량: VS1 평균이 0.9 mm/s 미만이다.</a:t>
            </a:r>
          </a:p>
          <a:p>
            <a:pPr algn="l" eaLnBrk="0">
              <a:lnSpc>
                <a:spcPct val="110000"/>
              </a:lnSpc>
              <a:spcAft>
                <a:spcPts val="300"/>
              </a:spcAft>
            </a:pPr>
            <a:r>
              <a:rPr sz="1400" b="0">
                <a:solidFill>
                  <a:srgbClr val="1F2A3A"/>
                </a:solidFill>
                <a:latin typeface="맑은 고딕"/>
                <a:ea typeface="맑은 고딕"/>
                <a:cs typeface="맑은 고딕"/>
              </a:rPr>
              <a:t>주변 온도 상승: TS4의 2분 평균 28 ℃가 35 ℃ 미만이다.</a:t>
            </a:r>
          </a:p>
        </p:txBody>
      </p:sp>
      <p:sp>
        <p:nvSpPr>
          <p:cNvPr id="12" name="Rectangle 11"/>
          <p:cNvSpPr/>
          <p:nvPr/>
        </p:nvSpPr>
        <p:spPr>
          <a:xfrm>
            <a:off x="548640" y="3509467"/>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3518611"/>
            <a:ext cx="3291839" cy="945489"/>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지식과 값의 분리</a:t>
            </a:r>
          </a:p>
          <a:p>
            <a:pPr algn="l" eaLnBrk="0">
              <a:lnSpc>
                <a:spcPct val="110000"/>
              </a:lnSpc>
              <a:spcAft>
                <a:spcPts val="200"/>
              </a:spcAft>
            </a:pPr>
            <a:r>
              <a:rPr sz="1150" b="0">
                <a:solidFill>
                  <a:srgbClr val="556175"/>
                </a:solidFill>
                <a:latin typeface="맑은 고딕"/>
                <a:ea typeface="맑은 고딕"/>
                <a:cs typeface="맑은 고딕"/>
              </a:rPr>
              <a:t>정의와 관측</a:t>
            </a:r>
          </a:p>
        </p:txBody>
      </p:sp>
      <p:sp>
        <p:nvSpPr>
          <p:cNvPr id="14" name="TextBox 13"/>
          <p:cNvSpPr txBox="1"/>
          <p:nvPr/>
        </p:nvSpPr>
        <p:spPr>
          <a:xfrm>
            <a:off x="4023359" y="3518611"/>
            <a:ext cx="7528255" cy="945489"/>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지식 그래프에는 확인할 태그·집계 구간·판별 기준이 있다.</a:t>
            </a:r>
          </a:p>
          <a:p>
            <a:pPr algn="l" eaLnBrk="0">
              <a:lnSpc>
                <a:spcPct val="110000"/>
              </a:lnSpc>
              <a:spcAft>
                <a:spcPts val="300"/>
              </a:spcAft>
            </a:pPr>
            <a:r>
              <a:rPr sz="1400" b="0">
                <a:solidFill>
                  <a:srgbClr val="1F2A3A"/>
                </a:solidFill>
                <a:latin typeface="맑은 고딕"/>
                <a:ea typeface="맑은 고딕"/>
                <a:cs typeface="맑은 고딕"/>
              </a:rPr>
              <a:t>계속 바뀌는 값은 시계열 저장소에서 읽어 대조한다.</a:t>
            </a:r>
          </a:p>
        </p:txBody>
      </p:sp>
      <p:sp>
        <p:nvSpPr>
          <p:cNvPr id="15" name="Rectangle 14"/>
          <p:cNvSpPr/>
          <p:nvPr/>
        </p:nvSpPr>
        <p:spPr>
          <a:xfrm>
            <a:off x="548640" y="4454956"/>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4464100"/>
            <a:ext cx="3291839" cy="945489"/>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조치와 근거 문서</a:t>
            </a:r>
          </a:p>
          <a:p>
            <a:pPr algn="l" eaLnBrk="0">
              <a:lnSpc>
                <a:spcPct val="110000"/>
              </a:lnSpc>
              <a:spcAft>
                <a:spcPts val="200"/>
              </a:spcAft>
            </a:pPr>
            <a:r>
              <a:rPr sz="1150" b="0">
                <a:solidFill>
                  <a:srgbClr val="556175"/>
                </a:solidFill>
                <a:latin typeface="맑은 고딕"/>
                <a:ea typeface="맑은 고딕"/>
                <a:cs typeface="맑은 고딕"/>
              </a:rPr>
              <a:t>추천의 근거</a:t>
            </a:r>
          </a:p>
        </p:txBody>
      </p:sp>
      <p:sp>
        <p:nvSpPr>
          <p:cNvPr id="17" name="TextBox 16"/>
          <p:cNvSpPr txBox="1"/>
          <p:nvPr/>
        </p:nvSpPr>
        <p:spPr>
          <a:xfrm>
            <a:off x="4023359" y="4464100"/>
            <a:ext cx="7528255" cy="945489"/>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팬 최대 운전은 고장 유형의 MITIGATED_BY로 찾는 완화 조치이다.</a:t>
            </a:r>
          </a:p>
          <a:p>
            <a:pPr algn="l" eaLnBrk="0">
              <a:lnSpc>
                <a:spcPct val="110000"/>
              </a:lnSpc>
              <a:spcAft>
                <a:spcPts val="300"/>
              </a:spcAft>
            </a:pPr>
            <a:r>
              <a:rPr sz="1400" b="0">
                <a:solidFill>
                  <a:srgbClr val="1F2A3A"/>
                </a:solidFill>
                <a:latin typeface="맑은 고딕"/>
                <a:ea typeface="맑은 고딕"/>
                <a:cs typeface="맑은 고딕"/>
              </a:rPr>
              <a:t>조치 방법 → 단계(Step) → 매뉴얼 절(ManualSection)</a:t>
            </a:r>
          </a:p>
          <a:p>
            <a:pPr algn="l" eaLnBrk="0">
              <a:lnSpc>
                <a:spcPct val="110000"/>
              </a:lnSpc>
              <a:spcAft>
                <a:spcPts val="300"/>
              </a:spcAft>
            </a:pPr>
            <a:r>
              <a:rPr sz="1400" b="0">
                <a:solidFill>
                  <a:srgbClr val="1F2A3A"/>
                </a:solidFill>
                <a:latin typeface="맑은 고딕"/>
                <a:ea typeface="맑은 고딕"/>
                <a:cs typeface="맑은 고딕"/>
              </a:rPr>
              <a:t>HAS_STEP과 REFERS_TO를 거쳐 HM-8.5를 근거로 찾는다.</a:t>
            </a:r>
          </a:p>
        </p:txBody>
      </p:sp>
      <p:sp>
        <p:nvSpPr>
          <p:cNvPr id="18" name="Rectangle 17"/>
          <p:cNvSpPr/>
          <p:nvPr/>
        </p:nvSpPr>
        <p:spPr>
          <a:xfrm>
            <a:off x="548640" y="540044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640080" y="5409590"/>
            <a:ext cx="3291839" cy="945489"/>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후보 비교</a:t>
            </a:r>
          </a:p>
          <a:p>
            <a:pPr algn="l" eaLnBrk="0">
              <a:lnSpc>
                <a:spcPct val="110000"/>
              </a:lnSpc>
              <a:spcAft>
                <a:spcPts val="200"/>
              </a:spcAft>
            </a:pPr>
            <a:r>
              <a:rPr sz="1150" b="0">
                <a:solidFill>
                  <a:srgbClr val="556175"/>
                </a:solidFill>
                <a:latin typeface="맑은 고딕"/>
                <a:ea typeface="맑은 고딕"/>
                <a:cs typeface="맑은 고딕"/>
              </a:rPr>
              <a:t>대안의 순위</a:t>
            </a:r>
          </a:p>
        </p:txBody>
      </p:sp>
      <p:sp>
        <p:nvSpPr>
          <p:cNvPr id="20" name="TextBox 19"/>
          <p:cNvSpPr txBox="1"/>
          <p:nvPr/>
        </p:nvSpPr>
        <p:spPr>
          <a:xfrm>
            <a:off x="4023359" y="5409590"/>
            <a:ext cx="7528255" cy="945489"/>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1순위: 팬 최대 운전</a:t>
            </a:r>
          </a:p>
          <a:p>
            <a:pPr algn="l" eaLnBrk="0">
              <a:lnSpc>
                <a:spcPct val="110000"/>
              </a:lnSpc>
              <a:spcAft>
                <a:spcPts val="300"/>
              </a:spcAft>
            </a:pPr>
            <a:r>
              <a:rPr sz="1400" b="0">
                <a:solidFill>
                  <a:srgbClr val="1F2A3A"/>
                </a:solidFill>
                <a:latin typeface="맑은 고딕"/>
                <a:ea typeface="맑은 고딕"/>
                <a:cs typeface="맑은 고딕"/>
              </a:rPr>
              <a:t>공동 2순위: 팬 최대 운전·부하 80 %, 부하 70 %·야간 핀 세척</a:t>
            </a:r>
          </a:p>
          <a:p>
            <a:pPr algn="l" eaLnBrk="0">
              <a:lnSpc>
                <a:spcPct val="110000"/>
              </a:lnSpc>
              <a:spcAft>
                <a:spcPts val="300"/>
              </a:spcAft>
            </a:pPr>
            <a:r>
              <a:rPr sz="1400" b="0">
                <a:solidFill>
                  <a:srgbClr val="1F2A3A"/>
                </a:solidFill>
                <a:latin typeface="맑은 고딕"/>
                <a:ea typeface="맑은 고딕"/>
                <a:cs typeface="맑은 고딕"/>
              </a:rPr>
              <a:t>4순위: 쿨러 핀 세척(설비 정지)</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 모델이 판단과 업무에 쓰이는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온톨로지는 판단의 기준을 주고, 에이전트·담당자·프로세스는 추천·승인·실행과 확인을 나누어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걸음</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맡은 일</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확인과 결과</a:t>
            </a:r>
          </a:p>
        </p:txBody>
      </p:sp>
      <p:sp>
        <p:nvSpPr>
          <p:cNvPr id="10" name="Rounded Rectangle 9"/>
          <p:cNvSpPr/>
          <p:nvPr/>
        </p:nvSpPr>
        <p:spPr>
          <a:xfrm>
            <a:off x="548640" y="2061972"/>
            <a:ext cx="11094415" cy="801014"/>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정의</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온톨로지가 대상의 종류·속성·관계·제약을 정한다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공통 기준</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조회</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경보에서 관계를 따라 원인 후보와 증거를 찾는다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확인할 대상과 값</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판단</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에이전트가 실제 값을 기준과 대조해 조치를 추천한다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추천안과 근거</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담당자가 승인하거나 거절한다</a:t>
            </a:r>
          </a:p>
          <a:p>
            <a:pPr algn="l" eaLnBrk="0">
              <a:lnSpc>
                <a:spcPct val="110000"/>
              </a:lnSpc>
            </a:pPr>
            <a:r>
              <a:rPr sz="1400" b="0">
                <a:solidFill>
                  <a:srgbClr val="1F2A3A"/>
                </a:solidFill>
                <a:latin typeface="맑은 고딕"/>
                <a:ea typeface="맑은 고딕"/>
                <a:cs typeface="맑은 고딕"/>
              </a:rPr>
              <a:t>승인 시 재확인: 유온 61.8 ℃ · 원격 자동 · 운전 중</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거절: 명령 없음</a:t>
            </a:r>
          </a:p>
          <a:p>
            <a:pPr algn="l" eaLnBrk="0">
              <a:lnSpc>
                <a:spcPct val="110000"/>
              </a:lnSpc>
            </a:pPr>
            <a:r>
              <a:rPr sz="1250" b="1">
                <a:solidFill>
                  <a:srgbClr val="556175"/>
                </a:solidFill>
                <a:latin typeface="맑은 고딕"/>
                <a:ea typeface="맑은 고딕"/>
                <a:cs typeface="맑은 고딕"/>
              </a:rPr>
              <a:t>거절 기록을 남김</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실행·확인</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프로세스가 승인된 조치를 명령으로 내려보내고 재관측한다</a:t>
            </a:r>
          </a:p>
          <a:p>
            <a:pPr algn="l" eaLnBrk="0">
              <a:lnSpc>
                <a:spcPct val="110000"/>
              </a:lnSpc>
            </a:pPr>
            <a:r>
              <a:rPr sz="1400" b="0">
                <a:solidFill>
                  <a:srgbClr val="1F2A3A"/>
                </a:solidFill>
                <a:latin typeface="맑은 고딕"/>
                <a:ea typeface="맑은 고딕"/>
                <a:cs typeface="맑은 고딕"/>
              </a:rPr>
              <a:t>완화하지 못하면 사람에게 다시 넘긴다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명령 실행과</a:t>
            </a:r>
          </a:p>
          <a:p>
            <a:pPr algn="l" eaLnBrk="0">
              <a:lnSpc>
                <a:spcPct val="110000"/>
              </a:lnSpc>
            </a:pPr>
            <a:r>
              <a:rPr sz="1250" b="1">
                <a:solidFill>
                  <a:srgbClr val="556175"/>
                </a:solidFill>
                <a:latin typeface="맑은 고딕"/>
                <a:ea typeface="맑은 고딕"/>
                <a:cs typeface="맑은 고딕"/>
              </a:rPr>
              <a:t>설비 회복은 구별</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설비 이상과 원인 · 조치의 관계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arrows.app에서 노드와 관계를 배치하고 이름과 방향을 정한다</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실습에서 완성하는 관계 그림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설비·센서·증상·원인·조치를 이름과 방향이 있는 관계로 연결하고, 문장으로 읽어 그림을 점검한다.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71</a:t>
            </a:r>
          </a:p>
        </p:txBody>
      </p:sp>
      <p:sp>
        <p:nvSpPr>
          <p:cNvPr id="6" name="Rounded Rectangle 5"/>
          <p:cNvSpPr/>
          <p:nvPr/>
        </p:nvSpPr>
        <p:spPr>
          <a:xfrm>
            <a:off x="548640" y="2658872"/>
            <a:ext cx="3515258" cy="266496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2860040"/>
            <a:ext cx="3186074" cy="1960880"/>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사례의 대상</a:t>
            </a:r>
          </a:p>
          <a:p>
            <a:pPr algn="l" eaLnBrk="0" marL="182880" indent="-182880">
              <a:lnSpc>
                <a:spcPct val="110000"/>
              </a:lnSpc>
              <a:spcAft>
                <a:spcPts val="400"/>
              </a:spcAft>
            </a:pPr>
            <a:r>
              <a:rPr sz="1600" b="0">
                <a:solidFill>
                  <a:srgbClr val="1F2A3A"/>
                </a:solidFill>
                <a:latin typeface="맑은 고딕"/>
                <a:ea typeface="맑은 고딕"/>
                <a:cs typeface="맑은 고딕"/>
              </a:rPr>
              <a:t>• HYD-01, 유온 센서 TS1, 유온 상승, 쿨러 핀 오염, 팬 최대 운전을 노드로 둔다</a:t>
            </a:r>
          </a:p>
          <a:p>
            <a:pPr algn="l" eaLnBrk="0" marL="182880" indent="-182880">
              <a:lnSpc>
                <a:spcPct val="110000"/>
              </a:lnSpc>
              <a:spcAft>
                <a:spcPts val="400"/>
              </a:spcAft>
            </a:pPr>
            <a:r>
              <a:rPr sz="1600" b="0">
                <a:solidFill>
                  <a:srgbClr val="1F2A3A"/>
                </a:solidFill>
                <a:latin typeface="맑은 고딕"/>
                <a:ea typeface="맑은 고딕"/>
                <a:cs typeface="맑은 고딕"/>
              </a:rPr>
              <a:t>• 필요한 고장 유형과 구성 요소도 함께 놓는다</a:t>
            </a:r>
          </a:p>
        </p:txBody>
      </p:sp>
      <p:sp>
        <p:nvSpPr>
          <p:cNvPr id="8" name="Rounded Rectangle 7"/>
          <p:cNvSpPr/>
          <p:nvPr/>
        </p:nvSpPr>
        <p:spPr>
          <a:xfrm>
            <a:off x="777240" y="4894072"/>
            <a:ext cx="822960"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4894072"/>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0" name="Rounded Rectangle 9"/>
          <p:cNvSpPr/>
          <p:nvPr/>
        </p:nvSpPr>
        <p:spPr>
          <a:xfrm>
            <a:off x="4338218" y="2658872"/>
            <a:ext cx="3515258" cy="266496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4502810" y="2860040"/>
            <a:ext cx="3186074" cy="1960880"/>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이름과 방향이 있는 그림</a:t>
            </a:r>
          </a:p>
          <a:p>
            <a:pPr algn="l" eaLnBrk="0" marL="182880" indent="-182880">
              <a:lnSpc>
                <a:spcPct val="110000"/>
              </a:lnSpc>
              <a:spcAft>
                <a:spcPts val="400"/>
              </a:spcAft>
            </a:pPr>
            <a:r>
              <a:rPr sz="1600" b="0">
                <a:solidFill>
                  <a:srgbClr val="1F2A3A"/>
                </a:solidFill>
                <a:latin typeface="맑은 고딕"/>
                <a:ea typeface="맑은 고딕"/>
                <a:cs typeface="맑은 고딕"/>
              </a:rPr>
              <a:t>• 노드를 화살표로 연결하고 관계 이름을 붙인다</a:t>
            </a:r>
          </a:p>
          <a:p>
            <a:pPr algn="l" eaLnBrk="0" marL="182880" indent="-182880">
              <a:lnSpc>
                <a:spcPct val="110000"/>
              </a:lnSpc>
              <a:spcAft>
                <a:spcPts val="400"/>
              </a:spcAft>
            </a:pPr>
            <a:r>
              <a:rPr sz="1600" b="0">
                <a:solidFill>
                  <a:srgbClr val="1F2A3A"/>
                </a:solidFill>
                <a:latin typeface="맑은 고딕"/>
                <a:ea typeface="맑은 고딕"/>
                <a:cs typeface="맑은 고딕"/>
              </a:rPr>
              <a:t>• 정보 목록에 없던 대상 사이의 뜻이 그림에 드러나야 한다</a:t>
            </a:r>
          </a:p>
        </p:txBody>
      </p:sp>
      <p:sp>
        <p:nvSpPr>
          <p:cNvPr id="12" name="Rounded Rectangle 11"/>
          <p:cNvSpPr/>
          <p:nvPr/>
        </p:nvSpPr>
        <p:spPr>
          <a:xfrm>
            <a:off x="4566818" y="4894072"/>
            <a:ext cx="822960"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4566818" y="4894072"/>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a:t>
            </a:r>
          </a:p>
        </p:txBody>
      </p:sp>
      <p:sp>
        <p:nvSpPr>
          <p:cNvPr id="14" name="Rounded Rectangle 13"/>
          <p:cNvSpPr/>
          <p:nvPr/>
        </p:nvSpPr>
        <p:spPr>
          <a:xfrm>
            <a:off x="8127796" y="2658872"/>
            <a:ext cx="3515258" cy="2664968"/>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5" name="TextBox 14"/>
          <p:cNvSpPr txBox="1"/>
          <p:nvPr/>
        </p:nvSpPr>
        <p:spPr>
          <a:xfrm>
            <a:off x="8292388" y="2860040"/>
            <a:ext cx="3186074" cy="1960880"/>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문장으로 확인</a:t>
            </a:r>
          </a:p>
          <a:p>
            <a:pPr algn="l" eaLnBrk="0" marL="182880" indent="-182880">
              <a:lnSpc>
                <a:spcPct val="110000"/>
              </a:lnSpc>
              <a:spcAft>
                <a:spcPts val="400"/>
              </a:spcAft>
            </a:pPr>
            <a:r>
              <a:rPr sz="1600" b="0">
                <a:solidFill>
                  <a:srgbClr val="1F2A3A"/>
                </a:solidFill>
                <a:latin typeface="맑은 고딕"/>
                <a:ea typeface="맑은 고딕"/>
                <a:cs typeface="맑은 고딕"/>
              </a:rPr>
              <a:t>• 출발점·관계·도착점을 주어·서술어·목적어로 읽는다</a:t>
            </a:r>
          </a:p>
          <a:p>
            <a:pPr algn="l" eaLnBrk="0" marL="182880" indent="-182880">
              <a:lnSpc>
                <a:spcPct val="110000"/>
              </a:lnSpc>
              <a:spcAft>
                <a:spcPts val="400"/>
              </a:spcAft>
            </a:pPr>
            <a:r>
              <a:rPr sz="1600" b="0">
                <a:solidFill>
                  <a:srgbClr val="1F2A3A"/>
                </a:solidFill>
                <a:latin typeface="맑은 고딕"/>
                <a:ea typeface="맑은 고딕"/>
                <a:cs typeface="맑은 고딕"/>
              </a:rPr>
              <a:t>• 사실과 맞지 않거나 뜻이 어색하면 이름과 방향을 고친다</a:t>
            </a:r>
          </a:p>
        </p:txBody>
      </p:sp>
      <p:sp>
        <p:nvSpPr>
          <p:cNvPr id="16" name="Rounded Rectangle 15"/>
          <p:cNvSpPr/>
          <p:nvPr/>
        </p:nvSpPr>
        <p:spPr>
          <a:xfrm>
            <a:off x="8356396" y="4894072"/>
            <a:ext cx="10210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8356396" y="4894072"/>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성공 판단</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본문에서 풀어 쓴 약어의 정식 명칭과 뜻을 한곳에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72</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8"/>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OT · IT</a:t>
            </a:r>
          </a:p>
        </p:txBody>
      </p:sp>
      <p:sp>
        <p:nvSpPr>
          <p:cNvPr id="11" name="TextBox 10"/>
          <p:cNvSpPr txBox="1"/>
          <p:nvPr/>
        </p:nvSpPr>
        <p:spPr>
          <a:xfrm>
            <a:off x="3200400" y="2029968"/>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Operational Technology · Information Technology</a:t>
            </a:r>
          </a:p>
          <a:p>
            <a:pPr algn="l" eaLnBrk="0">
              <a:lnSpc>
                <a:spcPct val="110000"/>
              </a:lnSpc>
            </a:pPr>
            <a:r>
              <a:rPr sz="1400" b="0">
                <a:solidFill>
                  <a:srgbClr val="1F2A3A"/>
                </a:solidFill>
                <a:latin typeface="맑은 고딕"/>
                <a:ea typeface="맑은 고딕"/>
                <a:cs typeface="맑은 고딕"/>
              </a:rPr>
              <a:t>설비를 움직이는 운영 기술과, 데이터를 다루는 정보 기술</a:t>
            </a:r>
          </a:p>
        </p:txBody>
      </p:sp>
      <p:sp>
        <p:nvSpPr>
          <p:cNvPr id="12" name="Rounded Rectangle 11"/>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570607"/>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DMZ</a:t>
            </a:r>
          </a:p>
        </p:txBody>
      </p:sp>
      <p:sp>
        <p:nvSpPr>
          <p:cNvPr id="14" name="TextBox 13"/>
          <p:cNvSpPr txBox="1"/>
          <p:nvPr/>
        </p:nvSpPr>
        <p:spPr>
          <a:xfrm>
            <a:off x="3200400" y="2570607"/>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Demilitarized Zone</a:t>
            </a:r>
          </a:p>
          <a:p>
            <a:pPr algn="l" eaLnBrk="0">
              <a:lnSpc>
                <a:spcPct val="110000"/>
              </a:lnSpc>
            </a:pPr>
            <a:r>
              <a:rPr sz="1400" b="0">
                <a:solidFill>
                  <a:srgbClr val="1F2A3A"/>
                </a:solidFill>
                <a:latin typeface="맑은 고딕"/>
                <a:ea typeface="맑은 고딕"/>
                <a:cs typeface="맑은 고딕"/>
              </a:rPr>
              <a:t>OT와 IT 사이에서 드나드는 데이터와 명령을 검사하는 완충 구역</a:t>
            </a:r>
          </a:p>
        </p:txBody>
      </p:sp>
      <p:sp>
        <p:nvSpPr>
          <p:cNvPr id="15" name="Rounded Rectangle 14"/>
          <p:cNvSpPr/>
          <p:nvPr/>
        </p:nvSpPr>
        <p:spPr>
          <a:xfrm>
            <a:off x="548640" y="3143250"/>
            <a:ext cx="11094415" cy="476631"/>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3111246"/>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PLC</a:t>
            </a:r>
          </a:p>
        </p:txBody>
      </p:sp>
      <p:sp>
        <p:nvSpPr>
          <p:cNvPr id="17" name="TextBox 16"/>
          <p:cNvSpPr txBox="1"/>
          <p:nvPr/>
        </p:nvSpPr>
        <p:spPr>
          <a:xfrm>
            <a:off x="3200400" y="3111246"/>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Programmable Logic Controller</a:t>
            </a:r>
          </a:p>
          <a:p>
            <a:pPr algn="l" eaLnBrk="0">
              <a:lnSpc>
                <a:spcPct val="110000"/>
              </a:lnSpc>
            </a:pPr>
            <a:r>
              <a:rPr sz="1400" b="0">
                <a:solidFill>
                  <a:srgbClr val="1F2A3A"/>
                </a:solidFill>
                <a:latin typeface="맑은 고딕"/>
                <a:ea typeface="맑은 고딕"/>
                <a:cs typeface="맑은 고딕"/>
              </a:rPr>
              <a:t>센서 값을 읽고 정해진 논리로 설비를 직접 제어하는 산업용 제어기</a:t>
            </a:r>
          </a:p>
        </p:txBody>
      </p:sp>
      <p:sp>
        <p:nvSpPr>
          <p:cNvPr id="18" name="Rounded Rectangle 17"/>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651885"/>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MQTT</a:t>
            </a:r>
          </a:p>
        </p:txBody>
      </p:sp>
      <p:sp>
        <p:nvSpPr>
          <p:cNvPr id="20" name="TextBox 19"/>
          <p:cNvSpPr txBox="1"/>
          <p:nvPr/>
        </p:nvSpPr>
        <p:spPr>
          <a:xfrm>
            <a:off x="3200400" y="3651885"/>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Message Queuing Telemetry Transport</a:t>
            </a:r>
          </a:p>
          <a:p>
            <a:pPr algn="l" eaLnBrk="0">
              <a:lnSpc>
                <a:spcPct val="110000"/>
              </a:lnSpc>
            </a:pPr>
            <a:r>
              <a:rPr sz="1400" b="0">
                <a:solidFill>
                  <a:srgbClr val="1F2A3A"/>
                </a:solidFill>
                <a:latin typeface="맑은 고딕"/>
                <a:ea typeface="맑은 고딕"/>
                <a:cs typeface="맑은 고딕"/>
              </a:rPr>
              <a:t>발행자의 메시지를 브로커가 구독자에게 전달하는 경량 메시지 규약</a:t>
            </a:r>
          </a:p>
        </p:txBody>
      </p:sp>
      <p:sp>
        <p:nvSpPr>
          <p:cNvPr id="21" name="Rounded Rectangle 20"/>
          <p:cNvSpPr/>
          <p:nvPr/>
        </p:nvSpPr>
        <p:spPr>
          <a:xfrm>
            <a:off x="548640" y="4224528"/>
            <a:ext cx="11094415" cy="476631"/>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4192524"/>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SCADA</a:t>
            </a:r>
          </a:p>
        </p:txBody>
      </p:sp>
      <p:sp>
        <p:nvSpPr>
          <p:cNvPr id="23" name="TextBox 22"/>
          <p:cNvSpPr txBox="1"/>
          <p:nvPr/>
        </p:nvSpPr>
        <p:spPr>
          <a:xfrm>
            <a:off x="3200400" y="4192524"/>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Supervisory Control and Data Acquisition</a:t>
            </a:r>
          </a:p>
          <a:p>
            <a:pPr algn="l" eaLnBrk="0">
              <a:lnSpc>
                <a:spcPct val="110000"/>
              </a:lnSpc>
            </a:pPr>
            <a:r>
              <a:rPr sz="1400" b="0">
                <a:solidFill>
                  <a:srgbClr val="1F2A3A"/>
                </a:solidFill>
                <a:latin typeface="맑은 고딕"/>
                <a:ea typeface="맑은 고딕"/>
                <a:cs typeface="맑은 고딕"/>
              </a:rPr>
              <a:t>설비 데이터를 모아 감시하고 원격으로 제어하는 시스템</a:t>
            </a:r>
          </a:p>
        </p:txBody>
      </p:sp>
      <p:sp>
        <p:nvSpPr>
          <p:cNvPr id="24" name="Rounded Rectangle 23"/>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4733163"/>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HMI</a:t>
            </a:r>
          </a:p>
        </p:txBody>
      </p:sp>
      <p:sp>
        <p:nvSpPr>
          <p:cNvPr id="26" name="TextBox 25"/>
          <p:cNvSpPr txBox="1"/>
          <p:nvPr/>
        </p:nvSpPr>
        <p:spPr>
          <a:xfrm>
            <a:off x="3200400" y="4733163"/>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Human-Machine Interface</a:t>
            </a:r>
          </a:p>
          <a:p>
            <a:pPr algn="l" eaLnBrk="0">
              <a:lnSpc>
                <a:spcPct val="110000"/>
              </a:lnSpc>
            </a:pPr>
            <a:r>
              <a:rPr sz="1400" b="0">
                <a:solidFill>
                  <a:srgbClr val="1F2A3A"/>
                </a:solidFill>
                <a:latin typeface="맑은 고딕"/>
                <a:ea typeface="맑은 고딕"/>
                <a:cs typeface="맑은 고딕"/>
              </a:rPr>
              <a:t>사람이 설비 상태를 보고 조작하는 화면</a:t>
            </a:r>
          </a:p>
        </p:txBody>
      </p:sp>
      <p:sp>
        <p:nvSpPr>
          <p:cNvPr id="27" name="Rounded Rectangle 26"/>
          <p:cNvSpPr/>
          <p:nvPr/>
        </p:nvSpPr>
        <p:spPr>
          <a:xfrm>
            <a:off x="548640" y="5305806"/>
            <a:ext cx="11094415" cy="476631"/>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5273802"/>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HITL</a:t>
            </a:r>
          </a:p>
        </p:txBody>
      </p:sp>
      <p:sp>
        <p:nvSpPr>
          <p:cNvPr id="29" name="TextBox 28"/>
          <p:cNvSpPr txBox="1"/>
          <p:nvPr/>
        </p:nvSpPr>
        <p:spPr>
          <a:xfrm>
            <a:off x="3200400" y="5273802"/>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Human-in-the-Loop</a:t>
            </a:r>
          </a:p>
          <a:p>
            <a:pPr algn="l" eaLnBrk="0">
              <a:lnSpc>
                <a:spcPct val="110000"/>
              </a:lnSpc>
            </a:pPr>
            <a:r>
              <a:rPr sz="1400" b="0">
                <a:solidFill>
                  <a:srgbClr val="1F2A3A"/>
                </a:solidFill>
                <a:latin typeface="맑은 고딕"/>
                <a:ea typeface="맑은 고딕"/>
                <a:cs typeface="맑은 고딕"/>
              </a:rPr>
              <a:t>자동 처리 중간에 사람이 승인 · 거절로 결정하는 구조</a:t>
            </a:r>
          </a:p>
        </p:txBody>
      </p:sp>
      <p:sp>
        <p:nvSpPr>
          <p:cNvPr id="30" name="Rounded Rectangle 29"/>
          <p:cNvSpPr/>
          <p:nvPr/>
        </p:nvSpPr>
        <p:spPr>
          <a:xfrm>
            <a:off x="548640" y="5846445"/>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814441"/>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MES</a:t>
            </a:r>
          </a:p>
        </p:txBody>
      </p:sp>
      <p:sp>
        <p:nvSpPr>
          <p:cNvPr id="32" name="TextBox 31"/>
          <p:cNvSpPr txBox="1"/>
          <p:nvPr/>
        </p:nvSpPr>
        <p:spPr>
          <a:xfrm>
            <a:off x="3200400" y="5814441"/>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Manufacturing Execution System</a:t>
            </a:r>
          </a:p>
          <a:p>
            <a:pPr algn="l" eaLnBrk="0">
              <a:lnSpc>
                <a:spcPct val="110000"/>
              </a:lnSpc>
            </a:pPr>
            <a:r>
              <a:rPr sz="1400" b="0">
                <a:solidFill>
                  <a:srgbClr val="1F2A3A"/>
                </a:solidFill>
                <a:latin typeface="맑은 고딕"/>
                <a:ea typeface="맑은 고딕"/>
                <a:cs typeface="맑은 고딕"/>
              </a:rPr>
              <a:t>생산 지시 · 실적 · 납기를 관리하는 제조 실행 시스템</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1. 경보 이후의 판단</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HYD-01의 쿨러 성능 저하 경보 때 VS1 평균은 1.1 mm/s, TS4는 28 ℃라고 하자.</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74</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값을 바탕으로 내릴 판단 중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경보 이름이 쿨러 성능 저하이므로 원인은 쿨러 핀 오염이다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팬 진동이 기준 0.9 이상이므로 팬 구동 불량을 먼저 의심한다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유온이 올랐으므로 원인과 관계없이 팬 속도를 최대로 올린다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캐비닛 온도가 정상이므로 설비에는 이상이 없다</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2. 관계의 이름과 방향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원인 노드 「쿨러 핀 오염」과 고장 유형 노드 「쿨러 냉각 성능 상실」을 관계로 연결하려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75</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관계의 이름과 방향이 서로 맞게 적힌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쿨러 냉각 성능 상실 — CAUSES → 쿨러 핀 오염</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쿨러 핀 오염 — INDICATES → 쿨러 냉각 성능 상실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쿨러 핀 오염 — CAUSES → 쿨러 냉각 성능 상실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선만 이으면 되고 이름과 방향은 필요하지 않다</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3. 추천과 실행의 책임 경계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에이전트가 쿨러 핀 오염을 원인으로 판단해 「팬 최대 운전」을 추천했으나, 담당자는 아직 승인하지 않았다.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76</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시점의 상태를 바르게 설명한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에이전트가 추천과 동시에 팬 속도 명령을 설비로 보냈다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지식 그래프에 조치가 연결되어 있으므로 승인 없이 실행된다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일정 시간이 지나면 추천안이 자동으로 실행된다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설비 명령은 아직 만들어지지 않았으며 승인을 기다린다</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각각 경보와 원인, 이름과 방향, 추천과 실행을 구분할 수 있는지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77</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경보는 조건이 성립했다는 사실만 알린다. 원인은 팬 진동과 캐비닛 온도 같은 다른 값으로 가린다.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문장으로 읽었을 때 뜻이 통해야 한다. 「핀 오염은 냉각 성능 상실을 일으킨다」가 사실에 맞는다.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에이전트는 추천까지만 한다. 명령은 담당자가 승인한 뒤에만 만들어진다.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