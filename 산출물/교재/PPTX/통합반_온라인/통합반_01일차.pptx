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열화 한 건을 처음부터 끝까지 처리합니다. 경보가 남긴 값에서 출발해 원인 진단과 추천의 근거가 무엇인지 확인하고, 담당자의 승인이 명령으로 이어지는 경계를 봅니다. 명령이 실행되었다는 ACK 뒤에도 계측값을 다시 읽어 완화 결과를 확인합니다. 유온이 내려가도 핀 오염은 남아 있어 세척 작업지시가 별도로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 도구입니다. 지식 그래프는 온톨로지에 맞춰 실제 대상과 관계를 채운 것이며, HYD에서는 그래프 DB에 저장합니다. 여기에는 값을 읽는 방법을 두고, 계속 바뀌는 센서 값은 시계열 저장소에서 읽습니다. 온톨로지는 원인 후보와 근거를 찾는 바탕이며,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그래프에서 찾은 것은 원인 이름만이 아니라 확인할 태그와 집계 구간, 판별 기준입니다. 냉각 효율과 팬 진동의 평균을 대조해 핀 오염을 판단하고, 팬 진동과 캐비닛 온도로 다른 두 후보를 배제합니다. 조치 후보는 고장 유형에 연결된 팬 최대 운전이며, 단계와 문서 참조를 거쳐 매뉴얼 HM-8.5에 닿습니다. 이 관계와 실제 값을 함께 남겨야 추천의 근거를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다섯 걸음으로 정리하겠습니다. 경보는 조건을 벗어났다는 사실만 알리고 판단에 필요한 정보는 흩어져 있으므로, 대상과 관계를 온톨로지로 정의합니다. 컴퓨터는 그 관계를 따라 원인 후보와 증거를 찾고, 에이전트는 값을 대조해 조치를 추천합니다. 담당자가 승인한 뒤에만 프로세스 엔진이 조치를 명령으로 만들어 내려보냅니다. 온톨로지는 이 판단의 바탕이며, 스스로 조치를 결정하지는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사례의 대상을 노드로 놓고 관계의 이름과 방향을 직접 정합니다. 완성물은 대상을 나열한 목록이 아니라 대상 사이의 뜻이 보이는 그림 한 장입니다. 화살표마다 문장으로 읽어 사실과 맞는지 확인합니다. 관계 이름을 스스로 정할 수 있지만 이름과 방향의 뜻은 일치해야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모았습니다. 뜻은 앞에서 설명했으므로 여기서는 이름과 역할을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8.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4987036"/>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4987036"/>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565908"/>
            <a:ext cx="3515258" cy="28508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p:txBody>
      </p:sp>
      <p:sp>
        <p:nvSpPr>
          <p:cNvPr id="16" name="Rounded Rectangle 15"/>
          <p:cNvSpPr/>
          <p:nvPr/>
        </p:nvSpPr>
        <p:spPr>
          <a:xfrm>
            <a:off x="8356396" y="4987036"/>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9870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계측값에는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붙고, 유온 TS1은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317134853198236270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10110541" y="5740511"/>
            <a:ext cx="1418234"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현장 제어와 인터록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400" b="0">
                <a:solidFill>
                  <a:srgbClr val="1F2A3A"/>
                </a:solidFill>
                <a:latin typeface="맑은 고딕"/>
                <a:ea typeface="맑은 고딕"/>
                <a:cs typeface="맑은 고딕"/>
              </a:rPr>
              <a:t>현장 값을 읽어 수집 메시지로 변환한다. 이 역할에는 EdgeX Foundry 같은 것이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1451473793492774121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일어난 일을 남긴 기록이며, 경보에는 식별자와 발생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value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840289476576517104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8337537018673814672_1791992996.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처리 결과까지의 정보 전달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열화의 경보·진단·추천·승인·실행·재관측에서, 앞 단계의 어떤 결과가 다음 단계로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854325"/>
            <a:ext cx="1911644" cy="227406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경보</a:t>
            </a:r>
          </a:p>
          <a:p>
            <a:pPr algn="ctr" eaLnBrk="0">
              <a:lnSpc>
                <a:spcPct val="110000"/>
              </a:lnSpc>
              <a:spcAft>
                <a:spcPts val="400"/>
              </a:spcAft>
            </a:pPr>
            <a:r>
              <a:rPr sz="1400" b="0">
                <a:solidFill>
                  <a:srgbClr val="1F2A3A"/>
                </a:solidFill>
                <a:latin typeface="맑은 고딕"/>
                <a:ea typeface="맑은 고딕"/>
                <a:cs typeface="맑은 고딕"/>
              </a:rPr>
              <a:t>TS1 55.71 ℃</a:t>
            </a:r>
          </a:p>
          <a:p>
            <a:pPr algn="ctr" eaLnBrk="0">
              <a:lnSpc>
                <a:spcPct val="110000"/>
              </a:lnSpc>
              <a:spcAft>
                <a:spcPts val="400"/>
              </a:spcAft>
            </a:pPr>
            <a:r>
              <a:rPr sz="1400" b="0">
                <a:solidFill>
                  <a:srgbClr val="1F2A3A"/>
                </a:solidFill>
                <a:latin typeface="맑은 고딕"/>
                <a:ea typeface="맑은 고딕"/>
                <a:cs typeface="맑은 고딕"/>
              </a:rPr>
              <a:t>CE 46.2 %</a:t>
            </a:r>
          </a:p>
          <a:p>
            <a:pPr algn="ctr" eaLnBrk="0">
              <a:lnSpc>
                <a:spcPct val="110000"/>
              </a:lnSpc>
              <a:spcAft>
                <a:spcPts val="400"/>
              </a:spcAft>
            </a:pPr>
            <a:r>
              <a:rPr sz="1400" b="0">
                <a:solidFill>
                  <a:srgbClr val="1F2A3A"/>
                </a:solidFill>
                <a:latin typeface="맑은 고딕"/>
                <a:ea typeface="맑은 고딕"/>
                <a:cs typeface="맑은 고딕"/>
              </a:rPr>
              <a:t>조건과 근거 값을</a:t>
            </a:r>
          </a:p>
          <a:p>
            <a:pPr algn="ctr" eaLnBrk="0">
              <a:lnSpc>
                <a:spcPct val="110000"/>
              </a:lnSpc>
              <a:spcAft>
                <a:spcPts val="400"/>
              </a:spcAft>
            </a:pPr>
            <a:r>
              <a:rPr sz="1400" b="0">
                <a:solidFill>
                  <a:srgbClr val="1F2A3A"/>
                </a:solidFill>
                <a:latin typeface="맑은 고딕"/>
                <a:ea typeface="맑은 고딕"/>
                <a:cs typeface="맑은 고딕"/>
              </a:rPr>
              <a:t>경보로 남긴다</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854325"/>
            <a:ext cx="1911644" cy="227406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917484"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진단과 추천</a:t>
            </a:r>
          </a:p>
          <a:p>
            <a:pPr algn="ctr" eaLnBrk="0">
              <a:lnSpc>
                <a:spcPct val="110000"/>
              </a:lnSpc>
              <a:spcAft>
                <a:spcPts val="400"/>
              </a:spcAft>
            </a:pPr>
            <a:r>
              <a:rPr sz="1400" b="0">
                <a:solidFill>
                  <a:srgbClr val="1F2A3A"/>
                </a:solidFill>
                <a:latin typeface="맑은 고딕"/>
                <a:ea typeface="맑은 고딕"/>
                <a:cs typeface="맑은 고딕"/>
              </a:rPr>
              <a:t>판별 기준과</a:t>
            </a:r>
          </a:p>
          <a:p>
            <a:pPr algn="ctr" eaLnBrk="0">
              <a:lnSpc>
                <a:spcPct val="110000"/>
              </a:lnSpc>
              <a:spcAft>
                <a:spcPts val="400"/>
              </a:spcAft>
            </a:pPr>
            <a:r>
              <a:rPr sz="1400" b="0">
                <a:solidFill>
                  <a:srgbClr val="1F2A3A"/>
                </a:solidFill>
                <a:latin typeface="맑은 고딕"/>
                <a:ea typeface="맑은 고딕"/>
                <a:cs typeface="맑은 고딕"/>
              </a:rPr>
              <a:t>실제 값을 대조한다</a:t>
            </a:r>
          </a:p>
          <a:p>
            <a:pPr algn="ctr" eaLnBrk="0">
              <a:lnSpc>
                <a:spcPct val="110000"/>
              </a:lnSpc>
              <a:spcAft>
                <a:spcPts val="400"/>
              </a:spcAft>
            </a:pPr>
            <a:r>
              <a:rPr sz="1400" b="0">
                <a:solidFill>
                  <a:srgbClr val="1F2A3A"/>
                </a:solidFill>
                <a:latin typeface="맑은 고딕"/>
                <a:ea typeface="맑은 고딕"/>
                <a:cs typeface="맑은 고딕"/>
              </a:rPr>
              <a:t>핀 오염 진단과</a:t>
            </a:r>
          </a:p>
          <a:p>
            <a:pPr algn="ctr" eaLnBrk="0">
              <a:lnSpc>
                <a:spcPct val="110000"/>
              </a:lnSpc>
              <a:spcAft>
                <a:spcPts val="400"/>
              </a:spcAft>
            </a:pPr>
            <a:r>
              <a:rPr sz="1400" b="0">
                <a:solidFill>
                  <a:srgbClr val="1F2A3A"/>
                </a:solidFill>
                <a:latin typeface="맑은 고딕"/>
                <a:ea typeface="맑은 고딕"/>
                <a:cs typeface="맑은 고딕"/>
              </a:rPr>
              <a:t>팬 최대 운전 추천</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854325"/>
            <a:ext cx="1911644" cy="227406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13177"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 또는 거절</a:t>
            </a:r>
          </a:p>
          <a:p>
            <a:pPr algn="ctr" eaLnBrk="0">
              <a:lnSpc>
                <a:spcPct val="110000"/>
              </a:lnSpc>
              <a:spcAft>
                <a:spcPts val="400"/>
              </a:spcAft>
            </a:pPr>
            <a:r>
              <a:rPr sz="1400" b="0">
                <a:solidFill>
                  <a:srgbClr val="1F2A3A"/>
                </a:solidFill>
                <a:latin typeface="맑은 고딕"/>
                <a:ea typeface="맑은 고딕"/>
                <a:cs typeface="맑은 고딕"/>
              </a:rPr>
              <a:t>담당자가</a:t>
            </a:r>
          </a:p>
          <a:p>
            <a:pPr algn="ctr" eaLnBrk="0">
              <a:lnSpc>
                <a:spcPct val="110000"/>
              </a:lnSpc>
              <a:spcAft>
                <a:spcPts val="400"/>
              </a:spcAft>
            </a:pPr>
            <a:r>
              <a:rPr sz="1400" b="0">
                <a:solidFill>
                  <a:srgbClr val="1F2A3A"/>
                </a:solidFill>
                <a:latin typeface="맑은 고딕"/>
                <a:ea typeface="맑은 고딕"/>
                <a:cs typeface="맑은 고딕"/>
              </a:rPr>
              <a:t>추천과 근거를 본다</a:t>
            </a:r>
          </a:p>
          <a:p>
            <a:pPr algn="ctr" eaLnBrk="0">
              <a:lnSpc>
                <a:spcPct val="110000"/>
              </a:lnSpc>
              <a:spcAft>
                <a:spcPts val="400"/>
              </a:spcAft>
            </a:pPr>
            <a:r>
              <a:rPr sz="1400" b="0">
                <a:solidFill>
                  <a:srgbClr val="1F2A3A"/>
                </a:solidFill>
                <a:latin typeface="맑은 고딕"/>
                <a:ea typeface="맑은 고딕"/>
                <a:cs typeface="맑은 고딕"/>
              </a:rPr>
              <a:t>승인해야</a:t>
            </a:r>
          </a:p>
          <a:p>
            <a:pPr algn="ctr" eaLnBrk="0">
              <a:lnSpc>
                <a:spcPct val="110000"/>
              </a:lnSpc>
              <a:spcAft>
                <a:spcPts val="400"/>
              </a:spcAft>
            </a:pPr>
            <a:r>
              <a:rPr sz="1400" b="0">
                <a:solidFill>
                  <a:srgbClr val="1F2A3A"/>
                </a:solidFill>
                <a:latin typeface="맑은 고딕"/>
                <a:ea typeface="맑은 고딕"/>
                <a:cs typeface="맑은 고딕"/>
              </a:rPr>
              <a:t>명령이 만들어진다</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854325"/>
            <a:ext cx="1911644" cy="227406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적용한다</a:t>
            </a:r>
          </a:p>
          <a:p>
            <a:pPr algn="ctr" eaLnBrk="0">
              <a:lnSpc>
                <a:spcPct val="110000"/>
              </a:lnSpc>
              <a:spcAft>
                <a:spcPts val="400"/>
              </a:spcAft>
            </a:pPr>
            <a:r>
              <a:rPr sz="1400" b="0">
                <a:solidFill>
                  <a:srgbClr val="1F2A3A"/>
                </a:solidFill>
                <a:latin typeface="맑은 고딕"/>
                <a:ea typeface="맑은 고딕"/>
                <a:cs typeface="맑은 고딕"/>
              </a:rPr>
              <a:t>PLC가 ACK로</a:t>
            </a:r>
          </a:p>
          <a:p>
            <a:pPr algn="ctr" eaLnBrk="0">
              <a:lnSpc>
                <a:spcPct val="110000"/>
              </a:lnSpc>
              <a:spcAft>
                <a:spcPts val="400"/>
              </a:spcAft>
            </a:pPr>
            <a:r>
              <a:rPr sz="1400" b="0">
                <a:solidFill>
                  <a:srgbClr val="1F2A3A"/>
                </a:solidFill>
                <a:latin typeface="맑은 고딕"/>
                <a:ea typeface="맑은 고딕"/>
                <a:cs typeface="맑은 고딕"/>
              </a:rPr>
              <a:t>처리 결과를 알린다</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854325"/>
            <a:ext cx="1911644" cy="2274061"/>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980456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재관측과 결과</a:t>
            </a:r>
          </a:p>
          <a:p>
            <a:pPr algn="ctr" eaLnBrk="0">
              <a:lnSpc>
                <a:spcPct val="110000"/>
              </a:lnSpc>
              <a:spcAft>
                <a:spcPts val="400"/>
              </a:spcAft>
            </a:pPr>
            <a:r>
              <a:rPr sz="1400" b="0">
                <a:solidFill>
                  <a:srgbClr val="1F2A3A"/>
                </a:solidFill>
                <a:latin typeface="맑은 고딕"/>
                <a:ea typeface="맑은 고딕"/>
                <a:cs typeface="맑은 고딕"/>
              </a:rPr>
              <a:t>유온과 CLEAR로</a:t>
            </a:r>
          </a:p>
          <a:p>
            <a:pPr algn="ctr" eaLnBrk="0">
              <a:lnSpc>
                <a:spcPct val="110000"/>
              </a:lnSpc>
              <a:spcAft>
                <a:spcPts val="400"/>
              </a:spcAft>
            </a:pPr>
            <a:r>
              <a:rPr sz="1400" b="0">
                <a:solidFill>
                  <a:srgbClr val="1F2A3A"/>
                </a:solidFill>
                <a:latin typeface="맑은 고딕"/>
                <a:ea typeface="맑은 고딕"/>
                <a:cs typeface="맑은 고딕"/>
              </a:rPr>
              <a:t>완화를 확인한다</a:t>
            </a:r>
          </a:p>
          <a:p>
            <a:pPr algn="ctr" eaLnBrk="0">
              <a:lnSpc>
                <a:spcPct val="110000"/>
              </a:lnSpc>
              <a:spcAft>
                <a:spcPts val="400"/>
              </a:spcAft>
            </a:pPr>
            <a:r>
              <a:rPr sz="1400" b="0">
                <a:solidFill>
                  <a:srgbClr val="1F2A3A"/>
                </a:solidFill>
                <a:latin typeface="맑은 고딕"/>
                <a:ea typeface="맑은 고딕"/>
                <a:cs typeface="맑은 고딕"/>
              </a:rPr>
              <a:t>핀 세척 작업지시를</a:t>
            </a:r>
          </a:p>
          <a:p>
            <a:pPr algn="ctr" eaLnBrk="0">
              <a:lnSpc>
                <a:spcPct val="110000"/>
              </a:lnSpc>
              <a:spcAft>
                <a:spcPts val="400"/>
              </a:spcAft>
            </a:pPr>
            <a:r>
              <a:rPr sz="1400" b="0">
                <a:solidFill>
                  <a:srgbClr val="1F2A3A"/>
                </a:solidFill>
                <a:latin typeface="맑은 고딕"/>
                <a:ea typeface="맑은 고딕"/>
                <a:cs typeface="맑은 고딕"/>
              </a:rPr>
              <a:t>별도로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108초 동안 한 일</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효율은 55 %로 기준 아래에 머문다</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5026914"/>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277295696374965563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일반적인 유압 설비 지식으로 그럴듯한 답을 낸다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설비의 매뉴얼과 판별 기준을 알지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현재 센서 값을 보지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65801"/>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p:txBody>
      </p:sp>
      <p:sp>
        <p:nvSpPr>
          <p:cNvPr id="18" name="Rounded Rectangle 17"/>
          <p:cNvSpPr/>
          <p:nvPr/>
        </p:nvSpPr>
        <p:spPr>
          <a:xfrm>
            <a:off x="6781647" y="5265801"/>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72766"/>
            <a:ext cx="3515258" cy="28371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73934"/>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27553"/>
            <a:ext cx="424281" cy="424281"/>
          </a:xfrm>
          <a:prstGeom prst="rect">
            <a:avLst/>
          </a:prstGeom>
        </p:spPr>
      </p:pic>
      <p:sp>
        <p:nvSpPr>
          <p:cNvPr id="9" name="TextBox 8"/>
          <p:cNvSpPr txBox="1"/>
          <p:nvPr/>
        </p:nvSpPr>
        <p:spPr>
          <a:xfrm>
            <a:off x="713232"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상승</a:t>
            </a:r>
          </a:p>
          <a:p>
            <a:pPr algn="l" eaLnBrk="0">
              <a:lnSpc>
                <a:spcPct val="110000"/>
              </a:lnSpc>
              <a:spcAft>
                <a:spcPts val="400"/>
              </a:spcAft>
            </a:pPr>
            <a:r>
              <a:rPr sz="18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80178"/>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73934"/>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27553"/>
            <a:ext cx="424281" cy="424281"/>
          </a:xfrm>
          <a:prstGeom prst="rect">
            <a:avLst/>
          </a:prstGeom>
        </p:spPr>
      </p:pic>
      <p:sp>
        <p:nvSpPr>
          <p:cNvPr id="15" name="TextBox 14"/>
          <p:cNvSpPr txBox="1"/>
          <p:nvPr/>
        </p:nvSpPr>
        <p:spPr>
          <a:xfrm>
            <a:off x="4502810"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냉각 효율 저하</a:t>
            </a:r>
          </a:p>
          <a:p>
            <a:pPr algn="l" eaLnBrk="0">
              <a:lnSpc>
                <a:spcPct val="110000"/>
              </a:lnSpc>
              <a:spcAft>
                <a:spcPts val="400"/>
              </a:spcAft>
            </a:pPr>
            <a:r>
              <a:rPr sz="18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8017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73934"/>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27553"/>
            <a:ext cx="424281" cy="424281"/>
          </a:xfrm>
          <a:prstGeom prst="rect">
            <a:avLst/>
          </a:prstGeom>
        </p:spPr>
      </p:pic>
      <p:sp>
        <p:nvSpPr>
          <p:cNvPr id="21" name="TextBox 20"/>
          <p:cNvSpPr txBox="1"/>
          <p:nvPr/>
        </p:nvSpPr>
        <p:spPr>
          <a:xfrm>
            <a:off x="8292388"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진동 증가</a:t>
            </a:r>
          </a:p>
          <a:p>
            <a:pPr algn="l" eaLnBrk="0">
              <a:lnSpc>
                <a:spcPct val="110000"/>
              </a:lnSpc>
              <a:spcAft>
                <a:spcPts val="400"/>
              </a:spcAft>
            </a:pPr>
            <a:r>
              <a:rPr sz="18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8017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온톨로지와 혼동하기 쉬운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그림은 표현, 그래프 DB는 저장 도구, 지식 그래프는 채운 결과, 온톨로지는 공통 정의다.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하지 않는 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보도록 대상과 선으로 나타낸 표현이다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뜻이 맞는지 검사하지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 조회한다</a:t>
            </a:r>
          </a:p>
          <a:p>
            <a:pPr algn="l" eaLnBrk="0">
              <a:lnSpc>
                <a:spcPct val="110000"/>
              </a:lnSpc>
            </a:pPr>
            <a:r>
              <a:rPr sz="1400" b="0">
                <a:solidFill>
                  <a:srgbClr val="1F2A3A"/>
                </a:solidFill>
                <a:latin typeface="맑은 고딕"/>
                <a:ea typeface="맑은 고딕"/>
                <a:cs typeface="맑은 고딕"/>
              </a:rPr>
              <a:t>Neo4j 등이 이 역할을 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무엇을 넣을지 정하지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온톨로지에 맞춰 실제 대상과 관계를 채운 지식이다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HYD의 실시간 값은 별도 저장한다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종류의 대상과 관계가 있을 수 있는지 정의한다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조치를 결정하지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8022743237272539287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19103172444957240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반대 뜻의 관계를 따로 두지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7560945763465018946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원인 후보와 증거를 찾아 핀 오염을 확인하고, 그 고장 유형에 연결된 완화 조치를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8104610223452671688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5729483" y="5537231"/>
            <a:ext cx="96635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p:txBody>
      </p:sp>
      <p:sp>
        <p:nvSpPr>
          <p:cNvPr id="11" name="TextBox 10"/>
          <p:cNvSpPr txBox="1"/>
          <p:nvPr/>
        </p:nvSpPr>
        <p:spPr>
          <a:xfrm>
            <a:off x="6881671" y="2341476"/>
            <a:ext cx="12955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p:txBody>
      </p:sp>
      <p:sp>
        <p:nvSpPr>
          <p:cNvPr id="12" name="TextBox 11"/>
          <p:cNvSpPr txBox="1"/>
          <p:nvPr/>
        </p:nvSpPr>
        <p:spPr>
          <a:xfrm>
            <a:off x="7402015" y="3962991"/>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7147153" y="5494684"/>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4" name="TextBox 13"/>
          <p:cNvSpPr txBox="1"/>
          <p:nvPr/>
        </p:nvSpPr>
        <p:spPr>
          <a:xfrm>
            <a:off x="9663914" y="2341476"/>
            <a:ext cx="106192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p:txBody>
      </p:sp>
      <p:sp>
        <p:nvSpPr>
          <p:cNvPr id="15" name="TextBox 14"/>
          <p:cNvSpPr txBox="1"/>
          <p:nvPr/>
        </p:nvSpPr>
        <p:spPr>
          <a:xfrm>
            <a:off x="10194877" y="3962991"/>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6" name="TextBox 15"/>
          <p:cNvSpPr txBox="1"/>
          <p:nvPr/>
        </p:nvSpPr>
        <p:spPr>
          <a:xfrm>
            <a:off x="9971873" y="5494684"/>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조회한 기준과 실제 값으로 남기는 판단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그래프에서 찾은 판별 기준을 저장소의 값과 대조하고, 조치가 가리키는 매뉴얼 근거까지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 판별</a:t>
            </a:r>
          </a:p>
          <a:p>
            <a:pPr algn="l" eaLnBrk="0">
              <a:lnSpc>
                <a:spcPct val="110000"/>
              </a:lnSpc>
              <a:spcAft>
                <a:spcPts val="200"/>
              </a:spcAft>
            </a:pPr>
            <a:r>
              <a:rPr sz="1150" b="0">
                <a:solidFill>
                  <a:srgbClr val="556175"/>
                </a:solidFill>
                <a:latin typeface="맑은 고딕"/>
                <a:ea typeface="맑은 고딕"/>
                <a:cs typeface="맑은 고딕"/>
              </a:rPr>
              <a:t>기준과 실측값</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핀 오염: CE의 30초 평균 46.2 % &lt; 70 %</a:t>
            </a:r>
          </a:p>
          <a:p>
            <a:pPr algn="l" eaLnBrk="0">
              <a:lnSpc>
                <a:spcPct val="110000"/>
              </a:lnSpc>
              <a:spcAft>
                <a:spcPts val="300"/>
              </a:spcAft>
            </a:pPr>
            <a:r>
              <a:rPr sz="1400" b="0">
                <a:solidFill>
                  <a:srgbClr val="1F2A3A"/>
                </a:solidFill>
                <a:latin typeface="맑은 고딕"/>
                <a:ea typeface="맑은 고딕"/>
                <a:cs typeface="맑은 고딕"/>
              </a:rPr>
              <a:t>VS1의 2분 평균 0.575 mm/s &lt; 0.9 mm/s</a:t>
            </a:r>
          </a:p>
          <a:p>
            <a:pPr algn="l" eaLnBrk="0">
              <a:lnSpc>
                <a:spcPct val="110000"/>
              </a:lnSpc>
              <a:spcAft>
                <a:spcPts val="300"/>
              </a:spcAft>
            </a:pPr>
            <a:r>
              <a:rPr sz="1400" b="0">
                <a:solidFill>
                  <a:srgbClr val="1F2A3A"/>
                </a:solidFill>
                <a:latin typeface="맑은 고딕"/>
                <a:ea typeface="맑은 고딕"/>
                <a:cs typeface="맑은 고딕"/>
              </a:rPr>
              <a:t>두 조건이 맞아 핀 오염으로 판단한다.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다른 후보의 배제</a:t>
            </a:r>
          </a:p>
          <a:p>
            <a:pPr algn="l" eaLnBrk="0">
              <a:lnSpc>
                <a:spcPct val="110000"/>
              </a:lnSpc>
              <a:spcAft>
                <a:spcPts val="200"/>
              </a:spcAft>
            </a:pPr>
            <a:r>
              <a:rPr sz="1150" b="0">
                <a:solidFill>
                  <a:srgbClr val="556175"/>
                </a:solidFill>
                <a:latin typeface="맑은 고딕"/>
                <a:ea typeface="맑은 고딕"/>
                <a:cs typeface="맑은 고딕"/>
              </a:rPr>
              <a:t>배제 근거</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구동 불량: VS1 평균이 0.9 mm/s 미만이다.</a:t>
            </a:r>
          </a:p>
          <a:p>
            <a:pPr algn="l" eaLnBrk="0">
              <a:lnSpc>
                <a:spcPct val="110000"/>
              </a:lnSpc>
              <a:spcAft>
                <a:spcPts val="300"/>
              </a:spcAft>
            </a:pPr>
            <a:r>
              <a:rPr sz="1400" b="0">
                <a:solidFill>
                  <a:srgbClr val="1F2A3A"/>
                </a:solidFill>
                <a:latin typeface="맑은 고딕"/>
                <a:ea typeface="맑은 고딕"/>
                <a:cs typeface="맑은 고딕"/>
              </a:rPr>
              <a:t>주변 온도 상승: TS4의 2분 평균 28 ℃가 35 ℃ 미만이다.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지식과 값의 분리</a:t>
            </a:r>
          </a:p>
          <a:p>
            <a:pPr algn="l" eaLnBrk="0">
              <a:lnSpc>
                <a:spcPct val="110000"/>
              </a:lnSpc>
              <a:spcAft>
                <a:spcPts val="200"/>
              </a:spcAft>
            </a:pPr>
            <a:r>
              <a:rPr sz="1150" b="0">
                <a:solidFill>
                  <a:srgbClr val="556175"/>
                </a:solidFill>
                <a:latin typeface="맑은 고딕"/>
                <a:ea typeface="맑은 고딕"/>
                <a:cs typeface="맑은 고딕"/>
              </a:rPr>
              <a:t>정의와 관측</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 그래프에는 확인할 태그·집계 구간·판별 기준이 있다.</a:t>
            </a:r>
          </a:p>
          <a:p>
            <a:pPr algn="l" eaLnBrk="0">
              <a:lnSpc>
                <a:spcPct val="110000"/>
              </a:lnSpc>
              <a:spcAft>
                <a:spcPts val="300"/>
              </a:spcAft>
            </a:pPr>
            <a:r>
              <a:rPr sz="1400" b="0">
                <a:solidFill>
                  <a:srgbClr val="1F2A3A"/>
                </a:solidFill>
                <a:latin typeface="맑은 고딕"/>
                <a:ea typeface="맑은 고딕"/>
                <a:cs typeface="맑은 고딕"/>
              </a:rPr>
              <a:t>계속 바뀌는 값은 시계열 저장소에서 읽어 대조한다.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조치와 근거 문서</a:t>
            </a:r>
          </a:p>
          <a:p>
            <a:pPr algn="l" eaLnBrk="0">
              <a:lnSpc>
                <a:spcPct val="110000"/>
              </a:lnSpc>
              <a:spcAft>
                <a:spcPts val="200"/>
              </a:spcAft>
            </a:pPr>
            <a:r>
              <a:rPr sz="1150" b="0">
                <a:solidFill>
                  <a:srgbClr val="556175"/>
                </a:solidFill>
                <a:latin typeface="맑은 고딕"/>
                <a:ea typeface="맑은 고딕"/>
                <a:cs typeface="맑은 고딕"/>
              </a:rPr>
              <a:t>추천의 근거</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최대 운전은 고장 유형의 MITIGATED_BY로 찾는 완화 조치이다.</a:t>
            </a:r>
          </a:p>
          <a:p>
            <a:pPr algn="l" eaLnBrk="0">
              <a:lnSpc>
                <a:spcPct val="110000"/>
              </a:lnSpc>
              <a:spcAft>
                <a:spcPts val="300"/>
              </a:spcAft>
            </a:pPr>
            <a:r>
              <a:rPr sz="1400" b="0">
                <a:solidFill>
                  <a:srgbClr val="1F2A3A"/>
                </a:solidFill>
                <a:latin typeface="맑은 고딕"/>
                <a:ea typeface="맑은 고딕"/>
                <a:cs typeface="맑은 고딕"/>
              </a:rPr>
              <a:t>조치 방법 → 단계(Step) → 매뉴얼 절(ManualSection)</a:t>
            </a:r>
          </a:p>
          <a:p>
            <a:pPr algn="l" eaLnBrk="0">
              <a:lnSpc>
                <a:spcPct val="110000"/>
              </a:lnSpc>
              <a:spcAft>
                <a:spcPts val="300"/>
              </a:spcAft>
            </a:pPr>
            <a:r>
              <a:rPr sz="1400" b="0">
                <a:solidFill>
                  <a:srgbClr val="1F2A3A"/>
                </a:solidFill>
                <a:latin typeface="맑은 고딕"/>
                <a:ea typeface="맑은 고딕"/>
                <a:cs typeface="맑은 고딕"/>
              </a:rPr>
              <a:t>HAS_STEP과 REFERS_TO를 거쳐 HM-8.5를 근거로 찾는다.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온톨로지로 원인 후보와 근거를 찾고, 에이전트가 추천한 조치를 사람이 승인하면 프로세스가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643505"/>
            <a:ext cx="1911644"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138702" y="2826385"/>
            <a:ext cx="731520" cy="731520"/>
          </a:xfrm>
          <a:prstGeom prst="ellipse">
            <a:avLst/>
          </a:prstGeom>
          <a:solidFill>
            <a:srgbClr val="5CB8F2"/>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80004"/>
            <a:ext cx="424281" cy="424281"/>
          </a:xfrm>
          <a:prstGeom prst="rect">
            <a:avLst/>
          </a:prstGeom>
        </p:spPr>
      </p:pic>
      <p:sp>
        <p:nvSpPr>
          <p:cNvPr id="9" name="TextBox 8"/>
          <p:cNvSpPr txBox="1"/>
          <p:nvPr/>
        </p:nvSpPr>
        <p:spPr>
          <a:xfrm>
            <a:off x="62179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정의</a:t>
            </a:r>
          </a:p>
          <a:p>
            <a:pPr algn="ctr" eaLnBrk="0">
              <a:lnSpc>
                <a:spcPct val="110000"/>
              </a:lnSpc>
              <a:spcAft>
                <a:spcPts val="400"/>
              </a:spcAft>
            </a:pPr>
            <a:r>
              <a:rPr sz="1250" b="0">
                <a:solidFill>
                  <a:srgbClr val="1F2A3A"/>
                </a:solidFill>
                <a:latin typeface="맑은 고딕"/>
                <a:ea typeface="맑은 고딕"/>
                <a:cs typeface="맑은 고딕"/>
              </a:rPr>
              <a:t>온톨로지가</a:t>
            </a:r>
          </a:p>
          <a:p>
            <a:pPr algn="ctr" eaLnBrk="0">
              <a:lnSpc>
                <a:spcPct val="110000"/>
              </a:lnSpc>
              <a:spcAft>
                <a:spcPts val="400"/>
              </a:spcAft>
            </a:pPr>
            <a:r>
              <a:rPr sz="1250" b="0">
                <a:solidFill>
                  <a:srgbClr val="1F2A3A"/>
                </a:solidFill>
                <a:latin typeface="맑은 고딕"/>
                <a:ea typeface="맑은 고딕"/>
                <a:cs typeface="맑은 고딕"/>
              </a:rPr>
              <a:t>대상의 종류, 속성,</a:t>
            </a:r>
          </a:p>
          <a:p>
            <a:pPr algn="ctr" eaLnBrk="0">
              <a:lnSpc>
                <a:spcPct val="110000"/>
              </a:lnSpc>
              <a:spcAft>
                <a:spcPts val="400"/>
              </a:spcAft>
            </a:pPr>
            <a:r>
              <a:rPr sz="1250" b="0">
                <a:solidFill>
                  <a:srgbClr val="1F2A3A"/>
                </a:solidFill>
                <a:latin typeface="맑은 고딕"/>
                <a:ea typeface="맑은 고딕"/>
                <a:cs typeface="맑은 고딕"/>
              </a:rPr>
              <a:t>관계, 제약을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43505"/>
            <a:ext cx="1911644"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26385"/>
            <a:ext cx="731520" cy="731520"/>
          </a:xfrm>
          <a:prstGeom prst="ellipse">
            <a:avLst/>
          </a:prstGeom>
          <a:solidFill>
            <a:srgbClr val="FFFFFF"/>
          </a:solidFill>
          <a:ln>
            <a:noFill/>
          </a:ln>
        </p:spPr>
        <p:txBody>
          <a:bodyPr rtlCol="0" anchor="ctr"/>
          <a:lstStyle/>
          <a:p>
            <a:pPr algn="ctr"/>
          </a:p>
        </p:txBody>
      </p:sp>
      <p:pic>
        <p:nvPicPr>
          <p:cNvPr id="13" name="아이콘:route" descr="route_13294B_1.6.png"/>
          <p:cNvPicPr>
            <a:picLocks noChangeAspect="1"/>
          </p:cNvPicPr>
          <p:nvPr/>
        </p:nvPicPr>
        <p:blipFill>
          <a:blip r:embed="rId4"/>
          <a:stretch>
            <a:fillRect/>
          </a:stretch>
        </p:blipFill>
        <p:spPr>
          <a:xfrm>
            <a:off x="3588014" y="2980004"/>
            <a:ext cx="424281" cy="424281"/>
          </a:xfrm>
          <a:prstGeom prst="rect">
            <a:avLst/>
          </a:prstGeom>
        </p:spPr>
      </p:pic>
      <p:sp>
        <p:nvSpPr>
          <p:cNvPr id="14" name="TextBox 13"/>
          <p:cNvSpPr txBox="1"/>
          <p:nvPr/>
        </p:nvSpPr>
        <p:spPr>
          <a:xfrm>
            <a:off x="2917484"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조회</a:t>
            </a:r>
          </a:p>
          <a:p>
            <a:pPr algn="ctr" eaLnBrk="0">
              <a:lnSpc>
                <a:spcPct val="110000"/>
              </a:lnSpc>
              <a:spcAft>
                <a:spcPts val="400"/>
              </a:spcAft>
            </a:pPr>
            <a:r>
              <a:rPr sz="1250" b="0">
                <a:solidFill>
                  <a:srgbClr val="1F2A3A"/>
                </a:solidFill>
                <a:latin typeface="맑은 고딕"/>
                <a:ea typeface="맑은 고딕"/>
                <a:cs typeface="맑은 고딕"/>
              </a:rPr>
              <a:t>경보에서 관계를 따라</a:t>
            </a:r>
          </a:p>
          <a:p>
            <a:pPr algn="ctr" eaLnBrk="0">
              <a:lnSpc>
                <a:spcPct val="110000"/>
              </a:lnSpc>
              <a:spcAft>
                <a:spcPts val="400"/>
              </a:spcAft>
            </a:pPr>
            <a:r>
              <a:rPr sz="1250" b="0">
                <a:solidFill>
                  <a:srgbClr val="1F2A3A"/>
                </a:solidFill>
                <a:latin typeface="맑은 고딕"/>
                <a:ea typeface="맑은 고딕"/>
                <a:cs typeface="맑은 고딕"/>
              </a:rPr>
              <a:t>원인 후보와</a:t>
            </a:r>
          </a:p>
          <a:p>
            <a:pPr algn="ctr" eaLnBrk="0">
              <a:lnSpc>
                <a:spcPct val="110000"/>
              </a:lnSpc>
              <a:spcAft>
                <a:spcPts val="400"/>
              </a:spcAft>
            </a:pPr>
            <a:r>
              <a:rPr sz="1250" b="0">
                <a:solidFill>
                  <a:srgbClr val="1F2A3A"/>
                </a:solidFill>
                <a:latin typeface="맑은 고딕"/>
                <a:ea typeface="맑은 고딕"/>
                <a:cs typeface="맑은 고딕"/>
              </a:rPr>
              <a:t>증거를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43505"/>
            <a:ext cx="1911644"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26385"/>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80004"/>
            <a:ext cx="424281" cy="424281"/>
          </a:xfrm>
          <a:prstGeom prst="rect">
            <a:avLst/>
          </a:prstGeom>
        </p:spPr>
      </p:pic>
      <p:sp>
        <p:nvSpPr>
          <p:cNvPr id="19" name="TextBox 18"/>
          <p:cNvSpPr txBox="1"/>
          <p:nvPr/>
        </p:nvSpPr>
        <p:spPr>
          <a:xfrm>
            <a:off x="5213177"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판단</a:t>
            </a:r>
          </a:p>
          <a:p>
            <a:pPr algn="ctr" eaLnBrk="0">
              <a:lnSpc>
                <a:spcPct val="110000"/>
              </a:lnSpc>
              <a:spcAft>
                <a:spcPts val="400"/>
              </a:spcAft>
            </a:pPr>
            <a:r>
              <a:rPr sz="1250" b="0">
                <a:solidFill>
                  <a:srgbClr val="1F2A3A"/>
                </a:solidFill>
                <a:latin typeface="맑은 고딕"/>
                <a:ea typeface="맑은 고딕"/>
                <a:cs typeface="맑은 고딕"/>
              </a:rPr>
              <a:t>에이전트가</a:t>
            </a:r>
          </a:p>
          <a:p>
            <a:pPr algn="ctr" eaLnBrk="0">
              <a:lnSpc>
                <a:spcPct val="110000"/>
              </a:lnSpc>
              <a:spcAft>
                <a:spcPts val="400"/>
              </a:spcAft>
            </a:pPr>
            <a:r>
              <a:rPr sz="1250" b="0">
                <a:solidFill>
                  <a:srgbClr val="1F2A3A"/>
                </a:solidFill>
                <a:latin typeface="맑은 고딕"/>
                <a:ea typeface="맑은 고딕"/>
                <a:cs typeface="맑은 고딕"/>
              </a:rPr>
              <a:t>값을 대조해</a:t>
            </a:r>
          </a:p>
          <a:p>
            <a:pPr algn="ctr" eaLnBrk="0">
              <a:lnSpc>
                <a:spcPct val="110000"/>
              </a:lnSpc>
              <a:spcAft>
                <a:spcPts val="400"/>
              </a:spcAft>
            </a:pPr>
            <a:r>
              <a:rPr sz="1250" b="0">
                <a:solidFill>
                  <a:srgbClr val="1F2A3A"/>
                </a:solidFill>
                <a:latin typeface="맑은 고딕"/>
                <a:ea typeface="맑은 고딕"/>
                <a:cs typeface="맑은 고딕"/>
              </a:rPr>
              <a:t>조치를 추천한다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43505"/>
            <a:ext cx="1911644" cy="269570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26385"/>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8179399" y="2980004"/>
            <a:ext cx="424281" cy="424281"/>
          </a:xfrm>
          <a:prstGeom prst="rect">
            <a:avLst/>
          </a:prstGeom>
        </p:spPr>
      </p:pic>
      <p:sp>
        <p:nvSpPr>
          <p:cNvPr id="24" name="TextBox 23"/>
          <p:cNvSpPr txBox="1"/>
          <p:nvPr/>
        </p:nvSpPr>
        <p:spPr>
          <a:xfrm>
            <a:off x="7508869"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a:t>
            </a:r>
          </a:p>
          <a:p>
            <a:pPr algn="ctr" eaLnBrk="0">
              <a:lnSpc>
                <a:spcPct val="110000"/>
              </a:lnSpc>
              <a:spcAft>
                <a:spcPts val="400"/>
              </a:spcAft>
            </a:pPr>
            <a:r>
              <a:rPr sz="1250" b="0">
                <a:solidFill>
                  <a:srgbClr val="1F2A3A"/>
                </a:solidFill>
                <a:latin typeface="맑은 고딕"/>
                <a:ea typeface="맑은 고딕"/>
                <a:cs typeface="맑은 고딕"/>
              </a:rPr>
              <a:t>담당자가</a:t>
            </a:r>
          </a:p>
          <a:p>
            <a:pPr algn="ctr" eaLnBrk="0">
              <a:lnSpc>
                <a:spcPct val="110000"/>
              </a:lnSpc>
              <a:spcAft>
                <a:spcPts val="400"/>
              </a:spcAft>
            </a:pPr>
            <a:r>
              <a:rPr sz="1250" b="0">
                <a:solidFill>
                  <a:srgbClr val="1F2A3A"/>
                </a:solidFill>
                <a:latin typeface="맑은 고딕"/>
                <a:ea typeface="맑은 고딕"/>
                <a:cs typeface="맑은 고딕"/>
              </a:rPr>
              <a:t>추천과 근거를 보고</a:t>
            </a:r>
          </a:p>
          <a:p>
            <a:pPr algn="ctr" eaLnBrk="0">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43505"/>
            <a:ext cx="1911644" cy="2695702"/>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26385"/>
            <a:ext cx="731520" cy="731520"/>
          </a:xfrm>
          <a:prstGeom prst="ellipse">
            <a:avLst/>
          </a:prstGeom>
          <a:solidFill>
            <a:srgbClr val="FFFFFF"/>
          </a:solidFill>
          <a:ln>
            <a:noFill/>
          </a:ln>
        </p:spPr>
        <p:txBody>
          <a:bodyPr rtlCol="0" anchor="ctr"/>
          <a:lstStyle/>
          <a:p>
            <a:pPr algn="ctr"/>
          </a:p>
        </p:txBody>
      </p:sp>
      <p:pic>
        <p:nvPicPr>
          <p:cNvPr id="28" name="아이콘:settings-automation" descr="settings-automation_13294B_1.6.png"/>
          <p:cNvPicPr>
            <a:picLocks noChangeAspect="1"/>
          </p:cNvPicPr>
          <p:nvPr/>
        </p:nvPicPr>
        <p:blipFill>
          <a:blip r:embed="rId7"/>
          <a:stretch>
            <a:fillRect/>
          </a:stretch>
        </p:blipFill>
        <p:spPr>
          <a:xfrm>
            <a:off x="10475092" y="2980004"/>
            <a:ext cx="424281" cy="424281"/>
          </a:xfrm>
          <a:prstGeom prst="rect">
            <a:avLst/>
          </a:prstGeom>
        </p:spPr>
      </p:pic>
      <p:sp>
        <p:nvSpPr>
          <p:cNvPr id="29" name="TextBox 28"/>
          <p:cNvSpPr txBox="1"/>
          <p:nvPr/>
        </p:nvSpPr>
        <p:spPr>
          <a:xfrm>
            <a:off x="980456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프로세스 엔진이</a:t>
            </a:r>
          </a:p>
          <a:p>
            <a:pPr algn="ctr" eaLnBrk="0">
              <a:lnSpc>
                <a:spcPct val="110000"/>
              </a:lnSpc>
              <a:spcAft>
                <a:spcPts val="400"/>
              </a:spcAft>
            </a:pPr>
            <a:r>
              <a:rPr sz="1250" b="0">
                <a:solidFill>
                  <a:srgbClr val="1F2A3A"/>
                </a:solidFill>
                <a:latin typeface="맑은 고딕"/>
                <a:ea typeface="맑은 고딕"/>
                <a:cs typeface="맑은 고딕"/>
              </a:rPr>
              <a:t>승인된 조치만</a:t>
            </a:r>
          </a:p>
          <a:p>
            <a:pPr algn="ctr" eaLnBrk="0">
              <a:lnSpc>
                <a:spcPct val="110000"/>
              </a:lnSpc>
              <a:spcAft>
                <a:spcPts val="400"/>
              </a:spcAft>
            </a:pPr>
            <a:r>
              <a:rPr sz="1250" b="0">
                <a:solidFill>
                  <a:srgbClr val="1F2A3A"/>
                </a:solidFill>
                <a:latin typeface="맑은 고딕"/>
                <a:ea typeface="맑은 고딕"/>
                <a:cs typeface="맑은 고딕"/>
              </a:rPr>
              <a:t>명령으로 내려보낸다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완성하는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설비·센서·증상·원인·조치를 이름과 방향이 있는 관계로 연결하고, 문장으로 읽어 그림을 점검한다.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사례의 대상</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유온 센서 TS1, 유온 상승, 쿨러 핀 오염, 팬 최대 운전을 노드로 둔다</a:t>
            </a:r>
          </a:p>
          <a:p>
            <a:pPr algn="l" eaLnBrk="0" marL="182880" indent="-182880">
              <a:lnSpc>
                <a:spcPct val="110000"/>
              </a:lnSpc>
              <a:spcAft>
                <a:spcPts val="400"/>
              </a:spcAft>
            </a:pPr>
            <a:r>
              <a:rPr sz="1600" b="0">
                <a:solidFill>
                  <a:srgbClr val="1F2A3A"/>
                </a:solidFill>
                <a:latin typeface="맑은 고딕"/>
                <a:ea typeface="맑은 고딕"/>
                <a:cs typeface="맑은 고딕"/>
              </a:rPr>
              <a:t>• 필요한 고장 유형과 구성 요소도 함께 놓는다</a:t>
            </a:r>
          </a:p>
        </p:txBody>
      </p:sp>
      <p:sp>
        <p:nvSpPr>
          <p:cNvPr id="8" name="Rounded Rectangle 7"/>
          <p:cNvSpPr/>
          <p:nvPr/>
        </p:nvSpPr>
        <p:spPr>
          <a:xfrm>
            <a:off x="777240" y="4894072"/>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4338218"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이름과 방향이 있는 그림</a:t>
            </a:r>
          </a:p>
          <a:p>
            <a:pPr algn="l" eaLnBrk="0" marL="182880" indent="-182880">
              <a:lnSpc>
                <a:spcPct val="110000"/>
              </a:lnSpc>
              <a:spcAft>
                <a:spcPts val="400"/>
              </a:spcAft>
            </a:pPr>
            <a:r>
              <a:rPr sz="1600" b="0">
                <a:solidFill>
                  <a:srgbClr val="1F2A3A"/>
                </a:solidFill>
                <a:latin typeface="맑은 고딕"/>
                <a:ea typeface="맑은 고딕"/>
                <a:cs typeface="맑은 고딕"/>
              </a:rPr>
              <a:t>• 노드를 화살표로 연결하고 관계 이름을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정보 목록에 없던 대상 사이의 뜻이 그림에 드러나야 한다</a:t>
            </a:r>
          </a:p>
        </p:txBody>
      </p:sp>
      <p:sp>
        <p:nvSpPr>
          <p:cNvPr id="12" name="Rounded Rectangle 11"/>
          <p:cNvSpPr/>
          <p:nvPr/>
        </p:nvSpPr>
        <p:spPr>
          <a:xfrm>
            <a:off x="4566818" y="4894072"/>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4" name="Rounded Rectangle 13"/>
          <p:cNvSpPr/>
          <p:nvPr/>
        </p:nvSpPr>
        <p:spPr>
          <a:xfrm>
            <a:off x="8127796" y="2658872"/>
            <a:ext cx="3515258" cy="26649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문장으로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출발점·관계·도착점을 주어·서술어·목적어로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사실과 맞지 않거나 뜻이 어색하면 이름과 방향을 고친다</a:t>
            </a:r>
          </a:p>
        </p:txBody>
      </p:sp>
      <p:sp>
        <p:nvSpPr>
          <p:cNvPr id="16" name="Rounded Rectangle 15"/>
          <p:cNvSpPr/>
          <p:nvPr/>
        </p:nvSpPr>
        <p:spPr>
          <a:xfrm>
            <a:off x="8356396" y="4894072"/>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8940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판단</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HYD에서 해당 역할을 맡는 구성 요소를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태그·상태 전달</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감시·제어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