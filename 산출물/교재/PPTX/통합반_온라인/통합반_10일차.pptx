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설비 경보, 정기 점검 도래, 재고 부족이라는 세 업무를 같은 물음으로 견줍니다. 이어서 프로세스가 셋이 될 때 정의와 처리 건, 실행 기록을 어떻게 읽는지 다룹니다. 그다음 긴급 대응의 승인 블록을 다시 써서 정기 점검과 재고 보충 프로세스를 직접 그리고 실행합니다. 마지막으로 세 처리 건을 되짚으며 지식, 에이전트, 프로세스가 어떻게 이어지는지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경보는 긴급 대응 프로세스로 끝까지 처리했습니다. 그런데 공장의 일은 설비 경보만이 아닙니다. HYD-02는 운전시간이 1,950시간에 이르러 정기 점검이 도래했고, 세 설비가 함께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물음으로 견줍니다. 무엇으로 시작하는가, 어느 에이전트가 판단하는가, 누가 승인하는가, 승인 뒤에 어느 시스템이 실행하는가입니다. 에이전트는 냉각 긴급 대응 에이전트, 정기 정비 계획 에이전트, 예비품 구매 에이전트로 다르고, 추천안의 내용도 냉각 조치, 정비할 시점, 발주안으로 다릅니다. 그런데 에이전트가 추천안을 내고 사람이 승인하고 시스템이 처리하는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에이전트와 승인자는 카드에서 본 대로 업무마다 바뀌므로, 자세히 볼 것은 시작과 실행입니다. 먼저 시작 조건입니다. 긴급 대응은 유온이 55도를 넘고 냉각 효율이 70 % 아래이며 유온이 오르는 중인 상태가 유지 시간 동안 이어질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점검은 고장이 난 뒤에 고치는 것이 아니라 운전시간을 기준으로 미리 하는 예방 정비,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쿨러 성능 저하 경보, 가운데는 정기 점검 도래, 아래는 재고 부족의 경보입니다. 출처는 센서와 CMMS와 ERP로 다르지만 식별자와 패턴과 설비를 가진 같은 형식이어서, 세 프로세스 모두 메시지 시작 이벤트 하나로 시작할 수 있습니다. 덧붙여 같은 alertId의 경보가 다시 와도 처리 건은 하나만 열립니다.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자세히 볼 둘째, 승인 뒤의 실행 시스템을 봅니다. 긴급 대응에서는 승인된 냉각 조치를 PLC 명령으로 보내고 CMMS에 작업지시를 등록했습니다. 정기 점검에서는 CMMS가 정비 오더를 등록하고 생산팀에 공지 메일이 나갑니다. 재고 보충에서는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정의도 셋입니다. 경보가 도착하면 그 패턴을 시작 조건으로 가진 정의에서 처리 건이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등록과 배포의 차이는 이미 보았습니다. 경보를 받도록 배포한 정의를 흐름이라 부르고, 시스템에 처음부터 있는 것을 기준 흐름이라 합니다. 이번에는 같은 패턴을 여는 흐름이 여럿일 때입니다. 경보는 그 패턴을 시작 조건으로 가진 흐름 가운데 가장 최근에 배포한 것이 받고, 배포된 흐름이 없으면 기준 흐름 쪽으로 갑니다. 그래서 한 시스템을 여럿이 함께 쓰면 마지막에 배포한 흐름이 경보를 가져가고, 다 쓴 흐름은 기준 흐름으로 되돌려 경보 경로에서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프로세스에서든 승인을 기다리는 처리 건은 RUNNING이고 승인 작업이 열려 있습니다. 승인 지연 알림이 나간 뒤에도 마찬가지입니다. 거절하면 COMPLETED이면서 끝 이벤트가 E_rejected이고, 기록에 남는 결과 값은 반려입니다. 승인되어 끝나면 E_end에 닿고, 결과 보고의 결과는 긴급 대응과 정기 점검에서는 정상, 재고 보충에서는 입고 완료입니다. 긴급 대응은 유온이 돌아오지 않으면 같은 E_end에 닿으면서 결과가 미달입니다.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거절된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건에 남은 단계 기록입니다. 단계마다 누가 맡았고 언제 열려 언제 끝났는지가 남아, 끝 시각에서 시작 시각을 빼면 걸린 시간이 나옵니다. BPM 다섯 단계의 모니터링이 바로 이런 기록으로 업무가 어디까지 진행되었고 어디서 기다리고 있는지를 지켜보는 일입니다. 이 처리 건에서는 에이전트 단계와 재관측이 시간의 대부분을 차지했습니다.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단계마다 걸린 시간을 견주어 가장 오래 걸려 흐름 전체를 늦추는 단계를 병목, Bottleneck이라고 합니다. 세 프로세스의 단계를 순서대로 놓았습니다. 에이전트와 시스템의 단계는 맡은 일을 마치면 끝나지만, 점선으로 두른 승인 단계는 승인자가 응답할 때까지 열려 있습니다. 응답이 늦어지면 세 프로세스 어디서나 이 단계가 병목이 되므로, 병목은 짐작하지 않고 처리 건마다 단계의 시각으로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사정만 말해 줍니다. 프로세스를 고칠지 판단하려면 여러 건을 모아 수로 요약해야 하고, 그 수가 지표입니다. 사이클 타임은 시작에서 끝까지 걸린 시간이고 쿨러 사건의 처리 건은 2분 51초였습니다. 대기 시간은 작업이 열린 채 기다린 시간, 처리 건수는 기간 안에 끝난 건의 수, 거절률은 그 가운데 거절로 닫힌 비율입니다.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하고,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모양입니다.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곳에서 되풀이되는 설계 문제를 한 번 풀어 검증해 두고 다시 쓰는 구조를 패턴이라고 합니다. 세 프로세스에 똑같이 들어 있는 승인의 자리, 곧 승인 작업과 갈림과 지연 타이머와 거절의 결과 보고를 묶어 이 수업에서는 승인 블록이라고 부릅니다.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승인을 받는 자리의 그림입니다. 하늘색으로 칠한 일곱 요소, 곧 승인 작업, 승인 지연 타이머, 승인 지연 알림, 승인? 게이트웨이, 결과 보고: 거절, 끝 이벤트 둘은 세 프로세스에서 식별자까지 같고,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프로세스의 전체 그림입니다. 하늘색 요소는 긴급 대응의 승인 블록과 같고, 승인 역할만 설비보전팀장으로 바뀌었습니다. 이 프로세스에서 달라진 것은 흰 요소 넷입니다. 정기 점검 요청이라는 시작 이벤트, 에이전트의 정비 계획 제안, 승인 뒤의 정비 오더 등록 · 공지 메일과 결과 보고입니다.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구조입니다. 하늘색 승인 블록은 그대로이고 승인 역할이 구매 담당입니다. 승인 뒤에는 ERP 발주 · 공급사 메일, 입고 · 재고 반영, 결과 보고의 세 작업이 이어집니다. 두 그림을 견주면 승인 블록의 오른쪽에 이어지는 작업만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원리입니다. 작업의 순서와 승인 블록과 예외 경로처럼 변하지 않는 것은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 거절하면 무엇을 하지 않았다고 적는지가 그 값입니다. 승인 기한과 승인 조건도 연결할 때 넣는 값이지만, 세 업무가 같은 값을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정하므로, 사람이 결정하지 않았는데 흐름이 넘어갑니다. 비중단형으로 그리면 알림만 나가고 승인 작업은 계속 기다립니다. 설비를 세우거나 돈을 쓰는 결정은 사람에게 남겨야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원칙이 있습니다. 여러 정보를 읽고 저울질해야 하는 일은 에이전트에게, 결과에 책임이 따르는 결정은 그 책임을 질 역할의 사람에게, 정해진 대로 수행하면 되는 등록과 통지와 보고는 시스템에 맡깁니다. 정비 오더나 발주처럼 실제로 효과를 내는 작업은 승인의 갈림 뒤에 놓습니다. 승인을 거치지 않고 효과를 내는 작업으로 가는 경로가 있으면 등록 전 검사가 그 흐름을 거절합니다.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프로세스를 직접 그립니다. 긴급 대응 그림에서 승인 블록을 가져와 승인 역할만 설비보전팀장으로 바꾸고 승인 지연 타이머는 비중단형 그대로 두며, 정기 점검 도래로 여는 시작 이벤트와 정비 계획 에이전트의 제안 작업, 승인 뒤의 정비 오더 등록과 생산팀 공지, 결과 보고를 새로 그립니다. 승인과 거절의 경로가 각각 어느 끝 이벤트에 닿는지 확인하고, 완성본과 요소 수를 대조한 뒤 BPMN 파일로 저장합니다. 완성본에서는 정비 오더 등록과 공지 메일이 한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그린 프로세스를 실제 업무로 실행합니다. 정기 점검 도래의 경보 패턴, 정비 계획 에이전트, 설비보전팀장 역할과 승인 기한 10분, CMMS의 오더 등록과 공지를 연결하고, 사전 검사를 거쳐 등록하고 배포합니다. 정기 점검 도래로 처리 건이 열리면 추천안을 승인하고, 정비 오더와 생산팀 공지와 종료 기록이 남았는지를 처리 건에서 확인합니다. 경보는 가장 최근에 배포한 흐름이 받으므로, 다 쓴 흐름은 기준 흐름으로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프로세스를 그립니다. 같은 승인 블록을 가져와 승인 역할을 구매 담당으로 바꾸고, 재고 부족으로 시작해 구매 에이전트가 수량과 공급사를 제안하는 작업을 앞에 둡니다. 승인 뒤에는 ERP 발주와 공급사 통지, 입고와 재고 반영, 결과 보고를 차례로 잇습니다. 발주와 입고는 공급사와 실제로 거래하는 것이 아니라 기업 시스템 안에서 처리하는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프로세스를 실행합니다. 재고 부족의 경보 패턴과 구매 에이전트, 구매 담당 역할, ERP 발주와 통지와 입고 반영 작업을 연결해 검사하고 등록하고 배포합니다. 재고가 부족하면 처리 건이 열리고 발주안이 승인을 기다리며, 승인 뒤 발주와 공급사 통지와 입고가 처리됩니다. 입고는 납기를 기다리지 않고 발주 뒤 바로 처리되며, 가용 재고가 7개가 되었는지와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사건이 경보로 도착하는 시작 이벤트, 에이전트의 판단, 사람의 승인 또는 거절, 시스템의 처리, 종료 기록의 다섯 자리를 지납니다. 사람이 거절하면 아래의 선처럼 시스템의 처리를 지나지 않고 종료 기록으로 가며, 세 업무 모두에서 거절된 추천안은 설비 명령도 정비 오더도 발주도 만들지 않고 닫혔습니다.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 봅니다. 시작 이벤트는 설비와 경보 패턴을 에이전트에게 넘기고, 에이전트는 추천과 대안을 추천안으로 냅니다. 사람은 그 가운데 승인한 내용을 내고, 시스템은 승인된 내용만 받아 실행한 뒤 그 결과를 결과 보고에 넘깁니다. 이렇게 건너가는 값이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건입니다. 쿨러 성능 저하 경보가 처리 건을 열었고, 에이전트가 원인을 쿨러 핀 오염으로 가려 팬 최대 운전을 추천했습니다. 운전원이 추천안을 승인하자 팬 속도 100 % 명령이 나갔고, 유온이 51.5도로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나갔으며,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정비 계획 에이전트가 낸 추천안의 속입니다. 후보는 넷이었고, 이번 예정된 정비 시간에 한 대만 정비하는 안이 추천이며 이것이 앞 장의 야간 정비 시간입니다. 지금 바로 세우는 안은 납기가 하루 안에 있는 생산 오더 때문에 감점되어 대안으로 남았고,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 원으로 발주하자고 제안했고, 구매 담당이 승인했습니다. ERP에 발주가 등록되고 공급사에 통지된 뒤 입고가 확인되어 가용 재고가 7개가 되었고,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예비품 구매 에이전트가 낸 추천안입니다. 가장 싼 C트레이딩은 승인 공급사가 아니어서 판단 규칙이 제외했고, A정밀은 값이 싸고 납기가 빠르지만 불량률이 10 %를 넘어 전수 검사의 감점을 받았고 부품 품질의 득실에서도 뒤졌습니다. 판정은 금액의 합이 아니라 이런 득실과 감점을 함께 매긴 점수로 났습니다. 추천은 금액이 가장 큰 순정 공급사 B-OEM이었고, 금액이 300만 원을 넘어 전결 기준 초과가 표시되었습니다. 구매 담당은 이 비교와 경고를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51.5도로 내려가 기준 55도 아래가 되었고 작업지시가 남았습니다. 정기 점검은 정비 오더가 등록되고 생산팀에 공지가 나갔고, 재고 보충은 씰 키트 6개가 입고되어 검수에 합격하고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건에 남은 식별자를 시간 순서로 놓았습니다. 작업지시 WO-1010-C058에서 거슬러 올라가면 어느 설비 명령 뒤에 등록되었는지, 그 명령을 어느 역할이 승인했는지, 승인된 추천안이 어느 판단의 것이었는지, 그 판단이 어느 경보에서 시작되었는지를 차례로 찾을 수 있습니다. 종료 기록이 남긴다는 것은 이렇게 추천안과 결정과 실행이 한 줄로 이어져 남는다는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 봅니다. 온톨로지는 원인과 증거와 조치와 규칙이라는 지식을 정하고, 현재 값이 어디에 있는지를 알려 줍니다. 에이전트는 그 지식과 값을 읽어 추천과 대안을 제안합니다.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서버를 정리했습니다. 세 에이전트 모두 지식 그래프와 판단 규칙을 읽으므로, 앞에서 만든 온톨로지가 긴급 대응뿐 아니라 정비와 구매의 판단에도 재료가 됩니다.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봅니다. 조치 절차로 적어 둔 SOP-COOL-11 팬 최대 운전이 출발점입니다. 쿨러 사건의 처리 건에서 에이전트가 이 조치를 지식 그래프에서 읽어 추천했고, 운전원이 승인했습니다. 프로세스가 승인된 조치를 팬 속도 100 % 명령으로 실행했고, 재관측에서 유온 51.5도를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맡았고, 설비 명령이나 발주 같은 처리는 하지 않았습니다. 사람의 일은 세 가지였습니다. 순서와 승인 역할과 예외 경로를 프로세스로 정하는 일, 추천안을 승인하거나 거절하는 일,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처리 건은 단계마다 시작과 끝의 시각을 남기고, 그 기록에서 오래 걸린 단계를 찾습니다. 여러 건을 모은 지표에서 승인 대기가 길거나 거절이 많은 자리가 보이면 정의를 고치고, 새 판본으로 배포해 다음 경보부터 적용합니다.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처리 건 하나에 이번 회차의 구분을 차례로 적용합니다. 학생이 먼저 다섯 물음의 답을 정한 뒤 가운데 칸의 근거와 대조합니다. 거절된 처리 건이 닫혀도 도래 표시가 남는 까닭과, 같은 것은 구조와 같은 값으로, 다른 것은 업무마다 다른 값으로 정한 까닭을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업무 흐름을 다시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시나리오 문항입니다. 처리 건이 닫혔다는 것과 그 업무의 원인이 해결되었다는 것이 같은지를 따져 봅니다. 끝 이벤트의 이름이 어느 경로를 지났는지를 알려 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 그리고 효과를 내는 작업을 어디에 두었는지를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처리 건의 종결과 업무 원인의 해결을 혼동한 것이고, 3번은 E_rejected가 발주로 가는 선을 지나지 않았다는 것을 놓친 것입니다. 둘째 문항의 1번과 2번은 결말을 알려 주는 기록을 시간의 근거로 삼은 것이고, 3번은 그림의 표식이어서 처리 건마다의 시간을 담지 않습니다. 셋째 문항의 1번과 2번은 사람의 결정을 없애고, 4번은 사람이 결정하지 않은 채 효과가 나가게 하는 설계여서 등록 전 검사에도 걸립니다.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대응을 넘어 정비와 구매 업무까지 자동으로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끝 이벤트 · 단계 시각으로 대기와 병목을 읽는다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승인 블록을 그대로 두고 달라지는 값만 정한다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경보는 긴급 대응 프로세스가 처리했지만, 정기 점검 도래와 재고 부족에는 아직 프로세스가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602353492883885351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쿨러 성능 저하</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펌프 축 씰 키트 ·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프로세스 없음</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프로세스 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47570"/>
            <a:ext cx="3515258" cy="36875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348738"/>
            <a:ext cx="3186074" cy="29834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40537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405374"/>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147570"/>
            <a:ext cx="3515258" cy="36875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348738"/>
            <a:ext cx="3186074" cy="29834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40537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405374"/>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147570"/>
            <a:ext cx="3515258" cy="36875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348738"/>
            <a:ext cx="3186074" cy="29834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정하고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40537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405374"/>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0이 유지 시간 동안 이어진다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611207471153043477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558932963539561958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사건인지를</a:t>
            </a:r>
          </a:p>
          <a:p>
            <a:pPr algn="l" eaLnBrk="0">
              <a:lnSpc>
                <a:spcPct val="110000"/>
              </a:lnSpc>
              <a:spcAft>
                <a:spcPts val="400"/>
              </a:spcAft>
            </a:pPr>
            <a:r>
              <a:rPr sz="1400" b="0">
                <a:solidFill>
                  <a:srgbClr val="1F2A3A"/>
                </a:solidFill>
                <a:latin typeface="맑은 고딕"/>
                <a:ea typeface="맑은 고딕"/>
                <a:cs typeface="맑은 고딕"/>
              </a:rPr>
              <a:t>나타낸다.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CMMS와 ERP는 사건이</a:t>
            </a:r>
          </a:p>
          <a:p>
            <a:pPr algn="l" eaLnBrk="0">
              <a:lnSpc>
                <a:spcPct val="110000"/>
              </a:lnSpc>
              <a:spcAft>
                <a:spcPts val="400"/>
              </a:spcAft>
            </a:pPr>
            <a:r>
              <a:rPr sz="1400" b="0">
                <a:solidFill>
                  <a:srgbClr val="1F2A3A"/>
                </a:solidFill>
                <a:latin typeface="맑은 고딕"/>
                <a:ea typeface="맑은 고딕"/>
                <a:cs typeface="맑은 고딕"/>
              </a:rPr>
              <a:t>나온 업무 시스템이다.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경보로는 처리 건이</a:t>
            </a:r>
          </a:p>
          <a:p>
            <a:pPr algn="l" eaLnBrk="0">
              <a:lnSpc>
                <a:spcPct val="110000"/>
              </a:lnSpc>
              <a:spcAft>
                <a:spcPts val="400"/>
              </a:spcAft>
            </a:pPr>
            <a:r>
              <a:rPr sz="1400" b="0">
                <a:solidFill>
                  <a:srgbClr val="1F2A3A"/>
                </a:solidFill>
                <a:latin typeface="맑은 고딕"/>
                <a:ea typeface="맑은 고딕"/>
                <a:cs typeface="맑은 고딕"/>
              </a:rPr>
              <a:t>두 번 열리지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경보 패턴을 여는 흐름이 여럿이면 가장 최근에 배포한 것이 경보를 받으므로, 배포는 경보의 길을 정하는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기준 흐름으로 되돌리면</a:t>
            </a:r>
          </a:p>
          <a:p>
            <a:pPr algn="ctr" eaLnBrk="0">
              <a:lnSpc>
                <a:spcPct val="110000"/>
              </a:lnSpc>
              <a:spcAft>
                <a:spcPts val="400"/>
              </a:spcAft>
            </a:pPr>
            <a:r>
              <a:rPr sz="1550" b="0">
                <a:solidFill>
                  <a:srgbClr val="1F2A3A"/>
                </a:solidFill>
                <a:latin typeface="맑은 고딕"/>
                <a:ea typeface="맑은 고딕"/>
                <a:cs typeface="맑은 고딕"/>
              </a:rPr>
              <a:t>경보 경로에서 내려간다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a:p>
            <a:pPr algn="l" eaLnBrk="0">
              <a:lnSpc>
                <a:spcPct val="110000"/>
              </a:lnSpc>
            </a:pPr>
            <a:r>
              <a:rPr sz="1250" b="1">
                <a:solidFill>
                  <a:srgbClr val="556175"/>
                </a:solidFill>
                <a:latin typeface="맑은 고딕"/>
                <a:ea typeface="맑은 고딕"/>
                <a:cs typeface="맑은 고딕"/>
              </a:rPr>
              <a:t>(긴급 대응은 미달도)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건에는 단계마다 담당과 시작 · 끝 시각이 남아, BPM의 </a:t>
            </a:r>
            <a:r>
              <a:rPr sz="1600" b="1">
                <a:solidFill>
                  <a:srgbClr val="1A6FC4"/>
                </a:solidFill>
                <a:latin typeface="맑은 고딕"/>
                <a:ea typeface="맑은 고딕"/>
                <a:cs typeface="맑은 고딕"/>
              </a:rPr>
              <a:t>모니터링</a:t>
            </a:r>
            <a:r>
              <a:rPr sz="1600" b="0">
                <a:solidFill>
                  <a:srgbClr val="556175"/>
                </a:solidFill>
                <a:latin typeface="맑은 고딕"/>
                <a:ea typeface="맑은 고딕"/>
                <a:cs typeface="맑은 고딕"/>
              </a:rPr>
              <a:t>은 이 기록으로 진행과 대기를 지켜본다.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가장 오래 걸려 흐름을 늦추는 단계가 </a:t>
            </a:r>
            <a:r>
              <a:rPr sz="1600" b="1">
                <a:solidFill>
                  <a:srgbClr val="1A6FC4"/>
                </a:solidFill>
                <a:latin typeface="맑은 고딕"/>
                <a:ea typeface="맑은 고딕"/>
                <a:cs typeface="맑은 고딕"/>
              </a:rPr>
              <a:t>병목</a:t>
            </a:r>
            <a:r>
              <a:rPr sz="1600" b="0">
                <a:solidFill>
                  <a:srgbClr val="556175"/>
                </a:solidFill>
                <a:latin typeface="맑은 고딕"/>
                <a:ea typeface="맑은 고딕"/>
                <a:cs typeface="맑은 고딕"/>
              </a:rPr>
              <a:t>(Bottleneck)이며, 응답을 기다리는 승인 단계가 병목이 되기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310675754091345423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단계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높으면 추천안이나 승인의 기준을 점검한다.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블록은 그대로 두고 업무마다 달라지는 값만 정해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제각각이 된다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3018783807284037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자리 · 같은 모양</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eaLnBrk="0">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176125840640387365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4079226140602719003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437185429844380837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순서와 예외 경로는 그림의 구조로 남기고, 업무마다 다른 것과 기한 · 승인 조건은 연결할 때 값으로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제안, 승인 또는 거절, 처리, 결과 보고의 순서</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블록의 일곱 요소</a:t>
            </a:r>
          </a:p>
          <a:p>
            <a:pPr algn="l" eaLnBrk="0" marL="171450" indent="-171450">
              <a:lnSpc>
                <a:spcPct val="110000"/>
              </a:lnSpc>
              <a:spcAft>
                <a:spcPts val="600"/>
              </a:spcAft>
            </a:pPr>
            <a:r>
              <a:rPr sz="150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42010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프로세스를 여는 경보 패턴</a:t>
            </a:r>
          </a:p>
          <a:p>
            <a:pPr algn="l" eaLnBrk="0" marL="171450" indent="-171450">
              <a:lnSpc>
                <a:spcPct val="110000"/>
              </a:lnSpc>
              <a:spcAft>
                <a:spcPts val="600"/>
              </a:spcAft>
            </a:pPr>
            <a:r>
              <a:rPr sz="1500" b="0">
                <a:solidFill>
                  <a:srgbClr val="1F2A3A"/>
                </a:solidFill>
                <a:latin typeface="맑은 고딕"/>
                <a:ea typeface="맑은 고딕"/>
                <a:cs typeface="맑은 고딕"/>
              </a:rPr>
              <a:t>• 제안 작업을 맡을 에이전트와 지시문</a:t>
            </a:r>
          </a:p>
          <a:p>
            <a:pPr algn="l" eaLnBrk="0" marL="171450" indent="-171450">
              <a:lnSpc>
                <a:spcPct val="110000"/>
              </a:lnSpc>
              <a:spcAft>
                <a:spcPts val="600"/>
              </a:spcAft>
            </a:pPr>
            <a:r>
              <a:rPr sz="1500" b="0">
                <a:solidFill>
                  <a:srgbClr val="1F2A3A"/>
                </a:solidFill>
                <a:latin typeface="맑은 고딕"/>
                <a:ea typeface="맑은 고딕"/>
                <a:cs typeface="맑은 고딕"/>
              </a:rPr>
              <a:t>• 승인 역할</a:t>
            </a:r>
          </a:p>
          <a:p>
            <a:pPr algn="l" eaLnBrk="0" marL="171450" indent="-171450">
              <a:lnSpc>
                <a:spcPct val="110000"/>
              </a:lnSpc>
              <a:spcAft>
                <a:spcPts val="600"/>
              </a:spcAft>
            </a:pPr>
            <a:r>
              <a:rPr sz="1500" b="0">
                <a:solidFill>
                  <a:srgbClr val="1F2A3A"/>
                </a:solidFill>
                <a:latin typeface="맑은 고딕"/>
                <a:ea typeface="맑은 고딕"/>
                <a:cs typeface="맑은 고딕"/>
              </a:rPr>
              <a:t>• 승인 뒤의 작업이 부를 시스템과 메일의 내용</a:t>
            </a:r>
          </a:p>
          <a:p>
            <a:pPr algn="l" eaLnBrk="0" marL="171450" indent="-171450">
              <a:lnSpc>
                <a:spcPct val="110000"/>
              </a:lnSpc>
              <a:spcAft>
                <a:spcPts val="600"/>
              </a:spcAft>
            </a:pPr>
            <a:r>
              <a:rPr sz="1500" b="0">
                <a:solidFill>
                  <a:srgbClr val="1F2A3A"/>
                </a:solidFill>
                <a:latin typeface="맑은 고딕"/>
                <a:ea typeface="맑은 고딕"/>
                <a:cs typeface="맑은 고딕"/>
              </a:rPr>
              <a:t>• 거절의 결과 보고에 적을 하지 않은 일</a:t>
            </a:r>
          </a:p>
          <a:p>
            <a:pPr algn="l" eaLnBrk="0" marL="171450" indent="-171450">
              <a:lnSpc>
                <a:spcPct val="110000"/>
              </a:lnSpc>
              <a:spcAft>
                <a:spcPts val="600"/>
              </a:spcAft>
            </a:pPr>
            <a:r>
              <a:rPr sz="1500" b="0">
                <a:solidFill>
                  <a:srgbClr val="1F2A3A"/>
                </a:solidFill>
                <a:latin typeface="맑은 고딕"/>
                <a:ea typeface="맑은 고딕"/>
                <a:cs typeface="맑은 고딕"/>
              </a:rPr>
              <a:t>• 승인 기한 10분과 승인 조건(세 업무가 같은 값)</a:t>
            </a:r>
          </a:p>
        </p:txBody>
      </p:sp>
      <p:sp>
        <p:nvSpPr>
          <p:cNvPr id="18" name="Rounded Rectangle 17"/>
          <p:cNvSpPr/>
          <p:nvPr/>
        </p:nvSpPr>
        <p:spPr>
          <a:xfrm>
            <a:off x="6781647" y="54201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밖의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기한이 지나면 승인 작업이 끊긴다</a:t>
            </a:r>
          </a:p>
          <a:p>
            <a:pPr algn="l" eaLnBrk="0" marL="205740" indent="-205740">
              <a:lnSpc>
                <a:spcPct val="110000"/>
              </a:lnSpc>
              <a:spcAft>
                <a:spcPts val="600"/>
              </a:spcAft>
            </a:pPr>
            <a:r>
              <a:rPr sz="1800" b="0">
                <a:solidFill>
                  <a:srgbClr val="1F2A3A"/>
                </a:solidFill>
                <a:latin typeface="맑은 고딕"/>
                <a:ea typeface="맑은 고딕"/>
                <a:cs typeface="맑은 고딕"/>
              </a:rPr>
              <a:t>• 타이머의 가지가 그 뒤를 대신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기한이 지나면 승인 지연 알림만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작업은 열린 채로 기다린다</a:t>
            </a:r>
          </a:p>
          <a:p>
            <a:pPr algn="l" eaLnBrk="0" marL="205740" indent="-205740">
              <a:lnSpc>
                <a:spcPct val="110000"/>
              </a:lnSpc>
              <a:spcAft>
                <a:spcPts val="600"/>
              </a:spcAft>
            </a:pPr>
            <a:r>
              <a:rPr sz="180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설비보전팀장으로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비중단형(점선) 그대로</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01215"/>
            <a:ext cx="1911644" cy="378028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284095"/>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437714"/>
            <a:ext cx="424281" cy="424281"/>
          </a:xfrm>
          <a:prstGeom prst="rect">
            <a:avLst/>
          </a:prstGeom>
        </p:spPr>
      </p:pic>
      <p:sp>
        <p:nvSpPr>
          <p:cNvPr id="9" name="TextBox 8"/>
          <p:cNvSpPr txBox="1"/>
          <p:nvPr/>
        </p:nvSpPr>
        <p:spPr>
          <a:xfrm>
            <a:off x="62179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연결</a:t>
            </a:r>
          </a:p>
          <a:p>
            <a:pPr algn="ctr" eaLnBrk="0">
              <a:lnSpc>
                <a:spcPct val="110000"/>
              </a:lnSpc>
              <a:spcAft>
                <a:spcPts val="400"/>
              </a:spcAft>
            </a:pPr>
            <a:r>
              <a:rPr sz="1500" b="0">
                <a:solidFill>
                  <a:srgbClr val="1F2A3A"/>
                </a:solidFill>
                <a:latin typeface="맑은 고딕"/>
                <a:ea typeface="맑은 고딕"/>
                <a:cs typeface="맑은 고딕"/>
              </a:rPr>
              <a:t>그린 그림에 PM_DUE,</a:t>
            </a:r>
          </a:p>
          <a:p>
            <a:pPr algn="ctr" eaLnBrk="0">
              <a:lnSpc>
                <a:spcPct val="110000"/>
              </a:lnSpc>
              <a:spcAft>
                <a:spcPts val="400"/>
              </a:spcAft>
            </a:pPr>
            <a:r>
              <a:rPr sz="1500" b="0">
                <a:solidFill>
                  <a:srgbClr val="1F2A3A"/>
                </a:solidFill>
                <a:latin typeface="맑은 고딕"/>
                <a:ea typeface="맑은 고딕"/>
                <a:cs typeface="맑은 고딕"/>
              </a:rPr>
              <a:t>정비 계획 에이전트,</a:t>
            </a:r>
          </a:p>
          <a:p>
            <a:pPr algn="ctr" eaLnBrk="0">
              <a:lnSpc>
                <a:spcPct val="110000"/>
              </a:lnSpc>
              <a:spcAft>
                <a:spcPts val="400"/>
              </a:spcAft>
            </a:pPr>
            <a:r>
              <a:rPr sz="1500" b="0">
                <a:solidFill>
                  <a:srgbClr val="1F2A3A"/>
                </a:solidFill>
                <a:latin typeface="맑은 고딕"/>
                <a:ea typeface="맑은 고딕"/>
                <a:cs typeface="맑은 고딕"/>
              </a:rPr>
              <a:t>설비보전팀장, 기한 10분,</a:t>
            </a:r>
          </a:p>
          <a:p>
            <a:pPr algn="ctr" eaLnBrk="0">
              <a:lnSpc>
                <a:spcPct val="110000"/>
              </a:lnSpc>
              <a:spcAft>
                <a:spcPts val="400"/>
              </a:spcAft>
            </a:pPr>
            <a:r>
              <a:rPr sz="1500" b="0">
                <a:solidFill>
                  <a:srgbClr val="1F2A3A"/>
                </a:solidFill>
                <a:latin typeface="맑은 고딕"/>
                <a:ea typeface="맑은 고딕"/>
                <a:cs typeface="맑은 고딕"/>
              </a:rPr>
              <a:t>CMMS 오더와 공지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01215"/>
            <a:ext cx="1911644" cy="378028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284095"/>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437714"/>
            <a:ext cx="424281" cy="424281"/>
          </a:xfrm>
          <a:prstGeom prst="rect">
            <a:avLst/>
          </a:prstGeom>
        </p:spPr>
      </p:pic>
      <p:sp>
        <p:nvSpPr>
          <p:cNvPr id="14" name="TextBox 13"/>
          <p:cNvSpPr txBox="1"/>
          <p:nvPr/>
        </p:nvSpPr>
        <p:spPr>
          <a:xfrm>
            <a:off x="2917484"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검사</a:t>
            </a:r>
          </a:p>
          <a:p>
            <a:pPr algn="ctr" eaLnBrk="0">
              <a:lnSpc>
                <a:spcPct val="110000"/>
              </a:lnSpc>
              <a:spcAft>
                <a:spcPts val="400"/>
              </a:spcAft>
            </a:pPr>
            <a:r>
              <a:rPr sz="1500" b="0">
                <a:solidFill>
                  <a:srgbClr val="1F2A3A"/>
                </a:solidFill>
                <a:latin typeface="맑은 고딕"/>
                <a:ea typeface="맑은 고딕"/>
                <a:cs typeface="맑은 고딕"/>
              </a:rPr>
              <a:t>사전 검사로</a:t>
            </a:r>
          </a:p>
          <a:p>
            <a:pPr algn="ctr" eaLnBrk="0">
              <a:lnSpc>
                <a:spcPct val="110000"/>
              </a:lnSpc>
              <a:spcAft>
                <a:spcPts val="400"/>
              </a:spcAft>
            </a:pPr>
            <a:r>
              <a:rPr sz="1500" b="0">
                <a:solidFill>
                  <a:srgbClr val="1F2A3A"/>
                </a:solidFill>
                <a:latin typeface="맑은 고딕"/>
                <a:ea typeface="맑은 고딕"/>
                <a:cs typeface="맑은 고딕"/>
              </a:rPr>
              <a:t>승인 없는 효과 경로와</a:t>
            </a:r>
          </a:p>
          <a:p>
            <a:pPr algn="ctr" eaLnBrk="0">
              <a:lnSpc>
                <a:spcPct val="110000"/>
              </a:lnSpc>
              <a:spcAft>
                <a:spcPts val="400"/>
              </a:spcAft>
            </a:pPr>
            <a:r>
              <a:rPr sz="1500" b="0">
                <a:solidFill>
                  <a:srgbClr val="1F2A3A"/>
                </a:solidFill>
                <a:latin typeface="맑은 고딕"/>
                <a:ea typeface="맑은 고딕"/>
                <a:cs typeface="맑은 고딕"/>
              </a:rPr>
              <a:t>빠진 연결을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01215"/>
            <a:ext cx="1911644" cy="378028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284095"/>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5883706" y="2437714"/>
            <a:ext cx="424281" cy="424281"/>
          </a:xfrm>
          <a:prstGeom prst="rect">
            <a:avLst/>
          </a:prstGeom>
        </p:spPr>
      </p:pic>
      <p:sp>
        <p:nvSpPr>
          <p:cNvPr id="19" name="TextBox 18"/>
          <p:cNvSpPr txBox="1"/>
          <p:nvPr/>
        </p:nvSpPr>
        <p:spPr>
          <a:xfrm>
            <a:off x="5213177"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등록 · 배포</a:t>
            </a:r>
          </a:p>
          <a:p>
            <a:pPr algn="ctr" eaLnBrk="0">
              <a:lnSpc>
                <a:spcPct val="110000"/>
              </a:lnSpc>
              <a:spcAft>
                <a:spcPts val="400"/>
              </a:spcAft>
            </a:pPr>
            <a:r>
              <a:rPr sz="1500" b="0">
                <a:solidFill>
                  <a:srgbClr val="1F2A3A"/>
                </a:solidFill>
                <a:latin typeface="맑은 고딕"/>
                <a:ea typeface="맑은 고딕"/>
                <a:cs typeface="맑은 고딕"/>
              </a:rPr>
              <a:t>판본으로 등록하고</a:t>
            </a:r>
          </a:p>
          <a:p>
            <a:pPr algn="ctr" eaLnBrk="0">
              <a:lnSpc>
                <a:spcPct val="110000"/>
              </a:lnSpc>
              <a:spcAft>
                <a:spcPts val="400"/>
              </a:spcAft>
            </a:pPr>
            <a:r>
              <a:rPr sz="1500" b="0">
                <a:solidFill>
                  <a:srgbClr val="1F2A3A"/>
                </a:solidFill>
                <a:latin typeface="맑은 고딕"/>
                <a:ea typeface="맑은 고딕"/>
                <a:cs typeface="맑은 고딕"/>
              </a:rPr>
              <a:t>배포해 경보를</a:t>
            </a:r>
          </a:p>
          <a:p>
            <a:pPr algn="ctr" eaLnBrk="0">
              <a:lnSpc>
                <a:spcPct val="110000"/>
              </a:lnSpc>
              <a:spcAft>
                <a:spcPts val="400"/>
              </a:spcAft>
            </a:pPr>
            <a:r>
              <a:rPr sz="1500" b="0">
                <a:solidFill>
                  <a:srgbClr val="1F2A3A"/>
                </a:solidFill>
                <a:latin typeface="맑은 고딕"/>
                <a:ea typeface="맑은 고딕"/>
                <a:cs typeface="맑은 고딕"/>
              </a:rPr>
              <a:t>받는 흐름으로 만든다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01215"/>
            <a:ext cx="1911644" cy="378028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284095"/>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8179399" y="2437714"/>
            <a:ext cx="424281" cy="424281"/>
          </a:xfrm>
          <a:prstGeom prst="rect">
            <a:avLst/>
          </a:prstGeom>
        </p:spPr>
      </p:pic>
      <p:sp>
        <p:nvSpPr>
          <p:cNvPr id="24" name="TextBox 23"/>
          <p:cNvSpPr txBox="1"/>
          <p:nvPr/>
        </p:nvSpPr>
        <p:spPr>
          <a:xfrm>
            <a:off x="7508869"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실행</a:t>
            </a:r>
          </a:p>
          <a:p>
            <a:pPr algn="ctr" eaLnBrk="0">
              <a:lnSpc>
                <a:spcPct val="110000"/>
              </a:lnSpc>
              <a:spcAft>
                <a:spcPts val="400"/>
              </a:spcAft>
            </a:pPr>
            <a:r>
              <a:rPr sz="1500" b="0">
                <a:solidFill>
                  <a:srgbClr val="1F2A3A"/>
                </a:solidFill>
                <a:latin typeface="맑은 고딕"/>
                <a:ea typeface="맑은 고딕"/>
                <a:cs typeface="맑은 고딕"/>
              </a:rPr>
              <a:t>정기 점검 도래로</a:t>
            </a:r>
          </a:p>
          <a:p>
            <a:pPr algn="ctr" eaLnBrk="0">
              <a:lnSpc>
                <a:spcPct val="110000"/>
              </a:lnSpc>
              <a:spcAft>
                <a:spcPts val="400"/>
              </a:spcAft>
            </a:pPr>
            <a:r>
              <a:rPr sz="1500" b="0">
                <a:solidFill>
                  <a:srgbClr val="1F2A3A"/>
                </a:solidFill>
                <a:latin typeface="맑은 고딕"/>
                <a:ea typeface="맑은 고딕"/>
                <a:cs typeface="맑은 고딕"/>
              </a:rPr>
              <a:t>처리 건이 열리고</a:t>
            </a:r>
          </a:p>
          <a:p>
            <a:pPr algn="ctr" eaLnBrk="0">
              <a:lnSpc>
                <a:spcPct val="110000"/>
              </a:lnSpc>
              <a:spcAft>
                <a:spcPts val="400"/>
              </a:spcAft>
            </a:pPr>
            <a:r>
              <a:rPr sz="1500" b="0">
                <a:solidFill>
                  <a:srgbClr val="1F2A3A"/>
                </a:solidFill>
                <a:latin typeface="맑은 고딕"/>
                <a:ea typeface="맑은 고딕"/>
                <a:cs typeface="맑은 고딕"/>
              </a:rPr>
              <a:t>추천안이 승인을 기다린다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01215"/>
            <a:ext cx="1911644" cy="378028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284095"/>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437714"/>
            <a:ext cx="424281" cy="424281"/>
          </a:xfrm>
          <a:prstGeom prst="rect">
            <a:avLst/>
          </a:prstGeom>
        </p:spPr>
      </p:pic>
      <p:sp>
        <p:nvSpPr>
          <p:cNvPr id="29" name="TextBox 28"/>
          <p:cNvSpPr txBox="1"/>
          <p:nvPr/>
        </p:nvSpPr>
        <p:spPr>
          <a:xfrm>
            <a:off x="9804562" y="3088767"/>
            <a:ext cx="1765340" cy="2719577"/>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성공 기준</a:t>
            </a:r>
          </a:p>
          <a:p>
            <a:pPr algn="ctr" eaLnBrk="0">
              <a:lnSpc>
                <a:spcPct val="110000"/>
              </a:lnSpc>
              <a:spcAft>
                <a:spcPts val="400"/>
              </a:spcAft>
            </a:pPr>
            <a:r>
              <a:rPr sz="1500" b="0">
                <a:solidFill>
                  <a:srgbClr val="1F2A3A"/>
                </a:solidFill>
                <a:latin typeface="맑은 고딕"/>
                <a:ea typeface="맑은 고딕"/>
                <a:cs typeface="맑은 고딕"/>
              </a:rPr>
              <a:t>정비 오더, 생산팀 공지,</a:t>
            </a:r>
          </a:p>
          <a:p>
            <a:pPr algn="ctr" eaLnBrk="0">
              <a:lnSpc>
                <a:spcPct val="110000"/>
              </a:lnSpc>
              <a:spcAft>
                <a:spcPts val="400"/>
              </a:spcAft>
            </a:pPr>
            <a:r>
              <a:rPr sz="1500" b="0">
                <a:solidFill>
                  <a:srgbClr val="1F2A3A"/>
                </a:solidFill>
                <a:latin typeface="맑은 고딕"/>
                <a:ea typeface="맑은 고딕"/>
                <a:cs typeface="맑은 고딕"/>
              </a:rPr>
              <a:t>결과 보고와 종료가</a:t>
            </a:r>
          </a:p>
          <a:p>
            <a:pPr algn="ctr" eaLnBrk="0">
              <a:lnSpc>
                <a:spcPct val="110000"/>
              </a:lnSpc>
              <a:spcAft>
                <a:spcPts val="400"/>
              </a:spcAft>
            </a:pPr>
            <a:r>
              <a:rPr sz="1500" b="0">
                <a:solidFill>
                  <a:srgbClr val="1F2A3A"/>
                </a:solidFill>
                <a:latin typeface="맑은 고딕"/>
                <a:ea typeface="맑은 고딕"/>
                <a:cs typeface="맑은 고딕"/>
              </a:rPr>
              <a:t>처리 건에 남는다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실제 거래 없이 기업 시스템 안에서 처리</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9751"/>
            <a:ext cx="1911644" cy="332320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2631"/>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666250"/>
            <a:ext cx="424281" cy="424281"/>
          </a:xfrm>
          <a:prstGeom prst="rect">
            <a:avLst/>
          </a:prstGeom>
        </p:spPr>
      </p:pic>
      <p:sp>
        <p:nvSpPr>
          <p:cNvPr id="9" name="TextBox 8"/>
          <p:cNvSpPr txBox="1"/>
          <p:nvPr/>
        </p:nvSpPr>
        <p:spPr>
          <a:xfrm>
            <a:off x="62179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연결</a:t>
            </a:r>
          </a:p>
          <a:p>
            <a:pPr algn="ctr" eaLnBrk="0">
              <a:lnSpc>
                <a:spcPct val="110000"/>
              </a:lnSpc>
              <a:spcAft>
                <a:spcPts val="400"/>
              </a:spcAft>
            </a:pPr>
            <a:r>
              <a:rPr sz="1250" b="0">
                <a:solidFill>
                  <a:srgbClr val="1F2A3A"/>
                </a:solidFill>
                <a:latin typeface="맑은 고딕"/>
                <a:ea typeface="맑은 고딕"/>
                <a:cs typeface="맑은 고딕"/>
              </a:rPr>
              <a:t>그린 그림에</a:t>
            </a:r>
          </a:p>
          <a:p>
            <a:pPr algn="ctr" eaLnBrk="0">
              <a:lnSpc>
                <a:spcPct val="110000"/>
              </a:lnSpc>
              <a:spcAft>
                <a:spcPts val="400"/>
              </a:spcAft>
            </a:pPr>
            <a:r>
              <a:rPr sz="1250" b="0">
                <a:solidFill>
                  <a:srgbClr val="1F2A3A"/>
                </a:solidFill>
                <a:latin typeface="맑은 고딕"/>
                <a:ea typeface="맑은 고딕"/>
                <a:cs typeface="맑은 고딕"/>
              </a:rPr>
              <a:t>SPARE_BELOW_MIN,</a:t>
            </a:r>
          </a:p>
          <a:p>
            <a:pPr algn="ctr" eaLnBrk="0">
              <a:lnSpc>
                <a:spcPct val="110000"/>
              </a:lnSpc>
              <a:spcAft>
                <a:spcPts val="400"/>
              </a:spcAft>
            </a:pPr>
            <a:r>
              <a:rPr sz="1250" b="0">
                <a:solidFill>
                  <a:srgbClr val="1F2A3A"/>
                </a:solidFill>
                <a:latin typeface="맑은 고딕"/>
                <a:ea typeface="맑은 고딕"/>
                <a:cs typeface="맑은 고딕"/>
              </a:rPr>
              <a:t>구매 에이전트,</a:t>
            </a:r>
          </a:p>
          <a:p>
            <a:pPr algn="ctr" eaLnBrk="0">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29751"/>
            <a:ext cx="1911644" cy="332320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2631"/>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666250"/>
            <a:ext cx="424281" cy="424281"/>
          </a:xfrm>
          <a:prstGeom prst="rect">
            <a:avLst/>
          </a:prstGeom>
        </p:spPr>
      </p:pic>
      <p:sp>
        <p:nvSpPr>
          <p:cNvPr id="14" name="TextBox 13"/>
          <p:cNvSpPr txBox="1"/>
          <p:nvPr/>
        </p:nvSpPr>
        <p:spPr>
          <a:xfrm>
            <a:off x="2917484"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검사 · 등록 · 배포</a:t>
            </a:r>
          </a:p>
          <a:p>
            <a:pPr algn="ctr" eaLnBrk="0">
              <a:lnSpc>
                <a:spcPct val="110000"/>
              </a:lnSpc>
              <a:spcAft>
                <a:spcPts val="400"/>
              </a:spcAft>
            </a:pPr>
            <a:r>
              <a:rPr sz="1250" b="0">
                <a:solidFill>
                  <a:srgbClr val="1F2A3A"/>
                </a:solidFill>
                <a:latin typeface="맑은 고딕"/>
                <a:ea typeface="맑은 고딕"/>
                <a:cs typeface="맑은 고딕"/>
              </a:rPr>
              <a:t>사전 검사를 거쳐</a:t>
            </a:r>
          </a:p>
          <a:p>
            <a:pPr algn="ctr" eaLnBrk="0">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29751"/>
            <a:ext cx="1911644" cy="332320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2631"/>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666250"/>
            <a:ext cx="424281" cy="424281"/>
          </a:xfrm>
          <a:prstGeom prst="rect">
            <a:avLst/>
          </a:prstGeom>
        </p:spPr>
      </p:pic>
      <p:sp>
        <p:nvSpPr>
          <p:cNvPr id="19" name="TextBox 18"/>
          <p:cNvSpPr txBox="1"/>
          <p:nvPr/>
        </p:nvSpPr>
        <p:spPr>
          <a:xfrm>
            <a:off x="5213177"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재고 부족으로</a:t>
            </a:r>
          </a:p>
          <a:p>
            <a:pPr algn="ctr" eaLnBrk="0">
              <a:lnSpc>
                <a:spcPct val="110000"/>
              </a:lnSpc>
              <a:spcAft>
                <a:spcPts val="400"/>
              </a:spcAft>
            </a:pPr>
            <a:r>
              <a:rPr sz="1250" b="0">
                <a:solidFill>
                  <a:srgbClr val="1F2A3A"/>
                </a:solidFill>
                <a:latin typeface="맑은 고딕"/>
                <a:ea typeface="맑은 고딕"/>
                <a:cs typeface="맑은 고딕"/>
              </a:rPr>
              <a:t>처리 건이 열리고</a:t>
            </a:r>
          </a:p>
          <a:p>
            <a:pPr algn="ctr" eaLnBrk="0">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29751"/>
            <a:ext cx="1911644" cy="332320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2631"/>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666250"/>
            <a:ext cx="424281" cy="424281"/>
          </a:xfrm>
          <a:prstGeom prst="rect">
            <a:avLst/>
          </a:prstGeom>
        </p:spPr>
      </p:pic>
      <p:sp>
        <p:nvSpPr>
          <p:cNvPr id="24" name="TextBox 23"/>
          <p:cNvSpPr txBox="1"/>
          <p:nvPr/>
        </p:nvSpPr>
        <p:spPr>
          <a:xfrm>
            <a:off x="7508869"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 뒤</a:t>
            </a:r>
          </a:p>
          <a:p>
            <a:pPr algn="ctr" eaLnBrk="0">
              <a:lnSpc>
                <a:spcPct val="110000"/>
              </a:lnSpc>
              <a:spcAft>
                <a:spcPts val="400"/>
              </a:spcAft>
            </a:pPr>
            <a:r>
              <a:rPr sz="1250" b="0">
                <a:solidFill>
                  <a:srgbClr val="1F2A3A"/>
                </a:solidFill>
                <a:latin typeface="맑은 고딕"/>
                <a:ea typeface="맑은 고딕"/>
                <a:cs typeface="맑은 고딕"/>
              </a:rPr>
              <a:t>ERP 발주,</a:t>
            </a:r>
          </a:p>
          <a:p>
            <a:pPr algn="ctr" eaLnBrk="0">
              <a:lnSpc>
                <a:spcPct val="110000"/>
              </a:lnSpc>
              <a:spcAft>
                <a:spcPts val="400"/>
              </a:spcAft>
            </a:pPr>
            <a:r>
              <a:rPr sz="1250" b="0">
                <a:solidFill>
                  <a:srgbClr val="1F2A3A"/>
                </a:solidFill>
                <a:latin typeface="맑은 고딕"/>
                <a:ea typeface="맑은 고딕"/>
                <a:cs typeface="맑은 고딕"/>
              </a:rPr>
              <a:t>공급사 통지,</a:t>
            </a:r>
          </a:p>
          <a:p>
            <a:pPr algn="ctr" eaLnBrk="0">
              <a:lnSpc>
                <a:spcPct val="110000"/>
              </a:lnSpc>
              <a:spcAft>
                <a:spcPts val="400"/>
              </a:spcAft>
            </a:pPr>
            <a:r>
              <a:rPr sz="1250" b="0">
                <a:solidFill>
                  <a:srgbClr val="1F2A3A"/>
                </a:solidFill>
                <a:latin typeface="맑은 고딕"/>
                <a:ea typeface="맑은 고딕"/>
                <a:cs typeface="맑은 고딕"/>
              </a:rPr>
              <a:t>입고와 재고 반영</a:t>
            </a:r>
          </a:p>
          <a:p>
            <a:pPr algn="ctr" eaLnBrk="0">
              <a:lnSpc>
                <a:spcPct val="110000"/>
              </a:lnSpc>
              <a:spcAft>
                <a:spcPts val="400"/>
              </a:spcAft>
            </a:pPr>
            <a:r>
              <a:rPr sz="1250" b="0">
                <a:solidFill>
                  <a:srgbClr val="1F2A3A"/>
                </a:solidFill>
                <a:latin typeface="맑은 고딕"/>
                <a:ea typeface="맑은 고딕"/>
                <a:cs typeface="맑은 고딕"/>
              </a:rPr>
              <a:t>입고는 발주 뒤 바로 처리</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29751"/>
            <a:ext cx="1911644" cy="332320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12631"/>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66250"/>
            <a:ext cx="424281" cy="424281"/>
          </a:xfrm>
          <a:prstGeom prst="rect">
            <a:avLst/>
          </a:prstGeom>
        </p:spPr>
      </p:pic>
      <p:sp>
        <p:nvSpPr>
          <p:cNvPr id="29" name="TextBox 28"/>
          <p:cNvSpPr txBox="1"/>
          <p:nvPr/>
        </p:nvSpPr>
        <p:spPr>
          <a:xfrm>
            <a:off x="980456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성공 기준</a:t>
            </a:r>
          </a:p>
          <a:p>
            <a:pPr algn="ctr" eaLnBrk="0">
              <a:lnSpc>
                <a:spcPct val="110000"/>
              </a:lnSpc>
              <a:spcAft>
                <a:spcPts val="400"/>
              </a:spcAft>
            </a:pPr>
            <a:r>
              <a:rPr sz="1250" b="0">
                <a:solidFill>
                  <a:srgbClr val="1F2A3A"/>
                </a:solidFill>
                <a:latin typeface="맑은 고딕"/>
                <a:ea typeface="맑은 고딕"/>
                <a:cs typeface="맑은 고딕"/>
              </a:rPr>
              <a:t>가용 재고가</a:t>
            </a:r>
          </a:p>
          <a:p>
            <a:pPr algn="ctr" eaLnBrk="0">
              <a:lnSpc>
                <a:spcPct val="110000"/>
              </a:lnSpc>
              <a:spcAft>
                <a:spcPts val="400"/>
              </a:spcAft>
            </a:pPr>
            <a:r>
              <a:rPr sz="1250" b="0">
                <a:solidFill>
                  <a:srgbClr val="1F2A3A"/>
                </a:solidFill>
                <a:latin typeface="맑은 고딕"/>
                <a:ea typeface="맑은 고딕"/>
                <a:cs typeface="맑은 고딕"/>
              </a:rPr>
              <a:t>1개에서 7개로,</a:t>
            </a:r>
          </a:p>
          <a:p>
            <a:pPr algn="ctr" eaLnBrk="0">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4138711788918431843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경보</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승인 역할</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SCADA · CMMS · ERP</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 · 결과 보고</a:t>
            </a:r>
          </a:p>
        </p:txBody>
      </p:sp>
      <p:sp>
        <p:nvSpPr>
          <p:cNvPr id="12" name="TextBox 11"/>
          <p:cNvSpPr txBox="1"/>
          <p:nvPr/>
        </p:nvSpPr>
        <p:spPr>
          <a:xfrm>
            <a:off x="5615829" y="5409590"/>
            <a:ext cx="523655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거절의 경로</a:t>
            </a:r>
          </a:p>
          <a:p>
            <a:pPr algn="ctr" eaLnBrk="0">
              <a:lnSpc>
                <a:spcPct val="110000"/>
              </a:lnSpc>
              <a:spcAft>
                <a:spcPts val="100"/>
              </a:spcAft>
            </a:pPr>
            <a:r>
              <a:rPr sz="1300" b="0">
                <a:solidFill>
                  <a:srgbClr val="556175"/>
                </a:solidFill>
                <a:latin typeface="맑은 고딕"/>
                <a:ea typeface="맑은 고딕"/>
                <a:cs typeface="맑은 고딕"/>
              </a:rPr>
              <a:t>E_rejected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224787031500495243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364674"/>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254946"/>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137833"/>
            <a:ext cx="599985" cy="599985"/>
          </a:xfrm>
          <a:prstGeom prst="rect">
            <a:avLst/>
          </a:prstGeom>
        </p:spPr>
      </p:pic>
      <p:sp>
        <p:nvSpPr>
          <p:cNvPr id="10" name="TextBox 9"/>
          <p:cNvSpPr txBox="1"/>
          <p:nvPr/>
        </p:nvSpPr>
        <p:spPr>
          <a:xfrm>
            <a:off x="64007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254946"/>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137833"/>
            <a:ext cx="599985" cy="599985"/>
          </a:xfrm>
          <a:prstGeom prst="rect">
            <a:avLst/>
          </a:prstGeom>
        </p:spPr>
      </p:pic>
      <p:sp>
        <p:nvSpPr>
          <p:cNvPr id="14" name="TextBox 13"/>
          <p:cNvSpPr txBox="1"/>
          <p:nvPr/>
        </p:nvSpPr>
        <p:spPr>
          <a:xfrm>
            <a:off x="2858963"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254946"/>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860916"/>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137833"/>
            <a:ext cx="599985" cy="599985"/>
          </a:xfrm>
          <a:prstGeom prst="rect">
            <a:avLst/>
          </a:prstGeom>
        </p:spPr>
      </p:pic>
      <p:sp>
        <p:nvSpPr>
          <p:cNvPr id="18" name="TextBox 17"/>
          <p:cNvSpPr txBox="1"/>
          <p:nvPr/>
        </p:nvSpPr>
        <p:spPr>
          <a:xfrm>
            <a:off x="5077846"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254946"/>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137833"/>
            <a:ext cx="599985" cy="599985"/>
          </a:xfrm>
          <a:prstGeom prst="rect">
            <a:avLst/>
          </a:prstGeom>
        </p:spPr>
      </p:pic>
      <p:sp>
        <p:nvSpPr>
          <p:cNvPr id="22" name="TextBox 21"/>
          <p:cNvSpPr txBox="1"/>
          <p:nvPr/>
        </p:nvSpPr>
        <p:spPr>
          <a:xfrm>
            <a:off x="7296729"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2860916"/>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137833"/>
            <a:ext cx="599985" cy="599985"/>
          </a:xfrm>
          <a:prstGeom prst="rect">
            <a:avLst/>
          </a:prstGeom>
        </p:spPr>
      </p:pic>
      <p:sp>
        <p:nvSpPr>
          <p:cNvPr id="25" name="TextBox 24"/>
          <p:cNvSpPr txBox="1"/>
          <p:nvPr/>
        </p:nvSpPr>
        <p:spPr>
          <a:xfrm>
            <a:off x="9515612" y="4151896"/>
            <a:ext cx="203600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a:p>
            <a:pPr algn="ctr" eaLnBrk="0">
              <a:lnSpc>
                <a:spcPct val="110000"/>
              </a:lnSpc>
              <a:spcAft>
                <a:spcPts val="400"/>
              </a:spcAft>
            </a:pPr>
            <a:r>
              <a:rPr sz="1300" b="0">
                <a:solidFill>
                  <a:srgbClr val="1F2A3A"/>
                </a:solidFill>
                <a:latin typeface="맑은 고딕"/>
                <a:ea typeface="맑은 고딕"/>
                <a:cs typeface="맑은 고딕"/>
              </a:rPr>
              <a:t>유온 51.5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 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 10 % 초과로 전수 검사 감점, 품질 득실도 뒤진다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701385502996968331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승인 기록에 승인한 역할과</a:t>
            </a:r>
          </a:p>
          <a:p>
            <a:pPr algn="l" eaLnBrk="0">
              <a:lnSpc>
                <a:spcPct val="110000"/>
              </a:lnSpc>
              <a:spcAft>
                <a:spcPts val="400"/>
              </a:spcAft>
            </a:pPr>
            <a:r>
              <a:rPr sz="1400" b="0">
                <a:solidFill>
                  <a:srgbClr val="1F2A3A"/>
                </a:solidFill>
                <a:latin typeface="맑은 고딕"/>
                <a:ea typeface="맑은 고딕"/>
                <a:cs typeface="맑은 고딕"/>
              </a:rPr>
              <a:t>판단 id가 남는다.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5345625300376598338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 증거 · 조치 · 규칙</a:t>
            </a:r>
          </a:p>
        </p:txBody>
      </p:sp>
      <p:sp>
        <p:nvSpPr>
          <p:cNvPr id="8" name="TextBox 7"/>
          <p:cNvSpPr txBox="1"/>
          <p:nvPr/>
        </p:nvSpPr>
        <p:spPr>
          <a:xfrm>
            <a:off x="4459423" y="5267766"/>
            <a:ext cx="272737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9" name="TextBox 8"/>
          <p:cNvSpPr txBox="1"/>
          <p:nvPr/>
        </p:nvSpPr>
        <p:spPr>
          <a:xfrm>
            <a:off x="7704998" y="5267766"/>
            <a:ext cx="360013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순서 · 책임 · 승인 · 실행 · 기록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계획과 운전시간, 정비 가능 시간, 정비 이력, 생산 오더</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예비품 재고, 부품 견적, 공급사</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지식이 없을 때</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에이전트가 없을 때</a:t>
            </a:r>
          </a:p>
          <a:p>
            <a:pPr algn="l" eaLnBrk="0">
              <a:lnSpc>
                <a:spcPct val="110000"/>
              </a:lnSpc>
              <a:spcAft>
                <a:spcPts val="400"/>
              </a:spcAft>
            </a:pPr>
            <a:r>
              <a:rPr sz="18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프로세스가 없을 때</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정의를 고쳐</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배운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처리 건 하나를 따라가면 정의의 선택, 대기와 종결, 구조와 값의 구분이 한 사건에서 모두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요소와 순서,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 ·</a:t>
            </a:r>
          </a:p>
          <a:p>
            <a:pPr algn="l" eaLnBrk="0">
              <a:lnSpc>
                <a:spcPct val="110000"/>
              </a:lnSpc>
            </a:pPr>
            <a:r>
              <a:rPr sz="1250" b="1">
                <a:solidFill>
                  <a:srgbClr val="556175"/>
                </a:solidFill>
                <a:latin typeface="맑은 고딕"/>
                <a:ea typeface="맑은 고딕"/>
                <a:cs typeface="맑은 고딕"/>
              </a:rPr>
              <a:t>같은 값</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다른 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현재고에서 예약분을 빼고 새로 쓸 수 있는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가장 오래 걸려 흐름 전체를 늦추는 단계</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건이 시작 이벤트에서 끝 이벤트까지 걸린 시간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작업이 열린 뒤 수행되기를 기다린 시간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거절률</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Rejection Rate</a:t>
            </a:r>
          </a:p>
          <a:p>
            <a:pPr algn="l" eaLnBrk="0">
              <a:lnSpc>
                <a:spcPct val="110000"/>
              </a:lnSpc>
            </a:pPr>
            <a:r>
              <a:rPr sz="1250" b="0">
                <a:solidFill>
                  <a:srgbClr val="1F2A3A"/>
                </a:solidFill>
                <a:latin typeface="맑은 고딕"/>
                <a:ea typeface="맑은 고딕"/>
                <a:cs typeface="맑은 고딕"/>
              </a:rPr>
              <a:t>끝난 처리 건 가운데 거절로 닫힌 것의 비율</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