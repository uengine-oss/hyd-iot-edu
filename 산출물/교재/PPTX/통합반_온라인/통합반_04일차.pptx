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매뉴얼 같은 원천 자료가 지식 그래프의 지식이 되기까지의 단계를 따라갑니다. 이어서 추출에서 생기는 오류를 원문과 대조해 잡는 방법과, 지식이 어느 문서의 어느 구간에서 왔는지 되짚는 출처를 다룹니다. 그다음 지식 그래프에 등록할 것과 판단하는 순간 원천에서 읽을 값을 가릅니다. 마지막으로 직접 추출하고 검토한 지식을 그래프에 반영하고, 지금까지 만든 지식이 쿨러 사건의 판단에 쓰인 자리를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뒤에 올라온 추천안에는 원인과 추천 조치, 그리고 출처가 함께 적혀 있었습니다. 원인인 쿨러 핀 오염은 매뉴얼 HM-8의 4절에, 팬 최대 운전은 5절에 적힌 내용입니다. 수업용 지식 그래프는 처음에 설비와 센서 같은 구조만 갖고 있고, 고장 · 원인 · 조치의 지식은 이 매뉴얼을 적재해야 생깁니다. 문장이 어떻게 그 지식이 되는지를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4절의 문장이고 오른쪽은 같은 내용이 지식 그래프에 등록된 모습입니다. 문장에서는 어느 부분이 원인이고 어느 부분이 판정 기준인지 사람이 읽고 가려야 합니다. 오른쪽은 원인이 고장 유형을 일으키는 관계와 증거의 태그 · 집계 · 기준이 칸으로 나뉘어 있어서, 프로그램이 경보에서 원인 후보로 따라가고 기준을 값에 댈 수 있습니다.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원천 자료를 지식으로 옮기는 정해진 과정을 인제스천이라고 부릅니다. 원래는 바깥의 자료를 시스템 안으로 들여온다는 넓은 뜻이고, 여기서는 온톨로지의 스키마에 맞춰 노드와 관계로 넣는 일을 가리킵니다. 원천 자료는 매뉴얼처럼 문장으로 된 것도 있고 업무 DB처럼 표로 된 것도 있어서 들어오는 길이 다릅니다. 문서의 길을 먼저 일곱 단계로 따라가고, 업무 DB의 길은 지식과 값을 가르는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봅니다. 매뉴얼 한 편에도 절과 절차와 단계가 수십 개이고, 판단에 쓰려면 점검표와 구매 기준까지 옮겨야 합니다. 가운데처럼 금지 조건 한 줄이 빠지면 옮긴 결과에는 틀린 글자가 없어서 찾기 어렵습니다. 오른쪽처럼 문서가 개정되면 어느 지식이 그 문장에서 왔는지부터 다시 찾아야 합니다. 그래서 옮기는 방법을 사람의 솜씨에 맡기지 않고, 누가 해도 같은 단계를 밟고 확인한 것이 남는 과정으로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하늘색으로 묶은 추출과 매핑은 한 작업으로 이루어지며, LLM이 문서를 읽는 곳은 이 두 칸입니다. 나머지 단계는 정해진 코드와 사람의 확인이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보관입니다. 뒤에서 추출 결과가 맞는지 확인할 때 비교하는 대상이 이 원문이므로, 원문이 바뀔 수 있다면 대조가 뜻을 잃습니다. 가운데의 파일 이름은 바뀌고 겹칠 수 있어서 문서를 가리키는 값으로 쓰지 않습니다. 그래서 오른쪽처럼 문서마다 식별자를 발급하고, 개정판은 그 식별자를 주고 올려 같은 문서로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왼쪽은 쿨러 사건에서 추천된 팬 최대 운전의 원문으로, 맨 윗줄이 절, 가운데 제목이 절차, 번호가 붙은 줄이 단계입니다. 이 구분은 제목과 번호의 모양만 보고 코드가 먼저 찾아 첫 제안을 만듭니다. 다만 번호 없는 문장에서 무엇이 조건이고 무엇이 결론인지는 모양으로 가릴 수 없어서 다음 단계가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입력이고, 여기서 뽑은 것은 아직 지식이 아니라 후보입니다. 번호가 붙은 줄이 단계라는 것은 모양으로 알 수 있지만, 문장의 어느 부분이 기준이고 어느 부분이 결론인지는 뜻을 읽어야 알 수 있어서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쪽은 모델에게 무엇을 뽑을지보다 무엇을 하지 말아야 하는지를 먼저 정해 둡니다. 첫 줄은 문서 안의 문장을 모델이 따를 명령으로 받아들이지 않게 하는 약속이고, 둘째 묶음은 조건과 수치를 원문 그대로 두고 없는 단계를 만들지 않게 합니다. 셋째 묶음처럼 추론했거나 맞는 대상이 없는 곳은 결과에 경고로 남기므로, 사람은 경고부터 확인할 수 있습니다. 이 약속들은 추출을 직접 지시하는 실습에서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읽고 옮겨야 합니다. 가운데처럼 항목과 형식을 정해 주면 프로그램이 받아 다음 단계로 넘길 수 있고, 그 형식으로 JSON을 씁니다. 오른쪽의 형식 검사는 항목이 있는지와 숫자 자리에 숫자가 있는지까지 보고, 어긋나면 같은 작업에 교정을 요청합니다. 그 숫자가 원문과 같은지는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위의 세 줄인 식별자와 이름과 별칭은 지식 구조에서 배운 그대로입니다. prior는 문장에 있던 사전 확률, 곧 매뉴얼이 이 원인을 얼마나 흔하다고 보는지를 옮긴 값이고, 맨 아래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클래스 가운데 하나여야 합니다. 왼쪽은 문서가 새로 알려 주는 지식이어서 후보로 만듭니다. 오른쪽은 이미 등록된 대상이어서, 추출 작업에 등록된 식별자의 목록을 함께 주고 그 안에서 가리키게 합니다. 매뉴얼에 오일 쿨러라는 말이 나왔다고 노드를 하나 더 만들면 같은 구성 요소가 둘이 되기 때문입니다. 적재할 때도 가리킨 대상이 그래프에 실제로 있는지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문장 하나에서 대상 넷이 나왔습니다. 점선으로 그린 하늘색 원이 새로 만들 고장 유형이고, 나머지 셋은 이미 등록된 증상과 구성 요소입니다. 증상은 고장 유형을 가리키고 고장 유형은 오일 쿨러에서 생긴다는 관계로 이어지므로,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경고입니다. 금지 문장이 분명히 있는데도 규칙으로 만들지 않은 까닭을 모델이 적어 두었습니다. 그 규칙이 검사할 입력 데이터가 등록된 목록에 없었기 때문입니다. 모르는 것을 모른다고 남기게 하면 지어낸 대상이 판단에 섞이지 않고, 사람이 무엇을 먼저 등록할지 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넷이고, 넷 모두 형식 검사를 통과합니다. 위의 둘은 조건 문장이 통째로 빠지거나 단위만 바뀌는 경우여서, 결과에 틀린 글자가 없거나 숫자 자리에 숫자가 있으므로 프로그램이 이상을 찾지 못합니다. 셋째는 핀 세척을 원인과 상관없는 조치로 잇는 경우이고, 넷째는 원문에 없는 단계를 만들어 넣는 경우입니다.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오류입니다. 위의 원문대로 읽으면 가장 빠른 곳은 C트레이딩이고, 승인 공급사가 아니므로 이 견적에서는 이 절차가 쓰이지 않는 것이 맞습니다. 아래의 추출 결과에는 발주처가 A정밀로 적혀 있는데, 2단계의 조건을 미리 적용해 값을 바꾸어 적은 것으로 부정 조건의 누락과 잘못된 추론이 겹친 경우입니다. 그래서 지시문을 고쳐, 1단계의 기준은 그대로 두고 2단계의 조건은 판단이 이 절차를 빼는 제외 규칙으로 옮기게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위의 지식 한 건에서 원문의 한 줄로 가는 화살표가 인용입니다. 팬 최대 운전의 2단계는 원문 1쪽의 1569번째 글자부터 1615번째 글자까지가 근거입니다. 모델은 쪽과 인용문만 적고, 프로그램이 그 인용문을 보관 원문의 그 쪽에서 찾아 위치를 채웁니다. 여러 곳에 걸리는 짧은 인용은 짐작하지 않고 돌려보내며, 원문에 없는 문장을 근거로 댄 후보는 여기서 걸려 교정 요청으로 돌아가지만, 조건이 빠졌는지와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처음부터 다시 읽는 것이 아니라, 인용이 가리키는 자리와 모델이 남긴 경고를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검토자가 이름을 밝혀 검토 완료를 표시해야 적재가 받아들여지고, 이때 인용 위치와 가리킨 대상을 한 번 더 확인합니다. 넣을 때는 노드와 관계를 한 번에 넣고 중간에 하나라도 어긋나면 전체를 취소해서, 절차는 들어갔는데 금지 조건은 빠진 상태가 생기지 않게 합니다. 후보 하나하나에 승인 표시를 다는 방식이 아니라 고치고 뺀 뒤 남은 제안 전체를 검토해 넣는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위가 판본입니다. 문서 식별자는 그대로이고, 내용이 한 글자라도 바뀌면 원본에서 계산한 지문이 달라져 새 판본이 됩니다. 판본 아래의 적재 기록에는 누가 언제 검토해 넣었는지와 넣기 전후의 지식 그래프 상태가 들어가고, 새 기록은 앞 기록을 가리켜 그 문서의 개정 이력이 사슬로 남습니다. 전후를 비교하면 어느 개정에서 무엇이 바뀌었는지 알 수 있고, 되돌릴 때는 가장 새 기록부터 차례로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그래프에는 여러 문서에서 온 지식과 처음부터 넣은 구조가 함께 있습니다. 그래서 적재가 만든 노드와 관계에는 어느 문서가 만들었는지 표시해 두고, 개정이나 되돌리기는 그 표시가 있는 것만 다룹니다. 다른 원천이 가진 노드는 덮어쓰지 않고 알려 주며, 지난 사건에서 고른 조치 방법이 새 판에서 빠지게 되면 그때의 판단을 되짚을 수 없으므로 개정을 거절합니다. 적재 뒤에 누가 손으로 고친 지식도 되돌리기가 함부로 지우지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사건의 추천안에 출처가 함께 나온 것이 이 단계의 결과입니다. 윗줄을 왼쪽부터 따라가면 조치 방법이 단계를 갖고, 단계는 자신이 나온 절을 가리키며, 절은 문서에 속합니다. 문서 노드는 어느 판본에서 왔는지를 갖고, 절과 단계에는 인용이 속성으로 붙어 있습니다. 아래의 규칙도 자신이 나온 절을 가리키므로, 출처는 문서를 다시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방식이 인제스천만 있는 것은 아닙니다. 왼쪽의 RAG는 검색으로 보강한 생성이라는 뜻이고, 문서를 그대로 쓰므로 준비가 빠르고 넓은 범위의 질문에 답할 수 있습니다. 같은 질문을 넣으면 왼쪽은 조각을 찾아 그때 해석하고, 오른쪽은 등록 전에 사람이 확인한 규칙으로 판정합니다. 두 방식은 우열이 아니라 쓰임이 다르며,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지식은 매뉴얼에서 뽑아 검토하고 등록한 것들로, 문서가 개정될 때만 바뀝니다. 오른쪽의 값은 등록하지 않습니다. 편하다는 이유로 지금의 값을 노드의 속성으로 넣어 두면, 경보 뒤 2분이 안 되어 유온이 55.71 ℃에서 61.8 ℃까지 오른 쿨러 사건에서는 이미 지난 값으로 판단하게 됩니다. 결정표가 기준과 그때 읽어 오는 값을 나누었던 구분을 지식 그래프 전체에 적용한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왼쪽은 기준이고 오른쪽은 그 기준에 댈 값입니다. 정상값 48과 한계 65는 지식이고 지금의 유온은 값이며, 핀 오염의 기준 70 %도 지식이고 최근 30초의 평균은 값입니다. 넷째 줄처럼 업무의 값도 그래프에는 무엇을 어디에서 읽을지만 두고, 남은 납기와 재고 수량은 업무 DB에서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중괄호가 매뉴얼에서 추출해 등록한 증거 한 건이며, 무엇을 읽어 무엇과 비교할지는 있지만 지금의 냉각 효율은 들어 있지 않습니다. 가운데의 조회문은 판단하는 순간 위의 칸들로 만들어지는데, 모델이 조회문을 직접 쓰지 않고 프로그램이 정해진 틀에 칸을 채워 만듭니다. 맨 아래가 읽은 값 46.2를 기준 70과 비교한 결과입니다. 매뉴얼의 기준이 바뀌면 지식의 70만 고치면 되고, 값은 원천에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쪽의 길입니다. 업무 DB의 표 정의를 올리면, 고른 열마다 입력 데이터 하나가 생기고 어느 표의 어느 열인지가 그 속성으로 붙습니다. 정기 정비 도래라는 이상 패턴은 이 입력 데이터를 검사하고, 입력 데이터는 정비 관리 시스템을 출처로 삼습니다. 센서 값이 태그 이름으로 이어졌다면 업무 값은 표와 열의 위치로 이어지며, 지식에는 값이 있는 자리를 적고 값은 원천에 둔다는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두 가지 출처가 함께 있습니다. 왼쪽의 지식은 인용과 적재 기록으로 어느 문서의 어느 판본, 어느 구간에서 왔고 누가 검토해 넣었는지까지 되짚습니다. 오른쪽의 값은 판단할 때 어느 원천의 어느 표에서 어떤 조건으로, 언제 관측한 값을 읽었는지가 기록에 남습니다. 나중에 판단을 따질 때 둘이 함께 있어야 지식이 틀렸는지 값이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검토로, 단계 문장을 원문 인용과 나란히 놓고 부정 조건과 단위와 순서와 대상이 맞는지 보고 고칩니다. 적재한 뒤에는 지식 지도에서 조치와 원인과 근거 문서가 이어졌는지 확인하고, 데이터 연결에서 판단 기준과 원천의 지금 값이 어디에 놓였는지 견줍니다. 완성본에서는 검토를 마친 적재 결과와 그 출처를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먼저 자료의 표와 절차 번호와 예외 조건을 확인하고, 지시에는 스키마의 클래스에 맞출 것, 정해진 형식으로 낼 것, 후보마다 인용을 붙일 것, 원문에 없는 것은 경고로 남길 것을 넣습니다. 결과는 원문과 나란히 놓고 빠진 조건과 틀린 값을 고쳐 다음 실습에 쓸 검토용 파일로 남깁니다. 완성본에서는 같은 자료를 추출한 결과와 인용 대조를 실행해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이번 회차에 배운 과정 그대로입니다. 앞 실습에서 만든 후보를 원문과 대조해 채택하고 고치고 뺄 것을 정한 뒤, 직접 설계한 설비 모델과 조치 · 규칙의 구조에 기존 식별자로 잇습니다. 검토한 항목만 실습용 그래프 DB에 넣고, 고장 유형 하나에서 원인과 조치와 판단 규칙, 원문 출처까지 따라갈 수 있으면 됩니다. 완성본에서는 보강된 그래프에서 같은 조회를 실행해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처음의 결과물은 손으로 그린 관계 그림이었고, 그다음 그 그림에 클래스와 식별자라는 틀이 생겨 그래프 DB에 들어갔습니다. 셋째 칸에서 조치 방법과 판단 규칙과 성과 지표가 같은 그래프에 이어졌고, 넷째 칸에서 문서에서 온 원인과 증거가 출처와 함께 더해졌습니다. 칸마다 하늘색으로 칠한 부분이 그 단계에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그림만으로는 증상에서 조치로 엉뚱한 관계를 그어도 막을 방법이 없어서, 정의와 식별자가 다음 과제로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단계의 입력은 설비 자료와 그 지식으로 답할 질문이었고, 스키마 설계는 클래스가 아니라 질문에서 출발했습니다. 위의 점선 상자 줄이 첫 결과물인 스키마로 무엇이 무엇에 이어질 수 있는지를 정하고, 아래의 원 줄이 둘째 결과물인 인스턴스 데이터로 실제로 무엇이 무엇에 이어져 있는지를 담습니다. 왼쪽의 HYD-01에서 오일 쿨러, 유온 센서, 유온까지 관계를 따라가면 처음 정한 질문의 답인 센서와 한계 65도가 나오며,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조치와 판단 단계의 입력은 작업 조건이 정리된 절차 자료였습니다. 첫 행에서 SOP 한 편이 조치 방법 노드 하나가 되고 번호가 붙은 줄이 작업 단계가 되었습니다. 둘째 행의 금지는 앞에서 본 경고처럼 규칙으로 만들어지지 않았고, 부하를 60 % 아래로 설정하지 못한다는 조치의 한계로 남았습니다. 셋째 행의 전제 조건은 제외 규칙이 되었고, 조건에 댈 운전 모드의 값은 규칙에 없이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여유와 전력 사용량은 내부 프로세스 관점, 납기 준수율은 고객 관점의 지표이고, 한 조치가 한 지표에는 이롭고 다른 지표에는 불리합니다. 그래서 가능 여부는 규칙이 가리고,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구조와 조치 · 판단의 단계가 지식이 들어갈 자리를 만들었다면, 문서의 지식 단계는 그 자리를 채우는 방법을 다루었습니다. 왼쪽부터 원문, 후보, 검토된 지식, 출처를 가진 지식의 순서입니다. 마지막 칸에는 내용과 함께 그것이 어디에서 왔고 누가 확인했는지가 같이 들어 있어서, 내용만 있는 지식과 달리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일으킨다는 정의이고, 가운데는 그 정의에 맞추어 들어간 쿨러 핀 오염과 쿨러 냉각 성능 상실, 그리고 증거 기준입니다. 위의 둘은 지식 그래프에 있고 맨 아래의 값은 그래프 밖의 원천에 있어, 판단하는 순간 파란 점선을 따라 읽습니다.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스키마가 정한 관계를 따라갔고, 원인 후보와 그 기준은 매뉴얼에서 들어온 지식이며, 기준에 댄 값은 그 순간 원천에서 읽었습니다. 넷째 걸음에서 판단 규칙과 성과 기준이 후보를 가려 순서를 정했고, 마지막에 문서의 절과 인용이 근거로 붙었습니다. 경보 뒤 약 94초 동안 원인을 가리고 조치안을 비교한 일이 이것이었고, 그것이 가능했던 것은 결과물들이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이상 패턴에서 증상을 거쳐 고장 유형까지 갑니다. 이 길은 그때 누가 생각해 낸 것이 아니라, 관계가 정의되어 있고 그 정의에 따라 인스턴스가 이어져 있어서 따라갈 수 있었습니다. 오른쪽의 원인 후보 셋과 후보마다의 증거 기준은 모두 매뉴얼 4절에서 추출해 검토한 지식입니다. 기준 70이 원문과 다르게 옮겨졌다면 판단은 그 틀린 기준으로 원인을 가렸을 것이므로,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 시계열 DB에서 읽은 값이고, 오른쪽의 원인마다 적힌 기준이 매뉴얼에서 온 지식입니다. 맨 위부터 보면 기준 70은 지식이고 46.2는 읽은 값이며, 둘은 서로 다른 곳에 있다가 판단하는 순간에만 만납니다. 팬 진동 0.575는 팬이 정상이라는 뜻이어서 핀 오염에는 맞고 팬 구동 불량에는 맞지 않으며,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후보 넷의 예측 유온과 순위입니다. 먼저 판단 규칙이 후보를 걸렀고, 넷 모두 제외 규칙을 통과했으며 예측 유온이 62.5도인 쿨러 핀 세척에는 경고가 붙었습니다. 통과한 후보의 순서는 성과 기준이 정했고, 유온을 가장 많이 내리는 조치가 아니라 생산을 그대로 두는 팬 최대 운전이 1순위로 올라갔습니다. 부하를 낮추는 두 후보는 공동 2순위였습니다.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쿨러 사건을 볼 때는 추천에 근거가 붙어 나온다는 정도로 지나간 화면입니다. 지금은 줄마다 그것이 어디에서 왔는지를 말할 수 있습니다. 추천안에 이른 길은 스키마가 정한 관계를 따라온 경로이고, 후보로 고른 규칙은 판단 규칙이며, 출처는 적재가 조치 방법의 단계에 이어 둔 매뉴얼의 절입니다. 담당자는 이 세 가지를 보고 승인할지 거절할지를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한 행으로 본 감점 규칙과 그 근거 문장입니다. 문서의 문장은 왜 그런 기준이 있는지를 사람에게 설명하고, 규칙은 지금 그 기준을 어떻게 판정할지를 정합니다. 두 모습은 같은 적재에서 함께 들어왔고, 규칙이 자신이 나온 절을 가리키며 그 절은 문서의 판본에 속합니다. 그래서 규칙이 걸리면 근거 문장을 바로 내보일 수 있고,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가리키는 규칙을 찾으면 고칠 대상이 나옵니다. 고친 내용은 처음 넣을 때와 같이 원문과 대조해 검토하고 적재하며, 적재 기록이 앞 기록을 가리키는 사슬에 하나 더 붙습니다. 규칙만 있고 근거가 없으면 어느 규칙을 고쳐야 하는지 찾을 수 없으므로, 출처의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에이전트가 값을 읽을 곳을 알려 주고, 읽은 값이 오래되었거나 비어 있으면 판정을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답의 근거를 확인할 수 없다는 문제가 처음의 출발점이었습니다. 그 문제에 대한 답이 이 구분입니다. 왼쪽의 사실과 기준은 사람이 검토해 지식 그래프와 규칙에 정해 두고, 오른쪽의 조회와 종합만 에이전트에게 맡기며, 실행 여부는 다시 사람이 승인 · 거절로 정합니다. 그래서 에이전트가 낸 추천안은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상황마다 먼저 살펴볼 자리를 고릅니다. 관계 유형이 없으면 스키마, 기준이 매뉴얼과 다르면 인용을 따라 문서 지식, 숫자가 실제와 다르면 값의 출처 기록을 따라 원천, 기준이 개정되었으면 새 판본과 그 절에서 나온 규칙입니다. 답 이름을 외우기보다 어떤 근거를 따라가야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앞의 복습에서 확인한 되짚는 흐름을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개정이라는 상황을 판본 · 출처 · 소유의 원칙으로 해석하는 시나리오 문항입니다. 보기마다 개정 뒤에 같은 문서의 지식이 하나로 이어지는지, 규칙이 어느 판의 어느 문장에서 왔는지가 남는지를 따져 봅니다. 지난 판단의 근거가 어떻게 되는지도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값의 근거가 어디에 있는지를 가리는 문항입니다. 넷 가운데 하나만 성격이 다르니, 문서가 개정되기 전에는 바뀌지 않는 것과 매초 바뀌는 것을 가려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 · 대조 · 적재의 과정에서 프로그램과 사람이 각각 무엇을 맡는지, 책임의 경계를 묻는 문항입니다. 보기마다 그 확인을 형식 검사, 인용 대조, 적재 때의 재확인, 사람의 검토 가운데 누가 하는지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같은 문서가 둘로 갈라져 옛 지식과 새 지식이 함께 남고, 3번은 근거 문장과 판본이 바뀌지 않은 채 숫자만 달라져 출처가 끊기며, 4번은 지난 판단의 근거를 지웁니다. 둘째 문항의 1 · 2 · 3번은 문서가 개정될 때만 바뀌는 지식입니다. 셋째 문항의 1번은 형식 검사, 2번은 인용 대조, 4번은 적재 때의 재확인이 맡으며, 부정 조건의 누락은 이 검사들을 모두 통과합니다.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1.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image" Target="../media/image44.png"/><Relationship Id="rId6"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2.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2.png"/><Relationship Id="rId4" Type="http://schemas.openxmlformats.org/officeDocument/2006/relationships/image" Target="../media/image3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6.png"/><Relationship Id="rId4"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업무 DB는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331296710252075027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원문 보관</a:t>
            </a:r>
          </a:p>
          <a:p>
            <a:pPr algn="l" eaLnBrk="0" marL="200025" indent="-200025">
              <a:lnSpc>
                <a:spcPct val="110000"/>
              </a:lnSpc>
              <a:spcAft>
                <a:spcPts val="400"/>
              </a:spcAft>
            </a:pPr>
            <a:r>
              <a:rPr sz="1750" b="0">
                <a:solidFill>
                  <a:srgbClr val="1F2A3A"/>
                </a:solidFill>
                <a:latin typeface="맑은 고딕"/>
                <a:ea typeface="맑은 고딕"/>
                <a:cs typeface="맑은 고딕"/>
              </a:rPr>
              <a:t>• 받은 파일을 바꾸지 못하는 원본으로 보관한다</a:t>
            </a:r>
          </a:p>
          <a:p>
            <a:pPr algn="l" eaLnBrk="0" marL="200025" indent="-200025">
              <a:lnSpc>
                <a:spcPct val="110000"/>
              </a:lnSpc>
              <a:spcAft>
                <a:spcPts val="400"/>
              </a:spcAft>
            </a:pPr>
            <a:r>
              <a:rPr sz="1750" b="0">
                <a:solidFill>
                  <a:srgbClr val="1F2A3A"/>
                </a:solidFill>
                <a:latin typeface="맑은 고딕"/>
                <a:ea typeface="맑은 고딕"/>
                <a:cs typeface="맑은 고딕"/>
              </a:rPr>
              <a:t>• 쪽마다 뽑은 글을 함께 둔다</a:t>
            </a:r>
          </a:p>
          <a:p>
            <a:pPr algn="l" eaLnBrk="0" marL="200025" indent="-200025">
              <a:lnSpc>
                <a:spcPct val="110000"/>
              </a:lnSpc>
              <a:spcAft>
                <a:spcPts val="400"/>
              </a:spcAft>
            </a:pPr>
            <a:r>
              <a:rPr sz="1750" b="0">
                <a:solidFill>
                  <a:srgbClr val="1F2A3A"/>
                </a:solidFill>
                <a:latin typeface="맑은 고딕"/>
                <a:ea typeface="맑은 고딕"/>
                <a:cs typeface="맑은 고딕"/>
              </a:rPr>
              <a:t>• 글이 뽑히지 않는 쪽이 있으면 적재하지 않는다</a:t>
            </a:r>
          </a:p>
        </p:txBody>
      </p:sp>
      <p:sp>
        <p:nvSpPr>
          <p:cNvPr id="10" name="Rounded Rectangle 9"/>
          <p:cNvSpPr/>
          <p:nvPr/>
        </p:nvSpPr>
        <p:spPr>
          <a:xfrm>
            <a:off x="777240" y="537527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파일 이름</a:t>
            </a:r>
          </a:p>
          <a:p>
            <a:pPr algn="l" eaLnBrk="0" marL="200025" indent="-200025">
              <a:lnSpc>
                <a:spcPct val="110000"/>
              </a:lnSpc>
              <a:spcAft>
                <a:spcPts val="400"/>
              </a:spcAft>
            </a:pPr>
            <a:r>
              <a:rPr sz="1750" b="0">
                <a:solidFill>
                  <a:srgbClr val="1F2A3A"/>
                </a:solidFill>
                <a:latin typeface="맑은 고딕"/>
                <a:ea typeface="맑은 고딕"/>
                <a:cs typeface="맑은 고딕"/>
              </a:rPr>
              <a:t>• 누구나 바꿀 수 있다</a:t>
            </a:r>
          </a:p>
          <a:p>
            <a:pPr algn="l" eaLnBrk="0" marL="200025" indent="-200025">
              <a:lnSpc>
                <a:spcPct val="110000"/>
              </a:lnSpc>
              <a:spcAft>
                <a:spcPts val="400"/>
              </a:spcAft>
            </a:pPr>
            <a:r>
              <a:rPr sz="175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375275"/>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7527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문서 식별자</a:t>
            </a:r>
          </a:p>
          <a:p>
            <a:pPr algn="l" eaLnBrk="0" marL="200025" indent="-200025">
              <a:lnSpc>
                <a:spcPct val="110000"/>
              </a:lnSpc>
              <a:spcAft>
                <a:spcPts val="400"/>
              </a:spcAft>
            </a:pPr>
            <a:r>
              <a:rPr sz="1750" b="0">
                <a:solidFill>
                  <a:srgbClr val="1F2A3A"/>
                </a:solidFill>
                <a:latin typeface="맑은 고딕"/>
                <a:ea typeface="맑은 고딕"/>
                <a:cs typeface="맑은 고딕"/>
              </a:rPr>
              <a:t>• 처음 올릴 때 문서마다 새로 발급한다</a:t>
            </a:r>
          </a:p>
          <a:p>
            <a:pPr algn="l" eaLnBrk="0" marL="200025" indent="-200025">
              <a:lnSpc>
                <a:spcPct val="110000"/>
              </a:lnSpc>
              <a:spcAft>
                <a:spcPts val="400"/>
              </a:spcAft>
            </a:pPr>
            <a:r>
              <a:rPr sz="175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375275"/>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75275"/>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 안의 문장이 명령처럼 쓰여 있어도 모델이 따르지 않는다.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0.6이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674786128614603377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16129135814326669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인용문을 그 쪽에서 찾는다</a:t>
            </a:r>
          </a:p>
          <a:p>
            <a:pPr algn="ctr" eaLnBrk="0">
              <a:lnSpc>
                <a:spcPct val="110000"/>
              </a:lnSpc>
              <a:spcAft>
                <a:spcPts val="100"/>
              </a:spcAft>
            </a:pPr>
            <a:r>
              <a:rPr sz="1300" b="0">
                <a:solidFill>
                  <a:srgbClr val="556175"/>
                </a:solidFill>
                <a:latin typeface="맑은 고딕"/>
                <a:ea typeface="맑은 고딕"/>
                <a:cs typeface="맑은 고딕"/>
              </a:rPr>
              <a:t>없거나 여러 곳이면 교정을 요청한다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하나라도 어긋나면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216703444645033519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a:p>
            <a:pPr algn="ctr" eaLnBrk="0">
              <a:lnSpc>
                <a:spcPct val="110000"/>
              </a:lnSpc>
              <a:spcAft>
                <a:spcPts val="100"/>
              </a:spcAft>
            </a:pPr>
            <a:r>
              <a:rPr sz="1300" b="0">
                <a:solidFill>
                  <a:srgbClr val="556175"/>
                </a:solidFill>
                <a:latin typeface="맑은 고딕"/>
                <a:ea typeface="맑은 고딕"/>
                <a:cs typeface="맑은 고딕"/>
              </a:rPr>
              <a:t>승인된 것만 한 번에 넣고</a:t>
            </a:r>
          </a:p>
          <a:p>
            <a:pPr algn="ctr" eaLnBrk="0">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207453312556891609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eaLnBrk="0" marL="165735" indent="-165735">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eaLnBrk="0" marL="165735" indent="-165735">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eaLnBrk="0" marL="165735" indent="-165735">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그 문장이 검토를 거쳐 제외 규칙으로 등록되어 있다</a:t>
            </a:r>
          </a:p>
          <a:p>
            <a:pPr algn="l" eaLnBrk="0" marL="160020" indent="-160020">
              <a:lnSpc>
                <a:spcPct val="110000"/>
              </a:lnSpc>
              <a:spcAft>
                <a:spcPts val="600"/>
              </a:spcAft>
            </a:pPr>
            <a:r>
              <a:rPr sz="1400" b="0">
                <a:solidFill>
                  <a:srgbClr val="1F2A3A"/>
                </a:solidFill>
                <a:latin typeface="맑은 고딕"/>
                <a:ea typeface="맑은 고딕"/>
                <a:cs typeface="맑은 고딕"/>
              </a:rPr>
              <a:t>• 운전 모드의 값을 읽어 규칙의 조건과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같은 운전 모드이면 언제나 같은 결과가 나온다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사람의 확인은 등록하기 전에 끝나 있다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문서가 개정될 때만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넣은 순간부터 원천과 어긋난다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DB는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입력데이터_자리.svg" descr="illust_489842842521536088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eaLnBrk="0">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구조만 들어 있는 수업용 지식 그래프</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등록된 지식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기록한다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방법에서 근거 절까지 관계가 이어진다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원문 대조</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파일이 남는다</a:t>
            </a:r>
          </a:p>
        </p:txBody>
      </p:sp>
      <p:sp>
        <p:nvSpPr>
          <p:cNvPr id="28" name="Rounded Rectangle 27"/>
          <p:cNvSpPr/>
          <p:nvPr/>
        </p:nvSpPr>
        <p:spPr>
          <a:xfrm>
            <a:off x="9303791" y="534816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a:t>
            </a:r>
          </a:p>
          <a:p>
            <a:pPr algn="l" eaLnBrk="0" marL="160020" indent="-160020">
              <a:lnSpc>
                <a:spcPct val="110000"/>
              </a:lnSpc>
              <a:spcAft>
                <a:spcPts val="400"/>
              </a:spcAft>
            </a:pPr>
            <a:r>
              <a:rPr sz="1400" b="0">
                <a:solidFill>
                  <a:srgbClr val="1F2A3A"/>
                </a:solidFill>
                <a:latin typeface="맑은 고딕"/>
                <a:ea typeface="맑은 고딕"/>
                <a:cs typeface="맑은 고딕"/>
              </a:rPr>
              <a:t>• 후보를 원문과 대조해</a:t>
            </a:r>
          </a:p>
          <a:p>
            <a:pPr algn="l" eaLnBrk="0" marL="160020" indent="-160020">
              <a:lnSpc>
                <a:spcPct val="110000"/>
              </a:lnSpc>
              <a:spcAft>
                <a:spcPts val="400"/>
              </a:spcAft>
            </a:pPr>
            <a:r>
              <a:rPr sz="1400" b="0">
                <a:solidFill>
                  <a:srgbClr val="1F2A3A"/>
                </a:solidFill>
                <a:latin typeface="맑은 고딕"/>
                <a:ea typeface="맑은 고딕"/>
                <a:cs typeface="맑은 고딕"/>
              </a:rPr>
              <a:t>• 채택 · 수정 · 제외를 정한다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매핑</a:t>
            </a:r>
          </a:p>
          <a:p>
            <a:pPr algn="l" eaLnBrk="0" marL="160020" indent="-160020">
              <a:lnSpc>
                <a:spcPct val="110000"/>
              </a:lnSpc>
              <a:spcAft>
                <a:spcPts val="400"/>
              </a:spcAft>
            </a:pPr>
            <a:r>
              <a:rPr sz="1400" b="0">
                <a:solidFill>
                  <a:srgbClr val="1F2A3A"/>
                </a:solidFill>
                <a:latin typeface="맑은 고딕"/>
                <a:ea typeface="맑은 고딕"/>
                <a:cs typeface="맑은 고딕"/>
              </a:rPr>
              <a:t>• 설비 모델과 조치 · 규칙의 구조에 잇는다</a:t>
            </a:r>
          </a:p>
          <a:p>
            <a:pPr algn="l" eaLnBrk="0" marL="160020" indent="-160020">
              <a:lnSpc>
                <a:spcPct val="110000"/>
              </a:lnSpc>
              <a:spcAft>
                <a:spcPts val="400"/>
              </a:spcAft>
            </a:pPr>
            <a:r>
              <a:rPr sz="140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적재</a:t>
            </a:r>
          </a:p>
          <a:p>
            <a:pPr algn="l" eaLnBrk="0" marL="160020" indent="-160020">
              <a:lnSpc>
                <a:spcPct val="110000"/>
              </a:lnSpc>
              <a:spcAft>
                <a:spcPts val="400"/>
              </a:spcAft>
            </a:pPr>
            <a:r>
              <a:rPr sz="1400" b="0">
                <a:solidFill>
                  <a:srgbClr val="1F2A3A"/>
                </a:solidFill>
                <a:latin typeface="맑은 고딕"/>
                <a:ea typeface="맑은 고딕"/>
                <a:cs typeface="맑은 고딕"/>
              </a:rPr>
              <a:t>• 바이브 코딩으로 적재 코드를 만든다</a:t>
            </a:r>
          </a:p>
          <a:p>
            <a:pPr algn="l" eaLnBrk="0" marL="160020" indent="-160020">
              <a:lnSpc>
                <a:spcPct val="110000"/>
              </a:lnSpc>
              <a:spcAft>
                <a:spcPts val="400"/>
              </a:spcAft>
            </a:pPr>
            <a:r>
              <a:rPr sz="140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조회와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고장 유형 → 원인 · 조치 · 판단 규칙 · 원문 출처를 조회한다</a:t>
            </a:r>
          </a:p>
          <a:p>
            <a:pPr algn="l" eaLnBrk="0" marL="160020" indent="-160020">
              <a:lnSpc>
                <a:spcPct val="110000"/>
              </a:lnSpc>
              <a:spcAft>
                <a:spcPts val="400"/>
              </a:spcAft>
            </a:pPr>
            <a:r>
              <a:rPr sz="1400" b="0">
                <a:solidFill>
                  <a:srgbClr val="1F2A3A"/>
                </a:solidFill>
                <a:latin typeface="맑은 고딕"/>
                <a:ea typeface="맑은 고딕"/>
                <a:cs typeface="맑은 고딕"/>
              </a:rPr>
              <a:t>• 같은 대상이 둘로 생기지 않는다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제외한 후보는 그래프에 없다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네일차_흐름.svg" descr="illust_748916803969086253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관계.svg" descr="illust_766198167288821835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두층_3.svg" descr="illust_406007677546836634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질문의 답이 나오는 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 팬 속도를 100 %로 올린다.」</a:t>
            </a:r>
          </a:p>
          <a:p>
            <a:pPr algn="l" eaLnBrk="0">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어떻게</a:t>
            </a:r>
          </a:p>
          <a:p>
            <a:pPr algn="l" eaLnBrk="0">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부하는 60 % 아래로 내리지 않는다.」</a:t>
            </a:r>
          </a:p>
          <a:p>
            <a:pPr algn="l" eaLnBrk="0">
              <a:lnSpc>
                <a:spcPct val="110000"/>
              </a:lnSpc>
            </a:pPr>
            <a:r>
              <a:rPr sz="1400" b="0">
                <a:solidFill>
                  <a:srgbClr val="1F2A3A"/>
                </a:solidFill>
                <a:latin typeface="맑은 고딕"/>
                <a:ea typeface="맑은 고딕"/>
                <a:cs typeface="맑은 고딕"/>
              </a:rPr>
              <a:t>→ 조치의 한계: 펌프 부하 설정의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무엇을 하면</a:t>
            </a:r>
          </a:p>
          <a:p>
            <a:pPr algn="l" eaLnBrk="0">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a:p>
            <a:pPr algn="l" eaLnBrk="0">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언제 할 수</a:t>
            </a:r>
          </a:p>
          <a:p>
            <a:pPr algn="l" eaLnBrk="0">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성과경로_5.svg" descr="illust_146406544490392851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세층.svg" descr="illust_897680953342033869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100" b="0">
                <a:solidFill>
                  <a:srgbClr val="556175"/>
                </a:solidFill>
                <a:latin typeface="맑은 고딕"/>
                <a:ea typeface="맑은 고딕"/>
                <a:cs typeface="맑은 고딕"/>
              </a:rPr>
              <a:t>지식</a:t>
            </a:r>
          </a:p>
          <a:p>
            <a:pPr algn="ctr" eaLnBrk="0">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경로_3.svg" descr="illust_885994499683386216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원인후보.svg" descr="illust_107764322433199758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값은 원천에 있다</a:t>
            </a:r>
          </a:p>
          <a:p>
            <a:pPr algn="ctr" eaLnBrk="0">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고친 내용을</a:t>
            </a:r>
          </a:p>
          <a:p>
            <a:pPr algn="ctr" eaLnBrk="0">
              <a:lnSpc>
                <a:spcPct val="110000"/>
              </a:lnSpc>
              <a:spcAft>
                <a:spcPts val="400"/>
              </a:spcAft>
            </a:pPr>
            <a:r>
              <a:rPr sz="1650" b="0">
                <a:solidFill>
                  <a:srgbClr val="1F2A3A"/>
                </a:solidFill>
                <a:latin typeface="맑은 고딕"/>
                <a:ea typeface="맑은 고딕"/>
                <a:cs typeface="맑은 고딕"/>
              </a:rPr>
              <a:t>검토해 넣고</a:t>
            </a:r>
          </a:p>
          <a:p>
            <a:pPr algn="ctr" eaLnBrk="0">
              <a:lnSpc>
                <a:spcPct val="110000"/>
              </a:lnSpc>
              <a:spcAft>
                <a:spcPts val="400"/>
              </a:spcAft>
            </a:pPr>
            <a:r>
              <a:rPr sz="1650" b="0">
                <a:solidFill>
                  <a:srgbClr val="1F2A3A"/>
                </a:solidFill>
                <a:latin typeface="맑은 고딕"/>
                <a:ea typeface="맑은 고딕"/>
                <a:cs typeface="맑은 고딕"/>
              </a:rPr>
              <a:t>적재 기록을 남긴다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정해진 자리에서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값이 오래되었거나 비면 판정을 보류한다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질문과 가까운 문서 조각을 찾아 모델이 읽고 답하게 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최근 30초 동안의 냉각 효율 평균</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