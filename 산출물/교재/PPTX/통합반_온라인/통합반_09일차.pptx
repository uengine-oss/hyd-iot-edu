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에이전트의 추천안 뒤에 남은 일을 하나의 비즈니스 프로세스로 정의하고 관리하는 방법을 봅니다. 이어서 그 프로세스를 BPMN이라는 표준 그림으로 읽고, 엔진이 그 그림을 실제로 실행하는 방식을 이해합니다. 마지막으로 직접 그린 흐름을 등록하고 실행해 처리 건의 기록을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에이전트가 팬 최대 운전을 추천한 시점부터 보겠습니다. 추천안이 나왔다고 업무가 끝난 것은 아닙니다. 남은 일이 무엇이고, 그 일을 무엇이 이어 주는지가 이 단원의 물음입니다.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원인을 쿨러 핀 오염으로 가리고 팬 최대 운전을 추천한 시점입니다. 추천안은 나왔지만 팬은 아직 그대로 돌고 유온도 그대로입니다. 운전원의 승인, 설비로 가는 냉각 명령, 유온을 다시 읽는 재관측, 핀 세척의 작업지시 등록, 결과 보고가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남은 다섯 가지를 누가 하는지 보겠습니다. 승인은 운전원이, 냉각 명령은 SCADA가, 작업지시 등록은 설비 보전 관리 시스템인 CMMS가 맡습니다. 재관측과 결과 보고는 처리 전체를 이끄는 시스템이 직접 맡습니다. 다섯 가지는 맡는 쪽이 서로 다르고, 앞의 일이 끝나야 다음 일을 시작할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가지 일을 맡을 쪽이 있어도 그 사이를 이어 주는 것이 없으면 세 가지 문제가 생깁니다. 추천안이 나온 것을 운전원이 모르면 흐름이 멈춥니다. 누가 승인하고 응답이 없으면 어떻게 되는지가 정해져 있지 않으면 책임이 흩어집니다. 그리고 이 사건이 어디까지 진행되었는지를 한곳에서 볼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순서까지 에이전트에게 맡기면 되지 않느냐는 생각이 들 수 있습니다. 에이전트는 상황을 읽고 그때마다 판단하는 데 강합니다. 하지만 승인 전에는 명령이 나가지 않는다, 승인은 운전원만 한다는 것은 판단할 일이 아니라 어길 수 없게 정해 둘 일입니다. 이런 순서와 책임은 에이전트의 바깥에 따로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순서와 책임을 미리 정해 둔 것이 비즈니스 프로세스입니다. 어떤 결과를 내려고 여러 주체가 하는 작업을 순서대로 이은 묶음이며, 시작하는 사건과 끝나는 조건이 있습니다. 쿨러 성능 저하 경보에서 결과 보고까지가 긴급 대응 프로세스입니다. 이 프로세스가 경보 한 건에 대해 실제로 수행되는 한 건을 처리 건이라고 부르며, 쿨러 사건도 처리 건 하나로 진행되었습니다.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Task는 프로세스 안의 작업 하나로, 위쪽 괄호가 가리키는 에이전트의 추천이 그 예입니다. End-to-End는 아래쪽 괄호처럼 경보라는 시작 사건에서 끝까지의 전체이며 우리말로는 종단 간이라고 합니다. 쿨러 사건에서 에이전트의 Task는 처리 건 시간의 절반 남짓을 썼지만, 끝난 시점에 설비 명령이 없었고 유온도 그대로였습니다. 냉각 명령과 회복 기준 아래로 내려온 유온과 작업지시는 End-to-End가 끝난 시점에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정한다는 점에서 SOP와 프로세스는 혼동하기 쉽습니다. SOP는 팬 최대 운전이라는 조치 하나를 어떤 단계로 수행하는지를 정합니다. 프로세스는 그 조치가 추천되고 승인되고 실행되어 보고되기까지 여러 주체의 작업을 잇습니다. 프로세스의 승인 작업에서 승인되는 대상이 SOP로 정한 조치입니다.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 뒤의 일을 잇는 것이 비즈니스 프로세스라는 것을 보았습니다. 그렇다면 프로세스를 세운다는 것은 실제로 무엇을 정하는 일일까요? 긴급 대응 프로세스에 대어 다섯 가지를 차례로 정해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정의하려면 다섯 가지를 정해야 합니다. 무엇이 일어나면 시작하는지, 시작할 때 무엇을 받는지, 끝났을 때 무엇이 남는지, 작업마다 누가 맡는지, 무엇으로 끝났다고 보는지입니다. 오른쪽 열은 긴급 대응 프로세스의 답이며, 다음 장부터 하나씩 실제 값으로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첫째와 둘째, 시작 조건과 입력입니다. 긴급 대응 프로세스를 여는 것은 사람의 조작이 아니라 경보 메시지입니다. 쿨러 사건의 경보가 도착하자 처리 건이 열렸고, 설비와 경보의 식별자가 입력으로 실려 뒤의 작업들이 읽었습니다. 같은 경보로 처리 건이 두 번 열리지는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셋째는 출력입니다. 프로세스 전체의 출력은 결과 보고와 작업지시이지만, 작업 하나하나에도 받는 것과 내는 것이 정해져 있습니다. 에이전트가 낸 추천안을 운전원이 받고, 운전원이 낸 승인을 냉각 명령이 받습니다. 그래서 작업마다 무엇을 내야 하는지를 미리 정해 두어야 흐름이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넷째는 책임자입니다. 프로세스는 작업마다 맡는 쪽을 정하는데, 사람의 이름이 아니라 운전원 같은 역할로 정합니다. 근무자가 바뀌어도 프로세스는 그대로 두기 위해서입니다. 에이전트와 시스템도 작업을 맡으며, 작업마다 맡는 쪽이 하나로 정해져 있어 지금 누구의 차례인지가 분명합니다.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다섯째는 완료 조건입니다. 승인되어 유온이 회복된 경우만 정해 두면 나머지 경우에 업무가 닫히지 않은 채 남습니다. 승인했지만 유온이 회복되지 않으면 미달로 보고하고 닫습니다. 거절하면 설비 명령 없이 거절로 보고하고 닫습니다. 운전원이 응답하지 않으면 닫지 않고 기다리며, 10분이 지나면 알림만 보냅니다.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맡길 수 없다고 한 순서와 책임이 프로세스에서 어떻게 지켜지는지 확인합니다. 냉각 명령 작업은 승인 작업이 승인으로 끝나야 열리고, 승인이 빠진 흐름은 아예 등록되지 않습니다. 승인 작업은 운전원 역할만 끝낼 수 있고, 다른 역할의 시도는 거부되어 기록으로 남습니다. 이 모든 진행이 처리 건에 남아 나중에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무엇을 위해 있는지도 지식으로 남길 수 있습니다. 지식 그래프에는 프로세스 클래스가 있고, 그 인스턴스인 설비 이상 조치는 대상 설비에 ACTS_ON 관계로, 달성하려는 전략 목표 셋에 ACHIEVES 관계로 이어져 있습니다. 그래서 설비 이상에 대응하는 업무가 설비 가용성과 무재해 운전과 납기 신뢰를 위해 있다는 것을 조회로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전략 목표를 위해 존재합니다. 목표와 설비와 조직이 바뀌면 한 번 정한 프로세스도 그대로 둘 수 없습니다. 프로세스를 만들고 고쳐 가는 일을 어떻게 관리하는지, 무엇을 고칠지는 어떻게 찾는지가 이 단원의 물음입니다.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만들고 운영하고 고쳐 가는 일 전체를 관리하는 방법이 BPM, Business Process Management입니다. BPM이 보는 것은 작업 하나가 아니라 처음부터 끝까지의 흐름입니다. 앞에서 구분한 End-to-End가 관리의 단위가 되며, 판단 한 단계가 빨라져도 승인이 늦으면 업무 전체는 빨라지지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BPM은 다섯 단계를 되풀이합니다. 위에서 시계 방향으로, 지금의 업무를 조사하는 분석, 바꿀 흐름을 그리는 설계, 그린 대로 수행하는 실행, 수행 결과를 지켜보는 모니터링, 문제를 찾아 고치는 개선입니다. 개선에서 고친 내용이 다시 분석의 대상이 되므로 고리 모양이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단계에서 하는 일을 쿨러 사건의 예와 나란히 놓았습니다. 분석에서는 시작 조건과 책임자와 완료 조건을 가려내고, 설계에서 정한 순서대로 실행에서는 경보 한 건에 처리 건 하나가 열립니다. 모니터링에서는 운전원 승인의 대기와 재관측의 결과를 지켜봅니다. 개선에서 고친 흐름은 다음 경보의 처리 건부터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분석과 설계에서 쓰는 두 낱말입니다. AS-IS는 지금 일하는 방식을 있는 그대로 그린 것이고, TO-BE는 바꾸려는 방식을 그린 것입니다. 위 줄은 프로세스가 정의되어 있지 않은 현장에서 흔히 볼 수 있는 AS-IS의 예로, 경보를 본 운전원이 전화로 보전 담당을 찾습니다. 아래 줄은 같은 업무를 프로세스로 옮긴 TO-BE입니다.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그림을 나란히 놓으면 무엇을 바꾸는지가 분명해집니다. AS-IS에서는 사람을 찾고, 확인을 기억하고, 결정을 물어서 확인합니다. TO-BE에서는 그 자리마다 작업과 순서와 기록이 놓입니다. AS-IS에서 사람이 기억으로 잇던 자리를 찾아내는 것이 분석의 결과입니다.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BPM의 설계 단계에서는 바꾸려는 흐름, 곧 TO-BE를 그립니다. 그런데 그린 사람마다 도형의 뜻이 다르면 같은 그림을 두고도 다른 흐름을 읽게 됩니다. 누구나 같은 뜻으로 읽는 그림을 어떻게 그리는지가 이 단원의 물음입니다.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프로세스를 문장으로 적어 보았습니다. 틀린 내용은 없지만 읽기가 어렵습니다. 갈림은 문장 속에 흩어져 있고, 재관측과 보고를 누가 하는지는 적혀 있지 않습니다. 마지막 문장은 알림을 보낸 뒤에도 승인을 계속 기다리는지 여기서 끝나는지를 알려 주지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그림으로 적되 도형의 뜻을 약속해 둔 것이 BPMN, Business Process Model and Notation입니다. DMN을 정한 OMG가 정했고 2.0판은 ISO 국제 표준이기도 합니다. 같은 그림을 현업 담당자는 업무를 확인하는 데 쓰고, 소프트웨어는 실행할 설계도로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BPMN의 도형은 세 묶음으로 나누어 읽습니다. 왼쪽의 흐름 객체는 일어나는 일로, 원은 이벤트, 모서리가 둥근 사각형은 작업, 마름모는 게이트웨이입니다. 가운데의 연결 객체는 그것들을 잇는 선이며 실선과 점선의 뜻이 다릅니다. 오른쪽의 스윔레인은 누가 맡는지를 나누는 칸이며 다음 단원에서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문장과 같은 내용을 BPMN으로 그린 그림입니다. 에이전트 칸의 경보에서 시작해 진단과 제안, 담당자 칸의 운전원 승인을 거쳐 시스템 칸의 냉각 명령, 재관측, 작업지시 등록, 결과 보고로 이어집니다. 갈림이 두 곳이고 끝이 세 곳입니다. 시작 이벤트의 이름 쿨러 과열 경보는 쿨러 성능 저하 경보가 도착하는 사건을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원은 이벤트, 곧 프로세스에서 일어나는 사건입니다. 테두리가 가는 원은 프로세스를 여는 시작 이벤트입니다. 안에 봉투가 그려진 것은 메시지를 받으면 여는 메시지 시작 이벤트로, 긴급 대응 프로세스의 쿨러 과열 경보가 이 모양입니다. 테두리가 굵은 원은 한 갈래를 닫는 끝 이벤트이며 긴급 대응 프로세스에는 끝, 거절 종결, 알림의 셋이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안에서 수행되는 일을 활동이라고 하고, 그 가운데 더 쪼개지지 않는 단위가 작업입니다. 왼쪽 위에 사람 표식이 있으면 사람이 수행하는 사용자 작업이고, 톱니 표식이 있으면 시스템이 자동으로 수행하는 서비스 작업입니다. 표식이 없는 작업은 누가 수행할지를 실행 전에 따로 지정하며, 에이전트에게 맡길 진단과 제안이 이 모양으로 그려집니다.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요소를 잇는 실선 화살표가 시퀀스 흐름이며 화살표의 방향이 순서입니다. 마름모는 흐름이 갈라지거나 합쳐지는 게이트웨이이고, 가위표가 그려진 것은 배타 게이트웨이입니다. 배타 게이트웨이는 나가는 선 가운데 조건이 참인 하나로만 흐름을 보냅니다. 운전원 승인 뒤의 승인? 게이트웨이에서 승인이면 냉각 명령으로, 거절이면 결과 보고: 거절로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게이트웨이에서 나가는 선에는 조건이 붙습니다. 승인? 게이트웨이의 승인 쪽 선은 운전원 승인 작업이 낸 approval 값이 승인일 때 참입니다. 유온 정상? 게이트웨이의 예 쪽 선은 재관측이 낸 recovered 값이 참일 때입니다. 어느 조건도 참이 아닐 때 가는 선을 기본 흐름이라고 하며 그림에서는 선의 출발 자리에 빗금을 긋습니다.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이벤트와 작업과 게이트웨이로 순서와 갈림을 그렸습니다. 그런데 그 작업을 누가 맡는지, 운전원이 응답하지 않으면 어떻게 되는지는 아직 그림에 나타나지 않았습니다. 책임과 기다림을 그림에 담는 요소들이 이 단원의 물음에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맡는지는 칸으로 나타냅니다. 바깥 테두리 전체가 풀이며 프로세스에 참여하는 조직이나 시스템 하나를 뜻합니다. 풀 안을 가로로 나눈 칸이 레인이고, 작업이 놓인 레인이 그 작업을 맡는 쪽입니다. 긴급 대응 프로세스는 풀 하나에 담당자, 에이전트, 시스템의 세 레인을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칸이 맡는 쪽을 정한다면, 쿨러 사건과 같은 승인 경우에 작업을 실제로 맡는 쪽은 이 표와 같습니다. 진단과 제안은 에이전트가, 승인은 운전원 역할이, 명령과 재관측과 작업지시 등록과 결과 보고는 시스템들이 맡습니다. 레인의 배치를 보면 설비를 움직이는 냉각 명령 앞에 사람의 승인이 놓여 있습니다. 누가 판단하고 누가 결정하고 누가 실행하는지를 그림이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참여자가 둘이면 풀도 둘을 그립니다. 풀 안에서 작업의 순서를 잇는 선은 실선의 시퀀스 흐름입니다. 풀과 풀 사이에서 오가는 것은 점선의 메시지 흐름으로 그리며, 출발 쪽에 작은 원이 있고 화살촉이 비어 있습니다. 그림은 설비를 운영하는 조직이 공급사에 발주서를 보내고 납기 회신을 받는 일반적인 예이며, 긴급 대응 프로세스는 풀 하나로 그려 메시지 흐름이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작업이 끝나기를 기다리는 동안 생기는 일은 경계 이벤트, Boundary Event로 그립니다. 작업의 테두리에 겹테두리 원을 붙이고, 시계가 그려진 것은 정한 기간이 지나면 발생하는 타이머입니다. 왼쪽의 실선은 중단형으로, 발생하면 붙어 있던 작업을 끊고 다른 가지로 갑니다. 오른쪽의 점선은 비중단형으로, 작업은 그대로 두고 가지를 하나 더 엽니다.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프로세스에서 사람의 결정을 받는 부분만 떼어 놓았습니다. 운전원 승인 뒤에 승인? 게이트웨이가 있어 승인이면 냉각 명령으로, 거절이면 결과 보고: 거절을 거쳐 거절 종결로 갑니다. 승인 작업의 테두리에는 기한이 10분인 승인 지연 타이머가 붙어 있습니다. 점선의 비중단형이어서 10분이 지나면 알림 가지만 열리고 승인 작업은 계속 기다립니다.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 하나가 여러 경우를 담고 있습니다. 쿨러 사건처럼 승인하면 냉각 명령, 재관측, 작업지시 등록, 결과 보고를 거쳐 끝에 닿습니다. 거절하면 냉각 명령으로 가는 선을 지나지 않고 거절 종결에 닿습니다. 운전원이 응답하지 않으면 알림 가지만 알림에 닿아 끝나고, 운전원 승인은 열린 채로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커지면 쓰게 되는 요소 둘을 개념만 소개합니다. 왼쪽의 더하기표 마름모는 병렬 게이트웨이로, 나가는 모든 갈래로 흐름을 함께 보내고 모든 갈래가 끝나면 다시 합칩니다. 오른쪽의 하위 프로세스는 여러 작업으로 이루어진 흐름을 작업 하나처럼 접어 그린 것이며, 아래 가운데의 더하기 표식이 안에 흐름이 들어 있음을 알립니다. 긴급 대응 프로세스에는 둘 다 쓰이지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BPMN으로 그린 긴급 대응 프로세스는 아직 설계도입니다. 그림을 그렸다고 경보가 올 때 운전원에게 승인 작업이 저절로 놓이지는 않습니다. 이 그림을 누가 어떻게 실행하는지가 이 단원의 물음입니다.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그림을 그렸다고 업무가 수행되지는 않습니다. 에이전트가 추천안을 제출하면 누군가 운전원에게 승인 작업을 놓아야 합니다. 승인의 결과를 게이트웨이에 전해야 하고, 운전원이 한참 뒤에 응답하더라도 어디까지 왔는지를 기억하고 있어야 합니다. 그림을 읽어 이 세 가지를 하는 실행 주체가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실행 주체가 프로세스 엔진입니다. 프로세스의 정의를 읽어 작업을 차례로 열고 결과를 넘깁니다. 이렇게 중앙의 한 주체가 전체 순서를 이끄는 방식을 오케스트레이션이라고 합니다. 지휘자가 연주자에게 차례를 알리는 것과 닮았지만, 엔진은 작업의 결과를 받아 다음 작업에 넘기고 기록까지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다루는 것을 둘로 구분합니다. 왼쪽의 프로세스 정의는 요소와 선과 조건을 담은 설계도이며, 긴급 대응 프로세스의 설계도는 이 한 장입니다. 오른쪽의 프로세스 인스턴스는 그 설계도에 따라 실제로 실행되는 한 건으로, 앞에서 처리 건이라고 부른 것입니다. 쿨러 사건의 처리 건은 승인되어 끝났고, 같은 정의에서 열린 다른 처리 건은 거절로 끝났고, 맨 아래 건은 승인을 기다리던 순간의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중인 인스턴스가 어디까지 왔는지는 토큰이라는 개념으로 설명합니다. 토큰은 시작 이벤트에서 하나 생겨, 작업이 끝날 때마다 나가는 선을 따라 다음 요소로 옮겨 갑니다. 게이트웨이에서는 조건이 참인 선으로 가고, 끝 이벤트에 닿으면 사라집니다. 그림은 토큰이 운전원 승인에 있는 순간으로, 에이전트의 작업은 끝났고 냉각 명령에는 아직 닿지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운전원의 승인을 기다리던 처리 건의 실제 기록입니다. 처리 건의 상태는 실행 중을 뜻하는 RUNNING이고, 열려 있는 단계는 운전원 승인입니다. 그림의 작업 하나가 처리 건마다 단계 하나가 되며, 아래는 단계마다의 상태로, 에이전트의 단계는 DONE, 운전원 승인은 IN_PROGRESS, 아직 닿지 않은 단계는 TODO입니다. 승인 대기는 고장이 아니라 토큰이 사용자 작업에 머문 정상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기한이 지나도록 응답하지 않은 처리 건입니다. 승인 지연 타이머가 발생하면서 토큰이 하나 더 생겨 승인 지연 알림을 지났습니다. 처음의 토큰은 운전원 승인에 그대로 있습니다. 그래서 알림이 나간 뒤에도 처리 건은 닫히지 않고, 운전원은 여전히 승인하거나 거절할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토큰은 처리 건이 지금 어디에 있는지를 알려 줍니다. 그런데 승인? 게이트웨이가 승인인지 거절인지를 알려면 앞 작업이 낸 결과를 받아야 합니다. 작업의 결과가 어떻게 다음 작업으로 전해지는지, 에이전트의 판단은 그 가운데 어디에 놓이는지가 이 단원의 물음입니다.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작업의 결과가 다음으로 전해지는 길이 프로세스 변수입니다. 인스턴스는 이름 붙은 값들을 지니고 다니며, 작업이 낸 출력이 여기에 저장됩니다. 갈림의 조건이 읽던 approval은 운전원 승인이 내고, recovered는 재관측이 냅니다. 처리 건은 변수마다 그것을 만든 단계를 함께 적어 두므로 값이 어디서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토큰이 작업에 닿으면 엔진은 그 작업의 종류에 따라 다르게 움직입니다. 사용자 작업이면 담당 역할의 작업함에 놓고 사람의 응답을 기다립니다. 서비스 작업이면 SCADA나 CMMS 같은 시스템을 호출하고 처리 결과를 받습니다. 에이전트 단계이면 지정된 에이전트에게 맡기고 추천안이 제출되기를 기다리며, 어느 경우든 작업이 끝나야 엔진이 토큰을 다음으로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단계 안을 들여다보겠습니다. 냉각 긴급 대응 에이전트의 스킬이 정한 순서로, 작업의 입력을 읽고 diagnose로 지식 그래프와 센서 값에서 원인을 가립니다. 필요하면 업무 DB에서 납기 오더와 출하 대기 로트를 확인하고, evaluate_cards로 SOP 조치 넷을 판단 규칙과 성과 기준으로 견줍니다. 마지막에 추천안 하나를 제출하면 판단 id가 붙고, 쿨러 사건에서는 이 단계 안에서 도구를 여러 차례 불렀습니다.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처리 건이 실제로 지나간 순서입니다. 지식 그래프와 SOP와 업무 DB를 읽는 일은 첫 행인 에이전트 단계 안에서 끝났습니다. 프로세스는 그 결과를 운전원 승인에 넘기고, 승인된 조치를 냉각 명령에, 명령의 완료를 재관측에 넘겼습니다. 에이전트가 무엇을 읽을지는 에이전트가 정하지만, 그 결과가 어떤 순서로 누구에게 가는지는 프로세스가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처리 건은 결과 보고까지 마치고 끝났습니다. 처리 건이 끝난 뒤에는 그 결말을 어떻게 판정하는지, 흐름을 고치면 언제부터 바뀌는지, 누가 무엇을 결정했는지를 확인할 수 있어야 합니다. 처리 건의 상태와 판본과 기록을 읽는 법이 이 단원의 물음입니다.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상태는 두 층으로 읽습니다. 처리 건의 상태는 진행 중인 RUNNING과 끝난 COMPLETED입니다. 단계의 상태는 열려 있는 IN_PROGRESS, 끝난 DONE, 아직 닿지 않은 TODO가 있습니다. CANCELLED는 게이트웨이에서 선택되지 않은 갈래의 단계에 붙으며, 거절된 처리 건에서는 냉각 명령이 이 상태로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정의에서 나온 두 처리 건입니다. 왼쪽은 승인되어 설비 명령이 나갔고, 오른쪽은 거절되어 설비 명령이 없으며 결과 보고의 값은 거절을 뜻하는 반려로 적혔습니다. 그런데 두 건의 상태는 똑같이 COMPLETED입니다. COMPLETED는 실행이 끝났다는 뜻일 뿐이어서, 업무가 어떻게 끝났는지는 닿은 끝 이벤트와 결과 보고로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고쳤을 때 언제부터 적용되는지 보겠습니다. 고친 정의는 새 판본으로 등록합니다. 등록만으로는 바뀌지 않고, 그 판본을 배포해야 다음 경보부터 그 판본으로 처리 건이 열립니다. 이미 열려 있던 처리 건은 열릴 때의 판본으로 끝까지 가므로, 실행 도중에 규칙이 바뀌는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실행되는 동안 일어난 일은 두 가지 기록으로 남습니다. 처리 기록은 처리 건 한 건 안에서 일어난 일을 차례로 적은 것으로, 승인이 접수되고 전달될 때와 결과 보고가 나갈 때 한 줄씩 남습니다. 감사 기록, Audit Log는 누가 무엇을 결정했는지를 나중에 확인하려고 처리 건 밖의 일까지 적는 기록입니다. 처리 건이 열린 일, 정의가 배포된 일, 승인할 역할이 아닌 쪽이 승인을 시도해 거부된 일이 여기에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웹 BPMN 편집기로 작은 승인 절차를 직접 그립니다. 정비 요청으로 시작해 담당자가 확인하고, 승인 여부에 따라 승인 종료와 반려 종료로 갈립니다. 게이트웨이의 두 갈래가 빠짐없이 끝 이벤트에 닿는지가 성공 기준이며, 결과물은 BPMN 파일 하나입니다.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이번 회차에 읽은 긴급 대응 프로세스를 직접 그립니다. 세 레인에 작업을 나누어 놓고 경보에서 결과 보고까지 순서를 이으며, 승인과 거절을 가르는 게이트웨이와 각각의 끝, 승인을 끊지 않는 지연 알림 타이머를 둡니다. 결과물은 이 프로세스의 BPMN 파일이고 다음 실습에서 그대로 씁니다. 완성 그림과 요소 · 갈림 · 타이머의 종류가 같고 모든 갈래가 끝에 닿으면 성공입니다.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그린 그림을 HYD 포털로 가져와 실행할 수 있게 만듭니다. 어떤 경보가 이 프로세스를 여는지, 작업마다 누가 맡는지, 갈림의 조건과 타이머의 기한이 무엇인지를 정합니다. 사전 검사로 빠진 것이 없는지 확인한 뒤 판본으로 등록하고 배포합니다. 끝나면 쿨러 경보가 왔을 때 직접 그린 프로세스가 열리게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배포한 프로세스를 실제로 실행합니다. 쿨러 열화를 일으켜 처리 건이 열리는 것을 보고, 운전원 승인에서 기다리는 상태와 승인 뒤 닿은 끝 이벤트를 읽으며, HYD에 원래 있는 기준 흐름과 내 흐름의 구조를 견줍니다. 결과물은 내 흐름의 처리 건과 그 처리 기록입니다. 승인 대기와 끝남을 단계의 상태로 구별해 말할 수 있으면 성공입니다.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장면을 일어난 순서대로 보며 프로세스의 어느 개념인지 먼저 말해 봅니다. 그다음 오른쪽 열의 짝이 왜 다른지 판단합니다. 승인 대기는 오류가 아니고, 갈림은 에이전트가 아니라 변수를 읽는 조건이 정하며, 알림이 나가는 것과 처리 건이 끝나는 것은 다른 일이고, COMPLETED는 실행이 끝났다는 뜻일 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아홉 용어의 이름과 뜻을 확인합니다. 영문 정식 명칭은 화면에 두고, 대본에서는 뜻을 짚습니다. 프로세스의 흐름을 다시 설명하거나 사례를 되풀이하지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그림과 기록으로 처리 건의 상태를 읽는 시나리오 해석 문항입니다. 승인 지연 타이머가 중단형인지 비중단형인지, 그리고 처리 건의 상태가 무엇인지를 떠올려 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기록을 근거로 삼아야 하는지를 가리는 근거 구분 문항입니다. 처리 건의 상태가 말해 주는 것과 끝 이벤트와 단계의 상태가 말해 주는 것을 나누어 생각해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추천하는 쪽, 결정하는 쪽, 다음 작업을 여는 쪽이 각각 누구였는지를 떠올려 봅니다.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1번과 4번은 알림 가지의 끝을 처리 건의 끝으로 혼동한 것이고, 2번은 기한이 지나면 자동으로 실행된다고 본 것입니다. 둘째 문항의 2번은 COMPLETED를 성공으로 읽은 것이고, 3번은 추천과 실행을 같은 일로 본 것입니다. 셋째 문항의 3번은 결정하는 쪽과 다음 작업을 여는 쪽을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0.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image" Target="../media/image21.png"/><Relationship Id="rId5"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2.png"/><Relationship Id="rId4" Type="http://schemas.openxmlformats.org/officeDocument/2006/relationships/image" Target="../media/image10.png"/><Relationship Id="rId5"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1.png"/><Relationship Id="rId4"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7.png"/><Relationship Id="rId4" Type="http://schemas.openxmlformats.org/officeDocument/2006/relationships/image" Target="../media/image38.png"/><Relationship Id="rId5" Type="http://schemas.openxmlformats.org/officeDocument/2006/relationships/image" Target="../media/image3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10.png"/><Relationship Id="rId4" Type="http://schemas.openxmlformats.org/officeDocument/2006/relationships/image" Target="../media/image43.png"/><Relationship Id="rId5" Type="http://schemas.openxmlformats.org/officeDocument/2006/relationships/image" Target="../media/image1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14.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1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5.png"/><Relationship Id="rId4" Type="http://schemas.openxmlformats.org/officeDocument/2006/relationships/image" Target="../media/image3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8.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2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3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8.png"/><Relationship Id="rId4" Type="http://schemas.openxmlformats.org/officeDocument/2006/relationships/image" Target="../media/image20.png"/><Relationship Id="rId5" Type="http://schemas.openxmlformats.org/officeDocument/2006/relationships/image" Target="../media/image51.png"/><Relationship Id="rId6" Type="http://schemas.openxmlformats.org/officeDocument/2006/relationships/image" Target="../media/image3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49.png"/><Relationship Id="rId4" Type="http://schemas.openxmlformats.org/officeDocument/2006/relationships/image" Target="../media/image52.png"/><Relationship Id="rId5" Type="http://schemas.openxmlformats.org/officeDocument/2006/relationships/image" Target="../media/image47.png"/><Relationship Id="rId6" Type="http://schemas.openxmlformats.org/officeDocument/2006/relationships/image" Target="../media/image3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png"/><Relationship Id="rId4" Type="http://schemas.openxmlformats.org/officeDocument/2006/relationships/image" Target="../media/image20.png"/><Relationship Id="rId5" Type="http://schemas.openxmlformats.org/officeDocument/2006/relationships/image" Target="../media/image14.png"/><Relationship Id="rId6" Type="http://schemas.openxmlformats.org/officeDocument/2006/relationships/image" Target="../media/image3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AI와 사람이 함께 일하는 업무 프로세스를 직접 설계하고 실행하기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AI와 사람이 함께 일하는</a:t>
            </a:r>
          </a:p>
          <a:p>
            <a:pPr algn="l" eaLnBrk="0">
              <a:lnSpc>
                <a:spcPct val="110000"/>
              </a:lnSpc>
            </a:pPr>
            <a:r>
              <a:rPr sz="4000" b="1">
                <a:solidFill>
                  <a:srgbClr val="FFFFFF"/>
                </a:solidFill>
                <a:latin typeface="맑은 고딕"/>
                <a:ea typeface="맑은 고딕"/>
                <a:cs typeface="맑은 고딕"/>
              </a:rPr>
              <a:t>업무 프로세스의 설계와 실행</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추천안이 승인과 실행을 거쳐 끝난 업무가 되기까지를 프로세스로 정의하고, BPMN으로 그려 실행한다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ute" descr="rout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itemap" descr="sitemap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layer-play" descr="player-play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추천안이 끝난 업무가 되기까지의 순서와 책임을 프로세스로 정의하고, BPMN으로 그려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28024"/>
            <a:ext cx="2567863" cy="352666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29192"/>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582811"/>
            <a:ext cx="424281" cy="424281"/>
          </a:xfrm>
          <a:prstGeom prst="rect">
            <a:avLst/>
          </a:prstGeom>
        </p:spPr>
      </p:pic>
      <p:sp>
        <p:nvSpPr>
          <p:cNvPr id="9" name="TextBox 8"/>
          <p:cNvSpPr txBox="1"/>
          <p:nvPr/>
        </p:nvSpPr>
        <p:spPr>
          <a:xfrm>
            <a:off x="713232"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비즈니스 프로세스와 BPM</a:t>
            </a:r>
          </a:p>
          <a:p>
            <a:pPr algn="l" eaLnBrk="0" marL="154305" indent="-154305">
              <a:lnSpc>
                <a:spcPct val="110000"/>
              </a:lnSpc>
              <a:spcAft>
                <a:spcPts val="400"/>
              </a:spcAft>
            </a:pPr>
            <a:r>
              <a:rPr sz="1350" b="0">
                <a:solidFill>
                  <a:srgbClr val="1F2A3A"/>
                </a:solidFill>
                <a:latin typeface="맑은 고딕"/>
                <a:ea typeface="맑은 고딕"/>
                <a:cs typeface="맑은 고딕"/>
              </a:rPr>
              <a:t>• 작업 하나와 시작부터 끝까지의 업무를 구분한다</a:t>
            </a:r>
          </a:p>
          <a:p>
            <a:pPr algn="l" eaLnBrk="0" marL="154305" indent="-154305">
              <a:lnSpc>
                <a:spcPct val="110000"/>
              </a:lnSpc>
              <a:spcAft>
                <a:spcPts val="400"/>
              </a:spcAft>
            </a:pPr>
            <a:r>
              <a:rPr sz="1350" b="0">
                <a:solidFill>
                  <a:srgbClr val="1F2A3A"/>
                </a:solidFill>
                <a:latin typeface="맑은 고딕"/>
                <a:ea typeface="맑은 고딕"/>
                <a:cs typeface="맑은 고딕"/>
              </a:rPr>
              <a:t>• 시작 조건 · 입력 · 출력 · 책임자 · 완료 조건을 정한다</a:t>
            </a:r>
          </a:p>
        </p:txBody>
      </p:sp>
      <p:sp>
        <p:nvSpPr>
          <p:cNvPr id="10" name="Rounded Rectangle 9"/>
          <p:cNvSpPr/>
          <p:nvPr/>
        </p:nvSpPr>
        <p:spPr>
          <a:xfrm>
            <a:off x="777240" y="5324919"/>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4919"/>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관리</a:t>
            </a:r>
          </a:p>
        </p:txBody>
      </p:sp>
      <p:sp>
        <p:nvSpPr>
          <p:cNvPr id="12" name="Rounded Rectangle 11"/>
          <p:cNvSpPr/>
          <p:nvPr/>
        </p:nvSpPr>
        <p:spPr>
          <a:xfrm>
            <a:off x="3390823" y="2228024"/>
            <a:ext cx="2567863" cy="352666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29192"/>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582811"/>
            <a:ext cx="424281" cy="424281"/>
          </a:xfrm>
          <a:prstGeom prst="rect">
            <a:avLst/>
          </a:prstGeom>
        </p:spPr>
      </p:pic>
      <p:sp>
        <p:nvSpPr>
          <p:cNvPr id="15" name="TextBox 14"/>
          <p:cNvSpPr txBox="1"/>
          <p:nvPr/>
        </p:nvSpPr>
        <p:spPr>
          <a:xfrm>
            <a:off x="3555415"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BPMN 표기</a:t>
            </a:r>
          </a:p>
          <a:p>
            <a:pPr algn="l" eaLnBrk="0" marL="154305" indent="-154305">
              <a:lnSpc>
                <a:spcPct val="110000"/>
              </a:lnSpc>
              <a:spcAft>
                <a:spcPts val="400"/>
              </a:spcAft>
            </a:pPr>
            <a:r>
              <a:rPr sz="1350" b="0">
                <a:solidFill>
                  <a:srgbClr val="1F2A3A"/>
                </a:solidFill>
                <a:latin typeface="맑은 고딕"/>
                <a:ea typeface="맑은 고딕"/>
                <a:cs typeface="맑은 고딕"/>
              </a:rPr>
              <a:t>• 이벤트 · 작업 · 게이트웨이 · 레인 · 타이머를 그림에서 읽는다</a:t>
            </a:r>
          </a:p>
          <a:p>
            <a:pPr algn="l" eaLnBrk="0" marL="154305" indent="-154305">
              <a:lnSpc>
                <a:spcPct val="110000"/>
              </a:lnSpc>
              <a:spcAft>
                <a:spcPts val="400"/>
              </a:spcAft>
            </a:pPr>
            <a:r>
              <a:rPr sz="1350" b="0">
                <a:solidFill>
                  <a:srgbClr val="1F2A3A"/>
                </a:solidFill>
                <a:latin typeface="맑은 고딕"/>
                <a:ea typeface="맑은 고딕"/>
                <a:cs typeface="맑은 고딕"/>
              </a:rPr>
              <a:t>• 승인과 거절의 갈림과 책임 배치를 따라간다</a:t>
            </a:r>
          </a:p>
        </p:txBody>
      </p:sp>
      <p:sp>
        <p:nvSpPr>
          <p:cNvPr id="16" name="Rounded Rectangle 15"/>
          <p:cNvSpPr/>
          <p:nvPr/>
        </p:nvSpPr>
        <p:spPr>
          <a:xfrm>
            <a:off x="3619423" y="5324919"/>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표기</a:t>
            </a:r>
          </a:p>
        </p:txBody>
      </p:sp>
      <p:sp>
        <p:nvSpPr>
          <p:cNvPr id="18" name="Rounded Rectangle 17"/>
          <p:cNvSpPr/>
          <p:nvPr/>
        </p:nvSpPr>
        <p:spPr>
          <a:xfrm>
            <a:off x="6233007" y="2228024"/>
            <a:ext cx="2567863" cy="352666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29192"/>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582811"/>
            <a:ext cx="424281" cy="424281"/>
          </a:xfrm>
          <a:prstGeom prst="rect">
            <a:avLst/>
          </a:prstGeom>
        </p:spPr>
      </p:pic>
      <p:sp>
        <p:nvSpPr>
          <p:cNvPr id="21" name="TextBox 20"/>
          <p:cNvSpPr txBox="1"/>
          <p:nvPr/>
        </p:nvSpPr>
        <p:spPr>
          <a:xfrm>
            <a:off x="6397599"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프로세스 오케스트레이션</a:t>
            </a:r>
          </a:p>
          <a:p>
            <a:pPr algn="l" eaLnBrk="0" marL="154305" indent="-154305">
              <a:lnSpc>
                <a:spcPct val="110000"/>
              </a:lnSpc>
              <a:spcAft>
                <a:spcPts val="400"/>
              </a:spcAft>
            </a:pPr>
            <a:r>
              <a:rPr sz="1350" b="0">
                <a:solidFill>
                  <a:srgbClr val="1F2A3A"/>
                </a:solidFill>
                <a:latin typeface="맑은 고딕"/>
                <a:ea typeface="맑은 고딕"/>
                <a:cs typeface="맑은 고딕"/>
              </a:rPr>
              <a:t>• 정의와 인스턴스, 토큰과 변수로 처리 건의 진행을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실행 상태 · 판본 · 감사 기록을 읽는다</a:t>
            </a:r>
          </a:p>
        </p:txBody>
      </p:sp>
      <p:sp>
        <p:nvSpPr>
          <p:cNvPr id="22" name="Rounded Rectangle 21"/>
          <p:cNvSpPr/>
          <p:nvPr/>
        </p:nvSpPr>
        <p:spPr>
          <a:xfrm>
            <a:off x="6461607" y="5324919"/>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a:t>
            </a:r>
          </a:p>
        </p:txBody>
      </p:sp>
      <p:sp>
        <p:nvSpPr>
          <p:cNvPr id="24" name="Rounded Rectangle 23"/>
          <p:cNvSpPr/>
          <p:nvPr/>
        </p:nvSpPr>
        <p:spPr>
          <a:xfrm>
            <a:off x="9075191" y="2228024"/>
            <a:ext cx="2567863" cy="352666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29192"/>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582811"/>
            <a:ext cx="424281" cy="424281"/>
          </a:xfrm>
          <a:prstGeom prst="rect">
            <a:avLst/>
          </a:prstGeom>
        </p:spPr>
      </p:pic>
      <p:sp>
        <p:nvSpPr>
          <p:cNvPr id="27" name="TextBox 26"/>
          <p:cNvSpPr txBox="1"/>
          <p:nvPr/>
        </p:nvSpPr>
        <p:spPr>
          <a:xfrm>
            <a:off x="9239783"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설계와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승인 절차와 긴급 대응 프로세스를 직접 그린다</a:t>
            </a:r>
          </a:p>
          <a:p>
            <a:pPr algn="l" eaLnBrk="0" marL="154305" indent="-154305">
              <a:lnSpc>
                <a:spcPct val="110000"/>
              </a:lnSpc>
              <a:spcAft>
                <a:spcPts val="400"/>
              </a:spcAft>
            </a:pPr>
            <a:r>
              <a:rPr sz="1350" b="0">
                <a:solidFill>
                  <a:srgbClr val="1F2A3A"/>
                </a:solidFill>
                <a:latin typeface="맑은 고딕"/>
                <a:ea typeface="맑은 고딕"/>
                <a:cs typeface="맑은 고딕"/>
              </a:rPr>
              <a:t>• 등록 · 배포하고 처리 건의 기록을 확인한다</a:t>
            </a:r>
          </a:p>
        </p:txBody>
      </p:sp>
      <p:sp>
        <p:nvSpPr>
          <p:cNvPr id="28" name="Rounded Rectangle 27"/>
          <p:cNvSpPr/>
          <p:nvPr/>
        </p:nvSpPr>
        <p:spPr>
          <a:xfrm>
            <a:off x="9303791" y="5324919"/>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추천안 뒤에 남은 업무와 비즈니스 프로세스</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프로세스를 정의하는 다섯 가지</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BPM의 생애주기와 AS-IS · TO-BE</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BPMN: 이벤트 · 작업 · 게이트웨이</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BPMN: 레인 · 메시지 흐름 · 타이머</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 엔진과 처리 건의 진행</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 변수와 에이전트 단계</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실행 상태 · 판본 · 감사 기록</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승인 절차 작성 · 긴급 대응 작도 · 연결 · 실행</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추천안 뒤에 남은 업무와</a:t>
            </a:r>
          </a:p>
          <a:p>
            <a:pPr algn="l" eaLnBrk="0">
              <a:lnSpc>
                <a:spcPct val="110000"/>
              </a:lnSpc>
            </a:pPr>
            <a:r>
              <a:rPr sz="3400" b="1">
                <a:solidFill>
                  <a:srgbClr val="13294B"/>
                </a:solidFill>
                <a:latin typeface="맑은 고딕"/>
                <a:ea typeface="맑은 고딕"/>
                <a:cs typeface="맑은 고딕"/>
              </a:rPr>
              <a:t>비즈니스 프로세스</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추천안이 나온 뒤의 승인 · 명령 · 확인 · 보고를 누가 어떤 순서로 잇는가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 뒤에 남은 다섯 가지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운전을 권하는 추천안이 나온 시점에도 유온은 그대로이고, 승인에서 결과 보고까지 다섯 가지 일이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남은일_추천뒤.svg" descr="illust_7771078657915796210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8373"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032060" y="4180453"/>
            <a:ext cx="130913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추천</a:t>
            </a:r>
          </a:p>
          <a:p>
            <a:pPr algn="ctr" eaLnBrk="0">
              <a:lnSpc>
                <a:spcPct val="110000"/>
              </a:lnSpc>
              <a:spcAft>
                <a:spcPts val="100"/>
              </a:spcAft>
            </a:pPr>
            <a:r>
              <a:rPr sz="1100" b="0">
                <a:solidFill>
                  <a:srgbClr val="556175"/>
                </a:solidFill>
                <a:latin typeface="맑은 고딕"/>
                <a:ea typeface="맑은 고딕"/>
                <a:cs typeface="맑은 고딕"/>
              </a:rPr>
              <a:t>팬 최대 운전</a:t>
            </a:r>
          </a:p>
        </p:txBody>
      </p:sp>
      <p:sp>
        <p:nvSpPr>
          <p:cNvPr id="9" name="TextBox 8"/>
          <p:cNvSpPr txBox="1"/>
          <p:nvPr/>
        </p:nvSpPr>
        <p:spPr>
          <a:xfrm>
            <a:off x="3395747"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a:p>
            <a:pPr algn="ctr" eaLnBrk="0">
              <a:lnSpc>
                <a:spcPct val="110000"/>
              </a:lnSpc>
              <a:spcAft>
                <a:spcPts val="100"/>
              </a:spcAft>
            </a:pPr>
            <a:r>
              <a:rPr sz="1100" b="0">
                <a:solidFill>
                  <a:srgbClr val="556175"/>
                </a:solidFill>
                <a:latin typeface="맑은 고딕"/>
                <a:ea typeface="맑은 고딕"/>
                <a:cs typeface="맑은 고딕"/>
              </a:rPr>
              <a:t>운전원</a:t>
            </a:r>
          </a:p>
        </p:txBody>
      </p:sp>
      <p:sp>
        <p:nvSpPr>
          <p:cNvPr id="10" name="TextBox 9"/>
          <p:cNvSpPr txBox="1"/>
          <p:nvPr/>
        </p:nvSpPr>
        <p:spPr>
          <a:xfrm>
            <a:off x="4759434"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a:p>
            <a:pPr algn="ctr" eaLnBrk="0">
              <a:lnSpc>
                <a:spcPct val="110000"/>
              </a:lnSpc>
              <a:spcAft>
                <a:spcPts val="100"/>
              </a:spcAft>
            </a:pPr>
            <a:r>
              <a:rPr sz="1100" b="0">
                <a:solidFill>
                  <a:srgbClr val="556175"/>
                </a:solidFill>
                <a:latin typeface="맑은 고딕"/>
                <a:ea typeface="맑은 고딕"/>
                <a:cs typeface="맑은 고딕"/>
              </a:rPr>
              <a:t>팬 속도 100 %</a:t>
            </a:r>
          </a:p>
        </p:txBody>
      </p:sp>
      <p:sp>
        <p:nvSpPr>
          <p:cNvPr id="11" name="TextBox 10"/>
          <p:cNvSpPr txBox="1"/>
          <p:nvPr/>
        </p:nvSpPr>
        <p:spPr>
          <a:xfrm>
            <a:off x="6123121"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a:p>
            <a:pPr algn="ctr" eaLnBrk="0">
              <a:lnSpc>
                <a:spcPct val="110000"/>
              </a:lnSpc>
              <a:spcAft>
                <a:spcPts val="100"/>
              </a:spcAft>
            </a:pPr>
            <a:r>
              <a:rPr sz="1100" b="0">
                <a:solidFill>
                  <a:srgbClr val="556175"/>
                </a:solidFill>
                <a:latin typeface="맑은 고딕"/>
                <a:ea typeface="맑은 고딕"/>
                <a:cs typeface="맑은 고딕"/>
              </a:rPr>
              <a:t>유온의 회복 확인</a:t>
            </a:r>
          </a:p>
        </p:txBody>
      </p:sp>
      <p:sp>
        <p:nvSpPr>
          <p:cNvPr id="12" name="TextBox 11"/>
          <p:cNvSpPr txBox="1"/>
          <p:nvPr/>
        </p:nvSpPr>
        <p:spPr>
          <a:xfrm>
            <a:off x="7486808"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a:p>
            <a:pPr algn="ctr" eaLnBrk="0">
              <a:lnSpc>
                <a:spcPct val="110000"/>
              </a:lnSpc>
              <a:spcAft>
                <a:spcPts val="100"/>
              </a:spcAft>
            </a:pPr>
            <a:r>
              <a:rPr sz="1100" b="0">
                <a:solidFill>
                  <a:srgbClr val="556175"/>
                </a:solidFill>
                <a:latin typeface="맑은 고딕"/>
                <a:ea typeface="맑은 고딕"/>
                <a:cs typeface="맑은 고딕"/>
              </a:rPr>
              <a:t>쿨러 핀 세척</a:t>
            </a:r>
          </a:p>
        </p:txBody>
      </p:sp>
      <p:sp>
        <p:nvSpPr>
          <p:cNvPr id="13" name="TextBox 12"/>
          <p:cNvSpPr txBox="1"/>
          <p:nvPr/>
        </p:nvSpPr>
        <p:spPr>
          <a:xfrm>
            <a:off x="8850495" y="4180453"/>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323276"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남은 일을 맡는 쪽과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남은 일은 운전원, SCADA, CMMS처럼 서로 다른 쪽이 맡으며, 저마다 앞의 결과를 받아야 시작할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01215"/>
            <a:ext cx="1911644" cy="3780281"/>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284095"/>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1292321" y="2437714"/>
            <a:ext cx="424281" cy="424281"/>
          </a:xfrm>
          <a:prstGeom prst="rect">
            <a:avLst/>
          </a:prstGeom>
        </p:spPr>
      </p:pic>
      <p:sp>
        <p:nvSpPr>
          <p:cNvPr id="9" name="TextBox 8"/>
          <p:cNvSpPr txBox="1"/>
          <p:nvPr/>
        </p:nvSpPr>
        <p:spPr>
          <a:xfrm>
            <a:off x="621792"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승인</a:t>
            </a:r>
          </a:p>
          <a:p>
            <a:pPr algn="ctr" eaLnBrk="0">
              <a:lnSpc>
                <a:spcPct val="110000"/>
              </a:lnSpc>
              <a:spcAft>
                <a:spcPts val="400"/>
              </a:spcAft>
            </a:pPr>
            <a:r>
              <a:rPr sz="1500" b="0">
                <a:solidFill>
                  <a:srgbClr val="1F2A3A"/>
                </a:solidFill>
                <a:latin typeface="맑은 고딕"/>
                <a:ea typeface="맑은 고딕"/>
                <a:cs typeface="맑은 고딕"/>
              </a:rPr>
              <a:t>운전원</a:t>
            </a:r>
          </a:p>
          <a:p>
            <a:pPr algn="ctr" eaLnBrk="0">
              <a:lnSpc>
                <a:spcPct val="110000"/>
              </a:lnSpc>
              <a:spcAft>
                <a:spcPts val="400"/>
              </a:spcAft>
            </a:pPr>
            <a:r>
              <a:rPr sz="1500" b="0">
                <a:solidFill>
                  <a:srgbClr val="1F2A3A"/>
                </a:solidFill>
                <a:latin typeface="맑은 고딕"/>
                <a:ea typeface="맑은 고딕"/>
                <a:cs typeface="맑은 고딕"/>
              </a:rPr>
              <a:t>추천안을 검토해</a:t>
            </a:r>
          </a:p>
          <a:p>
            <a:pPr algn="ctr" eaLnBrk="0">
              <a:lnSpc>
                <a:spcPct val="110000"/>
              </a:lnSpc>
              <a:spcAft>
                <a:spcPts val="400"/>
              </a:spcAft>
            </a:pPr>
            <a:r>
              <a:rPr sz="1500" b="0">
                <a:solidFill>
                  <a:srgbClr val="1F2A3A"/>
                </a:solidFill>
                <a:latin typeface="맑은 고딕"/>
                <a:ea typeface="맑은 고딕"/>
                <a:cs typeface="맑은 고딕"/>
              </a:rPr>
              <a:t>승인하거나 거절한다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01215"/>
            <a:ext cx="1911644" cy="3780281"/>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284095"/>
            <a:ext cx="731520" cy="731520"/>
          </a:xfrm>
          <a:prstGeom prst="ellipse">
            <a:avLst/>
          </a:prstGeom>
          <a:solidFill>
            <a:srgbClr val="FFFFFF"/>
          </a:solidFill>
          <a:ln>
            <a:no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3588014" y="2437714"/>
            <a:ext cx="424281" cy="424281"/>
          </a:xfrm>
          <a:prstGeom prst="rect">
            <a:avLst/>
          </a:prstGeom>
        </p:spPr>
      </p:pic>
      <p:sp>
        <p:nvSpPr>
          <p:cNvPr id="14" name="TextBox 13"/>
          <p:cNvSpPr txBox="1"/>
          <p:nvPr/>
        </p:nvSpPr>
        <p:spPr>
          <a:xfrm>
            <a:off x="2917484"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냉각 명령</a:t>
            </a:r>
          </a:p>
          <a:p>
            <a:pPr algn="ctr" eaLnBrk="0">
              <a:lnSpc>
                <a:spcPct val="110000"/>
              </a:lnSpc>
              <a:spcAft>
                <a:spcPts val="400"/>
              </a:spcAft>
            </a:pPr>
            <a:r>
              <a:rPr sz="1500" b="0">
                <a:solidFill>
                  <a:srgbClr val="1F2A3A"/>
                </a:solidFill>
                <a:latin typeface="맑은 고딕"/>
                <a:ea typeface="맑은 고딕"/>
                <a:cs typeface="맑은 고딕"/>
              </a:rPr>
              <a:t>SCADA</a:t>
            </a:r>
          </a:p>
          <a:p>
            <a:pPr algn="ctr" eaLnBrk="0">
              <a:lnSpc>
                <a:spcPct val="110000"/>
              </a:lnSpc>
              <a:spcAft>
                <a:spcPts val="400"/>
              </a:spcAft>
            </a:pPr>
            <a:r>
              <a:rPr sz="1500" b="0">
                <a:solidFill>
                  <a:srgbClr val="1F2A3A"/>
                </a:solidFill>
                <a:latin typeface="맑은 고딕"/>
                <a:ea typeface="맑은 고딕"/>
                <a:cs typeface="맑은 고딕"/>
              </a:rPr>
              <a:t>승인된 조치를</a:t>
            </a:r>
          </a:p>
          <a:p>
            <a:pPr algn="ctr" eaLnBrk="0">
              <a:lnSpc>
                <a:spcPct val="110000"/>
              </a:lnSpc>
              <a:spcAft>
                <a:spcPts val="400"/>
              </a:spcAft>
            </a:pPr>
            <a:r>
              <a:rPr sz="1500" b="0">
                <a:solidFill>
                  <a:srgbClr val="1F2A3A"/>
                </a:solidFill>
                <a:latin typeface="맑은 고딕"/>
                <a:ea typeface="맑은 고딕"/>
                <a:cs typeface="맑은 고딕"/>
              </a:rPr>
              <a:t>PLC에 보낸다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01215"/>
            <a:ext cx="1911644" cy="3780281"/>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284095"/>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5883706" y="2437714"/>
            <a:ext cx="424281" cy="424281"/>
          </a:xfrm>
          <a:prstGeom prst="rect">
            <a:avLst/>
          </a:prstGeom>
        </p:spPr>
      </p:pic>
      <p:sp>
        <p:nvSpPr>
          <p:cNvPr id="19" name="TextBox 18"/>
          <p:cNvSpPr txBox="1"/>
          <p:nvPr/>
        </p:nvSpPr>
        <p:spPr>
          <a:xfrm>
            <a:off x="5213177"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재관측</a:t>
            </a:r>
          </a:p>
          <a:p>
            <a:pPr algn="ctr" eaLnBrk="0">
              <a:lnSpc>
                <a:spcPct val="110000"/>
              </a:lnSpc>
              <a:spcAft>
                <a:spcPts val="400"/>
              </a:spcAft>
            </a:pPr>
            <a:r>
              <a:rPr sz="1500" b="0">
                <a:solidFill>
                  <a:srgbClr val="1F2A3A"/>
                </a:solidFill>
                <a:latin typeface="맑은 고딕"/>
                <a:ea typeface="맑은 고딕"/>
                <a:cs typeface="맑은 고딕"/>
              </a:rPr>
              <a:t>처리를 이끄는 시스템</a:t>
            </a:r>
          </a:p>
          <a:p>
            <a:pPr algn="ctr" eaLnBrk="0">
              <a:lnSpc>
                <a:spcPct val="110000"/>
              </a:lnSpc>
              <a:spcAft>
                <a:spcPts val="400"/>
              </a:spcAft>
            </a:pPr>
            <a:r>
              <a:rPr sz="1500" b="0">
                <a:solidFill>
                  <a:srgbClr val="1F2A3A"/>
                </a:solidFill>
                <a:latin typeface="맑은 고딕"/>
                <a:ea typeface="맑은 고딕"/>
                <a:cs typeface="맑은 고딕"/>
              </a:rPr>
              <a:t>유온이 55 ℃ 미만으로</a:t>
            </a:r>
          </a:p>
          <a:p>
            <a:pPr algn="ctr" eaLnBrk="0">
              <a:lnSpc>
                <a:spcPct val="110000"/>
              </a:lnSpc>
              <a:spcAft>
                <a:spcPts val="400"/>
              </a:spcAft>
            </a:pPr>
            <a:r>
              <a:rPr sz="1500" b="0">
                <a:solidFill>
                  <a:srgbClr val="1F2A3A"/>
                </a:solidFill>
                <a:latin typeface="맑은 고딕"/>
                <a:ea typeface="맑은 고딕"/>
                <a:cs typeface="맑은 고딕"/>
              </a:rPr>
              <a:t>내려왔는지 판정한다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01215"/>
            <a:ext cx="1911644" cy="3780281"/>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284095"/>
            <a:ext cx="731520" cy="731520"/>
          </a:xfrm>
          <a:prstGeom prst="ellipse">
            <a:avLst/>
          </a:prstGeom>
          <a:solidFill>
            <a:srgbClr val="FFFFFF"/>
          </a:solidFill>
          <a:ln>
            <a:noFill/>
          </a:ln>
        </p:spPr>
        <p:txBody>
          <a:bodyPr rtlCol="0" anchor="ctr"/>
          <a:lstStyle/>
          <a:p>
            <a:pPr algn="ctr"/>
          </a:p>
        </p:txBody>
      </p:sp>
      <p:pic>
        <p:nvPicPr>
          <p:cNvPr id="23" name="아이콘:tool" descr="tool_13294B_1.6.png"/>
          <p:cNvPicPr>
            <a:picLocks noChangeAspect="1"/>
          </p:cNvPicPr>
          <p:nvPr/>
        </p:nvPicPr>
        <p:blipFill>
          <a:blip r:embed="rId6"/>
          <a:stretch>
            <a:fillRect/>
          </a:stretch>
        </p:blipFill>
        <p:spPr>
          <a:xfrm>
            <a:off x="8179399" y="2437714"/>
            <a:ext cx="424281" cy="424281"/>
          </a:xfrm>
          <a:prstGeom prst="rect">
            <a:avLst/>
          </a:prstGeom>
        </p:spPr>
      </p:pic>
      <p:sp>
        <p:nvSpPr>
          <p:cNvPr id="24" name="TextBox 23"/>
          <p:cNvSpPr txBox="1"/>
          <p:nvPr/>
        </p:nvSpPr>
        <p:spPr>
          <a:xfrm>
            <a:off x="7508869"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작업지시 등록</a:t>
            </a:r>
          </a:p>
          <a:p>
            <a:pPr algn="ctr" eaLnBrk="0">
              <a:lnSpc>
                <a:spcPct val="110000"/>
              </a:lnSpc>
              <a:spcAft>
                <a:spcPts val="400"/>
              </a:spcAft>
            </a:pPr>
            <a:r>
              <a:rPr sz="1500" b="0">
                <a:solidFill>
                  <a:srgbClr val="1F2A3A"/>
                </a:solidFill>
                <a:latin typeface="맑은 고딕"/>
                <a:ea typeface="맑은 고딕"/>
                <a:cs typeface="맑은 고딕"/>
              </a:rPr>
              <a:t>CMMS</a:t>
            </a:r>
          </a:p>
          <a:p>
            <a:pPr algn="ctr" eaLnBrk="0">
              <a:lnSpc>
                <a:spcPct val="110000"/>
              </a:lnSpc>
              <a:spcAft>
                <a:spcPts val="400"/>
              </a:spcAft>
            </a:pPr>
            <a:r>
              <a:rPr sz="1500" b="0">
                <a:solidFill>
                  <a:srgbClr val="1F2A3A"/>
                </a:solidFill>
                <a:latin typeface="맑은 고딕"/>
                <a:ea typeface="맑은 고딕"/>
                <a:cs typeface="맑은 고딕"/>
              </a:rPr>
              <a:t>Computerized Maintenance</a:t>
            </a:r>
          </a:p>
          <a:p>
            <a:pPr algn="ctr" eaLnBrk="0">
              <a:lnSpc>
                <a:spcPct val="110000"/>
              </a:lnSpc>
              <a:spcAft>
                <a:spcPts val="400"/>
              </a:spcAft>
            </a:pPr>
            <a:r>
              <a:rPr sz="1500" b="0">
                <a:solidFill>
                  <a:srgbClr val="1F2A3A"/>
                </a:solidFill>
                <a:latin typeface="맑은 고딕"/>
                <a:ea typeface="맑은 고딕"/>
                <a:cs typeface="맑은 고딕"/>
              </a:rPr>
              <a:t>Management System</a:t>
            </a:r>
          </a:p>
          <a:p>
            <a:pPr algn="ctr" eaLnBrk="0">
              <a:lnSpc>
                <a:spcPct val="110000"/>
              </a:lnSpc>
              <a:spcAft>
                <a:spcPts val="400"/>
              </a:spcAft>
            </a:pPr>
            <a:r>
              <a:rPr sz="1500" b="0">
                <a:solidFill>
                  <a:srgbClr val="1F2A3A"/>
                </a:solidFill>
                <a:latin typeface="맑은 고딕"/>
                <a:ea typeface="맑은 고딕"/>
                <a:cs typeface="맑은 고딕"/>
              </a:rPr>
              <a:t>핀 세척을 등록한다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01215"/>
            <a:ext cx="1911644" cy="3780281"/>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284095"/>
            <a:ext cx="731520" cy="731520"/>
          </a:xfrm>
          <a:prstGeom prst="ellipse">
            <a:avLst/>
          </a:prstGeom>
          <a:solidFill>
            <a:srgbClr val="FFFFFF"/>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437714"/>
            <a:ext cx="424281" cy="424281"/>
          </a:xfrm>
          <a:prstGeom prst="rect">
            <a:avLst/>
          </a:prstGeom>
        </p:spPr>
      </p:pic>
      <p:sp>
        <p:nvSpPr>
          <p:cNvPr id="29" name="TextBox 28"/>
          <p:cNvSpPr txBox="1"/>
          <p:nvPr/>
        </p:nvSpPr>
        <p:spPr>
          <a:xfrm>
            <a:off x="9804562"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결과 보고</a:t>
            </a:r>
          </a:p>
          <a:p>
            <a:pPr algn="ctr" eaLnBrk="0">
              <a:lnSpc>
                <a:spcPct val="110000"/>
              </a:lnSpc>
              <a:spcAft>
                <a:spcPts val="400"/>
              </a:spcAft>
            </a:pPr>
            <a:r>
              <a:rPr sz="1500" b="0">
                <a:solidFill>
                  <a:srgbClr val="1F2A3A"/>
                </a:solidFill>
                <a:latin typeface="맑은 고딕"/>
                <a:ea typeface="맑은 고딕"/>
                <a:cs typeface="맑은 고딕"/>
              </a:rPr>
              <a:t>처리를 이끄는 시스템</a:t>
            </a:r>
          </a:p>
          <a:p>
            <a:pPr algn="ctr" eaLnBrk="0">
              <a:lnSpc>
                <a:spcPct val="110000"/>
              </a:lnSpc>
              <a:spcAft>
                <a:spcPts val="400"/>
              </a:spcAft>
            </a:pPr>
            <a:r>
              <a:rPr sz="1500" b="0">
                <a:solidFill>
                  <a:srgbClr val="1F2A3A"/>
                </a:solidFill>
                <a:latin typeface="맑은 고딕"/>
                <a:ea typeface="맑은 고딕"/>
                <a:cs typeface="맑은 고딕"/>
              </a:rPr>
              <a:t>처리한 내용과</a:t>
            </a:r>
          </a:p>
          <a:p>
            <a:pPr algn="ctr" eaLnBrk="0">
              <a:lnSpc>
                <a:spcPct val="110000"/>
              </a:lnSpc>
              <a:spcAft>
                <a:spcPts val="400"/>
              </a:spcAft>
            </a:pPr>
            <a:r>
              <a:rPr sz="1500" b="0">
                <a:solidFill>
                  <a:srgbClr val="1F2A3A"/>
                </a:solidFill>
                <a:latin typeface="맑은 고딕"/>
                <a:ea typeface="맑은 고딕"/>
                <a:cs typeface="맑은 고딕"/>
              </a:rPr>
              <a:t>결과를 알린다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일과 일 사이를 잇는 것이 없을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일과 일 사이를 이어 주는 것이 없으면 추천안은 화면에 머물고, 누가 무엇을 기다리는지 아무도 알지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hourglass" descr="hourglass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멈춘다</a:t>
            </a:r>
          </a:p>
          <a:p>
            <a:pPr algn="l" eaLnBrk="0" marL="205740" indent="-205740">
              <a:lnSpc>
                <a:spcPct val="110000"/>
              </a:lnSpc>
              <a:spcAft>
                <a:spcPts val="400"/>
              </a:spcAft>
            </a:pPr>
            <a:r>
              <a:rPr sz="1800" b="0">
                <a:solidFill>
                  <a:srgbClr val="1F2A3A"/>
                </a:solidFill>
                <a:latin typeface="맑은 고딕"/>
                <a:ea typeface="맑은 고딕"/>
                <a:cs typeface="맑은 고딕"/>
              </a:rPr>
              <a:t>• 추천안이 나와도 승인을 요청받은 사람이 없다</a:t>
            </a:r>
          </a:p>
          <a:p>
            <a:pPr algn="l" eaLnBrk="0" marL="205740" indent="-205740">
              <a:lnSpc>
                <a:spcPct val="110000"/>
              </a:lnSpc>
              <a:spcAft>
                <a:spcPts val="400"/>
              </a:spcAft>
            </a:pPr>
            <a:r>
              <a:rPr sz="1800" b="0">
                <a:solidFill>
                  <a:srgbClr val="1F2A3A"/>
                </a:solidFill>
                <a:latin typeface="맑은 고딕"/>
                <a:ea typeface="맑은 고딕"/>
                <a:cs typeface="맑은 고딕"/>
              </a:rPr>
              <a:t>• 재관측은 누군가 기억해야 이루어진다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흩어진다</a:t>
            </a:r>
          </a:p>
          <a:p>
            <a:pPr algn="l" eaLnBrk="0">
              <a:lnSpc>
                <a:spcPct val="110000"/>
              </a:lnSpc>
              <a:spcAft>
                <a:spcPts val="400"/>
              </a:spcAft>
            </a:pPr>
            <a:r>
              <a:rPr sz="1800" b="0">
                <a:solidFill>
                  <a:srgbClr val="1F2A3A"/>
                </a:solidFill>
                <a:latin typeface="맑은 고딕"/>
                <a:ea typeface="맑은 고딕"/>
                <a:cs typeface="맑은 고딕"/>
              </a:rPr>
              <a:t>누가 승인하는지, 응답이 없으면 어떻게 되는지가 정해져 있지 않다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책임</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남지 않는다</a:t>
            </a:r>
          </a:p>
          <a:p>
            <a:pPr algn="l" eaLnBrk="0">
              <a:lnSpc>
                <a:spcPct val="110000"/>
              </a:lnSpc>
              <a:spcAft>
                <a:spcPts val="400"/>
              </a:spcAft>
            </a:pPr>
            <a:r>
              <a:rPr sz="1800" b="0">
                <a:solidFill>
                  <a:srgbClr val="1F2A3A"/>
                </a:solidFill>
                <a:latin typeface="맑은 고딕"/>
                <a:ea typeface="맑은 고딕"/>
                <a:cs typeface="맑은 고딕"/>
              </a:rPr>
              <a:t>어디까지 진행되었고 무엇으로 끝났는지를 한곳에서 볼 수 없다</a:t>
            </a:r>
          </a:p>
        </p:txBody>
      </p:sp>
      <p:sp>
        <p:nvSpPr>
          <p:cNvPr id="22" name="Rounded Rectangle 21"/>
          <p:cNvSpPr/>
          <p:nvPr/>
        </p:nvSpPr>
        <p:spPr>
          <a:xfrm>
            <a:off x="8356396" y="525907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에이전트의 판단과 정해 두어야 하는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에이전트는 상황을 읽고 그때마다 판단하므로, 매번 같은 순서와 빠지지 않는 승인은 에이전트 밖에서 보장해야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67533"/>
            <a:ext cx="5181447" cy="324764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68702"/>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722321"/>
            <a:ext cx="424281" cy="424281"/>
          </a:xfrm>
          <a:prstGeom prst="rect">
            <a:avLst/>
          </a:prstGeom>
        </p:spPr>
      </p:pic>
      <p:sp>
        <p:nvSpPr>
          <p:cNvPr id="9" name="TextBox 8"/>
          <p:cNvSpPr txBox="1"/>
          <p:nvPr/>
        </p:nvSpPr>
        <p:spPr>
          <a:xfrm>
            <a:off x="1691640"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에이전트가 하는 일</a:t>
            </a:r>
          </a:p>
        </p:txBody>
      </p:sp>
      <p:sp>
        <p:nvSpPr>
          <p:cNvPr id="10" name="TextBox 9"/>
          <p:cNvSpPr txBox="1"/>
          <p:nvPr/>
        </p:nvSpPr>
        <p:spPr>
          <a:xfrm>
            <a:off x="822959"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지식과 값을 읽어 원인을 가린다</a:t>
            </a:r>
          </a:p>
          <a:p>
            <a:pPr algn="l" eaLnBrk="0" marL="188595" indent="-188595">
              <a:lnSpc>
                <a:spcPct val="110000"/>
              </a:lnSpc>
              <a:spcAft>
                <a:spcPts val="600"/>
              </a:spcAft>
            </a:pPr>
            <a:r>
              <a:rPr sz="1650" b="0">
                <a:solidFill>
                  <a:srgbClr val="1F2A3A"/>
                </a:solidFill>
                <a:latin typeface="맑은 고딕"/>
                <a:ea typeface="맑은 고딕"/>
                <a:cs typeface="맑은 고딕"/>
              </a:rPr>
              <a:t>• 조치 후보를 견주어 하나를 추천한다</a:t>
            </a:r>
          </a:p>
          <a:p>
            <a:pPr algn="l" eaLnBrk="0" marL="188595" indent="-188595">
              <a:lnSpc>
                <a:spcPct val="110000"/>
              </a:lnSpc>
              <a:spcAft>
                <a:spcPts val="600"/>
              </a:spcAft>
            </a:pPr>
            <a:r>
              <a:rPr sz="1650" b="0">
                <a:solidFill>
                  <a:srgbClr val="1F2A3A"/>
                </a:solidFill>
                <a:latin typeface="맑은 고딕"/>
                <a:ea typeface="맑은 고딕"/>
                <a:cs typeface="맑은 고딕"/>
              </a:rPr>
              <a:t>• 같은 입력에도 과정과 표현이 달라질 수 있다</a:t>
            </a:r>
          </a:p>
        </p:txBody>
      </p:sp>
      <p:sp>
        <p:nvSpPr>
          <p:cNvPr id="11" name="Rounded Rectangle 10"/>
          <p:cNvSpPr/>
          <p:nvPr/>
        </p:nvSpPr>
        <p:spPr>
          <a:xfrm>
            <a:off x="868680" y="5157978"/>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5797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a:t>
            </a:r>
          </a:p>
        </p:txBody>
      </p:sp>
      <p:sp>
        <p:nvSpPr>
          <p:cNvPr id="13" name="Rounded Rectangle 12"/>
          <p:cNvSpPr/>
          <p:nvPr/>
        </p:nvSpPr>
        <p:spPr>
          <a:xfrm>
            <a:off x="6461607" y="2367533"/>
            <a:ext cx="5181447" cy="324764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68702"/>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722321"/>
            <a:ext cx="424281" cy="424281"/>
          </a:xfrm>
          <a:prstGeom prst="rect">
            <a:avLst/>
          </a:prstGeom>
        </p:spPr>
      </p:pic>
      <p:sp>
        <p:nvSpPr>
          <p:cNvPr id="16" name="TextBox 15"/>
          <p:cNvSpPr txBox="1"/>
          <p:nvPr/>
        </p:nvSpPr>
        <p:spPr>
          <a:xfrm>
            <a:off x="7604607"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정해 두어야 하는 일</a:t>
            </a:r>
          </a:p>
        </p:txBody>
      </p:sp>
      <p:sp>
        <p:nvSpPr>
          <p:cNvPr id="17" name="TextBox 16"/>
          <p:cNvSpPr txBox="1"/>
          <p:nvPr/>
        </p:nvSpPr>
        <p:spPr>
          <a:xfrm>
            <a:off x="6735927"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승인 전에는 설비 명령이 나가지 않는다</a:t>
            </a:r>
          </a:p>
          <a:p>
            <a:pPr algn="l" eaLnBrk="0" marL="188595" indent="-188595">
              <a:lnSpc>
                <a:spcPct val="110000"/>
              </a:lnSpc>
              <a:spcAft>
                <a:spcPts val="600"/>
              </a:spcAft>
            </a:pPr>
            <a:r>
              <a:rPr sz="1650" b="0">
                <a:solidFill>
                  <a:srgbClr val="1F2A3A"/>
                </a:solidFill>
                <a:latin typeface="맑은 고딕"/>
                <a:ea typeface="맑은 고딕"/>
                <a:cs typeface="맑은 고딕"/>
              </a:rPr>
              <a:t>• 승인은 정해진 역할만 한다</a:t>
            </a:r>
          </a:p>
          <a:p>
            <a:pPr algn="l" eaLnBrk="0" marL="188595" indent="-188595">
              <a:lnSpc>
                <a:spcPct val="110000"/>
              </a:lnSpc>
              <a:spcAft>
                <a:spcPts val="600"/>
              </a:spcAft>
            </a:pPr>
            <a:r>
              <a:rPr sz="1650" b="0">
                <a:solidFill>
                  <a:srgbClr val="1F2A3A"/>
                </a:solidFill>
                <a:latin typeface="맑은 고딕"/>
                <a:ea typeface="맑은 고딕"/>
                <a:cs typeface="맑은 고딕"/>
              </a:rPr>
              <a:t>• 명령 뒤에는 유온을 다시 읽어 회복을 확인한다</a:t>
            </a:r>
          </a:p>
        </p:txBody>
      </p:sp>
      <p:sp>
        <p:nvSpPr>
          <p:cNvPr id="18" name="Rounded Rectangle 17"/>
          <p:cNvSpPr/>
          <p:nvPr/>
        </p:nvSpPr>
        <p:spPr>
          <a:xfrm>
            <a:off x="6781647" y="515797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5797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비즈니스 프로세스와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비즈니스 프로세스는 정해진 결과를 내려고 여러 주체가 수행하는 작업을 순서대로 이은 묶음이다.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비즈니스 프로세스</a:t>
            </a:r>
          </a:p>
          <a:p>
            <a:pPr algn="l" eaLnBrk="0">
              <a:lnSpc>
                <a:spcPct val="110000"/>
              </a:lnSpc>
              <a:spcAft>
                <a:spcPts val="200"/>
              </a:spcAft>
            </a:pPr>
            <a:r>
              <a:rPr sz="1150" b="0">
                <a:solidFill>
                  <a:srgbClr val="556175"/>
                </a:solidFill>
                <a:latin typeface="맑은 고딕"/>
                <a:ea typeface="맑은 고딕"/>
                <a:cs typeface="맑은 고딕"/>
              </a:rPr>
              <a:t>Business Process</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조직이 어떤 결과를 내기 위해 수행하는 관련 작업의 순서 있는 묶음이다.</a:t>
            </a:r>
          </a:p>
          <a:p>
            <a:pPr algn="l" eaLnBrk="0">
              <a:lnSpc>
                <a:spcPct val="110000"/>
              </a:lnSpc>
              <a:spcAft>
                <a:spcPts val="300"/>
              </a:spcAft>
            </a:pPr>
            <a:r>
              <a:rPr sz="1400" b="0">
                <a:solidFill>
                  <a:srgbClr val="1F2A3A"/>
                </a:solidFill>
                <a:latin typeface="맑은 고딕"/>
                <a:ea typeface="맑은 고딕"/>
                <a:cs typeface="맑은 고딕"/>
              </a:rPr>
              <a:t>시작하는 사건이 있고 끝났다고 보는 조건이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긴급 대응 프로세스</a:t>
            </a:r>
          </a:p>
          <a:p>
            <a:pPr algn="l" eaLnBrk="0">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쿨러 성능 저하 경보에서 시작해 결과 보고로 끝난다.</a:t>
            </a:r>
          </a:p>
          <a:p>
            <a:pPr algn="l" eaLnBrk="0">
              <a:lnSpc>
                <a:spcPct val="110000"/>
              </a:lnSpc>
              <a:spcAft>
                <a:spcPts val="300"/>
              </a:spcAft>
            </a:pPr>
            <a:r>
              <a:rPr sz="1400" b="0">
                <a:solidFill>
                  <a:srgbClr val="1F2A3A"/>
                </a:solidFill>
                <a:latin typeface="맑은 고딕"/>
                <a:ea typeface="맑은 고딕"/>
                <a:cs typeface="맑은 고딕"/>
              </a:rPr>
              <a:t>에이전트의 추천안, 운전원의 승인, 시스템의 명령과 기록이 한 순서로 이어진다.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처리 건</a:t>
            </a:r>
          </a:p>
          <a:p>
            <a:pPr algn="l" eaLnBrk="0">
              <a:lnSpc>
                <a:spcPct val="110000"/>
              </a:lnSpc>
              <a:spcAft>
                <a:spcPts val="200"/>
              </a:spcAft>
            </a:pPr>
            <a:r>
              <a:rPr sz="1150" b="0">
                <a:solidFill>
                  <a:srgbClr val="556175"/>
                </a:solidFill>
                <a:latin typeface="맑은 고딕"/>
                <a:ea typeface="맑은 고딕"/>
                <a:cs typeface="맑은 고딕"/>
              </a:rPr>
              <a:t>실행되는 한 건</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프로세스가 경보 한 건에 대해 실제로 수행되는 한 건이다.</a:t>
            </a:r>
          </a:p>
          <a:p>
            <a:pPr algn="l" eaLnBrk="0">
              <a:lnSpc>
                <a:spcPct val="110000"/>
              </a:lnSpc>
              <a:spcAft>
                <a:spcPts val="300"/>
              </a:spcAft>
            </a:pPr>
            <a:r>
              <a:rPr sz="1400" b="0">
                <a:solidFill>
                  <a:srgbClr val="1F2A3A"/>
                </a:solidFill>
                <a:latin typeface="맑은 고딕"/>
                <a:ea typeface="맑은 고딕"/>
                <a:cs typeface="맑은 고딕"/>
              </a:rPr>
              <a:t>쿨러 사건은 긴급 대응 프로세스의 처리 건 하나로 진행되었다.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Task와 End-to-End</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Task는 작업 하나이고 End-to-End는 시작 사건에서 최종 결과까지의 전체이며, 업무의 완료는 End-to-End로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pic>
        <p:nvPicPr>
          <p:cNvPr id="6" name="삽화:남은일_종단.svg" descr="illust_6578077721240359335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p:txBody>
      </p:sp>
      <p:sp>
        <p:nvSpPr>
          <p:cNvPr id="8" name="TextBox 7"/>
          <p:cNvSpPr txBox="1"/>
          <p:nvPr/>
        </p:nvSpPr>
        <p:spPr>
          <a:xfrm>
            <a:off x="2141155"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추천</a:t>
            </a:r>
          </a:p>
        </p:txBody>
      </p:sp>
      <p:sp>
        <p:nvSpPr>
          <p:cNvPr id="9" name="TextBox 8"/>
          <p:cNvSpPr txBox="1"/>
          <p:nvPr/>
        </p:nvSpPr>
        <p:spPr>
          <a:xfrm>
            <a:off x="3504842"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4868529"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6232216"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7486808" y="4180453"/>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8959590"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432371" y="4180453"/>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1077479" y="1816729"/>
            <a:ext cx="3927418" cy="848487"/>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Task</a:t>
            </a:r>
          </a:p>
          <a:p>
            <a:pPr algn="ctr" eaLnBrk="0">
              <a:lnSpc>
                <a:spcPct val="110000"/>
              </a:lnSpc>
              <a:spcAft>
                <a:spcPts val="100"/>
              </a:spcAft>
            </a:pPr>
            <a:r>
              <a:rPr sz="1100" b="0">
                <a:solidFill>
                  <a:srgbClr val="556175"/>
                </a:solidFill>
                <a:latin typeface="맑은 고딕"/>
                <a:ea typeface="맑은 고딕"/>
                <a:cs typeface="맑은 고딕"/>
              </a:rPr>
              <a:t>원인 진단 · 냉각 조치 제안</a:t>
            </a:r>
          </a:p>
          <a:p>
            <a:pPr algn="ctr" eaLnBrk="0">
              <a:lnSpc>
                <a:spcPct val="110000"/>
              </a:lnSpc>
              <a:spcAft>
                <a:spcPts val="100"/>
              </a:spcAft>
            </a:pPr>
            <a:r>
              <a:rPr sz="1100" b="0">
                <a:solidFill>
                  <a:srgbClr val="556175"/>
                </a:solidFill>
                <a:latin typeface="맑은 고딕"/>
                <a:ea typeface="맑은 고딕"/>
                <a:cs typeface="맑은 고딕"/>
              </a:rPr>
              <a:t>끝난 시점: 설비 명령 없음, 유온 그대로</a:t>
            </a:r>
          </a:p>
          <a:p>
            <a:pPr algn="ctr" eaLnBrk="0">
              <a:lnSpc>
                <a:spcPct val="110000"/>
              </a:lnSpc>
              <a:spcAft>
                <a:spcPts val="100"/>
              </a:spcAft>
            </a:pPr>
            <a:r>
              <a:rPr sz="1100" b="0">
                <a:solidFill>
                  <a:srgbClr val="556175"/>
                </a:solidFill>
                <a:latin typeface="맑은 고딕"/>
                <a:ea typeface="맑은 고딕"/>
                <a:cs typeface="맑은 고딕"/>
              </a:rPr>
              <a:t>걸린 시간: 처리 건 전체의 절반 남짓</a:t>
            </a:r>
          </a:p>
        </p:txBody>
      </p:sp>
      <p:sp>
        <p:nvSpPr>
          <p:cNvPr id="16" name="TextBox 15"/>
          <p:cNvSpPr txBox="1"/>
          <p:nvPr/>
        </p:nvSpPr>
        <p:spPr>
          <a:xfrm>
            <a:off x="2822999" y="5409590"/>
            <a:ext cx="6545697"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End-to-End</a:t>
            </a:r>
          </a:p>
          <a:p>
            <a:pPr algn="ctr" eaLnBrk="0">
              <a:lnSpc>
                <a:spcPct val="110000"/>
              </a:lnSpc>
              <a:spcAft>
                <a:spcPts val="100"/>
              </a:spcAft>
            </a:pPr>
            <a:r>
              <a:rPr sz="1100" b="0">
                <a:solidFill>
                  <a:srgbClr val="556175"/>
                </a:solidFill>
                <a:latin typeface="맑은 고딕"/>
                <a:ea typeface="맑은 고딕"/>
                <a:cs typeface="맑은 고딕"/>
              </a:rPr>
              <a:t>쿨러 사건의 처리 건</a:t>
            </a:r>
          </a:p>
          <a:p>
            <a:pPr algn="ctr" eaLnBrk="0">
              <a:lnSpc>
                <a:spcPct val="110000"/>
              </a:lnSpc>
              <a:spcAft>
                <a:spcPts val="100"/>
              </a:spcAft>
            </a:pPr>
            <a:r>
              <a:rPr sz="1100" b="0">
                <a:solidFill>
                  <a:srgbClr val="556175"/>
                </a:solidFill>
                <a:latin typeface="맑은 고딕"/>
                <a:ea typeface="맑은 고딕"/>
                <a:cs typeface="맑은 고딕"/>
              </a:rPr>
              <a:t>끝난 시점: 명령 CMD-1010-0001-b94a, 유온 51.5 ℃, 작업지시 WO-1010-C058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프로세스의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조치 하나를 수행하는 순서를 정하고, 프로세스는 경보에서 결과 보고까지 여러 주체의 작업을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범위: 조치 하나</a:t>
            </a:r>
          </a:p>
          <a:p>
            <a:pPr algn="l" eaLnBrk="0" marL="200025" indent="-200025">
              <a:lnSpc>
                <a:spcPct val="110000"/>
              </a:lnSpc>
              <a:spcAft>
                <a:spcPts val="600"/>
              </a:spcAft>
            </a:pPr>
            <a:r>
              <a:rPr sz="1750" b="0">
                <a:solidFill>
                  <a:srgbClr val="1F2A3A"/>
                </a:solidFill>
                <a:latin typeface="맑은 고딕"/>
                <a:ea typeface="맑은 고딕"/>
                <a:cs typeface="맑은 고딕"/>
              </a:rPr>
              <a:t>• 적는 것: 수행 단계, 조건, 완료 확인 기준</a:t>
            </a:r>
          </a:p>
          <a:p>
            <a:pPr algn="l" eaLnBrk="0" marL="200025" indent="-200025">
              <a:lnSpc>
                <a:spcPct val="110000"/>
              </a:lnSpc>
              <a:spcAft>
                <a:spcPts val="600"/>
              </a:spcAft>
            </a:pPr>
            <a:r>
              <a:rPr sz="1750" b="0">
                <a:solidFill>
                  <a:srgbClr val="1F2A3A"/>
                </a:solidFill>
                <a:latin typeface="맑은 고딕"/>
                <a:ea typeface="맑은 고딕"/>
                <a:cs typeface="맑은 고딕"/>
              </a:rPr>
              <a:t>• 예: SOP-COOL-11 팬 최대 운전의 단계</a:t>
            </a:r>
          </a:p>
        </p:txBody>
      </p:sp>
      <p:sp>
        <p:nvSpPr>
          <p:cNvPr id="11" name="Rounded Rectangle 10"/>
          <p:cNvSpPr/>
          <p:nvPr/>
        </p:nvSpPr>
        <p:spPr>
          <a:xfrm>
            <a:off x="868680" y="5362638"/>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조치의 절차</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범위: 시작 사건에서 최종 결과까지</a:t>
            </a:r>
          </a:p>
          <a:p>
            <a:pPr algn="l" eaLnBrk="0" marL="200025" indent="-200025">
              <a:lnSpc>
                <a:spcPct val="110000"/>
              </a:lnSpc>
              <a:spcAft>
                <a:spcPts val="600"/>
              </a:spcAft>
            </a:pPr>
            <a:r>
              <a:rPr sz="1750" b="0">
                <a:solidFill>
                  <a:srgbClr val="1F2A3A"/>
                </a:solidFill>
                <a:latin typeface="맑은 고딕"/>
                <a:ea typeface="맑은 고딕"/>
                <a:cs typeface="맑은 고딕"/>
              </a:rPr>
              <a:t>• 적는 것: 작업의 순서, 갈림, 책임자, 끝나는 조건</a:t>
            </a:r>
          </a:p>
          <a:p>
            <a:pPr algn="l" eaLnBrk="0" marL="200025" indent="-200025">
              <a:lnSpc>
                <a:spcPct val="110000"/>
              </a:lnSpc>
              <a:spcAft>
                <a:spcPts val="600"/>
              </a:spcAft>
            </a:pPr>
            <a:r>
              <a:rPr sz="1750" b="0">
                <a:solidFill>
                  <a:srgbClr val="1F2A3A"/>
                </a:solidFill>
                <a:latin typeface="맑은 고딕"/>
                <a:ea typeface="맑은 고딕"/>
                <a:cs typeface="맑은 고딕"/>
              </a:rPr>
              <a:t>• 예: 경보, 추천, 승인, 명령, 재관측, 보고의 순서</a:t>
            </a:r>
          </a:p>
        </p:txBody>
      </p:sp>
      <p:sp>
        <p:nvSpPr>
          <p:cNvPr id="18" name="Rounded Rectangle 17"/>
          <p:cNvSpPr/>
          <p:nvPr/>
        </p:nvSpPr>
        <p:spPr>
          <a:xfrm>
            <a:off x="6781647" y="536263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업무의 흐름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프로세스를 정의하는 다섯 가지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시작 조건 · 입력 · 출력 · 책임자 · 완료 조건을 실행 전에 정해 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다섯 가지와 긴급 대응 프로세스의 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프로세스를 정의하는 일은 시작 조건, 입력, 출력, 책임자, 완료 조건의 다섯 가지를 실행 전에 정해 두는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정할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물음</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긴급 대응 프로세스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시작 조건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무엇이 일어나면 시작하는가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성능 저하 경보</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시작할 때 무엇을 받는가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설비 HYD-01, 경보의 내용</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출력</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끝났을 때 무엇이 남는가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보고, 작업지시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책임자</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작업마다 누가 맡는가</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에이전트, 운전원, 시스템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완료 조건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무엇으로 끝났다고 보는가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정해 둔 끝 자리에 닿는다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시작 조건과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프로세스는 사람이 시작시키지 않고 경보 메시지가 도착하면 열리며, 그 경보의 내용이 입력이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이 값이 COOLER_DEGRADATION인</a:t>
            </a:r>
          </a:p>
          <a:p>
            <a:pPr algn="l" eaLnBrk="0">
              <a:lnSpc>
                <a:spcPct val="110000"/>
              </a:lnSpc>
              <a:spcAft>
                <a:spcPts val="400"/>
              </a:spcAft>
            </a:pPr>
            <a:r>
              <a:rPr sz="1400" b="0">
                <a:solidFill>
                  <a:srgbClr val="1F2A3A"/>
                </a:solidFill>
                <a:latin typeface="맑은 고딕"/>
                <a:ea typeface="맑은 고딕"/>
                <a:cs typeface="맑은 고딕"/>
              </a:rPr>
              <a:t>경보가 프로세스를 연다.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asset · alertId</a:t>
            </a:r>
          </a:p>
          <a:p>
            <a:pPr algn="l" eaLnBrk="0">
              <a:lnSpc>
                <a:spcPct val="110000"/>
              </a:lnSpc>
              <a:spcAft>
                <a:spcPts val="400"/>
              </a:spcAft>
            </a:pPr>
            <a:r>
              <a:rPr sz="1400" b="0">
                <a:solidFill>
                  <a:srgbClr val="1F2A3A"/>
                </a:solidFill>
                <a:latin typeface="맑은 고딕"/>
                <a:ea typeface="맑은 고딕"/>
                <a:cs typeface="맑은 고딕"/>
              </a:rPr>
              <a:t>설비와 경보의 식별자가</a:t>
            </a:r>
          </a:p>
          <a:p>
            <a:pPr algn="l" eaLnBrk="0">
              <a:lnSpc>
                <a:spcPct val="110000"/>
              </a:lnSpc>
              <a:spcAft>
                <a:spcPts val="400"/>
              </a:spcAft>
            </a:pPr>
            <a:r>
              <a:rPr sz="1400" b="0">
                <a:solidFill>
                  <a:srgbClr val="1F2A3A"/>
                </a:solidFill>
                <a:latin typeface="맑은 고딕"/>
                <a:ea typeface="맑은 고딕"/>
                <a:cs typeface="맑은 고딕"/>
              </a:rPr>
              <a:t>처리 건의 입력으로 실린다.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경보에 한 건</a:t>
            </a:r>
          </a:p>
          <a:p>
            <a:pPr algn="l" eaLnBrk="0">
              <a:lnSpc>
                <a:spcPct val="110000"/>
              </a:lnSpc>
              <a:spcAft>
                <a:spcPts val="400"/>
              </a:spcAft>
            </a:pPr>
            <a:r>
              <a:rPr sz="1400" b="0">
                <a:solidFill>
                  <a:srgbClr val="1F2A3A"/>
                </a:solidFill>
                <a:latin typeface="맑은 고딕"/>
                <a:ea typeface="맑은 고딕"/>
                <a:cs typeface="맑은 고딕"/>
              </a:rPr>
              <a:t>같은 경보로 처리 건이</a:t>
            </a:r>
          </a:p>
          <a:p>
            <a:pPr algn="l" eaLnBrk="0">
              <a:lnSpc>
                <a:spcPct val="110000"/>
              </a:lnSpc>
              <a:spcAft>
                <a:spcPts val="400"/>
              </a:spcAft>
            </a:pPr>
            <a:r>
              <a:rPr sz="1400" b="0">
                <a:solidFill>
                  <a:srgbClr val="1F2A3A"/>
                </a:solidFill>
                <a:latin typeface="맑은 고딕"/>
                <a:ea typeface="맑은 고딕"/>
                <a:cs typeface="맑은 고딕"/>
              </a:rPr>
              <a:t>두 번 열리지 않는다.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출력과 입력의 연쇄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작업의 출력이 다음 작업의 입력이 되므로, 작업 하나가 정해진 출력을 내지 못하면 흐름은 그 자리에서 멈춘다.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66035"/>
            <a:ext cx="2485567" cy="2850641"/>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48915"/>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1579283" y="2902534"/>
            <a:ext cx="424281" cy="424281"/>
          </a:xfrm>
          <a:prstGeom prst="rect">
            <a:avLst/>
          </a:prstGeom>
        </p:spPr>
      </p:pic>
      <p:sp>
        <p:nvSpPr>
          <p:cNvPr id="9" name="TextBox 8"/>
          <p:cNvSpPr txBox="1"/>
          <p:nvPr/>
        </p:nvSpPr>
        <p:spPr>
          <a:xfrm>
            <a:off x="621792" y="3553587"/>
            <a:ext cx="2339263" cy="1789937"/>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 · 냉각 조치 제안</a:t>
            </a:r>
          </a:p>
          <a:p>
            <a:pPr algn="ctr" eaLnBrk="0">
              <a:lnSpc>
                <a:spcPct val="110000"/>
              </a:lnSpc>
              <a:spcAft>
                <a:spcPts val="400"/>
              </a:spcAft>
            </a:pPr>
            <a:r>
              <a:rPr sz="1400" b="0">
                <a:solidFill>
                  <a:srgbClr val="1F2A3A"/>
                </a:solidFill>
                <a:latin typeface="맑은 고딕"/>
                <a:ea typeface="맑은 고딕"/>
                <a:cs typeface="맑은 고딕"/>
              </a:rPr>
              <a:t>받는 것: 경보</a:t>
            </a:r>
          </a:p>
          <a:p>
            <a:pPr algn="ctr" eaLnBrk="0">
              <a:lnSpc>
                <a:spcPct val="110000"/>
              </a:lnSpc>
              <a:spcAft>
                <a:spcPts val="400"/>
              </a:spcAft>
            </a:pPr>
            <a:r>
              <a:rPr sz="1400" b="0">
                <a:solidFill>
                  <a:srgbClr val="1F2A3A"/>
                </a:solidFill>
                <a:latin typeface="맑은 고딕"/>
                <a:ea typeface="맑은 고딕"/>
                <a:cs typeface="맑은 고딕"/>
              </a:rPr>
              <a:t>내는 것: 원인과 추천안</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66035"/>
            <a:ext cx="2485567" cy="2850641"/>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48915"/>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4448898" y="2902534"/>
            <a:ext cx="424281" cy="424281"/>
          </a:xfrm>
          <a:prstGeom prst="rect">
            <a:avLst/>
          </a:prstGeom>
        </p:spPr>
      </p:pic>
      <p:sp>
        <p:nvSpPr>
          <p:cNvPr id="14" name="TextBox 13"/>
          <p:cNvSpPr txBox="1"/>
          <p:nvPr/>
        </p:nvSpPr>
        <p:spPr>
          <a:xfrm>
            <a:off x="3491407" y="3553587"/>
            <a:ext cx="2339263" cy="1789937"/>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운전원 승인</a:t>
            </a:r>
          </a:p>
          <a:p>
            <a:pPr algn="ctr" eaLnBrk="0">
              <a:lnSpc>
                <a:spcPct val="110000"/>
              </a:lnSpc>
              <a:spcAft>
                <a:spcPts val="400"/>
              </a:spcAft>
            </a:pPr>
            <a:r>
              <a:rPr sz="1400" b="0">
                <a:solidFill>
                  <a:srgbClr val="1F2A3A"/>
                </a:solidFill>
                <a:latin typeface="맑은 고딕"/>
                <a:ea typeface="맑은 고딕"/>
                <a:cs typeface="맑은 고딕"/>
              </a:rPr>
              <a:t>받는 것: 추천안</a:t>
            </a:r>
          </a:p>
          <a:p>
            <a:pPr algn="ctr" eaLnBrk="0">
              <a:lnSpc>
                <a:spcPct val="110000"/>
              </a:lnSpc>
              <a:spcAft>
                <a:spcPts val="400"/>
              </a:spcAft>
            </a:pPr>
            <a:r>
              <a:rPr sz="1400" b="0">
                <a:solidFill>
                  <a:srgbClr val="1F2A3A"/>
                </a:solidFill>
                <a:latin typeface="맑은 고딕"/>
                <a:ea typeface="맑은 고딕"/>
                <a:cs typeface="맑은 고딕"/>
              </a:rPr>
              <a:t>내는 것: 승인 또는 거절</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66035"/>
            <a:ext cx="2485567" cy="2850641"/>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48915"/>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902534"/>
            <a:ext cx="424281" cy="424281"/>
          </a:xfrm>
          <a:prstGeom prst="rect">
            <a:avLst/>
          </a:prstGeom>
        </p:spPr>
      </p:pic>
      <p:sp>
        <p:nvSpPr>
          <p:cNvPr id="19" name="TextBox 18"/>
          <p:cNvSpPr txBox="1"/>
          <p:nvPr/>
        </p:nvSpPr>
        <p:spPr>
          <a:xfrm>
            <a:off x="6361023" y="3553587"/>
            <a:ext cx="2339263" cy="1789937"/>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냉각 명령</a:t>
            </a:r>
          </a:p>
          <a:p>
            <a:pPr algn="ctr" eaLnBrk="0">
              <a:lnSpc>
                <a:spcPct val="110000"/>
              </a:lnSpc>
              <a:spcAft>
                <a:spcPts val="400"/>
              </a:spcAft>
            </a:pPr>
            <a:r>
              <a:rPr sz="1400" b="0">
                <a:solidFill>
                  <a:srgbClr val="1F2A3A"/>
                </a:solidFill>
                <a:latin typeface="맑은 고딕"/>
                <a:ea typeface="맑은 고딕"/>
                <a:cs typeface="맑은 고딕"/>
              </a:rPr>
              <a:t>받는 것: 승인된 조치</a:t>
            </a:r>
          </a:p>
          <a:p>
            <a:pPr algn="ctr" eaLnBrk="0">
              <a:lnSpc>
                <a:spcPct val="110000"/>
              </a:lnSpc>
              <a:spcAft>
                <a:spcPts val="400"/>
              </a:spcAft>
            </a:pPr>
            <a:r>
              <a:rPr sz="1400" b="0">
                <a:solidFill>
                  <a:srgbClr val="1F2A3A"/>
                </a:solidFill>
                <a:latin typeface="맑은 고딕"/>
                <a:ea typeface="맑은 고딕"/>
                <a:cs typeface="맑은 고딕"/>
              </a:rPr>
              <a:t>내는 것: 명령의 처리 결과</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66035"/>
            <a:ext cx="2485567" cy="2850641"/>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48915"/>
            <a:ext cx="731520" cy="731520"/>
          </a:xfrm>
          <a:prstGeom prst="ellipse">
            <a:avLst/>
          </a:prstGeom>
          <a:solidFill>
            <a:srgbClr val="5CB8F2"/>
          </a:solidFill>
          <a:ln>
            <a:noFill/>
          </a:ln>
        </p:spPr>
        <p:txBody>
          <a:bodyPr rtlCol="0" anchor="ctr"/>
          <a:lstStyle/>
          <a:p>
            <a:pPr algn="ctr"/>
          </a:p>
        </p:txBody>
      </p:sp>
      <p:pic>
        <p:nvPicPr>
          <p:cNvPr id="23" name="아이콘:eye" descr="eye_13294B_1.6.png"/>
          <p:cNvPicPr>
            <a:picLocks noChangeAspect="1"/>
          </p:cNvPicPr>
          <p:nvPr/>
        </p:nvPicPr>
        <p:blipFill>
          <a:blip r:embed="rId6"/>
          <a:stretch>
            <a:fillRect/>
          </a:stretch>
        </p:blipFill>
        <p:spPr>
          <a:xfrm>
            <a:off x="10188130" y="2902534"/>
            <a:ext cx="424281" cy="424281"/>
          </a:xfrm>
          <a:prstGeom prst="rect">
            <a:avLst/>
          </a:prstGeom>
        </p:spPr>
      </p:pic>
      <p:sp>
        <p:nvSpPr>
          <p:cNvPr id="24" name="TextBox 23"/>
          <p:cNvSpPr txBox="1"/>
          <p:nvPr/>
        </p:nvSpPr>
        <p:spPr>
          <a:xfrm>
            <a:off x="9230639" y="3553587"/>
            <a:ext cx="2339263" cy="1789937"/>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재관측</a:t>
            </a:r>
          </a:p>
          <a:p>
            <a:pPr algn="ctr" eaLnBrk="0">
              <a:lnSpc>
                <a:spcPct val="110000"/>
              </a:lnSpc>
              <a:spcAft>
                <a:spcPts val="400"/>
              </a:spcAft>
            </a:pPr>
            <a:r>
              <a:rPr sz="1400" b="0">
                <a:solidFill>
                  <a:srgbClr val="1F2A3A"/>
                </a:solidFill>
                <a:latin typeface="맑은 고딕"/>
                <a:ea typeface="맑은 고딕"/>
                <a:cs typeface="맑은 고딕"/>
              </a:rPr>
              <a:t>받는 것: 명령의 완료</a:t>
            </a:r>
          </a:p>
          <a:p>
            <a:pPr algn="ctr" eaLnBrk="0">
              <a:lnSpc>
                <a:spcPct val="110000"/>
              </a:lnSpc>
              <a:spcAft>
                <a:spcPts val="400"/>
              </a:spcAft>
            </a:pPr>
            <a:r>
              <a:rPr sz="1400" b="0">
                <a:solidFill>
                  <a:srgbClr val="1F2A3A"/>
                </a:solidFill>
                <a:latin typeface="맑은 고딕"/>
                <a:ea typeface="맑은 고딕"/>
                <a:cs typeface="맑은 고딕"/>
              </a:rPr>
              <a:t>내는 것: 회복 여부</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책임자: 사람, 에이전트, 시스템의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책임자는 사람의 이름이 아니라 역할로 정하며, 사람뿐 아니라 에이전트와 시스템도 작업의 책임자가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50554"/>
            <a:ext cx="3515258" cy="368160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172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505341"/>
            <a:ext cx="424281" cy="424281"/>
          </a:xfrm>
          <a:prstGeom prst="rect">
            <a:avLst/>
          </a:prstGeom>
        </p:spPr>
      </p:pic>
      <p:sp>
        <p:nvSpPr>
          <p:cNvPr id="9" name="TextBox 8"/>
          <p:cNvSpPr txBox="1"/>
          <p:nvPr/>
        </p:nvSpPr>
        <p:spPr>
          <a:xfrm>
            <a:off x="713232" y="3174682"/>
            <a:ext cx="3186074" cy="2154555"/>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역할로 정한다</a:t>
            </a:r>
          </a:p>
          <a:p>
            <a:pPr algn="l" eaLnBrk="0" marL="177165" indent="-177165">
              <a:lnSpc>
                <a:spcPct val="110000"/>
              </a:lnSpc>
              <a:spcAft>
                <a:spcPts val="400"/>
              </a:spcAft>
            </a:pPr>
            <a:r>
              <a:rPr sz="1550" b="0">
                <a:solidFill>
                  <a:srgbClr val="1F2A3A"/>
                </a:solidFill>
                <a:latin typeface="맑은 고딕"/>
                <a:ea typeface="맑은 고딕"/>
                <a:cs typeface="맑은 고딕"/>
              </a:rPr>
              <a:t>• 책임자를 사람의 이름이 아니라 운전원 같은 역할로 적는다</a:t>
            </a:r>
          </a:p>
          <a:p>
            <a:pPr algn="l" eaLnBrk="0" marL="177165" indent="-177165">
              <a:lnSpc>
                <a:spcPct val="110000"/>
              </a:lnSpc>
              <a:spcAft>
                <a:spcPts val="400"/>
              </a:spcAft>
            </a:pPr>
            <a:r>
              <a:rPr sz="1550" b="0">
                <a:solidFill>
                  <a:srgbClr val="1F2A3A"/>
                </a:solidFill>
                <a:latin typeface="맑은 고딕"/>
                <a:ea typeface="맑은 고딕"/>
                <a:cs typeface="맑은 고딕"/>
              </a:rPr>
              <a:t>• 근무자가 바뀌어도 프로세스는 그대로 둔다</a:t>
            </a:r>
          </a:p>
          <a:p>
            <a:pPr algn="l" eaLnBrk="0" marL="177165" indent="-177165">
              <a:lnSpc>
                <a:spcPct val="110000"/>
              </a:lnSpc>
              <a:spcAft>
                <a:spcPts val="400"/>
              </a:spcAft>
            </a:pPr>
            <a:r>
              <a:rPr sz="1550" b="0">
                <a:solidFill>
                  <a:srgbClr val="1F2A3A"/>
                </a:solidFill>
                <a:latin typeface="맑은 고딕"/>
                <a:ea typeface="맑은 고딕"/>
                <a:cs typeface="맑은 고딕"/>
              </a:rPr>
              <a:t>• 쿨러 핀 세척의 승인만 설비보전팀장 역할이 한다</a:t>
            </a:r>
          </a:p>
        </p:txBody>
      </p:sp>
      <p:sp>
        <p:nvSpPr>
          <p:cNvPr id="10" name="Rounded Rectangle 9"/>
          <p:cNvSpPr/>
          <p:nvPr/>
        </p:nvSpPr>
        <p:spPr>
          <a:xfrm>
            <a:off x="777240" y="5402389"/>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0238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역할</a:t>
            </a:r>
          </a:p>
        </p:txBody>
      </p:sp>
      <p:sp>
        <p:nvSpPr>
          <p:cNvPr id="12" name="Rounded Rectangle 11"/>
          <p:cNvSpPr/>
          <p:nvPr/>
        </p:nvSpPr>
        <p:spPr>
          <a:xfrm>
            <a:off x="4338218" y="2150554"/>
            <a:ext cx="3515258" cy="368160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1722"/>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505341"/>
            <a:ext cx="424281" cy="424281"/>
          </a:xfrm>
          <a:prstGeom prst="rect">
            <a:avLst/>
          </a:prstGeom>
        </p:spPr>
      </p:pic>
      <p:sp>
        <p:nvSpPr>
          <p:cNvPr id="15" name="TextBox 14"/>
          <p:cNvSpPr txBox="1"/>
          <p:nvPr/>
        </p:nvSpPr>
        <p:spPr>
          <a:xfrm>
            <a:off x="4502810" y="3174682"/>
            <a:ext cx="3186074" cy="2154555"/>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사람만이 아니다</a:t>
            </a:r>
          </a:p>
          <a:p>
            <a:pPr algn="l" eaLnBrk="0" marL="177165" indent="-177165">
              <a:lnSpc>
                <a:spcPct val="110000"/>
              </a:lnSpc>
              <a:spcAft>
                <a:spcPts val="400"/>
              </a:spcAft>
            </a:pPr>
            <a:r>
              <a:rPr sz="1550" b="0">
                <a:solidFill>
                  <a:srgbClr val="1F2A3A"/>
                </a:solidFill>
                <a:latin typeface="맑은 고딕"/>
                <a:ea typeface="맑은 고딕"/>
                <a:cs typeface="맑은 고딕"/>
              </a:rPr>
              <a:t>• 에이전트와 시스템도 작업을 맡는 책임자이다</a:t>
            </a:r>
          </a:p>
          <a:p>
            <a:pPr algn="l" eaLnBrk="0" marL="177165" indent="-177165">
              <a:lnSpc>
                <a:spcPct val="110000"/>
              </a:lnSpc>
              <a:spcAft>
                <a:spcPts val="400"/>
              </a:spcAft>
            </a:pPr>
            <a:r>
              <a:rPr sz="1550" b="0">
                <a:solidFill>
                  <a:srgbClr val="1F2A3A"/>
                </a:solidFill>
                <a:latin typeface="맑은 고딕"/>
                <a:ea typeface="맑은 고딕"/>
                <a:cs typeface="맑은 고딕"/>
              </a:rPr>
              <a:t>• 판단, 결정, 실행이 서로 다른 쪽에 놓인다</a:t>
            </a:r>
          </a:p>
        </p:txBody>
      </p:sp>
      <p:sp>
        <p:nvSpPr>
          <p:cNvPr id="16" name="Rounded Rectangle 15"/>
          <p:cNvSpPr/>
          <p:nvPr/>
        </p:nvSpPr>
        <p:spPr>
          <a:xfrm>
            <a:off x="4566818" y="5402389"/>
            <a:ext cx="8686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02389"/>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세 종류</a:t>
            </a:r>
          </a:p>
        </p:txBody>
      </p:sp>
      <p:sp>
        <p:nvSpPr>
          <p:cNvPr id="18" name="Rounded Rectangle 17"/>
          <p:cNvSpPr/>
          <p:nvPr/>
        </p:nvSpPr>
        <p:spPr>
          <a:xfrm>
            <a:off x="8127796" y="2150554"/>
            <a:ext cx="3515258" cy="368160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1722"/>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505341"/>
            <a:ext cx="424281" cy="424281"/>
          </a:xfrm>
          <a:prstGeom prst="rect">
            <a:avLst/>
          </a:prstGeom>
        </p:spPr>
      </p:pic>
      <p:sp>
        <p:nvSpPr>
          <p:cNvPr id="21" name="TextBox 20"/>
          <p:cNvSpPr txBox="1"/>
          <p:nvPr/>
        </p:nvSpPr>
        <p:spPr>
          <a:xfrm>
            <a:off x="8292388" y="3174682"/>
            <a:ext cx="3186074" cy="2154555"/>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작업마다 하나</a:t>
            </a:r>
          </a:p>
          <a:p>
            <a:pPr algn="l" eaLnBrk="0">
              <a:lnSpc>
                <a:spcPct val="110000"/>
              </a:lnSpc>
              <a:spcAft>
                <a:spcPts val="400"/>
              </a:spcAft>
            </a:pPr>
            <a:r>
              <a:rPr sz="1550" b="0">
                <a:solidFill>
                  <a:srgbClr val="1F2A3A"/>
                </a:solidFill>
                <a:latin typeface="맑은 고딕"/>
                <a:ea typeface="맑은 고딕"/>
                <a:cs typeface="맑은 고딕"/>
              </a:rPr>
              <a:t>작업마다 맡는 쪽이 하나로 정해져 있어 지금 누구의 차례인지가 분명하다</a:t>
            </a:r>
          </a:p>
        </p:txBody>
      </p:sp>
      <p:sp>
        <p:nvSpPr>
          <p:cNvPr id="22" name="Rounded Rectangle 21"/>
          <p:cNvSpPr/>
          <p:nvPr/>
        </p:nvSpPr>
        <p:spPr>
          <a:xfrm>
            <a:off x="8356396" y="5402389"/>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0238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차례</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완료 조건: 프로세스가 닫히는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완료 조건은 정상으로 끝난 경우뿐 아니라 거절되거나 회복에 미달한 경우에 업무가 어떻게 닫히는지도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닫히는 모습</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설비 명령</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유온 회복</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작업지시를 등록하고 결과 보고: 정상으로 닫힌다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회복 미달</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 보고: 미달로 닫힌다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1건</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 보고: 거절로 닫힌다 — 「설비 명령은 내지 않았습니다」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없음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닫히지 않는다. 10분이 지나면 승인 지연 알림만 나가고 승인을 계속 기다린다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없음</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프로세스가 에이전트 밖에서 보장하는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작업은 승인된 뒤에만 열리고 승인은 운전원 역할만 할 수 있어, 순서와 책임이 에이전트의 판단에 달려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47391"/>
            <a:ext cx="3515258"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48560"/>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602179"/>
            <a:ext cx="424281" cy="424281"/>
          </a:xfrm>
          <a:prstGeom prst="rect">
            <a:avLst/>
          </a:prstGeom>
        </p:spPr>
      </p:pic>
      <p:sp>
        <p:nvSpPr>
          <p:cNvPr id="9" name="TextBox 8"/>
          <p:cNvSpPr txBox="1"/>
          <p:nvPr/>
        </p:nvSpPr>
        <p:spPr>
          <a:xfrm>
            <a:off x="713232"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순서</a:t>
            </a:r>
          </a:p>
          <a:p>
            <a:pPr algn="l" eaLnBrk="0" marL="182880" indent="-182880">
              <a:lnSpc>
                <a:spcPct val="110000"/>
              </a:lnSpc>
              <a:spcAft>
                <a:spcPts val="400"/>
              </a:spcAft>
            </a:pPr>
            <a:r>
              <a:rPr sz="1600" b="0">
                <a:solidFill>
                  <a:srgbClr val="1F2A3A"/>
                </a:solidFill>
                <a:latin typeface="맑은 고딕"/>
                <a:ea typeface="맑은 고딕"/>
                <a:cs typeface="맑은 고딕"/>
              </a:rPr>
              <a:t>• 냉각 명령 작업은 승인 작업이 승인으로 끝난 뒤에만 열린다</a:t>
            </a:r>
          </a:p>
          <a:p>
            <a:pPr algn="l" eaLnBrk="0" marL="182880" indent="-182880">
              <a:lnSpc>
                <a:spcPct val="110000"/>
              </a:lnSpc>
              <a:spcAft>
                <a:spcPts val="400"/>
              </a:spcAft>
            </a:pPr>
            <a:r>
              <a:rPr sz="1600" b="0">
                <a:solidFill>
                  <a:srgbClr val="1F2A3A"/>
                </a:solidFill>
                <a:latin typeface="맑은 고딕"/>
                <a:ea typeface="맑은 고딕"/>
                <a:cs typeface="맑은 고딕"/>
              </a:rPr>
              <a:t>• 승인이 빠지거나 거절 갈래에서 효과가 나가는 흐름은 받아들이지 않는다</a:t>
            </a:r>
          </a:p>
        </p:txBody>
      </p:sp>
      <p:sp>
        <p:nvSpPr>
          <p:cNvPr id="10" name="Rounded Rectangle 9"/>
          <p:cNvSpPr/>
          <p:nvPr/>
        </p:nvSpPr>
        <p:spPr>
          <a:xfrm>
            <a:off x="777240" y="5305552"/>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0555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 실행</a:t>
            </a:r>
          </a:p>
        </p:txBody>
      </p:sp>
      <p:sp>
        <p:nvSpPr>
          <p:cNvPr id="12" name="Rounded Rectangle 11"/>
          <p:cNvSpPr/>
          <p:nvPr/>
        </p:nvSpPr>
        <p:spPr>
          <a:xfrm>
            <a:off x="4338218" y="2247391"/>
            <a:ext cx="3515258"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48560"/>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602179"/>
            <a:ext cx="424281" cy="424281"/>
          </a:xfrm>
          <a:prstGeom prst="rect">
            <a:avLst/>
          </a:prstGeom>
        </p:spPr>
      </p:pic>
      <p:sp>
        <p:nvSpPr>
          <p:cNvPr id="15" name="TextBox 14"/>
          <p:cNvSpPr txBox="1"/>
          <p:nvPr/>
        </p:nvSpPr>
        <p:spPr>
          <a:xfrm>
            <a:off x="4502810"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책임</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작업을 끝낼 수 있는 것은 운전원 역할이다</a:t>
            </a:r>
          </a:p>
          <a:p>
            <a:pPr algn="l" eaLnBrk="0" marL="182880" indent="-182880">
              <a:lnSpc>
                <a:spcPct val="110000"/>
              </a:lnSpc>
              <a:spcAft>
                <a:spcPts val="400"/>
              </a:spcAft>
            </a:pPr>
            <a:r>
              <a:rPr sz="1600" b="0">
                <a:solidFill>
                  <a:srgbClr val="1F2A3A"/>
                </a:solidFill>
                <a:latin typeface="맑은 고딕"/>
                <a:ea typeface="맑은 고딕"/>
                <a:cs typeface="맑은 고딕"/>
              </a:rPr>
              <a:t>• 다른 역할이 시도한 승인은 거부되고 기록된다</a:t>
            </a:r>
          </a:p>
        </p:txBody>
      </p:sp>
      <p:sp>
        <p:nvSpPr>
          <p:cNvPr id="16" name="Rounded Rectangle 15"/>
          <p:cNvSpPr/>
          <p:nvPr/>
        </p:nvSpPr>
        <p:spPr>
          <a:xfrm>
            <a:off x="4566818" y="530555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0555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역할</a:t>
            </a:r>
          </a:p>
        </p:txBody>
      </p:sp>
      <p:sp>
        <p:nvSpPr>
          <p:cNvPr id="18" name="Rounded Rectangle 17"/>
          <p:cNvSpPr/>
          <p:nvPr/>
        </p:nvSpPr>
        <p:spPr>
          <a:xfrm>
            <a:off x="8127796" y="2247391"/>
            <a:ext cx="3515258" cy="348792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48560"/>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602179"/>
            <a:ext cx="424281" cy="424281"/>
          </a:xfrm>
          <a:prstGeom prst="rect">
            <a:avLst/>
          </a:prstGeom>
        </p:spPr>
      </p:pic>
      <p:sp>
        <p:nvSpPr>
          <p:cNvPr id="21" name="TextBox 20"/>
          <p:cNvSpPr txBox="1"/>
          <p:nvPr/>
        </p:nvSpPr>
        <p:spPr>
          <a:xfrm>
            <a:off x="8292388"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기록</a:t>
            </a:r>
          </a:p>
          <a:p>
            <a:pPr algn="l" eaLnBrk="0">
              <a:lnSpc>
                <a:spcPct val="110000"/>
              </a:lnSpc>
              <a:spcAft>
                <a:spcPts val="400"/>
              </a:spcAft>
            </a:pPr>
            <a:r>
              <a:rPr sz="1600" b="0">
                <a:solidFill>
                  <a:srgbClr val="1F2A3A"/>
                </a:solidFill>
                <a:latin typeface="맑은 고딕"/>
                <a:ea typeface="맑은 고딕"/>
                <a:cs typeface="맑은 고딕"/>
              </a:rPr>
              <a:t>어느 경보로 열려 누가 승인했고 어디서 끝났는지가 처리 건에 남는다</a:t>
            </a:r>
          </a:p>
        </p:txBody>
      </p:sp>
      <p:sp>
        <p:nvSpPr>
          <p:cNvPr id="22" name="Rounded Rectangle 21"/>
          <p:cNvSpPr/>
          <p:nvPr/>
        </p:nvSpPr>
        <p:spPr>
          <a:xfrm>
            <a:off x="8356396" y="530555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0555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추적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그래프에 등록된 프로세스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그래프는 프로세스를 대상 설비와 전략 목표에 이어 두어, 그 업무가 무엇을 위해 도는지 조회하게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HYD-01</a:t>
            </a:r>
          </a:p>
          <a:p>
            <a:pPr algn="ctr" eaLnBrk="0">
              <a:lnSpc>
                <a:spcPct val="110000"/>
              </a:lnSpc>
            </a:pPr>
            <a:r>
              <a:rPr sz="1100" b="0">
                <a:solidFill>
                  <a:srgbClr val="556175"/>
                </a:solidFill>
                <a:latin typeface="맑은 고딕"/>
                <a:ea typeface="맑은 고딕"/>
                <a:cs typeface="맑은 고딕"/>
              </a:rPr>
              <a:t>설비</a:t>
            </a:r>
          </a:p>
          <a:p>
            <a:pPr algn="ctr" eaLnBrk="0">
              <a:lnSpc>
                <a:spcPct val="110000"/>
              </a:lnSpc>
            </a:pPr>
            <a:r>
              <a:rPr sz="1100" b="0">
                <a:solidFill>
                  <a:srgbClr val="556175"/>
                </a:solidFill>
                <a:latin typeface="맑은 고딕"/>
                <a:ea typeface="맑은 고딕"/>
                <a:cs typeface="맑은 고딕"/>
              </a:rPr>
              <a:t>Asset</a:t>
            </a:r>
          </a:p>
        </p:txBody>
      </p:sp>
      <p:sp>
        <p:nvSpPr>
          <p:cNvPr id="8" name="Oval 7"/>
          <p:cNvSpPr/>
          <p:nvPr/>
        </p:nvSpPr>
        <p:spPr>
          <a:xfrm>
            <a:off x="3917179" y="3122676"/>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4038795"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설비 이상 조치</a:t>
            </a:r>
          </a:p>
          <a:p>
            <a:pPr algn="ctr" eaLnBrk="0">
              <a:lnSpc>
                <a:spcPct val="110000"/>
              </a:lnSpc>
            </a:pPr>
            <a:r>
              <a:rPr sz="1100" b="0">
                <a:solidFill>
                  <a:srgbClr val="556175"/>
                </a:solidFill>
                <a:latin typeface="맑은 고딕"/>
                <a:ea typeface="맑은 고딕"/>
                <a:cs typeface="맑은 고딕"/>
              </a:rPr>
              <a:t>프로세스</a:t>
            </a:r>
          </a:p>
          <a:p>
            <a:pPr algn="ctr" eaLnBrk="0">
              <a:lnSpc>
                <a:spcPct val="110000"/>
              </a:lnSpc>
            </a:pPr>
            <a:r>
              <a:rPr sz="1100" b="0">
                <a:solidFill>
                  <a:srgbClr val="556175"/>
                </a:solidFill>
                <a:latin typeface="맑은 고딕"/>
                <a:ea typeface="맑은 고딕"/>
                <a:cs typeface="맑은 고딕"/>
              </a:rPr>
              <a:t>Process</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설비 가용성 확보</a:t>
            </a:r>
          </a:p>
          <a:p>
            <a:pPr algn="ctr" eaLnBrk="0">
              <a:lnSpc>
                <a:spcPct val="110000"/>
              </a:lnSpc>
            </a:pPr>
            <a:r>
              <a:rPr sz="1100" b="0">
                <a:solidFill>
                  <a:srgbClr val="556175"/>
                </a:solidFill>
                <a:latin typeface="맑은 고딕"/>
                <a:ea typeface="맑은 고딕"/>
                <a:cs typeface="맑은 고딕"/>
              </a:rPr>
              <a:t>전략 목표</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무재해 운전</a:t>
            </a:r>
          </a:p>
          <a:p>
            <a:pPr algn="ctr" eaLnBrk="0">
              <a:lnSpc>
                <a:spcPct val="110000"/>
              </a:lnSpc>
            </a:pPr>
            <a:r>
              <a:rPr sz="1100" b="0">
                <a:solidFill>
                  <a:srgbClr val="556175"/>
                </a:solidFill>
                <a:latin typeface="맑은 고딕"/>
                <a:ea typeface="맑은 고딕"/>
                <a:cs typeface="맑은 고딕"/>
              </a:rPr>
              <a:t>전략 목표</a:t>
            </a:r>
          </a:p>
        </p:txBody>
      </p:sp>
      <p:sp>
        <p:nvSpPr>
          <p:cNvPr id="14" name="Oval 13"/>
          <p:cNvSpPr/>
          <p:nvPr/>
        </p:nvSpPr>
        <p:spPr>
          <a:xfrm>
            <a:off x="7660001"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781617"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납기 신뢰</a:t>
            </a:r>
          </a:p>
          <a:p>
            <a:pPr algn="ctr" eaLnBrk="0">
              <a:lnSpc>
                <a:spcPct val="110000"/>
              </a:lnSpc>
            </a:pPr>
            <a:r>
              <a:rPr sz="1100" b="0">
                <a:solidFill>
                  <a:srgbClr val="556175"/>
                </a:solidFill>
                <a:latin typeface="맑은 고딕"/>
                <a:ea typeface="맑은 고딕"/>
                <a:cs typeface="맑은 고딕"/>
              </a:rPr>
              <a:t>전략 목표</a:t>
            </a:r>
          </a:p>
        </p:txBody>
      </p:sp>
      <p:cxnSp>
        <p:nvCxnSpPr>
          <p:cNvPr id="16" name="Connector 15"/>
          <p:cNvCxnSpPr/>
          <p:nvPr/>
        </p:nvCxnSpPr>
        <p:spPr>
          <a:xfrm flipH="1">
            <a:off x="2359152" y="3991356"/>
            <a:ext cx="1512307" cy="0"/>
          </a:xfrm>
          <a:prstGeom prst="line">
            <a:avLst/>
          </a:prstGeom>
          <a:ln w="28575">
            <a:solidFill>
              <a:srgbClr val="13294B"/>
            </a:solidFill>
            <a:tailEnd type="triangle" w="med" len="med"/>
          </a:ln>
        </p:spPr>
      </p:cxnSp>
      <p:sp>
        <p:nvSpPr>
          <p:cNvPr id="17" name="Rounded Rectangle 16"/>
          <p:cNvSpPr/>
          <p:nvPr/>
        </p:nvSpPr>
        <p:spPr>
          <a:xfrm>
            <a:off x="2612787" y="3625596"/>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12787" y="3625596"/>
            <a:ext cx="10050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ACTS_ON</a:t>
            </a:r>
          </a:p>
        </p:txBody>
      </p:sp>
      <p:cxnSp>
        <p:nvCxnSpPr>
          <p:cNvPr id="19" name="Connector 18"/>
          <p:cNvCxnSpPr/>
          <p:nvPr/>
        </p:nvCxnSpPr>
        <p:spPr>
          <a:xfrm flipV="1">
            <a:off x="5635021" y="2845679"/>
            <a:ext cx="2019023" cy="806485"/>
          </a:xfrm>
          <a:prstGeom prst="line">
            <a:avLst/>
          </a:prstGeom>
          <a:ln w="28575">
            <a:solidFill>
              <a:srgbClr val="13294B"/>
            </a:solidFill>
            <a:tailEnd type="triangle" w="med" len="med"/>
          </a:ln>
        </p:spPr>
      </p:cxnSp>
      <p:sp>
        <p:nvSpPr>
          <p:cNvPr id="20" name="Rounded Rectangle 19"/>
          <p:cNvSpPr/>
          <p:nvPr/>
        </p:nvSpPr>
        <p:spPr>
          <a:xfrm>
            <a:off x="6079972" y="2883161"/>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6079972" y="2883161"/>
            <a:ext cx="11291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ACHIEVES</a:t>
            </a:r>
          </a:p>
        </p:txBody>
      </p:sp>
      <p:cxnSp>
        <p:nvCxnSpPr>
          <p:cNvPr id="22" name="Connector 21"/>
          <p:cNvCxnSpPr/>
          <p:nvPr/>
        </p:nvCxnSpPr>
        <p:spPr>
          <a:xfrm>
            <a:off x="5700259" y="3991356"/>
            <a:ext cx="4132284" cy="0"/>
          </a:xfrm>
          <a:prstGeom prst="line">
            <a:avLst/>
          </a:prstGeom>
          <a:ln w="28575">
            <a:solidFill>
              <a:srgbClr val="13294B"/>
            </a:solidFill>
            <a:tailEnd type="triangle" w="med" len="med"/>
          </a:ln>
        </p:spPr>
      </p:cxnSp>
      <p:sp>
        <p:nvSpPr>
          <p:cNvPr id="23" name="Rounded Rectangle 22"/>
          <p:cNvSpPr/>
          <p:nvPr/>
        </p:nvSpPr>
        <p:spPr>
          <a:xfrm>
            <a:off x="7201840" y="3625596"/>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7201840" y="3625596"/>
            <a:ext cx="11291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ACHIEVES</a:t>
            </a:r>
          </a:p>
        </p:txBody>
      </p:sp>
      <p:cxnSp>
        <p:nvCxnSpPr>
          <p:cNvPr id="25" name="Connector 24"/>
          <p:cNvCxnSpPr/>
          <p:nvPr/>
        </p:nvCxnSpPr>
        <p:spPr>
          <a:xfrm>
            <a:off x="5635021" y="4330547"/>
            <a:ext cx="2019023" cy="806485"/>
          </a:xfrm>
          <a:prstGeom prst="line">
            <a:avLst/>
          </a:prstGeom>
          <a:ln w="28575">
            <a:solidFill>
              <a:srgbClr val="13294B"/>
            </a:solidFill>
            <a:tailEnd type="triangle" w="med" len="med"/>
          </a:ln>
        </p:spPr>
      </p:cxnSp>
      <p:sp>
        <p:nvSpPr>
          <p:cNvPr id="26" name="Rounded Rectangle 25"/>
          <p:cNvSpPr/>
          <p:nvPr/>
        </p:nvSpPr>
        <p:spPr>
          <a:xfrm>
            <a:off x="6079972" y="436803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079972" y="4368030"/>
            <a:ext cx="11291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ACHIEVES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BPM의 생애주기와</a:t>
            </a:r>
          </a:p>
          <a:p>
            <a:pPr algn="l" eaLnBrk="0">
              <a:lnSpc>
                <a:spcPct val="110000"/>
              </a:lnSpc>
            </a:pPr>
            <a:r>
              <a:rPr sz="3400" b="1">
                <a:solidFill>
                  <a:srgbClr val="13294B"/>
                </a:solidFill>
                <a:latin typeface="맑은 고딕"/>
                <a:ea typeface="맑은 고딕"/>
                <a:cs typeface="맑은 고딕"/>
              </a:rPr>
              <a:t>AS-IS · TO-BE</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정의한 프로세스를 분석 · 설계 · 실행 · 모니터링 · 개선으로 고쳐 간다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 프로세스를 관리하는 방법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설비와 조직과 목표가 바뀌면 프로세스도 달라져야 하므로, 프로세스를 만들고 고쳐 가는 일 전체가 관리의 대상이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BPM</a:t>
            </a:r>
          </a:p>
          <a:p>
            <a:pPr algn="l" eaLnBrk="0">
              <a:lnSpc>
                <a:spcPct val="110000"/>
              </a:lnSpc>
              <a:spcAft>
                <a:spcPts val="200"/>
              </a:spcAft>
            </a:pPr>
            <a:r>
              <a:rPr sz="1150" b="0">
                <a:solidFill>
                  <a:srgbClr val="556175"/>
                </a:solidFill>
                <a:latin typeface="맑은 고딕"/>
                <a:ea typeface="맑은 고딕"/>
                <a:cs typeface="맑은 고딕"/>
              </a:rPr>
              <a:t>Business Process Management</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프로세스를 분석하고 설계해 실행하고, 결과를 보며 고쳐 가는 관리 방법이다.</a:t>
            </a:r>
          </a:p>
          <a:p>
            <a:pPr algn="l" eaLnBrk="0">
              <a:lnSpc>
                <a:spcPct val="110000"/>
              </a:lnSpc>
              <a:spcAft>
                <a:spcPts val="300"/>
              </a:spcAft>
            </a:pPr>
            <a:r>
              <a:rPr sz="1400" b="0">
                <a:solidFill>
                  <a:srgbClr val="1F2A3A"/>
                </a:solidFill>
                <a:latin typeface="맑은 고딕"/>
                <a:ea typeface="맑은 고딕"/>
                <a:cs typeface="맑은 고딕"/>
              </a:rPr>
              <a:t>프로세스를 한 번 만들고 끝내는 것이 아니라 계속 다듬는 대상으로 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다루는 대상</a:t>
            </a:r>
          </a:p>
          <a:p>
            <a:pPr algn="l" eaLnBrk="0">
              <a:lnSpc>
                <a:spcPct val="110000"/>
              </a:lnSpc>
              <a:spcAft>
                <a:spcPts val="200"/>
              </a:spcAft>
            </a:pPr>
            <a:r>
              <a:rPr sz="1150" b="0">
                <a:solidFill>
                  <a:srgbClr val="556175"/>
                </a:solidFill>
                <a:latin typeface="맑은 고딕"/>
                <a:ea typeface="맑은 고딕"/>
                <a:cs typeface="맑은 고딕"/>
              </a:rPr>
              <a:t>End-to-End</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작업 하나의 효율이 아니라 시작 사건에서 최종 결과까지의 흐름 전체이다.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흐름 전체를 보는 까닭</a:t>
            </a:r>
          </a:p>
          <a:p>
            <a:pPr algn="l" eaLnBrk="0">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에이전트의 판단이 빨라져도 승인이 늘 늦으면 업무 전체는 빨라지지 않는다.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BPM의 생애주기: 다섯 단계의 되풀이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BPM은 분석, 설계, 실행, 모니터링, 개선의 다섯 단계를 되풀이하며, 개선의 결과는 다음 분석의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pic>
        <p:nvPicPr>
          <p:cNvPr id="6" name="삽화:BPM주기.svg" descr="illust_4337737095453451508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2904042"/>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분석</a:t>
            </a:r>
          </a:p>
          <a:p>
            <a:pPr algn="ctr" eaLnBrk="0">
              <a:lnSpc>
                <a:spcPct val="110000"/>
              </a:lnSpc>
              <a:spcAft>
                <a:spcPts val="100"/>
              </a:spcAft>
            </a:pPr>
            <a:r>
              <a:rPr sz="1300" b="0">
                <a:solidFill>
                  <a:srgbClr val="556175"/>
                </a:solidFill>
                <a:latin typeface="맑은 고딕"/>
                <a:ea typeface="맑은 고딕"/>
                <a:cs typeface="맑은 고딕"/>
              </a:rPr>
              <a:t>지금의 업무를 조사한다</a:t>
            </a:r>
          </a:p>
        </p:txBody>
      </p:sp>
      <p:sp>
        <p:nvSpPr>
          <p:cNvPr id="8" name="TextBox 7"/>
          <p:cNvSpPr txBox="1"/>
          <p:nvPr/>
        </p:nvSpPr>
        <p:spPr>
          <a:xfrm>
            <a:off x="9259601" y="2194925"/>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설계</a:t>
            </a:r>
          </a:p>
          <a:p>
            <a:pPr algn="ctr" eaLnBrk="0">
              <a:lnSpc>
                <a:spcPct val="110000"/>
              </a:lnSpc>
              <a:spcAft>
                <a:spcPts val="100"/>
              </a:spcAft>
            </a:pPr>
            <a:r>
              <a:rPr sz="1300" b="0">
                <a:solidFill>
                  <a:srgbClr val="556175"/>
                </a:solidFill>
                <a:latin typeface="맑은 고딕"/>
                <a:ea typeface="맑은 고딕"/>
                <a:cs typeface="맑은 고딕"/>
              </a:rPr>
              <a:t>바꿀 흐름을 그린다</a:t>
            </a:r>
          </a:p>
        </p:txBody>
      </p:sp>
      <p:sp>
        <p:nvSpPr>
          <p:cNvPr id="9" name="TextBox 8"/>
          <p:cNvSpPr txBox="1"/>
          <p:nvPr/>
        </p:nvSpPr>
        <p:spPr>
          <a:xfrm>
            <a:off x="8823221" y="5173218"/>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실행</a:t>
            </a:r>
          </a:p>
          <a:p>
            <a:pPr algn="ctr" eaLnBrk="0">
              <a:lnSpc>
                <a:spcPct val="110000"/>
              </a:lnSpc>
              <a:spcAft>
                <a:spcPts val="100"/>
              </a:spcAft>
            </a:pPr>
            <a:r>
              <a:rPr sz="1300" b="0">
                <a:solidFill>
                  <a:srgbClr val="556175"/>
                </a:solidFill>
                <a:latin typeface="맑은 고딕"/>
                <a:ea typeface="맑은 고딕"/>
                <a:cs typeface="맑은 고딕"/>
              </a:rPr>
              <a:t>그린 대로 수행한다</a:t>
            </a:r>
          </a:p>
        </p:txBody>
      </p:sp>
      <p:sp>
        <p:nvSpPr>
          <p:cNvPr id="10" name="TextBox 9"/>
          <p:cNvSpPr txBox="1"/>
          <p:nvPr/>
        </p:nvSpPr>
        <p:spPr>
          <a:xfrm>
            <a:off x="1186574" y="5173218"/>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모니터링</a:t>
            </a:r>
          </a:p>
          <a:p>
            <a:pPr algn="ctr" eaLnBrk="0">
              <a:lnSpc>
                <a:spcPct val="110000"/>
              </a:lnSpc>
              <a:spcAft>
                <a:spcPts val="100"/>
              </a:spcAft>
            </a:pPr>
            <a:r>
              <a:rPr sz="1300" b="0">
                <a:solidFill>
                  <a:srgbClr val="556175"/>
                </a:solidFill>
                <a:latin typeface="맑은 고딕"/>
                <a:ea typeface="맑은 고딕"/>
                <a:cs typeface="맑은 고딕"/>
              </a:rPr>
              <a:t>수행 결과를 지켜본다</a:t>
            </a:r>
          </a:p>
        </p:txBody>
      </p:sp>
      <p:sp>
        <p:nvSpPr>
          <p:cNvPr id="11" name="TextBox 10"/>
          <p:cNvSpPr txBox="1"/>
          <p:nvPr/>
        </p:nvSpPr>
        <p:spPr>
          <a:xfrm>
            <a:off x="750195" y="2194925"/>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개선</a:t>
            </a:r>
          </a:p>
          <a:p>
            <a:pPr algn="ctr" eaLnBrk="0">
              <a:lnSpc>
                <a:spcPct val="110000"/>
              </a:lnSpc>
              <a:spcAft>
                <a:spcPts val="100"/>
              </a:spcAft>
            </a:pPr>
            <a:r>
              <a:rPr sz="1300" b="0">
                <a:solidFill>
                  <a:srgbClr val="556175"/>
                </a:solidFill>
                <a:latin typeface="맑은 고딕"/>
                <a:ea typeface="맑은 고딕"/>
                <a:cs typeface="맑은 고딕"/>
              </a:rPr>
              <a:t>문제를 찾아 고친다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다섯 단계에서 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 대어 보면 분석과 설계는 프로세스의 정의를 내고, 실행과 모니터링은 처리 건의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하는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사건에서</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분석 Analysis</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지금의 업무를 읽어 시작 조건, 책임자, 완료 조건과 끊기는 자리를 가려낸다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성능 저하 경보가</a:t>
            </a:r>
          </a:p>
          <a:p>
            <a:pPr algn="l" eaLnBrk="0">
              <a:lnSpc>
                <a:spcPct val="110000"/>
              </a:lnSpc>
            </a:pPr>
            <a:r>
              <a:rPr sz="1250" b="1">
                <a:solidFill>
                  <a:srgbClr val="556175"/>
                </a:solidFill>
                <a:latin typeface="맑은 고딕"/>
                <a:ea typeface="맑은 고딕"/>
                <a:cs typeface="맑은 고딕"/>
              </a:rPr>
              <a:t>열고 운전원이 승인한다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설계 Design</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바꾸려는 흐름을 그림으로 그린다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추천, 승인, 명령,</a:t>
            </a:r>
          </a:p>
          <a:p>
            <a:pPr algn="l" eaLnBrk="0">
              <a:lnSpc>
                <a:spcPct val="110000"/>
              </a:lnSpc>
            </a:pPr>
            <a:r>
              <a:rPr sz="1250" b="1">
                <a:solidFill>
                  <a:srgbClr val="556175"/>
                </a:solidFill>
                <a:latin typeface="맑은 고딕"/>
                <a:ea typeface="맑은 고딕"/>
                <a:cs typeface="맑은 고딕"/>
              </a:rPr>
              <a:t>재관측, 보고의 순서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Execution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그림을 등록하고 배포해 실제 경보에서 수행되게 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한 건에</a:t>
            </a:r>
          </a:p>
          <a:p>
            <a:pPr algn="l" eaLnBrk="0">
              <a:lnSpc>
                <a:spcPct val="110000"/>
              </a:lnSpc>
            </a:pPr>
            <a:r>
              <a:rPr sz="1250" b="1">
                <a:solidFill>
                  <a:srgbClr val="556175"/>
                </a:solidFill>
                <a:latin typeface="맑은 고딕"/>
                <a:ea typeface="맑은 고딕"/>
                <a:cs typeface="맑은 고딕"/>
              </a:rPr>
              <a:t>처리 건 하나가 열렸다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모니터링 Monitoring</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건마다 단계의 담당, 대기, 걸린 시간, 결과를 지켜본다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 승인의 대기와</a:t>
            </a:r>
          </a:p>
          <a:p>
            <a:pPr algn="l" eaLnBrk="0">
              <a:lnSpc>
                <a:spcPct val="110000"/>
              </a:lnSpc>
            </a:pPr>
            <a:r>
              <a:rPr sz="1250" b="1">
                <a:solidFill>
                  <a:srgbClr val="556175"/>
                </a:solidFill>
                <a:latin typeface="맑은 고딕"/>
                <a:ea typeface="맑은 고딕"/>
                <a:cs typeface="맑은 고딕"/>
              </a:rPr>
              <a:t>재관측의 결과</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개선 Optimization</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실행 결과에서 찾은 문제를 반영해 흐름을 고쳐 다시 등록한다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고친 흐름은 다음 경보의</a:t>
            </a:r>
          </a:p>
          <a:p>
            <a:pPr algn="l" eaLnBrk="0">
              <a:lnSpc>
                <a:spcPct val="110000"/>
              </a:lnSpc>
            </a:pPr>
            <a:r>
              <a:rPr sz="1250" b="1">
                <a:solidFill>
                  <a:srgbClr val="1A6FC4"/>
                </a:solidFill>
                <a:latin typeface="맑은 고딕"/>
                <a:ea typeface="맑은 고딕"/>
                <a:cs typeface="맑은 고딕"/>
              </a:rPr>
              <a:t>처리 건부터 쓰인다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AS-IS와 TO-BE: 지금의 방식과 바꾸려는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분석은 지금의 방식인 AS-IS를 그려 문제를 찾는 일이고, 설계는 바꾸려는 방식인 TO-BE를 그리는 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현재와목표.svg" descr="illust_281771396789474874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573121"/>
            <a:ext cx="1745519"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AS-IS</a:t>
            </a:r>
          </a:p>
          <a:p>
            <a:pPr algn="ctr" eaLnBrk="0">
              <a:lnSpc>
                <a:spcPct val="110000"/>
              </a:lnSpc>
              <a:spcAft>
                <a:spcPts val="100"/>
              </a:spcAft>
            </a:pPr>
            <a:r>
              <a:rPr sz="1300" b="0">
                <a:solidFill>
                  <a:srgbClr val="556175"/>
                </a:solidFill>
                <a:latin typeface="맑은 고딕"/>
                <a:ea typeface="맑은 고딕"/>
                <a:cs typeface="맑은 고딕"/>
              </a:rPr>
              <a:t>지금의 방식</a:t>
            </a:r>
          </a:p>
          <a:p>
            <a:pPr algn="ctr" eaLnBrk="0">
              <a:lnSpc>
                <a:spcPct val="110000"/>
              </a:lnSpc>
              <a:spcAft>
                <a:spcPts val="100"/>
              </a:spcAft>
            </a:pPr>
            <a:r>
              <a:rPr sz="1300" b="0">
                <a:solidFill>
                  <a:srgbClr val="556175"/>
                </a:solidFill>
                <a:latin typeface="맑은 고딕"/>
                <a:ea typeface="맑은 고딕"/>
                <a:cs typeface="맑은 고딕"/>
              </a:rPr>
              <a:t>일반적인 예</a:t>
            </a:r>
          </a:p>
        </p:txBody>
      </p:sp>
      <p:sp>
        <p:nvSpPr>
          <p:cNvPr id="8" name="TextBox 7"/>
          <p:cNvSpPr txBox="1"/>
          <p:nvPr/>
        </p:nvSpPr>
        <p:spPr>
          <a:xfrm>
            <a:off x="968384" y="4842296"/>
            <a:ext cx="174551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TO-BE</a:t>
            </a:r>
          </a:p>
          <a:p>
            <a:pPr algn="ctr" eaLnBrk="0">
              <a:lnSpc>
                <a:spcPct val="110000"/>
              </a:lnSpc>
              <a:spcAft>
                <a:spcPts val="100"/>
              </a:spcAft>
            </a:pPr>
            <a:r>
              <a:rPr sz="1300" b="0">
                <a:solidFill>
                  <a:srgbClr val="556175"/>
                </a:solidFill>
                <a:latin typeface="맑은 고딕"/>
                <a:ea typeface="맑은 고딕"/>
                <a:cs typeface="맑은 고딕"/>
              </a:rPr>
              <a:t>바꾸려는 방식</a:t>
            </a:r>
          </a:p>
        </p:txBody>
      </p:sp>
      <p:sp>
        <p:nvSpPr>
          <p:cNvPr id="9" name="TextBox 8"/>
          <p:cNvSpPr txBox="1"/>
          <p:nvPr/>
        </p:nvSpPr>
        <p:spPr>
          <a:xfrm>
            <a:off x="2822999" y="356588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4819436" y="356588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a:t>
            </a:r>
          </a:p>
        </p:txBody>
      </p:sp>
      <p:sp>
        <p:nvSpPr>
          <p:cNvPr id="11" name="TextBox 10"/>
          <p:cNvSpPr txBox="1"/>
          <p:nvPr/>
        </p:nvSpPr>
        <p:spPr>
          <a:xfrm>
            <a:off x="6826783" y="356588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전화</a:t>
            </a:r>
          </a:p>
        </p:txBody>
      </p:sp>
      <p:sp>
        <p:nvSpPr>
          <p:cNvPr id="12" name="TextBox 11"/>
          <p:cNvSpPr txBox="1"/>
          <p:nvPr/>
        </p:nvSpPr>
        <p:spPr>
          <a:xfrm>
            <a:off x="8714126" y="3565885"/>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보전 담당</a:t>
            </a:r>
          </a:p>
        </p:txBody>
      </p:sp>
      <p:sp>
        <p:nvSpPr>
          <p:cNvPr id="13" name="TextBox 12"/>
          <p:cNvSpPr txBox="1"/>
          <p:nvPr/>
        </p:nvSpPr>
        <p:spPr>
          <a:xfrm>
            <a:off x="4186685" y="5078669"/>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a:t>
            </a:r>
          </a:p>
        </p:txBody>
      </p:sp>
      <p:sp>
        <p:nvSpPr>
          <p:cNvPr id="14" name="TextBox 13"/>
          <p:cNvSpPr txBox="1"/>
          <p:nvPr/>
        </p:nvSpPr>
        <p:spPr>
          <a:xfrm>
            <a:off x="6314037" y="5078669"/>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5" name="TextBox 14"/>
          <p:cNvSpPr txBox="1"/>
          <p:nvPr/>
        </p:nvSpPr>
        <p:spPr>
          <a:xfrm>
            <a:off x="9041411" y="5078669"/>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AS-IS와 TO-BE를 견주어 얻는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두 그림을 견주면 사람이 기억으로 잇던 자리가 드러나고, 그 자리가 프로세스의 작업과 갈림이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일반적인 AS-IS의 예</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경보를 본 운전원이 전화로 담당을 찾는다</a:t>
            </a:r>
          </a:p>
          <a:p>
            <a:pPr algn="l" eaLnBrk="0" marL="200025" indent="-200025">
              <a:lnSpc>
                <a:spcPct val="110000"/>
              </a:lnSpc>
              <a:spcAft>
                <a:spcPts val="600"/>
              </a:spcAft>
            </a:pPr>
            <a:r>
              <a:rPr sz="1750" b="0">
                <a:solidFill>
                  <a:srgbClr val="1F2A3A"/>
                </a:solidFill>
                <a:latin typeface="맑은 고딕"/>
                <a:ea typeface="맑은 고딕"/>
                <a:cs typeface="맑은 고딕"/>
              </a:rPr>
              <a:t>• 조치 뒤의 확인은 각자 기억해서 한다</a:t>
            </a:r>
          </a:p>
          <a:p>
            <a:pPr algn="l" eaLnBrk="0" marL="200025" indent="-200025">
              <a:lnSpc>
                <a:spcPct val="110000"/>
              </a:lnSpc>
              <a:spcAft>
                <a:spcPts val="600"/>
              </a:spcAft>
            </a:pPr>
            <a:r>
              <a:rPr sz="1750" b="0">
                <a:solidFill>
                  <a:srgbClr val="1F2A3A"/>
                </a:solidFill>
                <a:latin typeface="맑은 고딕"/>
                <a:ea typeface="맑은 고딕"/>
                <a:cs typeface="맑은 고딕"/>
              </a:rPr>
              <a:t>• 누가 언제 결정했는지는 물어보아야 안다</a:t>
            </a:r>
          </a:p>
        </p:txBody>
      </p:sp>
      <p:sp>
        <p:nvSpPr>
          <p:cNvPr id="11" name="Rounded Rectangle 10"/>
          <p:cNvSpPr/>
          <p:nvPr/>
        </p:nvSpPr>
        <p:spPr>
          <a:xfrm>
            <a:off x="868680" y="5362638"/>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사람이 잇는다</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TO-BE</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경보가 오면 추천안이 승인 작업으로 운전원에게 놓인다</a:t>
            </a:r>
          </a:p>
          <a:p>
            <a:pPr algn="l" eaLnBrk="0" marL="200025" indent="-200025">
              <a:lnSpc>
                <a:spcPct val="110000"/>
              </a:lnSpc>
              <a:spcAft>
                <a:spcPts val="600"/>
              </a:spcAft>
            </a:pPr>
            <a:r>
              <a:rPr sz="1750" b="0">
                <a:solidFill>
                  <a:srgbClr val="1F2A3A"/>
                </a:solidFill>
                <a:latin typeface="맑은 고딕"/>
                <a:ea typeface="맑은 고딕"/>
                <a:cs typeface="맑은 고딕"/>
              </a:rPr>
              <a:t>• 승인 뒤의 명령과 재관측은 정해진 순서로 열린다</a:t>
            </a:r>
          </a:p>
          <a:p>
            <a:pPr algn="l" eaLnBrk="0" marL="200025" indent="-200025">
              <a:lnSpc>
                <a:spcPct val="110000"/>
              </a:lnSpc>
              <a:spcAft>
                <a:spcPts val="600"/>
              </a:spcAft>
            </a:pPr>
            <a:r>
              <a:rPr sz="1750" b="0">
                <a:solidFill>
                  <a:srgbClr val="1F2A3A"/>
                </a:solidFill>
                <a:latin typeface="맑은 고딕"/>
                <a:ea typeface="맑은 고딕"/>
                <a:cs typeface="맑은 고딕"/>
              </a:rPr>
              <a:t>• 승인한 역할과 결과가 처리 건에 남는다</a:t>
            </a:r>
          </a:p>
        </p:txBody>
      </p:sp>
      <p:sp>
        <p:nvSpPr>
          <p:cNvPr id="18" name="Rounded Rectangle 17"/>
          <p:cNvSpPr/>
          <p:nvPr/>
        </p:nvSpPr>
        <p:spPr>
          <a:xfrm>
            <a:off x="6781647" y="5362638"/>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프로세스가 잇는다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BPMN:</a:t>
            </a:r>
          </a:p>
          <a:p>
            <a:pPr algn="l" eaLnBrk="0">
              <a:lnSpc>
                <a:spcPct val="110000"/>
              </a:lnSpc>
            </a:pPr>
            <a:r>
              <a:rPr sz="3400" b="1">
                <a:solidFill>
                  <a:srgbClr val="13294B"/>
                </a:solidFill>
                <a:latin typeface="맑은 고딕"/>
                <a:ea typeface="맑은 고딕"/>
                <a:cs typeface="맑은 고딕"/>
              </a:rPr>
              <a:t>이벤트 · 작업 · 게이트웨이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순서와 갈림을 누구나 같은 뜻으로 읽게 하는 도형과 선</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문장으로 적은 프로세스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프로세스를 문장으로 적으면 갈림과 책임자와 기다림이 글 속에 묻혀, 읽는 사람마다 다른 흐름을 떠올린다.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p>
          <a:p>
            <a:pPr algn="l" eaLnBrk="0">
              <a:lnSpc>
                <a:spcPct val="110000"/>
              </a:lnSpc>
              <a:spcAft>
                <a:spcPts val="200"/>
              </a:spcAft>
            </a:pP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제안한다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승인하면</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재관측하는데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정상이면</a:t>
            </a:r>
          </a:p>
          <a:p>
            <a:pPr algn="l" eaLnBrk="0">
              <a:lnSpc>
                <a:spcPct val="110000"/>
              </a:lnSpc>
              <a:spcAft>
                <a:spcPts val="200"/>
              </a:spcAft>
            </a:pPr>
            <a:r>
              <a:rPr sz="1300" b="0">
                <a:solidFill>
                  <a:srgbClr val="E8EEF6"/>
                </a:solidFill>
                <a:latin typeface="맑은 고딕"/>
                <a:ea typeface="맑은 고딕"/>
                <a:cs typeface="맑은 고딕"/>
              </a:rPr>
              <a:t>작업지시를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등록하고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p>
          <a:p>
            <a:pPr algn="l" eaLnBrk="0">
              <a:lnSpc>
                <a:spcPct val="110000"/>
              </a:lnSpc>
              <a:spcAft>
                <a:spcPts val="200"/>
              </a:spcAft>
            </a:pPr>
            <a:r>
              <a:rPr sz="1300" b="0">
                <a:solidFill>
                  <a:srgbClr val="E8EEF6"/>
                </a:solidFill>
                <a:latin typeface="맑은 고딕"/>
                <a:ea typeface="맑은 고딕"/>
                <a:cs typeface="맑은 고딕"/>
              </a:rPr>
              <a:t>미달로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끝낸다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승인이</a:t>
            </a:r>
            <a:r>
              <a:rPr sz="1300" b="0">
                <a:solidFill>
                  <a:srgbClr val="E8EEF6"/>
                </a:solidFill>
                <a:latin typeface="Consolas"/>
                <a:ea typeface="맑은 고딕"/>
                <a:cs typeface="맑은 고딕"/>
              </a:rPr>
              <a:t> 10</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알림을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보낸다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갈림이 묻힌다</a:t>
            </a:r>
          </a:p>
          <a:p>
            <a:pPr algn="l" eaLnBrk="0">
              <a:lnSpc>
                <a:spcPct val="110000"/>
              </a:lnSpc>
              <a:spcAft>
                <a:spcPts val="400"/>
              </a:spcAft>
            </a:pPr>
            <a:r>
              <a:rPr sz="1400" b="0">
                <a:solidFill>
                  <a:srgbClr val="1F2A3A"/>
                </a:solidFill>
                <a:latin typeface="맑은 고딕"/>
                <a:ea typeface="맑은 고딕"/>
                <a:cs typeface="맑은 고딕"/>
              </a:rPr>
              <a:t>「~하면」과 「아니면」이</a:t>
            </a:r>
          </a:p>
          <a:p>
            <a:pPr algn="l" eaLnBrk="0">
              <a:lnSpc>
                <a:spcPct val="110000"/>
              </a:lnSpc>
              <a:spcAft>
                <a:spcPts val="400"/>
              </a:spcAft>
            </a:pPr>
            <a:r>
              <a:rPr sz="1400" b="0">
                <a:solidFill>
                  <a:srgbClr val="1F2A3A"/>
                </a:solidFill>
                <a:latin typeface="맑은 고딕"/>
                <a:ea typeface="맑은 고딕"/>
                <a:cs typeface="맑은 고딕"/>
              </a:rPr>
              <a:t>문장 속에 흩어져 있다.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책임자가 묻힌다</a:t>
            </a:r>
          </a:p>
          <a:p>
            <a:pPr algn="l" eaLnBrk="0">
              <a:lnSpc>
                <a:spcPct val="110000"/>
              </a:lnSpc>
              <a:spcAft>
                <a:spcPts val="400"/>
              </a:spcAft>
            </a:pPr>
            <a:r>
              <a:rPr sz="1400" b="0">
                <a:solidFill>
                  <a:srgbClr val="1F2A3A"/>
                </a:solidFill>
                <a:latin typeface="맑은 고딕"/>
                <a:ea typeface="맑은 고딕"/>
                <a:cs typeface="맑은 고딕"/>
              </a:rPr>
              <a:t>재관측과 보고를 누가 하는지</a:t>
            </a:r>
          </a:p>
          <a:p>
            <a:pPr algn="l" eaLnBrk="0">
              <a:lnSpc>
                <a:spcPct val="110000"/>
              </a:lnSpc>
              <a:spcAft>
                <a:spcPts val="400"/>
              </a:spcAft>
            </a:pPr>
            <a:r>
              <a:rPr sz="1400" b="0">
                <a:solidFill>
                  <a:srgbClr val="1F2A3A"/>
                </a:solidFill>
                <a:latin typeface="맑은 고딕"/>
                <a:ea typeface="맑은 고딕"/>
                <a:cs typeface="맑은 고딕"/>
              </a:rPr>
              <a:t>적혀 있지 않다.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다르게 읽힌다</a:t>
            </a:r>
          </a:p>
          <a:p>
            <a:pPr algn="l" eaLnBrk="0">
              <a:lnSpc>
                <a:spcPct val="110000"/>
              </a:lnSpc>
              <a:spcAft>
                <a:spcPts val="400"/>
              </a:spcAft>
            </a:pPr>
            <a:r>
              <a:rPr sz="1400" b="0">
                <a:solidFill>
                  <a:srgbClr val="1F2A3A"/>
                </a:solidFill>
                <a:latin typeface="맑은 고딕"/>
                <a:ea typeface="맑은 고딕"/>
                <a:cs typeface="맑은 고딕"/>
              </a:rPr>
              <a:t>알림 뒤에도 승인을 기다리는지</a:t>
            </a:r>
          </a:p>
          <a:p>
            <a:pPr algn="l" eaLnBrk="0">
              <a:lnSpc>
                <a:spcPct val="110000"/>
              </a:lnSpc>
              <a:spcAft>
                <a:spcPts val="400"/>
              </a:spcAft>
            </a:pPr>
            <a:r>
              <a:rPr sz="1400" b="0">
                <a:solidFill>
                  <a:srgbClr val="1F2A3A"/>
                </a:solidFill>
                <a:latin typeface="맑은 고딕"/>
                <a:ea typeface="맑은 고딕"/>
                <a:cs typeface="맑은 고딕"/>
              </a:rPr>
              <a:t>문장만으로는 알 수 없다.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BPMN: 업무 프로세스의 표기 표준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BPMN은 업무 프로세스를 누구나 같은 뜻으로 읽도록 도형과 선의 의미를 정해 둔 표기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BPMN</a:t>
            </a:r>
          </a:p>
          <a:p>
            <a:pPr algn="l" eaLnBrk="0">
              <a:lnSpc>
                <a:spcPct val="110000"/>
              </a:lnSpc>
              <a:spcAft>
                <a:spcPts val="200"/>
              </a:spcAft>
            </a:pPr>
            <a:r>
              <a:rPr sz="1150" b="0">
                <a:solidFill>
                  <a:srgbClr val="556175"/>
                </a:solidFill>
                <a:latin typeface="맑은 고딕"/>
                <a:ea typeface="맑은 고딕"/>
                <a:cs typeface="맑은 고딕"/>
              </a:rPr>
              <a:t>Business Process Model and Notation</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프로세스를 그림으로 나타내는 표기 표준이다.</a:t>
            </a:r>
          </a:p>
          <a:p>
            <a:pPr algn="l" eaLnBrk="0">
              <a:lnSpc>
                <a:spcPct val="110000"/>
              </a:lnSpc>
              <a:spcAft>
                <a:spcPts val="300"/>
              </a:spcAft>
            </a:pPr>
            <a:r>
              <a:rPr sz="1400" b="0">
                <a:solidFill>
                  <a:srgbClr val="1F2A3A"/>
                </a:solidFill>
                <a:latin typeface="맑은 고딕"/>
                <a:ea typeface="맑은 고딕"/>
                <a:cs typeface="맑은 고딕"/>
              </a:rPr>
              <a:t>도형의 모양과 선의 종류마다 뜻이 정해져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정한 곳</a:t>
            </a:r>
          </a:p>
          <a:p>
            <a:pPr algn="l" eaLnBrk="0">
              <a:lnSpc>
                <a:spcPct val="110000"/>
              </a:lnSpc>
              <a:spcAft>
                <a:spcPts val="200"/>
              </a:spcAft>
            </a:pPr>
            <a:r>
              <a:rPr sz="1150" b="0">
                <a:solidFill>
                  <a:srgbClr val="556175"/>
                </a:solidFill>
                <a:latin typeface="맑은 고딕"/>
                <a:ea typeface="맑은 고딕"/>
                <a:cs typeface="맑은 고딕"/>
              </a:rPr>
              <a:t>국제 표준</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DMN을 정한 OMG가 정했고, BPMN 2.0은 국제 표준 ISO/IEC 19510이기도 하다.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읽는 쪽</a:t>
            </a:r>
          </a:p>
          <a:p>
            <a:pPr algn="l" eaLnBrk="0">
              <a:lnSpc>
                <a:spcPct val="110000"/>
              </a:lnSpc>
              <a:spcAft>
                <a:spcPts val="200"/>
              </a:spcAft>
            </a:pPr>
            <a:r>
              <a:rPr sz="1150" b="0">
                <a:solidFill>
                  <a:srgbClr val="556175"/>
                </a:solidFill>
                <a:latin typeface="맑은 고딕"/>
                <a:ea typeface="맑은 고딕"/>
                <a:cs typeface="맑은 고딕"/>
              </a:rPr>
              <a:t>사람과 시스템</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현업 담당자는 업무를 확인하는 그림으로, 프로세스를 실행하는 소프트웨어는 설계도로 같은 그림을 읽는다.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BPMN 요소의 세 묶음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BPMN의 기본 도형은 일어나는 일인 흐름 객체, 그것을 잇는 연결 객체, 맡는 쪽을 나누는 스윔레인으로 묶인다.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pic>
        <p:nvPicPr>
          <p:cNvPr id="6" name="삽화:요소묶음.svg" descr="illust_2599076942515702344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68396" y="2384023"/>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흐름 객체</a:t>
            </a:r>
          </a:p>
          <a:p>
            <a:pPr algn="ctr" eaLnBrk="0">
              <a:lnSpc>
                <a:spcPct val="110000"/>
              </a:lnSpc>
              <a:spcAft>
                <a:spcPts val="100"/>
              </a:spcAft>
            </a:pPr>
            <a:r>
              <a:rPr sz="1300" b="0">
                <a:solidFill>
                  <a:srgbClr val="556175"/>
                </a:solidFill>
                <a:latin typeface="맑은 고딕"/>
                <a:ea typeface="맑은 고딕"/>
                <a:cs typeface="맑은 고딕"/>
              </a:rPr>
              <a:t>Flow Objects</a:t>
            </a:r>
          </a:p>
        </p:txBody>
      </p:sp>
      <p:sp>
        <p:nvSpPr>
          <p:cNvPr id="8" name="TextBox 7"/>
          <p:cNvSpPr txBox="1"/>
          <p:nvPr/>
        </p:nvSpPr>
        <p:spPr>
          <a:xfrm>
            <a:off x="5135812" y="2384023"/>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연결 객체</a:t>
            </a:r>
          </a:p>
          <a:p>
            <a:pPr algn="ctr" eaLnBrk="0">
              <a:lnSpc>
                <a:spcPct val="110000"/>
              </a:lnSpc>
              <a:spcAft>
                <a:spcPts val="100"/>
              </a:spcAft>
            </a:pPr>
            <a:r>
              <a:rPr sz="1300" b="0">
                <a:solidFill>
                  <a:srgbClr val="556175"/>
                </a:solidFill>
                <a:latin typeface="맑은 고딕"/>
                <a:ea typeface="맑은 고딕"/>
                <a:cs typeface="맑은 고딕"/>
              </a:rPr>
              <a:t>Connecting Objects</a:t>
            </a:r>
          </a:p>
        </p:txBody>
      </p:sp>
      <p:sp>
        <p:nvSpPr>
          <p:cNvPr id="9" name="TextBox 8"/>
          <p:cNvSpPr txBox="1"/>
          <p:nvPr/>
        </p:nvSpPr>
        <p:spPr>
          <a:xfrm>
            <a:off x="8321384" y="2384023"/>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스윔레인</a:t>
            </a:r>
          </a:p>
          <a:p>
            <a:pPr algn="ctr" eaLnBrk="0">
              <a:lnSpc>
                <a:spcPct val="110000"/>
              </a:lnSpc>
              <a:spcAft>
                <a:spcPts val="100"/>
              </a:spcAft>
            </a:pPr>
            <a:r>
              <a:rPr sz="1300" b="0">
                <a:solidFill>
                  <a:srgbClr val="556175"/>
                </a:solidFill>
                <a:latin typeface="맑은 고딕"/>
                <a:ea typeface="맑은 고딕"/>
                <a:cs typeface="맑은 고딕"/>
              </a:rPr>
              <a:t>Swimlanes</a:t>
            </a:r>
          </a:p>
        </p:txBody>
      </p:sp>
      <p:sp>
        <p:nvSpPr>
          <p:cNvPr id="10" name="TextBox 9"/>
          <p:cNvSpPr txBox="1"/>
          <p:nvPr/>
        </p:nvSpPr>
        <p:spPr>
          <a:xfrm>
            <a:off x="957475" y="451137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이벤트</a:t>
            </a:r>
          </a:p>
        </p:txBody>
      </p:sp>
      <p:sp>
        <p:nvSpPr>
          <p:cNvPr id="11" name="TextBox 10"/>
          <p:cNvSpPr txBox="1"/>
          <p:nvPr/>
        </p:nvSpPr>
        <p:spPr>
          <a:xfrm>
            <a:off x="2353890" y="451137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a:t>
            </a:r>
          </a:p>
        </p:txBody>
      </p:sp>
      <p:sp>
        <p:nvSpPr>
          <p:cNvPr id="12" name="TextBox 11"/>
          <p:cNvSpPr txBox="1"/>
          <p:nvPr/>
        </p:nvSpPr>
        <p:spPr>
          <a:xfrm>
            <a:off x="3663030" y="4511375"/>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게이트웨이</a:t>
            </a:r>
          </a:p>
        </p:txBody>
      </p:sp>
      <p:sp>
        <p:nvSpPr>
          <p:cNvPr id="13" name="TextBox 12"/>
          <p:cNvSpPr txBox="1"/>
          <p:nvPr/>
        </p:nvSpPr>
        <p:spPr>
          <a:xfrm>
            <a:off x="5572191" y="3754983"/>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시퀀스 흐름</a:t>
            </a:r>
          </a:p>
        </p:txBody>
      </p:sp>
      <p:sp>
        <p:nvSpPr>
          <p:cNvPr id="14" name="TextBox 13"/>
          <p:cNvSpPr txBox="1"/>
          <p:nvPr/>
        </p:nvSpPr>
        <p:spPr>
          <a:xfrm>
            <a:off x="5572191" y="5078669"/>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메시지 흐름</a:t>
            </a:r>
          </a:p>
        </p:txBody>
      </p:sp>
      <p:sp>
        <p:nvSpPr>
          <p:cNvPr id="15" name="TextBox 14"/>
          <p:cNvSpPr txBox="1"/>
          <p:nvPr/>
        </p:nvSpPr>
        <p:spPr>
          <a:xfrm>
            <a:off x="8757764" y="5125943"/>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풀과 레인</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프로세스를 BPMN으로 그리면 문장에 묻혀 있던 맡는 쪽과 갈림 둘, 끝 셋이 레인 셋 위의 도형으로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pic>
        <p:nvPicPr>
          <p:cNvPr id="6" name="삽화:흐름_전체.svg" descr="illust_7128931871681295139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담당자</a:t>
            </a:r>
          </a:p>
        </p:txBody>
      </p:sp>
      <p:sp>
        <p:nvSpPr>
          <p:cNvPr id="8" name="TextBox 7"/>
          <p:cNvSpPr txBox="1"/>
          <p:nvPr/>
        </p:nvSpPr>
        <p:spPr>
          <a:xfrm>
            <a:off x="695647" y="3282238"/>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에이전트</a:t>
            </a:r>
          </a:p>
        </p:txBody>
      </p:sp>
      <p:sp>
        <p:nvSpPr>
          <p:cNvPr id="9" name="TextBox 8"/>
          <p:cNvSpPr txBox="1"/>
          <p:nvPr/>
        </p:nvSpPr>
        <p:spPr>
          <a:xfrm>
            <a:off x="695647" y="5137762"/>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시스템</a:t>
            </a:r>
          </a:p>
        </p:txBody>
      </p:sp>
      <p:sp>
        <p:nvSpPr>
          <p:cNvPr id="10" name="TextBox 9"/>
          <p:cNvSpPr txBox="1"/>
          <p:nvPr/>
        </p:nvSpPr>
        <p:spPr>
          <a:xfrm>
            <a:off x="1415674" y="3476064"/>
            <a:ext cx="115640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과열 경보</a:t>
            </a:r>
          </a:p>
        </p:txBody>
      </p:sp>
      <p:sp>
        <p:nvSpPr>
          <p:cNvPr id="11" name="TextBox 10"/>
          <p:cNvSpPr txBox="1"/>
          <p:nvPr/>
        </p:nvSpPr>
        <p:spPr>
          <a:xfrm>
            <a:off x="2282979" y="2870950"/>
            <a:ext cx="1352777"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2" name="TextBox 11"/>
          <p:cNvSpPr txBox="1"/>
          <p:nvPr/>
        </p:nvSpPr>
        <p:spPr>
          <a:xfrm>
            <a:off x="3564844" y="2027101"/>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13" name="TextBox 12"/>
          <p:cNvSpPr txBox="1"/>
          <p:nvPr/>
        </p:nvSpPr>
        <p:spPr>
          <a:xfrm>
            <a:off x="4808527" y="1674906"/>
            <a:ext cx="7636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66703" y="4199363"/>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6" name="TextBox 15"/>
          <p:cNvSpPr txBox="1"/>
          <p:nvPr/>
        </p:nvSpPr>
        <p:spPr>
          <a:xfrm>
            <a:off x="6194033"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7" name="TextBox 16"/>
          <p:cNvSpPr txBox="1"/>
          <p:nvPr/>
        </p:nvSpPr>
        <p:spPr>
          <a:xfrm>
            <a:off x="7186797" y="364861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 정상?</a:t>
            </a:r>
          </a:p>
        </p:txBody>
      </p:sp>
      <p:sp>
        <p:nvSpPr>
          <p:cNvPr id="18" name="TextBox 17"/>
          <p:cNvSpPr txBox="1"/>
          <p:nvPr/>
        </p:nvSpPr>
        <p:spPr>
          <a:xfrm>
            <a:off x="8397751" y="4081177"/>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9" name="TextBox 18"/>
          <p:cNvSpPr txBox="1"/>
          <p:nvPr/>
        </p:nvSpPr>
        <p:spPr>
          <a:xfrm>
            <a:off x="9717799" y="4081177"/>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정상</a:t>
            </a:r>
          </a:p>
        </p:txBody>
      </p:sp>
      <p:sp>
        <p:nvSpPr>
          <p:cNvPr id="20" name="TextBox 19"/>
          <p:cNvSpPr txBox="1"/>
          <p:nvPr/>
        </p:nvSpPr>
        <p:spPr>
          <a:xfrm>
            <a:off x="7284982"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미달</a:t>
            </a:r>
          </a:p>
        </p:txBody>
      </p:sp>
      <p:sp>
        <p:nvSpPr>
          <p:cNvPr id="21" name="TextBox 20"/>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22" name="TextBox 21"/>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이벤트: 프로세스를 여는 사건과 닫는 사건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프로세스가 무엇으로 시작해 어떻게 끝나는지는 원으로 그린 이벤트가 알려 주고, 테두리의 굵기가 시작과 끝을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pic>
        <p:nvPicPr>
          <p:cNvPr id="6" name="삽화:이벤트.svg" descr="illust_8978091235736171445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4464100"/>
            <a:ext cx="283646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시작 이벤트</a:t>
            </a:r>
          </a:p>
          <a:p>
            <a:pPr algn="ctr" eaLnBrk="0">
              <a:lnSpc>
                <a:spcPct val="110000"/>
              </a:lnSpc>
              <a:spcAft>
                <a:spcPts val="100"/>
              </a:spcAft>
            </a:pPr>
            <a:r>
              <a:rPr sz="1300" b="0">
                <a:solidFill>
                  <a:srgbClr val="556175"/>
                </a:solidFill>
                <a:latin typeface="맑은 고딕"/>
                <a:ea typeface="맑은 고딕"/>
                <a:cs typeface="맑은 고딕"/>
              </a:rPr>
              <a:t>Start Event</a:t>
            </a:r>
          </a:p>
          <a:p>
            <a:pPr algn="ctr" eaLnBrk="0">
              <a:lnSpc>
                <a:spcPct val="110000"/>
              </a:lnSpc>
              <a:spcAft>
                <a:spcPts val="100"/>
              </a:spcAft>
            </a:pPr>
            <a:r>
              <a:rPr sz="1300" b="0">
                <a:solidFill>
                  <a:srgbClr val="556175"/>
                </a:solidFill>
                <a:latin typeface="맑은 고딕"/>
                <a:ea typeface="맑은 고딕"/>
                <a:cs typeface="맑은 고딕"/>
              </a:rPr>
              <a:t>프로세스를 여는 사건</a:t>
            </a:r>
          </a:p>
        </p:txBody>
      </p:sp>
      <p:sp>
        <p:nvSpPr>
          <p:cNvPr id="8" name="TextBox 7"/>
          <p:cNvSpPr txBox="1"/>
          <p:nvPr/>
        </p:nvSpPr>
        <p:spPr>
          <a:xfrm>
            <a:off x="4459423" y="4464100"/>
            <a:ext cx="327284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메시지 시작 이벤트</a:t>
            </a:r>
          </a:p>
          <a:p>
            <a:pPr algn="ctr" eaLnBrk="0">
              <a:lnSpc>
                <a:spcPct val="110000"/>
              </a:lnSpc>
              <a:spcAft>
                <a:spcPts val="100"/>
              </a:spcAft>
            </a:pPr>
            <a:r>
              <a:rPr sz="1300" b="0">
                <a:solidFill>
                  <a:srgbClr val="556175"/>
                </a:solidFill>
                <a:latin typeface="맑은 고딕"/>
                <a:ea typeface="맑은 고딕"/>
                <a:cs typeface="맑은 고딕"/>
              </a:rPr>
              <a:t>Message Start Event</a:t>
            </a:r>
          </a:p>
          <a:p>
            <a:pPr algn="ctr" eaLnBrk="0">
              <a:lnSpc>
                <a:spcPct val="110000"/>
              </a:lnSpc>
              <a:spcAft>
                <a:spcPts val="100"/>
              </a:spcAft>
            </a:pPr>
            <a:r>
              <a:rPr sz="1300" b="0">
                <a:solidFill>
                  <a:srgbClr val="556175"/>
                </a:solidFill>
                <a:latin typeface="맑은 고딕"/>
                <a:ea typeface="맑은 고딕"/>
                <a:cs typeface="맑은 고딕"/>
              </a:rPr>
              <a:t>메시지를 받으면 연다</a:t>
            </a:r>
          </a:p>
          <a:p>
            <a:pPr algn="ctr" eaLnBrk="0">
              <a:lnSpc>
                <a:spcPct val="110000"/>
              </a:lnSpc>
              <a:spcAft>
                <a:spcPts val="100"/>
              </a:spcAft>
            </a:pPr>
            <a:r>
              <a:rPr sz="1300" b="0">
                <a:solidFill>
                  <a:srgbClr val="556175"/>
                </a:solidFill>
                <a:latin typeface="맑은 고딕"/>
                <a:ea typeface="맑은 고딕"/>
                <a:cs typeface="맑은 고딕"/>
              </a:rPr>
              <a:t>예: 쿨러 과열 경보</a:t>
            </a:r>
          </a:p>
        </p:txBody>
      </p:sp>
      <p:sp>
        <p:nvSpPr>
          <p:cNvPr id="9" name="TextBox 8"/>
          <p:cNvSpPr txBox="1"/>
          <p:nvPr/>
        </p:nvSpPr>
        <p:spPr>
          <a:xfrm>
            <a:off x="8135923" y="4464100"/>
            <a:ext cx="283646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끝 이벤트</a:t>
            </a:r>
          </a:p>
          <a:p>
            <a:pPr algn="ctr" eaLnBrk="0">
              <a:lnSpc>
                <a:spcPct val="110000"/>
              </a:lnSpc>
              <a:spcAft>
                <a:spcPts val="100"/>
              </a:spcAft>
            </a:pPr>
            <a:r>
              <a:rPr sz="1300" b="0">
                <a:solidFill>
                  <a:srgbClr val="556175"/>
                </a:solidFill>
                <a:latin typeface="맑은 고딕"/>
                <a:ea typeface="맑은 고딕"/>
                <a:cs typeface="맑은 고딕"/>
              </a:rPr>
              <a:t>End Event</a:t>
            </a:r>
          </a:p>
          <a:p>
            <a:pPr algn="ctr" eaLnBrk="0">
              <a:lnSpc>
                <a:spcPct val="110000"/>
              </a:lnSpc>
              <a:spcAft>
                <a:spcPts val="100"/>
              </a:spcAft>
            </a:pPr>
            <a:r>
              <a:rPr sz="1300" b="0">
                <a:solidFill>
                  <a:srgbClr val="556175"/>
                </a:solidFill>
                <a:latin typeface="맑은 고딕"/>
                <a:ea typeface="맑은 고딕"/>
                <a:cs typeface="맑은 고딕"/>
              </a:rPr>
              <a:t>한 갈래를 닫는 사건</a:t>
            </a:r>
          </a:p>
          <a:p>
            <a:pPr algn="ctr" eaLnBrk="0">
              <a:lnSpc>
                <a:spcPct val="110000"/>
              </a:lnSpc>
              <a:spcAft>
                <a:spcPts val="100"/>
              </a:spcAft>
            </a:pPr>
            <a:r>
              <a:rPr sz="1300" b="0">
                <a:solidFill>
                  <a:srgbClr val="556175"/>
                </a:solidFill>
                <a:latin typeface="맑은 고딕"/>
                <a:ea typeface="맑은 고딕"/>
                <a:cs typeface="맑은 고딕"/>
              </a:rPr>
              <a:t>예: 끝, 거절 종결, 알림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사용자 작업과 서비스 작업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작업(Task)은 더 쪼개지지 않는 활동이며, 상자 왼쪽 위의 표식이 그 일을 사람이 하는지 시스템이 하는지를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pic>
        <p:nvPicPr>
          <p:cNvPr id="6" name="삽화:작업종류.svg" descr="illust_3617490975509966961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3187689"/>
            <a:ext cx="2181899"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8" name="TextBox 7"/>
          <p:cNvSpPr txBox="1"/>
          <p:nvPr/>
        </p:nvSpPr>
        <p:spPr>
          <a:xfrm>
            <a:off x="5113993" y="3282238"/>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p:txBody>
      </p:sp>
      <p:sp>
        <p:nvSpPr>
          <p:cNvPr id="9" name="TextBox 8"/>
          <p:cNvSpPr txBox="1"/>
          <p:nvPr/>
        </p:nvSpPr>
        <p:spPr>
          <a:xfrm>
            <a:off x="8659578" y="3282238"/>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1022932" y="4369551"/>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작업</a:t>
            </a:r>
          </a:p>
          <a:p>
            <a:pPr algn="ctr" eaLnBrk="0">
              <a:lnSpc>
                <a:spcPct val="110000"/>
              </a:lnSpc>
              <a:spcAft>
                <a:spcPts val="100"/>
              </a:spcAft>
            </a:pPr>
            <a:r>
              <a:rPr sz="1300" b="0">
                <a:solidFill>
                  <a:srgbClr val="556175"/>
                </a:solidFill>
                <a:latin typeface="맑은 고딕"/>
                <a:ea typeface="맑은 고딕"/>
                <a:cs typeface="맑은 고딕"/>
              </a:rPr>
              <a:t>Task · 표식 없음</a:t>
            </a:r>
          </a:p>
        </p:txBody>
      </p:sp>
      <p:sp>
        <p:nvSpPr>
          <p:cNvPr id="11" name="TextBox 10"/>
          <p:cNvSpPr txBox="1"/>
          <p:nvPr/>
        </p:nvSpPr>
        <p:spPr>
          <a:xfrm>
            <a:off x="4786708" y="4369551"/>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사용자 작업</a:t>
            </a:r>
          </a:p>
          <a:p>
            <a:pPr algn="ctr" eaLnBrk="0">
              <a:lnSpc>
                <a:spcPct val="110000"/>
              </a:lnSpc>
              <a:spcAft>
                <a:spcPts val="100"/>
              </a:spcAft>
            </a:pPr>
            <a:r>
              <a:rPr sz="1300" b="0">
                <a:solidFill>
                  <a:srgbClr val="556175"/>
                </a:solidFill>
                <a:latin typeface="맑은 고딕"/>
                <a:ea typeface="맑은 고딕"/>
                <a:cs typeface="맑은 고딕"/>
              </a:rPr>
              <a:t>User Task · 사람 표식</a:t>
            </a:r>
          </a:p>
        </p:txBody>
      </p:sp>
      <p:sp>
        <p:nvSpPr>
          <p:cNvPr id="12" name="TextBox 11"/>
          <p:cNvSpPr txBox="1"/>
          <p:nvPr/>
        </p:nvSpPr>
        <p:spPr>
          <a:xfrm>
            <a:off x="8332294" y="4369551"/>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서비스 작업</a:t>
            </a:r>
          </a:p>
          <a:p>
            <a:pPr algn="ctr" eaLnBrk="0">
              <a:lnSpc>
                <a:spcPct val="110000"/>
              </a:lnSpc>
              <a:spcAft>
                <a:spcPts val="100"/>
              </a:spcAft>
            </a:pPr>
            <a:r>
              <a:rPr sz="1300" b="0">
                <a:solidFill>
                  <a:srgbClr val="556175"/>
                </a:solidFill>
                <a:latin typeface="맑은 고딕"/>
                <a:ea typeface="맑은 고딕"/>
                <a:cs typeface="맑은 고딕"/>
              </a:rPr>
              <a:t>Service Task · 톱니 표식</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시퀀스 흐름과 배타 게이트웨이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순서는 실선 화살표인 시퀀스 흐름으로 잇고, 갈림은 조건이 참인 한 갈래만 고르는 배타 게이트웨이로 그린다.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게이트웨이.svg" descr="illust_3064076270891480232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68407" y="3069503"/>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4710341" y="1911278"/>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8823221" y="3069503"/>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8714126" y="5244129"/>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보고: 거절</a:t>
            </a:r>
          </a:p>
        </p:txBody>
      </p:sp>
      <p:sp>
        <p:nvSpPr>
          <p:cNvPr id="11" name="TextBox 10"/>
          <p:cNvSpPr txBox="1"/>
          <p:nvPr/>
        </p:nvSpPr>
        <p:spPr>
          <a:xfrm>
            <a:off x="6684960" y="2714945"/>
            <a:ext cx="109094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a:t>
            </a:r>
          </a:p>
        </p:txBody>
      </p:sp>
      <p:sp>
        <p:nvSpPr>
          <p:cNvPr id="12" name="TextBox 11"/>
          <p:cNvSpPr txBox="1"/>
          <p:nvPr/>
        </p:nvSpPr>
        <p:spPr>
          <a:xfrm>
            <a:off x="6368584" y="4913208"/>
            <a:ext cx="109094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거절</a:t>
            </a:r>
          </a:p>
        </p:txBody>
      </p:sp>
      <p:sp>
        <p:nvSpPr>
          <p:cNvPr id="13" name="TextBox 12"/>
          <p:cNvSpPr txBox="1"/>
          <p:nvPr/>
        </p:nvSpPr>
        <p:spPr>
          <a:xfrm>
            <a:off x="3150283" y="3329513"/>
            <a:ext cx="152732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시퀀스 흐름</a:t>
            </a:r>
          </a:p>
          <a:p>
            <a:pPr algn="ctr" eaLnBrk="0">
              <a:lnSpc>
                <a:spcPct val="110000"/>
              </a:lnSpc>
              <a:spcAft>
                <a:spcPts val="100"/>
              </a:spcAft>
            </a:pPr>
            <a:r>
              <a:rPr sz="1300" b="0">
                <a:solidFill>
                  <a:srgbClr val="556175"/>
                </a:solidFill>
                <a:latin typeface="맑은 고딕"/>
                <a:ea typeface="맑은 고딕"/>
                <a:cs typeface="맑은 고딕"/>
              </a:rPr>
              <a:t>Sequence Flow</a:t>
            </a:r>
          </a:p>
        </p:txBody>
      </p:sp>
      <p:sp>
        <p:nvSpPr>
          <p:cNvPr id="14" name="TextBox 13"/>
          <p:cNvSpPr txBox="1"/>
          <p:nvPr/>
        </p:nvSpPr>
        <p:spPr>
          <a:xfrm>
            <a:off x="1077479" y="4558649"/>
            <a:ext cx="349103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배타 게이트웨이</a:t>
            </a:r>
          </a:p>
          <a:p>
            <a:pPr algn="ctr" eaLnBrk="0">
              <a:lnSpc>
                <a:spcPct val="110000"/>
              </a:lnSpc>
              <a:spcAft>
                <a:spcPts val="100"/>
              </a:spcAft>
            </a:pPr>
            <a:r>
              <a:rPr sz="1300" b="0">
                <a:solidFill>
                  <a:srgbClr val="556175"/>
                </a:solidFill>
                <a:latin typeface="맑은 고딕"/>
                <a:ea typeface="맑은 고딕"/>
                <a:cs typeface="맑은 고딕"/>
              </a:rPr>
              <a:t>Exclusive Gateway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갈림의 조건과 기본 흐름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갈림의 조건은 앞 작업이 낸 값을 견주는 식이어서, 같은 값이면 누가 언제 실행해도 같은 갈래로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게이트웨이</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나가는 선</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 냉각 명령</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approval ==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 → 결과 보고: 거절</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기본 흐름</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정상?</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 → 작업지시 등록</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recovered == True</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정상?</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아니오 → 결과 보고: 미달</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기본 흐름(Default Flow)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BPMN:</a:t>
            </a:r>
          </a:p>
          <a:p>
            <a:pPr algn="l" eaLnBrk="0">
              <a:lnSpc>
                <a:spcPct val="110000"/>
              </a:lnSpc>
            </a:pPr>
            <a:r>
              <a:rPr sz="3400" b="1">
                <a:solidFill>
                  <a:srgbClr val="13294B"/>
                </a:solidFill>
                <a:latin typeface="맑은 고딕"/>
                <a:ea typeface="맑은 고딕"/>
                <a:cs typeface="맑은 고딕"/>
              </a:rPr>
              <a:t>레인 · 메시지 흐름 · 타이머</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누가 맡는지와 기다리는 동안 생기는 일을 그림에 담는다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풀과 레인: 참여자와 책임의 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작업을 누가 맡는지는 글로 적지 않고 칸으로 나타내어, 풀 안의 레인 가운데 작업이 놓인 칸이 곧 맡는 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pic>
        <p:nvPicPr>
          <p:cNvPr id="6" name="삽화:풀과레인.svg" descr="illust_2465278338567359120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73873" y="2880405"/>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담당자</a:t>
            </a:r>
          </a:p>
        </p:txBody>
      </p:sp>
      <p:sp>
        <p:nvSpPr>
          <p:cNvPr id="8" name="TextBox 7"/>
          <p:cNvSpPr txBox="1"/>
          <p:nvPr/>
        </p:nvSpPr>
        <p:spPr>
          <a:xfrm>
            <a:off x="1873873" y="427500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1873873" y="564596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
        <p:nvSpPr>
          <p:cNvPr id="10" name="TextBox 9"/>
          <p:cNvSpPr txBox="1"/>
          <p:nvPr/>
        </p:nvSpPr>
        <p:spPr>
          <a:xfrm>
            <a:off x="4372147" y="3731346"/>
            <a:ext cx="1636424"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11" name="TextBox 10"/>
          <p:cNvSpPr txBox="1"/>
          <p:nvPr/>
        </p:nvSpPr>
        <p:spPr>
          <a:xfrm>
            <a:off x="6892240" y="2478572"/>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p:txBody>
      </p:sp>
      <p:sp>
        <p:nvSpPr>
          <p:cNvPr id="12" name="TextBox 11"/>
          <p:cNvSpPr txBox="1"/>
          <p:nvPr/>
        </p:nvSpPr>
        <p:spPr>
          <a:xfrm>
            <a:off x="9259601" y="5267766"/>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3913948" y="2005827"/>
            <a:ext cx="240008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풀</a:t>
            </a:r>
          </a:p>
          <a:p>
            <a:pPr algn="ctr" eaLnBrk="0">
              <a:lnSpc>
                <a:spcPct val="110000"/>
              </a:lnSpc>
              <a:spcAft>
                <a:spcPts val="100"/>
              </a:spcAft>
            </a:pPr>
            <a:r>
              <a:rPr sz="1300" b="0">
                <a:solidFill>
                  <a:srgbClr val="556175"/>
                </a:solidFill>
                <a:latin typeface="맑은 고딕"/>
                <a:ea typeface="맑은 고딕"/>
                <a:cs typeface="맑은 고딕"/>
              </a:rPr>
              <a:t>Pool</a:t>
            </a:r>
          </a:p>
          <a:p>
            <a:pPr algn="ctr" eaLnBrk="0">
              <a:lnSpc>
                <a:spcPct val="110000"/>
              </a:lnSpc>
              <a:spcAft>
                <a:spcPts val="100"/>
              </a:spcAft>
            </a:pPr>
            <a:r>
              <a:rPr sz="1300" b="0">
                <a:solidFill>
                  <a:srgbClr val="556175"/>
                </a:solidFill>
                <a:latin typeface="맑은 고딕"/>
                <a:ea typeface="맑은 고딕"/>
                <a:cs typeface="맑은 고딕"/>
              </a:rPr>
              <a:t>참여자 하나의 영역</a:t>
            </a:r>
          </a:p>
        </p:txBody>
      </p:sp>
      <p:sp>
        <p:nvSpPr>
          <p:cNvPr id="14" name="TextBox 13"/>
          <p:cNvSpPr txBox="1"/>
          <p:nvPr/>
        </p:nvSpPr>
        <p:spPr>
          <a:xfrm>
            <a:off x="4459423" y="4936845"/>
            <a:ext cx="327284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레인</a:t>
            </a:r>
          </a:p>
          <a:p>
            <a:pPr algn="ctr" eaLnBrk="0">
              <a:lnSpc>
                <a:spcPct val="110000"/>
              </a:lnSpc>
              <a:spcAft>
                <a:spcPts val="100"/>
              </a:spcAft>
            </a:pPr>
            <a:r>
              <a:rPr sz="1300" b="0">
                <a:solidFill>
                  <a:srgbClr val="556175"/>
                </a:solidFill>
                <a:latin typeface="맑은 고딕"/>
                <a:ea typeface="맑은 고딕"/>
                <a:cs typeface="맑은 고딕"/>
              </a:rPr>
              <a:t>Lane</a:t>
            </a:r>
          </a:p>
          <a:p>
            <a:pPr algn="ctr" eaLnBrk="0">
              <a:lnSpc>
                <a:spcPct val="110000"/>
              </a:lnSpc>
              <a:spcAft>
                <a:spcPts val="100"/>
              </a:spcAft>
            </a:pPr>
            <a:r>
              <a:rPr sz="1300" b="0">
                <a:solidFill>
                  <a:srgbClr val="556175"/>
                </a:solidFill>
                <a:latin typeface="맑은 고딕"/>
                <a:ea typeface="맑은 고딕"/>
                <a:cs typeface="맑은 고딕"/>
              </a:rPr>
              <a:t>풀 안의 책임 칸</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 에이전트, 시스템의 책임 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판단은 에이전트 레인에, 결정은 담당자 레인에, 실행과 기록은 시스템 레인에 놓여 설비 명령 앞에 사람의 승인이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레인</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긴급 대응 에이전트 · agent:cooling</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역할 · role:operator</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담당자</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SCADA · sys:scada</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시스템</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 sys:process</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시스템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CMMS · sys:cmms</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시스템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 sys:process</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시스템</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메시지 흐름: 풀과 풀 사이의 주고받음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참여자가 둘이면 풀을 따로 그리고, 풀 사이의 주고받음은 점선의 메시지 흐름으로 그려 풀 안의 순서와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pic>
        <p:nvPicPr>
          <p:cNvPr id="6" name="삽화:메시지흐름.svg" descr="illust_2508351124452405496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35745" y="247857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발주 요청</a:t>
            </a:r>
          </a:p>
        </p:txBody>
      </p:sp>
      <p:sp>
        <p:nvSpPr>
          <p:cNvPr id="8" name="TextBox 7"/>
          <p:cNvSpPr txBox="1"/>
          <p:nvPr/>
        </p:nvSpPr>
        <p:spPr>
          <a:xfrm>
            <a:off x="6968607" y="247857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확인</a:t>
            </a:r>
          </a:p>
        </p:txBody>
      </p:sp>
      <p:sp>
        <p:nvSpPr>
          <p:cNvPr id="9" name="TextBox 8"/>
          <p:cNvSpPr txBox="1"/>
          <p:nvPr/>
        </p:nvSpPr>
        <p:spPr>
          <a:xfrm>
            <a:off x="5146721" y="522049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주문 접수</a:t>
            </a:r>
          </a:p>
        </p:txBody>
      </p:sp>
      <p:sp>
        <p:nvSpPr>
          <p:cNvPr id="10" name="TextBox 9"/>
          <p:cNvSpPr txBox="1"/>
          <p:nvPr/>
        </p:nvSpPr>
        <p:spPr>
          <a:xfrm>
            <a:off x="8168651" y="1852185"/>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풀: 설비 운영 조직</a:t>
            </a:r>
          </a:p>
        </p:txBody>
      </p:sp>
      <p:sp>
        <p:nvSpPr>
          <p:cNvPr id="11" name="TextBox 10"/>
          <p:cNvSpPr txBox="1"/>
          <p:nvPr/>
        </p:nvSpPr>
        <p:spPr>
          <a:xfrm>
            <a:off x="8495936" y="4605924"/>
            <a:ext cx="261827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풀: 부품 공급사</a:t>
            </a:r>
          </a:p>
        </p:txBody>
      </p:sp>
      <p:sp>
        <p:nvSpPr>
          <p:cNvPr id="12" name="TextBox 11"/>
          <p:cNvSpPr txBox="1"/>
          <p:nvPr/>
        </p:nvSpPr>
        <p:spPr>
          <a:xfrm>
            <a:off x="4492151" y="3707709"/>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메시지 흐름</a:t>
            </a:r>
          </a:p>
          <a:p>
            <a:pPr algn="ctr" eaLnBrk="0">
              <a:lnSpc>
                <a:spcPct val="110000"/>
              </a:lnSpc>
              <a:spcAft>
                <a:spcPts val="100"/>
              </a:spcAft>
            </a:pPr>
            <a:r>
              <a:rPr sz="1300" b="0">
                <a:solidFill>
                  <a:srgbClr val="556175"/>
                </a:solidFill>
                <a:latin typeface="맑은 고딕"/>
                <a:ea typeface="맑은 고딕"/>
                <a:cs typeface="맑은 고딕"/>
              </a:rPr>
              <a:t>Message Flow</a:t>
            </a:r>
          </a:p>
        </p:txBody>
      </p:sp>
      <p:sp>
        <p:nvSpPr>
          <p:cNvPr id="13" name="TextBox 12"/>
          <p:cNvSpPr txBox="1"/>
          <p:nvPr/>
        </p:nvSpPr>
        <p:spPr>
          <a:xfrm>
            <a:off x="2713904" y="3896807"/>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발주서</a:t>
            </a:r>
          </a:p>
        </p:txBody>
      </p:sp>
      <p:sp>
        <p:nvSpPr>
          <p:cNvPr id="14" name="TextBox 13"/>
          <p:cNvSpPr txBox="1"/>
          <p:nvPr/>
        </p:nvSpPr>
        <p:spPr>
          <a:xfrm>
            <a:off x="7950461" y="3896807"/>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회신</a:t>
            </a:r>
          </a:p>
        </p:txBody>
      </p:sp>
      <p:sp>
        <p:nvSpPr>
          <p:cNvPr id="15" name="TextBox 14"/>
          <p:cNvSpPr txBox="1"/>
          <p:nvPr/>
        </p:nvSpPr>
        <p:spPr>
          <a:xfrm>
            <a:off x="5146721" y="2809494"/>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시퀀스 흐름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경계 이벤트와 타이머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작업이 끝나기를 기다리는 동안 생기는 일은 테두리에 붙인 경계 이벤트로 그리고, 기간의 경과는 타이머로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경계타이머.svg" descr="illust_7277020354076804417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313111"/>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중단형</a:t>
            </a:r>
          </a:p>
          <a:p>
            <a:pPr algn="ctr" eaLnBrk="0">
              <a:lnSpc>
                <a:spcPct val="110000"/>
              </a:lnSpc>
              <a:spcAft>
                <a:spcPts val="100"/>
              </a:spcAft>
            </a:pPr>
            <a:r>
              <a:rPr sz="1300" b="0">
                <a:solidFill>
                  <a:srgbClr val="556175"/>
                </a:solidFill>
                <a:latin typeface="맑은 고딕"/>
                <a:ea typeface="맑은 고딕"/>
                <a:cs typeface="맑은 고딕"/>
              </a:rPr>
              <a:t>Interrupting · 실선 겹테두리</a:t>
            </a:r>
          </a:p>
        </p:txBody>
      </p:sp>
      <p:sp>
        <p:nvSpPr>
          <p:cNvPr id="8" name="TextBox 7"/>
          <p:cNvSpPr txBox="1"/>
          <p:nvPr/>
        </p:nvSpPr>
        <p:spPr>
          <a:xfrm>
            <a:off x="6641322" y="2313111"/>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비중단형</a:t>
            </a:r>
          </a:p>
          <a:p>
            <a:pPr algn="ctr" eaLnBrk="0">
              <a:lnSpc>
                <a:spcPct val="110000"/>
              </a:lnSpc>
              <a:spcAft>
                <a:spcPts val="100"/>
              </a:spcAft>
            </a:pPr>
            <a:r>
              <a:rPr sz="1300" b="0">
                <a:solidFill>
                  <a:srgbClr val="556175"/>
                </a:solidFill>
                <a:latin typeface="맑은 고딕"/>
                <a:ea typeface="맑은 고딕"/>
                <a:cs typeface="맑은 고딕"/>
              </a:rPr>
              <a:t>Non-interrupting · 점선 겹테두리</a:t>
            </a:r>
          </a:p>
        </p:txBody>
      </p:sp>
      <p:sp>
        <p:nvSpPr>
          <p:cNvPr id="9" name="TextBox 8"/>
          <p:cNvSpPr txBox="1"/>
          <p:nvPr/>
        </p:nvSpPr>
        <p:spPr>
          <a:xfrm>
            <a:off x="968384" y="4747747"/>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끊긴 작업</a:t>
            </a:r>
          </a:p>
        </p:txBody>
      </p:sp>
      <p:sp>
        <p:nvSpPr>
          <p:cNvPr id="10" name="TextBox 9"/>
          <p:cNvSpPr txBox="1"/>
          <p:nvPr/>
        </p:nvSpPr>
        <p:spPr>
          <a:xfrm>
            <a:off x="6423132" y="4747747"/>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계속되는 작업</a:t>
            </a:r>
          </a:p>
        </p:txBody>
      </p:sp>
      <p:sp>
        <p:nvSpPr>
          <p:cNvPr id="11" name="TextBox 10"/>
          <p:cNvSpPr txBox="1"/>
          <p:nvPr/>
        </p:nvSpPr>
        <p:spPr>
          <a:xfrm>
            <a:off x="4077591" y="5244129"/>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다른 작업</a:t>
            </a:r>
          </a:p>
        </p:txBody>
      </p:sp>
      <p:sp>
        <p:nvSpPr>
          <p:cNvPr id="12" name="TextBox 11"/>
          <p:cNvSpPr txBox="1"/>
          <p:nvPr/>
        </p:nvSpPr>
        <p:spPr>
          <a:xfrm>
            <a:off x="9532338" y="5244129"/>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추가 작업</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승인을 받는 자리의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작업에는 승인과 거절을 가르는 게이트웨이와, 응답이 늦을 때 알림 가지를 여는 비중단형 타이머가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승인자리.svg" descr="illust_4760373882725781346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714945"/>
            <a:ext cx="152732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8" name="TextBox 7"/>
          <p:cNvSpPr txBox="1"/>
          <p:nvPr/>
        </p:nvSpPr>
        <p:spPr>
          <a:xfrm>
            <a:off x="3968496" y="2809494"/>
            <a:ext cx="1418234"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운전원 승인</a:t>
            </a:r>
          </a:p>
        </p:txBody>
      </p:sp>
      <p:sp>
        <p:nvSpPr>
          <p:cNvPr id="9" name="TextBox 8"/>
          <p:cNvSpPr txBox="1"/>
          <p:nvPr/>
        </p:nvSpPr>
        <p:spPr>
          <a:xfrm>
            <a:off x="6455860" y="2135832"/>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9150506" y="2809494"/>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8114104" y="5102306"/>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12" name="TextBox 11"/>
          <p:cNvSpPr txBox="1"/>
          <p:nvPr/>
        </p:nvSpPr>
        <p:spPr>
          <a:xfrm>
            <a:off x="2659356" y="5102306"/>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13" name="TextBox 12"/>
          <p:cNvSpPr txBox="1"/>
          <p:nvPr/>
        </p:nvSpPr>
        <p:spPr>
          <a:xfrm>
            <a:off x="5441277" y="3754983"/>
            <a:ext cx="141823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지연</a:t>
            </a:r>
          </a:p>
          <a:p>
            <a:pPr algn="ctr" eaLnBrk="0">
              <a:lnSpc>
                <a:spcPct val="110000"/>
              </a:lnSpc>
              <a:spcAft>
                <a:spcPts val="100"/>
              </a:spcAft>
            </a:pPr>
            <a:r>
              <a:rPr sz="1100" b="0">
                <a:solidFill>
                  <a:srgbClr val="556175"/>
                </a:solidFill>
                <a:latin typeface="맑은 고딕"/>
                <a:ea typeface="맑은 고딕"/>
                <a:cs typeface="맑은 고딕"/>
              </a:rPr>
              <a:t>비중단형 · PT10M</a:t>
            </a:r>
          </a:p>
        </p:txBody>
      </p:sp>
      <p:sp>
        <p:nvSpPr>
          <p:cNvPr id="14" name="TextBox 13"/>
          <p:cNvSpPr txBox="1"/>
          <p:nvPr/>
        </p:nvSpPr>
        <p:spPr>
          <a:xfrm>
            <a:off x="7732271" y="2632214"/>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077702" y="4227728"/>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a:t>
            </a:r>
          </a:p>
        </p:txBody>
      </p:sp>
      <p:sp>
        <p:nvSpPr>
          <p:cNvPr id="16" name="TextBox 15"/>
          <p:cNvSpPr txBox="1"/>
          <p:nvPr/>
        </p:nvSpPr>
        <p:spPr>
          <a:xfrm>
            <a:off x="10405098" y="5598688"/>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p:txBody>
      </p:sp>
      <p:sp>
        <p:nvSpPr>
          <p:cNvPr id="17" name="TextBox 16"/>
          <p:cNvSpPr txBox="1"/>
          <p:nvPr/>
        </p:nvSpPr>
        <p:spPr>
          <a:xfrm>
            <a:off x="935656" y="5598688"/>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그림 위의 세 가지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그림에서 승인하면 끝에, 거절하면 거절 종결에 닿고, 응답이 없으면 알림 가지만 먼저 끝난다.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승인</a:t>
            </a:r>
          </a:p>
          <a:p>
            <a:pPr algn="l" eaLnBrk="0" marL="182880" indent="-182880">
              <a:lnSpc>
                <a:spcPct val="110000"/>
              </a:lnSpc>
              <a:spcAft>
                <a:spcPts val="400"/>
              </a:spcAft>
            </a:pPr>
            <a:r>
              <a:rPr sz="1600" b="0">
                <a:solidFill>
                  <a:srgbClr val="1F2A3A"/>
                </a:solidFill>
                <a:latin typeface="맑은 고딕"/>
                <a:ea typeface="맑은 고딕"/>
                <a:cs typeface="맑은 고딕"/>
              </a:rPr>
              <a:t>• 승인? 게이트웨이에서 냉각 명령으로 간다</a:t>
            </a:r>
          </a:p>
          <a:p>
            <a:pPr algn="l" eaLnBrk="0" marL="182880" indent="-182880">
              <a:lnSpc>
                <a:spcPct val="110000"/>
              </a:lnSpc>
              <a:spcAft>
                <a:spcPts val="400"/>
              </a:spcAft>
            </a:pPr>
            <a:r>
              <a:rPr sz="1600" b="0">
                <a:solidFill>
                  <a:srgbClr val="1F2A3A"/>
                </a:solidFill>
                <a:latin typeface="맑은 고딕"/>
                <a:ea typeface="맑은 고딕"/>
                <a:cs typeface="맑은 고딕"/>
              </a:rPr>
              <a:t>• 재관측과 유온 정상? 게이트웨이를 지난다</a:t>
            </a:r>
          </a:p>
          <a:p>
            <a:pPr algn="l" eaLnBrk="0" marL="182880" indent="-182880">
              <a:lnSpc>
                <a:spcPct val="110000"/>
              </a:lnSpc>
              <a:spcAft>
                <a:spcPts val="400"/>
              </a:spcAft>
            </a:pPr>
            <a:r>
              <a:rPr sz="1600" b="0">
                <a:solidFill>
                  <a:srgbClr val="1F2A3A"/>
                </a:solidFill>
                <a:latin typeface="맑은 고딕"/>
                <a:ea typeface="맑은 고딕"/>
                <a:cs typeface="맑은 고딕"/>
              </a:rPr>
              <a:t>• 작업지시 등록, 결과 보고: 정상을 거친다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끝</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거절</a:t>
            </a:r>
          </a:p>
          <a:p>
            <a:pPr algn="l" eaLnBrk="0" marL="182880" indent="-182880">
              <a:lnSpc>
                <a:spcPct val="110000"/>
              </a:lnSpc>
              <a:spcAft>
                <a:spcPts val="400"/>
              </a:spcAft>
            </a:pPr>
            <a:r>
              <a:rPr sz="1600" b="0">
                <a:solidFill>
                  <a:srgbClr val="1F2A3A"/>
                </a:solidFill>
                <a:latin typeface="맑은 고딕"/>
                <a:ea typeface="맑은 고딕"/>
                <a:cs typeface="맑은 고딕"/>
              </a:rPr>
              <a:t>• 승인? 게이트웨이에서 결과 보고: 거절로 간다</a:t>
            </a:r>
          </a:p>
          <a:p>
            <a:pPr algn="l" eaLnBrk="0" marL="182880" indent="-182880">
              <a:lnSpc>
                <a:spcPct val="110000"/>
              </a:lnSpc>
              <a:spcAft>
                <a:spcPts val="400"/>
              </a:spcAft>
            </a:pPr>
            <a:r>
              <a:rPr sz="1600" b="0">
                <a:solidFill>
                  <a:srgbClr val="1F2A3A"/>
                </a:solidFill>
                <a:latin typeface="맑은 고딕"/>
                <a:ea typeface="맑은 고딕"/>
                <a:cs typeface="맑은 고딕"/>
              </a:rPr>
              <a:t>• 냉각 명령으로 가는 선은 지나지 않는다</a:t>
            </a:r>
          </a:p>
        </p:txBody>
      </p:sp>
      <p:sp>
        <p:nvSpPr>
          <p:cNvPr id="16" name="Rounded Rectangle 15"/>
          <p:cNvSpPr/>
          <p:nvPr/>
        </p:nvSpPr>
        <p:spPr>
          <a:xfrm>
            <a:off x="4566818"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거절 종결</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응답 없음</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지연 타이머가 승인 지연 알림을 연다</a:t>
            </a:r>
          </a:p>
          <a:p>
            <a:pPr algn="l" eaLnBrk="0" marL="182880" indent="-182880">
              <a:lnSpc>
                <a:spcPct val="110000"/>
              </a:lnSpc>
              <a:spcAft>
                <a:spcPts val="400"/>
              </a:spcAft>
            </a:pPr>
            <a:r>
              <a:rPr sz="1600" b="0">
                <a:solidFill>
                  <a:srgbClr val="1F2A3A"/>
                </a:solidFill>
                <a:latin typeface="맑은 고딕"/>
                <a:ea typeface="맑은 고딕"/>
                <a:cs typeface="맑은 고딕"/>
              </a:rPr>
              <a:t>• 운전원 승인은 열린 채로 남는다</a:t>
            </a:r>
          </a:p>
        </p:txBody>
      </p:sp>
      <p:sp>
        <p:nvSpPr>
          <p:cNvPr id="22" name="Rounded Rectangle 21"/>
          <p:cNvSpPr/>
          <p:nvPr/>
        </p:nvSpPr>
        <p:spPr>
          <a:xfrm>
            <a:off x="8356396"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알림</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병렬 게이트웨이와 하위 프로세스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프로세스가 커지면 여러 작업을 함께 여는 병렬 게이트웨이와 흐름을 작업 하나로 접는 하위 프로세스가 필요해진다.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병렬과하위.svg" descr="illust_1469183878306156749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2313111"/>
            <a:ext cx="501836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병렬 게이트웨이</a:t>
            </a:r>
          </a:p>
          <a:p>
            <a:pPr algn="ctr" eaLnBrk="0">
              <a:lnSpc>
                <a:spcPct val="110000"/>
              </a:lnSpc>
              <a:spcAft>
                <a:spcPts val="100"/>
              </a:spcAft>
            </a:pPr>
            <a:r>
              <a:rPr sz="1300" b="0">
                <a:solidFill>
                  <a:srgbClr val="556175"/>
                </a:solidFill>
                <a:latin typeface="맑은 고딕"/>
                <a:ea typeface="맑은 고딕"/>
                <a:cs typeface="맑은 고딕"/>
              </a:rPr>
              <a:t>Parallel Gateway</a:t>
            </a:r>
          </a:p>
        </p:txBody>
      </p:sp>
      <p:sp>
        <p:nvSpPr>
          <p:cNvPr id="8" name="TextBox 7"/>
          <p:cNvSpPr txBox="1"/>
          <p:nvPr/>
        </p:nvSpPr>
        <p:spPr>
          <a:xfrm>
            <a:off x="6641322" y="2313111"/>
            <a:ext cx="45819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하위 프로세스</a:t>
            </a:r>
          </a:p>
          <a:p>
            <a:pPr algn="ctr" eaLnBrk="0">
              <a:lnSpc>
                <a:spcPct val="110000"/>
              </a:lnSpc>
              <a:spcAft>
                <a:spcPts val="100"/>
              </a:spcAft>
            </a:pPr>
            <a:r>
              <a:rPr sz="1300" b="0">
                <a:solidFill>
                  <a:srgbClr val="556175"/>
                </a:solidFill>
                <a:latin typeface="맑은 고딕"/>
                <a:ea typeface="맑은 고딕"/>
                <a:cs typeface="맑은 고딕"/>
              </a:rPr>
              <a:t>Sub-Process</a:t>
            </a:r>
          </a:p>
        </p:txBody>
      </p:sp>
      <p:sp>
        <p:nvSpPr>
          <p:cNvPr id="9" name="TextBox 8"/>
          <p:cNvSpPr txBox="1"/>
          <p:nvPr/>
        </p:nvSpPr>
        <p:spPr>
          <a:xfrm>
            <a:off x="4650339" y="4546831"/>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합류</a:t>
            </a:r>
          </a:p>
        </p:txBody>
      </p:sp>
      <p:sp>
        <p:nvSpPr>
          <p:cNvPr id="10" name="TextBox 9"/>
          <p:cNvSpPr txBox="1"/>
          <p:nvPr/>
        </p:nvSpPr>
        <p:spPr>
          <a:xfrm>
            <a:off x="9259601" y="3329513"/>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접힌 모양</a:t>
            </a:r>
          </a:p>
        </p:txBody>
      </p:sp>
      <p:sp>
        <p:nvSpPr>
          <p:cNvPr id="11" name="TextBox 10"/>
          <p:cNvSpPr txBox="1"/>
          <p:nvPr/>
        </p:nvSpPr>
        <p:spPr>
          <a:xfrm>
            <a:off x="8059556" y="4416826"/>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펼친 모양</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 엔진과</a:t>
            </a:r>
          </a:p>
          <a:p>
            <a:pPr algn="l" eaLnBrk="0">
              <a:lnSpc>
                <a:spcPct val="110000"/>
              </a:lnSpc>
            </a:pPr>
            <a:r>
              <a:rPr sz="3400" b="1">
                <a:solidFill>
                  <a:srgbClr val="13294B"/>
                </a:solidFill>
                <a:latin typeface="맑은 고딕"/>
                <a:ea typeface="맑은 고딕"/>
                <a:cs typeface="맑은 고딕"/>
              </a:rPr>
              <a:t>처리 건의 진행</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그림을 읽어 작업을 차례로 여는 실행 주체와, 처리 건이 지금 어디에 있는지</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그림만으로는 일어나지 않는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BPMN 그림은 설계도여서, 그림대로 다음 작업을 열고 결과를 넘기고 진행 위치를 기억하는 실행 주체가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다음 작업 열기</a:t>
            </a:r>
          </a:p>
          <a:p>
            <a:pPr algn="l" eaLnBrk="0">
              <a:lnSpc>
                <a:spcPct val="110000"/>
              </a:lnSpc>
              <a:spcAft>
                <a:spcPts val="400"/>
              </a:spcAft>
            </a:pPr>
            <a:r>
              <a:rPr sz="1800" b="0">
                <a:solidFill>
                  <a:srgbClr val="1F2A3A"/>
                </a:solidFill>
                <a:latin typeface="맑은 고딕"/>
                <a:ea typeface="맑은 고딕"/>
                <a:cs typeface="맑은 고딕"/>
              </a:rPr>
              <a:t>에이전트의 제출이 끝나면 운전원에게 승인 작업을 놓는다</a:t>
            </a:r>
          </a:p>
        </p:txBody>
      </p:sp>
      <p:sp>
        <p:nvSpPr>
          <p:cNvPr id="10" name="Rounded Rectangle 9"/>
          <p:cNvSpPr/>
          <p:nvPr/>
        </p:nvSpPr>
        <p:spPr>
          <a:xfrm>
            <a:off x="777240" y="511962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arrows-right-left" descr="arrows-right-left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결과 넘기기</a:t>
            </a:r>
          </a:p>
          <a:p>
            <a:pPr algn="l" eaLnBrk="0">
              <a:lnSpc>
                <a:spcPct val="110000"/>
              </a:lnSpc>
              <a:spcAft>
                <a:spcPts val="400"/>
              </a:spcAft>
            </a:pPr>
            <a:r>
              <a:rPr sz="1800" b="0">
                <a:solidFill>
                  <a:srgbClr val="1F2A3A"/>
                </a:solidFill>
                <a:latin typeface="맑은 고딕"/>
                <a:ea typeface="맑은 고딕"/>
                <a:cs typeface="맑은 고딕"/>
              </a:rPr>
              <a:t>승인의 결과를 게이트웨이에, 재관측의 판정을 다음 갈림에 전한다</a:t>
            </a:r>
          </a:p>
        </p:txBody>
      </p:sp>
      <p:sp>
        <p:nvSpPr>
          <p:cNvPr id="16" name="Rounded Rectangle 15"/>
          <p:cNvSpPr/>
          <p:nvPr/>
        </p:nvSpPr>
        <p:spPr>
          <a:xfrm>
            <a:off x="4566818" y="511962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데이터</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위치 기억하기</a:t>
            </a:r>
          </a:p>
          <a:p>
            <a:pPr algn="l" eaLnBrk="0">
              <a:lnSpc>
                <a:spcPct val="110000"/>
              </a:lnSpc>
              <a:spcAft>
                <a:spcPts val="400"/>
              </a:spcAft>
            </a:pPr>
            <a:r>
              <a:rPr sz="1800" b="0">
                <a:solidFill>
                  <a:srgbClr val="1F2A3A"/>
                </a:solidFill>
                <a:latin typeface="맑은 고딕"/>
                <a:ea typeface="맑은 고딕"/>
                <a:cs typeface="맑은 고딕"/>
              </a:rPr>
              <a:t>승인을 기다리는 동안 어디까지 왔는지를 잊지 않는다</a:t>
            </a:r>
          </a:p>
        </p:txBody>
      </p:sp>
      <p:sp>
        <p:nvSpPr>
          <p:cNvPr id="22" name="Rounded Rectangle 21"/>
          <p:cNvSpPr/>
          <p:nvPr/>
        </p:nvSpPr>
        <p:spPr>
          <a:xfrm>
            <a:off x="8356396" y="511962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상태</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엔진과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 엔진이 정의를 읽어 작업을 차례로 열며, 한 주체가 전체 순서를 이끄는 이 방식이 오케스트레이션이다.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프로세스 엔진</a:t>
            </a:r>
          </a:p>
          <a:p>
            <a:pPr algn="l" eaLnBrk="0">
              <a:lnSpc>
                <a:spcPct val="110000"/>
              </a:lnSpc>
              <a:spcAft>
                <a:spcPts val="200"/>
              </a:spcAft>
            </a:pPr>
            <a:r>
              <a:rPr sz="1150" b="0">
                <a:solidFill>
                  <a:srgbClr val="556175"/>
                </a:solidFill>
                <a:latin typeface="맑은 고딕"/>
                <a:ea typeface="맑은 고딕"/>
                <a:cs typeface="맑은 고딕"/>
              </a:rPr>
              <a:t>Process Engine</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프로세스의 정의를 읽어 그대로 실행하는 소프트웨어이다.</a:t>
            </a:r>
          </a:p>
          <a:p>
            <a:pPr algn="l" eaLnBrk="0">
              <a:lnSpc>
                <a:spcPct val="110000"/>
              </a:lnSpc>
              <a:spcAft>
                <a:spcPts val="300"/>
              </a:spcAft>
            </a:pPr>
            <a:r>
              <a:rPr sz="1400" b="0">
                <a:solidFill>
                  <a:srgbClr val="1F2A3A"/>
                </a:solidFill>
                <a:latin typeface="맑은 고딕"/>
                <a:ea typeface="맑은 고딕"/>
                <a:cs typeface="맑은 고딕"/>
              </a:rPr>
              <a:t>HYD에서는 경보로 열린 처리 건을 이 엔진이 끝까지 진행시킨다.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Rounded Rectangle 9"/>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1" name="TextBox 10"/>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오케스트레이션</a:t>
            </a:r>
          </a:p>
          <a:p>
            <a:pPr algn="l" eaLnBrk="0">
              <a:lnSpc>
                <a:spcPct val="110000"/>
              </a:lnSpc>
              <a:spcAft>
                <a:spcPts val="200"/>
              </a:spcAft>
            </a:pPr>
            <a:r>
              <a:rPr sz="1150" b="0">
                <a:solidFill>
                  <a:srgbClr val="556175"/>
                </a:solidFill>
                <a:latin typeface="맑은 고딕"/>
                <a:ea typeface="맑은 고딕"/>
                <a:cs typeface="맑은 고딕"/>
              </a:rPr>
              <a:t>Orchestration</a:t>
            </a:r>
          </a:p>
        </p:txBody>
      </p:sp>
      <p:sp>
        <p:nvSpPr>
          <p:cNvPr id="12" name="TextBox 11"/>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중앙의 조정자가 작업의 순서와 호출을 이끄는 방식이다.</a:t>
            </a:r>
          </a:p>
          <a:p>
            <a:pPr algn="l" eaLnBrk="0">
              <a:lnSpc>
                <a:spcPct val="110000"/>
              </a:lnSpc>
              <a:spcAft>
                <a:spcPts val="300"/>
              </a:spcAft>
            </a:pPr>
            <a:r>
              <a:rPr sz="1400" b="0">
                <a:solidFill>
                  <a:srgbClr val="1F2A3A"/>
                </a:solidFill>
                <a:latin typeface="맑은 고딕"/>
                <a:ea typeface="맑은 고딕"/>
                <a:cs typeface="맑은 고딕"/>
              </a:rPr>
              <a:t>사람, 에이전트, 시스템은 자기 작업만 하고 다음 차례는 엔진이 정한다.</a:t>
            </a:r>
          </a:p>
        </p:txBody>
      </p:sp>
      <p:sp>
        <p:nvSpPr>
          <p:cNvPr id="13" name="Rectangle 12"/>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비유: 오케스트라의 지휘자</a:t>
            </a:r>
          </a:p>
          <a:p>
            <a:pPr algn="l" eaLnBrk="0">
              <a:lnSpc>
                <a:spcPct val="110000"/>
              </a:lnSpc>
              <a:spcAft>
                <a:spcPts val="200"/>
              </a:spcAft>
            </a:pPr>
            <a:r>
              <a:rPr sz="1150" b="0">
                <a:solidFill>
                  <a:srgbClr val="556175"/>
                </a:solidFill>
                <a:latin typeface="맑은 고딕"/>
                <a:ea typeface="맑은 고딕"/>
                <a:cs typeface="맑은 고딕"/>
              </a:rPr>
              <a:t>비유</a:t>
            </a:r>
          </a:p>
        </p:txBody>
      </p:sp>
      <p:sp>
        <p:nvSpPr>
          <p:cNvPr id="15" name="TextBox 14"/>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닮은 점: 연주자는 자기 악기만 맡고 들어올 차례는 지휘자가 알린다.</a:t>
            </a:r>
          </a:p>
          <a:p>
            <a:pPr algn="l" eaLnBrk="0">
              <a:lnSpc>
                <a:spcPct val="110000"/>
              </a:lnSpc>
              <a:spcAft>
                <a:spcPts val="300"/>
              </a:spcAft>
            </a:pPr>
            <a:r>
              <a:rPr sz="1400" b="0">
                <a:solidFill>
                  <a:srgbClr val="1F2A3A"/>
                </a:solidFill>
                <a:latin typeface="맑은 고딕"/>
                <a:ea typeface="맑은 고딕"/>
                <a:cs typeface="맑은 고딕"/>
              </a:rPr>
              <a:t>다른 점: 엔진은 작업의 결과를 받아 다음 작업에 넘기고 기록한다.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정의와 프로세스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 정의는 설계도 하나이고, 경보가 올 때마다 그 정의에서 프로세스 인스턴스가 하나씩 만들어져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정의와인스턴스.svg" descr="illust_3459176815364840362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46565" y="1982190"/>
            <a:ext cx="392741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정의</a:t>
            </a:r>
          </a:p>
          <a:p>
            <a:pPr algn="ctr" eaLnBrk="0">
              <a:lnSpc>
                <a:spcPct val="110000"/>
              </a:lnSpc>
              <a:spcAft>
                <a:spcPts val="100"/>
              </a:spcAft>
            </a:pPr>
            <a:r>
              <a:rPr sz="1300" b="0">
                <a:solidFill>
                  <a:srgbClr val="556175"/>
                </a:solidFill>
                <a:latin typeface="맑은 고딕"/>
                <a:ea typeface="맑은 고딕"/>
                <a:cs typeface="맑은 고딕"/>
              </a:rPr>
              <a:t>Process Definition · 설계도 하나</a:t>
            </a:r>
          </a:p>
        </p:txBody>
      </p:sp>
      <p:sp>
        <p:nvSpPr>
          <p:cNvPr id="8" name="TextBox 7"/>
          <p:cNvSpPr txBox="1"/>
          <p:nvPr/>
        </p:nvSpPr>
        <p:spPr>
          <a:xfrm>
            <a:off x="1273850" y="4653198"/>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c3_cooling</a:t>
            </a:r>
          </a:p>
          <a:p>
            <a:pPr algn="ctr" eaLnBrk="0">
              <a:lnSpc>
                <a:spcPct val="110000"/>
              </a:lnSpc>
              <a:spcAft>
                <a:spcPts val="100"/>
              </a:spcAft>
            </a:pPr>
            <a:r>
              <a:rPr sz="1300" b="0">
                <a:solidFill>
                  <a:srgbClr val="556175"/>
                </a:solidFill>
                <a:latin typeface="맑은 고딕"/>
                <a:ea typeface="맑은 고딕"/>
                <a:cs typeface="맑은 고딕"/>
              </a:rPr>
              <a:t>긴급 대응 프로세스의 정의</a:t>
            </a:r>
          </a:p>
        </p:txBody>
      </p:sp>
      <p:sp>
        <p:nvSpPr>
          <p:cNvPr id="9" name="TextBox 8"/>
          <p:cNvSpPr txBox="1"/>
          <p:nvPr/>
        </p:nvSpPr>
        <p:spPr>
          <a:xfrm>
            <a:off x="6859512" y="1627632"/>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인스턴스</a:t>
            </a:r>
          </a:p>
          <a:p>
            <a:pPr algn="ctr" eaLnBrk="0">
              <a:lnSpc>
                <a:spcPct val="110000"/>
              </a:lnSpc>
              <a:spcAft>
                <a:spcPts val="100"/>
              </a:spcAft>
            </a:pPr>
            <a:r>
              <a:rPr sz="1300" b="0">
                <a:solidFill>
                  <a:srgbClr val="556175"/>
                </a:solidFill>
                <a:latin typeface="맑은 고딕"/>
                <a:ea typeface="맑은 고딕"/>
                <a:cs typeface="맑은 고딕"/>
              </a:rPr>
              <a:t>Process Instance · 실행되는 한 건</a:t>
            </a:r>
          </a:p>
        </p:txBody>
      </p:sp>
      <p:sp>
        <p:nvSpPr>
          <p:cNvPr id="10" name="TextBox 9"/>
          <p:cNvSpPr txBox="1"/>
          <p:nvPr/>
        </p:nvSpPr>
        <p:spPr>
          <a:xfrm>
            <a:off x="6968607" y="2407660"/>
            <a:ext cx="370922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건 4f93a9d0… 쿨러 사건</a:t>
            </a:r>
          </a:p>
        </p:txBody>
      </p:sp>
      <p:sp>
        <p:nvSpPr>
          <p:cNvPr id="11" name="TextBox 10"/>
          <p:cNvSpPr txBox="1"/>
          <p:nvPr/>
        </p:nvSpPr>
        <p:spPr>
          <a:xfrm>
            <a:off x="6968607" y="3792803"/>
            <a:ext cx="370922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건 94a9231b… 거절로 끝남</a:t>
            </a:r>
          </a:p>
        </p:txBody>
      </p:sp>
      <p:sp>
        <p:nvSpPr>
          <p:cNvPr id="12" name="TextBox 11"/>
          <p:cNvSpPr txBox="1"/>
          <p:nvPr/>
        </p:nvSpPr>
        <p:spPr>
          <a:xfrm>
            <a:off x="6750417" y="5173218"/>
            <a:ext cx="414560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건 bede0d2e… 승인 대기 중</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토큰: 프로세스의 현재 위치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토큰은 프로세스의 현재 위치를 나타내는 표식으로, 시작 이벤트에서 생겨 끝 이벤트에서 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흐름_토큰_승인대기.svg" descr="illust_2002367658766606530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41322" y="1769455"/>
            <a:ext cx="436379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토큰</a:t>
            </a:r>
          </a:p>
          <a:p>
            <a:pPr algn="ctr" eaLnBrk="0">
              <a:lnSpc>
                <a:spcPct val="110000"/>
              </a:lnSpc>
              <a:spcAft>
                <a:spcPts val="100"/>
              </a:spcAft>
            </a:pPr>
            <a:r>
              <a:rPr sz="1100" b="0">
                <a:solidFill>
                  <a:srgbClr val="556175"/>
                </a:solidFill>
                <a:latin typeface="맑은 고딕"/>
                <a:ea typeface="맑은 고딕"/>
                <a:cs typeface="맑은 고딕"/>
              </a:rPr>
              <a:t>Token · 프로세스의 현재 위치</a:t>
            </a:r>
          </a:p>
        </p:txBody>
      </p:sp>
      <p:sp>
        <p:nvSpPr>
          <p:cNvPr id="8" name="TextBox 7"/>
          <p:cNvSpPr txBox="1"/>
          <p:nvPr/>
        </p:nvSpPr>
        <p:spPr>
          <a:xfrm>
            <a:off x="3564844" y="2027101"/>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9" name="TextBox 8"/>
          <p:cNvSpPr txBox="1"/>
          <p:nvPr/>
        </p:nvSpPr>
        <p:spPr>
          <a:xfrm>
            <a:off x="2282979" y="2870950"/>
            <a:ext cx="1352777"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0" name="TextBox 9"/>
          <p:cNvSpPr txBox="1"/>
          <p:nvPr/>
        </p:nvSpPr>
        <p:spPr>
          <a:xfrm>
            <a:off x="1546588" y="3424062"/>
            <a:ext cx="87275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시작 이벤트</a:t>
            </a:r>
          </a:p>
        </p:txBody>
      </p:sp>
      <p:sp>
        <p:nvSpPr>
          <p:cNvPr id="11" name="TextBox 10"/>
          <p:cNvSpPr txBox="1"/>
          <p:nvPr/>
        </p:nvSpPr>
        <p:spPr>
          <a:xfrm>
            <a:off x="10350550" y="3376787"/>
            <a:ext cx="98185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 이벤트</a:t>
            </a:r>
          </a:p>
        </p:txBody>
      </p:sp>
      <p:sp>
        <p:nvSpPr>
          <p:cNvPr id="12" name="TextBox 11"/>
          <p:cNvSpPr txBox="1"/>
          <p:nvPr/>
        </p:nvSpPr>
        <p:spPr>
          <a:xfrm>
            <a:off x="4666703" y="4199363"/>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3" name="TextBox 12"/>
          <p:cNvSpPr txBox="1"/>
          <p:nvPr/>
        </p:nvSpPr>
        <p:spPr>
          <a:xfrm>
            <a:off x="6194033"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4" name="TextBox 13"/>
          <p:cNvSpPr txBox="1"/>
          <p:nvPr/>
        </p:nvSpPr>
        <p:spPr>
          <a:xfrm>
            <a:off x="8397751" y="4081177"/>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5" name="TextBox 14"/>
          <p:cNvSpPr txBox="1"/>
          <p:nvPr/>
        </p:nvSpPr>
        <p:spPr>
          <a:xfrm>
            <a:off x="9717799" y="4081177"/>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정상</a:t>
            </a:r>
          </a:p>
        </p:txBody>
      </p:sp>
      <p:sp>
        <p:nvSpPr>
          <p:cNvPr id="16" name="TextBox 15"/>
          <p:cNvSpPr txBox="1"/>
          <p:nvPr/>
        </p:nvSpPr>
        <p:spPr>
          <a:xfrm>
            <a:off x="7284982"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미달</a:t>
            </a:r>
          </a:p>
        </p:txBody>
      </p:sp>
      <p:sp>
        <p:nvSpPr>
          <p:cNvPr id="17" name="TextBox 16"/>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18" name="TextBox 17"/>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대기: 토큰이 사용자 작업에 머문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대기는 멈춤이나 오류가 아니라, 토큰이 사용자 작업에 머물러 사람의 결정을 기다리는 정상적인 실행 상태이다.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"status": "RUNNING",</a:t>
            </a:r>
          </a:p>
          <a:p>
            <a:pPr algn="l" eaLnBrk="0">
              <a:lnSpc>
                <a:spcPct val="110000"/>
              </a:lnSpc>
              <a:spcAft>
                <a:spcPts val="200"/>
              </a:spcAft>
            </a:pPr>
            <a:r>
              <a:rPr sz="1300" b="0">
                <a:solidFill>
                  <a:srgbClr val="E8EEF6"/>
                </a:solidFill>
                <a:latin typeface="Consolas"/>
                <a:ea typeface="맑은 고딕"/>
                <a:cs typeface="맑은 고딕"/>
              </a:rPr>
              <a:t>"current_activity_ids": ["T_approve"]</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T_agent     DONE</a:t>
            </a:r>
          </a:p>
          <a:p>
            <a:pPr algn="l" eaLnBrk="0">
              <a:lnSpc>
                <a:spcPct val="110000"/>
              </a:lnSpc>
              <a:spcAft>
                <a:spcPts val="200"/>
              </a:spcAft>
            </a:pPr>
            <a:r>
              <a:rPr sz="1300" b="0">
                <a:solidFill>
                  <a:srgbClr val="E8EEF6"/>
                </a:solidFill>
                <a:latin typeface="Consolas"/>
                <a:ea typeface="맑은 고딕"/>
                <a:cs typeface="맑은 고딕"/>
              </a:rPr>
              <a:t>T_approve   IN_PROGRESS</a:t>
            </a:r>
          </a:p>
          <a:p>
            <a:pPr algn="l" eaLnBrk="0">
              <a:lnSpc>
                <a:spcPct val="110000"/>
              </a:lnSpc>
              <a:spcAft>
                <a:spcPts val="200"/>
              </a:spcAft>
            </a:pPr>
            <a:r>
              <a:rPr sz="1300" b="0">
                <a:solidFill>
                  <a:srgbClr val="E8EEF6"/>
                </a:solidFill>
                <a:latin typeface="Consolas"/>
                <a:ea typeface="맑은 고딕"/>
                <a:cs typeface="맑은 고딕"/>
              </a:rPr>
              <a:t>T_cmd       TODO</a:t>
            </a:r>
          </a:p>
          <a:p>
            <a:pPr algn="l" eaLnBrk="0">
              <a:lnSpc>
                <a:spcPct val="110000"/>
              </a:lnSpc>
              <a:spcAft>
                <a:spcPts val="200"/>
              </a:spcAft>
            </a:pPr>
            <a:r>
              <a:rPr sz="1300" b="0">
                <a:solidFill>
                  <a:srgbClr val="E8EEF6"/>
                </a:solidFill>
                <a:latin typeface="Consolas"/>
                <a:ea typeface="맑은 고딕"/>
                <a:cs typeface="맑은 고딕"/>
              </a:rPr>
              <a:t>T_reobs     TODO</a:t>
            </a:r>
          </a:p>
          <a:p>
            <a:pPr algn="l" eaLnBrk="0">
              <a:lnSpc>
                <a:spcPct val="110000"/>
              </a:lnSpc>
              <a:spcAft>
                <a:spcPts val="200"/>
              </a:spcAft>
            </a:pPr>
            <a:r>
              <a:rPr sz="1300" b="0">
                <a:solidFill>
                  <a:srgbClr val="E8EEF6"/>
                </a:solidFill>
                <a:latin typeface="Consolas"/>
                <a:ea typeface="맑은 고딕"/>
                <a:cs typeface="맑은 고딕"/>
              </a:rPr>
              <a:t>T_wo        TODO</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처리 건의 상태</a:t>
            </a:r>
          </a:p>
          <a:p>
            <a:pPr algn="l" eaLnBrk="0">
              <a:lnSpc>
                <a:spcPct val="110000"/>
              </a:lnSpc>
              <a:spcAft>
                <a:spcPts val="400"/>
              </a:spcAft>
            </a:pPr>
            <a:r>
              <a:rPr sz="1400" b="0">
                <a:solidFill>
                  <a:srgbClr val="1F2A3A"/>
                </a:solidFill>
                <a:latin typeface="맑은 고딕"/>
                <a:ea typeface="맑은 고딕"/>
                <a:cs typeface="맑은 고딕"/>
              </a:rPr>
              <a:t>끝나지 않았으므로</a:t>
            </a:r>
          </a:p>
          <a:p>
            <a:pPr algn="l" eaLnBrk="0">
              <a:lnSpc>
                <a:spcPct val="110000"/>
              </a:lnSpc>
              <a:spcAft>
                <a:spcPts val="400"/>
              </a:spcAft>
            </a:pPr>
            <a:r>
              <a:rPr sz="1400" b="0">
                <a:solidFill>
                  <a:srgbClr val="1F2A3A"/>
                </a:solidFill>
                <a:latin typeface="맑은 고딕"/>
                <a:ea typeface="맑은 고딕"/>
                <a:cs typeface="맑은 고딕"/>
              </a:rPr>
              <a:t>RUNNING이다.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열려 있는 단계</a:t>
            </a:r>
          </a:p>
          <a:p>
            <a:pPr algn="l" eaLnBrk="0">
              <a:lnSpc>
                <a:spcPct val="110000"/>
              </a:lnSpc>
              <a:spcAft>
                <a:spcPts val="400"/>
              </a:spcAft>
            </a:pPr>
            <a:r>
              <a:rPr sz="1400" b="0">
                <a:solidFill>
                  <a:srgbClr val="1F2A3A"/>
                </a:solidFill>
                <a:latin typeface="맑은 고딕"/>
                <a:ea typeface="맑은 고딕"/>
                <a:cs typeface="맑은 고딕"/>
              </a:rPr>
              <a:t>토큰이 있는 곳이</a:t>
            </a:r>
          </a:p>
          <a:p>
            <a:pPr algn="l" eaLnBrk="0">
              <a:lnSpc>
                <a:spcPct val="110000"/>
              </a:lnSpc>
              <a:spcAft>
                <a:spcPts val="400"/>
              </a:spcAft>
            </a:pPr>
            <a:r>
              <a:rPr sz="1400" b="0">
                <a:solidFill>
                  <a:srgbClr val="1F2A3A"/>
                </a:solidFill>
                <a:latin typeface="맑은 고딕"/>
                <a:ea typeface="맑은 고딕"/>
                <a:cs typeface="맑은 고딕"/>
              </a:rPr>
              <a:t>T_approve, 운전원 승인이다.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단계</a:t>
            </a:r>
          </a:p>
          <a:p>
            <a:pPr algn="l" eaLnBrk="0">
              <a:lnSpc>
                <a:spcPct val="110000"/>
              </a:lnSpc>
              <a:spcAft>
                <a:spcPts val="400"/>
              </a:spcAft>
            </a:pPr>
            <a:r>
              <a:rPr sz="1400" b="0">
                <a:solidFill>
                  <a:srgbClr val="1F2A3A"/>
                </a:solidFill>
                <a:latin typeface="맑은 고딕"/>
                <a:ea typeface="맑은 고딕"/>
                <a:cs typeface="맑은 고딕"/>
              </a:rPr>
              <a:t>그림의 작업 하나가</a:t>
            </a:r>
          </a:p>
          <a:p>
            <a:pPr algn="l" eaLnBrk="0">
              <a:lnSpc>
                <a:spcPct val="110000"/>
              </a:lnSpc>
              <a:spcAft>
                <a:spcPts val="400"/>
              </a:spcAft>
            </a:pPr>
            <a:r>
              <a:rPr sz="1400" b="0">
                <a:solidFill>
                  <a:srgbClr val="1F2A3A"/>
                </a:solidFill>
                <a:latin typeface="맑은 고딕"/>
                <a:ea typeface="맑은 고딕"/>
                <a:cs typeface="맑은 고딕"/>
              </a:rPr>
              <a:t>처리 건마다 단계 하나가 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토큰이 둘이 되는 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비중단형 타이머가 발생하면 토큰이 하나 더 생겨 알림 가지를 지나고, 처음의 토큰은 승인 작업에 남아 계속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삽화:흐름_토큰_둘.svg" descr="illust_3809221575621479823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564844" y="2027101"/>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8" name="TextBox 7"/>
          <p:cNvSpPr txBox="1"/>
          <p:nvPr/>
        </p:nvSpPr>
        <p:spPr>
          <a:xfrm>
            <a:off x="3913948" y="4977028"/>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9" name="TextBox 8"/>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0" name="TextBox 9"/>
          <p:cNvSpPr txBox="1"/>
          <p:nvPr/>
        </p:nvSpPr>
        <p:spPr>
          <a:xfrm>
            <a:off x="6750417" y="1769455"/>
            <a:ext cx="4145608"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처음의 토큰</a:t>
            </a:r>
          </a:p>
        </p:txBody>
      </p:sp>
      <p:sp>
        <p:nvSpPr>
          <p:cNvPr id="11" name="TextBox 10"/>
          <p:cNvSpPr txBox="1"/>
          <p:nvPr/>
        </p:nvSpPr>
        <p:spPr>
          <a:xfrm>
            <a:off x="1677502" y="4842296"/>
            <a:ext cx="1854614"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둘째 토큰</a:t>
            </a:r>
          </a:p>
        </p:txBody>
      </p:sp>
      <p:sp>
        <p:nvSpPr>
          <p:cNvPr id="12" name="TextBox 11"/>
          <p:cNvSpPr txBox="1"/>
          <p:nvPr/>
        </p:nvSpPr>
        <p:spPr>
          <a:xfrm>
            <a:off x="2282979" y="2870950"/>
            <a:ext cx="1352777"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3" name="TextBox 12"/>
          <p:cNvSpPr txBox="1"/>
          <p:nvPr/>
        </p:nvSpPr>
        <p:spPr>
          <a:xfrm>
            <a:off x="4666703" y="4199363"/>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 변수와</a:t>
            </a:r>
          </a:p>
          <a:p>
            <a:pPr algn="l" eaLnBrk="0">
              <a:lnSpc>
                <a:spcPct val="110000"/>
              </a:lnSpc>
            </a:pPr>
            <a:r>
              <a:rPr sz="3400" b="1">
                <a:solidFill>
                  <a:srgbClr val="13294B"/>
                </a:solidFill>
                <a:latin typeface="맑은 고딕"/>
                <a:ea typeface="맑은 고딕"/>
                <a:cs typeface="맑은 고딕"/>
              </a:rPr>
              <a:t>에이전트 단계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작업의 결과가 다음 작업으로 전해지는 길과, 에이전트 단계가 맡는 범위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변수(Process Variable)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 변수는 인스턴스가 지니는 이름 붙은 값으로, 앞 작업의 출력이 뒤 작업의 입력과 갈림의 조건이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만드는 단계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사건에서</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cause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 진단 · 냉각 조치 제안</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핀 오염</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승인</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00" b="1">
                <a:solidFill>
                  <a:srgbClr val="1A6FC4"/>
                </a:solidFill>
                <a:latin typeface="맑은 고딕"/>
                <a:ea typeface="맑은 고딕"/>
                <a:cs typeface="맑은 고딕"/>
              </a:rPr>
              <a:t>승인</a:t>
            </a:r>
          </a:p>
          <a:p>
            <a:pPr algn="l" eaLnBrk="0">
              <a:lnSpc>
                <a:spcPct val="110000"/>
              </a:lnSpc>
            </a:pPr>
            <a:r>
              <a:rPr sz="1200" b="1">
                <a:solidFill>
                  <a:srgbClr val="1A6FC4"/>
                </a:solidFill>
                <a:latin typeface="맑은 고딕"/>
                <a:ea typeface="맑은 고딕"/>
                <a:cs typeface="맑은 고딕"/>
              </a:rPr>
              <a:t>승인? 게이트웨이가 읽는다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chosen_skill</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승인</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recovered</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재관측</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회복</a:t>
            </a:r>
          </a:p>
          <a:p>
            <a:pPr algn="l" eaLnBrk="0">
              <a:lnSpc>
                <a:spcPct val="110000"/>
              </a:lnSpc>
            </a:pPr>
            <a:r>
              <a:rPr sz="1250" b="1">
                <a:solidFill>
                  <a:srgbClr val="1A6FC4"/>
                </a:solidFill>
                <a:latin typeface="맑은 고딕"/>
                <a:ea typeface="맑은 고딕"/>
                <a:cs typeface="맑은 고딕"/>
              </a:rPr>
              <a:t>유온 정상? 게이트웨이가 읽는다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work_order</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 등록</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WO-1010-C058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작업의 종류에 따라 엔진이 기다리는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엔진은 작업의 종류에 따라 사람의 응답, 시스템의 처리 결과, 에이전트의 제출을 기다린 뒤 토큰을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177668"/>
            <a:ext cx="3515258"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3186074"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사용자 작업</a:t>
            </a:r>
          </a:p>
          <a:p>
            <a:pPr algn="l" eaLnBrk="0" marL="200025" indent="-200025">
              <a:lnSpc>
                <a:spcPct val="110000"/>
              </a:lnSpc>
              <a:spcAft>
                <a:spcPts val="400"/>
              </a:spcAft>
            </a:pPr>
            <a:r>
              <a:rPr sz="1750" b="0">
                <a:solidFill>
                  <a:srgbClr val="1F2A3A"/>
                </a:solidFill>
                <a:latin typeface="맑은 고딕"/>
                <a:ea typeface="맑은 고딕"/>
                <a:cs typeface="맑은 고딕"/>
              </a:rPr>
              <a:t>• 운전원 승인</a:t>
            </a:r>
          </a:p>
          <a:p>
            <a:pPr algn="l" eaLnBrk="0" marL="200025" indent="-200025">
              <a:lnSpc>
                <a:spcPct val="110000"/>
              </a:lnSpc>
              <a:spcAft>
                <a:spcPts val="400"/>
              </a:spcAft>
            </a:pPr>
            <a:r>
              <a:rPr sz="1750" b="0">
                <a:solidFill>
                  <a:srgbClr val="1F2A3A"/>
                </a:solidFill>
                <a:latin typeface="맑은 고딕"/>
                <a:ea typeface="맑은 고딕"/>
                <a:cs typeface="맑은 고딕"/>
              </a:rPr>
              <a:t>• 담당 역할의 작업함에 놓인다</a:t>
            </a:r>
          </a:p>
          <a:p>
            <a:pPr algn="l" eaLnBrk="0" marL="200025" indent="-200025">
              <a:lnSpc>
                <a:spcPct val="110000"/>
              </a:lnSpc>
              <a:spcAft>
                <a:spcPts val="400"/>
              </a:spcAft>
            </a:pPr>
            <a:r>
              <a:rPr sz="1750" b="0">
                <a:solidFill>
                  <a:srgbClr val="1F2A3A"/>
                </a:solidFill>
                <a:latin typeface="맑은 고딕"/>
                <a:ea typeface="맑은 고딕"/>
                <a:cs typeface="맑은 고딕"/>
              </a:rPr>
              <a:t>• 사람이 승인하거나 거절하면 끝난다</a:t>
            </a:r>
          </a:p>
        </p:txBody>
      </p:sp>
      <p:sp>
        <p:nvSpPr>
          <p:cNvPr id="10" name="Rounded Rectangle 9"/>
          <p:cNvSpPr/>
          <p:nvPr/>
        </p:nvSpPr>
        <p:spPr>
          <a:xfrm>
            <a:off x="777240" y="5375275"/>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107594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User Task</a:t>
            </a:r>
          </a:p>
        </p:txBody>
      </p:sp>
      <p:sp>
        <p:nvSpPr>
          <p:cNvPr id="12" name="Rounded Rectangle 11"/>
          <p:cNvSpPr/>
          <p:nvPr/>
        </p:nvSpPr>
        <p:spPr>
          <a:xfrm>
            <a:off x="4338218" y="2177668"/>
            <a:ext cx="3515258"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78837"/>
            <a:ext cx="731520" cy="731520"/>
          </a:xfrm>
          <a:prstGeom prst="ellipse">
            <a:avLst/>
          </a:prstGeom>
          <a:solidFill>
            <a:srgbClr val="E7F3FD"/>
          </a:solidFill>
          <a:ln>
            <a:noFill/>
          </a:ln>
        </p:spPr>
        <p:txBody>
          <a:bodyPr rtlCol="0" anchor="ctr"/>
          <a:lstStyle/>
          <a:p>
            <a:pPr algn="ctr"/>
          </a:p>
        </p:txBody>
      </p:sp>
      <p:pic>
        <p:nvPicPr>
          <p:cNvPr id="14" name="아이콘:settings" descr="settings_13294B_1.6.png"/>
          <p:cNvPicPr>
            <a:picLocks noChangeAspect="1"/>
          </p:cNvPicPr>
          <p:nvPr/>
        </p:nvPicPr>
        <p:blipFill>
          <a:blip r:embed="rId4"/>
          <a:stretch>
            <a:fillRect/>
          </a:stretch>
        </p:blipFill>
        <p:spPr>
          <a:xfrm>
            <a:off x="4720437" y="2532456"/>
            <a:ext cx="424281" cy="424281"/>
          </a:xfrm>
          <a:prstGeom prst="rect">
            <a:avLst/>
          </a:prstGeom>
        </p:spPr>
      </p:pic>
      <p:sp>
        <p:nvSpPr>
          <p:cNvPr id="15" name="TextBox 14"/>
          <p:cNvSpPr txBox="1"/>
          <p:nvPr/>
        </p:nvSpPr>
        <p:spPr>
          <a:xfrm>
            <a:off x="4502810" y="3201797"/>
            <a:ext cx="3186074"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서비스 작업</a:t>
            </a:r>
          </a:p>
          <a:p>
            <a:pPr algn="l" eaLnBrk="0" marL="200025" indent="-200025">
              <a:lnSpc>
                <a:spcPct val="110000"/>
              </a:lnSpc>
              <a:spcAft>
                <a:spcPts val="400"/>
              </a:spcAft>
            </a:pPr>
            <a:r>
              <a:rPr sz="1750" b="0">
                <a:solidFill>
                  <a:srgbClr val="1F2A3A"/>
                </a:solidFill>
                <a:latin typeface="맑은 고딕"/>
                <a:ea typeface="맑은 고딕"/>
                <a:cs typeface="맑은 고딕"/>
              </a:rPr>
              <a:t>• 냉각 명령, 재관측, 작업지시 등록</a:t>
            </a:r>
          </a:p>
          <a:p>
            <a:pPr algn="l" eaLnBrk="0" marL="200025" indent="-200025">
              <a:lnSpc>
                <a:spcPct val="110000"/>
              </a:lnSpc>
              <a:spcAft>
                <a:spcPts val="400"/>
              </a:spcAft>
            </a:pPr>
            <a:r>
              <a:rPr sz="1750" b="0">
                <a:solidFill>
                  <a:srgbClr val="1F2A3A"/>
                </a:solidFill>
                <a:latin typeface="맑은 고딕"/>
                <a:ea typeface="맑은 고딕"/>
                <a:cs typeface="맑은 고딕"/>
              </a:rPr>
              <a:t>• 엔진이 해당 시스템을 호출한다</a:t>
            </a:r>
          </a:p>
          <a:p>
            <a:pPr algn="l" eaLnBrk="0" marL="200025" indent="-200025">
              <a:lnSpc>
                <a:spcPct val="110000"/>
              </a:lnSpc>
              <a:spcAft>
                <a:spcPts val="400"/>
              </a:spcAft>
            </a:pPr>
            <a:r>
              <a:rPr sz="1750" b="0">
                <a:solidFill>
                  <a:srgbClr val="1F2A3A"/>
                </a:solidFill>
                <a:latin typeface="맑은 고딕"/>
                <a:ea typeface="맑은 고딕"/>
                <a:cs typeface="맑은 고딕"/>
              </a:rPr>
              <a:t>• 처리 결과를 받으면 끝난다</a:t>
            </a:r>
          </a:p>
        </p:txBody>
      </p:sp>
      <p:sp>
        <p:nvSpPr>
          <p:cNvPr id="16" name="Rounded Rectangle 15"/>
          <p:cNvSpPr/>
          <p:nvPr/>
        </p:nvSpPr>
        <p:spPr>
          <a:xfrm>
            <a:off x="4566818" y="5375275"/>
            <a:ext cx="131368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75275"/>
            <a:ext cx="131368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Service Task</a:t>
            </a:r>
          </a:p>
        </p:txBody>
      </p:sp>
      <p:sp>
        <p:nvSpPr>
          <p:cNvPr id="18" name="Rounded Rectangle 17"/>
          <p:cNvSpPr/>
          <p:nvPr/>
        </p:nvSpPr>
        <p:spPr>
          <a:xfrm>
            <a:off x="8127796" y="2177668"/>
            <a:ext cx="3515258"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78837"/>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532456"/>
            <a:ext cx="424281" cy="424281"/>
          </a:xfrm>
          <a:prstGeom prst="rect">
            <a:avLst/>
          </a:prstGeom>
        </p:spPr>
      </p:pic>
      <p:sp>
        <p:nvSpPr>
          <p:cNvPr id="21" name="TextBox 20"/>
          <p:cNvSpPr txBox="1"/>
          <p:nvPr/>
        </p:nvSpPr>
        <p:spPr>
          <a:xfrm>
            <a:off x="8292388" y="3201797"/>
            <a:ext cx="3186074"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에이전트 단계</a:t>
            </a:r>
          </a:p>
          <a:p>
            <a:pPr algn="l" eaLnBrk="0" marL="194310" indent="-194310">
              <a:lnSpc>
                <a:spcPct val="110000"/>
              </a:lnSpc>
              <a:spcAft>
                <a:spcPts val="400"/>
              </a:spcAft>
            </a:pPr>
            <a:r>
              <a:rPr sz="1700" b="0">
                <a:solidFill>
                  <a:srgbClr val="1F2A3A"/>
                </a:solidFill>
                <a:latin typeface="맑은 고딕"/>
                <a:ea typeface="맑은 고딕"/>
                <a:cs typeface="맑은 고딕"/>
              </a:rPr>
              <a:t>• 원인 진단 · 냉각 조치 제안</a:t>
            </a:r>
          </a:p>
          <a:p>
            <a:pPr algn="l" eaLnBrk="0" marL="194310" indent="-194310">
              <a:lnSpc>
                <a:spcPct val="110000"/>
              </a:lnSpc>
              <a:spcAft>
                <a:spcPts val="400"/>
              </a:spcAft>
            </a:pPr>
            <a:r>
              <a:rPr sz="1700" b="0">
                <a:solidFill>
                  <a:srgbClr val="1F2A3A"/>
                </a:solidFill>
                <a:latin typeface="맑은 고딕"/>
                <a:ea typeface="맑은 고딕"/>
                <a:cs typeface="맑은 고딕"/>
              </a:rPr>
              <a:t>• 지정된 에이전트에게 맡겨진다</a:t>
            </a:r>
          </a:p>
          <a:p>
            <a:pPr algn="l" eaLnBrk="0" marL="194310" indent="-194310">
              <a:lnSpc>
                <a:spcPct val="110000"/>
              </a:lnSpc>
              <a:spcAft>
                <a:spcPts val="400"/>
              </a:spcAft>
            </a:pPr>
            <a:r>
              <a:rPr sz="1700" b="0">
                <a:solidFill>
                  <a:srgbClr val="1F2A3A"/>
                </a:solidFill>
                <a:latin typeface="맑은 고딕"/>
                <a:ea typeface="맑은 고딕"/>
                <a:cs typeface="맑은 고딕"/>
              </a:rPr>
              <a:t>• 추천안이 제출되면 끝난다</a:t>
            </a:r>
          </a:p>
        </p:txBody>
      </p:sp>
      <p:sp>
        <p:nvSpPr>
          <p:cNvPr id="22" name="Rounded Rectangle 21"/>
          <p:cNvSpPr/>
          <p:nvPr/>
        </p:nvSpPr>
        <p:spPr>
          <a:xfrm>
            <a:off x="8356396" y="5375275"/>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75275"/>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단계 안에서 읽는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단계 하나 안에서 지식 그래프와 센서 값, 업무 DB, 판단 규칙을 읽은 뒤 추천안 하나를 제출하고 끝난다.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작업 입력</a:t>
            </a:r>
          </a:p>
          <a:p>
            <a:pPr algn="ctr" eaLnBrk="0">
              <a:lnSpc>
                <a:spcPct val="110000"/>
              </a:lnSpc>
              <a:spcAft>
                <a:spcPts val="400"/>
              </a:spcAft>
            </a:pPr>
            <a:r>
              <a:rPr sz="1300" b="0">
                <a:solidFill>
                  <a:srgbClr val="1F2A3A"/>
                </a:solidFill>
                <a:latin typeface="맑은 고딕"/>
                <a:ea typeface="맑은 고딕"/>
                <a:cs typeface="맑은 고딕"/>
              </a:rPr>
              <a:t>설비 · 경보 패턴 ·</a:t>
            </a:r>
          </a:p>
          <a:p>
            <a:pPr algn="ctr" eaLnBrk="0">
              <a:lnSpc>
                <a:spcPct val="110000"/>
              </a:lnSpc>
              <a:spcAft>
                <a:spcPts val="400"/>
              </a:spcAft>
            </a:pPr>
            <a:r>
              <a:rPr sz="1300" b="0">
                <a:solidFill>
                  <a:srgbClr val="1F2A3A"/>
                </a:solidFill>
                <a:latin typeface="맑은 고딕"/>
                <a:ea typeface="맑은 고딕"/>
                <a:cs typeface="맑은 고딕"/>
              </a:rPr>
              <a:t>경보 식별자를 읽는다</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diagnose</a:t>
            </a:r>
          </a:p>
          <a:p>
            <a:pPr algn="ctr" eaLnBrk="0">
              <a:lnSpc>
                <a:spcPct val="110000"/>
              </a:lnSpc>
              <a:spcAft>
                <a:spcPts val="400"/>
              </a:spcAft>
            </a:pPr>
            <a:r>
              <a:rPr sz="1200" b="0">
                <a:solidFill>
                  <a:srgbClr val="1F2A3A"/>
                </a:solidFill>
                <a:latin typeface="맑은 고딕"/>
                <a:ea typeface="맑은 고딕"/>
                <a:cs typeface="맑은 고딕"/>
              </a:rPr>
              <a:t>지식 그래프와</a:t>
            </a:r>
          </a:p>
          <a:p>
            <a:pPr algn="ctr" eaLnBrk="0">
              <a:lnSpc>
                <a:spcPct val="110000"/>
              </a:lnSpc>
              <a:spcAft>
                <a:spcPts val="400"/>
              </a:spcAft>
            </a:pPr>
            <a:r>
              <a:rPr sz="1200" b="0">
                <a:solidFill>
                  <a:srgbClr val="1F2A3A"/>
                </a:solidFill>
                <a:latin typeface="맑은 고딕"/>
                <a:ea typeface="맑은 고딕"/>
                <a:cs typeface="맑은 고딕"/>
              </a:rPr>
              <a:t>센서 값으로 원인을 가린다</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7" name="아이콘:database" descr="database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업무 DB 조회</a:t>
            </a:r>
          </a:p>
          <a:p>
            <a:pPr algn="ctr" eaLnBrk="0">
              <a:lnSpc>
                <a:spcPct val="110000"/>
              </a:lnSpc>
              <a:spcAft>
                <a:spcPts val="400"/>
              </a:spcAft>
            </a:pPr>
            <a:r>
              <a:rPr sz="1300" b="0">
                <a:solidFill>
                  <a:srgbClr val="1F2A3A"/>
                </a:solidFill>
                <a:latin typeface="맑은 고딕"/>
                <a:ea typeface="맑은 고딕"/>
                <a:cs typeface="맑은 고딕"/>
              </a:rPr>
              <a:t>(필요하면) 납기 오더와</a:t>
            </a:r>
          </a:p>
          <a:p>
            <a:pPr algn="ctr" eaLnBrk="0">
              <a:lnSpc>
                <a:spcPct val="110000"/>
              </a:lnSpc>
              <a:spcAft>
                <a:spcPts val="400"/>
              </a:spcAft>
            </a:pPr>
            <a:r>
              <a:rPr sz="1300" b="0">
                <a:solidFill>
                  <a:srgbClr val="1F2A3A"/>
                </a:solidFill>
                <a:latin typeface="맑은 고딕"/>
                <a:ea typeface="맑은 고딕"/>
                <a:cs typeface="맑은 고딕"/>
              </a:rPr>
              <a:t>출하 대기 로트를 읽는다</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cale" descr="scale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evaluate_cards</a:t>
            </a:r>
          </a:p>
          <a:p>
            <a:pPr algn="ctr" eaLnBrk="0">
              <a:lnSpc>
                <a:spcPct val="110000"/>
              </a:lnSpc>
              <a:spcAft>
                <a:spcPts val="400"/>
              </a:spcAft>
            </a:pPr>
            <a:r>
              <a:rPr sz="1300" b="0">
                <a:solidFill>
                  <a:srgbClr val="1F2A3A"/>
                </a:solidFill>
                <a:latin typeface="맑은 고딕"/>
                <a:ea typeface="맑은 고딕"/>
                <a:cs typeface="맑은 고딕"/>
              </a:rPr>
              <a:t>SOP 조치 넷을 규칙과</a:t>
            </a:r>
          </a:p>
          <a:p>
            <a:pPr algn="ctr" eaLnBrk="0">
              <a:lnSpc>
                <a:spcPct val="110000"/>
              </a:lnSpc>
              <a:spcAft>
                <a:spcPts val="400"/>
              </a:spcAft>
            </a:pPr>
            <a:r>
              <a:rPr sz="1300" b="0">
                <a:solidFill>
                  <a:srgbClr val="1F2A3A"/>
                </a:solidFill>
                <a:latin typeface="맑은 고딕"/>
                <a:ea typeface="맑은 고딕"/>
                <a:cs typeface="맑은 고딕"/>
              </a:rPr>
              <a:t>성과 기준으로 견준다</a:t>
            </a:r>
          </a:p>
        </p:txBody>
      </p:sp>
      <p:sp>
        <p:nvSpPr>
          <p:cNvPr id="23" name="Oval 22"/>
          <p:cNvSpPr/>
          <p:nvPr/>
        </p:nvSpPr>
        <p:spPr>
          <a:xfrm>
            <a:off x="9956704"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24" name="아이콘:send" descr="send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submit_decision</a:t>
            </a:r>
          </a:p>
          <a:p>
            <a:pPr algn="ctr" eaLnBrk="0">
              <a:lnSpc>
                <a:spcPct val="110000"/>
              </a:lnSpc>
              <a:spcAft>
                <a:spcPts val="400"/>
              </a:spcAft>
            </a:pPr>
            <a:r>
              <a:rPr sz="1300" b="0">
                <a:solidFill>
                  <a:srgbClr val="1F2A3A"/>
                </a:solidFill>
                <a:latin typeface="맑은 고딕"/>
                <a:ea typeface="맑은 고딕"/>
                <a:cs typeface="맑은 고딕"/>
              </a:rPr>
              <a:t>추천안을 제출한다</a:t>
            </a:r>
          </a:p>
          <a:p>
            <a:pPr algn="ctr" eaLnBrk="0">
              <a:lnSpc>
                <a:spcPct val="110000"/>
              </a:lnSpc>
              <a:spcAft>
                <a:spcPts val="400"/>
              </a:spcAft>
            </a:pPr>
            <a:r>
              <a:rPr sz="1300" b="0">
                <a:solidFill>
                  <a:srgbClr val="1F2A3A"/>
                </a:solidFill>
                <a:latin typeface="맑은 고딕"/>
                <a:ea typeface="맑은 고딕"/>
                <a:cs typeface="맑은 고딕"/>
              </a:rPr>
              <a:t>DEC-1010-002-408b</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프로세스가 에이전트의 결과를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지식과 값을 읽는 일은 에이전트 단계 안에서 끝나고, 프로세스는 그 결과를 승인, 명령, 재관측으로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받은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낸 것</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ALT-hyd01-0014-e0a1</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쿨러 핀 오염</a:t>
            </a:r>
          </a:p>
          <a:p>
            <a:pPr algn="l" eaLnBrk="0">
              <a:lnSpc>
                <a:spcPct val="110000"/>
              </a:lnSpc>
            </a:pPr>
            <a:r>
              <a:rPr sz="1250" b="1">
                <a:solidFill>
                  <a:srgbClr val="556175"/>
                </a:solidFill>
                <a:latin typeface="맑은 고딕"/>
                <a:ea typeface="맑은 고딕"/>
                <a:cs typeface="맑은 고딕"/>
              </a:rPr>
              <a:t>추천 팬 최대 운전</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추천안(추천과 대안)</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승인 11:14:56</a:t>
            </a:r>
          </a:p>
          <a:p>
            <a:pPr algn="l" eaLnBrk="0">
              <a:lnSpc>
                <a:spcPct val="110000"/>
              </a:lnSpc>
            </a:pPr>
            <a:r>
              <a:rPr sz="1250" b="1">
                <a:solidFill>
                  <a:srgbClr val="1A6FC4"/>
                </a:solidFill>
                <a:latin typeface="맑은 고딕"/>
                <a:ea typeface="맑은 고딕"/>
                <a:cs typeface="맑은 고딕"/>
              </a:rPr>
              <a:t>팬 속도 100 %</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승인된 조치</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CMD-1010-0001-b94a</a:t>
            </a:r>
          </a:p>
          <a:p>
            <a:pPr algn="l" eaLnBrk="0">
              <a:lnSpc>
                <a:spcPct val="110000"/>
              </a:lnSpc>
            </a:pPr>
            <a:r>
              <a:rPr sz="1250" b="1">
                <a:solidFill>
                  <a:srgbClr val="556175"/>
                </a:solidFill>
                <a:latin typeface="맑은 고딕"/>
                <a:ea typeface="맑은 고딕"/>
                <a:cs typeface="맑은 고딕"/>
              </a:rPr>
              <a:t>인터록 PASS</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명령의 완료</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유온 61.4 → 51.5 ℃</a:t>
            </a:r>
          </a:p>
          <a:p>
            <a:pPr algn="l" eaLnBrk="0">
              <a:lnSpc>
                <a:spcPct val="110000"/>
              </a:lnSpc>
            </a:pPr>
            <a:r>
              <a:rPr sz="1250" b="1">
                <a:solidFill>
                  <a:srgbClr val="556175"/>
                </a:solidFill>
                <a:latin typeface="맑은 고딕"/>
                <a:ea typeface="맑은 고딕"/>
                <a:cs typeface="맑은 고딕"/>
              </a:rPr>
              <a:t>기준 55 ℃ 미만</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회복 판정</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WO-1010-C058</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 정상</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위의 결과 전부</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이상 완화 · 경보 해제</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실행 상태</a:t>
            </a:r>
          </a:p>
          <a:p>
            <a:pPr algn="l" eaLnBrk="0">
              <a:lnSpc>
                <a:spcPct val="110000"/>
              </a:lnSpc>
            </a:pPr>
            <a:r>
              <a:rPr sz="3400" b="1">
                <a:solidFill>
                  <a:srgbClr val="13294B"/>
                </a:solidFill>
                <a:latin typeface="맑은 고딕"/>
                <a:ea typeface="맑은 고딕"/>
                <a:cs typeface="맑은 고딕"/>
              </a:rPr>
              <a:t>판본 · 감사 기록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처리 건의 결말과 판본, 결정의 기록을 읽는다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상태: 처리 건의 상태와 단계의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건의 상태는 진행 중인지 끝났는지만 알려 주고, 어디에서 기다리며 어느 갈래로 갔는지는 단계의 상태가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RUNNING</a:t>
            </a:r>
          </a:p>
          <a:p>
            <a:pPr algn="l" eaLnBrk="0">
              <a:lnSpc>
                <a:spcPct val="110000"/>
              </a:lnSpc>
              <a:spcAft>
                <a:spcPts val="200"/>
              </a:spcAft>
            </a:pPr>
            <a:r>
              <a:rPr sz="1150" b="0">
                <a:solidFill>
                  <a:srgbClr val="556175"/>
                </a:solidFill>
                <a:latin typeface="맑은 고딕"/>
                <a:ea typeface="맑은 고딕"/>
                <a:cs typeface="맑은 고딕"/>
              </a:rPr>
              <a:t>처리 건</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처리 건이 열려 진행 중이다. 승인을 기다리는 동안에도 이 상태이다.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COMPLETED</a:t>
            </a:r>
          </a:p>
          <a:p>
            <a:pPr algn="l" eaLnBrk="0">
              <a:lnSpc>
                <a:spcPct val="110000"/>
              </a:lnSpc>
              <a:spcAft>
                <a:spcPts val="200"/>
              </a:spcAft>
            </a:pPr>
            <a:r>
              <a:rPr sz="1150" b="0">
                <a:solidFill>
                  <a:srgbClr val="556175"/>
                </a:solidFill>
                <a:latin typeface="맑은 고딕"/>
                <a:ea typeface="맑은 고딕"/>
                <a:cs typeface="맑은 고딕"/>
              </a:rPr>
              <a:t>처리 건</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처리 건이 끝 이벤트에 닿아 실행이 끝났다.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IN_PROGRESS · DONE · TODO</a:t>
            </a:r>
          </a:p>
          <a:p>
            <a:pPr algn="l" eaLnBrk="0">
              <a:lnSpc>
                <a:spcPct val="110000"/>
              </a:lnSpc>
              <a:spcAft>
                <a:spcPts val="200"/>
              </a:spcAft>
            </a:pPr>
            <a:r>
              <a:rPr sz="1150" b="0">
                <a:solidFill>
                  <a:srgbClr val="556175"/>
                </a:solidFill>
                <a:latin typeface="맑은 고딕"/>
                <a:ea typeface="맑은 고딕"/>
                <a:cs typeface="맑은 고딕"/>
              </a:rPr>
              <a:t>단계</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단계가 열려 있다, 끝났다, 아직 닿지 않았다.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CANCELLED</a:t>
            </a:r>
          </a:p>
          <a:p>
            <a:pPr algn="l" eaLnBrk="0">
              <a:lnSpc>
                <a:spcPct val="110000"/>
              </a:lnSpc>
              <a:spcAft>
                <a:spcPts val="200"/>
              </a:spcAft>
            </a:pPr>
            <a:r>
              <a:rPr sz="1150" b="0">
                <a:solidFill>
                  <a:srgbClr val="556175"/>
                </a:solidFill>
                <a:latin typeface="맑은 고딕"/>
                <a:ea typeface="맑은 고딕"/>
                <a:cs typeface="맑은 고딕"/>
              </a:rPr>
              <a:t>단계</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단계가 선택되지 않은 갈래에 있었다.</a:t>
            </a:r>
          </a:p>
          <a:p>
            <a:pPr algn="l" eaLnBrk="0">
              <a:lnSpc>
                <a:spcPct val="110000"/>
              </a:lnSpc>
              <a:spcAft>
                <a:spcPts val="300"/>
              </a:spcAft>
            </a:pPr>
            <a:r>
              <a:rPr sz="1400" b="0">
                <a:solidFill>
                  <a:srgbClr val="1F2A3A"/>
                </a:solidFill>
                <a:latin typeface="맑은 고딕"/>
                <a:ea typeface="맑은 고딕"/>
                <a:cs typeface="맑은 고딕"/>
              </a:rPr>
              <a:t>거절된 처리 건의 냉각 명령이 이 상태로 남는다.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COMPLETED는 성공을 뜻하지 않는다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거절로 닫힌 처리 건도 상태는 COMPLETED이므로, 업무의 결과는 닿은 끝 이벤트와 결과 보고의 내용으로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승인된 처리 건</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status: COMPLETED</a:t>
            </a:r>
          </a:p>
          <a:p>
            <a:pPr algn="l" eaLnBrk="0" marL="171450" indent="-171450">
              <a:lnSpc>
                <a:spcPct val="110000"/>
              </a:lnSpc>
              <a:spcAft>
                <a:spcPts val="600"/>
              </a:spcAft>
            </a:pPr>
            <a:r>
              <a:rPr sz="1500" b="0">
                <a:solidFill>
                  <a:srgbClr val="1F2A3A"/>
                </a:solidFill>
                <a:latin typeface="맑은 고딕"/>
                <a:ea typeface="맑은 고딕"/>
                <a:cs typeface="맑은 고딕"/>
              </a:rPr>
              <a:t>• end_event: E_end</a:t>
            </a:r>
          </a:p>
          <a:p>
            <a:pPr algn="l" eaLnBrk="0" marL="171450" indent="-171450">
              <a:lnSpc>
                <a:spcPct val="110000"/>
              </a:lnSpc>
              <a:spcAft>
                <a:spcPts val="600"/>
              </a:spcAft>
            </a:pPr>
            <a:r>
              <a:rPr sz="1500" b="0">
                <a:solidFill>
                  <a:srgbClr val="1F2A3A"/>
                </a:solidFill>
                <a:latin typeface="맑은 고딕"/>
                <a:ea typeface="맑은 고딕"/>
                <a:cs typeface="맑은 고딕"/>
              </a:rPr>
              <a:t>• 결과 보고: 정상</a:t>
            </a:r>
          </a:p>
          <a:p>
            <a:pPr algn="l" eaLnBrk="0" marL="171450" indent="-171450">
              <a:lnSpc>
                <a:spcPct val="110000"/>
              </a:lnSpc>
              <a:spcAft>
                <a:spcPts val="600"/>
              </a:spcAft>
            </a:pPr>
            <a:r>
              <a:rPr sz="1500" b="0">
                <a:solidFill>
                  <a:srgbClr val="1F2A3A"/>
                </a:solidFill>
                <a:latin typeface="맑은 고딕"/>
                <a:ea typeface="맑은 고딕"/>
                <a:cs typeface="맑은 고딕"/>
              </a:rPr>
              <a:t>• 설비 명령: 1건</a:t>
            </a:r>
          </a:p>
          <a:p>
            <a:pPr algn="l" eaLnBrk="0" marL="171450" indent="-171450">
              <a:lnSpc>
                <a:spcPct val="110000"/>
              </a:lnSpc>
              <a:spcAft>
                <a:spcPts val="600"/>
              </a:spcAft>
            </a:pPr>
            <a:r>
              <a:rPr sz="1500" b="0">
                <a:solidFill>
                  <a:srgbClr val="1F2A3A"/>
                </a:solidFill>
                <a:latin typeface="맑은 고딕"/>
                <a:ea typeface="맑은 고딕"/>
                <a:cs typeface="맑은 고딕"/>
              </a:rPr>
              <a:t>• 회복에 미달해도 end_event는 E_end이고 결과 보고가 미달이 된다</a:t>
            </a:r>
          </a:p>
        </p:txBody>
      </p:sp>
      <p:sp>
        <p:nvSpPr>
          <p:cNvPr id="11" name="Rounded Rectangle 10"/>
          <p:cNvSpPr/>
          <p:nvPr/>
        </p:nvSpPr>
        <p:spPr>
          <a:xfrm>
            <a:off x="868680" y="5420106"/>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끝</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거절된 처리 건</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status: COMPLETED</a:t>
            </a:r>
          </a:p>
          <a:p>
            <a:pPr algn="l" eaLnBrk="0" marL="171450" indent="-171450">
              <a:lnSpc>
                <a:spcPct val="110000"/>
              </a:lnSpc>
              <a:spcAft>
                <a:spcPts val="600"/>
              </a:spcAft>
            </a:pPr>
            <a:r>
              <a:rPr sz="1500" b="0">
                <a:solidFill>
                  <a:srgbClr val="1F2A3A"/>
                </a:solidFill>
                <a:latin typeface="맑은 고딕"/>
                <a:ea typeface="맑은 고딕"/>
                <a:cs typeface="맑은 고딕"/>
              </a:rPr>
              <a:t>• end_event: E_rejected</a:t>
            </a:r>
          </a:p>
          <a:p>
            <a:pPr algn="l" eaLnBrk="0" marL="171450" indent="-171450">
              <a:lnSpc>
                <a:spcPct val="110000"/>
              </a:lnSpc>
              <a:spcAft>
                <a:spcPts val="600"/>
              </a:spcAft>
            </a:pPr>
            <a:r>
              <a:rPr sz="1500" b="0">
                <a:solidFill>
                  <a:srgbClr val="1F2A3A"/>
                </a:solidFill>
                <a:latin typeface="맑은 고딕"/>
                <a:ea typeface="맑은 고딕"/>
                <a:cs typeface="맑은 고딕"/>
              </a:rPr>
              <a:t>• 결과 보고: 거절(기록의 값은 반려)</a:t>
            </a:r>
          </a:p>
          <a:p>
            <a:pPr algn="l" eaLnBrk="0" marL="171450" indent="-171450">
              <a:lnSpc>
                <a:spcPct val="110000"/>
              </a:lnSpc>
              <a:spcAft>
                <a:spcPts val="600"/>
              </a:spcAft>
            </a:pPr>
            <a:r>
              <a:rPr sz="1500" b="0">
                <a:solidFill>
                  <a:srgbClr val="1F2A3A"/>
                </a:solidFill>
                <a:latin typeface="맑은 고딕"/>
                <a:ea typeface="맑은 고딕"/>
                <a:cs typeface="맑은 고딕"/>
              </a:rPr>
              <a:t>• 설비 명령: 없음</a:t>
            </a:r>
          </a:p>
          <a:p>
            <a:pPr algn="l" eaLnBrk="0" marL="171450" indent="-171450">
              <a:lnSpc>
                <a:spcPct val="110000"/>
              </a:lnSpc>
              <a:spcAft>
                <a:spcPts val="600"/>
              </a:spcAft>
            </a:pPr>
            <a:r>
              <a:rPr sz="1500" b="0">
                <a:solidFill>
                  <a:srgbClr val="1F2A3A"/>
                </a:solidFill>
                <a:latin typeface="맑은 고딕"/>
                <a:ea typeface="맑은 고딕"/>
                <a:cs typeface="맑은 고딕"/>
              </a:rPr>
              <a:t>• 냉각 명령, 재관측, 작업지시 등록은 CANCELLED</a:t>
            </a:r>
          </a:p>
        </p:txBody>
      </p:sp>
      <p:sp>
        <p:nvSpPr>
          <p:cNvPr id="18" name="Rounded Rectangle 17"/>
          <p:cNvSpPr/>
          <p:nvPr/>
        </p:nvSpPr>
        <p:spPr>
          <a:xfrm>
            <a:off x="6781647" y="5420106"/>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거절 종결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판본과 배포: 고친 프로세스가 적용되는 시점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고친 프로세스는 새 판본으로 배포해야 다음 경보부터 적용되고, 열린 처리 건은 열릴 때의 판본으로 끝까지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등록</a:t>
            </a:r>
          </a:p>
          <a:p>
            <a:pPr algn="ctr" eaLnBrk="0">
              <a:lnSpc>
                <a:spcPct val="110000"/>
              </a:lnSpc>
              <a:spcAft>
                <a:spcPts val="400"/>
              </a:spcAft>
            </a:pPr>
            <a:r>
              <a:rPr sz="1650" b="0">
                <a:solidFill>
                  <a:srgbClr val="1F2A3A"/>
                </a:solidFill>
                <a:latin typeface="맑은 고딕"/>
                <a:ea typeface="맑은 고딕"/>
                <a:cs typeface="맑은 고딕"/>
              </a:rPr>
              <a:t>프로세스 정의를</a:t>
            </a:r>
          </a:p>
          <a:p>
            <a:pPr algn="ctr" eaLnBrk="0">
              <a:lnSpc>
                <a:spcPct val="110000"/>
              </a:lnSpc>
              <a:spcAft>
                <a:spcPts val="400"/>
              </a:spcAft>
            </a:pPr>
            <a:r>
              <a:rPr sz="1650" b="0">
                <a:solidFill>
                  <a:srgbClr val="1F2A3A"/>
                </a:solidFill>
                <a:latin typeface="맑은 고딕"/>
                <a:ea typeface="맑은 고딕"/>
                <a:cs typeface="맑은 고딕"/>
              </a:rPr>
              <a:t>새 판본으로 저장한다</a:t>
            </a:r>
          </a:p>
          <a:p>
            <a:pPr algn="ctr" eaLnBrk="0">
              <a:lnSpc>
                <a:spcPct val="110000"/>
              </a:lnSpc>
              <a:spcAft>
                <a:spcPts val="400"/>
              </a:spcAft>
            </a:pPr>
            <a:r>
              <a:rPr sz="1650" b="0">
                <a:solidFill>
                  <a:srgbClr val="1F2A3A"/>
                </a:solidFill>
                <a:latin typeface="맑은 고딕"/>
                <a:ea typeface="맑은 고딕"/>
                <a:cs typeface="맑은 고딕"/>
              </a:rPr>
              <a:t>저장된 판본은 고치지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배포</a:t>
            </a:r>
          </a:p>
          <a:p>
            <a:pPr algn="ctr" eaLnBrk="0">
              <a:lnSpc>
                <a:spcPct val="110000"/>
              </a:lnSpc>
              <a:spcAft>
                <a:spcPts val="400"/>
              </a:spcAft>
            </a:pPr>
            <a:r>
              <a:rPr sz="1650" b="0">
                <a:solidFill>
                  <a:srgbClr val="1F2A3A"/>
                </a:solidFill>
                <a:latin typeface="맑은 고딕"/>
                <a:ea typeface="맑은 고딕"/>
                <a:cs typeface="맑은 고딕"/>
              </a:rPr>
              <a:t>경보를 받을 판본을</a:t>
            </a:r>
          </a:p>
          <a:p>
            <a:pPr algn="ctr" eaLnBrk="0">
              <a:lnSpc>
                <a:spcPct val="110000"/>
              </a:lnSpc>
              <a:spcAft>
                <a:spcPts val="400"/>
              </a:spcAft>
            </a:pPr>
            <a:r>
              <a:rPr sz="1650" b="0">
                <a:solidFill>
                  <a:srgbClr val="1F2A3A"/>
                </a:solidFill>
                <a:latin typeface="맑은 고딕"/>
                <a:ea typeface="맑은 고딕"/>
                <a:cs typeface="맑은 고딕"/>
              </a:rPr>
              <a:t>지정한다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실행</a:t>
            </a:r>
          </a:p>
          <a:p>
            <a:pPr algn="ctr" eaLnBrk="0">
              <a:lnSpc>
                <a:spcPct val="110000"/>
              </a:lnSpc>
              <a:spcAft>
                <a:spcPts val="400"/>
              </a:spcAft>
            </a:pPr>
            <a:r>
              <a:rPr sz="1650" b="0">
                <a:solidFill>
                  <a:srgbClr val="1F2A3A"/>
                </a:solidFill>
                <a:latin typeface="맑은 고딕"/>
                <a:ea typeface="맑은 고딕"/>
                <a:cs typeface="맑은 고딕"/>
              </a:rPr>
              <a:t>경보가 오면</a:t>
            </a:r>
          </a:p>
          <a:p>
            <a:pPr algn="ctr" eaLnBrk="0">
              <a:lnSpc>
                <a:spcPct val="110000"/>
              </a:lnSpc>
              <a:spcAft>
                <a:spcPts val="400"/>
              </a:spcAft>
            </a:pPr>
            <a:r>
              <a:rPr sz="1650" b="0">
                <a:solidFill>
                  <a:srgbClr val="1F2A3A"/>
                </a:solidFill>
                <a:latin typeface="맑은 고딕"/>
                <a:ea typeface="맑은 고딕"/>
                <a:cs typeface="맑은 고딕"/>
              </a:rPr>
              <a:t>배포된 판본으로</a:t>
            </a:r>
          </a:p>
          <a:p>
            <a:pPr algn="ctr" eaLnBrk="0">
              <a:lnSpc>
                <a:spcPct val="110000"/>
              </a:lnSpc>
              <a:spcAft>
                <a:spcPts val="400"/>
              </a:spcAft>
            </a:pPr>
            <a:r>
              <a:rPr sz="1650" b="0">
                <a:solidFill>
                  <a:srgbClr val="1F2A3A"/>
                </a:solidFill>
                <a:latin typeface="맑은 고딕"/>
                <a:ea typeface="맑은 고딕"/>
                <a:cs typeface="맑은 고딕"/>
              </a:rPr>
              <a:t>처리 건이 열린다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0734"/>
            <a:ext cx="731520" cy="731520"/>
          </a:xfrm>
          <a:prstGeom prst="ellipse">
            <a:avLst/>
          </a:prstGeom>
          <a:solidFill>
            <a:srgbClr val="5CB8F2"/>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판본 고정</a:t>
            </a:r>
          </a:p>
          <a:p>
            <a:pPr algn="ctr" eaLnBrk="0">
              <a:lnSpc>
                <a:spcPct val="110000"/>
              </a:lnSpc>
              <a:spcAft>
                <a:spcPts val="400"/>
              </a:spcAft>
            </a:pPr>
            <a:r>
              <a:rPr sz="1650" b="0">
                <a:solidFill>
                  <a:srgbClr val="1F2A3A"/>
                </a:solidFill>
                <a:latin typeface="맑은 고딕"/>
                <a:ea typeface="맑은 고딕"/>
                <a:cs typeface="맑은 고딕"/>
              </a:rPr>
              <a:t>열린 처리 건은</a:t>
            </a:r>
          </a:p>
          <a:p>
            <a:pPr algn="ctr" eaLnBrk="0">
              <a:lnSpc>
                <a:spcPct val="110000"/>
              </a:lnSpc>
              <a:spcAft>
                <a:spcPts val="400"/>
              </a:spcAft>
            </a:pPr>
            <a:r>
              <a:rPr sz="1650" b="0">
                <a:solidFill>
                  <a:srgbClr val="1F2A3A"/>
                </a:solidFill>
                <a:latin typeface="맑은 고딕"/>
                <a:ea typeface="맑은 고딕"/>
                <a:cs typeface="맑은 고딕"/>
              </a:rPr>
              <a:t>자기 판본으로</a:t>
            </a:r>
          </a:p>
          <a:p>
            <a:pPr algn="ctr" eaLnBrk="0">
              <a:lnSpc>
                <a:spcPct val="110000"/>
              </a:lnSpc>
              <a:spcAft>
                <a:spcPts val="400"/>
              </a:spcAft>
            </a:pPr>
            <a:r>
              <a:rPr sz="1650" b="0">
                <a:solidFill>
                  <a:srgbClr val="1F2A3A"/>
                </a:solidFill>
                <a:latin typeface="맑은 고딕"/>
                <a:ea typeface="맑은 고딕"/>
                <a:cs typeface="맑은 고딕"/>
              </a:rPr>
              <a:t>끝까지 간다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감사 기록(Audit Log)과 처리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 안의 진행은 처리 기록에, 처리 건의 시작과 배포와 거부된 승인은 감사 기록에 남아 결정을 뒤에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때</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APPROVAL_ACCEPTED</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승인이 접수될 때. 승인한 역할과 판단 id가 담긴다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APPROVAL_DELIVERY</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승인이 다음 단계로 전달될 때</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RESULT_REPORT</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 보고가 나갈 때. 보고의 본문이 담긴다</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INSTANCE_STARTED</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건이 열릴 때</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감사 기록</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DEFINITION_DEPLOYED</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정의의 판본이 배포될 때</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감사 기록</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DECISION_DENIED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역할이 아닌 쪽이 승인을 시도해 거부될 때</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감사 기록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간단한 승인 절차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절차 한 장의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정비 요청의 승인 절차를 시작 · 작업 · 게이트웨이 · 끝 둘로 그려, 모든 갈래가 끝에 닿는 BPMN 파일을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41523"/>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695143"/>
            <a:ext cx="424281" cy="424281"/>
          </a:xfrm>
          <a:prstGeom prst="rect">
            <a:avLst/>
          </a:prstGeom>
        </p:spPr>
      </p:pic>
      <p:sp>
        <p:nvSpPr>
          <p:cNvPr id="9" name="TextBox 8"/>
          <p:cNvSpPr txBox="1"/>
          <p:nvPr/>
        </p:nvSpPr>
        <p:spPr>
          <a:xfrm>
            <a:off x="713232"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도구</a:t>
            </a:r>
          </a:p>
          <a:p>
            <a:pPr algn="l" eaLnBrk="0" marL="160020" indent="-160020">
              <a:lnSpc>
                <a:spcPct val="110000"/>
              </a:lnSpc>
              <a:spcAft>
                <a:spcPts val="400"/>
              </a:spcAft>
            </a:pPr>
            <a:r>
              <a:rPr sz="1400" b="0">
                <a:solidFill>
                  <a:srgbClr val="1F2A3A"/>
                </a:solidFill>
                <a:latin typeface="맑은 고딕"/>
                <a:ea typeface="맑은 고딕"/>
                <a:cs typeface="맑은 고딕"/>
              </a:rPr>
              <a:t>• 정비 요청 한 건을 받는 작은 업무</a:t>
            </a:r>
          </a:p>
          <a:p>
            <a:pPr algn="l" eaLnBrk="0" marL="160020" indent="-160020">
              <a:lnSpc>
                <a:spcPct val="110000"/>
              </a:lnSpc>
              <a:spcAft>
                <a:spcPts val="400"/>
              </a:spcAft>
            </a:pPr>
            <a:r>
              <a:rPr sz="1400" b="0">
                <a:solidFill>
                  <a:srgbClr val="1F2A3A"/>
                </a:solidFill>
                <a:latin typeface="맑은 고딕"/>
                <a:ea typeface="맑은 고딕"/>
                <a:cs typeface="맑은 고딕"/>
              </a:rPr>
              <a:t>• 웹 BPMN 편집기에서 요소를 놓고 선으로 잇는다</a:t>
            </a:r>
          </a:p>
        </p:txBody>
      </p:sp>
      <p:sp>
        <p:nvSpPr>
          <p:cNvPr id="10" name="Rounded Rectangle 9"/>
          <p:cNvSpPr/>
          <p:nvPr/>
        </p:nvSpPr>
        <p:spPr>
          <a:xfrm>
            <a:off x="777240" y="521258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41523"/>
            <a:ext cx="731520" cy="731520"/>
          </a:xfrm>
          <a:prstGeom prst="ellipse">
            <a:avLst/>
          </a:prstGeom>
          <a:solidFill>
            <a:srgbClr val="E7F3FD"/>
          </a:solidFill>
          <a:ln>
            <a:noFill/>
          </a:ln>
        </p:spPr>
        <p:txBody>
          <a:bodyPr rtlCol="0" anchor="ctr"/>
          <a:lstStyle/>
          <a:p>
            <a:pPr algn="ctr"/>
          </a:p>
        </p:txBody>
      </p:sp>
      <p:pic>
        <p:nvPicPr>
          <p:cNvPr id="14" name="아이콘:git-fork" descr="git-fork_13294B_1.6.png"/>
          <p:cNvPicPr>
            <a:picLocks noChangeAspect="1"/>
          </p:cNvPicPr>
          <p:nvPr/>
        </p:nvPicPr>
        <p:blipFill>
          <a:blip r:embed="rId4"/>
          <a:stretch>
            <a:fillRect/>
          </a:stretch>
        </p:blipFill>
        <p:spPr>
          <a:xfrm>
            <a:off x="3773043" y="2695143"/>
            <a:ext cx="424281" cy="424281"/>
          </a:xfrm>
          <a:prstGeom prst="rect">
            <a:avLst/>
          </a:prstGeom>
        </p:spPr>
      </p:pic>
      <p:sp>
        <p:nvSpPr>
          <p:cNvPr id="15" name="TextBox 14"/>
          <p:cNvSpPr txBox="1"/>
          <p:nvPr/>
        </p:nvSpPr>
        <p:spPr>
          <a:xfrm>
            <a:off x="3555415"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그릴 흐름</a:t>
            </a:r>
          </a:p>
          <a:p>
            <a:pPr algn="l" eaLnBrk="0" marL="160020" indent="-160020">
              <a:lnSpc>
                <a:spcPct val="110000"/>
              </a:lnSpc>
              <a:spcAft>
                <a:spcPts val="400"/>
              </a:spcAft>
            </a:pPr>
            <a:r>
              <a:rPr sz="1400" b="0">
                <a:solidFill>
                  <a:srgbClr val="1F2A3A"/>
                </a:solidFill>
                <a:latin typeface="맑은 고딕"/>
                <a:ea typeface="맑은 고딕"/>
                <a:cs typeface="맑은 고딕"/>
              </a:rPr>
              <a:t>• 정비 요청 → 담당자 확인 → 승인 여부</a:t>
            </a:r>
          </a:p>
          <a:p>
            <a:pPr algn="l" eaLnBrk="0" marL="160020" indent="-160020">
              <a:lnSpc>
                <a:spcPct val="110000"/>
              </a:lnSpc>
              <a:spcAft>
                <a:spcPts val="400"/>
              </a:spcAft>
            </a:pPr>
            <a:r>
              <a:rPr sz="1400" b="0">
                <a:solidFill>
                  <a:srgbClr val="1F2A3A"/>
                </a:solidFill>
                <a:latin typeface="맑은 고딕"/>
                <a:ea typeface="맑은 고딕"/>
                <a:cs typeface="맑은 고딕"/>
              </a:rPr>
              <a:t>• 승인 종료와 반려 종료</a:t>
            </a:r>
          </a:p>
        </p:txBody>
      </p:sp>
      <p:sp>
        <p:nvSpPr>
          <p:cNvPr id="16" name="Rounded Rectangle 15"/>
          <p:cNvSpPr/>
          <p:nvPr/>
        </p:nvSpPr>
        <p:spPr>
          <a:xfrm>
            <a:off x="3619423" y="521258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41523"/>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6615226" y="2695143"/>
            <a:ext cx="424281" cy="424281"/>
          </a:xfrm>
          <a:prstGeom prst="rect">
            <a:avLst/>
          </a:prstGeom>
        </p:spPr>
      </p:pic>
      <p:sp>
        <p:nvSpPr>
          <p:cNvPr id="21" name="TextBox 20"/>
          <p:cNvSpPr txBox="1"/>
          <p:nvPr/>
        </p:nvSpPr>
        <p:spPr>
          <a:xfrm>
            <a:off x="6397599"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a:t>
            </a:r>
          </a:p>
          <a:p>
            <a:pPr algn="l" eaLnBrk="0" marL="160020" indent="-160020">
              <a:lnSpc>
                <a:spcPct val="110000"/>
              </a:lnSpc>
              <a:spcAft>
                <a:spcPts val="400"/>
              </a:spcAft>
            </a:pPr>
            <a:r>
              <a:rPr sz="1400" b="0">
                <a:solidFill>
                  <a:srgbClr val="1F2A3A"/>
                </a:solidFill>
                <a:latin typeface="맑은 고딕"/>
                <a:ea typeface="맑은 고딕"/>
                <a:cs typeface="맑은 고딕"/>
              </a:rPr>
              <a:t>• .bpmn 파일 하나</a:t>
            </a:r>
          </a:p>
          <a:p>
            <a:pPr algn="l" eaLnBrk="0" marL="160020" indent="-160020">
              <a:lnSpc>
                <a:spcPct val="110000"/>
              </a:lnSpc>
              <a:spcAft>
                <a:spcPts val="400"/>
              </a:spcAft>
            </a:pPr>
            <a:r>
              <a:rPr sz="1400" b="0">
                <a:solidFill>
                  <a:srgbClr val="1F2A3A"/>
                </a:solidFill>
                <a:latin typeface="맑은 고딕"/>
                <a:ea typeface="맑은 고딕"/>
                <a:cs typeface="맑은 고딕"/>
              </a:rPr>
              <a:t>• 저장한 뒤 다시 열어도 같은 그림</a:t>
            </a:r>
          </a:p>
        </p:txBody>
      </p:sp>
      <p:sp>
        <p:nvSpPr>
          <p:cNvPr id="22" name="Rounded Rectangle 21"/>
          <p:cNvSpPr/>
          <p:nvPr/>
        </p:nvSpPr>
        <p:spPr>
          <a:xfrm>
            <a:off x="6461607" y="5212588"/>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340355"/>
            <a:ext cx="2567863" cy="330200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41523"/>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6"/>
          <a:stretch>
            <a:fillRect/>
          </a:stretch>
        </p:blipFill>
        <p:spPr>
          <a:xfrm>
            <a:off x="9457410" y="2695143"/>
            <a:ext cx="424281" cy="424281"/>
          </a:xfrm>
          <a:prstGeom prst="rect">
            <a:avLst/>
          </a:prstGeom>
        </p:spPr>
      </p:pic>
      <p:sp>
        <p:nvSpPr>
          <p:cNvPr id="27" name="TextBox 26"/>
          <p:cNvSpPr txBox="1"/>
          <p:nvPr/>
        </p:nvSpPr>
        <p:spPr>
          <a:xfrm>
            <a:off x="9239783"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게이트웨이의 두 갈래가 각각 끝 이벤트에 닿는다</a:t>
            </a:r>
          </a:p>
          <a:p>
            <a:pPr algn="l" eaLnBrk="0" marL="160020" indent="-160020">
              <a:lnSpc>
                <a:spcPct val="110000"/>
              </a:lnSpc>
              <a:spcAft>
                <a:spcPts val="400"/>
              </a:spcAft>
            </a:pPr>
            <a:r>
              <a:rPr sz="1400" b="0">
                <a:solidFill>
                  <a:srgbClr val="1F2A3A"/>
                </a:solidFill>
                <a:latin typeface="맑은 고딕"/>
                <a:ea typeface="맑은 고딕"/>
                <a:cs typeface="맑은 고딕"/>
              </a:rPr>
              <a:t>• 끊긴 선과 이름 없는 갈래가 없다</a:t>
            </a:r>
          </a:p>
        </p:txBody>
      </p:sp>
      <p:sp>
        <p:nvSpPr>
          <p:cNvPr id="28" name="Rounded Rectangle 27"/>
          <p:cNvSpPr/>
          <p:nvPr/>
        </p:nvSpPr>
        <p:spPr>
          <a:xfrm>
            <a:off x="9303791" y="5212588"/>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긴급 대응 프로세스 작도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프로세스 그림의 완성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경보에서 결과 보고까지를 세 레인에 나누어 그리고, 승인의 갈림과 끊지 않는 지연 알림을 갖춘다.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a:t>
            </a:r>
          </a:p>
          <a:p>
            <a:pPr algn="l" eaLnBrk="0" marL="160020" indent="-160020">
              <a:lnSpc>
                <a:spcPct val="110000"/>
              </a:lnSpc>
              <a:spcAft>
                <a:spcPts val="400"/>
              </a:spcAft>
            </a:pPr>
            <a:r>
              <a:rPr sz="1400" b="0">
                <a:solidFill>
                  <a:srgbClr val="1F2A3A"/>
                </a:solidFill>
                <a:latin typeface="맑은 고딕"/>
                <a:ea typeface="맑은 고딕"/>
                <a:cs typeface="맑은 고딕"/>
              </a:rPr>
              <a:t>• 앞 실습에서 익힌 편집기 조작</a:t>
            </a:r>
          </a:p>
          <a:p>
            <a:pPr algn="l" eaLnBrk="0" marL="160020" indent="-160020">
              <a:lnSpc>
                <a:spcPct val="110000"/>
              </a:lnSpc>
              <a:spcAft>
                <a:spcPts val="400"/>
              </a:spcAft>
            </a:pPr>
            <a:r>
              <a:rPr sz="1400" b="0">
                <a:solidFill>
                  <a:srgbClr val="1F2A3A"/>
                </a:solidFill>
                <a:latin typeface="맑은 고딕"/>
                <a:ea typeface="맑은 고딕"/>
                <a:cs typeface="맑은 고딕"/>
              </a:rPr>
              <a:t>• 이번 회차에 읽은 긴급 대응 프로세스의 그림</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그릴 범위</a:t>
            </a:r>
          </a:p>
          <a:p>
            <a:pPr algn="l" eaLnBrk="0" marL="160020" indent="-160020">
              <a:lnSpc>
                <a:spcPct val="110000"/>
              </a:lnSpc>
              <a:spcAft>
                <a:spcPts val="400"/>
              </a:spcAft>
            </a:pPr>
            <a:r>
              <a:rPr sz="1400" b="0">
                <a:solidFill>
                  <a:srgbClr val="1F2A3A"/>
                </a:solidFill>
                <a:latin typeface="맑은 고딕"/>
                <a:ea typeface="맑은 고딕"/>
                <a:cs typeface="맑은 고딕"/>
              </a:rPr>
              <a:t>• 담당자 · 에이전트 · 시스템의 세 레인에 경보에서 결과 보고까지</a:t>
            </a:r>
          </a:p>
          <a:p>
            <a:pPr algn="l" eaLnBrk="0" marL="160020" indent="-160020">
              <a:lnSpc>
                <a:spcPct val="110000"/>
              </a:lnSpc>
              <a:spcAft>
                <a:spcPts val="400"/>
              </a:spcAft>
            </a:pPr>
            <a:r>
              <a:rPr sz="1400" b="0">
                <a:solidFill>
                  <a:srgbClr val="1F2A3A"/>
                </a:solidFill>
                <a:latin typeface="맑은 고딕"/>
                <a:ea typeface="맑은 고딕"/>
                <a:cs typeface="맑은 고딕"/>
              </a:rPr>
              <a:t>• 승인 · 거절의 갈림, 정상 종료와 거절 종결</a:t>
            </a:r>
          </a:p>
          <a:p>
            <a:pPr algn="l" eaLnBrk="0" marL="160020" indent="-160020">
              <a:lnSpc>
                <a:spcPct val="110000"/>
              </a:lnSpc>
              <a:spcAft>
                <a:spcPts val="400"/>
              </a:spcAft>
            </a:pPr>
            <a:r>
              <a:rPr sz="1400" b="0">
                <a:solidFill>
                  <a:srgbClr val="1F2A3A"/>
                </a:solidFill>
                <a:latin typeface="맑은 고딕"/>
                <a:ea typeface="맑은 고딕"/>
                <a:cs typeface="맑은 고딕"/>
              </a:rPr>
              <a:t>• 승인 작업에 비중단형 지연 알림 타이머</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a:t>
            </a:r>
          </a:p>
          <a:p>
            <a:pPr algn="l" eaLnBrk="0" marL="160020" indent="-160020">
              <a:lnSpc>
                <a:spcPct val="110000"/>
              </a:lnSpc>
              <a:spcAft>
                <a:spcPts val="400"/>
              </a:spcAft>
            </a:pPr>
            <a:r>
              <a:rPr sz="1400" b="0">
                <a:solidFill>
                  <a:srgbClr val="1F2A3A"/>
                </a:solidFill>
                <a:latin typeface="맑은 고딕"/>
                <a:ea typeface="맑은 고딕"/>
                <a:cs typeface="맑은 고딕"/>
              </a:rPr>
              <a:t>• 긴급 대응 프로세스의 .bpmn 파일</a:t>
            </a:r>
          </a:p>
          <a:p>
            <a:pPr algn="l" eaLnBrk="0" marL="160020" indent="-160020">
              <a:lnSpc>
                <a:spcPct val="110000"/>
              </a:lnSpc>
              <a:spcAft>
                <a:spcPts val="400"/>
              </a:spcAft>
            </a:pPr>
            <a:r>
              <a:rPr sz="1400" b="0">
                <a:solidFill>
                  <a:srgbClr val="1F2A3A"/>
                </a:solidFill>
                <a:latin typeface="맑은 고딕"/>
                <a:ea typeface="맑은 고딕"/>
                <a:cs typeface="맑은 고딕"/>
              </a:rPr>
              <a:t>• 다음 실습에서 그대로 쓴다</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완성 그림과 요소 · 갈림 · 타이머의 종류가 같다</a:t>
            </a:r>
          </a:p>
          <a:p>
            <a:pPr algn="l" eaLnBrk="0" marL="160020" indent="-160020">
              <a:lnSpc>
                <a:spcPct val="110000"/>
              </a:lnSpc>
              <a:spcAft>
                <a:spcPts val="400"/>
              </a:spcAft>
            </a:pPr>
            <a:r>
              <a:rPr sz="1400" b="0">
                <a:solidFill>
                  <a:srgbClr val="1F2A3A"/>
                </a:solidFill>
                <a:latin typeface="맑은 고딕"/>
                <a:ea typeface="맑은 고딕"/>
                <a:cs typeface="맑은 고딕"/>
              </a:rPr>
              <a:t>• 모든 갈래가 끝 이벤트에 닿는다</a:t>
            </a:r>
          </a:p>
        </p:txBody>
      </p:sp>
      <p:sp>
        <p:nvSpPr>
          <p:cNvPr id="28" name="Rounded Rectangle 27"/>
          <p:cNvSpPr/>
          <p:nvPr/>
        </p:nvSpPr>
        <p:spPr>
          <a:xfrm>
            <a:off x="9303791" y="542950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그린 흐름을</a:t>
            </a:r>
          </a:p>
          <a:p>
            <a:pPr algn="l" eaLnBrk="0">
              <a:lnSpc>
                <a:spcPct val="110000"/>
              </a:lnSpc>
            </a:pPr>
            <a:r>
              <a:rPr sz="3400" b="1">
                <a:solidFill>
                  <a:srgbClr val="13294B"/>
                </a:solidFill>
                <a:latin typeface="맑은 고딕"/>
                <a:ea typeface="맑은 고딕"/>
                <a:cs typeface="맑은 고딕"/>
              </a:rPr>
              <a:t>에이전트와 시스템에 연결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연결해 등록 · 배포할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직접 그린 프로세스에 시작 경보와 맡을 쪽, 조건과 기한을 정하고 사전 검사를 통과해야 판본으로 등록되고 배포된다.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입력</a:t>
            </a:r>
          </a:p>
          <a:p>
            <a:pPr algn="l" eaLnBrk="0" marL="182880" indent="-182880">
              <a:lnSpc>
                <a:spcPct val="110000"/>
              </a:lnSpc>
              <a:spcAft>
                <a:spcPts val="400"/>
              </a:spcAft>
            </a:pPr>
            <a:r>
              <a:rPr sz="1600" b="0">
                <a:solidFill>
                  <a:srgbClr val="1F2A3A"/>
                </a:solidFill>
                <a:latin typeface="맑은 고딕"/>
                <a:ea typeface="맑은 고딕"/>
                <a:cs typeface="맑은 고딕"/>
              </a:rPr>
              <a:t>• 앞에서 그린 BPMN 파일</a:t>
            </a:r>
          </a:p>
          <a:p>
            <a:pPr algn="l" eaLnBrk="0" marL="182880" indent="-182880">
              <a:lnSpc>
                <a:spcPct val="110000"/>
              </a:lnSpc>
              <a:spcAft>
                <a:spcPts val="400"/>
              </a:spcAft>
            </a:pPr>
            <a:r>
              <a:rPr sz="1600" b="0">
                <a:solidFill>
                  <a:srgbClr val="1F2A3A"/>
                </a:solidFill>
                <a:latin typeface="맑은 고딕"/>
                <a:ea typeface="맑은 고딕"/>
                <a:cs typeface="맑은 고딕"/>
              </a:rPr>
              <a:t>• 이미 있는 냉각 긴급 대응 에이전트와 운전원 역할</a:t>
            </a:r>
          </a:p>
          <a:p>
            <a:pPr algn="l" eaLnBrk="0" marL="182880" indent="-182880">
              <a:lnSpc>
                <a:spcPct val="110000"/>
              </a:lnSpc>
              <a:spcAft>
                <a:spcPts val="400"/>
              </a:spcAft>
            </a:pPr>
            <a:r>
              <a:rPr sz="1600" b="0">
                <a:solidFill>
                  <a:srgbClr val="1F2A3A"/>
                </a:solidFill>
                <a:latin typeface="맑은 고딕"/>
                <a:ea typeface="맑은 고딕"/>
                <a:cs typeface="맑은 고딕"/>
              </a:rPr>
              <a:t>• 준비된 연결 파일</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재사용</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정할 것</a:t>
            </a:r>
          </a:p>
          <a:p>
            <a:pPr algn="l" eaLnBrk="0" marL="182880" indent="-182880">
              <a:lnSpc>
                <a:spcPct val="110000"/>
              </a:lnSpc>
              <a:spcAft>
                <a:spcPts val="400"/>
              </a:spcAft>
            </a:pPr>
            <a:r>
              <a:rPr sz="1600" b="0">
                <a:solidFill>
                  <a:srgbClr val="1F2A3A"/>
                </a:solidFill>
                <a:latin typeface="맑은 고딕"/>
                <a:ea typeface="맑은 고딕"/>
                <a:cs typeface="맑은 고딕"/>
              </a:rPr>
              <a:t>• 시작 경보 하나, 단계마다 맡을 쪽</a:t>
            </a:r>
          </a:p>
          <a:p>
            <a:pPr algn="l" eaLnBrk="0" marL="182880" indent="-182880">
              <a:lnSpc>
                <a:spcPct val="110000"/>
              </a:lnSpc>
              <a:spcAft>
                <a:spcPts val="400"/>
              </a:spcAft>
            </a:pPr>
            <a:r>
              <a:rPr sz="1600" b="0">
                <a:solidFill>
                  <a:srgbClr val="1F2A3A"/>
                </a:solidFill>
                <a:latin typeface="맑은 고딕"/>
                <a:ea typeface="맑은 고딕"/>
                <a:cs typeface="맑은 고딕"/>
              </a:rPr>
              <a:t>• 갈림의 조건과 타이머의 기한</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versions" descr="versions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a:t>
            </a:r>
          </a:p>
          <a:p>
            <a:pPr algn="l" eaLnBrk="0" marL="182880" indent="-182880">
              <a:lnSpc>
                <a:spcPct val="110000"/>
              </a:lnSpc>
              <a:spcAft>
                <a:spcPts val="400"/>
              </a:spcAft>
            </a:pPr>
            <a:r>
              <a:rPr sz="1600" b="0">
                <a:solidFill>
                  <a:srgbClr val="1F2A3A"/>
                </a:solidFill>
                <a:latin typeface="맑은 고딕"/>
                <a:ea typeface="맑은 고딕"/>
                <a:cs typeface="맑은 고딕"/>
              </a:rPr>
              <a:t>• 내 흐름 id로 등록한 판본</a:t>
            </a:r>
          </a:p>
          <a:p>
            <a:pPr algn="l" eaLnBrk="0" marL="182880" indent="-182880">
              <a:lnSpc>
                <a:spcPct val="110000"/>
              </a:lnSpc>
              <a:spcAft>
                <a:spcPts val="400"/>
              </a:spcAft>
            </a:pPr>
            <a:r>
              <a:rPr sz="1600" b="0">
                <a:solidFill>
                  <a:srgbClr val="1F2A3A"/>
                </a:solidFill>
                <a:latin typeface="맑은 고딕"/>
                <a:ea typeface="맑은 고딕"/>
                <a:cs typeface="맑은 고딕"/>
              </a:rPr>
              <a:t>• 쿨러 경보를 받도록 배포된 상태</a:t>
            </a:r>
          </a:p>
        </p:txBody>
      </p:sp>
      <p:sp>
        <p:nvSpPr>
          <p:cNvPr id="22" name="Rounded Rectangle 21"/>
          <p:cNvSpPr/>
          <p:nvPr/>
        </p:nvSpPr>
        <p:spPr>
          <a:xfrm>
            <a:off x="6461607" y="5429504"/>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판본 · 배포</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사전 검사에 남은 문제가 없다</a:t>
            </a:r>
          </a:p>
          <a:p>
            <a:pPr algn="l" eaLnBrk="0" marL="182880" indent="-182880">
              <a:lnSpc>
                <a:spcPct val="110000"/>
              </a:lnSpc>
              <a:spcAft>
                <a:spcPts val="400"/>
              </a:spcAft>
            </a:pPr>
            <a:r>
              <a:rPr sz="1600" b="0">
                <a:solidFill>
                  <a:srgbClr val="1F2A3A"/>
                </a:solidFill>
                <a:latin typeface="맑은 고딕"/>
                <a:ea typeface="맑은 고딕"/>
                <a:cs typeface="맑은 고딕"/>
              </a:rPr>
              <a:t>• 경보와 흐름의 연결에 내가 배포한 흐름이 보인다</a:t>
            </a:r>
          </a:p>
        </p:txBody>
      </p:sp>
      <p:sp>
        <p:nvSpPr>
          <p:cNvPr id="28" name="Rounded Rectangle 27"/>
          <p:cNvSpPr/>
          <p:nvPr/>
        </p:nvSpPr>
        <p:spPr>
          <a:xfrm>
            <a:off x="9303791" y="542950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이벤트로</a:t>
            </a:r>
          </a:p>
          <a:p>
            <a:pPr algn="l" eaLnBrk="0">
              <a:lnSpc>
                <a:spcPct val="110000"/>
              </a:lnSpc>
            </a:pPr>
            <a:r>
              <a:rPr sz="3400" b="1">
                <a:solidFill>
                  <a:srgbClr val="13294B"/>
                </a:solidFill>
                <a:latin typeface="맑은 고딕"/>
                <a:ea typeface="맑은 고딕"/>
                <a:cs typeface="맑은 고딕"/>
              </a:rPr>
              <a:t>프로세스 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실행해 확인할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배포한 흐름을 쿨러 열화로 실행해 처리 건 한 건을 열고, 승인 대기와 끝난 상태를 처리 기록으로 구분해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a:t>
            </a:r>
          </a:p>
          <a:p>
            <a:pPr algn="l" eaLnBrk="0" marL="160020" indent="-160020">
              <a:lnSpc>
                <a:spcPct val="110000"/>
              </a:lnSpc>
              <a:spcAft>
                <a:spcPts val="400"/>
              </a:spcAft>
            </a:pPr>
            <a:r>
              <a:rPr sz="1400" b="0">
                <a:solidFill>
                  <a:srgbClr val="1F2A3A"/>
                </a:solidFill>
                <a:latin typeface="맑은 고딕"/>
                <a:ea typeface="맑은 고딕"/>
                <a:cs typeface="맑은 고딕"/>
              </a:rPr>
              <a:t>• 앞 실습에서 배포한 내 흐름</a:t>
            </a:r>
          </a:p>
          <a:p>
            <a:pPr algn="l" eaLnBrk="0" marL="160020" indent="-160020">
              <a:lnSpc>
                <a:spcPct val="110000"/>
              </a:lnSpc>
              <a:spcAft>
                <a:spcPts val="400"/>
              </a:spcAft>
            </a:pPr>
            <a:r>
              <a:rPr sz="1400" b="0">
                <a:solidFill>
                  <a:srgbClr val="1F2A3A"/>
                </a:solidFill>
                <a:latin typeface="맑은 고딕"/>
                <a:ea typeface="맑은 고딕"/>
                <a:cs typeface="맑은 고딕"/>
              </a:rPr>
              <a:t>• 포털의 쿨러 열화 버튼</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확인할 범위</a:t>
            </a:r>
          </a:p>
          <a:p>
            <a:pPr algn="l" eaLnBrk="0" marL="160020" indent="-160020">
              <a:lnSpc>
                <a:spcPct val="110000"/>
              </a:lnSpc>
              <a:spcAft>
                <a:spcPts val="400"/>
              </a:spcAft>
            </a:pPr>
            <a:r>
              <a:rPr sz="1400" b="0">
                <a:solidFill>
                  <a:srgbClr val="1F2A3A"/>
                </a:solidFill>
                <a:latin typeface="맑은 고딕"/>
                <a:ea typeface="맑은 고딕"/>
                <a:cs typeface="맑은 고딕"/>
              </a:rPr>
              <a:t>• 처리 건의 생성과 운전원 승인에서의 대기</a:t>
            </a:r>
          </a:p>
          <a:p>
            <a:pPr algn="l" eaLnBrk="0" marL="160020" indent="-160020">
              <a:lnSpc>
                <a:spcPct val="110000"/>
              </a:lnSpc>
              <a:spcAft>
                <a:spcPts val="400"/>
              </a:spcAft>
            </a:pPr>
            <a:r>
              <a:rPr sz="1400" b="0">
                <a:solidFill>
                  <a:srgbClr val="1F2A3A"/>
                </a:solidFill>
                <a:latin typeface="맑은 고딕"/>
                <a:ea typeface="맑은 고딕"/>
                <a:cs typeface="맑은 고딕"/>
              </a:rPr>
              <a:t>• 승인 뒤 명령 · 재관측, 닿은 끝 이벤트</a:t>
            </a:r>
          </a:p>
          <a:p>
            <a:pPr algn="l" eaLnBrk="0" marL="160020" indent="-160020">
              <a:lnSpc>
                <a:spcPct val="110000"/>
              </a:lnSpc>
              <a:spcAft>
                <a:spcPts val="400"/>
              </a:spcAft>
            </a:pPr>
            <a:r>
              <a:rPr sz="1400" b="0">
                <a:solidFill>
                  <a:srgbClr val="1F2A3A"/>
                </a:solidFill>
                <a:latin typeface="맑은 고딕"/>
                <a:ea typeface="맑은 고딕"/>
                <a:cs typeface="맑은 고딕"/>
              </a:rPr>
              <a:t>• 기준 흐름(에이전트 단계 넷, 끊는 타이머)과의 차이</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file-text" descr="file-text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a:t>
            </a:r>
          </a:p>
          <a:p>
            <a:pPr algn="l" eaLnBrk="0" marL="154305" indent="-154305">
              <a:lnSpc>
                <a:spcPct val="110000"/>
              </a:lnSpc>
              <a:spcAft>
                <a:spcPts val="400"/>
              </a:spcAft>
            </a:pPr>
            <a:r>
              <a:rPr sz="1350" b="0">
                <a:solidFill>
                  <a:srgbClr val="1F2A3A"/>
                </a:solidFill>
                <a:latin typeface="맑은 고딕"/>
                <a:ea typeface="맑은 고딕"/>
                <a:cs typeface="맑은 고딕"/>
              </a:rPr>
              <a:t>• 내 흐름의 처리 건 한 건</a:t>
            </a:r>
          </a:p>
          <a:p>
            <a:pPr algn="l" eaLnBrk="0" marL="154305" indent="-154305">
              <a:lnSpc>
                <a:spcPct val="110000"/>
              </a:lnSpc>
              <a:spcAft>
                <a:spcPts val="400"/>
              </a:spcAft>
            </a:pPr>
            <a:r>
              <a:rPr sz="1350" b="0">
                <a:solidFill>
                  <a:srgbClr val="1F2A3A"/>
                </a:solidFill>
                <a:latin typeface="맑은 고딕"/>
                <a:ea typeface="맑은 고딕"/>
                <a:cs typeface="맑은 고딕"/>
              </a:rPr>
              <a:t>• 그 처리 건의 처리 기록</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승인 대기와 끝남을 단계의 상태로 구별해 말한다</a:t>
            </a:r>
          </a:p>
          <a:p>
            <a:pPr algn="l" eaLnBrk="0" marL="160020" indent="-160020">
              <a:lnSpc>
                <a:spcPct val="110000"/>
              </a:lnSpc>
              <a:spcAft>
                <a:spcPts val="400"/>
              </a:spcAft>
            </a:pPr>
            <a:r>
              <a:rPr sz="1400" b="0">
                <a:solidFill>
                  <a:srgbClr val="1F2A3A"/>
                </a:solidFill>
                <a:latin typeface="맑은 고딕"/>
                <a:ea typeface="맑은 고딕"/>
                <a:cs typeface="맑은 고딕"/>
              </a:rPr>
              <a:t>• 닿은 끝 이벤트와 결과 보고를 읽는다</a:t>
            </a:r>
          </a:p>
        </p:txBody>
      </p:sp>
      <p:sp>
        <p:nvSpPr>
          <p:cNvPr id="28" name="Rounded Rectangle 27"/>
          <p:cNvSpPr/>
          <p:nvPr/>
        </p:nvSpPr>
        <p:spPr>
          <a:xfrm>
            <a:off x="9303791" y="542950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쿨러 사건 한 건을 프로세스로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장면마다 프로세스의 어느 개념인지 가려 읽으면, 헷갈리기 쉬운 짝이 서로 다른 일임이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장면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프로세스의 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헷갈리기 쉬운 짝</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경보가 도착해 처리 건이 열렸다</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메시지 시작 이벤트</a:t>
            </a:r>
          </a:p>
          <a:p>
            <a:pPr algn="l" eaLnBrk="0">
              <a:lnSpc>
                <a:spcPct val="110000"/>
              </a:lnSpc>
            </a:pPr>
            <a:r>
              <a:rPr sz="1400" b="0">
                <a:solidFill>
                  <a:srgbClr val="1F2A3A"/>
                </a:solidFill>
                <a:latin typeface="맑은 고딕"/>
                <a:ea typeface="맑은 고딕"/>
                <a:cs typeface="맑은 고딕"/>
              </a:rPr>
              <a:t>정의에서 인스턴스 하나</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정의와 인스턴스</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추천안이 나왔지만 팬은 그대로다</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Task 하나가 끝났다</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Task와 End-to-End</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승인에서 기다린다</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토큰이 사용자 작업에 머문 RUNNING</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대기와 오류</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게이트웨이에서 승인 쪽으로 간다</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approval 변수를 읽는 조건</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에이전트의 판단과 갈림의 조건</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운전원이 기한 안에 승인했다</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비중단형 경계 타이머가 함께 거둬짐</a:t>
            </a:r>
          </a:p>
          <a:p>
            <a:pPr algn="l" eaLnBrk="0">
              <a:lnSpc>
                <a:spcPct val="110000"/>
              </a:lnSpc>
            </a:pPr>
            <a:r>
              <a:rPr sz="1400" b="0">
                <a:solidFill>
                  <a:srgbClr val="1F2A3A"/>
                </a:solidFill>
                <a:latin typeface="맑은 고딕"/>
                <a:ea typeface="맑은 고딕"/>
                <a:cs typeface="맑은 고딕"/>
              </a:rPr>
              <a:t>늦었다면 알림 가지만 열림</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알림과 종료</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 정상으로 끝났다</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끝 이벤트 E_end · COMPLETED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COMPLETED와 성공</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비즈니스 프로세스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Business Process</a:t>
            </a:r>
          </a:p>
          <a:p>
            <a:pPr algn="l" eaLnBrk="0">
              <a:lnSpc>
                <a:spcPct val="110000"/>
              </a:lnSpc>
            </a:pPr>
            <a:r>
              <a:rPr sz="1250" b="0">
                <a:solidFill>
                  <a:srgbClr val="1F2A3A"/>
                </a:solidFill>
                <a:latin typeface="맑은 고딕"/>
                <a:ea typeface="맑은 고딕"/>
                <a:cs typeface="맑은 고딕"/>
              </a:rPr>
              <a:t>정해진 결과를 내려고 여러 주체의 작업을 순서대로 이은 묶음</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BPM</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Business Process Management</a:t>
            </a:r>
          </a:p>
          <a:p>
            <a:pPr algn="l" eaLnBrk="0">
              <a:lnSpc>
                <a:spcPct val="110000"/>
              </a:lnSpc>
            </a:pPr>
            <a:r>
              <a:rPr sz="1250" b="0">
                <a:solidFill>
                  <a:srgbClr val="1F2A3A"/>
                </a:solidFill>
                <a:latin typeface="맑은 고딕"/>
                <a:ea typeface="맑은 고딕"/>
                <a:cs typeface="맑은 고딕"/>
              </a:rPr>
              <a:t>프로세스를 분석 · 설계 · 실행 · 모니터링 · 개선으로 되풀이해 관리하는 방법</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BPMN</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Business Process Model and Notation</a:t>
            </a:r>
          </a:p>
          <a:p>
            <a:pPr algn="l" eaLnBrk="0">
              <a:lnSpc>
                <a:spcPct val="110000"/>
              </a:lnSpc>
            </a:pPr>
            <a:r>
              <a:rPr sz="1250" b="0">
                <a:solidFill>
                  <a:srgbClr val="1F2A3A"/>
                </a:solidFill>
                <a:latin typeface="맑은 고딕"/>
                <a:ea typeface="맑은 고딕"/>
                <a:cs typeface="맑은 고딕"/>
              </a:rPr>
              <a:t>도형과 선의 뜻을 정해 업무 프로세스를 그리는 표기 표준</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경계 이벤트</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Boundary Event</a:t>
            </a:r>
          </a:p>
          <a:p>
            <a:pPr algn="l" eaLnBrk="0">
              <a:lnSpc>
                <a:spcPct val="110000"/>
              </a:lnSpc>
            </a:pPr>
            <a:r>
              <a:rPr sz="1250" b="0">
                <a:solidFill>
                  <a:srgbClr val="1F2A3A"/>
                </a:solidFill>
                <a:latin typeface="맑은 고딕"/>
                <a:ea typeface="맑은 고딕"/>
                <a:cs typeface="맑은 고딕"/>
              </a:rPr>
              <a:t>작업 테두리에 붙어 그 작업이 진행 중일 때 생기는 일에 반응하는 이벤트</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프로세스 엔진</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Process Engine</a:t>
            </a:r>
          </a:p>
          <a:p>
            <a:pPr algn="l" eaLnBrk="0">
              <a:lnSpc>
                <a:spcPct val="110000"/>
              </a:lnSpc>
            </a:pPr>
            <a:r>
              <a:rPr sz="1250" b="0">
                <a:solidFill>
                  <a:srgbClr val="1F2A3A"/>
                </a:solidFill>
                <a:latin typeface="맑은 고딕"/>
                <a:ea typeface="맑은 고딕"/>
                <a:cs typeface="맑은 고딕"/>
              </a:rPr>
              <a:t>프로세스 정의를 읽어 작업을 차례로 열고 결과를 넘기는 소프트웨어</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오케스트레이션</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Orchestration</a:t>
            </a:r>
          </a:p>
          <a:p>
            <a:pPr algn="l" eaLnBrk="0">
              <a:lnSpc>
                <a:spcPct val="110000"/>
              </a:lnSpc>
            </a:pPr>
            <a:r>
              <a:rPr sz="1250" b="0">
                <a:solidFill>
                  <a:srgbClr val="1F2A3A"/>
                </a:solidFill>
                <a:latin typeface="맑은 고딕"/>
                <a:ea typeface="맑은 고딕"/>
                <a:cs typeface="맑은 고딕"/>
              </a:rPr>
              <a:t>중앙의 조정자가 작업의 순서와 호출을 이끄는 방식</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프로세스 인스턴스</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Process Instance</a:t>
            </a:r>
          </a:p>
          <a:p>
            <a:pPr algn="l" eaLnBrk="0">
              <a:lnSpc>
                <a:spcPct val="110000"/>
              </a:lnSpc>
            </a:pPr>
            <a:r>
              <a:rPr sz="1250" b="0">
                <a:solidFill>
                  <a:srgbClr val="1F2A3A"/>
                </a:solidFill>
                <a:latin typeface="맑은 고딕"/>
                <a:ea typeface="맑은 고딕"/>
                <a:cs typeface="맑은 고딕"/>
              </a:rPr>
              <a:t>정의에 따라 실제로 실행되는 한 건, HYD의 처리 건</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토큰</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Token</a:t>
            </a:r>
          </a:p>
          <a:p>
            <a:pPr algn="l" eaLnBrk="0">
              <a:lnSpc>
                <a:spcPct val="110000"/>
              </a:lnSpc>
            </a:pPr>
            <a:r>
              <a:rPr sz="1250" b="0">
                <a:solidFill>
                  <a:srgbClr val="1F2A3A"/>
                </a:solidFill>
                <a:latin typeface="맑은 고딕"/>
                <a:ea typeface="맑은 고딕"/>
                <a:cs typeface="맑은 고딕"/>
              </a:rPr>
              <a:t>실행 중인 프로세스가 지금 어디에 있는지를 나타내는 표식</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프로세스 변수</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Process Variable</a:t>
            </a:r>
          </a:p>
          <a:p>
            <a:pPr algn="l" eaLnBrk="0">
              <a:lnSpc>
                <a:spcPct val="110000"/>
              </a:lnSpc>
            </a:pPr>
            <a:r>
              <a:rPr sz="1250" b="0">
                <a:solidFill>
                  <a:srgbClr val="1F2A3A"/>
                </a:solidFill>
                <a:latin typeface="맑은 고딕"/>
                <a:ea typeface="맑은 고딕"/>
                <a:cs typeface="맑은 고딕"/>
              </a:rPr>
              <a:t>인스턴스가 지니고 다니는 이름 붙은 값</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승인 지연 알림이 나간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처리 건의 상태가 RUNNING이고 열려 있는 단계가 운전원 승인이며, 승인 지연 알림은 이미 나갔다.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알림이 나갔으므로 처리 건은 거절로 닫혔다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기한이 지났으므로 냉각 명령이 자동으로 나갔다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작업이 열린 채로 남아 운전원의 결정을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알림 가지가 끝났으므로 처리 건도 완료되었다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설비 명령이 나갔는지를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어느 긴급 대응 처리 건의 기록에 status는 COMPLETED, end_event는 E_rejected로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처리 건에서 냉각 명령이 설비에 나갔는지를 판단한 것으로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끝 이벤트가 E_rejected이고 냉각 명령 단계가 CANCELLED이므로 나가지 않았다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status가 COMPLETED이므로 명령이 나가 유온이 회복되었다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 단계가 DONE이므로 추천대로 명령이 나갔다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기록으로는 알 수 없으므로 에이전트에게 다시 판단을 맡긴다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냉각 명령 작업을 여는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팬 최대 운전을 권하는 추천안을 제출했고, 처리 건은 운전원 승인에서 기다리고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운전원이 승인했을 때 냉각 명령 작업을 여는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추천안을 제출한 에이전트</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명령을 받아 PLC에 전하는 SCADA</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승인한 운전원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프로세스 엔진</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처리 건의 상태, 판단의 근거가 되는 기록, 작업을 여는 책임의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지연 타이머는 비중단형이다. 알림 가지만 끝나고 승인 작업은 열린 채로 기다린다.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COMPLETED는 실행이 끝났다는 뜻이다. 결과는 끝 이벤트와 단계의 상태로 읽는다.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 운전원은 승인까지 한다. 다음 작업을 여는 것은 엔진이다.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