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에이전트의 추천안 뒤에 남은 일을 하나의 비즈니스 프로세스로 정의하고 관리하는 방법을 봅니다. 이어서 그 프로세스를 BPMN이라는 표준 그림으로 읽고, 엔진이 그 그림을 실제로 실행하는 방식을 이해합니다. 마지막으로 직접 그린 흐름을 등록하고 실행해 처리 건의 기록을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에이전트가 팬 최대 운전을 추천한 시점부터 보겠습니다. 추천안이 나왔다고 업무가 끝난 것은 아닙니다. 남은 일이 무엇이고, 그 일을 무엇이 이어 주는지가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시점입니다. 추천안은 나왔지만 팬은 아직 그대로 돌고 유온도 그대로입니다. 운전원의 승인, 설비로 가는 냉각 명령, 유온을 다시 읽는 재관측, 핀 세척의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작업지시 등록은 설비 보전 관리 시스템인 CMMS가 맡습니다. 재관측과 결과 보고는 처리 전체를 이끄는 시스템이 직접 맡습니다.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일을 맡을 쪽이 있어도 그 사이를 이어 주는 것이 없으면 세 가지 문제가 생깁니다. 추천안이 나온 것을 운전원이 모르면 흐름이 멈춥니다. 누가 승인하고 응답이 없으면 어떻게 되는지가 정해져 있지 않으면 책임이 흩어집니다. 그리고 이 사건이 어디까지 진행되었는지를 한곳에서 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책임을 미리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처리 건이라고 부르며, 쿨러 사건도 처리 건 하나로 진행되었습니다.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쿨러 사건에서 에이전트의 Task가 끝난 시점에는 설비 명령이 없었고 유온도 그대로였습니다. 냉각 명령과 유온 51.5도와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혼동하기 쉽습니다. SOP는 팬 최대 운전이라는 조치 하나를 어떤 단계로 수행하는지를 정합니다. 프로세스는 그 조치가 추천되고 승인되고 실행되어 보고되기까지 여러 주체의 작업을 잇습니다. 프로세스의 승인 작업에서 승인되는 대상이 SOP로 정한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뒤의 일을 잇는 것이 비즈니스 프로세스라는 것을 보았습니다. 그렇다면 프로세스를 세운다는 것은 실제로 무엇을 정하는 일일까요? 긴급 대응 프로세스에 대어 다섯 가지를 차례로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답이며, 다음 장부터 하나씩 실제 값으로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쿨러 사건의 경보가 도착하자 처리 건이 열렸고, 설비와 경보의 식별자가 입력으로 실려 뒤의 작업들이 읽었습니다. 같은 경보로 처리 건이 두 번 열리지는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작업지시이지만, 작업 하나하나에도 받는 것과 내는 것이 정해져 있습니다. 에이전트가 낸 추천안을 운전원이 받고, 운전원이 낸 승인을 냉각 명령이 받습니다. 그래서 작업마다 무엇을 내야 하는지를 미리 정해 두어야 흐름이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프로세스는 작업마다 맡는 쪽을 정하는데, 사람의 이름이 아니라 운전원 같은 역할로 정합니다. 근무자가 바뀌어도 프로세스는 그대로 두기 위해서입니다. 에이전트와 시스템도 작업을 맡으며, 작업마다 맡는 쪽이 하나로 정해져 있어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맡길 수 없다고 한 순서와 책임이 프로세스에서 어떻게 지켜지는지 확인합니다. 냉각 명령 작업은 승인 작업이 승인으로 끝나야 열리고, 승인이 빠진 흐름은 아예 등록되지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무엇을 위해 있는지도 지식으로 남길 수 있습니다. 지식 그래프에는 프로세스 클래스가 있고, 그 인스턴스인 설비 이상 조치는 대상 설비에 ACTS_ON 관계로, 달성하려는 전략 목표 셋에 ACHIEVES 관계로 이어져 있습니다. 그래서 설비 이상에 대응하는 업무가 설비 가용성과 무재해 운전과 납기 신뢰를 위해 있다는 것을 조회로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전략 목표를 위해 존재합니다. 목표와 설비와 조직이 바뀌면 한 번 정한 프로세스도 그대로 둘 수 없습니다. 프로세스를 만들고 고쳐 가는 일을 어떻게 관리하는지, 무엇을 고칠지는 어떻게 찾는지가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만들고 운영하고 고쳐 가는 일 전체를 관리하는 방법이 BPM, Business Process Management입니다. BPM이 보는 것은 작업 하나가 아니라 처음부터 끝까지의 흐름입니다. 앞에서 구분한 End-to-End가 관리의 단위가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하는 일을 쿨러 사건의 예와 나란히 놓았습니다. 분석에서는 시작 조건과 책임자와 완료 조건을 가려내고, 설계에서 정한 순서대로 실행에서는 경보 한 건에 처리 건 하나가 열립니다. 모니터링에서는 운전원 승인의 대기와 재관측의 결과를 지켜봅니다. 개선에서 고친 흐름은 다음 경보의 처리 건부터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무엇을 바꾸는지가 분명해집니다. AS-IS에서는 사람을 찾고, 확인을 기억하고, 결정을 물어서 확인합니다. TO-BE에서는 그 자리마다 작업과 순서와 기록이 놓입니다. AS-IS에서 사람이 기억으로 잇던 자리를 찾아내는 것이 분석의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BPM의 설계 단계에서는 바꾸려는 흐름, 곧 TO-BE를 그립니다. 그런데 그린 사람마다 도형의 뜻이 다르면 같은 그림을 두고도 다른 흐름을 읽게 됩니다. 누구나 같은 뜻으로 읽는 그림을 어떻게 그리는지가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칸이며 다음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에이전트 칸의 경보에서 시작해 진단과 제안, 담당자 칸의 운전원 승인을 거쳐 시스템 칸의 냉각 명령, 재관측, 작업지시 등록, 결과 보고로 이어집니다. 갈림이 두 곳이고 끝이 세 곳입니다. 시작 이벤트의 이름 쿨러 과열 경보는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갈라지거나 합쳐지는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흐름이라고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이벤트와 작업과 게이트웨이로 순서와 갈림을 그렸습니다. 그런데 그 작업을 누가 맡는지, 운전원이 응답하지 않으면 어떻게 되는지는 아직 그림에 나타나지 않았습니다. 책임과 기다림을 그림에 담는 요소들이 이 단원의 물음에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일반적인 예이며, 긴급 대응 프로세스는 풀 하나로 그려 메시지 흐름이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쿨러 사건처럼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사건과 같은 승인 경우에 작업을 실제로 맡는 쪽입니다. 진단과 제안은 에이전트가, 승인은 운전원 역할이, 명령과 재관측과 작업지시 등록과 결과 보고는 시스템들이 맡습니다.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커지면 쓰게 되는 요소 둘을 개념만 소개합니다. 왼쪽의 더하기표 마름모는 병렬 게이트웨이로, 나가는 모든 갈래로 흐름을 함께 보내고 모든 갈래가 끝나면 다시 합칩니다. 오른쪽의 하위 프로세스는 여러 작업으로 이루어진 흐름을 작업 하나처럼 접어 그린 것이며, 아래 가운데의 더하기 표식이 안에 흐름이 들어 있음을 알립니다. 긴급 대응 프로세스에는 둘 다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BPMN으로 그린 긴급 대응 프로세스는 아직 설계도입니다. 그림을 그렸다고 경보가 올 때 운전원에게 승인 작업이 저절로 놓이지는 않습니다. 이 그림을 누가 어떻게 실행하는지가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쿨러 사건의 처리 건은 승인되어 끝났고, 같은 정의에서 열린 다른 처리 건은 거절로 끝나거나 승인을 기다렸습니다.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기다리던 처리 건의 실제 기록입니다. 처리 건의 상태는 실행 중을 뜻하는 RUNNING이고, 열려 있는 단계는 운전원 승인입니다.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토큰은 처리 건이 지금 어디에 있는지를 알려 줍니다. 그런데 승인? 게이트웨이가 승인인지 거절인지를 알려면 앞 작업이 낸 결과를 받아야 합니다. 작업의 결과가 어떻게 다음 작업으로 전해지는지, 에이전트의 판단은 그 가운데 어디에 놓이는지가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길이 프로세스 변수입니다. 인스턴스는 이름 붙은 값들을 지니고 다니며, 작업이 낸 출력이 여기에 저장됩니다. 갈림의 조건이 읽던 approval은 운전원 승인이 내고, recovered는 재관측이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기다리며,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들여다보겠습니다. 냉각 긴급 대응 에이전트의 스킬이 정한 순서로, 작업의 입력을 읽고 diagnose로 지식 그래프와 센서 값에서 원인을 가립니다. 업무 DB에서 납기 오더와 출하 대기 로트를 읽고, evaluate_cards로 SOP 조치 넷을 판단 규칙과 성과 기준으로 견줍니다. 마지막에 추천안 하나를 제출하면 판단 id가 붙고, 쿨러 사건에서는 이 단계 안에서 도구를 열 번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건은 결과 보고까지 마치고 끝났습니다. 처리 건이 끝난 뒤에는 그 결말을 어떻게 판정하는지, 흐름을 고치면 언제부터 바뀌는지, 누가 무엇을 결정했는지를 확인할 수 있어야 합니다. 처리 건의 상태와 판본과 기록을 읽는 법이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전달될 때와 결과 보고가 나갈 때 한 줄씩 남습니다. 감사 기록, Audit Log는 누가 무엇을 결정했는지를 나중에 확인하려고 처리 건 밖의 일까지 적는 기록입니다. 처리 건이 열린 일, 정의가 배포된 일, 승인할 역할이 아닌 쪽이 승인을 시도해 거부된 일이 여기에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웹 BPMN 편집기로 작은 승인 절차를 직접 그립니다. 정비 요청으로 시작해 담당자가 확인하고, 승인 여부에 따라 승인 종료와 반려 종료로 갈립니다. 게이트웨이의 두 갈래가 빠짐없이 끝 이벤트에 닿는지가 성공 기준이며, 결과물은 BPMN 파일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이번 회차에 읽은 긴급 대응 프로세스를 직접 그립니다. 세 레인에 작업을 나누어 놓고, 경보에서 결과 보고까지 순서를 잇습니다. 승인과 거절을 가르는 게이트웨이와 각각의 끝을 두고, 승인 작업에는 승인을 끊지 않는 지연 알림 타이머를 붙입니다. 결과물은 이 프로세스의 BPMN 파일이며, 완성 그림과 요소와 갈림을 대조해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그린 그림을 HYD 포털로 가져와 실행할 수 있게 만듭니다. 어떤 경보가 이 프로세스를 여는지, 작업마다 누가 맡는지, 갈림의 조건과 타이머의 기한이 무엇인지를 정합니다. 사전 검사로 빠진 것이 없는지 확인한 뒤 판본으로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추천안이 나온 뒤 운전원 승인에서 기다리는 상태를 확인합니다. 승인한 뒤에는 명령과 재관측을 거쳐 어느 끝 이벤트에 닿았는지를 읽습니다. 끝으로 처음부터 배포되어 있던 기준 흐름과 내 흐름의 구조를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장면을 하나씩 보며 프로세스의 어느 개념인지 먼저 말해 봅니다. 그다음 오른쪽 열의 짝이 왜 다른지 판단합니다. 승인 대기는 오류가 아니고, 갈림은 에이전트가 아니라 변수를 읽는 조건이 정하며, COMPLETED는 실행이 끝났다는 뜻일 뿐입니다. 알림 장면은 쿨러 사건이 아니라 응답이 없던 다른 처리 건의 일이라는 점도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프로세스의 흐름을 다시 설명하거나 사례를 되풀이하지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시나리오 해석 문항입니다. 승인 지연 타이머가 중단형인지 비중단형인지, 그리고 처리 건의 상태가 무엇인지를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가리는 근거 구분 문항입니다. 처리 건의 상태가 말해 주는 것과 끝 이벤트와 단계의 상태가 말해 주는 것을 나누어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1번과 4번은 알림 가지의 끝을 처리 건의 끝으로 혼동한 것이고, 2번은 기한이 지나면 자동으로 실행된다고 본 것입니다. 둘째 문항의 2번은 COMPLETED를 성공으로 읽은 것이고, 3번은 추천과 실행을 같은 일로 본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10.png"/><Relationship Id="rId4" Type="http://schemas.openxmlformats.org/officeDocument/2006/relationships/image" Target="../media/image43.png"/><Relationship Id="rId5"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4.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5.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8.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5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49.png"/><Relationship Id="rId4" Type="http://schemas.openxmlformats.org/officeDocument/2006/relationships/image" Target="../media/image53.png"/><Relationship Id="rId5" Type="http://schemas.openxmlformats.org/officeDocument/2006/relationships/image" Target="../media/image47.png"/><Relationship Id="rId6" Type="http://schemas.openxmlformats.org/officeDocument/2006/relationships/image" Target="../media/image3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3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AI와 사람이 함께 일하는 업무 프로세스를 직접 설계하고 실행하기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AI와 사람이 함께 일하는</a:t>
            </a:r>
          </a:p>
          <a:p>
            <a:pPr algn="l" eaLnBrk="0">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추천안이 승인과 실행을 거쳐 끝난 업무가 되기까지를 프로세스로 정의하고, BPMN으로 그려 실행한다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비즈니스 프로세스와 BPM</a:t>
            </a:r>
          </a:p>
          <a:p>
            <a:pPr algn="l" eaLnBrk="0" marL="154305" indent="-154305">
              <a:lnSpc>
                <a:spcPct val="110000"/>
              </a:lnSpc>
              <a:spcAft>
                <a:spcPts val="400"/>
              </a:spcAft>
            </a:pPr>
            <a:r>
              <a:rPr sz="1350" b="0">
                <a:solidFill>
                  <a:srgbClr val="1F2A3A"/>
                </a:solidFill>
                <a:latin typeface="맑은 고딕"/>
                <a:ea typeface="맑은 고딕"/>
                <a:cs typeface="맑은 고딕"/>
              </a:rPr>
              <a:t>• 작업 하나와 시작부터 끝까지의 업무를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시작 조건 · 입력 · 출력 · 책임자 · 완료 조건을 정한다</a:t>
            </a:r>
          </a:p>
        </p:txBody>
      </p:sp>
      <p:sp>
        <p:nvSpPr>
          <p:cNvPr id="10" name="Rounded Rectangle 9"/>
          <p:cNvSpPr/>
          <p:nvPr/>
        </p:nvSpPr>
        <p:spPr>
          <a:xfrm>
            <a:off x="777240" y="5324919"/>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관리</a:t>
            </a:r>
          </a:p>
        </p:txBody>
      </p:sp>
      <p:sp>
        <p:nvSpPr>
          <p:cNvPr id="12" name="Rounded Rectangle 11"/>
          <p:cNvSpPr/>
          <p:nvPr/>
        </p:nvSpPr>
        <p:spPr>
          <a:xfrm>
            <a:off x="3390823"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BPMN 표기</a:t>
            </a:r>
          </a:p>
          <a:p>
            <a:pPr algn="l" eaLnBrk="0" marL="154305" indent="-154305">
              <a:lnSpc>
                <a:spcPct val="110000"/>
              </a:lnSpc>
              <a:spcAft>
                <a:spcPts val="400"/>
              </a:spcAft>
            </a:pPr>
            <a:r>
              <a:rPr sz="1350" b="0">
                <a:solidFill>
                  <a:srgbClr val="1F2A3A"/>
                </a:solidFill>
                <a:latin typeface="맑은 고딕"/>
                <a:ea typeface="맑은 고딕"/>
                <a:cs typeface="맑은 고딕"/>
              </a:rPr>
              <a:t>• 이벤트 · 작업 · 게이트웨이 · 레인 · 타이머를 그림에서 읽는다</a:t>
            </a:r>
          </a:p>
          <a:p>
            <a:pPr algn="l" eaLnBrk="0" marL="154305" indent="-154305">
              <a:lnSpc>
                <a:spcPct val="110000"/>
              </a:lnSpc>
              <a:spcAft>
                <a:spcPts val="400"/>
              </a:spcAft>
            </a:pPr>
            <a:r>
              <a:rPr sz="1350" b="0">
                <a:solidFill>
                  <a:srgbClr val="1F2A3A"/>
                </a:solidFill>
                <a:latin typeface="맑은 고딕"/>
                <a:ea typeface="맑은 고딕"/>
                <a:cs typeface="맑은 고딕"/>
              </a:rPr>
              <a:t>• 승인과 거절의 갈림과 책임 배치를 따라간다</a:t>
            </a:r>
          </a:p>
        </p:txBody>
      </p:sp>
      <p:sp>
        <p:nvSpPr>
          <p:cNvPr id="16" name="Rounded Rectangle 15"/>
          <p:cNvSpPr/>
          <p:nvPr/>
        </p:nvSpPr>
        <p:spPr>
          <a:xfrm>
            <a:off x="3619423" y="532491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프로세스 오케스트레이션</a:t>
            </a:r>
          </a:p>
          <a:p>
            <a:pPr algn="l" eaLnBrk="0" marL="154305" indent="-154305">
              <a:lnSpc>
                <a:spcPct val="110000"/>
              </a:lnSpc>
              <a:spcAft>
                <a:spcPts val="400"/>
              </a:spcAft>
            </a:pPr>
            <a:r>
              <a:rPr sz="1350" b="0">
                <a:solidFill>
                  <a:srgbClr val="1F2A3A"/>
                </a:solidFill>
                <a:latin typeface="맑은 고딕"/>
                <a:ea typeface="맑은 고딕"/>
                <a:cs typeface="맑은 고딕"/>
              </a:rPr>
              <a:t>• 정의와 인스턴스, 토큰과 변수로 처리 건의 진행을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실행 상태 · 판본 · 감사 기록을 읽는다</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승인 절차와 긴급 대응 프로세스를 직접 그린다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 · 배포하고 처리 건의 기록을 확인한다</a:t>
            </a:r>
          </a:p>
        </p:txBody>
      </p:sp>
      <p:sp>
        <p:nvSpPr>
          <p:cNvPr id="28" name="Rounded Rectangle 27"/>
          <p:cNvSpPr/>
          <p:nvPr/>
        </p:nvSpPr>
        <p:spPr>
          <a:xfrm>
            <a:off x="9303791" y="532491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 뒤에 남은 업무와 비즈니스 프로세스</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프로세스를 정의하는 다섯 가지</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BPM의 생애주기와 AS-IS · TO-BE</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이벤트 · 작업 · 게이트웨이</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레인 · 메시지 흐름 · 타이머</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엔진과 처리 건의 진행</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변수와 에이전트 단계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상태 · 판본 · 감사 기록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절차 작성 · 긴급 대응 작도 · 연결 · 실행</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 뒤에 남은 업무와</a:t>
            </a:r>
          </a:p>
          <a:p>
            <a:pPr algn="l" eaLnBrk="0">
              <a:lnSpc>
                <a:spcPct val="110000"/>
              </a:lnSpc>
            </a:pPr>
            <a:r>
              <a:rPr sz="3400" b="1">
                <a:solidFill>
                  <a:srgbClr val="13294B"/>
                </a:solidFill>
                <a:latin typeface="맑은 고딕"/>
                <a:ea typeface="맑은 고딕"/>
                <a:cs typeface="맑은 고딕"/>
              </a:rPr>
              <a:t>비즈니스 프로세스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명령 · 확인 · 보고를 누가 어떤 순서로 잇는가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뒤에 남은 다섯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운전을 권하는 추천안이 나온 시점에도 유온은 그대로이고,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남은일_추천뒤.svg" descr="illust_393453021690411269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01215"/>
            <a:ext cx="1911644" cy="378028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84095"/>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437714"/>
            <a:ext cx="424281" cy="424281"/>
          </a:xfrm>
          <a:prstGeom prst="rect">
            <a:avLst/>
          </a:prstGeom>
        </p:spPr>
      </p:pic>
      <p:sp>
        <p:nvSpPr>
          <p:cNvPr id="9" name="TextBox 8"/>
          <p:cNvSpPr txBox="1"/>
          <p:nvPr/>
        </p:nvSpPr>
        <p:spPr>
          <a:xfrm>
            <a:off x="62179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승인</a:t>
            </a:r>
          </a:p>
          <a:p>
            <a:pPr algn="ctr" eaLnBrk="0">
              <a:lnSpc>
                <a:spcPct val="110000"/>
              </a:lnSpc>
              <a:spcAft>
                <a:spcPts val="400"/>
              </a:spcAft>
            </a:pPr>
            <a:r>
              <a:rPr sz="1500" b="0">
                <a:solidFill>
                  <a:srgbClr val="1F2A3A"/>
                </a:solidFill>
                <a:latin typeface="맑은 고딕"/>
                <a:ea typeface="맑은 고딕"/>
                <a:cs typeface="맑은 고딕"/>
              </a:rPr>
              <a:t>운전원</a:t>
            </a:r>
          </a:p>
          <a:p>
            <a:pPr algn="ctr" eaLnBrk="0">
              <a:lnSpc>
                <a:spcPct val="110000"/>
              </a:lnSpc>
              <a:spcAft>
                <a:spcPts val="400"/>
              </a:spcAft>
            </a:pPr>
            <a:r>
              <a:rPr sz="1500" b="0">
                <a:solidFill>
                  <a:srgbClr val="1F2A3A"/>
                </a:solidFill>
                <a:latin typeface="맑은 고딕"/>
                <a:ea typeface="맑은 고딕"/>
                <a:cs typeface="맑은 고딕"/>
              </a:rPr>
              <a:t>추천안을 검토해</a:t>
            </a:r>
          </a:p>
          <a:p>
            <a:pPr algn="ctr" eaLnBrk="0">
              <a:lnSpc>
                <a:spcPct val="110000"/>
              </a:lnSpc>
              <a:spcAft>
                <a:spcPts val="400"/>
              </a:spcAft>
            </a:pPr>
            <a:r>
              <a:rPr sz="150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1215"/>
            <a:ext cx="1911644" cy="378028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84095"/>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437714"/>
            <a:ext cx="424281" cy="424281"/>
          </a:xfrm>
          <a:prstGeom prst="rect">
            <a:avLst/>
          </a:prstGeom>
        </p:spPr>
      </p:pic>
      <p:sp>
        <p:nvSpPr>
          <p:cNvPr id="14" name="TextBox 13"/>
          <p:cNvSpPr txBox="1"/>
          <p:nvPr/>
        </p:nvSpPr>
        <p:spPr>
          <a:xfrm>
            <a:off x="2917484"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냉각 명령</a:t>
            </a:r>
          </a:p>
          <a:p>
            <a:pPr algn="ctr" eaLnBrk="0">
              <a:lnSpc>
                <a:spcPct val="110000"/>
              </a:lnSpc>
              <a:spcAft>
                <a:spcPts val="400"/>
              </a:spcAft>
            </a:pPr>
            <a:r>
              <a:rPr sz="1500" b="0">
                <a:solidFill>
                  <a:srgbClr val="1F2A3A"/>
                </a:solidFill>
                <a:latin typeface="맑은 고딕"/>
                <a:ea typeface="맑은 고딕"/>
                <a:cs typeface="맑은 고딕"/>
              </a:rPr>
              <a:t>SCADA</a:t>
            </a:r>
          </a:p>
          <a:p>
            <a:pPr algn="ctr" eaLnBrk="0">
              <a:lnSpc>
                <a:spcPct val="110000"/>
              </a:lnSpc>
              <a:spcAft>
                <a:spcPts val="400"/>
              </a:spcAft>
            </a:pPr>
            <a:r>
              <a:rPr sz="1500" b="0">
                <a:solidFill>
                  <a:srgbClr val="1F2A3A"/>
                </a:solidFill>
                <a:latin typeface="맑은 고딕"/>
                <a:ea typeface="맑은 고딕"/>
                <a:cs typeface="맑은 고딕"/>
              </a:rPr>
              <a:t>승인된 조치를</a:t>
            </a:r>
          </a:p>
          <a:p>
            <a:pPr algn="ctr" eaLnBrk="0">
              <a:lnSpc>
                <a:spcPct val="110000"/>
              </a:lnSpc>
              <a:spcAft>
                <a:spcPts val="400"/>
              </a:spcAft>
            </a:pPr>
            <a:r>
              <a:rPr sz="1500" b="0">
                <a:solidFill>
                  <a:srgbClr val="1F2A3A"/>
                </a:solidFill>
                <a:latin typeface="맑은 고딕"/>
                <a:ea typeface="맑은 고딕"/>
                <a:cs typeface="맑은 고딕"/>
              </a:rPr>
              <a:t>PLC에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1215"/>
            <a:ext cx="1911644" cy="378028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84095"/>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437714"/>
            <a:ext cx="424281" cy="424281"/>
          </a:xfrm>
          <a:prstGeom prst="rect">
            <a:avLst/>
          </a:prstGeom>
        </p:spPr>
      </p:pic>
      <p:sp>
        <p:nvSpPr>
          <p:cNvPr id="19" name="TextBox 18"/>
          <p:cNvSpPr txBox="1"/>
          <p:nvPr/>
        </p:nvSpPr>
        <p:spPr>
          <a:xfrm>
            <a:off x="5213177"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재관측</a:t>
            </a:r>
          </a:p>
          <a:p>
            <a:pPr algn="ctr" eaLnBrk="0">
              <a:lnSpc>
                <a:spcPct val="110000"/>
              </a:lnSpc>
              <a:spcAft>
                <a:spcPts val="400"/>
              </a:spcAft>
            </a:pPr>
            <a:r>
              <a:rPr sz="1500" b="0">
                <a:solidFill>
                  <a:srgbClr val="1F2A3A"/>
                </a:solidFill>
                <a:latin typeface="맑은 고딕"/>
                <a:ea typeface="맑은 고딕"/>
                <a:cs typeface="맑은 고딕"/>
              </a:rPr>
              <a:t>처리를 이끄는 시스템</a:t>
            </a:r>
          </a:p>
          <a:p>
            <a:pPr algn="ctr" eaLnBrk="0">
              <a:lnSpc>
                <a:spcPct val="110000"/>
              </a:lnSpc>
              <a:spcAft>
                <a:spcPts val="400"/>
              </a:spcAft>
            </a:pPr>
            <a:r>
              <a:rPr sz="1500" b="0">
                <a:solidFill>
                  <a:srgbClr val="1F2A3A"/>
                </a:solidFill>
                <a:latin typeface="맑은 고딕"/>
                <a:ea typeface="맑은 고딕"/>
                <a:cs typeface="맑은 고딕"/>
              </a:rPr>
              <a:t>유온이 55 ℃ 미만으로</a:t>
            </a:r>
          </a:p>
          <a:p>
            <a:pPr algn="ctr" eaLnBrk="0">
              <a:lnSpc>
                <a:spcPct val="110000"/>
              </a:lnSpc>
              <a:spcAft>
                <a:spcPts val="400"/>
              </a:spcAft>
            </a:pPr>
            <a:r>
              <a:rPr sz="1500" b="0">
                <a:solidFill>
                  <a:srgbClr val="1F2A3A"/>
                </a:solidFill>
                <a:latin typeface="맑은 고딕"/>
                <a:ea typeface="맑은 고딕"/>
                <a:cs typeface="맑은 고딕"/>
              </a:rPr>
              <a:t>내려왔는지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1215"/>
            <a:ext cx="1911644" cy="378028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84095"/>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437714"/>
            <a:ext cx="424281" cy="424281"/>
          </a:xfrm>
          <a:prstGeom prst="rect">
            <a:avLst/>
          </a:prstGeom>
        </p:spPr>
      </p:pic>
      <p:sp>
        <p:nvSpPr>
          <p:cNvPr id="24" name="TextBox 23"/>
          <p:cNvSpPr txBox="1"/>
          <p:nvPr/>
        </p:nvSpPr>
        <p:spPr>
          <a:xfrm>
            <a:off x="7508869"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작업지시 등록</a:t>
            </a:r>
          </a:p>
          <a:p>
            <a:pPr algn="ctr" eaLnBrk="0">
              <a:lnSpc>
                <a:spcPct val="110000"/>
              </a:lnSpc>
              <a:spcAft>
                <a:spcPts val="400"/>
              </a:spcAft>
            </a:pPr>
            <a:r>
              <a:rPr sz="1500" b="0">
                <a:solidFill>
                  <a:srgbClr val="1F2A3A"/>
                </a:solidFill>
                <a:latin typeface="맑은 고딕"/>
                <a:ea typeface="맑은 고딕"/>
                <a:cs typeface="맑은 고딕"/>
              </a:rPr>
              <a:t>CMMS</a:t>
            </a:r>
          </a:p>
          <a:p>
            <a:pPr algn="ctr" eaLnBrk="0">
              <a:lnSpc>
                <a:spcPct val="110000"/>
              </a:lnSpc>
              <a:spcAft>
                <a:spcPts val="400"/>
              </a:spcAft>
            </a:pPr>
            <a:r>
              <a:rPr sz="1500" b="0">
                <a:solidFill>
                  <a:srgbClr val="1F2A3A"/>
                </a:solidFill>
                <a:latin typeface="맑은 고딕"/>
                <a:ea typeface="맑은 고딕"/>
                <a:cs typeface="맑은 고딕"/>
              </a:rPr>
              <a:t>Computerized Maintenance</a:t>
            </a:r>
          </a:p>
          <a:p>
            <a:pPr algn="ctr" eaLnBrk="0">
              <a:lnSpc>
                <a:spcPct val="110000"/>
              </a:lnSpc>
              <a:spcAft>
                <a:spcPts val="400"/>
              </a:spcAft>
            </a:pPr>
            <a:r>
              <a:rPr sz="1500" b="0">
                <a:solidFill>
                  <a:srgbClr val="1F2A3A"/>
                </a:solidFill>
                <a:latin typeface="맑은 고딕"/>
                <a:ea typeface="맑은 고딕"/>
                <a:cs typeface="맑은 고딕"/>
              </a:rPr>
              <a:t>Management System</a:t>
            </a:r>
          </a:p>
          <a:p>
            <a:pPr algn="ctr" eaLnBrk="0">
              <a:lnSpc>
                <a:spcPct val="110000"/>
              </a:lnSpc>
              <a:spcAft>
                <a:spcPts val="400"/>
              </a:spcAft>
            </a:pPr>
            <a:r>
              <a:rPr sz="1500" b="0">
                <a:solidFill>
                  <a:srgbClr val="1F2A3A"/>
                </a:solidFill>
                <a:latin typeface="맑은 고딕"/>
                <a:ea typeface="맑은 고딕"/>
                <a:cs typeface="맑은 고딕"/>
              </a:rPr>
              <a:t>핀 세척을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1215"/>
            <a:ext cx="1911644" cy="3780281"/>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284095"/>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437714"/>
            <a:ext cx="424281" cy="424281"/>
          </a:xfrm>
          <a:prstGeom prst="rect">
            <a:avLst/>
          </a:prstGeom>
        </p:spPr>
      </p:pic>
      <p:sp>
        <p:nvSpPr>
          <p:cNvPr id="29" name="TextBox 28"/>
          <p:cNvSpPr txBox="1"/>
          <p:nvPr/>
        </p:nvSpPr>
        <p:spPr>
          <a:xfrm>
            <a:off x="980456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결과 보고</a:t>
            </a:r>
          </a:p>
          <a:p>
            <a:pPr algn="ctr" eaLnBrk="0">
              <a:lnSpc>
                <a:spcPct val="110000"/>
              </a:lnSpc>
              <a:spcAft>
                <a:spcPts val="400"/>
              </a:spcAft>
            </a:pPr>
            <a:r>
              <a:rPr sz="1500" b="0">
                <a:solidFill>
                  <a:srgbClr val="1F2A3A"/>
                </a:solidFill>
                <a:latin typeface="맑은 고딕"/>
                <a:ea typeface="맑은 고딕"/>
                <a:cs typeface="맑은 고딕"/>
              </a:rPr>
              <a:t>처리를 이끄는 시스템</a:t>
            </a:r>
          </a:p>
          <a:p>
            <a:pPr algn="ctr" eaLnBrk="0">
              <a:lnSpc>
                <a:spcPct val="110000"/>
              </a:lnSpc>
              <a:spcAft>
                <a:spcPts val="400"/>
              </a:spcAft>
            </a:pPr>
            <a:r>
              <a:rPr sz="1500" b="0">
                <a:solidFill>
                  <a:srgbClr val="1F2A3A"/>
                </a:solidFill>
                <a:latin typeface="맑은 고딕"/>
                <a:ea typeface="맑은 고딕"/>
                <a:cs typeface="맑은 고딕"/>
              </a:rPr>
              <a:t>처리한 내용과</a:t>
            </a:r>
          </a:p>
          <a:p>
            <a:pPr algn="ctr" eaLnBrk="0">
              <a:lnSpc>
                <a:spcPct val="110000"/>
              </a:lnSpc>
              <a:spcAft>
                <a:spcPts val="400"/>
              </a:spcAft>
            </a:pPr>
            <a:r>
              <a:rPr sz="1500" b="0">
                <a:solidFill>
                  <a:srgbClr val="1F2A3A"/>
                </a:solidFill>
                <a:latin typeface="맑은 고딕"/>
                <a:ea typeface="맑은 고딕"/>
                <a:cs typeface="맑은 고딕"/>
              </a:rPr>
              <a:t>결과를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멈춘다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나와도 승인을 요청받은 사람이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재관측은 누군가 기억해야 이루어진다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흩어진다</a:t>
            </a:r>
          </a:p>
          <a:p>
            <a:pPr algn="l" eaLnBrk="0">
              <a:lnSpc>
                <a:spcPct val="110000"/>
              </a:lnSpc>
              <a:spcAft>
                <a:spcPts val="400"/>
              </a:spcAft>
            </a:pPr>
            <a:r>
              <a:rPr sz="1800" b="0">
                <a:solidFill>
                  <a:srgbClr val="1F2A3A"/>
                </a:solidFill>
                <a:latin typeface="맑은 고딕"/>
                <a:ea typeface="맑은 고딕"/>
                <a:cs typeface="맑은 고딕"/>
              </a:rPr>
              <a:t>누가 승인하는지, 응답이 없으면 어떻게 되는지가 정해져 있지 않다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남지 않는다</a:t>
            </a:r>
          </a:p>
          <a:p>
            <a:pPr algn="l" eaLnBrk="0">
              <a:lnSpc>
                <a:spcPct val="110000"/>
              </a:lnSpc>
              <a:spcAft>
                <a:spcPts val="400"/>
              </a:spcAft>
            </a:pPr>
            <a:r>
              <a:rPr sz="18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지식과 값을 읽어 원인을 가린다</a:t>
            </a:r>
          </a:p>
          <a:p>
            <a:pPr algn="l" eaLnBrk="0" marL="188595" indent="-188595">
              <a:lnSpc>
                <a:spcPct val="110000"/>
              </a:lnSpc>
              <a:spcAft>
                <a:spcPts val="600"/>
              </a:spcAft>
            </a:pPr>
            <a:r>
              <a:rPr sz="1650" b="0">
                <a:solidFill>
                  <a:srgbClr val="1F2A3A"/>
                </a:solidFill>
                <a:latin typeface="맑은 고딕"/>
                <a:ea typeface="맑은 고딕"/>
                <a:cs typeface="맑은 고딕"/>
              </a:rPr>
              <a:t>• 조치 후보를 견주어 하나를 추천한다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515797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설비 명령이 나가지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승인은 정해진 역할만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비즈니스 프로세스와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비즈니스 프로세스</a:t>
            </a:r>
          </a:p>
          <a:p>
            <a:pPr algn="l" eaLnBrk="0">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eaLnBrk="0">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대응 프로세스</a:t>
            </a:r>
          </a:p>
          <a:p>
            <a:pPr algn="l" eaLnBrk="0">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eaLnBrk="0">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a:t>
            </a:r>
          </a:p>
          <a:p>
            <a:pPr algn="l" eaLnBrk="0">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건이다.</a:t>
            </a:r>
          </a:p>
          <a:p>
            <a:pPr algn="l" eaLnBrk="0">
              <a:lnSpc>
                <a:spcPct val="110000"/>
              </a:lnSpc>
              <a:spcAft>
                <a:spcPts val="300"/>
              </a:spcAft>
            </a:pPr>
            <a:r>
              <a:rPr sz="1400" b="0">
                <a:solidFill>
                  <a:srgbClr val="1F2A3A"/>
                </a:solidFill>
                <a:latin typeface="맑은 고딕"/>
                <a:ea typeface="맑은 고딕"/>
                <a:cs typeface="맑은 고딕"/>
              </a:rPr>
              <a:t>쿨러 사건은 긴급 대응 프로세스의 처리 건 하나로 진행되었다.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Task와 End-to-End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pic>
        <p:nvPicPr>
          <p:cNvPr id="6" name="삽화:남은일_종단.svg" descr="illust_97580749073062084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Task</a:t>
            </a:r>
          </a:p>
          <a:p>
            <a:pPr algn="ctr" eaLnBrk="0">
              <a:lnSpc>
                <a:spcPct val="110000"/>
              </a:lnSpc>
              <a:spcAft>
                <a:spcPts val="100"/>
              </a:spcAft>
            </a:pPr>
            <a:r>
              <a:rPr sz="1100" b="0">
                <a:solidFill>
                  <a:srgbClr val="556175"/>
                </a:solidFill>
                <a:latin typeface="맑은 고딕"/>
                <a:ea typeface="맑은 고딕"/>
                <a:cs typeface="맑은 고딕"/>
              </a:rPr>
              <a:t>작업 하나</a:t>
            </a:r>
          </a:p>
          <a:p>
            <a:pPr algn="ctr" eaLnBrk="0">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End-to-End</a:t>
            </a:r>
          </a:p>
          <a:p>
            <a:pPr algn="ctr" eaLnBrk="0">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eaLnBrk="0">
              <a:lnSpc>
                <a:spcPct val="110000"/>
              </a:lnSpc>
              <a:spcAft>
                <a:spcPts val="100"/>
              </a:spcAft>
            </a:pPr>
            <a:r>
              <a:rPr sz="1100" b="0">
                <a:solidFill>
                  <a:srgbClr val="556175"/>
                </a:solidFill>
                <a:latin typeface="맑은 고딕"/>
                <a:ea typeface="맑은 고딕"/>
                <a:cs typeface="맑은 고딕"/>
              </a:rPr>
              <a:t>끝난 시점: 명령 CMD-1010-0001-b94a, 유온 51.5 ℃, 작업지시 WO-1010-C058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프로세스의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조치 하나를 수행하는 순서를 정하고, 프로세스는 경보에서 결과 보고까지 여러 주체의 작업을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조치 하나</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수행 단계, 조건, 완료 확인 기준</a:t>
            </a:r>
          </a:p>
          <a:p>
            <a:pPr algn="l" eaLnBrk="0" marL="200025" indent="-200025">
              <a:lnSpc>
                <a:spcPct val="110000"/>
              </a:lnSpc>
              <a:spcAft>
                <a:spcPts val="600"/>
              </a:spcAft>
            </a:pPr>
            <a:r>
              <a:rPr sz="1750" b="0">
                <a:solidFill>
                  <a:srgbClr val="1F2A3A"/>
                </a:solidFill>
                <a:latin typeface="맑은 고딕"/>
                <a:ea typeface="맑은 고딕"/>
                <a:cs typeface="맑은 고딕"/>
              </a:rPr>
              <a:t>• 예: SOP-COOL-11 팬 최대 운전의 단계</a:t>
            </a:r>
          </a:p>
        </p:txBody>
      </p:sp>
      <p:sp>
        <p:nvSpPr>
          <p:cNvPr id="11" name="Rounded Rectangle 10"/>
          <p:cNvSpPr/>
          <p:nvPr/>
        </p:nvSpPr>
        <p:spPr>
          <a:xfrm>
            <a:off x="868680" y="536263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시작 사건에서 최종 결과까지</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작업의 순서, 갈림, 책임자, 끝나는 조건</a:t>
            </a:r>
          </a:p>
          <a:p>
            <a:pPr algn="l" eaLnBrk="0" marL="200025" indent="-200025">
              <a:lnSpc>
                <a:spcPct val="110000"/>
              </a:lnSpc>
              <a:spcAft>
                <a:spcPts val="600"/>
              </a:spcAft>
            </a:pPr>
            <a:r>
              <a:rPr sz="17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프로세스를 정의하는 다섯 가지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시작 조건 · 입력 · 출력 · 책임자 · 완료 조건을 실행 전에 정해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가지와 긴급 대응 프로세스의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COOLER_DEGRADATION인</a:t>
            </a:r>
          </a:p>
          <a:p>
            <a:pPr algn="l" eaLnBrk="0">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alertId</a:t>
            </a:r>
          </a:p>
          <a:p>
            <a:pPr algn="l" eaLnBrk="0">
              <a:lnSpc>
                <a:spcPct val="110000"/>
              </a:lnSpc>
              <a:spcAft>
                <a:spcPts val="400"/>
              </a:spcAft>
            </a:pPr>
            <a:r>
              <a:rPr sz="1400" b="0">
                <a:solidFill>
                  <a:srgbClr val="1F2A3A"/>
                </a:solidFill>
                <a:latin typeface="맑은 고딕"/>
                <a:ea typeface="맑은 고딕"/>
                <a:cs typeface="맑은 고딕"/>
              </a:rPr>
              <a:t>설비와 경보의 식별자가</a:t>
            </a:r>
          </a:p>
          <a:p>
            <a:pPr algn="l" eaLnBrk="0">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경보에 한 건</a:t>
            </a:r>
          </a:p>
          <a:p>
            <a:pPr algn="l" eaLnBrk="0">
              <a:lnSpc>
                <a:spcPct val="110000"/>
              </a:lnSpc>
              <a:spcAft>
                <a:spcPts val="400"/>
              </a:spcAft>
            </a:pPr>
            <a:r>
              <a:rPr sz="1400" b="0">
                <a:solidFill>
                  <a:srgbClr val="1F2A3A"/>
                </a:solidFill>
                <a:latin typeface="맑은 고딕"/>
                <a:ea typeface="맑은 고딕"/>
                <a:cs typeface="맑은 고딕"/>
              </a:rPr>
              <a:t>같은 경보로 처리 건이</a:t>
            </a:r>
          </a:p>
          <a:p>
            <a:pPr algn="l" eaLnBrk="0">
              <a:lnSpc>
                <a:spcPct val="110000"/>
              </a:lnSpc>
              <a:spcAft>
                <a:spcPts val="400"/>
              </a:spcAft>
            </a:pPr>
            <a:r>
              <a:rPr sz="1400" b="0">
                <a:solidFill>
                  <a:srgbClr val="1F2A3A"/>
                </a:solidFill>
                <a:latin typeface="맑은 고딕"/>
                <a:ea typeface="맑은 고딕"/>
                <a:cs typeface="맑은 고딕"/>
              </a:rPr>
              <a:t>두 번 열리지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66035"/>
            <a:ext cx="2485567" cy="285064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48915"/>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2902534"/>
            <a:ext cx="424281" cy="424281"/>
          </a:xfrm>
          <a:prstGeom prst="rect">
            <a:avLst/>
          </a:prstGeom>
        </p:spPr>
      </p:pic>
      <p:sp>
        <p:nvSpPr>
          <p:cNvPr id="9" name="TextBox 8"/>
          <p:cNvSpPr txBox="1"/>
          <p:nvPr/>
        </p:nvSpPr>
        <p:spPr>
          <a:xfrm>
            <a:off x="621792"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 · 냉각 조치 제안</a:t>
            </a:r>
          </a:p>
          <a:p>
            <a:pPr algn="ctr" eaLnBrk="0">
              <a:lnSpc>
                <a:spcPct val="110000"/>
              </a:lnSpc>
              <a:spcAft>
                <a:spcPts val="400"/>
              </a:spcAft>
            </a:pPr>
            <a:r>
              <a:rPr sz="1400" b="0">
                <a:solidFill>
                  <a:srgbClr val="1F2A3A"/>
                </a:solidFill>
                <a:latin typeface="맑은 고딕"/>
                <a:ea typeface="맑은 고딕"/>
                <a:cs typeface="맑은 고딕"/>
              </a:rPr>
              <a:t>받는 것: 경보</a:t>
            </a:r>
          </a:p>
          <a:p>
            <a:pPr algn="ctr" eaLnBrk="0">
              <a:lnSpc>
                <a:spcPct val="110000"/>
              </a:lnSpc>
              <a:spcAft>
                <a:spcPts val="400"/>
              </a:spcAft>
            </a:pPr>
            <a:r>
              <a:rPr sz="140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66035"/>
            <a:ext cx="2485567" cy="285064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4891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02534"/>
            <a:ext cx="424281" cy="424281"/>
          </a:xfrm>
          <a:prstGeom prst="rect">
            <a:avLst/>
          </a:prstGeom>
        </p:spPr>
      </p:pic>
      <p:sp>
        <p:nvSpPr>
          <p:cNvPr id="14" name="TextBox 13"/>
          <p:cNvSpPr txBox="1"/>
          <p:nvPr/>
        </p:nvSpPr>
        <p:spPr>
          <a:xfrm>
            <a:off x="3491407"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운전원 승인</a:t>
            </a:r>
          </a:p>
          <a:p>
            <a:pPr algn="ctr" eaLnBrk="0">
              <a:lnSpc>
                <a:spcPct val="110000"/>
              </a:lnSpc>
              <a:spcAft>
                <a:spcPts val="400"/>
              </a:spcAft>
            </a:pPr>
            <a:r>
              <a:rPr sz="1400" b="0">
                <a:solidFill>
                  <a:srgbClr val="1F2A3A"/>
                </a:solidFill>
                <a:latin typeface="맑은 고딕"/>
                <a:ea typeface="맑은 고딕"/>
                <a:cs typeface="맑은 고딕"/>
              </a:rPr>
              <a:t>받는 것: 추천안</a:t>
            </a:r>
          </a:p>
          <a:p>
            <a:pPr algn="ctr" eaLnBrk="0">
              <a:lnSpc>
                <a:spcPct val="110000"/>
              </a:lnSpc>
              <a:spcAft>
                <a:spcPts val="400"/>
              </a:spcAft>
            </a:pPr>
            <a:r>
              <a:rPr sz="140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66035"/>
            <a:ext cx="2485567" cy="285064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48915"/>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02534"/>
            <a:ext cx="424281" cy="424281"/>
          </a:xfrm>
          <a:prstGeom prst="rect">
            <a:avLst/>
          </a:prstGeom>
        </p:spPr>
      </p:pic>
      <p:sp>
        <p:nvSpPr>
          <p:cNvPr id="19" name="TextBox 18"/>
          <p:cNvSpPr txBox="1"/>
          <p:nvPr/>
        </p:nvSpPr>
        <p:spPr>
          <a:xfrm>
            <a:off x="6361023"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냉각 명령</a:t>
            </a:r>
          </a:p>
          <a:p>
            <a:pPr algn="ctr" eaLnBrk="0">
              <a:lnSpc>
                <a:spcPct val="110000"/>
              </a:lnSpc>
              <a:spcAft>
                <a:spcPts val="400"/>
              </a:spcAft>
            </a:pPr>
            <a:r>
              <a:rPr sz="1400" b="0">
                <a:solidFill>
                  <a:srgbClr val="1F2A3A"/>
                </a:solidFill>
                <a:latin typeface="맑은 고딕"/>
                <a:ea typeface="맑은 고딕"/>
                <a:cs typeface="맑은 고딕"/>
              </a:rPr>
              <a:t>받는 것: 승인된 조치</a:t>
            </a:r>
          </a:p>
          <a:p>
            <a:pPr algn="ctr" eaLnBrk="0">
              <a:lnSpc>
                <a:spcPct val="110000"/>
              </a:lnSpc>
              <a:spcAft>
                <a:spcPts val="400"/>
              </a:spcAft>
            </a:pPr>
            <a:r>
              <a:rPr sz="140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66035"/>
            <a:ext cx="2485567" cy="285064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48915"/>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2902534"/>
            <a:ext cx="424281" cy="424281"/>
          </a:xfrm>
          <a:prstGeom prst="rect">
            <a:avLst/>
          </a:prstGeom>
        </p:spPr>
      </p:pic>
      <p:sp>
        <p:nvSpPr>
          <p:cNvPr id="24" name="TextBox 23"/>
          <p:cNvSpPr txBox="1"/>
          <p:nvPr/>
        </p:nvSpPr>
        <p:spPr>
          <a:xfrm>
            <a:off x="9230639"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재관측</a:t>
            </a:r>
          </a:p>
          <a:p>
            <a:pPr algn="ctr" eaLnBrk="0">
              <a:lnSpc>
                <a:spcPct val="110000"/>
              </a:lnSpc>
              <a:spcAft>
                <a:spcPts val="400"/>
              </a:spcAft>
            </a:pPr>
            <a:r>
              <a:rPr sz="1400" b="0">
                <a:solidFill>
                  <a:srgbClr val="1F2A3A"/>
                </a:solidFill>
                <a:latin typeface="맑은 고딕"/>
                <a:ea typeface="맑은 고딕"/>
                <a:cs typeface="맑은 고딕"/>
              </a:rPr>
              <a:t>받는 것: 명령의 완료</a:t>
            </a:r>
          </a:p>
          <a:p>
            <a:pPr algn="ctr" eaLnBrk="0">
              <a:lnSpc>
                <a:spcPct val="110000"/>
              </a:lnSpc>
              <a:spcAft>
                <a:spcPts val="400"/>
              </a:spcAft>
            </a:pPr>
            <a:r>
              <a:rPr sz="1400" b="0">
                <a:solidFill>
                  <a:srgbClr val="1F2A3A"/>
                </a:solidFill>
                <a:latin typeface="맑은 고딕"/>
                <a:ea typeface="맑은 고딕"/>
                <a:cs typeface="맑은 고딕"/>
              </a:rPr>
              <a:t>내는 것: 회복 여부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역할로 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책임자를 사람의 이름이 아니라 운전원 같은 역할로 적는다</a:t>
            </a:r>
          </a:p>
          <a:p>
            <a:pPr algn="l" eaLnBrk="0" marL="205740" indent="-205740">
              <a:lnSpc>
                <a:spcPct val="110000"/>
              </a:lnSpc>
              <a:spcAft>
                <a:spcPts val="400"/>
              </a:spcAft>
            </a:pPr>
            <a:r>
              <a:rPr sz="18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사람만이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에이전트와 시스템도 작업을 맡는 책임자이다</a:t>
            </a:r>
          </a:p>
          <a:p>
            <a:pPr algn="l" eaLnBrk="0" marL="205740" indent="-205740">
              <a:lnSpc>
                <a:spcPct val="110000"/>
              </a:lnSpc>
              <a:spcAft>
                <a:spcPts val="400"/>
              </a:spcAft>
            </a:pPr>
            <a:r>
              <a:rPr sz="18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398516"/>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작업마다 하나</a:t>
            </a:r>
          </a:p>
          <a:p>
            <a:pPr algn="l" eaLnBrk="0">
              <a:lnSpc>
                <a:spcPct val="110000"/>
              </a:lnSpc>
              <a:spcAft>
                <a:spcPts val="400"/>
              </a:spcAft>
            </a:pPr>
            <a:r>
              <a:rPr sz="18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작업지시를 등록하고 결과 보고: 정상으로 닫힌다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거절로 닫힌다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닫히지 않는다. 10분이 지나면 승인 지연 알림만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순서</a:t>
            </a:r>
          </a:p>
          <a:p>
            <a:pPr algn="l" eaLnBrk="0" marL="205740" indent="-205740">
              <a:lnSpc>
                <a:spcPct val="110000"/>
              </a:lnSpc>
              <a:spcAft>
                <a:spcPts val="400"/>
              </a:spcAft>
            </a:pPr>
            <a:r>
              <a:rPr sz="1800" b="0">
                <a:solidFill>
                  <a:srgbClr val="1F2A3A"/>
                </a:solidFill>
                <a:latin typeface="맑은 고딕"/>
                <a:ea typeface="맑은 고딕"/>
                <a:cs typeface="맑은 고딕"/>
              </a:rPr>
              <a:t>• 냉각 명령 작업은 승인 작업이 승인으로 끝난 뒤에만 열린다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승인이 빠진 흐름은 등록 전 검사에서 거절된다</a:t>
            </a:r>
          </a:p>
        </p:txBody>
      </p:sp>
      <p:sp>
        <p:nvSpPr>
          <p:cNvPr id="10" name="Rounded Rectangle 9"/>
          <p:cNvSpPr/>
          <p:nvPr/>
        </p:nvSpPr>
        <p:spPr>
          <a:xfrm>
            <a:off x="777240" y="5398516"/>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책임</a:t>
            </a:r>
          </a:p>
          <a:p>
            <a:pPr algn="l" eaLnBrk="0" marL="205740" indent="-205740">
              <a:lnSpc>
                <a:spcPct val="110000"/>
              </a:lnSpc>
              <a:spcAft>
                <a:spcPts val="400"/>
              </a:spcAft>
            </a:pPr>
            <a:r>
              <a:rPr sz="1800" b="0">
                <a:solidFill>
                  <a:srgbClr val="1F2A3A"/>
                </a:solidFill>
                <a:latin typeface="맑은 고딕"/>
                <a:ea typeface="맑은 고딕"/>
                <a:cs typeface="맑은 고딕"/>
              </a:rPr>
              <a:t>• 승인 작업을 끝낼 수 있는 것은 운전원 역할이다</a:t>
            </a:r>
          </a:p>
          <a:p>
            <a:pPr algn="l" eaLnBrk="0" marL="205740" indent="-205740">
              <a:lnSpc>
                <a:spcPct val="110000"/>
              </a:lnSpc>
              <a:spcAft>
                <a:spcPts val="400"/>
              </a:spcAft>
            </a:pPr>
            <a:r>
              <a:rPr sz="18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기록</a:t>
            </a:r>
          </a:p>
          <a:p>
            <a:pPr algn="l" eaLnBrk="0">
              <a:lnSpc>
                <a:spcPct val="110000"/>
              </a:lnSpc>
              <a:spcAft>
                <a:spcPts val="400"/>
              </a:spcAft>
            </a:pPr>
            <a:r>
              <a:rPr sz="18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 등록된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그래프는 프로세스를 대상 설비와 전략 목표에 이어 두어, 그 업무가 무엇을 위해 도는지 조회하게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설비</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이상 조치</a:t>
            </a:r>
          </a:p>
          <a:p>
            <a:pPr algn="ctr" eaLnBrk="0">
              <a:lnSpc>
                <a:spcPct val="110000"/>
              </a:lnSpc>
            </a:pPr>
            <a:r>
              <a:rPr sz="1100" b="0">
                <a:solidFill>
                  <a:srgbClr val="556175"/>
                </a:solidFill>
                <a:latin typeface="맑은 고딕"/>
                <a:ea typeface="맑은 고딕"/>
                <a:cs typeface="맑은 고딕"/>
              </a:rPr>
              <a:t>프로세스</a:t>
            </a:r>
          </a:p>
          <a:p>
            <a:pPr algn="ctr" eaLnBrk="0">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가용성 확보</a:t>
            </a:r>
          </a:p>
          <a:p>
            <a:pPr algn="ctr" eaLnBrk="0">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무재해 운전</a:t>
            </a:r>
          </a:p>
          <a:p>
            <a:pPr algn="ctr" eaLnBrk="0">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납기 신뢰</a:t>
            </a:r>
          </a:p>
          <a:p>
            <a:pPr algn="ctr" eaLnBrk="0">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BPM의 생애주기와</a:t>
            </a:r>
          </a:p>
          <a:p>
            <a:pPr algn="l" eaLnBrk="0">
              <a:lnSpc>
                <a:spcPct val="110000"/>
              </a:lnSpc>
            </a:pPr>
            <a:r>
              <a:rPr sz="3400" b="1">
                <a:solidFill>
                  <a:srgbClr val="13294B"/>
                </a:solidFill>
                <a:latin typeface="맑은 고딕"/>
                <a:ea typeface="맑은 고딕"/>
                <a:cs typeface="맑은 고딕"/>
              </a:rPr>
              <a:t>AS-IS · TO-BE</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정의한 프로세스를 분석 · 설계 · 실행 · 모니터링 · 개선으로 고쳐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설비와 조직과 목표가 바뀌면 프로세스도 달라져야 하므로,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a:t>
            </a:r>
          </a:p>
          <a:p>
            <a:pPr algn="l" eaLnBrk="0">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eaLnBrk="0">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다루는 대상</a:t>
            </a:r>
          </a:p>
          <a:p>
            <a:pPr algn="l" eaLnBrk="0">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BPM주기.svg" descr="illust_576183131488443484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분석</a:t>
            </a:r>
          </a:p>
          <a:p>
            <a:pPr algn="ctr" eaLnBrk="0">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설계</a:t>
            </a:r>
          </a:p>
          <a:p>
            <a:pPr algn="ctr" eaLnBrk="0">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a:t>
            </a:r>
          </a:p>
          <a:p>
            <a:pPr algn="ctr" eaLnBrk="0">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모니터링</a:t>
            </a:r>
          </a:p>
          <a:p>
            <a:pPr algn="ctr" eaLnBrk="0">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개선</a:t>
            </a:r>
          </a:p>
          <a:p>
            <a:pPr algn="ctr" eaLnBrk="0">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경보가</a:t>
            </a:r>
          </a:p>
          <a:p>
            <a:pPr algn="l" eaLnBrk="0">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추천, 승인, 명령,</a:t>
            </a:r>
          </a:p>
          <a:p>
            <a:pPr algn="l" eaLnBrk="0">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한 건에</a:t>
            </a:r>
          </a:p>
          <a:p>
            <a:pPr algn="l" eaLnBrk="0">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승인의 대기와</a:t>
            </a:r>
          </a:p>
          <a:p>
            <a:pPr algn="l" eaLnBrk="0">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고친 흐름은 다음 경보의</a:t>
            </a:r>
          </a:p>
          <a:p>
            <a:pPr algn="l" eaLnBrk="0">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현재와목표.svg" descr="illust_9001976938934354603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AS-IS</a:t>
            </a:r>
          </a:p>
          <a:p>
            <a:pPr algn="ctr" eaLnBrk="0">
              <a:lnSpc>
                <a:spcPct val="110000"/>
              </a:lnSpc>
              <a:spcAft>
                <a:spcPts val="100"/>
              </a:spcAft>
            </a:pPr>
            <a:r>
              <a:rPr sz="1300" b="0">
                <a:solidFill>
                  <a:srgbClr val="556175"/>
                </a:solidFill>
                <a:latin typeface="맑은 고딕"/>
                <a:ea typeface="맑은 고딕"/>
                <a:cs typeface="맑은 고딕"/>
              </a:rPr>
              <a:t>지금의 방식</a:t>
            </a:r>
          </a:p>
          <a:p>
            <a:pPr algn="ctr" eaLnBrk="0">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TO-BE</a:t>
            </a:r>
          </a:p>
          <a:p>
            <a:pPr algn="ctr" eaLnBrk="0">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경보를 본 운전원이 전화로 담당을 찾는다</a:t>
            </a:r>
          </a:p>
          <a:p>
            <a:pPr algn="l" eaLnBrk="0" marL="200025" indent="-200025">
              <a:lnSpc>
                <a:spcPct val="110000"/>
              </a:lnSpc>
              <a:spcAft>
                <a:spcPts val="600"/>
              </a:spcAft>
            </a:pPr>
            <a:r>
              <a:rPr sz="1750" b="0">
                <a:solidFill>
                  <a:srgbClr val="1F2A3A"/>
                </a:solidFill>
                <a:latin typeface="맑은 고딕"/>
                <a:ea typeface="맑은 고딕"/>
                <a:cs typeface="맑은 고딕"/>
              </a:rPr>
              <a:t>• 조치 뒤의 확인은 각자 기억해서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36263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경보가 오면 추천안이 승인 작업으로 운전원에게 놓인다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 뒤의 명령과 재관측은 정해진 순서로 열린다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362638"/>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이벤트 · 작업 · 게이트웨이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순서와 갈림을 누구나 같은 뜻으로 읽게 하는 도형과 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eaLnBrk="0">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eaLnBrk="0">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eaLnBrk="0">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갈림이 묻힌다</a:t>
            </a:r>
          </a:p>
          <a:p>
            <a:pPr algn="l" eaLnBrk="0">
              <a:lnSpc>
                <a:spcPct val="110000"/>
              </a:lnSpc>
              <a:spcAft>
                <a:spcPts val="400"/>
              </a:spcAft>
            </a:pPr>
            <a:r>
              <a:rPr sz="1400" b="0">
                <a:solidFill>
                  <a:srgbClr val="1F2A3A"/>
                </a:solidFill>
                <a:latin typeface="맑은 고딕"/>
                <a:ea typeface="맑은 고딕"/>
                <a:cs typeface="맑은 고딕"/>
              </a:rPr>
              <a:t>「~하면」과 「아니면」이</a:t>
            </a:r>
          </a:p>
          <a:p>
            <a:pPr algn="l" eaLnBrk="0">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책임자가 묻힌다</a:t>
            </a:r>
          </a:p>
          <a:p>
            <a:pPr algn="l" eaLnBrk="0">
              <a:lnSpc>
                <a:spcPct val="110000"/>
              </a:lnSpc>
              <a:spcAft>
                <a:spcPts val="400"/>
              </a:spcAft>
            </a:pPr>
            <a:r>
              <a:rPr sz="1400" b="0">
                <a:solidFill>
                  <a:srgbClr val="1F2A3A"/>
                </a:solidFill>
                <a:latin typeface="맑은 고딕"/>
                <a:ea typeface="맑은 고딕"/>
                <a:cs typeface="맑은 고딕"/>
              </a:rPr>
              <a:t>재관측과 보고를 누가 하는지</a:t>
            </a:r>
          </a:p>
          <a:p>
            <a:pPr algn="l" eaLnBrk="0">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다르게 읽힌다</a:t>
            </a:r>
          </a:p>
          <a:p>
            <a:pPr algn="l" eaLnBrk="0">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eaLnBrk="0">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BPMN</a:t>
            </a:r>
          </a:p>
          <a:p>
            <a:pPr algn="l" eaLnBrk="0">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eaLnBrk="0">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정한 곳</a:t>
            </a:r>
          </a:p>
          <a:p>
            <a:pPr algn="l" eaLnBrk="0">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읽는 쪽</a:t>
            </a:r>
          </a:p>
          <a:p>
            <a:pPr algn="l" eaLnBrk="0">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요소묶음.svg" descr="illust_771839474434708374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흐름 객체</a:t>
            </a:r>
          </a:p>
          <a:p>
            <a:pPr algn="ctr" eaLnBrk="0">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연결 객체</a:t>
            </a:r>
          </a:p>
          <a:p>
            <a:pPr algn="ctr" eaLnBrk="0">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스윔레인</a:t>
            </a:r>
          </a:p>
          <a:p>
            <a:pPr algn="ctr" eaLnBrk="0">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흐름_전체.svg" descr="illust_571407806024919606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282238"/>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37762"/>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415674" y="3476064"/>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4861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이벤트.svg" descr="illust_180684566507410199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Start Event</a:t>
            </a:r>
          </a:p>
          <a:p>
            <a:pPr algn="ctr" eaLnBrk="0">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시작 이벤트</a:t>
            </a:r>
          </a:p>
          <a:p>
            <a:pPr algn="ctr" eaLnBrk="0">
              <a:lnSpc>
                <a:spcPct val="110000"/>
              </a:lnSpc>
              <a:spcAft>
                <a:spcPts val="100"/>
              </a:spcAft>
            </a:pPr>
            <a:r>
              <a:rPr sz="1300" b="0">
                <a:solidFill>
                  <a:srgbClr val="556175"/>
                </a:solidFill>
                <a:latin typeface="맑은 고딕"/>
                <a:ea typeface="맑은 고딕"/>
                <a:cs typeface="맑은 고딕"/>
              </a:rPr>
              <a:t>Message Start Event</a:t>
            </a:r>
          </a:p>
          <a:p>
            <a:pPr algn="ctr" eaLnBrk="0">
              <a:lnSpc>
                <a:spcPct val="110000"/>
              </a:lnSpc>
              <a:spcAft>
                <a:spcPts val="100"/>
              </a:spcAft>
            </a:pPr>
            <a:r>
              <a:rPr sz="1300" b="0">
                <a:solidFill>
                  <a:srgbClr val="556175"/>
                </a:solidFill>
                <a:latin typeface="맑은 고딕"/>
                <a:ea typeface="맑은 고딕"/>
                <a:cs typeface="맑은 고딕"/>
              </a:rPr>
              <a:t>메시지를 받으면 연다</a:t>
            </a:r>
          </a:p>
          <a:p>
            <a:pPr algn="ctr" eaLnBrk="0">
              <a:lnSpc>
                <a:spcPct val="110000"/>
              </a:lnSpc>
              <a:spcAft>
                <a:spcPts val="100"/>
              </a:spcAft>
            </a:pPr>
            <a:r>
              <a:rPr sz="1300" b="0">
                <a:solidFill>
                  <a:srgbClr val="556175"/>
                </a:solidFill>
                <a:latin typeface="맑은 고딕"/>
                <a:ea typeface="맑은 고딕"/>
                <a:cs typeface="맑은 고딕"/>
              </a:rPr>
              <a:t>예: 쿨러 과열 경보</a:t>
            </a:r>
          </a:p>
        </p:txBody>
      </p:sp>
      <p:sp>
        <p:nvSpPr>
          <p:cNvPr id="9" name="TextBox 8"/>
          <p:cNvSpPr txBox="1"/>
          <p:nvPr/>
        </p:nvSpPr>
        <p:spPr>
          <a:xfrm>
            <a:off x="8135923" y="4464100"/>
            <a:ext cx="283646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끝 이벤트</a:t>
            </a:r>
          </a:p>
          <a:p>
            <a:pPr algn="ctr" eaLnBrk="0">
              <a:lnSpc>
                <a:spcPct val="110000"/>
              </a:lnSpc>
              <a:spcAft>
                <a:spcPts val="100"/>
              </a:spcAft>
            </a:pPr>
            <a:r>
              <a:rPr sz="1300" b="0">
                <a:solidFill>
                  <a:srgbClr val="556175"/>
                </a:solidFill>
                <a:latin typeface="맑은 고딕"/>
                <a:ea typeface="맑은 고딕"/>
                <a:cs typeface="맑은 고딕"/>
              </a:rPr>
              <a:t>End Event</a:t>
            </a:r>
          </a:p>
          <a:p>
            <a:pPr algn="ctr" eaLnBrk="0">
              <a:lnSpc>
                <a:spcPct val="110000"/>
              </a:lnSpc>
              <a:spcAft>
                <a:spcPts val="100"/>
              </a:spcAft>
            </a:pPr>
            <a:r>
              <a:rPr sz="1300" b="0">
                <a:solidFill>
                  <a:srgbClr val="556175"/>
                </a:solidFill>
                <a:latin typeface="맑은 고딕"/>
                <a:ea typeface="맑은 고딕"/>
                <a:cs typeface="맑은 고딕"/>
              </a:rPr>
              <a:t>한 갈래를 닫는 사건</a:t>
            </a:r>
          </a:p>
          <a:p>
            <a:pPr algn="ctr" eaLnBrk="0">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작업(Task)은 더 쪼개지지 않는 활동이며, 상자 왼쪽 위의 표식이 그 일을 사람이 하는지 시스템이 하는지를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작업종류.svg" descr="illust_843942502573729190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a:t>
            </a:r>
          </a:p>
          <a:p>
            <a:pPr algn="ctr" eaLnBrk="0">
              <a:lnSpc>
                <a:spcPct val="110000"/>
              </a:lnSpc>
              <a:spcAft>
                <a:spcPts val="100"/>
              </a:spcAft>
            </a:pPr>
            <a:r>
              <a:rPr sz="1300" b="0">
                <a:solidFill>
                  <a:srgbClr val="556175"/>
                </a:solidFill>
                <a:latin typeface="맑은 고딕"/>
                <a:ea typeface="맑은 고딕"/>
                <a:cs typeface="맑은 고딕"/>
              </a:rPr>
              <a:t>Task · 표식 없음</a:t>
            </a:r>
          </a:p>
          <a:p>
            <a:pPr algn="ctr" eaLnBrk="0">
              <a:lnSpc>
                <a:spcPct val="110000"/>
              </a:lnSpc>
              <a:spcAft>
                <a:spcPts val="100"/>
              </a:spcAft>
            </a:pPr>
            <a:r>
              <a:rPr sz="1300" b="0">
                <a:solidFill>
                  <a:srgbClr val="556175"/>
                </a:solidFill>
                <a:latin typeface="맑은 고딕"/>
                <a:ea typeface="맑은 고딕"/>
                <a:cs typeface="맑은 고딕"/>
              </a:rPr>
              <a:t>에이전트 단계도 이 모양</a:t>
            </a:r>
          </a:p>
        </p:txBody>
      </p:sp>
      <p:sp>
        <p:nvSpPr>
          <p:cNvPr id="11" name="TextBox 10"/>
          <p:cNvSpPr txBox="1"/>
          <p:nvPr/>
        </p:nvSpPr>
        <p:spPr>
          <a:xfrm>
            <a:off x="4786708"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사용자 작업</a:t>
            </a:r>
          </a:p>
          <a:p>
            <a:pPr algn="ctr" eaLnBrk="0">
              <a:lnSpc>
                <a:spcPct val="110000"/>
              </a:lnSpc>
              <a:spcAft>
                <a:spcPts val="100"/>
              </a:spcAft>
            </a:pPr>
            <a:r>
              <a:rPr sz="1300" b="0">
                <a:solidFill>
                  <a:srgbClr val="556175"/>
                </a:solidFill>
                <a:latin typeface="맑은 고딕"/>
                <a:ea typeface="맑은 고딕"/>
                <a:cs typeface="맑은 고딕"/>
              </a:rPr>
              <a:t>User Task · 사람 표식</a:t>
            </a:r>
          </a:p>
        </p:txBody>
      </p:sp>
      <p:sp>
        <p:nvSpPr>
          <p:cNvPr id="12" name="TextBox 11"/>
          <p:cNvSpPr txBox="1"/>
          <p:nvPr/>
        </p:nvSpPr>
        <p:spPr>
          <a:xfrm>
            <a:off x="8332294"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서비스 작업</a:t>
            </a:r>
          </a:p>
          <a:p>
            <a:pPr algn="ctr" eaLnBrk="0">
              <a:lnSpc>
                <a:spcPct val="110000"/>
              </a:lnSpc>
              <a:spcAft>
                <a:spcPts val="100"/>
              </a:spcAft>
            </a:pPr>
            <a:r>
              <a:rPr sz="1300" b="0">
                <a:solidFill>
                  <a:srgbClr val="556175"/>
                </a:solidFill>
                <a:latin typeface="맑은 고딕"/>
                <a:ea typeface="맑은 고딕"/>
                <a:cs typeface="맑은 고딕"/>
              </a:rPr>
              <a:t>Service Task · 톱니 표식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게이트웨이.svg" descr="illust_103803699752484764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시퀀스 흐름</a:t>
            </a:r>
          </a:p>
          <a:p>
            <a:pPr algn="ctr" eaLnBrk="0">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배타 게이트웨이</a:t>
            </a:r>
          </a:p>
          <a:p>
            <a:pPr algn="ctr" eaLnBrk="0">
              <a:lnSpc>
                <a:spcPct val="110000"/>
              </a:lnSpc>
              <a:spcAft>
                <a:spcPts val="100"/>
              </a:spcAft>
            </a:pPr>
            <a:r>
              <a:rPr sz="1300" b="0">
                <a:solidFill>
                  <a:srgbClr val="556175"/>
                </a:solidFill>
                <a:latin typeface="맑은 고딕"/>
                <a:ea typeface="맑은 고딕"/>
                <a:cs typeface="맑은 고딕"/>
              </a:rPr>
              <a:t>Exclusive Gateway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기본 흐름(Default Flow)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레인 · 메시지 흐름 · 타이머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누가 맡는지와 기다리는 동안 생기는 일을 그림에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풀과레인.svg" descr="illust_908996679590726016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풀</a:t>
            </a:r>
          </a:p>
          <a:p>
            <a:pPr algn="ctr" eaLnBrk="0">
              <a:lnSpc>
                <a:spcPct val="110000"/>
              </a:lnSpc>
              <a:spcAft>
                <a:spcPts val="100"/>
              </a:spcAft>
            </a:pPr>
            <a:r>
              <a:rPr sz="1300" b="0">
                <a:solidFill>
                  <a:srgbClr val="556175"/>
                </a:solidFill>
                <a:latin typeface="맑은 고딕"/>
                <a:ea typeface="맑은 고딕"/>
                <a:cs typeface="맑은 고딕"/>
              </a:rPr>
              <a:t>Pool</a:t>
            </a:r>
          </a:p>
          <a:p>
            <a:pPr algn="ctr" eaLnBrk="0">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레인</a:t>
            </a:r>
          </a:p>
          <a:p>
            <a:pPr algn="ctr" eaLnBrk="0">
              <a:lnSpc>
                <a:spcPct val="110000"/>
              </a:lnSpc>
              <a:spcAft>
                <a:spcPts val="100"/>
              </a:spcAft>
            </a:pPr>
            <a:r>
              <a:rPr sz="1300" b="0">
                <a:solidFill>
                  <a:srgbClr val="556175"/>
                </a:solidFill>
                <a:latin typeface="맑은 고딕"/>
                <a:ea typeface="맑은 고딕"/>
                <a:cs typeface="맑은 고딕"/>
              </a:rPr>
              <a:t>Lane</a:t>
            </a:r>
          </a:p>
          <a:p>
            <a:pPr algn="ctr" eaLnBrk="0">
              <a:lnSpc>
                <a:spcPct val="110000"/>
              </a:lnSpc>
              <a:spcAft>
                <a:spcPts val="100"/>
              </a:spcAft>
            </a:pPr>
            <a:r>
              <a:rPr sz="1300" b="0">
                <a:solidFill>
                  <a:srgbClr val="556175"/>
                </a:solidFill>
                <a:latin typeface="맑은 고딕"/>
                <a:ea typeface="맑은 고딕"/>
                <a:cs typeface="맑은 고딕"/>
              </a:rPr>
              <a:t>풀 안의 책임 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메시지흐름.svg" descr="illust_896495024922935779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52185"/>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흐름</a:t>
            </a:r>
          </a:p>
          <a:p>
            <a:pPr algn="ctr" eaLnBrk="0">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경계타이머.svg" descr="illust_905801206516318957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중단형</a:t>
            </a:r>
          </a:p>
          <a:p>
            <a:pPr algn="ctr" eaLnBrk="0">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비중단형</a:t>
            </a:r>
          </a:p>
          <a:p>
            <a:pPr algn="ctr" eaLnBrk="0">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끊긴 작업</a:t>
            </a:r>
          </a:p>
        </p:txBody>
      </p:sp>
      <p:sp>
        <p:nvSpPr>
          <p:cNvPr id="10" name="TextBox 9"/>
          <p:cNvSpPr txBox="1"/>
          <p:nvPr/>
        </p:nvSpPr>
        <p:spPr>
          <a:xfrm>
            <a:off x="6423132"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계속되는 작업</a:t>
            </a:r>
          </a:p>
        </p:txBody>
      </p:sp>
      <p:sp>
        <p:nvSpPr>
          <p:cNvPr id="11" name="TextBox 10"/>
          <p:cNvSpPr txBox="1"/>
          <p:nvPr/>
        </p:nvSpPr>
        <p:spPr>
          <a:xfrm>
            <a:off x="4077591"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승인자리.svg" descr="illust_493352176536162181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3583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32214"/>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냉각 명령으로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재관측과 유온 정상? 게이트웨이를 지난다</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거절</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응답 없음</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 타이머가 승인 지연 알림을 연다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프로세스가 커지면 여러 작업을 함께 여는 병렬 게이트웨이와 흐름을 작업 하나로 접는 하위 프로세스가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병렬과하위.svg" descr="illust_420757957177442202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병렬 게이트웨이</a:t>
            </a:r>
          </a:p>
          <a:p>
            <a:pPr algn="ctr" eaLnBrk="0">
              <a:lnSpc>
                <a:spcPct val="110000"/>
              </a:lnSpc>
              <a:spcAft>
                <a:spcPts val="100"/>
              </a:spcAft>
            </a:pPr>
            <a:r>
              <a:rPr sz="1300" b="0">
                <a:solidFill>
                  <a:srgbClr val="556175"/>
                </a:solidFill>
                <a:latin typeface="맑은 고딕"/>
                <a:ea typeface="맑은 고딕"/>
                <a:cs typeface="맑은 고딕"/>
              </a:rPr>
              <a:t>Parallel Gateway · 모든 갈래로 함께 보낸다</a:t>
            </a:r>
          </a:p>
        </p:txBody>
      </p:sp>
      <p:sp>
        <p:nvSpPr>
          <p:cNvPr id="8" name="TextBox 7"/>
          <p:cNvSpPr txBox="1"/>
          <p:nvPr/>
        </p:nvSpPr>
        <p:spPr>
          <a:xfrm>
            <a:off x="6641322" y="2313111"/>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프로세스</a:t>
            </a:r>
          </a:p>
          <a:p>
            <a:pPr algn="ctr" eaLnBrk="0">
              <a:lnSpc>
                <a:spcPct val="110000"/>
              </a:lnSpc>
              <a:spcAft>
                <a:spcPts val="100"/>
              </a:spcAft>
            </a:pPr>
            <a:r>
              <a:rPr sz="1300" b="0">
                <a:solidFill>
                  <a:srgbClr val="556175"/>
                </a:solidFill>
                <a:latin typeface="맑은 고딕"/>
                <a:ea typeface="맑은 고딕"/>
                <a:cs typeface="맑은 고딕"/>
              </a:rPr>
              <a:t>Sub-Process · 흐름을 작업 하나로 접는다</a:t>
            </a:r>
          </a:p>
        </p:txBody>
      </p:sp>
      <p:sp>
        <p:nvSpPr>
          <p:cNvPr id="9" name="TextBox 8"/>
          <p:cNvSpPr txBox="1"/>
          <p:nvPr/>
        </p:nvSpPr>
        <p:spPr>
          <a:xfrm>
            <a:off x="4650339" y="4546831"/>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합류</a:t>
            </a:r>
          </a:p>
        </p:txBody>
      </p:sp>
      <p:sp>
        <p:nvSpPr>
          <p:cNvPr id="10" name="TextBox 9"/>
          <p:cNvSpPr txBox="1"/>
          <p:nvPr/>
        </p:nvSpPr>
        <p:spPr>
          <a:xfrm>
            <a:off x="9259601" y="332951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엔진과</a:t>
            </a:r>
          </a:p>
          <a:p>
            <a:pPr algn="l" eaLnBrk="0">
              <a:lnSpc>
                <a:spcPct val="110000"/>
              </a:lnSpc>
            </a:pPr>
            <a:r>
              <a:rPr sz="3400" b="1">
                <a:solidFill>
                  <a:srgbClr val="13294B"/>
                </a:solidFill>
                <a:latin typeface="맑은 고딕"/>
                <a:ea typeface="맑은 고딕"/>
                <a:cs typeface="맑은 고딕"/>
              </a:rPr>
              <a:t>처리 건의 진행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그림을 읽어 작업을 차례로 여는 실행 주체와, 처리 건이 지금 어디에 있는지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다음 작업 열기</a:t>
            </a:r>
          </a:p>
          <a:p>
            <a:pPr algn="l" eaLnBrk="0">
              <a:lnSpc>
                <a:spcPct val="110000"/>
              </a:lnSpc>
              <a:spcAft>
                <a:spcPts val="400"/>
              </a:spcAft>
            </a:pPr>
            <a:r>
              <a:rPr sz="18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511962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 넘기기</a:t>
            </a:r>
          </a:p>
          <a:p>
            <a:pPr algn="l" eaLnBrk="0">
              <a:lnSpc>
                <a:spcPct val="110000"/>
              </a:lnSpc>
              <a:spcAft>
                <a:spcPts val="400"/>
              </a:spcAft>
            </a:pPr>
            <a:r>
              <a:rPr sz="18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511962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위치 기억하기</a:t>
            </a:r>
          </a:p>
          <a:p>
            <a:pPr algn="l" eaLnBrk="0">
              <a:lnSpc>
                <a:spcPct val="110000"/>
              </a:lnSpc>
              <a:spcAft>
                <a:spcPts val="400"/>
              </a:spcAft>
            </a:pPr>
            <a:r>
              <a:rPr sz="18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511962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프로세스 엔진</a:t>
            </a:r>
          </a:p>
          <a:p>
            <a:pPr algn="l" eaLnBrk="0">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eaLnBrk="0">
              <a:lnSpc>
                <a:spcPct val="110000"/>
              </a:lnSpc>
              <a:spcAft>
                <a:spcPts val="300"/>
              </a:spcAft>
            </a:pPr>
            <a:r>
              <a:rPr sz="1400" b="0">
                <a:solidFill>
                  <a:srgbClr val="1F2A3A"/>
                </a:solidFill>
                <a:latin typeface="맑은 고딕"/>
                <a:ea typeface="맑은 고딕"/>
                <a:cs typeface="맑은 고딕"/>
              </a:rPr>
              <a:t>HYD에서는 경보로 열린 처리 건을 이 엔진이 끝까지 진행시킨다.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오케스트레이션</a:t>
            </a:r>
          </a:p>
          <a:p>
            <a:pPr algn="l" eaLnBrk="0">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eaLnBrk="0">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오케스트라의 지휘자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eaLnBrk="0">
              <a:lnSpc>
                <a:spcPct val="110000"/>
              </a:lnSpc>
              <a:spcAft>
                <a:spcPts val="300"/>
              </a:spcAft>
            </a:pPr>
            <a:r>
              <a:rPr sz="1400" b="0">
                <a:solidFill>
                  <a:srgbClr val="1F2A3A"/>
                </a:solidFill>
                <a:latin typeface="맑은 고딕"/>
                <a:ea typeface="맑은 고딕"/>
                <a:cs typeface="맑은 고딕"/>
              </a:rPr>
              <a:t>다른 점: 엔진은 작업의 결과를 받아 다음 작업에 넘기고 기록한다.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정의와인스턴스.svg" descr="illust_123537217655172279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정의</a:t>
            </a:r>
          </a:p>
          <a:p>
            <a:pPr algn="ctr" eaLnBrk="0">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c3_cooling</a:t>
            </a:r>
          </a:p>
          <a:p>
            <a:pPr algn="ctr" eaLnBrk="0">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인스턴스</a:t>
            </a:r>
          </a:p>
          <a:p>
            <a:pPr algn="ctr" eaLnBrk="0">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4f93a9d0… 쿨러 사건</a:t>
            </a:r>
          </a:p>
        </p:txBody>
      </p:sp>
      <p:sp>
        <p:nvSpPr>
          <p:cNvPr id="11" name="TextBox 10"/>
          <p:cNvSpPr txBox="1"/>
          <p:nvPr/>
        </p:nvSpPr>
        <p:spPr>
          <a:xfrm>
            <a:off x="6968607" y="3792803"/>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54925964407837117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토큰</a:t>
            </a:r>
          </a:p>
          <a:p>
            <a:pPr algn="ctr" eaLnBrk="0">
              <a:lnSpc>
                <a:spcPct val="110000"/>
              </a:lnSpc>
              <a:spcAft>
                <a:spcPts val="100"/>
              </a:spcAft>
            </a:pPr>
            <a:r>
              <a:rPr sz="1100" b="0">
                <a:solidFill>
                  <a:srgbClr val="556175"/>
                </a:solidFill>
                <a:latin typeface="맑은 고딕"/>
                <a:ea typeface="맑은 고딕"/>
                <a:cs typeface="맑은 고딕"/>
              </a:rPr>
              <a:t>Token · 프로세스의 현재 위치</a:t>
            </a:r>
          </a:p>
        </p:txBody>
      </p:sp>
      <p:sp>
        <p:nvSpPr>
          <p:cNvPr id="8" name="TextBox 7"/>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시작 이벤트</a:t>
            </a:r>
          </a:p>
        </p:txBody>
      </p:sp>
      <p:sp>
        <p:nvSpPr>
          <p:cNvPr id="11" name="TextBox 10"/>
          <p:cNvSpPr txBox="1"/>
          <p:nvPr/>
        </p:nvSpPr>
        <p:spPr>
          <a:xfrm>
            <a:off x="10350550" y="3376787"/>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 이벤트</a:t>
            </a:r>
          </a:p>
        </p:txBody>
      </p:sp>
      <p:sp>
        <p:nvSpPr>
          <p:cNvPr id="12" name="TextBox 11"/>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6" name="TextBox 15"/>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7" name="TextBox 16"/>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8" name="TextBox 17"/>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"status": "RUNNING",</a:t>
            </a:r>
          </a:p>
          <a:p>
            <a:pPr algn="l" eaLnBrk="0">
              <a:lnSpc>
                <a:spcPct val="110000"/>
              </a:lnSpc>
              <a:spcAft>
                <a:spcPts val="200"/>
              </a:spcAft>
            </a:pPr>
            <a:r>
              <a:rPr sz="1300" b="0">
                <a:solidFill>
                  <a:srgbClr val="E8EEF6"/>
                </a:solidFill>
                <a:latin typeface="Consolas"/>
                <a:ea typeface="맑은 고딕"/>
                <a:cs typeface="맑은 고딕"/>
              </a:rPr>
              <a:t>"current_activity_ids": ["T_approve"]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T_agent     DONE</a:t>
            </a:r>
          </a:p>
          <a:p>
            <a:pPr algn="l" eaLnBrk="0">
              <a:lnSpc>
                <a:spcPct val="110000"/>
              </a:lnSpc>
              <a:spcAft>
                <a:spcPts val="200"/>
              </a:spcAft>
            </a:pPr>
            <a:r>
              <a:rPr sz="1300" b="0">
                <a:solidFill>
                  <a:srgbClr val="E8EEF6"/>
                </a:solidFill>
                <a:latin typeface="Consolas"/>
                <a:ea typeface="맑은 고딕"/>
                <a:cs typeface="맑은 고딕"/>
              </a:rPr>
              <a:t>T_approve   IN_PROGRESS</a:t>
            </a:r>
          </a:p>
          <a:p>
            <a:pPr algn="l" eaLnBrk="0">
              <a:lnSpc>
                <a:spcPct val="110000"/>
              </a:lnSpc>
              <a:spcAft>
                <a:spcPts val="200"/>
              </a:spcAft>
            </a:pPr>
            <a:r>
              <a:rPr sz="1300" b="0">
                <a:solidFill>
                  <a:srgbClr val="E8EEF6"/>
                </a:solidFill>
                <a:latin typeface="Consolas"/>
                <a:ea typeface="맑은 고딕"/>
                <a:cs typeface="맑은 고딕"/>
              </a:rPr>
              <a:t>T_cmd       TODO</a:t>
            </a:r>
          </a:p>
          <a:p>
            <a:pPr algn="l" eaLnBrk="0">
              <a:lnSpc>
                <a:spcPct val="110000"/>
              </a:lnSpc>
              <a:spcAft>
                <a:spcPts val="200"/>
              </a:spcAft>
            </a:pPr>
            <a:r>
              <a:rPr sz="1300" b="0">
                <a:solidFill>
                  <a:srgbClr val="E8EEF6"/>
                </a:solidFill>
                <a:latin typeface="Consolas"/>
                <a:ea typeface="맑은 고딕"/>
                <a:cs typeface="맑은 고딕"/>
              </a:rPr>
              <a:t>T_reobs     TODO</a:t>
            </a:r>
          </a:p>
          <a:p>
            <a:pPr algn="l" eaLnBrk="0">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처리 건의 상태</a:t>
            </a:r>
          </a:p>
          <a:p>
            <a:pPr algn="l" eaLnBrk="0">
              <a:lnSpc>
                <a:spcPct val="110000"/>
              </a:lnSpc>
              <a:spcAft>
                <a:spcPts val="400"/>
              </a:spcAft>
            </a:pPr>
            <a:r>
              <a:rPr sz="1400" b="0">
                <a:solidFill>
                  <a:srgbClr val="1F2A3A"/>
                </a:solidFill>
                <a:latin typeface="맑은 고딕"/>
                <a:ea typeface="맑은 고딕"/>
                <a:cs typeface="맑은 고딕"/>
              </a:rPr>
              <a:t>끝나지 않았으므로</a:t>
            </a:r>
          </a:p>
          <a:p>
            <a:pPr algn="l" eaLnBrk="0">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열려 있는 단계</a:t>
            </a:r>
          </a:p>
          <a:p>
            <a:pPr algn="l" eaLnBrk="0">
              <a:lnSpc>
                <a:spcPct val="110000"/>
              </a:lnSpc>
              <a:spcAft>
                <a:spcPts val="400"/>
              </a:spcAft>
            </a:pPr>
            <a:r>
              <a:rPr sz="1400" b="0">
                <a:solidFill>
                  <a:srgbClr val="1F2A3A"/>
                </a:solidFill>
                <a:latin typeface="맑은 고딕"/>
                <a:ea typeface="맑은 고딕"/>
                <a:cs typeface="맑은 고딕"/>
              </a:rPr>
              <a:t>토큰이 있는 곳이</a:t>
            </a:r>
          </a:p>
          <a:p>
            <a:pPr algn="l" eaLnBrk="0">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단계의 상태</a:t>
            </a:r>
          </a:p>
          <a:p>
            <a:pPr algn="l" eaLnBrk="0">
              <a:lnSpc>
                <a:spcPct val="110000"/>
              </a:lnSpc>
              <a:spcAft>
                <a:spcPts val="400"/>
              </a:spcAft>
            </a:pPr>
            <a:r>
              <a:rPr sz="1400" b="0">
                <a:solidFill>
                  <a:srgbClr val="1F2A3A"/>
                </a:solidFill>
                <a:latin typeface="맑은 고딕"/>
                <a:ea typeface="맑은 고딕"/>
                <a:cs typeface="맑은 고딕"/>
              </a:rPr>
              <a:t>끝난 것은 DONE,</a:t>
            </a:r>
          </a:p>
          <a:p>
            <a:pPr algn="l" eaLnBrk="0">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흐름_토큰_둘.svg" descr="illust_812352827475389609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13948" y="4977028"/>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처음의 토큰</a:t>
            </a:r>
          </a:p>
          <a:p>
            <a:pPr algn="ctr" eaLnBrk="0">
              <a:lnSpc>
                <a:spcPct val="110000"/>
              </a:lnSpc>
              <a:spcAft>
                <a:spcPts val="100"/>
              </a:spcAft>
            </a:pPr>
            <a:r>
              <a:rPr sz="1100" b="0">
                <a:solidFill>
                  <a:srgbClr val="556175"/>
                </a:solidFill>
                <a:latin typeface="맑은 고딕"/>
                <a:ea typeface="맑은 고딕"/>
                <a:cs typeface="맑은 고딕"/>
              </a:rPr>
              <a:t>운전원 승인에서 승인을 기다린다</a:t>
            </a:r>
          </a:p>
        </p:txBody>
      </p:sp>
      <p:sp>
        <p:nvSpPr>
          <p:cNvPr id="11" name="TextBox 10"/>
          <p:cNvSpPr txBox="1"/>
          <p:nvPr/>
        </p:nvSpPr>
        <p:spPr>
          <a:xfrm>
            <a:off x="1677502" y="4842296"/>
            <a:ext cx="185461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둘째 토큰</a:t>
            </a:r>
          </a:p>
          <a:p>
            <a:pPr algn="ctr" eaLnBrk="0">
              <a:lnSpc>
                <a:spcPct val="110000"/>
              </a:lnSpc>
              <a:spcAft>
                <a:spcPts val="100"/>
              </a:spcAft>
            </a:pPr>
            <a:r>
              <a:rPr sz="1100" b="0">
                <a:solidFill>
                  <a:srgbClr val="556175"/>
                </a:solidFill>
                <a:latin typeface="맑은 고딕"/>
                <a:ea typeface="맑은 고딕"/>
                <a:cs typeface="맑은 고딕"/>
              </a:rPr>
              <a:t>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변수와</a:t>
            </a:r>
          </a:p>
          <a:p>
            <a:pPr algn="l" eaLnBrk="0">
              <a:lnSpc>
                <a:spcPct val="110000"/>
              </a:lnSpc>
            </a:pPr>
            <a:r>
              <a:rPr sz="3400" b="1">
                <a:solidFill>
                  <a:srgbClr val="13294B"/>
                </a:solidFill>
                <a:latin typeface="맑은 고딕"/>
                <a:ea typeface="맑은 고딕"/>
                <a:cs typeface="맑은 고딕"/>
              </a:rPr>
              <a:t>에이전트 단계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작업의 결과가 다음 작업으로 전해지는 길과, 에이전트 단계가 맡는 범위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변수(Process Variable)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변수는 인스턴스가 지니는 이름 붙은 값으로,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만드는 단계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오염</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a:t>
            </a:r>
          </a:p>
          <a:p>
            <a:pPr algn="l" eaLnBrk="0">
              <a:lnSpc>
                <a:spcPct val="110000"/>
              </a:lnSpc>
            </a:pPr>
            <a:r>
              <a:rPr sz="1200" b="1">
                <a:solidFill>
                  <a:srgbClr val="1A6FC4"/>
                </a:solidFill>
                <a:latin typeface="맑은 고딕"/>
                <a:ea typeface="맑은 고딕"/>
                <a:cs typeface="맑은 고딕"/>
              </a:rPr>
              <a:t>승인? 게이트웨이가 읽는다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chosen_skill</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회복</a:t>
            </a:r>
          </a:p>
          <a:p>
            <a:pPr algn="l" eaLnBrk="0">
              <a:lnSpc>
                <a:spcPct val="110000"/>
              </a:lnSpc>
            </a:pPr>
            <a:r>
              <a:rPr sz="1250" b="1">
                <a:solidFill>
                  <a:srgbClr val="1A6FC4"/>
                </a:solidFill>
                <a:latin typeface="맑은 고딕"/>
                <a:ea typeface="맑은 고딕"/>
                <a:cs typeface="맑은 고딕"/>
              </a:rPr>
              <a:t>유온 정상? 게이트웨이가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사용자 작업</a:t>
            </a:r>
          </a:p>
          <a:p>
            <a:pPr algn="l" eaLnBrk="0" marL="200025" indent="-200025">
              <a:lnSpc>
                <a:spcPct val="110000"/>
              </a:lnSpc>
              <a:spcAft>
                <a:spcPts val="400"/>
              </a:spcAft>
            </a:pPr>
            <a:r>
              <a:rPr sz="1750" b="0">
                <a:solidFill>
                  <a:srgbClr val="1F2A3A"/>
                </a:solidFill>
                <a:latin typeface="맑은 고딕"/>
                <a:ea typeface="맑은 고딕"/>
                <a:cs typeface="맑은 고딕"/>
              </a:rPr>
              <a:t>• 운전원 승인</a:t>
            </a:r>
          </a:p>
          <a:p>
            <a:pPr algn="l" eaLnBrk="0" marL="200025" indent="-200025">
              <a:lnSpc>
                <a:spcPct val="110000"/>
              </a:lnSpc>
              <a:spcAft>
                <a:spcPts val="400"/>
              </a:spcAft>
            </a:pPr>
            <a:r>
              <a:rPr sz="1750" b="0">
                <a:solidFill>
                  <a:srgbClr val="1F2A3A"/>
                </a:solidFill>
                <a:latin typeface="맑은 고딕"/>
                <a:ea typeface="맑은 고딕"/>
                <a:cs typeface="맑은 고딕"/>
              </a:rPr>
              <a:t>• 담당 역할의 작업함에 놓인다</a:t>
            </a:r>
          </a:p>
          <a:p>
            <a:pPr algn="l" eaLnBrk="0" marL="200025" indent="-200025">
              <a:lnSpc>
                <a:spcPct val="110000"/>
              </a:lnSpc>
              <a:spcAft>
                <a:spcPts val="400"/>
              </a:spcAft>
            </a:pPr>
            <a:r>
              <a:rPr sz="175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375275"/>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서비스 작업</a:t>
            </a:r>
          </a:p>
          <a:p>
            <a:pPr algn="l" eaLnBrk="0" marL="200025" indent="-200025">
              <a:lnSpc>
                <a:spcPct val="110000"/>
              </a:lnSpc>
              <a:spcAft>
                <a:spcPts val="400"/>
              </a:spcAft>
            </a:pPr>
            <a:r>
              <a:rPr sz="1750" b="0">
                <a:solidFill>
                  <a:srgbClr val="1F2A3A"/>
                </a:solidFill>
                <a:latin typeface="맑은 고딕"/>
                <a:ea typeface="맑은 고딕"/>
                <a:cs typeface="맑은 고딕"/>
              </a:rPr>
              <a:t>• 냉각 명령, 재관측, 작업지시 등록</a:t>
            </a:r>
          </a:p>
          <a:p>
            <a:pPr algn="l" eaLnBrk="0" marL="200025" indent="-200025">
              <a:lnSpc>
                <a:spcPct val="110000"/>
              </a:lnSpc>
              <a:spcAft>
                <a:spcPts val="400"/>
              </a:spcAft>
            </a:pPr>
            <a:r>
              <a:rPr sz="1750" b="0">
                <a:solidFill>
                  <a:srgbClr val="1F2A3A"/>
                </a:solidFill>
                <a:latin typeface="맑은 고딕"/>
                <a:ea typeface="맑은 고딕"/>
                <a:cs typeface="맑은 고딕"/>
              </a:rPr>
              <a:t>• 엔진이 해당 시스템을 호출한다</a:t>
            </a:r>
          </a:p>
          <a:p>
            <a:pPr algn="l" eaLnBrk="0" marL="200025" indent="-200025">
              <a:lnSpc>
                <a:spcPct val="110000"/>
              </a:lnSpc>
              <a:spcAft>
                <a:spcPts val="400"/>
              </a:spcAft>
            </a:pPr>
            <a:r>
              <a:rPr sz="175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375275"/>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75275"/>
            <a:ext cx="131368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단계</a:t>
            </a:r>
          </a:p>
          <a:p>
            <a:pPr algn="l" eaLnBrk="0" marL="194310" indent="-194310">
              <a:lnSpc>
                <a:spcPct val="110000"/>
              </a:lnSpc>
              <a:spcAft>
                <a:spcPts val="400"/>
              </a:spcAft>
            </a:pPr>
            <a:r>
              <a:rPr sz="1700" b="0">
                <a:solidFill>
                  <a:srgbClr val="1F2A3A"/>
                </a:solidFill>
                <a:latin typeface="맑은 고딕"/>
                <a:ea typeface="맑은 고딕"/>
                <a:cs typeface="맑은 고딕"/>
              </a:rPr>
              <a:t>• 원인 진단 · 냉각 조치 제안</a:t>
            </a:r>
          </a:p>
          <a:p>
            <a:pPr algn="l" eaLnBrk="0" marL="194310" indent="-194310">
              <a:lnSpc>
                <a:spcPct val="110000"/>
              </a:lnSpc>
              <a:spcAft>
                <a:spcPts val="400"/>
              </a:spcAft>
            </a:pPr>
            <a:r>
              <a:rPr sz="1700" b="0">
                <a:solidFill>
                  <a:srgbClr val="1F2A3A"/>
                </a:solidFill>
                <a:latin typeface="맑은 고딕"/>
                <a:ea typeface="맑은 고딕"/>
                <a:cs typeface="맑은 고딕"/>
              </a:rPr>
              <a:t>• 지정된 에이전트에게 맡겨진다</a:t>
            </a:r>
          </a:p>
          <a:p>
            <a:pPr algn="l" eaLnBrk="0" marL="194310" indent="-194310">
              <a:lnSpc>
                <a:spcPct val="110000"/>
              </a:lnSpc>
              <a:spcAft>
                <a:spcPts val="400"/>
              </a:spcAft>
            </a:pPr>
            <a:r>
              <a:rPr sz="17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375275"/>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75275"/>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 하나 안에서 지식 그래프와 센서 값, 업무 DB, 판단 규칙을 읽은 뒤 추천안 하나를 제출하고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 입력</a:t>
            </a:r>
          </a:p>
          <a:p>
            <a:pPr algn="ctr" eaLnBrk="0">
              <a:lnSpc>
                <a:spcPct val="110000"/>
              </a:lnSpc>
              <a:spcAft>
                <a:spcPts val="400"/>
              </a:spcAft>
            </a:pPr>
            <a:r>
              <a:rPr sz="1300" b="0">
                <a:solidFill>
                  <a:srgbClr val="1F2A3A"/>
                </a:solidFill>
                <a:latin typeface="맑은 고딕"/>
                <a:ea typeface="맑은 고딕"/>
                <a:cs typeface="맑은 고딕"/>
              </a:rPr>
              <a:t>설비 · 경보 패턴 ·</a:t>
            </a:r>
          </a:p>
          <a:p>
            <a:pPr algn="ctr" eaLnBrk="0">
              <a:lnSpc>
                <a:spcPct val="110000"/>
              </a:lnSpc>
              <a:spcAft>
                <a:spcPts val="400"/>
              </a:spcAft>
            </a:pPr>
            <a:r>
              <a:rPr sz="1300" b="0">
                <a:solidFill>
                  <a:srgbClr val="1F2A3A"/>
                </a:solidFill>
                <a:latin typeface="맑은 고딕"/>
                <a:ea typeface="맑은 고딕"/>
                <a:cs typeface="맑은 고딕"/>
              </a:rPr>
              <a:t>경보 식별자를 읽는다</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diagnose</a:t>
            </a:r>
          </a:p>
          <a:p>
            <a:pPr algn="ctr" eaLnBrk="0">
              <a:lnSpc>
                <a:spcPct val="110000"/>
              </a:lnSpc>
              <a:spcAft>
                <a:spcPts val="400"/>
              </a:spcAft>
            </a:pPr>
            <a:r>
              <a:rPr sz="1200" b="0">
                <a:solidFill>
                  <a:srgbClr val="1F2A3A"/>
                </a:solidFill>
                <a:latin typeface="맑은 고딕"/>
                <a:ea typeface="맑은 고딕"/>
                <a:cs typeface="맑은 고딕"/>
              </a:rPr>
              <a:t>지식 그래프와</a:t>
            </a:r>
          </a:p>
          <a:p>
            <a:pPr algn="ctr" eaLnBrk="0">
              <a:lnSpc>
                <a:spcPct val="110000"/>
              </a:lnSpc>
              <a:spcAft>
                <a:spcPts val="400"/>
              </a:spcAft>
            </a:pPr>
            <a:r>
              <a:rPr sz="1200" b="0">
                <a:solidFill>
                  <a:srgbClr val="1F2A3A"/>
                </a:solidFill>
                <a:latin typeface="맑은 고딕"/>
                <a:ea typeface="맑은 고딕"/>
                <a:cs typeface="맑은 고딕"/>
              </a:rPr>
              <a:t>센서 값으로 원인을 가린다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database" descr="database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업무 DB 조회</a:t>
            </a:r>
          </a:p>
          <a:p>
            <a:pPr algn="ctr" eaLnBrk="0">
              <a:lnSpc>
                <a:spcPct val="110000"/>
              </a:lnSpc>
              <a:spcAft>
                <a:spcPts val="400"/>
              </a:spcAft>
            </a:pPr>
            <a:r>
              <a:rPr sz="1300" b="0">
                <a:solidFill>
                  <a:srgbClr val="1F2A3A"/>
                </a:solidFill>
                <a:latin typeface="맑은 고딕"/>
                <a:ea typeface="맑은 고딕"/>
                <a:cs typeface="맑은 고딕"/>
              </a:rPr>
              <a:t>납기 오더와</a:t>
            </a:r>
          </a:p>
          <a:p>
            <a:pPr algn="ctr" eaLnBrk="0">
              <a:lnSpc>
                <a:spcPct val="110000"/>
              </a:lnSpc>
              <a:spcAft>
                <a:spcPts val="400"/>
              </a:spcAft>
            </a:pPr>
            <a:r>
              <a:rPr sz="1300" b="0">
                <a:solidFill>
                  <a:srgbClr val="1F2A3A"/>
                </a:solidFill>
                <a:latin typeface="맑은 고딕"/>
                <a:ea typeface="맑은 고딕"/>
                <a:cs typeface="맑은 고딕"/>
              </a:rPr>
              <a:t>출하 대기 로트를 읽는다</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cale" descr="scale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evaluate_cards</a:t>
            </a:r>
          </a:p>
          <a:p>
            <a:pPr algn="ctr" eaLnBrk="0">
              <a:lnSpc>
                <a:spcPct val="110000"/>
              </a:lnSpc>
              <a:spcAft>
                <a:spcPts val="400"/>
              </a:spcAft>
            </a:pPr>
            <a:r>
              <a:rPr sz="1300" b="0">
                <a:solidFill>
                  <a:srgbClr val="1F2A3A"/>
                </a:solidFill>
                <a:latin typeface="맑은 고딕"/>
                <a:ea typeface="맑은 고딕"/>
                <a:cs typeface="맑은 고딕"/>
              </a:rPr>
              <a:t>SOP 조치 넷을 규칙과</a:t>
            </a:r>
          </a:p>
          <a:p>
            <a:pPr algn="ctr" eaLnBrk="0">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23" name="Oval 22"/>
          <p:cNvSpPr/>
          <p:nvPr/>
        </p:nvSpPr>
        <p:spPr>
          <a:xfrm>
            <a:off x="995670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submit_decision</a:t>
            </a:r>
          </a:p>
          <a:p>
            <a:pPr algn="ctr" eaLnBrk="0">
              <a:lnSpc>
                <a:spcPct val="110000"/>
              </a:lnSpc>
              <a:spcAft>
                <a:spcPts val="400"/>
              </a:spcAft>
            </a:pPr>
            <a:r>
              <a:rPr sz="1300" b="0">
                <a:solidFill>
                  <a:srgbClr val="1F2A3A"/>
                </a:solidFill>
                <a:latin typeface="맑은 고딕"/>
                <a:ea typeface="맑은 고딕"/>
                <a:cs typeface="맑은 고딕"/>
              </a:rPr>
              <a:t>추천안을 제출한다</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ALT-hyd01-0014-e0a1</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쿨러 핀 오염</a:t>
            </a:r>
          </a:p>
          <a:p>
            <a:pPr algn="l" eaLnBrk="0">
              <a:lnSpc>
                <a:spcPct val="110000"/>
              </a:lnSpc>
            </a:pPr>
            <a:r>
              <a:rPr sz="1250" b="1">
                <a:solidFill>
                  <a:srgbClr val="556175"/>
                </a:solidFill>
                <a:latin typeface="맑은 고딕"/>
                <a:ea typeface="맑은 고딕"/>
                <a:cs typeface="맑은 고딕"/>
              </a:rPr>
              <a:t>추천 팬 최대 운전</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추천안(추천과 대안)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11:14:56</a:t>
            </a:r>
          </a:p>
          <a:p>
            <a:pPr algn="l" eaLnBrk="0">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a:t>
            </a:r>
          </a:p>
          <a:p>
            <a:pPr algn="l" eaLnBrk="0">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a:t>
            </a:r>
          </a:p>
          <a:p>
            <a:pPr algn="l" eaLnBrk="0">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 완화 · 경보 해제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상태</a:t>
            </a:r>
          </a:p>
          <a:p>
            <a:pPr algn="l" eaLnBrk="0">
              <a:lnSpc>
                <a:spcPct val="110000"/>
              </a:lnSpc>
            </a:pPr>
            <a:r>
              <a:rPr sz="3400" b="1">
                <a:solidFill>
                  <a:srgbClr val="13294B"/>
                </a:solidFill>
                <a:latin typeface="맑은 고딕"/>
                <a:ea typeface="맑은 고딕"/>
                <a:cs typeface="맑은 고딕"/>
              </a:rPr>
              <a:t>판본 · 감사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처리 건의 결말과 판본, 결정의 기록을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RUNNING</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COMPLETED</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IN_PROGRESS · DONE · TODO</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CANCELLED</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eaLnBrk="0">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E_end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정상</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1건</a:t>
            </a:r>
          </a:p>
          <a:p>
            <a:pPr algn="l" eaLnBrk="0" marL="171450" indent="-171450">
              <a:lnSpc>
                <a:spcPct val="110000"/>
              </a:lnSpc>
              <a:spcAft>
                <a:spcPts val="600"/>
              </a:spcAft>
            </a:pPr>
            <a:r>
              <a:rPr sz="1500" b="0">
                <a:solidFill>
                  <a:srgbClr val="1F2A3A"/>
                </a:solidFill>
                <a:latin typeface="맑은 고딕"/>
                <a:ea typeface="맑은 고딕"/>
                <a:cs typeface="맑은 고딕"/>
              </a:rPr>
              <a:t>• 회복에 미달해도 end_event는 E_end이고 결과 보고가 미달이 된다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E_rejected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거절(기록의 값은 반려)</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없음</a:t>
            </a:r>
          </a:p>
          <a:p>
            <a:pPr algn="l" eaLnBrk="0" marL="171450" indent="-171450">
              <a:lnSpc>
                <a:spcPct val="110000"/>
              </a:lnSpc>
              <a:spcAft>
                <a:spcPts val="600"/>
              </a:spcAft>
            </a:pPr>
            <a:r>
              <a:rPr sz="150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4201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a:t>
            </a:r>
          </a:p>
          <a:p>
            <a:pPr algn="ctr" eaLnBrk="0">
              <a:lnSpc>
                <a:spcPct val="110000"/>
              </a:lnSpc>
              <a:spcAft>
                <a:spcPts val="400"/>
              </a:spcAft>
            </a:pPr>
            <a:r>
              <a:rPr sz="1650" b="0">
                <a:solidFill>
                  <a:srgbClr val="1F2A3A"/>
                </a:solidFill>
                <a:latin typeface="맑은 고딕"/>
                <a:ea typeface="맑은 고딕"/>
                <a:cs typeface="맑은 고딕"/>
              </a:rPr>
              <a:t>프로세스 정의를</a:t>
            </a:r>
          </a:p>
          <a:p>
            <a:pPr algn="ctr" eaLnBrk="0">
              <a:lnSpc>
                <a:spcPct val="110000"/>
              </a:lnSpc>
              <a:spcAft>
                <a:spcPts val="400"/>
              </a:spcAft>
            </a:pPr>
            <a:r>
              <a:rPr sz="1650" b="0">
                <a:solidFill>
                  <a:srgbClr val="1F2A3A"/>
                </a:solidFill>
                <a:latin typeface="맑은 고딕"/>
                <a:ea typeface="맑은 고딕"/>
                <a:cs typeface="맑은 고딕"/>
              </a:rPr>
              <a:t>새 판본으로 저장한다</a:t>
            </a:r>
          </a:p>
          <a:p>
            <a:pPr algn="ctr" eaLnBrk="0">
              <a:lnSpc>
                <a:spcPct val="110000"/>
              </a:lnSpc>
              <a:spcAft>
                <a:spcPts val="400"/>
              </a:spcAft>
            </a:pPr>
            <a:r>
              <a:rPr sz="16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a:t>
            </a:r>
          </a:p>
          <a:p>
            <a:pPr algn="ctr" eaLnBrk="0">
              <a:lnSpc>
                <a:spcPct val="110000"/>
              </a:lnSpc>
              <a:spcAft>
                <a:spcPts val="400"/>
              </a:spcAft>
            </a:pPr>
            <a:r>
              <a:rPr sz="1650" b="0">
                <a:solidFill>
                  <a:srgbClr val="1F2A3A"/>
                </a:solidFill>
                <a:latin typeface="맑은 고딕"/>
                <a:ea typeface="맑은 고딕"/>
                <a:cs typeface="맑은 고딕"/>
              </a:rPr>
              <a:t>경보를 받을 판본을</a:t>
            </a:r>
          </a:p>
          <a:p>
            <a:pPr algn="ctr" eaLnBrk="0">
              <a:lnSpc>
                <a:spcPct val="110000"/>
              </a:lnSpc>
              <a:spcAft>
                <a:spcPts val="400"/>
              </a:spcAft>
            </a:pPr>
            <a:r>
              <a:rPr sz="16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오면</a:t>
            </a:r>
          </a:p>
          <a:p>
            <a:pPr algn="ctr" eaLnBrk="0">
              <a:lnSpc>
                <a:spcPct val="110000"/>
              </a:lnSpc>
              <a:spcAft>
                <a:spcPts val="400"/>
              </a:spcAft>
            </a:pPr>
            <a:r>
              <a:rPr sz="1650" b="0">
                <a:solidFill>
                  <a:srgbClr val="1F2A3A"/>
                </a:solidFill>
                <a:latin typeface="맑은 고딕"/>
                <a:ea typeface="맑은 고딕"/>
                <a:cs typeface="맑은 고딕"/>
              </a:rPr>
              <a:t>배포된 판본으로</a:t>
            </a:r>
          </a:p>
          <a:p>
            <a:pPr algn="ctr" eaLnBrk="0">
              <a:lnSpc>
                <a:spcPct val="110000"/>
              </a:lnSpc>
              <a:spcAft>
                <a:spcPts val="400"/>
              </a:spcAft>
            </a:pPr>
            <a:r>
              <a:rPr sz="16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판본 고정</a:t>
            </a:r>
          </a:p>
          <a:p>
            <a:pPr algn="ctr" eaLnBrk="0">
              <a:lnSpc>
                <a:spcPct val="110000"/>
              </a:lnSpc>
              <a:spcAft>
                <a:spcPts val="400"/>
              </a:spcAft>
            </a:pPr>
            <a:r>
              <a:rPr sz="1650" b="0">
                <a:solidFill>
                  <a:srgbClr val="1F2A3A"/>
                </a:solidFill>
                <a:latin typeface="맑은 고딕"/>
                <a:ea typeface="맑은 고딕"/>
                <a:cs typeface="맑은 고딕"/>
              </a:rPr>
              <a:t>열린 처리 건은</a:t>
            </a:r>
          </a:p>
          <a:p>
            <a:pPr algn="ctr" eaLnBrk="0">
              <a:lnSpc>
                <a:spcPct val="110000"/>
              </a:lnSpc>
              <a:spcAft>
                <a:spcPts val="400"/>
              </a:spcAft>
            </a:pPr>
            <a:r>
              <a:rPr sz="1650" b="0">
                <a:solidFill>
                  <a:srgbClr val="1F2A3A"/>
                </a:solidFill>
                <a:latin typeface="맑은 고딕"/>
                <a:ea typeface="맑은 고딕"/>
                <a:cs typeface="맑은 고딕"/>
              </a:rPr>
              <a:t>자기 판본으로</a:t>
            </a:r>
          </a:p>
          <a:p>
            <a:pPr algn="ctr" eaLnBrk="0">
              <a:lnSpc>
                <a:spcPct val="110000"/>
              </a:lnSpc>
              <a:spcAft>
                <a:spcPts val="400"/>
              </a:spcAft>
            </a:pPr>
            <a:r>
              <a:rPr sz="1650" b="0">
                <a:solidFill>
                  <a:srgbClr val="1F2A3A"/>
                </a:solidFill>
                <a:latin typeface="맑은 고딕"/>
                <a:ea typeface="맑은 고딕"/>
                <a:cs typeface="맑은 고딕"/>
              </a:rPr>
              <a:t>끝까지 간다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감사 기록(Audit Log)과 처리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간단한 승인 절차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절차 한 장의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요청의 승인 절차를 시작 · 작업 · 게이트웨이 · 끝 둘로 그려, 모든 갈래가 끝에 닿는 BPMN 파일을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도구</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한 건을 받는 작은 업무</a:t>
            </a:r>
          </a:p>
          <a:p>
            <a:pPr algn="l" eaLnBrk="0" marL="160020" indent="-160020">
              <a:lnSpc>
                <a:spcPct val="110000"/>
              </a:lnSpc>
              <a:spcAft>
                <a:spcPts val="400"/>
              </a:spcAft>
            </a:pPr>
            <a:r>
              <a:rPr sz="1400" b="0">
                <a:solidFill>
                  <a:srgbClr val="1F2A3A"/>
                </a:solidFill>
                <a:latin typeface="맑은 고딕"/>
                <a:ea typeface="맑은 고딕"/>
                <a:cs typeface="맑은 고딕"/>
              </a:rPr>
              <a:t>• 웹 BPMN 편집기에서 요소를 놓고 선으로 잇는다</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git-fork" descr="git-fork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그릴 흐름</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 담당자 확인 → 승인 여부</a:t>
            </a:r>
          </a:p>
          <a:p>
            <a:pPr algn="l" eaLnBrk="0" marL="160020" indent="-160020">
              <a:lnSpc>
                <a:spcPct val="110000"/>
              </a:lnSpc>
              <a:spcAft>
                <a:spcPts val="400"/>
              </a:spcAft>
            </a:pPr>
            <a:r>
              <a:rPr sz="1400" b="0">
                <a:solidFill>
                  <a:srgbClr val="1F2A3A"/>
                </a:solidFill>
                <a:latin typeface="맑은 고딕"/>
                <a:ea typeface="맑은 고딕"/>
                <a:cs typeface="맑은 고딕"/>
              </a:rPr>
              <a:t>• 승인 종료와 반려 종료</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.bpmn 파일 하나</a:t>
            </a:r>
          </a:p>
          <a:p>
            <a:pPr algn="l" eaLnBrk="0" marL="160020" indent="-160020">
              <a:lnSpc>
                <a:spcPct val="110000"/>
              </a:lnSpc>
              <a:spcAft>
                <a:spcPts val="400"/>
              </a:spcAft>
            </a:pPr>
            <a:r>
              <a:rPr sz="1400" b="0">
                <a:solidFill>
                  <a:srgbClr val="1F2A3A"/>
                </a:solidFill>
                <a:latin typeface="맑은 고딕"/>
                <a:ea typeface="맑은 고딕"/>
                <a:cs typeface="맑은 고딕"/>
              </a:rPr>
              <a:t>• 저장한 뒤 다시 열어도 같은 그림</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게이트웨이의 두 갈래가 각각 끝 이벤트에 닿는다</a:t>
            </a:r>
          </a:p>
          <a:p>
            <a:pPr algn="l" eaLnBrk="0" marL="160020" indent="-160020">
              <a:lnSpc>
                <a:spcPct val="110000"/>
              </a:lnSpc>
              <a:spcAft>
                <a:spcPts val="400"/>
              </a:spcAft>
            </a:pPr>
            <a:r>
              <a:rPr sz="1400" b="0">
                <a:solidFill>
                  <a:srgbClr val="1F2A3A"/>
                </a:solidFill>
                <a:latin typeface="맑은 고딕"/>
                <a:ea typeface="맑은 고딕"/>
                <a:cs typeface="맑은 고딕"/>
              </a:rPr>
              <a:t>• 끊긴 선과 이름 없는 갈래가 없다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긴급 대응 프로세스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 그림의 완성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경보에서 결과 보고까지를 세 레인에 나누어 그리고, 승인의 갈림과 끊지 않는 지연 알림을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레인</a:t>
            </a:r>
          </a:p>
          <a:p>
            <a:pPr algn="l" eaLnBrk="0">
              <a:lnSpc>
                <a:spcPct val="110000"/>
              </a:lnSpc>
              <a:spcAft>
                <a:spcPts val="400"/>
              </a:spcAft>
            </a:pPr>
            <a:r>
              <a:rPr sz="1750" b="0">
                <a:solidFill>
                  <a:srgbClr val="1F2A3A"/>
                </a:solidFill>
                <a:latin typeface="맑은 고딕"/>
                <a:ea typeface="맑은 고딕"/>
                <a:cs typeface="맑은 고딕"/>
              </a:rPr>
              <a:t>담당자, 에이전트, 시스템의 세 칸에 작업을 나누어 놓는다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작업의 순서</a:t>
            </a:r>
          </a:p>
          <a:p>
            <a:pPr algn="l" eaLnBrk="0">
              <a:lnSpc>
                <a:spcPct val="110000"/>
              </a:lnSpc>
              <a:spcAft>
                <a:spcPts val="400"/>
              </a:spcAft>
            </a:pPr>
            <a:r>
              <a:rPr sz="1750" b="0">
                <a:solidFill>
                  <a:srgbClr val="1F2A3A"/>
                </a:solidFill>
                <a:latin typeface="맑은 고딕"/>
                <a:ea typeface="맑은 고딕"/>
                <a:cs typeface="맑은 고딕"/>
              </a:rPr>
              <a:t>경보 → 진단과 제안 → 운전원 승인 → 냉각 명령 → 재관측 → 결과 보고</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갈림과 끝</a:t>
            </a:r>
          </a:p>
          <a:p>
            <a:pPr algn="l" eaLnBrk="0">
              <a:lnSpc>
                <a:spcPct val="110000"/>
              </a:lnSpc>
              <a:spcAft>
                <a:spcPts val="400"/>
              </a:spcAft>
            </a:pPr>
            <a:r>
              <a:rPr sz="1650" b="0">
                <a:solidFill>
                  <a:srgbClr val="1F2A3A"/>
                </a:solidFill>
                <a:latin typeface="맑은 고딕"/>
                <a:ea typeface="맑은 고딕"/>
                <a:cs typeface="맑은 고딕"/>
              </a:rPr>
              <a:t>승인과 거절을 가르고 정상 종료와 거절 종결을 따로 둔다</a:t>
            </a:r>
          </a:p>
        </p:txBody>
      </p:sp>
      <p:sp>
        <p:nvSpPr>
          <p:cNvPr id="22" name="Rounded Rectangle 21"/>
          <p:cNvSpPr/>
          <p:nvPr/>
        </p:nvSpPr>
        <p:spPr>
          <a:xfrm>
            <a:off x="6461607" y="5375275"/>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게이트웨이</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clock" descr="clo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지연 알림</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작업에 비중단형 타이머를 붙인다</a:t>
            </a:r>
          </a:p>
          <a:p>
            <a:pPr algn="l" eaLnBrk="0" marL="200025" indent="-200025">
              <a:lnSpc>
                <a:spcPct val="110000"/>
              </a:lnSpc>
              <a:spcAft>
                <a:spcPts val="400"/>
              </a:spcAft>
            </a:pPr>
            <a:r>
              <a:rPr sz="1750" b="0">
                <a:solidFill>
                  <a:srgbClr val="1F2A3A"/>
                </a:solidFill>
                <a:latin typeface="맑은 고딕"/>
                <a:ea typeface="맑은 고딕"/>
                <a:cs typeface="맑은 고딕"/>
              </a:rPr>
              <a:t>• 완성 그림과 요소 · 갈림을 대조한다</a:t>
            </a:r>
          </a:p>
        </p:txBody>
      </p:sp>
      <p:sp>
        <p:nvSpPr>
          <p:cNvPr id="28" name="Rounded Rectangle 27"/>
          <p:cNvSpPr/>
          <p:nvPr/>
        </p:nvSpPr>
        <p:spPr>
          <a:xfrm>
            <a:off x="9303791" y="5375275"/>
            <a:ext cx="137160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타이머 ·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그린 흐름을</a:t>
            </a:r>
          </a:p>
          <a:p>
            <a:pPr algn="l" eaLnBrk="0">
              <a:lnSpc>
                <a:spcPct val="110000"/>
              </a:lnSpc>
            </a:pPr>
            <a:r>
              <a:rPr sz="3400" b="1">
                <a:solidFill>
                  <a:srgbClr val="13294B"/>
                </a:solidFill>
                <a:latin typeface="맑은 고딕"/>
                <a:ea typeface="맑은 고딕"/>
                <a:cs typeface="맑은 고딕"/>
              </a:rPr>
              <a:t>에이전트와 시스템에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연결해 등록 · 배포할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그린 프로세스에 시작 경보와 맡을 쪽, 조건과 기한을 정하고 사전 검사를 통과해야 판본으로 등록되고 배포된다.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입력</a:t>
            </a:r>
          </a:p>
          <a:p>
            <a:pPr algn="l" eaLnBrk="0" marL="188595" indent="-188595">
              <a:lnSpc>
                <a:spcPct val="110000"/>
              </a:lnSpc>
              <a:spcAft>
                <a:spcPts val="400"/>
              </a:spcAft>
            </a:pPr>
            <a:r>
              <a:rPr sz="1650" b="0">
                <a:solidFill>
                  <a:srgbClr val="1F2A3A"/>
                </a:solidFill>
                <a:latin typeface="맑은 고딕"/>
                <a:ea typeface="맑은 고딕"/>
                <a:cs typeface="맑은 고딕"/>
              </a:rPr>
              <a:t>• 앞에서 그린 BPMN 파일</a:t>
            </a:r>
          </a:p>
          <a:p>
            <a:pPr algn="l" eaLnBrk="0" marL="188595" indent="-188595">
              <a:lnSpc>
                <a:spcPct val="110000"/>
              </a:lnSpc>
              <a:spcAft>
                <a:spcPts val="400"/>
              </a:spcAft>
            </a:pPr>
            <a:r>
              <a:rPr sz="1650" b="0">
                <a:solidFill>
                  <a:srgbClr val="1F2A3A"/>
                </a:solidFill>
                <a:latin typeface="맑은 고딕"/>
                <a:ea typeface="맑은 고딕"/>
                <a:cs typeface="맑은 고딕"/>
              </a:rPr>
              <a:t>• 이미 있는 냉각 긴급 대응 에이전트와 운전원 역할</a:t>
            </a:r>
          </a:p>
        </p:txBody>
      </p:sp>
      <p:sp>
        <p:nvSpPr>
          <p:cNvPr id="10" name="Rounded Rectangle 9"/>
          <p:cNvSpPr/>
          <p:nvPr/>
        </p:nvSpPr>
        <p:spPr>
          <a:xfrm>
            <a:off x="777240" y="532879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12" name="Rounded Rectangle 11"/>
          <p:cNvSpPr/>
          <p:nvPr/>
        </p:nvSpPr>
        <p:spPr>
          <a:xfrm>
            <a:off x="3390823"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5319"/>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78938"/>
            <a:ext cx="424281" cy="424281"/>
          </a:xfrm>
          <a:prstGeom prst="rect">
            <a:avLst/>
          </a:prstGeom>
        </p:spPr>
      </p:pic>
      <p:sp>
        <p:nvSpPr>
          <p:cNvPr id="15" name="TextBox 14"/>
          <p:cNvSpPr txBox="1"/>
          <p:nvPr/>
        </p:nvSpPr>
        <p:spPr>
          <a:xfrm>
            <a:off x="3555415"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정할 것</a:t>
            </a:r>
          </a:p>
          <a:p>
            <a:pPr algn="l" eaLnBrk="0" marL="188595" indent="-188595">
              <a:lnSpc>
                <a:spcPct val="110000"/>
              </a:lnSpc>
              <a:spcAft>
                <a:spcPts val="400"/>
              </a:spcAft>
            </a:pPr>
            <a:r>
              <a:rPr sz="1650" b="0">
                <a:solidFill>
                  <a:srgbClr val="1F2A3A"/>
                </a:solidFill>
                <a:latin typeface="맑은 고딕"/>
                <a:ea typeface="맑은 고딕"/>
                <a:cs typeface="맑은 고딕"/>
              </a:rPr>
              <a:t>• 시작 경보 하나, 단계마다 맡을 쪽</a:t>
            </a:r>
          </a:p>
          <a:p>
            <a:pPr algn="l" eaLnBrk="0" marL="188595" indent="-188595">
              <a:lnSpc>
                <a:spcPct val="110000"/>
              </a:lnSpc>
              <a:spcAft>
                <a:spcPts val="400"/>
              </a:spcAft>
            </a:pPr>
            <a:r>
              <a:rPr sz="1650" b="0">
                <a:solidFill>
                  <a:srgbClr val="1F2A3A"/>
                </a:solidFill>
                <a:latin typeface="맑은 고딕"/>
                <a:ea typeface="맑은 고딕"/>
                <a:cs typeface="맑은 고딕"/>
              </a:rPr>
              <a:t>• 갈림의 조건과 타이머의 기한</a:t>
            </a:r>
          </a:p>
        </p:txBody>
      </p:sp>
      <p:sp>
        <p:nvSpPr>
          <p:cNvPr id="16" name="Rounded Rectangle 15"/>
          <p:cNvSpPr/>
          <p:nvPr/>
        </p:nvSpPr>
        <p:spPr>
          <a:xfrm>
            <a:off x="3619423" y="532879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5319"/>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578938"/>
            <a:ext cx="424281" cy="424281"/>
          </a:xfrm>
          <a:prstGeom prst="rect">
            <a:avLst/>
          </a:prstGeom>
        </p:spPr>
      </p:pic>
      <p:sp>
        <p:nvSpPr>
          <p:cNvPr id="21" name="TextBox 20"/>
          <p:cNvSpPr txBox="1"/>
          <p:nvPr/>
        </p:nvSpPr>
        <p:spPr>
          <a:xfrm>
            <a:off x="6397599"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산출물</a:t>
            </a:r>
          </a:p>
          <a:p>
            <a:pPr algn="l" eaLnBrk="0" marL="188595" indent="-188595">
              <a:lnSpc>
                <a:spcPct val="110000"/>
              </a:lnSpc>
              <a:spcAft>
                <a:spcPts val="400"/>
              </a:spcAft>
            </a:pPr>
            <a:r>
              <a:rPr sz="1650" b="0">
                <a:solidFill>
                  <a:srgbClr val="1F2A3A"/>
                </a:solidFill>
                <a:latin typeface="맑은 고딕"/>
                <a:ea typeface="맑은 고딕"/>
                <a:cs typeface="맑은 고딕"/>
              </a:rPr>
              <a:t>• 내 흐름 id로 등록한 판본</a:t>
            </a:r>
          </a:p>
          <a:p>
            <a:pPr algn="l" eaLnBrk="0" marL="188595" indent="-188595">
              <a:lnSpc>
                <a:spcPct val="110000"/>
              </a:lnSpc>
              <a:spcAft>
                <a:spcPts val="400"/>
              </a:spcAft>
            </a:pPr>
            <a:r>
              <a:rPr sz="1650" b="0">
                <a:solidFill>
                  <a:srgbClr val="1F2A3A"/>
                </a:solidFill>
                <a:latin typeface="맑은 고딕"/>
                <a:ea typeface="맑은 고딕"/>
                <a:cs typeface="맑은 고딕"/>
              </a:rPr>
              <a:t>• 쿨러 경보를 받도록 배포된 상태</a:t>
            </a:r>
          </a:p>
        </p:txBody>
      </p:sp>
      <p:sp>
        <p:nvSpPr>
          <p:cNvPr id="22" name="Rounded Rectangle 21"/>
          <p:cNvSpPr/>
          <p:nvPr/>
        </p:nvSpPr>
        <p:spPr>
          <a:xfrm>
            <a:off x="6461607" y="5328793"/>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8793"/>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판본 · 배포</a:t>
            </a:r>
          </a:p>
        </p:txBody>
      </p:sp>
      <p:sp>
        <p:nvSpPr>
          <p:cNvPr id="24" name="Rounded Rectangle 23"/>
          <p:cNvSpPr/>
          <p:nvPr/>
        </p:nvSpPr>
        <p:spPr>
          <a:xfrm>
            <a:off x="9075191" y="2224150"/>
            <a:ext cx="2567863"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5319"/>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578938"/>
            <a:ext cx="424281" cy="424281"/>
          </a:xfrm>
          <a:prstGeom prst="rect">
            <a:avLst/>
          </a:prstGeom>
        </p:spPr>
      </p:pic>
      <p:sp>
        <p:nvSpPr>
          <p:cNvPr id="27" name="TextBox 26"/>
          <p:cNvSpPr txBox="1"/>
          <p:nvPr/>
        </p:nvSpPr>
        <p:spPr>
          <a:xfrm>
            <a:off x="9239783"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성공 기준</a:t>
            </a:r>
          </a:p>
          <a:p>
            <a:pPr algn="l" eaLnBrk="0" marL="188595" indent="-188595">
              <a:lnSpc>
                <a:spcPct val="110000"/>
              </a:lnSpc>
              <a:spcAft>
                <a:spcPts val="400"/>
              </a:spcAft>
            </a:pPr>
            <a:r>
              <a:rPr sz="1650" b="0">
                <a:solidFill>
                  <a:srgbClr val="1F2A3A"/>
                </a:solidFill>
                <a:latin typeface="맑은 고딕"/>
                <a:ea typeface="맑은 고딕"/>
                <a:cs typeface="맑은 고딕"/>
              </a:rPr>
              <a:t>• 사전 검사에 남은 문제가 없다</a:t>
            </a:r>
          </a:p>
          <a:p>
            <a:pPr algn="l" eaLnBrk="0" marL="188595" indent="-188595">
              <a:lnSpc>
                <a:spcPct val="110000"/>
              </a:lnSpc>
              <a:spcAft>
                <a:spcPts val="400"/>
              </a:spcAft>
            </a:pPr>
            <a:r>
              <a:rPr sz="1650" b="0">
                <a:solidFill>
                  <a:srgbClr val="1F2A3A"/>
                </a:solidFill>
                <a:latin typeface="맑은 고딕"/>
                <a:ea typeface="맑은 고딕"/>
                <a:cs typeface="맑은 고딕"/>
              </a:rPr>
              <a:t>• 경보와 흐름의 연결에 내가 배포한 흐름이 보인다</a:t>
            </a:r>
          </a:p>
        </p:txBody>
      </p:sp>
      <p:sp>
        <p:nvSpPr>
          <p:cNvPr id="28" name="Rounded Rectangle 27"/>
          <p:cNvSpPr/>
          <p:nvPr/>
        </p:nvSpPr>
        <p:spPr>
          <a:xfrm>
            <a:off x="9303791" y="532879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이벤트로</a:t>
            </a:r>
          </a:p>
          <a:p>
            <a:pPr algn="l" eaLnBrk="0">
              <a:lnSpc>
                <a:spcPct val="110000"/>
              </a:lnSpc>
            </a:pPr>
            <a:r>
              <a:rPr sz="3400" b="1">
                <a:solidFill>
                  <a:srgbClr val="13294B"/>
                </a:solidFill>
                <a:latin typeface="맑은 고딕"/>
                <a:ea typeface="맑은 고딕"/>
                <a:cs typeface="맑은 고딕"/>
              </a:rPr>
              <a:t>프로세스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실행해 확인할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배포한 흐름을 쿨러 열화로 실행해 처리 건 한 건을 열고, 승인 대기와 끝난 상태를 처리 기록으로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처리 건의 생성</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열화가 경보를 내고</a:t>
            </a:r>
          </a:p>
          <a:p>
            <a:pPr algn="l" eaLnBrk="0" marL="182880" indent="-182880">
              <a:lnSpc>
                <a:spcPct val="110000"/>
              </a:lnSpc>
              <a:spcAft>
                <a:spcPts val="400"/>
              </a:spcAft>
            </a:pPr>
            <a:r>
              <a:rPr sz="1600" b="0">
                <a:solidFill>
                  <a:srgbClr val="1F2A3A"/>
                </a:solidFill>
                <a:latin typeface="맑은 고딕"/>
                <a:ea typeface="맑은 고딕"/>
                <a:cs typeface="맑은 고딕"/>
              </a:rPr>
              <a:t>• 경보가 내 흐름의 처리 건을 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 대기의 확인</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추천안이 나온 뒤 운전원 승인에서</a:t>
            </a:r>
          </a:p>
          <a:p>
            <a:pPr algn="l" eaLnBrk="0" marL="182880" indent="-182880">
              <a:lnSpc>
                <a:spcPct val="110000"/>
              </a:lnSpc>
              <a:spcAft>
                <a:spcPts val="400"/>
              </a:spcAft>
            </a:pPr>
            <a:r>
              <a:rPr sz="1600" b="0">
                <a:solidFill>
                  <a:srgbClr val="1F2A3A"/>
                </a:solidFill>
                <a:latin typeface="맑은 고딕"/>
                <a:ea typeface="맑은 고딕"/>
                <a:cs typeface="맑은 고딕"/>
              </a:rPr>
              <a:t>• 기다리는 상태를 단계의 상태로 읽는다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완료의 확인</a:t>
            </a:r>
          </a:p>
          <a:p>
            <a:pPr algn="l" eaLnBrk="0" marL="182880" indent="-182880">
              <a:lnSpc>
                <a:spcPct val="110000"/>
              </a:lnSpc>
              <a:spcAft>
                <a:spcPts val="400"/>
              </a:spcAft>
            </a:pPr>
            <a:r>
              <a:rPr sz="1600" b="0">
                <a:solidFill>
                  <a:srgbClr val="1F2A3A"/>
                </a:solidFill>
                <a:latin typeface="맑은 고딕"/>
                <a:ea typeface="맑은 고딕"/>
                <a:cs typeface="맑은 고딕"/>
              </a:rPr>
              <a:t>• 승인 뒤 명령과 재관측을 거쳐</a:t>
            </a:r>
          </a:p>
          <a:p>
            <a:pPr algn="l" eaLnBrk="0" marL="182880" indent="-182880">
              <a:lnSpc>
                <a:spcPct val="110000"/>
              </a:lnSpc>
              <a:spcAft>
                <a:spcPts val="400"/>
              </a:spcAft>
            </a:pPr>
            <a:r>
              <a:rPr sz="1600" b="0">
                <a:solidFill>
                  <a:srgbClr val="1F2A3A"/>
                </a:solidFill>
                <a:latin typeface="맑은 고딕"/>
                <a:ea typeface="맑은 고딕"/>
                <a:cs typeface="맑은 고딕"/>
              </a:rPr>
              <a:t>• 닿은 끝 이벤트와 결과 보고를 읽는다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흐름의 비교</a:t>
            </a:r>
          </a:p>
          <a:p>
            <a:pPr algn="l" eaLnBrk="0" marL="182880" indent="-182880">
              <a:lnSpc>
                <a:spcPct val="110000"/>
              </a:lnSpc>
              <a:spcAft>
                <a:spcPts val="400"/>
              </a:spcAft>
            </a:pPr>
            <a:r>
              <a:rPr sz="1600" b="0">
                <a:solidFill>
                  <a:srgbClr val="1F2A3A"/>
                </a:solidFill>
                <a:latin typeface="맑은 고딕"/>
                <a:ea typeface="맑은 고딕"/>
                <a:cs typeface="맑은 고딕"/>
              </a:rPr>
              <a:t>• 기준 흐름: 에이전트 단계 넷, 끊는 타이머</a:t>
            </a:r>
          </a:p>
          <a:p>
            <a:pPr algn="l" eaLnBrk="0" marL="182880" indent="-182880">
              <a:lnSpc>
                <a:spcPct val="110000"/>
              </a:lnSpc>
              <a:spcAft>
                <a:spcPts val="400"/>
              </a:spcAft>
            </a:pPr>
            <a:r>
              <a:rPr sz="1600" b="0">
                <a:solidFill>
                  <a:srgbClr val="1F2A3A"/>
                </a:solidFill>
                <a:latin typeface="맑은 고딕"/>
                <a:ea typeface="맑은 고딕"/>
                <a:cs typeface="맑은 고딕"/>
              </a:rPr>
              <a:t>• 내 흐름: 에이전트 단계 하나, 끊지 않는 타이머</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 한 건을 프로세스로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프로세스의 어느 개념인지 가려 읽으면, 헷갈리기 쉬운 짝이 서로 다른 일임이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프로세스의 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추천안이 나왔지만 팬은 그대로다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Task 하나가 끝났다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Task와 End-to-End</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도착해 처리 건이 열렸다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메시지 시작 이벤트</a:t>
            </a:r>
          </a:p>
          <a:p>
            <a:pPr algn="l" eaLnBrk="0">
              <a:lnSpc>
                <a:spcPct val="110000"/>
              </a:lnSpc>
            </a:pPr>
            <a:r>
              <a:rPr sz="1400" b="0">
                <a:solidFill>
                  <a:srgbClr val="1F2A3A"/>
                </a:solidFill>
                <a:latin typeface="맑은 고딕"/>
                <a:ea typeface="맑은 고딕"/>
                <a:cs typeface="맑은 고딕"/>
              </a:rPr>
              <a:t>정의에서 인스턴스 하나</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인스턴스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승인에서 기다린다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토큰이 사용자 작업에 머문 RUNNING</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대기와 오류</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게이트웨이에서 승인 쪽으로 간다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 변수를 읽는 조건</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에이전트의 판단과 갈림의 조건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10분이 지나 알림이 나갔다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a:t>
            </a:r>
          </a:p>
          <a:p>
            <a:pPr algn="l" eaLnBrk="0">
              <a:lnSpc>
                <a:spcPct val="110000"/>
              </a:lnSpc>
            </a:pPr>
            <a:r>
              <a:rPr sz="1400" b="0">
                <a:solidFill>
                  <a:srgbClr val="1F2A3A"/>
                </a:solidFill>
                <a:latin typeface="맑은 고딕"/>
                <a:ea typeface="맑은 고딕"/>
                <a:cs typeface="맑은 고딕"/>
              </a:rPr>
              <a:t>토큰이 둘이 된다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알림과 종료</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정상으로 끝났다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 E_end · COMPLETED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COMPLETED와 성공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비즈니스 프로세스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a:t>
            </a:r>
          </a:p>
          <a:p>
            <a:pPr algn="l" eaLnBrk="0">
              <a:lnSpc>
                <a:spcPct val="110000"/>
              </a:lnSpc>
            </a:pPr>
            <a:r>
              <a:rPr sz="1250" b="0">
                <a:solidFill>
                  <a:srgbClr val="1F2A3A"/>
                </a:solidFill>
                <a:latin typeface="맑은 고딕"/>
                <a:ea typeface="맑은 고딕"/>
                <a:cs typeface="맑은 고딕"/>
              </a:rPr>
              <a:t>정해진 결과를 내려고 여러 주체의 작업을 순서대로 이은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Management</a:t>
            </a:r>
          </a:p>
          <a:p>
            <a:pPr algn="l" eaLnBrk="0">
              <a:lnSpc>
                <a:spcPct val="110000"/>
              </a:lnSpc>
            </a:pPr>
            <a:r>
              <a:rPr sz="1250" b="0">
                <a:solidFill>
                  <a:srgbClr val="1F2A3A"/>
                </a:solidFill>
                <a:latin typeface="맑은 고딕"/>
                <a:ea typeface="맑은 고딕"/>
                <a:cs typeface="맑은 고딕"/>
              </a:rPr>
              <a:t>프로세스를 분석 · 설계 · 실행 · 모니터링 · 개선으로 되풀이해 관리하는 방법</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Model and Notation</a:t>
            </a:r>
          </a:p>
          <a:p>
            <a:pPr algn="l" eaLnBrk="0">
              <a:lnSpc>
                <a:spcPct val="110000"/>
              </a:lnSpc>
            </a:pPr>
            <a:r>
              <a:rPr sz="1250" b="0">
                <a:solidFill>
                  <a:srgbClr val="1F2A3A"/>
                </a:solidFill>
                <a:latin typeface="맑은 고딕"/>
                <a:ea typeface="맑은 고딕"/>
                <a:cs typeface="맑은 고딕"/>
              </a:rPr>
              <a:t>도형과 선의 뜻을 정해 업무 프로세스를 그리는 표기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게이트웨이</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Gateway</a:t>
            </a:r>
          </a:p>
          <a:p>
            <a:pPr algn="l" eaLnBrk="0">
              <a:lnSpc>
                <a:spcPct val="110000"/>
              </a:lnSpc>
            </a:pPr>
            <a:r>
              <a:rPr sz="1250" b="0">
                <a:solidFill>
                  <a:srgbClr val="1F2A3A"/>
                </a:solidFill>
                <a:latin typeface="맑은 고딕"/>
                <a:ea typeface="맑은 고딕"/>
                <a:cs typeface="맑은 고딕"/>
              </a:rPr>
              <a:t>흐름이 조건에 따라 갈라지거나 합쳐지는 지점</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 이벤트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Event</a:t>
            </a:r>
          </a:p>
          <a:p>
            <a:pPr algn="l" eaLnBrk="0">
              <a:lnSpc>
                <a:spcPct val="110000"/>
              </a:lnSpc>
            </a:pPr>
            <a:r>
              <a:rPr sz="1250" b="0">
                <a:solidFill>
                  <a:srgbClr val="1F2A3A"/>
                </a:solidFill>
                <a:latin typeface="맑은 고딕"/>
                <a:ea typeface="맑은 고딕"/>
                <a:cs typeface="맑은 고딕"/>
              </a:rPr>
              <a:t>작업 테두리에 붙어 그 작업이 진행 중일 때 생기는 일에 반응하는 이벤트</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엔진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Engine</a:t>
            </a:r>
          </a:p>
          <a:p>
            <a:pPr algn="l" eaLnBrk="0">
              <a:lnSpc>
                <a:spcPct val="110000"/>
              </a:lnSpc>
            </a:pPr>
            <a:r>
              <a:rPr sz="1250" b="0">
                <a:solidFill>
                  <a:srgbClr val="1F2A3A"/>
                </a:solidFill>
                <a:latin typeface="맑은 고딕"/>
                <a:ea typeface="맑은 고딕"/>
                <a:cs typeface="맑은 고딕"/>
              </a:rPr>
              <a:t>프로세스 정의를 읽어 작업을 차례로 열고 결과를 넘기는 소프트웨어</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Instance</a:t>
            </a:r>
          </a:p>
          <a:p>
            <a:pPr algn="l" eaLnBrk="0">
              <a:lnSpc>
                <a:spcPct val="110000"/>
              </a:lnSpc>
            </a:pPr>
            <a:r>
              <a:rPr sz="1250" b="0">
                <a:solidFill>
                  <a:srgbClr val="1F2A3A"/>
                </a:solidFill>
                <a:latin typeface="맑은 고딕"/>
                <a:ea typeface="맑은 고딕"/>
                <a:cs typeface="맑은 고딕"/>
              </a:rPr>
              <a:t>정의에 따라 실제로 실행되는 한 건, HYD의 처리 건</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토큰</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Token</a:t>
            </a:r>
          </a:p>
          <a:p>
            <a:pPr algn="l" eaLnBrk="0">
              <a:lnSpc>
                <a:spcPct val="110000"/>
              </a:lnSpc>
            </a:pPr>
            <a:r>
              <a:rPr sz="1250" b="0">
                <a:solidFill>
                  <a:srgbClr val="1F2A3A"/>
                </a:solidFill>
                <a:latin typeface="맑은 고딕"/>
                <a:ea typeface="맑은 고딕"/>
                <a:cs typeface="맑은 고딕"/>
              </a:rPr>
              <a:t>실행 중인 프로세스가 지금 어디에 있는지를 나타내는 표식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변수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Variable</a:t>
            </a:r>
          </a:p>
          <a:p>
            <a:pPr algn="l" eaLnBrk="0">
              <a:lnSpc>
                <a:spcPct val="110000"/>
              </a:lnSpc>
            </a:pPr>
            <a:r>
              <a:rPr sz="1250" b="0">
                <a:solidFill>
                  <a:srgbClr val="1F2A3A"/>
                </a:solidFill>
                <a:latin typeface="맑은 고딕"/>
                <a:ea typeface="맑은 고딕"/>
                <a:cs typeface="맑은 고딕"/>
              </a:rPr>
              <a:t>인스턴스가 지니고 다니는 이름 붙은 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냉각 명령 작업을 여는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