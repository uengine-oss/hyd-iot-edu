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LLM, RAG, 에이전트가 같은 요청에 무엇을 돌려주는지 구분합니다. 이어서 쿨러 사건의 처리 기록에서 에이전트가 일한 순서와 그 결과물을 짚습니다. 그다음 에이전트가 읽는 정보원과 멈춰야 하는 조건을 다룹니다. 마지막 실습에서는 에이전트를 직접 구성하고 결과를 근거와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경보가 나고 승인되기까지 약 94초 동안 에이전트가 일했습니다. 그 일을 질문에 답하는 AI에게 맡기면 무엇이 모자란지부터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시간표입니다. 경보가 나고 승인되기까지 108초가 걸렸고, 그 가운데 약 94초는 에이전트가 일한 시간이었습니다. 그동안 에이전트는 원인을 가리고 조치 후보 넷을 견주어 추천안을 냈습니다. 이번 회차는 이 구간 안에서 일어난 일을 풉니다.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94초 동안 에이전트가 한 일은 네 가지입니다. 센서 값을 읽었고, 그 값으로 원인 후보 셋 가운데 쿨러 핀 오염을 가렸고, 조치 후보 넷을 견주었고, 그 결과를 추천안으로 제출했습니다. 값이 있어야 원인을 가리고, 원인이 있어야 견줄 후보가 정해집니다. 이런 일을 맡기려면 AI가 무엇을 갖추어야 하는지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문서에서 지식 후보를 뽑을 때 쓴 LLM이 하는 일은 한 가지입니다. 글을 받아 이어질 글을 만들어 냅니다. 입력 한 번에 출력 한 번이고, 그 사이에 데이터베이스를 읽거나 시스템을 조작하지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LLM만으로는 채울 수 없는 자리가 셋 있습니다. 첫째는 지금의 값이며 유온은 시계열 DB에 있고 모델 안에 없습니다. 둘째는 이 공장의 문서이며 HM-8의 기준을 모델은 배운 적이 없습니다. 셋째는 수행이며 조회하고 계산하고 제출하는 일은 글을 만드는 것으로 되지 않습니다. 뒤의 두 방식은 이 빈자리를 메우는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빈자리인 문서를 메우는 방식이 RAG, 검색 증강 생성입니다. 질문이 들어오면 먼저 가까운 문서 조각을 찾고, 그 조각을 질문과 함께 모델에 넣습니다. 모델은 배운 적 없는 문서의 내용으로 답할 수 있게 됩니다. 다만 마지막 단계는 여전히 글로 답하는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빈자리인 수행까지 메우는 것이 에이전트입니다. 에이전트는 목표를 받고, 도구를 골라 부르고, 돌아온 결과를 보고 다음에 무엇을 할지 정하며, 이 일을 목표에 이를 때까지 되풀이합니다. 도구는 모델이 부를 수 있도록 이름과 입력을 정해 둔 기능입니다. 쿨러 사건에서는 원인 진단과 생산오더 조회 같은 도구가 쓰였습니다.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요청을 세 방식에 넣어 견줍니다. LLM은 유압 설비에 대한 일반적인 설명을, RAG는 관련 문서를 찾아 인용한 설명을 돌려줍니다. 에이전트는 도구로 지금의 값을 읽어 원인을 가리고 후보 넷을 견준 추천안을 제출합니다. 셋을 가르는 것은 답의 근거가 어디에서 오는가와 마지막에 무엇을 내는가입니다.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뜯어 보면 세 요소가 있습니다. 모델은 앞에서 본 LLM이며 글을 읽고 다음 행동을 정합니다. 도구는 실제로 조회하고 계산해 결과를 돌려줍니다. 실행 고리는 모델과 도구 사이를 목표에 이를 때까지 되풀이해 오가게 하는 틀입니다.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맡은 냉각 긴급 대응 에이전트와, 예비품 재고 경보를 맡는 구매 에이전트의 정의를 나란히 놓았습니다. 목표는 무엇을 이루어야 끝나는지, 도구는 무엇을 쓸 수 있는지, 업무 지침은 어떤 순서로 일하는지를 정합니다. 목표 칸은 에이전트에 적힌 문장을 이 수업의 낱말로 줄여 옮긴 요지입니다. 업무 지침은 에이전트 스킬이라는 파일로 주며, 그 형식은 따로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부른다는 것이 실제로 어떤 모습인지 쿨러 사건의 기록에서 한 건을 꺼냈습니다. 모델이 한 일은 원인 진단이라는 도구의 이름과 물음의 세 값을 글로 적어 낸 것입니다. 지식 그래프와 시계열 DB를 읽은 것은 도구이고, 도구가 그 결과를 돌려주었습니다. 모델은 글만 만든다는 앞의 설명과 어긋나지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도구가 있어도 한 번 부르고 끝낼 수는 없습니다. 조치 후보를 평가하려면 원인을 입력으로 넣어야 하는데, 원인은 진단을 부른 뒤에야 알 수 있기 때문입니다. 앞 호출의 결과가 다음 호출의 입력을 정합니다. 그래서 호출과 관찰을 되풀이하는 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틀이 실행 고리입니다. 왼쪽부터 요청 해석, 계획, 도구 선택과 호출, 결과 관찰, 종료입니다. 결과를 관찰해 목표에 이르렀으면 종료로 가고, 아직 못 미쳤거나 호출이 뜻대로 되지 않았으면 위의 점선을 따라 계획으로 되돌아갑니다. 이 단계들을 쿨러 사건의 기록에서 차례로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처리 기록 앞부분입니다. 11시 13분 8초에 경보가 났고 1초 뒤에 에이전트 단계가 시작되었습니다. 에이전트는 맡은 업무와 입력을 받고 가장 먼저 업무 지침인 에이전트 스킬을 읽었습니다. 마지막 줄은 에이전트가 스스로 적은 진행 설명이며, 무엇을 하려는지가 기록에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가리고 조치를 추천하라는 목표는 그대로는 수행할 수 없으므로 도구 호출의 순서로 풀어야 하며, 그것이 계획입니다. 쿨러 사건에서는 업무 지침에 다섯 단계가 적혀 있었고 에이전트는 이를 뼈대로 삼았습니다. 다만 지침은 뼈대여서, 실제로 어떤 값을 넣고 결과를 어떻게 읽을지는 그때마다 에이전트가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선택과 호출, 결과 관찰이 이어지는 장면입니다. 위는 원인 진단이 돌려준 결과의 요지이고, 아래는 5초 뒤에 부른 대안 평가의 물음입니다. 진단에서 읽은 원인과 고장 유형의 식별자가 아래 물음에 그대로 들어가 있습니다. 관찰한 결과가 다음 호출의 입력을 정한다는 것이 이 두 줄에서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고리가 되돌아가는 장면입니다. 대안 평가가 돌려준 결과는 12만 자가 넘어 그대로 받을 수 없었습니다. 에이전트는 이를 알아차리고 순위와 규정 판정만 간추리겠다고 계획을 고쳤고, 6초 뒤에는 필요한 항목만 좁혀 다시 뽑겠다고 했습니다. 따옴표 안은 에이전트가 기록에 남긴 말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쿨러 경보를 다른 회차에 처리한 실행의 도구 호출 순서입니다. 에이전트는 먼저 연결된 도구 가운데 쓸 것만 이름으로 골라 불러왔는데, 이것이 도구 선택입니다. 대안 평가의 결과를 받지 못하자 이번에는 조치 효과 예측을 세 번 불러 지는 안이 왜 지는지를 확인했습니다. 마지막 메시지에는 무엇을 열어 보지 못했고 대신 무엇을 근거로 썼는지를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다시 시도하는 데에는 한도가 있습니다. 조회문을 고쳐 다시 시도하는 것도, 형식이 틀린 결과를 고쳐 다시 내는 것도 두 번까지입니다. 한 번의 실행 전체에는 1,800초, 곧 30분의 제한이 걸려 있습니다. 한도를 넘기면 에이전트는 멈추고 그 작업은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마지막인 종료입니다. 에이전트는 판단 제출이라는 도구를 불러 추천안을 냈고 판단 번호를 돌려받았습니다. 그 뒤 정해진 형식의 결과 파일을 남기고 단계를 끝냈습니다. 시작부터 1분 34초, 곧 약 94초가 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내는 것은 두 가지로 나뉩니다. 왼쪽의 답변은 질문한 사람이 읽으면 그것으로 끝납니다. 오른쪽의 업무 산출물은 승인할 담당자와 다음 단계의 시스템이 받으며, 그래서 항목이 정해져 있어야 합니다. 두 쪽을 실제 예로 하나씩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칸의 단순 답변부터 봅니다. 완제품 재고가 가장 적은 설비를 묻자 에이전트는 업무 DB를 조회해 HYD-02의 100개라고 답했습니다. 답 아래에는 실행한 조회문이 근거로 붙어 있습니다. 답이 한 번이어도 에이전트는 기억이 아니라 도구로 읽은 값으로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칸의 업무 산출물입니다. 쿨러 사건의 추천안에는 진단한 원인, 추천하는 조치 하나, 뒤진 대안 셋, 그렇게 판단한 이유와 판단 번호가 들어 있습니다. 대안이 왜 뒤졌는지까지 함께 내므로 담당자는 추천 하나만이 아니라 견준 과정을 보고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어디로 넘어가는지를 시각과 함께 봅니다. 에이전트의 일은 추천안을 내고 단계를 끝낸 11시 14분 42초에 끝납니다. 11시 14분 56초에 운전원이 승인하자 1초 뒤에 시스템이 팬 속도 명령을 만들었고, 재관측을 거쳐 핀 세척 작업지시도 시스템이 등록했습니다. 에이전트에게는 설비에 명령을 보낼 도구가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운전이라는 추천안 한 건을 만드는 데 쓰인 정보를 출처별로 놓았습니다. 원인 후보는 온톨로지에서, 냉각 효율 46.2 %는 시계열 DB에서, 납기까지 남은 시간은 업무 DB에서, 조치의 단계와 출처는 SOP에서 왔습니다. 네 곳 모두 에이전트가 도구를 불러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정보원은 저마다 다른 물음에 답합니다. 온톨로지는 관계를, 시계열 DB는 그 시각의 측정값을, 업무 DB는 정비와 재고와 납기의 상태를, SOP는 조치를 수행하는 방법을 답합니다. 유온이 지금 몇 도인지를 온톨로지에 물으면 답이 없습니다. 꼬리표를 보면 넷은 문서가 개정될 때만 바뀌는 쪽과 계속 바뀌는 쪽으로 나뉩니다.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 가운데 온톨로지와 SOP는 같은 지식 그래프에 들어 있습니다. 진단 도구는 고장 유형에서 원인 관계를 거슬러 원인 후보 셋을, 완화 관계를 따라 조치 방법을 얻었습니다. 그래프가 알려 주는 것은 후보까지이며, 셋 가운데 어느 것이 맞는지는 값을 읽어야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시계열 DB에서 읽은 값 하나를 자세히 봅니다. 냉각 효율 46.2는 한순간의 값이 아니라 최근 30초의 평균이며, 그렇게 읽으라는 방법은 지식 그래프의 증거에 적혀 있었습니다. 기준 70도 지식 그래프에서 왔습니다. 아래의 coverage는 그 30초 동안 표본이 30개 있었다는 뜻으로, 값이 띄엄띄엄 들어온 구간으로 평균을 내지 않았음을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DB에서 읽은 값입니다. 에이전트는 설비 이름 하나를 물음으로 넣어 이 설비에 걸린 생산오더를 받았습니다. 납기까지 5.98시간이 남았고 남은 수량은 1,500개입니다. 부하를 낮추는 조치가 성과 비교에서 납기 쪽 점수를 잃은 것이 이 값 때문이었습니다.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정보원을 읽는 방식에는 공통점이 있습니다. 에이전트는 어느 데이터베이스에도 직접 접속하지 않고 도구를 거칩니다. 시계열 DB와 업무 DB를 읽는 도구는 읽기 전용이며, 한 번에 200행까지만 돌려주고 5초 안에 끝나지 않는 조회는 끊습니다. 에이전트가 조회문을 잘못 쓰더라도 데이터가 바뀌거나 시스템이 오래 붙잡히지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 바뀌지 않는 지식과 계속 변하는 값을 섞으면 두 가지 꼴로 나타납니다. 왼쪽은 매뉴얼의 기준 70을 잰 값처럼 말하는 경우입니다. 오른쪽은 경보 순간에 읽은 55.71을 한참 뒤에도 지금의 유온으로 쓰는 경우입니다. 두 문장 모두 숫자가 들어 있어 그럴듯하게 읽히므로, 읽는 사람이 알아차리기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혼동을 막는 첫째 장치는 작업 규칙입니다. 에이전트에게는 추측하지 말고 도구로 확인하라는 규칙이 주어지며, 무엇을 어디에서 얻을지가 세 갈래로 정해져 있습니다. 지식은 지식 그래프에서, 지금의 값은 원천에서 그때 읽습니다. 규칙 판정은 모델이 직접 하지 않고 판단 도구의 결과를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장치는 값에 붙는 신선도입니다. 가로축이 시간이고 오른쪽의 굵은 선이 판단하는 시각이며, 하늘색 띠가 허용 범위 60초입니다. 쿨러 사건에서 최신 유온은 0.6초 전의 값이어서 그대로 판단에 쓰였습니다. 60초보다 오래된 값밖에 없으면 그 값으로 판단하지 않고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멈추지 않으면 어떻게 되는지부터 봅니다. 냉각 효율을 읽지 못했는데 가능성이 가장 큰 원인을 적어 내면, 추천안의 모양은 값을 읽었을 때와 똑같아 승인하는 사람은 그 차이를 알 수 없습니다. 오른쪽처럼 원인을 적지 않고 무엇을 확인하지 못했는지를 내야 모르는 것이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멈춰야 하는 상황은 셋입니다. 위는 근거 부족으로, 값을 얻지 못했거나 얻은 값이 어느 원인에도 맞지 않는 경우입니다. 가운데는 도구 호출 실패로, 다시 시도해도 도구가 오류를 돌려주는 경우입니다. 아래는 권한 제한으로, 일을 하려면 허용되지 않은 도구가 필요한 경우입니다. 셋 모두 에이전트는 지어내지 않고 멈추며, 멈춘 작업은 이유와 함께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부족에는 서로 다른 두 경우가 들어 있습니다. UNKNOWN은 조회에 실패했거나 값이 비어서 맞는지 틀린지를 말할 수 없는 상태이고, UNSUPPORTED는 값은 읽었지만 어느 원인의 기준에도 맞지 않는 상태입니다. 앞의 것은 값이 들어오면 풀리고, 뒤의 것은 등록된 지식에 없는 원인일 수 있어 사람이 살펴야 합니다. 쿨러 사건의 쿨러 핀 오염은 값을 읽었고 기준에 맞은 SUPPORTED였습니다.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보류에도 정해진 형식이 있습니다. 에이전트는 원인이나 추천 같은 결과 항목을 하나도 채우지 않고, 상태와 이유와 그때까지 모은 증거만 담은 객체 하나를 제출합니다. 일부는 채우고 일부는 보류하는 식으로 섞어 내면 받아들여지지 않습니다. 절반만 확인된 추천안이 승인 화면에 올라가는 일을 막기 위해서입니다.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멈춤 조건인 도구 호출 실패에서 중요한 것은 실패와 값 없음의 구분입니다. 예비품 재고를 조회해 0행이 돌아왔다면 재고가 없다는 답이고, 조회가 실패했다면 재고를 모른다는 뜻입니다. 실패를 0으로 적으면 모르는 일이 없는 일로 바뀝니다. 그래서 다시 시도해도 끝내 실패하면 실패했다고 그대로 적고, 그 값 없이는 판단할 수 없으면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멈춤 조건인 권한 제한입니다. 에이전트마다 부를 수 있는 도구가 허용 목록으로 정해져 있고, 목록 밖의 도구를 부르려 하면 실행되지 않고 권한 요청이 되며, 그 요청은 질문이 되어 사람에게 올라갑니다. 마지막 칸은 에이전트에게 주는 지시의 한 문장입니다. 사람이 질문에 답하더라도 그것으로 에이전트의 권한이 넓어지지는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멈추지 않고 끝까지 간 경우에 에이전트가 내는 결과의 형식입니다. 문서에서 지식을 뽑을 때 쓴 구조화 출력이 여기에도 쓰입니다. 추천안은 다섯 항목을 가진 JSON 객체 하나이며, 어떤 항목이 있어야 하는지는 작업마다 미리 정해져 있습니다. 승인 화면은 decision에서 추천과 설명을 읽어 보여 주고, 뒤의 단계는 decision_id로 이 판단을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낸 결과는 시스템이 먼저 검사합니다. 정해진 항목이 빠졌거나 모양이 어긋나면 그 결과는 승인 화면으로 가지 못하고, 거절됐다는 알림과 이유가 에이전트에게 되돌아갑니다. 에이전트는 같은 실행 안에서 조회를 다시 하지 않고 형식만 고쳐 다시 냅니다. 이 교정은 두 번까지입니다.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결과와 함께 과정도 남습니다. 위의 상자가 처리 기록이며, 에이전트의 말과 도구 호출이 시각 순서로 한 줄씩 쌓입니다. 그 가운데 도구 호출 한 줄을 아래에 펼쳤습니다. 언제, 어느 도구에, 무엇을 물어, 무엇을 받았고, 얼마나 걸렸는지의 다섯 칸이며, 입력과 출력이 모두 남으므로 추천안에 적힌 값이 어느 호출에서 왔는지를 찾아갈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기록은 결과가 이상해 보일 때 쓰입니다. 추천안의 값 하나가 의심스러우면 그 값을 돌려준 호출을 기록에서 찾고, 출력이 그 값과 같다면 다음은 입력입니다. 엉뚱한 설비나 틀린 원인을 넣지 않았는지를 봅니다. 입력도 옳다면 문제는 도구나 그 뒤의 데이터 쪽에 있고, 입력이 틀렸다면 호출 사이의 말에서 에이전트가 왜 그렇게 했는지를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과정의 기록과 별도로, 결과 안에도 근거가 들어 있어야 합니다. 에이전트는 모든 판단에 지식 그래프의 식별자를 인용하도록 되어 있습니다. 쿨러 핀 오염이라는 이름만 있으면 그것이 등록된 지식인지 모델이 지어낸 말인지 구별할 수 없습니다. 식별자가 있으면 그 노드를 찾아가 출처인 매뉴얼의 절까지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근거를 적었다는 것만으로는 충분하지 않습니다. 근거 자체를 꾸며 낼 수 있기 때문입니다. 그래서 답에 적힌 조회가 실제 호출 기록에 있는지를 시스템이 대조합니다. 기록에 있으면 근거가 확인된 답으로 보이고, 없으면 답할 수 없음으로 보이며 에이전트가 낸 답은 근거가 확인되지 않았다는 표시와 함께 접힙니다.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근거를 적을 때 조심할 것이 하나 더 있습니다. 유온이 오르는 동안 냉각 효율이 떨어졌다는 것만으로 쿨러가 원인이라고 적으면 안 됩니다. 같은 쿨러 성능 저하 경보에 원인 후보가 셋이었고, 쿨러 사건에서는 팬 진동과 캐비닛 온도를 기준에 대어 두 후보를 지우고 남은 하나만 확인된 원인으로 적었습니다. 값을 읽지 못해 지우지도 확인하지도 못한 후보가 있으면 가설이라고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항목대로 이름과 목표와 역할을 적고, 쓸 수 있는 읽기 도구 가운데 필요한 것을 골라 에이전트 하나를 구성합니다. 그 에이전트에게 질문하고, 답에 붙은 근거가 호출 기록과 대조되어 확인되는지 봅니다. 끝으로 쿨러 사건을 맡은 기준 에이전트와 무엇이 다른지 적습니다. 준비된 학생 계정과 읽기 도구를 전제로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바이브 코딩으로 원인 추론 에이전트를 구성합니다. 공용 온톨로지의 관계와 제공된 센서 입력을 읽어 후보 원인과 증거를 맞추고, 다음 점검 순서를 냅니다. 확인되지 않은 원인은 단정하지 않고 가설로 표시하는 것이 성공 기준이며, 점검 계획과 그 계획에 쓴 근거가 파일로 남습니다. 질의 문장을 연습하는 실습이 아니라 에이전트가 근거를 다루는 방식을 만드는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불량 접수 메시지를 받아 후속 업무로 넘기는 작은 에이전트를 만듭니다. 출력은 품질 유형, 추가 확인 항목, 담당 부서, 대응 초안의 정해진 항목을 가진 품질 대응 카드입니다. 원인이 정해지지 않은 접수는 원인을 단정하지 않고 조사 요청으로 넘기는 갈래를 반드시 둡니다. 원인이 분명한 접수와 원인 미확정 접수가 서로 다른 카드로 나오면 성공입니다.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시계열에서 이상 징후를 찾아 도표로 그립니다. 온도와 압력이 시간에 따라 어떻게 변했는지, 어느 구간에서 올랐는지를 비교하고, 요약에는 이상 구간과 관련 태그와 조회 기간을 근거와 함께 적습니다. 마지막으로 그 출력이 함께 변한 값을 원인이라고 단정하지 않았는지를 점검합니다.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장면 다섯을 놓고, 가운데 열의 물음에 학생이 먼저 답한 뒤 오른쪽 근거와 대조합니다. 계산의 주체, 지식과 값, 확인과 가설, 제안과 실행, 없음과 모름의 다섯 짝이 오늘 다룬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아홉 용어의 이름과 뜻을 확인합니다. 영문 정식 명칭은 화면에 두고, 대본에서는 뜻을 짚습니다. 흐름을 다시 설명하지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기록의 한 장면을 실행 고리의 단계에 대어 보는 시나리오 해석 문항입니다. 두 호출의 도구가 같은지 다른지, 뒤 호출의 입력이 어디에서 왔는지를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값, 실패와 값 없음을 구분하는지 묻는 근거 구분 문항입니다. 보기마다 무엇을 무엇으로 바꾸어 썼는지를 짚어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에이전트와 사람 사이의 책임 경계를 묻는 문항입니다. 상황이 급하다는 것이 권한을 바꾸는지, 사람의 답변이 권한을 바꾸는지를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3번은 같은 일을 방법을 바꾸어 다시 한 경우에 해당하는 말이며 이 장면과는 다릅니다. 둘째 문항의 1번은 묵은 값과 기준을, 2번은 실패를 0으로, 3번은 후보를 확인된 원인으로 바꾸어 쓴 것입니다. 셋째 문항의 4번은 사람에게 물었다는 점에서 그럴듯하지만, 답변이 권한을 바꾸지 않는다는 점에서 틀렸습니다.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29.png"/><Relationship Id="rId5"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32.png"/><Relationship Id="rId5" Type="http://schemas.openxmlformats.org/officeDocument/2006/relationships/image" Target="../media/image18.png"/><Relationship Id="rId6" Type="http://schemas.openxmlformats.org/officeDocument/2006/relationships/image" Target="../media/image33.png"/><Relationship Id="rId7"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4.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7.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9.png"/><Relationship Id="rId4" Type="http://schemas.openxmlformats.org/officeDocument/2006/relationships/image" Target="../media/image49.png"/><Relationship Id="rId5" Type="http://schemas.openxmlformats.org/officeDocument/2006/relationships/image" Target="../media/image19.png"/><Relationship Id="rId6"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4.png"/><Relationship Id="rId4" Type="http://schemas.openxmlformats.org/officeDocument/2006/relationships/image" Target="../media/image44.png"/><Relationship Id="rId5" Type="http://schemas.openxmlformats.org/officeDocument/2006/relationships/image" Target="../media/image5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1.png"/><Relationship Id="rId4"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6.png"/><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3.png"/><Relationship Id="rId6" Type="http://schemas.openxmlformats.org/officeDocument/2006/relationships/image" Target="../media/image5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8.png"/><Relationship Id="rId4" Type="http://schemas.openxmlformats.org/officeDocument/2006/relationships/image" Target="../media/image39.png"/><Relationship Id="rId5" Type="http://schemas.openxmlformats.org/officeDocument/2006/relationships/image" Target="../media/image59.png"/><Relationship Id="rId6" Type="http://schemas.openxmlformats.org/officeDocument/2006/relationships/image" Target="../media/image4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7.png"/><Relationship Id="rId4" Type="http://schemas.openxmlformats.org/officeDocument/2006/relationships/image" Target="../media/image60.png"/><Relationship Id="rId5" Type="http://schemas.openxmlformats.org/officeDocument/2006/relationships/image" Target="../media/image3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현장 지식을 활용해 실제 문제를 해결하는 AI 에이전트 만들기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정보와 도구로 일하는</a:t>
            </a:r>
          </a:p>
          <a:p>
            <a:pPr algn="l" eaLnBrk="0">
              <a:lnSpc>
                <a:spcPct val="110000"/>
              </a:lnSpc>
            </a:pPr>
            <a:r>
              <a:rPr sz="4000" b="1">
                <a:solidFill>
                  <a:srgbClr val="FFFFFF"/>
                </a:solidFill>
                <a:latin typeface="맑은 고딕"/>
                <a:ea typeface="맑은 고딕"/>
                <a:cs typeface="맑은 고딕"/>
              </a:rPr>
              <a:t>AI 에이전트</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목표를 받은 에이전트가 정보원을 도구로 읽고, 근거가 모자라면 멈추며, 결과와 과정을 남기는 원리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bot" descr="robo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search" descr="list-search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한 건을 맡은 에이전트가 무엇을 읽고 어떤 순서로 일하며 언제 멈추는지를 쿨러 사건의 실제 기록으로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0734"/>
            <a:ext cx="731520" cy="731520"/>
          </a:xfrm>
          <a:prstGeom prst="ellipse">
            <a:avLst/>
          </a:prstGeom>
          <a:solidFill>
            <a:srgbClr val="E7F3FD"/>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930859" y="2474353"/>
            <a:ext cx="424281" cy="424281"/>
          </a:xfrm>
          <a:prstGeom prst="rect">
            <a:avLst/>
          </a:prstGeom>
        </p:spPr>
      </p:pic>
      <p:sp>
        <p:nvSpPr>
          <p:cNvPr id="9" name="TextBox 8"/>
          <p:cNvSpPr txBox="1"/>
          <p:nvPr/>
        </p:nvSpPr>
        <p:spPr>
          <a:xfrm>
            <a:off x="713232"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세 방식의 구분</a:t>
            </a:r>
          </a:p>
          <a:p>
            <a:pPr algn="l" eaLnBrk="0" marL="177165" indent="-177165">
              <a:lnSpc>
                <a:spcPct val="110000"/>
              </a:lnSpc>
              <a:spcAft>
                <a:spcPts val="400"/>
              </a:spcAft>
            </a:pPr>
            <a:r>
              <a:rPr sz="1550" b="0">
                <a:solidFill>
                  <a:srgbClr val="1F2A3A"/>
                </a:solidFill>
                <a:latin typeface="맑은 고딕"/>
                <a:ea typeface="맑은 고딕"/>
                <a:cs typeface="맑은 고딕"/>
              </a:rPr>
              <a:t>• 같은 요청에 LLM · RAG · 에이전트가</a:t>
            </a:r>
          </a:p>
          <a:p>
            <a:pPr algn="l" eaLnBrk="0" marL="177165" indent="-177165">
              <a:lnSpc>
                <a:spcPct val="110000"/>
              </a:lnSpc>
              <a:spcAft>
                <a:spcPts val="400"/>
              </a:spcAft>
            </a:pPr>
            <a:r>
              <a:rPr sz="1550" b="0">
                <a:solidFill>
                  <a:srgbClr val="1F2A3A"/>
                </a:solidFill>
                <a:latin typeface="맑은 고딕"/>
                <a:ea typeface="맑은 고딕"/>
                <a:cs typeface="맑은 고딕"/>
              </a:rPr>
              <a:t>• 무엇을 근거로 무엇을 돌려주는지 견준다</a:t>
            </a:r>
          </a:p>
        </p:txBody>
      </p:sp>
      <p:sp>
        <p:nvSpPr>
          <p:cNvPr id="10" name="Rounded Rectangle 9"/>
          <p:cNvSpPr/>
          <p:nvPr/>
        </p:nvSpPr>
        <p:spPr>
          <a:xfrm>
            <a:off x="777240" y="543337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구분</a:t>
            </a:r>
          </a:p>
        </p:txBody>
      </p:sp>
      <p:sp>
        <p:nvSpPr>
          <p:cNvPr id="12" name="Rounded Rectangle 11"/>
          <p:cNvSpPr/>
          <p:nvPr/>
        </p:nvSpPr>
        <p:spPr>
          <a:xfrm>
            <a:off x="3390823"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0734"/>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474353"/>
            <a:ext cx="424281" cy="424281"/>
          </a:xfrm>
          <a:prstGeom prst="rect">
            <a:avLst/>
          </a:prstGeom>
        </p:spPr>
      </p:pic>
      <p:sp>
        <p:nvSpPr>
          <p:cNvPr id="15" name="TextBox 14"/>
          <p:cNvSpPr txBox="1"/>
          <p:nvPr/>
        </p:nvSpPr>
        <p:spPr>
          <a:xfrm>
            <a:off x="3555415"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실행 고리와 산출물</a:t>
            </a:r>
          </a:p>
          <a:p>
            <a:pPr algn="l" eaLnBrk="0" marL="177165" indent="-177165">
              <a:lnSpc>
                <a:spcPct val="110000"/>
              </a:lnSpc>
              <a:spcAft>
                <a:spcPts val="400"/>
              </a:spcAft>
            </a:pPr>
            <a:r>
              <a:rPr sz="1550" b="0">
                <a:solidFill>
                  <a:srgbClr val="1F2A3A"/>
                </a:solidFill>
                <a:latin typeface="맑은 고딕"/>
                <a:ea typeface="맑은 고딕"/>
                <a:cs typeface="맑은 고딕"/>
              </a:rPr>
              <a:t>• 요청 해석에서 종료까지를 처리 기록에서 짚고</a:t>
            </a:r>
          </a:p>
          <a:p>
            <a:pPr algn="l" eaLnBrk="0" marL="177165" indent="-177165">
              <a:lnSpc>
                <a:spcPct val="110000"/>
              </a:lnSpc>
              <a:spcAft>
                <a:spcPts val="400"/>
              </a:spcAft>
            </a:pPr>
            <a:r>
              <a:rPr sz="1550" b="0">
                <a:solidFill>
                  <a:srgbClr val="1F2A3A"/>
                </a:solidFill>
                <a:latin typeface="맑은 고딕"/>
                <a:ea typeface="맑은 고딕"/>
                <a:cs typeface="맑은 고딕"/>
              </a:rPr>
              <a:t>• 답변과 추천안의 차이를 설명한다</a:t>
            </a:r>
          </a:p>
        </p:txBody>
      </p:sp>
      <p:sp>
        <p:nvSpPr>
          <p:cNvPr id="16" name="Rounded Rectangle 15"/>
          <p:cNvSpPr/>
          <p:nvPr/>
        </p:nvSpPr>
        <p:spPr>
          <a:xfrm>
            <a:off x="3619423" y="54333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0734"/>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474353"/>
            <a:ext cx="424281" cy="424281"/>
          </a:xfrm>
          <a:prstGeom prst="rect">
            <a:avLst/>
          </a:prstGeom>
        </p:spPr>
      </p:pic>
      <p:sp>
        <p:nvSpPr>
          <p:cNvPr id="21" name="TextBox 20"/>
          <p:cNvSpPr txBox="1"/>
          <p:nvPr/>
        </p:nvSpPr>
        <p:spPr>
          <a:xfrm>
            <a:off x="6397599"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정보원과 멈춤 조건</a:t>
            </a:r>
          </a:p>
          <a:p>
            <a:pPr algn="l" eaLnBrk="0" marL="177165" indent="-177165">
              <a:lnSpc>
                <a:spcPct val="110000"/>
              </a:lnSpc>
              <a:spcAft>
                <a:spcPts val="400"/>
              </a:spcAft>
            </a:pPr>
            <a:r>
              <a:rPr sz="1550" b="0">
                <a:solidFill>
                  <a:srgbClr val="1F2A3A"/>
                </a:solidFill>
                <a:latin typeface="맑은 고딕"/>
                <a:ea typeface="맑은 고딕"/>
                <a:cs typeface="맑은 고딕"/>
              </a:rPr>
              <a:t>• 네 정보원을 물음에 맞게 가르고</a:t>
            </a:r>
          </a:p>
          <a:p>
            <a:pPr algn="l" eaLnBrk="0" marL="177165" indent="-177165">
              <a:lnSpc>
                <a:spcPct val="110000"/>
              </a:lnSpc>
              <a:spcAft>
                <a:spcPts val="400"/>
              </a:spcAft>
            </a:pPr>
            <a:r>
              <a:rPr sz="1550" b="0">
                <a:solidFill>
                  <a:srgbClr val="1F2A3A"/>
                </a:solidFill>
                <a:latin typeface="맑은 고딕"/>
                <a:ea typeface="맑은 고딕"/>
                <a:cs typeface="맑은 고딕"/>
              </a:rPr>
              <a:t>• 근거가 모자라면 멈추는 까닭을 든다</a:t>
            </a:r>
          </a:p>
        </p:txBody>
      </p:sp>
      <p:sp>
        <p:nvSpPr>
          <p:cNvPr id="22" name="Rounded Rectangle 21"/>
          <p:cNvSpPr/>
          <p:nvPr/>
        </p:nvSpPr>
        <p:spPr>
          <a:xfrm>
            <a:off x="6461607" y="5433377"/>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3377"/>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정보와 멈춤</a:t>
            </a:r>
          </a:p>
        </p:txBody>
      </p:sp>
      <p:sp>
        <p:nvSpPr>
          <p:cNvPr id="24" name="Rounded Rectangle 23"/>
          <p:cNvSpPr/>
          <p:nvPr/>
        </p:nvSpPr>
        <p:spPr>
          <a:xfrm>
            <a:off x="9075191" y="2119566"/>
            <a:ext cx="2567863" cy="374357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0734"/>
            <a:ext cx="731520" cy="731520"/>
          </a:xfrm>
          <a:prstGeom prst="ellipse">
            <a:avLst/>
          </a:prstGeom>
          <a:solidFill>
            <a:srgbClr val="5CB8F2"/>
          </a:solidFill>
          <a:ln>
            <a:noFill/>
          </a:ln>
        </p:spPr>
        <p:txBody>
          <a:bodyPr rtlCol="0" anchor="ctr"/>
          <a:lstStyle/>
          <a:p>
            <a:pPr algn="ctr"/>
          </a:p>
        </p:txBody>
      </p:sp>
      <p:pic>
        <p:nvPicPr>
          <p:cNvPr id="26" name="아이콘:robot" descr="robot_13294B_1.6.png"/>
          <p:cNvPicPr>
            <a:picLocks noChangeAspect="1"/>
          </p:cNvPicPr>
          <p:nvPr/>
        </p:nvPicPr>
        <p:blipFill>
          <a:blip r:embed="rId6"/>
          <a:stretch>
            <a:fillRect/>
          </a:stretch>
        </p:blipFill>
        <p:spPr>
          <a:xfrm>
            <a:off x="9457410" y="2474353"/>
            <a:ext cx="424281" cy="424281"/>
          </a:xfrm>
          <a:prstGeom prst="rect">
            <a:avLst/>
          </a:prstGeom>
        </p:spPr>
      </p:pic>
      <p:sp>
        <p:nvSpPr>
          <p:cNvPr id="27" name="TextBox 26"/>
          <p:cNvSpPr txBox="1"/>
          <p:nvPr/>
        </p:nvSpPr>
        <p:spPr>
          <a:xfrm>
            <a:off x="9239783"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에이전트 구성과 검증</a:t>
            </a:r>
          </a:p>
          <a:p>
            <a:pPr algn="l" eaLnBrk="0" marL="177165" indent="-177165">
              <a:lnSpc>
                <a:spcPct val="110000"/>
              </a:lnSpc>
              <a:spcAft>
                <a:spcPts val="400"/>
              </a:spcAft>
            </a:pPr>
            <a:r>
              <a:rPr sz="1550" b="0">
                <a:solidFill>
                  <a:srgbClr val="1F2A3A"/>
                </a:solidFill>
                <a:latin typeface="맑은 고딕"/>
                <a:ea typeface="맑은 고딕"/>
                <a:cs typeface="맑은 고딕"/>
              </a:rPr>
              <a:t>• 에이전트를 구성해 질문하고</a:t>
            </a:r>
          </a:p>
          <a:p>
            <a:pPr algn="l" eaLnBrk="0" marL="177165" indent="-177165">
              <a:lnSpc>
                <a:spcPct val="110000"/>
              </a:lnSpc>
              <a:spcAft>
                <a:spcPts val="400"/>
              </a:spcAft>
            </a:pPr>
            <a:r>
              <a:rPr sz="1550" b="0">
                <a:solidFill>
                  <a:srgbClr val="1F2A3A"/>
                </a:solidFill>
                <a:latin typeface="맑은 고딕"/>
                <a:ea typeface="맑은 고딕"/>
                <a:cs typeface="맑은 고딕"/>
              </a:rPr>
              <a:t>• 실습 결과를 근거와 대조한다</a:t>
            </a:r>
          </a:p>
        </p:txBody>
      </p:sp>
      <p:sp>
        <p:nvSpPr>
          <p:cNvPr id="28" name="Rounded Rectangle 27"/>
          <p:cNvSpPr/>
          <p:nvPr/>
        </p:nvSpPr>
        <p:spPr>
          <a:xfrm>
            <a:off x="9303791" y="543337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LLM · RAG · 에이전트의 구분</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에이전트의 실행 고리</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단순 답변과 업무 산출물</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에이전트의 정보원과 도구</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지식과 현재값의 구분</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멈춤 조건: 근거 부족 · 호출 실패 · 권한 제한</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구조화 출력과 실행 기록</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에이전트 구성 · 원인 추론 · 접수 처리 · 센서 탐색</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
        <p:nvSpPr>
          <p:cNvPr id="43" name="TextBox 4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LLM · RAG · 에이전트의 구분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경보 한 건을 맡기려면 AI에 무엇이 더 있어야 하는지, 세 방식을 같은 요청으로 견준다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경보에서 승인까지: 에이전트가 맡은 구간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경보에서 승인까지 108초 가운데 약 94초는 </a:t>
            </a:r>
            <a:r>
              <a:rPr sz="1600" b="1">
                <a:solidFill>
                  <a:srgbClr val="1A6FC4"/>
                </a:solidFill>
                <a:latin typeface="맑은 고딕"/>
                <a:ea typeface="맑은 고딕"/>
                <a:cs typeface="맑은 고딕"/>
              </a:rPr>
              <a:t>에이전트</a:t>
            </a:r>
            <a:r>
              <a:rPr sz="1600" b="0">
                <a:solidFill>
                  <a:srgbClr val="556175"/>
                </a:solidFill>
                <a:latin typeface="맑은 고딕"/>
                <a:ea typeface="맑은 고딕"/>
                <a:cs typeface="맑은 고딕"/>
              </a:rPr>
              <a:t>가 원인을 가리고 조치 후보를 견준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경보에서승인까지.svg" descr="illust_4691783426574332135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722180"/>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 11:13:08</a:t>
            </a:r>
          </a:p>
          <a:p>
            <a:pPr algn="ctr" eaLnBrk="0">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3117555" y="1674906"/>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원인을 가리고 후보를 견준다</a:t>
            </a:r>
          </a:p>
        </p:txBody>
      </p:sp>
      <p:sp>
        <p:nvSpPr>
          <p:cNvPr id="9" name="TextBox 8"/>
          <p:cNvSpPr txBox="1"/>
          <p:nvPr/>
        </p:nvSpPr>
        <p:spPr>
          <a:xfrm>
            <a:off x="6444951" y="1722180"/>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 11:14:42</a:t>
            </a:r>
          </a:p>
          <a:p>
            <a:pPr algn="ctr" eaLnBrk="0">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10" name="TextBox 9"/>
          <p:cNvSpPr txBox="1"/>
          <p:nvPr/>
        </p:nvSpPr>
        <p:spPr>
          <a:xfrm>
            <a:off x="9019592" y="1722180"/>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11:14:56</a:t>
            </a:r>
          </a:p>
          <a:p>
            <a:pPr algn="ctr" eaLnBrk="0">
              <a:lnSpc>
                <a:spcPct val="110000"/>
              </a:lnSpc>
              <a:spcAft>
                <a:spcPts val="100"/>
              </a:spcAft>
            </a:pPr>
            <a:r>
              <a:rPr sz="1300" b="0">
                <a:solidFill>
                  <a:srgbClr val="556175"/>
                </a:solidFill>
                <a:latin typeface="맑은 고딕"/>
                <a:ea typeface="맑은 고딕"/>
                <a:cs typeface="맑은 고딕"/>
              </a:rPr>
              <a:t>운전원</a:t>
            </a:r>
          </a:p>
        </p:txBody>
      </p:sp>
      <p:sp>
        <p:nvSpPr>
          <p:cNvPr id="11" name="TextBox 10"/>
          <p:cNvSpPr txBox="1"/>
          <p:nvPr/>
        </p:nvSpPr>
        <p:spPr>
          <a:xfrm>
            <a:off x="3368473" y="5409590"/>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약 94초</a:t>
            </a:r>
          </a:p>
          <a:p>
            <a:pPr algn="ctr" eaLnBrk="0">
              <a:lnSpc>
                <a:spcPct val="110000"/>
              </a:lnSpc>
              <a:spcAft>
                <a:spcPts val="100"/>
              </a:spcAft>
            </a:pPr>
            <a:r>
              <a:rPr sz="1300" b="0">
                <a:solidFill>
                  <a:srgbClr val="556175"/>
                </a:solidFill>
                <a:latin typeface="맑은 고딕"/>
                <a:ea typeface="맑은 고딕"/>
                <a:cs typeface="맑은 고딕"/>
              </a:rPr>
              <a:t>에이전트 단계 전체</a:t>
            </a:r>
          </a:p>
        </p:txBody>
      </p:sp>
      <p:sp>
        <p:nvSpPr>
          <p:cNvPr id="12" name="TextBox 11"/>
          <p:cNvSpPr txBox="1"/>
          <p:nvPr/>
        </p:nvSpPr>
        <p:spPr>
          <a:xfrm>
            <a:off x="7950461" y="5409590"/>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약 13초</a:t>
            </a:r>
          </a:p>
          <a:p>
            <a:pPr algn="ctr" eaLnBrk="0">
              <a:lnSpc>
                <a:spcPct val="110000"/>
              </a:lnSpc>
              <a:spcAft>
                <a:spcPts val="100"/>
              </a:spcAft>
            </a:pPr>
            <a:r>
              <a:rPr sz="1300" b="0">
                <a:solidFill>
                  <a:srgbClr val="556175"/>
                </a:solidFill>
                <a:latin typeface="맑은 고딕"/>
                <a:ea typeface="맑은 고딕"/>
                <a:cs typeface="맑은 고딕"/>
              </a:rPr>
              <a:t>승인 대기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94초 동안 이어진 네 가지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94초는 답 한 번을 만든 시간이 아니라, 앞 단계의 결과가 있어야 다음 단계를 할 수 있는 네 가지 일의 연속이었다.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643505"/>
            <a:ext cx="2485567" cy="2695702"/>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26385"/>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579283" y="2980004"/>
            <a:ext cx="424281" cy="424281"/>
          </a:xfrm>
          <a:prstGeom prst="rect">
            <a:avLst/>
          </a:prstGeom>
        </p:spPr>
      </p:pic>
      <p:sp>
        <p:nvSpPr>
          <p:cNvPr id="9" name="TextBox 8"/>
          <p:cNvSpPr txBox="1"/>
          <p:nvPr/>
        </p:nvSpPr>
        <p:spPr>
          <a:xfrm>
            <a:off x="621792"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값을 읽는다</a:t>
            </a:r>
          </a:p>
          <a:p>
            <a:pPr algn="ctr" eaLnBrk="0">
              <a:lnSpc>
                <a:spcPct val="110000"/>
              </a:lnSpc>
              <a:spcAft>
                <a:spcPts val="400"/>
              </a:spcAft>
            </a:pPr>
            <a:r>
              <a:rPr sz="1650" b="0">
                <a:solidFill>
                  <a:srgbClr val="1F2A3A"/>
                </a:solidFill>
                <a:latin typeface="맑은 고딕"/>
                <a:ea typeface="맑은 고딕"/>
                <a:cs typeface="맑은 고딕"/>
              </a:rPr>
              <a:t>유온, 냉각 효율,</a:t>
            </a:r>
          </a:p>
          <a:p>
            <a:pPr algn="ctr" eaLnBrk="0">
              <a:lnSpc>
                <a:spcPct val="110000"/>
              </a:lnSpc>
              <a:spcAft>
                <a:spcPts val="400"/>
              </a:spcAft>
            </a:pPr>
            <a:r>
              <a:rPr sz="1650" b="0">
                <a:solidFill>
                  <a:srgbClr val="1F2A3A"/>
                </a:solidFill>
                <a:latin typeface="맑은 고딕"/>
                <a:ea typeface="맑은 고딕"/>
                <a:cs typeface="맑은 고딕"/>
              </a:rPr>
              <a:t>팬 진동, 캐비닛 온도</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43505"/>
            <a:ext cx="2485567" cy="2695702"/>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26385"/>
            <a:ext cx="731520" cy="731520"/>
          </a:xfrm>
          <a:prstGeom prst="ellipse">
            <a:avLst/>
          </a:prstGeom>
          <a:solidFill>
            <a:srgbClr val="FFFFFF"/>
          </a:solidFill>
          <a:ln>
            <a:no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4448898" y="2980004"/>
            <a:ext cx="424281" cy="424281"/>
          </a:xfrm>
          <a:prstGeom prst="rect">
            <a:avLst/>
          </a:prstGeom>
        </p:spPr>
      </p:pic>
      <p:sp>
        <p:nvSpPr>
          <p:cNvPr id="14" name="TextBox 13"/>
          <p:cNvSpPr txBox="1"/>
          <p:nvPr/>
        </p:nvSpPr>
        <p:spPr>
          <a:xfrm>
            <a:off x="3491407"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원인을 가린다</a:t>
            </a:r>
          </a:p>
          <a:p>
            <a:pPr algn="ctr" eaLnBrk="0">
              <a:lnSpc>
                <a:spcPct val="110000"/>
              </a:lnSpc>
              <a:spcAft>
                <a:spcPts val="400"/>
              </a:spcAft>
            </a:pPr>
            <a:r>
              <a:rPr sz="1650" b="0">
                <a:solidFill>
                  <a:srgbClr val="1F2A3A"/>
                </a:solidFill>
                <a:latin typeface="맑은 고딕"/>
                <a:ea typeface="맑은 고딕"/>
                <a:cs typeface="맑은 고딕"/>
              </a:rPr>
              <a:t>후보 셋 가운데</a:t>
            </a:r>
          </a:p>
          <a:p>
            <a:pPr algn="ctr" eaLnBrk="0">
              <a:lnSpc>
                <a:spcPct val="110000"/>
              </a:lnSpc>
              <a:spcAft>
                <a:spcPts val="400"/>
              </a:spcAft>
            </a:pPr>
            <a:r>
              <a:rPr sz="1650" b="0">
                <a:solidFill>
                  <a:srgbClr val="1F2A3A"/>
                </a:solidFill>
                <a:latin typeface="맑은 고딕"/>
                <a:ea typeface="맑은 고딕"/>
                <a:cs typeface="맑은 고딕"/>
              </a:rPr>
              <a:t>쿨러 핀 오염</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43505"/>
            <a:ext cx="2485567" cy="2695702"/>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26385"/>
            <a:ext cx="731520" cy="731520"/>
          </a:xfrm>
          <a:prstGeom prst="ellipse">
            <a:avLst/>
          </a:prstGeom>
          <a:solidFill>
            <a:srgbClr val="FFFFFF"/>
          </a:solidFill>
          <a:ln>
            <a:noFill/>
          </a:ln>
        </p:spPr>
        <p:txBody>
          <a:bodyPr rtlCol="0" anchor="ctr"/>
          <a:lstStyle/>
          <a:p>
            <a:pPr algn="ctr"/>
          </a:p>
        </p:txBody>
      </p:sp>
      <p:pic>
        <p:nvPicPr>
          <p:cNvPr id="18" name="아이콘:scale" descr="scale_13294B_1.6.png"/>
          <p:cNvPicPr>
            <a:picLocks noChangeAspect="1"/>
          </p:cNvPicPr>
          <p:nvPr/>
        </p:nvPicPr>
        <p:blipFill>
          <a:blip r:embed="rId5"/>
          <a:stretch>
            <a:fillRect/>
          </a:stretch>
        </p:blipFill>
        <p:spPr>
          <a:xfrm>
            <a:off x="7318514" y="2980004"/>
            <a:ext cx="424281" cy="424281"/>
          </a:xfrm>
          <a:prstGeom prst="rect">
            <a:avLst/>
          </a:prstGeom>
        </p:spPr>
      </p:pic>
      <p:sp>
        <p:nvSpPr>
          <p:cNvPr id="19" name="TextBox 18"/>
          <p:cNvSpPr txBox="1"/>
          <p:nvPr/>
        </p:nvSpPr>
        <p:spPr>
          <a:xfrm>
            <a:off x="6361023"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후보를 견준다</a:t>
            </a:r>
          </a:p>
          <a:p>
            <a:pPr algn="ctr" eaLnBrk="0">
              <a:lnSpc>
                <a:spcPct val="110000"/>
              </a:lnSpc>
              <a:spcAft>
                <a:spcPts val="400"/>
              </a:spcAft>
            </a:pPr>
            <a:r>
              <a:rPr sz="1650" b="0">
                <a:solidFill>
                  <a:srgbClr val="1F2A3A"/>
                </a:solidFill>
                <a:latin typeface="맑은 고딕"/>
                <a:ea typeface="맑은 고딕"/>
                <a:cs typeface="맑은 고딕"/>
              </a:rPr>
              <a:t>조치 후보 넷의</a:t>
            </a:r>
          </a:p>
          <a:p>
            <a:pPr algn="ctr" eaLnBrk="0">
              <a:lnSpc>
                <a:spcPct val="110000"/>
              </a:lnSpc>
              <a:spcAft>
                <a:spcPts val="400"/>
              </a:spcAft>
            </a:pPr>
            <a:r>
              <a:rPr sz="1650" b="0">
                <a:solidFill>
                  <a:srgbClr val="1F2A3A"/>
                </a:solidFill>
                <a:latin typeface="맑은 고딕"/>
                <a:ea typeface="맑은 고딕"/>
                <a:cs typeface="맑은 고딕"/>
              </a:rPr>
              <a:t>규정, 예측 유온, 순위</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43505"/>
            <a:ext cx="2485567" cy="2695702"/>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26385"/>
            <a:ext cx="731520" cy="731520"/>
          </a:xfrm>
          <a:prstGeom prst="ellipse">
            <a:avLst/>
          </a:prstGeom>
          <a:solidFill>
            <a:srgbClr val="5CB8F2"/>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10188130" y="2980004"/>
            <a:ext cx="424281" cy="424281"/>
          </a:xfrm>
          <a:prstGeom prst="rect">
            <a:avLst/>
          </a:prstGeom>
        </p:spPr>
      </p:pic>
      <p:sp>
        <p:nvSpPr>
          <p:cNvPr id="24" name="TextBox 23"/>
          <p:cNvSpPr txBox="1"/>
          <p:nvPr/>
        </p:nvSpPr>
        <p:spPr>
          <a:xfrm>
            <a:off x="9230639" y="3631057"/>
            <a:ext cx="2339263" cy="1634997"/>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추천안을 제출한다</a:t>
            </a:r>
          </a:p>
          <a:p>
            <a:pPr algn="ctr" eaLnBrk="0">
              <a:lnSpc>
                <a:spcPct val="110000"/>
              </a:lnSpc>
              <a:spcAft>
                <a:spcPts val="400"/>
              </a:spcAft>
            </a:pPr>
            <a:r>
              <a:rPr sz="1650" b="0">
                <a:solidFill>
                  <a:srgbClr val="1F2A3A"/>
                </a:solidFill>
                <a:latin typeface="맑은 고딕"/>
                <a:ea typeface="맑은 고딕"/>
                <a:cs typeface="맑은 고딕"/>
              </a:rPr>
              <a:t>추천 하나와</a:t>
            </a:r>
          </a:p>
          <a:p>
            <a:pPr algn="ctr" eaLnBrk="0">
              <a:lnSpc>
                <a:spcPct val="110000"/>
              </a:lnSpc>
              <a:spcAft>
                <a:spcPts val="400"/>
              </a:spcAft>
            </a:pPr>
            <a:r>
              <a:rPr sz="1650" b="0">
                <a:solidFill>
                  <a:srgbClr val="1F2A3A"/>
                </a:solidFill>
                <a:latin typeface="맑은 고딕"/>
                <a:ea typeface="맑은 고딕"/>
                <a:cs typeface="맑은 고딕"/>
              </a:rPr>
              <a:t>뒤진 대안 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LLM의 응답 생성: 입력 한 번에 출력 한 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LLM은 받은 글에 이어질 글을 학습한 내용으로 만들어 한 번 답하며, 그 사이에 바깥의 데이터를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ectangle 5"/>
          <p:cNvSpPr/>
          <p:nvPr/>
        </p:nvSpPr>
        <p:spPr>
          <a:xfrm>
            <a:off x="2397709" y="3465385"/>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355657"/>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900629" y="3008185"/>
            <a:ext cx="2692298"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읽는다</a:t>
            </a:r>
          </a:p>
        </p:txBody>
      </p:sp>
      <p:sp>
        <p:nvSpPr>
          <p:cNvPr id="9" name="Oval 8"/>
          <p:cNvSpPr/>
          <p:nvPr/>
        </p:nvSpPr>
        <p:spPr>
          <a:xfrm>
            <a:off x="1803349"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message" descr="message_13294B_1.6.png"/>
          <p:cNvPicPr>
            <a:picLocks noChangeAspect="1"/>
          </p:cNvPicPr>
          <p:nvPr/>
        </p:nvPicPr>
        <p:blipFill>
          <a:blip r:embed="rId3"/>
          <a:stretch>
            <a:fillRect/>
          </a:stretch>
        </p:blipFill>
        <p:spPr>
          <a:xfrm>
            <a:off x="2088642" y="3229470"/>
            <a:ext cx="618134" cy="618134"/>
          </a:xfrm>
          <a:prstGeom prst="rect">
            <a:avLst/>
          </a:prstGeom>
        </p:spPr>
      </p:pic>
      <p:sp>
        <p:nvSpPr>
          <p:cNvPr id="11" name="TextBox 10"/>
          <p:cNvSpPr txBox="1"/>
          <p:nvPr/>
        </p:nvSpPr>
        <p:spPr>
          <a:xfrm>
            <a:off x="640080" y="4270057"/>
            <a:ext cx="3515258"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입력</a:t>
            </a:r>
          </a:p>
          <a:p>
            <a:pPr algn="ctr" eaLnBrk="0">
              <a:lnSpc>
                <a:spcPct val="110000"/>
              </a:lnSpc>
              <a:spcAft>
                <a:spcPts val="400"/>
              </a:spcAft>
            </a:pPr>
            <a:r>
              <a:rPr sz="1300" b="0">
                <a:solidFill>
                  <a:srgbClr val="1F2A3A"/>
                </a:solidFill>
                <a:latin typeface="맑은 고딕"/>
                <a:ea typeface="맑은 고딕"/>
                <a:cs typeface="맑은 고딕"/>
              </a:rPr>
              <a:t>사람이 적어 넣은 글</a:t>
            </a:r>
          </a:p>
          <a:p>
            <a:pPr algn="ctr" eaLnBrk="0">
              <a:lnSpc>
                <a:spcPct val="110000"/>
              </a:lnSpc>
              <a:spcAft>
                <a:spcPts val="400"/>
              </a:spcAft>
            </a:pPr>
            <a:r>
              <a:rPr sz="1300" b="0">
                <a:solidFill>
                  <a:srgbClr val="1F2A3A"/>
                </a:solidFill>
                <a:latin typeface="맑은 고딕"/>
                <a:ea typeface="맑은 고딕"/>
                <a:cs typeface="맑은 고딕"/>
              </a:rPr>
              <a:t>질문, 지시, 참고 자료</a:t>
            </a:r>
          </a:p>
        </p:txBody>
      </p:sp>
      <p:sp>
        <p:nvSpPr>
          <p:cNvPr id="12" name="Chevron 11"/>
          <p:cNvSpPr/>
          <p:nvPr/>
        </p:nvSpPr>
        <p:spPr>
          <a:xfrm>
            <a:off x="7826044" y="3355657"/>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6598767" y="3008185"/>
            <a:ext cx="2692298" cy="310896"/>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만든다</a:t>
            </a:r>
          </a:p>
        </p:txBody>
      </p:sp>
      <p:sp>
        <p:nvSpPr>
          <p:cNvPr id="14" name="Oval 13"/>
          <p:cNvSpPr/>
          <p:nvPr/>
        </p:nvSpPr>
        <p:spPr>
          <a:xfrm>
            <a:off x="5501487" y="2944177"/>
            <a:ext cx="1188720" cy="1188720"/>
          </a:xfrm>
          <a:prstGeom prst="ellipse">
            <a:avLst/>
          </a:prstGeom>
          <a:solidFill>
            <a:srgbClr val="5CB8F2"/>
          </a:solidFill>
          <a:ln w="28575">
            <a:solidFill>
              <a:srgbClr val="13294B"/>
            </a:solidFill>
          </a:ln>
        </p:spPr>
        <p:txBody>
          <a:bodyPr rtlCol="0" anchor="ctr"/>
          <a:lstStyle/>
          <a:p>
            <a:pPr algn="ctr"/>
          </a:p>
        </p:txBody>
      </p:sp>
      <p:pic>
        <p:nvPicPr>
          <p:cNvPr id="15" name="아이콘:cpu" descr="cpu_13294B_1.6.png"/>
          <p:cNvPicPr>
            <a:picLocks noChangeAspect="1"/>
          </p:cNvPicPr>
          <p:nvPr/>
        </p:nvPicPr>
        <p:blipFill>
          <a:blip r:embed="rId4"/>
          <a:stretch>
            <a:fillRect/>
          </a:stretch>
        </p:blipFill>
        <p:spPr>
          <a:xfrm>
            <a:off x="5786780" y="3229470"/>
            <a:ext cx="618134" cy="618134"/>
          </a:xfrm>
          <a:prstGeom prst="rect">
            <a:avLst/>
          </a:prstGeom>
        </p:spPr>
      </p:pic>
      <p:sp>
        <p:nvSpPr>
          <p:cNvPr id="16" name="TextBox 15"/>
          <p:cNvSpPr txBox="1"/>
          <p:nvPr/>
        </p:nvSpPr>
        <p:spPr>
          <a:xfrm>
            <a:off x="4338218" y="4270057"/>
            <a:ext cx="3515258"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LLM</a:t>
            </a:r>
          </a:p>
          <a:p>
            <a:pPr algn="ctr" eaLnBrk="0">
              <a:lnSpc>
                <a:spcPct val="110000"/>
              </a:lnSpc>
              <a:spcAft>
                <a:spcPts val="400"/>
              </a:spcAft>
            </a:pPr>
            <a:r>
              <a:rPr sz="1300" b="0">
                <a:solidFill>
                  <a:srgbClr val="1F2A3A"/>
                </a:solidFill>
                <a:latin typeface="맑은 고딕"/>
                <a:ea typeface="맑은 고딕"/>
                <a:cs typeface="맑은 고딕"/>
              </a:rPr>
              <a:t>대규모 언어 모델</a:t>
            </a:r>
          </a:p>
          <a:p>
            <a:pPr algn="ctr" eaLnBrk="0">
              <a:lnSpc>
                <a:spcPct val="110000"/>
              </a:lnSpc>
              <a:spcAft>
                <a:spcPts val="400"/>
              </a:spcAft>
            </a:pPr>
            <a:r>
              <a:rPr sz="1300" b="0">
                <a:solidFill>
                  <a:srgbClr val="1F2A3A"/>
                </a:solidFill>
                <a:latin typeface="맑은 고딕"/>
                <a:ea typeface="맑은 고딕"/>
                <a:cs typeface="맑은 고딕"/>
              </a:rPr>
              <a:t>Large Language Model</a:t>
            </a:r>
          </a:p>
          <a:p>
            <a:pPr algn="ctr" eaLnBrk="0">
              <a:lnSpc>
                <a:spcPct val="110000"/>
              </a:lnSpc>
              <a:spcAft>
                <a:spcPts val="400"/>
              </a:spcAft>
            </a:pPr>
            <a:r>
              <a:rPr sz="1300" b="0">
                <a:solidFill>
                  <a:srgbClr val="1F2A3A"/>
                </a:solidFill>
                <a:latin typeface="맑은 고딕"/>
                <a:ea typeface="맑은 고딕"/>
                <a:cs typeface="맑은 고딕"/>
              </a:rPr>
              <a:t>이어질 글을 만든다</a:t>
            </a:r>
          </a:p>
        </p:txBody>
      </p:sp>
      <p:sp>
        <p:nvSpPr>
          <p:cNvPr id="17" name="Oval 16"/>
          <p:cNvSpPr/>
          <p:nvPr/>
        </p:nvSpPr>
        <p:spPr>
          <a:xfrm>
            <a:off x="9199626" y="2944177"/>
            <a:ext cx="1188720" cy="1188720"/>
          </a:xfrm>
          <a:prstGeom prst="ellipse">
            <a:avLst/>
          </a:prstGeom>
          <a:solidFill>
            <a:srgbClr val="FFFFFF"/>
          </a:solidFill>
          <a:ln w="28575">
            <a:solidFill>
              <a:srgbClr val="13294B"/>
            </a:solid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9484918" y="3229470"/>
            <a:ext cx="618134" cy="618134"/>
          </a:xfrm>
          <a:prstGeom prst="rect">
            <a:avLst/>
          </a:prstGeom>
        </p:spPr>
      </p:pic>
      <p:sp>
        <p:nvSpPr>
          <p:cNvPr id="19" name="TextBox 18"/>
          <p:cNvSpPr txBox="1"/>
          <p:nvPr/>
        </p:nvSpPr>
        <p:spPr>
          <a:xfrm>
            <a:off x="8036356" y="4270057"/>
            <a:ext cx="3515258"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출력</a:t>
            </a:r>
          </a:p>
          <a:p>
            <a:pPr algn="ctr" eaLnBrk="0">
              <a:lnSpc>
                <a:spcPct val="110000"/>
              </a:lnSpc>
              <a:spcAft>
                <a:spcPts val="400"/>
              </a:spcAft>
            </a:pPr>
            <a:r>
              <a:rPr sz="1300" b="0">
                <a:solidFill>
                  <a:srgbClr val="1F2A3A"/>
                </a:solidFill>
                <a:latin typeface="맑은 고딕"/>
                <a:ea typeface="맑은 고딕"/>
                <a:cs typeface="맑은 고딕"/>
              </a:rPr>
              <a:t>글로 된 응답 한 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LLM만으로는 채울 수 없는 세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「HYD-01의 유온이 지금 몇 도인가」의 답은 시계열 DB에 있고, 모델이 학습한 내용 안에는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지금의 값</a:t>
            </a:r>
          </a:p>
          <a:p>
            <a:pPr algn="l" eaLnBrk="0" marL="205740" indent="-205740">
              <a:lnSpc>
                <a:spcPct val="110000"/>
              </a:lnSpc>
              <a:spcAft>
                <a:spcPts val="400"/>
              </a:spcAft>
            </a:pPr>
            <a:r>
              <a:rPr sz="1800" b="0">
                <a:solidFill>
                  <a:srgbClr val="1F2A3A"/>
                </a:solidFill>
                <a:latin typeface="맑은 고딕"/>
                <a:ea typeface="맑은 고딕"/>
                <a:cs typeface="맑은 고딕"/>
              </a:rPr>
              <a:t>• 유온, 냉각 효율, 운전 모드는 계속 바뀐다</a:t>
            </a:r>
          </a:p>
          <a:p>
            <a:pPr algn="l" eaLnBrk="0" marL="205740" indent="-205740">
              <a:lnSpc>
                <a:spcPct val="110000"/>
              </a:lnSpc>
              <a:spcAft>
                <a:spcPts val="400"/>
              </a:spcAft>
            </a:pPr>
            <a:r>
              <a:rPr sz="1800" b="0">
                <a:solidFill>
                  <a:srgbClr val="1F2A3A"/>
                </a:solidFill>
                <a:latin typeface="맑은 고딕"/>
                <a:ea typeface="맑은 고딕"/>
                <a:cs typeface="맑은 고딕"/>
              </a:rPr>
              <a:t>• 학습이 끝난 뒤에 생긴 값은 모델 안에 없다</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값</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book-2" descr="book-2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이 공장의 문서</a:t>
            </a:r>
          </a:p>
          <a:p>
            <a:pPr algn="l" eaLnBrk="0" marL="205740" indent="-205740">
              <a:lnSpc>
                <a:spcPct val="110000"/>
              </a:lnSpc>
              <a:spcAft>
                <a:spcPts val="400"/>
              </a:spcAft>
            </a:pPr>
            <a:r>
              <a:rPr sz="1800" b="0">
                <a:solidFill>
                  <a:srgbClr val="1F2A3A"/>
                </a:solidFill>
                <a:latin typeface="맑은 고딕"/>
                <a:ea typeface="맑은 고딕"/>
                <a:cs typeface="맑은 고딕"/>
              </a:rPr>
              <a:t>• 매뉴얼 HM-8의 판별 기준과 절차는 모델이 배운 글이 아니다</a:t>
            </a:r>
          </a:p>
          <a:p>
            <a:pPr algn="l" eaLnBrk="0" marL="205740" indent="-205740">
              <a:lnSpc>
                <a:spcPct val="110000"/>
              </a:lnSpc>
              <a:spcAft>
                <a:spcPts val="400"/>
              </a:spcAft>
            </a:pPr>
            <a:r>
              <a:rPr sz="1800" b="0">
                <a:solidFill>
                  <a:srgbClr val="1F2A3A"/>
                </a:solidFill>
                <a:latin typeface="맑은 고딕"/>
                <a:ea typeface="맑은 고딕"/>
                <a:cs typeface="맑은 고딕"/>
              </a:rPr>
              <a:t>• 일반적인 유압 설비 지식으로 대신 답하게 된다</a:t>
            </a:r>
          </a:p>
        </p:txBody>
      </p:sp>
      <p:sp>
        <p:nvSpPr>
          <p:cNvPr id="16" name="Rounded Rectangle 15"/>
          <p:cNvSpPr/>
          <p:nvPr/>
        </p:nvSpPr>
        <p:spPr>
          <a:xfrm>
            <a:off x="4566818" y="539851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수행</a:t>
            </a:r>
          </a:p>
          <a:p>
            <a:pPr algn="l" eaLnBrk="0" marL="205740" indent="-205740">
              <a:lnSpc>
                <a:spcPct val="110000"/>
              </a:lnSpc>
              <a:spcAft>
                <a:spcPts val="400"/>
              </a:spcAft>
            </a:pPr>
            <a:r>
              <a:rPr sz="1800" b="0">
                <a:solidFill>
                  <a:srgbClr val="1F2A3A"/>
                </a:solidFill>
                <a:latin typeface="맑은 고딕"/>
                <a:ea typeface="맑은 고딕"/>
                <a:cs typeface="맑은 고딕"/>
              </a:rPr>
              <a:t>• 조회, 계산, 제출은 글을 만드는 일이 아니다</a:t>
            </a:r>
          </a:p>
          <a:p>
            <a:pPr algn="l" eaLnBrk="0" marL="205740" indent="-205740">
              <a:lnSpc>
                <a:spcPct val="110000"/>
              </a:lnSpc>
              <a:spcAft>
                <a:spcPts val="400"/>
              </a:spcAft>
            </a:pPr>
            <a:r>
              <a:rPr sz="1800" b="0">
                <a:solidFill>
                  <a:srgbClr val="1F2A3A"/>
                </a:solidFill>
                <a:latin typeface="맑은 고딕"/>
                <a:ea typeface="맑은 고딕"/>
                <a:cs typeface="맑은 고딕"/>
              </a:rPr>
              <a:t>• 모델은 글을 낼 뿐 다른 시스템에 닿지 못한다</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행동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RAG의 근거 검색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RAG</a:t>
            </a:r>
            <a:r>
              <a:rPr sz="1600" b="0">
                <a:solidFill>
                  <a:srgbClr val="556175"/>
                </a:solidFill>
                <a:latin typeface="맑은 고딕"/>
                <a:ea typeface="맑은 고딕"/>
                <a:cs typeface="맑은 고딕"/>
              </a:rPr>
              <a:t>(Retrieval-Augmented Generation)는 찾은 문서 조각을 질문과 함께 모델에 넣어 답하게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질문</a:t>
            </a:r>
          </a:p>
          <a:p>
            <a:pPr algn="ctr" eaLnBrk="0">
              <a:lnSpc>
                <a:spcPct val="110000"/>
              </a:lnSpc>
              <a:spcAft>
                <a:spcPts val="400"/>
              </a:spcAft>
            </a:pPr>
            <a:r>
              <a:rPr sz="1650" b="0">
                <a:solidFill>
                  <a:srgbClr val="1F2A3A"/>
                </a:solidFill>
                <a:latin typeface="맑은 고딕"/>
                <a:ea typeface="맑은 고딕"/>
                <a:cs typeface="맑은 고딕"/>
              </a:rPr>
              <a:t>사람이 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98559"/>
            <a:ext cx="731520" cy="731520"/>
          </a:xfrm>
          <a:prstGeom prst="ellipse">
            <a:avLst/>
          </a:prstGeom>
          <a:solidFill>
            <a:srgbClr val="5CB8F2"/>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검색</a:t>
            </a:r>
          </a:p>
          <a:p>
            <a:pPr algn="ctr" eaLnBrk="0">
              <a:lnSpc>
                <a:spcPct val="110000"/>
              </a:lnSpc>
              <a:spcAft>
                <a:spcPts val="400"/>
              </a:spcAft>
            </a:pPr>
            <a:r>
              <a:rPr sz="1650" b="0">
                <a:solidFill>
                  <a:srgbClr val="1F2A3A"/>
                </a:solidFill>
                <a:latin typeface="맑은 고딕"/>
                <a:ea typeface="맑은 고딕"/>
                <a:cs typeface="맑은 고딕"/>
              </a:rPr>
              <a:t>질문과 뜻이 가까운</a:t>
            </a:r>
          </a:p>
          <a:p>
            <a:pPr algn="ctr" eaLnBrk="0">
              <a:lnSpc>
                <a:spcPct val="110000"/>
              </a:lnSpc>
              <a:spcAft>
                <a:spcPts val="400"/>
              </a:spcAft>
            </a:pPr>
            <a:r>
              <a:rPr sz="1650" b="0">
                <a:solidFill>
                  <a:srgbClr val="1F2A3A"/>
                </a:solidFill>
                <a:latin typeface="맑은 고딕"/>
                <a:ea typeface="맑은 고딕"/>
                <a:cs typeface="맑은 고딕"/>
              </a:rPr>
              <a:t>문서 조각을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98559"/>
            <a:ext cx="731520" cy="731520"/>
          </a:xfrm>
          <a:prstGeom prst="ellipse">
            <a:avLst/>
          </a:prstGeom>
          <a:solidFill>
            <a:srgbClr val="FFFFFF"/>
          </a:solidFill>
          <a:ln>
            <a:no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보강</a:t>
            </a:r>
          </a:p>
          <a:p>
            <a:pPr algn="ctr" eaLnBrk="0">
              <a:lnSpc>
                <a:spcPct val="110000"/>
              </a:lnSpc>
              <a:spcAft>
                <a:spcPts val="400"/>
              </a:spcAft>
            </a:pPr>
            <a:r>
              <a:rPr sz="1650" b="0">
                <a:solidFill>
                  <a:srgbClr val="1F2A3A"/>
                </a:solidFill>
                <a:latin typeface="맑은 고딕"/>
                <a:ea typeface="맑은 고딕"/>
                <a:cs typeface="맑은 고딕"/>
              </a:rPr>
              <a:t>찾은 조각을</a:t>
            </a:r>
          </a:p>
          <a:p>
            <a:pPr algn="ctr" eaLnBrk="0">
              <a:lnSpc>
                <a:spcPct val="110000"/>
              </a:lnSpc>
              <a:spcAft>
                <a:spcPts val="400"/>
              </a:spcAft>
            </a:pPr>
            <a:r>
              <a:rPr sz="1650" b="0">
                <a:solidFill>
                  <a:srgbClr val="1F2A3A"/>
                </a:solidFill>
                <a:latin typeface="맑은 고딕"/>
                <a:ea typeface="맑은 고딕"/>
                <a:cs typeface="맑은 고딕"/>
              </a:rPr>
              <a:t>질문과 함께</a:t>
            </a:r>
          </a:p>
          <a:p>
            <a:pPr algn="ctr" eaLnBrk="0">
              <a:lnSpc>
                <a:spcPct val="110000"/>
              </a:lnSpc>
              <a:spcAft>
                <a:spcPts val="400"/>
              </a:spcAft>
            </a:pPr>
            <a:r>
              <a:rPr sz="1650" b="0">
                <a:solidFill>
                  <a:srgbClr val="1F2A3A"/>
                </a:solidFill>
                <a:latin typeface="맑은 고딕"/>
                <a:ea typeface="맑은 고딕"/>
                <a:cs typeface="맑은 고딕"/>
              </a:rPr>
              <a:t>모델에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message-2" descr="message-2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생성</a:t>
            </a:r>
          </a:p>
          <a:p>
            <a:pPr algn="ctr" eaLnBrk="0">
              <a:lnSpc>
                <a:spcPct val="110000"/>
              </a:lnSpc>
              <a:spcAft>
                <a:spcPts val="400"/>
              </a:spcAft>
            </a:pPr>
            <a:r>
              <a:rPr sz="1650" b="0">
                <a:solidFill>
                  <a:srgbClr val="1F2A3A"/>
                </a:solidFill>
                <a:latin typeface="맑은 고딕"/>
                <a:ea typeface="맑은 고딕"/>
                <a:cs typeface="맑은 고딕"/>
              </a:rPr>
              <a:t>모델이 조각을 읽고</a:t>
            </a:r>
          </a:p>
          <a:p>
            <a:pPr algn="ctr" eaLnBrk="0">
              <a:lnSpc>
                <a:spcPct val="110000"/>
              </a:lnSpc>
              <a:spcAft>
                <a:spcPts val="400"/>
              </a:spcAft>
            </a:pPr>
            <a:r>
              <a:rPr sz="1650" b="0">
                <a:solidFill>
                  <a:srgbClr val="1F2A3A"/>
                </a:solidFill>
                <a:latin typeface="맑은 고딕"/>
                <a:ea typeface="맑은 고딕"/>
                <a:cs typeface="맑은 고딕"/>
              </a:rPr>
              <a:t>글로 답한다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목표 지향 작업 수행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조회하고 계산하고 제출하는 일까지 맡기려면, 모델이 도구를 부르고 그 결과를 보며 다음 행동을 정하게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에이전트</a:t>
            </a:r>
          </a:p>
          <a:p>
            <a:pPr algn="l" eaLnBrk="0">
              <a:lnSpc>
                <a:spcPct val="110000"/>
              </a:lnSpc>
              <a:spcAft>
                <a:spcPts val="200"/>
              </a:spcAft>
            </a:pPr>
            <a:r>
              <a:rPr sz="1150" b="0">
                <a:solidFill>
                  <a:srgbClr val="556175"/>
                </a:solidFill>
                <a:latin typeface="맑은 고딕"/>
                <a:ea typeface="맑은 고딕"/>
                <a:cs typeface="맑은 고딕"/>
              </a:rPr>
              <a:t>AI Agent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목표를 받아 도구를 골라 부르고, 결과를 보고 다음 행동을 정하는 일을 목표에 이를 때까지 되풀이하는 시스템이다.</a:t>
            </a:r>
          </a:p>
          <a:p>
            <a:pPr algn="l" eaLnBrk="0">
              <a:lnSpc>
                <a:spcPct val="110000"/>
              </a:lnSpc>
              <a:spcAft>
                <a:spcPts val="300"/>
              </a:spcAft>
            </a:pPr>
            <a:r>
              <a:rPr sz="1400" b="0">
                <a:solidFill>
                  <a:srgbClr val="1F2A3A"/>
                </a:solidFill>
                <a:latin typeface="맑은 고딕"/>
                <a:ea typeface="맑은 고딕"/>
                <a:cs typeface="맑은 고딕"/>
              </a:rPr>
              <a:t>마지막에 내는 것은 답 문장이 아니라 업무 산출물이다.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도구</a:t>
            </a:r>
          </a:p>
          <a:p>
            <a:pPr algn="l" eaLnBrk="0">
              <a:lnSpc>
                <a:spcPct val="110000"/>
              </a:lnSpc>
              <a:spcAft>
                <a:spcPts val="200"/>
              </a:spcAft>
            </a:pPr>
            <a:r>
              <a:rPr sz="1150" b="0">
                <a:solidFill>
                  <a:srgbClr val="556175"/>
                </a:solidFill>
                <a:latin typeface="맑은 고딕"/>
                <a:ea typeface="맑은 고딕"/>
                <a:cs typeface="맑은 고딕"/>
              </a:rPr>
              <a:t>Tool</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모델이 이름과 입력을 적어 부를 수 있도록 정해 둔 기능이다.</a:t>
            </a:r>
          </a:p>
          <a:p>
            <a:pPr algn="l" eaLnBrk="0">
              <a:lnSpc>
                <a:spcPct val="110000"/>
              </a:lnSpc>
              <a:spcAft>
                <a:spcPts val="300"/>
              </a:spcAft>
            </a:pPr>
            <a:r>
              <a:rPr sz="1400" b="0">
                <a:solidFill>
                  <a:srgbClr val="1F2A3A"/>
                </a:solidFill>
                <a:latin typeface="맑은 고딕"/>
                <a:ea typeface="맑은 고딕"/>
                <a:cs typeface="맑은 고딕"/>
              </a:rPr>
              <a:t>예: 원인 진단, 생산오더 조회, 판단 제출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쿨러 사건의 에이전트</a:t>
            </a:r>
          </a:p>
          <a:p>
            <a:pPr algn="l" eaLnBrk="0">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냉각 긴급 대응 에이전트가 경보 한 건을 받아 원인을 가리고 추천안을 제출했다.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요청에 대한 세 방식의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「HYD-01의 쿨러 성능 저하 경보에 조치를 정하라」를 세 방식에 맡기면 돌아오는 것의 근거와 모양이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답의 근거와 하는 일</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돌아오는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LLM</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모델이 학습한 내용</a:t>
            </a:r>
          </a:p>
          <a:p>
            <a:pPr algn="l" eaLnBrk="0">
              <a:lnSpc>
                <a:spcPct val="110000"/>
              </a:lnSpc>
            </a:pPr>
            <a:r>
              <a:rPr sz="1400" b="0">
                <a:solidFill>
                  <a:srgbClr val="1F2A3A"/>
                </a:solidFill>
                <a:latin typeface="맑은 고딕"/>
                <a:ea typeface="맑은 고딕"/>
                <a:cs typeface="맑은 고딕"/>
              </a:rPr>
              <a:t>이어질 글을 만든다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유압 설비에 대한</a:t>
            </a:r>
          </a:p>
          <a:p>
            <a:pPr algn="l" eaLnBrk="0">
              <a:lnSpc>
                <a:spcPct val="110000"/>
              </a:lnSpc>
            </a:pPr>
            <a:r>
              <a:rPr sz="1250" b="1">
                <a:solidFill>
                  <a:srgbClr val="556175"/>
                </a:solidFill>
                <a:latin typeface="맑은 고딕"/>
                <a:ea typeface="맑은 고딕"/>
                <a:cs typeface="맑은 고딕"/>
              </a:rPr>
              <a:t>일반적인 설명</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RAG</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찾아온 문서 조각</a:t>
            </a:r>
          </a:p>
          <a:p>
            <a:pPr algn="l" eaLnBrk="0">
              <a:lnSpc>
                <a:spcPct val="110000"/>
              </a:lnSpc>
            </a:pPr>
            <a:r>
              <a:rPr sz="1400" b="0">
                <a:solidFill>
                  <a:srgbClr val="1F2A3A"/>
                </a:solidFill>
                <a:latin typeface="맑은 고딕"/>
                <a:ea typeface="맑은 고딕"/>
                <a:cs typeface="맑은 고딕"/>
              </a:rPr>
              <a:t>조각을 읽고 글로 답한다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문서를 인용한 설명</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도구가 돌려준 결과</a:t>
            </a:r>
          </a:p>
          <a:p>
            <a:pPr algn="l" eaLnBrk="0">
              <a:lnSpc>
                <a:spcPct val="110000"/>
              </a:lnSpc>
            </a:pPr>
            <a:r>
              <a:rPr sz="1400" b="0">
                <a:solidFill>
                  <a:srgbClr val="1F2A3A"/>
                </a:solidFill>
                <a:latin typeface="맑은 고딕"/>
                <a:ea typeface="맑은 고딕"/>
                <a:cs typeface="맑은 고딕"/>
              </a:rPr>
              <a:t>값을 읽어 원인을 가리고 조치 후보 넷을 견주어 제출한다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이 설비의 값으로</a:t>
            </a:r>
          </a:p>
          <a:p>
            <a:pPr algn="l" eaLnBrk="0">
              <a:lnSpc>
                <a:spcPct val="110000"/>
              </a:lnSpc>
            </a:pPr>
            <a:r>
              <a:rPr sz="1250" b="1">
                <a:solidFill>
                  <a:srgbClr val="1A6FC4"/>
                </a:solidFill>
                <a:latin typeface="맑은 고딕"/>
                <a:ea typeface="맑은 고딕"/>
                <a:cs typeface="맑은 고딕"/>
              </a:rPr>
              <a:t>만든 추천안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세 요소: 모델 · 도구 · 실행 고리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모델은 앞에서 본 LLM 그대로이며, 여기에 부를 수 있는 도구와 되풀이하는 실행 고리가 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pic>
        <p:nvPicPr>
          <p:cNvPr id="6" name="삽화:세요소.svg" descr="illust_5524792606081364338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653198"/>
            <a:ext cx="240008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모델</a:t>
            </a:r>
          </a:p>
          <a:p>
            <a:pPr algn="ctr" eaLnBrk="0">
              <a:lnSpc>
                <a:spcPct val="110000"/>
              </a:lnSpc>
              <a:spcAft>
                <a:spcPts val="100"/>
              </a:spcAft>
            </a:pPr>
            <a:r>
              <a:rPr sz="1300" b="0">
                <a:solidFill>
                  <a:srgbClr val="556175"/>
                </a:solidFill>
                <a:latin typeface="맑은 고딕"/>
                <a:ea typeface="맑은 고딕"/>
                <a:cs typeface="맑은 고딕"/>
              </a:rPr>
              <a:t>글을 읽고</a:t>
            </a:r>
          </a:p>
          <a:p>
            <a:pPr algn="ctr" eaLnBrk="0">
              <a:lnSpc>
                <a:spcPct val="110000"/>
              </a:lnSpc>
              <a:spcAft>
                <a:spcPts val="100"/>
              </a:spcAft>
            </a:pPr>
            <a:r>
              <a:rPr sz="1300" b="0">
                <a:solidFill>
                  <a:srgbClr val="556175"/>
                </a:solidFill>
                <a:latin typeface="맑은 고딕"/>
                <a:ea typeface="맑은 고딕"/>
                <a:cs typeface="맑은 고딕"/>
              </a:rPr>
              <a:t>다음 행동을 정한다</a:t>
            </a:r>
          </a:p>
        </p:txBody>
      </p:sp>
      <p:sp>
        <p:nvSpPr>
          <p:cNvPr id="8" name="TextBox 7"/>
          <p:cNvSpPr txBox="1"/>
          <p:nvPr/>
        </p:nvSpPr>
        <p:spPr>
          <a:xfrm>
            <a:off x="3848491" y="4653198"/>
            <a:ext cx="240008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a:t>
            </a:r>
          </a:p>
          <a:p>
            <a:pPr algn="ctr" eaLnBrk="0">
              <a:lnSpc>
                <a:spcPct val="110000"/>
              </a:lnSpc>
              <a:spcAft>
                <a:spcPts val="100"/>
              </a:spcAft>
            </a:pPr>
            <a:r>
              <a:rPr sz="1300" b="0">
                <a:solidFill>
                  <a:srgbClr val="556175"/>
                </a:solidFill>
                <a:latin typeface="맑은 고딕"/>
                <a:ea typeface="맑은 고딕"/>
                <a:cs typeface="맑은 고딕"/>
              </a:rPr>
              <a:t>조회하고 계산해</a:t>
            </a:r>
          </a:p>
          <a:p>
            <a:pPr algn="ctr" eaLnBrk="0">
              <a:lnSpc>
                <a:spcPct val="110000"/>
              </a:lnSpc>
              <a:spcAft>
                <a:spcPts val="100"/>
              </a:spcAft>
            </a:pPr>
            <a:r>
              <a:rPr sz="1300" b="0">
                <a:solidFill>
                  <a:srgbClr val="556175"/>
                </a:solidFill>
                <a:latin typeface="맑은 고딕"/>
                <a:ea typeface="맑은 고딕"/>
                <a:cs typeface="맑은 고딕"/>
              </a:rPr>
              <a:t>결과를 돌려준다</a:t>
            </a:r>
          </a:p>
        </p:txBody>
      </p:sp>
      <p:sp>
        <p:nvSpPr>
          <p:cNvPr id="9" name="TextBox 8"/>
          <p:cNvSpPr txBox="1"/>
          <p:nvPr/>
        </p:nvSpPr>
        <p:spPr>
          <a:xfrm>
            <a:off x="6619503" y="4653198"/>
            <a:ext cx="240008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 고리</a:t>
            </a:r>
          </a:p>
          <a:p>
            <a:pPr algn="ctr" eaLnBrk="0">
              <a:lnSpc>
                <a:spcPct val="110000"/>
              </a:lnSpc>
              <a:spcAft>
                <a:spcPts val="100"/>
              </a:spcAft>
            </a:pPr>
            <a:r>
              <a:rPr sz="1300" b="0">
                <a:solidFill>
                  <a:srgbClr val="556175"/>
                </a:solidFill>
                <a:latin typeface="맑은 고딕"/>
                <a:ea typeface="맑은 고딕"/>
                <a:cs typeface="맑은 고딕"/>
              </a:rPr>
              <a:t>목표에 이를 때까지</a:t>
            </a:r>
          </a:p>
          <a:p>
            <a:pPr algn="ctr" eaLnBrk="0">
              <a:lnSpc>
                <a:spcPct val="110000"/>
              </a:lnSpc>
              <a:spcAft>
                <a:spcPts val="100"/>
              </a:spcAft>
            </a:pPr>
            <a:r>
              <a:rPr sz="1300" b="0">
                <a:solidFill>
                  <a:srgbClr val="556175"/>
                </a:solidFill>
                <a:latin typeface="맑은 고딕"/>
                <a:ea typeface="맑은 고딕"/>
                <a:cs typeface="맑은 고딕"/>
              </a:rPr>
              <a:t>되풀이한다</a:t>
            </a:r>
          </a:p>
        </p:txBody>
      </p:sp>
      <p:sp>
        <p:nvSpPr>
          <p:cNvPr id="10" name="TextBox 9"/>
          <p:cNvSpPr txBox="1"/>
          <p:nvPr/>
        </p:nvSpPr>
        <p:spPr>
          <a:xfrm>
            <a:off x="9499610" y="4653198"/>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에이전트를 정의하는 항목: 목표 · 도구 · 업무 지침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에이전트는 목표 · 도구 · 업무 지침으로 정의되며, 이 항목이 다르면 하는 일도 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TextBox 6"/>
          <p:cNvSpPr txBox="1"/>
          <p:nvPr/>
        </p:nvSpPr>
        <p:spPr>
          <a:xfrm>
            <a:off x="822959" y="2329815"/>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냉각 긴급 대응 에이전트</a:t>
            </a:r>
          </a:p>
        </p:txBody>
      </p:sp>
      <p:sp>
        <p:nvSpPr>
          <p:cNvPr id="8" name="TextBox 7"/>
          <p:cNvSpPr txBox="1"/>
          <p:nvPr/>
        </p:nvSpPr>
        <p:spPr>
          <a:xfrm>
            <a:off x="822959" y="3180207"/>
            <a:ext cx="4632807" cy="2125218"/>
          </a:xfrm>
          <a:prstGeom prst="rect">
            <a:avLst/>
          </a:prstGeom>
          <a:noFill/>
        </p:spPr>
        <p:txBody>
          <a:bodyPr wrap="square" anchor="t"/>
          <a:lstStyle/>
          <a:p>
            <a:pPr algn="l" eaLnBrk="0" marL="154305" indent="-154305">
              <a:lnSpc>
                <a:spcPct val="110000"/>
              </a:lnSpc>
              <a:spcAft>
                <a:spcPts val="600"/>
              </a:spcAft>
            </a:pPr>
            <a:r>
              <a:rPr sz="1350" b="0">
                <a:solidFill>
                  <a:srgbClr val="1F2A3A"/>
                </a:solidFill>
                <a:latin typeface="맑은 고딕"/>
                <a:ea typeface="맑은 고딕"/>
                <a:cs typeface="맑은 고딕"/>
              </a:rPr>
              <a:t>• 목표: 쿨러 성능 저하 경보의 원인을 진단하고</a:t>
            </a:r>
          </a:p>
          <a:p>
            <a:pPr algn="l" eaLnBrk="0" marL="154305" indent="-154305">
              <a:lnSpc>
                <a:spcPct val="110000"/>
              </a:lnSpc>
              <a:spcAft>
                <a:spcPts val="600"/>
              </a:spcAft>
            </a:pPr>
            <a:r>
              <a:rPr sz="1350" b="0">
                <a:solidFill>
                  <a:srgbClr val="1F2A3A"/>
                </a:solidFill>
                <a:latin typeface="맑은 고딕"/>
                <a:ea typeface="맑은 고딕"/>
                <a:cs typeface="맑은 고딕"/>
              </a:rPr>
              <a:t>• 냉각 조치 후보를 견주어 추천안을 올린다</a:t>
            </a:r>
          </a:p>
          <a:p>
            <a:pPr algn="l" eaLnBrk="0" marL="154305" indent="-154305">
              <a:lnSpc>
                <a:spcPct val="110000"/>
              </a:lnSpc>
              <a:spcAft>
                <a:spcPts val="600"/>
              </a:spcAft>
            </a:pPr>
            <a:r>
              <a:rPr sz="1350" b="0">
                <a:solidFill>
                  <a:srgbClr val="1F2A3A"/>
                </a:solidFill>
                <a:latin typeface="맑은 고딕"/>
                <a:ea typeface="맑은 고딕"/>
                <a:cs typeface="맑은 고딕"/>
              </a:rPr>
              <a:t>• 도구: 지식 그래프 조회 · 업무 DB 조회 · 판단 도구</a:t>
            </a:r>
          </a:p>
          <a:p>
            <a:pPr algn="l" eaLnBrk="0" marL="154305" indent="-154305">
              <a:lnSpc>
                <a:spcPct val="110000"/>
              </a:lnSpc>
              <a:spcAft>
                <a:spcPts val="600"/>
              </a:spcAft>
            </a:pPr>
            <a:r>
              <a:rPr sz="1350" b="0">
                <a:solidFill>
                  <a:srgbClr val="1F2A3A"/>
                </a:solidFill>
                <a:latin typeface="맑은 고딕"/>
                <a:ea typeface="맑은 고딕"/>
                <a:cs typeface="맑은 고딕"/>
              </a:rPr>
              <a:t>• 업무 지침: cooling-emergency-response</a:t>
            </a:r>
          </a:p>
        </p:txBody>
      </p:sp>
      <p:sp>
        <p:nvSpPr>
          <p:cNvPr id="9" name="Rounded Rectangle 8"/>
          <p:cNvSpPr/>
          <p:nvPr/>
        </p:nvSpPr>
        <p:spPr>
          <a:xfrm>
            <a:off x="868680" y="5396865"/>
            <a:ext cx="1523999" cy="292608"/>
          </a:xfrm>
          <a:prstGeom prst="roundRect">
            <a:avLst>
              <a:gd name="adj" fmla="val 50000"/>
            </a:avLst>
          </a:prstGeom>
          <a:solidFill>
            <a:srgbClr val="5CB8F2"/>
          </a:solidFill>
          <a:ln>
            <a:noFill/>
          </a:ln>
        </p:spPr>
        <p:txBody>
          <a:bodyPr rtlCol="0" anchor="ctr"/>
          <a:lstStyle/>
          <a:p>
            <a:pPr algn="ctr"/>
          </a:p>
        </p:txBody>
      </p:sp>
      <p:sp>
        <p:nvSpPr>
          <p:cNvPr id="10" name="TextBox 9"/>
          <p:cNvSpPr txBox="1"/>
          <p:nvPr/>
        </p:nvSpPr>
        <p:spPr>
          <a:xfrm>
            <a:off x="868680" y="5396865"/>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쿨러 사건을 맡음</a:t>
            </a:r>
          </a:p>
        </p:txBody>
      </p:sp>
      <p:sp>
        <p:nvSpPr>
          <p:cNvPr id="11" name="Rounded Rectangle 10"/>
          <p:cNvSpPr/>
          <p:nvPr/>
        </p:nvSpPr>
        <p:spPr>
          <a:xfrm>
            <a:off x="6461607" y="2128647"/>
            <a:ext cx="5181447" cy="3725418"/>
          </a:xfrm>
          <a:prstGeom prst="roundRect">
            <a:avLst>
              <a:gd name="adj" fmla="val 4000"/>
            </a:avLst>
          </a:prstGeom>
          <a:solidFill>
            <a:srgbClr val="F3F6F9"/>
          </a:solidFill>
          <a:ln>
            <a:noFill/>
          </a:ln>
        </p:spPr>
        <p:txBody>
          <a:bodyPr rtlCol="0" anchor="ctr"/>
          <a:lstStyle/>
          <a:p>
            <a:pPr algn="ctr"/>
          </a:p>
        </p:txBody>
      </p:sp>
      <p:sp>
        <p:nvSpPr>
          <p:cNvPr id="12" name="TextBox 11"/>
          <p:cNvSpPr txBox="1"/>
          <p:nvPr/>
        </p:nvSpPr>
        <p:spPr>
          <a:xfrm>
            <a:off x="6735927" y="2329815"/>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예비품 구매 에이전트</a:t>
            </a:r>
          </a:p>
        </p:txBody>
      </p:sp>
      <p:sp>
        <p:nvSpPr>
          <p:cNvPr id="13" name="TextBox 12"/>
          <p:cNvSpPr txBox="1"/>
          <p:nvPr/>
        </p:nvSpPr>
        <p:spPr>
          <a:xfrm>
            <a:off x="6735927" y="3180207"/>
            <a:ext cx="4632807" cy="2125218"/>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목표: 예비품 재고 이탈 경보에서 필요량을 정하고</a:t>
            </a:r>
          </a:p>
          <a:p>
            <a:pPr algn="l" eaLnBrk="0" marL="165735" indent="-165735">
              <a:lnSpc>
                <a:spcPct val="110000"/>
              </a:lnSpc>
              <a:spcAft>
                <a:spcPts val="600"/>
              </a:spcAft>
            </a:pPr>
            <a:r>
              <a:rPr sz="1450" b="0">
                <a:solidFill>
                  <a:srgbClr val="1F2A3A"/>
                </a:solidFill>
                <a:latin typeface="맑은 고딕"/>
                <a:ea typeface="맑은 고딕"/>
                <a:cs typeface="맑은 고딕"/>
              </a:rPr>
              <a:t>• 공급사를 금액 · 납기 · 품질로 견주어 발주 추천안을 올린다</a:t>
            </a:r>
          </a:p>
          <a:p>
            <a:pPr algn="l" eaLnBrk="0" marL="165735" indent="-165735">
              <a:lnSpc>
                <a:spcPct val="110000"/>
              </a:lnSpc>
              <a:spcAft>
                <a:spcPts val="600"/>
              </a:spcAft>
            </a:pPr>
            <a:r>
              <a:rPr sz="1450" b="0">
                <a:solidFill>
                  <a:srgbClr val="1F2A3A"/>
                </a:solidFill>
                <a:latin typeface="맑은 고딕"/>
                <a:ea typeface="맑은 고딕"/>
                <a:cs typeface="맑은 고딕"/>
              </a:rPr>
              <a:t>• 도구: 지식 그래프 조회 · 판단 도구 · 구매 업무 조회</a:t>
            </a:r>
          </a:p>
          <a:p>
            <a:pPr algn="l" eaLnBrk="0" marL="165735" indent="-165735">
              <a:lnSpc>
                <a:spcPct val="110000"/>
              </a:lnSpc>
              <a:spcAft>
                <a:spcPts val="600"/>
              </a:spcAft>
            </a:pPr>
            <a:r>
              <a:rPr sz="1450" b="0">
                <a:solidFill>
                  <a:srgbClr val="1F2A3A"/>
                </a:solidFill>
                <a:latin typeface="맑은 고딕"/>
                <a:ea typeface="맑은 고딕"/>
                <a:cs typeface="맑은 고딕"/>
              </a:rPr>
              <a:t>• 업무 지침: spare-purchase-planning</a:t>
            </a:r>
          </a:p>
        </p:txBody>
      </p:sp>
      <p:sp>
        <p:nvSpPr>
          <p:cNvPr id="14" name="Rounded Rectangle 13"/>
          <p:cNvSpPr/>
          <p:nvPr/>
        </p:nvSpPr>
        <p:spPr>
          <a:xfrm>
            <a:off x="6781647" y="5396865"/>
            <a:ext cx="1523999" cy="292608"/>
          </a:xfrm>
          <a:prstGeom prst="roundRect">
            <a:avLst>
              <a:gd name="adj" fmla="val 50000"/>
            </a:avLst>
          </a:prstGeom>
          <a:solidFill>
            <a:srgbClr val="D3D9E1"/>
          </a:solidFill>
          <a:ln>
            <a:noFill/>
          </a:ln>
        </p:spPr>
        <p:txBody>
          <a:bodyPr rtlCol="0" anchor="ctr"/>
          <a:lstStyle/>
          <a:p>
            <a:pPr algn="ctr"/>
          </a:p>
        </p:txBody>
      </p:sp>
      <p:sp>
        <p:nvSpPr>
          <p:cNvPr id="15" name="TextBox 14"/>
          <p:cNvSpPr txBox="1"/>
          <p:nvPr/>
        </p:nvSpPr>
        <p:spPr>
          <a:xfrm>
            <a:off x="6781647" y="5396865"/>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다른 경보를 맡음</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호출 한 건: 모델이 적는 것과 도구가 돌려주는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모델은 부를 도구의 이름과 입력을 글로 적어 낼 뿐이고, 실제 조회는 도구가 수행해 결과를 돌려준다.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(218</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물음</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"alert_id": "ALT-hyd01-0014-e0a1"}</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받음</a:t>
            </a:r>
          </a:p>
          <a:p>
            <a:pPr algn="l" eaLnBrk="0">
              <a:lnSpc>
                <a:spcPct val="110000"/>
              </a:lnSpc>
              <a:spcAft>
                <a:spcPts val="200"/>
              </a:spcAft>
            </a:pP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도구의 이름</a:t>
            </a:r>
          </a:p>
          <a:p>
            <a:pPr algn="l" eaLnBrk="0">
              <a:lnSpc>
                <a:spcPct val="110000"/>
              </a:lnSpc>
              <a:spcAft>
                <a:spcPts val="400"/>
              </a:spcAft>
            </a:pPr>
            <a:r>
              <a:rPr sz="1350" b="0">
                <a:solidFill>
                  <a:srgbClr val="1F2A3A"/>
                </a:solidFill>
                <a:latin typeface="맑은 고딕"/>
                <a:ea typeface="맑은 고딕"/>
                <a:cs typeface="맑은 고딕"/>
              </a:rPr>
              <a:t>원인 진단. 무엇을 하는 기능인지가 정해져 있다.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물음</a:t>
            </a:r>
          </a:p>
          <a:p>
            <a:pPr algn="l" eaLnBrk="0">
              <a:lnSpc>
                <a:spcPct val="110000"/>
              </a:lnSpc>
              <a:spcAft>
                <a:spcPts val="400"/>
              </a:spcAft>
            </a:pPr>
            <a:r>
              <a:rPr sz="1400" b="0">
                <a:solidFill>
                  <a:srgbClr val="1F2A3A"/>
                </a:solidFill>
                <a:latin typeface="맑은 고딕"/>
                <a:ea typeface="맑은 고딕"/>
                <a:cs typeface="맑은 고딕"/>
              </a:rPr>
              <a:t>모델이 적은 입력이다. 설비, 경보의 종류, 경보 번호를 넣었다.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받음</a:t>
            </a:r>
          </a:p>
          <a:p>
            <a:pPr algn="l" eaLnBrk="0">
              <a:lnSpc>
                <a:spcPct val="110000"/>
              </a:lnSpc>
              <a:spcAft>
                <a:spcPts val="400"/>
              </a:spcAft>
            </a:pPr>
            <a:r>
              <a:rPr sz="1400" b="0">
                <a:solidFill>
                  <a:srgbClr val="1F2A3A"/>
                </a:solidFill>
                <a:latin typeface="맑은 고딕"/>
                <a:ea typeface="맑은 고딕"/>
                <a:cs typeface="맑은 고딕"/>
              </a:rPr>
              <a:t>도구가 지식 그래프와 시계열 DB를 읽어 돌려준 결과이다.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걸린 시간</a:t>
            </a:r>
          </a:p>
          <a:p>
            <a:pPr algn="l" eaLnBrk="0">
              <a:lnSpc>
                <a:spcPct val="110000"/>
              </a:lnSpc>
              <a:spcAft>
                <a:spcPts val="400"/>
              </a:spcAft>
            </a:pPr>
            <a:r>
              <a:rPr sz="1400" b="0">
                <a:solidFill>
                  <a:srgbClr val="1F2A3A"/>
                </a:solidFill>
                <a:latin typeface="맑은 고딕"/>
                <a:ea typeface="맑은 고딕"/>
                <a:cs typeface="맑은 고딕"/>
              </a:rPr>
              <a:t>이 호출 한 번에 218 ms가 걸렸다.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에이전트의 실행 고리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처리 기록에서 요청 해석부터 종료까지, 에이전트가 일한 순서를 짚는다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번의 응답으로 끝낼 수 없는 까닭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원인을 알아야 견줄 조치 후보가 정해지므로, 앞 호출의 결과를 본 뒤에야 다음 호출의 입력을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533459"/>
            <a:ext cx="5181447" cy="2915793"/>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34627"/>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888246"/>
            <a:ext cx="424281" cy="424281"/>
          </a:xfrm>
          <a:prstGeom prst="rect">
            <a:avLst/>
          </a:prstGeom>
        </p:spPr>
      </p:pic>
      <p:sp>
        <p:nvSpPr>
          <p:cNvPr id="9" name="TextBox 8"/>
          <p:cNvSpPr txBox="1"/>
          <p:nvPr/>
        </p:nvSpPr>
        <p:spPr>
          <a:xfrm>
            <a:off x="1691640"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한 번에 답한다면</a:t>
            </a:r>
          </a:p>
        </p:txBody>
      </p:sp>
      <p:sp>
        <p:nvSpPr>
          <p:cNvPr id="10" name="TextBox 9"/>
          <p:cNvSpPr txBox="1"/>
          <p:nvPr/>
        </p:nvSpPr>
        <p:spPr>
          <a:xfrm>
            <a:off x="822959"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원인을 모르는 채로 조치를 말해야 한다</a:t>
            </a:r>
          </a:p>
          <a:p>
            <a:pPr algn="l" eaLnBrk="0" marL="188595" indent="-188595">
              <a:lnSpc>
                <a:spcPct val="110000"/>
              </a:lnSpc>
              <a:spcAft>
                <a:spcPts val="600"/>
              </a:spcAft>
            </a:pPr>
            <a:r>
              <a:rPr sz="1650" b="0">
                <a:solidFill>
                  <a:srgbClr val="1F2A3A"/>
                </a:solidFill>
                <a:latin typeface="맑은 고딕"/>
                <a:ea typeface="맑은 고딕"/>
                <a:cs typeface="맑은 고딕"/>
              </a:rPr>
              <a:t>• 값을 읽기 전에 결론을 적어야 한다</a:t>
            </a:r>
          </a:p>
          <a:p>
            <a:pPr algn="l" eaLnBrk="0" marL="188595" indent="-188595">
              <a:lnSpc>
                <a:spcPct val="110000"/>
              </a:lnSpc>
              <a:spcAft>
                <a:spcPts val="600"/>
              </a:spcAft>
            </a:pPr>
            <a:r>
              <a:rPr sz="1650" b="0">
                <a:solidFill>
                  <a:srgbClr val="1F2A3A"/>
                </a:solidFill>
                <a:latin typeface="맑은 고딕"/>
                <a:ea typeface="맑은 고딕"/>
                <a:cs typeface="맑은 고딕"/>
              </a:rPr>
              <a:t>• 도중에 어긋나도 고칠 기회가 없다</a:t>
            </a:r>
          </a:p>
        </p:txBody>
      </p:sp>
      <p:sp>
        <p:nvSpPr>
          <p:cNvPr id="11" name="Rounded Rectangle 10"/>
          <p:cNvSpPr/>
          <p:nvPr/>
        </p:nvSpPr>
        <p:spPr>
          <a:xfrm>
            <a:off x="868680" y="499205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92052"/>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추측이 섞인다</a:t>
            </a:r>
          </a:p>
        </p:txBody>
      </p:sp>
      <p:sp>
        <p:nvSpPr>
          <p:cNvPr id="13" name="Rounded Rectangle 12"/>
          <p:cNvSpPr/>
          <p:nvPr/>
        </p:nvSpPr>
        <p:spPr>
          <a:xfrm>
            <a:off x="6461607" y="2533459"/>
            <a:ext cx="5181447" cy="2915793"/>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34627"/>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888246"/>
            <a:ext cx="424281" cy="424281"/>
          </a:xfrm>
          <a:prstGeom prst="rect">
            <a:avLst/>
          </a:prstGeom>
        </p:spPr>
      </p:pic>
      <p:sp>
        <p:nvSpPr>
          <p:cNvPr id="16" name="TextBox 15"/>
          <p:cNvSpPr txBox="1"/>
          <p:nvPr/>
        </p:nvSpPr>
        <p:spPr>
          <a:xfrm>
            <a:off x="7604607"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결과를 보고 다음을 정한다</a:t>
            </a:r>
          </a:p>
        </p:txBody>
      </p:sp>
      <p:sp>
        <p:nvSpPr>
          <p:cNvPr id="17" name="TextBox 16"/>
          <p:cNvSpPr txBox="1"/>
          <p:nvPr/>
        </p:nvSpPr>
        <p:spPr>
          <a:xfrm>
            <a:off x="6735927"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진단의 결과로 원인이 정해진다</a:t>
            </a:r>
          </a:p>
          <a:p>
            <a:pPr algn="l" eaLnBrk="0" marL="188595" indent="-188595">
              <a:lnSpc>
                <a:spcPct val="110000"/>
              </a:lnSpc>
              <a:spcAft>
                <a:spcPts val="600"/>
              </a:spcAft>
            </a:pPr>
            <a:r>
              <a:rPr sz="1650" b="0">
                <a:solidFill>
                  <a:srgbClr val="1F2A3A"/>
                </a:solidFill>
                <a:latin typeface="맑은 고딕"/>
                <a:ea typeface="맑은 고딕"/>
                <a:cs typeface="맑은 고딕"/>
              </a:rPr>
              <a:t>• 그 원인을 입력으로 넣어 후보를 평가한다</a:t>
            </a:r>
          </a:p>
          <a:p>
            <a:pPr algn="l" eaLnBrk="0" marL="188595" indent="-188595">
              <a:lnSpc>
                <a:spcPct val="110000"/>
              </a:lnSpc>
              <a:spcAft>
                <a:spcPts val="600"/>
              </a:spcAft>
            </a:pPr>
            <a:r>
              <a:rPr sz="1650" b="0">
                <a:solidFill>
                  <a:srgbClr val="1F2A3A"/>
                </a:solidFill>
                <a:latin typeface="맑은 고딕"/>
                <a:ea typeface="맑은 고딕"/>
                <a:cs typeface="맑은 고딕"/>
              </a:rPr>
              <a:t>• 뜻대로 되지 않으면 방법을 바꾸어 다시 한다</a:t>
            </a:r>
          </a:p>
        </p:txBody>
      </p:sp>
      <p:sp>
        <p:nvSpPr>
          <p:cNvPr id="18" name="Rounded Rectangle 17"/>
          <p:cNvSpPr/>
          <p:nvPr/>
        </p:nvSpPr>
        <p:spPr>
          <a:xfrm>
            <a:off x="6781647" y="4992052"/>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92052"/>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근거가 이어진다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고리: 요청 해석에서 종료까지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실행 고리</a:t>
            </a:r>
            <a:r>
              <a:rPr sz="1600" b="0">
                <a:solidFill>
                  <a:srgbClr val="556175"/>
                </a:solidFill>
                <a:latin typeface="맑은 고딕"/>
                <a:ea typeface="맑은 고딕"/>
                <a:cs typeface="맑은 고딕"/>
              </a:rPr>
              <a:t>(Agent Loop)는 해석 · 계획 · 호출 · 관찰을 차례로 밟고, 목표에 못 미치면 계획으로 되돌아간다.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pic>
        <p:nvPicPr>
          <p:cNvPr id="6" name="삽화:실행고리.svg" descr="illust_362607766082213565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요청 해석</a:t>
            </a:r>
          </a:p>
          <a:p>
            <a:pPr algn="ctr" eaLnBrk="0">
              <a:lnSpc>
                <a:spcPct val="110000"/>
              </a:lnSpc>
              <a:spcAft>
                <a:spcPts val="100"/>
              </a:spcAft>
            </a:pPr>
            <a:r>
              <a:rPr sz="1300" b="0">
                <a:solidFill>
                  <a:srgbClr val="556175"/>
                </a:solidFill>
                <a:latin typeface="맑은 고딕"/>
                <a:ea typeface="맑은 고딕"/>
                <a:cs typeface="맑은 고딕"/>
              </a:rPr>
              <a:t>무엇을 받았고</a:t>
            </a:r>
          </a:p>
          <a:p>
            <a:pPr algn="ctr" eaLnBrk="0">
              <a:lnSpc>
                <a:spcPct val="110000"/>
              </a:lnSpc>
              <a:spcAft>
                <a:spcPts val="100"/>
              </a:spcAft>
            </a:pPr>
            <a:r>
              <a:rPr sz="1300" b="0">
                <a:solidFill>
                  <a:srgbClr val="556175"/>
                </a:solidFill>
                <a:latin typeface="맑은 고딕"/>
                <a:ea typeface="맑은 고딕"/>
                <a:cs typeface="맑은 고딕"/>
              </a:rPr>
              <a:t>무엇을 내야 하는가</a:t>
            </a:r>
          </a:p>
        </p:txBody>
      </p:sp>
      <p:sp>
        <p:nvSpPr>
          <p:cNvPr id="8" name="TextBox 7"/>
          <p:cNvSpPr txBox="1"/>
          <p:nvPr/>
        </p:nvSpPr>
        <p:spPr>
          <a:xfrm>
            <a:off x="3172102"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계획</a:t>
            </a:r>
          </a:p>
          <a:p>
            <a:pPr algn="ctr" eaLnBrk="0">
              <a:lnSpc>
                <a:spcPct val="110000"/>
              </a:lnSpc>
              <a:spcAft>
                <a:spcPts val="100"/>
              </a:spcAft>
            </a:pPr>
            <a:r>
              <a:rPr sz="1300" b="0">
                <a:solidFill>
                  <a:srgbClr val="556175"/>
                </a:solidFill>
                <a:latin typeface="맑은 고딕"/>
                <a:ea typeface="맑은 고딕"/>
                <a:cs typeface="맑은 고딕"/>
              </a:rPr>
              <a:t>어떤 순서로</a:t>
            </a:r>
          </a:p>
          <a:p>
            <a:pPr algn="ctr" eaLnBrk="0">
              <a:lnSpc>
                <a:spcPct val="110000"/>
              </a:lnSpc>
              <a:spcAft>
                <a:spcPts val="100"/>
              </a:spcAft>
            </a:pPr>
            <a:r>
              <a:rPr sz="1300" b="0">
                <a:solidFill>
                  <a:srgbClr val="556175"/>
                </a:solidFill>
                <a:latin typeface="맑은 고딕"/>
                <a:ea typeface="맑은 고딕"/>
                <a:cs typeface="맑은 고딕"/>
              </a:rPr>
              <a:t>할 것인가</a:t>
            </a:r>
          </a:p>
        </p:txBody>
      </p:sp>
      <p:sp>
        <p:nvSpPr>
          <p:cNvPr id="9" name="TextBox 8"/>
          <p:cNvSpPr txBox="1"/>
          <p:nvPr/>
        </p:nvSpPr>
        <p:spPr>
          <a:xfrm>
            <a:off x="5201269" y="4842296"/>
            <a:ext cx="1963709"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도구 선택 · 호출</a:t>
            </a:r>
          </a:p>
          <a:p>
            <a:pPr algn="ctr" eaLnBrk="0">
              <a:lnSpc>
                <a:spcPct val="110000"/>
              </a:lnSpc>
              <a:spcAft>
                <a:spcPts val="100"/>
              </a:spcAft>
            </a:pPr>
            <a:r>
              <a:rPr sz="1300" b="0">
                <a:solidFill>
                  <a:srgbClr val="556175"/>
                </a:solidFill>
                <a:latin typeface="맑은 고딕"/>
                <a:ea typeface="맑은 고딕"/>
                <a:cs typeface="맑은 고딕"/>
              </a:rPr>
              <a:t>어느 도구에</a:t>
            </a:r>
          </a:p>
          <a:p>
            <a:pPr algn="ctr" eaLnBrk="0">
              <a:lnSpc>
                <a:spcPct val="110000"/>
              </a:lnSpc>
              <a:spcAft>
                <a:spcPts val="100"/>
              </a:spcAft>
            </a:pPr>
            <a:r>
              <a:rPr sz="1300" b="0">
                <a:solidFill>
                  <a:srgbClr val="556175"/>
                </a:solidFill>
                <a:latin typeface="맑은 고딕"/>
                <a:ea typeface="맑은 고딕"/>
                <a:cs typeface="맑은 고딕"/>
              </a:rPr>
              <a:t>무엇을 물을 것인가</a:t>
            </a:r>
          </a:p>
        </p:txBody>
      </p:sp>
      <p:sp>
        <p:nvSpPr>
          <p:cNvPr id="10" name="TextBox 9"/>
          <p:cNvSpPr txBox="1"/>
          <p:nvPr/>
        </p:nvSpPr>
        <p:spPr>
          <a:xfrm>
            <a:off x="7350439"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관찰</a:t>
            </a:r>
          </a:p>
          <a:p>
            <a:pPr algn="ctr" eaLnBrk="0">
              <a:lnSpc>
                <a:spcPct val="110000"/>
              </a:lnSpc>
              <a:spcAft>
                <a:spcPts val="100"/>
              </a:spcAft>
            </a:pPr>
            <a:r>
              <a:rPr sz="1300" b="0">
                <a:solidFill>
                  <a:srgbClr val="556175"/>
                </a:solidFill>
                <a:latin typeface="맑은 고딕"/>
                <a:ea typeface="맑은 고딕"/>
                <a:cs typeface="맑은 고딕"/>
              </a:rPr>
              <a:t>받은 결과로</a:t>
            </a:r>
          </a:p>
          <a:p>
            <a:pPr algn="ctr" eaLnBrk="0">
              <a:lnSpc>
                <a:spcPct val="110000"/>
              </a:lnSpc>
              <a:spcAft>
                <a:spcPts val="100"/>
              </a:spcAft>
            </a:pPr>
            <a:r>
              <a:rPr sz="1300" b="0">
                <a:solidFill>
                  <a:srgbClr val="556175"/>
                </a:solidFill>
                <a:latin typeface="맑은 고딕"/>
                <a:ea typeface="맑은 고딕"/>
                <a:cs typeface="맑은 고딕"/>
              </a:rPr>
              <a:t>목표에 이르렀는가</a:t>
            </a:r>
          </a:p>
        </p:txBody>
      </p:sp>
      <p:sp>
        <p:nvSpPr>
          <p:cNvPr id="11" name="TextBox 10"/>
          <p:cNvSpPr txBox="1"/>
          <p:nvPr/>
        </p:nvSpPr>
        <p:spPr>
          <a:xfrm>
            <a:off x="9445062" y="4842296"/>
            <a:ext cx="1854614"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종료</a:t>
            </a:r>
          </a:p>
          <a:p>
            <a:pPr algn="ctr" eaLnBrk="0">
              <a:lnSpc>
                <a:spcPct val="110000"/>
              </a:lnSpc>
              <a:spcAft>
                <a:spcPts val="100"/>
              </a:spcAft>
            </a:pPr>
            <a:r>
              <a:rPr sz="1300" b="0">
                <a:solidFill>
                  <a:srgbClr val="556175"/>
                </a:solidFill>
                <a:latin typeface="맑은 고딕"/>
                <a:ea typeface="맑은 고딕"/>
                <a:cs typeface="맑은 고딕"/>
              </a:rPr>
              <a:t>산출물을 제출하고</a:t>
            </a:r>
          </a:p>
          <a:p>
            <a:pPr algn="ctr" eaLnBrk="0">
              <a:lnSpc>
                <a:spcPct val="110000"/>
              </a:lnSpc>
              <a:spcAft>
                <a:spcPts val="100"/>
              </a:spcAft>
            </a:pPr>
            <a:r>
              <a:rPr sz="1300" b="0">
                <a:solidFill>
                  <a:srgbClr val="556175"/>
                </a:solidFill>
                <a:latin typeface="맑은 고딕"/>
                <a:ea typeface="맑은 고딕"/>
                <a:cs typeface="맑은 고딕"/>
              </a:rPr>
              <a:t>끝낸다</a:t>
            </a:r>
          </a:p>
        </p:txBody>
      </p:sp>
      <p:sp>
        <p:nvSpPr>
          <p:cNvPr id="12" name="TextBox 11"/>
          <p:cNvSpPr txBox="1"/>
          <p:nvPr/>
        </p:nvSpPr>
        <p:spPr>
          <a:xfrm>
            <a:off x="4001224" y="1911278"/>
            <a:ext cx="436379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재시도와 다음 호출</a:t>
            </a:r>
          </a:p>
          <a:p>
            <a:pPr algn="ctr" eaLnBrk="0">
              <a:lnSpc>
                <a:spcPct val="110000"/>
              </a:lnSpc>
              <a:spcAft>
                <a:spcPts val="100"/>
              </a:spcAft>
            </a:pPr>
            <a:r>
              <a:rPr sz="1300" b="0">
                <a:solidFill>
                  <a:srgbClr val="556175"/>
                </a:solidFill>
                <a:latin typeface="맑은 고딕"/>
                <a:ea typeface="맑은 고딕"/>
                <a:cs typeface="맑은 고딕"/>
              </a:rPr>
              <a:t>목표에 못 미쳤으면 계획을 고쳐 다시 부른다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①: 요청 해석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단계는 맡은 업무와 입력을 받고 업무 지침을 읽어, 무엇을 내야 하는지를 파악하는 데서 시작되었다.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11:13:08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열렸습니다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11:13:09  </a:t>
            </a:r>
            <a:r>
              <a:rPr sz="1300" b="0">
                <a:solidFill>
                  <a:srgbClr val="E8EEF6"/>
                </a:solidFill>
                <a:latin typeface="맑은 고딕"/>
                <a:ea typeface="맑은 고딕"/>
                <a:cs typeface="맑은 고딕"/>
              </a:rPr>
              <a:t>배정된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cooling-emergency-response</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11:13:14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SKILL.md</a:t>
            </a:r>
          </a:p>
          <a:p>
            <a:pPr algn="l" eaLnBrk="0">
              <a:lnSpc>
                <a:spcPct val="110000"/>
              </a:lnSpc>
              <a:spcAft>
                <a:spcPts val="200"/>
              </a:spcAft>
            </a:pPr>
            <a:r>
              <a:rPr sz="1300" b="0">
                <a:solidFill>
                  <a:srgbClr val="E8EEF6"/>
                </a:solidFill>
                <a:latin typeface="Consolas"/>
                <a:ea typeface="맑은 고딕"/>
                <a:cs typeface="맑은 고딕"/>
              </a:rPr>
              <a:t>11:13:14  </a:t>
            </a:r>
            <a:r>
              <a:rPr sz="1300" b="0">
                <a:solidFill>
                  <a:srgbClr val="E8EEF6"/>
                </a:solidFill>
                <a:latin typeface="맑은 고딕"/>
                <a:ea typeface="맑은 고딕"/>
                <a:cs typeface="맑은 고딕"/>
              </a:rPr>
              <a:t>먼저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배정된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필요한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불러오겠습니다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받은 것</a:t>
            </a:r>
          </a:p>
          <a:p>
            <a:pPr algn="l" eaLnBrk="0">
              <a:lnSpc>
                <a:spcPct val="110000"/>
              </a:lnSpc>
              <a:spcAft>
                <a:spcPts val="400"/>
              </a:spcAft>
            </a:pPr>
            <a:r>
              <a:rPr sz="1400" b="0">
                <a:solidFill>
                  <a:srgbClr val="1F2A3A"/>
                </a:solidFill>
                <a:latin typeface="맑은 고딕"/>
                <a:ea typeface="맑은 고딕"/>
                <a:cs typeface="맑은 고딕"/>
              </a:rPr>
              <a:t>맡은 업무, 입력(설비 HYD-01과 경보 번호), 결과를 낼 형식이다.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스킬 읽음</a:t>
            </a:r>
          </a:p>
          <a:p>
            <a:pPr algn="l" eaLnBrk="0">
              <a:lnSpc>
                <a:spcPct val="110000"/>
              </a:lnSpc>
              <a:spcAft>
                <a:spcPts val="400"/>
              </a:spcAft>
            </a:pPr>
            <a:r>
              <a:rPr sz="1400" b="0">
                <a:solidFill>
                  <a:srgbClr val="1F2A3A"/>
                </a:solidFill>
                <a:latin typeface="맑은 고딕"/>
                <a:ea typeface="맑은 고딕"/>
                <a:cs typeface="맑은 고딕"/>
              </a:rPr>
              <a:t>업무 지침인 에이전트 스킬을 읽어 무엇을 어떤 순서로 할지 파악했다.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마지막 줄</a:t>
            </a:r>
          </a:p>
          <a:p>
            <a:pPr algn="l" eaLnBrk="0">
              <a:lnSpc>
                <a:spcPct val="110000"/>
              </a:lnSpc>
              <a:spcAft>
                <a:spcPts val="400"/>
              </a:spcAft>
            </a:pPr>
            <a:r>
              <a:rPr sz="1400" b="0">
                <a:solidFill>
                  <a:srgbClr val="1F2A3A"/>
                </a:solidFill>
                <a:latin typeface="맑은 고딕"/>
                <a:ea typeface="맑은 고딕"/>
                <a:cs typeface="맑은 고딕"/>
              </a:rPr>
              <a:t>에이전트가 호출 사이에 적은 진행 설명이다. 기록에 그대로 남는다.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계획: 목표를 도구 호출의 순서로 푼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계획은 목표를 도구 호출의 순서로 풀어 놓은 것이며, 쿨러 사건에서는 업무 지침의 다섯 단계가 그 뼈대였다.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Rectangle 5"/>
          <p:cNvSpPr/>
          <p:nvPr/>
        </p:nvSpPr>
        <p:spPr>
          <a:xfrm>
            <a:off x="1658081" y="3138932"/>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722880"/>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440911" y="2940050"/>
            <a:ext cx="434340" cy="434340"/>
          </a:xfrm>
          <a:prstGeom prst="rect">
            <a:avLst/>
          </a:prstGeom>
        </p:spPr>
      </p:pic>
      <p:sp>
        <p:nvSpPr>
          <p:cNvPr id="9" name="Oval 8"/>
          <p:cNvSpPr/>
          <p:nvPr/>
        </p:nvSpPr>
        <p:spPr>
          <a:xfrm>
            <a:off x="1818101" y="2677160"/>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입력 확인</a:t>
            </a:r>
          </a:p>
          <a:p>
            <a:pPr algn="ctr" eaLnBrk="0">
              <a:lnSpc>
                <a:spcPct val="110000"/>
              </a:lnSpc>
              <a:spcAft>
                <a:spcPts val="400"/>
              </a:spcAft>
            </a:pPr>
            <a:r>
              <a:rPr sz="1400" b="0">
                <a:solidFill>
                  <a:srgbClr val="1F2A3A"/>
                </a:solidFill>
                <a:latin typeface="맑은 고딕"/>
                <a:ea typeface="맑은 고딕"/>
                <a:cs typeface="맑은 고딕"/>
              </a:rPr>
              <a:t>설비, 경보의 종류,</a:t>
            </a:r>
          </a:p>
          <a:p>
            <a:pPr algn="ctr" eaLnBrk="0">
              <a:lnSpc>
                <a:spcPct val="110000"/>
              </a:lnSpc>
              <a:spcAft>
                <a:spcPts val="400"/>
              </a:spcAft>
            </a:pPr>
            <a:r>
              <a:rPr sz="1400" b="0">
                <a:solidFill>
                  <a:srgbClr val="1F2A3A"/>
                </a:solidFill>
                <a:latin typeface="맑은 고딕"/>
                <a:ea typeface="맑은 고딕"/>
                <a:cs typeface="맑은 고딕"/>
              </a:rPr>
              <a:t>경보 번호를 읽는다</a:t>
            </a:r>
          </a:p>
        </p:txBody>
      </p:sp>
      <p:sp>
        <p:nvSpPr>
          <p:cNvPr id="12" name="Oval 11"/>
          <p:cNvSpPr/>
          <p:nvPr/>
        </p:nvSpPr>
        <p:spPr>
          <a:xfrm>
            <a:off x="3442624" y="2722880"/>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3659794" y="2940050"/>
            <a:ext cx="434340" cy="434340"/>
          </a:xfrm>
          <a:prstGeom prst="rect">
            <a:avLst/>
          </a:prstGeom>
        </p:spPr>
      </p:pic>
      <p:sp>
        <p:nvSpPr>
          <p:cNvPr id="14" name="Oval 13"/>
          <p:cNvSpPr/>
          <p:nvPr/>
        </p:nvSpPr>
        <p:spPr>
          <a:xfrm>
            <a:off x="4036984" y="2677160"/>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a:t>
            </a:r>
          </a:p>
          <a:p>
            <a:pPr algn="ctr" eaLnBrk="0">
              <a:lnSpc>
                <a:spcPct val="110000"/>
              </a:lnSpc>
              <a:spcAft>
                <a:spcPts val="400"/>
              </a:spcAft>
            </a:pPr>
            <a:r>
              <a:rPr sz="1400" b="0">
                <a:solidFill>
                  <a:srgbClr val="1F2A3A"/>
                </a:solidFill>
                <a:latin typeface="맑은 고딕"/>
                <a:ea typeface="맑은 고딕"/>
                <a:cs typeface="맑은 고딕"/>
              </a:rPr>
              <a:t>원인 1순위와</a:t>
            </a:r>
          </a:p>
          <a:p>
            <a:pPr algn="ctr" eaLnBrk="0">
              <a:lnSpc>
                <a:spcPct val="110000"/>
              </a:lnSpc>
              <a:spcAft>
                <a:spcPts val="400"/>
              </a:spcAft>
            </a:pPr>
            <a:r>
              <a:rPr sz="1400" b="0">
                <a:solidFill>
                  <a:srgbClr val="1F2A3A"/>
                </a:solidFill>
                <a:latin typeface="맑은 고딕"/>
                <a:ea typeface="맑은 고딕"/>
                <a:cs typeface="맑은 고딕"/>
              </a:rPr>
              <a:t>고장 유형을 얻는다</a:t>
            </a:r>
          </a:p>
        </p:txBody>
      </p:sp>
      <p:sp>
        <p:nvSpPr>
          <p:cNvPr id="17" name="Oval 16"/>
          <p:cNvSpPr/>
          <p:nvPr/>
        </p:nvSpPr>
        <p:spPr>
          <a:xfrm>
            <a:off x="5661507" y="2722880"/>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calendar-time" descr="calendar-time_13294B_1.6.png"/>
          <p:cNvPicPr>
            <a:picLocks noChangeAspect="1"/>
          </p:cNvPicPr>
          <p:nvPr/>
        </p:nvPicPr>
        <p:blipFill>
          <a:blip r:embed="rId5"/>
          <a:stretch>
            <a:fillRect/>
          </a:stretch>
        </p:blipFill>
        <p:spPr>
          <a:xfrm>
            <a:off x="5878677" y="2940050"/>
            <a:ext cx="434340" cy="434340"/>
          </a:xfrm>
          <a:prstGeom prst="rect">
            <a:avLst/>
          </a:prstGeom>
        </p:spPr>
      </p:pic>
      <p:sp>
        <p:nvSpPr>
          <p:cNvPr id="19" name="Oval 18"/>
          <p:cNvSpPr/>
          <p:nvPr/>
        </p:nvSpPr>
        <p:spPr>
          <a:xfrm>
            <a:off x="6255867" y="2677160"/>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업무 값 확인</a:t>
            </a:r>
          </a:p>
          <a:p>
            <a:pPr algn="ctr" eaLnBrk="0">
              <a:lnSpc>
                <a:spcPct val="110000"/>
              </a:lnSpc>
              <a:spcAft>
                <a:spcPts val="400"/>
              </a:spcAft>
            </a:pPr>
            <a:r>
              <a:rPr sz="1400" b="0">
                <a:solidFill>
                  <a:srgbClr val="1F2A3A"/>
                </a:solidFill>
                <a:latin typeface="맑은 고딕"/>
                <a:ea typeface="맑은 고딕"/>
                <a:cs typeface="맑은 고딕"/>
              </a:rPr>
              <a:t>납기 오더와</a:t>
            </a:r>
          </a:p>
          <a:p>
            <a:pPr algn="ctr" eaLnBrk="0">
              <a:lnSpc>
                <a:spcPct val="110000"/>
              </a:lnSpc>
              <a:spcAft>
                <a:spcPts val="400"/>
              </a:spcAft>
            </a:pPr>
            <a:r>
              <a:rPr sz="1400" b="0">
                <a:solidFill>
                  <a:srgbClr val="1F2A3A"/>
                </a:solidFill>
                <a:latin typeface="맑은 고딕"/>
                <a:ea typeface="맑은 고딕"/>
                <a:cs typeface="맑은 고딕"/>
              </a:rPr>
              <a:t>출하 대기 로트를 본다</a:t>
            </a:r>
          </a:p>
        </p:txBody>
      </p:sp>
      <p:sp>
        <p:nvSpPr>
          <p:cNvPr id="22" name="Oval 21"/>
          <p:cNvSpPr/>
          <p:nvPr/>
        </p:nvSpPr>
        <p:spPr>
          <a:xfrm>
            <a:off x="7880390" y="2722880"/>
            <a:ext cx="868680" cy="86868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097560" y="2940050"/>
            <a:ext cx="434340" cy="434340"/>
          </a:xfrm>
          <a:prstGeom prst="rect">
            <a:avLst/>
          </a:prstGeom>
        </p:spPr>
      </p:pic>
      <p:sp>
        <p:nvSpPr>
          <p:cNvPr id="24" name="Oval 23"/>
          <p:cNvSpPr/>
          <p:nvPr/>
        </p:nvSpPr>
        <p:spPr>
          <a:xfrm>
            <a:off x="8474750" y="2677160"/>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대안 평가</a:t>
            </a:r>
          </a:p>
          <a:p>
            <a:pPr algn="ctr" eaLnBrk="0">
              <a:lnSpc>
                <a:spcPct val="110000"/>
              </a:lnSpc>
              <a:spcAft>
                <a:spcPts val="400"/>
              </a:spcAft>
            </a:pPr>
            <a:r>
              <a:rPr sz="1400" b="0">
                <a:solidFill>
                  <a:srgbClr val="1F2A3A"/>
                </a:solidFill>
                <a:latin typeface="맑은 고딕"/>
                <a:ea typeface="맑은 고딕"/>
                <a:cs typeface="맑은 고딕"/>
              </a:rPr>
              <a:t>후보의 규정 판정,</a:t>
            </a:r>
          </a:p>
          <a:p>
            <a:pPr algn="ctr" eaLnBrk="0">
              <a:lnSpc>
                <a:spcPct val="110000"/>
              </a:lnSpc>
              <a:spcAft>
                <a:spcPts val="400"/>
              </a:spcAft>
            </a:pPr>
            <a:r>
              <a:rPr sz="1400" b="0">
                <a:solidFill>
                  <a:srgbClr val="1F2A3A"/>
                </a:solidFill>
                <a:latin typeface="맑은 고딕"/>
                <a:ea typeface="맑은 고딕"/>
                <a:cs typeface="맑은 고딕"/>
              </a:rPr>
              <a:t>예측 유온, 순위를 본다</a:t>
            </a:r>
          </a:p>
        </p:txBody>
      </p:sp>
      <p:sp>
        <p:nvSpPr>
          <p:cNvPr id="27" name="Oval 26"/>
          <p:cNvSpPr/>
          <p:nvPr/>
        </p:nvSpPr>
        <p:spPr>
          <a:xfrm>
            <a:off x="10099273" y="2722880"/>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send" descr="send_13294B_1.6.png"/>
          <p:cNvPicPr>
            <a:picLocks noChangeAspect="1"/>
          </p:cNvPicPr>
          <p:nvPr/>
        </p:nvPicPr>
        <p:blipFill>
          <a:blip r:embed="rId7"/>
          <a:stretch>
            <a:fillRect/>
          </a:stretch>
        </p:blipFill>
        <p:spPr>
          <a:xfrm>
            <a:off x="10316443" y="2940050"/>
            <a:ext cx="434340" cy="434340"/>
          </a:xfrm>
          <a:prstGeom prst="rect">
            <a:avLst/>
          </a:prstGeom>
        </p:spPr>
      </p:pic>
      <p:sp>
        <p:nvSpPr>
          <p:cNvPr id="29" name="Oval 28"/>
          <p:cNvSpPr/>
          <p:nvPr/>
        </p:nvSpPr>
        <p:spPr>
          <a:xfrm>
            <a:off x="10693633" y="2677160"/>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677160"/>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774440"/>
            <a:ext cx="2072579" cy="1485392"/>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판단 제출</a:t>
            </a:r>
          </a:p>
          <a:p>
            <a:pPr algn="ctr" eaLnBrk="0">
              <a:lnSpc>
                <a:spcPct val="110000"/>
              </a:lnSpc>
              <a:spcAft>
                <a:spcPts val="400"/>
              </a:spcAft>
            </a:pPr>
            <a:r>
              <a:rPr sz="1400" b="0">
                <a:solidFill>
                  <a:srgbClr val="1F2A3A"/>
                </a:solidFill>
                <a:latin typeface="맑은 고딕"/>
                <a:ea typeface="맑은 고딕"/>
                <a:cs typeface="맑은 고딕"/>
              </a:rPr>
              <a:t>추천안을 제출하고</a:t>
            </a:r>
          </a:p>
          <a:p>
            <a:pPr algn="ctr" eaLnBrk="0">
              <a:lnSpc>
                <a:spcPct val="110000"/>
              </a:lnSpc>
              <a:spcAft>
                <a:spcPts val="400"/>
              </a:spcAft>
            </a:pPr>
            <a:r>
              <a:rPr sz="1400" b="0">
                <a:solidFill>
                  <a:srgbClr val="1F2A3A"/>
                </a:solidFill>
                <a:latin typeface="맑은 고딕"/>
                <a:ea typeface="맑은 고딕"/>
                <a:cs typeface="맑은 고딕"/>
              </a:rPr>
              <a:t>판단 번호를 받는다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②: 관찰한 결과가 다음 호출의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진단이 돌려준 원인과 고장 유형의 식별자가 대안 평가의 물음에 그대로 들어가, 관찰이 다음 행동을 정했다.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eaLnBrk="0">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cause:cooler-fin-fouling</a:t>
            </a:r>
          </a:p>
          <a:p>
            <a:pPr algn="l" eaLnBrk="0">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fm:cooler-performance-loss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11:13:23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(807</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r>
              <a:rPr sz="1300" b="0">
                <a:solidFill>
                  <a:srgbClr val="E8EEF6"/>
                </a:solidFill>
                <a:latin typeface="맑은 고딕"/>
                <a:ea typeface="맑은 고딕"/>
                <a:cs typeface="맑은 고딕"/>
              </a:rPr>
              <a:t>물음</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p:txBody>
      </p:sp>
      <p:sp>
        <p:nvSpPr>
          <p:cNvPr id="8" name="TextBox 7"/>
          <p:cNvSpPr txBox="1"/>
          <p:nvPr/>
        </p:nvSpPr>
        <p:spPr>
          <a:xfrm>
            <a:off x="7635240" y="2436749"/>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관찰</a:t>
            </a:r>
          </a:p>
          <a:p>
            <a:pPr algn="l" eaLnBrk="0">
              <a:lnSpc>
                <a:spcPct val="110000"/>
              </a:lnSpc>
              <a:spcAft>
                <a:spcPts val="400"/>
              </a:spcAft>
            </a:pPr>
            <a:r>
              <a:rPr sz="1300" b="0">
                <a:solidFill>
                  <a:srgbClr val="1F2A3A"/>
                </a:solidFill>
                <a:latin typeface="맑은 고딕"/>
                <a:ea typeface="맑은 고딕"/>
                <a:cs typeface="맑은 고딕"/>
              </a:rPr>
              <a:t>진단의 결과에서 원인 1순위와 고장 유형을 읽었다.</a:t>
            </a:r>
          </a:p>
        </p:txBody>
      </p:sp>
      <p:sp>
        <p:nvSpPr>
          <p:cNvPr id="9" name="TextBox 8"/>
          <p:cNvSpPr txBox="1"/>
          <p:nvPr/>
        </p:nvSpPr>
        <p:spPr>
          <a:xfrm>
            <a:off x="7635240" y="3473153"/>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다음 호출의 입력</a:t>
            </a:r>
          </a:p>
          <a:p>
            <a:pPr algn="l" eaLnBrk="0">
              <a:lnSpc>
                <a:spcPct val="110000"/>
              </a:lnSpc>
              <a:spcAft>
                <a:spcPts val="400"/>
              </a:spcAft>
            </a:pPr>
            <a:r>
              <a:rPr sz="1400" b="0">
                <a:solidFill>
                  <a:srgbClr val="1F2A3A"/>
                </a:solidFill>
                <a:latin typeface="맑은 고딕"/>
                <a:ea typeface="맑은 고딕"/>
                <a:cs typeface="맑은 고딕"/>
              </a:rPr>
              <a:t>읽은 두 식별자가 대안 평가의 물음에 들어갔다.</a:t>
            </a:r>
          </a:p>
        </p:txBody>
      </p:sp>
      <p:sp>
        <p:nvSpPr>
          <p:cNvPr id="10" name="TextBox 9"/>
          <p:cNvSpPr txBox="1"/>
          <p:nvPr/>
        </p:nvSpPr>
        <p:spPr>
          <a:xfrm>
            <a:off x="7635240" y="4509558"/>
            <a:ext cx="4007815" cy="1036404"/>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식별자</a:t>
            </a:r>
          </a:p>
          <a:p>
            <a:pPr algn="l" eaLnBrk="0">
              <a:lnSpc>
                <a:spcPct val="110000"/>
              </a:lnSpc>
              <a:spcAft>
                <a:spcPts val="400"/>
              </a:spcAft>
            </a:pPr>
            <a:r>
              <a:rPr sz="1400" b="0">
                <a:solidFill>
                  <a:srgbClr val="1F2A3A"/>
                </a:solidFill>
                <a:latin typeface="맑은 고딕"/>
                <a:ea typeface="맑은 고딕"/>
                <a:cs typeface="맑은 고딕"/>
              </a:rPr>
              <a:t>cause: 는 원인을, fm: 은 고장 유형을 가리킨다.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③: 재시도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대안 평가가 돌려준 결과가 128,466자로 길자, 에이전트는 필요한 항목만 좁혀 다시 뽑는 쪽으로 계획을 고쳤다.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15679"/>
            <a:ext cx="3442106"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69855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2057552" y="2852178"/>
            <a:ext cx="424281" cy="424281"/>
          </a:xfrm>
          <a:prstGeom prst="rect">
            <a:avLst/>
          </a:prstGeom>
        </p:spPr>
      </p:pic>
      <p:sp>
        <p:nvSpPr>
          <p:cNvPr id="9" name="TextBox 8"/>
          <p:cNvSpPr txBox="1"/>
          <p:nvPr/>
        </p:nvSpPr>
        <p:spPr>
          <a:xfrm>
            <a:off x="621792" y="3503231"/>
            <a:ext cx="3295802"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결과 관찰</a:t>
            </a:r>
          </a:p>
          <a:p>
            <a:pPr algn="ctr" eaLnBrk="0">
              <a:lnSpc>
                <a:spcPct val="110000"/>
              </a:lnSpc>
              <a:spcAft>
                <a:spcPts val="400"/>
              </a:spcAft>
            </a:pPr>
            <a:r>
              <a:rPr sz="1650" b="0">
                <a:solidFill>
                  <a:srgbClr val="1F2A3A"/>
                </a:solidFill>
                <a:latin typeface="맑은 고딕"/>
                <a:ea typeface="맑은 고딕"/>
                <a:cs typeface="맑은 고딕"/>
              </a:rPr>
              <a:t>11:13:23</a:t>
            </a:r>
          </a:p>
          <a:p>
            <a:pPr algn="ctr" eaLnBrk="0">
              <a:lnSpc>
                <a:spcPct val="110000"/>
              </a:lnSpc>
              <a:spcAft>
                <a:spcPts val="400"/>
              </a:spcAft>
            </a:pPr>
            <a:r>
              <a:rPr sz="1650" b="0">
                <a:solidFill>
                  <a:srgbClr val="1F2A3A"/>
                </a:solidFill>
                <a:latin typeface="맑은 고딕"/>
                <a:ea typeface="맑은 고딕"/>
                <a:cs typeface="맑은 고딕"/>
              </a:rPr>
              <a:t>대안 평가의 결과가</a:t>
            </a:r>
          </a:p>
          <a:p>
            <a:pPr algn="ctr" eaLnBrk="0">
              <a:lnSpc>
                <a:spcPct val="110000"/>
              </a:lnSpc>
              <a:spcAft>
                <a:spcPts val="400"/>
              </a:spcAft>
            </a:pPr>
            <a:r>
              <a:rPr sz="1650" b="0">
                <a:solidFill>
                  <a:srgbClr val="1F2A3A"/>
                </a:solidFill>
                <a:latin typeface="맑은 고딕"/>
                <a:ea typeface="맑은 고딕"/>
                <a:cs typeface="맑은 고딕"/>
              </a:rPr>
              <a:t>128,466자이다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515679"/>
            <a:ext cx="3442106"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698559"/>
            <a:ext cx="731520" cy="731520"/>
          </a:xfrm>
          <a:prstGeom prst="ellipse">
            <a:avLst/>
          </a:prstGeom>
          <a:solidFill>
            <a:srgbClr val="FFFFFF"/>
          </a:solidFill>
          <a:ln>
            <a:noFill/>
          </a:ln>
        </p:spPr>
        <p:txBody>
          <a:bodyPr rtlCol="0" anchor="ctr"/>
          <a:lstStyle/>
          <a:p>
            <a:pPr algn="ctr"/>
          </a:p>
        </p:txBody>
      </p:sp>
      <p:pic>
        <p:nvPicPr>
          <p:cNvPr id="13" name="아이콘:pencil" descr="pencil_13294B_1.6.png"/>
          <p:cNvPicPr>
            <a:picLocks noChangeAspect="1"/>
          </p:cNvPicPr>
          <p:nvPr/>
        </p:nvPicPr>
        <p:blipFill>
          <a:blip r:embed="rId4"/>
          <a:stretch>
            <a:fillRect/>
          </a:stretch>
        </p:blipFill>
        <p:spPr>
          <a:xfrm>
            <a:off x="5883706" y="2852178"/>
            <a:ext cx="424281" cy="424281"/>
          </a:xfrm>
          <a:prstGeom prst="rect">
            <a:avLst/>
          </a:prstGeom>
        </p:spPr>
      </p:pic>
      <p:sp>
        <p:nvSpPr>
          <p:cNvPr id="14" name="TextBox 13"/>
          <p:cNvSpPr txBox="1"/>
          <p:nvPr/>
        </p:nvSpPr>
        <p:spPr>
          <a:xfrm>
            <a:off x="4447946" y="3503231"/>
            <a:ext cx="3295802"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계획 수정</a:t>
            </a:r>
          </a:p>
          <a:p>
            <a:pPr algn="ctr" eaLnBrk="0">
              <a:lnSpc>
                <a:spcPct val="110000"/>
              </a:lnSpc>
              <a:spcAft>
                <a:spcPts val="400"/>
              </a:spcAft>
            </a:pPr>
            <a:r>
              <a:rPr sz="1650" b="0">
                <a:solidFill>
                  <a:srgbClr val="1F2A3A"/>
                </a:solidFill>
                <a:latin typeface="맑은 고딕"/>
                <a:ea typeface="맑은 고딕"/>
                <a:cs typeface="맑은 고딕"/>
              </a:rPr>
              <a:t>11:13:40</a:t>
            </a:r>
          </a:p>
          <a:p>
            <a:pPr algn="ctr" eaLnBrk="0">
              <a:lnSpc>
                <a:spcPct val="110000"/>
              </a:lnSpc>
              <a:spcAft>
                <a:spcPts val="400"/>
              </a:spcAft>
            </a:pPr>
            <a:r>
              <a:rPr sz="1650" b="0">
                <a:solidFill>
                  <a:srgbClr val="1F2A3A"/>
                </a:solidFill>
                <a:latin typeface="맑은 고딕"/>
                <a:ea typeface="맑은 고딕"/>
                <a:cs typeface="맑은 고딕"/>
              </a:rPr>
              <a:t>「순위와 규정 판정만</a:t>
            </a:r>
          </a:p>
          <a:p>
            <a:pPr algn="ctr" eaLnBrk="0">
              <a:lnSpc>
                <a:spcPct val="110000"/>
              </a:lnSpc>
              <a:spcAft>
                <a:spcPts val="400"/>
              </a:spcAft>
            </a:pPr>
            <a:r>
              <a:rPr sz="1650" b="0">
                <a:solidFill>
                  <a:srgbClr val="1F2A3A"/>
                </a:solidFill>
                <a:latin typeface="맑은 고딕"/>
                <a:ea typeface="맑은 고딕"/>
                <a:cs typeface="맑은 고딕"/>
              </a:rPr>
              <a:t>간추려 보겠습니다.」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515679"/>
            <a:ext cx="3442106"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698559"/>
            <a:ext cx="731520" cy="731520"/>
          </a:xfrm>
          <a:prstGeom prst="ellipse">
            <a:avLst/>
          </a:prstGeom>
          <a:solidFill>
            <a:srgbClr val="5CB8F2"/>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9709861" y="2852178"/>
            <a:ext cx="424281" cy="424281"/>
          </a:xfrm>
          <a:prstGeom prst="rect">
            <a:avLst/>
          </a:prstGeom>
        </p:spPr>
      </p:pic>
      <p:sp>
        <p:nvSpPr>
          <p:cNvPr id="19" name="TextBox 18"/>
          <p:cNvSpPr txBox="1"/>
          <p:nvPr/>
        </p:nvSpPr>
        <p:spPr>
          <a:xfrm>
            <a:off x="8274100" y="3503231"/>
            <a:ext cx="3295802"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재시도</a:t>
            </a:r>
          </a:p>
          <a:p>
            <a:pPr algn="ctr" eaLnBrk="0">
              <a:lnSpc>
                <a:spcPct val="110000"/>
              </a:lnSpc>
              <a:spcAft>
                <a:spcPts val="400"/>
              </a:spcAft>
            </a:pPr>
            <a:r>
              <a:rPr sz="1650" b="0">
                <a:solidFill>
                  <a:srgbClr val="1F2A3A"/>
                </a:solidFill>
                <a:latin typeface="맑은 고딕"/>
                <a:ea typeface="맑은 고딕"/>
                <a:cs typeface="맑은 고딕"/>
              </a:rPr>
              <a:t>11:13:46</a:t>
            </a:r>
          </a:p>
          <a:p>
            <a:pPr algn="ctr" eaLnBrk="0">
              <a:lnSpc>
                <a:spcPct val="110000"/>
              </a:lnSpc>
              <a:spcAft>
                <a:spcPts val="400"/>
              </a:spcAft>
            </a:pPr>
            <a:r>
              <a:rPr sz="1650" b="0">
                <a:solidFill>
                  <a:srgbClr val="1F2A3A"/>
                </a:solidFill>
                <a:latin typeface="맑은 고딕"/>
                <a:ea typeface="맑은 고딕"/>
                <a:cs typeface="맑은 고딕"/>
              </a:rPr>
              <a:t>「필요한 항목만 좁혀</a:t>
            </a:r>
          </a:p>
          <a:p>
            <a:pPr algn="ctr" eaLnBrk="0">
              <a:lnSpc>
                <a:spcPct val="110000"/>
              </a:lnSpc>
              <a:spcAft>
                <a:spcPts val="400"/>
              </a:spcAft>
            </a:pPr>
            <a:r>
              <a:rPr sz="1650" b="0">
                <a:solidFill>
                  <a:srgbClr val="1F2A3A"/>
                </a:solidFill>
                <a:latin typeface="맑은 고딕"/>
                <a:ea typeface="맑은 고딕"/>
                <a:cs typeface="맑은 고딕"/>
              </a:rPr>
              <a:t>다시 뽑겠습니다.」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다른 실행의 기록: 도구 선택과 고친 계획</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다른 실행의 에이전트는 쓸 도구만 골라 불렀고, 평가 결과를 받지 못하자 예측 도구로 지는 이유를 확인했다.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시나리오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호출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순서</a:t>
            </a:r>
          </a:p>
          <a:p>
            <a:pPr algn="l" eaLnBrk="0">
              <a:lnSpc>
                <a:spcPct val="110000"/>
              </a:lnSpc>
              <a:spcAft>
                <a:spcPts val="200"/>
              </a:spcAft>
            </a:pPr>
            <a:r>
              <a:rPr sz="1300" b="0">
                <a:solidFill>
                  <a:srgbClr val="E8EEF6"/>
                </a:solidFill>
                <a:latin typeface="Consolas"/>
                <a:ea typeface="맑은 고딕"/>
                <a:cs typeface="맑은 고딕"/>
              </a:rPr>
              <a:t>1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읽기</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불러오기</a:t>
            </a:r>
            <a:r>
              <a:rPr sz="1300" b="0">
                <a:solidFill>
                  <a:srgbClr val="E8EEF6"/>
                </a:solidFill>
                <a:latin typeface="Consolas"/>
                <a:ea typeface="맑은 고딕"/>
                <a:cs typeface="맑은 고딕"/>
              </a:rPr>
              <a:t>      (8</a:t>
            </a:r>
            <a:r>
              <a:rPr sz="1300" b="0">
                <a:solidFill>
                  <a:srgbClr val="E8EEF6"/>
                </a:solidFill>
                <a:latin typeface="맑은 고딕"/>
                <a:ea typeface="맑은 고딕"/>
                <a:cs typeface="맑은 고딕"/>
              </a:rPr>
              <a:t>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p>
          <a:p>
            <a:pPr algn="l" eaLnBrk="0">
              <a:lnSpc>
                <a:spcPct val="110000"/>
              </a:lnSpc>
              <a:spcAft>
                <a:spcPts val="200"/>
              </a:spcAft>
            </a:pPr>
            <a:r>
              <a:rPr sz="1300" b="0">
                <a:solidFill>
                  <a:srgbClr val="E8EEF6"/>
                </a:solidFill>
                <a:latin typeface="Consolas"/>
                <a:ea typeface="맑은 고딕"/>
                <a:cs typeface="맑은 고딕"/>
              </a:rPr>
              <a:t>4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커서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못함</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5  </a:t>
            </a:r>
            <a:r>
              <a:rPr sz="1300" b="0">
                <a:solidFill>
                  <a:srgbClr val="E8EEF6"/>
                </a:solidFill>
                <a:latin typeface="맑은 고딕"/>
                <a:ea typeface="맑은 고딕"/>
                <a:cs typeface="맑은 고딕"/>
              </a:rPr>
              <a:t>생산오더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p>
          <a:p>
            <a:pPr algn="l" eaLnBrk="0">
              <a:lnSpc>
                <a:spcPct val="110000"/>
              </a:lnSpc>
              <a:spcAft>
                <a:spcPts val="200"/>
              </a:spcAft>
            </a:pPr>
            <a:r>
              <a:rPr sz="1300" b="0">
                <a:solidFill>
                  <a:srgbClr val="E8EEF6"/>
                </a:solidFill>
                <a:latin typeface="Consolas"/>
                <a:ea typeface="맑은 고딕"/>
                <a:cs typeface="맑은 고딕"/>
              </a:rPr>
              <a:t>6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3</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80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부하</a:t>
            </a:r>
            <a:r>
              <a:rPr sz="1300" b="0">
                <a:solidFill>
                  <a:srgbClr val="E8EEF6"/>
                </a:solidFill>
                <a:latin typeface="Consolas"/>
                <a:ea typeface="맑은 고딕"/>
                <a:cs typeface="맑은 고딕"/>
              </a:rPr>
              <a:t> 70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7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a:t>
            </a:r>
          </a:p>
          <a:p>
            <a:pPr algn="l" eaLnBrk="0">
              <a:lnSpc>
                <a:spcPct val="110000"/>
              </a:lnSpc>
              <a:spcAft>
                <a:spcPts val="200"/>
              </a:spcAft>
            </a:pPr>
            <a:r>
              <a:rPr sz="1300" b="0">
                <a:solidFill>
                  <a:srgbClr val="E8EEF6"/>
                </a:solidFill>
                <a:latin typeface="Consolas"/>
                <a:ea typeface="맑은 고딕"/>
                <a:cs typeface="맑은 고딕"/>
              </a:rPr>
              <a:t>8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작성</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도구 선택</a:t>
            </a:r>
          </a:p>
          <a:p>
            <a:pPr algn="l" eaLnBrk="0">
              <a:lnSpc>
                <a:spcPct val="110000"/>
              </a:lnSpc>
              <a:spcAft>
                <a:spcPts val="400"/>
              </a:spcAft>
            </a:pPr>
            <a:r>
              <a:rPr sz="1400" b="0">
                <a:solidFill>
                  <a:srgbClr val="1F2A3A"/>
                </a:solidFill>
                <a:latin typeface="맑은 고딕"/>
                <a:ea typeface="맑은 고딕"/>
                <a:cs typeface="맑은 고딕"/>
              </a:rPr>
              <a:t>연결된 도구 가운데 이번 일에 쓸 여덟 개만 이름으로 골라 불러왔다.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고친 계획</a:t>
            </a:r>
          </a:p>
          <a:p>
            <a:pPr algn="l" eaLnBrk="0">
              <a:lnSpc>
                <a:spcPct val="110000"/>
              </a:lnSpc>
              <a:spcAft>
                <a:spcPts val="400"/>
              </a:spcAft>
            </a:pPr>
            <a:r>
              <a:rPr sz="1400" b="0">
                <a:solidFill>
                  <a:srgbClr val="1F2A3A"/>
                </a:solidFill>
                <a:latin typeface="맑은 고딕"/>
                <a:ea typeface="맑은 고딕"/>
                <a:cs typeface="맑은 고딕"/>
              </a:rPr>
              <a:t>평가 결과를 받지 못하자 지침에 없던 예측 호출로 지는 이유를 확인했다.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마지막 메시지</a:t>
            </a:r>
          </a:p>
          <a:p>
            <a:pPr algn="l" eaLnBrk="0">
              <a:lnSpc>
                <a:spcPct val="110000"/>
              </a:lnSpc>
              <a:spcAft>
                <a:spcPts val="400"/>
              </a:spcAft>
            </a:pPr>
            <a:r>
              <a:rPr sz="1400" b="0">
                <a:solidFill>
                  <a:srgbClr val="1F2A3A"/>
                </a:solidFill>
                <a:latin typeface="맑은 고딕"/>
                <a:ea typeface="맑은 고딕"/>
                <a:cs typeface="맑은 고딕"/>
              </a:rPr>
              <a:t>열어 보지 못한 결과와, 대신 무엇을 근거로 썼는지를 적었다.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재시도의 한도: 조회문 수정 · 형식 교정 · 실행 시간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조회문 수정과 형식 교정은 두 번까지, 한 번의 실행은 1,800초까지이며, 한도를 넘긴 작업은 멈춰 사람에게 넘어간다.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조회문 수정</a:t>
            </a:r>
          </a:p>
          <a:p>
            <a:pPr algn="l" eaLnBrk="0">
              <a:lnSpc>
                <a:spcPct val="110000"/>
              </a:lnSpc>
              <a:spcAft>
                <a:spcPts val="400"/>
              </a:spcAft>
            </a:pPr>
            <a:r>
              <a:rPr sz="1800" b="0">
                <a:solidFill>
                  <a:srgbClr val="1F2A3A"/>
                </a:solidFill>
                <a:latin typeface="맑은 고딕"/>
                <a:ea typeface="맑은 고딕"/>
                <a:cs typeface="맑은 고딕"/>
              </a:rPr>
              <a:t>직접 쓴 조회문이 오류를 내면 고쳐서 다시 시도한다</a:t>
            </a:r>
          </a:p>
        </p:txBody>
      </p:sp>
      <p:sp>
        <p:nvSpPr>
          <p:cNvPr id="10" name="Rounded Rectangle 9"/>
          <p:cNvSpPr/>
          <p:nvPr/>
        </p:nvSpPr>
        <p:spPr>
          <a:xfrm>
            <a:off x="777240" y="525907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두 번까지</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braces" descr="braces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결과 형식 교정</a:t>
            </a:r>
          </a:p>
          <a:p>
            <a:pPr algn="l" eaLnBrk="0">
              <a:lnSpc>
                <a:spcPct val="110000"/>
              </a:lnSpc>
              <a:spcAft>
                <a:spcPts val="400"/>
              </a:spcAft>
            </a:pPr>
            <a:r>
              <a:rPr sz="1800" b="0">
                <a:solidFill>
                  <a:srgbClr val="1F2A3A"/>
                </a:solidFill>
                <a:latin typeface="맑은 고딕"/>
                <a:ea typeface="맑은 고딕"/>
                <a:cs typeface="맑은 고딕"/>
              </a:rPr>
              <a:t>제출한 결과가 형식 검사에서 거절되면 고쳐서 다시 낸다</a:t>
            </a:r>
          </a:p>
        </p:txBody>
      </p:sp>
      <p:sp>
        <p:nvSpPr>
          <p:cNvPr id="16" name="Rounded Rectangle 15"/>
          <p:cNvSpPr/>
          <p:nvPr/>
        </p:nvSpPr>
        <p:spPr>
          <a:xfrm>
            <a:off x="4566818" y="525907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두 번까지</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clock" descr="clock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실행 시간</a:t>
            </a:r>
          </a:p>
          <a:p>
            <a:pPr algn="l" eaLnBrk="0" marL="205740" indent="-205740">
              <a:lnSpc>
                <a:spcPct val="110000"/>
              </a:lnSpc>
              <a:spcAft>
                <a:spcPts val="400"/>
              </a:spcAft>
            </a:pPr>
            <a:r>
              <a:rPr sz="1800" b="0">
                <a:solidFill>
                  <a:srgbClr val="1F2A3A"/>
                </a:solidFill>
                <a:latin typeface="맑은 고딕"/>
                <a:ea typeface="맑은 고딕"/>
                <a:cs typeface="맑은 고딕"/>
              </a:rPr>
              <a:t>• 한 번의 실행에 쓸 수 있는 시간이다</a:t>
            </a:r>
          </a:p>
          <a:p>
            <a:pPr algn="l" eaLnBrk="0" marL="205740" indent="-205740">
              <a:lnSpc>
                <a:spcPct val="110000"/>
              </a:lnSpc>
              <a:spcAft>
                <a:spcPts val="400"/>
              </a:spcAft>
            </a:pPr>
            <a:r>
              <a:rPr sz="1800" b="0">
                <a:solidFill>
                  <a:srgbClr val="1F2A3A"/>
                </a:solidFill>
                <a:latin typeface="맑은 고딕"/>
                <a:ea typeface="맑은 고딕"/>
                <a:cs typeface="맑은 고딕"/>
              </a:rPr>
              <a:t>• 넘기면 작업이 멈춘 채 남고 사람이 닫는다</a:t>
            </a:r>
          </a:p>
        </p:txBody>
      </p:sp>
      <p:sp>
        <p:nvSpPr>
          <p:cNvPr id="22" name="Rounded Rectangle 21"/>
          <p:cNvSpPr/>
          <p:nvPr/>
        </p:nvSpPr>
        <p:spPr>
          <a:xfrm>
            <a:off x="8356396" y="5259070"/>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1,800초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실제 기록 ④: 종료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 단계는 답 문장이 아니라 추천안의 제출로 끝났고, 돌려받은 판단 번호가 뒤의 단계로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11:13:53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a:t>
            </a:r>
            <a:r>
              <a:rPr sz="1300" b="0">
                <a:solidFill>
                  <a:srgbClr val="E8EEF6"/>
                </a:solidFill>
                <a:latin typeface="Consolas"/>
                <a:ea typeface="맑은 고딕"/>
                <a:cs typeface="맑은 고딕"/>
              </a:rPr>
              <a:t>  (494</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ms)</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DEC-1010-002-408b</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11:14:38  </a:t>
            </a:r>
            <a:r>
              <a:rPr sz="1300" b="0">
                <a:solidFill>
                  <a:srgbClr val="E8EEF6"/>
                </a:solidFill>
                <a:latin typeface="맑은 고딕"/>
                <a:ea typeface="맑은 고딕"/>
                <a:cs typeface="맑은 고딕"/>
              </a:rPr>
              <a:t>제출이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끝났습니다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스크립트로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작성합니다</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11:14:42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p>
          <a:p>
            <a:pPr algn="l" eaLnBrk="0">
              <a:lnSpc>
                <a:spcPct val="110000"/>
              </a:lnSpc>
              <a:spcAft>
                <a:spcPts val="200"/>
              </a:spcAft>
            </a:pPr>
            <a:r>
              <a:rPr sz="1300" b="0">
                <a:solidFill>
                  <a:srgbClr val="E8EEF6"/>
                </a:solidFill>
                <a:latin typeface="Consolas"/>
                <a:ea typeface="맑은 고딕"/>
                <a:cs typeface="맑은 고딕"/>
              </a:rPr>
              <a:t>#           11:13:09</a:t>
            </a:r>
            <a:r>
              <a:rPr sz="1300" b="0">
                <a:solidFill>
                  <a:srgbClr val="E8EEF6"/>
                </a:solidFill>
                <a:latin typeface="맑은 고딕"/>
                <a:ea typeface="맑은 고딕"/>
                <a:cs typeface="맑은 고딕"/>
              </a:rPr>
              <a:t>부터</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34</a:t>
            </a:r>
            <a:r>
              <a:rPr sz="1300" b="0">
                <a:solidFill>
                  <a:srgbClr val="E8EEF6"/>
                </a:solidFill>
                <a:latin typeface="맑은 고딕"/>
                <a:ea typeface="맑은 고딕"/>
                <a:cs typeface="맑은 고딕"/>
              </a:rPr>
              <a:t>초</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판단 제출</a:t>
            </a:r>
          </a:p>
          <a:p>
            <a:pPr algn="l" eaLnBrk="0">
              <a:lnSpc>
                <a:spcPct val="110000"/>
              </a:lnSpc>
              <a:spcAft>
                <a:spcPts val="400"/>
              </a:spcAft>
            </a:pPr>
            <a:r>
              <a:rPr sz="1400" b="0">
                <a:solidFill>
                  <a:srgbClr val="1F2A3A"/>
                </a:solidFill>
                <a:latin typeface="맑은 고딕"/>
                <a:ea typeface="맑은 고딕"/>
                <a:cs typeface="맑은 고딕"/>
              </a:rPr>
              <a:t>추천안을 제출하는 도구 호출이다. 판단 번호가 돌아왔다.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판단 번호</a:t>
            </a:r>
          </a:p>
          <a:p>
            <a:pPr algn="l" eaLnBrk="0">
              <a:lnSpc>
                <a:spcPct val="110000"/>
              </a:lnSpc>
              <a:spcAft>
                <a:spcPts val="400"/>
              </a:spcAft>
            </a:pPr>
            <a:r>
              <a:rPr sz="1400" b="0">
                <a:solidFill>
                  <a:srgbClr val="1F2A3A"/>
                </a:solidFill>
                <a:latin typeface="맑은 고딕"/>
                <a:ea typeface="맑은 고딕"/>
                <a:cs typeface="맑은 고딕"/>
              </a:rPr>
              <a:t>뒤에 만들어진 작업지시에도 이 번호가 기록된다.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 끝</a:t>
            </a:r>
          </a:p>
          <a:p>
            <a:pPr algn="l" eaLnBrk="0">
              <a:lnSpc>
                <a:spcPct val="110000"/>
              </a:lnSpc>
              <a:spcAft>
                <a:spcPts val="400"/>
              </a:spcAft>
            </a:pPr>
            <a:r>
              <a:rPr sz="1400" b="0">
                <a:solidFill>
                  <a:srgbClr val="1F2A3A"/>
                </a:solidFill>
                <a:latin typeface="맑은 고딕"/>
                <a:ea typeface="맑은 고딕"/>
                <a:cs typeface="맑은 고딕"/>
              </a:rPr>
              <a:t>정해진 형식의 결과를 남기고 1분 34초 만에 끝났다.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단순 답변과 업무 산출물</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질문에 답하고 끝나는 결과와, 승인과 실행으로 넘어가는 추천안을 견준다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답변과 업무 산출물의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답변은 사람이 읽으면 끝나고, 업무 산출물은 정해진 형식으로 다음 단계에 넘어가 승인과 실행의 재료가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22144"/>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575763"/>
            <a:ext cx="424281" cy="424281"/>
          </a:xfrm>
          <a:prstGeom prst="rect">
            <a:avLst/>
          </a:prstGeom>
        </p:spPr>
      </p:pic>
      <p:sp>
        <p:nvSpPr>
          <p:cNvPr id="9" name="TextBox 8"/>
          <p:cNvSpPr txBox="1"/>
          <p:nvPr/>
        </p:nvSpPr>
        <p:spPr>
          <a:xfrm>
            <a:off x="1691640"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단순 답변</a:t>
            </a:r>
          </a:p>
        </p:txBody>
      </p:sp>
      <p:sp>
        <p:nvSpPr>
          <p:cNvPr id="10" name="TextBox 9"/>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받는 쪽: 질문한 사람</a:t>
            </a:r>
          </a:p>
          <a:p>
            <a:pPr algn="l" eaLnBrk="0" marL="182880" indent="-182880">
              <a:lnSpc>
                <a:spcPct val="110000"/>
              </a:lnSpc>
              <a:spcAft>
                <a:spcPts val="600"/>
              </a:spcAft>
            </a:pPr>
            <a:r>
              <a:rPr sz="1600" b="0">
                <a:solidFill>
                  <a:srgbClr val="1F2A3A"/>
                </a:solidFill>
                <a:latin typeface="맑은 고딕"/>
                <a:ea typeface="맑은 고딕"/>
                <a:cs typeface="맑은 고딕"/>
              </a:rPr>
              <a:t>• 형식: 답과 근거, 또는 답할 수 없다는 사실과 그 이유</a:t>
            </a:r>
          </a:p>
          <a:p>
            <a:pPr algn="l" eaLnBrk="0" marL="182880" indent="-182880">
              <a:lnSpc>
                <a:spcPct val="110000"/>
              </a:lnSpc>
              <a:spcAft>
                <a:spcPts val="600"/>
              </a:spcAft>
            </a:pPr>
            <a:r>
              <a:rPr sz="1600" b="0">
                <a:solidFill>
                  <a:srgbClr val="1F2A3A"/>
                </a:solidFill>
                <a:latin typeface="맑은 고딕"/>
                <a:ea typeface="맑은 고딕"/>
                <a:cs typeface="맑은 고딕"/>
              </a:rPr>
              <a:t>• 다음 행동: 없다</a:t>
            </a:r>
          </a:p>
        </p:txBody>
      </p:sp>
      <p:sp>
        <p:nvSpPr>
          <p:cNvPr id="11" name="Rounded Rectangle 10"/>
          <p:cNvSpPr/>
          <p:nvPr/>
        </p:nvSpPr>
        <p:spPr>
          <a:xfrm>
            <a:off x="868680" y="530453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0453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읽고 끝난다</a:t>
            </a:r>
          </a:p>
        </p:txBody>
      </p:sp>
      <p:sp>
        <p:nvSpPr>
          <p:cNvPr id="13" name="Rounded Rectangle 12"/>
          <p:cNvSpPr/>
          <p:nvPr/>
        </p:nvSpPr>
        <p:spPr>
          <a:xfrm>
            <a:off x="6461607" y="2220976"/>
            <a:ext cx="5181447" cy="354076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22144"/>
            <a:ext cx="731520" cy="731520"/>
          </a:xfrm>
          <a:prstGeom prst="ellipse">
            <a:avLst/>
          </a:prstGeom>
          <a:solidFill>
            <a:srgbClr val="5CB8F2"/>
          </a:solidFill>
          <a:ln>
            <a:noFill/>
          </a:ln>
        </p:spPr>
        <p:txBody>
          <a:bodyPr rtlCol="0" anchor="ctr"/>
          <a:lstStyle/>
          <a:p>
            <a:pPr algn="ctr"/>
          </a:p>
        </p:txBody>
      </p:sp>
      <p:pic>
        <p:nvPicPr>
          <p:cNvPr id="15" name="아이콘:clipboard-check" descr="clipboard-check_13294B_1.6.png"/>
          <p:cNvPicPr>
            <a:picLocks noChangeAspect="1"/>
          </p:cNvPicPr>
          <p:nvPr/>
        </p:nvPicPr>
        <p:blipFill>
          <a:blip r:embed="rId4"/>
          <a:stretch>
            <a:fillRect/>
          </a:stretch>
        </p:blipFill>
        <p:spPr>
          <a:xfrm>
            <a:off x="6889546" y="2575763"/>
            <a:ext cx="424281" cy="424281"/>
          </a:xfrm>
          <a:prstGeom prst="rect">
            <a:avLst/>
          </a:prstGeom>
        </p:spPr>
      </p:pic>
      <p:sp>
        <p:nvSpPr>
          <p:cNvPr id="16" name="TextBox 15"/>
          <p:cNvSpPr txBox="1"/>
          <p:nvPr/>
        </p:nvSpPr>
        <p:spPr>
          <a:xfrm>
            <a:off x="7604607"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업무 산출물</a:t>
            </a:r>
          </a:p>
        </p:txBody>
      </p:sp>
      <p:sp>
        <p:nvSpPr>
          <p:cNvPr id="17" name="TextBox 16"/>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받는 쪽: 승인할 담당자와 다음 단계의 시스템</a:t>
            </a:r>
          </a:p>
          <a:p>
            <a:pPr algn="l" eaLnBrk="0" marL="182880" indent="-182880">
              <a:lnSpc>
                <a:spcPct val="110000"/>
              </a:lnSpc>
              <a:spcAft>
                <a:spcPts val="600"/>
              </a:spcAft>
            </a:pPr>
            <a:r>
              <a:rPr sz="1600" b="0">
                <a:solidFill>
                  <a:srgbClr val="1F2A3A"/>
                </a:solidFill>
                <a:latin typeface="맑은 고딕"/>
                <a:ea typeface="맑은 고딕"/>
                <a:cs typeface="맑은 고딕"/>
              </a:rPr>
              <a:t>• 형식: 원인, 추천, 대안, 설명, 판단 번호의 정해진 항목</a:t>
            </a:r>
          </a:p>
          <a:p>
            <a:pPr algn="l" eaLnBrk="0" marL="182880" indent="-182880">
              <a:lnSpc>
                <a:spcPct val="110000"/>
              </a:lnSpc>
              <a:spcAft>
                <a:spcPts val="600"/>
              </a:spcAft>
            </a:pPr>
            <a:r>
              <a:rPr sz="1600" b="0">
                <a:solidFill>
                  <a:srgbClr val="1F2A3A"/>
                </a:solidFill>
                <a:latin typeface="맑은 고딕"/>
                <a:ea typeface="맑은 고딕"/>
                <a:cs typeface="맑은 고딕"/>
              </a:rPr>
              <a:t>• 다음 행동: 승인 뒤에 명령과 작업지시로 이어진다</a:t>
            </a:r>
          </a:p>
        </p:txBody>
      </p:sp>
      <p:sp>
        <p:nvSpPr>
          <p:cNvPr id="18" name="Rounded Rectangle 17"/>
          <p:cNvSpPr/>
          <p:nvPr/>
        </p:nvSpPr>
        <p:spPr>
          <a:xfrm>
            <a:off x="6781647" y="530453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0453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다음 단계로 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질문에 답하는 에이전트: 답과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질문에 답할 때에도 에이전트는 기억으로 말하지 않고 업무 DB를 조회하며, 실행한 조회문이 답의 근거로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질문</a:t>
            </a:r>
          </a:p>
          <a:p>
            <a:pPr algn="l" eaLnBrk="0">
              <a:lnSpc>
                <a:spcPct val="110000"/>
              </a:lnSpc>
              <a:spcAft>
                <a:spcPts val="200"/>
              </a:spcAft>
            </a:pP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재고가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수량은</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답</a:t>
            </a:r>
          </a:p>
          <a:p>
            <a:pPr algn="l" eaLnBrk="0">
              <a:lnSpc>
                <a:spcPct val="110000"/>
              </a:lnSpc>
              <a:spcAft>
                <a:spcPts val="200"/>
              </a:spcAft>
            </a:pPr>
            <a:r>
              <a:rPr sz="1300" b="0">
                <a:solidFill>
                  <a:srgbClr val="E8EEF6"/>
                </a:solidFill>
                <a:latin typeface="Consolas"/>
                <a:ea typeface="맑은 고딕"/>
                <a:cs typeface="맑은 고딕"/>
              </a:rPr>
              <a:t>HYD-02(</a:t>
            </a:r>
            <a:r>
              <a:rPr sz="1300" b="0">
                <a:solidFill>
                  <a:srgbClr val="E8EEF6"/>
                </a:solidFill>
                <a:latin typeface="맑은 고딕"/>
                <a:ea typeface="맑은 고딕"/>
                <a:cs typeface="맑은 고딕"/>
              </a:rPr>
              <a:t>유압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파워팩</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호기</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FG-IND-3</a:t>
            </a:r>
          </a:p>
          <a:p>
            <a:pPr algn="l" eaLnBrk="0">
              <a:lnSpc>
                <a:spcPct val="110000"/>
              </a:lnSpc>
              <a:spcAft>
                <a:spcPts val="200"/>
              </a:spcAft>
            </a:pPr>
            <a:r>
              <a:rPr sz="1300" b="0">
                <a:solidFill>
                  <a:srgbClr val="E8EEF6"/>
                </a:solidFill>
                <a:latin typeface="맑은 고딕"/>
                <a:ea typeface="맑은 고딕"/>
                <a:cs typeface="맑은 고딕"/>
              </a:rPr>
              <a:t>재고가</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개입니다</a:t>
            </a:r>
            <a:r>
              <a:rPr sz="1300" b="0">
                <a:solidFill>
                  <a:srgbClr val="E8EEF6"/>
                </a:solidFill>
                <a:latin typeface="Consolas"/>
                <a:ea typeface="맑은 고딕"/>
                <a:cs typeface="맑은 고딕"/>
              </a:rPr>
              <a:t>(WH-1 </a:t>
            </a: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창고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조회문</a:t>
            </a:r>
          </a:p>
          <a:p>
            <a:pPr algn="l" eaLnBrk="0">
              <a:lnSpc>
                <a:spcPct val="110000"/>
              </a:lnSpc>
              <a:spcAft>
                <a:spcPts val="200"/>
              </a:spcAft>
            </a:pPr>
            <a:r>
              <a:rPr sz="1300" b="0">
                <a:solidFill>
                  <a:srgbClr val="E8EEF6"/>
                </a:solidFill>
                <a:latin typeface="Consolas"/>
                <a:ea typeface="맑은 고딕"/>
                <a:cs typeface="맑은 고딕"/>
              </a:rPr>
              <a:t>SELECT f.asset, a.name, f.fg_item,</a:t>
            </a:r>
          </a:p>
          <a:p>
            <a:pPr algn="l" eaLnBrk="0">
              <a:lnSpc>
                <a:spcPct val="110000"/>
              </a:lnSpc>
              <a:spcAft>
                <a:spcPts val="200"/>
              </a:spcAft>
            </a:pPr>
            <a:r>
              <a:rPr sz="1300" b="0">
                <a:solidFill>
                  <a:srgbClr val="E8EEF6"/>
                </a:solidFill>
                <a:latin typeface="Consolas"/>
                <a:ea typeface="맑은 고딕"/>
                <a:cs typeface="맑은 고딕"/>
              </a:rPr>
              <a:t>       f.fg_stock, f.warehouse</a:t>
            </a:r>
          </a:p>
          <a:p>
            <a:pPr algn="l" eaLnBrk="0">
              <a:lnSpc>
                <a:spcPct val="110000"/>
              </a:lnSpc>
              <a:spcAft>
                <a:spcPts val="200"/>
              </a:spcAft>
            </a:pPr>
            <a:r>
              <a:rPr sz="1300" b="0">
                <a:solidFill>
                  <a:srgbClr val="E8EEF6"/>
                </a:solidFill>
                <a:latin typeface="Consolas"/>
                <a:ea typeface="맑은 고딕"/>
                <a:cs typeface="맑은 고딕"/>
              </a:rPr>
              <a:t>FROM fg_inventory f</a:t>
            </a:r>
          </a:p>
          <a:p>
            <a:pPr algn="l" eaLnBrk="0">
              <a:lnSpc>
                <a:spcPct val="110000"/>
              </a:lnSpc>
              <a:spcAft>
                <a:spcPts val="200"/>
              </a:spcAft>
            </a:pPr>
            <a:r>
              <a:rPr sz="1300" b="0">
                <a:solidFill>
                  <a:srgbClr val="E8EEF6"/>
                </a:solidFill>
                <a:latin typeface="Consolas"/>
                <a:ea typeface="맑은 고딕"/>
                <a:cs typeface="맑은 고딕"/>
              </a:rPr>
              <a:t>JOIN assets a ON a.code = f.asset</a:t>
            </a:r>
          </a:p>
          <a:p>
            <a:pPr algn="l" eaLnBrk="0">
              <a:lnSpc>
                <a:spcPct val="110000"/>
              </a:lnSpc>
              <a:spcAft>
                <a:spcPts val="200"/>
              </a:spcAft>
            </a:pPr>
            <a:r>
              <a:rPr sz="1300" b="0">
                <a:solidFill>
                  <a:srgbClr val="E8EEF6"/>
                </a:solidFill>
                <a:latin typeface="Consolas"/>
                <a:ea typeface="맑은 고딕"/>
                <a:cs typeface="맑은 고딕"/>
              </a:rPr>
              <a:t>ORDER BY f.fg_stock ASC</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도구 호출 두 번</a:t>
            </a:r>
          </a:p>
          <a:p>
            <a:pPr algn="l" eaLnBrk="0">
              <a:lnSpc>
                <a:spcPct val="110000"/>
              </a:lnSpc>
              <a:spcAft>
                <a:spcPts val="400"/>
              </a:spcAft>
            </a:pPr>
            <a:r>
              <a:rPr sz="1400" b="0">
                <a:solidFill>
                  <a:srgbClr val="1F2A3A"/>
                </a:solidFill>
                <a:latin typeface="맑은 고딕"/>
                <a:ea typeface="맑은 고딕"/>
                <a:cs typeface="맑은 고딕"/>
              </a:rPr>
              <a:t>어떤 표가 있는지를 먼저 확인한 뒤 조회문을 실행했다.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근거</a:t>
            </a:r>
          </a:p>
          <a:p>
            <a:pPr algn="l" eaLnBrk="0">
              <a:lnSpc>
                <a:spcPct val="110000"/>
              </a:lnSpc>
              <a:spcAft>
                <a:spcPts val="400"/>
              </a:spcAft>
            </a:pPr>
            <a:r>
              <a:rPr sz="1400" b="0">
                <a:solidFill>
                  <a:srgbClr val="1F2A3A"/>
                </a:solidFill>
                <a:latin typeface="맑은 고딕"/>
                <a:ea typeface="맑은 고딕"/>
                <a:cs typeface="맑은 고딕"/>
              </a:rPr>
              <a:t>답의 값이 어느 조회에서 나왔는지를 보인다. 결과는 3행이었다.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답할 수 없을 때</a:t>
            </a:r>
          </a:p>
          <a:p>
            <a:pPr algn="l" eaLnBrk="0">
              <a:lnSpc>
                <a:spcPct val="110000"/>
              </a:lnSpc>
              <a:spcAft>
                <a:spcPts val="400"/>
              </a:spcAft>
            </a:pPr>
            <a:r>
              <a:rPr sz="1400" b="0">
                <a:solidFill>
                  <a:srgbClr val="1F2A3A"/>
                </a:solidFill>
                <a:latin typeface="맑은 고딕"/>
                <a:ea typeface="맑은 고딕"/>
                <a:cs typeface="맑은 고딕"/>
              </a:rPr>
              <a:t>지어내지 않고, 답할 수 없다는 사실과 그 이유를 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사건의 업무 산출물: 추천안에 담긴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사건에서 에이전트가 낸 산출물은 원인, 추천 하나, 뒤진 대안 셋과 그 이유를 한데 묶은 추천안이다.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항목</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순위 · 점수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a:t>
            </a:r>
          </a:p>
          <a:p>
            <a:pPr algn="l" eaLnBrk="0">
              <a:lnSpc>
                <a:spcPct val="110000"/>
              </a:lnSpc>
            </a:pPr>
            <a:r>
              <a:rPr sz="1400" b="0">
                <a:solidFill>
                  <a:srgbClr val="1F2A3A"/>
                </a:solidFill>
                <a:latin typeface="맑은 고딕"/>
                <a:ea typeface="맑은 고딕"/>
                <a:cs typeface="맑은 고딕"/>
              </a:rPr>
              <a:t>고장 유형: 쿨러 냉각 성능 상실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진단 결과</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추천</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최대 운전 · SOP-COOL-11</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1순위 · 3.38</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뒤진 대안</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부하 70 %와 야간 핀 세척</a:t>
            </a:r>
          </a:p>
          <a:p>
            <a:pPr algn="l" eaLnBrk="0">
              <a:lnSpc>
                <a:spcPct val="110000"/>
              </a:lnSpc>
            </a:pPr>
            <a:r>
              <a:rPr sz="1400" b="0">
                <a:solidFill>
                  <a:srgbClr val="1F2A3A"/>
                </a:solidFill>
                <a:latin typeface="맑은 고딕"/>
                <a:ea typeface="맑은 고딕"/>
                <a:cs typeface="맑은 고딕"/>
              </a:rPr>
              <a:t>팬 최대 운전과 부하 80 %</a:t>
            </a:r>
          </a:p>
          <a:p>
            <a:pPr algn="l" eaLnBrk="0">
              <a:lnSpc>
                <a:spcPct val="110000"/>
              </a:lnSpc>
            </a:pPr>
            <a:r>
              <a:rPr sz="1400" b="0">
                <a:solidFill>
                  <a:srgbClr val="1F2A3A"/>
                </a:solidFill>
                <a:latin typeface="맑은 고딕"/>
                <a:ea typeface="맑은 고딕"/>
                <a:cs typeface="맑은 고딕"/>
              </a:rPr>
              <a:t>쿨러 핀 세척</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공동 2순위 · 2.75</a:t>
            </a:r>
          </a:p>
          <a:p>
            <a:pPr algn="l" eaLnBrk="0">
              <a:lnSpc>
                <a:spcPct val="110000"/>
              </a:lnSpc>
            </a:pPr>
            <a:r>
              <a:rPr sz="1250" b="1">
                <a:solidFill>
                  <a:srgbClr val="556175"/>
                </a:solidFill>
                <a:latin typeface="맑은 고딕"/>
                <a:ea typeface="맑은 고딕"/>
                <a:cs typeface="맑은 고딕"/>
              </a:rPr>
              <a:t>공동 2순위 · 2.75</a:t>
            </a:r>
          </a:p>
          <a:p>
            <a:pPr algn="l" eaLnBrk="0">
              <a:lnSpc>
                <a:spcPct val="110000"/>
              </a:lnSpc>
            </a:pPr>
            <a:r>
              <a:rPr sz="1250" b="1">
                <a:solidFill>
                  <a:srgbClr val="556175"/>
                </a:solidFill>
                <a:latin typeface="맑은 고딕"/>
                <a:ea typeface="맑은 고딕"/>
                <a:cs typeface="맑은 고딕"/>
              </a:rPr>
              <a:t>4순위 · -1.58</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설명과 번호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추천이 앞서고 대안이 뒤지는 이유</a:t>
            </a:r>
          </a:p>
          <a:p>
            <a:pPr algn="l" eaLnBrk="0">
              <a:lnSpc>
                <a:spcPct val="110000"/>
              </a:lnSpc>
            </a:pPr>
            <a:r>
              <a:rPr sz="1400" b="0">
                <a:solidFill>
                  <a:srgbClr val="1F2A3A"/>
                </a:solidFill>
                <a:latin typeface="맑은 고딕"/>
                <a:ea typeface="맑은 고딕"/>
                <a:cs typeface="맑은 고딕"/>
              </a:rPr>
              <a:t>판단 번호 DEC-1010-002-408b</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근거</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넘어가는 곳: 승인 뒤의 명령과 작업지시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만드는 것은 제안까지이며, 설비 명령과 작업지시는 담당자가 승인한 뒤에 시스템이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612647" y="2330818"/>
            <a:ext cx="2090867" cy="332107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385682"/>
            <a:ext cx="2090867"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에이전트</a:t>
            </a:r>
          </a:p>
        </p:txBody>
      </p:sp>
      <p:sp>
        <p:nvSpPr>
          <p:cNvPr id="8" name="Rounded Rectangle 7"/>
          <p:cNvSpPr/>
          <p:nvPr/>
        </p:nvSpPr>
        <p:spPr>
          <a:xfrm>
            <a:off x="2831531" y="2330818"/>
            <a:ext cx="2090867" cy="3321074"/>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2831531" y="2385682"/>
            <a:ext cx="2090867"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사람</a:t>
            </a:r>
          </a:p>
        </p:txBody>
      </p:sp>
      <p:sp>
        <p:nvSpPr>
          <p:cNvPr id="10" name="Rounded Rectangle 9"/>
          <p:cNvSpPr/>
          <p:nvPr/>
        </p:nvSpPr>
        <p:spPr>
          <a:xfrm>
            <a:off x="5050414" y="2330818"/>
            <a:ext cx="6528633" cy="3321074"/>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5050414" y="2385682"/>
            <a:ext cx="6528633" cy="365760"/>
          </a:xfrm>
          <a:prstGeom prst="rect">
            <a:avLst/>
          </a:prstGeom>
          <a:noFill/>
        </p:spPr>
        <p:txBody>
          <a:bodyPr wrap="square" anchor="ctr"/>
          <a:lstStyle/>
          <a:p>
            <a:pPr algn="ctr" eaLnBrk="0">
              <a:lnSpc>
                <a:spcPct val="110000"/>
              </a:lnSpc>
            </a:pPr>
            <a:r>
              <a:rPr sz="1400" b="1">
                <a:solidFill>
                  <a:srgbClr val="1A6FC4"/>
                </a:solidFill>
                <a:latin typeface="맑은 고딕"/>
                <a:ea typeface="맑은 고딕"/>
                <a:cs typeface="맑은 고딕"/>
              </a:rPr>
              <a:t>시스템</a:t>
            </a:r>
          </a:p>
        </p:txBody>
      </p:sp>
      <p:sp>
        <p:nvSpPr>
          <p:cNvPr id="12" name="Rectangle 11"/>
          <p:cNvSpPr/>
          <p:nvPr/>
        </p:nvSpPr>
        <p:spPr>
          <a:xfrm>
            <a:off x="1658081" y="3748976"/>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639248"/>
            <a:ext cx="237744" cy="365760"/>
          </a:xfrm>
          <a:prstGeom prst="chevron">
            <a:avLst/>
          </a:prstGeom>
          <a:solidFill>
            <a:srgbClr val="13294B"/>
          </a:solidFill>
          <a:ln>
            <a:noFill/>
          </a:ln>
        </p:spPr>
        <p:txBody>
          <a:bodyPr rtlCol="0" anchor="ctr"/>
          <a:lstStyle/>
          <a:p>
            <a:pPr algn="ctr"/>
          </a:p>
        </p:txBody>
      </p:sp>
      <p:sp>
        <p:nvSpPr>
          <p:cNvPr id="14" name="Oval 13"/>
          <p:cNvSpPr/>
          <p:nvPr/>
        </p:nvSpPr>
        <p:spPr>
          <a:xfrm>
            <a:off x="108117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robot" descr="robot_13294B_1.6.png"/>
          <p:cNvPicPr>
            <a:picLocks noChangeAspect="1"/>
          </p:cNvPicPr>
          <p:nvPr/>
        </p:nvPicPr>
        <p:blipFill>
          <a:blip r:embed="rId3"/>
          <a:stretch>
            <a:fillRect/>
          </a:stretch>
        </p:blipFill>
        <p:spPr>
          <a:xfrm>
            <a:off x="1358088" y="3522135"/>
            <a:ext cx="599985" cy="599985"/>
          </a:xfrm>
          <a:prstGeom prst="rect">
            <a:avLst/>
          </a:prstGeom>
        </p:spPr>
      </p:pic>
      <p:sp>
        <p:nvSpPr>
          <p:cNvPr id="16" name="TextBox 15"/>
          <p:cNvSpPr txBox="1"/>
          <p:nvPr/>
        </p:nvSpPr>
        <p:spPr>
          <a:xfrm>
            <a:off x="640079"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추천안</a:t>
            </a:r>
          </a:p>
          <a:p>
            <a:pPr algn="ctr" eaLnBrk="0">
              <a:lnSpc>
                <a:spcPct val="110000"/>
              </a:lnSpc>
              <a:spcAft>
                <a:spcPts val="400"/>
              </a:spcAft>
            </a:pPr>
            <a:r>
              <a:rPr sz="1300" b="0">
                <a:solidFill>
                  <a:srgbClr val="1F2A3A"/>
                </a:solidFill>
                <a:latin typeface="맑은 고딕"/>
                <a:ea typeface="맑은 고딕"/>
                <a:cs typeface="맑은 고딕"/>
              </a:rPr>
              <a:t>11:14:42 단계 끝</a:t>
            </a:r>
          </a:p>
          <a:p>
            <a:pPr algn="ctr" eaLnBrk="0">
              <a:lnSpc>
                <a:spcPct val="110000"/>
              </a:lnSpc>
              <a:spcAft>
                <a:spcPts val="400"/>
              </a:spcAft>
            </a:pPr>
            <a:r>
              <a:rPr sz="1300" b="0">
                <a:solidFill>
                  <a:srgbClr val="1F2A3A"/>
                </a:solidFill>
                <a:latin typeface="맑은 고딕"/>
                <a:ea typeface="맑은 고딕"/>
                <a:cs typeface="맑은 고딕"/>
              </a:rPr>
              <a:t>DEC-1010-002-408b</a:t>
            </a:r>
          </a:p>
        </p:txBody>
      </p:sp>
      <p:sp>
        <p:nvSpPr>
          <p:cNvPr id="17" name="Chevron 16"/>
          <p:cNvSpPr/>
          <p:nvPr/>
        </p:nvSpPr>
        <p:spPr>
          <a:xfrm>
            <a:off x="4867534" y="3639248"/>
            <a:ext cx="237744" cy="365760"/>
          </a:xfrm>
          <a:prstGeom prst="chevron">
            <a:avLst/>
          </a:prstGeom>
          <a:solidFill>
            <a:srgbClr val="13294B"/>
          </a:solidFill>
          <a:ln>
            <a:noFill/>
          </a:ln>
        </p:spPr>
        <p:txBody>
          <a:bodyPr rtlCol="0" anchor="ctr"/>
          <a:lstStyle/>
          <a:p>
            <a:pPr algn="ctr"/>
          </a:p>
        </p:txBody>
      </p:sp>
      <p:sp>
        <p:nvSpPr>
          <p:cNvPr id="18" name="Oval 17"/>
          <p:cNvSpPr/>
          <p:nvPr/>
        </p:nvSpPr>
        <p:spPr>
          <a:xfrm>
            <a:off x="3300054" y="3245218"/>
            <a:ext cx="1153819" cy="1153819"/>
          </a:xfrm>
          <a:prstGeom prst="ellipse">
            <a:avLst/>
          </a:prstGeom>
          <a:solidFill>
            <a:srgbClr val="5CB8F2"/>
          </a:solidFill>
          <a:ln w="28575">
            <a:solidFill>
              <a:srgbClr val="13294B"/>
            </a:solidFill>
          </a:ln>
        </p:spPr>
        <p:txBody>
          <a:bodyPr rtlCol="0" anchor="ctr"/>
          <a:lstStyle/>
          <a:p>
            <a:pPr algn="ctr"/>
          </a:p>
        </p:txBody>
      </p:sp>
      <p:pic>
        <p:nvPicPr>
          <p:cNvPr id="19" name="아이콘:user-check" descr="user-check_13294B_1.6.png"/>
          <p:cNvPicPr>
            <a:picLocks noChangeAspect="1"/>
          </p:cNvPicPr>
          <p:nvPr/>
        </p:nvPicPr>
        <p:blipFill>
          <a:blip r:embed="rId4"/>
          <a:stretch>
            <a:fillRect/>
          </a:stretch>
        </p:blipFill>
        <p:spPr>
          <a:xfrm>
            <a:off x="3576971" y="3522135"/>
            <a:ext cx="599985" cy="599985"/>
          </a:xfrm>
          <a:prstGeom prst="rect">
            <a:avLst/>
          </a:prstGeom>
        </p:spPr>
      </p:pic>
      <p:sp>
        <p:nvSpPr>
          <p:cNvPr id="20" name="TextBox 19"/>
          <p:cNvSpPr txBox="1"/>
          <p:nvPr/>
        </p:nvSpPr>
        <p:spPr>
          <a:xfrm>
            <a:off x="2858963"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승인</a:t>
            </a:r>
          </a:p>
          <a:p>
            <a:pPr algn="ctr" eaLnBrk="0">
              <a:lnSpc>
                <a:spcPct val="110000"/>
              </a:lnSpc>
              <a:spcAft>
                <a:spcPts val="400"/>
              </a:spcAft>
            </a:pPr>
            <a:r>
              <a:rPr sz="1300" b="0">
                <a:solidFill>
                  <a:srgbClr val="1F2A3A"/>
                </a:solidFill>
                <a:latin typeface="맑은 고딕"/>
                <a:ea typeface="맑은 고딕"/>
                <a:cs typeface="맑은 고딕"/>
              </a:rPr>
              <a:t>11:14:56</a:t>
            </a:r>
          </a:p>
          <a:p>
            <a:pPr algn="ctr" eaLnBrk="0">
              <a:lnSpc>
                <a:spcPct val="110000"/>
              </a:lnSpc>
              <a:spcAft>
                <a:spcPts val="400"/>
              </a:spcAft>
            </a:pPr>
            <a:r>
              <a:rPr sz="1300" b="0">
                <a:solidFill>
                  <a:srgbClr val="1F2A3A"/>
                </a:solidFill>
                <a:latin typeface="맑은 고딕"/>
                <a:ea typeface="맑은 고딕"/>
                <a:cs typeface="맑은 고딕"/>
              </a:rPr>
              <a:t>운전원</a:t>
            </a:r>
          </a:p>
        </p:txBody>
      </p:sp>
      <p:sp>
        <p:nvSpPr>
          <p:cNvPr id="21" name="Chevron 20"/>
          <p:cNvSpPr/>
          <p:nvPr/>
        </p:nvSpPr>
        <p:spPr>
          <a:xfrm>
            <a:off x="7086417" y="3639248"/>
            <a:ext cx="237744" cy="365760"/>
          </a:xfrm>
          <a:prstGeom prst="chevron">
            <a:avLst/>
          </a:prstGeom>
          <a:solidFill>
            <a:srgbClr val="13294B"/>
          </a:solidFill>
          <a:ln>
            <a:noFill/>
          </a:ln>
        </p:spPr>
        <p:txBody>
          <a:bodyPr rtlCol="0" anchor="ctr"/>
          <a:lstStyle/>
          <a:p>
            <a:pPr algn="ctr"/>
          </a:p>
        </p:txBody>
      </p:sp>
      <p:sp>
        <p:nvSpPr>
          <p:cNvPr id="22" name="Oval 21"/>
          <p:cNvSpPr/>
          <p:nvPr/>
        </p:nvSpPr>
        <p:spPr>
          <a:xfrm>
            <a:off x="5518938"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3" name="아이콘:settings-automation" descr="settings-automation_13294B_1.6.png"/>
          <p:cNvPicPr>
            <a:picLocks noChangeAspect="1"/>
          </p:cNvPicPr>
          <p:nvPr/>
        </p:nvPicPr>
        <p:blipFill>
          <a:blip r:embed="rId5"/>
          <a:stretch>
            <a:fillRect/>
          </a:stretch>
        </p:blipFill>
        <p:spPr>
          <a:xfrm>
            <a:off x="5795854" y="3522135"/>
            <a:ext cx="599985" cy="599985"/>
          </a:xfrm>
          <a:prstGeom prst="rect">
            <a:avLst/>
          </a:prstGeom>
        </p:spPr>
      </p:pic>
      <p:sp>
        <p:nvSpPr>
          <p:cNvPr id="24" name="TextBox 23"/>
          <p:cNvSpPr txBox="1"/>
          <p:nvPr/>
        </p:nvSpPr>
        <p:spPr>
          <a:xfrm>
            <a:off x="5077846"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설비 명령</a:t>
            </a:r>
          </a:p>
          <a:p>
            <a:pPr algn="ctr" eaLnBrk="0">
              <a:lnSpc>
                <a:spcPct val="110000"/>
              </a:lnSpc>
              <a:spcAft>
                <a:spcPts val="400"/>
              </a:spcAft>
            </a:pPr>
            <a:r>
              <a:rPr sz="1300" b="0">
                <a:solidFill>
                  <a:srgbClr val="1F2A3A"/>
                </a:solidFill>
                <a:latin typeface="맑은 고딕"/>
                <a:ea typeface="맑은 고딕"/>
                <a:cs typeface="맑은 고딕"/>
              </a:rPr>
              <a:t>11:14:57</a:t>
            </a:r>
          </a:p>
          <a:p>
            <a:pPr algn="ctr" eaLnBrk="0">
              <a:lnSpc>
                <a:spcPct val="110000"/>
              </a:lnSpc>
              <a:spcAft>
                <a:spcPts val="400"/>
              </a:spcAft>
            </a:pPr>
            <a:r>
              <a:rPr sz="1300" b="0">
                <a:solidFill>
                  <a:srgbClr val="1F2A3A"/>
                </a:solidFill>
                <a:latin typeface="맑은 고딕"/>
                <a:ea typeface="맑은 고딕"/>
                <a:cs typeface="맑은 고딕"/>
              </a:rPr>
              <a:t>팬 속도 100 %</a:t>
            </a:r>
          </a:p>
        </p:txBody>
      </p:sp>
      <p:sp>
        <p:nvSpPr>
          <p:cNvPr id="25" name="Chevron 24"/>
          <p:cNvSpPr/>
          <p:nvPr/>
        </p:nvSpPr>
        <p:spPr>
          <a:xfrm>
            <a:off x="9305300" y="3639248"/>
            <a:ext cx="237744" cy="365760"/>
          </a:xfrm>
          <a:prstGeom prst="chevron">
            <a:avLst/>
          </a:prstGeom>
          <a:solidFill>
            <a:srgbClr val="13294B"/>
          </a:solidFill>
          <a:ln>
            <a:noFill/>
          </a:ln>
        </p:spPr>
        <p:txBody>
          <a:bodyPr rtlCol="0" anchor="ctr"/>
          <a:lstStyle/>
          <a:p>
            <a:pPr algn="ctr"/>
          </a:p>
        </p:txBody>
      </p:sp>
      <p:sp>
        <p:nvSpPr>
          <p:cNvPr id="26" name="Oval 25"/>
          <p:cNvSpPr/>
          <p:nvPr/>
        </p:nvSpPr>
        <p:spPr>
          <a:xfrm>
            <a:off x="773782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7" name="아이콘:zoom-check" descr="zoom-check_13294B_1.6.png"/>
          <p:cNvPicPr>
            <a:picLocks noChangeAspect="1"/>
          </p:cNvPicPr>
          <p:nvPr/>
        </p:nvPicPr>
        <p:blipFill>
          <a:blip r:embed="rId6"/>
          <a:stretch>
            <a:fillRect/>
          </a:stretch>
        </p:blipFill>
        <p:spPr>
          <a:xfrm>
            <a:off x="8014737" y="3522135"/>
            <a:ext cx="599985" cy="599985"/>
          </a:xfrm>
          <a:prstGeom prst="rect">
            <a:avLst/>
          </a:prstGeom>
        </p:spPr>
      </p:pic>
      <p:sp>
        <p:nvSpPr>
          <p:cNvPr id="28" name="TextBox 27"/>
          <p:cNvSpPr txBox="1"/>
          <p:nvPr/>
        </p:nvSpPr>
        <p:spPr>
          <a:xfrm>
            <a:off x="7296729"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재관측</a:t>
            </a:r>
          </a:p>
          <a:p>
            <a:pPr algn="ctr" eaLnBrk="0">
              <a:lnSpc>
                <a:spcPct val="110000"/>
              </a:lnSpc>
              <a:spcAft>
                <a:spcPts val="400"/>
              </a:spcAft>
            </a:pPr>
            <a:r>
              <a:rPr sz="1300" b="0">
                <a:solidFill>
                  <a:srgbClr val="1F2A3A"/>
                </a:solidFill>
                <a:latin typeface="맑은 고딕"/>
                <a:ea typeface="맑은 고딕"/>
                <a:cs typeface="맑은 고딕"/>
              </a:rPr>
              <a:t>유온 51.5 ℃</a:t>
            </a:r>
          </a:p>
          <a:p>
            <a:pPr algn="ctr" eaLnBrk="0">
              <a:lnSpc>
                <a:spcPct val="110000"/>
              </a:lnSpc>
              <a:spcAft>
                <a:spcPts val="400"/>
              </a:spcAft>
            </a:pPr>
            <a:r>
              <a:rPr sz="1300" b="0">
                <a:solidFill>
                  <a:srgbClr val="1F2A3A"/>
                </a:solidFill>
                <a:latin typeface="맑은 고딕"/>
                <a:ea typeface="맑은 고딕"/>
                <a:cs typeface="맑은 고딕"/>
              </a:rPr>
              <a:t>경보 해제</a:t>
            </a:r>
          </a:p>
        </p:txBody>
      </p:sp>
      <p:sp>
        <p:nvSpPr>
          <p:cNvPr id="29" name="Oval 28"/>
          <p:cNvSpPr/>
          <p:nvPr/>
        </p:nvSpPr>
        <p:spPr>
          <a:xfrm>
            <a:off x="995670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0" name="아이콘:clipboard-list" descr="clipboard-list_13294B_1.6.png"/>
          <p:cNvPicPr>
            <a:picLocks noChangeAspect="1"/>
          </p:cNvPicPr>
          <p:nvPr/>
        </p:nvPicPr>
        <p:blipFill>
          <a:blip r:embed="rId7"/>
          <a:stretch>
            <a:fillRect/>
          </a:stretch>
        </p:blipFill>
        <p:spPr>
          <a:xfrm>
            <a:off x="10233620" y="3522135"/>
            <a:ext cx="599985" cy="599985"/>
          </a:xfrm>
          <a:prstGeom prst="rect">
            <a:avLst/>
          </a:prstGeom>
        </p:spPr>
      </p:pic>
      <p:sp>
        <p:nvSpPr>
          <p:cNvPr id="31" name="TextBox 30"/>
          <p:cNvSpPr txBox="1"/>
          <p:nvPr/>
        </p:nvSpPr>
        <p:spPr>
          <a:xfrm>
            <a:off x="9515612" y="4536198"/>
            <a:ext cx="203600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작업지시</a:t>
            </a:r>
          </a:p>
          <a:p>
            <a:pPr algn="ctr" eaLnBrk="0">
              <a:lnSpc>
                <a:spcPct val="110000"/>
              </a:lnSpc>
              <a:spcAft>
                <a:spcPts val="400"/>
              </a:spcAft>
            </a:pPr>
            <a:r>
              <a:rPr sz="1300" b="0">
                <a:solidFill>
                  <a:srgbClr val="1F2A3A"/>
                </a:solidFill>
                <a:latin typeface="맑은 고딕"/>
                <a:ea typeface="맑은 고딕"/>
                <a:cs typeface="맑은 고딕"/>
              </a:rPr>
              <a:t>11:15:58</a:t>
            </a:r>
          </a:p>
          <a:p>
            <a:pPr algn="ctr" eaLnBrk="0">
              <a:lnSpc>
                <a:spcPct val="110000"/>
              </a:lnSpc>
              <a:spcAft>
                <a:spcPts val="400"/>
              </a:spcAft>
            </a:pPr>
            <a:r>
              <a:rPr sz="1300" b="0">
                <a:solidFill>
                  <a:srgbClr val="1F2A3A"/>
                </a:solidFill>
                <a:latin typeface="맑은 고딕"/>
                <a:ea typeface="맑은 고딕"/>
                <a:cs typeface="맑은 고딕"/>
              </a:rPr>
              <a:t>WO-1010-C058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에이전트의 정보원과 도구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추천안에 든 정보가 어디에서 왔고, 에이전트가 어떤 길로 그것을 읽었는지 따라간다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 한 건에 들어간 정보의 출처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 한 건에는 원인의 관계, 지금의 측정값, 납기, 작업 절차처럼 서로 다른 곳에서 읽어 온 정보가 함께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pic>
        <p:nvPicPr>
          <p:cNvPr id="6" name="삽화:정보원.svg" descr="illust_6462673763710102135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318768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온톨로지</a:t>
            </a:r>
          </a:p>
          <a:p>
            <a:pPr algn="ctr" eaLnBrk="0">
              <a:lnSpc>
                <a:spcPct val="110000"/>
              </a:lnSpc>
              <a:spcAft>
                <a:spcPts val="100"/>
              </a:spcAft>
            </a:pPr>
            <a:r>
              <a:rPr sz="1300" b="0">
                <a:solidFill>
                  <a:srgbClr val="556175"/>
                </a:solidFill>
                <a:latin typeface="맑은 고딕"/>
                <a:ea typeface="맑은 고딕"/>
                <a:cs typeface="맑은 고딕"/>
              </a:rPr>
              <a:t>원인 후보 셋</a:t>
            </a:r>
          </a:p>
        </p:txBody>
      </p:sp>
      <p:sp>
        <p:nvSpPr>
          <p:cNvPr id="8" name="TextBox 7"/>
          <p:cNvSpPr txBox="1"/>
          <p:nvPr/>
        </p:nvSpPr>
        <p:spPr>
          <a:xfrm>
            <a:off x="706557" y="5362315"/>
            <a:ext cx="305465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SOP</a:t>
            </a:r>
          </a:p>
          <a:p>
            <a:pPr algn="ctr" eaLnBrk="0">
              <a:lnSpc>
                <a:spcPct val="110000"/>
              </a:lnSpc>
              <a:spcAft>
                <a:spcPts val="100"/>
              </a:spcAft>
            </a:pPr>
            <a:r>
              <a:rPr sz="1300" b="0">
                <a:solidFill>
                  <a:srgbClr val="556175"/>
                </a:solidFill>
                <a:latin typeface="맑은 고딕"/>
                <a:ea typeface="맑은 고딕"/>
                <a:cs typeface="맑은 고딕"/>
              </a:rPr>
              <a:t>팬 최대 운전의 단계와 출처</a:t>
            </a:r>
          </a:p>
        </p:txBody>
      </p:sp>
      <p:sp>
        <p:nvSpPr>
          <p:cNvPr id="9" name="TextBox 8"/>
          <p:cNvSpPr txBox="1"/>
          <p:nvPr/>
        </p:nvSpPr>
        <p:spPr>
          <a:xfrm>
            <a:off x="8648669" y="3187689"/>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a:p>
            <a:pPr algn="ctr" eaLnBrk="0">
              <a:lnSpc>
                <a:spcPct val="110000"/>
              </a:lnSpc>
              <a:spcAft>
                <a:spcPts val="100"/>
              </a:spcAft>
            </a:pPr>
            <a:r>
              <a:rPr sz="1300" b="0">
                <a:solidFill>
                  <a:srgbClr val="556175"/>
                </a:solidFill>
                <a:latin typeface="맑은 고딕"/>
                <a:ea typeface="맑은 고딕"/>
                <a:cs typeface="맑은 고딕"/>
              </a:rPr>
              <a:t>냉각 효율 46.2 %</a:t>
            </a:r>
          </a:p>
        </p:txBody>
      </p:sp>
      <p:sp>
        <p:nvSpPr>
          <p:cNvPr id="10" name="TextBox 9"/>
          <p:cNvSpPr txBox="1"/>
          <p:nvPr/>
        </p:nvSpPr>
        <p:spPr>
          <a:xfrm>
            <a:off x="8648669" y="5362315"/>
            <a:ext cx="261827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a:p>
            <a:pPr algn="ctr" eaLnBrk="0">
              <a:lnSpc>
                <a:spcPct val="110000"/>
              </a:lnSpc>
              <a:spcAft>
                <a:spcPts val="100"/>
              </a:spcAft>
            </a:pPr>
            <a:r>
              <a:rPr sz="1300" b="0">
                <a:solidFill>
                  <a:srgbClr val="556175"/>
                </a:solidFill>
                <a:latin typeface="맑은 고딕"/>
                <a:ea typeface="맑은 고딕"/>
                <a:cs typeface="맑은 고딕"/>
              </a:rPr>
              <a:t>납기까지 5.98시간</a:t>
            </a:r>
          </a:p>
        </p:txBody>
      </p:sp>
      <p:sp>
        <p:nvSpPr>
          <p:cNvPr id="11" name="TextBox 10"/>
          <p:cNvSpPr txBox="1"/>
          <p:nvPr/>
        </p:nvSpPr>
        <p:spPr>
          <a:xfrm>
            <a:off x="4895803" y="4416826"/>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도구를 불러 읽는다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네 정보원이 답하는 물음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네 정보원은 답하는 물음이 서로 달라, 물음에 맞지 않는 곳을 읽으면 답이 없거나 낡은 답을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온톨로지</a:t>
            </a:r>
          </a:p>
          <a:p>
            <a:pPr algn="l" eaLnBrk="0" marL="200025" indent="-200025">
              <a:lnSpc>
                <a:spcPct val="110000"/>
              </a:lnSpc>
              <a:spcAft>
                <a:spcPts val="400"/>
              </a:spcAft>
            </a:pPr>
            <a:r>
              <a:rPr sz="1750" b="0">
                <a:solidFill>
                  <a:srgbClr val="1F2A3A"/>
                </a:solidFill>
                <a:latin typeface="맑은 고딕"/>
                <a:ea typeface="맑은 고딕"/>
                <a:cs typeface="맑은 고딕"/>
              </a:rPr>
              <a:t>• 무엇과 무엇이 어떤 관계인가</a:t>
            </a:r>
          </a:p>
          <a:p>
            <a:pPr algn="l" eaLnBrk="0" marL="200025" indent="-200025">
              <a:lnSpc>
                <a:spcPct val="110000"/>
              </a:lnSpc>
              <a:spcAft>
                <a:spcPts val="400"/>
              </a:spcAft>
            </a:pPr>
            <a:r>
              <a:rPr sz="1750" b="0">
                <a:solidFill>
                  <a:srgbClr val="1F2A3A"/>
                </a:solidFill>
                <a:latin typeface="맑은 고딕"/>
                <a:ea typeface="맑은 고딕"/>
                <a:cs typeface="맑은 고딕"/>
              </a:rPr>
              <a:t>• 설비, 증상, 원인, 조치의 관계를 담는다</a:t>
            </a:r>
          </a:p>
        </p:txBody>
      </p:sp>
      <p:sp>
        <p:nvSpPr>
          <p:cNvPr id="10" name="Rounded Rectangle 9"/>
          <p:cNvSpPr/>
          <p:nvPr/>
        </p:nvSpPr>
        <p:spPr>
          <a:xfrm>
            <a:off x="777240" y="5375275"/>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3390823"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E7F3FD"/>
          </a:solidFill>
          <a:ln>
            <a:noFill/>
          </a:ln>
        </p:spPr>
        <p:txBody>
          <a:bodyPr rtlCol="0" anchor="ctr"/>
          <a:lstStyle/>
          <a:p>
            <a:pPr algn="ctr"/>
          </a:p>
        </p:txBody>
      </p:sp>
      <p:pic>
        <p:nvPicPr>
          <p:cNvPr id="14" name="아이콘:chart-line" descr="chart-line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시계열 DB</a:t>
            </a:r>
          </a:p>
          <a:p>
            <a:pPr algn="l" eaLnBrk="0" marL="200025" indent="-200025">
              <a:lnSpc>
                <a:spcPct val="110000"/>
              </a:lnSpc>
              <a:spcAft>
                <a:spcPts val="400"/>
              </a:spcAft>
            </a:pPr>
            <a:r>
              <a:rPr sz="1750" b="0">
                <a:solidFill>
                  <a:srgbClr val="1F2A3A"/>
                </a:solidFill>
                <a:latin typeface="맑은 고딕"/>
                <a:ea typeface="맑은 고딕"/>
                <a:cs typeface="맑은 고딕"/>
              </a:rPr>
              <a:t>• 그 시각의 값이 얼마였는가</a:t>
            </a:r>
          </a:p>
          <a:p>
            <a:pPr algn="l" eaLnBrk="0" marL="200025" indent="-200025">
              <a:lnSpc>
                <a:spcPct val="110000"/>
              </a:lnSpc>
              <a:spcAft>
                <a:spcPts val="400"/>
              </a:spcAft>
            </a:pPr>
            <a:r>
              <a:rPr sz="1750" b="0">
                <a:solidFill>
                  <a:srgbClr val="1F2A3A"/>
                </a:solidFill>
                <a:latin typeface="맑은 고딕"/>
                <a:ea typeface="맑은 고딕"/>
                <a:cs typeface="맑은 고딕"/>
              </a:rPr>
              <a:t>• 센서의 측정값을 시간 순서로 쌓는다</a:t>
            </a:r>
          </a:p>
        </p:txBody>
      </p:sp>
      <p:sp>
        <p:nvSpPr>
          <p:cNvPr id="16" name="Rounded Rectangle 15"/>
          <p:cNvSpPr/>
          <p:nvPr/>
        </p:nvSpPr>
        <p:spPr>
          <a:xfrm>
            <a:off x="3619423" y="5375275"/>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5275"/>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업무 DB</a:t>
            </a:r>
          </a:p>
          <a:p>
            <a:pPr algn="l" eaLnBrk="0" marL="200025" indent="-200025">
              <a:lnSpc>
                <a:spcPct val="110000"/>
              </a:lnSpc>
              <a:spcAft>
                <a:spcPts val="400"/>
              </a:spcAft>
            </a:pPr>
            <a:r>
              <a:rPr sz="1750" b="0">
                <a:solidFill>
                  <a:srgbClr val="1F2A3A"/>
                </a:solidFill>
                <a:latin typeface="맑은 고딕"/>
                <a:ea typeface="맑은 고딕"/>
                <a:cs typeface="맑은 고딕"/>
              </a:rPr>
              <a:t>• 정비, 재고, 납기는 어떤 상태인가</a:t>
            </a:r>
          </a:p>
          <a:p>
            <a:pPr algn="l" eaLnBrk="0" marL="200025" indent="-200025">
              <a:lnSpc>
                <a:spcPct val="110000"/>
              </a:lnSpc>
              <a:spcAft>
                <a:spcPts val="400"/>
              </a:spcAft>
            </a:pPr>
            <a:r>
              <a:rPr sz="1750" b="0">
                <a:solidFill>
                  <a:srgbClr val="1F2A3A"/>
                </a:solidFill>
                <a:latin typeface="맑은 고딕"/>
                <a:ea typeface="맑은 고딕"/>
                <a:cs typeface="맑은 고딕"/>
              </a:rPr>
              <a:t>• 업무 시스템의 기록을 담는다</a:t>
            </a:r>
          </a:p>
        </p:txBody>
      </p:sp>
      <p:sp>
        <p:nvSpPr>
          <p:cNvPr id="22" name="Rounded Rectangle 21"/>
          <p:cNvSpPr/>
          <p:nvPr/>
        </p:nvSpPr>
        <p:spPr>
          <a:xfrm>
            <a:off x="6461607" y="5375275"/>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 때마다 바뀐다</a:t>
            </a:r>
          </a:p>
        </p:txBody>
      </p:sp>
      <p:sp>
        <p:nvSpPr>
          <p:cNvPr id="24" name="Rounded Rectangle 23"/>
          <p:cNvSpPr/>
          <p:nvPr/>
        </p:nvSpPr>
        <p:spPr>
          <a:xfrm>
            <a:off x="9075191"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SOP</a:t>
            </a:r>
          </a:p>
          <a:p>
            <a:pPr algn="l" eaLnBrk="0" marL="200025" indent="-200025">
              <a:lnSpc>
                <a:spcPct val="110000"/>
              </a:lnSpc>
              <a:spcAft>
                <a:spcPts val="400"/>
              </a:spcAft>
            </a:pPr>
            <a:r>
              <a:rPr sz="1750" b="0">
                <a:solidFill>
                  <a:srgbClr val="1F2A3A"/>
                </a:solidFill>
                <a:latin typeface="맑은 고딕"/>
                <a:ea typeface="맑은 고딕"/>
                <a:cs typeface="맑은 고딕"/>
              </a:rPr>
              <a:t>• 조치를 어떻게 수행하는가</a:t>
            </a:r>
          </a:p>
          <a:p>
            <a:pPr algn="l" eaLnBrk="0" marL="200025" indent="-200025">
              <a:lnSpc>
                <a:spcPct val="110000"/>
              </a:lnSpc>
              <a:spcAft>
                <a:spcPts val="400"/>
              </a:spcAft>
            </a:pPr>
            <a:r>
              <a:rPr sz="1750" b="0">
                <a:solidFill>
                  <a:srgbClr val="1F2A3A"/>
                </a:solidFill>
                <a:latin typeface="맑은 고딕"/>
                <a:ea typeface="맑은 고딕"/>
                <a:cs typeface="맑은 고딕"/>
              </a:rPr>
              <a:t>• 단계, 승인 역할, 근거 절을 정해 둔다</a:t>
            </a:r>
          </a:p>
        </p:txBody>
      </p:sp>
      <p:sp>
        <p:nvSpPr>
          <p:cNvPr id="28" name="Rounded Rectangle 27"/>
          <p:cNvSpPr/>
          <p:nvPr/>
        </p:nvSpPr>
        <p:spPr>
          <a:xfrm>
            <a:off x="9303791" y="5375275"/>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5275"/>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문서 개정 때 바뀐다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그래프에서 읽는 것: 원인 후보와 조치 방법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온톨로지의 관계와 SOP는 같은 지식 그래프에 있어, 고장 유형에서 관계를 따라가면 원인 후보와 조치 방법에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Oval 5"/>
          <p:cNvSpPr/>
          <p:nvPr/>
        </p:nvSpPr>
        <p:spPr>
          <a:xfrm>
            <a:off x="92292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04453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100" b="0">
                <a:solidFill>
                  <a:srgbClr val="556175"/>
                </a:solidFill>
                <a:latin typeface="맑은 고딕"/>
                <a:ea typeface="맑은 고딕"/>
                <a:cs typeface="맑은 고딕"/>
              </a:rPr>
              <a:t>원인</a:t>
            </a:r>
          </a:p>
        </p:txBody>
      </p:sp>
      <p:sp>
        <p:nvSpPr>
          <p:cNvPr id="8" name="Oval 7"/>
          <p:cNvSpPr/>
          <p:nvPr/>
        </p:nvSpPr>
        <p:spPr>
          <a:xfrm>
            <a:off x="429146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41307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구동 불량</a:t>
            </a:r>
          </a:p>
          <a:p>
            <a:pPr algn="ctr" eaLnBrk="0">
              <a:lnSpc>
                <a:spcPct val="110000"/>
              </a:lnSpc>
            </a:pPr>
            <a:r>
              <a:rPr sz="1100" b="0">
                <a:solidFill>
                  <a:srgbClr val="556175"/>
                </a:solidFill>
                <a:latin typeface="맑은 고딕"/>
                <a:ea typeface="맑은 고딕"/>
                <a:cs typeface="맑은 고딕"/>
              </a:rPr>
              <a:t>원인</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주변 온도 상승</a:t>
            </a:r>
          </a:p>
          <a:p>
            <a:pPr algn="ctr" eaLnBrk="0">
              <a:lnSpc>
                <a:spcPct val="110000"/>
              </a:lnSpc>
            </a:pPr>
            <a:r>
              <a:rPr sz="1100" b="0">
                <a:solidFill>
                  <a:srgbClr val="556175"/>
                </a:solidFill>
                <a:latin typeface="맑은 고딕"/>
                <a:ea typeface="맑은 고딕"/>
                <a:cs typeface="맑은 고딕"/>
              </a:rPr>
              <a:t>원인</a:t>
            </a:r>
          </a:p>
        </p:txBody>
      </p:sp>
      <p:sp>
        <p:nvSpPr>
          <p:cNvPr id="12" name="Oval 11"/>
          <p:cNvSpPr/>
          <p:nvPr/>
        </p:nvSpPr>
        <p:spPr>
          <a:xfrm>
            <a:off x="4291462"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4413077"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성능 상실</a:t>
            </a:r>
          </a:p>
          <a:p>
            <a:pPr algn="ctr" eaLnBrk="0">
              <a:lnSpc>
                <a:spcPct val="110000"/>
              </a:lnSpc>
            </a:pPr>
            <a:r>
              <a:rPr sz="1100" b="0">
                <a:solidFill>
                  <a:srgbClr val="556175"/>
                </a:solidFill>
                <a:latin typeface="맑은 고딕"/>
                <a:ea typeface="맑은 고딕"/>
                <a:cs typeface="맑은 고딕"/>
              </a:rPr>
              <a:t>고장 유형</a:t>
            </a:r>
          </a:p>
        </p:txBody>
      </p:sp>
      <p:sp>
        <p:nvSpPr>
          <p:cNvPr id="14" name="Oval 13"/>
          <p:cNvSpPr/>
          <p:nvPr/>
        </p:nvSpPr>
        <p:spPr>
          <a:xfrm>
            <a:off x="9531412"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653028"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조치 방법</a:t>
            </a:r>
          </a:p>
          <a:p>
            <a:pPr algn="ctr" eaLnBrk="0">
              <a:lnSpc>
                <a:spcPct val="110000"/>
              </a:lnSpc>
            </a:pPr>
            <a:r>
              <a:rPr sz="1100" b="0">
                <a:solidFill>
                  <a:srgbClr val="556175"/>
                </a:solidFill>
                <a:latin typeface="맑은 고딕"/>
                <a:ea typeface="맑은 고딕"/>
                <a:cs typeface="맑은 고딕"/>
              </a:rPr>
              <a:t>SOP-COOL-11</a:t>
            </a:r>
          </a:p>
        </p:txBody>
      </p:sp>
      <p:cxnSp>
        <p:nvCxnSpPr>
          <p:cNvPr id="16" name="Connector 15"/>
          <p:cNvCxnSpPr/>
          <p:nvPr/>
        </p:nvCxnSpPr>
        <p:spPr>
          <a:xfrm>
            <a:off x="2475453" y="3103333"/>
            <a:ext cx="1980322" cy="1757835"/>
          </a:xfrm>
          <a:prstGeom prst="line">
            <a:avLst/>
          </a:prstGeom>
          <a:ln w="28575">
            <a:solidFill>
              <a:srgbClr val="13294B"/>
            </a:solidFill>
            <a:tailEnd type="triangle" w="med" len="med"/>
          </a:ln>
        </p:spPr>
      </p:cxnSp>
      <p:sp>
        <p:nvSpPr>
          <p:cNvPr id="17" name="Rounded Rectangle 16"/>
          <p:cNvSpPr/>
          <p:nvPr/>
        </p:nvSpPr>
        <p:spPr>
          <a:xfrm>
            <a:off x="3007903"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3007903" y="3616490"/>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a:off x="5160142" y="3410712"/>
            <a:ext cx="0" cy="1133856"/>
          </a:xfrm>
          <a:prstGeom prst="line">
            <a:avLst/>
          </a:prstGeom>
          <a:ln w="28575">
            <a:solidFill>
              <a:srgbClr val="13294B"/>
            </a:solidFill>
            <a:tailEnd type="triangle" w="med" len="med"/>
          </a:ln>
        </p:spPr>
      </p:cxnSp>
      <p:sp>
        <p:nvSpPr>
          <p:cNvPr id="20" name="Rounded Rectangle 19"/>
          <p:cNvSpPr/>
          <p:nvPr/>
        </p:nvSpPr>
        <p:spPr>
          <a:xfrm>
            <a:off x="5251582" y="3831335"/>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251582" y="3831335"/>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22" name="Connector 21"/>
          <p:cNvCxnSpPr/>
          <p:nvPr/>
        </p:nvCxnSpPr>
        <p:spPr>
          <a:xfrm flipH="1">
            <a:off x="5864508" y="3103333"/>
            <a:ext cx="1980322" cy="1757835"/>
          </a:xfrm>
          <a:prstGeom prst="line">
            <a:avLst/>
          </a:prstGeom>
          <a:ln w="28575">
            <a:solidFill>
              <a:srgbClr val="13294B"/>
            </a:solidFill>
            <a:tailEnd type="triangle" w="med" len="med"/>
          </a:ln>
        </p:spPr>
      </p:cxnSp>
      <p:sp>
        <p:nvSpPr>
          <p:cNvPr id="23" name="Rounded Rectangle 22"/>
          <p:cNvSpPr/>
          <p:nvPr/>
        </p:nvSpPr>
        <p:spPr>
          <a:xfrm>
            <a:off x="6396959"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396959" y="3616490"/>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25" name="Connector 24"/>
          <p:cNvCxnSpPr/>
          <p:nvPr/>
        </p:nvCxnSpPr>
        <p:spPr>
          <a:xfrm>
            <a:off x="6074542" y="5486400"/>
            <a:ext cx="3383718" cy="0"/>
          </a:xfrm>
          <a:prstGeom prst="line">
            <a:avLst/>
          </a:prstGeom>
          <a:ln w="28575">
            <a:solidFill>
              <a:srgbClr val="13294B"/>
            </a:solidFill>
            <a:tailEnd type="triangle" w="med" len="med"/>
          </a:ln>
        </p:spPr>
      </p:cxnSp>
      <p:sp>
        <p:nvSpPr>
          <p:cNvPr id="26" name="Rounded Rectangle 25"/>
          <p:cNvSpPr/>
          <p:nvPr/>
        </p:nvSpPr>
        <p:spPr>
          <a:xfrm>
            <a:off x="6996757" y="51206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996757" y="512064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MITIGATED_BY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시계열 DB에서 읽는 것: 판단하는 순간의 측정값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쓴 냉각 효율 46.2 %는 최근 30초의 평균이며, 그동안 값이 빠짐없이 들어왔는지도 함께 확인되었다.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증거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방법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CE</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a:t>
            </a:r>
          </a:p>
          <a:p>
            <a:pPr algn="l" eaLnBrk="0">
              <a:lnSpc>
                <a:spcPct val="110000"/>
              </a:lnSpc>
              <a:spcAft>
                <a:spcPts val="200"/>
              </a:spcAft>
            </a:pP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46.2</a:t>
            </a:r>
          </a:p>
          <a:p>
            <a:pPr algn="l" eaLnBrk="0">
              <a:lnSpc>
                <a:spcPct val="110000"/>
              </a:lnSpc>
              <a:spcAft>
                <a:spcPts val="200"/>
              </a:spcAft>
            </a:pP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&lt; 70</a:t>
            </a:r>
          </a:p>
          <a:p>
            <a:pPr algn="l" eaLnBrk="0">
              <a:lnSpc>
                <a:spcPct val="110000"/>
              </a:lnSpc>
              <a:spcAft>
                <a:spcPts val="200"/>
              </a:spcAft>
            </a:pPr>
            <a:r>
              <a:rPr sz="1300" b="0">
                <a:solidFill>
                  <a:srgbClr val="E8EEF6"/>
                </a:solidFill>
                <a:latin typeface="맑은 고딕"/>
                <a:ea typeface="맑은 고딕"/>
                <a:cs typeface="맑은 고딕"/>
              </a:rPr>
              <a:t>판정</a:t>
            </a:r>
            <a:r>
              <a:rPr sz="1300" b="0">
                <a:solidFill>
                  <a:srgbClr val="E8EEF6"/>
                </a:solidFill>
                <a:latin typeface="Consolas"/>
                <a:ea typeface="맑은 고딕"/>
                <a:cs typeface="맑은 고딕"/>
              </a:rPr>
              <a:t>        PASS</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관측이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충분했는가</a:t>
            </a:r>
          </a:p>
          <a:p>
            <a:pPr algn="l" eaLnBrk="0">
              <a:lnSpc>
                <a:spcPct val="110000"/>
              </a:lnSpc>
              <a:spcAft>
                <a:spcPts val="200"/>
              </a:spcAft>
            </a:pPr>
            <a:r>
              <a:rPr sz="1300" b="0">
                <a:solidFill>
                  <a:srgbClr val="E8EEF6"/>
                </a:solidFill>
                <a:latin typeface="Consolas"/>
                <a:ea typeface="맑은 고딕"/>
                <a:cs typeface="맑은 고딕"/>
              </a:rPr>
              <a:t>coverage: {"samples": 30,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읽은 방법</a:t>
            </a:r>
          </a:p>
          <a:p>
            <a:pPr algn="l" eaLnBrk="0">
              <a:lnSpc>
                <a:spcPct val="110000"/>
              </a:lnSpc>
              <a:spcAft>
                <a:spcPts val="400"/>
              </a:spcAft>
            </a:pPr>
            <a:r>
              <a:rPr sz="1400" b="0">
                <a:solidFill>
                  <a:srgbClr val="1F2A3A"/>
                </a:solidFill>
                <a:latin typeface="맑은 고딕"/>
                <a:ea typeface="맑은 고딕"/>
                <a:cs typeface="맑은 고딕"/>
              </a:rPr>
              <a:t>지식 그래프의 증거에 적힌 방법 그대로이다. 에이전트가 짓지 않는다.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읽은 값과 기준</a:t>
            </a:r>
          </a:p>
          <a:p>
            <a:pPr algn="l" eaLnBrk="0">
              <a:lnSpc>
                <a:spcPct val="110000"/>
              </a:lnSpc>
              <a:spcAft>
                <a:spcPts val="400"/>
              </a:spcAft>
            </a:pPr>
            <a:r>
              <a:rPr sz="1400" b="0">
                <a:solidFill>
                  <a:srgbClr val="1F2A3A"/>
                </a:solidFill>
                <a:latin typeface="맑은 고딕"/>
                <a:ea typeface="맑은 고딕"/>
                <a:cs typeface="맑은 고딕"/>
              </a:rPr>
              <a:t>46.2는 시계열 DB에서, 70은 지식 그래프에서 왔다.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coverage</a:t>
            </a:r>
          </a:p>
          <a:p>
            <a:pPr algn="l" eaLnBrk="0">
              <a:lnSpc>
                <a:spcPct val="110000"/>
              </a:lnSpc>
              <a:spcAft>
                <a:spcPts val="400"/>
              </a:spcAft>
            </a:pPr>
            <a:r>
              <a:rPr sz="1400" b="0">
                <a:solidFill>
                  <a:srgbClr val="1F2A3A"/>
                </a:solidFill>
                <a:latin typeface="맑은 고딕"/>
                <a:ea typeface="맑은 고딕"/>
                <a:cs typeface="맑은 고딕"/>
              </a:rPr>
              <a:t>30초 동안 표본이 30개 있었다. 값이 빈 구간이 길면 판정을 미룬다.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업무 DB에서 읽는 것: 설비 밖의 사정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납기와 남은 수량은 설비의 센서로는 알 수 없고 업무 DB에 있으며, 조치가 생산에 주는 영향을 견주는 재료가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물음</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p>
          <a:p>
            <a:pPr algn="l" eaLnBrk="0">
              <a:lnSpc>
                <a:spcPct val="110000"/>
              </a:lnSpc>
              <a:spcAft>
                <a:spcPts val="200"/>
              </a:spcAft>
            </a:pPr>
            <a:r>
              <a:rPr sz="1300" b="0">
                <a:solidFill>
                  <a:srgbClr val="E8EEF6"/>
                </a:solidFill>
                <a:latin typeface="Consolas"/>
                <a:ea typeface="맑은 고딕"/>
                <a:cs typeface="맑은 고딕"/>
              </a:rPr>
              <a:t>{"result": "ok",</a:t>
            </a:r>
          </a:p>
          <a:p>
            <a:pPr algn="l" eaLnBrk="0">
              <a:lnSpc>
                <a:spcPct val="110000"/>
              </a:lnSpc>
              <a:spcAft>
                <a:spcPts val="200"/>
              </a:spcAft>
            </a:pPr>
            <a:r>
              <a:rPr sz="1300" b="0">
                <a:solidFill>
                  <a:srgbClr val="E8EEF6"/>
                </a:solidFill>
                <a:latin typeface="Consolas"/>
                <a:ea typeface="맑은 고딕"/>
                <a:cs typeface="맑은 고딕"/>
              </a:rPr>
              <a:t> "document": {</a:t>
            </a:r>
          </a:p>
          <a:p>
            <a:pPr algn="l" eaLnBrk="0">
              <a:lnSpc>
                <a:spcPct val="110000"/>
              </a:lnSpc>
              <a:spcAft>
                <a:spcPts val="200"/>
              </a:spcAft>
            </a:pPr>
            <a:r>
              <a:rPr sz="1300" b="0">
                <a:solidFill>
                  <a:srgbClr val="E8EEF6"/>
                </a:solidFill>
                <a:latin typeface="Consolas"/>
                <a:ea typeface="맑은 고딕"/>
                <a:cs typeface="맑은 고딕"/>
              </a:rPr>
              <a:t>  "system": "MES",</a:t>
            </a:r>
          </a:p>
          <a:p>
            <a:pPr algn="l" eaLnBrk="0">
              <a:lnSpc>
                <a:spcPct val="110000"/>
              </a:lnSpc>
              <a:spcAft>
                <a:spcPts val="200"/>
              </a:spcAft>
            </a:pPr>
            <a:r>
              <a:rPr sz="1300" b="0">
                <a:solidFill>
                  <a:srgbClr val="E8EEF6"/>
                </a:solidFill>
                <a:latin typeface="Consolas"/>
                <a:ea typeface="맑은 고딕"/>
                <a:cs typeface="맑은 고딕"/>
              </a:rPr>
              <a:t>  "facts": {</a:t>
            </a:r>
          </a:p>
          <a:p>
            <a:pPr algn="l" eaLnBrk="0">
              <a:lnSpc>
                <a:spcPct val="110000"/>
              </a:lnSpc>
              <a:spcAft>
                <a:spcPts val="200"/>
              </a:spcAft>
            </a:pPr>
            <a:r>
              <a:rPr sz="1300" b="0">
                <a:solidFill>
                  <a:srgbClr val="E8EEF6"/>
                </a:solidFill>
                <a:latin typeface="Consolas"/>
                <a:ea typeface="맑은 고딕"/>
                <a:cs typeface="맑은 고딕"/>
              </a:rPr>
              <a:t>    "order_id": "MO-0930-0412",</a:t>
            </a:r>
          </a:p>
          <a:p>
            <a:pPr algn="l" eaLnBrk="0">
              <a:lnSpc>
                <a:spcPct val="110000"/>
              </a:lnSpc>
              <a:spcAft>
                <a:spcPts val="200"/>
              </a:spcAft>
            </a:pPr>
            <a:r>
              <a:rPr sz="1300" b="0">
                <a:solidFill>
                  <a:srgbClr val="E8EEF6"/>
                </a:solidFill>
                <a:latin typeface="Consolas"/>
                <a:ea typeface="맑은 고딕"/>
                <a:cs typeface="맑은 고딕"/>
              </a:rPr>
              <a:t>    "due_in_h": 5.98,</a:t>
            </a:r>
          </a:p>
          <a:p>
            <a:pPr algn="l" eaLnBrk="0">
              <a:lnSpc>
                <a:spcPct val="110000"/>
              </a:lnSpc>
              <a:spcAft>
                <a:spcPts val="200"/>
              </a:spcAft>
            </a:pPr>
            <a:r>
              <a:rPr sz="1300" b="0">
                <a:solidFill>
                  <a:srgbClr val="E8EEF6"/>
                </a:solidFill>
                <a:latin typeface="Consolas"/>
                <a:ea typeface="맑은 고딕"/>
                <a:cs typeface="맑은 고딕"/>
              </a:rPr>
              <a:t>    "remaining_qty": 1500,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system</a:t>
            </a:r>
          </a:p>
          <a:p>
            <a:pPr algn="l" eaLnBrk="0">
              <a:lnSpc>
                <a:spcPct val="110000"/>
              </a:lnSpc>
              <a:spcAft>
                <a:spcPts val="400"/>
              </a:spcAft>
            </a:pPr>
            <a:r>
              <a:rPr sz="1400" b="0">
                <a:solidFill>
                  <a:srgbClr val="1F2A3A"/>
                </a:solidFill>
                <a:latin typeface="맑은 고딕"/>
                <a:ea typeface="맑은 고딕"/>
                <a:cs typeface="맑은 고딕"/>
              </a:rPr>
              <a:t>값이 온 업무 시스템이다. 생산 일정을 관리하는 MES이다.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facts</a:t>
            </a:r>
          </a:p>
          <a:p>
            <a:pPr algn="l" eaLnBrk="0">
              <a:lnSpc>
                <a:spcPct val="110000"/>
              </a:lnSpc>
              <a:spcAft>
                <a:spcPts val="400"/>
              </a:spcAft>
            </a:pPr>
            <a:r>
              <a:rPr sz="1400" b="0">
                <a:solidFill>
                  <a:srgbClr val="1F2A3A"/>
                </a:solidFill>
                <a:latin typeface="맑은 고딕"/>
                <a:ea typeface="맑은 고딕"/>
                <a:cs typeface="맑은 고딕"/>
              </a:rPr>
              <a:t>판단에 쓰는 값이다. 납기까지 5.98시간, 남은 수량 1,500개이다.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품질 쪽 조회</a:t>
            </a:r>
          </a:p>
          <a:p>
            <a:pPr algn="l" eaLnBrk="0">
              <a:lnSpc>
                <a:spcPct val="110000"/>
              </a:lnSpc>
              <a:spcAft>
                <a:spcPts val="400"/>
              </a:spcAft>
            </a:pPr>
            <a:r>
              <a:rPr sz="1400" b="0">
                <a:solidFill>
                  <a:srgbClr val="1F2A3A"/>
                </a:solidFill>
                <a:latin typeface="맑은 고딕"/>
                <a:ea typeface="맑은 고딕"/>
                <a:cs typeface="맑은 고딕"/>
              </a:rPr>
              <a:t>같은 방식으로 출하 대기 로트 L-0930-A17의 800개를 읽었다.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에이전트는 데이터베이스에 직접 접속하지 않는다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에이전트와 데이터베이스 사이에는 읽기 전용 도구가 놓이며, 조회문이 잘못되어도 데이터는 바뀌지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pic>
        <p:nvPicPr>
          <p:cNvPr id="6" name="삽화:도구경유.svg" descr="illust_6779119332253282021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842296"/>
            <a:ext cx="240008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a:p>
            <a:pPr algn="ctr" eaLnBrk="0">
              <a:lnSpc>
                <a:spcPct val="110000"/>
              </a:lnSpc>
              <a:spcAft>
                <a:spcPts val="100"/>
              </a:spcAft>
            </a:pPr>
            <a:r>
              <a:rPr sz="1300" b="0">
                <a:solidFill>
                  <a:srgbClr val="556175"/>
                </a:solidFill>
                <a:latin typeface="맑은 고딕"/>
                <a:ea typeface="맑은 고딕"/>
                <a:cs typeface="맑은 고딕"/>
              </a:rPr>
              <a:t>도구의 이름과</a:t>
            </a:r>
          </a:p>
          <a:p>
            <a:pPr algn="ctr" eaLnBrk="0">
              <a:lnSpc>
                <a:spcPct val="110000"/>
              </a:lnSpc>
              <a:spcAft>
                <a:spcPts val="100"/>
              </a:spcAft>
            </a:pPr>
            <a:r>
              <a:rPr sz="1300" b="0">
                <a:solidFill>
                  <a:srgbClr val="556175"/>
                </a:solidFill>
                <a:latin typeface="맑은 고딕"/>
                <a:ea typeface="맑은 고딕"/>
                <a:cs typeface="맑은 고딕"/>
              </a:rPr>
              <a:t>입력을 적는다</a:t>
            </a:r>
          </a:p>
        </p:txBody>
      </p:sp>
      <p:sp>
        <p:nvSpPr>
          <p:cNvPr id="8" name="TextBox 7"/>
          <p:cNvSpPr txBox="1"/>
          <p:nvPr/>
        </p:nvSpPr>
        <p:spPr>
          <a:xfrm>
            <a:off x="4273961" y="5031394"/>
            <a:ext cx="327284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도구</a:t>
            </a:r>
          </a:p>
          <a:p>
            <a:pPr algn="ctr" eaLnBrk="0">
              <a:lnSpc>
                <a:spcPct val="110000"/>
              </a:lnSpc>
              <a:spcAft>
                <a:spcPts val="100"/>
              </a:spcAft>
            </a:pPr>
            <a:r>
              <a:rPr sz="1300" b="0">
                <a:solidFill>
                  <a:srgbClr val="556175"/>
                </a:solidFill>
                <a:latin typeface="맑은 고딕"/>
                <a:ea typeface="맑은 고딕"/>
                <a:cs typeface="맑은 고딕"/>
              </a:rPr>
              <a:t>읽기 전용이다</a:t>
            </a:r>
          </a:p>
          <a:p>
            <a:pPr algn="ctr" eaLnBrk="0">
              <a:lnSpc>
                <a:spcPct val="110000"/>
              </a:lnSpc>
              <a:spcAft>
                <a:spcPts val="100"/>
              </a:spcAft>
            </a:pPr>
            <a:r>
              <a:rPr sz="1300" b="0">
                <a:solidFill>
                  <a:srgbClr val="556175"/>
                </a:solidFill>
                <a:latin typeface="맑은 고딕"/>
                <a:ea typeface="맑은 고딕"/>
                <a:cs typeface="맑은 고딕"/>
              </a:rPr>
              <a:t>한 번에 200행까지, 5초까지</a:t>
            </a:r>
          </a:p>
        </p:txBody>
      </p:sp>
      <p:sp>
        <p:nvSpPr>
          <p:cNvPr id="9" name="TextBox 8"/>
          <p:cNvSpPr txBox="1"/>
          <p:nvPr/>
        </p:nvSpPr>
        <p:spPr>
          <a:xfrm>
            <a:off x="8768673" y="3849532"/>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시계열 DB</a:t>
            </a:r>
          </a:p>
        </p:txBody>
      </p:sp>
      <p:sp>
        <p:nvSpPr>
          <p:cNvPr id="10" name="TextBox 9"/>
          <p:cNvSpPr txBox="1"/>
          <p:nvPr/>
        </p:nvSpPr>
        <p:spPr>
          <a:xfrm>
            <a:off x="8768673" y="5740511"/>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업무 DB</a:t>
            </a:r>
          </a:p>
        </p:txBody>
      </p:sp>
      <p:sp>
        <p:nvSpPr>
          <p:cNvPr id="11" name="TextBox 10"/>
          <p:cNvSpPr txBox="1"/>
          <p:nvPr/>
        </p:nvSpPr>
        <p:spPr>
          <a:xfrm>
            <a:off x="3412111"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물음</a:t>
            </a:r>
          </a:p>
        </p:txBody>
      </p:sp>
      <p:sp>
        <p:nvSpPr>
          <p:cNvPr id="12" name="TextBox 11"/>
          <p:cNvSpPr txBox="1"/>
          <p:nvPr/>
        </p:nvSpPr>
        <p:spPr>
          <a:xfrm>
            <a:off x="3412111" y="4558649"/>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받음</a:t>
            </a:r>
          </a:p>
        </p:txBody>
      </p:sp>
      <p:sp>
        <p:nvSpPr>
          <p:cNvPr id="13" name="TextBox 12"/>
          <p:cNvSpPr txBox="1"/>
          <p:nvPr/>
        </p:nvSpPr>
        <p:spPr>
          <a:xfrm>
            <a:off x="4273961" y="2336749"/>
            <a:ext cx="327284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직접 접속하는 길은 없다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지식과 현재값의 구분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기준을 잰 값처럼, 지난 값을 지금의 값처럼 쓰는 혼동을 규칙과 신선도로 막는다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지식과 현재값을 섞는 두 가지 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기준을 지금의 값처럼 말하는 것과 읽어 둔 값을 계속 쓰는 것, 두 혼동 모두 그럴듯한 문장으로 나타난다.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568321"/>
            <a:ext cx="5181447" cy="284607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69489"/>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923108"/>
            <a:ext cx="424281" cy="424281"/>
          </a:xfrm>
          <a:prstGeom prst="rect">
            <a:avLst/>
          </a:prstGeom>
        </p:spPr>
      </p:pic>
      <p:sp>
        <p:nvSpPr>
          <p:cNvPr id="9" name="TextBox 8"/>
          <p:cNvSpPr txBox="1"/>
          <p:nvPr/>
        </p:nvSpPr>
        <p:spPr>
          <a:xfrm>
            <a:off x="1691640"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기준을 값처럼 쓴다</a:t>
            </a:r>
          </a:p>
        </p:txBody>
      </p:sp>
      <p:sp>
        <p:nvSpPr>
          <p:cNvPr id="10" name="TextBox 9"/>
          <p:cNvSpPr txBox="1"/>
          <p:nvPr/>
        </p:nvSpPr>
        <p:spPr>
          <a:xfrm>
            <a:off x="822959"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「냉각 효율은 70 %이다」</a:t>
            </a:r>
          </a:p>
          <a:p>
            <a:pPr algn="l" eaLnBrk="0" marL="171450" indent="-171450">
              <a:lnSpc>
                <a:spcPct val="110000"/>
              </a:lnSpc>
              <a:spcAft>
                <a:spcPts val="600"/>
              </a:spcAft>
            </a:pPr>
            <a:r>
              <a:rPr sz="1500" b="0">
                <a:solidFill>
                  <a:srgbClr val="1F2A3A"/>
                </a:solidFill>
                <a:latin typeface="맑은 고딕"/>
                <a:ea typeface="맑은 고딕"/>
                <a:cs typeface="맑은 고딕"/>
              </a:rPr>
              <a:t>• 70은 매뉴얼의 판별 기준이며 잰 값이 아니다</a:t>
            </a:r>
          </a:p>
          <a:p>
            <a:pPr algn="l" eaLnBrk="0" marL="171450" indent="-171450">
              <a:lnSpc>
                <a:spcPct val="110000"/>
              </a:lnSpc>
              <a:spcAft>
                <a:spcPts val="600"/>
              </a:spcAft>
            </a:pPr>
            <a:r>
              <a:rPr sz="1500" b="0">
                <a:solidFill>
                  <a:srgbClr val="1F2A3A"/>
                </a:solidFill>
                <a:latin typeface="맑은 고딕"/>
                <a:ea typeface="맑은 고딕"/>
                <a:cs typeface="맑은 고딕"/>
              </a:rPr>
              <a:t>• 잰 값은 46.2 %였다</a:t>
            </a:r>
          </a:p>
        </p:txBody>
      </p:sp>
      <p:sp>
        <p:nvSpPr>
          <p:cNvPr id="11" name="Rounded Rectangle 10"/>
          <p:cNvSpPr/>
          <p:nvPr/>
        </p:nvSpPr>
        <p:spPr>
          <a:xfrm>
            <a:off x="868680" y="4957191"/>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57191"/>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지식을 값으로</a:t>
            </a:r>
          </a:p>
        </p:txBody>
      </p:sp>
      <p:sp>
        <p:nvSpPr>
          <p:cNvPr id="13" name="Rounded Rectangle 12"/>
          <p:cNvSpPr/>
          <p:nvPr/>
        </p:nvSpPr>
        <p:spPr>
          <a:xfrm>
            <a:off x="6461607" y="2568321"/>
            <a:ext cx="5181447" cy="284607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69489"/>
            <a:ext cx="731520" cy="731520"/>
          </a:xfrm>
          <a:prstGeom prst="ellipse">
            <a:avLst/>
          </a:prstGeom>
          <a:solidFill>
            <a:srgbClr val="5CB8F2"/>
          </a:solidFill>
          <a:ln>
            <a:noFill/>
          </a:ln>
        </p:spPr>
        <p:txBody>
          <a:bodyPr rtlCol="0" anchor="ctr"/>
          <a:lstStyle/>
          <a:p>
            <a:pPr algn="ctr"/>
          </a:p>
        </p:txBody>
      </p:sp>
      <p:pic>
        <p:nvPicPr>
          <p:cNvPr id="15" name="아이콘:history" descr="history_13294B_1.6.png"/>
          <p:cNvPicPr>
            <a:picLocks noChangeAspect="1"/>
          </p:cNvPicPr>
          <p:nvPr/>
        </p:nvPicPr>
        <p:blipFill>
          <a:blip r:embed="rId4"/>
          <a:stretch>
            <a:fillRect/>
          </a:stretch>
        </p:blipFill>
        <p:spPr>
          <a:xfrm>
            <a:off x="6889546" y="2923108"/>
            <a:ext cx="424281" cy="424281"/>
          </a:xfrm>
          <a:prstGeom prst="rect">
            <a:avLst/>
          </a:prstGeom>
        </p:spPr>
      </p:pic>
      <p:sp>
        <p:nvSpPr>
          <p:cNvPr id="16" name="TextBox 15"/>
          <p:cNvSpPr txBox="1"/>
          <p:nvPr/>
        </p:nvSpPr>
        <p:spPr>
          <a:xfrm>
            <a:off x="7604607"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묵은 값을 지금의 값처럼 쓴다</a:t>
            </a:r>
          </a:p>
        </p:txBody>
      </p:sp>
      <p:sp>
        <p:nvSpPr>
          <p:cNvPr id="17" name="TextBox 16"/>
          <p:cNvSpPr txBox="1"/>
          <p:nvPr/>
        </p:nvSpPr>
        <p:spPr>
          <a:xfrm>
            <a:off x="6735927" y="3619881"/>
            <a:ext cx="4632807" cy="1245870"/>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「유온은 55.71 ℃이므로 한계까지 여유가 있다」</a:t>
            </a:r>
          </a:p>
          <a:p>
            <a:pPr algn="l" eaLnBrk="0" marL="165735" indent="-165735">
              <a:lnSpc>
                <a:spcPct val="110000"/>
              </a:lnSpc>
              <a:spcAft>
                <a:spcPts val="600"/>
              </a:spcAft>
            </a:pPr>
            <a:r>
              <a:rPr sz="1450" b="0">
                <a:solidFill>
                  <a:srgbClr val="1F2A3A"/>
                </a:solidFill>
                <a:latin typeface="맑은 고딕"/>
                <a:ea typeface="맑은 고딕"/>
                <a:cs typeface="맑은 고딕"/>
              </a:rPr>
              <a:t>• 55.71은 경보 순간에 읽은 값이다</a:t>
            </a:r>
          </a:p>
          <a:p>
            <a:pPr algn="l" eaLnBrk="0" marL="165735" indent="-165735">
              <a:lnSpc>
                <a:spcPct val="110000"/>
              </a:lnSpc>
              <a:spcAft>
                <a:spcPts val="600"/>
              </a:spcAft>
            </a:pPr>
            <a:r>
              <a:rPr sz="1450" b="0">
                <a:solidFill>
                  <a:srgbClr val="1F2A3A"/>
                </a:solidFill>
                <a:latin typeface="맑은 고딕"/>
                <a:ea typeface="맑은 고딕"/>
                <a:cs typeface="맑은 고딕"/>
              </a:rPr>
              <a:t>• 승인 순간의 값은 61.8 ℃였다</a:t>
            </a:r>
          </a:p>
        </p:txBody>
      </p:sp>
      <p:sp>
        <p:nvSpPr>
          <p:cNvPr id="18" name="Rounded Rectangle 17"/>
          <p:cNvSpPr/>
          <p:nvPr/>
        </p:nvSpPr>
        <p:spPr>
          <a:xfrm>
            <a:off x="6781647" y="4957191"/>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57191"/>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지난 값을 지금으로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혼동을 막는 작업 규칙: 추측 대신 도구로 확인한다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작업 규칙은 지식, 지금의 값, 규칙 판정을 기억으로 채우지 말고 각각 정해진 도구로 확인하라고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지식</a:t>
            </a:r>
          </a:p>
          <a:p>
            <a:pPr algn="l" eaLnBrk="0" marL="205740" indent="-205740">
              <a:lnSpc>
                <a:spcPct val="110000"/>
              </a:lnSpc>
              <a:spcAft>
                <a:spcPts val="400"/>
              </a:spcAft>
            </a:pPr>
            <a:r>
              <a:rPr sz="1800" b="0">
                <a:solidFill>
                  <a:srgbClr val="1F2A3A"/>
                </a:solidFill>
                <a:latin typeface="맑은 고딕"/>
                <a:ea typeface="맑은 고딕"/>
                <a:cs typeface="맑은 고딕"/>
              </a:rPr>
              <a:t>• 원인 후보, 증거 기준, 조치 방법</a:t>
            </a:r>
          </a:p>
          <a:p>
            <a:pPr algn="l" eaLnBrk="0" marL="205740" indent="-205740">
              <a:lnSpc>
                <a:spcPct val="110000"/>
              </a:lnSpc>
              <a:spcAft>
                <a:spcPts val="400"/>
              </a:spcAft>
            </a:pPr>
            <a:r>
              <a:rPr sz="1800" b="0">
                <a:solidFill>
                  <a:srgbClr val="1F2A3A"/>
                </a:solidFill>
                <a:latin typeface="맑은 고딕"/>
                <a:ea typeface="맑은 고딕"/>
                <a:cs typeface="맑은 고딕"/>
              </a:rPr>
              <a:t>• 지식 그래프를 조회해 얻는다</a:t>
            </a:r>
          </a:p>
        </p:txBody>
      </p:sp>
      <p:sp>
        <p:nvSpPr>
          <p:cNvPr id="10" name="Rounded Rectangle 9"/>
          <p:cNvSpPr/>
          <p:nvPr/>
        </p:nvSpPr>
        <p:spPr>
          <a:xfrm>
            <a:off x="777240" y="539851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지식 그래프</a:t>
            </a:r>
          </a:p>
        </p:txBody>
      </p:sp>
      <p:sp>
        <p:nvSpPr>
          <p:cNvPr id="12" name="Rounded Rectangle 11"/>
          <p:cNvSpPr/>
          <p:nvPr/>
        </p:nvSpPr>
        <p:spPr>
          <a:xfrm>
            <a:off x="4338218"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5CB8F2"/>
          </a:solidFill>
          <a:ln>
            <a:noFill/>
          </a:ln>
        </p:spPr>
        <p:txBody>
          <a:bodyPr rtlCol="0" anchor="ctr"/>
          <a:lstStyle/>
          <a:p>
            <a:pPr algn="ctr"/>
          </a:p>
        </p:txBody>
      </p:sp>
      <p:pic>
        <p:nvPicPr>
          <p:cNvPr id="14" name="아이콘:activity" descr="activity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지금의 값</a:t>
            </a:r>
          </a:p>
          <a:p>
            <a:pPr algn="l" eaLnBrk="0" marL="205740" indent="-205740">
              <a:lnSpc>
                <a:spcPct val="110000"/>
              </a:lnSpc>
              <a:spcAft>
                <a:spcPts val="400"/>
              </a:spcAft>
            </a:pPr>
            <a:r>
              <a:rPr sz="1800" b="0">
                <a:solidFill>
                  <a:srgbClr val="1F2A3A"/>
                </a:solidFill>
                <a:latin typeface="맑은 고딕"/>
                <a:ea typeface="맑은 고딕"/>
                <a:cs typeface="맑은 고딕"/>
              </a:rPr>
              <a:t>• 센서 값, 납기, 재고</a:t>
            </a:r>
          </a:p>
          <a:p>
            <a:pPr algn="l" eaLnBrk="0" marL="205740" indent="-205740">
              <a:lnSpc>
                <a:spcPct val="110000"/>
              </a:lnSpc>
              <a:spcAft>
                <a:spcPts val="400"/>
              </a:spcAft>
            </a:pPr>
            <a:r>
              <a:rPr sz="1800" b="0">
                <a:solidFill>
                  <a:srgbClr val="1F2A3A"/>
                </a:solidFill>
                <a:latin typeface="맑은 고딕"/>
                <a:ea typeface="맑은 고딕"/>
                <a:cs typeface="맑은 고딕"/>
              </a:rPr>
              <a:t>• 시계열 DB와 업무 DB에서 그때 읽는다</a:t>
            </a:r>
          </a:p>
        </p:txBody>
      </p:sp>
      <p:sp>
        <p:nvSpPr>
          <p:cNvPr id="16" name="Rounded Rectangle 15"/>
          <p:cNvSpPr/>
          <p:nvPr/>
        </p:nvSpPr>
        <p:spPr>
          <a:xfrm>
            <a:off x="4566818" y="5398516"/>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원천</a:t>
            </a:r>
          </a:p>
        </p:txBody>
      </p:sp>
      <p:sp>
        <p:nvSpPr>
          <p:cNvPr id="18" name="Rounded Rectangle 17"/>
          <p:cNvSpPr/>
          <p:nvPr/>
        </p:nvSpPr>
        <p:spPr>
          <a:xfrm>
            <a:off x="8127796"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규칙 판정</a:t>
            </a:r>
          </a:p>
          <a:p>
            <a:pPr algn="l" eaLnBrk="0" marL="205740" indent="-205740">
              <a:lnSpc>
                <a:spcPct val="110000"/>
              </a:lnSpc>
              <a:spcAft>
                <a:spcPts val="400"/>
              </a:spcAft>
            </a:pPr>
            <a:r>
              <a:rPr sz="1800" b="0">
                <a:solidFill>
                  <a:srgbClr val="1F2A3A"/>
                </a:solidFill>
                <a:latin typeface="맑은 고딕"/>
                <a:ea typeface="맑은 고딕"/>
                <a:cs typeface="맑은 고딕"/>
              </a:rPr>
              <a:t>• 제외, 감점, 경고의 판정</a:t>
            </a:r>
          </a:p>
          <a:p>
            <a:pPr algn="l" eaLnBrk="0" marL="205740" indent="-205740">
              <a:lnSpc>
                <a:spcPct val="110000"/>
              </a:lnSpc>
              <a:spcAft>
                <a:spcPts val="400"/>
              </a:spcAft>
            </a:pPr>
            <a:r>
              <a:rPr sz="1800" b="0">
                <a:solidFill>
                  <a:srgbClr val="1F2A3A"/>
                </a:solidFill>
                <a:latin typeface="맑은 고딕"/>
                <a:ea typeface="맑은 고딕"/>
                <a:cs typeface="맑은 고딕"/>
              </a:rPr>
              <a:t>• 모델이 해석하지 않고 판단 도구의 결과를 쓴다</a:t>
            </a:r>
          </a:p>
          <a:p>
            <a:pPr algn="l" eaLnBrk="0" marL="205740" indent="-205740">
              <a:lnSpc>
                <a:spcPct val="110000"/>
              </a:lnSpc>
              <a:spcAft>
                <a:spcPts val="400"/>
              </a:spcAft>
            </a:pPr>
            <a:r>
              <a:rPr sz="1800" b="0">
                <a:solidFill>
                  <a:srgbClr val="1F2A3A"/>
                </a:solidFill>
                <a:latin typeface="맑은 고딕"/>
                <a:ea typeface="맑은 고딕"/>
                <a:cs typeface="맑은 고딕"/>
              </a:rPr>
              <a:t>• 같은 입력이면 같은 결과가 나온다</a:t>
            </a:r>
          </a:p>
        </p:txBody>
      </p:sp>
      <p:sp>
        <p:nvSpPr>
          <p:cNvPr id="22" name="Rounded Rectangle 21"/>
          <p:cNvSpPr/>
          <p:nvPr/>
        </p:nvSpPr>
        <p:spPr>
          <a:xfrm>
            <a:off x="8356396" y="539851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 도구</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신선도: 읽은 값이 얼마나 묵었는가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최신 유온은 0.6초 전에 읽은 값이었으며, 60초보다 오래된 값밖에 없었다면 판단은 보류되었을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신선도.svg" descr="illust_4044575542944881458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681397" y="4889571"/>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지금</a:t>
            </a:r>
          </a:p>
          <a:p>
            <a:pPr algn="ctr" eaLnBrk="0">
              <a:lnSpc>
                <a:spcPct val="110000"/>
              </a:lnSpc>
              <a:spcAft>
                <a:spcPts val="100"/>
              </a:spcAft>
            </a:pPr>
            <a:r>
              <a:rPr sz="1300" b="0">
                <a:solidFill>
                  <a:srgbClr val="556175"/>
                </a:solidFill>
                <a:latin typeface="맑은 고딕"/>
                <a:ea typeface="맑은 고딕"/>
                <a:cs typeface="맑은 고딕"/>
              </a:rPr>
              <a:t>판단하는 시각</a:t>
            </a:r>
          </a:p>
        </p:txBody>
      </p:sp>
      <p:sp>
        <p:nvSpPr>
          <p:cNvPr id="8" name="TextBox 7"/>
          <p:cNvSpPr txBox="1"/>
          <p:nvPr/>
        </p:nvSpPr>
        <p:spPr>
          <a:xfrm>
            <a:off x="6455860" y="4889571"/>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허용 범위 60초</a:t>
            </a:r>
          </a:p>
        </p:txBody>
      </p:sp>
      <p:sp>
        <p:nvSpPr>
          <p:cNvPr id="9" name="TextBox 8"/>
          <p:cNvSpPr txBox="1"/>
          <p:nvPr/>
        </p:nvSpPr>
        <p:spPr>
          <a:xfrm>
            <a:off x="5986752" y="2525847"/>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0.6초 전의 값</a:t>
            </a:r>
          </a:p>
          <a:p>
            <a:pPr algn="ctr" eaLnBrk="0">
              <a:lnSpc>
                <a:spcPct val="110000"/>
              </a:lnSpc>
              <a:spcAft>
                <a:spcPts val="100"/>
              </a:spcAft>
            </a:pPr>
            <a:r>
              <a:rPr sz="1300" b="0">
                <a:solidFill>
                  <a:srgbClr val="556175"/>
                </a:solidFill>
                <a:latin typeface="맑은 고딕"/>
                <a:ea typeface="맑은 고딕"/>
                <a:cs typeface="맑은 고딕"/>
              </a:rPr>
              <a:t>판단에 쓴다</a:t>
            </a:r>
          </a:p>
        </p:txBody>
      </p:sp>
      <p:sp>
        <p:nvSpPr>
          <p:cNvPr id="10" name="TextBox 9"/>
          <p:cNvSpPr txBox="1"/>
          <p:nvPr/>
        </p:nvSpPr>
        <p:spPr>
          <a:xfrm>
            <a:off x="3804853" y="2525847"/>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60초보다 오래된 값</a:t>
            </a:r>
          </a:p>
          <a:p>
            <a:pPr algn="ctr" eaLnBrk="0">
              <a:lnSpc>
                <a:spcPct val="110000"/>
              </a:lnSpc>
              <a:spcAft>
                <a:spcPts val="100"/>
              </a:spcAft>
            </a:pPr>
            <a:r>
              <a:rPr sz="1300" b="0">
                <a:solidFill>
                  <a:srgbClr val="556175"/>
                </a:solidFill>
                <a:latin typeface="맑은 고딕"/>
                <a:ea typeface="맑은 고딕"/>
                <a:cs typeface="맑은 고딕"/>
              </a:rPr>
              <a:t>판단을 보류한다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멈춤 조건:</a:t>
            </a:r>
          </a:p>
          <a:p>
            <a:pPr algn="l" eaLnBrk="0">
              <a:lnSpc>
                <a:spcPct val="110000"/>
              </a:lnSpc>
            </a:pPr>
            <a:r>
              <a:rPr sz="3400" b="1">
                <a:solidFill>
                  <a:srgbClr val="13294B"/>
                </a:solidFill>
                <a:latin typeface="맑은 고딕"/>
                <a:ea typeface="맑은 고딕"/>
                <a:cs typeface="맑은 고딕"/>
              </a:rPr>
              <a:t>근거 부족 · 호출 실패 · 권한 제한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일을 끝까지 하는 것보다 멈추는 것이 맞는 세 상황과, 멈출 때 내는 형식을 살펴본다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멈추지 않는 에이전트가 만드는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값을 읽지 못한 채 빈칸을 그럴듯하게 채운 추천안은 겉모습이 같아, 승인하는 사람이 없는 근거를 믿고 결정하게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빈칸을 채워 제출한다</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냉각 효율을 읽지 못했다</a:t>
            </a:r>
          </a:p>
          <a:p>
            <a:pPr algn="l" eaLnBrk="0" marL="200025" indent="-200025">
              <a:lnSpc>
                <a:spcPct val="110000"/>
              </a:lnSpc>
              <a:spcAft>
                <a:spcPts val="600"/>
              </a:spcAft>
            </a:pPr>
            <a:r>
              <a:rPr sz="1750" b="0">
                <a:solidFill>
                  <a:srgbClr val="1F2A3A"/>
                </a:solidFill>
                <a:latin typeface="맑은 고딕"/>
                <a:ea typeface="맑은 고딕"/>
                <a:cs typeface="맑은 고딕"/>
              </a:rPr>
              <a:t>• 가능성이 가장 큰 쿨러 핀 오염을 원인으로 적는다</a:t>
            </a:r>
          </a:p>
          <a:p>
            <a:pPr algn="l" eaLnBrk="0" marL="200025" indent="-200025">
              <a:lnSpc>
                <a:spcPct val="110000"/>
              </a:lnSpc>
              <a:spcAft>
                <a:spcPts val="600"/>
              </a:spcAft>
            </a:pPr>
            <a:r>
              <a:rPr sz="1750" b="0">
                <a:solidFill>
                  <a:srgbClr val="1F2A3A"/>
                </a:solidFill>
                <a:latin typeface="맑은 고딕"/>
                <a:ea typeface="맑은 고딕"/>
                <a:cs typeface="맑은 고딕"/>
              </a:rPr>
              <a:t>• 추천안의 모양은 값을 읽었을 때와 같다</a:t>
            </a:r>
          </a:p>
          <a:p>
            <a:pPr algn="l" eaLnBrk="0" marL="200025" indent="-200025">
              <a:lnSpc>
                <a:spcPct val="110000"/>
              </a:lnSpc>
              <a:spcAft>
                <a:spcPts val="600"/>
              </a:spcAft>
            </a:pPr>
            <a:r>
              <a:rPr sz="1750" b="0">
                <a:solidFill>
                  <a:srgbClr val="1F2A3A"/>
                </a:solidFill>
                <a:latin typeface="맑은 고딕"/>
                <a:ea typeface="맑은 고딕"/>
                <a:cs typeface="맑은 고딕"/>
              </a:rPr>
              <a:t>• 담당자는 확인된 원인으로 알고 승인한다</a:t>
            </a:r>
          </a:p>
        </p:txBody>
      </p:sp>
      <p:sp>
        <p:nvSpPr>
          <p:cNvPr id="11" name="Rounded Rectangle 10"/>
          <p:cNvSpPr/>
          <p:nvPr/>
        </p:nvSpPr>
        <p:spPr>
          <a:xfrm>
            <a:off x="868680" y="5362638"/>
            <a:ext cx="1981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981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틀려도 드러나지 않는다</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player-stop" descr="player-stop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멈추고 이유를 낸다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냉각 효율을 읽지 못했다</a:t>
            </a:r>
          </a:p>
          <a:p>
            <a:pPr algn="l" eaLnBrk="0" marL="200025" indent="-200025">
              <a:lnSpc>
                <a:spcPct val="110000"/>
              </a:lnSpc>
              <a:spcAft>
                <a:spcPts val="600"/>
              </a:spcAft>
            </a:pPr>
            <a:r>
              <a:rPr sz="1750" b="0">
                <a:solidFill>
                  <a:srgbClr val="1F2A3A"/>
                </a:solidFill>
                <a:latin typeface="맑은 고딕"/>
                <a:ea typeface="맑은 고딕"/>
                <a:cs typeface="맑은 고딕"/>
              </a:rPr>
              <a:t>• 원인을 적지 않고 보류한다</a:t>
            </a:r>
          </a:p>
          <a:p>
            <a:pPr algn="l" eaLnBrk="0" marL="200025" indent="-200025">
              <a:lnSpc>
                <a:spcPct val="110000"/>
              </a:lnSpc>
              <a:spcAft>
                <a:spcPts val="600"/>
              </a:spcAft>
            </a:pPr>
            <a:r>
              <a:rPr sz="1750" b="0">
                <a:solidFill>
                  <a:srgbClr val="1F2A3A"/>
                </a:solidFill>
                <a:latin typeface="맑은 고딕"/>
                <a:ea typeface="맑은 고딕"/>
                <a:cs typeface="맑은 고딕"/>
              </a:rPr>
              <a:t>• 무엇을 확인하지 못했는지를 적어 낸다</a:t>
            </a:r>
          </a:p>
          <a:p>
            <a:pPr algn="l" eaLnBrk="0" marL="200025" indent="-200025">
              <a:lnSpc>
                <a:spcPct val="110000"/>
              </a:lnSpc>
              <a:spcAft>
                <a:spcPts val="600"/>
              </a:spcAft>
            </a:pPr>
            <a:r>
              <a:rPr sz="1750" b="0">
                <a:solidFill>
                  <a:srgbClr val="1F2A3A"/>
                </a:solidFill>
                <a:latin typeface="맑은 고딕"/>
                <a:ea typeface="맑은 고딕"/>
                <a:cs typeface="맑은 고딕"/>
              </a:rPr>
              <a:t>• 담당자는 값이 들어온 뒤에 다시 평가시킨다</a:t>
            </a:r>
          </a:p>
        </p:txBody>
      </p:sp>
      <p:sp>
        <p:nvSpPr>
          <p:cNvPr id="18" name="Rounded Rectangle 17"/>
          <p:cNvSpPr/>
          <p:nvPr/>
        </p:nvSpPr>
        <p:spPr>
          <a:xfrm>
            <a:off x="6781647" y="5362638"/>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모르는 것이 드러난다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멈춤 조건 세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멈춰야 하는 때는 근거가 모자랄 때, 도구 호출이 끝내 실패했을 때, 허용되지 않은 일이 필요할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pic>
        <p:nvPicPr>
          <p:cNvPr id="6" name="삽화:멈춤조건.svg" descr="illust_321772839122778978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450295" y="2714945"/>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근거 부족</a:t>
            </a:r>
          </a:p>
          <a:p>
            <a:pPr algn="ctr" eaLnBrk="0">
              <a:lnSpc>
                <a:spcPct val="110000"/>
              </a:lnSpc>
              <a:spcAft>
                <a:spcPts val="100"/>
              </a:spcAft>
            </a:pPr>
            <a:r>
              <a:rPr sz="1300" b="0">
                <a:solidFill>
                  <a:srgbClr val="556175"/>
                </a:solidFill>
                <a:latin typeface="맑은 고딕"/>
                <a:ea typeface="맑은 고딕"/>
                <a:cs typeface="맑은 고딕"/>
              </a:rPr>
              <a:t>값이 없거나 맞는 근거가 없다</a:t>
            </a:r>
          </a:p>
        </p:txBody>
      </p:sp>
      <p:sp>
        <p:nvSpPr>
          <p:cNvPr id="8" name="TextBox 7"/>
          <p:cNvSpPr txBox="1"/>
          <p:nvPr/>
        </p:nvSpPr>
        <p:spPr>
          <a:xfrm>
            <a:off x="3859401" y="4109542"/>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 호출 실패</a:t>
            </a:r>
          </a:p>
          <a:p>
            <a:pPr algn="ctr" eaLnBrk="0">
              <a:lnSpc>
                <a:spcPct val="110000"/>
              </a:lnSpc>
              <a:spcAft>
                <a:spcPts val="100"/>
              </a:spcAft>
            </a:pPr>
            <a:r>
              <a:rPr sz="1300" b="0">
                <a:solidFill>
                  <a:srgbClr val="556175"/>
                </a:solidFill>
                <a:latin typeface="맑은 고딕"/>
                <a:ea typeface="맑은 고딕"/>
                <a:cs typeface="맑은 고딕"/>
              </a:rPr>
              <a:t>다시 해도 오류가 난다</a:t>
            </a:r>
          </a:p>
        </p:txBody>
      </p:sp>
      <p:sp>
        <p:nvSpPr>
          <p:cNvPr id="9" name="TextBox 8"/>
          <p:cNvSpPr txBox="1"/>
          <p:nvPr/>
        </p:nvSpPr>
        <p:spPr>
          <a:xfrm>
            <a:off x="3450295" y="5835060"/>
            <a:ext cx="283646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권한 제한</a:t>
            </a:r>
          </a:p>
          <a:p>
            <a:pPr algn="ctr" eaLnBrk="0">
              <a:lnSpc>
                <a:spcPct val="110000"/>
              </a:lnSpc>
              <a:spcAft>
                <a:spcPts val="100"/>
              </a:spcAft>
            </a:pPr>
            <a:r>
              <a:rPr sz="1300" b="0">
                <a:solidFill>
                  <a:srgbClr val="556175"/>
                </a:solidFill>
                <a:latin typeface="맑은 고딕"/>
                <a:ea typeface="맑은 고딕"/>
                <a:cs typeface="맑은 고딕"/>
              </a:rPr>
              <a:t>허용되지 않은 도구이다</a:t>
            </a:r>
          </a:p>
        </p:txBody>
      </p:sp>
      <p:sp>
        <p:nvSpPr>
          <p:cNvPr id="10" name="TextBox 9"/>
          <p:cNvSpPr txBox="1"/>
          <p:nvPr/>
        </p:nvSpPr>
        <p:spPr>
          <a:xfrm>
            <a:off x="6510408" y="2573121"/>
            <a:ext cx="174551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멈춘다</a:t>
            </a:r>
          </a:p>
          <a:p>
            <a:pPr algn="ctr" eaLnBrk="0">
              <a:lnSpc>
                <a:spcPct val="110000"/>
              </a:lnSpc>
              <a:spcAft>
                <a:spcPts val="100"/>
              </a:spcAft>
            </a:pPr>
            <a:r>
              <a:rPr sz="1300" b="0">
                <a:solidFill>
                  <a:srgbClr val="556175"/>
                </a:solidFill>
                <a:latin typeface="맑은 고딕"/>
                <a:ea typeface="맑은 고딕"/>
                <a:cs typeface="맑은 고딕"/>
              </a:rPr>
              <a:t>지어내지 않는다</a:t>
            </a:r>
          </a:p>
        </p:txBody>
      </p:sp>
      <p:sp>
        <p:nvSpPr>
          <p:cNvPr id="11" name="TextBox 10"/>
          <p:cNvSpPr txBox="1"/>
          <p:nvPr/>
        </p:nvSpPr>
        <p:spPr>
          <a:xfrm>
            <a:off x="8899587" y="4511375"/>
            <a:ext cx="240008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사람</a:t>
            </a:r>
          </a:p>
          <a:p>
            <a:pPr algn="ctr" eaLnBrk="0">
              <a:lnSpc>
                <a:spcPct val="110000"/>
              </a:lnSpc>
              <a:spcAft>
                <a:spcPts val="100"/>
              </a:spcAft>
            </a:pPr>
            <a:r>
              <a:rPr sz="1300" b="0">
                <a:solidFill>
                  <a:srgbClr val="556175"/>
                </a:solidFill>
                <a:latin typeface="맑은 고딕"/>
                <a:ea typeface="맑은 고딕"/>
                <a:cs typeface="맑은 고딕"/>
              </a:rPr>
              <a:t>재평가를 요청하거나</a:t>
            </a:r>
          </a:p>
          <a:p>
            <a:pPr algn="ctr" eaLnBrk="0">
              <a:lnSpc>
                <a:spcPct val="110000"/>
              </a:lnSpc>
              <a:spcAft>
                <a:spcPts val="100"/>
              </a:spcAft>
            </a:pPr>
            <a:r>
              <a:rPr sz="1300" b="0">
                <a:solidFill>
                  <a:srgbClr val="556175"/>
                </a:solidFill>
                <a:latin typeface="맑은 고딕"/>
                <a:ea typeface="맑은 고딕"/>
                <a:cs typeface="맑은 고딕"/>
              </a:rPr>
              <a:t>질문에 답하거나 닫는다</a:t>
            </a:r>
          </a:p>
        </p:txBody>
      </p:sp>
      <p:sp>
        <p:nvSpPr>
          <p:cNvPr id="12" name="TextBox 11"/>
          <p:cNvSpPr txBox="1"/>
          <p:nvPr/>
        </p:nvSpPr>
        <p:spPr>
          <a:xfrm>
            <a:off x="1012022" y="4464100"/>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근거의 세 가지 상태: SUPPORTED · UNKNOWN · UNSUPPORTED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값을 얻지 못한 것과 값을 얻었으나 맞지 않은 것은 사람이 이어서 할 일이 달라, 근거의 상태를 셋으로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57272"/>
            <a:ext cx="3515258" cy="28681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58440"/>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912059"/>
            <a:ext cx="424281" cy="424281"/>
          </a:xfrm>
          <a:prstGeom prst="rect">
            <a:avLst/>
          </a:prstGeom>
        </p:spPr>
      </p:pic>
      <p:sp>
        <p:nvSpPr>
          <p:cNvPr id="9" name="TextBox 8"/>
          <p:cNvSpPr txBox="1"/>
          <p:nvPr/>
        </p:nvSpPr>
        <p:spPr>
          <a:xfrm>
            <a:off x="713232" y="3581400"/>
            <a:ext cx="3186074"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SUPPORTED</a:t>
            </a:r>
          </a:p>
          <a:p>
            <a:pPr algn="l" eaLnBrk="0" marL="160020" indent="-160020">
              <a:lnSpc>
                <a:spcPct val="110000"/>
              </a:lnSpc>
              <a:spcAft>
                <a:spcPts val="400"/>
              </a:spcAft>
            </a:pPr>
            <a:r>
              <a:rPr sz="1400" b="0">
                <a:solidFill>
                  <a:srgbClr val="1F2A3A"/>
                </a:solidFill>
                <a:latin typeface="맑은 고딕"/>
                <a:ea typeface="맑은 고딕"/>
                <a:cs typeface="맑은 고딕"/>
              </a:rPr>
              <a:t>• 값을 읽었고 기준에 맞았다</a:t>
            </a:r>
          </a:p>
          <a:p>
            <a:pPr algn="l" eaLnBrk="0" marL="160020" indent="-160020">
              <a:lnSpc>
                <a:spcPct val="110000"/>
              </a:lnSpc>
              <a:spcAft>
                <a:spcPts val="400"/>
              </a:spcAft>
            </a:pPr>
            <a:r>
              <a:rPr sz="1400" b="0">
                <a:solidFill>
                  <a:srgbClr val="1F2A3A"/>
                </a:solidFill>
                <a:latin typeface="맑은 고딕"/>
                <a:ea typeface="맑은 고딕"/>
                <a:cs typeface="맑은 고딕"/>
              </a:rPr>
              <a:t>• 예: 냉각 효율 46.2 %가 기준 70 % 미만이다</a:t>
            </a:r>
          </a:p>
        </p:txBody>
      </p:sp>
      <p:sp>
        <p:nvSpPr>
          <p:cNvPr id="10" name="Rounded Rectangle 9"/>
          <p:cNvSpPr/>
          <p:nvPr/>
        </p:nvSpPr>
        <p:spPr>
          <a:xfrm>
            <a:off x="777240" y="499567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9567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확인됨</a:t>
            </a:r>
          </a:p>
        </p:txBody>
      </p:sp>
      <p:sp>
        <p:nvSpPr>
          <p:cNvPr id="12" name="Rounded Rectangle 11"/>
          <p:cNvSpPr/>
          <p:nvPr/>
        </p:nvSpPr>
        <p:spPr>
          <a:xfrm>
            <a:off x="4338218" y="2557272"/>
            <a:ext cx="3515258" cy="286816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58440"/>
            <a:ext cx="731520" cy="731520"/>
          </a:xfrm>
          <a:prstGeom prst="ellipse">
            <a:avLst/>
          </a:prstGeom>
          <a:solidFill>
            <a:srgbClr val="5CB8F2"/>
          </a:solidFill>
          <a:ln>
            <a:noFill/>
          </a:ln>
        </p:spPr>
        <p:txBody>
          <a:bodyPr rtlCol="0" anchor="ctr"/>
          <a:lstStyle/>
          <a:p>
            <a:pPr algn="ctr"/>
          </a:p>
        </p:txBody>
      </p:sp>
      <p:pic>
        <p:nvPicPr>
          <p:cNvPr id="14" name="아이콘:zoom-question" descr="zoom-question_13294B_1.6.png"/>
          <p:cNvPicPr>
            <a:picLocks noChangeAspect="1"/>
          </p:cNvPicPr>
          <p:nvPr/>
        </p:nvPicPr>
        <p:blipFill>
          <a:blip r:embed="rId4"/>
          <a:stretch>
            <a:fillRect/>
          </a:stretch>
        </p:blipFill>
        <p:spPr>
          <a:xfrm>
            <a:off x="4720437" y="2912059"/>
            <a:ext cx="424281" cy="424281"/>
          </a:xfrm>
          <a:prstGeom prst="rect">
            <a:avLst/>
          </a:prstGeom>
        </p:spPr>
      </p:pic>
      <p:sp>
        <p:nvSpPr>
          <p:cNvPr id="15" name="TextBox 14"/>
          <p:cNvSpPr txBox="1"/>
          <p:nvPr/>
        </p:nvSpPr>
        <p:spPr>
          <a:xfrm>
            <a:off x="4502810" y="3581400"/>
            <a:ext cx="3186074"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UNKNOWN</a:t>
            </a:r>
          </a:p>
          <a:p>
            <a:pPr algn="l" eaLnBrk="0" marL="160020" indent="-160020">
              <a:lnSpc>
                <a:spcPct val="110000"/>
              </a:lnSpc>
              <a:spcAft>
                <a:spcPts val="400"/>
              </a:spcAft>
            </a:pPr>
            <a:r>
              <a:rPr sz="1400" b="0">
                <a:solidFill>
                  <a:srgbClr val="1F2A3A"/>
                </a:solidFill>
                <a:latin typeface="맑은 고딕"/>
                <a:ea typeface="맑은 고딕"/>
                <a:cs typeface="맑은 고딕"/>
              </a:rPr>
              <a:t>• 조회에 실패했거나 값이 비었다</a:t>
            </a:r>
          </a:p>
          <a:p>
            <a:pPr algn="l" eaLnBrk="0" marL="160020" indent="-160020">
              <a:lnSpc>
                <a:spcPct val="110000"/>
              </a:lnSpc>
              <a:spcAft>
                <a:spcPts val="400"/>
              </a:spcAft>
            </a:pPr>
            <a:r>
              <a:rPr sz="1400" b="0">
                <a:solidFill>
                  <a:srgbClr val="1F2A3A"/>
                </a:solidFill>
                <a:latin typeface="맑은 고딕"/>
                <a:ea typeface="맑은 고딕"/>
                <a:cs typeface="맑은 고딕"/>
              </a:rPr>
              <a:t>• 맞는지 틀린지를 말할 수 없다</a:t>
            </a:r>
          </a:p>
        </p:txBody>
      </p:sp>
      <p:sp>
        <p:nvSpPr>
          <p:cNvPr id="16" name="Rounded Rectangle 15"/>
          <p:cNvSpPr/>
          <p:nvPr/>
        </p:nvSpPr>
        <p:spPr>
          <a:xfrm>
            <a:off x="4566818" y="499567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4995672"/>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확인하지 못함</a:t>
            </a:r>
          </a:p>
        </p:txBody>
      </p:sp>
      <p:sp>
        <p:nvSpPr>
          <p:cNvPr id="18" name="Rounded Rectangle 17"/>
          <p:cNvSpPr/>
          <p:nvPr/>
        </p:nvSpPr>
        <p:spPr>
          <a:xfrm>
            <a:off x="8127796" y="2557272"/>
            <a:ext cx="3515258" cy="286816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58440"/>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912059"/>
            <a:ext cx="424281" cy="424281"/>
          </a:xfrm>
          <a:prstGeom prst="rect">
            <a:avLst/>
          </a:prstGeom>
        </p:spPr>
      </p:pic>
      <p:sp>
        <p:nvSpPr>
          <p:cNvPr id="21" name="TextBox 20"/>
          <p:cNvSpPr txBox="1"/>
          <p:nvPr/>
        </p:nvSpPr>
        <p:spPr>
          <a:xfrm>
            <a:off x="8292388" y="3581400"/>
            <a:ext cx="3186074" cy="1341120"/>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UNSUPPORTED</a:t>
            </a:r>
          </a:p>
          <a:p>
            <a:pPr algn="l" eaLnBrk="0" marL="160020" indent="-160020">
              <a:lnSpc>
                <a:spcPct val="110000"/>
              </a:lnSpc>
              <a:spcAft>
                <a:spcPts val="400"/>
              </a:spcAft>
            </a:pPr>
            <a:r>
              <a:rPr sz="1400" b="0">
                <a:solidFill>
                  <a:srgbClr val="1F2A3A"/>
                </a:solidFill>
                <a:latin typeface="맑은 고딕"/>
                <a:ea typeface="맑은 고딕"/>
                <a:cs typeface="맑은 고딕"/>
              </a:rPr>
              <a:t>• 값은 읽었으나 조회한 근거가 모두 기준에 맞지 않았다</a:t>
            </a:r>
          </a:p>
          <a:p>
            <a:pPr algn="l" eaLnBrk="0" marL="160020" indent="-160020">
              <a:lnSpc>
                <a:spcPct val="110000"/>
              </a:lnSpc>
              <a:spcAft>
                <a:spcPts val="400"/>
              </a:spcAft>
            </a:pPr>
            <a:r>
              <a:rPr sz="1400" b="0">
                <a:solidFill>
                  <a:srgbClr val="1F2A3A"/>
                </a:solidFill>
                <a:latin typeface="맑은 고딕"/>
                <a:ea typeface="맑은 고딕"/>
                <a:cs typeface="맑은 고딕"/>
              </a:rPr>
              <a:t>• 등록된 원인 가운데 맞는 것이 없다</a:t>
            </a:r>
          </a:p>
        </p:txBody>
      </p:sp>
      <p:sp>
        <p:nvSpPr>
          <p:cNvPr id="22" name="Rounded Rectangle 21"/>
          <p:cNvSpPr/>
          <p:nvPr/>
        </p:nvSpPr>
        <p:spPr>
          <a:xfrm>
            <a:off x="8356396" y="4995672"/>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4995672"/>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맞는 근거 없음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보류의 형식: 상태 · 이유 · 증거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보류할 때 에이전트는 결과 항목을 채우지 않고, 상태 · 이유 · 그때까지 모은 증거만 담은 객체 하나를 제출한다.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객체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하나</a:t>
            </a:r>
          </a:p>
          <a:p>
            <a:pPr algn="l" eaLnBrk="0">
              <a:lnSpc>
                <a:spcPct val="110000"/>
              </a:lnSpc>
              <a:spcAft>
                <a:spcPts val="200"/>
              </a:spcAft>
            </a:pPr>
            <a:r>
              <a:rPr sz="1300" b="0">
                <a:solidFill>
                  <a:srgbClr val="E8EEF6"/>
                </a:solidFill>
                <a:latin typeface="Consolas"/>
                <a:ea typeface="맑은 고딕"/>
                <a:cs typeface="맑은 고딕"/>
              </a:rPr>
              <a:t>{"__deferred__": {</a:t>
            </a:r>
          </a:p>
          <a:p>
            <a:pPr algn="l" eaLnBrk="0">
              <a:lnSpc>
                <a:spcPct val="110000"/>
              </a:lnSpc>
              <a:spcAft>
                <a:spcPts val="200"/>
              </a:spcAft>
            </a:pPr>
            <a:r>
              <a:rPr sz="1300" b="0">
                <a:solidFill>
                  <a:srgbClr val="E8EEF6"/>
                </a:solidFill>
                <a:latin typeface="Consolas"/>
                <a:ea typeface="맑은 고딕"/>
                <a:cs typeface="맑은 고딕"/>
              </a:rPr>
              <a:t>   "status": "UNKNOWN",</a:t>
            </a:r>
          </a:p>
          <a:p>
            <a:pPr algn="l" eaLnBrk="0">
              <a:lnSpc>
                <a:spcPct val="110000"/>
              </a:lnSpc>
              <a:spcAft>
                <a:spcPts val="200"/>
              </a:spcAft>
            </a:pPr>
            <a:r>
              <a:rPr sz="1300" b="0">
                <a:solidFill>
                  <a:srgbClr val="E8EEF6"/>
                </a:solidFill>
                <a:latin typeface="Consolas"/>
                <a:ea typeface="맑은 고딕"/>
                <a:cs typeface="맑은 고딕"/>
              </a:rPr>
              <a:t>   "reason": "</a:t>
            </a:r>
            <a:r>
              <a:rPr sz="1300" b="0">
                <a:solidFill>
                  <a:srgbClr val="E8EEF6"/>
                </a:solidFill>
                <a:latin typeface="맑은 고딕"/>
                <a:ea typeface="맑은 고딕"/>
                <a:cs typeface="맑은 고딕"/>
              </a:rPr>
              <a:t>실제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이유</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"evidence":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eaLnBrk="0">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decision </a:t>
            </a:r>
            <a:r>
              <a:rPr sz="1300" b="0">
                <a:solidFill>
                  <a:srgbClr val="E8EEF6"/>
                </a:solidFill>
                <a:latin typeface="맑은 고딕"/>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status</a:t>
            </a:r>
          </a:p>
          <a:p>
            <a:pPr algn="l" eaLnBrk="0">
              <a:lnSpc>
                <a:spcPct val="110000"/>
              </a:lnSpc>
              <a:spcAft>
                <a:spcPts val="400"/>
              </a:spcAft>
            </a:pPr>
            <a:r>
              <a:rPr sz="1400" b="0">
                <a:solidFill>
                  <a:srgbClr val="1F2A3A"/>
                </a:solidFill>
                <a:latin typeface="맑은 고딕"/>
                <a:ea typeface="맑은 고딕"/>
                <a:cs typeface="맑은 고딕"/>
              </a:rPr>
              <a:t>UNKNOWN과 UNSUPPORTED 가운데 하나이다.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reason</a:t>
            </a:r>
          </a:p>
          <a:p>
            <a:pPr algn="l" eaLnBrk="0">
              <a:lnSpc>
                <a:spcPct val="110000"/>
              </a:lnSpc>
              <a:spcAft>
                <a:spcPts val="400"/>
              </a:spcAft>
            </a:pPr>
            <a:r>
              <a:rPr sz="1400" b="0">
                <a:solidFill>
                  <a:srgbClr val="1F2A3A"/>
                </a:solidFill>
                <a:latin typeface="맑은 고딕"/>
                <a:ea typeface="맑은 고딕"/>
                <a:cs typeface="맑은 고딕"/>
              </a:rPr>
              <a:t>무엇을 확인하지 못했는지를 사람이 읽을 문장으로 적는다.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evidence</a:t>
            </a:r>
          </a:p>
          <a:p>
            <a:pPr algn="l" eaLnBrk="0">
              <a:lnSpc>
                <a:spcPct val="110000"/>
              </a:lnSpc>
              <a:spcAft>
                <a:spcPts val="400"/>
              </a:spcAft>
            </a:pPr>
            <a:r>
              <a:rPr sz="1400" b="0">
                <a:solidFill>
                  <a:srgbClr val="1F2A3A"/>
                </a:solidFill>
                <a:latin typeface="맑은 고딕"/>
                <a:ea typeface="맑은 고딕"/>
                <a:cs typeface="맑은 고딕"/>
              </a:rPr>
              <a:t>그때까지 조회해 얻은 실제 근거를 담는다.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섞어 내기</a:t>
            </a:r>
          </a:p>
          <a:p>
            <a:pPr algn="l" eaLnBrk="0">
              <a:lnSpc>
                <a:spcPct val="110000"/>
              </a:lnSpc>
              <a:spcAft>
                <a:spcPts val="400"/>
              </a:spcAft>
            </a:pPr>
            <a:r>
              <a:rPr sz="1400" b="0">
                <a:solidFill>
                  <a:srgbClr val="1F2A3A"/>
                </a:solidFill>
                <a:latin typeface="맑은 고딕"/>
                <a:ea typeface="맑은 고딕"/>
                <a:cs typeface="맑은 고딕"/>
              </a:rPr>
              <a:t>결과 항목과 보류를 함께 내면 거절된다.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도구 호출 실패: 실패와 값 없음의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조회에 실패한 것과 조회해 보니 0건인 것을 구분하지 않으면, 재고를 읽지 못한 일이 재고가 없다는 사실로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값 없음</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조회는 성공했고 결과가 0행이다</a:t>
            </a:r>
          </a:p>
          <a:p>
            <a:pPr algn="l" eaLnBrk="0" marL="205740" indent="-205740">
              <a:lnSpc>
                <a:spcPct val="110000"/>
              </a:lnSpc>
              <a:spcAft>
                <a:spcPts val="600"/>
              </a:spcAft>
            </a:pPr>
            <a:r>
              <a:rPr sz="1800" b="0">
                <a:solidFill>
                  <a:srgbClr val="1F2A3A"/>
                </a:solidFill>
                <a:latin typeface="맑은 고딕"/>
                <a:ea typeface="맑은 고딕"/>
                <a:cs typeface="맑은 고딕"/>
              </a:rPr>
              <a:t>• 「없다」는 답이다</a:t>
            </a:r>
          </a:p>
          <a:p>
            <a:pPr algn="l" eaLnBrk="0" marL="205740" indent="-205740">
              <a:lnSpc>
                <a:spcPct val="110000"/>
              </a:lnSpc>
              <a:spcAft>
                <a:spcPts val="600"/>
              </a:spcAft>
            </a:pPr>
            <a:r>
              <a:rPr sz="1800" b="0">
                <a:solidFill>
                  <a:srgbClr val="1F2A3A"/>
                </a:solidFill>
                <a:latin typeface="맑은 고딕"/>
                <a:ea typeface="맑은 고딕"/>
                <a:cs typeface="맑은 고딕"/>
              </a:rPr>
              <a:t>• 0행이라고 그대로 적는다</a:t>
            </a:r>
          </a:p>
        </p:txBody>
      </p:sp>
      <p:sp>
        <p:nvSpPr>
          <p:cNvPr id="11" name="Rounded Rectangle 10"/>
          <p:cNvSpPr/>
          <p:nvPr/>
        </p:nvSpPr>
        <p:spPr>
          <a:xfrm>
            <a:off x="868680" y="520446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답이 있다</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실패</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조회 자체가 되지 않았다</a:t>
            </a:r>
          </a:p>
          <a:p>
            <a:pPr algn="l" eaLnBrk="0" marL="205740" indent="-205740">
              <a:lnSpc>
                <a:spcPct val="110000"/>
              </a:lnSpc>
              <a:spcAft>
                <a:spcPts val="600"/>
              </a:spcAft>
            </a:pPr>
            <a:r>
              <a:rPr sz="1800" b="0">
                <a:solidFill>
                  <a:srgbClr val="1F2A3A"/>
                </a:solidFill>
                <a:latin typeface="맑은 고딕"/>
                <a:ea typeface="맑은 고딕"/>
                <a:cs typeface="맑은 고딕"/>
              </a:rPr>
              <a:t>• 「모른다」는 뜻이다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 규칙: 「실패를 0이나 빈 값으로 바꿔 성공처럼 제출하지 않습니다.」</a:t>
            </a:r>
          </a:p>
        </p:txBody>
      </p:sp>
      <p:sp>
        <p:nvSpPr>
          <p:cNvPr id="18" name="Rounded Rectangle 17"/>
          <p:cNvSpPr/>
          <p:nvPr/>
        </p:nvSpPr>
        <p:spPr>
          <a:xfrm>
            <a:off x="6781647" y="520446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답이 없다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권한 제한: 허용 목록 밖의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허용 목록에 없는 도구는 에이전트가 필요하다고 판단해도 실행되지 않으며, 돌아갈 길을 찾지 않고 사람에게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15679"/>
            <a:ext cx="2485567" cy="2951353"/>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98559"/>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852178"/>
            <a:ext cx="424281" cy="424281"/>
          </a:xfrm>
          <a:prstGeom prst="rect">
            <a:avLst/>
          </a:prstGeom>
        </p:spPr>
      </p:pic>
      <p:sp>
        <p:nvSpPr>
          <p:cNvPr id="9" name="TextBox 8"/>
          <p:cNvSpPr txBox="1"/>
          <p:nvPr/>
        </p:nvSpPr>
        <p:spPr>
          <a:xfrm>
            <a:off x="621792"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허용 목록</a:t>
            </a:r>
          </a:p>
          <a:p>
            <a:pPr algn="ctr" eaLnBrk="0">
              <a:lnSpc>
                <a:spcPct val="110000"/>
              </a:lnSpc>
              <a:spcAft>
                <a:spcPts val="400"/>
              </a:spcAft>
            </a:pPr>
            <a:r>
              <a:rPr sz="1650" b="0">
                <a:solidFill>
                  <a:srgbClr val="1F2A3A"/>
                </a:solidFill>
                <a:latin typeface="맑은 고딕"/>
                <a:ea typeface="맑은 고딕"/>
                <a:cs typeface="맑은 고딕"/>
              </a:rPr>
              <a:t>에이전트마다</a:t>
            </a:r>
          </a:p>
          <a:p>
            <a:pPr algn="ctr" eaLnBrk="0">
              <a:lnSpc>
                <a:spcPct val="110000"/>
              </a:lnSpc>
              <a:spcAft>
                <a:spcPts val="400"/>
              </a:spcAft>
            </a:pPr>
            <a:r>
              <a:rPr sz="1650" b="0">
                <a:solidFill>
                  <a:srgbClr val="1F2A3A"/>
                </a:solidFill>
                <a:latin typeface="맑은 고딕"/>
                <a:ea typeface="맑은 고딕"/>
                <a:cs typeface="맑은 고딕"/>
              </a:rPr>
              <a:t>부를 수 있는 도구가</a:t>
            </a:r>
          </a:p>
          <a:p>
            <a:pPr algn="ctr" eaLnBrk="0">
              <a:lnSpc>
                <a:spcPct val="110000"/>
              </a:lnSpc>
              <a:spcAft>
                <a:spcPts val="400"/>
              </a:spcAft>
            </a:pPr>
            <a:r>
              <a:rPr sz="1650" b="0">
                <a:solidFill>
                  <a:srgbClr val="1F2A3A"/>
                </a:solidFill>
                <a:latin typeface="맑은 고딕"/>
                <a:ea typeface="맑은 고딕"/>
                <a:cs typeface="맑은 고딕"/>
              </a:rPr>
              <a:t>정해져 있다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15679"/>
            <a:ext cx="2485567" cy="2951353"/>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98559"/>
            <a:ext cx="731520" cy="731520"/>
          </a:xfrm>
          <a:prstGeom prst="ellipse">
            <a:avLst/>
          </a:prstGeom>
          <a:solidFill>
            <a:srgbClr val="FFFFFF"/>
          </a:solidFill>
          <a:ln>
            <a:noFill/>
          </a:ln>
        </p:spPr>
        <p:txBody>
          <a:bodyPr rtlCol="0" anchor="ctr"/>
          <a:lstStyle/>
          <a:p>
            <a:pPr algn="ctr"/>
          </a:p>
        </p:txBody>
      </p:sp>
      <p:pic>
        <p:nvPicPr>
          <p:cNvPr id="13" name="아이콘:ban" descr="ban_13294B_1.6.png"/>
          <p:cNvPicPr>
            <a:picLocks noChangeAspect="1"/>
          </p:cNvPicPr>
          <p:nvPr/>
        </p:nvPicPr>
        <p:blipFill>
          <a:blip r:embed="rId4"/>
          <a:stretch>
            <a:fillRect/>
          </a:stretch>
        </p:blipFill>
        <p:spPr>
          <a:xfrm>
            <a:off x="4448898" y="2852178"/>
            <a:ext cx="424281" cy="424281"/>
          </a:xfrm>
          <a:prstGeom prst="rect">
            <a:avLst/>
          </a:prstGeom>
        </p:spPr>
      </p:pic>
      <p:sp>
        <p:nvSpPr>
          <p:cNvPr id="14" name="TextBox 13"/>
          <p:cNvSpPr txBox="1"/>
          <p:nvPr/>
        </p:nvSpPr>
        <p:spPr>
          <a:xfrm>
            <a:off x="3491407"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목록 밖의 호출</a:t>
            </a:r>
          </a:p>
          <a:p>
            <a:pPr algn="ctr" eaLnBrk="0">
              <a:lnSpc>
                <a:spcPct val="110000"/>
              </a:lnSpc>
              <a:spcAft>
                <a:spcPts val="400"/>
              </a:spcAft>
            </a:pPr>
            <a:r>
              <a:rPr sz="1650" b="0">
                <a:solidFill>
                  <a:srgbClr val="1F2A3A"/>
                </a:solidFill>
                <a:latin typeface="맑은 고딕"/>
                <a:ea typeface="맑은 고딕"/>
                <a:cs typeface="맑은 고딕"/>
              </a:rPr>
              <a:t>실행되지 않고</a:t>
            </a:r>
          </a:p>
          <a:p>
            <a:pPr algn="ctr" eaLnBrk="0">
              <a:lnSpc>
                <a:spcPct val="110000"/>
              </a:lnSpc>
              <a:spcAft>
                <a:spcPts val="400"/>
              </a:spcAft>
            </a:pPr>
            <a:r>
              <a:rPr sz="1650" b="0">
                <a:solidFill>
                  <a:srgbClr val="1F2A3A"/>
                </a:solidFill>
                <a:latin typeface="맑은 고딕"/>
                <a:ea typeface="맑은 고딕"/>
                <a:cs typeface="맑은 고딕"/>
              </a:rPr>
              <a:t>권한 요청이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15679"/>
            <a:ext cx="2485567" cy="2951353"/>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98559"/>
            <a:ext cx="731520" cy="731520"/>
          </a:xfrm>
          <a:prstGeom prst="ellipse">
            <a:avLst/>
          </a:prstGeom>
          <a:solidFill>
            <a:srgbClr val="5CB8F2"/>
          </a:solidFill>
          <a:ln>
            <a:noFill/>
          </a:ln>
        </p:spPr>
        <p:txBody>
          <a:bodyPr rtlCol="0" anchor="ctr"/>
          <a:lstStyle/>
          <a:p>
            <a:pPr algn="ctr"/>
          </a:p>
        </p:txBody>
      </p:sp>
      <p:pic>
        <p:nvPicPr>
          <p:cNvPr id="18" name="아이콘:message-question" descr="message-question_13294B_1.6.png"/>
          <p:cNvPicPr>
            <a:picLocks noChangeAspect="1"/>
          </p:cNvPicPr>
          <p:nvPr/>
        </p:nvPicPr>
        <p:blipFill>
          <a:blip r:embed="rId5"/>
          <a:stretch>
            <a:fillRect/>
          </a:stretch>
        </p:blipFill>
        <p:spPr>
          <a:xfrm>
            <a:off x="7318514" y="2852178"/>
            <a:ext cx="424281" cy="424281"/>
          </a:xfrm>
          <a:prstGeom prst="rect">
            <a:avLst/>
          </a:prstGeom>
        </p:spPr>
      </p:pic>
      <p:sp>
        <p:nvSpPr>
          <p:cNvPr id="19" name="TextBox 18"/>
          <p:cNvSpPr txBox="1"/>
          <p:nvPr/>
        </p:nvSpPr>
        <p:spPr>
          <a:xfrm>
            <a:off x="6361023"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사람에게 묻는다</a:t>
            </a:r>
          </a:p>
          <a:p>
            <a:pPr algn="ctr" eaLnBrk="0">
              <a:lnSpc>
                <a:spcPct val="110000"/>
              </a:lnSpc>
              <a:spcAft>
                <a:spcPts val="400"/>
              </a:spcAft>
            </a:pPr>
            <a:r>
              <a:rPr sz="1650" b="0">
                <a:solidFill>
                  <a:srgbClr val="1F2A3A"/>
                </a:solidFill>
                <a:latin typeface="맑은 고딕"/>
                <a:ea typeface="맑은 고딕"/>
                <a:cs typeface="맑은 고딕"/>
              </a:rPr>
              <a:t>요청이 질문이 되어</a:t>
            </a:r>
          </a:p>
          <a:p>
            <a:pPr algn="ctr" eaLnBrk="0">
              <a:lnSpc>
                <a:spcPct val="110000"/>
              </a:lnSpc>
              <a:spcAft>
                <a:spcPts val="400"/>
              </a:spcAft>
            </a:pPr>
            <a:r>
              <a:rPr sz="1650" b="0">
                <a:solidFill>
                  <a:srgbClr val="1F2A3A"/>
                </a:solidFill>
                <a:latin typeface="맑은 고딕"/>
                <a:ea typeface="맑은 고딕"/>
                <a:cs typeface="맑은 고딕"/>
              </a:rPr>
              <a:t>사람에게 올라간다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15679"/>
            <a:ext cx="2485567" cy="2951353"/>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98559"/>
            <a:ext cx="731520" cy="731520"/>
          </a:xfrm>
          <a:prstGeom prst="ellipse">
            <a:avLst/>
          </a:prstGeom>
          <a:solidFill>
            <a:srgbClr val="FFFFFF"/>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852178"/>
            <a:ext cx="424281" cy="424281"/>
          </a:xfrm>
          <a:prstGeom prst="rect">
            <a:avLst/>
          </a:prstGeom>
        </p:spPr>
      </p:pic>
      <p:sp>
        <p:nvSpPr>
          <p:cNvPr id="24" name="TextBox 23"/>
          <p:cNvSpPr txBox="1"/>
          <p:nvPr/>
        </p:nvSpPr>
        <p:spPr>
          <a:xfrm>
            <a:off x="9230639" y="3503231"/>
            <a:ext cx="2339263" cy="189064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바뀌지 않는 것</a:t>
            </a:r>
          </a:p>
          <a:p>
            <a:pPr algn="ctr" eaLnBrk="0">
              <a:lnSpc>
                <a:spcPct val="110000"/>
              </a:lnSpc>
              <a:spcAft>
                <a:spcPts val="400"/>
              </a:spcAft>
            </a:pPr>
            <a:r>
              <a:rPr sz="1650" b="0">
                <a:solidFill>
                  <a:srgbClr val="1F2A3A"/>
                </a:solidFill>
                <a:latin typeface="맑은 고딕"/>
                <a:ea typeface="맑은 고딕"/>
                <a:cs typeface="맑은 고딕"/>
              </a:rPr>
              <a:t>「답변은 실행 권한을</a:t>
            </a:r>
          </a:p>
          <a:p>
            <a:pPr algn="ctr" eaLnBrk="0">
              <a:lnSpc>
                <a:spcPct val="110000"/>
              </a:lnSpc>
              <a:spcAft>
                <a:spcPts val="400"/>
              </a:spcAft>
            </a:pPr>
            <a:r>
              <a:rPr sz="1650" b="0">
                <a:solidFill>
                  <a:srgbClr val="1F2A3A"/>
                </a:solidFill>
                <a:latin typeface="맑은 고딕"/>
                <a:ea typeface="맑은 고딕"/>
                <a:cs typeface="맑은 고딕"/>
              </a:rPr>
              <a:t>바꾸지 않습니다.」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구조화 출력과 실행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끝까지 간 결과는 정해진 형식으로 내고, 과정은 기록으로 남겨 근거를 거슬러 확인한다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구조화 출력: 추천안의 다섯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추천안은 원인, 고장 유형, 진단 안내, 판단, 판단 번호의 다섯 항목을 가진 JSON 객체 하나로 제출된다.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"cause": "cause:cooler-fin-fouling",</a:t>
            </a:r>
          </a:p>
          <a:p>
            <a:pPr algn="l" eaLnBrk="0">
              <a:lnSpc>
                <a:spcPct val="110000"/>
              </a:lnSpc>
              <a:spcAft>
                <a:spcPts val="200"/>
              </a:spcAft>
            </a:pPr>
            <a:r>
              <a:rPr sz="1300" b="0">
                <a:solidFill>
                  <a:srgbClr val="E8EEF6"/>
                </a:solidFill>
                <a:latin typeface="Consolas"/>
                <a:ea typeface="맑은 고딕"/>
                <a:cs typeface="맑은 고딕"/>
              </a:rPr>
              <a:t> "failure_mode":</a:t>
            </a:r>
          </a:p>
          <a:p>
            <a:pPr algn="l" eaLnBrk="0">
              <a:lnSpc>
                <a:spcPct val="110000"/>
              </a:lnSpc>
              <a:spcAft>
                <a:spcPts val="200"/>
              </a:spcAft>
            </a:pPr>
            <a:r>
              <a:rPr sz="1300" b="0">
                <a:solidFill>
                  <a:srgbClr val="E8EEF6"/>
                </a:solidFill>
                <a:latin typeface="Consolas"/>
                <a:ea typeface="맑은 고딕"/>
                <a:cs typeface="맑은 고딕"/>
              </a:rPr>
              <a:t>   "fm:cooler-performance-loss",</a:t>
            </a:r>
          </a:p>
          <a:p>
            <a:pPr algn="l" eaLnBrk="0">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 {</a:t>
            </a:r>
          </a:p>
          <a:p>
            <a:pPr algn="l" eaLnBrk="0">
              <a:lnSpc>
                <a:spcPct val="110000"/>
              </a:lnSpc>
              <a:spcAft>
                <a:spcPts val="200"/>
              </a:spcAft>
            </a:pPr>
            <a:r>
              <a:rPr sz="1300" b="0">
                <a:solidFill>
                  <a:srgbClr val="E8EEF6"/>
                </a:solidFill>
                <a:latin typeface="Consolas"/>
                <a:ea typeface="맑은 고딕"/>
                <a:cs typeface="맑은 고딕"/>
              </a:rPr>
              <a:t>   "recommended": "skill:sop-cool-11",</a:t>
            </a:r>
          </a:p>
          <a:p>
            <a:pPr algn="l" eaLnBrk="0">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"decision_id": "DEC-1010-002-408b"</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cause · failure_mode</a:t>
            </a:r>
          </a:p>
          <a:p>
            <a:pPr algn="l" eaLnBrk="0">
              <a:lnSpc>
                <a:spcPct val="110000"/>
              </a:lnSpc>
              <a:spcAft>
                <a:spcPts val="400"/>
              </a:spcAft>
            </a:pPr>
            <a:r>
              <a:rPr sz="1400" b="0">
                <a:solidFill>
                  <a:srgbClr val="1F2A3A"/>
                </a:solidFill>
                <a:latin typeface="맑은 고딕"/>
                <a:ea typeface="맑은 고딕"/>
                <a:cs typeface="맑은 고딕"/>
              </a:rPr>
              <a:t>원인과 고장 유형을 지식 그래프의 식별자로 적는다.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guide_card</a:t>
            </a:r>
          </a:p>
          <a:p>
            <a:pPr algn="l" eaLnBrk="0">
              <a:lnSpc>
                <a:spcPct val="110000"/>
              </a:lnSpc>
              <a:spcAft>
                <a:spcPts val="400"/>
              </a:spcAft>
            </a:pPr>
            <a:r>
              <a:rPr sz="1400" b="0">
                <a:solidFill>
                  <a:srgbClr val="1F2A3A"/>
                </a:solidFill>
                <a:latin typeface="맑은 고딕"/>
                <a:ea typeface="맑은 고딕"/>
                <a:cs typeface="맑은 고딕"/>
              </a:rPr>
              <a:t>진단의 결과와 권장 조치를 담은 안내이다.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a:t>
            </a:r>
          </a:p>
          <a:p>
            <a:pPr algn="l" eaLnBrk="0">
              <a:lnSpc>
                <a:spcPct val="110000"/>
              </a:lnSpc>
              <a:spcAft>
                <a:spcPts val="400"/>
              </a:spcAft>
            </a:pPr>
            <a:r>
              <a:rPr sz="1400" b="0">
                <a:solidFill>
                  <a:srgbClr val="1F2A3A"/>
                </a:solidFill>
                <a:latin typeface="맑은 고딕"/>
                <a:ea typeface="맑은 고딕"/>
                <a:cs typeface="맑은 고딕"/>
              </a:rPr>
              <a:t>추천하는 조치, 그 이유의 설명, 후보의 순서이다.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decision_id</a:t>
            </a:r>
          </a:p>
          <a:p>
            <a:pPr algn="l" eaLnBrk="0">
              <a:lnSpc>
                <a:spcPct val="110000"/>
              </a:lnSpc>
              <a:spcAft>
                <a:spcPts val="400"/>
              </a:spcAft>
            </a:pPr>
            <a:r>
              <a:rPr sz="1400" b="0">
                <a:solidFill>
                  <a:srgbClr val="1F2A3A"/>
                </a:solidFill>
                <a:latin typeface="맑은 고딕"/>
                <a:ea typeface="맑은 고딕"/>
                <a:cs typeface="맑은 고딕"/>
              </a:rPr>
              <a:t>제출하고 돌려받은 판단 번호이다.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형식의 검사와 교정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형식이 어긋난 결과는 다음 단계로 넘어가지 못하고, 거절된 이유와 함께 에이전트에게 되돌아가 고쳐진다.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07221"/>
            <a:ext cx="2485567" cy="316826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90101"/>
            <a:ext cx="731520" cy="731520"/>
          </a:xfrm>
          <a:prstGeom prst="ellipse">
            <a:avLst/>
          </a:prstGeom>
          <a:solidFill>
            <a:srgbClr val="FFFFFF"/>
          </a:solidFill>
          <a:ln>
            <a:noFill/>
          </a:ln>
        </p:spPr>
        <p:txBody>
          <a:bodyPr rtlCol="0" anchor="ctr"/>
          <a:lstStyle/>
          <a:p>
            <a:pPr algn="ctr"/>
          </a:p>
        </p:txBody>
      </p:sp>
      <p:pic>
        <p:nvPicPr>
          <p:cNvPr id="8" name="아이콘:send" descr="send_13294B_1.6.png"/>
          <p:cNvPicPr>
            <a:picLocks noChangeAspect="1"/>
          </p:cNvPicPr>
          <p:nvPr/>
        </p:nvPicPr>
        <p:blipFill>
          <a:blip r:embed="rId3"/>
          <a:stretch>
            <a:fillRect/>
          </a:stretch>
        </p:blipFill>
        <p:spPr>
          <a:xfrm>
            <a:off x="1579283" y="2743720"/>
            <a:ext cx="424281" cy="424281"/>
          </a:xfrm>
          <a:prstGeom prst="rect">
            <a:avLst/>
          </a:prstGeom>
        </p:spPr>
      </p:pic>
      <p:sp>
        <p:nvSpPr>
          <p:cNvPr id="9" name="TextBox 8"/>
          <p:cNvSpPr txBox="1"/>
          <p:nvPr/>
        </p:nvSpPr>
        <p:spPr>
          <a:xfrm>
            <a:off x="621792"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제출</a:t>
            </a:r>
          </a:p>
          <a:p>
            <a:pPr algn="ctr" eaLnBrk="0">
              <a:lnSpc>
                <a:spcPct val="110000"/>
              </a:lnSpc>
              <a:spcAft>
                <a:spcPts val="400"/>
              </a:spcAft>
            </a:pPr>
            <a:r>
              <a:rPr sz="1600" b="0">
                <a:solidFill>
                  <a:srgbClr val="1F2A3A"/>
                </a:solidFill>
                <a:latin typeface="맑은 고딕"/>
                <a:ea typeface="맑은 고딕"/>
                <a:cs typeface="맑은 고딕"/>
              </a:rPr>
              <a:t>에이전트가</a:t>
            </a:r>
          </a:p>
          <a:p>
            <a:pPr algn="ctr" eaLnBrk="0">
              <a:lnSpc>
                <a:spcPct val="110000"/>
              </a:lnSpc>
              <a:spcAft>
                <a:spcPts val="400"/>
              </a:spcAft>
            </a:pPr>
            <a:r>
              <a:rPr sz="1600" b="0">
                <a:solidFill>
                  <a:srgbClr val="1F2A3A"/>
                </a:solidFill>
                <a:latin typeface="맑은 고딕"/>
                <a:ea typeface="맑은 고딕"/>
                <a:cs typeface="맑은 고딕"/>
              </a:rPr>
              <a:t>결과 객체를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07221"/>
            <a:ext cx="2485567" cy="316826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590101"/>
            <a:ext cx="731520" cy="731520"/>
          </a:xfrm>
          <a:prstGeom prst="ellipse">
            <a:avLst/>
          </a:prstGeom>
          <a:solidFill>
            <a:srgbClr val="5CB8F2"/>
          </a:solidFill>
          <a:ln>
            <a:no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448898" y="2743720"/>
            <a:ext cx="424281" cy="424281"/>
          </a:xfrm>
          <a:prstGeom prst="rect">
            <a:avLst/>
          </a:prstGeom>
        </p:spPr>
      </p:pic>
      <p:sp>
        <p:nvSpPr>
          <p:cNvPr id="14" name="TextBox 13"/>
          <p:cNvSpPr txBox="1"/>
          <p:nvPr/>
        </p:nvSpPr>
        <p:spPr>
          <a:xfrm>
            <a:off x="3491407"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형식 검사</a:t>
            </a:r>
          </a:p>
          <a:p>
            <a:pPr algn="ctr" eaLnBrk="0">
              <a:lnSpc>
                <a:spcPct val="110000"/>
              </a:lnSpc>
              <a:spcAft>
                <a:spcPts val="400"/>
              </a:spcAft>
            </a:pPr>
            <a:r>
              <a:rPr sz="1600" b="0">
                <a:solidFill>
                  <a:srgbClr val="1F2A3A"/>
                </a:solidFill>
                <a:latin typeface="맑은 고딕"/>
                <a:ea typeface="맑은 고딕"/>
                <a:cs typeface="맑은 고딕"/>
              </a:rPr>
              <a:t>정해진 항목과</a:t>
            </a:r>
          </a:p>
          <a:p>
            <a:pPr algn="ctr" eaLnBrk="0">
              <a:lnSpc>
                <a:spcPct val="110000"/>
              </a:lnSpc>
              <a:spcAft>
                <a:spcPts val="400"/>
              </a:spcAft>
            </a:pPr>
            <a:r>
              <a:rPr sz="1600" b="0">
                <a:solidFill>
                  <a:srgbClr val="1F2A3A"/>
                </a:solidFill>
                <a:latin typeface="맑은 고딕"/>
                <a:ea typeface="맑은 고딕"/>
                <a:cs typeface="맑은 고딕"/>
              </a:rPr>
              <a:t>맞는지를 시스템이 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07221"/>
            <a:ext cx="2485567" cy="316826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90101"/>
            <a:ext cx="731520" cy="731520"/>
          </a:xfrm>
          <a:prstGeom prst="ellipse">
            <a:avLst/>
          </a:prstGeom>
          <a:solidFill>
            <a:srgbClr val="FFFFFF"/>
          </a:solidFill>
          <a:ln>
            <a:noFill/>
          </a:ln>
        </p:spPr>
        <p:txBody>
          <a:bodyPr rtlCol="0" anchor="ctr"/>
          <a:lstStyle/>
          <a:p>
            <a:pPr algn="ctr"/>
          </a:p>
        </p:txBody>
      </p:sp>
      <p:pic>
        <p:nvPicPr>
          <p:cNvPr id="18" name="아이콘:arrow-back-up" descr="arrow-back-up_13294B_1.6.png"/>
          <p:cNvPicPr>
            <a:picLocks noChangeAspect="1"/>
          </p:cNvPicPr>
          <p:nvPr/>
        </p:nvPicPr>
        <p:blipFill>
          <a:blip r:embed="rId5"/>
          <a:stretch>
            <a:fillRect/>
          </a:stretch>
        </p:blipFill>
        <p:spPr>
          <a:xfrm>
            <a:off x="7318514" y="2743720"/>
            <a:ext cx="424281" cy="424281"/>
          </a:xfrm>
          <a:prstGeom prst="rect">
            <a:avLst/>
          </a:prstGeom>
        </p:spPr>
      </p:pic>
      <p:sp>
        <p:nvSpPr>
          <p:cNvPr id="19" name="TextBox 18"/>
          <p:cNvSpPr txBox="1"/>
          <p:nvPr/>
        </p:nvSpPr>
        <p:spPr>
          <a:xfrm>
            <a:off x="6361023"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거절과 교정</a:t>
            </a:r>
          </a:p>
          <a:p>
            <a:pPr algn="ctr" eaLnBrk="0">
              <a:lnSpc>
                <a:spcPct val="110000"/>
              </a:lnSpc>
              <a:spcAft>
                <a:spcPts val="400"/>
              </a:spcAft>
            </a:pPr>
            <a:r>
              <a:rPr sz="1600" b="0">
                <a:solidFill>
                  <a:srgbClr val="1F2A3A"/>
                </a:solidFill>
                <a:latin typeface="맑은 고딕"/>
                <a:ea typeface="맑은 고딕"/>
                <a:cs typeface="맑은 고딕"/>
              </a:rPr>
              <a:t>「출력 형식 검사에서</a:t>
            </a:r>
          </a:p>
          <a:p>
            <a:pPr algn="ctr" eaLnBrk="0">
              <a:lnSpc>
                <a:spcPct val="110000"/>
              </a:lnSpc>
              <a:spcAft>
                <a:spcPts val="400"/>
              </a:spcAft>
            </a:pPr>
            <a:r>
              <a:rPr sz="1600" b="0">
                <a:solidFill>
                  <a:srgbClr val="1F2A3A"/>
                </a:solidFill>
                <a:latin typeface="맑은 고딕"/>
                <a:ea typeface="맑은 고딕"/>
                <a:cs typeface="맑은 고딕"/>
              </a:rPr>
              <a:t>거절됐습니다」를 받고</a:t>
            </a:r>
          </a:p>
          <a:p>
            <a:pPr algn="ctr" eaLnBrk="0">
              <a:lnSpc>
                <a:spcPct val="110000"/>
              </a:lnSpc>
              <a:spcAft>
                <a:spcPts val="400"/>
              </a:spcAft>
            </a:pPr>
            <a:r>
              <a:rPr sz="1600" b="0">
                <a:solidFill>
                  <a:srgbClr val="1F2A3A"/>
                </a:solidFill>
                <a:latin typeface="맑은 고딕"/>
                <a:ea typeface="맑은 고딕"/>
                <a:cs typeface="맑은 고딕"/>
              </a:rPr>
              <a:t>고쳐서 다시 낸다</a:t>
            </a:r>
          </a:p>
          <a:p>
            <a:pPr algn="ctr" eaLnBrk="0">
              <a:lnSpc>
                <a:spcPct val="110000"/>
              </a:lnSpc>
              <a:spcAft>
                <a:spcPts val="400"/>
              </a:spcAft>
            </a:pPr>
            <a:r>
              <a:rPr sz="1600" b="0">
                <a:solidFill>
                  <a:srgbClr val="1F2A3A"/>
                </a:solidFill>
                <a:latin typeface="맑은 고딕"/>
                <a:ea typeface="맑은 고딕"/>
                <a:cs typeface="맑은 고딕"/>
              </a:rPr>
              <a:t>교정은 두 번까지</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07221"/>
            <a:ext cx="2485567" cy="316826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590101"/>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743720"/>
            <a:ext cx="424281" cy="424281"/>
          </a:xfrm>
          <a:prstGeom prst="rect">
            <a:avLst/>
          </a:prstGeom>
        </p:spPr>
      </p:pic>
      <p:sp>
        <p:nvSpPr>
          <p:cNvPr id="24" name="TextBox 23"/>
          <p:cNvSpPr txBox="1"/>
          <p:nvPr/>
        </p:nvSpPr>
        <p:spPr>
          <a:xfrm>
            <a:off x="9230639" y="3394773"/>
            <a:ext cx="2339263" cy="2107564"/>
          </a:xfrm>
          <a:prstGeom prst="rect">
            <a:avLst/>
          </a:prstGeom>
          <a:noFill/>
        </p:spPr>
        <p:txBody>
          <a:bodyPr wrap="square" anchor="t"/>
          <a:lstStyle/>
          <a:p>
            <a:pPr algn="ctr" eaLnBrk="0">
              <a:lnSpc>
                <a:spcPct val="110000"/>
              </a:lnSpc>
              <a:spcAft>
                <a:spcPts val="400"/>
              </a:spcAft>
            </a:pPr>
            <a:r>
              <a:rPr sz="1950" b="1">
                <a:solidFill>
                  <a:srgbClr val="13294B"/>
                </a:solidFill>
                <a:latin typeface="맑은 고딕"/>
                <a:ea typeface="맑은 고딕"/>
                <a:cs typeface="맑은 고딕"/>
              </a:rPr>
              <a:t>통과</a:t>
            </a:r>
          </a:p>
          <a:p>
            <a:pPr algn="ctr" eaLnBrk="0">
              <a:lnSpc>
                <a:spcPct val="110000"/>
              </a:lnSpc>
              <a:spcAft>
                <a:spcPts val="400"/>
              </a:spcAft>
            </a:pPr>
            <a:r>
              <a:rPr sz="1600" b="0">
                <a:solidFill>
                  <a:srgbClr val="1F2A3A"/>
                </a:solidFill>
                <a:latin typeface="맑은 고딕"/>
                <a:ea typeface="맑은 고딕"/>
                <a:cs typeface="맑은 고딕"/>
              </a:rPr>
              <a:t>승인할 담당자에게</a:t>
            </a:r>
          </a:p>
          <a:p>
            <a:pPr algn="ctr" eaLnBrk="0">
              <a:lnSpc>
                <a:spcPct val="110000"/>
              </a:lnSpc>
              <a:spcAft>
                <a:spcPts val="400"/>
              </a:spcAft>
            </a:pPr>
            <a:r>
              <a:rPr sz="1600" b="0">
                <a:solidFill>
                  <a:srgbClr val="1F2A3A"/>
                </a:solidFill>
                <a:latin typeface="맑은 고딕"/>
                <a:ea typeface="맑은 고딕"/>
                <a:cs typeface="맑은 고딕"/>
              </a:rPr>
              <a:t>넘어간다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 한 줄에 남는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실행 기록의 도구 호출 한 줄은 시각, 도구, 입력, 출력, 걸린 시간의 다섯 칸으로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pic>
        <p:nvPicPr>
          <p:cNvPr id="6" name="삽화:기록한줄.svg" descr="illust_3926908163195505821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68473" y="3707709"/>
            <a:ext cx="545474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기록</a:t>
            </a:r>
          </a:p>
          <a:p>
            <a:pPr algn="ctr" eaLnBrk="0">
              <a:lnSpc>
                <a:spcPct val="110000"/>
              </a:lnSpc>
              <a:spcAft>
                <a:spcPts val="100"/>
              </a:spcAft>
            </a:pPr>
            <a:r>
              <a:rPr sz="1300" b="0">
                <a:solidFill>
                  <a:srgbClr val="556175"/>
                </a:solidFill>
                <a:latin typeface="맑은 고딕"/>
                <a:ea typeface="맑은 고딕"/>
                <a:cs typeface="맑은 고딕"/>
              </a:rPr>
              <a:t>에이전트의 말과 도구 호출이 시각 순서로 쌓인다</a:t>
            </a:r>
          </a:p>
        </p:txBody>
      </p:sp>
      <p:sp>
        <p:nvSpPr>
          <p:cNvPr id="8" name="TextBox 7"/>
          <p:cNvSpPr txBox="1"/>
          <p:nvPr/>
        </p:nvSpPr>
        <p:spPr>
          <a:xfrm>
            <a:off x="1448402" y="4558649"/>
            <a:ext cx="120004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시각</a:t>
            </a:r>
          </a:p>
          <a:p>
            <a:pPr algn="ctr" eaLnBrk="0">
              <a:lnSpc>
                <a:spcPct val="110000"/>
              </a:lnSpc>
              <a:spcAft>
                <a:spcPts val="100"/>
              </a:spcAft>
            </a:pPr>
            <a:r>
              <a:rPr sz="1300" b="0">
                <a:solidFill>
                  <a:srgbClr val="556175"/>
                </a:solidFill>
                <a:latin typeface="맑은 고딕"/>
                <a:ea typeface="맑은 고딕"/>
                <a:cs typeface="맑은 고딕"/>
              </a:rPr>
              <a:t>11:13:18</a:t>
            </a:r>
          </a:p>
        </p:txBody>
      </p:sp>
      <p:sp>
        <p:nvSpPr>
          <p:cNvPr id="9" name="TextBox 8"/>
          <p:cNvSpPr txBox="1"/>
          <p:nvPr/>
        </p:nvSpPr>
        <p:spPr>
          <a:xfrm>
            <a:off x="2855727"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도구</a:t>
            </a:r>
          </a:p>
          <a:p>
            <a:pPr algn="ctr" eaLnBrk="0">
              <a:lnSpc>
                <a:spcPct val="110000"/>
              </a:lnSpc>
              <a:spcAft>
                <a:spcPts val="100"/>
              </a:spcAft>
            </a:pPr>
            <a:r>
              <a:rPr sz="1300" b="0">
                <a:solidFill>
                  <a:srgbClr val="556175"/>
                </a:solidFill>
                <a:latin typeface="맑은 고딕"/>
                <a:ea typeface="맑은 고딕"/>
                <a:cs typeface="맑은 고딕"/>
              </a:rPr>
              <a:t>원인 진단</a:t>
            </a:r>
          </a:p>
        </p:txBody>
      </p:sp>
      <p:sp>
        <p:nvSpPr>
          <p:cNvPr id="10" name="TextBox 9"/>
          <p:cNvSpPr txBox="1"/>
          <p:nvPr/>
        </p:nvSpPr>
        <p:spPr>
          <a:xfrm>
            <a:off x="4797617" y="4558649"/>
            <a:ext cx="2509183"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물음 (입력)</a:t>
            </a:r>
          </a:p>
          <a:p>
            <a:pPr algn="ctr" eaLnBrk="0">
              <a:lnSpc>
                <a:spcPct val="110000"/>
              </a:lnSpc>
              <a:spcAft>
                <a:spcPts val="100"/>
              </a:spcAft>
            </a:pPr>
            <a:r>
              <a:rPr sz="1300" b="0">
                <a:solidFill>
                  <a:srgbClr val="556175"/>
                </a:solidFill>
                <a:latin typeface="맑은 고딕"/>
                <a:ea typeface="맑은 고딕"/>
                <a:cs typeface="맑은 고딕"/>
              </a:rPr>
              <a:t>설비 HYD-01,</a:t>
            </a:r>
          </a:p>
          <a:p>
            <a:pPr algn="ctr" eaLnBrk="0">
              <a:lnSpc>
                <a:spcPct val="110000"/>
              </a:lnSpc>
              <a:spcAft>
                <a:spcPts val="100"/>
              </a:spcAft>
            </a:pPr>
            <a:r>
              <a:rPr sz="1300" b="0">
                <a:solidFill>
                  <a:srgbClr val="556175"/>
                </a:solidFill>
                <a:latin typeface="맑은 고딕"/>
                <a:ea typeface="맑은 고딕"/>
                <a:cs typeface="맑은 고딕"/>
              </a:rPr>
              <a:t>경보의 종류, 경보 번호</a:t>
            </a:r>
          </a:p>
        </p:txBody>
      </p:sp>
      <p:sp>
        <p:nvSpPr>
          <p:cNvPr id="11" name="TextBox 10"/>
          <p:cNvSpPr txBox="1"/>
          <p:nvPr/>
        </p:nvSpPr>
        <p:spPr>
          <a:xfrm>
            <a:off x="7470443" y="4558649"/>
            <a:ext cx="2072804"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받음 (출력)</a:t>
            </a:r>
          </a:p>
          <a:p>
            <a:pPr algn="ctr" eaLnBrk="0">
              <a:lnSpc>
                <a:spcPct val="110000"/>
              </a:lnSpc>
              <a:spcAft>
                <a:spcPts val="100"/>
              </a:spcAft>
            </a:pPr>
            <a:r>
              <a:rPr sz="1300" b="0">
                <a:solidFill>
                  <a:srgbClr val="556175"/>
                </a:solidFill>
                <a:latin typeface="맑은 고딕"/>
                <a:ea typeface="맑은 고딕"/>
                <a:cs typeface="맑은 고딕"/>
              </a:rPr>
              <a:t>원문 13,763자 (JSON)</a:t>
            </a:r>
          </a:p>
        </p:txBody>
      </p:sp>
      <p:sp>
        <p:nvSpPr>
          <p:cNvPr id="12" name="TextBox 11"/>
          <p:cNvSpPr txBox="1"/>
          <p:nvPr/>
        </p:nvSpPr>
        <p:spPr>
          <a:xfrm>
            <a:off x="9685071" y="4558649"/>
            <a:ext cx="109094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걸린 시간</a:t>
            </a:r>
          </a:p>
          <a:p>
            <a:pPr algn="ctr" eaLnBrk="0">
              <a:lnSpc>
                <a:spcPct val="110000"/>
              </a:lnSpc>
              <a:spcAft>
                <a:spcPts val="100"/>
              </a:spcAft>
            </a:pPr>
            <a:r>
              <a:rPr sz="1300" b="0">
                <a:solidFill>
                  <a:srgbClr val="556175"/>
                </a:solidFill>
                <a:latin typeface="맑은 고딕"/>
                <a:ea typeface="맑은 고딕"/>
                <a:cs typeface="맑은 고딕"/>
              </a:rPr>
              <a:t>218 ms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기록의 쓰임: 결과에서 호출로 거슬러 올라가기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추천이 이상해 보일 때는 결과의 값에서 그 값을 돌려준 호출의 출력으로, 다시 그 호출의 입력으로 거슬러 올라간다.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ectangle 5"/>
          <p:cNvSpPr/>
          <p:nvPr/>
        </p:nvSpPr>
        <p:spPr>
          <a:xfrm>
            <a:off x="1935441" y="3100197"/>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84145"/>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lipboard-list" descr="clipboard-list_13294B_1.6.png"/>
          <p:cNvPicPr>
            <a:picLocks noChangeAspect="1"/>
          </p:cNvPicPr>
          <p:nvPr/>
        </p:nvPicPr>
        <p:blipFill>
          <a:blip r:embed="rId3"/>
          <a:stretch>
            <a:fillRect/>
          </a:stretch>
        </p:blipFill>
        <p:spPr>
          <a:xfrm>
            <a:off x="1718271" y="2901315"/>
            <a:ext cx="434340" cy="434340"/>
          </a:xfrm>
          <a:prstGeom prst="rect">
            <a:avLst/>
          </a:prstGeom>
        </p:spPr>
      </p:pic>
      <p:sp>
        <p:nvSpPr>
          <p:cNvPr id="9" name="Oval 8"/>
          <p:cNvSpPr/>
          <p:nvPr/>
        </p:nvSpPr>
        <p:spPr>
          <a:xfrm>
            <a:off x="2095461" y="2638425"/>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결과의 값</a:t>
            </a:r>
          </a:p>
          <a:p>
            <a:pPr algn="ctr" eaLnBrk="0">
              <a:lnSpc>
                <a:spcPct val="110000"/>
              </a:lnSpc>
              <a:spcAft>
                <a:spcPts val="400"/>
              </a:spcAft>
            </a:pPr>
            <a:r>
              <a:rPr sz="1650" b="0">
                <a:solidFill>
                  <a:srgbClr val="1F2A3A"/>
                </a:solidFill>
                <a:latin typeface="맑은 고딕"/>
                <a:ea typeface="맑은 고딕"/>
                <a:cs typeface="맑은 고딕"/>
              </a:rPr>
              <a:t>추천안에서</a:t>
            </a:r>
          </a:p>
          <a:p>
            <a:pPr algn="ctr" eaLnBrk="0">
              <a:lnSpc>
                <a:spcPct val="110000"/>
              </a:lnSpc>
              <a:spcAft>
                <a:spcPts val="400"/>
              </a:spcAft>
            </a:pPr>
            <a:r>
              <a:rPr sz="1650" b="0">
                <a:solidFill>
                  <a:srgbClr val="1F2A3A"/>
                </a:solidFill>
                <a:latin typeface="맑은 고딕"/>
                <a:ea typeface="맑은 고딕"/>
                <a:cs typeface="맑은 고딕"/>
              </a:rPr>
              <a:t>의심스러운 값을 고른다</a:t>
            </a:r>
          </a:p>
        </p:txBody>
      </p:sp>
      <p:sp>
        <p:nvSpPr>
          <p:cNvPr id="12" name="Oval 11"/>
          <p:cNvSpPr/>
          <p:nvPr/>
        </p:nvSpPr>
        <p:spPr>
          <a:xfrm>
            <a:off x="4274705" y="2684145"/>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zoom-check" descr="zoom-check_13294B_1.6.png"/>
          <p:cNvPicPr>
            <a:picLocks noChangeAspect="1"/>
          </p:cNvPicPr>
          <p:nvPr/>
        </p:nvPicPr>
        <p:blipFill>
          <a:blip r:embed="rId4"/>
          <a:stretch>
            <a:fillRect/>
          </a:stretch>
        </p:blipFill>
        <p:spPr>
          <a:xfrm>
            <a:off x="4491875" y="2901315"/>
            <a:ext cx="434340" cy="434340"/>
          </a:xfrm>
          <a:prstGeom prst="rect">
            <a:avLst/>
          </a:prstGeom>
        </p:spPr>
      </p:pic>
      <p:sp>
        <p:nvSpPr>
          <p:cNvPr id="14" name="Oval 13"/>
          <p:cNvSpPr/>
          <p:nvPr/>
        </p:nvSpPr>
        <p:spPr>
          <a:xfrm>
            <a:off x="4869065" y="2638425"/>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호출의 출력</a:t>
            </a:r>
          </a:p>
          <a:p>
            <a:pPr algn="ctr" eaLnBrk="0">
              <a:lnSpc>
                <a:spcPct val="110000"/>
              </a:lnSpc>
              <a:spcAft>
                <a:spcPts val="400"/>
              </a:spcAft>
            </a:pPr>
            <a:r>
              <a:rPr sz="1650" b="0">
                <a:solidFill>
                  <a:srgbClr val="1F2A3A"/>
                </a:solidFill>
                <a:latin typeface="맑은 고딕"/>
                <a:ea typeface="맑은 고딕"/>
                <a:cs typeface="맑은 고딕"/>
              </a:rPr>
              <a:t>그 값을 돌려준 호출을</a:t>
            </a:r>
          </a:p>
          <a:p>
            <a:pPr algn="ctr" eaLnBrk="0">
              <a:lnSpc>
                <a:spcPct val="110000"/>
              </a:lnSpc>
              <a:spcAft>
                <a:spcPts val="400"/>
              </a:spcAft>
            </a:pPr>
            <a:r>
              <a:rPr sz="1650" b="0">
                <a:solidFill>
                  <a:srgbClr val="1F2A3A"/>
                </a:solidFill>
                <a:latin typeface="맑은 고딕"/>
                <a:ea typeface="맑은 고딕"/>
                <a:cs typeface="맑은 고딕"/>
              </a:rPr>
              <a:t>기록에서 찾는다</a:t>
            </a:r>
          </a:p>
        </p:txBody>
      </p:sp>
      <p:sp>
        <p:nvSpPr>
          <p:cNvPr id="17" name="Oval 16"/>
          <p:cNvSpPr/>
          <p:nvPr/>
        </p:nvSpPr>
        <p:spPr>
          <a:xfrm>
            <a:off x="7048309" y="2684145"/>
            <a:ext cx="868680" cy="868680"/>
          </a:xfrm>
          <a:prstGeom prst="ellipse">
            <a:avLst/>
          </a:prstGeom>
          <a:solidFill>
            <a:srgbClr val="5CB8F2"/>
          </a:solidFill>
          <a:ln>
            <a:no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7265479" y="2901315"/>
            <a:ext cx="434340" cy="434340"/>
          </a:xfrm>
          <a:prstGeom prst="rect">
            <a:avLst/>
          </a:prstGeom>
        </p:spPr>
      </p:pic>
      <p:sp>
        <p:nvSpPr>
          <p:cNvPr id="19" name="Oval 18"/>
          <p:cNvSpPr/>
          <p:nvPr/>
        </p:nvSpPr>
        <p:spPr>
          <a:xfrm>
            <a:off x="7642669" y="2638425"/>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호출의 입력</a:t>
            </a:r>
          </a:p>
          <a:p>
            <a:pPr algn="ctr" eaLnBrk="0">
              <a:lnSpc>
                <a:spcPct val="110000"/>
              </a:lnSpc>
              <a:spcAft>
                <a:spcPts val="400"/>
              </a:spcAft>
            </a:pPr>
            <a:r>
              <a:rPr sz="1650" b="0">
                <a:solidFill>
                  <a:srgbClr val="1F2A3A"/>
                </a:solidFill>
                <a:latin typeface="맑은 고딕"/>
                <a:ea typeface="맑은 고딕"/>
                <a:cs typeface="맑은 고딕"/>
              </a:rPr>
              <a:t>도구에 넣은 물음이</a:t>
            </a:r>
          </a:p>
          <a:p>
            <a:pPr algn="ctr" eaLnBrk="0">
              <a:lnSpc>
                <a:spcPct val="110000"/>
              </a:lnSpc>
              <a:spcAft>
                <a:spcPts val="400"/>
              </a:spcAft>
            </a:pPr>
            <a:r>
              <a:rPr sz="1650" b="0">
                <a:solidFill>
                  <a:srgbClr val="1F2A3A"/>
                </a:solidFill>
                <a:latin typeface="맑은 고딕"/>
                <a:ea typeface="맑은 고딕"/>
                <a:cs typeface="맑은 고딕"/>
              </a:rPr>
              <a:t>옳았는지를 본다</a:t>
            </a:r>
          </a:p>
        </p:txBody>
      </p:sp>
      <p:sp>
        <p:nvSpPr>
          <p:cNvPr id="22" name="Oval 21"/>
          <p:cNvSpPr/>
          <p:nvPr/>
        </p:nvSpPr>
        <p:spPr>
          <a:xfrm>
            <a:off x="9821913" y="2684145"/>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file-search" descr="file-search_13294B_1.6.png"/>
          <p:cNvPicPr>
            <a:picLocks noChangeAspect="1"/>
          </p:cNvPicPr>
          <p:nvPr/>
        </p:nvPicPr>
        <p:blipFill>
          <a:blip r:embed="rId6"/>
          <a:stretch>
            <a:fillRect/>
          </a:stretch>
        </p:blipFill>
        <p:spPr>
          <a:xfrm>
            <a:off x="10039083" y="2901315"/>
            <a:ext cx="434340" cy="434340"/>
          </a:xfrm>
          <a:prstGeom prst="rect">
            <a:avLst/>
          </a:prstGeom>
        </p:spPr>
      </p:pic>
      <p:sp>
        <p:nvSpPr>
          <p:cNvPr id="24" name="Oval 23"/>
          <p:cNvSpPr/>
          <p:nvPr/>
        </p:nvSpPr>
        <p:spPr>
          <a:xfrm>
            <a:off x="10416273" y="2638425"/>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38425"/>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35705"/>
            <a:ext cx="2627299" cy="1562861"/>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호출 사이의 말</a:t>
            </a:r>
          </a:p>
          <a:p>
            <a:pPr algn="ctr" eaLnBrk="0">
              <a:lnSpc>
                <a:spcPct val="110000"/>
              </a:lnSpc>
              <a:spcAft>
                <a:spcPts val="400"/>
              </a:spcAft>
            </a:pPr>
            <a:r>
              <a:rPr sz="1650" b="0">
                <a:solidFill>
                  <a:srgbClr val="1F2A3A"/>
                </a:solidFill>
                <a:latin typeface="맑은 고딕"/>
                <a:ea typeface="맑은 고딕"/>
                <a:cs typeface="맑은 고딕"/>
              </a:rPr>
              <a:t>에이전트가 그 도구를</a:t>
            </a:r>
          </a:p>
          <a:p>
            <a:pPr algn="ctr" eaLnBrk="0">
              <a:lnSpc>
                <a:spcPct val="110000"/>
              </a:lnSpc>
              <a:spcAft>
                <a:spcPts val="400"/>
              </a:spcAft>
            </a:pPr>
            <a:r>
              <a:rPr sz="1650" b="0">
                <a:solidFill>
                  <a:srgbClr val="1F2A3A"/>
                </a:solidFill>
                <a:latin typeface="맑은 고딕"/>
                <a:ea typeface="맑은 고딕"/>
                <a:cs typeface="맑은 고딕"/>
              </a:rPr>
              <a:t>부른 까닭을 읽는다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 제시: 식별자의 인용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cause:cooler-fin-fouling 같은 식별자가 적혀 있어야 추천안의 원인이 등록된 지식인지 지어낸 말인지를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64308"/>
            <a:ext cx="3515258" cy="305409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65476"/>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19095"/>
            <a:ext cx="424281" cy="424281"/>
          </a:xfrm>
          <a:prstGeom prst="rect">
            <a:avLst/>
          </a:prstGeom>
        </p:spPr>
      </p:pic>
      <p:sp>
        <p:nvSpPr>
          <p:cNvPr id="9" name="TextBox 8"/>
          <p:cNvSpPr txBox="1"/>
          <p:nvPr/>
        </p:nvSpPr>
        <p:spPr>
          <a:xfrm>
            <a:off x="713232" y="3488436"/>
            <a:ext cx="3186074" cy="1527048"/>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원인</a:t>
            </a:r>
          </a:p>
          <a:p>
            <a:pPr algn="l" eaLnBrk="0" marL="194310" indent="-194310">
              <a:lnSpc>
                <a:spcPct val="110000"/>
              </a:lnSpc>
              <a:spcAft>
                <a:spcPts val="400"/>
              </a:spcAft>
            </a:pPr>
            <a:r>
              <a:rPr sz="1700" b="0">
                <a:solidFill>
                  <a:srgbClr val="1F2A3A"/>
                </a:solidFill>
                <a:latin typeface="맑은 고딕"/>
                <a:ea typeface="맑은 고딕"/>
                <a:cs typeface="맑은 고딕"/>
              </a:rPr>
              <a:t>• cause:cooler-fin-fouling</a:t>
            </a:r>
          </a:p>
          <a:p>
            <a:pPr algn="l" eaLnBrk="0" marL="194310" indent="-194310">
              <a:lnSpc>
                <a:spcPct val="110000"/>
              </a:lnSpc>
              <a:spcAft>
                <a:spcPts val="400"/>
              </a:spcAft>
            </a:pPr>
            <a:r>
              <a:rPr sz="1700" b="0">
                <a:solidFill>
                  <a:srgbClr val="1F2A3A"/>
                </a:solidFill>
                <a:latin typeface="맑은 고딕"/>
                <a:ea typeface="맑은 고딕"/>
                <a:cs typeface="맑은 고딕"/>
              </a:rPr>
              <a:t>• 쿨러 핀 오염</a:t>
            </a:r>
          </a:p>
        </p:txBody>
      </p:sp>
      <p:sp>
        <p:nvSpPr>
          <p:cNvPr id="10" name="Rounded Rectangle 9"/>
          <p:cNvSpPr/>
          <p:nvPr/>
        </p:nvSpPr>
        <p:spPr>
          <a:xfrm>
            <a:off x="777240" y="5088636"/>
            <a:ext cx="841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88636"/>
            <a:ext cx="8412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cause:</a:t>
            </a:r>
          </a:p>
        </p:txBody>
      </p:sp>
      <p:sp>
        <p:nvSpPr>
          <p:cNvPr id="12" name="Rounded Rectangle 11"/>
          <p:cNvSpPr/>
          <p:nvPr/>
        </p:nvSpPr>
        <p:spPr>
          <a:xfrm>
            <a:off x="4338218" y="2464308"/>
            <a:ext cx="3515258" cy="305409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65476"/>
            <a:ext cx="731520" cy="731520"/>
          </a:xfrm>
          <a:prstGeom prst="ellipse">
            <a:avLst/>
          </a:prstGeom>
          <a:solidFill>
            <a:srgbClr val="E7F3FD"/>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819095"/>
            <a:ext cx="424281" cy="424281"/>
          </a:xfrm>
          <a:prstGeom prst="rect">
            <a:avLst/>
          </a:prstGeom>
        </p:spPr>
      </p:pic>
      <p:sp>
        <p:nvSpPr>
          <p:cNvPr id="15" name="TextBox 14"/>
          <p:cNvSpPr txBox="1"/>
          <p:nvPr/>
        </p:nvSpPr>
        <p:spPr>
          <a:xfrm>
            <a:off x="4502810" y="3488436"/>
            <a:ext cx="3186074" cy="1527048"/>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고장 유형</a:t>
            </a:r>
          </a:p>
          <a:p>
            <a:pPr algn="l" eaLnBrk="0" marL="194310" indent="-194310">
              <a:lnSpc>
                <a:spcPct val="110000"/>
              </a:lnSpc>
              <a:spcAft>
                <a:spcPts val="400"/>
              </a:spcAft>
            </a:pPr>
            <a:r>
              <a:rPr sz="1700" b="0">
                <a:solidFill>
                  <a:srgbClr val="1F2A3A"/>
                </a:solidFill>
                <a:latin typeface="맑은 고딕"/>
                <a:ea typeface="맑은 고딕"/>
                <a:cs typeface="맑은 고딕"/>
              </a:rPr>
              <a:t>• fm:cooler-performance-loss</a:t>
            </a:r>
          </a:p>
          <a:p>
            <a:pPr algn="l" eaLnBrk="0" marL="194310" indent="-194310">
              <a:lnSpc>
                <a:spcPct val="110000"/>
              </a:lnSpc>
              <a:spcAft>
                <a:spcPts val="400"/>
              </a:spcAft>
            </a:pPr>
            <a:r>
              <a:rPr sz="1700" b="0">
                <a:solidFill>
                  <a:srgbClr val="1F2A3A"/>
                </a:solidFill>
                <a:latin typeface="맑은 고딕"/>
                <a:ea typeface="맑은 고딕"/>
                <a:cs typeface="맑은 고딕"/>
              </a:rPr>
              <a:t>• 쿨러 냉각 성능 상실</a:t>
            </a:r>
          </a:p>
        </p:txBody>
      </p:sp>
      <p:sp>
        <p:nvSpPr>
          <p:cNvPr id="16" name="Rounded Rectangle 15"/>
          <p:cNvSpPr/>
          <p:nvPr/>
        </p:nvSpPr>
        <p:spPr>
          <a:xfrm>
            <a:off x="4566818" y="508863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8863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fm:</a:t>
            </a:r>
          </a:p>
        </p:txBody>
      </p:sp>
      <p:sp>
        <p:nvSpPr>
          <p:cNvPr id="18" name="Rounded Rectangle 17"/>
          <p:cNvSpPr/>
          <p:nvPr/>
        </p:nvSpPr>
        <p:spPr>
          <a:xfrm>
            <a:off x="8127796" y="2464308"/>
            <a:ext cx="3515258" cy="305409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65476"/>
            <a:ext cx="731520" cy="731520"/>
          </a:xfrm>
          <a:prstGeom prst="ellipse">
            <a:avLst/>
          </a:prstGeom>
          <a:solidFill>
            <a:srgbClr val="5CB8F2"/>
          </a:solidFill>
          <a:ln>
            <a:noFill/>
          </a:ln>
        </p:spPr>
        <p:txBody>
          <a:bodyPr rtlCol="0" anchor="ctr"/>
          <a:lstStyle/>
          <a:p>
            <a:pPr algn="ctr"/>
          </a:p>
        </p:txBody>
      </p:sp>
      <p:pic>
        <p:nvPicPr>
          <p:cNvPr id="20" name="아이콘:propeller" descr="propeller_13294B_1.6.png"/>
          <p:cNvPicPr>
            <a:picLocks noChangeAspect="1"/>
          </p:cNvPicPr>
          <p:nvPr/>
        </p:nvPicPr>
        <p:blipFill>
          <a:blip r:embed="rId5"/>
          <a:stretch>
            <a:fillRect/>
          </a:stretch>
        </p:blipFill>
        <p:spPr>
          <a:xfrm>
            <a:off x="8510016" y="2819095"/>
            <a:ext cx="424281" cy="424281"/>
          </a:xfrm>
          <a:prstGeom prst="rect">
            <a:avLst/>
          </a:prstGeom>
        </p:spPr>
      </p:pic>
      <p:sp>
        <p:nvSpPr>
          <p:cNvPr id="21" name="TextBox 20"/>
          <p:cNvSpPr txBox="1"/>
          <p:nvPr/>
        </p:nvSpPr>
        <p:spPr>
          <a:xfrm>
            <a:off x="8292388" y="3488436"/>
            <a:ext cx="3186074" cy="1527048"/>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조치 방법</a:t>
            </a:r>
          </a:p>
          <a:p>
            <a:pPr algn="l" eaLnBrk="0" marL="194310" indent="-194310">
              <a:lnSpc>
                <a:spcPct val="110000"/>
              </a:lnSpc>
              <a:spcAft>
                <a:spcPts val="400"/>
              </a:spcAft>
            </a:pPr>
            <a:r>
              <a:rPr sz="1700" b="0">
                <a:solidFill>
                  <a:srgbClr val="1F2A3A"/>
                </a:solidFill>
                <a:latin typeface="맑은 고딕"/>
                <a:ea typeface="맑은 고딕"/>
                <a:cs typeface="맑은 고딕"/>
              </a:rPr>
              <a:t>• skill:sop-cool-11</a:t>
            </a:r>
          </a:p>
          <a:p>
            <a:pPr algn="l" eaLnBrk="0" marL="194310" indent="-194310">
              <a:lnSpc>
                <a:spcPct val="110000"/>
              </a:lnSpc>
              <a:spcAft>
                <a:spcPts val="400"/>
              </a:spcAft>
            </a:pPr>
            <a:r>
              <a:rPr sz="1700" b="0">
                <a:solidFill>
                  <a:srgbClr val="1F2A3A"/>
                </a:solidFill>
                <a:latin typeface="맑은 고딕"/>
                <a:ea typeface="맑은 고딕"/>
                <a:cs typeface="맑은 고딕"/>
              </a:rPr>
              <a:t>• 팬 최대 운전 · 출처 HM-8.5</a:t>
            </a:r>
          </a:p>
        </p:txBody>
      </p:sp>
      <p:sp>
        <p:nvSpPr>
          <p:cNvPr id="22" name="Rounded Rectangle 21"/>
          <p:cNvSpPr/>
          <p:nvPr/>
        </p:nvSpPr>
        <p:spPr>
          <a:xfrm>
            <a:off x="8356396" y="5088636"/>
            <a:ext cx="84124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88636"/>
            <a:ext cx="841248"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skill: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근거의 대조: 적어 낸 근거가 호출 기록에 있는가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근거라고 적은 조회가 실제 호출 기록에 있는지를 시스템이 대조해, 꾸며 낸 근거를 확인된 근거와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398521"/>
            <a:ext cx="5181447" cy="318566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99690"/>
            <a:ext cx="731520" cy="731520"/>
          </a:xfrm>
          <a:prstGeom prst="ellipse">
            <a:avLst/>
          </a:prstGeom>
          <a:solidFill>
            <a:srgbClr val="FFFFFF"/>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76579" y="2753309"/>
            <a:ext cx="424281" cy="424281"/>
          </a:xfrm>
          <a:prstGeom prst="rect">
            <a:avLst/>
          </a:prstGeom>
        </p:spPr>
      </p:pic>
      <p:sp>
        <p:nvSpPr>
          <p:cNvPr id="9" name="TextBox 8"/>
          <p:cNvSpPr txBox="1"/>
          <p:nvPr/>
        </p:nvSpPr>
        <p:spPr>
          <a:xfrm>
            <a:off x="1691640" y="259969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호출 기록에 있는 근거</a:t>
            </a:r>
          </a:p>
        </p:txBody>
      </p:sp>
      <p:sp>
        <p:nvSpPr>
          <p:cNvPr id="10" name="TextBox 9"/>
          <p:cNvSpPr txBox="1"/>
          <p:nvPr/>
        </p:nvSpPr>
        <p:spPr>
          <a:xfrm>
            <a:off x="822959" y="3450081"/>
            <a:ext cx="4632807" cy="1585468"/>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답에 적힌 조회문이 실제로 실행한 조회와 같다</a:t>
            </a:r>
          </a:p>
          <a:p>
            <a:pPr algn="l" eaLnBrk="0" marL="177165" indent="-177165">
              <a:lnSpc>
                <a:spcPct val="110000"/>
              </a:lnSpc>
              <a:spcAft>
                <a:spcPts val="600"/>
              </a:spcAft>
            </a:pPr>
            <a:r>
              <a:rPr sz="1550" b="0">
                <a:solidFill>
                  <a:srgbClr val="1F2A3A"/>
                </a:solidFill>
                <a:latin typeface="맑은 고딕"/>
                <a:ea typeface="맑은 고딕"/>
                <a:cs typeface="맑은 고딕"/>
              </a:rPr>
              <a:t>• 화면에 「근거 N개 확인」으로 보인다</a:t>
            </a:r>
          </a:p>
        </p:txBody>
      </p:sp>
      <p:sp>
        <p:nvSpPr>
          <p:cNvPr id="11" name="Rounded Rectangle 10"/>
          <p:cNvSpPr/>
          <p:nvPr/>
        </p:nvSpPr>
        <p:spPr>
          <a:xfrm>
            <a:off x="868680" y="5126990"/>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26990"/>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답으로 보인다</a:t>
            </a:r>
          </a:p>
        </p:txBody>
      </p:sp>
      <p:sp>
        <p:nvSpPr>
          <p:cNvPr id="13" name="Rounded Rectangle 12"/>
          <p:cNvSpPr/>
          <p:nvPr/>
        </p:nvSpPr>
        <p:spPr>
          <a:xfrm>
            <a:off x="6461607" y="2398521"/>
            <a:ext cx="5181447" cy="318566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99690"/>
            <a:ext cx="731520" cy="731520"/>
          </a:xfrm>
          <a:prstGeom prst="ellipse">
            <a:avLst/>
          </a:prstGeom>
          <a:solidFill>
            <a:srgbClr val="5CB8F2"/>
          </a:solidFill>
          <a:ln>
            <a:noFill/>
          </a:ln>
        </p:spPr>
        <p:txBody>
          <a:bodyPr rtlCol="0" anchor="ctr"/>
          <a:lstStyle/>
          <a:p>
            <a:pPr algn="ctr"/>
          </a:p>
        </p:txBody>
      </p:sp>
      <p:pic>
        <p:nvPicPr>
          <p:cNvPr id="15" name="아이콘:zoom-question" descr="zoom-question_13294B_1.6.png"/>
          <p:cNvPicPr>
            <a:picLocks noChangeAspect="1"/>
          </p:cNvPicPr>
          <p:nvPr/>
        </p:nvPicPr>
        <p:blipFill>
          <a:blip r:embed="rId4"/>
          <a:stretch>
            <a:fillRect/>
          </a:stretch>
        </p:blipFill>
        <p:spPr>
          <a:xfrm>
            <a:off x="6889546" y="2753309"/>
            <a:ext cx="424281" cy="424281"/>
          </a:xfrm>
          <a:prstGeom prst="rect">
            <a:avLst/>
          </a:prstGeom>
        </p:spPr>
      </p:pic>
      <p:sp>
        <p:nvSpPr>
          <p:cNvPr id="16" name="TextBox 15"/>
          <p:cNvSpPr txBox="1"/>
          <p:nvPr/>
        </p:nvSpPr>
        <p:spPr>
          <a:xfrm>
            <a:off x="7604607" y="259969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호출 기록에 없는 근거</a:t>
            </a:r>
          </a:p>
        </p:txBody>
      </p:sp>
      <p:sp>
        <p:nvSpPr>
          <p:cNvPr id="17" name="TextBox 16"/>
          <p:cNvSpPr txBox="1"/>
          <p:nvPr/>
        </p:nvSpPr>
        <p:spPr>
          <a:xfrm>
            <a:off x="6735927" y="3450081"/>
            <a:ext cx="4632807" cy="1585468"/>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답에 적힌 조회를 호출 기록에서 찾을 수 없다</a:t>
            </a:r>
          </a:p>
          <a:p>
            <a:pPr algn="l" eaLnBrk="0" marL="177165" indent="-177165">
              <a:lnSpc>
                <a:spcPct val="110000"/>
              </a:lnSpc>
              <a:spcAft>
                <a:spcPts val="600"/>
              </a:spcAft>
            </a:pPr>
            <a:r>
              <a:rPr sz="1550" b="0">
                <a:solidFill>
                  <a:srgbClr val="1F2A3A"/>
                </a:solidFill>
                <a:latin typeface="맑은 고딕"/>
                <a:ea typeface="맑은 고딕"/>
                <a:cs typeface="맑은 고딕"/>
              </a:rPr>
              <a:t>• 「답할 수 없음」과 그 이유로 보이고, 낸 답은</a:t>
            </a:r>
          </a:p>
          <a:p>
            <a:pPr algn="l" eaLnBrk="0" marL="177165" indent="-177165">
              <a:lnSpc>
                <a:spcPct val="110000"/>
              </a:lnSpc>
              <a:spcAft>
                <a:spcPts val="600"/>
              </a:spcAft>
            </a:pPr>
            <a:r>
              <a:rPr sz="1550" b="0">
                <a:solidFill>
                  <a:srgbClr val="1F2A3A"/>
                </a:solidFill>
                <a:latin typeface="맑은 고딕"/>
                <a:ea typeface="맑은 고딕"/>
                <a:cs typeface="맑은 고딕"/>
              </a:rPr>
              <a:t>• 「에이전트가 낸 답 (근거 확인 안 됨)」으로 접힌다</a:t>
            </a:r>
          </a:p>
        </p:txBody>
      </p:sp>
      <p:sp>
        <p:nvSpPr>
          <p:cNvPr id="18" name="Rounded Rectangle 17"/>
          <p:cNvSpPr/>
          <p:nvPr/>
        </p:nvSpPr>
        <p:spPr>
          <a:xfrm>
            <a:off x="6781647" y="5126990"/>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26990"/>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답으로 보이지 않는다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확인된 원인과 가설: 함께 변한 값만으로 단정하지 않는다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두 값이 함께 변했다는 사실만으로는 원인을 정할 수 없고, 등록된 증거 기준에 맞은 것만 확인된 원인으로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2201608"/>
            <a:ext cx="5181447" cy="357949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02776"/>
            <a:ext cx="731520" cy="731520"/>
          </a:xfrm>
          <a:prstGeom prst="ellipse">
            <a:avLst/>
          </a:prstGeom>
          <a:solidFill>
            <a:srgbClr val="FFFFFF"/>
          </a:solidFill>
          <a:ln>
            <a:noFill/>
          </a:ln>
        </p:spPr>
        <p:txBody>
          <a:bodyPr rtlCol="0" anchor="ctr"/>
          <a:lstStyle/>
          <a:p>
            <a:pPr algn="ctr"/>
          </a:p>
        </p:txBody>
      </p:sp>
      <p:pic>
        <p:nvPicPr>
          <p:cNvPr id="8" name="아이콘:chart-dots" descr="chart-dots_13294B_1.6.png"/>
          <p:cNvPicPr>
            <a:picLocks noChangeAspect="1"/>
          </p:cNvPicPr>
          <p:nvPr/>
        </p:nvPicPr>
        <p:blipFill>
          <a:blip r:embed="rId3"/>
          <a:stretch>
            <a:fillRect/>
          </a:stretch>
        </p:blipFill>
        <p:spPr>
          <a:xfrm>
            <a:off x="976579" y="2556395"/>
            <a:ext cx="424281" cy="424281"/>
          </a:xfrm>
          <a:prstGeom prst="rect">
            <a:avLst/>
          </a:prstGeom>
        </p:spPr>
      </p:pic>
      <p:sp>
        <p:nvSpPr>
          <p:cNvPr id="9" name="TextBox 8"/>
          <p:cNvSpPr txBox="1"/>
          <p:nvPr/>
        </p:nvSpPr>
        <p:spPr>
          <a:xfrm>
            <a:off x="1691640" y="240277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함께 변한 값으로 단정한다</a:t>
            </a:r>
          </a:p>
        </p:txBody>
      </p:sp>
      <p:sp>
        <p:nvSpPr>
          <p:cNvPr id="10" name="TextBox 9"/>
          <p:cNvSpPr txBox="1"/>
          <p:nvPr/>
        </p:nvSpPr>
        <p:spPr>
          <a:xfrm>
            <a:off x="822959"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유온이 오르는 동안 냉각 효율이 떨어졌다</a:t>
            </a:r>
          </a:p>
          <a:p>
            <a:pPr algn="l" eaLnBrk="0" marL="188595" indent="-188595">
              <a:lnSpc>
                <a:spcPct val="110000"/>
              </a:lnSpc>
              <a:spcAft>
                <a:spcPts val="600"/>
              </a:spcAft>
            </a:pPr>
            <a:r>
              <a:rPr sz="1650" b="0">
                <a:solidFill>
                  <a:srgbClr val="1F2A3A"/>
                </a:solidFill>
                <a:latin typeface="맑은 고딕"/>
                <a:ea typeface="맑은 고딕"/>
                <a:cs typeface="맑은 고딕"/>
              </a:rPr>
              <a:t>• 「쿨러가 원인이다」라고 적는다</a:t>
            </a:r>
          </a:p>
          <a:p>
            <a:pPr algn="l" eaLnBrk="0" marL="188595" indent="-188595">
              <a:lnSpc>
                <a:spcPct val="110000"/>
              </a:lnSpc>
              <a:spcAft>
                <a:spcPts val="600"/>
              </a:spcAft>
            </a:pPr>
            <a:r>
              <a:rPr sz="1650" b="0">
                <a:solidFill>
                  <a:srgbClr val="1F2A3A"/>
                </a:solidFill>
                <a:latin typeface="맑은 고딕"/>
                <a:ea typeface="맑은 고딕"/>
                <a:cs typeface="맑은 고딕"/>
              </a:rPr>
              <a:t>• 팬 구동 불량이나 주변 온도 상승에서도</a:t>
            </a:r>
          </a:p>
          <a:p>
            <a:pPr algn="l" eaLnBrk="0" marL="188595" indent="-188595">
              <a:lnSpc>
                <a:spcPct val="110000"/>
              </a:lnSpc>
              <a:spcAft>
                <a:spcPts val="600"/>
              </a:spcAft>
            </a:pPr>
            <a:r>
              <a:rPr sz="1650" b="0">
                <a:solidFill>
                  <a:srgbClr val="1F2A3A"/>
                </a:solidFill>
                <a:latin typeface="맑은 고딕"/>
                <a:ea typeface="맑은 고딕"/>
                <a:cs typeface="맑은 고딕"/>
              </a:rPr>
              <a:t>• 유온 상승이 나타날 수 있다</a:t>
            </a:r>
          </a:p>
        </p:txBody>
      </p:sp>
      <p:sp>
        <p:nvSpPr>
          <p:cNvPr id="11" name="Rounded Rectangle 10"/>
          <p:cNvSpPr/>
          <p:nvPr/>
        </p:nvSpPr>
        <p:spPr>
          <a:xfrm>
            <a:off x="868680" y="532390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23903"/>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단정</a:t>
            </a:r>
          </a:p>
        </p:txBody>
      </p:sp>
      <p:sp>
        <p:nvSpPr>
          <p:cNvPr id="13" name="Rounded Rectangle 12"/>
          <p:cNvSpPr/>
          <p:nvPr/>
        </p:nvSpPr>
        <p:spPr>
          <a:xfrm>
            <a:off x="6461607" y="2201608"/>
            <a:ext cx="5181447" cy="357949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02776"/>
            <a:ext cx="731520" cy="731520"/>
          </a:xfrm>
          <a:prstGeom prst="ellipse">
            <a:avLst/>
          </a:prstGeom>
          <a:solidFill>
            <a:srgbClr val="5CB8F2"/>
          </a:solidFill>
          <a:ln>
            <a:noFill/>
          </a:ln>
        </p:spPr>
        <p:txBody>
          <a:bodyPr rtlCol="0" anchor="ctr"/>
          <a:lstStyle/>
          <a:p>
            <a:pPr algn="ctr"/>
          </a:p>
        </p:txBody>
      </p:sp>
      <p:pic>
        <p:nvPicPr>
          <p:cNvPr id="15" name="아이콘:zoom-check" descr="zoom-check_13294B_1.6.png"/>
          <p:cNvPicPr>
            <a:picLocks noChangeAspect="1"/>
          </p:cNvPicPr>
          <p:nvPr/>
        </p:nvPicPr>
        <p:blipFill>
          <a:blip r:embed="rId4"/>
          <a:stretch>
            <a:fillRect/>
          </a:stretch>
        </p:blipFill>
        <p:spPr>
          <a:xfrm>
            <a:off x="6889546" y="2556395"/>
            <a:ext cx="424281" cy="424281"/>
          </a:xfrm>
          <a:prstGeom prst="rect">
            <a:avLst/>
          </a:prstGeom>
        </p:spPr>
      </p:pic>
      <p:sp>
        <p:nvSpPr>
          <p:cNvPr id="16" name="TextBox 15"/>
          <p:cNvSpPr txBox="1"/>
          <p:nvPr/>
        </p:nvSpPr>
        <p:spPr>
          <a:xfrm>
            <a:off x="7604607" y="2402776"/>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증거 기준에 대어 본다</a:t>
            </a:r>
          </a:p>
        </p:txBody>
      </p:sp>
      <p:sp>
        <p:nvSpPr>
          <p:cNvPr id="17" name="TextBox 16"/>
          <p:cNvSpPr txBox="1"/>
          <p:nvPr/>
        </p:nvSpPr>
        <p:spPr>
          <a:xfrm>
            <a:off x="6735927"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팬 진동 0.575 mm/s는 기준 0.9 미만이므로 팬은 정상이다</a:t>
            </a:r>
          </a:p>
          <a:p>
            <a:pPr algn="l" eaLnBrk="0" marL="188595" indent="-188595">
              <a:lnSpc>
                <a:spcPct val="110000"/>
              </a:lnSpc>
              <a:spcAft>
                <a:spcPts val="600"/>
              </a:spcAft>
            </a:pPr>
            <a:r>
              <a:rPr sz="1650" b="0">
                <a:solidFill>
                  <a:srgbClr val="1F2A3A"/>
                </a:solidFill>
                <a:latin typeface="맑은 고딕"/>
                <a:ea typeface="맑은 고딕"/>
                <a:cs typeface="맑은 고딕"/>
              </a:rPr>
              <a:t>• 캐비닛 온도 28 ℃는 기준 35 ℃에 못 미친다</a:t>
            </a:r>
          </a:p>
          <a:p>
            <a:pPr algn="l" eaLnBrk="0" marL="188595" indent="-188595">
              <a:lnSpc>
                <a:spcPct val="110000"/>
              </a:lnSpc>
              <a:spcAft>
                <a:spcPts val="600"/>
              </a:spcAft>
            </a:pPr>
            <a:r>
              <a:rPr sz="1650" b="0">
                <a:solidFill>
                  <a:srgbClr val="1F2A3A"/>
                </a:solidFill>
                <a:latin typeface="맑은 고딕"/>
                <a:ea typeface="맑은 고딕"/>
                <a:cs typeface="맑은 고딕"/>
              </a:rPr>
              <a:t>• 남은 쿨러 핀 오염만 확인된 원인으로 적는다</a:t>
            </a:r>
          </a:p>
          <a:p>
            <a:pPr algn="l" eaLnBrk="0" marL="188595" indent="-188595">
              <a:lnSpc>
                <a:spcPct val="110000"/>
              </a:lnSpc>
              <a:spcAft>
                <a:spcPts val="600"/>
              </a:spcAft>
            </a:pPr>
            <a:r>
              <a:rPr sz="1650" b="0">
                <a:solidFill>
                  <a:srgbClr val="1F2A3A"/>
                </a:solidFill>
                <a:latin typeface="맑은 고딕"/>
                <a:ea typeface="맑은 고딕"/>
                <a:cs typeface="맑은 고딕"/>
              </a:rPr>
              <a:t>• 확인하지 못한 후보는 가설로 표시한다</a:t>
            </a:r>
          </a:p>
        </p:txBody>
      </p:sp>
      <p:sp>
        <p:nvSpPr>
          <p:cNvPr id="18" name="Rounded Rectangle 17"/>
          <p:cNvSpPr/>
          <p:nvPr/>
        </p:nvSpPr>
        <p:spPr>
          <a:xfrm>
            <a:off x="6781647" y="5323903"/>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23903"/>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확인과 가설을 가른다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나의 첫 업무 에이전트 구성하기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구성과 질문의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직접 구성한 에이전트 하나와, 그 에이전트가 근거와 호출 기록을 붙여 답한 질문 한 건을 결과물로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구성</a:t>
            </a:r>
          </a:p>
          <a:p>
            <a:pPr algn="l" eaLnBrk="0" marL="205740" indent="-205740">
              <a:lnSpc>
                <a:spcPct val="110000"/>
              </a:lnSpc>
              <a:spcAft>
                <a:spcPts val="400"/>
              </a:spcAft>
            </a:pPr>
            <a:r>
              <a:rPr sz="1800" b="0">
                <a:solidFill>
                  <a:srgbClr val="1F2A3A"/>
                </a:solidFill>
                <a:latin typeface="맑은 고딕"/>
                <a:ea typeface="맑은 고딕"/>
                <a:cs typeface="맑은 고딕"/>
              </a:rPr>
              <a:t>• 이름 · 목표 · 역할을 적는다</a:t>
            </a:r>
          </a:p>
          <a:p>
            <a:pPr algn="l" eaLnBrk="0" marL="205740" indent="-205740">
              <a:lnSpc>
                <a:spcPct val="110000"/>
              </a:lnSpc>
              <a:spcAft>
                <a:spcPts val="400"/>
              </a:spcAft>
            </a:pPr>
            <a:r>
              <a:rPr sz="1800" b="0">
                <a:solidFill>
                  <a:srgbClr val="1F2A3A"/>
                </a:solidFill>
                <a:latin typeface="맑은 고딕"/>
                <a:ea typeface="맑은 고딕"/>
                <a:cs typeface="맑은 고딕"/>
              </a:rPr>
              <a:t>• 사용할 수 있는 읽기 도구 가운데 쓸 것을 고른다</a:t>
            </a:r>
          </a:p>
        </p:txBody>
      </p:sp>
      <p:sp>
        <p:nvSpPr>
          <p:cNvPr id="10" name="Rounded Rectangle 9"/>
          <p:cNvSpPr/>
          <p:nvPr/>
        </p:nvSpPr>
        <p:spPr>
          <a:xfrm>
            <a:off x="777240" y="5398516"/>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 정의</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message-question" descr="message-question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질문과 근거</a:t>
            </a:r>
          </a:p>
          <a:p>
            <a:pPr algn="l" eaLnBrk="0" marL="205740" indent="-205740">
              <a:lnSpc>
                <a:spcPct val="110000"/>
              </a:lnSpc>
              <a:spcAft>
                <a:spcPts val="400"/>
              </a:spcAft>
            </a:pPr>
            <a:r>
              <a:rPr sz="1800" b="0">
                <a:solidFill>
                  <a:srgbClr val="1F2A3A"/>
                </a:solidFill>
                <a:latin typeface="맑은 고딕"/>
                <a:ea typeface="맑은 고딕"/>
                <a:cs typeface="맑은 고딕"/>
              </a:rPr>
              <a:t>• 구성한 에이전트에게 직접 질문한다</a:t>
            </a:r>
          </a:p>
          <a:p>
            <a:pPr algn="l" eaLnBrk="0" marL="205740" indent="-205740">
              <a:lnSpc>
                <a:spcPct val="110000"/>
              </a:lnSpc>
              <a:spcAft>
                <a:spcPts val="400"/>
              </a:spcAft>
            </a:pPr>
            <a:r>
              <a:rPr sz="1800" b="0">
                <a:solidFill>
                  <a:srgbClr val="1F2A3A"/>
                </a:solidFill>
                <a:latin typeface="맑은 고딕"/>
                <a:ea typeface="맑은 고딕"/>
                <a:cs typeface="맑은 고딕"/>
              </a:rPr>
              <a:t>• 답에 붙은 근거와 도구 호출 기록을 읽는다</a:t>
            </a:r>
          </a:p>
        </p:txBody>
      </p:sp>
      <p:sp>
        <p:nvSpPr>
          <p:cNvPr id="16" name="Rounded Rectangle 15"/>
          <p:cNvSpPr/>
          <p:nvPr/>
        </p:nvSpPr>
        <p:spPr>
          <a:xfrm>
            <a:off x="4566818" y="5398516"/>
            <a:ext cx="161544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6154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답 · 근거 · 호출</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성공 기준</a:t>
            </a:r>
          </a:p>
          <a:p>
            <a:pPr algn="l" eaLnBrk="0" marL="205740" indent="-205740">
              <a:lnSpc>
                <a:spcPct val="110000"/>
              </a:lnSpc>
              <a:spcAft>
                <a:spcPts val="400"/>
              </a:spcAft>
            </a:pPr>
            <a:r>
              <a:rPr sz="1800" b="0">
                <a:solidFill>
                  <a:srgbClr val="1F2A3A"/>
                </a:solidFill>
                <a:latin typeface="맑은 고딕"/>
                <a:ea typeface="맑은 고딕"/>
                <a:cs typeface="맑은 고딕"/>
              </a:rPr>
              <a:t>• 근거가 호출 기록과 대조되어 확인된다</a:t>
            </a:r>
          </a:p>
          <a:p>
            <a:pPr algn="l" eaLnBrk="0" marL="205740" indent="-205740">
              <a:lnSpc>
                <a:spcPct val="110000"/>
              </a:lnSpc>
              <a:spcAft>
                <a:spcPts val="400"/>
              </a:spcAft>
            </a:pPr>
            <a:r>
              <a:rPr sz="1800" b="0">
                <a:solidFill>
                  <a:srgbClr val="1F2A3A"/>
                </a:solidFill>
                <a:latin typeface="맑은 고딕"/>
                <a:ea typeface="맑은 고딕"/>
                <a:cs typeface="맑은 고딕"/>
              </a:rPr>
              <a:t>• 기준 에이전트와 목표 · 역할 · 도구가</a:t>
            </a:r>
          </a:p>
          <a:p>
            <a:pPr algn="l" eaLnBrk="0" marL="205740" indent="-205740">
              <a:lnSpc>
                <a:spcPct val="110000"/>
              </a:lnSpc>
              <a:spcAft>
                <a:spcPts val="400"/>
              </a:spcAft>
            </a:pPr>
            <a:r>
              <a:rPr sz="1800" b="0">
                <a:solidFill>
                  <a:srgbClr val="1F2A3A"/>
                </a:solidFill>
                <a:latin typeface="맑은 고딕"/>
                <a:ea typeface="맑은 고딕"/>
                <a:cs typeface="맑은 고딕"/>
              </a:rPr>
              <a:t>• 어떻게 다른지 적는다</a:t>
            </a:r>
          </a:p>
        </p:txBody>
      </p:sp>
      <p:sp>
        <p:nvSpPr>
          <p:cNvPr id="22" name="Rounded Rectangle 21"/>
          <p:cNvSpPr/>
          <p:nvPr/>
        </p:nvSpPr>
        <p:spPr>
          <a:xfrm>
            <a:off x="8356396" y="5398516"/>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비교 기록</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이상의 원인 추론과 점검 순서 결정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추론 에이전트의 입력과 점검 계획</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공용 온톨로지의 관계와 제공된 센서 입력을 읽어, 확인된 원인과 가설을 가른 점검 계획과 그 근거를 파일로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관계를 읽는다</a:t>
            </a:r>
          </a:p>
          <a:p>
            <a:pPr algn="ctr" eaLnBrk="0">
              <a:lnSpc>
                <a:spcPct val="110000"/>
              </a:lnSpc>
              <a:spcAft>
                <a:spcPts val="400"/>
              </a:spcAft>
            </a:pPr>
            <a:r>
              <a:rPr sz="1650" b="0">
                <a:solidFill>
                  <a:srgbClr val="1F2A3A"/>
                </a:solidFill>
                <a:latin typeface="맑은 고딕"/>
                <a:ea typeface="맑은 고딕"/>
                <a:cs typeface="맑은 고딕"/>
              </a:rPr>
              <a:t>설비 → 센서 →</a:t>
            </a:r>
          </a:p>
          <a:p>
            <a:pPr algn="ctr" eaLnBrk="0">
              <a:lnSpc>
                <a:spcPct val="110000"/>
              </a:lnSpc>
              <a:spcAft>
                <a:spcPts val="400"/>
              </a:spcAft>
            </a:pPr>
            <a:r>
              <a:rPr sz="1650" b="0">
                <a:solidFill>
                  <a:srgbClr val="1F2A3A"/>
                </a:solidFill>
                <a:latin typeface="맑은 고딕"/>
                <a:ea typeface="맑은 고딕"/>
                <a:cs typeface="맑은 고딕"/>
              </a:rPr>
              <a:t>고장 유형 → SOP의</a:t>
            </a:r>
          </a:p>
          <a:p>
            <a:pPr algn="ctr" eaLnBrk="0">
              <a:lnSpc>
                <a:spcPct val="110000"/>
              </a:lnSpc>
              <a:spcAft>
                <a:spcPts val="400"/>
              </a:spcAft>
            </a:pPr>
            <a:r>
              <a:rPr sz="1650" b="0">
                <a:solidFill>
                  <a:srgbClr val="1F2A3A"/>
                </a:solidFill>
                <a:latin typeface="맑은 고딕"/>
                <a:ea typeface="맑은 고딕"/>
                <a:cs typeface="맑은 고딕"/>
              </a:rPr>
              <a:t>관계에서 원인 후보를 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chart-line" descr="chart-line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증거에 댄다</a:t>
            </a:r>
          </a:p>
          <a:p>
            <a:pPr algn="ctr" eaLnBrk="0">
              <a:lnSpc>
                <a:spcPct val="110000"/>
              </a:lnSpc>
              <a:spcAft>
                <a:spcPts val="400"/>
              </a:spcAft>
            </a:pPr>
            <a:r>
              <a:rPr sz="1650" b="0">
                <a:solidFill>
                  <a:srgbClr val="1F2A3A"/>
                </a:solidFill>
                <a:latin typeface="맑은 고딕"/>
                <a:ea typeface="맑은 고딕"/>
                <a:cs typeface="맑은 고딕"/>
              </a:rPr>
              <a:t>제공된 센서 입력을</a:t>
            </a:r>
          </a:p>
          <a:p>
            <a:pPr algn="ctr" eaLnBrk="0">
              <a:lnSpc>
                <a:spcPct val="110000"/>
              </a:lnSpc>
              <a:spcAft>
                <a:spcPts val="400"/>
              </a:spcAft>
            </a:pPr>
            <a:r>
              <a:rPr sz="1650" b="0">
                <a:solidFill>
                  <a:srgbClr val="1F2A3A"/>
                </a:solidFill>
                <a:latin typeface="맑은 고딕"/>
                <a:ea typeface="맑은 고딕"/>
                <a:cs typeface="맑은 고딕"/>
              </a:rPr>
              <a:t>증거 기준에 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원인을 가른다</a:t>
            </a:r>
          </a:p>
          <a:p>
            <a:pPr algn="ctr" eaLnBrk="0">
              <a:lnSpc>
                <a:spcPct val="110000"/>
              </a:lnSpc>
              <a:spcAft>
                <a:spcPts val="400"/>
              </a:spcAft>
            </a:pPr>
            <a:r>
              <a:rPr sz="1650" b="0">
                <a:solidFill>
                  <a:srgbClr val="1F2A3A"/>
                </a:solidFill>
                <a:latin typeface="맑은 고딕"/>
                <a:ea typeface="맑은 고딕"/>
                <a:cs typeface="맑은 고딕"/>
              </a:rPr>
              <a:t>확인된 원인과 가설,</a:t>
            </a:r>
          </a:p>
          <a:p>
            <a:pPr algn="ctr" eaLnBrk="0">
              <a:lnSpc>
                <a:spcPct val="110000"/>
              </a:lnSpc>
              <a:spcAft>
                <a:spcPts val="400"/>
              </a:spcAft>
            </a:pPr>
            <a:r>
              <a:rPr sz="1650" b="0">
                <a:solidFill>
                  <a:srgbClr val="1F2A3A"/>
                </a:solidFill>
                <a:latin typeface="맑은 고딕"/>
                <a:ea typeface="맑은 고딕"/>
                <a:cs typeface="맑은 고딕"/>
              </a:rPr>
              <a:t>해당 없음을 구분한다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점검 계획을 낸다</a:t>
            </a:r>
          </a:p>
          <a:p>
            <a:pPr algn="ctr" eaLnBrk="0">
              <a:lnSpc>
                <a:spcPct val="110000"/>
              </a:lnSpc>
              <a:spcAft>
                <a:spcPts val="400"/>
              </a:spcAft>
            </a:pPr>
            <a:r>
              <a:rPr sz="1650" b="0">
                <a:solidFill>
                  <a:srgbClr val="1F2A3A"/>
                </a:solidFill>
                <a:latin typeface="맑은 고딕"/>
                <a:ea typeface="맑은 고딕"/>
                <a:cs typeface="맑은 고딕"/>
              </a:rPr>
              <a:t>다음에 점검할 것을</a:t>
            </a:r>
          </a:p>
          <a:p>
            <a:pPr algn="ctr" eaLnBrk="0">
              <a:lnSpc>
                <a:spcPct val="110000"/>
              </a:lnSpc>
              <a:spcAft>
                <a:spcPts val="400"/>
              </a:spcAft>
            </a:pPr>
            <a:r>
              <a:rPr sz="1650" b="0">
                <a:solidFill>
                  <a:srgbClr val="1F2A3A"/>
                </a:solidFill>
                <a:latin typeface="맑은 고딕"/>
                <a:ea typeface="맑은 고딕"/>
                <a:cs typeface="맑은 고딕"/>
              </a:rPr>
              <a:t>순서대로 적고</a:t>
            </a:r>
          </a:p>
          <a:p>
            <a:pPr algn="ctr" eaLnBrk="0">
              <a:lnSpc>
                <a:spcPct val="110000"/>
              </a:lnSpc>
              <a:spcAft>
                <a:spcPts val="400"/>
              </a:spcAft>
            </a:pPr>
            <a:r>
              <a:rPr sz="1650" b="0">
                <a:solidFill>
                  <a:srgbClr val="1F2A3A"/>
                </a:solidFill>
                <a:latin typeface="맑은 고딕"/>
                <a:ea typeface="맑은 고딕"/>
                <a:cs typeface="맑은 고딕"/>
              </a:rPr>
              <a:t>근거와 함께 저장한다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품질 불량 접수의 후속 업무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품질 대응 카드의 항목과 갈라지는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불량 접수 한 건을 품질 유형, 확인 항목, 담당 부서, 대응 초안을 갖춘 구조화된 품질 대응 카드로 바꾼다.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8837"/>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532456"/>
            <a:ext cx="424281" cy="424281"/>
          </a:xfrm>
          <a:prstGeom prst="rect">
            <a:avLst/>
          </a:prstGeom>
        </p:spPr>
      </p:pic>
      <p:sp>
        <p:nvSpPr>
          <p:cNvPr id="9" name="TextBox 8"/>
          <p:cNvSpPr txBox="1"/>
          <p:nvPr/>
        </p:nvSpPr>
        <p:spPr>
          <a:xfrm>
            <a:off x="713232"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품질 유형</a:t>
            </a:r>
          </a:p>
          <a:p>
            <a:pPr algn="l" eaLnBrk="0" marL="200025" indent="-200025">
              <a:lnSpc>
                <a:spcPct val="110000"/>
              </a:lnSpc>
              <a:spcAft>
                <a:spcPts val="400"/>
              </a:spcAft>
            </a:pPr>
            <a:r>
              <a:rPr sz="1750" b="0">
                <a:solidFill>
                  <a:srgbClr val="1F2A3A"/>
                </a:solidFill>
                <a:latin typeface="맑은 고딕"/>
                <a:ea typeface="맑은 고딕"/>
                <a:cs typeface="맑은 고딕"/>
              </a:rPr>
              <a:t>• 제공된 분류 기준으로</a:t>
            </a:r>
          </a:p>
          <a:p>
            <a:pPr algn="l" eaLnBrk="0" marL="200025" indent="-200025">
              <a:lnSpc>
                <a:spcPct val="110000"/>
              </a:lnSpc>
              <a:spcAft>
                <a:spcPts val="400"/>
              </a:spcAft>
            </a:pPr>
            <a:r>
              <a:rPr sz="1750" b="0">
                <a:solidFill>
                  <a:srgbClr val="1F2A3A"/>
                </a:solidFill>
                <a:latin typeface="맑은 고딕"/>
                <a:ea typeface="맑은 고딕"/>
                <a:cs typeface="맑은 고딕"/>
              </a:rPr>
              <a:t>• 접수 내용의 유형을 정한다</a:t>
            </a:r>
          </a:p>
        </p:txBody>
      </p:sp>
      <p:sp>
        <p:nvSpPr>
          <p:cNvPr id="10" name="Rounded Rectangle 9"/>
          <p:cNvSpPr/>
          <p:nvPr/>
        </p:nvSpPr>
        <p:spPr>
          <a:xfrm>
            <a:off x="777240" y="537527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분류</a:t>
            </a:r>
          </a:p>
        </p:txBody>
      </p:sp>
      <p:sp>
        <p:nvSpPr>
          <p:cNvPr id="12" name="Rounded Rectangle 11"/>
          <p:cNvSpPr/>
          <p:nvPr/>
        </p:nvSpPr>
        <p:spPr>
          <a:xfrm>
            <a:off x="3390823"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8837"/>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532456"/>
            <a:ext cx="424281" cy="424281"/>
          </a:xfrm>
          <a:prstGeom prst="rect">
            <a:avLst/>
          </a:prstGeom>
        </p:spPr>
      </p:pic>
      <p:sp>
        <p:nvSpPr>
          <p:cNvPr id="15" name="TextBox 14"/>
          <p:cNvSpPr txBox="1"/>
          <p:nvPr/>
        </p:nvSpPr>
        <p:spPr>
          <a:xfrm>
            <a:off x="3555415"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추가 확인 항목</a:t>
            </a:r>
          </a:p>
          <a:p>
            <a:pPr algn="l" eaLnBrk="0" marL="200025" indent="-200025">
              <a:lnSpc>
                <a:spcPct val="110000"/>
              </a:lnSpc>
              <a:spcAft>
                <a:spcPts val="400"/>
              </a:spcAft>
            </a:pPr>
            <a:r>
              <a:rPr sz="1750" b="0">
                <a:solidFill>
                  <a:srgbClr val="1F2A3A"/>
                </a:solidFill>
                <a:latin typeface="맑은 고딕"/>
                <a:ea typeface="맑은 고딕"/>
                <a:cs typeface="맑은 고딕"/>
              </a:rPr>
              <a:t>• 판단에 모자란 정보를</a:t>
            </a:r>
          </a:p>
          <a:p>
            <a:pPr algn="l" eaLnBrk="0" marL="200025" indent="-200025">
              <a:lnSpc>
                <a:spcPct val="110000"/>
              </a:lnSpc>
              <a:spcAft>
                <a:spcPts val="400"/>
              </a:spcAft>
            </a:pPr>
            <a:r>
              <a:rPr sz="1750" b="0">
                <a:solidFill>
                  <a:srgbClr val="1F2A3A"/>
                </a:solidFill>
                <a:latin typeface="맑은 고딕"/>
                <a:ea typeface="맑은 고딕"/>
                <a:cs typeface="맑은 고딕"/>
              </a:rPr>
              <a:t>• 확인 항목으로 적는다</a:t>
            </a:r>
          </a:p>
        </p:txBody>
      </p:sp>
      <p:sp>
        <p:nvSpPr>
          <p:cNvPr id="16" name="Rounded Rectangle 15"/>
          <p:cNvSpPr/>
          <p:nvPr/>
        </p:nvSpPr>
        <p:spPr>
          <a:xfrm>
            <a:off x="3619423" y="537527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
        <p:nvSpPr>
          <p:cNvPr id="18" name="Rounded Rectangle 17"/>
          <p:cNvSpPr/>
          <p:nvPr/>
        </p:nvSpPr>
        <p:spPr>
          <a:xfrm>
            <a:off x="6233007" y="2177668"/>
            <a:ext cx="2567863" cy="36273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8837"/>
            <a:ext cx="731520" cy="731520"/>
          </a:xfrm>
          <a:prstGeom prst="ellipse">
            <a:avLst/>
          </a:prstGeom>
          <a:solidFill>
            <a:srgbClr val="E7F3FD"/>
          </a:solidFill>
          <a:ln>
            <a:noFill/>
          </a:ln>
        </p:spPr>
        <p:txBody>
          <a:bodyPr rtlCol="0" anchor="ctr"/>
          <a:lstStyle/>
          <a:p>
            <a:pPr algn="ctr"/>
          </a:p>
        </p:txBody>
      </p:sp>
      <p:pic>
        <p:nvPicPr>
          <p:cNvPr id="20" name="아이콘:building-factory-2" descr="building-factory-2_13294B_1.6.png"/>
          <p:cNvPicPr>
            <a:picLocks noChangeAspect="1"/>
          </p:cNvPicPr>
          <p:nvPr/>
        </p:nvPicPr>
        <p:blipFill>
          <a:blip r:embed="rId5"/>
          <a:stretch>
            <a:fillRect/>
          </a:stretch>
        </p:blipFill>
        <p:spPr>
          <a:xfrm>
            <a:off x="6615226" y="2532456"/>
            <a:ext cx="424281" cy="424281"/>
          </a:xfrm>
          <a:prstGeom prst="rect">
            <a:avLst/>
          </a:prstGeom>
        </p:spPr>
      </p:pic>
      <p:sp>
        <p:nvSpPr>
          <p:cNvPr id="21" name="TextBox 20"/>
          <p:cNvSpPr txBox="1"/>
          <p:nvPr/>
        </p:nvSpPr>
        <p:spPr>
          <a:xfrm>
            <a:off x="6397599"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담당 부서와 대응 초안</a:t>
            </a:r>
          </a:p>
          <a:p>
            <a:pPr algn="l" eaLnBrk="0" marL="200025" indent="-200025">
              <a:lnSpc>
                <a:spcPct val="110000"/>
              </a:lnSpc>
              <a:spcAft>
                <a:spcPts val="400"/>
              </a:spcAft>
            </a:pPr>
            <a:r>
              <a:rPr sz="1750" b="0">
                <a:solidFill>
                  <a:srgbClr val="1F2A3A"/>
                </a:solidFill>
                <a:latin typeface="맑은 고딕"/>
                <a:ea typeface="맑은 고딕"/>
                <a:cs typeface="맑은 고딕"/>
              </a:rPr>
              <a:t>• 넘길 부서를 정하고</a:t>
            </a:r>
          </a:p>
          <a:p>
            <a:pPr algn="l" eaLnBrk="0" marL="200025" indent="-200025">
              <a:lnSpc>
                <a:spcPct val="110000"/>
              </a:lnSpc>
              <a:spcAft>
                <a:spcPts val="400"/>
              </a:spcAft>
            </a:pPr>
            <a:r>
              <a:rPr sz="1750" b="0">
                <a:solidFill>
                  <a:srgbClr val="1F2A3A"/>
                </a:solidFill>
                <a:latin typeface="맑은 고딕"/>
                <a:ea typeface="맑은 고딕"/>
                <a:cs typeface="맑은 고딕"/>
              </a:rPr>
              <a:t>• 대응 초안을 쓴다</a:t>
            </a:r>
          </a:p>
        </p:txBody>
      </p:sp>
      <p:sp>
        <p:nvSpPr>
          <p:cNvPr id="22" name="Rounded Rectangle 21"/>
          <p:cNvSpPr/>
          <p:nvPr/>
        </p:nvSpPr>
        <p:spPr>
          <a:xfrm>
            <a:off x="6461607" y="537527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527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연결</a:t>
            </a:r>
          </a:p>
        </p:txBody>
      </p:sp>
      <p:sp>
        <p:nvSpPr>
          <p:cNvPr id="24" name="Rounded Rectangle 23"/>
          <p:cNvSpPr/>
          <p:nvPr/>
        </p:nvSpPr>
        <p:spPr>
          <a:xfrm>
            <a:off x="9075191" y="2177668"/>
            <a:ext cx="2567863" cy="36273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8837"/>
            <a:ext cx="731520" cy="731520"/>
          </a:xfrm>
          <a:prstGeom prst="ellipse">
            <a:avLst/>
          </a:prstGeom>
          <a:solidFill>
            <a:srgbClr val="5CB8F2"/>
          </a:solidFill>
          <a:ln>
            <a:noFill/>
          </a:ln>
        </p:spPr>
        <p:txBody>
          <a:bodyPr rtlCol="0" anchor="ctr"/>
          <a:lstStyle/>
          <a:p>
            <a:pPr algn="ctr"/>
          </a:p>
        </p:txBody>
      </p:sp>
      <p:pic>
        <p:nvPicPr>
          <p:cNvPr id="26" name="아이콘:zoom-question" descr="zoom-question_13294B_1.6.png"/>
          <p:cNvPicPr>
            <a:picLocks noChangeAspect="1"/>
          </p:cNvPicPr>
          <p:nvPr/>
        </p:nvPicPr>
        <p:blipFill>
          <a:blip r:embed="rId6"/>
          <a:stretch>
            <a:fillRect/>
          </a:stretch>
        </p:blipFill>
        <p:spPr>
          <a:xfrm>
            <a:off x="9457410" y="2532456"/>
            <a:ext cx="424281" cy="424281"/>
          </a:xfrm>
          <a:prstGeom prst="rect">
            <a:avLst/>
          </a:prstGeom>
        </p:spPr>
      </p:pic>
      <p:sp>
        <p:nvSpPr>
          <p:cNvPr id="27" name="TextBox 26"/>
          <p:cNvSpPr txBox="1"/>
          <p:nvPr/>
        </p:nvSpPr>
        <p:spPr>
          <a:xfrm>
            <a:off x="9239783" y="3201797"/>
            <a:ext cx="2238679" cy="210032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원인 미확정</a:t>
            </a:r>
          </a:p>
          <a:p>
            <a:pPr algn="l" eaLnBrk="0" marL="200025" indent="-200025">
              <a:lnSpc>
                <a:spcPct val="110000"/>
              </a:lnSpc>
              <a:spcAft>
                <a:spcPts val="400"/>
              </a:spcAft>
            </a:pPr>
            <a:r>
              <a:rPr sz="1750" b="0">
                <a:solidFill>
                  <a:srgbClr val="1F2A3A"/>
                </a:solidFill>
                <a:latin typeface="맑은 고딕"/>
                <a:ea typeface="맑은 고딕"/>
                <a:cs typeface="맑은 고딕"/>
              </a:rPr>
              <a:t>• 원인이 정해지지 않았으면</a:t>
            </a:r>
          </a:p>
          <a:p>
            <a:pPr algn="l" eaLnBrk="0" marL="200025" indent="-200025">
              <a:lnSpc>
                <a:spcPct val="110000"/>
              </a:lnSpc>
              <a:spcAft>
                <a:spcPts val="400"/>
              </a:spcAft>
            </a:pPr>
            <a:r>
              <a:rPr sz="1750" b="0">
                <a:solidFill>
                  <a:srgbClr val="1F2A3A"/>
                </a:solidFill>
                <a:latin typeface="맑은 고딕"/>
                <a:ea typeface="맑은 고딕"/>
                <a:cs typeface="맑은 고딕"/>
              </a:rPr>
              <a:t>• 단정하지 않고 조사 요청으로 넘긴다</a:t>
            </a:r>
          </a:p>
        </p:txBody>
      </p:sp>
      <p:sp>
        <p:nvSpPr>
          <p:cNvPr id="28" name="Rounded Rectangle 27"/>
          <p:cNvSpPr/>
          <p:nvPr/>
        </p:nvSpPr>
        <p:spPr>
          <a:xfrm>
            <a:off x="9303791" y="5375275"/>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5275"/>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조사 요청</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여러 센서의 이상 징후 탐색과 시각화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센서 도표와 이상 구간 요약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센서 값의 변화를 도표로 그리고, 이상 구간 · 관련 태그 · 조회 기간을 근거와 함께 요약하되 원인을 단정하지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도표</a:t>
            </a:r>
          </a:p>
          <a:p>
            <a:pPr algn="l" eaLnBrk="0" marL="205740" indent="-205740">
              <a:lnSpc>
                <a:spcPct val="110000"/>
              </a:lnSpc>
              <a:spcAft>
                <a:spcPts val="400"/>
              </a:spcAft>
            </a:pPr>
            <a:r>
              <a:rPr sz="1800" b="0">
                <a:solidFill>
                  <a:srgbClr val="1F2A3A"/>
                </a:solidFill>
                <a:latin typeface="맑은 고딕"/>
                <a:ea typeface="맑은 고딕"/>
                <a:cs typeface="맑은 고딕"/>
              </a:rPr>
              <a:t>• 온도와 압력의 시간 변화를 한 도표에 놓고</a:t>
            </a:r>
          </a:p>
          <a:p>
            <a:pPr algn="l" eaLnBrk="0" marL="205740" indent="-205740">
              <a:lnSpc>
                <a:spcPct val="110000"/>
              </a:lnSpc>
              <a:spcAft>
                <a:spcPts val="400"/>
              </a:spcAft>
            </a:pPr>
            <a:r>
              <a:rPr sz="1800" b="0">
                <a:solidFill>
                  <a:srgbClr val="1F2A3A"/>
                </a:solidFill>
                <a:latin typeface="맑은 고딕"/>
                <a:ea typeface="맑은 고딕"/>
                <a:cs typeface="맑은 고딕"/>
              </a:rPr>
              <a:t>• 값이 오르는 구간을 비교한다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시각화</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notes" descr="notes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요약</a:t>
            </a:r>
          </a:p>
          <a:p>
            <a:pPr algn="l" eaLnBrk="0" marL="205740" indent="-205740">
              <a:lnSpc>
                <a:spcPct val="110000"/>
              </a:lnSpc>
              <a:spcAft>
                <a:spcPts val="400"/>
              </a:spcAft>
            </a:pPr>
            <a:r>
              <a:rPr sz="1800" b="0">
                <a:solidFill>
                  <a:srgbClr val="1F2A3A"/>
                </a:solidFill>
                <a:latin typeface="맑은 고딕"/>
                <a:ea typeface="맑은 고딕"/>
                <a:cs typeface="맑은 고딕"/>
              </a:rPr>
              <a:t>• 이상 구간, 관련 태그, 조회 기간을</a:t>
            </a:r>
          </a:p>
          <a:p>
            <a:pPr algn="l" eaLnBrk="0" marL="205740" indent="-205740">
              <a:lnSpc>
                <a:spcPct val="110000"/>
              </a:lnSpc>
              <a:spcAft>
                <a:spcPts val="400"/>
              </a:spcAft>
            </a:pPr>
            <a:r>
              <a:rPr sz="1800" b="0">
                <a:solidFill>
                  <a:srgbClr val="1F2A3A"/>
                </a:solidFill>
                <a:latin typeface="맑은 고딕"/>
                <a:ea typeface="맑은 고딕"/>
                <a:cs typeface="맑은 고딕"/>
              </a:rPr>
              <a:t>• 근거와 함께 적는다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요약</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출력 점검</a:t>
            </a:r>
          </a:p>
          <a:p>
            <a:pPr algn="l" eaLnBrk="0" marL="205740" indent="-205740">
              <a:lnSpc>
                <a:spcPct val="110000"/>
              </a:lnSpc>
              <a:spcAft>
                <a:spcPts val="400"/>
              </a:spcAft>
            </a:pPr>
            <a:r>
              <a:rPr sz="1800" b="0">
                <a:solidFill>
                  <a:srgbClr val="1F2A3A"/>
                </a:solidFill>
                <a:latin typeface="맑은 고딕"/>
                <a:ea typeface="맑은 고딕"/>
                <a:cs typeface="맑은 고딕"/>
              </a:rPr>
              <a:t>• 함께 변한 값을 고장 원인으로</a:t>
            </a:r>
          </a:p>
          <a:p>
            <a:pPr algn="l" eaLnBrk="0" marL="205740" indent="-205740">
              <a:lnSpc>
                <a:spcPct val="110000"/>
              </a:lnSpc>
              <a:spcAft>
                <a:spcPts val="400"/>
              </a:spcAft>
            </a:pPr>
            <a:r>
              <a:rPr sz="1800" b="0">
                <a:solidFill>
                  <a:srgbClr val="1F2A3A"/>
                </a:solidFill>
                <a:latin typeface="맑은 고딕"/>
                <a:ea typeface="맑은 고딕"/>
                <a:cs typeface="맑은 고딕"/>
              </a:rPr>
              <a:t>• 단정하지 않았는지 확인한다</a:t>
            </a:r>
          </a:p>
        </p:txBody>
      </p:sp>
      <p:sp>
        <p:nvSpPr>
          <p:cNvPr id="22" name="Rounded Rectangle 21"/>
          <p:cNvSpPr/>
          <p:nvPr/>
        </p:nvSpPr>
        <p:spPr>
          <a:xfrm>
            <a:off x="8356396" y="5259070"/>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성공 기준</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사건의 94초를 다시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장면마다 누가 무엇을 했고 어떤 근거를 썼는지 가르면, 일하는 에이전트의 원리가 한 번에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장면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가를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판단의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대안 평가가 네 후보의 점수를 냈다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모델이 계산했나,</a:t>
            </a:r>
          </a:p>
          <a:p>
            <a:pPr algn="l" eaLnBrk="0">
              <a:lnSpc>
                <a:spcPct val="110000"/>
              </a:lnSpc>
            </a:pPr>
            <a:r>
              <a:rPr sz="1400" b="0">
                <a:solidFill>
                  <a:srgbClr val="1F2A3A"/>
                </a:solidFill>
                <a:latin typeface="맑은 고딕"/>
                <a:ea typeface="맑은 고딕"/>
                <a:cs typeface="맑은 고딕"/>
              </a:rPr>
              <a:t>도구가 계산했나</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모델은 이름과 입력을 적고</a:t>
            </a:r>
          </a:p>
          <a:p>
            <a:pPr algn="l" eaLnBrk="0">
              <a:lnSpc>
                <a:spcPct val="110000"/>
              </a:lnSpc>
            </a:pPr>
            <a:r>
              <a:rPr sz="1250" b="1">
                <a:solidFill>
                  <a:srgbClr val="556175"/>
                </a:solidFill>
                <a:latin typeface="맑은 고딕"/>
                <a:ea typeface="맑은 고딕"/>
                <a:cs typeface="맑은 고딕"/>
              </a:rPr>
              <a:t>계산은 판단 도구가 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효율 70 %와 46.2 %</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둘 다 지금의 값인가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70은 지식의 기준,</a:t>
            </a:r>
          </a:p>
          <a:p>
            <a:pPr algn="l" eaLnBrk="0">
              <a:lnSpc>
                <a:spcPct val="110000"/>
              </a:lnSpc>
            </a:pPr>
            <a:r>
              <a:rPr sz="1250" b="1">
                <a:solidFill>
                  <a:srgbClr val="556175"/>
                </a:solidFill>
                <a:latin typeface="맑은 고딕"/>
                <a:ea typeface="맑은 고딕"/>
                <a:cs typeface="맑은 고딕"/>
              </a:rPr>
              <a:t>46.2는 그때 읽은 값</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핀 오염 · 팬 구동 불량</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둘 다 확인된 원인인가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150" b="1">
                <a:solidFill>
                  <a:srgbClr val="556175"/>
                </a:solidFill>
                <a:latin typeface="맑은 고딕"/>
                <a:ea typeface="맑은 고딕"/>
                <a:cs typeface="맑은 고딕"/>
              </a:rPr>
              <a:t>증거 기준에 맞은 쪽만 확인,</a:t>
            </a:r>
          </a:p>
          <a:p>
            <a:pPr algn="l" eaLnBrk="0">
              <a:lnSpc>
                <a:spcPct val="110000"/>
              </a:lnSpc>
            </a:pPr>
            <a:r>
              <a:rPr sz="1150" b="1">
                <a:solidFill>
                  <a:srgbClr val="556175"/>
                </a:solidFill>
                <a:latin typeface="맑은 고딕"/>
                <a:ea typeface="맑은 고딕"/>
                <a:cs typeface="맑은 고딕"/>
              </a:rPr>
              <a:t>맞지 않은 쪽은 지운다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추천안 제출과 팬 속도 명령</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둘 다 에이전트가 했나</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에이전트는 제출까지,</a:t>
            </a:r>
          </a:p>
          <a:p>
            <a:pPr algn="l" eaLnBrk="0">
              <a:lnSpc>
                <a:spcPct val="110000"/>
              </a:lnSpc>
            </a:pPr>
            <a:r>
              <a:rPr sz="1250" b="1">
                <a:solidFill>
                  <a:srgbClr val="1A6FC4"/>
                </a:solidFill>
                <a:latin typeface="맑은 고딕"/>
                <a:ea typeface="맑은 고딕"/>
                <a:cs typeface="맑은 고딕"/>
              </a:rPr>
              <a:t>명령은 승인 뒤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재고 조회 0행과 조회 실패</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뜻인가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0행은 없음, 실패는 모름</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LLM</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Large Language Model</a:t>
            </a:r>
          </a:p>
          <a:p>
            <a:pPr algn="l" eaLnBrk="0">
              <a:lnSpc>
                <a:spcPct val="110000"/>
              </a:lnSpc>
            </a:pPr>
            <a:r>
              <a:rPr sz="1250" b="0">
                <a:solidFill>
                  <a:srgbClr val="1F2A3A"/>
                </a:solidFill>
                <a:latin typeface="맑은 고딕"/>
                <a:ea typeface="맑은 고딕"/>
                <a:cs typeface="맑은 고딕"/>
              </a:rPr>
              <a:t>받은 글에 이어질 글을 만들어 한 번 답하는 대규모 언어 모델</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RAG</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Retrieval-Augmented Generation</a:t>
            </a:r>
          </a:p>
          <a:p>
            <a:pPr algn="l" eaLnBrk="0">
              <a:lnSpc>
                <a:spcPct val="110000"/>
              </a:lnSpc>
            </a:pPr>
            <a:r>
              <a:rPr sz="1250" b="0">
                <a:solidFill>
                  <a:srgbClr val="1F2A3A"/>
                </a:solidFill>
                <a:latin typeface="맑은 고딕"/>
                <a:ea typeface="맑은 고딕"/>
                <a:cs typeface="맑은 고딕"/>
              </a:rPr>
              <a:t>질문과 가까운 문서 조각을 찾아 모델에 함께 읽히는 방식</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에이전트</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AI Agent</a:t>
            </a:r>
          </a:p>
          <a:p>
            <a:pPr algn="l" eaLnBrk="0">
              <a:lnSpc>
                <a:spcPct val="110000"/>
              </a:lnSpc>
            </a:pPr>
            <a:r>
              <a:rPr sz="1250" b="0">
                <a:solidFill>
                  <a:srgbClr val="1F2A3A"/>
                </a:solidFill>
                <a:latin typeface="맑은 고딕"/>
                <a:ea typeface="맑은 고딕"/>
                <a:cs typeface="맑은 고딕"/>
              </a:rPr>
              <a:t>목표를 받아 도구를 부르고 결과를 보며 끝까지 수행하는 시스템</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도구</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Tool</a:t>
            </a:r>
          </a:p>
          <a:p>
            <a:pPr algn="l" eaLnBrk="0">
              <a:lnSpc>
                <a:spcPct val="110000"/>
              </a:lnSpc>
            </a:pPr>
            <a:r>
              <a:rPr sz="1250" b="0">
                <a:solidFill>
                  <a:srgbClr val="1F2A3A"/>
                </a:solidFill>
                <a:latin typeface="맑은 고딕"/>
                <a:ea typeface="맑은 고딕"/>
                <a:cs typeface="맑은 고딕"/>
              </a:rPr>
              <a:t>모델이 이름과 입력을 적어 부르는 조회 · 계산 · 제출 기능</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실행 고리</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Agent Loop</a:t>
            </a:r>
          </a:p>
          <a:p>
            <a:pPr algn="l" eaLnBrk="0">
              <a:lnSpc>
                <a:spcPct val="110000"/>
              </a:lnSpc>
            </a:pPr>
            <a:r>
              <a:rPr sz="1250" b="0">
                <a:solidFill>
                  <a:srgbClr val="1F2A3A"/>
                </a:solidFill>
                <a:latin typeface="맑은 고딕"/>
                <a:ea typeface="맑은 고딕"/>
                <a:cs typeface="맑은 고딕"/>
              </a:rPr>
              <a:t>요청 해석 · 계획 · 호출 · 관찰을 되풀이하다 종료하는 틀</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신선도</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Freshness</a:t>
            </a:r>
          </a:p>
          <a:p>
            <a:pPr algn="l" eaLnBrk="0">
              <a:lnSpc>
                <a:spcPct val="110000"/>
              </a:lnSpc>
            </a:pPr>
            <a:r>
              <a:rPr sz="1250" b="0">
                <a:solidFill>
                  <a:srgbClr val="1F2A3A"/>
                </a:solidFill>
                <a:latin typeface="맑은 고딕"/>
                <a:ea typeface="맑은 고딕"/>
                <a:cs typeface="맑은 고딕"/>
              </a:rPr>
              <a:t>읽은 값이 판단하는 시각에서 얼마나 지났는가</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근거의 상태</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SUPPORTED · UNKNOWN · UNSUPPORTED</a:t>
            </a:r>
          </a:p>
          <a:p>
            <a:pPr algn="l" eaLnBrk="0">
              <a:lnSpc>
                <a:spcPct val="110000"/>
              </a:lnSpc>
            </a:pPr>
            <a:r>
              <a:rPr sz="1250" b="0">
                <a:solidFill>
                  <a:srgbClr val="1F2A3A"/>
                </a:solidFill>
                <a:latin typeface="맑은 고딕"/>
                <a:ea typeface="맑은 고딕"/>
                <a:cs typeface="맑은 고딕"/>
              </a:rPr>
              <a:t>확인됨 · 확인하지 못함 · 맞는 근거 없음</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구조화 출력</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Structured Output</a:t>
            </a:r>
          </a:p>
          <a:p>
            <a:pPr algn="l" eaLnBrk="0">
              <a:lnSpc>
                <a:spcPct val="110000"/>
              </a:lnSpc>
            </a:pPr>
            <a:r>
              <a:rPr sz="1250" b="0">
                <a:solidFill>
                  <a:srgbClr val="1F2A3A"/>
                </a:solidFill>
                <a:latin typeface="맑은 고딕"/>
                <a:ea typeface="맑은 고딕"/>
                <a:cs typeface="맑은 고딕"/>
              </a:rPr>
              <a:t>정해진 항목과 형식을 갖춘 JSON 결과</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실행 기록</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Execution Log</a:t>
            </a:r>
          </a:p>
          <a:p>
            <a:pPr algn="l" eaLnBrk="0">
              <a:lnSpc>
                <a:spcPct val="110000"/>
              </a:lnSpc>
            </a:pPr>
            <a:r>
              <a:rPr sz="1250" b="0">
                <a:solidFill>
                  <a:srgbClr val="1F2A3A"/>
                </a:solidFill>
                <a:latin typeface="맑은 고딕"/>
                <a:ea typeface="맑은 고딕"/>
                <a:cs typeface="맑은 고딕"/>
              </a:rPr>
              <a:t>도구 호출의 시각 · 입력 · 출력 · 걸린 시간을 남긴 기록</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처리 기록의 한 장면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원인 진단을 부른 뒤, 그 결과에 든 원인과 고장 유형의 식별자를 넣어 대안 평가를 불렀다.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장면이 보여 주는 실행 고리의 단계는?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요청 해석 — 맡은 업무와 입력을 읽은 것이다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결과 관찰에 이은 다음 호출 — 앞의 결과가 다음 입력을 정했다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재시도 — 뜻대로 되지 않은 호출을 다시 부른 것이다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종료 — 산출물을 제출하고 끝낸 것이다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읽지 못한 값과 묵은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원인을 가리려는데 유온의 최신 값은 3분 전의 것이었고, 냉각 효율의 조회는 실패했다.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이때 에이전트의 올바른 동작은?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3분 전의 유온과 판별 기준 70 %를 써서 쿨러 핀 오염으로 제출한다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냉각 효율을 0 %로 적고 유온을 가장 많이 내리는 조치를 추천한다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원인 후보에 올라 있는 쿨러 핀 오염을 확인된 원인으로 적는다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원인을 적지 않고, 확인하지 못한 값과 그 이유를 담아 보류한다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허용되지 않은 도구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일을 끝내려면 허용 목록에 없는 도구가 필요하다고 판단했고, 유온은 계속 오르고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이때 일어나야 하는 일은?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허용된 도구를 여럿 조합해 같은 효과를 내는 길을 찾는다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급한 상황이므로 한 번만 실행하고 그 사실을 기록에 남긴다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실행하지 않고 사람에게 묻는다. 답을 받아도 실행 권한은 그대로이다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사람에게 물은 뒤 답을 받으면 그 도구를 직접 실행한다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실행 고리의 단계, 지식과 값의 구분, 권한의 경계를 각각 올바른 기준으로 판단하는지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서로 다른 도구를 이어 불렀고, 앞 호출의 결과가 뒤 호출의 입력이 되었다. 관찰이 다음 행동을 정한 것이다.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묵은 값과 실패한 조회로는 근거가 확인되지 않는다. 채우지 않고 이유와 함께 보류한다.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허용 목록 밖의 도구는 실행되지 않는다. 사람의 답변도 상황의 급함도 실행 권한을 바꾸지 않는다.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