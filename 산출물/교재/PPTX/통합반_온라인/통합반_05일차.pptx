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LLM, RAG, 에이전트가 같은 요청에 무엇을 돌려주는지 구분합니다. 이어서 쿨러 사건의 처리 기록에서 에이전트가 일한 순서와 그 결과물을 짚습니다. 그다음 에이전트가 읽는 정보원과 멈춰야 하는 조건을 다룹니다. 마지막 실습에서는 에이전트를 직접 구성하고 결과를 근거와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성능 저하 경보가 나고 승인되기까지 약 94초 동안 에이전트가 일했습니다. 그 일을 질문에 답하는 AI에게 맡기면 무엇이 모자란지부터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시간표입니다. 경보가 나고 승인되기까지 108초가 걸렸고, 그 가운데 약 94초는 에이전트가 일한 시간이었습니다. 그동안 에이전트는 원인을 가리고 조치 후보 넷을 견주어 추천안을 냈습니다. 이번 회차는 이 구간 안에서 일어난 일을 풉니다.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94초 동안 에이전트는 뭘 했을까요? 화면에 네 칸으로 놓았습니다. 값을 읽고, 원인을 가리고, 후보를 견주고, 추천안을 제출했어요.</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일을 맡길 AI의 출발점은 LLM, 대규모 언어 모델입니다. 앞 회차에서 문서의 지식 후보를 뽑을 때도 썼죠. 우선 도구가 연결되지 않은 모델의 응답 한 번을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예를 하나 들어 볼게요. LLM에게 HYD-01의 유온이 지금 몇 도냐고 물으면 어떻게 될까요? 그 답은 시계열 DB에 있습니다. 모델이 학습한 내용 안에는 없죠. 이렇게 LLM만으로는 채울 수 없는 자리가 화면에 세 개 있어요.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가운데 문서의 빈자리를 메우는 방식이 RAG, 검색 증강 생성입니다. 모델이 배우지 않은 문서로도 답하게 해 주죠. 방법은 간단해요. 질문과 가까운 문서 조각을 먼저 찾고, 그 조각을 질문과 함께 모델에 넣는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수행의 빈자리까지 메우는 게 에이전트입니다. 조회하고, 계산하고, 제출하는 일까지 맡기려면 어떻게 해야 할까요? 모델이 도구를 부르고, 그 결과를 보면서 다음 행동을 정하게 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연결한 기능이 다른 세 구성을 같은 요청으로 비교해 볼게요. HYD-01의 쿨러 성능 저하 경보에 조치를 정하라는 요청입니다. 표의 오른쪽 열은 아직 보지 말고, 각 방식이 무엇을 돌려줄지 먼저 생각해 보세요.</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찾고 계산하고 제출하는 에이전트는, 무엇으로 이루어져 있을까요? 이 수업에서 보는 LLM 기반 에이전트는 크게 요소가 셋이에요. 모델, 도구, 실행 고리입니다. 여기서 눈여겨볼 게 있어요. 모델은 앞에서 본 LLM 그대로라는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요소는 셋으로 같은데, 에이전트 하나하나는 무엇으로 정해질까요? 화면에 두 에이전트의 정의를 나란히 놓았습니다. 왼쪽은 쿨러 사건을 맡은 냉각 긴급 대응 에이전트, 오른쪽은 예비품 재고 경보를 맡는 구매 에이전트예요.</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도구를 부른다는 게 실제로는 어떤 모습일까요? 쿨러 사건의 처리 기록에서 도구 호출 한 건을 꺼내 왔습니다. 경보가 나고 10초쯤 뒤에 원인 진단 도구를 부른 장면이에요.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 진단을 부르면 결과를 받을 수 있습니다. 그런데 조치 후보를 평가하려면, 그 결과에 나온 원인을 다음 도구의 입력으로 넣어야 해요. 아직 원인을 읽지 않았다면 다음 입력도 정할 수 없겠죠. 중요한 것은 사용자에게 답을 몇 번 보여 주느냐가 아니라, 필요한 결과를 실제로 확인했느냐입니다.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다섯 원은 그 실행 고리를 단계로 펼친 거예요. 에이전트를 설명할 때 널리 쓰이는 틀이고, 영어로는 Agent Loop라고 부릅니다. 원마다 그림이 하나씩 들어 있어요. 문서, 목록, 스패너, 돋보기, 그리고 확인 표시가 붙은 문서. 그림을 단계 이름과 짝지어 보면서 왼쪽부터 하나씩 볼게요.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고리의 첫 단계, 요청 해석부터 실제 기록에서 확인해 보죠. 화면 왼쪽은 처리 기록의 앞부분입니다. 첫 줄에서 경보가 나고 처리 건이 열렸어요. 그리고 1초 뒤, 둘째 줄에서 에이전트 단계가 시작됩니다. 둘째 줄은 이 에이전트에게 배정된 스킬이 하나라는 기록이에요. 앞에서 에이전트를 정의하는 항목에 업무 지침이 있었죠. 그 지침이 실제로 여기서 일에 붙은 겁니다.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가리고 조치를 추천하라는 목표는 그대로는 수행할 수 없으므로 도구 호출의 순서로 풀어야 하며, 그것이 계획입니다. 쿨러 사건에서는 업무 지침에 다섯 단계가 적혀 있었고 에이전트는 이를 뼈대로 삼았습니다. 다만 지침은 뼈대여서, 실제로 어떤 값을 넣고 결과를 어떻게 읽을지는 그때마다 에이전트가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선택과 호출, 결과 관찰이 이어지는 장면입니다. 위는 원인 진단이 돌려준 결과의 요지이고, 아래는 5초 뒤에 부른 대안 평가의 물음입니다. 진단에서 읽은 원인과 고장 유형의 식별자가 아래 물음에 그대로 들어가 있습니다. 관찰한 결과가 다음 호출의 입력을 정한다는 것이 이 두 줄에서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고리가 늘 이렇게 한 번에 이어지지는 않습니다. 이번에는 받은 결과 때문에 방법을 바꾸겠다고 한 장면이에요. 대안 평가가 돌려준 결과가 너무 길었거든요. 12만 자가 넘었습니다. 앞에서 본 원인 진단의 결과보다 열 배 가까이 긴 거죠.</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고리의 마지막은 종료입니다. 에이전트 단계는 답 문장이 아니라, 추천안을 제출하는 걸로 끝났어요.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같은 경보를 다른 실행에서 처리했을 때도 똑같이 일했을까요? 화면은 같은 쿨러 경보를 다른 실행에서 처리한 기록이에요. 이번에는 도구를 부른 순서를 처음부터 끝까지 놓았습니다. 같은 지침을 받았는데도, 앞의 기록과 다른 데가 있어요.</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포털에서 에이전트를 쓰는 두 가지 경우를 비교해 보겠습니다. 화면 왼쪽이 단순 답변, 오른쪽이 업무 산출물이에요. 받는 쪽, 형식, 다음 행동, 이 세 줄로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칸의 단순 답변부터 봅니다. 완제품 재고가 가장 적은 설비를 묻자 에이전트는 업무 DB를 조회해 HYD-02의 100개라고 답했습니다. 답 아래에는 실행한 조회문이 근거로 붙어 있습니다. 답이 한 번이어도 에이전트는 기억이 아니라 도구로 읽은 값으로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 칸의 업무 산출물입니다. 쿨러 사건의 추천안에는 진단한 원인, 추천하는 조치 하나, 뒤진 대안 셋, 그렇게 판단한 이유와 판단 번호가 들어 있습니다. 대안이 왜 뒤졌는지까지 함께 내므로 담당자는 추천 하나만이 아니라 견준 과정을 보고 결정합니다.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추천안이 제출된 뒤에 어디로 넘어가는지, 시각과 함께 놓았습니다. 다섯 칸이 에이전트, 사람, 시스템, 세 영역으로 묶여 있어요.</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이 추천안 한 건을 만드는 데 쓰인 정보를 출처별로 놓았습니다. 가운데가 에이전트고, 네 귀퉁이가 서로 다른 역할의 정보예요. 저장소가 반드시 네 개라는 뜻은 아닙니다. HYD에서는 온톨로지와 SOP를 같은 지식 그래프에서 읽어요.</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네 정보원은 답하는 물음이 서로 다릅니다. 물음에 맞지 않는 곳을 읽으면 어떻게 될까요? 답이 없거나, 낡은 답을 얻게 돼요.</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정보원 가운데 온톨로지와 SOP는 같은 지식 그래프에 들어 있습니다. 진단 도구는 고장 유형에서 원인 관계를 거슬러 원인 후보 셋을, 완화 관계를 따라 조치 방법을 얻었습니다. 원인마다 매뉴얼이 얼마나 흔하다고 보는지를 적은 사전 확률도 함께 있어 쿨러 핀 오염이 가장 흔합니다. 그래도 그래프가 알려 주는 것은 후보까지이며, 셋 가운데 이번 사건에 맞는 것은 값을 읽어야 정해집니다.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값을 읽는 곳이 시계열 DB예요. 화면 왼쪽은 원인 진단이 확인한 증거 한 건입니다. 여기서 읽은 값 하나를 자세히 들여다볼게요.</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업무 DB예요. 납기나 남은 수량은 설비에 달린 센서로는 알 수가 없죠. 이런 값은 업무 DB에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에이전트에게 데이터베이스를 자유롭게 열어 주어야 할까요? HYD는 그 사이에 도구를 두었습니다. 화면의 에이전트는 도구에 물음을 보내고, 도구가 제한된 권한으로 읽어 온 결과를 받습니다. 데이터베이스를 직접 연결하는 구성도 가능하지만, 여기서는 접근 경로를 도구로 관리하는 방식을 택한 거예요.</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현재값이 섞이는 꼴은 두 가지예요. 화면의 두 칸에 틀린 문장의 예를 하나씩 놓았습니다. 따옴표 안이 그 틀린 문장이에요.</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그걸 막는 첫째 장치가 작업 규칙입니다. 에이전트에게는 추측하지 말고 도구로 확인하라는 규칙이 주어져요. 무엇을 어디서 얻을지가 화면처럼 세 갈래로 정해져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조회에 성공했다고 해서 지금의 상태를 읽었다고 볼 수 있을까요? 센서가 멈췄다면 데이터베이스에는 오래전 값이 마지막 값으로 남아 있을 수 있습니다. 그래서 신선도는 조회 버튼을 누른 때가 아니라, 값이 관측되어 기록된 시각이 판단 시점에서 얼마나 오래됐는지를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멈추지 않으면 어떻게 되는지부터 봅니다. 냉각 효율을 읽지 못했는데 사전 확률이 가장 큰 원인을 적어 내면, 추천안의 모양은 값을 읽었을 때와 똑같아 승인하는 사람은 그 차이를 알 수 없습니다. 오른쪽처럼 원인을 적지 않고 무엇을 확인하지 못했는지를 내야 모르는 것이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멈춰야 하는 대표적인 상황은 셋입니다. 위는 근거 부족으로, 값을 얻지 못했거나 얻은 값이 어느 원인에도 맞지 않는 경우입니다. 가운데는 도구 호출 실패로, 다시 시도해도 도구가 오류를 돌려주는 경우입니다. 아래는 권한 제한으로, 일을 하려면 허용되지 않은 도구가 필요한 경우입니다. 셋 모두 에이전트는 지어내지 않고 멈추며, 멈춘 작업은 이유와 함께 사람에게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조건 가운데 근거 부족부터 자세히 볼게요. 근거 부족에는 사실 서로 다른 두 경우가 들어 있어요. 그래서 근거의 상태를 화면처럼 셋으로 나누어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상태를 나눴으면, 보류할 때 내는 형식도 정해져 있어야겠죠. 화면 왼쪽이 보류할 때 에이전트가 내는 객체예요. 작업 지시에 적혀 있는 형식 그대로인데, 항목이 세 개뿐입니다.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도구가 오류를 돌려준 경우와 조회는 됐지만 찾은 행이 없는 경우도 구분해야 합니다. 둘을 같은 빈칸으로 처리하면, 확인하지 못한 일을 없는 일로 바꿔 버릴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다시 시도해도 끝내 실패하면 실패했다고 그대로 적는다고 했죠. 그럼 끝내라는 건 언제일까요? 에이전트가 끝없이 다시 시도할 수는 없어요. 다시 시도하는 데는 한도가 있습니다. 화면의 카드 셋이 그 한도고, 카드 아래 꼬리표에 한도나 그걸 정하는 쪽이 적혀 있어요.</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멈춤 조건은 권한 제한이에요. 출발점은 화면 첫 칸의 허용 목록입니다. HYD는 에이전트의 도구 호출을 이 허용 목록으로 제한합니다.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 쪽부터 볼게요. 화면 왼쪽은 쿨러 사건에서 에이전트 단계가 끝날 때 남긴 결과의 뼈대예요. 종료 장면에서 작업 공간에 썼다던 그 결과 파일이죠. 다섯 항목을 가진 JSON 객체 하나입니다. 문서에서 지식을 뽑을 때 썼던 구조화 출력이 여기서도 쓰인 거죠.</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형식이 어긋나면 어떻게 될까요? 에이전트가 낸 결과는 시스템이 먼저 검사합니다. 형식이 맞아야 다음 단계로 넘어가요.</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내용을 확인하는 방법, 그게 과정의 기록이에요. 결과와 함께 과정도 남습니다. 에이전트가 일하는 동안 말과 도구 호출이 시각 순서로 한 줄씩 남는데, 이걸 실행 기록이라고 해요. 화면 위의 상자는 그 실행 기록을 보여 주는 포털의 처리 기록 화면입니다. 앞에서 처리 기록이라고 부르며 본 줄들이 바로 이 실행 기록이었던 거죠.</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기록은 언제 쓸까요? 결과가 이상해 보일 때입니다. 화면의 네 단계처럼, 결과에서 출발해 호출로 거슬러 올라가는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과정의 기록과는 별도로, 결과 안에도 근거가 들어 있어야 합니다. 에이전트는 모든 판단에 지식 그래프의 식별자를 인용하게 되어 있어요.</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그렇다고 에이전트가 근거를 적었다는 것만으로 충분할까요? 아닙니다. 근거 자체를 꾸며 낼 수도 있으니까요. 그래서 시스템이, 적어 낸 근거를 실제 호출 기록과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근거를 적을 때 조심할 게 하나 더 있습니다. 두 값이 함께 변했다는 것만으로 원인을 정하면 안 돼요.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항목대로 이름과 목표와 역할을 적고, 쓸 수 있는 읽기 도구 가운데 필요한 것을 골라 에이전트 하나를 구성합니다. 그 에이전트에게 질문하고, 답에 붙은 근거가 호출 기록과 대조되어 확인되는지 봅니다. 끝으로 쿨러 사건을 맡은 기준 에이전트와 무엇이 다른지 적습니다. 준비된 학생 계정과 읽기 도구를 전제로 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바이브 코딩으로 원인 추론 에이전트를 구성합니다. 공용 온톨로지의 관계와 제공된 센서 입력을 읽어 후보 원인과 증거를 맞추고, 다음 점검 순서를 냅니다. 확인되지 않은 원인은 단정하지 않고 가설로 표시하는 것이 성공 기준이며, 점검 계획과 그 계획에 쓴 근거가 파일로 남습니다. 질의 문장을 연습하는 실습이 아니라 에이전트가 근거를 다루는 방식을 만드는 실습입니다.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불량 접수 메시지를 받아 후속 업무로 넘기는 작은 에이전트를 만듭니다. 출력은 품질 유형, 추가 확인 항목, 담당 부서, 대응 초안의 정해진 항목을 가진 품질 대응 카드입니다. 원인이 정해지지 않은 접수는 원인을 단정하지 않고 조사 요청으로 넘기는 갈래를 반드시 둡니다. 원인이 분명한 접수와 원인 미확정 접수가 서로 다른 카드로 나오면 성공입니다.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시계열에서 이상 징후를 찾아 도표로 그립니다. 온도와 압력이 시간에 따라 어떻게 변했는지, 어느 구간에서 올랐는지를 비교하고, 요약에는 이상 구간과 관련 태그와 조회 기간을 근거와 함께 적습니다. 마지막으로 그 출력이 함께 변한 값을 원인이라고 단정하지 않았는지를 점검합니다.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실습에서 구성한 결과를 떠올리면서, 처음의 쿨러 사건을 다시 읽어 보겠습니다. 에이전트가 무엇을 확인했고 무엇을 사람에게 넘겼는지, 표의 다섯 장면으로 비교해 볼게요. 가운데 열의 물음에 먼저 답한 뒤 오른쪽 근거와 대조해 보세요.</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사건 쪽은 이렇게 다시 읽어 봤고요. 다음은 이번 회차에 나온 용어를 정리해 보겠습니다. 표에 이번 회차에 다룬 아홉 개념의 이름과 뜻이 있어요.</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기록의 한 장면을 실행 고리의 단계에 대어 보는 시나리오 해석 문항입니다. 두 호출의 도구가 같은지 다른지, 뒤 호출의 입력이 어디에서 왔는지를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값, 실패와 값 없음을 구분하는지 묻는 근거 구분 문항입니다. 보기마다 무엇을 무엇으로 바꾸어 썼는지를 짚어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에이전트와 사람 사이의 책임 경계를 묻는 문항입니다. 상황이 급하다는 것이 권한을 바꾸는지, 사람의 답변이 권한을 바꾸는지를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문제를 다 골랐으면, 정답을 확인해 볼게요. 고른 답과 그 까닭을 표와 함께 대조해 보세요. 첫 문항의 정답은 2번입니다. 서로 다른 두 도구를 이어서 불렀고, 앞 호출의 결과가 뒤 호출의 입력이 됐죠. 결과를 관찰한 게 다음 행동을 정한 장면이에요.</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5.png"/><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4.png"/><Relationship Id="rId4" Type="http://schemas.openxmlformats.org/officeDocument/2006/relationships/image" Target="../media/image10.png"/><Relationship Id="rId5" Type="http://schemas.openxmlformats.org/officeDocument/2006/relationships/image" Target="../media/image25.png"/><Relationship Id="rId6" Type="http://schemas.openxmlformats.org/officeDocument/2006/relationships/image" Target="../media/image11.png"/><Relationship Id="rId7"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5.png"/><Relationship Id="rId4"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8.png"/><Relationship Id="rId4" Type="http://schemas.openxmlformats.org/officeDocument/2006/relationships/image" Target="../media/image30.png"/><Relationship Id="rId5" Type="http://schemas.openxmlformats.org/officeDocument/2006/relationships/image" Target="../media/image18.png"/><Relationship Id="rId6" Type="http://schemas.openxmlformats.org/officeDocument/2006/relationships/image" Target="../media/image31.png"/><Relationship Id="rId7" Type="http://schemas.openxmlformats.org/officeDocument/2006/relationships/image" Target="../media/image3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7.png"/><Relationship Id="rId4" Type="http://schemas.openxmlformats.org/officeDocument/2006/relationships/image" Target="../media/image3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4.png"/><Relationship Id="rId4" Type="http://schemas.openxmlformats.org/officeDocument/2006/relationships/image" Target="../media/image40.png"/><Relationship Id="rId5" Type="http://schemas.openxmlformats.org/officeDocument/2006/relationships/image" Target="../media/image3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2.png"/><Relationship Id="rId4" Type="http://schemas.openxmlformats.org/officeDocument/2006/relationships/image" Target="../media/image4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45.png"/><Relationship Id="rId4" Type="http://schemas.openxmlformats.org/officeDocument/2006/relationships/image" Target="../media/image4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8.png"/><Relationship Id="rId4" Type="http://schemas.openxmlformats.org/officeDocument/2006/relationships/image" Target="../media/image7.png"/><Relationship Id="rId5" Type="http://schemas.openxmlformats.org/officeDocument/2006/relationships/image" Target="../media/image4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7.png"/><Relationship Id="rId4" Type="http://schemas.openxmlformats.org/officeDocument/2006/relationships/image" Target="../media/image47.png"/><Relationship Id="rId5" Type="http://schemas.openxmlformats.org/officeDocument/2006/relationships/image" Target="../media/image19.png"/><Relationship Id="rId6" Type="http://schemas.openxmlformats.org/officeDocument/2006/relationships/image" Target="../media/image4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12.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3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2.png"/><Relationship Id="rId4" Type="http://schemas.openxmlformats.org/officeDocument/2006/relationships/image" Target="../media/image31.png"/><Relationship Id="rId5" Type="http://schemas.openxmlformats.org/officeDocument/2006/relationships/image" Target="../media/image15.png"/><Relationship Id="rId6" Type="http://schemas.openxmlformats.org/officeDocument/2006/relationships/image" Target="../media/image2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3.png"/><Relationship Id="rId4" Type="http://schemas.openxmlformats.org/officeDocument/2006/relationships/image" Target="../media/image42.png"/><Relationship Id="rId5" Type="http://schemas.openxmlformats.org/officeDocument/2006/relationships/image" Target="../media/image5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50.png"/><Relationship Id="rId4" Type="http://schemas.openxmlformats.org/officeDocument/2006/relationships/image" Target="../media/image4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5.png"/><Relationship Id="rId4" Type="http://schemas.openxmlformats.org/officeDocument/2006/relationships/image" Target="../media/image3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8.png"/><Relationship Id="rId4" Type="http://schemas.openxmlformats.org/officeDocument/2006/relationships/image" Target="../media/image19.png"/><Relationship Id="rId5" Type="http://schemas.openxmlformats.org/officeDocument/2006/relationships/image" Target="../media/image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1.png"/><Relationship Id="rId6" Type="http://schemas.openxmlformats.org/officeDocument/2006/relationships/image" Target="../media/image5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57.png"/><Relationship Id="rId4" Type="http://schemas.openxmlformats.org/officeDocument/2006/relationships/image" Target="../media/image37.png"/><Relationship Id="rId5" Type="http://schemas.openxmlformats.org/officeDocument/2006/relationships/image" Target="../media/image58.png"/><Relationship Id="rId6" Type="http://schemas.openxmlformats.org/officeDocument/2006/relationships/image" Target="../media/image46.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35.png"/><Relationship Id="rId4" Type="http://schemas.openxmlformats.org/officeDocument/2006/relationships/image" Target="../media/image59.png"/><Relationship Id="rId5" Type="http://schemas.openxmlformats.org/officeDocument/2006/relationships/image" Target="../media/image3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현장 지식을 활용해 실제 문제를 해결하는 AI 에이전트 만들기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정보와 도구로 일하는</a:t>
            </a:r>
          </a:p>
          <a:p>
            <a:pPr algn="l" eaLnBrk="0">
              <a:lnSpc>
                <a:spcPct val="110000"/>
              </a:lnSpc>
            </a:pPr>
            <a:r>
              <a:rPr sz="4000" b="1">
                <a:solidFill>
                  <a:srgbClr val="FFFFFF"/>
                </a:solidFill>
                <a:latin typeface="맑은 고딕"/>
                <a:ea typeface="맑은 고딕"/>
                <a:cs typeface="맑은 고딕"/>
              </a:rPr>
              <a:t>AI 에이전트</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목표를 받은 에이전트가 정보원을 도구로 읽고, 근거가 모자라면 멈추며, 결과와 과정을 남기는 원리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bot" descr="robo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list-search" descr="list-search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 한 건을 맡은 에이전트가 무엇을 읽고 어떤 순서로 일하며 언제 멈추는지를 쿨러 사건의 실제 기록으로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0734"/>
            <a:ext cx="731520" cy="731520"/>
          </a:xfrm>
          <a:prstGeom prst="ellipse">
            <a:avLst/>
          </a:prstGeom>
          <a:solidFill>
            <a:srgbClr val="E7F3FD"/>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30859" y="2474353"/>
            <a:ext cx="424281" cy="424281"/>
          </a:xfrm>
          <a:prstGeom prst="rect">
            <a:avLst/>
          </a:prstGeom>
        </p:spPr>
      </p:pic>
      <p:sp>
        <p:nvSpPr>
          <p:cNvPr id="9" name="TextBox 8"/>
          <p:cNvSpPr txBox="1"/>
          <p:nvPr/>
        </p:nvSpPr>
        <p:spPr>
          <a:xfrm>
            <a:off x="713232"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세 방식의 구분</a:t>
            </a:r>
          </a:p>
          <a:p>
            <a:pPr algn="l" eaLnBrk="0" marL="177165" indent="-177165">
              <a:lnSpc>
                <a:spcPct val="110000"/>
              </a:lnSpc>
              <a:spcAft>
                <a:spcPts val="400"/>
              </a:spcAft>
            </a:pPr>
            <a:r>
              <a:rPr sz="1550" b="0">
                <a:solidFill>
                  <a:srgbClr val="1F2A3A"/>
                </a:solidFill>
                <a:latin typeface="맑은 고딕"/>
                <a:ea typeface="맑은 고딕"/>
                <a:cs typeface="맑은 고딕"/>
              </a:rPr>
              <a:t>• 같은 요청에 LLM · RAG · 에이전트가</a:t>
            </a:r>
          </a:p>
          <a:p>
            <a:pPr algn="l" eaLnBrk="0" marL="177165" indent="-177165">
              <a:lnSpc>
                <a:spcPct val="110000"/>
              </a:lnSpc>
              <a:spcAft>
                <a:spcPts val="400"/>
              </a:spcAft>
            </a:pPr>
            <a:r>
              <a:rPr sz="1550" b="0">
                <a:solidFill>
                  <a:srgbClr val="1F2A3A"/>
                </a:solidFill>
                <a:latin typeface="맑은 고딕"/>
                <a:ea typeface="맑은 고딕"/>
                <a:cs typeface="맑은 고딕"/>
              </a:rPr>
              <a:t>• 무엇을 근거로 무엇을 돌려주는지 견준다</a:t>
            </a:r>
          </a:p>
        </p:txBody>
      </p:sp>
      <p:sp>
        <p:nvSpPr>
          <p:cNvPr id="10" name="Rounded Rectangle 9"/>
          <p:cNvSpPr/>
          <p:nvPr/>
        </p:nvSpPr>
        <p:spPr>
          <a:xfrm>
            <a:off x="777240" y="5433377"/>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구분</a:t>
            </a:r>
          </a:p>
        </p:txBody>
      </p:sp>
      <p:sp>
        <p:nvSpPr>
          <p:cNvPr id="12" name="Rounded Rectangle 11"/>
          <p:cNvSpPr/>
          <p:nvPr/>
        </p:nvSpPr>
        <p:spPr>
          <a:xfrm>
            <a:off x="3390823"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0734"/>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474353"/>
            <a:ext cx="424281" cy="424281"/>
          </a:xfrm>
          <a:prstGeom prst="rect">
            <a:avLst/>
          </a:prstGeom>
        </p:spPr>
      </p:pic>
      <p:sp>
        <p:nvSpPr>
          <p:cNvPr id="15" name="TextBox 14"/>
          <p:cNvSpPr txBox="1"/>
          <p:nvPr/>
        </p:nvSpPr>
        <p:spPr>
          <a:xfrm>
            <a:off x="3555415"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실행 고리와 산출물</a:t>
            </a:r>
          </a:p>
          <a:p>
            <a:pPr algn="l" eaLnBrk="0" marL="177165" indent="-177165">
              <a:lnSpc>
                <a:spcPct val="110000"/>
              </a:lnSpc>
              <a:spcAft>
                <a:spcPts val="400"/>
              </a:spcAft>
            </a:pPr>
            <a:r>
              <a:rPr sz="1550" b="0">
                <a:solidFill>
                  <a:srgbClr val="1F2A3A"/>
                </a:solidFill>
                <a:latin typeface="맑은 고딕"/>
                <a:ea typeface="맑은 고딕"/>
                <a:cs typeface="맑은 고딕"/>
              </a:rPr>
              <a:t>• 요청 해석에서 종료까지를 처리 기록에서 짚고</a:t>
            </a:r>
          </a:p>
          <a:p>
            <a:pPr algn="l" eaLnBrk="0" marL="177165" indent="-177165">
              <a:lnSpc>
                <a:spcPct val="110000"/>
              </a:lnSpc>
              <a:spcAft>
                <a:spcPts val="400"/>
              </a:spcAft>
            </a:pPr>
            <a:r>
              <a:rPr sz="1550" b="0">
                <a:solidFill>
                  <a:srgbClr val="1F2A3A"/>
                </a:solidFill>
                <a:latin typeface="맑은 고딕"/>
                <a:ea typeface="맑은 고딕"/>
                <a:cs typeface="맑은 고딕"/>
              </a:rPr>
              <a:t>• 답변과 추천안의 차이를 설명한다</a:t>
            </a:r>
          </a:p>
        </p:txBody>
      </p:sp>
      <p:sp>
        <p:nvSpPr>
          <p:cNvPr id="16" name="Rounded Rectangle 15"/>
          <p:cNvSpPr/>
          <p:nvPr/>
        </p:nvSpPr>
        <p:spPr>
          <a:xfrm>
            <a:off x="3619423" y="5433377"/>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0734"/>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6615226" y="2474353"/>
            <a:ext cx="424281" cy="424281"/>
          </a:xfrm>
          <a:prstGeom prst="rect">
            <a:avLst/>
          </a:prstGeom>
        </p:spPr>
      </p:pic>
      <p:sp>
        <p:nvSpPr>
          <p:cNvPr id="21" name="TextBox 20"/>
          <p:cNvSpPr txBox="1"/>
          <p:nvPr/>
        </p:nvSpPr>
        <p:spPr>
          <a:xfrm>
            <a:off x="6397599"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정보원과 멈춤 조건</a:t>
            </a:r>
          </a:p>
          <a:p>
            <a:pPr algn="l" eaLnBrk="0" marL="177165" indent="-177165">
              <a:lnSpc>
                <a:spcPct val="110000"/>
              </a:lnSpc>
              <a:spcAft>
                <a:spcPts val="400"/>
              </a:spcAft>
            </a:pPr>
            <a:r>
              <a:rPr sz="1550" b="0">
                <a:solidFill>
                  <a:srgbClr val="1F2A3A"/>
                </a:solidFill>
                <a:latin typeface="맑은 고딕"/>
                <a:ea typeface="맑은 고딕"/>
                <a:cs typeface="맑은 고딕"/>
              </a:rPr>
              <a:t>• 네 정보원을 물음에 맞게 가르고</a:t>
            </a:r>
          </a:p>
          <a:p>
            <a:pPr algn="l" eaLnBrk="0" marL="177165" indent="-177165">
              <a:lnSpc>
                <a:spcPct val="110000"/>
              </a:lnSpc>
              <a:spcAft>
                <a:spcPts val="400"/>
              </a:spcAft>
            </a:pPr>
            <a:r>
              <a:rPr sz="1550" b="0">
                <a:solidFill>
                  <a:srgbClr val="1F2A3A"/>
                </a:solidFill>
                <a:latin typeface="맑은 고딕"/>
                <a:ea typeface="맑은 고딕"/>
                <a:cs typeface="맑은 고딕"/>
              </a:rPr>
              <a:t>• 근거가 모자라면 멈추는 까닭을 든다</a:t>
            </a:r>
          </a:p>
        </p:txBody>
      </p:sp>
      <p:sp>
        <p:nvSpPr>
          <p:cNvPr id="22" name="Rounded Rectangle 21"/>
          <p:cNvSpPr/>
          <p:nvPr/>
        </p:nvSpPr>
        <p:spPr>
          <a:xfrm>
            <a:off x="6461607" y="5433377"/>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33377"/>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정보와 멈춤</a:t>
            </a:r>
          </a:p>
        </p:txBody>
      </p:sp>
      <p:sp>
        <p:nvSpPr>
          <p:cNvPr id="24" name="Rounded Rectangle 23"/>
          <p:cNvSpPr/>
          <p:nvPr/>
        </p:nvSpPr>
        <p:spPr>
          <a:xfrm>
            <a:off x="9075191" y="2119566"/>
            <a:ext cx="2567863" cy="374357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0734"/>
            <a:ext cx="731520" cy="731520"/>
          </a:xfrm>
          <a:prstGeom prst="ellipse">
            <a:avLst/>
          </a:prstGeom>
          <a:solidFill>
            <a:srgbClr val="5CB8F2"/>
          </a:solidFill>
          <a:ln>
            <a:noFill/>
          </a:ln>
        </p:spPr>
        <p:txBody>
          <a:bodyPr rtlCol="0" anchor="ctr"/>
          <a:lstStyle/>
          <a:p>
            <a:pPr algn="ctr"/>
          </a:p>
        </p:txBody>
      </p:sp>
      <p:pic>
        <p:nvPicPr>
          <p:cNvPr id="26" name="아이콘:robot" descr="robot_13294B_1.6.png"/>
          <p:cNvPicPr>
            <a:picLocks noChangeAspect="1"/>
          </p:cNvPicPr>
          <p:nvPr/>
        </p:nvPicPr>
        <p:blipFill>
          <a:blip r:embed="rId6"/>
          <a:stretch>
            <a:fillRect/>
          </a:stretch>
        </p:blipFill>
        <p:spPr>
          <a:xfrm>
            <a:off x="9457410" y="2474353"/>
            <a:ext cx="424281" cy="424281"/>
          </a:xfrm>
          <a:prstGeom prst="rect">
            <a:avLst/>
          </a:prstGeom>
        </p:spPr>
      </p:pic>
      <p:sp>
        <p:nvSpPr>
          <p:cNvPr id="27" name="TextBox 26"/>
          <p:cNvSpPr txBox="1"/>
          <p:nvPr/>
        </p:nvSpPr>
        <p:spPr>
          <a:xfrm>
            <a:off x="9239783"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에이전트 구성과 검증</a:t>
            </a:r>
          </a:p>
          <a:p>
            <a:pPr algn="l" eaLnBrk="0" marL="177165" indent="-177165">
              <a:lnSpc>
                <a:spcPct val="110000"/>
              </a:lnSpc>
              <a:spcAft>
                <a:spcPts val="400"/>
              </a:spcAft>
            </a:pPr>
            <a:r>
              <a:rPr sz="1550" b="0">
                <a:solidFill>
                  <a:srgbClr val="1F2A3A"/>
                </a:solidFill>
                <a:latin typeface="맑은 고딕"/>
                <a:ea typeface="맑은 고딕"/>
                <a:cs typeface="맑은 고딕"/>
              </a:rPr>
              <a:t>• 에이전트를 구성해 질문하고</a:t>
            </a:r>
          </a:p>
          <a:p>
            <a:pPr algn="l" eaLnBrk="0" marL="177165" indent="-177165">
              <a:lnSpc>
                <a:spcPct val="110000"/>
              </a:lnSpc>
              <a:spcAft>
                <a:spcPts val="400"/>
              </a:spcAft>
            </a:pPr>
            <a:r>
              <a:rPr sz="1550" b="0">
                <a:solidFill>
                  <a:srgbClr val="1F2A3A"/>
                </a:solidFill>
                <a:latin typeface="맑은 고딕"/>
                <a:ea typeface="맑은 고딕"/>
                <a:cs typeface="맑은 고딕"/>
              </a:rPr>
              <a:t>• 실습 결과를 근거와 대조한다</a:t>
            </a:r>
          </a:p>
        </p:txBody>
      </p:sp>
      <p:sp>
        <p:nvSpPr>
          <p:cNvPr id="28" name="Rounded Rectangle 27"/>
          <p:cNvSpPr/>
          <p:nvPr/>
        </p:nvSpPr>
        <p:spPr>
          <a:xfrm>
            <a:off x="9303791" y="5433377"/>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LLM · RAG · 에이전트의 구분</a:t>
            </a:r>
          </a:p>
        </p:txBody>
      </p:sp>
      <p:sp>
        <p:nvSpPr>
          <p:cNvPr id="6" name="Rounded Rectangle 5"/>
          <p:cNvSpPr/>
          <p:nvPr/>
        </p:nvSpPr>
        <p:spPr>
          <a:xfrm>
            <a:off x="10088575" y="140817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4081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8653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745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745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에이전트의 실행 고리</a:t>
            </a:r>
          </a:p>
        </p:txBody>
      </p:sp>
      <p:sp>
        <p:nvSpPr>
          <p:cNvPr id="11" name="Rounded Rectangle 10"/>
          <p:cNvSpPr/>
          <p:nvPr/>
        </p:nvSpPr>
        <p:spPr>
          <a:xfrm>
            <a:off x="10088575" y="204825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0482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5054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5146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5146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단순 답변과 업무 산출물</a:t>
            </a:r>
          </a:p>
        </p:txBody>
      </p:sp>
      <p:sp>
        <p:nvSpPr>
          <p:cNvPr id="16" name="Rounded Rectangle 15"/>
          <p:cNvSpPr/>
          <p:nvPr/>
        </p:nvSpPr>
        <p:spPr>
          <a:xfrm>
            <a:off x="10088575" y="26883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688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314553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15467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15467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에이전트의 정보원과 도구</a:t>
            </a:r>
          </a:p>
        </p:txBody>
      </p:sp>
      <p:sp>
        <p:nvSpPr>
          <p:cNvPr id="21" name="Rounded Rectangle 20"/>
          <p:cNvSpPr/>
          <p:nvPr/>
        </p:nvSpPr>
        <p:spPr>
          <a:xfrm>
            <a:off x="10088575" y="3328415"/>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328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79476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79476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지식과 현재값의 구분</a:t>
            </a:r>
          </a:p>
        </p:txBody>
      </p:sp>
      <p:sp>
        <p:nvSpPr>
          <p:cNvPr id="26" name="Rounded Rectangle 25"/>
          <p:cNvSpPr/>
          <p:nvPr/>
        </p:nvSpPr>
        <p:spPr>
          <a:xfrm>
            <a:off x="10088575" y="3968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968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4256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4348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4348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멈춤 조건: 근거 부족 · 호출 실패 · 권한 제한</a:t>
            </a:r>
          </a:p>
        </p:txBody>
      </p:sp>
      <p:sp>
        <p:nvSpPr>
          <p:cNvPr id="31" name="Rounded Rectangle 30"/>
          <p:cNvSpPr/>
          <p:nvPr/>
        </p:nvSpPr>
        <p:spPr>
          <a:xfrm>
            <a:off x="10088575" y="4608575"/>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608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506577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50749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50749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구조화 출력과 실행 기록</a:t>
            </a:r>
          </a:p>
        </p:txBody>
      </p:sp>
      <p:sp>
        <p:nvSpPr>
          <p:cNvPr id="36" name="Rounded Rectangle 35"/>
          <p:cNvSpPr/>
          <p:nvPr/>
        </p:nvSpPr>
        <p:spPr>
          <a:xfrm>
            <a:off x="10088575" y="5248655"/>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52486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705855"/>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7150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7150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 구성 · 원인 추론 · 접수 처리 · 센서 탐색</a:t>
            </a:r>
          </a:p>
        </p:txBody>
      </p:sp>
      <p:sp>
        <p:nvSpPr>
          <p:cNvPr id="41" name="Rounded Rectangle 40"/>
          <p:cNvSpPr/>
          <p:nvPr/>
        </p:nvSpPr>
        <p:spPr>
          <a:xfrm>
            <a:off x="10088575" y="58887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8887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3" name="TextBox 42"/>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LLM · RAG · 에이전트의 구분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경보 한 건을 맡기려면 AI에 무엇이 더 있어야 하는지, 세 방식을 같은 요청으로 견준다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경보에서 승인까지: 에이전트가 맡은 구간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경보에서 승인까지 108초 가운데 약 94초는 </a:t>
            </a:r>
            <a:r>
              <a:rPr sz="1600" b="1">
                <a:solidFill>
                  <a:srgbClr val="1A6FC4"/>
                </a:solidFill>
                <a:latin typeface="맑은 고딕"/>
                <a:ea typeface="맑은 고딕"/>
                <a:cs typeface="맑은 고딕"/>
              </a:rPr>
              <a:t>에이전트</a:t>
            </a:r>
            <a:r>
              <a:rPr sz="1600" b="0">
                <a:solidFill>
                  <a:srgbClr val="556175"/>
                </a:solidFill>
                <a:latin typeface="맑은 고딕"/>
                <a:ea typeface="맑은 고딕"/>
                <a:cs typeface="맑은 고딕"/>
              </a:rPr>
              <a:t>가 원인을 가리고 조치 후보를 견준 시간이었다.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경보에서승인까지.svg" descr="illust_1180918756431431675_179222454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722180"/>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 11:13:08</a:t>
            </a:r>
          </a:p>
          <a:p>
            <a:pPr algn="ctr" eaLnBrk="0">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3117555" y="1674906"/>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a:t>
            </a:r>
          </a:p>
          <a:p>
            <a:pPr algn="ctr" eaLnBrk="0">
              <a:lnSpc>
                <a:spcPct val="110000"/>
              </a:lnSpc>
              <a:spcAft>
                <a:spcPts val="100"/>
              </a:spcAft>
            </a:pPr>
            <a:r>
              <a:rPr sz="1300" b="0">
                <a:solidFill>
                  <a:srgbClr val="556175"/>
                </a:solidFill>
                <a:latin typeface="맑은 고딕"/>
                <a:ea typeface="맑은 고딕"/>
                <a:cs typeface="맑은 고딕"/>
              </a:rPr>
              <a:t>냉각 긴급 대응 에이전트</a:t>
            </a:r>
          </a:p>
        </p:txBody>
      </p:sp>
      <p:sp>
        <p:nvSpPr>
          <p:cNvPr id="9" name="TextBox 8"/>
          <p:cNvSpPr txBox="1"/>
          <p:nvPr/>
        </p:nvSpPr>
        <p:spPr>
          <a:xfrm>
            <a:off x="6444951" y="1722180"/>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 11:14:42</a:t>
            </a:r>
          </a:p>
          <a:p>
            <a:pPr algn="ctr" eaLnBrk="0">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10" name="TextBox 9"/>
          <p:cNvSpPr txBox="1"/>
          <p:nvPr/>
        </p:nvSpPr>
        <p:spPr>
          <a:xfrm>
            <a:off x="9019592" y="1722180"/>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11:14:56</a:t>
            </a:r>
          </a:p>
          <a:p>
            <a:pPr algn="ctr" eaLnBrk="0">
              <a:lnSpc>
                <a:spcPct val="110000"/>
              </a:lnSpc>
              <a:spcAft>
                <a:spcPts val="100"/>
              </a:spcAft>
            </a:pPr>
            <a:r>
              <a:rPr sz="1300" b="0">
                <a:solidFill>
                  <a:srgbClr val="556175"/>
                </a:solidFill>
                <a:latin typeface="맑은 고딕"/>
                <a:ea typeface="맑은 고딕"/>
                <a:cs typeface="맑은 고딕"/>
              </a:rPr>
              <a:t>운전원</a:t>
            </a:r>
          </a:p>
        </p:txBody>
      </p:sp>
      <p:sp>
        <p:nvSpPr>
          <p:cNvPr id="11" name="TextBox 10"/>
          <p:cNvSpPr txBox="1"/>
          <p:nvPr/>
        </p:nvSpPr>
        <p:spPr>
          <a:xfrm>
            <a:off x="3368473" y="5409590"/>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약 94초</a:t>
            </a:r>
          </a:p>
          <a:p>
            <a:pPr algn="ctr" eaLnBrk="0">
              <a:lnSpc>
                <a:spcPct val="110000"/>
              </a:lnSpc>
              <a:spcAft>
                <a:spcPts val="100"/>
              </a:spcAft>
            </a:pPr>
            <a:r>
              <a:rPr sz="1300" b="0">
                <a:solidFill>
                  <a:srgbClr val="556175"/>
                </a:solidFill>
                <a:latin typeface="맑은 고딕"/>
                <a:ea typeface="맑은 고딕"/>
                <a:cs typeface="맑은 고딕"/>
              </a:rPr>
              <a:t>에이전트 단계 전체</a:t>
            </a:r>
          </a:p>
        </p:txBody>
      </p:sp>
      <p:sp>
        <p:nvSpPr>
          <p:cNvPr id="12" name="TextBox 11"/>
          <p:cNvSpPr txBox="1"/>
          <p:nvPr/>
        </p:nvSpPr>
        <p:spPr>
          <a:xfrm>
            <a:off x="7950461" y="5409590"/>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약 13초</a:t>
            </a:r>
          </a:p>
          <a:p>
            <a:pPr algn="ctr" eaLnBrk="0">
              <a:lnSpc>
                <a:spcPct val="110000"/>
              </a:lnSpc>
              <a:spcAft>
                <a:spcPts val="100"/>
              </a:spcAft>
            </a:pPr>
            <a:r>
              <a:rPr sz="1300" b="0">
                <a:solidFill>
                  <a:srgbClr val="556175"/>
                </a:solidFill>
                <a:latin typeface="맑은 고딕"/>
                <a:ea typeface="맑은 고딕"/>
                <a:cs typeface="맑은 고딕"/>
              </a:rPr>
              <a:t>승인 대기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94초 동안 이어진 네 가지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94초는 답 한 번을 만든 시간이 아니라, 앞 단계의 결과가 있어야 다음 단계를 할 수 있는 네 가지 일의 연속이었다.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643505"/>
            <a:ext cx="2485567" cy="2695702"/>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26385"/>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1579283" y="2980004"/>
            <a:ext cx="424281" cy="424281"/>
          </a:xfrm>
          <a:prstGeom prst="rect">
            <a:avLst/>
          </a:prstGeom>
        </p:spPr>
      </p:pic>
      <p:sp>
        <p:nvSpPr>
          <p:cNvPr id="9" name="TextBox 8"/>
          <p:cNvSpPr txBox="1"/>
          <p:nvPr/>
        </p:nvSpPr>
        <p:spPr>
          <a:xfrm>
            <a:off x="621792" y="3631057"/>
            <a:ext cx="2339263" cy="1634997"/>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값을 읽는다</a:t>
            </a:r>
          </a:p>
          <a:p>
            <a:pPr algn="ctr" eaLnBrk="0">
              <a:lnSpc>
                <a:spcPct val="110000"/>
              </a:lnSpc>
              <a:spcAft>
                <a:spcPts val="400"/>
              </a:spcAft>
            </a:pPr>
            <a:r>
              <a:rPr sz="1650" b="0">
                <a:solidFill>
                  <a:srgbClr val="1F2A3A"/>
                </a:solidFill>
                <a:latin typeface="맑은 고딕"/>
                <a:ea typeface="맑은 고딕"/>
                <a:cs typeface="맑은 고딕"/>
              </a:rPr>
              <a:t>유온, 냉각 효율,</a:t>
            </a:r>
          </a:p>
          <a:p>
            <a:pPr algn="ctr" eaLnBrk="0">
              <a:lnSpc>
                <a:spcPct val="110000"/>
              </a:lnSpc>
              <a:spcAft>
                <a:spcPts val="400"/>
              </a:spcAft>
            </a:pPr>
            <a:r>
              <a:rPr sz="1650" b="0">
                <a:solidFill>
                  <a:srgbClr val="1F2A3A"/>
                </a:solidFill>
                <a:latin typeface="맑은 고딕"/>
                <a:ea typeface="맑은 고딕"/>
                <a:cs typeface="맑은 고딕"/>
              </a:rPr>
              <a:t>팬 진동, 캐비닛 온도</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43505"/>
            <a:ext cx="2485567" cy="2695702"/>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26385"/>
            <a:ext cx="731520" cy="731520"/>
          </a:xfrm>
          <a:prstGeom prst="ellipse">
            <a:avLst/>
          </a:prstGeom>
          <a:solidFill>
            <a:srgbClr val="FFFFFF"/>
          </a:solidFill>
          <a:ln>
            <a:no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48898" y="2980004"/>
            <a:ext cx="424281" cy="424281"/>
          </a:xfrm>
          <a:prstGeom prst="rect">
            <a:avLst/>
          </a:prstGeom>
        </p:spPr>
      </p:pic>
      <p:sp>
        <p:nvSpPr>
          <p:cNvPr id="14" name="TextBox 13"/>
          <p:cNvSpPr txBox="1"/>
          <p:nvPr/>
        </p:nvSpPr>
        <p:spPr>
          <a:xfrm>
            <a:off x="3491407" y="3631057"/>
            <a:ext cx="2339263" cy="1634997"/>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원인을 가린다</a:t>
            </a:r>
          </a:p>
          <a:p>
            <a:pPr algn="ctr" eaLnBrk="0">
              <a:lnSpc>
                <a:spcPct val="110000"/>
              </a:lnSpc>
              <a:spcAft>
                <a:spcPts val="400"/>
              </a:spcAft>
            </a:pPr>
            <a:r>
              <a:rPr sz="1650" b="0">
                <a:solidFill>
                  <a:srgbClr val="1F2A3A"/>
                </a:solidFill>
                <a:latin typeface="맑은 고딕"/>
                <a:ea typeface="맑은 고딕"/>
                <a:cs typeface="맑은 고딕"/>
              </a:rPr>
              <a:t>후보 셋 가운데</a:t>
            </a:r>
          </a:p>
          <a:p>
            <a:pPr algn="ctr" eaLnBrk="0">
              <a:lnSpc>
                <a:spcPct val="110000"/>
              </a:lnSpc>
              <a:spcAft>
                <a:spcPts val="400"/>
              </a:spcAft>
            </a:pPr>
            <a:r>
              <a:rPr sz="1650" b="0">
                <a:solidFill>
                  <a:srgbClr val="1F2A3A"/>
                </a:solidFill>
                <a:latin typeface="맑은 고딕"/>
                <a:ea typeface="맑은 고딕"/>
                <a:cs typeface="맑은 고딕"/>
              </a:rPr>
              <a:t>쿨러 핀 오염</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43505"/>
            <a:ext cx="2485567" cy="2695702"/>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26385"/>
            <a:ext cx="731520" cy="731520"/>
          </a:xfrm>
          <a:prstGeom prst="ellipse">
            <a:avLst/>
          </a:prstGeom>
          <a:solidFill>
            <a:srgbClr val="FFFFFF"/>
          </a:solidFill>
          <a:ln>
            <a:noFill/>
          </a:ln>
        </p:spPr>
        <p:txBody>
          <a:bodyPr rtlCol="0" anchor="ctr"/>
          <a:lstStyle/>
          <a:p>
            <a:pPr algn="ctr"/>
          </a:p>
        </p:txBody>
      </p:sp>
      <p:pic>
        <p:nvPicPr>
          <p:cNvPr id="18" name="아이콘:scale" descr="scale_13294B_1.6.png"/>
          <p:cNvPicPr>
            <a:picLocks noChangeAspect="1"/>
          </p:cNvPicPr>
          <p:nvPr/>
        </p:nvPicPr>
        <p:blipFill>
          <a:blip r:embed="rId5"/>
          <a:stretch>
            <a:fillRect/>
          </a:stretch>
        </p:blipFill>
        <p:spPr>
          <a:xfrm>
            <a:off x="7318514" y="2980004"/>
            <a:ext cx="424281" cy="424281"/>
          </a:xfrm>
          <a:prstGeom prst="rect">
            <a:avLst/>
          </a:prstGeom>
        </p:spPr>
      </p:pic>
      <p:sp>
        <p:nvSpPr>
          <p:cNvPr id="19" name="TextBox 18"/>
          <p:cNvSpPr txBox="1"/>
          <p:nvPr/>
        </p:nvSpPr>
        <p:spPr>
          <a:xfrm>
            <a:off x="6361023" y="3631057"/>
            <a:ext cx="2339263" cy="1634997"/>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후보를 견준다</a:t>
            </a:r>
          </a:p>
          <a:p>
            <a:pPr algn="ctr" eaLnBrk="0">
              <a:lnSpc>
                <a:spcPct val="110000"/>
              </a:lnSpc>
              <a:spcAft>
                <a:spcPts val="400"/>
              </a:spcAft>
            </a:pPr>
            <a:r>
              <a:rPr sz="1650" b="0">
                <a:solidFill>
                  <a:srgbClr val="1F2A3A"/>
                </a:solidFill>
                <a:latin typeface="맑은 고딕"/>
                <a:ea typeface="맑은 고딕"/>
                <a:cs typeface="맑은 고딕"/>
              </a:rPr>
              <a:t>조치 후보 넷의</a:t>
            </a:r>
          </a:p>
          <a:p>
            <a:pPr algn="ctr" eaLnBrk="0">
              <a:lnSpc>
                <a:spcPct val="110000"/>
              </a:lnSpc>
              <a:spcAft>
                <a:spcPts val="400"/>
              </a:spcAft>
            </a:pPr>
            <a:r>
              <a:rPr sz="1650" b="0">
                <a:solidFill>
                  <a:srgbClr val="1F2A3A"/>
                </a:solidFill>
                <a:latin typeface="맑은 고딕"/>
                <a:ea typeface="맑은 고딕"/>
                <a:cs typeface="맑은 고딕"/>
              </a:rPr>
              <a:t>규정, 예측 유온, 순위</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43505"/>
            <a:ext cx="2485567" cy="2695702"/>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26385"/>
            <a:ext cx="731520" cy="731520"/>
          </a:xfrm>
          <a:prstGeom prst="ellipse">
            <a:avLst/>
          </a:prstGeom>
          <a:solidFill>
            <a:srgbClr val="5CB8F2"/>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10188130" y="2980004"/>
            <a:ext cx="424281" cy="424281"/>
          </a:xfrm>
          <a:prstGeom prst="rect">
            <a:avLst/>
          </a:prstGeom>
        </p:spPr>
      </p:pic>
      <p:sp>
        <p:nvSpPr>
          <p:cNvPr id="24" name="TextBox 23"/>
          <p:cNvSpPr txBox="1"/>
          <p:nvPr/>
        </p:nvSpPr>
        <p:spPr>
          <a:xfrm>
            <a:off x="9230639" y="3631057"/>
            <a:ext cx="2339263" cy="1634997"/>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추천안을 제출한다</a:t>
            </a:r>
          </a:p>
          <a:p>
            <a:pPr algn="ctr" eaLnBrk="0">
              <a:lnSpc>
                <a:spcPct val="110000"/>
              </a:lnSpc>
              <a:spcAft>
                <a:spcPts val="400"/>
              </a:spcAft>
            </a:pPr>
            <a:r>
              <a:rPr sz="1650" b="0">
                <a:solidFill>
                  <a:srgbClr val="1F2A3A"/>
                </a:solidFill>
                <a:latin typeface="맑은 고딕"/>
                <a:ea typeface="맑은 고딕"/>
                <a:cs typeface="맑은 고딕"/>
              </a:rPr>
              <a:t>추천 하나와</a:t>
            </a:r>
          </a:p>
          <a:p>
            <a:pPr algn="ctr" eaLnBrk="0">
              <a:lnSpc>
                <a:spcPct val="110000"/>
              </a:lnSpc>
              <a:spcAft>
                <a:spcPts val="400"/>
              </a:spcAft>
            </a:pPr>
            <a:r>
              <a:rPr sz="1650" b="0">
                <a:solidFill>
                  <a:srgbClr val="1F2A3A"/>
                </a:solidFill>
                <a:latin typeface="맑은 고딕"/>
                <a:ea typeface="맑은 고딕"/>
                <a:cs typeface="맑은 고딕"/>
              </a:rPr>
              <a:t>뒤진 대안 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LLM의 응답 생성과 외부 실행의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모델은 입력을 바탕으로 응답이나 호출 요청을 만들며, 실제 외부 조회는 연결된 프로그램이 수행한다.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ectangle 5"/>
          <p:cNvSpPr/>
          <p:nvPr/>
        </p:nvSpPr>
        <p:spPr>
          <a:xfrm>
            <a:off x="2397709" y="3465385"/>
            <a:ext cx="7396276" cy="146304"/>
          </a:xfrm>
          <a:prstGeom prst="rect">
            <a:avLst/>
          </a:prstGeom>
          <a:solidFill>
            <a:srgbClr val="5CB8F2"/>
          </a:solidFill>
          <a:ln>
            <a:noFill/>
          </a:ln>
        </p:spPr>
        <p:txBody>
          <a:bodyPr rtlCol="0" anchor="ctr"/>
          <a:lstStyle/>
          <a:p>
            <a:pPr algn="ctr"/>
          </a:p>
        </p:txBody>
      </p:sp>
      <p:sp>
        <p:nvSpPr>
          <p:cNvPr id="7" name="Chevron 6"/>
          <p:cNvSpPr/>
          <p:nvPr/>
        </p:nvSpPr>
        <p:spPr>
          <a:xfrm>
            <a:off x="4127906"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900629" y="3008185"/>
            <a:ext cx="2692298"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읽는다</a:t>
            </a:r>
          </a:p>
        </p:txBody>
      </p:sp>
      <p:sp>
        <p:nvSpPr>
          <p:cNvPr id="9" name="Oval 8"/>
          <p:cNvSpPr/>
          <p:nvPr/>
        </p:nvSpPr>
        <p:spPr>
          <a:xfrm>
            <a:off x="180334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message" descr="message_13294B_1.6.png"/>
          <p:cNvPicPr>
            <a:picLocks noChangeAspect="1"/>
          </p:cNvPicPr>
          <p:nvPr/>
        </p:nvPicPr>
        <p:blipFill>
          <a:blip r:embed="rId3"/>
          <a:stretch>
            <a:fillRect/>
          </a:stretch>
        </p:blipFill>
        <p:spPr>
          <a:xfrm>
            <a:off x="2088642" y="3229470"/>
            <a:ext cx="618134" cy="618134"/>
          </a:xfrm>
          <a:prstGeom prst="rect">
            <a:avLst/>
          </a:prstGeom>
        </p:spPr>
      </p:pic>
      <p:sp>
        <p:nvSpPr>
          <p:cNvPr id="11" name="TextBox 10"/>
          <p:cNvSpPr txBox="1"/>
          <p:nvPr/>
        </p:nvSpPr>
        <p:spPr>
          <a:xfrm>
            <a:off x="640080" y="4270057"/>
            <a:ext cx="3515258"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입력</a:t>
            </a:r>
          </a:p>
          <a:p>
            <a:pPr algn="ctr" eaLnBrk="0">
              <a:lnSpc>
                <a:spcPct val="110000"/>
              </a:lnSpc>
              <a:spcAft>
                <a:spcPts val="400"/>
              </a:spcAft>
            </a:pPr>
            <a:r>
              <a:rPr sz="1300" b="0">
                <a:solidFill>
                  <a:srgbClr val="1F2A3A"/>
                </a:solidFill>
                <a:latin typeface="맑은 고딕"/>
                <a:ea typeface="맑은 고딕"/>
                <a:cs typeface="맑은 고딕"/>
              </a:rPr>
              <a:t>사람이 적어 넣은 글</a:t>
            </a:r>
          </a:p>
          <a:p>
            <a:pPr algn="ctr" eaLnBrk="0">
              <a:lnSpc>
                <a:spcPct val="110000"/>
              </a:lnSpc>
              <a:spcAft>
                <a:spcPts val="400"/>
              </a:spcAft>
            </a:pPr>
            <a:r>
              <a:rPr sz="1300" b="0">
                <a:solidFill>
                  <a:srgbClr val="1F2A3A"/>
                </a:solidFill>
                <a:latin typeface="맑은 고딕"/>
                <a:ea typeface="맑은 고딕"/>
                <a:cs typeface="맑은 고딕"/>
              </a:rPr>
              <a:t>질문, 지시, 참고 자료</a:t>
            </a:r>
          </a:p>
        </p:txBody>
      </p:sp>
      <p:sp>
        <p:nvSpPr>
          <p:cNvPr id="12" name="Chevron 11"/>
          <p:cNvSpPr/>
          <p:nvPr/>
        </p:nvSpPr>
        <p:spPr>
          <a:xfrm>
            <a:off x="7826044"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6598767" y="3008185"/>
            <a:ext cx="2692298"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만든다</a:t>
            </a:r>
          </a:p>
        </p:txBody>
      </p:sp>
      <p:sp>
        <p:nvSpPr>
          <p:cNvPr id="14" name="Oval 13"/>
          <p:cNvSpPr/>
          <p:nvPr/>
        </p:nvSpPr>
        <p:spPr>
          <a:xfrm>
            <a:off x="5501487"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15" name="아이콘:cpu" descr="cpu_13294B_1.6.png"/>
          <p:cNvPicPr>
            <a:picLocks noChangeAspect="1"/>
          </p:cNvPicPr>
          <p:nvPr/>
        </p:nvPicPr>
        <p:blipFill>
          <a:blip r:embed="rId4"/>
          <a:stretch>
            <a:fillRect/>
          </a:stretch>
        </p:blipFill>
        <p:spPr>
          <a:xfrm>
            <a:off x="5786780" y="3229470"/>
            <a:ext cx="618134" cy="618134"/>
          </a:xfrm>
          <a:prstGeom prst="rect">
            <a:avLst/>
          </a:prstGeom>
        </p:spPr>
      </p:pic>
      <p:sp>
        <p:nvSpPr>
          <p:cNvPr id="16" name="TextBox 15"/>
          <p:cNvSpPr txBox="1"/>
          <p:nvPr/>
        </p:nvSpPr>
        <p:spPr>
          <a:xfrm>
            <a:off x="4338218" y="4270057"/>
            <a:ext cx="3515258"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LLM</a:t>
            </a:r>
          </a:p>
          <a:p>
            <a:pPr algn="ctr" eaLnBrk="0">
              <a:lnSpc>
                <a:spcPct val="110000"/>
              </a:lnSpc>
              <a:spcAft>
                <a:spcPts val="400"/>
              </a:spcAft>
            </a:pPr>
            <a:r>
              <a:rPr sz="1300" b="0">
                <a:solidFill>
                  <a:srgbClr val="1F2A3A"/>
                </a:solidFill>
                <a:latin typeface="맑은 고딕"/>
                <a:ea typeface="맑은 고딕"/>
                <a:cs typeface="맑은 고딕"/>
              </a:rPr>
              <a:t>대규모 언어 모델</a:t>
            </a:r>
          </a:p>
          <a:p>
            <a:pPr algn="ctr" eaLnBrk="0">
              <a:lnSpc>
                <a:spcPct val="110000"/>
              </a:lnSpc>
              <a:spcAft>
                <a:spcPts val="400"/>
              </a:spcAft>
            </a:pPr>
            <a:r>
              <a:rPr sz="1300" b="0">
                <a:solidFill>
                  <a:srgbClr val="1F2A3A"/>
                </a:solidFill>
                <a:latin typeface="맑은 고딕"/>
                <a:ea typeface="맑은 고딕"/>
                <a:cs typeface="맑은 고딕"/>
              </a:rPr>
              <a:t>Large Language Model</a:t>
            </a:r>
          </a:p>
          <a:p>
            <a:pPr algn="ctr" eaLnBrk="0">
              <a:lnSpc>
                <a:spcPct val="110000"/>
              </a:lnSpc>
              <a:spcAft>
                <a:spcPts val="400"/>
              </a:spcAft>
            </a:pPr>
            <a:r>
              <a:rPr sz="1300" b="0">
                <a:solidFill>
                  <a:srgbClr val="1F2A3A"/>
                </a:solidFill>
                <a:latin typeface="맑은 고딕"/>
                <a:ea typeface="맑은 고딕"/>
                <a:cs typeface="맑은 고딕"/>
              </a:rPr>
              <a:t>이어질 글을 만든다</a:t>
            </a:r>
          </a:p>
        </p:txBody>
      </p:sp>
      <p:sp>
        <p:nvSpPr>
          <p:cNvPr id="17" name="Oval 16"/>
          <p:cNvSpPr/>
          <p:nvPr/>
        </p:nvSpPr>
        <p:spPr>
          <a:xfrm>
            <a:off x="9199626"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9484918" y="3229470"/>
            <a:ext cx="618134" cy="618134"/>
          </a:xfrm>
          <a:prstGeom prst="rect">
            <a:avLst/>
          </a:prstGeom>
        </p:spPr>
      </p:pic>
      <p:sp>
        <p:nvSpPr>
          <p:cNvPr id="19" name="TextBox 18"/>
          <p:cNvSpPr txBox="1"/>
          <p:nvPr/>
        </p:nvSpPr>
        <p:spPr>
          <a:xfrm>
            <a:off x="8036356" y="4270057"/>
            <a:ext cx="3515258"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출력</a:t>
            </a:r>
          </a:p>
          <a:p>
            <a:pPr algn="ctr" eaLnBrk="0">
              <a:lnSpc>
                <a:spcPct val="110000"/>
              </a:lnSpc>
              <a:spcAft>
                <a:spcPts val="400"/>
              </a:spcAft>
            </a:pPr>
            <a:r>
              <a:rPr sz="1300" b="0">
                <a:solidFill>
                  <a:srgbClr val="1F2A3A"/>
                </a:solidFill>
                <a:latin typeface="맑은 고딕"/>
                <a:ea typeface="맑은 고딕"/>
                <a:cs typeface="맑은 고딕"/>
              </a:rPr>
              <a:t>글로 된 응답 한 번</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LLM만으로는 채울 수 없는 세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지금의 값, 이 공장의 문서, 조회 · 계산 · 제출 같은 수행은 학습된 모델 바깥에 있어 LLM 혼자서는 채우지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지금의 값</a:t>
            </a:r>
          </a:p>
          <a:p>
            <a:pPr algn="l" eaLnBrk="0" marL="205740" indent="-205740">
              <a:lnSpc>
                <a:spcPct val="110000"/>
              </a:lnSpc>
              <a:spcAft>
                <a:spcPts val="400"/>
              </a:spcAft>
            </a:pPr>
            <a:r>
              <a:rPr sz="1800" b="0">
                <a:solidFill>
                  <a:srgbClr val="1F2A3A"/>
                </a:solidFill>
                <a:latin typeface="맑은 고딕"/>
                <a:ea typeface="맑은 고딕"/>
                <a:cs typeface="맑은 고딕"/>
              </a:rPr>
              <a:t>• 유온, 냉각 효율, 운전 모드는 계속 바뀐다</a:t>
            </a:r>
          </a:p>
          <a:p>
            <a:pPr algn="l" eaLnBrk="0" marL="205740" indent="-205740">
              <a:lnSpc>
                <a:spcPct val="110000"/>
              </a:lnSpc>
              <a:spcAft>
                <a:spcPts val="400"/>
              </a:spcAft>
            </a:pPr>
            <a:r>
              <a:rPr sz="1800" b="0">
                <a:solidFill>
                  <a:srgbClr val="1F2A3A"/>
                </a:solidFill>
                <a:latin typeface="맑은 고딕"/>
                <a:ea typeface="맑은 고딕"/>
                <a:cs typeface="맑은 고딕"/>
              </a:rPr>
              <a:t>• 학습이 끝난 뒤에 생긴 값은 모델 안에 없다</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book-2" descr="book-2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이 공장의 문서</a:t>
            </a:r>
          </a:p>
          <a:p>
            <a:pPr algn="l" eaLnBrk="0" marL="200025" indent="-200025">
              <a:lnSpc>
                <a:spcPct val="110000"/>
              </a:lnSpc>
              <a:spcAft>
                <a:spcPts val="400"/>
              </a:spcAft>
            </a:pPr>
            <a:r>
              <a:rPr sz="1750" b="0">
                <a:solidFill>
                  <a:srgbClr val="1F2A3A"/>
                </a:solidFill>
                <a:latin typeface="맑은 고딕"/>
                <a:ea typeface="맑은 고딕"/>
                <a:cs typeface="맑은 고딕"/>
              </a:rPr>
              <a:t>• 최신 승인 매뉴얼의 조건을 학습했다고 보장할 수 없다</a:t>
            </a:r>
          </a:p>
          <a:p>
            <a:pPr algn="l" eaLnBrk="0" marL="200025" indent="-200025">
              <a:lnSpc>
                <a:spcPct val="110000"/>
              </a:lnSpc>
              <a:spcAft>
                <a:spcPts val="400"/>
              </a:spcAft>
            </a:pPr>
            <a:r>
              <a:rPr sz="1750" b="0">
                <a:solidFill>
                  <a:srgbClr val="1F2A3A"/>
                </a:solidFill>
                <a:latin typeface="맑은 고딕"/>
                <a:ea typeface="맑은 고딕"/>
                <a:cs typeface="맑은 고딕"/>
              </a:rPr>
              <a:t>• 승인된 문서의 근거를 따로 제공해야 한다</a:t>
            </a:r>
          </a:p>
        </p:txBody>
      </p:sp>
      <p:sp>
        <p:nvSpPr>
          <p:cNvPr id="16" name="Rounded Rectangle 15"/>
          <p:cNvSpPr/>
          <p:nvPr/>
        </p:nvSpPr>
        <p:spPr>
          <a:xfrm>
            <a:off x="4566818" y="539851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수행</a:t>
            </a:r>
          </a:p>
          <a:p>
            <a:pPr algn="l" eaLnBrk="0" marL="205740" indent="-205740">
              <a:lnSpc>
                <a:spcPct val="110000"/>
              </a:lnSpc>
              <a:spcAft>
                <a:spcPts val="400"/>
              </a:spcAft>
            </a:pPr>
            <a:r>
              <a:rPr sz="1800" b="0">
                <a:solidFill>
                  <a:srgbClr val="1F2A3A"/>
                </a:solidFill>
                <a:latin typeface="맑은 고딕"/>
                <a:ea typeface="맑은 고딕"/>
                <a:cs typeface="맑은 고딕"/>
              </a:rPr>
              <a:t>• 조회, 계산, 제출은 글을 만드는 일이 아니다</a:t>
            </a:r>
          </a:p>
          <a:p>
            <a:pPr algn="l" eaLnBrk="0" marL="205740" indent="-205740">
              <a:lnSpc>
                <a:spcPct val="110000"/>
              </a:lnSpc>
              <a:spcAft>
                <a:spcPts val="400"/>
              </a:spcAft>
            </a:pPr>
            <a:r>
              <a:rPr sz="1800" b="0">
                <a:solidFill>
                  <a:srgbClr val="1F2A3A"/>
                </a:solidFill>
                <a:latin typeface="맑은 고딕"/>
                <a:ea typeface="맑은 고딕"/>
                <a:cs typeface="맑은 고딕"/>
              </a:rPr>
              <a:t>• 호출 요청을 실제로 실행할 프로그램이 필요하다</a:t>
            </a:r>
          </a:p>
        </p:txBody>
      </p:sp>
      <p:sp>
        <p:nvSpPr>
          <p:cNvPr id="22" name="Rounded Rectangle 21"/>
          <p:cNvSpPr/>
          <p:nvPr/>
        </p:nvSpPr>
        <p:spPr>
          <a:xfrm>
            <a:off x="8356396" y="539851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행동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RAG의 근거 검색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RAG는 문서나 그래프 등에서 검색한 자료를 답 생성의 근거로 제공하며, 화면은 문서를 찾는 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15679"/>
            <a:ext cx="2485567" cy="29513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98559"/>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1579283" y="2852178"/>
            <a:ext cx="424281" cy="424281"/>
          </a:xfrm>
          <a:prstGeom prst="rect">
            <a:avLst/>
          </a:prstGeom>
        </p:spPr>
      </p:pic>
      <p:sp>
        <p:nvSpPr>
          <p:cNvPr id="9" name="TextBox 8"/>
          <p:cNvSpPr txBox="1"/>
          <p:nvPr/>
        </p:nvSpPr>
        <p:spPr>
          <a:xfrm>
            <a:off x="621792"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질문</a:t>
            </a:r>
          </a:p>
          <a:p>
            <a:pPr algn="ctr" eaLnBrk="0">
              <a:lnSpc>
                <a:spcPct val="110000"/>
              </a:lnSpc>
              <a:spcAft>
                <a:spcPts val="400"/>
              </a:spcAft>
            </a:pPr>
            <a:r>
              <a:rPr sz="1650" b="0">
                <a:solidFill>
                  <a:srgbClr val="1F2A3A"/>
                </a:solidFill>
                <a:latin typeface="맑은 고딕"/>
                <a:ea typeface="맑은 고딕"/>
                <a:cs typeface="맑은 고딕"/>
              </a:rPr>
              <a:t>사람이 묻는다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15679"/>
            <a:ext cx="2485567" cy="29513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98559"/>
            <a:ext cx="731520" cy="731520"/>
          </a:xfrm>
          <a:prstGeom prst="ellipse">
            <a:avLst/>
          </a:prstGeom>
          <a:solidFill>
            <a:srgbClr val="5CB8F2"/>
          </a:solidFill>
          <a:ln>
            <a:noFill/>
          </a:ln>
        </p:spPr>
        <p:txBody>
          <a:bodyPr rtlCol="0" anchor="ctr"/>
          <a:lstStyle/>
          <a:p>
            <a:pPr algn="ctr"/>
          </a:p>
        </p:txBody>
      </p:sp>
      <p:pic>
        <p:nvPicPr>
          <p:cNvPr id="13" name="아이콘:file-search" descr="file-search_13294B_1.6.png"/>
          <p:cNvPicPr>
            <a:picLocks noChangeAspect="1"/>
          </p:cNvPicPr>
          <p:nvPr/>
        </p:nvPicPr>
        <p:blipFill>
          <a:blip r:embed="rId4"/>
          <a:stretch>
            <a:fillRect/>
          </a:stretch>
        </p:blipFill>
        <p:spPr>
          <a:xfrm>
            <a:off x="4448898" y="2852178"/>
            <a:ext cx="424281" cy="424281"/>
          </a:xfrm>
          <a:prstGeom prst="rect">
            <a:avLst/>
          </a:prstGeom>
        </p:spPr>
      </p:pic>
      <p:sp>
        <p:nvSpPr>
          <p:cNvPr id="14" name="TextBox 13"/>
          <p:cNvSpPr txBox="1"/>
          <p:nvPr/>
        </p:nvSpPr>
        <p:spPr>
          <a:xfrm>
            <a:off x="3491407"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검색</a:t>
            </a:r>
          </a:p>
          <a:p>
            <a:pPr algn="ctr" eaLnBrk="0">
              <a:lnSpc>
                <a:spcPct val="110000"/>
              </a:lnSpc>
              <a:spcAft>
                <a:spcPts val="400"/>
              </a:spcAft>
            </a:pPr>
            <a:r>
              <a:rPr sz="1650" b="0">
                <a:solidFill>
                  <a:srgbClr val="1F2A3A"/>
                </a:solidFill>
                <a:latin typeface="맑은 고딕"/>
                <a:ea typeface="맑은 고딕"/>
                <a:cs typeface="맑은 고딕"/>
              </a:rPr>
              <a:t>질문과 뜻이 가까운</a:t>
            </a:r>
          </a:p>
          <a:p>
            <a:pPr algn="ctr" eaLnBrk="0">
              <a:lnSpc>
                <a:spcPct val="110000"/>
              </a:lnSpc>
              <a:spcAft>
                <a:spcPts val="400"/>
              </a:spcAft>
            </a:pPr>
            <a:r>
              <a:rPr sz="1650" b="0">
                <a:solidFill>
                  <a:srgbClr val="1F2A3A"/>
                </a:solidFill>
                <a:latin typeface="맑은 고딕"/>
                <a:ea typeface="맑은 고딕"/>
                <a:cs typeface="맑은 고딕"/>
              </a:rPr>
              <a:t>문서 조각을 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15679"/>
            <a:ext cx="2485567" cy="295135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98559"/>
            <a:ext cx="731520" cy="731520"/>
          </a:xfrm>
          <a:prstGeom prst="ellipse">
            <a:avLst/>
          </a:prstGeom>
          <a:solidFill>
            <a:srgbClr val="FFFFFF"/>
          </a:solidFill>
          <a:ln>
            <a:noFill/>
          </a:ln>
        </p:spPr>
        <p:txBody>
          <a:bodyPr rtlCol="0" anchor="ctr"/>
          <a:lstStyle/>
          <a:p>
            <a:pPr algn="ctr"/>
          </a:p>
        </p:txBody>
      </p:sp>
      <p:pic>
        <p:nvPicPr>
          <p:cNvPr id="18" name="아이콘:files" descr="files_13294B_1.6.png"/>
          <p:cNvPicPr>
            <a:picLocks noChangeAspect="1"/>
          </p:cNvPicPr>
          <p:nvPr/>
        </p:nvPicPr>
        <p:blipFill>
          <a:blip r:embed="rId5"/>
          <a:stretch>
            <a:fillRect/>
          </a:stretch>
        </p:blipFill>
        <p:spPr>
          <a:xfrm>
            <a:off x="7318514" y="2852178"/>
            <a:ext cx="424281" cy="424281"/>
          </a:xfrm>
          <a:prstGeom prst="rect">
            <a:avLst/>
          </a:prstGeom>
        </p:spPr>
      </p:pic>
      <p:sp>
        <p:nvSpPr>
          <p:cNvPr id="19" name="TextBox 18"/>
          <p:cNvSpPr txBox="1"/>
          <p:nvPr/>
        </p:nvSpPr>
        <p:spPr>
          <a:xfrm>
            <a:off x="6361023"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보강</a:t>
            </a:r>
          </a:p>
          <a:p>
            <a:pPr algn="ctr" eaLnBrk="0">
              <a:lnSpc>
                <a:spcPct val="110000"/>
              </a:lnSpc>
              <a:spcAft>
                <a:spcPts val="400"/>
              </a:spcAft>
            </a:pPr>
            <a:r>
              <a:rPr sz="1650" b="0">
                <a:solidFill>
                  <a:srgbClr val="1F2A3A"/>
                </a:solidFill>
                <a:latin typeface="맑은 고딕"/>
                <a:ea typeface="맑은 고딕"/>
                <a:cs typeface="맑은 고딕"/>
              </a:rPr>
              <a:t>찾은 조각을</a:t>
            </a:r>
          </a:p>
          <a:p>
            <a:pPr algn="ctr" eaLnBrk="0">
              <a:lnSpc>
                <a:spcPct val="110000"/>
              </a:lnSpc>
              <a:spcAft>
                <a:spcPts val="400"/>
              </a:spcAft>
            </a:pPr>
            <a:r>
              <a:rPr sz="1650" b="0">
                <a:solidFill>
                  <a:srgbClr val="1F2A3A"/>
                </a:solidFill>
                <a:latin typeface="맑은 고딕"/>
                <a:ea typeface="맑은 고딕"/>
                <a:cs typeface="맑은 고딕"/>
              </a:rPr>
              <a:t>질문과 함께</a:t>
            </a:r>
          </a:p>
          <a:p>
            <a:pPr algn="ctr" eaLnBrk="0">
              <a:lnSpc>
                <a:spcPct val="110000"/>
              </a:lnSpc>
              <a:spcAft>
                <a:spcPts val="400"/>
              </a:spcAft>
            </a:pPr>
            <a:r>
              <a:rPr sz="1650" b="0">
                <a:solidFill>
                  <a:srgbClr val="1F2A3A"/>
                </a:solidFill>
                <a:latin typeface="맑은 고딕"/>
                <a:ea typeface="맑은 고딕"/>
                <a:cs typeface="맑은 고딕"/>
              </a:rPr>
              <a:t>모델에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15679"/>
            <a:ext cx="2485567" cy="295135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98559"/>
            <a:ext cx="731520" cy="731520"/>
          </a:xfrm>
          <a:prstGeom prst="ellipse">
            <a:avLst/>
          </a:prstGeom>
          <a:solidFill>
            <a:srgbClr val="FFFFFF"/>
          </a:solidFill>
          <a:ln>
            <a:noFill/>
          </a:ln>
        </p:spPr>
        <p:txBody>
          <a:bodyPr rtlCol="0" anchor="ctr"/>
          <a:lstStyle/>
          <a:p>
            <a:pPr algn="ctr"/>
          </a:p>
        </p:txBody>
      </p:sp>
      <p:pic>
        <p:nvPicPr>
          <p:cNvPr id="23" name="아이콘:message-2" descr="message-2_13294B_1.6.png"/>
          <p:cNvPicPr>
            <a:picLocks noChangeAspect="1"/>
          </p:cNvPicPr>
          <p:nvPr/>
        </p:nvPicPr>
        <p:blipFill>
          <a:blip r:embed="rId6"/>
          <a:stretch>
            <a:fillRect/>
          </a:stretch>
        </p:blipFill>
        <p:spPr>
          <a:xfrm>
            <a:off x="10188130" y="2852178"/>
            <a:ext cx="424281" cy="424281"/>
          </a:xfrm>
          <a:prstGeom prst="rect">
            <a:avLst/>
          </a:prstGeom>
        </p:spPr>
      </p:pic>
      <p:sp>
        <p:nvSpPr>
          <p:cNvPr id="24" name="TextBox 23"/>
          <p:cNvSpPr txBox="1"/>
          <p:nvPr/>
        </p:nvSpPr>
        <p:spPr>
          <a:xfrm>
            <a:off x="9230639"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생성</a:t>
            </a:r>
          </a:p>
          <a:p>
            <a:pPr algn="ctr" eaLnBrk="0">
              <a:lnSpc>
                <a:spcPct val="110000"/>
              </a:lnSpc>
              <a:spcAft>
                <a:spcPts val="400"/>
              </a:spcAft>
            </a:pPr>
            <a:r>
              <a:rPr sz="1650" b="0">
                <a:solidFill>
                  <a:srgbClr val="1F2A3A"/>
                </a:solidFill>
                <a:latin typeface="맑은 고딕"/>
                <a:ea typeface="맑은 고딕"/>
                <a:cs typeface="맑은 고딕"/>
              </a:rPr>
              <a:t>모델이 조각을 읽고</a:t>
            </a:r>
          </a:p>
          <a:p>
            <a:pPr algn="ctr" eaLnBrk="0">
              <a:lnSpc>
                <a:spcPct val="110000"/>
              </a:lnSpc>
              <a:spcAft>
                <a:spcPts val="400"/>
              </a:spcAft>
            </a:pPr>
            <a:r>
              <a:rPr sz="1650" b="0">
                <a:solidFill>
                  <a:srgbClr val="1F2A3A"/>
                </a:solidFill>
                <a:latin typeface="맑은 고딕"/>
                <a:ea typeface="맑은 고딕"/>
                <a:cs typeface="맑은 고딕"/>
              </a:rPr>
              <a:t>글로 답한다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에이전트의 목표 지향 작업 수행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조회하고 계산하고 제출하는 일까지 맡기려면, 모델이 도구를 부르고 그 결과를 보며 다음 행동을 정하게 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에이전트</a:t>
            </a:r>
          </a:p>
          <a:p>
            <a:pPr algn="l" eaLnBrk="0">
              <a:lnSpc>
                <a:spcPct val="110000"/>
              </a:lnSpc>
              <a:spcAft>
                <a:spcPts val="200"/>
              </a:spcAft>
            </a:pPr>
            <a:r>
              <a:rPr sz="1150" b="0">
                <a:solidFill>
                  <a:srgbClr val="556175"/>
                </a:solidFill>
                <a:latin typeface="맑은 고딕"/>
                <a:ea typeface="맑은 고딕"/>
                <a:cs typeface="맑은 고딕"/>
              </a:rPr>
              <a:t>AI Agent</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목표를 받아 도구를 골라 부르고, 결과를 보고 다음 행동을 정하는 일을 반복하는 시스템이다. 완료 조건 또는 멈춤 조건에서 끝낸다.</a:t>
            </a:r>
          </a:p>
          <a:p>
            <a:pPr algn="l" eaLnBrk="0">
              <a:lnSpc>
                <a:spcPct val="110000"/>
              </a:lnSpc>
              <a:spcAft>
                <a:spcPts val="300"/>
              </a:spcAft>
            </a:pPr>
            <a:r>
              <a:rPr sz="1400" b="0">
                <a:solidFill>
                  <a:srgbClr val="1F2A3A"/>
                </a:solidFill>
                <a:latin typeface="맑은 고딕"/>
                <a:ea typeface="맑은 고딕"/>
                <a:cs typeface="맑은 고딕"/>
              </a:rPr>
              <a:t>결과는 답변이나 업무 산출물이며, 목표에 맞춰 정한다.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도구</a:t>
            </a:r>
          </a:p>
          <a:p>
            <a:pPr algn="l" eaLnBrk="0">
              <a:lnSpc>
                <a:spcPct val="110000"/>
              </a:lnSpc>
              <a:spcAft>
                <a:spcPts val="200"/>
              </a:spcAft>
            </a:pPr>
            <a:r>
              <a:rPr sz="1150" b="0">
                <a:solidFill>
                  <a:srgbClr val="556175"/>
                </a:solidFill>
                <a:latin typeface="맑은 고딕"/>
                <a:ea typeface="맑은 고딕"/>
                <a:cs typeface="맑은 고딕"/>
              </a:rPr>
              <a:t>Tool</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모델이 이름과 입력을 적어 부를 수 있도록 정해 둔 기능이다.</a:t>
            </a:r>
          </a:p>
          <a:p>
            <a:pPr algn="l" eaLnBrk="0">
              <a:lnSpc>
                <a:spcPct val="110000"/>
              </a:lnSpc>
              <a:spcAft>
                <a:spcPts val="300"/>
              </a:spcAft>
            </a:pPr>
            <a:r>
              <a:rPr sz="1400" b="0">
                <a:solidFill>
                  <a:srgbClr val="1F2A3A"/>
                </a:solidFill>
                <a:latin typeface="맑은 고딕"/>
                <a:ea typeface="맑은 고딕"/>
                <a:cs typeface="맑은 고딕"/>
              </a:rPr>
              <a:t>예: 원인 진단, 생산오더 조회, 판단 제출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쿨러 사건의 에이전트</a:t>
            </a:r>
          </a:p>
          <a:p>
            <a:pPr algn="l" eaLnBrk="0">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냉각 긴급 대응 에이전트가 경보 한 건을 받아 원인을 가리고 추천안을 제출했다.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연결한 기능이 다른 세 구성의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모델 · RAG · 에이전트는 함께 구성할 수 있으며, 제공한 근거와 연결한 도구에 따라 결과가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답의 근거와 하는 일</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돌아오는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모델만 사용</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근거: 모델이 학습한 내용</a:t>
            </a:r>
          </a:p>
          <a:p>
            <a:pPr algn="l" eaLnBrk="0">
              <a:lnSpc>
                <a:spcPct val="110000"/>
              </a:lnSpc>
            </a:pPr>
            <a:r>
              <a:rPr sz="1400" b="0">
                <a:solidFill>
                  <a:srgbClr val="1F2A3A"/>
                </a:solidFill>
                <a:latin typeface="맑은 고딕"/>
                <a:ea typeface="맑은 고딕"/>
                <a:cs typeface="맑은 고딕"/>
              </a:rPr>
              <a:t>이어질 글을 만든다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유압 설비에 대한</a:t>
            </a:r>
          </a:p>
          <a:p>
            <a:pPr algn="l" eaLnBrk="0">
              <a:lnSpc>
                <a:spcPct val="110000"/>
              </a:lnSpc>
            </a:pPr>
            <a:r>
              <a:rPr sz="1250" b="1">
                <a:solidFill>
                  <a:srgbClr val="556175"/>
                </a:solidFill>
                <a:latin typeface="맑은 고딕"/>
                <a:ea typeface="맑은 고딕"/>
                <a:cs typeface="맑은 고딕"/>
              </a:rPr>
              <a:t>일반적인 설명</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문서 RAG 예</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근거: 찾아온 문서 조각</a:t>
            </a:r>
          </a:p>
          <a:p>
            <a:pPr algn="l" eaLnBrk="0">
              <a:lnSpc>
                <a:spcPct val="110000"/>
              </a:lnSpc>
            </a:pPr>
            <a:r>
              <a:rPr sz="1400" b="0">
                <a:solidFill>
                  <a:srgbClr val="1F2A3A"/>
                </a:solidFill>
                <a:latin typeface="맑은 고딕"/>
                <a:ea typeface="맑은 고딕"/>
                <a:cs typeface="맑은 고딕"/>
              </a:rPr>
              <a:t>조각을 읽고 글로 답한다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문서를 인용한 설명</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 에이전트 예</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근거: 도구가 돌려준 결과</a:t>
            </a:r>
          </a:p>
          <a:p>
            <a:pPr algn="l" eaLnBrk="0">
              <a:lnSpc>
                <a:spcPct val="110000"/>
              </a:lnSpc>
            </a:pPr>
            <a:r>
              <a:rPr sz="1400" b="0">
                <a:solidFill>
                  <a:srgbClr val="1F2A3A"/>
                </a:solidFill>
                <a:latin typeface="맑은 고딕"/>
                <a:ea typeface="맑은 고딕"/>
                <a:cs typeface="맑은 고딕"/>
              </a:rPr>
              <a:t>값을 읽어 원인을 가리고 조치 후보 넷을 견주어 제출한다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이 설비의 값으로</a:t>
            </a:r>
          </a:p>
          <a:p>
            <a:pPr algn="l" eaLnBrk="0">
              <a:lnSpc>
                <a:spcPct val="110000"/>
              </a:lnSpc>
            </a:pPr>
            <a:r>
              <a:rPr sz="1250" b="1">
                <a:solidFill>
                  <a:srgbClr val="1A6FC4"/>
                </a:solidFill>
                <a:latin typeface="맑은 고딕"/>
                <a:ea typeface="맑은 고딕"/>
                <a:cs typeface="맑은 고딕"/>
              </a:rPr>
              <a:t>만든 추천안</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에이전트의 세 요소: 모델 · 도구 · 실행 고리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수업의 LLM 기반 에이전트는 모델에 도구와 실행 고리를 연결해, 결과에 따라 다음 행동을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pic>
        <p:nvPicPr>
          <p:cNvPr id="6" name="삽화:세요소.svg" descr="illust_7533800098898654012_179222454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653198"/>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모델</a:t>
            </a:r>
          </a:p>
          <a:p>
            <a:pPr algn="ctr" eaLnBrk="0">
              <a:lnSpc>
                <a:spcPct val="110000"/>
              </a:lnSpc>
              <a:spcAft>
                <a:spcPts val="100"/>
              </a:spcAft>
            </a:pPr>
            <a:r>
              <a:rPr sz="1300" b="0">
                <a:solidFill>
                  <a:srgbClr val="556175"/>
                </a:solidFill>
                <a:latin typeface="맑은 고딕"/>
                <a:ea typeface="맑은 고딕"/>
                <a:cs typeface="맑은 고딕"/>
              </a:rPr>
              <a:t>LLM</a:t>
            </a:r>
          </a:p>
        </p:txBody>
      </p:sp>
      <p:sp>
        <p:nvSpPr>
          <p:cNvPr id="8" name="TextBox 7"/>
          <p:cNvSpPr txBox="1"/>
          <p:nvPr/>
        </p:nvSpPr>
        <p:spPr>
          <a:xfrm>
            <a:off x="3848491" y="4653198"/>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a:t>
            </a:r>
          </a:p>
          <a:p>
            <a:pPr algn="ctr" eaLnBrk="0">
              <a:lnSpc>
                <a:spcPct val="110000"/>
              </a:lnSpc>
              <a:spcAft>
                <a:spcPts val="100"/>
              </a:spcAft>
            </a:pPr>
            <a:r>
              <a:rPr sz="1300" b="0">
                <a:solidFill>
                  <a:srgbClr val="556175"/>
                </a:solidFill>
                <a:latin typeface="맑은 고딕"/>
                <a:ea typeface="맑은 고딕"/>
                <a:cs typeface="맑은 고딕"/>
              </a:rPr>
              <a:t>Tool</a:t>
            </a:r>
          </a:p>
        </p:txBody>
      </p:sp>
      <p:sp>
        <p:nvSpPr>
          <p:cNvPr id="9" name="TextBox 8"/>
          <p:cNvSpPr txBox="1"/>
          <p:nvPr/>
        </p:nvSpPr>
        <p:spPr>
          <a:xfrm>
            <a:off x="6619503" y="4653198"/>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실행 고리</a:t>
            </a:r>
          </a:p>
          <a:p>
            <a:pPr algn="ctr" eaLnBrk="0">
              <a:lnSpc>
                <a:spcPct val="110000"/>
              </a:lnSpc>
              <a:spcAft>
                <a:spcPts val="100"/>
              </a:spcAft>
            </a:pPr>
            <a:r>
              <a:rPr sz="1300" b="0">
                <a:solidFill>
                  <a:srgbClr val="556175"/>
                </a:solidFill>
                <a:latin typeface="맑은 고딕"/>
                <a:ea typeface="맑은 고딕"/>
                <a:cs typeface="맑은 고딕"/>
              </a:rPr>
              <a:t>Agent Loop</a:t>
            </a:r>
          </a:p>
        </p:txBody>
      </p:sp>
      <p:sp>
        <p:nvSpPr>
          <p:cNvPr id="10" name="TextBox 9"/>
          <p:cNvSpPr txBox="1"/>
          <p:nvPr/>
        </p:nvSpPr>
        <p:spPr>
          <a:xfrm>
            <a:off x="9499610" y="4653198"/>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에이전트를 정의하는 항목: 목표 · 도구 · 업무 지침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목표 · 사용하는 도구 · 지침에 따라 맡는 일이 달라지며, 실행 권한은 별도로 제한한다.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TextBox 6"/>
          <p:cNvSpPr txBox="1"/>
          <p:nvPr/>
        </p:nvSpPr>
        <p:spPr>
          <a:xfrm>
            <a:off x="822959" y="2364041"/>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냉각 긴급 대응 에이전트</a:t>
            </a:r>
          </a:p>
        </p:txBody>
      </p:sp>
      <p:sp>
        <p:nvSpPr>
          <p:cNvPr id="8" name="TextBox 7"/>
          <p:cNvSpPr txBox="1"/>
          <p:nvPr/>
        </p:nvSpPr>
        <p:spPr>
          <a:xfrm>
            <a:off x="822959" y="3214433"/>
            <a:ext cx="4632807" cy="205676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목표: 쿨러 경보의 원인 진단 → 냉각 추천안</a:t>
            </a:r>
          </a:p>
          <a:p>
            <a:pPr algn="l" eaLnBrk="0" marL="188595" indent="-188595">
              <a:lnSpc>
                <a:spcPct val="110000"/>
              </a:lnSpc>
              <a:spcAft>
                <a:spcPts val="600"/>
              </a:spcAft>
            </a:pPr>
            <a:r>
              <a:rPr sz="1650" b="0">
                <a:solidFill>
                  <a:srgbClr val="1F2A3A"/>
                </a:solidFill>
                <a:latin typeface="맑은 고딕"/>
                <a:ea typeface="맑은 고딕"/>
                <a:cs typeface="맑은 고딕"/>
              </a:rPr>
              <a:t>• 도구: 지식 그래프 조회 · 업무 DB 조회 · 판단 도구</a:t>
            </a:r>
          </a:p>
          <a:p>
            <a:pPr algn="l" eaLnBrk="0" marL="188595" indent="-188595">
              <a:lnSpc>
                <a:spcPct val="110000"/>
              </a:lnSpc>
              <a:spcAft>
                <a:spcPts val="600"/>
              </a:spcAft>
            </a:pPr>
            <a:r>
              <a:rPr sz="1650" b="0">
                <a:solidFill>
                  <a:srgbClr val="1F2A3A"/>
                </a:solidFill>
                <a:latin typeface="맑은 고딕"/>
                <a:ea typeface="맑은 고딕"/>
                <a:cs typeface="맑은 고딕"/>
              </a:rPr>
              <a:t>• 업무 지침: cooling-emergency-response</a:t>
            </a:r>
          </a:p>
        </p:txBody>
      </p:sp>
      <p:sp>
        <p:nvSpPr>
          <p:cNvPr id="9" name="Rounded Rectangle 8"/>
          <p:cNvSpPr/>
          <p:nvPr/>
        </p:nvSpPr>
        <p:spPr>
          <a:xfrm>
            <a:off x="868680" y="5362638"/>
            <a:ext cx="1523999" cy="292608"/>
          </a:xfrm>
          <a:prstGeom prst="roundRect">
            <a:avLst>
              <a:gd name="adj" fmla="val 50000"/>
            </a:avLst>
          </a:prstGeom>
          <a:solidFill>
            <a:srgbClr val="5CB8F2"/>
          </a:solidFill>
          <a:ln>
            <a:noFill/>
          </a:ln>
        </p:spPr>
        <p:txBody>
          <a:bodyPr rtlCol="0" anchor="ctr"/>
          <a:lstStyle/>
          <a:p>
            <a:pPr algn="ctr"/>
          </a:p>
        </p:txBody>
      </p:sp>
      <p:sp>
        <p:nvSpPr>
          <p:cNvPr id="10" name="TextBox 9"/>
          <p:cNvSpPr txBox="1"/>
          <p:nvPr/>
        </p:nvSpPr>
        <p:spPr>
          <a:xfrm>
            <a:off x="868680" y="536263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쿨러 사건을 맡음</a:t>
            </a:r>
          </a:p>
        </p:txBody>
      </p:sp>
      <p:sp>
        <p:nvSpPr>
          <p:cNvPr id="11" name="Rounded Rectangle 10"/>
          <p:cNvSpPr/>
          <p:nvPr/>
        </p:nvSpPr>
        <p:spPr>
          <a:xfrm>
            <a:off x="6461607" y="2162873"/>
            <a:ext cx="5181447" cy="3656965"/>
          </a:xfrm>
          <a:prstGeom prst="roundRect">
            <a:avLst>
              <a:gd name="adj" fmla="val 4000"/>
            </a:avLst>
          </a:prstGeom>
          <a:solidFill>
            <a:srgbClr val="F3F6F9"/>
          </a:solidFill>
          <a:ln>
            <a:noFill/>
          </a:ln>
        </p:spPr>
        <p:txBody>
          <a:bodyPr rtlCol="0" anchor="ctr"/>
          <a:lstStyle/>
          <a:p>
            <a:pPr algn="ctr"/>
          </a:p>
        </p:txBody>
      </p:sp>
      <p:sp>
        <p:nvSpPr>
          <p:cNvPr id="12" name="TextBox 11"/>
          <p:cNvSpPr txBox="1"/>
          <p:nvPr/>
        </p:nvSpPr>
        <p:spPr>
          <a:xfrm>
            <a:off x="6735927" y="2364041"/>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예비품 구매 에이전트</a:t>
            </a:r>
          </a:p>
        </p:txBody>
      </p:sp>
      <p:sp>
        <p:nvSpPr>
          <p:cNvPr id="13" name="TextBox 12"/>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목표: 재고 이탈 경보의 필요량 · 공급사 비교 → 발주 추천안</a:t>
            </a:r>
          </a:p>
          <a:p>
            <a:pPr algn="l" eaLnBrk="0" marL="200025" indent="-200025">
              <a:lnSpc>
                <a:spcPct val="110000"/>
              </a:lnSpc>
              <a:spcAft>
                <a:spcPts val="600"/>
              </a:spcAft>
            </a:pPr>
            <a:r>
              <a:rPr sz="1750" b="0">
                <a:solidFill>
                  <a:srgbClr val="1F2A3A"/>
                </a:solidFill>
                <a:latin typeface="맑은 고딕"/>
                <a:ea typeface="맑은 고딕"/>
                <a:cs typeface="맑은 고딕"/>
              </a:rPr>
              <a:t>• 도구: 지식 그래프 조회 · 판단 도구 · 구매 업무 조회</a:t>
            </a:r>
          </a:p>
          <a:p>
            <a:pPr algn="l" eaLnBrk="0" marL="200025" indent="-200025">
              <a:lnSpc>
                <a:spcPct val="110000"/>
              </a:lnSpc>
              <a:spcAft>
                <a:spcPts val="600"/>
              </a:spcAft>
            </a:pPr>
            <a:r>
              <a:rPr sz="1750" b="0">
                <a:solidFill>
                  <a:srgbClr val="1F2A3A"/>
                </a:solidFill>
                <a:latin typeface="맑은 고딕"/>
                <a:ea typeface="맑은 고딕"/>
                <a:cs typeface="맑은 고딕"/>
              </a:rPr>
              <a:t>• 업무 지침: spare-purchase-planning</a:t>
            </a:r>
          </a:p>
        </p:txBody>
      </p:sp>
      <p:sp>
        <p:nvSpPr>
          <p:cNvPr id="14" name="Rounded Rectangle 13"/>
          <p:cNvSpPr/>
          <p:nvPr/>
        </p:nvSpPr>
        <p:spPr>
          <a:xfrm>
            <a:off x="6781647" y="5362638"/>
            <a:ext cx="1523999" cy="292608"/>
          </a:xfrm>
          <a:prstGeom prst="roundRect">
            <a:avLst>
              <a:gd name="adj" fmla="val 50000"/>
            </a:avLst>
          </a:prstGeom>
          <a:solidFill>
            <a:srgbClr val="D3D9E1"/>
          </a:solidFill>
          <a:ln>
            <a:noFill/>
          </a:ln>
        </p:spPr>
        <p:txBody>
          <a:bodyPr rtlCol="0" anchor="ctr"/>
          <a:lstStyle/>
          <a:p>
            <a:pPr algn="ctr"/>
          </a:p>
        </p:txBody>
      </p:sp>
      <p:sp>
        <p:nvSpPr>
          <p:cNvPr id="15" name="TextBox 14"/>
          <p:cNvSpPr txBox="1"/>
          <p:nvPr/>
        </p:nvSpPr>
        <p:spPr>
          <a:xfrm>
            <a:off x="6781647" y="536263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다른 경보를 맡음</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호출 한 건: 모델이 적는 것과 도구가 돌려주는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도구 호출</a:t>
            </a:r>
            <a:r>
              <a:rPr sz="1600" b="0">
                <a:solidFill>
                  <a:srgbClr val="556175"/>
                </a:solidFill>
                <a:latin typeface="맑은 고딕"/>
                <a:ea typeface="맑은 고딕"/>
                <a:cs typeface="맑은 고딕"/>
              </a:rPr>
              <a:t>(Tool Call)에서 모델은 도구 이름과 입력만 적고, 실제 조회와 결과는 도구가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(218</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물음</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 "pattern": "COOLER_DEGRADATION",</a:t>
            </a:r>
          </a:p>
          <a:p>
            <a:pPr algn="l" eaLnBrk="0">
              <a:lnSpc>
                <a:spcPct val="110000"/>
              </a:lnSpc>
              <a:spcAft>
                <a:spcPts val="200"/>
              </a:spcAft>
            </a:pPr>
            <a:r>
              <a:rPr sz="1300" b="0">
                <a:solidFill>
                  <a:srgbClr val="E8EEF6"/>
                </a:solidFill>
                <a:latin typeface="Consolas"/>
                <a:ea typeface="맑은 고딕"/>
                <a:cs typeface="맑은 고딕"/>
              </a:rPr>
              <a:t> "alert_id": "ALT-hyd01-0014-e0a1"}</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받음</a:t>
            </a:r>
          </a:p>
          <a:p>
            <a:pPr algn="l" eaLnBrk="0">
              <a:lnSpc>
                <a:spcPct val="110000"/>
              </a:lnSpc>
              <a:spcAft>
                <a:spcPts val="200"/>
              </a:spcAft>
            </a:pP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도구의 이름</a:t>
            </a:r>
          </a:p>
          <a:p>
            <a:pPr algn="l" eaLnBrk="0">
              <a:lnSpc>
                <a:spcPct val="110000"/>
              </a:lnSpc>
              <a:spcAft>
                <a:spcPts val="400"/>
              </a:spcAft>
            </a:pPr>
            <a:r>
              <a:rPr sz="1350" b="0">
                <a:solidFill>
                  <a:srgbClr val="1F2A3A"/>
                </a:solidFill>
                <a:latin typeface="맑은 고딕"/>
                <a:ea typeface="맑은 고딕"/>
                <a:cs typeface="맑은 고딕"/>
              </a:rPr>
              <a:t>원인 진단. 무엇을 하는 기능인지가 정해져 있다.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물음</a:t>
            </a:r>
          </a:p>
          <a:p>
            <a:pPr algn="l" eaLnBrk="0">
              <a:lnSpc>
                <a:spcPct val="110000"/>
              </a:lnSpc>
              <a:spcAft>
                <a:spcPts val="400"/>
              </a:spcAft>
            </a:pPr>
            <a:r>
              <a:rPr sz="1400" b="0">
                <a:solidFill>
                  <a:srgbClr val="1F2A3A"/>
                </a:solidFill>
                <a:latin typeface="맑은 고딕"/>
                <a:ea typeface="맑은 고딕"/>
                <a:cs typeface="맑은 고딕"/>
              </a:rPr>
              <a:t>모델이 적은 입력이다. 설비, 경보의 종류, 경보 번호를 넣었다.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받음</a:t>
            </a:r>
          </a:p>
          <a:p>
            <a:pPr algn="l" eaLnBrk="0">
              <a:lnSpc>
                <a:spcPct val="110000"/>
              </a:lnSpc>
              <a:spcAft>
                <a:spcPts val="400"/>
              </a:spcAft>
            </a:pPr>
            <a:r>
              <a:rPr sz="1400" b="0">
                <a:solidFill>
                  <a:srgbClr val="1F2A3A"/>
                </a:solidFill>
                <a:latin typeface="맑은 고딕"/>
                <a:ea typeface="맑은 고딕"/>
                <a:cs typeface="맑은 고딕"/>
              </a:rPr>
              <a:t>도구가 지식 그래프와 시계열 DB를 읽어 돌려준 결과이다.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걸린 시간</a:t>
            </a:r>
          </a:p>
          <a:p>
            <a:pPr algn="l" eaLnBrk="0">
              <a:lnSpc>
                <a:spcPct val="110000"/>
              </a:lnSpc>
              <a:spcAft>
                <a:spcPts val="400"/>
              </a:spcAft>
            </a:pPr>
            <a:r>
              <a:rPr sz="1400" b="0">
                <a:solidFill>
                  <a:srgbClr val="1F2A3A"/>
                </a:solidFill>
                <a:latin typeface="맑은 고딕"/>
                <a:ea typeface="맑은 고딕"/>
                <a:cs typeface="맑은 고딕"/>
              </a:rPr>
              <a:t>이 호출 한 번에 218 ms가 걸렸다.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에이전트의 실행 고리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처리 기록에서 요청 해석부터 종료까지, 에이전트가 일한 순서를 짚는다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결과를 확인한 뒤 다음 입력을 정하는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앞 결과를 확인하고 다음 입력을 정하되, 고정 절차와 상황에 따른 선택을 구분해 구성한다.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510218"/>
            <a:ext cx="5181447" cy="296227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11386"/>
            <a:ext cx="731520" cy="731520"/>
          </a:xfrm>
          <a:prstGeom prst="ellipse">
            <a:avLst/>
          </a:prstGeom>
          <a:solidFill>
            <a:srgbClr val="FFFFFF"/>
          </a:solidFill>
          <a:ln>
            <a:noFill/>
          </a:ln>
        </p:spPr>
        <p:txBody>
          <a:bodyPr rtlCol="0" anchor="ctr"/>
          <a:lstStyle/>
          <a:p>
            <a:pPr algn="ctr"/>
          </a:p>
        </p:txBody>
      </p:sp>
      <p:pic>
        <p:nvPicPr>
          <p:cNvPr id="8" name="아이콘:message-2" descr="message-2_13294B_1.6.png"/>
          <p:cNvPicPr>
            <a:picLocks noChangeAspect="1"/>
          </p:cNvPicPr>
          <p:nvPr/>
        </p:nvPicPr>
        <p:blipFill>
          <a:blip r:embed="rId3"/>
          <a:stretch>
            <a:fillRect/>
          </a:stretch>
        </p:blipFill>
        <p:spPr>
          <a:xfrm>
            <a:off x="976579" y="2865005"/>
            <a:ext cx="424281" cy="424281"/>
          </a:xfrm>
          <a:prstGeom prst="rect">
            <a:avLst/>
          </a:prstGeom>
        </p:spPr>
      </p:pic>
      <p:sp>
        <p:nvSpPr>
          <p:cNvPr id="9" name="TextBox 8"/>
          <p:cNvSpPr txBox="1"/>
          <p:nvPr/>
        </p:nvSpPr>
        <p:spPr>
          <a:xfrm>
            <a:off x="1691640" y="271138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결과 없이 결론부터 내면</a:t>
            </a:r>
          </a:p>
        </p:txBody>
      </p:sp>
      <p:sp>
        <p:nvSpPr>
          <p:cNvPr id="10" name="TextBox 9"/>
          <p:cNvSpPr txBox="1"/>
          <p:nvPr/>
        </p:nvSpPr>
        <p:spPr>
          <a:xfrm>
            <a:off x="822959" y="3561778"/>
            <a:ext cx="4632807" cy="136207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원인을 모르는 채로 조치를 말해야 한다</a:t>
            </a:r>
          </a:p>
          <a:p>
            <a:pPr algn="l" eaLnBrk="0" marL="200025" indent="-200025">
              <a:lnSpc>
                <a:spcPct val="110000"/>
              </a:lnSpc>
              <a:spcAft>
                <a:spcPts val="600"/>
              </a:spcAft>
            </a:pPr>
            <a:r>
              <a:rPr sz="1750" b="0">
                <a:solidFill>
                  <a:srgbClr val="1F2A3A"/>
                </a:solidFill>
                <a:latin typeface="맑은 고딕"/>
                <a:ea typeface="맑은 고딕"/>
                <a:cs typeface="맑은 고딕"/>
              </a:rPr>
              <a:t>• 값을 읽기 전에 결론을 적어야 한다</a:t>
            </a:r>
          </a:p>
          <a:p>
            <a:pPr algn="l" eaLnBrk="0" marL="200025" indent="-200025">
              <a:lnSpc>
                <a:spcPct val="110000"/>
              </a:lnSpc>
              <a:spcAft>
                <a:spcPts val="600"/>
              </a:spcAft>
            </a:pPr>
            <a:r>
              <a:rPr sz="1750" b="0">
                <a:solidFill>
                  <a:srgbClr val="1F2A3A"/>
                </a:solidFill>
                <a:latin typeface="맑은 고딕"/>
                <a:ea typeface="맑은 고딕"/>
                <a:cs typeface="맑은 고딕"/>
              </a:rPr>
              <a:t>• 도중에 어긋나도 고칠 기회가 없다</a:t>
            </a:r>
          </a:p>
        </p:txBody>
      </p:sp>
      <p:sp>
        <p:nvSpPr>
          <p:cNvPr id="11" name="Rounded Rectangle 10"/>
          <p:cNvSpPr/>
          <p:nvPr/>
        </p:nvSpPr>
        <p:spPr>
          <a:xfrm>
            <a:off x="868680" y="5015293"/>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15293"/>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추측이 섞인다</a:t>
            </a:r>
          </a:p>
        </p:txBody>
      </p:sp>
      <p:sp>
        <p:nvSpPr>
          <p:cNvPr id="13" name="Rounded Rectangle 12"/>
          <p:cNvSpPr/>
          <p:nvPr/>
        </p:nvSpPr>
        <p:spPr>
          <a:xfrm>
            <a:off x="6461607" y="2510218"/>
            <a:ext cx="5181447" cy="296227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11386"/>
            <a:ext cx="731520" cy="731520"/>
          </a:xfrm>
          <a:prstGeom prst="ellipse">
            <a:avLst/>
          </a:prstGeom>
          <a:solidFill>
            <a:srgbClr val="5CB8F2"/>
          </a:solidFill>
          <a:ln>
            <a:noFill/>
          </a:ln>
        </p:spPr>
        <p:txBody>
          <a:bodyPr rtlCol="0" anchor="ctr"/>
          <a:lstStyle/>
          <a:p>
            <a:pPr algn="ctr"/>
          </a:p>
        </p:txBody>
      </p:sp>
      <p:pic>
        <p:nvPicPr>
          <p:cNvPr id="15" name="아이콘:repeat" descr="repeat_13294B_1.6.png"/>
          <p:cNvPicPr>
            <a:picLocks noChangeAspect="1"/>
          </p:cNvPicPr>
          <p:nvPr/>
        </p:nvPicPr>
        <p:blipFill>
          <a:blip r:embed="rId4"/>
          <a:stretch>
            <a:fillRect/>
          </a:stretch>
        </p:blipFill>
        <p:spPr>
          <a:xfrm>
            <a:off x="6889546" y="2865005"/>
            <a:ext cx="424281" cy="424281"/>
          </a:xfrm>
          <a:prstGeom prst="rect">
            <a:avLst/>
          </a:prstGeom>
        </p:spPr>
      </p:pic>
      <p:sp>
        <p:nvSpPr>
          <p:cNvPr id="16" name="TextBox 15"/>
          <p:cNvSpPr txBox="1"/>
          <p:nvPr/>
        </p:nvSpPr>
        <p:spPr>
          <a:xfrm>
            <a:off x="7604607" y="271138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결과를 보고 다음을 정한다</a:t>
            </a:r>
          </a:p>
        </p:txBody>
      </p:sp>
      <p:sp>
        <p:nvSpPr>
          <p:cNvPr id="17" name="TextBox 16"/>
          <p:cNvSpPr txBox="1"/>
          <p:nvPr/>
        </p:nvSpPr>
        <p:spPr>
          <a:xfrm>
            <a:off x="6735927" y="3561778"/>
            <a:ext cx="4632807" cy="136207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진단의 결과로 원인 후보를 가린다</a:t>
            </a:r>
          </a:p>
          <a:p>
            <a:pPr algn="l" eaLnBrk="0" marL="200025" indent="-200025">
              <a:lnSpc>
                <a:spcPct val="110000"/>
              </a:lnSpc>
              <a:spcAft>
                <a:spcPts val="600"/>
              </a:spcAft>
            </a:pPr>
            <a:r>
              <a:rPr sz="1750" b="0">
                <a:solidFill>
                  <a:srgbClr val="1F2A3A"/>
                </a:solidFill>
                <a:latin typeface="맑은 고딕"/>
                <a:ea typeface="맑은 고딕"/>
                <a:cs typeface="맑은 고딕"/>
              </a:rPr>
              <a:t>• 그 원인을 입력으로 넣어 후보를 평가한다</a:t>
            </a:r>
          </a:p>
          <a:p>
            <a:pPr algn="l" eaLnBrk="0" marL="200025" indent="-200025">
              <a:lnSpc>
                <a:spcPct val="110000"/>
              </a:lnSpc>
              <a:spcAft>
                <a:spcPts val="600"/>
              </a:spcAft>
            </a:pPr>
            <a:r>
              <a:rPr sz="1750" b="0">
                <a:solidFill>
                  <a:srgbClr val="1F2A3A"/>
                </a:solidFill>
                <a:latin typeface="맑은 고딕"/>
                <a:ea typeface="맑은 고딕"/>
                <a:cs typeface="맑은 고딕"/>
              </a:rPr>
              <a:t>• 필요한 근거가 없으면 보완하거나 멈춘다</a:t>
            </a:r>
          </a:p>
        </p:txBody>
      </p:sp>
      <p:sp>
        <p:nvSpPr>
          <p:cNvPr id="18" name="Rounded Rectangle 17"/>
          <p:cNvSpPr/>
          <p:nvPr/>
        </p:nvSpPr>
        <p:spPr>
          <a:xfrm>
            <a:off x="6781647" y="5015293"/>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15293"/>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근거가 이어진다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고리: 요청 해석에서 종료까지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해석 · 계획 · 호출 · 관찰을 이어 가되, 완료 조건 또는 근거 · 권한 · 시간의 멈춤 조건에서 종료한다.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pic>
        <p:nvPicPr>
          <p:cNvPr id="6" name="삽화:실행고리.svg" descr="illust_5168805501739234386_17922245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842296"/>
            <a:ext cx="185461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요청 해석</a:t>
            </a:r>
          </a:p>
          <a:p>
            <a:pPr algn="ctr" eaLnBrk="0">
              <a:lnSpc>
                <a:spcPct val="110000"/>
              </a:lnSpc>
              <a:spcAft>
                <a:spcPts val="100"/>
              </a:spcAft>
            </a:pPr>
            <a:r>
              <a:rPr sz="1300" b="0">
                <a:solidFill>
                  <a:srgbClr val="556175"/>
                </a:solidFill>
                <a:latin typeface="맑은 고딕"/>
                <a:ea typeface="맑은 고딕"/>
                <a:cs typeface="맑은 고딕"/>
              </a:rPr>
              <a:t>업무 · 입력 ·</a:t>
            </a:r>
          </a:p>
          <a:p>
            <a:pPr algn="ctr" eaLnBrk="0">
              <a:lnSpc>
                <a:spcPct val="110000"/>
              </a:lnSpc>
              <a:spcAft>
                <a:spcPts val="100"/>
              </a:spcAft>
            </a:pPr>
            <a:r>
              <a:rPr sz="1300" b="0">
                <a:solidFill>
                  <a:srgbClr val="556175"/>
                </a:solidFill>
                <a:latin typeface="맑은 고딕"/>
                <a:ea typeface="맑은 고딕"/>
                <a:cs typeface="맑은 고딕"/>
              </a:rPr>
              <a:t>결과 형식</a:t>
            </a:r>
          </a:p>
        </p:txBody>
      </p:sp>
      <p:sp>
        <p:nvSpPr>
          <p:cNvPr id="8" name="TextBox 7"/>
          <p:cNvSpPr txBox="1"/>
          <p:nvPr/>
        </p:nvSpPr>
        <p:spPr>
          <a:xfrm>
            <a:off x="3172102" y="4842296"/>
            <a:ext cx="185461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계획</a:t>
            </a:r>
          </a:p>
          <a:p>
            <a:pPr algn="ctr" eaLnBrk="0">
              <a:lnSpc>
                <a:spcPct val="110000"/>
              </a:lnSpc>
              <a:spcAft>
                <a:spcPts val="100"/>
              </a:spcAft>
            </a:pPr>
            <a:r>
              <a:rPr sz="1300" b="0">
                <a:solidFill>
                  <a:srgbClr val="556175"/>
                </a:solidFill>
                <a:latin typeface="맑은 고딕"/>
                <a:ea typeface="맑은 고딕"/>
                <a:cs typeface="맑은 고딕"/>
              </a:rPr>
              <a:t>지침의</a:t>
            </a:r>
          </a:p>
          <a:p>
            <a:pPr algn="ctr" eaLnBrk="0">
              <a:lnSpc>
                <a:spcPct val="110000"/>
              </a:lnSpc>
              <a:spcAft>
                <a:spcPts val="100"/>
              </a:spcAft>
            </a:pPr>
            <a:r>
              <a:rPr sz="1300" b="0">
                <a:solidFill>
                  <a:srgbClr val="556175"/>
                </a:solidFill>
                <a:latin typeface="맑은 고딕"/>
                <a:ea typeface="맑은 고딕"/>
                <a:cs typeface="맑은 고딕"/>
              </a:rPr>
              <a:t>다섯 단계</a:t>
            </a:r>
          </a:p>
        </p:txBody>
      </p:sp>
      <p:sp>
        <p:nvSpPr>
          <p:cNvPr id="9" name="TextBox 8"/>
          <p:cNvSpPr txBox="1"/>
          <p:nvPr/>
        </p:nvSpPr>
        <p:spPr>
          <a:xfrm>
            <a:off x="5201269" y="4842296"/>
            <a:ext cx="1963709"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도구 선택 · 호출</a:t>
            </a:r>
          </a:p>
          <a:p>
            <a:pPr algn="ctr" eaLnBrk="0">
              <a:lnSpc>
                <a:spcPct val="110000"/>
              </a:lnSpc>
              <a:spcAft>
                <a:spcPts val="100"/>
              </a:spcAft>
            </a:pPr>
            <a:r>
              <a:rPr sz="1300" b="0">
                <a:solidFill>
                  <a:srgbClr val="556175"/>
                </a:solidFill>
                <a:latin typeface="맑은 고딕"/>
                <a:ea typeface="맑은 고딕"/>
                <a:cs typeface="맑은 고딕"/>
              </a:rPr>
              <a:t>원인 진단 ·</a:t>
            </a:r>
          </a:p>
          <a:p>
            <a:pPr algn="ctr" eaLnBrk="0">
              <a:lnSpc>
                <a:spcPct val="110000"/>
              </a:lnSpc>
              <a:spcAft>
                <a:spcPts val="100"/>
              </a:spcAft>
            </a:pPr>
            <a:r>
              <a:rPr sz="1300" b="0">
                <a:solidFill>
                  <a:srgbClr val="556175"/>
                </a:solidFill>
                <a:latin typeface="맑은 고딕"/>
                <a:ea typeface="맑은 고딕"/>
                <a:cs typeface="맑은 고딕"/>
              </a:rPr>
              <a:t>대안 평가</a:t>
            </a:r>
          </a:p>
        </p:txBody>
      </p:sp>
      <p:sp>
        <p:nvSpPr>
          <p:cNvPr id="10" name="TextBox 9"/>
          <p:cNvSpPr txBox="1"/>
          <p:nvPr/>
        </p:nvSpPr>
        <p:spPr>
          <a:xfrm>
            <a:off x="7350439" y="4842296"/>
            <a:ext cx="185461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관찰</a:t>
            </a:r>
          </a:p>
          <a:p>
            <a:pPr algn="ctr" eaLnBrk="0">
              <a:lnSpc>
                <a:spcPct val="110000"/>
              </a:lnSpc>
              <a:spcAft>
                <a:spcPts val="100"/>
              </a:spcAft>
            </a:pPr>
            <a:r>
              <a:rPr sz="1300" b="0">
                <a:solidFill>
                  <a:srgbClr val="556175"/>
                </a:solidFill>
                <a:latin typeface="맑은 고딕"/>
                <a:ea typeface="맑은 고딕"/>
                <a:cs typeface="맑은 고딕"/>
              </a:rPr>
              <a:t>원인 1순위 ·</a:t>
            </a:r>
          </a:p>
          <a:p>
            <a:pPr algn="ctr" eaLnBrk="0">
              <a:lnSpc>
                <a:spcPct val="110000"/>
              </a:lnSpc>
              <a:spcAft>
                <a:spcPts val="100"/>
              </a:spcAft>
            </a:pPr>
            <a:r>
              <a:rPr sz="1300" b="0">
                <a:solidFill>
                  <a:srgbClr val="556175"/>
                </a:solidFill>
                <a:latin typeface="맑은 고딕"/>
                <a:ea typeface="맑은 고딕"/>
                <a:cs typeface="맑은 고딕"/>
              </a:rPr>
              <a:t>결과의 크기</a:t>
            </a:r>
          </a:p>
        </p:txBody>
      </p:sp>
      <p:sp>
        <p:nvSpPr>
          <p:cNvPr id="11" name="TextBox 10"/>
          <p:cNvSpPr txBox="1"/>
          <p:nvPr/>
        </p:nvSpPr>
        <p:spPr>
          <a:xfrm>
            <a:off x="9445062" y="4842296"/>
            <a:ext cx="185461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종료</a:t>
            </a:r>
          </a:p>
          <a:p>
            <a:pPr algn="ctr" eaLnBrk="0">
              <a:lnSpc>
                <a:spcPct val="110000"/>
              </a:lnSpc>
              <a:spcAft>
                <a:spcPts val="100"/>
              </a:spcAft>
            </a:pPr>
            <a:r>
              <a:rPr sz="1300" b="0">
                <a:solidFill>
                  <a:srgbClr val="556175"/>
                </a:solidFill>
                <a:latin typeface="맑은 고딕"/>
                <a:ea typeface="맑은 고딕"/>
                <a:cs typeface="맑은 고딕"/>
              </a:rPr>
              <a:t>판단 제출 ·</a:t>
            </a:r>
          </a:p>
          <a:p>
            <a:pPr algn="ctr" eaLnBrk="0">
              <a:lnSpc>
                <a:spcPct val="110000"/>
              </a:lnSpc>
              <a:spcAft>
                <a:spcPts val="100"/>
              </a:spcAft>
            </a:pPr>
            <a:r>
              <a:rPr sz="1300" b="0">
                <a:solidFill>
                  <a:srgbClr val="556175"/>
                </a:solidFill>
                <a:latin typeface="맑은 고딕"/>
                <a:ea typeface="맑은 고딕"/>
                <a:cs typeface="맑은 고딕"/>
              </a:rPr>
              <a:t>결과 파일</a:t>
            </a:r>
          </a:p>
        </p:txBody>
      </p:sp>
      <p:sp>
        <p:nvSpPr>
          <p:cNvPr id="12" name="TextBox 11"/>
          <p:cNvSpPr txBox="1"/>
          <p:nvPr/>
        </p:nvSpPr>
        <p:spPr>
          <a:xfrm>
            <a:off x="4001224" y="1911278"/>
            <a:ext cx="436379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재시도와 다음 호출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 기록 ①: 요청 해석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단계는 맡은 업무와 입력을 받고 업무 지침을 읽어, 무엇을 내야 하는지를 파악하는 데서 시작되었다.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11:13:08  </a:t>
            </a:r>
            <a:r>
              <a:rPr sz="1300" b="0">
                <a:solidFill>
                  <a:srgbClr val="E8EEF6"/>
                </a:solidFill>
                <a:latin typeface="맑은 고딕"/>
                <a:ea typeface="맑은 고딕"/>
                <a:cs typeface="맑은 고딕"/>
              </a:rPr>
              <a:t>경보가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났고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열렸습니다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11:13:09  </a:t>
            </a:r>
            <a:r>
              <a:rPr sz="1300" b="0">
                <a:solidFill>
                  <a:srgbClr val="E8EEF6"/>
                </a:solidFill>
                <a:latin typeface="맑은 고딕"/>
                <a:ea typeface="맑은 고딕"/>
                <a:cs typeface="맑은 고딕"/>
              </a:rPr>
              <a:t>배정된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스킬</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cooling-emergency-response</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11:13:14  </a:t>
            </a:r>
            <a:r>
              <a:rPr sz="1300" b="0">
                <a:solidFill>
                  <a:srgbClr val="E8EEF6"/>
                </a:solidFill>
                <a:latin typeface="맑은 고딕"/>
                <a:ea typeface="맑은 고딕"/>
                <a:cs typeface="맑은 고딕"/>
              </a:rPr>
              <a:t>스킬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SKILL.md</a:t>
            </a:r>
          </a:p>
          <a:p>
            <a:pPr algn="l" eaLnBrk="0">
              <a:lnSpc>
                <a:spcPct val="110000"/>
              </a:lnSpc>
              <a:spcAft>
                <a:spcPts val="200"/>
              </a:spcAft>
            </a:pPr>
            <a:r>
              <a:rPr sz="1300" b="0">
                <a:solidFill>
                  <a:srgbClr val="E8EEF6"/>
                </a:solidFill>
                <a:latin typeface="Consolas"/>
                <a:ea typeface="맑은 고딕"/>
                <a:cs typeface="맑은 고딕"/>
              </a:rPr>
              <a:t>11:13:14  </a:t>
            </a:r>
            <a:r>
              <a:rPr sz="1300" b="0">
                <a:solidFill>
                  <a:srgbClr val="E8EEF6"/>
                </a:solidFill>
                <a:latin typeface="맑은 고딕"/>
                <a:ea typeface="맑은 고딕"/>
                <a:cs typeface="맑은 고딕"/>
              </a:rPr>
              <a:t>먼저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배정된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필요한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불러오겠습니다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받은 것</a:t>
            </a:r>
          </a:p>
          <a:p>
            <a:pPr algn="l" eaLnBrk="0">
              <a:lnSpc>
                <a:spcPct val="110000"/>
              </a:lnSpc>
              <a:spcAft>
                <a:spcPts val="400"/>
              </a:spcAft>
            </a:pPr>
            <a:r>
              <a:rPr sz="1400" b="0">
                <a:solidFill>
                  <a:srgbClr val="1F2A3A"/>
                </a:solidFill>
                <a:latin typeface="맑은 고딕"/>
                <a:ea typeface="맑은 고딕"/>
                <a:cs typeface="맑은 고딕"/>
              </a:rPr>
              <a:t>맡은 업무와 지시사항, 입력(설비 HYD-01과 경보 번호), 작업 공간, 결과를 낼 형식이다.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스킬 읽음</a:t>
            </a:r>
          </a:p>
          <a:p>
            <a:pPr algn="l" eaLnBrk="0">
              <a:lnSpc>
                <a:spcPct val="110000"/>
              </a:lnSpc>
              <a:spcAft>
                <a:spcPts val="400"/>
              </a:spcAft>
            </a:pPr>
            <a:r>
              <a:rPr sz="1400" b="0">
                <a:solidFill>
                  <a:srgbClr val="1F2A3A"/>
                </a:solidFill>
                <a:latin typeface="맑은 고딕"/>
                <a:ea typeface="맑은 고딕"/>
                <a:cs typeface="맑은 고딕"/>
              </a:rPr>
              <a:t>업무 지침인 에이전트 스킬을 읽어 무엇을 어떤 순서로 할지 파악했다.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마지막 줄</a:t>
            </a:r>
          </a:p>
          <a:p>
            <a:pPr algn="l" eaLnBrk="0">
              <a:lnSpc>
                <a:spcPct val="110000"/>
              </a:lnSpc>
              <a:spcAft>
                <a:spcPts val="400"/>
              </a:spcAft>
            </a:pPr>
            <a:r>
              <a:rPr sz="1400" b="0">
                <a:solidFill>
                  <a:srgbClr val="1F2A3A"/>
                </a:solidFill>
                <a:latin typeface="맑은 고딕"/>
                <a:ea typeface="맑은 고딕"/>
                <a:cs typeface="맑은 고딕"/>
              </a:rPr>
              <a:t>에이전트가 호출 사이에 적은 진행 설명이다. 기록에 그대로 남는다.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계획: 목표를 도구 호출의 순서로 푼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계획은 목표를 도구 호출의 순서로 풀어 놓은 것이며, 쿨러 사건에서는 업무 지침의 다섯 단계가 그 뼈대였다.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ectangle 5"/>
          <p:cNvSpPr/>
          <p:nvPr/>
        </p:nvSpPr>
        <p:spPr>
          <a:xfrm>
            <a:off x="1658081" y="3138932"/>
            <a:ext cx="8875532" cy="36576"/>
          </a:xfrm>
          <a:prstGeom prst="rect">
            <a:avLst/>
          </a:prstGeom>
          <a:solidFill>
            <a:srgbClr val="D3D9E1"/>
          </a:solidFill>
          <a:ln>
            <a:noFill/>
          </a:ln>
        </p:spPr>
        <p:txBody>
          <a:bodyPr rtlCol="0" anchor="ctr"/>
          <a:lstStyle/>
          <a:p>
            <a:pPr algn="ctr"/>
          </a:p>
        </p:txBody>
      </p:sp>
      <p:sp>
        <p:nvSpPr>
          <p:cNvPr id="7" name="Oval 6"/>
          <p:cNvSpPr/>
          <p:nvPr/>
        </p:nvSpPr>
        <p:spPr>
          <a:xfrm>
            <a:off x="1223741" y="2722880"/>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440911" y="2940050"/>
            <a:ext cx="434340" cy="434340"/>
          </a:xfrm>
          <a:prstGeom prst="rect">
            <a:avLst/>
          </a:prstGeom>
        </p:spPr>
      </p:pic>
      <p:sp>
        <p:nvSpPr>
          <p:cNvPr id="9" name="Oval 8"/>
          <p:cNvSpPr/>
          <p:nvPr/>
        </p:nvSpPr>
        <p:spPr>
          <a:xfrm>
            <a:off x="1818101" y="2677160"/>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1818101" y="267716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74440"/>
            <a:ext cx="2072579" cy="1485392"/>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입력 확인</a:t>
            </a:r>
          </a:p>
          <a:p>
            <a:pPr algn="ctr" eaLnBrk="0">
              <a:lnSpc>
                <a:spcPct val="110000"/>
              </a:lnSpc>
              <a:spcAft>
                <a:spcPts val="400"/>
              </a:spcAft>
            </a:pPr>
            <a:r>
              <a:rPr sz="1400" b="0">
                <a:solidFill>
                  <a:srgbClr val="1F2A3A"/>
                </a:solidFill>
                <a:latin typeface="맑은 고딕"/>
                <a:ea typeface="맑은 고딕"/>
                <a:cs typeface="맑은 고딕"/>
              </a:rPr>
              <a:t>설비, 경보의 종류,</a:t>
            </a:r>
          </a:p>
          <a:p>
            <a:pPr algn="ctr" eaLnBrk="0">
              <a:lnSpc>
                <a:spcPct val="110000"/>
              </a:lnSpc>
              <a:spcAft>
                <a:spcPts val="400"/>
              </a:spcAft>
            </a:pPr>
            <a:r>
              <a:rPr sz="1400" b="0">
                <a:solidFill>
                  <a:srgbClr val="1F2A3A"/>
                </a:solidFill>
                <a:latin typeface="맑은 고딕"/>
                <a:ea typeface="맑은 고딕"/>
                <a:cs typeface="맑은 고딕"/>
              </a:rPr>
              <a:t>경보 번호를 읽는다</a:t>
            </a:r>
          </a:p>
        </p:txBody>
      </p:sp>
      <p:sp>
        <p:nvSpPr>
          <p:cNvPr id="12" name="Oval 11"/>
          <p:cNvSpPr/>
          <p:nvPr/>
        </p:nvSpPr>
        <p:spPr>
          <a:xfrm>
            <a:off x="3442624" y="2722880"/>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3659794" y="2940050"/>
            <a:ext cx="434340" cy="434340"/>
          </a:xfrm>
          <a:prstGeom prst="rect">
            <a:avLst/>
          </a:prstGeom>
        </p:spPr>
      </p:pic>
      <p:sp>
        <p:nvSpPr>
          <p:cNvPr id="14" name="Oval 13"/>
          <p:cNvSpPr/>
          <p:nvPr/>
        </p:nvSpPr>
        <p:spPr>
          <a:xfrm>
            <a:off x="4036984" y="2677160"/>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036984" y="267716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2840675" y="3774440"/>
            <a:ext cx="2072579" cy="1485392"/>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원인 진단</a:t>
            </a:r>
          </a:p>
          <a:p>
            <a:pPr algn="ctr" eaLnBrk="0">
              <a:lnSpc>
                <a:spcPct val="110000"/>
              </a:lnSpc>
              <a:spcAft>
                <a:spcPts val="400"/>
              </a:spcAft>
            </a:pPr>
            <a:r>
              <a:rPr sz="1400" b="0">
                <a:solidFill>
                  <a:srgbClr val="1F2A3A"/>
                </a:solidFill>
                <a:latin typeface="맑은 고딕"/>
                <a:ea typeface="맑은 고딕"/>
                <a:cs typeface="맑은 고딕"/>
              </a:rPr>
              <a:t>원인 1순위와</a:t>
            </a:r>
          </a:p>
          <a:p>
            <a:pPr algn="ctr" eaLnBrk="0">
              <a:lnSpc>
                <a:spcPct val="110000"/>
              </a:lnSpc>
              <a:spcAft>
                <a:spcPts val="400"/>
              </a:spcAft>
            </a:pPr>
            <a:r>
              <a:rPr sz="1400" b="0">
                <a:solidFill>
                  <a:srgbClr val="1F2A3A"/>
                </a:solidFill>
                <a:latin typeface="맑은 고딕"/>
                <a:ea typeface="맑은 고딕"/>
                <a:cs typeface="맑은 고딕"/>
              </a:rPr>
              <a:t>고장 유형을 얻는다</a:t>
            </a:r>
          </a:p>
        </p:txBody>
      </p:sp>
      <p:sp>
        <p:nvSpPr>
          <p:cNvPr id="17" name="Oval 16"/>
          <p:cNvSpPr/>
          <p:nvPr/>
        </p:nvSpPr>
        <p:spPr>
          <a:xfrm>
            <a:off x="5661507" y="2722880"/>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calendar-time" descr="calendar-time_13294B_1.6.png"/>
          <p:cNvPicPr>
            <a:picLocks noChangeAspect="1"/>
          </p:cNvPicPr>
          <p:nvPr/>
        </p:nvPicPr>
        <p:blipFill>
          <a:blip r:embed="rId5"/>
          <a:stretch>
            <a:fillRect/>
          </a:stretch>
        </p:blipFill>
        <p:spPr>
          <a:xfrm>
            <a:off x="5878677" y="2940050"/>
            <a:ext cx="434340" cy="434340"/>
          </a:xfrm>
          <a:prstGeom prst="rect">
            <a:avLst/>
          </a:prstGeom>
        </p:spPr>
      </p:pic>
      <p:sp>
        <p:nvSpPr>
          <p:cNvPr id="19" name="Oval 18"/>
          <p:cNvSpPr/>
          <p:nvPr/>
        </p:nvSpPr>
        <p:spPr>
          <a:xfrm>
            <a:off x="6255867" y="2677160"/>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6255867" y="267716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5059558" y="3774440"/>
            <a:ext cx="2072579" cy="1485392"/>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업무 값 확인</a:t>
            </a:r>
          </a:p>
          <a:p>
            <a:pPr algn="ctr" eaLnBrk="0">
              <a:lnSpc>
                <a:spcPct val="110000"/>
              </a:lnSpc>
              <a:spcAft>
                <a:spcPts val="400"/>
              </a:spcAft>
            </a:pPr>
            <a:r>
              <a:rPr sz="1400" b="0">
                <a:solidFill>
                  <a:srgbClr val="1F2A3A"/>
                </a:solidFill>
                <a:latin typeface="맑은 고딕"/>
                <a:ea typeface="맑은 고딕"/>
                <a:cs typeface="맑은 고딕"/>
              </a:rPr>
              <a:t>납기 오더와</a:t>
            </a:r>
          </a:p>
          <a:p>
            <a:pPr algn="ctr" eaLnBrk="0">
              <a:lnSpc>
                <a:spcPct val="110000"/>
              </a:lnSpc>
              <a:spcAft>
                <a:spcPts val="400"/>
              </a:spcAft>
            </a:pPr>
            <a:r>
              <a:rPr sz="1400" b="0">
                <a:solidFill>
                  <a:srgbClr val="1F2A3A"/>
                </a:solidFill>
                <a:latin typeface="맑은 고딕"/>
                <a:ea typeface="맑은 고딕"/>
                <a:cs typeface="맑은 고딕"/>
              </a:rPr>
              <a:t>출하 대기 로트를 본다</a:t>
            </a:r>
          </a:p>
        </p:txBody>
      </p:sp>
      <p:sp>
        <p:nvSpPr>
          <p:cNvPr id="22" name="Oval 21"/>
          <p:cNvSpPr/>
          <p:nvPr/>
        </p:nvSpPr>
        <p:spPr>
          <a:xfrm>
            <a:off x="7880390" y="2722880"/>
            <a:ext cx="868680" cy="868680"/>
          </a:xfrm>
          <a:prstGeom prst="ellipse">
            <a:avLst/>
          </a:prstGeom>
          <a:solidFill>
            <a:srgbClr val="5CB8F2"/>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097560" y="2940050"/>
            <a:ext cx="434340" cy="434340"/>
          </a:xfrm>
          <a:prstGeom prst="rect">
            <a:avLst/>
          </a:prstGeom>
        </p:spPr>
      </p:pic>
      <p:sp>
        <p:nvSpPr>
          <p:cNvPr id="24" name="Oval 23"/>
          <p:cNvSpPr/>
          <p:nvPr/>
        </p:nvSpPr>
        <p:spPr>
          <a:xfrm>
            <a:off x="8474750" y="2677160"/>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8474750" y="267716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7278441" y="3774440"/>
            <a:ext cx="2072579" cy="1485392"/>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대안 평가</a:t>
            </a:r>
          </a:p>
          <a:p>
            <a:pPr algn="ctr" eaLnBrk="0">
              <a:lnSpc>
                <a:spcPct val="110000"/>
              </a:lnSpc>
              <a:spcAft>
                <a:spcPts val="400"/>
              </a:spcAft>
            </a:pPr>
            <a:r>
              <a:rPr sz="1400" b="0">
                <a:solidFill>
                  <a:srgbClr val="1F2A3A"/>
                </a:solidFill>
                <a:latin typeface="맑은 고딕"/>
                <a:ea typeface="맑은 고딕"/>
                <a:cs typeface="맑은 고딕"/>
              </a:rPr>
              <a:t>후보의 규정 판정,</a:t>
            </a:r>
          </a:p>
          <a:p>
            <a:pPr algn="ctr" eaLnBrk="0">
              <a:lnSpc>
                <a:spcPct val="110000"/>
              </a:lnSpc>
              <a:spcAft>
                <a:spcPts val="400"/>
              </a:spcAft>
            </a:pPr>
            <a:r>
              <a:rPr sz="1400" b="0">
                <a:solidFill>
                  <a:srgbClr val="1F2A3A"/>
                </a:solidFill>
                <a:latin typeface="맑은 고딕"/>
                <a:ea typeface="맑은 고딕"/>
                <a:cs typeface="맑은 고딕"/>
              </a:rPr>
              <a:t>예측 유온, 순위를 본다</a:t>
            </a:r>
          </a:p>
        </p:txBody>
      </p:sp>
      <p:sp>
        <p:nvSpPr>
          <p:cNvPr id="27" name="Oval 26"/>
          <p:cNvSpPr/>
          <p:nvPr/>
        </p:nvSpPr>
        <p:spPr>
          <a:xfrm>
            <a:off x="10099273" y="2722880"/>
            <a:ext cx="868680" cy="868680"/>
          </a:xfrm>
          <a:prstGeom prst="ellipse">
            <a:avLst/>
          </a:prstGeom>
          <a:solidFill>
            <a:srgbClr val="FFFFFF"/>
          </a:solidFill>
          <a:ln w="25400">
            <a:solidFill>
              <a:srgbClr val="13294B"/>
            </a:solidFill>
          </a:ln>
        </p:spPr>
        <p:txBody>
          <a:bodyPr rtlCol="0" anchor="ctr"/>
          <a:lstStyle/>
          <a:p>
            <a:pPr algn="ctr"/>
          </a:p>
        </p:txBody>
      </p:sp>
      <p:pic>
        <p:nvPicPr>
          <p:cNvPr id="28" name="아이콘:send" descr="send_13294B_1.6.png"/>
          <p:cNvPicPr>
            <a:picLocks noChangeAspect="1"/>
          </p:cNvPicPr>
          <p:nvPr/>
        </p:nvPicPr>
        <p:blipFill>
          <a:blip r:embed="rId7"/>
          <a:stretch>
            <a:fillRect/>
          </a:stretch>
        </p:blipFill>
        <p:spPr>
          <a:xfrm>
            <a:off x="10316443" y="2940050"/>
            <a:ext cx="434340" cy="434340"/>
          </a:xfrm>
          <a:prstGeom prst="rect">
            <a:avLst/>
          </a:prstGeom>
        </p:spPr>
      </p:pic>
      <p:sp>
        <p:nvSpPr>
          <p:cNvPr id="29" name="Oval 28"/>
          <p:cNvSpPr/>
          <p:nvPr/>
        </p:nvSpPr>
        <p:spPr>
          <a:xfrm>
            <a:off x="10693633" y="2677160"/>
            <a:ext cx="347472" cy="347472"/>
          </a:xfrm>
          <a:prstGeom prst="ellipse">
            <a:avLst/>
          </a:prstGeom>
          <a:solidFill>
            <a:srgbClr val="13294B"/>
          </a:solidFill>
          <a:ln>
            <a:noFill/>
          </a:ln>
        </p:spPr>
        <p:txBody>
          <a:bodyPr rtlCol="0" anchor="ctr"/>
          <a:lstStyle/>
          <a:p>
            <a:pPr algn="ctr"/>
          </a:p>
        </p:txBody>
      </p:sp>
      <p:sp>
        <p:nvSpPr>
          <p:cNvPr id="30" name="TextBox 29"/>
          <p:cNvSpPr txBox="1"/>
          <p:nvPr/>
        </p:nvSpPr>
        <p:spPr>
          <a:xfrm>
            <a:off x="10693633" y="267716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5</a:t>
            </a:r>
          </a:p>
        </p:txBody>
      </p:sp>
      <p:sp>
        <p:nvSpPr>
          <p:cNvPr id="31" name="TextBox 30"/>
          <p:cNvSpPr txBox="1"/>
          <p:nvPr/>
        </p:nvSpPr>
        <p:spPr>
          <a:xfrm>
            <a:off x="9497324" y="3774440"/>
            <a:ext cx="2072579" cy="1485392"/>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판단 제출</a:t>
            </a:r>
          </a:p>
          <a:p>
            <a:pPr algn="ctr" eaLnBrk="0">
              <a:lnSpc>
                <a:spcPct val="110000"/>
              </a:lnSpc>
              <a:spcAft>
                <a:spcPts val="400"/>
              </a:spcAft>
            </a:pPr>
            <a:r>
              <a:rPr sz="1400" b="0">
                <a:solidFill>
                  <a:srgbClr val="1F2A3A"/>
                </a:solidFill>
                <a:latin typeface="맑은 고딕"/>
                <a:ea typeface="맑은 고딕"/>
                <a:cs typeface="맑은 고딕"/>
              </a:rPr>
              <a:t>추천안을 제출하고</a:t>
            </a:r>
          </a:p>
          <a:p>
            <a:pPr algn="ctr" eaLnBrk="0">
              <a:lnSpc>
                <a:spcPct val="110000"/>
              </a:lnSpc>
              <a:spcAft>
                <a:spcPts val="400"/>
              </a:spcAft>
            </a:pPr>
            <a:r>
              <a:rPr sz="1400" b="0">
                <a:solidFill>
                  <a:srgbClr val="1F2A3A"/>
                </a:solidFill>
                <a:latin typeface="맑은 고딕"/>
                <a:ea typeface="맑은 고딕"/>
                <a:cs typeface="맑은 고딕"/>
              </a:rPr>
              <a:t>판단 번호를 받는다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 기록 ②: 관찰한 결과가 다음 호출의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진단이 돌려준 원인과 고장 유형의 식별자가 대안 평가의 물음에 그대로 들어가, 관찰이 다음 행동을 정했다.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eaLnBrk="0">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cause:cooler-fin-fouling</a:t>
            </a:r>
          </a:p>
          <a:p>
            <a:pPr algn="l" eaLnBrk="0">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fm:cooler-performance-loss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11:13:23  </a:t>
            </a:r>
            <a:r>
              <a:rPr sz="1300" b="0">
                <a:solidFill>
                  <a:srgbClr val="E8EEF6"/>
                </a:solidFill>
                <a:latin typeface="맑은 고딕"/>
                <a:ea typeface="맑은 고딕"/>
                <a:cs typeface="맑은 고딕"/>
              </a:rPr>
              <a:t>대안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평가</a:t>
            </a:r>
            <a:r>
              <a:rPr sz="1300" b="0">
                <a:solidFill>
                  <a:srgbClr val="E8EEF6"/>
                </a:solidFill>
                <a:latin typeface="Consolas"/>
                <a:ea typeface="맑은 고딕"/>
                <a:cs typeface="맑은 고딕"/>
              </a:rPr>
              <a:t>  (807</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ms)</a:t>
            </a:r>
          </a:p>
          <a:p>
            <a:pPr algn="l" eaLnBrk="0">
              <a:lnSpc>
                <a:spcPct val="110000"/>
              </a:lnSpc>
              <a:spcAft>
                <a:spcPts val="200"/>
              </a:spcAft>
            </a:pPr>
            <a:r>
              <a:rPr sz="1300" b="0">
                <a:solidFill>
                  <a:srgbClr val="E8EEF6"/>
                </a:solidFill>
                <a:latin typeface="맑은 고딕"/>
                <a:ea typeface="맑은 고딕"/>
                <a:cs typeface="맑은 고딕"/>
              </a:rPr>
              <a:t>물음</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 "cause": "cause:cooler-fin-fouling",</a:t>
            </a:r>
          </a:p>
          <a:p>
            <a:pPr algn="l" eaLnBrk="0">
              <a:lnSpc>
                <a:spcPct val="110000"/>
              </a:lnSpc>
              <a:spcAft>
                <a:spcPts val="200"/>
              </a:spcAft>
            </a:pPr>
            <a:r>
              <a:rPr sz="1300" b="0">
                <a:solidFill>
                  <a:srgbClr val="E8EEF6"/>
                </a:solidFill>
                <a:latin typeface="Consolas"/>
                <a:ea typeface="맑은 고딕"/>
                <a:cs typeface="맑은 고딕"/>
              </a:rPr>
              <a:t> "pattern": "COOLER_DEGRADATION",</a:t>
            </a:r>
          </a:p>
          <a:p>
            <a:pPr algn="l" eaLnBrk="0">
              <a:lnSpc>
                <a:spcPct val="110000"/>
              </a:lnSpc>
              <a:spcAft>
                <a:spcPts val="200"/>
              </a:spcAft>
            </a:pPr>
            <a:r>
              <a:rPr sz="1300" b="0">
                <a:solidFill>
                  <a:srgbClr val="E8EEF6"/>
                </a:solidFill>
                <a:latin typeface="Consolas"/>
                <a:ea typeface="맑은 고딕"/>
                <a:cs typeface="맑은 고딕"/>
              </a:rPr>
              <a:t> "failure_mode":</a:t>
            </a:r>
          </a:p>
          <a:p>
            <a:pPr algn="l" eaLnBrk="0">
              <a:lnSpc>
                <a:spcPct val="110000"/>
              </a:lnSpc>
              <a:spcAft>
                <a:spcPts val="200"/>
              </a:spcAft>
            </a:pPr>
            <a:r>
              <a:rPr sz="1300" b="0">
                <a:solidFill>
                  <a:srgbClr val="E8EEF6"/>
                </a:solidFill>
                <a:latin typeface="Consolas"/>
                <a:ea typeface="맑은 고딕"/>
                <a:cs typeface="맑은 고딕"/>
              </a:rPr>
              <a:t>   "fm:cooler-performance-loss"}</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관찰</a:t>
            </a:r>
          </a:p>
          <a:p>
            <a:pPr algn="l" eaLnBrk="0">
              <a:lnSpc>
                <a:spcPct val="110000"/>
              </a:lnSpc>
              <a:spcAft>
                <a:spcPts val="400"/>
              </a:spcAft>
            </a:pPr>
            <a:r>
              <a:rPr sz="1300" b="0">
                <a:solidFill>
                  <a:srgbClr val="1F2A3A"/>
                </a:solidFill>
                <a:latin typeface="맑은 고딕"/>
                <a:ea typeface="맑은 고딕"/>
                <a:cs typeface="맑은 고딕"/>
              </a:rPr>
              <a:t>진단의 결과에서 원인 1순위와 고장 유형을 읽었다.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다음 호출의 입력</a:t>
            </a:r>
          </a:p>
          <a:p>
            <a:pPr algn="l" eaLnBrk="0">
              <a:lnSpc>
                <a:spcPct val="110000"/>
              </a:lnSpc>
              <a:spcAft>
                <a:spcPts val="400"/>
              </a:spcAft>
            </a:pPr>
            <a:r>
              <a:rPr sz="1400" b="0">
                <a:solidFill>
                  <a:srgbClr val="1F2A3A"/>
                </a:solidFill>
                <a:latin typeface="맑은 고딕"/>
                <a:ea typeface="맑은 고딕"/>
                <a:cs typeface="맑은 고딕"/>
              </a:rPr>
              <a:t>읽은 두 식별자가 대안 평가의 물음에 들어갔다.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a:t>
            </a:r>
          </a:p>
          <a:p>
            <a:pPr algn="l" eaLnBrk="0">
              <a:lnSpc>
                <a:spcPct val="110000"/>
              </a:lnSpc>
              <a:spcAft>
                <a:spcPts val="400"/>
              </a:spcAft>
            </a:pPr>
            <a:r>
              <a:rPr sz="1400" b="0">
                <a:solidFill>
                  <a:srgbClr val="1F2A3A"/>
                </a:solidFill>
                <a:latin typeface="맑은 고딕"/>
                <a:ea typeface="맑은 고딕"/>
                <a:cs typeface="맑은 고딕"/>
              </a:rPr>
              <a:t>cause: 는 원인을, fm: 은 고장 유형을 가리킨다.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업무 값</a:t>
            </a:r>
          </a:p>
          <a:p>
            <a:pPr algn="l" eaLnBrk="0">
              <a:lnSpc>
                <a:spcPct val="110000"/>
              </a:lnSpc>
              <a:spcAft>
                <a:spcPts val="400"/>
              </a:spcAft>
            </a:pPr>
            <a:r>
              <a:rPr sz="1300" b="0">
                <a:solidFill>
                  <a:srgbClr val="1F2A3A"/>
                </a:solidFill>
                <a:latin typeface="맑은 고딕"/>
                <a:ea typeface="맑은 고딕"/>
                <a:cs typeface="맑은 고딕"/>
              </a:rPr>
              <a:t>이 실행은 업무 값 조회를 따로 부르지 않았다. 대안 평가가 납기 같은 업무 값을 평가 안에서 읽었다.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 기록 ③: 큰 결과를 읽는 방법을 바꾸려는 시도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큰 결과를 다시 읽겠다는 설명은 남았지만, 실제로 필요한 근거를 얻었는지는 후속 호출에서 확인해야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387854"/>
            <a:ext cx="3442106"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570734"/>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2057552" y="2724353"/>
            <a:ext cx="424281" cy="424281"/>
          </a:xfrm>
          <a:prstGeom prst="rect">
            <a:avLst/>
          </a:prstGeom>
        </p:spPr>
      </p:pic>
      <p:sp>
        <p:nvSpPr>
          <p:cNvPr id="9" name="TextBox 8"/>
          <p:cNvSpPr txBox="1"/>
          <p:nvPr/>
        </p:nvSpPr>
        <p:spPr>
          <a:xfrm>
            <a:off x="621792" y="3375406"/>
            <a:ext cx="3295802"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결과 관찰</a:t>
            </a:r>
          </a:p>
          <a:p>
            <a:pPr algn="ctr" eaLnBrk="0">
              <a:lnSpc>
                <a:spcPct val="110000"/>
              </a:lnSpc>
              <a:spcAft>
                <a:spcPts val="400"/>
              </a:spcAft>
            </a:pPr>
            <a:r>
              <a:rPr sz="1650" b="0">
                <a:solidFill>
                  <a:srgbClr val="1F2A3A"/>
                </a:solidFill>
                <a:latin typeface="맑은 고딕"/>
                <a:ea typeface="맑은 고딕"/>
                <a:cs typeface="맑은 고딕"/>
              </a:rPr>
              <a:t>11:13:23</a:t>
            </a:r>
          </a:p>
          <a:p>
            <a:pPr algn="ctr" eaLnBrk="0">
              <a:lnSpc>
                <a:spcPct val="110000"/>
              </a:lnSpc>
              <a:spcAft>
                <a:spcPts val="400"/>
              </a:spcAft>
            </a:pPr>
            <a:r>
              <a:rPr sz="1650" b="0">
                <a:solidFill>
                  <a:srgbClr val="1F2A3A"/>
                </a:solidFill>
                <a:latin typeface="맑은 고딕"/>
                <a:ea typeface="맑은 고딕"/>
                <a:cs typeface="맑은 고딕"/>
              </a:rPr>
              <a:t>결과 128,466자가</a:t>
            </a:r>
          </a:p>
          <a:p>
            <a:pPr algn="ctr" eaLnBrk="0">
              <a:lnSpc>
                <a:spcPct val="110000"/>
              </a:lnSpc>
              <a:spcAft>
                <a:spcPts val="400"/>
              </a:spcAft>
            </a:pPr>
            <a:r>
              <a:rPr sz="1650" b="0">
                <a:solidFill>
                  <a:srgbClr val="1F2A3A"/>
                </a:solidFill>
                <a:latin typeface="맑은 고딕"/>
                <a:ea typeface="맑은 고딕"/>
                <a:cs typeface="맑은 고딕"/>
              </a:rPr>
              <a:t>받을 수 있는 크기를 넘어</a:t>
            </a:r>
          </a:p>
          <a:p>
            <a:pPr algn="ctr" eaLnBrk="0">
              <a:lnSpc>
                <a:spcPct val="110000"/>
              </a:lnSpc>
              <a:spcAft>
                <a:spcPts val="400"/>
              </a:spcAft>
            </a:pPr>
            <a:r>
              <a:rPr sz="1650" b="0">
                <a:solidFill>
                  <a:srgbClr val="1F2A3A"/>
                </a:solidFill>
                <a:latin typeface="맑은 고딕"/>
                <a:ea typeface="맑은 고딕"/>
                <a:cs typeface="맑은 고딕"/>
              </a:rPr>
              <a:t>파일로 빠졌다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87854"/>
            <a:ext cx="3442106" cy="320700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0734"/>
            <a:ext cx="731520" cy="731520"/>
          </a:xfrm>
          <a:prstGeom prst="ellipse">
            <a:avLst/>
          </a:prstGeom>
          <a:solidFill>
            <a:srgbClr val="FFFFFF"/>
          </a:solidFill>
          <a:ln>
            <a:noFill/>
          </a:ln>
        </p:spPr>
        <p:txBody>
          <a:bodyPr rtlCol="0" anchor="ctr"/>
          <a:lstStyle/>
          <a:p>
            <a:pPr algn="ctr"/>
          </a:p>
        </p:txBody>
      </p:sp>
      <p:pic>
        <p:nvPicPr>
          <p:cNvPr id="13" name="아이콘:pencil" descr="pencil_13294B_1.6.png"/>
          <p:cNvPicPr>
            <a:picLocks noChangeAspect="1"/>
          </p:cNvPicPr>
          <p:nvPr/>
        </p:nvPicPr>
        <p:blipFill>
          <a:blip r:embed="rId4"/>
          <a:stretch>
            <a:fillRect/>
          </a:stretch>
        </p:blipFill>
        <p:spPr>
          <a:xfrm>
            <a:off x="5883706" y="2724353"/>
            <a:ext cx="424281" cy="424281"/>
          </a:xfrm>
          <a:prstGeom prst="rect">
            <a:avLst/>
          </a:prstGeom>
        </p:spPr>
      </p:pic>
      <p:sp>
        <p:nvSpPr>
          <p:cNvPr id="14" name="TextBox 13"/>
          <p:cNvSpPr txBox="1"/>
          <p:nvPr/>
        </p:nvSpPr>
        <p:spPr>
          <a:xfrm>
            <a:off x="4447946" y="3375406"/>
            <a:ext cx="3295802"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계획 수정</a:t>
            </a:r>
          </a:p>
          <a:p>
            <a:pPr algn="ctr" eaLnBrk="0">
              <a:lnSpc>
                <a:spcPct val="110000"/>
              </a:lnSpc>
              <a:spcAft>
                <a:spcPts val="400"/>
              </a:spcAft>
            </a:pPr>
            <a:r>
              <a:rPr sz="1650" b="0">
                <a:solidFill>
                  <a:srgbClr val="1F2A3A"/>
                </a:solidFill>
                <a:latin typeface="맑은 고딕"/>
                <a:ea typeface="맑은 고딕"/>
                <a:cs typeface="맑은 고딕"/>
              </a:rPr>
              <a:t>11:13:40</a:t>
            </a:r>
          </a:p>
          <a:p>
            <a:pPr algn="ctr" eaLnBrk="0">
              <a:lnSpc>
                <a:spcPct val="110000"/>
              </a:lnSpc>
              <a:spcAft>
                <a:spcPts val="400"/>
              </a:spcAft>
            </a:pPr>
            <a:r>
              <a:rPr sz="1650" b="0">
                <a:solidFill>
                  <a:srgbClr val="1F2A3A"/>
                </a:solidFill>
                <a:latin typeface="맑은 고딕"/>
                <a:ea typeface="맑은 고딕"/>
                <a:cs typeface="맑은 고딕"/>
              </a:rPr>
              <a:t>「순위와 규정 판정만</a:t>
            </a:r>
          </a:p>
          <a:p>
            <a:pPr algn="ctr" eaLnBrk="0">
              <a:lnSpc>
                <a:spcPct val="110000"/>
              </a:lnSpc>
              <a:spcAft>
                <a:spcPts val="400"/>
              </a:spcAft>
            </a:pPr>
            <a:r>
              <a:rPr sz="1650" b="0">
                <a:solidFill>
                  <a:srgbClr val="1F2A3A"/>
                </a:solidFill>
                <a:latin typeface="맑은 고딕"/>
                <a:ea typeface="맑은 고딕"/>
                <a:cs typeface="맑은 고딕"/>
              </a:rPr>
              <a:t>간추려 보겠습니다.」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87854"/>
            <a:ext cx="3442106"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570734"/>
            <a:ext cx="731520" cy="731520"/>
          </a:xfrm>
          <a:prstGeom prst="ellipse">
            <a:avLst/>
          </a:prstGeom>
          <a:solidFill>
            <a:srgbClr val="5CB8F2"/>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9709861" y="2724353"/>
            <a:ext cx="424281" cy="424281"/>
          </a:xfrm>
          <a:prstGeom prst="rect">
            <a:avLst/>
          </a:prstGeom>
        </p:spPr>
      </p:pic>
      <p:sp>
        <p:nvSpPr>
          <p:cNvPr id="19" name="TextBox 18"/>
          <p:cNvSpPr txBox="1"/>
          <p:nvPr/>
        </p:nvSpPr>
        <p:spPr>
          <a:xfrm>
            <a:off x="8274100" y="3375406"/>
            <a:ext cx="3295802"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재시도</a:t>
            </a:r>
          </a:p>
          <a:p>
            <a:pPr algn="ctr" eaLnBrk="0">
              <a:lnSpc>
                <a:spcPct val="110000"/>
              </a:lnSpc>
              <a:spcAft>
                <a:spcPts val="400"/>
              </a:spcAft>
            </a:pPr>
            <a:r>
              <a:rPr sz="1650" b="0">
                <a:solidFill>
                  <a:srgbClr val="1F2A3A"/>
                </a:solidFill>
                <a:latin typeface="맑은 고딕"/>
                <a:ea typeface="맑은 고딕"/>
                <a:cs typeface="맑은 고딕"/>
              </a:rPr>
              <a:t>11:13:46</a:t>
            </a:r>
          </a:p>
          <a:p>
            <a:pPr algn="ctr" eaLnBrk="0">
              <a:lnSpc>
                <a:spcPct val="110000"/>
              </a:lnSpc>
              <a:spcAft>
                <a:spcPts val="400"/>
              </a:spcAft>
            </a:pPr>
            <a:r>
              <a:rPr sz="1650" b="0">
                <a:solidFill>
                  <a:srgbClr val="1F2A3A"/>
                </a:solidFill>
                <a:latin typeface="맑은 고딕"/>
                <a:ea typeface="맑은 고딕"/>
                <a:cs typeface="맑은 고딕"/>
              </a:rPr>
              <a:t>「필요한 항목만 좁혀</a:t>
            </a:r>
          </a:p>
          <a:p>
            <a:pPr algn="ctr" eaLnBrk="0">
              <a:lnSpc>
                <a:spcPct val="110000"/>
              </a:lnSpc>
              <a:spcAft>
                <a:spcPts val="400"/>
              </a:spcAft>
            </a:pPr>
            <a:r>
              <a:rPr sz="1650" b="0">
                <a:solidFill>
                  <a:srgbClr val="1F2A3A"/>
                </a:solidFill>
                <a:latin typeface="맑은 고딕"/>
                <a:ea typeface="맑은 고딕"/>
                <a:cs typeface="맑은 고딕"/>
              </a:rPr>
              <a:t>다시 뽑겠습니다.」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 기록 ④: 종료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단계는 답 문장이 아니라 추천안의 제출로 끝났고, 돌려받은 판단 번호가 뒤의 단계로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11:13:53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제출</a:t>
            </a:r>
            <a:r>
              <a:rPr sz="1300" b="0">
                <a:solidFill>
                  <a:srgbClr val="E8EEF6"/>
                </a:solidFill>
                <a:latin typeface="Consolas"/>
                <a:ea typeface="맑은 고딕"/>
                <a:cs typeface="맑은 고딕"/>
              </a:rPr>
              <a:t>  (494</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ms)</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DEC-1010-002-408b</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11:14:38  </a:t>
            </a:r>
            <a:r>
              <a:rPr sz="1300" b="0">
                <a:solidFill>
                  <a:srgbClr val="E8EEF6"/>
                </a:solidFill>
                <a:latin typeface="맑은 고딕"/>
                <a:ea typeface="맑은 고딕"/>
                <a:cs typeface="맑은 고딕"/>
              </a:rPr>
              <a:t>제출이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끝났습니다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스크립트로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작성합니다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11:14:42  </a:t>
            </a:r>
            <a:r>
              <a:rPr sz="1300" b="0">
                <a:solidFill>
                  <a:srgbClr val="E8EEF6"/>
                </a:solidFill>
                <a:latin typeface="맑은 고딕"/>
                <a:ea typeface="맑은 고딕"/>
                <a:cs typeface="맑은 고딕"/>
              </a:rPr>
              <a:t>에이전트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p>
          <a:p>
            <a:pPr algn="l" eaLnBrk="0">
              <a:lnSpc>
                <a:spcPct val="110000"/>
              </a:lnSpc>
              <a:spcAft>
                <a:spcPts val="200"/>
              </a:spcAft>
            </a:pPr>
            <a:r>
              <a:rPr sz="1300" b="0">
                <a:solidFill>
                  <a:srgbClr val="E8EEF6"/>
                </a:solidFill>
                <a:latin typeface="Consolas"/>
                <a:ea typeface="맑은 고딕"/>
                <a:cs typeface="맑은 고딕"/>
              </a:rPr>
              <a:t>#           11:13:09</a:t>
            </a:r>
            <a:r>
              <a:rPr sz="1300" b="0">
                <a:solidFill>
                  <a:srgbClr val="E8EEF6"/>
                </a:solidFill>
                <a:latin typeface="맑은 고딕"/>
                <a:ea typeface="맑은 고딕"/>
                <a:cs typeface="맑은 고딕"/>
              </a:rPr>
              <a:t>부터</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34</a:t>
            </a:r>
            <a:r>
              <a:rPr sz="1300" b="0">
                <a:solidFill>
                  <a:srgbClr val="E8EEF6"/>
                </a:solidFill>
                <a:latin typeface="맑은 고딕"/>
                <a:ea typeface="맑은 고딕"/>
                <a:cs typeface="맑은 고딕"/>
              </a:rPr>
              <a:t>초</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판단 제출</a:t>
            </a:r>
          </a:p>
          <a:p>
            <a:pPr algn="l" eaLnBrk="0">
              <a:lnSpc>
                <a:spcPct val="110000"/>
              </a:lnSpc>
              <a:spcAft>
                <a:spcPts val="400"/>
              </a:spcAft>
            </a:pPr>
            <a:r>
              <a:rPr sz="1400" b="0">
                <a:solidFill>
                  <a:srgbClr val="1F2A3A"/>
                </a:solidFill>
                <a:latin typeface="맑은 고딕"/>
                <a:ea typeface="맑은 고딕"/>
                <a:cs typeface="맑은 고딕"/>
              </a:rPr>
              <a:t>추천안을 제출하는 도구 호출이다. 판단 번호가 돌아왔다.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판단 번호</a:t>
            </a:r>
          </a:p>
          <a:p>
            <a:pPr algn="l" eaLnBrk="0">
              <a:lnSpc>
                <a:spcPct val="110000"/>
              </a:lnSpc>
              <a:spcAft>
                <a:spcPts val="400"/>
              </a:spcAft>
            </a:pPr>
            <a:r>
              <a:rPr sz="1400" b="0">
                <a:solidFill>
                  <a:srgbClr val="1F2A3A"/>
                </a:solidFill>
                <a:latin typeface="맑은 고딕"/>
                <a:ea typeface="맑은 고딕"/>
                <a:cs typeface="맑은 고딕"/>
              </a:rPr>
              <a:t>뒤에 만들어진 작업지시에도 이 번호가 기록된다.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단계 끝</a:t>
            </a:r>
          </a:p>
          <a:p>
            <a:pPr algn="l" eaLnBrk="0">
              <a:lnSpc>
                <a:spcPct val="110000"/>
              </a:lnSpc>
              <a:spcAft>
                <a:spcPts val="400"/>
              </a:spcAft>
            </a:pPr>
            <a:r>
              <a:rPr sz="1400" b="0">
                <a:solidFill>
                  <a:srgbClr val="1F2A3A"/>
                </a:solidFill>
                <a:latin typeface="맑은 고딕"/>
                <a:ea typeface="맑은 고딕"/>
                <a:cs typeface="맑은 고딕"/>
              </a:rPr>
              <a:t>정해진 형식의 결과를 남기고 1분 34초 만에 끝났다.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다른 실행의 기록: 같은 고리, 다른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지침에서도 호출 경로는 달라질 수 있지만, 대체 조회가 필요한 판정까지 충족했는지는 따로 검토한다.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시나리오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호출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순서</a:t>
            </a:r>
          </a:p>
          <a:p>
            <a:pPr algn="l" eaLnBrk="0">
              <a:lnSpc>
                <a:spcPct val="110000"/>
              </a:lnSpc>
              <a:spcAft>
                <a:spcPts val="200"/>
              </a:spcAft>
            </a:pPr>
            <a:r>
              <a:rPr sz="1300" b="0">
                <a:solidFill>
                  <a:srgbClr val="E8EEF6"/>
                </a:solidFill>
                <a:latin typeface="Consolas"/>
                <a:ea typeface="맑은 고딕"/>
                <a:cs typeface="맑은 고딕"/>
              </a:rPr>
              <a:t>1  </a:t>
            </a:r>
            <a:r>
              <a:rPr sz="1300" b="0">
                <a:solidFill>
                  <a:srgbClr val="E8EEF6"/>
                </a:solidFill>
                <a:latin typeface="맑은 고딕"/>
                <a:ea typeface="맑은 고딕"/>
                <a:cs typeface="맑은 고딕"/>
              </a:rPr>
              <a:t>스킬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읽기</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불러오기</a:t>
            </a:r>
            <a:r>
              <a:rPr sz="1300" b="0">
                <a:solidFill>
                  <a:srgbClr val="E8EEF6"/>
                </a:solidFill>
                <a:latin typeface="Consolas"/>
                <a:ea typeface="맑은 고딕"/>
                <a:cs typeface="맑은 고딕"/>
              </a:rPr>
              <a:t>      (8</a:t>
            </a:r>
            <a:r>
              <a:rPr sz="1300" b="0">
                <a:solidFill>
                  <a:srgbClr val="E8EEF6"/>
                </a:solidFill>
                <a:latin typeface="맑은 고딕"/>
                <a:ea typeface="맑은 고딕"/>
                <a:cs typeface="맑은 고딕"/>
              </a:rPr>
              <a:t>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p>
          <a:p>
            <a:pPr algn="l" eaLnBrk="0">
              <a:lnSpc>
                <a:spcPct val="110000"/>
              </a:lnSpc>
              <a:spcAft>
                <a:spcPts val="200"/>
              </a:spcAft>
            </a:pPr>
            <a:r>
              <a:rPr sz="1300" b="0">
                <a:solidFill>
                  <a:srgbClr val="E8EEF6"/>
                </a:solidFill>
                <a:latin typeface="Consolas"/>
                <a:ea typeface="맑은 고딕"/>
                <a:cs typeface="맑은 고딕"/>
              </a:rPr>
              <a:t>4  </a:t>
            </a:r>
            <a:r>
              <a:rPr sz="1300" b="0">
                <a:solidFill>
                  <a:srgbClr val="E8EEF6"/>
                </a:solidFill>
                <a:latin typeface="맑은 고딕"/>
                <a:ea typeface="맑은 고딕"/>
                <a:cs typeface="맑은 고딕"/>
              </a:rPr>
              <a:t>대안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커서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못함</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5  </a:t>
            </a:r>
            <a:r>
              <a:rPr sz="1300" b="0">
                <a:solidFill>
                  <a:srgbClr val="E8EEF6"/>
                </a:solidFill>
                <a:latin typeface="맑은 고딕"/>
                <a:ea typeface="맑은 고딕"/>
                <a:cs typeface="맑은 고딕"/>
              </a:rPr>
              <a:t>생산오더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p>
          <a:p>
            <a:pPr algn="l" eaLnBrk="0">
              <a:lnSpc>
                <a:spcPct val="110000"/>
              </a:lnSpc>
              <a:spcAft>
                <a:spcPts val="200"/>
              </a:spcAft>
            </a:pPr>
            <a:r>
              <a:rPr sz="1300" b="0">
                <a:solidFill>
                  <a:srgbClr val="E8EEF6"/>
                </a:solidFill>
                <a:latin typeface="Consolas"/>
                <a:ea typeface="맑은 고딕"/>
                <a:cs typeface="맑은 고딕"/>
              </a:rPr>
              <a:t>6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부하</a:t>
            </a:r>
            <a:r>
              <a:rPr sz="1300" b="0">
                <a:solidFill>
                  <a:srgbClr val="E8EEF6"/>
                </a:solidFill>
                <a:latin typeface="Consolas"/>
                <a:ea typeface="맑은 고딕"/>
                <a:cs typeface="맑은 고딕"/>
              </a:rPr>
              <a:t> 80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부하</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7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제출</a:t>
            </a:r>
          </a:p>
          <a:p>
            <a:pPr algn="l" eaLnBrk="0">
              <a:lnSpc>
                <a:spcPct val="110000"/>
              </a:lnSpc>
              <a:spcAft>
                <a:spcPts val="200"/>
              </a:spcAft>
            </a:pPr>
            <a:r>
              <a:rPr sz="1300" b="0">
                <a:solidFill>
                  <a:srgbClr val="E8EEF6"/>
                </a:solidFill>
                <a:latin typeface="Consolas"/>
                <a:ea typeface="맑은 고딕"/>
                <a:cs typeface="맑은 고딕"/>
              </a:rPr>
              <a:t>8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작성</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도구 선택</a:t>
            </a:r>
          </a:p>
          <a:p>
            <a:pPr algn="l" eaLnBrk="0">
              <a:lnSpc>
                <a:spcPct val="110000"/>
              </a:lnSpc>
              <a:spcAft>
                <a:spcPts val="400"/>
              </a:spcAft>
            </a:pPr>
            <a:r>
              <a:rPr sz="1400" b="0">
                <a:solidFill>
                  <a:srgbClr val="1F2A3A"/>
                </a:solidFill>
                <a:latin typeface="맑은 고딕"/>
                <a:ea typeface="맑은 고딕"/>
                <a:cs typeface="맑은 고딕"/>
              </a:rPr>
              <a:t>연결된 도구 가운데 이번 일에 쓸 여덟 개만 이름으로 골라 불러왔다.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고친 계획</a:t>
            </a:r>
          </a:p>
          <a:p>
            <a:pPr algn="l" eaLnBrk="0">
              <a:lnSpc>
                <a:spcPct val="110000"/>
              </a:lnSpc>
              <a:spcAft>
                <a:spcPts val="400"/>
              </a:spcAft>
            </a:pPr>
            <a:r>
              <a:rPr sz="1400" b="0">
                <a:solidFill>
                  <a:srgbClr val="1F2A3A"/>
                </a:solidFill>
                <a:latin typeface="맑은 고딕"/>
                <a:ea typeface="맑은 고딕"/>
                <a:cs typeface="맑은 고딕"/>
              </a:rPr>
              <a:t>상세 평가를 읽지 못해 예측을 추가 조회했다. 규정 판정의 대체는 아니다.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마지막 메시지</a:t>
            </a:r>
          </a:p>
          <a:p>
            <a:pPr algn="l" eaLnBrk="0">
              <a:lnSpc>
                <a:spcPct val="110000"/>
              </a:lnSpc>
              <a:spcAft>
                <a:spcPts val="400"/>
              </a:spcAft>
            </a:pPr>
            <a:r>
              <a:rPr sz="1400" b="0">
                <a:solidFill>
                  <a:srgbClr val="1F2A3A"/>
                </a:solidFill>
                <a:latin typeface="맑은 고딕"/>
                <a:ea typeface="맑은 고딕"/>
                <a:cs typeface="맑은 고딕"/>
              </a:rPr>
              <a:t>열어 보지 못한 결과와, 대신 무엇을 근거로 썼는지를 적었다.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단순 답변과 업무 산출물</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질문에 답하고 끝나는 결과와, 승인과 실행으로 넘어가는 추천안을 견준다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답변과 업무 산출물의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포털의 질문 기능은 답을 돌려주며, 조치 추천안은 정해진 형식으로 승인과 실행 단계에 넘긴다.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22144"/>
            <a:ext cx="731520" cy="731520"/>
          </a:xfrm>
          <a:prstGeom prst="ellipse">
            <a:avLst/>
          </a:prstGeom>
          <a:solidFill>
            <a:srgbClr val="FFFFFF"/>
          </a:solidFill>
          <a:ln>
            <a:noFill/>
          </a:ln>
        </p:spPr>
        <p:txBody>
          <a:bodyPr rtlCol="0" anchor="ctr"/>
          <a:lstStyle/>
          <a:p>
            <a:pPr algn="ctr"/>
          </a:p>
        </p:txBody>
      </p:sp>
      <p:pic>
        <p:nvPicPr>
          <p:cNvPr id="8" name="아이콘:message-2" descr="message-2_13294B_1.6.png"/>
          <p:cNvPicPr>
            <a:picLocks noChangeAspect="1"/>
          </p:cNvPicPr>
          <p:nvPr/>
        </p:nvPicPr>
        <p:blipFill>
          <a:blip r:embed="rId3"/>
          <a:stretch>
            <a:fillRect/>
          </a:stretch>
        </p:blipFill>
        <p:spPr>
          <a:xfrm>
            <a:off x="976579" y="2575763"/>
            <a:ext cx="424281" cy="424281"/>
          </a:xfrm>
          <a:prstGeom prst="rect">
            <a:avLst/>
          </a:prstGeom>
        </p:spPr>
      </p:pic>
      <p:sp>
        <p:nvSpPr>
          <p:cNvPr id="9" name="TextBox 8"/>
          <p:cNvSpPr txBox="1"/>
          <p:nvPr/>
        </p:nvSpPr>
        <p:spPr>
          <a:xfrm>
            <a:off x="1691640"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단순 답변</a:t>
            </a:r>
          </a:p>
        </p:txBody>
      </p:sp>
      <p:sp>
        <p:nvSpPr>
          <p:cNvPr id="10" name="TextBox 9"/>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받는 쪽: 질문한 사람</a:t>
            </a:r>
          </a:p>
          <a:p>
            <a:pPr algn="l" eaLnBrk="0" marL="182880" indent="-182880">
              <a:lnSpc>
                <a:spcPct val="110000"/>
              </a:lnSpc>
              <a:spcAft>
                <a:spcPts val="600"/>
              </a:spcAft>
            </a:pPr>
            <a:r>
              <a:rPr sz="1600" b="0">
                <a:solidFill>
                  <a:srgbClr val="1F2A3A"/>
                </a:solidFill>
                <a:latin typeface="맑은 고딕"/>
                <a:ea typeface="맑은 고딕"/>
                <a:cs typeface="맑은 고딕"/>
              </a:rPr>
              <a:t>• 형식: 답과 근거, 또는 답할 수 없다는 사실과 그 이유</a:t>
            </a:r>
          </a:p>
          <a:p>
            <a:pPr algn="l" eaLnBrk="0" marL="182880" indent="-182880">
              <a:lnSpc>
                <a:spcPct val="110000"/>
              </a:lnSpc>
              <a:spcAft>
                <a:spcPts val="600"/>
              </a:spcAft>
            </a:pPr>
            <a:r>
              <a:rPr sz="1600" b="0">
                <a:solidFill>
                  <a:srgbClr val="1F2A3A"/>
                </a:solidFill>
                <a:latin typeface="맑은 고딕"/>
                <a:ea typeface="맑은 고딕"/>
                <a:cs typeface="맑은 고딕"/>
              </a:rPr>
              <a:t>• 자동 후속 실행: 없다</a:t>
            </a:r>
          </a:p>
        </p:txBody>
      </p:sp>
      <p:sp>
        <p:nvSpPr>
          <p:cNvPr id="11" name="Rounded Rectangle 10"/>
          <p:cNvSpPr/>
          <p:nvPr/>
        </p:nvSpPr>
        <p:spPr>
          <a:xfrm>
            <a:off x="868680" y="53045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04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질문 처리 완료</a:t>
            </a:r>
          </a:p>
        </p:txBody>
      </p:sp>
      <p:sp>
        <p:nvSpPr>
          <p:cNvPr id="13" name="Rounded Rectangle 12"/>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22144"/>
            <a:ext cx="731520" cy="731520"/>
          </a:xfrm>
          <a:prstGeom prst="ellipse">
            <a:avLst/>
          </a:prstGeom>
          <a:solidFill>
            <a:srgbClr val="5CB8F2"/>
          </a:solidFill>
          <a:ln>
            <a:noFill/>
          </a:ln>
        </p:spPr>
        <p:txBody>
          <a:bodyPr rtlCol="0" anchor="ctr"/>
          <a:lstStyle/>
          <a:p>
            <a:pPr algn="ctr"/>
          </a:p>
        </p:txBody>
      </p:sp>
      <p:pic>
        <p:nvPicPr>
          <p:cNvPr id="15" name="아이콘:clipboard-check" descr="clipboard-check_13294B_1.6.png"/>
          <p:cNvPicPr>
            <a:picLocks noChangeAspect="1"/>
          </p:cNvPicPr>
          <p:nvPr/>
        </p:nvPicPr>
        <p:blipFill>
          <a:blip r:embed="rId4"/>
          <a:stretch>
            <a:fillRect/>
          </a:stretch>
        </p:blipFill>
        <p:spPr>
          <a:xfrm>
            <a:off x="6889546" y="2575763"/>
            <a:ext cx="424281" cy="424281"/>
          </a:xfrm>
          <a:prstGeom prst="rect">
            <a:avLst/>
          </a:prstGeom>
        </p:spPr>
      </p:pic>
      <p:sp>
        <p:nvSpPr>
          <p:cNvPr id="16" name="TextBox 15"/>
          <p:cNvSpPr txBox="1"/>
          <p:nvPr/>
        </p:nvSpPr>
        <p:spPr>
          <a:xfrm>
            <a:off x="7604607"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업무 산출물</a:t>
            </a:r>
          </a:p>
        </p:txBody>
      </p:sp>
      <p:sp>
        <p:nvSpPr>
          <p:cNvPr id="17" name="TextBox 16"/>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받는 쪽: 승인할 담당자와 다음 단계의 시스템</a:t>
            </a:r>
          </a:p>
          <a:p>
            <a:pPr algn="l" eaLnBrk="0" marL="182880" indent="-182880">
              <a:lnSpc>
                <a:spcPct val="110000"/>
              </a:lnSpc>
              <a:spcAft>
                <a:spcPts val="600"/>
              </a:spcAft>
            </a:pPr>
            <a:r>
              <a:rPr sz="1600" b="0">
                <a:solidFill>
                  <a:srgbClr val="1F2A3A"/>
                </a:solidFill>
                <a:latin typeface="맑은 고딕"/>
                <a:ea typeface="맑은 고딕"/>
                <a:cs typeface="맑은 고딕"/>
              </a:rPr>
              <a:t>• 형식: 원인, 추천, 뒤진 대안, 설명, 판단 번호의 정해진 항목</a:t>
            </a:r>
          </a:p>
          <a:p>
            <a:pPr algn="l" eaLnBrk="0" marL="182880" indent="-182880">
              <a:lnSpc>
                <a:spcPct val="110000"/>
              </a:lnSpc>
              <a:spcAft>
                <a:spcPts val="600"/>
              </a:spcAft>
            </a:pPr>
            <a:r>
              <a:rPr sz="1600" b="0">
                <a:solidFill>
                  <a:srgbClr val="1F2A3A"/>
                </a:solidFill>
                <a:latin typeface="맑은 고딕"/>
                <a:ea typeface="맑은 고딕"/>
                <a:cs typeface="맑은 고딕"/>
              </a:rPr>
              <a:t>• 다음 행동: 승인 뒤에 명령과 작업지시로 이어진다</a:t>
            </a:r>
          </a:p>
        </p:txBody>
      </p:sp>
      <p:sp>
        <p:nvSpPr>
          <p:cNvPr id="18" name="Rounded Rectangle 17"/>
          <p:cNvSpPr/>
          <p:nvPr/>
        </p:nvSpPr>
        <p:spPr>
          <a:xfrm>
            <a:off x="6781647" y="530453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0453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다음 단계로 간다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질문에 답하는 에이전트: 답과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질문에 답할 때에도 에이전트는 기억으로 말하지 않고 업무 DB를 조회하며, 실행한 조회문이 답의 근거로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질문</a:t>
            </a:r>
          </a:p>
          <a:p>
            <a:pPr algn="l" eaLnBrk="0">
              <a:lnSpc>
                <a:spcPct val="110000"/>
              </a:lnSpc>
              <a:spcAft>
                <a:spcPts val="200"/>
              </a:spcAft>
            </a:pPr>
            <a:r>
              <a:rPr sz="1300" b="0">
                <a:solidFill>
                  <a:srgbClr val="E8EEF6"/>
                </a:solidFill>
                <a:latin typeface="맑은 고딕"/>
                <a:ea typeface="맑은 고딕"/>
                <a:cs typeface="맑은 고딕"/>
              </a:rPr>
              <a:t>완제품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재고가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수량은</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답</a:t>
            </a:r>
          </a:p>
          <a:p>
            <a:pPr algn="l" eaLnBrk="0">
              <a:lnSpc>
                <a:spcPct val="110000"/>
              </a:lnSpc>
              <a:spcAft>
                <a:spcPts val="200"/>
              </a:spcAft>
            </a:pPr>
            <a:r>
              <a:rPr sz="1300" b="0">
                <a:solidFill>
                  <a:srgbClr val="E8EEF6"/>
                </a:solidFill>
                <a:latin typeface="Consolas"/>
                <a:ea typeface="맑은 고딕"/>
                <a:cs typeface="맑은 고딕"/>
              </a:rPr>
              <a:t>HYD-02(</a:t>
            </a:r>
            <a:r>
              <a:rPr sz="1300" b="0">
                <a:solidFill>
                  <a:srgbClr val="E8EEF6"/>
                </a:solidFill>
                <a:latin typeface="맑은 고딕"/>
                <a:ea typeface="맑은 고딕"/>
                <a:cs typeface="맑은 고딕"/>
              </a:rPr>
              <a:t>유압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파워팩</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호기</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완제품</a:t>
            </a:r>
            <a:r>
              <a:rPr sz="1300" b="0">
                <a:solidFill>
                  <a:srgbClr val="E8EEF6"/>
                </a:solidFill>
                <a:latin typeface="Consolas"/>
                <a:ea typeface="맑은 고딕"/>
                <a:cs typeface="맑은 고딕"/>
              </a:rPr>
              <a:t> FG-IND-3</a:t>
            </a:r>
          </a:p>
          <a:p>
            <a:pPr algn="l" eaLnBrk="0">
              <a:lnSpc>
                <a:spcPct val="110000"/>
              </a:lnSpc>
              <a:spcAft>
                <a:spcPts val="200"/>
              </a:spcAft>
            </a:pPr>
            <a:r>
              <a:rPr sz="1300" b="0">
                <a:solidFill>
                  <a:srgbClr val="E8EEF6"/>
                </a:solidFill>
                <a:latin typeface="맑은 고딕"/>
                <a:ea typeface="맑은 고딕"/>
                <a:cs typeface="맑은 고딕"/>
              </a:rPr>
              <a:t>재고가</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개입니다</a:t>
            </a:r>
            <a:r>
              <a:rPr sz="1300" b="0">
                <a:solidFill>
                  <a:srgbClr val="E8EEF6"/>
                </a:solidFill>
                <a:latin typeface="Consolas"/>
                <a:ea typeface="맑은 고딕"/>
                <a:cs typeface="맑은 고딕"/>
              </a:rPr>
              <a:t>(WH-1 </a:t>
            </a:r>
            <a:r>
              <a:rPr sz="1300" b="0">
                <a:solidFill>
                  <a:srgbClr val="E8EEF6"/>
                </a:solidFill>
                <a:latin typeface="맑은 고딕"/>
                <a:ea typeface="맑은 고딕"/>
                <a:cs typeface="맑은 고딕"/>
              </a:rPr>
              <a:t>완제품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창고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조회문</a:t>
            </a:r>
          </a:p>
          <a:p>
            <a:pPr algn="l" eaLnBrk="0">
              <a:lnSpc>
                <a:spcPct val="110000"/>
              </a:lnSpc>
              <a:spcAft>
                <a:spcPts val="200"/>
              </a:spcAft>
            </a:pPr>
            <a:r>
              <a:rPr sz="1300" b="0">
                <a:solidFill>
                  <a:srgbClr val="E8EEF6"/>
                </a:solidFill>
                <a:latin typeface="Consolas"/>
                <a:ea typeface="맑은 고딕"/>
                <a:cs typeface="맑은 고딕"/>
              </a:rPr>
              <a:t>SELECT f.asset, a.name, f.fg_item,</a:t>
            </a:r>
          </a:p>
          <a:p>
            <a:pPr algn="l" eaLnBrk="0">
              <a:lnSpc>
                <a:spcPct val="110000"/>
              </a:lnSpc>
              <a:spcAft>
                <a:spcPts val="200"/>
              </a:spcAft>
            </a:pPr>
            <a:r>
              <a:rPr sz="1300" b="0">
                <a:solidFill>
                  <a:srgbClr val="E8EEF6"/>
                </a:solidFill>
                <a:latin typeface="Consolas"/>
                <a:ea typeface="맑은 고딕"/>
                <a:cs typeface="맑은 고딕"/>
              </a:rPr>
              <a:t>       f.fg_stock, f.warehouse</a:t>
            </a:r>
          </a:p>
          <a:p>
            <a:pPr algn="l" eaLnBrk="0">
              <a:lnSpc>
                <a:spcPct val="110000"/>
              </a:lnSpc>
              <a:spcAft>
                <a:spcPts val="200"/>
              </a:spcAft>
            </a:pPr>
            <a:r>
              <a:rPr sz="1300" b="0">
                <a:solidFill>
                  <a:srgbClr val="E8EEF6"/>
                </a:solidFill>
                <a:latin typeface="Consolas"/>
                <a:ea typeface="맑은 고딕"/>
                <a:cs typeface="맑은 고딕"/>
              </a:rPr>
              <a:t>FROM fg_inventory f</a:t>
            </a:r>
          </a:p>
          <a:p>
            <a:pPr algn="l" eaLnBrk="0">
              <a:lnSpc>
                <a:spcPct val="110000"/>
              </a:lnSpc>
              <a:spcAft>
                <a:spcPts val="200"/>
              </a:spcAft>
            </a:pPr>
            <a:r>
              <a:rPr sz="1300" b="0">
                <a:solidFill>
                  <a:srgbClr val="E8EEF6"/>
                </a:solidFill>
                <a:latin typeface="Consolas"/>
                <a:ea typeface="맑은 고딕"/>
                <a:cs typeface="맑은 고딕"/>
              </a:rPr>
              <a:t>JOIN assets a ON a.code = f.asset</a:t>
            </a:r>
          </a:p>
          <a:p>
            <a:pPr algn="l" eaLnBrk="0">
              <a:lnSpc>
                <a:spcPct val="110000"/>
              </a:lnSpc>
              <a:spcAft>
                <a:spcPts val="200"/>
              </a:spcAft>
            </a:pPr>
            <a:r>
              <a:rPr sz="1300" b="0">
                <a:solidFill>
                  <a:srgbClr val="E8EEF6"/>
                </a:solidFill>
                <a:latin typeface="Consolas"/>
                <a:ea typeface="맑은 고딕"/>
                <a:cs typeface="맑은 고딕"/>
              </a:rPr>
              <a:t>ORDER BY f.fg_stock ASC</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도구 호출 두 번</a:t>
            </a:r>
          </a:p>
          <a:p>
            <a:pPr algn="l" eaLnBrk="0">
              <a:lnSpc>
                <a:spcPct val="110000"/>
              </a:lnSpc>
              <a:spcAft>
                <a:spcPts val="400"/>
              </a:spcAft>
            </a:pPr>
            <a:r>
              <a:rPr sz="1400" b="0">
                <a:solidFill>
                  <a:srgbClr val="1F2A3A"/>
                </a:solidFill>
                <a:latin typeface="맑은 고딕"/>
                <a:ea typeface="맑은 고딕"/>
                <a:cs typeface="맑은 고딕"/>
              </a:rPr>
              <a:t>표 이름을 짐작하지 말라는 규칙대로, 어떤 표가 있는지를 먼저 확인한 뒤 조회문을 실행했다.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근거</a:t>
            </a:r>
          </a:p>
          <a:p>
            <a:pPr algn="l" eaLnBrk="0">
              <a:lnSpc>
                <a:spcPct val="110000"/>
              </a:lnSpc>
              <a:spcAft>
                <a:spcPts val="400"/>
              </a:spcAft>
            </a:pPr>
            <a:r>
              <a:rPr sz="1400" b="0">
                <a:solidFill>
                  <a:srgbClr val="1F2A3A"/>
                </a:solidFill>
                <a:latin typeface="맑은 고딕"/>
                <a:ea typeface="맑은 고딕"/>
                <a:cs typeface="맑은 고딕"/>
              </a:rPr>
              <a:t>답의 값이 어느 조회에서 나왔는지를 보인다. 결과는 3행이었다.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답할 수 없을 때</a:t>
            </a:r>
          </a:p>
          <a:p>
            <a:pPr algn="l" eaLnBrk="0">
              <a:lnSpc>
                <a:spcPct val="110000"/>
              </a:lnSpc>
              <a:spcAft>
                <a:spcPts val="400"/>
              </a:spcAft>
            </a:pPr>
            <a:r>
              <a:rPr sz="1400" b="0">
                <a:solidFill>
                  <a:srgbClr val="1F2A3A"/>
                </a:solidFill>
                <a:latin typeface="맑은 고딕"/>
                <a:ea typeface="맑은 고딕"/>
                <a:cs typeface="맑은 고딕"/>
              </a:rPr>
              <a:t>지어내지 않고, 답할 수 없다는 사실과 그 이유를 낸다.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사건의 업무 산출물: 추천안에 담긴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사건에서 에이전트가 낸 산출물은 원인, 추천 하나, 뒤진 대안 셋과 그 이유를 한데 묶은 추천안이다.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항목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순위 · 점수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a:t>
            </a:r>
          </a:p>
          <a:p>
            <a:pPr algn="l" eaLnBrk="0">
              <a:lnSpc>
                <a:spcPct val="110000"/>
              </a:lnSpc>
            </a:pPr>
            <a:r>
              <a:rPr sz="1400" b="0">
                <a:solidFill>
                  <a:srgbClr val="1F2A3A"/>
                </a:solidFill>
                <a:latin typeface="맑은 고딕"/>
                <a:ea typeface="맑은 고딕"/>
                <a:cs typeface="맑은 고딕"/>
              </a:rPr>
              <a:t>고장 유형: 쿨러 냉각 성능 상실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진단 결과</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추천</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 · SOP-COOL-11</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1순위 · 3.38</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뒤진 대안</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부하 70 %와 야간 핀 세척</a:t>
            </a:r>
          </a:p>
          <a:p>
            <a:pPr algn="l" eaLnBrk="0">
              <a:lnSpc>
                <a:spcPct val="110000"/>
              </a:lnSpc>
            </a:pPr>
            <a:r>
              <a:rPr sz="1400" b="0">
                <a:solidFill>
                  <a:srgbClr val="1F2A3A"/>
                </a:solidFill>
                <a:latin typeface="맑은 고딕"/>
                <a:ea typeface="맑은 고딕"/>
                <a:cs typeface="맑은 고딕"/>
              </a:rPr>
              <a:t>팬 최대 운전과 부하 80 %</a:t>
            </a:r>
          </a:p>
          <a:p>
            <a:pPr algn="l" eaLnBrk="0">
              <a:lnSpc>
                <a:spcPct val="110000"/>
              </a:lnSpc>
            </a:pPr>
            <a:r>
              <a:rPr sz="1400" b="0">
                <a:solidFill>
                  <a:srgbClr val="1F2A3A"/>
                </a:solidFill>
                <a:latin typeface="맑은 고딕"/>
                <a:ea typeface="맑은 고딕"/>
                <a:cs typeface="맑은 고딕"/>
              </a:rPr>
              <a:t>쿨러 핀 세척</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공동 2순위 · 2.75</a:t>
            </a:r>
          </a:p>
          <a:p>
            <a:pPr algn="l" eaLnBrk="0">
              <a:lnSpc>
                <a:spcPct val="110000"/>
              </a:lnSpc>
            </a:pPr>
            <a:r>
              <a:rPr sz="1250" b="1">
                <a:solidFill>
                  <a:srgbClr val="556175"/>
                </a:solidFill>
                <a:latin typeface="맑은 고딕"/>
                <a:ea typeface="맑은 고딕"/>
                <a:cs typeface="맑은 고딕"/>
              </a:rPr>
              <a:t>공동 2순위 · 2.75</a:t>
            </a:r>
          </a:p>
          <a:p>
            <a:pPr algn="l" eaLnBrk="0">
              <a:lnSpc>
                <a:spcPct val="110000"/>
              </a:lnSpc>
            </a:pPr>
            <a:r>
              <a:rPr sz="1250" b="1">
                <a:solidFill>
                  <a:srgbClr val="556175"/>
                </a:solidFill>
                <a:latin typeface="맑은 고딕"/>
                <a:ea typeface="맑은 고딕"/>
                <a:cs typeface="맑은 고딕"/>
              </a:rPr>
              <a:t>4순위 · -1.58</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설명과 번호</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추천이 앞서고 대안이 뒤지는 이유</a:t>
            </a:r>
          </a:p>
          <a:p>
            <a:pPr algn="l" eaLnBrk="0">
              <a:lnSpc>
                <a:spcPct val="110000"/>
              </a:lnSpc>
            </a:pPr>
            <a:r>
              <a:rPr sz="1400" b="0">
                <a:solidFill>
                  <a:srgbClr val="1F2A3A"/>
                </a:solidFill>
                <a:latin typeface="맑은 고딕"/>
                <a:ea typeface="맑은 고딕"/>
                <a:cs typeface="맑은 고딕"/>
              </a:rPr>
              <a:t>판단 번호 DEC-1010-002-408b</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근거</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추천안이 넘어가는 곳: 승인 뒤의 명령과 작업지시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HYD 업무에서는 에이전트가 추천안을 제출하고, 사람이 승인한 뒤 시스템이 설비 명령과 작업지시를 이어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612647" y="2330818"/>
            <a:ext cx="2090867"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2090867"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에이전트</a:t>
            </a:r>
          </a:p>
        </p:txBody>
      </p:sp>
      <p:sp>
        <p:nvSpPr>
          <p:cNvPr id="8" name="Rounded Rectangle 7"/>
          <p:cNvSpPr/>
          <p:nvPr/>
        </p:nvSpPr>
        <p:spPr>
          <a:xfrm>
            <a:off x="2831531"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2831531" y="2385682"/>
            <a:ext cx="2090867"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사람</a:t>
            </a:r>
          </a:p>
        </p:txBody>
      </p:sp>
      <p:sp>
        <p:nvSpPr>
          <p:cNvPr id="10" name="Rounded Rectangle 9"/>
          <p:cNvSpPr/>
          <p:nvPr/>
        </p:nvSpPr>
        <p:spPr>
          <a:xfrm>
            <a:off x="5050414" y="2330818"/>
            <a:ext cx="6528633"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5050414" y="2385682"/>
            <a:ext cx="6528633"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시스템</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Oval 13"/>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5" name="아이콘:robot" descr="robot_13294B_1.6.png"/>
          <p:cNvPicPr>
            <a:picLocks noChangeAspect="1"/>
          </p:cNvPicPr>
          <p:nvPr/>
        </p:nvPicPr>
        <p:blipFill>
          <a:blip r:embed="rId3"/>
          <a:stretch>
            <a:fillRect/>
          </a:stretch>
        </p:blipFill>
        <p:spPr>
          <a:xfrm>
            <a:off x="1358088" y="3522135"/>
            <a:ext cx="599985" cy="599985"/>
          </a:xfrm>
          <a:prstGeom prst="rect">
            <a:avLst/>
          </a:prstGeom>
        </p:spPr>
      </p:pic>
      <p:sp>
        <p:nvSpPr>
          <p:cNvPr id="16" name="TextBox 15"/>
          <p:cNvSpPr txBox="1"/>
          <p:nvPr/>
        </p:nvSpPr>
        <p:spPr>
          <a:xfrm>
            <a:off x="640079" y="453619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추천안</a:t>
            </a:r>
          </a:p>
          <a:p>
            <a:pPr algn="ctr" eaLnBrk="0">
              <a:lnSpc>
                <a:spcPct val="110000"/>
              </a:lnSpc>
              <a:spcAft>
                <a:spcPts val="400"/>
              </a:spcAft>
            </a:pPr>
            <a:r>
              <a:rPr sz="1300" b="0">
                <a:solidFill>
                  <a:srgbClr val="1F2A3A"/>
                </a:solidFill>
                <a:latin typeface="맑은 고딕"/>
                <a:ea typeface="맑은 고딕"/>
                <a:cs typeface="맑은 고딕"/>
              </a:rPr>
              <a:t>11:14:42 단계 끝</a:t>
            </a:r>
          </a:p>
          <a:p>
            <a:pPr algn="ctr" eaLnBrk="0">
              <a:lnSpc>
                <a:spcPct val="110000"/>
              </a:lnSpc>
              <a:spcAft>
                <a:spcPts val="400"/>
              </a:spcAft>
            </a:pPr>
            <a:r>
              <a:rPr sz="1300" b="0">
                <a:solidFill>
                  <a:srgbClr val="1F2A3A"/>
                </a:solidFill>
                <a:latin typeface="맑은 고딕"/>
                <a:ea typeface="맑은 고딕"/>
                <a:cs typeface="맑은 고딕"/>
              </a:rPr>
              <a:t>DEC-1010-002-408b</a:t>
            </a:r>
          </a:p>
        </p:txBody>
      </p:sp>
      <p:sp>
        <p:nvSpPr>
          <p:cNvPr id="17" name="Chevron 16"/>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8" name="Oval 17"/>
          <p:cNvSpPr/>
          <p:nvPr/>
        </p:nvSpPr>
        <p:spPr>
          <a:xfrm>
            <a:off x="3300054"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19" name="아이콘:user-check" descr="user-check_13294B_1.6.png"/>
          <p:cNvPicPr>
            <a:picLocks noChangeAspect="1"/>
          </p:cNvPicPr>
          <p:nvPr/>
        </p:nvPicPr>
        <p:blipFill>
          <a:blip r:embed="rId4"/>
          <a:stretch>
            <a:fillRect/>
          </a:stretch>
        </p:blipFill>
        <p:spPr>
          <a:xfrm>
            <a:off x="3576971" y="3522135"/>
            <a:ext cx="599985" cy="599985"/>
          </a:xfrm>
          <a:prstGeom prst="rect">
            <a:avLst/>
          </a:prstGeom>
        </p:spPr>
      </p:pic>
      <p:sp>
        <p:nvSpPr>
          <p:cNvPr id="20" name="TextBox 19"/>
          <p:cNvSpPr txBox="1"/>
          <p:nvPr/>
        </p:nvSpPr>
        <p:spPr>
          <a:xfrm>
            <a:off x="2858963" y="453619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승인</a:t>
            </a:r>
          </a:p>
          <a:p>
            <a:pPr algn="ctr" eaLnBrk="0">
              <a:lnSpc>
                <a:spcPct val="110000"/>
              </a:lnSpc>
              <a:spcAft>
                <a:spcPts val="400"/>
              </a:spcAft>
            </a:pPr>
            <a:r>
              <a:rPr sz="1300" b="0">
                <a:solidFill>
                  <a:srgbClr val="1F2A3A"/>
                </a:solidFill>
                <a:latin typeface="맑은 고딕"/>
                <a:ea typeface="맑은 고딕"/>
                <a:cs typeface="맑은 고딕"/>
              </a:rPr>
              <a:t>11:14:56</a:t>
            </a:r>
          </a:p>
          <a:p>
            <a:pPr algn="ctr" eaLnBrk="0">
              <a:lnSpc>
                <a:spcPct val="110000"/>
              </a:lnSpc>
              <a:spcAft>
                <a:spcPts val="400"/>
              </a:spcAft>
            </a:pPr>
            <a:r>
              <a:rPr sz="1300" b="0">
                <a:solidFill>
                  <a:srgbClr val="1F2A3A"/>
                </a:solidFill>
                <a:latin typeface="맑은 고딕"/>
                <a:ea typeface="맑은 고딕"/>
                <a:cs typeface="맑은 고딕"/>
              </a:rPr>
              <a:t>운전원</a:t>
            </a:r>
          </a:p>
        </p:txBody>
      </p:sp>
      <p:sp>
        <p:nvSpPr>
          <p:cNvPr id="21" name="Chevron 20"/>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2" name="Oval 21"/>
          <p:cNvSpPr/>
          <p:nvPr/>
        </p:nvSpPr>
        <p:spPr>
          <a:xfrm>
            <a:off x="5518938"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3" name="아이콘:settings-automation" descr="settings-automation_13294B_1.6.png"/>
          <p:cNvPicPr>
            <a:picLocks noChangeAspect="1"/>
          </p:cNvPicPr>
          <p:nvPr/>
        </p:nvPicPr>
        <p:blipFill>
          <a:blip r:embed="rId5"/>
          <a:stretch>
            <a:fillRect/>
          </a:stretch>
        </p:blipFill>
        <p:spPr>
          <a:xfrm>
            <a:off x="5795854" y="3522135"/>
            <a:ext cx="599985" cy="599985"/>
          </a:xfrm>
          <a:prstGeom prst="rect">
            <a:avLst/>
          </a:prstGeom>
        </p:spPr>
      </p:pic>
      <p:sp>
        <p:nvSpPr>
          <p:cNvPr id="24" name="TextBox 23"/>
          <p:cNvSpPr txBox="1"/>
          <p:nvPr/>
        </p:nvSpPr>
        <p:spPr>
          <a:xfrm>
            <a:off x="5077846" y="453619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설비 명령</a:t>
            </a:r>
          </a:p>
          <a:p>
            <a:pPr algn="ctr" eaLnBrk="0">
              <a:lnSpc>
                <a:spcPct val="110000"/>
              </a:lnSpc>
              <a:spcAft>
                <a:spcPts val="400"/>
              </a:spcAft>
            </a:pPr>
            <a:r>
              <a:rPr sz="1300" b="0">
                <a:solidFill>
                  <a:srgbClr val="1F2A3A"/>
                </a:solidFill>
                <a:latin typeface="맑은 고딕"/>
                <a:ea typeface="맑은 고딕"/>
                <a:cs typeface="맑은 고딕"/>
              </a:rPr>
              <a:t>11:14:57</a:t>
            </a:r>
          </a:p>
          <a:p>
            <a:pPr algn="ctr" eaLnBrk="0">
              <a:lnSpc>
                <a:spcPct val="110000"/>
              </a:lnSpc>
              <a:spcAft>
                <a:spcPts val="400"/>
              </a:spcAft>
            </a:pPr>
            <a:r>
              <a:rPr sz="1300" b="0">
                <a:solidFill>
                  <a:srgbClr val="1F2A3A"/>
                </a:solidFill>
                <a:latin typeface="맑은 고딕"/>
                <a:ea typeface="맑은 고딕"/>
                <a:cs typeface="맑은 고딕"/>
              </a:rPr>
              <a:t>팬 속도 100 %</a:t>
            </a:r>
          </a:p>
        </p:txBody>
      </p:sp>
      <p:sp>
        <p:nvSpPr>
          <p:cNvPr id="25" name="Chevron 24"/>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6" name="Oval 25"/>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7" name="아이콘:zoom-check" descr="zoom-check_13294B_1.6.png"/>
          <p:cNvPicPr>
            <a:picLocks noChangeAspect="1"/>
          </p:cNvPicPr>
          <p:nvPr/>
        </p:nvPicPr>
        <p:blipFill>
          <a:blip r:embed="rId6"/>
          <a:stretch>
            <a:fillRect/>
          </a:stretch>
        </p:blipFill>
        <p:spPr>
          <a:xfrm>
            <a:off x="8014737" y="3522135"/>
            <a:ext cx="599985" cy="599985"/>
          </a:xfrm>
          <a:prstGeom prst="rect">
            <a:avLst/>
          </a:prstGeom>
        </p:spPr>
      </p:pic>
      <p:sp>
        <p:nvSpPr>
          <p:cNvPr id="28" name="TextBox 27"/>
          <p:cNvSpPr txBox="1"/>
          <p:nvPr/>
        </p:nvSpPr>
        <p:spPr>
          <a:xfrm>
            <a:off x="7296729" y="453619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재관측</a:t>
            </a:r>
          </a:p>
          <a:p>
            <a:pPr algn="ctr" eaLnBrk="0">
              <a:lnSpc>
                <a:spcPct val="110000"/>
              </a:lnSpc>
              <a:spcAft>
                <a:spcPts val="400"/>
              </a:spcAft>
            </a:pPr>
            <a:r>
              <a:rPr sz="1300" b="0">
                <a:solidFill>
                  <a:srgbClr val="1F2A3A"/>
                </a:solidFill>
                <a:latin typeface="맑은 고딕"/>
                <a:ea typeface="맑은 고딕"/>
                <a:cs typeface="맑은 고딕"/>
              </a:rPr>
              <a:t>유온 51.5 ℃</a:t>
            </a:r>
          </a:p>
          <a:p>
            <a:pPr algn="ctr" eaLnBrk="0">
              <a:lnSpc>
                <a:spcPct val="110000"/>
              </a:lnSpc>
              <a:spcAft>
                <a:spcPts val="400"/>
              </a:spcAft>
            </a:pPr>
            <a:r>
              <a:rPr sz="1300" b="0">
                <a:solidFill>
                  <a:srgbClr val="1F2A3A"/>
                </a:solidFill>
                <a:latin typeface="맑은 고딕"/>
                <a:ea typeface="맑은 고딕"/>
                <a:cs typeface="맑은 고딕"/>
              </a:rPr>
              <a:t>경보 해제</a:t>
            </a:r>
          </a:p>
        </p:txBody>
      </p:sp>
      <p:sp>
        <p:nvSpPr>
          <p:cNvPr id="29" name="Oval 28"/>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0" name="아이콘:clipboard-list" descr="clipboard-list_13294B_1.6.png"/>
          <p:cNvPicPr>
            <a:picLocks noChangeAspect="1"/>
          </p:cNvPicPr>
          <p:nvPr/>
        </p:nvPicPr>
        <p:blipFill>
          <a:blip r:embed="rId7"/>
          <a:stretch>
            <a:fillRect/>
          </a:stretch>
        </p:blipFill>
        <p:spPr>
          <a:xfrm>
            <a:off x="10233620" y="3522135"/>
            <a:ext cx="599985" cy="599985"/>
          </a:xfrm>
          <a:prstGeom prst="rect">
            <a:avLst/>
          </a:prstGeom>
        </p:spPr>
      </p:pic>
      <p:sp>
        <p:nvSpPr>
          <p:cNvPr id="31" name="TextBox 30"/>
          <p:cNvSpPr txBox="1"/>
          <p:nvPr/>
        </p:nvSpPr>
        <p:spPr>
          <a:xfrm>
            <a:off x="9515612" y="453619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작업지시</a:t>
            </a:r>
          </a:p>
          <a:p>
            <a:pPr algn="ctr" eaLnBrk="0">
              <a:lnSpc>
                <a:spcPct val="110000"/>
              </a:lnSpc>
              <a:spcAft>
                <a:spcPts val="400"/>
              </a:spcAft>
            </a:pPr>
            <a:r>
              <a:rPr sz="1300" b="0">
                <a:solidFill>
                  <a:srgbClr val="1F2A3A"/>
                </a:solidFill>
                <a:latin typeface="맑은 고딕"/>
                <a:ea typeface="맑은 고딕"/>
                <a:cs typeface="맑은 고딕"/>
              </a:rPr>
              <a:t>11:15:58</a:t>
            </a:r>
          </a:p>
          <a:p>
            <a:pPr algn="ctr" eaLnBrk="0">
              <a:lnSpc>
                <a:spcPct val="110000"/>
              </a:lnSpc>
              <a:spcAft>
                <a:spcPts val="400"/>
              </a:spcAft>
            </a:pPr>
            <a:r>
              <a:rPr sz="1300" b="0">
                <a:solidFill>
                  <a:srgbClr val="1F2A3A"/>
                </a:solidFill>
                <a:latin typeface="맑은 고딕"/>
                <a:ea typeface="맑은 고딕"/>
                <a:cs typeface="맑은 고딕"/>
              </a:rPr>
              <a:t>WO-1010-C058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에이전트의 정보원과 도구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추천안에 든 정보가 어디에서 왔고, 에이전트가 어떤 길로 그것을 읽었는지 따라간다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 한 건에 들어간 정보의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추천안에 필요한 네 역할의 정보 중 온톨로지와 SOP는 같은 지식 그래프에 저장되어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pic>
        <p:nvPicPr>
          <p:cNvPr id="6" name="삽화:정보원.svg" descr="illust_1182367475028669170_17922245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24746" y="3187689"/>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온톨로지</a:t>
            </a:r>
          </a:p>
          <a:p>
            <a:pPr algn="ctr" eaLnBrk="0">
              <a:lnSpc>
                <a:spcPct val="110000"/>
              </a:lnSpc>
              <a:spcAft>
                <a:spcPts val="100"/>
              </a:spcAft>
            </a:pPr>
            <a:r>
              <a:rPr sz="1300" b="0">
                <a:solidFill>
                  <a:srgbClr val="556175"/>
                </a:solidFill>
                <a:latin typeface="맑은 고딕"/>
                <a:ea typeface="맑은 고딕"/>
                <a:cs typeface="맑은 고딕"/>
              </a:rPr>
              <a:t>원인 후보 셋</a:t>
            </a:r>
          </a:p>
        </p:txBody>
      </p:sp>
      <p:sp>
        <p:nvSpPr>
          <p:cNvPr id="8" name="TextBox 7"/>
          <p:cNvSpPr txBox="1"/>
          <p:nvPr/>
        </p:nvSpPr>
        <p:spPr>
          <a:xfrm>
            <a:off x="706557" y="5362315"/>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SOP</a:t>
            </a:r>
          </a:p>
          <a:p>
            <a:pPr algn="ctr" eaLnBrk="0">
              <a:lnSpc>
                <a:spcPct val="110000"/>
              </a:lnSpc>
              <a:spcAft>
                <a:spcPts val="100"/>
              </a:spcAft>
            </a:pPr>
            <a:r>
              <a:rPr sz="1300" b="0">
                <a:solidFill>
                  <a:srgbClr val="556175"/>
                </a:solidFill>
                <a:latin typeface="맑은 고딕"/>
                <a:ea typeface="맑은 고딕"/>
                <a:cs typeface="맑은 고딕"/>
              </a:rPr>
              <a:t>팬 최대 운전의 단계와 출처</a:t>
            </a:r>
          </a:p>
        </p:txBody>
      </p:sp>
      <p:sp>
        <p:nvSpPr>
          <p:cNvPr id="9" name="TextBox 8"/>
          <p:cNvSpPr txBox="1"/>
          <p:nvPr/>
        </p:nvSpPr>
        <p:spPr>
          <a:xfrm>
            <a:off x="8648669" y="3187689"/>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DB</a:t>
            </a:r>
          </a:p>
          <a:p>
            <a:pPr algn="ctr" eaLnBrk="0">
              <a:lnSpc>
                <a:spcPct val="110000"/>
              </a:lnSpc>
              <a:spcAft>
                <a:spcPts val="100"/>
              </a:spcAft>
            </a:pPr>
            <a:r>
              <a:rPr sz="1300" b="0">
                <a:solidFill>
                  <a:srgbClr val="556175"/>
                </a:solidFill>
                <a:latin typeface="맑은 고딕"/>
                <a:ea typeface="맑은 고딕"/>
                <a:cs typeface="맑은 고딕"/>
              </a:rPr>
              <a:t>냉각 효율 46.2 %</a:t>
            </a:r>
          </a:p>
        </p:txBody>
      </p:sp>
      <p:sp>
        <p:nvSpPr>
          <p:cNvPr id="10" name="TextBox 9"/>
          <p:cNvSpPr txBox="1"/>
          <p:nvPr/>
        </p:nvSpPr>
        <p:spPr>
          <a:xfrm>
            <a:off x="8648669" y="5362315"/>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a:t>
            </a:r>
          </a:p>
          <a:p>
            <a:pPr algn="ctr" eaLnBrk="0">
              <a:lnSpc>
                <a:spcPct val="110000"/>
              </a:lnSpc>
              <a:spcAft>
                <a:spcPts val="100"/>
              </a:spcAft>
            </a:pPr>
            <a:r>
              <a:rPr sz="1300" b="0">
                <a:solidFill>
                  <a:srgbClr val="556175"/>
                </a:solidFill>
                <a:latin typeface="맑은 고딕"/>
                <a:ea typeface="맑은 고딕"/>
                <a:cs typeface="맑은 고딕"/>
              </a:rPr>
              <a:t>납기까지 5.98시간</a:t>
            </a:r>
          </a:p>
        </p:txBody>
      </p:sp>
      <p:sp>
        <p:nvSpPr>
          <p:cNvPr id="11" name="TextBox 10"/>
          <p:cNvSpPr txBox="1"/>
          <p:nvPr/>
        </p:nvSpPr>
        <p:spPr>
          <a:xfrm>
            <a:off x="4895803" y="4416826"/>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a:t>
            </a:r>
          </a:p>
          <a:p>
            <a:pPr algn="ctr" eaLnBrk="0">
              <a:lnSpc>
                <a:spcPct val="110000"/>
              </a:lnSpc>
              <a:spcAft>
                <a:spcPts val="100"/>
              </a:spcAft>
            </a:pPr>
            <a:r>
              <a:rPr sz="1300" b="0">
                <a:solidFill>
                  <a:srgbClr val="556175"/>
                </a:solidFill>
                <a:latin typeface="맑은 고딕"/>
                <a:ea typeface="맑은 고딕"/>
                <a:cs typeface="맑은 고딕"/>
              </a:rPr>
              <a:t>냉각 긴급 대응 에이전트</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네 정보원이 답하는 물음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네 정보원은 답하는 물음이 서로 달라, 물음에 맞지 않는 곳을 읽으면 답이 없거나 낡은 답을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8837"/>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532456"/>
            <a:ext cx="424281" cy="424281"/>
          </a:xfrm>
          <a:prstGeom prst="rect">
            <a:avLst/>
          </a:prstGeom>
        </p:spPr>
      </p:pic>
      <p:sp>
        <p:nvSpPr>
          <p:cNvPr id="9" name="TextBox 8"/>
          <p:cNvSpPr txBox="1"/>
          <p:nvPr/>
        </p:nvSpPr>
        <p:spPr>
          <a:xfrm>
            <a:off x="713232"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온톨로지</a:t>
            </a:r>
          </a:p>
          <a:p>
            <a:pPr algn="l" eaLnBrk="0" marL="200025" indent="-200025">
              <a:lnSpc>
                <a:spcPct val="110000"/>
              </a:lnSpc>
              <a:spcAft>
                <a:spcPts val="400"/>
              </a:spcAft>
            </a:pPr>
            <a:r>
              <a:rPr sz="1750" b="0">
                <a:solidFill>
                  <a:srgbClr val="1F2A3A"/>
                </a:solidFill>
                <a:latin typeface="맑은 고딕"/>
                <a:ea typeface="맑은 고딕"/>
                <a:cs typeface="맑은 고딕"/>
              </a:rPr>
              <a:t>• 무엇과 무엇이 어떤 관계인가</a:t>
            </a:r>
          </a:p>
          <a:p>
            <a:pPr algn="l" eaLnBrk="0" marL="200025" indent="-200025">
              <a:lnSpc>
                <a:spcPct val="110000"/>
              </a:lnSpc>
              <a:spcAft>
                <a:spcPts val="400"/>
              </a:spcAft>
            </a:pPr>
            <a:r>
              <a:rPr sz="1750" b="0">
                <a:solidFill>
                  <a:srgbClr val="1F2A3A"/>
                </a:solidFill>
                <a:latin typeface="맑은 고딕"/>
                <a:ea typeface="맑은 고딕"/>
                <a:cs typeface="맑은 고딕"/>
              </a:rPr>
              <a:t>• 설비, 증상, 원인, 조치의 관계를 담는다</a:t>
            </a:r>
          </a:p>
        </p:txBody>
      </p:sp>
      <p:sp>
        <p:nvSpPr>
          <p:cNvPr id="10" name="Rounded Rectangle 9"/>
          <p:cNvSpPr/>
          <p:nvPr/>
        </p:nvSpPr>
        <p:spPr>
          <a:xfrm>
            <a:off x="777240" y="5375275"/>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5275"/>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문서 개정 때 바뀐다</a:t>
            </a:r>
          </a:p>
        </p:txBody>
      </p:sp>
      <p:sp>
        <p:nvSpPr>
          <p:cNvPr id="12" name="Rounded Rectangle 11"/>
          <p:cNvSpPr/>
          <p:nvPr/>
        </p:nvSpPr>
        <p:spPr>
          <a:xfrm>
            <a:off x="3390823"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8837"/>
            <a:ext cx="731520" cy="731520"/>
          </a:xfrm>
          <a:prstGeom prst="ellipse">
            <a:avLst/>
          </a:prstGeom>
          <a:solidFill>
            <a:srgbClr val="E7F3FD"/>
          </a:solidFill>
          <a:ln>
            <a:noFill/>
          </a:ln>
        </p:spPr>
        <p:txBody>
          <a:bodyPr rtlCol="0" anchor="ctr"/>
          <a:lstStyle/>
          <a:p>
            <a:pPr algn="ctr"/>
          </a:p>
        </p:txBody>
      </p:sp>
      <p:pic>
        <p:nvPicPr>
          <p:cNvPr id="14" name="아이콘:chart-line" descr="chart-line_13294B_1.6.png"/>
          <p:cNvPicPr>
            <a:picLocks noChangeAspect="1"/>
          </p:cNvPicPr>
          <p:nvPr/>
        </p:nvPicPr>
        <p:blipFill>
          <a:blip r:embed="rId4"/>
          <a:stretch>
            <a:fillRect/>
          </a:stretch>
        </p:blipFill>
        <p:spPr>
          <a:xfrm>
            <a:off x="3773043" y="2532456"/>
            <a:ext cx="424281" cy="424281"/>
          </a:xfrm>
          <a:prstGeom prst="rect">
            <a:avLst/>
          </a:prstGeom>
        </p:spPr>
      </p:pic>
      <p:sp>
        <p:nvSpPr>
          <p:cNvPr id="15" name="TextBox 14"/>
          <p:cNvSpPr txBox="1"/>
          <p:nvPr/>
        </p:nvSpPr>
        <p:spPr>
          <a:xfrm>
            <a:off x="3555415"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시계열 DB</a:t>
            </a:r>
          </a:p>
          <a:p>
            <a:pPr algn="l" eaLnBrk="0" marL="200025" indent="-200025">
              <a:lnSpc>
                <a:spcPct val="110000"/>
              </a:lnSpc>
              <a:spcAft>
                <a:spcPts val="400"/>
              </a:spcAft>
            </a:pPr>
            <a:r>
              <a:rPr sz="1750" b="0">
                <a:solidFill>
                  <a:srgbClr val="1F2A3A"/>
                </a:solidFill>
                <a:latin typeface="맑은 고딕"/>
                <a:ea typeface="맑은 고딕"/>
                <a:cs typeface="맑은 고딕"/>
              </a:rPr>
              <a:t>• 그 시각의 값이 얼마였는가</a:t>
            </a:r>
          </a:p>
          <a:p>
            <a:pPr algn="l" eaLnBrk="0" marL="200025" indent="-200025">
              <a:lnSpc>
                <a:spcPct val="110000"/>
              </a:lnSpc>
              <a:spcAft>
                <a:spcPts val="400"/>
              </a:spcAft>
            </a:pPr>
            <a:r>
              <a:rPr sz="1750" b="0">
                <a:solidFill>
                  <a:srgbClr val="1F2A3A"/>
                </a:solidFill>
                <a:latin typeface="맑은 고딕"/>
                <a:ea typeface="맑은 고딕"/>
                <a:cs typeface="맑은 고딕"/>
              </a:rPr>
              <a:t>• 센서의 측정값을 시간 순서로 쌓는다</a:t>
            </a:r>
          </a:p>
        </p:txBody>
      </p:sp>
      <p:sp>
        <p:nvSpPr>
          <p:cNvPr id="16" name="Rounded Rectangle 15"/>
          <p:cNvSpPr/>
          <p:nvPr/>
        </p:nvSpPr>
        <p:spPr>
          <a:xfrm>
            <a:off x="3619423" y="5375275"/>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527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계속 바뀐다</a:t>
            </a:r>
          </a:p>
        </p:txBody>
      </p:sp>
      <p:sp>
        <p:nvSpPr>
          <p:cNvPr id="18" name="Rounded Rectangle 17"/>
          <p:cNvSpPr/>
          <p:nvPr/>
        </p:nvSpPr>
        <p:spPr>
          <a:xfrm>
            <a:off x="6233007"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8837"/>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532456"/>
            <a:ext cx="424281" cy="424281"/>
          </a:xfrm>
          <a:prstGeom prst="rect">
            <a:avLst/>
          </a:prstGeom>
        </p:spPr>
      </p:pic>
      <p:sp>
        <p:nvSpPr>
          <p:cNvPr id="21" name="TextBox 20"/>
          <p:cNvSpPr txBox="1"/>
          <p:nvPr/>
        </p:nvSpPr>
        <p:spPr>
          <a:xfrm>
            <a:off x="6397599"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업무 DB</a:t>
            </a:r>
          </a:p>
          <a:p>
            <a:pPr algn="l" eaLnBrk="0" marL="200025" indent="-200025">
              <a:lnSpc>
                <a:spcPct val="110000"/>
              </a:lnSpc>
              <a:spcAft>
                <a:spcPts val="400"/>
              </a:spcAft>
            </a:pPr>
            <a:r>
              <a:rPr sz="1750" b="0">
                <a:solidFill>
                  <a:srgbClr val="1F2A3A"/>
                </a:solidFill>
                <a:latin typeface="맑은 고딕"/>
                <a:ea typeface="맑은 고딕"/>
                <a:cs typeface="맑은 고딕"/>
              </a:rPr>
              <a:t>• 정비, 재고, 납기는 어떤 상태인가</a:t>
            </a:r>
          </a:p>
          <a:p>
            <a:pPr algn="l" eaLnBrk="0" marL="200025" indent="-200025">
              <a:lnSpc>
                <a:spcPct val="110000"/>
              </a:lnSpc>
              <a:spcAft>
                <a:spcPts val="400"/>
              </a:spcAft>
            </a:pPr>
            <a:r>
              <a:rPr sz="1750" b="0">
                <a:solidFill>
                  <a:srgbClr val="1F2A3A"/>
                </a:solidFill>
                <a:latin typeface="맑은 고딕"/>
                <a:ea typeface="맑은 고딕"/>
                <a:cs typeface="맑은 고딕"/>
              </a:rPr>
              <a:t>• 업무 시스템의 기록을 담는다</a:t>
            </a:r>
          </a:p>
        </p:txBody>
      </p:sp>
      <p:sp>
        <p:nvSpPr>
          <p:cNvPr id="22" name="Rounded Rectangle 21"/>
          <p:cNvSpPr/>
          <p:nvPr/>
        </p:nvSpPr>
        <p:spPr>
          <a:xfrm>
            <a:off x="6461607" y="5375275"/>
            <a:ext cx="16763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5275"/>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업무 때마다 바뀐다</a:t>
            </a:r>
          </a:p>
        </p:txBody>
      </p:sp>
      <p:sp>
        <p:nvSpPr>
          <p:cNvPr id="24" name="Rounded Rectangle 23"/>
          <p:cNvSpPr/>
          <p:nvPr/>
        </p:nvSpPr>
        <p:spPr>
          <a:xfrm>
            <a:off x="9075191" y="2177668"/>
            <a:ext cx="2567863" cy="36273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8837"/>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32456"/>
            <a:ext cx="424281" cy="424281"/>
          </a:xfrm>
          <a:prstGeom prst="rect">
            <a:avLst/>
          </a:prstGeom>
        </p:spPr>
      </p:pic>
      <p:sp>
        <p:nvSpPr>
          <p:cNvPr id="27" name="TextBox 26"/>
          <p:cNvSpPr txBox="1"/>
          <p:nvPr/>
        </p:nvSpPr>
        <p:spPr>
          <a:xfrm>
            <a:off x="9239783"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SOP</a:t>
            </a:r>
          </a:p>
          <a:p>
            <a:pPr algn="l" eaLnBrk="0" marL="200025" indent="-200025">
              <a:lnSpc>
                <a:spcPct val="110000"/>
              </a:lnSpc>
              <a:spcAft>
                <a:spcPts val="400"/>
              </a:spcAft>
            </a:pPr>
            <a:r>
              <a:rPr sz="1750" b="0">
                <a:solidFill>
                  <a:srgbClr val="1F2A3A"/>
                </a:solidFill>
                <a:latin typeface="맑은 고딕"/>
                <a:ea typeface="맑은 고딕"/>
                <a:cs typeface="맑은 고딕"/>
              </a:rPr>
              <a:t>• 조치를 어떻게 수행하는가</a:t>
            </a:r>
          </a:p>
          <a:p>
            <a:pPr algn="l" eaLnBrk="0" marL="200025" indent="-200025">
              <a:lnSpc>
                <a:spcPct val="110000"/>
              </a:lnSpc>
              <a:spcAft>
                <a:spcPts val="400"/>
              </a:spcAft>
            </a:pPr>
            <a:r>
              <a:rPr sz="1750" b="0">
                <a:solidFill>
                  <a:srgbClr val="1F2A3A"/>
                </a:solidFill>
                <a:latin typeface="맑은 고딕"/>
                <a:ea typeface="맑은 고딕"/>
                <a:cs typeface="맑은 고딕"/>
              </a:rPr>
              <a:t>• 단계, 승인 역할, 근거 절을 정해 둔다</a:t>
            </a:r>
          </a:p>
        </p:txBody>
      </p:sp>
      <p:sp>
        <p:nvSpPr>
          <p:cNvPr id="28" name="Rounded Rectangle 27"/>
          <p:cNvSpPr/>
          <p:nvPr/>
        </p:nvSpPr>
        <p:spPr>
          <a:xfrm>
            <a:off x="9303791" y="5375275"/>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5275"/>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문서 개정 때 바뀐다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그래프에서 읽는 것: 원인 후보와 조치 방법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온톨로지의 관계와 SOP는 같은 지식 그래프에 있어, 고장 유형에서 관계를 따라가면 원인 후보와 조치 방법에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Oval 5"/>
          <p:cNvSpPr/>
          <p:nvPr/>
        </p:nvSpPr>
        <p:spPr>
          <a:xfrm>
            <a:off x="92292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044537"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핀 오염</a:t>
            </a:r>
          </a:p>
          <a:p>
            <a:pPr algn="ctr" eaLnBrk="0">
              <a:lnSpc>
                <a:spcPct val="110000"/>
              </a:lnSpc>
            </a:pPr>
            <a:r>
              <a:rPr sz="1000" b="0">
                <a:solidFill>
                  <a:srgbClr val="556175"/>
                </a:solidFill>
                <a:latin typeface="맑은 고딕"/>
                <a:ea typeface="맑은 고딕"/>
                <a:cs typeface="맑은 고딕"/>
              </a:rPr>
              <a:t>원인 · 사전 확률 0.6</a:t>
            </a:r>
          </a:p>
        </p:txBody>
      </p:sp>
      <p:sp>
        <p:nvSpPr>
          <p:cNvPr id="8" name="Oval 7"/>
          <p:cNvSpPr/>
          <p:nvPr/>
        </p:nvSpPr>
        <p:spPr>
          <a:xfrm>
            <a:off x="429146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4413077"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팬 구동 불량</a:t>
            </a:r>
          </a:p>
          <a:p>
            <a:pPr algn="ctr" eaLnBrk="0">
              <a:lnSpc>
                <a:spcPct val="110000"/>
              </a:lnSpc>
            </a:pPr>
            <a:r>
              <a:rPr sz="1000" b="0">
                <a:solidFill>
                  <a:srgbClr val="556175"/>
                </a:solidFill>
                <a:latin typeface="맑은 고딕"/>
                <a:ea typeface="맑은 고딕"/>
                <a:cs typeface="맑은 고딕"/>
              </a:rPr>
              <a:t>원인 · 사전 확률 0.2</a:t>
            </a:r>
          </a:p>
        </p:txBody>
      </p:sp>
      <p:sp>
        <p:nvSpPr>
          <p:cNvPr id="10" name="Oval 9"/>
          <p:cNvSpPr/>
          <p:nvPr/>
        </p:nvSpPr>
        <p:spPr>
          <a:xfrm>
            <a:off x="7660001"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781617"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주변 온도 상승</a:t>
            </a:r>
          </a:p>
          <a:p>
            <a:pPr algn="ctr" eaLnBrk="0">
              <a:lnSpc>
                <a:spcPct val="110000"/>
              </a:lnSpc>
            </a:pPr>
            <a:r>
              <a:rPr sz="1000" b="0">
                <a:solidFill>
                  <a:srgbClr val="556175"/>
                </a:solidFill>
                <a:latin typeface="맑은 고딕"/>
                <a:ea typeface="맑은 고딕"/>
                <a:cs typeface="맑은 고딕"/>
              </a:rPr>
              <a:t>원인 · 사전 확률 0.2</a:t>
            </a:r>
          </a:p>
        </p:txBody>
      </p:sp>
      <p:sp>
        <p:nvSpPr>
          <p:cNvPr id="12" name="Oval 11"/>
          <p:cNvSpPr/>
          <p:nvPr/>
        </p:nvSpPr>
        <p:spPr>
          <a:xfrm>
            <a:off x="4291462" y="4617720"/>
            <a:ext cx="1737360" cy="173736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4413077" y="4947818"/>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냉각 성능 상실</a:t>
            </a:r>
          </a:p>
          <a:p>
            <a:pPr algn="ctr" eaLnBrk="0">
              <a:lnSpc>
                <a:spcPct val="110000"/>
              </a:lnSpc>
            </a:pPr>
            <a:r>
              <a:rPr sz="1100" b="0">
                <a:solidFill>
                  <a:srgbClr val="556175"/>
                </a:solidFill>
                <a:latin typeface="맑은 고딕"/>
                <a:ea typeface="맑은 고딕"/>
                <a:cs typeface="맑은 고딕"/>
              </a:rPr>
              <a:t>고장 유형</a:t>
            </a:r>
          </a:p>
        </p:txBody>
      </p:sp>
      <p:sp>
        <p:nvSpPr>
          <p:cNvPr id="14" name="Oval 13"/>
          <p:cNvSpPr/>
          <p:nvPr/>
        </p:nvSpPr>
        <p:spPr>
          <a:xfrm>
            <a:off x="9531412"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653028" y="4947818"/>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팬 최대 운전</a:t>
            </a:r>
          </a:p>
          <a:p>
            <a:pPr algn="ctr" eaLnBrk="0">
              <a:lnSpc>
                <a:spcPct val="110000"/>
              </a:lnSpc>
            </a:pPr>
            <a:r>
              <a:rPr sz="1100" b="0">
                <a:solidFill>
                  <a:srgbClr val="556175"/>
                </a:solidFill>
                <a:latin typeface="맑은 고딕"/>
                <a:ea typeface="맑은 고딕"/>
                <a:cs typeface="맑은 고딕"/>
              </a:rPr>
              <a:t>조치 방법</a:t>
            </a:r>
          </a:p>
          <a:p>
            <a:pPr algn="ctr" eaLnBrk="0">
              <a:lnSpc>
                <a:spcPct val="110000"/>
              </a:lnSpc>
            </a:pPr>
            <a:r>
              <a:rPr sz="1100" b="0">
                <a:solidFill>
                  <a:srgbClr val="556175"/>
                </a:solidFill>
                <a:latin typeface="맑은 고딕"/>
                <a:ea typeface="맑은 고딕"/>
                <a:cs typeface="맑은 고딕"/>
              </a:rPr>
              <a:t>SOP-COOL-11</a:t>
            </a:r>
          </a:p>
        </p:txBody>
      </p:sp>
      <p:cxnSp>
        <p:nvCxnSpPr>
          <p:cNvPr id="16" name="Connector 15"/>
          <p:cNvCxnSpPr/>
          <p:nvPr/>
        </p:nvCxnSpPr>
        <p:spPr>
          <a:xfrm>
            <a:off x="2475453" y="3103333"/>
            <a:ext cx="1980322" cy="1757835"/>
          </a:xfrm>
          <a:prstGeom prst="line">
            <a:avLst/>
          </a:prstGeom>
          <a:ln w="28575">
            <a:solidFill>
              <a:srgbClr val="13294B"/>
            </a:solidFill>
            <a:tailEnd type="triangle" w="med" len="med"/>
          </a:ln>
        </p:spPr>
      </p:cxnSp>
      <p:sp>
        <p:nvSpPr>
          <p:cNvPr id="17" name="Rounded Rectangle 16"/>
          <p:cNvSpPr/>
          <p:nvPr/>
        </p:nvSpPr>
        <p:spPr>
          <a:xfrm>
            <a:off x="3007903"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3007903" y="3616490"/>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cxnSp>
        <p:nvCxnSpPr>
          <p:cNvPr id="19" name="Connector 18"/>
          <p:cNvCxnSpPr/>
          <p:nvPr/>
        </p:nvCxnSpPr>
        <p:spPr>
          <a:xfrm>
            <a:off x="5160142" y="3410712"/>
            <a:ext cx="0" cy="1133856"/>
          </a:xfrm>
          <a:prstGeom prst="line">
            <a:avLst/>
          </a:prstGeom>
          <a:ln w="28575">
            <a:solidFill>
              <a:srgbClr val="13294B"/>
            </a:solidFill>
            <a:tailEnd type="triangle" w="med" len="med"/>
          </a:ln>
        </p:spPr>
      </p:cxnSp>
      <p:sp>
        <p:nvSpPr>
          <p:cNvPr id="20" name="Rounded Rectangle 19"/>
          <p:cNvSpPr/>
          <p:nvPr/>
        </p:nvSpPr>
        <p:spPr>
          <a:xfrm>
            <a:off x="5251582" y="3831335"/>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5251582" y="3831335"/>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cxnSp>
        <p:nvCxnSpPr>
          <p:cNvPr id="22" name="Connector 21"/>
          <p:cNvCxnSpPr/>
          <p:nvPr/>
        </p:nvCxnSpPr>
        <p:spPr>
          <a:xfrm flipH="1">
            <a:off x="5864508" y="3103333"/>
            <a:ext cx="1980322" cy="1757835"/>
          </a:xfrm>
          <a:prstGeom prst="line">
            <a:avLst/>
          </a:prstGeom>
          <a:ln w="28575">
            <a:solidFill>
              <a:srgbClr val="13294B"/>
            </a:solidFill>
            <a:tailEnd type="triangle" w="med" len="med"/>
          </a:ln>
        </p:spPr>
      </p:cxnSp>
      <p:sp>
        <p:nvSpPr>
          <p:cNvPr id="23" name="Rounded Rectangle 22"/>
          <p:cNvSpPr/>
          <p:nvPr/>
        </p:nvSpPr>
        <p:spPr>
          <a:xfrm>
            <a:off x="6396959"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6396959" y="3616490"/>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cxnSp>
        <p:nvCxnSpPr>
          <p:cNvPr id="25" name="Connector 24"/>
          <p:cNvCxnSpPr/>
          <p:nvPr/>
        </p:nvCxnSpPr>
        <p:spPr>
          <a:xfrm>
            <a:off x="6074542" y="5486400"/>
            <a:ext cx="3383718" cy="0"/>
          </a:xfrm>
          <a:prstGeom prst="line">
            <a:avLst/>
          </a:prstGeom>
          <a:ln w="28575">
            <a:solidFill>
              <a:srgbClr val="13294B"/>
            </a:solidFill>
            <a:tailEnd type="triangle" w="med" len="med"/>
          </a:ln>
        </p:spPr>
      </p:cxnSp>
      <p:sp>
        <p:nvSpPr>
          <p:cNvPr id="26" name="Rounded Rectangle 25"/>
          <p:cNvSpPr/>
          <p:nvPr/>
        </p:nvSpPr>
        <p:spPr>
          <a:xfrm>
            <a:off x="6996757" y="512064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6996757" y="5120640"/>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MITIGATED_BY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시계열 DB에서 읽는 것: 판단하는 순간의 측정값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등록된 기간과 집계 방식으로 값을 읽고 기준과 비교하며, 관측 시각과 공백도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증거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방법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CE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a:t>
            </a:r>
          </a:p>
          <a:p>
            <a:pPr algn="l" eaLnBrk="0">
              <a:lnSpc>
                <a:spcPct val="110000"/>
              </a:lnSpc>
              <a:spcAft>
                <a:spcPts val="200"/>
              </a:spcAft>
            </a:pP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46.2</a:t>
            </a:r>
          </a:p>
          <a:p>
            <a:pPr algn="l" eaLnBrk="0">
              <a:lnSpc>
                <a:spcPct val="110000"/>
              </a:lnSpc>
              <a:spcAft>
                <a:spcPts val="200"/>
              </a:spcAft>
            </a:pP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&lt; 70</a:t>
            </a:r>
          </a:p>
          <a:p>
            <a:pPr algn="l" eaLnBrk="0">
              <a:lnSpc>
                <a:spcPct val="110000"/>
              </a:lnSpc>
              <a:spcAft>
                <a:spcPts val="200"/>
              </a:spcAft>
            </a:pPr>
            <a:r>
              <a:rPr sz="1300" b="0">
                <a:solidFill>
                  <a:srgbClr val="E8EEF6"/>
                </a:solidFill>
                <a:latin typeface="맑은 고딕"/>
                <a:ea typeface="맑은 고딕"/>
                <a:cs typeface="맑은 고딕"/>
              </a:rPr>
              <a:t>판정</a:t>
            </a:r>
            <a:r>
              <a:rPr sz="1300" b="0">
                <a:solidFill>
                  <a:srgbClr val="E8EEF6"/>
                </a:solidFill>
                <a:latin typeface="Consolas"/>
                <a:ea typeface="맑은 고딕"/>
                <a:cs typeface="맑은 고딕"/>
              </a:rPr>
              <a:t>        PASS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관측이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충분했는가</a:t>
            </a:r>
          </a:p>
          <a:p>
            <a:pPr algn="l" eaLnBrk="0">
              <a:lnSpc>
                <a:spcPct val="110000"/>
              </a:lnSpc>
              <a:spcAft>
                <a:spcPts val="200"/>
              </a:spcAft>
            </a:pPr>
            <a:r>
              <a:rPr sz="1300" b="0">
                <a:solidFill>
                  <a:srgbClr val="E8EEF6"/>
                </a:solidFill>
                <a:latin typeface="Consolas"/>
                <a:ea typeface="맑은 고딕"/>
                <a:cs typeface="맑은 고딕"/>
              </a:rPr>
              <a:t>coverage: {"samples": 30,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읽은 방법</a:t>
            </a:r>
          </a:p>
          <a:p>
            <a:pPr algn="l" eaLnBrk="0">
              <a:lnSpc>
                <a:spcPct val="110000"/>
              </a:lnSpc>
              <a:spcAft>
                <a:spcPts val="400"/>
              </a:spcAft>
            </a:pPr>
            <a:r>
              <a:rPr sz="1400" b="0">
                <a:solidFill>
                  <a:srgbClr val="1F2A3A"/>
                </a:solidFill>
                <a:latin typeface="맑은 고딕"/>
                <a:ea typeface="맑은 고딕"/>
                <a:cs typeface="맑은 고딕"/>
              </a:rPr>
              <a:t>지식 그래프의 증거에 적힌 방법 그대로이다. 에이전트가 짓지 않는다.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읽은 값과 기준</a:t>
            </a:r>
          </a:p>
          <a:p>
            <a:pPr algn="l" eaLnBrk="0">
              <a:lnSpc>
                <a:spcPct val="110000"/>
              </a:lnSpc>
              <a:spcAft>
                <a:spcPts val="400"/>
              </a:spcAft>
            </a:pPr>
            <a:r>
              <a:rPr sz="1400" b="0">
                <a:solidFill>
                  <a:srgbClr val="1F2A3A"/>
                </a:solidFill>
                <a:latin typeface="맑은 고딕"/>
                <a:ea typeface="맑은 고딕"/>
                <a:cs typeface="맑은 고딕"/>
              </a:rPr>
              <a:t>46.2는 시계열 DB에서, 70은 지식 그래프에서 왔다.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coverage</a:t>
            </a:r>
          </a:p>
          <a:p>
            <a:pPr algn="l" eaLnBrk="0">
              <a:lnSpc>
                <a:spcPct val="110000"/>
              </a:lnSpc>
              <a:spcAft>
                <a:spcPts val="400"/>
              </a:spcAft>
            </a:pPr>
            <a:r>
              <a:rPr sz="1400" b="0">
                <a:solidFill>
                  <a:srgbClr val="1F2A3A"/>
                </a:solidFill>
                <a:latin typeface="맑은 고딕"/>
                <a:ea typeface="맑은 고딕"/>
                <a:cs typeface="맑은 고딕"/>
              </a:rPr>
              <a:t>30초 동안 표본이 30개 있었다. 값이 빈 구간이 길면 판정을 미룬다.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 DB에서 읽는 것: 설비 밖의 사정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납기와 남은 수량은 설비의 센서로는 알 수 없고 업무 DB에 있으며, 조치가 생산에 주는 영향을 견주는 재료가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물음</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받음</a:t>
            </a:r>
          </a:p>
          <a:p>
            <a:pPr algn="l" eaLnBrk="0">
              <a:lnSpc>
                <a:spcPct val="110000"/>
              </a:lnSpc>
              <a:spcAft>
                <a:spcPts val="200"/>
              </a:spcAft>
            </a:pPr>
            <a:r>
              <a:rPr sz="1300" b="0">
                <a:solidFill>
                  <a:srgbClr val="E8EEF6"/>
                </a:solidFill>
                <a:latin typeface="Consolas"/>
                <a:ea typeface="맑은 고딕"/>
                <a:cs typeface="맑은 고딕"/>
              </a:rPr>
              <a:t>{"result": "ok",</a:t>
            </a:r>
          </a:p>
          <a:p>
            <a:pPr algn="l" eaLnBrk="0">
              <a:lnSpc>
                <a:spcPct val="110000"/>
              </a:lnSpc>
              <a:spcAft>
                <a:spcPts val="200"/>
              </a:spcAft>
            </a:pPr>
            <a:r>
              <a:rPr sz="1300" b="0">
                <a:solidFill>
                  <a:srgbClr val="E8EEF6"/>
                </a:solidFill>
                <a:latin typeface="Consolas"/>
                <a:ea typeface="맑은 고딕"/>
                <a:cs typeface="맑은 고딕"/>
              </a:rPr>
              <a:t> "document": {</a:t>
            </a:r>
          </a:p>
          <a:p>
            <a:pPr algn="l" eaLnBrk="0">
              <a:lnSpc>
                <a:spcPct val="110000"/>
              </a:lnSpc>
              <a:spcAft>
                <a:spcPts val="200"/>
              </a:spcAft>
            </a:pPr>
            <a:r>
              <a:rPr sz="1300" b="0">
                <a:solidFill>
                  <a:srgbClr val="E8EEF6"/>
                </a:solidFill>
                <a:latin typeface="Consolas"/>
                <a:ea typeface="맑은 고딕"/>
                <a:cs typeface="맑은 고딕"/>
              </a:rPr>
              <a:t>  "system": "MES",</a:t>
            </a:r>
          </a:p>
          <a:p>
            <a:pPr algn="l" eaLnBrk="0">
              <a:lnSpc>
                <a:spcPct val="110000"/>
              </a:lnSpc>
              <a:spcAft>
                <a:spcPts val="200"/>
              </a:spcAft>
            </a:pPr>
            <a:r>
              <a:rPr sz="1300" b="0">
                <a:solidFill>
                  <a:srgbClr val="E8EEF6"/>
                </a:solidFill>
                <a:latin typeface="Consolas"/>
                <a:ea typeface="맑은 고딕"/>
                <a:cs typeface="맑은 고딕"/>
              </a:rPr>
              <a:t>  "facts": {</a:t>
            </a:r>
          </a:p>
          <a:p>
            <a:pPr algn="l" eaLnBrk="0">
              <a:lnSpc>
                <a:spcPct val="110000"/>
              </a:lnSpc>
              <a:spcAft>
                <a:spcPts val="200"/>
              </a:spcAft>
            </a:pPr>
            <a:r>
              <a:rPr sz="1300" b="0">
                <a:solidFill>
                  <a:srgbClr val="E8EEF6"/>
                </a:solidFill>
                <a:latin typeface="Consolas"/>
                <a:ea typeface="맑은 고딕"/>
                <a:cs typeface="맑은 고딕"/>
              </a:rPr>
              <a:t>    "order_id": "MO-0930-0412",</a:t>
            </a:r>
          </a:p>
          <a:p>
            <a:pPr algn="l" eaLnBrk="0">
              <a:lnSpc>
                <a:spcPct val="110000"/>
              </a:lnSpc>
              <a:spcAft>
                <a:spcPts val="200"/>
              </a:spcAft>
            </a:pPr>
            <a:r>
              <a:rPr sz="1300" b="0">
                <a:solidFill>
                  <a:srgbClr val="E8EEF6"/>
                </a:solidFill>
                <a:latin typeface="Consolas"/>
                <a:ea typeface="맑은 고딕"/>
                <a:cs typeface="맑은 고딕"/>
              </a:rPr>
              <a:t>    "due_in_h": 5.98,</a:t>
            </a:r>
          </a:p>
          <a:p>
            <a:pPr algn="l" eaLnBrk="0">
              <a:lnSpc>
                <a:spcPct val="110000"/>
              </a:lnSpc>
              <a:spcAft>
                <a:spcPts val="200"/>
              </a:spcAft>
            </a:pPr>
            <a:r>
              <a:rPr sz="1300" b="0">
                <a:solidFill>
                  <a:srgbClr val="E8EEF6"/>
                </a:solidFill>
                <a:latin typeface="Consolas"/>
                <a:ea typeface="맑은 고딕"/>
                <a:cs typeface="맑은 고딕"/>
              </a:rPr>
              <a:t>    "remaining_qty": 1500,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system</a:t>
            </a:r>
          </a:p>
          <a:p>
            <a:pPr algn="l" eaLnBrk="0">
              <a:lnSpc>
                <a:spcPct val="110000"/>
              </a:lnSpc>
              <a:spcAft>
                <a:spcPts val="400"/>
              </a:spcAft>
            </a:pPr>
            <a:r>
              <a:rPr sz="1400" b="0">
                <a:solidFill>
                  <a:srgbClr val="1F2A3A"/>
                </a:solidFill>
                <a:latin typeface="맑은 고딕"/>
                <a:ea typeface="맑은 고딕"/>
                <a:cs typeface="맑은 고딕"/>
              </a:rPr>
              <a:t>값이 온 업무 시스템이다. 생산 일정을 관리하는 MES이다.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facts</a:t>
            </a:r>
          </a:p>
          <a:p>
            <a:pPr algn="l" eaLnBrk="0">
              <a:lnSpc>
                <a:spcPct val="110000"/>
              </a:lnSpc>
              <a:spcAft>
                <a:spcPts val="400"/>
              </a:spcAft>
            </a:pPr>
            <a:r>
              <a:rPr sz="1400" b="0">
                <a:solidFill>
                  <a:srgbClr val="1F2A3A"/>
                </a:solidFill>
                <a:latin typeface="맑은 고딕"/>
                <a:ea typeface="맑은 고딕"/>
                <a:cs typeface="맑은 고딕"/>
              </a:rPr>
              <a:t>판단에 쓰는 값이다. 납기까지 5.98시간, 남은 수량 1,500개이다.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품질 쪽 조회</a:t>
            </a:r>
          </a:p>
          <a:p>
            <a:pPr algn="l" eaLnBrk="0">
              <a:lnSpc>
                <a:spcPct val="110000"/>
              </a:lnSpc>
              <a:spcAft>
                <a:spcPts val="400"/>
              </a:spcAft>
            </a:pPr>
            <a:r>
              <a:rPr sz="1400" b="0">
                <a:solidFill>
                  <a:srgbClr val="1F2A3A"/>
                </a:solidFill>
                <a:latin typeface="맑은 고딕"/>
                <a:ea typeface="맑은 고딕"/>
                <a:cs typeface="맑은 고딕"/>
              </a:rPr>
              <a:t>같은 방식으로 출하 대기 로트 L-0930-A17의 800개를 읽었다.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HYD의 데이터베이스 접근: 읽기 전용 도구 경유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읽기 전용 도구와 행 수 · 시간 제한으로 DB 접근과 조회의 영향을 제한한다.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pic>
        <p:nvPicPr>
          <p:cNvPr id="6" name="삽화:도구경유.svg" descr="illust_222578338329341023_17922245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842296"/>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4273961" y="5031394"/>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도구</a:t>
            </a:r>
          </a:p>
          <a:p>
            <a:pPr algn="ctr" eaLnBrk="0">
              <a:lnSpc>
                <a:spcPct val="110000"/>
              </a:lnSpc>
              <a:spcAft>
                <a:spcPts val="100"/>
              </a:spcAft>
            </a:pPr>
            <a:r>
              <a:rPr sz="1300" b="0">
                <a:solidFill>
                  <a:srgbClr val="556175"/>
                </a:solidFill>
                <a:latin typeface="맑은 고딕"/>
                <a:ea typeface="맑은 고딕"/>
                <a:cs typeface="맑은 고딕"/>
              </a:rPr>
              <a:t>읽기 전용 계정</a:t>
            </a:r>
          </a:p>
        </p:txBody>
      </p:sp>
      <p:sp>
        <p:nvSpPr>
          <p:cNvPr id="9" name="TextBox 8"/>
          <p:cNvSpPr txBox="1"/>
          <p:nvPr/>
        </p:nvSpPr>
        <p:spPr>
          <a:xfrm>
            <a:off x="8768673" y="3849532"/>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DB</a:t>
            </a:r>
          </a:p>
        </p:txBody>
      </p:sp>
      <p:sp>
        <p:nvSpPr>
          <p:cNvPr id="10" name="TextBox 9"/>
          <p:cNvSpPr txBox="1"/>
          <p:nvPr/>
        </p:nvSpPr>
        <p:spPr>
          <a:xfrm>
            <a:off x="8768673" y="5740511"/>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a:t>
            </a:r>
          </a:p>
        </p:txBody>
      </p:sp>
      <p:sp>
        <p:nvSpPr>
          <p:cNvPr id="11" name="TextBox 10"/>
          <p:cNvSpPr txBox="1"/>
          <p:nvPr/>
        </p:nvSpPr>
        <p:spPr>
          <a:xfrm>
            <a:off x="3412111" y="356588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물음</a:t>
            </a:r>
          </a:p>
        </p:txBody>
      </p:sp>
      <p:sp>
        <p:nvSpPr>
          <p:cNvPr id="12" name="TextBox 11"/>
          <p:cNvSpPr txBox="1"/>
          <p:nvPr/>
        </p:nvSpPr>
        <p:spPr>
          <a:xfrm>
            <a:off x="3412111" y="4558649"/>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받음</a:t>
            </a:r>
          </a:p>
        </p:txBody>
      </p:sp>
      <p:sp>
        <p:nvSpPr>
          <p:cNvPr id="13" name="TextBox 12"/>
          <p:cNvSpPr txBox="1"/>
          <p:nvPr/>
        </p:nvSpPr>
        <p:spPr>
          <a:xfrm>
            <a:off x="4273961" y="2336749"/>
            <a:ext cx="327284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직접 접속</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지식과 현재값의 구분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기준을 잰 값처럼, 지난 값을 지금의 값처럼 쓰는 혼동을 규칙과 신선도로 막는다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지식과 현재값을 섞는 두 가지 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기준을 지금의 값처럼 말하는 것과 읽어 둔 값을 계속 쓰는 것, 두 혼동 모두 그럴듯한 문장으로 나타난다.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568321"/>
            <a:ext cx="5181447" cy="284607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69489"/>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923108"/>
            <a:ext cx="424281" cy="424281"/>
          </a:xfrm>
          <a:prstGeom prst="rect">
            <a:avLst/>
          </a:prstGeom>
        </p:spPr>
      </p:pic>
      <p:sp>
        <p:nvSpPr>
          <p:cNvPr id="9" name="TextBox 8"/>
          <p:cNvSpPr txBox="1"/>
          <p:nvPr/>
        </p:nvSpPr>
        <p:spPr>
          <a:xfrm>
            <a:off x="1691640" y="276948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기준을 값처럼 쓴다</a:t>
            </a:r>
          </a:p>
        </p:txBody>
      </p:sp>
      <p:sp>
        <p:nvSpPr>
          <p:cNvPr id="10" name="TextBox 9"/>
          <p:cNvSpPr txBox="1"/>
          <p:nvPr/>
        </p:nvSpPr>
        <p:spPr>
          <a:xfrm>
            <a:off x="822959" y="3619881"/>
            <a:ext cx="4632807" cy="124587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「냉각 효율은 70 %이다」</a:t>
            </a:r>
          </a:p>
          <a:p>
            <a:pPr algn="l" eaLnBrk="0" marL="171450" indent="-171450">
              <a:lnSpc>
                <a:spcPct val="110000"/>
              </a:lnSpc>
              <a:spcAft>
                <a:spcPts val="600"/>
              </a:spcAft>
            </a:pPr>
            <a:r>
              <a:rPr sz="1500" b="0">
                <a:solidFill>
                  <a:srgbClr val="1F2A3A"/>
                </a:solidFill>
                <a:latin typeface="맑은 고딕"/>
                <a:ea typeface="맑은 고딕"/>
                <a:cs typeface="맑은 고딕"/>
              </a:rPr>
              <a:t>• 70은 매뉴얼의 판별 기준이며 잰 값이 아니다</a:t>
            </a:r>
          </a:p>
          <a:p>
            <a:pPr algn="l" eaLnBrk="0" marL="171450" indent="-171450">
              <a:lnSpc>
                <a:spcPct val="110000"/>
              </a:lnSpc>
              <a:spcAft>
                <a:spcPts val="600"/>
              </a:spcAft>
            </a:pPr>
            <a:r>
              <a:rPr sz="1500" b="0">
                <a:solidFill>
                  <a:srgbClr val="1F2A3A"/>
                </a:solidFill>
                <a:latin typeface="맑은 고딕"/>
                <a:ea typeface="맑은 고딕"/>
                <a:cs typeface="맑은 고딕"/>
              </a:rPr>
              <a:t>• 잰 값은 46.2 %였다</a:t>
            </a:r>
          </a:p>
        </p:txBody>
      </p:sp>
      <p:sp>
        <p:nvSpPr>
          <p:cNvPr id="11" name="Rounded Rectangle 10"/>
          <p:cNvSpPr/>
          <p:nvPr/>
        </p:nvSpPr>
        <p:spPr>
          <a:xfrm>
            <a:off x="868680" y="4957191"/>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57191"/>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지식을 값으로</a:t>
            </a:r>
          </a:p>
        </p:txBody>
      </p:sp>
      <p:sp>
        <p:nvSpPr>
          <p:cNvPr id="13" name="Rounded Rectangle 12"/>
          <p:cNvSpPr/>
          <p:nvPr/>
        </p:nvSpPr>
        <p:spPr>
          <a:xfrm>
            <a:off x="6461607" y="2568321"/>
            <a:ext cx="5181447" cy="284607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69489"/>
            <a:ext cx="731520" cy="731520"/>
          </a:xfrm>
          <a:prstGeom prst="ellipse">
            <a:avLst/>
          </a:prstGeom>
          <a:solidFill>
            <a:srgbClr val="5CB8F2"/>
          </a:solidFill>
          <a:ln>
            <a:noFill/>
          </a:ln>
        </p:spPr>
        <p:txBody>
          <a:bodyPr rtlCol="0" anchor="ctr"/>
          <a:lstStyle/>
          <a:p>
            <a:pPr algn="ctr"/>
          </a:p>
        </p:txBody>
      </p:sp>
      <p:pic>
        <p:nvPicPr>
          <p:cNvPr id="15" name="아이콘:history" descr="history_13294B_1.6.png"/>
          <p:cNvPicPr>
            <a:picLocks noChangeAspect="1"/>
          </p:cNvPicPr>
          <p:nvPr/>
        </p:nvPicPr>
        <p:blipFill>
          <a:blip r:embed="rId4"/>
          <a:stretch>
            <a:fillRect/>
          </a:stretch>
        </p:blipFill>
        <p:spPr>
          <a:xfrm>
            <a:off x="6889546" y="2923108"/>
            <a:ext cx="424281" cy="424281"/>
          </a:xfrm>
          <a:prstGeom prst="rect">
            <a:avLst/>
          </a:prstGeom>
        </p:spPr>
      </p:pic>
      <p:sp>
        <p:nvSpPr>
          <p:cNvPr id="16" name="TextBox 15"/>
          <p:cNvSpPr txBox="1"/>
          <p:nvPr/>
        </p:nvSpPr>
        <p:spPr>
          <a:xfrm>
            <a:off x="7604607" y="276948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묵은 값을 지금의 값처럼 쓴다</a:t>
            </a:r>
          </a:p>
        </p:txBody>
      </p:sp>
      <p:sp>
        <p:nvSpPr>
          <p:cNvPr id="17" name="TextBox 16"/>
          <p:cNvSpPr txBox="1"/>
          <p:nvPr/>
        </p:nvSpPr>
        <p:spPr>
          <a:xfrm>
            <a:off x="6735927" y="3619881"/>
            <a:ext cx="4632807" cy="1245870"/>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「유온은 55.71 ℃이므로 한계까지 여유가 있다」</a:t>
            </a:r>
          </a:p>
          <a:p>
            <a:pPr algn="l" eaLnBrk="0" marL="165735" indent="-165735">
              <a:lnSpc>
                <a:spcPct val="110000"/>
              </a:lnSpc>
              <a:spcAft>
                <a:spcPts val="600"/>
              </a:spcAft>
            </a:pPr>
            <a:r>
              <a:rPr sz="1450" b="0">
                <a:solidFill>
                  <a:srgbClr val="1F2A3A"/>
                </a:solidFill>
                <a:latin typeface="맑은 고딕"/>
                <a:ea typeface="맑은 고딕"/>
                <a:cs typeface="맑은 고딕"/>
              </a:rPr>
              <a:t>• 55.71은 경보 순간에 읽은 값이다</a:t>
            </a:r>
          </a:p>
          <a:p>
            <a:pPr algn="l" eaLnBrk="0" marL="165735" indent="-165735">
              <a:lnSpc>
                <a:spcPct val="110000"/>
              </a:lnSpc>
              <a:spcAft>
                <a:spcPts val="600"/>
              </a:spcAft>
            </a:pPr>
            <a:r>
              <a:rPr sz="1450" b="0">
                <a:solidFill>
                  <a:srgbClr val="1F2A3A"/>
                </a:solidFill>
                <a:latin typeface="맑은 고딕"/>
                <a:ea typeface="맑은 고딕"/>
                <a:cs typeface="맑은 고딕"/>
              </a:rPr>
              <a:t>• 승인 순간의 값은 61.8 ℃였다</a:t>
            </a:r>
          </a:p>
        </p:txBody>
      </p:sp>
      <p:sp>
        <p:nvSpPr>
          <p:cNvPr id="18" name="Rounded Rectangle 17"/>
          <p:cNvSpPr/>
          <p:nvPr/>
        </p:nvSpPr>
        <p:spPr>
          <a:xfrm>
            <a:off x="6781647" y="4957191"/>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57191"/>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지난 값을 지금으로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혼동을 막는 작업 규칙: 추측 대신 도구로 확인한다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출처와 판단 도구를 지정하는 지침에 더해 권한 제한 · 상태 검사 · 결과 검토가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지식</a:t>
            </a:r>
          </a:p>
          <a:p>
            <a:pPr algn="l" eaLnBrk="0" marL="205740" indent="-205740">
              <a:lnSpc>
                <a:spcPct val="110000"/>
              </a:lnSpc>
              <a:spcAft>
                <a:spcPts val="400"/>
              </a:spcAft>
            </a:pPr>
            <a:r>
              <a:rPr sz="1800" b="0">
                <a:solidFill>
                  <a:srgbClr val="1F2A3A"/>
                </a:solidFill>
                <a:latin typeface="맑은 고딕"/>
                <a:ea typeface="맑은 고딕"/>
                <a:cs typeface="맑은 고딕"/>
              </a:rPr>
              <a:t>• 원인 후보, 증거 기준, 조치 방법</a:t>
            </a:r>
          </a:p>
          <a:p>
            <a:pPr algn="l" eaLnBrk="0" marL="205740" indent="-205740">
              <a:lnSpc>
                <a:spcPct val="110000"/>
              </a:lnSpc>
              <a:spcAft>
                <a:spcPts val="400"/>
              </a:spcAft>
            </a:pPr>
            <a:r>
              <a:rPr sz="1800" b="0">
                <a:solidFill>
                  <a:srgbClr val="1F2A3A"/>
                </a:solidFill>
                <a:latin typeface="맑은 고딕"/>
                <a:ea typeface="맑은 고딕"/>
                <a:cs typeface="맑은 고딕"/>
              </a:rPr>
              <a:t>• 지식 그래프를 조회해 얻는다</a:t>
            </a:r>
          </a:p>
        </p:txBody>
      </p:sp>
      <p:sp>
        <p:nvSpPr>
          <p:cNvPr id="10" name="Rounded Rectangle 9"/>
          <p:cNvSpPr/>
          <p:nvPr/>
        </p:nvSpPr>
        <p:spPr>
          <a:xfrm>
            <a:off x="777240" y="539851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 그래프</a:t>
            </a:r>
          </a:p>
        </p:txBody>
      </p:sp>
      <p:sp>
        <p:nvSpPr>
          <p:cNvPr id="12" name="Rounded Rectangle 11"/>
          <p:cNvSpPr/>
          <p:nvPr/>
        </p:nvSpPr>
        <p:spPr>
          <a:xfrm>
            <a:off x="4338218"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5CB8F2"/>
          </a:solidFill>
          <a:ln>
            <a:noFill/>
          </a:ln>
        </p:spPr>
        <p:txBody>
          <a:bodyPr rtlCol="0" anchor="ctr"/>
          <a:lstStyle/>
          <a:p>
            <a:pPr algn="ctr"/>
          </a:p>
        </p:txBody>
      </p:sp>
      <p:pic>
        <p:nvPicPr>
          <p:cNvPr id="14" name="아이콘:activity" descr="activity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지금의 값</a:t>
            </a:r>
          </a:p>
          <a:p>
            <a:pPr algn="l" eaLnBrk="0" marL="205740" indent="-205740">
              <a:lnSpc>
                <a:spcPct val="110000"/>
              </a:lnSpc>
              <a:spcAft>
                <a:spcPts val="400"/>
              </a:spcAft>
            </a:pPr>
            <a:r>
              <a:rPr sz="1800" b="0">
                <a:solidFill>
                  <a:srgbClr val="1F2A3A"/>
                </a:solidFill>
                <a:latin typeface="맑은 고딕"/>
                <a:ea typeface="맑은 고딕"/>
                <a:cs typeface="맑은 고딕"/>
              </a:rPr>
              <a:t>• 센서 값, 납기, 재고</a:t>
            </a:r>
          </a:p>
          <a:p>
            <a:pPr algn="l" eaLnBrk="0" marL="205740" indent="-205740">
              <a:lnSpc>
                <a:spcPct val="110000"/>
              </a:lnSpc>
              <a:spcAft>
                <a:spcPts val="400"/>
              </a:spcAft>
            </a:pPr>
            <a:r>
              <a:rPr sz="1800" b="0">
                <a:solidFill>
                  <a:srgbClr val="1F2A3A"/>
                </a:solidFill>
                <a:latin typeface="맑은 고딕"/>
                <a:ea typeface="맑은 고딕"/>
                <a:cs typeface="맑은 고딕"/>
              </a:rPr>
              <a:t>• 시계열 DB와 업무 DB에서 그때 읽는다</a:t>
            </a:r>
          </a:p>
          <a:p>
            <a:pPr algn="l" eaLnBrk="0" marL="205740" indent="-205740">
              <a:lnSpc>
                <a:spcPct val="110000"/>
              </a:lnSpc>
              <a:spcAft>
                <a:spcPts val="400"/>
              </a:spcAft>
            </a:pPr>
            <a:r>
              <a:rPr sz="1800" b="0">
                <a:solidFill>
                  <a:srgbClr val="1F2A3A"/>
                </a:solidFill>
                <a:latin typeface="맑은 고딕"/>
                <a:ea typeface="맑은 고딕"/>
                <a:cs typeface="맑은 고딕"/>
              </a:rPr>
              <a:t>• 값마다 읽은 곳과 방법이 함께 붙는다</a:t>
            </a:r>
          </a:p>
        </p:txBody>
      </p:sp>
      <p:sp>
        <p:nvSpPr>
          <p:cNvPr id="16" name="Rounded Rectangle 15"/>
          <p:cNvSpPr/>
          <p:nvPr/>
        </p:nvSpPr>
        <p:spPr>
          <a:xfrm>
            <a:off x="4566818" y="5398516"/>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원천</a:t>
            </a:r>
          </a:p>
        </p:txBody>
      </p:sp>
      <p:sp>
        <p:nvSpPr>
          <p:cNvPr id="18" name="Rounded Rectangle 17"/>
          <p:cNvSpPr/>
          <p:nvPr/>
        </p:nvSpPr>
        <p:spPr>
          <a:xfrm>
            <a:off x="8127796"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규칙 판정</a:t>
            </a:r>
          </a:p>
          <a:p>
            <a:pPr algn="l" eaLnBrk="0" marL="205740" indent="-205740">
              <a:lnSpc>
                <a:spcPct val="110000"/>
              </a:lnSpc>
              <a:spcAft>
                <a:spcPts val="400"/>
              </a:spcAft>
            </a:pPr>
            <a:r>
              <a:rPr sz="1800" b="0">
                <a:solidFill>
                  <a:srgbClr val="1F2A3A"/>
                </a:solidFill>
                <a:latin typeface="맑은 고딕"/>
                <a:ea typeface="맑은 고딕"/>
                <a:cs typeface="맑은 고딕"/>
              </a:rPr>
              <a:t>• 제외, 감점, 경고의 판정</a:t>
            </a:r>
          </a:p>
          <a:p>
            <a:pPr algn="l" eaLnBrk="0" marL="205740" indent="-205740">
              <a:lnSpc>
                <a:spcPct val="110000"/>
              </a:lnSpc>
              <a:spcAft>
                <a:spcPts val="400"/>
              </a:spcAft>
            </a:pPr>
            <a:r>
              <a:rPr sz="1800" b="0">
                <a:solidFill>
                  <a:srgbClr val="1F2A3A"/>
                </a:solidFill>
                <a:latin typeface="맑은 고딕"/>
                <a:ea typeface="맑은 고딕"/>
                <a:cs typeface="맑은 고딕"/>
              </a:rPr>
              <a:t>• 모델이 해석하지 않고 판단 도구의 결과를 쓴다</a:t>
            </a:r>
          </a:p>
          <a:p>
            <a:pPr algn="l" eaLnBrk="0" marL="205740" indent="-205740">
              <a:lnSpc>
                <a:spcPct val="110000"/>
              </a:lnSpc>
              <a:spcAft>
                <a:spcPts val="400"/>
              </a:spcAft>
            </a:pPr>
            <a:r>
              <a:rPr sz="1800" b="0">
                <a:solidFill>
                  <a:srgbClr val="1F2A3A"/>
                </a:solidFill>
                <a:latin typeface="맑은 고딕"/>
                <a:ea typeface="맑은 고딕"/>
                <a:cs typeface="맑은 고딕"/>
              </a:rPr>
              <a:t>• 같은 규칙 판본 · 입력이면 같은 계산을 한다</a:t>
            </a:r>
          </a:p>
        </p:txBody>
      </p:sp>
      <p:sp>
        <p:nvSpPr>
          <p:cNvPr id="22" name="Rounded Rectangle 21"/>
          <p:cNvSpPr/>
          <p:nvPr/>
        </p:nvSpPr>
        <p:spPr>
          <a:xfrm>
            <a:off x="8356396" y="539851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도구</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신선도: 관측된 값이 얼마나 오래됐는가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방금 조회했어도 오래된 관측값일 수 있으므로, HYD는 관측 시각과 수집 상태를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신선도.svg" descr="illust_6639087717060239670_17922245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681397" y="4889571"/>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지금</a:t>
            </a:r>
          </a:p>
          <a:p>
            <a:pPr algn="ctr" eaLnBrk="0">
              <a:lnSpc>
                <a:spcPct val="110000"/>
              </a:lnSpc>
              <a:spcAft>
                <a:spcPts val="100"/>
              </a:spcAft>
            </a:pPr>
            <a:r>
              <a:rPr sz="1300" b="0">
                <a:solidFill>
                  <a:srgbClr val="556175"/>
                </a:solidFill>
                <a:latin typeface="맑은 고딕"/>
                <a:ea typeface="맑은 고딕"/>
                <a:cs typeface="맑은 고딕"/>
              </a:rPr>
              <a:t>판단하는 시각</a:t>
            </a:r>
          </a:p>
        </p:txBody>
      </p:sp>
      <p:sp>
        <p:nvSpPr>
          <p:cNvPr id="8" name="TextBox 7"/>
          <p:cNvSpPr txBox="1"/>
          <p:nvPr/>
        </p:nvSpPr>
        <p:spPr>
          <a:xfrm>
            <a:off x="6455860" y="4889571"/>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허용 범위 60초</a:t>
            </a:r>
          </a:p>
        </p:txBody>
      </p:sp>
      <p:sp>
        <p:nvSpPr>
          <p:cNvPr id="9" name="TextBox 8"/>
          <p:cNvSpPr txBox="1"/>
          <p:nvPr/>
        </p:nvSpPr>
        <p:spPr>
          <a:xfrm>
            <a:off x="5986752" y="2525847"/>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0.6초 전 관측값</a:t>
            </a:r>
          </a:p>
          <a:p>
            <a:pPr algn="ctr" eaLnBrk="0">
              <a:lnSpc>
                <a:spcPct val="110000"/>
              </a:lnSpc>
              <a:spcAft>
                <a:spcPts val="100"/>
              </a:spcAft>
            </a:pPr>
            <a:r>
              <a:rPr sz="1300" b="0">
                <a:solidFill>
                  <a:srgbClr val="556175"/>
                </a:solidFill>
                <a:latin typeface="맑은 고딕"/>
                <a:ea typeface="맑은 고딕"/>
                <a:cs typeface="맑은 고딕"/>
              </a:rPr>
              <a:t>쿨러 사건의 최신 유온</a:t>
            </a:r>
          </a:p>
        </p:txBody>
      </p:sp>
      <p:sp>
        <p:nvSpPr>
          <p:cNvPr id="10" name="TextBox 9"/>
          <p:cNvSpPr txBox="1"/>
          <p:nvPr/>
        </p:nvSpPr>
        <p:spPr>
          <a:xfrm>
            <a:off x="3804853" y="2525847"/>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60초보다 오래된 값</a:t>
            </a:r>
          </a:p>
          <a:p>
            <a:pPr algn="ctr" eaLnBrk="0">
              <a:lnSpc>
                <a:spcPct val="110000"/>
              </a:lnSpc>
              <a:spcAft>
                <a:spcPts val="100"/>
              </a:spcAft>
            </a:pPr>
            <a:r>
              <a:rPr sz="1300" b="0">
                <a:solidFill>
                  <a:srgbClr val="556175"/>
                </a:solidFill>
                <a:latin typeface="맑은 고딕"/>
                <a:ea typeface="맑은 고딕"/>
                <a:cs typeface="맑은 고딕"/>
              </a:rPr>
              <a:t>보류</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멈춤 조건:</a:t>
            </a:r>
          </a:p>
          <a:p>
            <a:pPr algn="l" eaLnBrk="0">
              <a:lnSpc>
                <a:spcPct val="110000"/>
              </a:lnSpc>
            </a:pPr>
            <a:r>
              <a:rPr sz="3400" b="1">
                <a:solidFill>
                  <a:srgbClr val="13294B"/>
                </a:solidFill>
                <a:latin typeface="맑은 고딕"/>
                <a:ea typeface="맑은 고딕"/>
                <a:cs typeface="맑은 고딕"/>
              </a:rPr>
              <a:t>근거 부족 · 호출 실패 · 권한 제한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일을 끝까지 하는 것보다 멈추는 것이 맞는 세 상황과, 멈출 때 내는 형식을 살펴본다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멈추지 않는 에이전트가 만드는 결과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읽지 못한 채 빈칸을 그럴듯하게 채운 추천안은 겉모습이 같아, 승인하는 사람이 없는 근거를 믿고 결정하게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빈칸을 채워 제출한다</a:t>
            </a:r>
          </a:p>
        </p:txBody>
      </p:sp>
      <p:sp>
        <p:nvSpPr>
          <p:cNvPr id="10" name="TextBox 9"/>
          <p:cNvSpPr txBox="1"/>
          <p:nvPr/>
        </p:nvSpPr>
        <p:spPr>
          <a:xfrm>
            <a:off x="822959"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냉각 효율을 읽지 못했다</a:t>
            </a:r>
          </a:p>
          <a:p>
            <a:pPr algn="l" eaLnBrk="0" marL="200025" indent="-200025">
              <a:lnSpc>
                <a:spcPct val="110000"/>
              </a:lnSpc>
              <a:spcAft>
                <a:spcPts val="600"/>
              </a:spcAft>
            </a:pPr>
            <a:r>
              <a:rPr sz="1750" b="0">
                <a:solidFill>
                  <a:srgbClr val="1F2A3A"/>
                </a:solidFill>
                <a:latin typeface="맑은 고딕"/>
                <a:ea typeface="맑은 고딕"/>
                <a:cs typeface="맑은 고딕"/>
              </a:rPr>
              <a:t>• 사전 확률이 가장 큰 쿨러 핀 오염을 원인으로 적는다</a:t>
            </a:r>
          </a:p>
          <a:p>
            <a:pPr algn="l" eaLnBrk="0" marL="200025" indent="-200025">
              <a:lnSpc>
                <a:spcPct val="110000"/>
              </a:lnSpc>
              <a:spcAft>
                <a:spcPts val="600"/>
              </a:spcAft>
            </a:pPr>
            <a:r>
              <a:rPr sz="1750" b="0">
                <a:solidFill>
                  <a:srgbClr val="1F2A3A"/>
                </a:solidFill>
                <a:latin typeface="맑은 고딕"/>
                <a:ea typeface="맑은 고딕"/>
                <a:cs typeface="맑은 고딕"/>
              </a:rPr>
              <a:t>• 추천안의 모양은 값을 읽었을 때와 같다</a:t>
            </a:r>
          </a:p>
          <a:p>
            <a:pPr algn="l" eaLnBrk="0" marL="200025" indent="-200025">
              <a:lnSpc>
                <a:spcPct val="110000"/>
              </a:lnSpc>
              <a:spcAft>
                <a:spcPts val="600"/>
              </a:spcAft>
            </a:pPr>
            <a:r>
              <a:rPr sz="1750" b="0">
                <a:solidFill>
                  <a:srgbClr val="1F2A3A"/>
                </a:solidFill>
                <a:latin typeface="맑은 고딕"/>
                <a:ea typeface="맑은 고딕"/>
                <a:cs typeface="맑은 고딕"/>
              </a:rPr>
              <a:t>• 담당자는 확인된 원인으로 알고 승인한다</a:t>
            </a:r>
          </a:p>
        </p:txBody>
      </p:sp>
      <p:sp>
        <p:nvSpPr>
          <p:cNvPr id="11" name="Rounded Rectangle 10"/>
          <p:cNvSpPr/>
          <p:nvPr/>
        </p:nvSpPr>
        <p:spPr>
          <a:xfrm>
            <a:off x="868680" y="5362638"/>
            <a:ext cx="1981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981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틀려도 드러나지 않는다</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player-stop" descr="player-stop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멈추고 이유를 낸다</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냉각 효율을 읽지 못했다</a:t>
            </a:r>
          </a:p>
          <a:p>
            <a:pPr algn="l" eaLnBrk="0" marL="200025" indent="-200025">
              <a:lnSpc>
                <a:spcPct val="110000"/>
              </a:lnSpc>
              <a:spcAft>
                <a:spcPts val="600"/>
              </a:spcAft>
            </a:pPr>
            <a:r>
              <a:rPr sz="1750" b="0">
                <a:solidFill>
                  <a:srgbClr val="1F2A3A"/>
                </a:solidFill>
                <a:latin typeface="맑은 고딕"/>
                <a:ea typeface="맑은 고딕"/>
                <a:cs typeface="맑은 고딕"/>
              </a:rPr>
              <a:t>• 원인을 적지 않고 보류한다</a:t>
            </a:r>
          </a:p>
          <a:p>
            <a:pPr algn="l" eaLnBrk="0" marL="200025" indent="-200025">
              <a:lnSpc>
                <a:spcPct val="110000"/>
              </a:lnSpc>
              <a:spcAft>
                <a:spcPts val="600"/>
              </a:spcAft>
            </a:pPr>
            <a:r>
              <a:rPr sz="1750" b="0">
                <a:solidFill>
                  <a:srgbClr val="1F2A3A"/>
                </a:solidFill>
                <a:latin typeface="맑은 고딕"/>
                <a:ea typeface="맑은 고딕"/>
                <a:cs typeface="맑은 고딕"/>
              </a:rPr>
              <a:t>• 무엇을 확인하지 못했는지를 적어 낸다</a:t>
            </a:r>
          </a:p>
          <a:p>
            <a:pPr algn="l" eaLnBrk="0" marL="200025" indent="-200025">
              <a:lnSpc>
                <a:spcPct val="110000"/>
              </a:lnSpc>
              <a:spcAft>
                <a:spcPts val="600"/>
              </a:spcAft>
            </a:pPr>
            <a:r>
              <a:rPr sz="1750" b="0">
                <a:solidFill>
                  <a:srgbClr val="1F2A3A"/>
                </a:solidFill>
                <a:latin typeface="맑은 고딕"/>
                <a:ea typeface="맑은 고딕"/>
                <a:cs typeface="맑은 고딕"/>
              </a:rPr>
              <a:t>• 담당자는 값이 들어온 뒤에 다시 평가시킨다</a:t>
            </a:r>
          </a:p>
        </p:txBody>
      </p:sp>
      <p:sp>
        <p:nvSpPr>
          <p:cNvPr id="18" name="Rounded Rectangle 17"/>
          <p:cNvSpPr/>
          <p:nvPr/>
        </p:nvSpPr>
        <p:spPr>
          <a:xfrm>
            <a:off x="6781647" y="5362638"/>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모르는 것이 드러난다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멈춤 조건 세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대표적인 멈춤 조건은 근거가 모자랄 때, 도구 호출이 끝내 실패할 때, 허용되지 않은 일이 필요할 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pic>
        <p:nvPicPr>
          <p:cNvPr id="6" name="삽화:멈춤조건.svg" descr="illust_6119795770046530518_17922245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450295" y="2714945"/>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근거 부족</a:t>
            </a:r>
          </a:p>
          <a:p>
            <a:pPr algn="ctr" eaLnBrk="0">
              <a:lnSpc>
                <a:spcPct val="110000"/>
              </a:lnSpc>
              <a:spcAft>
                <a:spcPts val="100"/>
              </a:spcAft>
            </a:pPr>
            <a:r>
              <a:rPr sz="1300" b="0">
                <a:solidFill>
                  <a:srgbClr val="556175"/>
                </a:solidFill>
                <a:latin typeface="맑은 고딕"/>
                <a:ea typeface="맑은 고딕"/>
                <a:cs typeface="맑은 고딕"/>
              </a:rPr>
              <a:t>빈 값 · 불일치</a:t>
            </a:r>
          </a:p>
        </p:txBody>
      </p:sp>
      <p:sp>
        <p:nvSpPr>
          <p:cNvPr id="8" name="TextBox 7"/>
          <p:cNvSpPr txBox="1"/>
          <p:nvPr/>
        </p:nvSpPr>
        <p:spPr>
          <a:xfrm>
            <a:off x="3859401" y="4109542"/>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 호출 실패</a:t>
            </a:r>
          </a:p>
          <a:p>
            <a:pPr algn="ctr" eaLnBrk="0">
              <a:lnSpc>
                <a:spcPct val="110000"/>
              </a:lnSpc>
              <a:spcAft>
                <a:spcPts val="100"/>
              </a:spcAft>
            </a:pPr>
            <a:r>
              <a:rPr sz="1300" b="0">
                <a:solidFill>
                  <a:srgbClr val="556175"/>
                </a:solidFill>
                <a:latin typeface="맑은 고딕"/>
                <a:ea typeface="맑은 고딕"/>
                <a:cs typeface="맑은 고딕"/>
              </a:rPr>
              <a:t>오류 응답</a:t>
            </a:r>
          </a:p>
        </p:txBody>
      </p:sp>
      <p:sp>
        <p:nvSpPr>
          <p:cNvPr id="9" name="TextBox 8"/>
          <p:cNvSpPr txBox="1"/>
          <p:nvPr/>
        </p:nvSpPr>
        <p:spPr>
          <a:xfrm>
            <a:off x="3450295" y="5835060"/>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권한 제한</a:t>
            </a:r>
          </a:p>
          <a:p>
            <a:pPr algn="ctr" eaLnBrk="0">
              <a:lnSpc>
                <a:spcPct val="110000"/>
              </a:lnSpc>
              <a:spcAft>
                <a:spcPts val="100"/>
              </a:spcAft>
            </a:pPr>
            <a:r>
              <a:rPr sz="1300" b="0">
                <a:solidFill>
                  <a:srgbClr val="556175"/>
                </a:solidFill>
                <a:latin typeface="맑은 고딕"/>
                <a:ea typeface="맑은 고딕"/>
                <a:cs typeface="맑은 고딕"/>
              </a:rPr>
              <a:t>허용 목록 밖</a:t>
            </a:r>
          </a:p>
        </p:txBody>
      </p:sp>
      <p:sp>
        <p:nvSpPr>
          <p:cNvPr id="10" name="TextBox 9"/>
          <p:cNvSpPr txBox="1"/>
          <p:nvPr/>
        </p:nvSpPr>
        <p:spPr>
          <a:xfrm>
            <a:off x="6510408" y="2573121"/>
            <a:ext cx="174551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멈춤</a:t>
            </a:r>
          </a:p>
        </p:txBody>
      </p:sp>
      <p:sp>
        <p:nvSpPr>
          <p:cNvPr id="11" name="TextBox 10"/>
          <p:cNvSpPr txBox="1"/>
          <p:nvPr/>
        </p:nvSpPr>
        <p:spPr>
          <a:xfrm>
            <a:off x="8899587" y="4511375"/>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사람</a:t>
            </a:r>
          </a:p>
          <a:p>
            <a:pPr algn="ctr" eaLnBrk="0">
              <a:lnSpc>
                <a:spcPct val="110000"/>
              </a:lnSpc>
              <a:spcAft>
                <a:spcPts val="100"/>
              </a:spcAft>
            </a:pPr>
            <a:r>
              <a:rPr sz="1300" b="0">
                <a:solidFill>
                  <a:srgbClr val="556175"/>
                </a:solidFill>
                <a:latin typeface="맑은 고딕"/>
                <a:ea typeface="맑은 고딕"/>
                <a:cs typeface="맑은 고딕"/>
              </a:rPr>
              <a:t>재평가 · 답변 · 닫기</a:t>
            </a:r>
          </a:p>
        </p:txBody>
      </p:sp>
      <p:sp>
        <p:nvSpPr>
          <p:cNvPr id="12" name="TextBox 11"/>
          <p:cNvSpPr txBox="1"/>
          <p:nvPr/>
        </p:nvSpPr>
        <p:spPr>
          <a:xfrm>
            <a:off x="1012022" y="4464100"/>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근거의 세 가지 상태: SUPPORTED · UNKNOWN · UNSUPPORTED</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등록된 후보와 증거 기준 안에서 지지되는 후보 · 미확인 · 지지 근거 없음을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SUPPORTED</a:t>
            </a:r>
          </a:p>
          <a:p>
            <a:pPr algn="l" eaLnBrk="0" marL="205740" indent="-205740">
              <a:lnSpc>
                <a:spcPct val="110000"/>
              </a:lnSpc>
              <a:spcAft>
                <a:spcPts val="400"/>
              </a:spcAft>
            </a:pPr>
            <a:r>
              <a:rPr sz="1800" b="0">
                <a:solidFill>
                  <a:srgbClr val="1F2A3A"/>
                </a:solidFill>
                <a:latin typeface="맑은 고딕"/>
                <a:ea typeface="맑은 고딕"/>
                <a:cs typeface="맑은 고딕"/>
              </a:rPr>
              <a:t>• 필요한 값을 읽었고 등록 기준에 맞았다</a:t>
            </a:r>
          </a:p>
          <a:p>
            <a:pPr algn="l" eaLnBrk="0" marL="205740" indent="-205740">
              <a:lnSpc>
                <a:spcPct val="110000"/>
              </a:lnSpc>
              <a:spcAft>
                <a:spcPts val="400"/>
              </a:spcAft>
            </a:pPr>
            <a:r>
              <a:rPr sz="1800" b="0">
                <a:solidFill>
                  <a:srgbClr val="1F2A3A"/>
                </a:solidFill>
                <a:latin typeface="맑은 고딕"/>
                <a:ea typeface="맑은 고딕"/>
                <a:cs typeface="맑은 고딕"/>
              </a:rPr>
              <a:t>• 냉각 효율 46.2 % &lt; 70 %는 증거 중 하나다</a:t>
            </a:r>
          </a:p>
        </p:txBody>
      </p:sp>
      <p:sp>
        <p:nvSpPr>
          <p:cNvPr id="10" name="Rounded Rectangle 9"/>
          <p:cNvSpPr/>
          <p:nvPr/>
        </p:nvSpPr>
        <p:spPr>
          <a:xfrm>
            <a:off x="777240" y="539851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 지지</a:t>
            </a:r>
          </a:p>
        </p:txBody>
      </p:sp>
      <p:sp>
        <p:nvSpPr>
          <p:cNvPr id="12" name="Rounded Rectangle 11"/>
          <p:cNvSpPr/>
          <p:nvPr/>
        </p:nvSpPr>
        <p:spPr>
          <a:xfrm>
            <a:off x="4338218"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5CB8F2"/>
          </a:solidFill>
          <a:ln>
            <a:noFill/>
          </a:ln>
        </p:spPr>
        <p:txBody>
          <a:bodyPr rtlCol="0" anchor="ctr"/>
          <a:lstStyle/>
          <a:p>
            <a:pPr algn="ctr"/>
          </a:p>
        </p:txBody>
      </p:sp>
      <p:pic>
        <p:nvPicPr>
          <p:cNvPr id="14" name="아이콘:zoom-question" descr="zoom-question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UNKNOWN</a:t>
            </a:r>
          </a:p>
          <a:p>
            <a:pPr algn="l" eaLnBrk="0" marL="205740" indent="-205740">
              <a:lnSpc>
                <a:spcPct val="110000"/>
              </a:lnSpc>
              <a:spcAft>
                <a:spcPts val="400"/>
              </a:spcAft>
            </a:pPr>
            <a:r>
              <a:rPr sz="1800" b="0">
                <a:solidFill>
                  <a:srgbClr val="1F2A3A"/>
                </a:solidFill>
                <a:latin typeface="맑은 고딕"/>
                <a:ea typeface="맑은 고딕"/>
                <a:cs typeface="맑은 고딕"/>
              </a:rPr>
              <a:t>• 조회에 실패했거나 값이 비었다</a:t>
            </a:r>
          </a:p>
          <a:p>
            <a:pPr algn="l" eaLnBrk="0" marL="205740" indent="-205740">
              <a:lnSpc>
                <a:spcPct val="110000"/>
              </a:lnSpc>
              <a:spcAft>
                <a:spcPts val="400"/>
              </a:spcAft>
            </a:pPr>
            <a:r>
              <a:rPr sz="1800" b="0">
                <a:solidFill>
                  <a:srgbClr val="1F2A3A"/>
                </a:solidFill>
                <a:latin typeface="맑은 고딕"/>
                <a:ea typeface="맑은 고딕"/>
                <a:cs typeface="맑은 고딕"/>
              </a:rPr>
              <a:t>• 맞는지 틀린지를 말할 수 없다</a:t>
            </a:r>
          </a:p>
        </p:txBody>
      </p:sp>
      <p:sp>
        <p:nvSpPr>
          <p:cNvPr id="16" name="Rounded Rectangle 15"/>
          <p:cNvSpPr/>
          <p:nvPr/>
        </p:nvSpPr>
        <p:spPr>
          <a:xfrm>
            <a:off x="4566818" y="5398516"/>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9851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확인하지 못함</a:t>
            </a:r>
          </a:p>
        </p:txBody>
      </p:sp>
      <p:sp>
        <p:nvSpPr>
          <p:cNvPr id="18" name="Rounded Rectangle 17"/>
          <p:cNvSpPr/>
          <p:nvPr/>
        </p:nvSpPr>
        <p:spPr>
          <a:xfrm>
            <a:off x="8127796"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UNSUPPORTED</a:t>
            </a:r>
          </a:p>
          <a:p>
            <a:pPr algn="l" eaLnBrk="0" marL="205740" indent="-205740">
              <a:lnSpc>
                <a:spcPct val="110000"/>
              </a:lnSpc>
              <a:spcAft>
                <a:spcPts val="400"/>
              </a:spcAft>
            </a:pPr>
            <a:r>
              <a:rPr sz="1800" b="0">
                <a:solidFill>
                  <a:srgbClr val="1F2A3A"/>
                </a:solidFill>
                <a:latin typeface="맑은 고딕"/>
                <a:ea typeface="맑은 고딕"/>
                <a:cs typeface="맑은 고딕"/>
              </a:rPr>
              <a:t>• 값은 읽었으나 조회한 근거가 모두 기준에 맞지 않았다</a:t>
            </a:r>
          </a:p>
          <a:p>
            <a:pPr algn="l" eaLnBrk="0" marL="205740" indent="-205740">
              <a:lnSpc>
                <a:spcPct val="110000"/>
              </a:lnSpc>
              <a:spcAft>
                <a:spcPts val="400"/>
              </a:spcAft>
            </a:pPr>
            <a:r>
              <a:rPr sz="1800" b="0">
                <a:solidFill>
                  <a:srgbClr val="1F2A3A"/>
                </a:solidFill>
                <a:latin typeface="맑은 고딕"/>
                <a:ea typeface="맑은 고딕"/>
                <a:cs typeface="맑은 고딕"/>
              </a:rPr>
              <a:t>• 등록된 원인 가운데 맞는 것이 없다</a:t>
            </a:r>
          </a:p>
        </p:txBody>
      </p:sp>
      <p:sp>
        <p:nvSpPr>
          <p:cNvPr id="22" name="Rounded Rectangle 21"/>
          <p:cNvSpPr/>
          <p:nvPr/>
        </p:nvSpPr>
        <p:spPr>
          <a:xfrm>
            <a:off x="8356396" y="5398516"/>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985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맞는 근거 없음</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보류의 형식: 상태 · 이유 · 증거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보류할 때 에이전트는 결과 항목을 채우지 않고, 상태 · 이유 · 그때까지 모은 증거만 담은 객체 하나를 제출한다.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객체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하나</a:t>
            </a:r>
          </a:p>
          <a:p>
            <a:pPr algn="l" eaLnBrk="0">
              <a:lnSpc>
                <a:spcPct val="110000"/>
              </a:lnSpc>
              <a:spcAft>
                <a:spcPts val="200"/>
              </a:spcAft>
            </a:pPr>
            <a:r>
              <a:rPr sz="1300" b="0">
                <a:solidFill>
                  <a:srgbClr val="E8EEF6"/>
                </a:solidFill>
                <a:latin typeface="Consolas"/>
                <a:ea typeface="맑은 고딕"/>
                <a:cs typeface="맑은 고딕"/>
              </a:rPr>
              <a:t>{"__deferred__": {</a:t>
            </a:r>
          </a:p>
          <a:p>
            <a:pPr algn="l" eaLnBrk="0">
              <a:lnSpc>
                <a:spcPct val="110000"/>
              </a:lnSpc>
              <a:spcAft>
                <a:spcPts val="200"/>
              </a:spcAft>
            </a:pPr>
            <a:r>
              <a:rPr sz="1300" b="0">
                <a:solidFill>
                  <a:srgbClr val="E8EEF6"/>
                </a:solidFill>
                <a:latin typeface="Consolas"/>
                <a:ea typeface="맑은 고딕"/>
                <a:cs typeface="맑은 고딕"/>
              </a:rPr>
              <a:t>   "status": "UNKNOWN",</a:t>
            </a:r>
          </a:p>
          <a:p>
            <a:pPr algn="l" eaLnBrk="0">
              <a:lnSpc>
                <a:spcPct val="110000"/>
              </a:lnSpc>
              <a:spcAft>
                <a:spcPts val="200"/>
              </a:spcAft>
            </a:pPr>
            <a:r>
              <a:rPr sz="1300" b="0">
                <a:solidFill>
                  <a:srgbClr val="E8EEF6"/>
                </a:solidFill>
                <a:latin typeface="Consolas"/>
                <a:ea typeface="맑은 고딕"/>
                <a:cs typeface="맑은 고딕"/>
              </a:rPr>
              <a:t>   "reason":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"evidence":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eaLnBrk="0">
              <a:lnSpc>
                <a:spcPct val="110000"/>
              </a:lnSpc>
              <a:spcAft>
                <a:spcPts val="200"/>
              </a:spcAft>
            </a:pPr>
            <a:r>
              <a:rPr sz="1300" b="0">
                <a:solidFill>
                  <a:srgbClr val="E8EEF6"/>
                </a:solidFill>
                <a:latin typeface="Consolas"/>
                <a:ea typeface="맑은 고딕"/>
                <a:cs typeface="맑은 고딕"/>
              </a:rPr>
              <a:t>cause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decision </a:t>
            </a:r>
            <a:r>
              <a:rPr sz="1300" b="0">
                <a:solidFill>
                  <a:srgbClr val="E8EEF6"/>
                </a:solidFill>
                <a:latin typeface="맑은 고딕"/>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status</a:t>
            </a:r>
          </a:p>
          <a:p>
            <a:pPr algn="l" eaLnBrk="0">
              <a:lnSpc>
                <a:spcPct val="110000"/>
              </a:lnSpc>
              <a:spcAft>
                <a:spcPts val="400"/>
              </a:spcAft>
            </a:pPr>
            <a:r>
              <a:rPr sz="1400" b="0">
                <a:solidFill>
                  <a:srgbClr val="1F2A3A"/>
                </a:solidFill>
                <a:latin typeface="맑은 고딕"/>
                <a:ea typeface="맑은 고딕"/>
                <a:cs typeface="맑은 고딕"/>
              </a:rPr>
              <a:t>UNKNOWN과 UNSUPPORTED 가운데 하나이다.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reason</a:t>
            </a:r>
          </a:p>
          <a:p>
            <a:pPr algn="l" eaLnBrk="0">
              <a:lnSpc>
                <a:spcPct val="110000"/>
              </a:lnSpc>
              <a:spcAft>
                <a:spcPts val="400"/>
              </a:spcAft>
            </a:pPr>
            <a:r>
              <a:rPr sz="1400" b="0">
                <a:solidFill>
                  <a:srgbClr val="1F2A3A"/>
                </a:solidFill>
                <a:latin typeface="맑은 고딕"/>
                <a:ea typeface="맑은 고딕"/>
                <a:cs typeface="맑은 고딕"/>
              </a:rPr>
              <a:t>무엇을 확인하지 못했는지를 사람이 읽을 문장으로 적는다.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evidence</a:t>
            </a:r>
          </a:p>
          <a:p>
            <a:pPr algn="l" eaLnBrk="0">
              <a:lnSpc>
                <a:spcPct val="110000"/>
              </a:lnSpc>
              <a:spcAft>
                <a:spcPts val="400"/>
              </a:spcAft>
            </a:pPr>
            <a:r>
              <a:rPr sz="1400" b="0">
                <a:solidFill>
                  <a:srgbClr val="1F2A3A"/>
                </a:solidFill>
                <a:latin typeface="맑은 고딕"/>
                <a:ea typeface="맑은 고딕"/>
                <a:cs typeface="맑은 고딕"/>
              </a:rPr>
              <a:t>그때까지 조회해 얻은 실제 근거를 담는다.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섞어 내기</a:t>
            </a:r>
          </a:p>
          <a:p>
            <a:pPr algn="l" eaLnBrk="0">
              <a:lnSpc>
                <a:spcPct val="110000"/>
              </a:lnSpc>
              <a:spcAft>
                <a:spcPts val="400"/>
              </a:spcAft>
            </a:pPr>
            <a:r>
              <a:rPr sz="1400" b="0">
                <a:solidFill>
                  <a:srgbClr val="1F2A3A"/>
                </a:solidFill>
                <a:latin typeface="맑은 고딕"/>
                <a:ea typeface="맑은 고딕"/>
                <a:cs typeface="맑은 고딕"/>
              </a:rPr>
              <a:t>결과 항목과 보류를 함께 내면 거절된다.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 실패 · 일치하는 기록 없음 · 수량 0</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0행은 조회 조건에 맞는 기록이 없다는 뜻이며, 기록된 수량 0이나 조회 실패와 구분해야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일치하는 기록 없음</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조회는 성공했고 결과가 0행이다</a:t>
            </a:r>
          </a:p>
          <a:p>
            <a:pPr algn="l" eaLnBrk="0" marL="205740" indent="-205740">
              <a:lnSpc>
                <a:spcPct val="110000"/>
              </a:lnSpc>
              <a:spcAft>
                <a:spcPts val="600"/>
              </a:spcAft>
            </a:pPr>
            <a:r>
              <a:rPr sz="1800" b="0">
                <a:solidFill>
                  <a:srgbClr val="1F2A3A"/>
                </a:solidFill>
                <a:latin typeface="맑은 고딕"/>
                <a:ea typeface="맑은 고딕"/>
                <a:cs typeface="맑은 고딕"/>
              </a:rPr>
              <a:t>• 조건에 맞는 기록을 찾지 못했다</a:t>
            </a:r>
          </a:p>
          <a:p>
            <a:pPr algn="l" eaLnBrk="0" marL="205740" indent="-205740">
              <a:lnSpc>
                <a:spcPct val="110000"/>
              </a:lnSpc>
              <a:spcAft>
                <a:spcPts val="600"/>
              </a:spcAft>
            </a:pPr>
            <a:r>
              <a:rPr sz="1800" b="0">
                <a:solidFill>
                  <a:srgbClr val="1F2A3A"/>
                </a:solidFill>
                <a:latin typeface="맑은 고딕"/>
                <a:ea typeface="맑은 고딕"/>
                <a:cs typeface="맑은 고딕"/>
              </a:rPr>
              <a:t>• 실제 재고 0으로 단정하지 않는다</a:t>
            </a:r>
          </a:p>
        </p:txBody>
      </p:sp>
      <p:sp>
        <p:nvSpPr>
          <p:cNvPr id="11" name="Rounded Rectangle 10"/>
          <p:cNvSpPr/>
          <p:nvPr/>
        </p:nvSpPr>
        <p:spPr>
          <a:xfrm>
            <a:off x="868680" y="5204460"/>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범위 안의 결과</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실패</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조회 자체가 되지 않았다</a:t>
            </a:r>
          </a:p>
          <a:p>
            <a:pPr algn="l" eaLnBrk="0" marL="205740" indent="-205740">
              <a:lnSpc>
                <a:spcPct val="110000"/>
              </a:lnSpc>
              <a:spcAft>
                <a:spcPts val="600"/>
              </a:spcAft>
            </a:pPr>
            <a:r>
              <a:rPr sz="1800" b="0">
                <a:solidFill>
                  <a:srgbClr val="1F2A3A"/>
                </a:solidFill>
                <a:latin typeface="맑은 고딕"/>
                <a:ea typeface="맑은 고딕"/>
                <a:cs typeface="맑은 고딕"/>
              </a:rPr>
              <a:t>• 「모른다」는 뜻이다</a:t>
            </a:r>
          </a:p>
          <a:p>
            <a:pPr algn="l" eaLnBrk="0" marL="205740" indent="-205740">
              <a:lnSpc>
                <a:spcPct val="110000"/>
              </a:lnSpc>
              <a:spcAft>
                <a:spcPts val="600"/>
              </a:spcAft>
            </a:pPr>
            <a:r>
              <a:rPr sz="1800" b="0">
                <a:solidFill>
                  <a:srgbClr val="1F2A3A"/>
                </a:solidFill>
                <a:latin typeface="맑은 고딕"/>
                <a:ea typeface="맑은 고딕"/>
                <a:cs typeface="맑은 고딕"/>
              </a:rPr>
              <a:t>• 작업 규칙: 「실패를 0이나 빈 값으로 바꿔 성공처럼 제출하지 않습니다.」</a:t>
            </a:r>
          </a:p>
        </p:txBody>
      </p:sp>
      <p:sp>
        <p:nvSpPr>
          <p:cNvPr id="18" name="Rounded Rectangle 17"/>
          <p:cNvSpPr/>
          <p:nvPr/>
        </p:nvSpPr>
        <p:spPr>
          <a:xfrm>
            <a:off x="6781647" y="520446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답이 없다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재시도: 반복의 영향과 한도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중복 반영 가능성을 살피고 재시도하되, 조회문 수정 지시와 실행 시간의 강제 제한을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47391"/>
            <a:ext cx="3515258" cy="34879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48560"/>
            <a:ext cx="731520" cy="731520"/>
          </a:xfrm>
          <a:prstGeom prst="ellipse">
            <a:avLst/>
          </a:prstGeom>
          <a:solidFill>
            <a:srgbClr val="E7F3FD"/>
          </a:solidFill>
          <a:ln>
            <a:noFill/>
          </a:ln>
        </p:spPr>
        <p:txBody>
          <a:bodyPr rtlCol="0" anchor="ctr"/>
          <a:lstStyle/>
          <a:p>
            <a:pPr algn="ctr"/>
          </a:p>
        </p:txBody>
      </p:sp>
      <p:pic>
        <p:nvPicPr>
          <p:cNvPr id="8" name="아이콘:refresh" descr="refresh_13294B_1.6.png"/>
          <p:cNvPicPr>
            <a:picLocks noChangeAspect="1"/>
          </p:cNvPicPr>
          <p:nvPr/>
        </p:nvPicPr>
        <p:blipFill>
          <a:blip r:embed="rId3"/>
          <a:stretch>
            <a:fillRect/>
          </a:stretch>
        </p:blipFill>
        <p:spPr>
          <a:xfrm>
            <a:off x="930859" y="2602179"/>
            <a:ext cx="424281" cy="424281"/>
          </a:xfrm>
          <a:prstGeom prst="rect">
            <a:avLst/>
          </a:prstGeom>
        </p:spPr>
      </p:pic>
      <p:sp>
        <p:nvSpPr>
          <p:cNvPr id="9" name="TextBox 8"/>
          <p:cNvSpPr txBox="1"/>
          <p:nvPr/>
        </p:nvSpPr>
        <p:spPr>
          <a:xfrm>
            <a:off x="713232"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다시 부르기</a:t>
            </a:r>
          </a:p>
          <a:p>
            <a:pPr algn="l" eaLnBrk="0" marL="182880" indent="-182880">
              <a:lnSpc>
                <a:spcPct val="110000"/>
              </a:lnSpc>
              <a:spcAft>
                <a:spcPts val="400"/>
              </a:spcAft>
            </a:pPr>
            <a:r>
              <a:rPr sz="1600" b="0">
                <a:solidFill>
                  <a:srgbClr val="1F2A3A"/>
                </a:solidFill>
                <a:latin typeface="맑은 고딕"/>
                <a:ea typeface="맑은 고딕"/>
                <a:cs typeface="맑은 고딕"/>
              </a:rPr>
              <a:t>• 읽기와 쓰기의 영향을 구별한다</a:t>
            </a:r>
          </a:p>
          <a:p>
            <a:pPr algn="l" eaLnBrk="0" marL="182880" indent="-182880">
              <a:lnSpc>
                <a:spcPct val="110000"/>
              </a:lnSpc>
              <a:spcAft>
                <a:spcPts val="400"/>
              </a:spcAft>
            </a:pPr>
            <a:r>
              <a:rPr sz="1600" b="0">
                <a:solidFill>
                  <a:srgbClr val="1F2A3A"/>
                </a:solidFill>
                <a:latin typeface="맑은 고딕"/>
                <a:ea typeface="맑은 고딕"/>
                <a:cs typeface="맑은 고딕"/>
              </a:rPr>
              <a:t>• 제출은 처리 여부 · 중복 방지를 확인한다</a:t>
            </a:r>
          </a:p>
        </p:txBody>
      </p:sp>
      <p:sp>
        <p:nvSpPr>
          <p:cNvPr id="10" name="Rounded Rectangle 9"/>
          <p:cNvSpPr/>
          <p:nvPr/>
        </p:nvSpPr>
        <p:spPr>
          <a:xfrm>
            <a:off x="777240" y="5305552"/>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05552"/>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중복 제출 주의</a:t>
            </a:r>
          </a:p>
        </p:txBody>
      </p:sp>
      <p:sp>
        <p:nvSpPr>
          <p:cNvPr id="12" name="Rounded Rectangle 11"/>
          <p:cNvSpPr/>
          <p:nvPr/>
        </p:nvSpPr>
        <p:spPr>
          <a:xfrm>
            <a:off x="4338218" y="2247391"/>
            <a:ext cx="3515258" cy="34879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48560"/>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02179"/>
            <a:ext cx="424281" cy="424281"/>
          </a:xfrm>
          <a:prstGeom prst="rect">
            <a:avLst/>
          </a:prstGeom>
        </p:spPr>
      </p:pic>
      <p:sp>
        <p:nvSpPr>
          <p:cNvPr id="15" name="TextBox 14"/>
          <p:cNvSpPr txBox="1"/>
          <p:nvPr/>
        </p:nvSpPr>
        <p:spPr>
          <a:xfrm>
            <a:off x="4502810"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조회문 수정</a:t>
            </a:r>
          </a:p>
          <a:p>
            <a:pPr algn="l" eaLnBrk="0" marL="182880" indent="-182880">
              <a:lnSpc>
                <a:spcPct val="110000"/>
              </a:lnSpc>
              <a:spcAft>
                <a:spcPts val="400"/>
              </a:spcAft>
            </a:pPr>
            <a:r>
              <a:rPr sz="1600" b="0">
                <a:solidFill>
                  <a:srgbClr val="1F2A3A"/>
                </a:solidFill>
                <a:latin typeface="맑은 고딕"/>
                <a:ea typeface="맑은 고딕"/>
                <a:cs typeface="맑은 고딕"/>
              </a:rPr>
              <a:t>• 직접 쓴 조회문이 오류를 내면</a:t>
            </a:r>
          </a:p>
          <a:p>
            <a:pPr algn="l" eaLnBrk="0" marL="182880" indent="-182880">
              <a:lnSpc>
                <a:spcPct val="110000"/>
              </a:lnSpc>
              <a:spcAft>
                <a:spcPts val="400"/>
              </a:spcAft>
            </a:pPr>
            <a:r>
              <a:rPr sz="1600" b="0">
                <a:solidFill>
                  <a:srgbClr val="1F2A3A"/>
                </a:solidFill>
                <a:latin typeface="맑은 고딕"/>
                <a:ea typeface="맑은 고딕"/>
                <a:cs typeface="맑은 고딕"/>
              </a:rPr>
              <a:t>• 오류 난 부분만 고쳐 다시 실행한다</a:t>
            </a:r>
          </a:p>
          <a:p>
            <a:pPr algn="l" eaLnBrk="0" marL="182880" indent="-182880">
              <a:lnSpc>
                <a:spcPct val="110000"/>
              </a:lnSpc>
              <a:spcAft>
                <a:spcPts val="400"/>
              </a:spcAft>
            </a:pPr>
            <a:r>
              <a:rPr sz="1600" b="0">
                <a:solidFill>
                  <a:srgbClr val="1F2A3A"/>
                </a:solidFill>
                <a:latin typeface="맑은 고딕"/>
                <a:ea typeface="맑은 고딕"/>
                <a:cs typeface="맑은 고딕"/>
              </a:rPr>
              <a:t>• 무엇을 세고 거를지는 바꾸지 않는다</a:t>
            </a:r>
          </a:p>
        </p:txBody>
      </p:sp>
      <p:sp>
        <p:nvSpPr>
          <p:cNvPr id="16" name="Rounded Rectangle 15"/>
          <p:cNvSpPr/>
          <p:nvPr/>
        </p:nvSpPr>
        <p:spPr>
          <a:xfrm>
            <a:off x="4566818" y="5305552"/>
            <a:ext cx="1450847"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05552"/>
            <a:ext cx="145084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지침: 두 번까지</a:t>
            </a:r>
          </a:p>
        </p:txBody>
      </p:sp>
      <p:sp>
        <p:nvSpPr>
          <p:cNvPr id="18" name="Rounded Rectangle 17"/>
          <p:cNvSpPr/>
          <p:nvPr/>
        </p:nvSpPr>
        <p:spPr>
          <a:xfrm>
            <a:off x="8127796" y="2247391"/>
            <a:ext cx="3515258" cy="348792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48560"/>
            <a:ext cx="731520" cy="731520"/>
          </a:xfrm>
          <a:prstGeom prst="ellipse">
            <a:avLst/>
          </a:prstGeom>
          <a:solidFill>
            <a:srgbClr val="5CB8F2"/>
          </a:solidFill>
          <a:ln>
            <a:noFill/>
          </a:ln>
        </p:spPr>
        <p:txBody>
          <a:bodyPr rtlCol="0" anchor="ctr"/>
          <a:lstStyle/>
          <a:p>
            <a:pPr algn="ctr"/>
          </a:p>
        </p:txBody>
      </p:sp>
      <p:pic>
        <p:nvPicPr>
          <p:cNvPr id="20" name="아이콘:clock" descr="clock_13294B_1.6.png"/>
          <p:cNvPicPr>
            <a:picLocks noChangeAspect="1"/>
          </p:cNvPicPr>
          <p:nvPr/>
        </p:nvPicPr>
        <p:blipFill>
          <a:blip r:embed="rId5"/>
          <a:stretch>
            <a:fillRect/>
          </a:stretch>
        </p:blipFill>
        <p:spPr>
          <a:xfrm>
            <a:off x="8510016" y="2602179"/>
            <a:ext cx="424281" cy="424281"/>
          </a:xfrm>
          <a:prstGeom prst="rect">
            <a:avLst/>
          </a:prstGeom>
        </p:spPr>
      </p:pic>
      <p:sp>
        <p:nvSpPr>
          <p:cNvPr id="21" name="TextBox 20"/>
          <p:cNvSpPr txBox="1"/>
          <p:nvPr/>
        </p:nvSpPr>
        <p:spPr>
          <a:xfrm>
            <a:off x="8292388"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실행 시간</a:t>
            </a:r>
          </a:p>
          <a:p>
            <a:pPr algn="l" eaLnBrk="0" marL="182880" indent="-182880">
              <a:lnSpc>
                <a:spcPct val="110000"/>
              </a:lnSpc>
              <a:spcAft>
                <a:spcPts val="400"/>
              </a:spcAft>
            </a:pPr>
            <a:r>
              <a:rPr sz="1600" b="0">
                <a:solidFill>
                  <a:srgbClr val="1F2A3A"/>
                </a:solidFill>
                <a:latin typeface="맑은 고딕"/>
                <a:ea typeface="맑은 고딕"/>
                <a:cs typeface="맑은 고딕"/>
              </a:rPr>
              <a:t>• 한 번의 실행에 쓸 수 있는 시간이다</a:t>
            </a:r>
          </a:p>
          <a:p>
            <a:pPr algn="l" eaLnBrk="0" marL="182880" indent="-182880">
              <a:lnSpc>
                <a:spcPct val="110000"/>
              </a:lnSpc>
              <a:spcAft>
                <a:spcPts val="400"/>
              </a:spcAft>
            </a:pPr>
            <a:r>
              <a:rPr sz="1600" b="0">
                <a:solidFill>
                  <a:srgbClr val="1F2A3A"/>
                </a:solidFill>
                <a:latin typeface="맑은 고딕"/>
                <a:ea typeface="맑은 고딕"/>
                <a:cs typeface="맑은 고딕"/>
              </a:rPr>
              <a:t>• 넘기면 작업이 멈춘 채 남고 사람이 닫는다</a:t>
            </a:r>
          </a:p>
        </p:txBody>
      </p:sp>
      <p:sp>
        <p:nvSpPr>
          <p:cNvPr id="22" name="Rounded Rectangle 21"/>
          <p:cNvSpPr/>
          <p:nvPr/>
        </p:nvSpPr>
        <p:spPr>
          <a:xfrm>
            <a:off x="8356396" y="5305552"/>
            <a:ext cx="1136903"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05552"/>
            <a:ext cx="1136903"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설정: 30분</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권한 제한: 허용 목록 밖의 도구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허용 목록에 없는 도구는 에이전트가 필요하다고 판단해도 실행되지 않으며, 돌아갈 길을 찾지 않고 사람에게 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387854"/>
            <a:ext cx="2485567"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0734"/>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724353"/>
            <a:ext cx="424281" cy="424281"/>
          </a:xfrm>
          <a:prstGeom prst="rect">
            <a:avLst/>
          </a:prstGeom>
        </p:spPr>
      </p:pic>
      <p:sp>
        <p:nvSpPr>
          <p:cNvPr id="9" name="TextBox 8"/>
          <p:cNvSpPr txBox="1"/>
          <p:nvPr/>
        </p:nvSpPr>
        <p:spPr>
          <a:xfrm>
            <a:off x="621792"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허용 목록</a:t>
            </a:r>
          </a:p>
          <a:p>
            <a:pPr algn="ctr" eaLnBrk="0">
              <a:lnSpc>
                <a:spcPct val="110000"/>
              </a:lnSpc>
              <a:spcAft>
                <a:spcPts val="400"/>
              </a:spcAft>
            </a:pPr>
            <a:r>
              <a:rPr sz="1650" b="0">
                <a:solidFill>
                  <a:srgbClr val="1F2A3A"/>
                </a:solidFill>
                <a:latin typeface="맑은 고딕"/>
                <a:ea typeface="맑은 고딕"/>
                <a:cs typeface="맑은 고딕"/>
              </a:rPr>
              <a:t>Allowlist</a:t>
            </a:r>
          </a:p>
          <a:p>
            <a:pPr algn="ctr" eaLnBrk="0">
              <a:lnSpc>
                <a:spcPct val="110000"/>
              </a:lnSpc>
              <a:spcAft>
                <a:spcPts val="400"/>
              </a:spcAft>
            </a:pPr>
            <a:r>
              <a:rPr sz="1650" b="0">
                <a:solidFill>
                  <a:srgbClr val="1F2A3A"/>
                </a:solidFill>
                <a:latin typeface="맑은 고딕"/>
                <a:ea typeface="맑은 고딕"/>
                <a:cs typeface="맑은 고딕"/>
              </a:rPr>
              <a:t>에이전트마다</a:t>
            </a:r>
          </a:p>
          <a:p>
            <a:pPr algn="ctr" eaLnBrk="0">
              <a:lnSpc>
                <a:spcPct val="110000"/>
              </a:lnSpc>
              <a:spcAft>
                <a:spcPts val="400"/>
              </a:spcAft>
            </a:pPr>
            <a:r>
              <a:rPr sz="1650" b="0">
                <a:solidFill>
                  <a:srgbClr val="1F2A3A"/>
                </a:solidFill>
                <a:latin typeface="맑은 고딕"/>
                <a:ea typeface="맑은 고딕"/>
                <a:cs typeface="맑은 고딕"/>
              </a:rPr>
              <a:t>부를 수 있는 도구가</a:t>
            </a:r>
          </a:p>
          <a:p>
            <a:pPr algn="ctr" eaLnBrk="0">
              <a:lnSpc>
                <a:spcPct val="110000"/>
              </a:lnSpc>
              <a:spcAft>
                <a:spcPts val="400"/>
              </a:spcAft>
            </a:pPr>
            <a:r>
              <a:rPr sz="1650" b="0">
                <a:solidFill>
                  <a:srgbClr val="1F2A3A"/>
                </a:solidFill>
                <a:latin typeface="맑은 고딕"/>
                <a:ea typeface="맑은 고딕"/>
                <a:cs typeface="맑은 고딕"/>
              </a:rPr>
              <a:t>정해져 있다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87854"/>
            <a:ext cx="2485567" cy="320700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0734"/>
            <a:ext cx="731520" cy="731520"/>
          </a:xfrm>
          <a:prstGeom prst="ellipse">
            <a:avLst/>
          </a:prstGeom>
          <a:solidFill>
            <a:srgbClr val="FFFFFF"/>
          </a:solidFill>
          <a:ln>
            <a:noFill/>
          </a:ln>
        </p:spPr>
        <p:txBody>
          <a:bodyPr rtlCol="0" anchor="ctr"/>
          <a:lstStyle/>
          <a:p>
            <a:pPr algn="ctr"/>
          </a:p>
        </p:txBody>
      </p:sp>
      <p:pic>
        <p:nvPicPr>
          <p:cNvPr id="13" name="아이콘:ban" descr="ban_13294B_1.6.png"/>
          <p:cNvPicPr>
            <a:picLocks noChangeAspect="1"/>
          </p:cNvPicPr>
          <p:nvPr/>
        </p:nvPicPr>
        <p:blipFill>
          <a:blip r:embed="rId4"/>
          <a:stretch>
            <a:fillRect/>
          </a:stretch>
        </p:blipFill>
        <p:spPr>
          <a:xfrm>
            <a:off x="4448898" y="2724353"/>
            <a:ext cx="424281" cy="424281"/>
          </a:xfrm>
          <a:prstGeom prst="rect">
            <a:avLst/>
          </a:prstGeom>
        </p:spPr>
      </p:pic>
      <p:sp>
        <p:nvSpPr>
          <p:cNvPr id="14" name="TextBox 13"/>
          <p:cNvSpPr txBox="1"/>
          <p:nvPr/>
        </p:nvSpPr>
        <p:spPr>
          <a:xfrm>
            <a:off x="3491407"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목록 밖의 호출</a:t>
            </a:r>
          </a:p>
          <a:p>
            <a:pPr algn="ctr" eaLnBrk="0">
              <a:lnSpc>
                <a:spcPct val="110000"/>
              </a:lnSpc>
              <a:spcAft>
                <a:spcPts val="400"/>
              </a:spcAft>
            </a:pPr>
            <a:r>
              <a:rPr sz="1650" b="0">
                <a:solidFill>
                  <a:srgbClr val="1F2A3A"/>
                </a:solidFill>
                <a:latin typeface="맑은 고딕"/>
                <a:ea typeface="맑은 고딕"/>
                <a:cs typeface="맑은 고딕"/>
              </a:rPr>
              <a:t>실행되지 않고</a:t>
            </a:r>
          </a:p>
          <a:p>
            <a:pPr algn="ctr" eaLnBrk="0">
              <a:lnSpc>
                <a:spcPct val="110000"/>
              </a:lnSpc>
              <a:spcAft>
                <a:spcPts val="400"/>
              </a:spcAft>
            </a:pPr>
            <a:r>
              <a:rPr sz="1650" b="0">
                <a:solidFill>
                  <a:srgbClr val="1F2A3A"/>
                </a:solidFill>
                <a:latin typeface="맑은 고딕"/>
                <a:ea typeface="맑은 고딕"/>
                <a:cs typeface="맑은 고딕"/>
              </a:rPr>
              <a:t>권한 요청이 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87854"/>
            <a:ext cx="2485567"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570734"/>
            <a:ext cx="731520" cy="731520"/>
          </a:xfrm>
          <a:prstGeom prst="ellipse">
            <a:avLst/>
          </a:prstGeom>
          <a:solidFill>
            <a:srgbClr val="5CB8F2"/>
          </a:solidFill>
          <a:ln>
            <a:noFill/>
          </a:ln>
        </p:spPr>
        <p:txBody>
          <a:bodyPr rtlCol="0" anchor="ctr"/>
          <a:lstStyle/>
          <a:p>
            <a:pPr algn="ctr"/>
          </a:p>
        </p:txBody>
      </p:sp>
      <p:pic>
        <p:nvPicPr>
          <p:cNvPr id="18" name="아이콘:message-question" descr="message-question_13294B_1.6.png"/>
          <p:cNvPicPr>
            <a:picLocks noChangeAspect="1"/>
          </p:cNvPicPr>
          <p:nvPr/>
        </p:nvPicPr>
        <p:blipFill>
          <a:blip r:embed="rId5"/>
          <a:stretch>
            <a:fillRect/>
          </a:stretch>
        </p:blipFill>
        <p:spPr>
          <a:xfrm>
            <a:off x="7318514" y="2724353"/>
            <a:ext cx="424281" cy="424281"/>
          </a:xfrm>
          <a:prstGeom prst="rect">
            <a:avLst/>
          </a:prstGeom>
        </p:spPr>
      </p:pic>
      <p:sp>
        <p:nvSpPr>
          <p:cNvPr id="19" name="TextBox 18"/>
          <p:cNvSpPr txBox="1"/>
          <p:nvPr/>
        </p:nvSpPr>
        <p:spPr>
          <a:xfrm>
            <a:off x="6361023"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사람에게 묻는다</a:t>
            </a:r>
          </a:p>
          <a:p>
            <a:pPr algn="ctr" eaLnBrk="0">
              <a:lnSpc>
                <a:spcPct val="110000"/>
              </a:lnSpc>
              <a:spcAft>
                <a:spcPts val="400"/>
              </a:spcAft>
            </a:pPr>
            <a:r>
              <a:rPr sz="1650" b="0">
                <a:solidFill>
                  <a:srgbClr val="1F2A3A"/>
                </a:solidFill>
                <a:latin typeface="맑은 고딕"/>
                <a:ea typeface="맑은 고딕"/>
                <a:cs typeface="맑은 고딕"/>
              </a:rPr>
              <a:t>요청이 질문이 되어</a:t>
            </a:r>
          </a:p>
          <a:p>
            <a:pPr algn="ctr" eaLnBrk="0">
              <a:lnSpc>
                <a:spcPct val="110000"/>
              </a:lnSpc>
              <a:spcAft>
                <a:spcPts val="400"/>
              </a:spcAft>
            </a:pPr>
            <a:r>
              <a:rPr sz="1650" b="0">
                <a:solidFill>
                  <a:srgbClr val="1F2A3A"/>
                </a:solidFill>
                <a:latin typeface="맑은 고딕"/>
                <a:ea typeface="맑은 고딕"/>
                <a:cs typeface="맑은 고딕"/>
              </a:rPr>
              <a:t>사람에게 올라간다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87854"/>
            <a:ext cx="2485567" cy="320700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570734"/>
            <a:ext cx="731520" cy="731520"/>
          </a:xfrm>
          <a:prstGeom prst="ellipse">
            <a:avLst/>
          </a:prstGeom>
          <a:solidFill>
            <a:srgbClr val="FFFFFF"/>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724353"/>
            <a:ext cx="424281" cy="424281"/>
          </a:xfrm>
          <a:prstGeom prst="rect">
            <a:avLst/>
          </a:prstGeom>
        </p:spPr>
      </p:pic>
      <p:sp>
        <p:nvSpPr>
          <p:cNvPr id="24" name="TextBox 23"/>
          <p:cNvSpPr txBox="1"/>
          <p:nvPr/>
        </p:nvSpPr>
        <p:spPr>
          <a:xfrm>
            <a:off x="9230639"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바뀌지 않는 것</a:t>
            </a:r>
          </a:p>
          <a:p>
            <a:pPr algn="ctr" eaLnBrk="0">
              <a:lnSpc>
                <a:spcPct val="110000"/>
              </a:lnSpc>
              <a:spcAft>
                <a:spcPts val="400"/>
              </a:spcAft>
            </a:pPr>
            <a:r>
              <a:rPr sz="1650" b="0">
                <a:solidFill>
                  <a:srgbClr val="1F2A3A"/>
                </a:solidFill>
                <a:latin typeface="맑은 고딕"/>
                <a:ea typeface="맑은 고딕"/>
                <a:cs typeface="맑은 고딕"/>
              </a:rPr>
              <a:t>「답변은 실행 권한을</a:t>
            </a:r>
          </a:p>
          <a:p>
            <a:pPr algn="ctr" eaLnBrk="0">
              <a:lnSpc>
                <a:spcPct val="110000"/>
              </a:lnSpc>
              <a:spcAft>
                <a:spcPts val="400"/>
              </a:spcAft>
            </a:pPr>
            <a:r>
              <a:rPr sz="1650" b="0">
                <a:solidFill>
                  <a:srgbClr val="1F2A3A"/>
                </a:solidFill>
                <a:latin typeface="맑은 고딕"/>
                <a:ea typeface="맑은 고딕"/>
                <a:cs typeface="맑은 고딕"/>
              </a:rPr>
              <a:t>바꾸지 않습니다.」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구조화 출력과 실행 기록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결과는 정해진 형식, 과정은 기록으로 남기고 확인된 원인과 가설을 가른다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구조화 출력: 결과 객체의 다섯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 끝에 남기는 결과는 </a:t>
            </a:r>
            <a:r>
              <a:rPr sz="1600" b="1">
                <a:solidFill>
                  <a:srgbClr val="1A6FC4"/>
                </a:solidFill>
                <a:latin typeface="맑은 고딕"/>
                <a:ea typeface="맑은 고딕"/>
                <a:cs typeface="맑은 고딕"/>
              </a:rPr>
              <a:t>출력 계약</a:t>
            </a:r>
            <a:r>
              <a:rPr sz="1600" b="0">
                <a:solidFill>
                  <a:srgbClr val="556175"/>
                </a:solidFill>
                <a:latin typeface="맑은 고딕"/>
                <a:ea typeface="맑은 고딕"/>
                <a:cs typeface="맑은 고딕"/>
              </a:rPr>
              <a:t>(작업마다 정한 항목)에 맞춘 JSON 객체이며, 판단 번호도 여기에 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"cause": "cause:cooler-fin-fouling",</a:t>
            </a:r>
          </a:p>
          <a:p>
            <a:pPr algn="l" eaLnBrk="0">
              <a:lnSpc>
                <a:spcPct val="110000"/>
              </a:lnSpc>
              <a:spcAft>
                <a:spcPts val="200"/>
              </a:spcAft>
            </a:pPr>
            <a:r>
              <a:rPr sz="1300" b="0">
                <a:solidFill>
                  <a:srgbClr val="E8EEF6"/>
                </a:solidFill>
                <a:latin typeface="Consolas"/>
                <a:ea typeface="맑은 고딕"/>
                <a:cs typeface="맑은 고딕"/>
              </a:rPr>
              <a:t> "failure_mode":</a:t>
            </a:r>
          </a:p>
          <a:p>
            <a:pPr algn="l" eaLnBrk="0">
              <a:lnSpc>
                <a:spcPct val="110000"/>
              </a:lnSpc>
              <a:spcAft>
                <a:spcPts val="200"/>
              </a:spcAft>
            </a:pPr>
            <a:r>
              <a:rPr sz="1300" b="0">
                <a:solidFill>
                  <a:srgbClr val="E8EEF6"/>
                </a:solidFill>
                <a:latin typeface="Consolas"/>
                <a:ea typeface="맑은 고딕"/>
                <a:cs typeface="맑은 고딕"/>
              </a:rPr>
              <a:t>   "fm:cooler-performance-loss",</a:t>
            </a:r>
          </a:p>
          <a:p>
            <a:pPr algn="l" eaLnBrk="0">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"decision": {</a:t>
            </a:r>
          </a:p>
          <a:p>
            <a:pPr algn="l" eaLnBrk="0">
              <a:lnSpc>
                <a:spcPct val="110000"/>
              </a:lnSpc>
              <a:spcAft>
                <a:spcPts val="200"/>
              </a:spcAft>
            </a:pPr>
            <a:r>
              <a:rPr sz="1300" b="0">
                <a:solidFill>
                  <a:srgbClr val="E8EEF6"/>
                </a:solidFill>
                <a:latin typeface="Consolas"/>
                <a:ea typeface="맑은 고딕"/>
                <a:cs typeface="맑은 고딕"/>
              </a:rPr>
              <a:t>   "recommended": "skill:sop-cool-11",</a:t>
            </a:r>
          </a:p>
          <a:p>
            <a:pPr algn="l" eaLnBrk="0">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"decision_id": "DEC-1010-002-408b"</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cause · failure_mode</a:t>
            </a:r>
          </a:p>
          <a:p>
            <a:pPr algn="l" eaLnBrk="0">
              <a:lnSpc>
                <a:spcPct val="110000"/>
              </a:lnSpc>
              <a:spcAft>
                <a:spcPts val="400"/>
              </a:spcAft>
            </a:pPr>
            <a:r>
              <a:rPr sz="1400" b="0">
                <a:solidFill>
                  <a:srgbClr val="1F2A3A"/>
                </a:solidFill>
                <a:latin typeface="맑은 고딕"/>
                <a:ea typeface="맑은 고딕"/>
                <a:cs typeface="맑은 고딕"/>
              </a:rPr>
              <a:t>원인과 고장 유형을 지식 그래프의 식별자로 적는다.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guide_card</a:t>
            </a:r>
          </a:p>
          <a:p>
            <a:pPr algn="l" eaLnBrk="0">
              <a:lnSpc>
                <a:spcPct val="110000"/>
              </a:lnSpc>
              <a:spcAft>
                <a:spcPts val="400"/>
              </a:spcAft>
            </a:pPr>
            <a:r>
              <a:rPr sz="1400" b="0">
                <a:solidFill>
                  <a:srgbClr val="1F2A3A"/>
                </a:solidFill>
                <a:latin typeface="맑은 고딕"/>
                <a:ea typeface="맑은 고딕"/>
                <a:cs typeface="맑은 고딕"/>
              </a:rPr>
              <a:t>진단의 결과와 권장 조치를 담은 안내이다.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decision</a:t>
            </a:r>
          </a:p>
          <a:p>
            <a:pPr algn="l" eaLnBrk="0">
              <a:lnSpc>
                <a:spcPct val="110000"/>
              </a:lnSpc>
              <a:spcAft>
                <a:spcPts val="400"/>
              </a:spcAft>
            </a:pPr>
            <a:r>
              <a:rPr sz="1300" b="0">
                <a:solidFill>
                  <a:srgbClr val="1F2A3A"/>
                </a:solidFill>
                <a:latin typeface="맑은 고딕"/>
                <a:ea typeface="맑은 고딕"/>
                <a:cs typeface="맑은 고딕"/>
              </a:rPr>
              <a:t>추천하는 조치, 그 이유의 설명, 후보의 순서이다. 설명 문장에는 식별자 대신 이름을 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decision_id</a:t>
            </a:r>
          </a:p>
          <a:p>
            <a:pPr algn="l" eaLnBrk="0">
              <a:lnSpc>
                <a:spcPct val="110000"/>
              </a:lnSpc>
              <a:spcAft>
                <a:spcPts val="400"/>
              </a:spcAft>
            </a:pPr>
            <a:r>
              <a:rPr sz="1400" b="0">
                <a:solidFill>
                  <a:srgbClr val="1F2A3A"/>
                </a:solidFill>
                <a:latin typeface="맑은 고딕"/>
                <a:ea typeface="맑은 고딕"/>
                <a:cs typeface="맑은 고딕"/>
              </a:rPr>
              <a:t>판단 제출에서 돌려받은 판단 번호이다.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출력 형식의 검사와 교정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형식이 어긋난 결과는 다음 단계로 넘어가지 못하고, 거절된 이유와 함께 에이전트에게 되돌아가 고쳐진다.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407221"/>
            <a:ext cx="2485567" cy="316826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90101"/>
            <a:ext cx="731520" cy="731520"/>
          </a:xfrm>
          <a:prstGeom prst="ellipse">
            <a:avLst/>
          </a:prstGeom>
          <a:solidFill>
            <a:srgbClr val="FFFFFF"/>
          </a:solidFill>
          <a:ln>
            <a:noFill/>
          </a:ln>
        </p:spPr>
        <p:txBody>
          <a:bodyPr rtlCol="0" anchor="ctr"/>
          <a:lstStyle/>
          <a:p>
            <a:pPr algn="ctr"/>
          </a:p>
        </p:txBody>
      </p:sp>
      <p:pic>
        <p:nvPicPr>
          <p:cNvPr id="8" name="아이콘:send" descr="send_13294B_1.6.png"/>
          <p:cNvPicPr>
            <a:picLocks noChangeAspect="1"/>
          </p:cNvPicPr>
          <p:nvPr/>
        </p:nvPicPr>
        <p:blipFill>
          <a:blip r:embed="rId3"/>
          <a:stretch>
            <a:fillRect/>
          </a:stretch>
        </p:blipFill>
        <p:spPr>
          <a:xfrm>
            <a:off x="1579283" y="2743720"/>
            <a:ext cx="424281" cy="424281"/>
          </a:xfrm>
          <a:prstGeom prst="rect">
            <a:avLst/>
          </a:prstGeom>
        </p:spPr>
      </p:pic>
      <p:sp>
        <p:nvSpPr>
          <p:cNvPr id="9" name="TextBox 8"/>
          <p:cNvSpPr txBox="1"/>
          <p:nvPr/>
        </p:nvSpPr>
        <p:spPr>
          <a:xfrm>
            <a:off x="621792" y="3394773"/>
            <a:ext cx="2339263" cy="2107564"/>
          </a:xfrm>
          <a:prstGeom prst="rect">
            <a:avLst/>
          </a:prstGeom>
          <a:noFill/>
        </p:spPr>
        <p:txBody>
          <a:bodyPr wrap="square" anchor="t"/>
          <a:lstStyle/>
          <a:p>
            <a:pPr algn="ctr" eaLnBrk="0">
              <a:lnSpc>
                <a:spcPct val="110000"/>
              </a:lnSpc>
              <a:spcAft>
                <a:spcPts val="400"/>
              </a:spcAft>
            </a:pPr>
            <a:r>
              <a:rPr sz="1950" b="1">
                <a:solidFill>
                  <a:srgbClr val="13294B"/>
                </a:solidFill>
                <a:latin typeface="맑은 고딕"/>
                <a:ea typeface="맑은 고딕"/>
                <a:cs typeface="맑은 고딕"/>
              </a:rPr>
              <a:t>제출</a:t>
            </a:r>
          </a:p>
          <a:p>
            <a:pPr algn="ctr" eaLnBrk="0">
              <a:lnSpc>
                <a:spcPct val="110000"/>
              </a:lnSpc>
              <a:spcAft>
                <a:spcPts val="400"/>
              </a:spcAft>
            </a:pPr>
            <a:r>
              <a:rPr sz="1600" b="0">
                <a:solidFill>
                  <a:srgbClr val="1F2A3A"/>
                </a:solidFill>
                <a:latin typeface="맑은 고딕"/>
                <a:ea typeface="맑은 고딕"/>
                <a:cs typeface="맑은 고딕"/>
              </a:rPr>
              <a:t>에이전트가</a:t>
            </a:r>
          </a:p>
          <a:p>
            <a:pPr algn="ctr" eaLnBrk="0">
              <a:lnSpc>
                <a:spcPct val="110000"/>
              </a:lnSpc>
              <a:spcAft>
                <a:spcPts val="400"/>
              </a:spcAft>
            </a:pPr>
            <a:r>
              <a:rPr sz="1600" b="0">
                <a:solidFill>
                  <a:srgbClr val="1F2A3A"/>
                </a:solidFill>
                <a:latin typeface="맑은 고딕"/>
                <a:ea typeface="맑은 고딕"/>
                <a:cs typeface="맑은 고딕"/>
              </a:rPr>
              <a:t>결과 객체를 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07221"/>
            <a:ext cx="2485567" cy="316826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590101"/>
            <a:ext cx="731520" cy="731520"/>
          </a:xfrm>
          <a:prstGeom prst="ellipse">
            <a:avLst/>
          </a:prstGeom>
          <a:solidFill>
            <a:srgbClr val="5CB8F2"/>
          </a:solidFill>
          <a:ln>
            <a:noFill/>
          </a:ln>
        </p:spPr>
        <p:txBody>
          <a:bodyPr rtlCol="0" anchor="ctr"/>
          <a:lstStyle/>
          <a:p>
            <a:pPr algn="ctr"/>
          </a:p>
        </p:txBody>
      </p:sp>
      <p:pic>
        <p:nvPicPr>
          <p:cNvPr id="13" name="아이콘:checks" descr="checks_13294B_1.6.png"/>
          <p:cNvPicPr>
            <a:picLocks noChangeAspect="1"/>
          </p:cNvPicPr>
          <p:nvPr/>
        </p:nvPicPr>
        <p:blipFill>
          <a:blip r:embed="rId4"/>
          <a:stretch>
            <a:fillRect/>
          </a:stretch>
        </p:blipFill>
        <p:spPr>
          <a:xfrm>
            <a:off x="4448898" y="2743720"/>
            <a:ext cx="424281" cy="424281"/>
          </a:xfrm>
          <a:prstGeom prst="rect">
            <a:avLst/>
          </a:prstGeom>
        </p:spPr>
      </p:pic>
      <p:sp>
        <p:nvSpPr>
          <p:cNvPr id="14" name="TextBox 13"/>
          <p:cNvSpPr txBox="1"/>
          <p:nvPr/>
        </p:nvSpPr>
        <p:spPr>
          <a:xfrm>
            <a:off x="3491407" y="3394773"/>
            <a:ext cx="2339263" cy="2107564"/>
          </a:xfrm>
          <a:prstGeom prst="rect">
            <a:avLst/>
          </a:prstGeom>
          <a:noFill/>
        </p:spPr>
        <p:txBody>
          <a:bodyPr wrap="square" anchor="t"/>
          <a:lstStyle/>
          <a:p>
            <a:pPr algn="ctr" eaLnBrk="0">
              <a:lnSpc>
                <a:spcPct val="110000"/>
              </a:lnSpc>
              <a:spcAft>
                <a:spcPts val="400"/>
              </a:spcAft>
            </a:pPr>
            <a:r>
              <a:rPr sz="1950" b="1">
                <a:solidFill>
                  <a:srgbClr val="13294B"/>
                </a:solidFill>
                <a:latin typeface="맑은 고딕"/>
                <a:ea typeface="맑은 고딕"/>
                <a:cs typeface="맑은 고딕"/>
              </a:rPr>
              <a:t>형식 검사</a:t>
            </a:r>
          </a:p>
          <a:p>
            <a:pPr algn="ctr" eaLnBrk="0">
              <a:lnSpc>
                <a:spcPct val="110000"/>
              </a:lnSpc>
              <a:spcAft>
                <a:spcPts val="400"/>
              </a:spcAft>
            </a:pPr>
            <a:r>
              <a:rPr sz="1600" b="0">
                <a:solidFill>
                  <a:srgbClr val="1F2A3A"/>
                </a:solidFill>
                <a:latin typeface="맑은 고딕"/>
                <a:ea typeface="맑은 고딕"/>
                <a:cs typeface="맑은 고딕"/>
              </a:rPr>
              <a:t>정해진 항목과</a:t>
            </a:r>
          </a:p>
          <a:p>
            <a:pPr algn="ctr" eaLnBrk="0">
              <a:lnSpc>
                <a:spcPct val="110000"/>
              </a:lnSpc>
              <a:spcAft>
                <a:spcPts val="400"/>
              </a:spcAft>
            </a:pPr>
            <a:r>
              <a:rPr sz="1600" b="0">
                <a:solidFill>
                  <a:srgbClr val="1F2A3A"/>
                </a:solidFill>
                <a:latin typeface="맑은 고딕"/>
                <a:ea typeface="맑은 고딕"/>
                <a:cs typeface="맑은 고딕"/>
              </a:rPr>
              <a:t>맞는지를 시스템이 본다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07221"/>
            <a:ext cx="2485567" cy="316826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90101"/>
            <a:ext cx="731520" cy="731520"/>
          </a:xfrm>
          <a:prstGeom prst="ellipse">
            <a:avLst/>
          </a:prstGeom>
          <a:solidFill>
            <a:srgbClr val="FFFFFF"/>
          </a:solidFill>
          <a:ln>
            <a:noFill/>
          </a:ln>
        </p:spPr>
        <p:txBody>
          <a:bodyPr rtlCol="0" anchor="ctr"/>
          <a:lstStyle/>
          <a:p>
            <a:pPr algn="ctr"/>
          </a:p>
        </p:txBody>
      </p:sp>
      <p:pic>
        <p:nvPicPr>
          <p:cNvPr id="18" name="아이콘:arrow-back-up" descr="arrow-back-up_13294B_1.6.png"/>
          <p:cNvPicPr>
            <a:picLocks noChangeAspect="1"/>
          </p:cNvPicPr>
          <p:nvPr/>
        </p:nvPicPr>
        <p:blipFill>
          <a:blip r:embed="rId5"/>
          <a:stretch>
            <a:fillRect/>
          </a:stretch>
        </p:blipFill>
        <p:spPr>
          <a:xfrm>
            <a:off x="7318514" y="2743720"/>
            <a:ext cx="424281" cy="424281"/>
          </a:xfrm>
          <a:prstGeom prst="rect">
            <a:avLst/>
          </a:prstGeom>
        </p:spPr>
      </p:pic>
      <p:sp>
        <p:nvSpPr>
          <p:cNvPr id="19" name="TextBox 18"/>
          <p:cNvSpPr txBox="1"/>
          <p:nvPr/>
        </p:nvSpPr>
        <p:spPr>
          <a:xfrm>
            <a:off x="6361023" y="3394773"/>
            <a:ext cx="2339263" cy="2107564"/>
          </a:xfrm>
          <a:prstGeom prst="rect">
            <a:avLst/>
          </a:prstGeom>
          <a:noFill/>
        </p:spPr>
        <p:txBody>
          <a:bodyPr wrap="square" anchor="t"/>
          <a:lstStyle/>
          <a:p>
            <a:pPr algn="ctr" eaLnBrk="0">
              <a:lnSpc>
                <a:spcPct val="110000"/>
              </a:lnSpc>
              <a:spcAft>
                <a:spcPts val="400"/>
              </a:spcAft>
            </a:pPr>
            <a:r>
              <a:rPr sz="1950" b="1">
                <a:solidFill>
                  <a:srgbClr val="13294B"/>
                </a:solidFill>
                <a:latin typeface="맑은 고딕"/>
                <a:ea typeface="맑은 고딕"/>
                <a:cs typeface="맑은 고딕"/>
              </a:rPr>
              <a:t>거절과 교정</a:t>
            </a:r>
          </a:p>
          <a:p>
            <a:pPr algn="ctr" eaLnBrk="0">
              <a:lnSpc>
                <a:spcPct val="110000"/>
              </a:lnSpc>
              <a:spcAft>
                <a:spcPts val="400"/>
              </a:spcAft>
            </a:pPr>
            <a:r>
              <a:rPr sz="1600" b="0">
                <a:solidFill>
                  <a:srgbClr val="1F2A3A"/>
                </a:solidFill>
                <a:latin typeface="맑은 고딕"/>
                <a:ea typeface="맑은 고딕"/>
                <a:cs typeface="맑은 고딕"/>
              </a:rPr>
              <a:t>「출력 형식 검사에서</a:t>
            </a:r>
          </a:p>
          <a:p>
            <a:pPr algn="ctr" eaLnBrk="0">
              <a:lnSpc>
                <a:spcPct val="110000"/>
              </a:lnSpc>
              <a:spcAft>
                <a:spcPts val="400"/>
              </a:spcAft>
            </a:pPr>
            <a:r>
              <a:rPr sz="1600" b="0">
                <a:solidFill>
                  <a:srgbClr val="1F2A3A"/>
                </a:solidFill>
                <a:latin typeface="맑은 고딕"/>
                <a:ea typeface="맑은 고딕"/>
                <a:cs typeface="맑은 고딕"/>
              </a:rPr>
              <a:t>거절됐습니다」를 받고</a:t>
            </a:r>
          </a:p>
          <a:p>
            <a:pPr algn="ctr" eaLnBrk="0">
              <a:lnSpc>
                <a:spcPct val="110000"/>
              </a:lnSpc>
              <a:spcAft>
                <a:spcPts val="400"/>
              </a:spcAft>
            </a:pPr>
            <a:r>
              <a:rPr sz="1600" b="0">
                <a:solidFill>
                  <a:srgbClr val="1F2A3A"/>
                </a:solidFill>
                <a:latin typeface="맑은 고딕"/>
                <a:ea typeface="맑은 고딕"/>
                <a:cs typeface="맑은 고딕"/>
              </a:rPr>
              <a:t>고쳐서 다시 낸다</a:t>
            </a:r>
          </a:p>
          <a:p>
            <a:pPr algn="ctr" eaLnBrk="0">
              <a:lnSpc>
                <a:spcPct val="110000"/>
              </a:lnSpc>
              <a:spcAft>
                <a:spcPts val="400"/>
              </a:spcAft>
            </a:pPr>
            <a:r>
              <a:rPr sz="1600" b="0">
                <a:solidFill>
                  <a:srgbClr val="1F2A3A"/>
                </a:solidFill>
                <a:latin typeface="맑은 고딕"/>
                <a:ea typeface="맑은 고딕"/>
                <a:cs typeface="맑은 고딕"/>
              </a:rPr>
              <a:t>교정은 두 번까지</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07221"/>
            <a:ext cx="2485567" cy="316826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590101"/>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743720"/>
            <a:ext cx="424281" cy="424281"/>
          </a:xfrm>
          <a:prstGeom prst="rect">
            <a:avLst/>
          </a:prstGeom>
        </p:spPr>
      </p:pic>
      <p:sp>
        <p:nvSpPr>
          <p:cNvPr id="24" name="TextBox 23"/>
          <p:cNvSpPr txBox="1"/>
          <p:nvPr/>
        </p:nvSpPr>
        <p:spPr>
          <a:xfrm>
            <a:off x="9230639" y="3394773"/>
            <a:ext cx="2339263" cy="2107564"/>
          </a:xfrm>
          <a:prstGeom prst="rect">
            <a:avLst/>
          </a:prstGeom>
          <a:noFill/>
        </p:spPr>
        <p:txBody>
          <a:bodyPr wrap="square" anchor="t"/>
          <a:lstStyle/>
          <a:p>
            <a:pPr algn="ctr" eaLnBrk="0">
              <a:lnSpc>
                <a:spcPct val="110000"/>
              </a:lnSpc>
              <a:spcAft>
                <a:spcPts val="400"/>
              </a:spcAft>
            </a:pPr>
            <a:r>
              <a:rPr sz="1950" b="1">
                <a:solidFill>
                  <a:srgbClr val="13294B"/>
                </a:solidFill>
                <a:latin typeface="맑은 고딕"/>
                <a:ea typeface="맑은 고딕"/>
                <a:cs typeface="맑은 고딕"/>
              </a:rPr>
              <a:t>통과</a:t>
            </a:r>
          </a:p>
          <a:p>
            <a:pPr algn="ctr" eaLnBrk="0">
              <a:lnSpc>
                <a:spcPct val="110000"/>
              </a:lnSpc>
              <a:spcAft>
                <a:spcPts val="400"/>
              </a:spcAft>
            </a:pPr>
            <a:r>
              <a:rPr sz="1600" b="0">
                <a:solidFill>
                  <a:srgbClr val="1F2A3A"/>
                </a:solidFill>
                <a:latin typeface="맑은 고딕"/>
                <a:ea typeface="맑은 고딕"/>
                <a:cs typeface="맑은 고딕"/>
              </a:rPr>
              <a:t>승인할 담당자에게</a:t>
            </a:r>
          </a:p>
          <a:p>
            <a:pPr algn="ctr" eaLnBrk="0">
              <a:lnSpc>
                <a:spcPct val="110000"/>
              </a:lnSpc>
              <a:spcAft>
                <a:spcPts val="400"/>
              </a:spcAft>
            </a:pPr>
            <a:r>
              <a:rPr sz="1600" b="0">
                <a:solidFill>
                  <a:srgbClr val="1F2A3A"/>
                </a:solidFill>
                <a:latin typeface="맑은 고딕"/>
                <a:ea typeface="맑은 고딕"/>
                <a:cs typeface="맑은 고딕"/>
              </a:rPr>
              <a:t>넘어간다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기록 한 줄에 남는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실행 기록은 포털의 처리 기록 화면에 보이며, 도구 호출 한 줄은 시각 · 도구 · 입력 · 출력 · 걸린 시간으로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pic>
        <p:nvPicPr>
          <p:cNvPr id="6" name="삽화:기록한줄.svg" descr="illust_4485437511866607104_17922245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68473" y="3707709"/>
            <a:ext cx="545474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기록</a:t>
            </a:r>
          </a:p>
          <a:p>
            <a:pPr algn="ctr" eaLnBrk="0">
              <a:lnSpc>
                <a:spcPct val="110000"/>
              </a:lnSpc>
              <a:spcAft>
                <a:spcPts val="100"/>
              </a:spcAft>
            </a:pPr>
            <a:r>
              <a:rPr sz="1300" b="0">
                <a:solidFill>
                  <a:srgbClr val="556175"/>
                </a:solidFill>
                <a:latin typeface="맑은 고딕"/>
                <a:ea typeface="맑은 고딕"/>
                <a:cs typeface="맑은 고딕"/>
              </a:rPr>
              <a:t>포털 화면</a:t>
            </a:r>
          </a:p>
        </p:txBody>
      </p:sp>
      <p:sp>
        <p:nvSpPr>
          <p:cNvPr id="8" name="TextBox 7"/>
          <p:cNvSpPr txBox="1"/>
          <p:nvPr/>
        </p:nvSpPr>
        <p:spPr>
          <a:xfrm>
            <a:off x="1448402" y="4558649"/>
            <a:ext cx="120004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시각</a:t>
            </a:r>
          </a:p>
          <a:p>
            <a:pPr algn="ctr" eaLnBrk="0">
              <a:lnSpc>
                <a:spcPct val="110000"/>
              </a:lnSpc>
              <a:spcAft>
                <a:spcPts val="100"/>
              </a:spcAft>
            </a:pPr>
            <a:r>
              <a:rPr sz="1300" b="0">
                <a:solidFill>
                  <a:srgbClr val="556175"/>
                </a:solidFill>
                <a:latin typeface="맑은 고딕"/>
                <a:ea typeface="맑은 고딕"/>
                <a:cs typeface="맑은 고딕"/>
              </a:rPr>
              <a:t>11:13:18</a:t>
            </a:r>
          </a:p>
        </p:txBody>
      </p:sp>
      <p:sp>
        <p:nvSpPr>
          <p:cNvPr id="9" name="TextBox 8"/>
          <p:cNvSpPr txBox="1"/>
          <p:nvPr/>
        </p:nvSpPr>
        <p:spPr>
          <a:xfrm>
            <a:off x="2855727" y="4558649"/>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a:t>
            </a:r>
          </a:p>
          <a:p>
            <a:pPr algn="ctr" eaLnBrk="0">
              <a:lnSpc>
                <a:spcPct val="110000"/>
              </a:lnSpc>
              <a:spcAft>
                <a:spcPts val="100"/>
              </a:spcAft>
            </a:pPr>
            <a:r>
              <a:rPr sz="1300" b="0">
                <a:solidFill>
                  <a:srgbClr val="556175"/>
                </a:solidFill>
                <a:latin typeface="맑은 고딕"/>
                <a:ea typeface="맑은 고딕"/>
                <a:cs typeface="맑은 고딕"/>
              </a:rPr>
              <a:t>원인 진단</a:t>
            </a:r>
          </a:p>
        </p:txBody>
      </p:sp>
      <p:sp>
        <p:nvSpPr>
          <p:cNvPr id="10" name="TextBox 9"/>
          <p:cNvSpPr txBox="1"/>
          <p:nvPr/>
        </p:nvSpPr>
        <p:spPr>
          <a:xfrm>
            <a:off x="4797617" y="4558649"/>
            <a:ext cx="2509183"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물음 (입력)</a:t>
            </a:r>
          </a:p>
          <a:p>
            <a:pPr algn="ctr" eaLnBrk="0">
              <a:lnSpc>
                <a:spcPct val="110000"/>
              </a:lnSpc>
              <a:spcAft>
                <a:spcPts val="100"/>
              </a:spcAft>
            </a:pPr>
            <a:r>
              <a:rPr sz="1300" b="0">
                <a:solidFill>
                  <a:srgbClr val="556175"/>
                </a:solidFill>
                <a:latin typeface="맑은 고딕"/>
                <a:ea typeface="맑은 고딕"/>
                <a:cs typeface="맑은 고딕"/>
              </a:rPr>
              <a:t>설비 HYD-01,</a:t>
            </a:r>
          </a:p>
          <a:p>
            <a:pPr algn="ctr" eaLnBrk="0">
              <a:lnSpc>
                <a:spcPct val="110000"/>
              </a:lnSpc>
              <a:spcAft>
                <a:spcPts val="100"/>
              </a:spcAft>
            </a:pPr>
            <a:r>
              <a:rPr sz="1300" b="0">
                <a:solidFill>
                  <a:srgbClr val="556175"/>
                </a:solidFill>
                <a:latin typeface="맑은 고딕"/>
                <a:ea typeface="맑은 고딕"/>
                <a:cs typeface="맑은 고딕"/>
              </a:rPr>
              <a:t>경보의 종류, 경보 번호</a:t>
            </a:r>
          </a:p>
        </p:txBody>
      </p:sp>
      <p:sp>
        <p:nvSpPr>
          <p:cNvPr id="11" name="TextBox 10"/>
          <p:cNvSpPr txBox="1"/>
          <p:nvPr/>
        </p:nvSpPr>
        <p:spPr>
          <a:xfrm>
            <a:off x="7470443" y="4558649"/>
            <a:ext cx="2072804"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받음 (출력)</a:t>
            </a:r>
          </a:p>
          <a:p>
            <a:pPr algn="ctr" eaLnBrk="0">
              <a:lnSpc>
                <a:spcPct val="110000"/>
              </a:lnSpc>
              <a:spcAft>
                <a:spcPts val="100"/>
              </a:spcAft>
            </a:pPr>
            <a:r>
              <a:rPr sz="1300" b="0">
                <a:solidFill>
                  <a:srgbClr val="556175"/>
                </a:solidFill>
                <a:latin typeface="맑은 고딕"/>
                <a:ea typeface="맑은 고딕"/>
                <a:cs typeface="맑은 고딕"/>
              </a:rPr>
              <a:t>원문 13,763자 (JSON)</a:t>
            </a:r>
          </a:p>
        </p:txBody>
      </p:sp>
      <p:sp>
        <p:nvSpPr>
          <p:cNvPr id="12" name="TextBox 11"/>
          <p:cNvSpPr txBox="1"/>
          <p:nvPr/>
        </p:nvSpPr>
        <p:spPr>
          <a:xfrm>
            <a:off x="9685071" y="4558649"/>
            <a:ext cx="109094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걸린 시간</a:t>
            </a:r>
          </a:p>
          <a:p>
            <a:pPr algn="ctr" eaLnBrk="0">
              <a:lnSpc>
                <a:spcPct val="110000"/>
              </a:lnSpc>
              <a:spcAft>
                <a:spcPts val="100"/>
              </a:spcAft>
            </a:pPr>
            <a:r>
              <a:rPr sz="1300" b="0">
                <a:solidFill>
                  <a:srgbClr val="556175"/>
                </a:solidFill>
                <a:latin typeface="맑은 고딕"/>
                <a:ea typeface="맑은 고딕"/>
                <a:cs typeface="맑은 고딕"/>
              </a:rPr>
              <a:t>218 ms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기록의 쓰임: 결과에서 호출로 거슬러 올라가기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진행 설명만 믿지 않고, 최종 설명과 반환값에서 입력 · 도구 · 원천으로 거슬러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ectangle 5"/>
          <p:cNvSpPr/>
          <p:nvPr/>
        </p:nvSpPr>
        <p:spPr>
          <a:xfrm>
            <a:off x="1935441" y="3100197"/>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84145"/>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lipboard-list" descr="clipboard-list_13294B_1.6.png"/>
          <p:cNvPicPr>
            <a:picLocks noChangeAspect="1"/>
          </p:cNvPicPr>
          <p:nvPr/>
        </p:nvPicPr>
        <p:blipFill>
          <a:blip r:embed="rId3"/>
          <a:stretch>
            <a:fillRect/>
          </a:stretch>
        </p:blipFill>
        <p:spPr>
          <a:xfrm>
            <a:off x="1718271" y="2901315"/>
            <a:ext cx="434340" cy="434340"/>
          </a:xfrm>
          <a:prstGeom prst="rect">
            <a:avLst/>
          </a:prstGeom>
        </p:spPr>
      </p:pic>
      <p:sp>
        <p:nvSpPr>
          <p:cNvPr id="9" name="Oval 8"/>
          <p:cNvSpPr/>
          <p:nvPr/>
        </p:nvSpPr>
        <p:spPr>
          <a:xfrm>
            <a:off x="2095461" y="2638425"/>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3842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35705"/>
            <a:ext cx="2627299" cy="156286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결과의 값</a:t>
            </a:r>
          </a:p>
          <a:p>
            <a:pPr algn="ctr" eaLnBrk="0">
              <a:lnSpc>
                <a:spcPct val="110000"/>
              </a:lnSpc>
              <a:spcAft>
                <a:spcPts val="400"/>
              </a:spcAft>
            </a:pPr>
            <a:r>
              <a:rPr sz="1650" b="0">
                <a:solidFill>
                  <a:srgbClr val="1F2A3A"/>
                </a:solidFill>
                <a:latin typeface="맑은 고딕"/>
                <a:ea typeface="맑은 고딕"/>
                <a:cs typeface="맑은 고딕"/>
              </a:rPr>
              <a:t>추천안에서</a:t>
            </a:r>
          </a:p>
          <a:p>
            <a:pPr algn="ctr" eaLnBrk="0">
              <a:lnSpc>
                <a:spcPct val="110000"/>
              </a:lnSpc>
              <a:spcAft>
                <a:spcPts val="400"/>
              </a:spcAft>
            </a:pPr>
            <a:r>
              <a:rPr sz="1650" b="0">
                <a:solidFill>
                  <a:srgbClr val="1F2A3A"/>
                </a:solidFill>
                <a:latin typeface="맑은 고딕"/>
                <a:ea typeface="맑은 고딕"/>
                <a:cs typeface="맑은 고딕"/>
              </a:rPr>
              <a:t>의심스러운 값을 고른다</a:t>
            </a:r>
          </a:p>
        </p:txBody>
      </p:sp>
      <p:sp>
        <p:nvSpPr>
          <p:cNvPr id="12" name="Oval 11"/>
          <p:cNvSpPr/>
          <p:nvPr/>
        </p:nvSpPr>
        <p:spPr>
          <a:xfrm>
            <a:off x="4274705" y="2684145"/>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zoom-check" descr="zoom-check_13294B_1.6.png"/>
          <p:cNvPicPr>
            <a:picLocks noChangeAspect="1"/>
          </p:cNvPicPr>
          <p:nvPr/>
        </p:nvPicPr>
        <p:blipFill>
          <a:blip r:embed="rId4"/>
          <a:stretch>
            <a:fillRect/>
          </a:stretch>
        </p:blipFill>
        <p:spPr>
          <a:xfrm>
            <a:off x="4491875" y="2901315"/>
            <a:ext cx="434340" cy="434340"/>
          </a:xfrm>
          <a:prstGeom prst="rect">
            <a:avLst/>
          </a:prstGeom>
        </p:spPr>
      </p:pic>
      <p:sp>
        <p:nvSpPr>
          <p:cNvPr id="14" name="Oval 13"/>
          <p:cNvSpPr/>
          <p:nvPr/>
        </p:nvSpPr>
        <p:spPr>
          <a:xfrm>
            <a:off x="4869065" y="2638425"/>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3842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35705"/>
            <a:ext cx="2627299" cy="156286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호출의 출력</a:t>
            </a:r>
          </a:p>
          <a:p>
            <a:pPr algn="ctr" eaLnBrk="0">
              <a:lnSpc>
                <a:spcPct val="110000"/>
              </a:lnSpc>
              <a:spcAft>
                <a:spcPts val="400"/>
              </a:spcAft>
            </a:pPr>
            <a:r>
              <a:rPr sz="1650" b="0">
                <a:solidFill>
                  <a:srgbClr val="1F2A3A"/>
                </a:solidFill>
                <a:latin typeface="맑은 고딕"/>
                <a:ea typeface="맑은 고딕"/>
                <a:cs typeface="맑은 고딕"/>
              </a:rPr>
              <a:t>그 값을 돌려준 호출을</a:t>
            </a:r>
          </a:p>
          <a:p>
            <a:pPr algn="ctr" eaLnBrk="0">
              <a:lnSpc>
                <a:spcPct val="110000"/>
              </a:lnSpc>
              <a:spcAft>
                <a:spcPts val="400"/>
              </a:spcAft>
            </a:pPr>
            <a:r>
              <a:rPr sz="1650" b="0">
                <a:solidFill>
                  <a:srgbClr val="1F2A3A"/>
                </a:solidFill>
                <a:latin typeface="맑은 고딕"/>
                <a:ea typeface="맑은 고딕"/>
                <a:cs typeface="맑은 고딕"/>
              </a:rPr>
              <a:t>기록에서 찾는다</a:t>
            </a:r>
          </a:p>
        </p:txBody>
      </p:sp>
      <p:sp>
        <p:nvSpPr>
          <p:cNvPr id="17" name="Oval 16"/>
          <p:cNvSpPr/>
          <p:nvPr/>
        </p:nvSpPr>
        <p:spPr>
          <a:xfrm>
            <a:off x="7048309" y="2684145"/>
            <a:ext cx="868680" cy="868680"/>
          </a:xfrm>
          <a:prstGeom prst="ellipse">
            <a:avLst/>
          </a:prstGeom>
          <a:solidFill>
            <a:srgbClr val="5CB8F2"/>
          </a:solidFill>
          <a:ln>
            <a:no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7265479" y="2901315"/>
            <a:ext cx="434340" cy="434340"/>
          </a:xfrm>
          <a:prstGeom prst="rect">
            <a:avLst/>
          </a:prstGeom>
        </p:spPr>
      </p:pic>
      <p:sp>
        <p:nvSpPr>
          <p:cNvPr id="19" name="Oval 18"/>
          <p:cNvSpPr/>
          <p:nvPr/>
        </p:nvSpPr>
        <p:spPr>
          <a:xfrm>
            <a:off x="7642669" y="2638425"/>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3842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35705"/>
            <a:ext cx="2627299" cy="156286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호출의 입력</a:t>
            </a:r>
          </a:p>
          <a:p>
            <a:pPr algn="ctr" eaLnBrk="0">
              <a:lnSpc>
                <a:spcPct val="110000"/>
              </a:lnSpc>
              <a:spcAft>
                <a:spcPts val="400"/>
              </a:spcAft>
            </a:pPr>
            <a:r>
              <a:rPr sz="1650" b="0">
                <a:solidFill>
                  <a:srgbClr val="1F2A3A"/>
                </a:solidFill>
                <a:latin typeface="맑은 고딕"/>
                <a:ea typeface="맑은 고딕"/>
                <a:cs typeface="맑은 고딕"/>
              </a:rPr>
              <a:t>도구에 넣은 물음이</a:t>
            </a:r>
          </a:p>
          <a:p>
            <a:pPr algn="ctr" eaLnBrk="0">
              <a:lnSpc>
                <a:spcPct val="110000"/>
              </a:lnSpc>
              <a:spcAft>
                <a:spcPts val="400"/>
              </a:spcAft>
            </a:pPr>
            <a:r>
              <a:rPr sz="1650" b="0">
                <a:solidFill>
                  <a:srgbClr val="1F2A3A"/>
                </a:solidFill>
                <a:latin typeface="맑은 고딕"/>
                <a:ea typeface="맑은 고딕"/>
                <a:cs typeface="맑은 고딕"/>
              </a:rPr>
              <a:t>옳았는지를 본다</a:t>
            </a:r>
          </a:p>
        </p:txBody>
      </p:sp>
      <p:sp>
        <p:nvSpPr>
          <p:cNvPr id="22" name="Oval 21"/>
          <p:cNvSpPr/>
          <p:nvPr/>
        </p:nvSpPr>
        <p:spPr>
          <a:xfrm>
            <a:off x="9821913" y="2684145"/>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file-search" descr="file-search_13294B_1.6.png"/>
          <p:cNvPicPr>
            <a:picLocks noChangeAspect="1"/>
          </p:cNvPicPr>
          <p:nvPr/>
        </p:nvPicPr>
        <p:blipFill>
          <a:blip r:embed="rId6"/>
          <a:stretch>
            <a:fillRect/>
          </a:stretch>
        </p:blipFill>
        <p:spPr>
          <a:xfrm>
            <a:off x="10039083" y="2901315"/>
            <a:ext cx="434340" cy="434340"/>
          </a:xfrm>
          <a:prstGeom prst="rect">
            <a:avLst/>
          </a:prstGeom>
        </p:spPr>
      </p:pic>
      <p:sp>
        <p:nvSpPr>
          <p:cNvPr id="24" name="Oval 23"/>
          <p:cNvSpPr/>
          <p:nvPr/>
        </p:nvSpPr>
        <p:spPr>
          <a:xfrm>
            <a:off x="10416273" y="2638425"/>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3842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35705"/>
            <a:ext cx="2627299" cy="156286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호출 사이의 말</a:t>
            </a:r>
          </a:p>
          <a:p>
            <a:pPr algn="ctr" eaLnBrk="0">
              <a:lnSpc>
                <a:spcPct val="110000"/>
              </a:lnSpc>
              <a:spcAft>
                <a:spcPts val="400"/>
              </a:spcAft>
            </a:pPr>
            <a:r>
              <a:rPr sz="1650" b="0">
                <a:solidFill>
                  <a:srgbClr val="1F2A3A"/>
                </a:solidFill>
                <a:latin typeface="맑은 고딕"/>
                <a:ea typeface="맑은 고딕"/>
                <a:cs typeface="맑은 고딕"/>
              </a:rPr>
              <a:t>에이전트가 밝힌 의도를</a:t>
            </a:r>
          </a:p>
          <a:p>
            <a:pPr algn="ctr" eaLnBrk="0">
              <a:lnSpc>
                <a:spcPct val="110000"/>
              </a:lnSpc>
              <a:spcAft>
                <a:spcPts val="400"/>
              </a:spcAft>
            </a:pPr>
            <a:r>
              <a:rPr sz="1650" b="0">
                <a:solidFill>
                  <a:srgbClr val="1F2A3A"/>
                </a:solidFill>
                <a:latin typeface="맑은 고딕"/>
                <a:ea typeface="맑은 고딕"/>
                <a:cs typeface="맑은 고딕"/>
              </a:rPr>
              <a:t>호출 결과와 함께 읽는다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 제시: 식별자의 인용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식별자를 따라 실제 노드와 원문을 찾아가 대상 연결과 주장에 맞는 근거인지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464308"/>
            <a:ext cx="3515258" cy="305409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65476"/>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19095"/>
            <a:ext cx="424281" cy="424281"/>
          </a:xfrm>
          <a:prstGeom prst="rect">
            <a:avLst/>
          </a:prstGeom>
        </p:spPr>
      </p:pic>
      <p:sp>
        <p:nvSpPr>
          <p:cNvPr id="9" name="TextBox 8"/>
          <p:cNvSpPr txBox="1"/>
          <p:nvPr/>
        </p:nvSpPr>
        <p:spPr>
          <a:xfrm>
            <a:off x="713232" y="3488436"/>
            <a:ext cx="3186074" cy="1527048"/>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원인</a:t>
            </a:r>
          </a:p>
          <a:p>
            <a:pPr algn="l" eaLnBrk="0" marL="194310" indent="-194310">
              <a:lnSpc>
                <a:spcPct val="110000"/>
              </a:lnSpc>
              <a:spcAft>
                <a:spcPts val="400"/>
              </a:spcAft>
            </a:pPr>
            <a:r>
              <a:rPr sz="1700" b="0">
                <a:solidFill>
                  <a:srgbClr val="1F2A3A"/>
                </a:solidFill>
                <a:latin typeface="맑은 고딕"/>
                <a:ea typeface="맑은 고딕"/>
                <a:cs typeface="맑은 고딕"/>
              </a:rPr>
              <a:t>• cause:cooler-fin-fouling</a:t>
            </a:r>
          </a:p>
          <a:p>
            <a:pPr algn="l" eaLnBrk="0" marL="194310" indent="-194310">
              <a:lnSpc>
                <a:spcPct val="110000"/>
              </a:lnSpc>
              <a:spcAft>
                <a:spcPts val="400"/>
              </a:spcAft>
            </a:pPr>
            <a:r>
              <a:rPr sz="1700" b="0">
                <a:solidFill>
                  <a:srgbClr val="1F2A3A"/>
                </a:solidFill>
                <a:latin typeface="맑은 고딕"/>
                <a:ea typeface="맑은 고딕"/>
                <a:cs typeface="맑은 고딕"/>
              </a:rPr>
              <a:t>• 쿨러 핀 오염</a:t>
            </a:r>
          </a:p>
        </p:txBody>
      </p:sp>
      <p:sp>
        <p:nvSpPr>
          <p:cNvPr id="10" name="Rounded Rectangle 9"/>
          <p:cNvSpPr/>
          <p:nvPr/>
        </p:nvSpPr>
        <p:spPr>
          <a:xfrm>
            <a:off x="777240" y="5088636"/>
            <a:ext cx="841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88636"/>
            <a:ext cx="8412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cause:</a:t>
            </a:r>
          </a:p>
        </p:txBody>
      </p:sp>
      <p:sp>
        <p:nvSpPr>
          <p:cNvPr id="12" name="Rounded Rectangle 11"/>
          <p:cNvSpPr/>
          <p:nvPr/>
        </p:nvSpPr>
        <p:spPr>
          <a:xfrm>
            <a:off x="4338218" y="2464308"/>
            <a:ext cx="3515258" cy="305409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65476"/>
            <a:ext cx="731520" cy="731520"/>
          </a:xfrm>
          <a:prstGeom prst="ellipse">
            <a:avLst/>
          </a:prstGeom>
          <a:solidFill>
            <a:srgbClr val="E7F3FD"/>
          </a:solidFill>
          <a:ln>
            <a:noFill/>
          </a:ln>
        </p:spPr>
        <p:txBody>
          <a:bodyPr rtlCol="0" anchor="ctr"/>
          <a:lstStyle/>
          <a:p>
            <a:pPr algn="ctr"/>
          </a:p>
        </p:txBody>
      </p:sp>
      <p:pic>
        <p:nvPicPr>
          <p:cNvPr id="14" name="아이콘:alert-triangle" descr="alert-triangle_13294B_1.6.png"/>
          <p:cNvPicPr>
            <a:picLocks noChangeAspect="1"/>
          </p:cNvPicPr>
          <p:nvPr/>
        </p:nvPicPr>
        <p:blipFill>
          <a:blip r:embed="rId4"/>
          <a:stretch>
            <a:fillRect/>
          </a:stretch>
        </p:blipFill>
        <p:spPr>
          <a:xfrm>
            <a:off x="4720437" y="2819095"/>
            <a:ext cx="424281" cy="424281"/>
          </a:xfrm>
          <a:prstGeom prst="rect">
            <a:avLst/>
          </a:prstGeom>
        </p:spPr>
      </p:pic>
      <p:sp>
        <p:nvSpPr>
          <p:cNvPr id="15" name="TextBox 14"/>
          <p:cNvSpPr txBox="1"/>
          <p:nvPr/>
        </p:nvSpPr>
        <p:spPr>
          <a:xfrm>
            <a:off x="4502810" y="3488436"/>
            <a:ext cx="3186074" cy="1527048"/>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고장 유형</a:t>
            </a:r>
          </a:p>
          <a:p>
            <a:pPr algn="l" eaLnBrk="0" marL="194310" indent="-194310">
              <a:lnSpc>
                <a:spcPct val="110000"/>
              </a:lnSpc>
              <a:spcAft>
                <a:spcPts val="400"/>
              </a:spcAft>
            </a:pPr>
            <a:r>
              <a:rPr sz="1700" b="0">
                <a:solidFill>
                  <a:srgbClr val="1F2A3A"/>
                </a:solidFill>
                <a:latin typeface="맑은 고딕"/>
                <a:ea typeface="맑은 고딕"/>
                <a:cs typeface="맑은 고딕"/>
              </a:rPr>
              <a:t>• fm:cooler-performance-loss</a:t>
            </a:r>
          </a:p>
          <a:p>
            <a:pPr algn="l" eaLnBrk="0" marL="194310" indent="-194310">
              <a:lnSpc>
                <a:spcPct val="110000"/>
              </a:lnSpc>
              <a:spcAft>
                <a:spcPts val="400"/>
              </a:spcAft>
            </a:pPr>
            <a:r>
              <a:rPr sz="1700" b="0">
                <a:solidFill>
                  <a:srgbClr val="1F2A3A"/>
                </a:solidFill>
                <a:latin typeface="맑은 고딕"/>
                <a:ea typeface="맑은 고딕"/>
                <a:cs typeface="맑은 고딕"/>
              </a:rPr>
              <a:t>• 쿨러 냉각 성능 상실</a:t>
            </a:r>
          </a:p>
        </p:txBody>
      </p:sp>
      <p:sp>
        <p:nvSpPr>
          <p:cNvPr id="16" name="Rounded Rectangle 15"/>
          <p:cNvSpPr/>
          <p:nvPr/>
        </p:nvSpPr>
        <p:spPr>
          <a:xfrm>
            <a:off x="4566818" y="508863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8863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fm:</a:t>
            </a:r>
          </a:p>
        </p:txBody>
      </p:sp>
      <p:sp>
        <p:nvSpPr>
          <p:cNvPr id="18" name="Rounded Rectangle 17"/>
          <p:cNvSpPr/>
          <p:nvPr/>
        </p:nvSpPr>
        <p:spPr>
          <a:xfrm>
            <a:off x="8127796" y="2464308"/>
            <a:ext cx="3515258" cy="305409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65476"/>
            <a:ext cx="731520" cy="731520"/>
          </a:xfrm>
          <a:prstGeom prst="ellipse">
            <a:avLst/>
          </a:prstGeom>
          <a:solidFill>
            <a:srgbClr val="5CB8F2"/>
          </a:solidFill>
          <a:ln>
            <a:noFill/>
          </a:ln>
        </p:spPr>
        <p:txBody>
          <a:bodyPr rtlCol="0" anchor="ctr"/>
          <a:lstStyle/>
          <a:p>
            <a:pPr algn="ctr"/>
          </a:p>
        </p:txBody>
      </p:sp>
      <p:pic>
        <p:nvPicPr>
          <p:cNvPr id="20" name="아이콘:propeller" descr="propeller_13294B_1.6.png"/>
          <p:cNvPicPr>
            <a:picLocks noChangeAspect="1"/>
          </p:cNvPicPr>
          <p:nvPr/>
        </p:nvPicPr>
        <p:blipFill>
          <a:blip r:embed="rId5"/>
          <a:stretch>
            <a:fillRect/>
          </a:stretch>
        </p:blipFill>
        <p:spPr>
          <a:xfrm>
            <a:off x="8510016" y="2819095"/>
            <a:ext cx="424281" cy="424281"/>
          </a:xfrm>
          <a:prstGeom prst="rect">
            <a:avLst/>
          </a:prstGeom>
        </p:spPr>
      </p:pic>
      <p:sp>
        <p:nvSpPr>
          <p:cNvPr id="21" name="TextBox 20"/>
          <p:cNvSpPr txBox="1"/>
          <p:nvPr/>
        </p:nvSpPr>
        <p:spPr>
          <a:xfrm>
            <a:off x="8292388" y="3488436"/>
            <a:ext cx="3186074" cy="1527048"/>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조치 방법</a:t>
            </a:r>
          </a:p>
          <a:p>
            <a:pPr algn="l" eaLnBrk="0" marL="194310" indent="-194310">
              <a:lnSpc>
                <a:spcPct val="110000"/>
              </a:lnSpc>
              <a:spcAft>
                <a:spcPts val="400"/>
              </a:spcAft>
            </a:pPr>
            <a:r>
              <a:rPr sz="1700" b="0">
                <a:solidFill>
                  <a:srgbClr val="1F2A3A"/>
                </a:solidFill>
                <a:latin typeface="맑은 고딕"/>
                <a:ea typeface="맑은 고딕"/>
                <a:cs typeface="맑은 고딕"/>
              </a:rPr>
              <a:t>• skill:sop-cool-11</a:t>
            </a:r>
          </a:p>
          <a:p>
            <a:pPr algn="l" eaLnBrk="0" marL="194310" indent="-194310">
              <a:lnSpc>
                <a:spcPct val="110000"/>
              </a:lnSpc>
              <a:spcAft>
                <a:spcPts val="400"/>
              </a:spcAft>
            </a:pPr>
            <a:r>
              <a:rPr sz="1700" b="0">
                <a:solidFill>
                  <a:srgbClr val="1F2A3A"/>
                </a:solidFill>
                <a:latin typeface="맑은 고딕"/>
                <a:ea typeface="맑은 고딕"/>
                <a:cs typeface="맑은 고딕"/>
              </a:rPr>
              <a:t>• 팬 최대 운전 · 출처 HM-8.5</a:t>
            </a:r>
          </a:p>
        </p:txBody>
      </p:sp>
      <p:sp>
        <p:nvSpPr>
          <p:cNvPr id="22" name="Rounded Rectangle 21"/>
          <p:cNvSpPr/>
          <p:nvPr/>
        </p:nvSpPr>
        <p:spPr>
          <a:xfrm>
            <a:off x="8356396" y="5088636"/>
            <a:ext cx="84124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88636"/>
            <a:ext cx="8412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근거의 대조: 적어 낸 근거가 호출 기록에 있는가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호출 기록에 대응하는 근거라도, 반환값과 답의 의미가 일치하는지는 따로 확인해야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398521"/>
            <a:ext cx="5181447" cy="318566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99690"/>
            <a:ext cx="731520" cy="731520"/>
          </a:xfrm>
          <a:prstGeom prst="ellipse">
            <a:avLst/>
          </a:prstGeom>
          <a:solidFill>
            <a:srgbClr val="FFFFFF"/>
          </a:solidFill>
          <a:ln>
            <a:noFill/>
          </a:ln>
        </p:spPr>
        <p:txBody>
          <a:bodyPr rtlCol="0" anchor="ctr"/>
          <a:lstStyle/>
          <a:p>
            <a:pPr algn="ctr"/>
          </a:p>
        </p:txBody>
      </p:sp>
      <p:pic>
        <p:nvPicPr>
          <p:cNvPr id="8" name="아이콘:checks" descr="checks_13294B_1.6.png"/>
          <p:cNvPicPr>
            <a:picLocks noChangeAspect="1"/>
          </p:cNvPicPr>
          <p:nvPr/>
        </p:nvPicPr>
        <p:blipFill>
          <a:blip r:embed="rId3"/>
          <a:stretch>
            <a:fillRect/>
          </a:stretch>
        </p:blipFill>
        <p:spPr>
          <a:xfrm>
            <a:off x="976579" y="2753309"/>
            <a:ext cx="424281" cy="424281"/>
          </a:xfrm>
          <a:prstGeom prst="rect">
            <a:avLst/>
          </a:prstGeom>
        </p:spPr>
      </p:pic>
      <p:sp>
        <p:nvSpPr>
          <p:cNvPr id="9" name="TextBox 8"/>
          <p:cNvSpPr txBox="1"/>
          <p:nvPr/>
        </p:nvSpPr>
        <p:spPr>
          <a:xfrm>
            <a:off x="1691640" y="259969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호출 기록에 있는 근거</a:t>
            </a:r>
          </a:p>
        </p:txBody>
      </p:sp>
      <p:sp>
        <p:nvSpPr>
          <p:cNvPr id="10" name="TextBox 9"/>
          <p:cNvSpPr txBox="1"/>
          <p:nvPr/>
        </p:nvSpPr>
        <p:spPr>
          <a:xfrm>
            <a:off x="822959" y="3450081"/>
            <a:ext cx="4632807" cy="1585468"/>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답에 적힌 조회문이 실제로 실행한 조회와 같다</a:t>
            </a:r>
          </a:p>
          <a:p>
            <a:pPr algn="l" eaLnBrk="0" marL="177165" indent="-177165">
              <a:lnSpc>
                <a:spcPct val="110000"/>
              </a:lnSpc>
              <a:spcAft>
                <a:spcPts val="600"/>
              </a:spcAft>
            </a:pPr>
            <a:r>
              <a:rPr sz="1550" b="0">
                <a:solidFill>
                  <a:srgbClr val="1F2A3A"/>
                </a:solidFill>
                <a:latin typeface="맑은 고딕"/>
                <a:ea typeface="맑은 고딕"/>
                <a:cs typeface="맑은 고딕"/>
              </a:rPr>
              <a:t>• 화면에 「근거 N개 확인」으로 보인다</a:t>
            </a:r>
          </a:p>
        </p:txBody>
      </p:sp>
      <p:sp>
        <p:nvSpPr>
          <p:cNvPr id="11" name="Rounded Rectangle 10"/>
          <p:cNvSpPr/>
          <p:nvPr/>
        </p:nvSpPr>
        <p:spPr>
          <a:xfrm>
            <a:off x="868680" y="512699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2699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답으로 보인다</a:t>
            </a:r>
          </a:p>
        </p:txBody>
      </p:sp>
      <p:sp>
        <p:nvSpPr>
          <p:cNvPr id="13" name="Rounded Rectangle 12"/>
          <p:cNvSpPr/>
          <p:nvPr/>
        </p:nvSpPr>
        <p:spPr>
          <a:xfrm>
            <a:off x="6461607" y="2398521"/>
            <a:ext cx="5181447" cy="318566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99690"/>
            <a:ext cx="731520" cy="731520"/>
          </a:xfrm>
          <a:prstGeom prst="ellipse">
            <a:avLst/>
          </a:prstGeom>
          <a:solidFill>
            <a:srgbClr val="5CB8F2"/>
          </a:solidFill>
          <a:ln>
            <a:noFill/>
          </a:ln>
        </p:spPr>
        <p:txBody>
          <a:bodyPr rtlCol="0" anchor="ctr"/>
          <a:lstStyle/>
          <a:p>
            <a:pPr algn="ctr"/>
          </a:p>
        </p:txBody>
      </p:sp>
      <p:pic>
        <p:nvPicPr>
          <p:cNvPr id="15" name="아이콘:zoom-question" descr="zoom-question_13294B_1.6.png"/>
          <p:cNvPicPr>
            <a:picLocks noChangeAspect="1"/>
          </p:cNvPicPr>
          <p:nvPr/>
        </p:nvPicPr>
        <p:blipFill>
          <a:blip r:embed="rId4"/>
          <a:stretch>
            <a:fillRect/>
          </a:stretch>
        </p:blipFill>
        <p:spPr>
          <a:xfrm>
            <a:off x="6889546" y="2753309"/>
            <a:ext cx="424281" cy="424281"/>
          </a:xfrm>
          <a:prstGeom prst="rect">
            <a:avLst/>
          </a:prstGeom>
        </p:spPr>
      </p:pic>
      <p:sp>
        <p:nvSpPr>
          <p:cNvPr id="16" name="TextBox 15"/>
          <p:cNvSpPr txBox="1"/>
          <p:nvPr/>
        </p:nvSpPr>
        <p:spPr>
          <a:xfrm>
            <a:off x="7604607" y="259969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호출 기록에 없는 근거</a:t>
            </a:r>
          </a:p>
        </p:txBody>
      </p:sp>
      <p:sp>
        <p:nvSpPr>
          <p:cNvPr id="17" name="TextBox 16"/>
          <p:cNvSpPr txBox="1"/>
          <p:nvPr/>
        </p:nvSpPr>
        <p:spPr>
          <a:xfrm>
            <a:off x="6735927" y="3450081"/>
            <a:ext cx="4632807" cy="1585468"/>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답에 적힌 조회를 호출 기록에서 찾을 수 없다</a:t>
            </a:r>
          </a:p>
          <a:p>
            <a:pPr algn="l" eaLnBrk="0" marL="177165" indent="-177165">
              <a:lnSpc>
                <a:spcPct val="110000"/>
              </a:lnSpc>
              <a:spcAft>
                <a:spcPts val="600"/>
              </a:spcAft>
            </a:pPr>
            <a:r>
              <a:rPr sz="1550" b="0">
                <a:solidFill>
                  <a:srgbClr val="1F2A3A"/>
                </a:solidFill>
                <a:latin typeface="맑은 고딕"/>
                <a:ea typeface="맑은 고딕"/>
                <a:cs typeface="맑은 고딕"/>
              </a:rPr>
              <a:t>• 「답할 수 없음」과 그 이유로 보이고, 낸 답은</a:t>
            </a:r>
          </a:p>
          <a:p>
            <a:pPr algn="l" eaLnBrk="0" marL="177165" indent="-177165">
              <a:lnSpc>
                <a:spcPct val="110000"/>
              </a:lnSpc>
              <a:spcAft>
                <a:spcPts val="600"/>
              </a:spcAft>
            </a:pPr>
            <a:r>
              <a:rPr sz="1550" b="0">
                <a:solidFill>
                  <a:srgbClr val="1F2A3A"/>
                </a:solidFill>
                <a:latin typeface="맑은 고딕"/>
                <a:ea typeface="맑은 고딕"/>
                <a:cs typeface="맑은 고딕"/>
              </a:rPr>
              <a:t>• 「에이전트가 낸 답 (근거 확인 안 됨)」으로 접힌다</a:t>
            </a:r>
          </a:p>
        </p:txBody>
      </p:sp>
      <p:sp>
        <p:nvSpPr>
          <p:cNvPr id="18" name="Rounded Rectangle 17"/>
          <p:cNvSpPr/>
          <p:nvPr/>
        </p:nvSpPr>
        <p:spPr>
          <a:xfrm>
            <a:off x="6781647" y="5126990"/>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26990"/>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답으로 보이지 않는다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기준이 지지한 원인과 가설: 판정의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함께 변한 값만으로 단정하지 않고 등록 기준으로 후보를 좁히며, 미확인은 가설로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182241"/>
            <a:ext cx="5181447" cy="361823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83409"/>
            <a:ext cx="731520" cy="731520"/>
          </a:xfrm>
          <a:prstGeom prst="ellipse">
            <a:avLst/>
          </a:prstGeom>
          <a:solidFill>
            <a:srgbClr val="FFFFFF"/>
          </a:solidFill>
          <a:ln>
            <a:noFill/>
          </a:ln>
        </p:spPr>
        <p:txBody>
          <a:bodyPr rtlCol="0" anchor="ctr"/>
          <a:lstStyle/>
          <a:p>
            <a:pPr algn="ctr"/>
          </a:p>
        </p:txBody>
      </p:sp>
      <p:pic>
        <p:nvPicPr>
          <p:cNvPr id="8" name="아이콘:chart-dots" descr="chart-dots_13294B_1.6.png"/>
          <p:cNvPicPr>
            <a:picLocks noChangeAspect="1"/>
          </p:cNvPicPr>
          <p:nvPr/>
        </p:nvPicPr>
        <p:blipFill>
          <a:blip r:embed="rId3"/>
          <a:stretch>
            <a:fillRect/>
          </a:stretch>
        </p:blipFill>
        <p:spPr>
          <a:xfrm>
            <a:off x="976579" y="2537028"/>
            <a:ext cx="424281" cy="424281"/>
          </a:xfrm>
          <a:prstGeom prst="rect">
            <a:avLst/>
          </a:prstGeom>
        </p:spPr>
      </p:pic>
      <p:sp>
        <p:nvSpPr>
          <p:cNvPr id="9" name="TextBox 8"/>
          <p:cNvSpPr txBox="1"/>
          <p:nvPr/>
        </p:nvSpPr>
        <p:spPr>
          <a:xfrm>
            <a:off x="1691640"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함께 변한 값으로 단정한다</a:t>
            </a:r>
          </a:p>
        </p:txBody>
      </p:sp>
      <p:sp>
        <p:nvSpPr>
          <p:cNvPr id="10" name="TextBox 9"/>
          <p:cNvSpPr txBox="1"/>
          <p:nvPr/>
        </p:nvSpPr>
        <p:spPr>
          <a:xfrm>
            <a:off x="822959"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유온이 오르는 동안 냉각 효율이 떨어졌다</a:t>
            </a:r>
          </a:p>
          <a:p>
            <a:pPr algn="l" eaLnBrk="0" marL="194310" indent="-194310">
              <a:lnSpc>
                <a:spcPct val="110000"/>
              </a:lnSpc>
              <a:spcAft>
                <a:spcPts val="600"/>
              </a:spcAft>
            </a:pPr>
            <a:r>
              <a:rPr sz="1700" b="0">
                <a:solidFill>
                  <a:srgbClr val="1F2A3A"/>
                </a:solidFill>
                <a:latin typeface="맑은 고딕"/>
                <a:ea typeface="맑은 고딕"/>
                <a:cs typeface="맑은 고딕"/>
              </a:rPr>
              <a:t>• 「쿨러가 원인이다」라고 적는다</a:t>
            </a:r>
          </a:p>
          <a:p>
            <a:pPr algn="l" eaLnBrk="0" marL="194310" indent="-194310">
              <a:lnSpc>
                <a:spcPct val="110000"/>
              </a:lnSpc>
              <a:spcAft>
                <a:spcPts val="600"/>
              </a:spcAft>
            </a:pPr>
            <a:r>
              <a:rPr sz="1700" b="0">
                <a:solidFill>
                  <a:srgbClr val="1F2A3A"/>
                </a:solidFill>
                <a:latin typeface="맑은 고딕"/>
                <a:ea typeface="맑은 고딕"/>
                <a:cs typeface="맑은 고딕"/>
              </a:rPr>
              <a:t>• 팬 구동 불량이나 주변 온도 상승에서도</a:t>
            </a:r>
          </a:p>
          <a:p>
            <a:pPr algn="l" eaLnBrk="0" marL="194310" indent="-194310">
              <a:lnSpc>
                <a:spcPct val="110000"/>
              </a:lnSpc>
              <a:spcAft>
                <a:spcPts val="600"/>
              </a:spcAft>
            </a:pPr>
            <a:r>
              <a:rPr sz="1700" b="0">
                <a:solidFill>
                  <a:srgbClr val="1F2A3A"/>
                </a:solidFill>
                <a:latin typeface="맑은 고딕"/>
                <a:ea typeface="맑은 고딕"/>
                <a:cs typeface="맑은 고딕"/>
              </a:rPr>
              <a:t>• 유온 상승이 나타날 수 있다</a:t>
            </a:r>
          </a:p>
        </p:txBody>
      </p:sp>
      <p:sp>
        <p:nvSpPr>
          <p:cNvPr id="11" name="Rounded Rectangle 10"/>
          <p:cNvSpPr/>
          <p:nvPr/>
        </p:nvSpPr>
        <p:spPr>
          <a:xfrm>
            <a:off x="868680" y="5343271"/>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43271"/>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단정</a:t>
            </a:r>
          </a:p>
        </p:txBody>
      </p:sp>
      <p:sp>
        <p:nvSpPr>
          <p:cNvPr id="13" name="Rounded Rectangle 12"/>
          <p:cNvSpPr/>
          <p:nvPr/>
        </p:nvSpPr>
        <p:spPr>
          <a:xfrm>
            <a:off x="6461607" y="2182241"/>
            <a:ext cx="5181447" cy="361823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83409"/>
            <a:ext cx="731520" cy="731520"/>
          </a:xfrm>
          <a:prstGeom prst="ellipse">
            <a:avLst/>
          </a:prstGeom>
          <a:solidFill>
            <a:srgbClr val="5CB8F2"/>
          </a:solidFill>
          <a:ln>
            <a:noFill/>
          </a:ln>
        </p:spPr>
        <p:txBody>
          <a:bodyPr rtlCol="0" anchor="ctr"/>
          <a:lstStyle/>
          <a:p>
            <a:pPr algn="ctr"/>
          </a:p>
        </p:txBody>
      </p:sp>
      <p:pic>
        <p:nvPicPr>
          <p:cNvPr id="15" name="아이콘:zoom-check" descr="zoom-check_13294B_1.6.png"/>
          <p:cNvPicPr>
            <a:picLocks noChangeAspect="1"/>
          </p:cNvPicPr>
          <p:nvPr/>
        </p:nvPicPr>
        <p:blipFill>
          <a:blip r:embed="rId4"/>
          <a:stretch>
            <a:fillRect/>
          </a:stretch>
        </p:blipFill>
        <p:spPr>
          <a:xfrm>
            <a:off x="6889546" y="2537028"/>
            <a:ext cx="424281" cy="424281"/>
          </a:xfrm>
          <a:prstGeom prst="rect">
            <a:avLst/>
          </a:prstGeom>
        </p:spPr>
      </p:pic>
      <p:sp>
        <p:nvSpPr>
          <p:cNvPr id="16" name="TextBox 15"/>
          <p:cNvSpPr txBox="1"/>
          <p:nvPr/>
        </p:nvSpPr>
        <p:spPr>
          <a:xfrm>
            <a:off x="7604607"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증거 기준에 대어 본다</a:t>
            </a:r>
          </a:p>
        </p:txBody>
      </p:sp>
      <p:sp>
        <p:nvSpPr>
          <p:cNvPr id="17" name="TextBox 16"/>
          <p:cNvSpPr txBox="1"/>
          <p:nvPr/>
        </p:nvSpPr>
        <p:spPr>
          <a:xfrm>
            <a:off x="6735927" y="3233801"/>
            <a:ext cx="4632807" cy="2018030"/>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팬 진동 0.575 mm/s는 기준 0.9 미만이므로 이 진동 기준에서는 정상 범위다</a:t>
            </a:r>
          </a:p>
          <a:p>
            <a:pPr algn="l" eaLnBrk="0" marL="188595" indent="-188595">
              <a:lnSpc>
                <a:spcPct val="110000"/>
              </a:lnSpc>
              <a:spcAft>
                <a:spcPts val="600"/>
              </a:spcAft>
            </a:pPr>
            <a:r>
              <a:rPr sz="1650" b="0">
                <a:solidFill>
                  <a:srgbClr val="1F2A3A"/>
                </a:solidFill>
                <a:latin typeface="맑은 고딕"/>
                <a:ea typeface="맑은 고딕"/>
                <a:cs typeface="맑은 고딕"/>
              </a:rPr>
              <a:t>• 캐비닛 온도 28 ℃는 기준 35 ℃에 못 미친다</a:t>
            </a:r>
          </a:p>
          <a:p>
            <a:pPr algn="l" eaLnBrk="0" marL="188595" indent="-188595">
              <a:lnSpc>
                <a:spcPct val="110000"/>
              </a:lnSpc>
              <a:spcAft>
                <a:spcPts val="600"/>
              </a:spcAft>
            </a:pPr>
            <a:r>
              <a:rPr sz="1650" b="0">
                <a:solidFill>
                  <a:srgbClr val="1F2A3A"/>
                </a:solidFill>
                <a:latin typeface="맑은 고딕"/>
                <a:ea typeface="맑은 고딕"/>
                <a:cs typeface="맑은 고딕"/>
              </a:rPr>
              <a:t>• 이 모델에서는 쿨러 핀 오염이 지지된다</a:t>
            </a:r>
          </a:p>
          <a:p>
            <a:pPr algn="l" eaLnBrk="0" marL="188595" indent="-188595">
              <a:lnSpc>
                <a:spcPct val="110000"/>
              </a:lnSpc>
              <a:spcAft>
                <a:spcPts val="600"/>
              </a:spcAft>
            </a:pPr>
            <a:r>
              <a:rPr sz="1650" b="0">
                <a:solidFill>
                  <a:srgbClr val="1F2A3A"/>
                </a:solidFill>
                <a:latin typeface="맑은 고딕"/>
                <a:ea typeface="맑은 고딕"/>
                <a:cs typeface="맑은 고딕"/>
              </a:rPr>
              <a:t>• 확인하지 못한 후보는 가설로 표시한다</a:t>
            </a:r>
          </a:p>
        </p:txBody>
      </p:sp>
      <p:sp>
        <p:nvSpPr>
          <p:cNvPr id="18" name="Rounded Rectangle 17"/>
          <p:cNvSpPr/>
          <p:nvPr/>
        </p:nvSpPr>
        <p:spPr>
          <a:xfrm>
            <a:off x="6781647" y="5343271"/>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43271"/>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확인과 가설을 가른다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나의 첫 업무 에이전트 구성하기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구성과 질문의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직접 구성한 에이전트 하나와, 그 에이전트가 근거와 호출 기록을 붙여 답한 질문 한 건을 결과물로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구성</a:t>
            </a:r>
          </a:p>
          <a:p>
            <a:pPr algn="l" eaLnBrk="0" marL="205740" indent="-205740">
              <a:lnSpc>
                <a:spcPct val="110000"/>
              </a:lnSpc>
              <a:spcAft>
                <a:spcPts val="400"/>
              </a:spcAft>
            </a:pPr>
            <a:r>
              <a:rPr sz="1800" b="0">
                <a:solidFill>
                  <a:srgbClr val="1F2A3A"/>
                </a:solidFill>
                <a:latin typeface="맑은 고딕"/>
                <a:ea typeface="맑은 고딕"/>
                <a:cs typeface="맑은 고딕"/>
              </a:rPr>
              <a:t>• 이름 · 목표 · 역할을 적는다</a:t>
            </a:r>
          </a:p>
          <a:p>
            <a:pPr algn="l" eaLnBrk="0" marL="205740" indent="-205740">
              <a:lnSpc>
                <a:spcPct val="110000"/>
              </a:lnSpc>
              <a:spcAft>
                <a:spcPts val="400"/>
              </a:spcAft>
            </a:pPr>
            <a:r>
              <a:rPr sz="1800" b="0">
                <a:solidFill>
                  <a:srgbClr val="1F2A3A"/>
                </a:solidFill>
                <a:latin typeface="맑은 고딕"/>
                <a:ea typeface="맑은 고딕"/>
                <a:cs typeface="맑은 고딕"/>
              </a:rPr>
              <a:t>• 사용할 수 있는 읽기 도구 가운데 쓸 것을 고른다</a:t>
            </a:r>
          </a:p>
        </p:txBody>
      </p:sp>
      <p:sp>
        <p:nvSpPr>
          <p:cNvPr id="10" name="Rounded Rectangle 9"/>
          <p:cNvSpPr/>
          <p:nvPr/>
        </p:nvSpPr>
        <p:spPr>
          <a:xfrm>
            <a:off x="777240" y="5398516"/>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에이전트 정의</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message-question" descr="message-question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질문과 근거</a:t>
            </a:r>
          </a:p>
          <a:p>
            <a:pPr algn="l" eaLnBrk="0" marL="205740" indent="-205740">
              <a:lnSpc>
                <a:spcPct val="110000"/>
              </a:lnSpc>
              <a:spcAft>
                <a:spcPts val="400"/>
              </a:spcAft>
            </a:pPr>
            <a:r>
              <a:rPr sz="1800" b="0">
                <a:solidFill>
                  <a:srgbClr val="1F2A3A"/>
                </a:solidFill>
                <a:latin typeface="맑은 고딕"/>
                <a:ea typeface="맑은 고딕"/>
                <a:cs typeface="맑은 고딕"/>
              </a:rPr>
              <a:t>• 구성한 에이전트에게 직접 질문한다</a:t>
            </a:r>
          </a:p>
          <a:p>
            <a:pPr algn="l" eaLnBrk="0" marL="205740" indent="-205740">
              <a:lnSpc>
                <a:spcPct val="110000"/>
              </a:lnSpc>
              <a:spcAft>
                <a:spcPts val="400"/>
              </a:spcAft>
            </a:pPr>
            <a:r>
              <a:rPr sz="1800" b="0">
                <a:solidFill>
                  <a:srgbClr val="1F2A3A"/>
                </a:solidFill>
                <a:latin typeface="맑은 고딕"/>
                <a:ea typeface="맑은 고딕"/>
                <a:cs typeface="맑은 고딕"/>
              </a:rPr>
              <a:t>• 답에 붙은 근거와 도구 호출 기록을 읽는다</a:t>
            </a:r>
          </a:p>
        </p:txBody>
      </p:sp>
      <p:sp>
        <p:nvSpPr>
          <p:cNvPr id="16" name="Rounded Rectangle 15"/>
          <p:cNvSpPr/>
          <p:nvPr/>
        </p:nvSpPr>
        <p:spPr>
          <a:xfrm>
            <a:off x="4566818" y="5398516"/>
            <a:ext cx="161544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6154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답 · 근거 · 호출</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성공 기준</a:t>
            </a:r>
          </a:p>
          <a:p>
            <a:pPr algn="l" eaLnBrk="0" marL="205740" indent="-205740">
              <a:lnSpc>
                <a:spcPct val="110000"/>
              </a:lnSpc>
              <a:spcAft>
                <a:spcPts val="400"/>
              </a:spcAft>
            </a:pPr>
            <a:r>
              <a:rPr sz="1800" b="0">
                <a:solidFill>
                  <a:srgbClr val="1F2A3A"/>
                </a:solidFill>
                <a:latin typeface="맑은 고딕"/>
                <a:ea typeface="맑은 고딕"/>
                <a:cs typeface="맑은 고딕"/>
              </a:rPr>
              <a:t>• 근거의 호출과 반환값을 답의 내용에 대조한다</a:t>
            </a:r>
          </a:p>
          <a:p>
            <a:pPr algn="l" eaLnBrk="0" marL="205740" indent="-205740">
              <a:lnSpc>
                <a:spcPct val="110000"/>
              </a:lnSpc>
              <a:spcAft>
                <a:spcPts val="400"/>
              </a:spcAft>
            </a:pPr>
            <a:r>
              <a:rPr sz="1800" b="0">
                <a:solidFill>
                  <a:srgbClr val="1F2A3A"/>
                </a:solidFill>
                <a:latin typeface="맑은 고딕"/>
                <a:ea typeface="맑은 고딕"/>
                <a:cs typeface="맑은 고딕"/>
              </a:rPr>
              <a:t>• 기준 에이전트와 목표 · 역할 · 도구가</a:t>
            </a:r>
          </a:p>
          <a:p>
            <a:pPr algn="l" eaLnBrk="0" marL="205740" indent="-205740">
              <a:lnSpc>
                <a:spcPct val="110000"/>
              </a:lnSpc>
              <a:spcAft>
                <a:spcPts val="400"/>
              </a:spcAft>
            </a:pPr>
            <a:r>
              <a:rPr sz="1800" b="0">
                <a:solidFill>
                  <a:srgbClr val="1F2A3A"/>
                </a:solidFill>
                <a:latin typeface="맑은 고딕"/>
                <a:ea typeface="맑은 고딕"/>
                <a:cs typeface="맑은 고딕"/>
              </a:rPr>
              <a:t>• 어떻게 다른지 적는다</a:t>
            </a:r>
          </a:p>
        </p:txBody>
      </p:sp>
      <p:sp>
        <p:nvSpPr>
          <p:cNvPr id="22" name="Rounded Rectangle 21"/>
          <p:cNvSpPr/>
          <p:nvPr/>
        </p:nvSpPr>
        <p:spPr>
          <a:xfrm>
            <a:off x="8356396" y="5398516"/>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비교 기록</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이상의 원인 추론과 점검 순서 결정</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추론 에이전트의 입력과 점검 계획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온톨로지와 센서 입력으로 원인 후보를 검토하고, 점검 계획과 그 근거를 파일로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387854"/>
            <a:ext cx="2485567"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0734"/>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579283" y="2724353"/>
            <a:ext cx="424281" cy="424281"/>
          </a:xfrm>
          <a:prstGeom prst="rect">
            <a:avLst/>
          </a:prstGeom>
        </p:spPr>
      </p:pic>
      <p:sp>
        <p:nvSpPr>
          <p:cNvPr id="9" name="TextBox 8"/>
          <p:cNvSpPr txBox="1"/>
          <p:nvPr/>
        </p:nvSpPr>
        <p:spPr>
          <a:xfrm>
            <a:off x="621792"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관계를 읽는다</a:t>
            </a:r>
          </a:p>
          <a:p>
            <a:pPr algn="ctr" eaLnBrk="0">
              <a:lnSpc>
                <a:spcPct val="110000"/>
              </a:lnSpc>
              <a:spcAft>
                <a:spcPts val="400"/>
              </a:spcAft>
            </a:pPr>
            <a:r>
              <a:rPr sz="1650" b="0">
                <a:solidFill>
                  <a:srgbClr val="1F2A3A"/>
                </a:solidFill>
                <a:latin typeface="맑은 고딕"/>
                <a:ea typeface="맑은 고딕"/>
                <a:cs typeface="맑은 고딕"/>
              </a:rPr>
              <a:t>설비 → 센서 →</a:t>
            </a:r>
          </a:p>
          <a:p>
            <a:pPr algn="ctr" eaLnBrk="0">
              <a:lnSpc>
                <a:spcPct val="110000"/>
              </a:lnSpc>
              <a:spcAft>
                <a:spcPts val="400"/>
              </a:spcAft>
            </a:pPr>
            <a:r>
              <a:rPr sz="1650" b="0">
                <a:solidFill>
                  <a:srgbClr val="1F2A3A"/>
                </a:solidFill>
                <a:latin typeface="맑은 고딕"/>
                <a:ea typeface="맑은 고딕"/>
                <a:cs typeface="맑은 고딕"/>
              </a:rPr>
              <a:t>고장 유형 → SOP의</a:t>
            </a:r>
          </a:p>
          <a:p>
            <a:pPr algn="ctr" eaLnBrk="0">
              <a:lnSpc>
                <a:spcPct val="110000"/>
              </a:lnSpc>
              <a:spcAft>
                <a:spcPts val="400"/>
              </a:spcAft>
            </a:pPr>
            <a:r>
              <a:rPr sz="1650" b="0">
                <a:solidFill>
                  <a:srgbClr val="1F2A3A"/>
                </a:solidFill>
                <a:latin typeface="맑은 고딕"/>
                <a:ea typeface="맑은 고딕"/>
                <a:cs typeface="맑은 고딕"/>
              </a:rPr>
              <a:t>관계에서 원인 후보를 얻는다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87854"/>
            <a:ext cx="2485567" cy="320700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0734"/>
            <a:ext cx="731520" cy="731520"/>
          </a:xfrm>
          <a:prstGeom prst="ellipse">
            <a:avLst/>
          </a:prstGeom>
          <a:solidFill>
            <a:srgbClr val="FFFFFF"/>
          </a:solidFill>
          <a:ln>
            <a:noFill/>
          </a:ln>
        </p:spPr>
        <p:txBody>
          <a:bodyPr rtlCol="0" anchor="ctr"/>
          <a:lstStyle/>
          <a:p>
            <a:pPr algn="ctr"/>
          </a:p>
        </p:txBody>
      </p:sp>
      <p:pic>
        <p:nvPicPr>
          <p:cNvPr id="13" name="아이콘:chart-line" descr="chart-line_13294B_1.6.png"/>
          <p:cNvPicPr>
            <a:picLocks noChangeAspect="1"/>
          </p:cNvPicPr>
          <p:nvPr/>
        </p:nvPicPr>
        <p:blipFill>
          <a:blip r:embed="rId4"/>
          <a:stretch>
            <a:fillRect/>
          </a:stretch>
        </p:blipFill>
        <p:spPr>
          <a:xfrm>
            <a:off x="4448898" y="2724353"/>
            <a:ext cx="424281" cy="424281"/>
          </a:xfrm>
          <a:prstGeom prst="rect">
            <a:avLst/>
          </a:prstGeom>
        </p:spPr>
      </p:pic>
      <p:sp>
        <p:nvSpPr>
          <p:cNvPr id="14" name="TextBox 13"/>
          <p:cNvSpPr txBox="1"/>
          <p:nvPr/>
        </p:nvSpPr>
        <p:spPr>
          <a:xfrm>
            <a:off x="3491407"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증거에 댄다</a:t>
            </a:r>
          </a:p>
          <a:p>
            <a:pPr algn="ctr" eaLnBrk="0">
              <a:lnSpc>
                <a:spcPct val="110000"/>
              </a:lnSpc>
              <a:spcAft>
                <a:spcPts val="400"/>
              </a:spcAft>
            </a:pPr>
            <a:r>
              <a:rPr sz="1650" b="0">
                <a:solidFill>
                  <a:srgbClr val="1F2A3A"/>
                </a:solidFill>
                <a:latin typeface="맑은 고딕"/>
                <a:ea typeface="맑은 고딕"/>
                <a:cs typeface="맑은 고딕"/>
              </a:rPr>
              <a:t>제공된 센서 입력을</a:t>
            </a:r>
          </a:p>
          <a:p>
            <a:pPr algn="ctr" eaLnBrk="0">
              <a:lnSpc>
                <a:spcPct val="110000"/>
              </a:lnSpc>
              <a:spcAft>
                <a:spcPts val="400"/>
              </a:spcAft>
            </a:pPr>
            <a:r>
              <a:rPr sz="1650" b="0">
                <a:solidFill>
                  <a:srgbClr val="1F2A3A"/>
                </a:solidFill>
                <a:latin typeface="맑은 고딕"/>
                <a:ea typeface="맑은 고딕"/>
                <a:cs typeface="맑은 고딕"/>
              </a:rPr>
              <a:t>증거 기준에 댄다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87854"/>
            <a:ext cx="2485567" cy="320700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0734"/>
            <a:ext cx="731520" cy="731520"/>
          </a:xfrm>
          <a:prstGeom prst="ellipse">
            <a:avLst/>
          </a:prstGeom>
          <a:solidFill>
            <a:srgbClr val="FFFFFF"/>
          </a:solidFill>
          <a:ln>
            <a:noFill/>
          </a:ln>
        </p:spPr>
        <p:txBody>
          <a:bodyPr rtlCol="0" anchor="ctr"/>
          <a:lstStyle/>
          <a:p>
            <a:pPr algn="ctr"/>
          </a:p>
        </p:txBody>
      </p:sp>
      <p:pic>
        <p:nvPicPr>
          <p:cNvPr id="18" name="아이콘:zoom-check" descr="zoom-check_13294B_1.6.png"/>
          <p:cNvPicPr>
            <a:picLocks noChangeAspect="1"/>
          </p:cNvPicPr>
          <p:nvPr/>
        </p:nvPicPr>
        <p:blipFill>
          <a:blip r:embed="rId5"/>
          <a:stretch>
            <a:fillRect/>
          </a:stretch>
        </p:blipFill>
        <p:spPr>
          <a:xfrm>
            <a:off x="7318514" y="2724353"/>
            <a:ext cx="424281" cy="424281"/>
          </a:xfrm>
          <a:prstGeom prst="rect">
            <a:avLst/>
          </a:prstGeom>
        </p:spPr>
      </p:pic>
      <p:sp>
        <p:nvSpPr>
          <p:cNvPr id="19" name="TextBox 18"/>
          <p:cNvSpPr txBox="1"/>
          <p:nvPr/>
        </p:nvSpPr>
        <p:spPr>
          <a:xfrm>
            <a:off x="6361023"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원인을 가른다</a:t>
            </a:r>
          </a:p>
          <a:p>
            <a:pPr algn="ctr" eaLnBrk="0">
              <a:lnSpc>
                <a:spcPct val="110000"/>
              </a:lnSpc>
              <a:spcAft>
                <a:spcPts val="400"/>
              </a:spcAft>
            </a:pPr>
            <a:r>
              <a:rPr sz="1650" b="0">
                <a:solidFill>
                  <a:srgbClr val="1F2A3A"/>
                </a:solidFill>
                <a:latin typeface="맑은 고딕"/>
                <a:ea typeface="맑은 고딕"/>
                <a:cs typeface="맑은 고딕"/>
              </a:rPr>
              <a:t>기준이 지지한 원인과 가설,</a:t>
            </a:r>
          </a:p>
          <a:p>
            <a:pPr algn="ctr" eaLnBrk="0">
              <a:lnSpc>
                <a:spcPct val="110000"/>
              </a:lnSpc>
              <a:spcAft>
                <a:spcPts val="400"/>
              </a:spcAft>
            </a:pPr>
            <a:r>
              <a:rPr sz="1650" b="0">
                <a:solidFill>
                  <a:srgbClr val="1F2A3A"/>
                </a:solidFill>
                <a:latin typeface="맑은 고딕"/>
                <a:ea typeface="맑은 고딕"/>
                <a:cs typeface="맑은 고딕"/>
              </a:rPr>
              <a:t>해당 없음을 구분한다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87854"/>
            <a:ext cx="2485567"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0734"/>
            <a:ext cx="731520" cy="731520"/>
          </a:xfrm>
          <a:prstGeom prst="ellipse">
            <a:avLst/>
          </a:prstGeom>
          <a:solidFill>
            <a:srgbClr val="5CB8F2"/>
          </a:solidFill>
          <a:ln>
            <a:noFill/>
          </a:ln>
        </p:spPr>
        <p:txBody>
          <a:bodyPr rtlCol="0" anchor="ctr"/>
          <a:lstStyle/>
          <a:p>
            <a:pPr algn="ctr"/>
          </a:p>
        </p:txBody>
      </p:sp>
      <p:pic>
        <p:nvPicPr>
          <p:cNvPr id="23" name="아이콘:list-numbers" descr="list-numbers_13294B_1.6.png"/>
          <p:cNvPicPr>
            <a:picLocks noChangeAspect="1"/>
          </p:cNvPicPr>
          <p:nvPr/>
        </p:nvPicPr>
        <p:blipFill>
          <a:blip r:embed="rId6"/>
          <a:stretch>
            <a:fillRect/>
          </a:stretch>
        </p:blipFill>
        <p:spPr>
          <a:xfrm>
            <a:off x="10188130" y="2724353"/>
            <a:ext cx="424281" cy="424281"/>
          </a:xfrm>
          <a:prstGeom prst="rect">
            <a:avLst/>
          </a:prstGeom>
        </p:spPr>
      </p:pic>
      <p:sp>
        <p:nvSpPr>
          <p:cNvPr id="24" name="TextBox 23"/>
          <p:cNvSpPr txBox="1"/>
          <p:nvPr/>
        </p:nvSpPr>
        <p:spPr>
          <a:xfrm>
            <a:off x="9230639"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점검 계획을 낸다</a:t>
            </a:r>
          </a:p>
          <a:p>
            <a:pPr algn="ctr" eaLnBrk="0">
              <a:lnSpc>
                <a:spcPct val="110000"/>
              </a:lnSpc>
              <a:spcAft>
                <a:spcPts val="400"/>
              </a:spcAft>
            </a:pPr>
            <a:r>
              <a:rPr sz="1650" b="0">
                <a:solidFill>
                  <a:srgbClr val="1F2A3A"/>
                </a:solidFill>
                <a:latin typeface="맑은 고딕"/>
                <a:ea typeface="맑은 고딕"/>
                <a:cs typeface="맑은 고딕"/>
              </a:rPr>
              <a:t>다음에 점검할 것을</a:t>
            </a:r>
          </a:p>
          <a:p>
            <a:pPr algn="ctr" eaLnBrk="0">
              <a:lnSpc>
                <a:spcPct val="110000"/>
              </a:lnSpc>
              <a:spcAft>
                <a:spcPts val="400"/>
              </a:spcAft>
            </a:pPr>
            <a:r>
              <a:rPr sz="1650" b="0">
                <a:solidFill>
                  <a:srgbClr val="1F2A3A"/>
                </a:solidFill>
                <a:latin typeface="맑은 고딕"/>
                <a:ea typeface="맑은 고딕"/>
                <a:cs typeface="맑은 고딕"/>
              </a:rPr>
              <a:t>순서대로 적고</a:t>
            </a:r>
          </a:p>
          <a:p>
            <a:pPr algn="ctr" eaLnBrk="0">
              <a:lnSpc>
                <a:spcPct val="110000"/>
              </a:lnSpc>
              <a:spcAft>
                <a:spcPts val="400"/>
              </a:spcAft>
            </a:pPr>
            <a:r>
              <a:rPr sz="1650" b="0">
                <a:solidFill>
                  <a:srgbClr val="1F2A3A"/>
                </a:solidFill>
                <a:latin typeface="맑은 고딕"/>
                <a:ea typeface="맑은 고딕"/>
                <a:cs typeface="맑은 고딕"/>
              </a:rPr>
              <a:t>근거와 함께 저장한다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품질 불량 접수의 후속 업무 연결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품질 대응 카드의 항목과 갈라지는 경우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불량 접수 한 건을 품질 유형, 확인 항목, 담당 부서, 대응 초안을 갖춘 구조화된 품질 대응 카드로 바꾼다.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8837"/>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532456"/>
            <a:ext cx="424281" cy="424281"/>
          </a:xfrm>
          <a:prstGeom prst="rect">
            <a:avLst/>
          </a:prstGeom>
        </p:spPr>
      </p:pic>
      <p:sp>
        <p:nvSpPr>
          <p:cNvPr id="9" name="TextBox 8"/>
          <p:cNvSpPr txBox="1"/>
          <p:nvPr/>
        </p:nvSpPr>
        <p:spPr>
          <a:xfrm>
            <a:off x="713232"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품질 유형</a:t>
            </a:r>
          </a:p>
          <a:p>
            <a:pPr algn="l" eaLnBrk="0" marL="200025" indent="-200025">
              <a:lnSpc>
                <a:spcPct val="110000"/>
              </a:lnSpc>
              <a:spcAft>
                <a:spcPts val="400"/>
              </a:spcAft>
            </a:pPr>
            <a:r>
              <a:rPr sz="1750" b="0">
                <a:solidFill>
                  <a:srgbClr val="1F2A3A"/>
                </a:solidFill>
                <a:latin typeface="맑은 고딕"/>
                <a:ea typeface="맑은 고딕"/>
                <a:cs typeface="맑은 고딕"/>
              </a:rPr>
              <a:t>• 제공된 분류 기준으로</a:t>
            </a:r>
          </a:p>
          <a:p>
            <a:pPr algn="l" eaLnBrk="0" marL="200025" indent="-200025">
              <a:lnSpc>
                <a:spcPct val="110000"/>
              </a:lnSpc>
              <a:spcAft>
                <a:spcPts val="400"/>
              </a:spcAft>
            </a:pPr>
            <a:r>
              <a:rPr sz="1750" b="0">
                <a:solidFill>
                  <a:srgbClr val="1F2A3A"/>
                </a:solidFill>
                <a:latin typeface="맑은 고딕"/>
                <a:ea typeface="맑은 고딕"/>
                <a:cs typeface="맑은 고딕"/>
              </a:rPr>
              <a:t>• 접수 내용의 유형을 정한다</a:t>
            </a:r>
          </a:p>
        </p:txBody>
      </p:sp>
      <p:sp>
        <p:nvSpPr>
          <p:cNvPr id="10" name="Rounded Rectangle 9"/>
          <p:cNvSpPr/>
          <p:nvPr/>
        </p:nvSpPr>
        <p:spPr>
          <a:xfrm>
            <a:off x="777240" y="537527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a:t>
            </a:r>
          </a:p>
        </p:txBody>
      </p:sp>
      <p:sp>
        <p:nvSpPr>
          <p:cNvPr id="12" name="Rounded Rectangle 11"/>
          <p:cNvSpPr/>
          <p:nvPr/>
        </p:nvSpPr>
        <p:spPr>
          <a:xfrm>
            <a:off x="3390823"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8837"/>
            <a:ext cx="731520" cy="731520"/>
          </a:xfrm>
          <a:prstGeom prst="ellipse">
            <a:avLst/>
          </a:prstGeom>
          <a:solidFill>
            <a:srgbClr val="E7F3FD"/>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3773043" y="2532456"/>
            <a:ext cx="424281" cy="424281"/>
          </a:xfrm>
          <a:prstGeom prst="rect">
            <a:avLst/>
          </a:prstGeom>
        </p:spPr>
      </p:pic>
      <p:sp>
        <p:nvSpPr>
          <p:cNvPr id="15" name="TextBox 14"/>
          <p:cNvSpPr txBox="1"/>
          <p:nvPr/>
        </p:nvSpPr>
        <p:spPr>
          <a:xfrm>
            <a:off x="3555415"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추가 확인 항목</a:t>
            </a:r>
          </a:p>
          <a:p>
            <a:pPr algn="l" eaLnBrk="0" marL="200025" indent="-200025">
              <a:lnSpc>
                <a:spcPct val="110000"/>
              </a:lnSpc>
              <a:spcAft>
                <a:spcPts val="400"/>
              </a:spcAft>
            </a:pPr>
            <a:r>
              <a:rPr sz="1750" b="0">
                <a:solidFill>
                  <a:srgbClr val="1F2A3A"/>
                </a:solidFill>
                <a:latin typeface="맑은 고딕"/>
                <a:ea typeface="맑은 고딕"/>
                <a:cs typeface="맑은 고딕"/>
              </a:rPr>
              <a:t>• 판단에 모자란 정보를</a:t>
            </a:r>
          </a:p>
          <a:p>
            <a:pPr algn="l" eaLnBrk="0" marL="200025" indent="-200025">
              <a:lnSpc>
                <a:spcPct val="110000"/>
              </a:lnSpc>
              <a:spcAft>
                <a:spcPts val="400"/>
              </a:spcAft>
            </a:pPr>
            <a:r>
              <a:rPr sz="1750" b="0">
                <a:solidFill>
                  <a:srgbClr val="1F2A3A"/>
                </a:solidFill>
                <a:latin typeface="맑은 고딕"/>
                <a:ea typeface="맑은 고딕"/>
                <a:cs typeface="맑은 고딕"/>
              </a:rPr>
              <a:t>• 확인 항목으로 적는다</a:t>
            </a:r>
          </a:p>
        </p:txBody>
      </p:sp>
      <p:sp>
        <p:nvSpPr>
          <p:cNvPr id="16" name="Rounded Rectangle 15"/>
          <p:cNvSpPr/>
          <p:nvPr/>
        </p:nvSpPr>
        <p:spPr>
          <a:xfrm>
            <a:off x="3619423" y="537527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
        <p:nvSpPr>
          <p:cNvPr id="18" name="Rounded Rectangle 17"/>
          <p:cNvSpPr/>
          <p:nvPr/>
        </p:nvSpPr>
        <p:spPr>
          <a:xfrm>
            <a:off x="6233007"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8837"/>
            <a:ext cx="731520" cy="731520"/>
          </a:xfrm>
          <a:prstGeom prst="ellipse">
            <a:avLst/>
          </a:prstGeom>
          <a:solidFill>
            <a:srgbClr val="E7F3FD"/>
          </a:solidFill>
          <a:ln>
            <a:noFill/>
          </a:ln>
        </p:spPr>
        <p:txBody>
          <a:bodyPr rtlCol="0" anchor="ctr"/>
          <a:lstStyle/>
          <a:p>
            <a:pPr algn="ctr"/>
          </a:p>
        </p:txBody>
      </p:sp>
      <p:pic>
        <p:nvPicPr>
          <p:cNvPr id="20" name="아이콘:building-factory-2" descr="building-factory-2_13294B_1.6.png"/>
          <p:cNvPicPr>
            <a:picLocks noChangeAspect="1"/>
          </p:cNvPicPr>
          <p:nvPr/>
        </p:nvPicPr>
        <p:blipFill>
          <a:blip r:embed="rId5"/>
          <a:stretch>
            <a:fillRect/>
          </a:stretch>
        </p:blipFill>
        <p:spPr>
          <a:xfrm>
            <a:off x="6615226" y="2532456"/>
            <a:ext cx="424281" cy="424281"/>
          </a:xfrm>
          <a:prstGeom prst="rect">
            <a:avLst/>
          </a:prstGeom>
        </p:spPr>
      </p:pic>
      <p:sp>
        <p:nvSpPr>
          <p:cNvPr id="21" name="TextBox 20"/>
          <p:cNvSpPr txBox="1"/>
          <p:nvPr/>
        </p:nvSpPr>
        <p:spPr>
          <a:xfrm>
            <a:off x="6397599"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담당 부서와 대응 초안</a:t>
            </a:r>
          </a:p>
          <a:p>
            <a:pPr algn="l" eaLnBrk="0" marL="200025" indent="-200025">
              <a:lnSpc>
                <a:spcPct val="110000"/>
              </a:lnSpc>
              <a:spcAft>
                <a:spcPts val="400"/>
              </a:spcAft>
            </a:pPr>
            <a:r>
              <a:rPr sz="1750" b="0">
                <a:solidFill>
                  <a:srgbClr val="1F2A3A"/>
                </a:solidFill>
                <a:latin typeface="맑은 고딕"/>
                <a:ea typeface="맑은 고딕"/>
                <a:cs typeface="맑은 고딕"/>
              </a:rPr>
              <a:t>• 넘길 부서를 정하고</a:t>
            </a:r>
          </a:p>
          <a:p>
            <a:pPr algn="l" eaLnBrk="0" marL="200025" indent="-200025">
              <a:lnSpc>
                <a:spcPct val="110000"/>
              </a:lnSpc>
              <a:spcAft>
                <a:spcPts val="400"/>
              </a:spcAft>
            </a:pPr>
            <a:r>
              <a:rPr sz="1750" b="0">
                <a:solidFill>
                  <a:srgbClr val="1F2A3A"/>
                </a:solidFill>
                <a:latin typeface="맑은 고딕"/>
                <a:ea typeface="맑은 고딕"/>
                <a:cs typeface="맑은 고딕"/>
              </a:rPr>
              <a:t>• 대응 초안을 쓴다</a:t>
            </a:r>
          </a:p>
        </p:txBody>
      </p:sp>
      <p:sp>
        <p:nvSpPr>
          <p:cNvPr id="22" name="Rounded Rectangle 21"/>
          <p:cNvSpPr/>
          <p:nvPr/>
        </p:nvSpPr>
        <p:spPr>
          <a:xfrm>
            <a:off x="6461607" y="537527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a:t>
            </a:r>
          </a:p>
        </p:txBody>
      </p:sp>
      <p:sp>
        <p:nvSpPr>
          <p:cNvPr id="24" name="Rounded Rectangle 23"/>
          <p:cNvSpPr/>
          <p:nvPr/>
        </p:nvSpPr>
        <p:spPr>
          <a:xfrm>
            <a:off x="9075191" y="2177668"/>
            <a:ext cx="2567863" cy="36273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8837"/>
            <a:ext cx="731520" cy="731520"/>
          </a:xfrm>
          <a:prstGeom prst="ellipse">
            <a:avLst/>
          </a:prstGeom>
          <a:solidFill>
            <a:srgbClr val="5CB8F2"/>
          </a:solidFill>
          <a:ln>
            <a:noFill/>
          </a:ln>
        </p:spPr>
        <p:txBody>
          <a:bodyPr rtlCol="0" anchor="ctr"/>
          <a:lstStyle/>
          <a:p>
            <a:pPr algn="ctr"/>
          </a:p>
        </p:txBody>
      </p:sp>
      <p:pic>
        <p:nvPicPr>
          <p:cNvPr id="26" name="아이콘:zoom-question" descr="zoom-question_13294B_1.6.png"/>
          <p:cNvPicPr>
            <a:picLocks noChangeAspect="1"/>
          </p:cNvPicPr>
          <p:nvPr/>
        </p:nvPicPr>
        <p:blipFill>
          <a:blip r:embed="rId6"/>
          <a:stretch>
            <a:fillRect/>
          </a:stretch>
        </p:blipFill>
        <p:spPr>
          <a:xfrm>
            <a:off x="9457410" y="2532456"/>
            <a:ext cx="424281" cy="424281"/>
          </a:xfrm>
          <a:prstGeom prst="rect">
            <a:avLst/>
          </a:prstGeom>
        </p:spPr>
      </p:pic>
      <p:sp>
        <p:nvSpPr>
          <p:cNvPr id="27" name="TextBox 26"/>
          <p:cNvSpPr txBox="1"/>
          <p:nvPr/>
        </p:nvSpPr>
        <p:spPr>
          <a:xfrm>
            <a:off x="9239783"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원인 미확정</a:t>
            </a:r>
          </a:p>
          <a:p>
            <a:pPr algn="l" eaLnBrk="0" marL="200025" indent="-200025">
              <a:lnSpc>
                <a:spcPct val="110000"/>
              </a:lnSpc>
              <a:spcAft>
                <a:spcPts val="400"/>
              </a:spcAft>
            </a:pPr>
            <a:r>
              <a:rPr sz="1750" b="0">
                <a:solidFill>
                  <a:srgbClr val="1F2A3A"/>
                </a:solidFill>
                <a:latin typeface="맑은 고딕"/>
                <a:ea typeface="맑은 고딕"/>
                <a:cs typeface="맑은 고딕"/>
              </a:rPr>
              <a:t>• 원인이 정해지지 않았으면</a:t>
            </a:r>
          </a:p>
          <a:p>
            <a:pPr algn="l" eaLnBrk="0" marL="200025" indent="-200025">
              <a:lnSpc>
                <a:spcPct val="110000"/>
              </a:lnSpc>
              <a:spcAft>
                <a:spcPts val="400"/>
              </a:spcAft>
            </a:pPr>
            <a:r>
              <a:rPr sz="1750" b="0">
                <a:solidFill>
                  <a:srgbClr val="1F2A3A"/>
                </a:solidFill>
                <a:latin typeface="맑은 고딕"/>
                <a:ea typeface="맑은 고딕"/>
                <a:cs typeface="맑은 고딕"/>
              </a:rPr>
              <a:t>• 단정하지 않고 조사 요청으로 넘긴다</a:t>
            </a:r>
          </a:p>
        </p:txBody>
      </p:sp>
      <p:sp>
        <p:nvSpPr>
          <p:cNvPr id="28" name="Rounded Rectangle 27"/>
          <p:cNvSpPr/>
          <p:nvPr/>
        </p:nvSpPr>
        <p:spPr>
          <a:xfrm>
            <a:off x="9303791" y="5375275"/>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5275"/>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조사 요청</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여러 센서의 이상 징후 탐색과 시각화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 도표와 이상 구간 요약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센서 값의 변화를 도표로 그리고, 이상 구간 · 관련 태그 · 조회 기간을 근거와 함께 요약하되 원인을 단정하지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chart-line" descr="chart-line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도표</a:t>
            </a:r>
          </a:p>
          <a:p>
            <a:pPr algn="l" eaLnBrk="0" marL="205740" indent="-205740">
              <a:lnSpc>
                <a:spcPct val="110000"/>
              </a:lnSpc>
              <a:spcAft>
                <a:spcPts val="400"/>
              </a:spcAft>
            </a:pPr>
            <a:r>
              <a:rPr sz="1800" b="0">
                <a:solidFill>
                  <a:srgbClr val="1F2A3A"/>
                </a:solidFill>
                <a:latin typeface="맑은 고딕"/>
                <a:ea typeface="맑은 고딕"/>
                <a:cs typeface="맑은 고딕"/>
              </a:rPr>
              <a:t>• 온도와 압력의 시간 축을 맞추고 단위를 구분해</a:t>
            </a:r>
          </a:p>
          <a:p>
            <a:pPr algn="l" eaLnBrk="0" marL="205740" indent="-205740">
              <a:lnSpc>
                <a:spcPct val="110000"/>
              </a:lnSpc>
              <a:spcAft>
                <a:spcPts val="400"/>
              </a:spcAft>
            </a:pPr>
            <a:r>
              <a:rPr sz="1800" b="0">
                <a:solidFill>
                  <a:srgbClr val="1F2A3A"/>
                </a:solidFill>
                <a:latin typeface="맑은 고딕"/>
                <a:ea typeface="맑은 고딕"/>
                <a:cs typeface="맑은 고딕"/>
              </a:rPr>
              <a:t>• 값이 오르는 구간을 비교한다</a:t>
            </a:r>
          </a:p>
        </p:txBody>
      </p:sp>
      <p:sp>
        <p:nvSpPr>
          <p:cNvPr id="10" name="Rounded Rectangle 9"/>
          <p:cNvSpPr/>
          <p:nvPr/>
        </p:nvSpPr>
        <p:spPr>
          <a:xfrm>
            <a:off x="777240" y="525907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시각화</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notes" descr="notes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요약</a:t>
            </a:r>
          </a:p>
          <a:p>
            <a:pPr algn="l" eaLnBrk="0" marL="205740" indent="-205740">
              <a:lnSpc>
                <a:spcPct val="110000"/>
              </a:lnSpc>
              <a:spcAft>
                <a:spcPts val="400"/>
              </a:spcAft>
            </a:pPr>
            <a:r>
              <a:rPr sz="1800" b="0">
                <a:solidFill>
                  <a:srgbClr val="1F2A3A"/>
                </a:solidFill>
                <a:latin typeface="맑은 고딕"/>
                <a:ea typeface="맑은 고딕"/>
                <a:cs typeface="맑은 고딕"/>
              </a:rPr>
              <a:t>• 이상 구간, 관련 태그, 조회 기간을</a:t>
            </a:r>
          </a:p>
          <a:p>
            <a:pPr algn="l" eaLnBrk="0" marL="205740" indent="-205740">
              <a:lnSpc>
                <a:spcPct val="110000"/>
              </a:lnSpc>
              <a:spcAft>
                <a:spcPts val="400"/>
              </a:spcAft>
            </a:pPr>
            <a:r>
              <a:rPr sz="1800" b="0">
                <a:solidFill>
                  <a:srgbClr val="1F2A3A"/>
                </a:solidFill>
                <a:latin typeface="맑은 고딕"/>
                <a:ea typeface="맑은 고딕"/>
                <a:cs typeface="맑은 고딕"/>
              </a:rPr>
              <a:t>• 근거와 함께 적는다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요약</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출력 점검</a:t>
            </a:r>
          </a:p>
          <a:p>
            <a:pPr algn="l" eaLnBrk="0" marL="205740" indent="-205740">
              <a:lnSpc>
                <a:spcPct val="110000"/>
              </a:lnSpc>
              <a:spcAft>
                <a:spcPts val="400"/>
              </a:spcAft>
            </a:pPr>
            <a:r>
              <a:rPr sz="1800" b="0">
                <a:solidFill>
                  <a:srgbClr val="1F2A3A"/>
                </a:solidFill>
                <a:latin typeface="맑은 고딕"/>
                <a:ea typeface="맑은 고딕"/>
                <a:cs typeface="맑은 고딕"/>
              </a:rPr>
              <a:t>• 함께 변한 값을 고장 원인으로</a:t>
            </a:r>
          </a:p>
          <a:p>
            <a:pPr algn="l" eaLnBrk="0" marL="205740" indent="-205740">
              <a:lnSpc>
                <a:spcPct val="110000"/>
              </a:lnSpc>
              <a:spcAft>
                <a:spcPts val="400"/>
              </a:spcAft>
            </a:pPr>
            <a:r>
              <a:rPr sz="1800" b="0">
                <a:solidFill>
                  <a:srgbClr val="1F2A3A"/>
                </a:solidFill>
                <a:latin typeface="맑은 고딕"/>
                <a:ea typeface="맑은 고딕"/>
                <a:cs typeface="맑은 고딕"/>
              </a:rPr>
              <a:t>• 단정하지 않았는지 확인한다</a:t>
            </a:r>
          </a:p>
        </p:txBody>
      </p:sp>
      <p:sp>
        <p:nvSpPr>
          <p:cNvPr id="22" name="Rounded Rectangle 21"/>
          <p:cNvSpPr/>
          <p:nvPr/>
        </p:nvSpPr>
        <p:spPr>
          <a:xfrm>
            <a:off x="8356396" y="5259070"/>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사건의 94초를 다시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장면마다 누가 무엇을 했고 어떤 근거를 썼는지 가르면, 일하는 에이전트의 원리가 한 번에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장면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가를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판단의 근거</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대안 평가가 네 후보의 점수를 냈다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모델이 계산했나,</a:t>
            </a:r>
          </a:p>
          <a:p>
            <a:pPr algn="l" eaLnBrk="0">
              <a:lnSpc>
                <a:spcPct val="110000"/>
              </a:lnSpc>
            </a:pPr>
            <a:r>
              <a:rPr sz="1400" b="0">
                <a:solidFill>
                  <a:srgbClr val="1F2A3A"/>
                </a:solidFill>
                <a:latin typeface="맑은 고딕"/>
                <a:ea typeface="맑은 고딕"/>
                <a:cs typeface="맑은 고딕"/>
              </a:rPr>
              <a:t>도구가 계산했나</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모델은 이름과 입력을 적고</a:t>
            </a:r>
          </a:p>
          <a:p>
            <a:pPr algn="l" eaLnBrk="0">
              <a:lnSpc>
                <a:spcPct val="110000"/>
              </a:lnSpc>
            </a:pPr>
            <a:r>
              <a:rPr sz="1250" b="1">
                <a:solidFill>
                  <a:srgbClr val="556175"/>
                </a:solidFill>
                <a:latin typeface="맑은 고딕"/>
                <a:ea typeface="맑은 고딕"/>
                <a:cs typeface="맑은 고딕"/>
              </a:rPr>
              <a:t>계산은 판단 도구가 한다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70 %와 46.2 %</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둘 다 지금의 값인가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70은 지식의 기준,</a:t>
            </a:r>
          </a:p>
          <a:p>
            <a:pPr algn="l" eaLnBrk="0">
              <a:lnSpc>
                <a:spcPct val="110000"/>
              </a:lnSpc>
            </a:pPr>
            <a:r>
              <a:rPr sz="1250" b="1">
                <a:solidFill>
                  <a:srgbClr val="556175"/>
                </a:solidFill>
                <a:latin typeface="맑은 고딕"/>
                <a:ea typeface="맑은 고딕"/>
                <a:cs typeface="맑은 고딕"/>
              </a:rPr>
              <a:t>46.2는 그때 읽은 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오염 · 팬 구동 불량</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둘 다 기준이 지지하는가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등록 기준에서 핀 오염은 지지,</a:t>
            </a:r>
          </a:p>
          <a:p>
            <a:pPr algn="l" eaLnBrk="0">
              <a:lnSpc>
                <a:spcPct val="110000"/>
              </a:lnSpc>
            </a:pPr>
            <a:r>
              <a:rPr sz="1250" b="1">
                <a:solidFill>
                  <a:srgbClr val="556175"/>
                </a:solidFill>
                <a:latin typeface="맑은 고딕"/>
                <a:ea typeface="맑은 고딕"/>
                <a:cs typeface="맑은 고딕"/>
              </a:rPr>
              <a:t>팬 구동 불량은 불일치</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추천안 제출과 팬 속도 명령</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둘 다 에이전트가 했나</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에이전트는 제출까지,</a:t>
            </a:r>
          </a:p>
          <a:p>
            <a:pPr algn="l" eaLnBrk="0">
              <a:lnSpc>
                <a:spcPct val="110000"/>
              </a:lnSpc>
            </a:pPr>
            <a:r>
              <a:rPr sz="1250" b="1">
                <a:solidFill>
                  <a:srgbClr val="1A6FC4"/>
                </a:solidFill>
                <a:latin typeface="맑은 고딕"/>
                <a:ea typeface="맑은 고딕"/>
                <a:cs typeface="맑은 고딕"/>
              </a:rPr>
              <a:t>명령은 승인 뒤 시스템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550" b="1">
                <a:solidFill>
                  <a:srgbClr val="13294B"/>
                </a:solidFill>
                <a:latin typeface="맑은 고딕"/>
                <a:ea typeface="맑은 고딕"/>
                <a:cs typeface="맑은 고딕"/>
              </a:rPr>
              <a:t>재고 조회 0행과 조회 실패</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뜻인가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0행은 일치 기록 없음,</a:t>
            </a:r>
          </a:p>
          <a:p>
            <a:pPr algn="l" eaLnBrk="0">
              <a:lnSpc>
                <a:spcPct val="110000"/>
              </a:lnSpc>
            </a:pPr>
            <a:r>
              <a:rPr sz="1250" b="1">
                <a:solidFill>
                  <a:srgbClr val="556175"/>
                </a:solidFill>
                <a:latin typeface="맑은 고딕"/>
                <a:ea typeface="맑은 고딕"/>
                <a:cs typeface="맑은 고딕"/>
              </a:rPr>
              <a:t>실패는 조회 불가</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LLM</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Large Language Model</a:t>
            </a:r>
          </a:p>
          <a:p>
            <a:pPr algn="l" eaLnBrk="0">
              <a:lnSpc>
                <a:spcPct val="110000"/>
              </a:lnSpc>
            </a:pPr>
            <a:r>
              <a:rPr sz="1250" b="0">
                <a:solidFill>
                  <a:srgbClr val="1F2A3A"/>
                </a:solidFill>
                <a:latin typeface="맑은 고딕"/>
                <a:ea typeface="맑은 고딕"/>
                <a:cs typeface="맑은 고딕"/>
              </a:rPr>
              <a:t>입력과 학습한 내용을 바탕으로 응답을 만드는 대규모 언어 모델</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RAG</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Retrieval-Augmented Generation</a:t>
            </a:r>
          </a:p>
          <a:p>
            <a:pPr algn="l" eaLnBrk="0">
              <a:lnSpc>
                <a:spcPct val="110000"/>
              </a:lnSpc>
            </a:pPr>
            <a:r>
              <a:rPr sz="1250" b="0">
                <a:solidFill>
                  <a:srgbClr val="1F2A3A"/>
                </a:solidFill>
                <a:latin typeface="맑은 고딕"/>
                <a:ea typeface="맑은 고딕"/>
                <a:cs typeface="맑은 고딕"/>
              </a:rPr>
              <a:t>검색한 자료를 답 생성의 근거로 제공하는 방식</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에이전트</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AI Agent</a:t>
            </a:r>
          </a:p>
          <a:p>
            <a:pPr algn="l" eaLnBrk="0">
              <a:lnSpc>
                <a:spcPct val="110000"/>
              </a:lnSpc>
            </a:pPr>
            <a:r>
              <a:rPr sz="1250" b="0">
                <a:solidFill>
                  <a:srgbClr val="1F2A3A"/>
                </a:solidFill>
                <a:latin typeface="맑은 고딕"/>
                <a:ea typeface="맑은 고딕"/>
                <a:cs typeface="맑은 고딕"/>
              </a:rPr>
              <a:t>목표와 도구 결과에 따라 행동하며 완료 · 멈춤 조건에서 끝내는 시스템</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도구</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Tool</a:t>
            </a:r>
          </a:p>
          <a:p>
            <a:pPr algn="l" eaLnBrk="0">
              <a:lnSpc>
                <a:spcPct val="110000"/>
              </a:lnSpc>
            </a:pPr>
            <a:r>
              <a:rPr sz="1250" b="0">
                <a:solidFill>
                  <a:srgbClr val="1F2A3A"/>
                </a:solidFill>
                <a:latin typeface="맑은 고딕"/>
                <a:ea typeface="맑은 고딕"/>
                <a:cs typeface="맑은 고딕"/>
              </a:rPr>
              <a:t>모델이 이름과 입력을 적어 부르는 조회 · 계산 · 제출 기능</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실행 고리</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Agent Loop</a:t>
            </a:r>
          </a:p>
          <a:p>
            <a:pPr algn="l" eaLnBrk="0">
              <a:lnSpc>
                <a:spcPct val="110000"/>
              </a:lnSpc>
            </a:pPr>
            <a:r>
              <a:rPr sz="1250" b="0">
                <a:solidFill>
                  <a:srgbClr val="1F2A3A"/>
                </a:solidFill>
                <a:latin typeface="맑은 고딕"/>
                <a:ea typeface="맑은 고딕"/>
                <a:cs typeface="맑은 고딕"/>
              </a:rPr>
              <a:t>요청 해석 · 계획 · 호출 · 관찰을 되풀이하다 종료하는 틀</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신선도</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Freshness</a:t>
            </a:r>
          </a:p>
          <a:p>
            <a:pPr algn="l" eaLnBrk="0">
              <a:lnSpc>
                <a:spcPct val="110000"/>
              </a:lnSpc>
            </a:pPr>
            <a:r>
              <a:rPr sz="1250" b="0">
                <a:solidFill>
                  <a:srgbClr val="1F2A3A"/>
                </a:solidFill>
                <a:latin typeface="맑은 고딕"/>
                <a:ea typeface="맑은 고딕"/>
                <a:cs typeface="맑은 고딕"/>
              </a:rPr>
              <a:t>관측된 값이 판단 시점에서 얼마나 오래됐는가</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근거의 상태</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SUPPORTED · UNKNOWN · UNSUPPORTED</a:t>
            </a:r>
          </a:p>
          <a:p>
            <a:pPr algn="l" eaLnBrk="0">
              <a:lnSpc>
                <a:spcPct val="110000"/>
              </a:lnSpc>
            </a:pPr>
            <a:r>
              <a:rPr sz="1250" b="0">
                <a:solidFill>
                  <a:srgbClr val="1F2A3A"/>
                </a:solidFill>
                <a:latin typeface="맑은 고딕"/>
                <a:ea typeface="맑은 고딕"/>
                <a:cs typeface="맑은 고딕"/>
              </a:rPr>
              <a:t>근거 지지 · 미확인 · 지지 근거 없음</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구조화 출력</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Structured Output</a:t>
            </a:r>
          </a:p>
          <a:p>
            <a:pPr algn="l" eaLnBrk="0">
              <a:lnSpc>
                <a:spcPct val="110000"/>
              </a:lnSpc>
            </a:pPr>
            <a:r>
              <a:rPr sz="1250" b="0">
                <a:solidFill>
                  <a:srgbClr val="1F2A3A"/>
                </a:solidFill>
                <a:latin typeface="맑은 고딕"/>
                <a:ea typeface="맑은 고딕"/>
                <a:cs typeface="맑은 고딕"/>
              </a:rPr>
              <a:t>정해진 항목과 형식을 갖춘 JSON 결과</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실행 기록</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Execution Log</a:t>
            </a:r>
          </a:p>
          <a:p>
            <a:pPr algn="l" eaLnBrk="0">
              <a:lnSpc>
                <a:spcPct val="110000"/>
              </a:lnSpc>
            </a:pPr>
            <a:r>
              <a:rPr sz="1250" b="0">
                <a:solidFill>
                  <a:srgbClr val="1F2A3A"/>
                </a:solidFill>
                <a:latin typeface="맑은 고딕"/>
                <a:ea typeface="맑은 고딕"/>
                <a:cs typeface="맑은 고딕"/>
              </a:rPr>
              <a:t>도구 호출의 시각 · 입력 · 출력 · 걸린 시간을 남긴 기록</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처리 기록의 한 장면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원인 진단을 부른 뒤, 그 결과에 든 원인과 고장 유형의 식별자를 넣어 대안 평가를 불렀다.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장면이 보여 주는 실행 고리의 단계는?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요청 해석 — 맡은 업무와 입력을 읽은 것이다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결과 관찰에 이은 다음 호출 — 앞의 결과가 다음 입력을 정했다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재시도 — 뜻대로 되지 않은 호출을 다시 부른 것이다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종료 — 산출물을 제출하고 끝낸 것이다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읽지 못한 값과 묵은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원인을 가리려는데 유온의 최신 값은 3분 전의 것이었고, 냉각 효율의 조회는 실패했다.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이때 에이전트의 올바른 동작은?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3분 전의 유온과 판별 기준 70 %를 써서 쿨러 핀 오염으로 제출한다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냉각 효율을 0 %로 적고 유온을 가장 많이 내리는 조치를 추천한다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원인 후보에 올라 있는 쿨러 핀 오염을 확인된 원인으로 적는다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원인을 적지 않고, 확인하지 못한 값과 그 이유를 담아 보류한다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허용되지 않은 도구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일을 끝내려면 허용 목록에 없는 도구가 필요하다고 판단했고, 유온은 계속 오르고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이때 일어나야 하는 일은?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허용된 도구를 여럿 조합해 같은 효과를 내는 길을 찾는다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급한 상황이므로 한 번만 실행하고 그 사실을 기록에 남긴다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실행하지 않고 사람에게 묻는다. 답을 받아도 실행 권한은 그대로이다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사람에게 물은 뒤 답을 받으면 그 도구를 직접 실행한다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실행 고리의 단계, 지식과 값의 구분, 권한의 경계를 각각 올바른 기준으로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서로 다른 도구를 이어 불렀고, 앞 호출의 결과가 뒤 호출의 입력이 되었다. 관찰이 다음 행동을 정한 것이다.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묵은 값과 실패한 조회로는 근거가 확인되지 않는다. 채우지 않고 이유와 함께 보류한다.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허용 목록 밖의 도구는 실행되지 않는다. 사람의 답변도 상황의 급함도 실행 권한을 바꾸지 않는다.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