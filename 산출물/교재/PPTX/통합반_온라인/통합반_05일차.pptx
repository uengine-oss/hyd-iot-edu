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LLM, RAG, 에이전트가 같은 요청에 무엇을 돌려주는지 구분합니다. 이어서 쿨러 사건의 처리 기록에서 에이전트가 일한 순서와 그 결과물을 짚습니다. 그다음 에이전트가 읽는 정보원과 멈춰야 하는 조건을 다룹니다. 마지막 실습에서는 에이전트를 직접 구성하고 결과를 근거와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경보가 나고 승인되기까지 약 94초 동안 에이전트가 일했습니다. 그 일을 질문에 답하는 AI에게 맡기면 무엇이 모자란지부터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시간표입니다. 경보가 나고 승인되기까지 108초가 걸렸고, 그 가운데 약 94초는 에이전트가 일한 시간이었습니다. 그동안 에이전트는 원인을 가리고 조치 후보 넷을 견주어 추천안을 냈습니다. 이번 회차는 이 구간 안에서 일어난 일을 풉니다.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94초 동안 에이전트가 한 일은 네 가지입니다. 센서 값을 읽었고, 그 값으로 원인 후보 셋 가운데 쿨러 핀 오염을 가렸고, 조치 후보 넷을 견주었고, 그 결과를 추천안으로 제출했습니다. 값이 있어야 원인을 가리고, 원인이 있어야 견줄 후보가 정해집니다. 이런 일을 맡기려면 AI가 무엇을 갖추어야 하는지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문서에서 지식 후보를 뽑을 때 쓴 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LLM만으로는 채울 수 없는 자리가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 검색 증강 생성입니다.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정하며, 이 일을 목표에 이를 때까지 되풀이합니다. 도구는 모델이 부를 수 있도록 이름과 입력을 정해 둔 기능입니다.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RAG는 관련 문서를 찾아 인용한 설명을 돌려줍니다. 에이전트는 도구로 지금의 값을 읽어 원인을 가리고 후보 넷을 견준 추천안을 제출합니다. 셋을 가르는 것은 답의 근거가 어디에서 오는가와 마지막에 무엇을 내는가입니다.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사건을 맡은 냉각 긴급 대응 에이전트와, 예비품 재고 경보를 맡는 구매 에이전트의 정의를 나란히 놓았습니다. 목표는 무엇을 이루어야 끝나는지, 도구는 무엇을 쓸 수 있는지, 업무 지침은 어떤 순서로 일하는지를 정합니다. 목표 칸은 에이전트에 적힌 문장을 이 수업의 낱말로 줄여 옮긴 요지입니다. 업무 지침은 에이전트 스킬이라는 파일로 주며, 그 형식은 따로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물음의 세 값을 글로 적어 낸 것입니다. 지식 그래프와 시계열 DB를 읽은 것은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있어도 한 번 부르고 끝낼 수는 없습니다. 조치 후보를 평가하려면 원인을 입력으로 넣어야 하는데, 원인은 진단을 부른 뒤에야 알 수 있기 때문입니다. 앞 호출의 결과가 다음 호출의 입력을 정합니다. 그래서 호출과 관찰을 되풀이하는 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요소로 본 실행 고리를 단계로 펼친 그림입니다. 왼쪽부터 요청 해석, 계획, 도구 선택과 호출, 결과 관찰, 종료이고, 단계마다 쿨러 사건에서 그 단계에 해당하는 것을 적었습니다. 결과를 관찰해 목표에 이르렀으면 종료로 가고, 아직 못 미쳤거나 호출이 뜻대로 되지 않았으면 위의 점선을 따라 계획으로 되돌아갑니다. 이 단계들을 쿨러 사건의 기록에서 차례로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기록 앞부분입니다. 11시 13분 8초에 경보가 났고 1초 뒤에 에이전트 단계가 시작되었습니다. 에이전트는 맡은 업무와 입력을 받고 가장 먼저 업무 지침인 에이전트 스킬을 읽었습니다. 마지막 줄은 에이전트가 스스로 적은 진행 설명이며, 무엇을 하려는지가 기록에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가리고 조치를 추천하라는 목표는 그대로는 수행할 수 없으므로 도구 호출의 순서로 풀어야 하며, 그것이 계획입니다. 쿨러 사건에서는 업무 지침에 다섯 단계가 적혀 있었고 에이전트는 이를 뼈대로 삼았습니다. 다만 지침은 뼈대여서, 실제로 어떤 값을 넣고 결과를 어떻게 읽을지는 그때마다 에이전트가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되돌아가는 장면입니다. 대안 평가가 돌려준 결과는 12만 자가 넘어 그대로 받을 수 없었습니다. 에이전트는 이를 알아차리고 순위와 규정 판정만 간추리겠다고 계획을 고쳤고, 6초 뒤에는 필요한 항목만 좁혀 다시 뽑겠다고 했습니다. 따옴표 안은 에이전트가 기록에 남긴 말 그대로입니다.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 파일을 남기고 단계를 끝냈습니다. 시작부터 1분 34초, 곧 약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쿨러 경보를 다른 실행에서 처리한 도구 호출 순서를 처음부터 끝까지 놓았습니다. 에이전트는 먼저 연결된 도구 가운데 쓸 것만 이름으로 골라 불러왔는데, 이것이 도구 선택입니다. 대안 평가의 결과를 받지 못하자 이번에는 조치 효과 예측을 세 번 불러, 조치마다 15분 뒤의 유온을 견주어 지는 안이 왜 지는지를 확인했습니다. 마지막 메시지에는 무엇을 열어 보지 못했고 대신 무엇을 근거로 썼는지를 적었습니다.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내는 것은 두 가지로 나뉩니다. 왼쪽의 답변은 질문한 사람이 읽으면 그것으로 끝납니다. 오른쪽의 업무 산출물은 승인할 담당자와 다음 단계의 시스템이 받으며, 그래서 항목이 정해져 있어야 합니다. 두 쪽을 실제 예로 하나씩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칸의 단순 답변부터 봅니다. 완제품 재고가 가장 적은 설비를 묻자 에이전트는 업무 DB를 조회해 HYD-02의 100개라고 답했습니다. 답 아래에는 실행한 조회문이 근거로 붙어 있습니다. 답이 한 번이어도 에이전트는 기억이 아니라 도구로 읽은 값으로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칸의 업무 산출물입니다. 쿨러 사건의 추천안에는 진단한 원인, 추천하는 조치 하나, 뒤진 대안 셋, 그렇게 판단한 이유와 판단 번호가 들어 있습니다. 대안이 왜 뒤졌는지까지 함께 내므로 담당자는 추천 하나만이 아니라 견준 과정을 보고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어디로 넘어가는지를 시각과 함께 봅니다. 에이전트의 일은 추천안을 내고 단계를 끝낸 11시 14분 42초에 끝납니다. 11시 14분 56초에 운전원이 승인하자 1초 뒤에 시스템이 팬 속도 명령을 만들었고, 재관측을 거쳐 핀 세척 작업지시도 시스템이 등록했습니다. 에이전트에게는 설비에 명령을 보낼 도구가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정보원은 저마다 다른 물음에 답합니다. 온톨로지는 관계를, 시계열 DB는 그 시각의 측정값을, 업무 DB는 정비와 재고와 납기의 상태를, SOP는 조치를 수행하는 방법을 답합니다. 유온이 지금 몇 도인지를 온톨로지에 물으면 답이 없습니다. 꼬리표를 보면 넷은 문서가 개정될 때만 바뀌는 쪽과 계속 바뀌는 쪽으로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진단 도구는 고장 유형에서 원인 관계를 거슬러 원인 후보 셋을, 완화 관계를 따라 조치 방법을 얻었습니다. 원인마다 매뉴얼이 얼마나 흔하다고 보는지를 적은 사전 확률도 함께 있어 쿨러 핀 오염이 가장 흔합니다. 그래도 그래프가 알려 주는 것은 후보까지이며, 셋 가운데 이번 사건에 맞는 것은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시계열 DB에서 읽은 값 하나를 자세히 봅니다. 냉각 효율 46.2는 한순간의 값이 아니라 최근 30초의 평균이며, 그렇게 읽으라는 방법은 지식 그래프의 증거에 적혀 있었습니다. 기준 70도 지식 그래프에서 왔습니다. 아래의 coverage는 그 30초 동안 표본이 30개 있었다는 뜻으로, 값이 띄엄띄엄 들어온 구간으로 평균을 내지 않았음을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DB에서 읽은 값을 앞에서 본 다른 실행의 기록에서 꺼냈습니다. 에이전트는 설비 이름 하나를 물음으로 넣어 이 설비에 걸린 생산오더를 받았습니다. 납기까지 5.98시간이 남았고 남은 수량은 1,500개입니다. 쿨러 사건의 실행에서는 대안 평가가 같은 생산오더의 납기를 평가 안에서 읽었고, 부하를 낮추는 조치가 성과 비교에서 납기 쪽 점수를 잃은 것이 이 값 때문이었습니다.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잘 바뀌지 않는 지식과 계속 변하는 값을 섞으면 두 가지 꼴로 나타납니다. 왼쪽은 매뉴얼의 기준 70을 잰 값처럼 말하는 경우입니다. 오른쪽은 경보 순간에 읽은 55.71을 한참 뒤에도 지금의 유온으로 쓰는 경우입니다. 두 문장 모두 숫자가 들어 있어 그럴듯하게 읽히므로, 읽는 사람이 알아차리기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혼동을 막는 첫째 장치는 작업 규칙입니다. 에이전트에게는 추측하지 말고 도구로 확인하라는 규칙이 주어지며, 무엇을 어디에서 얻을지가 세 갈래로 정해져 있습니다. 지식은 지식 그래프에서, 지금의 값은 원천에서 그때 읽습니다. 규칙 판정은 모델이 직접 하지 않고 판단 도구의 결과를 씁니다.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장치는 값에 붙는 신선도입니다. 가로축이 시간이고 오른쪽의 굵은 선이 판단하는 시각이며, 하늘색 띠가 허용 범위 60초입니다. 쿨러 사건에서 최신 유온은 0.6초 전의 값이어서 그대로 판단에 쓰였습니다.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멈추지 않으면 어떻게 되는지부터 봅니다. 냉각 효율을 읽지 못했는데 사전 확률이 가장 큰 원인을 적어 내면, 추천안의 모양은 값을 읽었을 때와 똑같아 승인하는 사람은 그 차이를 알 수 없습니다. 오른쪽처럼 원인을 적지 않고 무엇을 확인하지 못했는지를 내야 모르는 것이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상태이고,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담은 객체 하나를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실패에서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끝내 실패한다는 것이 언제인지는 한도로 정해 둡니다. 도구를 다시 부를지는 결과를 본 에이전트가 판단하지만, 직접 쓴 조회문의 오류를 고쳐 다시 실행하는 것은 두 번까지이고 이때 묻는 내용은 바꾸지 않습니다. 한 번의 실행 전체에는 1,800초, 곧 30분의 제한이 걸려 있습니다. 한도를 넘기면 에이전트는 멈추고 그 작업은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멈춤 조건인 권한 제한입니다. 에이전트마다 부를 수 있는 도구가 허용 목록으로 정해져 있고, 목록 밖의 도구를 부르려 하면 실행되지 않고 권한 요청이 되며, 그 요청은 질문이 되어 사람에게 올라갑니다. 마지막 칸은 에이전트에게 주는 지시의 한 문장입니다. 사람이 질문에 답하더라도 그것으로 에이전트의 권한이 넓어지지는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멈추지 않고 끝까지 간 경우에 에이전트가 내는 결과의 형식입니다. 문서에서 지식을 뽑을 때 쓴 구조화 출력이 여기에도 쓰입니다. 결과는 다섯 항목을 가진 JSON 객체 하나이며, 어떤 항목이 있어야 하는지는 작업마다 출력 계약으로 미리 정해져 있습니다. 판단 항목 안의 추천 · 설명 · 순서가 추천안의 추천 · 이유 · 뒤진 대안입니다.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낸 결과는 시스템이 먼저 검사합니다. 정해진 항목이 빠졌거나 모양이 어긋나면 그 결과는 승인 화면으로 가지 못하고, 거절됐다는 알림과 이유가 에이전트에게 되돌아갑니다. 에이전트는 같은 실행 안에서 조회를 다시 하지 않고 형식만 고쳐 다시 냅니다. 이 교정은 두 번까지입니다.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결과와 함께 과정도 남습니다. 에이전트가 일하는 동안 말과 도구 호출이 시각 순서로 한 줄씩 남는 것이 실행 기록이고, 위의 상자는 그것을 보여 주는 포털의 처리 기록 화면입니다. 그 가운데 도구 호출 한 줄을 아래에 펼쳤습니다. 언제, 어느 도구에, 무엇을 물어, 무엇을 받았고, 얼마나 걸렸는지의 다섯 칸이며, 입력과 출력이 모두 남으므로 추천안에 적힌 값이 어느 호출에서 왔는지를 찾아갈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기록은 결과가 이상해 보일 때 쓰입니다. 추천안의 값 하나가 의심스러우면 그 값을 돌려준 호출을 기록에서 찾고, 출력이 그 값과 같다면 다음은 입력입니다. 엉뚱한 설비나 틀린 원인을 넣지 않았는지를 봅니다. 입력도 옳다면 문제는 도구나 그 뒤의 데이터 쪽에 있고, 입력이 틀렸다면 호출 사이의 말에서 에이전트가 왜 그렇게 했는지를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 별도로, 결과 안에도 근거가 들어 있어야 합니다. 에이전트는 모든 판단에 지식 그래프의 식별자를 인용하도록 되어 있습니다. 쿨러 핀 오염이라는 이름만 있으면 그것이 등록된 지식인지 모델이 지어낸 말인지 구별할 수 없습니다. 식별자가 있으면 그 노드를 찾아가 출처인 매뉴얼의 절까지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근거를 적었다는 것만으로는 충분하지 않습니다. 근거 자체를 꾸며 낼 수 있기 때문입니다. 그래서 답에 적힌 조회가 실제 호출 기록에 있는지를 시스템이 대조합니다. 기록에 있으면 근거가 확인된 답으로 보이고, 없으면 답할 수 없음으로 보이며 에이전트가 낸 답은 근거가 확인되지 않았다는 표시와 함께 접힙니다.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쿨러 성능 저하 경보에 원인 후보가 셋이었고,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항목대로 이름과 목표와 역할을 적고, 쓸 수 있는 읽기 도구 가운데 필요한 것을 골라 에이전트 하나를 구성합니다. 그 에이전트에게 질문하고, 답에 붙은 근거가 호출 기록과 대조되어 확인되는지 봅니다. 끝으로 쿨러 사건을 맡은 기준 에이전트와 무엇이 다른지 적습니다. 준비된 학생 계정과 읽기 도구를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바이브 코딩으로 원인 추론 에이전트를 구성합니다. 공용 온톨로지의 관계와 제공된 센서 입력을 읽어 후보 원인과 증거를 맞추고, 다음 점검 순서를 냅니다. 확인되지 않은 원인은 단정하지 않고 가설로 표시하는 것이 성공 기준이며, 점검 계획과 그 계획에 쓴 근거가 파일로 남습니다. 질의 문장을 연습하는 실습이 아니라 에이전트가 근거를 다루는 방식을 만드는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불량 접수 메시지를 받아 후속 업무로 넘기는 작은 에이전트를 만듭니다. 출력은 품질 유형, 추가 확인 항목, 담당 부서, 대응 초안의 정해진 항목을 가진 품질 대응 카드입니다. 원인이 정해지지 않은 접수는 원인을 단정하지 않고 조사 요청으로 넘기는 갈래를 반드시 둡니다. 원인이 분명한 접수와 원인 미확정 접수가 서로 다른 카드로 나오면 성공입니다.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 시계열에서 이상 징후를 찾아 도표로 그립니다. 온도와 압력이 시간에 따라 어떻게 변했는지, 어느 구간에서 올랐는지를 비교하고, 요약에는 이상 구간과 관련 태그와 조회 기간을 근거와 함께 적습니다. 마지막으로 그 출력이 함께 변한 값을 원인이라고 단정하지 않았는지를 점검합니다.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장면 다섯을 놓고, 가운데 열의 물음에 학생이 먼저 답한 뒤 오른쪽 근거와 대조합니다. 계산의 주체, 지식과 값, 확인과 가설, 제안과 실행, 없음과 모름의 다섯 짝이 오늘 다룬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흐름을 다시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시나리오 해석 문항입니다. 두 호출의 도구가 같은지 다른지, 뒤 호출의 입력이 어디에서 왔는지를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실패와 값 없음을 구분하는지 묻는 근거 구분 문항입니다. 보기마다 무엇을 무엇으로 바꾸어 썼는지를 짚어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에이전트와 사람 사이의 책임 경계를 묻는 문항입니다. 상황이 급하다는 것이 권한을 바꾸는지, 사람의 답변이 권한을 바꾸는지를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3번은 같은 일을 방법을 바꾸어 다시 한 경우에 해당하는 말이며 이 장면과는 다릅니다. 둘째 문항의 1번은 묵은 값과 기준을, 2번은 실패를 0으로, 3번은 후보를 확인된 원인으로 바꾸어 쓴 것입니다. 셋째 문항의 4번은 사람에게 물었다는 점에서 그럴듯하지만, 답변이 권한을 바꾸지 않는다는 점에서 틀렸습니다.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4.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1.png"/><Relationship Id="rId7"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8.png"/><Relationship Id="rId4" Type="http://schemas.openxmlformats.org/officeDocument/2006/relationships/image" Target="../media/image30.png"/><Relationship Id="rId5" Type="http://schemas.openxmlformats.org/officeDocument/2006/relationships/image" Target="../media/image18.png"/><Relationship Id="rId6" Type="http://schemas.openxmlformats.org/officeDocument/2006/relationships/image" Target="../media/image31.png"/><Relationship Id="rId7" Type="http://schemas.openxmlformats.org/officeDocument/2006/relationships/image" Target="../media/image3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40.png"/><Relationship Id="rId5"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2.png"/><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5.png"/><Relationship Id="rId4" Type="http://schemas.openxmlformats.org/officeDocument/2006/relationships/image" Target="../media/image4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8.png"/><Relationship Id="rId4" Type="http://schemas.openxmlformats.org/officeDocument/2006/relationships/image" Target="../media/image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7.png"/><Relationship Id="rId4" Type="http://schemas.openxmlformats.org/officeDocument/2006/relationships/image" Target="../media/image47.png"/><Relationship Id="rId5" Type="http://schemas.openxmlformats.org/officeDocument/2006/relationships/image" Target="../media/image19.png"/><Relationship Id="rId6"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12.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2.png"/><Relationship Id="rId4" Type="http://schemas.openxmlformats.org/officeDocument/2006/relationships/image" Target="../media/image31.png"/><Relationship Id="rId5" Type="http://schemas.openxmlformats.org/officeDocument/2006/relationships/image" Target="../media/image15.png"/><Relationship Id="rId6"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3.png"/><Relationship Id="rId4" Type="http://schemas.openxmlformats.org/officeDocument/2006/relationships/image" Target="../media/image42.png"/><Relationship Id="rId5"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0.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5.png"/><Relationship Id="rId4" Type="http://schemas.openxmlformats.org/officeDocument/2006/relationships/image" Target="../media/image3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19.png"/><Relationship Id="rId5" Type="http://schemas.openxmlformats.org/officeDocument/2006/relationships/image" Target="../media/image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1.png"/><Relationship Id="rId6"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7.png"/><Relationship Id="rId4" Type="http://schemas.openxmlformats.org/officeDocument/2006/relationships/image" Target="../media/image37.png"/><Relationship Id="rId5" Type="http://schemas.openxmlformats.org/officeDocument/2006/relationships/image" Target="../media/image58.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5.png"/><Relationship Id="rId4" Type="http://schemas.openxmlformats.org/officeDocument/2006/relationships/image" Target="../media/image59.png"/><Relationship Id="rId5" Type="http://schemas.openxmlformats.org/officeDocument/2006/relationships/image" Target="../media/image3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지식을 활용해 실제 문제를 해결하는 AI 에이전트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정보와 도구로 일하는</a:t>
            </a:r>
          </a:p>
          <a:p>
            <a:pPr algn="l" eaLnBrk="0">
              <a:lnSpc>
                <a:spcPct val="110000"/>
              </a:lnSpc>
            </a:pPr>
            <a:r>
              <a:rPr sz="4000" b="1">
                <a:solidFill>
                  <a:srgbClr val="FFFFFF"/>
                </a:solidFill>
                <a:latin typeface="맑은 고딕"/>
                <a:ea typeface="맑은 고딕"/>
                <a:cs typeface="맑은 고딕"/>
              </a:rPr>
              <a:t>AI 에이전트</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목표를 받은 에이전트가 정보원을 도구로 읽고, 근거가 모자라면 멈추며, 결과와 과정을 남기는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쿨러 사건의 실제 기록으로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세 방식의 구분</a:t>
            </a:r>
          </a:p>
          <a:p>
            <a:pPr algn="l" eaLnBrk="0" marL="177165" indent="-177165">
              <a:lnSpc>
                <a:spcPct val="110000"/>
              </a:lnSpc>
              <a:spcAft>
                <a:spcPts val="400"/>
              </a:spcAft>
            </a:pPr>
            <a:r>
              <a:rPr sz="1550" b="0">
                <a:solidFill>
                  <a:srgbClr val="1F2A3A"/>
                </a:solidFill>
                <a:latin typeface="맑은 고딕"/>
                <a:ea typeface="맑은 고딕"/>
                <a:cs typeface="맑은 고딕"/>
              </a:rPr>
              <a:t>• 같은 요청에 LLM · RAG · 에이전트가</a:t>
            </a:r>
          </a:p>
          <a:p>
            <a:pPr algn="l" eaLnBrk="0" marL="177165" indent="-177165">
              <a:lnSpc>
                <a:spcPct val="110000"/>
              </a:lnSpc>
              <a:spcAft>
                <a:spcPts val="400"/>
              </a:spcAft>
            </a:pPr>
            <a:r>
              <a:rPr sz="1550" b="0">
                <a:solidFill>
                  <a:srgbClr val="1F2A3A"/>
                </a:solidFill>
                <a:latin typeface="맑은 고딕"/>
                <a:ea typeface="맑은 고딕"/>
                <a:cs typeface="맑은 고딕"/>
              </a:rPr>
              <a:t>• 무엇을 근거로 무엇을 돌려주는지 견준다</a:t>
            </a:r>
          </a:p>
        </p:txBody>
      </p:sp>
      <p:sp>
        <p:nvSpPr>
          <p:cNvPr id="10" name="Rounded Rectangle 9"/>
          <p:cNvSpPr/>
          <p:nvPr/>
        </p:nvSpPr>
        <p:spPr>
          <a:xfrm>
            <a:off x="777240" y="543337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실행 고리와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요청 해석에서 종료까지를 처리 기록에서 짚고</a:t>
            </a:r>
          </a:p>
          <a:p>
            <a:pPr algn="l" eaLnBrk="0" marL="177165" indent="-177165">
              <a:lnSpc>
                <a:spcPct val="110000"/>
              </a:lnSpc>
              <a:spcAft>
                <a:spcPts val="400"/>
              </a:spcAft>
            </a:pPr>
            <a:r>
              <a:rPr sz="1550" b="0">
                <a:solidFill>
                  <a:srgbClr val="1F2A3A"/>
                </a:solidFill>
                <a:latin typeface="맑은 고딕"/>
                <a:ea typeface="맑은 고딕"/>
                <a:cs typeface="맑은 고딕"/>
              </a:rPr>
              <a:t>• 답변과 추천안의 차이를 설명한다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정보원과 멈춤 조건</a:t>
            </a:r>
          </a:p>
          <a:p>
            <a:pPr algn="l" eaLnBrk="0" marL="177165" indent="-177165">
              <a:lnSpc>
                <a:spcPct val="110000"/>
              </a:lnSpc>
              <a:spcAft>
                <a:spcPts val="400"/>
              </a:spcAft>
            </a:pPr>
            <a:r>
              <a:rPr sz="1550" b="0">
                <a:solidFill>
                  <a:srgbClr val="1F2A3A"/>
                </a:solidFill>
                <a:latin typeface="맑은 고딕"/>
                <a:ea typeface="맑은 고딕"/>
                <a:cs typeface="맑은 고딕"/>
              </a:rPr>
              <a:t>• 네 정보원을 물음에 맞게 가르고</a:t>
            </a:r>
          </a:p>
          <a:p>
            <a:pPr algn="l" eaLnBrk="0" marL="177165" indent="-177165">
              <a:lnSpc>
                <a:spcPct val="110000"/>
              </a:lnSpc>
              <a:spcAft>
                <a:spcPts val="400"/>
              </a:spcAft>
            </a:pPr>
            <a:r>
              <a:rPr sz="1550" b="0">
                <a:solidFill>
                  <a:srgbClr val="1F2A3A"/>
                </a:solidFill>
                <a:latin typeface="맑은 고딕"/>
                <a:ea typeface="맑은 고딕"/>
                <a:cs typeface="맑은 고딕"/>
              </a:rPr>
              <a:t>• 근거가 모자라면 멈추는 까닭을 든다</a:t>
            </a:r>
          </a:p>
        </p:txBody>
      </p:sp>
      <p:sp>
        <p:nvSpPr>
          <p:cNvPr id="22" name="Rounded Rectangle 21"/>
          <p:cNvSpPr/>
          <p:nvPr/>
        </p:nvSpPr>
        <p:spPr>
          <a:xfrm>
            <a:off x="6461607" y="5433377"/>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정보와 멈춤</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robot" descr="robot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에이전트 구성과 검증</a:t>
            </a:r>
          </a:p>
          <a:p>
            <a:pPr algn="l" eaLnBrk="0" marL="177165" indent="-177165">
              <a:lnSpc>
                <a:spcPct val="110000"/>
              </a:lnSpc>
              <a:spcAft>
                <a:spcPts val="400"/>
              </a:spcAft>
            </a:pPr>
            <a:r>
              <a:rPr sz="1550" b="0">
                <a:solidFill>
                  <a:srgbClr val="1F2A3A"/>
                </a:solidFill>
                <a:latin typeface="맑은 고딕"/>
                <a:ea typeface="맑은 고딕"/>
                <a:cs typeface="맑은 고딕"/>
              </a:rPr>
              <a:t>• 에이전트를 구성해 질문하고</a:t>
            </a:r>
          </a:p>
          <a:p>
            <a:pPr algn="l" eaLnBrk="0" marL="177165" indent="-177165">
              <a:lnSpc>
                <a:spcPct val="110000"/>
              </a:lnSpc>
              <a:spcAft>
                <a:spcPts val="400"/>
              </a:spcAft>
            </a:pPr>
            <a:r>
              <a:rPr sz="1550" b="0">
                <a:solidFill>
                  <a:srgbClr val="1F2A3A"/>
                </a:solidFill>
                <a:latin typeface="맑은 고딕"/>
                <a:ea typeface="맑은 고딕"/>
                <a:cs typeface="맑은 고딕"/>
              </a:rPr>
              <a:t>• 실습 결과를 근거와 대조한다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에이전트의 구분</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실행 고리</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단순 답변과 업무 산출물</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에이전트의 정보원과 도구</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현재값의 구분</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멈춤 조건: 근거 부족 · 호출 실패 · 권한 제한</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구조화 출력과 실행 기록</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구성 · 원인 추론 · 접수 처리 · 센서 탐색</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35091104148428415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LLM은 받은 글에 이어질 글을 학습한 내용으로 만들어 한 번 답하며, 그 사이에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5740" indent="-205740">
              <a:lnSpc>
                <a:spcPct val="110000"/>
              </a:lnSpc>
              <a:spcAft>
                <a:spcPts val="400"/>
              </a:spcAft>
            </a:pPr>
            <a:r>
              <a:rPr sz="1800" b="0">
                <a:solidFill>
                  <a:srgbClr val="1F2A3A"/>
                </a:solidFill>
                <a:latin typeface="맑은 고딕"/>
                <a:ea typeface="맑은 고딕"/>
                <a:cs typeface="맑은 고딕"/>
              </a:rPr>
              <a:t>• 매뉴얼 HM-8의 판별 기준과 절차는 모델이 배운 글이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RAG</a:t>
            </a:r>
            <a:r>
              <a:rPr sz="1600" b="0">
                <a:solidFill>
                  <a:srgbClr val="556175"/>
                </a:solidFill>
                <a:latin typeface="맑은 고딕"/>
                <a:ea typeface="맑은 고딕"/>
                <a:cs typeface="맑은 고딕"/>
              </a:rPr>
              <a:t>(Retrieval-Augmented Generation)는 찾은 문서 조각을 질문과 함께 모델에 넣어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eaLnBrk="0">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근거와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85928376982741433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목표 · 도구 · 업무 지침으로 정의되며, 이 항목이 다르면 하는 일도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응답으로 끝낼 수 없는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알아야 견줄 조치 후보가 정해지므로, 앞 호출의 결과를 본 뒤에야 다음 호출의 입력을 적을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33459"/>
            <a:ext cx="5181447" cy="2915793"/>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34627"/>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88246"/>
            <a:ext cx="424281" cy="424281"/>
          </a:xfrm>
          <a:prstGeom prst="rect">
            <a:avLst/>
          </a:prstGeom>
        </p:spPr>
      </p:pic>
      <p:sp>
        <p:nvSpPr>
          <p:cNvPr id="9" name="TextBox 8"/>
          <p:cNvSpPr txBox="1"/>
          <p:nvPr/>
        </p:nvSpPr>
        <p:spPr>
          <a:xfrm>
            <a:off x="1691640"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한 번에 답한다면</a:t>
            </a:r>
          </a:p>
        </p:txBody>
      </p:sp>
      <p:sp>
        <p:nvSpPr>
          <p:cNvPr id="10" name="TextBox 9"/>
          <p:cNvSpPr txBox="1"/>
          <p:nvPr/>
        </p:nvSpPr>
        <p:spPr>
          <a:xfrm>
            <a:off x="822959"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원인을 모르는 채로 조치를 말해야 한다</a:t>
            </a:r>
          </a:p>
          <a:p>
            <a:pPr algn="l" eaLnBrk="0" marL="188595" indent="-188595">
              <a:lnSpc>
                <a:spcPct val="110000"/>
              </a:lnSpc>
              <a:spcAft>
                <a:spcPts val="600"/>
              </a:spcAft>
            </a:pPr>
            <a:r>
              <a:rPr sz="1650" b="0">
                <a:solidFill>
                  <a:srgbClr val="1F2A3A"/>
                </a:solidFill>
                <a:latin typeface="맑은 고딕"/>
                <a:ea typeface="맑은 고딕"/>
                <a:cs typeface="맑은 고딕"/>
              </a:rPr>
              <a:t>• 값을 읽기 전에 결론을 적어야 한다</a:t>
            </a:r>
          </a:p>
          <a:p>
            <a:pPr algn="l" eaLnBrk="0" marL="188595" indent="-188595">
              <a:lnSpc>
                <a:spcPct val="110000"/>
              </a:lnSpc>
              <a:spcAft>
                <a:spcPts val="600"/>
              </a:spcAft>
            </a:pPr>
            <a:r>
              <a:rPr sz="16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499205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92052"/>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33459"/>
            <a:ext cx="5181447" cy="2915793"/>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34627"/>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88246"/>
            <a:ext cx="424281" cy="424281"/>
          </a:xfrm>
          <a:prstGeom prst="rect">
            <a:avLst/>
          </a:prstGeom>
        </p:spPr>
      </p:pic>
      <p:sp>
        <p:nvSpPr>
          <p:cNvPr id="16" name="TextBox 15"/>
          <p:cNvSpPr txBox="1"/>
          <p:nvPr/>
        </p:nvSpPr>
        <p:spPr>
          <a:xfrm>
            <a:off x="7604607" y="273462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85019"/>
            <a:ext cx="4632807" cy="1315593"/>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진단의 결과로 원인이 정해진다</a:t>
            </a:r>
          </a:p>
          <a:p>
            <a:pPr algn="l" eaLnBrk="0" marL="188595" indent="-188595">
              <a:lnSpc>
                <a:spcPct val="110000"/>
              </a:lnSpc>
              <a:spcAft>
                <a:spcPts val="600"/>
              </a:spcAft>
            </a:pPr>
            <a:r>
              <a:rPr sz="1650" b="0">
                <a:solidFill>
                  <a:srgbClr val="1F2A3A"/>
                </a:solidFill>
                <a:latin typeface="맑은 고딕"/>
                <a:ea typeface="맑은 고딕"/>
                <a:cs typeface="맑은 고딕"/>
              </a:rPr>
              <a:t>• 그 원인을 입력으로 넣어 후보를 평가한다</a:t>
            </a:r>
          </a:p>
          <a:p>
            <a:pPr algn="l" eaLnBrk="0" marL="188595" indent="-188595">
              <a:lnSpc>
                <a:spcPct val="110000"/>
              </a:lnSpc>
              <a:spcAft>
                <a:spcPts val="600"/>
              </a:spcAft>
            </a:pPr>
            <a:r>
              <a:rPr sz="1650" b="0">
                <a:solidFill>
                  <a:srgbClr val="1F2A3A"/>
                </a:solidFill>
                <a:latin typeface="맑은 고딕"/>
                <a:ea typeface="맑은 고딕"/>
                <a:cs typeface="맑은 고딕"/>
              </a:rPr>
              <a:t>• 뜻대로 되지 않으면 방법을 바꾸어 다시 한다</a:t>
            </a:r>
          </a:p>
        </p:txBody>
      </p:sp>
      <p:sp>
        <p:nvSpPr>
          <p:cNvPr id="18" name="Rounded Rectangle 17"/>
          <p:cNvSpPr/>
          <p:nvPr/>
        </p:nvSpPr>
        <p:spPr>
          <a:xfrm>
            <a:off x="6781647" y="4992052"/>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9205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실행 고리</a:t>
            </a:r>
            <a:r>
              <a:rPr sz="1600" b="0">
                <a:solidFill>
                  <a:srgbClr val="556175"/>
                </a:solidFill>
                <a:latin typeface="맑은 고딕"/>
                <a:ea typeface="맑은 고딕"/>
                <a:cs typeface="맑은 고딕"/>
              </a:rPr>
              <a:t>(Agent Loop)는 해석 · 계획 · 호출 ·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8525006342563256200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재시도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결과 128,466자가 받을 수 있는 크기를 넘자, 에이전트는 필요한 항목만 좁혀 다시 뽑기로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지침의 다른 실행은 쓸 도구를 먼저 골라 불러오고, 평가 결과를 못 받자 예측 호출로 계획을 고쳤다.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평가 결과를 받지 못하자 지침에 없던 예측 호출로 지는 이유를 확인했다.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답변은 사람이 읽으면 끝나고, 업무 산출물은 정해진 형식으로 다음 단계에 넘어가 승인과 실행의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없다</a:t>
            </a:r>
          </a:p>
        </p:txBody>
      </p:sp>
      <p:sp>
        <p:nvSpPr>
          <p:cNvPr id="11" name="Rounded Rectangle 10"/>
          <p:cNvSpPr/>
          <p:nvPr/>
        </p:nvSpPr>
        <p:spPr>
          <a:xfrm>
            <a:off x="868680" y="530453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읽고 끝난다</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만드는 것은 제안까지이며, 설비 명령과 작업지시는 담당자가 승인한 뒤에 시스템이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정보원.svg" descr="illust_905956352729331451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쓴 냉각 효율 46.2 %는 최근 30초의 평균이며, 그동안 값이 빠짐없이 들어왔는지도 함께 확인되었다.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에이전트와 DB 사이의 읽기 전용 도구는 200행 · 5초까지만 읽어, 조회문이 잘못돼도 데이터가 안전하다.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도구경유.svg" descr="illust_610795974743362221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에이전트의 작업 규칙은 지식, 지금의 값, 규칙 판정을 기억으로 채우지 말고 각각 정해진 도구로 확인하라고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입력이면 같은 결과가 나온다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신선도.svg" descr="illust_560348805003416296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전의 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멈춤조건.svg" descr="illust_226164918597204339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57272"/>
            <a:ext cx="3515258"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912059"/>
            <a:ext cx="424281" cy="424281"/>
          </a:xfrm>
          <a:prstGeom prst="rect">
            <a:avLst/>
          </a:prstGeom>
        </p:spPr>
      </p:pic>
      <p:sp>
        <p:nvSpPr>
          <p:cNvPr id="9" name="TextBox 8"/>
          <p:cNvSpPr txBox="1"/>
          <p:nvPr/>
        </p:nvSpPr>
        <p:spPr>
          <a:xfrm>
            <a:off x="713232" y="3581400"/>
            <a:ext cx="3186074"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SUPPORTED</a:t>
            </a:r>
          </a:p>
          <a:p>
            <a:pPr algn="l" eaLnBrk="0" marL="160020" indent="-160020">
              <a:lnSpc>
                <a:spcPct val="110000"/>
              </a:lnSpc>
              <a:spcAft>
                <a:spcPts val="400"/>
              </a:spcAft>
            </a:pPr>
            <a:r>
              <a:rPr sz="1400" b="0">
                <a:solidFill>
                  <a:srgbClr val="1F2A3A"/>
                </a:solidFill>
                <a:latin typeface="맑은 고딕"/>
                <a:ea typeface="맑은 고딕"/>
                <a:cs typeface="맑은 고딕"/>
              </a:rPr>
              <a:t>• 값을 읽었고 기준에 맞았다</a:t>
            </a:r>
          </a:p>
          <a:p>
            <a:pPr algn="l" eaLnBrk="0" marL="160020" indent="-160020">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57272"/>
            <a:ext cx="3515258"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5844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912059"/>
            <a:ext cx="424281" cy="424281"/>
          </a:xfrm>
          <a:prstGeom prst="rect">
            <a:avLst/>
          </a:prstGeom>
        </p:spPr>
      </p:pic>
      <p:sp>
        <p:nvSpPr>
          <p:cNvPr id="15" name="TextBox 14"/>
          <p:cNvSpPr txBox="1"/>
          <p:nvPr/>
        </p:nvSpPr>
        <p:spPr>
          <a:xfrm>
            <a:off x="4502810" y="3581400"/>
            <a:ext cx="3186074"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UNKNOWN</a:t>
            </a:r>
          </a:p>
          <a:p>
            <a:pPr algn="l" eaLnBrk="0" marL="160020" indent="-160020">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eaLnBrk="0" marL="160020" indent="-160020">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499567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4995672"/>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57272"/>
            <a:ext cx="3515258"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5844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912059"/>
            <a:ext cx="424281" cy="424281"/>
          </a:xfrm>
          <a:prstGeom prst="rect">
            <a:avLst/>
          </a:prstGeom>
        </p:spPr>
      </p:pic>
      <p:sp>
        <p:nvSpPr>
          <p:cNvPr id="21" name="TextBox 20"/>
          <p:cNvSpPr txBox="1"/>
          <p:nvPr/>
        </p:nvSpPr>
        <p:spPr>
          <a:xfrm>
            <a:off x="8292388" y="3581400"/>
            <a:ext cx="3186074"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UNSUPPORTED</a:t>
            </a:r>
          </a:p>
          <a:p>
            <a:pPr algn="l" eaLnBrk="0" marL="160020" indent="-160020">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eaLnBrk="0" marL="160020" indent="-160020">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499567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9567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「없다」는 답이다</a:t>
            </a:r>
          </a:p>
          <a:p>
            <a:pPr algn="l" eaLnBrk="0" marL="205740" indent="-205740">
              <a:lnSpc>
                <a:spcPct val="110000"/>
              </a:lnSpc>
              <a:spcAft>
                <a:spcPts val="600"/>
              </a:spcAft>
            </a:pPr>
            <a:r>
              <a:rPr sz="180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재시도의 한도: 다시 부르기 · 조회문 수정 · 실행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부를지는 에이전트가 정하되, 조회문 수정은 두 번 · 실행은 1,800초까지라 넘기면 사람에게 넘어간다.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결과를 본 에이전트가 판단해</a:t>
            </a:r>
          </a:p>
          <a:p>
            <a:pPr algn="l" eaLnBrk="0" marL="182880" indent="-182880">
              <a:lnSpc>
                <a:spcPct val="110000"/>
              </a:lnSpc>
              <a:spcAft>
                <a:spcPts val="400"/>
              </a:spcAft>
            </a:pPr>
            <a:r>
              <a:rPr sz="1600" b="0">
                <a:solidFill>
                  <a:srgbClr val="1F2A3A"/>
                </a:solidFill>
                <a:latin typeface="맑은 고딕"/>
                <a:ea typeface="맑은 고딕"/>
                <a:cs typeface="맑은 고딕"/>
              </a:rPr>
              <a:t>• 방법을 바꾸어 다시 부른다</a:t>
            </a:r>
          </a:p>
        </p:txBody>
      </p:sp>
      <p:sp>
        <p:nvSpPr>
          <p:cNvPr id="10" name="Rounded Rectangle 9"/>
          <p:cNvSpPr/>
          <p:nvPr/>
        </p:nvSpPr>
        <p:spPr>
          <a:xfrm>
            <a:off x="777240" y="5305552"/>
            <a:ext cx="14782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에이전트의 판단</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1,800초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기록한줄.svg" descr="illust_6718809322364280096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추천이 이상해 보일 때는 결과의 값에서 그 값을 돌려준 호출의 출력으로, 다시 그 호출의 입력으로 거슬러 올라간다.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그 도구를</a:t>
            </a:r>
          </a:p>
          <a:p>
            <a:pPr algn="ctr" eaLnBrk="0">
              <a:lnSpc>
                <a:spcPct val="110000"/>
              </a:lnSpc>
              <a:spcAft>
                <a:spcPts val="400"/>
              </a:spcAft>
            </a:pPr>
            <a:r>
              <a:rPr sz="1650" b="0">
                <a:solidFill>
                  <a:srgbClr val="1F2A3A"/>
                </a:solidFill>
                <a:latin typeface="맑은 고딕"/>
                <a:ea typeface="맑은 고딕"/>
                <a:cs typeface="맑은 고딕"/>
              </a:rPr>
              <a:t>부른 까닭을 읽는다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cause:cooler-fin-fouling 같은 식별자가 적혀 있어야 추천안의 원인이 등록된 지식인지 지어낸 말인지를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근거라고 적은 조회가 실제 호출 기록에 있는지를 시스템이 대조해, 꾸며 낸 근거를 확인된 근거와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201608"/>
            <a:ext cx="5181447" cy="357949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0277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56395"/>
            <a:ext cx="424281" cy="424281"/>
          </a:xfrm>
          <a:prstGeom prst="rect">
            <a:avLst/>
          </a:prstGeom>
        </p:spPr>
      </p:pic>
      <p:sp>
        <p:nvSpPr>
          <p:cNvPr id="9" name="TextBox 8"/>
          <p:cNvSpPr txBox="1"/>
          <p:nvPr/>
        </p:nvSpPr>
        <p:spPr>
          <a:xfrm>
            <a:off x="1691640"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유온이 오르는 동안 냉각 효율이 떨어졌다</a:t>
            </a:r>
          </a:p>
          <a:p>
            <a:pPr algn="l" eaLnBrk="0" marL="188595" indent="-188595">
              <a:lnSpc>
                <a:spcPct val="110000"/>
              </a:lnSpc>
              <a:spcAft>
                <a:spcPts val="600"/>
              </a:spcAft>
            </a:pPr>
            <a:r>
              <a:rPr sz="1650" b="0">
                <a:solidFill>
                  <a:srgbClr val="1F2A3A"/>
                </a:solidFill>
                <a:latin typeface="맑은 고딕"/>
                <a:ea typeface="맑은 고딕"/>
                <a:cs typeface="맑은 고딕"/>
              </a:rPr>
              <a:t>• 「쿨러가 원인이다」라고 적는다</a:t>
            </a:r>
          </a:p>
          <a:p>
            <a:pPr algn="l" eaLnBrk="0" marL="188595" indent="-188595">
              <a:lnSpc>
                <a:spcPct val="110000"/>
              </a:lnSpc>
              <a:spcAft>
                <a:spcPts val="600"/>
              </a:spcAft>
            </a:pPr>
            <a:r>
              <a:rPr sz="1650" b="0">
                <a:solidFill>
                  <a:srgbClr val="1F2A3A"/>
                </a:solidFill>
                <a:latin typeface="맑은 고딕"/>
                <a:ea typeface="맑은 고딕"/>
                <a:cs typeface="맑은 고딕"/>
              </a:rPr>
              <a:t>• 팬 구동 불량이나 주변 온도 상승에서도</a:t>
            </a:r>
          </a:p>
          <a:p>
            <a:pPr algn="l" eaLnBrk="0" marL="188595" indent="-188595">
              <a:lnSpc>
                <a:spcPct val="110000"/>
              </a:lnSpc>
              <a:spcAft>
                <a:spcPts val="600"/>
              </a:spcAft>
            </a:pPr>
            <a:r>
              <a:rPr sz="165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2390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2390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01608"/>
            <a:ext cx="5181447" cy="357949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0277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56395"/>
            <a:ext cx="424281" cy="424281"/>
          </a:xfrm>
          <a:prstGeom prst="rect">
            <a:avLst/>
          </a:prstGeom>
        </p:spPr>
      </p:pic>
      <p:sp>
        <p:nvSpPr>
          <p:cNvPr id="16" name="TextBox 15"/>
          <p:cNvSpPr txBox="1"/>
          <p:nvPr/>
        </p:nvSpPr>
        <p:spPr>
          <a:xfrm>
            <a:off x="7604607" y="240277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53168"/>
            <a:ext cx="4632807" cy="197929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팬은 정상이다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남은 쿨러 핀 오염만 확인된 원인으로 적는다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2390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23903"/>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구성한 에이전트 하나와, 그 에이전트가 근거와 호출 기록을 붙여 답한 질문 한 건을 결과물로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이름 · 목표 · 역할을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사용할 수 있는 읽기 도구 가운데 쓸 것을 고른다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근거</a:t>
            </a:r>
          </a:p>
          <a:p>
            <a:pPr algn="l" eaLnBrk="0" marL="205740" indent="-205740">
              <a:lnSpc>
                <a:spcPct val="110000"/>
              </a:lnSpc>
              <a:spcAft>
                <a:spcPts val="400"/>
              </a:spcAft>
            </a:pPr>
            <a:r>
              <a:rPr sz="1800" b="0">
                <a:solidFill>
                  <a:srgbClr val="1F2A3A"/>
                </a:solidFill>
                <a:latin typeface="맑은 고딕"/>
                <a:ea typeface="맑은 고딕"/>
                <a:cs typeface="맑은 고딕"/>
              </a:rPr>
              <a:t>• 구성한 에이전트에게 직접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398516"/>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근거가 호출 기록과 대조되어 확인된다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목표 · 역할 · 도구가</a:t>
            </a:r>
          </a:p>
          <a:p>
            <a:pPr algn="l" eaLnBrk="0" marL="205740" indent="-205740">
              <a:lnSpc>
                <a:spcPct val="110000"/>
              </a:lnSpc>
              <a:spcAft>
                <a:spcPts val="400"/>
              </a:spcAft>
            </a:pPr>
            <a:r>
              <a:rPr sz="1800" b="0">
                <a:solidFill>
                  <a:srgbClr val="1F2A3A"/>
                </a:solidFill>
                <a:latin typeface="맑은 고딕"/>
                <a:ea typeface="맑은 고딕"/>
                <a:cs typeface="맑은 고딕"/>
              </a:rPr>
              <a:t>• 어떻게 다른지 적는다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공용 온톨로지의 관계와 제공된 센서 입력을 읽어, 확인된 원인과 가설을 가른 점검 계획과 그 근거를 파일로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관계를 읽는다</a:t>
            </a:r>
          </a:p>
          <a:p>
            <a:pPr algn="ctr" eaLnBrk="0">
              <a:lnSpc>
                <a:spcPct val="110000"/>
              </a:lnSpc>
              <a:spcAft>
                <a:spcPts val="400"/>
              </a:spcAft>
            </a:pPr>
            <a:r>
              <a:rPr sz="1650" b="0">
                <a:solidFill>
                  <a:srgbClr val="1F2A3A"/>
                </a:solidFill>
                <a:latin typeface="맑은 고딕"/>
                <a:ea typeface="맑은 고딕"/>
                <a:cs typeface="맑은 고딕"/>
              </a:rPr>
              <a:t>설비 → 센서 →</a:t>
            </a:r>
          </a:p>
          <a:p>
            <a:pPr algn="ctr" eaLnBrk="0">
              <a:lnSpc>
                <a:spcPct val="110000"/>
              </a:lnSpc>
              <a:spcAft>
                <a:spcPts val="400"/>
              </a:spcAft>
            </a:pPr>
            <a:r>
              <a:rPr sz="1650" b="0">
                <a:solidFill>
                  <a:srgbClr val="1F2A3A"/>
                </a:solidFill>
                <a:latin typeface="맑은 고딕"/>
                <a:ea typeface="맑은 고딕"/>
                <a:cs typeface="맑은 고딕"/>
              </a:rPr>
              <a:t>고장 유형 → SOP의</a:t>
            </a:r>
          </a:p>
          <a:p>
            <a:pPr algn="ctr" eaLnBrk="0">
              <a:lnSpc>
                <a:spcPct val="110000"/>
              </a:lnSpc>
              <a:spcAft>
                <a:spcPts val="400"/>
              </a:spcAft>
            </a:pPr>
            <a:r>
              <a:rPr sz="1650" b="0">
                <a:solidFill>
                  <a:srgbClr val="1F2A3A"/>
                </a:solidFill>
                <a:latin typeface="맑은 고딕"/>
                <a:ea typeface="맑은 고딕"/>
                <a:cs typeface="맑은 고딕"/>
              </a:rPr>
              <a:t>관계에서 원인 후보를 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제공된 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확인된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다음에 점검할 것을</a:t>
            </a:r>
          </a:p>
          <a:p>
            <a:pPr algn="ctr" eaLnBrk="0">
              <a:lnSpc>
                <a:spcPct val="110000"/>
              </a:lnSpc>
              <a:spcAft>
                <a:spcPts val="400"/>
              </a:spcAft>
            </a:pPr>
            <a:r>
              <a:rPr sz="1650" b="0">
                <a:solidFill>
                  <a:srgbClr val="1F2A3A"/>
                </a:solidFill>
                <a:latin typeface="맑은 고딕"/>
                <a:ea typeface="맑은 고딕"/>
                <a:cs typeface="맑은 고딕"/>
              </a:rPr>
              <a:t>순서대로 적고</a:t>
            </a:r>
          </a:p>
          <a:p>
            <a:pPr algn="ctr" eaLnBrk="0">
              <a:lnSpc>
                <a:spcPct val="110000"/>
              </a:lnSpc>
              <a:spcAft>
                <a:spcPts val="400"/>
              </a:spcAft>
            </a:pPr>
            <a:r>
              <a:rPr sz="1650" b="0">
                <a:solidFill>
                  <a:srgbClr val="1F2A3A"/>
                </a:solidFill>
                <a:latin typeface="맑은 고딕"/>
                <a:ea typeface="맑은 고딕"/>
                <a:cs typeface="맑은 고딕"/>
              </a:rPr>
              <a:t>근거와 함께 저장한다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품질 불량 접수의 후속 업무 연결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품질 대응 카드의 항목과 갈라지는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불량 접수 한 건을 품질 유형, 확인 항목, 담당 부서, 대응 초안을 갖춘 구조화된 품질 대응 카드로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품질 유형</a:t>
            </a:r>
          </a:p>
          <a:p>
            <a:pPr algn="l" eaLnBrk="0" marL="200025" indent="-200025">
              <a:lnSpc>
                <a:spcPct val="110000"/>
              </a:lnSpc>
              <a:spcAft>
                <a:spcPts val="400"/>
              </a:spcAft>
            </a:pPr>
            <a:r>
              <a:rPr sz="1750" b="0">
                <a:solidFill>
                  <a:srgbClr val="1F2A3A"/>
                </a:solidFill>
                <a:latin typeface="맑은 고딕"/>
                <a:ea typeface="맑은 고딕"/>
                <a:cs typeface="맑은 고딕"/>
              </a:rPr>
              <a:t>• 제공된 분류 기준으로</a:t>
            </a:r>
          </a:p>
          <a:p>
            <a:pPr algn="l" eaLnBrk="0" marL="200025" indent="-200025">
              <a:lnSpc>
                <a:spcPct val="110000"/>
              </a:lnSpc>
              <a:spcAft>
                <a:spcPts val="400"/>
              </a:spcAft>
            </a:pPr>
            <a:r>
              <a:rPr sz="1750" b="0">
                <a:solidFill>
                  <a:srgbClr val="1F2A3A"/>
                </a:solidFill>
                <a:latin typeface="맑은 고딕"/>
                <a:ea typeface="맑은 고딕"/>
                <a:cs typeface="맑은 고딕"/>
              </a:rPr>
              <a:t>• 접수 내용의 유형을 정한다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추가 확인 항목</a:t>
            </a:r>
          </a:p>
          <a:p>
            <a:pPr algn="l" eaLnBrk="0" marL="200025" indent="-200025">
              <a:lnSpc>
                <a:spcPct val="110000"/>
              </a:lnSpc>
              <a:spcAft>
                <a:spcPts val="400"/>
              </a:spcAft>
            </a:pPr>
            <a:r>
              <a:rPr sz="1750" b="0">
                <a:solidFill>
                  <a:srgbClr val="1F2A3A"/>
                </a:solidFill>
                <a:latin typeface="맑은 고딕"/>
                <a:ea typeface="맑은 고딕"/>
                <a:cs typeface="맑은 고딕"/>
              </a:rPr>
              <a:t>• 판단에 모자란 정보를</a:t>
            </a:r>
          </a:p>
          <a:p>
            <a:pPr algn="l" eaLnBrk="0" marL="200025" indent="-200025">
              <a:lnSpc>
                <a:spcPct val="110000"/>
              </a:lnSpc>
              <a:spcAft>
                <a:spcPts val="400"/>
              </a:spcAft>
            </a:pPr>
            <a:r>
              <a:rPr sz="1750" b="0">
                <a:solidFill>
                  <a:srgbClr val="1F2A3A"/>
                </a:solidFill>
                <a:latin typeface="맑은 고딕"/>
                <a:ea typeface="맑은 고딕"/>
                <a:cs typeface="맑은 고딕"/>
              </a:rPr>
              <a:t>• 확인 항목으로 적는다</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building-factory-2" descr="building-factory-2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담당 부서와 대응 초안</a:t>
            </a:r>
          </a:p>
          <a:p>
            <a:pPr algn="l" eaLnBrk="0" marL="200025" indent="-200025">
              <a:lnSpc>
                <a:spcPct val="110000"/>
              </a:lnSpc>
              <a:spcAft>
                <a:spcPts val="400"/>
              </a:spcAft>
            </a:pPr>
            <a:r>
              <a:rPr sz="1750" b="0">
                <a:solidFill>
                  <a:srgbClr val="1F2A3A"/>
                </a:solidFill>
                <a:latin typeface="맑은 고딕"/>
                <a:ea typeface="맑은 고딕"/>
                <a:cs typeface="맑은 고딕"/>
              </a:rPr>
              <a:t>• 넘길 부서를 정하고</a:t>
            </a:r>
          </a:p>
          <a:p>
            <a:pPr algn="l" eaLnBrk="0" marL="200025" indent="-200025">
              <a:lnSpc>
                <a:spcPct val="110000"/>
              </a:lnSpc>
              <a:spcAft>
                <a:spcPts val="400"/>
              </a:spcAft>
            </a:pPr>
            <a:r>
              <a:rPr sz="1750" b="0">
                <a:solidFill>
                  <a:srgbClr val="1F2A3A"/>
                </a:solidFill>
                <a:latin typeface="맑은 고딕"/>
                <a:ea typeface="맑은 고딕"/>
                <a:cs typeface="맑은 고딕"/>
              </a:rPr>
              <a:t>• 대응 초안을 쓴다</a:t>
            </a:r>
          </a:p>
        </p:txBody>
      </p:sp>
      <p:sp>
        <p:nvSpPr>
          <p:cNvPr id="22" name="Rounded Rectangle 21"/>
          <p:cNvSpPr/>
          <p:nvPr/>
        </p:nvSpPr>
        <p:spPr>
          <a:xfrm>
            <a:off x="6461607" y="537527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zoom-question" descr="zoom-question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원인 미확정</a:t>
            </a:r>
          </a:p>
          <a:p>
            <a:pPr algn="l" eaLnBrk="0" marL="200025" indent="-200025">
              <a:lnSpc>
                <a:spcPct val="110000"/>
              </a:lnSpc>
              <a:spcAft>
                <a:spcPts val="400"/>
              </a:spcAft>
            </a:pPr>
            <a:r>
              <a:rPr sz="1750" b="0">
                <a:solidFill>
                  <a:srgbClr val="1F2A3A"/>
                </a:solidFill>
                <a:latin typeface="맑은 고딕"/>
                <a:ea typeface="맑은 고딕"/>
                <a:cs typeface="맑은 고딕"/>
              </a:rPr>
              <a:t>• 원인이 정해지지 않았으면</a:t>
            </a:r>
          </a:p>
          <a:p>
            <a:pPr algn="l" eaLnBrk="0" marL="200025" indent="-200025">
              <a:lnSpc>
                <a:spcPct val="110000"/>
              </a:lnSpc>
              <a:spcAft>
                <a:spcPts val="400"/>
              </a:spcAft>
            </a:pPr>
            <a:r>
              <a:rPr sz="1750" b="0">
                <a:solidFill>
                  <a:srgbClr val="1F2A3A"/>
                </a:solidFill>
                <a:latin typeface="맑은 고딕"/>
                <a:ea typeface="맑은 고딕"/>
                <a:cs typeface="맑은 고딕"/>
              </a:rPr>
              <a:t>• 단정하지 않고 조사 요청으로 넘긴다</a:t>
            </a:r>
          </a:p>
        </p:txBody>
      </p:sp>
      <p:sp>
        <p:nvSpPr>
          <p:cNvPr id="28" name="Rounded Rectangle 27"/>
          <p:cNvSpPr/>
          <p:nvPr/>
        </p:nvSpPr>
        <p:spPr>
          <a:xfrm>
            <a:off x="9303791" y="5375275"/>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조사 요청</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여러 센서의 이상 징후 탐색과 시각화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도표와 이상 구간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센서 값의 변화를 도표로 그리고, 이상 구간 · 관련 태그 · 조회 기간을 근거와 함께 요약하되 원인을 단정하지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hart-line" descr="chart-lin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도표</a:t>
            </a:r>
          </a:p>
          <a:p>
            <a:pPr algn="l" eaLnBrk="0" marL="205740" indent="-205740">
              <a:lnSpc>
                <a:spcPct val="110000"/>
              </a:lnSpc>
              <a:spcAft>
                <a:spcPts val="400"/>
              </a:spcAft>
            </a:pPr>
            <a:r>
              <a:rPr sz="1800" b="0">
                <a:solidFill>
                  <a:srgbClr val="1F2A3A"/>
                </a:solidFill>
                <a:latin typeface="맑은 고딕"/>
                <a:ea typeface="맑은 고딕"/>
                <a:cs typeface="맑은 고딕"/>
              </a:rPr>
              <a:t>• 온도와 압력의 시간 변화를 한 도표에 놓고</a:t>
            </a:r>
          </a:p>
          <a:p>
            <a:pPr algn="l" eaLnBrk="0" marL="205740" indent="-205740">
              <a:lnSpc>
                <a:spcPct val="110000"/>
              </a:lnSpc>
              <a:spcAft>
                <a:spcPts val="400"/>
              </a:spcAft>
            </a:pPr>
            <a:r>
              <a:rPr sz="1800" b="0">
                <a:solidFill>
                  <a:srgbClr val="1F2A3A"/>
                </a:solidFill>
                <a:latin typeface="맑은 고딕"/>
                <a:ea typeface="맑은 고딕"/>
                <a:cs typeface="맑은 고딕"/>
              </a:rPr>
              <a:t>• 값이 오르는 구간을 비교한다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시각화</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요약</a:t>
            </a:r>
          </a:p>
          <a:p>
            <a:pPr algn="l" eaLnBrk="0" marL="205740" indent="-205740">
              <a:lnSpc>
                <a:spcPct val="110000"/>
              </a:lnSpc>
              <a:spcAft>
                <a:spcPts val="400"/>
              </a:spcAft>
            </a:pPr>
            <a:r>
              <a:rPr sz="1800" b="0">
                <a:solidFill>
                  <a:srgbClr val="1F2A3A"/>
                </a:solidFill>
                <a:latin typeface="맑은 고딕"/>
                <a:ea typeface="맑은 고딕"/>
                <a:cs typeface="맑은 고딕"/>
              </a:rPr>
              <a:t>• 이상 구간, 관련 태그, 조회 기간을</a:t>
            </a:r>
          </a:p>
          <a:p>
            <a:pPr algn="l" eaLnBrk="0" marL="205740" indent="-205740">
              <a:lnSpc>
                <a:spcPct val="110000"/>
              </a:lnSpc>
              <a:spcAft>
                <a:spcPts val="400"/>
              </a:spcAft>
            </a:pPr>
            <a:r>
              <a:rPr sz="1800" b="0">
                <a:solidFill>
                  <a:srgbClr val="1F2A3A"/>
                </a:solidFill>
                <a:latin typeface="맑은 고딕"/>
                <a:ea typeface="맑은 고딕"/>
                <a:cs typeface="맑은 고딕"/>
              </a:rPr>
              <a:t>• 근거와 함께 적는다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요약</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출력 점검</a:t>
            </a:r>
          </a:p>
          <a:p>
            <a:pPr algn="l" eaLnBrk="0" marL="205740" indent="-205740">
              <a:lnSpc>
                <a:spcPct val="110000"/>
              </a:lnSpc>
              <a:spcAft>
                <a:spcPts val="400"/>
              </a:spcAft>
            </a:pPr>
            <a:r>
              <a:rPr sz="1800" b="0">
                <a:solidFill>
                  <a:srgbClr val="1F2A3A"/>
                </a:solidFill>
                <a:latin typeface="맑은 고딕"/>
                <a:ea typeface="맑은 고딕"/>
                <a:cs typeface="맑은 고딕"/>
              </a:rPr>
              <a:t>• 함께 변한 값을 고장 원인으로</a:t>
            </a:r>
          </a:p>
          <a:p>
            <a:pPr algn="l" eaLnBrk="0" marL="205740" indent="-205740">
              <a:lnSpc>
                <a:spcPct val="110000"/>
              </a:lnSpc>
              <a:spcAft>
                <a:spcPts val="400"/>
              </a:spcAft>
            </a:pPr>
            <a:r>
              <a:rPr sz="1800" b="0">
                <a:solidFill>
                  <a:srgbClr val="1F2A3A"/>
                </a:solidFill>
                <a:latin typeface="맑은 고딕"/>
                <a:ea typeface="맑은 고딕"/>
                <a:cs typeface="맑은 고딕"/>
              </a:rPr>
              <a:t>• 단정하지 않았는지 확인한다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확인된 원인인가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증거 기준에 맞은 쪽만 확인,</a:t>
            </a:r>
          </a:p>
          <a:p>
            <a:pPr algn="l" eaLnBrk="0">
              <a:lnSpc>
                <a:spcPct val="110000"/>
              </a:lnSpc>
            </a:pPr>
            <a:r>
              <a:rPr sz="1150" b="1">
                <a:solidFill>
                  <a:srgbClr val="556175"/>
                </a:solidFill>
                <a:latin typeface="맑은 고딕"/>
                <a:ea typeface="맑은 고딕"/>
                <a:cs typeface="맑은 고딕"/>
              </a:rPr>
              <a:t>맞지 않은 쪽은 지운다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없음, 실패는 모름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받은 글에 이어질 글을 만들어 한 번 답하는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질문과 가까운 문서 조각을 찾아 모델에 함께 읽히는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목표를 받아 도구를 부르고 결과를 보며 끝까지 수행하는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읽은 값이 판단하는 시각에서 얼마나 지났는가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확인됨 · 확인하지 못함 · 맞는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