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구조를 강사가 고른 작은 업무로 직접 만들어 봅니다.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친숙한 작은 업무 하나를 제가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진하게 칠한 동그라미가 그 노드입니다.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왜 그 원인이 아닌지까지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마지막 결과 보고는 처리 건이 어느 끝에 닿았는지, 그리고 그때까지의 결과를 알리는 일입니다.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표의 위 두 줄은 프로세스 변수고, 아래 두 줄은 처리 기록이에요. 첫 줄은 승인이라는 결정과 고른 조치입니다. 쿨러 사건에서는 추천안 그대로 팬 최대 운전을 골랐어요. 이 표는 그 선택을 같은 흐름의 변수와 기록 항목에 대응시킨 예입니다. 운전원 승인 단계가 채우는 값이죠. 강조한 둘째 줄이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 두 줄은 처리 기록입니다. 셋째 줄은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넷째 줄은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세 경우 모두 에이전트의 추천안은 같았습니다. 결말을 가른 건 사람의 결정이에요.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팬이 움직이지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쿨러 성능 저하 경보가 하루에 세 번 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에이전트 쪽 장치는 모델의 판단에 기대는 부분이 있어서 놓칠 수 있습니다. 프로세스 쪽 장치는 그 판단의 결과가 효과를 내기 전에 한 번 더 거르고요.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이번에는 HYD-02의 생산·정비 조율 업무 위에서요. 내 업무로 옮기는 실습은 넷이 이어지는데, 첫 실습에서는 내 주제의 자료와 업무 목표, 완료 조건을 정의합니다. 생산 일정과 정비 기한, 부품·작동유·인력의 확인 자료를 대조해 후보를 제안하는 업무입니다. 회의록을 요약하는 데서 끝내지 않고, 어떤 안건을 결정해야 하는지 근거와 함께 남깁니다.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필요한 항목이 갖춰지고 각 조건을 원문과 결과로 확인할 수 있어야 합니다. 「잘 정리된다」가 아니라, 무엇이 남으면 끝인지가 보여야 해요. 하지 못한 일을 어떻게 남길지도 적혀 있어야 하고요. 이 명세 한 장이 뒤의 세 실습이 따를 기준이 되거든요. 실제 실습에서는 이 명세부터 적겠습니다.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최초 자료와 후속 자료의 제안·보류 결과예요. 이 에이전트가 지킬 규칙은 하나입니다. 확인된 정보로만 제안하고, 확인하지 못한 값이나 권한 밖의 작업은 지어내지 않고 보류로 냅니다. 이번 업무에서는 정비 시간 후보를 비교합니다. 생산 시간이 비어 있어도 필요한 자원 확인이 남아 있으면 적합한 후보로 확정할 수 없어요. 보류 이유를 남기고 후속 확인 자료가 들어왔을 때 같은 조건을 다시 평가해야 합니다. 그래서 성공 기준은 마지막 카드의 두 가지예요. 제안의 근거가 실제로 읽은 값이고, 확인하지 못한 것은 보류로 남았으면 성공입니다. 최초 자료와 후속 확인 자료의 결과를 비교하면서, 바뀐 판단에는 새 근거가 있고 유지돼야 할 조건은 그대로인지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처리 건이 끝 이벤트에 닿아 닫히고, 사람 확인이 필요한 자리에 실제로 있었고, 결과 보고에 한 일과 하지 못한 일이 함께 남았으면 성공이에요. 단, 등록할 수 있는 연결이 먼저 준비돼 있어야 합니다. 수업 예제에는 강사가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오염의 기준을 읽은 순간은 지식의 일입니다. 여기서 지식으로 분류한 것은 읽는 행동이 아니라 기준의 출처와 역할입니다.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에이전트의 결과에 반드시 있어야 할 항목과 형식의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통제의 관점에서 가장 알맞은 판단은 무엇일까요? 1번, 발주 등록은 승인 뒤의 프로세스 작업에 두고 에이전트는 읽기만 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 Id="rId6"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 Id="rId6" Type="http://schemas.openxmlformats.org/officeDocument/2006/relationships/notesSlide" Target="../notesSlides/notesSlide6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 Id="rId7" Type="http://schemas.openxmlformats.org/officeDocument/2006/relationships/notesSlide" Target="../notesSlides/notesSlide6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notesSlide" Target="../notesSlides/notesSlide6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내 주제에 적용하고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9433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47950"/>
            <a:ext cx="424281" cy="424281"/>
          </a:xfrm>
          <a:prstGeom prst="rect">
            <a:avLst/>
          </a:prstGeom>
        </p:spPr>
      </p:pic>
      <p:sp>
        <p:nvSpPr>
          <p:cNvPr id="9" name="TextBox 8"/>
          <p:cNvSpPr txBox="1"/>
          <p:nvPr/>
        </p:nvSpPr>
        <p:spPr>
          <a:xfrm>
            <a:off x="713232"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지식에서 판단까지</a:t>
            </a:r>
          </a:p>
          <a:p>
            <a:pPr algn="l" eaLnBrk="0" marL="188595" indent="-188595">
              <a:lnSpc>
                <a:spcPct val="110000"/>
              </a:lnSpc>
              <a:spcAft>
                <a:spcPts val="400"/>
              </a:spcAft>
            </a:pPr>
            <a:r>
              <a:rPr sz="1650" b="0">
                <a:solidFill>
                  <a:srgbClr val="1F2A3A"/>
                </a:solidFill>
                <a:latin typeface="맑은 고딕"/>
                <a:ea typeface="맑은 고딕"/>
                <a:cs typeface="맑은 고딕"/>
              </a:rPr>
              <a:t>• 도구가 읽는 지식과 값을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978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9433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47950"/>
            <a:ext cx="424281" cy="424281"/>
          </a:xfrm>
          <a:prstGeom prst="rect">
            <a:avLst/>
          </a:prstGeom>
        </p:spPr>
      </p:pic>
      <p:sp>
        <p:nvSpPr>
          <p:cNvPr id="15" name="TextBox 14"/>
          <p:cNvSpPr txBox="1"/>
          <p:nvPr/>
        </p:nvSpPr>
        <p:spPr>
          <a:xfrm>
            <a:off x="3555415"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제안에서 완료까지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 실행 · 결과 확인을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978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9433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47950"/>
            <a:ext cx="424281" cy="424281"/>
          </a:xfrm>
          <a:prstGeom prst="rect">
            <a:avLst/>
          </a:prstGeom>
        </p:spPr>
      </p:pic>
      <p:sp>
        <p:nvSpPr>
          <p:cNvPr id="21" name="TextBox 20"/>
          <p:cNvSpPr txBox="1"/>
          <p:nvPr/>
        </p:nvSpPr>
        <p:spPr>
          <a:xfrm>
            <a:off x="6397599"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내 주제에 적용</a:t>
            </a:r>
          </a:p>
          <a:p>
            <a:pPr algn="l" eaLnBrk="0" marL="188595" indent="-188595">
              <a:lnSpc>
                <a:spcPct val="110000"/>
              </a:lnSpc>
              <a:spcAft>
                <a:spcPts val="400"/>
              </a:spcAft>
            </a:pPr>
            <a:r>
              <a:rPr sz="1650" b="0">
                <a:solidFill>
                  <a:srgbClr val="1F2A3A"/>
                </a:solidFill>
                <a:latin typeface="맑은 고딕"/>
                <a:ea typeface="맑은 고딕"/>
                <a:cs typeface="맑은 고딕"/>
              </a:rPr>
              <a:t>• 명세 · 지식 · 에이전트 · 흐름을 만든다</a:t>
            </a:r>
          </a:p>
          <a:p>
            <a:pPr algn="l" eaLnBrk="0" marL="188595" indent="-188595">
              <a:lnSpc>
                <a:spcPct val="110000"/>
              </a:lnSpc>
              <a:spcAft>
                <a:spcPts val="400"/>
              </a:spcAft>
            </a:pPr>
            <a:r>
              <a:rPr sz="165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978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9781"/>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193162"/>
            <a:ext cx="2567863" cy="359638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9433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47950"/>
            <a:ext cx="424281" cy="424281"/>
          </a:xfrm>
          <a:prstGeom prst="rect">
            <a:avLst/>
          </a:prstGeom>
        </p:spPr>
      </p:pic>
      <p:sp>
        <p:nvSpPr>
          <p:cNvPr id="27" name="TextBox 26"/>
          <p:cNvSpPr txBox="1"/>
          <p:nvPr/>
        </p:nvSpPr>
        <p:spPr>
          <a:xfrm>
            <a:off x="9239783"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제품에서 확인</a:t>
            </a:r>
          </a:p>
          <a:p>
            <a:pPr algn="l" eaLnBrk="0" marL="188595" indent="-188595">
              <a:lnSpc>
                <a:spcPct val="110000"/>
              </a:lnSpc>
              <a:spcAft>
                <a:spcPts val="400"/>
              </a:spcAft>
            </a:pPr>
            <a:r>
              <a:rPr sz="1650" b="0">
                <a:solidFill>
                  <a:srgbClr val="1F2A3A"/>
                </a:solidFill>
                <a:latin typeface="맑은 고딕"/>
                <a:ea typeface="맑은 고딕"/>
                <a:cs typeface="맑은 고딕"/>
              </a:rPr>
              <a:t>• 같은 역할과 구현 차이를 가린다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9781"/>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이상 패턴</a:t>
            </a:r>
          </a:p>
          <a:p>
            <a:pPr algn="ctr" eaLnBrk="0">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증상</a:t>
            </a:r>
          </a:p>
          <a:p>
            <a:pPr algn="ctr" eaLnBrk="0">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고장 유형</a:t>
            </a:r>
          </a:p>
          <a:p>
            <a:pPr algn="ctr" eaLnBrk="0">
              <a:lnSpc>
                <a:spcPct val="110000"/>
              </a:lnSpc>
            </a:pPr>
            <a:r>
              <a:rPr sz="1100" b="0">
                <a:solidFill>
                  <a:srgbClr val="556175"/>
                </a:solidFill>
                <a:latin typeface="맑은 고딕"/>
                <a:ea typeface="맑은 고딕"/>
                <a:cs typeface="맑은 고딕"/>
              </a:rPr>
              <a:t>쿨러 냉각</a:t>
            </a:r>
          </a:p>
          <a:p>
            <a:pPr algn="ctr" eaLnBrk="0">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원인</a:t>
            </a:r>
          </a:p>
          <a:p>
            <a:pPr algn="ctr" eaLnBrk="0">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값</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채우나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 · chosen_skill</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승인이라는 결정과 고른 조치</a:t>
            </a:r>
          </a:p>
          <a:p>
            <a:pPr algn="l" eaLnBrk="0">
              <a:lnSpc>
                <a:spcPct val="110000"/>
              </a:lnSpc>
            </a:pPr>
            <a:r>
              <a:rPr sz="1400" b="0">
                <a:solidFill>
                  <a:srgbClr val="1F2A3A"/>
                </a:solidFill>
                <a:latin typeface="맑은 고딕"/>
                <a:ea typeface="맑은 고딕"/>
                <a:cs typeface="맑은 고딕"/>
              </a:rPr>
              <a:t>선택 예: 승인 · 팬 최대 운전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 단계</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approved_role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역할</a:t>
            </a:r>
          </a:p>
          <a:p>
            <a:pPr algn="l" eaLnBrk="0">
              <a:lnSpc>
                <a:spcPct val="110000"/>
              </a:lnSpc>
            </a:pPr>
            <a:r>
              <a:rPr sz="1400" b="0">
                <a:solidFill>
                  <a:srgbClr val="1F2A3A"/>
                </a:solidFill>
                <a:latin typeface="맑은 고딕"/>
                <a:ea typeface="맑은 고딕"/>
                <a:cs typeface="맑은 고딕"/>
              </a:rPr>
              <a:t>역할 예: 운전원</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a:t>
            </a:r>
          </a:p>
          <a:p>
            <a:pPr algn="l" eaLnBrk="0">
              <a:lnSpc>
                <a:spcPct val="110000"/>
              </a:lnSpc>
            </a:pPr>
            <a:r>
              <a:rPr sz="1250" b="1">
                <a:solidFill>
                  <a:srgbClr val="1A6FC4"/>
                </a:solidFill>
                <a:latin typeface="맑은 고딕"/>
                <a:ea typeface="맑은 고딕"/>
                <a:cs typeface="맑은 고딕"/>
              </a:rPr>
              <a:t>에이전트는 못 쓴다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접수 기록</a:t>
            </a:r>
          </a:p>
          <a:p>
            <a:pPr algn="l" eaLnBrk="0">
              <a:lnSpc>
                <a:spcPct val="110000"/>
              </a:lnSpc>
            </a:pPr>
            <a:r>
              <a:rPr sz="1400" b="0">
                <a:solidFill>
                  <a:srgbClr val="1F2A3A"/>
                </a:solidFill>
                <a:latin typeface="맑은 고딕"/>
                <a:ea typeface="맑은 고딕"/>
                <a:cs typeface="맑은 고딕"/>
              </a:rPr>
              <a:t>역할과 판단 id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전달 완료 기록</a:t>
            </a:r>
          </a:p>
          <a:p>
            <a:pPr algn="l" eaLnBrk="0">
              <a:lnSpc>
                <a:spcPct val="110000"/>
              </a:lnSpc>
            </a:pPr>
            <a:r>
              <a:rPr sz="1400" b="0">
                <a:solidFill>
                  <a:srgbClr val="1F2A3A"/>
                </a:solidFill>
                <a:latin typeface="맑은 고딕"/>
                <a:ea typeface="맑은 고딕"/>
                <a:cs typeface="맑은 고딕"/>
              </a:rPr>
              <a:t>이 뒤에야 냉각 명령이 열린다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처리 건: 누구의 승인과 어떤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연결로 흐름을 등록·실행하고, 처리 건의 실제 결과와 미확인 범위를 구분해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2"/>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4"/>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5"/>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6"/>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끝 이벤트에 닿아</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기반 멀티 에이전트 오케스트레이션: ProcessGPT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 오케스트레이션</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오염의 기준(냉각 효율 70 % 미만)을 읽었다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에이전트의 결과에 반드시 있어야 할 항목과 형식의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