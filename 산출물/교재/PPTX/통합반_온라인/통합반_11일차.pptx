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이 과정을 마무리합니다. 지금까지 쿨러 사건 하나를 붙잡고 세 영역을 나눠서 배웠죠. 판단의 재료가 되는 지식, 그 지식을 읽어서 추천안을 만드는 에이전트, 그리고 그 추천안을 사람의 승인과 시스템 실행으로 잇는 프로세스였어요. 사건을 한번 떠올려 볼까요? 쿨러에 이상이 생겨서 경보가 울렸고요, 에이전트가 원인을 가려서 조치를 추천했습니다. 운전원이 승인하자 시스템이 팬 속도를 올렸죠. 그런데 이 한 건 안에서 세 영역은 서로 무엇을 주고받았을까요? 그리고 이 구조를 쿨러가 아닌 내 업무에도 똑같이 세울 수 있을까요? 이번 회차에서는 먼저 쿨러 사건 한 건 위에서 세 영역이 주고받는 걸 되짚어 보고요, 그다음에 같은 구조로 생산·정비 조율 업무를 직접 만들어 보겠습니다. 마지막으로 실제 제품에서도 그 구조를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있습니다. 첫 번째 카드는 지식에서 판단까지예요. 에이전트가 도구마다 어떤 지식과 어떤 값을 읽는지 설명하고, 검토와 개정을 거쳐 관리하는 지식과 지금의 값, 그리고 출처가 각각 어디에 있는지 가려 봅니다. 두 번째 카드는 제안에서 완료까지입니다. 추천안이 사람의 승인과 시스템 실행을 거쳐서 끝난 업무가 되는 길을 설명하고요, 에이전트 쪽 장치와 프로세스 쪽 장치가 각각 무엇을 맡는지 나눠 봐요. 세 번째 카드는 내 주제에 적용하기예요. 친숙한 작은 업무 하나를 제가 골라서 명세, 지식 구조, 에이전트, 흐름까지 직접 만듭니다. 이때 에이전트는 확인된 것만 제안하고, 나머지는 보류하게 할 거예요. 마지막 카드는 제품에서 확인하기입니다. ProcessGPT 시연을 보면서 배운 구조가 그대로 있는 자리와 넓어진 범위를 가려 보고, 끝으로 학습 노트에 개념과 산출물을 이어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보면서 이번 회차의 순서를 잡아 볼게요. 화면에 여덟 줄이 있는데, 위의 다섯 줄이 이론입니다. 앞의 세 단원은 쿨러 사건의 경보 한 건이 추천안 한 건이 되기까지를 따라가요. 에이전트가 무엇을 받아서 시작하는지 보고, 그래프 질의와 증거로 원인을 가리는 과정, 그리고 조치를 정하고 출처를 남기는 방식을 차례로 봅니다. 넷째와 다섯째 단원은 그 추천안이 승인과 시스템 실행을 거쳐서 끝나기까지예요. 그 과정에 겹쳐 있는 에이전트 쪽 장치와 프로세스 쪽 장치를 나눠 봅니다. 아래 세 줄은 실습이에요. 같은 구조를 내 주제에 적용하는 실습 넷을 하고, ProcessGPT 시연을 본 다음, 학습 노트를 정리하면서 과정을 마칩니다. 이번 시간에는 그 가운데 앞의 세 단원, 현장 지식이 AI의 판단 근거가 되는 과정을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진하게 칠한 동그라미가 그 노드입니다.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왜 그 원인이 아닌지까지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내 업무에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마지막 결과 보고는 처리 건이 어느 끝에 닿았는지, 그리고 그때까지의 결과를 알리는 일입니다.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표의 위 두 줄은 프로세스 변수고, 아래 두 줄은 처리 기록이에요. 첫 줄은 승인이라는 결정과 고른 조치입니다. 쿨러 사건에서는 추천안 그대로 팬 최대 운전을 골랐어요. 이 표는 그 선택을 같은 흐름의 변수와 기록 항목에 대응시킨 예입니다. 운전원 승인 단계가 채우는 값이죠. 강조한 둘째 줄이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 두 줄은 처리 기록입니다. 셋째 줄은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넷째 줄은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세 경우 모두 에이전트의 추천안은 같았습니다. 결말을 가른 건 사람의 결정이에요.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팬이 움직이지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쿨러 성능 저하 경보가 하루에 세 번 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에이전트 쪽 장치는 모델의 판단에 기대는 부분이 있어서 놓칠 수 있습니다. 프로세스 쪽 장치는 그 판단의 결과가 효과를 내기 전에 한 번 더 거르고요.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 한 건 위에서, 지식이 에이전트의 판단이 되고 그 판단이 사람의 승인과 시스템 실행을 거쳐 끝나는 길을 처음부터 끝까지 다시 따라왔죠. 이제 그 구조를 직접 세워 볼 차례입니다. 이번에는 HYD-02의 생산·정비 조율 업무 위에서요. 내 업무로 옮기는 실습은 넷이 이어지는데, 첫 실습에서는 내 주제의 자료와 업무 목표, 완료 조건을 정의합니다. 생산 일정과 정비 기한, 부품·작동유·인력의 확인 자료를 대조해 후보를 제안하는 업무입니다. 회의록을 요약하는 데서 끝내지 않고, 어떤 안건을 결정해야 하는지 근거와 함께 남깁니다. 고른 업무를 화면의 카드 네 장에 맞춰 적어요. 첫 카드는 무엇을 받아 시작하고 어디서 정보를 읽을 수 있는지, 둘째는 에이전트가 무엇을 내는지, 셋째는 어느 결과를 누가 확인하는지, 마지막 카드는 무엇이 되면 끝났다고 보는지예요. 에이전트가 할 일은 읽기, 분류, 추천 가운데서 이 회차 안에 끝까지 만들 수 있는 크기로 줄입니다. 이 실습에서 남는 건 업무 명세 한 장이에요. 필요한 항목이 갖춰지고 각 조건을 원문과 결과로 확인할 수 있어야 합니다. 「잘 정리된다」가 아니라, 무엇이 남으면 끝인지가 보여야 해요. 하지 못한 일을 어떻게 남길지도 적혀 있어야 하고요. 이 명세 한 장이 뒤의 세 실습이 따를 기준이 되거든요. 실제 실습에서는 이 명세부터 적겠습니다. 이어지는 지식 구조와 에이전트, 흐름이 무엇을 위해 필요한지 판단할 기준이 되는 한 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실습은 내 문서에서 주요 정보를 뽑아 작은 지식 구조를 만드는 일입니다. 첫 실습에서 작성할 명세에는 정보를 어디서 읽을지 적게 됩니다. 쿨러 사건에서 에이전트가 지식 그래프를 읽었던 것처럼, 내 에이전트에게도 읽을 지식이 있어야 합니다. 화면의 카드 네 장을 보세요. 입력은 명세에 적은 정보원 가운데 문서 하나예요. 제공된 문서도 좋고, 공개해도 되는 내 자료도 좋아요. 그 문서로 답하고 싶은 질문도 함께 정해 둡니다. 범위는 그 질문에 필요한 핵심 개념과 속성, 관계까지예요. 문서 전체를 옮기는 게 아니라, 질문에 답하는 데 필요한 만큼만 가려 냅니다. 남는 건 셋입니다. 개념과 관계를 정의한 스키마, 문서에 나오는 대상을 적은 샘플 인스턴스, 그리고 질문의 조회문이에요. 인스턴스마다 식별자를 붙이고, 어느 문서의 어느 대목에서 왔는지 출처도 붙입니다. 성공 기준은 마지막 카드예요. 만든 지식을 수업의 기준 그래프와 섞이지 않게 따로 둔 이름 공간에 넣고, 정한 질문이 조회로 풀리면 성공입니다. 여기서 만든 지식이 그다음 실습에서 만들 에이전트의 입력이 돼요. 문서의 답과 조회 결과가 같은지 비교해야, 데이터가 들어갔다는 확인에서 한 걸음 더 나아가 질문에 답할 수 있는 지식인지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만들어 둘 지식 구조를 읽는 에이전트를 붙입니다. 앞 실습에서 질문이 조회로 풀리는지 확인한 뒤에, 그 조회 결과를 사용해 제안하게 할 거예요. 화면의 카드 네 장을 보세요. 입력은 앞에서 만든 스키마와 자료, 그리고 쓸 수 있는 읽기 도구예요. 범위는 에이전트에 목표와 스킬을 적고, 읽기 도구를 MCP로 연결하는 데까지입니다. 에이전트는 바이브 코딩으로 구성해요. 남는 건 에이전트 정의와 스킬, 그리고 최초 자료와 후속 자료의 제안·보류 결과예요. 이 에이전트가 지킬 규칙은 하나입니다. 확인된 정보로만 제안하고, 확인하지 못한 값이나 권한 밖의 작업은 지어내지 않고 보류로 냅니다. 이번 업무에서는 정비 시간 후보를 비교합니다. 생산 시간이 비어 있어도 필요한 자원 확인이 남아 있으면 적합한 후보로 확정할 수 없어요. 보류 이유를 남기고 후속 확인 자료가 들어왔을 때 같은 조건을 다시 평가해야 합니다. 그래서 성공 기준은 마지막 카드의 두 가지예요. 제안의 근거가 실제로 읽은 값이고, 확인하지 못한 것은 보류로 남았으면 성공입니다. 최초 자료와 후속 확인 자료의 결과를 비교하면서, 바뀐 판단에는 새 근거가 있고 유지돼야 할 조건은 그대로인지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직접 그린 흐름으로 에이전트를 실행하는 일입니다. 앞 실습에서 만들 에이전트는 제안이나 보류 한 건을 내는 데서 멈춥니다. 쿨러 사건에서도 에이전트의 일은 추천안을 제출하면서 끝났고, 그 뒤를 이은 건 프로세스였죠. 내 업무도 마찬가지예요. 에이전트가 낸 제안이나 보류를 누가 확인하고 어떻게 끝낼지는 흐름이 정합니다. 작은 업무의 흐름은 bpmn.io로 그리고요, 화면의 다섯 칸, 시작, 에이전트 작업, 필요한 자리의 사람 확인, 결과 보고, 종료입니다. 그린 흐름을 준비된 연결 방식의 범위에서 등록하고 실행하면, 앞에서 만든 에이전트가 그 단계에서 일하고 처리 건 하나가 기록으로 남아요. 등록된 흐름과 그 처리 건의 기록이 이 실습에서 남는 것입니다. 이때 지킬 게 하나 있습니다. 일정 등록이나 메일 발송처럼 준비된 범위 밖의 외부 시스템 쓰기는 성공한 것처럼 적지 않아요. 하지 못한 일로 결과 보고에 남깁니다. 처리 건이 끝 이벤트에 닿아 닫히고, 사람 확인이 필요한 자리에 실제로 있었고, 결과 보고에 한 일과 하지 못한 일이 함께 남았으면 성공이에요. 단, 등록할 수 있는 연결이 먼저 준비돼 있어야 합니다. 수업 예제에는 제가 실제 도구와 결과 형식에 맞게 채울 자리도 있어요. 연결이 없는 기능을 성공으로 꾸미지 말고, 확인 가능한 범위와 막힌 이유를 결과로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ProcessGPT 시연을 볼 기준을 준비하겠습니다. 앞에서 안내한 네 실습은 작은 업무 하나를 명세, 지식, 에이전트, 흐름으로 연결하는 과정이었죠. 그럼 같은 구조가 실제 제품에서는 어떻게 나타날까요? 시연으로 지식, 에이전트, 프로세스의 연결을 확인하기 전에, 몇 장으로 짚고 시작할게요.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준비할 실습은 학습 내용과 결과를 개인 지식 자산으로 정리하는 일입니다. 제품 시연까지 마친 뒤에는 정의와 인스턴스, 담당과 결정의 자리를 어디에서 확인했는지도 남길 수 있겠죠. 남은 건 이 모든 걸 내 것으로 묶어 두는 일이에요. 과정을 시작할 때 만든 Notion 학습 노트로 돌아갑니다. 노트에 네 가지를 서로 이어서 기록합니다. 화면의 카드 순서대로, 자신의 문장으로 다시 쓴 개념, 그 개념이 나온 참고 자료, 이번 회차에 만든 명세와 스키마와 에이전트와 흐름 같은 실습 산출물, 그리고 그게 정한 대로 동작했는지의 검증 결과예요. 왜 이렇게 이어 둘까요? 개념만 적힌 노트는 무엇을 알았는지를 보여 줍니다. 그런데 산출물과 검증 결과가 이어진 노트는 무엇을 할 수 있는지를 보여 줘요. 수업 계정에서 Notion 연결과 쓰기 권한이 확인되면 MCP로 연동해서 기록하는 모습을 보여 드리고요, 그렇지 않은 환경에서는 준비한 Markdown을 Notion에 직접 정리합니다. 개념에서 출처와 산출물로, 산출물에서 검증 결과로 끊기지 않고 이어지면 이 노트는 완성입니다. 이제 실제 실습과 시연에서는 안내한 순서대로 결과를 확인하고, 마지막에 네 가지를 이어 기록하겠습니다. 마치고 돌아오면 복습과 퀴즈로 과정을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오염의 기준을 읽은 순간은 지식의 일입니다. 여기서 지식으로 분류한 것은 읽는 행동이 아니라 기준의 출처와 역할입니다.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에이전트의 결과에 반드시 있어야 할 항목과 형식의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통제의 관점에서 가장 알맞은 판단은 무엇일까요? 1번, 발주 등록은 승인 뒤의 프로세스 작업에 두고 에이전트는 읽기만 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33.png"/><Relationship Id="rId6"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41.png"/><Relationship Id="rId6" Type="http://schemas.openxmlformats.org/officeDocument/2006/relationships/notesSlide" Target="../notesSlides/notesSlide6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37.png"/><Relationship Id="rId7" Type="http://schemas.openxmlformats.org/officeDocument/2006/relationships/notesSlide" Target="../notesSlides/notesSlide6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notesSlide" Target="../notesSlides/notesSlide6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온톨로지 · 에이전트 · 프로세스를 내 주제에 적용하고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9433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47950"/>
            <a:ext cx="424281" cy="424281"/>
          </a:xfrm>
          <a:prstGeom prst="rect">
            <a:avLst/>
          </a:prstGeom>
        </p:spPr>
      </p:pic>
      <p:sp>
        <p:nvSpPr>
          <p:cNvPr id="9" name="TextBox 8"/>
          <p:cNvSpPr txBox="1"/>
          <p:nvPr/>
        </p:nvSpPr>
        <p:spPr>
          <a:xfrm>
            <a:off x="713232"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지식에서 판단까지</a:t>
            </a:r>
          </a:p>
          <a:p>
            <a:pPr algn="l" eaLnBrk="0" marL="188595" indent="-188595">
              <a:lnSpc>
                <a:spcPct val="110000"/>
              </a:lnSpc>
              <a:spcAft>
                <a:spcPts val="400"/>
              </a:spcAft>
            </a:pPr>
            <a:r>
              <a:rPr sz="1650" b="0">
                <a:solidFill>
                  <a:srgbClr val="1F2A3A"/>
                </a:solidFill>
                <a:latin typeface="맑은 고딕"/>
                <a:ea typeface="맑은 고딕"/>
                <a:cs typeface="맑은 고딕"/>
              </a:rPr>
              <a:t>• 도구가 읽는 지식과 값을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9781"/>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9433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47950"/>
            <a:ext cx="424281" cy="424281"/>
          </a:xfrm>
          <a:prstGeom prst="rect">
            <a:avLst/>
          </a:prstGeom>
        </p:spPr>
      </p:pic>
      <p:sp>
        <p:nvSpPr>
          <p:cNvPr id="15" name="TextBox 14"/>
          <p:cNvSpPr txBox="1"/>
          <p:nvPr/>
        </p:nvSpPr>
        <p:spPr>
          <a:xfrm>
            <a:off x="3555415"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제안에서 완료까지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 실행 · 결과 확인을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978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9433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47950"/>
            <a:ext cx="424281" cy="424281"/>
          </a:xfrm>
          <a:prstGeom prst="rect">
            <a:avLst/>
          </a:prstGeom>
        </p:spPr>
      </p:pic>
      <p:sp>
        <p:nvSpPr>
          <p:cNvPr id="21" name="TextBox 20"/>
          <p:cNvSpPr txBox="1"/>
          <p:nvPr/>
        </p:nvSpPr>
        <p:spPr>
          <a:xfrm>
            <a:off x="6397599"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내 주제에 적용</a:t>
            </a:r>
          </a:p>
          <a:p>
            <a:pPr algn="l" eaLnBrk="0" marL="188595" indent="-188595">
              <a:lnSpc>
                <a:spcPct val="110000"/>
              </a:lnSpc>
              <a:spcAft>
                <a:spcPts val="400"/>
              </a:spcAft>
            </a:pPr>
            <a:r>
              <a:rPr sz="1650" b="0">
                <a:solidFill>
                  <a:srgbClr val="1F2A3A"/>
                </a:solidFill>
                <a:latin typeface="맑은 고딕"/>
                <a:ea typeface="맑은 고딕"/>
                <a:cs typeface="맑은 고딕"/>
              </a:rPr>
              <a:t>• 명세 · 지식 · 에이전트 · 흐름을 만든다</a:t>
            </a:r>
          </a:p>
          <a:p>
            <a:pPr algn="l" eaLnBrk="0" marL="188595" indent="-188595">
              <a:lnSpc>
                <a:spcPct val="110000"/>
              </a:lnSpc>
              <a:spcAft>
                <a:spcPts val="400"/>
              </a:spcAft>
            </a:pPr>
            <a:r>
              <a:rPr sz="1650" b="0">
                <a:solidFill>
                  <a:srgbClr val="1F2A3A"/>
                </a:solidFill>
                <a:latin typeface="맑은 고딕"/>
                <a:ea typeface="맑은 고딕"/>
                <a:cs typeface="맑은 고딕"/>
              </a:rPr>
              <a:t>• 제안과 보류를 검증한다</a:t>
            </a:r>
          </a:p>
        </p:txBody>
      </p:sp>
      <p:sp>
        <p:nvSpPr>
          <p:cNvPr id="22" name="Rounded Rectangle 21"/>
          <p:cNvSpPr/>
          <p:nvPr/>
        </p:nvSpPr>
        <p:spPr>
          <a:xfrm>
            <a:off x="6461607" y="535978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9781"/>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193162"/>
            <a:ext cx="2567863" cy="359638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9433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47950"/>
            <a:ext cx="424281" cy="424281"/>
          </a:xfrm>
          <a:prstGeom prst="rect">
            <a:avLst/>
          </a:prstGeom>
        </p:spPr>
      </p:pic>
      <p:sp>
        <p:nvSpPr>
          <p:cNvPr id="27" name="TextBox 26"/>
          <p:cNvSpPr txBox="1"/>
          <p:nvPr/>
        </p:nvSpPr>
        <p:spPr>
          <a:xfrm>
            <a:off x="9239783"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제품에서 확인</a:t>
            </a:r>
          </a:p>
          <a:p>
            <a:pPr algn="l" eaLnBrk="0" marL="188595" indent="-188595">
              <a:lnSpc>
                <a:spcPct val="110000"/>
              </a:lnSpc>
              <a:spcAft>
                <a:spcPts val="400"/>
              </a:spcAft>
            </a:pPr>
            <a:r>
              <a:rPr sz="1650" b="0">
                <a:solidFill>
                  <a:srgbClr val="1F2A3A"/>
                </a:solidFill>
                <a:latin typeface="맑은 고딕"/>
                <a:ea typeface="맑은 고딕"/>
                <a:cs typeface="맑은 고딕"/>
              </a:rPr>
              <a:t>• 같은 역할과 구현 차이를 가린다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9781"/>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9220388101328140836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685575820726369936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265910524724348878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이상 패턴</a:t>
            </a:r>
          </a:p>
          <a:p>
            <a:pPr algn="ctr" eaLnBrk="0">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증상</a:t>
            </a:r>
          </a:p>
          <a:p>
            <a:pPr algn="ctr" eaLnBrk="0">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고장 유형</a:t>
            </a:r>
          </a:p>
          <a:p>
            <a:pPr algn="ctr" eaLnBrk="0">
              <a:lnSpc>
                <a:spcPct val="110000"/>
              </a:lnSpc>
            </a:pPr>
            <a:r>
              <a:rPr sz="1100" b="0">
                <a:solidFill>
                  <a:srgbClr val="556175"/>
                </a:solidFill>
                <a:latin typeface="맑은 고딕"/>
                <a:ea typeface="맑은 고딕"/>
                <a:cs typeface="맑은 고딕"/>
              </a:rPr>
              <a:t>쿨러 냉각</a:t>
            </a:r>
          </a:p>
          <a:p>
            <a:pPr algn="ctr" eaLnBrk="0">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원인</a:t>
            </a:r>
          </a:p>
          <a:p>
            <a:pPr algn="ctr" eaLnBrk="0">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7223998276485619802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값</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누가 채우나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 · chosen_skill</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승인이라는 결정과 고른 조치</a:t>
            </a:r>
          </a:p>
          <a:p>
            <a:pPr algn="l" eaLnBrk="0">
              <a:lnSpc>
                <a:spcPct val="110000"/>
              </a:lnSpc>
            </a:pPr>
            <a:r>
              <a:rPr sz="1400" b="0">
                <a:solidFill>
                  <a:srgbClr val="1F2A3A"/>
                </a:solidFill>
                <a:latin typeface="맑은 고딕"/>
                <a:ea typeface="맑은 고딕"/>
                <a:cs typeface="맑은 고딕"/>
              </a:rPr>
              <a:t>선택 예: 승인 · 팬 최대 운전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 단계</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approved_role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역할</a:t>
            </a:r>
          </a:p>
          <a:p>
            <a:pPr algn="l" eaLnBrk="0">
              <a:lnSpc>
                <a:spcPct val="110000"/>
              </a:lnSpc>
            </a:pPr>
            <a:r>
              <a:rPr sz="1400" b="0">
                <a:solidFill>
                  <a:srgbClr val="1F2A3A"/>
                </a:solidFill>
                <a:latin typeface="맑은 고딕"/>
                <a:ea typeface="맑은 고딕"/>
                <a:cs typeface="맑은 고딕"/>
              </a:rPr>
              <a:t>역할 예: 운전원</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a:t>
            </a:r>
          </a:p>
          <a:p>
            <a:pPr algn="l" eaLnBrk="0">
              <a:lnSpc>
                <a:spcPct val="110000"/>
              </a:lnSpc>
            </a:pPr>
            <a:r>
              <a:rPr sz="1250" b="1">
                <a:solidFill>
                  <a:srgbClr val="1A6FC4"/>
                </a:solidFill>
                <a:latin typeface="맑은 고딕"/>
                <a:ea typeface="맑은 고딕"/>
                <a:cs typeface="맑은 고딕"/>
              </a:rPr>
              <a:t>에이전트는 못 쓴다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접수 기록</a:t>
            </a:r>
          </a:p>
          <a:p>
            <a:pPr algn="l" eaLnBrk="0">
              <a:lnSpc>
                <a:spcPct val="110000"/>
              </a:lnSpc>
            </a:pPr>
            <a:r>
              <a:rPr sz="1400" b="0">
                <a:solidFill>
                  <a:srgbClr val="1F2A3A"/>
                </a:solidFill>
                <a:latin typeface="맑은 고딕"/>
                <a:ea typeface="맑은 고딕"/>
                <a:cs typeface="맑은 고딕"/>
              </a:rPr>
              <a:t>역할과 판단 id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전달 완료 기록</a:t>
            </a:r>
          </a:p>
          <a:p>
            <a:pPr algn="l" eaLnBrk="0">
              <a:lnSpc>
                <a:spcPct val="110000"/>
              </a:lnSpc>
            </a:pPr>
            <a:r>
              <a:rPr sz="1400" b="0">
                <a:solidFill>
                  <a:srgbClr val="1F2A3A"/>
                </a:solidFill>
                <a:latin typeface="맑은 고딕"/>
                <a:ea typeface="맑은 고딕"/>
                <a:cs typeface="맑은 고딕"/>
              </a:rPr>
              <a:t>이 뒤에야 냉각 명령이 열린다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3666384504035103020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처리 건: 누구의 승인과 어떤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509640129204245992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515401926201423468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3"/>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4"/>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5"/>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2"/>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3"/>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4"/>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5"/>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2"/>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3"/>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5"/>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준비된 연결로 흐름을 등록·실행하고, 처리 건의 실제 결과와 미확인 범위를 구분해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2"/>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4"/>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5"/>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6"/>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끝 이벤트에 닿아</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기반 멀티 에이전트 오케스트레이션: ProcessGPT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 오케스트레이션</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321520322374784129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2"/>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3"/>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5"/>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오염의 기준(냉각 효율 70 % 미만)을 읽었다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에이전트의 결과에 반드시 있어야 할 항목과 형식의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