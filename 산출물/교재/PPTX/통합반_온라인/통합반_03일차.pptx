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2,000시간마다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뒤 유온은 내려갔지만 냉각 효율은 55 %로 기준에 못 미쳤습니다. 핀 오염을 제거한 것은 아니므로 핀 세척을 작업지시로 따로 등록했습니다. 경보 해제, 매뉴얼의 완화 성공 기준, 정비 완료 기준은 서로 다릅니다. 화면의 그래프와 등록 기록을 보고 세척까지 끝났다고 판단하면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만들 때 가장 먼저 정하는 것은 표가 답할 물음 하나이고, 이것을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행은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경보는 났지만 인터록에는 이르지 않은 유온의 범위를 보이는 예이고,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네 가지입니다. 후보 선택은 고장 유형이 냉각 성능 상실이면 완화 조치 셋을, 원인이 핀 오염이면 핀 세척을 올려 쿨러 사건의 후보 넷을 만듭니다. 제외된 조치는 다른 면에서 아무리 좋아도 고를 수 없고, 감점은 후보에 남기되 팬 수명 손실만큼 깎아서 견주게 하며, 경고는 후보에 남기면서 승인하는 사람이 알아야 할 사항을 붙입니다. 해서는 안 되는 것, 해도 되지만 대가가 있는 것, 해도 되지만 알고 해야 하는 것의 구분이며,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조치 판단은 네 결정이 앞의 답을 다음으로 넘기며 이어집니다. 원인 진단은 결정표를 평가하는 것이 아니라 원인마다 사전 확률에 통과한 증거의 가중치 비율을 곱해 정하고, 그 답인 고장 유형과 원인이 후보 선택의 입력이 됩니다. 후보 선택과 규정 검사는 해당하는 것을 모두 모아야 하므로 Collect이고, 순위 평가의 Unique는 추천 후보가 하나라는 뜻이 아니라 이 상황에 적용할 순위 정책 행이 정확히 하나여야 한다는 뜻입니다. 정책으로 점수를 매긴 뒤에는 제외된 후보를 뒤로, 점수가 높은 순서로,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결정표마다 Hit Policy가 이름으로 적혀 있지만, 그 이름이 곧 실행 방식이라고 짐작하면 틀립니다. 원인 진단 표는 PRIORITY로 선언되어 있으나 이 평가기는 그 표를 실행하지 않고 원인 순위를 따로 계산하며, 표의 규칙은 진단 근거를 설명하는 지식으로 쓰입니다. 실제로 실행하는 세 표는 평가기가 기대하는 방식과 선언이 같아야 하고, 다르면 조용히 무시하지 않고 평가를 거절합니다. 순위 표의 UNIQUE가 검사하는 것은 이 상황에 맞는 순위 정책이 하나인지이며, 후보 둘의 점수가 같은 것과는 관계가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정의는 유온 한계 65도에서 그 기간의 최고 유온을 뺀 값이어서 인터록에 얼마나 가까이 갔는지를 숫자 하나로 보여 주고, 방향이 정해져 있어야 숫자가 커졌을 때 좋아진 것인지 나빠진 것인지 압니다. 목표값 10은 한계가 65이므로 최고 유온을 55도 이하로 지키는 것과 같고, 5 아래면 경고, 0이면 위험입니다. 재는 주기는 실시간에서 월까지 지표마다 다르고 책임 부서는 그 지표를 관리하는 곳이며, 범위와 시점이 같아야 두 기간이나 두 설비를 견줄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여유의 실제값은 그 24시간에 HYD-01의 유온이 62.47도까지 올랐으므로 65에서 뺀 2.53이고, 세 설비 가운데 가장 작은 여유가 이 지표의 값입니다. 목표 10에 7.47이 모자라 달성률 25.3 %로 미달입니다. 같은 기간에 설비 가동률은 보호 정지가 없어 100 %로 목표를 달성했으니, 설비는 서지 않았지만 설 뻔한 데까지 갔던 것이며 가동률만 보았다면 이 위험은 보이지 않았습니다. 다만 가동률 100 %는 관측한 분과 보호 정지 분으로 계산한 이 기간의 값이어서 설비 전체가 정상이라는 뜻은 아니고, 두 값 모두 기록된 기간의 과거 실측입니다.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재고 실시간이나 날마다 잴 수 있어서, 결과가 나오기 전에 손쓸 자리를 알려 줍니다. 둘은 영향의 경로로 이어져서, 펌프 부하를 낮추면 생산량이 줄고, 생산량이 줄면 납기 준수율이 떨어지며,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조건이 성립하면 품질이 떨어지고 클레임이 늘어 브랜드 신뢰와 매출까지 줄어들므로, 부호가 양이라는 것이 늘 좋다는 뜻이 아니라 함께 움직인다는 뜻입니다. 판단은 조건을 참, 거짓, 모름으로 따로 판정해 참이면 경로를 반영하고 거짓이면 빼며, 모름이면 확정하지 않고 순위 정책이 정한 대로 절반만 반영합니다.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점수가 매겨진 결과입니다.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일곱 성분의 합이고, 각 성분의 식은 프로그램에 박힌 것이 아니라 순위 규칙에 데이터로 저장된 정책입니다. 성과 지표 성분은 앞에서 본 경로의 득과 실을 강도로 곱해 더하되 조건을 모르는 경로는 절반만 넣고, 예측 성분은 55도보다 얼마나 낮은지를 3도마다 1점으로 치되 위아래 2점에서 멈춥니다. 감점은 20만 원마다 1점, 경고는 한 건에 0.5점을 깎고, 납기 성분은 납기가 가깝고 위약금이 클수록 커지며 생산을 유지하는 후보는 그대로, 감산하는 후보는 0.4배만 받습니다. 팬 최대 운전의 3.38은 성과 지표 0.52, 납기 1.12, 예측 1.74를 더한 값이며, 점수는 금액도 BSC의 표준 공식도 아니고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표와 그림으로 본 것을 직접 바꾸어 가며 확인하는 실습입니다. 운전 조건을 바꾸어 규칙이 걸리는 모습을 보고, 시험값과 규칙의 감점, 관점의 중요도를 바꾸어 순위가 움직이는 모습을 보며, 지표의 목표값을 바꾸어 판정이 달라지는 모습을 봅니다. 관점의 중요도는 점수의 성과 지표 득실을 바꾸고 목표값은 지표의 달성 판정을 바꾸는 것이어서 서로 다른 기능입니다. 판단을 다시 돌려 보는 것은 명령을 보내는 것이 아니며, 끝났을 때 조건을 이렇게 바꾸었더니 결과가 이렇게 달라졌고 원본은 그대로였다는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바이브 코딩으로 진행하는 랩입니다. 원문에서 지식을 자동으로 뽑는 일은 하지 않고, 이미 작업 조건이 정리된 SOP 자료를 구조화합니다. 설비 모델에서 쓰던 식별자에 고장 유형과 조치 방법을 잇고, SOP의 문장을 순서와 조건으로 갈라 순서는 단계로, 조건 쪽은 결정표의 행으로 옮깁니다. 끝나면 조치 방법과 단계의 구조, 그리고 판정에 쓸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평가하고, 제공된 효과 · 비용 · 성과 지표 값으로 남은 후보를 견주어 선택 이유를 보이는 판정 기능을 만듭니다. 만든 뒤에는 네 가지 입력을 넣어 확인하며, 경계값에서는 연산자를 맞게 옮겼는지가, 여러 규칙이 함께 맞는 입력에서는 판정이 빠짐없이 모이는지가 드러납니다. 모르는 입력을 정상으로 치지 않는지도 함께 봅니다. 모든 후보가 제외되는 입력에서 억지로 하나를 추천하지 않고 쓸 수 있는 조치가 없다고 보이는지가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약어와 핵심 용어를 모았습니다. 위의 넷은 조치 절차와 판단 규칙 쪽의 말이고, 가운데 둘은 결정표를 읽는 말이며, 아래 셋은 성과 평가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네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절차의 정의와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규칙을 적용하고 근거 남기기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정책과 규칙의 저장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성과 목표와 지표 읽기</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목표와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득실과 가정값 비교</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정의와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쿨러 핀 오염으로 가렸어도, 매뉴얼은 바꾸는 설정과 생산 영향이 서로 다른 조치 넷을 후보로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조치연결_그래프.svg" descr="illust_9066030255792409619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 한정이면 ADDRESSES를 단다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해제되었으나 냉각 효율은 55 %로 기준 70 %에 못 미쳐, 핀 오염이 그대로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 55 %, 기준 70 % 미만.</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350" b="0">
                <a:solidFill>
                  <a:srgbClr val="1F2A3A"/>
                </a:solidFill>
                <a:latin typeface="맑은 고딕"/>
                <a:ea typeface="맑은 고딕"/>
                <a:cs typeface="맑은 고딕"/>
              </a:rPr>
              <a:t>경보 해제, 매뉴얼: 15분 유지,</a:t>
            </a:r>
          </a:p>
          <a:p>
            <a:pPr algn="l" eaLnBrk="0">
              <a:lnSpc>
                <a:spcPct val="110000"/>
              </a:lnSpc>
              <a:spcAft>
                <a:spcPts val="400"/>
              </a:spcAft>
            </a:pPr>
            <a:r>
              <a:rPr sz="1350" b="0">
                <a:solidFill>
                  <a:srgbClr val="1F2A3A"/>
                </a:solidFill>
                <a:latin typeface="맑은 고딕"/>
                <a:ea typeface="맑은 고딕"/>
                <a:cs typeface="맑은 고딕"/>
              </a:rPr>
              <a:t>재가동 뒤 CE 80 % 이상의 정비 완료.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기준만 적혀 있고, 운전 모드나 팬 연속 운전 시간 같은 현재값은 판단할 때마다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표 하나가 답하는 물음 하나이다.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8981641927561827211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 조건과 복수 조건(AND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후보에 올리기, 빼기, 깎아서 견주기, 알리고 남기기로 나뉘며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뺀다</a:t>
            </a:r>
          </a:p>
          <a:p>
            <a:pPr algn="l" eaLnBrk="0">
              <a:lnSpc>
                <a:spcPct val="110000"/>
              </a:lnSpc>
            </a:pPr>
            <a:r>
              <a:rPr sz="1250" b="1">
                <a:solidFill>
                  <a:srgbClr val="1A6FC4"/>
                </a:solidFill>
                <a:latin typeface="맑은 고딕"/>
                <a:ea typeface="맑은 고딕"/>
                <a:cs typeface="맑은 고딕"/>
              </a:rPr>
              <a:t>다른 점수로 되살아나지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감점, SOP-COOL-11 · 12 (HM-8.8)</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규칙을 적용하고 근거 남기기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규정 검사 · 순위 평가의 차례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답을 입력으로 후보를 모으고, 후보마다 규정을 대어 본 뒤, 하나로 정해진 순위 정책으로 점수를 매긴다.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06510"/>
            <a:ext cx="2485567" cy="336969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89390"/>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643009"/>
            <a:ext cx="424281" cy="424281"/>
          </a:xfrm>
          <a:prstGeom prst="rect">
            <a:avLst/>
          </a:prstGeom>
        </p:spPr>
      </p:pic>
      <p:sp>
        <p:nvSpPr>
          <p:cNvPr id="9" name="TextBox 8"/>
          <p:cNvSpPr txBox="1"/>
          <p:nvPr/>
        </p:nvSpPr>
        <p:spPr>
          <a:xfrm>
            <a:off x="621792"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고장 유형과 원인</a:t>
            </a:r>
          </a:p>
          <a:p>
            <a:pPr algn="ctr" eaLnBrk="0">
              <a:lnSpc>
                <a:spcPct val="110000"/>
              </a:lnSpc>
              <a:spcAft>
                <a:spcPts val="400"/>
              </a:spcAft>
            </a:pPr>
            <a:r>
              <a:rPr sz="1550" b="0">
                <a:solidFill>
                  <a:srgbClr val="1F2A3A"/>
                </a:solidFill>
                <a:latin typeface="맑은 고딕"/>
                <a:ea typeface="맑은 고딕"/>
                <a:cs typeface="맑은 고딕"/>
              </a:rPr>
              <a:t>사전 확률 × 증거 가중치</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06510"/>
            <a:ext cx="2485567" cy="336969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89390"/>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643009"/>
            <a:ext cx="424281" cy="424281"/>
          </a:xfrm>
          <a:prstGeom prst="rect">
            <a:avLst/>
          </a:prstGeom>
        </p:spPr>
      </p:pic>
      <p:sp>
        <p:nvSpPr>
          <p:cNvPr id="14" name="TextBox 13"/>
          <p:cNvSpPr txBox="1"/>
          <p:nvPr/>
        </p:nvSpPr>
        <p:spPr>
          <a:xfrm>
            <a:off x="3491407"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dec:action-candidates</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06510"/>
            <a:ext cx="2485567" cy="336969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89390"/>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643009"/>
            <a:ext cx="424281" cy="424281"/>
          </a:xfrm>
          <a:prstGeom prst="rect">
            <a:avLst/>
          </a:prstGeom>
        </p:spPr>
      </p:pic>
      <p:sp>
        <p:nvSpPr>
          <p:cNvPr id="19" name="TextBox 18"/>
          <p:cNvSpPr txBox="1"/>
          <p:nvPr/>
        </p:nvSpPr>
        <p:spPr>
          <a:xfrm>
            <a:off x="6361023"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dec:compliance</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06510"/>
            <a:ext cx="2485567" cy="336969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89390"/>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643009"/>
            <a:ext cx="424281" cy="424281"/>
          </a:xfrm>
          <a:prstGeom prst="rect">
            <a:avLst/>
          </a:prstGeom>
        </p:spPr>
      </p:pic>
      <p:sp>
        <p:nvSpPr>
          <p:cNvPr id="24" name="TextBox 23"/>
          <p:cNvSpPr txBox="1"/>
          <p:nvPr/>
        </p:nvSpPr>
        <p:spPr>
          <a:xfrm>
            <a:off x="9230639"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순위 평가</a:t>
            </a:r>
          </a:p>
          <a:p>
            <a:pPr algn="ctr" eaLnBrk="0">
              <a:lnSpc>
                <a:spcPct val="110000"/>
              </a:lnSpc>
              <a:spcAft>
                <a:spcPts val="400"/>
              </a:spcAft>
            </a:pPr>
            <a:r>
              <a:rPr sz="1550" b="0">
                <a:solidFill>
                  <a:srgbClr val="1F2A3A"/>
                </a:solidFill>
                <a:latin typeface="맑은 고딕"/>
                <a:ea typeface="맑은 고딕"/>
                <a:cs typeface="맑은 고딕"/>
              </a:rPr>
              <a:t>dec:rank-actions</a:t>
            </a:r>
          </a:p>
          <a:p>
            <a:pPr algn="ctr" eaLnBrk="0">
              <a:lnSpc>
                <a:spcPct val="110000"/>
              </a:lnSpc>
              <a:spcAft>
                <a:spcPts val="400"/>
              </a:spcAft>
            </a:pPr>
            <a:r>
              <a:rPr sz="1550" b="0">
                <a:solidFill>
                  <a:srgbClr val="1F2A3A"/>
                </a:solidFill>
                <a:latin typeface="맑은 고딕"/>
                <a:ea typeface="맑은 고딕"/>
                <a:cs typeface="맑은 고딕"/>
              </a:rPr>
              <a:t>Hit Policy UNIQUE: 적용할</a:t>
            </a:r>
          </a:p>
          <a:p>
            <a:pPr algn="ctr" eaLnBrk="0">
              <a:lnSpc>
                <a:spcPct val="110000"/>
              </a:lnSpc>
              <a:spcAft>
                <a:spcPts val="400"/>
              </a:spcAft>
            </a:pPr>
            <a:r>
              <a:rPr sz="1550" b="0">
                <a:solidFill>
                  <a:srgbClr val="1F2A3A"/>
                </a:solidFill>
                <a:latin typeface="맑은 고딕"/>
                <a:ea typeface="맑은 고딕"/>
                <a:cs typeface="맑은 고딕"/>
              </a:rPr>
              <a:t>순위 정책이 꼭 하나</a:t>
            </a:r>
          </a:p>
          <a:p>
            <a:pPr algn="ctr" eaLnBrk="0">
              <a:lnSpc>
                <a:spcPct val="110000"/>
              </a:lnSpc>
              <a:spcAft>
                <a:spcPts val="400"/>
              </a:spcAft>
            </a:pPr>
            <a:r>
              <a:rPr sz="1550" b="0">
                <a:solidFill>
                  <a:srgbClr val="1F2A3A"/>
                </a:solidFill>
                <a:latin typeface="맑은 고딕"/>
                <a:ea typeface="맑은 고딕"/>
                <a:cs typeface="맑은 고딕"/>
              </a:rPr>
              <a:t>→ 점수와 순위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정책과 규칙의 저장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맞을 때의 처리 정책과 규칙을 저장하는 지식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결정표에 선언된 정책과 실제 평가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그래프에 적힌 Hit Policy 이름만으로 동작을 짐작하지 않고, 평가기가 그 표를 실제로 어떻게 실행하는지와 맞춰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 · 선언된 Hit Policy</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평가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dec:diagnose-cause · PRIORITY</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이 평가기는 실행하지 않는다</a:t>
            </a:r>
          </a:p>
          <a:p>
            <a:pPr algn="l" eaLnBrk="0">
              <a:lnSpc>
                <a:spcPct val="110000"/>
              </a:lnSpc>
            </a:pPr>
            <a:r>
              <a:rPr sz="1150" b="1">
                <a:solidFill>
                  <a:srgbClr val="556175"/>
                </a:solidFill>
                <a:latin typeface="맑은 고딕"/>
                <a:ea typeface="맑은 고딕"/>
                <a:cs typeface="맑은 고딕"/>
              </a:rPr>
              <a:t>사전 확률 × 증거 가중치 비율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dec:action-candidates · COLLECT</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맞은 행의 조치를 모두 모은다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규정 적합성</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dec:compliance · COLLECT</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 제외 · 감점 · 경고를 모은다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우선순위</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dec:rank-actions · UNIQUE</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적용할 순위 정책 행이 꼭 하나</a:t>
            </a:r>
          </a:p>
          <a:p>
            <a:pPr algn="l" eaLnBrk="0">
              <a:lnSpc>
                <a:spcPct val="110000"/>
              </a:lnSpc>
            </a:pPr>
            <a:r>
              <a:rPr sz="1250" b="1">
                <a:solidFill>
                  <a:srgbClr val="1A6FC4"/>
                </a:solidFill>
                <a:latin typeface="맑은 고딕"/>
                <a:ea typeface="맑은 고딕"/>
                <a:cs typeface="맑은 고딕"/>
              </a:rPr>
              <a:t>둘이 맞으면 오류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선언이 평가와 다를 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규정 적합성 표를 PRIORITY로 선언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평가를 거절한다</a:t>
            </a:r>
          </a:p>
          <a:p>
            <a:pPr algn="l" eaLnBrk="0">
              <a:lnSpc>
                <a:spcPct val="110000"/>
              </a:lnSpc>
            </a:pPr>
            <a:r>
              <a:rPr sz="1250" b="1">
                <a:solidFill>
                  <a:srgbClr val="556175"/>
                </a:solidFill>
                <a:latin typeface="맑은 고딕"/>
                <a:ea typeface="맑은 고딕"/>
                <a:cs typeface="맑은 고딕"/>
              </a:rPr>
              <a:t>「평가 방식과 다릅니다」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5745781531615915392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성과 목표와 지표 읽기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지표의 정의 · 단위 · 방향 · 목표 · 주기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무엇을 어떤 식으로 재는지, 어느 쪽이 좋은지, 목표와 주기가 무엇인지까지 정해 두어야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(:Measure {</a:t>
            </a:r>
          </a:p>
          <a:p>
            <a:pPr algn="l" eaLnBrk="0">
              <a:lnSpc>
                <a:spcPct val="110000"/>
              </a:lnSpc>
              <a:spcAft>
                <a:spcPts val="200"/>
              </a:spcAft>
            </a:pPr>
            <a:r>
              <a:rPr sz="1300" b="0">
                <a:solidFill>
                  <a:srgbClr val="E8EEF6"/>
                </a:solidFill>
                <a:latin typeface="Consolas"/>
                <a:ea typeface="맑은 고딕"/>
                <a:cs typeface="맑은 고딕"/>
              </a:rPr>
              <a:t>  id:            'msr:safety-margin',</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인터록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direction:     'UP',</a:t>
            </a:r>
          </a:p>
          <a:p>
            <a:pPr algn="l" eaLnBrk="0">
              <a:lnSpc>
                <a:spcPct val="110000"/>
              </a:lnSpc>
              <a:spcAft>
                <a:spcPts val="200"/>
              </a:spcAft>
            </a:pPr>
            <a:r>
              <a:rPr sz="1300" b="0">
                <a:solidFill>
                  <a:srgbClr val="E8EEF6"/>
                </a:solidFill>
                <a:latin typeface="Consolas"/>
                <a:ea typeface="맑은 고딕"/>
                <a:cs typeface="맑은 고딕"/>
              </a:rPr>
              <a:t>  target:        10,</a:t>
            </a:r>
          </a:p>
          <a:p>
            <a:pPr algn="l" eaLnBrk="0">
              <a:lnSpc>
                <a:spcPct val="110000"/>
              </a:lnSpc>
              <a:spcAft>
                <a:spcPts val="200"/>
              </a:spcAft>
            </a:pPr>
            <a:r>
              <a:rPr sz="1300" b="0">
                <a:solidFill>
                  <a:srgbClr val="E8EEF6"/>
                </a:solidFill>
                <a:latin typeface="Consolas"/>
                <a:ea typeface="맑은 고딕"/>
                <a:cs typeface="맑은 고딕"/>
              </a:rPr>
              <a:t>  thresholdWarn: 5,</a:t>
            </a:r>
          </a:p>
          <a:p>
            <a:pPr algn="l" eaLnBrk="0">
              <a:lnSpc>
                <a:spcPct val="110000"/>
              </a:lnSpc>
              <a:spcAft>
                <a:spcPts val="200"/>
              </a:spcAft>
            </a:pPr>
            <a:r>
              <a:rPr sz="1300" b="0">
                <a:solidFill>
                  <a:srgbClr val="E8EEF6"/>
                </a:solidFill>
                <a:latin typeface="Consolas"/>
                <a:ea typeface="맑은 고딕"/>
                <a:cs typeface="맑은 고딕"/>
              </a:rPr>
              <a:t>  thresholdCrit: 0,</a:t>
            </a:r>
          </a:p>
          <a:p>
            <a:pPr algn="l" eaLnBrk="0">
              <a:lnSpc>
                <a:spcPct val="110000"/>
              </a:lnSpc>
              <a:spcAft>
                <a:spcPts val="200"/>
              </a:spcAft>
            </a:pPr>
            <a:r>
              <a:rPr sz="1300" b="0">
                <a:solidFill>
                  <a:srgbClr val="E8EEF6"/>
                </a:solidFill>
                <a:latin typeface="Consolas"/>
                <a:ea typeface="맑은 고딕"/>
                <a:cs typeface="맑은 고딕"/>
              </a:rPr>
              <a:t>  frequency: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kpiRole:       'leading' })</a:t>
            </a:r>
          </a:p>
          <a:p>
            <a:pPr algn="l" eaLnBrk="0">
              <a:lnSpc>
                <a:spcPct val="110000"/>
              </a:lnSpc>
              <a:spcAft>
                <a:spcPts val="200"/>
              </a:spcAft>
            </a:pPr>
            <a:r>
              <a:rPr sz="1300" b="0">
                <a:solidFill>
                  <a:srgbClr val="E8EEF6"/>
                </a:solidFill>
                <a:latin typeface="Consolas"/>
                <a:ea typeface="맑은 고딕"/>
                <a:cs typeface="맑은 고딕"/>
              </a:rPr>
              <a:t>MEASURES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OWNED_BY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생산팀</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a:t>
            </a:r>
            <a:r>
              <a:rPr sz="1300" b="0">
                <a:solidFill>
                  <a:srgbClr val="E8EEF6"/>
                </a:solidFill>
                <a:latin typeface="Consolas"/>
                <a:ea typeface="맑은 고딕"/>
                <a:cs typeface="맑은 고딕"/>
              </a:rPr>
              <a:t> 65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기간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최고값</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정의 · 식</a:t>
            </a:r>
          </a:p>
          <a:p>
            <a:pPr algn="l" eaLnBrk="0">
              <a:lnSpc>
                <a:spcPct val="110000"/>
              </a:lnSpc>
              <a:spcAft>
                <a:spcPts val="400"/>
              </a:spcAft>
            </a:pPr>
            <a:r>
              <a:rPr sz="1400" b="0">
                <a:solidFill>
                  <a:srgbClr val="1F2A3A"/>
                </a:solidFill>
                <a:latin typeface="맑은 고딕"/>
                <a:ea typeface="맑은 고딕"/>
                <a:cs typeface="맑은 고딕"/>
              </a:rPr>
              <a:t>무엇을 어떻게 재는가. 한계 65 ℃에서 그 기간의 최고 유온을 뺀다.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 · 방향</a:t>
            </a:r>
          </a:p>
          <a:p>
            <a:pPr algn="l" eaLnBrk="0">
              <a:lnSpc>
                <a:spcPct val="110000"/>
              </a:lnSpc>
              <a:spcAft>
                <a:spcPts val="400"/>
              </a:spcAft>
            </a:pPr>
            <a:r>
              <a:rPr sz="1400" b="0">
                <a:solidFill>
                  <a:srgbClr val="1F2A3A"/>
                </a:solidFill>
                <a:latin typeface="맑은 고딕"/>
                <a:ea typeface="맑은 고딕"/>
                <a:cs typeface="맑은 고딕"/>
              </a:rPr>
              <a:t>℃, UP(클수록 좋다). 지체상금은 만원/월, DOWN(작을수록 좋다).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목표 · 경고 · 위험</a:t>
            </a:r>
          </a:p>
          <a:p>
            <a:pPr algn="l" eaLnBrk="0">
              <a:lnSpc>
                <a:spcPct val="110000"/>
              </a:lnSpc>
              <a:spcAft>
                <a:spcPts val="400"/>
              </a:spcAft>
            </a:pPr>
            <a:r>
              <a:rPr sz="1400" b="0">
                <a:solidFill>
                  <a:srgbClr val="1F2A3A"/>
                </a:solidFill>
                <a:latin typeface="맑은 고딕"/>
                <a:ea typeface="맑은 고딕"/>
                <a:cs typeface="맑은 고딕"/>
              </a:rPr>
              <a:t>목표 10, 경고 5, 위험 0. 목표 10은 최고 유온 55 ℃ 이하와 같다.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측정 주기 · 책임 부서</a:t>
            </a:r>
          </a:p>
          <a:p>
            <a:pPr algn="l" eaLnBrk="0">
              <a:lnSpc>
                <a:spcPct val="110000"/>
              </a:lnSpc>
              <a:spcAft>
                <a:spcPts val="400"/>
              </a:spcAft>
            </a:pPr>
            <a:r>
              <a:rPr sz="1400" b="0">
                <a:solidFill>
                  <a:srgbClr val="1F2A3A"/>
                </a:solidFill>
                <a:latin typeface="맑은 고딕"/>
                <a:ea typeface="맑은 고딕"/>
                <a:cs typeface="맑은 고딕"/>
              </a:rPr>
              <a:t>실시간 · 생산팀. 납기 준수율은 주 · 영업팀, 설비 가동률은 일 · 생산팀.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실제값과 목표 대비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24시간에 설비 가동률은 목표를 넘었지만 인터록 여유는 7.47 ℃ 모자라, 한 지표만으로는 설비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식과 실제값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 대비</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TS1 62.47 = 2.53 ℃ (HYD-01)</a:t>
            </a:r>
          </a:p>
          <a:p>
            <a:pPr algn="l" eaLnBrk="0">
              <a:lnSpc>
                <a:spcPct val="110000"/>
              </a:lnSpc>
            </a:pPr>
            <a:r>
              <a:rPr sz="1400" b="0">
                <a:solidFill>
                  <a:srgbClr val="1F2A3A"/>
                </a:solidFill>
                <a:latin typeface="맑은 고딕"/>
                <a:ea typeface="맑은 고딕"/>
                <a:cs typeface="맑은 고딕"/>
              </a:rPr>
              <a:t>HYD-02 16.72 · HYD-03 14.55, 설비 가운데 가장 작은 값</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미달</a:t>
            </a:r>
          </a:p>
          <a:p>
            <a:pPr algn="l" eaLnBrk="0">
              <a:lnSpc>
                <a:spcPct val="110000"/>
              </a:lnSpc>
            </a:pPr>
            <a:r>
              <a:rPr sz="1250" b="1">
                <a:solidFill>
                  <a:srgbClr val="1A6FC4"/>
                </a:solidFill>
                <a:latin typeface="맑은 고딕"/>
                <a:ea typeface="맑은 고딕"/>
                <a:cs typeface="맑은 고딕"/>
              </a:rPr>
              <a:t>차이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 =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기간</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값 모두 어느 24시간의 기록이다</a:t>
            </a:r>
          </a:p>
          <a:p>
            <a:pPr algn="l" eaLnBrk="0">
              <a:lnSpc>
                <a:spcPct val="110000"/>
              </a:lnSpc>
            </a:pPr>
            <a:r>
              <a:rPr sz="1400" b="0">
                <a:solidFill>
                  <a:srgbClr val="1F2A3A"/>
                </a:solidFill>
                <a:latin typeface="맑은 고딕"/>
                <a:ea typeface="맑은 고딕"/>
                <a:cs typeface="맑은 고딕"/>
              </a:rPr>
              <a:t>기간을 바꾸면 실제값도 바뀐다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기간을 맞춰 견준다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목표와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전략맵_그래프.svg" descr="illust_8887131298431774392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선행후행_경로.svg" descr="illust_1501983707092285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조건부영향.svg" descr="illust_4032644308738883276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반영 비율 1</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반영 비율 0.5</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반영 비율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득실과 가정값 비교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유온은 낮아지지만, 전력 사용량은 늘고 생산량과 납기 준수율은 낮아진다.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성과경로_6.svg" descr="illust_3044344754852362175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많이 내리는 후보(44.6 ℃)는 공동 2순위였고, 생산을 그대로 두는 팬 최대 운전이 3.38점으로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점수를 만드는 일곱 성분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점수는 금액이 아니라 순위 정책에 적힌 식으로 항목별 득실을 합친 값이며, 감점 20만 원은 1점 감점이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bsc</a:t>
            </a:r>
          </a:p>
          <a:p>
            <a:pPr algn="l" eaLnBrk="0">
              <a:lnSpc>
                <a:spcPct val="110000"/>
              </a:lnSpc>
              <a:spcAft>
                <a:spcPts val="200"/>
              </a:spcAft>
            </a:pPr>
            <a:r>
              <a:rPr sz="1300" b="0">
                <a:solidFill>
                  <a:srgbClr val="E8EEF6"/>
                </a:solidFill>
                <a:latin typeface="Consolas"/>
                <a:ea typeface="맑은 고딕"/>
                <a:cs typeface="맑은 고딕"/>
              </a:rPr>
              <a:t>  bsc_gain + 0.5*cond_gain</a:t>
            </a:r>
          </a:p>
          <a:p>
            <a:pPr algn="l" eaLnBrk="0">
              <a:lnSpc>
                <a:spcPct val="110000"/>
              </a:lnSpc>
              <a:spcAft>
                <a:spcPts val="200"/>
              </a:spcAft>
            </a:pPr>
            <a:r>
              <a:rPr sz="1300" b="0">
                <a:solidFill>
                  <a:srgbClr val="E8EEF6"/>
                </a:solidFill>
                <a:latin typeface="Consolas"/>
                <a:ea typeface="맑은 고딕"/>
                <a:cs typeface="맑은 고딕"/>
              </a:rPr>
              <a:t>  - bsc_loss - 0.5*cond_loss</a:t>
            </a:r>
          </a:p>
          <a:p>
            <a:pPr algn="l" eaLnBrk="0">
              <a:lnSpc>
                <a:spcPct val="110000"/>
              </a:lnSpc>
              <a:spcAft>
                <a:spcPts val="200"/>
              </a:spcAft>
            </a:pPr>
            <a:r>
              <a:rPr sz="1300" b="0">
                <a:solidFill>
                  <a:srgbClr val="E8EEF6"/>
                </a:solidFill>
                <a:latin typeface="Consolas"/>
                <a:ea typeface="맑은 고딕"/>
                <a:cs typeface="맑은 고딕"/>
              </a:rPr>
              <a:t>forecast</a:t>
            </a:r>
          </a:p>
          <a:p>
            <a:pPr algn="l" eaLnBrk="0">
              <a:lnSpc>
                <a:spcPct val="110000"/>
              </a:lnSpc>
              <a:spcAft>
                <a:spcPts val="200"/>
              </a:spcAft>
            </a:pPr>
            <a:r>
              <a:rPr sz="1300" b="0">
                <a:solidFill>
                  <a:srgbClr val="E8EEF6"/>
                </a:solidFill>
                <a:latin typeface="Consolas"/>
                <a:ea typeface="맑은 고딕"/>
                <a:cs typeface="맑은 고딕"/>
              </a:rPr>
              <a:t>  clamp((55 - ts1)/3, -2, 2)</a:t>
            </a:r>
          </a:p>
          <a:p>
            <a:pPr algn="l" eaLnBrk="0">
              <a:lnSpc>
                <a:spcPct val="110000"/>
              </a:lnSpc>
              <a:spcAft>
                <a:spcPts val="200"/>
              </a:spcAft>
            </a:pPr>
            <a:r>
              <a:rPr sz="1300" b="0">
                <a:solidFill>
                  <a:srgbClr val="E8EEF6"/>
                </a:solidFill>
                <a:latin typeface="Consolas"/>
                <a:ea typeface="맑은 고딕"/>
                <a:cs typeface="맑은 고딕"/>
              </a:rPr>
              <a:t>warn       -0.5 * warning_count</a:t>
            </a:r>
          </a:p>
          <a:p>
            <a:pPr algn="l" eaLnBrk="0">
              <a:lnSpc>
                <a:spcPct val="110000"/>
              </a:lnSpc>
              <a:spcAft>
                <a:spcPts val="200"/>
              </a:spcAft>
            </a:pPr>
            <a:r>
              <a:rPr sz="1300" b="0">
                <a:solidFill>
                  <a:srgbClr val="E8EEF6"/>
                </a:solidFill>
                <a:latin typeface="Consolas"/>
                <a:ea typeface="맑은 고딕"/>
                <a:cs typeface="맑은 고딕"/>
              </a:rPr>
              <a:t>penalty    -penalty_total/20</a:t>
            </a:r>
          </a:p>
          <a:p>
            <a:pPr algn="l" eaLnBrk="0">
              <a:lnSpc>
                <a:spcPct val="110000"/>
              </a:lnSpc>
              <a:spcAft>
                <a:spcPts val="200"/>
              </a:spcAft>
            </a:pPr>
            <a:r>
              <a:rPr sz="1300" b="0">
                <a:solidFill>
                  <a:srgbClr val="E8EEF6"/>
                </a:solidFill>
                <a:latin typeface="Consolas"/>
                <a:ea typeface="맑은 고딕"/>
                <a:cs typeface="맑은 고딕"/>
              </a:rPr>
              <a:t>precedent  1.5 * precedent_share</a:t>
            </a:r>
          </a:p>
          <a:p>
            <a:pPr algn="l" eaLnBrk="0">
              <a:lnSpc>
                <a:spcPct val="110000"/>
              </a:lnSpc>
              <a:spcAft>
                <a:spcPts val="200"/>
              </a:spcAft>
            </a:pPr>
            <a:r>
              <a:rPr sz="1300" b="0">
                <a:solidFill>
                  <a:srgbClr val="E8EEF6"/>
                </a:solidFill>
                <a:latin typeface="Consolas"/>
                <a:ea typeface="맑은 고딕"/>
                <a:cs typeface="맑은 고딕"/>
              </a:rPr>
              <a:t>delivery</a:t>
            </a:r>
          </a:p>
          <a:p>
            <a:pPr algn="l" eaLnBrk="0">
              <a:lnSpc>
                <a:spcPct val="110000"/>
              </a:lnSpc>
              <a:spcAft>
                <a:spcPts val="200"/>
              </a:spcAft>
            </a:pPr>
            <a:r>
              <a:rPr sz="1300" b="0">
                <a:solidFill>
                  <a:srgbClr val="E8EEF6"/>
                </a:solidFill>
                <a:latin typeface="Consolas"/>
                <a:ea typeface="맑은 고딕"/>
                <a:cs typeface="맑은 고딕"/>
              </a:rPr>
              <a:t>  urgency = clamp((24-due)/24,0,1)</a:t>
            </a:r>
          </a:p>
          <a:p>
            <a:pPr algn="l" eaLnBrk="0">
              <a:lnSpc>
                <a:spcPct val="110000"/>
              </a:lnSpc>
              <a:spcAft>
                <a:spcPts val="200"/>
              </a:spcAft>
            </a:pPr>
            <a:r>
              <a:rPr sz="1300" b="0">
                <a:solidFill>
                  <a:srgbClr val="E8EEF6"/>
                </a:solidFill>
                <a:latin typeface="Consolas"/>
                <a:ea typeface="맑은 고딕"/>
                <a:cs typeface="맑은 고딕"/>
              </a:rPr>
              <a:t>  risk = clamp(penalty/100,0,1)</a:t>
            </a:r>
          </a:p>
          <a:p>
            <a:pPr algn="l" eaLnBrk="0">
              <a:lnSpc>
                <a:spcPct val="110000"/>
              </a:lnSpc>
              <a:spcAft>
                <a:spcPts val="200"/>
              </a:spcAft>
            </a:pPr>
            <a:r>
              <a:rPr sz="1300" b="0">
                <a:solidFill>
                  <a:srgbClr val="E8EEF6"/>
                </a:solidFill>
                <a:latin typeface="Consolas"/>
                <a:ea typeface="맑은 고딕"/>
                <a:cs typeface="맑은 고딕"/>
              </a:rPr>
              <a:t>  round(urgency * risk, 2)</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영향</a:t>
            </a:r>
            <a:r>
              <a:rPr sz="1300" b="0">
                <a:solidFill>
                  <a:srgbClr val="E8EEF6"/>
                </a:solidFill>
                <a:latin typeface="Consolas"/>
                <a:ea typeface="맑은 고딕"/>
                <a:cs typeface="맑은 고딕"/>
              </a:rPr>
              <a:t> * 1.5</a:t>
            </a:r>
          </a:p>
          <a:p>
            <a:pPr algn="l" eaLnBrk="0">
              <a:lnSpc>
                <a:spcPct val="110000"/>
              </a:lnSpc>
              <a:spcAft>
                <a:spcPts val="200"/>
              </a:spcAft>
            </a:pPr>
            <a:r>
              <a:rPr sz="1300" b="0">
                <a:solidFill>
                  <a:srgbClr val="E8EEF6"/>
                </a:solidFill>
                <a:latin typeface="Consolas"/>
                <a:ea typeface="맑은 고딕"/>
                <a:cs typeface="맑은 고딕"/>
              </a:rPr>
              <a:t>quality</a:t>
            </a:r>
          </a:p>
          <a:p>
            <a:pPr algn="l" eaLnBrk="0">
              <a:lnSpc>
                <a:spcPct val="110000"/>
              </a:lnSpc>
              <a:spcAft>
                <a:spcPts val="200"/>
              </a:spcAft>
            </a:pPr>
            <a:r>
              <a:rPr sz="1300" b="0">
                <a:solidFill>
                  <a:srgbClr val="E8EEF6"/>
                </a:solidFill>
                <a:latin typeface="Consolas"/>
                <a:ea typeface="맑은 고딕"/>
                <a:cs typeface="맑은 고딕"/>
              </a:rPr>
              <a:t>  ts1 &gt;= 55, </a:t>
            </a:r>
            <a:r>
              <a:rPr sz="1300" b="0">
                <a:solidFill>
                  <a:srgbClr val="E8EEF6"/>
                </a:solidFill>
                <a:latin typeface="맑은 고딕"/>
                <a:ea typeface="맑은 고딕"/>
                <a:cs typeface="맑은 고딕"/>
              </a:rPr>
              <a:t>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있음이면</a:t>
            </a:r>
          </a:p>
          <a:p>
            <a:pPr algn="l" eaLnBrk="0">
              <a:lnSpc>
                <a:spcPct val="110000"/>
              </a:lnSpc>
              <a:spcAft>
                <a:spcPts val="200"/>
              </a:spcAft>
            </a:pPr>
            <a:r>
              <a:rPr sz="1300" b="0">
                <a:solidFill>
                  <a:srgbClr val="E8EEF6"/>
                </a:solidFill>
                <a:latin typeface="Consolas"/>
                <a:ea typeface="맑은 고딕"/>
                <a:cs typeface="맑은 고딕"/>
              </a:rPr>
              <a:t>  -1.5 * min(1, claim/1000)</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정책은 데이터</a:t>
            </a:r>
          </a:p>
          <a:p>
            <a:pPr algn="l" eaLnBrk="0">
              <a:lnSpc>
                <a:spcPct val="110000"/>
              </a:lnSpc>
              <a:spcAft>
                <a:spcPts val="400"/>
              </a:spcAft>
            </a:pPr>
            <a:r>
              <a:rPr sz="1400" b="0">
                <a:solidFill>
                  <a:srgbClr val="1F2A3A"/>
                </a:solidFill>
                <a:latin typeface="맑은 고딕"/>
                <a:ea typeface="맑은 고딕"/>
                <a:cs typeface="맑은 고딕"/>
              </a:rPr>
              <a:t>식은 순위 규칙의 rankingPolicy(JSON)에 저장된다. 팬 최대 운전 3.38 = 성과 지표 0.52 + 납기 1.12 + 예측 1.74.</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예측의 상한</a:t>
            </a:r>
          </a:p>
          <a:p>
            <a:pPr algn="l" eaLnBrk="0">
              <a:lnSpc>
                <a:spcPct val="110000"/>
              </a:lnSpc>
              <a:spcAft>
                <a:spcPts val="400"/>
              </a:spcAft>
            </a:pPr>
            <a:r>
              <a:rPr sz="1400" b="0">
                <a:solidFill>
                  <a:srgbClr val="1F2A3A"/>
                </a:solidFill>
                <a:latin typeface="맑은 고딕"/>
                <a:ea typeface="맑은 고딕"/>
                <a:cs typeface="맑은 고딕"/>
              </a:rPr>
              <a:t>±2. 47.7 ℃와 44.6 ℃는 모두 +2.00을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감점 · 경고</a:t>
            </a:r>
          </a:p>
          <a:p>
            <a:pPr algn="l" eaLnBrk="0">
              <a:lnSpc>
                <a:spcPct val="110000"/>
              </a:lnSpc>
              <a:spcAft>
                <a:spcPts val="400"/>
              </a:spcAft>
            </a:pPr>
            <a:r>
              <a:rPr sz="1400" b="0">
                <a:solidFill>
                  <a:srgbClr val="1F2A3A"/>
                </a:solidFill>
                <a:latin typeface="맑은 고딕"/>
                <a:ea typeface="맑은 고딕"/>
                <a:cs typeface="맑은 고딕"/>
              </a:rPr>
              <a:t>감점 20만 원 → -1.00, 경고 1건 → -0.50.</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a:t>
            </a:r>
          </a:p>
          <a:p>
            <a:pPr algn="l" eaLnBrk="0">
              <a:lnSpc>
                <a:spcPct val="110000"/>
              </a:lnSpc>
              <a:spcAft>
                <a:spcPts val="400"/>
              </a:spcAft>
            </a:pPr>
            <a:r>
              <a:rPr sz="1400" b="0">
                <a:solidFill>
                  <a:srgbClr val="1F2A3A"/>
                </a:solidFill>
                <a:latin typeface="맑은 고딕"/>
                <a:ea typeface="맑은 고딕"/>
                <a:cs typeface="맑은 고딕"/>
              </a:rPr>
              <a:t>생산 영향은 유지 1 · 감산 0.4 · 정지 -1배. 납기 5.98 h · 위약금 120만 원/h에서 유지 +1.12, 감산 +0.45.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가정분석_3.svg" descr="illust_4609037223443103948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전력 단가 · 감점 기준</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5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50" b="0">
                <a:solidFill>
                  <a:srgbClr val="1F2A3A"/>
                </a:solidFill>
                <a:latin typeface="맑은 고딕"/>
                <a:ea typeface="맑은 고딕"/>
                <a:cs typeface="맑은 고딕"/>
              </a:rPr>
              <a:t>일부 계수는 가정이다(주 120 h 운전, 고장 확률)</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같은 이상 상황에 조건과 기준을 달리한 판단 결과를 근거와 함께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예비 펌프 · 팬 100 % 운전 시간을 바꾼다</a:t>
            </a:r>
          </a:p>
          <a:p>
            <a:pPr algn="l" eaLnBrk="0">
              <a:lnSpc>
                <a:spcPct val="110000"/>
              </a:lnSpc>
            </a:pPr>
            <a:r>
              <a:rPr sz="1400" b="0">
                <a:solidFill>
                  <a:srgbClr val="1F2A3A"/>
                </a:solidFill>
                <a:latin typeface="맑은 고딕"/>
                <a:ea typeface="맑은 고딕"/>
                <a:cs typeface="맑은 고딕"/>
              </a:rPr>
              <a:t>어떤 규칙이 맞아 어느 후보가 남고 빠지는가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판단 규칙</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시험값 · 규칙</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감점 기준 · 관점의 중요도를 바꾼다</a:t>
            </a:r>
          </a:p>
          <a:p>
            <a:pPr algn="l" eaLnBrk="0">
              <a:lnSpc>
                <a:spcPct val="110000"/>
              </a:lnSpc>
            </a:pPr>
            <a:r>
              <a:rPr sz="1400" b="0">
                <a:solidFill>
                  <a:srgbClr val="1F2A3A"/>
                </a:solidFill>
                <a:latin typeface="맑은 고딕"/>
                <a:ea typeface="맑은 고딕"/>
                <a:cs typeface="맑은 고딕"/>
              </a:rPr>
              <a:t>예상 손익과 판단 순위가 어떻게 달라지는가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손익 · What-if</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지표의 목표값을 바꾼다</a:t>
            </a:r>
          </a:p>
          <a:p>
            <a:pPr algn="l" eaLnBrk="0">
              <a:lnSpc>
                <a:spcPct val="110000"/>
              </a:lnSpc>
            </a:pPr>
            <a:r>
              <a:rPr sz="1400" b="0">
                <a:solidFill>
                  <a:srgbClr val="1F2A3A"/>
                </a:solidFill>
                <a:latin typeface="맑은 고딕"/>
                <a:ea typeface="맑은 고딕"/>
                <a:cs typeface="맑은 고딕"/>
              </a:rPr>
              <a:t>달성 · 미달의 판정이 어떻게 달라지는가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성과 지표</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근거와 원본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판정마다 붙은 규칙 · 출처 절, 계산에 쓴 값의 출처를 읽는다</a:t>
            </a:r>
          </a:p>
          <a:p>
            <a:pPr algn="l" eaLnBrk="0">
              <a:lnSpc>
                <a:spcPct val="110000"/>
              </a:lnSpc>
            </a:pPr>
            <a:r>
              <a:rPr sz="1400" b="0">
                <a:solidFill>
                  <a:srgbClr val="1F2A3A"/>
                </a:solidFill>
                <a:latin typeface="맑은 고딕"/>
                <a:ea typeface="맑은 고딕"/>
                <a:cs typeface="맑은 고딕"/>
              </a:rPr>
              <a:t>시험값이 원본을 고치지 않았음을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 그대로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이미 조건이 정리된 SOP 자료를 설비 모델의 식별자에 이어, 조치 방법 · 단계의 구조와 결정표 자료로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2972371"/>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설비 모델과 식별자</a:t>
            </a:r>
          </a:p>
          <a:p>
            <a:pPr algn="ctr" eaLnBrk="0">
              <a:lnSpc>
                <a:spcPct val="110000"/>
              </a:lnSpc>
              <a:spcAft>
                <a:spcPts val="400"/>
              </a:spcAft>
            </a:pPr>
            <a:r>
              <a:rPr sz="1650" b="0">
                <a:solidFill>
                  <a:srgbClr val="1F2A3A"/>
                </a:solidFill>
                <a:latin typeface="맑은 고딕"/>
                <a:ea typeface="맑은 고딕"/>
                <a:cs typeface="맑은 고딕"/>
              </a:rPr>
              <a:t>설비 모델의 클래스와 식별자를 새로 만들지 않고 그대로 쓴다</a:t>
            </a:r>
          </a:p>
        </p:txBody>
      </p:sp>
      <p:sp>
        <p:nvSpPr>
          <p:cNvPr id="10" name="Oval 9"/>
          <p:cNvSpPr/>
          <p:nvPr/>
        </p:nvSpPr>
        <p:spPr>
          <a:xfrm>
            <a:off x="4274705"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고장 유형과 조치 방법</a:t>
            </a:r>
          </a:p>
          <a:p>
            <a:pPr algn="ctr" eaLnBrk="0">
              <a:lnSpc>
                <a:spcPct val="110000"/>
              </a:lnSpc>
              <a:spcAft>
                <a:spcPts val="400"/>
              </a:spcAft>
            </a:pPr>
            <a:r>
              <a:rPr sz="1650" b="0">
                <a:solidFill>
                  <a:srgbClr val="1F2A3A"/>
                </a:solidFill>
                <a:latin typeface="맑은 고딕"/>
                <a:ea typeface="맑은 고딕"/>
                <a:cs typeface="맑은 고딕"/>
              </a:rPr>
              <a:t>제공된 고장 유형에 조치 방법(Skill)을 완화 · 근본 조치 관계로 잇는다</a:t>
            </a:r>
          </a:p>
        </p:txBody>
      </p:sp>
      <p:sp>
        <p:nvSpPr>
          <p:cNvPr id="13" name="Oval 12"/>
          <p:cNvSpPr/>
          <p:nvPr/>
        </p:nvSpPr>
        <p:spPr>
          <a:xfrm>
            <a:off x="7048309"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절차의 구조화</a:t>
            </a:r>
          </a:p>
          <a:p>
            <a:pPr algn="ctr" eaLnBrk="0">
              <a:lnSpc>
                <a:spcPct val="110000"/>
              </a:lnSpc>
              <a:spcAft>
                <a:spcPts val="400"/>
              </a:spcAft>
            </a:pPr>
            <a:r>
              <a:rPr sz="1650" b="0">
                <a:solidFill>
                  <a:srgbClr val="1F2A3A"/>
                </a:solidFill>
                <a:latin typeface="맑은 고딕"/>
                <a:ea typeface="맑은 고딕"/>
                <a:cs typeface="맑은 고딕"/>
              </a:rPr>
              <a:t>적용 조건, 금지 조건, 수행 단계(Step), 완료 기준을 가른다</a:t>
            </a:r>
          </a:p>
        </p:txBody>
      </p:sp>
      <p:sp>
        <p:nvSpPr>
          <p:cNvPr id="16" name="Oval 15"/>
          <p:cNvSpPr/>
          <p:nvPr/>
        </p:nvSpPr>
        <p:spPr>
          <a:xfrm>
            <a:off x="9821913" y="2556319"/>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결정표 자료</a:t>
            </a:r>
          </a:p>
          <a:p>
            <a:pPr algn="ctr" eaLnBrk="0">
              <a:lnSpc>
                <a:spcPct val="110000"/>
              </a:lnSpc>
              <a:spcAft>
                <a:spcPts val="400"/>
              </a:spcAft>
            </a:pPr>
            <a:r>
              <a:rPr sz="1650" b="0">
                <a:solidFill>
                  <a:srgbClr val="1F2A3A"/>
                </a:solidFill>
                <a:latin typeface="맑은 고딕"/>
                <a:ea typeface="맑은 고딕"/>
                <a:cs typeface="맑은 고딕"/>
              </a:rPr>
              <a:t>조건 문장을 입력 조건과 판단 결과의 행으로 옮긴다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가능한 조치와 제외할 조치를 가르고, 남은 후보의 선택 이유를 보이는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기대하는 출력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규정을 통과하는 입력</a:t>
            </a:r>
          </a:p>
          <a:p>
            <a:pPr algn="l" eaLnBrk="0">
              <a:lnSpc>
                <a:spcPct val="110000"/>
              </a:lnSpc>
            </a:pPr>
            <a:r>
              <a:rPr sz="1400" b="0">
                <a:solidFill>
                  <a:srgbClr val="1F2A3A"/>
                </a:solidFill>
                <a:latin typeface="맑은 고딕"/>
                <a:ea typeface="맑은 고딕"/>
                <a:cs typeface="맑은 고딕"/>
              </a:rPr>
              <a:t>예: 원격 자동 · 팬 100 % 연속 0 h</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후보가 모두 남고</a:t>
            </a:r>
          </a:p>
          <a:p>
            <a:pPr algn="l" eaLnBrk="0">
              <a:lnSpc>
                <a:spcPct val="110000"/>
              </a:lnSpc>
            </a:pPr>
            <a:r>
              <a:rPr sz="1250" b="1">
                <a:solidFill>
                  <a:srgbClr val="556175"/>
                </a:solidFill>
                <a:latin typeface="맑은 고딕"/>
                <a:ea typeface="맑은 고딕"/>
                <a:cs typeface="맑은 고딕"/>
              </a:rPr>
              <a:t>순위와 선택 이유</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경계값</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기준값과 바로 아래 · 위</a:t>
            </a:r>
          </a:p>
          <a:p>
            <a:pPr algn="l" eaLnBrk="0">
              <a:lnSpc>
                <a:spcPct val="110000"/>
              </a:lnSpc>
            </a:pPr>
            <a:r>
              <a:rPr sz="1400" b="0">
                <a:solidFill>
                  <a:srgbClr val="1F2A3A"/>
                </a:solidFill>
                <a:latin typeface="맑은 고딕"/>
                <a:ea typeface="맑은 고딕"/>
                <a:cs typeface="맑은 고딕"/>
              </a:rPr>
              <a:t>예: 팬 100 % 연속 23.9 · 24.0 · 24.1 h</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24.1 h에서만</a:t>
            </a:r>
          </a:p>
          <a:p>
            <a:pPr algn="l" eaLnBrk="0">
              <a:lnSpc>
                <a:spcPct val="110000"/>
              </a:lnSpc>
            </a:pPr>
            <a:r>
              <a:rPr sz="1250" b="1">
                <a:solidFill>
                  <a:srgbClr val="556175"/>
                </a:solidFill>
                <a:latin typeface="맑은 고딕"/>
                <a:ea typeface="맑은 고딕"/>
                <a:cs typeface="맑은 고딕"/>
              </a:rPr>
              <a:t>감점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후보에 규칙이 둘 이상 맞는 입력</a:t>
            </a:r>
          </a:p>
          <a:p>
            <a:pPr algn="l" eaLnBrk="0">
              <a:lnSpc>
                <a:spcPct val="110000"/>
              </a:lnSpc>
            </a:pPr>
            <a:r>
              <a:rPr sz="1400" b="0">
                <a:solidFill>
                  <a:srgbClr val="1F2A3A"/>
                </a:solidFill>
                <a:latin typeface="맑은 고딕"/>
                <a:ea typeface="맑은 고딕"/>
                <a:cs typeface="맑은 고딕"/>
              </a:rPr>
              <a:t>예: 팬 연속 30 h · 예측 유온 56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보인다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후보가 제외되는 입력</a:t>
            </a:r>
          </a:p>
          <a:p>
            <a:pPr algn="l" eaLnBrk="0">
              <a:lnSpc>
                <a:spcPct val="110000"/>
              </a:lnSpc>
            </a:pPr>
            <a:r>
              <a:rPr sz="1400" b="0">
                <a:solidFill>
                  <a:srgbClr val="1F2A3A"/>
                </a:solidFill>
                <a:latin typeface="맑은 고딕"/>
                <a:ea typeface="맑은 고딕"/>
                <a:cs typeface="맑은 고딕"/>
              </a:rPr>
              <a:t>예: 원격 제어 후보만 있고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 없음</a:t>
            </a:r>
          </a:p>
          <a:p>
            <a:pPr algn="l" eaLnBrk="0">
              <a:lnSpc>
                <a:spcPct val="110000"/>
              </a:lnSpc>
            </a:pPr>
            <a:r>
              <a:rPr sz="1250" b="1">
                <a:solidFill>
                  <a:srgbClr val="1A6FC4"/>
                </a:solidFill>
                <a:latin typeface="맑은 고딕"/>
                <a:ea typeface="맑은 고딕"/>
                <a:cs typeface="맑은 고딕"/>
              </a:rPr>
              <a:t>제외 사유를 보인다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LOTO</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Lockout/Tagout</a:t>
            </a:r>
          </a:p>
          <a:p>
            <a:pPr algn="l" eaLnBrk="0">
              <a:lnSpc>
                <a:spcPct val="110000"/>
              </a:lnSpc>
            </a:pPr>
            <a:r>
              <a:rPr sz="1250" b="0">
                <a:solidFill>
                  <a:srgbClr val="1F2A3A"/>
                </a:solidFill>
                <a:latin typeface="맑은 고딕"/>
                <a:ea typeface="맑은 고딕"/>
                <a:cs typeface="맑은 고딕"/>
              </a:rPr>
              <a:t>정비 전에 에너지원을 차단해 잠그고 표시하는 안전 절차</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OMG</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Object Management Group</a:t>
            </a:r>
          </a:p>
          <a:p>
            <a:pPr algn="l" eaLnBrk="0">
              <a:lnSpc>
                <a:spcPct val="110000"/>
              </a:lnSpc>
            </a:pPr>
            <a:r>
              <a:rPr sz="1250" b="0">
                <a:solidFill>
                  <a:srgbClr val="1F2A3A"/>
                </a:solidFill>
                <a:latin typeface="맑은 고딕"/>
                <a:ea typeface="맑은 고딕"/>
                <a:cs typeface="맑은 고딕"/>
              </a:rPr>
              <a:t>DMN 같은 모델링 표준을 정하는 국제 표준 단체</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 · 성과 지표에서 잃은 것이 예측에서 얻은 것보다 컸기 때문이다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 · 성과 지표에서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