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조치를 수행하는 순서와 기준을 정한 절차가 무엇으로 이루어지는지, 설비의 운전 상태가 그 절차를 쓸 수 있는지에 어떻게 관여하는지를 봅니다. 이어서 절차 속 조건을 결정표로 옮겨 값에 대어 판정하고 그 근거를 남기는 방법을 다룹니다. 그다음 성과 목표와 지표로 남은 후보의 득실을 견주고, 가정값을 바꾸어 결과를 다시 계산해 봅니다. 마지막으로 직접 절차 구조와 결정표를 만들고 판정 기능을 시험합니다.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사건은 쿨러 성능 저하 경보에서 시작했고, 냉각 효율과 팬 진동 같은 증거를 대조해 원인을 쿨러 핀 오염으로 가렸습니다. 원인을 아는 것과 무엇을 할지 정하는 것은 다른 단계이며, 매뉴얼 HM-8은 이 고장에 쓸 조치를 넷 둡니다. 팬만 올리면 생산은 그대로이고, 부하를 낮추는 두 조치는 생산 속도를 줄이며, 핀 세척은 설비를 세우고 원인을 없앱니다. 같은 매뉴얼의 SOP-COOL-15 캐비닛 환기 보강은 주변 온도 상승이라는 다른 원인에 맞는 조치라 이 사건의 후보가 아닙니다. 넷 가운데 하나를 고르려면 어떻게 수행하는지, 지금 해도 되는지, 어느 쪽이 더 나은지를 차례로 따져야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확인 항목이 사람마다 다르면 같은 조치도 결과가 달라지므로, 그것을 문서로 정해 둔 것이 SOP, Standard Operating Procedure입니다. 목적은 셋으로, 누가 해도 같게 하는 일관성, 위험한 순서와 빠뜨린 확인을 막는 안전, 끝났는지를 같은 기준으로 판정하는 확인입니다. 왼쪽은 쿨러 사건에서 승인된 팬 최대 운전의 원문 발췌이며, 절의 머리에 이 절의 모든 절차에 걸리는 조건이 있고 번호 붙은 세 단계와 승인을 적은 줄이 이어집니다. SOP-COOL-11 같은 절차 번호는 이름이 비슷한 절차가 여럿이어도 하나만 가리키므로, 추천과 승인과 작업 기록이 같은 절차를 말하게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속도를 100 %로 올린다」 한 줄만 적힌 메모로는 언제 써도 되는지, 무엇을 하면 안 되는지, 언제 끝난 것인지를 알 수 없습니다. 그래서 SOP는 수행 단계에 일곱 항목을 더 갖추며, 위에서부터 어느 고장에 쓰는지, 시작 전에 성립할 상태, 작업자를 지키려고 먼저 할 조치, 갖출 인원과 부품, 단계, 하지 말 것, 승인할 역할, 끝났다고 볼 기준입니다. LOTO는 정비하는 동안 다른 사람이 설비를 켜지 못하도록 에너지원을 잠그고 표지를 다는 조치입니다. 준비사항은 쿨러 매뉴얼에 해당 문장이 없어 같은 설비의 정기 점검표에서 실제 문장을 가져왔고, 완료 기준은 유온과 경보 해제와 15분을 함께 정합니다. 한 SOP에 여덟 항목이 늘 따로 적혀 있는 것은 아니어서, 문장을 읽고 각 항목에 해당하는 것을 찾아야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준비사항은 작업을 시작하기 전에 갖출 사람과 부품이고, 안전 조건은 작업자를 지키려고 설비를 어떤 상태로 만든 뒤 시작하는지입니다. 같은 기종 두 대를 묶어 정비하는 절차는 인원 넷과 씰 키트 둘을 확보하는 것이 준비사항이고, 정기 점검 절차는 설비를 세우고 잠그는 것에서 시작합니다. LOTO는 전원만 내리는 것이 아니라 잠금과 표지로 재가동을 막는 일이며, 유압 설비는 전원을 끊어도 회로에 압력이 남으므로 잔압을 탱크로 빼고 압력계가 0 bar인지 확인한 뒤에야 배관을 엽니다. 준비를 갖추었다고 안전 조건을 확인한 것은 아니어서 두 항목은 따로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 모드는 설비가 누구의 조작을 받는지를 정하는 PLC의 상태이며, 원격 자동, 원격 수동, 현장 제어의 셋이 있습니다. 사람이 운전 화면이나 현장 패널에서 설비를 직접 만지고 있는데 상위 시스템이 팬 속도를 바꾸면 그 사람이 예상하지 못한 방향으로 설비가 움직이므로, 원격으로 보내는 조치는 원격 자동일 때만 남깁니다. 팬을 건드리지 않는 부하 70 % 조치도 부하를 원격으로 낮추는 설비 제어여서 함께 빠집니다. 핀 세척 작업지시는 어느 모드에서도 후보에 남지만, 그것이 지금 현장에서 세척해도 된다는 허가는 아니며 실제 세척은 설비를 세우고 잠근 뒤에 합니다. 운전 모드 외에도 최소 부하 60 % 같은 조건이 있고, 규칙을 통과한 명령도 PLC가 한 번 더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원문이 아래처럼 노드와 관계로 옮겨집니다. SOP라는 클래스가 따로 있는 것이 아니라 조치 방법 Skill 하나가 곧 SOP 하나이고, 절차 번호 SOP-COOL-11을 sopId 속성에 그대로 담아 추천과 승인과 기록이 같은 식별자로 이 노드를 가리킵니다. 번호 붙은 단계는 Step 노드가 되어 order로 순서를 지키고, 단계마다 REFERS_TO로 근거가 된 매뉴얼의 절을 가리키므로 추천을 볼 때 출처 HM-8.5가 함께 나옵니다. 조치 방법 하나에 단계가 여럿 붙는 HAS_STEP은 일대다 관계이며, 순서와 출처를 문장과 따로 보존해 두어야 단계 하나를 고쳐도 다른 단계와 근거가 흐트러지지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종류는 무엇을 겨냥하느냐가 다릅니다. 경보 직후에 쓰는 즉시 완화는 유온을 곧바로 내리지만 핀에 낀 오염은 그대로 남고, 정비 시간에 쓰는 근본 조치는 원인 자체를 없애며 핀 세척은 원인이 핀 오염일 때만 맞습니다. 예방 조치는 생긴 고장을 없애는 것이 아니라 씰과 필터를 2,000시간마다 바꾸어 펌프의 체적 효율 저하를 미리 막는 정기 정비입니다. 고장 유형에 예방 조치 관계가 있어도 경보가 났을 때의 후보로 따라가지는 않고, 정기 정비 도래 알림이 왔을 때만 후보가 됩니다. 시간으로 놓으면 예방은 고장 전, 완화는 경보 직후, 근본 조치는 정비 시간에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 Cause는 CAUSES로 고장 유형을 일으키고, 조치 방법 Skill은 그 고장 유형에 MITIGATED_BY나 REMEDIED_BY로 붙으므로 한 고장 유형에 조치가 여럿 모입니다. 핀 세척처럼 특정 원인에만 맞는 조치는 ADDRESSES로 그 원인을 함께 가리켜, 원인이 주변 온도 상승이면 후보에서 빠집니다. 조치 방법에서는 HAS_STEP으로 단계가, 단계에서는 REFERS_TO로 근거 절이 이어지고, APPROVED_BY는 그 조치를 승인할 최소 역할입니다. 승인하는 역할과 실제로 수행하는 주체는 달라서, 팬 최대 운전은 운전원이 승인하고 설비 제어 시스템이 수행하며 핀 세척 작업지시는 정비 관리 시스템이 발행합니다. 아래 띠가 쿨러 사건에서 실제로 따라간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 뒤 유온은 내려갔지만 냉각 효율은 55 %로 기준에 못 미쳤습니다. 핀 오염을 제거한 것은 아니므로 핀 세척을 작업지시로 따로 등록했습니다. 경보 해제, 매뉴얼의 완화 성공 기준, 정비 완료 기준은 서로 다릅니다. 화면의 그래프와 등록 기록을 보고 세척까지 끝났다고 판단하면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팬 최대 운전이 두 가지로 저장됩니다. 왼쪽의 단계는 사람이 읽는 문장이고, 오른쪽의 실행 동작은 시스템이 실제로 보내는 명령 하나 또는 업무 시스템의 처리 하나입니다. 팬 속도 설정은 값의 범위가 0에서 100인 명령이고, 정비 작업지시 발행은 설비가 아니라 정비 관리 시스템에 보내는 처리입니다. 잠금을 거는 단계처럼 사람이 현장에서 하는 일에는 실행 동작이 없으므로, 절차를 저장한 것만으로 모든 단계가 자동으로 실행되지는 않습니다. 실행 동작도 사람이 추천안을 승인한 뒤에야 프로세스가 보냅니다.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물음, 지금 이 조치를 해도 되는가로 넘어갑니다. 그 답이 되는 조건은 매뉴얼의 여러 절에 문장으로 흩어져 있어서, 사람이 그때그때 떠올리면 급할 때 하나를 놓치고, 「넘겼다면」이 24시간 정각을 포함하는지 사람마다 다르게 읽고, 무엇을 확인했는지도 남지 않습니다. 그래서 조건을 정해진 형식으로 적는데, 업무의 의사결정을 정의하는 표준이 DMN, Decision Model and Notation이며 국제 표준화 단체 OMG가 정했습니다. SOP는 순서를, DMN은 조건을 맡으므로 하나가 다른 하나를 대신하지 않고 함께 쓰입니다. 순서 문장도 실행할 때는 현재 상태를 보아야 해서, 팬 최대 운전의 첫 단계가 운전 모드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쓰는 값의 항목을 입력 데이터, InputData라고 하며, 결정표가 아는 것은 변수 이름과 기준뿐입니다. 값은 판단하는 순간에 정해진 출처에서 읽어 오므로 같은 표 하나로 매번 다른 상황을 판정하고, 무엇을 언제 어디서 읽었는지도 함께 남습니다. 팬 시간은 누적이 아니라 지금 이어지고 있는 100 % 운전의 길이이며, 기록이 없으면 0시간으로 치지 않고 모르는 값으로 둡니다. 예측 유온은 잰 값이 아니라 같은 시점의 설비 상태에 후보마다 조치를 대어 계산한 값이어서 후보마다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결정표를 만들 때 가장 먼저 정하는 것은 표가 답할 물음 하나이고, 이것을 결정이라고 합니다. 매뉴얼의 조건 문장 하나가 규칙 한 행이 되어 왼쪽의 조건과 오른쪽의 출력으로 나뉘며, 원격 자동이 아니면 세 절차를 뺀다는 문장이 Rule 1, 24시간을 넘겼으면 20만 원을 깎는다는 문장이 Rule 2입니다. 놀이공원의 탑승 기준표에 키와 나이를 대면 누가 판정해도 같은 것과 닮았지만, 결정표는 값의 출처와 규칙의 근거, 여러 행이 맞을 때의 처리까지 정한다는 점이 다릅니다. 지금 원격 자동이고 팬이 30시간째 최대로 돌았다면 Rule 1은 맞지 않고 Rule 2는 맞으므로, 답은 팬을 올리는 두 절차에 감점 20만 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조건은 무엇을 보는가, 어떻게 견주는가, 무엇과 견주는가의 세 부분이며, 각각 입력, 연산자, 기준값이라고 합니다. 그래프에서는 규칙이 입력 데이터를 TESTS 관계로 가리키고, 그 관계에 연산자와 기준값과 단위가 실립니다. 숫자는 크기를 견주고 운전 모드 같은 문자열은 같은지 다른지만 견주므로, 입력의 자료형과 단위가 기준값과 맞아야 합니다. 눈여겨볼 것은 초과와 이상, 미만과 이하의 차이이며, 이 차이가 경계에서의 판정을 가릅니다.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판정이 갈리는 기준값을 임계값, Threshold라고 합니다. 위의 축은 예측 유온이 55 이상인 조건이며, 채운 점이 기준값을 포함한다는 표시라서 정확히 55.0도 조건에 맞습니다. 아래의 축은 24시간을 넘겼다면이며, 넘었다는 것은 초과여서 빈 점으로 그렸고 24.0시간은 맞지 않고 24.1시간부터 맞습니다. 사람이 읽을 때는 대수롭지 않던 차이가 표에서는 판정을 가르므로, 조건을 옮긴 뒤에는 기준값 자신과 바로 아래, 바로 위의 세 값을 넣어 원문의 뜻과 같은지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하한과 상한을 함께 두면 범위가 되며, 이 표기에서는 검사 둘을 한 행에 적어 둘 다 맞을 때만 맞게 합니다. 실제 표에서 검사가 둘인 행은 정기 정비의 시행 방안을 고르는 규칙으로, 정기 정비 도래 경보가 났고 마지막 정비 뒤 운전시간이 1,800시간 이상일 때만 네 방안을 후보로 올립니다. 둘 가운데 하나만 맞아도 되는 경우는 한 행에 넣지 않고 같은 출력을 내는 행 둘로 나누므로, 매뉴얼의 문장이 「그리고」인지 「또는」인지를 먼저 가려야 합니다. 위의 55와 65 사이 구간은 범위 표기를 위한 예이며, 실제 쿨러 성능 저하 판정은 냉각 효율이 70 % 아래이고 유온이 계속 오르는지까지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규칙이 내는 것은 네 가지입니다. 후보 선택은 고장 유형이 냉각 성능 상실이면 완화 조치 셋을, 원인이 핀 오염이면 핀 세척을 올려 쿨러 사건의 후보 넷을 만듭니다. 제외된 조치는 다른 면에서 아무리 좋아도 고를 수 없고, 감점은 후보에 남기되 팬 수명 손실만큼 깎아서 견주게 하며, 경고는 후보에 남기면서 승인하는 사람이 알아야 할 사항을 붙입니다. 해서는 안 되는 것, 해도 되지만 대가가 있는 것, 해도 되지만 알고 해야 하는 것의 구분이며, 후보에 올랐다고 실행이 허가된 것은 아니고 실행은 사람이 승인한 뒤에 이루어집니다.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행이 맞는 것을 hit이라고 하며, 여러 행이 맞았을 때 무엇을 답으로 삼을지를 표마다 정해 둔 것이 Hit Policy입니다. 이 입력에서는 팬이 30시간째 최대로 돌았고 예측 유온이 56도여서 감점 행과 경고 행이 함께 맞는데, 이것은 표의 잘못이 아니라 실제로 둘 다 해당하는 상황입니다. 규정 적합성 표는 Collect여서 맞은 행의 출력을 빠짐없이 모으므로 감점과 경고가 함께 남고, 제외 행이 맞지 않았으니 후보에서는 빠지지 않습니다. 출력을 모으는 일과 추천 가능 여부를 정하는 일은 다른 단계이며, 모은 결과에 제외가 하나라도 있으면 추천 대상에서 빼고 사유를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입력은 앞에서 본 것과 같이 감점 행과 경고 행이 함께 맞은 상태입니다. Unique는 맞는 행이 겹치는 것을 허용하지 않으므로 이 입력을 표의 오류로 보고, First는 위에서부터 보아 먼저 맞은 감점을 답으로 쓰므로 행을 적는 순서가 결과를 바꿉니다. Priority는 출력에 매겨 둔 우선순위를 보는데, 가장 높은 제외는 맞지 않았으니 맞은 둘 가운데 더 높은 경고가 답이 되며, Collect는 둘을 모두 답으로 삼습니다. 어느 방식이 옳은 것이 아니라 표의 목적에 따라 고르며, 표준에는 이 밖에 셋이 더 있고 HYD의 그래프가 허용하는 것은 Priority, Collect, Unique의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결정표는 행이 늘수록 틈과 겹침이 생기기 쉬워서, 같은 입력을 대어 보면 결함이 드러납니다. 55 미만은 통과, 60 이상은 제외라고 적으면 57도에는 맞는 행이 없어 표가 답을 내지 못하고, 이것이 누락입니다. 같은 답을 내는 행이 겹치는 중복은 당장 틀린 답을 내지는 않지만 나중에 한 행만 고치면 표가 어긋나고, 다른 답을 내는 행이 겹치는 상충은 후보를 남길지 뺄지를 표가 정해 주지 못합니다. 다만 겹침이 늘 결함은 아니어서, 일치 행의 중복을 금지한 표에서는 오류이지만 해당하는 것을 모두 모으는 표에서는 정상일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 모드를 읽지 못했을 때 값이 없으니 조건이 맞지 않았다고 넘어가면, 원격 자동이 아닐 수도 있는 설비에 원격 조치가 남습니다. 그래서 제외나 감점 규칙의 값을 모르면 「확인되지 않은 조건」으로 결과에 올리고 제외 쪽으로 처리합니다. 다만 한 행의 조건은 모두 맞아야 하므로, 같은 행의 다른 조건이 이미 거짓이면 그 규칙은 어차피 맞지 않아 모르는 값은 상관이 없습니다. 경고 규칙의 값을 모를 때는 경고로 남겨 사람이 그 불확실성을 보고 고르게 하며, 모든 후보가 빠지면 억지로 하나를 고르지 않고 추천 없이 제외 사유를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DMN에서는 규칙의 근거가 되는 문서를 지식 출처라고 부르며, 제외와 감점 규칙은 모두 매뉴얼 HM-8.8의 문장에서 왔습니다. 왼쪽 위는 판정이 내려졌을 때 남는 기록으로, 어느 규칙이 어떤 조건으로 걸렸는지와 판정의 종류와 크기가 차례로 적히고, 마지막 sources 줄을 따라가면 아래의 원문에 닿습니다. 판단에 쓴 값도 출처와 읽은 시각과 함께 남으므로, 나중에 팬 시간이 달라져도 그때 왜 감점되었는지를 되짚을 수 있습니다. 걸린 규칙만이 아니라 후보 선택·규정 표의 행별 평가 기록이 함께 남아 맞지 않은 규칙과 모르는 값도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 선택의 답은 어떤 조치를 비교할지이고, 규정 검사의 답은 그 후보를 쓸 수 있는지와 주의할 점입니다. 순위 평가는 남은 후보를 하나의 정책으로 비교합니다. UNIQUE는 후보 수를 하나로 제한하는 말이 아니라 적용할 순위 정책을 하나로 정하는 말입니다. 원인 진단은 증거 가중치로 별도 계산하므로 네 단계가 모두 결정표 평가인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결정표를 그래프에 적어 두는 것과 그 정의대로 평가하는 일을 연결합니다. HYD는 표준 DMN 파일을 실행하는 엔진이 아니라, DMN의 주요 개념을 그래프로 표현하고 평가 함수가 읽는 구조입니다. 표준의 조건 식 언어는 FEEL이며 여기서는 비교 연산자와 기준값을 가진 TESTS 관계를 씁니다. 원인 진단 표의 PRIORITY 선언은 이 평가기의 실행 대상이 아니고, 원인 순위는 증거로 별도 계산합니다. 실제로 실행하는 세 결정표는 선언된 정책과 평가 방식이 달라지면 거절합니다.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 Decision은 IMPLEMENTED_BY로 결정표를, 결정표는 HAS_RULE로 규칙의 행들을 가리킵니다. 규칙은 TESTS로 입력 데이터를 가리키고 그 관계에 연산자와 기준값과 단위가 실리며, APPLIES_TO로 적용할 조치를, DERIVED_FROM으로 근거가 된 매뉴얼의 절을 가리킵니다. 아래 띠는 팬 24시간 감점 규칙 한 행이 그래프에 들어간 모습이며, 규칙에 적힌 when 문장은 사람이 읽는 같은 조건이고 실제 판정은 TESTS의 연산자와 값으로 합니다. 표로 그린 결정표와 이 그래프는 같은 규칙을 다르게 보인 것이어서, 규칙에서 근거 절과 조치까지 관계를 따라갈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물음, 남은 후보 가운데 무엇이 더 나은가를 따지려면 공장이 무엇을 좋은 결과로 보는지부터 정해야 합니다. 이익 하나로만 보면 그 숫자는 일이 다 끝난 뒤에 나와서 손쓸 시간이 지났고, 정비를 미루는 결정이 당장은 좋아 보입니다. 그래서 결과와 그 원인을 함께 보는 틀이 BSC, Balanced Scorecard이며, 재무, 고객, 내부 프로세스, 학습과 성장의 네 관점마다 이루려는 목표를 둡니다. 유온을 다루는 쿨러 사건은 내부 프로세스 관점에 놓이고, 학습과 성장의 현장 판단 지식 축적은 사람이 내린 판단과 그 이유를 남겨 다음 판단에 쓰겠다는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표에 적힌 목표 하나하나가 전략 목표이며, 이루려는 상태를 말로 적은 것입니다. 무재해 운전에는 인터록 한계를 넘지 않는다는 설명이 붙어 방향은 분명하지만, 지금 얼마나 잘하고 있는지는 이 말만으로 알 수 없습니다. 그래서 목표마다 그것을 재는 수치를 붙이며 이것이 KPI, Key Performance Indicator입니다. 무재해 운전에는 인터록 여유가, 납기 신뢰에는 납기 준수율이 붙어 있고, 목표와 그것을 재는 수단을 섞으면 숫자를 올리는 것이 목표인 것처럼 바뀌므로 목표가 먼저이고 KPI는 그 수단입니다.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유온이 낮아지면 한계까지 남은 여유는 커집니다. 먼저 무엇에서 무엇을 빼는지 확인하고, 목표값과 비교합니다. 기간 평균이 아니라 최고 유온을 쓰는 까닭은 가장 한계에 가까웠던 때를 보기 위해서입니다. 목표와 경고·위험 기준은 역할이 다르며, 지표의 위험 기준과 PLC의 실제 보호 정지 조건을 동일시하지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기록에서 설비는 보호 정지 없이 가동했지만, 가장 뜨거웠을 때의 온도 여유는 목표에 못 미쳤습니다. 한계에서 최고 유온을 뺀 실제값과 목표의 차이를 확인합니다. 두 지표는 서로 모순이 아니라 다른 질문에 대한 답입니다. 이 24시간 집계는 쿨러 사건 한순간의 계측값과 구별합니다.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같은 기간의 설비별 여유를 두 방식으로 모았습니다. 평균은 전체 수준을 보여 주지만 한 설비의 작은 여유를 다른 설비의 큰 여유로 덮을 수 있습니다. 무재해 운전의 인터록 여유는 가장 한계에 가까운 설비를 확인하려는 지표이므로 최솟값으로 집계합니다. 평균은 기록된 세 값을 새로 계산한 비교값이며, 시스템이 보고한 KPI 실적은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정의한 것과 실적을 계산한 것은 다른 일입니다. 실적은 처리 기록, 업무 데이터베이스, 시계열 데이터베이스의 세 원천에서 계산하는데, 인터록 여유는 한계와 최고 유온이 모두 있어 계산되지만 매출은 판매 원장이 없고 납기 준수율은 실제 출하 시각 기록이 없어 계산할 수 없습니다. 이때 숫자를 지어내거나 0으로 두지 않고 「계산 불가」와 그 사유를 남기므로, 출하 기록이 없는 납기 준수율을 0 %로 읽으면 안 됩니다. 목표가 정해지지 않은 지표, 기간 안에 기록이 없는 지표, 실제로 0인 지표도 각각 다른 상태로 구별됩니다.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목표들은 따로 떨어져 있지 않고, 목표 사이의 인과를 그린 것이 전략맵, Strategy Map이며 아래에서 위로 읽습니다. 현장 판단 지식 축적과 무재해 운전이 설비 가용성 확보를 뒷받침하는데, 인터록에 걸려 설비가 서지 않아야 가용성이 지켜지기 때문입니다. 설비가 필요할 때 돌 수 있어야 약속한 날짜를 지키므로 가용성이 납기 신뢰를 받치고, 납기 신뢰와 품질 신뢰가 영업이익으로 이어지며, 오른쪽에서는 에너지 효율이 원가 절감을 거쳐 영업이익에 닿습니다. 이 화살표는 전략상 서로 받쳐 준다는 관계여서, 쿨러 사건 한 건의 원인을 확정하는 데 쓰는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후행 지표는 일이 끝난 뒤에 나온 결과를 재며 실제로 얻으려는 것이 무엇인지 알려 주지만, 숫자를 보았을 때는 이미 지나간 일입니다. 선행 지표는 그 결과를 움직이는 동인을 재므로, 결과가 나오기 전에 손쓸 자리를 알려 줍니다. 측정 주기만으로 선행과 후행을 구분하지 않습니다. 둘은 영향의 경로로 이어져서, 펌프 부하를 낮추면 생산량이 줄고, 생산량 감소는 납기를 지키는 데 부담을 주며, 실제 납기를 어기면 지체상금이 늘어납니다. 조치가 곧바로 바꾸는 것은 설비의 값과 선행 지표이고 후행 지표는 이 경로를 따라가야 알 수 있으며, 그래프에서도 후행 지표가 선행 지표에 영향을 주는 관계는 두지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영향 관계 INFLUENCES에는 부호와 강도가 붙고, 일부에는 성립하는 조건이 붙습니다. 부품 단가를 낮추면 구매비가 강하게 줄지만, 단가와 품질 사이의 관계는 공급사를 바꿔 단가를 낮추는 경우에만 성립하고 같은 부품의 시세가 내린 것에는 해당하지 않습니다. 그 조건에서 품질 저하가 클레임과 브랜드 신뢰, 매출에 미칠 경로를 비교하므로, 부호가 양이라는 것이 늘 좋다는 뜻이 아니라 함께 움직인다는 뜻입니다. 판단은 조건을 참, 거짓, 모름으로 따로 판정해 참이면 경로를 반영하고 거짓이면 빼며, 모름이면 미확인 영향으로 분리하고, 순위 정책이 그 성분에 0.5를 곱합니다.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통과한 후보끼리 효과를 견주기 전에, 둘의 성격이 다르다는 것을 먼저 정리합니다. 왼쪽의 규칙은 통과 아니면 제외여서, 걸린 조치는 다른 면에서 아무리 좋아도 되살아나지 않고 무재해 운전처럼 금액과 맞바꾸지 않는 선을 지킵니다. 오른쪽의 기준은 더 낫다, 덜 낫다의 문제여서 한쪽의 손해를 다른 쪽의 이득으로 메울 수 있으며, 감점과 경고는 후보를 빼지 않고 이쪽의 점수로 들어가 다른 득실과 함께 견주어집니다. 조건 하나를 적을 때마다 이것이 넘으면 안 되는 선인지, 견주어 볼 값인지를 먼저 가려야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유온을 가장 많이 내리는 팬 최대 운전과 부하 80 %가 성과에 닿는 길을 따라갑니다. 조치가 처음 건드리는 것은 AFFECTS로 이어진 설비의 값이며, 팬 속도를 올리면 냉각이 늘고 부하를 내리면 발열이 줄어 두 길이 유온에서 만나 인터록 여유가 늘어납니다. 같은 값이 다른 갈래로도 이어져서, 팬 속도를 올리면 전력 사용량이 늘고 부하를 내리면 생산량이 줄어 납기 준수율이 낮아집니다. 이렇게 한 조치가 한 목표에는 이롭고 다른 목표에는 해로운 것을 성과의 상충, Trade-off라고 하며, 조치를 고른다는 것은 이 득과 실을 저울질하는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후보를 견주려면 효과와 비용을 항목으로 나누어 계산하고, 항목마다 어느 업무 시스템의 어떤 값으로 계산했는지를 붙입니다. 즉시 제어 후보는 부하를 바꾸어 생산과 납기와 전력에 영향을 주고, 작업지시 후보는 발행 자체로 설비를 바꾸지 않지만 실제 정비에 드는 정지 시간과 작업비가 비용이 됩니다. 정비 정지 시간은 정비 관리 시스템의 표준 작업에서 가져오며, 그 조치의 표준 작업이 업무 데이터베이스에 없으면 값을 지어내지 않고 미확인으로 남깁니다. 표준 작업의 정지 시간은 계획한 값이어서, 실제로 고쳐서 다시 돌리기까지 걸린 시간과는 구별합니다.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통과한 네 후보에 점수가 매겨진 결과입니다. 설비가 원격 자동이고 팬은 60 %로 돌고 있었으므로 제외된 후보는 없고, 예측 유온은 같은 시점의 설비 상태에 후보마다 조치를 대어 계산한 평형값입니다. 유온을 가장 많이 내리는 팬 최대 운전과 부하 80 %는 공동 2순위였고, 5도 가까이 덜 내리는 팬 최대 운전이 1순위였으니 순위를 가른 기준이 유온 하나가 아닙니다. 원인을 없애는 쿨러 핀 세척은 작업지시를 내는 것만으로는 지금의 유온을 바꾸지 못해 예측이 62.5도에 머물고 경고가 붙어 4순위입니다.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점수는 서로 다른 성질의 근거를 정해 둔 식으로 비교하는 값입니다. 이 정책은 Rule의 rankingPolicy에 저장됩니다. 경고와 감점은 후보를 제외하지 않지만 점수에 영향을 줍니다. 정확한 식은 저장된 정책이 정하고, 점수 하나만으로 금전 손익이나 안전을 대신 판단하지 않습니다. 제외된 후보는 점수가 높아도 추천되지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추천안의 총점은 실제 기록에 있는 세 성분으로 검산합니다. 더 낮은 온도를 예측한 두 후보는 예측 점수가 같은 상한에 닿습니다. 따라서 예측 유온만 더 내린다고 종합 점수가 계속 오르지는 않습니다. 생산을 유지하는 이득도 함께 비교해야 합니다. 표시된 유온은 소수 첫째 자리 반올림이고 예측 성분은 반올림 전 값으로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상황이 달랐다면 순위도 달랐을지를 실제로 계산해 보는 방법이 What-if 분석입니다. 먼저 판단 한 건에 쓰인 후보와 규칙과 입력 값을 사본으로 떠 두고, 사본 안에서 납기까지 남은 시간이나 지연 위약금, 전력 단가, 감점 기준 같은 값 하나를 바꾸어 넣으며, 이렇게 실제와 다르게 넣는 값이 가정값입니다. 그 사본으로 판단 순위와 원 단위의 예상 손익 순위를 다시 계산해 지금의 값으로 낸 기준 결과와 나란히 놓습니다. 원본은 읽기만 하므로 가정값을 넣어 보아도 지식 그래프와 업무 데이터는 바뀌지 않고, 결과에 원본 그대로라는 표시가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운전을 기준으로 성분의 전후를 비교합니다. 연속 운전 시간은 설비 상태, 감점 기준은 규칙의 값, 납기는 업무 조건이라는 차이가 있습니다. 팬 30시간이면 24시간 초과 규칙으로 감점 20만 원이 붙고, 순위 정책은 이를 1점으로 바꿉니다. 감점 기준을 100만 원으로 바꾸면 5점이며 적용 대상은 팬을 올리는 두 후보뿐입니다. 납기 48시간에서는 납기 가산점이 0이 됩니다. 전체 순위가 어떻게 달라지는지는 같은 그래프와 모든 후보의 성분으로 다시 계산해야 합니다. 경계값은 1순위가 바뀌는 가정값이며, 그 값으로 재계산해 확인한 경우에만 확정합니다.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예측과 What-if는 입력과 모델의 계산이므로 실제 결과를 보장하지 않습니다. 쿨러 사건에서는 추천과 승인을 거쳐 팬 최대 운전을 실행하고, 유온과 경보 상태를 다시 읽어 결과를 보고했습니다. 마지막 칸은 매뉴얼의 완료 기준으로, 실제 처리 기록 전체가 그 기준을 충족했다는 뜻은 아닙니다. 핀 세척 작업지시의 등록과 실제 세척·재가동 뒤의 정비 완료도 구별합니다. 원인 진단에서 절차와 규정, 성과 비교를 거쳐 추천안을 만들고 사람의 승인과 실행 뒤 확인으로 잇는 것이 전체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 하나를 바꾼 전후 결과의 근거를 비교합니다. 이어 제공된 같은 기간의 설비별 여유로 평균과 최솟값을 구하고 안전 판단에 맞는 값을 고릅니다. 리뷰에서는 평균 계산이 맞는지와 그 값을 판단에 쓰는 것이 맞는지를 나누어 확인합니다. 마지막에는 완성본을 실행하여 계산과 판단의 연결을 확인하며, 시험 실행은 설비 명령이나 원본 KPI 정의를 변경하지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설명에서 제공 자료와 만들 결과를 확인한 뒤 바이브 코딩으로 구조화합니다. 리뷰는 원문과 나란히 놓고 빠진 조건이나 뒤바뀐 단계가 없는지 확인합니다. 마지막에는 완성 자료의 구조를 설명하고 입력에 따른 판정도 확인합니다. 원문 자동 추출을 만드는 실습은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판정 기능은 정상·경계·복수 일치·조치 불가를 확인합니다. 추가 과제에서는 조건식과 감점액은 그대로인데 적용 대상만 넓어진 수업용 오류 사본을 제공합니다. 학생은 팬을 올리는 조치와 그대로 두는 조치를 같은 입력으로 비교하여, 대상이 아닌 조치에 감점이 붙는 오류를 잡습니다. 기대 결과를 먼저 기록하고 사본을 수정한 뒤 같은 시험으로 확인하며, 마지막에는 완성본을 실행해 시험이 오류를 드러내는 까닭을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상황이 어떤 판단인지 먼저 고릅니다. 완료 기준은 SOP, 원격 조치의 가능 여부는 DMN 규칙, 냉각과 생산의 득실은 BSC 관점, 납기 가정의 전후 비교는 What-if에 연결됩니다. 답 이름을 외우기보다 어떤 근거를 확인해야 하는지 말해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약어와 핵심 용어를 모았습니다. 위의 넷은 조치 절차와 판단 규칙 쪽의 말이고, 가운데 둘은 결정표를 읽는 말이며, 아래 셋은 성과 평가 쪽의 말입니다. 정식 이름과 뜻을 한 줄씩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가능 여부가 조치의 효과가 아니라 설비의 상태로 정해진다는 것을 확인하는 시나리오 문항입니다. 보기마다 그 조치가 원격으로 보내는 설비 제어인지, 정비 작업지시인지를 따져 봅니다. 작업지시가 후보에 남는 것과 지금 현장에서 세척해도 되는 것이 같은지도 함께 생각해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입력이라도 Hit Policy에 따라 결과가 달라진다는 것을 확인하는 근거 구분 문항입니다. 어느 규칙이 맞았는지와, 맞은 출력들을 어떻게 다루는지를 나누어 따져 봅니다. 보기 2번과 3번이 각각 어떤 Hit Policy였다면 맞는 답이 되는지도 생각해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규칙이 가능 여부를 가르는 일과 점수가 효과를 견주는 일의 경계를 판단하는 문항입니다. 이 조치가 후보에 남아 있었는지, 남아 있었다면 무엇과 무엇을 맞바꾸었는지를 떠올립니다. 예측 성분에 상한이 있다는 것도 단서입니다.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4번은 팬을 건드리지 않더라도 부하를 원격으로 낮추는 설비 제어이므로 제외되고, 1번과 2번은 효과가 좋아도 운전 모드에서 이미 빠집니다. 둘째 문항의 2번은 First였다면, 3번은 Unique였다면 맞는 답이며, 4번처럼 감점과 경고는 후보를 빼지 않습니다. 셋째 문항의 1번은 원격 자동이었으므로 틀리고, 2번은 반대로 낮을수록 점수가 높으며, 3번의 승인 역할은 넷 가운데 셋이 같은 운전원입니다.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조치 절차 · 판단 규칙 · 성과 평가</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상황에 맞는 안전하고</a:t>
            </a:r>
          </a:p>
          <a:p>
            <a:pPr algn="l" eaLnBrk="0">
              <a:lnSpc>
                <a:spcPct val="110000"/>
              </a:lnSpc>
            </a:pPr>
            <a:r>
              <a:rPr sz="4000" b="1">
                <a:solidFill>
                  <a:srgbClr val="FFFFFF"/>
                </a:solidFill>
                <a:latin typeface="맑은 고딕"/>
                <a:ea typeface="맑은 고딕"/>
                <a:cs typeface="맑은 고딕"/>
              </a:rPr>
              <a:t>효과적인 조치 선택하기</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원인이 가려진 뒤 조치 절차를 구조화하고, 결정표로 가능 여부를 가리고, 성과 지표로 후보를 견준다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list-check" descr="list-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able" descr="table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cale" descr="scal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원인이 가려진 뒤 조치 하나를 고르기까지 필요한 절차, 판단 규칙, 성과 기준을 차례로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조치 절차</a:t>
            </a:r>
          </a:p>
          <a:p>
            <a:pPr algn="l" eaLnBrk="0" marL="182880" indent="-182880">
              <a:lnSpc>
                <a:spcPct val="110000"/>
              </a:lnSpc>
              <a:spcAft>
                <a:spcPts val="400"/>
              </a:spcAft>
            </a:pPr>
            <a:r>
              <a:rPr sz="1600" b="0">
                <a:solidFill>
                  <a:srgbClr val="1F2A3A"/>
                </a:solidFill>
                <a:latin typeface="맑은 고딕"/>
                <a:ea typeface="맑은 고딕"/>
                <a:cs typeface="맑은 고딕"/>
              </a:rPr>
              <a:t>• 절차의 여덟 구성요소를 원문에서 찾는다</a:t>
            </a:r>
          </a:p>
          <a:p>
            <a:pPr algn="l" eaLnBrk="0" marL="182880" indent="-182880">
              <a:lnSpc>
                <a:spcPct val="110000"/>
              </a:lnSpc>
              <a:spcAft>
                <a:spcPts val="400"/>
              </a:spcAft>
            </a:pPr>
            <a:r>
              <a:rPr sz="1600" b="0">
                <a:solidFill>
                  <a:srgbClr val="1F2A3A"/>
                </a:solidFill>
                <a:latin typeface="맑은 고딕"/>
                <a:ea typeface="맑은 고딕"/>
                <a:cs typeface="맑은 고딕"/>
              </a:rPr>
              <a:t>• 운전 상태에 따른 수행 가능 여부를 가린다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절차</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table" descr="table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판단 규칙</a:t>
            </a:r>
          </a:p>
          <a:p>
            <a:pPr algn="l" eaLnBrk="0" marL="182880" indent="-182880">
              <a:lnSpc>
                <a:spcPct val="110000"/>
              </a:lnSpc>
              <a:spcAft>
                <a:spcPts val="400"/>
              </a:spcAft>
            </a:pPr>
            <a:r>
              <a:rPr sz="1600" b="0">
                <a:solidFill>
                  <a:srgbClr val="1F2A3A"/>
                </a:solidFill>
                <a:latin typeface="맑은 고딕"/>
                <a:ea typeface="맑은 고딕"/>
                <a:cs typeface="맑은 고딕"/>
              </a:rPr>
              <a:t>• 조건 문장을 결정표의 행으로 옮긴다</a:t>
            </a:r>
          </a:p>
          <a:p>
            <a:pPr algn="l" eaLnBrk="0" marL="182880" indent="-182880">
              <a:lnSpc>
                <a:spcPct val="110000"/>
              </a:lnSpc>
              <a:spcAft>
                <a:spcPts val="400"/>
              </a:spcAft>
            </a:pPr>
            <a:r>
              <a:rPr sz="1600" b="0">
                <a:solidFill>
                  <a:srgbClr val="1F2A3A"/>
                </a:solidFill>
                <a:latin typeface="맑은 고딕"/>
                <a:ea typeface="맑은 고딕"/>
                <a:cs typeface="맑은 고딕"/>
              </a:rPr>
              <a:t>• 여러 행이 맞을 때의 판정과 근거를 설명한다</a:t>
            </a:r>
          </a:p>
        </p:txBody>
      </p:sp>
      <p:sp>
        <p:nvSpPr>
          <p:cNvPr id="16" name="Rounded Rectangle 15"/>
          <p:cNvSpPr/>
          <p:nvPr/>
        </p:nvSpPr>
        <p:spPr>
          <a:xfrm>
            <a:off x="3619423" y="542950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 규칙</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chart-bar" descr="chart-bar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성과 평가</a:t>
            </a:r>
          </a:p>
          <a:p>
            <a:pPr algn="l" eaLnBrk="0" marL="182880" indent="-182880">
              <a:lnSpc>
                <a:spcPct val="110000"/>
              </a:lnSpc>
              <a:spcAft>
                <a:spcPts val="400"/>
              </a:spcAft>
            </a:pPr>
            <a:r>
              <a:rPr sz="1600" b="0">
                <a:solidFill>
                  <a:srgbClr val="1F2A3A"/>
                </a:solidFill>
                <a:latin typeface="맑은 고딕"/>
                <a:ea typeface="맑은 고딕"/>
                <a:cs typeface="맑은 고딕"/>
              </a:rPr>
              <a:t>• 목표와 지표의 실제값을 읽는다</a:t>
            </a:r>
          </a:p>
          <a:p>
            <a:pPr algn="l" eaLnBrk="0" marL="182880" indent="-182880">
              <a:lnSpc>
                <a:spcPct val="110000"/>
              </a:lnSpc>
              <a:spcAft>
                <a:spcPts val="400"/>
              </a:spcAft>
            </a:pPr>
            <a:r>
              <a:rPr sz="1600" b="0">
                <a:solidFill>
                  <a:srgbClr val="1F2A3A"/>
                </a:solidFill>
                <a:latin typeface="맑은 고딕"/>
                <a:ea typeface="맑은 고딕"/>
                <a:cs typeface="맑은 고딕"/>
              </a:rPr>
              <a:t>• 후보의 득실과 가정값의 영향을 비교한다</a:t>
            </a:r>
          </a:p>
        </p:txBody>
      </p:sp>
      <p:sp>
        <p:nvSpPr>
          <p:cNvPr id="22" name="Rounded Rectangle 21"/>
          <p:cNvSpPr/>
          <p:nvPr/>
        </p:nvSpPr>
        <p:spPr>
          <a:xfrm>
            <a:off x="6461607" y="5429504"/>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성과 평가</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조치 기준 · 판단 기능</a:t>
            </a:r>
          </a:p>
          <a:p>
            <a:pPr algn="l" eaLnBrk="0" marL="182880" indent="-182880">
              <a:lnSpc>
                <a:spcPct val="110000"/>
              </a:lnSpc>
              <a:spcAft>
                <a:spcPts val="400"/>
              </a:spcAft>
            </a:pPr>
            <a:r>
              <a:rPr sz="1600" b="0">
                <a:solidFill>
                  <a:srgbClr val="1F2A3A"/>
                </a:solidFill>
                <a:latin typeface="맑은 고딕"/>
                <a:ea typeface="맑은 고딕"/>
                <a:cs typeface="맑은 고딕"/>
              </a:rPr>
              <a:t>• 절차 구조와 결정표 자료를 만든다</a:t>
            </a:r>
          </a:p>
          <a:p>
            <a:pPr algn="l" eaLnBrk="0" marL="182880" indent="-182880">
              <a:lnSpc>
                <a:spcPct val="110000"/>
              </a:lnSpc>
              <a:spcAft>
                <a:spcPts val="400"/>
              </a:spcAft>
            </a:pPr>
            <a:r>
              <a:rPr sz="1600" b="0">
                <a:solidFill>
                  <a:srgbClr val="1F2A3A"/>
                </a:solidFill>
                <a:latin typeface="맑은 고딕"/>
                <a:ea typeface="맑은 고딕"/>
                <a:cs typeface="맑은 고딕"/>
              </a:rPr>
              <a:t>• 판정 기능을 네 입력으로 검증한다</a:t>
            </a:r>
          </a:p>
        </p:txBody>
      </p:sp>
      <p:sp>
        <p:nvSpPr>
          <p:cNvPr id="28" name="Rounded Rectangle 27"/>
          <p:cNvSpPr/>
          <p:nvPr/>
        </p:nvSpPr>
        <p:spPr>
          <a:xfrm>
            <a:off x="9303791" y="5429504"/>
            <a:ext cx="11734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결과물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SOP: 작업 절차와 수행 조건</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SOP를 지식과 실행에 연결하기</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DMN: 문장을 결정표로 바꾸기</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DMN 규칙의 적용과 판단 근거</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DMN: 판단 흐름과 지식 구조</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BSC: 성과 목표와 KPI</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전략맵과 성과 지표의 영향 관계</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조치의 상충과 What-if 분석</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 결과 비교 · 조치 기준 만들기 · 판단 기능 만들기</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SOP: 작업 절차와 수행 조건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원인이 가려진 뒤 조치를 고를 때 필요한 절차의 구성요소와 수행 조건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원인에 대한 네 가지 조치 후보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핀 오염에 대응하는 조치라도 생산 유지 · 감산 · 정지가 달라, 원인 진단 뒤에 조치 선택이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출발점과 후보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바꾸는 설정</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생산 영향</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성능 저하 경보</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11:13:08 · 유온 55.71 ℃ · 냉각 효율 46.2 %</a:t>
            </a:r>
          </a:p>
          <a:p>
            <a:pPr algn="l" eaLnBrk="0">
              <a:lnSpc>
                <a:spcPct val="110000"/>
              </a:lnSpc>
            </a:pPr>
            <a:r>
              <a:rPr sz="1400" b="0">
                <a:solidFill>
                  <a:srgbClr val="1F2A3A"/>
                </a:solidFill>
                <a:latin typeface="맑은 고딕"/>
                <a:ea typeface="맑은 고딕"/>
                <a:cs typeface="맑은 고딕"/>
              </a:rPr>
              <a:t>증거를 대조해 가린 원인: 쿨러 핀 오염</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진단의 답</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SOP-COOL-11 팬 최대 운전</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속도 60 → 100 %</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유지</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SOP-COOL-12 팬 최대 운전과 부하 80 %</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속도 100 % · 펌프 부하 90 → 80 %</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속도 감소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SOP-COOL-13 부하 70 %와 야간 핀 세척</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팬은 그대로, 펌프 부하 70 %</a:t>
            </a:r>
          </a:p>
          <a:p>
            <a:pPr algn="l" eaLnBrk="0">
              <a:lnSpc>
                <a:spcPct val="110000"/>
              </a:lnSpc>
            </a:pPr>
            <a:r>
              <a:rPr sz="1400" b="0">
                <a:solidFill>
                  <a:srgbClr val="1F2A3A"/>
                </a:solidFill>
                <a:latin typeface="맑은 고딕"/>
                <a:ea typeface="맑은 고딕"/>
                <a:cs typeface="맑은 고딕"/>
              </a:rPr>
              <a:t>야간 정비 시간에 핀 세척 작업지시를 건다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속도 감소</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SOP-COOL-14 쿨러 핀 세척</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설비를 세우고 압축공기로 핀을 세척한다</a:t>
            </a:r>
          </a:p>
          <a:p>
            <a:pPr algn="l" eaLnBrk="0">
              <a:lnSpc>
                <a:spcPct val="110000"/>
              </a:lnSpc>
            </a:pPr>
            <a:r>
              <a:rPr sz="1400" b="0">
                <a:solidFill>
                  <a:srgbClr val="1F2A3A"/>
                </a:solidFill>
                <a:latin typeface="맑은 고딕"/>
                <a:ea typeface="맑은 고딕"/>
                <a:cs typeface="맑은 고딕"/>
              </a:rPr>
              <a:t>원인인 핀 오염 자체를 없앤다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정비 동안 정지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 작업의 순서와 수행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SOP는 누가 수행해도 같은 순서와 확인 기준으로 작업하도록 문서로 정해 둔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발췌</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p>
          <a:p>
            <a:pPr algn="l" eaLnBrk="0">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현장에서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조작이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들어와</a:t>
            </a:r>
          </a:p>
          <a:p>
            <a:pPr algn="l" eaLnBrk="0">
              <a:lnSpc>
                <a:spcPct val="110000"/>
              </a:lnSpc>
              <a:spcAft>
                <a:spcPts val="200"/>
              </a:spcAft>
            </a:pPr>
            <a:r>
              <a:rPr sz="1300" b="0">
                <a:solidFill>
                  <a:srgbClr val="E8EEF6"/>
                </a:solidFill>
                <a:latin typeface="Consolas"/>
                <a:ea typeface="맑은 고딕"/>
                <a:cs typeface="맑은 고딕"/>
              </a:rPr>
              <a:t>REMOTE_MANUAL</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부하는</a:t>
            </a:r>
            <a:r>
              <a:rPr sz="1300" b="0">
                <a:solidFill>
                  <a:srgbClr val="E8EEF6"/>
                </a:solidFill>
                <a:latin typeface="Consolas"/>
                <a:ea typeface="맑은 고딕"/>
                <a:cs typeface="맑은 고딕"/>
              </a:rPr>
              <a:t> 60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eaLnBrk="0">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운전은</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유지된다</a:t>
            </a: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SOP(Standard Operating Procedure)</a:t>
            </a:r>
          </a:p>
          <a:p>
            <a:pPr algn="l" eaLnBrk="0">
              <a:lnSpc>
                <a:spcPct val="110000"/>
              </a:lnSpc>
              <a:spcAft>
                <a:spcPts val="400"/>
              </a:spcAft>
            </a:pPr>
            <a:r>
              <a:rPr sz="1400" b="0">
                <a:solidFill>
                  <a:srgbClr val="1F2A3A"/>
                </a:solidFill>
                <a:latin typeface="맑은 고딕"/>
                <a:ea typeface="맑은 고딕"/>
                <a:cs typeface="맑은 고딕"/>
              </a:rPr>
              <a:t>표준 작업 절차. 경험이 다른 사람이 해도 순서와 확인이 같아진다.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절차 번호 SOP-COOL-11</a:t>
            </a:r>
          </a:p>
          <a:p>
            <a:pPr algn="l" eaLnBrk="0">
              <a:lnSpc>
                <a:spcPct val="110000"/>
              </a:lnSpc>
              <a:spcAft>
                <a:spcPts val="400"/>
              </a:spcAft>
            </a:pPr>
            <a:r>
              <a:rPr sz="1400" b="0">
                <a:solidFill>
                  <a:srgbClr val="1F2A3A"/>
                </a:solidFill>
                <a:latin typeface="맑은 고딕"/>
                <a:ea typeface="맑은 고딕"/>
                <a:cs typeface="맑은 고딕"/>
              </a:rPr>
              <a:t>추천 · 승인 · 작업 기록이 같은 절차를 가리키는 식별자이다.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번호 붙은 단계</a:t>
            </a:r>
          </a:p>
          <a:p>
            <a:pPr algn="l" eaLnBrk="0">
              <a:lnSpc>
                <a:spcPct val="110000"/>
              </a:lnSpc>
              <a:spcAft>
                <a:spcPts val="400"/>
              </a:spcAft>
            </a:pPr>
            <a:r>
              <a:rPr sz="1400" b="0">
                <a:solidFill>
                  <a:srgbClr val="1F2A3A"/>
                </a:solidFill>
                <a:latin typeface="맑은 고딕"/>
                <a:ea typeface="맑은 고딕"/>
                <a:cs typeface="맑은 고딕"/>
              </a:rPr>
              <a:t>확인 → 수행 → 15분 재관측의 차례. 3단계는 판정 기준이 적힌 HM-8.6을 가리킨다.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절의 머리와 마지막 줄</a:t>
            </a:r>
          </a:p>
          <a:p>
            <a:pPr algn="l" eaLnBrk="0">
              <a:lnSpc>
                <a:spcPct val="110000"/>
              </a:lnSpc>
              <a:spcAft>
                <a:spcPts val="400"/>
              </a:spcAft>
            </a:pPr>
            <a:r>
              <a:rPr sz="1400" b="0">
                <a:solidFill>
                  <a:srgbClr val="1F2A3A"/>
                </a:solidFill>
                <a:latin typeface="맑은 고딕"/>
                <a:ea typeface="맑은 고딕"/>
                <a:cs typeface="맑은 고딕"/>
              </a:rPr>
              <a:t>절 전체에 걸리는 조건(운전 모드 · 최소 부하)과 승인 역할 · 생산 영향.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SOP를 이루는 여덟 구성요소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단계만 적은 메모와 달리 SOP는 쓸 때와 갖출 것, 하지 말 것, 끝낼 때까지 여덟 항목으로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원문 예</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적용 대상</a:t>
            </a:r>
          </a:p>
        </p:txBody>
      </p:sp>
      <p:sp>
        <p:nvSpPr>
          <p:cNvPr id="12" name="TextBox 11"/>
          <p:cNvSpPr txBox="1"/>
          <p:nvPr/>
        </p:nvSpPr>
        <p:spPr>
          <a:xfrm>
            <a:off x="3200400" y="2029968"/>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냉각 성능 상실은 오일 쿨러에서 생기는 고장이며 유온 상승과 냉각 효율 저하로 나타난다.」</a:t>
            </a:r>
          </a:p>
        </p:txBody>
      </p:sp>
      <p:sp>
        <p:nvSpPr>
          <p:cNvPr id="13" name="TextBox 12"/>
          <p:cNvSpPr txBox="1"/>
          <p:nvPr/>
        </p:nvSpPr>
        <p:spPr>
          <a:xfrm>
            <a:off x="9448495" y="2029968"/>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HM-8.4</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작업 전제 조건</a:t>
            </a:r>
          </a:p>
        </p:txBody>
      </p:sp>
      <p:sp>
        <p:nvSpPr>
          <p:cNvPr id="16" name="TextBox 15"/>
          <p:cNvSpPr txBox="1"/>
          <p:nvPr/>
        </p:nvSpPr>
        <p:spPr>
          <a:xfrm>
            <a:off x="3200400" y="2570607"/>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조치는 PLC 운전 모드가 REMOTE_AUTO일 때만 한다.」</a:t>
            </a:r>
          </a:p>
        </p:txBody>
      </p:sp>
      <p:sp>
        <p:nvSpPr>
          <p:cNvPr id="17" name="TextBox 16"/>
          <p:cNvSpPr txBox="1"/>
          <p:nvPr/>
        </p:nvSpPr>
        <p:spPr>
          <a:xfrm>
            <a:off x="9448495" y="2570607"/>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HM-8.5</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안전 조건</a:t>
            </a:r>
          </a:p>
        </p:txBody>
      </p:sp>
      <p:sp>
        <p:nvSpPr>
          <p:cNvPr id="20" name="TextBox 19"/>
          <p:cNvSpPr txBox="1"/>
          <p:nvPr/>
        </p:nvSpPr>
        <p:spPr>
          <a:xfrm>
            <a:off x="3200400" y="3111246"/>
            <a:ext cx="6156655" cy="540639"/>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「설비를 정지하고 현장 패널에서 LOCAL로 전환한 뒤 잠금(LOTO)을 건다.」</a:t>
            </a:r>
          </a:p>
          <a:p>
            <a:pPr algn="l" eaLnBrk="0">
              <a:lnSpc>
                <a:spcPct val="110000"/>
              </a:lnSpc>
            </a:pPr>
            <a:r>
              <a:rPr sz="1350" b="0">
                <a:solidFill>
                  <a:srgbClr val="1F2A3A"/>
                </a:solidFill>
                <a:latin typeface="맑은 고딕"/>
                <a:ea typeface="맑은 고딕"/>
                <a:cs typeface="맑은 고딕"/>
              </a:rPr>
              <a:t>LOTO(Lockout/Tagout): 에너지원을 잠그고 표지를 단다</a:t>
            </a:r>
          </a:p>
        </p:txBody>
      </p:sp>
      <p:sp>
        <p:nvSpPr>
          <p:cNvPr id="21" name="TextBox 20"/>
          <p:cNvSpPr txBox="1"/>
          <p:nvPr/>
        </p:nvSpPr>
        <p:spPr>
          <a:xfrm>
            <a:off x="9448495" y="3111246"/>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SOP-COOL-14 1단계</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준비사항</a:t>
            </a:r>
          </a:p>
        </p:txBody>
      </p:sp>
      <p:sp>
        <p:nvSpPr>
          <p:cNvPr id="24" name="TextBox 23"/>
          <p:cNvSpPr txBox="1"/>
          <p:nvPr/>
        </p:nvSpPr>
        <p:spPr>
          <a:xfrm>
            <a:off x="3200400" y="3651885"/>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「정비 인원 4명과 씰 키트 2개를 확보한다.」</a:t>
            </a:r>
          </a:p>
        </p:txBody>
      </p:sp>
      <p:sp>
        <p:nvSpPr>
          <p:cNvPr id="25" name="TextBox 24"/>
          <p:cNvSpPr txBox="1"/>
          <p:nvPr/>
        </p:nvSpPr>
        <p:spPr>
          <a:xfrm>
            <a:off x="9448495" y="3651885"/>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PM-02 SOP-PM-14 3단계</a:t>
            </a:r>
          </a:p>
        </p:txBody>
      </p:sp>
      <p:sp>
        <p:nvSpPr>
          <p:cNvPr id="26" name="Rounded Rectangle 25"/>
          <p:cNvSpPr/>
          <p:nvPr/>
        </p:nvSpPr>
        <p:spPr>
          <a:xfrm>
            <a:off x="548640" y="4224528"/>
            <a:ext cx="11094415" cy="476631"/>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수행 단계</a:t>
            </a:r>
          </a:p>
        </p:txBody>
      </p:sp>
      <p:sp>
        <p:nvSpPr>
          <p:cNvPr id="28" name="TextBox 27"/>
          <p:cNvSpPr txBox="1"/>
          <p:nvPr/>
        </p:nvSpPr>
        <p:spPr>
          <a:xfrm>
            <a:off x="3200400" y="4192524"/>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 운전 모드 확인 → 2. 팬 100 % → 3. 15분 재관측</a:t>
            </a:r>
          </a:p>
        </p:txBody>
      </p:sp>
      <p:sp>
        <p:nvSpPr>
          <p:cNvPr id="29" name="TextBox 28"/>
          <p:cNvSpPr txBox="1"/>
          <p:nvPr/>
        </p:nvSpPr>
        <p:spPr>
          <a:xfrm>
            <a:off x="9448495" y="4192524"/>
            <a:ext cx="2103120" cy="540639"/>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SOP-COOL-11</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금지 사항</a:t>
            </a:r>
          </a:p>
        </p:txBody>
      </p:sp>
      <p:sp>
        <p:nvSpPr>
          <p:cNvPr id="32" name="TextBox 31"/>
          <p:cNvSpPr txBox="1"/>
          <p:nvPr/>
        </p:nvSpPr>
        <p:spPr>
          <a:xfrm>
            <a:off x="3200400" y="4733163"/>
            <a:ext cx="6156655" cy="540639"/>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「펌프 부하를 60 % 미만으로 설정하지 않는다.」 「고압수는 쓰지 않는다.」</a:t>
            </a:r>
          </a:p>
        </p:txBody>
      </p:sp>
      <p:sp>
        <p:nvSpPr>
          <p:cNvPr id="33" name="TextBox 32"/>
          <p:cNvSpPr txBox="1"/>
          <p:nvPr/>
        </p:nvSpPr>
        <p:spPr>
          <a:xfrm>
            <a:off x="9448495" y="4733163"/>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HM-8.8</a:t>
            </a:r>
          </a:p>
          <a:p>
            <a:pPr algn="l" eaLnBrk="0">
              <a:lnSpc>
                <a:spcPct val="110000"/>
              </a:lnSpc>
            </a:pPr>
            <a:r>
              <a:rPr sz="1250" b="1">
                <a:solidFill>
                  <a:srgbClr val="556175"/>
                </a:solidFill>
                <a:latin typeface="맑은 고딕"/>
                <a:ea typeface="맑은 고딕"/>
                <a:cs typeface="맑은 고딕"/>
              </a:rPr>
              <a:t>SOP-COOL-14 2단계</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담당 역할</a:t>
            </a:r>
          </a:p>
        </p:txBody>
      </p:sp>
      <p:sp>
        <p:nvSpPr>
          <p:cNvPr id="36" name="TextBox 35"/>
          <p:cNvSpPr txBox="1"/>
          <p:nvPr/>
        </p:nvSpPr>
        <p:spPr>
          <a:xfrm>
            <a:off x="3200400" y="5273802"/>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운전원.」 「승인은 설비보전팀장이 한다.」</a:t>
            </a:r>
          </a:p>
        </p:txBody>
      </p:sp>
      <p:sp>
        <p:nvSpPr>
          <p:cNvPr id="37" name="TextBox 36"/>
          <p:cNvSpPr txBox="1"/>
          <p:nvPr/>
        </p:nvSpPr>
        <p:spPr>
          <a:xfrm>
            <a:off x="9448495" y="5273802"/>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HM-8.5</a:t>
            </a:r>
          </a:p>
          <a:p>
            <a:pPr algn="l" eaLnBrk="0">
              <a:lnSpc>
                <a:spcPct val="110000"/>
              </a:lnSpc>
            </a:pPr>
            <a:r>
              <a:rPr sz="1250" b="1">
                <a:solidFill>
                  <a:srgbClr val="556175"/>
                </a:solidFill>
                <a:latin typeface="맑은 고딕"/>
                <a:ea typeface="맑은 고딕"/>
                <a:cs typeface="맑은 고딕"/>
              </a:rPr>
              <a:t>HM-8.7</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완료 확인 기준</a:t>
            </a:r>
          </a:p>
        </p:txBody>
      </p:sp>
      <p:sp>
        <p:nvSpPr>
          <p:cNvPr id="40" name="TextBox 39"/>
          <p:cNvSpPr txBox="1"/>
          <p:nvPr/>
        </p:nvSpPr>
        <p:spPr>
          <a:xfrm>
            <a:off x="3200400" y="5814441"/>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「조치 뒤 15분 동안 TS1이 55 ℃ 미만이고 경보가 해제된 상태가 유지되면 완화에 성공한 것이다.」</a:t>
            </a:r>
          </a:p>
        </p:txBody>
      </p:sp>
      <p:sp>
        <p:nvSpPr>
          <p:cNvPr id="41" name="TextBox 40"/>
          <p:cNvSpPr txBox="1"/>
          <p:nvPr/>
        </p:nvSpPr>
        <p:spPr>
          <a:xfrm>
            <a:off x="9448495" y="5814441"/>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준비사항과 안전 조건의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인원과 부품을 갖추는 준비사항과, 설비를 세우고 잠그고 잔압을 빼는 안전 조건은 확인하는 대상이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원문 (PM-02 정기 점검표)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확인하는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준비사항</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「정비 인원 4명과 씰 키트 2개를 확보한다.」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SOP-PM-14 3단계</a:t>
            </a:r>
          </a:p>
          <a:p>
            <a:pPr algn="l" eaLnBrk="0">
              <a:lnSpc>
                <a:spcPct val="110000"/>
              </a:lnSpc>
            </a:pPr>
            <a:r>
              <a:rPr sz="1250" b="1">
                <a:solidFill>
                  <a:srgbClr val="556175"/>
                </a:solidFill>
                <a:latin typeface="맑은 고딕"/>
                <a:ea typeface="맑은 고딕"/>
                <a:cs typeface="맑은 고딕"/>
              </a:rPr>
              <a:t>사람 · 부품</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안전 조건: 정지와 잠금</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「설비를 정지하고 현장 패널에서 LOCAL로 전환한 뒤 잠금(LOTO)을 건다.」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SOP-PM-21 1단계</a:t>
            </a:r>
          </a:p>
          <a:p>
            <a:pPr algn="l" eaLnBrk="0">
              <a:lnSpc>
                <a:spcPct val="110000"/>
              </a:lnSpc>
            </a:pPr>
            <a:r>
              <a:rPr sz="1250" b="1">
                <a:solidFill>
                  <a:srgbClr val="1A6FC4"/>
                </a:solidFill>
                <a:latin typeface="맑은 고딕"/>
                <a:ea typeface="맑은 고딕"/>
                <a:cs typeface="맑은 고딕"/>
              </a:rPr>
              <a:t>설비 상태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안전 조건: 잔압 해제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「펌프 모터 전원을 차단하고 어큐뮬레이터 잔압을 탱크로 배출한다.」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SOP-PM-21 2단계</a:t>
            </a:r>
          </a:p>
          <a:p>
            <a:pPr algn="l" eaLnBrk="0">
              <a:lnSpc>
                <a:spcPct val="110000"/>
              </a:lnSpc>
            </a:pPr>
            <a:r>
              <a:rPr sz="1250" b="1">
                <a:solidFill>
                  <a:srgbClr val="556175"/>
                </a:solidFill>
                <a:latin typeface="맑은 고딕"/>
                <a:ea typeface="맑은 고딕"/>
                <a:cs typeface="맑은 고딕"/>
              </a:rPr>
              <a:t>남은 에너지</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안전 조건: 압력 확인</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「압력계 PS1이 0 bar인지 확인한 뒤에만 배관을 연다.」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SOP-PM-21 3단계</a:t>
            </a:r>
          </a:p>
          <a:p>
            <a:pPr algn="l" eaLnBrk="0">
              <a:lnSpc>
                <a:spcPct val="110000"/>
              </a:lnSpc>
            </a:pPr>
            <a:r>
              <a:rPr sz="1250" b="1">
                <a:solidFill>
                  <a:srgbClr val="556175"/>
                </a:solidFill>
                <a:latin typeface="맑은 고딕"/>
                <a:ea typeface="맑은 고딕"/>
                <a:cs typeface="맑은 고딕"/>
              </a:rPr>
              <a:t>측정값</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안전 조건을 두는 까닭</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「잔압이 남은 유압 회로를 열면 작동유가 분출해 다칠 수 있다.」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PM-2.6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운전 모드에 따른 원격 조치의 가능 여부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팬 최대 운전도 운전 모드가 원격 자동일 때만 후보에 남고, 원격 수동과 현장 제어에서는 제외된다.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운전 모드 · 조치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후보에</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REMOTE_AUTO 원격 자동</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상위 시스템이 보낸 명령을 받는다. 쿨러 사건 당시의 모드</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원격 제어: 남는다</a:t>
            </a:r>
          </a:p>
          <a:p>
            <a:pPr algn="l" eaLnBrk="0">
              <a:lnSpc>
                <a:spcPct val="110000"/>
              </a:lnSpc>
            </a:pPr>
            <a:r>
              <a:rPr sz="1250" b="1">
                <a:solidFill>
                  <a:srgbClr val="1A6FC4"/>
                </a:solidFill>
                <a:latin typeface="맑은 고딕"/>
                <a:ea typeface="맑은 고딕"/>
                <a:cs typeface="맑은 고딕"/>
              </a:rPr>
              <a:t>작업지시: 남는다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REMOTE_MANUAL 원격 수동</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운전원이 운전 화면에서 수동으로 조작하고 있다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원격 제어: 제외</a:t>
            </a:r>
          </a:p>
          <a:p>
            <a:pPr algn="l" eaLnBrk="0">
              <a:lnSpc>
                <a:spcPct val="110000"/>
              </a:lnSpc>
            </a:pPr>
            <a:r>
              <a:rPr sz="1250" b="1">
                <a:solidFill>
                  <a:srgbClr val="556175"/>
                </a:solidFill>
                <a:latin typeface="맑은 고딕"/>
                <a:ea typeface="맑은 고딕"/>
                <a:cs typeface="맑은 고딕"/>
              </a:rPr>
              <a:t>작업지시: 남는다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LOCAL 현장 제어</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작업자가 현장 패널에서 직접 제어하고 있다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원격 제어: 제외</a:t>
            </a:r>
          </a:p>
          <a:p>
            <a:pPr algn="l" eaLnBrk="0">
              <a:lnSpc>
                <a:spcPct val="110000"/>
              </a:lnSpc>
            </a:pPr>
            <a:r>
              <a:rPr sz="1250" b="1">
                <a:solidFill>
                  <a:srgbClr val="556175"/>
                </a:solidFill>
                <a:latin typeface="맑은 고딕"/>
                <a:ea typeface="맑은 고딕"/>
                <a:cs typeface="맑은 고딕"/>
              </a:rPr>
              <a:t>작업지시: 남는다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원격 제어 후보</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SOP-COOL-11 · 12 · 13: 팬 속도나 펌프 부하를 원격 명령으로 바꾼다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HM-8.8</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정비 작업지시 후보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SOP-COOL-14: 작업지시를 발행한다. 현장 세척은 정지 · LOCAL · 잠금 뒤에 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HM-8.7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SOP를 지식과 실행에 연결하기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절차를 고장 유형 · 근거 문서 · 승인 역할 · 실행 동작과 잇는 구조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 원문과 조치 방법(Skill) · 작업 단계(Step)</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 한 편은 조치 방법(Skill) 하나가 되고, 번호 붙은 단계는 순서와 근거 절을 가진 작업 단계(Step)가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HM-8.5</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구조화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노드와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관계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(:Skill {sopId: 'SOP-COOL-11',</a:t>
            </a:r>
          </a:p>
          <a:p>
            <a:pPr algn="l" eaLnBrk="0">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kind: 'control'})</a:t>
            </a:r>
          </a:p>
          <a:p>
            <a:pPr algn="l" eaLnBrk="0">
              <a:lnSpc>
                <a:spcPct val="110000"/>
              </a:lnSpc>
              <a:spcAft>
                <a:spcPts val="200"/>
              </a:spcAft>
            </a:pPr>
            <a:r>
              <a:rPr sz="1300" b="0">
                <a:solidFill>
                  <a:srgbClr val="E8EEF6"/>
                </a:solidFill>
                <a:latin typeface="Consolas"/>
                <a:ea typeface="맑은 고딕"/>
                <a:cs typeface="맑은 고딕"/>
              </a:rPr>
              <a:t>(:Skill)-[:HAS_STEP]-&gt;</a:t>
            </a:r>
          </a:p>
          <a:p>
            <a:pPr algn="l" eaLnBrk="0">
              <a:lnSpc>
                <a:spcPct val="110000"/>
              </a:lnSpc>
              <a:spcAft>
                <a:spcPts val="200"/>
              </a:spcAft>
            </a:pPr>
            <a:r>
              <a:rPr sz="1300" b="0">
                <a:solidFill>
                  <a:srgbClr val="E8EEF6"/>
                </a:solidFill>
                <a:latin typeface="Consolas"/>
                <a:ea typeface="맑은 고딕"/>
                <a:cs typeface="맑은 고딕"/>
              </a:rPr>
              <a:t>    (:Step {order: 2, text: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(:Step)-[:REFERS_TO]-&gt;</a:t>
            </a:r>
          </a:p>
          <a:p>
            <a:pPr algn="l" eaLnBrk="0">
              <a:lnSpc>
                <a:spcPct val="110000"/>
              </a:lnSpc>
              <a:spcAft>
                <a:spcPts val="200"/>
              </a:spcAft>
            </a:pPr>
            <a:r>
              <a:rPr sz="1300" b="0">
                <a:solidFill>
                  <a:srgbClr val="E8EEF6"/>
                </a:solidFill>
                <a:latin typeface="Consolas"/>
                <a:ea typeface="맑은 고딕"/>
                <a:cs typeface="맑은 고딕"/>
              </a:rPr>
              <a:t>    (:ManualSection {ref: 'HM-8.5'})</a:t>
            </a:r>
          </a:p>
          <a:p>
            <a:pPr algn="l" eaLnBrk="0">
              <a:lnSpc>
                <a:spcPct val="110000"/>
              </a:lnSpc>
              <a:spcAft>
                <a:spcPts val="200"/>
              </a:spcAft>
            </a:pPr>
            <a:r>
              <a:rPr sz="1300" b="0">
                <a:solidFill>
                  <a:srgbClr val="E8EEF6"/>
                </a:solidFill>
                <a:latin typeface="Consolas"/>
                <a:ea typeface="맑은 고딕"/>
                <a:cs typeface="맑은 고딕"/>
              </a:rPr>
              <a:t>(:Skill)-[:APPROVED_BY]-&gt;(:Role {name: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Skill · sopId</a:t>
            </a:r>
          </a:p>
          <a:p>
            <a:pPr algn="l" eaLnBrk="0">
              <a:lnSpc>
                <a:spcPct val="110000"/>
              </a:lnSpc>
              <a:spcAft>
                <a:spcPts val="400"/>
              </a:spcAft>
            </a:pPr>
            <a:r>
              <a:rPr sz="1400" b="0">
                <a:solidFill>
                  <a:srgbClr val="1F2A3A"/>
                </a:solidFill>
                <a:latin typeface="맑은 고딕"/>
                <a:ea typeface="맑은 고딕"/>
                <a:cs typeface="맑은 고딕"/>
              </a:rPr>
              <a:t>SOP 한 편이 조치 방법 노드 하나이다. 절차 번호를 식별자로 그대로 쓴다.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Step · order</a:t>
            </a:r>
          </a:p>
          <a:p>
            <a:pPr algn="l" eaLnBrk="0">
              <a:lnSpc>
                <a:spcPct val="110000"/>
              </a:lnSpc>
              <a:spcAft>
                <a:spcPts val="400"/>
              </a:spcAft>
            </a:pPr>
            <a:r>
              <a:rPr sz="1400" b="0">
                <a:solidFill>
                  <a:srgbClr val="1F2A3A"/>
                </a:solidFill>
                <a:latin typeface="맑은 고딕"/>
                <a:ea typeface="맑은 고딕"/>
                <a:cs typeface="맑은 고딕"/>
              </a:rPr>
              <a:t>번호 붙은 단계 하나가 Step 하나이다. order가 순서를 지킨다.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HAS_STEP · REFERS_TO</a:t>
            </a:r>
          </a:p>
          <a:p>
            <a:pPr algn="l" eaLnBrk="0">
              <a:lnSpc>
                <a:spcPct val="110000"/>
              </a:lnSpc>
              <a:spcAft>
                <a:spcPts val="400"/>
              </a:spcAft>
            </a:pPr>
            <a:r>
              <a:rPr sz="1400" b="0">
                <a:solidFill>
                  <a:srgbClr val="1F2A3A"/>
                </a:solidFill>
                <a:latin typeface="맑은 고딕"/>
                <a:ea typeface="맑은 고딕"/>
                <a:cs typeface="맑은 고딕"/>
              </a:rPr>
              <a:t>조치 방법에서 단계로, 단계에서 근거 절로. 추천에 출처 절이 따라 나온다.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따로 칸이 없는 항목</a:t>
            </a:r>
          </a:p>
          <a:p>
            <a:pPr algn="l" eaLnBrk="0">
              <a:lnSpc>
                <a:spcPct val="110000"/>
              </a:lnSpc>
              <a:spcAft>
                <a:spcPts val="400"/>
              </a:spcAft>
            </a:pPr>
            <a:r>
              <a:rPr sz="1400" b="0">
                <a:solidFill>
                  <a:srgbClr val="1F2A3A"/>
                </a:solidFill>
                <a:latin typeface="맑은 고딕"/>
                <a:ea typeface="맑은 고딕"/>
                <a:cs typeface="맑은 고딕"/>
              </a:rPr>
              <a:t>전제 · 금지 · 완료 기준은 단계 문장과 판단 규칙으로 옮겨진다.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즉시 완화 · 근본 조치 · 예방 조치의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즉시 완화는 고장의 영향을, 근본 조치는 원인을, 예방 조치는 고장이 나기 전의 마모를 겨냥한다.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조치와 관계</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겨냥하는 것과 HYD의 예</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쓰이는 때</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즉시 완화(MITIGATED_BY)</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고장의 영향을 지금 줄인다. 원인은 남는다</a:t>
            </a:r>
          </a:p>
          <a:p>
            <a:pPr algn="l" eaLnBrk="0">
              <a:lnSpc>
                <a:spcPct val="110000"/>
              </a:lnSpc>
            </a:pPr>
            <a:r>
              <a:rPr sz="1400" b="0">
                <a:solidFill>
                  <a:srgbClr val="1F2A3A"/>
                </a:solidFill>
                <a:latin typeface="맑은 고딕"/>
                <a:ea typeface="맑은 고딕"/>
                <a:cs typeface="맑은 고딕"/>
              </a:rPr>
              <a:t>예: SOP-COOL-11 · 12 · 13, 팬 최대 운전 · 부하 조정</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직후</a:t>
            </a:r>
          </a:p>
          <a:p>
            <a:pPr algn="l" eaLnBrk="0">
              <a:lnSpc>
                <a:spcPct val="110000"/>
              </a:lnSpc>
            </a:pPr>
            <a:r>
              <a:rPr sz="1250" b="1">
                <a:solidFill>
                  <a:srgbClr val="556175"/>
                </a:solidFill>
                <a:latin typeface="맑은 고딕"/>
                <a:ea typeface="맑은 고딕"/>
                <a:cs typeface="맑은 고딕"/>
              </a:rPr>
              <a:t>설비 제어</a:t>
            </a:r>
          </a:p>
        </p:txBody>
      </p:sp>
      <p:sp>
        <p:nvSpPr>
          <p:cNvPr id="14" name="Rounded Rectangle 13"/>
          <p:cNvSpPr/>
          <p:nvPr/>
        </p:nvSpPr>
        <p:spPr>
          <a:xfrm>
            <a:off x="548640" y="37673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근본 조치(REMEDIED_BY)</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고장을 일으킨 원인을 없앤다. 원인 한정이면 ADDRESSES를 단다</a:t>
            </a:r>
          </a:p>
          <a:p>
            <a:pPr algn="l" eaLnBrk="0">
              <a:lnSpc>
                <a:spcPct val="110000"/>
              </a:lnSpc>
            </a:pPr>
            <a:r>
              <a:rPr sz="1300" b="0">
                <a:solidFill>
                  <a:srgbClr val="1F2A3A"/>
                </a:solidFill>
                <a:latin typeface="맑은 고딕"/>
                <a:ea typeface="맑은 고딕"/>
                <a:cs typeface="맑은 고딕"/>
              </a:rPr>
              <a:t>예: SOP-COOL-14 쿨러 핀 세척(핀 오염), SOP-COOL-15 환기 보강(주변 온도)</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정비 시간</a:t>
            </a:r>
          </a:p>
          <a:p>
            <a:pPr algn="l" eaLnBrk="0">
              <a:lnSpc>
                <a:spcPct val="110000"/>
              </a:lnSpc>
            </a:pPr>
            <a:r>
              <a:rPr sz="1250" b="1">
                <a:solidFill>
                  <a:srgbClr val="1A6FC4"/>
                </a:solidFill>
                <a:latin typeface="맑은 고딕"/>
                <a:ea typeface="맑은 고딕"/>
                <a:cs typeface="맑은 고딕"/>
              </a:rPr>
              <a:t>작업지시</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예방 조치(PREVENTED_BY)</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고장이 나기 전에 운전시간이나 달력 주기로 시행하는 정기 정비</a:t>
            </a:r>
          </a:p>
          <a:p>
            <a:pPr algn="l" eaLnBrk="0">
              <a:lnSpc>
                <a:spcPct val="110000"/>
              </a:lnSpc>
            </a:pPr>
            <a:r>
              <a:rPr sz="1400" b="0">
                <a:solidFill>
                  <a:srgbClr val="1F2A3A"/>
                </a:solidFill>
                <a:latin typeface="맑은 고딕"/>
                <a:ea typeface="맑은 고딕"/>
                <a:cs typeface="맑은 고딕"/>
              </a:rPr>
              <a:t>예: SOP-PM-21 2,000 h 정기 점검이 펌프 체적 효율 저하를 막는다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고장 전</a:t>
            </a:r>
          </a:p>
          <a:p>
            <a:pPr algn="l" eaLnBrk="0">
              <a:lnSpc>
                <a:spcPct val="110000"/>
              </a:lnSpc>
            </a:pPr>
            <a:r>
              <a:rPr sz="1250" b="1">
                <a:solidFill>
                  <a:srgbClr val="556175"/>
                </a:solidFill>
                <a:latin typeface="맑은 고딕"/>
                <a:ea typeface="맑은 고딕"/>
                <a:cs typeface="맑은 고딕"/>
              </a:rPr>
              <a:t>정기 정비 도래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고장 유형 · 조치 방법 · 단계 · 근거의 연결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고장 유형에서 조치 후보를 찾고, 원인 한정 관계와 단계·근거 절·승인 역할을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pic>
        <p:nvPicPr>
          <p:cNvPr id="6" name="삽화:조치연결_그래프.svg" descr="illust_5796831104958945834_1792037122.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98071" y="2530574"/>
            <a:ext cx="902636"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Cause</a:t>
            </a:r>
          </a:p>
        </p:txBody>
      </p:sp>
      <p:sp>
        <p:nvSpPr>
          <p:cNvPr id="8" name="TextBox 7"/>
          <p:cNvSpPr txBox="1"/>
          <p:nvPr/>
        </p:nvSpPr>
        <p:spPr>
          <a:xfrm>
            <a:off x="3271127" y="4279730"/>
            <a:ext cx="1338025"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FailureMode</a:t>
            </a:r>
          </a:p>
        </p:txBody>
      </p:sp>
      <p:sp>
        <p:nvSpPr>
          <p:cNvPr id="9" name="TextBox 8"/>
          <p:cNvSpPr txBox="1"/>
          <p:nvPr/>
        </p:nvSpPr>
        <p:spPr>
          <a:xfrm>
            <a:off x="6021512" y="2790584"/>
            <a:ext cx="74334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Skill</a:t>
            </a:r>
          </a:p>
        </p:txBody>
      </p:sp>
      <p:sp>
        <p:nvSpPr>
          <p:cNvPr id="10" name="TextBox 9"/>
          <p:cNvSpPr txBox="1"/>
          <p:nvPr/>
        </p:nvSpPr>
        <p:spPr>
          <a:xfrm>
            <a:off x="8320580" y="2090921"/>
            <a:ext cx="69025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Role</a:t>
            </a:r>
          </a:p>
        </p:txBody>
      </p:sp>
      <p:sp>
        <p:nvSpPr>
          <p:cNvPr id="11" name="TextBox 10"/>
          <p:cNvSpPr txBox="1"/>
          <p:nvPr/>
        </p:nvSpPr>
        <p:spPr>
          <a:xfrm>
            <a:off x="7885190" y="4369551"/>
            <a:ext cx="69025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Step</a:t>
            </a:r>
          </a:p>
        </p:txBody>
      </p:sp>
      <p:sp>
        <p:nvSpPr>
          <p:cNvPr id="12" name="TextBox 11"/>
          <p:cNvSpPr txBox="1"/>
          <p:nvPr/>
        </p:nvSpPr>
        <p:spPr>
          <a:xfrm>
            <a:off x="9701082" y="3665162"/>
            <a:ext cx="143359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ManualSection</a:t>
            </a:r>
          </a:p>
        </p:txBody>
      </p:sp>
      <p:sp>
        <p:nvSpPr>
          <p:cNvPr id="13" name="TextBox 12"/>
          <p:cNvSpPr txBox="1"/>
          <p:nvPr/>
        </p:nvSpPr>
        <p:spPr>
          <a:xfrm>
            <a:off x="2028675" y="3754983"/>
            <a:ext cx="84953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CAUSES</a:t>
            </a:r>
          </a:p>
        </p:txBody>
      </p:sp>
      <p:sp>
        <p:nvSpPr>
          <p:cNvPr id="14" name="TextBox 13"/>
          <p:cNvSpPr txBox="1"/>
          <p:nvPr/>
        </p:nvSpPr>
        <p:spPr>
          <a:xfrm>
            <a:off x="4927730" y="4081177"/>
            <a:ext cx="1168117" cy="639318"/>
          </a:xfrm>
          <a:prstGeom prst="rect">
            <a:avLst/>
          </a:prstGeom>
          <a:noFill/>
        </p:spPr>
        <p:txBody>
          <a:bodyPr wrap="square" anchor="t"/>
          <a:lstStyle/>
          <a:p>
            <a:pPr algn="ctr" eaLnBrk="0">
              <a:lnSpc>
                <a:spcPct val="110000"/>
              </a:lnSpc>
              <a:spcAft>
                <a:spcPts val="100"/>
              </a:spcAft>
            </a:pPr>
            <a:r>
              <a:rPr sz="1050" b="0">
                <a:solidFill>
                  <a:srgbClr val="13294B"/>
                </a:solidFill>
                <a:latin typeface="맑은 고딕"/>
                <a:ea typeface="맑은 고딕"/>
                <a:cs typeface="맑은 고딕"/>
              </a:rPr>
              <a:t>MITIGATED_BY</a:t>
            </a:r>
          </a:p>
          <a:p>
            <a:pPr algn="ctr" eaLnBrk="0">
              <a:lnSpc>
                <a:spcPct val="110000"/>
              </a:lnSpc>
              <a:spcAft>
                <a:spcPts val="100"/>
              </a:spcAft>
            </a:pPr>
            <a:r>
              <a:rPr sz="1050" b="0">
                <a:solidFill>
                  <a:srgbClr val="13294B"/>
                </a:solidFill>
                <a:latin typeface="맑은 고딕"/>
                <a:ea typeface="맑은 고딕"/>
                <a:cs typeface="맑은 고딕"/>
              </a:rPr>
              <a:t>REMEDIED_BY</a:t>
            </a:r>
          </a:p>
        </p:txBody>
      </p:sp>
      <p:sp>
        <p:nvSpPr>
          <p:cNvPr id="15" name="TextBox 14"/>
          <p:cNvSpPr txBox="1"/>
          <p:nvPr/>
        </p:nvSpPr>
        <p:spPr>
          <a:xfrm>
            <a:off x="3483512" y="2398206"/>
            <a:ext cx="116811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ADDRESSES</a:t>
            </a:r>
          </a:p>
        </p:txBody>
      </p:sp>
      <p:sp>
        <p:nvSpPr>
          <p:cNvPr id="16" name="TextBox 15"/>
          <p:cNvSpPr txBox="1"/>
          <p:nvPr/>
        </p:nvSpPr>
        <p:spPr>
          <a:xfrm>
            <a:off x="6626810" y="2005827"/>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APPROVED_BY</a:t>
            </a:r>
          </a:p>
        </p:txBody>
      </p:sp>
      <p:sp>
        <p:nvSpPr>
          <p:cNvPr id="17" name="TextBox 16"/>
          <p:cNvSpPr txBox="1"/>
          <p:nvPr/>
        </p:nvSpPr>
        <p:spPr>
          <a:xfrm>
            <a:off x="6329471" y="4019720"/>
            <a:ext cx="116811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HAS_STEP</a:t>
            </a:r>
          </a:p>
        </p:txBody>
      </p:sp>
      <p:sp>
        <p:nvSpPr>
          <p:cNvPr id="18" name="TextBox 17"/>
          <p:cNvSpPr txBox="1"/>
          <p:nvPr/>
        </p:nvSpPr>
        <p:spPr>
          <a:xfrm>
            <a:off x="8867471" y="4544467"/>
            <a:ext cx="116811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REFERS_TO</a:t>
            </a:r>
          </a:p>
        </p:txBody>
      </p:sp>
      <p:sp>
        <p:nvSpPr>
          <p:cNvPr id="19" name="TextBox 18"/>
          <p:cNvSpPr txBox="1"/>
          <p:nvPr/>
        </p:nvSpPr>
        <p:spPr>
          <a:xfrm>
            <a:off x="1423378" y="5669600"/>
            <a:ext cx="934493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사건의 연결</a:t>
            </a:r>
          </a:p>
          <a:p>
            <a:pPr algn="ctr" eaLnBrk="0">
              <a:lnSpc>
                <a:spcPct val="110000"/>
              </a:lnSpc>
              <a:spcAft>
                <a:spcPts val="100"/>
              </a:spcAft>
            </a:pPr>
            <a:r>
              <a:rPr sz="1100" b="0">
                <a:solidFill>
                  <a:srgbClr val="556175"/>
                </a:solidFill>
                <a:latin typeface="맑은 고딕"/>
                <a:ea typeface="맑은 고딕"/>
                <a:cs typeface="맑은 고딕"/>
              </a:rPr>
              <a:t>쿨러 핀 오염 → 쿨러 냉각 성능 상실 → SOP-COOL-11 팬 최대 운전 → 단계 1~3 → HM-8.5 · 운전원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 해제와 근본 조치 완료의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최대 운전 뒤 경보는 해제되었지만 냉각 효율은 기준에 못 미쳐, 핀 오염을 없애는 정비가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완화의 결과</a:t>
            </a:r>
          </a:p>
          <a:p>
            <a:pPr algn="l" eaLnBrk="0">
              <a:lnSpc>
                <a:spcPct val="110000"/>
              </a:lnSpc>
              <a:spcAft>
                <a:spcPts val="400"/>
              </a:spcAft>
            </a:pPr>
            <a:r>
              <a:rPr sz="1400" b="0">
                <a:solidFill>
                  <a:srgbClr val="1F2A3A"/>
                </a:solidFill>
                <a:latin typeface="맑은 고딕"/>
                <a:ea typeface="맑은 고딕"/>
                <a:cs typeface="맑은 고딕"/>
              </a:rPr>
              <a:t>승인 11:14:56 뒤 유온이 내려가</a:t>
            </a:r>
          </a:p>
          <a:p>
            <a:pPr algn="l" eaLnBrk="0">
              <a:lnSpc>
                <a:spcPct val="110000"/>
              </a:lnSpc>
              <a:spcAft>
                <a:spcPts val="400"/>
              </a:spcAft>
            </a:pPr>
            <a:r>
              <a:rPr sz="1400" b="0">
                <a:solidFill>
                  <a:srgbClr val="1F2A3A"/>
                </a:solidFill>
                <a:latin typeface="맑은 고딕"/>
                <a:ea typeface="맑은 고딕"/>
                <a:cs typeface="맑은 고딕"/>
              </a:rPr>
              <a:t>경보가 해제되었다.</a:t>
            </a:r>
          </a:p>
        </p:txBody>
      </p:sp>
      <p:sp>
        <p:nvSpPr>
          <p:cNvPr id="10" name="Oval 9"/>
          <p:cNvSpPr/>
          <p:nvPr/>
        </p:nvSpPr>
        <p:spPr>
          <a:xfrm>
            <a:off x="8138160" y="2852928"/>
            <a:ext cx="347472" cy="347472"/>
          </a:xfrm>
          <a:prstGeom prst="ellipse">
            <a:avLst/>
          </a:prstGeom>
          <a:solidFill>
            <a:srgbClr val="5CB8F2"/>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남은 원인</a:t>
            </a:r>
          </a:p>
          <a:p>
            <a:pPr algn="l" eaLnBrk="0">
              <a:lnSpc>
                <a:spcPct val="110000"/>
              </a:lnSpc>
              <a:spcAft>
                <a:spcPts val="400"/>
              </a:spcAft>
            </a:pPr>
            <a:r>
              <a:rPr sz="1400" b="0">
                <a:solidFill>
                  <a:srgbClr val="1F2A3A"/>
                </a:solidFill>
                <a:latin typeface="맑은 고딕"/>
                <a:ea typeface="맑은 고딕"/>
                <a:cs typeface="맑은 고딕"/>
              </a:rPr>
              <a:t>냉각 효율 55 %, 기준 70 % 미만.</a:t>
            </a:r>
          </a:p>
          <a:p>
            <a:pPr algn="l" eaLnBrk="0">
              <a:lnSpc>
                <a:spcPct val="110000"/>
              </a:lnSpc>
              <a:spcAft>
                <a:spcPts val="400"/>
              </a:spcAft>
            </a:pPr>
            <a:r>
              <a:rPr sz="1400" b="0">
                <a:solidFill>
                  <a:srgbClr val="1F2A3A"/>
                </a:solidFill>
                <a:latin typeface="맑은 고딕"/>
                <a:ea typeface="맑은 고딕"/>
                <a:cs typeface="맑은 고딕"/>
              </a:rPr>
              <a:t>핀 오염은 그대로다.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근본 조치의 상태</a:t>
            </a:r>
          </a:p>
          <a:p>
            <a:pPr algn="l" eaLnBrk="0">
              <a:lnSpc>
                <a:spcPct val="110000"/>
              </a:lnSpc>
              <a:spcAft>
                <a:spcPts val="400"/>
              </a:spcAft>
            </a:pPr>
            <a:r>
              <a:rPr sz="1400" b="0">
                <a:solidFill>
                  <a:srgbClr val="1F2A3A"/>
                </a:solidFill>
                <a:latin typeface="맑은 고딕"/>
                <a:ea typeface="맑은 고딕"/>
                <a:cs typeface="맑은 고딕"/>
              </a:rPr>
              <a:t>핀 세척은 작업지시로 등록되었다.</a:t>
            </a:r>
          </a:p>
          <a:p>
            <a:pPr algn="l" eaLnBrk="0">
              <a:lnSpc>
                <a:spcPct val="110000"/>
              </a:lnSpc>
              <a:spcAft>
                <a:spcPts val="400"/>
              </a:spcAft>
            </a:pPr>
            <a:r>
              <a:rPr sz="1400" b="0">
                <a:solidFill>
                  <a:srgbClr val="1F2A3A"/>
                </a:solidFill>
                <a:latin typeface="맑은 고딕"/>
                <a:ea typeface="맑은 고딕"/>
                <a:cs typeface="맑은 고딕"/>
              </a:rPr>
              <a:t>등록은 정비 완료가 아니다.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서로 다른 완료 기준</a:t>
            </a:r>
          </a:p>
          <a:p>
            <a:pPr algn="l" eaLnBrk="0">
              <a:lnSpc>
                <a:spcPct val="110000"/>
              </a:lnSpc>
              <a:spcAft>
                <a:spcPts val="400"/>
              </a:spcAft>
            </a:pPr>
            <a:r>
              <a:rPr sz="1350" b="0">
                <a:solidFill>
                  <a:srgbClr val="1F2A3A"/>
                </a:solidFill>
                <a:latin typeface="맑은 고딕"/>
                <a:ea typeface="맑은 고딕"/>
                <a:cs typeface="맑은 고딕"/>
              </a:rPr>
              <a:t>경보 해제, 매뉴얼: 15분 유지,</a:t>
            </a:r>
          </a:p>
          <a:p>
            <a:pPr algn="l" eaLnBrk="0">
              <a:lnSpc>
                <a:spcPct val="110000"/>
              </a:lnSpc>
              <a:spcAft>
                <a:spcPts val="400"/>
              </a:spcAft>
            </a:pPr>
            <a:r>
              <a:rPr sz="1350" b="0">
                <a:solidFill>
                  <a:srgbClr val="1F2A3A"/>
                </a:solidFill>
                <a:latin typeface="맑은 고딕"/>
                <a:ea typeface="맑은 고딕"/>
                <a:cs typeface="맑은 고딕"/>
              </a:rPr>
              <a:t>재가동 뒤 CE 80 % 이상의 정비 완료.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 단계(Step)와 실행 동작(Action)</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단계는 사람이 읽는 문장이고 실행 동작은 시스템이 보내는 명령이어서, 절차를 저장해도 저절로 실행되지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작업 단계(Step)</a:t>
            </a:r>
          </a:p>
        </p:txBody>
      </p:sp>
      <p:sp>
        <p:nvSpPr>
          <p:cNvPr id="10" name="TextBox 9"/>
          <p:cNvSpPr txBox="1"/>
          <p:nvPr/>
        </p:nvSpPr>
        <p:spPr>
          <a:xfrm>
            <a:off x="822959" y="3330638"/>
            <a:ext cx="4632807" cy="1824355"/>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SOP의 번호 붙은 문장 하나</a:t>
            </a:r>
          </a:p>
          <a:p>
            <a:pPr algn="l" eaLnBrk="0" marL="160020" indent="-160020">
              <a:lnSpc>
                <a:spcPct val="110000"/>
              </a:lnSpc>
              <a:spcAft>
                <a:spcPts val="600"/>
              </a:spcAft>
            </a:pPr>
            <a:r>
              <a:rPr sz="1400" b="0">
                <a:solidFill>
                  <a:srgbClr val="1F2A3A"/>
                </a:solidFill>
                <a:latin typeface="맑은 고딕"/>
                <a:ea typeface="맑은 고딕"/>
                <a:cs typeface="맑은 고딕"/>
              </a:rPr>
              <a:t>• 예: 「2. 팬 속도를 100 %로 올린다.」</a:t>
            </a:r>
          </a:p>
          <a:p>
            <a:pPr algn="l" eaLnBrk="0" marL="160020" indent="-160020">
              <a:lnSpc>
                <a:spcPct val="110000"/>
              </a:lnSpc>
              <a:spcAft>
                <a:spcPts val="600"/>
              </a:spcAft>
            </a:pPr>
            <a:r>
              <a:rPr sz="1400" b="0">
                <a:solidFill>
                  <a:srgbClr val="1F2A3A"/>
                </a:solidFill>
                <a:latin typeface="맑은 고딕"/>
                <a:ea typeface="맑은 고딕"/>
                <a:cs typeface="맑은 고딕"/>
              </a:rPr>
              <a:t>• 예: 「1. 설비를 정지하고 … 잠금(LOTO)을 건다.」</a:t>
            </a:r>
          </a:p>
          <a:p>
            <a:pPr algn="l" eaLnBrk="0" marL="160020" indent="-160020">
              <a:lnSpc>
                <a:spcPct val="110000"/>
              </a:lnSpc>
              <a:spcAft>
                <a:spcPts val="600"/>
              </a:spcAft>
            </a:pPr>
            <a:r>
              <a:rPr sz="1400" b="0">
                <a:solidFill>
                  <a:srgbClr val="1F2A3A"/>
                </a:solidFill>
                <a:latin typeface="맑은 고딕"/>
                <a:ea typeface="맑은 고딕"/>
                <a:cs typeface="맑은 고딕"/>
              </a:rPr>
              <a:t>• 사람이 읽고 확인하며 수행한다</a:t>
            </a:r>
          </a:p>
        </p:txBody>
      </p:sp>
      <p:sp>
        <p:nvSpPr>
          <p:cNvPr id="11" name="Rounded Rectangle 10"/>
          <p:cNvSpPr/>
          <p:nvPr/>
        </p:nvSpPr>
        <p:spPr>
          <a:xfrm>
            <a:off x="868680" y="5246433"/>
            <a:ext cx="217322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2173224"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Skill -HAS_STEP→ Step</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 동작(Action)</a:t>
            </a:r>
          </a:p>
        </p:txBody>
      </p:sp>
      <p:sp>
        <p:nvSpPr>
          <p:cNvPr id="17" name="TextBox 16"/>
          <p:cNvSpPr txBox="1"/>
          <p:nvPr/>
        </p:nvSpPr>
        <p:spPr>
          <a:xfrm>
            <a:off x="6735927" y="3330638"/>
            <a:ext cx="4632807" cy="182435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더 쪼갤 수 없는 명령 하나나 업무 시스템 처리 하나</a:t>
            </a:r>
          </a:p>
          <a:p>
            <a:pPr algn="l" eaLnBrk="0" marL="165735" indent="-165735">
              <a:lnSpc>
                <a:spcPct val="110000"/>
              </a:lnSpc>
              <a:spcAft>
                <a:spcPts val="600"/>
              </a:spcAft>
            </a:pPr>
            <a:r>
              <a:rPr sz="1450" b="0">
                <a:solidFill>
                  <a:srgbClr val="1F2A3A"/>
                </a:solidFill>
                <a:latin typeface="맑은 고딕"/>
                <a:ea typeface="맑은 고딕"/>
                <a:cs typeface="맑은 고딕"/>
              </a:rPr>
              <a:t>• 예: FAN_SET = 100, 팬 속도 설정 명령(0~100)</a:t>
            </a:r>
          </a:p>
          <a:p>
            <a:pPr algn="l" eaLnBrk="0" marL="165735" indent="-165735">
              <a:lnSpc>
                <a:spcPct val="110000"/>
              </a:lnSpc>
              <a:spcAft>
                <a:spcPts val="600"/>
              </a:spcAft>
            </a:pPr>
            <a:r>
              <a:rPr sz="1450" b="0">
                <a:solidFill>
                  <a:srgbClr val="1F2A3A"/>
                </a:solidFill>
                <a:latin typeface="맑은 고딕"/>
                <a:ea typeface="맑은 고딕"/>
                <a:cs typeface="맑은 고딕"/>
              </a:rPr>
              <a:t>• 예: WO_CREATE, 정비 작업지시 발행</a:t>
            </a:r>
          </a:p>
          <a:p>
            <a:pPr algn="l" eaLnBrk="0" marL="165735" indent="-165735">
              <a:lnSpc>
                <a:spcPct val="110000"/>
              </a:lnSpc>
              <a:spcAft>
                <a:spcPts val="600"/>
              </a:spcAft>
            </a:pPr>
            <a:r>
              <a:rPr sz="1450" b="0">
                <a:solidFill>
                  <a:srgbClr val="1F2A3A"/>
                </a:solidFill>
                <a:latin typeface="맑은 고딕"/>
                <a:ea typeface="맑은 고딕"/>
                <a:cs typeface="맑은 고딕"/>
              </a:rPr>
              <a:t>• 사람이 승인한 뒤 프로세스가 실행한다</a:t>
            </a:r>
          </a:p>
        </p:txBody>
      </p:sp>
      <p:sp>
        <p:nvSpPr>
          <p:cNvPr id="18" name="Rounded Rectangle 17"/>
          <p:cNvSpPr/>
          <p:nvPr/>
        </p:nvSpPr>
        <p:spPr>
          <a:xfrm>
            <a:off x="6781647" y="5246433"/>
            <a:ext cx="261518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2615184"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Skill -CONSISTS_OF→ Action</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DMN: 문장을 결정표로 바꾸기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절차 속 조건 문장을 입력 · 연산자 · 기준값 · 출력의 행으로 옮기는 방법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SOP와 DMN의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절차의 순서는 SOP에 두고, 지금 해도 되는지를 가르는 조건은 DMN의 결정표로 옮겨 현재값에 대어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SOP(표준 작업 절차)</a:t>
            </a:r>
          </a:p>
        </p:txBody>
      </p:sp>
      <p:sp>
        <p:nvSpPr>
          <p:cNvPr id="10" name="TextBox 9"/>
          <p:cNvSpPr txBox="1"/>
          <p:nvPr/>
        </p:nvSpPr>
        <p:spPr>
          <a:xfrm>
            <a:off x="822959" y="3330638"/>
            <a:ext cx="4632807" cy="182435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답하는 물음: 어떻게 하는가</a:t>
            </a:r>
          </a:p>
          <a:p>
            <a:pPr algn="l" eaLnBrk="0" marL="165735" indent="-165735">
              <a:lnSpc>
                <a:spcPct val="110000"/>
              </a:lnSpc>
              <a:spcAft>
                <a:spcPts val="600"/>
              </a:spcAft>
            </a:pPr>
            <a:r>
              <a:rPr sz="1450" b="0">
                <a:solidFill>
                  <a:srgbClr val="1F2A3A"/>
                </a:solidFill>
                <a:latin typeface="맑은 고딕"/>
                <a:ea typeface="맑은 고딕"/>
                <a:cs typeface="맑은 고딕"/>
              </a:rPr>
              <a:t>• 원문: 「2. 팬 속도를 100 %로 올린다.」</a:t>
            </a:r>
          </a:p>
          <a:p>
            <a:pPr algn="l" eaLnBrk="0" marL="165735" indent="-165735">
              <a:lnSpc>
                <a:spcPct val="110000"/>
              </a:lnSpc>
              <a:spcAft>
                <a:spcPts val="600"/>
              </a:spcAft>
            </a:pPr>
            <a:r>
              <a:rPr sz="1450" b="0">
                <a:solidFill>
                  <a:srgbClr val="1F2A3A"/>
                </a:solidFill>
                <a:latin typeface="맑은 고딕"/>
                <a:ea typeface="맑은 고딕"/>
                <a:cs typeface="맑은 고딕"/>
              </a:rPr>
              <a:t>• 수행 순서를 문장으로 정한다</a:t>
            </a:r>
          </a:p>
          <a:p>
            <a:pPr algn="l" eaLnBrk="0" marL="165735" indent="-165735">
              <a:lnSpc>
                <a:spcPct val="110000"/>
              </a:lnSpc>
              <a:spcAft>
                <a:spcPts val="600"/>
              </a:spcAft>
            </a:pPr>
            <a:r>
              <a:rPr sz="1450" b="0">
                <a:solidFill>
                  <a:srgbClr val="1F2A3A"/>
                </a:solidFill>
                <a:latin typeface="맑은 고딕"/>
                <a:ea typeface="맑은 고딕"/>
                <a:cs typeface="맑은 고딕"/>
              </a:rPr>
              <a:t>• 수행할 때도 1단계처럼 현재 상태를 확인한다</a:t>
            </a:r>
          </a:p>
        </p:txBody>
      </p:sp>
      <p:sp>
        <p:nvSpPr>
          <p:cNvPr id="11" name="Rounded Rectangle 10"/>
          <p:cNvSpPr/>
          <p:nvPr/>
        </p:nvSpPr>
        <p:spPr>
          <a:xfrm>
            <a:off x="868680" y="524643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table" descr="tabl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DMN(Decision Model and Notation)</a:t>
            </a:r>
          </a:p>
        </p:txBody>
      </p:sp>
      <p:sp>
        <p:nvSpPr>
          <p:cNvPr id="17" name="TextBox 16"/>
          <p:cNvSpPr txBox="1"/>
          <p:nvPr/>
        </p:nvSpPr>
        <p:spPr>
          <a:xfrm>
            <a:off x="6735927" y="3330638"/>
            <a:ext cx="4632807" cy="182435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업무 의사결정을 정의하는 OMG의 표준</a:t>
            </a:r>
          </a:p>
          <a:p>
            <a:pPr algn="l" eaLnBrk="0" marL="165735" indent="-165735">
              <a:lnSpc>
                <a:spcPct val="110000"/>
              </a:lnSpc>
              <a:spcAft>
                <a:spcPts val="600"/>
              </a:spcAft>
            </a:pPr>
            <a:r>
              <a:rPr sz="1450" b="0">
                <a:solidFill>
                  <a:srgbClr val="1F2A3A"/>
                </a:solidFill>
                <a:latin typeface="맑은 고딕"/>
                <a:ea typeface="맑은 고딕"/>
                <a:cs typeface="맑은 고딕"/>
              </a:rPr>
              <a:t>• 원문: 「원격 조치(SOP-COOL-11~13)는 REMOTE_AUTO가 아닐 때 쓰지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옮긴 조건: plc_mode != REMOTE_AUTO → 제외</a:t>
            </a:r>
          </a:p>
          <a:p>
            <a:pPr algn="l" eaLnBrk="0" marL="165735" indent="-165735">
              <a:lnSpc>
                <a:spcPct val="110000"/>
              </a:lnSpc>
              <a:spcAft>
                <a:spcPts val="600"/>
              </a:spcAft>
            </a:pPr>
            <a:r>
              <a:rPr sz="1450" b="0">
                <a:solidFill>
                  <a:srgbClr val="1F2A3A"/>
                </a:solidFill>
                <a:latin typeface="맑은 고딕"/>
                <a:ea typeface="맑은 고딕"/>
                <a:cs typeface="맑은 고딕"/>
              </a:rPr>
              <a:t>• 판단 시점의 값과 견주어야 참 · 거짓이 정해진다</a:t>
            </a:r>
          </a:p>
        </p:txBody>
      </p:sp>
      <p:sp>
        <p:nvSpPr>
          <p:cNvPr id="18" name="Rounded Rectangle 17"/>
          <p:cNvSpPr/>
          <p:nvPr/>
        </p:nvSpPr>
        <p:spPr>
          <a:xfrm>
            <a:off x="6781647" y="5246433"/>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입력 데이터(InputData)와 값의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입력 데이터(InputData)는 판단에 쓰는 값의 항목이며, 현재 상태 · 운전 이력 · 예측 · 업무 조건에서 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 데이터 · 변수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 · 기준과 쿨러 사건의 값</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출처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PLC 운전 모드 · plc_mode</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REMOTE_AUTO · REMOTE_MANUAL · LOCAL 가운데 하나</a:t>
            </a:r>
          </a:p>
          <a:p>
            <a:pPr algn="l" eaLnBrk="0">
              <a:lnSpc>
                <a:spcPct val="110000"/>
              </a:lnSpc>
            </a:pPr>
            <a:r>
              <a:rPr sz="1400" b="0">
                <a:solidFill>
                  <a:srgbClr val="1F2A3A"/>
                </a:solidFill>
                <a:latin typeface="맑은 고딕"/>
                <a:ea typeface="맑은 고딕"/>
                <a:cs typeface="맑은 고딕"/>
              </a:rPr>
              <a:t>쿨러 사건: REMOTE_AUTO</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SCADA</a:t>
            </a:r>
          </a:p>
          <a:p>
            <a:pPr algn="l" eaLnBrk="0">
              <a:lnSpc>
                <a:spcPct val="110000"/>
              </a:lnSpc>
            </a:pPr>
            <a:r>
              <a:rPr sz="1250" b="1">
                <a:solidFill>
                  <a:srgbClr val="556175"/>
                </a:solidFill>
                <a:latin typeface="맑은 고딕"/>
                <a:ea typeface="맑은 고딕"/>
                <a:cs typeface="맑은 고딕"/>
              </a:rPr>
              <a:t>PLC 상태</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100 % 연속 운전 시간 · fan100_hours</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팬이 99 % 이상으로 지금까지 이어서 돈 시간. 기록이 없으면 0이 아니라 미확인</a:t>
            </a:r>
          </a:p>
          <a:p>
            <a:pPr algn="l" eaLnBrk="0">
              <a:lnSpc>
                <a:spcPct val="110000"/>
              </a:lnSpc>
            </a:pPr>
            <a:r>
              <a:rPr sz="1300" b="0">
                <a:solidFill>
                  <a:srgbClr val="1F2A3A"/>
                </a:solidFill>
                <a:latin typeface="맑은 고딕"/>
                <a:ea typeface="맑은 고딕"/>
                <a:cs typeface="맑은 고딕"/>
              </a:rPr>
              <a:t>기준 &gt; 24 h · 쿨러 사건: 0 h(팬 60 %)</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운전 이력</a:t>
            </a:r>
          </a:p>
          <a:p>
            <a:pPr algn="l" eaLnBrk="0">
              <a:lnSpc>
                <a:spcPct val="110000"/>
              </a:lnSpc>
            </a:pPr>
            <a:r>
              <a:rPr sz="1250" b="1">
                <a:solidFill>
                  <a:srgbClr val="1A6FC4"/>
                </a:solidFill>
                <a:latin typeface="맑은 고딕"/>
                <a:ea typeface="맑은 고딕"/>
                <a:cs typeface="맑은 고딕"/>
              </a:rPr>
              <a:t>시계열</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 후 예측 유온 · forecast_ts1</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 조치를 했을 때 유온이 머물 값. 후보마다 따로 계산한다</a:t>
            </a:r>
          </a:p>
          <a:p>
            <a:pPr algn="l" eaLnBrk="0">
              <a:lnSpc>
                <a:spcPct val="110000"/>
              </a:lnSpc>
            </a:pPr>
            <a:r>
              <a:rPr sz="1400" b="0">
                <a:solidFill>
                  <a:srgbClr val="1F2A3A"/>
                </a:solidFill>
                <a:latin typeface="맑은 고딕"/>
                <a:ea typeface="맑은 고딕"/>
                <a:cs typeface="맑은 고딕"/>
              </a:rPr>
              <a:t>기준 &gt;= 55 ℃ · 팬 최대 운전 49.8 ℃</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예측 계산</a:t>
            </a:r>
          </a:p>
          <a:p>
            <a:pPr algn="l" eaLnBrk="0">
              <a:lnSpc>
                <a:spcPct val="110000"/>
              </a:lnSpc>
            </a:pPr>
            <a:r>
              <a:rPr sz="1250" b="1">
                <a:solidFill>
                  <a:srgbClr val="556175"/>
                </a:solidFill>
                <a:latin typeface="맑은 고딕"/>
                <a:ea typeface="맑은 고딕"/>
                <a:cs typeface="맑은 고딕"/>
              </a:rPr>
              <a:t>설비 모델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긴급 오더 남은 시간 · order_due_h</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일시에서 조회 시각까지 남은 시간</a:t>
            </a:r>
          </a:p>
          <a:p>
            <a:pPr algn="l" eaLnBrk="0">
              <a:lnSpc>
                <a:spcPct val="110000"/>
              </a:lnSpc>
            </a:pPr>
            <a:r>
              <a:rPr sz="1400" b="0">
                <a:solidFill>
                  <a:srgbClr val="1F2A3A"/>
                </a:solidFill>
                <a:latin typeface="맑은 고딕"/>
                <a:ea typeface="맑은 고딕"/>
                <a:cs typeface="맑은 고딕"/>
              </a:rPr>
              <a:t>쿨러 사건: 5.98 h</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MES</a:t>
            </a:r>
          </a:p>
          <a:p>
            <a:pPr algn="l" eaLnBrk="0">
              <a:lnSpc>
                <a:spcPct val="110000"/>
              </a:lnSpc>
            </a:pPr>
            <a:r>
              <a:rPr sz="1250" b="1">
                <a:solidFill>
                  <a:srgbClr val="556175"/>
                </a:solidFill>
                <a:latin typeface="맑은 고딕"/>
                <a:ea typeface="맑은 고딕"/>
                <a:cs typeface="맑은 고딕"/>
              </a:rPr>
              <a:t>생산 오더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결정(Decision) · 결정표(DecisionTable) · 규칙(Rule)</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결정표는 물음 하나에 답하는 규칙의 행 모음이며, 입력 값을 행마다 대어 조건이 맞는 행의 출력을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Decision  dec:compliance</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가운데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없거나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무엇인가</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DecisionTable  dt:compliance</a:t>
            </a:r>
          </a:p>
          <a:p>
            <a:pPr algn="l" eaLnBrk="0">
              <a:lnSpc>
                <a:spcPct val="110000"/>
              </a:lnSpc>
              <a:spcAft>
                <a:spcPts val="200"/>
              </a:spcAft>
            </a:pPr>
            <a:r>
              <a:rPr sz="1300" b="0">
                <a:solidFill>
                  <a:srgbClr val="E8EEF6"/>
                </a:solidFill>
                <a:latin typeface="Consolas"/>
                <a:ea typeface="맑은 고딕"/>
                <a:cs typeface="맑은 고딕"/>
              </a:rPr>
              <a:t>  Rule 1  plc_mode != 'REMOTE_AUTO'</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제외</a:t>
            </a: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12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13</a:t>
            </a:r>
          </a:p>
          <a:p>
            <a:pPr algn="l" eaLnBrk="0">
              <a:lnSpc>
                <a:spcPct val="110000"/>
              </a:lnSpc>
              <a:spcAft>
                <a:spcPts val="200"/>
              </a:spcAft>
            </a:pPr>
            <a:r>
              <a:rPr sz="1300" b="0">
                <a:solidFill>
                  <a:srgbClr val="E8EEF6"/>
                </a:solidFill>
                <a:latin typeface="Consolas"/>
                <a:ea typeface="맑은 고딕"/>
                <a:cs typeface="맑은 고딕"/>
              </a:rPr>
              <a:t>  Rule 2  fan100_hours &gt; 24</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12</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REMOTE_AUTO,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30 h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Rule 1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자동이다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Rule 2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(30 &gt; 24)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결정(Decision)</a:t>
            </a:r>
          </a:p>
          <a:p>
            <a:pPr algn="l" eaLnBrk="0">
              <a:lnSpc>
                <a:spcPct val="110000"/>
              </a:lnSpc>
              <a:spcAft>
                <a:spcPts val="400"/>
              </a:spcAft>
            </a:pPr>
            <a:r>
              <a:rPr sz="1400" b="0">
                <a:solidFill>
                  <a:srgbClr val="1F2A3A"/>
                </a:solidFill>
                <a:latin typeface="맑은 고딕"/>
                <a:ea typeface="맑은 고딕"/>
                <a:cs typeface="맑은 고딕"/>
              </a:rPr>
              <a:t>판단해 답할 물음이다. 이 예에서는 규정 적합성을 묻는다.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결정표(DecisionTable)</a:t>
            </a:r>
          </a:p>
          <a:p>
            <a:pPr algn="l" eaLnBrk="0">
              <a:lnSpc>
                <a:spcPct val="110000"/>
              </a:lnSpc>
              <a:spcAft>
                <a:spcPts val="400"/>
              </a:spcAft>
            </a:pPr>
            <a:r>
              <a:rPr sz="1400" b="0">
                <a:solidFill>
                  <a:srgbClr val="1F2A3A"/>
                </a:solidFill>
                <a:latin typeface="맑은 고딕"/>
                <a:ea typeface="맑은 고딕"/>
                <a:cs typeface="맑은 고딕"/>
              </a:rPr>
              <a:t>같은 물음에 답하는 규칙의 모음. 같은 입력이면 누가 대어도 같은 결과가 나온다.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규칙(Rule)</a:t>
            </a:r>
          </a:p>
          <a:p>
            <a:pPr algn="l" eaLnBrk="0">
              <a:lnSpc>
                <a:spcPct val="110000"/>
              </a:lnSpc>
              <a:spcAft>
                <a:spcPts val="400"/>
              </a:spcAft>
            </a:pPr>
            <a:r>
              <a:rPr sz="1400" b="0">
                <a:solidFill>
                  <a:srgbClr val="1F2A3A"/>
                </a:solidFill>
                <a:latin typeface="맑은 고딕"/>
                <a:ea typeface="맑은 고딕"/>
                <a:cs typeface="맑은 고딕"/>
              </a:rPr>
              <a:t>표의 한 행. 조건이 모두 맞으면 출력을 내고, 맞지 않으면 아무것도 내지 않는다.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비운 칸</a:t>
            </a:r>
          </a:p>
          <a:p>
            <a:pPr algn="l" eaLnBrk="0">
              <a:lnSpc>
                <a:spcPct val="110000"/>
              </a:lnSpc>
              <a:spcAft>
                <a:spcPts val="400"/>
              </a:spcAft>
            </a:pPr>
            <a:r>
              <a:rPr sz="1400" b="0">
                <a:solidFill>
                  <a:srgbClr val="1F2A3A"/>
                </a:solidFill>
                <a:latin typeface="맑은 고딕"/>
                <a:ea typeface="맑은 고딕"/>
                <a:cs typeface="맑은 고딕"/>
              </a:rPr>
              <a:t>Rule 2는 운전 모드를 보지 않는다. 보지 않는 입력과 값을 모르는 입력은 다르다.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조건의 세 부분과 비교 연산자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조건 하나는 입력 · 연산자 · 기준값으로 적고, 여섯 연산자 가운데 무엇을 쓰느냐가 판정의 경계를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연산자</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뜻과 HYD의 조건</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단위 · 자료형</a:t>
            </a:r>
          </a:p>
        </p:txBody>
      </p:sp>
      <p:sp>
        <p:nvSpPr>
          <p:cNvPr id="10" name="Rounded Rectangle 9"/>
          <p:cNvSpPr/>
          <p:nvPr/>
        </p:nvSpPr>
        <p:spPr>
          <a:xfrm>
            <a:off x="548640" y="2061972"/>
            <a:ext cx="11094415" cy="553865"/>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조건의 세 부분</a:t>
            </a:r>
          </a:p>
        </p:txBody>
      </p:sp>
      <p:sp>
        <p:nvSpPr>
          <p:cNvPr id="12" name="TextBox 11"/>
          <p:cNvSpPr txBox="1"/>
          <p:nvPr/>
        </p:nvSpPr>
        <p:spPr>
          <a:xfrm>
            <a:off x="3200400" y="2029968"/>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입력 fan100_hours · 연산자 &gt; · 기준값 24</a:t>
            </a:r>
          </a:p>
          <a:p>
            <a:pPr algn="l" eaLnBrk="0">
              <a:lnSpc>
                <a:spcPct val="110000"/>
              </a:lnSpc>
            </a:pPr>
            <a:r>
              <a:rPr sz="1400" b="0">
                <a:solidFill>
                  <a:srgbClr val="1F2A3A"/>
                </a:solidFill>
                <a:latin typeface="맑은 고딕"/>
                <a:ea typeface="맑은 고딕"/>
                <a:cs typeface="맑은 고딕"/>
              </a:rPr>
              <a:t>「24시간을 넘겼다면」을 옮긴 조건</a:t>
            </a:r>
          </a:p>
        </p:txBody>
      </p:sp>
      <p:sp>
        <p:nvSpPr>
          <p:cNvPr id="13" name="TextBox 12"/>
          <p:cNvSpPr txBox="1"/>
          <p:nvPr/>
        </p:nvSpPr>
        <p:spPr>
          <a:xfrm>
            <a:off x="9448495" y="2029968"/>
            <a:ext cx="2103120" cy="617873"/>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h · 숫자</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t>
            </a:r>
          </a:p>
        </p:txBody>
      </p:sp>
      <p:sp>
        <p:nvSpPr>
          <p:cNvPr id="16" name="TextBox 15"/>
          <p:cNvSpPr txBox="1"/>
          <p:nvPr/>
        </p:nvSpPr>
        <p:spPr>
          <a:xfrm>
            <a:off x="3200400" y="2647841"/>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같다 — pattern == 'PM_DUE'</a:t>
            </a:r>
          </a:p>
        </p:txBody>
      </p:sp>
      <p:sp>
        <p:nvSpPr>
          <p:cNvPr id="17" name="TextBox 16"/>
          <p:cNvSpPr txBox="1"/>
          <p:nvPr/>
        </p:nvSpPr>
        <p:spPr>
          <a:xfrm>
            <a:off x="9448495" y="2647841"/>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문자열</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t>
            </a:r>
          </a:p>
        </p:txBody>
      </p:sp>
      <p:sp>
        <p:nvSpPr>
          <p:cNvPr id="20" name="TextBox 19"/>
          <p:cNvSpPr txBox="1"/>
          <p:nvPr/>
        </p:nvSpPr>
        <p:spPr>
          <a:xfrm>
            <a:off x="3200400" y="3265714"/>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다르다 — plc_mode != 'REMOTE_AUTO'</a:t>
            </a:r>
          </a:p>
        </p:txBody>
      </p:sp>
      <p:sp>
        <p:nvSpPr>
          <p:cNvPr id="21" name="TextBox 20"/>
          <p:cNvSpPr txBox="1"/>
          <p:nvPr/>
        </p:nvSpPr>
        <p:spPr>
          <a:xfrm>
            <a:off x="9448495" y="3265714"/>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문자열</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&gt;</a:t>
            </a:r>
          </a:p>
        </p:txBody>
      </p:sp>
      <p:sp>
        <p:nvSpPr>
          <p:cNvPr id="24" name="TextBox 23"/>
          <p:cNvSpPr txBox="1"/>
          <p:nvPr/>
        </p:nvSpPr>
        <p:spPr>
          <a:xfrm>
            <a:off x="3200400" y="3883587"/>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크다(초과) — fan100_hours &gt; 24</a:t>
            </a:r>
          </a:p>
        </p:txBody>
      </p:sp>
      <p:sp>
        <p:nvSpPr>
          <p:cNvPr id="25" name="TextBox 24"/>
          <p:cNvSpPr txBox="1"/>
          <p:nvPr/>
        </p:nvSpPr>
        <p:spPr>
          <a:xfrm>
            <a:off x="9448495" y="3883587"/>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 · 숫자</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&gt;=</a:t>
            </a:r>
          </a:p>
        </p:txBody>
      </p:sp>
      <p:sp>
        <p:nvSpPr>
          <p:cNvPr id="28" name="TextBox 27"/>
          <p:cNvSpPr txBox="1"/>
          <p:nvPr/>
        </p:nvSpPr>
        <p:spPr>
          <a:xfrm>
            <a:off x="3200400" y="4501460"/>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크거나 같다(이상) — forecast_ts1 &gt;= 55</a:t>
            </a:r>
          </a:p>
        </p:txBody>
      </p:sp>
      <p:sp>
        <p:nvSpPr>
          <p:cNvPr id="29" name="TextBox 28"/>
          <p:cNvSpPr txBox="1"/>
          <p:nvPr/>
        </p:nvSpPr>
        <p:spPr>
          <a:xfrm>
            <a:off x="9448495" y="4501460"/>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 · 숫자</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&lt;</a:t>
            </a:r>
          </a:p>
        </p:txBody>
      </p:sp>
      <p:sp>
        <p:nvSpPr>
          <p:cNvPr id="32" name="TextBox 31"/>
          <p:cNvSpPr txBox="1"/>
          <p:nvPr/>
        </p:nvSpPr>
        <p:spPr>
          <a:xfrm>
            <a:off x="3200400" y="5119333"/>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작다(미만) — ts1 &lt; 55, HM-8.6 회복 판정</a:t>
            </a:r>
          </a:p>
        </p:txBody>
      </p:sp>
      <p:sp>
        <p:nvSpPr>
          <p:cNvPr id="33" name="TextBox 32"/>
          <p:cNvSpPr txBox="1"/>
          <p:nvPr/>
        </p:nvSpPr>
        <p:spPr>
          <a:xfrm>
            <a:off x="9448495" y="5119333"/>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 · 숫자</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&lt;=</a:t>
            </a:r>
          </a:p>
        </p:txBody>
      </p:sp>
      <p:sp>
        <p:nvSpPr>
          <p:cNvPr id="36" name="TextBox 35"/>
          <p:cNvSpPr txBox="1"/>
          <p:nvPr/>
        </p:nvSpPr>
        <p:spPr>
          <a:xfrm>
            <a:off x="3200400" y="5737206"/>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작거나 같다(이하) — order_due &lt;= 24</a:t>
            </a:r>
          </a:p>
        </p:txBody>
      </p:sp>
      <p:sp>
        <p:nvSpPr>
          <p:cNvPr id="37" name="TextBox 36"/>
          <p:cNvSpPr txBox="1"/>
          <p:nvPr/>
        </p:nvSpPr>
        <p:spPr>
          <a:xfrm>
            <a:off x="9448495" y="5737206"/>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 · 숫자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임계값과 경계의 포함 여부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「이상」은 기준값을 포함하고 「넘으면」은 포함하지 않으므로, 기준값과 바로 아래 · 위의 세 값을 넣어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pic>
        <p:nvPicPr>
          <p:cNvPr id="6" name="삽화:수직선_경계.svg" descr="illust_8083487089820734906_1792037122.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892416" y="2029465"/>
            <a:ext cx="2654812"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forecast_ts1 &gt;= 55</a:t>
            </a:r>
          </a:p>
          <a:p>
            <a:pPr algn="ctr" eaLnBrk="0">
              <a:lnSpc>
                <a:spcPct val="110000"/>
              </a:lnSpc>
              <a:spcAft>
                <a:spcPts val="100"/>
              </a:spcAft>
            </a:pPr>
            <a:r>
              <a:rPr sz="1300" b="0">
                <a:solidFill>
                  <a:srgbClr val="556175"/>
                </a:solidFill>
                <a:latin typeface="맑은 고딕"/>
                <a:ea typeface="맑은 고딕"/>
                <a:cs typeface="맑은 고딕"/>
              </a:rPr>
              <a:t>조치 후 예측 유온 55 ℃ 이상</a:t>
            </a:r>
          </a:p>
        </p:txBody>
      </p:sp>
      <p:sp>
        <p:nvSpPr>
          <p:cNvPr id="8" name="TextBox 7"/>
          <p:cNvSpPr txBox="1"/>
          <p:nvPr/>
        </p:nvSpPr>
        <p:spPr>
          <a:xfrm>
            <a:off x="892416" y="2714945"/>
            <a:ext cx="2654812"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임계값(Threshold) 55 ℃</a:t>
            </a:r>
          </a:p>
          <a:p>
            <a:pPr algn="ctr" eaLnBrk="0">
              <a:lnSpc>
                <a:spcPct val="110000"/>
              </a:lnSpc>
              <a:spcAft>
                <a:spcPts val="100"/>
              </a:spcAft>
            </a:pPr>
            <a:r>
              <a:rPr sz="1300" b="0">
                <a:solidFill>
                  <a:srgbClr val="556175"/>
                </a:solidFill>
                <a:latin typeface="맑은 고딕"/>
                <a:ea typeface="맑은 고딕"/>
                <a:cs typeface="맑은 고딕"/>
              </a:rPr>
              <a:t>이상: 기준값 포함</a:t>
            </a:r>
          </a:p>
        </p:txBody>
      </p:sp>
      <p:sp>
        <p:nvSpPr>
          <p:cNvPr id="9" name="TextBox 8"/>
          <p:cNvSpPr txBox="1"/>
          <p:nvPr/>
        </p:nvSpPr>
        <p:spPr>
          <a:xfrm>
            <a:off x="5639219" y="3329513"/>
            <a:ext cx="955732"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54.9 ℃</a:t>
            </a:r>
          </a:p>
          <a:p>
            <a:pPr algn="ctr" eaLnBrk="0">
              <a:lnSpc>
                <a:spcPct val="110000"/>
              </a:lnSpc>
              <a:spcAft>
                <a:spcPts val="100"/>
              </a:spcAft>
            </a:pPr>
            <a:r>
              <a:rPr sz="1300" b="0">
                <a:solidFill>
                  <a:srgbClr val="556175"/>
                </a:solidFill>
                <a:latin typeface="맑은 고딕"/>
                <a:ea typeface="맑은 고딕"/>
                <a:cs typeface="맑은 고딕"/>
              </a:rPr>
              <a:t>맞지 않음</a:t>
            </a:r>
          </a:p>
        </p:txBody>
      </p:sp>
      <p:sp>
        <p:nvSpPr>
          <p:cNvPr id="10" name="TextBox 9"/>
          <p:cNvSpPr txBox="1"/>
          <p:nvPr/>
        </p:nvSpPr>
        <p:spPr>
          <a:xfrm>
            <a:off x="7210868" y="3329513"/>
            <a:ext cx="955732"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55.0 ℃</a:t>
            </a:r>
          </a:p>
          <a:p>
            <a:pPr algn="ctr" eaLnBrk="0">
              <a:lnSpc>
                <a:spcPct val="110000"/>
              </a:lnSpc>
              <a:spcAft>
                <a:spcPts val="100"/>
              </a:spcAft>
            </a:pPr>
            <a:r>
              <a:rPr sz="1300" b="0">
                <a:solidFill>
                  <a:srgbClr val="556175"/>
                </a:solidFill>
                <a:latin typeface="맑은 고딕"/>
                <a:ea typeface="맑은 고딕"/>
                <a:cs typeface="맑은 고딕"/>
              </a:rPr>
              <a:t>맞음</a:t>
            </a:r>
          </a:p>
        </p:txBody>
      </p:sp>
      <p:sp>
        <p:nvSpPr>
          <p:cNvPr id="11" name="TextBox 10"/>
          <p:cNvSpPr txBox="1"/>
          <p:nvPr/>
        </p:nvSpPr>
        <p:spPr>
          <a:xfrm>
            <a:off x="8782517" y="3329513"/>
            <a:ext cx="955732"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55.1 ℃</a:t>
            </a:r>
          </a:p>
          <a:p>
            <a:pPr algn="ctr" eaLnBrk="0">
              <a:lnSpc>
                <a:spcPct val="110000"/>
              </a:lnSpc>
              <a:spcAft>
                <a:spcPts val="100"/>
              </a:spcAft>
            </a:pPr>
            <a:r>
              <a:rPr sz="1300" b="0">
                <a:solidFill>
                  <a:srgbClr val="556175"/>
                </a:solidFill>
                <a:latin typeface="맑은 고딕"/>
                <a:ea typeface="맑은 고딕"/>
                <a:cs typeface="맑은 고딕"/>
              </a:rPr>
              <a:t>맞음</a:t>
            </a:r>
          </a:p>
        </p:txBody>
      </p:sp>
      <p:sp>
        <p:nvSpPr>
          <p:cNvPr id="12" name="TextBox 11"/>
          <p:cNvSpPr txBox="1"/>
          <p:nvPr/>
        </p:nvSpPr>
        <p:spPr>
          <a:xfrm>
            <a:off x="892416" y="4156816"/>
            <a:ext cx="2654812"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fan100_hours &gt; 24</a:t>
            </a:r>
          </a:p>
          <a:p>
            <a:pPr algn="ctr" eaLnBrk="0">
              <a:lnSpc>
                <a:spcPct val="110000"/>
              </a:lnSpc>
              <a:spcAft>
                <a:spcPts val="100"/>
              </a:spcAft>
            </a:pPr>
            <a:r>
              <a:rPr sz="1300" b="0">
                <a:solidFill>
                  <a:srgbClr val="556175"/>
                </a:solidFill>
                <a:latin typeface="맑은 고딕"/>
                <a:ea typeface="맑은 고딕"/>
                <a:cs typeface="맑은 고딕"/>
              </a:rPr>
              <a:t>연속 운전이 24시간을 넘겼다면</a:t>
            </a:r>
          </a:p>
        </p:txBody>
      </p:sp>
      <p:sp>
        <p:nvSpPr>
          <p:cNvPr id="13" name="TextBox 12"/>
          <p:cNvSpPr txBox="1"/>
          <p:nvPr/>
        </p:nvSpPr>
        <p:spPr>
          <a:xfrm>
            <a:off x="892416" y="4889571"/>
            <a:ext cx="2654812"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임계값(Threshold) 24 h</a:t>
            </a:r>
          </a:p>
          <a:p>
            <a:pPr algn="ctr" eaLnBrk="0">
              <a:lnSpc>
                <a:spcPct val="110000"/>
              </a:lnSpc>
              <a:spcAft>
                <a:spcPts val="100"/>
              </a:spcAft>
            </a:pPr>
            <a:r>
              <a:rPr sz="1300" b="0">
                <a:solidFill>
                  <a:srgbClr val="556175"/>
                </a:solidFill>
                <a:latin typeface="맑은 고딕"/>
                <a:ea typeface="맑은 고딕"/>
                <a:cs typeface="맑은 고딕"/>
              </a:rPr>
              <a:t>넘으면: 기준값 제외</a:t>
            </a:r>
          </a:p>
        </p:txBody>
      </p:sp>
      <p:sp>
        <p:nvSpPr>
          <p:cNvPr id="14" name="TextBox 13"/>
          <p:cNvSpPr txBox="1"/>
          <p:nvPr/>
        </p:nvSpPr>
        <p:spPr>
          <a:xfrm>
            <a:off x="5639219" y="5523049"/>
            <a:ext cx="955732"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23.9 h</a:t>
            </a:r>
          </a:p>
          <a:p>
            <a:pPr algn="ctr" eaLnBrk="0">
              <a:lnSpc>
                <a:spcPct val="110000"/>
              </a:lnSpc>
              <a:spcAft>
                <a:spcPts val="100"/>
              </a:spcAft>
            </a:pPr>
            <a:r>
              <a:rPr sz="1300" b="0">
                <a:solidFill>
                  <a:srgbClr val="556175"/>
                </a:solidFill>
                <a:latin typeface="맑은 고딕"/>
                <a:ea typeface="맑은 고딕"/>
                <a:cs typeface="맑은 고딕"/>
              </a:rPr>
              <a:t>맞지 않음</a:t>
            </a:r>
          </a:p>
        </p:txBody>
      </p:sp>
      <p:sp>
        <p:nvSpPr>
          <p:cNvPr id="15" name="TextBox 14"/>
          <p:cNvSpPr txBox="1"/>
          <p:nvPr/>
        </p:nvSpPr>
        <p:spPr>
          <a:xfrm>
            <a:off x="7210868" y="5523049"/>
            <a:ext cx="955732"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24.0 h</a:t>
            </a:r>
          </a:p>
          <a:p>
            <a:pPr algn="ctr" eaLnBrk="0">
              <a:lnSpc>
                <a:spcPct val="110000"/>
              </a:lnSpc>
              <a:spcAft>
                <a:spcPts val="100"/>
              </a:spcAft>
            </a:pPr>
            <a:r>
              <a:rPr sz="1300" b="0">
                <a:solidFill>
                  <a:srgbClr val="556175"/>
                </a:solidFill>
                <a:latin typeface="맑은 고딕"/>
                <a:ea typeface="맑은 고딕"/>
                <a:cs typeface="맑은 고딕"/>
              </a:rPr>
              <a:t>맞지 않음</a:t>
            </a:r>
          </a:p>
        </p:txBody>
      </p:sp>
      <p:sp>
        <p:nvSpPr>
          <p:cNvPr id="16" name="TextBox 15"/>
          <p:cNvSpPr txBox="1"/>
          <p:nvPr/>
        </p:nvSpPr>
        <p:spPr>
          <a:xfrm>
            <a:off x="8782517" y="5523049"/>
            <a:ext cx="955732"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24.1 h</a:t>
            </a:r>
          </a:p>
          <a:p>
            <a:pPr algn="ctr" eaLnBrk="0">
              <a:lnSpc>
                <a:spcPct val="110000"/>
              </a:lnSpc>
              <a:spcAft>
                <a:spcPts val="100"/>
              </a:spcAft>
            </a:pPr>
            <a:r>
              <a:rPr sz="1300" b="0">
                <a:solidFill>
                  <a:srgbClr val="556175"/>
                </a:solidFill>
                <a:latin typeface="맑은 고딕"/>
                <a:ea typeface="맑은 고딕"/>
                <a:cs typeface="맑은 고딕"/>
              </a:rPr>
              <a:t>맞음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범위와 복수 조건: AND · OR</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범위는 하한과 상한의 두 검사를 한 행에 AND로 묶고, 하나만 맞아도 되는 조건은 같은 출력의 행 둘로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범위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검사를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행에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55 &lt; ts1  AND  ts1 &lt; 65</a:t>
            </a:r>
          </a:p>
          <a:p>
            <a:pPr algn="l" eaLnBrk="0">
              <a:lnSpc>
                <a:spcPct val="110000"/>
              </a:lnSpc>
              <a:spcAft>
                <a:spcPts val="200"/>
              </a:spcAft>
            </a:pPr>
            <a:r>
              <a:rPr sz="1300" b="0">
                <a:solidFill>
                  <a:srgbClr val="E8EEF6"/>
                </a:solidFill>
                <a:latin typeface="Consolas"/>
                <a:ea typeface="맑은 고딕"/>
                <a:cs typeface="맑은 고딕"/>
              </a:rPr>
              <a:t>  50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60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66</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실제</a:t>
            </a: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행</a:t>
            </a:r>
            <a:r>
              <a:rPr sz="1300" b="0">
                <a:solidFill>
                  <a:srgbClr val="E8EEF6"/>
                </a:solidFill>
                <a:latin typeface="Consolas"/>
                <a:ea typeface="맑은 고딕"/>
                <a:cs typeface="맑은 고딕"/>
              </a:rPr>
              <a:t>: rule:ac-pm-due-options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pattern == 'PM_DUE'</a:t>
            </a:r>
          </a:p>
          <a:p>
            <a:pPr algn="l" eaLnBrk="0">
              <a:lnSpc>
                <a:spcPct val="110000"/>
              </a:lnSpc>
              <a:spcAft>
                <a:spcPts val="200"/>
              </a:spcAft>
            </a:pPr>
            <a:r>
              <a:rPr sz="1300" b="0">
                <a:solidFill>
                  <a:srgbClr val="E8EEF6"/>
                </a:solidFill>
                <a:latin typeface="Consolas"/>
                <a:ea typeface="맑은 고딕"/>
                <a:cs typeface="맑은 고딕"/>
              </a:rPr>
              <a:t>  AND hours_since_pm &gt;= 1800</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SELECT  SOP-PM-11 ~ 14</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PM_DUE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1,950 h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맞음</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PM_DUE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1,700 h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OR: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행</a:t>
            </a:r>
            <a:r>
              <a:rPr sz="1300" b="0">
                <a:solidFill>
                  <a:srgbClr val="E8EEF6"/>
                </a:solidFill>
                <a:latin typeface="Consolas"/>
                <a:ea typeface="맑은 고딕"/>
                <a:cs typeface="맑은 고딕"/>
              </a:rPr>
              <a:t> 1  </a:t>
            </a:r>
            <a:r>
              <a:rPr sz="1300" b="0">
                <a:solidFill>
                  <a:srgbClr val="E8EEF6"/>
                </a:solidFill>
                <a:latin typeface="맑은 고딕"/>
                <a:ea typeface="맑은 고딕"/>
                <a:cs typeface="맑은 고딕"/>
              </a:rPr>
              <a:t>조건</a:t>
            </a:r>
            <a:r>
              <a:rPr sz="1300" b="0">
                <a:solidFill>
                  <a:srgbClr val="E8EEF6"/>
                </a:solidFill>
                <a:latin typeface="Consolas"/>
                <a:ea typeface="맑은 고딕"/>
                <a:cs typeface="맑은 고딕"/>
              </a:rPr>
              <a:t> A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X</a:t>
            </a:r>
          </a:p>
          <a:p>
            <a:pPr algn="l" eaLnBrk="0">
              <a:lnSpc>
                <a:spcPct val="110000"/>
              </a:lnSpc>
              <a:spcAft>
                <a:spcPts val="200"/>
              </a:spcAft>
            </a:pPr>
            <a:r>
              <a:rPr sz="1300" b="0">
                <a:solidFill>
                  <a:srgbClr val="E8EEF6"/>
                </a:solidFill>
                <a:latin typeface="맑은 고딕"/>
                <a:ea typeface="맑은 고딕"/>
                <a:cs typeface="맑은 고딕"/>
              </a:rPr>
              <a:t>행</a:t>
            </a:r>
            <a:r>
              <a:rPr sz="1300" b="0">
                <a:solidFill>
                  <a:srgbClr val="E8EEF6"/>
                </a:solidFill>
                <a:latin typeface="Consolas"/>
                <a:ea typeface="맑은 고딕"/>
                <a:cs typeface="맑은 고딕"/>
              </a:rPr>
              <a:t> 2  </a:t>
            </a:r>
            <a:r>
              <a:rPr sz="1300" b="0">
                <a:solidFill>
                  <a:srgbClr val="E8EEF6"/>
                </a:solidFill>
                <a:latin typeface="맑은 고딕"/>
                <a:ea typeface="맑은 고딕"/>
                <a:cs typeface="맑은 고딕"/>
              </a:rPr>
              <a:t>조건</a:t>
            </a:r>
            <a:r>
              <a:rPr sz="1300" b="0">
                <a:solidFill>
                  <a:srgbClr val="E8EEF6"/>
                </a:solidFill>
                <a:latin typeface="Consolas"/>
                <a:ea typeface="맑은 고딕"/>
                <a:cs typeface="맑은 고딕"/>
              </a:rPr>
              <a:t> 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X</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하한 · 상한</a:t>
            </a:r>
          </a:p>
          <a:p>
            <a:pPr algn="l" eaLnBrk="0">
              <a:lnSpc>
                <a:spcPct val="110000"/>
              </a:lnSpc>
              <a:spcAft>
                <a:spcPts val="400"/>
              </a:spcAft>
            </a:pPr>
            <a:r>
              <a:rPr sz="1400" b="0">
                <a:solidFill>
                  <a:srgbClr val="1F2A3A"/>
                </a:solidFill>
                <a:latin typeface="맑은 고딕"/>
                <a:ea typeface="맑은 고딕"/>
                <a:cs typeface="맑은 고딕"/>
              </a:rPr>
              <a:t>범위의 두 끝. 끝마다 포함 여부를 따로 정한다.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AND</a:t>
            </a:r>
          </a:p>
          <a:p>
            <a:pPr algn="l" eaLnBrk="0">
              <a:lnSpc>
                <a:spcPct val="110000"/>
              </a:lnSpc>
              <a:spcAft>
                <a:spcPts val="400"/>
              </a:spcAft>
            </a:pPr>
            <a:r>
              <a:rPr sz="1400" b="0">
                <a:solidFill>
                  <a:srgbClr val="1F2A3A"/>
                </a:solidFill>
                <a:latin typeface="맑은 고딕"/>
                <a:ea typeface="맑은 고딕"/>
                <a:cs typeface="맑은 고딕"/>
              </a:rPr>
              <a:t>한 행에 적은 검사는 모두 맞아야 출력을 낸다.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OR</a:t>
            </a:r>
          </a:p>
          <a:p>
            <a:pPr algn="l" eaLnBrk="0">
              <a:lnSpc>
                <a:spcPct val="110000"/>
              </a:lnSpc>
              <a:spcAft>
                <a:spcPts val="400"/>
              </a:spcAft>
            </a:pPr>
            <a:r>
              <a:rPr sz="1300" b="0">
                <a:solidFill>
                  <a:srgbClr val="1F2A3A"/>
                </a:solidFill>
                <a:latin typeface="맑은 고딕"/>
                <a:ea typeface="맑은 고딕"/>
                <a:cs typeface="맑은 고딕"/>
              </a:rPr>
              <a:t>행을 나누어 적는다. 두 행이 함께 맞을 수도 있다.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범위와 경보</a:t>
            </a:r>
          </a:p>
          <a:p>
            <a:pPr algn="l" eaLnBrk="0">
              <a:lnSpc>
                <a:spcPct val="110000"/>
              </a:lnSpc>
              <a:spcAft>
                <a:spcPts val="400"/>
              </a:spcAft>
            </a:pPr>
            <a:r>
              <a:rPr sz="1350" b="0">
                <a:solidFill>
                  <a:srgbClr val="1F2A3A"/>
                </a:solidFill>
                <a:latin typeface="맑은 고딕"/>
                <a:ea typeface="맑은 고딕"/>
                <a:cs typeface="맑은 고딕"/>
              </a:rPr>
              <a:t>55~65 ℃ 구간만으로 경보가 나지 않는다. 경보는 냉각 효율 70 % 미만과 상승 추세도 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후보 선택 · 제외 · 감점 · 경고의 출력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규칙의 출력은 후보에 올리기, 빼기, 깎아서 견주기, 알리고 남기기로 나뉘며 후보에 오른 것이 실행 허가는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출력(effect)</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HYD의 실제 규칙과 근거</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후보는</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후보 선택 SELECT</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failure_mode == 'fm:cooler-performance-loss' → SOP-COOL-11 · 12 · 13 (HM-8.5)</a:t>
            </a:r>
          </a:p>
          <a:p>
            <a:pPr algn="l" eaLnBrk="0">
              <a:lnSpc>
                <a:spcPct val="110000"/>
              </a:lnSpc>
            </a:pPr>
            <a:r>
              <a:rPr sz="1400" b="0">
                <a:solidFill>
                  <a:srgbClr val="1F2A3A"/>
                </a:solidFill>
                <a:latin typeface="맑은 고딕"/>
                <a:ea typeface="맑은 고딕"/>
                <a:cs typeface="맑은 고딕"/>
              </a:rPr>
              <a:t>cause == 'cause:cooler-fin-fouling' → SOP-COOL-14 (HM-8.7)</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올린다</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제외 EXCLUDE</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plc_mode != 'REMOTE_AUTO' → SOP-COOL-11 · 12 · 13 (HM-8.8)</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뺀다</a:t>
            </a:r>
          </a:p>
          <a:p>
            <a:pPr algn="l" eaLnBrk="0">
              <a:lnSpc>
                <a:spcPct val="110000"/>
              </a:lnSpc>
            </a:pPr>
            <a:r>
              <a:rPr sz="1250" b="1">
                <a:solidFill>
                  <a:srgbClr val="1A6FC4"/>
                </a:solidFill>
                <a:latin typeface="맑은 고딕"/>
                <a:ea typeface="맑은 고딕"/>
                <a:cs typeface="맑은 고딕"/>
              </a:rPr>
              <a:t>다른 점수로 되살아나지 않는다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감점 PENALTY</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fan100_hours &gt; 24 → 팬 최대 운전 조치만 20만 원 감점</a:t>
            </a:r>
          </a:p>
          <a:p>
            <a:pPr algn="l" eaLnBrk="0">
              <a:lnSpc>
                <a:spcPct val="110000"/>
              </a:lnSpc>
            </a:pPr>
            <a:r>
              <a:rPr sz="1400" b="0">
                <a:solidFill>
                  <a:srgbClr val="1F2A3A"/>
                </a:solidFill>
                <a:latin typeface="맑은 고딕"/>
                <a:ea typeface="맑은 고딕"/>
                <a:cs typeface="맑은 고딕"/>
              </a:rPr>
              <a:t>적용 대상: SOP-COOL-11 · 12 (HM-8.8)</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남기고 깎는다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경고 WARN</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forecast_ts1 &gt;= 55 → 모든 후보 (HM-8.6)</a:t>
            </a:r>
          </a:p>
          <a:p>
            <a:pPr algn="l" eaLnBrk="0">
              <a:lnSpc>
                <a:spcPct val="110000"/>
              </a:lnSpc>
            </a:pPr>
            <a:r>
              <a:rPr sz="1400" b="0">
                <a:solidFill>
                  <a:srgbClr val="1F2A3A"/>
                </a:solidFill>
                <a:latin typeface="맑은 고딕"/>
                <a:ea typeface="맑은 고딕"/>
                <a:cs typeface="맑은 고딕"/>
              </a:rPr>
              <a:t>「경보 해제에 실패할 수 있으므로 다른 조치와 비교한다」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남기고 알린다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DMN 규칙의 적용과 판단 근거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결정표를 지금의 값에 대어 판정하고, 모르는 값을 다루고, 근거를 남기는 방법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 Policy와 Collect</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Hit Policy는 여러 행이 맞을 때의 처리 방식이며, Collect는 맞은 행의 출력을 빠짐없이 모아 답으로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plc_mode      = 'REMOTE_AUTO'</a:t>
            </a:r>
          </a:p>
          <a:p>
            <a:pPr algn="l" eaLnBrk="0">
              <a:lnSpc>
                <a:spcPct val="110000"/>
              </a:lnSpc>
              <a:spcAft>
                <a:spcPts val="200"/>
              </a:spcAft>
            </a:pPr>
            <a:r>
              <a:rPr sz="1300" b="0">
                <a:solidFill>
                  <a:srgbClr val="E8EEF6"/>
                </a:solidFill>
                <a:latin typeface="Consolas"/>
                <a:ea typeface="맑은 고딕"/>
                <a:cs typeface="맑은 고딕"/>
              </a:rPr>
              <a:t>fan100_hours  = 30</a:t>
            </a:r>
          </a:p>
          <a:p>
            <a:pPr algn="l" eaLnBrk="0">
              <a:lnSpc>
                <a:spcPct val="110000"/>
              </a:lnSpc>
              <a:spcAft>
                <a:spcPts val="200"/>
              </a:spcAft>
            </a:pPr>
            <a:r>
              <a:rPr sz="1300" b="0">
                <a:solidFill>
                  <a:srgbClr val="E8EEF6"/>
                </a:solidFill>
                <a:latin typeface="Consolas"/>
                <a:ea typeface="맑은 고딕"/>
                <a:cs typeface="맑은 고딕"/>
              </a:rPr>
              <a:t>forecast_ts1  = 56</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적합성</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Hit Policy COLLECT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Rule 1  plc_mode != 'REMOTE_AUTO'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p>
          <a:p>
            <a:pPr algn="l" eaLnBrk="0">
              <a:lnSpc>
                <a:spcPct val="110000"/>
              </a:lnSpc>
              <a:spcAft>
                <a:spcPts val="200"/>
              </a:spcAft>
            </a:pPr>
            <a:r>
              <a:rPr sz="1300" b="0">
                <a:solidFill>
                  <a:srgbClr val="E8EEF6"/>
                </a:solidFill>
                <a:latin typeface="Consolas"/>
                <a:ea typeface="맑은 고딕"/>
                <a:cs typeface="맑은 고딕"/>
              </a:rPr>
              <a:t>Rule 2  fan100_hours &gt; 24         </a:t>
            </a:r>
            <a:r>
              <a:rPr sz="1300" b="0">
                <a:solidFill>
                  <a:srgbClr val="E8EEF6"/>
                </a:solidFill>
                <a:latin typeface="맑은 고딕"/>
                <a:ea typeface="맑은 고딕"/>
                <a:cs typeface="맑은 고딕"/>
              </a:rPr>
              <a:t>맞음</a:t>
            </a:r>
          </a:p>
          <a:p>
            <a:pPr algn="l" eaLnBrk="0">
              <a:lnSpc>
                <a:spcPct val="110000"/>
              </a:lnSpc>
              <a:spcAft>
                <a:spcPts val="200"/>
              </a:spcAft>
            </a:pPr>
            <a:r>
              <a:rPr sz="1300" b="0">
                <a:solidFill>
                  <a:srgbClr val="E8EEF6"/>
                </a:solidFill>
                <a:latin typeface="Consolas"/>
                <a:ea typeface="맑은 고딕"/>
                <a:cs typeface="맑은 고딕"/>
              </a:rPr>
              <a:t>Rule 3  forecast_ts1 &gt;= 55        </a:t>
            </a:r>
            <a:r>
              <a:rPr sz="1300" b="0">
                <a:solidFill>
                  <a:srgbClr val="E8EEF6"/>
                </a:solidFill>
                <a:latin typeface="맑은 고딕"/>
                <a:ea typeface="맑은 고딕"/>
                <a:cs typeface="맑은 고딕"/>
              </a:rPr>
              <a:t>맞음</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penalties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  (HM-8.8)]</a:t>
            </a:r>
          </a:p>
          <a:p>
            <a:pPr algn="l" eaLnBrk="0">
              <a:lnSpc>
                <a:spcPct val="110000"/>
              </a:lnSpc>
              <a:spcAft>
                <a:spcPts val="200"/>
              </a:spcAft>
            </a:pPr>
            <a:r>
              <a:rPr sz="1300" b="0">
                <a:solidFill>
                  <a:srgbClr val="E8EEF6"/>
                </a:solidFill>
                <a:latin typeface="Consolas"/>
                <a:ea typeface="맑은 고딕"/>
                <a:cs typeface="맑은 고딕"/>
              </a:rPr>
              <a:t>warnings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55</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a:t>
            </a:r>
            <a:r>
              <a:rPr sz="1300" b="0">
                <a:solidFill>
                  <a:srgbClr val="E8EEF6"/>
                </a:solidFill>
                <a:latin typeface="Consolas"/>
                <a:ea typeface="맑은 고딕"/>
                <a:cs typeface="맑은 고딕"/>
              </a:rPr>
              <a:t>  (HM-8.6)]</a:t>
            </a:r>
          </a:p>
          <a:p>
            <a:pPr algn="l" eaLnBrk="0">
              <a:lnSpc>
                <a:spcPct val="110000"/>
              </a:lnSpc>
              <a:spcAft>
                <a:spcPts val="200"/>
              </a:spcAft>
            </a:pPr>
            <a:r>
              <a:rPr sz="1300" b="0">
                <a:solidFill>
                  <a:srgbClr val="E8EEF6"/>
                </a:solidFill>
                <a:latin typeface="Consolas"/>
                <a:ea typeface="맑은 고딕"/>
                <a:cs typeface="맑은 고딕"/>
              </a:rPr>
              <a:t>violations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남는다</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Hit Policy</a:t>
            </a:r>
          </a:p>
          <a:p>
            <a:pPr algn="l" eaLnBrk="0">
              <a:lnSpc>
                <a:spcPct val="110000"/>
              </a:lnSpc>
              <a:spcAft>
                <a:spcPts val="400"/>
              </a:spcAft>
            </a:pPr>
            <a:r>
              <a:rPr sz="1400" b="0">
                <a:solidFill>
                  <a:srgbClr val="1F2A3A"/>
                </a:solidFill>
                <a:latin typeface="맑은 고딕"/>
                <a:ea typeface="맑은 고딕"/>
                <a:cs typeface="맑은 고딕"/>
              </a:rPr>
              <a:t>한 입력에 여러 행이 맞을(hit) 때 무엇을 답으로 삼을지 표마다 정한 방식이다.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Collect</a:t>
            </a:r>
          </a:p>
          <a:p>
            <a:pPr algn="l" eaLnBrk="0">
              <a:lnSpc>
                <a:spcPct val="110000"/>
              </a:lnSpc>
              <a:spcAft>
                <a:spcPts val="400"/>
              </a:spcAft>
            </a:pPr>
            <a:r>
              <a:rPr sz="1400" b="0">
                <a:solidFill>
                  <a:srgbClr val="1F2A3A"/>
                </a:solidFill>
                <a:latin typeface="맑은 고딕"/>
                <a:ea typeface="맑은 고딕"/>
                <a:cs typeface="맑은 고딕"/>
              </a:rPr>
              <a:t>맞은 행의 출력을 모두 모은다. 감점과 경고가 함께 남는다.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제외도 모인다</a:t>
            </a:r>
          </a:p>
          <a:p>
            <a:pPr algn="l" eaLnBrk="0">
              <a:lnSpc>
                <a:spcPct val="110000"/>
              </a:lnSpc>
              <a:spcAft>
                <a:spcPts val="400"/>
              </a:spcAft>
            </a:pPr>
            <a:r>
              <a:rPr sz="1400" b="0">
                <a:solidFill>
                  <a:srgbClr val="1F2A3A"/>
                </a:solidFill>
                <a:latin typeface="맑은 고딕"/>
                <a:ea typeface="맑은 고딕"/>
                <a:cs typeface="맑은 고딕"/>
              </a:rPr>
              <a:t>Rule 1도 맞았다면 제외가 함께 모이고, 그 후보를 추천에서 제외하고 사유를 남긴다.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처음 맞은 행에서 멈추면</a:t>
            </a:r>
          </a:p>
          <a:p>
            <a:pPr algn="l" eaLnBrk="0">
              <a:lnSpc>
                <a:spcPct val="110000"/>
              </a:lnSpc>
              <a:spcAft>
                <a:spcPts val="400"/>
              </a:spcAft>
            </a:pPr>
            <a:r>
              <a:rPr sz="1400" b="0">
                <a:solidFill>
                  <a:srgbClr val="1F2A3A"/>
                </a:solidFill>
                <a:latin typeface="맑은 고딕"/>
                <a:ea typeface="맑은 고딕"/>
                <a:cs typeface="맑은 고딕"/>
              </a:rPr>
              <a:t>감점만 보고 경고를 놓친다.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 Policy 네 방식의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감점 행과 경고 행이 함께 맞은 같은 입력에도 Unique · First · Priority · Collect는 서로 다른 답을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정의</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같은 입력의 답</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Unique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겹쳐 맞는 행을 허용하지 않는다. 두 행이 맞으면 표의 오류이다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오류</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First</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행의 차례대로 보아 처음 맞은 행의 출력을 쓴다. 행의 순서가 뜻을 갖는다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20만 원</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Priority</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출력 값에 매긴 우선순위로 맞은 출력 가운데 가장 높은 하나를 쓴다</a:t>
            </a:r>
          </a:p>
          <a:p>
            <a:pPr algn="l" eaLnBrk="0">
              <a:lnSpc>
                <a:spcPct val="110000"/>
              </a:lnSpc>
            </a:pPr>
            <a:r>
              <a:rPr sz="1400" b="0">
                <a:solidFill>
                  <a:srgbClr val="1F2A3A"/>
                </a:solidFill>
                <a:latin typeface="맑은 고딕"/>
                <a:ea typeface="맑은 고딕"/>
                <a:cs typeface="맑은 고딕"/>
              </a:rPr>
              <a:t>예: 제외 &gt; 경고 &gt; 감점으로 매겼다면</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경고</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Collect</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맞은 행의 출력을 모두 모은다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감점과 경고</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고르는 기준</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겹침을 금지하면 Unique, 예외를 위에 두면 First, 가장 무거운 판정만 필요하면 Priority, 빠짐없이 알아야 하면 Collect</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표의 목적</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결정표의 누락 · 중복 · 상충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입력을 표에 대어 보면 맞는 행이 없는 누락, 같은 답이 겹치는 중복, 다른 답이 부딪치는 상충이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결함</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규칙 조각과 시험 입력</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표의 정책에 따라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누락</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「예측 55 ℃ 미만: 통과」 · 「60 ℃ 이상: 제외」</a:t>
            </a:r>
          </a:p>
          <a:p>
            <a:pPr algn="l" eaLnBrk="0">
              <a:lnSpc>
                <a:spcPct val="110000"/>
              </a:lnSpc>
            </a:pPr>
            <a:r>
              <a:rPr sz="1400" b="0">
                <a:solidFill>
                  <a:srgbClr val="1F2A3A"/>
                </a:solidFill>
                <a:latin typeface="맑은 고딕"/>
                <a:ea typeface="맑은 고딕"/>
                <a:cs typeface="맑은 고딕"/>
              </a:rPr>
              <a:t>입력 57 ℃ → 맞는 행이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답을 내지 못한다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중복</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「55 ℃ 이상: 경고」 · 「58 ℃ 이상: 경고」</a:t>
            </a:r>
          </a:p>
          <a:p>
            <a:pPr algn="l" eaLnBrk="0">
              <a:lnSpc>
                <a:spcPct val="110000"/>
              </a:lnSpc>
            </a:pPr>
            <a:r>
              <a:rPr sz="1400" b="0">
                <a:solidFill>
                  <a:srgbClr val="1F2A3A"/>
                </a:solidFill>
                <a:latin typeface="맑은 고딕"/>
                <a:ea typeface="맑은 고딕"/>
                <a:cs typeface="맑은 고딕"/>
              </a:rPr>
              <a:t>입력 59 ℃ → 두 행이 같은 답</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중복 금지 표: 오류</a:t>
            </a:r>
          </a:p>
          <a:p>
            <a:pPr algn="l" eaLnBrk="0">
              <a:lnSpc>
                <a:spcPct val="110000"/>
              </a:lnSpc>
            </a:pPr>
            <a:r>
              <a:rPr sz="1250" b="1">
                <a:solidFill>
                  <a:srgbClr val="556175"/>
                </a:solidFill>
                <a:latin typeface="맑은 고딕"/>
                <a:ea typeface="맑은 고딕"/>
                <a:cs typeface="맑은 고딕"/>
              </a:rPr>
              <a:t>모으는 표: 경고 둘</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상충</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「55 ℃ 이상: 경고」 · 「58 ℃ 이상: 제외」</a:t>
            </a:r>
          </a:p>
          <a:p>
            <a:pPr algn="l" eaLnBrk="0">
              <a:lnSpc>
                <a:spcPct val="110000"/>
              </a:lnSpc>
            </a:pPr>
            <a:r>
              <a:rPr sz="1400" b="0">
                <a:solidFill>
                  <a:srgbClr val="1F2A3A"/>
                </a:solidFill>
                <a:latin typeface="맑은 고딕"/>
                <a:ea typeface="맑은 고딕"/>
                <a:cs typeface="맑은 고딕"/>
              </a:rPr>
              <a:t>입력 59 ℃ → 경고인가 제외인가</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중복 금지 표: 오류</a:t>
            </a:r>
          </a:p>
          <a:p>
            <a:pPr algn="l" eaLnBrk="0">
              <a:lnSpc>
                <a:spcPct val="110000"/>
              </a:lnSpc>
            </a:pPr>
            <a:r>
              <a:rPr sz="1250" b="1">
                <a:solidFill>
                  <a:srgbClr val="1A6FC4"/>
                </a:solidFill>
                <a:latin typeface="맑은 고딕"/>
                <a:ea typeface="맑은 고딕"/>
                <a:cs typeface="맑은 고딕"/>
              </a:rPr>
              <a:t>모으는 표: 둘 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HYD가 잡는 것</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순위 정책 행이 둘 맞으면 오류로 거절한다</a:t>
            </a:r>
          </a:p>
          <a:p>
            <a:pPr algn="l" eaLnBrk="0">
              <a:lnSpc>
                <a:spcPct val="110000"/>
              </a:lnSpc>
            </a:pPr>
            <a:r>
              <a:rPr sz="1400" b="0">
                <a:solidFill>
                  <a:srgbClr val="1F2A3A"/>
                </a:solidFill>
                <a:latin typeface="맑은 고딕"/>
                <a:ea typeface="맑은 고딕"/>
                <a:cs typeface="맑은 고딕"/>
              </a:rPr>
              <a:t>문장(when)과 검사(TESTS)가 다르면 검사기가 잡는다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평가 · 검사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값을 얻지 못한 입력의 처리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값을 모르는 조건을 통과로 치면 위험한 조치가 남으므로, 같은 행의 다른 조건과 규칙의 종류로 처리를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예</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처리</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제외 · 감점 규칙의 값을 모른다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통신이 끊겨 plc_mode를 읽지 못했다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「확인되지 않은 조건 (plc_mode)」</a:t>
            </a:r>
          </a:p>
          <a:p>
            <a:pPr algn="l" eaLnBrk="0">
              <a:lnSpc>
                <a:spcPct val="110000"/>
              </a:lnSpc>
            </a:pPr>
            <a:r>
              <a:rPr sz="1250" b="1">
                <a:solidFill>
                  <a:srgbClr val="1A6FC4"/>
                </a:solidFill>
                <a:latin typeface="맑은 고딕"/>
                <a:ea typeface="맑은 고딕"/>
                <a:cs typeface="맑은 고딕"/>
              </a:rPr>
              <a:t>제외 쪽으로 처리한다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같은 행의 다른 조건이 거짓이다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skill_kind == 'control' AND plc_mode != 'REMOTE_AUTO'</a:t>
            </a:r>
          </a:p>
          <a:p>
            <a:pPr algn="l" eaLnBrk="0">
              <a:lnSpc>
                <a:spcPct val="110000"/>
              </a:lnSpc>
            </a:pPr>
            <a:r>
              <a:rPr sz="1400" b="0">
                <a:solidFill>
                  <a:srgbClr val="1F2A3A"/>
                </a:solidFill>
                <a:latin typeface="맑은 고딕"/>
                <a:ea typeface="맑은 고딕"/>
                <a:cs typeface="맑은 고딕"/>
              </a:rPr>
              <a:t>작업지시 후보는 앞 조건이 거짓</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규칙이 맞지 않는다</a:t>
            </a:r>
          </a:p>
          <a:p>
            <a:pPr algn="l" eaLnBrk="0">
              <a:lnSpc>
                <a:spcPct val="110000"/>
              </a:lnSpc>
            </a:pPr>
            <a:r>
              <a:rPr sz="1250" b="1">
                <a:solidFill>
                  <a:srgbClr val="556175"/>
                </a:solidFill>
                <a:latin typeface="맑은 고딕"/>
                <a:ea typeface="맑은 고딕"/>
                <a:cs typeface="맑은 고딕"/>
              </a:rPr>
              <a:t>모르는 값은 상관없다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경고 규칙의 값을 모른다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경고 조건의 입력이 비었다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「확인되지 않은 조건」을</a:t>
            </a:r>
          </a:p>
          <a:p>
            <a:pPr algn="l" eaLnBrk="0">
              <a:lnSpc>
                <a:spcPct val="110000"/>
              </a:lnSpc>
            </a:pPr>
            <a:r>
              <a:rPr sz="1250" b="1">
                <a:solidFill>
                  <a:srgbClr val="556175"/>
                </a:solidFill>
                <a:latin typeface="맑은 고딕"/>
                <a:ea typeface="맑은 고딕"/>
                <a:cs typeface="맑은 고딕"/>
              </a:rPr>
              <a:t>경고로 남긴다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모든 후보가 제외되었다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제어 후보만 있는데 운전 모드를 모른다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추천을 내지 않고</a:t>
            </a:r>
          </a:p>
          <a:p>
            <a:pPr algn="l" eaLnBrk="0">
              <a:lnSpc>
                <a:spcPct val="110000"/>
              </a:lnSpc>
            </a:pPr>
            <a:r>
              <a:rPr sz="1250" b="1">
                <a:solidFill>
                  <a:srgbClr val="556175"/>
                </a:solidFill>
                <a:latin typeface="맑은 고딕"/>
                <a:ea typeface="맑은 고딕"/>
                <a:cs typeface="맑은 고딕"/>
              </a:rPr>
              <a:t>제외 사유를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판정의 근거: 지식 출처와 결과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걸린 규칙 · 조건 · 판정 · 출처와 그때 읽은 값이 한 묶음으로 남아야 승인하는 사람이 근거 원문까지 되짚는다.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걸린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r>
              <a:rPr sz="1300" b="0">
                <a:solidFill>
                  <a:srgbClr val="E8EEF6"/>
                </a:solidFill>
                <a:latin typeface="Consolas"/>
                <a:ea typeface="맑은 고딕"/>
                <a:cs typeface="맑은 고딕"/>
              </a:rPr>
              <a:t>rule      rule:cmp-fan100-over-24h</a:t>
            </a:r>
          </a:p>
          <a:p>
            <a:pPr algn="l" eaLnBrk="0">
              <a:lnSpc>
                <a:spcPct val="110000"/>
              </a:lnSpc>
              <a:spcAft>
                <a:spcPts val="200"/>
              </a:spcAft>
            </a:pPr>
            <a:r>
              <a:rPr sz="1300" b="0">
                <a:solidFill>
                  <a:srgbClr val="E8EEF6"/>
                </a:solidFill>
                <a:latin typeface="Consolas"/>
                <a:ea typeface="맑은 고딕"/>
                <a:cs typeface="맑은 고딕"/>
              </a:rPr>
              <a:t>effect    PENALTY</a:t>
            </a:r>
          </a:p>
          <a:p>
            <a:pPr algn="l" eaLnBrk="0">
              <a:lnSpc>
                <a:spcPct val="110000"/>
              </a:lnSpc>
              <a:spcAft>
                <a:spcPts val="200"/>
              </a:spcAft>
            </a:pPr>
            <a:r>
              <a:rPr sz="1300" b="0">
                <a:solidFill>
                  <a:srgbClr val="E8EEF6"/>
                </a:solidFill>
                <a:latin typeface="Consolas"/>
                <a:ea typeface="맑은 고딕"/>
                <a:cs typeface="맑은 고딕"/>
              </a:rPr>
              <a:t>when      fan100_hours &gt; 24</a:t>
            </a:r>
          </a:p>
          <a:p>
            <a:pPr algn="l" eaLnBrk="0">
              <a:lnSpc>
                <a:spcPct val="110000"/>
              </a:lnSpc>
              <a:spcAft>
                <a:spcPts val="200"/>
              </a:spcAft>
            </a:pPr>
            <a:r>
              <a:rPr sz="1300" b="0">
                <a:solidFill>
                  <a:srgbClr val="E8EEF6"/>
                </a:solidFill>
                <a:latin typeface="Consolas"/>
                <a:ea typeface="맑은 고딕"/>
                <a:cs typeface="맑은 고딕"/>
              </a:rPr>
              <a:t>penalty   20   (</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measure   msr:maint-cost</a:t>
            </a:r>
          </a:p>
          <a:p>
            <a:pPr algn="l" eaLnBrk="0">
              <a:lnSpc>
                <a:spcPct val="110000"/>
              </a:lnSpc>
              <a:spcAft>
                <a:spcPts val="200"/>
              </a:spcAft>
            </a:pPr>
            <a:r>
              <a:rPr sz="1300" b="0">
                <a:solidFill>
                  <a:srgbClr val="E8EEF6"/>
                </a:solidFill>
                <a:latin typeface="Consolas"/>
                <a:ea typeface="맑은 고딕"/>
                <a:cs typeface="맑은 고딕"/>
              </a:rPr>
              <a:t>sources   ["HM-8.8"]</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fan100_hours = 30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시각</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HM-8.8</a:t>
            </a:r>
          </a:p>
          <a:p>
            <a:pPr algn="l" eaLnBrk="0">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넘겼다면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손실로</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감점해서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지식 출처(Knowledge Source)</a:t>
            </a:r>
          </a:p>
          <a:p>
            <a:pPr algn="l" eaLnBrk="0">
              <a:lnSpc>
                <a:spcPct val="110000"/>
              </a:lnSpc>
              <a:spcAft>
                <a:spcPts val="400"/>
              </a:spcAft>
            </a:pPr>
            <a:r>
              <a:rPr sz="1400" b="0">
                <a:solidFill>
                  <a:srgbClr val="1F2A3A"/>
                </a:solidFill>
                <a:latin typeface="맑은 고딕"/>
                <a:ea typeface="맑은 고딕"/>
                <a:cs typeface="맑은 고딕"/>
              </a:rPr>
              <a:t>규칙의 권위 있는 근거 문서. 규칙은 DERIVED_FROM으로 매뉴얼의 절을 가리킨다.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rule · when</a:t>
            </a:r>
          </a:p>
          <a:p>
            <a:pPr algn="l" eaLnBrk="0">
              <a:lnSpc>
                <a:spcPct val="110000"/>
              </a:lnSpc>
              <a:spcAft>
                <a:spcPts val="400"/>
              </a:spcAft>
            </a:pPr>
            <a:r>
              <a:rPr sz="1400" b="0">
                <a:solidFill>
                  <a:srgbClr val="1F2A3A"/>
                </a:solidFill>
                <a:latin typeface="맑은 고딕"/>
                <a:ea typeface="맑은 고딕"/>
                <a:cs typeface="맑은 고딕"/>
              </a:rPr>
              <a:t>어느 규칙이 어떤 조건으로 걸렸는가.</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effect · penalty · measure</a:t>
            </a:r>
          </a:p>
          <a:p>
            <a:pPr algn="l" eaLnBrk="0">
              <a:lnSpc>
                <a:spcPct val="110000"/>
              </a:lnSpc>
              <a:spcAft>
                <a:spcPts val="400"/>
              </a:spcAft>
            </a:pPr>
            <a:r>
              <a:rPr sz="1400" b="0">
                <a:solidFill>
                  <a:srgbClr val="1F2A3A"/>
                </a:solidFill>
                <a:latin typeface="맑은 고딕"/>
                <a:ea typeface="맑은 고딕"/>
                <a:cs typeface="맑은 고딕"/>
              </a:rPr>
              <a:t>판정의 종류와 크기, 깎이는 지표.</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trace</a:t>
            </a:r>
          </a:p>
          <a:p>
            <a:pPr algn="l" eaLnBrk="0">
              <a:lnSpc>
                <a:spcPct val="110000"/>
              </a:lnSpc>
              <a:spcAft>
                <a:spcPts val="400"/>
              </a:spcAft>
            </a:pPr>
            <a:r>
              <a:rPr sz="1400" b="0">
                <a:solidFill>
                  <a:srgbClr val="1F2A3A"/>
                </a:solidFill>
                <a:latin typeface="맑은 고딕"/>
                <a:ea typeface="맑은 고딕"/>
                <a:cs typeface="맑은 고딕"/>
              </a:rPr>
              <a:t>맞은 행 · 맞지 않은 행 · 모르는 값까지 후보 선택·규정 표의 행별 평가 기록.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DMN: 판단 흐름과 지식 구조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후보 선택 · 규정 검사 · 순위 평가의 차례와 규칙의 저장 구조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 진단에서 조치 순위까지의 판단 흐름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 진단의 답으로 후보를 모으고, 후보별 규정 검사 결과를 남긴 뒤, 허용된 후보의 순위를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593149"/>
            <a:ext cx="2485567" cy="279641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76029"/>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579283" y="2929648"/>
            <a:ext cx="424281" cy="424281"/>
          </a:xfrm>
          <a:prstGeom prst="rect">
            <a:avLst/>
          </a:prstGeom>
        </p:spPr>
      </p:pic>
      <p:sp>
        <p:nvSpPr>
          <p:cNvPr id="9" name="TextBox 8"/>
          <p:cNvSpPr txBox="1"/>
          <p:nvPr/>
        </p:nvSpPr>
        <p:spPr>
          <a:xfrm>
            <a:off x="621792" y="3580701"/>
            <a:ext cx="2339263" cy="1735708"/>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원인 진단</a:t>
            </a:r>
          </a:p>
          <a:p>
            <a:pPr algn="ctr" eaLnBrk="0">
              <a:lnSpc>
                <a:spcPct val="110000"/>
              </a:lnSpc>
              <a:spcAft>
                <a:spcPts val="400"/>
              </a:spcAft>
            </a:pPr>
            <a:r>
              <a:rPr sz="1400" b="0">
                <a:solidFill>
                  <a:srgbClr val="1F2A3A"/>
                </a:solidFill>
                <a:latin typeface="맑은 고딕"/>
                <a:ea typeface="맑은 고딕"/>
                <a:cs typeface="맑은 고딕"/>
              </a:rPr>
              <a:t>증상과 증거 대조</a:t>
            </a:r>
          </a:p>
          <a:p>
            <a:pPr algn="ctr" eaLnBrk="0">
              <a:lnSpc>
                <a:spcPct val="110000"/>
              </a:lnSpc>
              <a:spcAft>
                <a:spcPts val="400"/>
              </a:spcAft>
            </a:pPr>
            <a:r>
              <a:rPr sz="1400" b="0">
                <a:solidFill>
                  <a:srgbClr val="1F2A3A"/>
                </a:solidFill>
                <a:latin typeface="맑은 고딕"/>
                <a:ea typeface="맑은 고딕"/>
                <a:cs typeface="맑은 고딕"/>
              </a:rPr>
              <a:t>→ 고장 유형 · 원인</a:t>
            </a:r>
          </a:p>
          <a:p>
            <a:pPr algn="ctr" eaLnBrk="0">
              <a:lnSpc>
                <a:spcPct val="110000"/>
              </a:lnSpc>
              <a:spcAft>
                <a:spcPts val="400"/>
              </a:spcAft>
            </a:pPr>
            <a:r>
              <a:rPr sz="1400" b="0">
                <a:solidFill>
                  <a:srgbClr val="1F2A3A"/>
                </a:solidFill>
                <a:latin typeface="맑은 고딕"/>
                <a:ea typeface="맑은 고딕"/>
                <a:cs typeface="맑은 고딕"/>
              </a:rPr>
              <a:t>쿨러 핀 오염</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93149"/>
            <a:ext cx="2485567" cy="279641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76029"/>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4448898" y="2929648"/>
            <a:ext cx="424281" cy="424281"/>
          </a:xfrm>
          <a:prstGeom prst="rect">
            <a:avLst/>
          </a:prstGeom>
        </p:spPr>
      </p:pic>
      <p:sp>
        <p:nvSpPr>
          <p:cNvPr id="14" name="TextBox 13"/>
          <p:cNvSpPr txBox="1"/>
          <p:nvPr/>
        </p:nvSpPr>
        <p:spPr>
          <a:xfrm>
            <a:off x="3491407" y="3580701"/>
            <a:ext cx="2339263" cy="1735708"/>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후보 선택</a:t>
            </a:r>
          </a:p>
          <a:p>
            <a:pPr algn="ctr" eaLnBrk="0">
              <a:lnSpc>
                <a:spcPct val="110000"/>
              </a:lnSpc>
              <a:spcAft>
                <a:spcPts val="400"/>
              </a:spcAft>
            </a:pPr>
            <a:r>
              <a:rPr sz="1400" b="0">
                <a:solidFill>
                  <a:srgbClr val="1F2A3A"/>
                </a:solidFill>
                <a:latin typeface="맑은 고딕"/>
                <a:ea typeface="맑은 고딕"/>
                <a:cs typeface="맑은 고딕"/>
              </a:rPr>
              <a:t>COLLECT</a:t>
            </a:r>
          </a:p>
          <a:p>
            <a:pPr algn="ctr" eaLnBrk="0">
              <a:lnSpc>
                <a:spcPct val="110000"/>
              </a:lnSpc>
              <a:spcAft>
                <a:spcPts val="400"/>
              </a:spcAft>
            </a:pPr>
            <a:r>
              <a:rPr sz="1400" b="0">
                <a:solidFill>
                  <a:srgbClr val="1F2A3A"/>
                </a:solidFill>
                <a:latin typeface="맑은 고딕"/>
                <a:ea typeface="맑은 고딕"/>
                <a:cs typeface="맑은 고딕"/>
              </a:rPr>
              <a:t>맞은 규칙의 조치를 모음</a:t>
            </a:r>
          </a:p>
          <a:p>
            <a:pPr algn="ctr" eaLnBrk="0">
              <a:lnSpc>
                <a:spcPct val="110000"/>
              </a:lnSpc>
              <a:spcAft>
                <a:spcPts val="400"/>
              </a:spcAft>
            </a:pPr>
            <a:r>
              <a:rPr sz="1400" b="0">
                <a:solidFill>
                  <a:srgbClr val="1F2A3A"/>
                </a:solidFill>
                <a:latin typeface="맑은 고딕"/>
                <a:ea typeface="맑은 고딕"/>
                <a:cs typeface="맑은 고딕"/>
              </a:rPr>
              <a:t>→ 팬 운전 · 감산 · 세척</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93149"/>
            <a:ext cx="2485567" cy="279641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76029"/>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7318514" y="2929648"/>
            <a:ext cx="424281" cy="424281"/>
          </a:xfrm>
          <a:prstGeom prst="rect">
            <a:avLst/>
          </a:prstGeom>
        </p:spPr>
      </p:pic>
      <p:sp>
        <p:nvSpPr>
          <p:cNvPr id="19" name="TextBox 18"/>
          <p:cNvSpPr txBox="1"/>
          <p:nvPr/>
        </p:nvSpPr>
        <p:spPr>
          <a:xfrm>
            <a:off x="6361023" y="3580701"/>
            <a:ext cx="2339263" cy="1735708"/>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규정 검사</a:t>
            </a:r>
          </a:p>
          <a:p>
            <a:pPr algn="ctr" eaLnBrk="0">
              <a:lnSpc>
                <a:spcPct val="110000"/>
              </a:lnSpc>
              <a:spcAft>
                <a:spcPts val="400"/>
              </a:spcAft>
            </a:pPr>
            <a:r>
              <a:rPr sz="1400" b="0">
                <a:solidFill>
                  <a:srgbClr val="1F2A3A"/>
                </a:solidFill>
                <a:latin typeface="맑은 고딕"/>
                <a:ea typeface="맑은 고딕"/>
                <a:cs typeface="맑은 고딕"/>
              </a:rPr>
              <a:t>COLLECT</a:t>
            </a:r>
          </a:p>
          <a:p>
            <a:pPr algn="ctr" eaLnBrk="0">
              <a:lnSpc>
                <a:spcPct val="110000"/>
              </a:lnSpc>
              <a:spcAft>
                <a:spcPts val="400"/>
              </a:spcAft>
            </a:pPr>
            <a:r>
              <a:rPr sz="1400" b="0">
                <a:solidFill>
                  <a:srgbClr val="1F2A3A"/>
                </a:solidFill>
                <a:latin typeface="맑은 고딕"/>
                <a:ea typeface="맑은 고딕"/>
                <a:cs typeface="맑은 고딕"/>
              </a:rPr>
              <a:t>후보별 조건을 검사</a:t>
            </a:r>
          </a:p>
          <a:p>
            <a:pPr algn="ctr" eaLnBrk="0">
              <a:lnSpc>
                <a:spcPct val="110000"/>
              </a:lnSpc>
              <a:spcAft>
                <a:spcPts val="400"/>
              </a:spcAft>
            </a:pPr>
            <a:r>
              <a:rPr sz="1400" b="0">
                <a:solidFill>
                  <a:srgbClr val="1F2A3A"/>
                </a:solidFill>
                <a:latin typeface="맑은 고딕"/>
                <a:ea typeface="맑은 고딕"/>
                <a:cs typeface="맑은 고딕"/>
              </a:rPr>
              <a:t>→ 제외 · 감점 · 경고</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93149"/>
            <a:ext cx="2485567" cy="279641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76029"/>
            <a:ext cx="731520" cy="731520"/>
          </a:xfrm>
          <a:prstGeom prst="ellipse">
            <a:avLst/>
          </a:prstGeom>
          <a:solidFill>
            <a:srgbClr val="5CB8F2"/>
          </a:solidFill>
          <a:ln>
            <a:noFill/>
          </a:ln>
        </p:spPr>
        <p:txBody>
          <a:bodyPr rtlCol="0" anchor="ctr"/>
          <a:lstStyle/>
          <a:p>
            <a:pPr algn="ctr"/>
          </a:p>
        </p:txBody>
      </p:sp>
      <p:pic>
        <p:nvPicPr>
          <p:cNvPr id="23" name="아이콘:trophy" descr="trophy_13294B_1.6.png"/>
          <p:cNvPicPr>
            <a:picLocks noChangeAspect="1"/>
          </p:cNvPicPr>
          <p:nvPr/>
        </p:nvPicPr>
        <p:blipFill>
          <a:blip r:embed="rId6"/>
          <a:stretch>
            <a:fillRect/>
          </a:stretch>
        </p:blipFill>
        <p:spPr>
          <a:xfrm>
            <a:off x="10188130" y="2929648"/>
            <a:ext cx="424281" cy="424281"/>
          </a:xfrm>
          <a:prstGeom prst="rect">
            <a:avLst/>
          </a:prstGeom>
        </p:spPr>
      </p:pic>
      <p:sp>
        <p:nvSpPr>
          <p:cNvPr id="24" name="TextBox 23"/>
          <p:cNvSpPr txBox="1"/>
          <p:nvPr/>
        </p:nvSpPr>
        <p:spPr>
          <a:xfrm>
            <a:off x="9230639" y="3580701"/>
            <a:ext cx="2339263" cy="1735708"/>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순위 평가</a:t>
            </a:r>
          </a:p>
          <a:p>
            <a:pPr algn="ctr" eaLnBrk="0">
              <a:lnSpc>
                <a:spcPct val="110000"/>
              </a:lnSpc>
              <a:spcAft>
                <a:spcPts val="400"/>
              </a:spcAft>
            </a:pPr>
            <a:r>
              <a:rPr sz="1400" b="0">
                <a:solidFill>
                  <a:srgbClr val="1F2A3A"/>
                </a:solidFill>
                <a:latin typeface="맑은 고딕"/>
                <a:ea typeface="맑은 고딕"/>
                <a:cs typeface="맑은 고딕"/>
              </a:rPr>
              <a:t>UNIQUE</a:t>
            </a:r>
          </a:p>
          <a:p>
            <a:pPr algn="ctr" eaLnBrk="0">
              <a:lnSpc>
                <a:spcPct val="110000"/>
              </a:lnSpc>
              <a:spcAft>
                <a:spcPts val="400"/>
              </a:spcAft>
            </a:pPr>
            <a:r>
              <a:rPr sz="1400" b="0">
                <a:solidFill>
                  <a:srgbClr val="1F2A3A"/>
                </a:solidFill>
                <a:latin typeface="맑은 고딕"/>
                <a:ea typeface="맑은 고딕"/>
                <a:cs typeface="맑은 고딕"/>
              </a:rPr>
              <a:t>적용할 순위 정책 하나</a:t>
            </a:r>
          </a:p>
          <a:p>
            <a:pPr algn="ctr" eaLnBrk="0">
              <a:lnSpc>
                <a:spcPct val="110000"/>
              </a:lnSpc>
              <a:spcAft>
                <a:spcPts val="400"/>
              </a:spcAft>
            </a:pPr>
            <a:r>
              <a:rPr sz="1400" b="0">
                <a:solidFill>
                  <a:srgbClr val="1F2A3A"/>
                </a:solidFill>
                <a:latin typeface="맑은 고딕"/>
                <a:ea typeface="맑은 고딕"/>
                <a:cs typeface="맑은 고딕"/>
              </a:rPr>
              <a:t>→ 점수와 추천안</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DMN의 개념과 HYD의 평가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DMN의 결정 · 입력 · 규칙 · 처리 정책을 그래프에 저장하고, 그 정의에 맞는 평가 함수로 판정한다.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DMN 표준</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HYD에서의 표현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결정과 규칙</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Decision · DecisionTable · Rule</a:t>
            </a:r>
          </a:p>
          <a:p>
            <a:pPr algn="l" eaLnBrk="0">
              <a:lnSpc>
                <a:spcPct val="110000"/>
              </a:lnSpc>
            </a:pPr>
            <a:r>
              <a:rPr sz="1400" b="0">
                <a:solidFill>
                  <a:srgbClr val="1F2A3A"/>
                </a:solidFill>
                <a:latin typeface="맑은 고딕"/>
                <a:ea typeface="맑은 고딕"/>
                <a:cs typeface="맑은 고딕"/>
              </a:rPr>
              <a:t>업무 판단을 모델과 표로 정의한다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노드와 관계로 저장</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조건</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FEEL 식 언어로 입력 조건을 표현한다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TESTS의 연산자 · 값</a:t>
            </a:r>
          </a:p>
          <a:p>
            <a:pPr algn="l" eaLnBrk="0">
              <a:lnSpc>
                <a:spcPct val="110000"/>
              </a:lnSpc>
            </a:pPr>
            <a:r>
              <a:rPr sz="1250" b="1">
                <a:solidFill>
                  <a:srgbClr val="556175"/>
                </a:solidFill>
                <a:latin typeface="맑은 고딕"/>
                <a:ea typeface="맑은 고딕"/>
                <a:cs typeface="맑은 고딕"/>
              </a:rPr>
              <a:t>한 행의 검사는 AND</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처리 정책</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Hit Policy로 일치 행의 처리 방식을 정한다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 · 규정: COLLECT</a:t>
            </a:r>
          </a:p>
          <a:p>
            <a:pPr algn="l" eaLnBrk="0">
              <a:lnSpc>
                <a:spcPct val="110000"/>
              </a:lnSpc>
            </a:pPr>
            <a:r>
              <a:rPr sz="1250" b="1">
                <a:solidFill>
                  <a:srgbClr val="556175"/>
                </a:solidFill>
                <a:latin typeface="맑은 고딕"/>
                <a:ea typeface="맑은 고딕"/>
                <a:cs typeface="맑은 고딕"/>
              </a:rPr>
              <a:t>순위 정책: UNIQUE</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표준 DMN 모델을 실행하는 엔진</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그래프의 규칙을</a:t>
            </a:r>
          </a:p>
          <a:p>
            <a:pPr algn="l" eaLnBrk="0">
              <a:lnSpc>
                <a:spcPct val="110000"/>
              </a:lnSpc>
            </a:pPr>
            <a:r>
              <a:rPr sz="1250" b="1">
                <a:solidFill>
                  <a:srgbClr val="1A6FC4"/>
                </a:solidFill>
                <a:latin typeface="맑은 고딕"/>
                <a:ea typeface="맑은 고딕"/>
                <a:cs typeface="맑은 고딕"/>
              </a:rPr>
              <a:t>평가 함수가 읽는다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선언과 평가의 일치</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정의한 정책에 따라 결과를 해석한다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선언이 평가 방식과</a:t>
            </a:r>
          </a:p>
          <a:p>
            <a:pPr algn="l" eaLnBrk="0">
              <a:lnSpc>
                <a:spcPct val="110000"/>
              </a:lnSpc>
            </a:pPr>
            <a:r>
              <a:rPr sz="1250" b="1">
                <a:solidFill>
                  <a:srgbClr val="556175"/>
                </a:solidFill>
                <a:latin typeface="맑은 고딕"/>
                <a:ea typeface="맑은 고딕"/>
                <a:cs typeface="맑은 고딕"/>
              </a:rPr>
              <a:t>다르면 거절한다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결정표를 저장하는 지식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결정 · 결정표 · 규칙이 관계로 이어지고, 규칙은 검사하는 입력과 적용할 조치, 근거 절을 함께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pic>
        <p:nvPicPr>
          <p:cNvPr id="6" name="삽화:결정표_그래프.svg" descr="illust_8244882729406314568_1792037122.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18426" y="2440753"/>
            <a:ext cx="10619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Decision</a:t>
            </a:r>
          </a:p>
        </p:txBody>
      </p:sp>
      <p:sp>
        <p:nvSpPr>
          <p:cNvPr id="8" name="TextBox 7"/>
          <p:cNvSpPr txBox="1"/>
          <p:nvPr/>
        </p:nvSpPr>
        <p:spPr>
          <a:xfrm>
            <a:off x="3366700" y="4279730"/>
            <a:ext cx="148669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DecisionTable</a:t>
            </a:r>
          </a:p>
        </p:txBody>
      </p:sp>
      <p:sp>
        <p:nvSpPr>
          <p:cNvPr id="9" name="TextBox 8"/>
          <p:cNvSpPr txBox="1"/>
          <p:nvPr/>
        </p:nvSpPr>
        <p:spPr>
          <a:xfrm>
            <a:off x="6106466" y="2790584"/>
            <a:ext cx="743347"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Rule</a:t>
            </a:r>
          </a:p>
        </p:txBody>
      </p:sp>
      <p:sp>
        <p:nvSpPr>
          <p:cNvPr id="10" name="TextBox 9"/>
          <p:cNvSpPr txBox="1"/>
          <p:nvPr/>
        </p:nvSpPr>
        <p:spPr>
          <a:xfrm>
            <a:off x="8586061" y="2090921"/>
            <a:ext cx="690251"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Skill</a:t>
            </a:r>
          </a:p>
        </p:txBody>
      </p:sp>
      <p:sp>
        <p:nvSpPr>
          <p:cNvPr id="11" name="TextBox 10"/>
          <p:cNvSpPr txBox="1"/>
          <p:nvPr/>
        </p:nvSpPr>
        <p:spPr>
          <a:xfrm>
            <a:off x="7980764" y="4454645"/>
            <a:ext cx="1008828"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InputData</a:t>
            </a:r>
          </a:p>
        </p:txBody>
      </p:sp>
      <p:sp>
        <p:nvSpPr>
          <p:cNvPr id="12" name="TextBox 11"/>
          <p:cNvSpPr txBox="1"/>
          <p:nvPr/>
        </p:nvSpPr>
        <p:spPr>
          <a:xfrm>
            <a:off x="9786036" y="3665162"/>
            <a:ext cx="1433598"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ManualSection</a:t>
            </a:r>
          </a:p>
        </p:txBody>
      </p:sp>
      <p:sp>
        <p:nvSpPr>
          <p:cNvPr id="13" name="TextBox 12"/>
          <p:cNvSpPr txBox="1"/>
          <p:nvPr/>
        </p:nvSpPr>
        <p:spPr>
          <a:xfrm>
            <a:off x="1710098" y="3712436"/>
            <a:ext cx="148669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IMPLEMENTED_BY</a:t>
            </a:r>
          </a:p>
        </p:txBody>
      </p:sp>
      <p:sp>
        <p:nvSpPr>
          <p:cNvPr id="14" name="TextBox 13"/>
          <p:cNvSpPr txBox="1"/>
          <p:nvPr/>
        </p:nvSpPr>
        <p:spPr>
          <a:xfrm>
            <a:off x="5108257" y="4019720"/>
            <a:ext cx="116811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HAS_RULE</a:t>
            </a:r>
          </a:p>
        </p:txBody>
      </p:sp>
      <p:sp>
        <p:nvSpPr>
          <p:cNvPr id="15" name="TextBox 14"/>
          <p:cNvSpPr txBox="1"/>
          <p:nvPr/>
        </p:nvSpPr>
        <p:spPr>
          <a:xfrm>
            <a:off x="6722383" y="4062267"/>
            <a:ext cx="63715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TESTS</a:t>
            </a:r>
          </a:p>
        </p:txBody>
      </p:sp>
      <p:sp>
        <p:nvSpPr>
          <p:cNvPr id="16" name="TextBox 15"/>
          <p:cNvSpPr txBox="1"/>
          <p:nvPr/>
        </p:nvSpPr>
        <p:spPr>
          <a:xfrm>
            <a:off x="6807337" y="2005827"/>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APPLIES_TO</a:t>
            </a:r>
          </a:p>
        </p:txBody>
      </p:sp>
      <p:sp>
        <p:nvSpPr>
          <p:cNvPr id="17" name="TextBox 16"/>
          <p:cNvSpPr txBox="1"/>
          <p:nvPr/>
        </p:nvSpPr>
        <p:spPr>
          <a:xfrm>
            <a:off x="8113504" y="2913497"/>
            <a:ext cx="127430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DERIVED_FROM</a:t>
            </a:r>
          </a:p>
        </p:txBody>
      </p:sp>
      <p:sp>
        <p:nvSpPr>
          <p:cNvPr id="18" name="TextBox 17"/>
          <p:cNvSpPr txBox="1"/>
          <p:nvPr/>
        </p:nvSpPr>
        <p:spPr>
          <a:xfrm>
            <a:off x="1423378" y="5669600"/>
            <a:ext cx="934493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rule:cmp-fan100-over-24h</a:t>
            </a:r>
          </a:p>
          <a:p>
            <a:pPr algn="ctr" eaLnBrk="0">
              <a:lnSpc>
                <a:spcPct val="110000"/>
              </a:lnSpc>
              <a:spcAft>
                <a:spcPts val="100"/>
              </a:spcAft>
            </a:pPr>
            <a:r>
              <a:rPr sz="1100" b="0">
                <a:solidFill>
                  <a:srgbClr val="556175"/>
                </a:solidFill>
                <a:latin typeface="맑은 고딕"/>
                <a:ea typeface="맑은 고딕"/>
                <a:cs typeface="맑은 고딕"/>
              </a:rPr>
              <a:t>TESTS {operator: '&gt;', value: 24, unit: 'h'} → fan100_hours · APPLIES_TO SOP-COOL-11 · 12 · DERIVED_FROM HM-8.8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BSC: 성과 목표와 KPI</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규칙을 통과한 후보를 평가할 성과 목표와 지표를 정의하고 실제값과 견주는 방법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BSC의 네 관점과 HYD의 전략 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BSC는 성과를 재무 결과 하나가 아니라 고객 · 내부 프로세스 · 학습과 성장의 원인까지 네 관점에서 함께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관점(Perspective)</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묻는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HYD의 전략 목표</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BSC(Balanced Scorecard)</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네 관점마다 목표와 지표를 두는 성과 관리의 틀</a:t>
            </a:r>
          </a:p>
          <a:p>
            <a:pPr algn="l" eaLnBrk="0">
              <a:lnSpc>
                <a:spcPct val="110000"/>
              </a:lnSpc>
            </a:pPr>
            <a:r>
              <a:rPr sz="1400" b="0">
                <a:solidFill>
                  <a:srgbClr val="1F2A3A"/>
                </a:solidFill>
                <a:latin typeface="맑은 고딕"/>
                <a:ea typeface="맑은 고딕"/>
                <a:cs typeface="맑은 고딕"/>
              </a:rPr>
              <a:t>재무 숫자는 일이 끝난 뒤에야 나온다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균형 성과표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재무(Financial)</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결과가 돈으로 어떻게 나타나는가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영업이익 확대</a:t>
            </a:r>
          </a:p>
          <a:p>
            <a:pPr algn="l" eaLnBrk="0">
              <a:lnSpc>
                <a:spcPct val="110000"/>
              </a:lnSpc>
            </a:pPr>
            <a:r>
              <a:rPr sz="1250" b="1">
                <a:solidFill>
                  <a:srgbClr val="556175"/>
                </a:solidFill>
                <a:latin typeface="맑은 고딕"/>
                <a:ea typeface="맑은 고딕"/>
                <a:cs typeface="맑은 고딕"/>
              </a:rPr>
              <a:t>원가 절감</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고객(Customer)</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고객에게 무엇을 지키는가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납기 신뢰</a:t>
            </a:r>
          </a:p>
          <a:p>
            <a:pPr algn="l" eaLnBrk="0">
              <a:lnSpc>
                <a:spcPct val="110000"/>
              </a:lnSpc>
            </a:pPr>
            <a:r>
              <a:rPr sz="1250" b="1">
                <a:solidFill>
                  <a:srgbClr val="556175"/>
                </a:solidFill>
                <a:latin typeface="맑은 고딕"/>
                <a:ea typeface="맑은 고딕"/>
                <a:cs typeface="맑은 고딕"/>
              </a:rPr>
              <a:t>품질 신뢰</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내부 프로세스(Internal Process)</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무엇을 잘 운영해야 하는가</a:t>
            </a:r>
          </a:p>
          <a:p>
            <a:pPr algn="l" eaLnBrk="0">
              <a:lnSpc>
                <a:spcPct val="110000"/>
              </a:lnSpc>
            </a:pPr>
            <a:r>
              <a:rPr sz="1400" b="0">
                <a:solidFill>
                  <a:srgbClr val="1F2A3A"/>
                </a:solidFill>
                <a:latin typeface="맑은 고딕"/>
                <a:ea typeface="맑은 고딕"/>
                <a:cs typeface="맑은 고딕"/>
              </a:rPr>
              <a:t>쿨러 사건의 유온 관리가 여기에 놓인다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설비 가용성 확보</a:t>
            </a:r>
          </a:p>
          <a:p>
            <a:pPr algn="l" eaLnBrk="0">
              <a:lnSpc>
                <a:spcPct val="110000"/>
              </a:lnSpc>
            </a:pPr>
            <a:r>
              <a:rPr sz="1250" b="1">
                <a:solidFill>
                  <a:srgbClr val="556175"/>
                </a:solidFill>
                <a:latin typeface="맑은 고딕"/>
                <a:ea typeface="맑은 고딕"/>
                <a:cs typeface="맑은 고딕"/>
              </a:rPr>
              <a:t>무재해 운전</a:t>
            </a:r>
          </a:p>
          <a:p>
            <a:pPr algn="l" eaLnBrk="0">
              <a:lnSpc>
                <a:spcPct val="110000"/>
              </a:lnSpc>
            </a:pPr>
            <a:r>
              <a:rPr sz="1250" b="1">
                <a:solidFill>
                  <a:srgbClr val="556175"/>
                </a:solidFill>
                <a:latin typeface="맑은 고딕"/>
                <a:ea typeface="맑은 고딕"/>
                <a:cs typeface="맑은 고딕"/>
              </a:rPr>
              <a:t>에너지 효율</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학습과 성장(Learning and Growth)</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무엇을 쌓아야 계속 나아지는가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현장 판단 지식 축적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전략 목표와 KPI(Key Performance Indicator)</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전략 목표는 이루려는 상태를 말로 정할 뿐이어서, 얼마나 이루었는지는 목표마다 붙인 KPI가 수치로 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259711"/>
            <a:ext cx="5181447" cy="346329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60879"/>
            <a:ext cx="731520" cy="731520"/>
          </a:xfrm>
          <a:prstGeom prst="ellipse">
            <a:avLst/>
          </a:prstGeom>
          <a:solidFill>
            <a:srgbClr val="FFFFFF"/>
          </a:solidFill>
          <a:ln>
            <a:noFill/>
          </a:ln>
        </p:spPr>
        <p:txBody>
          <a:bodyPr rtlCol="0" anchor="ctr"/>
          <a:lstStyle/>
          <a:p>
            <a:pPr algn="ctr"/>
          </a:p>
        </p:txBody>
      </p:sp>
      <p:pic>
        <p:nvPicPr>
          <p:cNvPr id="8" name="아이콘:target-arrow" descr="target-arrow_13294B_1.6.png"/>
          <p:cNvPicPr>
            <a:picLocks noChangeAspect="1"/>
          </p:cNvPicPr>
          <p:nvPr/>
        </p:nvPicPr>
        <p:blipFill>
          <a:blip r:embed="rId3"/>
          <a:stretch>
            <a:fillRect/>
          </a:stretch>
        </p:blipFill>
        <p:spPr>
          <a:xfrm>
            <a:off x="976579" y="2614498"/>
            <a:ext cx="424281" cy="424281"/>
          </a:xfrm>
          <a:prstGeom prst="rect">
            <a:avLst/>
          </a:prstGeom>
        </p:spPr>
      </p:pic>
      <p:sp>
        <p:nvSpPr>
          <p:cNvPr id="9" name="TextBox 8"/>
          <p:cNvSpPr txBox="1"/>
          <p:nvPr/>
        </p:nvSpPr>
        <p:spPr>
          <a:xfrm>
            <a:off x="1691640" y="246087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전략 목표(Strategic Objective)</a:t>
            </a:r>
          </a:p>
        </p:txBody>
      </p:sp>
      <p:sp>
        <p:nvSpPr>
          <p:cNvPr id="10" name="TextBox 9"/>
          <p:cNvSpPr txBox="1"/>
          <p:nvPr/>
        </p:nvSpPr>
        <p:spPr>
          <a:xfrm>
            <a:off x="822959" y="3311271"/>
            <a:ext cx="4632807" cy="186309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조직이 이루려는 상태를 문장으로 적은 것이다</a:t>
            </a:r>
          </a:p>
          <a:p>
            <a:pPr algn="l" eaLnBrk="0" marL="171450" indent="-171450">
              <a:lnSpc>
                <a:spcPct val="110000"/>
              </a:lnSpc>
              <a:spcAft>
                <a:spcPts val="600"/>
              </a:spcAft>
            </a:pPr>
            <a:r>
              <a:rPr sz="1500" b="0">
                <a:solidFill>
                  <a:srgbClr val="1F2A3A"/>
                </a:solidFill>
                <a:latin typeface="맑은 고딕"/>
                <a:ea typeface="맑은 고딕"/>
                <a:cs typeface="맑은 고딕"/>
              </a:rPr>
              <a:t>• 예: 무재해 운전 — 인터록 한계를 넘지 않는다, 금액과 맞바꾸지 않는다</a:t>
            </a:r>
          </a:p>
          <a:p>
            <a:pPr algn="l" eaLnBrk="0" marL="171450" indent="-171450">
              <a:lnSpc>
                <a:spcPct val="110000"/>
              </a:lnSpc>
              <a:spcAft>
                <a:spcPts val="600"/>
              </a:spcAft>
            </a:pPr>
            <a:r>
              <a:rPr sz="1500" b="0">
                <a:solidFill>
                  <a:srgbClr val="1F2A3A"/>
                </a:solidFill>
                <a:latin typeface="맑은 고딕"/>
                <a:ea typeface="맑은 고딕"/>
                <a:cs typeface="맑은 고딕"/>
              </a:rPr>
              <a:t>• 예: 납기 신뢰 — 약속한 날짜에 약속한 수량을 출하한다</a:t>
            </a:r>
          </a:p>
        </p:txBody>
      </p:sp>
      <p:sp>
        <p:nvSpPr>
          <p:cNvPr id="11" name="Rounded Rectangle 10"/>
          <p:cNvSpPr/>
          <p:nvPr/>
        </p:nvSpPr>
        <p:spPr>
          <a:xfrm>
            <a:off x="868680" y="5265801"/>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65801"/>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이루려는 상태</a:t>
            </a:r>
          </a:p>
        </p:txBody>
      </p:sp>
      <p:sp>
        <p:nvSpPr>
          <p:cNvPr id="13" name="Rounded Rectangle 12"/>
          <p:cNvSpPr/>
          <p:nvPr/>
        </p:nvSpPr>
        <p:spPr>
          <a:xfrm>
            <a:off x="6461607" y="2259711"/>
            <a:ext cx="5181447" cy="346329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60879"/>
            <a:ext cx="731520" cy="731520"/>
          </a:xfrm>
          <a:prstGeom prst="ellipse">
            <a:avLst/>
          </a:prstGeom>
          <a:solidFill>
            <a:srgbClr val="5CB8F2"/>
          </a:solidFill>
          <a:ln>
            <a:noFill/>
          </a:ln>
        </p:spPr>
        <p:txBody>
          <a:bodyPr rtlCol="0" anchor="ctr"/>
          <a:lstStyle/>
          <a:p>
            <a:pPr algn="ctr"/>
          </a:p>
        </p:txBody>
      </p:sp>
      <p:pic>
        <p:nvPicPr>
          <p:cNvPr id="15" name="아이콘:ruler-measure" descr="ruler-measure_13294B_1.6.png"/>
          <p:cNvPicPr>
            <a:picLocks noChangeAspect="1"/>
          </p:cNvPicPr>
          <p:nvPr/>
        </p:nvPicPr>
        <p:blipFill>
          <a:blip r:embed="rId4"/>
          <a:stretch>
            <a:fillRect/>
          </a:stretch>
        </p:blipFill>
        <p:spPr>
          <a:xfrm>
            <a:off x="6889546" y="2614498"/>
            <a:ext cx="424281" cy="424281"/>
          </a:xfrm>
          <a:prstGeom prst="rect">
            <a:avLst/>
          </a:prstGeom>
        </p:spPr>
      </p:pic>
      <p:sp>
        <p:nvSpPr>
          <p:cNvPr id="16" name="TextBox 15"/>
          <p:cNvSpPr txBox="1"/>
          <p:nvPr/>
        </p:nvSpPr>
        <p:spPr>
          <a:xfrm>
            <a:off x="7604607" y="246087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KPI(핵심 성과 지표)</a:t>
            </a:r>
          </a:p>
        </p:txBody>
      </p:sp>
      <p:sp>
        <p:nvSpPr>
          <p:cNvPr id="17" name="TextBox 16"/>
          <p:cNvSpPr txBox="1"/>
          <p:nvPr/>
        </p:nvSpPr>
        <p:spPr>
          <a:xfrm>
            <a:off x="6735927" y="3311271"/>
            <a:ext cx="4632807" cy="1863090"/>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목표를 얼마나 이루었는지 수치로 재는 지표이다</a:t>
            </a:r>
          </a:p>
          <a:p>
            <a:pPr algn="l" eaLnBrk="0" marL="160020" indent="-160020">
              <a:lnSpc>
                <a:spcPct val="110000"/>
              </a:lnSpc>
              <a:spcAft>
                <a:spcPts val="600"/>
              </a:spcAft>
            </a:pPr>
            <a:r>
              <a:rPr sz="1400" b="0">
                <a:solidFill>
                  <a:srgbClr val="1F2A3A"/>
                </a:solidFill>
                <a:latin typeface="맑은 고딕"/>
                <a:ea typeface="맑은 고딕"/>
                <a:cs typeface="맑은 고딕"/>
              </a:rPr>
              <a:t>• 무재해 운전의 KPI: 인터록 여유(℃)</a:t>
            </a:r>
          </a:p>
          <a:p>
            <a:pPr algn="l" eaLnBrk="0" marL="160020" indent="-160020">
              <a:lnSpc>
                <a:spcPct val="110000"/>
              </a:lnSpc>
              <a:spcAft>
                <a:spcPts val="600"/>
              </a:spcAft>
            </a:pPr>
            <a:r>
              <a:rPr sz="1400" b="0">
                <a:solidFill>
                  <a:srgbClr val="1F2A3A"/>
                </a:solidFill>
                <a:latin typeface="맑은 고딕"/>
                <a:ea typeface="맑은 고딕"/>
                <a:cs typeface="맑은 고딕"/>
              </a:rPr>
              <a:t>• 납기 신뢰의 KPI: 납기 준수율(%)</a:t>
            </a:r>
          </a:p>
          <a:p>
            <a:pPr algn="l" eaLnBrk="0" marL="160020" indent="-160020">
              <a:lnSpc>
                <a:spcPct val="110000"/>
              </a:lnSpc>
              <a:spcAft>
                <a:spcPts val="600"/>
              </a:spcAft>
            </a:pPr>
            <a:r>
              <a:rPr sz="1400" b="0">
                <a:solidFill>
                  <a:srgbClr val="1F2A3A"/>
                </a:solidFill>
                <a:latin typeface="맑은 고딕"/>
                <a:ea typeface="맑은 고딕"/>
                <a:cs typeface="맑은 고딕"/>
              </a:rPr>
              <a:t>• KPI는 목표를 재는 수단이며 목표를 대신하지 않는다</a:t>
            </a:r>
          </a:p>
        </p:txBody>
      </p:sp>
      <p:sp>
        <p:nvSpPr>
          <p:cNvPr id="18" name="Rounded Rectangle 17"/>
          <p:cNvSpPr/>
          <p:nvPr/>
        </p:nvSpPr>
        <p:spPr>
          <a:xfrm>
            <a:off x="6781647" y="5265801"/>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65801"/>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재는 수치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KPI의 정의: 인터록 여유를 재는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인터록 여유는 유온 한계와 기간 최고 유온의 차이이며, 단위 · 방향 · 목표 · 주기를 함께 정해야 비교할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정의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인터록 여유(Safety Margin)</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계산식</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한계 65 ℃ - 기간 최고 유온</a:t>
            </a:r>
          </a:p>
          <a:p>
            <a:pPr algn="l" eaLnBrk="0">
              <a:lnSpc>
                <a:spcPct val="110000"/>
              </a:lnSpc>
            </a:pPr>
            <a:r>
              <a:rPr sz="1400" b="0">
                <a:solidFill>
                  <a:srgbClr val="1F2A3A"/>
                </a:solidFill>
                <a:latin typeface="맑은 고딕"/>
                <a:ea typeface="맑은 고딕"/>
                <a:cs typeface="맑은 고딕"/>
              </a:rPr>
              <a:t>여러 설비 중 가장 작은 여유</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한계까지 남은 온도 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단위 · 방향</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 · UP(클수록 좋다)</a:t>
            </a:r>
          </a:p>
          <a:p>
            <a:pPr algn="l" eaLnBrk="0">
              <a:lnSpc>
                <a:spcPct val="110000"/>
              </a:lnSpc>
            </a:pPr>
            <a:r>
              <a:rPr sz="1400" b="0">
                <a:solidFill>
                  <a:srgbClr val="1F2A3A"/>
                </a:solidFill>
                <a:latin typeface="맑은 고딕"/>
                <a:ea typeface="맑은 고딕"/>
                <a:cs typeface="맑은 고딕"/>
              </a:rPr>
              <a:t>지체상금은 만원/월 · DOWN(작을수록 좋다)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숫자의 크기와</a:t>
            </a:r>
          </a:p>
          <a:p>
            <a:pPr algn="l" eaLnBrk="0">
              <a:lnSpc>
                <a:spcPct val="110000"/>
              </a:lnSpc>
            </a:pPr>
            <a:r>
              <a:rPr sz="1250" b="1">
                <a:solidFill>
                  <a:srgbClr val="556175"/>
                </a:solidFill>
                <a:latin typeface="맑은 고딕"/>
                <a:ea typeface="맑은 고딕"/>
                <a:cs typeface="맑은 고딕"/>
              </a:rPr>
              <a:t>좋고 나쁨을 구별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목표값</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10 ℃</a:t>
            </a:r>
          </a:p>
          <a:p>
            <a:pPr algn="l" eaLnBrk="0">
              <a:lnSpc>
                <a:spcPct val="110000"/>
              </a:lnSpc>
            </a:pPr>
            <a:r>
              <a:rPr sz="1400" b="0">
                <a:solidFill>
                  <a:srgbClr val="1F2A3A"/>
                </a:solidFill>
                <a:latin typeface="맑은 고딕"/>
                <a:ea typeface="맑은 고딕"/>
                <a:cs typeface="맑은 고딕"/>
              </a:rPr>
              <a:t>기간 최고 유온 55 ℃ 이하에 해당</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도달하려는 수준</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경고 · 위험 기준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thresholdWarn = 5 ℃</a:t>
            </a:r>
          </a:p>
          <a:p>
            <a:pPr algn="l" eaLnBrk="0">
              <a:lnSpc>
                <a:spcPct val="110000"/>
              </a:lnSpc>
            </a:pPr>
            <a:r>
              <a:rPr sz="1400" b="0">
                <a:solidFill>
                  <a:srgbClr val="1F2A3A"/>
                </a:solidFill>
                <a:latin typeface="맑은 고딕"/>
                <a:ea typeface="맑은 고딕"/>
                <a:cs typeface="맑은 고딕"/>
              </a:rPr>
              <a:t>thresholdCrit = 0 ℃</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주의할 수준과</a:t>
            </a:r>
          </a:p>
          <a:p>
            <a:pPr algn="l" eaLnBrk="0">
              <a:lnSpc>
                <a:spcPct val="110000"/>
              </a:lnSpc>
            </a:pPr>
            <a:r>
              <a:rPr sz="1250" b="1">
                <a:solidFill>
                  <a:srgbClr val="556175"/>
                </a:solidFill>
                <a:latin typeface="맑은 고딕"/>
                <a:ea typeface="맑은 고딕"/>
                <a:cs typeface="맑은 고딕"/>
              </a:rPr>
              <a:t>한계에 닿는 수준</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주기 · 책임 부서</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실시간 · 생산팀</a:t>
            </a:r>
          </a:p>
          <a:p>
            <a:pPr algn="l" eaLnBrk="0">
              <a:lnSpc>
                <a:spcPct val="110000"/>
              </a:lnSpc>
            </a:pPr>
            <a:r>
              <a:rPr sz="1400" b="0">
                <a:solidFill>
                  <a:srgbClr val="1F2A3A"/>
                </a:solidFill>
                <a:latin typeface="맑은 고딕"/>
                <a:ea typeface="맑은 고딕"/>
                <a:cs typeface="맑은 고딕"/>
              </a:rPr>
              <a:t>납기 준수율: 주 · 영업팀</a:t>
            </a:r>
          </a:p>
          <a:p>
            <a:pPr algn="l" eaLnBrk="0">
              <a:lnSpc>
                <a:spcPct val="110000"/>
              </a:lnSpc>
            </a:pPr>
            <a:r>
              <a:rPr sz="1400" b="0">
                <a:solidFill>
                  <a:srgbClr val="1F2A3A"/>
                </a:solidFill>
                <a:latin typeface="맑은 고딕"/>
                <a:ea typeface="맑은 고딕"/>
                <a:cs typeface="맑은 고딕"/>
              </a:rPr>
              <a:t>설비 가동률: 일 · 생산팀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언제 누가 확인하는가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KPI 실제값 비교: 가동률과 인터록 여유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기간의 가동률은 목표를 달성했어도 인터록 여유는 미달하여, 계속 가동한 것과 여유 있게 운전한 것은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지표</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같은 24시간의 계산</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목표와 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인터록 여유</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65 - 최고 유온 62.47 = 2.53 ℃</a:t>
            </a:r>
          </a:p>
          <a:p>
            <a:pPr algn="l" eaLnBrk="0">
              <a:lnSpc>
                <a:spcPct val="110000"/>
              </a:lnSpc>
            </a:pPr>
            <a:r>
              <a:rPr sz="1400" b="0">
                <a:solidFill>
                  <a:srgbClr val="1F2A3A"/>
                </a:solidFill>
                <a:latin typeface="맑은 고딕"/>
                <a:ea typeface="맑은 고딕"/>
                <a:cs typeface="맑은 고딕"/>
              </a:rPr>
              <a:t>설비별 여유: HYD-01 2.53 · HYD-02 16.72 · HYD-03 14.55 ℃</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목표 10 ℃ · 미달</a:t>
            </a:r>
          </a:p>
          <a:p>
            <a:pPr algn="l" eaLnBrk="0">
              <a:lnSpc>
                <a:spcPct val="110000"/>
              </a:lnSpc>
            </a:pPr>
            <a:r>
              <a:rPr sz="1250" b="1">
                <a:solidFill>
                  <a:srgbClr val="1A6FC4"/>
                </a:solidFill>
                <a:latin typeface="맑은 고딕"/>
                <a:ea typeface="맑은 고딕"/>
                <a:cs typeface="맑은 고딕"/>
              </a:rPr>
              <a:t>부족 7.47 ℃</a:t>
            </a:r>
          </a:p>
          <a:p>
            <a:pPr algn="l" eaLnBrk="0">
              <a:lnSpc>
                <a:spcPct val="110000"/>
              </a:lnSpc>
            </a:pPr>
            <a:r>
              <a:rPr sz="1250" b="1">
                <a:solidFill>
                  <a:srgbClr val="1A6FC4"/>
                </a:solidFill>
                <a:latin typeface="맑은 고딕"/>
                <a:ea typeface="맑은 고딕"/>
                <a:cs typeface="맑은 고딕"/>
              </a:rPr>
              <a:t>달성률 25.3 %</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 가동률</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100 × Σ(관측 분 - 보호 정지 분) ÷ Σ 관측 분</a:t>
            </a:r>
          </a:p>
          <a:p>
            <a:pPr algn="l" eaLnBrk="0">
              <a:lnSpc>
                <a:spcPct val="110000"/>
              </a:lnSpc>
            </a:pPr>
            <a:r>
              <a:rPr sz="1400" b="0">
                <a:solidFill>
                  <a:srgbClr val="1F2A3A"/>
                </a:solidFill>
                <a:latin typeface="맑은 고딕"/>
                <a:ea typeface="맑은 고딕"/>
                <a:cs typeface="맑은 고딕"/>
              </a:rPr>
              <a:t>실적 100.0 %</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목표 95 % · 달성</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두 결과의 해석</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보호 정지는 없었으나 유온이 한계에 가까워졌다</a:t>
            </a:r>
          </a:p>
          <a:p>
            <a:pPr algn="l" eaLnBrk="0">
              <a:lnSpc>
                <a:spcPct val="110000"/>
              </a:lnSpc>
            </a:pPr>
            <a:r>
              <a:rPr sz="1400" b="0">
                <a:solidFill>
                  <a:srgbClr val="1F2A3A"/>
                </a:solidFill>
                <a:latin typeface="맑은 고딕"/>
                <a:ea typeface="맑은 고딕"/>
                <a:cs typeface="맑은 고딕"/>
              </a:rPr>
              <a:t>측정 기간과 지표 정의를 맞춰 함께 읽는다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가동 여부와</a:t>
            </a:r>
          </a:p>
          <a:p>
            <a:pPr algn="l" eaLnBrk="0">
              <a:lnSpc>
                <a:spcPct val="110000"/>
              </a:lnSpc>
            </a:pPr>
            <a:r>
              <a:rPr sz="1250" b="1">
                <a:solidFill>
                  <a:srgbClr val="556175"/>
                </a:solidFill>
                <a:latin typeface="맑은 고딕"/>
                <a:ea typeface="맑은 고딕"/>
                <a:cs typeface="맑은 고딕"/>
              </a:rPr>
              <a:t>온도 여유를 구별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집계 방식: 평균과 최솟값이 답하는 질문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설비별 여유라도 평균은 전체 수준을, 최솟값은 한계에 가장 가까운 설비를 보여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53771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평균(Mean)</a:t>
            </a:r>
          </a:p>
        </p:txBody>
      </p:sp>
      <p:sp>
        <p:nvSpPr>
          <p:cNvPr id="8" name="TextBox 7"/>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합을 대상 수로 나눈 값</a:t>
            </a:r>
          </a:p>
          <a:p>
            <a:pPr algn="l" eaLnBrk="0" marL="200025" indent="-200025">
              <a:lnSpc>
                <a:spcPct val="110000"/>
              </a:lnSpc>
              <a:spcAft>
                <a:spcPts val="600"/>
              </a:spcAft>
            </a:pPr>
            <a:r>
              <a:rPr sz="1750" b="0">
                <a:solidFill>
                  <a:srgbClr val="1F2A3A"/>
                </a:solidFill>
                <a:latin typeface="맑은 고딕"/>
                <a:ea typeface="맑은 고딕"/>
                <a:cs typeface="맑은 고딕"/>
              </a:rPr>
              <a:t>• 설비별 여유: 2.53 · 16.72 · 14.55 ℃</a:t>
            </a:r>
          </a:p>
          <a:p>
            <a:pPr algn="l" eaLnBrk="0" marL="200025" indent="-200025">
              <a:lnSpc>
                <a:spcPct val="110000"/>
              </a:lnSpc>
              <a:spcAft>
                <a:spcPts val="600"/>
              </a:spcAft>
            </a:pPr>
            <a:r>
              <a:rPr sz="1750" b="0">
                <a:solidFill>
                  <a:srgbClr val="1F2A3A"/>
                </a:solidFill>
                <a:latin typeface="맑은 고딕"/>
                <a:ea typeface="맑은 고딕"/>
                <a:cs typeface="맑은 고딕"/>
              </a:rPr>
              <a:t>• (2.53 + 16.72 + 14.55) ÷ 3 = 11.27 ℃</a:t>
            </a:r>
          </a:p>
          <a:p>
            <a:pPr algn="l" eaLnBrk="0" marL="200025" indent="-200025">
              <a:lnSpc>
                <a:spcPct val="110000"/>
              </a:lnSpc>
              <a:spcAft>
                <a:spcPts val="600"/>
              </a:spcAft>
            </a:pPr>
            <a:r>
              <a:rPr sz="1750" b="0">
                <a:solidFill>
                  <a:srgbClr val="1F2A3A"/>
                </a:solidFill>
                <a:latin typeface="맑은 고딕"/>
                <a:ea typeface="맑은 고딕"/>
                <a:cs typeface="맑은 고딕"/>
              </a:rPr>
              <a:t>• 전체 수준을 요약한 비교 계산</a:t>
            </a:r>
          </a:p>
        </p:txBody>
      </p:sp>
      <p:sp>
        <p:nvSpPr>
          <p:cNvPr id="9" name="Rounded Rectangle 8"/>
          <p:cNvSpPr/>
          <p:nvPr/>
        </p:nvSpPr>
        <p:spPr>
          <a:xfrm>
            <a:off x="868680" y="5188966"/>
            <a:ext cx="252983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188966"/>
            <a:ext cx="2529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한 설비의 작은 여유가 가려진다</a:t>
            </a:r>
          </a:p>
        </p:txBody>
      </p:sp>
      <p:sp>
        <p:nvSpPr>
          <p:cNvPr id="11" name="Rounded Rectangle 10"/>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53771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최솟값(Minimum)</a:t>
            </a:r>
          </a:p>
        </p:txBody>
      </p:sp>
      <p:sp>
        <p:nvSpPr>
          <p:cNvPr id="13" name="TextBox 12"/>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대상 중 가장 작은 값</a:t>
            </a:r>
          </a:p>
          <a:p>
            <a:pPr algn="l" eaLnBrk="0" marL="200025" indent="-200025">
              <a:lnSpc>
                <a:spcPct val="110000"/>
              </a:lnSpc>
              <a:spcAft>
                <a:spcPts val="600"/>
              </a:spcAft>
            </a:pPr>
            <a:r>
              <a:rPr sz="1750" b="0">
                <a:solidFill>
                  <a:srgbClr val="1F2A3A"/>
                </a:solidFill>
                <a:latin typeface="맑은 고딕"/>
                <a:ea typeface="맑은 고딕"/>
                <a:cs typeface="맑은 고딕"/>
              </a:rPr>
              <a:t>• HYD-01의 여유: 2.53 ℃</a:t>
            </a:r>
          </a:p>
          <a:p>
            <a:pPr algn="l" eaLnBrk="0" marL="200025" indent="-200025">
              <a:lnSpc>
                <a:spcPct val="110000"/>
              </a:lnSpc>
              <a:spcAft>
                <a:spcPts val="600"/>
              </a:spcAft>
            </a:pPr>
            <a:r>
              <a:rPr sz="1750" b="0">
                <a:solidFill>
                  <a:srgbClr val="1F2A3A"/>
                </a:solidFill>
                <a:latin typeface="맑은 고딕"/>
                <a:ea typeface="맑은 고딕"/>
                <a:cs typeface="맑은 고딕"/>
              </a:rPr>
              <a:t>• 인터록 여유 목표: 10 ℃ → 미달</a:t>
            </a:r>
          </a:p>
          <a:p>
            <a:pPr algn="l" eaLnBrk="0" marL="200025" indent="-200025">
              <a:lnSpc>
                <a:spcPct val="110000"/>
              </a:lnSpc>
              <a:spcAft>
                <a:spcPts val="600"/>
              </a:spcAft>
            </a:pPr>
            <a:r>
              <a:rPr sz="1750" b="0">
                <a:solidFill>
                  <a:srgbClr val="1F2A3A"/>
                </a:solidFill>
                <a:latin typeface="맑은 고딕"/>
                <a:ea typeface="맑은 고딕"/>
                <a:cs typeface="맑은 고딕"/>
              </a:rPr>
              <a:t>• 시스템은 최솟값을 KPI 실적으로 쓴다</a:t>
            </a:r>
          </a:p>
        </p:txBody>
      </p:sp>
      <p:sp>
        <p:nvSpPr>
          <p:cNvPr id="14" name="Rounded Rectangle 13"/>
          <p:cNvSpPr/>
          <p:nvPr/>
        </p:nvSpPr>
        <p:spPr>
          <a:xfrm>
            <a:off x="6781647" y="5188966"/>
            <a:ext cx="2377439"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188966"/>
            <a:ext cx="23774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한계에 가장 가까운 설비 확인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실적의 원천과 계산 불가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지표의 정의가 있어도 실적을 계산할 원천 기록이 없으면 0으로 두지 않고 계산 불가와 그 사유로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지표</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필요한 원천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인터록 여유</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한계 65 ℃ + 시계열의 최고 TS1</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계산됨</a:t>
            </a:r>
          </a:p>
          <a:p>
            <a:pPr algn="l" eaLnBrk="0">
              <a:lnSpc>
                <a:spcPct val="110000"/>
              </a:lnSpc>
            </a:pPr>
            <a:r>
              <a:rPr sz="1250" b="1">
                <a:solidFill>
                  <a:srgbClr val="556175"/>
                </a:solidFill>
                <a:latin typeface="맑은 고딕"/>
                <a:ea typeface="맑은 고딕"/>
                <a:cs typeface="맑은 고딕"/>
              </a:rPr>
              <a:t>2.53 ℃</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 가동률</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시계열의 관측 분 + 경보 기록의 보호 정지 분</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계산됨</a:t>
            </a:r>
          </a:p>
          <a:p>
            <a:pPr algn="l" eaLnBrk="0">
              <a:lnSpc>
                <a:spcPct val="110000"/>
              </a:lnSpc>
            </a:pPr>
            <a:r>
              <a:rPr sz="1250" b="1">
                <a:solidFill>
                  <a:srgbClr val="556175"/>
                </a:solidFill>
                <a:latin typeface="맑은 고딕"/>
                <a:ea typeface="맑은 고딕"/>
                <a:cs typeface="맑은 고딕"/>
              </a:rPr>
              <a:t>100.0 %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매출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데이터베이스의 판매 · 매출 원장</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계산 불가</a:t>
            </a:r>
          </a:p>
          <a:p>
            <a:pPr algn="l" eaLnBrk="0">
              <a:lnSpc>
                <a:spcPct val="110000"/>
              </a:lnSpc>
            </a:pPr>
            <a:r>
              <a:rPr sz="1250" b="1">
                <a:solidFill>
                  <a:srgbClr val="556175"/>
                </a:solidFill>
                <a:latin typeface="맑은 고딕"/>
                <a:ea typeface="맑은 고딕"/>
                <a:cs typeface="맑은 고딕"/>
              </a:rPr>
              <a:t>원장이 없다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 준수율</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대비 실제 완료 · 출하 시각 기록</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계산 불가</a:t>
            </a:r>
          </a:p>
          <a:p>
            <a:pPr algn="l" eaLnBrk="0">
              <a:lnSpc>
                <a:spcPct val="110000"/>
              </a:lnSpc>
            </a:pPr>
            <a:r>
              <a:rPr sz="1250" b="1">
                <a:solidFill>
                  <a:srgbClr val="1A6FC4"/>
                </a:solidFill>
                <a:latin typeface="맑은 고딕"/>
                <a:ea typeface="맑은 고딕"/>
                <a:cs typeface="맑은 고딕"/>
              </a:rPr>
              <a:t>0 %가 아니다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결과의 상태</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달성 · 미달 · 목표 없음 · 부분 실적 · 기록 없음 · 계산 불가 · 조회 실패</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서로 구별해</a:t>
            </a:r>
          </a:p>
          <a:p>
            <a:pPr algn="l" eaLnBrk="0">
              <a:lnSpc>
                <a:spcPct val="110000"/>
              </a:lnSpc>
            </a:pPr>
            <a:r>
              <a:rPr sz="1250" b="1">
                <a:solidFill>
                  <a:srgbClr val="556175"/>
                </a:solidFill>
                <a:latin typeface="맑은 고딕"/>
                <a:ea typeface="맑은 고딕"/>
                <a:cs typeface="맑은 고딕"/>
              </a:rPr>
              <a:t>남긴다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전략맵과 성과 지표의 영향 관계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목표 사이의 인과와 지표 사이의 영향 경로를 부호 · 조건과 함께 읽는 방법</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전략맵: 목표 사이의 인과를 그린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전략맵(Strategy Map)은 목표들이 서로 뒷받침하는 관계(SUPPORTS)를 화살표로 나타낸 그림이다.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pic>
        <p:nvPicPr>
          <p:cNvPr id="6" name="삽화:전략맵_그래프.svg" descr="illust_7697092032394172210_1792037122.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030466" y="2109831"/>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재무</a:t>
            </a:r>
          </a:p>
        </p:txBody>
      </p:sp>
      <p:sp>
        <p:nvSpPr>
          <p:cNvPr id="8" name="TextBox 7"/>
          <p:cNvSpPr txBox="1"/>
          <p:nvPr/>
        </p:nvSpPr>
        <p:spPr>
          <a:xfrm>
            <a:off x="1030466" y="3282238"/>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고객</a:t>
            </a:r>
          </a:p>
        </p:txBody>
      </p:sp>
      <p:sp>
        <p:nvSpPr>
          <p:cNvPr id="9" name="TextBox 8"/>
          <p:cNvSpPr txBox="1"/>
          <p:nvPr/>
        </p:nvSpPr>
        <p:spPr>
          <a:xfrm>
            <a:off x="1030466" y="4454645"/>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내부 프로세스</a:t>
            </a:r>
          </a:p>
        </p:txBody>
      </p:sp>
      <p:sp>
        <p:nvSpPr>
          <p:cNvPr id="10" name="TextBox 9"/>
          <p:cNvSpPr txBox="1"/>
          <p:nvPr/>
        </p:nvSpPr>
        <p:spPr>
          <a:xfrm>
            <a:off x="1030466" y="5627053"/>
            <a:ext cx="138050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학습과 성장</a:t>
            </a:r>
          </a:p>
        </p:txBody>
      </p:sp>
      <p:sp>
        <p:nvSpPr>
          <p:cNvPr id="11" name="TextBox 10"/>
          <p:cNvSpPr txBox="1"/>
          <p:nvPr/>
        </p:nvSpPr>
        <p:spPr>
          <a:xfrm>
            <a:off x="6435663" y="1944371"/>
            <a:ext cx="955732" cy="5463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영업이익 확대</a:t>
            </a:r>
          </a:p>
        </p:txBody>
      </p:sp>
      <p:sp>
        <p:nvSpPr>
          <p:cNvPr id="12" name="TextBox 11"/>
          <p:cNvSpPr txBox="1"/>
          <p:nvPr/>
        </p:nvSpPr>
        <p:spPr>
          <a:xfrm>
            <a:off x="9504626" y="2067284"/>
            <a:ext cx="95573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원가 절감</a:t>
            </a:r>
          </a:p>
        </p:txBody>
      </p:sp>
      <p:sp>
        <p:nvSpPr>
          <p:cNvPr id="13" name="TextBox 12"/>
          <p:cNvSpPr txBox="1"/>
          <p:nvPr/>
        </p:nvSpPr>
        <p:spPr>
          <a:xfrm>
            <a:off x="5214450" y="3178234"/>
            <a:ext cx="955732"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납기 신뢰</a:t>
            </a:r>
          </a:p>
        </p:txBody>
      </p:sp>
      <p:sp>
        <p:nvSpPr>
          <p:cNvPr id="14" name="TextBox 13"/>
          <p:cNvSpPr txBox="1"/>
          <p:nvPr/>
        </p:nvSpPr>
        <p:spPr>
          <a:xfrm>
            <a:off x="7837404" y="3116778"/>
            <a:ext cx="955732"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품질 신뢰</a:t>
            </a:r>
          </a:p>
        </p:txBody>
      </p:sp>
      <p:sp>
        <p:nvSpPr>
          <p:cNvPr id="15" name="TextBox 14"/>
          <p:cNvSpPr txBox="1"/>
          <p:nvPr/>
        </p:nvSpPr>
        <p:spPr>
          <a:xfrm>
            <a:off x="3196792" y="4270275"/>
            <a:ext cx="955732"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무재해 운전</a:t>
            </a:r>
          </a:p>
        </p:txBody>
      </p:sp>
      <p:sp>
        <p:nvSpPr>
          <p:cNvPr id="16" name="TextBox 15"/>
          <p:cNvSpPr txBox="1"/>
          <p:nvPr/>
        </p:nvSpPr>
        <p:spPr>
          <a:xfrm>
            <a:off x="5947178" y="4402643"/>
            <a:ext cx="1061924" cy="755522"/>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설비 가용성 확보</a:t>
            </a:r>
          </a:p>
        </p:txBody>
      </p:sp>
      <p:sp>
        <p:nvSpPr>
          <p:cNvPr id="17" name="TextBox 16"/>
          <p:cNvSpPr txBox="1"/>
          <p:nvPr/>
        </p:nvSpPr>
        <p:spPr>
          <a:xfrm>
            <a:off x="9154191" y="4317549"/>
            <a:ext cx="955732"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에너지 효율</a:t>
            </a:r>
          </a:p>
        </p:txBody>
      </p:sp>
      <p:sp>
        <p:nvSpPr>
          <p:cNvPr id="18" name="TextBox 17"/>
          <p:cNvSpPr txBox="1"/>
          <p:nvPr/>
        </p:nvSpPr>
        <p:spPr>
          <a:xfrm>
            <a:off x="4864014" y="5513594"/>
            <a:ext cx="955732"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현장 판단 지식 축적</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선행 지표와 후행 지표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선행 지표는 결과를 움직이는 동인을 미리 재고 후행 지표는 그 결과를 뒤에 재므로, 손쓸 수 있는 때가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pic>
        <p:nvPicPr>
          <p:cNvPr id="6" name="삽화:선행후행_경로.svg" descr="illust_5374660509753748978_1792037122.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21612" y="1854549"/>
            <a:ext cx="42476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선행 지표(Leading Indicator)</a:t>
            </a:r>
          </a:p>
          <a:p>
            <a:pPr algn="ctr" eaLnBrk="0">
              <a:lnSpc>
                <a:spcPct val="110000"/>
              </a:lnSpc>
              <a:spcAft>
                <a:spcPts val="100"/>
              </a:spcAft>
            </a:pPr>
            <a:r>
              <a:rPr sz="1100" b="0">
                <a:solidFill>
                  <a:srgbClr val="556175"/>
                </a:solidFill>
                <a:latin typeface="맑은 고딕"/>
                <a:ea typeface="맑은 고딕"/>
                <a:cs typeface="맑은 고딕"/>
              </a:rPr>
              <a:t>생산량 · 인터록 여유 · 설비 가동률</a:t>
            </a:r>
          </a:p>
        </p:txBody>
      </p:sp>
      <p:sp>
        <p:nvSpPr>
          <p:cNvPr id="8" name="TextBox 7"/>
          <p:cNvSpPr txBox="1"/>
          <p:nvPr/>
        </p:nvSpPr>
        <p:spPr>
          <a:xfrm>
            <a:off x="6212659" y="1854549"/>
            <a:ext cx="4778661"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후행 지표(Lagging Indicator)</a:t>
            </a:r>
          </a:p>
          <a:p>
            <a:pPr algn="ctr" eaLnBrk="0">
              <a:lnSpc>
                <a:spcPct val="110000"/>
              </a:lnSpc>
              <a:spcAft>
                <a:spcPts val="100"/>
              </a:spcAft>
            </a:pPr>
            <a:r>
              <a:rPr sz="1100" b="0">
                <a:solidFill>
                  <a:srgbClr val="556175"/>
                </a:solidFill>
                <a:latin typeface="맑은 고딕"/>
                <a:ea typeface="맑은 고딕"/>
                <a:cs typeface="맑은 고딕"/>
              </a:rPr>
              <a:t>납기 준수율 · 지체상금 · 영업이익</a:t>
            </a:r>
          </a:p>
        </p:txBody>
      </p:sp>
      <p:sp>
        <p:nvSpPr>
          <p:cNvPr id="9" name="TextBox 8"/>
          <p:cNvSpPr txBox="1"/>
          <p:nvPr/>
        </p:nvSpPr>
        <p:spPr>
          <a:xfrm>
            <a:off x="966750" y="5173218"/>
            <a:ext cx="191146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펌프 부하</a:t>
            </a:r>
          </a:p>
          <a:p>
            <a:pPr algn="ctr" eaLnBrk="0">
              <a:lnSpc>
                <a:spcPct val="110000"/>
              </a:lnSpc>
              <a:spcAft>
                <a:spcPts val="100"/>
              </a:spcAft>
            </a:pPr>
            <a:r>
              <a:rPr sz="1100" b="0">
                <a:solidFill>
                  <a:srgbClr val="556175"/>
                </a:solidFill>
                <a:latin typeface="맑은 고딕"/>
                <a:ea typeface="맑은 고딕"/>
                <a:cs typeface="맑은 고딕"/>
              </a:rPr>
              <a:t>load_pct</a:t>
            </a:r>
          </a:p>
        </p:txBody>
      </p:sp>
      <p:sp>
        <p:nvSpPr>
          <p:cNvPr id="10" name="TextBox 9"/>
          <p:cNvSpPr txBox="1"/>
          <p:nvPr/>
        </p:nvSpPr>
        <p:spPr>
          <a:xfrm>
            <a:off x="3441035" y="3920444"/>
            <a:ext cx="169907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생산량</a:t>
            </a:r>
          </a:p>
          <a:p>
            <a:pPr algn="ctr" eaLnBrk="0">
              <a:lnSpc>
                <a:spcPct val="110000"/>
              </a:lnSpc>
              <a:spcAft>
                <a:spcPts val="100"/>
              </a:spcAft>
            </a:pPr>
            <a:r>
              <a:rPr sz="1100" b="0">
                <a:solidFill>
                  <a:srgbClr val="556175"/>
                </a:solidFill>
                <a:latin typeface="맑은 고딕"/>
                <a:ea typeface="맑은 고딕"/>
                <a:cs typeface="맑은 고딕"/>
              </a:rPr>
              <a:t>leading · 실시간</a:t>
            </a:r>
          </a:p>
        </p:txBody>
      </p:sp>
      <p:sp>
        <p:nvSpPr>
          <p:cNvPr id="11" name="TextBox 10"/>
          <p:cNvSpPr txBox="1"/>
          <p:nvPr/>
        </p:nvSpPr>
        <p:spPr>
          <a:xfrm>
            <a:off x="6594952" y="5144853"/>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납기 준수율</a:t>
            </a:r>
          </a:p>
          <a:p>
            <a:pPr algn="ctr" eaLnBrk="0">
              <a:lnSpc>
                <a:spcPct val="110000"/>
              </a:lnSpc>
              <a:spcAft>
                <a:spcPts val="100"/>
              </a:spcAft>
            </a:pPr>
            <a:r>
              <a:rPr sz="1100" b="0">
                <a:solidFill>
                  <a:srgbClr val="556175"/>
                </a:solidFill>
                <a:latin typeface="맑은 고딕"/>
                <a:ea typeface="맑은 고딕"/>
                <a:cs typeface="맑은 고딕"/>
              </a:rPr>
              <a:t>lagging · 주</a:t>
            </a:r>
          </a:p>
        </p:txBody>
      </p:sp>
      <p:sp>
        <p:nvSpPr>
          <p:cNvPr id="12" name="TextBox 11"/>
          <p:cNvSpPr txBox="1"/>
          <p:nvPr/>
        </p:nvSpPr>
        <p:spPr>
          <a:xfrm>
            <a:off x="9132952" y="3920444"/>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지체상금</a:t>
            </a:r>
          </a:p>
          <a:p>
            <a:pPr algn="ctr" eaLnBrk="0">
              <a:lnSpc>
                <a:spcPct val="110000"/>
              </a:lnSpc>
              <a:spcAft>
                <a:spcPts val="100"/>
              </a:spcAft>
            </a:pPr>
            <a:r>
              <a:rPr sz="1100" b="0">
                <a:solidFill>
                  <a:srgbClr val="556175"/>
                </a:solidFill>
                <a:latin typeface="맑은 고딕"/>
                <a:ea typeface="맑은 고딕"/>
                <a:cs typeface="맑은 고딕"/>
              </a:rPr>
              <a:t>lagging · 월</a:t>
            </a:r>
          </a:p>
        </p:txBody>
      </p:sp>
      <p:sp>
        <p:nvSpPr>
          <p:cNvPr id="13" name="TextBox 12"/>
          <p:cNvSpPr txBox="1"/>
          <p:nvPr/>
        </p:nvSpPr>
        <p:spPr>
          <a:xfrm>
            <a:off x="2113629" y="3324785"/>
            <a:ext cx="138050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a:t>
            </a:r>
          </a:p>
        </p:txBody>
      </p:sp>
      <p:sp>
        <p:nvSpPr>
          <p:cNvPr id="14" name="TextBox 13"/>
          <p:cNvSpPr txBox="1"/>
          <p:nvPr/>
        </p:nvSpPr>
        <p:spPr>
          <a:xfrm>
            <a:off x="5702935" y="3414607"/>
            <a:ext cx="138050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a:t>
            </a:r>
          </a:p>
        </p:txBody>
      </p:sp>
      <p:sp>
        <p:nvSpPr>
          <p:cNvPr id="15" name="TextBox 14"/>
          <p:cNvSpPr txBox="1"/>
          <p:nvPr/>
        </p:nvSpPr>
        <p:spPr>
          <a:xfrm>
            <a:off x="7709973" y="3239691"/>
            <a:ext cx="138050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영향의 부호 · 강도 · 적용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영향 관계는 부호(sign)·강도(strength)·조건(condition)에 따라 득과 실을 다르게 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pic>
        <p:nvPicPr>
          <p:cNvPr id="6" name="삽화:조건부영향.svg" descr="illust_7645793235062934864_1792037122.png"/>
          <p:cNvPicPr>
            <a:picLocks noChangeAspect="1"/>
          </p:cNvPicPr>
          <p:nvPr/>
        </p:nvPicPr>
        <p:blipFill>
          <a:blip r:embed="rId3"/>
          <a:stretch>
            <a:fillRect/>
          </a:stretch>
        </p:blipFill>
        <p:spPr>
          <a:xfrm>
            <a:off x="786223" y="1627632"/>
            <a:ext cx="10619248" cy="4727448"/>
          </a:xfrm>
          <a:prstGeom prst="rect">
            <a:avLst/>
          </a:prstGeom>
        </p:spPr>
      </p:pic>
      <p:sp>
        <p:nvSpPr>
          <p:cNvPr id="7" name="TextBox 6"/>
          <p:cNvSpPr txBox="1"/>
          <p:nvPr/>
        </p:nvSpPr>
        <p:spPr>
          <a:xfrm>
            <a:off x="1218426" y="3844805"/>
            <a:ext cx="10619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부품 단가</a:t>
            </a:r>
          </a:p>
        </p:txBody>
      </p:sp>
      <p:sp>
        <p:nvSpPr>
          <p:cNvPr id="8" name="TextBox 7"/>
          <p:cNvSpPr txBox="1"/>
          <p:nvPr/>
        </p:nvSpPr>
        <p:spPr>
          <a:xfrm>
            <a:off x="3579085" y="2265837"/>
            <a:ext cx="10619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부품 구매비</a:t>
            </a:r>
          </a:p>
        </p:txBody>
      </p:sp>
      <p:sp>
        <p:nvSpPr>
          <p:cNvPr id="9" name="TextBox 8"/>
          <p:cNvSpPr txBox="1"/>
          <p:nvPr/>
        </p:nvSpPr>
        <p:spPr>
          <a:xfrm>
            <a:off x="3579085" y="5154308"/>
            <a:ext cx="106192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부품 품질</a:t>
            </a:r>
          </a:p>
        </p:txBody>
      </p:sp>
      <p:sp>
        <p:nvSpPr>
          <p:cNvPr id="10" name="TextBox 9"/>
          <p:cNvSpPr txBox="1"/>
          <p:nvPr/>
        </p:nvSpPr>
        <p:spPr>
          <a:xfrm>
            <a:off x="5862224" y="4104814"/>
            <a:ext cx="10619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품질 클레임</a:t>
            </a:r>
          </a:p>
        </p:txBody>
      </p:sp>
      <p:sp>
        <p:nvSpPr>
          <p:cNvPr id="11" name="TextBox 10"/>
          <p:cNvSpPr txBox="1"/>
          <p:nvPr/>
        </p:nvSpPr>
        <p:spPr>
          <a:xfrm>
            <a:off x="7954216" y="2790584"/>
            <a:ext cx="106192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브랜드 신뢰</a:t>
            </a:r>
          </a:p>
        </p:txBody>
      </p:sp>
      <p:sp>
        <p:nvSpPr>
          <p:cNvPr id="12" name="TextBox 11"/>
          <p:cNvSpPr txBox="1"/>
          <p:nvPr/>
        </p:nvSpPr>
        <p:spPr>
          <a:xfrm>
            <a:off x="10078065" y="4364824"/>
            <a:ext cx="8495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매출</a:t>
            </a:r>
          </a:p>
        </p:txBody>
      </p:sp>
      <p:sp>
        <p:nvSpPr>
          <p:cNvPr id="13" name="TextBox 12"/>
          <p:cNvSpPr txBox="1"/>
          <p:nvPr/>
        </p:nvSpPr>
        <p:spPr>
          <a:xfrm>
            <a:off x="1412759" y="2738582"/>
            <a:ext cx="180527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high</a:t>
            </a:r>
          </a:p>
        </p:txBody>
      </p:sp>
      <p:sp>
        <p:nvSpPr>
          <p:cNvPr id="14" name="TextBox 13"/>
          <p:cNvSpPr txBox="1"/>
          <p:nvPr/>
        </p:nvSpPr>
        <p:spPr>
          <a:xfrm>
            <a:off x="2453445" y="4109542"/>
            <a:ext cx="191146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medium</a:t>
            </a:r>
          </a:p>
        </p:txBody>
      </p:sp>
      <p:sp>
        <p:nvSpPr>
          <p:cNvPr id="15" name="TextBox 14"/>
          <p:cNvSpPr txBox="1"/>
          <p:nvPr/>
        </p:nvSpPr>
        <p:spPr>
          <a:xfrm>
            <a:off x="956131" y="5636507"/>
            <a:ext cx="25486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조건(condition)</a:t>
            </a:r>
          </a:p>
          <a:p>
            <a:pPr algn="ctr" eaLnBrk="0">
              <a:lnSpc>
                <a:spcPct val="110000"/>
              </a:lnSpc>
              <a:spcAft>
                <a:spcPts val="100"/>
              </a:spcAft>
            </a:pPr>
            <a:r>
              <a:rPr sz="1100" b="0">
                <a:solidFill>
                  <a:srgbClr val="556175"/>
                </a:solidFill>
                <a:latin typeface="맑은 고딕"/>
                <a:ea typeface="맑은 고딕"/>
                <a:cs typeface="맑은 고딕"/>
              </a:rPr>
              <a:t>공급사 변경 · 단가 인하</a:t>
            </a:r>
          </a:p>
        </p:txBody>
      </p:sp>
      <p:sp>
        <p:nvSpPr>
          <p:cNvPr id="16" name="TextBox 15"/>
          <p:cNvSpPr txBox="1"/>
          <p:nvPr/>
        </p:nvSpPr>
        <p:spPr>
          <a:xfrm>
            <a:off x="4683487" y="5102306"/>
            <a:ext cx="2017657"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medium</a:t>
            </a:r>
          </a:p>
        </p:txBody>
      </p:sp>
      <p:sp>
        <p:nvSpPr>
          <p:cNvPr id="17" name="TextBox 16"/>
          <p:cNvSpPr txBox="1"/>
          <p:nvPr/>
        </p:nvSpPr>
        <p:spPr>
          <a:xfrm>
            <a:off x="6892291" y="3887352"/>
            <a:ext cx="1805272"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high</a:t>
            </a:r>
          </a:p>
        </p:txBody>
      </p:sp>
      <p:sp>
        <p:nvSpPr>
          <p:cNvPr id="18" name="TextBox 17"/>
          <p:cNvSpPr txBox="1"/>
          <p:nvPr/>
        </p:nvSpPr>
        <p:spPr>
          <a:xfrm>
            <a:off x="9111714" y="3272783"/>
            <a:ext cx="1911464"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INFLUENCES + · medium</a:t>
            </a:r>
          </a:p>
        </p:txBody>
      </p:sp>
      <p:sp>
        <p:nvSpPr>
          <p:cNvPr id="19" name="TextBox 18"/>
          <p:cNvSpPr txBox="1"/>
          <p:nvPr/>
        </p:nvSpPr>
        <p:spPr>
          <a:xfrm>
            <a:off x="5713554" y="5726329"/>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TRUE</a:t>
            </a:r>
          </a:p>
          <a:p>
            <a:pPr algn="ctr" eaLnBrk="0">
              <a:lnSpc>
                <a:spcPct val="110000"/>
              </a:lnSpc>
              <a:spcAft>
                <a:spcPts val="100"/>
              </a:spcAft>
            </a:pPr>
            <a:r>
              <a:rPr sz="1100" b="0">
                <a:solidFill>
                  <a:srgbClr val="556175"/>
                </a:solidFill>
                <a:latin typeface="맑은 고딕"/>
                <a:ea typeface="맑은 고딕"/>
                <a:cs typeface="맑은 고딕"/>
              </a:rPr>
              <a:t>조건 성립</a:t>
            </a:r>
          </a:p>
        </p:txBody>
      </p:sp>
      <p:sp>
        <p:nvSpPr>
          <p:cNvPr id="20" name="TextBox 19"/>
          <p:cNvSpPr txBox="1"/>
          <p:nvPr/>
        </p:nvSpPr>
        <p:spPr>
          <a:xfrm>
            <a:off x="7593161" y="5726329"/>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UNKNOWN</a:t>
            </a:r>
          </a:p>
          <a:p>
            <a:pPr algn="ctr" eaLnBrk="0">
              <a:lnSpc>
                <a:spcPct val="110000"/>
              </a:lnSpc>
              <a:spcAft>
                <a:spcPts val="100"/>
              </a:spcAft>
            </a:pPr>
            <a:r>
              <a:rPr sz="1100" b="0">
                <a:solidFill>
                  <a:srgbClr val="556175"/>
                </a:solidFill>
                <a:latin typeface="맑은 고딕"/>
                <a:ea typeface="맑은 고딕"/>
                <a:cs typeface="맑은 고딕"/>
              </a:rPr>
              <a:t>조건 미확인</a:t>
            </a:r>
          </a:p>
        </p:txBody>
      </p:sp>
      <p:sp>
        <p:nvSpPr>
          <p:cNvPr id="21" name="TextBox 20"/>
          <p:cNvSpPr txBox="1"/>
          <p:nvPr/>
        </p:nvSpPr>
        <p:spPr>
          <a:xfrm>
            <a:off x="9483387" y="5726329"/>
            <a:ext cx="169907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FALSE</a:t>
            </a:r>
          </a:p>
          <a:p>
            <a:pPr algn="ctr" eaLnBrk="0">
              <a:lnSpc>
                <a:spcPct val="110000"/>
              </a:lnSpc>
              <a:spcAft>
                <a:spcPts val="100"/>
              </a:spcAft>
            </a:pPr>
            <a:r>
              <a:rPr sz="1100" b="0">
                <a:solidFill>
                  <a:srgbClr val="556175"/>
                </a:solidFill>
                <a:latin typeface="맑은 고딕"/>
                <a:ea typeface="맑은 고딕"/>
                <a:cs typeface="맑은 고딕"/>
              </a:rPr>
              <a:t>조건 불성립</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조치의 상충과 What-if 분석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허용된 후보의 득실을 성과 지표로 견주고, 가정값을 바꾸어 결과를 다시 계산하는 방법</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가능 여부를 가리는 규칙과 효과를 견주는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안전 조건을 점수에 섞으면 위험한 조치가 뽑힐 수 있고, 견줄 값을 제외 조건에 넣으면 고를 조치가 남지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가능 여부를 가리는 규칙</a:t>
            </a:r>
          </a:p>
        </p:txBody>
      </p:sp>
      <p:sp>
        <p:nvSpPr>
          <p:cNvPr id="10" name="TextBox 9"/>
          <p:cNvSpPr txBox="1"/>
          <p:nvPr/>
        </p:nvSpPr>
        <p:spPr>
          <a:xfrm>
            <a:off x="822959" y="3330638"/>
            <a:ext cx="4632807" cy="182435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조건에 걸리면 후보에서 빠진다</a:t>
            </a:r>
          </a:p>
          <a:p>
            <a:pPr algn="l" eaLnBrk="0" marL="165735" indent="-165735">
              <a:lnSpc>
                <a:spcPct val="110000"/>
              </a:lnSpc>
              <a:spcAft>
                <a:spcPts val="600"/>
              </a:spcAft>
            </a:pPr>
            <a:r>
              <a:rPr sz="1450" b="0">
                <a:solidFill>
                  <a:srgbClr val="1F2A3A"/>
                </a:solidFill>
                <a:latin typeface="맑은 고딕"/>
                <a:ea typeface="맑은 고딕"/>
                <a:cs typeface="맑은 고딕"/>
              </a:rPr>
              <a:t>• 다른 점수가 높아도 되살아나지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안전과 규정은 금액과 맞바꾸지 않는다</a:t>
            </a:r>
          </a:p>
          <a:p>
            <a:pPr algn="l" eaLnBrk="0" marL="165735" indent="-165735">
              <a:lnSpc>
                <a:spcPct val="110000"/>
              </a:lnSpc>
              <a:spcAft>
                <a:spcPts val="600"/>
              </a:spcAft>
            </a:pPr>
            <a:r>
              <a:rPr sz="1450" b="0">
                <a:solidFill>
                  <a:srgbClr val="1F2A3A"/>
                </a:solidFill>
                <a:latin typeface="맑은 고딕"/>
                <a:ea typeface="맑은 고딕"/>
                <a:cs typeface="맑은 고딕"/>
              </a:rPr>
              <a:t>• 섞으면: 넘으면 안 되는 선이 점수에 묻힌다</a:t>
            </a:r>
          </a:p>
        </p:txBody>
      </p:sp>
      <p:sp>
        <p:nvSpPr>
          <p:cNvPr id="11" name="Rounded Rectangle 10"/>
          <p:cNvSpPr/>
          <p:nvPr/>
        </p:nvSpPr>
        <p:spPr>
          <a:xfrm>
            <a:off x="868680" y="5246433"/>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통과 또는 제외</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scale" descr="scal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효과와 비용을 견주는 기준</a:t>
            </a:r>
          </a:p>
        </p:txBody>
      </p:sp>
      <p:sp>
        <p:nvSpPr>
          <p:cNvPr id="17" name="TextBox 16"/>
          <p:cNvSpPr txBox="1"/>
          <p:nvPr/>
        </p:nvSpPr>
        <p:spPr>
          <a:xfrm>
            <a:off x="6735927" y="3330638"/>
            <a:ext cx="4632807" cy="1824355"/>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통과한 후보끼리 점수로 비교한다</a:t>
            </a:r>
          </a:p>
          <a:p>
            <a:pPr algn="l" eaLnBrk="0" marL="160020" indent="-160020">
              <a:lnSpc>
                <a:spcPct val="110000"/>
              </a:lnSpc>
              <a:spcAft>
                <a:spcPts val="600"/>
              </a:spcAft>
            </a:pPr>
            <a:r>
              <a:rPr sz="1400" b="0">
                <a:solidFill>
                  <a:srgbClr val="1F2A3A"/>
                </a:solidFill>
                <a:latin typeface="맑은 고딕"/>
                <a:ea typeface="맑은 고딕"/>
                <a:cs typeface="맑은 고딕"/>
              </a:rPr>
              <a:t>• 한 항목의 손해를 다른 항목의 이득이 메울 수 있다</a:t>
            </a:r>
          </a:p>
          <a:p>
            <a:pPr algn="l" eaLnBrk="0" marL="160020" indent="-160020">
              <a:lnSpc>
                <a:spcPct val="110000"/>
              </a:lnSpc>
              <a:spcAft>
                <a:spcPts val="600"/>
              </a:spcAft>
            </a:pPr>
            <a:r>
              <a:rPr sz="1400" b="0">
                <a:solidFill>
                  <a:srgbClr val="1F2A3A"/>
                </a:solidFill>
                <a:latin typeface="맑은 고딕"/>
                <a:ea typeface="맑은 고딕"/>
                <a:cs typeface="맑은 고딕"/>
              </a:rPr>
              <a:t>• 감점 · 경고는 이쪽에서 점수의 성분이 된다</a:t>
            </a:r>
          </a:p>
          <a:p>
            <a:pPr algn="l" eaLnBrk="0" marL="160020" indent="-160020">
              <a:lnSpc>
                <a:spcPct val="110000"/>
              </a:lnSpc>
              <a:spcAft>
                <a:spcPts val="600"/>
              </a:spcAft>
            </a:pPr>
            <a:r>
              <a:rPr sz="1400" b="0">
                <a:solidFill>
                  <a:srgbClr val="1F2A3A"/>
                </a:solidFill>
                <a:latin typeface="맑은 고딕"/>
                <a:ea typeface="맑은 고딕"/>
                <a:cs typeface="맑은 고딕"/>
              </a:rPr>
              <a:t>• 섞으면: 비용이 조금만 들어도 빠져 남는 후보가 없다</a:t>
            </a:r>
          </a:p>
        </p:txBody>
      </p:sp>
      <p:sp>
        <p:nvSpPr>
          <p:cNvPr id="18" name="Rounded Rectangle 17"/>
          <p:cNvSpPr/>
          <p:nvPr/>
        </p:nvSpPr>
        <p:spPr>
          <a:xfrm>
            <a:off x="6781647" y="5246433"/>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더 낫거나 못하다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조치가 성과 지표에 닿는 경로와 상충(Trade-off)</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팬을 올리고 부하를 내리면 냉각에는 도움이 되지만, 전력 사용이 늘고 생산 감소는 납기에 부담을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삽화:성과경로_6.svg" descr="illust_8469543499004391978_1792037122.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운전과 부하 80 %</a:t>
            </a:r>
          </a:p>
          <a:p>
            <a:pPr algn="ctr" eaLnBrk="0">
              <a:lnSpc>
                <a:spcPct val="110000"/>
              </a:lnSpc>
              <a:spcAft>
                <a:spcPts val="100"/>
              </a:spcAft>
            </a:pPr>
            <a:r>
              <a:rPr sz="1300" b="0">
                <a:solidFill>
                  <a:srgbClr val="556175"/>
                </a:solidFill>
                <a:latin typeface="맑은 고딕"/>
                <a:ea typeface="맑은 고딕"/>
                <a:cs typeface="맑은 고딕"/>
              </a:rPr>
              <a:t>SOP-COOL-12</a:t>
            </a:r>
          </a:p>
        </p:txBody>
      </p:sp>
      <p:sp>
        <p:nvSpPr>
          <p:cNvPr id="8" name="TextBox 7"/>
          <p:cNvSpPr txBox="1"/>
          <p:nvPr/>
        </p:nvSpPr>
        <p:spPr>
          <a:xfrm>
            <a:off x="3204831" y="2818948"/>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속도</a:t>
            </a:r>
          </a:p>
          <a:p>
            <a:pPr algn="ctr" eaLnBrk="0">
              <a:lnSpc>
                <a:spcPct val="110000"/>
              </a:lnSpc>
              <a:spcAft>
                <a:spcPts val="100"/>
              </a:spcAft>
            </a:pPr>
            <a:r>
              <a:rPr sz="1300" b="0">
                <a:solidFill>
                  <a:srgbClr val="556175"/>
                </a:solidFill>
                <a:latin typeface="맑은 고딕"/>
                <a:ea typeface="맑은 고딕"/>
                <a:cs typeface="맑은 고딕"/>
              </a:rPr>
              <a:t>60 → 100 %</a:t>
            </a:r>
          </a:p>
        </p:txBody>
      </p:sp>
      <p:sp>
        <p:nvSpPr>
          <p:cNvPr id="9" name="TextBox 8"/>
          <p:cNvSpPr txBox="1"/>
          <p:nvPr/>
        </p:nvSpPr>
        <p:spPr>
          <a:xfrm>
            <a:off x="3455749" y="5721601"/>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펌프 부하</a:t>
            </a:r>
          </a:p>
          <a:p>
            <a:pPr algn="ctr" eaLnBrk="0">
              <a:lnSpc>
                <a:spcPct val="110000"/>
              </a:lnSpc>
              <a:spcAft>
                <a:spcPts val="100"/>
              </a:spcAft>
            </a:pPr>
            <a:r>
              <a:rPr sz="1300" b="0">
                <a:solidFill>
                  <a:srgbClr val="556175"/>
                </a:solidFill>
                <a:latin typeface="맑은 고딕"/>
                <a:ea typeface="맑은 고딕"/>
                <a:cs typeface="맑은 고딕"/>
              </a:rPr>
              <a:t>90 → 80 %</a:t>
            </a:r>
          </a:p>
        </p:txBody>
      </p:sp>
      <p:sp>
        <p:nvSpPr>
          <p:cNvPr id="10" name="TextBox 9"/>
          <p:cNvSpPr txBox="1"/>
          <p:nvPr/>
        </p:nvSpPr>
        <p:spPr>
          <a:xfrm>
            <a:off x="6150395" y="4227728"/>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유온</a:t>
            </a:r>
          </a:p>
          <a:p>
            <a:pPr algn="ctr" eaLnBrk="0">
              <a:lnSpc>
                <a:spcPct val="110000"/>
              </a:lnSpc>
              <a:spcAft>
                <a:spcPts val="100"/>
              </a:spcAft>
            </a:pPr>
            <a:r>
              <a:rPr sz="1300" b="0">
                <a:solidFill>
                  <a:srgbClr val="556175"/>
                </a:solidFill>
                <a:latin typeface="맑은 고딕"/>
                <a:ea typeface="맑은 고딕"/>
                <a:cs typeface="맑은 고딕"/>
              </a:rPr>
              <a:t>TS1</a:t>
            </a:r>
          </a:p>
        </p:txBody>
      </p:sp>
      <p:sp>
        <p:nvSpPr>
          <p:cNvPr id="11" name="TextBox 10"/>
          <p:cNvSpPr txBox="1"/>
          <p:nvPr/>
        </p:nvSpPr>
        <p:spPr>
          <a:xfrm>
            <a:off x="6150395" y="5721601"/>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생산량</a:t>
            </a:r>
          </a:p>
        </p:txBody>
      </p:sp>
      <p:sp>
        <p:nvSpPr>
          <p:cNvPr id="12" name="TextBox 11"/>
          <p:cNvSpPr txBox="1"/>
          <p:nvPr/>
        </p:nvSpPr>
        <p:spPr>
          <a:xfrm>
            <a:off x="8506845" y="2601486"/>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전력 사용량</a:t>
            </a:r>
          </a:p>
        </p:txBody>
      </p:sp>
      <p:sp>
        <p:nvSpPr>
          <p:cNvPr id="13" name="TextBox 12"/>
          <p:cNvSpPr txBox="1"/>
          <p:nvPr/>
        </p:nvSpPr>
        <p:spPr>
          <a:xfrm>
            <a:off x="8506845" y="4227728"/>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인터록 여유</a:t>
            </a:r>
          </a:p>
        </p:txBody>
      </p:sp>
      <p:sp>
        <p:nvSpPr>
          <p:cNvPr id="14" name="TextBox 13"/>
          <p:cNvSpPr txBox="1"/>
          <p:nvPr/>
        </p:nvSpPr>
        <p:spPr>
          <a:xfrm>
            <a:off x="8506845" y="5721601"/>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준수율</a:t>
            </a:r>
          </a:p>
        </p:txBody>
      </p:sp>
      <p:sp>
        <p:nvSpPr>
          <p:cNvPr id="15" name="TextBox 14"/>
          <p:cNvSpPr txBox="1"/>
          <p:nvPr/>
        </p:nvSpPr>
        <p:spPr>
          <a:xfrm>
            <a:off x="1950239" y="2610941"/>
            <a:ext cx="1200044" cy="329438"/>
          </a:xfrm>
          <a:prstGeom prst="rect">
            <a:avLst/>
          </a:prstGeom>
          <a:noFill/>
        </p:spPr>
        <p:txBody>
          <a:bodyPr wrap="square" anchor="t"/>
          <a:lstStyle/>
          <a:p>
            <a:pPr algn="ctr" eaLnBrk="0">
              <a:lnSpc>
                <a:spcPct val="110000"/>
              </a:lnSpc>
              <a:spcAft>
                <a:spcPts val="100"/>
              </a:spcAft>
            </a:pPr>
            <a:r>
              <a:rPr sz="1300" b="0">
                <a:solidFill>
                  <a:srgbClr val="13294B"/>
                </a:solidFill>
                <a:latin typeface="맑은 고딕"/>
                <a:ea typeface="맑은 고딕"/>
                <a:cs typeface="맑은 고딕"/>
              </a:rPr>
              <a:t>AFFECTS</a:t>
            </a:r>
          </a:p>
        </p:txBody>
      </p:sp>
      <p:sp>
        <p:nvSpPr>
          <p:cNvPr id="16" name="TextBox 15"/>
          <p:cNvSpPr txBox="1"/>
          <p:nvPr/>
        </p:nvSpPr>
        <p:spPr>
          <a:xfrm>
            <a:off x="5299454" y="2681852"/>
            <a:ext cx="1418234" cy="329438"/>
          </a:xfrm>
          <a:prstGeom prst="rect">
            <a:avLst/>
          </a:prstGeom>
          <a:noFill/>
        </p:spPr>
        <p:txBody>
          <a:bodyPr wrap="square" anchor="t"/>
          <a:lstStyle/>
          <a:p>
            <a:pPr algn="ctr" eaLnBrk="0">
              <a:lnSpc>
                <a:spcPct val="110000"/>
              </a:lnSpc>
              <a:spcAft>
                <a:spcPts val="100"/>
              </a:spcAft>
            </a:pPr>
            <a:r>
              <a:rPr sz="1300" b="0">
                <a:solidFill>
                  <a:srgbClr val="13294B"/>
                </a:solidFill>
                <a:latin typeface="맑은 고딕"/>
                <a:ea typeface="맑은 고딕"/>
                <a:cs typeface="맑은 고딕"/>
              </a:rPr>
              <a:t>INFLUENCES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즉시 제어 · 작업지시 · 정비의 손익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후보의 손익은 생산 · 납기 · 품질 · 전력 · 정비 정지를 원천과 함께 계산하고, 출처가 없으면 미확인으로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손익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계산과 원천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해당하는 후보</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생산 감소</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시간당 생산 가치 × (기간 × (1 - 부하/90) + 작업 정지 시간)</a:t>
            </a:r>
          </a:p>
          <a:p>
            <a:pPr algn="l" eaLnBrk="0">
              <a:lnSpc>
                <a:spcPct val="110000"/>
              </a:lnSpc>
            </a:pPr>
            <a:r>
              <a:rPr sz="1400" b="0">
                <a:solidFill>
                  <a:srgbClr val="1F2A3A"/>
                </a:solidFill>
                <a:latin typeface="맑은 고딕"/>
                <a:ea typeface="맑은 고딕"/>
                <a:cs typeface="맑은 고딕"/>
              </a:rPr>
              <a:t>MES · CMMS 표준 작업</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부하를 낮추거나</a:t>
            </a:r>
          </a:p>
          <a:p>
            <a:pPr algn="l" eaLnBrk="0">
              <a:lnSpc>
                <a:spcPct val="110000"/>
              </a:lnSpc>
            </a:pPr>
            <a:r>
              <a:rPr sz="1250" b="1">
                <a:solidFill>
                  <a:srgbClr val="556175"/>
                </a:solidFill>
                <a:latin typeface="맑은 고딕"/>
                <a:ea typeface="맑은 고딕"/>
                <a:cs typeface="맑은 고딕"/>
              </a:rPr>
              <a:t>설비를 세우는 후보</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 지연 위약금</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위약금(만원/h) × 납기를 넘긴 시간</a:t>
            </a:r>
          </a:p>
          <a:p>
            <a:pPr algn="l" eaLnBrk="0">
              <a:lnSpc>
                <a:spcPct val="110000"/>
              </a:lnSpc>
            </a:pPr>
            <a:r>
              <a:rPr sz="1400" b="0">
                <a:solidFill>
                  <a:srgbClr val="1F2A3A"/>
                </a:solidFill>
                <a:latin typeface="맑은 고딕"/>
                <a:ea typeface="맑은 고딕"/>
                <a:cs typeface="맑은 고딕"/>
              </a:rPr>
              <a:t>ERP 계약 · MES 오더 잔량</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생산 속도가</a:t>
            </a:r>
          </a:p>
          <a:p>
            <a:pPr algn="l" eaLnBrk="0">
              <a:lnSpc>
                <a:spcPct val="110000"/>
              </a:lnSpc>
            </a:pPr>
            <a:r>
              <a:rPr sz="1250" b="1">
                <a:solidFill>
                  <a:srgbClr val="556175"/>
                </a:solidFill>
                <a:latin typeface="맑은 고딕"/>
                <a:ea typeface="맑은 고딕"/>
                <a:cs typeface="맑은 고딕"/>
              </a:rPr>
              <a:t>줄어드는 후보</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클레임 위험</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불량 확률 × 클레임 금액(예측 유온 55 ℃ 이상)</a:t>
            </a:r>
          </a:p>
          <a:p>
            <a:pPr algn="l" eaLnBrk="0">
              <a:lnSpc>
                <a:spcPct val="110000"/>
              </a:lnSpc>
            </a:pPr>
            <a:r>
              <a:rPr sz="1400" b="0">
                <a:solidFill>
                  <a:srgbClr val="1F2A3A"/>
                </a:solidFill>
                <a:latin typeface="맑은 고딕"/>
                <a:ea typeface="맑은 고딕"/>
                <a:cs typeface="맑은 고딕"/>
              </a:rPr>
              <a:t>QMS 고온 로트</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예측 유온이</a:t>
            </a:r>
          </a:p>
          <a:p>
            <a:pPr algn="l" eaLnBrk="0">
              <a:lnSpc>
                <a:spcPct val="110000"/>
              </a:lnSpc>
            </a:pPr>
            <a:r>
              <a:rPr sz="1250" b="1">
                <a:solidFill>
                  <a:srgbClr val="556175"/>
                </a:solidFill>
                <a:latin typeface="맑은 고딕"/>
                <a:ea typeface="맑은 고딕"/>
                <a:cs typeface="맑은 고딕"/>
              </a:rPr>
              <a:t>높은 후보</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에너지비</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추가 전력 × 운전 시간 × 전력 단가</a:t>
            </a:r>
          </a:p>
          <a:p>
            <a:pPr algn="l" eaLnBrk="0">
              <a:lnSpc>
                <a:spcPct val="110000"/>
              </a:lnSpc>
            </a:pPr>
            <a:r>
              <a:rPr sz="1400" b="0">
                <a:solidFill>
                  <a:srgbClr val="1F2A3A"/>
                </a:solidFill>
                <a:latin typeface="맑은 고딕"/>
                <a:ea typeface="맑은 고딕"/>
                <a:cs typeface="맑은 고딕"/>
              </a:rPr>
              <a:t>EMS</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팬을 올리는 후보</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정비 정지 · 작업비</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설비별 기준: 핀 세척 3 h · 40만 원</a:t>
            </a:r>
          </a:p>
          <a:p>
            <a:pPr algn="l" eaLnBrk="0">
              <a:lnSpc>
                <a:spcPct val="110000"/>
              </a:lnSpc>
            </a:pPr>
            <a:r>
              <a:rPr sz="1400" b="0">
                <a:solidFill>
                  <a:srgbClr val="1F2A3A"/>
                </a:solidFill>
                <a:latin typeface="맑은 고딕"/>
                <a:ea typeface="맑은 고딕"/>
                <a:cs typeface="맑은 고딕"/>
              </a:rPr>
              <a:t>조치별 표준 작업이 없으면 손익 미확인</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CMMS</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고장 위험</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고장 비용 × min(1, 기간 ÷ MTBF)</a:t>
            </a:r>
          </a:p>
          <a:p>
            <a:pPr algn="l" eaLnBrk="0">
              <a:lnSpc>
                <a:spcPct val="110000"/>
              </a:lnSpc>
            </a:pPr>
            <a:r>
              <a:rPr sz="1400" b="0">
                <a:solidFill>
                  <a:srgbClr val="1F2A3A"/>
                </a:solidFill>
                <a:latin typeface="맑은 고딕"/>
                <a:ea typeface="맑은 고딕"/>
                <a:cs typeface="맑은 고딕"/>
              </a:rPr>
              <a:t>확률식과 근본 조치의 0 처리는 가정</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ERP · CMMS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네 후보의 예측 유온과 순위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유온을 가장 낮추는 안은 공동 2순위였고, 냉각 효과와 생산 유지를 함께 얻는 팬 최대 운전이 1순위였다.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순위 · 조치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절차 번호 · 예측 평형 유온 · 판정</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점수 · 승인</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  팬 최대 운전</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SOP-COOL-11 · 49.8 ℃ · 생산 유지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+3.38</a:t>
            </a:r>
          </a:p>
          <a:p>
            <a:pPr algn="l" eaLnBrk="0">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  부하 70 %와 야간 핀 세척</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SOP-COOL-13 · 47.7 ℃ · 생산 감산</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+2.75</a:t>
            </a:r>
          </a:p>
          <a:p>
            <a:pPr algn="l" eaLnBrk="0">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  팬 최대 운전과 부하 80 %</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SOP-COOL-12 · 44.6 ℃ · 생산 감산</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+2.75</a:t>
            </a:r>
          </a:p>
          <a:p>
            <a:pPr algn="l" eaLnBrk="0">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4  쿨러 핀 세척</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SOP-COOL-14 · 62.5 ℃ · 경고: 예측 유온 55 ℃ 이상</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-1.58</a:t>
            </a:r>
          </a:p>
          <a:p>
            <a:pPr algn="l" eaLnBrk="0">
              <a:lnSpc>
                <a:spcPct val="110000"/>
              </a:lnSpc>
            </a:pPr>
            <a:r>
              <a:rPr sz="1250" b="1">
                <a:solidFill>
                  <a:srgbClr val="556175"/>
                </a:solidFill>
                <a:latin typeface="맑은 고딕"/>
                <a:ea typeface="맑은 고딕"/>
                <a:cs typeface="맑은 고딕"/>
              </a:rPr>
              <a:t>설비보전팀장</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자동 · 팬 60 %(100 % 연속 0 h) · 긴급 오더 납기 5.98 h · 위약금 120만 원/h · 출하 대기 고온 로트 있음</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제외된 후보 없음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순위 정책: 일곱 점수 성분의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순위 점수는 성과 · 예측 · 규정 · 선례 · 업무 조건을 정책의 식으로 합친 값이며, 금액이나 단일 KPI가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점수 성분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반영하는 판단</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정책의 식 · 범위</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성과 지표 bsc</a:t>
            </a:r>
          </a:p>
        </p:txBody>
      </p:sp>
      <p:sp>
        <p:nvSpPr>
          <p:cNvPr id="12" name="TextBox 11"/>
          <p:cNvSpPr txBox="1"/>
          <p:nvPr/>
        </p:nvSpPr>
        <p:spPr>
          <a:xfrm>
            <a:off x="3200400" y="2029968"/>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영향 경로를 따라 얻는 득과 실</a:t>
            </a:r>
          </a:p>
          <a:p>
            <a:pPr algn="l" eaLnBrk="0">
              <a:lnSpc>
                <a:spcPct val="110000"/>
              </a:lnSpc>
            </a:pPr>
            <a:r>
              <a:rPr sz="1400" b="0">
                <a:solidFill>
                  <a:srgbClr val="1F2A3A"/>
                </a:solidFill>
                <a:latin typeface="맑은 고딕"/>
                <a:ea typeface="맑은 고딕"/>
                <a:cs typeface="맑은 고딕"/>
              </a:rPr>
              <a:t>조건이 미확인이면 그 성분을 절반 반영</a:t>
            </a:r>
          </a:p>
        </p:txBody>
      </p:sp>
      <p:sp>
        <p:nvSpPr>
          <p:cNvPr id="13" name="TextBox 12"/>
          <p:cNvSpPr txBox="1"/>
          <p:nvPr/>
        </p:nvSpPr>
        <p:spPr>
          <a:xfrm>
            <a:off x="9448495" y="2029968"/>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득 - 실</a:t>
            </a:r>
          </a:p>
          <a:p>
            <a:pPr algn="l" eaLnBrk="0">
              <a:lnSpc>
                <a:spcPct val="110000"/>
              </a:lnSpc>
            </a:pPr>
            <a:r>
              <a:rPr sz="1250" b="1">
                <a:solidFill>
                  <a:srgbClr val="556175"/>
                </a:solidFill>
                <a:latin typeface="맑은 고딕"/>
                <a:ea typeface="맑은 고딕"/>
                <a:cs typeface="맑은 고딕"/>
              </a:rPr>
              <a:t>미확인 성분 × 0.5</a:t>
            </a:r>
          </a:p>
        </p:txBody>
      </p:sp>
      <p:sp>
        <p:nvSpPr>
          <p:cNvPr id="14" name="Rounded Rectangle 13"/>
          <p:cNvSpPr/>
          <p:nvPr/>
        </p:nvSpPr>
        <p:spPr>
          <a:xfrm>
            <a:off x="548640" y="2679845"/>
            <a:ext cx="11094415" cy="553865"/>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예측 forecast</a:t>
            </a:r>
          </a:p>
        </p:txBody>
      </p:sp>
      <p:sp>
        <p:nvSpPr>
          <p:cNvPr id="16" name="TextBox 15"/>
          <p:cNvSpPr txBox="1"/>
          <p:nvPr/>
        </p:nvSpPr>
        <p:spPr>
          <a:xfrm>
            <a:off x="3200400" y="2647841"/>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회복 기준 아래로 내리는 효과</a:t>
            </a:r>
          </a:p>
          <a:p>
            <a:pPr algn="l" eaLnBrk="0">
              <a:lnSpc>
                <a:spcPct val="110000"/>
              </a:lnSpc>
            </a:pPr>
            <a:r>
              <a:rPr sz="1400" b="0">
                <a:solidFill>
                  <a:srgbClr val="1F2A3A"/>
                </a:solidFill>
                <a:latin typeface="맑은 고딕"/>
                <a:ea typeface="맑은 고딕"/>
                <a:cs typeface="맑은 고딕"/>
              </a:rPr>
              <a:t>충분히 낮아지면 가산점은 더 늘지 않는다</a:t>
            </a:r>
          </a:p>
        </p:txBody>
      </p:sp>
      <p:sp>
        <p:nvSpPr>
          <p:cNvPr id="17" name="TextBox 16"/>
          <p:cNvSpPr txBox="1"/>
          <p:nvPr/>
        </p:nvSpPr>
        <p:spPr>
          <a:xfrm>
            <a:off x="9448495" y="2647841"/>
            <a:ext cx="2103120" cy="617873"/>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(55 - 예측 유온) ÷ 3</a:t>
            </a:r>
          </a:p>
          <a:p>
            <a:pPr algn="l" eaLnBrk="0">
              <a:lnSpc>
                <a:spcPct val="110000"/>
              </a:lnSpc>
            </a:pPr>
            <a:r>
              <a:rPr sz="1250" b="1">
                <a:solidFill>
                  <a:srgbClr val="1A6FC4"/>
                </a:solidFill>
                <a:latin typeface="맑은 고딕"/>
                <a:ea typeface="맑은 고딕"/>
                <a:cs typeface="맑은 고딕"/>
              </a:rPr>
              <a:t>최솟값 -2 · 최댓값 +2</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경고 warn</a:t>
            </a:r>
          </a:p>
        </p:txBody>
      </p:sp>
      <p:sp>
        <p:nvSpPr>
          <p:cNvPr id="20" name="TextBox 19"/>
          <p:cNvSpPr txBox="1"/>
          <p:nvPr/>
        </p:nvSpPr>
        <p:spPr>
          <a:xfrm>
            <a:off x="3200400" y="3265714"/>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후보에 남긴 주의사항의 부담</a:t>
            </a:r>
          </a:p>
        </p:txBody>
      </p:sp>
      <p:sp>
        <p:nvSpPr>
          <p:cNvPr id="21" name="TextBox 20"/>
          <p:cNvSpPr txBox="1"/>
          <p:nvPr/>
        </p:nvSpPr>
        <p:spPr>
          <a:xfrm>
            <a:off x="9448495" y="3265714"/>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경고 1건당 -0.5</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감점 penalty</a:t>
            </a:r>
          </a:p>
        </p:txBody>
      </p:sp>
      <p:sp>
        <p:nvSpPr>
          <p:cNvPr id="24" name="TextBox 23"/>
          <p:cNvSpPr txBox="1"/>
          <p:nvPr/>
        </p:nvSpPr>
        <p:spPr>
          <a:xfrm>
            <a:off x="3200400" y="3883587"/>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규칙이 매긴 금액을 점수로 환산</a:t>
            </a:r>
          </a:p>
        </p:txBody>
      </p:sp>
      <p:sp>
        <p:nvSpPr>
          <p:cNvPr id="25" name="TextBox 24"/>
          <p:cNvSpPr txBox="1"/>
          <p:nvPr/>
        </p:nvSpPr>
        <p:spPr>
          <a:xfrm>
            <a:off x="9448495" y="3883587"/>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감점(만 원) ÷ 20</a:t>
            </a:r>
          </a:p>
          <a:p>
            <a:pPr algn="l" eaLnBrk="0">
              <a:lnSpc>
                <a:spcPct val="110000"/>
              </a:lnSpc>
            </a:pPr>
            <a:r>
              <a:rPr sz="1250" b="1">
                <a:solidFill>
                  <a:srgbClr val="556175"/>
                </a:solidFill>
                <a:latin typeface="맑은 고딕"/>
                <a:ea typeface="맑은 고딕"/>
                <a:cs typeface="맑은 고딕"/>
              </a:rPr>
              <a:t>점수에서 뺀다</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선례 precedent</a:t>
            </a:r>
          </a:p>
        </p:txBody>
      </p:sp>
      <p:sp>
        <p:nvSpPr>
          <p:cNvPr id="28" name="TextBox 27"/>
          <p:cNvSpPr txBox="1"/>
          <p:nvPr/>
        </p:nvSpPr>
        <p:spPr>
          <a:xfrm>
            <a:off x="3200400" y="4501460"/>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과거 선택 비율</a:t>
            </a:r>
          </a:p>
        </p:txBody>
      </p:sp>
      <p:sp>
        <p:nvSpPr>
          <p:cNvPr id="29" name="TextBox 28"/>
          <p:cNvSpPr txBox="1"/>
          <p:nvPr/>
        </p:nvSpPr>
        <p:spPr>
          <a:xfrm>
            <a:off x="9448495" y="4501460"/>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선택 비율 × 1.5</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 delivery</a:t>
            </a:r>
          </a:p>
        </p:txBody>
      </p:sp>
      <p:sp>
        <p:nvSpPr>
          <p:cNvPr id="32" name="TextBox 31"/>
          <p:cNvSpPr txBox="1"/>
          <p:nvPr/>
        </p:nvSpPr>
        <p:spPr>
          <a:xfrm>
            <a:off x="3200400" y="5119333"/>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긴급도 · 위약금 · 생산 영향</a:t>
            </a:r>
          </a:p>
        </p:txBody>
      </p:sp>
      <p:sp>
        <p:nvSpPr>
          <p:cNvPr id="33" name="TextBox 32"/>
          <p:cNvSpPr txBox="1"/>
          <p:nvPr/>
        </p:nvSpPr>
        <p:spPr>
          <a:xfrm>
            <a:off x="9448495" y="5119333"/>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유지 1 · 감산 0.4</a:t>
            </a:r>
          </a:p>
          <a:p>
            <a:pPr algn="l" eaLnBrk="0">
              <a:lnSpc>
                <a:spcPct val="110000"/>
              </a:lnSpc>
            </a:pPr>
            <a:r>
              <a:rPr sz="1250" b="1">
                <a:solidFill>
                  <a:srgbClr val="556175"/>
                </a:solidFill>
                <a:latin typeface="맑은 고딕"/>
                <a:ea typeface="맑은 고딕"/>
                <a:cs typeface="맑은 고딕"/>
              </a:rPr>
              <a:t>정지 -1의 비중</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quality</a:t>
            </a:r>
          </a:p>
        </p:txBody>
      </p:sp>
      <p:sp>
        <p:nvSpPr>
          <p:cNvPr id="36" name="TextBox 35"/>
          <p:cNvSpPr txBox="1"/>
          <p:nvPr/>
        </p:nvSpPr>
        <p:spPr>
          <a:xfrm>
            <a:off x="3200400" y="5737206"/>
            <a:ext cx="615665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예측 유온이 높고 고온 로트가 있을 때 클레임 위험</a:t>
            </a:r>
          </a:p>
        </p:txBody>
      </p:sp>
      <p:sp>
        <p:nvSpPr>
          <p:cNvPr id="37" name="TextBox 36"/>
          <p:cNvSpPr txBox="1"/>
          <p:nvPr/>
        </p:nvSpPr>
        <p:spPr>
          <a:xfrm>
            <a:off x="9448495" y="5737206"/>
            <a:ext cx="2103120" cy="617873"/>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예측 ≥55 ℃</a:t>
            </a:r>
          </a:p>
          <a:p>
            <a:pPr algn="l" eaLnBrk="0">
              <a:lnSpc>
                <a:spcPct val="110000"/>
              </a:lnSpc>
            </a:pPr>
            <a:r>
              <a:rPr sz="1250" b="1">
                <a:solidFill>
                  <a:srgbClr val="556175"/>
                </a:solidFill>
                <a:latin typeface="맑은 고딕"/>
                <a:ea typeface="맑은 고딕"/>
                <a:cs typeface="맑은 고딕"/>
              </a:rPr>
              <a:t>최대 1.5점 감점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팬 최대 운전의 점수와 예측 가산점의 상한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최대 운전은 냉각 효과와 생산 유지에서 점수를 얻었고, 더 낮은 예측 유온에는 가산점 상한이 적용된다.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성과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지표</a:t>
            </a:r>
            <a:r>
              <a:rPr sz="1300" b="0">
                <a:solidFill>
                  <a:srgbClr val="E8EEF6"/>
                </a:solidFill>
                <a:latin typeface="Consolas"/>
                <a:ea typeface="맑은 고딕"/>
                <a:cs typeface="맑은 고딕"/>
              </a:rPr>
              <a:t>    +0.52</a:t>
            </a:r>
          </a:p>
          <a:p>
            <a:pPr algn="l" eaLnBrk="0">
              <a:lnSpc>
                <a:spcPct val="110000"/>
              </a:lnSpc>
              <a:spcAft>
                <a:spcPts val="200"/>
              </a:spcAft>
            </a:pP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+1.12</a:t>
            </a:r>
          </a:p>
          <a:p>
            <a:pPr algn="l" eaLnBrk="0">
              <a:lnSpc>
                <a:spcPct val="110000"/>
              </a:lnSpc>
              <a:spcAft>
                <a:spcPts val="200"/>
              </a:spcAft>
            </a:pP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+1.74</a:t>
            </a:r>
          </a:p>
          <a:p>
            <a:pPr algn="l" eaLnBrk="0">
              <a:lnSpc>
                <a:spcPct val="110000"/>
              </a:lnSpc>
              <a:spcAft>
                <a:spcPts val="200"/>
              </a:spcAft>
            </a:pPr>
            <a:r>
              <a:rPr sz="1300" b="0">
                <a:solidFill>
                  <a:srgbClr val="E8EEF6"/>
                </a:solidFill>
                <a:latin typeface="맑은 고딕"/>
                <a:ea typeface="맑은 고딕"/>
                <a:cs typeface="맑은 고딕"/>
              </a:rPr>
              <a:t>나머지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성분</a:t>
            </a:r>
            <a:r>
              <a:rPr sz="1300" b="0">
                <a:solidFill>
                  <a:srgbClr val="E8EEF6"/>
                </a:solidFill>
                <a:latin typeface="Consolas"/>
                <a:ea typeface="맑은 고딕"/>
                <a:cs typeface="맑은 고딕"/>
              </a:rPr>
              <a:t>   0</a:t>
            </a:r>
          </a:p>
          <a:p>
            <a:pPr algn="l" eaLnBrk="0">
              <a:lnSpc>
                <a:spcPct val="110000"/>
              </a:lnSpc>
              <a:spcAft>
                <a:spcPts val="200"/>
              </a:spcAft>
            </a:pPr>
            <a:r>
              <a:rPr sz="1300" b="0">
                <a:solidFill>
                  <a:srgbClr val="E8EEF6"/>
                </a:solidFill>
                <a:latin typeface="맑은 고딕"/>
                <a:ea typeface="맑은 고딕"/>
                <a:cs typeface="맑은 고딕"/>
              </a:rPr>
              <a:t>합계</a:t>
            </a:r>
            <a:r>
              <a:rPr sz="1300" b="0">
                <a:solidFill>
                  <a:srgbClr val="E8EEF6"/>
                </a:solidFill>
                <a:latin typeface="Consolas"/>
                <a:ea typeface="맑은 고딕"/>
                <a:cs typeface="맑은 고딕"/>
              </a:rPr>
              <a:t>         +3.38</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상한</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49.8</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+1.74</a:t>
            </a:r>
          </a:p>
          <a:p>
            <a:pPr algn="l" eaLnBrk="0">
              <a:lnSpc>
                <a:spcPct val="110000"/>
              </a:lnSpc>
              <a:spcAft>
                <a:spcPts val="200"/>
              </a:spcAft>
            </a:pPr>
            <a:r>
              <a:rPr sz="1300" b="0">
                <a:solidFill>
                  <a:srgbClr val="E8EEF6"/>
                </a:solidFill>
                <a:latin typeface="맑은 고딕"/>
                <a:ea typeface="맑은 고딕"/>
                <a:cs typeface="맑은 고딕"/>
              </a:rPr>
              <a:t>부하</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47.7</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+2.00</a:t>
            </a:r>
          </a:p>
          <a:p>
            <a:pPr algn="l" eaLnBrk="0">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최대·부하</a:t>
            </a:r>
            <a:r>
              <a:rPr sz="1300" b="0">
                <a:solidFill>
                  <a:srgbClr val="E8EEF6"/>
                </a:solidFill>
                <a:latin typeface="Consolas"/>
                <a:ea typeface="맑은 고딕"/>
                <a:cs typeface="맑은 고딕"/>
              </a:rPr>
              <a:t> 80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44.6</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+2.00</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-1.00</a:t>
            </a:r>
          </a:p>
          <a:p>
            <a:pPr algn="l" eaLnBrk="0">
              <a:lnSpc>
                <a:spcPct val="110000"/>
              </a:lnSpc>
              <a:spcAft>
                <a:spcPts val="200"/>
              </a:spcAft>
            </a:pPr>
            <a:r>
              <a:rPr sz="1300" b="0">
                <a:solidFill>
                  <a:srgbClr val="E8EEF6"/>
                </a:solidFill>
                <a:latin typeface="맑은 고딕"/>
                <a:ea typeface="맑은 고딕"/>
                <a:cs typeface="맑은 고딕"/>
              </a:rPr>
              <a:t>경고</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-0.50</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같은 후보의 성분을 합산</a:t>
            </a:r>
          </a:p>
          <a:p>
            <a:pPr algn="l" eaLnBrk="0">
              <a:lnSpc>
                <a:spcPct val="110000"/>
              </a:lnSpc>
              <a:spcAft>
                <a:spcPts val="400"/>
              </a:spcAft>
            </a:pPr>
            <a:r>
              <a:rPr sz="1400" b="0">
                <a:solidFill>
                  <a:srgbClr val="1F2A3A"/>
                </a:solidFill>
                <a:latin typeface="맑은 고딕"/>
                <a:ea typeface="맑은 고딕"/>
                <a:cs typeface="맑은 고딕"/>
              </a:rPr>
              <a:t>0.52 + 1.12 + 1.74 = 3.38. 금액의 합이 아니라 정책 점수의 합이다.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예측은 더 낮아도 같은 점수</a:t>
            </a:r>
          </a:p>
          <a:p>
            <a:pPr algn="l" eaLnBrk="0">
              <a:lnSpc>
                <a:spcPct val="110000"/>
              </a:lnSpc>
              <a:spcAft>
                <a:spcPts val="400"/>
              </a:spcAft>
            </a:pPr>
            <a:r>
              <a:rPr sz="1400" b="0">
                <a:solidFill>
                  <a:srgbClr val="1F2A3A"/>
                </a:solidFill>
                <a:latin typeface="맑은 고딕"/>
                <a:ea typeface="맑은 고딕"/>
                <a:cs typeface="맑은 고딕"/>
              </a:rPr>
              <a:t>47.7 ℃와 44.6 ℃ 모두 상한 +2.00에 이른다.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납기와 생산 영향</a:t>
            </a:r>
          </a:p>
          <a:p>
            <a:pPr algn="l" eaLnBrk="0">
              <a:lnSpc>
                <a:spcPct val="110000"/>
              </a:lnSpc>
              <a:spcAft>
                <a:spcPts val="400"/>
              </a:spcAft>
            </a:pPr>
            <a:r>
              <a:rPr sz="1400" b="0">
                <a:solidFill>
                  <a:srgbClr val="1F2A3A"/>
                </a:solidFill>
                <a:latin typeface="맑은 고딕"/>
                <a:ea typeface="맑은 고딕"/>
                <a:cs typeface="맑은 고딕"/>
              </a:rPr>
              <a:t>납기 5.98 h · 위약금 120만 원/h. 생산 유지 +1.12, 감산 +0.45.</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비교의 범위</a:t>
            </a:r>
          </a:p>
          <a:p>
            <a:pPr algn="l" eaLnBrk="0">
              <a:lnSpc>
                <a:spcPct val="110000"/>
              </a:lnSpc>
              <a:spcAft>
                <a:spcPts val="400"/>
              </a:spcAft>
            </a:pPr>
            <a:r>
              <a:rPr sz="1400" b="0">
                <a:solidFill>
                  <a:srgbClr val="1F2A3A"/>
                </a:solidFill>
                <a:latin typeface="맑은 고딕"/>
                <a:ea typeface="맑은 고딕"/>
                <a:cs typeface="맑은 고딕"/>
              </a:rPr>
              <a:t>점수는 현재 입력과 정책의 결과이다. 금액으로 계산한 손익은 따로 비교한다.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What-if 분석과 가정값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What-if 분석은 판단 한 건을 사본으로 떠서 값 하나를 가정값으로 바꾸고 순위와 손익을 다시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pic>
        <p:nvPicPr>
          <p:cNvPr id="6" name="삽화:가정분석_3.svg" descr="illust_3793969653685331486_1792037122.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1104" y="1627632"/>
            <a:ext cx="229099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원본</a:t>
            </a:r>
          </a:p>
          <a:p>
            <a:pPr algn="ctr" eaLnBrk="0">
              <a:lnSpc>
                <a:spcPct val="110000"/>
              </a:lnSpc>
              <a:spcAft>
                <a:spcPts val="100"/>
              </a:spcAft>
            </a:pPr>
            <a:r>
              <a:rPr sz="1300" b="0">
                <a:solidFill>
                  <a:srgbClr val="556175"/>
                </a:solidFill>
                <a:latin typeface="맑은 고딕"/>
                <a:ea typeface="맑은 고딕"/>
                <a:cs typeface="맑은 고딕"/>
              </a:rPr>
              <a:t>지식 그래프 · 업무 DB · 순위 정책</a:t>
            </a:r>
          </a:p>
        </p:txBody>
      </p:sp>
      <p:sp>
        <p:nvSpPr>
          <p:cNvPr id="8" name="TextBox 7"/>
          <p:cNvSpPr txBox="1"/>
          <p:nvPr/>
        </p:nvSpPr>
        <p:spPr>
          <a:xfrm>
            <a:off x="3668484" y="181672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판단 한 건의 사본</a:t>
            </a:r>
          </a:p>
          <a:p>
            <a:pPr algn="ctr" eaLnBrk="0">
              <a:lnSpc>
                <a:spcPct val="110000"/>
              </a:lnSpc>
              <a:spcAft>
                <a:spcPts val="100"/>
              </a:spcAft>
            </a:pPr>
            <a:r>
              <a:rPr sz="1300" b="0">
                <a:solidFill>
                  <a:srgbClr val="556175"/>
                </a:solidFill>
                <a:latin typeface="맑은 고딕"/>
                <a:ea typeface="맑은 고딕"/>
                <a:cs typeface="맑은 고딕"/>
              </a:rPr>
              <a:t>후보 · 규칙 · 입력 값</a:t>
            </a:r>
          </a:p>
        </p:txBody>
      </p:sp>
      <p:sp>
        <p:nvSpPr>
          <p:cNvPr id="9" name="TextBox 8"/>
          <p:cNvSpPr txBox="1"/>
          <p:nvPr/>
        </p:nvSpPr>
        <p:spPr>
          <a:xfrm>
            <a:off x="3559390" y="5645962"/>
            <a:ext cx="261827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가정값</a:t>
            </a:r>
          </a:p>
          <a:p>
            <a:pPr algn="ctr" eaLnBrk="0">
              <a:lnSpc>
                <a:spcPct val="110000"/>
              </a:lnSpc>
              <a:spcAft>
                <a:spcPts val="100"/>
              </a:spcAft>
            </a:pPr>
            <a:r>
              <a:rPr sz="1300" b="0">
                <a:solidFill>
                  <a:srgbClr val="556175"/>
                </a:solidFill>
                <a:latin typeface="맑은 고딕"/>
                <a:ea typeface="맑은 고딕"/>
                <a:cs typeface="맑은 고딕"/>
              </a:rPr>
              <a:t>납기 · 위약금 · 전력 단가 · 감점 기준</a:t>
            </a:r>
          </a:p>
        </p:txBody>
      </p:sp>
      <p:sp>
        <p:nvSpPr>
          <p:cNvPr id="10" name="TextBox 9"/>
          <p:cNvSpPr txBox="1"/>
          <p:nvPr/>
        </p:nvSpPr>
        <p:spPr>
          <a:xfrm>
            <a:off x="7426805" y="1627632"/>
            <a:ext cx="261827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기준 결과</a:t>
            </a:r>
          </a:p>
          <a:p>
            <a:pPr algn="ctr" eaLnBrk="0">
              <a:lnSpc>
                <a:spcPct val="110000"/>
              </a:lnSpc>
              <a:spcAft>
                <a:spcPts val="100"/>
              </a:spcAft>
            </a:pPr>
            <a:r>
              <a:rPr sz="1250" b="0">
                <a:solidFill>
                  <a:srgbClr val="556175"/>
                </a:solidFill>
                <a:latin typeface="맑은 고딕"/>
                <a:ea typeface="맑은 고딕"/>
                <a:cs typeface="맑은 고딕"/>
              </a:rPr>
              <a:t>지금 값의 판단 순위 · 손익 순위</a:t>
            </a:r>
          </a:p>
        </p:txBody>
      </p:sp>
      <p:sp>
        <p:nvSpPr>
          <p:cNvPr id="11" name="TextBox 10"/>
          <p:cNvSpPr txBox="1"/>
          <p:nvPr/>
        </p:nvSpPr>
        <p:spPr>
          <a:xfrm>
            <a:off x="7426805" y="5598688"/>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시험 결과</a:t>
            </a:r>
          </a:p>
          <a:p>
            <a:pPr algn="ctr" eaLnBrk="0">
              <a:lnSpc>
                <a:spcPct val="110000"/>
              </a:lnSpc>
              <a:spcAft>
                <a:spcPts val="100"/>
              </a:spcAft>
            </a:pPr>
            <a:r>
              <a:rPr sz="1300" b="0">
                <a:solidFill>
                  <a:srgbClr val="556175"/>
                </a:solidFill>
                <a:latin typeface="맑은 고딕"/>
                <a:ea typeface="맑은 고딕"/>
                <a:cs typeface="맑은 고딕"/>
              </a:rPr>
              <a:t>가정값으로 다시 계산한 순위</a:t>
            </a:r>
          </a:p>
        </p:txBody>
      </p:sp>
      <p:sp>
        <p:nvSpPr>
          <p:cNvPr id="12" name="TextBox 11"/>
          <p:cNvSpPr txBox="1"/>
          <p:nvPr/>
        </p:nvSpPr>
        <p:spPr>
          <a:xfrm>
            <a:off x="761104" y="5645962"/>
            <a:ext cx="229099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원본 그대로</a:t>
            </a:r>
          </a:p>
          <a:p>
            <a:pPr algn="ctr" eaLnBrk="0">
              <a:lnSpc>
                <a:spcPct val="110000"/>
              </a:lnSpc>
              <a:spcAft>
                <a:spcPts val="100"/>
              </a:spcAft>
            </a:pPr>
            <a:r>
              <a:rPr sz="1300" b="0">
                <a:solidFill>
                  <a:srgbClr val="556175"/>
                </a:solidFill>
                <a:latin typeface="맑은 고딕"/>
                <a:ea typeface="맑은 고딕"/>
                <a:cs typeface="맑은 고딕"/>
              </a:rPr>
              <a:t>unchanged: true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가정값을 바꾸면 어느 성분이 달라지는가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가정값 전후의 성분을 대조하고 후보 전체를 다시 계산해야, 순위 변화와 그 경계값을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바꾸기 전 → 후</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달라지는 성분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기준</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100 % 연속 0 h · 감점 없음</a:t>
            </a:r>
          </a:p>
          <a:p>
            <a:pPr algn="l" eaLnBrk="0">
              <a:lnSpc>
                <a:spcPct val="110000"/>
              </a:lnSpc>
            </a:pPr>
            <a:r>
              <a:rPr sz="1400" b="0">
                <a:solidFill>
                  <a:srgbClr val="1F2A3A"/>
                </a:solidFill>
                <a:latin typeface="맑은 고딕"/>
                <a:ea typeface="맑은 고딕"/>
                <a:cs typeface="맑은 고딕"/>
              </a:rPr>
              <a:t>납기 5.98 h</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0</a:t>
            </a:r>
          </a:p>
          <a:p>
            <a:pPr algn="l" eaLnBrk="0">
              <a:lnSpc>
                <a:spcPct val="110000"/>
              </a:lnSpc>
            </a:pPr>
            <a:r>
              <a:rPr sz="1250" b="1">
                <a:solidFill>
                  <a:srgbClr val="556175"/>
                </a:solidFill>
                <a:latin typeface="맑은 고딕"/>
                <a:ea typeface="맑은 고딕"/>
                <a:cs typeface="맑은 고딕"/>
              </a:rPr>
              <a:t>납기 +1.12</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시험 ①</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100 % 연속 0 → 30 h</a:t>
            </a:r>
          </a:p>
          <a:p>
            <a:pPr algn="l" eaLnBrk="0">
              <a:lnSpc>
                <a:spcPct val="110000"/>
              </a:lnSpc>
            </a:pPr>
            <a:r>
              <a:rPr sz="1400" b="0">
                <a:solidFill>
                  <a:srgbClr val="1F2A3A"/>
                </a:solidFill>
                <a:latin typeface="맑은 고딕"/>
                <a:ea typeface="맑은 고딕"/>
                <a:cs typeface="맑은 고딕"/>
              </a:rPr>
              <a:t>팬 최대 운전 두 후보에 감점 20만 원</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0 → -1.00</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시험 ②</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시험 ①의 30 h 유지 · 감점 기준 20 → 100만 원</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-1.00 → -5.00</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시험 ③</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기준 상태에서 납기만 5.98 → 48 h</a:t>
            </a:r>
          </a:p>
          <a:p>
            <a:pPr algn="l" eaLnBrk="0">
              <a:lnSpc>
                <a:spcPct val="110000"/>
              </a:lnSpc>
            </a:pPr>
            <a:r>
              <a:rPr sz="1400" b="0">
                <a:solidFill>
                  <a:srgbClr val="1F2A3A"/>
                </a:solidFill>
                <a:latin typeface="맑은 고딕"/>
                <a:ea typeface="맑은 고딕"/>
                <a:cs typeface="맑은 고딕"/>
              </a:rPr>
              <a:t>팬 최대 운전의 납기 가산점 변화</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납기 +1.12 → 0</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순위의 경계값</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1순위가 바뀌는 가정값</a:t>
            </a:r>
          </a:p>
          <a:p>
            <a:pPr algn="l" eaLnBrk="0">
              <a:lnSpc>
                <a:spcPct val="110000"/>
              </a:lnSpc>
            </a:pPr>
            <a:r>
              <a:rPr sz="1400" b="0">
                <a:solidFill>
                  <a:srgbClr val="1F2A3A"/>
                </a:solidFill>
                <a:latin typeface="맑은 고딕"/>
                <a:ea typeface="맑은 고딕"/>
                <a:cs typeface="맑은 고딕"/>
              </a:rPr>
              <a:t>후보 전체를 다시 계산해 확인한다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성분 변화와</a:t>
            </a:r>
          </a:p>
          <a:p>
            <a:pPr algn="l" eaLnBrk="0">
              <a:lnSpc>
                <a:spcPct val="110000"/>
              </a:lnSpc>
            </a:pPr>
            <a:r>
              <a:rPr sz="1250" b="1">
                <a:solidFill>
                  <a:srgbClr val="1A6FC4"/>
                </a:solidFill>
                <a:latin typeface="맑은 고딕"/>
                <a:ea typeface="맑은 고딕"/>
                <a:cs typeface="맑은 고딕"/>
              </a:rPr>
              <a:t>순위 변화는 구별</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예측을 조치 뒤의 관측으로 확인하기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예측과 What-if는 가정과 모델의 계산이므로, 추천안은 사람이 승인하고 결과는 조치 뒤의 재관측으로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ectangle 5"/>
          <p:cNvSpPr/>
          <p:nvPr/>
        </p:nvSpPr>
        <p:spPr>
          <a:xfrm>
            <a:off x="1935441" y="271672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30066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전제 확인</a:t>
            </a:r>
          </a:p>
          <a:p>
            <a:pPr algn="ctr" eaLnBrk="0">
              <a:lnSpc>
                <a:spcPct val="110000"/>
              </a:lnSpc>
              <a:spcAft>
                <a:spcPts val="400"/>
              </a:spcAft>
            </a:pPr>
            <a:r>
              <a:rPr sz="1650" b="0">
                <a:solidFill>
                  <a:srgbClr val="1F2A3A"/>
                </a:solidFill>
                <a:latin typeface="맑은 고딕"/>
                <a:ea typeface="맑은 고딕"/>
                <a:cs typeface="맑은 고딕"/>
              </a:rPr>
              <a:t>운전 모드 · 입력 값 · 예측 모델을 확인한다</a:t>
            </a:r>
          </a:p>
          <a:p>
            <a:pPr algn="ctr" eaLnBrk="0">
              <a:lnSpc>
                <a:spcPct val="110000"/>
              </a:lnSpc>
              <a:spcAft>
                <a:spcPts val="400"/>
              </a:spcAft>
            </a:pPr>
            <a:r>
              <a:rPr sz="1650" b="0">
                <a:solidFill>
                  <a:srgbClr val="1F2A3A"/>
                </a:solidFill>
                <a:latin typeface="맑은 고딕"/>
                <a:ea typeface="맑은 고딕"/>
                <a:cs typeface="맑은 고딕"/>
              </a:rPr>
              <a:t>예측은 지금의 외기 · 오염이 그대로라고 본 계산이다</a:t>
            </a:r>
          </a:p>
        </p:txBody>
      </p:sp>
      <p:sp>
        <p:nvSpPr>
          <p:cNvPr id="10" name="Oval 9"/>
          <p:cNvSpPr/>
          <p:nvPr/>
        </p:nvSpPr>
        <p:spPr>
          <a:xfrm>
            <a:off x="4274705" y="230066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근거 있는 추천안</a:t>
            </a:r>
          </a:p>
          <a:p>
            <a:pPr algn="ctr" eaLnBrk="0">
              <a:lnSpc>
                <a:spcPct val="110000"/>
              </a:lnSpc>
              <a:spcAft>
                <a:spcPts val="400"/>
              </a:spcAft>
            </a:pPr>
            <a:r>
              <a:rPr sz="1600" b="0">
                <a:solidFill>
                  <a:srgbClr val="1F2A3A"/>
                </a:solidFill>
                <a:latin typeface="맑은 고딕"/>
                <a:ea typeface="맑은 고딕"/>
                <a:cs typeface="맑은 고딕"/>
              </a:rPr>
              <a:t>규칙 · 점수 · 출처를 붙인 추천안을 낸다</a:t>
            </a:r>
          </a:p>
          <a:p>
            <a:pPr algn="ctr" eaLnBrk="0">
              <a:lnSpc>
                <a:spcPct val="110000"/>
              </a:lnSpc>
              <a:spcAft>
                <a:spcPts val="400"/>
              </a:spcAft>
            </a:pPr>
            <a:r>
              <a:rPr sz="1600" b="0">
                <a:solidFill>
                  <a:srgbClr val="1F2A3A"/>
                </a:solidFill>
                <a:latin typeface="맑은 고딕"/>
                <a:ea typeface="맑은 고딕"/>
                <a:cs typeface="맑은 고딕"/>
              </a:rPr>
              <a:t>손익에는 운전 시간과 고장 확률 등의 가정이 든다</a:t>
            </a:r>
          </a:p>
        </p:txBody>
      </p:sp>
      <p:sp>
        <p:nvSpPr>
          <p:cNvPr id="13" name="Oval 12"/>
          <p:cNvSpPr/>
          <p:nvPr/>
        </p:nvSpPr>
        <p:spPr>
          <a:xfrm>
            <a:off x="7048309" y="230066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사람의 승인 · 거절</a:t>
            </a:r>
          </a:p>
          <a:p>
            <a:pPr algn="ctr" eaLnBrk="0">
              <a:lnSpc>
                <a:spcPct val="110000"/>
              </a:lnSpc>
              <a:spcAft>
                <a:spcPts val="400"/>
              </a:spcAft>
            </a:pPr>
            <a:r>
              <a:rPr sz="1650" b="0">
                <a:solidFill>
                  <a:srgbClr val="1F2A3A"/>
                </a:solidFill>
                <a:latin typeface="맑은 고딕"/>
                <a:ea typeface="맑은 고딕"/>
                <a:cs typeface="맑은 고딕"/>
              </a:rPr>
              <a:t>어느 가정이 현실에 가까운지는 사람이 판단한다</a:t>
            </a:r>
          </a:p>
          <a:p>
            <a:pPr algn="ctr" eaLnBrk="0">
              <a:lnSpc>
                <a:spcPct val="110000"/>
              </a:lnSpc>
              <a:spcAft>
                <a:spcPts val="400"/>
              </a:spcAft>
            </a:pPr>
            <a:r>
              <a:rPr sz="1650" b="0">
                <a:solidFill>
                  <a:srgbClr val="1F2A3A"/>
                </a:solidFill>
                <a:latin typeface="맑은 고딕"/>
                <a:ea typeface="맑은 고딕"/>
                <a:cs typeface="맑은 고딕"/>
              </a:rPr>
              <a:t>승인 1회 뒤에 실행된다</a:t>
            </a:r>
          </a:p>
        </p:txBody>
      </p:sp>
      <p:sp>
        <p:nvSpPr>
          <p:cNvPr id="16" name="Oval 15"/>
          <p:cNvSpPr/>
          <p:nvPr/>
        </p:nvSpPr>
        <p:spPr>
          <a:xfrm>
            <a:off x="9821913" y="230066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조치 뒤 재관측</a:t>
            </a:r>
          </a:p>
          <a:p>
            <a:pPr algn="ctr" eaLnBrk="0">
              <a:lnSpc>
                <a:spcPct val="110000"/>
              </a:lnSpc>
              <a:spcAft>
                <a:spcPts val="400"/>
              </a:spcAft>
            </a:pPr>
            <a:r>
              <a:rPr sz="1650" b="0">
                <a:solidFill>
                  <a:srgbClr val="1F2A3A"/>
                </a:solidFill>
                <a:latin typeface="맑은 고딕"/>
                <a:ea typeface="맑은 고딕"/>
                <a:cs typeface="맑은 고딕"/>
              </a:rPr>
              <a:t>15분 동안 TS1 55 ℃ 미만 · 경보 해제 상태 유지 = 완화 성공</a:t>
            </a:r>
          </a:p>
          <a:p>
            <a:pPr algn="ctr" eaLnBrk="0">
              <a:lnSpc>
                <a:spcPct val="110000"/>
              </a:lnSpc>
              <a:spcAft>
                <a:spcPts val="400"/>
              </a:spcAft>
            </a:pPr>
            <a:r>
              <a:rPr sz="1650" b="0">
                <a:solidFill>
                  <a:srgbClr val="1F2A3A"/>
                </a:solidFill>
                <a:latin typeface="맑은 고딕"/>
                <a:ea typeface="맑은 고딕"/>
                <a:cs typeface="맑은 고딕"/>
              </a:rPr>
              <a:t>핀 세척은 재가동 뒤 CE 80 % 이상 = 정비 완료</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운전 조건과 성과 기준에 따른 조치 결과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이상 상황에 운전 조건 · 시험값 · KPI 목표를 바꾸어 판단 결과와 근거를 견준다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조건 변화와 KPI 집계의 판단 근거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조건별 판단 결과를 대조하고, 같은 관측값의 평균과 최솟값 중 안전 판단에 맞는 집계 방식을 고른다.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비교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 조건</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모드 · 설비 상태 · 예비 펌프 · 팬 연속 시간 중 하나를 바꾼다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적용 규칙과</a:t>
            </a:r>
          </a:p>
          <a:p>
            <a:pPr algn="l" eaLnBrk="0">
              <a:lnSpc>
                <a:spcPct val="110000"/>
              </a:lnSpc>
            </a:pPr>
            <a:r>
              <a:rPr sz="1250" b="1">
                <a:solidFill>
                  <a:srgbClr val="556175"/>
                </a:solidFill>
                <a:latin typeface="맑은 고딕"/>
                <a:ea typeface="맑은 고딕"/>
                <a:cs typeface="맑은 고딕"/>
              </a:rPr>
              <a:t>후보 유지·제외를 연결</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손익 · What-if</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납기 · 위약금 · 전력 단가 · 감점 기준 · 관점 중요도를 시험한다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성분 변화로</a:t>
            </a:r>
          </a:p>
          <a:p>
            <a:pPr algn="l" eaLnBrk="0">
              <a:lnSpc>
                <a:spcPct val="110000"/>
              </a:lnSpc>
            </a:pPr>
            <a:r>
              <a:rPr sz="1250" b="1">
                <a:solidFill>
                  <a:srgbClr val="556175"/>
                </a:solidFill>
                <a:latin typeface="맑은 고딕"/>
                <a:ea typeface="맑은 고딕"/>
                <a:cs typeface="맑은 고딕"/>
              </a:rPr>
              <a:t>순위와 손익을 설명</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KPI 목표 · 집계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실제값에 시험 목표를 대조한다</a:t>
            </a:r>
          </a:p>
          <a:p>
            <a:pPr algn="l" eaLnBrk="0">
              <a:lnSpc>
                <a:spcPct val="110000"/>
              </a:lnSpc>
            </a:pPr>
            <a:r>
              <a:rPr sz="1400" b="0">
                <a:solidFill>
                  <a:srgbClr val="1F2A3A"/>
                </a:solidFill>
                <a:latin typeface="맑은 고딕"/>
                <a:ea typeface="맑은 고딕"/>
                <a:cs typeface="맑은 고딕"/>
              </a:rPr>
              <a:t>설비별 여유의 평균과 최솟값을 계산한다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목표 변경과 집계를 구별</a:t>
            </a:r>
          </a:p>
          <a:p>
            <a:pPr algn="l" eaLnBrk="0">
              <a:lnSpc>
                <a:spcPct val="110000"/>
              </a:lnSpc>
            </a:pPr>
            <a:r>
              <a:rPr sz="1200" b="1">
                <a:solidFill>
                  <a:srgbClr val="556175"/>
                </a:solidFill>
                <a:latin typeface="맑은 고딕"/>
                <a:ea typeface="맑은 고딕"/>
                <a:cs typeface="맑은 고딕"/>
              </a:rPr>
              <a:t>안전 판단의 값과 이유 선택</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비교 기록 · 완성본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입력 · 결과 · 근거와 집계 선택을 기록한다</a:t>
            </a:r>
          </a:p>
          <a:p>
            <a:pPr algn="l" eaLnBrk="0">
              <a:lnSpc>
                <a:spcPct val="110000"/>
              </a:lnSpc>
            </a:pPr>
            <a:r>
              <a:rPr sz="1400" b="0">
                <a:solidFill>
                  <a:srgbClr val="1F2A3A"/>
                </a:solidFill>
                <a:latin typeface="맑은 고딕"/>
                <a:ea typeface="맑은 고딕"/>
                <a:cs typeface="맑은 고딕"/>
              </a:rPr>
              <a:t>완성본의 계산과 결과를 대조한다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원본과 출처 보존</a:t>
            </a:r>
          </a:p>
          <a:p>
            <a:pPr algn="l" eaLnBrk="0">
              <a:lnSpc>
                <a:spcPct val="110000"/>
              </a:lnSpc>
            </a:pPr>
            <a:r>
              <a:rPr sz="1250" b="1">
                <a:solidFill>
                  <a:srgbClr val="1A6FC4"/>
                </a:solidFill>
                <a:latin typeface="맑은 고딕"/>
                <a:ea typeface="맑은 고딕"/>
                <a:cs typeface="맑은 고딕"/>
              </a:rPr>
              <a:t>계산과 선택 이유가 일치</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절차와 판단 조건을 연결한 조치 기준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바이브 코딩으로 SOP 자료를 조치 방법과 단계, 결정표로 구조화한다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SOP 구조와 결정표 자료 만들기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 문장을 단계와 조건으로 나누어 설비 모델에 연결하고, 원문과 대조할 수 있는 절차 구조와 결정표를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산출물</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 리뷰 · 완성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 모델 · SOP 자료</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바이브 코딩으로 자료를 만든다</a:t>
            </a:r>
          </a:p>
          <a:p>
            <a:pPr algn="l" eaLnBrk="0">
              <a:lnSpc>
                <a:spcPct val="110000"/>
              </a:lnSpc>
            </a:pPr>
            <a:r>
              <a:rPr sz="1400" b="0">
                <a:solidFill>
                  <a:srgbClr val="1F2A3A"/>
                </a:solidFill>
                <a:latin typeface="맑은 고딕"/>
                <a:ea typeface="맑은 고딕"/>
                <a:cs typeface="맑은 고딕"/>
              </a:rPr>
              <a:t>기존 식별자와 고장 유형을 재사용한다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같은 대상을</a:t>
            </a:r>
          </a:p>
          <a:p>
            <a:pPr algn="l" eaLnBrk="0">
              <a:lnSpc>
                <a:spcPct val="110000"/>
              </a:lnSpc>
            </a:pPr>
            <a:r>
              <a:rPr sz="1250" b="1">
                <a:solidFill>
                  <a:srgbClr val="556175"/>
                </a:solidFill>
                <a:latin typeface="맑은 고딕"/>
                <a:ea typeface="맑은 고딕"/>
                <a:cs typeface="맑은 고딕"/>
              </a:rPr>
              <a:t>중복 생성하지 않음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절차 구조</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고장 유형에 조치 방법과 단계를 잇는다</a:t>
            </a:r>
          </a:p>
          <a:p>
            <a:pPr algn="l" eaLnBrk="0">
              <a:lnSpc>
                <a:spcPct val="110000"/>
              </a:lnSpc>
            </a:pPr>
            <a:r>
              <a:rPr sz="1400" b="0">
                <a:solidFill>
                  <a:srgbClr val="1F2A3A"/>
                </a:solidFill>
                <a:latin typeface="맑은 고딕"/>
                <a:ea typeface="맑은 고딕"/>
                <a:cs typeface="맑은 고딕"/>
              </a:rPr>
              <a:t>적용 · 금지 조건과 완료 기준을 구분한다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단계 순서와</a:t>
            </a:r>
          </a:p>
          <a:p>
            <a:pPr algn="l" eaLnBrk="0">
              <a:lnSpc>
                <a:spcPct val="110000"/>
              </a:lnSpc>
            </a:pPr>
            <a:r>
              <a:rPr sz="1250" b="1">
                <a:solidFill>
                  <a:srgbClr val="556175"/>
                </a:solidFill>
                <a:latin typeface="맑은 고딕"/>
                <a:ea typeface="맑은 고딕"/>
                <a:cs typeface="맑은 고딕"/>
              </a:rPr>
              <a:t>근거 문장을 보존</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결정표 자료</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조건을 입력 · 연산자 · 기준값 · 출력으로 옮긴다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경계의 포함 여부와</a:t>
            </a:r>
          </a:p>
          <a:p>
            <a:pPr algn="l" eaLnBrk="0">
              <a:lnSpc>
                <a:spcPct val="110000"/>
              </a:lnSpc>
            </a:pPr>
            <a:r>
              <a:rPr sz="1250" b="1">
                <a:solidFill>
                  <a:srgbClr val="556175"/>
                </a:solidFill>
                <a:latin typeface="맑은 고딕"/>
                <a:ea typeface="맑은 고딕"/>
                <a:cs typeface="맑은 고딕"/>
              </a:rPr>
              <a:t>적용 조치를 대조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완성본 확인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완성된 절차 구조와 결정표를 설명한다</a:t>
            </a:r>
          </a:p>
          <a:p>
            <a:pPr algn="l" eaLnBrk="0">
              <a:lnSpc>
                <a:spcPct val="110000"/>
              </a:lnSpc>
            </a:pPr>
            <a:r>
              <a:rPr sz="1400" b="0">
                <a:solidFill>
                  <a:srgbClr val="1F2A3A"/>
                </a:solidFill>
                <a:latin typeface="맑은 고딕"/>
                <a:ea typeface="맑은 고딕"/>
                <a:cs typeface="맑은 고딕"/>
              </a:rPr>
              <a:t>입력을 대어 판정 결과를 확인한다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원문 → 구조 → 결과를</a:t>
            </a:r>
          </a:p>
          <a:p>
            <a:pPr algn="l" eaLnBrk="0">
              <a:lnSpc>
                <a:spcPct val="110000"/>
              </a:lnSpc>
            </a:pPr>
            <a:r>
              <a:rPr sz="1250" b="1">
                <a:solidFill>
                  <a:srgbClr val="1A6FC4"/>
                </a:solidFill>
                <a:latin typeface="맑은 고딕"/>
                <a:ea typeface="맑은 고딕"/>
                <a:cs typeface="맑은 고딕"/>
              </a:rPr>
              <a:t>이어 설명할 수 있음</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조건별 조치를 비교하는 판단 기능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결정표를 읽어 조치를 가르고 남은 후보를 비교하는 기능을 바이브 코딩으로 만든다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조치 판정 기능과 적용 대상 시험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입력별 판정 기능을 만들고, 규칙의 적용 대상만 잘못된 사본을 잡아내는 시험으로 수정 전후를 검증한다.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검증 범위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 · 수행할 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정상 · 경계값</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운전의 연속 시간</a:t>
            </a:r>
          </a:p>
          <a:p>
            <a:pPr algn="l" eaLnBrk="0">
              <a:lnSpc>
                <a:spcPct val="110000"/>
              </a:lnSpc>
            </a:pPr>
            <a:r>
              <a:rPr sz="1400" b="0">
                <a:solidFill>
                  <a:srgbClr val="1F2A3A"/>
                </a:solidFill>
                <a:latin typeface="맑은 고딕"/>
                <a:ea typeface="맑은 고딕"/>
                <a:cs typeface="맑은 고딕"/>
              </a:rPr>
              <a:t>0 · 23.9 · 24.0 · 24.1 h</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후보·선택 이유 표시</a:t>
            </a:r>
          </a:p>
          <a:p>
            <a:pPr algn="l" eaLnBrk="0">
              <a:lnSpc>
                <a:spcPct val="110000"/>
              </a:lnSpc>
            </a:pPr>
            <a:r>
              <a:rPr sz="1250" b="1">
                <a:solidFill>
                  <a:srgbClr val="556175"/>
                </a:solidFill>
                <a:latin typeface="맑은 고딕"/>
                <a:ea typeface="맑은 고딕"/>
                <a:cs typeface="맑은 고딕"/>
              </a:rPr>
              <a:t>24.1 h에서만 수명 감점</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복수 규칙 일치</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자동 · 팬 최대 운전</a:t>
            </a:r>
          </a:p>
          <a:p>
            <a:pPr algn="l" eaLnBrk="0">
              <a:lnSpc>
                <a:spcPct val="110000"/>
              </a:lnSpc>
            </a:pPr>
            <a:r>
              <a:rPr sz="1400" b="0">
                <a:solidFill>
                  <a:srgbClr val="1F2A3A"/>
                </a:solidFill>
                <a:latin typeface="맑은 고딕"/>
                <a:ea typeface="맑은 고딕"/>
                <a:cs typeface="맑은 고딕"/>
              </a:rPr>
              <a:t>연속 30 h · 예측 유온 56 ℃</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감점과 경고를</a:t>
            </a:r>
          </a:p>
          <a:p>
            <a:pPr algn="l" eaLnBrk="0">
              <a:lnSpc>
                <a:spcPct val="110000"/>
              </a:lnSpc>
            </a:pPr>
            <a:r>
              <a:rPr sz="1250" b="1">
                <a:solidFill>
                  <a:srgbClr val="556175"/>
                </a:solidFill>
                <a:latin typeface="맑은 고딕"/>
                <a:ea typeface="맑은 고딕"/>
                <a:cs typeface="맑은 고딕"/>
              </a:rPr>
              <a:t>모두 표시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 불가</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제어 후보만 제공</a:t>
            </a:r>
          </a:p>
          <a:p>
            <a:pPr algn="l" eaLnBrk="0">
              <a:lnSpc>
                <a:spcPct val="110000"/>
              </a:lnSpc>
            </a:pPr>
            <a:r>
              <a:rPr sz="1400" b="0">
                <a:solidFill>
                  <a:srgbClr val="1F2A3A"/>
                </a:solidFill>
                <a:latin typeface="맑은 고딕"/>
                <a:ea typeface="맑은 고딕"/>
                <a:cs typeface="맑은 고딕"/>
              </a:rPr>
              <a:t>운전 모드 미확인</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추천 없음</a:t>
            </a:r>
          </a:p>
          <a:p>
            <a:pPr algn="l" eaLnBrk="0">
              <a:lnSpc>
                <a:spcPct val="110000"/>
              </a:lnSpc>
            </a:pPr>
            <a:r>
              <a:rPr sz="1250" b="1">
                <a:solidFill>
                  <a:srgbClr val="556175"/>
                </a:solidFill>
                <a:latin typeface="맑은 고딕"/>
                <a:ea typeface="맑은 고딕"/>
                <a:cs typeface="맑은 고딕"/>
              </a:rPr>
              <a:t>제외 사유 표시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적용 대상 오류 시험</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수업용 오류 사본: 수명 감점을 모든 후보에 적용</a:t>
            </a:r>
          </a:p>
          <a:p>
            <a:pPr algn="l" eaLnBrk="0">
              <a:lnSpc>
                <a:spcPct val="110000"/>
              </a:lnSpc>
            </a:pPr>
            <a:r>
              <a:rPr sz="1400" b="0">
                <a:solidFill>
                  <a:srgbClr val="1F2A3A"/>
                </a:solidFill>
                <a:latin typeface="맑은 고딕"/>
                <a:ea typeface="맑은 고딕"/>
                <a:cs typeface="맑은 고딕"/>
              </a:rPr>
              <a:t>팬 100 % 연속 30 h(24 h 초과)로 두 조치를 비교</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팬 최대: 20만 원 감점</a:t>
            </a:r>
          </a:p>
          <a:p>
            <a:pPr algn="l" eaLnBrk="0">
              <a:lnSpc>
                <a:spcPct val="110000"/>
              </a:lnSpc>
            </a:pPr>
            <a:r>
              <a:rPr sz="1250" b="1">
                <a:solidFill>
                  <a:srgbClr val="1A6FC4"/>
                </a:solidFill>
                <a:latin typeface="맑은 고딕"/>
                <a:ea typeface="맑은 고딕"/>
                <a:cs typeface="맑은 고딕"/>
              </a:rPr>
              <a:t>팬 유지: 이 감점 없음</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수정 전후 확인</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입력 · 기대 결과를 먼저 적는다</a:t>
            </a:r>
          </a:p>
          <a:p>
            <a:pPr algn="l" eaLnBrk="0">
              <a:lnSpc>
                <a:spcPct val="110000"/>
              </a:lnSpc>
            </a:pPr>
            <a:r>
              <a:rPr sz="1400" b="0">
                <a:solidFill>
                  <a:srgbClr val="1F2A3A"/>
                </a:solidFill>
                <a:latin typeface="맑은 고딕"/>
                <a:ea typeface="맑은 고딕"/>
                <a:cs typeface="맑은 고딕"/>
              </a:rPr>
              <a:t>적용 대상을 고쳐 같은 시험을 실행한다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오류 사본은 실패</a:t>
            </a:r>
          </a:p>
          <a:p>
            <a:pPr algn="l" eaLnBrk="0">
              <a:lnSpc>
                <a:spcPct val="110000"/>
              </a:lnSpc>
            </a:pPr>
            <a:r>
              <a:rPr sz="1250" b="1">
                <a:solidFill>
                  <a:srgbClr val="556175"/>
                </a:solidFill>
                <a:latin typeface="맑은 고딕"/>
                <a:ea typeface="맑은 고딕"/>
                <a:cs typeface="맑은 고딕"/>
              </a:rPr>
              <a:t>수정본은 통과</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조치를 고를 때 구분하는 네 가지 판단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조치의 수행 방법 · 가능 여부 · 성과 비교 · 가정 변경은 서로 다른 판단이며, 각각에 맞는 근거가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판단할 상황</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구별할 개념</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찾을 근거</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핀 세척의 완료 여부를 확인한다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 · DMN · BSC · What-if 중 선택</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재가동 뒤 확인할</a:t>
            </a:r>
          </a:p>
          <a:p>
            <a:pPr algn="l" eaLnBrk="0">
              <a:lnSpc>
                <a:spcPct val="110000"/>
              </a:lnSpc>
            </a:pPr>
            <a:r>
              <a:rPr sz="1250" b="1">
                <a:solidFill>
                  <a:srgbClr val="556175"/>
                </a:solidFill>
                <a:latin typeface="맑은 고딕"/>
                <a:ea typeface="맑은 고딕"/>
                <a:cs typeface="맑은 고딕"/>
              </a:rPr>
              <a:t>매뉴얼의 완료 기준</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수동 운전 중 팬 최대 운전을 고른다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 · DMN · BSC · What-if 중 선택</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현재 운전 모드와</a:t>
            </a:r>
          </a:p>
          <a:p>
            <a:pPr algn="l" eaLnBrk="0">
              <a:lnSpc>
                <a:spcPct val="110000"/>
              </a:lnSpc>
            </a:pPr>
            <a:r>
              <a:rPr sz="1250" b="1">
                <a:solidFill>
                  <a:srgbClr val="556175"/>
                </a:solidFill>
                <a:latin typeface="맑은 고딕"/>
                <a:ea typeface="맑은 고딕"/>
                <a:cs typeface="맑은 고딕"/>
              </a:rPr>
              <a:t>원격 조치 제외 조건</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효과와 생산 감소를 견준다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 · DMN · BSC · What-if 중 선택</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성과 목표와 지표</a:t>
            </a:r>
          </a:p>
          <a:p>
            <a:pPr algn="l" eaLnBrk="0">
              <a:lnSpc>
                <a:spcPct val="110000"/>
              </a:lnSpc>
            </a:pPr>
            <a:r>
              <a:rPr sz="1250" b="1">
                <a:solidFill>
                  <a:srgbClr val="556175"/>
                </a:solidFill>
                <a:latin typeface="맑은 고딕"/>
                <a:ea typeface="맑은 고딕"/>
                <a:cs typeface="맑은 고딕"/>
              </a:rPr>
              <a:t>조치의 득실 경로</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납기가 더 멀다면 결과를 비교한다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 · DMN · BSC · What-if 중 선택</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고정한 기준 입력과</a:t>
            </a:r>
          </a:p>
          <a:p>
            <a:pPr algn="l" eaLnBrk="0">
              <a:lnSpc>
                <a:spcPct val="110000"/>
              </a:lnSpc>
            </a:pPr>
            <a:r>
              <a:rPr sz="1250" b="1">
                <a:solidFill>
                  <a:srgbClr val="1A6FC4"/>
                </a:solidFill>
                <a:latin typeface="맑은 고딕"/>
                <a:ea typeface="맑은 고딕"/>
                <a:cs typeface="맑은 고딕"/>
              </a:rPr>
              <a:t>바꿔 넣은 가정값</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약어와 핵심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SOP</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Standard Operating Procedure</a:t>
            </a:r>
          </a:p>
          <a:p>
            <a:pPr algn="l" eaLnBrk="0">
              <a:lnSpc>
                <a:spcPct val="110000"/>
              </a:lnSpc>
            </a:pPr>
            <a:r>
              <a:rPr sz="1250" b="0">
                <a:solidFill>
                  <a:srgbClr val="1F2A3A"/>
                </a:solidFill>
                <a:latin typeface="맑은 고딕"/>
                <a:ea typeface="맑은 고딕"/>
                <a:cs typeface="맑은 고딕"/>
              </a:rPr>
              <a:t>작업을 안전하고 같은 방식으로 하도록 정한 표준 작업 절차</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LOTO</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Lockout/Tagout</a:t>
            </a:r>
          </a:p>
          <a:p>
            <a:pPr algn="l" eaLnBrk="0">
              <a:lnSpc>
                <a:spcPct val="110000"/>
              </a:lnSpc>
            </a:pPr>
            <a:r>
              <a:rPr sz="1250" b="0">
                <a:solidFill>
                  <a:srgbClr val="1F2A3A"/>
                </a:solidFill>
                <a:latin typeface="맑은 고딕"/>
                <a:ea typeface="맑은 고딕"/>
                <a:cs typeface="맑은 고딕"/>
              </a:rPr>
              <a:t>정비 전에 에너지원을 차단해 잠그고 표시하는 안전 절차</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DMN</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Decision Model and Notation</a:t>
            </a:r>
          </a:p>
          <a:p>
            <a:pPr algn="l" eaLnBrk="0">
              <a:lnSpc>
                <a:spcPct val="110000"/>
              </a:lnSpc>
            </a:pPr>
            <a:r>
              <a:rPr sz="1250" b="0">
                <a:solidFill>
                  <a:srgbClr val="1F2A3A"/>
                </a:solidFill>
                <a:latin typeface="맑은 고딕"/>
                <a:ea typeface="맑은 고딕"/>
                <a:cs typeface="맑은 고딕"/>
              </a:rPr>
              <a:t>업무의 의사결정을 표와 모델로 정의하는 표준</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OMG</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Object Management Group</a:t>
            </a:r>
          </a:p>
          <a:p>
            <a:pPr algn="l" eaLnBrk="0">
              <a:lnSpc>
                <a:spcPct val="110000"/>
              </a:lnSpc>
            </a:pPr>
            <a:r>
              <a:rPr sz="1250" b="0">
                <a:solidFill>
                  <a:srgbClr val="1F2A3A"/>
                </a:solidFill>
                <a:latin typeface="맑은 고딕"/>
                <a:ea typeface="맑은 고딕"/>
                <a:cs typeface="맑은 고딕"/>
              </a:rPr>
              <a:t>DMN 같은 모델링 표준을 정하는 국제 표준 단체</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결정표</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Decision Table</a:t>
            </a:r>
          </a:p>
          <a:p>
            <a:pPr algn="l" eaLnBrk="0">
              <a:lnSpc>
                <a:spcPct val="110000"/>
              </a:lnSpc>
            </a:pPr>
            <a:r>
              <a:rPr sz="1250" b="0">
                <a:solidFill>
                  <a:srgbClr val="1F2A3A"/>
                </a:solidFill>
                <a:latin typeface="맑은 고딕"/>
                <a:ea typeface="맑은 고딕"/>
                <a:cs typeface="맑은 고딕"/>
              </a:rPr>
              <a:t>입력 조건의 조합마다 출력을 정한 표</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Hit Policy</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Hit Policy</a:t>
            </a:r>
          </a:p>
          <a:p>
            <a:pPr algn="l" eaLnBrk="0">
              <a:lnSpc>
                <a:spcPct val="110000"/>
              </a:lnSpc>
            </a:pPr>
            <a:r>
              <a:rPr sz="1250" b="0">
                <a:solidFill>
                  <a:srgbClr val="1F2A3A"/>
                </a:solidFill>
                <a:latin typeface="맑은 고딕"/>
                <a:ea typeface="맑은 고딕"/>
                <a:cs typeface="맑은 고딕"/>
              </a:rPr>
              <a:t>여러 규칙이 함께 맞을 때 결과를 고르는 방식</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BSC</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Balanced Scorecard</a:t>
            </a:r>
          </a:p>
          <a:p>
            <a:pPr algn="l" eaLnBrk="0">
              <a:lnSpc>
                <a:spcPct val="110000"/>
              </a:lnSpc>
            </a:pPr>
            <a:r>
              <a:rPr sz="1250" b="0">
                <a:solidFill>
                  <a:srgbClr val="1F2A3A"/>
                </a:solidFill>
                <a:latin typeface="맑은 고딕"/>
                <a:ea typeface="맑은 고딕"/>
                <a:cs typeface="맑은 고딕"/>
              </a:rPr>
              <a:t>재무 · 고객 · 내부 프로세스 · 학습과 성장의 네 관점으로 성과를 보는 경영 틀</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KPI</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Key Performance Indicator</a:t>
            </a:r>
          </a:p>
          <a:p>
            <a:pPr algn="l" eaLnBrk="0">
              <a:lnSpc>
                <a:spcPct val="110000"/>
              </a:lnSpc>
            </a:pPr>
            <a:r>
              <a:rPr sz="1250" b="0">
                <a:solidFill>
                  <a:srgbClr val="1F2A3A"/>
                </a:solidFill>
                <a:latin typeface="맑은 고딕"/>
                <a:ea typeface="맑은 고딕"/>
                <a:cs typeface="맑은 고딕"/>
              </a:rPr>
              <a:t>목표를 얼마나 이뤘는지 재는 핵심 성과 지표</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What-if 분석</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What-if Analysis</a:t>
            </a:r>
          </a:p>
          <a:p>
            <a:pPr algn="l" eaLnBrk="0">
              <a:lnSpc>
                <a:spcPct val="110000"/>
              </a:lnSpc>
            </a:pPr>
            <a:r>
              <a:rPr sz="1250" b="0">
                <a:solidFill>
                  <a:srgbClr val="1F2A3A"/>
                </a:solidFill>
                <a:latin typeface="맑은 고딕"/>
                <a:ea typeface="맑은 고딕"/>
                <a:cs typeface="맑은 고딕"/>
              </a:rPr>
              <a:t>가정값을 바꿔 결과가 어떻게 달라지는지 견주는 분석</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운전 상태와 조치의 가능 여부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HYD-01의 쿨러 성능 저하 경보에서 원인은 쿨러 핀 오염이고, 수동 조작이 들어와 운전 모드는 REMOTE_MANUAL이다.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상태에서 조치 후보에 남는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최대 운전 — 유온을 경보 기준 아래로 내리므로 남는다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팬 최대 운전과 부하 80 % — 유온을 가장 많이 내리므로 남는다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 핀 세척 — 작업지시 후보로 남고, 세척은 정지와 잠금 뒤에 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부하 70 %와 야간 핀 세척 — 팬을 건드리지 않으므로 남는다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여러 규칙이 함께 맞았을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Hit Policy가 Collect인 규정 적합성 표에 원격 자동, 팬 100 % 연속 30 h, 「팬 최대 운전」 예측 유온 56 ℃를 넣었다.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후보에 내려지는 판정은?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감점 20만 원과 경고가 함께 붙는다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표의 위쪽에 있는 감점 규칙만 적용된다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두 규칙이 함께 맞았으므로 결정표의 오류로 처리된다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감점과 경고가 겹쳤으므로 후보에서 제외된다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가능 여부의 규칙과 성과의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사건에서 「팬 최대 운전과 부하 80 %」는 예측 유온이 44.6 ℃로 가장 낮았으나 네 후보 가운데 공동 2순위였다.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그 까닭으로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운전 모드 규칙에 걸려 후보에서 제외되었기 때문이다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예측 유온이 낮을수록 점수가 낮게 매겨지기 때문이다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승인할 역할의 직급이 더 높은 조치였기 때문이다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부하를 낮춰 생산이 줄어 납기 · 성과 지표에서 잃은 것이 예측에서 얻은 것보다 컸기 때문이다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조치의 가능 여부, 여러 규칙의 처리, 규칙과 성과 비교의 경계를 올바른 기준으로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원격으로 보내는 설비 제어는 원격 자동에서만 남는다. 정비 작업지시는 운전 모드와 관계없이 남지만, 세척은 정지와 잠금 뒤에 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Collect는 맞은 행의 출력을 모두 모은다. 감점과 경고가 함께 붙고 제외는 맞지 않았다.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네 후보 모두 규칙을 통과했다. 순위는 예측에서 얻은 것과 납기 · 성과 지표에서 잃은 것을 견준 결과이다.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