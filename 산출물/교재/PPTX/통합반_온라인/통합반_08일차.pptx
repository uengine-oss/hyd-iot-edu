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명세에 적은 것을 Given, When, Then으로 된 시나리오로 옮깁니다. 이어서 시나리오를 실행 가능한 시험으로 연결해 네 종류로 나누고, 실행마다 출력이 달라지는 에이전트에서 무엇을 실패로 셀지 가립니다. 실습에서는 시나리오를 되풀이해 실행하고 고친 뒤 전체를 다시 확인하며, 여러 출처의 데이터를 엮어 인수인계서를 만듭니다. 마지막으로 에이전트를 만들고 믿기까지 더해 온 장치를 쿨러 사건 위에서 하나로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지킬 것은 명세에 적혀 있습니다. 그런데 적어 두었다고 에이전트가 그대로 행동한다는 보장은 없습니다. 기대하는 행동을 어떻게 적어야 실제로 확인할 수 있는지를 승인 단계의 거절 하나로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지킬 것을 정한 명세에서 시작합니다. 왼쪽 문서에는 요구사항과 함께 입력 계약, 출력 계약, 금지 조건, 수용 기준이 적혀 있습니다. 명세는 문서이고, 에이전트가 낸 추천안은 실행해 보아야 나옵니다. 이번 회차가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쉬운 확인은 화면에서 직접 눌러 보는 것입니다. 그러나 승인 단계 하나에도 승인, 거절, 무응답, 권한 없는 요청처럼 경우가 여럿이고, 한 번의 확인은 그 가운데 하나만 봅니다. 조건을 하나 더할 때마다 이 경우들을 모두 다시 확인해야 합니다. 무엇이 맞는 결과인지가 적혀 있지 않으면 확인하는 사람에 따라 판정도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우리말로 행동 주도 개발입니다. 기대하는 행동을 누구나 읽을 수 있는 시나리오로 먼저 적고, 그 시나리오를 실행해서 확인합니다. 여기서 행동은 내부의 구현이 아니라 밖에서 관찰할 수 있는 결과를 가리킵니다. 시나리오 하나는 한 가지 상황과 그 상황에서 기대하는 행동 하나를 담습니다.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낱말이며, 이 서식을 Gherkin이라고 부릅니다.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Then을 어떻게 적느냐에 따라 시나리오의 쓸모가 달라집니다. 왼쪽처럼 적절히 처리한다고 적으면 읽는 사람마다 통과의 기준이 다릅니다. 오른쪽은 건수와 값으로 적어서 실행 결과를 보면 통과인지 실패인지가 가려집니다. 「영향을 주지 않는다」는 「설비 명령이 0건이다」로 바꾸어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먼저 정하는 SDD와 행동을 확인하는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시나리오가 어떻게 이어지는지를 봅니다. 입력 계약은 Given과 When에 넣는 입력값이 됩니다. 출력 계약은 결과에 있어야 하는 항목으로, 금지 조건은 일어나지 않아야 하는 일로 Then에 옮겨집니다. 수용 기준은 시나리오 하나하나가 통과하는 것으로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문장으로만 둔 시나리오는 사람이 읽고 손으로 확인해야 해서 되풀이되지 않습니다. 그래서 세 부분을 각각 실행할 수 있는 것으로 옮깁니다. Given은 준비할 입력으로, When은 실행할 행동으로, Then은 견줄 기대값으로 옮깁니다. 실행해서 나온 실제 결과를 기대값과 대조하면 통과와 실패가 갈리고, 실패하면 어느 시나리오가 어긋났는지가 이름으로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HYD의 승인 단계를 확인하는 실제 시험 한 편입니다. 맨 위의 긴 이름이 곧 시나리오 문장이고, 가운데의 reject_card가 사유를 넣어 거절을 실행하는 When입니다. 아래의 assert 두 줄이 Then이며, 줄임표는 화면에 싣지 않은 준비 부분과 나머지 단언입니다. assert는 뒤의 식이 참인지를 확인하는 단언이고, 하나라도 참이 아니면 이 시험은 실패로 기록됩니다.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단계를 확인하는 시험 가운데 넷을 골랐습니다. 이름을 읽으면 시나리오가 됩니다. 첫째는 승인하면 승인 값이 실려 끝까지 처리된다는 것이고, 둘째는 앞 장에서 본 거절입니다. 셋째는 사유 없는 거절이 받아들여지지 않는다는 것, 넷째는 지연 알림이 나간 뒤에도 승인할 수 있다는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단계 하나에서 일어날 수 있는 경우를 펼쳤습니다. 위에서부터 승인, 거절, 무응답, 그리고 사유가 없거나 권한이 없는 요청입니다. 갈래마다 기대하는 결과가 다릅니다. 승인의 시나리오가 통과했다고 나머지 세 갈래가 맞는다는 보장은 없으므로 갈래마다 시나리오를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확인하는 대상에 따라 네 종류로 나눕니다. 정상 시험은 기본 경로가 끝까지 가는지를 봅니다. 경계 시험은 기준값의 바로 안팎에서 판정이 맞는지를, 예외 시험은 거절과 누락과 오류를 정한 대로 다루는지를 봅니다. 회귀 시험은 무언가를 바꾼 뒤에도 기존 행동이 그대로인지를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 시험의 입력을 고르는 방법이 경계값 분석입니다. 쿨러 사건에서 조치 뒤에 유온을 다시 읽어 회복을 판정하는 기준은 55 ℃ 미만입니다. 실제 사건의 값 51.5 ℃는 기준에서 멀어서, 이 값으로는 기준이 정확히 구현되었는지를 알 수 없습니다. 판정이 갈리는 54.9와 55.0 근처를 넣어 보아야 「미만」을 「이하」로 잘못 만든 실수가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경계는 값뿐 아니라 시간에도 있습니다. 담당자가 응답하지 않으면 10분 뒤에 승인 지연 알림이 나갑니다. 시험은 10분이 되기 직전에는 알림이 없고 넘긴 직후에는 알림이 나가는지를 봅니다. 알림이 나간 뒤에도 처리 건이 저절로 닫히지 않고 기다리는 것, 그리고 뒤늦은 승인이 정상으로 처리되는 것까지가 기대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시험은 잘못된 상황에서 기대하는 행동을 확인합니다. 도구가 오류를 돌려주면 실패를 실패로 적고, 값을 0이나 빈 값으로 채워 성공처럼 내지 않아야 합니다. 읽은 값이 오래되어 근거가 부족하면 보류하고, 필수 정보가 없으면 확정하지 않고 사람에게 묻습니다. 권한이 없는 요청은 거부되어야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HYD에 남아 있는 회귀 기록입니다. 시험 전체를 다시 실행한 기록에는 2,673개가 통과하고 16개를 건너뛰었으며 실패는 없었습니다. 쿨러 사건은 경보에서 종결까지를 40항목으로 나누어 확인하고 40항목이 통과했고, 펌프와 팬 사건은 43항목입니다. 숫자 하나가 줄면 어느 항목이 깨졌는지를 이름으로 찾아갑니다.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시험할 때에는 한 가지 어려움이 더 있습니다. 번호가 다른 같은 종류의 쿨러 경보 두 건을 처리한 기록을 견주어 보면, 원인과 추천과 점수는 두 건 모두 같았습니다. 그러나 진행 중에 남긴 문장과 도구를 부른 순서와 걸린 시간은 달랐습니다. 규칙의 판정과 점수는 같은 사실이면 같은 결과를 내는 도구가 계산하고, 문장과 순서는 모델이 그때마다 정하기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달라져도 되는 것과 달라지면 안 되는 것을 먼저 가릅니다. 설명문의 낱말, 도구를 부른 순서, 걸린 시간은 표현 차이이고 허용합니다. 결과 항목이 빠진 것, 승인 없이 쓴 것, 근거 식별자가 없는 추천안, 금지된 조치의 추천은 계약 위반이고 한 번이라도 나오면 실패입니다. 이 구분이 없으면 문장이 조금 달라졌다고 실패가 나거나, 항목이 빠졌는데도 통과합니다.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견준 두 건 가운데 둘째 경보의 실제 출력에 이 구분을 적용해 보겠습니다. 다섯 항목이 모두 있는지는 출력 계약이 정한 것이므로 견줍니다. 원인과 추천은 지식 그래프의 식별자여서 기대한 값과 같은지를 견줄 수 있습니다. 문장으로 된 설명 칸은 글자가 같은지를 묻지 않고, 판단 번호는 있는지만 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아니라 판단의 내용이 맞는지는 판단 채점으로 확인합니다. 사람이 미리 적어 둔 정답표와 에이전트의 판단을 대어 점수를 냅니다. 원인 적중과 1순위 허용이 각각 30, 금지 조치 미추천과 근거 포함률이 각각 20의 비중이며 더하면 0점에서 100점 사이가 됩니다. 설명 문장은 점수에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 통과한 것으로는 충분하지 않습니다. 같은 입력에도 출력이 달라지므로 같은 항목을 여러 번, 한 번에 최대 10회까지 실행해서 세 가지를 봅니다. 평균은 평소의 수준을, 최저는 가장 나빴던 경우를, 흔들림은 가장 많이 나온 결과가 얼마나 되풀이되었는지를 보여 줍니다. 평균이 높아도 최저에서 계약 위반이 한 번 나왔다면 그 항목은 실패입니다.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무엇을 고칠지를 가르는 표입니다. 스킬에 적힌 단계를 건너뛰거나 설명이 부실하면 프롬프트와 스킬 같은 지침을 봅니다. 판정의 기준값이 맞지 않으면 지식 그래프의 판단 규칙을, 결과 항목이 빠졌거나 기대값이 요구와 다르면 명세를 봅니다. 명세대로 적혀 있는데 다르게 동작하면 코드입니다. 통과시키려고 기대값을 낮추는 것은 수정이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쓴 명세 spec.md와 같은 에이전트를 그대로 씁니다. 일반 정비, 긴급 정비, 필수 정보 누락, 승인 거절, 도구 오류의 다섯 경우마다 Given, When, Then과 입력값, 기대 상태, 지켜야 할 출력 계약을 적습니다. 다 적은 시나리오는 Then이 건수나 값처럼 실행 결과로 가려지는 사실인지, 금지 조건이 일어나지 않을 일로 들어 있는지로 점검합니다. 완성본에서는 같은 다섯 경우의 시나리오를 함께 읽으며 각 Then이 명세의 어느 줄에서 왔는지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실습에서 적은 시나리오를 준비된 자동 시험이나 반복 실행 스크립트에 잇고, 같은 입력으로 여러 번 실행합니다. 실제 출력과 기대값을 견주어 어느 조건에서 규칙을 어겼는지를 로그와 결과 파일에서 찾아 위반 목록에 적습니다. 어긋난 것마다 표현 차이인지 계약 위반인지를 가르면 성공입니다. 완성본에서는 같은 시나리오를 반복 실행한 결과를 열어 위반 목록과 그 판정을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위반 목록에서 실제로 실패한 시나리오만 골라 원인을 따라갑니다. 프롬프트와 명세와 코드 가운데 고칠 곳을 가려 고치고, 기대값을 낮추어 통과시키지는 않습니다. 마지막에 전체 회귀를 돌려, 긴급 조건이 동작하면서 기존의 일반 요청과 보류와 거절 조건이 그대로 통과하면 성공입니다. 완성본에서는 수정 전후의 실행 결과와 전체 회귀 결과를 나란히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이벤트, 정비 이력, 부품 DB는 서로 다른 곳에 있는 데이터입니다. 이 데이터를 한곳으로 옮겨 모으지 않고 출처에 둔 채 연결해 함께 읽는 방식을 데이터 패브릭이라고 하며, 새 데이터 플랫폼을 만드는 일이 아닙니다. 세 출처의 조회 결과를 엮어 완료 작업, 미완료 요청, 주의 사항을 적고 항목마다 출처와 근거 시각을 붙입니다. 한 출처를 읽지 못했으면 빈칸으로 숨기지 않고 그 사실을 적습니다. 완성본에서는 완성된 인수인계서의 항목을 하나씩 출처까지 거슬러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업무에 맡기기까지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개념을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이루는 목표, 도구, 멈춤 조건을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모인 근거를 두 갈래로 놓았습니다. 위쪽은 지식이며, 원인 후보 셋에서 고장 유형을 거쳐 조치 방법으로 가는 관계는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결정이 들어가는 자리를 추천안이 지나는 문 둘로 놓았습니다. 첫째 문은 시스템의 자동 검사이며, 형식과 규칙의 인용과 승인 역할을 보고, 통과해도 상태는 승인 대기입니다. 둘째 문은 승인 역할의 담당자이며, 승인해야 설비 명령이 만들어지고 누가 어느 역할로 승인했는지가 결정 기록으로 남습니다. 에이전트의 자기 검토나 다른 에이전트의 검토는 첫째 문 쪽에 속하고 승인이 되지 않습니다. 왼쪽 아래의 두 장면은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 가드레일과 승인을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시나리오와 회귀를 변경 한 번의 순서로 이었습니다. 단계마다 아래 줄은 실습에서 다룬 긴급 정비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시나리오와 판단 채점과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HYD의 세 에이전트로 봅니다.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만들어 본 실습의 산출물 다섯을 모았습니다. 점검 계획, 품질 대응 카드, 도표와 요약, 작업 목록, 학습 코치의 피드백입니다. 형식은 서로 다릅니다. 그러나 확인되지 않은 원인은 가설로, 없는 담당자는 미정으로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인수인계서는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결정과 명세를 다룬 실습, 그리고 시나리오와 회귀를 다룬 실습의 산출물은 서로 이어집니다. 왼쪽 위의 확인 질문은 필수 정보가 빠진 경우의 시나리오가 되었고, spec.md와 함께 저장한 입력과 기대 결과는 시나리오의 재료가 되었습니다. 시나리오는 실행되어 회귀 기록으로 남고, 그 기록이 다음에 요구가 바뀔 때의 기준이 됩니다. 왼쪽 아래의 초안과 검토 의견과 수정본은 AI의 검토와 사람의 승인을 다른 항목에 남기는 연습이었고, 인수인계서는 근거 시각과 함께 다음 교대의 담당자에게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장치들을 문제가 생겼을 때 찾아갈 순서로 놓았습니다. 값이 실제와 다르면 호출 기록에서 입력과 응답과 신선도를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만들고 믿기까지의 장치를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흐름을 금지 조건 한 줄에 적용해 되짚습니다. 학생이 먼저 위의 네 줄이 같은 한 줄의 어떤 모양인지 대어 보고, 넷째 줄과 다섯째 줄이 언제 작동하는지를 가릅니다. 회귀는 바꿀 때마다 행동이 달라졌는지 찾고, 실행 중의 장치는 추천안 한 건마다 잘못된 실행을 막습니다. 둘 중 하나만 있을 때 무엇을 놓치는지를 판단한 뒤 표와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용어의 이름과 뜻을 확인합니다. 영문 정식 명칭은 화면에 두고, 대본에서는 뜻을 짚습니다. 검증의 흐름을 다시 설명하거나 시험의 예를 여기서 되풀이하지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시나리오 해석 문항입니다. 통과한 시나리오가 알려 주는 범위가 어디까지인지를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표현 차이와 계약 위반을 구분하는 근거 구분 문항입니다. 세 가지 차이 가운데 출력 계약이 정해 둔 것이 무엇인지를 가려 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시험이 실패했을 때 기대값을 정하는 쪽과 고칠 쪽을 가르는 책임 경계 문항입니다. 기대값이 어디에서 왔는지, 그리고 그것을 누가 정했는지를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오답이 무엇을 놓쳤는지를 함께 짚습니다. 첫 문항의 2번은 새 시나리오만 되풀이하므로 기존 행동을 알려 주지 못하고, 4번은 통과시키려고 기존 기대값을 바꿉니다. 둘째 문항의 2번 · 3번 · 4번은 표현 차이까지 실패로 센 것입니다. 셋째 문항의 1번과 2번은 시험을 통과시키려고 기준을 바꾸거나 없앤 것이며, 3번은 명세에 없는 값으로 조건을 바꿉니다.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4.png"/><Relationship Id="rId6"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1.png"/><Relationship Id="rId5"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24.png"/><Relationship Id="rId5"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4.png"/><Relationship Id="rId6"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11.png"/><Relationship Id="rId5" Type="http://schemas.openxmlformats.org/officeDocument/2006/relationships/image" Target="../media/image37.png"/><Relationship Id="rId6"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29.png"/><Relationship Id="rId5" Type="http://schemas.openxmlformats.org/officeDocument/2006/relationships/image" Target="../media/image11.png"/><Relationship Id="rId6"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5.png"/><Relationship Id="rId5" Type="http://schemas.openxmlformats.org/officeDocument/2006/relationships/image" Target="../media/image36.png"/><Relationship Id="rId6" Type="http://schemas.openxmlformats.org/officeDocument/2006/relationships/image" Target="../media/image23.png"/><Relationship Id="rId7" Type="http://schemas.openxmlformats.org/officeDocument/2006/relationships/image" Target="../media/image34.png"/><Relationship Id="rId8"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8.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요구가 바뀌어도 믿고 사용할 수 있는 에이전트 완성하기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요구가 바뀌어도 믿고 쓸 수 있는</a:t>
            </a:r>
          </a:p>
          <a:p>
            <a:pPr algn="l" eaLnBrk="0">
              <a:lnSpc>
                <a:spcPct val="110000"/>
              </a:lnSpc>
            </a:pPr>
            <a:r>
              <a:rPr sz="4000" b="1">
                <a:solidFill>
                  <a:srgbClr val="FFFFFF"/>
                </a:solidFill>
                <a:latin typeface="맑은 고딕"/>
                <a:ea typeface="맑은 고딕"/>
                <a:cs typeface="맑은 고딕"/>
              </a:rPr>
              <a:t>에이전트의 행동 검증</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기대 행동을 시나리오로 적어 실행으로 확인하고, 에이전트를 만들어 온 과정을 하나로 잇는다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hecklist" descr="checklis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epeat" descr="repea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bot" descr="robo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명세대로 행동하는지 시나리오와 실행으로 확인하고, 에이전트를 만들고 믿기까지의 과정을 하나로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기대 행동의 시나리오</a:t>
            </a:r>
          </a:p>
          <a:p>
            <a:pPr algn="l" eaLnBrk="0" marL="177165" indent="-177165">
              <a:lnSpc>
                <a:spcPct val="110000"/>
              </a:lnSpc>
              <a:spcAft>
                <a:spcPts val="400"/>
              </a:spcAft>
            </a:pPr>
            <a:r>
              <a:rPr sz="1550" b="0">
                <a:solidFill>
                  <a:srgbClr val="1F2A3A"/>
                </a:solidFill>
                <a:latin typeface="맑은 고딕"/>
                <a:ea typeface="맑은 고딕"/>
                <a:cs typeface="맑은 고딕"/>
              </a:rPr>
              <a:t>• 명세를 Given · When · Then 시나리오로 옮긴다</a:t>
            </a:r>
          </a:p>
          <a:p>
            <a:pPr algn="l" eaLnBrk="0" marL="177165" indent="-177165">
              <a:lnSpc>
                <a:spcPct val="110000"/>
              </a:lnSpc>
              <a:spcAft>
                <a:spcPts val="400"/>
              </a:spcAft>
            </a:pPr>
            <a:r>
              <a:rPr sz="1550" b="0">
                <a:solidFill>
                  <a:srgbClr val="1F2A3A"/>
                </a:solidFill>
                <a:latin typeface="맑은 고딕"/>
                <a:ea typeface="맑은 고딕"/>
                <a:cs typeface="맑은 고딕"/>
              </a:rPr>
              <a:t>• 기대 결과를 가릴 수 있는 사실로 적는다</a:t>
            </a:r>
          </a:p>
        </p:txBody>
      </p:sp>
      <p:sp>
        <p:nvSpPr>
          <p:cNvPr id="10" name="Rounded Rectangle 9"/>
          <p:cNvSpPr/>
          <p:nvPr/>
        </p:nvSpPr>
        <p:spPr>
          <a:xfrm>
            <a:off x="777240" y="5433377"/>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시나리오</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player-play" descr="player-play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실행 가능한 검증</a:t>
            </a:r>
          </a:p>
          <a:p>
            <a:pPr algn="l" eaLnBrk="0" marL="177165" indent="-177165">
              <a:lnSpc>
                <a:spcPct val="110000"/>
              </a:lnSpc>
              <a:spcAft>
                <a:spcPts val="400"/>
              </a:spcAft>
            </a:pPr>
            <a:r>
              <a:rPr sz="1550" b="0">
                <a:solidFill>
                  <a:srgbClr val="1F2A3A"/>
                </a:solidFill>
                <a:latin typeface="맑은 고딕"/>
                <a:ea typeface="맑은 고딕"/>
                <a:cs typeface="맑은 고딕"/>
              </a:rPr>
              <a:t>• 시나리오를 단언으로 연결하고 네 종류의 시험을 구분한다</a:t>
            </a:r>
          </a:p>
          <a:p>
            <a:pPr algn="l" eaLnBrk="0" marL="177165" indent="-177165">
              <a:lnSpc>
                <a:spcPct val="110000"/>
              </a:lnSpc>
              <a:spcAft>
                <a:spcPts val="400"/>
              </a:spcAft>
            </a:pPr>
            <a:r>
              <a:rPr sz="1550" b="0">
                <a:solidFill>
                  <a:srgbClr val="1F2A3A"/>
                </a:solidFill>
                <a:latin typeface="맑은 고딕"/>
                <a:ea typeface="맑은 고딕"/>
                <a:cs typeface="맑은 고딕"/>
              </a:rPr>
              <a:t>• 표현 차이와 계약 위반을 가른다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검증</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반복 검증과 데이터 연결</a:t>
            </a:r>
          </a:p>
          <a:p>
            <a:pPr algn="l" eaLnBrk="0" marL="177165" indent="-177165">
              <a:lnSpc>
                <a:spcPct val="110000"/>
              </a:lnSpc>
              <a:spcAft>
                <a:spcPts val="400"/>
              </a:spcAft>
            </a:pPr>
            <a:r>
              <a:rPr sz="1550" b="0">
                <a:solidFill>
                  <a:srgbClr val="1F2A3A"/>
                </a:solidFill>
                <a:latin typeface="맑은 고딕"/>
                <a:ea typeface="맑은 고딕"/>
                <a:cs typeface="맑은 고딕"/>
              </a:rPr>
              <a:t>• 되풀이해 실행하고 고친 뒤 전체 회귀로 확인한다</a:t>
            </a:r>
          </a:p>
          <a:p>
            <a:pPr algn="l" eaLnBrk="0" marL="177165" indent="-177165">
              <a:lnSpc>
                <a:spcPct val="110000"/>
              </a:lnSpc>
              <a:spcAft>
                <a:spcPts val="400"/>
              </a:spcAft>
            </a:pPr>
            <a:r>
              <a:rPr sz="1550" b="0">
                <a:solidFill>
                  <a:srgbClr val="1F2A3A"/>
                </a:solidFill>
                <a:latin typeface="맑은 고딕"/>
                <a:ea typeface="맑은 고딕"/>
                <a:cs typeface="맑은 고딕"/>
              </a:rPr>
              <a:t>• 여러 출처를 엮어 인수인계서를 만든다</a:t>
            </a:r>
          </a:p>
        </p:txBody>
      </p:sp>
      <p:sp>
        <p:nvSpPr>
          <p:cNvPr id="22" name="Rounded Rectangle 21"/>
          <p:cNvSpPr/>
          <p:nvPr/>
        </p:nvSpPr>
        <p:spPr>
          <a:xfrm>
            <a:off x="6461607" y="543337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제작부터 검증까지의 정리</a:t>
            </a:r>
          </a:p>
          <a:p>
            <a:pPr algn="l" eaLnBrk="0" marL="177165" indent="-177165">
              <a:lnSpc>
                <a:spcPct val="110000"/>
              </a:lnSpc>
              <a:spcAft>
                <a:spcPts val="400"/>
              </a:spcAft>
            </a:pPr>
            <a:r>
              <a:rPr sz="1550" b="0">
                <a:solidFill>
                  <a:srgbClr val="1F2A3A"/>
                </a:solidFill>
                <a:latin typeface="맑은 고딕"/>
                <a:ea typeface="맑은 고딕"/>
                <a:cs typeface="맑은 고딕"/>
              </a:rPr>
              <a:t>• 여섯 개념을 쿨러 사건에 놓아 설명한다</a:t>
            </a:r>
          </a:p>
          <a:p>
            <a:pPr algn="l" eaLnBrk="0" marL="177165" indent="-177165">
              <a:lnSpc>
                <a:spcPct val="110000"/>
              </a:lnSpc>
              <a:spcAft>
                <a:spcPts val="400"/>
              </a:spcAft>
            </a:pPr>
            <a:r>
              <a:rPr sz="1550" b="0">
                <a:solidFill>
                  <a:srgbClr val="1F2A3A"/>
                </a:solidFill>
                <a:latin typeface="맑은 고딕"/>
                <a:ea typeface="맑은 고딕"/>
                <a:cs typeface="맑은 고딕"/>
              </a:rPr>
              <a:t>• 응용마다 산출물이 다른 까닭을 말한다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기대 행동의 시나리오: BDD와 Given · When · Then</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실행 가능한 검증과 네 종류의 시험</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출력의 반복 검증</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행동 기준 작성 · 반복 검증 · 오류 수정과 회귀 · 교대 인수인계</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TextBox 2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기대 행동의 시나리오:</a:t>
            </a:r>
          </a:p>
          <a:p>
            <a:pPr algn="l" eaLnBrk="0">
              <a:lnSpc>
                <a:spcPct val="110000"/>
              </a:lnSpc>
            </a:pPr>
            <a:r>
              <a:rPr sz="3400" b="1">
                <a:solidFill>
                  <a:srgbClr val="13294B"/>
                </a:solidFill>
                <a:latin typeface="맑은 고딕"/>
                <a:ea typeface="맑은 고딕"/>
                <a:cs typeface="맑은 고딕"/>
              </a:rPr>
              <a:t>BDD와 Given · When · Then</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명세에 적은 것을, 실행 결과로 통과와 실패를 가를 수 있는 시나리오로 옮긴다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명세와실행.svg" descr="illust_1430972788442057324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실제 결과</a:t>
            </a:r>
          </a:p>
          <a:p>
            <a:pPr algn="ctr" eaLnBrk="0">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명세와 실제 결과의 대조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손으로 한 번 확인하는 방식의 한계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화면에서 한 번 눌러 본 확인은 그때의 한 경우만 보여 주고, 무엇이 맞는 결과인지는 확인한 사람의 기억에만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경우가 여럿이다</a:t>
            </a:r>
          </a:p>
          <a:p>
            <a:pPr algn="l" eaLnBrk="0" marL="205740" indent="-205740">
              <a:lnSpc>
                <a:spcPct val="110000"/>
              </a:lnSpc>
              <a:spcAft>
                <a:spcPts val="400"/>
              </a:spcAft>
            </a:pPr>
            <a:r>
              <a:rPr sz="1800" b="0">
                <a:solidFill>
                  <a:srgbClr val="1F2A3A"/>
                </a:solidFill>
                <a:latin typeface="맑은 고딕"/>
                <a:ea typeface="맑은 고딕"/>
                <a:cs typeface="맑은 고딕"/>
              </a:rPr>
              <a:t>• 승인 단계 하나에도 승인 · 거절 · 무응답 · 권한 없는 요청이 있다</a:t>
            </a:r>
          </a:p>
          <a:p>
            <a:pPr algn="l" eaLnBrk="0" marL="205740" indent="-205740">
              <a:lnSpc>
                <a:spcPct val="110000"/>
              </a:lnSpc>
              <a:spcAft>
                <a:spcPts val="400"/>
              </a:spcAft>
            </a:pPr>
            <a:r>
              <a:rPr sz="1800" b="0">
                <a:solidFill>
                  <a:srgbClr val="1F2A3A"/>
                </a:solidFill>
                <a:latin typeface="맑은 고딕"/>
                <a:ea typeface="맑은 고딕"/>
                <a:cs typeface="맑은 고딕"/>
              </a:rPr>
              <a:t>• 한 번의 확인은 그 가운데 하나만 본다</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빠지는 경우</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바뀔 때마다 되풀이된다</a:t>
            </a:r>
          </a:p>
          <a:p>
            <a:pPr algn="l" eaLnBrk="0">
              <a:lnSpc>
                <a:spcPct val="110000"/>
              </a:lnSpc>
              <a:spcAft>
                <a:spcPts val="400"/>
              </a:spcAft>
            </a:pPr>
            <a:r>
              <a:rPr sz="1800" b="0">
                <a:solidFill>
                  <a:srgbClr val="1F2A3A"/>
                </a:solidFill>
                <a:latin typeface="맑은 고딕"/>
                <a:ea typeface="맑은 고딕"/>
                <a:cs typeface="맑은 고딕"/>
              </a:rPr>
              <a:t>조건 하나를 더해도 기존의 경우를 모두 다시 확인해야 한다</a:t>
            </a:r>
          </a:p>
        </p:txBody>
      </p:sp>
      <p:sp>
        <p:nvSpPr>
          <p:cNvPr id="16" name="Rounded Rectangle 15"/>
          <p:cNvSpPr/>
          <p:nvPr/>
        </p:nvSpPr>
        <p:spPr>
          <a:xfrm>
            <a:off x="4566818" y="539851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반복의 부담</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user-question" descr="user-questio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기대가 적혀 있지 않다</a:t>
            </a:r>
          </a:p>
          <a:p>
            <a:pPr algn="l" eaLnBrk="0" marL="205740" indent="-205740">
              <a:lnSpc>
                <a:spcPct val="110000"/>
              </a:lnSpc>
              <a:spcAft>
                <a:spcPts val="400"/>
              </a:spcAft>
            </a:pPr>
            <a:r>
              <a:rPr sz="1800" b="0">
                <a:solidFill>
                  <a:srgbClr val="1F2A3A"/>
                </a:solidFill>
                <a:latin typeface="맑은 고딕"/>
                <a:ea typeface="맑은 고딕"/>
                <a:cs typeface="맑은 고딕"/>
              </a:rPr>
              <a:t>• 맞는 결과가 무엇인지가 확인하는 사람의 기억에 있다</a:t>
            </a:r>
          </a:p>
          <a:p>
            <a:pPr algn="l" eaLnBrk="0" marL="205740" indent="-205740">
              <a:lnSpc>
                <a:spcPct val="110000"/>
              </a:lnSpc>
              <a:spcAft>
                <a:spcPts val="400"/>
              </a:spcAft>
            </a:pPr>
            <a:r>
              <a:rPr sz="1800" b="0">
                <a:solidFill>
                  <a:srgbClr val="1F2A3A"/>
                </a:solidFill>
                <a:latin typeface="맑은 고딕"/>
                <a:ea typeface="맑은 고딕"/>
                <a:cs typeface="맑은 고딕"/>
              </a:rPr>
              <a:t>• 사람이 바뀌면 판정도 달라진다</a:t>
            </a:r>
          </a:p>
        </p:txBody>
      </p:sp>
      <p:sp>
        <p:nvSpPr>
          <p:cNvPr id="22" name="Rounded Rectangle 21"/>
          <p:cNvSpPr/>
          <p:nvPr/>
        </p:nvSpPr>
        <p:spPr>
          <a:xfrm>
            <a:off x="8356396" y="539851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기준의 부재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BDD: 행동을 시나리오로 적고 실행으로 확인하는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BDD는 기대하는 행동을 누구나 읽을 수 있는 시나리오로 먼저 적고, 그 시나리오를 실행해 확인하는 개발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BDD</a:t>
            </a:r>
          </a:p>
          <a:p>
            <a:pPr algn="l" eaLnBrk="0">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eaLnBrk="0">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행동</a:t>
            </a:r>
          </a:p>
          <a:p>
            <a:pPr algn="l" eaLnBrk="0">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eaLnBrk="0">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시나리오</a:t>
            </a:r>
          </a:p>
          <a:p>
            <a:pPr algn="l" eaLnBrk="0">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eaLnBrk="0">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pic>
        <p:nvPicPr>
          <p:cNvPr id="6" name="삽화:세부분.svg" descr="illust_4469111072434709437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Given</a:t>
            </a:r>
          </a:p>
          <a:p>
            <a:pPr algn="ctr" eaLnBrk="0">
              <a:lnSpc>
                <a:spcPct val="110000"/>
              </a:lnSpc>
              <a:spcAft>
                <a:spcPts val="100"/>
              </a:spcAft>
            </a:pPr>
            <a:r>
              <a:rPr sz="1300" b="0">
                <a:solidFill>
                  <a:srgbClr val="556175"/>
                </a:solidFill>
                <a:latin typeface="맑은 고딕"/>
                <a:ea typeface="맑은 고딕"/>
                <a:cs typeface="맑은 고딕"/>
              </a:rPr>
              <a:t>전제: 행동 전의 상태</a:t>
            </a:r>
          </a:p>
        </p:txBody>
      </p:sp>
      <p:sp>
        <p:nvSpPr>
          <p:cNvPr id="8" name="TextBox 7"/>
          <p:cNvSpPr txBox="1"/>
          <p:nvPr/>
        </p:nvSpPr>
        <p:spPr>
          <a:xfrm>
            <a:off x="4568518" y="1769455"/>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When</a:t>
            </a:r>
          </a:p>
          <a:p>
            <a:pPr algn="ctr" eaLnBrk="0">
              <a:lnSpc>
                <a:spcPct val="110000"/>
              </a:lnSpc>
              <a:spcAft>
                <a:spcPts val="100"/>
              </a:spcAft>
            </a:pPr>
            <a:r>
              <a:rPr sz="1300" b="0">
                <a:solidFill>
                  <a:srgbClr val="556175"/>
                </a:solidFill>
                <a:latin typeface="맑은 고딕"/>
                <a:ea typeface="맑은 고딕"/>
                <a:cs typeface="맑은 고딕"/>
              </a:rPr>
              <a:t>행동: 확인할 행동 하나</a:t>
            </a:r>
          </a:p>
        </p:txBody>
      </p:sp>
      <p:sp>
        <p:nvSpPr>
          <p:cNvPr id="9" name="TextBox 8"/>
          <p:cNvSpPr txBox="1"/>
          <p:nvPr/>
        </p:nvSpPr>
        <p:spPr>
          <a:xfrm>
            <a:off x="8114104" y="176945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Then</a:t>
            </a:r>
          </a:p>
          <a:p>
            <a:pPr algn="ctr" eaLnBrk="0">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단계가 열려 있다</a:t>
            </a:r>
          </a:p>
          <a:p>
            <a:pPr algn="ctr" eaLnBrk="0">
              <a:lnSpc>
                <a:spcPct val="110000"/>
              </a:lnSpc>
              <a:spcAft>
                <a:spcPts val="100"/>
              </a:spcAft>
            </a:pPr>
            <a:r>
              <a:rPr sz="1300" b="0">
                <a:solidFill>
                  <a:srgbClr val="556175"/>
                </a:solidFill>
                <a:latin typeface="맑은 고딕"/>
                <a:ea typeface="맑은 고딕"/>
                <a:cs typeface="맑은 고딕"/>
              </a:rPr>
              <a:t>추천안이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사유를 적고 거절한다</a:t>
            </a:r>
          </a:p>
          <a:p>
            <a:pPr algn="ctr" eaLnBrk="0">
              <a:lnSpc>
                <a:spcPct val="110000"/>
              </a:lnSpc>
              <a:spcAft>
                <a:spcPts val="100"/>
              </a:spcAft>
            </a:pPr>
            <a:r>
              <a:rPr sz="1300" b="0">
                <a:solidFill>
                  <a:srgbClr val="556175"/>
                </a:solidFill>
                <a:latin typeface="맑은 고딕"/>
                <a:ea typeface="맑은 고딕"/>
                <a:cs typeface="맑은 고딕"/>
              </a:rPr>
              <a:t>승인 권한이 있는 담당자</a:t>
            </a:r>
          </a:p>
        </p:txBody>
      </p:sp>
      <p:sp>
        <p:nvSpPr>
          <p:cNvPr id="12" name="TextBox 11"/>
          <p:cNvSpPr txBox="1"/>
          <p:nvPr/>
        </p:nvSpPr>
        <p:spPr>
          <a:xfrm>
            <a:off x="8223199" y="4653198"/>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명령도 업무 처리도 없다</a:t>
            </a:r>
          </a:p>
          <a:p>
            <a:pPr algn="ctr" eaLnBrk="0">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eaLnBrk="0">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eaLnBrk="0">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서식</a:t>
            </a:r>
          </a:p>
          <a:p>
            <a:pPr algn="l" eaLnBrk="0">
              <a:lnSpc>
                <a:spcPct val="110000"/>
              </a:lnSpc>
              <a:spcAft>
                <a:spcPts val="400"/>
              </a:spcAft>
            </a:pPr>
            <a:r>
              <a:rPr sz="1400" b="0">
                <a:solidFill>
                  <a:srgbClr val="1F2A3A"/>
                </a:solidFill>
                <a:latin typeface="맑은 고딕"/>
                <a:ea typeface="맑은 고딕"/>
                <a:cs typeface="맑은 고딕"/>
              </a:rPr>
              <a:t>Scenario · Given · When · Then · And로 적는 이 서식의 이름이 </a:t>
            </a:r>
            <a:r>
              <a:rPr sz="1400" b="1">
                <a:solidFill>
                  <a:srgbClr val="1A6FC4"/>
                </a:solidFill>
                <a:latin typeface="맑은 고딕"/>
                <a:ea typeface="맑은 고딕"/>
                <a:cs typeface="맑은 고딕"/>
              </a:rPr>
              <a:t>Gherkin</a:t>
            </a:r>
            <a:r>
              <a:rPr sz="1400" b="0">
                <a:solidFill>
                  <a:srgbClr val="1F2A3A"/>
                </a:solidFill>
                <a:latin typeface="맑은 고딕"/>
                <a:ea typeface="맑은 고딕"/>
                <a:cs typeface="맑은 고딕"/>
              </a:rPr>
              <a:t>이다.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Given</a:t>
            </a:r>
          </a:p>
          <a:p>
            <a:pPr algn="l" eaLnBrk="0">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When</a:t>
            </a:r>
          </a:p>
          <a:p>
            <a:pPr algn="l" eaLnBrk="0">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Then · And</a:t>
            </a:r>
          </a:p>
          <a:p>
            <a:pPr algn="l" eaLnBrk="0">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Then의 조건: 실행 결과로 가릴 수 있는 사실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Then을 「적절히 처리한다」처럼 적으면 통과와 실패를 가를 수 없어서, 세거나 읽어 낼 수 있는 사실로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23007"/>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976579" y="2876626"/>
            <a:ext cx="424281" cy="424281"/>
          </a:xfrm>
          <a:prstGeom prst="rect">
            <a:avLst/>
          </a:prstGeom>
        </p:spPr>
      </p:pic>
      <p:sp>
        <p:nvSpPr>
          <p:cNvPr id="9" name="TextBox 8"/>
          <p:cNvSpPr txBox="1"/>
          <p:nvPr/>
        </p:nvSpPr>
        <p:spPr>
          <a:xfrm>
            <a:off x="1691640"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없는 Then</a:t>
            </a:r>
          </a:p>
        </p:txBody>
      </p:sp>
      <p:sp>
        <p:nvSpPr>
          <p:cNvPr id="10" name="TextBox 9"/>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거절을 적절히 처리한다</a:t>
            </a:r>
          </a:p>
          <a:p>
            <a:pPr algn="l" eaLnBrk="0" marL="194310" indent="-194310">
              <a:lnSpc>
                <a:spcPct val="110000"/>
              </a:lnSpc>
              <a:spcAft>
                <a:spcPts val="600"/>
              </a:spcAft>
            </a:pPr>
            <a:r>
              <a:rPr sz="1700" b="0">
                <a:solidFill>
                  <a:srgbClr val="1F2A3A"/>
                </a:solidFill>
                <a:latin typeface="맑은 고딕"/>
                <a:ea typeface="맑은 고딕"/>
                <a:cs typeface="맑은 고딕"/>
              </a:rPr>
              <a:t>• 설비에 영향을 주지 않는다</a:t>
            </a:r>
          </a:p>
          <a:p>
            <a:pPr algn="l" eaLnBrk="0" marL="194310" indent="-194310">
              <a:lnSpc>
                <a:spcPct val="110000"/>
              </a:lnSpc>
              <a:spcAft>
                <a:spcPts val="600"/>
              </a:spcAft>
            </a:pPr>
            <a:r>
              <a:rPr sz="1700" b="0">
                <a:solidFill>
                  <a:srgbClr val="1F2A3A"/>
                </a:solidFill>
                <a:latin typeface="맑은 고딕"/>
                <a:ea typeface="맑은 고딕"/>
                <a:cs typeface="맑은 고딕"/>
              </a:rPr>
              <a:t>• 담당자에게 잘 알린다</a:t>
            </a:r>
          </a:p>
        </p:txBody>
      </p:sp>
      <p:sp>
        <p:nvSpPr>
          <p:cNvPr id="11" name="Rounded Rectangle 10"/>
          <p:cNvSpPr/>
          <p:nvPr/>
        </p:nvSpPr>
        <p:spPr>
          <a:xfrm>
            <a:off x="868680" y="5003673"/>
            <a:ext cx="18288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읽는 사람마다 다르다</a:t>
            </a:r>
          </a:p>
        </p:txBody>
      </p:sp>
      <p:sp>
        <p:nvSpPr>
          <p:cNvPr id="13" name="Rounded Rectangle 12"/>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23007"/>
            <a:ext cx="731520" cy="731520"/>
          </a:xfrm>
          <a:prstGeom prst="ellipse">
            <a:avLst/>
          </a:prstGeom>
          <a:solidFill>
            <a:srgbClr val="5CB8F2"/>
          </a:solidFill>
          <a:ln>
            <a:noFill/>
          </a:ln>
        </p:spPr>
        <p:txBody>
          <a:bodyPr rtlCol="0" anchor="ctr"/>
          <a:lstStyle/>
          <a:p>
            <a:pPr algn="ctr"/>
          </a:p>
        </p:txBody>
      </p:sp>
      <p:pic>
        <p:nvPicPr>
          <p:cNvPr id="15" name="아이콘:eye" descr="eye_13294B_1.6.png"/>
          <p:cNvPicPr>
            <a:picLocks noChangeAspect="1"/>
          </p:cNvPicPr>
          <p:nvPr/>
        </p:nvPicPr>
        <p:blipFill>
          <a:blip r:embed="rId4"/>
          <a:stretch>
            <a:fillRect/>
          </a:stretch>
        </p:blipFill>
        <p:spPr>
          <a:xfrm>
            <a:off x="6889546" y="2876626"/>
            <a:ext cx="424281" cy="424281"/>
          </a:xfrm>
          <a:prstGeom prst="rect">
            <a:avLst/>
          </a:prstGeom>
        </p:spPr>
      </p:pic>
      <p:sp>
        <p:nvSpPr>
          <p:cNvPr id="16" name="TextBox 15"/>
          <p:cNvSpPr txBox="1"/>
          <p:nvPr/>
        </p:nvSpPr>
        <p:spPr>
          <a:xfrm>
            <a:off x="7604607" y="272300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가릴 수 있는 Then</a:t>
            </a:r>
          </a:p>
        </p:txBody>
      </p:sp>
      <p:sp>
        <p:nvSpPr>
          <p:cNvPr id="17" name="TextBox 16"/>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설비 명령이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업무 처리가 0건이다</a:t>
            </a:r>
          </a:p>
          <a:p>
            <a:pPr algn="l" eaLnBrk="0" marL="194310" indent="-194310">
              <a:lnSpc>
                <a:spcPct val="110000"/>
              </a:lnSpc>
              <a:spcAft>
                <a:spcPts val="600"/>
              </a:spcAft>
            </a:pPr>
            <a:r>
              <a:rPr sz="1700" b="0">
                <a:solidFill>
                  <a:srgbClr val="1F2A3A"/>
                </a:solidFill>
                <a:latin typeface="맑은 고딕"/>
                <a:ea typeface="맑은 고딕"/>
                <a:cs typeface="맑은 고딕"/>
              </a:rPr>
              <a:t>• 처리 건이 거절로 닫히고 사유가 남아 있다</a:t>
            </a:r>
          </a:p>
        </p:txBody>
      </p:sp>
      <p:sp>
        <p:nvSpPr>
          <p:cNvPr id="18" name="Rounded Rectangle 17"/>
          <p:cNvSpPr/>
          <p:nvPr/>
        </p:nvSpPr>
        <p:spPr>
          <a:xfrm>
            <a:off x="6781647" y="500367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0367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결과로 가려진다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201608"/>
            <a:ext cx="5181447" cy="357949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02776"/>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556395"/>
            <a:ext cx="424281" cy="424281"/>
          </a:xfrm>
          <a:prstGeom prst="rect">
            <a:avLst/>
          </a:prstGeom>
        </p:spPr>
      </p:pic>
      <p:sp>
        <p:nvSpPr>
          <p:cNvPr id="9" name="TextBox 8"/>
          <p:cNvSpPr txBox="1"/>
          <p:nvPr/>
        </p:nvSpPr>
        <p:spPr>
          <a:xfrm>
            <a:off x="1691640" y="240277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묻는 것: 무엇을 만들고 무엇을 지킬 것인가</a:t>
            </a:r>
          </a:p>
          <a:p>
            <a:pPr algn="l" eaLnBrk="0" marL="188595" indent="-188595">
              <a:lnSpc>
                <a:spcPct val="110000"/>
              </a:lnSpc>
              <a:spcAft>
                <a:spcPts val="600"/>
              </a:spcAft>
            </a:pPr>
            <a:r>
              <a:rPr sz="1650" b="0">
                <a:solidFill>
                  <a:srgbClr val="1F2A3A"/>
                </a:solidFill>
                <a:latin typeface="맑은 고딕"/>
                <a:ea typeface="맑은 고딕"/>
                <a:cs typeface="맑은 고딕"/>
              </a:rPr>
              <a:t>• 때: 구현하기 전</a:t>
            </a:r>
          </a:p>
          <a:p>
            <a:pPr algn="l" eaLnBrk="0" marL="188595" indent="-188595">
              <a:lnSpc>
                <a:spcPct val="110000"/>
              </a:lnSpc>
              <a:spcAft>
                <a:spcPts val="600"/>
              </a:spcAft>
            </a:pPr>
            <a:r>
              <a:rPr sz="1650" b="0">
                <a:solidFill>
                  <a:srgbClr val="1F2A3A"/>
                </a:solidFill>
                <a:latin typeface="맑은 고딕"/>
                <a:ea typeface="맑은 고딕"/>
                <a:cs typeface="맑은 고딕"/>
              </a:rPr>
              <a:t>• 남는 것: 명세 문서</a:t>
            </a:r>
          </a:p>
          <a:p>
            <a:pPr algn="l" eaLnBrk="0" marL="188595" indent="-188595">
              <a:lnSpc>
                <a:spcPct val="110000"/>
              </a:lnSpc>
              <a:spcAft>
                <a:spcPts val="600"/>
              </a:spcAft>
            </a:pPr>
            <a:r>
              <a:rPr sz="16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32390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2390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201608"/>
            <a:ext cx="5181447" cy="357949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02776"/>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556395"/>
            <a:ext cx="424281" cy="424281"/>
          </a:xfrm>
          <a:prstGeom prst="rect">
            <a:avLst/>
          </a:prstGeom>
        </p:spPr>
      </p:pic>
      <p:sp>
        <p:nvSpPr>
          <p:cNvPr id="16" name="TextBox 15"/>
          <p:cNvSpPr txBox="1"/>
          <p:nvPr/>
        </p:nvSpPr>
        <p:spPr>
          <a:xfrm>
            <a:off x="7604607" y="240277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묻는 것: 만든 것이 정한 대로 행동하는가</a:t>
            </a:r>
          </a:p>
          <a:p>
            <a:pPr algn="l" eaLnBrk="0" marL="188595" indent="-188595">
              <a:lnSpc>
                <a:spcPct val="110000"/>
              </a:lnSpc>
              <a:spcAft>
                <a:spcPts val="600"/>
              </a:spcAft>
            </a:pPr>
            <a:r>
              <a:rPr sz="1650" b="0">
                <a:solidFill>
                  <a:srgbClr val="1F2A3A"/>
                </a:solidFill>
                <a:latin typeface="맑은 고딕"/>
                <a:ea typeface="맑은 고딕"/>
                <a:cs typeface="맑은 고딕"/>
              </a:rPr>
              <a:t>• 때: 구현한 뒤, 그리고 바꿀 때마다</a:t>
            </a:r>
          </a:p>
          <a:p>
            <a:pPr algn="l" eaLnBrk="0" marL="188595" indent="-188595">
              <a:lnSpc>
                <a:spcPct val="110000"/>
              </a:lnSpc>
              <a:spcAft>
                <a:spcPts val="600"/>
              </a:spcAft>
            </a:pPr>
            <a:r>
              <a:rPr sz="1650" b="0">
                <a:solidFill>
                  <a:srgbClr val="1F2A3A"/>
                </a:solidFill>
                <a:latin typeface="맑은 고딕"/>
                <a:ea typeface="맑은 고딕"/>
                <a:cs typeface="맑은 고딕"/>
              </a:rPr>
              <a:t>• 남는 것: 시나리오와 실행 결과</a:t>
            </a:r>
          </a:p>
          <a:p>
            <a:pPr algn="l" eaLnBrk="0" marL="188595" indent="-188595">
              <a:lnSpc>
                <a:spcPct val="110000"/>
              </a:lnSpc>
              <a:spcAft>
                <a:spcPts val="600"/>
              </a:spcAft>
            </a:pPr>
            <a:r>
              <a:rPr sz="16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323903"/>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23903"/>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적은 것이 시나리오에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시나리오의 입력과 기대값은 명세에서 오며, 명세의 계약과 금지 조건과 수용 기준은 시나리오의 정해진 자리로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명세에 적은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시나리오에서 놓이는 자리</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 계약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Given과 When에 넣는 입력값</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HYD-01,</a:t>
            </a:r>
          </a:p>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 계약</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결과에 있어야 하는 항목</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추천, 판단 번호 등</a:t>
            </a:r>
          </a:p>
          <a:p>
            <a:pPr algn="l" eaLnBrk="0">
              <a:lnSpc>
                <a:spcPct val="110000"/>
              </a:lnSpc>
            </a:pPr>
            <a:r>
              <a:rPr sz="1250" b="1">
                <a:solidFill>
                  <a:srgbClr val="556175"/>
                </a:solidFill>
                <a:latin typeface="맑은 고딕"/>
                <a:ea typeface="맑은 고딕"/>
                <a:cs typeface="맑은 고딕"/>
              </a:rPr>
              <a:t>다섯 항목</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조건</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일어나지 않아야 하는 일</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전에는</a:t>
            </a:r>
          </a:p>
          <a:p>
            <a:pPr algn="l" eaLnBrk="0">
              <a:lnSpc>
                <a:spcPct val="110000"/>
              </a:lnSpc>
            </a:pPr>
            <a:r>
              <a:rPr sz="1250" b="1">
                <a:solidFill>
                  <a:srgbClr val="1A6FC4"/>
                </a:solidFill>
                <a:latin typeface="맑은 고딕"/>
                <a:ea typeface="맑은 고딕"/>
                <a:cs typeface="맑은 고딕"/>
              </a:rPr>
              <a:t>설비 명령 0건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시나리오 하나하나의 통과</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거절하면 명령도</a:t>
            </a:r>
          </a:p>
          <a:p>
            <a:pPr algn="l" eaLnBrk="0">
              <a:lnSpc>
                <a:spcPct val="110000"/>
              </a:lnSpc>
            </a:pPr>
            <a:r>
              <a:rPr sz="1250" b="1">
                <a:solidFill>
                  <a:srgbClr val="556175"/>
                </a:solidFill>
                <a:latin typeface="맑은 고딕"/>
                <a:ea typeface="맑은 고딕"/>
                <a:cs typeface="맑은 고딕"/>
              </a:rPr>
              <a:t>업무 처리도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가능한 검증과</a:t>
            </a:r>
          </a:p>
          <a:p>
            <a:pPr algn="l" eaLnBrk="0">
              <a:lnSpc>
                <a:spcPct val="110000"/>
              </a:lnSpc>
            </a:pPr>
            <a:r>
              <a:rPr sz="3400" b="1">
                <a:solidFill>
                  <a:srgbClr val="13294B"/>
                </a:solidFill>
                <a:latin typeface="맑은 고딕"/>
                <a:ea typeface="맑은 고딕"/>
                <a:cs typeface="맑은 고딕"/>
              </a:rPr>
              <a:t>네 종류의 시험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시나리오를 단언으로 옮기고, 경우와 기준값과 변경을 빠짐없이 확인한다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시나리오에서 실행 가능한 검증으로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Given은 준비할 입력으로, When은 실행할 행동으로, Then은 견줄 기대값으로 옮겨져 실행 가능한 검증이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pic>
        <p:nvPicPr>
          <p:cNvPr id="6" name="삽화:시나리오연결.svg" descr="illust_5239249136858570065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2549484"/>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Given</a:t>
            </a:r>
          </a:p>
          <a:p>
            <a:pPr algn="ctr" eaLnBrk="0">
              <a:lnSpc>
                <a:spcPct val="110000"/>
              </a:lnSpc>
              <a:spcAft>
                <a:spcPts val="100"/>
              </a:spcAft>
            </a:pPr>
            <a:r>
              <a:rPr sz="1100" b="0">
                <a:solidFill>
                  <a:srgbClr val="556175"/>
                </a:solidFill>
                <a:latin typeface="맑은 고딕"/>
                <a:ea typeface="맑은 고딕"/>
                <a:cs typeface="맑은 고딕"/>
              </a:rPr>
              <a:t>승인 단계가 열려 있다</a:t>
            </a:r>
          </a:p>
        </p:txBody>
      </p:sp>
      <p:sp>
        <p:nvSpPr>
          <p:cNvPr id="8" name="TextBox 7"/>
          <p:cNvSpPr txBox="1"/>
          <p:nvPr/>
        </p:nvSpPr>
        <p:spPr>
          <a:xfrm>
            <a:off x="1219303" y="3825895"/>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When</a:t>
            </a:r>
          </a:p>
          <a:p>
            <a:pPr algn="ctr" eaLnBrk="0">
              <a:lnSpc>
                <a:spcPct val="110000"/>
              </a:lnSpc>
              <a:spcAft>
                <a:spcPts val="100"/>
              </a:spcAft>
            </a:pPr>
            <a:r>
              <a:rPr sz="1100" b="0">
                <a:solidFill>
                  <a:srgbClr val="556175"/>
                </a:solidFill>
                <a:latin typeface="맑은 고딕"/>
                <a:ea typeface="맑은 고딕"/>
                <a:cs typeface="맑은 고딕"/>
              </a:rPr>
              <a:t>사유를 적고 거절한다</a:t>
            </a:r>
          </a:p>
        </p:txBody>
      </p:sp>
      <p:sp>
        <p:nvSpPr>
          <p:cNvPr id="9" name="TextBox 8"/>
          <p:cNvSpPr txBox="1"/>
          <p:nvPr/>
        </p:nvSpPr>
        <p:spPr>
          <a:xfrm>
            <a:off x="1219303" y="5102306"/>
            <a:ext cx="2290993"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Then</a:t>
            </a:r>
          </a:p>
          <a:p>
            <a:pPr algn="ctr" eaLnBrk="0">
              <a:lnSpc>
                <a:spcPct val="110000"/>
              </a:lnSpc>
              <a:spcAft>
                <a:spcPts val="100"/>
              </a:spcAft>
            </a:pPr>
            <a:r>
              <a:rPr sz="1100" b="0">
                <a:solidFill>
                  <a:srgbClr val="556175"/>
                </a:solidFill>
                <a:latin typeface="맑은 고딕"/>
                <a:ea typeface="맑은 고딕"/>
                <a:cs typeface="맑은 고딕"/>
              </a:rPr>
              <a:t>명령 0건, 거절로 종료</a:t>
            </a:r>
          </a:p>
        </p:txBody>
      </p:sp>
      <p:sp>
        <p:nvSpPr>
          <p:cNvPr id="10" name="TextBox 9"/>
          <p:cNvSpPr txBox="1"/>
          <p:nvPr/>
        </p:nvSpPr>
        <p:spPr>
          <a:xfrm>
            <a:off x="5768562" y="2478572"/>
            <a:ext cx="174551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준비할 입력</a:t>
            </a:r>
          </a:p>
          <a:p>
            <a:pPr algn="ctr" eaLnBrk="0">
              <a:lnSpc>
                <a:spcPct val="110000"/>
              </a:lnSpc>
              <a:spcAft>
                <a:spcPts val="100"/>
              </a:spcAft>
            </a:pPr>
            <a:r>
              <a:rPr sz="1100" b="0">
                <a:solidFill>
                  <a:srgbClr val="556175"/>
                </a:solidFill>
                <a:latin typeface="맑은 고딕"/>
                <a:ea typeface="맑은 고딕"/>
                <a:cs typeface="맑은 고딕"/>
              </a:rPr>
              <a:t>고정한 경보와 값</a:t>
            </a:r>
          </a:p>
        </p:txBody>
      </p:sp>
      <p:sp>
        <p:nvSpPr>
          <p:cNvPr id="11" name="TextBox 10"/>
          <p:cNvSpPr txBox="1"/>
          <p:nvPr/>
        </p:nvSpPr>
        <p:spPr>
          <a:xfrm>
            <a:off x="4426694" y="43931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실행할 행동</a:t>
            </a:r>
          </a:p>
        </p:txBody>
      </p:sp>
      <p:sp>
        <p:nvSpPr>
          <p:cNvPr id="12" name="TextBox 11"/>
          <p:cNvSpPr txBox="1"/>
          <p:nvPr/>
        </p:nvSpPr>
        <p:spPr>
          <a:xfrm>
            <a:off x="4426694" y="5693237"/>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견줄 기대값</a:t>
            </a:r>
          </a:p>
        </p:txBody>
      </p:sp>
      <p:sp>
        <p:nvSpPr>
          <p:cNvPr id="13" name="TextBox 12"/>
          <p:cNvSpPr txBox="1"/>
          <p:nvPr/>
        </p:nvSpPr>
        <p:spPr>
          <a:xfrm>
            <a:off x="6608593" y="3187689"/>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실제 결과</a:t>
            </a:r>
          </a:p>
        </p:txBody>
      </p:sp>
      <p:sp>
        <p:nvSpPr>
          <p:cNvPr id="14" name="TextBox 13"/>
          <p:cNvSpPr txBox="1"/>
          <p:nvPr/>
        </p:nvSpPr>
        <p:spPr>
          <a:xfrm>
            <a:off x="6641322" y="5385953"/>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대조</a:t>
            </a:r>
          </a:p>
          <a:p>
            <a:pPr algn="ctr" eaLnBrk="0">
              <a:lnSpc>
                <a:spcPct val="110000"/>
              </a:lnSpc>
              <a:spcAft>
                <a:spcPts val="100"/>
              </a:spcAft>
            </a:pPr>
            <a:r>
              <a:rPr sz="1100" b="0">
                <a:solidFill>
                  <a:srgbClr val="556175"/>
                </a:solidFill>
                <a:latin typeface="맑은 고딕"/>
                <a:ea typeface="맑은 고딕"/>
                <a:cs typeface="맑은 고딕"/>
              </a:rPr>
              <a:t>기대값과 실제 결과</a:t>
            </a:r>
          </a:p>
        </p:txBody>
      </p:sp>
      <p:sp>
        <p:nvSpPr>
          <p:cNvPr id="15" name="TextBox 14"/>
          <p:cNvSpPr txBox="1"/>
          <p:nvPr/>
        </p:nvSpPr>
        <p:spPr>
          <a:xfrm>
            <a:off x="9772347" y="4251365"/>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통과</a:t>
            </a:r>
          </a:p>
        </p:txBody>
      </p:sp>
      <p:sp>
        <p:nvSpPr>
          <p:cNvPr id="16" name="TextBox 15"/>
          <p:cNvSpPr txBox="1"/>
          <p:nvPr/>
        </p:nvSpPr>
        <p:spPr>
          <a:xfrm>
            <a:off x="9390515" y="5754694"/>
            <a:ext cx="207280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실패</a:t>
            </a:r>
          </a:p>
          <a:p>
            <a:pPr algn="ctr" eaLnBrk="0">
              <a:lnSpc>
                <a:spcPct val="110000"/>
              </a:lnSpc>
              <a:spcAft>
                <a:spcPts val="100"/>
              </a:spcAft>
            </a:pPr>
            <a:r>
              <a:rPr sz="1100" b="0">
                <a:solidFill>
                  <a:srgbClr val="556175"/>
                </a:solidFill>
                <a:latin typeface="맑은 고딕"/>
                <a:ea typeface="맑은 고딕"/>
                <a:cs typeface="맑은 고딕"/>
              </a:rPr>
              <a:t>어긋난 시나리오의 이름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단언: 기대값과 실제 결과를 대어 보는 한 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Then의 한 줄은 시험 코드에서 단언 한 줄이 되고, 단언이 하나라도 어긋나면 그 시험은 실패로 기록된다.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def test_rejection_does_nothing_to_plant_</a:t>
            </a:r>
          </a:p>
          <a:p>
            <a:pPr algn="l" eaLnBrk="0">
              <a:lnSpc>
                <a:spcPct val="110000"/>
              </a:lnSpc>
              <a:spcAft>
                <a:spcPts val="200"/>
              </a:spcAft>
            </a:pPr>
            <a:r>
              <a:rPr sz="1300" b="0">
                <a:solidFill>
                  <a:srgbClr val="E8EEF6"/>
                </a:solidFill>
                <a:latin typeface="Consolas"/>
                <a:ea typeface="맑은 고딕"/>
                <a:cs typeface="맑은 고딕"/>
              </a:rPr>
              <a:t>    or_business_and_closes_the_case_</a:t>
            </a:r>
          </a:p>
          <a:p>
            <a:pPr algn="l" eaLnBrk="0">
              <a:lnSpc>
                <a:spcPct val="110000"/>
              </a:lnSpc>
              <a:spcAft>
                <a:spcPts val="200"/>
              </a:spcAft>
            </a:pPr>
            <a:r>
              <a:rPr sz="1300" b="0">
                <a:solidFill>
                  <a:srgbClr val="E8EEF6"/>
                </a:solidFill>
                <a:latin typeface="Consolas"/>
                <a:ea typeface="맑은 고딕"/>
                <a:cs typeface="맑은 고딕"/>
              </a:rPr>
              <a:t>    as_rejected(world, did):</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rt.reject_card(</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inc.cmd_id is None and out.calls == []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assert (v["approval"], v["approval_reason"]) ==</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시험 이름</a:t>
            </a:r>
          </a:p>
          <a:p>
            <a:pPr algn="l" eaLnBrk="0">
              <a:lnSpc>
                <a:spcPct val="110000"/>
              </a:lnSpc>
              <a:spcAft>
                <a:spcPts val="400"/>
              </a:spcAft>
            </a:pPr>
            <a:r>
              <a:rPr sz="1400" b="0">
                <a:solidFill>
                  <a:srgbClr val="1F2A3A"/>
                </a:solidFill>
                <a:latin typeface="맑은 고딕"/>
                <a:ea typeface="맑은 고딕"/>
                <a:cs typeface="맑은 고딕"/>
              </a:rPr>
              <a:t>거절은 설비와 업무에 아무 일도 하지 않고 처리 건을 거절로 닫는다는 시나리오 문장이다.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reject_card</a:t>
            </a:r>
          </a:p>
          <a:p>
            <a:pPr algn="l" eaLnBrk="0">
              <a:lnSpc>
                <a:spcPct val="110000"/>
              </a:lnSpc>
              <a:spcAft>
                <a:spcPts val="400"/>
              </a:spcAft>
            </a:pPr>
            <a:r>
              <a:rPr sz="1400" b="0">
                <a:solidFill>
                  <a:srgbClr val="1F2A3A"/>
                </a:solidFill>
                <a:latin typeface="맑은 고딕"/>
                <a:ea typeface="맑은 고딕"/>
                <a:cs typeface="맑은 고딕"/>
              </a:rPr>
              <a:t>When이다. 사유를 넣어 거절을 실행한다.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assert</a:t>
            </a:r>
          </a:p>
          <a:p>
            <a:pPr algn="l" eaLnBrk="0">
              <a:lnSpc>
                <a:spcPct val="110000"/>
              </a:lnSpc>
              <a:spcAft>
                <a:spcPts val="400"/>
              </a:spcAft>
            </a:pPr>
            <a:r>
              <a:rPr sz="1400" b="0">
                <a:solidFill>
                  <a:srgbClr val="1F2A3A"/>
                </a:solidFill>
                <a:latin typeface="맑은 고딕"/>
                <a:ea typeface="맑은 고딕"/>
                <a:cs typeface="맑은 고딕"/>
              </a:rPr>
              <a:t>단언(Assertion)이다. 뒤의 식이 참이 아니면 시험이 실패한다.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두 단언</a:t>
            </a:r>
          </a:p>
          <a:p>
            <a:pPr algn="l" eaLnBrk="0">
              <a:lnSpc>
                <a:spcPct val="110000"/>
              </a:lnSpc>
              <a:spcAft>
                <a:spcPts val="400"/>
              </a:spcAft>
            </a:pPr>
            <a:r>
              <a:rPr sz="1400" b="0">
                <a:solidFill>
                  <a:srgbClr val="1F2A3A"/>
                </a:solidFill>
                <a:latin typeface="맑은 고딕"/>
                <a:ea typeface="맑은 고딕"/>
                <a:cs typeface="맑은 고딕"/>
              </a:rPr>
              <a:t>명령 번호가 없고 업무 처리 목록이 비어 있다. 승인 값은 「반려」이고 사유가 남는다.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시험 이름으로 읽는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단계의 시험은 이름이 시나리오 문장이어서, 실패한 시험의 이름만 보아도 어느 행동이 깨졌는지를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전제와 행동</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시험 이름</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기대 결과</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승인한다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approval_carries_the_approval_value_and_the_case_is_processed …</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값이 실리고</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사유를 적고 거절한다</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rejection_does_nothing_to_plant_or_business_and_closes_the_case …</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명령과 업무 처리 0건,</a:t>
            </a:r>
          </a:p>
          <a:p>
            <a:pPr algn="l" eaLnBrk="0">
              <a:lnSpc>
                <a:spcPct val="110000"/>
              </a:lnSpc>
            </a:pPr>
            <a:r>
              <a:rPr sz="1250" b="1">
                <a:solidFill>
                  <a:srgbClr val="556175"/>
                </a:solidFill>
                <a:latin typeface="맑은 고딕"/>
                <a:ea typeface="맑은 고딕"/>
                <a:cs typeface="맑은 고딕"/>
              </a:rPr>
              <a:t>거절로 종료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거절한다</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a_rejection_needs_a_reason_and_a_role_that_may_approve_the_card</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거절이</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지연 알림 뒤에 승인한다</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the_person_can_still_approve_after_the_overdue_notice</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승인이</a:t>
            </a:r>
          </a:p>
          <a:p>
            <a:pPr algn="l" eaLnBrk="0">
              <a:lnSpc>
                <a:spcPct val="110000"/>
              </a:lnSpc>
            </a:pPr>
            <a:r>
              <a:rPr sz="1250" b="1">
                <a:solidFill>
                  <a:srgbClr val="556175"/>
                </a:solidFill>
                <a:latin typeface="맑은 고딕"/>
                <a:ea typeface="맑은 고딕"/>
                <a:cs typeface="맑은 고딕"/>
              </a:rPr>
              <a:t>정상 처리된다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시나리오가 확인하는 것은 한 경우이다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단계 하나에서도 결과가 네 갈래로 갈리며, 갈래마다 시나리오가 따로 있어야 빠지는 경우가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삽화:갈래.svg" descr="illust_465038091232778567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224220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단계</a:t>
            </a:r>
          </a:p>
          <a:p>
            <a:pPr algn="ctr" eaLnBrk="0">
              <a:lnSpc>
                <a:spcPct val="110000"/>
              </a:lnSpc>
              <a:spcAft>
                <a:spcPts val="100"/>
              </a:spcAft>
            </a:pPr>
            <a:r>
              <a:rPr sz="1300" b="0">
                <a:solidFill>
                  <a:srgbClr val="556175"/>
                </a:solidFill>
                <a:latin typeface="맑은 고딕"/>
                <a:ea typeface="맑은 고딕"/>
                <a:cs typeface="맑은 고딕"/>
              </a:rPr>
              <a:t>추천안과 담당자</a:t>
            </a:r>
          </a:p>
        </p:txBody>
      </p:sp>
      <p:sp>
        <p:nvSpPr>
          <p:cNvPr id="8" name="TextBox 7"/>
          <p:cNvSpPr txBox="1"/>
          <p:nvPr/>
        </p:nvSpPr>
        <p:spPr>
          <a:xfrm>
            <a:off x="4786708" y="26440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4786708" y="375498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0" name="TextBox 9"/>
          <p:cNvSpPr txBox="1"/>
          <p:nvPr/>
        </p:nvSpPr>
        <p:spPr>
          <a:xfrm>
            <a:off x="4786708" y="486593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무응답</a:t>
            </a:r>
          </a:p>
        </p:txBody>
      </p:sp>
      <p:sp>
        <p:nvSpPr>
          <p:cNvPr id="11" name="TextBox 10"/>
          <p:cNvSpPr txBox="1"/>
          <p:nvPr/>
        </p:nvSpPr>
        <p:spPr>
          <a:xfrm>
            <a:off x="4241233" y="5953246"/>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사유 없음 · 권한 없음</a:t>
            </a:r>
          </a:p>
        </p:txBody>
      </p:sp>
      <p:sp>
        <p:nvSpPr>
          <p:cNvPr id="12" name="TextBox 11"/>
          <p:cNvSpPr txBox="1"/>
          <p:nvPr/>
        </p:nvSpPr>
        <p:spPr>
          <a:xfrm>
            <a:off x="8005009" y="20294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 생성</a:t>
            </a:r>
          </a:p>
          <a:p>
            <a:pPr algn="ctr" eaLnBrk="0">
              <a:lnSpc>
                <a:spcPct val="110000"/>
              </a:lnSpc>
              <a:spcAft>
                <a:spcPts val="100"/>
              </a:spcAft>
            </a:pPr>
            <a:r>
              <a:rPr sz="1300" b="0">
                <a:solidFill>
                  <a:srgbClr val="556175"/>
                </a:solidFill>
                <a:latin typeface="맑은 고딕"/>
                <a:ea typeface="맑은 고딕"/>
                <a:cs typeface="맑은 고딕"/>
              </a:rPr>
              <a:t>처리 건이 끝까지 간다</a:t>
            </a:r>
          </a:p>
        </p:txBody>
      </p:sp>
      <p:sp>
        <p:nvSpPr>
          <p:cNvPr id="13" name="TextBox 12"/>
          <p:cNvSpPr txBox="1"/>
          <p:nvPr/>
        </p:nvSpPr>
        <p:spPr>
          <a:xfrm>
            <a:off x="8005009" y="31404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 업무 처리 0건</a:t>
            </a:r>
          </a:p>
          <a:p>
            <a:pPr algn="ctr" eaLnBrk="0">
              <a:lnSpc>
                <a:spcPct val="110000"/>
              </a:lnSpc>
              <a:spcAft>
                <a:spcPts val="100"/>
              </a:spcAft>
            </a:pPr>
            <a:r>
              <a:rPr sz="1300" b="0">
                <a:solidFill>
                  <a:srgbClr val="556175"/>
                </a:solidFill>
                <a:latin typeface="맑은 고딕"/>
                <a:ea typeface="맑은 고딕"/>
                <a:cs typeface="맑은 고딕"/>
              </a:rPr>
              <a:t>처리 건은 거절로 종료</a:t>
            </a:r>
          </a:p>
        </p:txBody>
      </p:sp>
      <p:sp>
        <p:nvSpPr>
          <p:cNvPr id="14" name="TextBox 13"/>
          <p:cNvSpPr txBox="1"/>
          <p:nvPr/>
        </p:nvSpPr>
        <p:spPr>
          <a:xfrm>
            <a:off x="8005009" y="425136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지연 알림</a:t>
            </a:r>
          </a:p>
          <a:p>
            <a:pPr algn="ctr" eaLnBrk="0">
              <a:lnSpc>
                <a:spcPct val="110000"/>
              </a:lnSpc>
              <a:spcAft>
                <a:spcPts val="100"/>
              </a:spcAft>
            </a:pPr>
            <a:r>
              <a:rPr sz="1300" b="0">
                <a:solidFill>
                  <a:srgbClr val="556175"/>
                </a:solidFill>
                <a:latin typeface="맑은 고딕"/>
                <a:ea typeface="맑은 고딕"/>
                <a:cs typeface="맑은 고딕"/>
              </a:rPr>
              <a:t>처리 건은 계속 대기</a:t>
            </a:r>
          </a:p>
        </p:txBody>
      </p:sp>
      <p:sp>
        <p:nvSpPr>
          <p:cNvPr id="15" name="TextBox 14"/>
          <p:cNvSpPr txBox="1"/>
          <p:nvPr/>
        </p:nvSpPr>
        <p:spPr>
          <a:xfrm>
            <a:off x="8005009" y="5362315"/>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요청 거부</a:t>
            </a:r>
          </a:p>
          <a:p>
            <a:pPr algn="ctr" eaLnBrk="0">
              <a:lnSpc>
                <a:spcPct val="110000"/>
              </a:lnSpc>
              <a:spcAft>
                <a:spcPts val="100"/>
              </a:spcAft>
            </a:pPr>
            <a:r>
              <a:rPr sz="1300" b="0">
                <a:solidFill>
                  <a:srgbClr val="556175"/>
                </a:solidFill>
                <a:latin typeface="맑은 고딕"/>
                <a:ea typeface="맑은 고딕"/>
                <a:cs typeface="맑은 고딕"/>
              </a:rPr>
              <a:t>승인 단계는 열린 채 유지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종류의 시험: 정상, 경계, 예외, 회귀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종류는 확인하는 대상이 달라서 정상은 기본 경로를, 경계는 기준값 근처를, 예외는 실패를, 회귀는 변경 뒤를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종류</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확인하는 것</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승인 단계의 시나리오</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정상</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기본 경로가 끝까지 가는가</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승인하면 처리 건이</a:t>
            </a:r>
          </a:p>
          <a:p>
            <a:pPr algn="l" eaLnBrk="0">
              <a:lnSpc>
                <a:spcPct val="110000"/>
              </a:lnSpc>
            </a:pPr>
            <a:r>
              <a:rPr sz="1250" b="1">
                <a:solidFill>
                  <a:srgbClr val="556175"/>
                </a:solidFill>
                <a:latin typeface="맑은 고딕"/>
                <a:ea typeface="맑은 고딕"/>
                <a:cs typeface="맑은 고딕"/>
              </a:rPr>
              <a:t>끝까지 처리된다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경계</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기준값의 바로 안팎에서 판정이 맞는가</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10분을 넘긴 직후</a:t>
            </a:r>
          </a:p>
          <a:p>
            <a:pPr algn="l" eaLnBrk="0">
              <a:lnSpc>
                <a:spcPct val="110000"/>
              </a:lnSpc>
            </a:pPr>
            <a:r>
              <a:rPr sz="1250" b="1">
                <a:solidFill>
                  <a:srgbClr val="556175"/>
                </a:solidFill>
                <a:latin typeface="맑은 고딕"/>
                <a:ea typeface="맑은 고딕"/>
                <a:cs typeface="맑은 고딕"/>
              </a:rPr>
              <a:t>알림만 나가고 기다린다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예외</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누락, 오류를 정한 대로 다루는가</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 없는 거절은</a:t>
            </a:r>
          </a:p>
          <a:p>
            <a:pPr algn="l" eaLnBrk="0">
              <a:lnSpc>
                <a:spcPct val="110000"/>
              </a:lnSpc>
            </a:pPr>
            <a:r>
              <a:rPr sz="1250" b="1">
                <a:solidFill>
                  <a:srgbClr val="556175"/>
                </a:solidFill>
                <a:latin typeface="맑은 고딕"/>
                <a:ea typeface="맑은 고딕"/>
                <a:cs typeface="맑은 고딕"/>
              </a:rPr>
              <a:t>받아들여지지 않는다</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바꾼 뒤에도 기존 행동이 그대로인가</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긴급 조건을 더한 뒤에도</a:t>
            </a:r>
          </a:p>
          <a:p>
            <a:pPr algn="l" eaLnBrk="0">
              <a:lnSpc>
                <a:spcPct val="110000"/>
              </a:lnSpc>
            </a:pPr>
            <a:r>
              <a:rPr sz="1250" b="1">
                <a:solidFill>
                  <a:srgbClr val="1A6FC4"/>
                </a:solidFill>
                <a:latin typeface="맑은 고딕"/>
                <a:ea typeface="맑은 고딕"/>
                <a:cs typeface="맑은 고딕"/>
              </a:rPr>
              <a:t>거절하면 명령 0건이다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경계값 분석: 기준값의 바로 안쪽과 바깥쪽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회복 기준인 유온 55 ℃ 미만은 54.9 ℃와 55.0 ℃ 사이에서 판정이 갈리며, 경계 시험은 그 두 값을 입력으로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경계값.svg" descr="illust_8174096269502018379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32094" y="2714945"/>
            <a:ext cx="370922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회복 기준을 충족하는 구간</a:t>
            </a:r>
          </a:p>
          <a:p>
            <a:pPr algn="ctr" eaLnBrk="0">
              <a:lnSpc>
                <a:spcPct val="110000"/>
              </a:lnSpc>
              <a:spcAft>
                <a:spcPts val="100"/>
              </a:spcAft>
            </a:pPr>
            <a:r>
              <a:rPr sz="1300" b="0">
                <a:solidFill>
                  <a:srgbClr val="556175"/>
                </a:solidFill>
                <a:latin typeface="맑은 고딕"/>
                <a:ea typeface="맑은 고딕"/>
                <a:cs typeface="맑은 고딕"/>
              </a:rPr>
              <a:t>유온 55 ℃ 미만</a:t>
            </a:r>
          </a:p>
        </p:txBody>
      </p:sp>
      <p:sp>
        <p:nvSpPr>
          <p:cNvPr id="8" name="TextBox 7"/>
          <p:cNvSpPr txBox="1"/>
          <p:nvPr/>
        </p:nvSpPr>
        <p:spPr>
          <a:xfrm>
            <a:off x="7154068" y="219492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기준값</a:t>
            </a:r>
          </a:p>
        </p:txBody>
      </p:sp>
      <p:sp>
        <p:nvSpPr>
          <p:cNvPr id="9" name="TextBox 8"/>
          <p:cNvSpPr txBox="1"/>
          <p:nvPr/>
        </p:nvSpPr>
        <p:spPr>
          <a:xfrm>
            <a:off x="8823221" y="2714945"/>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충족하지 않는 구간</a:t>
            </a:r>
          </a:p>
        </p:txBody>
      </p:sp>
      <p:sp>
        <p:nvSpPr>
          <p:cNvPr id="10" name="TextBox 9"/>
          <p:cNvSpPr txBox="1"/>
          <p:nvPr/>
        </p:nvSpPr>
        <p:spPr>
          <a:xfrm>
            <a:off x="2473895" y="4629561"/>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51.5 ℃</a:t>
            </a:r>
          </a:p>
          <a:p>
            <a:pPr algn="ctr" eaLnBrk="0">
              <a:lnSpc>
                <a:spcPct val="110000"/>
              </a:lnSpc>
              <a:spcAft>
                <a:spcPts val="100"/>
              </a:spcAft>
            </a:pPr>
            <a:r>
              <a:rPr sz="1300" b="0">
                <a:solidFill>
                  <a:srgbClr val="556175"/>
                </a:solidFill>
                <a:latin typeface="맑은 고딕"/>
                <a:ea typeface="맑은 고딕"/>
                <a:cs typeface="맑은 고딕"/>
              </a:rPr>
              <a:t>실제 사건의 값</a:t>
            </a:r>
          </a:p>
        </p:txBody>
      </p:sp>
      <p:sp>
        <p:nvSpPr>
          <p:cNvPr id="11" name="TextBox 10"/>
          <p:cNvSpPr txBox="1"/>
          <p:nvPr/>
        </p:nvSpPr>
        <p:spPr>
          <a:xfrm>
            <a:off x="5899476"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54.9 ℃</a:t>
            </a:r>
          </a:p>
          <a:p>
            <a:pPr algn="ctr" eaLnBrk="0">
              <a:lnSpc>
                <a:spcPct val="110000"/>
              </a:lnSpc>
              <a:spcAft>
                <a:spcPts val="100"/>
              </a:spcAft>
            </a:pPr>
            <a:r>
              <a:rPr sz="1300" b="0">
                <a:solidFill>
                  <a:srgbClr val="556175"/>
                </a:solidFill>
                <a:latin typeface="맑은 고딕"/>
                <a:ea typeface="맑은 고딕"/>
                <a:cs typeface="맑은 고딕"/>
              </a:rPr>
              <a:t>바로 안쪽</a:t>
            </a:r>
          </a:p>
        </p:txBody>
      </p:sp>
      <p:sp>
        <p:nvSpPr>
          <p:cNvPr id="12" name="TextBox 11"/>
          <p:cNvSpPr txBox="1"/>
          <p:nvPr/>
        </p:nvSpPr>
        <p:spPr>
          <a:xfrm>
            <a:off x="7263163" y="4629561"/>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55.0 ℃</a:t>
            </a:r>
          </a:p>
          <a:p>
            <a:pPr algn="ctr" eaLnBrk="0">
              <a:lnSpc>
                <a:spcPct val="110000"/>
              </a:lnSpc>
              <a:spcAft>
                <a:spcPts val="100"/>
              </a:spcAft>
            </a:pPr>
            <a:r>
              <a:rPr sz="1300" b="0">
                <a:solidFill>
                  <a:srgbClr val="556175"/>
                </a:solidFill>
                <a:latin typeface="맑은 고딕"/>
                <a:ea typeface="맑은 고딕"/>
                <a:cs typeface="맑은 고딕"/>
              </a:rPr>
              <a:t>기준값</a:t>
            </a:r>
          </a:p>
        </p:txBody>
      </p:sp>
      <p:sp>
        <p:nvSpPr>
          <p:cNvPr id="13" name="TextBox 12"/>
          <p:cNvSpPr txBox="1"/>
          <p:nvPr/>
        </p:nvSpPr>
        <p:spPr>
          <a:xfrm>
            <a:off x="8626850" y="4629561"/>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55.1 ℃</a:t>
            </a:r>
          </a:p>
          <a:p>
            <a:pPr algn="ctr" eaLnBrk="0">
              <a:lnSpc>
                <a:spcPct val="110000"/>
              </a:lnSpc>
              <a:spcAft>
                <a:spcPts val="100"/>
              </a:spcAft>
            </a:pPr>
            <a:r>
              <a:rPr sz="1300" b="0">
                <a:solidFill>
                  <a:srgbClr val="556175"/>
                </a:solidFill>
                <a:latin typeface="맑은 고딕"/>
                <a:ea typeface="맑은 고딕"/>
                <a:cs typeface="맑은 고딕"/>
              </a:rPr>
              <a:t>바로 바깥쪽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시간의 경계: 승인 지연 시간의 직전과 직후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지연 시간 10분의 직전과 직후에서 행동이 달라지고, 넘긴 뒤에도 처리 건이 닫히지 않는 것까지가 기대 결과이다.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10분이 되기 직전</a:t>
            </a:r>
          </a:p>
          <a:p>
            <a:pPr algn="ctr" eaLnBrk="0">
              <a:lnSpc>
                <a:spcPct val="110000"/>
              </a:lnSpc>
              <a:spcAft>
                <a:spcPts val="400"/>
              </a:spcAft>
            </a:pPr>
            <a:r>
              <a:rPr sz="1650" b="0">
                <a:solidFill>
                  <a:srgbClr val="1F2A3A"/>
                </a:solidFill>
                <a:latin typeface="맑은 고딕"/>
                <a:ea typeface="맑은 고딕"/>
                <a:cs typeface="맑은 고딕"/>
              </a:rPr>
              <a:t>지연 알림이</a:t>
            </a:r>
          </a:p>
          <a:p>
            <a:pPr algn="ctr" eaLnBrk="0">
              <a:lnSpc>
                <a:spcPct val="110000"/>
              </a:lnSpc>
              <a:spcAft>
                <a:spcPts val="400"/>
              </a:spcAft>
            </a:pPr>
            <a:r>
              <a:rPr sz="1650" b="0">
                <a:solidFill>
                  <a:srgbClr val="1F2A3A"/>
                </a:solidFill>
                <a:latin typeface="맑은 고딕"/>
                <a:ea typeface="맑은 고딕"/>
                <a:cs typeface="맑은 고딕"/>
              </a:rPr>
              <a:t>아직 나가지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98559"/>
            <a:ext cx="731520" cy="731520"/>
          </a:xfrm>
          <a:prstGeom prst="ellipse">
            <a:avLst/>
          </a:prstGeom>
          <a:solidFill>
            <a:srgbClr val="5CB8F2"/>
          </a:solidFill>
          <a:ln>
            <a:noFill/>
          </a:ln>
        </p:spPr>
        <p:txBody>
          <a:bodyPr rtlCol="0" anchor="ctr"/>
          <a:lstStyle/>
          <a:p>
            <a:pPr algn="ctr"/>
          </a:p>
        </p:txBody>
      </p:sp>
      <p:pic>
        <p:nvPicPr>
          <p:cNvPr id="13" name="아이콘:bell" descr="bell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10분을 넘긴 직후</a:t>
            </a:r>
          </a:p>
          <a:p>
            <a:pPr algn="ctr" eaLnBrk="0">
              <a:lnSpc>
                <a:spcPct val="110000"/>
              </a:lnSpc>
              <a:spcAft>
                <a:spcPts val="400"/>
              </a:spcAft>
            </a:pPr>
            <a:r>
              <a:rPr sz="1650" b="0">
                <a:solidFill>
                  <a:srgbClr val="1F2A3A"/>
                </a:solidFill>
                <a:latin typeface="맑은 고딕"/>
                <a:ea typeface="맑은 고딕"/>
                <a:cs typeface="맑은 고딕"/>
              </a:rPr>
              <a:t>「승인 지연」 알림이</a:t>
            </a:r>
          </a:p>
          <a:p>
            <a:pPr algn="ctr" eaLnBrk="0">
              <a:lnSpc>
                <a:spcPct val="110000"/>
              </a:lnSpc>
              <a:spcAft>
                <a:spcPts val="400"/>
              </a:spcAft>
            </a:pPr>
            <a:r>
              <a:rPr sz="1650" b="0">
                <a:solidFill>
                  <a:srgbClr val="1F2A3A"/>
                </a:solidFill>
                <a:latin typeface="맑은 고딕"/>
                <a:ea typeface="맑은 고딕"/>
                <a:cs typeface="맑은 고딕"/>
              </a:rPr>
              <a:t>나간다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hourglass" descr="hourglass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알림이 나간 뒤</a:t>
            </a:r>
          </a:p>
          <a:p>
            <a:pPr algn="ctr" eaLnBrk="0">
              <a:lnSpc>
                <a:spcPct val="110000"/>
              </a:lnSpc>
              <a:spcAft>
                <a:spcPts val="400"/>
              </a:spcAft>
            </a:pPr>
            <a:r>
              <a:rPr sz="1650" b="0">
                <a:solidFill>
                  <a:srgbClr val="1F2A3A"/>
                </a:solidFill>
                <a:latin typeface="맑은 고딕"/>
                <a:ea typeface="맑은 고딕"/>
                <a:cs typeface="맑은 고딕"/>
              </a:rPr>
              <a:t>승인 단계는 열려 있고</a:t>
            </a:r>
          </a:p>
          <a:p>
            <a:pPr algn="ctr" eaLnBrk="0">
              <a:lnSpc>
                <a:spcPct val="110000"/>
              </a:lnSpc>
              <a:spcAft>
                <a:spcPts val="400"/>
              </a:spcAft>
            </a:pPr>
            <a:r>
              <a:rPr sz="1650" b="0">
                <a:solidFill>
                  <a:srgbClr val="1F2A3A"/>
                </a:solidFill>
                <a:latin typeface="맑은 고딕"/>
                <a:ea typeface="맑은 고딕"/>
                <a:cs typeface="맑은 고딕"/>
              </a:rPr>
              <a:t>처리 건은 계속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뒤늦은 승인</a:t>
            </a:r>
          </a:p>
          <a:p>
            <a:pPr algn="ctr" eaLnBrk="0">
              <a:lnSpc>
                <a:spcPct val="110000"/>
              </a:lnSpc>
              <a:spcAft>
                <a:spcPts val="400"/>
              </a:spcAft>
            </a:pPr>
            <a:r>
              <a:rPr sz="1650" b="0">
                <a:solidFill>
                  <a:srgbClr val="1F2A3A"/>
                </a:solidFill>
                <a:latin typeface="맑은 고딕"/>
                <a:ea typeface="맑은 고딕"/>
                <a:cs typeface="맑은 고딕"/>
              </a:rPr>
              <a:t>정상으로 처리되어</a:t>
            </a:r>
          </a:p>
          <a:p>
            <a:pPr algn="ctr" eaLnBrk="0">
              <a:lnSpc>
                <a:spcPct val="110000"/>
              </a:lnSpc>
              <a:spcAft>
                <a:spcPts val="400"/>
              </a:spcAft>
            </a:pPr>
            <a:r>
              <a:rPr sz="1650" b="0">
                <a:solidFill>
                  <a:srgbClr val="1F2A3A"/>
                </a:solidFill>
                <a:latin typeface="맑은 고딕"/>
                <a:ea typeface="맑은 고딕"/>
                <a:cs typeface="맑은 고딕"/>
              </a:rPr>
              <a:t>끝까지 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예외 시험: 잘못되었을 때 정한 대로 행동하는가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예외 시험은 일이 잘못되었을 때 실패로 적거나 보류하거나 묻는 것처럼 미리 정한 행동이 나오는지를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29446"/>
            <a:ext cx="2567863" cy="312381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630614"/>
            <a:ext cx="731520" cy="731520"/>
          </a:xfrm>
          <a:prstGeom prst="ellipse">
            <a:avLst/>
          </a:prstGeom>
          <a:solidFill>
            <a:srgbClr val="5CB8F2"/>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30859" y="2784233"/>
            <a:ext cx="424281" cy="424281"/>
          </a:xfrm>
          <a:prstGeom prst="rect">
            <a:avLst/>
          </a:prstGeom>
        </p:spPr>
      </p:pic>
      <p:sp>
        <p:nvSpPr>
          <p:cNvPr id="9" name="TextBox 8"/>
          <p:cNvSpPr txBox="1"/>
          <p:nvPr/>
        </p:nvSpPr>
        <p:spPr>
          <a:xfrm>
            <a:off x="713232"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도구 오류</a:t>
            </a:r>
          </a:p>
          <a:p>
            <a:pPr algn="l" eaLnBrk="0" marL="165735" indent="-165735">
              <a:lnSpc>
                <a:spcPct val="110000"/>
              </a:lnSpc>
              <a:spcAft>
                <a:spcPts val="400"/>
              </a:spcAft>
            </a:pPr>
            <a:r>
              <a:rPr sz="1450" b="0">
                <a:solidFill>
                  <a:srgbClr val="1F2A3A"/>
                </a:solidFill>
                <a:latin typeface="맑은 고딕"/>
                <a:ea typeface="맑은 고딕"/>
                <a:cs typeface="맑은 고딕"/>
              </a:rPr>
              <a:t>• 도구가 오류를 돌려준다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실패로 적고 값을 채우지 않는다</a:t>
            </a:r>
          </a:p>
        </p:txBody>
      </p:sp>
      <p:sp>
        <p:nvSpPr>
          <p:cNvPr id="10" name="Rounded Rectangle 9"/>
          <p:cNvSpPr/>
          <p:nvPr/>
        </p:nvSpPr>
        <p:spPr>
          <a:xfrm>
            <a:off x="777240" y="5123497"/>
            <a:ext cx="1325879"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123497"/>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실패로 적는다</a:t>
            </a:r>
          </a:p>
        </p:txBody>
      </p:sp>
      <p:sp>
        <p:nvSpPr>
          <p:cNvPr id="12" name="Rounded Rectangle 11"/>
          <p:cNvSpPr/>
          <p:nvPr/>
        </p:nvSpPr>
        <p:spPr>
          <a:xfrm>
            <a:off x="3390823"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30614"/>
            <a:ext cx="731520" cy="731520"/>
          </a:xfrm>
          <a:prstGeom prst="ellipse">
            <a:avLst/>
          </a:prstGeom>
          <a:solidFill>
            <a:srgbClr val="E7F3FD"/>
          </a:solidFill>
          <a:ln>
            <a:noFill/>
          </a:ln>
        </p:spPr>
        <p:txBody>
          <a:bodyPr rtlCol="0" anchor="ctr"/>
          <a:lstStyle/>
          <a:p>
            <a:pPr algn="ctr"/>
          </a:p>
        </p:txBody>
      </p:sp>
      <p:pic>
        <p:nvPicPr>
          <p:cNvPr id="14" name="아이콘:hand-stop" descr="hand-stop_13294B_1.6.png"/>
          <p:cNvPicPr>
            <a:picLocks noChangeAspect="1"/>
          </p:cNvPicPr>
          <p:nvPr/>
        </p:nvPicPr>
        <p:blipFill>
          <a:blip r:embed="rId4"/>
          <a:stretch>
            <a:fillRect/>
          </a:stretch>
        </p:blipFill>
        <p:spPr>
          <a:xfrm>
            <a:off x="3773043" y="2784233"/>
            <a:ext cx="424281" cy="424281"/>
          </a:xfrm>
          <a:prstGeom prst="rect">
            <a:avLst/>
          </a:prstGeom>
        </p:spPr>
      </p:pic>
      <p:sp>
        <p:nvSpPr>
          <p:cNvPr id="15" name="TextBox 14"/>
          <p:cNvSpPr txBox="1"/>
          <p:nvPr/>
        </p:nvSpPr>
        <p:spPr>
          <a:xfrm>
            <a:off x="3555415"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근거 부족</a:t>
            </a:r>
          </a:p>
          <a:p>
            <a:pPr algn="l" eaLnBrk="0" marL="165735" indent="-165735">
              <a:lnSpc>
                <a:spcPct val="110000"/>
              </a:lnSpc>
              <a:spcAft>
                <a:spcPts val="400"/>
              </a:spcAft>
            </a:pPr>
            <a:r>
              <a:rPr sz="1450" b="0">
                <a:solidFill>
                  <a:srgbClr val="1F2A3A"/>
                </a:solidFill>
                <a:latin typeface="맑은 고딕"/>
                <a:ea typeface="맑은 고딕"/>
                <a:cs typeface="맑은 고딕"/>
              </a:rPr>
              <a:t>• 읽은 값이 60초보다 오래되었다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원인을 고르지 않고 보류로 낸다</a:t>
            </a:r>
          </a:p>
        </p:txBody>
      </p:sp>
      <p:sp>
        <p:nvSpPr>
          <p:cNvPr id="16" name="Rounded Rectangle 15"/>
          <p:cNvSpPr/>
          <p:nvPr/>
        </p:nvSpPr>
        <p:spPr>
          <a:xfrm>
            <a:off x="3619423" y="5123497"/>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보류한다</a:t>
            </a:r>
          </a:p>
        </p:txBody>
      </p:sp>
      <p:sp>
        <p:nvSpPr>
          <p:cNvPr id="18" name="Rounded Rectangle 17"/>
          <p:cNvSpPr/>
          <p:nvPr/>
        </p:nvSpPr>
        <p:spPr>
          <a:xfrm>
            <a:off x="6233007"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30614"/>
            <a:ext cx="731520" cy="731520"/>
          </a:xfrm>
          <a:prstGeom prst="ellipse">
            <a:avLst/>
          </a:prstGeom>
          <a:solidFill>
            <a:srgbClr val="E7F3FD"/>
          </a:solidFill>
          <a:ln>
            <a:noFill/>
          </a:ln>
        </p:spPr>
        <p:txBody>
          <a:bodyPr rtlCol="0" anchor="ctr"/>
          <a:lstStyle/>
          <a:p>
            <a:pPr algn="ctr"/>
          </a:p>
        </p:txBody>
      </p:sp>
      <p:pic>
        <p:nvPicPr>
          <p:cNvPr id="20" name="아이콘:help-circle" descr="help-circle_13294B_1.6.png"/>
          <p:cNvPicPr>
            <a:picLocks noChangeAspect="1"/>
          </p:cNvPicPr>
          <p:nvPr/>
        </p:nvPicPr>
        <p:blipFill>
          <a:blip r:embed="rId5"/>
          <a:stretch>
            <a:fillRect/>
          </a:stretch>
        </p:blipFill>
        <p:spPr>
          <a:xfrm>
            <a:off x="6615226" y="2784233"/>
            <a:ext cx="424281" cy="424281"/>
          </a:xfrm>
          <a:prstGeom prst="rect">
            <a:avLst/>
          </a:prstGeom>
        </p:spPr>
      </p:pic>
      <p:sp>
        <p:nvSpPr>
          <p:cNvPr id="21" name="TextBox 20"/>
          <p:cNvSpPr txBox="1"/>
          <p:nvPr/>
        </p:nvSpPr>
        <p:spPr>
          <a:xfrm>
            <a:off x="6397599"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필수 정보 누락</a:t>
            </a:r>
          </a:p>
          <a:p>
            <a:pPr algn="l" eaLnBrk="0" marL="165735" indent="-165735">
              <a:lnSpc>
                <a:spcPct val="110000"/>
              </a:lnSpc>
              <a:spcAft>
                <a:spcPts val="400"/>
              </a:spcAft>
            </a:pPr>
            <a:r>
              <a:rPr sz="1450" b="0">
                <a:solidFill>
                  <a:srgbClr val="1F2A3A"/>
                </a:solidFill>
                <a:latin typeface="맑은 고딕"/>
                <a:ea typeface="맑은 고딕"/>
                <a:cs typeface="맑은 고딕"/>
              </a:rPr>
              <a:t>• 필요한 정보가 없고 도구로도 확인할 수 없다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확정하지 않고 사람에게 묻는다</a:t>
            </a:r>
          </a:p>
        </p:txBody>
      </p:sp>
      <p:sp>
        <p:nvSpPr>
          <p:cNvPr id="22" name="Rounded Rectangle 21"/>
          <p:cNvSpPr/>
          <p:nvPr/>
        </p:nvSpPr>
        <p:spPr>
          <a:xfrm>
            <a:off x="6461607" y="512349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2349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묻는다</a:t>
            </a:r>
          </a:p>
        </p:txBody>
      </p:sp>
      <p:sp>
        <p:nvSpPr>
          <p:cNvPr id="24" name="Rounded Rectangle 23"/>
          <p:cNvSpPr/>
          <p:nvPr/>
        </p:nvSpPr>
        <p:spPr>
          <a:xfrm>
            <a:off x="9075191" y="2429446"/>
            <a:ext cx="2567863" cy="312381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630614"/>
            <a:ext cx="731520" cy="731520"/>
          </a:xfrm>
          <a:prstGeom prst="ellipse">
            <a:avLst/>
          </a:prstGeom>
          <a:solidFill>
            <a:srgbClr val="E7F3FD"/>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84233"/>
            <a:ext cx="424281" cy="424281"/>
          </a:xfrm>
          <a:prstGeom prst="rect">
            <a:avLst/>
          </a:prstGeom>
        </p:spPr>
      </p:pic>
      <p:sp>
        <p:nvSpPr>
          <p:cNvPr id="27" name="TextBox 26"/>
          <p:cNvSpPr txBox="1"/>
          <p:nvPr/>
        </p:nvSpPr>
        <p:spPr>
          <a:xfrm>
            <a:off x="9239783" y="3453574"/>
            <a:ext cx="2238679" cy="1596770"/>
          </a:xfrm>
          <a:prstGeom prst="rect">
            <a:avLst/>
          </a:prstGeom>
          <a:noFill/>
        </p:spPr>
        <p:txBody>
          <a:bodyPr wrap="square" anchor="t"/>
          <a:lstStyle/>
          <a:p>
            <a:pPr algn="l" eaLnBrk="0">
              <a:lnSpc>
                <a:spcPct val="110000"/>
              </a:lnSpc>
              <a:spcAft>
                <a:spcPts val="400"/>
              </a:spcAft>
            </a:pPr>
            <a:r>
              <a:rPr sz="1850" b="1">
                <a:solidFill>
                  <a:srgbClr val="13294B"/>
                </a:solidFill>
                <a:latin typeface="맑은 고딕"/>
                <a:ea typeface="맑은 고딕"/>
                <a:cs typeface="맑은 고딕"/>
              </a:rPr>
              <a:t>권한 없음</a:t>
            </a:r>
          </a:p>
          <a:p>
            <a:pPr algn="l" eaLnBrk="0" marL="165735" indent="-165735">
              <a:lnSpc>
                <a:spcPct val="110000"/>
              </a:lnSpc>
              <a:spcAft>
                <a:spcPts val="400"/>
              </a:spcAft>
            </a:pPr>
            <a:r>
              <a:rPr sz="1450" b="0">
                <a:solidFill>
                  <a:srgbClr val="1F2A3A"/>
                </a:solidFill>
                <a:latin typeface="맑은 고딕"/>
                <a:ea typeface="맑은 고딕"/>
                <a:cs typeface="맑은 고딕"/>
              </a:rPr>
              <a:t>• 승인 권한이 없는 역할로 요청한다</a:t>
            </a:r>
          </a:p>
          <a:p>
            <a:pPr algn="l" eaLnBrk="0" marL="165735" indent="-165735">
              <a:lnSpc>
                <a:spcPct val="110000"/>
              </a:lnSpc>
              <a:spcAft>
                <a:spcPts val="400"/>
              </a:spcAft>
            </a:pPr>
            <a:r>
              <a:rPr sz="1450" b="0">
                <a:solidFill>
                  <a:srgbClr val="1F2A3A"/>
                </a:solidFill>
                <a:latin typeface="맑은 고딕"/>
                <a:ea typeface="맑은 고딕"/>
                <a:cs typeface="맑은 고딕"/>
              </a:rPr>
              <a:t>• 기대: 요청이 거부된다</a:t>
            </a:r>
          </a:p>
        </p:txBody>
      </p:sp>
      <p:sp>
        <p:nvSpPr>
          <p:cNvPr id="28" name="Rounded Rectangle 27"/>
          <p:cNvSpPr/>
          <p:nvPr/>
        </p:nvSpPr>
        <p:spPr>
          <a:xfrm>
            <a:off x="9303791" y="5123497"/>
            <a:ext cx="9753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2349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거부한다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회귀.svg" descr="illust_557255053599744514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기존 시나리오 넷</a:t>
            </a:r>
          </a:p>
          <a:p>
            <a:pPr algn="ctr" eaLnBrk="0">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요구의 변경</a:t>
            </a:r>
          </a:p>
          <a:p>
            <a:pPr algn="ctr" eaLnBrk="0">
              <a:lnSpc>
                <a:spcPct val="110000"/>
              </a:lnSpc>
              <a:spcAft>
                <a:spcPts val="100"/>
              </a:spcAft>
            </a:pPr>
            <a:r>
              <a:rPr sz="1300" b="0">
                <a:solidFill>
                  <a:srgbClr val="556175"/>
                </a:solidFill>
                <a:latin typeface="맑은 고딕"/>
                <a:ea typeface="맑은 고딕"/>
                <a:cs typeface="맑은 고딕"/>
              </a:rPr>
              <a:t>명세에 긴급 조건 추가</a:t>
            </a:r>
          </a:p>
        </p:txBody>
      </p:sp>
      <p:sp>
        <p:nvSpPr>
          <p:cNvPr id="10" name="TextBox 9"/>
          <p:cNvSpPr txBox="1"/>
          <p:nvPr/>
        </p:nvSpPr>
        <p:spPr>
          <a:xfrm>
            <a:off x="8059556" y="2242200"/>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회귀 시험</a:t>
            </a:r>
          </a:p>
          <a:p>
            <a:pPr algn="ctr" eaLnBrk="0">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회귀 시험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회귀 기록에는 다시 실행한 시험의 수와 통과 · 건너뜀 · 실패의 수가 남아, 줄어든 수에서 깨진 항목을 찾아간다.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시험 전체</a:t>
            </a:r>
          </a:p>
          <a:p>
            <a:pPr algn="l" eaLnBrk="0" marL="188595" indent="-188595">
              <a:lnSpc>
                <a:spcPct val="110000"/>
              </a:lnSpc>
              <a:spcAft>
                <a:spcPts val="400"/>
              </a:spcAft>
            </a:pPr>
            <a:r>
              <a:rPr sz="1650" b="0">
                <a:solidFill>
                  <a:srgbClr val="1F2A3A"/>
                </a:solidFill>
                <a:latin typeface="맑은 고딕"/>
                <a:ea typeface="맑은 고딕"/>
                <a:cs typeface="맑은 고딕"/>
              </a:rPr>
              <a:t>• 2,673개 통과</a:t>
            </a:r>
          </a:p>
          <a:p>
            <a:pPr algn="l" eaLnBrk="0" marL="188595" indent="-188595">
              <a:lnSpc>
                <a:spcPct val="110000"/>
              </a:lnSpc>
              <a:spcAft>
                <a:spcPts val="400"/>
              </a:spcAft>
            </a:pPr>
            <a:r>
              <a:rPr sz="1650" b="0">
                <a:solidFill>
                  <a:srgbClr val="1F2A3A"/>
                </a:solidFill>
                <a:latin typeface="맑은 고딕"/>
                <a:ea typeface="맑은 고딕"/>
                <a:cs typeface="맑은 고딕"/>
              </a:rPr>
              <a:t>• 16개 건너뜀 · 실패 0</a:t>
            </a:r>
          </a:p>
        </p:txBody>
      </p:sp>
      <p:sp>
        <p:nvSpPr>
          <p:cNvPr id="10" name="Rounded Rectangle 9"/>
          <p:cNvSpPr/>
          <p:nvPr/>
        </p:nvSpPr>
        <p:spPr>
          <a:xfrm>
            <a:off x="777240" y="5328793"/>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전체 회귀</a:t>
            </a:r>
          </a:p>
        </p:txBody>
      </p:sp>
      <p:sp>
        <p:nvSpPr>
          <p:cNvPr id="12" name="Rounded Rectangle 11"/>
          <p:cNvSpPr/>
          <p:nvPr/>
        </p:nvSpPr>
        <p:spPr>
          <a:xfrm>
            <a:off x="4338218"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5CB8F2"/>
          </a:solidFill>
          <a:ln>
            <a:noFill/>
          </a:ln>
        </p:spPr>
        <p:txBody>
          <a:bodyPr rtlCol="0" anchor="ctr"/>
          <a:lstStyle/>
          <a:p>
            <a:pPr algn="ctr"/>
          </a:p>
        </p:txBody>
      </p:sp>
      <p:pic>
        <p:nvPicPr>
          <p:cNvPr id="14" name="아이콘:bell" descr="bell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쿨러 사건의 검사</a:t>
            </a:r>
          </a:p>
          <a:p>
            <a:pPr algn="l" eaLnBrk="0" marL="188595" indent="-188595">
              <a:lnSpc>
                <a:spcPct val="110000"/>
              </a:lnSpc>
              <a:spcAft>
                <a:spcPts val="400"/>
              </a:spcAft>
            </a:pPr>
            <a:r>
              <a:rPr sz="1650" b="0">
                <a:solidFill>
                  <a:srgbClr val="1F2A3A"/>
                </a:solidFill>
                <a:latin typeface="맑은 고딕"/>
                <a:ea typeface="맑은 고딕"/>
                <a:cs typeface="맑은 고딕"/>
              </a:rPr>
              <a:t>• 경보가 처리 건 하나를 여는가</a:t>
            </a:r>
          </a:p>
          <a:p>
            <a:pPr algn="l" eaLnBrk="0" marL="188595" indent="-188595">
              <a:lnSpc>
                <a:spcPct val="110000"/>
              </a:lnSpc>
              <a:spcAft>
                <a:spcPts val="400"/>
              </a:spcAft>
            </a:pPr>
            <a:r>
              <a:rPr sz="1650" b="0">
                <a:solidFill>
                  <a:srgbClr val="1F2A3A"/>
                </a:solidFill>
                <a:latin typeface="맑은 고딕"/>
                <a:ea typeface="맑은 고딕"/>
                <a:cs typeface="맑은 고딕"/>
              </a:rPr>
              <a:t>• 권한 없는 승인이 거부되는가</a:t>
            </a:r>
          </a:p>
          <a:p>
            <a:pPr algn="l" eaLnBrk="0" marL="188595" indent="-188595">
              <a:lnSpc>
                <a:spcPct val="110000"/>
              </a:lnSpc>
              <a:spcAft>
                <a:spcPts val="400"/>
              </a:spcAft>
            </a:pPr>
            <a:r>
              <a:rPr sz="1650" b="0">
                <a:solidFill>
                  <a:srgbClr val="1F2A3A"/>
                </a:solidFill>
                <a:latin typeface="맑은 고딕"/>
                <a:ea typeface="맑은 고딕"/>
                <a:cs typeface="맑은 고딕"/>
              </a:rPr>
              <a:t>• 승인 뒤 명령, 재관측, 작업지시, 종결</a:t>
            </a:r>
          </a:p>
        </p:txBody>
      </p:sp>
      <p:sp>
        <p:nvSpPr>
          <p:cNvPr id="16" name="Rounded Rectangle 15"/>
          <p:cNvSpPr/>
          <p:nvPr/>
        </p:nvSpPr>
        <p:spPr>
          <a:xfrm>
            <a:off x="4566818" y="5328793"/>
            <a:ext cx="1210056"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40항목 통과</a:t>
            </a:r>
          </a:p>
        </p:txBody>
      </p:sp>
      <p:sp>
        <p:nvSpPr>
          <p:cNvPr id="18" name="Rounded Rectangle 17"/>
          <p:cNvSpPr/>
          <p:nvPr/>
        </p:nvSpPr>
        <p:spPr>
          <a:xfrm>
            <a:off x="8127796"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E7F3FD"/>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펌프와 팬 사건의 검사</a:t>
            </a:r>
          </a:p>
          <a:p>
            <a:pPr algn="l" eaLnBrk="0">
              <a:lnSpc>
                <a:spcPct val="110000"/>
              </a:lnSpc>
              <a:spcAft>
                <a:spcPts val="400"/>
              </a:spcAft>
            </a:pPr>
            <a:r>
              <a:rPr sz="1650" b="0">
                <a:solidFill>
                  <a:srgbClr val="1F2A3A"/>
                </a:solidFill>
                <a:latin typeface="맑은 고딕"/>
                <a:ea typeface="맑은 고딕"/>
                <a:cs typeface="맑은 고딕"/>
              </a:rPr>
              <a:t>같은 방식으로 43항목을 확인한다</a:t>
            </a:r>
          </a:p>
        </p:txBody>
      </p:sp>
      <p:sp>
        <p:nvSpPr>
          <p:cNvPr id="22" name="Rounded Rectangle 21"/>
          <p:cNvSpPr/>
          <p:nvPr/>
        </p:nvSpPr>
        <p:spPr>
          <a:xfrm>
            <a:off x="8356396" y="5328793"/>
            <a:ext cx="1210056"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28793"/>
            <a:ext cx="1210056"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43항목 통과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출력의</a:t>
            </a:r>
          </a:p>
          <a:p>
            <a:pPr algn="l" eaLnBrk="0">
              <a:lnSpc>
                <a:spcPct val="110000"/>
              </a:lnSpc>
            </a:pPr>
            <a:r>
              <a:rPr sz="3400" b="1">
                <a:solidFill>
                  <a:srgbClr val="13294B"/>
                </a:solidFill>
                <a:latin typeface="맑은 고딕"/>
                <a:ea typeface="맑은 고딕"/>
                <a:cs typeface="맑은 고딕"/>
              </a:rPr>
              <a:t>반복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실행마다 달라지는 출력에서 실패로 셀 것을 가르고, 되풀이해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조건의 입력에도 달라지는 에이전트의 출력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종류의 쿨러 경보 두 건을 처리한 기록에서 원인과 추천과 점수는 같았고, 문장과 호출 순서와 걸린 시간은 달랐다.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equal" descr="equal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실행에서 같았던 것</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원인: 쿨러 핀 오염</a:t>
            </a:r>
          </a:p>
          <a:p>
            <a:pPr algn="l" eaLnBrk="0" marL="205740" indent="-205740">
              <a:lnSpc>
                <a:spcPct val="110000"/>
              </a:lnSpc>
              <a:spcAft>
                <a:spcPts val="600"/>
              </a:spcAft>
            </a:pPr>
            <a:r>
              <a:rPr sz="1800" b="0">
                <a:solidFill>
                  <a:srgbClr val="1F2A3A"/>
                </a:solidFill>
                <a:latin typeface="맑은 고딕"/>
                <a:ea typeface="맑은 고딕"/>
                <a:cs typeface="맑은 고딕"/>
              </a:rPr>
              <a:t>• 추천: 팬 최대 운전</a:t>
            </a:r>
          </a:p>
          <a:p>
            <a:pPr algn="l" eaLnBrk="0" marL="205740" indent="-205740">
              <a:lnSpc>
                <a:spcPct val="110000"/>
              </a:lnSpc>
              <a:spcAft>
                <a:spcPts val="600"/>
              </a:spcAft>
            </a:pPr>
            <a:r>
              <a:rPr sz="1800" b="0">
                <a:solidFill>
                  <a:srgbClr val="1F2A3A"/>
                </a:solidFill>
                <a:latin typeface="맑은 고딕"/>
                <a:ea typeface="맑은 고딕"/>
                <a:cs typeface="맑은 고딕"/>
              </a:rPr>
              <a:t>• 점수: 3.38</a:t>
            </a:r>
          </a:p>
          <a:p>
            <a:pPr algn="l" eaLnBrk="0" marL="205740" indent="-205740">
              <a:lnSpc>
                <a:spcPct val="110000"/>
              </a:lnSpc>
              <a:spcAft>
                <a:spcPts val="600"/>
              </a:spcAft>
            </a:pPr>
            <a:r>
              <a:rPr sz="1800" b="0">
                <a:solidFill>
                  <a:srgbClr val="1F2A3A"/>
                </a:solidFill>
                <a:latin typeface="맑은 고딕"/>
                <a:ea typeface="맑은 고딕"/>
                <a:cs typeface="맑은 고딕"/>
              </a:rPr>
              <a:t>• 까닭: 같은 사실이면 같은 결과를 내는 도구가 계산한다</a:t>
            </a:r>
          </a:p>
        </p:txBody>
      </p:sp>
      <p:sp>
        <p:nvSpPr>
          <p:cNvPr id="11" name="Rounded Rectangle 10"/>
          <p:cNvSpPr/>
          <p:nvPr/>
        </p:nvSpPr>
        <p:spPr>
          <a:xfrm>
            <a:off x="868680" y="53820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판단의 내용</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arrows-exchange" descr="arrows-exchange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두 실행에서 달랐던 것</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진행 중에 남긴 문장</a:t>
            </a:r>
          </a:p>
          <a:p>
            <a:pPr algn="l" eaLnBrk="0" marL="205740" indent="-205740">
              <a:lnSpc>
                <a:spcPct val="110000"/>
              </a:lnSpc>
              <a:spcAft>
                <a:spcPts val="600"/>
              </a:spcAft>
            </a:pPr>
            <a:r>
              <a:rPr sz="1800" b="0">
                <a:solidFill>
                  <a:srgbClr val="1F2A3A"/>
                </a:solidFill>
                <a:latin typeface="맑은 고딕"/>
                <a:ea typeface="맑은 고딕"/>
                <a:cs typeface="맑은 고딕"/>
              </a:rPr>
              <a:t>• 도구를 부른 순서</a:t>
            </a:r>
          </a:p>
          <a:p>
            <a:pPr algn="l" eaLnBrk="0" marL="205740" indent="-205740">
              <a:lnSpc>
                <a:spcPct val="110000"/>
              </a:lnSpc>
              <a:spcAft>
                <a:spcPts val="600"/>
              </a:spcAft>
            </a:pPr>
            <a:r>
              <a:rPr sz="1800" b="0">
                <a:solidFill>
                  <a:srgbClr val="1F2A3A"/>
                </a:solidFill>
                <a:latin typeface="맑은 고딕"/>
                <a:ea typeface="맑은 고딕"/>
                <a:cs typeface="맑은 고딕"/>
              </a:rPr>
              <a:t>• 걸린 시간</a:t>
            </a:r>
          </a:p>
          <a:p>
            <a:pPr algn="l" eaLnBrk="0" marL="205740" indent="-205740">
              <a:lnSpc>
                <a:spcPct val="110000"/>
              </a:lnSpc>
              <a:spcAft>
                <a:spcPts val="600"/>
              </a:spcAft>
            </a:pPr>
            <a:r>
              <a:rPr sz="1800" b="0">
                <a:solidFill>
                  <a:srgbClr val="1F2A3A"/>
                </a:solidFill>
                <a:latin typeface="맑은 고딕"/>
                <a:ea typeface="맑은 고딕"/>
                <a:cs typeface="맑은 고딕"/>
              </a:rPr>
              <a:t>• 까닭: 모델이 실행할 때마다 새로 정한다</a:t>
            </a:r>
          </a:p>
        </p:txBody>
      </p:sp>
      <p:sp>
        <p:nvSpPr>
          <p:cNvPr id="18" name="Rounded Rectangle 17"/>
          <p:cNvSpPr/>
          <p:nvPr/>
        </p:nvSpPr>
        <p:spPr>
          <a:xfrm>
            <a:off x="6781647" y="538200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표현과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표현 차이와 계약 위반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달라져도 되는 표현 차이와 어겨서는 안 되는 계약 위반을 가르지 않으면, 시험이 불필요한 실패를 내거나 실패를 놓친다.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표현 차이</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설명문의 낱말과 말투</a:t>
            </a:r>
          </a:p>
          <a:p>
            <a:pPr algn="l" eaLnBrk="0" marL="205740" indent="-205740">
              <a:lnSpc>
                <a:spcPct val="110000"/>
              </a:lnSpc>
              <a:spcAft>
                <a:spcPts val="600"/>
              </a:spcAft>
            </a:pPr>
            <a:r>
              <a:rPr sz="1800" b="0">
                <a:solidFill>
                  <a:srgbClr val="1F2A3A"/>
                </a:solidFill>
                <a:latin typeface="맑은 고딕"/>
                <a:ea typeface="맑은 고딕"/>
                <a:cs typeface="맑은 고딕"/>
              </a:rPr>
              <a:t>• 도구를 부른 순서</a:t>
            </a:r>
          </a:p>
          <a:p>
            <a:pPr algn="l" eaLnBrk="0" marL="205740" indent="-205740">
              <a:lnSpc>
                <a:spcPct val="110000"/>
              </a:lnSpc>
              <a:spcAft>
                <a:spcPts val="600"/>
              </a:spcAft>
            </a:pPr>
            <a:r>
              <a:rPr sz="1800" b="0">
                <a:solidFill>
                  <a:srgbClr val="1F2A3A"/>
                </a:solidFill>
                <a:latin typeface="맑은 고딕"/>
                <a:ea typeface="맑은 고딕"/>
                <a:cs typeface="맑은 고딕"/>
              </a:rPr>
              <a:t>• 걸린 시간</a:t>
            </a:r>
          </a:p>
        </p:txBody>
      </p:sp>
      <p:sp>
        <p:nvSpPr>
          <p:cNvPr id="11" name="Rounded Rectangle 10"/>
          <p:cNvSpPr/>
          <p:nvPr/>
        </p:nvSpPr>
        <p:spPr>
          <a:xfrm>
            <a:off x="868680" y="520446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허용한다</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계약 위반</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결과 항목의 누락</a:t>
            </a:r>
          </a:p>
          <a:p>
            <a:pPr algn="l" eaLnBrk="0" marL="205740" indent="-205740">
              <a:lnSpc>
                <a:spcPct val="110000"/>
              </a:lnSpc>
              <a:spcAft>
                <a:spcPts val="600"/>
              </a:spcAft>
            </a:pPr>
            <a:r>
              <a:rPr sz="1800" b="0">
                <a:solidFill>
                  <a:srgbClr val="1F2A3A"/>
                </a:solidFill>
                <a:latin typeface="맑은 고딕"/>
                <a:ea typeface="맑은 고딕"/>
                <a:cs typeface="맑은 고딕"/>
              </a:rPr>
              <a:t>• 승인 없는 쓰기</a:t>
            </a:r>
          </a:p>
          <a:p>
            <a:pPr algn="l" eaLnBrk="0" marL="205740" indent="-205740">
              <a:lnSpc>
                <a:spcPct val="110000"/>
              </a:lnSpc>
              <a:spcAft>
                <a:spcPts val="600"/>
              </a:spcAft>
            </a:pPr>
            <a:r>
              <a:rPr sz="1800" b="0">
                <a:solidFill>
                  <a:srgbClr val="1F2A3A"/>
                </a:solidFill>
                <a:latin typeface="맑은 고딕"/>
                <a:ea typeface="맑은 고딕"/>
                <a:cs typeface="맑은 고딕"/>
              </a:rPr>
              <a:t>• 근거 식별자가 없는 추천안</a:t>
            </a:r>
          </a:p>
          <a:p>
            <a:pPr algn="l" eaLnBrk="0" marL="205740" indent="-205740">
              <a:lnSpc>
                <a:spcPct val="110000"/>
              </a:lnSpc>
              <a:spcAft>
                <a:spcPts val="600"/>
              </a:spcAft>
            </a:pPr>
            <a:r>
              <a:rPr sz="1800" b="0">
                <a:solidFill>
                  <a:srgbClr val="1F2A3A"/>
                </a:solidFill>
                <a:latin typeface="맑은 고딕"/>
                <a:ea typeface="맑은 고딕"/>
                <a:cs typeface="맑은 고딕"/>
              </a:rPr>
              <a:t>• 금지된 조치의 추천</a:t>
            </a:r>
          </a:p>
        </p:txBody>
      </p:sp>
      <p:sp>
        <p:nvSpPr>
          <p:cNvPr id="18" name="Rounded Rectangle 17"/>
          <p:cNvSpPr/>
          <p:nvPr/>
        </p:nvSpPr>
        <p:spPr>
          <a:xfrm>
            <a:off x="6781647" y="520446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실패로 센다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Then이 견주는 것: 문장이 아니라 계약이 정한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시험은 설명 문장의 일치를 묻지 않고, 출력 계약이 정한 항목이 있는지와 그 값이 기대와 같은지를 견준다.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r>
              <a:rPr sz="1300" b="0">
                <a:solidFill>
                  <a:srgbClr val="E8EEF6"/>
                </a:solidFill>
                <a:latin typeface="Consolas"/>
                <a:ea typeface="맑은 고딕"/>
                <a:cs typeface="맑은 고딕"/>
              </a:rPr>
              <a:t>  "decision_id": "DEC-1010-056-0972"</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항목의 유무</a:t>
            </a:r>
          </a:p>
          <a:p>
            <a:pPr algn="l" eaLnBrk="0">
              <a:lnSpc>
                <a:spcPct val="110000"/>
              </a:lnSpc>
              <a:spcAft>
                <a:spcPts val="400"/>
              </a:spcAft>
            </a:pPr>
            <a:r>
              <a:rPr sz="1400" b="0">
                <a:solidFill>
                  <a:srgbClr val="1F2A3A"/>
                </a:solidFill>
                <a:latin typeface="맑은 고딕"/>
                <a:ea typeface="맑은 고딕"/>
                <a:cs typeface="맑은 고딕"/>
              </a:rPr>
              <a:t>다섯 항목이 모두 있는지를 견준다.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recommended</a:t>
            </a:r>
          </a:p>
          <a:p>
            <a:pPr algn="l" eaLnBrk="0">
              <a:lnSpc>
                <a:spcPct val="110000"/>
              </a:lnSpc>
              <a:spcAft>
                <a:spcPts val="400"/>
              </a:spcAft>
            </a:pPr>
            <a:r>
              <a:rPr sz="1400" b="0">
                <a:solidFill>
                  <a:srgbClr val="1F2A3A"/>
                </a:solidFill>
                <a:latin typeface="맑은 고딕"/>
                <a:ea typeface="맑은 고딕"/>
                <a:cs typeface="맑은 고딕"/>
              </a:rPr>
              <a:t>값이 기대한 식별자와 같은지를 견준다.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explanation</a:t>
            </a:r>
          </a:p>
          <a:p>
            <a:pPr algn="l" eaLnBrk="0">
              <a:lnSpc>
                <a:spcPct val="110000"/>
              </a:lnSpc>
              <a:spcAft>
                <a:spcPts val="400"/>
              </a:spcAft>
            </a:pPr>
            <a:r>
              <a:rPr sz="1300" b="0">
                <a:solidFill>
                  <a:srgbClr val="1F2A3A"/>
                </a:solidFill>
                <a:latin typeface="맑은 고딕"/>
                <a:ea typeface="맑은 고딕"/>
                <a:cs typeface="맑은 고딕"/>
              </a:rPr>
              <a:t>문장으로 된 칸이다. 글자의 일치를 견주지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번호는 제출할 때마다 새로 붙는다. 있는지만 견준다.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채점: 정답표와 견주는 네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판단의 내용은 사람이 적어 둔 정답표와 대어, 네 항목을 정해진 비중으로 채점한다.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채점 항목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견주는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비중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적중</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에이전트가 고른 원인과 고장 유형이 정답표와 같은가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1순위 허용</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1순위로 추천한 조치가 정답표가 허용한 조치인가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30</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금지 조치 미추천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빠져야 할 조치를 추천하지 않았는가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근거 포함률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정답표가 요구한 근거를 얼마나 인용했는가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20</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점수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네 항목을 비중대로 더한다 · 설명 문장은 들어가지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0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반복 실행: 한 번의 통과로는 모자란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번의 통과는 그 한 번의 출력만 보인 것이어서, 같은 항목을 여러 번 실행한 평균과 최저와 흔들림을 함께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평균</a:t>
            </a:r>
          </a:p>
          <a:p>
            <a:pPr algn="l" eaLnBrk="0" marL="205740" indent="-205740">
              <a:lnSpc>
                <a:spcPct val="110000"/>
              </a:lnSpc>
              <a:spcAft>
                <a:spcPts val="400"/>
              </a:spcAft>
            </a:pPr>
            <a:r>
              <a:rPr sz="1800" b="0">
                <a:solidFill>
                  <a:srgbClr val="1F2A3A"/>
                </a:solidFill>
                <a:latin typeface="맑은 고딕"/>
                <a:ea typeface="맑은 고딕"/>
                <a:cs typeface="맑은 고딕"/>
              </a:rPr>
              <a:t>• 여러 번 실행한 점수의 평균이다</a:t>
            </a:r>
          </a:p>
          <a:p>
            <a:pPr algn="l" eaLnBrk="0" marL="205740" indent="-205740">
              <a:lnSpc>
                <a:spcPct val="110000"/>
              </a:lnSpc>
              <a:spcAft>
                <a:spcPts val="400"/>
              </a:spcAft>
            </a:pPr>
            <a:r>
              <a:rPr sz="1800" b="0">
                <a:solidFill>
                  <a:srgbClr val="1F2A3A"/>
                </a:solidFill>
                <a:latin typeface="맑은 고딕"/>
                <a:ea typeface="맑은 고딕"/>
                <a:cs typeface="맑은 고딕"/>
              </a:rPr>
              <a:t>• 평소의 수준을 보인다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수준</a:t>
            </a:r>
          </a:p>
        </p:txBody>
      </p:sp>
      <p:sp>
        <p:nvSpPr>
          <p:cNvPr id="12" name="Rounded Rectangle 11"/>
          <p:cNvSpPr/>
          <p:nvPr/>
        </p:nvSpPr>
        <p:spPr>
          <a:xfrm>
            <a:off x="4338218"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5CB8F2"/>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최저</a:t>
            </a:r>
          </a:p>
          <a:p>
            <a:pPr algn="l" eaLnBrk="0" marL="205740" indent="-205740">
              <a:lnSpc>
                <a:spcPct val="110000"/>
              </a:lnSpc>
              <a:spcAft>
                <a:spcPts val="400"/>
              </a:spcAft>
            </a:pPr>
            <a:r>
              <a:rPr sz="1800" b="0">
                <a:solidFill>
                  <a:srgbClr val="1F2A3A"/>
                </a:solidFill>
                <a:latin typeface="맑은 고딕"/>
                <a:ea typeface="맑은 고딕"/>
                <a:cs typeface="맑은 고딕"/>
              </a:rPr>
              <a:t>• 가장 나빴던 실행의 점수이다</a:t>
            </a:r>
          </a:p>
          <a:p>
            <a:pPr algn="l" eaLnBrk="0" marL="205740" indent="-205740">
              <a:lnSpc>
                <a:spcPct val="110000"/>
              </a:lnSpc>
              <a:spcAft>
                <a:spcPts val="400"/>
              </a:spcAft>
            </a:pPr>
            <a:r>
              <a:rPr sz="1800" b="0">
                <a:solidFill>
                  <a:srgbClr val="1F2A3A"/>
                </a:solidFill>
                <a:latin typeface="맑은 고딕"/>
                <a:ea typeface="맑은 고딕"/>
                <a:cs typeface="맑은 고딕"/>
              </a:rPr>
              <a:t>• 계약 위반은 한 번만 나와도 실패다</a:t>
            </a:r>
          </a:p>
        </p:txBody>
      </p:sp>
      <p:sp>
        <p:nvSpPr>
          <p:cNvPr id="16" name="Rounded Rectangle 15"/>
          <p:cNvSpPr/>
          <p:nvPr/>
        </p:nvSpPr>
        <p:spPr>
          <a:xfrm>
            <a:off x="4566818" y="525907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907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최악의 경우</a:t>
            </a:r>
          </a:p>
        </p:txBody>
      </p:sp>
      <p:sp>
        <p:nvSpPr>
          <p:cNvPr id="18" name="Rounded Rectangle 17"/>
          <p:cNvSpPr/>
          <p:nvPr/>
        </p:nvSpPr>
        <p:spPr>
          <a:xfrm>
            <a:off x="8127796"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E7F3FD"/>
          </a:solidFill>
          <a:ln>
            <a:noFill/>
          </a:ln>
        </p:spPr>
        <p:txBody>
          <a:bodyPr rtlCol="0" anchor="ctr"/>
          <a:lstStyle/>
          <a:p>
            <a:pPr algn="ctr"/>
          </a:p>
        </p:txBody>
      </p:sp>
      <p:pic>
        <p:nvPicPr>
          <p:cNvPr id="20" name="아이콘:arrows-exchange" descr="arrows-exchange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흔들림</a:t>
            </a:r>
          </a:p>
          <a:p>
            <a:pPr algn="l" eaLnBrk="0" marL="205740" indent="-205740">
              <a:lnSpc>
                <a:spcPct val="110000"/>
              </a:lnSpc>
              <a:spcAft>
                <a:spcPts val="400"/>
              </a:spcAft>
            </a:pPr>
            <a:r>
              <a:rPr sz="1800" b="0">
                <a:solidFill>
                  <a:srgbClr val="1F2A3A"/>
                </a:solidFill>
                <a:latin typeface="맑은 고딕"/>
                <a:ea typeface="맑은 고딕"/>
                <a:cs typeface="맑은 고딕"/>
              </a:rPr>
              <a:t>• 가장 많이 나온 결과의 비율이다</a:t>
            </a:r>
          </a:p>
          <a:p>
            <a:pPr algn="l" eaLnBrk="0" marL="205740" indent="-205740">
              <a:lnSpc>
                <a:spcPct val="110000"/>
              </a:lnSpc>
              <a:spcAft>
                <a:spcPts val="400"/>
              </a:spcAft>
            </a:pPr>
            <a:r>
              <a:rPr sz="1800" b="0">
                <a:solidFill>
                  <a:srgbClr val="1F2A3A"/>
                </a:solidFill>
                <a:latin typeface="맑은 고딕"/>
                <a:ea typeface="맑은 고딕"/>
                <a:cs typeface="맑은 고딕"/>
              </a:rPr>
              <a:t>• 모두 같으면 같은 결과를 내는 판단이다</a:t>
            </a:r>
          </a:p>
        </p:txBody>
      </p:sp>
      <p:sp>
        <p:nvSpPr>
          <p:cNvPr id="22" name="Rounded Rectangle 21"/>
          <p:cNvSpPr/>
          <p:nvPr/>
        </p:nvSpPr>
        <p:spPr>
          <a:xfrm>
            <a:off x="8356396" y="525907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일관성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실패한 시험에서 고칠 곳 가리기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실패한 시험은 증상에 따라 고칠 곳이 지침 · 지식 · 명세 · 코드로 갈리므로, 원인부터 가린 뒤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실패의 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원인이 있는 곳</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고치는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단계를 건너뛰거나 설명이 부실하다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지침</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프롬프트,</a:t>
            </a:r>
          </a:p>
          <a:p>
            <a:pPr algn="l" eaLnBrk="0">
              <a:lnSpc>
                <a:spcPct val="110000"/>
              </a:lnSpc>
            </a:pPr>
            <a:r>
              <a:rPr sz="1250" b="1">
                <a:solidFill>
                  <a:srgbClr val="556175"/>
                </a:solidFill>
                <a:latin typeface="맑은 고딕"/>
                <a:ea typeface="맑은 고딕"/>
                <a:cs typeface="맑은 고딕"/>
              </a:rPr>
              <a:t>스킬의 절차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판정의 기준값이 맞지 않는다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지식 그래프의</a:t>
            </a:r>
          </a:p>
          <a:p>
            <a:pPr algn="l" eaLnBrk="0">
              <a:lnSpc>
                <a:spcPct val="110000"/>
              </a:lnSpc>
            </a:pPr>
            <a:r>
              <a:rPr sz="1250" b="1">
                <a:solidFill>
                  <a:srgbClr val="556175"/>
                </a:solidFill>
                <a:latin typeface="맑은 고딕"/>
                <a:ea typeface="맑은 고딕"/>
                <a:cs typeface="맑은 고딕"/>
              </a:rPr>
              <a:t>판단 규칙</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항목이 빠졌거나 기대값이 요구와 다르다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1">
                <a:solidFill>
                  <a:srgbClr val="1A6FC4"/>
                </a:solidFill>
                <a:latin typeface="맑은 고딕"/>
                <a:ea typeface="맑은 고딕"/>
                <a:cs typeface="맑은 고딕"/>
              </a:rPr>
              <a:t>명세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출력 계약,</a:t>
            </a:r>
          </a:p>
          <a:p>
            <a:pPr algn="l" eaLnBrk="0">
              <a:lnSpc>
                <a:spcPct val="110000"/>
              </a:lnSpc>
            </a:pPr>
            <a:r>
              <a:rPr sz="1250" b="1">
                <a:solidFill>
                  <a:srgbClr val="556175"/>
                </a:solidFill>
                <a:latin typeface="맑은 고딕"/>
                <a:ea typeface="맑은 고딕"/>
                <a:cs typeface="맑은 고딕"/>
              </a:rPr>
              <a:t>수용 기준</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명세대로 적혀 있는데 다르게 동작한다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코드</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해당 기능의</a:t>
            </a:r>
          </a:p>
          <a:p>
            <a:pPr algn="l" eaLnBrk="0">
              <a:lnSpc>
                <a:spcPct val="110000"/>
              </a:lnSpc>
            </a:pPr>
            <a:r>
              <a:rPr sz="1250" b="1">
                <a:solidFill>
                  <a:srgbClr val="556175"/>
                </a:solidFill>
                <a:latin typeface="맑은 고딕"/>
                <a:ea typeface="맑은 고딕"/>
                <a:cs typeface="맑은 고딕"/>
              </a:rPr>
              <a:t>구현</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통과시키려고 기대값을 낮춘다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고칠 곳이 아니다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기대값은</a:t>
            </a:r>
          </a:p>
          <a:p>
            <a:pPr algn="l" eaLnBrk="0">
              <a:lnSpc>
                <a:spcPct val="110000"/>
              </a:lnSpc>
            </a:pPr>
            <a:r>
              <a:rPr sz="1250" b="1">
                <a:solidFill>
                  <a:srgbClr val="556175"/>
                </a:solidFill>
                <a:latin typeface="맑은 고딕"/>
                <a:ea typeface="맑은 고딕"/>
                <a:cs typeface="맑은 고딕"/>
              </a:rPr>
              <a:t>명세가 정한다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새 기능과 기존 기능의</a:t>
            </a:r>
          </a:p>
          <a:p>
            <a:pPr algn="l" eaLnBrk="0">
              <a:lnSpc>
                <a:spcPct val="110000"/>
              </a:lnSpc>
            </a:pPr>
            <a:r>
              <a:rPr sz="3400" b="1">
                <a:solidFill>
                  <a:srgbClr val="13294B"/>
                </a:solidFill>
                <a:latin typeface="맑은 고딕"/>
                <a:ea typeface="맑은 고딕"/>
                <a:cs typeface="맑은 고딕"/>
              </a:rPr>
              <a:t>행동 기준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경우의 시나리오 문서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다섯 경우마다 Given · When · Then과 입력값 · 기대 상태 · 출력 계약을 적은 시나리오 문서를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49982"/>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03601"/>
            <a:ext cx="424281" cy="424281"/>
          </a:xfrm>
          <a:prstGeom prst="rect">
            <a:avLst/>
          </a:prstGeom>
        </p:spPr>
      </p:pic>
      <p:sp>
        <p:nvSpPr>
          <p:cNvPr id="9" name="TextBox 8"/>
          <p:cNvSpPr txBox="1"/>
          <p:nvPr/>
        </p:nvSpPr>
        <p:spPr>
          <a:xfrm>
            <a:off x="713232"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a:t>
            </a:r>
          </a:p>
          <a:p>
            <a:pPr algn="l" eaLnBrk="0" marL="160020" indent="-160020">
              <a:lnSpc>
                <a:spcPct val="110000"/>
              </a:lnSpc>
              <a:spcAft>
                <a:spcPts val="400"/>
              </a:spcAft>
            </a:pPr>
            <a:r>
              <a:rPr sz="1400" b="0">
                <a:solidFill>
                  <a:srgbClr val="1F2A3A"/>
                </a:solidFill>
                <a:latin typeface="맑은 고딕"/>
                <a:ea typeface="맑은 고딕"/>
                <a:cs typeface="맑은 고딕"/>
              </a:rPr>
              <a:t>• 명세(spec.md)와 같은 에이전트</a:t>
            </a:r>
          </a:p>
          <a:p>
            <a:pPr algn="l" eaLnBrk="0" marL="160020" indent="-160020">
              <a:lnSpc>
                <a:spcPct val="110000"/>
              </a:lnSpc>
              <a:spcAft>
                <a:spcPts val="400"/>
              </a:spcAft>
            </a:pPr>
            <a:r>
              <a:rPr sz="1400" b="0">
                <a:solidFill>
                  <a:srgbClr val="1F2A3A"/>
                </a:solidFill>
                <a:latin typeface="맑은 고딕"/>
                <a:ea typeface="맑은 고딕"/>
                <a:cs typeface="맑은 고딕"/>
              </a:rPr>
              <a:t>• 계약 · 금지 조건 · 수용 기준</a:t>
            </a:r>
          </a:p>
        </p:txBody>
      </p:sp>
      <p:sp>
        <p:nvSpPr>
          <p:cNvPr id="10" name="Rounded Rectangle 9"/>
          <p:cNvSpPr/>
          <p:nvPr/>
        </p:nvSpPr>
        <p:spPr>
          <a:xfrm>
            <a:off x="777240" y="510413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49982"/>
            <a:ext cx="731520" cy="731520"/>
          </a:xfrm>
          <a:prstGeom prst="ellipse">
            <a:avLst/>
          </a:prstGeom>
          <a:solidFill>
            <a:srgbClr val="E7F3FD"/>
          </a:solidFill>
          <a:ln>
            <a:noFill/>
          </a:ln>
        </p:spPr>
        <p:txBody>
          <a:bodyPr rtlCol="0" anchor="ctr"/>
          <a:lstStyle/>
          <a:p>
            <a:pPr algn="ctr"/>
          </a:p>
        </p:txBody>
      </p:sp>
      <p:pic>
        <p:nvPicPr>
          <p:cNvPr id="14" name="아이콘:arrows-split" descr="arrows-split_13294B_1.6.png"/>
          <p:cNvPicPr>
            <a:picLocks noChangeAspect="1"/>
          </p:cNvPicPr>
          <p:nvPr/>
        </p:nvPicPr>
        <p:blipFill>
          <a:blip r:embed="rId4"/>
          <a:stretch>
            <a:fillRect/>
          </a:stretch>
        </p:blipFill>
        <p:spPr>
          <a:xfrm>
            <a:off x="3773043" y="2803601"/>
            <a:ext cx="424281" cy="424281"/>
          </a:xfrm>
          <a:prstGeom prst="rect">
            <a:avLst/>
          </a:prstGeom>
        </p:spPr>
      </p:pic>
      <p:sp>
        <p:nvSpPr>
          <p:cNvPr id="15" name="TextBox 14"/>
          <p:cNvSpPr txBox="1"/>
          <p:nvPr/>
        </p:nvSpPr>
        <p:spPr>
          <a:xfrm>
            <a:off x="3555415"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다섯 경우</a:t>
            </a:r>
          </a:p>
          <a:p>
            <a:pPr algn="l" eaLnBrk="0" marL="160020" indent="-160020">
              <a:lnSpc>
                <a:spcPct val="110000"/>
              </a:lnSpc>
              <a:spcAft>
                <a:spcPts val="400"/>
              </a:spcAft>
            </a:pPr>
            <a:r>
              <a:rPr sz="1400" b="0">
                <a:solidFill>
                  <a:srgbClr val="1F2A3A"/>
                </a:solidFill>
                <a:latin typeface="맑은 고딕"/>
                <a:ea typeface="맑은 고딕"/>
                <a:cs typeface="맑은 고딕"/>
              </a:rPr>
              <a:t>• 일반 정비 · 긴급 정비 · 필수 정보 누락</a:t>
            </a:r>
          </a:p>
          <a:p>
            <a:pPr algn="l" eaLnBrk="0" marL="160020" indent="-160020">
              <a:lnSpc>
                <a:spcPct val="110000"/>
              </a:lnSpc>
              <a:spcAft>
                <a:spcPts val="400"/>
              </a:spcAft>
            </a:pPr>
            <a:r>
              <a:rPr sz="1400" b="0">
                <a:solidFill>
                  <a:srgbClr val="1F2A3A"/>
                </a:solidFill>
                <a:latin typeface="맑은 고딕"/>
                <a:ea typeface="맑은 고딕"/>
                <a:cs typeface="맑은 고딕"/>
              </a:rPr>
              <a:t>• 승인 거절 · 도구 오류</a:t>
            </a:r>
          </a:p>
        </p:txBody>
      </p:sp>
      <p:sp>
        <p:nvSpPr>
          <p:cNvPr id="16" name="Rounded Rectangle 15"/>
          <p:cNvSpPr/>
          <p:nvPr/>
        </p:nvSpPr>
        <p:spPr>
          <a:xfrm>
            <a:off x="3619423" y="510413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448814"/>
            <a:ext cx="2567863" cy="308508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49982"/>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03601"/>
            <a:ext cx="424281" cy="424281"/>
          </a:xfrm>
          <a:prstGeom prst="rect">
            <a:avLst/>
          </a:prstGeom>
        </p:spPr>
      </p:pic>
      <p:sp>
        <p:nvSpPr>
          <p:cNvPr id="21" name="TextBox 20"/>
          <p:cNvSpPr txBox="1"/>
          <p:nvPr/>
        </p:nvSpPr>
        <p:spPr>
          <a:xfrm>
            <a:off x="6397599"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시나리오 문서</a:t>
            </a:r>
          </a:p>
          <a:p>
            <a:pPr algn="l" eaLnBrk="0" marL="160020" indent="-160020">
              <a:lnSpc>
                <a:spcPct val="110000"/>
              </a:lnSpc>
              <a:spcAft>
                <a:spcPts val="400"/>
              </a:spcAft>
            </a:pPr>
            <a:r>
              <a:rPr sz="1400" b="0">
                <a:solidFill>
                  <a:srgbClr val="1F2A3A"/>
                </a:solidFill>
                <a:latin typeface="맑은 고딕"/>
                <a:ea typeface="맑은 고딕"/>
                <a:cs typeface="맑은 고딕"/>
              </a:rPr>
              <a:t>• 경우마다 Given · When · Then</a:t>
            </a:r>
          </a:p>
          <a:p>
            <a:pPr algn="l" eaLnBrk="0" marL="160020" indent="-160020">
              <a:lnSpc>
                <a:spcPct val="110000"/>
              </a:lnSpc>
              <a:spcAft>
                <a:spcPts val="400"/>
              </a:spcAft>
            </a:pPr>
            <a:r>
              <a:rPr sz="1400" b="0">
                <a:solidFill>
                  <a:srgbClr val="1F2A3A"/>
                </a:solidFill>
                <a:latin typeface="맑은 고딕"/>
                <a:ea typeface="맑은 고딕"/>
                <a:cs typeface="맑은 고딕"/>
              </a:rPr>
              <a:t>• 입력값 · 기대 상태 · 지킬 출력 계약</a:t>
            </a:r>
          </a:p>
        </p:txBody>
      </p:sp>
      <p:sp>
        <p:nvSpPr>
          <p:cNvPr id="22" name="Rounded Rectangle 21"/>
          <p:cNvSpPr/>
          <p:nvPr/>
        </p:nvSpPr>
        <p:spPr>
          <a:xfrm>
            <a:off x="6461607" y="510413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448814"/>
            <a:ext cx="2567863" cy="308508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49982"/>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803601"/>
            <a:ext cx="424281" cy="424281"/>
          </a:xfrm>
          <a:prstGeom prst="rect">
            <a:avLst/>
          </a:prstGeom>
        </p:spPr>
      </p:pic>
      <p:sp>
        <p:nvSpPr>
          <p:cNvPr id="27" name="TextBox 26"/>
          <p:cNvSpPr txBox="1"/>
          <p:nvPr/>
        </p:nvSpPr>
        <p:spPr>
          <a:xfrm>
            <a:off x="9239783" y="3472942"/>
            <a:ext cx="2238679" cy="1558036"/>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Then이 실행 결과로 가려지는 사실이다</a:t>
            </a:r>
          </a:p>
          <a:p>
            <a:pPr algn="l" eaLnBrk="0" marL="160020" indent="-160020">
              <a:lnSpc>
                <a:spcPct val="110000"/>
              </a:lnSpc>
              <a:spcAft>
                <a:spcPts val="400"/>
              </a:spcAft>
            </a:pPr>
            <a:r>
              <a:rPr sz="1400" b="0">
                <a:solidFill>
                  <a:srgbClr val="1F2A3A"/>
                </a:solidFill>
                <a:latin typeface="맑은 고딕"/>
                <a:ea typeface="맑은 고딕"/>
                <a:cs typeface="맑은 고딕"/>
              </a:rPr>
              <a:t>• 금지 조건이 일어나지 않을 일로 들어 있다</a:t>
            </a:r>
          </a:p>
        </p:txBody>
      </p:sp>
      <p:sp>
        <p:nvSpPr>
          <p:cNvPr id="28" name="Rounded Rectangle 27"/>
          <p:cNvSpPr/>
          <p:nvPr/>
        </p:nvSpPr>
        <p:spPr>
          <a:xfrm>
            <a:off x="9303791" y="510413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0413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에이전트 동작의 반복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결과 로그와 위반 목록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시나리오를 준비된 시험에 이어 되풀이해 실행하고, 기대값과 어긋난 조건을 위반 목록으로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47849"/>
            <a:ext cx="731520" cy="731520"/>
          </a:xfrm>
          <a:prstGeom prst="ellipse">
            <a:avLst/>
          </a:prstGeom>
          <a:solidFill>
            <a:srgbClr val="E7F3FD"/>
          </a:solidFill>
          <a:ln>
            <a:noFill/>
          </a:ln>
        </p:spPr>
        <p:txBody>
          <a:bodyPr rtlCol="0" anchor="ctr"/>
          <a:lstStyle/>
          <a:p>
            <a:pPr algn="ctr"/>
          </a:p>
        </p:txBody>
      </p:sp>
      <p:pic>
        <p:nvPicPr>
          <p:cNvPr id="8" name="아이콘:plug-connected" descr="plug-connected_13294B_1.6.png"/>
          <p:cNvPicPr>
            <a:picLocks noChangeAspect="1"/>
          </p:cNvPicPr>
          <p:nvPr/>
        </p:nvPicPr>
        <p:blipFill>
          <a:blip r:embed="rId3"/>
          <a:stretch>
            <a:fillRect/>
          </a:stretch>
        </p:blipFill>
        <p:spPr>
          <a:xfrm>
            <a:off x="930859" y="2501468"/>
            <a:ext cx="424281" cy="424281"/>
          </a:xfrm>
          <a:prstGeom prst="rect">
            <a:avLst/>
          </a:prstGeom>
        </p:spPr>
      </p:pic>
      <p:sp>
        <p:nvSpPr>
          <p:cNvPr id="9" name="TextBox 8"/>
          <p:cNvSpPr txBox="1"/>
          <p:nvPr/>
        </p:nvSpPr>
        <p:spPr>
          <a:xfrm>
            <a:off x="713232"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입력</a:t>
            </a:r>
          </a:p>
          <a:p>
            <a:pPr algn="l" eaLnBrk="0" marL="200025" indent="-200025">
              <a:lnSpc>
                <a:spcPct val="110000"/>
              </a:lnSpc>
              <a:spcAft>
                <a:spcPts val="400"/>
              </a:spcAft>
            </a:pPr>
            <a:r>
              <a:rPr sz="1750" b="0">
                <a:solidFill>
                  <a:srgbClr val="1F2A3A"/>
                </a:solidFill>
                <a:latin typeface="맑은 고딕"/>
                <a:ea typeface="맑은 고딕"/>
                <a:cs typeface="맑은 고딕"/>
              </a:rPr>
              <a:t>• 다섯 경우의 시나리오 문서</a:t>
            </a:r>
          </a:p>
          <a:p>
            <a:pPr algn="l" eaLnBrk="0" marL="200025" indent="-200025">
              <a:lnSpc>
                <a:spcPct val="110000"/>
              </a:lnSpc>
              <a:spcAft>
                <a:spcPts val="400"/>
              </a:spcAft>
            </a:pPr>
            <a:r>
              <a:rPr sz="1750" b="0">
                <a:solidFill>
                  <a:srgbClr val="1F2A3A"/>
                </a:solidFill>
                <a:latin typeface="맑은 고딕"/>
                <a:ea typeface="맑은 고딕"/>
                <a:cs typeface="맑은 고딕"/>
              </a:rPr>
              <a:t>• 준비된 자동 시험 또는 반복 실행 스크립트</a:t>
            </a:r>
          </a:p>
        </p:txBody>
      </p:sp>
      <p:sp>
        <p:nvSpPr>
          <p:cNvPr id="10" name="Rounded Rectangle 9"/>
          <p:cNvSpPr/>
          <p:nvPr/>
        </p:nvSpPr>
        <p:spPr>
          <a:xfrm>
            <a:off x="777240" y="5406263"/>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47849"/>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501468"/>
            <a:ext cx="424281" cy="424281"/>
          </a:xfrm>
          <a:prstGeom prst="rect">
            <a:avLst/>
          </a:prstGeom>
        </p:spPr>
      </p:pic>
      <p:sp>
        <p:nvSpPr>
          <p:cNvPr id="15" name="TextBox 14"/>
          <p:cNvSpPr txBox="1"/>
          <p:nvPr/>
        </p:nvSpPr>
        <p:spPr>
          <a:xfrm>
            <a:off x="3555415"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연결과 반복</a:t>
            </a:r>
          </a:p>
          <a:p>
            <a:pPr algn="l" eaLnBrk="0" marL="200025" indent="-200025">
              <a:lnSpc>
                <a:spcPct val="110000"/>
              </a:lnSpc>
              <a:spcAft>
                <a:spcPts val="400"/>
              </a:spcAft>
            </a:pPr>
            <a:r>
              <a:rPr sz="1750" b="0">
                <a:solidFill>
                  <a:srgbClr val="1F2A3A"/>
                </a:solidFill>
                <a:latin typeface="맑은 고딕"/>
                <a:ea typeface="맑은 고딕"/>
                <a:cs typeface="맑은 고딕"/>
              </a:rPr>
              <a:t>• 시나리오를 시험에 잇는다</a:t>
            </a:r>
          </a:p>
          <a:p>
            <a:pPr algn="l" eaLnBrk="0" marL="200025" indent="-200025">
              <a:lnSpc>
                <a:spcPct val="110000"/>
              </a:lnSpc>
              <a:spcAft>
                <a:spcPts val="400"/>
              </a:spcAft>
            </a:pPr>
            <a:r>
              <a:rPr sz="1750" b="0">
                <a:solidFill>
                  <a:srgbClr val="1F2A3A"/>
                </a:solidFill>
                <a:latin typeface="맑은 고딕"/>
                <a:ea typeface="맑은 고딕"/>
                <a:cs typeface="맑은 고딕"/>
              </a:rPr>
              <a:t>• 같은 입력으로 여러 번 실행한다</a:t>
            </a:r>
          </a:p>
        </p:txBody>
      </p:sp>
      <p:sp>
        <p:nvSpPr>
          <p:cNvPr id="16" name="Rounded Rectangle 15"/>
          <p:cNvSpPr/>
          <p:nvPr/>
        </p:nvSpPr>
        <p:spPr>
          <a:xfrm>
            <a:off x="3619423" y="5406263"/>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46680"/>
            <a:ext cx="2567863" cy="368935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47849"/>
            <a:ext cx="731520" cy="731520"/>
          </a:xfrm>
          <a:prstGeom prst="ellipse">
            <a:avLst/>
          </a:prstGeom>
          <a:solidFill>
            <a:srgbClr val="E7F3FD"/>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6615226" y="2501468"/>
            <a:ext cx="424281" cy="424281"/>
          </a:xfrm>
          <a:prstGeom prst="rect">
            <a:avLst/>
          </a:prstGeom>
        </p:spPr>
      </p:pic>
      <p:sp>
        <p:nvSpPr>
          <p:cNvPr id="21" name="TextBox 20"/>
          <p:cNvSpPr txBox="1"/>
          <p:nvPr/>
        </p:nvSpPr>
        <p:spPr>
          <a:xfrm>
            <a:off x="6397599"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로그와 위반 목록</a:t>
            </a:r>
          </a:p>
          <a:p>
            <a:pPr algn="l" eaLnBrk="0" marL="200025" indent="-200025">
              <a:lnSpc>
                <a:spcPct val="110000"/>
              </a:lnSpc>
              <a:spcAft>
                <a:spcPts val="400"/>
              </a:spcAft>
            </a:pPr>
            <a:r>
              <a:rPr sz="1750" b="0">
                <a:solidFill>
                  <a:srgbClr val="1F2A3A"/>
                </a:solidFill>
                <a:latin typeface="맑은 고딕"/>
                <a:ea typeface="맑은 고딕"/>
                <a:cs typeface="맑은 고딕"/>
              </a:rPr>
              <a:t>• 실제 출력과 기대값의 대조</a:t>
            </a:r>
          </a:p>
          <a:p>
            <a:pPr algn="l" eaLnBrk="0" marL="200025" indent="-200025">
              <a:lnSpc>
                <a:spcPct val="110000"/>
              </a:lnSpc>
              <a:spcAft>
                <a:spcPts val="400"/>
              </a:spcAft>
            </a:pPr>
            <a:r>
              <a:rPr sz="1750" b="0">
                <a:solidFill>
                  <a:srgbClr val="1F2A3A"/>
                </a:solidFill>
                <a:latin typeface="맑은 고딕"/>
                <a:ea typeface="맑은 고딕"/>
                <a:cs typeface="맑은 고딕"/>
              </a:rPr>
              <a:t>• 어긋난 조건 · 실행 · 근거 파일</a:t>
            </a:r>
          </a:p>
        </p:txBody>
      </p:sp>
      <p:sp>
        <p:nvSpPr>
          <p:cNvPr id="22" name="Rounded Rectangle 21"/>
          <p:cNvSpPr/>
          <p:nvPr/>
        </p:nvSpPr>
        <p:spPr>
          <a:xfrm>
            <a:off x="6461607" y="5406263"/>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46680"/>
            <a:ext cx="2567863" cy="368935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47849"/>
            <a:ext cx="731520" cy="731520"/>
          </a:xfrm>
          <a:prstGeom prst="ellipse">
            <a:avLst/>
          </a:prstGeom>
          <a:solidFill>
            <a:srgbClr val="5CB8F2"/>
          </a:solidFill>
          <a:ln>
            <a:noFill/>
          </a:ln>
        </p:spPr>
        <p:txBody>
          <a:bodyPr rtlCol="0" anchor="ctr"/>
          <a:lstStyle/>
          <a:p>
            <a:pPr algn="ctr"/>
          </a:p>
        </p:txBody>
      </p:sp>
      <p:pic>
        <p:nvPicPr>
          <p:cNvPr id="26" name="아이콘:scale" descr="scale_13294B_1.6.png"/>
          <p:cNvPicPr>
            <a:picLocks noChangeAspect="1"/>
          </p:cNvPicPr>
          <p:nvPr/>
        </p:nvPicPr>
        <p:blipFill>
          <a:blip r:embed="rId6"/>
          <a:stretch>
            <a:fillRect/>
          </a:stretch>
        </p:blipFill>
        <p:spPr>
          <a:xfrm>
            <a:off x="9457410" y="2501468"/>
            <a:ext cx="424281" cy="424281"/>
          </a:xfrm>
          <a:prstGeom prst="rect">
            <a:avLst/>
          </a:prstGeom>
        </p:spPr>
      </p:pic>
      <p:sp>
        <p:nvSpPr>
          <p:cNvPr id="27" name="TextBox 26"/>
          <p:cNvSpPr txBox="1"/>
          <p:nvPr/>
        </p:nvSpPr>
        <p:spPr>
          <a:xfrm>
            <a:off x="9239783" y="3170809"/>
            <a:ext cx="2238679" cy="2162302"/>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성공 기준</a:t>
            </a:r>
          </a:p>
          <a:p>
            <a:pPr algn="l" eaLnBrk="0" marL="200025" indent="-200025">
              <a:lnSpc>
                <a:spcPct val="110000"/>
              </a:lnSpc>
              <a:spcAft>
                <a:spcPts val="400"/>
              </a:spcAft>
            </a:pPr>
            <a:r>
              <a:rPr sz="1750" b="0">
                <a:solidFill>
                  <a:srgbClr val="1F2A3A"/>
                </a:solidFill>
                <a:latin typeface="맑은 고딕"/>
                <a:ea typeface="맑은 고딕"/>
                <a:cs typeface="맑은 고딕"/>
              </a:rPr>
              <a:t>• 어긋남마다 표현 차이인지</a:t>
            </a:r>
          </a:p>
          <a:p>
            <a:pPr algn="l" eaLnBrk="0" marL="200025" indent="-200025">
              <a:lnSpc>
                <a:spcPct val="110000"/>
              </a:lnSpc>
              <a:spcAft>
                <a:spcPts val="400"/>
              </a:spcAft>
            </a:pPr>
            <a:r>
              <a:rPr sz="1750" b="0">
                <a:solidFill>
                  <a:srgbClr val="1F2A3A"/>
                </a:solidFill>
                <a:latin typeface="맑은 고딕"/>
                <a:ea typeface="맑은 고딕"/>
                <a:cs typeface="맑은 고딕"/>
              </a:rPr>
              <a:t>• 계약 위반인지가 갈려 있다</a:t>
            </a:r>
          </a:p>
        </p:txBody>
      </p:sp>
      <p:sp>
        <p:nvSpPr>
          <p:cNvPr id="28" name="Rounded Rectangle 27"/>
          <p:cNvSpPr/>
          <p:nvPr/>
        </p:nvSpPr>
        <p:spPr>
          <a:xfrm>
            <a:off x="9303791" y="5406263"/>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0626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오류 수정과 전체 회귀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수정 기록과 전체 회귀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실패한 시나리오만 원인을 따라가 고치고, 전체 회귀로 긴급 조건과 기존 조건이 함께 통과하는지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94331"/>
            <a:ext cx="731520" cy="731520"/>
          </a:xfrm>
          <a:prstGeom prst="ellipse">
            <a:avLst/>
          </a:prstGeom>
          <a:solidFill>
            <a:srgbClr val="E7F3FD"/>
          </a:solidFill>
          <a:ln>
            <a:noFill/>
          </a:ln>
        </p:spPr>
        <p:txBody>
          <a:bodyPr rtlCol="0" anchor="ctr"/>
          <a:lstStyle/>
          <a:p>
            <a:pPr algn="ctr"/>
          </a:p>
        </p:txBody>
      </p:sp>
      <p:pic>
        <p:nvPicPr>
          <p:cNvPr id="8" name="아이콘:bug" descr="bug_13294B_1.6.png"/>
          <p:cNvPicPr>
            <a:picLocks noChangeAspect="1"/>
          </p:cNvPicPr>
          <p:nvPr/>
        </p:nvPicPr>
        <p:blipFill>
          <a:blip r:embed="rId3"/>
          <a:stretch>
            <a:fillRect/>
          </a:stretch>
        </p:blipFill>
        <p:spPr>
          <a:xfrm>
            <a:off x="930859" y="2547950"/>
            <a:ext cx="424281" cy="424281"/>
          </a:xfrm>
          <a:prstGeom prst="rect">
            <a:avLst/>
          </a:prstGeom>
        </p:spPr>
      </p:pic>
      <p:sp>
        <p:nvSpPr>
          <p:cNvPr id="9" name="TextBox 8"/>
          <p:cNvSpPr txBox="1"/>
          <p:nvPr/>
        </p:nvSpPr>
        <p:spPr>
          <a:xfrm>
            <a:off x="713232"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입력</a:t>
            </a:r>
          </a:p>
          <a:p>
            <a:pPr algn="l" eaLnBrk="0">
              <a:lnSpc>
                <a:spcPct val="110000"/>
              </a:lnSpc>
              <a:spcAft>
                <a:spcPts val="400"/>
              </a:spcAft>
            </a:pPr>
            <a:r>
              <a:rPr sz="1650" b="0">
                <a:solidFill>
                  <a:srgbClr val="1F2A3A"/>
                </a:solidFill>
                <a:latin typeface="맑은 고딕"/>
                <a:ea typeface="맑은 고딕"/>
                <a:cs typeface="맑은 고딕"/>
              </a:rPr>
              <a:t>위반 목록에서 실제로 실패한 시나리오</a:t>
            </a:r>
          </a:p>
        </p:txBody>
      </p:sp>
      <p:sp>
        <p:nvSpPr>
          <p:cNvPr id="10" name="Rounded Rectangle 9"/>
          <p:cNvSpPr/>
          <p:nvPr/>
        </p:nvSpPr>
        <p:spPr>
          <a:xfrm>
            <a:off x="777240" y="535978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5978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출발점</a:t>
            </a:r>
          </a:p>
        </p:txBody>
      </p:sp>
      <p:sp>
        <p:nvSpPr>
          <p:cNvPr id="12" name="Rounded Rectangle 11"/>
          <p:cNvSpPr/>
          <p:nvPr/>
        </p:nvSpPr>
        <p:spPr>
          <a:xfrm>
            <a:off x="3390823"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94331"/>
            <a:ext cx="731520" cy="731520"/>
          </a:xfrm>
          <a:prstGeom prst="ellipse">
            <a:avLst/>
          </a:prstGeom>
          <a:solidFill>
            <a:srgbClr val="E7F3FD"/>
          </a:solidFill>
          <a:ln>
            <a:noFill/>
          </a:ln>
        </p:spPr>
        <p:txBody>
          <a:bodyPr rtlCol="0" anchor="ctr"/>
          <a:lstStyle/>
          <a:p>
            <a:pPr algn="ctr"/>
          </a:p>
        </p:txBody>
      </p:sp>
      <p:pic>
        <p:nvPicPr>
          <p:cNvPr id="14" name="아이콘:tool" descr="tool_13294B_1.6.png"/>
          <p:cNvPicPr>
            <a:picLocks noChangeAspect="1"/>
          </p:cNvPicPr>
          <p:nvPr/>
        </p:nvPicPr>
        <p:blipFill>
          <a:blip r:embed="rId4"/>
          <a:stretch>
            <a:fillRect/>
          </a:stretch>
        </p:blipFill>
        <p:spPr>
          <a:xfrm>
            <a:off x="3773043" y="2547950"/>
            <a:ext cx="424281" cy="424281"/>
          </a:xfrm>
          <a:prstGeom prst="rect">
            <a:avLst/>
          </a:prstGeom>
        </p:spPr>
      </p:pic>
      <p:sp>
        <p:nvSpPr>
          <p:cNvPr id="15" name="TextBox 14"/>
          <p:cNvSpPr txBox="1"/>
          <p:nvPr/>
        </p:nvSpPr>
        <p:spPr>
          <a:xfrm>
            <a:off x="3555415"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원인과 수정</a:t>
            </a:r>
          </a:p>
          <a:p>
            <a:pPr algn="l" eaLnBrk="0" marL="188595" indent="-188595">
              <a:lnSpc>
                <a:spcPct val="110000"/>
              </a:lnSpc>
              <a:spcAft>
                <a:spcPts val="400"/>
              </a:spcAft>
            </a:pPr>
            <a:r>
              <a:rPr sz="1650" b="0">
                <a:solidFill>
                  <a:srgbClr val="1F2A3A"/>
                </a:solidFill>
                <a:latin typeface="맑은 고딕"/>
                <a:ea typeface="맑은 고딕"/>
                <a:cs typeface="맑은 고딕"/>
              </a:rPr>
              <a:t>• 프롬프트 · 명세 · 코드 가운데</a:t>
            </a:r>
          </a:p>
          <a:p>
            <a:pPr algn="l" eaLnBrk="0" marL="188595" indent="-188595">
              <a:lnSpc>
                <a:spcPct val="110000"/>
              </a:lnSpc>
              <a:spcAft>
                <a:spcPts val="400"/>
              </a:spcAft>
            </a:pPr>
            <a:r>
              <a:rPr sz="1650" b="0">
                <a:solidFill>
                  <a:srgbClr val="1F2A3A"/>
                </a:solidFill>
                <a:latin typeface="맑은 고딕"/>
                <a:ea typeface="맑은 고딕"/>
                <a:cs typeface="맑은 고딕"/>
              </a:rPr>
              <a:t>• 고칠 곳을 가려 고친다 · 기대값은 낮추지 않는다</a:t>
            </a:r>
          </a:p>
        </p:txBody>
      </p:sp>
      <p:sp>
        <p:nvSpPr>
          <p:cNvPr id="16" name="Rounded Rectangle 15"/>
          <p:cNvSpPr/>
          <p:nvPr/>
        </p:nvSpPr>
        <p:spPr>
          <a:xfrm>
            <a:off x="3619423" y="535978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5978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8" name="Rounded Rectangle 17"/>
          <p:cNvSpPr/>
          <p:nvPr/>
        </p:nvSpPr>
        <p:spPr>
          <a:xfrm>
            <a:off x="6233007" y="2193162"/>
            <a:ext cx="2567863" cy="359638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94331"/>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547950"/>
            <a:ext cx="424281" cy="424281"/>
          </a:xfrm>
          <a:prstGeom prst="rect">
            <a:avLst/>
          </a:prstGeom>
        </p:spPr>
      </p:pic>
      <p:sp>
        <p:nvSpPr>
          <p:cNvPr id="21" name="TextBox 20"/>
          <p:cNvSpPr txBox="1"/>
          <p:nvPr/>
        </p:nvSpPr>
        <p:spPr>
          <a:xfrm>
            <a:off x="6397599"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수정 기록 · 회귀 결과</a:t>
            </a:r>
          </a:p>
          <a:p>
            <a:pPr algn="l" eaLnBrk="0" marL="188595" indent="-188595">
              <a:lnSpc>
                <a:spcPct val="110000"/>
              </a:lnSpc>
              <a:spcAft>
                <a:spcPts val="400"/>
              </a:spcAft>
            </a:pPr>
            <a:r>
              <a:rPr sz="1650" b="0">
                <a:solidFill>
                  <a:srgbClr val="1F2A3A"/>
                </a:solidFill>
                <a:latin typeface="맑은 고딕"/>
                <a:ea typeface="맑은 고딕"/>
                <a:cs typeface="맑은 고딕"/>
              </a:rPr>
              <a:t>• 무엇을 왜 고쳤는지</a:t>
            </a:r>
          </a:p>
          <a:p>
            <a:pPr algn="l" eaLnBrk="0" marL="188595" indent="-188595">
              <a:lnSpc>
                <a:spcPct val="110000"/>
              </a:lnSpc>
              <a:spcAft>
                <a:spcPts val="400"/>
              </a:spcAft>
            </a:pPr>
            <a:r>
              <a:rPr sz="1650" b="0">
                <a:solidFill>
                  <a:srgbClr val="1F2A3A"/>
                </a:solidFill>
                <a:latin typeface="맑은 고딕"/>
                <a:ea typeface="맑은 고딕"/>
                <a:cs typeface="맑은 고딕"/>
              </a:rPr>
              <a:t>• 다시 실행한 시나리오 전체의 결과</a:t>
            </a:r>
          </a:p>
        </p:txBody>
      </p:sp>
      <p:sp>
        <p:nvSpPr>
          <p:cNvPr id="22" name="Rounded Rectangle 21"/>
          <p:cNvSpPr/>
          <p:nvPr/>
        </p:nvSpPr>
        <p:spPr>
          <a:xfrm>
            <a:off x="6461607" y="535978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5978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93162"/>
            <a:ext cx="2567863" cy="359638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94331"/>
            <a:ext cx="731520" cy="731520"/>
          </a:xfrm>
          <a:prstGeom prst="ellipse">
            <a:avLst/>
          </a:prstGeom>
          <a:solidFill>
            <a:srgbClr val="5CB8F2"/>
          </a:solidFill>
          <a:ln>
            <a:noFill/>
          </a:ln>
        </p:spPr>
        <p:txBody>
          <a:bodyPr rtlCol="0" anchor="ctr"/>
          <a:lstStyle/>
          <a:p>
            <a:pPr algn="ctr"/>
          </a:p>
        </p:txBody>
      </p:sp>
      <p:pic>
        <p:nvPicPr>
          <p:cNvPr id="26" name="아이콘:checks" descr="checks_13294B_1.6.png"/>
          <p:cNvPicPr>
            <a:picLocks noChangeAspect="1"/>
          </p:cNvPicPr>
          <p:nvPr/>
        </p:nvPicPr>
        <p:blipFill>
          <a:blip r:embed="rId6"/>
          <a:stretch>
            <a:fillRect/>
          </a:stretch>
        </p:blipFill>
        <p:spPr>
          <a:xfrm>
            <a:off x="9457410" y="2547950"/>
            <a:ext cx="424281" cy="424281"/>
          </a:xfrm>
          <a:prstGeom prst="rect">
            <a:avLst/>
          </a:prstGeom>
        </p:spPr>
      </p:pic>
      <p:sp>
        <p:nvSpPr>
          <p:cNvPr id="27" name="TextBox 26"/>
          <p:cNvSpPr txBox="1"/>
          <p:nvPr/>
        </p:nvSpPr>
        <p:spPr>
          <a:xfrm>
            <a:off x="9239783" y="3217291"/>
            <a:ext cx="2238679" cy="2069338"/>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성공 기준</a:t>
            </a:r>
          </a:p>
          <a:p>
            <a:pPr algn="l" eaLnBrk="0" marL="188595" indent="-188595">
              <a:lnSpc>
                <a:spcPct val="110000"/>
              </a:lnSpc>
              <a:spcAft>
                <a:spcPts val="400"/>
              </a:spcAft>
            </a:pPr>
            <a:r>
              <a:rPr sz="1650" b="0">
                <a:solidFill>
                  <a:srgbClr val="1F2A3A"/>
                </a:solidFill>
                <a:latin typeface="맑은 고딕"/>
                <a:ea typeface="맑은 고딕"/>
                <a:cs typeface="맑은 고딕"/>
              </a:rPr>
              <a:t>• 긴급 조건이 동작한다</a:t>
            </a:r>
          </a:p>
          <a:p>
            <a:pPr algn="l" eaLnBrk="0" marL="188595" indent="-188595">
              <a:lnSpc>
                <a:spcPct val="110000"/>
              </a:lnSpc>
              <a:spcAft>
                <a:spcPts val="400"/>
              </a:spcAft>
            </a:pPr>
            <a:r>
              <a:rPr sz="1650" b="0">
                <a:solidFill>
                  <a:srgbClr val="1F2A3A"/>
                </a:solidFill>
                <a:latin typeface="맑은 고딕"/>
                <a:ea typeface="맑은 고딕"/>
                <a:cs typeface="맑은 고딕"/>
              </a:rPr>
              <a:t>• 일반 요청 · 보류 · 거절 조건이 그대로 통과한다</a:t>
            </a:r>
          </a:p>
        </p:txBody>
      </p:sp>
      <p:sp>
        <p:nvSpPr>
          <p:cNvPr id="28" name="Rounded Rectangle 27"/>
          <p:cNvSpPr/>
          <p:nvPr/>
        </p:nvSpPr>
        <p:spPr>
          <a:xfrm>
            <a:off x="9303791" y="535978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5978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업무 데이터를 연결한</a:t>
            </a:r>
          </a:p>
          <a:p>
            <a:pPr algn="l" eaLnBrk="0">
              <a:lnSpc>
                <a:spcPct val="110000"/>
              </a:lnSpc>
            </a:pPr>
            <a:r>
              <a:rPr sz="3400" b="1">
                <a:solidFill>
                  <a:srgbClr val="13294B"/>
                </a:solidFill>
                <a:latin typeface="맑은 고딕"/>
                <a:ea typeface="맑은 고딕"/>
                <a:cs typeface="맑은 고딕"/>
              </a:rPr>
              <a:t>교대 인수인계서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출처를 엮은 인수인계서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출처의 조회 결과를 출처에 둔 채 엮어, 항목마다 근거 시각이 붙은 인수인계서를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115693"/>
            <a:ext cx="2567863" cy="375132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16861"/>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30859" y="2470480"/>
            <a:ext cx="424281" cy="424281"/>
          </a:xfrm>
          <a:prstGeom prst="rect">
            <a:avLst/>
          </a:prstGeom>
        </p:spPr>
      </p:pic>
      <p:sp>
        <p:nvSpPr>
          <p:cNvPr id="9" name="TextBox 8"/>
          <p:cNvSpPr txBox="1"/>
          <p:nvPr/>
        </p:nvSpPr>
        <p:spPr>
          <a:xfrm>
            <a:off x="713232" y="3139821"/>
            <a:ext cx="2238679" cy="2224278"/>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세 출처</a:t>
            </a:r>
          </a:p>
          <a:p>
            <a:pPr algn="l" eaLnBrk="0" marL="171450" indent="-171450">
              <a:lnSpc>
                <a:spcPct val="110000"/>
              </a:lnSpc>
              <a:spcAft>
                <a:spcPts val="400"/>
              </a:spcAft>
            </a:pPr>
            <a:r>
              <a:rPr sz="1500" b="0">
                <a:solidFill>
                  <a:srgbClr val="1F2A3A"/>
                </a:solidFill>
                <a:latin typeface="맑은 고딕"/>
                <a:ea typeface="맑은 고딕"/>
                <a:cs typeface="맑은 고딕"/>
              </a:rPr>
              <a:t>• 설비 이벤트 · 정비 이력 · 부품 DB의 조회 결과</a:t>
            </a:r>
          </a:p>
          <a:p>
            <a:pPr algn="l" eaLnBrk="0" marL="171450" indent="-171450">
              <a:lnSpc>
                <a:spcPct val="110000"/>
              </a:lnSpc>
              <a:spcAft>
                <a:spcPts val="400"/>
              </a:spcAft>
            </a:pPr>
            <a:r>
              <a:rPr sz="1500" b="0">
                <a:solidFill>
                  <a:srgbClr val="1F2A3A"/>
                </a:solidFill>
                <a:latin typeface="맑은 고딕"/>
                <a:ea typeface="맑은 고딕"/>
                <a:cs typeface="맑은 고딕"/>
              </a:rPr>
              <a:t>• 또는 같은 스키마의 준비 자료</a:t>
            </a:r>
          </a:p>
        </p:txBody>
      </p:sp>
      <p:sp>
        <p:nvSpPr>
          <p:cNvPr id="10" name="Rounded Rectangle 9"/>
          <p:cNvSpPr/>
          <p:nvPr/>
        </p:nvSpPr>
        <p:spPr>
          <a:xfrm>
            <a:off x="777240" y="543725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725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115693"/>
            <a:ext cx="2567863" cy="375132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3619423" y="2316861"/>
            <a:ext cx="731520" cy="731520"/>
          </a:xfrm>
          <a:prstGeom prst="ellipse">
            <a:avLst/>
          </a:prstGeom>
          <a:solidFill>
            <a:srgbClr val="5CB8F2"/>
          </a:solidFill>
          <a:ln>
            <a:noFill/>
          </a:ln>
        </p:spPr>
        <p:txBody>
          <a:bodyPr rtlCol="0" anchor="ctr"/>
          <a:lstStyle/>
          <a:p>
            <a:pPr algn="ctr"/>
          </a:p>
        </p:txBody>
      </p:sp>
      <p:pic>
        <p:nvPicPr>
          <p:cNvPr id="14" name="아이콘:plug-connected" descr="plug-connected_13294B_1.6.png"/>
          <p:cNvPicPr>
            <a:picLocks noChangeAspect="1"/>
          </p:cNvPicPr>
          <p:nvPr/>
        </p:nvPicPr>
        <p:blipFill>
          <a:blip r:embed="rId4"/>
          <a:stretch>
            <a:fillRect/>
          </a:stretch>
        </p:blipFill>
        <p:spPr>
          <a:xfrm>
            <a:off x="3773043" y="2470480"/>
            <a:ext cx="424281" cy="424281"/>
          </a:xfrm>
          <a:prstGeom prst="rect">
            <a:avLst/>
          </a:prstGeom>
        </p:spPr>
      </p:pic>
      <p:sp>
        <p:nvSpPr>
          <p:cNvPr id="15" name="TextBox 14"/>
          <p:cNvSpPr txBox="1"/>
          <p:nvPr/>
        </p:nvSpPr>
        <p:spPr>
          <a:xfrm>
            <a:off x="3555415" y="3139821"/>
            <a:ext cx="2238679" cy="2224278"/>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데이터 패브릭(Data Fabric)</a:t>
            </a:r>
          </a:p>
          <a:p>
            <a:pPr algn="l" eaLnBrk="0" marL="171450" indent="-171450">
              <a:lnSpc>
                <a:spcPct val="110000"/>
              </a:lnSpc>
              <a:spcAft>
                <a:spcPts val="400"/>
              </a:spcAft>
            </a:pPr>
            <a:r>
              <a:rPr sz="1500" b="0">
                <a:solidFill>
                  <a:srgbClr val="1F2A3A"/>
                </a:solidFill>
                <a:latin typeface="맑은 고딕"/>
                <a:ea typeface="맑은 고딕"/>
                <a:cs typeface="맑은 고딕"/>
              </a:rPr>
              <a:t>• 데이터를 한곳으로 옮겨 모으지 않고</a:t>
            </a:r>
          </a:p>
          <a:p>
            <a:pPr algn="l" eaLnBrk="0" marL="171450" indent="-171450">
              <a:lnSpc>
                <a:spcPct val="110000"/>
              </a:lnSpc>
              <a:spcAft>
                <a:spcPts val="400"/>
              </a:spcAft>
            </a:pPr>
            <a:r>
              <a:rPr sz="1500" b="0">
                <a:solidFill>
                  <a:srgbClr val="1F2A3A"/>
                </a:solidFill>
                <a:latin typeface="맑은 고딕"/>
                <a:ea typeface="맑은 고딕"/>
                <a:cs typeface="맑은 고딕"/>
              </a:rPr>
              <a:t>• 출처에 둔 채 연결해 함께 읽는 방식</a:t>
            </a:r>
          </a:p>
        </p:txBody>
      </p:sp>
      <p:sp>
        <p:nvSpPr>
          <p:cNvPr id="16" name="Rounded Rectangle 15"/>
          <p:cNvSpPr/>
          <p:nvPr/>
        </p:nvSpPr>
        <p:spPr>
          <a:xfrm>
            <a:off x="3619423" y="5437251"/>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3619423" y="543725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 방식</a:t>
            </a:r>
          </a:p>
        </p:txBody>
      </p:sp>
      <p:sp>
        <p:nvSpPr>
          <p:cNvPr id="18" name="Rounded Rectangle 17"/>
          <p:cNvSpPr/>
          <p:nvPr/>
        </p:nvSpPr>
        <p:spPr>
          <a:xfrm>
            <a:off x="6233007" y="2115693"/>
            <a:ext cx="2567863" cy="375132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16861"/>
            <a:ext cx="731520" cy="731520"/>
          </a:xfrm>
          <a:prstGeom prst="ellipse">
            <a:avLst/>
          </a:prstGeom>
          <a:solidFill>
            <a:srgbClr val="E7F3FD"/>
          </a:solidFill>
          <a:ln>
            <a:noFill/>
          </a:ln>
        </p:spPr>
        <p:txBody>
          <a:bodyPr rtlCol="0" anchor="ctr"/>
          <a:lstStyle/>
          <a:p>
            <a:pPr algn="ctr"/>
          </a:p>
        </p:txBody>
      </p:sp>
      <p:pic>
        <p:nvPicPr>
          <p:cNvPr id="20" name="아이콘:file-description" descr="file-description_13294B_1.6.png"/>
          <p:cNvPicPr>
            <a:picLocks noChangeAspect="1"/>
          </p:cNvPicPr>
          <p:nvPr/>
        </p:nvPicPr>
        <p:blipFill>
          <a:blip r:embed="rId5"/>
          <a:stretch>
            <a:fillRect/>
          </a:stretch>
        </p:blipFill>
        <p:spPr>
          <a:xfrm>
            <a:off x="6615226" y="2470480"/>
            <a:ext cx="424281" cy="424281"/>
          </a:xfrm>
          <a:prstGeom prst="rect">
            <a:avLst/>
          </a:prstGeom>
        </p:spPr>
      </p:pic>
      <p:sp>
        <p:nvSpPr>
          <p:cNvPr id="21" name="TextBox 20"/>
          <p:cNvSpPr txBox="1"/>
          <p:nvPr/>
        </p:nvSpPr>
        <p:spPr>
          <a:xfrm>
            <a:off x="6397599" y="3139821"/>
            <a:ext cx="2238679" cy="2224278"/>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인수인계서</a:t>
            </a:r>
          </a:p>
          <a:p>
            <a:pPr algn="l" eaLnBrk="0" marL="171450" indent="-171450">
              <a:lnSpc>
                <a:spcPct val="110000"/>
              </a:lnSpc>
              <a:spcAft>
                <a:spcPts val="400"/>
              </a:spcAft>
            </a:pPr>
            <a:r>
              <a:rPr sz="1500" b="0">
                <a:solidFill>
                  <a:srgbClr val="1F2A3A"/>
                </a:solidFill>
                <a:latin typeface="맑은 고딕"/>
                <a:ea typeface="맑은 고딕"/>
                <a:cs typeface="맑은 고딕"/>
              </a:rPr>
              <a:t>• 완료 작업 · 미완료 요청 · 주의 사항</a:t>
            </a:r>
          </a:p>
          <a:p>
            <a:pPr algn="l" eaLnBrk="0" marL="171450" indent="-171450">
              <a:lnSpc>
                <a:spcPct val="110000"/>
              </a:lnSpc>
              <a:spcAft>
                <a:spcPts val="400"/>
              </a:spcAft>
            </a:pPr>
            <a:r>
              <a:rPr sz="1500" b="0">
                <a:solidFill>
                  <a:srgbClr val="1F2A3A"/>
                </a:solidFill>
                <a:latin typeface="맑은 고딕"/>
                <a:ea typeface="맑은 고딕"/>
                <a:cs typeface="맑은 고딕"/>
              </a:rPr>
              <a:t>• 항목마다 출처와 근거 시각</a:t>
            </a:r>
          </a:p>
        </p:txBody>
      </p:sp>
      <p:sp>
        <p:nvSpPr>
          <p:cNvPr id="22" name="Rounded Rectangle 21"/>
          <p:cNvSpPr/>
          <p:nvPr/>
        </p:nvSpPr>
        <p:spPr>
          <a:xfrm>
            <a:off x="6461607" y="543725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725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24" name="Rounded Rectangle 23"/>
          <p:cNvSpPr/>
          <p:nvPr/>
        </p:nvSpPr>
        <p:spPr>
          <a:xfrm>
            <a:off x="9075191" y="2115693"/>
            <a:ext cx="2567863" cy="375132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316861"/>
            <a:ext cx="731520" cy="731520"/>
          </a:xfrm>
          <a:prstGeom prst="ellipse">
            <a:avLst/>
          </a:prstGeom>
          <a:solidFill>
            <a:srgbClr val="E7F3FD"/>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470480"/>
            <a:ext cx="424281" cy="424281"/>
          </a:xfrm>
          <a:prstGeom prst="rect">
            <a:avLst/>
          </a:prstGeom>
        </p:spPr>
      </p:pic>
      <p:sp>
        <p:nvSpPr>
          <p:cNvPr id="27" name="TextBox 26"/>
          <p:cNvSpPr txBox="1"/>
          <p:nvPr/>
        </p:nvSpPr>
        <p:spPr>
          <a:xfrm>
            <a:off x="9239783" y="3139821"/>
            <a:ext cx="2238679" cy="2224278"/>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성공 기준</a:t>
            </a:r>
          </a:p>
          <a:p>
            <a:pPr algn="l" eaLnBrk="0" marL="171450" indent="-171450">
              <a:lnSpc>
                <a:spcPct val="110000"/>
              </a:lnSpc>
              <a:spcAft>
                <a:spcPts val="400"/>
              </a:spcAft>
            </a:pPr>
            <a:r>
              <a:rPr sz="1500" b="0">
                <a:solidFill>
                  <a:srgbClr val="1F2A3A"/>
                </a:solidFill>
                <a:latin typeface="맑은 고딕"/>
                <a:ea typeface="맑은 고딕"/>
                <a:cs typeface="맑은 고딕"/>
              </a:rPr>
              <a:t>• 항목마다 어느 출처의 언제 값인지 찾아진다</a:t>
            </a:r>
          </a:p>
          <a:p>
            <a:pPr algn="l" eaLnBrk="0" marL="171450" indent="-171450">
              <a:lnSpc>
                <a:spcPct val="110000"/>
              </a:lnSpc>
              <a:spcAft>
                <a:spcPts val="400"/>
              </a:spcAft>
            </a:pPr>
            <a:r>
              <a:rPr sz="1500" b="0">
                <a:solidFill>
                  <a:srgbClr val="1F2A3A"/>
                </a:solidFill>
                <a:latin typeface="맑은 고딕"/>
                <a:ea typeface="맑은 고딕"/>
                <a:cs typeface="맑은 고딕"/>
              </a:rPr>
              <a:t>• 읽지 못한 출처는 그 사실을 적는다</a:t>
            </a:r>
          </a:p>
        </p:txBody>
      </p:sp>
      <p:sp>
        <p:nvSpPr>
          <p:cNvPr id="28" name="Rounded Rectangle 27"/>
          <p:cNvSpPr/>
          <p:nvPr/>
        </p:nvSpPr>
        <p:spPr>
          <a:xfrm>
            <a:off x="9303791" y="5437251"/>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437251"/>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 제작부터 검증까지의</a:t>
            </a:r>
          </a:p>
          <a:p>
            <a:pPr algn="l" eaLnBrk="0">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목표와 도구, 스킬과 MCP, 사람의 결정, 명세와 검증을 쿨러 사건 하나에 잇는다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에이전트</a:t>
            </a:r>
          </a:p>
          <a:p>
            <a:pPr algn="ctr" eaLnBrk="0">
              <a:lnSpc>
                <a:spcPct val="110000"/>
              </a:lnSpc>
              <a:spcAft>
                <a:spcPts val="400"/>
              </a:spcAft>
            </a:pPr>
            <a:r>
              <a:rPr sz="1200" b="0">
                <a:solidFill>
                  <a:srgbClr val="1F2A3A"/>
                </a:solidFill>
                <a:latin typeface="맑은 고딕"/>
                <a:ea typeface="맑은 고딕"/>
                <a:cs typeface="맑은 고딕"/>
              </a:rPr>
              <a:t>답만 하던 모델이</a:t>
            </a:r>
          </a:p>
          <a:p>
            <a:pPr algn="ctr" eaLnBrk="0">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스킬</a:t>
            </a:r>
          </a:p>
          <a:p>
            <a:pPr algn="ctr" eaLnBrk="0">
              <a:lnSpc>
                <a:spcPct val="110000"/>
              </a:lnSpc>
              <a:spcAft>
                <a:spcPts val="400"/>
              </a:spcAft>
            </a:pPr>
            <a:r>
              <a:rPr sz="1200" b="0">
                <a:solidFill>
                  <a:srgbClr val="1F2A3A"/>
                </a:solidFill>
                <a:latin typeface="맑은 고딕"/>
                <a:ea typeface="맑은 고딕"/>
                <a:cs typeface="맑은 고딕"/>
              </a:rPr>
              <a:t>실행마다 다르던</a:t>
            </a:r>
          </a:p>
          <a:p>
            <a:pPr algn="ctr" eaLnBrk="0">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MCP</a:t>
            </a:r>
          </a:p>
          <a:p>
            <a:pPr algn="ctr" eaLnBrk="0">
              <a:lnSpc>
                <a:spcPct val="110000"/>
              </a:lnSpc>
              <a:spcAft>
                <a:spcPts val="400"/>
              </a:spcAft>
            </a:pPr>
            <a:r>
              <a:rPr sz="1200" b="0">
                <a:solidFill>
                  <a:srgbClr val="1F2A3A"/>
                </a:solidFill>
                <a:latin typeface="맑은 고딕"/>
                <a:ea typeface="맑은 고딕"/>
                <a:cs typeface="맑은 고딕"/>
              </a:rPr>
              <a:t>시스템의 값을</a:t>
            </a:r>
          </a:p>
          <a:p>
            <a:pPr algn="ctr" eaLnBrk="0">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HITL</a:t>
            </a:r>
          </a:p>
          <a:p>
            <a:pPr algn="ctr" eaLnBrk="0">
              <a:lnSpc>
                <a:spcPct val="110000"/>
              </a:lnSpc>
              <a:spcAft>
                <a:spcPts val="400"/>
              </a:spcAft>
            </a:pPr>
            <a:r>
              <a:rPr sz="1200" b="0">
                <a:solidFill>
                  <a:srgbClr val="1F2A3A"/>
                </a:solidFill>
                <a:latin typeface="맑은 고딕"/>
                <a:ea typeface="맑은 고딕"/>
                <a:cs typeface="맑은 고딕"/>
              </a:rPr>
              <a:t>실행의 결정을</a:t>
            </a:r>
          </a:p>
          <a:p>
            <a:pPr algn="ctr" eaLnBrk="0">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SDD</a:t>
            </a:r>
          </a:p>
          <a:p>
            <a:pPr algn="ctr" eaLnBrk="0">
              <a:lnSpc>
                <a:spcPct val="110000"/>
              </a:lnSpc>
              <a:spcAft>
                <a:spcPts val="400"/>
              </a:spcAft>
            </a:pPr>
            <a:r>
              <a:rPr sz="1200" b="0">
                <a:solidFill>
                  <a:srgbClr val="1F2A3A"/>
                </a:solidFill>
                <a:latin typeface="맑은 고딕"/>
                <a:ea typeface="맑은 고딕"/>
                <a:cs typeface="맑은 고딕"/>
              </a:rPr>
              <a:t>지킬 것을</a:t>
            </a:r>
          </a:p>
          <a:p>
            <a:pPr algn="ctr" eaLnBrk="0">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eaLnBrk="0">
              <a:lnSpc>
                <a:spcPct val="110000"/>
              </a:lnSpc>
              <a:spcAft>
                <a:spcPts val="400"/>
              </a:spcAft>
            </a:pPr>
            <a:r>
              <a:rPr sz="1500" b="1">
                <a:solidFill>
                  <a:srgbClr val="13294B"/>
                </a:solidFill>
                <a:latin typeface="맑은 고딕"/>
                <a:ea typeface="맑은 고딕"/>
                <a:cs typeface="맑은 고딕"/>
              </a:rPr>
              <a:t>BDD</a:t>
            </a:r>
          </a:p>
          <a:p>
            <a:pPr algn="ctr" eaLnBrk="0">
              <a:lnSpc>
                <a:spcPct val="110000"/>
              </a:lnSpc>
              <a:spcAft>
                <a:spcPts val="400"/>
              </a:spcAft>
            </a:pPr>
            <a:r>
              <a:rPr sz="1200" b="0">
                <a:solidFill>
                  <a:srgbClr val="1F2A3A"/>
                </a:solidFill>
                <a:latin typeface="맑은 고딕"/>
                <a:ea typeface="맑은 고딕"/>
                <a:cs typeface="맑은 고딕"/>
              </a:rPr>
              <a:t>적은 대로 하는지</a:t>
            </a:r>
          </a:p>
          <a:p>
            <a:pPr algn="ctr" eaLnBrk="0">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 한 건 위에 놓인 장치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pic>
        <p:nvPicPr>
          <p:cNvPr id="6" name="삽화:사건위장치.svg" descr="illust_311757506337009648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a:p>
            <a:pPr algn="ctr" eaLnBrk="0">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026828" y="1934916"/>
            <a:ext cx="141823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a:p>
            <a:pPr algn="ctr" eaLnBrk="0">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a:t>
            </a:r>
          </a:p>
          <a:p>
            <a:pPr algn="ctr" eaLnBrk="0">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스킬 · MCP 도구</a:t>
            </a:r>
          </a:p>
        </p:txBody>
      </p:sp>
      <p:sp>
        <p:nvSpPr>
          <p:cNvPr id="15" name="TextBox 14"/>
          <p:cNvSpPr txBox="1"/>
          <p:nvPr/>
        </p:nvSpPr>
        <p:spPr>
          <a:xfrm>
            <a:off x="6586774" y="4062267"/>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 · 사람의 승인</a:t>
            </a:r>
          </a:p>
        </p:txBody>
      </p:sp>
      <p:sp>
        <p:nvSpPr>
          <p:cNvPr id="16" name="TextBox 15"/>
          <p:cNvSpPr txBox="1"/>
          <p:nvPr/>
        </p:nvSpPr>
        <p:spPr>
          <a:xfrm>
            <a:off x="7295892" y="5433227"/>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시나리오와 회귀 시험</a:t>
            </a:r>
          </a:p>
          <a:p>
            <a:pPr algn="ctr" eaLnBrk="0">
              <a:lnSpc>
                <a:spcPct val="110000"/>
              </a:lnSpc>
              <a:spcAft>
                <a:spcPts val="100"/>
              </a:spcAft>
            </a:pPr>
            <a:r>
              <a:rPr sz="1300" b="0">
                <a:solidFill>
                  <a:srgbClr val="556175"/>
                </a:solidFill>
                <a:latin typeface="맑은 고딕"/>
                <a:ea typeface="맑은 고딕"/>
                <a:cs typeface="맑은 고딕"/>
              </a:rPr>
              <a:t>경보에서 명령까지 전체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목표가 없다</a:t>
            </a:r>
          </a:p>
          <a:p>
            <a:pPr algn="l" eaLnBrk="0" marL="205740" indent="-205740">
              <a:lnSpc>
                <a:spcPct val="110000"/>
              </a:lnSpc>
              <a:spcAft>
                <a:spcPts val="400"/>
              </a:spcAft>
            </a:pPr>
            <a:r>
              <a:rPr sz="1800" b="0">
                <a:solidFill>
                  <a:srgbClr val="1F2A3A"/>
                </a:solidFill>
                <a:latin typeface="맑은 고딕"/>
                <a:ea typeface="맑은 고딕"/>
                <a:cs typeface="맑은 고딕"/>
              </a:rPr>
              <a:t>• 무엇을 이루면 끝나는지가 정해지지 않는다</a:t>
            </a:r>
          </a:p>
          <a:p>
            <a:pPr algn="l" eaLnBrk="0" marL="205740" indent="-205740">
              <a:lnSpc>
                <a:spcPct val="110000"/>
              </a:lnSpc>
              <a:spcAft>
                <a:spcPts val="400"/>
              </a:spcAft>
            </a:pPr>
            <a:r>
              <a:rPr sz="18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도구가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유온과 납기 오더 같은 지금의 값을 읽지 못한다</a:t>
            </a:r>
          </a:p>
          <a:p>
            <a:pPr algn="l" eaLnBrk="0" marL="205740" indent="-205740">
              <a:lnSpc>
                <a:spcPct val="110000"/>
              </a:lnSpc>
              <a:spcAft>
                <a:spcPts val="400"/>
              </a:spcAft>
            </a:pPr>
            <a:r>
              <a:rPr sz="18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멈춤 조건이 없다</a:t>
            </a:r>
          </a:p>
          <a:p>
            <a:pPr algn="l" eaLnBrk="0">
              <a:lnSpc>
                <a:spcPct val="110000"/>
              </a:lnSpc>
              <a:spcAft>
                <a:spcPts val="400"/>
              </a:spcAft>
            </a:pPr>
            <a:r>
              <a:rPr sz="18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259070"/>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pic>
        <p:nvPicPr>
          <p:cNvPr id="6" name="삽화:근거자리.svg" descr="illust_482808162878992692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지식</a:t>
            </a:r>
          </a:p>
          <a:p>
            <a:pPr algn="ctr" eaLnBrk="0">
              <a:lnSpc>
                <a:spcPct val="110000"/>
              </a:lnSpc>
              <a:spcAft>
                <a:spcPts val="100"/>
              </a:spcAft>
            </a:pPr>
            <a:r>
              <a:rPr sz="1200" b="0">
                <a:solidFill>
                  <a:srgbClr val="556175"/>
                </a:solidFill>
                <a:latin typeface="맑은 고딕"/>
                <a:ea typeface="맑은 고딕"/>
                <a:cs typeface="맑은 고딕"/>
              </a:rPr>
              <a:t>지식 그래프의 관계</a:t>
            </a:r>
          </a:p>
        </p:txBody>
      </p:sp>
      <p:sp>
        <p:nvSpPr>
          <p:cNvPr id="8" name="TextBox 7"/>
          <p:cNvSpPr txBox="1"/>
          <p:nvPr/>
        </p:nvSpPr>
        <p:spPr>
          <a:xfrm>
            <a:off x="2255705" y="3234964"/>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후보 셋</a:t>
            </a:r>
          </a:p>
          <a:p>
            <a:pPr algn="ctr" eaLnBrk="0">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조치 방법</a:t>
            </a:r>
          </a:p>
          <a:p>
            <a:pPr algn="ctr" eaLnBrk="0">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현재값</a:t>
            </a:r>
          </a:p>
          <a:p>
            <a:pPr algn="ctr" eaLnBrk="0">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a:p>
            <a:pPr algn="ctr" eaLnBrk="0">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a:p>
            <a:pPr algn="ctr" eaLnBrk="0">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근거마다 읽은 곳</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98598"/>
            <a:ext cx="5181447" cy="2985516"/>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99766"/>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853385"/>
            <a:ext cx="424281" cy="424281"/>
          </a:xfrm>
          <a:prstGeom prst="rect">
            <a:avLst/>
          </a:prstGeom>
        </p:spPr>
      </p:pic>
      <p:sp>
        <p:nvSpPr>
          <p:cNvPr id="9" name="TextBox 8"/>
          <p:cNvSpPr txBox="1"/>
          <p:nvPr/>
        </p:nvSpPr>
        <p:spPr>
          <a:xfrm>
            <a:off x="1691640"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도구를 부르는 순서를 바꾼다</a:t>
            </a:r>
          </a:p>
          <a:p>
            <a:pPr algn="l" eaLnBrk="0" marL="205740" indent="-205740">
              <a:lnSpc>
                <a:spcPct val="110000"/>
              </a:lnSpc>
              <a:spcAft>
                <a:spcPts val="600"/>
              </a:spcAft>
            </a:pPr>
            <a:r>
              <a:rPr sz="1800" b="0">
                <a:solidFill>
                  <a:srgbClr val="1F2A3A"/>
                </a:solidFill>
                <a:latin typeface="맑은 고딕"/>
                <a:ea typeface="맑은 고딕"/>
                <a:cs typeface="맑은 고딕"/>
              </a:rPr>
              <a:t>• 근거가 없을 때의 행동을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5026914"/>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98598"/>
            <a:ext cx="5181447" cy="298551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99766"/>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853385"/>
            <a:ext cx="424281" cy="424281"/>
          </a:xfrm>
          <a:prstGeom prst="rect">
            <a:avLst/>
          </a:prstGeom>
        </p:spPr>
      </p:pic>
      <p:sp>
        <p:nvSpPr>
          <p:cNvPr id="16" name="TextBox 15"/>
          <p:cNvSpPr txBox="1"/>
          <p:nvPr/>
        </p:nvSpPr>
        <p:spPr>
          <a:xfrm>
            <a:off x="7604607" y="269976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550158"/>
            <a:ext cx="4632807" cy="1385316"/>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새 시스템의 값을 읽게 한다</a:t>
            </a:r>
          </a:p>
          <a:p>
            <a:pPr algn="l" eaLnBrk="0" marL="205740" indent="-205740">
              <a:lnSpc>
                <a:spcPct val="110000"/>
              </a:lnSpc>
              <a:spcAft>
                <a:spcPts val="600"/>
              </a:spcAft>
            </a:pPr>
            <a:r>
              <a:rPr sz="1800" b="0">
                <a:solidFill>
                  <a:srgbClr val="1F2A3A"/>
                </a:solidFill>
                <a:latin typeface="맑은 고딕"/>
                <a:ea typeface="맑은 고딕"/>
                <a:cs typeface="맑은 고딕"/>
              </a:rPr>
              <a:t>• 부를 수 있는 도구의 범위를 좁힌다</a:t>
            </a:r>
          </a:p>
          <a:p>
            <a:pPr algn="l" eaLnBrk="0" marL="205740" indent="-205740">
              <a:lnSpc>
                <a:spcPct val="110000"/>
              </a:lnSpc>
              <a:spcAft>
                <a:spcPts val="600"/>
              </a:spcAft>
            </a:pPr>
            <a:r>
              <a:rPr sz="1800" b="0">
                <a:solidFill>
                  <a:srgbClr val="1F2A3A"/>
                </a:solidFill>
                <a:latin typeface="맑은 고딕"/>
                <a:ea typeface="맑은 고딕"/>
                <a:cs typeface="맑은 고딕"/>
              </a:rPr>
              <a:t>• 비밀값과 접근 범위를 정한다</a:t>
            </a:r>
          </a:p>
        </p:txBody>
      </p:sp>
      <p:sp>
        <p:nvSpPr>
          <p:cNvPr id="18" name="Rounded Rectangle 17"/>
          <p:cNvSpPr/>
          <p:nvPr/>
        </p:nvSpPr>
        <p:spPr>
          <a:xfrm>
            <a:off x="6781647" y="5026914"/>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2691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pic>
        <p:nvPicPr>
          <p:cNvPr id="6" name="삽화:두문.svg" descr="illust_171660120141645269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자동 검사</a:t>
            </a:r>
          </a:p>
          <a:p>
            <a:pPr algn="ctr" eaLnBrk="0">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담당자의 승인</a:t>
            </a:r>
          </a:p>
          <a:p>
            <a:pPr algn="ctr" eaLnBrk="0">
              <a:lnSpc>
                <a:spcPct val="110000"/>
              </a:lnSpc>
              <a:spcAft>
                <a:spcPts val="100"/>
              </a:spcAft>
            </a:pPr>
            <a:r>
              <a:rPr sz="1100" b="0">
                <a:solidFill>
                  <a:srgbClr val="556175"/>
                </a:solidFill>
                <a:latin typeface="맑은 고딕"/>
                <a:ea typeface="맑은 고딕"/>
                <a:cs typeface="맑은 고딕"/>
              </a:rPr>
              <a:t>추천의 내용과 지금의 상황</a:t>
            </a:r>
          </a:p>
        </p:txBody>
      </p:sp>
      <p:sp>
        <p:nvSpPr>
          <p:cNvPr id="13" name="TextBox 12"/>
          <p:cNvSpPr txBox="1"/>
          <p:nvPr/>
        </p:nvSpPr>
        <p:spPr>
          <a:xfrm>
            <a:off x="7492262" y="4275002"/>
            <a:ext cx="1527329"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설비 명령</a:t>
            </a:r>
          </a:p>
          <a:p>
            <a:pPr algn="ctr" eaLnBrk="0">
              <a:lnSpc>
                <a:spcPct val="110000"/>
              </a:lnSpc>
              <a:spcAft>
                <a:spcPts val="100"/>
              </a:spcAft>
            </a:pPr>
            <a:r>
              <a:rPr sz="1100" b="0">
                <a:solidFill>
                  <a:srgbClr val="556175"/>
                </a:solidFill>
                <a:latin typeface="맑은 고딕"/>
                <a:ea typeface="맑은 고딕"/>
                <a:cs typeface="맑은 고딕"/>
              </a:rPr>
              <a:t>승인 뒤에만</a:t>
            </a:r>
          </a:p>
        </p:txBody>
      </p:sp>
      <p:sp>
        <p:nvSpPr>
          <p:cNvPr id="15" name="TextBox 14"/>
          <p:cNvSpPr txBox="1"/>
          <p:nvPr/>
        </p:nvSpPr>
        <p:spPr>
          <a:xfrm>
            <a:off x="8823221" y="5409590"/>
            <a:ext cx="196370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결정 기록</a:t>
            </a:r>
          </a:p>
          <a:p>
            <a:pPr algn="ctr" eaLnBrk="0">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a:p>
            <a:pPr algn="ctr" eaLnBrk="0">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a:p>
            <a:pPr algn="ctr" eaLnBrk="0">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명세</a:t>
            </a:r>
          </a:p>
          <a:p>
            <a:pPr algn="ctr" eaLnBrk="0">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시나리오</a:t>
            </a:r>
          </a:p>
          <a:p>
            <a:pPr algn="ctr" eaLnBrk="0">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에이전트</a:t>
            </a:r>
          </a:p>
          <a:p>
            <a:pPr algn="ctr" eaLnBrk="0">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추천안</a:t>
            </a:r>
          </a:p>
          <a:p>
            <a:pPr algn="ctr" eaLnBrk="0">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가드레일</a:t>
            </a:r>
          </a:p>
          <a:p>
            <a:pPr algn="ctr" eaLnBrk="0">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담당자</a:t>
            </a:r>
          </a:p>
          <a:p>
            <a:pPr algn="ctr" eaLnBrk="0">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1935441" y="271672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30066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새 조건의 계약과 금지 조건, 수용 기준을 적는다</a:t>
            </a:r>
          </a:p>
          <a:p>
            <a:pPr algn="ctr" eaLnBrk="0">
              <a:lnSpc>
                <a:spcPct val="110000"/>
              </a:lnSpc>
              <a:spcAft>
                <a:spcPts val="400"/>
              </a:spcAft>
            </a:pPr>
            <a:r>
              <a:rPr sz="16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30066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시나리오를 더한다</a:t>
            </a:r>
          </a:p>
          <a:p>
            <a:pPr algn="ctr" eaLnBrk="0">
              <a:lnSpc>
                <a:spcPct val="110000"/>
              </a:lnSpc>
              <a:spcAft>
                <a:spcPts val="400"/>
              </a:spcAft>
            </a:pPr>
            <a:r>
              <a:rPr sz="1650" b="0">
                <a:solidFill>
                  <a:srgbClr val="1F2A3A"/>
                </a:solidFill>
                <a:latin typeface="맑은 고딕"/>
                <a:ea typeface="맑은 고딕"/>
                <a:cs typeface="맑은 고딕"/>
              </a:rPr>
              <a:t>새 조건의 Given · When · Then과 기대값을 적는다</a:t>
            </a:r>
          </a:p>
          <a:p>
            <a:pPr algn="ctr" eaLnBrk="0">
              <a:lnSpc>
                <a:spcPct val="110000"/>
              </a:lnSpc>
              <a:spcAft>
                <a:spcPts val="400"/>
              </a:spcAft>
            </a:pPr>
            <a:r>
              <a:rPr sz="16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30066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구현한다</a:t>
            </a:r>
          </a:p>
          <a:p>
            <a:pPr algn="ctr" eaLnBrk="0">
              <a:lnSpc>
                <a:spcPct val="110000"/>
              </a:lnSpc>
              <a:spcAft>
                <a:spcPts val="400"/>
              </a:spcAft>
            </a:pPr>
            <a:r>
              <a:rPr sz="1650" b="0">
                <a:solidFill>
                  <a:srgbClr val="1F2A3A"/>
                </a:solidFill>
                <a:latin typeface="맑은 고딕"/>
                <a:ea typeface="맑은 고딕"/>
                <a:cs typeface="맑은 고딕"/>
              </a:rPr>
              <a:t>지침이나 코드를 명세에 맞추어 고친다</a:t>
            </a:r>
          </a:p>
          <a:p>
            <a:pPr algn="ctr" eaLnBrk="0">
              <a:lnSpc>
                <a:spcPct val="110000"/>
              </a:lnSpc>
              <a:spcAft>
                <a:spcPts val="400"/>
              </a:spcAft>
            </a:pPr>
            <a:r>
              <a:rPr sz="16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30066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30066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전체를 다시 실행한다</a:t>
            </a:r>
          </a:p>
          <a:p>
            <a:pPr algn="ctr" eaLnBrk="0">
              <a:lnSpc>
                <a:spcPct val="110000"/>
              </a:lnSpc>
              <a:spcAft>
                <a:spcPts val="400"/>
              </a:spcAft>
            </a:pPr>
            <a:r>
              <a:rPr sz="1650" b="0">
                <a:solidFill>
                  <a:srgbClr val="1F2A3A"/>
                </a:solidFill>
                <a:latin typeface="맑은 고딕"/>
                <a:ea typeface="맑은 고딕"/>
                <a:cs typeface="맑은 고딕"/>
              </a:rPr>
              <a:t>새 시나리오와 기존 시나리오가 모두 통과하는지 확인한다</a:t>
            </a:r>
          </a:p>
          <a:p>
            <a:pPr algn="ctr" eaLnBrk="0">
              <a:lnSpc>
                <a:spcPct val="110000"/>
              </a:lnSpc>
              <a:spcAft>
                <a:spcPts val="400"/>
              </a:spcAft>
            </a:pPr>
            <a:r>
              <a:rPr sz="16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출력 계약의 검사</a:t>
            </a:r>
          </a:p>
          <a:p>
            <a:pPr algn="l" eaLnBrk="0" marL="205740" indent="-205740">
              <a:lnSpc>
                <a:spcPct val="110000"/>
              </a:lnSpc>
              <a:spcAft>
                <a:spcPts val="600"/>
              </a:spcAft>
            </a:pPr>
            <a:r>
              <a:rPr sz="1800" b="0">
                <a:solidFill>
                  <a:srgbClr val="1F2A3A"/>
                </a:solidFill>
                <a:latin typeface="맑은 고딕"/>
                <a:ea typeface="맑은 고딕"/>
                <a:cs typeface="맑은 고딕"/>
              </a:rPr>
              <a:t>• 가드레일</a:t>
            </a:r>
          </a:p>
          <a:p>
            <a:pPr algn="l" eaLnBrk="0" marL="205740" indent="-205740">
              <a:lnSpc>
                <a:spcPct val="110000"/>
              </a:lnSpc>
              <a:spcAft>
                <a:spcPts val="600"/>
              </a:spcAft>
            </a:pPr>
            <a:r>
              <a:rPr sz="1800" b="0">
                <a:solidFill>
                  <a:srgbClr val="1F2A3A"/>
                </a:solidFill>
                <a:latin typeface="맑은 고딕"/>
                <a:ea typeface="맑은 고딕"/>
                <a:cs typeface="맑은 고딕"/>
              </a:rPr>
              <a:t>• 사람의 승인</a:t>
            </a:r>
          </a:p>
          <a:p>
            <a:pPr algn="l" eaLnBrk="0" marL="205740" indent="-205740">
              <a:lnSpc>
                <a:spcPct val="110000"/>
              </a:lnSpc>
              <a:spcAft>
                <a:spcPts val="600"/>
              </a:spcAft>
            </a:pPr>
            <a:r>
              <a:rPr sz="180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20446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실행</a:t>
            </a:r>
          </a:p>
          <a:p>
            <a:pPr algn="l" eaLnBrk="0" marL="205740" indent="-205740">
              <a:lnSpc>
                <a:spcPct val="110000"/>
              </a:lnSpc>
              <a:spcAft>
                <a:spcPts val="600"/>
              </a:spcAft>
            </a:pPr>
            <a:r>
              <a:rPr sz="1800" b="0">
                <a:solidFill>
                  <a:srgbClr val="1F2A3A"/>
                </a:solidFill>
                <a:latin typeface="맑은 고딕"/>
                <a:ea typeface="맑은 고딕"/>
                <a:cs typeface="맑은 고딕"/>
              </a:rPr>
              <a:t>• 판단 채점</a:t>
            </a:r>
          </a:p>
          <a:p>
            <a:pPr algn="l" eaLnBrk="0" marL="205740" indent="-205740">
              <a:lnSpc>
                <a:spcPct val="110000"/>
              </a:lnSpc>
              <a:spcAft>
                <a:spcPts val="600"/>
              </a:spcAft>
            </a:pPr>
            <a:r>
              <a:rPr sz="1800" b="0">
                <a:solidFill>
                  <a:srgbClr val="1F2A3A"/>
                </a:solidFill>
                <a:latin typeface="맑은 고딕"/>
                <a:ea typeface="맑은 고딕"/>
                <a:cs typeface="맑은 고딕"/>
              </a:rPr>
              <a:t>• 전체 회귀</a:t>
            </a:r>
          </a:p>
          <a:p>
            <a:pPr algn="l" eaLnBrk="0" marL="205740" indent="-205740">
              <a:lnSpc>
                <a:spcPct val="110000"/>
              </a:lnSpc>
              <a:spcAft>
                <a:spcPts val="600"/>
              </a:spcAft>
            </a:pPr>
            <a:r>
              <a:rPr sz="180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세산출물.svg" descr="illust_441953474581932547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같은 틀</a:t>
            </a:r>
          </a:p>
          <a:p>
            <a:pPr algn="ctr" eaLnBrk="0">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긴급 대응</a:t>
            </a:r>
          </a:p>
          <a:p>
            <a:pPr algn="ctr" eaLnBrk="0">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정기 정비 계획</a:t>
            </a:r>
          </a:p>
          <a:p>
            <a:pPr algn="ctr" eaLnBrk="0">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예비품 구매</a:t>
            </a:r>
          </a:p>
          <a:p>
            <a:pPr algn="ctr" eaLnBrk="0">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추천안</a:t>
            </a:r>
          </a:p>
          <a:p>
            <a:pPr algn="ctr" eaLnBrk="0">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정비 시간</a:t>
            </a:r>
          </a:p>
          <a:p>
            <a:pPr algn="ctr" eaLnBrk="0">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발주안</a:t>
            </a:r>
          </a:p>
          <a:p>
            <a:pPr algn="ctr" eaLnBrk="0">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실습의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확인되지 않은</a:t>
            </a:r>
          </a:p>
          <a:p>
            <a:pPr algn="l" eaLnBrk="0">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원인이 미확정이면</a:t>
            </a:r>
          </a:p>
          <a:p>
            <a:pPr algn="l" eaLnBrk="0">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도표와 이상 구간 요약</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시계열</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상관만으로 원인을</a:t>
            </a:r>
          </a:p>
          <a:p>
            <a:pPr algn="l" eaLnBrk="0">
              <a:lnSpc>
                <a:spcPct val="110000"/>
              </a:lnSpc>
            </a:pPr>
            <a:r>
              <a:rPr sz="1250" b="1">
                <a:solidFill>
                  <a:srgbClr val="556175"/>
                </a:solidFill>
                <a:latin typeface="맑은 고딕"/>
                <a:ea typeface="맑은 고딕"/>
                <a:cs typeface="맑은 고딕"/>
              </a:rPr>
              <a:t>단정하지 않음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담당자와 기한이</a:t>
            </a:r>
          </a:p>
          <a:p>
            <a:pPr algn="l" eaLnBrk="0">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학습 코치의 피드백</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학습 노트와 매뉴얼</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정답에 출처를</a:t>
            </a:r>
          </a:p>
          <a:p>
            <a:pPr algn="l" eaLnBrk="0">
              <a:lnSpc>
                <a:spcPct val="110000"/>
              </a:lnSpc>
            </a:pPr>
            <a:r>
              <a:rPr sz="1250" b="1">
                <a:solidFill>
                  <a:srgbClr val="556175"/>
                </a:solidFill>
                <a:latin typeface="맑은 고딕"/>
                <a:ea typeface="맑은 고딕"/>
                <a:cs typeface="맑은 고딕"/>
              </a:rPr>
              <a:t>붙여 되짚음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읽는 쪽</a:t>
            </a:r>
          </a:p>
          <a:p>
            <a:pPr algn="l" eaLnBrk="0" marL="205740" indent="-205740">
              <a:lnSpc>
                <a:spcPct val="110000"/>
              </a:lnSpc>
              <a:spcAft>
                <a:spcPts val="400"/>
              </a:spcAft>
            </a:pPr>
            <a:r>
              <a:rPr sz="1800" b="0">
                <a:solidFill>
                  <a:srgbClr val="1F2A3A"/>
                </a:solidFill>
                <a:latin typeface="맑은 고딕"/>
                <a:ea typeface="맑은 고딕"/>
                <a:cs typeface="맑은 고딕"/>
              </a:rPr>
              <a:t>• 인수인계서는 다음 교대의 담당자가 읽는다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398516"/>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형식</a:t>
            </a:r>
          </a:p>
          <a:p>
            <a:pPr algn="l" eaLnBrk="0" marL="200025" indent="-200025">
              <a:lnSpc>
                <a:spcPct val="110000"/>
              </a:lnSpc>
              <a:spcAft>
                <a:spcPts val="400"/>
              </a:spcAft>
            </a:pPr>
            <a:r>
              <a:rPr sz="1750" b="0">
                <a:solidFill>
                  <a:srgbClr val="1F2A3A"/>
                </a:solidFill>
                <a:latin typeface="맑은 고딕"/>
                <a:ea typeface="맑은 고딕"/>
                <a:cs typeface="맑은 고딕"/>
              </a:rPr>
              <a:t>• 사람이 읽는 것은 문서와 도표로 낸다</a:t>
            </a:r>
          </a:p>
          <a:p>
            <a:pPr algn="l" eaLnBrk="0" marL="200025" indent="-200025">
              <a:lnSpc>
                <a:spcPct val="110000"/>
              </a:lnSpc>
              <a:spcAft>
                <a:spcPts val="400"/>
              </a:spcAft>
            </a:pPr>
            <a:r>
              <a:rPr sz="175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398516"/>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이어지는 일</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추천안은 승인으로</a:t>
            </a:r>
          </a:p>
          <a:p>
            <a:pPr algn="l" eaLnBrk="0" marL="205740" indent="-205740">
              <a:lnSpc>
                <a:spcPct val="110000"/>
              </a:lnSpc>
              <a:spcAft>
                <a:spcPts val="400"/>
              </a:spcAft>
            </a:pPr>
            <a:r>
              <a:rPr sz="1800" b="0">
                <a:solidFill>
                  <a:srgbClr val="1F2A3A"/>
                </a:solidFill>
                <a:latin typeface="맑은 고딕"/>
                <a:ea typeface="맑은 고딕"/>
                <a:cs typeface="맑은 고딕"/>
              </a:rPr>
              <a:t>• 품질 대응 카드는 조사 요청으로</a:t>
            </a:r>
          </a:p>
          <a:p>
            <a:pPr algn="l" eaLnBrk="0" marL="205740" indent="-205740">
              <a:lnSpc>
                <a:spcPct val="110000"/>
              </a:lnSpc>
              <a:spcAft>
                <a:spcPts val="400"/>
              </a:spcAft>
            </a:pPr>
            <a:r>
              <a:rPr sz="1800" b="0">
                <a:solidFill>
                  <a:srgbClr val="1F2A3A"/>
                </a:solidFill>
                <a:latin typeface="맑은 고딕"/>
                <a:ea typeface="맑은 고딕"/>
                <a:cs typeface="맑은 고딕"/>
              </a:rPr>
              <a:t>• 인수인계서는 다음 교대의 작업으로</a:t>
            </a:r>
          </a:p>
        </p:txBody>
      </p:sp>
      <p:sp>
        <p:nvSpPr>
          <p:cNvPr id="22" name="Rounded Rectangle 21"/>
          <p:cNvSpPr/>
          <p:nvPr/>
        </p:nvSpPr>
        <p:spPr>
          <a:xfrm>
            <a:off x="8356396" y="539851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검증 실습의 산출물이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 실습의 확인 질문과 기대 결과는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pic>
        <p:nvPicPr>
          <p:cNvPr id="6" name="삽화:산출물이음.svg" descr="illust_182473167751296614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HITL · SDD 실습</a:t>
            </a:r>
          </a:p>
        </p:txBody>
      </p:sp>
      <p:sp>
        <p:nvSpPr>
          <p:cNvPr id="8" name="TextBox 7"/>
          <p:cNvSpPr txBox="1"/>
          <p:nvPr/>
        </p:nvSpPr>
        <p:spPr>
          <a:xfrm>
            <a:off x="5321273" y="1745818"/>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BDD · 회귀 실습</a:t>
            </a:r>
          </a:p>
        </p:txBody>
      </p:sp>
      <p:sp>
        <p:nvSpPr>
          <p:cNvPr id="9" name="TextBox 8"/>
          <p:cNvSpPr txBox="1"/>
          <p:nvPr/>
        </p:nvSpPr>
        <p:spPr>
          <a:xfrm>
            <a:off x="935656" y="3022229"/>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확인 질문과 전후 기록</a:t>
            </a:r>
          </a:p>
        </p:txBody>
      </p:sp>
      <p:sp>
        <p:nvSpPr>
          <p:cNvPr id="10" name="TextBox 9"/>
          <p:cNvSpPr txBox="1"/>
          <p:nvPr/>
        </p:nvSpPr>
        <p:spPr>
          <a:xfrm>
            <a:off x="935656" y="4511375"/>
            <a:ext cx="2618278"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spec.md와 기대 결과</a:t>
            </a:r>
          </a:p>
        </p:txBody>
      </p:sp>
      <p:sp>
        <p:nvSpPr>
          <p:cNvPr id="11" name="TextBox 10"/>
          <p:cNvSpPr txBox="1"/>
          <p:nvPr/>
        </p:nvSpPr>
        <p:spPr>
          <a:xfrm>
            <a:off x="935656" y="5811423"/>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초안, 검토 의견, 수정본</a:t>
            </a:r>
          </a:p>
        </p:txBody>
      </p:sp>
      <p:sp>
        <p:nvSpPr>
          <p:cNvPr id="12" name="TextBox 11"/>
          <p:cNvSpPr txBox="1"/>
          <p:nvPr/>
        </p:nvSpPr>
        <p:spPr>
          <a:xfrm>
            <a:off x="4601246" y="4275002"/>
            <a:ext cx="163642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시나리오</a:t>
            </a:r>
          </a:p>
          <a:p>
            <a:pPr algn="ctr" eaLnBrk="0">
              <a:lnSpc>
                <a:spcPct val="110000"/>
              </a:lnSpc>
              <a:spcAft>
                <a:spcPts val="100"/>
              </a:spcAft>
            </a:pPr>
            <a:r>
              <a:rPr sz="1300" b="0">
                <a:solidFill>
                  <a:srgbClr val="556175"/>
                </a:solidFill>
                <a:latin typeface="맑은 고딕"/>
                <a:ea typeface="맑은 고딕"/>
                <a:cs typeface="맑은 고딕"/>
              </a:rPr>
              <a:t>입력값과 기대값</a:t>
            </a:r>
          </a:p>
        </p:txBody>
      </p:sp>
      <p:sp>
        <p:nvSpPr>
          <p:cNvPr id="13" name="TextBox 12"/>
          <p:cNvSpPr txBox="1"/>
          <p:nvPr/>
        </p:nvSpPr>
        <p:spPr>
          <a:xfrm>
            <a:off x="6674050" y="4275002"/>
            <a:ext cx="185461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회귀 기록</a:t>
            </a:r>
          </a:p>
          <a:p>
            <a:pPr algn="ctr" eaLnBrk="0">
              <a:lnSpc>
                <a:spcPct val="110000"/>
              </a:lnSpc>
              <a:spcAft>
                <a:spcPts val="100"/>
              </a:spcAft>
            </a:pPr>
            <a:r>
              <a:rPr sz="1300" b="0">
                <a:solidFill>
                  <a:srgbClr val="556175"/>
                </a:solidFill>
                <a:latin typeface="맑은 고딕"/>
                <a:ea typeface="맑은 고딕"/>
                <a:cs typeface="맑은 고딕"/>
              </a:rPr>
              <a:t>전체 재실행의 결과</a:t>
            </a:r>
          </a:p>
        </p:txBody>
      </p:sp>
      <p:sp>
        <p:nvSpPr>
          <p:cNvPr id="14" name="TextBox 13"/>
          <p:cNvSpPr txBox="1"/>
          <p:nvPr/>
        </p:nvSpPr>
        <p:spPr>
          <a:xfrm>
            <a:off x="4328509" y="5220492"/>
            <a:ext cx="1527329"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인수인계서</a:t>
            </a:r>
          </a:p>
          <a:p>
            <a:pPr algn="ctr" eaLnBrk="0">
              <a:lnSpc>
                <a:spcPct val="110000"/>
              </a:lnSpc>
              <a:spcAft>
                <a:spcPts val="100"/>
              </a:spcAft>
            </a:pPr>
            <a:r>
              <a:rPr sz="1200" b="0">
                <a:solidFill>
                  <a:srgbClr val="556175"/>
                </a:solidFill>
                <a:latin typeface="맑은 고딕"/>
                <a:ea typeface="맑은 고딕"/>
                <a:cs typeface="맑은 고딕"/>
              </a:rPr>
              <a:t>항목마다 근거 시각</a:t>
            </a:r>
          </a:p>
        </p:txBody>
      </p:sp>
      <p:sp>
        <p:nvSpPr>
          <p:cNvPr id="15" name="TextBox 14"/>
          <p:cNvSpPr txBox="1"/>
          <p:nvPr/>
        </p:nvSpPr>
        <p:spPr>
          <a:xfrm>
            <a:off x="9095958" y="4275002"/>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다음 변경의 기준</a:t>
            </a:r>
          </a:p>
          <a:p>
            <a:pPr algn="ctr" eaLnBrk="0">
              <a:lnSpc>
                <a:spcPct val="110000"/>
              </a:lnSpc>
              <a:spcAft>
                <a:spcPts val="100"/>
              </a:spcAft>
            </a:pPr>
            <a:r>
              <a:rPr sz="1300" b="0">
                <a:solidFill>
                  <a:srgbClr val="556175"/>
                </a:solidFill>
                <a:latin typeface="맑은 고딕"/>
                <a:ea typeface="맑은 고딕"/>
                <a:cs typeface="맑은 고딕"/>
              </a:rPr>
              <a:t>다시 실행할 시나리오</a:t>
            </a:r>
          </a:p>
        </p:txBody>
      </p:sp>
      <p:sp>
        <p:nvSpPr>
          <p:cNvPr id="16" name="TextBox 15"/>
          <p:cNvSpPr txBox="1"/>
          <p:nvPr/>
        </p:nvSpPr>
        <p:spPr>
          <a:xfrm>
            <a:off x="9008682" y="590597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다음 교대의 담당자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장치</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도구와</a:t>
            </a:r>
          </a:p>
          <a:p>
            <a:pPr algn="l" eaLnBrk="0">
              <a:lnSpc>
                <a:spcPct val="110000"/>
              </a:lnSpc>
            </a:pPr>
            <a:r>
              <a:rPr sz="1250" b="1">
                <a:solidFill>
                  <a:srgbClr val="556175"/>
                </a:solidFill>
                <a:latin typeface="맑은 고딕"/>
                <a:ea typeface="맑은 고딕"/>
                <a:cs typeface="맑은 고딕"/>
              </a:rPr>
              <a:t>실행 기록</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스킬</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MCP</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명세와 HITL</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시나리오와</a:t>
            </a:r>
          </a:p>
          <a:p>
            <a:pPr algn="l" eaLnBrk="0">
              <a:lnSpc>
                <a:spcPct val="110000"/>
              </a:lnSpc>
            </a:pPr>
            <a:r>
              <a:rPr sz="1250" b="1">
                <a:solidFill>
                  <a:srgbClr val="1A6FC4"/>
                </a:solidFill>
                <a:latin typeface="맑은 고딕"/>
                <a:ea typeface="맑은 고딕"/>
                <a:cs typeface="맑은 고딕"/>
              </a:rPr>
              <a:t>회귀 시험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목표와 스킬의 절차</a:t>
            </a:r>
          </a:p>
          <a:p>
            <a:pPr algn="l" eaLnBrk="0" marL="205740" indent="-205740">
              <a:lnSpc>
                <a:spcPct val="110000"/>
              </a:lnSpc>
              <a:spcAft>
                <a:spcPts val="600"/>
              </a:spcAft>
            </a:pPr>
            <a:r>
              <a:rPr sz="1800" b="0">
                <a:solidFill>
                  <a:srgbClr val="1F2A3A"/>
                </a:solidFill>
                <a:latin typeface="맑은 고딕"/>
                <a:ea typeface="맑은 고딕"/>
                <a:cs typeface="맑은 고딕"/>
              </a:rPr>
              <a:t>• 연결할 도구와 권한의 범위</a:t>
            </a:r>
          </a:p>
          <a:p>
            <a:pPr algn="l" eaLnBrk="0" marL="205740" indent="-205740">
              <a:lnSpc>
                <a:spcPct val="110000"/>
              </a:lnSpc>
              <a:spcAft>
                <a:spcPts val="600"/>
              </a:spcAft>
            </a:pPr>
            <a:r>
              <a:rPr sz="1800" b="0">
                <a:solidFill>
                  <a:srgbClr val="1F2A3A"/>
                </a:solidFill>
                <a:latin typeface="맑은 고딕"/>
                <a:ea typeface="맑은 고딕"/>
                <a:cs typeface="맑은 고딕"/>
              </a:rPr>
              <a:t>• 계약과 금지 조건</a:t>
            </a:r>
          </a:p>
          <a:p>
            <a:pPr algn="l" eaLnBrk="0" marL="205740" indent="-205740">
              <a:lnSpc>
                <a:spcPct val="110000"/>
              </a:lnSpc>
              <a:spcAft>
                <a:spcPts val="600"/>
              </a:spcAft>
            </a:pPr>
            <a:r>
              <a:rPr sz="180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20446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이번에 부를 도구와 입력</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보고 고르는 다음 행동</a:t>
            </a:r>
          </a:p>
          <a:p>
            <a:pPr algn="l" eaLnBrk="0" marL="205740" indent="-205740">
              <a:lnSpc>
                <a:spcPct val="110000"/>
              </a:lnSpc>
              <a:spcAft>
                <a:spcPts val="600"/>
              </a:spcAft>
            </a:pPr>
            <a:r>
              <a:rPr sz="1800" b="0">
                <a:solidFill>
                  <a:srgbClr val="1F2A3A"/>
                </a:solidFill>
                <a:latin typeface="맑은 고딕"/>
                <a:ea typeface="맑은 고딕"/>
                <a:cs typeface="맑은 고딕"/>
              </a:rPr>
              <a:t>• 다시 시도할지, 보류할지</a:t>
            </a:r>
          </a:p>
          <a:p>
            <a:pPr algn="l" eaLnBrk="0" marL="205740" indent="-205740">
              <a:lnSpc>
                <a:spcPct val="110000"/>
              </a:lnSpc>
              <a:spcAft>
                <a:spcPts val="600"/>
              </a:spcAft>
            </a:pPr>
            <a:r>
              <a:rPr sz="1800" b="0">
                <a:solidFill>
                  <a:srgbClr val="1F2A3A"/>
                </a:solidFill>
                <a:latin typeface="맑은 고딕"/>
                <a:ea typeface="맑은 고딕"/>
                <a:cs typeface="맑은 고딕"/>
              </a:rPr>
              <a:t>• 설명의 문장</a:t>
            </a:r>
          </a:p>
        </p:txBody>
      </p:sp>
      <p:sp>
        <p:nvSpPr>
          <p:cNvPr id="18" name="Rounded Rectangle 17"/>
          <p:cNvSpPr/>
          <p:nvPr/>
        </p:nvSpPr>
        <p:spPr>
          <a:xfrm>
            <a:off x="6781647" y="520446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 한 줄이 지켜지는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거절의 금지 조건 한 줄은 명세에서 회귀까지 모양을 바꿔 확인되고, 실행 중에는 승인 단계가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한 줄의 모양</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확인하는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금지 조건 · 수용 기준: 거절하면 설비 명령과 업무 처리가 없다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구현하기 전에</a:t>
            </a:r>
          </a:p>
          <a:p>
            <a:pPr algn="l" eaLnBrk="0">
              <a:lnSpc>
                <a:spcPct val="110000"/>
              </a:lnSpc>
            </a:pPr>
            <a:r>
              <a:rPr sz="1250" b="1">
                <a:solidFill>
                  <a:srgbClr val="556175"/>
                </a:solidFill>
                <a:latin typeface="맑은 고딕"/>
                <a:ea typeface="맑은 고딕"/>
                <a:cs typeface="맑은 고딕"/>
              </a:rPr>
              <a:t>정한다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시나리오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Then: 설비 명령 0건, 업무 처리 0건, 거절로 닫힌다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실행 결과로</a:t>
            </a:r>
          </a:p>
          <a:p>
            <a:pPr algn="l" eaLnBrk="0">
              <a:lnSpc>
                <a:spcPct val="110000"/>
              </a:lnSpc>
            </a:pPr>
            <a:r>
              <a:rPr sz="1250" b="1">
                <a:solidFill>
                  <a:srgbClr val="556175"/>
                </a:solidFill>
                <a:latin typeface="맑은 고딕"/>
                <a:ea typeface="맑은 고딕"/>
                <a:cs typeface="맑은 고딕"/>
              </a:rPr>
              <a:t>가린다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시험</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단언: 명령 번호가 없고 업무 처리 목록이 비어 있다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시험을</a:t>
            </a:r>
          </a:p>
          <a:p>
            <a:pPr algn="l" eaLnBrk="0">
              <a:lnSpc>
                <a:spcPct val="110000"/>
              </a:lnSpc>
            </a:pPr>
            <a:r>
              <a:rPr sz="1250" b="1">
                <a:solidFill>
                  <a:srgbClr val="556175"/>
                </a:solidFill>
                <a:latin typeface="맑은 고딕"/>
                <a:ea typeface="맑은 고딕"/>
                <a:cs typeface="맑은 고딕"/>
              </a:rPr>
              <a:t>돌릴 때마다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회귀</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긴급 조건을 더한 뒤 거절 시나리오를 다시 실행한다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바꿀 때마다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중</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가드레일 검사와 담당자의 승인 · 거절</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추천안이</a:t>
            </a:r>
          </a:p>
          <a:p>
            <a:pPr algn="l" eaLnBrk="0">
              <a:lnSpc>
                <a:spcPct val="110000"/>
              </a:lnSpc>
            </a:pPr>
            <a:r>
              <a:rPr sz="1250" b="1">
                <a:solidFill>
                  <a:srgbClr val="1A6FC4"/>
                </a:solidFill>
                <a:latin typeface="맑은 고딕"/>
                <a:ea typeface="맑은 고딕"/>
                <a:cs typeface="맑은 고딕"/>
              </a:rPr>
              <a:t>나올 때마다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여덟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BDD</a:t>
            </a:r>
          </a:p>
        </p:txBody>
      </p:sp>
      <p:sp>
        <p:nvSpPr>
          <p:cNvPr id="11" name="TextBox 10"/>
          <p:cNvSpPr txBox="1"/>
          <p:nvPr/>
        </p:nvSpPr>
        <p:spPr>
          <a:xfrm>
            <a:off x="3200400" y="2029968"/>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Behavior-Driven Development</a:t>
            </a:r>
          </a:p>
          <a:p>
            <a:pPr algn="l" eaLnBrk="0">
              <a:lnSpc>
                <a:spcPct val="110000"/>
              </a:lnSpc>
            </a:pPr>
            <a:r>
              <a:rPr sz="1400" b="0">
                <a:solidFill>
                  <a:srgbClr val="1F2A3A"/>
                </a:solidFill>
                <a:latin typeface="맑은 고딕"/>
                <a:ea typeface="맑은 고딕"/>
                <a:cs typeface="맑은 고딕"/>
              </a:rPr>
              <a:t>기대하는 행동을 시나리오로 적고 실행해 확인하는 개발 방식</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시나리오</a:t>
            </a:r>
          </a:p>
        </p:txBody>
      </p:sp>
      <p:sp>
        <p:nvSpPr>
          <p:cNvPr id="14" name="TextBox 13"/>
          <p:cNvSpPr txBox="1"/>
          <p:nvPr/>
        </p:nvSpPr>
        <p:spPr>
          <a:xfrm>
            <a:off x="3200400" y="2570607"/>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Scenario</a:t>
            </a:r>
          </a:p>
          <a:p>
            <a:pPr algn="l" eaLnBrk="0">
              <a:lnSpc>
                <a:spcPct val="110000"/>
              </a:lnSpc>
            </a:pPr>
            <a:r>
              <a:rPr sz="1400" b="0">
                <a:solidFill>
                  <a:srgbClr val="1F2A3A"/>
                </a:solidFill>
                <a:latin typeface="맑은 고딕"/>
                <a:ea typeface="맑은 고딕"/>
                <a:cs typeface="맑은 고딕"/>
              </a:rPr>
              <a:t>한 가지 상황에서 기대하는 행동 하나를 적은 글</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Given · When · Then</a:t>
            </a:r>
          </a:p>
        </p:txBody>
      </p:sp>
      <p:sp>
        <p:nvSpPr>
          <p:cNvPr id="17" name="TextBox 16"/>
          <p:cNvSpPr txBox="1"/>
          <p:nvPr/>
        </p:nvSpPr>
        <p:spPr>
          <a:xfrm>
            <a:off x="3200400" y="3111246"/>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Given · When · Then</a:t>
            </a:r>
          </a:p>
          <a:p>
            <a:pPr algn="l" eaLnBrk="0">
              <a:lnSpc>
                <a:spcPct val="110000"/>
              </a:lnSpc>
            </a:pPr>
            <a:r>
              <a:rPr sz="1400" b="0">
                <a:solidFill>
                  <a:srgbClr val="1F2A3A"/>
                </a:solidFill>
                <a:latin typeface="맑은 고딕"/>
                <a:ea typeface="맑은 고딕"/>
                <a:cs typeface="맑은 고딕"/>
              </a:rPr>
              <a:t>시나리오를 전제 · 행동 · 기대 결과로 나눈 구조</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Gherkin</a:t>
            </a:r>
          </a:p>
        </p:txBody>
      </p:sp>
      <p:sp>
        <p:nvSpPr>
          <p:cNvPr id="20" name="TextBox 19"/>
          <p:cNvSpPr txBox="1"/>
          <p:nvPr/>
        </p:nvSpPr>
        <p:spPr>
          <a:xfrm>
            <a:off x="3200400" y="3651885"/>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Gherkin</a:t>
            </a:r>
          </a:p>
          <a:p>
            <a:pPr algn="l" eaLnBrk="0">
              <a:lnSpc>
                <a:spcPct val="110000"/>
              </a:lnSpc>
            </a:pPr>
            <a:r>
              <a:rPr sz="1400" b="0">
                <a:solidFill>
                  <a:srgbClr val="1F2A3A"/>
                </a:solidFill>
                <a:latin typeface="맑은 고딕"/>
                <a:ea typeface="맑은 고딕"/>
                <a:cs typeface="맑은 고딕"/>
              </a:rPr>
              <a:t>Given · When · Then 시나리오를 적는 서식</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단언</a:t>
            </a:r>
          </a:p>
        </p:txBody>
      </p:sp>
      <p:sp>
        <p:nvSpPr>
          <p:cNvPr id="23" name="TextBox 22"/>
          <p:cNvSpPr txBox="1"/>
          <p:nvPr/>
        </p:nvSpPr>
        <p:spPr>
          <a:xfrm>
            <a:off x="3200400" y="4192524"/>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Assertion</a:t>
            </a:r>
          </a:p>
          <a:p>
            <a:pPr algn="l" eaLnBrk="0">
              <a:lnSpc>
                <a:spcPct val="110000"/>
              </a:lnSpc>
            </a:pPr>
            <a:r>
              <a:rPr sz="1400" b="0">
                <a:solidFill>
                  <a:srgbClr val="1F2A3A"/>
                </a:solidFill>
                <a:latin typeface="맑은 고딕"/>
                <a:ea typeface="맑은 고딕"/>
                <a:cs typeface="맑은 고딕"/>
              </a:rPr>
              <a:t>기대값과 실제 결과가 같은지 확인하는 시험 코드의 한 줄</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경계값 분석</a:t>
            </a:r>
          </a:p>
        </p:txBody>
      </p:sp>
      <p:sp>
        <p:nvSpPr>
          <p:cNvPr id="26" name="TextBox 25"/>
          <p:cNvSpPr txBox="1"/>
          <p:nvPr/>
        </p:nvSpPr>
        <p:spPr>
          <a:xfrm>
            <a:off x="3200400" y="4733163"/>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Boundary Value Analysis</a:t>
            </a:r>
          </a:p>
          <a:p>
            <a:pPr algn="l" eaLnBrk="0">
              <a:lnSpc>
                <a:spcPct val="110000"/>
              </a:lnSpc>
            </a:pPr>
            <a:r>
              <a:rPr sz="1400" b="0">
                <a:solidFill>
                  <a:srgbClr val="1F2A3A"/>
                </a:solidFill>
                <a:latin typeface="맑은 고딕"/>
                <a:ea typeface="맑은 고딕"/>
                <a:cs typeface="맑은 고딕"/>
              </a:rPr>
              <a:t>판정이 갈리는 기준값의 바로 안팎을 입력으로 고르는 방법</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회귀 시험</a:t>
            </a:r>
          </a:p>
        </p:txBody>
      </p:sp>
      <p:sp>
        <p:nvSpPr>
          <p:cNvPr id="29" name="TextBox 28"/>
          <p:cNvSpPr txBox="1"/>
          <p:nvPr/>
        </p:nvSpPr>
        <p:spPr>
          <a:xfrm>
            <a:off x="3200400" y="5273802"/>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Regression Test</a:t>
            </a:r>
          </a:p>
          <a:p>
            <a:pPr algn="l" eaLnBrk="0">
              <a:lnSpc>
                <a:spcPct val="110000"/>
              </a:lnSpc>
            </a:pPr>
            <a:r>
              <a:rPr sz="1400" b="0">
                <a:solidFill>
                  <a:srgbClr val="1F2A3A"/>
                </a:solidFill>
                <a:latin typeface="맑은 고딕"/>
                <a:ea typeface="맑은 고딕"/>
                <a:cs typeface="맑은 고딕"/>
              </a:rPr>
              <a:t>바꾼 뒤에 기존 시나리오를 다시 실행해 행동이 그대로인지 확인하는 시험</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데이터 패브릭</a:t>
            </a:r>
          </a:p>
        </p:txBody>
      </p:sp>
      <p:sp>
        <p:nvSpPr>
          <p:cNvPr id="32" name="TextBox 31"/>
          <p:cNvSpPr txBox="1"/>
          <p:nvPr/>
        </p:nvSpPr>
        <p:spPr>
          <a:xfrm>
            <a:off x="3200400" y="5814441"/>
            <a:ext cx="835121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Data Fabric</a:t>
            </a:r>
          </a:p>
          <a:p>
            <a:pPr algn="l" eaLnBrk="0">
              <a:lnSpc>
                <a:spcPct val="110000"/>
              </a:lnSpc>
            </a:pPr>
            <a:r>
              <a:rPr sz="1400" b="0">
                <a:solidFill>
                  <a:srgbClr val="1F2A3A"/>
                </a:solidFill>
                <a:latin typeface="맑은 고딕"/>
                <a:ea typeface="맑은 고딕"/>
                <a:cs typeface="맑은 고딕"/>
              </a:rPr>
              <a:t>데이터를 출처에 둔 채 연결해 함께 읽는 방식</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지금 내릴 수 있는 판단으로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두 실행의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종류의 경보 두 건에서 둘째 실행은 설명 문장과 도구 호출 순서가 달랐고, 결과에 decision_id 항목이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시험이 실패로 세어야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decision_id 항목이 빠진 것</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설명 문장이 첫 실행과 다른 것</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도구를 부른 순서가 다른 것</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세 가지 모두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실패한 무응답 시나리오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명세는 「무응답이면 지연 알림만 보내고 기다린다」인데, 기능을 고친 뒤에는 10분 뒤 처리 건이 거절로 닫혔다.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맞는 조치는?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시나리오의 기대값을 「거절로 닫힌다」로 고친다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무응답 시나리오를 시험 목록에서 뺀다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지연 시간을 30분으로 늘려 다시 실행한다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기대값은 그대로 두고 고친 기능에서 원인을 찾는다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통과가 알려 주는 범위, 표현 차이와 계약 위반의 구분, 기대값을 정하는 쪽을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문장과 호출 순서는 표현 차이다. 출력 계약이 정한 항목이 빠진 것은 계약 위반이다.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기대값은 명세에서 온다. 명세가 그대로이면 기대값을 바꾸지 않고 구현을 고친다.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