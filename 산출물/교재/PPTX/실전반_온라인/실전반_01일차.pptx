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경남대학교 피지컬AI 사관학교에서 이 과정의 강의를 맡게 된 유엔진솔루션즈 연구원 안치윤입니다. 이 과정에서는 설비에서 나온 데이터를 지식으로 정리하고, AI의 판단과 사람의 승인을 거쳐 실제 조치로 이어지는 과정을 함께 만들어 갑니다. 먼저 이런 상황을 하나 떠올려 볼게요. 공장 설비에서 기름 온도가 조금씩 오르고 있습니다. 화면을 보면 지금 몇 도인지는 알 수 있어요. 그런데 설비를 운전하는 사람에게는 그다음이 필요하죠. 왜 뜨거워졌는지, 계속 돌려도 되는지, 무엇부터 해야 하는지를 알아야 합니다. 이번 회차에서는 그 판단이 어떻게 이루어지는지 함께 살펴보겠습니다. 이어지는 실습에서는 실행 환경의 준비 상태를 확인하고, 포털에서 사건이 처리되는 흐름을 관찰하겠습니다. 이어 별도로 제공된 사건 기록을 읽으며 조치의 근거를 찾아보겠습니다. 그 안에서 온톨로지라는 지식 모델이 왜 필요한지도 하나씩 알아가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목표는 네 가지입니다. 먼저 이해한 내용을 자기 말로 기록하는 방법을 익히고, 설비 데이터가 전달되는 경로와 각 부분의 역할을 설명할 수 있으면 좋겠습니다. 세 번째는 실행 환경을 확인한 뒤 포털에서 경보부터 조치와 재관측까지 관찰하는 겁니다. 이어 제공된 저장 기록에서 데이터와 명령이 오간 근거를 읽겠습니다. 기록 사이의 연결을 어떻게 판단할지도 작은 코드로 구현해 보겠습니다. 마지막으로 증상과 원인, 증거와 조치의 관계를 직접 그려 보겠습니다. 처음 보는 이름은 설명할 때 하나씩 풀겠습니다. 각 부분의 역할과 연결에 집중해 주세요.</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화면의 순서대로 진행하겠습니다. 먼저 공부한 내용을 기록하는 방법을 알아보고 학습노트를 만들 겁니다. 그다음에 시스템의 구조와 데이터 흐름을 살펴보고, 서비스마다 무엇을 확인해야 준비됐다고 말할 수 있는지 실제 환경과 대조하겠습니다. 이어 포털에서 사건의 진행을 관찰하고, 별도의 저장 기록으로 연결을 검사하는 과정을 보여 드리겠습니다. 수업 후반에는 시스템이 어떤 근거로 원인을 판단하고 조치를 골랐는지 살펴보겠습니다. 그 판단에서 온톨로지가 하는 일을 알아보고, 마지막 실습에서 관계를 직접 그려 볼 겁니다. 이번 시간에는 그 출발점으로, 배운 내용을 나중에도 설명하고 다시 쓸 수 있게 기록하는 방법을 살펴보겠습니다. 이어지는 실습에서 어떤 학습노트를 만들지도 함께 볼게요.</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강의를 들을 때는 이해가 됐는데, 나중에 혼자 설명하려니 말이 잘 안 나왔던 경험이 있을 거예요. 자료를 다시 읽으면 알 것 같다가도 덮으면 막히죠. 오늘부터 남길 기록은 그럴 때 도움이 돼야 합니다. 자료를 모아 두는 데서 그치지 않고, 이해한 내용을 설명하고 필요할 때 다시 쓸 수 있도록 정리하는 거예요. 이런 의미에서 지식 자산화라고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정리는 AI에게 맡기면 되지 않을까 싶을 수도 있어요. 필기와 강의 자료를 주면 읽기 좋은 문서로 만들어 주니까요. 그런데 문서가 잘 정리됐다는 것과 여러분이 그 내용을 이해했다는 것은 다른 이야기입니다. 오히려 잘 정리된 문서를 읽을 때는 그 차이를 놓치기 쉬워요. 문장이 술술 읽히니까 이미 아는 내용처럼 느껴지거든요. 막상 자료를 덮고 다른 사람에게 설명하려고 하면 말이 막힙니다. 읽으면서 알아보는 것과 스스로 설명하는 데에는 차이가 있는 거죠. 그래서 공부할 때는 오른쪽 순서로 해 보시길 권합니다. 자료를 잠깐 덮고 이해한 내용을 직접 써 보는 거예요. 형식은 자유롭게 하셔도 됩니다. 쓰다가 설명이 끊기는 부분이 있으면, 무엇을 더 공부해야 하는지 알 수 있겠죠. 그 부분을 찾아 고치는 과정이 필요합니다. 남에게 설명하거나 문제를 풀 때도 기억에서 내용을 꺼내야 합니다. 직접 써 보는 건 그 연습이기도 해요. AI가 정리한 문서는 여러분이 쓴 글과 비교하는 데 쓰면 좋습니다. 빠뜨린 내용이나 잘못 이해한 부분이 있는지 확인하는 참고 자료로 활용하는 거죠.</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그렇다고 첫 문장부터 완벽하게 쓰려고 하면 시작하기가 어렵습니다. 우선 기억나는 내용을 넓게 적어 보세요. 한 부분을 길게 쓰는 것보다 전체적으로 무엇을 알고 있는지 드러내는 게 먼저입니다. 타이핑해도 되고, 말로 설명한 내용을 받아 적어도 괜찮아요. 쓴 글을 살펴볼 때는 화면의 세 가지를 구별하면 됩니다. 틀리게 쓴 부분, 뜻이 불분명한 부분, 설명을 더 이어 가지 못한 부분이에요. 틀린 내용도 막힘없이 쓸 수 있습니다. 잘못 알고 있으면서도 자신 있게 설명할 수 있으니까요. 그래서 잘 써진 문장도 강의 자료나 출처와 비교해야 합니다. 사실과 다른 내용이 있으면 먼저 바로잡는 거예요. 길게 쓰기는 했는데 무엇을 설명하는지 모호하다면 두 번째 경우입니다. 무엇이 어떻게 된다는 말인지 짧게 다시 말해 보세요. 주어를 정하기도 어렵다면, 설명하려는 대상부터 분명하게 잡아야 합니다. 쓰다가 멈춘 곳은 부족한 부분을 찾기가 오히려 쉽습니다. 어떤 현상이 일어나는지는 썼는데 왜 그런지는 설명하지 못했다면, 그 이유를 더 공부하면 되겠죠. 다만 막힌 부분 하나에 바로 매달리지는 마세요. 화면의 왼쪽부터, 틀렸거나 불분명한 설명을 먼저 고칩니다. 전체 설명이 맞는지 확인한 다음에 막힌 부분을 하나씩 자세히 공부하는 겁니다. AI에게 검토를 맡길 수도 있지만, 수정한 내용이 맞는지는 출처를 보고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고칠 부분을 찾았는데, 어떤 용어가 끝까지 이해되지 않을 수도 있습니다. 뜻을 찾아봤더니 설명 안에 또 모르는 말이 나오는 경우죠. 이럴 때 처음 나온 정의만 외우면 이해가 더 나아가지는 않습니다. 설명에 나온 낯선 말부터 다시 찾아보는 겁니다. 설명이 너무 어렵다면 이미 아는 말로 풀어 달라고 물어볼 수도 있어요. 그러다 이해할 수 있는 설명을 만나면, 그 내용을 바탕으로 앞의 설명을 다시 읽습니다. 아래에서 이해한 말로 바로 위의 설명을 풀고, 그 설명으로 처음 막혔던 용어를 이해하는 거예요. 화면의 마지막 화살표가 그 과정을 보여 줍니다. 답변을 많이 모으는 게 목적은 아닙니다. 처음 궁금했던 말이 무슨 뜻인지 스스로 설명할 수 있어야 해요. AI를 쓰면 모르는 말을 계속 물어볼 수 있죠. 다만 질문이 옆으로 새면서 원래 무엇을 공부했는지 놓치지 않도록 해야 합니다. 당장 필요하지 않은 궁금증은 따로 적어 두세요. 설명을 충분히 들었다면 처음 용어로 돌아와서, 아직 이해되지 않는 부분이 있는지 확인하는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이해했는지 확인하는 데에는 설명을 바꿔 보는 방법도 좋습니다. 정의 문장을 그대로 외우지 않고, 다른 사람에게 알려 준다고 생각하면서 풀어 쓰는 거예요. 정식 용어는 정확히 쓰되, 나머지 설명까지 원문과 같을 필요는 없습니다. 왼쪽은 정의 문장을 기억하는 데 그친 경우입니다. 다른 말로 물으면 외운 문장부터 다시 꺼내게 돼요. 오른쪽은 원리는 지키면서 뜻을 풀어 쓴 경우입니다. 표현이 달라져도 무엇을 설명하는지 알기 때문에 자기 말로 답할 수 있죠. 풀어 쓴 다음에는 원래 정의와 비교해야 합니다. 쉽게 설명하려다가 중요한 조건을 빼지는 않았는지 보는 거예요. 특히 원문에 없는 ‘항상’이나 ‘모든’이라는 말을 붙이면 뜻이 달라질 수 있습니다. 표현을 쉽게 바꾸더라도 어떤 조건에서 맞는 설명인지는 지켜야 해요. 자료를 덮고도 설명할 수 있다면 그 내용을 학습노트에 남깁니다. 아직 막히는 부분은 더 확인해서 고치고요. 여러분이 이해하고 설명할 수 있는 기록이 쌓이는 겁니다. 그게 앞에서 말씀드린 지식 자산이에요.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앞으로는 배운 개념을 실습에도 써 볼 겁니다. 그때 노트에 ‘완료’라고만 적어 두면 어떨까요? 나중에 같은 작업을 하려는데 무엇을 바꿨고 왜 그렇게 했는지 기억이 나지 않을 수 있어요. 그래서 개념 설명뿐 아니라, 참고한 자료와 실습 과정도 함께 남기려고 합니다. 화면에는 그 기록들을 어떻게 연결할지 나와 있습니다. 개념을 정리하는 곳에는 무엇을 이해했는지, 왜 그렇게 되는지를 자기 말로 적습니다. 설명을 확인한 자료도 함께 연결해 두고요. 문서 전체만 저장해 두기보다 실제로 참고한 부분을 다시 열 수 있으면 좋겠죠. 실습 기록에는 무엇을 했고 어떤 결과가 나왔는지, 어디에서 막혔고 어떻게 해결했는지 남깁니다. 그 과정에서 쓴 개념의 설명도 연결해 두는 거예요. 다음에 비슷한 작업을 할 때 실습 기록을 보다가, 필요한 개념과 참고 자료까지 찾아갈 수 있도록요. 실패한 실행도 남길 만한 결과입니다. 어떤 입력에서 무엇을 기대했는데 실제로는 어떻게 나왔는지, 그 판단의 근거가 되는 화면이나 기록을 함께 남겨 보세요. 아직 원인을 찾지 못했다면 해결했다고 적지 않고, 확인할 항목을 남깁니다. 그래야 다음에 이어서 확인할 수 있습니다. 기록이 쌓이면 찾는 방법도 필요하겠죠. 표의 마지막 줄처럼 분야별로 찾거나 아직 이해가 부족한 항목만 모아 볼 수 있게 할 겁니다. 나중에 이해가 달라지면 설명도 고치고, 이해도 표시도 함께 바꾸면 됩니다. 예전에 잘됐던 방법도 조건이 달라지면 다시 판단해야 합니다. 어떤 조건에서 무엇을 했고 왜 그 방법을 골랐는지 남겨 두어야, 다음에 기록을 꺼냈을 때 비교할 수 있겠죠.</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이어서 Notion에 첫 학습노트를 만들겠습니다. 제가 이해한 설명을 먼저 쓰고 교재와 대조한 뒤, 다시 찾을 수 있도록 출처를 연결하겠습니다. 필요한 검토에는 Copilot을 사용하되 설명의 근거는 직접 확인하겠습니다. 화면의 항목은 기록할 틀입니다. 무엇을 적을지는 제가 판단하고, 마지막에 첫 기록과 출처를 다시 열어 보겠습니다. 실습 자료를 받는 데서 시작하겠습니다.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설비에서 측정한 값이 판단에 쓰이고, 승인된 조치가 다시 설비에 적용되기까지의 구조를 살펴보겠습니다. 앞 실습에서 다룬 학습노트에는 각 부분의 역할과 그 역할을 나눈 이유를 남길 수 있습니다. 회차를 시작할 때 기름 온도가 올라가는 상황을 말씀드렸죠. 그 온도를 화면에서 확인하고 필요한 조치를 하려면 어떤 것들이 연결돼 있어야 할까요? 온도를 재는 장치가 있어야 하고, 그 값을 전달하고 보여 주는 곳도 필요합니다. 이상을 알아채고 조치를 결정하는 역할도 있어야겠죠. 이 역할들을 HYD 시스템에서 어떻게 나누었는지 살펴보겠습니다. 설비에서 값이 올라오는 경로를 따라간 뒤, 승인된 명령이 설비로 돌아가는 경로까지 볼 겁니다.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값을 읽는 쪽부터 보겠습니다. 기름이 흐르는 설비에 센서가 붙어 온도를 재고 있습니다. 그 값을 보고 설비를 제어하는 장치가 있고, 운전원이 상태를 확인하는 화면도 있어요. 화면의 네 항목이 각각 이 역할을 맡습니다. 설비는 압력과 온도, 진동 같은 물리량이 생기는 대상입니다. 센서는 그 물리량을 전기 신호로 바꿔 계측값을 내놓는 장치예요. 유온 센서라면 기름의 온도를 값으로 알려 줍니다. PLC는 그 값을 읽고 제어 출력을 정하는 산업용 제어기입니다. 팬을 어느 속도로 돌릴지 같은 설정을 실제 설비에 반영해요. 센서가 재는 일과 PLC가 제어하는 일은 이렇게 나뉩니다. SCADA는 설비 데이터를 모아 감시하고 제어하는 시스템입니다. 운전원은 그 안의 화면에서 상태를 보고 조작합니다. 사람이 화면을 보고 명령을 내리는 동안에도, 설비 옆의 PLC는 계속 계측값을 읽고 제어합니다. 사람이 화면을 계속 보고 있어야만 제어가 이루어지는 건 아니라는 뜻이에요.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온도를 어디서 재는지 보려면 기름이 흐르는 길부터 알아야 합니다. 그림은 실습에서 사용할 유압 설비예요. 기름이 어떤 일을 하고 돌아오는지 따라가 보겠습니다. 여기서 다룰 정상값과 보호 기준은 HYD 설비 모델에 정해 둔 값입니다. 다른 설비에도 그대로 적용하는 수치는 아니에요. 그림에 적힌 정상값은 나중에 이상이 생겼을 때 비교할 기준으로 보면 됩니다. 왼쪽 아래 탱크에 작동유가 담겨 있습니다. 모터와 펌프가 기름을 끌어올려 압력을 만들고, 그 힘으로 오른쪽 위의 구동부를 움직입니다. 일을 하고 데워진 기름은 오일 쿨러에서 식은 뒤 탱크로 돌아옵니다. 옆의 팬이 쿨러에 바람을 보내 열을 공기로 내보내요. 온도계는 쿨러에 들어가기 직전의 기름 온도를 잽니다. 이 온도를 유온이라고 합니다. 냉각이 충분하지 않으면 이 자리에서 온도가 올라가는 모습을 보게 됩니다. 계측값에 붙인 이름이 태그예요. 유온, 펌프에서 내보내는 압력, 팬 진동에 각각 태그가 붙어 있습니다. 필요한 값을 고를 때 이 이름을 씁니다. 그림에서 각 태그가 어느 자리에 붙어 있는지 보세요. 기름에 들어오는 열보다 빠져나가는 열이 부족하면 유온이 올라갑니다. 그렇다고 이 온도계만 보고 쿨러가 막혔는지, 팬에 문제가 생겼는지까지 알 수는 없어요. 원인은 다른 정보와 함께 판단해야 합니다. 우선 이 온도 값을 읽어 설비를 제어하는 PLC부터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PLC는 설비 옆에서 계측값을 읽고 출력을 조절합니다. 팬 속도 설정값을 받으면 실제 팬 제어에 반영하는 거예요. 한편 위험한 상태가 되면 위쪽에서 명령이 오기를 기다리지 않고 설비를 보호해야 합니다. PLC는 입력을 읽고 프로그램을 실행한 뒤 출력을 쓰는 일을 짧은 주기로 반복합니다. 이것이 스캔 주기입니다. 한 번 온도를 읽고 끝내는 것이 아니라, 설비가 움직이는 동안 계속 이 일을 합니다. 설정값은 제어할 목표값입니다. 화면에는 팬 속도와 펌프 부하의 설정값이 있어요. 지금 얼마나 뜨거운지 알려 주는 계측값과, 팬을 얼마나 돌리라고 정하는 설정값은 역할이 다릅니다. 위험 조건에서는 인터록이 우선합니다. 인터록은 설비를 안전한 상태로 보내는 보호 로직이에요. 유온이 과열 한계를 넘으면 PLC가 보호 정지를 실행합니다. 이렇게 보호 동작으로 정지한 상태를 트립이라고 합니다. 서버가 판단해 줄 때까지 기다리면 안 될까요? 통신이 끊기거나 답이 늦는 동안에도 설비는 계속 움직입니다. 그래서 보호 판단은 현장의 PLC가 끝냅니다. 위쪽에서 팬 속도를 바꾸라고 요청하더라도, 현재 설비가 그 명령을 받아도 되는지는 PLC가 다시 확인해요.</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보호 정지가 필요한 조건은 설비마다 정해져 있습니다. 이 설비에서는 화면의 세 가지를 봐요. 유온이 너무 높을 때, 토출 압력이 너무 낮을 때, 팬 진동이 너무 클 때입니다. 온도부터 볼게요. 유온이 65도를 넘으면 보호 정지가 걸립니다. 기름이 너무 뜨거워지면 점도가 떨어져 부품의 마모가 빨라지기 때문입니다. 압력은 반대로 낮아질 때 문제입니다. 펌프의 토출 압력이 하한보다 낮으면 멈춥니다. 펌프 마모나 내부 누설 같은 원인을 의심할 수 있지만, 보호 동작 자체는 압력 조건으로 판단해요. 팬 진동은 상한 이상일 때 멈춥니다. 그대로 돌리면 팬 베어링이 손상될 수 있기 때문입니다. 화면의 세 기준은 이 설비에서 정지를 판단하는 선이에요. 온도와 진동은 높은 쪽, 압력은 낮은 쪽을 감시합니다. 셋 중 하나라도 위험 조건에 이르면 PLC가 보호 정지를 실행합니다. 원인을 상세하게 분석하기 전에 설비를 보호하는 동작입니다.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PLC가 위험 조건을 판단하려면 센서의 신호가 제때 들어와야 합니다. 평소에는 빨리 오다가 가끔 크게 늦는다면, 꼭 보호가 필요한 순간에 판단이 늦어질 수도 있겠죠. 그래서 현장 통신에서는 단순히 평균 속도가 빠른지만 보지 않습니다. 지연은 신호를 보낸 뒤 도착하기까지 걸리는 시간입니다. 지터는 그 지연이 매번 달라지는 정도예요. 결정성은 최악의 경우에도 정해진 시간 안에 전달되는 성질입니다. 현장 통신에서 평균 속도뿐 아니라 지터와 결정성을 보는 이유가 여기에 있습니다. 제때 도착하는지와 내용이 안전하게 전달되는지도 구분해서 봐야 해요. 허가받지 않은 사람이 내용을 읽지 못하게 지키는 것이 기밀성이고, 내용이 허가 없이 바뀌지 않게 지키는 것이 무결성입니다. 전통적인 Modbus에는 암호화와 인증이 없습니다. 그래서 통신 규약 하나에 모든 보호를 맡기지 않고, 연결할 수 있는 망을 나누고 명령을 검사하는 구조를 함께 둡니다. 설비 밖으로 데이터를 보낼 때 그 구조가 어떻게 보호하는지도 이어서 보게 될 거예요.</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PLC가 제어에 쓰는 이 값은 운전 화면과 분석 프로그램에도 필요합니다. 설비 밖에서도 읽을 수 있게 보내야 하는 거죠. 그런데 설비 내부에서 쓰는 이름과 숫자만 보내면 받는 쪽은 무슨 값인지 알기 어렵습니다. 값을 받아서 함께 약속한 형식의 메시지로 바꿔 주는 곳이 엣지 게이트웨이입니다. 화면 위쪽이 설비 안에서 쓰는 항목 이름과 값이고, 가운데가 태그 목록입니다. 엣지는 내부 항목을 이 태그에 대응시킵니다. 유온은 유온 태그로, 압력은 압력 태그로 옮깁니다. 소수점을 줄이는 것보다 중요한 건, 각 값이 무엇을 뜻하는지 정해진 약속에 맞춰 전달하는 일이에요. 그 아래가 보낼 메시지입니다. 값을 분류하는 주소인 토픽에는 설비와 태그 이름이 들어 있습니다. 본문에는 발행 시각과 값, 품질이 함께 들어가요. 받는 쪽은 값뿐 아니라 언제 보낸 메시지인지, 품질이 정상인지도 확인할 수 있습니다. 맨 아래는 운전 상태 메시지입니다. 원격 자동 모드로 운전 중이고 인터록은 정상이라는 정보를 보냅니다. 온도와 같은 계측값과, 원격 명령을 받을 수 있는 상태를 따로 전달하는 거예요. 이렇게 시스템 사이의 연결을 맡는 소프트웨어를 미들웨어라고 합니다. 엣지 게이트웨이 역할을 하는 도구에는 EdgeX Foundry가 있습니다. 태그 목록의 냉각 효율은 센서에서 직접 읽은 온도와 달리 계산해서 얻는 값입니다. 이런 계측값을 가상 센서 값이라고 해요. 같은 형식의 메시지로 보내더라도 값의 출처는 다를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엣지가 만든 메시지는 운전 화면에도 가야 하고, 데이터를 모으는 수집 서비스에도 가야 합니다. 받는 곳이 늘어날 때마다 엣지에 연결을 추가해야 한다면 관리하기 번거롭겠죠. 이 차이를 왼쪽의 직접 연결과 오른쪽의 중개 방식으로 비교해 보겠습니다. 왼쪽은 점대점 방식이에요. 송신자가 수신자마다 직접 연결하는 방식입니다. 엣지가 운전 화면에 한 줄, 수집 서비스에 한 줄을 각각 잇는 거예요. 그런데 수신자를 새로 하나 더하면, 송신하는 엣지 쪽의 연결도 고쳐야 합니다. 이렇게 한쪽의 변경이 다른 쪽의 변경을 요구하는 관계를 강한 결합이라고 해요. 오른쪽은 브로커 중개입니다. 브로커는 메시지를 중개하는 서버예요. 이걸 가운데 둡니다. 엣지는 브로커에만 보내고, 운전 화면과 수집 서비스는 브로커에서 받습니다. 새 수신자는 브로커에 메시지를 받겠다고 등록하면 됩니다. 구독하는 거예요. 송신 쪽은 고칠 게 없죠. 이렇게 송신자와 수신자의 직접 의존을 줄인 관계를 느슨한 결합이라고 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이런 발행과 구독을 통해 메시지를 주고받는 규약이 MQTT입니다. 장치에서 읽은 값을 전달할 때 쓰는 가벼운 통신 규약이에요. 엣지와 운전 화면이 브로커를 사이에 두고 어떻게 주고받는지 보겠습니다. 그림에서 먼저 받을 쪽을 보겠습니다. 운전 화면과 수집 서비스가 브로커에 받을 토픽을 등록합니다. 토픽은 메시지를 분류하고 전달할 때 쓰는 주소예요. 그림의 주소는 유압 설비의 유온을 가리킵니다. 엣지 게이트웨이가 그 토픽으로 값을 보내면 발행입니다. 보내는 쪽을 발행자라고 해요. 받을 토픽을 등록하고 메시지를 받는 쪽은 구독자입니다. 브로커는 등록된 구독자에게 같은 메시지를 각각 전달합니다. 방송국처럼 가운데서 받아 나눠 준다고 생각하면 이해하기 쉽습니다. 다만 아무에게나 보내는 것이 아니라 토픽을 구독한 곳에 보냅니다. 발행자는 운전 화면이 몇 개 있는지 몰라도 돼요. 구독자를 관리하는 일은 브로커가 맡습니다. 이 역할의 도구에는 EMQX가 있습니다. 같은 브로커에 여러 설비의 메시지가 들어와도 구독자는 자신에게 필요한 것만 받으면 됩니다. 구독할 대상을 구별하는 것이 토픽이에요.</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 위의 토픽을 보면 빗금으로 구분돼 있습니다. 공장, 설비, 데이터 종류, 태그 이름이 차례로 들어 있죠. 이 중 어느 자리를 바꾸느냐에 따라 다른 설비나 다른 값을 가리키게 됩니다. 같은 설비의 유온 대신 냉각 효율을 받으려면 마지막 태그 이름이 달라집니다. 유온은 그대로 두고 다른 설비를 보려면 설비 자리가 달라져요. 아래 목록에서 그 두 차이를 확인할 수 있습니다. 맨 아래는 운전 상태를 보내는 주소입니다. 계측 태그 하나가 아니라 모드와 상태를 묶은 메시지이므로 종류를 나타내는 자리에서 끝납니다. 모든 주소가 무조건 같은 길이는 아니에요. 전달할 내용에 맞춰 구조를 정합니다. 이 규칙 덕분에 구독자는 어떤 설비의 어떤 데이터를 받을지 고를 수 있습니다. 주소에서 필요한 부분을 바꾸면 받는 대상도 달라지는 거죠.</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토픽으로 받을 대상을 정했더라도, 통신 중에 메시지를 놓치는 문제가 남습니다. 온도 값은 곧 새 값이 오지만, 설비를 움직이라는 명령을 놓치면 실행 여부를 확인해야 하겠죠. MQTT에서는 메시지를 얼마나 확실하게 전달할지 정할 수 있습니다. 새 구독자에게 마지막 메시지를 줄 것인지도 별도로 정합니다. 전달 품질이 QoS입니다. 화면의 세 수준 중 0은 최대 한 번, 1은 최소 한 번, 2는 정확히 한 번 전달한다는 뜻이에요. 특히 최소 한 번인 경우에는 같은 메시지가 다시 도착할 수 있습니다. 받는 쪽에서 중복을 구별해야 하는 이유입니다. QoS가 보장하는 것은 메시지 전달 수준입니다. PLC에서 같은 명령이 두 번 실행되지 않게 하는 일까지 대신하지는 않아요. 명령을 실행하는 쪽에서도 중복을 확인합니다. 보존 메시지는 토픽의 마지막 한 건을 새 구독자에게도 주는 기능입니다. 화면을 새로 켰을 때 현재 운전 상태를 바로 받아볼 수 있어요. 과거 이력 전체를 모으는 기능은 아닙니다. HYD에서는 태그 값은 QoS 0으로 보내고 보존하지 않습니다. 주요 계측값은 매초 새로 와요. 운전 상태는 QoS 1로 보내고 마지막 값을 보존합니다. 명령은 QoS 1이지만 보존하지 않아요. 다시 연결했을 때 옛 명령이 새 명령처럼 전달되면 곤란하기 때문입니다. 브로커가 구독자에게 메시지를 밀어 주는 방식을 푸시라고 합니다. 지금 필요한 값을 전달하는 데 알맞죠. 지나간 값을 나중에 다시 분석하려면 따로 기록할 곳이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과거 데이터를 기록하고 분석하는 서버는 설비 쪽과 다른 망에 있습니다. 브로커의 데이터를 그쪽으로 보낼 때는 연결 방식에 주의해야 해요. 외부와 연결된 서버가 침해됐다고 해서 그 영향이 설비까지 이어져서는 안 되기 때문입니다. 왼쪽은 OT예요. 설비를 직접 감시하고 제어하는 영역입니다. 여기서는 멈추지 않는 가용성과 안전이 가장 중요해요. 잘못된 명령 하나가 곧바로 설비 사고로 이어지니까요. 설비를 지키는 판단을 현장의 PLC에 남겨 두는 것도 안전과 가용성을 지키기 위해서입니다. 분석 서버를 거치지 않으므로, 서버와 통신이 끊겨도 PLC는 보호 판단을 계속할 수 있어요. 오른쪽은 IT입니다. 업무 데이터를 다루는 영역이에요. 사무망과 인터넷에 연결돼 있어서 외부 침해에 노출됩니다. 그래서 기밀성과 무결성을 중시해요. 이것은 두 영역에서 우선해서 살필 위험을 비교한 겁니다. OT에서도 명령이 바뀌지 않게 지켜야 하고, IT에서도 서비스가 계속 동작해야 해요. 어느 한쪽에만 필요한 성질이라는 뜻은 아닙니다. IT 쪽이 침해돼도 설비까지 영향을 받지 않도록, OT와의 직접 연결을 제한하는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망을 나누더라도 분석에 쓸 데이터는 보내야 합니다. 그래서 OT와 IT 사이에 DMZ라는 완충 구역을 둡니다. 이곳의 수집 서비스가 설비 데이터를 IT로 복제하고, 설비로 내려가는 자동 명령은 별도의 관문에서 검사합니다. DMZ를 두는 이유는 OT와 IT가 서로 직접 연결되지 않게 하려는 겁니다. 두 영역 사이에서 허용한 연결만 받도록 하고, 수집 서비스와 명령 관문을 이 구역에 놓습니다. 수집 서비스는 OT의 브로커를 구독해서, 받은 메시지를 IT의 이벤트 로그로 옮겨요. 브로커에서 수집 서비스를 거쳐 이벤트 로그로 가는 거죠. 여기서는 데이터가 흐르는 방향이 중요합니다. 단방향 복제는 한 방향으로만 데이터를 복사하는 거예요. 수집 서비스는 OT 쪽으로 아무것도 발행하지 않습니다. 반대 방향, 그러니까 IT에서 설비로 가는 자동 명령은 이 길을 쓰지 않고 별도 경로로 전달돼요. HYD에서는 이 방향을 수집 서비스의 동작으로 제한합니다. 그림의 화살표가 한쪽을 가리킨다는 이유로, 반대 방향의 통신을 물리 장치가 모두 막는다고 해석하면 안 됩니다. 여기서 확인할 것은 수집과 명령이 각각 어느 서비스를 거쳐 어떤 검사를 받는가입니다. 앞에서 Modbus 같은 전통 규약에는 보호 기능이 부족하다고 했죠. 이렇게 경로를 나누고, 방향을 한쪽으로 묶고, 명령은 따로 검사하는 구조가 그 부족한 부분을 보완합니다.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수집 서비스가 IT의 이벤트 로그에 남긴 기록은 이런 모습입니다. 화면 위에는 브로커에서 받은 메시지가, 아래에는 저장할 기록이 있어요. 값은 그대로인데 설비와 태그 이름이 들어가는 위치가 달라졌습니다. 위쪽 메시지는 설비와 태그 이름이 토픽 주소에 있고, 본문에는 시각과 값, 품질이 있습니다. 이 본문을 페이로드라고 합니다. 아래쪽은 로그에 남긴 레코드, 즉 기록 한 건입니다. 주소에 있던 설비와 태그 이름을 본문 안에 넣었어요. 원래 메시지와 떨어져 이 기록만 읽더라도 어느 설비의 어떤 값인지 알 수 있게 한 겁니다. 설비를 나타내는 키도 붙입니다. 키는 기록을 어느 파티션으로 보낼지 정할 때 쓰는 값이에요. 파티션은 로그의 구획입니다. 같은 설비의 기록을 같은 구획에 모아 순서대로 읽도록 합니다. 이렇게 기록을 여러 서비스가 함께 읽어 쓰는 중심 경로가 이벤트 백본입니다. 감지 서비스는 이 값으로 조건을 판정하고, 저장 서비스는 이력으로 모읍니다. 같은 기록을 써도 두 서비스가 항상 같은 속도로 처리할 필요는 없습니다. 로그가 각자 읽을 자리를 남겨 주기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저장 서비스가 잠시 멈춘 상황을 생각해 보겠습니다. 저장을 기다리느라 감지까지 멈출 수는 없겠죠. 감지는 계속하고, 저장은 다시 동작할 때 읽던 곳부터 이어 가야 합니다. 이벤트 로그에서는 서비스마다 읽은 위치를 따로 관리해서 이게 가능합니다. 로그에는 새 레코드를 뒤에 덧붙입니다. 이것이 추가 전용 로그예요. 기록을 쓰는 쪽은 생산자, 읽는 쪽은 소비자입니다. 수집 서비스가 생산자이고, 감지 서비스와 저장 서비스는 각각 소비자예요. 읽었다고 기록이 사라지지는 않습니다. 오프셋은 파티션 안의 레코드 위치입니다. 소비자는 어디까지 읽었는지 따로 관리합니다. 저장 서비스가 돌아오면 자기가 읽던 위치에서 이어 읽고, 감지 서비스는 자기 위치에서 계속 판정할 수 있어요. 파티션 안에서는 기록 순서가 보장됩니다. 같은 설비의 키를 사용하는 이유도 그 기록들을 같은 구획에 모으기 위해서예요. 여러 파티션의 모든 기록에 하나의 순서가 생기는 것은 아닙니다. 다시 읽으려면 기록이 남아 있어야 하겠죠. 화면의 태그 원본 로그는 하루 동안 보존하도록 돼 있습니다. 그 기간이 지나 지워진 기록이나 처음부터 로그에 도착하지 않은 메시지는 읽기 위치를 돌려도 얻을 수 없습니다. 이벤트 로그 역할을 하는 도구에는 Kafka가 있습니다. 기록을 남겨 두니까, 소비자마다 자기 속도로 읽고 필요하면 남아 있는 기록을 다시 처리할 수 있는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감지 서비스는 새로 들어오는 기록을 읽으면서 이상 조건에 해당하는지 확인합니다. 이상을 빨리 알아채야 하므로, 데이터를 모아 뒀다가 한꺼번에 처리하는 방법은 맞지 않겠죠. 여기에 쓰는 방식이 레이어 4의 스트림 처리입니다. 왼쪽부터 볼게요. 배치 처리는 데이터를 모아 두었다가 묶어서 처리하는 방식이에요. 일정한 주기로 조회한다면, 이상이 생겨도 다음 처리 시점까지 기다려야 합니다. 그래서 이상 발생과 발견 사이에 지연이 생겨요. 오른쪽은 다른 방식이에요. 데이터가 기록되는 대로 하나씩 받아서 그 자리에서 조건과 비교합니다. 이렇게 끊임없이 도착하는 데이터를 그 자리에서 처리하는 방식을 스트림 처리라고 해요. 감지 서비스가 이 방식으로 일합니다. 유온이 계속 오르는 동안에도 설비는 움직입니다. 이상을 늦게 발견할수록 원인을 확인하고 대응할 여유가 줄겠죠. 그래서 이 시스템은 데이터가 들어오는 동안 이상 조건을 계속 확인합니다. 스트림 처리 엔진 역할에는 Flink 같은 것이 있어요.</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감지 서비스는 무엇을 이상으로 볼까요? 유온이 높다는 사실 하나만으로 쿨러 문제라고 단정할 수는 없습니다. 열을 얼마나 내보내고 있는지, 온도가 계속 오르고 있는지도 함께 봐야 해요. 화면 오른쪽의 조건은 세 가지입니다. 유온이 55도를 넘고, 냉각 효율이 70퍼센트보다 낮고, 유온이 오르는 중이어야 합니다. 기울기가 양수라는 것은 온도가 오르고 있다는 뜻이에요. 이 조건들이 함께 이어질 때 쿨러 성능 저하 경보를 냅니다. 여러 값의 조합과 추세, 지속 시간을 함께 보는 방식이 복합 이벤트 처리, CEP입니다. 온도 하나가 선을 넘었는지만 보는 것과 다릅니다. 그래프에서 온도가 가로선을 넘는 곳을 찾아보세요. 그 지점에 바로 경보가 울리지는 않습니다. 조건이 이어지는 파란 구간을 지나 경보가 발생해요. 조건이 계속 성립해야 하는 시간을 유지 시간이라고 합니다. 값이 잠깐 튀었다가 돌아왔는데도 경보를 내면 헛경보가 늘 수 있어요. 그래서 조건이 유지되는지 확인합니다. 그래프의 두 점은 실제 기록에서 기준을 넘은 관측과 경보가 발생한 관측입니다. 여기서는 그 사이에 간격이 있다는 점을 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경보가 울렸는데, 온도가 발생 기준 바로 아래로 내려왔다고 해 볼게요. 바로 경보를 꺼도 될까요? 경계 근처에서 온도가 오르내리면 경보도 계속 켜졌다 꺼질 수 있겠죠. 그래서 발생과 해제에 다른 기준을 둡니다. 발생 쪽은 앞에서 본 복합 조건이고, 해제 쪽은 유온이 52도 아래로 내려가 더 이상 오르지 않는 상태입니다. 해제 조건도 유지 시간 동안 이어져야 해요. 발생의 온도 기준은 55도, 해제의 기준은 52도입니다. 이렇게 경계에 간격을 두어 상태가 자꾸 바뀌는 것을 줄이는 방식을 히스테리시스라고 합니다. 값이 들어오지 않을 때는 어떨까요? 온도를 모르는 동안을 정상으로 볼 수는 없습니다. 품질이 나쁘거나 값이 빠지면 유지 시간을 처음부터 다시 셉니다. 이미 발생한 경보도 데이터가 없다는 이유만으로 해제하지 않아요. 회복을 확인한 것과 관측을 못 한 것은 다르기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감지 서비스가 경보를 내거나 해제하면 그 판단도 기록으로 남깁니다. 이상 조건의 발생과 해제를 기록한 것을 이상 이벤트라고 해요. 화면에는 쿨러 성능 저하 경보가 발생했을 때 남긴 기록이 있습니다. 이 기록에서 볼 것은 세 가지입니다. 어느 경보인지, 무슨 일이 일어났는지, 무엇을 근거로 알렸는지예요. 경보 번호는 이 한 건을 다시 찾기 위한 식별자입니다. 번호 자체를 외우는 게 아니라, 다른 경보와 구별해 연결하는 데 쓴다고 이해하면 됩니다. 패턴은 쿨러 성능 저하입니다. 앞에서 본 복합 조건이 성립했다는 뜻이지, 원인이 핀 오염으로 밝혀졌다는 뜻은 아니에요. 근거 값에는 경보가 났을 때의 유온과 냉각 효율이 함께 담겨 있습니다. 계속 바뀌는 현재 값 대신, 그때 판정에 쓴 값을 함께 남긴 거예요. 그 밖에 설비, 심각도, 발생 상태와 시각도 이 기록에 있습니다. 잠시 뒤 유온이 내려간 상태에서 경보를 다시 열어 본다고 생각해 보세요. 현재 값만 보면 왜 경보를 냈는지 납득하기 어려울 수 있습니다. 반대로 지금 더 뜨거워졌다면 경보 당시에도 그만큼 위험했다고 잘못 생각할 수 있어요. 경보에 붙은 값은 이런 혼동을 막습니다. 지금의 상태를 알려 주는 값과 과거 판정을 설명하는 값은 역할이 달라요.</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 당시의 값은 이 기록으로 확인할 수 있습니다. 그런데 온도가 갑자기 오른 건지, 계속 오르고 있었던 건지 알려면 그 전후의 값도 필요하겠죠. 특정 시각이나 시간 구간의 계측값을 찾아볼 수 있게 모아 두는 곳이 시계열 저장소입니다. 시계열 데이터베이스는 시각을 기준으로 데이터를 쌓고 시간 범위로 조회하는 저장소예요. 화면의 표에서는 계측값 하나가 한 행입니다. 시각, 설비, 태그 이름, 값이 함께 있습니다. 가운데 행은 경보가 난 때의 유온입니다. 위아래 행을 함께 읽으면 온도가 어떻게 바뀌었는지 알 수 있어요. 냉각 효율도 같은 시각의 다른 행에 저장됩니다. 센서가 늘어날 때마다 열을 늘리는 대신, 같은 형식의 행을 쌓습니다. 진동 평균을 구하려면 해당 설비의 진동 태그와 시간 구간을 골라 읽습니다. 다른 설비의 값이 섞이면 계산이 맞아도 이 경보의 근거는 되지 못하겠죠. 그래서 시각과 설비, 태그가 함께 있어야 합니다. 이벤트 로그는 읽던 위치에서 이어 읽거나 다시 처리하는 데 쓰였습니다. 시계열 저장소에서는 어느 설비의 어느 시간 구간을 볼지 정해서 값을 찾습니다. 질문하는 방식이 다른 거예요. 로그의 짧은 보존 기간이 지난 뒤에도 정해진 보존 정책 안에서 이력을 조회할 수 있습니다. 이런 저장소에는 TimescaleDB가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운전원은 이렇게 저장한 이력을 그래프로 보고 싶을 겁니다. 동시에 지금 설비가 어떤 상태인지 확인하고 조작할 화면도 필요하겠죠. 레이어 6의 관제에는 이 두 종류의 화면이 있습니다. 어디서 데이터를 받아 무엇을 하는지에 따라 나눠 놓았어요. 왼쪽 운전 화면은 SCADA에서 사람이 보고 조작하는 화면이에요. 이런 사람과 기계 사이의 접점을 HMI라고 합니다. 운전 화면은 OT에서 브로커를 직접 구독해서 실시간 값과 알람을 보여 줘요. 운전원은 여기서 팬 속도와 펌프 부하의 설정값을 바꿉니다. 그리고 IT 쪽 서버가 멈춰도 계속 동작해요. 이 역할에는 FUXA 같은 것이 있습니다. 오른쪽 분석 화면은 이력 데이터를 그래프로 보여 주는 대시보드예요. IT에서 시계열 저장소를 조회해서 이력과 추세를 보여 줍니다. 읽기 전용이라 설비를 조작하지 않아요. 추세선 위에 경보와 조치 시점을 주석으로 표시할 수도 있습니다. 이 역할에는 Grafana 같은 것이 있어요. 연결을 따라가 보니, 지금 조작하는 화면은 OT에 남아 있고 이력을 보는 화면은 IT에 있죠. IT에 문제가 생겨도 설비 운전은 계속해야 하니까 이렇게 나눈 겁니다. 앞에서 본 망 분리 원칙을 화면에서도 확인할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 화면에서도 알람을 보여 준다고 했죠. 앞에서 감지 서비스의 경보와 PLC의 인터록도 설명했는데, 모두 이상을 알리는 것처럼 들릴 수 있습니다. 같은 유온을 보더라도 조건과 역할이 어떻게 다른지 비교해 보겠습니다. 첫 칸은 감지 서비스의 경보예요. 유온이 55도를 넘는 것에 더해 냉각 효율과 상승 추세를 함께 확인합니다. 조건이 이어지면 원인을 진단하고 조치를 검토하기 시작합니다. 가운데는 운전 화면의 알람입니다. 유온 하나를 60도 기준과 비교해 운전원에게 높은 온도를 알립니다. 이렇게 판정을 가르는 경계값을 임계치라고 합니다. 마지막은 PLC의 인터록입니다. 유온이 65도를 넘으면 알리는 데서 그치지 않고 설비를 보호 정지시킵니다. 자동으로 풀리지 않으며, 온도가 리셋 조건 아래로 내려온 뒤 사람이 리셋해야 합니다. 화면에 적힌 리셋 조건은 55도 미만이에요. 경보와 알람은 상황을 알리고, 인터록은 정지 동작을 합니다. 먼저 난 경보를 보고 적절한 조치를 하면 보호 정지까지 가기 전에 대응할 수 있습니다. 그러려면 원인을 알아내고, 맞는 조치를 골라 승인받아 실행해야겠죠.</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찾고, 조치를 추천하고, 승인받아 실행하는 역할이 위쪽 세 계층에 나뉘어 있습니다. 먼저 판단에 쓸 지식이 필요하고, 그 지식과 실제 값을 비교하는 주체가 있어야 해요. 실행을 결정하고 명령을 보내는 역할은 다시 구분합니다. 레이어 7은 온톨로지와 원인분석입니다. 증상, 고장 유형, 원인, 조치의 관계와 판별 기준을 지식으로 보관해요. 어떤 기능을 잃었는지를 나타내는 것이 고장 유형입니다. 쿨러 사건에서는 냉각 성능 상실이죠. 이 고장 유형에서 원인 후보와 증거로 이어지는 관계를 찾습니다. 저장 도구로는 그래프 데이터베이스를 쓰며, 이 역할에는 Neo4j 같은 것이 있어요. 레이어 8은 AI 에이전트예요. 지식과 데이터를 조회해서 원인을 진단하고 추천안을 작성합니다. 쿨러 사건에서는 쿨러 핀 오염을 진단하고, 팬 최대 운전을 추천했어요. 이 시스템에서는 에이전트에게 설비 명령을 보내는 권한과 수단을 주지 않았습니다. 추천과 실행을 나누어 둔 거예요. 레이어 9는 승인과 프로세스예요. 사람의 판단을 거쳐 실행하는 구조를 HITL이라고 합니다. 담당자가 추천안과 근거를 보고 승인하거나 거절해요. 그러면 프로세스 엔진이 승인된 조치만 명령으로 만들고, 결과를 확인합니다. 여기서 사람의 승인을 거치는 이유도 생각해 보세요. 팬 속도나 부하를 바꾸면 설비 상태와 생산에 영향을 줍니다. 그래서 에이전트의 추천만으로 명령을 내보내지 않는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담당자가 조치를 승인하면 프로세스 엔진이 명령을 만듭니다. 그 명령이 PLC에 도착하기까지는 데이터가 올라온 수집 경로와 다른 길을 거칩니다. 명령 관문에서 검사하고 PLC에서도 다시 검사해요. 한 곳에만 의존하지 않고 여러 겹으로 보호하는 이런 방식을 심층 방어라고 합니다. 왼쪽부터 따라가 볼게요. IT에 있는 프로세스 엔진이 승인된 조치를 명령으로 만들어요. 그 명령은 이벤트 로그의 명령 토픽에 기록됩니다. DMZ에 있는 명령 관문이 그 기록을 읽어서, 명령 내용과 승인 기록을 검사해요. 통과한 명령만 OT로 넘어갑니다. OT에서는 브로커가 그 명령을 자동 명령 토픽으로 전달하고, 엣지 게이트웨이가 받아서 PLC에 넘겨요. 마지막으로 PLC가 설비 상태를 다시 검사한 뒤에 설정값을 적용합니다. 명령 내용이 정상이더라도 지금 설비에는 적용할 수 없을 수 있어요. 관문과 PLC는 일부 항목을 거듭 확인하면서도, 각각 다른 위험까지 검사합니다.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승인받은 명령이라도 전송 중에 내용이 바뀌거나 너무 늦게 도착했다면 그대로 실행할 수는 없습니다. 명령 관문은 이런 문제가 없는지 검사합니다. PLC는 명령을 받은 시점의 설비 상태까지 보고 적용할 수 있는지 판단하고요. 각각 무엇을 확인하는지 표를 보겠습니다. 관문은 먼저 명령의 필수 항목과 형식을 확인합니다. 스키마 검사예요. 허용 목록에 있는 조치인지도 봅니다. 임의의 동작을 명령에 적어 보냈다고 통과시키지 않습니다. 만료 시각과 중복 여부도 확인합니다. 늦게 도착한 명령은 이미 달라진 상황에 맞지 않을 수 있고, 같은 명령이 다시 온 것은 새 요청과 구별해야 하니까요. 승인 검사에서는 승인자 이름만 읽지 않습니다. 따로 남긴 승인 기록의 내용과 실제 명령이 일치하는지 대조해요. 운전 모드가 원격 자동인지 확인하고, 너무 많은 명령이 한꺼번에 들어오지 않도록 빈도도 제한합니다. PLC도 모드와 출처, 만료와 중복을 다시 봅니다. 명령이 관문을 지난 뒤에도 시간이 흐르고 설비 상태가 바뀔 수 있으니까요. 팬 속도와 부하가 허용 범위인지, 보호 정지 중은 아닌지도 확인합니다. 트립 중에는 일반 설정 변경을 받아들이지 않습니다. 앞에서 명령은 최소 한 번 전달하는 방식이라 중복될 수 있다고 했죠. 여기서 최근 명령 번호와 비교해 다시 온 명령을 걸러 냅니다. 화면의 관문과 PLC는 기억하는 최근 번호의 범위가 다릅니다. 번호를 붙여 보냈으니 됐다고 끝낼 수는 없겠죠. 받는 쪽에서 기억해 둔 번호와 실제로 대조해야 중복을 걸러 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검사를 통과한 명령을 PLC가 받았다고 해서 조치의 효과까지 확인된 것은 아닙니다. 팬을 돌리라는 요청을 보냈는지, 실제로 처리됐는지, 그 결과 온도가 내려갔는지는 따로 확인해야 해요. 화면의 세 기록이 각각 그 질문에 답합니다. 맨 위 명령에는 팬 속도를 바꾸는 내용과 승인자, 유효한 시간이 담겨 있습니다. 명령 번호는 이 요청을 다른 요청과 구별합니다. 가운데가 PLC의 확인 응답, ACK입니다. 어떤 명령을 어떻게 처리했는지 알려 주는 기록이에요. 이 사건에서는 실행을 완료했고 인터록도 정상이라고 답했습니다. 응답은 운전 상태 메시지에 실려 수집 경로로 돌아옵니다. 프로세스 엔진은 자신이 보낸 명령의 응답인지 번호를 맞춰 봅니다. 맨 아래는 그 뒤의 설비를 다시 관측한 결과입니다. 유온이 내려갔고 경보가 해제됐어요. 명령을 처리했다는 응답과, 원하는 냉각 효과가 났다는 확인을 각각 얻은 겁니다. 팬 명령에는 완료 응답이 왔는데 유온이 계속 오른다고 생각해 보세요. 명령 처리는 끝났지만 문제는 풀리지 않았습니다. 반대로 온도만 내려간 것을 보고 명령이 실행됐다고 단정할 수도 없어요. 명령 기록과 설비 상태를 연결해서 확인해야 합니다. 여기서는 유온이 회복 기준 안에 들어왔는지, 경보가 해제됐는지를 함께 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명령과 관측값을 연결해서 결과를 확인했듯이, 판단에 쓴 데이터도 출처를 따라갈 수 있어야 합니다. 왜 이 조치를 추천했는지 검토하려면 어떤 값을 읽고 어떻게 계산했는지 알아야 하니까요. 판단 결과에서 원래 계측값까지 되짚을 수 있도록 남긴 내력을 데이터 리니지라고 합니다. 화면의 맨 위는 센서와 PLC에서 나온 유온 기록이에요. 이것이 원천 데이터입니다. 그 아래는 그 변화에서 계산한 기울기입니다. 기울기가 양수라는 사실이 유온 상승 조건에 쓰였어요. 원천 값을 계산해서 얻은 가공 데이터입니다. 그 조건들과 냉각 효율을 확인해 경보가 남았습니다. 경보가 이상 이벤트이고, 이 경보에서 원인 진단과 조치 추천으로 이어진 것이 판단 결과예요. 아래쪽 판단 결과에서 출발해 보세요. 관련 경보를 찾고, 그 경보에 쓰인 계산값을 거쳐 원래 계측값까지 되짚어 갈 수 있습니다. 이런 성질을 추적성이라고 합니다. 이렇게 거슬러 읽을 때는 저장된 항목이 어떤 변환을 거친 값인지도 확인해야 합니다. 화면의 가공 레코드에는 그 순간의 유온과 계산된 기울기가 함께 있어요. 이름에 평균을 뜻하는 말이 보이더라도 이 레코드의 유온은 순간값입니다. 또 원천 계측값 표에는 메시지의 품질 항목을 따로 보관하지 않습니다. 어떤 변환을 거쳐 무엇이 남았는지 알아야, 기록에 없는 정보까지 있었다고 오해하지 않을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서로 다른 기록 사이를 찾아갈 때는 식별자가 필요합니다. 같은 쿨러 사건에서도 경보, 판단, 팬 속도 변경 명령, 핀 세척 작업지시는 각각 따로 남아요. 이 기록들을 번호로 연결해 두어야 어떤 판단에서 나온 조치인지 찾을 수 있습니다. 먼저 경보는 이상 조건이 성립했다는 기록입니다. 사건은 그 경보를 처리하는 업무 한 건이에요. 경보에는 당시 값이, 사건에는 처리가 어디까지 진행됐는지가 남습니다. 판단 기록에는 원인 진단과 조치 추천이 담깁니다. 담당자가 승인하면 팬 속도를 바꾸는 명령이 나가고, 남은 오염을 없애기 위한 작업지시도 생깁니다. 화면의 긴 번호는 이 서로 다른 기록을 구별하고 연결하기 위한 것이에요. 번호의 철자보다 무엇과 무엇이 이어지는지를 보세요. 정비 담당자가 핀 세척 작업지시를 받았다고 생각해 보겠습니다. 작업 이름만 있으면 왜 이 작업이 필요한지 다시 물어봐야 하겠죠. 판단 기록이 연결돼 있으면 원인과 근거를 확인할 수 있습니다. 판단 기록에서 경보와 당시 계측값으로도 돌아갈 수 있고요. 반대로 팬 속도 변경만 끝났다고 핀 세척까지 끝난 것은 아닙니다. 명령의 실행 상태와 정비 작업의 진행 상태를 별도로 남겨야 해요. 같은 사건에 속한 기록으로 연결해 두되, 명령 완료와 정비 완료는 따로 확인하려고 기록을 나누는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화면에 시스템 전체를 모아 놓았습니다. 세로의 아홉 계층은 HYD 설계에서 맡은 일에 따라 나눈 것이고, 오른쪽의 세 영역은 각 구성 요소가 어느 망에 놓이는지를 나타냅니다. 다른 시스템도 반드시 아홉 계층으로 나누는 것은 아닙니다. 여기서는 번호보다 각 역할과 연결을 읽어 주세요. 아래쪽은 값을 만들고 전달하는 부분입니다. 설비와 제어기, 엣지와 브로커, 이벤트 로그가 있어요. 가운데는 흐르는 값을 감지하고 이력을 저장해 사람에게 보여 주는 부분입니다. 위쪽은 지식을 조회해 추천하고, 사람이 승인한 일을 실행하는 부분이에요. 오른쪽 점은 각 역할이 어느 망에 놓이는지 보여 줍니다. 관제 계층을 보세요. 운전 화면은 OT에 있고, 이력을 읽는 분석 화면은 IT에 있습니다. 같은 관제라도 필요한 연결이 달라 서로 다른 영역에 놓입니다. 계층은 하는 일을, 보안 영역은 네트워크상의 위치와 연결 범위를 구분한다고 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구성 요소들 사이로 데이터와 명령이 어떻게 오가는지도 한 장에서 확인해 보겠습니다. 실선은 설비에서 읽은 값이 OT에서 IT로 올라가는 길이고, 점선은 승인된 자동 명령이 설비로 내려가는 길입니다. 위쪽 실선이 올라가는 길입니다. PLC에서 나온 유온 값이 엣지 게이트웨이와 MQTT 브로커를 거쳐요. DMZ의 수집 서비스가 그 값을 IT의 이벤트 로그로 옮기고, 감지 서비스가 그 기록을 읽어 이상을 판단합니다. 아래쪽 점선이 내려가는 길이에요. IT의 프로세스 엔진에서 승인된 팬 속도 변경 명령이 출발합니다. 이벤트 로그의 명령 토픽에 기록되고, DMZ의 명령 관문이 검사하고, 브로커와 엣지를 거쳐 PLC의 팬 속도 설정값에 닿아요. 브로커와 엣지는 두 경로에서 함께 쓰지만, 수집과 자동 명령은 분리돼 있습니다. 수집 서비스는 OT로 발행하지 않습니다. 자동 명령은 별도 관문과 PLC의 검사를 거치고요. 값을 읽는 것과 설비를 움직이는 것은 다르기 때문에, 같은 연결로 아무 메시지나 주고받게 하지 않는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경로가 동작하려면 각 역할을 맡은 서비스와 연결이 준비돼 있어야 합니다. 실습에서는 실행 구성을 읽고 기대 상태와 실제 관측을 비교해 확인표에 남기겠습니다. VS Code는 파일과 터미널을 다룰 작업 공간이고, Copilot은 이해가 막힌 부분이나 코드 검토에 도움을 받을 도구입니다. Python은 HYD의 자체 서비스와 일부 랩에 쓰는 언어입니다. Docker Desktop과 Compose로 서비스를 다루는 구체적인 순서는 실습에서 확인하겠습니다. 설치와 가입은 사전 준비이며, 이번에는 서비스가 무엇을 할 준비가 됐는지 판단하는 데 집중합니다.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환경 확인 뒤에는 포털에서 쿨러 사건을 관찰하겠습니다. 경보의 근거, 추천과 승인, 명령 처리와 재관측을 구별해 기록할 겁니다. 그다음 별도로 제공된 저장 기록을 읽겠습니다. 정비 담당자가 작업지시를 받았을 때, 어떤 판단에서 나온 작업인지 기록을 거슬러 찾는 활동입니다. 비교한 항목과 값, 판단 이유, 원본 위치를 연결표에 남기겠습니다. 입력을 읽고 결과를 저장하는 틀은 제공되어 있고, 비교 함수 하나는 직접 구현합니다. 자료를 읽고 기준을 정한 뒤 필요한 부분을 Copilot에 요청하고 변경과 결과를 검토하겠습니다. 자료가 부족하면 그 범위도 함께 남깁니다. 먼저 실행 환경을 확인하고 이어서 기록 추적으로 진행하겠습니다.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실습에서는 포털에서 사건의 진행을 관찰하고, 별도의 저장 기록을 읽어 연결을 무엇으로 확인할지 살펴봤습니다. 이제 교재에 제시된 쿨러 사건으로 돌아가 원인과 조치를 정하는 데 어떤 지식이 필요했는지 알아보겠습니다. 교재의 사례에서는 팬을 돌리는 명령과 핀 세척 작업지시가 핀 오염이라는 판단에서 나왔습니다. 앞 실습의 발췌 자료에서 확인한 범위와 섞지 않고, 지금 화면의 사건 근거를 따라가겠습니다. 그런데 경보가 알려 준 건 유온과 냉각 효율에 이상이 있다는 사실이었어요. 거기서 어떻게 핀 오염을 알아냈고, 왜 세척보다 팬 운전을 먼저 선택했을까요? 그 판단을 자세히 살펴보겠습니다.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교재의 쿨러 사건에서 저장한 값을 시간 순서로 놓은 그래프입니다. 위쪽은 유온, 아래쪽은 냉각 효율이에요. 경보가 발생한 지점과 조치를 승인한 지점 사이를 보세요. 이때도 기름 온도는 계속 올라가고 있었습니다. 이 구간은 원인을 가리고 조치안을 비교한 뒤 사람의 승인을 기다린 시간입니다. 기록에서는 약 1분 48초가 걸렸어요. 화면에는 진단·추천과 승인 대기에 걸린 시간도 따로 적혀 있습니다. 승인 지점에서 팬 최대 운전을 선택했고, 곧 명령이 나갔습니다. 그 뒤 위쪽 유온 곡선이 내려갑니다. 마지막으로 표시된 지점에서는 경보가 해제됐어요. 그런데 아래쪽 냉각 효율은 이전보다 올라왔어도 기준선 아래에 남아 있습니다. 체온계로 열이 난다는 건 알아도 원인은 따로 확인해야 하는 것처럼, 이 경보만으로 쿨러의 어디에 문제가 생겼는지 알 수는 없습니다. 원인을 확인하고 맞는 조치를 고르는 과정이 필요했던 거예요. 또 조치 뒤에 온도가 내려갔다고 해서 문제가 모두 해결된 것도 아닙니다. 냉각 효율은 회복되지 않았으니까요. 원인을 어떻게 판단했는지부터 살펴보면, 팬 운전으로 해결한 부분과 남은 문제를 구분할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판단할 때는 값만 보는 것보다 더 많은 정보가 필요합니다. 표의 첫 줄처럼 숫자 하나만 있으면 온도인지 압력인지도 모르겠죠. 설비 이름과 냉각 효율이라는 항목, 퍼센트라는 단위가 붙어야 무엇을 나타내는 값인지 알 수 있습니다. 데이터는 관측하거나 기록한 값입니다. 여기에 대상과 단위, 기준 같은 맥락을 붙이면 정보가 됩니다. 지금 냉각 효율이 얼마인지, 정상으로 보는 기준보다 낮은지까지 답할 수 있어요. 그런데 낮다는 것을 안 다음에는 어떻게 할까요? 표의 아래 두 줄에서 지식이 필요해집니다. 냉각 효율은 낮고 팬 진동은 정상이라는 정보를 함께 봐서 핀 오염을 판단합니다. 또 핀 오염이면 세척한다는 연결로 조치를 찾습니다. 어떤 정보를 함께 보고 어떻게 해석할지, 그 결과에 어떤 조치가 맞는지를 알아야 판단할 수 있는 겁니다. 정보와 정보 사이에 이런 관계를 정리해 둔 것이 여기서 말하는 지식이에요. 표 오른쪽의 질문을 보면 구분하기 쉽습니다. 지금 얼마인지, 기준을 벗어났는지는 값과 기준을 비교해서 답할 수 있어요. 왜 벗어났는지, 무엇을 해야 하는지에 답하려면 원인과 조치에 대한 지식까지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쿨러의 경우에는 어떤 정보를 함께 봐야 할까요? 기름이 잘 식지 않는 이유로 화면의 세 후보를 놓았습니다. 핀이 먼지나 유막으로 막혔을 수도 있고, 팬이 제 속도를 내지 못할 수도 있고, 주변 공기가 더울 수도 있어요. 유온 상승만으로는 이 중 무엇인지 구별하기 어렵습니다. 그래서 후보마다 확인할 값을 정합니다. 화면 가운데에 있는 것이 증거입니다. 여기에는 무엇을 어느 구간에서 읽고, 어떤 기준과 비교할지가 들어 있어요. 첫 행은 핀 오염입니다. 냉각 효율은 낮지만 팬 진동은 정상이어야 합니다. 실제 평균값을 대조하니 두 조건이 모두 맞아요. 팬 쪽 이상을 가리키는 증거가 없으므로 핀의 막힘을 의심할 수 있는 거죠. 두 번째 후보는 팬 구동 불량입니다. 같은 팬 진동 평균을 이번에는 이상 기준과 대조합니다. 실제 값은 그 기준보다 낮으므로 이 후보의 조건에는 해당하지 않아요. 마지막은 주변 온도 상승입니다. 캐비닛 온도 평균이 기준 이상인지 봅니다. 여기서도 실제 값은 기준보다 낮아요. 그래서 이 사건에서는 핀 오염을 원인으로 판단했습니다. 이 판단은 이 설비의 매뉴얼이 정한 후보와 판별 기준 안에서 내린 것입니다. 낮은 진동 하나만으로 모든 설비에서 핀 오염을 확정하는 법칙은 아니에요. 여기서도 냉각 효율 조건을 함께 확인했고, 다른 후보의 증거와 비교했습니다. 팬 진동 하나가 두 후보를 가른다는 점을 보세요. 낮은 진동은 핀 오염의 조건에는 맞고, 팬 구동 불량의 조건에는 맞지 않습니다. 하나의 값이 어떤 후보를 확인하는지에 따라 쓰임이 달라져요. 비교한 값은 순간값이 아니라 표에 적힌 구간의 평균입니다. 같은 판단을 다시 하려면 어떤 값을 어느 구간에서 읽고 무엇과 비교했는지 알아야 해요. 가운데 칸의 근거가 오른쪽 판정을 뒷받침하는지 보세요.</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후보를 구별해야 하는 건 손볼 곳이 다르기 때문입니다. 핀 오염이면 쿨러 핀을 세척해야 합니다. 팬 구동 불량이면 벨트를 점검해서 팬이 제대로 바람을 보내게 해야 하고요. 주변 공기가 더워서 문제라면 캐비닛 환기를 보강해야 합니다. 세 조치는 모두 냉각에 관계있지만 같은 작업은 아닙니다. 핀이 막혀 있는데 벨트만 점검하면 핀에 낀 오염은 남습니다. 환기를 보강해도 막힌 핀 자체를 씻어 내지는 못하죠. 온도가 올랐다는 이유만으로 작업을 고를 수는 없는 겁니다. 무엇이 잘못됐는지 알아야 거기에 맞는 조치를 할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핀 오염이 원인이면 세척해야 한다고 했는데, 교재의 사건에서 먼저 실행한 건 팬 최대 운전이었죠. 원인을 알았는데도 왜 바로 세척하지 않았을까요? 당장 올라가는 유온을 낮추는 일과 오염 자체를 없애는 일은 구분해서 봐야 합니다. 왼쪽은 완화 조치입니다. 팬을 더 돌려 당장 유온을 낮춥니다. 하지만 오염은 그대로여서 냉각 효율은 기준 아래에 머물렀어요. 그래프에서 온도는 내려왔지만 냉각 효율이 회복되지 않은 이유입니다. 오른쪽은 근본 조치입니다. 막힌 핀을 세척해 원인을 없앱니다. 이 작업은 설비를 멈추고 해야 하므로 정지할 시간도 잡아야 해요. 그래서 별도의 작업지시로 남겼습니다. 완화 조치는 정비할 여유를 벌어 주지만 계속 미룰 수는 없습니다. 매뉴얼은 팬 최대 운전을 연속 24시간 이내로 제한합니다. 이보다 오래 돌리면 팬 수명에 영향을 주기 때문이에요. 승인 책임도 구별합니다. 운전원은 팬 최대 운전을 승인했고, 설비를 세우는 핀 세척은 작업지시를 통해 설비보전팀장이 승인합니다. 같은 사건에서도 급한 증상을 낮추는 일과 원인을 없애는 일을 따로 관리합니다.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원인을 몰라도 일단 팬을 최대로 돌려 놓으면 될까요? 핀 오염일 때는 온도를 낮출 수 있었지만, 팬 자체가 고장 난 상태라면 같은 명령이 위험해질 수 있습니다. 왼쪽은 앞에서 본 핀 오염 사건의 실행 결과입니다. 팬 속도를 올리자 바람이 늘고 유온이 내려갔습니다. 오른쪽은 팬 베어링이 닳았을 때 같은 조치를 하면 어떤 일이 생기는지, 이 설비 모델의 동작으로 비교한 경우예요. 같은 속도로 올리면 진동이 보호 기준을 넘어서 PLC가 설비를 세웁니다. 베어링이 닳은 팬에서는 속도를 올릴수록 마모로 인한 진동이 크게 늘어납니다. 냉각에는 도움이 되는 동작이라도 다른 위험을 키울 수 있어요. 화면의 온도 하락과 진동 상승은 서로 다른 결과를 보여 줍니다. PLC가 보호 정지를 해 주더라도 처음부터 위험한 조치를 고르지 않는 게 중요하겠죠. 원인 판단은 어떤 조치가 맞는지 고르는 데 필요하고, PLC의 보호는 실행 중 위험 조건에 이르면 설비를 멈추는 역할입니다. 온도가 높다는 이유만으로 팬 속도를 올리는 규칙 하나로는 충분하지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팬을 더 돌려도 되는지 판단하려면 팬의 상태를 보여 주는 값과 그 값을 해석할 기준이 함께 필요합니다. 그런데 계측값은 저장소에, 판별 기준은 매뉴얼에 따로 있죠. 시스템이 이 자료들을 찾아 같은 판단을 하려면 무엇을 연결해 둬야 할까요?</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판단에 쓴 자료를 펼쳐 놓으면 이렇게 여러 곳으로 나뉩니다. 시계열 저장소, 운전 상태, 매뉴얼, 생산 일정이에요. 점선은 이 자료들 사이의 연결을 아직 정리하지 않은 상태를 나타냅니다. 왼쪽 위 시계열 저장소에는 냉각 효율과 캐비닛 온도 같은 관측값이 있습니다. 왼쪽 아래 운전 상태에서는 원격 자동 모드인지, 팬이 얼마나 도는지 확인합니다. 설비가 움직이는 동안 바뀌는 정보들이에요. 오른쪽 위 매뉴얼에는 원인별로 어떤 값을 비교하라는 기준이 있습니다. 오른쪽 아래 MES는 생산 지시와 실적, 납기를 관리하는 제조 실행 시스템입니다. 여기서 긴급 오더의 납기까지 약 여섯 시간이 남았다는 정보를 읽었습니다. 생산 일정은 조치를 고를 때 필요합니다. 핀 세척은 설비를 멈춰야 하는 작업이니까요. 원인을 없앨 수 있는 조치라도 지금 멈추면 납기에 어떤 영향이 있는지 함께 봐야 합니다. 원인을 판단하는 자료와 조치 시점을 결정하는 자료가 서로 다른 곳에 있는 거예요. 매뉴얼의 기준이 어느 저장소의 어떤 값과 이어지는지까지 알아야, 따로 있는 자료를 하나의 판단에 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매뉴얼에 필요한 연결이 모두 적혀 있을까요? 화면의 문장은 냉각 효율 평균이 낮고 팬 진동 평균은 정상이면 핀 오염으로 판정하라는 내용입니다. 어떤 값을 비교해서 어떤 원인을 판단하는지는 알 수 있습니다. 매뉴얼을 읽을 때는 ‘가장 흔하다’와 ‘지금 원인이다’를 구별해야 합니다. 흔한 원인이라는 정보는 후보를 검토하는 데 참고할 수 있지만, 지금 설비에서는 실제 값을 판별 기준에 대어 봐야 합니다. 쿨러 사건에서 핀 오염을 판단한 근거는 냉각 효율과 팬 진동의 조건이 함께 맞았다는 것이었죠. 사람은 매뉴얼의 판별 문장을 보고 운전 화면이나 기록에서 값을 찾아볼 수 있습니다. 컴퓨터가 같은 일을 하려면 연결을 더 명확히 적어야 해요. 먼저 지금 경보가 어느 매뉴얼 대목에 해당하는지 찾아야 합니다. 다음으로 그 대목에서 말하는 값을 어느 태그와 시간 구간으로 읽을지 정해야 합니다. 이 문장에는 팬 진동 태그는 있지만 냉각 효율의 태그 이름과 저장소 조회 방법까지 있지는 않습니다. 핀 오염이라고 판단한 뒤에는 어떤 조치가 맞는지도 이어야 합니다. 완화 조치와 근본 조치는 같은 매뉴얼의 다른 절에 있어요. 이 판별 문장만 읽어서는 실행할 조치까지 정해지지 않습니다. 매뉴얼을 찾는 것에 더해, 값을 확인하고 조치를 고르는 연결도 필요한 거예요.</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숙련된 사람은 매뉴얼을 읽으면서 적혀 있지 않은 연결도 떠올립니다. 유온이 오르면 냉각 기능에 문제가 있는지 생각하고, 가능한 원인과 확인할 센서를 찾아가는 거죠. 머릿속에서 이런 순서로 판단하고 있는 겁니다. 표의 가운데 칸을 따라가 볼게요. 첫 행은 증상에서 고장 유형과 원인 후보로 가는 연결입니다. 둘째는 후보마다 확인할 값을 찾아 기준과 비교하는 연결이에요. 셋째는 원인에 맞는 조치를 고르고 생산 일정까지 고려하는 과정입니다. 이 연결을 숙련자만 알고 있으면, 그 사람이 없을 때 판단이 늦어질 수 있습니다. 같은 정보를 보고도 후보를 떠올리는 순서가 달라질 수 있고요. 연결을 기록하면 다른 사람도 어느 증거를 확인했는지 검토할 수 있습니다. 컴퓨터가 같은 경로를 따라갈 수도 있어요. 그러려면 ‘핀 오염이었다’는 결론만 적어서는 부족합니다. 어떤 증상에서 출발했고, 어떤 후보를 놓고 무슨 증거를 비교했는지 남겨야 해요. 확인하지 않은 항목이 있다면 그것도 알 수 있어야 합니다. 다른 사람이나 컴퓨터가 같은 판단을 따라가려면 이 과정이 드러나야 하는 거죠.</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판단 과정을 컴퓨터가 쓰게 만드는 방법은 여러 가지입니다. 표에 원인과 기준을 정리할 수도 있고, 프로그램의 조건문에 넣을 수도 있어요. 다만 매뉴얼이 바뀔 때마다 여러 표와 코드를 찾아 고쳐야 한다면 관리하기 어렵겠죠. 그래서 판단에 쓰는 지식을 따로 정리하려는 겁니다. 왼쪽 위는 지식을 표로 펼친 예입니다. 한 고장 유형에 여러 원인과 증거가 붙으니 고장 유형이 반복됩니다. 각 행을 읽을 수는 있지만, 다른 표의 대상과 어떻게 이어지는지도 따로 정해야 합니다. 문서에는 판별 기준이 문장으로 담겨 있어요. 사람은 해석할 수 있지만 같은 대상의 이름이 문서마다 달라지기도 합니다. 아래쪽 코드 예는 그 기준을 조건문으로 옮긴 것입니다. 조건이 맞으면 핀 오염이라는 결과를 냅니다. 오른쪽 마지막 칸은 대상과 관계, 판별 기준을 프로그램 밖의 지식으로 두는 방식입니다. 사람은 지식과 출처를 검토하고, 프로그램은 그 지식을 읽어 판정합니다. 기준을 바꾸는 일과 판단 프로그램을 고치는 일을 나눌 수 있어요. 표나 코드를 쓰면 안 된다는 뜻은 아닙니다. 기준과 출처를 함께 관리해서, 매뉴얼이 개정되면 무엇을 고칠지 찾을 수 있게 하자는 거예요. 학습노트에 출처를 연결한 것도 나중에 내용을 확인하고 고치기 위해서였죠.</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AI에게 원인을 판단하게 할 때도 이 지식을 찾아보게 할 수 있습니다. 그냥 ‘유압 설비의 유온이 오르는데 원인이 뭘까’라고 물으면 가능한 설명은 여러 가지 나올 거예요. 하지만 이 설비의 매뉴얼과 실제 값을 보지 않았다면, 그 답이 지금 설비에도 맞는지는 알 수 없습니다. 오른쪽 방식에서는 지식에 적힌 원인 후보와 판별 기준을 조회합니다. 이어서 정해진 조회 방법으로 저장소의 값을 읽어 대조해요. 어떤 기준과 값을 썼는지 기록에도 남깁니다. 그때 평균값만 보지는 않습니다. 필요한 구간에 관측값이 충분한지, 중간에 긴 공백은 없는지도 확인해요. 화면 아래의 표본 수와 가장 긴 간격은 쿨러 사건에서 이 확인을 한 기록입니다. 값이 대부분 빠졌어도 몇 개 남은 값으로 평균은 계산할 수 있겠죠. 하지만 관측하지 못한 동안 설비가 어땠는지는 알 수 없습니다. 그래서 값이 오래됐거나 관측이 부족하면 판정을 보류합니다. 이 사례에서 증거를 읽는 조회문은 AI가 즉석에서 만들지 않고, 지식에 적힌 것을 사용합니다. 어떤 기준과 값으로 판단했는지 남기므로, 결과가 맞는지 다시 확인할 수 있어요. 근거가 남았다고 답이 자동으로 옳아지는 것은 아닙니다. 다른 설비의 값을 읽었거나 오래된 기준을 적용했다면, 그 기록을 보고 잘못된 연결을 찾아 고쳐야 합니다. 조회와 기록은 판단을 검토할 수 있게 만드는 바탕입니다.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AI가 같은 기준으로 자료를 찾아 쓰려면 이름과 관계의 뜻도 분명해야 합니다. 같은 부품을 서로 다른 이름으로 적어 두거나, 원인과 증상의 연결을 다르게 해석하면 필요한 근거를 놓칠 수 있겠죠. 이런 혼동이 없도록 대상과 관계의 뜻을 정해 두는 바탕이 온톨로지입니다.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온톨로지는 한 분야에서 다루는 대상과 관계를 명시적으로 정의한 지식 모델입니다. ‘명시적으로 정의한다’는 건 읽는 사람이 알아서 짐작하도록 두지 않는다는 뜻이에요. 어떤 종류의 대상인지, 어떤 값을 가지는지, 다른 대상과 무슨 관계인지 함께 확인할 수 있게 적어 둡니다. 화면에서는 종류, 속성, 관계, 제약으로 나누어 설명하고 있어요. 먼저 종류를 나눕니다. 오일 쿨러는 구성 요소이고 유온 센서는 센서입니다. 유온 상승은 증상이고 핀 오염은 원인이에요. 모두 이름이 있지만 같은 종류의 대상은 아닙니다. 속성은 대상이 갖는 값을 담는 항목입니다. 유온의 단위, 정상값, 한계가 그 예예요. 단위 칸에는 섭씨를, 정상값과 한계 칸에는 설비를 판단하는 기준값을 둡니다. 관계는 대상 사이의 뜻을 이름과 방향으로 정합니다. 냉각 성능 상실에서 팬 최대 운전으로 가는 관계는 완화된다는 뜻이에요. 핀 세척으로 가는 관계는 근본적으로 해결된다는 뜻입니다. 두 조치를 선으로만 이으면 같은 연결처럼 보이지만, 관계 이름을 붙이면 차이가 드러납니다. 제약은 올바른 연결의 조건입니다. ‘일으킨다’는 관계를 원인에서 고장 유형으로 잇도록 정의했다고 해 볼게요. 그 자리에 증상과 조치를 넣으면 양 끝의 종류가 맞지 않습니다. 이 조건을 기준으로 잘못된 연결을 찾아낼 수 있어요. 정의를 적는 일과 실제로 검사하는 일은 구분돼요. 제약이 검사 기준을 주고, 검증 단계가 그 기준을 적용합니다.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대상을 정의할 때는 이름도 정리해야 합니다. 정비 기록에는 ‘열교환기’, 설비 목록에는 ‘오일 쿨러’라고 적혀 있다고 해 볼게요. 같은 부품을 가리킨다는 걸 모르면 서로 다른 기록으로 다룰 수 있겠죠. 그래서 하나의 대상에 다른 이름도 함께 등록합니다. 화면 마지막 카드는 오일 쿨러에 쿨러와 열교환기라는 이름을 묶은 예입니다. 앞의 카드들은 증상이에요. 유온 상승에는 온도 상승과 과열이라는 표현이 연결돼 있어요. 냉각 효율 저하에는 냉각 불량, 진동 증가에는 떨림과 소음이 연결돼 있습니다. 이렇게 이름을 묶으면 서로 다르게 부르던 말을 같은 대상에 연결할 기준이 생깁니다. 다만 ‘소음’이라는 말이 모든 상황에서 팬 진동을 뜻하는 것은 아니겠죠. 여기서는 이 설비의 증상을 가리키는 표현으로 등록한 것입니다. 문장에서 어떤 대상을 뜻하는지는 그 맥락과 함께 확인합니다. 온톨로지의 공통 의미는 이런 일을 가능하게 합니다. 현장에서 쓰는 말을 없애는 대신, 그 말들이 어떤 대상을 가리키는지 분명히 하는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이처럼 뜻을 정의한 것과, 그 정의에 맞춰 실제 설비의 지식을 채워 넣은 것은 구별합니다. 여기에 저장하는 도구와 사람이 보는 그림까지 더해지면 비슷한 말이 여러 개 나오죠. 온톨로지, 지식 그래프, 그래프 DB, 관계 그림을 같은 예로 나눠 보겠습니다. 온톨로지는 공통 정의입니다. 원인과 고장 유형이라는 종류가 있고, 원인은 고장 유형을 일으킬 수 있다고 정합니다. 여기에 핀 오염과 냉각 성능 상실이라는 대상을 넣어 연결하면 지식 그래프가 됩니다. 정의에 맞춰 채운 지식이에요. 그래프 DB는 그 대상과 연결을 저장하고 조회하는 도구입니다. 이런 도구에는 Neo4j가 있습니다. 저장된 연결을 원과 화살표로 나타내 사람이 보게 한 것이 관계 그림이에요. 또 계속 바뀌는 온도까지 지식 그래프에 모두 넣는 것은 아닙니다. HYD에서는 확인할 값과 읽는 방법을 지식으로 두고, 실제 관측값은 시계열 저장소에서 읽습니다. 그러니 그림을 그렸다는 것, DB에 저장했다는 것, 뜻을 정의했다는 것은 같은 일이 아닙니다. DB에 선이 잘 저장돼 있어도 관계의 뜻은 틀릴 수 있습니다. 온톨로지가 준 기준으로 그 연결을 검토해야 해요.</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그림의 연결이 정의에 맞는지 확인하려면 화살표를 문장으로 읽어 보면 됩니다. 왼쪽에는 쿨러 핀 오염, 오른쪽에는 쿨러 냉각 성능 상실이 있어요. 각 대상을 나타내는 원이 노드이고, 두 노드를 이름이 붙은 화살표로 이은 것이 관계입니다. 화살표에 적힌 관계 이름은 ‘일으킨다’는 뜻입니다. 출발 노드를 주어, 관계를 서술어, 도착 노드를 목적어로 읽으면 ‘핀 오염은 냉각 성능 상실을 일으킨다’가 됩니다. 화살표를 거꾸로 그렸다고 해 보세요. ‘냉각 성능 상실이 핀 오염을 일으킨다’가 됩니다. 선 하나가 있다는 점은 같아도 원인과 결과가 뒤집혔죠. 방향도 뜻의 일부입니다. 다른 관계도 같은 방식으로 읽습니다. ‘유온 상승은 냉각 성능 상실을 가리킨다.’ ‘냉각 성능 상실은 팬 최대 운전으로 완화된다.’ 관계마다 서술어가 달라집니다. 문장으로 읽기는 그림을 점검하는 방법입니다. 말이 자연스럽게 이어지는지 보고, 실제 사실과 양 끝 대상의 종류까지 맞는지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핀 오염과 냉각 성능 상실의 관계를 전체 지도에서 찾아보겠습니다. 가운데 진한 원이 쿨러 냉각 성능 상실이라는 고장 유형이에요. 핀 오염뿐 아니라 증상, 조치, 구성 요소도 이 고장 유형에 연결돼 있습니다. 왼쪽 아래 증상은 관측한 모습입니다. 유온 상승이라는 증상이 냉각 성능 상실을 가리킵니다. 오른쪽 위 원인은 왜 그런 일이 생겼는지 설명합니다. 핀 오염이 냉각 성능 상실을 일으켜요. 증상과 원인이 가운데 고장 유형에서 만납니다. 같은 고장 유형에도 원인은 여럿일 수 있죠. 연결된 후보를 모은 뒤 증거로 구별합니다. 왼쪽 위 구성 요소는 고장이 어느 부품에서 일어나는지 알려 줍니다. 냉각 성능 상실은 오일 쿨러에서 발생해요. 그 바깥으로 가면 오일 쿨러를 가진 설비와 이를 계측하는 센서가 있습니다. 증상도 관측한 센서와 이어져 있으므로, 어느 설비의 어느 값을 확인할지 찾을 수 있습니다. 오른쪽 아래에는 조치 방법이 있습니다. 냉각 성능 상실은 팬 최대 운전으로 완화됩니다. 여기서 매뉴얼 절까지 연결되면 이 조치의 문서 근거를 찾을 수 있어요. 실제로는 조치 방법의 단계를 거쳐 매뉴얼 절로 가는데, 지도에서는 그 단계를 줄여 화살표 하나로 나타냈습니다. 냉각 기능을 잃은 곳은 오일 쿨러지만 원인은 팬이나 주변 공기에 있을 수 있습니다. 어느 부품의 기능에 문제가 있는지와 왜 그런지는 따로 확인하는 거예요. 설비와 센서의 연결은 어느 대상의 값을 볼지 정해 주고, 진단 쪽 연결은 그 값으로 무엇을 판단할지 정해 줍니다. 같은 정의와 판별 기준을 적용할 수 있는 설비라면, 그 설비의 실제 값을 읽어 이 진단 지식을 사용할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원인에서 고장 유형으로 화살표를 그렸죠. 그런데 경보의 원인을 찾는 입장에서는 고장 유형에서 원인 쪽으로 가야 합니다. 화살표 반대로 가는 셈인데, 그래도 될까요? 관계의 뜻을 나타내는 방향과 정보를 찾으며 따라가는 방향은 다릅니다. 왼쪽이 저장된 방향이에요. 「일으킨다」 관계는 쿨러 핀 오염에서 쿨러 냉각 성능 상실로 저장돼 있습니다. 원인이 주어니까요. 「핀 오염은 냉각 성능 상실을 일으킨다.」 관계 이름의 뜻이 화살표의 방향을 정한 거예요. 오른쪽이 따라가는 방향입니다. 경보에서 출발한 컴퓨터는 고장 유형에 먼저 도착하죠. 고장 유형으로 들어오는 관계를 거슬러 원인 후보를 찾습니다. 이때 저장된 관계를 그대로 써요. 같은 사실을 반대 방향으로 표현하는 관계를 새로 만들 필요가 없습니다. 화살표는 한쪽으로만 다녀야 하는 일방통행 표시가 아니에요. 어느 쪽에서든 따라갈 수 있습니다. 잘못된 건 거슬러 조회하는 일이 아니라, 관계 이름의 뜻과 저장 방향이 어긋난 경우예요. 예를 들어 「일으킨다」라는 관계인데 고장 유형에서 원인 쪽으로 저장돼 있다면, 「냉각 성능 상실이 핀 오염을 일으킨다」가 되어 사실과 반대가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 하나가 들어왔을 때 이 관계들을 어떻게 따라가는지 보겠습니다. 왼쪽 위에 ‘쿨러 성능 저하’라는 이상 패턴이 있습니다. 앞에서 본 경보 기록의 패턴 항목이 이 정의를 가리켜요. 경보와 지식 그래프가 연결되는 출발점입니다. 이상 패턴에는 앞에서 본 경보 조건과 유지 시간이 정의돼 있습니다. 감지 서비스는 그 정의를 읽어 경보를 내고, 진단은 경보의 패턴 이름을 이용해 같은 정의에서 출발합니다. 경보 한 건은 어느 설비에서 언제 조건이 성립했는지 남긴 기록이고, 패턴은 그 조건의 정의예요. 서로 다른 경보도 같은 패턴을 가리킬 수 있지만, 증거 값은 각 경보의 설비에 맞춰 읽어야 합니다. 패턴에서 증상으로 가는 관계는 무엇을 감지하는지 나타냅니다. 여기서는 유온 상승입니다. 그 증상은 쿨러 냉각 성능 상실이라는 고장 유형을 가리켜요. 경보의 패턴에서 증상을 거쳐 쿨러 냉각 성능 상실에 도착했습니다. 회색 원들은 아직 살펴보지 않은 부분이에요.</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찾아온 고장 유형에 어떤 원인들이 연결돼 있는지 보겠습니다. 오른쪽에서 들어오는 화살표를 거슬러 가면 핀 오염, 팬 구동 불량, 주변 온도 상승이라는 세 후보가 나옵니다. 연결돼 있다는 것만으로 원인이 확정된 건 아니고, 이 후보들을 확인해야 합니다. 원인 옆에는 증거가 연결돼 있어요. 핀 오염은 냉각 효율과 팬 진동을 확인합니다. 다른 두 후보는 팬 진동과 캐비닛 온도를 봅니다. 증거에 적힌 조회 방법으로 값을 읽고 기준에 대어 봅니다. 확인 결과를 맨 위의 파란 원으로 표시했습니다. 핀 오염의 두 조건이 맞았고, 다른 두 후보는 조건에 맞지 않았어요. 조치 방법은 아래쪽에 있습니다. 고장 유형에서 완화 조치 관계를 따라 팬 최대 운전을 찾습니다. 관계로 후보와 확인할 근거를 찾고, 실제 값을 대조해서 원인을 판단하는 겁니다. 증거가 어느 후보도 뒷받침하지 않거나 필요한 조회가 불완전하면 조치를 보류합니다. 값을 못 읽은 것은 조건에 맞지 않는 것과 다르니까요.</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과정을 거쳐 추천안을 만들었다면, 승인할 사람에게 판단 근거도 보여 줘야 합니다. ‘핀 오염이니 팬을 돌리자’는 결론만으로는 검토하기 어렵겠죠. 표에는 어떤 기준과 값을 확인했고, 왜 이 조치를 골랐는지 남겨 놓았습니다. 첫 행에는 핀 오염의 두 판별 기준과 실제 평균이 있습니다. 둘째에는 다른 후보를 고르지 않은 이유가 있어요. 이미 계산한 값을 다시 읽기보다, 각 판정에 근거가 붙어 있는지 보겠습니다. 셋째는 그 값의 출처입니다. 지식 그래프는 확인할 태그와 집계 구간, 판별 기준을 주고, 시계열 저장소는 그 구간의 관측값을 줍니다. 정의와 관측을 연결해 남긴 거예요. 넷째는 조치의 문서 근거입니다. 고장 유형에서 완화 조치를 찾고, 그 조치 방법의 단계를 거쳐 매뉴얼 절에 닿습니다. 사람이 추천안을 확인할 때 왜 이 조치를 쓸 수 있는지 원문으로 돌아갈 수 있습니다. 마지막에는 비교한 다른 조치도 남습니다. 팬 최대 운전이 가장 높은 순위였고, 부하를 낮추는 두 안은 공동 2순위였습니다. 설비를 지금 멈춰 핀을 세척하는 안은 맨 아래였어요. 순위에는 냉각 효과뿐 아니라 납기 같은 업무 값도 반영됐습니다. 담당자는 고른 안과 함께 다른 대안도 검토할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담당자는 이 기록을 보고 추천의 근거를 검토합니다. 어떤 기준을 썼는지, 어떤 값을 읽었는지, 조치의 문서 근거는 무엇인지 확인하는 거예요. 온톨로지가 이런 연결의 뜻과 기준을 정했다면, 그 기준으로 판단하고 실행하는 일은 누가 맡는지 표에서 구분해 보겠습니다. 표에서 누가 다음 행동을 맡는지 따라가 보세요. 정의된 관계를 조회해 원인 후보와 증거를 찾습니다. 에이전트는 실제 값을 대조해 추천안을 만듭니다. 담당자는 근거를 보고 승인하거나 거절합니다. 승인할 때도 현재 상태를 다시 확인합니다. 추천안을 만드는 동안 설비는 계속 움직였으니까요. 거절하면 이 추천안의 명령을 만들지 않고 거절 기록을 남깁니다. 거절 기록 자체가 설비 정지 명령은 아닙니다. 프로세스는 승인된 조치를 명령으로 내려보내고, 실행 뒤에도 재관측합니다. 원하는 완화를 확인하지 못하면 사람에게 다시 넘깁니다. 모델은 판단의 기준을 주고, 에이전트와 사람, 프로세스는 서로 다른 책임을 맡습니다.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지금 배운 대상과 관계를 쿨러 사례에 적용하겠습니다. 핀 오염 가지를 먼저 그리고 팬 구동 불량 가지를 더해, 증거와 조치가 어떻게 달라지는지 비교할 겁니다. 완성 그림을 옮기는 대신 교재와 매뉴얼의 근거를 찾아 관계를 정하겠습니다. 판단이 어려운 대목은 제가 해석한 내용과 원문을 함께 놓고 코딩 도우미에게 물어보겠습니다. 마지막에 두 가지를 비교하고 편집 파일을 저장해 다시 여는 것까지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 그림에서는 핀 오염과 팬 구동 불량의 증거와 조치를 비교했습니다. 그 구분을 교재에 제시된 쿨러 사건의 기록에도 적용해 보겠습니다. 기록을 읽고 퀴즈까지 풀면서 이번 회차를 마무리할게요. 그 사건에서는 핀 오염을 진단하고 팬을 먼저 돌렸죠. 그 과정이 기록에 어떻게 남았는지 확인해 볼게요. 화면의 다섯 기록은 각각 경보, 원인 진단, 실행 승인, 명령 처리, 완화 확인 중 무엇을 보여 줄까요? 특히 아래 두 기록은 무엇을 확인했는지 나누어 보겠습니다. 첫 행은 경보입니다. 유온과 냉각 효율이 조건을 벗어났다는 기록이죠. 둘째는 원인 진단입니다. 평균값을 판별 기준과 대조해 핀 오염을 확인했습니다. 경보가 났다는 것만으로는 이 둘째 결론을 얻을 수 없었어요. 셋째는 실행 승인입니다. 운전원이 추천안을 검토해 실행하도록 결정한 기록입니다. 넷째는 명령 처리예요. PLC가 해당 명령을 처리했고 인터록도 정상이라고 답했습니다. 마지막은 완화 확인입니다. 명령 뒤 유온이 내려가고 경보도 해제됐다는 관측입니다. 넷째가 있어도 다섯째는 없을 수 있습니다. 명령은 처리됐지만 냉각 효과를 얻지 못한 경우겠죠. 그리고 다섯째가 나왔다고 핀 세척이 끝난 것은 아닙니다. 팬으로 유온을 낮췄지만 오염은 남아 있었어요. 근본 조치는 별도 작업지시로 이어졌습니다. 각 기록이 무엇을 확인했는지 구별해야, 남은 일도 놓치지 않을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기록의 역할을 구별할 때 시스템의 용어도 함께 나왔죠. 오늘 설명한 약어들을 한곳에 모았습니다. 긴 정식 명칭은 화면에서 확인하시고, 각 이름이 무엇을 뜻했는지 짚어 보겠습니다. OT는 설비를 감시하고 제어하는 운영 기술이고, IT는 데이터를 다루는 정보 기술입니다. DMZ는 두 영역 사이에서 연결을 제한하는 완충 구역이에요. PLC는 센서 값을 읽고 정해진 논리로 설비를 직접 제어하는 산업용 제어기입니다. MQTT는 발행자의 메시지를 브로커가 구독자에게 전달하는 경량 메시지 규약입니다. SCADA는 설비 데이터를 모아 감시하고 원격으로 제어하는 시스템이고, HMI는 사람이 설비 상태를 보고 조작하는 화면이에요. HITL은 자동 처리 중간에 사람이 승인이나 거절 같은 판단을 하는 구조입니다. MES는 생산 지시와 실적, 납기를 관리하는 제조 실행 시스템입니다.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내용을 다른 상황에도 적용할 수 있는지 세 문제로 확인해 보겠습니다. 제가 문제마다 무엇을 비교해야 하는지 먼저 짚겠습니다. 세 문제를 읽은 뒤 정답과 그 판단 이유를 이어서 설명하겠습니다.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문제는 경보의 원인을 판단하는 상황입니다. 쿨러 성능 저하 경보가 났는데, 우리가 본 사건과는 팬 진동 값이 다릅니다. 팬 진동의 평균은 초당 1.1밀리미터이고, 캐비닛 온도는 28도예요. 보기는 네 가지입니다. 경보 이름만으로 핀 오염을 정한다, 진동을 근거로 팬 구동 불량을 의심한다, 원인과 관계없이 팬을 올린다, 캐비닛 온도만 보고 이상이 없다고 판단한다. 저는 경보 이름보다 문제에서 달라진 값을 먼저 보겠습니다. 그 값이 어느 후보의 판별 기준에 해당하는지 대조해야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번째는 관계 그림에 관한 문제입니다. 핀 오염이라는 원인과 냉각 성능 상실이라는 고장 유형을 연결하려고 합니다. 어떤 이름의 관계를 어느 방향으로 그려야 할까요? 첫 보기는 냉각 성능 상실이 핀 오염을 일으킨다는 연결입니다. 둘째는 핀 오염이 냉각 성능 상실을 가리킨다는 연결이고, 셋째는 핀 오염이 냉각 성능 상실을 일으킨다는 연결입니다. 넷째는 이름과 방향 없이 선만 잇자는 것입니다. 저는 먼저 두 대상의 종류를 확인하고, 각 보기를 출발 대상이 주어가 되는 문장으로 읽겠습니다. 관계 이름만이 아니라 방향까지 맞아야 같은 사실을 나타낼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마지막은 추천이 나온 뒤의 상황입니다. 에이전트가 핀 오염으로 판단하고 팬 최대 운전을 추천했습니다. 담당자는 아직 승인하지 않았어요. 설비에 보낼 명령은 이때 어떤 상태일까요? 보기는 추천과 동시에 전송된다는 것, 그래프에 연결돼 있어서 실행된다는 것, 시간이 지나면 저절로 실행된다는 것, 아직 명령을 만들지 않고 승인을 기다린다는 것입니다. 저는 추천을 맡은 주체와 명령을 만드는 주체, 그 사이에 필요한 결정을 나누어 판단하겠습니다.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답을 확인해 보겠습니다. 첫 문제는 2번입니다. 주어진 팬 진동 평균이 팬 구동 불량의 판별 기준 이상이기 때문이에요. 앞의 사건과 경보 이름은 같지만 증거가 달라졌습니다. 경보 이름만 보고 이번에도 핀 오염이라고 판단하면 안 되는 거죠. 가장 조심할 보기는 원인과 관계없이 팬을 최대로 돌린다는 3번입니다. 팬이 이상한 상태라면 속도를 올려 진동 위험을 키울 수 있었습니다. 캐비닛 온도가 정상이라는 4번도 설비 전체가 정상이라는 뜻은 아니에요. 주변 온도 상승이라는 후보를 가릴 근거 하나일 뿐입니다. 두 번째 정답은 3번입니다. ‘핀 오염은 냉각 성능 상실을 일으킨다’가 사실과 관계 정의에 맞습니다. 1번은 원인과 결과를 뒤집었어요. 2번의 ‘가리킨다’는 증상에서 고장 유형으로 잇는 관계인데 원인을 넣었습니다. 자연스러운 문장처럼 보여도 양 끝의 종류가 어긋납니다. 이름과 방향을 빼면 이 차이를 표현할 수 없어요. 세 번째 정답은 4번입니다. 추천은 나왔지만 승인 전이므로 설비 명령은 아직 없습니다. 그래프에서 조치를 찾았다는 것과 실행하도록 승인했다는 것은 다릅니다. 오래 기다렸다고 사람이 승인하는 단계를 대신할 수는 없습니다. 다음 회차에는 이 그림을 바탕으로 대상의 종류와 실제 대상을 구분하고, 일관된 지식 구조를 만들겠습니다. 그래프에서 필요한 관계를 찾아보고, 매뉴얼에 있는 조치의 조건과 제한도 함께 다룰 거예요. 오늘 정리한 그림과 출처 기록을 그 작업의 입력으로 다시 사용하겠습니다. 오늘 수업은 마치겠습니다. 수고 많으셨습니다.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10~11장 통합 발화는 10장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42~43장 통합 발화는 42장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44~45장 통합 발화는 44장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70~71장 통합 발화는 70장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3.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5.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8.png"/><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6.png"/><Relationship Id="rId4" Type="http://schemas.openxmlformats.org/officeDocument/2006/relationships/image" Target="../media/image30.png"/><Relationship Id="rId5"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notesSlide" Target="../notesSlides/notesSlide7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4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46.png"/><Relationship Id="rId4" Type="http://schemas.openxmlformats.org/officeDocument/2006/relationships/image" Target="../media/image4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49.png"/><Relationship Id="rId4" Type="http://schemas.openxmlformats.org/officeDocument/2006/relationships/image" Target="../media/image5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5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52.png"/><Relationship Id="rId4" Type="http://schemas.openxmlformats.org/officeDocument/2006/relationships/image" Target="../media/image5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19.png"/><Relationship Id="rId4" Type="http://schemas.openxmlformats.org/officeDocument/2006/relationships/image" Target="../media/image47.png"/><Relationship Id="rId5" Type="http://schemas.openxmlformats.org/officeDocument/2006/relationships/image" Target="../media/image21.png"/><Relationship Id="rId6" Type="http://schemas.openxmlformats.org/officeDocument/2006/relationships/image" Target="../media/image4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5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5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56.png"/><Relationship Id="rId4" Type="http://schemas.openxmlformats.org/officeDocument/2006/relationships/image" Target="../media/image5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5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5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실전반 온라인 1회차</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설비 데이터에서 판단과 조치까지,</a:t>
            </a:r>
          </a:p>
          <a:p>
            <a:pPr algn="l" eaLnBrk="0">
              <a:lnSpc>
                <a:spcPct val="110000"/>
              </a:lnSpc>
            </a:pPr>
            <a:r>
              <a:rPr sz="4000" b="1">
                <a:solidFill>
                  <a:srgbClr val="FFFFFF"/>
                </a:solidFill>
                <a:latin typeface="맑은 고딕"/>
                <a:ea typeface="맑은 고딕"/>
                <a:cs typeface="맑은 고딕"/>
              </a:rPr>
              <a:t>그리고 온톨로지가 필요한 이유</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HYD 사건의 진행을 관찰하고 저장 기록에서 판단과 조치의 근거를 찾는다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temperature-plus" descr="temperature-plus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opology-star-3" descr="topology-star-3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user-check" descr="user-check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배움을 지식 자산으로 남기고, HYD의 구조와 처리 흐름을 따라 온톨로지가 필요한 이유를 이해한다.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018855"/>
            <a:ext cx="2567863" cy="394500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220023"/>
            <a:ext cx="731520" cy="731520"/>
          </a:xfrm>
          <a:prstGeom prst="ellipse">
            <a:avLst/>
          </a:prstGeom>
          <a:solidFill>
            <a:srgbClr val="E7F3FD"/>
          </a:solidFill>
          <a:ln>
            <a:noFill/>
          </a:ln>
        </p:spPr>
        <p:txBody>
          <a:bodyPr rtlCol="0" anchor="ctr"/>
          <a:lstStyle/>
          <a:p>
            <a:pPr algn="ctr"/>
          </a:p>
        </p:txBody>
      </p:sp>
      <p:pic>
        <p:nvPicPr>
          <p:cNvPr id="8" name="아이콘:notebook" descr="notebook_13294B_1.6.png"/>
          <p:cNvPicPr>
            <a:picLocks noChangeAspect="1"/>
          </p:cNvPicPr>
          <p:nvPr/>
        </p:nvPicPr>
        <p:blipFill>
          <a:blip r:embed="rId3"/>
          <a:stretch>
            <a:fillRect/>
          </a:stretch>
        </p:blipFill>
        <p:spPr>
          <a:xfrm>
            <a:off x="930859" y="2373642"/>
            <a:ext cx="424281" cy="424281"/>
          </a:xfrm>
          <a:prstGeom prst="rect">
            <a:avLst/>
          </a:prstGeom>
        </p:spPr>
      </p:pic>
      <p:sp>
        <p:nvSpPr>
          <p:cNvPr id="9" name="TextBox 8"/>
          <p:cNvSpPr txBox="1"/>
          <p:nvPr/>
        </p:nvSpPr>
        <p:spPr>
          <a:xfrm>
            <a:off x="713232" y="3042983"/>
            <a:ext cx="2238679" cy="2417953"/>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지식 자산화</a:t>
            </a:r>
          </a:p>
          <a:p>
            <a:pPr algn="l" eaLnBrk="0" marL="154305" indent="-154305">
              <a:lnSpc>
                <a:spcPct val="110000"/>
              </a:lnSpc>
              <a:spcAft>
                <a:spcPts val="400"/>
              </a:spcAft>
            </a:pPr>
            <a:r>
              <a:rPr sz="1350" b="0">
                <a:solidFill>
                  <a:srgbClr val="1F2A3A"/>
                </a:solidFill>
                <a:latin typeface="맑은 고딕"/>
                <a:ea typeface="맑은 고딕"/>
                <a:cs typeface="맑은 고딕"/>
              </a:rPr>
              <a:t>• 배운 내용을 자신의 문장으로 기록하고 다시 찾아 쓰는 방법을 익힌다</a:t>
            </a:r>
          </a:p>
          <a:p>
            <a:pPr algn="l" eaLnBrk="0" marL="154305" indent="-154305">
              <a:lnSpc>
                <a:spcPct val="110000"/>
              </a:lnSpc>
              <a:spcAft>
                <a:spcPts val="400"/>
              </a:spcAft>
            </a:pPr>
            <a:r>
              <a:rPr sz="1350" b="0">
                <a:solidFill>
                  <a:srgbClr val="1F2A3A"/>
                </a:solidFill>
                <a:latin typeface="맑은 고딕"/>
                <a:ea typeface="맑은 고딕"/>
                <a:cs typeface="맑은 고딕"/>
              </a:rPr>
              <a:t>• 개인 학습노트를 만들어 앞으로의 배움을 쌓아 간다</a:t>
            </a:r>
          </a:p>
        </p:txBody>
      </p:sp>
      <p:sp>
        <p:nvSpPr>
          <p:cNvPr id="10" name="Rounded Rectangle 9"/>
          <p:cNvSpPr/>
          <p:nvPr/>
        </p:nvSpPr>
        <p:spPr>
          <a:xfrm>
            <a:off x="777240" y="5534088"/>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534088"/>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학습 기록</a:t>
            </a:r>
          </a:p>
        </p:txBody>
      </p:sp>
      <p:sp>
        <p:nvSpPr>
          <p:cNvPr id="12" name="Rounded Rectangle 11"/>
          <p:cNvSpPr/>
          <p:nvPr/>
        </p:nvSpPr>
        <p:spPr>
          <a:xfrm>
            <a:off x="3390823" y="2018855"/>
            <a:ext cx="2567863" cy="394500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220023"/>
            <a:ext cx="731520" cy="731520"/>
          </a:xfrm>
          <a:prstGeom prst="ellipse">
            <a:avLst/>
          </a:prstGeom>
          <a:solidFill>
            <a:srgbClr val="E7F3FD"/>
          </a:solidFill>
          <a:ln>
            <a:noFill/>
          </a:ln>
        </p:spPr>
        <p:txBody>
          <a:bodyPr rtlCol="0" anchor="ctr"/>
          <a:lstStyle/>
          <a:p>
            <a:pPr algn="ctr"/>
          </a:p>
        </p:txBody>
      </p:sp>
      <p:pic>
        <p:nvPicPr>
          <p:cNvPr id="14" name="아이콘:sitemap" descr="sitemap_13294B_1.6.png"/>
          <p:cNvPicPr>
            <a:picLocks noChangeAspect="1"/>
          </p:cNvPicPr>
          <p:nvPr/>
        </p:nvPicPr>
        <p:blipFill>
          <a:blip r:embed="rId4"/>
          <a:stretch>
            <a:fillRect/>
          </a:stretch>
        </p:blipFill>
        <p:spPr>
          <a:xfrm>
            <a:off x="3773043" y="2373642"/>
            <a:ext cx="424281" cy="424281"/>
          </a:xfrm>
          <a:prstGeom prst="rect">
            <a:avLst/>
          </a:prstGeom>
        </p:spPr>
      </p:pic>
      <p:sp>
        <p:nvSpPr>
          <p:cNvPr id="15" name="TextBox 14"/>
          <p:cNvSpPr txBox="1"/>
          <p:nvPr/>
        </p:nvSpPr>
        <p:spPr>
          <a:xfrm>
            <a:off x="3555415" y="3042983"/>
            <a:ext cx="2238679" cy="2417953"/>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시스템 아키텍처와 계층</a:t>
            </a:r>
          </a:p>
          <a:p>
            <a:pPr algn="l" eaLnBrk="0" marL="154305" indent="-154305">
              <a:lnSpc>
                <a:spcPct val="110000"/>
              </a:lnSpc>
              <a:spcAft>
                <a:spcPts val="400"/>
              </a:spcAft>
            </a:pPr>
            <a:r>
              <a:rPr sz="1350" b="0">
                <a:solidFill>
                  <a:srgbClr val="1F2A3A"/>
                </a:solidFill>
                <a:latin typeface="맑은 고딕"/>
                <a:ea typeface="맑은 고딕"/>
                <a:cs typeface="맑은 고딕"/>
              </a:rPr>
              <a:t>• 제조 설비에서 AI의 판단과 조치까지 이어지는 HYD의 구조를 계층별로 이해한다</a:t>
            </a:r>
          </a:p>
          <a:p>
            <a:pPr algn="l" eaLnBrk="0" marL="154305" indent="-154305">
              <a:lnSpc>
                <a:spcPct val="110000"/>
              </a:lnSpc>
              <a:spcAft>
                <a:spcPts val="400"/>
              </a:spcAft>
            </a:pPr>
            <a:r>
              <a:rPr sz="1350" b="0">
                <a:solidFill>
                  <a:srgbClr val="1F2A3A"/>
                </a:solidFill>
                <a:latin typeface="맑은 고딕"/>
                <a:ea typeface="맑은 고딕"/>
                <a:cs typeface="맑은 고딕"/>
              </a:rPr>
              <a:t>• 데이터가 올라가는 길과 명령이 내려가는 길을 따라간다</a:t>
            </a:r>
          </a:p>
        </p:txBody>
      </p:sp>
      <p:sp>
        <p:nvSpPr>
          <p:cNvPr id="16" name="Rounded Rectangle 15"/>
          <p:cNvSpPr/>
          <p:nvPr/>
        </p:nvSpPr>
        <p:spPr>
          <a:xfrm>
            <a:off x="3619423" y="5534088"/>
            <a:ext cx="16763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534088"/>
            <a:ext cx="16763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구조와 데이터 흐름</a:t>
            </a:r>
          </a:p>
        </p:txBody>
      </p:sp>
      <p:sp>
        <p:nvSpPr>
          <p:cNvPr id="18" name="Rounded Rectangle 17"/>
          <p:cNvSpPr/>
          <p:nvPr/>
        </p:nvSpPr>
        <p:spPr>
          <a:xfrm>
            <a:off x="6233007" y="2018855"/>
            <a:ext cx="2567863" cy="394500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220023"/>
            <a:ext cx="731520" cy="731520"/>
          </a:xfrm>
          <a:prstGeom prst="ellipse">
            <a:avLst/>
          </a:prstGeom>
          <a:solidFill>
            <a:srgbClr val="E7F3FD"/>
          </a:solidFill>
          <a:ln>
            <a:noFill/>
          </a:ln>
        </p:spPr>
        <p:txBody>
          <a:bodyPr rtlCol="0" anchor="ctr"/>
          <a:lstStyle/>
          <a:p>
            <a:pPr algn="ctr"/>
          </a:p>
        </p:txBody>
      </p:sp>
      <p:pic>
        <p:nvPicPr>
          <p:cNvPr id="20" name="아이콘:player-play" descr="player-play_13294B_1.6.png"/>
          <p:cNvPicPr>
            <a:picLocks noChangeAspect="1"/>
          </p:cNvPicPr>
          <p:nvPr/>
        </p:nvPicPr>
        <p:blipFill>
          <a:blip r:embed="rId5"/>
          <a:stretch>
            <a:fillRect/>
          </a:stretch>
        </p:blipFill>
        <p:spPr>
          <a:xfrm>
            <a:off x="6615226" y="2373642"/>
            <a:ext cx="424281" cy="424281"/>
          </a:xfrm>
          <a:prstGeom prst="rect">
            <a:avLst/>
          </a:prstGeom>
        </p:spPr>
      </p:pic>
      <p:sp>
        <p:nvSpPr>
          <p:cNvPr id="21" name="TextBox 20"/>
          <p:cNvSpPr txBox="1"/>
          <p:nvPr/>
        </p:nvSpPr>
        <p:spPr>
          <a:xfrm>
            <a:off x="6397599" y="3042983"/>
            <a:ext cx="2238679" cy="2417953"/>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전체 흐름과 근거 추적</a:t>
            </a:r>
          </a:p>
          <a:p>
            <a:pPr algn="l" eaLnBrk="0" marL="154305" indent="-154305">
              <a:lnSpc>
                <a:spcPct val="110000"/>
              </a:lnSpc>
              <a:spcAft>
                <a:spcPts val="400"/>
              </a:spcAft>
            </a:pPr>
            <a:r>
              <a:rPr sz="1350" b="0">
                <a:solidFill>
                  <a:srgbClr val="1F2A3A"/>
                </a:solidFill>
                <a:latin typeface="맑은 고딕"/>
                <a:ea typeface="맑은 고딕"/>
                <a:cs typeface="맑은 고딕"/>
              </a:rPr>
              <a:t>• 실행 환경을 확인하고 사건의 전체 흐름을 관찰한다</a:t>
            </a:r>
          </a:p>
          <a:p>
            <a:pPr algn="l" eaLnBrk="0" marL="154305" indent="-154305">
              <a:lnSpc>
                <a:spcPct val="110000"/>
              </a:lnSpc>
              <a:spcAft>
                <a:spcPts val="400"/>
              </a:spcAft>
            </a:pPr>
            <a:r>
              <a:rPr sz="1350" b="0">
                <a:solidFill>
                  <a:srgbClr val="1F2A3A"/>
                </a:solidFill>
                <a:latin typeface="맑은 고딕"/>
                <a:ea typeface="맑은 고딕"/>
                <a:cs typeface="맑은 고딕"/>
              </a:rPr>
              <a:t>• 참조를 검사하고 확인된 근거와 한계를 보고한다</a:t>
            </a:r>
          </a:p>
        </p:txBody>
      </p:sp>
      <p:sp>
        <p:nvSpPr>
          <p:cNvPr id="22" name="Rounded Rectangle 21"/>
          <p:cNvSpPr/>
          <p:nvPr/>
        </p:nvSpPr>
        <p:spPr>
          <a:xfrm>
            <a:off x="6461607" y="5534088"/>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53408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기록과 근거</a:t>
            </a:r>
          </a:p>
        </p:txBody>
      </p:sp>
      <p:sp>
        <p:nvSpPr>
          <p:cNvPr id="24" name="Rounded Rectangle 23"/>
          <p:cNvSpPr/>
          <p:nvPr/>
        </p:nvSpPr>
        <p:spPr>
          <a:xfrm>
            <a:off x="9075191" y="2018855"/>
            <a:ext cx="2567863" cy="3945001"/>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220023"/>
            <a:ext cx="731520" cy="731520"/>
          </a:xfrm>
          <a:prstGeom prst="ellipse">
            <a:avLst/>
          </a:prstGeom>
          <a:solidFill>
            <a:srgbClr val="5CB8F2"/>
          </a:solidFill>
          <a:ln>
            <a:noFill/>
          </a:ln>
        </p:spPr>
        <p:txBody>
          <a:bodyPr rtlCol="0" anchor="ctr"/>
          <a:lstStyle/>
          <a:p>
            <a:pPr algn="ctr"/>
          </a:p>
        </p:txBody>
      </p:sp>
      <p:pic>
        <p:nvPicPr>
          <p:cNvPr id="26" name="아이콘:topology-star-3" descr="topology-star-3_13294B_1.6.png"/>
          <p:cNvPicPr>
            <a:picLocks noChangeAspect="1"/>
          </p:cNvPicPr>
          <p:nvPr/>
        </p:nvPicPr>
        <p:blipFill>
          <a:blip r:embed="rId6"/>
          <a:stretch>
            <a:fillRect/>
          </a:stretch>
        </p:blipFill>
        <p:spPr>
          <a:xfrm>
            <a:off x="9457410" y="2373642"/>
            <a:ext cx="424281" cy="424281"/>
          </a:xfrm>
          <a:prstGeom prst="rect">
            <a:avLst/>
          </a:prstGeom>
        </p:spPr>
      </p:pic>
      <p:sp>
        <p:nvSpPr>
          <p:cNvPr id="27" name="TextBox 26"/>
          <p:cNvSpPr txBox="1"/>
          <p:nvPr/>
        </p:nvSpPr>
        <p:spPr>
          <a:xfrm>
            <a:off x="9239783" y="3042983"/>
            <a:ext cx="2238679" cy="2417953"/>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온톨로지의 필요성</a:t>
            </a:r>
          </a:p>
          <a:p>
            <a:pPr algn="l" eaLnBrk="0" marL="154305" indent="-154305">
              <a:lnSpc>
                <a:spcPct val="110000"/>
              </a:lnSpc>
              <a:spcAft>
                <a:spcPts val="400"/>
              </a:spcAft>
            </a:pPr>
            <a:r>
              <a:rPr sz="1350" b="0">
                <a:solidFill>
                  <a:srgbClr val="1F2A3A"/>
                </a:solidFill>
                <a:latin typeface="맑은 고딕"/>
                <a:ea typeface="맑은 고딕"/>
                <a:cs typeface="맑은 고딕"/>
              </a:rPr>
              <a:t>• 원인을 가리고 조치를 고르는 데 온톨로지가 필요한 이유를 설명한다</a:t>
            </a:r>
          </a:p>
          <a:p>
            <a:pPr algn="l" eaLnBrk="0" marL="154305" indent="-154305">
              <a:lnSpc>
                <a:spcPct val="110000"/>
              </a:lnSpc>
              <a:spcAft>
                <a:spcPts val="400"/>
              </a:spcAft>
            </a:pPr>
            <a:r>
              <a:rPr sz="1350" b="0">
                <a:solidFill>
                  <a:srgbClr val="1F2A3A"/>
                </a:solidFill>
                <a:latin typeface="맑은 고딕"/>
                <a:ea typeface="맑은 고딕"/>
                <a:cs typeface="맑은 고딕"/>
              </a:rPr>
              <a:t>• 증상, 원인, 조치를 이름과 방향이 있는 관계로 그려 본다</a:t>
            </a:r>
          </a:p>
        </p:txBody>
      </p:sp>
      <p:sp>
        <p:nvSpPr>
          <p:cNvPr id="28" name="Rounded Rectangle 27"/>
          <p:cNvSpPr/>
          <p:nvPr/>
        </p:nvSpPr>
        <p:spPr>
          <a:xfrm>
            <a:off x="9303791" y="5534088"/>
            <a:ext cx="9753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534088"/>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온톨로지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학습 내용의 지식 자산화</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 실습</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HYD 시스템 구조와 데이터 흐름</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 실습</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수치만으로 조치를 정할 수 없는 이유</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판단 근거의 연결</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온톨로지의 정의와 관계</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 실습</a:t>
            </a:r>
          </a:p>
        </p:txBody>
      </p:sp>
      <p:sp>
        <p:nvSpPr>
          <p:cNvPr id="28" name="TextBox 27"/>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학습 내용의 지식 자산화</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강의에 앞서, 배운 것을 내 말로 남겨 자산으로 만드는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AI가 정리한 자료와 내 머릿속의 이해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AI가 정리한 문서는 읽기 쉬워졌을 뿐인데도, 그 내용을 내가 안다는 착각을 일으킨다.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2240343"/>
            <a:ext cx="5181447" cy="350202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41511"/>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595130"/>
            <a:ext cx="424281" cy="424281"/>
          </a:xfrm>
          <a:prstGeom prst="rect">
            <a:avLst/>
          </a:prstGeom>
        </p:spPr>
      </p:pic>
      <p:sp>
        <p:nvSpPr>
          <p:cNvPr id="9" name="TextBox 8"/>
          <p:cNvSpPr txBox="1"/>
          <p:nvPr/>
        </p:nvSpPr>
        <p:spPr>
          <a:xfrm>
            <a:off x="1691640" y="244151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AI에게 넘겨 만든 자료</a:t>
            </a:r>
          </a:p>
        </p:txBody>
      </p:sp>
      <p:sp>
        <p:nvSpPr>
          <p:cNvPr id="10" name="TextBox 9"/>
          <p:cNvSpPr txBox="1"/>
          <p:nvPr/>
        </p:nvSpPr>
        <p:spPr>
          <a:xfrm>
            <a:off x="822959" y="3291903"/>
            <a:ext cx="4632807" cy="1901825"/>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필기와 강의 자료를 넘기면 보기 좋게 정리해 준다</a:t>
            </a:r>
          </a:p>
          <a:p>
            <a:pPr algn="l" eaLnBrk="0" marL="165735" indent="-165735">
              <a:lnSpc>
                <a:spcPct val="110000"/>
              </a:lnSpc>
              <a:spcAft>
                <a:spcPts val="600"/>
              </a:spcAft>
            </a:pPr>
            <a:r>
              <a:rPr sz="1450" b="0">
                <a:solidFill>
                  <a:srgbClr val="1F2A3A"/>
                </a:solidFill>
                <a:latin typeface="맑은 고딕"/>
                <a:ea typeface="맑은 고딕"/>
                <a:cs typeface="맑은 고딕"/>
              </a:rPr>
              <a:t>• 읽기 쉬운 형태로 바뀔 뿐이다</a:t>
            </a:r>
          </a:p>
          <a:p>
            <a:pPr algn="l" eaLnBrk="0" marL="165735" indent="-165735">
              <a:lnSpc>
                <a:spcPct val="110000"/>
              </a:lnSpc>
              <a:spcAft>
                <a:spcPts val="600"/>
              </a:spcAft>
            </a:pPr>
            <a:r>
              <a:rPr sz="1450" b="0">
                <a:solidFill>
                  <a:srgbClr val="1F2A3A"/>
                </a:solidFill>
                <a:latin typeface="맑은 고딕"/>
                <a:ea typeface="맑은 고딕"/>
                <a:cs typeface="맑은 고딕"/>
              </a:rPr>
              <a:t>• 정리된 문서를 보면 그 내용을 안다고 착각한다</a:t>
            </a:r>
          </a:p>
          <a:p>
            <a:pPr algn="l" eaLnBrk="0" marL="165735" indent="-165735">
              <a:lnSpc>
                <a:spcPct val="110000"/>
              </a:lnSpc>
              <a:spcAft>
                <a:spcPts val="600"/>
              </a:spcAft>
            </a:pPr>
            <a:r>
              <a:rPr sz="1450" b="0">
                <a:solidFill>
                  <a:srgbClr val="1F2A3A"/>
                </a:solidFill>
                <a:latin typeface="맑은 고딕"/>
                <a:ea typeface="맑은 고딕"/>
                <a:cs typeface="맑은 고딕"/>
              </a:rPr>
              <a:t>• 자료를 덮으면 설명이 막힌다</a:t>
            </a:r>
          </a:p>
        </p:txBody>
      </p:sp>
      <p:sp>
        <p:nvSpPr>
          <p:cNvPr id="11" name="Rounded Rectangle 10"/>
          <p:cNvSpPr/>
          <p:nvPr/>
        </p:nvSpPr>
        <p:spPr>
          <a:xfrm>
            <a:off x="868680" y="5285168"/>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85168"/>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읽기 좋은 문서</a:t>
            </a:r>
          </a:p>
        </p:txBody>
      </p:sp>
      <p:sp>
        <p:nvSpPr>
          <p:cNvPr id="13" name="Rounded Rectangle 12"/>
          <p:cNvSpPr/>
          <p:nvPr/>
        </p:nvSpPr>
        <p:spPr>
          <a:xfrm>
            <a:off x="6461607" y="2240343"/>
            <a:ext cx="5181447" cy="350202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41511"/>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595130"/>
            <a:ext cx="424281" cy="424281"/>
          </a:xfrm>
          <a:prstGeom prst="rect">
            <a:avLst/>
          </a:prstGeom>
        </p:spPr>
      </p:pic>
      <p:sp>
        <p:nvSpPr>
          <p:cNvPr id="16" name="TextBox 15"/>
          <p:cNvSpPr txBox="1"/>
          <p:nvPr/>
        </p:nvSpPr>
        <p:spPr>
          <a:xfrm>
            <a:off x="7604607" y="244151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백지에 내 말로 쓴 기록</a:t>
            </a:r>
          </a:p>
        </p:txBody>
      </p:sp>
      <p:sp>
        <p:nvSpPr>
          <p:cNvPr id="17" name="TextBox 16"/>
          <p:cNvSpPr txBox="1"/>
          <p:nvPr/>
        </p:nvSpPr>
        <p:spPr>
          <a:xfrm>
            <a:off x="6735927" y="3291903"/>
            <a:ext cx="4632807" cy="1901825"/>
          </a:xfrm>
          <a:prstGeom prst="rect">
            <a:avLst/>
          </a:prstGeom>
          <a:noFill/>
        </p:spPr>
        <p:txBody>
          <a:bodyPr wrap="square" anchor="t"/>
          <a:lstStyle/>
          <a:p>
            <a:pPr algn="l" eaLnBrk="0" marL="177165" indent="-177165">
              <a:lnSpc>
                <a:spcPct val="110000"/>
              </a:lnSpc>
              <a:spcAft>
                <a:spcPts val="600"/>
              </a:spcAft>
            </a:pPr>
            <a:r>
              <a:rPr sz="1550" b="0">
                <a:solidFill>
                  <a:srgbClr val="1F2A3A"/>
                </a:solidFill>
                <a:latin typeface="맑은 고딕"/>
                <a:ea typeface="맑은 고딕"/>
                <a:cs typeface="맑은 고딕"/>
              </a:rPr>
              <a:t>• 자료를 덮고 이해한 만큼 형식에 얽매이지 않고 써 본다</a:t>
            </a:r>
          </a:p>
          <a:p>
            <a:pPr algn="l" eaLnBrk="0" marL="177165" indent="-177165">
              <a:lnSpc>
                <a:spcPct val="110000"/>
              </a:lnSpc>
              <a:spcAft>
                <a:spcPts val="600"/>
              </a:spcAft>
            </a:pPr>
            <a:r>
              <a:rPr sz="1550" b="0">
                <a:solidFill>
                  <a:srgbClr val="1F2A3A"/>
                </a:solidFill>
                <a:latin typeface="맑은 고딕"/>
                <a:ea typeface="맑은 고딕"/>
                <a:cs typeface="맑은 고딕"/>
              </a:rPr>
              <a:t>• 쓰다가 막히는 곳에서 모르는 부분이 드러난다</a:t>
            </a:r>
          </a:p>
          <a:p>
            <a:pPr algn="l" eaLnBrk="0" marL="177165" indent="-177165">
              <a:lnSpc>
                <a:spcPct val="110000"/>
              </a:lnSpc>
              <a:spcAft>
                <a:spcPts val="600"/>
              </a:spcAft>
            </a:pPr>
            <a:r>
              <a:rPr sz="1550" b="0">
                <a:solidFill>
                  <a:srgbClr val="1F2A3A"/>
                </a:solidFill>
                <a:latin typeface="맑은 고딕"/>
                <a:ea typeface="맑은 고딕"/>
                <a:cs typeface="맑은 고딕"/>
              </a:rPr>
              <a:t>• 직접 쓰고 고친 내용은 머릿속에 남는다</a:t>
            </a:r>
          </a:p>
        </p:txBody>
      </p:sp>
      <p:sp>
        <p:nvSpPr>
          <p:cNvPr id="18" name="Rounded Rectangle 17"/>
          <p:cNvSpPr/>
          <p:nvPr/>
        </p:nvSpPr>
        <p:spPr>
          <a:xfrm>
            <a:off x="6781647" y="5285168"/>
            <a:ext cx="141732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85168"/>
            <a:ext cx="14173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내 것이 된 지식</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백지에 넓게 써 보고, 너비부터 고친다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넓게 써서 틀리거나 흐릿한 곳을 먼저 바로잡고, 막힌 곳을 하나씩 골라 깊이 파고든다.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433320"/>
            <a:ext cx="3515258" cy="311607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34488"/>
            <a:ext cx="731520" cy="731520"/>
          </a:xfrm>
          <a:prstGeom prst="ellipse">
            <a:avLst/>
          </a:prstGeom>
          <a:solidFill>
            <a:srgbClr val="E7F3FD"/>
          </a:solidFill>
          <a:ln>
            <a:noFill/>
          </a:ln>
        </p:spPr>
        <p:txBody>
          <a:bodyPr rtlCol="0" anchor="ctr"/>
          <a:lstStyle/>
          <a:p>
            <a:pPr algn="ctr"/>
          </a:p>
        </p:txBody>
      </p:sp>
      <p:pic>
        <p:nvPicPr>
          <p:cNvPr id="8" name="아이콘:x" descr="x_13294B_1.6.png"/>
          <p:cNvPicPr>
            <a:picLocks noChangeAspect="1"/>
          </p:cNvPicPr>
          <p:nvPr/>
        </p:nvPicPr>
        <p:blipFill>
          <a:blip r:embed="rId3"/>
          <a:stretch>
            <a:fillRect/>
          </a:stretch>
        </p:blipFill>
        <p:spPr>
          <a:xfrm>
            <a:off x="930859" y="2788107"/>
            <a:ext cx="424281" cy="424281"/>
          </a:xfrm>
          <a:prstGeom prst="rect">
            <a:avLst/>
          </a:prstGeom>
        </p:spPr>
      </p:pic>
      <p:sp>
        <p:nvSpPr>
          <p:cNvPr id="9" name="TextBox 8"/>
          <p:cNvSpPr txBox="1"/>
          <p:nvPr/>
        </p:nvSpPr>
        <p:spPr>
          <a:xfrm>
            <a:off x="713232"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틀린 곳</a:t>
            </a:r>
          </a:p>
          <a:p>
            <a:pPr algn="l" eaLnBrk="0" marL="205740" indent="-205740">
              <a:lnSpc>
                <a:spcPct val="110000"/>
              </a:lnSpc>
              <a:spcAft>
                <a:spcPts val="400"/>
              </a:spcAft>
            </a:pPr>
            <a:r>
              <a:rPr sz="1800" b="0">
                <a:solidFill>
                  <a:srgbClr val="1F2A3A"/>
                </a:solidFill>
                <a:latin typeface="맑은 고딕"/>
                <a:ea typeface="맑은 고딕"/>
                <a:cs typeface="맑은 고딕"/>
              </a:rPr>
              <a:t>• 사실과 다르게 쓴 문장</a:t>
            </a:r>
          </a:p>
          <a:p>
            <a:pPr algn="l" eaLnBrk="0" marL="205740" indent="-205740">
              <a:lnSpc>
                <a:spcPct val="110000"/>
              </a:lnSpc>
              <a:spcAft>
                <a:spcPts val="400"/>
              </a:spcAft>
            </a:pPr>
            <a:r>
              <a:rPr sz="1800" b="0">
                <a:solidFill>
                  <a:srgbClr val="1F2A3A"/>
                </a:solidFill>
                <a:latin typeface="맑은 고딕"/>
                <a:ea typeface="맑은 고딕"/>
                <a:cs typeface="맑은 고딕"/>
              </a:rPr>
              <a:t>• 먼저 바로잡는다</a:t>
            </a:r>
          </a:p>
        </p:txBody>
      </p:sp>
      <p:sp>
        <p:nvSpPr>
          <p:cNvPr id="10" name="Rounded Rectangle 9"/>
          <p:cNvSpPr/>
          <p:nvPr/>
        </p:nvSpPr>
        <p:spPr>
          <a:xfrm>
            <a:off x="777240" y="5119624"/>
            <a:ext cx="15697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19624"/>
            <a:ext cx="15697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잘못 알고 있는 것</a:t>
            </a:r>
          </a:p>
        </p:txBody>
      </p:sp>
      <p:sp>
        <p:nvSpPr>
          <p:cNvPr id="12" name="Rounded Rectangle 11"/>
          <p:cNvSpPr/>
          <p:nvPr/>
        </p:nvSpPr>
        <p:spPr>
          <a:xfrm>
            <a:off x="4338218" y="2433320"/>
            <a:ext cx="3515258" cy="311607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34488"/>
            <a:ext cx="731520" cy="731520"/>
          </a:xfrm>
          <a:prstGeom prst="ellipse">
            <a:avLst/>
          </a:prstGeom>
          <a:solidFill>
            <a:srgbClr val="E7F3FD"/>
          </a:solidFill>
          <a:ln>
            <a:noFill/>
          </a:ln>
        </p:spPr>
        <p:txBody>
          <a:bodyPr rtlCol="0" anchor="ctr"/>
          <a:lstStyle/>
          <a:p>
            <a:pPr algn="ctr"/>
          </a:p>
        </p:txBody>
      </p:sp>
      <p:pic>
        <p:nvPicPr>
          <p:cNvPr id="14" name="아이콘:message-dots" descr="message-dots_13294B_1.6.png"/>
          <p:cNvPicPr>
            <a:picLocks noChangeAspect="1"/>
          </p:cNvPicPr>
          <p:nvPr/>
        </p:nvPicPr>
        <p:blipFill>
          <a:blip r:embed="rId4"/>
          <a:stretch>
            <a:fillRect/>
          </a:stretch>
        </p:blipFill>
        <p:spPr>
          <a:xfrm>
            <a:off x="4720437" y="2788107"/>
            <a:ext cx="424281" cy="424281"/>
          </a:xfrm>
          <a:prstGeom prst="rect">
            <a:avLst/>
          </a:prstGeom>
        </p:spPr>
      </p:pic>
      <p:sp>
        <p:nvSpPr>
          <p:cNvPr id="15" name="TextBox 14"/>
          <p:cNvSpPr txBox="1"/>
          <p:nvPr/>
        </p:nvSpPr>
        <p:spPr>
          <a:xfrm>
            <a:off x="4502810"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횡설수설한 곳</a:t>
            </a:r>
          </a:p>
          <a:p>
            <a:pPr algn="l" eaLnBrk="0" marL="205740" indent="-205740">
              <a:lnSpc>
                <a:spcPct val="110000"/>
              </a:lnSpc>
              <a:spcAft>
                <a:spcPts val="400"/>
              </a:spcAft>
            </a:pPr>
            <a:r>
              <a:rPr sz="1800" b="0">
                <a:solidFill>
                  <a:srgbClr val="1F2A3A"/>
                </a:solidFill>
                <a:latin typeface="맑은 고딕"/>
                <a:ea typeface="맑은 고딕"/>
                <a:cs typeface="맑은 고딕"/>
              </a:rPr>
              <a:t>• 말은 이어지지만 뜻이 분명하지 않은 문장</a:t>
            </a:r>
          </a:p>
          <a:p>
            <a:pPr algn="l" eaLnBrk="0" marL="205740" indent="-205740">
              <a:lnSpc>
                <a:spcPct val="110000"/>
              </a:lnSpc>
              <a:spcAft>
                <a:spcPts val="400"/>
              </a:spcAft>
            </a:pPr>
            <a:r>
              <a:rPr sz="1800" b="0">
                <a:solidFill>
                  <a:srgbClr val="1F2A3A"/>
                </a:solidFill>
                <a:latin typeface="맑은 고딕"/>
                <a:ea typeface="맑은 고딕"/>
                <a:cs typeface="맑은 고딕"/>
              </a:rPr>
              <a:t>• 먼저 바로잡는다</a:t>
            </a:r>
          </a:p>
        </p:txBody>
      </p:sp>
      <p:sp>
        <p:nvSpPr>
          <p:cNvPr id="16" name="Rounded Rectangle 15"/>
          <p:cNvSpPr/>
          <p:nvPr/>
        </p:nvSpPr>
        <p:spPr>
          <a:xfrm>
            <a:off x="4566818" y="5119624"/>
            <a:ext cx="15239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19624"/>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흐릿하게 아는 것</a:t>
            </a:r>
          </a:p>
        </p:txBody>
      </p:sp>
      <p:sp>
        <p:nvSpPr>
          <p:cNvPr id="18" name="Rounded Rectangle 17"/>
          <p:cNvSpPr/>
          <p:nvPr/>
        </p:nvSpPr>
        <p:spPr>
          <a:xfrm>
            <a:off x="8127796" y="2433320"/>
            <a:ext cx="3515258" cy="311607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34488"/>
            <a:ext cx="731520" cy="731520"/>
          </a:xfrm>
          <a:prstGeom prst="ellipse">
            <a:avLst/>
          </a:prstGeom>
          <a:solidFill>
            <a:srgbClr val="5CB8F2"/>
          </a:solidFill>
          <a:ln>
            <a:noFill/>
          </a:ln>
        </p:spPr>
        <p:txBody>
          <a:bodyPr rtlCol="0" anchor="ctr"/>
          <a:lstStyle/>
          <a:p>
            <a:pPr algn="ctr"/>
          </a:p>
        </p:txBody>
      </p:sp>
      <p:pic>
        <p:nvPicPr>
          <p:cNvPr id="20" name="아이콘:lock" descr="lock_13294B_1.6.png"/>
          <p:cNvPicPr>
            <a:picLocks noChangeAspect="1"/>
          </p:cNvPicPr>
          <p:nvPr/>
        </p:nvPicPr>
        <p:blipFill>
          <a:blip r:embed="rId5"/>
          <a:stretch>
            <a:fillRect/>
          </a:stretch>
        </p:blipFill>
        <p:spPr>
          <a:xfrm>
            <a:off x="8510016" y="2788107"/>
            <a:ext cx="424281" cy="424281"/>
          </a:xfrm>
          <a:prstGeom prst="rect">
            <a:avLst/>
          </a:prstGeom>
        </p:spPr>
      </p:pic>
      <p:sp>
        <p:nvSpPr>
          <p:cNvPr id="21" name="TextBox 20"/>
          <p:cNvSpPr txBox="1"/>
          <p:nvPr/>
        </p:nvSpPr>
        <p:spPr>
          <a:xfrm>
            <a:off x="8292388"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막힌 곳</a:t>
            </a:r>
          </a:p>
          <a:p>
            <a:pPr algn="l" eaLnBrk="0" marL="205740" indent="-205740">
              <a:lnSpc>
                <a:spcPct val="110000"/>
              </a:lnSpc>
              <a:spcAft>
                <a:spcPts val="400"/>
              </a:spcAft>
            </a:pPr>
            <a:r>
              <a:rPr sz="1800" b="0">
                <a:solidFill>
                  <a:srgbClr val="1F2A3A"/>
                </a:solidFill>
                <a:latin typeface="맑은 고딕"/>
                <a:ea typeface="맑은 고딕"/>
                <a:cs typeface="맑은 고딕"/>
              </a:rPr>
              <a:t>• 더 쓰지 못하고 멈춘 자리</a:t>
            </a:r>
          </a:p>
          <a:p>
            <a:pPr algn="l" eaLnBrk="0" marL="205740" indent="-205740">
              <a:lnSpc>
                <a:spcPct val="110000"/>
              </a:lnSpc>
              <a:spcAft>
                <a:spcPts val="400"/>
              </a:spcAft>
            </a:pPr>
            <a:r>
              <a:rPr sz="1800" b="0">
                <a:solidFill>
                  <a:srgbClr val="1F2A3A"/>
                </a:solidFill>
                <a:latin typeface="맑은 고딕"/>
                <a:ea typeface="맑은 고딕"/>
                <a:cs typeface="맑은 고딕"/>
              </a:rPr>
              <a:t>• 줄기를 잡은 뒤 하나씩 깊이 판다</a:t>
            </a:r>
          </a:p>
        </p:txBody>
      </p:sp>
      <p:sp>
        <p:nvSpPr>
          <p:cNvPr id="22" name="Rounded Rectangle 21"/>
          <p:cNvSpPr/>
          <p:nvPr/>
        </p:nvSpPr>
        <p:spPr>
          <a:xfrm>
            <a:off x="8356396" y="5119624"/>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1962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모르는 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모르는 말은 바닥까지 내려가 판다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모르는 말은 뜻을 계속 물으며 바닥까지 내려간 뒤, 하나씩 이어 붙이며 처음의 용어를 이해한다.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445956"/>
            <a:ext cx="2485567" cy="309079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28836"/>
            <a:ext cx="731520" cy="731520"/>
          </a:xfrm>
          <a:prstGeom prst="ellipse">
            <a:avLst/>
          </a:prstGeom>
          <a:solidFill>
            <a:srgbClr val="FFFFFF"/>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1579283" y="2782455"/>
            <a:ext cx="424281" cy="424281"/>
          </a:xfrm>
          <a:prstGeom prst="rect">
            <a:avLst/>
          </a:prstGeom>
        </p:spPr>
      </p:pic>
      <p:sp>
        <p:nvSpPr>
          <p:cNvPr id="9" name="TextBox 8"/>
          <p:cNvSpPr txBox="1"/>
          <p:nvPr/>
        </p:nvSpPr>
        <p:spPr>
          <a:xfrm>
            <a:off x="621792" y="3433508"/>
            <a:ext cx="2339263" cy="2030094"/>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막힌 용어</a:t>
            </a:r>
          </a:p>
          <a:p>
            <a:pPr algn="ctr" eaLnBrk="0">
              <a:lnSpc>
                <a:spcPct val="110000"/>
              </a:lnSpc>
              <a:spcAft>
                <a:spcPts val="400"/>
              </a:spcAft>
            </a:pPr>
            <a:r>
              <a:rPr sz="1500" b="0">
                <a:solidFill>
                  <a:srgbClr val="1F2A3A"/>
                </a:solidFill>
                <a:latin typeface="맑은 고딕"/>
                <a:ea typeface="맑은 고딕"/>
                <a:cs typeface="맑은 고딕"/>
              </a:rPr>
              <a:t>공부할 범위에서</a:t>
            </a:r>
          </a:p>
          <a:p>
            <a:pPr algn="ctr" eaLnBrk="0">
              <a:lnSpc>
                <a:spcPct val="110000"/>
              </a:lnSpc>
              <a:spcAft>
                <a:spcPts val="400"/>
              </a:spcAft>
            </a:pPr>
            <a:r>
              <a:rPr sz="1500" b="0">
                <a:solidFill>
                  <a:srgbClr val="1F2A3A"/>
                </a:solidFill>
                <a:latin typeface="맑은 고딕"/>
                <a:ea typeface="맑은 고딕"/>
                <a:cs typeface="맑은 고딕"/>
              </a:rPr>
              <a:t>모르는 용어를</a:t>
            </a:r>
          </a:p>
          <a:p>
            <a:pPr algn="ctr" eaLnBrk="0">
              <a:lnSpc>
                <a:spcPct val="110000"/>
              </a:lnSpc>
              <a:spcAft>
                <a:spcPts val="400"/>
              </a:spcAft>
            </a:pPr>
            <a:r>
              <a:rPr sz="1500" b="0">
                <a:solidFill>
                  <a:srgbClr val="1F2A3A"/>
                </a:solidFill>
                <a:latin typeface="맑은 고딕"/>
                <a:ea typeface="맑은 고딕"/>
                <a:cs typeface="맑은 고딕"/>
              </a:rPr>
              <a:t>고른다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45956"/>
            <a:ext cx="2485567" cy="309079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28836"/>
            <a:ext cx="731520" cy="731520"/>
          </a:xfrm>
          <a:prstGeom prst="ellipse">
            <a:avLst/>
          </a:prstGeom>
          <a:solidFill>
            <a:srgbClr val="FFFFFF"/>
          </a:solidFill>
          <a:ln>
            <a:noFill/>
          </a:ln>
        </p:spPr>
        <p:txBody>
          <a:bodyPr rtlCol="0" anchor="ctr"/>
          <a:lstStyle/>
          <a:p>
            <a:pPr algn="ctr"/>
          </a:p>
        </p:txBody>
      </p:sp>
      <p:pic>
        <p:nvPicPr>
          <p:cNvPr id="13" name="아이콘:help" descr="help_13294B_1.6.png"/>
          <p:cNvPicPr>
            <a:picLocks noChangeAspect="1"/>
          </p:cNvPicPr>
          <p:nvPr/>
        </p:nvPicPr>
        <p:blipFill>
          <a:blip r:embed="rId4"/>
          <a:stretch>
            <a:fillRect/>
          </a:stretch>
        </p:blipFill>
        <p:spPr>
          <a:xfrm>
            <a:off x="4448898" y="2782455"/>
            <a:ext cx="424281" cy="424281"/>
          </a:xfrm>
          <a:prstGeom prst="rect">
            <a:avLst/>
          </a:prstGeom>
        </p:spPr>
      </p:pic>
      <p:sp>
        <p:nvSpPr>
          <p:cNvPr id="14" name="TextBox 13"/>
          <p:cNvSpPr txBox="1"/>
          <p:nvPr/>
        </p:nvSpPr>
        <p:spPr>
          <a:xfrm>
            <a:off x="3491407" y="3433508"/>
            <a:ext cx="2339263" cy="2030094"/>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뜻을 묻는다</a:t>
            </a:r>
          </a:p>
          <a:p>
            <a:pPr algn="ctr" eaLnBrk="0">
              <a:lnSpc>
                <a:spcPct val="110000"/>
              </a:lnSpc>
              <a:spcAft>
                <a:spcPts val="400"/>
              </a:spcAft>
            </a:pPr>
            <a:r>
              <a:rPr sz="1500" b="0">
                <a:solidFill>
                  <a:srgbClr val="1F2A3A"/>
                </a:solidFill>
                <a:latin typeface="맑은 고딕"/>
                <a:ea typeface="맑은 고딕"/>
                <a:cs typeface="맑은 고딕"/>
              </a:rPr>
              <a:t>그 용어가</a:t>
            </a:r>
          </a:p>
          <a:p>
            <a:pPr algn="ctr" eaLnBrk="0">
              <a:lnSpc>
                <a:spcPct val="110000"/>
              </a:lnSpc>
              <a:spcAft>
                <a:spcPts val="400"/>
              </a:spcAft>
            </a:pPr>
            <a:r>
              <a:rPr sz="1500" b="0">
                <a:solidFill>
                  <a:srgbClr val="1F2A3A"/>
                </a:solidFill>
                <a:latin typeface="맑은 고딕"/>
                <a:ea typeface="맑은 고딕"/>
                <a:cs typeface="맑은 고딕"/>
              </a:rPr>
              <a:t>무엇을 뜻하는지</a:t>
            </a:r>
          </a:p>
          <a:p>
            <a:pPr algn="ctr" eaLnBrk="0">
              <a:lnSpc>
                <a:spcPct val="110000"/>
              </a:lnSpc>
              <a:spcAft>
                <a:spcPts val="400"/>
              </a:spcAft>
            </a:pPr>
            <a:r>
              <a:rPr sz="1500" b="0">
                <a:solidFill>
                  <a:srgbClr val="1F2A3A"/>
                </a:solidFill>
                <a:latin typeface="맑은 고딕"/>
                <a:ea typeface="맑은 고딕"/>
                <a:cs typeface="맑은 고딕"/>
              </a:rPr>
              <a:t>AI에게 묻는다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45956"/>
            <a:ext cx="2485567" cy="309079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28836"/>
            <a:ext cx="731520" cy="731520"/>
          </a:xfrm>
          <a:prstGeom prst="ellipse">
            <a:avLst/>
          </a:prstGeom>
          <a:solidFill>
            <a:srgbClr val="FFFFFF"/>
          </a:solidFill>
          <a:ln>
            <a:noFill/>
          </a:ln>
        </p:spPr>
        <p:txBody>
          <a:bodyPr rtlCol="0" anchor="ctr"/>
          <a:lstStyle/>
          <a:p>
            <a:pPr algn="ctr"/>
          </a:p>
        </p:txBody>
      </p:sp>
      <p:pic>
        <p:nvPicPr>
          <p:cNvPr id="18" name="아이콘:arrow-down" descr="arrow-down_13294B_1.6.png"/>
          <p:cNvPicPr>
            <a:picLocks noChangeAspect="1"/>
          </p:cNvPicPr>
          <p:nvPr/>
        </p:nvPicPr>
        <p:blipFill>
          <a:blip r:embed="rId5"/>
          <a:stretch>
            <a:fillRect/>
          </a:stretch>
        </p:blipFill>
        <p:spPr>
          <a:xfrm>
            <a:off x="7318514" y="2782455"/>
            <a:ext cx="424281" cy="424281"/>
          </a:xfrm>
          <a:prstGeom prst="rect">
            <a:avLst/>
          </a:prstGeom>
        </p:spPr>
      </p:pic>
      <p:sp>
        <p:nvSpPr>
          <p:cNvPr id="19" name="TextBox 18"/>
          <p:cNvSpPr txBox="1"/>
          <p:nvPr/>
        </p:nvSpPr>
        <p:spPr>
          <a:xfrm>
            <a:off x="6361023" y="3433508"/>
            <a:ext cx="2339263" cy="2030094"/>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계속 내려간다</a:t>
            </a:r>
          </a:p>
          <a:p>
            <a:pPr algn="ctr" eaLnBrk="0">
              <a:lnSpc>
                <a:spcPct val="110000"/>
              </a:lnSpc>
              <a:spcAft>
                <a:spcPts val="400"/>
              </a:spcAft>
            </a:pPr>
            <a:r>
              <a:rPr sz="1500" b="0">
                <a:solidFill>
                  <a:srgbClr val="1F2A3A"/>
                </a:solidFill>
                <a:latin typeface="맑은 고딕"/>
                <a:ea typeface="맑은 고딕"/>
                <a:cs typeface="맑은 고딕"/>
              </a:rPr>
              <a:t>설명 속에 또 모르는 말이</a:t>
            </a:r>
          </a:p>
          <a:p>
            <a:pPr algn="ctr" eaLnBrk="0">
              <a:lnSpc>
                <a:spcPct val="110000"/>
              </a:lnSpc>
              <a:spcAft>
                <a:spcPts val="400"/>
              </a:spcAft>
            </a:pPr>
            <a:r>
              <a:rPr sz="1500" b="0">
                <a:solidFill>
                  <a:srgbClr val="1F2A3A"/>
                </a:solidFill>
                <a:latin typeface="맑은 고딕"/>
                <a:ea typeface="맑은 고딕"/>
                <a:cs typeface="맑은 고딕"/>
              </a:rPr>
              <a:t>있으면 다시 묻는다</a:t>
            </a:r>
          </a:p>
          <a:p>
            <a:pPr algn="ctr" eaLnBrk="0">
              <a:lnSpc>
                <a:spcPct val="110000"/>
              </a:lnSpc>
              <a:spcAft>
                <a:spcPts val="400"/>
              </a:spcAft>
            </a:pPr>
            <a:r>
              <a:rPr sz="1500" b="0">
                <a:solidFill>
                  <a:srgbClr val="1F2A3A"/>
                </a:solidFill>
                <a:latin typeface="맑은 고딕"/>
                <a:ea typeface="맑은 고딕"/>
                <a:cs typeface="맑은 고딕"/>
              </a:rPr>
              <a:t>초등학생에게 설명하듯</a:t>
            </a:r>
          </a:p>
          <a:p>
            <a:pPr algn="ctr" eaLnBrk="0">
              <a:lnSpc>
                <a:spcPct val="110000"/>
              </a:lnSpc>
              <a:spcAft>
                <a:spcPts val="400"/>
              </a:spcAft>
            </a:pPr>
            <a:r>
              <a:rPr sz="1500" b="0">
                <a:solidFill>
                  <a:srgbClr val="1F2A3A"/>
                </a:solidFill>
                <a:latin typeface="맑은 고딕"/>
                <a:ea typeface="맑은 고딕"/>
                <a:cs typeface="맑은 고딕"/>
              </a:rPr>
              <a:t>풀어 달라고 해도 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45956"/>
            <a:ext cx="2485567" cy="309079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28836"/>
            <a:ext cx="731520" cy="731520"/>
          </a:xfrm>
          <a:prstGeom prst="ellipse">
            <a:avLst/>
          </a:prstGeom>
          <a:solidFill>
            <a:srgbClr val="5CB8F2"/>
          </a:solidFill>
          <a:ln>
            <a:noFill/>
          </a:ln>
        </p:spPr>
        <p:txBody>
          <a:bodyPr rtlCol="0" anchor="ctr"/>
          <a:lstStyle/>
          <a:p>
            <a:pPr algn="ctr"/>
          </a:p>
        </p:txBody>
      </p:sp>
      <p:pic>
        <p:nvPicPr>
          <p:cNvPr id="23" name="아이콘:arrow-up" descr="arrow-up_13294B_1.6.png"/>
          <p:cNvPicPr>
            <a:picLocks noChangeAspect="1"/>
          </p:cNvPicPr>
          <p:nvPr/>
        </p:nvPicPr>
        <p:blipFill>
          <a:blip r:embed="rId6"/>
          <a:stretch>
            <a:fillRect/>
          </a:stretch>
        </p:blipFill>
        <p:spPr>
          <a:xfrm>
            <a:off x="10188130" y="2782455"/>
            <a:ext cx="424281" cy="424281"/>
          </a:xfrm>
          <a:prstGeom prst="rect">
            <a:avLst/>
          </a:prstGeom>
        </p:spPr>
      </p:pic>
      <p:sp>
        <p:nvSpPr>
          <p:cNvPr id="24" name="TextBox 23"/>
          <p:cNvSpPr txBox="1"/>
          <p:nvPr/>
        </p:nvSpPr>
        <p:spPr>
          <a:xfrm>
            <a:off x="9230639" y="3433508"/>
            <a:ext cx="2339263" cy="2030094"/>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올라온다</a:t>
            </a:r>
          </a:p>
          <a:p>
            <a:pPr algn="ctr" eaLnBrk="0">
              <a:lnSpc>
                <a:spcPct val="110000"/>
              </a:lnSpc>
              <a:spcAft>
                <a:spcPts val="400"/>
              </a:spcAft>
            </a:pPr>
            <a:r>
              <a:rPr sz="1500" b="0">
                <a:solidFill>
                  <a:srgbClr val="1F2A3A"/>
                </a:solidFill>
                <a:latin typeface="맑은 고딕"/>
                <a:ea typeface="맑은 고딕"/>
                <a:cs typeface="맑은 고딕"/>
              </a:rPr>
              <a:t>바닥에서부터</a:t>
            </a:r>
          </a:p>
          <a:p>
            <a:pPr algn="ctr" eaLnBrk="0">
              <a:lnSpc>
                <a:spcPct val="110000"/>
              </a:lnSpc>
              <a:spcAft>
                <a:spcPts val="400"/>
              </a:spcAft>
            </a:pPr>
            <a:r>
              <a:rPr sz="1500" b="0">
                <a:solidFill>
                  <a:srgbClr val="1F2A3A"/>
                </a:solidFill>
                <a:latin typeface="맑은 고딕"/>
                <a:ea typeface="맑은 고딕"/>
                <a:cs typeface="맑은 고딕"/>
              </a:rPr>
              <a:t>하나씩 이어 붙이며</a:t>
            </a:r>
          </a:p>
          <a:p>
            <a:pPr algn="ctr" eaLnBrk="0">
              <a:lnSpc>
                <a:spcPct val="110000"/>
              </a:lnSpc>
              <a:spcAft>
                <a:spcPts val="400"/>
              </a:spcAft>
            </a:pPr>
            <a:r>
              <a:rPr sz="1500" b="0">
                <a:solidFill>
                  <a:srgbClr val="1F2A3A"/>
                </a:solidFill>
                <a:latin typeface="맑은 고딕"/>
                <a:ea typeface="맑은 고딕"/>
                <a:cs typeface="맑은 고딕"/>
              </a:rPr>
              <a:t>처음의 용어로</a:t>
            </a:r>
          </a:p>
          <a:p>
            <a:pPr algn="ctr" eaLnBrk="0">
              <a:lnSpc>
                <a:spcPct val="110000"/>
              </a:lnSpc>
              <a:spcAft>
                <a:spcPts val="400"/>
              </a:spcAft>
            </a:pPr>
            <a:r>
              <a:rPr sz="1500" b="0">
                <a:solidFill>
                  <a:srgbClr val="1F2A3A"/>
                </a:solidFill>
                <a:latin typeface="맑은 고딕"/>
                <a:ea typeface="맑은 고딕"/>
                <a:cs typeface="맑은 고딕"/>
              </a:rPr>
              <a:t>돌아온다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뜻을 내 말로 옮겨 학습노트에 쌓는다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정의를 외우는 대신 내 말로 풀어 쓴 기록을 학습노트에 쌓으면, 그 기록이 지식 자산이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336546"/>
            <a:ext cx="5181447" cy="330962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37714"/>
            <a:ext cx="731520" cy="731520"/>
          </a:xfrm>
          <a:prstGeom prst="ellipse">
            <a:avLst/>
          </a:prstGeom>
          <a:solidFill>
            <a:srgbClr val="FFFFFF"/>
          </a:solidFill>
          <a:ln>
            <a:noFill/>
          </a:ln>
        </p:spPr>
        <p:txBody>
          <a:bodyPr rtlCol="0" anchor="ctr"/>
          <a:lstStyle/>
          <a:p>
            <a:pPr algn="ctr"/>
          </a:p>
        </p:txBody>
      </p:sp>
      <p:pic>
        <p:nvPicPr>
          <p:cNvPr id="8" name="아이콘:book" descr="book_13294B_1.6.png"/>
          <p:cNvPicPr>
            <a:picLocks noChangeAspect="1"/>
          </p:cNvPicPr>
          <p:nvPr/>
        </p:nvPicPr>
        <p:blipFill>
          <a:blip r:embed="rId3"/>
          <a:stretch>
            <a:fillRect/>
          </a:stretch>
        </p:blipFill>
        <p:spPr>
          <a:xfrm>
            <a:off x="976579" y="2691333"/>
            <a:ext cx="424281" cy="424281"/>
          </a:xfrm>
          <a:prstGeom prst="rect">
            <a:avLst/>
          </a:prstGeom>
        </p:spPr>
      </p:pic>
      <p:sp>
        <p:nvSpPr>
          <p:cNvPr id="9" name="TextBox 8"/>
          <p:cNvSpPr txBox="1"/>
          <p:nvPr/>
        </p:nvSpPr>
        <p:spPr>
          <a:xfrm>
            <a:off x="1691640" y="253771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정의를 그대로 외운다</a:t>
            </a:r>
          </a:p>
        </p:txBody>
      </p:sp>
      <p:sp>
        <p:nvSpPr>
          <p:cNvPr id="10" name="TextBox 9"/>
          <p:cNvSpPr txBox="1"/>
          <p:nvPr/>
        </p:nvSpPr>
        <p:spPr>
          <a:xfrm>
            <a:off x="822959"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문장은 기억하지만 다른 말로 물으면 답하지 못한다</a:t>
            </a:r>
          </a:p>
          <a:p>
            <a:pPr algn="l" eaLnBrk="0" marL="200025" indent="-200025">
              <a:lnSpc>
                <a:spcPct val="110000"/>
              </a:lnSpc>
              <a:spcAft>
                <a:spcPts val="600"/>
              </a:spcAft>
            </a:pPr>
            <a:r>
              <a:rPr sz="1750" b="0">
                <a:solidFill>
                  <a:srgbClr val="1F2A3A"/>
                </a:solidFill>
                <a:latin typeface="맑은 고딕"/>
                <a:ea typeface="맑은 고딕"/>
                <a:cs typeface="맑은 고딕"/>
              </a:rPr>
              <a:t>• 외운 문장을 벗어나면 설명하지 못한다</a:t>
            </a:r>
          </a:p>
        </p:txBody>
      </p:sp>
      <p:sp>
        <p:nvSpPr>
          <p:cNvPr id="11" name="Rounded Rectangle 10"/>
          <p:cNvSpPr/>
          <p:nvPr/>
        </p:nvSpPr>
        <p:spPr>
          <a:xfrm>
            <a:off x="868680" y="5188966"/>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8896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외운 문장</a:t>
            </a:r>
          </a:p>
        </p:txBody>
      </p:sp>
      <p:sp>
        <p:nvSpPr>
          <p:cNvPr id="13" name="Rounded Rectangle 12"/>
          <p:cNvSpPr/>
          <p:nvPr/>
        </p:nvSpPr>
        <p:spPr>
          <a:xfrm>
            <a:off x="6461607" y="2336546"/>
            <a:ext cx="5181447" cy="330962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37714"/>
            <a:ext cx="731520" cy="731520"/>
          </a:xfrm>
          <a:prstGeom prst="ellipse">
            <a:avLst/>
          </a:prstGeom>
          <a:solidFill>
            <a:srgbClr val="5CB8F2"/>
          </a:solidFill>
          <a:ln>
            <a:noFill/>
          </a:ln>
        </p:spPr>
        <p:txBody>
          <a:bodyPr rtlCol="0" anchor="ctr"/>
          <a:lstStyle/>
          <a:p>
            <a:pPr algn="ctr"/>
          </a:p>
        </p:txBody>
      </p:sp>
      <p:pic>
        <p:nvPicPr>
          <p:cNvPr id="15" name="아이콘:notebook" descr="notebook_13294B_1.6.png"/>
          <p:cNvPicPr>
            <a:picLocks noChangeAspect="1"/>
          </p:cNvPicPr>
          <p:nvPr/>
        </p:nvPicPr>
        <p:blipFill>
          <a:blip r:embed="rId4"/>
          <a:stretch>
            <a:fillRect/>
          </a:stretch>
        </p:blipFill>
        <p:spPr>
          <a:xfrm>
            <a:off x="6889546" y="2691333"/>
            <a:ext cx="424281" cy="424281"/>
          </a:xfrm>
          <a:prstGeom prst="rect">
            <a:avLst/>
          </a:prstGeom>
        </p:spPr>
      </p:pic>
      <p:sp>
        <p:nvSpPr>
          <p:cNvPr id="16" name="TextBox 15"/>
          <p:cNvSpPr txBox="1"/>
          <p:nvPr/>
        </p:nvSpPr>
        <p:spPr>
          <a:xfrm>
            <a:off x="7604607" y="253771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내 말로 옮겨 쌓는다</a:t>
            </a:r>
          </a:p>
        </p:txBody>
      </p:sp>
      <p:sp>
        <p:nvSpPr>
          <p:cNvPr id="17" name="TextBox 16"/>
          <p:cNvSpPr txBox="1"/>
          <p:nvPr/>
        </p:nvSpPr>
        <p:spPr>
          <a:xfrm>
            <a:off x="6735927"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원리는 그대로 두고 표현만 쉽게 바꾼다</a:t>
            </a:r>
          </a:p>
          <a:p>
            <a:pPr algn="l" eaLnBrk="0" marL="200025" indent="-200025">
              <a:lnSpc>
                <a:spcPct val="110000"/>
              </a:lnSpc>
              <a:spcAft>
                <a:spcPts val="600"/>
              </a:spcAft>
            </a:pPr>
            <a:r>
              <a:rPr sz="1750" b="0">
                <a:solidFill>
                  <a:srgbClr val="1F2A3A"/>
                </a:solidFill>
                <a:latin typeface="맑은 고딕"/>
                <a:ea typeface="맑은 고딕"/>
                <a:cs typeface="맑은 고딕"/>
              </a:rPr>
              <a:t>• 다른 말로 물어도 답하고 남에게 설명할 수 있다</a:t>
            </a:r>
          </a:p>
          <a:p>
            <a:pPr algn="l" eaLnBrk="0" marL="200025" indent="-200025">
              <a:lnSpc>
                <a:spcPct val="110000"/>
              </a:lnSpc>
              <a:spcAft>
                <a:spcPts val="600"/>
              </a:spcAft>
            </a:pPr>
            <a:r>
              <a:rPr sz="1750" b="0">
                <a:solidFill>
                  <a:srgbClr val="1F2A3A"/>
                </a:solidFill>
                <a:latin typeface="맑은 고딕"/>
                <a:ea typeface="맑은 고딕"/>
                <a:cs typeface="맑은 고딕"/>
              </a:rPr>
              <a:t>• 이렇게 쓴 기록을 개인 학습노트에 모은다</a:t>
            </a:r>
          </a:p>
        </p:txBody>
      </p:sp>
      <p:sp>
        <p:nvSpPr>
          <p:cNvPr id="18" name="Rounded Rectangle 17"/>
          <p:cNvSpPr/>
          <p:nvPr/>
        </p:nvSpPr>
        <p:spPr>
          <a:xfrm>
            <a:off x="6781647" y="5188966"/>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8896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쌓이는 자산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다시 찾아 쓰는 학습 기록의 연결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내 말로 쓴 개념에 출처와 실습 결과를 연결하면, 기록을 다시 찾아 확인하고 보완할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기록</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함께 남길 내용</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다시 쓰는 때</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개념과 원리</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용어의 뜻과 작동 원리를 내 말로 쓴다</a:t>
            </a:r>
          </a:p>
          <a:p>
            <a:pPr algn="l" eaLnBrk="0">
              <a:lnSpc>
                <a:spcPct val="110000"/>
              </a:lnSpc>
            </a:pPr>
            <a:r>
              <a:rPr sz="1400" b="0">
                <a:solidFill>
                  <a:srgbClr val="1F2A3A"/>
                </a:solidFill>
                <a:latin typeface="맑은 고딕"/>
                <a:ea typeface="맑은 고딕"/>
                <a:cs typeface="맑은 고딕"/>
              </a:rPr>
              <a:t>다른 개념과 이어지는 지점을 함께 적는다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설명할 때</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참고 자료와 출처</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문서 이름과 해당 부분의 링크를 개념에 연결한다</a:t>
            </a:r>
          </a:p>
          <a:p>
            <a:pPr algn="l" eaLnBrk="0">
              <a:lnSpc>
                <a:spcPct val="110000"/>
              </a:lnSpc>
            </a:pPr>
            <a:r>
              <a:rPr sz="1400" b="0">
                <a:solidFill>
                  <a:srgbClr val="1F2A3A"/>
                </a:solidFill>
                <a:latin typeface="맑은 고딕"/>
                <a:ea typeface="맑은 고딕"/>
                <a:cs typeface="맑은 고딕"/>
              </a:rPr>
              <a:t>내 설명이 맞는지 원문으로 돌아가 확인한다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확인할 때</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실습 과정과 결과</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무엇을 했고 어떤 결과가 나왔는지 적는다</a:t>
            </a:r>
          </a:p>
          <a:p>
            <a:pPr algn="l" eaLnBrk="0">
              <a:lnSpc>
                <a:spcPct val="110000"/>
              </a:lnSpc>
            </a:pPr>
            <a:r>
              <a:rPr sz="1400" b="0">
                <a:solidFill>
                  <a:srgbClr val="1F2A3A"/>
                </a:solidFill>
                <a:latin typeface="맑은 고딕"/>
                <a:ea typeface="맑은 고딕"/>
                <a:cs typeface="맑은 고딕"/>
              </a:rPr>
              <a:t>막힌 점과 해결한 방법을 관련 개념에 연결한다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다시 적용할 때</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검색과 보완</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분야와 이해도로 기록을 찾는다</a:t>
            </a:r>
          </a:p>
          <a:p>
            <a:pPr algn="l" eaLnBrk="0">
              <a:lnSpc>
                <a:spcPct val="110000"/>
              </a:lnSpc>
            </a:pPr>
            <a:r>
              <a:rPr sz="1400" b="0">
                <a:solidFill>
                  <a:srgbClr val="1F2A3A"/>
                </a:solidFill>
                <a:latin typeface="맑은 고딕"/>
                <a:ea typeface="맑은 고딕"/>
                <a:cs typeface="맑은 고딕"/>
              </a:rPr>
              <a:t>이해가 달라지면 설명과 연결된 기록을 함께 고친다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지식을 쌓을 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지식 자산화를 위한 개인 학습노트 만들기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앞으로 배울 내용을 내 말로 쌓아 갈 학습노트의 틀을 만든다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실습에서 만드는 학습노트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과정 홈과 학습노트를 만들고, 내 말로 쓴 개념 하나에 참고 자료를 연결해 첫 기록을 완성한다.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287016"/>
            <a:ext cx="3515258" cy="340868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2488184"/>
            <a:ext cx="3186074" cy="2704592"/>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과정 홈</a:t>
            </a:r>
          </a:p>
          <a:p>
            <a:pPr algn="l" eaLnBrk="0" marL="205740" indent="-205740">
              <a:lnSpc>
                <a:spcPct val="110000"/>
              </a:lnSpc>
              <a:spcAft>
                <a:spcPts val="400"/>
              </a:spcAft>
            </a:pPr>
            <a:r>
              <a:rPr sz="1800" b="0">
                <a:solidFill>
                  <a:srgbClr val="1F2A3A"/>
                </a:solidFill>
                <a:latin typeface="맑은 고딕"/>
                <a:ea typeface="맑은 고딕"/>
                <a:cs typeface="맑은 고딕"/>
              </a:rPr>
              <a:t>• 전체 기록으로 들어가는 첫 페이지이다</a:t>
            </a:r>
          </a:p>
          <a:p>
            <a:pPr algn="l" eaLnBrk="0" marL="205740" indent="-205740">
              <a:lnSpc>
                <a:spcPct val="110000"/>
              </a:lnSpc>
              <a:spcAft>
                <a:spcPts val="400"/>
              </a:spcAft>
            </a:pPr>
            <a:r>
              <a:rPr sz="1800" b="0">
                <a:solidFill>
                  <a:srgbClr val="1F2A3A"/>
                </a:solidFill>
                <a:latin typeface="맑은 고딕"/>
                <a:ea typeface="맑은 고딕"/>
                <a:cs typeface="맑은 고딕"/>
              </a:rPr>
              <a:t>• 개념 정리·참고 자료·실습 결과의 세 구획과 작성 규칙을 둔다</a:t>
            </a:r>
          </a:p>
        </p:txBody>
      </p:sp>
      <p:sp>
        <p:nvSpPr>
          <p:cNvPr id="8" name="Rounded Rectangle 7"/>
          <p:cNvSpPr/>
          <p:nvPr/>
        </p:nvSpPr>
        <p:spPr>
          <a:xfrm>
            <a:off x="777240" y="5265928"/>
            <a:ext cx="1173480"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526592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기록의 입구</a:t>
            </a:r>
          </a:p>
        </p:txBody>
      </p:sp>
      <p:sp>
        <p:nvSpPr>
          <p:cNvPr id="10" name="Rounded Rectangle 9"/>
          <p:cNvSpPr/>
          <p:nvPr/>
        </p:nvSpPr>
        <p:spPr>
          <a:xfrm>
            <a:off x="4338218" y="2287016"/>
            <a:ext cx="3515258" cy="340868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4502810" y="2488184"/>
            <a:ext cx="3186074" cy="2704592"/>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학습노트 데이터베이스</a:t>
            </a:r>
          </a:p>
          <a:p>
            <a:pPr algn="l" eaLnBrk="0" marL="205740" indent="-205740">
              <a:lnSpc>
                <a:spcPct val="110000"/>
              </a:lnSpc>
              <a:spcAft>
                <a:spcPts val="400"/>
              </a:spcAft>
            </a:pPr>
            <a:r>
              <a:rPr sz="1800" b="0">
                <a:solidFill>
                  <a:srgbClr val="1F2A3A"/>
                </a:solidFill>
                <a:latin typeface="맑은 고딕"/>
                <a:ea typeface="맑은 고딕"/>
                <a:cs typeface="맑은 고딕"/>
              </a:rPr>
              <a:t>• 기록마다 분야·이해도·작성일을 붙인다</a:t>
            </a:r>
          </a:p>
          <a:p>
            <a:pPr algn="l" eaLnBrk="0" marL="205740" indent="-205740">
              <a:lnSpc>
                <a:spcPct val="110000"/>
              </a:lnSpc>
              <a:spcAft>
                <a:spcPts val="400"/>
              </a:spcAft>
            </a:pPr>
            <a:r>
              <a:rPr sz="1800" b="0">
                <a:solidFill>
                  <a:srgbClr val="1F2A3A"/>
                </a:solidFill>
                <a:latin typeface="맑은 고딕"/>
                <a:ea typeface="맑은 고딕"/>
                <a:cs typeface="맑은 고딕"/>
              </a:rPr>
              <a:t>• 이해도가 낮은 기록을 모아 다시 볼 수 있게 한다</a:t>
            </a:r>
          </a:p>
        </p:txBody>
      </p:sp>
      <p:sp>
        <p:nvSpPr>
          <p:cNvPr id="12" name="Rounded Rectangle 11"/>
          <p:cNvSpPr/>
          <p:nvPr/>
        </p:nvSpPr>
        <p:spPr>
          <a:xfrm>
            <a:off x="4566818" y="5265928"/>
            <a:ext cx="1173480"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4566818" y="526592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분류와 검색</a:t>
            </a:r>
          </a:p>
        </p:txBody>
      </p:sp>
      <p:sp>
        <p:nvSpPr>
          <p:cNvPr id="14" name="Rounded Rectangle 13"/>
          <p:cNvSpPr/>
          <p:nvPr/>
        </p:nvSpPr>
        <p:spPr>
          <a:xfrm>
            <a:off x="8127796" y="2287016"/>
            <a:ext cx="3515258" cy="340868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5" name="TextBox 14"/>
          <p:cNvSpPr txBox="1"/>
          <p:nvPr/>
        </p:nvSpPr>
        <p:spPr>
          <a:xfrm>
            <a:off x="8292388" y="2488184"/>
            <a:ext cx="3186074" cy="2704592"/>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첫 기록</a:t>
            </a:r>
          </a:p>
          <a:p>
            <a:pPr algn="l" eaLnBrk="0" marL="205740" indent="-205740">
              <a:lnSpc>
                <a:spcPct val="110000"/>
              </a:lnSpc>
              <a:spcAft>
                <a:spcPts val="400"/>
              </a:spcAft>
            </a:pPr>
            <a:r>
              <a:rPr sz="1800" b="0">
                <a:solidFill>
                  <a:srgbClr val="1F2A3A"/>
                </a:solidFill>
                <a:latin typeface="맑은 고딕"/>
                <a:ea typeface="맑은 고딕"/>
                <a:cs typeface="맑은 고딕"/>
              </a:rPr>
              <a:t>• 개념 하나를 내 말로 설명하고 출처를 연결한다</a:t>
            </a:r>
          </a:p>
          <a:p>
            <a:pPr algn="l" eaLnBrk="0" marL="205740" indent="-205740">
              <a:lnSpc>
                <a:spcPct val="110000"/>
              </a:lnSpc>
              <a:spcAft>
                <a:spcPts val="400"/>
              </a:spcAft>
            </a:pPr>
            <a:r>
              <a:rPr sz="1800" b="0">
                <a:solidFill>
                  <a:srgbClr val="1F2A3A"/>
                </a:solidFill>
                <a:latin typeface="맑은 고딕"/>
                <a:ea typeface="맑은 고딕"/>
                <a:cs typeface="맑은 고딕"/>
              </a:rPr>
              <a:t>• 실습 기록에는 과정·결과·배운 점을 남길 자리를 둔다</a:t>
            </a:r>
          </a:p>
          <a:p>
            <a:pPr algn="l" eaLnBrk="0" marL="205740" indent="-205740">
              <a:lnSpc>
                <a:spcPct val="110000"/>
              </a:lnSpc>
              <a:spcAft>
                <a:spcPts val="400"/>
              </a:spcAft>
            </a:pPr>
            <a:r>
              <a:rPr sz="1800" b="0">
                <a:solidFill>
                  <a:srgbClr val="1F2A3A"/>
                </a:solidFill>
                <a:latin typeface="맑은 고딕"/>
                <a:ea typeface="맑은 고딕"/>
                <a:cs typeface="맑은 고딕"/>
              </a:rPr>
              <a:t>• 완성 노트에서 기록을 찾고 출처를 다시 연다</a:t>
            </a:r>
          </a:p>
        </p:txBody>
      </p:sp>
      <p:sp>
        <p:nvSpPr>
          <p:cNvPr id="16" name="Rounded Rectangle 15"/>
          <p:cNvSpPr/>
          <p:nvPr/>
        </p:nvSpPr>
        <p:spPr>
          <a:xfrm>
            <a:off x="8356396" y="5265928"/>
            <a:ext cx="1523999"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8356396" y="5265928"/>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연결된 학습 기록</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HYD 시스템 구조와 데이터 흐름</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제조 설비에서 AI의 판단과 조치까지 이어지는 시스템의 구조, 계층, 데이터 흐름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설비·센서·PLC·관제의 역할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설비의 물리량은 센서에서 계측값이 되고, PLC의 제어와 관제 화면의 감시·조작에 쓰인다.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설비</a:t>
            </a:r>
          </a:p>
          <a:p>
            <a:pPr algn="l" eaLnBrk="0">
              <a:lnSpc>
                <a:spcPct val="110000"/>
              </a:lnSpc>
              <a:spcAft>
                <a:spcPts val="200"/>
              </a:spcAft>
            </a:pPr>
            <a:r>
              <a:rPr sz="1150" b="0">
                <a:solidFill>
                  <a:srgbClr val="556175"/>
                </a:solidFill>
                <a:latin typeface="맑은 고딕"/>
                <a:ea typeface="맑은 고딕"/>
                <a:cs typeface="맑은 고딕"/>
              </a:rPr>
              <a:t>Asset</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압력·온도·진동 같은 물리량이 생기는 대상이다.</a:t>
            </a:r>
          </a:p>
          <a:p>
            <a:pPr algn="l" eaLnBrk="0">
              <a:lnSpc>
                <a:spcPct val="110000"/>
              </a:lnSpc>
              <a:spcAft>
                <a:spcPts val="300"/>
              </a:spcAft>
            </a:pPr>
            <a:r>
              <a:rPr sz="1400" b="0">
                <a:solidFill>
                  <a:srgbClr val="1F2A3A"/>
                </a:solidFill>
                <a:latin typeface="맑은 고딕"/>
                <a:ea typeface="맑은 고딕"/>
                <a:cs typeface="맑은 고딕"/>
              </a:rPr>
              <a:t>HYD-01에서는 작동유가 순환하며 압력과 온도가 변한다.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센서</a:t>
            </a:r>
          </a:p>
          <a:p>
            <a:pPr algn="l" eaLnBrk="0">
              <a:lnSpc>
                <a:spcPct val="110000"/>
              </a:lnSpc>
              <a:spcAft>
                <a:spcPts val="200"/>
              </a:spcAft>
            </a:pPr>
            <a:r>
              <a:rPr sz="1150" b="0">
                <a:solidFill>
                  <a:srgbClr val="556175"/>
                </a:solidFill>
                <a:latin typeface="맑은 고딕"/>
                <a:ea typeface="맑은 고딕"/>
                <a:cs typeface="맑은 고딕"/>
              </a:rPr>
              <a:t>계측</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센서(Sensor)는 물리량을 전기 신호로 바꿔 계측값을 내놓는다.</a:t>
            </a:r>
          </a:p>
          <a:p>
            <a:pPr algn="l" eaLnBrk="0">
              <a:lnSpc>
                <a:spcPct val="110000"/>
              </a:lnSpc>
              <a:spcAft>
                <a:spcPts val="300"/>
              </a:spcAft>
            </a:pPr>
            <a:r>
              <a:rPr sz="1400" b="0">
                <a:solidFill>
                  <a:srgbClr val="1F2A3A"/>
                </a:solidFill>
                <a:latin typeface="맑은 고딕"/>
                <a:ea typeface="맑은 고딕"/>
                <a:cs typeface="맑은 고딕"/>
              </a:rPr>
              <a:t>유온 TS1은 쿨러 입구의 작동유 온도이다.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PLC</a:t>
            </a:r>
          </a:p>
          <a:p>
            <a:pPr algn="l" eaLnBrk="0">
              <a:lnSpc>
                <a:spcPct val="110000"/>
              </a:lnSpc>
              <a:spcAft>
                <a:spcPts val="200"/>
              </a:spcAft>
            </a:pPr>
            <a:r>
              <a:rPr sz="1150" b="0">
                <a:solidFill>
                  <a:srgbClr val="556175"/>
                </a:solidFill>
                <a:latin typeface="맑은 고딕"/>
                <a:ea typeface="맑은 고딕"/>
                <a:cs typeface="맑은 고딕"/>
              </a:rPr>
              <a:t>제어</a:t>
            </a:r>
          </a:p>
        </p:txBody>
      </p:sp>
      <p:sp>
        <p:nvSpPr>
          <p:cNvPr id="13" name="TextBox 12"/>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PLC(Programmable Logic Controller)는 계측값을 읽고 제어 출력을 정한다.</a:t>
            </a:r>
          </a:p>
          <a:p>
            <a:pPr algn="l" eaLnBrk="0">
              <a:lnSpc>
                <a:spcPct val="110000"/>
              </a:lnSpc>
              <a:spcAft>
                <a:spcPts val="300"/>
              </a:spcAft>
            </a:pPr>
            <a:r>
              <a:rPr sz="1400" b="0">
                <a:solidFill>
                  <a:srgbClr val="1F2A3A"/>
                </a:solidFill>
                <a:latin typeface="맑은 고딕"/>
                <a:ea typeface="맑은 고딕"/>
                <a:cs typeface="맑은 고딕"/>
              </a:rPr>
              <a:t>HYD-01의 팬 속도와 펌프 부하 설정값을 설비에 반영한다.</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관제</a:t>
            </a:r>
          </a:p>
          <a:p>
            <a:pPr algn="l" eaLnBrk="0">
              <a:lnSpc>
                <a:spcPct val="110000"/>
              </a:lnSpc>
              <a:spcAft>
                <a:spcPts val="200"/>
              </a:spcAft>
            </a:pPr>
            <a:r>
              <a:rPr sz="1150" b="0">
                <a:solidFill>
                  <a:srgbClr val="556175"/>
                </a:solidFill>
                <a:latin typeface="맑은 고딕"/>
                <a:ea typeface="맑은 고딕"/>
                <a:cs typeface="맑은 고딕"/>
              </a:rPr>
              <a:t>감시·조작</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350" b="0">
                <a:solidFill>
                  <a:srgbClr val="1F2A3A"/>
                </a:solidFill>
                <a:latin typeface="맑은 고딕"/>
                <a:ea typeface="맑은 고딕"/>
                <a:cs typeface="맑은 고딕"/>
              </a:rPr>
              <a:t>SCADA(Supervisory Control and Data Acquisition)는 설비를 감시·제어하는 시스템이다.</a:t>
            </a:r>
          </a:p>
          <a:p>
            <a:pPr algn="l" eaLnBrk="0">
              <a:lnSpc>
                <a:spcPct val="110000"/>
              </a:lnSpc>
              <a:spcAft>
                <a:spcPts val="300"/>
              </a:spcAft>
            </a:pPr>
            <a:r>
              <a:rPr sz="1350" b="0">
                <a:solidFill>
                  <a:srgbClr val="1F2A3A"/>
                </a:solidFill>
                <a:latin typeface="맑은 고딕"/>
                <a:ea typeface="맑은 고딕"/>
                <a:cs typeface="맑은 고딕"/>
              </a:rPr>
              <a:t>운전 화면에서 계측값을 보고 조작한다.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유압 파워팩 HYD-01의 구성과 유온 TS1의 계측 지점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계측값을 구별하는 이름이 </a:t>
            </a:r>
            <a:r>
              <a:rPr sz="1600" b="1">
                <a:solidFill>
                  <a:srgbClr val="1A6FC4"/>
                </a:solidFill>
                <a:latin typeface="맑은 고딕"/>
                <a:ea typeface="맑은 고딕"/>
                <a:cs typeface="맑은 고딕"/>
              </a:rPr>
              <a:t>태그</a:t>
            </a:r>
            <a:r>
              <a:rPr sz="1600" b="0">
                <a:solidFill>
                  <a:srgbClr val="556175"/>
                </a:solidFill>
                <a:latin typeface="맑은 고딕"/>
                <a:ea typeface="맑은 고딕"/>
                <a:cs typeface="맑은 고딕"/>
              </a:rPr>
              <a:t>(Tag)이며, 유온 TS1은 일을 마치고 쿨러로 들어가는 작동유의 온도이다.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pic>
        <p:nvPicPr>
          <p:cNvPr id="6" name="삽화:설비_유압파워팩.svg" descr="illust_4803441141529180691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41122" y="5315041"/>
            <a:ext cx="152732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탱크(Tank)</a:t>
            </a:r>
          </a:p>
          <a:p>
            <a:pPr algn="ctr" eaLnBrk="0">
              <a:lnSpc>
                <a:spcPct val="110000"/>
              </a:lnSpc>
              <a:spcAft>
                <a:spcPts val="100"/>
              </a:spcAft>
            </a:pPr>
            <a:r>
              <a:rPr sz="1100" b="0">
                <a:solidFill>
                  <a:srgbClr val="556175"/>
                </a:solidFill>
                <a:latin typeface="맑은 고딕"/>
                <a:ea typeface="맑은 고딕"/>
                <a:cs typeface="맑은 고딕"/>
              </a:rPr>
              <a:t>작동유 탱크</a:t>
            </a:r>
          </a:p>
        </p:txBody>
      </p:sp>
      <p:sp>
        <p:nvSpPr>
          <p:cNvPr id="8" name="TextBox 7"/>
          <p:cNvSpPr txBox="1"/>
          <p:nvPr/>
        </p:nvSpPr>
        <p:spPr>
          <a:xfrm>
            <a:off x="1415674" y="3116778"/>
            <a:ext cx="1636424"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펌프(Pump)</a:t>
            </a:r>
          </a:p>
          <a:p>
            <a:pPr algn="ctr" eaLnBrk="0">
              <a:lnSpc>
                <a:spcPct val="110000"/>
              </a:lnSpc>
              <a:spcAft>
                <a:spcPts val="100"/>
              </a:spcAft>
            </a:pPr>
            <a:r>
              <a:rPr sz="1100" b="0">
                <a:solidFill>
                  <a:srgbClr val="556175"/>
                </a:solidFill>
                <a:latin typeface="맑은 고딕"/>
                <a:ea typeface="맑은 고딕"/>
                <a:cs typeface="맑은 고딕"/>
              </a:rPr>
              <a:t>모터 · 펌프</a:t>
            </a:r>
          </a:p>
        </p:txBody>
      </p:sp>
      <p:sp>
        <p:nvSpPr>
          <p:cNvPr id="9" name="TextBox 8"/>
          <p:cNvSpPr txBox="1"/>
          <p:nvPr/>
        </p:nvSpPr>
        <p:spPr>
          <a:xfrm>
            <a:off x="5168540" y="1901823"/>
            <a:ext cx="152732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압력(Pressure)</a:t>
            </a:r>
          </a:p>
          <a:p>
            <a:pPr algn="ctr" eaLnBrk="0">
              <a:lnSpc>
                <a:spcPct val="110000"/>
              </a:lnSpc>
              <a:spcAft>
                <a:spcPts val="100"/>
              </a:spcAft>
            </a:pPr>
            <a:r>
              <a:rPr sz="1100" b="0">
                <a:solidFill>
                  <a:srgbClr val="556175"/>
                </a:solidFill>
                <a:latin typeface="맑은 고딕"/>
                <a:ea typeface="맑은 고딕"/>
                <a:cs typeface="맑은 고딕"/>
              </a:rPr>
              <a:t>PS1 · 182 bar</a:t>
            </a:r>
          </a:p>
        </p:txBody>
      </p:sp>
      <p:sp>
        <p:nvSpPr>
          <p:cNvPr id="10" name="TextBox 9"/>
          <p:cNvSpPr txBox="1"/>
          <p:nvPr/>
        </p:nvSpPr>
        <p:spPr>
          <a:xfrm>
            <a:off x="7481353" y="1807275"/>
            <a:ext cx="196370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부하(Load)</a:t>
            </a:r>
          </a:p>
          <a:p>
            <a:pPr algn="ctr" eaLnBrk="0">
              <a:lnSpc>
                <a:spcPct val="110000"/>
              </a:lnSpc>
              <a:spcAft>
                <a:spcPts val="100"/>
              </a:spcAft>
            </a:pPr>
            <a:r>
              <a:rPr sz="1100" b="0">
                <a:solidFill>
                  <a:srgbClr val="556175"/>
                </a:solidFill>
                <a:latin typeface="맑은 고딕"/>
                <a:ea typeface="맑은 고딕"/>
                <a:cs typeface="맑은 고딕"/>
              </a:rPr>
              <a:t>유압 구동부</a:t>
            </a:r>
          </a:p>
        </p:txBody>
      </p:sp>
      <p:sp>
        <p:nvSpPr>
          <p:cNvPr id="11" name="TextBox 10"/>
          <p:cNvSpPr txBox="1"/>
          <p:nvPr/>
        </p:nvSpPr>
        <p:spPr>
          <a:xfrm>
            <a:off x="5550372" y="2762219"/>
            <a:ext cx="2072804"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유온(Temperature)</a:t>
            </a:r>
          </a:p>
          <a:p>
            <a:pPr algn="ctr" eaLnBrk="0">
              <a:lnSpc>
                <a:spcPct val="110000"/>
              </a:lnSpc>
              <a:spcAft>
                <a:spcPts val="100"/>
              </a:spcAft>
            </a:pPr>
            <a:r>
              <a:rPr sz="1100" b="0">
                <a:solidFill>
                  <a:srgbClr val="556175"/>
                </a:solidFill>
                <a:latin typeface="맑은 고딕"/>
                <a:ea typeface="맑은 고딕"/>
                <a:cs typeface="맑은 고딕"/>
              </a:rPr>
              <a:t>TS1 · 48 ℃</a:t>
            </a:r>
          </a:p>
        </p:txBody>
      </p:sp>
      <p:sp>
        <p:nvSpPr>
          <p:cNvPr id="12" name="TextBox 11"/>
          <p:cNvSpPr txBox="1"/>
          <p:nvPr/>
        </p:nvSpPr>
        <p:spPr>
          <a:xfrm>
            <a:off x="6695869" y="5244129"/>
            <a:ext cx="240008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쿨러(Cooler)</a:t>
            </a:r>
          </a:p>
          <a:p>
            <a:pPr algn="ctr" eaLnBrk="0">
              <a:lnSpc>
                <a:spcPct val="110000"/>
              </a:lnSpc>
              <a:spcAft>
                <a:spcPts val="100"/>
              </a:spcAft>
            </a:pPr>
            <a:r>
              <a:rPr sz="1100" b="0">
                <a:solidFill>
                  <a:srgbClr val="556175"/>
                </a:solidFill>
                <a:latin typeface="맑은 고딕"/>
                <a:ea typeface="맑은 고딕"/>
                <a:cs typeface="맑은 고딕"/>
              </a:rPr>
              <a:t>오일 쿨러</a:t>
            </a:r>
          </a:p>
        </p:txBody>
      </p:sp>
      <p:sp>
        <p:nvSpPr>
          <p:cNvPr id="13" name="TextBox 12"/>
          <p:cNvSpPr txBox="1"/>
          <p:nvPr/>
        </p:nvSpPr>
        <p:spPr>
          <a:xfrm>
            <a:off x="9979627" y="3944081"/>
            <a:ext cx="1418234"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팬(Fan)</a:t>
            </a:r>
          </a:p>
          <a:p>
            <a:pPr algn="ctr" eaLnBrk="0">
              <a:lnSpc>
                <a:spcPct val="110000"/>
              </a:lnSpc>
              <a:spcAft>
                <a:spcPts val="100"/>
              </a:spcAft>
            </a:pPr>
            <a:r>
              <a:rPr sz="1100" b="0">
                <a:solidFill>
                  <a:srgbClr val="556175"/>
                </a:solidFill>
                <a:latin typeface="맑은 고딕"/>
                <a:ea typeface="맑은 고딕"/>
                <a:cs typeface="맑은 고딕"/>
              </a:rPr>
              <a:t>쿨러 팬</a:t>
            </a:r>
          </a:p>
        </p:txBody>
      </p:sp>
      <p:sp>
        <p:nvSpPr>
          <p:cNvPr id="14" name="TextBox 13"/>
          <p:cNvSpPr txBox="1"/>
          <p:nvPr/>
        </p:nvSpPr>
        <p:spPr>
          <a:xfrm>
            <a:off x="9641433" y="5740511"/>
            <a:ext cx="1854614"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진동(Vibration)</a:t>
            </a:r>
          </a:p>
          <a:p>
            <a:pPr algn="ctr" eaLnBrk="0">
              <a:lnSpc>
                <a:spcPct val="110000"/>
              </a:lnSpc>
              <a:spcAft>
                <a:spcPts val="100"/>
              </a:spcAft>
            </a:pPr>
            <a:r>
              <a:rPr sz="1100" b="0">
                <a:solidFill>
                  <a:srgbClr val="556175"/>
                </a:solidFill>
                <a:latin typeface="맑은 고딕"/>
                <a:ea typeface="맑은 고딕"/>
                <a:cs typeface="맑은 고딕"/>
              </a:rPr>
              <a:t>VS1 · 0.6 mm/s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Layer 1 · PLC의 반복 제어와 우선하는 보호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PLC는 짧은 스캔 주기로 설비를 제어하고, 위험 조건에서는 </a:t>
            </a:r>
            <a:r>
              <a:rPr sz="1600" b="1">
                <a:solidFill>
                  <a:srgbClr val="1A6FC4"/>
                </a:solidFill>
                <a:latin typeface="맑은 고딕"/>
                <a:ea typeface="맑은 고딕"/>
                <a:cs typeface="맑은 고딕"/>
              </a:rPr>
              <a:t>인터록</a:t>
            </a:r>
            <a:r>
              <a:rPr sz="1600" b="0">
                <a:solidFill>
                  <a:srgbClr val="556175"/>
                </a:solidFill>
                <a:latin typeface="맑은 고딕"/>
                <a:ea typeface="맑은 고딕"/>
                <a:cs typeface="맑은 고딕"/>
              </a:rPr>
              <a:t>으로 보호 정지를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15</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스캔 주기(Scan Cycle)</a:t>
            </a:r>
          </a:p>
          <a:p>
            <a:pPr algn="l" eaLnBrk="0">
              <a:lnSpc>
                <a:spcPct val="110000"/>
              </a:lnSpc>
              <a:spcAft>
                <a:spcPts val="200"/>
              </a:spcAft>
            </a:pPr>
            <a:r>
              <a:rPr sz="1150" b="0">
                <a:solidFill>
                  <a:srgbClr val="556175"/>
                </a:solidFill>
                <a:latin typeface="맑은 고딕"/>
                <a:ea typeface="맑은 고딕"/>
                <a:cs typeface="맑은 고딕"/>
              </a:rPr>
              <a:t>반복 제어</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입력 읽기 → 프로그램 실행 → 출력 쓰기를 반복하는 주기이다.</a:t>
            </a:r>
          </a:p>
          <a:p>
            <a:pPr algn="l" eaLnBrk="0">
              <a:lnSpc>
                <a:spcPct val="110000"/>
              </a:lnSpc>
              <a:spcAft>
                <a:spcPts val="300"/>
              </a:spcAft>
            </a:pPr>
            <a:r>
              <a:rPr sz="1400" b="0">
                <a:solidFill>
                  <a:srgbClr val="1F2A3A"/>
                </a:solidFill>
                <a:latin typeface="맑은 고딕"/>
                <a:ea typeface="맑은 고딕"/>
                <a:cs typeface="맑은 고딕"/>
              </a:rPr>
              <a:t>PLC가 1초에도 수십 번씩 계측값을 읽고 판단한다.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설정값(Setpoint, SP)</a:t>
            </a:r>
          </a:p>
          <a:p>
            <a:pPr algn="l" eaLnBrk="0">
              <a:lnSpc>
                <a:spcPct val="110000"/>
              </a:lnSpc>
              <a:spcAft>
                <a:spcPts val="200"/>
              </a:spcAft>
            </a:pPr>
            <a:r>
              <a:rPr sz="1150" b="0">
                <a:solidFill>
                  <a:srgbClr val="556175"/>
                </a:solidFill>
                <a:latin typeface="맑은 고딕"/>
                <a:ea typeface="맑은 고딕"/>
                <a:cs typeface="맑은 고딕"/>
              </a:rPr>
              <a:t>제어 목표</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제어할 목표값이다.</a:t>
            </a:r>
          </a:p>
          <a:p>
            <a:pPr algn="l" eaLnBrk="0">
              <a:lnSpc>
                <a:spcPct val="110000"/>
              </a:lnSpc>
              <a:spcAft>
                <a:spcPts val="300"/>
              </a:spcAft>
            </a:pPr>
            <a:r>
              <a:rPr sz="1400" b="0">
                <a:solidFill>
                  <a:srgbClr val="1F2A3A"/>
                </a:solidFill>
                <a:latin typeface="맑은 고딕"/>
                <a:ea typeface="맑은 고딕"/>
                <a:cs typeface="맑은 고딕"/>
              </a:rPr>
              <a:t>HYD-01은 팬 속도 60 %, 펌프 부하 90 % 같은 설정값을 적용한다.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Rounded Rectangle 11"/>
          <p:cNvSpPr/>
          <p:nvPr/>
        </p:nvSpPr>
        <p:spPr>
          <a:xfrm>
            <a:off x="548640" y="4018788"/>
            <a:ext cx="11094415" cy="1126998"/>
          </a:xfrm>
          <a:prstGeom prst="roundRect">
            <a:avLst>
              <a:gd name="adj" fmla="val 6000"/>
            </a:avLst>
          </a:prstGeom>
          <a:solidFill>
            <a:srgbClr val="E7F3FD"/>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인터록(Interlock)</a:t>
            </a:r>
          </a:p>
          <a:p>
            <a:pPr algn="l" eaLnBrk="0">
              <a:lnSpc>
                <a:spcPct val="110000"/>
              </a:lnSpc>
              <a:spcAft>
                <a:spcPts val="200"/>
              </a:spcAft>
            </a:pPr>
            <a:r>
              <a:rPr sz="1150" b="0">
                <a:solidFill>
                  <a:srgbClr val="556175"/>
                </a:solidFill>
                <a:latin typeface="맑은 고딕"/>
                <a:ea typeface="맑은 고딕"/>
                <a:cs typeface="맑은 고딕"/>
              </a:rPr>
              <a:t>설비 보호</a:t>
            </a:r>
          </a:p>
        </p:txBody>
      </p:sp>
      <p:sp>
        <p:nvSpPr>
          <p:cNvPr id="14" name="TextBox 13"/>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위험 조건에서 다른 명령보다 우선해 설비를 안전한 상태로 전환한다.</a:t>
            </a:r>
          </a:p>
          <a:p>
            <a:pPr algn="l" eaLnBrk="0">
              <a:lnSpc>
                <a:spcPct val="110000"/>
              </a:lnSpc>
              <a:spcAft>
                <a:spcPts val="300"/>
              </a:spcAft>
            </a:pPr>
            <a:r>
              <a:rPr sz="1400" b="0">
                <a:solidFill>
                  <a:srgbClr val="1F2A3A"/>
                </a:solidFill>
                <a:latin typeface="맑은 고딕"/>
                <a:ea typeface="맑은 고딕"/>
                <a:cs typeface="맑은 고딕"/>
              </a:rPr>
              <a:t>유온 TS1 &gt; 65 ℃이면 트립(Trip, 보호 정지)시킨다.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현장 제어</a:t>
            </a:r>
          </a:p>
          <a:p>
            <a:pPr algn="l" eaLnBrk="0">
              <a:lnSpc>
                <a:spcPct val="110000"/>
              </a:lnSpc>
              <a:spcAft>
                <a:spcPts val="200"/>
              </a:spcAft>
            </a:pPr>
            <a:r>
              <a:rPr sz="1150" b="0">
                <a:solidFill>
                  <a:srgbClr val="556175"/>
                </a:solidFill>
                <a:latin typeface="맑은 고딕"/>
                <a:ea typeface="맑은 고딕"/>
                <a:cs typeface="맑은 고딕"/>
              </a:rPr>
              <a:t>실시간성</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서버를 거치면 통신 지연이나 단절의 영향을 받는다.</a:t>
            </a:r>
          </a:p>
          <a:p>
            <a:pPr algn="l" eaLnBrk="0">
              <a:lnSpc>
                <a:spcPct val="110000"/>
              </a:lnSpc>
              <a:spcAft>
                <a:spcPts val="300"/>
              </a:spcAft>
            </a:pPr>
            <a:r>
              <a:rPr sz="1400" b="0">
                <a:solidFill>
                  <a:srgbClr val="1F2A3A"/>
                </a:solidFill>
                <a:latin typeface="맑은 고딕"/>
                <a:ea typeface="맑은 고딕"/>
                <a:cs typeface="맑은 고딕"/>
              </a:rPr>
              <a:t>설비를 지키는 판단은 통신과 서버를 기다리지 않고 PLC에서 끝낸다.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HYD-01의 인터록 세 가지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유온·토출 압력·팬 진동 중 하나라도 위험 조건에 이르면, HYD-01의 PLC가 설비를 보호 정지시킨다.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293873"/>
            <a:ext cx="3515258" cy="339496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495042"/>
            <a:ext cx="731520" cy="731520"/>
          </a:xfrm>
          <a:prstGeom prst="ellipse">
            <a:avLst/>
          </a:prstGeom>
          <a:solidFill>
            <a:srgbClr val="5CB8F2"/>
          </a:solidFill>
          <a:ln>
            <a:noFill/>
          </a:ln>
        </p:spPr>
        <p:txBody>
          <a:bodyPr rtlCol="0" anchor="ctr"/>
          <a:lstStyle/>
          <a:p>
            <a:pPr algn="ctr"/>
          </a:p>
        </p:txBody>
      </p:sp>
      <p:pic>
        <p:nvPicPr>
          <p:cNvPr id="8" name="아이콘:temperature" descr="temperature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유온 TS1</a:t>
            </a:r>
          </a:p>
          <a:p>
            <a:pPr algn="l" eaLnBrk="0" marL="205740" indent="-205740">
              <a:lnSpc>
                <a:spcPct val="110000"/>
              </a:lnSpc>
              <a:spcAft>
                <a:spcPts val="400"/>
              </a:spcAft>
            </a:pPr>
            <a:r>
              <a:rPr sz="1800" b="0">
                <a:solidFill>
                  <a:srgbClr val="1F2A3A"/>
                </a:solidFill>
                <a:latin typeface="맑은 고딕"/>
                <a:ea typeface="맑은 고딕"/>
                <a:cs typeface="맑은 고딕"/>
              </a:rPr>
              <a:t>• 65 ℃를 넘으면 트립된다</a:t>
            </a:r>
          </a:p>
          <a:p>
            <a:pPr algn="l" eaLnBrk="0" marL="205740" indent="-205740">
              <a:lnSpc>
                <a:spcPct val="110000"/>
              </a:lnSpc>
              <a:spcAft>
                <a:spcPts val="400"/>
              </a:spcAft>
            </a:pPr>
            <a:r>
              <a:rPr sz="1800" b="0">
                <a:solidFill>
                  <a:srgbClr val="1F2A3A"/>
                </a:solidFill>
                <a:latin typeface="맑은 고딕"/>
                <a:ea typeface="맑은 고딕"/>
                <a:cs typeface="맑은 고딕"/>
              </a:rPr>
              <a:t>• 작동유의 점도가 떨어져 마모가 빨라진다</a:t>
            </a:r>
          </a:p>
        </p:txBody>
      </p:sp>
      <p:sp>
        <p:nvSpPr>
          <p:cNvPr id="10" name="Rounded Rectangle 9"/>
          <p:cNvSpPr/>
          <p:nvPr/>
        </p:nvSpPr>
        <p:spPr>
          <a:xfrm>
            <a:off x="777240" y="5259070"/>
            <a:ext cx="82296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과열</a:t>
            </a:r>
          </a:p>
        </p:txBody>
      </p:sp>
      <p:sp>
        <p:nvSpPr>
          <p:cNvPr id="12" name="Rounded Rectangle 11"/>
          <p:cNvSpPr/>
          <p:nvPr/>
        </p:nvSpPr>
        <p:spPr>
          <a:xfrm>
            <a:off x="4338218"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E7F3FD"/>
          </a:solidFill>
          <a:ln>
            <a:noFill/>
          </a:ln>
        </p:spPr>
        <p:txBody>
          <a:bodyPr rtlCol="0" anchor="ctr"/>
          <a:lstStyle/>
          <a:p>
            <a:pPr algn="ctr"/>
          </a:p>
        </p:txBody>
      </p:sp>
      <p:pic>
        <p:nvPicPr>
          <p:cNvPr id="14" name="아이콘:gauge" descr="gauge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토출 압력 PS1</a:t>
            </a:r>
          </a:p>
          <a:p>
            <a:pPr algn="l" eaLnBrk="0" marL="205740" indent="-205740">
              <a:lnSpc>
                <a:spcPct val="110000"/>
              </a:lnSpc>
              <a:spcAft>
                <a:spcPts val="400"/>
              </a:spcAft>
            </a:pPr>
            <a:r>
              <a:rPr sz="1800" b="0">
                <a:solidFill>
                  <a:srgbClr val="1F2A3A"/>
                </a:solidFill>
                <a:latin typeface="맑은 고딕"/>
                <a:ea typeface="맑은 고딕"/>
                <a:cs typeface="맑은 고딕"/>
              </a:rPr>
              <a:t>• 130 bar 아래로 내려가면 트립된다</a:t>
            </a:r>
          </a:p>
          <a:p>
            <a:pPr algn="l" eaLnBrk="0" marL="205740" indent="-205740">
              <a:lnSpc>
                <a:spcPct val="110000"/>
              </a:lnSpc>
              <a:spcAft>
                <a:spcPts val="400"/>
              </a:spcAft>
            </a:pPr>
            <a:r>
              <a:rPr sz="1800" b="0">
                <a:solidFill>
                  <a:srgbClr val="1F2A3A"/>
                </a:solidFill>
                <a:latin typeface="맑은 고딕"/>
                <a:ea typeface="맑은 고딕"/>
                <a:cs typeface="맑은 고딕"/>
              </a:rPr>
              <a:t>• 펌프 마모나 내부 누설을 의심한다</a:t>
            </a:r>
          </a:p>
        </p:txBody>
      </p:sp>
      <p:sp>
        <p:nvSpPr>
          <p:cNvPr id="16" name="Rounded Rectangle 15"/>
          <p:cNvSpPr/>
          <p:nvPr/>
        </p:nvSpPr>
        <p:spPr>
          <a:xfrm>
            <a:off x="4566818" y="525907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저압</a:t>
            </a:r>
          </a:p>
        </p:txBody>
      </p:sp>
      <p:sp>
        <p:nvSpPr>
          <p:cNvPr id="18" name="Rounded Rectangle 17"/>
          <p:cNvSpPr/>
          <p:nvPr/>
        </p:nvSpPr>
        <p:spPr>
          <a:xfrm>
            <a:off x="8127796"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E7F3FD"/>
          </a:solidFill>
          <a:ln>
            <a:noFill/>
          </a:ln>
        </p:spPr>
        <p:txBody>
          <a:bodyPr rtlCol="0" anchor="ctr"/>
          <a:lstStyle/>
          <a:p>
            <a:pPr algn="ctr"/>
          </a:p>
        </p:txBody>
      </p:sp>
      <p:pic>
        <p:nvPicPr>
          <p:cNvPr id="20" name="아이콘:activity" descr="activity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팬 진동 VS1</a:t>
            </a:r>
          </a:p>
          <a:p>
            <a:pPr algn="l" eaLnBrk="0" marL="205740" indent="-205740">
              <a:lnSpc>
                <a:spcPct val="110000"/>
              </a:lnSpc>
              <a:spcAft>
                <a:spcPts val="400"/>
              </a:spcAft>
            </a:pPr>
            <a:r>
              <a:rPr sz="1800" b="0">
                <a:solidFill>
                  <a:srgbClr val="1F2A3A"/>
                </a:solidFill>
                <a:latin typeface="맑은 고딕"/>
                <a:ea typeface="맑은 고딕"/>
                <a:cs typeface="맑은 고딕"/>
              </a:rPr>
              <a:t>• 2.0 mm/s 이상이면 트립된다</a:t>
            </a:r>
          </a:p>
          <a:p>
            <a:pPr algn="l" eaLnBrk="0" marL="205740" indent="-205740">
              <a:lnSpc>
                <a:spcPct val="110000"/>
              </a:lnSpc>
              <a:spcAft>
                <a:spcPts val="400"/>
              </a:spcAft>
            </a:pPr>
            <a:r>
              <a:rPr sz="1800" b="0">
                <a:solidFill>
                  <a:srgbClr val="1F2A3A"/>
                </a:solidFill>
                <a:latin typeface="맑은 고딕"/>
                <a:ea typeface="맑은 고딕"/>
                <a:cs typeface="맑은 고딕"/>
              </a:rPr>
              <a:t>• 그대로 돌리면 팬 베어링이 손상된다</a:t>
            </a:r>
          </a:p>
        </p:txBody>
      </p:sp>
      <p:sp>
        <p:nvSpPr>
          <p:cNvPr id="22" name="Rounded Rectangle 21"/>
          <p:cNvSpPr/>
          <p:nvPr/>
        </p:nvSpPr>
        <p:spPr>
          <a:xfrm>
            <a:off x="8356396" y="525907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고진동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현장 통신의 지연·지터·결정성</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현장 제어 신호는 매번 제시간에 도착해야 하며, 지연의 평균뿐 아니라 변동과 최악의 경우를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지연(Latency)</a:t>
            </a:r>
          </a:p>
          <a:p>
            <a:pPr algn="l" eaLnBrk="0">
              <a:lnSpc>
                <a:spcPct val="110000"/>
              </a:lnSpc>
              <a:spcAft>
                <a:spcPts val="200"/>
              </a:spcAft>
            </a:pPr>
            <a:r>
              <a:rPr sz="1150" b="0">
                <a:solidFill>
                  <a:srgbClr val="556175"/>
                </a:solidFill>
                <a:latin typeface="맑은 고딕"/>
                <a:ea typeface="맑은 고딕"/>
                <a:cs typeface="맑은 고딕"/>
              </a:rPr>
              <a:t>걸리는 시간</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신호를 보내고 도착하기까지 걸리는 시간이다.</a:t>
            </a:r>
          </a:p>
          <a:p>
            <a:pPr algn="l" eaLnBrk="0">
              <a:lnSpc>
                <a:spcPct val="110000"/>
              </a:lnSpc>
              <a:spcAft>
                <a:spcPts val="300"/>
              </a:spcAft>
            </a:pPr>
            <a:r>
              <a:rPr sz="1400" b="0">
                <a:solidFill>
                  <a:srgbClr val="1F2A3A"/>
                </a:solidFill>
                <a:latin typeface="맑은 고딕"/>
                <a:ea typeface="맑은 고딕"/>
                <a:cs typeface="맑은 고딕"/>
              </a:rPr>
              <a:t>사무 통신은 평균 지연과 처리량을 중시한다.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지터(Jitter)</a:t>
            </a:r>
          </a:p>
          <a:p>
            <a:pPr algn="l" eaLnBrk="0">
              <a:lnSpc>
                <a:spcPct val="110000"/>
              </a:lnSpc>
              <a:spcAft>
                <a:spcPts val="200"/>
              </a:spcAft>
            </a:pPr>
            <a:r>
              <a:rPr sz="1150" b="0">
                <a:solidFill>
                  <a:srgbClr val="556175"/>
                </a:solidFill>
                <a:latin typeface="맑은 고딕"/>
                <a:ea typeface="맑은 고딕"/>
                <a:cs typeface="맑은 고딕"/>
              </a:rPr>
              <a:t>지연의 변동</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지연이 매번 달라지는 정도이다.</a:t>
            </a:r>
          </a:p>
          <a:p>
            <a:pPr algn="l" eaLnBrk="0">
              <a:lnSpc>
                <a:spcPct val="110000"/>
              </a:lnSpc>
              <a:spcAft>
                <a:spcPts val="300"/>
              </a:spcAft>
            </a:pPr>
            <a:r>
              <a:rPr sz="1400" b="0">
                <a:solidFill>
                  <a:srgbClr val="1F2A3A"/>
                </a:solidFill>
                <a:latin typeface="맑은 고딕"/>
                <a:ea typeface="맑은 고딕"/>
                <a:cs typeface="맑은 고딕"/>
              </a:rPr>
              <a:t>PLC의 반복 판단에 맞춰 신호가 도착하려면 지터가 작아야 한다.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Rounded Rectangle 11"/>
          <p:cNvSpPr/>
          <p:nvPr/>
        </p:nvSpPr>
        <p:spPr>
          <a:xfrm>
            <a:off x="548640" y="4018788"/>
            <a:ext cx="11094415" cy="1126998"/>
          </a:xfrm>
          <a:prstGeom prst="roundRect">
            <a:avLst>
              <a:gd name="adj" fmla="val 6000"/>
            </a:avLst>
          </a:prstGeom>
          <a:solidFill>
            <a:srgbClr val="E7F3FD"/>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결정성(Determinism)</a:t>
            </a:r>
          </a:p>
          <a:p>
            <a:pPr algn="l" eaLnBrk="0">
              <a:lnSpc>
                <a:spcPct val="110000"/>
              </a:lnSpc>
              <a:spcAft>
                <a:spcPts val="200"/>
              </a:spcAft>
            </a:pPr>
            <a:r>
              <a:rPr sz="1150" b="0">
                <a:solidFill>
                  <a:srgbClr val="556175"/>
                </a:solidFill>
                <a:latin typeface="맑은 고딕"/>
                <a:ea typeface="맑은 고딕"/>
                <a:cs typeface="맑은 고딕"/>
              </a:rPr>
              <a:t>도착 시한</a:t>
            </a:r>
          </a:p>
        </p:txBody>
      </p:sp>
      <p:sp>
        <p:nvSpPr>
          <p:cNvPr id="14" name="TextBox 13"/>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최악의 경우에도 정해진 시간 안에 전달되는 성질이다.</a:t>
            </a:r>
          </a:p>
          <a:p>
            <a:pPr algn="l" eaLnBrk="0">
              <a:lnSpc>
                <a:spcPct val="110000"/>
              </a:lnSpc>
              <a:spcAft>
                <a:spcPts val="300"/>
              </a:spcAft>
            </a:pPr>
            <a:r>
              <a:rPr sz="1400" b="0">
                <a:solidFill>
                  <a:srgbClr val="1F2A3A"/>
                </a:solidFill>
                <a:latin typeface="맑은 고딕"/>
                <a:ea typeface="맑은 고딕"/>
                <a:cs typeface="맑은 고딕"/>
              </a:rPr>
              <a:t>평균적으로 빠른 것만으로는 현장 제어의 시간 조건을 보장하지 못한다.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통신 보안</a:t>
            </a:r>
          </a:p>
          <a:p>
            <a:pPr algn="l" eaLnBrk="0">
              <a:lnSpc>
                <a:spcPct val="110000"/>
              </a:lnSpc>
              <a:spcAft>
                <a:spcPts val="200"/>
              </a:spcAft>
            </a:pPr>
            <a:r>
              <a:rPr sz="1150" b="0">
                <a:solidFill>
                  <a:srgbClr val="556175"/>
                </a:solidFill>
                <a:latin typeface="맑은 고딕"/>
                <a:ea typeface="맑은 고딕"/>
                <a:cs typeface="맑은 고딕"/>
              </a:rPr>
              <a:t>보호의 분담</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기밀성과 무결성을 위해 암호화와 인증이 필요하다.</a:t>
            </a:r>
          </a:p>
          <a:p>
            <a:pPr algn="l" eaLnBrk="0">
              <a:lnSpc>
                <a:spcPct val="110000"/>
              </a:lnSpc>
              <a:spcAft>
                <a:spcPts val="300"/>
              </a:spcAft>
            </a:pPr>
            <a:r>
              <a:rPr sz="1400" b="0">
                <a:solidFill>
                  <a:srgbClr val="1F2A3A"/>
                </a:solidFill>
                <a:latin typeface="맑은 고딕"/>
                <a:ea typeface="맑은 고딕"/>
                <a:cs typeface="맑은 고딕"/>
              </a:rPr>
              <a:t>Modbus 같은 전통 규약에 부족한 보호 기능은 망 구조와 상위 계층이 보완한다.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Layer 2 · 원시 값에서 태그 메시지로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엣지 게이트웨이는 원시 값을 태그에 대응시키고 시각과 품질을 붙여, 수집할 수 있는 메시지로 바꾼다.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627632"/>
            <a:ext cx="6766560" cy="472744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764792"/>
            <a:ext cx="6400800" cy="445312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p>
          <a:p>
            <a:pPr algn="l" eaLnBrk="0">
              <a:lnSpc>
                <a:spcPct val="110000"/>
              </a:lnSpc>
              <a:spcAft>
                <a:spcPts val="200"/>
              </a:spcAft>
            </a:pPr>
            <a:r>
              <a:rPr sz="1300" b="0">
                <a:solidFill>
                  <a:srgbClr val="E8EEF6"/>
                </a:solidFill>
                <a:latin typeface="Consolas"/>
                <a:ea typeface="맑은 고딕"/>
                <a:cs typeface="맑은 고딕"/>
              </a:rPr>
              <a:t>ts1       48.00090867787168</a:t>
            </a:r>
          </a:p>
          <a:p>
            <a:pPr algn="l" eaLnBrk="0">
              <a:lnSpc>
                <a:spcPct val="110000"/>
              </a:lnSpc>
              <a:spcAft>
                <a:spcPts val="200"/>
              </a:spcAft>
            </a:pPr>
            <a:r>
              <a:rPr sz="1300" b="0">
                <a:solidFill>
                  <a:srgbClr val="E8EEF6"/>
                </a:solidFill>
                <a:latin typeface="Consolas"/>
                <a:ea typeface="맑은 고딕"/>
                <a:cs typeface="맑은 고딕"/>
              </a:rPr>
              <a:t>fan_pct   60.0   load_pct 90.0</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p>
          <a:p>
            <a:pPr algn="l" eaLnBrk="0">
              <a:lnSpc>
                <a:spcPct val="110000"/>
              </a:lnSpc>
              <a:spcAft>
                <a:spcPts val="200"/>
              </a:spcAft>
            </a:pPr>
            <a:r>
              <a:rPr sz="1300" b="0">
                <a:solidFill>
                  <a:srgbClr val="E8EEF6"/>
                </a:solidFill>
                <a:latin typeface="Consolas"/>
                <a:ea typeface="맑은 고딕"/>
                <a:cs typeface="맑은 고딕"/>
              </a:rPr>
              <a:t>TS1 48.0   CE 84.0   PS1 182.0   VS1 0.6</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메시지</a:t>
            </a:r>
          </a:p>
          <a:p>
            <a:pPr algn="l" eaLnBrk="0">
              <a:lnSpc>
                <a:spcPct val="110000"/>
              </a:lnSpc>
              <a:spcAft>
                <a:spcPts val="200"/>
              </a:spcAft>
            </a:pPr>
            <a:r>
              <a:rPr sz="1300" b="0">
                <a:solidFill>
                  <a:srgbClr val="E8EEF6"/>
                </a:solidFill>
                <a:latin typeface="Consolas"/>
                <a:ea typeface="맑은 고딕"/>
                <a:cs typeface="맑은 고딕"/>
              </a:rPr>
              <a:t>topic plant/hyd01/tag/TS1</a:t>
            </a:r>
          </a:p>
          <a:p>
            <a:pPr algn="l" eaLnBrk="0">
              <a:lnSpc>
                <a:spcPct val="110000"/>
              </a:lnSpc>
              <a:spcAft>
                <a:spcPts val="200"/>
              </a:spcAft>
            </a:pPr>
            <a:r>
              <a:rPr sz="1300" b="0">
                <a:solidFill>
                  <a:srgbClr val="E8EEF6"/>
                </a:solidFill>
                <a:latin typeface="Consolas"/>
                <a:ea typeface="맑은 고딕"/>
                <a:cs typeface="맑은 고딕"/>
              </a:rPr>
              <a:t>{"t":"2026-10-10T13:02:38.654Z",</a:t>
            </a:r>
          </a:p>
          <a:p>
            <a:pPr algn="l" eaLnBrk="0">
              <a:lnSpc>
                <a:spcPct val="110000"/>
              </a:lnSpc>
              <a:spcAft>
                <a:spcPts val="200"/>
              </a:spcAft>
            </a:pPr>
            <a:r>
              <a:rPr sz="1300" b="0">
                <a:solidFill>
                  <a:srgbClr val="E8EEF6"/>
                </a:solidFill>
                <a:latin typeface="Consolas"/>
                <a:ea typeface="맑은 고딕"/>
                <a:cs typeface="맑은 고딕"/>
              </a:rPr>
              <a:t> "v":48.0,"q":"good"}</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메시지의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주요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p>
          <a:p>
            <a:pPr algn="l" eaLnBrk="0">
              <a:lnSpc>
                <a:spcPct val="110000"/>
              </a:lnSpc>
              <a:spcAft>
                <a:spcPts val="200"/>
              </a:spcAft>
            </a:pPr>
            <a:r>
              <a:rPr sz="1300" b="0">
                <a:solidFill>
                  <a:srgbClr val="E8EEF6"/>
                </a:solidFill>
                <a:latin typeface="Consolas"/>
                <a:ea typeface="맑은 고딕"/>
                <a:cs typeface="맑은 고딕"/>
              </a:rPr>
              <a:t>mode REMOTE_AUTO    state RUN</a:t>
            </a:r>
          </a:p>
          <a:p>
            <a:pPr algn="l" eaLnBrk="0">
              <a:lnSpc>
                <a:spcPct val="110000"/>
              </a:lnSpc>
              <a:spcAft>
                <a:spcPts val="200"/>
              </a:spcAft>
            </a:pPr>
            <a:r>
              <a:rPr sz="1300" b="0">
                <a:solidFill>
                  <a:srgbClr val="E8EEF6"/>
                </a:solidFill>
                <a:latin typeface="Consolas"/>
                <a:ea typeface="맑은 고딕"/>
                <a:cs typeface="맑은 고딕"/>
              </a:rPr>
              <a:t>fan_pct 60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load_pct 90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interlock PASS</a:t>
            </a:r>
          </a:p>
        </p:txBody>
      </p:sp>
      <p:sp>
        <p:nvSpPr>
          <p:cNvPr id="8" name="TextBox 7"/>
          <p:cNvSpPr txBox="1"/>
          <p:nvPr/>
        </p:nvSpPr>
        <p:spPr>
          <a:xfrm>
            <a:off x="7635240" y="1627632"/>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엣지 게이트웨이(Edge Gateway)</a:t>
            </a:r>
          </a:p>
          <a:p>
            <a:pPr algn="l" eaLnBrk="0">
              <a:lnSpc>
                <a:spcPct val="110000"/>
              </a:lnSpc>
              <a:spcAft>
                <a:spcPts val="400"/>
              </a:spcAft>
            </a:pPr>
            <a:r>
              <a:rPr sz="1350" b="0">
                <a:solidFill>
                  <a:srgbClr val="1F2A3A"/>
                </a:solidFill>
                <a:latin typeface="맑은 고딕"/>
                <a:ea typeface="맑은 고딕"/>
                <a:cs typeface="맑은 고딕"/>
              </a:rPr>
              <a:t>현장과 상위 서비스를 잇는 미들웨어(Middleware)이다. 값을 수집 메시지로 변환하며 EdgeX Foundry 같은 것이 있다.</a:t>
            </a:r>
          </a:p>
        </p:txBody>
      </p:sp>
      <p:sp>
        <p:nvSpPr>
          <p:cNvPr id="9" name="TextBox 8"/>
          <p:cNvSpPr txBox="1"/>
          <p:nvPr/>
        </p:nvSpPr>
        <p:spPr>
          <a:xfrm>
            <a:off x="7635240" y="2809494"/>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태그(Tag)와 메시지</a:t>
            </a:r>
          </a:p>
          <a:p>
            <a:pPr algn="l" eaLnBrk="0">
              <a:lnSpc>
                <a:spcPct val="110000"/>
              </a:lnSpc>
              <a:spcAft>
                <a:spcPts val="400"/>
              </a:spcAft>
            </a:pPr>
            <a:r>
              <a:rPr sz="1400" b="0">
                <a:solidFill>
                  <a:srgbClr val="1F2A3A"/>
                </a:solidFill>
                <a:latin typeface="맑은 고딕"/>
                <a:ea typeface="맑은 고딕"/>
                <a:cs typeface="맑은 고딕"/>
              </a:rPr>
              <a:t>TS1은 값의 이름이다. t는 보낸 시각, v는 값, q는 품질이며 good은 정상 품질이다.</a:t>
            </a:r>
          </a:p>
        </p:txBody>
      </p:sp>
      <p:sp>
        <p:nvSpPr>
          <p:cNvPr id="10" name="TextBox 9"/>
          <p:cNvSpPr txBox="1"/>
          <p:nvPr/>
        </p:nvSpPr>
        <p:spPr>
          <a:xfrm>
            <a:off x="7635240" y="3991356"/>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가상 센서(Virtual Sensor)</a:t>
            </a:r>
          </a:p>
          <a:p>
            <a:pPr algn="l" eaLnBrk="0">
              <a:lnSpc>
                <a:spcPct val="110000"/>
              </a:lnSpc>
              <a:spcAft>
                <a:spcPts val="400"/>
              </a:spcAft>
            </a:pPr>
            <a:r>
              <a:rPr sz="1400" b="0">
                <a:solidFill>
                  <a:srgbClr val="1F2A3A"/>
                </a:solidFill>
                <a:latin typeface="맑은 고딕"/>
                <a:ea typeface="맑은 고딕"/>
                <a:cs typeface="맑은 고딕"/>
              </a:rPr>
              <a:t>직접 재지 않고 계산한 값이다. 냉각 효율 CE의 정상 운전점은 84 %이다.</a:t>
            </a:r>
          </a:p>
        </p:txBody>
      </p:sp>
      <p:sp>
        <p:nvSpPr>
          <p:cNvPr id="11" name="TextBox 10"/>
          <p:cNvSpPr txBox="1"/>
          <p:nvPr/>
        </p:nvSpPr>
        <p:spPr>
          <a:xfrm>
            <a:off x="7635240" y="5173218"/>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운전 상태(Status)</a:t>
            </a:r>
          </a:p>
          <a:p>
            <a:pPr algn="l" eaLnBrk="0">
              <a:lnSpc>
                <a:spcPct val="110000"/>
              </a:lnSpc>
              <a:spcAft>
                <a:spcPts val="400"/>
              </a:spcAft>
            </a:pPr>
            <a:r>
              <a:rPr sz="1400" b="0">
                <a:solidFill>
                  <a:srgbClr val="1F2A3A"/>
                </a:solidFill>
                <a:latin typeface="맑은 고딕"/>
                <a:ea typeface="맑은 고딕"/>
                <a:cs typeface="맑은 고딕"/>
              </a:rPr>
              <a:t>원격 자동 REMOTE_AUTO, 운전 중 RUN, 인터록 정상 PASS를 명령 검사에 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점대점 연결과 브로커 중개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송신자와 수신자를 직접 묶으면 한쪽 변경이 다른 쪽에 번지므로, 브로커로 연결 의존성을 줄인다.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220976"/>
            <a:ext cx="5181447" cy="3540760"/>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42214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점대점(Point-to-Point)</a:t>
            </a:r>
          </a:p>
        </p:txBody>
      </p:sp>
      <p:sp>
        <p:nvSpPr>
          <p:cNvPr id="8" name="TextBox 7"/>
          <p:cNvSpPr txBox="1"/>
          <p:nvPr/>
        </p:nvSpPr>
        <p:spPr>
          <a:xfrm>
            <a:off x="822959" y="3272536"/>
            <a:ext cx="4632807" cy="1940560"/>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송신자가 수신자마다 직접 연결하는 방식이다</a:t>
            </a:r>
          </a:p>
          <a:p>
            <a:pPr algn="l" eaLnBrk="0" marL="182880" indent="-182880">
              <a:lnSpc>
                <a:spcPct val="110000"/>
              </a:lnSpc>
              <a:spcAft>
                <a:spcPts val="600"/>
              </a:spcAft>
            </a:pPr>
            <a:r>
              <a:rPr sz="1600" b="0">
                <a:solidFill>
                  <a:srgbClr val="1F2A3A"/>
                </a:solidFill>
                <a:latin typeface="맑은 고딕"/>
                <a:ea typeface="맑은 고딕"/>
                <a:cs typeface="맑은 고딕"/>
              </a:rPr>
              <a:t>• 엣지 → 운전 화면, 엣지 → 수집 서비스</a:t>
            </a:r>
          </a:p>
          <a:p>
            <a:pPr algn="l" eaLnBrk="0" marL="182880" indent="-182880">
              <a:lnSpc>
                <a:spcPct val="110000"/>
              </a:lnSpc>
              <a:spcAft>
                <a:spcPts val="600"/>
              </a:spcAft>
            </a:pPr>
            <a:r>
              <a:rPr sz="1600" b="0">
                <a:solidFill>
                  <a:srgbClr val="1F2A3A"/>
                </a:solidFill>
                <a:latin typeface="맑은 고딕"/>
                <a:ea typeface="맑은 고딕"/>
                <a:cs typeface="맑은 고딕"/>
              </a:rPr>
              <a:t>• 새 수신자를 더하면 송신 측의 연결도 고친다</a:t>
            </a:r>
          </a:p>
          <a:p>
            <a:pPr algn="l" eaLnBrk="0" marL="182880" indent="-182880">
              <a:lnSpc>
                <a:spcPct val="110000"/>
              </a:lnSpc>
              <a:spcAft>
                <a:spcPts val="600"/>
              </a:spcAft>
            </a:pPr>
            <a:r>
              <a:rPr sz="1600" b="0">
                <a:solidFill>
                  <a:srgbClr val="1F2A3A"/>
                </a:solidFill>
                <a:latin typeface="맑은 고딕"/>
                <a:ea typeface="맑은 고딕"/>
                <a:cs typeface="맑은 고딕"/>
              </a:rPr>
              <a:t>• 강한 결합(Tight Coupling): 한쪽 변경이 다른 쪽 변경을 요구한다</a:t>
            </a:r>
          </a:p>
        </p:txBody>
      </p:sp>
      <p:sp>
        <p:nvSpPr>
          <p:cNvPr id="9" name="Rounded Rectangle 8"/>
          <p:cNvSpPr/>
          <p:nvPr/>
        </p:nvSpPr>
        <p:spPr>
          <a:xfrm>
            <a:off x="868680" y="5304536"/>
            <a:ext cx="102108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30453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직접 연결</a:t>
            </a:r>
          </a:p>
        </p:txBody>
      </p:sp>
      <p:sp>
        <p:nvSpPr>
          <p:cNvPr id="11" name="Rounded Rectangle 10"/>
          <p:cNvSpPr/>
          <p:nvPr/>
        </p:nvSpPr>
        <p:spPr>
          <a:xfrm>
            <a:off x="6461607" y="2220976"/>
            <a:ext cx="5181447" cy="354076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42214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브로커(Broker) 중개</a:t>
            </a:r>
          </a:p>
        </p:txBody>
      </p:sp>
      <p:sp>
        <p:nvSpPr>
          <p:cNvPr id="13" name="TextBox 12"/>
          <p:cNvSpPr txBox="1"/>
          <p:nvPr/>
        </p:nvSpPr>
        <p:spPr>
          <a:xfrm>
            <a:off x="6735927" y="3272536"/>
            <a:ext cx="4632807" cy="1940560"/>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메시지 중개 서버를 사이에 둔다</a:t>
            </a:r>
          </a:p>
          <a:p>
            <a:pPr algn="l" eaLnBrk="0" marL="182880" indent="-182880">
              <a:lnSpc>
                <a:spcPct val="110000"/>
              </a:lnSpc>
              <a:spcAft>
                <a:spcPts val="600"/>
              </a:spcAft>
            </a:pPr>
            <a:r>
              <a:rPr sz="1600" b="0">
                <a:solidFill>
                  <a:srgbClr val="1F2A3A"/>
                </a:solidFill>
                <a:latin typeface="맑은 고딕"/>
                <a:ea typeface="맑은 고딕"/>
                <a:cs typeface="맑은 고딕"/>
              </a:rPr>
              <a:t>• 엣지 → 브로커 → 운전 화면·수집 서비스</a:t>
            </a:r>
          </a:p>
          <a:p>
            <a:pPr algn="l" eaLnBrk="0" marL="182880" indent="-182880">
              <a:lnSpc>
                <a:spcPct val="110000"/>
              </a:lnSpc>
              <a:spcAft>
                <a:spcPts val="600"/>
              </a:spcAft>
            </a:pPr>
            <a:r>
              <a:rPr sz="1600" b="0">
                <a:solidFill>
                  <a:srgbClr val="1F2A3A"/>
                </a:solidFill>
                <a:latin typeface="맑은 고딕"/>
                <a:ea typeface="맑은 고딕"/>
                <a:cs typeface="맑은 고딕"/>
              </a:rPr>
              <a:t>• 새 수신자는 브로커에 구독을 등록한다</a:t>
            </a:r>
          </a:p>
          <a:p>
            <a:pPr algn="l" eaLnBrk="0" marL="182880" indent="-182880">
              <a:lnSpc>
                <a:spcPct val="110000"/>
              </a:lnSpc>
              <a:spcAft>
                <a:spcPts val="600"/>
              </a:spcAft>
            </a:pPr>
            <a:r>
              <a:rPr sz="1600" b="0">
                <a:solidFill>
                  <a:srgbClr val="1F2A3A"/>
                </a:solidFill>
                <a:latin typeface="맑은 고딕"/>
                <a:ea typeface="맑은 고딕"/>
                <a:cs typeface="맑은 고딕"/>
              </a:rPr>
              <a:t>• 느슨한 결합(Loose Coupling): 송신자와 수신자의 직접 의존을 줄인다</a:t>
            </a:r>
          </a:p>
        </p:txBody>
      </p:sp>
      <p:sp>
        <p:nvSpPr>
          <p:cNvPr id="14" name="Rounded Rectangle 13"/>
          <p:cNvSpPr/>
          <p:nvPr/>
        </p:nvSpPr>
        <p:spPr>
          <a:xfrm>
            <a:off x="6781647" y="5304536"/>
            <a:ext cx="102108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30453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중개 연결</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MQTT와 브로커: 발행과 구독</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MQTT(Message Queuing Telemetry Transport)는 </a:t>
            </a:r>
            <a:r>
              <a:rPr sz="1600" b="1">
                <a:solidFill>
                  <a:srgbClr val="1A6FC4"/>
                </a:solidFill>
                <a:latin typeface="맑은 고딕"/>
                <a:ea typeface="맑은 고딕"/>
                <a:cs typeface="맑은 고딕"/>
              </a:rPr>
              <a:t>브로커</a:t>
            </a:r>
            <a:r>
              <a:rPr sz="1600" b="0">
                <a:solidFill>
                  <a:srgbClr val="556175"/>
                </a:solidFill>
                <a:latin typeface="맑은 고딕"/>
                <a:ea typeface="맑은 고딕"/>
                <a:cs typeface="맑은 고딕"/>
              </a:rPr>
              <a:t>를 통한 발행·구독 규약이다.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20</a:t>
            </a:r>
          </a:p>
        </p:txBody>
      </p:sp>
      <p:pic>
        <p:nvPicPr>
          <p:cNvPr id="6" name="삽화:리니지_1_MQTT.svg" descr="illust_5263397904432558617_1792130363.png"/>
          <p:cNvPicPr>
            <a:picLocks noChangeAspect="1"/>
          </p:cNvPicPr>
          <p:nvPr/>
        </p:nvPicPr>
        <p:blipFill>
          <a:blip r:embed="rId3"/>
          <a:stretch>
            <a:fillRect/>
          </a:stretch>
        </p:blipFill>
        <p:spPr>
          <a:xfrm>
            <a:off x="895655" y="1627632"/>
            <a:ext cx="10400385" cy="4727448"/>
          </a:xfrm>
          <a:prstGeom prst="rect">
            <a:avLst/>
          </a:prstGeom>
        </p:spPr>
      </p:pic>
      <p:sp>
        <p:nvSpPr>
          <p:cNvPr id="7" name="TextBox 6"/>
          <p:cNvSpPr txBox="1"/>
          <p:nvPr/>
        </p:nvSpPr>
        <p:spPr>
          <a:xfrm>
            <a:off x="1155664" y="4156816"/>
            <a:ext cx="156005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HYD-01</a:t>
            </a:r>
          </a:p>
          <a:p>
            <a:pPr algn="ctr" eaLnBrk="0">
              <a:lnSpc>
                <a:spcPct val="110000"/>
              </a:lnSpc>
              <a:spcAft>
                <a:spcPts val="100"/>
              </a:spcAft>
            </a:pPr>
            <a:r>
              <a:rPr sz="1100" b="0">
                <a:solidFill>
                  <a:srgbClr val="556175"/>
                </a:solidFill>
                <a:latin typeface="맑은 고딕"/>
                <a:ea typeface="맑은 고딕"/>
                <a:cs typeface="맑은 고딕"/>
              </a:rPr>
              <a:t>유온 TS1</a:t>
            </a:r>
          </a:p>
        </p:txBody>
      </p:sp>
      <p:sp>
        <p:nvSpPr>
          <p:cNvPr id="8" name="TextBox 7"/>
          <p:cNvSpPr txBox="1"/>
          <p:nvPr/>
        </p:nvSpPr>
        <p:spPr>
          <a:xfrm>
            <a:off x="3214940" y="4156816"/>
            <a:ext cx="1976073"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발행자(Publisher)</a:t>
            </a:r>
          </a:p>
          <a:p>
            <a:pPr algn="ctr" eaLnBrk="0">
              <a:lnSpc>
                <a:spcPct val="110000"/>
              </a:lnSpc>
              <a:spcAft>
                <a:spcPts val="100"/>
              </a:spcAft>
            </a:pPr>
            <a:r>
              <a:rPr sz="1100" b="0">
                <a:solidFill>
                  <a:srgbClr val="556175"/>
                </a:solidFill>
                <a:latin typeface="맑은 고딕"/>
                <a:ea typeface="맑은 고딕"/>
                <a:cs typeface="맑은 고딕"/>
              </a:rPr>
              <a:t>엣지 게이트웨이</a:t>
            </a:r>
          </a:p>
        </p:txBody>
      </p:sp>
      <p:sp>
        <p:nvSpPr>
          <p:cNvPr id="9" name="TextBox 8"/>
          <p:cNvSpPr txBox="1"/>
          <p:nvPr/>
        </p:nvSpPr>
        <p:spPr>
          <a:xfrm>
            <a:off x="5024607" y="2289474"/>
            <a:ext cx="1768065"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토픽(Topic)</a:t>
            </a:r>
          </a:p>
          <a:p>
            <a:pPr algn="ctr" eaLnBrk="0">
              <a:lnSpc>
                <a:spcPct val="110000"/>
              </a:lnSpc>
              <a:spcAft>
                <a:spcPts val="100"/>
              </a:spcAft>
            </a:pPr>
            <a:r>
              <a:rPr sz="1100" b="0">
                <a:solidFill>
                  <a:srgbClr val="556175"/>
                </a:solidFill>
                <a:latin typeface="맑은 고딕"/>
                <a:ea typeface="맑은 고딕"/>
                <a:cs typeface="맑은 고딕"/>
              </a:rPr>
              <a:t>plant/hyd01/tag/TS1</a:t>
            </a:r>
          </a:p>
        </p:txBody>
      </p:sp>
      <p:sp>
        <p:nvSpPr>
          <p:cNvPr id="10" name="TextBox 9"/>
          <p:cNvSpPr txBox="1"/>
          <p:nvPr/>
        </p:nvSpPr>
        <p:spPr>
          <a:xfrm>
            <a:off x="6771872" y="1958553"/>
            <a:ext cx="1664061"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브로커(Broker)</a:t>
            </a:r>
          </a:p>
        </p:txBody>
      </p:sp>
      <p:sp>
        <p:nvSpPr>
          <p:cNvPr id="11" name="TextBox 10"/>
          <p:cNvSpPr txBox="1"/>
          <p:nvPr/>
        </p:nvSpPr>
        <p:spPr>
          <a:xfrm>
            <a:off x="6615866" y="5598688"/>
            <a:ext cx="1976073"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구독자(Subscriber)</a:t>
            </a:r>
          </a:p>
          <a:p>
            <a:pPr algn="ctr" eaLnBrk="0">
              <a:lnSpc>
                <a:spcPct val="110000"/>
              </a:lnSpc>
              <a:spcAft>
                <a:spcPts val="100"/>
              </a:spcAft>
            </a:pPr>
            <a:r>
              <a:rPr sz="1100" b="0">
                <a:solidFill>
                  <a:srgbClr val="556175"/>
                </a:solidFill>
                <a:latin typeface="맑은 고딕"/>
                <a:ea typeface="맑은 고딕"/>
                <a:cs typeface="맑은 고딕"/>
              </a:rPr>
              <a:t>운전 화면</a:t>
            </a:r>
          </a:p>
        </p:txBody>
      </p:sp>
      <p:sp>
        <p:nvSpPr>
          <p:cNvPr id="12" name="TextBox 11"/>
          <p:cNvSpPr txBox="1"/>
          <p:nvPr/>
        </p:nvSpPr>
        <p:spPr>
          <a:xfrm>
            <a:off x="9174361" y="4156816"/>
            <a:ext cx="1976073"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구독자(Subscriber)</a:t>
            </a:r>
          </a:p>
          <a:p>
            <a:pPr algn="ctr" eaLnBrk="0">
              <a:lnSpc>
                <a:spcPct val="110000"/>
              </a:lnSpc>
              <a:spcAft>
                <a:spcPts val="100"/>
              </a:spcAft>
            </a:pPr>
            <a:r>
              <a:rPr sz="1100" b="0">
                <a:solidFill>
                  <a:srgbClr val="556175"/>
                </a:solidFill>
                <a:latin typeface="맑은 고딕"/>
                <a:ea typeface="맑은 고딕"/>
                <a:cs typeface="맑은 고딕"/>
              </a:rPr>
              <a:t>수집 서비스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토픽의 구조: 빗금으로 나눈 계층형 주소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토픽은 빗금으로 계층을 나눈 문자열이므로, 설비나 태그가 바뀌면 해당 자리만 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545207"/>
            <a:ext cx="6766560" cy="2892297"/>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682367"/>
            <a:ext cx="6400800" cy="261797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plant / hyd01 / tag / TS1</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plant/hyd01/tag/TS1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p>
          <a:p>
            <a:pPr algn="l" eaLnBrk="0">
              <a:lnSpc>
                <a:spcPct val="110000"/>
              </a:lnSpc>
              <a:spcAft>
                <a:spcPts val="200"/>
              </a:spcAft>
            </a:pPr>
            <a:r>
              <a:rPr sz="1300" b="0">
                <a:solidFill>
                  <a:srgbClr val="E8EEF6"/>
                </a:solidFill>
                <a:latin typeface="Consolas"/>
                <a:ea typeface="맑은 고딕"/>
                <a:cs typeface="맑은 고딕"/>
              </a:rPr>
              <a:t>plant/hyd01/tag/CE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p>
          <a:p>
            <a:pPr algn="l" eaLnBrk="0">
              <a:lnSpc>
                <a:spcPct val="110000"/>
              </a:lnSpc>
              <a:spcAft>
                <a:spcPts val="200"/>
              </a:spcAft>
            </a:pPr>
            <a:r>
              <a:rPr sz="1300" b="0">
                <a:solidFill>
                  <a:srgbClr val="E8EEF6"/>
                </a:solidFill>
                <a:latin typeface="Consolas"/>
                <a:ea typeface="맑은 고딕"/>
                <a:cs typeface="맑은 고딕"/>
              </a:rPr>
              <a:t>plant/hyd02/tag/TS1     HYD-02</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p>
          <a:p>
            <a:pPr algn="l" eaLnBrk="0">
              <a:lnSpc>
                <a:spcPct val="110000"/>
              </a:lnSpc>
              <a:spcAft>
                <a:spcPts val="200"/>
              </a:spcAft>
            </a:pPr>
            <a:r>
              <a:rPr sz="1300" b="0">
                <a:solidFill>
                  <a:srgbClr val="E8EEF6"/>
                </a:solidFill>
                <a:latin typeface="Consolas"/>
                <a:ea typeface="맑은 고딕"/>
                <a:cs typeface="맑은 고딕"/>
              </a:rPr>
              <a:t>plant/hyd01/status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p>
        </p:txBody>
      </p:sp>
      <p:sp>
        <p:nvSpPr>
          <p:cNvPr id="8" name="TextBox 7"/>
          <p:cNvSpPr txBox="1"/>
          <p:nvPr/>
        </p:nvSpPr>
        <p:spPr>
          <a:xfrm>
            <a:off x="7635240" y="2545207"/>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hyd01</a:t>
            </a:r>
          </a:p>
          <a:p>
            <a:pPr algn="l" eaLnBrk="0">
              <a:lnSpc>
                <a:spcPct val="110000"/>
              </a:lnSpc>
              <a:spcAft>
                <a:spcPts val="400"/>
              </a:spcAft>
            </a:pPr>
            <a:r>
              <a:rPr sz="1400" b="0">
                <a:solidFill>
                  <a:srgbClr val="1F2A3A"/>
                </a:solidFill>
                <a:latin typeface="맑은 고딕"/>
                <a:ea typeface="맑은 고딕"/>
                <a:cs typeface="맑은 고딕"/>
              </a:rPr>
              <a:t>설비 자리이다. HYD-01, HYD-02, HYD-03 세 대가 hyd01, hyd02, hyd03으로 들어간다.</a:t>
            </a:r>
          </a:p>
        </p:txBody>
      </p:sp>
      <p:sp>
        <p:nvSpPr>
          <p:cNvPr id="9" name="TextBox 8"/>
          <p:cNvSpPr txBox="1"/>
          <p:nvPr/>
        </p:nvSpPr>
        <p:spPr>
          <a:xfrm>
            <a:off x="7635240" y="3509306"/>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tag · TS1</a:t>
            </a:r>
          </a:p>
          <a:p>
            <a:pPr algn="l" eaLnBrk="0">
              <a:lnSpc>
                <a:spcPct val="110000"/>
              </a:lnSpc>
              <a:spcAft>
                <a:spcPts val="400"/>
              </a:spcAft>
            </a:pPr>
            <a:r>
              <a:rPr sz="1400" b="0">
                <a:solidFill>
                  <a:srgbClr val="1F2A3A"/>
                </a:solidFill>
                <a:latin typeface="맑은 고딕"/>
                <a:ea typeface="맑은 고딕"/>
                <a:cs typeface="맑은 고딕"/>
              </a:rPr>
              <a:t>태그 값이라는 표시와 태그 이름이다.</a:t>
            </a:r>
          </a:p>
        </p:txBody>
      </p:sp>
      <p:sp>
        <p:nvSpPr>
          <p:cNvPr id="10" name="TextBox 9"/>
          <p:cNvSpPr txBox="1"/>
          <p:nvPr/>
        </p:nvSpPr>
        <p:spPr>
          <a:xfrm>
            <a:off x="7635240" y="4473405"/>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status</a:t>
            </a:r>
          </a:p>
          <a:p>
            <a:pPr algn="l" eaLnBrk="0">
              <a:lnSpc>
                <a:spcPct val="110000"/>
              </a:lnSpc>
              <a:spcAft>
                <a:spcPts val="400"/>
              </a:spcAft>
            </a:pPr>
            <a:r>
              <a:rPr sz="1400" b="0">
                <a:solidFill>
                  <a:srgbClr val="1F2A3A"/>
                </a:solidFill>
                <a:latin typeface="맑은 고딕"/>
                <a:ea typeface="맑은 고딕"/>
                <a:cs typeface="맑은 고딕"/>
              </a:rPr>
              <a:t>앞에서 본 운전 상태가 올라오는 토픽이다.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발행·구독의 전달과 보존 범위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발행·구독의 전달 품질과 메시지 보존은 별개이며, 계측값·운전 상태·명령에 맞춰 다르게 사용한다.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22</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발행·구독(Publish/Subscribe)</a:t>
            </a:r>
          </a:p>
          <a:p>
            <a:pPr algn="l" eaLnBrk="0">
              <a:lnSpc>
                <a:spcPct val="110000"/>
              </a:lnSpc>
              <a:spcAft>
                <a:spcPts val="200"/>
              </a:spcAft>
            </a:pPr>
            <a:r>
              <a:rPr sz="1150" b="0">
                <a:solidFill>
                  <a:srgbClr val="556175"/>
                </a:solidFill>
                <a:latin typeface="맑은 고딕"/>
                <a:ea typeface="맑은 고딕"/>
                <a:cs typeface="맑은 고딕"/>
              </a:rPr>
              <a:t>연결의 방식</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구독자는 받을 토픽을 등록하고, 발행자는 그 토픽으로 메시지를 보낸다.</a:t>
            </a:r>
          </a:p>
          <a:p>
            <a:pPr algn="l" eaLnBrk="0">
              <a:lnSpc>
                <a:spcPct val="110000"/>
              </a:lnSpc>
              <a:spcAft>
                <a:spcPts val="300"/>
              </a:spcAft>
            </a:pPr>
            <a:r>
              <a:rPr sz="1400" b="0">
                <a:solidFill>
                  <a:srgbClr val="1F2A3A"/>
                </a:solidFill>
                <a:latin typeface="맑은 고딕"/>
                <a:ea typeface="맑은 고딕"/>
                <a:cs typeface="맑은 고딕"/>
              </a:rPr>
              <a:t>브로커가 구독자에게 밀어 보내는 전달을 푸시(Push)라고 한다.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전달 품질(QoS)</a:t>
            </a:r>
          </a:p>
          <a:p>
            <a:pPr algn="l" eaLnBrk="0">
              <a:lnSpc>
                <a:spcPct val="110000"/>
              </a:lnSpc>
              <a:spcAft>
                <a:spcPts val="200"/>
              </a:spcAft>
            </a:pPr>
            <a:r>
              <a:rPr sz="1150" b="0">
                <a:solidFill>
                  <a:srgbClr val="556175"/>
                </a:solidFill>
                <a:latin typeface="맑은 고딕"/>
                <a:ea typeface="맑은 고딕"/>
                <a:cs typeface="맑은 고딕"/>
              </a:rPr>
              <a:t>전달 보장</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Quality of Service: 전달 보장 수준이다.</a:t>
            </a:r>
          </a:p>
          <a:p>
            <a:pPr algn="l" eaLnBrk="0">
              <a:lnSpc>
                <a:spcPct val="110000"/>
              </a:lnSpc>
              <a:spcAft>
                <a:spcPts val="300"/>
              </a:spcAft>
            </a:pPr>
            <a:r>
              <a:rPr sz="1400" b="0">
                <a:solidFill>
                  <a:srgbClr val="1F2A3A"/>
                </a:solidFill>
                <a:latin typeface="맑은 고딕"/>
                <a:ea typeface="맑은 고딕"/>
                <a:cs typeface="맑은 고딕"/>
              </a:rPr>
              <a:t>QoS 0은 최대 한 번, 1은 최소 한 번, 2는 정확히 한 번 전달한다.</a:t>
            </a:r>
          </a:p>
          <a:p>
            <a:pPr algn="l" eaLnBrk="0">
              <a:lnSpc>
                <a:spcPct val="110000"/>
              </a:lnSpc>
              <a:spcAft>
                <a:spcPts val="300"/>
              </a:spcAft>
            </a:pPr>
            <a:r>
              <a:rPr sz="1400" b="0">
                <a:solidFill>
                  <a:srgbClr val="1F2A3A"/>
                </a:solidFill>
                <a:latin typeface="맑은 고딕"/>
                <a:ea typeface="맑은 고딕"/>
                <a:cs typeface="맑은 고딕"/>
              </a:rPr>
              <a:t>QoS 1에서는 같은 메시지가 다시 도착할 수 있다.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보존 메시지</a:t>
            </a:r>
          </a:p>
          <a:p>
            <a:pPr algn="l" eaLnBrk="0">
              <a:lnSpc>
                <a:spcPct val="110000"/>
              </a:lnSpc>
              <a:spcAft>
                <a:spcPts val="200"/>
              </a:spcAft>
            </a:pPr>
            <a:r>
              <a:rPr sz="1150" b="0">
                <a:solidFill>
                  <a:srgbClr val="556175"/>
                </a:solidFill>
                <a:latin typeface="맑은 고딕"/>
                <a:ea typeface="맑은 고딕"/>
                <a:cs typeface="맑은 고딕"/>
              </a:rPr>
              <a:t>마지막 한 건</a:t>
            </a:r>
          </a:p>
        </p:txBody>
      </p:sp>
      <p:sp>
        <p:nvSpPr>
          <p:cNvPr id="13" name="TextBox 12"/>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보존 메시지(Retained Message)는 토픽의 마지막 한 건을 새 구독자에게도 전달한다.</a:t>
            </a:r>
          </a:p>
          <a:p>
            <a:pPr algn="l" eaLnBrk="0">
              <a:lnSpc>
                <a:spcPct val="110000"/>
              </a:lnSpc>
              <a:spcAft>
                <a:spcPts val="300"/>
              </a:spcAft>
            </a:pPr>
            <a:r>
              <a:rPr sz="1400" b="0">
                <a:solidFill>
                  <a:srgbClr val="1F2A3A"/>
                </a:solidFill>
                <a:latin typeface="맑은 고딕"/>
                <a:ea typeface="맑은 고딕"/>
                <a:cs typeface="맑은 고딕"/>
              </a:rPr>
              <a:t>운전 상태는 보존하지만, 과거 이력을 모두 쌓는 기능은 아니다.</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HYD의 메시지별 사용</a:t>
            </a:r>
          </a:p>
          <a:p>
            <a:pPr algn="l" eaLnBrk="0">
              <a:lnSpc>
                <a:spcPct val="110000"/>
              </a:lnSpc>
              <a:spcAft>
                <a:spcPts val="200"/>
              </a:spcAft>
            </a:pPr>
            <a:r>
              <a:rPr sz="1150" b="0">
                <a:solidFill>
                  <a:srgbClr val="556175"/>
                </a:solidFill>
                <a:latin typeface="맑은 고딕"/>
                <a:ea typeface="맑은 고딕"/>
                <a:cs typeface="맑은 고딕"/>
              </a:rPr>
              <a:t>값·상태·명령</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태그 값: QoS 0 · 보존 안 함</a:t>
            </a:r>
          </a:p>
          <a:p>
            <a:pPr algn="l" eaLnBrk="0">
              <a:lnSpc>
                <a:spcPct val="110000"/>
              </a:lnSpc>
              <a:spcAft>
                <a:spcPts val="300"/>
              </a:spcAft>
            </a:pPr>
            <a:r>
              <a:rPr sz="1400" b="0">
                <a:solidFill>
                  <a:srgbClr val="1F2A3A"/>
                </a:solidFill>
                <a:latin typeface="맑은 고딕"/>
                <a:ea typeface="맑은 고딕"/>
                <a:cs typeface="맑은 고딕"/>
              </a:rPr>
              <a:t>운전 상태: QoS 1 · 마지막 값 보존</a:t>
            </a:r>
          </a:p>
          <a:p>
            <a:pPr algn="l" eaLnBrk="0">
              <a:lnSpc>
                <a:spcPct val="110000"/>
              </a:lnSpc>
              <a:spcAft>
                <a:spcPts val="300"/>
              </a:spcAft>
            </a:pPr>
            <a:r>
              <a:rPr sz="1400" b="0">
                <a:solidFill>
                  <a:srgbClr val="1F2A3A"/>
                </a:solidFill>
                <a:latin typeface="맑은 고딕"/>
                <a:ea typeface="맑은 고딕"/>
                <a:cs typeface="맑은 고딕"/>
              </a:rPr>
              <a:t>설비 명령: QoS 1 · 보존 안 함</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OT와 IT를 직접 잇지 않는 이유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외부와 연결된 IT의 침해가 설비 사고로 번지지 않도록, OT와 IT의 망을 나누어 직접 연결을 막는다.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220976"/>
            <a:ext cx="5181447" cy="354076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22144"/>
            <a:ext cx="731520" cy="731520"/>
          </a:xfrm>
          <a:prstGeom prst="ellipse">
            <a:avLst/>
          </a:prstGeom>
          <a:solidFill>
            <a:srgbClr val="FFFFFF"/>
          </a:solidFill>
          <a:ln>
            <a:noFill/>
          </a:ln>
        </p:spPr>
        <p:txBody>
          <a:bodyPr rtlCol="0" anchor="ctr"/>
          <a:lstStyle/>
          <a:p>
            <a:pPr algn="ctr"/>
          </a:p>
        </p:txBody>
      </p:sp>
      <p:pic>
        <p:nvPicPr>
          <p:cNvPr id="8" name="아이콘:engine" descr="engine_13294B_1.6.png"/>
          <p:cNvPicPr>
            <a:picLocks noChangeAspect="1"/>
          </p:cNvPicPr>
          <p:nvPr/>
        </p:nvPicPr>
        <p:blipFill>
          <a:blip r:embed="rId3"/>
          <a:stretch>
            <a:fillRect/>
          </a:stretch>
        </p:blipFill>
        <p:spPr>
          <a:xfrm>
            <a:off x="976579" y="2575763"/>
            <a:ext cx="424281" cy="424281"/>
          </a:xfrm>
          <a:prstGeom prst="rect">
            <a:avLst/>
          </a:prstGeom>
        </p:spPr>
      </p:pic>
      <p:sp>
        <p:nvSpPr>
          <p:cNvPr id="9" name="TextBox 8"/>
          <p:cNvSpPr txBox="1"/>
          <p:nvPr/>
        </p:nvSpPr>
        <p:spPr>
          <a:xfrm>
            <a:off x="1691640" y="242214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OT</a:t>
            </a:r>
          </a:p>
        </p:txBody>
      </p:sp>
      <p:sp>
        <p:nvSpPr>
          <p:cNvPr id="10" name="TextBox 9"/>
          <p:cNvSpPr txBox="1"/>
          <p:nvPr/>
        </p:nvSpPr>
        <p:spPr>
          <a:xfrm>
            <a:off x="822959" y="3272536"/>
            <a:ext cx="4632807" cy="1940560"/>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Operational Technology</a:t>
            </a:r>
          </a:p>
          <a:p>
            <a:pPr algn="l" eaLnBrk="0" marL="182880" indent="-182880">
              <a:lnSpc>
                <a:spcPct val="110000"/>
              </a:lnSpc>
              <a:spcAft>
                <a:spcPts val="600"/>
              </a:spcAft>
            </a:pPr>
            <a:r>
              <a:rPr sz="1600" b="0">
                <a:solidFill>
                  <a:srgbClr val="1F2A3A"/>
                </a:solidFill>
                <a:latin typeface="맑은 고딕"/>
                <a:ea typeface="맑은 고딕"/>
                <a:cs typeface="맑은 고딕"/>
              </a:rPr>
              <a:t>• 설비를 직접 감시 · 제어한다</a:t>
            </a:r>
          </a:p>
          <a:p>
            <a:pPr algn="l" eaLnBrk="0" marL="182880" indent="-182880">
              <a:lnSpc>
                <a:spcPct val="110000"/>
              </a:lnSpc>
              <a:spcAft>
                <a:spcPts val="600"/>
              </a:spcAft>
            </a:pPr>
            <a:r>
              <a:rPr sz="1600" b="0">
                <a:solidFill>
                  <a:srgbClr val="1F2A3A"/>
                </a:solidFill>
                <a:latin typeface="맑은 고딕"/>
                <a:ea typeface="맑은 고딕"/>
                <a:cs typeface="맑은 고딕"/>
              </a:rPr>
              <a:t>• 가용성과 안전이 최우선이다</a:t>
            </a:r>
          </a:p>
          <a:p>
            <a:pPr algn="l" eaLnBrk="0" marL="182880" indent="-182880">
              <a:lnSpc>
                <a:spcPct val="110000"/>
              </a:lnSpc>
              <a:spcAft>
                <a:spcPts val="600"/>
              </a:spcAft>
            </a:pPr>
            <a:r>
              <a:rPr sz="1600" b="0">
                <a:solidFill>
                  <a:srgbClr val="1F2A3A"/>
                </a:solidFill>
                <a:latin typeface="맑은 고딕"/>
                <a:ea typeface="맑은 고딕"/>
                <a:cs typeface="맑은 고딕"/>
              </a:rPr>
              <a:t>• 잘못된 명령은 곧 설비 사고로 이어진다</a:t>
            </a:r>
          </a:p>
        </p:txBody>
      </p:sp>
      <p:sp>
        <p:nvSpPr>
          <p:cNvPr id="11" name="Rounded Rectangle 10"/>
          <p:cNvSpPr/>
          <p:nvPr/>
        </p:nvSpPr>
        <p:spPr>
          <a:xfrm>
            <a:off x="868680" y="53045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045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가용성 · 안전</a:t>
            </a:r>
          </a:p>
        </p:txBody>
      </p:sp>
      <p:sp>
        <p:nvSpPr>
          <p:cNvPr id="13" name="Rounded Rectangle 12"/>
          <p:cNvSpPr/>
          <p:nvPr/>
        </p:nvSpPr>
        <p:spPr>
          <a:xfrm>
            <a:off x="6461607" y="2220976"/>
            <a:ext cx="5181447" cy="3540760"/>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422144"/>
            <a:ext cx="731520" cy="731520"/>
          </a:xfrm>
          <a:prstGeom prst="ellipse">
            <a:avLst/>
          </a:prstGeom>
          <a:solidFill>
            <a:srgbClr val="FFFFFF"/>
          </a:solidFill>
          <a:ln>
            <a:noFill/>
          </a:ln>
        </p:spPr>
        <p:txBody>
          <a:bodyPr rtlCol="0" anchor="ctr"/>
          <a:lstStyle/>
          <a:p>
            <a:pPr algn="ctr"/>
          </a:p>
        </p:txBody>
      </p:sp>
      <p:pic>
        <p:nvPicPr>
          <p:cNvPr id="15" name="아이콘:world" descr="world_13294B_1.6.png"/>
          <p:cNvPicPr>
            <a:picLocks noChangeAspect="1"/>
          </p:cNvPicPr>
          <p:nvPr/>
        </p:nvPicPr>
        <p:blipFill>
          <a:blip r:embed="rId4"/>
          <a:stretch>
            <a:fillRect/>
          </a:stretch>
        </p:blipFill>
        <p:spPr>
          <a:xfrm>
            <a:off x="6889546" y="2575763"/>
            <a:ext cx="424281" cy="424281"/>
          </a:xfrm>
          <a:prstGeom prst="rect">
            <a:avLst/>
          </a:prstGeom>
        </p:spPr>
      </p:pic>
      <p:sp>
        <p:nvSpPr>
          <p:cNvPr id="16" name="TextBox 15"/>
          <p:cNvSpPr txBox="1"/>
          <p:nvPr/>
        </p:nvSpPr>
        <p:spPr>
          <a:xfrm>
            <a:off x="7604607" y="242214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IT</a:t>
            </a:r>
          </a:p>
        </p:txBody>
      </p:sp>
      <p:sp>
        <p:nvSpPr>
          <p:cNvPr id="17" name="TextBox 16"/>
          <p:cNvSpPr txBox="1"/>
          <p:nvPr/>
        </p:nvSpPr>
        <p:spPr>
          <a:xfrm>
            <a:off x="6735927" y="3272536"/>
            <a:ext cx="4632807" cy="1940560"/>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Information Technology</a:t>
            </a:r>
          </a:p>
          <a:p>
            <a:pPr algn="l" eaLnBrk="0" marL="182880" indent="-182880">
              <a:lnSpc>
                <a:spcPct val="110000"/>
              </a:lnSpc>
              <a:spcAft>
                <a:spcPts val="600"/>
              </a:spcAft>
            </a:pPr>
            <a:r>
              <a:rPr sz="1600" b="0">
                <a:solidFill>
                  <a:srgbClr val="1F2A3A"/>
                </a:solidFill>
                <a:latin typeface="맑은 고딕"/>
                <a:ea typeface="맑은 고딕"/>
                <a:cs typeface="맑은 고딕"/>
              </a:rPr>
              <a:t>• 업무 데이터를 다룬다</a:t>
            </a:r>
          </a:p>
          <a:p>
            <a:pPr algn="l" eaLnBrk="0" marL="182880" indent="-182880">
              <a:lnSpc>
                <a:spcPct val="110000"/>
              </a:lnSpc>
              <a:spcAft>
                <a:spcPts val="600"/>
              </a:spcAft>
            </a:pPr>
            <a:r>
              <a:rPr sz="1600" b="0">
                <a:solidFill>
                  <a:srgbClr val="1F2A3A"/>
                </a:solidFill>
                <a:latin typeface="맑은 고딕"/>
                <a:ea typeface="맑은 고딕"/>
                <a:cs typeface="맑은 고딕"/>
              </a:rPr>
              <a:t>• 사무망 · 인터넷과 연결되어 침해에 노출된다</a:t>
            </a:r>
          </a:p>
          <a:p>
            <a:pPr algn="l" eaLnBrk="0" marL="182880" indent="-182880">
              <a:lnSpc>
                <a:spcPct val="110000"/>
              </a:lnSpc>
              <a:spcAft>
                <a:spcPts val="600"/>
              </a:spcAft>
            </a:pPr>
            <a:r>
              <a:rPr sz="1600" b="0">
                <a:solidFill>
                  <a:srgbClr val="1F2A3A"/>
                </a:solidFill>
                <a:latin typeface="맑은 고딕"/>
                <a:ea typeface="맑은 고딕"/>
                <a:cs typeface="맑은 고딕"/>
              </a:rPr>
              <a:t>• 망 분리(Network Segmentation)로 OT와 직접 연결을 제한한다</a:t>
            </a:r>
          </a:p>
        </p:txBody>
      </p:sp>
      <p:sp>
        <p:nvSpPr>
          <p:cNvPr id="18" name="Rounded Rectangle 17"/>
          <p:cNvSpPr/>
          <p:nvPr/>
        </p:nvSpPr>
        <p:spPr>
          <a:xfrm>
            <a:off x="6781647" y="5304536"/>
            <a:ext cx="152399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30453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기밀성 · 무결성</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완충 구역과 단방향 수집</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OT와 IT 사이의 </a:t>
            </a:r>
            <a:r>
              <a:rPr sz="1600" b="1">
                <a:solidFill>
                  <a:srgbClr val="1A6FC4"/>
                </a:solidFill>
                <a:latin typeface="맑은 고딕"/>
                <a:ea typeface="맑은 고딕"/>
                <a:cs typeface="맑은 고딕"/>
              </a:rPr>
              <a:t>DMZ</a:t>
            </a:r>
            <a:r>
              <a:rPr sz="1600" b="0">
                <a:solidFill>
                  <a:srgbClr val="556175"/>
                </a:solidFill>
                <a:latin typeface="맑은 고딕"/>
                <a:ea typeface="맑은 고딕"/>
                <a:cs typeface="맑은 고딕"/>
              </a:rPr>
              <a:t>에서 수집 서비스가 계측 데이터를 복제하고, 자동 명령은 별도 관문에서 검사한다.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DMZ(Demilitarized Zone)</a:t>
            </a:r>
          </a:p>
          <a:p>
            <a:pPr algn="l" eaLnBrk="0">
              <a:lnSpc>
                <a:spcPct val="110000"/>
              </a:lnSpc>
              <a:spcAft>
                <a:spcPts val="200"/>
              </a:spcAft>
            </a:pPr>
            <a:r>
              <a:rPr sz="1150" b="0">
                <a:solidFill>
                  <a:srgbClr val="556175"/>
                </a:solidFill>
                <a:latin typeface="맑은 고딕"/>
                <a:ea typeface="맑은 고딕"/>
                <a:cs typeface="맑은 고딕"/>
              </a:rPr>
              <a:t>완충 구역</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OT와 IT를 직접 잇지 않고 중간에서 연결을 제한하는 완충 구역이다.</a:t>
            </a:r>
          </a:p>
          <a:p>
            <a:pPr algn="l" eaLnBrk="0">
              <a:lnSpc>
                <a:spcPct val="110000"/>
              </a:lnSpc>
              <a:spcAft>
                <a:spcPts val="300"/>
              </a:spcAft>
            </a:pPr>
            <a:r>
              <a:rPr sz="1400" b="0">
                <a:solidFill>
                  <a:srgbClr val="1F2A3A"/>
                </a:solidFill>
                <a:latin typeface="맑은 고딕"/>
                <a:ea typeface="맑은 고딕"/>
                <a:cs typeface="맑은 고딕"/>
              </a:rPr>
              <a:t>수집 서비스와 명령 관문이 이 영역에 놓인다.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수집 서비스</a:t>
            </a:r>
          </a:p>
          <a:p>
            <a:pPr algn="l" eaLnBrk="0">
              <a:lnSpc>
                <a:spcPct val="110000"/>
              </a:lnSpc>
              <a:spcAft>
                <a:spcPts val="200"/>
              </a:spcAft>
            </a:pPr>
            <a:r>
              <a:rPr sz="1150" b="0">
                <a:solidFill>
                  <a:srgbClr val="556175"/>
                </a:solidFill>
                <a:latin typeface="맑은 고딕"/>
                <a:ea typeface="맑은 고딕"/>
                <a:cs typeface="맑은 고딕"/>
              </a:rPr>
              <a:t>데이터 수집</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OT 브로커를 구독해 받은 메시지를 IT 이벤트 로그로 옮긴다.</a:t>
            </a:r>
          </a:p>
          <a:p>
            <a:pPr algn="l" eaLnBrk="0">
              <a:lnSpc>
                <a:spcPct val="110000"/>
              </a:lnSpc>
              <a:spcAft>
                <a:spcPts val="300"/>
              </a:spcAft>
            </a:pPr>
            <a:r>
              <a:rPr sz="1400" b="0">
                <a:solidFill>
                  <a:srgbClr val="1F2A3A"/>
                </a:solidFill>
                <a:latin typeface="맑은 고딕"/>
                <a:ea typeface="맑은 고딕"/>
                <a:cs typeface="맑은 고딕"/>
              </a:rPr>
              <a:t>브로커 → 수집 서비스 → 이벤트 로그</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단방향 복제</a:t>
            </a:r>
          </a:p>
          <a:p>
            <a:pPr algn="l" eaLnBrk="0">
              <a:lnSpc>
                <a:spcPct val="110000"/>
              </a:lnSpc>
              <a:spcAft>
                <a:spcPts val="200"/>
              </a:spcAft>
            </a:pPr>
            <a:r>
              <a:rPr sz="1150" b="0">
                <a:solidFill>
                  <a:srgbClr val="556175"/>
                </a:solidFill>
                <a:latin typeface="맑은 고딕"/>
                <a:ea typeface="맑은 고딕"/>
                <a:cs typeface="맑은 고딕"/>
              </a:rPr>
              <a:t>방향의 분리</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단방향 복제(One-way Replication)는 한 방향으로만 데이터를 복사하는 것이다.</a:t>
            </a:r>
          </a:p>
          <a:p>
            <a:pPr algn="l" eaLnBrk="0">
              <a:lnSpc>
                <a:spcPct val="110000"/>
              </a:lnSpc>
              <a:spcAft>
                <a:spcPts val="300"/>
              </a:spcAft>
            </a:pPr>
            <a:r>
              <a:rPr sz="1400" b="0">
                <a:solidFill>
                  <a:srgbClr val="1F2A3A"/>
                </a:solidFill>
                <a:latin typeface="맑은 고딕"/>
                <a:ea typeface="맑은 고딕"/>
                <a:cs typeface="맑은 고딕"/>
              </a:rPr>
              <a:t>수집 서비스는 OT에 발행하지 않으며, 자동 명령은 별도 경로로 전달한다.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Layer 3 · 메시지를 기록으로 옮긴다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토픽에 있던 설비와 태그 이름을 메시지 본문에 넣으면, 레코드 한 건으로 값의 출처를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브로커가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전달한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메시지</a:t>
            </a:r>
          </a:p>
          <a:p>
            <a:pPr algn="l" eaLnBrk="0">
              <a:lnSpc>
                <a:spcPct val="110000"/>
              </a:lnSpc>
              <a:spcAft>
                <a:spcPts val="200"/>
              </a:spcAft>
            </a:pPr>
            <a:r>
              <a:rPr sz="1300" b="0">
                <a:solidFill>
                  <a:srgbClr val="E8EEF6"/>
                </a:solidFill>
                <a:latin typeface="Consolas"/>
                <a:ea typeface="맑은 고딕"/>
                <a:cs typeface="맑은 고딕"/>
              </a:rPr>
              <a:t>topic   plant/hyd01/tag/TS1</a:t>
            </a:r>
          </a:p>
          <a:p>
            <a:pPr algn="l" eaLnBrk="0">
              <a:lnSpc>
                <a:spcPct val="110000"/>
              </a:lnSpc>
              <a:spcAft>
                <a:spcPts val="200"/>
              </a:spcAft>
            </a:pPr>
            <a:r>
              <a:rPr sz="1300" b="0">
                <a:solidFill>
                  <a:srgbClr val="E8EEF6"/>
                </a:solidFill>
                <a:latin typeface="Consolas"/>
                <a:ea typeface="맑은 고딕"/>
                <a:cs typeface="맑은 고딕"/>
              </a:rPr>
              <a:t>payload {"t":"2026-10-10T02:13:08.508Z",</a:t>
            </a:r>
          </a:p>
          <a:p>
            <a:pPr algn="l" eaLnBrk="0">
              <a:lnSpc>
                <a:spcPct val="110000"/>
              </a:lnSpc>
              <a:spcAft>
                <a:spcPts val="200"/>
              </a:spcAft>
            </a:pPr>
            <a:r>
              <a:rPr sz="1300" b="0">
                <a:solidFill>
                  <a:srgbClr val="E8EEF6"/>
                </a:solidFill>
                <a:latin typeface="Consolas"/>
                <a:ea typeface="맑은 고딕"/>
                <a:cs typeface="맑은 고딕"/>
              </a:rPr>
              <a:t>         "v":55.71,"q":"good"}</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서비스가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남긴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레코드</a:t>
            </a:r>
          </a:p>
          <a:p>
            <a:pPr algn="l" eaLnBrk="0">
              <a:lnSpc>
                <a:spcPct val="110000"/>
              </a:lnSpc>
              <a:spcAft>
                <a:spcPts val="200"/>
              </a:spcAft>
            </a:pPr>
            <a:r>
              <a:rPr sz="1300" b="0">
                <a:solidFill>
                  <a:srgbClr val="E8EEF6"/>
                </a:solidFill>
                <a:latin typeface="Consolas"/>
                <a:ea typeface="맑은 고딕"/>
                <a:cs typeface="맑은 고딕"/>
              </a:rPr>
              <a:t>topic   plant.tag</a:t>
            </a:r>
          </a:p>
          <a:p>
            <a:pPr algn="l" eaLnBrk="0">
              <a:lnSpc>
                <a:spcPct val="110000"/>
              </a:lnSpc>
              <a:spcAft>
                <a:spcPts val="200"/>
              </a:spcAft>
            </a:pPr>
            <a:r>
              <a:rPr sz="1300" b="0">
                <a:solidFill>
                  <a:srgbClr val="E8EEF6"/>
                </a:solidFill>
                <a:latin typeface="Consolas"/>
                <a:ea typeface="맑은 고딕"/>
                <a:cs typeface="맑은 고딕"/>
              </a:rPr>
              <a:t>key     hyd01</a:t>
            </a:r>
          </a:p>
          <a:p>
            <a:pPr algn="l" eaLnBrk="0">
              <a:lnSpc>
                <a:spcPct val="110000"/>
              </a:lnSpc>
              <a:spcAft>
                <a:spcPts val="200"/>
              </a:spcAft>
            </a:pPr>
            <a:r>
              <a:rPr sz="1300" b="0">
                <a:solidFill>
                  <a:srgbClr val="E8EEF6"/>
                </a:solidFill>
                <a:latin typeface="Consolas"/>
                <a:ea typeface="맑은 고딕"/>
                <a:cs typeface="맑은 고딕"/>
              </a:rPr>
              <a:t>value   {"asset":"HYD-01","name":"TS1",</a:t>
            </a:r>
          </a:p>
          <a:p>
            <a:pPr algn="l" eaLnBrk="0">
              <a:lnSpc>
                <a:spcPct val="110000"/>
              </a:lnSpc>
              <a:spcAft>
                <a:spcPts val="200"/>
              </a:spcAft>
            </a:pPr>
            <a:r>
              <a:rPr sz="1300" b="0">
                <a:solidFill>
                  <a:srgbClr val="E8EEF6"/>
                </a:solidFill>
                <a:latin typeface="Consolas"/>
                <a:ea typeface="맑은 고딕"/>
                <a:cs typeface="맑은 고딕"/>
              </a:rPr>
              <a:t>         "t":"2026-10-10T02:13:08.508Z",</a:t>
            </a:r>
          </a:p>
          <a:p>
            <a:pPr algn="l" eaLnBrk="0">
              <a:lnSpc>
                <a:spcPct val="110000"/>
              </a:lnSpc>
              <a:spcAft>
                <a:spcPts val="200"/>
              </a:spcAft>
            </a:pPr>
            <a:r>
              <a:rPr sz="1300" b="0">
                <a:solidFill>
                  <a:srgbClr val="E8EEF6"/>
                </a:solidFill>
                <a:latin typeface="Consolas"/>
                <a:ea typeface="맑은 고딕"/>
                <a:cs typeface="맑은 고딕"/>
              </a:rPr>
              <a:t>         "v":55.71,"q":"good"}</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페이로드(Payload)</a:t>
            </a:r>
          </a:p>
          <a:p>
            <a:pPr algn="l" eaLnBrk="0">
              <a:lnSpc>
                <a:spcPct val="110000"/>
              </a:lnSpc>
              <a:spcAft>
                <a:spcPts val="400"/>
              </a:spcAft>
            </a:pPr>
            <a:r>
              <a:rPr sz="1400" b="0">
                <a:solidFill>
                  <a:srgbClr val="1F2A3A"/>
                </a:solidFill>
                <a:latin typeface="맑은 고딕"/>
                <a:ea typeface="맑은 고딕"/>
                <a:cs typeface="맑은 고딕"/>
              </a:rPr>
              <a:t>메시지의 본문이다. 토픽 경로의 설비와 태그가 asset·name으로 본문 안에 들어왔다.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레코드(Record)</a:t>
            </a:r>
          </a:p>
          <a:p>
            <a:pPr algn="l" eaLnBrk="0">
              <a:lnSpc>
                <a:spcPct val="110000"/>
              </a:lnSpc>
              <a:spcAft>
                <a:spcPts val="400"/>
              </a:spcAft>
            </a:pPr>
            <a:r>
              <a:rPr sz="1400" b="0">
                <a:solidFill>
                  <a:srgbClr val="1F2A3A"/>
                </a:solidFill>
                <a:latin typeface="맑은 고딕"/>
                <a:ea typeface="맑은 고딕"/>
                <a:cs typeface="맑은 고딕"/>
              </a:rPr>
              <a:t>이벤트 로그에 남기는 기록 한 건이다. 시각 t, 값 v, 품질 q와 출처를 함께 보관한다.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키(Key) hyd01</a:t>
            </a:r>
          </a:p>
          <a:p>
            <a:pPr algn="l" eaLnBrk="0">
              <a:lnSpc>
                <a:spcPct val="110000"/>
              </a:lnSpc>
              <a:spcAft>
                <a:spcPts val="400"/>
              </a:spcAft>
            </a:pPr>
            <a:r>
              <a:rPr sz="1400" b="0">
                <a:solidFill>
                  <a:srgbClr val="1F2A3A"/>
                </a:solidFill>
                <a:latin typeface="맑은 고딕"/>
                <a:ea typeface="맑은 고딕"/>
                <a:cs typeface="맑은 고딕"/>
              </a:rPr>
              <a:t>같은 설비의 레코드를 같은 파티션으로 보내 순서대로 읽게 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이벤트 로그의 기록·순서·다시 읽기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이벤트 로그는 기록을 덧붙여 보관하고, 소비자는 각자의 읽기 위치를 기준으로 필요한 기록을 다시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26</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추가 전용 로그</a:t>
            </a:r>
          </a:p>
          <a:p>
            <a:pPr algn="l" eaLnBrk="0">
              <a:lnSpc>
                <a:spcPct val="110000"/>
              </a:lnSpc>
              <a:spcAft>
                <a:spcPts val="200"/>
              </a:spcAft>
            </a:pPr>
            <a:r>
              <a:rPr sz="1150" b="0">
                <a:solidFill>
                  <a:srgbClr val="556175"/>
                </a:solidFill>
                <a:latin typeface="맑은 고딕"/>
                <a:ea typeface="맑은 고딕"/>
                <a:cs typeface="맑은 고딕"/>
              </a:rPr>
              <a:t>기록의 보관</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추가 전용 로그(Append-only Log)는 받은 레코드를 뒤에 덧붙이는 기록이다.</a:t>
            </a:r>
          </a:p>
          <a:p>
            <a:pPr algn="l" eaLnBrk="0">
              <a:lnSpc>
                <a:spcPct val="110000"/>
              </a:lnSpc>
              <a:spcAft>
                <a:spcPts val="300"/>
              </a:spcAft>
            </a:pPr>
            <a:r>
              <a:rPr sz="1400" b="0">
                <a:solidFill>
                  <a:srgbClr val="1F2A3A"/>
                </a:solidFill>
                <a:latin typeface="맑은 고딕"/>
                <a:ea typeface="맑은 고딕"/>
                <a:cs typeface="맑은 고딕"/>
              </a:rPr>
              <a:t>지나간 메시지도 보존 기간 안에서는 다시 읽을 수 있다.</a:t>
            </a:r>
          </a:p>
          <a:p>
            <a:pPr algn="l" eaLnBrk="0">
              <a:lnSpc>
                <a:spcPct val="110000"/>
              </a:lnSpc>
              <a:spcAft>
                <a:spcPts val="300"/>
              </a:spcAft>
            </a:pPr>
            <a:r>
              <a:rPr sz="1400" b="0">
                <a:solidFill>
                  <a:srgbClr val="1F2A3A"/>
                </a:solidFill>
                <a:latin typeface="맑은 고딕"/>
                <a:ea typeface="맑은 고딕"/>
                <a:cs typeface="맑은 고딕"/>
              </a:rPr>
              <a:t>이 역할에는 Kafka 같은 것이 있다.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생산자·소비자</a:t>
            </a:r>
          </a:p>
          <a:p>
            <a:pPr algn="l" eaLnBrk="0">
              <a:lnSpc>
                <a:spcPct val="110000"/>
              </a:lnSpc>
              <a:spcAft>
                <a:spcPts val="200"/>
              </a:spcAft>
            </a:pPr>
            <a:r>
              <a:rPr sz="1150" b="0">
                <a:solidFill>
                  <a:srgbClr val="556175"/>
                </a:solidFill>
                <a:latin typeface="맑은 고딕"/>
                <a:ea typeface="맑은 고딕"/>
                <a:cs typeface="맑은 고딕"/>
              </a:rPr>
              <a:t>쓰기와 읽기</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생산자(Producer)는 기록을 쓰고 소비자(Consumer)는 읽는다.</a:t>
            </a:r>
          </a:p>
          <a:p>
            <a:pPr algn="l" eaLnBrk="0">
              <a:lnSpc>
                <a:spcPct val="110000"/>
              </a:lnSpc>
              <a:spcAft>
                <a:spcPts val="300"/>
              </a:spcAft>
            </a:pPr>
            <a:r>
              <a:rPr sz="1400" b="0">
                <a:solidFill>
                  <a:srgbClr val="1F2A3A"/>
                </a:solidFill>
                <a:latin typeface="맑은 고딕"/>
                <a:ea typeface="맑은 고딕"/>
                <a:cs typeface="맑은 고딕"/>
              </a:rPr>
              <a:t>수집 서비스가 쓰고, 감지 서비스와 저장 서비스가 각자 읽는다.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Rounded Rectangle 11"/>
          <p:cNvSpPr/>
          <p:nvPr/>
        </p:nvSpPr>
        <p:spPr>
          <a:xfrm>
            <a:off x="548640" y="4018788"/>
            <a:ext cx="11094415" cy="1126998"/>
          </a:xfrm>
          <a:prstGeom prst="roundRect">
            <a:avLst>
              <a:gd name="adj" fmla="val 6000"/>
            </a:avLst>
          </a:prstGeom>
          <a:solidFill>
            <a:srgbClr val="E7F3FD"/>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오프셋(Offset)</a:t>
            </a:r>
          </a:p>
          <a:p>
            <a:pPr algn="l" eaLnBrk="0">
              <a:lnSpc>
                <a:spcPct val="110000"/>
              </a:lnSpc>
              <a:spcAft>
                <a:spcPts val="200"/>
              </a:spcAft>
            </a:pPr>
            <a:r>
              <a:rPr sz="1150" b="0">
                <a:solidFill>
                  <a:srgbClr val="556175"/>
                </a:solidFill>
                <a:latin typeface="맑은 고딕"/>
                <a:ea typeface="맑은 고딕"/>
                <a:cs typeface="맑은 고딕"/>
              </a:rPr>
              <a:t>각자의 읽기 위치</a:t>
            </a:r>
          </a:p>
        </p:txBody>
      </p:sp>
      <p:sp>
        <p:nvSpPr>
          <p:cNvPr id="14" name="TextBox 13"/>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파티션 안에서 레코드를 가리키는 위치이다.</a:t>
            </a:r>
          </a:p>
          <a:p>
            <a:pPr algn="l" eaLnBrk="0">
              <a:lnSpc>
                <a:spcPct val="110000"/>
              </a:lnSpc>
              <a:spcAft>
                <a:spcPts val="300"/>
              </a:spcAft>
            </a:pPr>
            <a:r>
              <a:rPr sz="1400" b="0">
                <a:solidFill>
                  <a:srgbClr val="1F2A3A"/>
                </a:solidFill>
                <a:latin typeface="맑은 고딕"/>
                <a:ea typeface="맑은 고딕"/>
                <a:cs typeface="맑은 고딕"/>
              </a:rPr>
              <a:t>소비자는 읽기 위치를 따로 관리하며 필요하면 이전 위치부터 다시 읽는다.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파티션(Partition)</a:t>
            </a:r>
          </a:p>
          <a:p>
            <a:pPr algn="l" eaLnBrk="0">
              <a:lnSpc>
                <a:spcPct val="110000"/>
              </a:lnSpc>
              <a:spcAft>
                <a:spcPts val="200"/>
              </a:spcAft>
            </a:pPr>
            <a:r>
              <a:rPr sz="1150" b="0">
                <a:solidFill>
                  <a:srgbClr val="556175"/>
                </a:solidFill>
                <a:latin typeface="맑은 고딕"/>
                <a:ea typeface="맑은 고딕"/>
                <a:cs typeface="맑은 고딕"/>
              </a:rPr>
              <a:t>순서와 보존 범위</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순서가 보장되는 로그의 한 구획이다.</a:t>
            </a:r>
          </a:p>
          <a:p>
            <a:pPr algn="l" eaLnBrk="0">
              <a:lnSpc>
                <a:spcPct val="110000"/>
              </a:lnSpc>
              <a:spcAft>
                <a:spcPts val="300"/>
              </a:spcAft>
            </a:pPr>
            <a:r>
              <a:rPr sz="1400" b="0">
                <a:solidFill>
                  <a:srgbClr val="1F2A3A"/>
                </a:solidFill>
                <a:latin typeface="맑은 고딕"/>
                <a:ea typeface="맑은 고딕"/>
                <a:cs typeface="맑은 고딕"/>
              </a:rPr>
              <a:t>같은 키 hyd01의 기록은 같은 구획에 쌓인다.</a:t>
            </a:r>
          </a:p>
          <a:p>
            <a:pPr algn="l" eaLnBrk="0">
              <a:lnSpc>
                <a:spcPct val="110000"/>
              </a:lnSpc>
              <a:spcAft>
                <a:spcPts val="300"/>
              </a:spcAft>
            </a:pPr>
            <a:r>
              <a:rPr sz="1400" b="0">
                <a:solidFill>
                  <a:srgbClr val="1F2A3A"/>
                </a:solidFill>
                <a:latin typeface="맑은 고딕"/>
                <a:ea typeface="맑은 고딕"/>
                <a:cs typeface="맑은 고딕"/>
              </a:rPr>
              <a:t>HYD의 plant.tag 보존 기간은 1일이다.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Layer 4 · 스트림 처리: 흐르는 데이터에서 알아챈다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감지 서비스는 이상을 제때 알아차리도록, 이벤트 로그에 데이터가 기록되는 대로 읽어 조건과 비교한다.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105406"/>
            <a:ext cx="5181447" cy="37719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06574"/>
            <a:ext cx="731520" cy="731520"/>
          </a:xfrm>
          <a:prstGeom prst="ellipse">
            <a:avLst/>
          </a:prstGeom>
          <a:solidFill>
            <a:srgbClr val="FFFFFF"/>
          </a:solidFill>
          <a:ln>
            <a:noFill/>
          </a:ln>
        </p:spPr>
        <p:txBody>
          <a:bodyPr rtlCol="0" anchor="ctr"/>
          <a:lstStyle/>
          <a:p>
            <a:pPr algn="ctr"/>
          </a:p>
        </p:txBody>
      </p:sp>
      <p:pic>
        <p:nvPicPr>
          <p:cNvPr id="8" name="아이콘:database" descr="database_13294B_1.6.png"/>
          <p:cNvPicPr>
            <a:picLocks noChangeAspect="1"/>
          </p:cNvPicPr>
          <p:nvPr/>
        </p:nvPicPr>
        <p:blipFill>
          <a:blip r:embed="rId3"/>
          <a:stretch>
            <a:fillRect/>
          </a:stretch>
        </p:blipFill>
        <p:spPr>
          <a:xfrm>
            <a:off x="976579" y="2460193"/>
            <a:ext cx="424281" cy="424281"/>
          </a:xfrm>
          <a:prstGeom prst="rect">
            <a:avLst/>
          </a:prstGeom>
        </p:spPr>
      </p:pic>
      <p:sp>
        <p:nvSpPr>
          <p:cNvPr id="9" name="TextBox 8"/>
          <p:cNvSpPr txBox="1"/>
          <p:nvPr/>
        </p:nvSpPr>
        <p:spPr>
          <a:xfrm>
            <a:off x="1691640"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배치 처리(Batch Processing)</a:t>
            </a:r>
          </a:p>
        </p:txBody>
      </p:sp>
      <p:sp>
        <p:nvSpPr>
          <p:cNvPr id="10" name="TextBox 9"/>
          <p:cNvSpPr txBox="1"/>
          <p:nvPr/>
        </p:nvSpPr>
        <p:spPr>
          <a:xfrm>
            <a:off x="822959"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데이터를 저장소에 쌓은 뒤 주기적으로 질의한다</a:t>
            </a:r>
          </a:p>
          <a:p>
            <a:pPr algn="l" eaLnBrk="0" marL="171450" indent="-171450">
              <a:lnSpc>
                <a:spcPct val="110000"/>
              </a:lnSpc>
              <a:spcAft>
                <a:spcPts val="600"/>
              </a:spcAft>
            </a:pPr>
            <a:r>
              <a:rPr sz="1500" b="0">
                <a:solidFill>
                  <a:srgbClr val="1F2A3A"/>
                </a:solidFill>
                <a:latin typeface="맑은 고딕"/>
                <a:ea typeface="맑은 고딕"/>
                <a:cs typeface="맑은 고딕"/>
              </a:rPr>
              <a:t>• 이상이 생긴 시점과 알아차리는 시점 사이에 지연이 생긴다</a:t>
            </a:r>
          </a:p>
        </p:txBody>
      </p:sp>
      <p:sp>
        <p:nvSpPr>
          <p:cNvPr id="11" name="Rounded Rectangle 10"/>
          <p:cNvSpPr/>
          <p:nvPr/>
        </p:nvSpPr>
        <p:spPr>
          <a:xfrm>
            <a:off x="868680" y="5420106"/>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42010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나중에 조회</a:t>
            </a:r>
          </a:p>
        </p:txBody>
      </p:sp>
      <p:sp>
        <p:nvSpPr>
          <p:cNvPr id="13" name="Rounded Rectangle 12"/>
          <p:cNvSpPr/>
          <p:nvPr/>
        </p:nvSpPr>
        <p:spPr>
          <a:xfrm>
            <a:off x="6461607" y="2105406"/>
            <a:ext cx="5181447" cy="37719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06574"/>
            <a:ext cx="731520" cy="731520"/>
          </a:xfrm>
          <a:prstGeom prst="ellipse">
            <a:avLst/>
          </a:prstGeom>
          <a:solidFill>
            <a:srgbClr val="5CB8F2"/>
          </a:solidFill>
          <a:ln>
            <a:noFill/>
          </a:ln>
        </p:spPr>
        <p:txBody>
          <a:bodyPr rtlCol="0" anchor="ctr"/>
          <a:lstStyle/>
          <a:p>
            <a:pPr algn="ctr"/>
          </a:p>
        </p:txBody>
      </p:sp>
      <p:pic>
        <p:nvPicPr>
          <p:cNvPr id="15" name="아이콘:radar" descr="radar_13294B_1.6.png"/>
          <p:cNvPicPr>
            <a:picLocks noChangeAspect="1"/>
          </p:cNvPicPr>
          <p:nvPr/>
        </p:nvPicPr>
        <p:blipFill>
          <a:blip r:embed="rId4"/>
          <a:stretch>
            <a:fillRect/>
          </a:stretch>
        </p:blipFill>
        <p:spPr>
          <a:xfrm>
            <a:off x="6889546" y="2460193"/>
            <a:ext cx="424281" cy="424281"/>
          </a:xfrm>
          <a:prstGeom prst="rect">
            <a:avLst/>
          </a:prstGeom>
        </p:spPr>
      </p:pic>
      <p:sp>
        <p:nvSpPr>
          <p:cNvPr id="16" name="TextBox 15"/>
          <p:cNvSpPr txBox="1"/>
          <p:nvPr/>
        </p:nvSpPr>
        <p:spPr>
          <a:xfrm>
            <a:off x="7604607"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스트림 처리(Stream Processing)</a:t>
            </a:r>
          </a:p>
        </p:txBody>
      </p:sp>
      <p:sp>
        <p:nvSpPr>
          <p:cNvPr id="17" name="TextBox 16"/>
          <p:cNvSpPr txBox="1"/>
          <p:nvPr/>
        </p:nvSpPr>
        <p:spPr>
          <a:xfrm>
            <a:off x="6735927"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데이터가 기록되는 대로 하나씩 받아 조건과 비교한다</a:t>
            </a:r>
          </a:p>
          <a:p>
            <a:pPr algn="l" eaLnBrk="0" marL="171450" indent="-171450">
              <a:lnSpc>
                <a:spcPct val="110000"/>
              </a:lnSpc>
              <a:spcAft>
                <a:spcPts val="600"/>
              </a:spcAft>
            </a:pPr>
            <a:r>
              <a:rPr sz="1500" b="0">
                <a:solidFill>
                  <a:srgbClr val="1F2A3A"/>
                </a:solidFill>
                <a:latin typeface="맑은 고딕"/>
                <a:ea typeface="맑은 고딕"/>
                <a:cs typeface="맑은 고딕"/>
              </a:rPr>
              <a:t>• 끊임없이 도착하는 데이터를 그 자리에서 처리하는 방식이 스트림 처리(Stream Processing)이다</a:t>
            </a:r>
          </a:p>
          <a:p>
            <a:pPr algn="l" eaLnBrk="0" marL="171450" indent="-171450">
              <a:lnSpc>
                <a:spcPct val="110000"/>
              </a:lnSpc>
              <a:spcAft>
                <a:spcPts val="600"/>
              </a:spcAft>
            </a:pPr>
            <a:r>
              <a:rPr sz="1500" b="0">
                <a:solidFill>
                  <a:srgbClr val="1F2A3A"/>
                </a:solidFill>
                <a:latin typeface="맑은 고딕"/>
                <a:ea typeface="맑은 고딕"/>
                <a:cs typeface="맑은 고딕"/>
              </a:rPr>
              <a:t>• 이 역할에는 Flink 같은 스트림 처리 엔진이 있다</a:t>
            </a:r>
          </a:p>
        </p:txBody>
      </p:sp>
      <p:sp>
        <p:nvSpPr>
          <p:cNvPr id="18" name="Rounded Rectangle 17"/>
          <p:cNvSpPr/>
          <p:nvPr/>
        </p:nvSpPr>
        <p:spPr>
          <a:xfrm>
            <a:off x="6781647" y="5420106"/>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42010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그 자리에서 판정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복합 이벤트 처리: 경보 조건과 유지 시간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유온 하나로 경보를 내지 않고, 유온·냉각 효율·상승 추세의 조건이 유지 시간 동안 이어지는지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pic>
        <p:nvPicPr>
          <p:cNvPr id="6" name="Picture 5" descr="그래프_경보순간_TS1.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91640"/>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91640"/>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36776"/>
            <a:ext cx="3093415" cy="1554480"/>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복합 이벤트 처리(CEP)</a:t>
            </a:r>
          </a:p>
          <a:p>
            <a:pPr algn="l" eaLnBrk="0">
              <a:lnSpc>
                <a:spcPct val="110000"/>
              </a:lnSpc>
              <a:spcAft>
                <a:spcPts val="400"/>
              </a:spcAft>
            </a:pPr>
            <a:r>
              <a:rPr sz="1400" b="0">
                <a:solidFill>
                  <a:srgbClr val="1F2A3A"/>
                </a:solidFill>
                <a:latin typeface="맑은 고딕"/>
                <a:ea typeface="맑은 고딕"/>
                <a:cs typeface="맑은 고딕"/>
              </a:rPr>
              <a:t>Complex Event Processing</a:t>
            </a:r>
          </a:p>
          <a:p>
            <a:pPr algn="l" eaLnBrk="0">
              <a:lnSpc>
                <a:spcPct val="110000"/>
              </a:lnSpc>
              <a:spcAft>
                <a:spcPts val="400"/>
              </a:spcAft>
            </a:pPr>
            <a:r>
              <a:rPr sz="1400" b="0">
                <a:solidFill>
                  <a:srgbClr val="1F2A3A"/>
                </a:solidFill>
                <a:latin typeface="맑은 고딕"/>
                <a:ea typeface="맑은 고딕"/>
                <a:cs typeface="맑은 고딕"/>
              </a:rPr>
              <a:t>여러 값·추세·지속 시간의 조합</a:t>
            </a:r>
          </a:p>
          <a:p>
            <a:pPr algn="l" eaLnBrk="0">
              <a:lnSpc>
                <a:spcPct val="110000"/>
              </a:lnSpc>
              <a:spcAft>
                <a:spcPts val="400"/>
              </a:spcAft>
            </a:pPr>
            <a:r>
              <a:rPr sz="1400" b="0">
                <a:solidFill>
                  <a:srgbClr val="1F2A3A"/>
                </a:solidFill>
                <a:latin typeface="맑은 고딕"/>
                <a:ea typeface="맑은 고딕"/>
                <a:cs typeface="맑은 고딕"/>
              </a:rPr>
              <a:t>TS1 &gt; 55 ℃ · CE &lt; 70 %</a:t>
            </a:r>
          </a:p>
          <a:p>
            <a:pPr algn="l" eaLnBrk="0">
              <a:lnSpc>
                <a:spcPct val="110000"/>
              </a:lnSpc>
              <a:spcAft>
                <a:spcPts val="400"/>
              </a:spcAft>
            </a:pPr>
            <a:r>
              <a:rPr sz="1400" b="0">
                <a:solidFill>
                  <a:srgbClr val="1F2A3A"/>
                </a:solidFill>
                <a:latin typeface="맑은 고딕"/>
                <a:ea typeface="맑은 고딕"/>
                <a:cs typeface="맑은 고딕"/>
              </a:rPr>
              <a:t>유온 기울기 &gt; 0</a:t>
            </a:r>
          </a:p>
        </p:txBody>
      </p:sp>
      <p:sp>
        <p:nvSpPr>
          <p:cNvPr id="10" name="Oval 9"/>
          <p:cNvSpPr/>
          <p:nvPr/>
        </p:nvSpPr>
        <p:spPr>
          <a:xfrm>
            <a:off x="8138160" y="3246120"/>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3246120"/>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3191256"/>
            <a:ext cx="3093415" cy="1554480"/>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유지 시간(Hold Time)</a:t>
            </a:r>
          </a:p>
          <a:p>
            <a:pPr algn="l" eaLnBrk="0">
              <a:lnSpc>
                <a:spcPct val="110000"/>
              </a:lnSpc>
              <a:spcAft>
                <a:spcPts val="400"/>
              </a:spcAft>
            </a:pPr>
            <a:r>
              <a:rPr sz="1400" b="0">
                <a:solidFill>
                  <a:srgbClr val="1F2A3A"/>
                </a:solidFill>
                <a:latin typeface="맑은 고딕"/>
                <a:ea typeface="맑은 고딕"/>
                <a:cs typeface="맑은 고딕"/>
              </a:rPr>
              <a:t>조건이 정해진 시간 동안 이어져야 경보가 성립한다. 11:13:04에 유온이 55 ℃를 넘었지만 아직 경보는 없다.</a:t>
            </a:r>
          </a:p>
        </p:txBody>
      </p:sp>
      <p:sp>
        <p:nvSpPr>
          <p:cNvPr id="13" name="Oval 12"/>
          <p:cNvSpPr/>
          <p:nvPr/>
        </p:nvSpPr>
        <p:spPr>
          <a:xfrm>
            <a:off x="8138160" y="4800600"/>
            <a:ext cx="347472" cy="347472"/>
          </a:xfrm>
          <a:prstGeom prst="ellipse">
            <a:avLst/>
          </a:prstGeom>
          <a:solidFill>
            <a:srgbClr val="5CB8F2"/>
          </a:solidFill>
          <a:ln>
            <a:noFill/>
          </a:ln>
        </p:spPr>
        <p:txBody>
          <a:bodyPr rtlCol="0" anchor="ctr"/>
          <a:lstStyle/>
          <a:p>
            <a:pPr algn="ctr"/>
          </a:p>
        </p:txBody>
      </p:sp>
      <p:sp>
        <p:nvSpPr>
          <p:cNvPr id="14" name="TextBox 13"/>
          <p:cNvSpPr txBox="1"/>
          <p:nvPr/>
        </p:nvSpPr>
        <p:spPr>
          <a:xfrm>
            <a:off x="8138160" y="4800600"/>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3</a:t>
            </a:r>
          </a:p>
        </p:txBody>
      </p:sp>
      <p:sp>
        <p:nvSpPr>
          <p:cNvPr id="15" name="TextBox 14"/>
          <p:cNvSpPr txBox="1"/>
          <p:nvPr/>
        </p:nvSpPr>
        <p:spPr>
          <a:xfrm>
            <a:off x="8549640" y="4745736"/>
            <a:ext cx="3093415" cy="1554480"/>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경보 발생 11:13:08</a:t>
            </a:r>
          </a:p>
          <a:p>
            <a:pPr algn="l" eaLnBrk="0">
              <a:lnSpc>
                <a:spcPct val="110000"/>
              </a:lnSpc>
              <a:spcAft>
                <a:spcPts val="400"/>
              </a:spcAft>
            </a:pPr>
            <a:r>
              <a:rPr sz="1400" b="0">
                <a:solidFill>
                  <a:srgbClr val="1F2A3A"/>
                </a:solidFill>
                <a:latin typeface="맑은 고딕"/>
                <a:ea typeface="맑은 고딕"/>
                <a:cs typeface="맑은 고딕"/>
              </a:rPr>
              <a:t>기준을 넘은 첫 관측에서 4.0초 뒤에 경보가 울렸다. 이때 유온은 55.71 ℃였다.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경보의 발생·해제와 데이터 품질</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경보는 발생과 해제의 기준을 달리하고 조건의 지속을 확인하며, 잘못되거나 빠진 값으로 판정하지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발생(RAISE)</a:t>
            </a:r>
          </a:p>
          <a:p>
            <a:pPr algn="l" eaLnBrk="0">
              <a:lnSpc>
                <a:spcPct val="110000"/>
              </a:lnSpc>
              <a:spcAft>
                <a:spcPts val="200"/>
              </a:spcAft>
            </a:pPr>
            <a:r>
              <a:rPr sz="1150" b="0">
                <a:solidFill>
                  <a:srgbClr val="556175"/>
                </a:solidFill>
                <a:latin typeface="맑은 고딕"/>
                <a:ea typeface="맑은 고딕"/>
                <a:cs typeface="맑은 고딕"/>
              </a:rPr>
              <a:t>이상 알림</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TS1 &gt; 55 ℃ · CE &lt; 70 % · 유온 기울기 &gt; 0</a:t>
            </a:r>
          </a:p>
          <a:p>
            <a:pPr algn="l" eaLnBrk="0">
              <a:lnSpc>
                <a:spcPct val="110000"/>
              </a:lnSpc>
              <a:spcAft>
                <a:spcPts val="300"/>
              </a:spcAft>
            </a:pPr>
            <a:r>
              <a:rPr sz="1400" b="0">
                <a:solidFill>
                  <a:srgbClr val="1F2A3A"/>
                </a:solidFill>
                <a:latin typeface="맑은 고딕"/>
                <a:ea typeface="맑은 고딕"/>
                <a:cs typeface="맑은 고딕"/>
              </a:rPr>
              <a:t>세 조건이 유지 시간 동안 이어지면 쿨러 성능 저하 경보를 낸다.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해제(CLEAR)</a:t>
            </a:r>
          </a:p>
          <a:p>
            <a:pPr algn="l" eaLnBrk="0">
              <a:lnSpc>
                <a:spcPct val="110000"/>
              </a:lnSpc>
              <a:spcAft>
                <a:spcPts val="200"/>
              </a:spcAft>
            </a:pPr>
            <a:r>
              <a:rPr sz="1150" b="0">
                <a:solidFill>
                  <a:srgbClr val="556175"/>
                </a:solidFill>
                <a:latin typeface="맑은 고딕"/>
                <a:ea typeface="맑은 고딕"/>
                <a:cs typeface="맑은 고딕"/>
              </a:rPr>
              <a:t>경보 해제</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TS1 &lt; 52 ℃ · 유온 기울기 ≤ 0</a:t>
            </a:r>
          </a:p>
          <a:p>
            <a:pPr algn="l" eaLnBrk="0">
              <a:lnSpc>
                <a:spcPct val="110000"/>
              </a:lnSpc>
              <a:spcAft>
                <a:spcPts val="300"/>
              </a:spcAft>
            </a:pPr>
            <a:r>
              <a:rPr sz="1400" b="0">
                <a:solidFill>
                  <a:srgbClr val="1F2A3A"/>
                </a:solidFill>
                <a:latin typeface="맑은 고딕"/>
                <a:ea typeface="맑은 고딕"/>
                <a:cs typeface="맑은 고딕"/>
              </a:rPr>
              <a:t>해제 조건도 정해진 시간 동안 이어져야 한다.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Rounded Rectangle 11"/>
          <p:cNvSpPr/>
          <p:nvPr/>
        </p:nvSpPr>
        <p:spPr>
          <a:xfrm>
            <a:off x="548640" y="4018788"/>
            <a:ext cx="11094415" cy="1126998"/>
          </a:xfrm>
          <a:prstGeom prst="roundRect">
            <a:avLst>
              <a:gd name="adj" fmla="val 6000"/>
            </a:avLst>
          </a:prstGeom>
          <a:solidFill>
            <a:srgbClr val="E7F3FD"/>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히스테리시스(Hysteresis)</a:t>
            </a:r>
          </a:p>
          <a:p>
            <a:pPr algn="l" eaLnBrk="0">
              <a:lnSpc>
                <a:spcPct val="110000"/>
              </a:lnSpc>
              <a:spcAft>
                <a:spcPts val="200"/>
              </a:spcAft>
            </a:pPr>
            <a:r>
              <a:rPr sz="1150" b="0">
                <a:solidFill>
                  <a:srgbClr val="556175"/>
                </a:solidFill>
                <a:latin typeface="맑은 고딕"/>
                <a:ea typeface="맑은 고딕"/>
                <a:cs typeface="맑은 고딕"/>
              </a:rPr>
              <a:t>기준의 간격</a:t>
            </a:r>
          </a:p>
        </p:txBody>
      </p:sp>
      <p:sp>
        <p:nvSpPr>
          <p:cNvPr id="14" name="TextBox 13"/>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발생과 해제의 기준을 달리해 경계 부근에서 경보가 반복되는 것을 줄인다.</a:t>
            </a:r>
          </a:p>
          <a:p>
            <a:pPr algn="l" eaLnBrk="0">
              <a:lnSpc>
                <a:spcPct val="110000"/>
              </a:lnSpc>
              <a:spcAft>
                <a:spcPts val="300"/>
              </a:spcAft>
            </a:pPr>
            <a:r>
              <a:rPr sz="1400" b="0">
                <a:solidFill>
                  <a:srgbClr val="1F2A3A"/>
                </a:solidFill>
                <a:latin typeface="맑은 고딕"/>
                <a:ea typeface="맑은 고딕"/>
                <a:cs typeface="맑은 고딕"/>
              </a:rPr>
              <a:t>이 경보는 유온 55 ℃와 52 ℃를 다르게 쓴다.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데이터 품질</a:t>
            </a:r>
          </a:p>
          <a:p>
            <a:pPr algn="l" eaLnBrk="0">
              <a:lnSpc>
                <a:spcPct val="110000"/>
              </a:lnSpc>
              <a:spcAft>
                <a:spcPts val="200"/>
              </a:spcAft>
            </a:pPr>
            <a:r>
              <a:rPr sz="1150" b="0">
                <a:solidFill>
                  <a:srgbClr val="556175"/>
                </a:solidFill>
                <a:latin typeface="맑은 고딕"/>
                <a:ea typeface="맑은 고딕"/>
                <a:cs typeface="맑은 고딕"/>
              </a:rPr>
              <a:t>판정의 전제</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품질이 나쁘거나 값이 없으면 진행 중인 유지 시간 판정을 초기화한다.</a:t>
            </a:r>
          </a:p>
          <a:p>
            <a:pPr algn="l" eaLnBrk="0">
              <a:lnSpc>
                <a:spcPct val="110000"/>
              </a:lnSpc>
              <a:spcAft>
                <a:spcPts val="300"/>
              </a:spcAft>
            </a:pPr>
            <a:r>
              <a:rPr sz="1400" b="0">
                <a:solidFill>
                  <a:srgbClr val="1F2A3A"/>
                </a:solidFill>
                <a:latin typeface="맑은 고딕"/>
                <a:ea typeface="맑은 고딕"/>
                <a:cs typeface="맑은 고딕"/>
              </a:rPr>
              <a:t>데이터 누락만으로 이미 발생한 경보를 해제하지 않는다.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이상 이벤트: 경보 한 건의 실제 모습</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이상 이벤트는 이상 조건의 발생·해제 기록이며, 경보에는 식별자와 당시의 근거 값이 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alertId    ALT-hyd01-0014-e0a1</a:t>
            </a:r>
          </a:p>
          <a:p>
            <a:pPr algn="l" eaLnBrk="0">
              <a:lnSpc>
                <a:spcPct val="110000"/>
              </a:lnSpc>
              <a:spcAft>
                <a:spcPts val="200"/>
              </a:spcAft>
            </a:pPr>
            <a:r>
              <a:rPr sz="1300" b="0">
                <a:solidFill>
                  <a:srgbClr val="E8EEF6"/>
                </a:solidFill>
                <a:latin typeface="Consolas"/>
                <a:ea typeface="맑은 고딕"/>
                <a:cs typeface="맑은 고딕"/>
              </a:rPr>
              <a:t>asset      HYD-01</a:t>
            </a:r>
          </a:p>
          <a:p>
            <a:pPr algn="l" eaLnBrk="0">
              <a:lnSpc>
                <a:spcPct val="110000"/>
              </a:lnSpc>
              <a:spcAft>
                <a:spcPts val="200"/>
              </a:spcAft>
            </a:pPr>
            <a:r>
              <a:rPr sz="1300" b="0">
                <a:solidFill>
                  <a:srgbClr val="E8EEF6"/>
                </a:solidFill>
                <a:latin typeface="Consolas"/>
                <a:ea typeface="맑은 고딕"/>
                <a:cs typeface="맑은 고딕"/>
              </a:rPr>
              <a:t>pattern    COOLER_DEGRADATION</a:t>
            </a:r>
          </a:p>
          <a:p>
            <a:pPr algn="l" eaLnBrk="0">
              <a:lnSpc>
                <a:spcPct val="110000"/>
              </a:lnSpc>
              <a:spcAft>
                <a:spcPts val="200"/>
              </a:spcAft>
            </a:pPr>
            <a:r>
              <a:rPr sz="1300" b="0">
                <a:solidFill>
                  <a:srgbClr val="E8EEF6"/>
                </a:solidFill>
                <a:latin typeface="Consolas"/>
                <a:ea typeface="맑은 고딕"/>
                <a:cs typeface="맑은 고딕"/>
              </a:rPr>
              <a:t>severity   HIGH</a:t>
            </a:r>
          </a:p>
          <a:p>
            <a:pPr algn="l" eaLnBrk="0">
              <a:lnSpc>
                <a:spcPct val="110000"/>
              </a:lnSpc>
              <a:spcAft>
                <a:spcPts val="200"/>
              </a:spcAft>
            </a:pPr>
            <a:r>
              <a:rPr sz="1300" b="0">
                <a:solidFill>
                  <a:srgbClr val="E8EEF6"/>
                </a:solidFill>
                <a:latin typeface="Consolas"/>
                <a:ea typeface="맑은 고딕"/>
                <a:cs typeface="맑은 고딕"/>
              </a:rPr>
              <a:t>state      RAISE</a:t>
            </a:r>
          </a:p>
          <a:p>
            <a:pPr algn="l" eaLnBrk="0">
              <a:lnSpc>
                <a:spcPct val="110000"/>
              </a:lnSpc>
              <a:spcAft>
                <a:spcPts val="200"/>
              </a:spcAft>
            </a:pPr>
            <a:r>
              <a:rPr sz="1300" b="0">
                <a:solidFill>
                  <a:srgbClr val="E8EEF6"/>
                </a:solidFill>
                <a:latin typeface="Consolas"/>
                <a:ea typeface="맑은 고딕"/>
                <a:cs typeface="맑은 고딕"/>
              </a:rPr>
              <a:t>t          2026-10-10 11:13:08</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evidence.values  TS1 55.71, CE 46.2</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alertId</a:t>
            </a:r>
          </a:p>
          <a:p>
            <a:pPr algn="l" eaLnBrk="0">
              <a:lnSpc>
                <a:spcPct val="110000"/>
              </a:lnSpc>
              <a:spcAft>
                <a:spcPts val="400"/>
              </a:spcAft>
            </a:pPr>
            <a:r>
              <a:rPr sz="1400" b="0">
                <a:solidFill>
                  <a:srgbClr val="1F2A3A"/>
                </a:solidFill>
                <a:latin typeface="맑은 고딕"/>
                <a:ea typeface="맑은 고딕"/>
                <a:cs typeface="맑은 고딕"/>
              </a:rPr>
              <a:t>이 경보 한 건을 가리키는 식별자이다.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pattern</a:t>
            </a:r>
          </a:p>
          <a:p>
            <a:pPr algn="l" eaLnBrk="0">
              <a:lnSpc>
                <a:spcPct val="110000"/>
              </a:lnSpc>
              <a:spcAft>
                <a:spcPts val="400"/>
              </a:spcAft>
            </a:pPr>
            <a:r>
              <a:rPr sz="1400" b="0">
                <a:solidFill>
                  <a:srgbClr val="1F2A3A"/>
                </a:solidFill>
                <a:latin typeface="맑은 고딕"/>
                <a:ea typeface="맑은 고딕"/>
                <a:cs typeface="맑은 고딕"/>
              </a:rPr>
              <a:t>어떤 조건이 성립했는지를 나타낸다. 쿨러 성능 저하이다.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evidence.values</a:t>
            </a:r>
          </a:p>
          <a:p>
            <a:pPr algn="l" eaLnBrk="0">
              <a:lnSpc>
                <a:spcPct val="110000"/>
              </a:lnSpc>
              <a:spcAft>
                <a:spcPts val="400"/>
              </a:spcAft>
            </a:pPr>
            <a:r>
              <a:rPr sz="1400" b="0">
                <a:solidFill>
                  <a:srgbClr val="1F2A3A"/>
                </a:solidFill>
                <a:latin typeface="맑은 고딕"/>
                <a:ea typeface="맑은 고딕"/>
                <a:cs typeface="맑은 고딕"/>
              </a:rPr>
              <a:t>판정 당시의 근거 값이다. 계측값은 계속 바뀌므로 사용한 값을 경보에 붙여 둔다.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그 밖의 칸</a:t>
            </a:r>
          </a:p>
          <a:p>
            <a:pPr algn="l" eaLnBrk="0">
              <a:lnSpc>
                <a:spcPct val="110000"/>
              </a:lnSpc>
              <a:spcAft>
                <a:spcPts val="400"/>
              </a:spcAft>
            </a:pPr>
            <a:r>
              <a:rPr sz="1400" b="0">
                <a:solidFill>
                  <a:srgbClr val="1F2A3A"/>
                </a:solidFill>
                <a:latin typeface="맑은 고딕"/>
                <a:ea typeface="맑은 고딕"/>
                <a:cs typeface="맑은 고딕"/>
              </a:rPr>
              <a:t>설비, 심각도(severity), 경보 상태(RAISE)와 발생 시각이 함께 적힌다.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Layer 5 · 시계열 저장소: 시각으로 찾는다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시계열 저장소는 과거 값을 시각으로 찾도록, 계측값마다 시각·설비·태그 이름·값을 한 행에 저장한다.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002917"/>
            <a:ext cx="6766560" cy="397687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40077"/>
            <a:ext cx="6400800" cy="370255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표</a:t>
            </a:r>
            <a:r>
              <a:rPr sz="1300" b="0">
                <a:solidFill>
                  <a:srgbClr val="E8EEF6"/>
                </a:solidFill>
                <a:latin typeface="Consolas"/>
                <a:ea typeface="맑은 고딕"/>
                <a:cs typeface="맑은 고딕"/>
              </a:rPr>
              <a:t> tag_1s</a:t>
            </a:r>
          </a:p>
          <a:p>
            <a:pPr algn="l" eaLnBrk="0">
              <a:lnSpc>
                <a:spcPct val="110000"/>
              </a:lnSpc>
              <a:spcAft>
                <a:spcPts val="200"/>
              </a:spcAft>
            </a:pPr>
            <a:r>
              <a:rPr sz="1300" b="0">
                <a:solidFill>
                  <a:srgbClr val="E8EEF6"/>
                </a:solidFill>
                <a:latin typeface="Consolas"/>
                <a:ea typeface="맑은 고딕"/>
                <a:cs typeface="맑은 고딕"/>
              </a:rPr>
              <a:t>time       asset    name   value</a:t>
            </a:r>
          </a:p>
          <a:p>
            <a:pPr algn="l" eaLnBrk="0">
              <a:lnSpc>
                <a:spcPct val="110000"/>
              </a:lnSpc>
              <a:spcAft>
                <a:spcPts val="200"/>
              </a:spcAft>
            </a:pPr>
            <a:r>
              <a:rPr sz="1300" b="0">
                <a:solidFill>
                  <a:srgbClr val="E8EEF6"/>
                </a:solidFill>
                <a:latin typeface="Consolas"/>
                <a:ea typeface="맑은 고딕"/>
                <a:cs typeface="맑은 고딕"/>
              </a:rPr>
              <a:t>11:13:07   HYD-01   TS1    55.56</a:t>
            </a:r>
          </a:p>
          <a:p>
            <a:pPr algn="l" eaLnBrk="0">
              <a:lnSpc>
                <a:spcPct val="110000"/>
              </a:lnSpc>
              <a:spcAft>
                <a:spcPts val="200"/>
              </a:spcAft>
            </a:pPr>
            <a:r>
              <a:rPr sz="1300" b="0">
                <a:solidFill>
                  <a:srgbClr val="E8EEF6"/>
                </a:solidFill>
                <a:latin typeface="Consolas"/>
                <a:ea typeface="맑은 고딕"/>
                <a:cs typeface="맑은 고딕"/>
              </a:rPr>
              <a:t>11:13:07   HYD-01   CE     46.2</a:t>
            </a:r>
          </a:p>
          <a:p>
            <a:pPr algn="l" eaLnBrk="0">
              <a:lnSpc>
                <a:spcPct val="110000"/>
              </a:lnSpc>
              <a:spcAft>
                <a:spcPts val="200"/>
              </a:spcAft>
            </a:pPr>
            <a:r>
              <a:rPr sz="1300" b="0">
                <a:solidFill>
                  <a:srgbClr val="E8EEF6"/>
                </a:solidFill>
                <a:latin typeface="Consolas"/>
                <a:ea typeface="맑은 고딕"/>
                <a:cs typeface="맑은 고딕"/>
              </a:rPr>
              <a:t>11:13:08   HYD-01   TS1    55.71</a:t>
            </a:r>
          </a:p>
          <a:p>
            <a:pPr algn="l" eaLnBrk="0">
              <a:lnSpc>
                <a:spcPct val="110000"/>
              </a:lnSpc>
              <a:spcAft>
                <a:spcPts val="200"/>
              </a:spcAft>
            </a:pPr>
            <a:r>
              <a:rPr sz="1300" b="0">
                <a:solidFill>
                  <a:srgbClr val="E8EEF6"/>
                </a:solidFill>
                <a:latin typeface="Consolas"/>
                <a:ea typeface="맑은 고딕"/>
                <a:cs typeface="맑은 고딕"/>
              </a:rPr>
              <a:t>11:13:08   HYD-01   CE     46.2</a:t>
            </a:r>
          </a:p>
          <a:p>
            <a:pPr algn="l" eaLnBrk="0">
              <a:lnSpc>
                <a:spcPct val="110000"/>
              </a:lnSpc>
              <a:spcAft>
                <a:spcPts val="200"/>
              </a:spcAft>
            </a:pPr>
            <a:r>
              <a:rPr sz="1300" b="0">
                <a:solidFill>
                  <a:srgbClr val="E8EEF6"/>
                </a:solidFill>
                <a:latin typeface="Consolas"/>
                <a:ea typeface="맑은 고딕"/>
                <a:cs typeface="맑은 고딕"/>
              </a:rPr>
              <a:t>11:13:09   HYD-01   TS1    55.86</a:t>
            </a:r>
          </a:p>
        </p:txBody>
      </p:sp>
      <p:sp>
        <p:nvSpPr>
          <p:cNvPr id="8" name="TextBox 7"/>
          <p:cNvSpPr txBox="1"/>
          <p:nvPr/>
        </p:nvSpPr>
        <p:spPr>
          <a:xfrm>
            <a:off x="7635240" y="2002917"/>
            <a:ext cx="4007815" cy="1325626"/>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한 행</a:t>
            </a:r>
          </a:p>
          <a:p>
            <a:pPr algn="l" eaLnBrk="0">
              <a:lnSpc>
                <a:spcPct val="110000"/>
              </a:lnSpc>
              <a:spcAft>
                <a:spcPts val="400"/>
              </a:spcAft>
            </a:pPr>
            <a:r>
              <a:rPr sz="1400" b="0">
                <a:solidFill>
                  <a:srgbClr val="1F2A3A"/>
                </a:solidFill>
                <a:latin typeface="맑은 고딕"/>
                <a:ea typeface="맑은 고딕"/>
                <a:cs typeface="맑은 고딕"/>
              </a:rPr>
              <a:t>계측값 하나가 (시각, 설비, 태그, 값) 한 행이다. 태그가 늘어도 열이 아니라 행만 늘어난다.</a:t>
            </a:r>
          </a:p>
        </p:txBody>
      </p:sp>
      <p:sp>
        <p:nvSpPr>
          <p:cNvPr id="9" name="TextBox 8"/>
          <p:cNvSpPr txBox="1"/>
          <p:nvPr/>
        </p:nvSpPr>
        <p:spPr>
          <a:xfrm>
            <a:off x="7635240" y="3328543"/>
            <a:ext cx="4007815" cy="1325626"/>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55.71</a:t>
            </a:r>
          </a:p>
          <a:p>
            <a:pPr algn="l" eaLnBrk="0">
              <a:lnSpc>
                <a:spcPct val="110000"/>
              </a:lnSpc>
              <a:spcAft>
                <a:spcPts val="400"/>
              </a:spcAft>
            </a:pPr>
            <a:r>
              <a:rPr sz="1350" b="0">
                <a:solidFill>
                  <a:srgbClr val="1F2A3A"/>
                </a:solidFill>
                <a:latin typeface="맑은 고딕"/>
                <a:ea typeface="맑은 고딕"/>
                <a:cs typeface="맑은 고딕"/>
              </a:rPr>
              <a:t>11:13:08의 유온이다. 경보가 난 순간의 값이다.</a:t>
            </a:r>
          </a:p>
        </p:txBody>
      </p:sp>
      <p:sp>
        <p:nvSpPr>
          <p:cNvPr id="10" name="TextBox 9"/>
          <p:cNvSpPr txBox="1"/>
          <p:nvPr/>
        </p:nvSpPr>
        <p:spPr>
          <a:xfrm>
            <a:off x="7635240" y="4654169"/>
            <a:ext cx="4007815" cy="1325626"/>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시계열 저장소</a:t>
            </a:r>
          </a:p>
          <a:p>
            <a:pPr algn="l" eaLnBrk="0">
              <a:lnSpc>
                <a:spcPct val="110000"/>
              </a:lnSpc>
              <a:spcAft>
                <a:spcPts val="400"/>
              </a:spcAft>
            </a:pPr>
            <a:r>
              <a:rPr sz="1400" b="0">
                <a:solidFill>
                  <a:srgbClr val="1F2A3A"/>
                </a:solidFill>
                <a:latin typeface="맑은 고딕"/>
                <a:ea typeface="맑은 고딕"/>
                <a:cs typeface="맑은 고딕"/>
              </a:rPr>
              <a:t>시각을 기준으로 데이터를 쌓고 시간 범위로 조회하는 시계열 데이터베이스(TSDB, Time Series Database)이다. 이 역할에는 TimescaleDB 같은 것이 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Layer 6 · 운전 화면과 분석 화면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운전 화면은 IT 서버가 멈춰도 OT에서 동작하고, 분석 화면은 IT에서 이력을 읽기 전용으로 보여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adjustments-horizontal" descr="adjustments-horizontal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운전 화면</a:t>
            </a:r>
          </a:p>
        </p:txBody>
      </p:sp>
      <p:sp>
        <p:nvSpPr>
          <p:cNvPr id="10" name="TextBox 9"/>
          <p:cNvSpPr txBox="1"/>
          <p:nvPr/>
        </p:nvSpPr>
        <p:spPr>
          <a:xfrm>
            <a:off x="822959" y="3029775"/>
            <a:ext cx="4632807" cy="2426081"/>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SCADA에서 사람이 보고 조작하는 HMI(Human-Machine Interface)에 해당한다</a:t>
            </a:r>
          </a:p>
          <a:p>
            <a:pPr algn="l" eaLnBrk="0" marL="165735" indent="-165735">
              <a:lnSpc>
                <a:spcPct val="110000"/>
              </a:lnSpc>
              <a:spcAft>
                <a:spcPts val="600"/>
              </a:spcAft>
            </a:pPr>
            <a:r>
              <a:rPr sz="1450" b="0">
                <a:solidFill>
                  <a:srgbClr val="1F2A3A"/>
                </a:solidFill>
                <a:latin typeface="맑은 고딕"/>
                <a:ea typeface="맑은 고딕"/>
                <a:cs typeface="맑은 고딕"/>
              </a:rPr>
              <a:t>• OT에서 브로커를 직접 구독해 실시간 값과 알람을 보여 준다</a:t>
            </a:r>
          </a:p>
          <a:p>
            <a:pPr algn="l" eaLnBrk="0" marL="165735" indent="-165735">
              <a:lnSpc>
                <a:spcPct val="110000"/>
              </a:lnSpc>
              <a:spcAft>
                <a:spcPts val="600"/>
              </a:spcAft>
            </a:pPr>
            <a:r>
              <a:rPr sz="1450" b="0">
                <a:solidFill>
                  <a:srgbClr val="1F2A3A"/>
                </a:solidFill>
                <a:latin typeface="맑은 고딕"/>
                <a:ea typeface="맑은 고딕"/>
                <a:cs typeface="맑은 고딕"/>
              </a:rPr>
              <a:t>• 운전원이 팬 속도와 펌프 부하의 설정값을 바꾼다</a:t>
            </a:r>
          </a:p>
          <a:p>
            <a:pPr algn="l" eaLnBrk="0" marL="165735" indent="-165735">
              <a:lnSpc>
                <a:spcPct val="110000"/>
              </a:lnSpc>
              <a:spcAft>
                <a:spcPts val="600"/>
              </a:spcAft>
            </a:pPr>
            <a:r>
              <a:rPr sz="1450" b="0">
                <a:solidFill>
                  <a:srgbClr val="1F2A3A"/>
                </a:solidFill>
                <a:latin typeface="맑은 고딕"/>
                <a:ea typeface="맑은 고딕"/>
                <a:cs typeface="맑은 고딕"/>
              </a:rPr>
              <a:t>• IT 쪽 서버가 멈춰도 계속 동작한다</a:t>
            </a:r>
          </a:p>
          <a:p>
            <a:pPr algn="l" eaLnBrk="0" marL="165735" indent="-165735">
              <a:lnSpc>
                <a:spcPct val="110000"/>
              </a:lnSpc>
              <a:spcAft>
                <a:spcPts val="600"/>
              </a:spcAft>
            </a:pPr>
            <a:r>
              <a:rPr sz="1450" b="0">
                <a:solidFill>
                  <a:srgbClr val="1F2A3A"/>
                </a:solidFill>
                <a:latin typeface="맑은 고딕"/>
                <a:ea typeface="맑은 고딕"/>
                <a:cs typeface="맑은 고딕"/>
              </a:rPr>
              <a:t>• 예: FUXA</a:t>
            </a:r>
          </a:p>
        </p:txBody>
      </p:sp>
      <p:sp>
        <p:nvSpPr>
          <p:cNvPr id="11" name="Rounded Rectangle 10"/>
          <p:cNvSpPr/>
          <p:nvPr/>
        </p:nvSpPr>
        <p:spPr>
          <a:xfrm>
            <a:off x="868680" y="5547296"/>
            <a:ext cx="207263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207263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운전 · 실시간 값과 조작</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chart-line" descr="chart-line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분석 화면</a:t>
            </a:r>
          </a:p>
        </p:txBody>
      </p:sp>
      <p:sp>
        <p:nvSpPr>
          <p:cNvPr id="17" name="TextBox 16"/>
          <p:cNvSpPr txBox="1"/>
          <p:nvPr/>
        </p:nvSpPr>
        <p:spPr>
          <a:xfrm>
            <a:off x="6735927" y="3029775"/>
            <a:ext cx="4632807" cy="2426081"/>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이력 데이터를 그래프로 보여 주는 대시보드이다</a:t>
            </a:r>
          </a:p>
          <a:p>
            <a:pPr algn="l" eaLnBrk="0" marL="165735" indent="-165735">
              <a:lnSpc>
                <a:spcPct val="110000"/>
              </a:lnSpc>
              <a:spcAft>
                <a:spcPts val="600"/>
              </a:spcAft>
            </a:pPr>
            <a:r>
              <a:rPr sz="1450" b="0">
                <a:solidFill>
                  <a:srgbClr val="1F2A3A"/>
                </a:solidFill>
                <a:latin typeface="맑은 고딕"/>
                <a:ea typeface="맑은 고딕"/>
                <a:cs typeface="맑은 고딕"/>
              </a:rPr>
              <a:t>• IT에서 시계열 저장소를 조회해 이력과 추세를 보여 준다</a:t>
            </a:r>
          </a:p>
          <a:p>
            <a:pPr algn="l" eaLnBrk="0" marL="165735" indent="-165735">
              <a:lnSpc>
                <a:spcPct val="110000"/>
              </a:lnSpc>
              <a:spcAft>
                <a:spcPts val="600"/>
              </a:spcAft>
            </a:pPr>
            <a:r>
              <a:rPr sz="1450" b="0">
                <a:solidFill>
                  <a:srgbClr val="1F2A3A"/>
                </a:solidFill>
                <a:latin typeface="맑은 고딕"/>
                <a:ea typeface="맑은 고딕"/>
                <a:cs typeface="맑은 고딕"/>
              </a:rPr>
              <a:t>• 읽기 전용이며 설비를 조작하지 않는다</a:t>
            </a:r>
          </a:p>
          <a:p>
            <a:pPr algn="l" eaLnBrk="0" marL="165735" indent="-165735">
              <a:lnSpc>
                <a:spcPct val="110000"/>
              </a:lnSpc>
              <a:spcAft>
                <a:spcPts val="600"/>
              </a:spcAft>
            </a:pPr>
            <a:r>
              <a:rPr sz="1450" b="0">
                <a:solidFill>
                  <a:srgbClr val="1F2A3A"/>
                </a:solidFill>
                <a:latin typeface="맑은 고딕"/>
                <a:ea typeface="맑은 고딕"/>
                <a:cs typeface="맑은 고딕"/>
              </a:rPr>
              <a:t>• 추세선 위에 경보와 조치 시점을 주석으로 표시한다</a:t>
            </a:r>
          </a:p>
          <a:p>
            <a:pPr algn="l" eaLnBrk="0" marL="165735" indent="-165735">
              <a:lnSpc>
                <a:spcPct val="110000"/>
              </a:lnSpc>
              <a:spcAft>
                <a:spcPts val="600"/>
              </a:spcAft>
            </a:pPr>
            <a:r>
              <a:rPr sz="1450" b="0">
                <a:solidFill>
                  <a:srgbClr val="1F2A3A"/>
                </a:solidFill>
                <a:latin typeface="맑은 고딕"/>
                <a:ea typeface="맑은 고딕"/>
                <a:cs typeface="맑은 고딕"/>
              </a:rPr>
              <a:t>• 예: Grafana</a:t>
            </a:r>
          </a:p>
        </p:txBody>
      </p:sp>
      <p:sp>
        <p:nvSpPr>
          <p:cNvPr id="18" name="Rounded Rectangle 17"/>
          <p:cNvSpPr/>
          <p:nvPr/>
        </p:nvSpPr>
        <p:spPr>
          <a:xfrm>
            <a:off x="6781647" y="5547296"/>
            <a:ext cx="172212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분석 · 이력과 추세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경보·알람·인터록의 기준과 역할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경보는 사람이 리셋해야 풀리는 유온 65 ℃ 초과 인터록보다 먼저 울려, 조치할 시간을 벌어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260028"/>
            <a:ext cx="3442106" cy="346265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7" name="Oval 6"/>
          <p:cNvSpPr/>
          <p:nvPr/>
        </p:nvSpPr>
        <p:spPr>
          <a:xfrm>
            <a:off x="1903933" y="2442908"/>
            <a:ext cx="731520" cy="731520"/>
          </a:xfrm>
          <a:prstGeom prst="ellipse">
            <a:avLst/>
          </a:prstGeom>
          <a:solidFill>
            <a:srgbClr val="5CB8F2"/>
          </a:solidFill>
          <a:ln>
            <a:noFill/>
          </a:ln>
        </p:spPr>
        <p:txBody>
          <a:bodyPr rtlCol="0" anchor="ctr"/>
          <a:lstStyle/>
          <a:p>
            <a:pPr algn="ctr"/>
          </a:p>
        </p:txBody>
      </p:sp>
      <p:pic>
        <p:nvPicPr>
          <p:cNvPr id="8" name="아이콘:radar" descr="radar_13294B_1.6.png"/>
          <p:cNvPicPr>
            <a:picLocks noChangeAspect="1"/>
          </p:cNvPicPr>
          <p:nvPr/>
        </p:nvPicPr>
        <p:blipFill>
          <a:blip r:embed="rId3"/>
          <a:stretch>
            <a:fillRect/>
          </a:stretch>
        </p:blipFill>
        <p:spPr>
          <a:xfrm>
            <a:off x="2057552" y="2596527"/>
            <a:ext cx="424281" cy="424281"/>
          </a:xfrm>
          <a:prstGeom prst="rect">
            <a:avLst/>
          </a:prstGeom>
        </p:spPr>
      </p:pic>
      <p:sp>
        <p:nvSpPr>
          <p:cNvPr id="9" name="TextBox 8"/>
          <p:cNvSpPr txBox="1"/>
          <p:nvPr/>
        </p:nvSpPr>
        <p:spPr>
          <a:xfrm>
            <a:off x="621792" y="3247580"/>
            <a:ext cx="3295802" cy="240195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경보 · 55 ℃</a:t>
            </a:r>
          </a:p>
          <a:p>
            <a:pPr algn="ctr" eaLnBrk="0">
              <a:lnSpc>
                <a:spcPct val="110000"/>
              </a:lnSpc>
              <a:spcAft>
                <a:spcPts val="400"/>
              </a:spcAft>
            </a:pPr>
            <a:r>
              <a:rPr sz="1650" b="0">
                <a:solidFill>
                  <a:srgbClr val="1F2A3A"/>
                </a:solidFill>
                <a:latin typeface="맑은 고딕"/>
                <a:ea typeface="맑은 고딕"/>
                <a:cs typeface="맑은 고딕"/>
              </a:rPr>
              <a:t>감지 서비스의 경보</a:t>
            </a:r>
          </a:p>
          <a:p>
            <a:pPr algn="ctr" eaLnBrk="0">
              <a:lnSpc>
                <a:spcPct val="110000"/>
              </a:lnSpc>
              <a:spcAft>
                <a:spcPts val="400"/>
              </a:spcAft>
            </a:pPr>
            <a:r>
              <a:rPr sz="1650" b="0">
                <a:solidFill>
                  <a:srgbClr val="1F2A3A"/>
                </a:solidFill>
                <a:latin typeface="맑은 고딕"/>
                <a:ea typeface="맑은 고딕"/>
                <a:cs typeface="맑은 고딕"/>
              </a:rPr>
              <a:t>여러 값과 추세를 함께 보는 복합 조건</a:t>
            </a:r>
          </a:p>
          <a:p>
            <a:pPr algn="ctr" eaLnBrk="0">
              <a:lnSpc>
                <a:spcPct val="110000"/>
              </a:lnSpc>
              <a:spcAft>
                <a:spcPts val="400"/>
              </a:spcAft>
            </a:pPr>
            <a:r>
              <a:rPr sz="1650" b="0">
                <a:solidFill>
                  <a:srgbClr val="1F2A3A"/>
                </a:solidFill>
                <a:latin typeface="맑은 고딕"/>
                <a:ea typeface="맑은 고딕"/>
                <a:cs typeface="맑은 고딕"/>
              </a:rPr>
              <a:t>원인 진단과 조치의 흐름을 시작한다</a:t>
            </a:r>
          </a:p>
        </p:txBody>
      </p:sp>
      <p:sp>
        <p:nvSpPr>
          <p:cNvPr id="10" name="Right Arrow 9"/>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4374794" y="2260028"/>
            <a:ext cx="3442106" cy="346265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5730087" y="2442908"/>
            <a:ext cx="731520" cy="731520"/>
          </a:xfrm>
          <a:prstGeom prst="ellipse">
            <a:avLst/>
          </a:prstGeom>
          <a:solidFill>
            <a:srgbClr val="FFFFFF"/>
          </a:solidFill>
          <a:ln>
            <a:noFill/>
          </a:ln>
        </p:spPr>
        <p:txBody>
          <a:bodyPr rtlCol="0" anchor="ctr"/>
          <a:lstStyle/>
          <a:p>
            <a:pPr algn="ctr"/>
          </a:p>
        </p:txBody>
      </p:sp>
      <p:pic>
        <p:nvPicPr>
          <p:cNvPr id="13" name="아이콘:bell" descr="bell_13294B_1.6.png"/>
          <p:cNvPicPr>
            <a:picLocks noChangeAspect="1"/>
          </p:cNvPicPr>
          <p:nvPr/>
        </p:nvPicPr>
        <p:blipFill>
          <a:blip r:embed="rId4"/>
          <a:stretch>
            <a:fillRect/>
          </a:stretch>
        </p:blipFill>
        <p:spPr>
          <a:xfrm>
            <a:off x="5883706" y="2596527"/>
            <a:ext cx="424281" cy="424281"/>
          </a:xfrm>
          <a:prstGeom prst="rect">
            <a:avLst/>
          </a:prstGeom>
        </p:spPr>
      </p:pic>
      <p:sp>
        <p:nvSpPr>
          <p:cNvPr id="14" name="TextBox 13"/>
          <p:cNvSpPr txBox="1"/>
          <p:nvPr/>
        </p:nvSpPr>
        <p:spPr>
          <a:xfrm>
            <a:off x="4447946" y="3247580"/>
            <a:ext cx="3295802" cy="240195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알람 · 60 ℃</a:t>
            </a:r>
          </a:p>
          <a:p>
            <a:pPr algn="ctr" eaLnBrk="0">
              <a:lnSpc>
                <a:spcPct val="110000"/>
              </a:lnSpc>
              <a:spcAft>
                <a:spcPts val="400"/>
              </a:spcAft>
            </a:pPr>
            <a:r>
              <a:rPr sz="1650" b="0">
                <a:solidFill>
                  <a:srgbClr val="1F2A3A"/>
                </a:solidFill>
                <a:latin typeface="맑은 고딕"/>
                <a:ea typeface="맑은 고딕"/>
                <a:cs typeface="맑은 고딕"/>
              </a:rPr>
              <a:t>운전 화면의 알람</a:t>
            </a:r>
          </a:p>
          <a:p>
            <a:pPr algn="ctr" eaLnBrk="0">
              <a:lnSpc>
                <a:spcPct val="110000"/>
              </a:lnSpc>
              <a:spcAft>
                <a:spcPts val="400"/>
              </a:spcAft>
            </a:pPr>
            <a:r>
              <a:rPr sz="1650" b="0">
                <a:solidFill>
                  <a:srgbClr val="1F2A3A"/>
                </a:solidFill>
                <a:latin typeface="맑은 고딕"/>
                <a:ea typeface="맑은 고딕"/>
                <a:cs typeface="맑은 고딕"/>
              </a:rPr>
              <a:t>값 하나의 단일 임계치(Threshold)</a:t>
            </a:r>
          </a:p>
          <a:p>
            <a:pPr algn="ctr" eaLnBrk="0">
              <a:lnSpc>
                <a:spcPct val="110000"/>
              </a:lnSpc>
              <a:spcAft>
                <a:spcPts val="400"/>
              </a:spcAft>
            </a:pPr>
            <a:r>
              <a:rPr sz="1650" b="0">
                <a:solidFill>
                  <a:srgbClr val="1F2A3A"/>
                </a:solidFill>
                <a:latin typeface="맑은 고딕"/>
                <a:ea typeface="맑은 고딕"/>
                <a:cs typeface="맑은 고딕"/>
              </a:rPr>
              <a:t>운전원에게 현재 상태를 알린다</a:t>
            </a:r>
          </a:p>
        </p:txBody>
      </p:sp>
      <p:sp>
        <p:nvSpPr>
          <p:cNvPr id="15" name="Right Arrow 14"/>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8200948" y="2260028"/>
            <a:ext cx="3442106" cy="346265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9556242" y="2442908"/>
            <a:ext cx="731520" cy="731520"/>
          </a:xfrm>
          <a:prstGeom prst="ellipse">
            <a:avLst/>
          </a:prstGeom>
          <a:solidFill>
            <a:srgbClr val="FFFFFF"/>
          </a:solidFill>
          <a:ln>
            <a:noFill/>
          </a:ln>
        </p:spPr>
        <p:txBody>
          <a:bodyPr rtlCol="0" anchor="ctr"/>
          <a:lstStyle/>
          <a:p>
            <a:pPr algn="ctr"/>
          </a:p>
        </p:txBody>
      </p:sp>
      <p:pic>
        <p:nvPicPr>
          <p:cNvPr id="18" name="아이콘:shield-check" descr="shield-check_13294B_1.6.png"/>
          <p:cNvPicPr>
            <a:picLocks noChangeAspect="1"/>
          </p:cNvPicPr>
          <p:nvPr/>
        </p:nvPicPr>
        <p:blipFill>
          <a:blip r:embed="rId5"/>
          <a:stretch>
            <a:fillRect/>
          </a:stretch>
        </p:blipFill>
        <p:spPr>
          <a:xfrm>
            <a:off x="9709861" y="2596527"/>
            <a:ext cx="424281" cy="424281"/>
          </a:xfrm>
          <a:prstGeom prst="rect">
            <a:avLst/>
          </a:prstGeom>
        </p:spPr>
      </p:pic>
      <p:sp>
        <p:nvSpPr>
          <p:cNvPr id="19" name="TextBox 18"/>
          <p:cNvSpPr txBox="1"/>
          <p:nvPr/>
        </p:nvSpPr>
        <p:spPr>
          <a:xfrm>
            <a:off x="8274100" y="3247580"/>
            <a:ext cx="3295802" cy="240195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인터록 · 65 ℃</a:t>
            </a:r>
          </a:p>
          <a:p>
            <a:pPr algn="ctr" eaLnBrk="0">
              <a:lnSpc>
                <a:spcPct val="110000"/>
              </a:lnSpc>
              <a:spcAft>
                <a:spcPts val="400"/>
              </a:spcAft>
            </a:pPr>
            <a:r>
              <a:rPr sz="1650" b="0">
                <a:solidFill>
                  <a:srgbClr val="1F2A3A"/>
                </a:solidFill>
                <a:latin typeface="맑은 고딕"/>
                <a:ea typeface="맑은 고딕"/>
                <a:cs typeface="맑은 고딕"/>
              </a:rPr>
              <a:t>PLC의 인터록</a:t>
            </a:r>
          </a:p>
          <a:p>
            <a:pPr algn="ctr" eaLnBrk="0">
              <a:lnSpc>
                <a:spcPct val="110000"/>
              </a:lnSpc>
              <a:spcAft>
                <a:spcPts val="400"/>
              </a:spcAft>
            </a:pPr>
            <a:r>
              <a:rPr sz="1650" b="0">
                <a:solidFill>
                  <a:srgbClr val="1F2A3A"/>
                </a:solidFill>
                <a:latin typeface="맑은 고딕"/>
                <a:ea typeface="맑은 고딕"/>
                <a:cs typeface="맑은 고딕"/>
              </a:rPr>
              <a:t>설비를 트립시킨다</a:t>
            </a:r>
          </a:p>
          <a:p>
            <a:pPr algn="ctr" eaLnBrk="0">
              <a:lnSpc>
                <a:spcPct val="110000"/>
              </a:lnSpc>
              <a:spcAft>
                <a:spcPts val="400"/>
              </a:spcAft>
            </a:pPr>
            <a:r>
              <a:rPr sz="1650" b="0">
                <a:solidFill>
                  <a:srgbClr val="1F2A3A"/>
                </a:solidFill>
                <a:latin typeface="맑은 고딕"/>
                <a:ea typeface="맑은 고딕"/>
                <a:cs typeface="맑은 고딕"/>
              </a:rPr>
              <a:t>자동 복귀하지 않으며, 유온이 55 ℃ 아래로</a:t>
            </a:r>
          </a:p>
          <a:p>
            <a:pPr algn="ctr" eaLnBrk="0">
              <a:lnSpc>
                <a:spcPct val="110000"/>
              </a:lnSpc>
              <a:spcAft>
                <a:spcPts val="400"/>
              </a:spcAft>
            </a:pPr>
            <a:r>
              <a:rPr sz="1650" b="0">
                <a:solidFill>
                  <a:srgbClr val="1F2A3A"/>
                </a:solidFill>
                <a:latin typeface="맑은 고딕"/>
                <a:ea typeface="맑은 고딕"/>
                <a:cs typeface="맑은 고딕"/>
              </a:rPr>
              <a:t>내려온 뒤 사람이 리셋한다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Layer 7~9 · 지식·추천·승인·실행</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지식과 데이터를 조회한 에이전트는 조치를 추천하며, 사람이 승인한 조치만 프로세스 엔진이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34</a:t>
            </a:r>
          </a:p>
        </p:txBody>
      </p:sp>
      <p:sp>
        <p:nvSpPr>
          <p:cNvPr id="6" name="TextBox 5"/>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Layer 7 · 온톨로지·원인분석</a:t>
            </a:r>
          </a:p>
          <a:p>
            <a:pPr algn="l" eaLnBrk="0">
              <a:lnSpc>
                <a:spcPct val="110000"/>
              </a:lnSpc>
              <a:spcAft>
                <a:spcPts val="200"/>
              </a:spcAft>
            </a:pPr>
            <a:r>
              <a:rPr sz="1150" b="0">
                <a:solidFill>
                  <a:srgbClr val="556175"/>
                </a:solidFill>
                <a:latin typeface="맑은 고딕"/>
                <a:ea typeface="맑은 고딕"/>
                <a:cs typeface="맑은 고딕"/>
              </a:rPr>
              <a:t>판단의 근거</a:t>
            </a:r>
          </a:p>
        </p:txBody>
      </p:sp>
      <p:sp>
        <p:nvSpPr>
          <p:cNvPr id="7" name="TextBox 6"/>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증상·원인·조치의 관계와 판별 기준을 지식으로 보관한다.</a:t>
            </a:r>
          </a:p>
          <a:p>
            <a:pPr algn="l" eaLnBrk="0">
              <a:lnSpc>
                <a:spcPct val="110000"/>
              </a:lnSpc>
              <a:spcAft>
                <a:spcPts val="300"/>
              </a:spcAft>
            </a:pPr>
            <a:r>
              <a:rPr sz="1400" b="0">
                <a:solidFill>
                  <a:srgbClr val="1F2A3A"/>
                </a:solidFill>
                <a:latin typeface="맑은 고딕"/>
                <a:ea typeface="맑은 고딕"/>
                <a:cs typeface="맑은 고딕"/>
              </a:rPr>
              <a:t>쿨러 성능 저하 → 원인 후보와 증거</a:t>
            </a:r>
          </a:p>
          <a:p>
            <a:pPr algn="l" eaLnBrk="0">
              <a:lnSpc>
                <a:spcPct val="110000"/>
              </a:lnSpc>
              <a:spcAft>
                <a:spcPts val="300"/>
              </a:spcAft>
            </a:pPr>
            <a:r>
              <a:rPr sz="1400" b="0">
                <a:solidFill>
                  <a:srgbClr val="1F2A3A"/>
                </a:solidFill>
                <a:latin typeface="맑은 고딕"/>
                <a:ea typeface="맑은 고딕"/>
                <a:cs typeface="맑은 고딕"/>
              </a:rPr>
              <a:t>이 역할에는 Neo4j 같은 그래프 DB가 있다.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Layer 8 · AI 에이전트</a:t>
            </a:r>
          </a:p>
          <a:p>
            <a:pPr algn="l" eaLnBrk="0">
              <a:lnSpc>
                <a:spcPct val="110000"/>
              </a:lnSpc>
              <a:spcAft>
                <a:spcPts val="200"/>
              </a:spcAft>
            </a:pPr>
            <a:r>
              <a:rPr sz="1150" b="0">
                <a:solidFill>
                  <a:srgbClr val="556175"/>
                </a:solidFill>
                <a:latin typeface="맑은 고딕"/>
                <a:ea typeface="맑은 고딕"/>
                <a:cs typeface="맑은 고딕"/>
              </a:rPr>
              <a:t>진단과 추천</a:t>
            </a:r>
          </a:p>
        </p:txBody>
      </p:sp>
      <p:sp>
        <p:nvSpPr>
          <p:cNvPr id="10" name="TextBox 9"/>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지식과 데이터를 조회해 원인을 진단하고 조치안을 추천한다.</a:t>
            </a:r>
          </a:p>
          <a:p>
            <a:pPr algn="l" eaLnBrk="0">
              <a:lnSpc>
                <a:spcPct val="110000"/>
              </a:lnSpc>
              <a:spcAft>
                <a:spcPts val="300"/>
              </a:spcAft>
            </a:pPr>
            <a:r>
              <a:rPr sz="1400" b="0">
                <a:solidFill>
                  <a:srgbClr val="1F2A3A"/>
                </a:solidFill>
                <a:latin typeface="맑은 고딕"/>
                <a:ea typeface="맑은 고딕"/>
                <a:cs typeface="맑은 고딕"/>
              </a:rPr>
              <a:t>쿨러 핀 오염 진단 → 팬 최대 운전 추천</a:t>
            </a:r>
          </a:p>
          <a:p>
            <a:pPr algn="l" eaLnBrk="0">
              <a:lnSpc>
                <a:spcPct val="110000"/>
              </a:lnSpc>
              <a:spcAft>
                <a:spcPts val="300"/>
              </a:spcAft>
            </a:pPr>
            <a:r>
              <a:rPr sz="1400" b="0">
                <a:solidFill>
                  <a:srgbClr val="1F2A3A"/>
                </a:solidFill>
                <a:latin typeface="맑은 고딕"/>
                <a:ea typeface="맑은 고딕"/>
                <a:cs typeface="맑은 고딕"/>
              </a:rPr>
              <a:t>설비 명령을 보낼 권한과 수단은 없다.</a:t>
            </a:r>
          </a:p>
        </p:txBody>
      </p:sp>
      <p:sp>
        <p:nvSpPr>
          <p:cNvPr id="11" name="Rectangle 10"/>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2" name="Rounded Rectangle 11"/>
          <p:cNvSpPr/>
          <p:nvPr/>
        </p:nvSpPr>
        <p:spPr>
          <a:xfrm>
            <a:off x="548640" y="4704588"/>
            <a:ext cx="11094415" cy="1316736"/>
          </a:xfrm>
          <a:prstGeom prst="roundRect">
            <a:avLst>
              <a:gd name="adj" fmla="val 6000"/>
            </a:avLst>
          </a:prstGeom>
          <a:solidFill>
            <a:srgbClr val="E7F3FD"/>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Layer 9 · 승인과 프로세스</a:t>
            </a:r>
          </a:p>
          <a:p>
            <a:pPr algn="l" eaLnBrk="0">
              <a:lnSpc>
                <a:spcPct val="110000"/>
              </a:lnSpc>
              <a:spcAft>
                <a:spcPts val="200"/>
              </a:spcAft>
            </a:pPr>
            <a:r>
              <a:rPr sz="1150" b="0">
                <a:solidFill>
                  <a:srgbClr val="556175"/>
                </a:solidFill>
                <a:latin typeface="맑은 고딕"/>
                <a:ea typeface="맑은 고딕"/>
                <a:cs typeface="맑은 고딕"/>
              </a:rPr>
              <a:t>승인과 실행</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HITL(Human-in-the-Loop): 사람의 판단을 거쳐 실행하는 구조이다.</a:t>
            </a:r>
          </a:p>
          <a:p>
            <a:pPr algn="l" eaLnBrk="0">
              <a:lnSpc>
                <a:spcPct val="110000"/>
              </a:lnSpc>
              <a:spcAft>
                <a:spcPts val="300"/>
              </a:spcAft>
            </a:pPr>
            <a:r>
              <a:rPr sz="1400" b="0">
                <a:solidFill>
                  <a:srgbClr val="1F2A3A"/>
                </a:solidFill>
                <a:latin typeface="맑은 고딕"/>
                <a:ea typeface="맑은 고딕"/>
                <a:cs typeface="맑은 고딕"/>
              </a:rPr>
              <a:t>담당자가 추천과 근거를 보고 승인하거나 거절한다.</a:t>
            </a:r>
          </a:p>
          <a:p>
            <a:pPr algn="l" eaLnBrk="0">
              <a:lnSpc>
                <a:spcPct val="110000"/>
              </a:lnSpc>
              <a:spcAft>
                <a:spcPts val="300"/>
              </a:spcAft>
            </a:pPr>
            <a:r>
              <a:rPr sz="1400" b="0">
                <a:solidFill>
                  <a:srgbClr val="1F2A3A"/>
                </a:solidFill>
                <a:latin typeface="맑은 고딕"/>
                <a:ea typeface="맑은 고딕"/>
                <a:cs typeface="맑은 고딕"/>
              </a:rPr>
              <a:t>프로세스 엔진은 승인된 조치를 명령으로 만들고 결과를 확인한다.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승인된 명령이 PLC에 닿는 경로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승인된 명령은 명령 관문과 PLC의 검사를 모두 거치는 </a:t>
            </a:r>
            <a:r>
              <a:rPr sz="1600" b="1">
                <a:solidFill>
                  <a:srgbClr val="1A6FC4"/>
                </a:solidFill>
                <a:latin typeface="맑은 고딕"/>
                <a:ea typeface="맑은 고딕"/>
                <a:cs typeface="맑은 고딕"/>
              </a:rPr>
              <a:t>심층 방어</a:t>
            </a:r>
            <a:r>
              <a:rPr sz="1600" b="0">
                <a:solidFill>
                  <a:srgbClr val="556175"/>
                </a:solidFill>
                <a:latin typeface="맑은 고딕"/>
                <a:ea typeface="맑은 고딕"/>
                <a:cs typeface="맑은 고딕"/>
              </a:rPr>
              <a:t>(Defense in Depth)로 보호된다.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612647" y="2454085"/>
            <a:ext cx="3570122" cy="3074541"/>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612647" y="2508949"/>
            <a:ext cx="3570122"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IT</a:t>
            </a:r>
          </a:p>
        </p:txBody>
      </p:sp>
      <p:sp>
        <p:nvSpPr>
          <p:cNvPr id="8" name="Rounded Rectangle 7"/>
          <p:cNvSpPr/>
          <p:nvPr/>
        </p:nvSpPr>
        <p:spPr>
          <a:xfrm>
            <a:off x="4310786" y="2454085"/>
            <a:ext cx="1721053" cy="3074541"/>
          </a:xfrm>
          <a:prstGeom prst="roundRect">
            <a:avLst>
              <a:gd name="adj" fmla="val 4000"/>
            </a:avLst>
          </a:prstGeom>
          <a:solidFill>
            <a:srgbClr val="F3F6F9"/>
          </a:solidFill>
          <a:ln>
            <a:noFill/>
          </a:ln>
        </p:spPr>
        <p:txBody>
          <a:bodyPr rtlCol="0" anchor="ctr"/>
          <a:lstStyle/>
          <a:p>
            <a:pPr algn="ctr"/>
          </a:p>
        </p:txBody>
      </p:sp>
      <p:sp>
        <p:nvSpPr>
          <p:cNvPr id="9" name="TextBox 8"/>
          <p:cNvSpPr txBox="1"/>
          <p:nvPr/>
        </p:nvSpPr>
        <p:spPr>
          <a:xfrm>
            <a:off x="4310786" y="2508949"/>
            <a:ext cx="1721053"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DMZ</a:t>
            </a:r>
          </a:p>
        </p:txBody>
      </p:sp>
      <p:sp>
        <p:nvSpPr>
          <p:cNvPr id="10" name="Rounded Rectangle 9"/>
          <p:cNvSpPr/>
          <p:nvPr/>
        </p:nvSpPr>
        <p:spPr>
          <a:xfrm>
            <a:off x="6159855" y="2454085"/>
            <a:ext cx="5419191" cy="3074541"/>
          </a:xfrm>
          <a:prstGeom prst="roundRect">
            <a:avLst>
              <a:gd name="adj" fmla="val 4000"/>
            </a:avLst>
          </a:prstGeom>
          <a:solidFill>
            <a:srgbClr val="F3F6F9"/>
          </a:solidFill>
          <a:ln>
            <a:noFill/>
          </a:ln>
        </p:spPr>
        <p:txBody>
          <a:bodyPr rtlCol="0" anchor="ctr"/>
          <a:lstStyle/>
          <a:p>
            <a:pPr algn="ctr"/>
          </a:p>
        </p:txBody>
      </p:sp>
      <p:sp>
        <p:nvSpPr>
          <p:cNvPr id="11" name="TextBox 10"/>
          <p:cNvSpPr txBox="1"/>
          <p:nvPr/>
        </p:nvSpPr>
        <p:spPr>
          <a:xfrm>
            <a:off x="6159855" y="2508949"/>
            <a:ext cx="5419191"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OT</a:t>
            </a:r>
          </a:p>
        </p:txBody>
      </p:sp>
      <p:sp>
        <p:nvSpPr>
          <p:cNvPr id="12" name="Rectangle 11"/>
          <p:cNvSpPr/>
          <p:nvPr/>
        </p:nvSpPr>
        <p:spPr>
          <a:xfrm>
            <a:off x="1473174" y="3776090"/>
            <a:ext cx="9245346" cy="146304"/>
          </a:xfrm>
          <a:prstGeom prst="rect">
            <a:avLst/>
          </a:prstGeom>
          <a:solidFill>
            <a:srgbClr val="5CB8F2"/>
          </a:solidFill>
          <a:ln>
            <a:noFill/>
          </a:ln>
        </p:spPr>
        <p:txBody>
          <a:bodyPr rtlCol="0" anchor="ctr"/>
          <a:lstStyle/>
          <a:p>
            <a:pPr algn="ctr"/>
          </a:p>
        </p:txBody>
      </p:sp>
      <p:sp>
        <p:nvSpPr>
          <p:cNvPr id="13" name="Chevron 12"/>
          <p:cNvSpPr/>
          <p:nvPr/>
        </p:nvSpPr>
        <p:spPr>
          <a:xfrm>
            <a:off x="2278837" y="3666362"/>
            <a:ext cx="237744" cy="365760"/>
          </a:xfrm>
          <a:prstGeom prst="chevron">
            <a:avLst/>
          </a:prstGeom>
          <a:solidFill>
            <a:srgbClr val="13294B"/>
          </a:solidFill>
          <a:ln>
            <a:noFill/>
          </a:ln>
        </p:spPr>
        <p:txBody>
          <a:bodyPr rtlCol="0" anchor="ctr"/>
          <a:lstStyle/>
          <a:p>
            <a:pPr algn="ctr"/>
          </a:p>
        </p:txBody>
      </p:sp>
      <p:sp>
        <p:nvSpPr>
          <p:cNvPr id="14" name="TextBox 13"/>
          <p:cNvSpPr txBox="1"/>
          <p:nvPr/>
        </p:nvSpPr>
        <p:spPr>
          <a:xfrm>
            <a:off x="1862492" y="3318890"/>
            <a:ext cx="107043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기록</a:t>
            </a:r>
          </a:p>
        </p:txBody>
      </p:sp>
      <p:sp>
        <p:nvSpPr>
          <p:cNvPr id="15" name="Oval 14"/>
          <p:cNvSpPr/>
          <p:nvPr/>
        </p:nvSpPr>
        <p:spPr>
          <a:xfrm>
            <a:off x="992416"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6" name="아이콘:settings" descr="settings_13294B_1.6.png"/>
          <p:cNvPicPr>
            <a:picLocks noChangeAspect="1"/>
          </p:cNvPicPr>
          <p:nvPr/>
        </p:nvPicPr>
        <p:blipFill>
          <a:blip r:embed="rId3"/>
          <a:stretch>
            <a:fillRect/>
          </a:stretch>
        </p:blipFill>
        <p:spPr>
          <a:xfrm>
            <a:off x="1223180" y="3599248"/>
            <a:ext cx="499988" cy="499988"/>
          </a:xfrm>
          <a:prstGeom prst="rect">
            <a:avLst/>
          </a:prstGeom>
        </p:spPr>
      </p:pic>
      <p:sp>
        <p:nvSpPr>
          <p:cNvPr id="17" name="TextBox 16"/>
          <p:cNvSpPr txBox="1"/>
          <p:nvPr/>
        </p:nvSpPr>
        <p:spPr>
          <a:xfrm>
            <a:off x="640079"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프로세스 엔진</a:t>
            </a:r>
          </a:p>
          <a:p>
            <a:pPr algn="ctr" eaLnBrk="0">
              <a:lnSpc>
                <a:spcPct val="110000"/>
              </a:lnSpc>
              <a:spcAft>
                <a:spcPts val="400"/>
              </a:spcAft>
            </a:pPr>
            <a:r>
              <a:rPr sz="1200" b="0">
                <a:solidFill>
                  <a:srgbClr val="1F2A3A"/>
                </a:solidFill>
                <a:latin typeface="맑은 고딕"/>
                <a:ea typeface="맑은 고딕"/>
                <a:cs typeface="맑은 고딕"/>
              </a:rPr>
              <a:t>승인된 조치를</a:t>
            </a:r>
          </a:p>
          <a:p>
            <a:pPr algn="ctr" eaLnBrk="0">
              <a:lnSpc>
                <a:spcPct val="110000"/>
              </a:lnSpc>
              <a:spcAft>
                <a:spcPts val="400"/>
              </a:spcAft>
            </a:pPr>
            <a:r>
              <a:rPr sz="1200" b="0">
                <a:solidFill>
                  <a:srgbClr val="1F2A3A"/>
                </a:solidFill>
                <a:latin typeface="맑은 고딕"/>
                <a:ea typeface="맑은 고딕"/>
                <a:cs typeface="맑은 고딕"/>
              </a:rPr>
              <a:t>명령으로 만든다</a:t>
            </a:r>
          </a:p>
        </p:txBody>
      </p:sp>
      <p:sp>
        <p:nvSpPr>
          <p:cNvPr id="18" name="Chevron 17"/>
          <p:cNvSpPr/>
          <p:nvPr/>
        </p:nvSpPr>
        <p:spPr>
          <a:xfrm>
            <a:off x="4127906" y="3666362"/>
            <a:ext cx="237744" cy="365760"/>
          </a:xfrm>
          <a:prstGeom prst="chevron">
            <a:avLst/>
          </a:prstGeom>
          <a:solidFill>
            <a:srgbClr val="13294B"/>
          </a:solidFill>
          <a:ln>
            <a:noFill/>
          </a:ln>
        </p:spPr>
        <p:txBody>
          <a:bodyPr rtlCol="0" anchor="ctr"/>
          <a:lstStyle/>
          <a:p>
            <a:pPr algn="ctr"/>
          </a:p>
        </p:txBody>
      </p:sp>
      <p:sp>
        <p:nvSpPr>
          <p:cNvPr id="19" name="TextBox 18"/>
          <p:cNvSpPr txBox="1"/>
          <p:nvPr/>
        </p:nvSpPr>
        <p:spPr>
          <a:xfrm>
            <a:off x="3711561" y="3318890"/>
            <a:ext cx="107043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읽기</a:t>
            </a:r>
          </a:p>
        </p:txBody>
      </p:sp>
      <p:sp>
        <p:nvSpPr>
          <p:cNvPr id="20" name="Oval 19"/>
          <p:cNvSpPr/>
          <p:nvPr/>
        </p:nvSpPr>
        <p:spPr>
          <a:xfrm>
            <a:off x="284148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1" name="아이콘:stack" descr="stack_13294B_1.6.png"/>
          <p:cNvPicPr>
            <a:picLocks noChangeAspect="1"/>
          </p:cNvPicPr>
          <p:nvPr/>
        </p:nvPicPr>
        <p:blipFill>
          <a:blip r:embed="rId4"/>
          <a:stretch>
            <a:fillRect/>
          </a:stretch>
        </p:blipFill>
        <p:spPr>
          <a:xfrm>
            <a:off x="3072249" y="3599248"/>
            <a:ext cx="499988" cy="499988"/>
          </a:xfrm>
          <a:prstGeom prst="rect">
            <a:avLst/>
          </a:prstGeom>
        </p:spPr>
      </p:pic>
      <p:sp>
        <p:nvSpPr>
          <p:cNvPr id="22" name="TextBox 21"/>
          <p:cNvSpPr txBox="1"/>
          <p:nvPr/>
        </p:nvSpPr>
        <p:spPr>
          <a:xfrm>
            <a:off x="2489149"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이벤트 로그</a:t>
            </a:r>
          </a:p>
          <a:p>
            <a:pPr algn="ctr" eaLnBrk="0">
              <a:lnSpc>
                <a:spcPct val="110000"/>
              </a:lnSpc>
              <a:spcAft>
                <a:spcPts val="400"/>
              </a:spcAft>
            </a:pPr>
            <a:r>
              <a:rPr sz="1200" b="0">
                <a:solidFill>
                  <a:srgbClr val="1F2A3A"/>
                </a:solidFill>
                <a:latin typeface="맑은 고딕"/>
                <a:ea typeface="맑은 고딕"/>
                <a:cs typeface="맑은 고딕"/>
              </a:rPr>
              <a:t>action.cmd에</a:t>
            </a:r>
          </a:p>
          <a:p>
            <a:pPr algn="ctr" eaLnBrk="0">
              <a:lnSpc>
                <a:spcPct val="110000"/>
              </a:lnSpc>
              <a:spcAft>
                <a:spcPts val="400"/>
              </a:spcAft>
            </a:pPr>
            <a:r>
              <a:rPr sz="1200" b="0">
                <a:solidFill>
                  <a:srgbClr val="1F2A3A"/>
                </a:solidFill>
                <a:latin typeface="맑은 고딕"/>
                <a:ea typeface="맑은 고딕"/>
                <a:cs typeface="맑은 고딕"/>
              </a:rPr>
              <a:t>명령을 남긴다</a:t>
            </a:r>
          </a:p>
        </p:txBody>
      </p:sp>
      <p:sp>
        <p:nvSpPr>
          <p:cNvPr id="23" name="Chevron 22"/>
          <p:cNvSpPr/>
          <p:nvPr/>
        </p:nvSpPr>
        <p:spPr>
          <a:xfrm>
            <a:off x="5976975" y="3666362"/>
            <a:ext cx="237744" cy="365760"/>
          </a:xfrm>
          <a:prstGeom prst="chevron">
            <a:avLst/>
          </a:prstGeom>
          <a:solidFill>
            <a:srgbClr val="13294B"/>
          </a:solidFill>
          <a:ln>
            <a:noFill/>
          </a:ln>
        </p:spPr>
        <p:txBody>
          <a:bodyPr rtlCol="0" anchor="ctr"/>
          <a:lstStyle/>
          <a:p>
            <a:pPr algn="ctr"/>
          </a:p>
        </p:txBody>
      </p:sp>
      <p:sp>
        <p:nvSpPr>
          <p:cNvPr id="24" name="TextBox 23"/>
          <p:cNvSpPr txBox="1"/>
          <p:nvPr/>
        </p:nvSpPr>
        <p:spPr>
          <a:xfrm>
            <a:off x="5560630" y="3318890"/>
            <a:ext cx="107043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통과</a:t>
            </a:r>
          </a:p>
        </p:txBody>
      </p:sp>
      <p:sp>
        <p:nvSpPr>
          <p:cNvPr id="25" name="Oval 24"/>
          <p:cNvSpPr/>
          <p:nvPr/>
        </p:nvSpPr>
        <p:spPr>
          <a:xfrm>
            <a:off x="4690555" y="3368485"/>
            <a:ext cx="961515" cy="961515"/>
          </a:xfrm>
          <a:prstGeom prst="ellipse">
            <a:avLst/>
          </a:prstGeom>
          <a:solidFill>
            <a:srgbClr val="5CB8F2"/>
          </a:solidFill>
          <a:ln w="28575">
            <a:solidFill>
              <a:srgbClr val="13294B"/>
            </a:solidFill>
          </a:ln>
        </p:spPr>
        <p:txBody>
          <a:bodyPr rtlCol="0" anchor="ctr"/>
          <a:lstStyle/>
          <a:p>
            <a:pPr algn="ctr"/>
          </a:p>
        </p:txBody>
      </p:sp>
      <p:pic>
        <p:nvPicPr>
          <p:cNvPr id="26" name="아이콘:shield" descr="shield_13294B_1.6.png"/>
          <p:cNvPicPr>
            <a:picLocks noChangeAspect="1"/>
          </p:cNvPicPr>
          <p:nvPr/>
        </p:nvPicPr>
        <p:blipFill>
          <a:blip r:embed="rId5"/>
          <a:stretch>
            <a:fillRect/>
          </a:stretch>
        </p:blipFill>
        <p:spPr>
          <a:xfrm>
            <a:off x="4921318" y="3599248"/>
            <a:ext cx="499988" cy="499988"/>
          </a:xfrm>
          <a:prstGeom prst="rect">
            <a:avLst/>
          </a:prstGeom>
        </p:spPr>
      </p:pic>
      <p:sp>
        <p:nvSpPr>
          <p:cNvPr id="27" name="TextBox 26"/>
          <p:cNvSpPr txBox="1"/>
          <p:nvPr/>
        </p:nvSpPr>
        <p:spPr>
          <a:xfrm>
            <a:off x="4338218"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명령 관문</a:t>
            </a:r>
          </a:p>
          <a:p>
            <a:pPr algn="ctr" eaLnBrk="0">
              <a:lnSpc>
                <a:spcPct val="110000"/>
              </a:lnSpc>
              <a:spcAft>
                <a:spcPts val="400"/>
              </a:spcAft>
            </a:pPr>
            <a:r>
              <a:rPr sz="1200" b="0">
                <a:solidFill>
                  <a:srgbClr val="1F2A3A"/>
                </a:solidFill>
                <a:latin typeface="맑은 고딕"/>
                <a:ea typeface="맑은 고딕"/>
                <a:cs typeface="맑은 고딕"/>
              </a:rPr>
              <a:t>명령과</a:t>
            </a:r>
          </a:p>
          <a:p>
            <a:pPr algn="ctr" eaLnBrk="0">
              <a:lnSpc>
                <a:spcPct val="110000"/>
              </a:lnSpc>
              <a:spcAft>
                <a:spcPts val="400"/>
              </a:spcAft>
            </a:pPr>
            <a:r>
              <a:rPr sz="1200" b="0">
                <a:solidFill>
                  <a:srgbClr val="1F2A3A"/>
                </a:solidFill>
                <a:latin typeface="맑은 고딕"/>
                <a:ea typeface="맑은 고딕"/>
                <a:cs typeface="맑은 고딕"/>
              </a:rPr>
              <a:t>승인 기록 검사</a:t>
            </a:r>
          </a:p>
        </p:txBody>
      </p:sp>
      <p:sp>
        <p:nvSpPr>
          <p:cNvPr id="28" name="Chevron 27"/>
          <p:cNvSpPr/>
          <p:nvPr/>
        </p:nvSpPr>
        <p:spPr>
          <a:xfrm>
            <a:off x="7826044" y="3666362"/>
            <a:ext cx="237744" cy="365760"/>
          </a:xfrm>
          <a:prstGeom prst="chevron">
            <a:avLst/>
          </a:prstGeom>
          <a:solidFill>
            <a:srgbClr val="13294B"/>
          </a:solidFill>
          <a:ln>
            <a:noFill/>
          </a:ln>
        </p:spPr>
        <p:txBody>
          <a:bodyPr rtlCol="0" anchor="ctr"/>
          <a:lstStyle/>
          <a:p>
            <a:pPr algn="ctr"/>
          </a:p>
        </p:txBody>
      </p:sp>
      <p:sp>
        <p:nvSpPr>
          <p:cNvPr id="29" name="TextBox 28"/>
          <p:cNvSpPr txBox="1"/>
          <p:nvPr/>
        </p:nvSpPr>
        <p:spPr>
          <a:xfrm>
            <a:off x="7409700" y="3318890"/>
            <a:ext cx="107043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전달</a:t>
            </a:r>
          </a:p>
        </p:txBody>
      </p:sp>
      <p:sp>
        <p:nvSpPr>
          <p:cNvPr id="30" name="Oval 29"/>
          <p:cNvSpPr/>
          <p:nvPr/>
        </p:nvSpPr>
        <p:spPr>
          <a:xfrm>
            <a:off x="6539624" y="3368485"/>
            <a:ext cx="961515" cy="961515"/>
          </a:xfrm>
          <a:prstGeom prst="ellipse">
            <a:avLst/>
          </a:prstGeom>
          <a:solidFill>
            <a:srgbClr val="FFFFFF"/>
          </a:solidFill>
          <a:ln w="28575">
            <a:solidFill>
              <a:srgbClr val="13294B"/>
            </a:solidFill>
          </a:ln>
        </p:spPr>
        <p:txBody>
          <a:bodyPr rtlCol="0" anchor="ctr"/>
          <a:lstStyle/>
          <a:p>
            <a:pPr algn="ctr"/>
          </a:p>
        </p:txBody>
      </p:sp>
      <p:pic>
        <p:nvPicPr>
          <p:cNvPr id="31" name="아이콘:broadcast" descr="broadcast_13294B_1.6.png"/>
          <p:cNvPicPr>
            <a:picLocks noChangeAspect="1"/>
          </p:cNvPicPr>
          <p:nvPr/>
        </p:nvPicPr>
        <p:blipFill>
          <a:blip r:embed="rId6"/>
          <a:stretch>
            <a:fillRect/>
          </a:stretch>
        </p:blipFill>
        <p:spPr>
          <a:xfrm>
            <a:off x="6770388" y="3599248"/>
            <a:ext cx="499988" cy="499988"/>
          </a:xfrm>
          <a:prstGeom prst="rect">
            <a:avLst/>
          </a:prstGeom>
        </p:spPr>
      </p:pic>
      <p:sp>
        <p:nvSpPr>
          <p:cNvPr id="32" name="TextBox 31"/>
          <p:cNvSpPr txBox="1"/>
          <p:nvPr/>
        </p:nvSpPr>
        <p:spPr>
          <a:xfrm>
            <a:off x="6187287"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브로커</a:t>
            </a:r>
          </a:p>
          <a:p>
            <a:pPr algn="ctr" eaLnBrk="0">
              <a:lnSpc>
                <a:spcPct val="110000"/>
              </a:lnSpc>
              <a:spcAft>
                <a:spcPts val="400"/>
              </a:spcAft>
            </a:pPr>
            <a:r>
              <a:rPr sz="1200" b="0">
                <a:solidFill>
                  <a:srgbClr val="1F2A3A"/>
                </a:solidFill>
                <a:latin typeface="맑은 고딕"/>
                <a:ea typeface="맑은 고딕"/>
                <a:cs typeface="맑은 고딕"/>
              </a:rPr>
              <a:t>cmd/auto로</a:t>
            </a:r>
          </a:p>
          <a:p>
            <a:pPr algn="ctr" eaLnBrk="0">
              <a:lnSpc>
                <a:spcPct val="110000"/>
              </a:lnSpc>
              <a:spcAft>
                <a:spcPts val="400"/>
              </a:spcAft>
            </a:pPr>
            <a:r>
              <a:rPr sz="1200" b="0">
                <a:solidFill>
                  <a:srgbClr val="1F2A3A"/>
                </a:solidFill>
                <a:latin typeface="맑은 고딕"/>
                <a:ea typeface="맑은 고딕"/>
                <a:cs typeface="맑은 고딕"/>
              </a:rPr>
              <a:t>전달한다</a:t>
            </a:r>
          </a:p>
        </p:txBody>
      </p:sp>
      <p:sp>
        <p:nvSpPr>
          <p:cNvPr id="33" name="Chevron 32"/>
          <p:cNvSpPr/>
          <p:nvPr/>
        </p:nvSpPr>
        <p:spPr>
          <a:xfrm>
            <a:off x="9675114" y="3666362"/>
            <a:ext cx="237744" cy="365760"/>
          </a:xfrm>
          <a:prstGeom prst="chevron">
            <a:avLst/>
          </a:prstGeom>
          <a:solidFill>
            <a:srgbClr val="13294B"/>
          </a:solidFill>
          <a:ln>
            <a:noFill/>
          </a:ln>
        </p:spPr>
        <p:txBody>
          <a:bodyPr rtlCol="0" anchor="ctr"/>
          <a:lstStyle/>
          <a:p>
            <a:pPr algn="ctr"/>
          </a:p>
        </p:txBody>
      </p:sp>
      <p:sp>
        <p:nvSpPr>
          <p:cNvPr id="34" name="TextBox 33"/>
          <p:cNvSpPr txBox="1"/>
          <p:nvPr/>
        </p:nvSpPr>
        <p:spPr>
          <a:xfrm>
            <a:off x="9258769" y="3318890"/>
            <a:ext cx="107043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설정 쓰기</a:t>
            </a:r>
          </a:p>
        </p:txBody>
      </p:sp>
      <p:sp>
        <p:nvSpPr>
          <p:cNvPr id="35" name="Oval 34"/>
          <p:cNvSpPr/>
          <p:nvPr/>
        </p:nvSpPr>
        <p:spPr>
          <a:xfrm>
            <a:off x="8388693" y="3368485"/>
            <a:ext cx="961515" cy="961515"/>
          </a:xfrm>
          <a:prstGeom prst="ellipse">
            <a:avLst/>
          </a:prstGeom>
          <a:solidFill>
            <a:srgbClr val="FFFFFF"/>
          </a:solidFill>
          <a:ln w="28575">
            <a:solidFill>
              <a:srgbClr val="13294B"/>
            </a:solidFill>
          </a:ln>
        </p:spPr>
        <p:txBody>
          <a:bodyPr rtlCol="0" anchor="ctr"/>
          <a:lstStyle/>
          <a:p>
            <a:pPr algn="ctr"/>
          </a:p>
        </p:txBody>
      </p:sp>
      <p:pic>
        <p:nvPicPr>
          <p:cNvPr id="36" name="아이콘:plug-connected" descr="plug-connected_13294B_1.6.png"/>
          <p:cNvPicPr>
            <a:picLocks noChangeAspect="1"/>
          </p:cNvPicPr>
          <p:nvPr/>
        </p:nvPicPr>
        <p:blipFill>
          <a:blip r:embed="rId7"/>
          <a:stretch>
            <a:fillRect/>
          </a:stretch>
        </p:blipFill>
        <p:spPr>
          <a:xfrm>
            <a:off x="8619457" y="3599248"/>
            <a:ext cx="499988" cy="499988"/>
          </a:xfrm>
          <a:prstGeom prst="rect">
            <a:avLst/>
          </a:prstGeom>
        </p:spPr>
      </p:pic>
      <p:sp>
        <p:nvSpPr>
          <p:cNvPr id="37" name="TextBox 36"/>
          <p:cNvSpPr txBox="1"/>
          <p:nvPr/>
        </p:nvSpPr>
        <p:spPr>
          <a:xfrm>
            <a:off x="8036356"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엣지 게이트웨이</a:t>
            </a:r>
          </a:p>
          <a:p>
            <a:pPr algn="ctr" eaLnBrk="0">
              <a:lnSpc>
                <a:spcPct val="110000"/>
              </a:lnSpc>
              <a:spcAft>
                <a:spcPts val="400"/>
              </a:spcAft>
            </a:pPr>
            <a:r>
              <a:rPr sz="1200" b="0">
                <a:solidFill>
                  <a:srgbClr val="1F2A3A"/>
                </a:solidFill>
                <a:latin typeface="맑은 고딕"/>
                <a:ea typeface="맑은 고딕"/>
                <a:cs typeface="맑은 고딕"/>
              </a:rPr>
              <a:t>명령을 받아</a:t>
            </a:r>
          </a:p>
          <a:p>
            <a:pPr algn="ctr" eaLnBrk="0">
              <a:lnSpc>
                <a:spcPct val="110000"/>
              </a:lnSpc>
              <a:spcAft>
                <a:spcPts val="400"/>
              </a:spcAft>
            </a:pPr>
            <a:r>
              <a:rPr sz="1200" b="0">
                <a:solidFill>
                  <a:srgbClr val="1F2A3A"/>
                </a:solidFill>
                <a:latin typeface="맑은 고딕"/>
                <a:ea typeface="맑은 고딕"/>
                <a:cs typeface="맑은 고딕"/>
              </a:rPr>
              <a:t>PLC에 넘긴다</a:t>
            </a:r>
          </a:p>
        </p:txBody>
      </p:sp>
      <p:sp>
        <p:nvSpPr>
          <p:cNvPr id="38" name="Oval 37"/>
          <p:cNvSpPr/>
          <p:nvPr/>
        </p:nvSpPr>
        <p:spPr>
          <a:xfrm>
            <a:off x="10237762" y="3368485"/>
            <a:ext cx="961515" cy="961515"/>
          </a:xfrm>
          <a:prstGeom prst="ellipse">
            <a:avLst/>
          </a:prstGeom>
          <a:solidFill>
            <a:srgbClr val="5CB8F2"/>
          </a:solidFill>
          <a:ln w="28575">
            <a:solidFill>
              <a:srgbClr val="13294B"/>
            </a:solidFill>
          </a:ln>
        </p:spPr>
        <p:txBody>
          <a:bodyPr rtlCol="0" anchor="ctr"/>
          <a:lstStyle/>
          <a:p>
            <a:pPr algn="ctr"/>
          </a:p>
        </p:txBody>
      </p:sp>
      <p:pic>
        <p:nvPicPr>
          <p:cNvPr id="39" name="아이콘:cpu" descr="cpu_13294B_1.6.png"/>
          <p:cNvPicPr>
            <a:picLocks noChangeAspect="1"/>
          </p:cNvPicPr>
          <p:nvPr/>
        </p:nvPicPr>
        <p:blipFill>
          <a:blip r:embed="rId8"/>
          <a:stretch>
            <a:fillRect/>
          </a:stretch>
        </p:blipFill>
        <p:spPr>
          <a:xfrm>
            <a:off x="10468526" y="3599248"/>
            <a:ext cx="499988" cy="499988"/>
          </a:xfrm>
          <a:prstGeom prst="rect">
            <a:avLst/>
          </a:prstGeom>
        </p:spPr>
      </p:pic>
      <p:sp>
        <p:nvSpPr>
          <p:cNvPr id="40" name="TextBox 39"/>
          <p:cNvSpPr txBox="1"/>
          <p:nvPr/>
        </p:nvSpPr>
        <p:spPr>
          <a:xfrm>
            <a:off x="9885426"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PLC</a:t>
            </a:r>
          </a:p>
          <a:p>
            <a:pPr algn="ctr" eaLnBrk="0">
              <a:lnSpc>
                <a:spcPct val="110000"/>
              </a:lnSpc>
              <a:spcAft>
                <a:spcPts val="400"/>
              </a:spcAft>
            </a:pPr>
            <a:r>
              <a:rPr sz="1200" b="0">
                <a:solidFill>
                  <a:srgbClr val="1F2A3A"/>
                </a:solidFill>
                <a:latin typeface="맑은 고딕"/>
                <a:ea typeface="맑은 고딕"/>
                <a:cs typeface="맑은 고딕"/>
              </a:rPr>
              <a:t>설비 상태를 검사해</a:t>
            </a:r>
          </a:p>
          <a:p>
            <a:pPr algn="ctr" eaLnBrk="0">
              <a:lnSpc>
                <a:spcPct val="110000"/>
              </a:lnSpc>
              <a:spcAft>
                <a:spcPts val="400"/>
              </a:spcAft>
            </a:pPr>
            <a:r>
              <a:rPr sz="1200" b="0">
                <a:solidFill>
                  <a:srgbClr val="1F2A3A"/>
                </a:solidFill>
                <a:latin typeface="맑은 고딕"/>
                <a:ea typeface="맑은 고딕"/>
                <a:cs typeface="맑은 고딕"/>
              </a:rPr>
              <a:t>설정값을 적용한다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명령 관문과 PLC가 검사하는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명령 관문은 승인된 명령인지 확인하고, PLC는 지금 그 설정값을 적용해도 되는지 다시 검사한다.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179383"/>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명령 관문(Command Gateway)</a:t>
            </a:r>
          </a:p>
        </p:txBody>
      </p:sp>
      <p:sp>
        <p:nvSpPr>
          <p:cNvPr id="8" name="TextBox 7"/>
          <p:cNvSpPr txBox="1"/>
          <p:nvPr/>
        </p:nvSpPr>
        <p:spPr>
          <a:xfrm>
            <a:off x="822959" y="3029775"/>
            <a:ext cx="4632807" cy="2426081"/>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스키마(Schema): 필수 항목과 형식</a:t>
            </a:r>
          </a:p>
          <a:p>
            <a:pPr algn="l" eaLnBrk="0" marL="165735" indent="-165735">
              <a:lnSpc>
                <a:spcPct val="110000"/>
              </a:lnSpc>
              <a:spcAft>
                <a:spcPts val="600"/>
              </a:spcAft>
            </a:pPr>
            <a:r>
              <a:rPr sz="1450" b="0">
                <a:solidFill>
                  <a:srgbClr val="1F2A3A"/>
                </a:solidFill>
                <a:latin typeface="맑은 고딕"/>
                <a:ea typeface="맑은 고딕"/>
                <a:cs typeface="맑은 고딕"/>
              </a:rPr>
              <a:t>• 허용 목록(Whitelist): 허용된 조치</a:t>
            </a:r>
          </a:p>
          <a:p>
            <a:pPr algn="l" eaLnBrk="0" marL="165735" indent="-165735">
              <a:lnSpc>
                <a:spcPct val="110000"/>
              </a:lnSpc>
              <a:spcAft>
                <a:spcPts val="600"/>
              </a:spcAft>
            </a:pPr>
            <a:r>
              <a:rPr sz="1450" b="0">
                <a:solidFill>
                  <a:srgbClr val="1F2A3A"/>
                </a:solidFill>
                <a:latin typeface="맑은 고딕"/>
                <a:ea typeface="맑은 고딕"/>
                <a:cs typeface="맑은 고딕"/>
              </a:rPr>
              <a:t>• 만료: expiresAt 이전인지</a:t>
            </a:r>
          </a:p>
          <a:p>
            <a:pPr algn="l" eaLnBrk="0" marL="165735" indent="-165735">
              <a:lnSpc>
                <a:spcPct val="110000"/>
              </a:lnSpc>
              <a:spcAft>
                <a:spcPts val="600"/>
              </a:spcAft>
            </a:pPr>
            <a:r>
              <a:rPr sz="1450" b="0">
                <a:solidFill>
                  <a:srgbClr val="1F2A3A"/>
                </a:solidFill>
                <a:latin typeface="맑은 고딕"/>
                <a:ea typeface="맑은 고딕"/>
                <a:cs typeface="맑은 고딕"/>
              </a:rPr>
              <a:t>• 중복: 최근 256개 cmdId와 대조</a:t>
            </a:r>
          </a:p>
          <a:p>
            <a:pPr algn="l" eaLnBrk="0" marL="165735" indent="-165735">
              <a:lnSpc>
                <a:spcPct val="110000"/>
              </a:lnSpc>
              <a:spcAft>
                <a:spcPts val="600"/>
              </a:spcAft>
            </a:pPr>
            <a:r>
              <a:rPr sz="1450" b="0">
                <a:solidFill>
                  <a:srgbClr val="1F2A3A"/>
                </a:solidFill>
                <a:latin typeface="맑은 고딕"/>
                <a:ea typeface="맑은 고딕"/>
                <a:cs typeface="맑은 고딕"/>
              </a:rPr>
              <a:t>• 승인 기록: 승인된 명령과 내용이 같은지</a:t>
            </a:r>
          </a:p>
          <a:p>
            <a:pPr algn="l" eaLnBrk="0" marL="165735" indent="-165735">
              <a:lnSpc>
                <a:spcPct val="110000"/>
              </a:lnSpc>
              <a:spcAft>
                <a:spcPts val="600"/>
              </a:spcAft>
            </a:pPr>
            <a:r>
              <a:rPr sz="1450" b="0">
                <a:solidFill>
                  <a:srgbClr val="1F2A3A"/>
                </a:solidFill>
                <a:latin typeface="맑은 고딕"/>
                <a:ea typeface="맑은 고딕"/>
                <a:cs typeface="맑은 고딕"/>
              </a:rPr>
              <a:t>• 운전 모드: REMOTE_AUTO인지</a:t>
            </a:r>
          </a:p>
          <a:p>
            <a:pPr algn="l" eaLnBrk="0" marL="165735" indent="-165735">
              <a:lnSpc>
                <a:spcPct val="110000"/>
              </a:lnSpc>
              <a:spcAft>
                <a:spcPts val="600"/>
              </a:spcAft>
            </a:pPr>
            <a:r>
              <a:rPr sz="1450" b="0">
                <a:solidFill>
                  <a:srgbClr val="1F2A3A"/>
                </a:solidFill>
                <a:latin typeface="맑은 고딕"/>
                <a:ea typeface="맑은 고딕"/>
                <a:cs typeface="맑은 고딕"/>
              </a:rPr>
              <a:t>• 빈도 제한: 초당 최대 2건</a:t>
            </a:r>
          </a:p>
        </p:txBody>
      </p:sp>
      <p:sp>
        <p:nvSpPr>
          <p:cNvPr id="9" name="Rounded Rectangle 8"/>
          <p:cNvSpPr/>
          <p:nvPr/>
        </p:nvSpPr>
        <p:spPr>
          <a:xfrm>
            <a:off x="868680" y="5547296"/>
            <a:ext cx="1466088"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547296"/>
            <a:ext cx="146608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7가지 거절 사유</a:t>
            </a:r>
          </a:p>
        </p:txBody>
      </p:sp>
      <p:sp>
        <p:nvSpPr>
          <p:cNvPr id="11" name="Rounded Rectangle 10"/>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179383"/>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PLC의 재검사</a:t>
            </a:r>
          </a:p>
        </p:txBody>
      </p:sp>
      <p:sp>
        <p:nvSpPr>
          <p:cNvPr id="13" name="TextBox 12"/>
          <p:cNvSpPr txBox="1"/>
          <p:nvPr/>
        </p:nvSpPr>
        <p:spPr>
          <a:xfrm>
            <a:off x="6735927" y="3029775"/>
            <a:ext cx="4632807" cy="2426081"/>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모드·출처: 자동 명령을 받을 수 있는지</a:t>
            </a:r>
          </a:p>
          <a:p>
            <a:pPr algn="l" eaLnBrk="0" marL="165735" indent="-165735">
              <a:lnSpc>
                <a:spcPct val="110000"/>
              </a:lnSpc>
              <a:spcAft>
                <a:spcPts val="600"/>
              </a:spcAft>
            </a:pPr>
            <a:r>
              <a:rPr sz="1450" b="0">
                <a:solidFill>
                  <a:srgbClr val="1F2A3A"/>
                </a:solidFill>
                <a:latin typeface="맑은 고딕"/>
                <a:ea typeface="맑은 고딕"/>
                <a:cs typeface="맑은 고딕"/>
              </a:rPr>
              <a:t>• 만료: PLC 시계로 다시 검사</a:t>
            </a:r>
          </a:p>
          <a:p>
            <a:pPr algn="l" eaLnBrk="0" marL="165735" indent="-165735">
              <a:lnSpc>
                <a:spcPct val="110000"/>
              </a:lnSpc>
              <a:spcAft>
                <a:spcPts val="600"/>
              </a:spcAft>
            </a:pPr>
            <a:r>
              <a:rPr sz="1450" b="0">
                <a:solidFill>
                  <a:srgbClr val="1F2A3A"/>
                </a:solidFill>
                <a:latin typeface="맑은 고딕"/>
                <a:ea typeface="맑은 고딕"/>
                <a:cs typeface="맑은 고딕"/>
              </a:rPr>
              <a:t>• 중복: 최근 32개 cmdId와 대조</a:t>
            </a:r>
          </a:p>
          <a:p>
            <a:pPr algn="l" eaLnBrk="0" marL="165735" indent="-165735">
              <a:lnSpc>
                <a:spcPct val="110000"/>
              </a:lnSpc>
              <a:spcAft>
                <a:spcPts val="600"/>
              </a:spcAft>
            </a:pPr>
            <a:r>
              <a:rPr sz="1450" b="0">
                <a:solidFill>
                  <a:srgbClr val="1F2A3A"/>
                </a:solidFill>
                <a:latin typeface="맑은 고딕"/>
                <a:ea typeface="맑은 고딕"/>
                <a:cs typeface="맑은 고딕"/>
              </a:rPr>
              <a:t>• 범위: 팬 0~100 % · 부하 60~100 %</a:t>
            </a:r>
          </a:p>
          <a:p>
            <a:pPr algn="l" eaLnBrk="0" marL="165735" indent="-165735">
              <a:lnSpc>
                <a:spcPct val="110000"/>
              </a:lnSpc>
              <a:spcAft>
                <a:spcPts val="600"/>
              </a:spcAft>
            </a:pPr>
            <a:r>
              <a:rPr sz="1450" b="0">
                <a:solidFill>
                  <a:srgbClr val="1F2A3A"/>
                </a:solidFill>
                <a:latin typeface="맑은 고딕"/>
                <a:ea typeface="맑은 고딕"/>
                <a:cs typeface="맑은 고딕"/>
              </a:rPr>
              <a:t>• 인터록: 트립 중 일반 설정 변경 거절</a:t>
            </a:r>
          </a:p>
        </p:txBody>
      </p:sp>
      <p:sp>
        <p:nvSpPr>
          <p:cNvPr id="14" name="Rounded Rectangle 13"/>
          <p:cNvSpPr/>
          <p:nvPr/>
        </p:nvSpPr>
        <p:spPr>
          <a:xfrm>
            <a:off x="6781647" y="5547296"/>
            <a:ext cx="1115568"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547296"/>
            <a:ext cx="111556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5단계 검사</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명령·확인 응답·재관측의 구별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PLC의 확인 응답은 명령 처리 결과를 알리며, 설비가 회복되었는지는 계측값을 다시 읽어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a:t>
            </a:r>
            <a:r>
              <a:rPr sz="1300" b="0">
                <a:solidFill>
                  <a:srgbClr val="E8EEF6"/>
                </a:solidFill>
                <a:latin typeface="Consolas"/>
                <a:ea typeface="맑은 고딕"/>
                <a:cs typeface="맑은 고딕"/>
              </a:rPr>
              <a:t>: 11:14:57</a:t>
            </a:r>
          </a:p>
          <a:p>
            <a:pPr algn="l" eaLnBrk="0">
              <a:lnSpc>
                <a:spcPct val="110000"/>
              </a:lnSpc>
              <a:spcAft>
                <a:spcPts val="200"/>
              </a:spcAft>
            </a:pPr>
            <a:r>
              <a:rPr sz="1300" b="0">
                <a:solidFill>
                  <a:srgbClr val="E8EEF6"/>
                </a:solidFill>
                <a:latin typeface="Consolas"/>
                <a:ea typeface="맑은 고딕"/>
                <a:cs typeface="맑은 고딕"/>
              </a:rPr>
              <a:t>cmdId       CMD-1010-0001-b94a</a:t>
            </a:r>
          </a:p>
          <a:p>
            <a:pPr algn="l" eaLnBrk="0">
              <a:lnSpc>
                <a:spcPct val="110000"/>
              </a:lnSpc>
              <a:spcAft>
                <a:spcPts val="200"/>
              </a:spcAft>
            </a:pPr>
            <a:r>
              <a:rPr sz="1300" b="0">
                <a:solidFill>
                  <a:srgbClr val="E8EEF6"/>
                </a:solidFill>
                <a:latin typeface="Consolas"/>
                <a:ea typeface="맑은 고딕"/>
                <a:cs typeface="맑은 고딕"/>
              </a:rPr>
              <a:t>asset       HYD-01</a:t>
            </a:r>
          </a:p>
          <a:p>
            <a:pPr algn="l" eaLnBrk="0">
              <a:lnSpc>
                <a:spcPct val="110000"/>
              </a:lnSpc>
              <a:spcAft>
                <a:spcPts val="200"/>
              </a:spcAft>
            </a:pPr>
            <a:r>
              <a:rPr sz="1300" b="0">
                <a:solidFill>
                  <a:srgbClr val="E8EEF6"/>
                </a:solidFill>
                <a:latin typeface="Consolas"/>
                <a:ea typeface="맑은 고딕"/>
                <a:cs typeface="맑은 고딕"/>
              </a:rPr>
              <a:t>incident    INC-1010-01-d55a</a:t>
            </a:r>
          </a:p>
          <a:p>
            <a:pPr algn="l" eaLnBrk="0">
              <a:lnSpc>
                <a:spcPct val="110000"/>
              </a:lnSpc>
              <a:spcAft>
                <a:spcPts val="200"/>
              </a:spcAft>
            </a:pPr>
            <a:r>
              <a:rPr sz="1300" b="0">
                <a:solidFill>
                  <a:srgbClr val="E8EEF6"/>
                </a:solidFill>
                <a:latin typeface="Consolas"/>
                <a:ea typeface="맑은 고딕"/>
                <a:cs typeface="맑은 고딕"/>
              </a:rPr>
              <a:t>actions     FAN_SET fan_pct 100</a:t>
            </a:r>
          </a:p>
          <a:p>
            <a:pPr algn="l" eaLnBrk="0">
              <a:lnSpc>
                <a:spcPct val="110000"/>
              </a:lnSpc>
              <a:spcAft>
                <a:spcPts val="200"/>
              </a:spcAft>
            </a:pPr>
            <a:r>
              <a:rPr sz="1300" b="0">
                <a:solidFill>
                  <a:srgbClr val="E8EEF6"/>
                </a:solidFill>
                <a:latin typeface="Consolas"/>
                <a:ea typeface="맑은 고딕"/>
                <a:cs typeface="맑은 고딕"/>
              </a:rPr>
              <a:t>approvedBy  user:kim-op</a:t>
            </a:r>
          </a:p>
          <a:p>
            <a:pPr algn="l" eaLnBrk="0">
              <a:lnSpc>
                <a:spcPct val="110000"/>
              </a:lnSpc>
              <a:spcAft>
                <a:spcPts val="200"/>
              </a:spcAft>
            </a:pPr>
            <a:r>
              <a:rPr sz="1300" b="0">
                <a:solidFill>
                  <a:srgbClr val="E8EEF6"/>
                </a:solidFill>
                <a:latin typeface="Consolas"/>
                <a:ea typeface="맑은 고딕"/>
                <a:cs typeface="맑은 고딕"/>
              </a:rPr>
              <a:t>expiresAt   11:16:57</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PLC </a:t>
            </a:r>
            <a:r>
              <a:rPr sz="1300" b="0">
                <a:solidFill>
                  <a:srgbClr val="E8EEF6"/>
                </a:solidFill>
                <a:latin typeface="맑은 고딕"/>
                <a:ea typeface="맑은 고딕"/>
                <a:cs typeface="맑은 고딕"/>
              </a:rPr>
              <a:t>확인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응답</a:t>
            </a:r>
            <a:r>
              <a:rPr sz="1300" b="0">
                <a:solidFill>
                  <a:srgbClr val="E8EEF6"/>
                </a:solidFill>
                <a:latin typeface="Consolas"/>
                <a:ea typeface="맑은 고딕"/>
                <a:cs typeface="맑은 고딕"/>
              </a:rPr>
              <a:t>: 11:14:58</a:t>
            </a:r>
          </a:p>
          <a:p>
            <a:pPr algn="l" eaLnBrk="0">
              <a:lnSpc>
                <a:spcPct val="110000"/>
              </a:lnSpc>
              <a:spcAft>
                <a:spcPts val="200"/>
              </a:spcAft>
            </a:pPr>
            <a:r>
              <a:rPr sz="1300" b="0">
                <a:solidFill>
                  <a:srgbClr val="E8EEF6"/>
                </a:solidFill>
                <a:latin typeface="Consolas"/>
                <a:ea typeface="맑은 고딕"/>
                <a:cs typeface="맑은 고딕"/>
              </a:rPr>
              <a:t>cmdId       CMD-1010-0001-b94a</a:t>
            </a:r>
          </a:p>
          <a:p>
            <a:pPr algn="l" eaLnBrk="0">
              <a:lnSpc>
                <a:spcPct val="110000"/>
              </a:lnSpc>
              <a:spcAft>
                <a:spcPts val="200"/>
              </a:spcAft>
            </a:pPr>
            <a:r>
              <a:rPr sz="1300" b="0">
                <a:solidFill>
                  <a:srgbClr val="E8EEF6"/>
                </a:solidFill>
                <a:latin typeface="Consolas"/>
                <a:ea typeface="맑은 고딕"/>
                <a:cs typeface="맑은 고딕"/>
              </a:rPr>
              <a:t>result      DONE</a:t>
            </a:r>
          </a:p>
          <a:p>
            <a:pPr algn="l" eaLnBrk="0">
              <a:lnSpc>
                <a:spcPct val="110000"/>
              </a:lnSpc>
              <a:spcAft>
                <a:spcPts val="200"/>
              </a:spcAft>
            </a:pPr>
            <a:r>
              <a:rPr sz="1300" b="0">
                <a:solidFill>
                  <a:srgbClr val="E8EEF6"/>
                </a:solidFill>
                <a:latin typeface="Consolas"/>
                <a:ea typeface="맑은 고딕"/>
                <a:cs typeface="맑은 고딕"/>
              </a:rPr>
              <a:t>interlock   PASS</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재관측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p>
          <a:p>
            <a:pPr algn="l" eaLnBrk="0">
              <a:lnSpc>
                <a:spcPct val="110000"/>
              </a:lnSpc>
              <a:spcAft>
                <a:spcPts val="200"/>
              </a:spcAft>
            </a:pPr>
            <a:r>
              <a:rPr sz="1300" b="0">
                <a:solidFill>
                  <a:srgbClr val="E8EEF6"/>
                </a:solidFill>
                <a:latin typeface="Consolas"/>
                <a:ea typeface="맑은 고딕"/>
                <a:cs typeface="맑은 고딕"/>
              </a:rPr>
              <a:t>TS1         61.4</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51.5</a:t>
            </a:r>
            <a:r>
              <a:rPr sz="1300" b="0">
                <a:solidFill>
                  <a:srgbClr val="E8EEF6"/>
                </a:solidFill>
                <a:latin typeface="맑은 고딕"/>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alert       CLEAR</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승인된 명령</a:t>
            </a:r>
          </a:p>
          <a:p>
            <a:pPr algn="l" eaLnBrk="0">
              <a:lnSpc>
                <a:spcPct val="110000"/>
              </a:lnSpc>
              <a:spcAft>
                <a:spcPts val="400"/>
              </a:spcAft>
            </a:pPr>
            <a:r>
              <a:rPr sz="1400" b="0">
                <a:solidFill>
                  <a:srgbClr val="1F2A3A"/>
                </a:solidFill>
                <a:latin typeface="맑은 고딕"/>
                <a:ea typeface="맑은 고딕"/>
                <a:cs typeface="맑은 고딕"/>
              </a:rPr>
              <a:t>11:14:56에 승인한 팬 최대 운전이다. 팬 속도를 60 %에서 100 %로 올린다.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cmdId와 만료 시각</a:t>
            </a:r>
          </a:p>
          <a:p>
            <a:pPr algn="l" eaLnBrk="0">
              <a:lnSpc>
                <a:spcPct val="110000"/>
              </a:lnSpc>
              <a:spcAft>
                <a:spcPts val="400"/>
              </a:spcAft>
            </a:pPr>
            <a:r>
              <a:rPr sz="1400" b="0">
                <a:solidFill>
                  <a:srgbClr val="1F2A3A"/>
                </a:solidFill>
                <a:latin typeface="맑은 고딕"/>
                <a:ea typeface="맑은 고딕"/>
                <a:cs typeface="맑은 고딕"/>
              </a:rPr>
              <a:t>cmdId는 같은 명령을 식별한다. PLC가 중복을 검사하며 expiresAt 뒤에는 실행을 거절한다.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확인 응답(ACK)</a:t>
            </a:r>
          </a:p>
          <a:p>
            <a:pPr algn="l" eaLnBrk="0">
              <a:lnSpc>
                <a:spcPct val="110000"/>
              </a:lnSpc>
              <a:spcAft>
                <a:spcPts val="400"/>
              </a:spcAft>
            </a:pPr>
            <a:r>
              <a:rPr sz="1400" b="0">
                <a:solidFill>
                  <a:srgbClr val="1F2A3A"/>
                </a:solidFill>
                <a:latin typeface="맑은 고딕"/>
                <a:ea typeface="맑은 고딕"/>
                <a:cs typeface="맑은 고딕"/>
              </a:rPr>
              <a:t>Acknowledgement: 처리 결과의 확인이다. DONE은 실행 완료, PASS는 인터록 정상이다.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재관측</a:t>
            </a:r>
          </a:p>
          <a:p>
            <a:pPr algn="l" eaLnBrk="0">
              <a:lnSpc>
                <a:spcPct val="110000"/>
              </a:lnSpc>
              <a:spcAft>
                <a:spcPts val="400"/>
              </a:spcAft>
            </a:pPr>
            <a:r>
              <a:rPr sz="1400" b="0">
                <a:solidFill>
                  <a:srgbClr val="1F2A3A"/>
                </a:solidFill>
                <a:latin typeface="맑은 고딕"/>
                <a:ea typeface="맑은 고딕"/>
                <a:cs typeface="맑은 고딕"/>
              </a:rPr>
              <a:t>실행 응답은 회복 판정과 다르다. 유온의 회복 기준과 경보 CLEAR를 함께 확인한다.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데이터 리니지: 원천 데이터에서 판단 결과까지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데이터 리니지(Data Lineage)는 판단 결과에서 원천 계측값까지 되짚을 수 있게 남긴 내력이다.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1665478"/>
            <a:ext cx="6766560" cy="465175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802638"/>
            <a:ext cx="6400800" cy="4377436"/>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TS1 (</a:t>
            </a:r>
            <a:r>
              <a:rPr sz="1300" b="0">
                <a:solidFill>
                  <a:srgbClr val="E8EEF6"/>
                </a:solidFill>
                <a:latin typeface="맑은 고딕"/>
                <a:ea typeface="맑은 고딕"/>
                <a:cs typeface="맑은 고딕"/>
              </a:rPr>
              <a:t>표</a:t>
            </a:r>
            <a:r>
              <a:rPr sz="1300" b="0">
                <a:solidFill>
                  <a:srgbClr val="E8EEF6"/>
                </a:solidFill>
                <a:latin typeface="Consolas"/>
                <a:ea typeface="맑은 고딕"/>
                <a:cs typeface="맑은 고딕"/>
              </a:rPr>
              <a:t> tag_1s)</a:t>
            </a:r>
          </a:p>
          <a:p>
            <a:pPr algn="l" eaLnBrk="0">
              <a:lnSpc>
                <a:spcPct val="110000"/>
              </a:lnSpc>
              <a:spcAft>
                <a:spcPts val="200"/>
              </a:spcAft>
            </a:pPr>
            <a:r>
              <a:rPr sz="1300" b="0">
                <a:solidFill>
                  <a:srgbClr val="E8EEF6"/>
                </a:solidFill>
                <a:latin typeface="Consolas"/>
                <a:ea typeface="맑은 고딕"/>
                <a:cs typeface="맑은 고딕"/>
              </a:rPr>
              <a:t>11:13:06   55.41</a:t>
            </a:r>
          </a:p>
          <a:p>
            <a:pPr algn="l" eaLnBrk="0">
              <a:lnSpc>
                <a:spcPct val="110000"/>
              </a:lnSpc>
              <a:spcAft>
                <a:spcPts val="200"/>
              </a:spcAft>
            </a:pPr>
            <a:r>
              <a:rPr sz="1300" b="0">
                <a:solidFill>
                  <a:srgbClr val="E8EEF6"/>
                </a:solidFill>
                <a:latin typeface="Consolas"/>
                <a:ea typeface="맑은 고딕"/>
                <a:cs typeface="맑은 고딕"/>
              </a:rPr>
              <a:t>11:13:07   55.56</a:t>
            </a:r>
          </a:p>
          <a:p>
            <a:pPr algn="l" eaLnBrk="0">
              <a:lnSpc>
                <a:spcPct val="110000"/>
              </a:lnSpc>
              <a:spcAft>
                <a:spcPts val="200"/>
              </a:spcAft>
            </a:pPr>
            <a:r>
              <a:rPr sz="1300" b="0">
                <a:solidFill>
                  <a:srgbClr val="E8EEF6"/>
                </a:solidFill>
                <a:latin typeface="Consolas"/>
                <a:ea typeface="맑은 고딕"/>
                <a:cs typeface="맑은 고딕"/>
              </a:rPr>
              <a:t>11:13:08   55.71</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기울기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표</a:t>
            </a:r>
            <a:r>
              <a:rPr sz="1300" b="0">
                <a:solidFill>
                  <a:srgbClr val="E8EEF6"/>
                </a:solidFill>
                <a:latin typeface="Consolas"/>
                <a:ea typeface="맑은 고딕"/>
                <a:cs typeface="맑은 고딕"/>
              </a:rPr>
              <a:t> feat_1s)</a:t>
            </a:r>
          </a:p>
          <a:p>
            <a:pPr algn="l" eaLnBrk="0">
              <a:lnSpc>
                <a:spcPct val="110000"/>
              </a:lnSpc>
              <a:spcAft>
                <a:spcPts val="200"/>
              </a:spcAft>
            </a:pPr>
            <a:r>
              <a:rPr sz="1300" b="0">
                <a:solidFill>
                  <a:srgbClr val="E8EEF6"/>
                </a:solidFill>
                <a:latin typeface="Consolas"/>
                <a:ea typeface="맑은 고딕"/>
                <a:cs typeface="맑은 고딕"/>
              </a:rPr>
              <a:t>11:13:08   mean 55.71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slope </a:t>
            </a:r>
            <a:r>
              <a:rPr sz="1300" b="0">
                <a:solidFill>
                  <a:srgbClr val="E8EEF6"/>
                </a:solidFill>
                <a:latin typeface="맑은 고딕"/>
                <a:ea typeface="맑은 고딕"/>
                <a:cs typeface="맑은 고딕"/>
              </a:rPr>
              <a:t>양수</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오르는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중</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이벤트</a:t>
            </a:r>
          </a:p>
          <a:p>
            <a:pPr algn="l" eaLnBrk="0">
              <a:lnSpc>
                <a:spcPct val="110000"/>
              </a:lnSpc>
              <a:spcAft>
                <a:spcPts val="200"/>
              </a:spcAft>
            </a:pPr>
            <a:r>
              <a:rPr sz="1300" b="0">
                <a:solidFill>
                  <a:srgbClr val="E8EEF6"/>
                </a:solidFill>
                <a:latin typeface="Consolas"/>
                <a:ea typeface="맑은 고딕"/>
                <a:cs typeface="맑은 고딕"/>
              </a:rPr>
              <a:t>ALT-hyd01-0014-e0a1   COOLER_DEGRADATION</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p>
          <a:p>
            <a:pPr algn="l" eaLnBrk="0">
              <a:lnSpc>
                <a:spcPct val="110000"/>
              </a:lnSpc>
              <a:spcAft>
                <a:spcPts val="200"/>
              </a:spcAft>
            </a:pPr>
            <a:r>
              <a:rPr sz="1300" b="0">
                <a:solidFill>
                  <a:srgbClr val="E8EEF6"/>
                </a:solidFill>
                <a:latin typeface="Consolas"/>
                <a:ea typeface="맑은 고딕"/>
                <a:cs typeface="맑은 고딕"/>
              </a:rPr>
              <a:t>DEC-1010-002-408b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a:t>
            </a:r>
          </a:p>
        </p:txBody>
      </p:sp>
      <p:sp>
        <p:nvSpPr>
          <p:cNvPr id="8" name="TextBox 7"/>
          <p:cNvSpPr txBox="1"/>
          <p:nvPr/>
        </p:nvSpPr>
        <p:spPr>
          <a:xfrm>
            <a:off x="7635240" y="1665478"/>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원천 데이터</a:t>
            </a:r>
          </a:p>
          <a:p>
            <a:pPr algn="l" eaLnBrk="0">
              <a:lnSpc>
                <a:spcPct val="110000"/>
              </a:lnSpc>
              <a:spcAft>
                <a:spcPts val="400"/>
              </a:spcAft>
            </a:pPr>
            <a:r>
              <a:rPr sz="1400" b="0">
                <a:solidFill>
                  <a:srgbClr val="1F2A3A"/>
                </a:solidFill>
                <a:latin typeface="맑은 고딕"/>
                <a:ea typeface="맑은 고딕"/>
                <a:cs typeface="맑은 고딕"/>
              </a:rPr>
              <a:t>센서와 PLC가 만들고 브로커가 전달한 계측값이다.</a:t>
            </a:r>
          </a:p>
        </p:txBody>
      </p:sp>
      <p:sp>
        <p:nvSpPr>
          <p:cNvPr id="9" name="TextBox 8"/>
          <p:cNvSpPr txBox="1"/>
          <p:nvPr/>
        </p:nvSpPr>
        <p:spPr>
          <a:xfrm>
            <a:off x="7635240" y="2828417"/>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가공 데이터</a:t>
            </a:r>
          </a:p>
          <a:p>
            <a:pPr algn="l" eaLnBrk="0">
              <a:lnSpc>
                <a:spcPct val="110000"/>
              </a:lnSpc>
              <a:spcAft>
                <a:spcPts val="400"/>
              </a:spcAft>
            </a:pPr>
            <a:r>
              <a:rPr sz="1400" b="0">
                <a:solidFill>
                  <a:srgbClr val="1F2A3A"/>
                </a:solidFill>
                <a:latin typeface="맑은 고딕"/>
                <a:ea typeface="맑은 고딕"/>
                <a:cs typeface="맑은 고딕"/>
              </a:rPr>
              <a:t>감지 서비스가 원천 데이터로 계산한 값이다. 기울기가 0보다 크면 유온이 오르는 중이다.</a:t>
            </a:r>
          </a:p>
        </p:txBody>
      </p:sp>
      <p:sp>
        <p:nvSpPr>
          <p:cNvPr id="10" name="TextBox 9"/>
          <p:cNvSpPr txBox="1"/>
          <p:nvPr/>
        </p:nvSpPr>
        <p:spPr>
          <a:xfrm>
            <a:off x="7635240" y="3991356"/>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이상 이벤트</a:t>
            </a:r>
          </a:p>
          <a:p>
            <a:pPr algn="l" eaLnBrk="0">
              <a:lnSpc>
                <a:spcPct val="110000"/>
              </a:lnSpc>
              <a:spcAft>
                <a:spcPts val="400"/>
              </a:spcAft>
            </a:pPr>
            <a:r>
              <a:rPr sz="1400" b="0">
                <a:solidFill>
                  <a:srgbClr val="1F2A3A"/>
                </a:solidFill>
                <a:latin typeface="맑은 고딕"/>
                <a:ea typeface="맑은 고딕"/>
                <a:cs typeface="맑은 고딕"/>
              </a:rPr>
              <a:t>조건이 성립했을 때 감지 서비스가 남긴 경보이다.</a:t>
            </a:r>
          </a:p>
        </p:txBody>
      </p:sp>
      <p:sp>
        <p:nvSpPr>
          <p:cNvPr id="11" name="TextBox 10"/>
          <p:cNvSpPr txBox="1"/>
          <p:nvPr/>
        </p:nvSpPr>
        <p:spPr>
          <a:xfrm>
            <a:off x="7635240" y="5154295"/>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판단 결과와 추적성</a:t>
            </a:r>
          </a:p>
          <a:p>
            <a:pPr algn="l" eaLnBrk="0">
              <a:lnSpc>
                <a:spcPct val="110000"/>
              </a:lnSpc>
              <a:spcAft>
                <a:spcPts val="400"/>
              </a:spcAft>
            </a:pPr>
            <a:r>
              <a:rPr sz="1400" b="0">
                <a:solidFill>
                  <a:srgbClr val="1F2A3A"/>
                </a:solidFill>
                <a:latin typeface="맑은 고딕"/>
                <a:ea typeface="맑은 고딕"/>
                <a:cs typeface="맑은 고딕"/>
              </a:rPr>
              <a:t>에이전트의 진단·추천과 승인 기록이다. 추적성(Traceability)은 결과에서 근거를 되짚는 성질이다.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식별자로 이어지는 판단과 작업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경보·사건·판단·명령·작업지시를 식별자로 연결하면, 실행 결과에서 판단 근거까지 거슬러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기록</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식별자</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남기는 것</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경보(Alert)</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ALT-hyd01-0014-e0a1</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발생 조건과</a:t>
            </a:r>
          </a:p>
          <a:p>
            <a:pPr algn="l" eaLnBrk="0">
              <a:lnSpc>
                <a:spcPct val="110000"/>
              </a:lnSpc>
            </a:pPr>
            <a:r>
              <a:rPr sz="1250" b="1">
                <a:solidFill>
                  <a:srgbClr val="556175"/>
                </a:solidFill>
                <a:latin typeface="맑은 고딕"/>
                <a:ea typeface="맑은 고딕"/>
                <a:cs typeface="맑은 고딕"/>
              </a:rPr>
              <a:t>당시의 값</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사건(Incident)</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INC-1010-01-d55a</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경보 처리의</a:t>
            </a:r>
          </a:p>
          <a:p>
            <a:pPr algn="l" eaLnBrk="0">
              <a:lnSpc>
                <a:spcPct val="110000"/>
              </a:lnSpc>
            </a:pPr>
            <a:r>
              <a:rPr sz="1250" b="1">
                <a:solidFill>
                  <a:srgbClr val="556175"/>
                </a:solidFill>
                <a:latin typeface="맑은 고딕"/>
                <a:ea typeface="맑은 고딕"/>
                <a:cs typeface="맑은 고딕"/>
              </a:rPr>
              <a:t>진행 상태</a:t>
            </a:r>
          </a:p>
        </p:txBody>
      </p:sp>
      <p:sp>
        <p:nvSpPr>
          <p:cNvPr id="18" name="Rounded Rectangle 17"/>
          <p:cNvSpPr/>
          <p:nvPr/>
        </p:nvSpPr>
        <p:spPr>
          <a:xfrm>
            <a:off x="548640" y="3792016"/>
            <a:ext cx="11094415" cy="801014"/>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판단(Decision)</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DEC-1010-002-408b</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원인 진단과</a:t>
            </a:r>
          </a:p>
          <a:p>
            <a:pPr algn="l" eaLnBrk="0">
              <a:lnSpc>
                <a:spcPct val="110000"/>
              </a:lnSpc>
            </a:pPr>
            <a:r>
              <a:rPr sz="1250" b="1">
                <a:solidFill>
                  <a:srgbClr val="1A6FC4"/>
                </a:solidFill>
                <a:latin typeface="맑은 고딕"/>
                <a:ea typeface="맑은 고딕"/>
                <a:cs typeface="맑은 고딕"/>
              </a:rPr>
              <a:t>조치 추천</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명령(Command)</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CMD-1010-0001-b94a</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승인된</a:t>
            </a:r>
          </a:p>
          <a:p>
            <a:pPr algn="l" eaLnBrk="0">
              <a:lnSpc>
                <a:spcPct val="110000"/>
              </a:lnSpc>
            </a:pPr>
            <a:r>
              <a:rPr sz="1250" b="1">
                <a:solidFill>
                  <a:srgbClr val="556175"/>
                </a:solidFill>
                <a:latin typeface="맑은 고딕"/>
                <a:ea typeface="맑은 고딕"/>
                <a:cs typeface="맑은 고딕"/>
              </a:rPr>
              <a:t>팬 속도 변경</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작업지시(Work Order)</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WO-1010-C058</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쿨러 핀 세척</a:t>
            </a:r>
          </a:p>
          <a:p>
            <a:pPr algn="l" eaLnBrk="0">
              <a:lnSpc>
                <a:spcPct val="110000"/>
              </a:lnSpc>
            </a:pPr>
            <a:r>
              <a:rPr sz="1250" b="1">
                <a:solidFill>
                  <a:srgbClr val="556175"/>
                </a:solidFill>
                <a:latin typeface="맑은 고딕"/>
                <a:ea typeface="맑은 고딕"/>
                <a:cs typeface="맑은 고딕"/>
              </a:rPr>
              <a:t>판단 기록 참조</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지나온 길: 아홉 기능 계층과 세 보안 영역</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시스템을 하는 일로 나누면 아홉 기능 계층이고, 각 요소가 놓인 망으로 나누면 세 보안 영역이다.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pic>
        <p:nvPicPr>
          <p:cNvPr id="6" name="삽화:계층_0_전체.svg" descr="illust_5654847326134567256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50195" y="1641814"/>
            <a:ext cx="8945785"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OT: Operational Technology · DMZ: Demilitarized Zone · IT: Information Technology</a:t>
            </a:r>
          </a:p>
        </p:txBody>
      </p:sp>
      <p:sp>
        <p:nvSpPr>
          <p:cNvPr id="8" name="TextBox 7"/>
          <p:cNvSpPr txBox="1"/>
          <p:nvPr/>
        </p:nvSpPr>
        <p:spPr>
          <a:xfrm>
            <a:off x="9799621" y="1641814"/>
            <a:ext cx="600022"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OT</a:t>
            </a:r>
          </a:p>
        </p:txBody>
      </p:sp>
      <p:sp>
        <p:nvSpPr>
          <p:cNvPr id="9" name="TextBox 8"/>
          <p:cNvSpPr txBox="1"/>
          <p:nvPr/>
        </p:nvSpPr>
        <p:spPr>
          <a:xfrm>
            <a:off x="10317822" y="1641814"/>
            <a:ext cx="65456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DMZ</a:t>
            </a:r>
          </a:p>
        </p:txBody>
      </p:sp>
      <p:sp>
        <p:nvSpPr>
          <p:cNvPr id="10" name="TextBox 9"/>
          <p:cNvSpPr txBox="1"/>
          <p:nvPr/>
        </p:nvSpPr>
        <p:spPr>
          <a:xfrm>
            <a:off x="10890570" y="1641814"/>
            <a:ext cx="600022"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IT</a:t>
            </a:r>
          </a:p>
        </p:txBody>
      </p:sp>
      <p:sp>
        <p:nvSpPr>
          <p:cNvPr id="11" name="TextBox 10"/>
          <p:cNvSpPr txBox="1"/>
          <p:nvPr/>
        </p:nvSpPr>
        <p:spPr>
          <a:xfrm>
            <a:off x="1841144" y="2020010"/>
            <a:ext cx="7636646"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Layer 9 · 프로세스 · 승인 · 앱</a:t>
            </a:r>
          </a:p>
        </p:txBody>
      </p:sp>
      <p:sp>
        <p:nvSpPr>
          <p:cNvPr id="12" name="TextBox 11"/>
          <p:cNvSpPr txBox="1"/>
          <p:nvPr/>
        </p:nvSpPr>
        <p:spPr>
          <a:xfrm>
            <a:off x="1841144" y="2502209"/>
            <a:ext cx="7636646"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Layer 8 · AI 에이전트</a:t>
            </a:r>
          </a:p>
        </p:txBody>
      </p:sp>
      <p:sp>
        <p:nvSpPr>
          <p:cNvPr id="13" name="TextBox 12"/>
          <p:cNvSpPr txBox="1"/>
          <p:nvPr/>
        </p:nvSpPr>
        <p:spPr>
          <a:xfrm>
            <a:off x="1841144" y="2984409"/>
            <a:ext cx="7636646"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Layer 7 · 온톨로지 · 원인분석</a:t>
            </a:r>
          </a:p>
        </p:txBody>
      </p:sp>
      <p:sp>
        <p:nvSpPr>
          <p:cNvPr id="14" name="TextBox 13"/>
          <p:cNvSpPr txBox="1"/>
          <p:nvPr/>
        </p:nvSpPr>
        <p:spPr>
          <a:xfrm>
            <a:off x="1841144" y="3466609"/>
            <a:ext cx="7636646"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Layer 6 · 관제 · SCADA</a:t>
            </a:r>
          </a:p>
        </p:txBody>
      </p:sp>
      <p:sp>
        <p:nvSpPr>
          <p:cNvPr id="15" name="TextBox 14"/>
          <p:cNvSpPr txBox="1"/>
          <p:nvPr/>
        </p:nvSpPr>
        <p:spPr>
          <a:xfrm>
            <a:off x="1841144" y="3948808"/>
            <a:ext cx="7636646"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Layer 5 · 시계열 저장소</a:t>
            </a:r>
          </a:p>
        </p:txBody>
      </p:sp>
      <p:sp>
        <p:nvSpPr>
          <p:cNvPr id="16" name="TextBox 15"/>
          <p:cNvSpPr txBox="1"/>
          <p:nvPr/>
        </p:nvSpPr>
        <p:spPr>
          <a:xfrm>
            <a:off x="1841144" y="4431008"/>
            <a:ext cx="7636646"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Layer 4 · 스트림 처리</a:t>
            </a:r>
          </a:p>
        </p:txBody>
      </p:sp>
      <p:sp>
        <p:nvSpPr>
          <p:cNvPr id="17" name="TextBox 16"/>
          <p:cNvSpPr txBox="1"/>
          <p:nvPr/>
        </p:nvSpPr>
        <p:spPr>
          <a:xfrm>
            <a:off x="1841144" y="4913208"/>
            <a:ext cx="7636646"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Layer 3 · 이벤트 백본</a:t>
            </a:r>
          </a:p>
        </p:txBody>
      </p:sp>
      <p:sp>
        <p:nvSpPr>
          <p:cNvPr id="18" name="TextBox 17"/>
          <p:cNvSpPr txBox="1"/>
          <p:nvPr/>
        </p:nvSpPr>
        <p:spPr>
          <a:xfrm>
            <a:off x="1841144" y="5395408"/>
            <a:ext cx="7636646"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Layer 2 · IoT 미들웨어 · MQTT</a:t>
            </a:r>
          </a:p>
        </p:txBody>
      </p:sp>
      <p:sp>
        <p:nvSpPr>
          <p:cNvPr id="19" name="TextBox 18"/>
          <p:cNvSpPr txBox="1"/>
          <p:nvPr/>
        </p:nvSpPr>
        <p:spPr>
          <a:xfrm>
            <a:off x="1841144" y="5877607"/>
            <a:ext cx="7636646"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Layer 1 · 센서 네트워크 · 설비</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데이터 수집과 승인된 자동 명령의 두 경로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데이터는 OT에서 IT로 수집하고, 승인된 자동 명령은 별도 경로의 검사를 거쳐 설비에 적용한다.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pic>
        <p:nvPicPr>
          <p:cNvPr id="6" name="삽화:데이터_명령_두경로.svg" descr="illust_1153164944310087487_1792130363.png"/>
          <p:cNvPicPr>
            <a:picLocks noChangeAspect="1"/>
          </p:cNvPicPr>
          <p:nvPr/>
        </p:nvPicPr>
        <p:blipFill>
          <a:blip r:embed="rId3"/>
          <a:stretch>
            <a:fillRect/>
          </a:stretch>
        </p:blipFill>
        <p:spPr>
          <a:xfrm>
            <a:off x="548640" y="1772473"/>
            <a:ext cx="11094414" cy="4437765"/>
          </a:xfrm>
          <a:prstGeom prst="rect">
            <a:avLst/>
          </a:prstGeom>
        </p:spPr>
      </p:pic>
      <p:sp>
        <p:nvSpPr>
          <p:cNvPr id="7" name="TextBox 6"/>
          <p:cNvSpPr txBox="1"/>
          <p:nvPr/>
        </p:nvSpPr>
        <p:spPr>
          <a:xfrm>
            <a:off x="826000" y="1816851"/>
            <a:ext cx="4992486"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OT</a:t>
            </a:r>
          </a:p>
        </p:txBody>
      </p:sp>
      <p:sp>
        <p:nvSpPr>
          <p:cNvPr id="8" name="TextBox 7"/>
          <p:cNvSpPr txBox="1"/>
          <p:nvPr/>
        </p:nvSpPr>
        <p:spPr>
          <a:xfrm>
            <a:off x="6243736" y="1816851"/>
            <a:ext cx="155321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DMZ</a:t>
            </a:r>
          </a:p>
        </p:txBody>
      </p:sp>
      <p:sp>
        <p:nvSpPr>
          <p:cNvPr id="9" name="TextBox 8"/>
          <p:cNvSpPr txBox="1"/>
          <p:nvPr/>
        </p:nvSpPr>
        <p:spPr>
          <a:xfrm>
            <a:off x="8129786" y="1816851"/>
            <a:ext cx="332832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IT</a:t>
            </a:r>
          </a:p>
        </p:txBody>
      </p:sp>
      <p:sp>
        <p:nvSpPr>
          <p:cNvPr id="10" name="TextBox 9"/>
          <p:cNvSpPr txBox="1"/>
          <p:nvPr/>
        </p:nvSpPr>
        <p:spPr>
          <a:xfrm>
            <a:off x="696529" y="2327194"/>
            <a:ext cx="15532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PLC</a:t>
            </a:r>
          </a:p>
          <a:p>
            <a:pPr algn="ctr" eaLnBrk="0">
              <a:lnSpc>
                <a:spcPct val="110000"/>
              </a:lnSpc>
              <a:spcAft>
                <a:spcPts val="100"/>
              </a:spcAft>
            </a:pPr>
            <a:r>
              <a:rPr sz="1100" b="0">
                <a:solidFill>
                  <a:srgbClr val="556175"/>
                </a:solidFill>
                <a:latin typeface="맑은 고딕"/>
                <a:ea typeface="맑은 고딕"/>
                <a:cs typeface="맑은 고딕"/>
              </a:rPr>
              <a:t>HYD-01</a:t>
            </a:r>
          </a:p>
        </p:txBody>
      </p:sp>
      <p:sp>
        <p:nvSpPr>
          <p:cNvPr id="11" name="TextBox 10"/>
          <p:cNvSpPr txBox="1"/>
          <p:nvPr/>
        </p:nvSpPr>
        <p:spPr>
          <a:xfrm>
            <a:off x="2545635" y="2327194"/>
            <a:ext cx="15532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엣지 게이트웨이</a:t>
            </a:r>
          </a:p>
          <a:p>
            <a:pPr algn="ctr" eaLnBrk="0">
              <a:lnSpc>
                <a:spcPct val="110000"/>
              </a:lnSpc>
              <a:spcAft>
                <a:spcPts val="100"/>
              </a:spcAft>
            </a:pPr>
            <a:r>
              <a:rPr sz="1100" b="0">
                <a:solidFill>
                  <a:srgbClr val="556175"/>
                </a:solidFill>
                <a:latin typeface="맑은 고딕"/>
                <a:ea typeface="맑은 고딕"/>
                <a:cs typeface="맑은 고딕"/>
              </a:rPr>
              <a:t>TS1</a:t>
            </a:r>
          </a:p>
        </p:txBody>
      </p:sp>
      <p:sp>
        <p:nvSpPr>
          <p:cNvPr id="12" name="TextBox 11"/>
          <p:cNvSpPr txBox="1"/>
          <p:nvPr/>
        </p:nvSpPr>
        <p:spPr>
          <a:xfrm>
            <a:off x="4394741" y="2327194"/>
            <a:ext cx="15532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브로커</a:t>
            </a:r>
          </a:p>
          <a:p>
            <a:pPr algn="ctr" eaLnBrk="0">
              <a:lnSpc>
                <a:spcPct val="110000"/>
              </a:lnSpc>
              <a:spcAft>
                <a:spcPts val="100"/>
              </a:spcAft>
            </a:pPr>
            <a:r>
              <a:rPr sz="1100" b="0">
                <a:solidFill>
                  <a:srgbClr val="556175"/>
                </a:solidFill>
                <a:latin typeface="맑은 고딕"/>
                <a:ea typeface="맑은 고딕"/>
                <a:cs typeface="맑은 고딕"/>
              </a:rPr>
              <a:t>MQTT</a:t>
            </a:r>
          </a:p>
        </p:txBody>
      </p:sp>
      <p:sp>
        <p:nvSpPr>
          <p:cNvPr id="13" name="TextBox 12"/>
          <p:cNvSpPr txBox="1"/>
          <p:nvPr/>
        </p:nvSpPr>
        <p:spPr>
          <a:xfrm>
            <a:off x="6243736" y="2327194"/>
            <a:ext cx="155321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수집 서비스</a:t>
            </a:r>
          </a:p>
        </p:txBody>
      </p:sp>
      <p:sp>
        <p:nvSpPr>
          <p:cNvPr id="14" name="TextBox 13"/>
          <p:cNvSpPr txBox="1"/>
          <p:nvPr/>
        </p:nvSpPr>
        <p:spPr>
          <a:xfrm>
            <a:off x="8092842" y="2327194"/>
            <a:ext cx="15532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이벤트 로그</a:t>
            </a:r>
          </a:p>
          <a:p>
            <a:pPr algn="ctr" eaLnBrk="0">
              <a:lnSpc>
                <a:spcPct val="110000"/>
              </a:lnSpc>
              <a:spcAft>
                <a:spcPts val="100"/>
              </a:spcAft>
            </a:pPr>
            <a:r>
              <a:rPr sz="1100" b="0">
                <a:solidFill>
                  <a:srgbClr val="556175"/>
                </a:solidFill>
                <a:latin typeface="맑은 고딕"/>
                <a:ea typeface="맑은 고딕"/>
                <a:cs typeface="맑은 고딕"/>
              </a:rPr>
              <a:t>plant.tag</a:t>
            </a:r>
          </a:p>
        </p:txBody>
      </p:sp>
      <p:sp>
        <p:nvSpPr>
          <p:cNvPr id="15" name="TextBox 14"/>
          <p:cNvSpPr txBox="1"/>
          <p:nvPr/>
        </p:nvSpPr>
        <p:spPr>
          <a:xfrm>
            <a:off x="9941948" y="2327194"/>
            <a:ext cx="155321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감지 서비스</a:t>
            </a:r>
          </a:p>
        </p:txBody>
      </p:sp>
      <p:sp>
        <p:nvSpPr>
          <p:cNvPr id="16" name="TextBox 15"/>
          <p:cNvSpPr txBox="1"/>
          <p:nvPr/>
        </p:nvSpPr>
        <p:spPr>
          <a:xfrm>
            <a:off x="696529" y="5544573"/>
            <a:ext cx="15532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PLC</a:t>
            </a:r>
          </a:p>
          <a:p>
            <a:pPr algn="ctr" eaLnBrk="0">
              <a:lnSpc>
                <a:spcPct val="110000"/>
              </a:lnSpc>
              <a:spcAft>
                <a:spcPts val="100"/>
              </a:spcAft>
            </a:pPr>
            <a:r>
              <a:rPr sz="1100" b="0">
                <a:solidFill>
                  <a:srgbClr val="556175"/>
                </a:solidFill>
                <a:latin typeface="맑은 고딕"/>
                <a:ea typeface="맑은 고딕"/>
                <a:cs typeface="맑은 고딕"/>
              </a:rPr>
              <a:t>HYD-01</a:t>
            </a:r>
          </a:p>
        </p:txBody>
      </p:sp>
      <p:sp>
        <p:nvSpPr>
          <p:cNvPr id="17" name="TextBox 16"/>
          <p:cNvSpPr txBox="1"/>
          <p:nvPr/>
        </p:nvSpPr>
        <p:spPr>
          <a:xfrm>
            <a:off x="2545635" y="5544573"/>
            <a:ext cx="15532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엣지 게이트웨이</a:t>
            </a:r>
          </a:p>
          <a:p>
            <a:pPr algn="ctr" eaLnBrk="0">
              <a:lnSpc>
                <a:spcPct val="110000"/>
              </a:lnSpc>
              <a:spcAft>
                <a:spcPts val="100"/>
              </a:spcAft>
            </a:pPr>
            <a:r>
              <a:rPr sz="1100" b="0">
                <a:solidFill>
                  <a:srgbClr val="556175"/>
                </a:solidFill>
                <a:latin typeface="맑은 고딕"/>
                <a:ea typeface="맑은 고딕"/>
                <a:cs typeface="맑은 고딕"/>
              </a:rPr>
              <a:t>FanSpeedSP</a:t>
            </a:r>
          </a:p>
        </p:txBody>
      </p:sp>
      <p:sp>
        <p:nvSpPr>
          <p:cNvPr id="18" name="TextBox 17"/>
          <p:cNvSpPr txBox="1"/>
          <p:nvPr/>
        </p:nvSpPr>
        <p:spPr>
          <a:xfrm>
            <a:off x="4394741" y="5544573"/>
            <a:ext cx="15532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브로커</a:t>
            </a:r>
          </a:p>
          <a:p>
            <a:pPr algn="ctr" eaLnBrk="0">
              <a:lnSpc>
                <a:spcPct val="110000"/>
              </a:lnSpc>
              <a:spcAft>
                <a:spcPts val="100"/>
              </a:spcAft>
            </a:pPr>
            <a:r>
              <a:rPr sz="1100" b="0">
                <a:solidFill>
                  <a:srgbClr val="556175"/>
                </a:solidFill>
                <a:latin typeface="맑은 고딕"/>
                <a:ea typeface="맑은 고딕"/>
                <a:cs typeface="맑은 고딕"/>
              </a:rPr>
              <a:t>MQTT</a:t>
            </a:r>
          </a:p>
        </p:txBody>
      </p:sp>
      <p:sp>
        <p:nvSpPr>
          <p:cNvPr id="19" name="TextBox 18"/>
          <p:cNvSpPr txBox="1"/>
          <p:nvPr/>
        </p:nvSpPr>
        <p:spPr>
          <a:xfrm>
            <a:off x="6243736" y="5544573"/>
            <a:ext cx="155321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명령 관문</a:t>
            </a:r>
          </a:p>
        </p:txBody>
      </p:sp>
      <p:sp>
        <p:nvSpPr>
          <p:cNvPr id="20" name="TextBox 19"/>
          <p:cNvSpPr txBox="1"/>
          <p:nvPr/>
        </p:nvSpPr>
        <p:spPr>
          <a:xfrm>
            <a:off x="8092842" y="5544573"/>
            <a:ext cx="15532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이벤트 로그</a:t>
            </a:r>
          </a:p>
          <a:p>
            <a:pPr algn="ctr" eaLnBrk="0">
              <a:lnSpc>
                <a:spcPct val="110000"/>
              </a:lnSpc>
              <a:spcAft>
                <a:spcPts val="100"/>
              </a:spcAft>
            </a:pPr>
            <a:r>
              <a:rPr sz="1100" b="0">
                <a:solidFill>
                  <a:srgbClr val="556175"/>
                </a:solidFill>
                <a:latin typeface="맑은 고딕"/>
                <a:ea typeface="맑은 고딕"/>
                <a:cs typeface="맑은 고딕"/>
              </a:rPr>
              <a:t>action.cmd</a:t>
            </a:r>
          </a:p>
        </p:txBody>
      </p:sp>
      <p:sp>
        <p:nvSpPr>
          <p:cNvPr id="21" name="TextBox 20"/>
          <p:cNvSpPr txBox="1"/>
          <p:nvPr/>
        </p:nvSpPr>
        <p:spPr>
          <a:xfrm>
            <a:off x="9941948" y="5544573"/>
            <a:ext cx="15532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프로세스 엔진</a:t>
            </a:r>
          </a:p>
          <a:p>
            <a:pPr algn="ctr" eaLnBrk="0">
              <a:lnSpc>
                <a:spcPct val="110000"/>
              </a:lnSpc>
              <a:spcAft>
                <a:spcPts val="100"/>
              </a:spcAft>
            </a:pPr>
            <a:r>
              <a:rPr sz="1100" b="0">
                <a:solidFill>
                  <a:srgbClr val="556175"/>
                </a:solidFill>
                <a:latin typeface="맑은 고딕"/>
                <a:ea typeface="맑은 고딕"/>
                <a:cs typeface="맑은 고딕"/>
              </a:rPr>
              <a:t>FAN_SET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실행 환경 구성과 서비스 동작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준비된 환경에서 HYD 서비스를 실행하고 포털이 열리는지 확인한다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실습에서 쓰는 도구와 확인하는 상태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정의된 서비스를 실행해 컨테이너 상태와 주요 서비스 접속을 확인하고, 포털이 열리는 상태를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1945259"/>
            <a:ext cx="2567863" cy="409219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146427"/>
            <a:ext cx="731520" cy="731520"/>
          </a:xfrm>
          <a:prstGeom prst="ellipse">
            <a:avLst/>
          </a:prstGeom>
          <a:solidFill>
            <a:srgbClr val="E7F3FD"/>
          </a:solidFill>
          <a:ln>
            <a:noFill/>
          </a:ln>
        </p:spPr>
        <p:txBody>
          <a:bodyPr rtlCol="0" anchor="ctr"/>
          <a:lstStyle/>
          <a:p>
            <a:pPr algn="ctr"/>
          </a:p>
        </p:txBody>
      </p:sp>
      <p:pic>
        <p:nvPicPr>
          <p:cNvPr id="8" name="아이콘:brand-vscode" descr="brand-vscode_13294B_1.6.png"/>
          <p:cNvPicPr>
            <a:picLocks noChangeAspect="1"/>
          </p:cNvPicPr>
          <p:nvPr/>
        </p:nvPicPr>
        <p:blipFill>
          <a:blip r:embed="rId2"/>
          <a:stretch>
            <a:fillRect/>
          </a:stretch>
        </p:blipFill>
        <p:spPr>
          <a:xfrm>
            <a:off x="930859" y="2300046"/>
            <a:ext cx="424281" cy="424281"/>
          </a:xfrm>
          <a:prstGeom prst="rect">
            <a:avLst/>
          </a:prstGeom>
        </p:spPr>
      </p:pic>
      <p:sp>
        <p:nvSpPr>
          <p:cNvPr id="9" name="TextBox 8"/>
          <p:cNvSpPr txBox="1"/>
          <p:nvPr/>
        </p:nvSpPr>
        <p:spPr>
          <a:xfrm>
            <a:off x="713232" y="2969387"/>
            <a:ext cx="2238679" cy="2565146"/>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VS Code</a:t>
            </a:r>
          </a:p>
          <a:p>
            <a:pPr algn="l" eaLnBrk="0" marL="154305" indent="-154305">
              <a:lnSpc>
                <a:spcPct val="110000"/>
              </a:lnSpc>
              <a:spcAft>
                <a:spcPts val="400"/>
              </a:spcAft>
            </a:pPr>
            <a:r>
              <a:rPr sz="1350" b="0">
                <a:solidFill>
                  <a:srgbClr val="1F2A3A"/>
                </a:solidFill>
                <a:latin typeface="맑은 고딕"/>
                <a:ea typeface="맑은 고딕"/>
                <a:cs typeface="맑은 고딕"/>
              </a:rPr>
              <a:t>• 파일을 열고 편집하며</a:t>
            </a:r>
          </a:p>
          <a:p>
            <a:pPr algn="l" eaLnBrk="0" marL="154305" indent="-154305">
              <a:lnSpc>
                <a:spcPct val="110000"/>
              </a:lnSpc>
              <a:spcAft>
                <a:spcPts val="400"/>
              </a:spcAft>
            </a:pPr>
            <a:r>
              <a:rPr sz="1350" b="0">
                <a:solidFill>
                  <a:srgbClr val="1F2A3A"/>
                </a:solidFill>
                <a:latin typeface="맑은 고딕"/>
                <a:ea typeface="맑은 고딕"/>
                <a:cs typeface="맑은 고딕"/>
              </a:rPr>
              <a:t>• 터미널에서 명령을 실행한다</a:t>
            </a:r>
          </a:p>
        </p:txBody>
      </p:sp>
      <p:sp>
        <p:nvSpPr>
          <p:cNvPr id="10" name="Rounded Rectangle 9"/>
          <p:cNvSpPr/>
          <p:nvPr/>
        </p:nvSpPr>
        <p:spPr>
          <a:xfrm>
            <a:off x="777240" y="5607685"/>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60768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개발</a:t>
            </a:r>
          </a:p>
        </p:txBody>
      </p:sp>
      <p:sp>
        <p:nvSpPr>
          <p:cNvPr id="12" name="Rounded Rectangle 11"/>
          <p:cNvSpPr/>
          <p:nvPr/>
        </p:nvSpPr>
        <p:spPr>
          <a:xfrm>
            <a:off x="3390823" y="1945259"/>
            <a:ext cx="2567863" cy="409219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146427"/>
            <a:ext cx="731520" cy="731520"/>
          </a:xfrm>
          <a:prstGeom prst="ellipse">
            <a:avLst/>
          </a:prstGeom>
          <a:solidFill>
            <a:srgbClr val="E7F3FD"/>
          </a:solidFill>
          <a:ln>
            <a:noFill/>
          </a:ln>
        </p:spPr>
        <p:txBody>
          <a:bodyPr rtlCol="0" anchor="ctr"/>
          <a:lstStyle/>
          <a:p>
            <a:pPr algn="ctr"/>
          </a:p>
        </p:txBody>
      </p:sp>
      <p:pic>
        <p:nvPicPr>
          <p:cNvPr id="14" name="아이콘:brand-github-copilot" descr="brand-github-copilot_13294B_1.6.png"/>
          <p:cNvPicPr>
            <a:picLocks noChangeAspect="1"/>
          </p:cNvPicPr>
          <p:nvPr/>
        </p:nvPicPr>
        <p:blipFill>
          <a:blip r:embed="rId3"/>
          <a:stretch>
            <a:fillRect/>
          </a:stretch>
        </p:blipFill>
        <p:spPr>
          <a:xfrm>
            <a:off x="3773043" y="2300046"/>
            <a:ext cx="424281" cy="424281"/>
          </a:xfrm>
          <a:prstGeom prst="rect">
            <a:avLst/>
          </a:prstGeom>
        </p:spPr>
      </p:pic>
      <p:sp>
        <p:nvSpPr>
          <p:cNvPr id="15" name="TextBox 14"/>
          <p:cNvSpPr txBox="1"/>
          <p:nvPr/>
        </p:nvSpPr>
        <p:spPr>
          <a:xfrm>
            <a:off x="3555415" y="2969387"/>
            <a:ext cx="2238679" cy="2565146"/>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GitHub Copilot</a:t>
            </a:r>
          </a:p>
          <a:p>
            <a:pPr algn="l" eaLnBrk="0" marL="148590" indent="-148590">
              <a:lnSpc>
                <a:spcPct val="110000"/>
              </a:lnSpc>
              <a:spcAft>
                <a:spcPts val="400"/>
              </a:spcAft>
            </a:pPr>
            <a:r>
              <a:rPr sz="1300" b="0">
                <a:solidFill>
                  <a:srgbClr val="1F2A3A"/>
                </a:solidFill>
                <a:latin typeface="맑은 고딕"/>
                <a:ea typeface="맑은 고딕"/>
                <a:cs typeface="맑은 고딕"/>
              </a:rPr>
              <a:t>• VS Code 채팅에서 자연어로 요청하면 파일을 읽고 고치는 코딩 에이전트이다</a:t>
            </a:r>
          </a:p>
          <a:p>
            <a:pPr algn="l" eaLnBrk="0" marL="148590" indent="-148590">
              <a:lnSpc>
                <a:spcPct val="110000"/>
              </a:lnSpc>
              <a:spcAft>
                <a:spcPts val="400"/>
              </a:spcAft>
            </a:pPr>
            <a:r>
              <a:rPr sz="1300" b="0">
                <a:solidFill>
                  <a:srgbClr val="1F2A3A"/>
                </a:solidFill>
                <a:latin typeface="맑은 고딕"/>
                <a:ea typeface="맑은 고딕"/>
                <a:cs typeface="맑은 고딕"/>
              </a:rPr>
              <a:t>• AI에게 요청하고 코드를 실행·수정하며 만드는 방식을 바이브 코딩(Vibe Coding)이라고 한다</a:t>
            </a:r>
          </a:p>
        </p:txBody>
      </p:sp>
      <p:sp>
        <p:nvSpPr>
          <p:cNvPr id="16" name="Rounded Rectangle 15"/>
          <p:cNvSpPr/>
          <p:nvPr/>
        </p:nvSpPr>
        <p:spPr>
          <a:xfrm>
            <a:off x="3619423" y="5607685"/>
            <a:ext cx="905256"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607685"/>
            <a:ext cx="905256"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AI 코딩</a:t>
            </a:r>
          </a:p>
        </p:txBody>
      </p:sp>
      <p:sp>
        <p:nvSpPr>
          <p:cNvPr id="18" name="Rounded Rectangle 17"/>
          <p:cNvSpPr/>
          <p:nvPr/>
        </p:nvSpPr>
        <p:spPr>
          <a:xfrm>
            <a:off x="6233007" y="1945259"/>
            <a:ext cx="2567863" cy="409219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146427"/>
            <a:ext cx="731520" cy="731520"/>
          </a:xfrm>
          <a:prstGeom prst="ellipse">
            <a:avLst/>
          </a:prstGeom>
          <a:solidFill>
            <a:srgbClr val="E7F3FD"/>
          </a:solidFill>
          <a:ln>
            <a:noFill/>
          </a:ln>
        </p:spPr>
        <p:txBody>
          <a:bodyPr rtlCol="0" anchor="ctr"/>
          <a:lstStyle/>
          <a:p>
            <a:pPr algn="ctr"/>
          </a:p>
        </p:txBody>
      </p:sp>
      <p:pic>
        <p:nvPicPr>
          <p:cNvPr id="20" name="아이콘:brand-python" descr="brand-python_13294B_1.6.png"/>
          <p:cNvPicPr>
            <a:picLocks noChangeAspect="1"/>
          </p:cNvPicPr>
          <p:nvPr/>
        </p:nvPicPr>
        <p:blipFill>
          <a:blip r:embed="rId4"/>
          <a:stretch>
            <a:fillRect/>
          </a:stretch>
        </p:blipFill>
        <p:spPr>
          <a:xfrm>
            <a:off x="6615226" y="2300046"/>
            <a:ext cx="424281" cy="424281"/>
          </a:xfrm>
          <a:prstGeom prst="rect">
            <a:avLst/>
          </a:prstGeom>
        </p:spPr>
      </p:pic>
      <p:sp>
        <p:nvSpPr>
          <p:cNvPr id="21" name="TextBox 20"/>
          <p:cNvSpPr txBox="1"/>
          <p:nvPr/>
        </p:nvSpPr>
        <p:spPr>
          <a:xfrm>
            <a:off x="6397599" y="2969387"/>
            <a:ext cx="2238679" cy="2565146"/>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Python</a:t>
            </a:r>
          </a:p>
          <a:p>
            <a:pPr algn="l" eaLnBrk="0">
              <a:lnSpc>
                <a:spcPct val="110000"/>
              </a:lnSpc>
              <a:spcAft>
                <a:spcPts val="400"/>
              </a:spcAft>
            </a:pPr>
            <a:r>
              <a:rPr sz="1350" b="0">
                <a:solidFill>
                  <a:srgbClr val="1F2A3A"/>
                </a:solidFill>
                <a:latin typeface="맑은 고딕"/>
                <a:ea typeface="맑은 고딕"/>
                <a:cs typeface="맑은 고딕"/>
              </a:rPr>
              <a:t>HYD의 자체 서비스와 일부 랩에 쓰는 언어이다</a:t>
            </a:r>
          </a:p>
        </p:txBody>
      </p:sp>
      <p:sp>
        <p:nvSpPr>
          <p:cNvPr id="22" name="Rounded Rectangle 21"/>
          <p:cNvSpPr/>
          <p:nvPr/>
        </p:nvSpPr>
        <p:spPr>
          <a:xfrm>
            <a:off x="6461607" y="5607685"/>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60768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언어</a:t>
            </a:r>
          </a:p>
        </p:txBody>
      </p:sp>
      <p:sp>
        <p:nvSpPr>
          <p:cNvPr id="24" name="Rounded Rectangle 23"/>
          <p:cNvSpPr/>
          <p:nvPr/>
        </p:nvSpPr>
        <p:spPr>
          <a:xfrm>
            <a:off x="9075191" y="1945259"/>
            <a:ext cx="2567863" cy="409219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146427"/>
            <a:ext cx="731520" cy="731520"/>
          </a:xfrm>
          <a:prstGeom prst="ellipse">
            <a:avLst/>
          </a:prstGeom>
          <a:solidFill>
            <a:srgbClr val="5CB8F2"/>
          </a:solidFill>
          <a:ln>
            <a:noFill/>
          </a:ln>
        </p:spPr>
        <p:txBody>
          <a:bodyPr rtlCol="0" anchor="ctr"/>
          <a:lstStyle/>
          <a:p>
            <a:pPr algn="ctr"/>
          </a:p>
        </p:txBody>
      </p:sp>
      <p:pic>
        <p:nvPicPr>
          <p:cNvPr id="26" name="아이콘:brand-docker" descr="brand-docker_13294B_1.6.png"/>
          <p:cNvPicPr>
            <a:picLocks noChangeAspect="1"/>
          </p:cNvPicPr>
          <p:nvPr/>
        </p:nvPicPr>
        <p:blipFill>
          <a:blip r:embed="rId5"/>
          <a:stretch>
            <a:fillRect/>
          </a:stretch>
        </p:blipFill>
        <p:spPr>
          <a:xfrm>
            <a:off x="9457410" y="2300046"/>
            <a:ext cx="424281" cy="424281"/>
          </a:xfrm>
          <a:prstGeom prst="rect">
            <a:avLst/>
          </a:prstGeom>
        </p:spPr>
      </p:pic>
      <p:sp>
        <p:nvSpPr>
          <p:cNvPr id="27" name="TextBox 26"/>
          <p:cNvSpPr txBox="1"/>
          <p:nvPr/>
        </p:nvSpPr>
        <p:spPr>
          <a:xfrm>
            <a:off x="9239783" y="2969387"/>
            <a:ext cx="2238679" cy="2565146"/>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Docker</a:t>
            </a:r>
          </a:p>
          <a:p>
            <a:pPr algn="l" eaLnBrk="0" marL="154305" indent="-154305">
              <a:lnSpc>
                <a:spcPct val="110000"/>
              </a:lnSpc>
              <a:spcAft>
                <a:spcPts val="400"/>
              </a:spcAft>
            </a:pPr>
            <a:r>
              <a:rPr sz="1350" b="0">
                <a:solidFill>
                  <a:srgbClr val="1F2A3A"/>
                </a:solidFill>
                <a:latin typeface="맑은 고딕"/>
                <a:ea typeface="맑은 고딕"/>
                <a:cs typeface="맑은 고딕"/>
              </a:rPr>
              <a:t>• Docker Desktop은 컨테이너를 실행하는 프로그램이다</a:t>
            </a:r>
          </a:p>
          <a:p>
            <a:pPr algn="l" eaLnBrk="0" marL="154305" indent="-154305">
              <a:lnSpc>
                <a:spcPct val="110000"/>
              </a:lnSpc>
              <a:spcAft>
                <a:spcPts val="400"/>
              </a:spcAft>
            </a:pPr>
            <a:r>
              <a:rPr sz="1350" b="0">
                <a:solidFill>
                  <a:srgbClr val="1F2A3A"/>
                </a:solidFill>
                <a:latin typeface="맑은 고딕"/>
                <a:ea typeface="맑은 고딕"/>
                <a:cs typeface="맑은 고딕"/>
              </a:rPr>
              <a:t>• Docker Compose는 한 파일에 정의된 여러 서비스를 함께 실행한다</a:t>
            </a:r>
          </a:p>
          <a:p>
            <a:pPr algn="l" eaLnBrk="0" marL="154305" indent="-154305">
              <a:lnSpc>
                <a:spcPct val="110000"/>
              </a:lnSpc>
              <a:spcAft>
                <a:spcPts val="400"/>
              </a:spcAft>
            </a:pPr>
            <a:r>
              <a:rPr sz="1350" b="0">
                <a:solidFill>
                  <a:srgbClr val="1F2A3A"/>
                </a:solidFill>
                <a:latin typeface="맑은 고딕"/>
                <a:ea typeface="맑은 고딕"/>
                <a:cs typeface="맑은 고딕"/>
              </a:rPr>
              <a:t>• 상태와 접속 결과를 정상 구성과 대조한다</a:t>
            </a:r>
          </a:p>
        </p:txBody>
      </p:sp>
      <p:sp>
        <p:nvSpPr>
          <p:cNvPr id="28" name="Rounded Rectangle 27"/>
          <p:cNvSpPr/>
          <p:nvPr/>
        </p:nvSpPr>
        <p:spPr>
          <a:xfrm>
            <a:off x="9303791" y="5607685"/>
            <a:ext cx="11734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607685"/>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서비스 실행</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사건의 전체 흐름 관찰과 근거 추적</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사건의 진행을 관찰한 뒤 별도의 저장 기록으로 근거 추적 도구를 만든다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전체 흐름 관찰과 기록의 근거 추적</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현재 사건의 진행과 별도의 저장 발췌를 구별하고, 직접 참조를 검사해 근거와 한계를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입력</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할 일</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산출물·성공 기준</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현재 사건과 별도 발췌</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포털: 경보 → 추천 → 승인 → 명령 → 재관측</a:t>
            </a:r>
          </a:p>
          <a:p>
            <a:pPr algn="l" eaLnBrk="0">
              <a:lnSpc>
                <a:spcPct val="110000"/>
              </a:lnSpc>
            </a:pPr>
            <a:r>
              <a:rPr sz="1400" b="0">
                <a:solidFill>
                  <a:srgbClr val="1F2A3A"/>
                </a:solidFill>
                <a:latin typeface="맑은 고딕"/>
                <a:ea typeface="맑은 고딕"/>
                <a:cs typeface="맑은 고딕"/>
              </a:rPr>
              <a:t>발췌: 직접 참조와 출처 확인, 누락은 추정하지 않음</a:t>
            </a:r>
          </a:p>
          <a:p>
            <a:pPr algn="l" eaLnBrk="0">
              <a:lnSpc>
                <a:spcPct val="110000"/>
              </a:lnSpc>
            </a:pPr>
            <a:r>
              <a:rPr sz="1400" b="0">
                <a:solidFill>
                  <a:srgbClr val="1F2A3A"/>
                </a:solidFill>
                <a:latin typeface="맑은 고딕"/>
                <a:ea typeface="맑은 고딕"/>
                <a:cs typeface="맑은 고딕"/>
              </a:rPr>
              <a:t>현재 사건과 발췌의 ID·값·상태를 구별</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현재 관찰 기록과</a:t>
            </a:r>
          </a:p>
          <a:p>
            <a:pPr algn="l" eaLnBrk="0">
              <a:lnSpc>
                <a:spcPct val="110000"/>
              </a:lnSpc>
            </a:pPr>
            <a:r>
              <a:rPr sz="1250" b="1">
                <a:solidFill>
                  <a:srgbClr val="556175"/>
                </a:solidFill>
                <a:latin typeface="맑은 고딕"/>
                <a:ea typeface="맑은 고딕"/>
                <a:cs typeface="맑은 고딕"/>
              </a:rPr>
              <a:t>발췌의 확인 범위 구별</a:t>
            </a:r>
          </a:p>
        </p:txBody>
      </p:sp>
      <p:sp>
        <p:nvSpPr>
          <p:cNvPr id="14" name="Rounded Rectangle 13"/>
          <p:cNvSpPr/>
          <p:nvPr/>
        </p:nvSpPr>
        <p:spPr>
          <a:xfrm>
            <a:off x="548640" y="37673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시작코드와 검사 자료</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참조의 존재·일치·불일치를 비교하는 기능 구현</a:t>
            </a:r>
          </a:p>
          <a:p>
            <a:pPr algn="l" eaLnBrk="0">
              <a:lnSpc>
                <a:spcPct val="110000"/>
              </a:lnSpc>
            </a:pPr>
            <a:r>
              <a:rPr sz="1400" b="0">
                <a:solidFill>
                  <a:srgbClr val="1F2A3A"/>
                </a:solidFill>
                <a:latin typeface="맑은 고딕"/>
                <a:ea typeface="맑은 고딕"/>
                <a:cs typeface="맑은 고딕"/>
              </a:rPr>
              <a:t>원문 위치·값·판정 이유를 근거 보고서로 연결</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참조 검사 결과와</a:t>
            </a:r>
          </a:p>
          <a:p>
            <a:pPr algn="l" eaLnBrk="0">
              <a:lnSpc>
                <a:spcPct val="110000"/>
              </a:lnSpc>
            </a:pPr>
            <a:r>
              <a:rPr sz="1250" b="1">
                <a:solidFill>
                  <a:srgbClr val="1A6FC4"/>
                </a:solidFill>
                <a:latin typeface="맑은 고딕"/>
                <a:ea typeface="맑은 고딕"/>
                <a:cs typeface="맑은 고딕"/>
              </a:rPr>
              <a:t>근거 보고서</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가림 입력과 저장 결과</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같은 기준으로 가림 입력과 네 검사 확인</a:t>
            </a:r>
          </a:p>
          <a:p>
            <a:pPr algn="l" eaLnBrk="0">
              <a:lnSpc>
                <a:spcPct val="110000"/>
              </a:lnSpc>
            </a:pPr>
            <a:r>
              <a:rPr sz="1400" b="0">
                <a:solidFill>
                  <a:srgbClr val="1F2A3A"/>
                </a:solidFill>
                <a:latin typeface="맑은 고딕"/>
                <a:ea typeface="맑은 고딕"/>
                <a:cs typeface="맑은 고딕"/>
              </a:rPr>
              <a:t>원문과 보고서를 대조하고 저장 후 다시 열기</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판정·출처·한계가 맞고</a:t>
            </a:r>
          </a:p>
          <a:p>
            <a:pPr algn="l" eaLnBrk="0">
              <a:lnSpc>
                <a:spcPct val="110000"/>
              </a:lnSpc>
            </a:pPr>
            <a:r>
              <a:rPr sz="1250" b="1">
                <a:solidFill>
                  <a:srgbClr val="556175"/>
                </a:solidFill>
                <a:latin typeface="맑은 고딕"/>
                <a:ea typeface="맑은 고딕"/>
                <a:cs typeface="맑은 고딕"/>
              </a:rPr>
              <a:t>추가로 필요한 기록을 설명</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수치만으로 조치를 정할 수 없는 이유</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같은 경보라도 원인에 따라 조치가 달라지는 까닭</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경보 이후의 판단과 승인, 조치 뒤의 변화</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교재에 보관한 사건 기록이다. 경보 뒤 </a:t>
            </a:r>
            <a:r>
              <a:rPr sz="1600" b="1">
                <a:solidFill>
                  <a:srgbClr val="1A6FC4"/>
                </a:solidFill>
                <a:latin typeface="맑은 고딕"/>
                <a:ea typeface="맑은 고딕"/>
                <a:cs typeface="맑은 고딕"/>
              </a:rPr>
              <a:t>원인</a:t>
            </a:r>
            <a:r>
              <a:rPr sz="1600" b="0">
                <a:solidFill>
                  <a:srgbClr val="556175"/>
                </a:solidFill>
                <a:latin typeface="맑은 고딕"/>
                <a:ea typeface="맑은 고딕"/>
                <a:cs typeface="맑은 고딕"/>
              </a:rPr>
              <a:t>을 가려 조치를 정하고, 조치 뒤 변화를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pic>
        <p:nvPicPr>
          <p:cNvPr id="6" name="Picture 5" descr="그래프_쿨러열화_TS1_CE.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경보 발생 11:13:08</a:t>
            </a:r>
          </a:p>
          <a:p>
            <a:pPr algn="l" eaLnBrk="0">
              <a:lnSpc>
                <a:spcPct val="110000"/>
              </a:lnSpc>
              <a:spcAft>
                <a:spcPts val="400"/>
              </a:spcAft>
            </a:pPr>
            <a:r>
              <a:rPr sz="1400" b="0">
                <a:solidFill>
                  <a:srgbClr val="1F2A3A"/>
                </a:solidFill>
                <a:latin typeface="맑은 고딕"/>
                <a:ea typeface="맑은 고딕"/>
                <a:cs typeface="맑은 고딕"/>
              </a:rPr>
              <a:t>유온 55.71 ℃, 냉각 효율 46.2 %.</a:t>
            </a:r>
          </a:p>
          <a:p>
            <a:pPr algn="l" eaLnBrk="0">
              <a:lnSpc>
                <a:spcPct val="110000"/>
              </a:lnSpc>
              <a:spcAft>
                <a:spcPts val="400"/>
              </a:spcAft>
            </a:pPr>
            <a:r>
              <a:rPr sz="1400" b="0">
                <a:solidFill>
                  <a:srgbClr val="1F2A3A"/>
                </a:solidFill>
                <a:latin typeface="맑은 고딕"/>
                <a:ea typeface="맑은 고딕"/>
                <a:cs typeface="맑은 고딕"/>
              </a:rPr>
              <a:t>감지 서비스의 경보 조건이 성립했다.</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경보 → 승인 · 108초</a:t>
            </a:r>
          </a:p>
          <a:p>
            <a:pPr algn="l" eaLnBrk="0">
              <a:lnSpc>
                <a:spcPct val="110000"/>
              </a:lnSpc>
              <a:spcAft>
                <a:spcPts val="400"/>
              </a:spcAft>
            </a:pPr>
            <a:r>
              <a:rPr sz="1400" b="0">
                <a:solidFill>
                  <a:srgbClr val="1F2A3A"/>
                </a:solidFill>
                <a:latin typeface="맑은 고딕"/>
                <a:ea typeface="맑은 고딕"/>
                <a:cs typeface="맑은 고딕"/>
              </a:rPr>
              <a:t>원인을 가리고 조치안을 비교하는 데 약 94초, 승인을 기다리는 데 약 13초. 유온은 61.8 ℃까지 올랐다.</a:t>
            </a:r>
          </a:p>
        </p:txBody>
      </p:sp>
      <p:sp>
        <p:nvSpPr>
          <p:cNvPr id="13" name="Oval 12"/>
          <p:cNvSpPr/>
          <p:nvPr/>
        </p:nvSpPr>
        <p:spPr>
          <a:xfrm>
            <a:off x="8138160" y="4023359"/>
            <a:ext cx="347472" cy="347472"/>
          </a:xfrm>
          <a:prstGeom prst="ellipse">
            <a:avLst/>
          </a:prstGeom>
          <a:solidFill>
            <a:srgbClr val="13294B"/>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조치 승인 11:14:56</a:t>
            </a:r>
          </a:p>
          <a:p>
            <a:pPr algn="l" eaLnBrk="0">
              <a:lnSpc>
                <a:spcPct val="110000"/>
              </a:lnSpc>
              <a:spcAft>
                <a:spcPts val="400"/>
              </a:spcAft>
            </a:pPr>
            <a:r>
              <a:rPr sz="1400" b="0">
                <a:solidFill>
                  <a:srgbClr val="1F2A3A"/>
                </a:solidFill>
                <a:latin typeface="맑은 고딕"/>
                <a:ea typeface="맑은 고딕"/>
                <a:cs typeface="맑은 고딕"/>
              </a:rPr>
              <a:t>운전원이 「팬 최대 운전」을 승인했다. 명령 전송은 11:14:57이다.</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경보 해제 11:15:52</a:t>
            </a:r>
          </a:p>
          <a:p>
            <a:pPr algn="l" eaLnBrk="0">
              <a:lnSpc>
                <a:spcPct val="110000"/>
              </a:lnSpc>
              <a:spcAft>
                <a:spcPts val="400"/>
              </a:spcAft>
            </a:pPr>
            <a:r>
              <a:rPr sz="1400" b="0">
                <a:solidFill>
                  <a:srgbClr val="1F2A3A"/>
                </a:solidFill>
                <a:latin typeface="맑은 고딕"/>
                <a:ea typeface="맑은 고딕"/>
                <a:cs typeface="맑은 고딕"/>
              </a:rPr>
              <a:t>유온은 내려갔으나 냉각 효율은</a:t>
            </a:r>
          </a:p>
          <a:p>
            <a:pPr algn="l" eaLnBrk="0">
              <a:lnSpc>
                <a:spcPct val="110000"/>
              </a:lnSpc>
              <a:spcAft>
                <a:spcPts val="400"/>
              </a:spcAft>
            </a:pPr>
            <a:r>
              <a:rPr sz="1400" b="0">
                <a:solidFill>
                  <a:srgbClr val="1F2A3A"/>
                </a:solidFill>
                <a:latin typeface="맑은 고딕"/>
                <a:ea typeface="맑은 고딕"/>
                <a:cs typeface="맑은 고딕"/>
              </a:rPr>
              <a:t>55 %로, 기준 70 %에 못 미친다.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데이터, 정보, 지식과 판단의 네 질문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값과 이상 여부는 정보로 알 수 있지만, 원인을 가리고 조치를 정하려면 </a:t>
            </a:r>
            <a:r>
              <a:rPr sz="1600" b="1">
                <a:solidFill>
                  <a:srgbClr val="1A6FC4"/>
                </a:solidFill>
                <a:latin typeface="맑은 고딕"/>
                <a:ea typeface="맑은 고딕"/>
                <a:cs typeface="맑은 고딕"/>
              </a:rPr>
              <a:t>지식</a:t>
            </a:r>
            <a:r>
              <a:rPr sz="1600" b="0">
                <a:solidFill>
                  <a:srgbClr val="556175"/>
                </a:solidFill>
                <a:latin typeface="맑은 고딕"/>
                <a:ea typeface="맑은 고딕"/>
                <a:cs typeface="맑은 고딕"/>
              </a:rPr>
              <a:t>이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같은 사건의 문장</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답하는 질문</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데이터</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46.2</a:t>
            </a:r>
          </a:p>
          <a:p>
            <a:pPr algn="l" eaLnBrk="0">
              <a:lnSpc>
                <a:spcPct val="110000"/>
              </a:lnSpc>
            </a:pPr>
            <a:r>
              <a:rPr sz="1400" b="0">
                <a:solidFill>
                  <a:srgbClr val="1F2A3A"/>
                </a:solidFill>
                <a:latin typeface="맑은 고딕"/>
                <a:ea typeface="맑은 고딕"/>
                <a:cs typeface="맑은 고딕"/>
              </a:rPr>
              <a:t>무엇을 잰 값인지, 단위와 기준을 알 수 없다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답할 수 없음</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정보</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HYD-01의 냉각 효율이 46.2 %이다</a:t>
            </a:r>
          </a:p>
          <a:p>
            <a:pPr algn="l" eaLnBrk="0">
              <a:lnSpc>
                <a:spcPct val="110000"/>
              </a:lnSpc>
            </a:pPr>
            <a:r>
              <a:rPr sz="1400" b="0">
                <a:solidFill>
                  <a:srgbClr val="1F2A3A"/>
                </a:solidFill>
                <a:latin typeface="맑은 고딕"/>
                <a:ea typeface="맑은 고딕"/>
                <a:cs typeface="맑은 고딕"/>
              </a:rPr>
              <a:t>대상과 단위가 붙었다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지금 얼마인가</a:t>
            </a:r>
          </a:p>
          <a:p>
            <a:pPr algn="l" eaLnBrk="0">
              <a:lnSpc>
                <a:spcPct val="110000"/>
              </a:lnSpc>
            </a:pPr>
            <a:r>
              <a:rPr sz="1250" b="1">
                <a:solidFill>
                  <a:srgbClr val="556175"/>
                </a:solidFill>
                <a:latin typeface="맑은 고딕"/>
                <a:ea typeface="맑은 고딕"/>
                <a:cs typeface="맑은 고딕"/>
              </a:rPr>
              <a:t>계측값</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정보</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냉각 효율이 기준 70 %보다 낮다</a:t>
            </a:r>
          </a:p>
          <a:p>
            <a:pPr algn="l" eaLnBrk="0">
              <a:lnSpc>
                <a:spcPct val="110000"/>
              </a:lnSpc>
            </a:pPr>
            <a:r>
              <a:rPr sz="1400" b="0">
                <a:solidFill>
                  <a:srgbClr val="1F2A3A"/>
                </a:solidFill>
                <a:latin typeface="맑은 고딕"/>
                <a:ea typeface="맑은 고딕"/>
                <a:cs typeface="맑은 고딕"/>
              </a:rPr>
              <a:t>기준이 붙었다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벗어났는가</a:t>
            </a:r>
          </a:p>
          <a:p>
            <a:pPr algn="l" eaLnBrk="0">
              <a:lnSpc>
                <a:spcPct val="110000"/>
              </a:lnSpc>
            </a:pPr>
            <a:r>
              <a:rPr sz="1250" b="1">
                <a:solidFill>
                  <a:srgbClr val="556175"/>
                </a:solidFill>
                <a:latin typeface="맑은 고딕"/>
                <a:ea typeface="맑은 고딕"/>
                <a:cs typeface="맑은 고딕"/>
              </a:rPr>
              <a:t>이상 감지</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지식</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냉각 효율이 낮고 팬 진동이 정상이면 쿨러 핀 오염이다</a:t>
            </a:r>
          </a:p>
          <a:p>
            <a:pPr algn="l" eaLnBrk="0">
              <a:lnSpc>
                <a:spcPct val="110000"/>
              </a:lnSpc>
            </a:pPr>
            <a:r>
              <a:rPr sz="1400" b="0">
                <a:solidFill>
                  <a:srgbClr val="1F2A3A"/>
                </a:solidFill>
                <a:latin typeface="맑은 고딕"/>
                <a:ea typeface="맑은 고딕"/>
                <a:cs typeface="맑은 고딕"/>
              </a:rPr>
              <a:t>정보가 원인으로 이어졌다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왜 벗어났는가</a:t>
            </a:r>
          </a:p>
          <a:p>
            <a:pPr algn="l" eaLnBrk="0">
              <a:lnSpc>
                <a:spcPct val="110000"/>
              </a:lnSpc>
            </a:pPr>
            <a:r>
              <a:rPr sz="1250" b="1">
                <a:solidFill>
                  <a:srgbClr val="1A6FC4"/>
                </a:solidFill>
                <a:latin typeface="맑은 고딕"/>
                <a:ea typeface="맑은 고딕"/>
                <a:cs typeface="맑은 고딕"/>
              </a:rPr>
              <a:t>고장 진단</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지식</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쿨러 핀 오염이면 핀을 세척한다</a:t>
            </a:r>
          </a:p>
          <a:p>
            <a:pPr algn="l" eaLnBrk="0">
              <a:lnSpc>
                <a:spcPct val="110000"/>
              </a:lnSpc>
            </a:pPr>
            <a:r>
              <a:rPr sz="1400" b="0">
                <a:solidFill>
                  <a:srgbClr val="1F2A3A"/>
                </a:solidFill>
                <a:latin typeface="맑은 고딕"/>
                <a:ea typeface="맑은 고딕"/>
                <a:cs typeface="맑은 고딕"/>
              </a:rPr>
              <a:t>원인이 조치로 이어졌다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무엇을 할 것인가</a:t>
            </a:r>
          </a:p>
          <a:p>
            <a:pPr algn="l" eaLnBrk="0">
              <a:lnSpc>
                <a:spcPct val="110000"/>
              </a:lnSpc>
            </a:pPr>
            <a:r>
              <a:rPr sz="1250" b="1">
                <a:solidFill>
                  <a:srgbClr val="1A6FC4"/>
                </a:solidFill>
                <a:latin typeface="맑은 고딕"/>
                <a:ea typeface="맑은 고딕"/>
                <a:cs typeface="맑은 고딕"/>
              </a:rPr>
              <a:t>조치 판단</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원인 후보와 증거의 대조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증거</a:t>
            </a:r>
            <a:r>
              <a:rPr sz="1600" b="0">
                <a:solidFill>
                  <a:srgbClr val="556175"/>
                </a:solidFill>
                <a:latin typeface="맑은 고딕"/>
                <a:ea typeface="맑은 고딕"/>
                <a:cs typeface="맑은 고딕"/>
              </a:rPr>
              <a:t>(Evidence)는 확인할 값과 판별 기준이며, 실제 값을 대조해 같은 경보의 원인 후보를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원인 후보</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판별 기준과 실제 값</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a:t>
            </a:r>
          </a:p>
        </p:txBody>
      </p:sp>
      <p:sp>
        <p:nvSpPr>
          <p:cNvPr id="10" name="Rounded Rectangle 9"/>
          <p:cNvSpPr/>
          <p:nvPr/>
        </p:nvSpPr>
        <p:spPr>
          <a:xfrm>
            <a:off x="548640" y="28529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쿨러 핀 오염</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CE의 30초 평균 &lt; 70 % → 46.2 %</a:t>
            </a:r>
          </a:p>
          <a:p>
            <a:pPr algn="l" eaLnBrk="0">
              <a:lnSpc>
                <a:spcPct val="110000"/>
              </a:lnSpc>
            </a:pPr>
            <a:r>
              <a:rPr sz="1400" b="0">
                <a:solidFill>
                  <a:srgbClr val="1F2A3A"/>
                </a:solidFill>
                <a:latin typeface="맑은 고딕"/>
                <a:ea typeface="맑은 고딕"/>
                <a:cs typeface="맑은 고딕"/>
              </a:rPr>
              <a:t>VS1의 2분 평균 &lt; 0.9 mm/s → 0.575 mm/s</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두 조건 충족</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팬 구동 불량</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VS1의 2분 평균 ≥ 0.9 mm/s</a:t>
            </a:r>
          </a:p>
          <a:p>
            <a:pPr algn="l" eaLnBrk="0">
              <a:lnSpc>
                <a:spcPct val="110000"/>
              </a:lnSpc>
            </a:pPr>
            <a:r>
              <a:rPr sz="1400" b="0">
                <a:solidFill>
                  <a:srgbClr val="1F2A3A"/>
                </a:solidFill>
                <a:latin typeface="맑은 고딕"/>
                <a:ea typeface="맑은 고딕"/>
                <a:cs typeface="맑은 고딕"/>
              </a:rPr>
              <a:t>실제 평균 0.575 mm/s</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해당 없음</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주변 온도 상승</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TS4의 2분 평균 ≥ 35 ℃</a:t>
            </a:r>
          </a:p>
          <a:p>
            <a:pPr algn="l" eaLnBrk="0">
              <a:lnSpc>
                <a:spcPct val="110000"/>
              </a:lnSpc>
            </a:pPr>
            <a:r>
              <a:rPr sz="1400" b="0">
                <a:solidFill>
                  <a:srgbClr val="1F2A3A"/>
                </a:solidFill>
                <a:latin typeface="맑은 고딕"/>
                <a:ea typeface="맑은 고딕"/>
                <a:cs typeface="맑은 고딕"/>
              </a:rPr>
              <a:t>실제 평균 28 ℃</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해당 없음</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원인에 따라 달라지는 근본 조치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증상이 같아도 원인이 다르면 이를 없애는 조치가 달라지므로, 원인을 가려야 조치를 정할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042"/>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쿨러 핀 오염</a:t>
            </a:r>
          </a:p>
          <a:p>
            <a:pPr algn="l" eaLnBrk="0" marL="205740" indent="-205740">
              <a:lnSpc>
                <a:spcPct val="110000"/>
              </a:lnSpc>
              <a:spcAft>
                <a:spcPts val="400"/>
              </a:spcAft>
            </a:pPr>
            <a:r>
              <a:rPr sz="1800" b="0">
                <a:solidFill>
                  <a:srgbClr val="1F2A3A"/>
                </a:solidFill>
                <a:latin typeface="맑은 고딕"/>
                <a:ea typeface="맑은 고딕"/>
                <a:cs typeface="맑은 고딕"/>
              </a:rPr>
              <a:t>• 쿨러의 핀을 세척한다</a:t>
            </a:r>
          </a:p>
          <a:p>
            <a:pPr algn="l" eaLnBrk="0" marL="205740" indent="-205740">
              <a:lnSpc>
                <a:spcPct val="110000"/>
              </a:lnSpc>
              <a:spcAft>
                <a:spcPts val="400"/>
              </a:spcAft>
            </a:pPr>
            <a:r>
              <a:rPr sz="1800" b="0">
                <a:solidFill>
                  <a:srgbClr val="1F2A3A"/>
                </a:solidFill>
                <a:latin typeface="맑은 고딕"/>
                <a:ea typeface="맑은 고딕"/>
                <a:cs typeface="맑은 고딕"/>
              </a:rPr>
              <a:t>• 핀의 막힘이 풀려 냉각 효율이 돌아온다</a:t>
            </a:r>
          </a:p>
        </p:txBody>
      </p:sp>
      <p:sp>
        <p:nvSpPr>
          <p:cNvPr id="10" name="Rounded Rectangle 9"/>
          <p:cNvSpPr/>
          <p:nvPr/>
        </p:nvSpPr>
        <p:spPr>
          <a:xfrm>
            <a:off x="777240" y="5259070"/>
            <a:ext cx="1450847"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9070"/>
            <a:ext cx="1450847"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원인: 핀이 막힘</a:t>
            </a:r>
          </a:p>
        </p:txBody>
      </p:sp>
      <p:sp>
        <p:nvSpPr>
          <p:cNvPr id="12" name="Rounded Rectangle 11"/>
          <p:cNvSpPr/>
          <p:nvPr/>
        </p:nvSpPr>
        <p:spPr>
          <a:xfrm>
            <a:off x="4338218"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E7F3FD"/>
          </a:solidFill>
          <a:ln>
            <a:noFill/>
          </a:ln>
        </p:spPr>
        <p:txBody>
          <a:bodyPr rtlCol="0" anchor="ctr"/>
          <a:lstStyle/>
          <a:p>
            <a:pPr algn="ctr"/>
          </a:p>
        </p:txBody>
      </p:sp>
      <p:pic>
        <p:nvPicPr>
          <p:cNvPr id="14" name="아이콘:propeller" descr="propeller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팬 구동 불량</a:t>
            </a:r>
          </a:p>
          <a:p>
            <a:pPr algn="l" eaLnBrk="0" marL="205740" indent="-205740">
              <a:lnSpc>
                <a:spcPct val="110000"/>
              </a:lnSpc>
              <a:spcAft>
                <a:spcPts val="400"/>
              </a:spcAft>
            </a:pPr>
            <a:r>
              <a:rPr sz="1800" b="0">
                <a:solidFill>
                  <a:srgbClr val="1F2A3A"/>
                </a:solidFill>
                <a:latin typeface="맑은 고딕"/>
                <a:ea typeface="맑은 고딕"/>
                <a:cs typeface="맑은 고딕"/>
              </a:rPr>
              <a:t>• 쿨러 팬의 벨트를 점검한다</a:t>
            </a:r>
          </a:p>
          <a:p>
            <a:pPr algn="l" eaLnBrk="0" marL="205740" indent="-205740">
              <a:lnSpc>
                <a:spcPct val="110000"/>
              </a:lnSpc>
              <a:spcAft>
                <a:spcPts val="400"/>
              </a:spcAft>
            </a:pPr>
            <a:r>
              <a:rPr sz="1800" b="0">
                <a:solidFill>
                  <a:srgbClr val="1F2A3A"/>
                </a:solidFill>
                <a:latin typeface="맑은 고딕"/>
                <a:ea typeface="맑은 고딕"/>
                <a:cs typeface="맑은 고딕"/>
              </a:rPr>
              <a:t>• 팬이 제 속도로 돌아야 바람이 충분해진다</a:t>
            </a:r>
          </a:p>
        </p:txBody>
      </p:sp>
      <p:sp>
        <p:nvSpPr>
          <p:cNvPr id="16" name="Rounded Rectangle 15"/>
          <p:cNvSpPr/>
          <p:nvPr/>
        </p:nvSpPr>
        <p:spPr>
          <a:xfrm>
            <a:off x="4566818" y="5259070"/>
            <a:ext cx="1496568"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9070"/>
            <a:ext cx="149656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원인: 팬이 덜 돎</a:t>
            </a:r>
          </a:p>
        </p:txBody>
      </p:sp>
      <p:sp>
        <p:nvSpPr>
          <p:cNvPr id="18" name="Rounded Rectangle 17"/>
          <p:cNvSpPr/>
          <p:nvPr/>
        </p:nvSpPr>
        <p:spPr>
          <a:xfrm>
            <a:off x="8127796"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E7F3FD"/>
          </a:solidFill>
          <a:ln>
            <a:noFill/>
          </a:ln>
        </p:spPr>
        <p:txBody>
          <a:bodyPr rtlCol="0" anchor="ctr"/>
          <a:lstStyle/>
          <a:p>
            <a:pPr algn="ctr"/>
          </a:p>
        </p:txBody>
      </p:sp>
      <p:pic>
        <p:nvPicPr>
          <p:cNvPr id="20" name="아이콘:wind" descr="wind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주변 온도 상승</a:t>
            </a:r>
          </a:p>
          <a:p>
            <a:pPr algn="l" eaLnBrk="0" marL="205740" indent="-205740">
              <a:lnSpc>
                <a:spcPct val="110000"/>
              </a:lnSpc>
              <a:spcAft>
                <a:spcPts val="400"/>
              </a:spcAft>
            </a:pPr>
            <a:r>
              <a:rPr sz="1800" b="0">
                <a:solidFill>
                  <a:srgbClr val="1F2A3A"/>
                </a:solidFill>
                <a:latin typeface="맑은 고딕"/>
                <a:ea typeface="맑은 고딕"/>
                <a:cs typeface="맑은 고딕"/>
              </a:rPr>
              <a:t>• 캐비닛의 환기를 보강한다</a:t>
            </a:r>
          </a:p>
          <a:p>
            <a:pPr algn="l" eaLnBrk="0" marL="205740" indent="-205740">
              <a:lnSpc>
                <a:spcPct val="110000"/>
              </a:lnSpc>
              <a:spcAft>
                <a:spcPts val="400"/>
              </a:spcAft>
            </a:pPr>
            <a:r>
              <a:rPr sz="1800" b="0">
                <a:solidFill>
                  <a:srgbClr val="1F2A3A"/>
                </a:solidFill>
                <a:latin typeface="맑은 고딕"/>
                <a:ea typeface="맑은 고딕"/>
                <a:cs typeface="맑은 고딕"/>
              </a:rPr>
              <a:t>• 쿨러로 들어가는 공기의 온도를 낮춘다</a:t>
            </a:r>
          </a:p>
        </p:txBody>
      </p:sp>
      <p:sp>
        <p:nvSpPr>
          <p:cNvPr id="22" name="Rounded Rectangle 21"/>
          <p:cNvSpPr/>
          <p:nvPr/>
        </p:nvSpPr>
        <p:spPr>
          <a:xfrm>
            <a:off x="8356396" y="5259070"/>
            <a:ext cx="195376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259070"/>
            <a:ext cx="195376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원인: 주변 공기가 더움</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완화 조치와 근본 조치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증상을 우선 낮추는 완화 조치와 원인을 없애는 근본 조치는 서로 다른 조치이다.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propeller" descr="propeller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완화 조치</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팬을 최대로 돌려 유온을 우선 낮춘다</a:t>
            </a:r>
          </a:p>
          <a:p>
            <a:pPr algn="l" eaLnBrk="0" marL="205740" indent="-205740">
              <a:lnSpc>
                <a:spcPct val="110000"/>
              </a:lnSpc>
              <a:spcAft>
                <a:spcPts val="600"/>
              </a:spcAft>
            </a:pPr>
            <a:r>
              <a:rPr sz="1800" b="0">
                <a:solidFill>
                  <a:srgbClr val="1F2A3A"/>
                </a:solidFill>
                <a:latin typeface="맑은 고딕"/>
                <a:ea typeface="맑은 고딕"/>
                <a:cs typeface="맑은 고딕"/>
              </a:rPr>
              <a:t>• 쿨러의 핀은 여전히 막혀 있다</a:t>
            </a:r>
          </a:p>
          <a:p>
            <a:pPr algn="l" eaLnBrk="0" marL="205740" indent="-205740">
              <a:lnSpc>
                <a:spcPct val="110000"/>
              </a:lnSpc>
              <a:spcAft>
                <a:spcPts val="600"/>
              </a:spcAft>
            </a:pPr>
            <a:r>
              <a:rPr sz="1800" b="0">
                <a:solidFill>
                  <a:srgbClr val="1F2A3A"/>
                </a:solidFill>
                <a:latin typeface="맑은 고딕"/>
                <a:ea typeface="맑은 고딕"/>
                <a:cs typeface="맑은 고딕"/>
              </a:rPr>
              <a:t>• 냉각 효율 55 %: 기준 미달</a:t>
            </a:r>
          </a:p>
          <a:p>
            <a:pPr algn="l" eaLnBrk="0" marL="205740" indent="-205740">
              <a:lnSpc>
                <a:spcPct val="110000"/>
              </a:lnSpc>
              <a:spcAft>
                <a:spcPts val="600"/>
              </a:spcAft>
            </a:pPr>
            <a:r>
              <a:rPr sz="1800" b="0">
                <a:solidFill>
                  <a:srgbClr val="1F2A3A"/>
                </a:solidFill>
                <a:latin typeface="맑은 고딕"/>
                <a:ea typeface="맑은 고딕"/>
                <a:cs typeface="맑은 고딕"/>
              </a:rPr>
              <a:t>• 팬 100 % 연속 운전: 24시간 이내</a:t>
            </a:r>
          </a:p>
        </p:txBody>
      </p:sp>
      <p:sp>
        <p:nvSpPr>
          <p:cNvPr id="11" name="Rounded Rectangle 10"/>
          <p:cNvSpPr/>
          <p:nvPr/>
        </p:nvSpPr>
        <p:spPr>
          <a:xfrm>
            <a:off x="868680" y="5204460"/>
            <a:ext cx="12191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팬 최대 운전</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tool" descr="tool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근본 조치</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막힌 핀을 세척해 원인을 없앤다</a:t>
            </a:r>
          </a:p>
          <a:p>
            <a:pPr algn="l" eaLnBrk="0" marL="205740" indent="-205740">
              <a:lnSpc>
                <a:spcPct val="110000"/>
              </a:lnSpc>
              <a:spcAft>
                <a:spcPts val="600"/>
              </a:spcAft>
            </a:pPr>
            <a:r>
              <a:rPr sz="1800" b="0">
                <a:solidFill>
                  <a:srgbClr val="1F2A3A"/>
                </a:solidFill>
                <a:latin typeface="맑은 고딕"/>
                <a:ea typeface="맑은 고딕"/>
                <a:cs typeface="맑은 고딕"/>
              </a:rPr>
              <a:t>• 설비를 멈추고 해야 하는 작업이다</a:t>
            </a:r>
          </a:p>
          <a:p>
            <a:pPr algn="l" eaLnBrk="0" marL="205740" indent="-205740">
              <a:lnSpc>
                <a:spcPct val="110000"/>
              </a:lnSpc>
              <a:spcAft>
                <a:spcPts val="600"/>
              </a:spcAft>
            </a:pPr>
            <a:r>
              <a:rPr sz="1800" b="0">
                <a:solidFill>
                  <a:srgbClr val="1F2A3A"/>
                </a:solidFill>
                <a:latin typeface="맑은 고딕"/>
                <a:ea typeface="맑은 고딕"/>
                <a:cs typeface="맑은 고딕"/>
              </a:rPr>
              <a:t>• 작업지시로 따로 등록된다</a:t>
            </a:r>
          </a:p>
          <a:p>
            <a:pPr algn="l" eaLnBrk="0" marL="205740" indent="-205740">
              <a:lnSpc>
                <a:spcPct val="110000"/>
              </a:lnSpc>
              <a:spcAft>
                <a:spcPts val="600"/>
              </a:spcAft>
            </a:pPr>
            <a:r>
              <a:rPr sz="1800" b="0">
                <a:solidFill>
                  <a:srgbClr val="1F2A3A"/>
                </a:solidFill>
                <a:latin typeface="맑은 고딕"/>
                <a:ea typeface="맑은 고딕"/>
                <a:cs typeface="맑은 고딕"/>
              </a:rPr>
              <a:t>• 설비보전팀장이 승인한다</a:t>
            </a:r>
          </a:p>
        </p:txBody>
      </p:sp>
      <p:sp>
        <p:nvSpPr>
          <p:cNvPr id="18" name="Rounded Rectangle 17"/>
          <p:cNvSpPr/>
          <p:nvPr/>
        </p:nvSpPr>
        <p:spPr>
          <a:xfrm>
            <a:off x="6781647" y="5204460"/>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쿨러 핀 세척</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같은 조치가 원인에 따라 설비를 세우는 경우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유온이 오르면 팬을 최대로 돌린다는 한 줄의 규칙은, 원인에 따라 설비를 멈추게 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쿨러 핀이 막힌 설비</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팬 속도를 100 %로 올린다</a:t>
            </a:r>
          </a:p>
          <a:p>
            <a:pPr algn="l" eaLnBrk="0" marL="205740" indent="-205740">
              <a:lnSpc>
                <a:spcPct val="110000"/>
              </a:lnSpc>
              <a:spcAft>
                <a:spcPts val="600"/>
              </a:spcAft>
            </a:pPr>
            <a:r>
              <a:rPr sz="1800" b="0">
                <a:solidFill>
                  <a:srgbClr val="1F2A3A"/>
                </a:solidFill>
                <a:latin typeface="맑은 고딕"/>
                <a:ea typeface="맑은 고딕"/>
                <a:cs typeface="맑은 고딕"/>
              </a:rPr>
              <a:t>• 바람이 늘어 유온이 61.4 ℃에서 51.5 ℃로 내려간다</a:t>
            </a:r>
          </a:p>
          <a:p>
            <a:pPr algn="l" eaLnBrk="0" marL="205740" indent="-205740">
              <a:lnSpc>
                <a:spcPct val="110000"/>
              </a:lnSpc>
              <a:spcAft>
                <a:spcPts val="600"/>
              </a:spcAft>
            </a:pPr>
            <a:r>
              <a:rPr sz="1800" b="0">
                <a:solidFill>
                  <a:srgbClr val="1F2A3A"/>
                </a:solidFill>
                <a:latin typeface="맑은 고딕"/>
                <a:ea typeface="맑은 고딕"/>
                <a:cs typeface="맑은 고딕"/>
              </a:rPr>
              <a:t>• 경보가 해제된다</a:t>
            </a:r>
          </a:p>
        </p:txBody>
      </p:sp>
      <p:sp>
        <p:nvSpPr>
          <p:cNvPr id="11" name="Rounded Rectangle 10"/>
          <p:cNvSpPr/>
          <p:nvPr/>
        </p:nvSpPr>
        <p:spPr>
          <a:xfrm>
            <a:off x="868680" y="5204460"/>
            <a:ext cx="16763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6763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조치가 효과를 낸다</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팬 베어링이 닳은 설비</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같은 조치로 팬 속도를 100 %로 올린다</a:t>
            </a:r>
          </a:p>
          <a:p>
            <a:pPr algn="l" eaLnBrk="0" marL="205740" indent="-205740">
              <a:lnSpc>
                <a:spcPct val="110000"/>
              </a:lnSpc>
              <a:spcAft>
                <a:spcPts val="600"/>
              </a:spcAft>
            </a:pPr>
            <a:r>
              <a:rPr sz="1800" b="0">
                <a:solidFill>
                  <a:srgbClr val="1F2A3A"/>
                </a:solidFill>
                <a:latin typeface="맑은 고딕"/>
                <a:ea typeface="맑은 고딕"/>
                <a:cs typeface="맑은 고딕"/>
              </a:rPr>
              <a:t>• 팬 진동 VS1이 약 2.8 mm/s로 뛴다</a:t>
            </a:r>
          </a:p>
          <a:p>
            <a:pPr algn="l" eaLnBrk="0" marL="205740" indent="-205740">
              <a:lnSpc>
                <a:spcPct val="110000"/>
              </a:lnSpc>
              <a:spcAft>
                <a:spcPts val="600"/>
              </a:spcAft>
            </a:pPr>
            <a:r>
              <a:rPr sz="1800" b="0">
                <a:solidFill>
                  <a:srgbClr val="1F2A3A"/>
                </a:solidFill>
                <a:latin typeface="맑은 고딕"/>
                <a:ea typeface="맑은 고딕"/>
                <a:cs typeface="맑은 고딕"/>
              </a:rPr>
              <a:t>• 진동 인터록 2.0 mm/s에 걸려 PLC가 설비를 멈춘다</a:t>
            </a:r>
          </a:p>
        </p:txBody>
      </p:sp>
      <p:sp>
        <p:nvSpPr>
          <p:cNvPr id="18" name="Rounded Rectangle 17"/>
          <p:cNvSpPr/>
          <p:nvPr/>
        </p:nvSpPr>
        <p:spPr>
          <a:xfrm>
            <a:off x="6781647" y="5204460"/>
            <a:ext cx="132587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설비가 멈춘다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판단 근거의 연결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판단에 필요한 정보가 흩어져 있을 때 무엇이 부족한가</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판단에 쓰이는 정보가 놓인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원인을 가리고 조치를 정하는 데 필요한 정보는 서로 다른 시스템과 문서에 </a:t>
            </a:r>
            <a:r>
              <a:rPr sz="1600" b="1">
                <a:solidFill>
                  <a:srgbClr val="1A6FC4"/>
                </a:solidFill>
                <a:latin typeface="맑은 고딕"/>
                <a:ea typeface="맑은 고딕"/>
                <a:cs typeface="맑은 고딕"/>
              </a:rPr>
              <a:t>흩어져</a:t>
            </a:r>
            <a:r>
              <a:rPr sz="1600" b="0">
                <a:solidFill>
                  <a:srgbClr val="556175"/>
                </a:solidFill>
                <a:latin typeface="맑은 고딕"/>
                <a:ea typeface="맑은 고딕"/>
                <a:cs typeface="맑은 고딕"/>
              </a:rPr>
              <a:t>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pic>
        <p:nvPicPr>
          <p:cNvPr id="6" name="삽화:흩어진정보.svg" descr="illust_8572795814533384560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3022229"/>
            <a:ext cx="305465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시계열 저장소(TSDB)</a:t>
            </a:r>
          </a:p>
          <a:p>
            <a:pPr algn="ctr" eaLnBrk="0">
              <a:lnSpc>
                <a:spcPct val="110000"/>
              </a:lnSpc>
              <a:spcAft>
                <a:spcPts val="100"/>
              </a:spcAft>
            </a:pPr>
            <a:r>
              <a:rPr sz="1100" b="0">
                <a:solidFill>
                  <a:srgbClr val="556175"/>
                </a:solidFill>
                <a:latin typeface="맑은 고딕"/>
                <a:ea typeface="맑은 고딕"/>
                <a:cs typeface="맑은 고딕"/>
              </a:rPr>
              <a:t>CE 46.2 % · TS4 28 ℃</a:t>
            </a:r>
          </a:p>
        </p:txBody>
      </p:sp>
      <p:sp>
        <p:nvSpPr>
          <p:cNvPr id="8" name="TextBox 7"/>
          <p:cNvSpPr txBox="1"/>
          <p:nvPr/>
        </p:nvSpPr>
        <p:spPr>
          <a:xfrm>
            <a:off x="837471" y="5244129"/>
            <a:ext cx="305465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운전 상태(Status)</a:t>
            </a:r>
          </a:p>
          <a:p>
            <a:pPr algn="ctr" eaLnBrk="0">
              <a:lnSpc>
                <a:spcPct val="110000"/>
              </a:lnSpc>
              <a:spcAft>
                <a:spcPts val="100"/>
              </a:spcAft>
            </a:pPr>
            <a:r>
              <a:rPr sz="1100" b="0">
                <a:solidFill>
                  <a:srgbClr val="556175"/>
                </a:solidFill>
                <a:latin typeface="맑은 고딕"/>
                <a:ea typeface="맑은 고딕"/>
                <a:cs typeface="맑은 고딕"/>
              </a:rPr>
              <a:t>REMOTE_AUTO · 팬 60 %</a:t>
            </a:r>
          </a:p>
        </p:txBody>
      </p:sp>
      <p:sp>
        <p:nvSpPr>
          <p:cNvPr id="9" name="TextBox 8"/>
          <p:cNvSpPr txBox="1"/>
          <p:nvPr/>
        </p:nvSpPr>
        <p:spPr>
          <a:xfrm>
            <a:off x="8070466" y="3022229"/>
            <a:ext cx="305465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매뉴얼(Manual)</a:t>
            </a:r>
          </a:p>
          <a:p>
            <a:pPr algn="ctr" eaLnBrk="0">
              <a:lnSpc>
                <a:spcPct val="110000"/>
              </a:lnSpc>
              <a:spcAft>
                <a:spcPts val="100"/>
              </a:spcAft>
            </a:pPr>
            <a:r>
              <a:rPr sz="1100" b="0">
                <a:solidFill>
                  <a:srgbClr val="556175"/>
                </a:solidFill>
                <a:latin typeface="맑은 고딕"/>
                <a:ea typeface="맑은 고딕"/>
                <a:cs typeface="맑은 고딕"/>
              </a:rPr>
              <a:t>HM-8</a:t>
            </a:r>
          </a:p>
        </p:txBody>
      </p:sp>
      <p:sp>
        <p:nvSpPr>
          <p:cNvPr id="10" name="TextBox 9"/>
          <p:cNvSpPr txBox="1"/>
          <p:nvPr/>
        </p:nvSpPr>
        <p:spPr>
          <a:xfrm>
            <a:off x="7743181" y="5244129"/>
            <a:ext cx="370922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MES(Manufacturing Execution System)</a:t>
            </a:r>
          </a:p>
          <a:p>
            <a:pPr algn="ctr" eaLnBrk="0">
              <a:lnSpc>
                <a:spcPct val="110000"/>
              </a:lnSpc>
              <a:spcAft>
                <a:spcPts val="100"/>
              </a:spcAft>
            </a:pPr>
            <a:r>
              <a:rPr sz="1100" b="0">
                <a:solidFill>
                  <a:srgbClr val="556175"/>
                </a:solidFill>
                <a:latin typeface="맑은 고딕"/>
                <a:ea typeface="맑은 고딕"/>
                <a:cs typeface="맑은 고딕"/>
              </a:rPr>
              <a:t>긴급 오더 납기 · 5.98시간</a:t>
            </a:r>
          </a:p>
        </p:txBody>
      </p:sp>
      <p:sp>
        <p:nvSpPr>
          <p:cNvPr id="11" name="TextBox 10"/>
          <p:cNvSpPr txBox="1"/>
          <p:nvPr/>
        </p:nvSpPr>
        <p:spPr>
          <a:xfrm>
            <a:off x="4677613" y="4298640"/>
            <a:ext cx="283646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경보(Alert)</a:t>
            </a:r>
          </a:p>
          <a:p>
            <a:pPr algn="ctr" eaLnBrk="0">
              <a:lnSpc>
                <a:spcPct val="110000"/>
              </a:lnSpc>
              <a:spcAft>
                <a:spcPts val="100"/>
              </a:spcAft>
            </a:pPr>
            <a:r>
              <a:rPr sz="1100" b="0">
                <a:solidFill>
                  <a:srgbClr val="556175"/>
                </a:solidFill>
                <a:latin typeface="맑은 고딕"/>
                <a:ea typeface="맑은 고딕"/>
                <a:cs typeface="맑은 고딕"/>
              </a:rPr>
              <a:t>유온 상승 · 냉각 효율 저하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매뉴얼의 문장에 들어 있는 것과 없는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매뉴얼에 적힌 판별 기준을 경보·태그 값·조치와 잇는 관계로 옮겨야 컴퓨터가 따라갈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매뉴얼</a:t>
            </a:r>
            <a:r>
              <a:rPr sz="1300" b="0">
                <a:solidFill>
                  <a:srgbClr val="E8EEF6"/>
                </a:solidFill>
                <a:latin typeface="Consolas"/>
                <a:ea typeface="맑은 고딕"/>
                <a:cs typeface="맑은 고딕"/>
              </a:rPr>
              <a:t> HM-8.4</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먼지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유막으로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막힘</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이</a:t>
            </a:r>
          </a:p>
          <a:p>
            <a:pPr algn="l" eaLnBrk="0">
              <a:lnSpc>
                <a:spcPct val="110000"/>
              </a:lnSpc>
              <a:spcAft>
                <a:spcPts val="200"/>
              </a:spcAft>
            </a:pPr>
            <a:r>
              <a:rPr sz="1300" b="0">
                <a:solidFill>
                  <a:srgbClr val="E8EEF6"/>
                </a:solidFill>
                <a:latin typeface="맑은 고딕"/>
                <a:ea typeface="맑은 고딕"/>
                <a:cs typeface="맑은 고딕"/>
              </a:rPr>
              <a:t>가장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흔하다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최근</a:t>
            </a:r>
            <a:r>
              <a:rPr sz="1300" b="0">
                <a:solidFill>
                  <a:srgbClr val="E8EEF6"/>
                </a:solidFill>
                <a:latin typeface="Consolas"/>
                <a:ea typeface="맑은 고딕"/>
                <a:cs typeface="맑은 고딕"/>
              </a:rPr>
              <a:t> 30</a:t>
            </a:r>
            <a:r>
              <a:rPr sz="1300" b="0">
                <a:solidFill>
                  <a:srgbClr val="E8EEF6"/>
                </a:solidFill>
                <a:latin typeface="맑은 고딕"/>
                <a:ea typeface="맑은 고딕"/>
                <a:cs typeface="맑은 고딕"/>
              </a:rPr>
              <a:t>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평균이</a:t>
            </a:r>
            <a:r>
              <a:rPr sz="1300" b="0">
                <a:solidFill>
                  <a:srgbClr val="E8EEF6"/>
                </a:solidFill>
                <a:latin typeface="Consolas"/>
                <a:ea typeface="맑은 고딕"/>
                <a:cs typeface="맑은 고딕"/>
              </a:rPr>
              <a:t> 70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미만이고</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최근</a:t>
            </a:r>
            <a:r>
              <a:rPr sz="1300" b="0">
                <a:solidFill>
                  <a:srgbClr val="E8EEF6"/>
                </a:solidFill>
                <a:latin typeface="Consolas"/>
                <a:ea typeface="맑은 고딕"/>
                <a:cs typeface="맑은 고딕"/>
              </a:rPr>
              <a:t> 2</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VS1 </a:t>
            </a:r>
            <a:r>
              <a:rPr sz="1300" b="0">
                <a:solidFill>
                  <a:srgbClr val="E8EEF6"/>
                </a:solidFill>
                <a:latin typeface="맑은 고딕"/>
                <a:ea typeface="맑은 고딕"/>
                <a:cs typeface="맑은 고딕"/>
              </a:rPr>
              <a:t>평균이</a:t>
            </a:r>
          </a:p>
          <a:p>
            <a:pPr algn="l" eaLnBrk="0">
              <a:lnSpc>
                <a:spcPct val="110000"/>
              </a:lnSpc>
              <a:spcAft>
                <a:spcPts val="200"/>
              </a:spcAft>
            </a:pPr>
            <a:r>
              <a:rPr sz="1300" b="0">
                <a:solidFill>
                  <a:srgbClr val="E8EEF6"/>
                </a:solidFill>
                <a:latin typeface="Consolas"/>
                <a:ea typeface="맑은 고딕"/>
                <a:cs typeface="맑은 고딕"/>
              </a:rPr>
              <a:t>0.9</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mm/s </a:t>
            </a:r>
            <a:r>
              <a:rPr sz="1300" b="0">
                <a:solidFill>
                  <a:srgbClr val="E8EEF6"/>
                </a:solidFill>
                <a:latin typeface="맑은 고딕"/>
                <a:ea typeface="맑은 고딕"/>
                <a:cs typeface="맑은 고딕"/>
              </a:rPr>
              <a:t>미만</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팬은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이면</a:t>
            </a:r>
          </a:p>
          <a:p>
            <a:pPr algn="l" eaLnBrk="0">
              <a:lnSpc>
                <a:spcPct val="110000"/>
              </a:lnSpc>
              <a:spcAft>
                <a:spcPts val="200"/>
              </a:spcAft>
            </a:pP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판정한다</a:t>
            </a: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들어 있는 것</a:t>
            </a:r>
          </a:p>
          <a:p>
            <a:pPr algn="l" eaLnBrk="0">
              <a:lnSpc>
                <a:spcPct val="110000"/>
              </a:lnSpc>
              <a:spcAft>
                <a:spcPts val="400"/>
              </a:spcAft>
            </a:pPr>
            <a:r>
              <a:rPr sz="1400" b="0">
                <a:solidFill>
                  <a:srgbClr val="1F2A3A"/>
                </a:solidFill>
                <a:latin typeface="맑은 고딕"/>
                <a:ea typeface="맑은 고딕"/>
                <a:cs typeface="맑은 고딕"/>
              </a:rPr>
              <a:t>원인 후보, 확인할 값, 기준이다. 사람이 읽고 해석해야 하는 문장이다. 아래 세 연결은 없다.</a:t>
            </a:r>
          </a:p>
        </p:txBody>
      </p:sp>
      <p:sp>
        <p:nvSpPr>
          <p:cNvPr id="9" name="TextBox 8"/>
          <p:cNvSpPr txBox="1"/>
          <p:nvPr/>
        </p:nvSpPr>
        <p:spPr>
          <a:xfrm>
            <a:off x="7635240" y="3045332"/>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경보 → 매뉴얼 대목</a:t>
            </a:r>
          </a:p>
          <a:p>
            <a:pPr algn="l" eaLnBrk="0">
              <a:lnSpc>
                <a:spcPct val="110000"/>
              </a:lnSpc>
              <a:spcAft>
                <a:spcPts val="400"/>
              </a:spcAft>
            </a:pPr>
            <a:r>
              <a:rPr sz="1400" b="0">
                <a:solidFill>
                  <a:srgbClr val="1F2A3A"/>
                </a:solidFill>
                <a:latin typeface="맑은 고딕"/>
                <a:ea typeface="맑은 고딕"/>
                <a:cs typeface="맑은 고딕"/>
              </a:rPr>
              <a:t>이 경보에는 매뉴얼의 어느 대목이 해당하는가</a:t>
            </a:r>
          </a:p>
        </p:txBody>
      </p:sp>
      <p:sp>
        <p:nvSpPr>
          <p:cNvPr id="10" name="TextBox 9"/>
          <p:cNvSpPr txBox="1"/>
          <p:nvPr/>
        </p:nvSpPr>
        <p:spPr>
          <a:xfrm>
            <a:off x="7635240" y="3991356"/>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기준 → 태그 값</a:t>
            </a:r>
          </a:p>
          <a:p>
            <a:pPr algn="l" eaLnBrk="0">
              <a:lnSpc>
                <a:spcPct val="110000"/>
              </a:lnSpc>
              <a:spcAft>
                <a:spcPts val="400"/>
              </a:spcAft>
            </a:pPr>
            <a:r>
              <a:rPr sz="1400" b="0">
                <a:solidFill>
                  <a:srgbClr val="1F2A3A"/>
                </a:solidFill>
                <a:latin typeface="맑은 고딕"/>
                <a:ea typeface="맑은 고딕"/>
                <a:cs typeface="맑은 고딕"/>
              </a:rPr>
              <a:t>그 대목의 기준은 어느 태그의 값과 비교하는가</a:t>
            </a:r>
          </a:p>
        </p:txBody>
      </p:sp>
      <p:sp>
        <p:nvSpPr>
          <p:cNvPr id="11" name="TextBox 10"/>
          <p:cNvSpPr txBox="1"/>
          <p:nvPr/>
        </p:nvSpPr>
        <p:spPr>
          <a:xfrm>
            <a:off x="7635240" y="4937379"/>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원인 → 조치</a:t>
            </a:r>
          </a:p>
          <a:p>
            <a:pPr algn="l" eaLnBrk="0">
              <a:lnSpc>
                <a:spcPct val="110000"/>
              </a:lnSpc>
              <a:spcAft>
                <a:spcPts val="400"/>
              </a:spcAft>
            </a:pPr>
            <a:r>
              <a:rPr sz="1400" b="0">
                <a:solidFill>
                  <a:srgbClr val="1F2A3A"/>
                </a:solidFill>
                <a:latin typeface="맑은 고딕"/>
                <a:ea typeface="맑은 고딕"/>
                <a:cs typeface="맑은 고딕"/>
              </a:rPr>
              <a:t>그 원인이면 어떤 조치가 맞는가</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숙련자의 판단 경로와 기록되지 않은 연결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숙련자는 증상에서 원인과 조치를 잇지만, 연결을 기록하지 않으면 같은 정보에서도 판단 경로가 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단계</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머릿속에서 잇는 연결</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한계</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증상·고장 유형·원인 후보</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유온 상승 → 쿨러 냉각 성능 상실</a:t>
            </a:r>
          </a:p>
          <a:p>
            <a:pPr algn="l" eaLnBrk="0">
              <a:lnSpc>
                <a:spcPct val="110000"/>
              </a:lnSpc>
            </a:pPr>
            <a:r>
              <a:rPr sz="1400" b="0">
                <a:solidFill>
                  <a:srgbClr val="1F2A3A"/>
                </a:solidFill>
                <a:latin typeface="맑은 고딕"/>
                <a:ea typeface="맑은 고딕"/>
                <a:cs typeface="맑은 고딕"/>
              </a:rPr>
              <a:t>경험과 매뉴얼에서 핀 오염·팬 구동 불량·주변 온도 상승을 꼽는다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사람마다</a:t>
            </a:r>
          </a:p>
          <a:p>
            <a:pPr algn="l" eaLnBrk="0">
              <a:lnSpc>
                <a:spcPct val="110000"/>
              </a:lnSpc>
            </a:pPr>
            <a:r>
              <a:rPr sz="1250" b="1">
                <a:solidFill>
                  <a:srgbClr val="556175"/>
                </a:solidFill>
                <a:latin typeface="맑은 고딕"/>
                <a:ea typeface="맑은 고딕"/>
                <a:cs typeface="맑은 고딕"/>
              </a:rPr>
              <a:t>후보와 순서가 다름</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증거 대조</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원인마다 어떤 센서를 볼지 정한다</a:t>
            </a:r>
          </a:p>
          <a:p>
            <a:pPr algn="l" eaLnBrk="0">
              <a:lnSpc>
                <a:spcPct val="110000"/>
              </a:lnSpc>
            </a:pPr>
            <a:r>
              <a:rPr sz="1400" b="0">
                <a:solidFill>
                  <a:srgbClr val="1F2A3A"/>
                </a:solidFill>
                <a:latin typeface="맑은 고딕"/>
                <a:ea typeface="맑은 고딕"/>
                <a:cs typeface="맑은 고딕"/>
              </a:rPr>
              <a:t>냉각 효율·팬 진동·캐비닛 온도를 찾아 기준과 비교한다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숙련자가 없으면</a:t>
            </a:r>
          </a:p>
          <a:p>
            <a:pPr algn="l" eaLnBrk="0">
              <a:lnSpc>
                <a:spcPct val="110000"/>
              </a:lnSpc>
            </a:pPr>
            <a:r>
              <a:rPr sz="1250" b="1">
                <a:solidFill>
                  <a:srgbClr val="556175"/>
                </a:solidFill>
                <a:latin typeface="맑은 고딕"/>
                <a:ea typeface="맑은 고딕"/>
                <a:cs typeface="맑은 고딕"/>
              </a:rPr>
              <a:t>판단이 늦어짐</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조치 선택</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원인에 맞는 조치를 고른다</a:t>
            </a:r>
          </a:p>
          <a:p>
            <a:pPr algn="l" eaLnBrk="0">
              <a:lnSpc>
                <a:spcPct val="110000"/>
              </a:lnSpc>
            </a:pPr>
            <a:r>
              <a:rPr sz="1400" b="0">
                <a:solidFill>
                  <a:srgbClr val="1F2A3A"/>
                </a:solidFill>
                <a:latin typeface="맑은 고딕"/>
                <a:ea typeface="맑은 고딕"/>
                <a:cs typeface="맑은 고딕"/>
              </a:rPr>
              <a:t>생산 일정의 제약까지 고려해 실행할 조치를 정한다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연결이 없으면</a:t>
            </a:r>
          </a:p>
          <a:p>
            <a:pPr algn="l" eaLnBrk="0">
              <a:lnSpc>
                <a:spcPct val="110000"/>
              </a:lnSpc>
            </a:pPr>
            <a:r>
              <a:rPr sz="1250" b="1">
                <a:solidFill>
                  <a:srgbClr val="1A6FC4"/>
                </a:solidFill>
                <a:latin typeface="맑은 고딕"/>
                <a:ea typeface="맑은 고딕"/>
                <a:cs typeface="맑은 고딕"/>
              </a:rPr>
              <a:t>컴퓨터가 같은</a:t>
            </a:r>
          </a:p>
          <a:p>
            <a:pPr algn="l" eaLnBrk="0">
              <a:lnSpc>
                <a:spcPct val="110000"/>
              </a:lnSpc>
            </a:pPr>
            <a:r>
              <a:rPr sz="1250" b="1">
                <a:solidFill>
                  <a:srgbClr val="1A6FC4"/>
                </a:solidFill>
                <a:latin typeface="맑은 고딕"/>
                <a:ea typeface="맑은 고딕"/>
                <a:cs typeface="맑은 고딕"/>
              </a:rPr>
              <a:t>경로를 못 따름</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표·문서·코드에서 지식을 분리하는 이유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표 사이의 연결과 코드 속 판단 기준을 별도 지식으로 적으면, 사람과 컴퓨터가 함께 검토하고 고칠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표에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펼치면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반복된다</a:t>
            </a:r>
          </a:p>
          <a:p>
            <a:pPr algn="l" eaLnBrk="0">
              <a:lnSpc>
                <a:spcPct val="110000"/>
              </a:lnSpc>
              <a:spcAft>
                <a:spcPts val="200"/>
              </a:spcAft>
            </a:pP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p>
          <a:p>
            <a:pPr algn="l" eaLnBrk="0">
              <a:lnSpc>
                <a:spcPct val="110000"/>
              </a:lnSpc>
              <a:spcAft>
                <a:spcPts val="200"/>
              </a:spcAft>
            </a:pP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       CE</a:t>
            </a:r>
          </a:p>
          <a:p>
            <a:pPr algn="l" eaLnBrk="0">
              <a:lnSpc>
                <a:spcPct val="110000"/>
              </a:lnSpc>
              <a:spcAft>
                <a:spcPts val="200"/>
              </a:spcAft>
            </a:pP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       VS1</a:t>
            </a:r>
          </a:p>
          <a:p>
            <a:pPr algn="l" eaLnBrk="0">
              <a:lnSpc>
                <a:spcPct val="110000"/>
              </a:lnSpc>
              <a:spcAft>
                <a:spcPts val="200"/>
              </a:spcAft>
            </a:pP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불량</a:t>
            </a:r>
            <a:r>
              <a:rPr sz="1300" b="0">
                <a:solidFill>
                  <a:srgbClr val="E8EEF6"/>
                </a:solidFill>
                <a:latin typeface="Consolas"/>
                <a:ea typeface="맑은 고딕"/>
                <a:cs typeface="맑은 고딕"/>
              </a:rPr>
              <a:t>   VS1</a:t>
            </a:r>
          </a:p>
          <a:p>
            <a:pPr algn="l" eaLnBrk="0">
              <a:lnSpc>
                <a:spcPct val="110000"/>
              </a:lnSpc>
              <a:spcAft>
                <a:spcPts val="200"/>
              </a:spcAft>
            </a:pP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주변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온도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상승</a:t>
            </a:r>
            <a:r>
              <a:rPr sz="1300" b="0">
                <a:solidFill>
                  <a:srgbClr val="E8EEF6"/>
                </a:solidFill>
                <a:latin typeface="Consolas"/>
                <a:ea typeface="맑은 고딕"/>
                <a:cs typeface="맑은 고딕"/>
              </a:rPr>
              <a:t> TS4</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코드에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직접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a:t>
            </a:r>
          </a:p>
          <a:p>
            <a:pPr algn="l" eaLnBrk="0">
              <a:lnSpc>
                <a:spcPct val="110000"/>
              </a:lnSpc>
              <a:spcAft>
                <a:spcPts val="200"/>
              </a:spcAft>
            </a:pPr>
            <a:r>
              <a:rPr sz="1300" b="0">
                <a:solidFill>
                  <a:srgbClr val="E8EEF6"/>
                </a:solidFill>
                <a:latin typeface="Consolas"/>
                <a:ea typeface="맑은 고딕"/>
                <a:cs typeface="맑은 고딕"/>
              </a:rPr>
              <a:t>if CE_avg_30s &lt; 70 and VS1_avg_2m &lt; 0.9:</a:t>
            </a:r>
          </a:p>
          <a:p>
            <a:pPr algn="l" eaLnBrk="0">
              <a:lnSpc>
                <a:spcPct val="110000"/>
              </a:lnSpc>
              <a:spcAft>
                <a:spcPts val="200"/>
              </a:spcAft>
            </a:pPr>
            <a:r>
              <a:rPr sz="1300" b="0">
                <a:solidFill>
                  <a:srgbClr val="E8EEF6"/>
                </a:solidFill>
                <a:latin typeface="Consolas"/>
                <a:ea typeface="맑은 고딕"/>
                <a:cs typeface="맑은 고딕"/>
              </a:rPr>
              <a:t>    cause =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표</a:t>
            </a:r>
          </a:p>
          <a:p>
            <a:pPr algn="l" eaLnBrk="0">
              <a:lnSpc>
                <a:spcPct val="110000"/>
              </a:lnSpc>
              <a:spcAft>
                <a:spcPts val="400"/>
              </a:spcAft>
            </a:pPr>
            <a:r>
              <a:rPr sz="1400" b="0">
                <a:solidFill>
                  <a:srgbClr val="1F2A3A"/>
                </a:solidFill>
                <a:latin typeface="맑은 고딕"/>
                <a:ea typeface="맑은 고딕"/>
                <a:cs typeface="맑은 고딕"/>
              </a:rPr>
              <a:t>같은 고장 유형이 네 행에 반복된다. 표 사이의 의미 연결은 따로 정의해야 한다.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문서</a:t>
            </a:r>
          </a:p>
          <a:p>
            <a:pPr algn="l" eaLnBrk="0">
              <a:lnSpc>
                <a:spcPct val="110000"/>
              </a:lnSpc>
              <a:spcAft>
                <a:spcPts val="400"/>
              </a:spcAft>
            </a:pPr>
            <a:r>
              <a:rPr sz="1400" b="0">
                <a:solidFill>
                  <a:srgbClr val="1F2A3A"/>
                </a:solidFill>
                <a:latin typeface="맑은 고딕"/>
                <a:ea typeface="맑은 고딕"/>
                <a:cs typeface="맑은 고딕"/>
              </a:rPr>
              <a:t>매뉴얼 문장은 사람이 해석한다. 같은 대상을 문서마다 다르게 부르기도 한다.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프로그램 코드</a:t>
            </a:r>
          </a:p>
          <a:p>
            <a:pPr algn="l" eaLnBrk="0">
              <a:lnSpc>
                <a:spcPct val="110000"/>
              </a:lnSpc>
              <a:spcAft>
                <a:spcPts val="400"/>
              </a:spcAft>
            </a:pPr>
            <a:r>
              <a:rPr sz="1400" b="0">
                <a:solidFill>
                  <a:srgbClr val="1F2A3A"/>
                </a:solidFill>
                <a:latin typeface="맑은 고딕"/>
                <a:ea typeface="맑은 고딕"/>
                <a:cs typeface="맑은 고딕"/>
              </a:rPr>
              <a:t>기준 변경에 코드 수정이 필요하다. 판단 근거와 출처도 별도로 기록해야 한다.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분리된 지식</a:t>
            </a:r>
          </a:p>
          <a:p>
            <a:pPr algn="l" eaLnBrk="0">
              <a:lnSpc>
                <a:spcPct val="110000"/>
              </a:lnSpc>
              <a:spcAft>
                <a:spcPts val="400"/>
              </a:spcAft>
            </a:pPr>
            <a:r>
              <a:rPr sz="1400" b="0">
                <a:solidFill>
                  <a:srgbClr val="1F2A3A"/>
                </a:solidFill>
                <a:latin typeface="맑은 고딕"/>
                <a:ea typeface="맑은 고딕"/>
                <a:cs typeface="맑은 고딕"/>
              </a:rPr>
              <a:t>대상과 관계를 사람이 검토하고 컴퓨터가 따라가게 적는다. 프로그램과 별개로 고친다.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AI에게 그대로 묻는 방식과 지식을 조회하게 하는 방식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AI가 설비의 지식과 현재 값을 조회하고 기록해야, 답이 무엇에 근거했는지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message-chatbot" descr="message-chatbot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AI에게 그대로 묻는다</a:t>
            </a:r>
          </a:p>
        </p:txBody>
      </p:sp>
      <p:sp>
        <p:nvSpPr>
          <p:cNvPr id="10" name="TextBox 9"/>
          <p:cNvSpPr txBox="1"/>
          <p:nvPr/>
        </p:nvSpPr>
        <p:spPr>
          <a:xfrm>
            <a:off x="822959" y="3029775"/>
            <a:ext cx="4632807" cy="2426081"/>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일반적인 유압 설비 지식으로 그럴듯한 답을 낸다</a:t>
            </a:r>
          </a:p>
          <a:p>
            <a:pPr algn="l" eaLnBrk="0" marL="165735" indent="-165735">
              <a:lnSpc>
                <a:spcPct val="110000"/>
              </a:lnSpc>
              <a:spcAft>
                <a:spcPts val="600"/>
              </a:spcAft>
            </a:pPr>
            <a:r>
              <a:rPr sz="1450" b="0">
                <a:solidFill>
                  <a:srgbClr val="1F2A3A"/>
                </a:solidFill>
                <a:latin typeface="맑은 고딕"/>
                <a:ea typeface="맑은 고딕"/>
                <a:cs typeface="맑은 고딕"/>
              </a:rPr>
              <a:t>• 이 설비의 매뉴얼과 판별 기준을 알지 못한다</a:t>
            </a:r>
          </a:p>
          <a:p>
            <a:pPr algn="l" eaLnBrk="0" marL="165735" indent="-165735">
              <a:lnSpc>
                <a:spcPct val="110000"/>
              </a:lnSpc>
              <a:spcAft>
                <a:spcPts val="600"/>
              </a:spcAft>
            </a:pPr>
            <a:r>
              <a:rPr sz="1450" b="0">
                <a:solidFill>
                  <a:srgbClr val="1F2A3A"/>
                </a:solidFill>
                <a:latin typeface="맑은 고딕"/>
                <a:ea typeface="맑은 고딕"/>
                <a:cs typeface="맑은 고딕"/>
              </a:rPr>
              <a:t>• 현재 센서 값을 보지 못한다</a:t>
            </a:r>
          </a:p>
          <a:p>
            <a:pPr algn="l" eaLnBrk="0" marL="165735" indent="-165735">
              <a:lnSpc>
                <a:spcPct val="110000"/>
              </a:lnSpc>
              <a:spcAft>
                <a:spcPts val="600"/>
              </a:spcAft>
            </a:pPr>
            <a:r>
              <a:rPr sz="1450" b="0">
                <a:solidFill>
                  <a:srgbClr val="1F2A3A"/>
                </a:solidFill>
                <a:latin typeface="맑은 고딕"/>
                <a:ea typeface="맑은 고딕"/>
                <a:cs typeface="맑은 고딕"/>
              </a:rPr>
              <a:t>• 답의 근거를 확인할 방법이 없다</a:t>
            </a:r>
          </a:p>
        </p:txBody>
      </p:sp>
      <p:sp>
        <p:nvSpPr>
          <p:cNvPr id="11" name="Rounded Rectangle 10"/>
          <p:cNvSpPr/>
          <p:nvPr/>
        </p:nvSpPr>
        <p:spPr>
          <a:xfrm>
            <a:off x="868680" y="5547296"/>
            <a:ext cx="18745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8745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근거를 확인할 수 없다</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report-search" descr="report-search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지식을 조회하게 한다</a:t>
            </a:r>
          </a:p>
        </p:txBody>
      </p:sp>
      <p:sp>
        <p:nvSpPr>
          <p:cNvPr id="17" name="TextBox 16"/>
          <p:cNvSpPr txBox="1"/>
          <p:nvPr/>
        </p:nvSpPr>
        <p:spPr>
          <a:xfrm>
            <a:off x="6735927" y="3029775"/>
            <a:ext cx="4632807" cy="2426081"/>
          </a:xfrm>
          <a:prstGeom prst="rect">
            <a:avLst/>
          </a:prstGeom>
          <a:noFill/>
        </p:spPr>
        <p:txBody>
          <a:bodyPr wrap="square" anchor="t"/>
          <a:lstStyle/>
          <a:p>
            <a:pPr algn="l" eaLnBrk="0" marL="160020" indent="-160020">
              <a:lnSpc>
                <a:spcPct val="110000"/>
              </a:lnSpc>
              <a:spcAft>
                <a:spcPts val="600"/>
              </a:spcAft>
            </a:pPr>
            <a:r>
              <a:rPr sz="1400" b="0">
                <a:solidFill>
                  <a:srgbClr val="1F2A3A"/>
                </a:solidFill>
                <a:latin typeface="맑은 고딕"/>
                <a:ea typeface="맑은 고딕"/>
                <a:cs typeface="맑은 고딕"/>
              </a:rPr>
              <a:t>• 적어 둔 관계를 따라 원인 후보와 판별 기준을 찾는다</a:t>
            </a:r>
          </a:p>
          <a:p>
            <a:pPr algn="l" eaLnBrk="0" marL="160020" indent="-160020">
              <a:lnSpc>
                <a:spcPct val="110000"/>
              </a:lnSpc>
              <a:spcAft>
                <a:spcPts val="600"/>
              </a:spcAft>
            </a:pPr>
            <a:r>
              <a:rPr sz="1400" b="0">
                <a:solidFill>
                  <a:srgbClr val="1F2A3A"/>
                </a:solidFill>
                <a:latin typeface="맑은 고딕"/>
                <a:ea typeface="맑은 고딕"/>
                <a:cs typeface="맑은 고딕"/>
              </a:rPr>
              <a:t>• 기준에 적힌 값을 저장소에서 읽어 대조한다</a:t>
            </a:r>
          </a:p>
          <a:p>
            <a:pPr algn="l" eaLnBrk="0" marL="160020" indent="-160020">
              <a:lnSpc>
                <a:spcPct val="110000"/>
              </a:lnSpc>
              <a:spcAft>
                <a:spcPts val="600"/>
              </a:spcAft>
            </a:pPr>
            <a:r>
              <a:rPr sz="1400" b="0">
                <a:solidFill>
                  <a:srgbClr val="1F2A3A"/>
                </a:solidFill>
                <a:latin typeface="맑은 고딕"/>
                <a:ea typeface="맑은 고딕"/>
                <a:cs typeface="맑은 고딕"/>
              </a:rPr>
              <a:t>• 값이 오래되었거나 비어 있으면 판정을 보류한다</a:t>
            </a:r>
          </a:p>
          <a:p>
            <a:pPr algn="l" eaLnBrk="0" marL="160020" indent="-160020">
              <a:lnSpc>
                <a:spcPct val="110000"/>
              </a:lnSpc>
              <a:spcAft>
                <a:spcPts val="600"/>
              </a:spcAft>
            </a:pPr>
            <a:r>
              <a:rPr sz="1400" b="0">
                <a:solidFill>
                  <a:srgbClr val="1F2A3A"/>
                </a:solidFill>
                <a:latin typeface="맑은 고딕"/>
                <a:ea typeface="맑은 고딕"/>
                <a:cs typeface="맑은 고딕"/>
              </a:rPr>
              <a:t>• 어떤 지식과 값으로 판단했는지 기록에 남는다</a:t>
            </a:r>
          </a:p>
          <a:p>
            <a:pPr algn="l" eaLnBrk="0" marL="160020" indent="-160020">
              <a:lnSpc>
                <a:spcPct val="110000"/>
              </a:lnSpc>
              <a:spcAft>
                <a:spcPts val="600"/>
              </a:spcAft>
            </a:pPr>
            <a:r>
              <a:rPr sz="1400" b="0">
                <a:solidFill>
                  <a:srgbClr val="1F2A3A"/>
                </a:solidFill>
                <a:latin typeface="맑은 고딕"/>
                <a:ea typeface="맑은 고딕"/>
                <a:cs typeface="맑은 고딕"/>
              </a:rPr>
              <a:t>• 쿨러 사건: 팬 진동 2분 구간의 값 120개, 가장 긴 틈 약 1초</a:t>
            </a:r>
          </a:p>
        </p:txBody>
      </p:sp>
      <p:sp>
        <p:nvSpPr>
          <p:cNvPr id="18" name="Rounded Rectangle 17"/>
          <p:cNvSpPr/>
          <p:nvPr/>
        </p:nvSpPr>
        <p:spPr>
          <a:xfrm>
            <a:off x="6781647" y="5547296"/>
            <a:ext cx="132587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근거가 남는다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온톨로지의 정의와 관계</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대상의 종류, 속성, 관계, 제약을 정의해 사람과 컴퓨터가 같은 뜻으로 쓰게 하는 방법</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온톨로지: 공통 의미를 정의하는 지식 모델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온톨로지는 대상의 종류·속성·관계·제약을 </a:t>
            </a:r>
            <a:r>
              <a:rPr sz="1600" b="1">
                <a:solidFill>
                  <a:srgbClr val="1A6FC4"/>
                </a:solidFill>
                <a:latin typeface="맑은 고딕"/>
                <a:ea typeface="맑은 고딕"/>
                <a:cs typeface="맑은 고딕"/>
              </a:rPr>
              <a:t>명시적으로 정의</a:t>
            </a:r>
            <a:r>
              <a:rPr sz="1600" b="0">
                <a:solidFill>
                  <a:srgbClr val="556175"/>
                </a:solidFill>
                <a:latin typeface="맑은 고딕"/>
                <a:ea typeface="맑은 고딕"/>
                <a:cs typeface="맑은 고딕"/>
              </a:rPr>
              <a:t>해 사람과 컴퓨터가 함께 쓰는 지식 모델이다.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55064"/>
            <a:ext cx="11094415" cy="890625"/>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온톨로지(Ontology)</a:t>
            </a:r>
          </a:p>
          <a:p>
            <a:pPr algn="l" eaLnBrk="0">
              <a:lnSpc>
                <a:spcPct val="110000"/>
              </a:lnSpc>
              <a:spcAft>
                <a:spcPts val="200"/>
              </a:spcAft>
            </a:pPr>
            <a:r>
              <a:rPr sz="1150" b="0">
                <a:solidFill>
                  <a:srgbClr val="556175"/>
                </a:solidFill>
                <a:latin typeface="맑은 고딕"/>
                <a:ea typeface="맑은 고딕"/>
                <a:cs typeface="맑은 고딕"/>
              </a:rPr>
              <a:t>공통 의미</a:t>
            </a:r>
          </a:p>
        </p:txBody>
      </p:sp>
      <p:sp>
        <p:nvSpPr>
          <p:cNvPr id="8" name="TextBox 7"/>
          <p:cNvSpPr txBox="1"/>
          <p:nvPr/>
        </p:nvSpPr>
        <p:spPr>
          <a:xfrm>
            <a:off x="4023359" y="1627632"/>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한 분야의 대상과 관계를 정해진 형식으로 정의한 지식 모델이다.</a:t>
            </a:r>
          </a:p>
          <a:p>
            <a:pPr algn="l" eaLnBrk="0">
              <a:lnSpc>
                <a:spcPct val="110000"/>
              </a:lnSpc>
              <a:spcAft>
                <a:spcPts val="300"/>
              </a:spcAft>
            </a:pPr>
            <a:r>
              <a:rPr sz="1400" b="0">
                <a:solidFill>
                  <a:srgbClr val="1F2A3A"/>
                </a:solidFill>
                <a:latin typeface="맑은 고딕"/>
                <a:ea typeface="맑은 고딕"/>
                <a:cs typeface="맑은 고딕"/>
              </a:rPr>
              <a:t>「쿨러 핀 오염」이 누구에게나 같은 대상을 뜻하게 한다.</a:t>
            </a:r>
          </a:p>
        </p:txBody>
      </p:sp>
      <p:sp>
        <p:nvSpPr>
          <p:cNvPr id="9" name="Rectangle 8"/>
          <p:cNvSpPr/>
          <p:nvPr/>
        </p:nvSpPr>
        <p:spPr>
          <a:xfrm>
            <a:off x="548640" y="2563977"/>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573121"/>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종류</a:t>
            </a:r>
          </a:p>
          <a:p>
            <a:pPr algn="l" eaLnBrk="0">
              <a:lnSpc>
                <a:spcPct val="110000"/>
              </a:lnSpc>
              <a:spcAft>
                <a:spcPts val="200"/>
              </a:spcAft>
            </a:pPr>
            <a:r>
              <a:rPr sz="1150" b="0">
                <a:solidFill>
                  <a:srgbClr val="556175"/>
                </a:solidFill>
                <a:latin typeface="맑은 고딕"/>
                <a:ea typeface="맑은 고딕"/>
                <a:cs typeface="맑은 고딕"/>
              </a:rPr>
              <a:t>대상의 갈래</a:t>
            </a:r>
          </a:p>
        </p:txBody>
      </p:sp>
      <p:sp>
        <p:nvSpPr>
          <p:cNvPr id="11" name="TextBox 10"/>
          <p:cNvSpPr txBox="1"/>
          <p:nvPr/>
        </p:nvSpPr>
        <p:spPr>
          <a:xfrm>
            <a:off x="4023359" y="2573121"/>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설비 쪽: 설비·구성 요소·센서</a:t>
            </a:r>
          </a:p>
          <a:p>
            <a:pPr algn="l" eaLnBrk="0">
              <a:lnSpc>
                <a:spcPct val="110000"/>
              </a:lnSpc>
              <a:spcAft>
                <a:spcPts val="300"/>
              </a:spcAft>
            </a:pPr>
            <a:r>
              <a:rPr sz="1400" b="0">
                <a:solidFill>
                  <a:srgbClr val="1F2A3A"/>
                </a:solidFill>
                <a:latin typeface="맑은 고딕"/>
                <a:ea typeface="맑은 고딕"/>
                <a:cs typeface="맑은 고딕"/>
              </a:rPr>
              <a:t>진단 쪽: 이상 패턴·증상·고장 유형·원인·증거</a:t>
            </a:r>
          </a:p>
          <a:p>
            <a:pPr algn="l" eaLnBrk="0">
              <a:lnSpc>
                <a:spcPct val="110000"/>
              </a:lnSpc>
              <a:spcAft>
                <a:spcPts val="300"/>
              </a:spcAft>
            </a:pPr>
            <a:r>
              <a:rPr sz="1400" b="0">
                <a:solidFill>
                  <a:srgbClr val="1F2A3A"/>
                </a:solidFill>
                <a:latin typeface="맑은 고딕"/>
                <a:ea typeface="맑은 고딕"/>
                <a:cs typeface="맑은 고딕"/>
              </a:rPr>
              <a:t>조치 쪽: 조치 방법·근거 문서</a:t>
            </a:r>
          </a:p>
        </p:txBody>
      </p:sp>
      <p:sp>
        <p:nvSpPr>
          <p:cNvPr id="12" name="Rectangle 11"/>
          <p:cNvSpPr/>
          <p:nvPr/>
        </p:nvSpPr>
        <p:spPr>
          <a:xfrm>
            <a:off x="548640" y="3509467"/>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518611"/>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속성(Property)</a:t>
            </a:r>
          </a:p>
          <a:p>
            <a:pPr algn="l" eaLnBrk="0">
              <a:lnSpc>
                <a:spcPct val="110000"/>
              </a:lnSpc>
              <a:spcAft>
                <a:spcPts val="200"/>
              </a:spcAft>
            </a:pPr>
            <a:r>
              <a:rPr sz="1150" b="0">
                <a:solidFill>
                  <a:srgbClr val="556175"/>
                </a:solidFill>
                <a:latin typeface="맑은 고딕"/>
                <a:ea typeface="맑은 고딕"/>
                <a:cs typeface="맑은 고딕"/>
              </a:rPr>
              <a:t>값의 항목</a:t>
            </a:r>
          </a:p>
        </p:txBody>
      </p:sp>
      <p:sp>
        <p:nvSpPr>
          <p:cNvPr id="14" name="TextBox 13"/>
          <p:cNvSpPr txBox="1"/>
          <p:nvPr/>
        </p:nvSpPr>
        <p:spPr>
          <a:xfrm>
            <a:off x="4023359" y="3518611"/>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대상이 갖는 값을 담는 항목이다.</a:t>
            </a:r>
          </a:p>
          <a:p>
            <a:pPr algn="l" eaLnBrk="0">
              <a:lnSpc>
                <a:spcPct val="110000"/>
              </a:lnSpc>
              <a:spcAft>
                <a:spcPts val="300"/>
              </a:spcAft>
            </a:pPr>
            <a:r>
              <a:rPr sz="1400" b="0">
                <a:solidFill>
                  <a:srgbClr val="1F2A3A"/>
                </a:solidFill>
                <a:latin typeface="맑은 고딕"/>
                <a:ea typeface="맑은 고딕"/>
                <a:cs typeface="맑은 고딕"/>
              </a:rPr>
              <a:t>유온: 단위 ℃ · 정상값 48 ℃ · 한계 65 ℃</a:t>
            </a:r>
          </a:p>
        </p:txBody>
      </p:sp>
      <p:sp>
        <p:nvSpPr>
          <p:cNvPr id="15" name="Rectangle 14"/>
          <p:cNvSpPr/>
          <p:nvPr/>
        </p:nvSpPr>
        <p:spPr>
          <a:xfrm>
            <a:off x="548640" y="4454956"/>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4464100"/>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관계(Relationship)</a:t>
            </a:r>
          </a:p>
          <a:p>
            <a:pPr algn="l" eaLnBrk="0">
              <a:lnSpc>
                <a:spcPct val="110000"/>
              </a:lnSpc>
              <a:spcAft>
                <a:spcPts val="200"/>
              </a:spcAft>
            </a:pPr>
            <a:r>
              <a:rPr sz="1150" b="0">
                <a:solidFill>
                  <a:srgbClr val="556175"/>
                </a:solidFill>
                <a:latin typeface="맑은 고딕"/>
                <a:ea typeface="맑은 고딕"/>
                <a:cs typeface="맑은 고딕"/>
              </a:rPr>
              <a:t>이름과 방향</a:t>
            </a:r>
          </a:p>
        </p:txBody>
      </p:sp>
      <p:sp>
        <p:nvSpPr>
          <p:cNvPr id="17" name="TextBox 16"/>
          <p:cNvSpPr txBox="1"/>
          <p:nvPr/>
        </p:nvSpPr>
        <p:spPr>
          <a:xfrm>
            <a:off x="4023359" y="4464100"/>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이름과 방향으로 대상 사이의 뜻을 정한다.</a:t>
            </a:r>
          </a:p>
          <a:p>
            <a:pPr algn="l" eaLnBrk="0">
              <a:lnSpc>
                <a:spcPct val="110000"/>
              </a:lnSpc>
              <a:spcAft>
                <a:spcPts val="300"/>
              </a:spcAft>
            </a:pPr>
            <a:r>
              <a:rPr sz="1400" b="0">
                <a:solidFill>
                  <a:srgbClr val="1F2A3A"/>
                </a:solidFill>
                <a:latin typeface="맑은 고딕"/>
                <a:ea typeface="맑은 고딕"/>
                <a:cs typeface="맑은 고딕"/>
              </a:rPr>
              <a:t>MITIGATED_BY → 팬 최대 운전: 우선 완화</a:t>
            </a:r>
          </a:p>
          <a:p>
            <a:pPr algn="l" eaLnBrk="0">
              <a:lnSpc>
                <a:spcPct val="110000"/>
              </a:lnSpc>
              <a:spcAft>
                <a:spcPts val="300"/>
              </a:spcAft>
            </a:pPr>
            <a:r>
              <a:rPr sz="1400" b="0">
                <a:solidFill>
                  <a:srgbClr val="1F2A3A"/>
                </a:solidFill>
                <a:latin typeface="맑은 고딕"/>
                <a:ea typeface="맑은 고딕"/>
                <a:cs typeface="맑은 고딕"/>
              </a:rPr>
              <a:t>REMEDIED_BY → 쿨러 핀 세척: 근본 조치</a:t>
            </a:r>
          </a:p>
        </p:txBody>
      </p:sp>
      <p:sp>
        <p:nvSpPr>
          <p:cNvPr id="18" name="Rectangle 17"/>
          <p:cNvSpPr/>
          <p:nvPr/>
        </p:nvSpPr>
        <p:spPr>
          <a:xfrm>
            <a:off x="548640" y="540044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640080" y="5409590"/>
            <a:ext cx="3291839" cy="945489"/>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제약(Constraint)</a:t>
            </a:r>
          </a:p>
          <a:p>
            <a:pPr algn="l" eaLnBrk="0">
              <a:lnSpc>
                <a:spcPct val="110000"/>
              </a:lnSpc>
              <a:spcAft>
                <a:spcPts val="200"/>
              </a:spcAft>
            </a:pPr>
            <a:r>
              <a:rPr sz="1150" b="0">
                <a:solidFill>
                  <a:srgbClr val="556175"/>
                </a:solidFill>
                <a:latin typeface="맑은 고딕"/>
                <a:ea typeface="맑은 고딕"/>
                <a:cs typeface="맑은 고딕"/>
              </a:rPr>
              <a:t>검사할 기준</a:t>
            </a:r>
          </a:p>
        </p:txBody>
      </p:sp>
      <p:sp>
        <p:nvSpPr>
          <p:cNvPr id="20" name="TextBox 19"/>
          <p:cNvSpPr txBox="1"/>
          <p:nvPr/>
        </p:nvSpPr>
        <p:spPr>
          <a:xfrm>
            <a:off x="4023359" y="5409590"/>
            <a:ext cx="7528255" cy="945489"/>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관계 양 끝의 종류 등 올바른 연결의 조건을 정한다.</a:t>
            </a:r>
          </a:p>
          <a:p>
            <a:pPr algn="l" eaLnBrk="0">
              <a:lnSpc>
                <a:spcPct val="110000"/>
              </a:lnSpc>
              <a:spcAft>
                <a:spcPts val="300"/>
              </a:spcAft>
            </a:pPr>
            <a:r>
              <a:rPr sz="1400" b="0">
                <a:solidFill>
                  <a:srgbClr val="1F2A3A"/>
                </a:solidFill>
                <a:latin typeface="맑은 고딕"/>
                <a:ea typeface="맑은 고딕"/>
                <a:cs typeface="맑은 고딕"/>
              </a:rPr>
              <a:t>CAUSES는 원인에서 고장 유형으로 잇는다.</a:t>
            </a:r>
          </a:p>
          <a:p>
            <a:pPr algn="l" eaLnBrk="0">
              <a:lnSpc>
                <a:spcPct val="110000"/>
              </a:lnSpc>
              <a:spcAft>
                <a:spcPts val="300"/>
              </a:spcAft>
            </a:pPr>
            <a:r>
              <a:rPr sz="1400" b="0">
                <a:solidFill>
                  <a:srgbClr val="1F2A3A"/>
                </a:solidFill>
                <a:latin typeface="맑은 고딕"/>
                <a:ea typeface="맑은 고딕"/>
                <a:cs typeface="맑은 고딕"/>
              </a:rPr>
              <a:t>정의한 제약은 잘못된 연결을 검사할 기준이 된다.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같은 대상을 가리키는 여러 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온톨로지는 사람마다 다르게 부르는 말을 하나의 대상에 묶어, 누구나 같은 대상을 가리키게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448814"/>
            <a:ext cx="2567863" cy="308508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649982"/>
            <a:ext cx="731520" cy="731520"/>
          </a:xfrm>
          <a:prstGeom prst="ellipse">
            <a:avLst/>
          </a:prstGeom>
          <a:solidFill>
            <a:srgbClr val="5CB8F2"/>
          </a:solidFill>
          <a:ln>
            <a:noFill/>
          </a:ln>
        </p:spPr>
        <p:txBody>
          <a:bodyPr rtlCol="0" anchor="ctr"/>
          <a:lstStyle/>
          <a:p>
            <a:pPr algn="ctr"/>
          </a:p>
        </p:txBody>
      </p:sp>
      <p:pic>
        <p:nvPicPr>
          <p:cNvPr id="8" name="아이콘:temperature" descr="temperature_13294B_1.6.png"/>
          <p:cNvPicPr>
            <a:picLocks noChangeAspect="1"/>
          </p:cNvPicPr>
          <p:nvPr/>
        </p:nvPicPr>
        <p:blipFill>
          <a:blip r:embed="rId3"/>
          <a:stretch>
            <a:fillRect/>
          </a:stretch>
        </p:blipFill>
        <p:spPr>
          <a:xfrm>
            <a:off x="930859" y="2803601"/>
            <a:ext cx="424281" cy="424281"/>
          </a:xfrm>
          <a:prstGeom prst="rect">
            <a:avLst/>
          </a:prstGeom>
        </p:spPr>
      </p:pic>
      <p:sp>
        <p:nvSpPr>
          <p:cNvPr id="9" name="TextBox 8"/>
          <p:cNvSpPr txBox="1"/>
          <p:nvPr/>
        </p:nvSpPr>
        <p:spPr>
          <a:xfrm>
            <a:off x="713232" y="3472942"/>
            <a:ext cx="2238679" cy="155803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유온 상승</a:t>
            </a:r>
          </a:p>
          <a:p>
            <a:pPr algn="l" eaLnBrk="0">
              <a:lnSpc>
                <a:spcPct val="110000"/>
              </a:lnSpc>
              <a:spcAft>
                <a:spcPts val="400"/>
              </a:spcAft>
            </a:pPr>
            <a:r>
              <a:rPr sz="1750" b="0">
                <a:solidFill>
                  <a:srgbClr val="1F2A3A"/>
                </a:solidFill>
                <a:latin typeface="맑은 고딕"/>
                <a:ea typeface="맑은 고딕"/>
                <a:cs typeface="맑은 고딕"/>
              </a:rPr>
              <a:t>「온도 상승」, 「과열」이라고도 부른다</a:t>
            </a:r>
          </a:p>
        </p:txBody>
      </p:sp>
      <p:sp>
        <p:nvSpPr>
          <p:cNvPr id="10" name="Rounded Rectangle 9"/>
          <p:cNvSpPr/>
          <p:nvPr/>
        </p:nvSpPr>
        <p:spPr>
          <a:xfrm>
            <a:off x="777240" y="5104130"/>
            <a:ext cx="82296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증상</a:t>
            </a:r>
          </a:p>
        </p:txBody>
      </p:sp>
      <p:sp>
        <p:nvSpPr>
          <p:cNvPr id="12" name="Rounded Rectangle 11"/>
          <p:cNvSpPr/>
          <p:nvPr/>
        </p:nvSpPr>
        <p:spPr>
          <a:xfrm>
            <a:off x="3390823" y="2448814"/>
            <a:ext cx="2567863" cy="308508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49982"/>
            <a:ext cx="731520" cy="731520"/>
          </a:xfrm>
          <a:prstGeom prst="ellipse">
            <a:avLst/>
          </a:prstGeom>
          <a:solidFill>
            <a:srgbClr val="E7F3FD"/>
          </a:solidFill>
          <a:ln>
            <a:noFill/>
          </a:ln>
        </p:spPr>
        <p:txBody>
          <a:bodyPr rtlCol="0" anchor="ctr"/>
          <a:lstStyle/>
          <a:p>
            <a:pPr algn="ctr"/>
          </a:p>
        </p:txBody>
      </p:sp>
      <p:pic>
        <p:nvPicPr>
          <p:cNvPr id="14" name="아이콘:wind" descr="wind_13294B_1.6.png"/>
          <p:cNvPicPr>
            <a:picLocks noChangeAspect="1"/>
          </p:cNvPicPr>
          <p:nvPr/>
        </p:nvPicPr>
        <p:blipFill>
          <a:blip r:embed="rId4"/>
          <a:stretch>
            <a:fillRect/>
          </a:stretch>
        </p:blipFill>
        <p:spPr>
          <a:xfrm>
            <a:off x="3773043" y="2803601"/>
            <a:ext cx="424281" cy="424281"/>
          </a:xfrm>
          <a:prstGeom prst="rect">
            <a:avLst/>
          </a:prstGeom>
        </p:spPr>
      </p:pic>
      <p:sp>
        <p:nvSpPr>
          <p:cNvPr id="15" name="TextBox 14"/>
          <p:cNvSpPr txBox="1"/>
          <p:nvPr/>
        </p:nvSpPr>
        <p:spPr>
          <a:xfrm>
            <a:off x="3555415" y="3472942"/>
            <a:ext cx="2238679" cy="155803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냉각 효율 저하</a:t>
            </a:r>
          </a:p>
          <a:p>
            <a:pPr algn="l" eaLnBrk="0">
              <a:lnSpc>
                <a:spcPct val="110000"/>
              </a:lnSpc>
              <a:spcAft>
                <a:spcPts val="400"/>
              </a:spcAft>
            </a:pPr>
            <a:r>
              <a:rPr sz="1750" b="0">
                <a:solidFill>
                  <a:srgbClr val="1F2A3A"/>
                </a:solidFill>
                <a:latin typeface="맑은 고딕"/>
                <a:ea typeface="맑은 고딕"/>
                <a:cs typeface="맑은 고딕"/>
              </a:rPr>
              <a:t>「냉각 불량」이라고도 부른다</a:t>
            </a:r>
          </a:p>
        </p:txBody>
      </p:sp>
      <p:sp>
        <p:nvSpPr>
          <p:cNvPr id="16" name="Rounded Rectangle 15"/>
          <p:cNvSpPr/>
          <p:nvPr/>
        </p:nvSpPr>
        <p:spPr>
          <a:xfrm>
            <a:off x="3619423" y="510413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증상</a:t>
            </a:r>
          </a:p>
        </p:txBody>
      </p:sp>
      <p:sp>
        <p:nvSpPr>
          <p:cNvPr id="18" name="Rounded Rectangle 17"/>
          <p:cNvSpPr/>
          <p:nvPr/>
        </p:nvSpPr>
        <p:spPr>
          <a:xfrm>
            <a:off x="6233007" y="2448814"/>
            <a:ext cx="2567863" cy="308508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49982"/>
            <a:ext cx="731520" cy="731520"/>
          </a:xfrm>
          <a:prstGeom prst="ellipse">
            <a:avLst/>
          </a:prstGeom>
          <a:solidFill>
            <a:srgbClr val="E7F3FD"/>
          </a:solidFill>
          <a:ln>
            <a:noFill/>
          </a:ln>
        </p:spPr>
        <p:txBody>
          <a:bodyPr rtlCol="0" anchor="ctr"/>
          <a:lstStyle/>
          <a:p>
            <a:pPr algn="ctr"/>
          </a:p>
        </p:txBody>
      </p:sp>
      <p:pic>
        <p:nvPicPr>
          <p:cNvPr id="20" name="아이콘:activity" descr="activity_13294B_1.6.png"/>
          <p:cNvPicPr>
            <a:picLocks noChangeAspect="1"/>
          </p:cNvPicPr>
          <p:nvPr/>
        </p:nvPicPr>
        <p:blipFill>
          <a:blip r:embed="rId5"/>
          <a:stretch>
            <a:fillRect/>
          </a:stretch>
        </p:blipFill>
        <p:spPr>
          <a:xfrm>
            <a:off x="6615226" y="2803601"/>
            <a:ext cx="424281" cy="424281"/>
          </a:xfrm>
          <a:prstGeom prst="rect">
            <a:avLst/>
          </a:prstGeom>
        </p:spPr>
      </p:pic>
      <p:sp>
        <p:nvSpPr>
          <p:cNvPr id="21" name="TextBox 20"/>
          <p:cNvSpPr txBox="1"/>
          <p:nvPr/>
        </p:nvSpPr>
        <p:spPr>
          <a:xfrm>
            <a:off x="6397599" y="3472942"/>
            <a:ext cx="2238679" cy="155803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진동 증가</a:t>
            </a:r>
          </a:p>
          <a:p>
            <a:pPr algn="l" eaLnBrk="0">
              <a:lnSpc>
                <a:spcPct val="110000"/>
              </a:lnSpc>
              <a:spcAft>
                <a:spcPts val="400"/>
              </a:spcAft>
            </a:pPr>
            <a:r>
              <a:rPr sz="1750" b="0">
                <a:solidFill>
                  <a:srgbClr val="1F2A3A"/>
                </a:solidFill>
                <a:latin typeface="맑은 고딕"/>
                <a:ea typeface="맑은 고딕"/>
                <a:cs typeface="맑은 고딕"/>
              </a:rPr>
              <a:t>「떨림」, 「소음」이라고도 부른다</a:t>
            </a:r>
          </a:p>
        </p:txBody>
      </p:sp>
      <p:sp>
        <p:nvSpPr>
          <p:cNvPr id="22" name="Rounded Rectangle 21"/>
          <p:cNvSpPr/>
          <p:nvPr/>
        </p:nvSpPr>
        <p:spPr>
          <a:xfrm>
            <a:off x="6461607" y="510413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증상</a:t>
            </a:r>
          </a:p>
        </p:txBody>
      </p:sp>
      <p:sp>
        <p:nvSpPr>
          <p:cNvPr id="24" name="Rounded Rectangle 23"/>
          <p:cNvSpPr/>
          <p:nvPr/>
        </p:nvSpPr>
        <p:spPr>
          <a:xfrm>
            <a:off x="9075191" y="2448814"/>
            <a:ext cx="2567863" cy="308508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649982"/>
            <a:ext cx="731520" cy="731520"/>
          </a:xfrm>
          <a:prstGeom prst="ellipse">
            <a:avLst/>
          </a:prstGeom>
          <a:solidFill>
            <a:srgbClr val="E7F3FD"/>
          </a:solidFill>
          <a:ln>
            <a:noFill/>
          </a:ln>
        </p:spPr>
        <p:txBody>
          <a:bodyPr rtlCol="0" anchor="ctr"/>
          <a:lstStyle/>
          <a:p>
            <a:pPr algn="ctr"/>
          </a:p>
        </p:txBody>
      </p:sp>
      <p:pic>
        <p:nvPicPr>
          <p:cNvPr id="26" name="아이콘:filter" descr="filter_13294B_1.6.png"/>
          <p:cNvPicPr>
            <a:picLocks noChangeAspect="1"/>
          </p:cNvPicPr>
          <p:nvPr/>
        </p:nvPicPr>
        <p:blipFill>
          <a:blip r:embed="rId6"/>
          <a:stretch>
            <a:fillRect/>
          </a:stretch>
        </p:blipFill>
        <p:spPr>
          <a:xfrm>
            <a:off x="9457410" y="2803601"/>
            <a:ext cx="424281" cy="424281"/>
          </a:xfrm>
          <a:prstGeom prst="rect">
            <a:avLst/>
          </a:prstGeom>
        </p:spPr>
      </p:pic>
      <p:sp>
        <p:nvSpPr>
          <p:cNvPr id="27" name="TextBox 26"/>
          <p:cNvSpPr txBox="1"/>
          <p:nvPr/>
        </p:nvSpPr>
        <p:spPr>
          <a:xfrm>
            <a:off x="9239783" y="3472942"/>
            <a:ext cx="2238679" cy="155803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오일 쿨러</a:t>
            </a:r>
          </a:p>
          <a:p>
            <a:pPr algn="l" eaLnBrk="0">
              <a:lnSpc>
                <a:spcPct val="110000"/>
              </a:lnSpc>
              <a:spcAft>
                <a:spcPts val="400"/>
              </a:spcAft>
            </a:pPr>
            <a:r>
              <a:rPr sz="1750" b="0">
                <a:solidFill>
                  <a:srgbClr val="1F2A3A"/>
                </a:solidFill>
                <a:latin typeface="맑은 고딕"/>
                <a:ea typeface="맑은 고딕"/>
                <a:cs typeface="맑은 고딕"/>
              </a:rPr>
              <a:t>다른 이름: 쿨러, 열교환기</a:t>
            </a:r>
          </a:p>
        </p:txBody>
      </p:sp>
      <p:sp>
        <p:nvSpPr>
          <p:cNvPr id="28" name="Rounded Rectangle 27"/>
          <p:cNvSpPr/>
          <p:nvPr/>
        </p:nvSpPr>
        <p:spPr>
          <a:xfrm>
            <a:off x="9303791" y="5104130"/>
            <a:ext cx="102108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10413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구성 요소</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온톨로지·지식 그래프·그래프 DB·관계 그림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온톨로지는 공통 정의, 지식 그래프는 정의에 맞춰 채운 지식이며, 그래프 DB와 관계 그림은 저장과 표현을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뜻</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지식의 예</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온톨로지(Ontology)</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대상의 종류·속성·관계·제약을 정한</a:t>
            </a:r>
          </a:p>
          <a:p>
            <a:pPr algn="l" eaLnBrk="0">
              <a:lnSpc>
                <a:spcPct val="110000"/>
              </a:lnSpc>
            </a:pPr>
            <a:r>
              <a:rPr sz="1400" b="0">
                <a:solidFill>
                  <a:srgbClr val="1F2A3A"/>
                </a:solidFill>
                <a:latin typeface="맑은 고딕"/>
                <a:ea typeface="맑은 고딕"/>
                <a:cs typeface="맑은 고딕"/>
              </a:rPr>
              <a:t>공통 지식 모델</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원인은 고장 유형을 일으킨다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지식 그래프(Knowledge Graph)</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정의에 맞춰 실제 대상과 관계를</a:t>
            </a:r>
          </a:p>
          <a:p>
            <a:pPr algn="l" eaLnBrk="0">
              <a:lnSpc>
                <a:spcPct val="110000"/>
              </a:lnSpc>
            </a:pPr>
            <a:r>
              <a:rPr sz="1400" b="0">
                <a:solidFill>
                  <a:srgbClr val="1F2A3A"/>
                </a:solidFill>
                <a:latin typeface="맑은 고딕"/>
                <a:ea typeface="맑은 고딕"/>
                <a:cs typeface="맑은 고딕"/>
              </a:rPr>
              <a:t>채운 지식</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핀 오염 → 냉각 성능 상실</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그래프 DB(Graph Database)</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대상과 관계를 저장하고</a:t>
            </a:r>
          </a:p>
          <a:p>
            <a:pPr algn="l" eaLnBrk="0">
              <a:lnSpc>
                <a:spcPct val="110000"/>
              </a:lnSpc>
            </a:pPr>
            <a:r>
              <a:rPr sz="1400" b="0">
                <a:solidFill>
                  <a:srgbClr val="1F2A3A"/>
                </a:solidFill>
                <a:latin typeface="맑은 고딕"/>
                <a:ea typeface="맑은 고딕"/>
                <a:cs typeface="맑은 고딕"/>
              </a:rPr>
              <a:t>조회하는 도구</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위 연결을 저장하고 찾는다</a:t>
            </a:r>
          </a:p>
          <a:p>
            <a:pPr algn="l" eaLnBrk="0">
              <a:lnSpc>
                <a:spcPct val="110000"/>
              </a:lnSpc>
            </a:pPr>
            <a:r>
              <a:rPr sz="1250" b="1">
                <a:solidFill>
                  <a:srgbClr val="556175"/>
                </a:solidFill>
                <a:latin typeface="맑은 고딕"/>
                <a:ea typeface="맑은 고딕"/>
                <a:cs typeface="맑은 고딕"/>
              </a:rPr>
              <a:t>이런 도구에 Neo4j가 있다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관계 그림</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대상과 연결을 사람이</a:t>
            </a:r>
          </a:p>
          <a:p>
            <a:pPr algn="l" eaLnBrk="0">
              <a:lnSpc>
                <a:spcPct val="110000"/>
              </a:lnSpc>
            </a:pPr>
            <a:r>
              <a:rPr sz="1400" b="0">
                <a:solidFill>
                  <a:srgbClr val="1F2A3A"/>
                </a:solidFill>
                <a:latin typeface="맑은 고딕"/>
                <a:ea typeface="맑은 고딕"/>
                <a:cs typeface="맑은 고딕"/>
              </a:rPr>
              <a:t>보도록 나타낸 표현</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위 연결을 원과 화살표로 그린다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노드·관계·방향을 문장으로 읽는다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대상은 노드, 연결은 이름과 방향을 가진 관계로 나타내며, 주어·서술어·목적어로 읽어 뜻을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63</a:t>
            </a:r>
          </a:p>
        </p:txBody>
      </p:sp>
      <p:pic>
        <p:nvPicPr>
          <p:cNvPr id="6" name="Picture 5" descr="illust_6925840451338762003_1792130363.png"/>
          <p:cNvPicPr>
            <a:picLocks noChangeAspect="1"/>
          </p:cNvPicPr>
          <p:nvPr/>
        </p:nvPicPr>
        <p:blipFill>
          <a:blip r:embed="rId3"/>
          <a:stretch>
            <a:fillRect/>
          </a:stretch>
        </p:blipFill>
        <p:spPr>
          <a:xfrm>
            <a:off x="548640" y="2403348"/>
            <a:ext cx="7223760" cy="3130296"/>
          </a:xfrm>
          <a:prstGeom prst="rect">
            <a:avLst/>
          </a:prstGeom>
          <a:ln w="12700">
            <a:solidFill>
              <a:srgbClr val="D3D9E1"/>
            </a:solidFill>
          </a:ln>
        </p:spPr>
      </p:pic>
      <p:sp>
        <p:nvSpPr>
          <p:cNvPr id="7" name="Oval 6"/>
          <p:cNvSpPr/>
          <p:nvPr/>
        </p:nvSpPr>
        <p:spPr>
          <a:xfrm>
            <a:off x="8138160" y="1691640"/>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91640"/>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36776"/>
            <a:ext cx="3093415" cy="1554480"/>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노드(Node)</a:t>
            </a:r>
          </a:p>
          <a:p>
            <a:pPr algn="l" eaLnBrk="0">
              <a:lnSpc>
                <a:spcPct val="110000"/>
              </a:lnSpc>
              <a:spcAft>
                <a:spcPts val="400"/>
              </a:spcAft>
            </a:pPr>
            <a:r>
              <a:rPr sz="1400" b="0">
                <a:solidFill>
                  <a:srgbClr val="1F2A3A"/>
                </a:solidFill>
                <a:latin typeface="맑은 고딕"/>
                <a:ea typeface="맑은 고딕"/>
                <a:cs typeface="맑은 고딕"/>
              </a:rPr>
              <a:t>대상 하나를 나타낸다. 왼쪽은 쿨러 핀 오염, 오른쪽은 쿨러 냉각 성능 상실이다.</a:t>
            </a:r>
          </a:p>
        </p:txBody>
      </p:sp>
      <p:sp>
        <p:nvSpPr>
          <p:cNvPr id="10" name="Oval 9"/>
          <p:cNvSpPr/>
          <p:nvPr/>
        </p:nvSpPr>
        <p:spPr>
          <a:xfrm>
            <a:off x="8138160" y="3246120"/>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3246120"/>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3191256"/>
            <a:ext cx="3093415" cy="1554480"/>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관계(Relationship)</a:t>
            </a:r>
          </a:p>
          <a:p>
            <a:pPr algn="l" eaLnBrk="0">
              <a:lnSpc>
                <a:spcPct val="110000"/>
              </a:lnSpc>
              <a:spcAft>
                <a:spcPts val="400"/>
              </a:spcAft>
            </a:pPr>
            <a:r>
              <a:rPr sz="1400" b="0">
                <a:solidFill>
                  <a:srgbClr val="1F2A3A"/>
                </a:solidFill>
                <a:latin typeface="맑은 고딕"/>
                <a:ea typeface="맑은 고딕"/>
                <a:cs typeface="맑은 고딕"/>
              </a:rPr>
              <a:t>두 노드를 잇는 이름 있는 연결이다. 이 화살표의 이름 CAUSES는 「일으킨다」이다.</a:t>
            </a:r>
          </a:p>
        </p:txBody>
      </p:sp>
      <p:sp>
        <p:nvSpPr>
          <p:cNvPr id="13" name="Oval 12"/>
          <p:cNvSpPr/>
          <p:nvPr/>
        </p:nvSpPr>
        <p:spPr>
          <a:xfrm>
            <a:off x="8138160" y="4800600"/>
            <a:ext cx="347472" cy="347472"/>
          </a:xfrm>
          <a:prstGeom prst="ellipse">
            <a:avLst/>
          </a:prstGeom>
          <a:solidFill>
            <a:srgbClr val="5CB8F2"/>
          </a:solidFill>
          <a:ln>
            <a:noFill/>
          </a:ln>
        </p:spPr>
        <p:txBody>
          <a:bodyPr rtlCol="0" anchor="ctr"/>
          <a:lstStyle/>
          <a:p>
            <a:pPr algn="ctr"/>
          </a:p>
        </p:txBody>
      </p:sp>
      <p:sp>
        <p:nvSpPr>
          <p:cNvPr id="14" name="TextBox 13"/>
          <p:cNvSpPr txBox="1"/>
          <p:nvPr/>
        </p:nvSpPr>
        <p:spPr>
          <a:xfrm>
            <a:off x="8138160" y="4800600"/>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3</a:t>
            </a:r>
          </a:p>
        </p:txBody>
      </p:sp>
      <p:sp>
        <p:nvSpPr>
          <p:cNvPr id="15" name="TextBox 14"/>
          <p:cNvSpPr txBox="1"/>
          <p:nvPr/>
        </p:nvSpPr>
        <p:spPr>
          <a:xfrm>
            <a:off x="8549640" y="4745736"/>
            <a:ext cx="3093415" cy="1554480"/>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방향(Direction)</a:t>
            </a:r>
          </a:p>
          <a:p>
            <a:pPr algn="l" eaLnBrk="0">
              <a:lnSpc>
                <a:spcPct val="110000"/>
              </a:lnSpc>
              <a:spcAft>
                <a:spcPts val="400"/>
              </a:spcAft>
            </a:pPr>
            <a:r>
              <a:rPr sz="1400" b="0">
                <a:solidFill>
                  <a:srgbClr val="1F2A3A"/>
                </a:solidFill>
                <a:latin typeface="맑은 고딕"/>
                <a:ea typeface="맑은 고딕"/>
                <a:cs typeface="맑은 고딕"/>
              </a:rPr>
              <a:t>출발 노드가 주어, 관계가 서술어, 도착 노드가 목적어다. 「핀 오염은 냉각 성능 상실을 일으킨다」로 읽는다.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HYD 지식 그래프 지도: 설비 쪽과 진단 · 조치 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증상·원인·조치·구성 요소는 </a:t>
            </a:r>
            <a:r>
              <a:rPr sz="1600" b="1">
                <a:solidFill>
                  <a:srgbClr val="1A6FC4"/>
                </a:solidFill>
                <a:latin typeface="맑은 고딕"/>
                <a:ea typeface="맑은 고딕"/>
                <a:cs typeface="맑은 고딕"/>
              </a:rPr>
              <a:t>고장 유형</a:t>
            </a:r>
            <a:r>
              <a:rPr sz="1600" b="0">
                <a:solidFill>
                  <a:srgbClr val="556175"/>
                </a:solidFill>
                <a:latin typeface="맑은 고딕"/>
                <a:ea typeface="맑은 고딕"/>
                <a:cs typeface="맑은 고딕"/>
              </a:rPr>
              <a:t>에 직접 연결되고, 설비·센서·매뉴얼은 그 바깥에 연결된다.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64</a:t>
            </a:r>
          </a:p>
        </p:txBody>
      </p:sp>
      <p:pic>
        <p:nvPicPr>
          <p:cNvPr id="6" name="삽화:지식그래프_지도.svg" descr="illust_6469935926702819528_1792130363.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972060" y="2303657"/>
            <a:ext cx="103006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설비</a:t>
            </a:r>
          </a:p>
          <a:p>
            <a:pPr algn="ctr" eaLnBrk="0">
              <a:lnSpc>
                <a:spcPct val="110000"/>
              </a:lnSpc>
              <a:spcAft>
                <a:spcPts val="100"/>
              </a:spcAft>
            </a:pPr>
            <a:r>
              <a:rPr sz="1100" b="0">
                <a:solidFill>
                  <a:srgbClr val="556175"/>
                </a:solidFill>
                <a:latin typeface="맑은 고딕"/>
                <a:ea typeface="맑은 고딕"/>
                <a:cs typeface="맑은 고딕"/>
              </a:rPr>
              <a:t>(Asset)</a:t>
            </a:r>
          </a:p>
        </p:txBody>
      </p:sp>
      <p:sp>
        <p:nvSpPr>
          <p:cNvPr id="8" name="TextBox 7"/>
          <p:cNvSpPr txBox="1"/>
          <p:nvPr/>
        </p:nvSpPr>
        <p:spPr>
          <a:xfrm>
            <a:off x="3568466" y="2303657"/>
            <a:ext cx="116811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구성 요소</a:t>
            </a:r>
          </a:p>
          <a:p>
            <a:pPr algn="ctr" eaLnBrk="0">
              <a:lnSpc>
                <a:spcPct val="110000"/>
              </a:lnSpc>
              <a:spcAft>
                <a:spcPts val="100"/>
              </a:spcAft>
            </a:pPr>
            <a:r>
              <a:rPr sz="1100" b="0">
                <a:solidFill>
                  <a:srgbClr val="556175"/>
                </a:solidFill>
                <a:latin typeface="맑은 고딕"/>
                <a:ea typeface="맑은 고딕"/>
                <a:cs typeface="맑은 고딕"/>
              </a:rPr>
              <a:t>(Component)</a:t>
            </a:r>
          </a:p>
        </p:txBody>
      </p:sp>
      <p:sp>
        <p:nvSpPr>
          <p:cNvPr id="9" name="TextBox 8"/>
          <p:cNvSpPr txBox="1"/>
          <p:nvPr/>
        </p:nvSpPr>
        <p:spPr>
          <a:xfrm>
            <a:off x="1587976" y="5281949"/>
            <a:ext cx="103006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센서</a:t>
            </a:r>
          </a:p>
          <a:p>
            <a:pPr algn="ctr" eaLnBrk="0">
              <a:lnSpc>
                <a:spcPct val="110000"/>
              </a:lnSpc>
              <a:spcAft>
                <a:spcPts val="100"/>
              </a:spcAft>
            </a:pPr>
            <a:r>
              <a:rPr sz="1100" b="0">
                <a:solidFill>
                  <a:srgbClr val="556175"/>
                </a:solidFill>
                <a:latin typeface="맑은 고딕"/>
                <a:ea typeface="맑은 고딕"/>
                <a:cs typeface="맑은 고딕"/>
              </a:rPr>
              <a:t>(Sensor)</a:t>
            </a:r>
          </a:p>
        </p:txBody>
      </p:sp>
      <p:sp>
        <p:nvSpPr>
          <p:cNvPr id="10" name="TextBox 9"/>
          <p:cNvSpPr txBox="1"/>
          <p:nvPr/>
        </p:nvSpPr>
        <p:spPr>
          <a:xfrm>
            <a:off x="4343671" y="5281949"/>
            <a:ext cx="1104401"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증상</a:t>
            </a:r>
          </a:p>
          <a:p>
            <a:pPr algn="ctr" eaLnBrk="0">
              <a:lnSpc>
                <a:spcPct val="110000"/>
              </a:lnSpc>
              <a:spcAft>
                <a:spcPts val="100"/>
              </a:spcAft>
            </a:pPr>
            <a:r>
              <a:rPr sz="1100" b="0">
                <a:solidFill>
                  <a:srgbClr val="556175"/>
                </a:solidFill>
                <a:latin typeface="맑은 고딕"/>
                <a:ea typeface="맑은 고딕"/>
                <a:cs typeface="맑은 고딕"/>
              </a:rPr>
              <a:t>(Symptom)</a:t>
            </a:r>
          </a:p>
        </p:txBody>
      </p:sp>
      <p:sp>
        <p:nvSpPr>
          <p:cNvPr id="11" name="TextBox 10"/>
          <p:cNvSpPr txBox="1"/>
          <p:nvPr/>
        </p:nvSpPr>
        <p:spPr>
          <a:xfrm>
            <a:off x="6223278" y="3721891"/>
            <a:ext cx="1380502"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고장 유형</a:t>
            </a:r>
          </a:p>
          <a:p>
            <a:pPr algn="ctr" eaLnBrk="0">
              <a:lnSpc>
                <a:spcPct val="110000"/>
              </a:lnSpc>
              <a:spcAft>
                <a:spcPts val="100"/>
              </a:spcAft>
            </a:pPr>
            <a:r>
              <a:rPr sz="1100" b="0">
                <a:solidFill>
                  <a:srgbClr val="556175"/>
                </a:solidFill>
                <a:latin typeface="맑은 고딕"/>
                <a:ea typeface="맑은 고딕"/>
                <a:cs typeface="맑은 고딕"/>
              </a:rPr>
              <a:t>(FailureMode)</a:t>
            </a:r>
          </a:p>
        </p:txBody>
      </p:sp>
      <p:sp>
        <p:nvSpPr>
          <p:cNvPr id="12" name="TextBox 11"/>
          <p:cNvSpPr txBox="1"/>
          <p:nvPr/>
        </p:nvSpPr>
        <p:spPr>
          <a:xfrm>
            <a:off x="8809065" y="2199653"/>
            <a:ext cx="103006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a:t>
            </a:r>
          </a:p>
          <a:p>
            <a:pPr algn="ctr" eaLnBrk="0">
              <a:lnSpc>
                <a:spcPct val="110000"/>
              </a:lnSpc>
              <a:spcAft>
                <a:spcPts val="100"/>
              </a:spcAft>
            </a:pPr>
            <a:r>
              <a:rPr sz="1100" b="0">
                <a:solidFill>
                  <a:srgbClr val="556175"/>
                </a:solidFill>
                <a:latin typeface="맑은 고딕"/>
                <a:ea typeface="맑은 고딕"/>
                <a:cs typeface="맑은 고딕"/>
              </a:rPr>
              <a:t>(Cause)</a:t>
            </a:r>
          </a:p>
        </p:txBody>
      </p:sp>
      <p:sp>
        <p:nvSpPr>
          <p:cNvPr id="13" name="TextBox 12"/>
          <p:cNvSpPr txBox="1"/>
          <p:nvPr/>
        </p:nvSpPr>
        <p:spPr>
          <a:xfrm>
            <a:off x="8336508" y="5367043"/>
            <a:ext cx="1104401"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조치 방법</a:t>
            </a:r>
          </a:p>
          <a:p>
            <a:pPr algn="ctr" eaLnBrk="0">
              <a:lnSpc>
                <a:spcPct val="110000"/>
              </a:lnSpc>
              <a:spcAft>
                <a:spcPts val="100"/>
              </a:spcAft>
            </a:pPr>
            <a:r>
              <a:rPr sz="1100" b="0">
                <a:solidFill>
                  <a:srgbClr val="556175"/>
                </a:solidFill>
                <a:latin typeface="맑은 고딕"/>
                <a:ea typeface="맑은 고딕"/>
                <a:cs typeface="맑은 고딕"/>
              </a:rPr>
              <a:t>(Skill)</a:t>
            </a:r>
          </a:p>
        </p:txBody>
      </p:sp>
      <p:sp>
        <p:nvSpPr>
          <p:cNvPr id="14" name="TextBox 13"/>
          <p:cNvSpPr txBox="1"/>
          <p:nvPr/>
        </p:nvSpPr>
        <p:spPr>
          <a:xfrm>
            <a:off x="9934705" y="3721891"/>
            <a:ext cx="1454836"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매뉴얼 절</a:t>
            </a:r>
          </a:p>
          <a:p>
            <a:pPr algn="ctr" eaLnBrk="0">
              <a:lnSpc>
                <a:spcPct val="110000"/>
              </a:lnSpc>
              <a:spcAft>
                <a:spcPts val="100"/>
              </a:spcAft>
            </a:pPr>
            <a:r>
              <a:rPr sz="1100" b="0">
                <a:solidFill>
                  <a:srgbClr val="556175"/>
                </a:solidFill>
                <a:latin typeface="맑은 고딕"/>
                <a:ea typeface="맑은 고딕"/>
                <a:cs typeface="맑은 고딕"/>
              </a:rPr>
              <a:t>(ManualSection)</a:t>
            </a:r>
          </a:p>
        </p:txBody>
      </p:sp>
      <p:sp>
        <p:nvSpPr>
          <p:cNvPr id="15" name="TextBox 14"/>
          <p:cNvSpPr txBox="1"/>
          <p:nvPr/>
        </p:nvSpPr>
        <p:spPr>
          <a:xfrm>
            <a:off x="1975579" y="2157106"/>
            <a:ext cx="1592887"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HAS_COMPONENT</a:t>
            </a:r>
          </a:p>
        </p:txBody>
      </p:sp>
      <p:sp>
        <p:nvSpPr>
          <p:cNvPr id="16" name="TextBox 15"/>
          <p:cNvSpPr txBox="1"/>
          <p:nvPr/>
        </p:nvSpPr>
        <p:spPr>
          <a:xfrm>
            <a:off x="1880006" y="3546975"/>
            <a:ext cx="1507933"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MONITORED_BY</a:t>
            </a:r>
          </a:p>
        </p:txBody>
      </p:sp>
      <p:sp>
        <p:nvSpPr>
          <p:cNvPr id="17" name="TextBox 16"/>
          <p:cNvSpPr txBox="1"/>
          <p:nvPr/>
        </p:nvSpPr>
        <p:spPr>
          <a:xfrm>
            <a:off x="2793261" y="5575051"/>
            <a:ext cx="142297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OBSERVED_BY</a:t>
            </a:r>
          </a:p>
        </p:txBody>
      </p:sp>
      <p:sp>
        <p:nvSpPr>
          <p:cNvPr id="18" name="TextBox 17"/>
          <p:cNvSpPr txBox="1"/>
          <p:nvPr/>
        </p:nvSpPr>
        <p:spPr>
          <a:xfrm>
            <a:off x="5469311" y="4969937"/>
            <a:ext cx="127430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INDICATES</a:t>
            </a:r>
          </a:p>
        </p:txBody>
      </p:sp>
      <p:sp>
        <p:nvSpPr>
          <p:cNvPr id="19" name="TextBox 18"/>
          <p:cNvSpPr txBox="1"/>
          <p:nvPr/>
        </p:nvSpPr>
        <p:spPr>
          <a:xfrm>
            <a:off x="7879881" y="3268056"/>
            <a:ext cx="1019447"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CAUSES</a:t>
            </a:r>
          </a:p>
        </p:txBody>
      </p:sp>
      <p:sp>
        <p:nvSpPr>
          <p:cNvPr id="20" name="TextBox 19"/>
          <p:cNvSpPr txBox="1"/>
          <p:nvPr/>
        </p:nvSpPr>
        <p:spPr>
          <a:xfrm>
            <a:off x="5055161" y="2733854"/>
            <a:ext cx="1253071"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OCCURS_IN</a:t>
            </a:r>
          </a:p>
        </p:txBody>
      </p:sp>
      <p:sp>
        <p:nvSpPr>
          <p:cNvPr id="21" name="TextBox 20"/>
          <p:cNvSpPr txBox="1"/>
          <p:nvPr/>
        </p:nvSpPr>
        <p:spPr>
          <a:xfrm>
            <a:off x="6849814" y="5050304"/>
            <a:ext cx="1507933"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MITIGATED_BY</a:t>
            </a:r>
          </a:p>
        </p:txBody>
      </p:sp>
      <p:sp>
        <p:nvSpPr>
          <p:cNvPr id="22" name="TextBox 21"/>
          <p:cNvSpPr txBox="1"/>
          <p:nvPr/>
        </p:nvSpPr>
        <p:spPr>
          <a:xfrm>
            <a:off x="9393124" y="5003029"/>
            <a:ext cx="1348644" cy="468884"/>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HAS_STEP ·</a:t>
            </a:r>
          </a:p>
          <a:p>
            <a:pPr algn="ctr" eaLnBrk="0">
              <a:lnSpc>
                <a:spcPct val="110000"/>
              </a:lnSpc>
              <a:spcAft>
                <a:spcPts val="100"/>
              </a:spcAft>
            </a:pPr>
            <a:r>
              <a:rPr sz="1100" b="0">
                <a:solidFill>
                  <a:srgbClr val="13294B"/>
                </a:solidFill>
                <a:latin typeface="맑은 고딕"/>
                <a:ea typeface="맑은 고딕"/>
                <a:cs typeface="맑은 고딕"/>
              </a:rPr>
              <a:t>REFERS_TO</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관계의 방향: 저장된 방향과 따라가는 방향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관계 이름의 뜻이 저장 방향을 정하며, 조회할 때는 새 관계를 만들지 않고 그 방향을 거슬러 갈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2105406"/>
            <a:ext cx="5181447" cy="37719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06574"/>
            <a:ext cx="731520" cy="731520"/>
          </a:xfrm>
          <a:prstGeom prst="ellipse">
            <a:avLst/>
          </a:prstGeom>
          <a:solidFill>
            <a:srgbClr val="FFFFFF"/>
          </a:solidFill>
          <a:ln>
            <a:noFill/>
          </a:ln>
        </p:spPr>
        <p:txBody>
          <a:bodyPr rtlCol="0" anchor="ctr"/>
          <a:lstStyle/>
          <a:p>
            <a:pPr algn="ctr"/>
          </a:p>
        </p:txBody>
      </p:sp>
      <p:pic>
        <p:nvPicPr>
          <p:cNvPr id="8" name="아이콘:arrow-right" descr="arrow-right_13294B_1.6.png"/>
          <p:cNvPicPr>
            <a:picLocks noChangeAspect="1"/>
          </p:cNvPicPr>
          <p:nvPr/>
        </p:nvPicPr>
        <p:blipFill>
          <a:blip r:embed="rId3"/>
          <a:stretch>
            <a:fillRect/>
          </a:stretch>
        </p:blipFill>
        <p:spPr>
          <a:xfrm>
            <a:off x="976579" y="2460193"/>
            <a:ext cx="424281" cy="424281"/>
          </a:xfrm>
          <a:prstGeom prst="rect">
            <a:avLst/>
          </a:prstGeom>
        </p:spPr>
      </p:pic>
      <p:sp>
        <p:nvSpPr>
          <p:cNvPr id="9" name="TextBox 8"/>
          <p:cNvSpPr txBox="1"/>
          <p:nvPr/>
        </p:nvSpPr>
        <p:spPr>
          <a:xfrm>
            <a:off x="1691640"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저장된 방향</a:t>
            </a:r>
          </a:p>
        </p:txBody>
      </p:sp>
      <p:sp>
        <p:nvSpPr>
          <p:cNvPr id="10" name="TextBox 9"/>
          <p:cNvSpPr txBox="1"/>
          <p:nvPr/>
        </p:nvSpPr>
        <p:spPr>
          <a:xfrm>
            <a:off x="822959"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CAUSES: 쿨러 핀 오염 → 쿨러 냉각 성능 상실</a:t>
            </a:r>
          </a:p>
          <a:p>
            <a:pPr algn="l" eaLnBrk="0" marL="171450" indent="-171450">
              <a:lnSpc>
                <a:spcPct val="110000"/>
              </a:lnSpc>
              <a:spcAft>
                <a:spcPts val="600"/>
              </a:spcAft>
            </a:pPr>
            <a:r>
              <a:rPr sz="1500" b="0">
                <a:solidFill>
                  <a:srgbClr val="1F2A3A"/>
                </a:solidFill>
                <a:latin typeface="맑은 고딕"/>
                <a:ea typeface="맑은 고딕"/>
                <a:cs typeface="맑은 고딕"/>
              </a:rPr>
              <a:t>• 원인이 주어다: 「핀 오염은 냉각 성능 상실을 일으킨다」</a:t>
            </a:r>
          </a:p>
          <a:p>
            <a:pPr algn="l" eaLnBrk="0" marL="171450" indent="-171450">
              <a:lnSpc>
                <a:spcPct val="110000"/>
              </a:lnSpc>
              <a:spcAft>
                <a:spcPts val="600"/>
              </a:spcAft>
            </a:pPr>
            <a:r>
              <a:rPr sz="1500" b="0">
                <a:solidFill>
                  <a:srgbClr val="1F2A3A"/>
                </a:solidFill>
                <a:latin typeface="맑은 고딕"/>
                <a:ea typeface="맑은 고딕"/>
                <a:cs typeface="맑은 고딕"/>
              </a:rPr>
              <a:t>• 관계 이름의 뜻이 화살표의 방향을 정한다</a:t>
            </a:r>
          </a:p>
        </p:txBody>
      </p:sp>
      <p:sp>
        <p:nvSpPr>
          <p:cNvPr id="11" name="Rounded Rectangle 10"/>
          <p:cNvSpPr/>
          <p:nvPr/>
        </p:nvSpPr>
        <p:spPr>
          <a:xfrm>
            <a:off x="868680" y="5420106"/>
            <a:ext cx="15697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420106"/>
            <a:ext cx="15697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원인 → 고장 유형</a:t>
            </a:r>
          </a:p>
        </p:txBody>
      </p:sp>
      <p:sp>
        <p:nvSpPr>
          <p:cNvPr id="13" name="Rounded Rectangle 12"/>
          <p:cNvSpPr/>
          <p:nvPr/>
        </p:nvSpPr>
        <p:spPr>
          <a:xfrm>
            <a:off x="6461607" y="2105406"/>
            <a:ext cx="5181447" cy="37719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06574"/>
            <a:ext cx="731520" cy="731520"/>
          </a:xfrm>
          <a:prstGeom prst="ellipse">
            <a:avLst/>
          </a:prstGeom>
          <a:solidFill>
            <a:srgbClr val="5CB8F2"/>
          </a:solidFill>
          <a:ln>
            <a:noFill/>
          </a:ln>
        </p:spPr>
        <p:txBody>
          <a:bodyPr rtlCol="0" anchor="ctr"/>
          <a:lstStyle/>
          <a:p>
            <a:pPr algn="ctr"/>
          </a:p>
        </p:txBody>
      </p:sp>
      <p:pic>
        <p:nvPicPr>
          <p:cNvPr id="15" name="아이콘:arrow-back-up" descr="arrow-back-up_13294B_1.6.png"/>
          <p:cNvPicPr>
            <a:picLocks noChangeAspect="1"/>
          </p:cNvPicPr>
          <p:nvPr/>
        </p:nvPicPr>
        <p:blipFill>
          <a:blip r:embed="rId4"/>
          <a:stretch>
            <a:fillRect/>
          </a:stretch>
        </p:blipFill>
        <p:spPr>
          <a:xfrm>
            <a:off x="6889546" y="2460193"/>
            <a:ext cx="424281" cy="424281"/>
          </a:xfrm>
          <a:prstGeom prst="rect">
            <a:avLst/>
          </a:prstGeom>
        </p:spPr>
      </p:pic>
      <p:sp>
        <p:nvSpPr>
          <p:cNvPr id="16" name="TextBox 15"/>
          <p:cNvSpPr txBox="1"/>
          <p:nvPr/>
        </p:nvSpPr>
        <p:spPr>
          <a:xfrm>
            <a:off x="7604607"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따라가는 방향</a:t>
            </a:r>
          </a:p>
        </p:txBody>
      </p:sp>
      <p:sp>
        <p:nvSpPr>
          <p:cNvPr id="17" name="TextBox 16"/>
          <p:cNvSpPr txBox="1"/>
          <p:nvPr/>
        </p:nvSpPr>
        <p:spPr>
          <a:xfrm>
            <a:off x="6735927"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고장 유형으로 들어오는 CAUSES를 거슬러 원인 후보를 찾는다</a:t>
            </a:r>
          </a:p>
          <a:p>
            <a:pPr algn="l" eaLnBrk="0" marL="171450" indent="-171450">
              <a:lnSpc>
                <a:spcPct val="110000"/>
              </a:lnSpc>
              <a:spcAft>
                <a:spcPts val="600"/>
              </a:spcAft>
            </a:pPr>
            <a:r>
              <a:rPr sz="1500" b="0">
                <a:solidFill>
                  <a:srgbClr val="1F2A3A"/>
                </a:solidFill>
                <a:latin typeface="맑은 고딕"/>
                <a:ea typeface="맑은 고딕"/>
                <a:cs typeface="맑은 고딕"/>
              </a:rPr>
              <a:t>• 저장된 관계를 그대로 쓰며, 역방향 관계를 따로 만들지 않는다</a:t>
            </a:r>
          </a:p>
          <a:p>
            <a:pPr algn="l" eaLnBrk="0" marL="171450" indent="-171450">
              <a:lnSpc>
                <a:spcPct val="110000"/>
              </a:lnSpc>
              <a:spcAft>
                <a:spcPts val="600"/>
              </a:spcAft>
            </a:pPr>
            <a:r>
              <a:rPr sz="1500" b="0">
                <a:solidFill>
                  <a:srgbClr val="1F2A3A"/>
                </a:solidFill>
                <a:latin typeface="맑은 고딕"/>
                <a:ea typeface="맑은 고딕"/>
                <a:cs typeface="맑은 고딕"/>
              </a:rPr>
              <a:t>• 화살표는 한쪽으로만 다녀야 하는 통행 방향이 아니다</a:t>
            </a:r>
          </a:p>
        </p:txBody>
      </p:sp>
      <p:sp>
        <p:nvSpPr>
          <p:cNvPr id="18" name="Rounded Rectangle 17"/>
          <p:cNvSpPr/>
          <p:nvPr/>
        </p:nvSpPr>
        <p:spPr>
          <a:xfrm>
            <a:off x="6781647" y="5420106"/>
            <a:ext cx="233172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420106"/>
            <a:ext cx="23317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고장 유형에서 원인을 찾는다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관계를 따라가는 과정 ①: 경보에서 고장 유형까지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성능 저하 경보의 이상 패턴은 증상을 거쳐 고장 유형으로 이어지며, 이 관계가 원인 조회의 입구가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66</a:t>
            </a:r>
          </a:p>
        </p:txBody>
      </p:sp>
      <p:pic>
        <p:nvPicPr>
          <p:cNvPr id="6" name="삽화:경로2_1.svg" descr="illust_3782008442041950411_1792130363.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873301" y="2473845"/>
            <a:ext cx="1752175"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AnomalyPattern</a:t>
            </a:r>
          </a:p>
          <a:p>
            <a:pPr algn="ctr" eaLnBrk="0">
              <a:lnSpc>
                <a:spcPct val="110000"/>
              </a:lnSpc>
              <a:spcAft>
                <a:spcPts val="100"/>
              </a:spcAft>
            </a:pPr>
            <a:r>
              <a:rPr sz="1100" b="0">
                <a:solidFill>
                  <a:srgbClr val="556175"/>
                </a:solidFill>
                <a:latin typeface="맑은 고딕"/>
                <a:ea typeface="맑은 고딕"/>
                <a:cs typeface="맑은 고딕"/>
              </a:rPr>
              <a:t>쿨러 성능 저하</a:t>
            </a:r>
          </a:p>
        </p:txBody>
      </p:sp>
      <p:sp>
        <p:nvSpPr>
          <p:cNvPr id="8" name="TextBox 7"/>
          <p:cNvSpPr txBox="1"/>
          <p:nvPr/>
        </p:nvSpPr>
        <p:spPr>
          <a:xfrm>
            <a:off x="2527780" y="5045576"/>
            <a:ext cx="114687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Symptom</a:t>
            </a:r>
          </a:p>
          <a:p>
            <a:pPr algn="ctr" eaLnBrk="0">
              <a:lnSpc>
                <a:spcPct val="110000"/>
              </a:lnSpc>
              <a:spcAft>
                <a:spcPts val="100"/>
              </a:spcAft>
            </a:pPr>
            <a:r>
              <a:rPr sz="1100" b="0">
                <a:solidFill>
                  <a:srgbClr val="556175"/>
                </a:solidFill>
                <a:latin typeface="맑은 고딕"/>
                <a:ea typeface="맑은 고딕"/>
                <a:cs typeface="맑은 고딕"/>
              </a:rPr>
              <a:t>유온 상승</a:t>
            </a:r>
          </a:p>
        </p:txBody>
      </p:sp>
      <p:sp>
        <p:nvSpPr>
          <p:cNvPr id="9" name="TextBox 8"/>
          <p:cNvSpPr txBox="1"/>
          <p:nvPr/>
        </p:nvSpPr>
        <p:spPr>
          <a:xfrm>
            <a:off x="4327742" y="3702981"/>
            <a:ext cx="1327406"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FailureMode</a:t>
            </a:r>
          </a:p>
          <a:p>
            <a:pPr algn="ctr" eaLnBrk="0">
              <a:lnSpc>
                <a:spcPct val="110000"/>
              </a:lnSpc>
              <a:spcAft>
                <a:spcPts val="100"/>
              </a:spcAft>
            </a:pPr>
            <a:r>
              <a:rPr sz="1100" b="0">
                <a:solidFill>
                  <a:srgbClr val="556175"/>
                </a:solidFill>
                <a:latin typeface="맑은 고딕"/>
                <a:ea typeface="맑은 고딕"/>
                <a:cs typeface="맑은 고딕"/>
              </a:rPr>
              <a:t>냉각 성능 상실</a:t>
            </a:r>
          </a:p>
        </p:txBody>
      </p:sp>
      <p:sp>
        <p:nvSpPr>
          <p:cNvPr id="10" name="TextBox 9"/>
          <p:cNvSpPr txBox="1"/>
          <p:nvPr/>
        </p:nvSpPr>
        <p:spPr>
          <a:xfrm>
            <a:off x="2676449" y="3726618"/>
            <a:ext cx="955732"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DETECTS</a:t>
            </a:r>
          </a:p>
        </p:txBody>
      </p:sp>
      <p:sp>
        <p:nvSpPr>
          <p:cNvPr id="11" name="TextBox 10"/>
          <p:cNvSpPr txBox="1"/>
          <p:nvPr/>
        </p:nvSpPr>
        <p:spPr>
          <a:xfrm>
            <a:off x="3929521" y="4780839"/>
            <a:ext cx="1061924"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INDICATES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관계를 따라가는 과정 ②: 원인 후보, 증거, 조치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증거로 원인 후보를 가려 조치를 찾으며, 뒷받침할 증거가 없거나 조회가 불완전하면 조치를 보류한다.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67</a:t>
            </a:r>
          </a:p>
        </p:txBody>
      </p:sp>
      <p:pic>
        <p:nvPicPr>
          <p:cNvPr id="6" name="삽화:경로2_2.svg" descr="illust_1744539338202103772_1792130363.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873301" y="2473845"/>
            <a:ext cx="1752175"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AnomalyPattern</a:t>
            </a:r>
          </a:p>
          <a:p>
            <a:pPr algn="ctr" eaLnBrk="0">
              <a:lnSpc>
                <a:spcPct val="110000"/>
              </a:lnSpc>
              <a:spcAft>
                <a:spcPts val="100"/>
              </a:spcAft>
            </a:pPr>
            <a:r>
              <a:rPr sz="1100" b="0">
                <a:solidFill>
                  <a:srgbClr val="556175"/>
                </a:solidFill>
                <a:latin typeface="맑은 고딕"/>
                <a:ea typeface="맑은 고딕"/>
                <a:cs typeface="맑은 고딕"/>
              </a:rPr>
              <a:t>쿨러 성능 저하</a:t>
            </a:r>
          </a:p>
        </p:txBody>
      </p:sp>
      <p:sp>
        <p:nvSpPr>
          <p:cNvPr id="8" name="TextBox 7"/>
          <p:cNvSpPr txBox="1"/>
          <p:nvPr/>
        </p:nvSpPr>
        <p:spPr>
          <a:xfrm>
            <a:off x="2527780" y="5045576"/>
            <a:ext cx="114687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Symptom</a:t>
            </a:r>
          </a:p>
          <a:p>
            <a:pPr algn="ctr" eaLnBrk="0">
              <a:lnSpc>
                <a:spcPct val="110000"/>
              </a:lnSpc>
              <a:spcAft>
                <a:spcPts val="100"/>
              </a:spcAft>
            </a:pPr>
            <a:r>
              <a:rPr sz="1100" b="0">
                <a:solidFill>
                  <a:srgbClr val="556175"/>
                </a:solidFill>
                <a:latin typeface="맑은 고딕"/>
                <a:ea typeface="맑은 고딕"/>
                <a:cs typeface="맑은 고딕"/>
              </a:rPr>
              <a:t>유온 상승</a:t>
            </a:r>
          </a:p>
        </p:txBody>
      </p:sp>
      <p:sp>
        <p:nvSpPr>
          <p:cNvPr id="9" name="TextBox 8"/>
          <p:cNvSpPr txBox="1"/>
          <p:nvPr/>
        </p:nvSpPr>
        <p:spPr>
          <a:xfrm>
            <a:off x="4327742" y="3702981"/>
            <a:ext cx="1327406"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FailureMode</a:t>
            </a:r>
          </a:p>
          <a:p>
            <a:pPr algn="ctr" eaLnBrk="0">
              <a:lnSpc>
                <a:spcPct val="110000"/>
              </a:lnSpc>
              <a:spcAft>
                <a:spcPts val="100"/>
              </a:spcAft>
            </a:pPr>
            <a:r>
              <a:rPr sz="1100" b="0">
                <a:solidFill>
                  <a:srgbClr val="556175"/>
                </a:solidFill>
                <a:latin typeface="맑은 고딕"/>
                <a:ea typeface="맑은 고딕"/>
                <a:cs typeface="맑은 고딕"/>
              </a:rPr>
              <a:t>냉각 성능 상실</a:t>
            </a:r>
          </a:p>
        </p:txBody>
      </p:sp>
      <p:sp>
        <p:nvSpPr>
          <p:cNvPr id="10" name="TextBox 9"/>
          <p:cNvSpPr txBox="1"/>
          <p:nvPr/>
        </p:nvSpPr>
        <p:spPr>
          <a:xfrm>
            <a:off x="5575504" y="5395408"/>
            <a:ext cx="1274309"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Skill</a:t>
            </a:r>
          </a:p>
          <a:p>
            <a:pPr algn="ctr" eaLnBrk="0">
              <a:lnSpc>
                <a:spcPct val="110000"/>
              </a:lnSpc>
              <a:spcAft>
                <a:spcPts val="100"/>
              </a:spcAft>
            </a:pPr>
            <a:r>
              <a:rPr sz="1100" b="0">
                <a:solidFill>
                  <a:srgbClr val="556175"/>
                </a:solidFill>
                <a:latin typeface="맑은 고딕"/>
                <a:ea typeface="맑은 고딕"/>
                <a:cs typeface="맑은 고딕"/>
              </a:rPr>
              <a:t>팬 최대 운전</a:t>
            </a:r>
          </a:p>
        </p:txBody>
      </p:sp>
      <p:sp>
        <p:nvSpPr>
          <p:cNvPr id="11" name="TextBox 10"/>
          <p:cNvSpPr txBox="1"/>
          <p:nvPr/>
        </p:nvSpPr>
        <p:spPr>
          <a:xfrm>
            <a:off x="6881671" y="2341476"/>
            <a:ext cx="129554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Cause</a:t>
            </a:r>
          </a:p>
          <a:p>
            <a:pPr algn="ctr" eaLnBrk="0">
              <a:lnSpc>
                <a:spcPct val="110000"/>
              </a:lnSpc>
              <a:spcAft>
                <a:spcPts val="100"/>
              </a:spcAft>
            </a:pPr>
            <a:r>
              <a:rPr sz="1100" b="0">
                <a:solidFill>
                  <a:srgbClr val="556175"/>
                </a:solidFill>
                <a:latin typeface="맑은 고딕"/>
                <a:ea typeface="맑은 고딕"/>
                <a:cs typeface="맑은 고딕"/>
              </a:rPr>
              <a:t>쿨러 핀 오염</a:t>
            </a:r>
          </a:p>
        </p:txBody>
      </p:sp>
      <p:sp>
        <p:nvSpPr>
          <p:cNvPr id="12" name="TextBox 11"/>
          <p:cNvSpPr txBox="1"/>
          <p:nvPr/>
        </p:nvSpPr>
        <p:spPr>
          <a:xfrm>
            <a:off x="7402015" y="3962991"/>
            <a:ext cx="129554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Cause</a:t>
            </a:r>
          </a:p>
          <a:p>
            <a:pPr algn="ctr" eaLnBrk="0">
              <a:lnSpc>
                <a:spcPct val="110000"/>
              </a:lnSpc>
              <a:spcAft>
                <a:spcPts val="100"/>
              </a:spcAft>
            </a:pPr>
            <a:r>
              <a:rPr sz="1100" b="0">
                <a:solidFill>
                  <a:srgbClr val="556175"/>
                </a:solidFill>
                <a:latin typeface="맑은 고딕"/>
                <a:ea typeface="맑은 고딕"/>
                <a:cs typeface="맑은 고딕"/>
              </a:rPr>
              <a:t>팬 구동 불량</a:t>
            </a:r>
          </a:p>
        </p:txBody>
      </p:sp>
      <p:sp>
        <p:nvSpPr>
          <p:cNvPr id="13" name="TextBox 12"/>
          <p:cNvSpPr txBox="1"/>
          <p:nvPr/>
        </p:nvSpPr>
        <p:spPr>
          <a:xfrm>
            <a:off x="7147153" y="5494684"/>
            <a:ext cx="129554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Cause</a:t>
            </a:r>
          </a:p>
          <a:p>
            <a:pPr algn="ctr" eaLnBrk="0">
              <a:lnSpc>
                <a:spcPct val="110000"/>
              </a:lnSpc>
              <a:spcAft>
                <a:spcPts val="100"/>
              </a:spcAft>
            </a:pPr>
            <a:r>
              <a:rPr sz="1100" b="0">
                <a:solidFill>
                  <a:srgbClr val="556175"/>
                </a:solidFill>
                <a:latin typeface="맑은 고딕"/>
                <a:ea typeface="맑은 고딕"/>
                <a:cs typeface="맑은 고딕"/>
              </a:rPr>
              <a:t>주변 온도 상승</a:t>
            </a:r>
          </a:p>
        </p:txBody>
      </p:sp>
      <p:sp>
        <p:nvSpPr>
          <p:cNvPr id="14" name="TextBox 13"/>
          <p:cNvSpPr txBox="1"/>
          <p:nvPr/>
        </p:nvSpPr>
        <p:spPr>
          <a:xfrm>
            <a:off x="9663914" y="2341476"/>
            <a:ext cx="1061924"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Evidence</a:t>
            </a:r>
          </a:p>
          <a:p>
            <a:pPr algn="ctr" eaLnBrk="0">
              <a:lnSpc>
                <a:spcPct val="110000"/>
              </a:lnSpc>
              <a:spcAft>
                <a:spcPts val="100"/>
              </a:spcAft>
            </a:pPr>
            <a:r>
              <a:rPr sz="1100" b="0">
                <a:solidFill>
                  <a:srgbClr val="556175"/>
                </a:solidFill>
                <a:latin typeface="맑은 고딕"/>
                <a:ea typeface="맑은 고딕"/>
                <a:cs typeface="맑은 고딕"/>
              </a:rPr>
              <a:t>CE · VS1</a:t>
            </a:r>
          </a:p>
        </p:txBody>
      </p:sp>
      <p:sp>
        <p:nvSpPr>
          <p:cNvPr id="15" name="TextBox 14"/>
          <p:cNvSpPr txBox="1"/>
          <p:nvPr/>
        </p:nvSpPr>
        <p:spPr>
          <a:xfrm>
            <a:off x="10194877" y="3962991"/>
            <a:ext cx="1061924"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Evidence</a:t>
            </a:r>
          </a:p>
          <a:p>
            <a:pPr algn="ctr" eaLnBrk="0">
              <a:lnSpc>
                <a:spcPct val="110000"/>
              </a:lnSpc>
              <a:spcAft>
                <a:spcPts val="100"/>
              </a:spcAft>
            </a:pPr>
            <a:r>
              <a:rPr sz="1100" b="0">
                <a:solidFill>
                  <a:srgbClr val="556175"/>
                </a:solidFill>
                <a:latin typeface="맑은 고딕"/>
                <a:ea typeface="맑은 고딕"/>
                <a:cs typeface="맑은 고딕"/>
              </a:rPr>
              <a:t>VS1</a:t>
            </a:r>
          </a:p>
        </p:txBody>
      </p:sp>
      <p:sp>
        <p:nvSpPr>
          <p:cNvPr id="16" name="TextBox 15"/>
          <p:cNvSpPr txBox="1"/>
          <p:nvPr/>
        </p:nvSpPr>
        <p:spPr>
          <a:xfrm>
            <a:off x="9971873" y="5494684"/>
            <a:ext cx="1061924"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Evidence</a:t>
            </a:r>
          </a:p>
          <a:p>
            <a:pPr algn="ctr" eaLnBrk="0">
              <a:lnSpc>
                <a:spcPct val="110000"/>
              </a:lnSpc>
              <a:spcAft>
                <a:spcPts val="100"/>
              </a:spcAft>
            </a:pPr>
            <a:r>
              <a:rPr sz="1100" b="0">
                <a:solidFill>
                  <a:srgbClr val="556175"/>
                </a:solidFill>
                <a:latin typeface="맑은 고딕"/>
                <a:ea typeface="맑은 고딕"/>
                <a:cs typeface="맑은 고딕"/>
              </a:rPr>
              <a:t>TS4</a:t>
            </a:r>
          </a:p>
        </p:txBody>
      </p:sp>
      <p:sp>
        <p:nvSpPr>
          <p:cNvPr id="17" name="TextBox 16"/>
          <p:cNvSpPr txBox="1"/>
          <p:nvPr/>
        </p:nvSpPr>
        <p:spPr>
          <a:xfrm>
            <a:off x="6053370" y="3509156"/>
            <a:ext cx="84953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CAUSES</a:t>
            </a:r>
          </a:p>
        </p:txBody>
      </p:sp>
      <p:sp>
        <p:nvSpPr>
          <p:cNvPr id="18" name="TextBox 17"/>
          <p:cNvSpPr txBox="1"/>
          <p:nvPr/>
        </p:nvSpPr>
        <p:spPr>
          <a:xfrm>
            <a:off x="8272793" y="2133468"/>
            <a:ext cx="127430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EVIDENCED_BY</a:t>
            </a:r>
          </a:p>
        </p:txBody>
      </p:sp>
      <p:sp>
        <p:nvSpPr>
          <p:cNvPr id="19" name="TextBox 18"/>
          <p:cNvSpPr txBox="1"/>
          <p:nvPr/>
        </p:nvSpPr>
        <p:spPr>
          <a:xfrm>
            <a:off x="4184382" y="4903753"/>
            <a:ext cx="127430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MITIGATED_BY</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판단 기록에 남기는 기준·값·조치의 근거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판단 기록은 원인을 가린 기준과 관측값, 조치를 찾은 관계와 문서를 연결해 추천의 까닭을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남길 근거</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조회한 내용</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기록에서 확인할 것</a:t>
            </a:r>
          </a:p>
        </p:txBody>
      </p:sp>
      <p:sp>
        <p:nvSpPr>
          <p:cNvPr id="10" name="Rounded Rectangle 9"/>
          <p:cNvSpPr/>
          <p:nvPr/>
        </p:nvSpPr>
        <p:spPr>
          <a:xfrm>
            <a:off x="548640" y="2061972"/>
            <a:ext cx="11094415" cy="801014"/>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판별</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CE 30초 평균 46.2 % &lt; 70 %</a:t>
            </a:r>
          </a:p>
          <a:p>
            <a:pPr algn="l" eaLnBrk="0">
              <a:lnSpc>
                <a:spcPct val="110000"/>
              </a:lnSpc>
            </a:pPr>
            <a:r>
              <a:rPr sz="1400" b="0">
                <a:solidFill>
                  <a:srgbClr val="1F2A3A"/>
                </a:solidFill>
                <a:latin typeface="맑은 고딕"/>
                <a:ea typeface="맑은 고딕"/>
                <a:cs typeface="맑은 고딕"/>
              </a:rPr>
              <a:t>VS1 2분 평균 0.575 mm/s &lt; 0.9 mm/s</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핀 오염의 두 조건 충족</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다른 후보</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VS1 평균 0.575 mm/s &lt; 0.9 mm/s</a:t>
            </a:r>
          </a:p>
          <a:p>
            <a:pPr algn="l" eaLnBrk="0">
              <a:lnSpc>
                <a:spcPct val="110000"/>
              </a:lnSpc>
            </a:pPr>
            <a:r>
              <a:rPr sz="1400" b="0">
                <a:solidFill>
                  <a:srgbClr val="1F2A3A"/>
                </a:solidFill>
                <a:latin typeface="맑은 고딕"/>
                <a:ea typeface="맑은 고딕"/>
                <a:cs typeface="맑은 고딕"/>
              </a:rPr>
              <a:t>TS4 2분 평균 28 ℃ &lt; 35 ℃</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팬 구동 불량·주변 온도 상승</a:t>
            </a:r>
          </a:p>
          <a:p>
            <a:pPr algn="l" eaLnBrk="0">
              <a:lnSpc>
                <a:spcPct val="110000"/>
              </a:lnSpc>
            </a:pPr>
            <a:r>
              <a:rPr sz="1250" b="1">
                <a:solidFill>
                  <a:srgbClr val="556175"/>
                </a:solidFill>
                <a:latin typeface="맑은 고딕"/>
                <a:ea typeface="맑은 고딕"/>
                <a:cs typeface="맑은 고딕"/>
              </a:rPr>
              <a:t>판별 조건에 해당 없음</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값의 출처</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그래프: 태그·집계 구간·판별 기준</a:t>
            </a:r>
          </a:p>
          <a:p>
            <a:pPr algn="l" eaLnBrk="0">
              <a:lnSpc>
                <a:spcPct val="110000"/>
              </a:lnSpc>
            </a:pPr>
            <a:r>
              <a:rPr sz="1400" b="0">
                <a:solidFill>
                  <a:srgbClr val="1F2A3A"/>
                </a:solidFill>
                <a:latin typeface="맑은 고딕"/>
                <a:ea typeface="맑은 고딕"/>
                <a:cs typeface="맑은 고딕"/>
              </a:rPr>
              <a:t>시계열 저장소: 해당 구간의 관측값</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정의와 현재 값을 구별</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조치의 출처</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고장 유형 — MITIGATED_BY → 조치 방법</a:t>
            </a:r>
          </a:p>
          <a:p>
            <a:pPr algn="l" eaLnBrk="0">
              <a:lnSpc>
                <a:spcPct val="110000"/>
              </a:lnSpc>
            </a:pPr>
            <a:r>
              <a:rPr sz="1400" b="0">
                <a:solidFill>
                  <a:srgbClr val="1F2A3A"/>
                </a:solidFill>
                <a:latin typeface="맑은 고딕"/>
                <a:ea typeface="맑은 고딕"/>
                <a:cs typeface="맑은 고딕"/>
              </a:rPr>
              <a:t>조치 방법 — HAS_STEP → 단계</a:t>
            </a:r>
          </a:p>
          <a:p>
            <a:pPr algn="l" eaLnBrk="0">
              <a:lnSpc>
                <a:spcPct val="110000"/>
              </a:lnSpc>
            </a:pPr>
            <a:r>
              <a:rPr sz="1400" b="0">
                <a:solidFill>
                  <a:srgbClr val="1F2A3A"/>
                </a:solidFill>
                <a:latin typeface="맑은 고딕"/>
                <a:ea typeface="맑은 고딕"/>
                <a:cs typeface="맑은 고딕"/>
              </a:rPr>
              <a:t>단계 — REFERS_TO → 매뉴얼 절 HM-8.5</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팬 최대 운전의 근거</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대안 비교</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1순위: 팬 최대 운전</a:t>
            </a:r>
          </a:p>
          <a:p>
            <a:pPr algn="l" eaLnBrk="0">
              <a:lnSpc>
                <a:spcPct val="110000"/>
              </a:lnSpc>
            </a:pPr>
            <a:r>
              <a:rPr sz="1400" b="0">
                <a:solidFill>
                  <a:srgbClr val="1F2A3A"/>
                </a:solidFill>
                <a:latin typeface="맑은 고딕"/>
                <a:ea typeface="맑은 고딕"/>
                <a:cs typeface="맑은 고딕"/>
              </a:rPr>
              <a:t>공동 2순위: 팬 최대·부하 80 %, 부하 70 %·야간 세척</a:t>
            </a:r>
          </a:p>
          <a:p>
            <a:pPr algn="l" eaLnBrk="0">
              <a:lnSpc>
                <a:spcPct val="110000"/>
              </a:lnSpc>
            </a:pPr>
            <a:r>
              <a:rPr sz="1400" b="0">
                <a:solidFill>
                  <a:srgbClr val="1F2A3A"/>
                </a:solidFill>
                <a:latin typeface="맑은 고딕"/>
                <a:ea typeface="맑은 고딕"/>
                <a:cs typeface="맑은 고딕"/>
              </a:rPr>
              <a:t>4순위: 쿨러 핀 세척(설비 정지)</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00" b="1">
                <a:solidFill>
                  <a:srgbClr val="556175"/>
                </a:solidFill>
                <a:latin typeface="맑은 고딕"/>
                <a:ea typeface="맑은 고딕"/>
                <a:cs typeface="맑은 고딕"/>
              </a:rPr>
              <a:t>납기 등 업무 값도 함께 반영</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 모델이 판단과 업무에 쓰이는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온톨로지는 판단의 기준을 주고, 에이전트·담당자·프로세스는 추천·승인·실행과 확인을 나누어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걸음</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맡은 일</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확인과 결과</a:t>
            </a:r>
          </a:p>
        </p:txBody>
      </p:sp>
      <p:sp>
        <p:nvSpPr>
          <p:cNvPr id="10" name="Rounded Rectangle 9"/>
          <p:cNvSpPr/>
          <p:nvPr/>
        </p:nvSpPr>
        <p:spPr>
          <a:xfrm>
            <a:off x="548640" y="2061972"/>
            <a:ext cx="11094415" cy="801014"/>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정의</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온톨로지가 대상의 종류·속성·관계·제약을 정한다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공통 기준</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조회</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경보에서 관계를 따라 원인 후보와 증거를 찾는다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확인할 대상과 값</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판단</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에이전트가 실제 값을 기준과 대조해 조치를 추천한다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추천안과 근거</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담당자가 승인하거나 거절한다</a:t>
            </a:r>
          </a:p>
          <a:p>
            <a:pPr algn="l" eaLnBrk="0">
              <a:lnSpc>
                <a:spcPct val="110000"/>
              </a:lnSpc>
            </a:pPr>
            <a:r>
              <a:rPr sz="1400" b="0">
                <a:solidFill>
                  <a:srgbClr val="1F2A3A"/>
                </a:solidFill>
                <a:latin typeface="맑은 고딕"/>
                <a:ea typeface="맑은 고딕"/>
                <a:cs typeface="맑은 고딕"/>
              </a:rPr>
              <a:t>승인 시 재확인: 유온 61.8 ℃ · 원격 자동 · 운전 중</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거절: 명령 없음</a:t>
            </a:r>
          </a:p>
          <a:p>
            <a:pPr algn="l" eaLnBrk="0">
              <a:lnSpc>
                <a:spcPct val="110000"/>
              </a:lnSpc>
            </a:pPr>
            <a:r>
              <a:rPr sz="1250" b="1">
                <a:solidFill>
                  <a:srgbClr val="556175"/>
                </a:solidFill>
                <a:latin typeface="맑은 고딕"/>
                <a:ea typeface="맑은 고딕"/>
                <a:cs typeface="맑은 고딕"/>
              </a:rPr>
              <a:t>거절 기록을 남김</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실행·확인</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프로세스가 승인된 조치를 명령으로 내려보내고 재관측한다</a:t>
            </a:r>
          </a:p>
          <a:p>
            <a:pPr algn="l" eaLnBrk="0">
              <a:lnSpc>
                <a:spcPct val="110000"/>
              </a:lnSpc>
            </a:pPr>
            <a:r>
              <a:rPr sz="1400" b="0">
                <a:solidFill>
                  <a:srgbClr val="1F2A3A"/>
                </a:solidFill>
                <a:latin typeface="맑은 고딕"/>
                <a:ea typeface="맑은 고딕"/>
                <a:cs typeface="맑은 고딕"/>
              </a:rPr>
              <a:t>완화하지 못하면 사람에게 다시 넘긴다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명령 실행과</a:t>
            </a:r>
          </a:p>
          <a:p>
            <a:pPr algn="l" eaLnBrk="0">
              <a:lnSpc>
                <a:spcPct val="110000"/>
              </a:lnSpc>
            </a:pPr>
            <a:r>
              <a:rPr sz="1250" b="1">
                <a:solidFill>
                  <a:srgbClr val="556175"/>
                </a:solidFill>
                <a:latin typeface="맑은 고딕"/>
                <a:ea typeface="맑은 고딕"/>
                <a:cs typeface="맑은 고딕"/>
              </a:rPr>
              <a:t>설비 회복은 구별</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설비 이상과 원인 · 조치의 관계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핀 오염 관계도에 팬 구동 불량 가지를 더하고 증거와 조치의 차이를 확인한다</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두 원인을 비교하는 관계 그림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핀 오염 관계도에 팬 구동 불량 가지를 더해, 같은 고장 유형에서도 원인별 증거와 조치가 달라짐을 나타낸다.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2287016"/>
            <a:ext cx="3515258" cy="340868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2488184"/>
            <a:ext cx="3186074" cy="2704592"/>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기본 관계도</a:t>
            </a:r>
          </a:p>
          <a:p>
            <a:pPr algn="l" eaLnBrk="0" marL="205740" indent="-205740">
              <a:lnSpc>
                <a:spcPct val="110000"/>
              </a:lnSpc>
              <a:spcAft>
                <a:spcPts val="400"/>
              </a:spcAft>
            </a:pPr>
            <a:r>
              <a:rPr sz="1800" b="0">
                <a:solidFill>
                  <a:srgbClr val="1F2A3A"/>
                </a:solidFill>
                <a:latin typeface="맑은 고딕"/>
                <a:ea typeface="맑은 고딕"/>
                <a:cs typeface="맑은 고딕"/>
              </a:rPr>
              <a:t>• 설비·센서·증상·고장 유형·원인·조치를 연결한다</a:t>
            </a:r>
          </a:p>
          <a:p>
            <a:pPr algn="l" eaLnBrk="0" marL="205740" indent="-205740">
              <a:lnSpc>
                <a:spcPct val="110000"/>
              </a:lnSpc>
              <a:spcAft>
                <a:spcPts val="400"/>
              </a:spcAft>
            </a:pPr>
            <a:r>
              <a:rPr sz="1800" b="0">
                <a:solidFill>
                  <a:srgbClr val="1F2A3A"/>
                </a:solidFill>
                <a:latin typeface="맑은 고딕"/>
                <a:ea typeface="맑은 고딕"/>
                <a:cs typeface="맑은 고딕"/>
              </a:rPr>
              <a:t>• 쿨러 핀 오염의 증거와 핀 세척 조치를 원문에서 확인한다</a:t>
            </a:r>
          </a:p>
          <a:p>
            <a:pPr algn="l" eaLnBrk="0" marL="205740" indent="-205740">
              <a:lnSpc>
                <a:spcPct val="110000"/>
              </a:lnSpc>
              <a:spcAft>
                <a:spcPts val="400"/>
              </a:spcAft>
            </a:pPr>
            <a:r>
              <a:rPr sz="1800" b="0">
                <a:solidFill>
                  <a:srgbClr val="1F2A3A"/>
                </a:solidFill>
                <a:latin typeface="맑은 고딕"/>
                <a:ea typeface="맑은 고딕"/>
                <a:cs typeface="맑은 고딕"/>
              </a:rPr>
              <a:t>• 입력: 대상 목록·HM-8</a:t>
            </a:r>
          </a:p>
        </p:txBody>
      </p:sp>
      <p:sp>
        <p:nvSpPr>
          <p:cNvPr id="8" name="Rounded Rectangle 7"/>
          <p:cNvSpPr/>
          <p:nvPr/>
        </p:nvSpPr>
        <p:spPr>
          <a:xfrm>
            <a:off x="777240" y="5265928"/>
            <a:ext cx="1021080"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5265928"/>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기본 그림</a:t>
            </a:r>
          </a:p>
        </p:txBody>
      </p:sp>
      <p:sp>
        <p:nvSpPr>
          <p:cNvPr id="10" name="Rounded Rectangle 9"/>
          <p:cNvSpPr/>
          <p:nvPr/>
        </p:nvSpPr>
        <p:spPr>
          <a:xfrm>
            <a:off x="4338218" y="2287016"/>
            <a:ext cx="3515258" cy="340868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4502810" y="2488184"/>
            <a:ext cx="3186074" cy="2704592"/>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팬 구동 불량 가지</a:t>
            </a:r>
          </a:p>
          <a:p>
            <a:pPr algn="l" eaLnBrk="0" marL="205740" indent="-205740">
              <a:lnSpc>
                <a:spcPct val="110000"/>
              </a:lnSpc>
              <a:spcAft>
                <a:spcPts val="400"/>
              </a:spcAft>
            </a:pPr>
            <a:r>
              <a:rPr sz="1800" b="0">
                <a:solidFill>
                  <a:srgbClr val="1F2A3A"/>
                </a:solidFill>
                <a:latin typeface="맑은 고딕"/>
                <a:ea typeface="맑은 고딕"/>
                <a:cs typeface="맑은 고딕"/>
              </a:rPr>
              <a:t>• 기존 그림에 팬 진동·팬 구동 불량·팬 점검을 추가한다</a:t>
            </a:r>
          </a:p>
          <a:p>
            <a:pPr algn="l" eaLnBrk="0" marL="205740" indent="-205740">
              <a:lnSpc>
                <a:spcPct val="110000"/>
              </a:lnSpc>
              <a:spcAft>
                <a:spcPts val="400"/>
              </a:spcAft>
            </a:pPr>
            <a:r>
              <a:rPr sz="1800" b="0">
                <a:solidFill>
                  <a:srgbClr val="1F2A3A"/>
                </a:solidFill>
                <a:latin typeface="맑은 고딕"/>
                <a:ea typeface="맑은 고딕"/>
                <a:cs typeface="맑은 고딕"/>
              </a:rPr>
              <a:t>• 증거: VS1 최근 2분 평균 ≥ 0.9 mm/s</a:t>
            </a:r>
          </a:p>
          <a:p>
            <a:pPr algn="l" eaLnBrk="0" marL="205740" indent="-205740">
              <a:lnSpc>
                <a:spcPct val="110000"/>
              </a:lnSpc>
              <a:spcAft>
                <a:spcPts val="400"/>
              </a:spcAft>
            </a:pPr>
            <a:r>
              <a:rPr sz="1800" b="0">
                <a:solidFill>
                  <a:srgbClr val="1F2A3A"/>
                </a:solidFill>
                <a:latin typeface="맑은 고딕"/>
                <a:ea typeface="맑은 고딕"/>
                <a:cs typeface="맑은 고딕"/>
              </a:rPr>
              <a:t>• 점검 근거: HM-8.1</a:t>
            </a:r>
          </a:p>
        </p:txBody>
      </p:sp>
      <p:sp>
        <p:nvSpPr>
          <p:cNvPr id="12" name="Rounded Rectangle 11"/>
          <p:cNvSpPr/>
          <p:nvPr/>
        </p:nvSpPr>
        <p:spPr>
          <a:xfrm>
            <a:off x="4566818" y="5265928"/>
            <a:ext cx="1021080"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4566818" y="5265928"/>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확장 그림</a:t>
            </a:r>
          </a:p>
        </p:txBody>
      </p:sp>
      <p:sp>
        <p:nvSpPr>
          <p:cNvPr id="14" name="Rounded Rectangle 13"/>
          <p:cNvSpPr/>
          <p:nvPr/>
        </p:nvSpPr>
        <p:spPr>
          <a:xfrm>
            <a:off x="8127796" y="2287016"/>
            <a:ext cx="3515258" cy="340868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5" name="TextBox 14"/>
          <p:cNvSpPr txBox="1"/>
          <p:nvPr/>
        </p:nvSpPr>
        <p:spPr>
          <a:xfrm>
            <a:off x="8292388" y="2488184"/>
            <a:ext cx="3186074" cy="2704592"/>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두 가지의 비교</a:t>
            </a:r>
          </a:p>
          <a:p>
            <a:pPr algn="l" eaLnBrk="0" marL="205740" indent="-205740">
              <a:lnSpc>
                <a:spcPct val="110000"/>
              </a:lnSpc>
              <a:spcAft>
                <a:spcPts val="400"/>
              </a:spcAft>
            </a:pPr>
            <a:r>
              <a:rPr sz="1800" b="0">
                <a:solidFill>
                  <a:srgbClr val="1F2A3A"/>
                </a:solidFill>
                <a:latin typeface="맑은 고딕"/>
                <a:ea typeface="맑은 고딕"/>
                <a:cs typeface="맑은 고딕"/>
              </a:rPr>
              <a:t>• 공통 고장 유형은 유지하고 증거·조치를 구별한다</a:t>
            </a:r>
          </a:p>
          <a:p>
            <a:pPr algn="l" eaLnBrk="0" marL="205740" indent="-205740">
              <a:lnSpc>
                <a:spcPct val="110000"/>
              </a:lnSpc>
              <a:spcAft>
                <a:spcPts val="400"/>
              </a:spcAft>
            </a:pPr>
            <a:r>
              <a:rPr sz="1800" b="0">
                <a:solidFill>
                  <a:srgbClr val="1F2A3A"/>
                </a:solidFill>
                <a:latin typeface="맑은 고딕"/>
                <a:ea typeface="맑은 고딕"/>
                <a:cs typeface="맑은 고딕"/>
              </a:rPr>
              <a:t>• 화살표를 문장으로 읽고 원문과 대조한다</a:t>
            </a:r>
          </a:p>
          <a:p>
            <a:pPr algn="l" eaLnBrk="0" marL="205740" indent="-205740">
              <a:lnSpc>
                <a:spcPct val="110000"/>
              </a:lnSpc>
              <a:spcAft>
                <a:spcPts val="400"/>
              </a:spcAft>
            </a:pPr>
            <a:r>
              <a:rPr sz="1800" b="0">
                <a:solidFill>
                  <a:srgbClr val="1F2A3A"/>
                </a:solidFill>
                <a:latin typeface="맑은 고딕"/>
                <a:ea typeface="맑은 고딕"/>
                <a:cs typeface="맑은 고딕"/>
              </a:rPr>
              <a:t>• 팬 구동 불량을 핀 세척으로 곧바로 잇지 않는다</a:t>
            </a:r>
          </a:p>
        </p:txBody>
      </p:sp>
      <p:sp>
        <p:nvSpPr>
          <p:cNvPr id="16" name="Rounded Rectangle 15"/>
          <p:cNvSpPr/>
          <p:nvPr/>
        </p:nvSpPr>
        <p:spPr>
          <a:xfrm>
            <a:off x="8356396" y="5265928"/>
            <a:ext cx="10210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8356396" y="5265928"/>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성공 기준</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경보·판단·승인·실행 기록의 구별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사건의 기록도 답하는 질문이 다르며, 각 기록의 근거를 연결해야 조치의 이유와 결과를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기록에 남은 내용</a:t>
            </a:r>
          </a:p>
        </p:txBody>
      </p:sp>
      <p:sp>
        <p:nvSpPr>
          <p:cNvPr id="8" name="TextBox 7"/>
          <p:cNvSpPr txBox="1"/>
          <p:nvPr/>
        </p:nvSpPr>
        <p:spPr>
          <a:xfrm>
            <a:off x="3200400" y="1627632"/>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연결할 판단</a:t>
            </a:r>
          </a:p>
        </p:txBody>
      </p:sp>
      <p:sp>
        <p:nvSpPr>
          <p:cNvPr id="9" name="Rounded Rectangle 8"/>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유온 상승·냉각 효율 저하의 조건 성립</a:t>
            </a:r>
          </a:p>
        </p:txBody>
      </p:sp>
      <p:sp>
        <p:nvSpPr>
          <p:cNvPr id="11" name="TextBox 10"/>
          <p:cNvSpPr txBox="1"/>
          <p:nvPr/>
        </p:nvSpPr>
        <p:spPr>
          <a:xfrm>
            <a:off x="3200400" y="2029968"/>
            <a:ext cx="835121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경보 · 원인 진단 · 실행 승인 · 명령 처리 · 완화 확인 중</a:t>
            </a:r>
          </a:p>
          <a:p>
            <a:pPr algn="l" eaLnBrk="0">
              <a:lnSpc>
                <a:spcPct val="110000"/>
              </a:lnSpc>
            </a:pPr>
            <a:r>
              <a:rPr sz="1400" b="0">
                <a:solidFill>
                  <a:srgbClr val="1F2A3A"/>
                </a:solidFill>
                <a:latin typeface="맑은 고딕"/>
                <a:ea typeface="맑은 고딕"/>
                <a:cs typeface="맑은 고딕"/>
              </a:rPr>
              <a:t>이 기록으로 확인할 수 있는 것은 무엇인가</a:t>
            </a:r>
          </a:p>
        </p:txBody>
      </p:sp>
      <p:sp>
        <p:nvSpPr>
          <p:cNvPr id="12" name="Rounded Rectangle 11"/>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894990"/>
            <a:ext cx="2514600" cy="865022"/>
          </a:xfrm>
          <a:prstGeom prst="rect">
            <a:avLst/>
          </a:prstGeom>
          <a:noFill/>
        </p:spPr>
        <p:txBody>
          <a:bodyPr wrap="square" anchor="ctr"/>
          <a:lstStyle/>
          <a:p>
            <a:pPr algn="l" eaLnBrk="0">
              <a:lnSpc>
                <a:spcPct val="110000"/>
              </a:lnSpc>
            </a:pPr>
            <a:r>
              <a:rPr sz="1500" b="1">
                <a:solidFill>
                  <a:srgbClr val="13294B"/>
                </a:solidFill>
                <a:latin typeface="맑은 고딕"/>
                <a:ea typeface="맑은 고딕"/>
                <a:cs typeface="맑은 고딕"/>
              </a:rPr>
              <a:t>팬 진동·냉각 효율의 평균이 핀 오염 기준에 맞음</a:t>
            </a:r>
          </a:p>
        </p:txBody>
      </p:sp>
      <p:sp>
        <p:nvSpPr>
          <p:cNvPr id="14" name="TextBox 13"/>
          <p:cNvSpPr txBox="1"/>
          <p:nvPr/>
        </p:nvSpPr>
        <p:spPr>
          <a:xfrm>
            <a:off x="3200400" y="2894990"/>
            <a:ext cx="835121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위 다섯 판단 중 해당하는 것을 고른다</a:t>
            </a:r>
          </a:p>
        </p:txBody>
      </p:sp>
      <p:sp>
        <p:nvSpPr>
          <p:cNvPr id="15" name="Rounded Rectangle 14"/>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운전원이 팬 최대 운전을 승인함</a:t>
            </a:r>
          </a:p>
        </p:txBody>
      </p:sp>
      <p:sp>
        <p:nvSpPr>
          <p:cNvPr id="17" name="TextBox 16"/>
          <p:cNvSpPr txBox="1"/>
          <p:nvPr/>
        </p:nvSpPr>
        <p:spPr>
          <a:xfrm>
            <a:off x="3200400" y="3760012"/>
            <a:ext cx="835121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위 다섯 판단 중 해당하는 것을 고른다</a:t>
            </a:r>
          </a:p>
        </p:txBody>
      </p:sp>
      <p:sp>
        <p:nvSpPr>
          <p:cNvPr id="18" name="Rounded Rectangle 17"/>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PLC의 응답: DONE · 인터록 PASS</a:t>
            </a:r>
          </a:p>
        </p:txBody>
      </p:sp>
      <p:sp>
        <p:nvSpPr>
          <p:cNvPr id="20" name="TextBox 19"/>
          <p:cNvSpPr txBox="1"/>
          <p:nvPr/>
        </p:nvSpPr>
        <p:spPr>
          <a:xfrm>
            <a:off x="3200400" y="4625035"/>
            <a:ext cx="835121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위 다섯 판단 중 해당하는 것을 고른다</a:t>
            </a:r>
          </a:p>
        </p:txBody>
      </p:sp>
      <p:sp>
        <p:nvSpPr>
          <p:cNvPr id="21" name="Rounded Rectangle 20"/>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조치 뒤 유온 하락·경보 CLEAR</a:t>
            </a:r>
          </a:p>
        </p:txBody>
      </p:sp>
      <p:sp>
        <p:nvSpPr>
          <p:cNvPr id="23" name="TextBox 22"/>
          <p:cNvSpPr txBox="1"/>
          <p:nvPr/>
        </p:nvSpPr>
        <p:spPr>
          <a:xfrm>
            <a:off x="3200400" y="5490057"/>
            <a:ext cx="835121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위 다섯 판단 중 해당하는 것을 고른다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본문에서 풀어 쓴 약어의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8"/>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OT · IT</a:t>
            </a:r>
          </a:p>
        </p:txBody>
      </p:sp>
      <p:sp>
        <p:nvSpPr>
          <p:cNvPr id="11" name="TextBox 10"/>
          <p:cNvSpPr txBox="1"/>
          <p:nvPr/>
        </p:nvSpPr>
        <p:spPr>
          <a:xfrm>
            <a:off x="3200400" y="2029968"/>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Operational Technology · Information Technology</a:t>
            </a:r>
          </a:p>
          <a:p>
            <a:pPr algn="l" eaLnBrk="0">
              <a:lnSpc>
                <a:spcPct val="110000"/>
              </a:lnSpc>
            </a:pPr>
            <a:r>
              <a:rPr sz="1400" b="0">
                <a:solidFill>
                  <a:srgbClr val="1F2A3A"/>
                </a:solidFill>
                <a:latin typeface="맑은 고딕"/>
                <a:ea typeface="맑은 고딕"/>
                <a:cs typeface="맑은 고딕"/>
              </a:rPr>
              <a:t>설비를 움직이는 운영 기술과, 데이터를 다루는 정보 기술</a:t>
            </a:r>
          </a:p>
        </p:txBody>
      </p:sp>
      <p:sp>
        <p:nvSpPr>
          <p:cNvPr id="12" name="Rounded Rectangle 11"/>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70607"/>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DMZ</a:t>
            </a:r>
          </a:p>
        </p:txBody>
      </p:sp>
      <p:sp>
        <p:nvSpPr>
          <p:cNvPr id="14" name="TextBox 13"/>
          <p:cNvSpPr txBox="1"/>
          <p:nvPr/>
        </p:nvSpPr>
        <p:spPr>
          <a:xfrm>
            <a:off x="3200400" y="2570607"/>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Demilitarized Zone</a:t>
            </a:r>
          </a:p>
          <a:p>
            <a:pPr algn="l" eaLnBrk="0">
              <a:lnSpc>
                <a:spcPct val="110000"/>
              </a:lnSpc>
            </a:pPr>
            <a:r>
              <a:rPr sz="1400" b="0">
                <a:solidFill>
                  <a:srgbClr val="1F2A3A"/>
                </a:solidFill>
                <a:latin typeface="맑은 고딕"/>
                <a:ea typeface="맑은 고딕"/>
                <a:cs typeface="맑은 고딕"/>
              </a:rPr>
              <a:t>OT와 IT 사이에서 드나드는 데이터와 명령을 검사하는 완충 구역</a:t>
            </a:r>
          </a:p>
        </p:txBody>
      </p:sp>
      <p:sp>
        <p:nvSpPr>
          <p:cNvPr id="15" name="Rounded Rectangle 14"/>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3111246"/>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PLC</a:t>
            </a:r>
          </a:p>
        </p:txBody>
      </p:sp>
      <p:sp>
        <p:nvSpPr>
          <p:cNvPr id="17" name="TextBox 16"/>
          <p:cNvSpPr txBox="1"/>
          <p:nvPr/>
        </p:nvSpPr>
        <p:spPr>
          <a:xfrm>
            <a:off x="3200400" y="3111246"/>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Programmable Logic Controller</a:t>
            </a:r>
          </a:p>
          <a:p>
            <a:pPr algn="l" eaLnBrk="0">
              <a:lnSpc>
                <a:spcPct val="110000"/>
              </a:lnSpc>
            </a:pPr>
            <a:r>
              <a:rPr sz="1400" b="0">
                <a:solidFill>
                  <a:srgbClr val="1F2A3A"/>
                </a:solidFill>
                <a:latin typeface="맑은 고딕"/>
                <a:ea typeface="맑은 고딕"/>
                <a:cs typeface="맑은 고딕"/>
              </a:rPr>
              <a:t>센서 값을 읽고 정해진 논리로 설비를 직접 제어하는 산업용 제어기</a:t>
            </a:r>
          </a:p>
        </p:txBody>
      </p:sp>
      <p:sp>
        <p:nvSpPr>
          <p:cNvPr id="18" name="Rounded Rectangle 17"/>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651885"/>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MQTT</a:t>
            </a:r>
          </a:p>
        </p:txBody>
      </p:sp>
      <p:sp>
        <p:nvSpPr>
          <p:cNvPr id="20" name="TextBox 19"/>
          <p:cNvSpPr txBox="1"/>
          <p:nvPr/>
        </p:nvSpPr>
        <p:spPr>
          <a:xfrm>
            <a:off x="3200400" y="3651885"/>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Message Queuing Telemetry Transport</a:t>
            </a:r>
          </a:p>
          <a:p>
            <a:pPr algn="l" eaLnBrk="0">
              <a:lnSpc>
                <a:spcPct val="110000"/>
              </a:lnSpc>
            </a:pPr>
            <a:r>
              <a:rPr sz="1400" b="0">
                <a:solidFill>
                  <a:srgbClr val="1F2A3A"/>
                </a:solidFill>
                <a:latin typeface="맑은 고딕"/>
                <a:ea typeface="맑은 고딕"/>
                <a:cs typeface="맑은 고딕"/>
              </a:rPr>
              <a:t>발행자의 메시지를 브로커가 구독자에게 전달하는 경량 메시지 규약</a:t>
            </a:r>
          </a:p>
        </p:txBody>
      </p:sp>
      <p:sp>
        <p:nvSpPr>
          <p:cNvPr id="21" name="Rounded Rectangle 20"/>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4192524"/>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SCADA</a:t>
            </a:r>
          </a:p>
        </p:txBody>
      </p:sp>
      <p:sp>
        <p:nvSpPr>
          <p:cNvPr id="23" name="TextBox 22"/>
          <p:cNvSpPr txBox="1"/>
          <p:nvPr/>
        </p:nvSpPr>
        <p:spPr>
          <a:xfrm>
            <a:off x="3200400" y="4192524"/>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Supervisory Control and Data Acquisition</a:t>
            </a:r>
          </a:p>
          <a:p>
            <a:pPr algn="l" eaLnBrk="0">
              <a:lnSpc>
                <a:spcPct val="110000"/>
              </a:lnSpc>
            </a:pPr>
            <a:r>
              <a:rPr sz="1400" b="0">
                <a:solidFill>
                  <a:srgbClr val="1F2A3A"/>
                </a:solidFill>
                <a:latin typeface="맑은 고딕"/>
                <a:ea typeface="맑은 고딕"/>
                <a:cs typeface="맑은 고딕"/>
              </a:rPr>
              <a:t>설비 데이터를 모아 감시하고 원격으로 제어하는 시스템</a:t>
            </a:r>
          </a:p>
        </p:txBody>
      </p:sp>
      <p:sp>
        <p:nvSpPr>
          <p:cNvPr id="24" name="Rounded Rectangle 23"/>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733163"/>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HMI</a:t>
            </a:r>
          </a:p>
        </p:txBody>
      </p:sp>
      <p:sp>
        <p:nvSpPr>
          <p:cNvPr id="26" name="TextBox 25"/>
          <p:cNvSpPr txBox="1"/>
          <p:nvPr/>
        </p:nvSpPr>
        <p:spPr>
          <a:xfrm>
            <a:off x="3200400" y="4733163"/>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Human-Machine Interface</a:t>
            </a:r>
          </a:p>
          <a:p>
            <a:pPr algn="l" eaLnBrk="0">
              <a:lnSpc>
                <a:spcPct val="110000"/>
              </a:lnSpc>
            </a:pPr>
            <a:r>
              <a:rPr sz="1400" b="0">
                <a:solidFill>
                  <a:srgbClr val="1F2A3A"/>
                </a:solidFill>
                <a:latin typeface="맑은 고딕"/>
                <a:ea typeface="맑은 고딕"/>
                <a:cs typeface="맑은 고딕"/>
              </a:rPr>
              <a:t>사람이 설비 상태를 보고 조작하는 화면</a:t>
            </a:r>
          </a:p>
        </p:txBody>
      </p:sp>
      <p:sp>
        <p:nvSpPr>
          <p:cNvPr id="27" name="Rounded Rectangle 26"/>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5273802"/>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HITL</a:t>
            </a:r>
          </a:p>
        </p:txBody>
      </p:sp>
      <p:sp>
        <p:nvSpPr>
          <p:cNvPr id="29" name="TextBox 28"/>
          <p:cNvSpPr txBox="1"/>
          <p:nvPr/>
        </p:nvSpPr>
        <p:spPr>
          <a:xfrm>
            <a:off x="3200400" y="5273802"/>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Human-in-the-Loop</a:t>
            </a:r>
          </a:p>
          <a:p>
            <a:pPr algn="l" eaLnBrk="0">
              <a:lnSpc>
                <a:spcPct val="110000"/>
              </a:lnSpc>
            </a:pPr>
            <a:r>
              <a:rPr sz="1400" b="0">
                <a:solidFill>
                  <a:srgbClr val="1F2A3A"/>
                </a:solidFill>
                <a:latin typeface="맑은 고딕"/>
                <a:ea typeface="맑은 고딕"/>
                <a:cs typeface="맑은 고딕"/>
              </a:rPr>
              <a:t>자동 처리 중간에 사람이 승인 · 거절로 결정하는 구조</a:t>
            </a:r>
          </a:p>
        </p:txBody>
      </p:sp>
      <p:sp>
        <p:nvSpPr>
          <p:cNvPr id="30" name="Rounded Rectangle 29"/>
          <p:cNvSpPr/>
          <p:nvPr/>
        </p:nvSpPr>
        <p:spPr>
          <a:xfrm>
            <a:off x="548640" y="5846445"/>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814441"/>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MES</a:t>
            </a:r>
          </a:p>
        </p:txBody>
      </p:sp>
      <p:sp>
        <p:nvSpPr>
          <p:cNvPr id="32" name="TextBox 31"/>
          <p:cNvSpPr txBox="1"/>
          <p:nvPr/>
        </p:nvSpPr>
        <p:spPr>
          <a:xfrm>
            <a:off x="3200400" y="5814441"/>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Manufacturing Execution System</a:t>
            </a:r>
          </a:p>
          <a:p>
            <a:pPr algn="l" eaLnBrk="0">
              <a:lnSpc>
                <a:spcPct val="110000"/>
              </a:lnSpc>
            </a:pPr>
            <a:r>
              <a:rPr sz="1400" b="0">
                <a:solidFill>
                  <a:srgbClr val="1F2A3A"/>
                </a:solidFill>
                <a:latin typeface="맑은 고딕"/>
                <a:ea typeface="맑은 고딕"/>
                <a:cs typeface="맑은 고딕"/>
              </a:rPr>
              <a:t>생산 지시 · 실적 · 납기를 관리하는 제조 실행 시스템</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경보 이후의 판단</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HYD-01의 쿨러 성능 저하 경보 때 VS1 평균은 1.1 mm/s, TS4는 28 ℃라고 하자.</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75</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값을 바탕으로 내릴 판단 중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경보 이름이 쿨러 성능 저하이므로 원인은 쿨러 핀 오염이다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팬 진동이 기준 0.9 이상이므로 팬 구동 불량을 먼저 의심한다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유온이 올랐으므로 원인과 관계없이 팬 속도를 최대로 올린다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캐비닛 온도가 정상이므로 설비에는 이상이 없다</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관계의 이름과 방향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원인 노드 「쿨러 핀 오염」과 고장 유형 노드 「쿨러 냉각 성능 상실」을 관계로 연결하려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76</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관계의 이름과 방향이 서로 맞게 적힌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쿨러 냉각 성능 상실 — CAUSES → 쿨러 핀 오염</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쿨러 핀 오염 — INDICATES → 쿨러 냉각 성능 상실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쿨러 핀 오염 — CAUSES → 쿨러 냉각 성능 상실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선만 이으면 되고 이름과 방향은 필요하지 않다</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추천과 실행의 책임 경계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쿨러 핀 오염을 원인으로 판단해 「팬 최대 운전」을 추천했으나, 담당자는 아직 승인하지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77</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시점의 상태를 바르게 설명한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에이전트가 추천과 동시에 팬 속도 명령을 설비로 보냈다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지식 그래프에 조치가 연결되어 있으므로 승인 없이 실행된다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일정 시간이 지나면 추천안이 자동으로 실행된다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설비 명령은 아직 만들어지지 않았으며 승인을 기다린다</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각각 경보와 원인, 이름과 방향, 추천과 실행을 구분할 수 있는지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78</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경보는 조건이 성립했다는 사실만 알린다. 원인은 팬 진동과 캐비닛 온도 같은 다른 값으로 가린다.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문장으로 읽었을 때 뜻이 통해야 한다. 「핀 오염은 냉각 성능 상실을 일으킨다」가 사실에 맞는다.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에이전트는 추천까지만 한다. 명령은 담당자가 승인한 뒤에만 만들어진다.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