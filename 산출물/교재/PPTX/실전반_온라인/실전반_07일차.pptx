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긴급 대응에서 다시 쓸 구조와 업무마다 바꿔야 할 조건을 가르면, 새 업무도 기존 설계를 바탕으로 만들 수 있습니다. 이번 회차는 이 구분에서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한 시스템을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학생별 환경을 쓰거나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여러분의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30~31장 통합 발화는 30장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실습에서는 정기 점검의 승인·거절 처리 기록을 남기고, 재고 보충은 그림부터 남아 있습니다. 사전 검사 통과와 실제 실행 성공도 구별하겠습니다.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32~33장 통합 발화는 32장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34~35장 통합 발화는 34장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제시된 시작 조건과 6개 발주안을 그대로 사용했다면 가용 재고가 1개에서 7개로 올라가고, 결과 보고가 입고 완료로 남아야 해요. 시작 재고나 승인 수량이 달랐다면 그 값으로 기대 재고를 계산해 실제 입고 기록과 대조합니다. 배포를 되돌릴 때는 앞서 설명한 공용 환경의 범위를 다시 확인합니다. 이 실습까지 마치면 직접 그린 두 프로세스의 진행 결과와 미확인이 기록으로 남고, 남은 건 세 업무를 한데 놓고 정리하는 일이에요. 이번 시간에는 공통 설계 원리와 네 실습의 목표를 정리했습니다. 이제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36~37장 통합 발화는 36장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보세요. 긴급 대응의 처리 건은 쿨러 사건으로 이미 끝까지 따라왔고요. 여기서는 강사가 확인한 기록과 비교할 수 있도록 미리 끝까지 보내 둔 처리 건 셋을 나란히 놓고 봅니다. 화면의 번호나 시각이 실습의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구매 담당은 이 비교와 경고를 다 보고 승인했습니다. 비교는 에이전트가 맡고, 그 비교를 받아들일지는 사람이 정한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앞서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여러분이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각자의 작은 업무 주제에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7회차 · 정비와 구매 업무의 설계·실행·검증</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395275934587325510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3253578790656603208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783700893123967629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18513001961292590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198306079451023204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53530792484551345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199527078741491077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1343324368317565446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01215"/>
            <a:ext cx="1911644" cy="378028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84095"/>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437714"/>
            <a:ext cx="424281" cy="424281"/>
          </a:xfrm>
          <a:prstGeom prst="rect">
            <a:avLst/>
          </a:prstGeom>
        </p:spPr>
      </p:pic>
      <p:sp>
        <p:nvSpPr>
          <p:cNvPr id="9" name="TextBox 8"/>
          <p:cNvSpPr txBox="1"/>
          <p:nvPr/>
        </p:nvSpPr>
        <p:spPr>
          <a:xfrm>
            <a:off x="62179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연결</a:t>
            </a:r>
          </a:p>
          <a:p>
            <a:pPr algn="ctr" eaLnBrk="0">
              <a:lnSpc>
                <a:spcPct val="110000"/>
              </a:lnSpc>
              <a:spcAft>
                <a:spcPts val="400"/>
              </a:spcAft>
            </a:pPr>
            <a:r>
              <a:rPr sz="1500" b="0">
                <a:solidFill>
                  <a:srgbClr val="1F2A3A"/>
                </a:solidFill>
                <a:latin typeface="맑은 고딕"/>
                <a:ea typeface="맑은 고딕"/>
                <a:cs typeface="맑은 고딕"/>
              </a:rPr>
              <a:t>그린 그림에 PM_DUE,</a:t>
            </a:r>
          </a:p>
          <a:p>
            <a:pPr algn="ctr" eaLnBrk="0">
              <a:lnSpc>
                <a:spcPct val="110000"/>
              </a:lnSpc>
              <a:spcAft>
                <a:spcPts val="400"/>
              </a:spcAft>
            </a:pPr>
            <a:r>
              <a:rPr sz="1500" b="0">
                <a:solidFill>
                  <a:srgbClr val="1F2A3A"/>
                </a:solidFill>
                <a:latin typeface="맑은 고딕"/>
                <a:ea typeface="맑은 고딕"/>
                <a:cs typeface="맑은 고딕"/>
              </a:rPr>
              <a:t>정비 계획 에이전트,</a:t>
            </a:r>
          </a:p>
          <a:p>
            <a:pPr algn="ctr" eaLnBrk="0">
              <a:lnSpc>
                <a:spcPct val="110000"/>
              </a:lnSpc>
              <a:spcAft>
                <a:spcPts val="400"/>
              </a:spcAft>
            </a:pPr>
            <a:r>
              <a:rPr sz="1500" b="0">
                <a:solidFill>
                  <a:srgbClr val="1F2A3A"/>
                </a:solidFill>
                <a:latin typeface="맑은 고딕"/>
                <a:ea typeface="맑은 고딕"/>
                <a:cs typeface="맑은 고딕"/>
              </a:rPr>
              <a:t>설비보전팀장, 기한 10분,</a:t>
            </a:r>
          </a:p>
          <a:p>
            <a:pPr algn="ctr" eaLnBrk="0">
              <a:lnSpc>
                <a:spcPct val="110000"/>
              </a:lnSpc>
              <a:spcAft>
                <a:spcPts val="400"/>
              </a:spcAft>
            </a:pPr>
            <a:r>
              <a:rPr sz="1500" b="0">
                <a:solidFill>
                  <a:srgbClr val="1F2A3A"/>
                </a:solidFill>
                <a:latin typeface="맑은 고딕"/>
                <a:ea typeface="맑은 고딕"/>
                <a:cs typeface="맑은 고딕"/>
              </a:rPr>
              <a:t>CMMS 오더와 공지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1215"/>
            <a:ext cx="1911644" cy="378028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84095"/>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437714"/>
            <a:ext cx="424281" cy="424281"/>
          </a:xfrm>
          <a:prstGeom prst="rect">
            <a:avLst/>
          </a:prstGeom>
        </p:spPr>
      </p:pic>
      <p:sp>
        <p:nvSpPr>
          <p:cNvPr id="14" name="TextBox 13"/>
          <p:cNvSpPr txBox="1"/>
          <p:nvPr/>
        </p:nvSpPr>
        <p:spPr>
          <a:xfrm>
            <a:off x="2917484"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검사</a:t>
            </a:r>
          </a:p>
          <a:p>
            <a:pPr algn="ctr" eaLnBrk="0">
              <a:lnSpc>
                <a:spcPct val="110000"/>
              </a:lnSpc>
              <a:spcAft>
                <a:spcPts val="400"/>
              </a:spcAft>
            </a:pPr>
            <a:r>
              <a:rPr sz="1500" b="0">
                <a:solidFill>
                  <a:srgbClr val="1F2A3A"/>
                </a:solidFill>
                <a:latin typeface="맑은 고딕"/>
                <a:ea typeface="맑은 고딕"/>
                <a:cs typeface="맑은 고딕"/>
              </a:rPr>
              <a:t>사전 검사로</a:t>
            </a:r>
          </a:p>
          <a:p>
            <a:pPr algn="ctr" eaLnBrk="0">
              <a:lnSpc>
                <a:spcPct val="110000"/>
              </a:lnSpc>
              <a:spcAft>
                <a:spcPts val="400"/>
              </a:spcAft>
            </a:pPr>
            <a:r>
              <a:rPr sz="1500" b="0">
                <a:solidFill>
                  <a:srgbClr val="1F2A3A"/>
                </a:solidFill>
                <a:latin typeface="맑은 고딕"/>
                <a:ea typeface="맑은 고딕"/>
                <a:cs typeface="맑은 고딕"/>
              </a:rPr>
              <a:t>승인 없는 효과 경로와</a:t>
            </a:r>
          </a:p>
          <a:p>
            <a:pPr algn="ctr" eaLnBrk="0">
              <a:lnSpc>
                <a:spcPct val="110000"/>
              </a:lnSpc>
              <a:spcAft>
                <a:spcPts val="400"/>
              </a:spcAft>
            </a:pPr>
            <a:r>
              <a:rPr sz="1500" b="0">
                <a:solidFill>
                  <a:srgbClr val="1F2A3A"/>
                </a:solidFill>
                <a:latin typeface="맑은 고딕"/>
                <a:ea typeface="맑은 고딕"/>
                <a:cs typeface="맑은 고딕"/>
              </a:rPr>
              <a:t>빠진 연결을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1215"/>
            <a:ext cx="1911644" cy="378028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84095"/>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5883706" y="2437714"/>
            <a:ext cx="424281" cy="424281"/>
          </a:xfrm>
          <a:prstGeom prst="rect">
            <a:avLst/>
          </a:prstGeom>
        </p:spPr>
      </p:pic>
      <p:sp>
        <p:nvSpPr>
          <p:cNvPr id="19" name="TextBox 18"/>
          <p:cNvSpPr txBox="1"/>
          <p:nvPr/>
        </p:nvSpPr>
        <p:spPr>
          <a:xfrm>
            <a:off x="5213177"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등록 · 배포</a:t>
            </a:r>
          </a:p>
          <a:p>
            <a:pPr algn="ctr" eaLnBrk="0">
              <a:lnSpc>
                <a:spcPct val="110000"/>
              </a:lnSpc>
              <a:spcAft>
                <a:spcPts val="400"/>
              </a:spcAft>
            </a:pPr>
            <a:r>
              <a:rPr sz="1500" b="0">
                <a:solidFill>
                  <a:srgbClr val="1F2A3A"/>
                </a:solidFill>
                <a:latin typeface="맑은 고딕"/>
                <a:ea typeface="맑은 고딕"/>
                <a:cs typeface="맑은 고딕"/>
              </a:rPr>
              <a:t>판본으로 등록하고</a:t>
            </a:r>
          </a:p>
          <a:p>
            <a:pPr algn="ctr" eaLnBrk="0">
              <a:lnSpc>
                <a:spcPct val="110000"/>
              </a:lnSpc>
              <a:spcAft>
                <a:spcPts val="400"/>
              </a:spcAft>
            </a:pPr>
            <a:r>
              <a:rPr sz="1500" b="0">
                <a:solidFill>
                  <a:srgbClr val="1F2A3A"/>
                </a:solidFill>
                <a:latin typeface="맑은 고딕"/>
                <a:ea typeface="맑은 고딕"/>
                <a:cs typeface="맑은 고딕"/>
              </a:rPr>
              <a:t>배포해 경보를</a:t>
            </a:r>
          </a:p>
          <a:p>
            <a:pPr algn="ctr" eaLnBrk="0">
              <a:lnSpc>
                <a:spcPct val="110000"/>
              </a:lnSpc>
              <a:spcAft>
                <a:spcPts val="400"/>
              </a:spcAft>
            </a:pPr>
            <a:r>
              <a:rPr sz="1500" b="0">
                <a:solidFill>
                  <a:srgbClr val="1F2A3A"/>
                </a:solidFill>
                <a:latin typeface="맑은 고딕"/>
                <a:ea typeface="맑은 고딕"/>
                <a:cs typeface="맑은 고딕"/>
              </a:rPr>
              <a:t>받는 흐름으로 만든다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1215"/>
            <a:ext cx="1911644" cy="378028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84095"/>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8179399" y="2437714"/>
            <a:ext cx="424281" cy="424281"/>
          </a:xfrm>
          <a:prstGeom prst="rect">
            <a:avLst/>
          </a:prstGeom>
        </p:spPr>
      </p:pic>
      <p:sp>
        <p:nvSpPr>
          <p:cNvPr id="24" name="TextBox 23"/>
          <p:cNvSpPr txBox="1"/>
          <p:nvPr/>
        </p:nvSpPr>
        <p:spPr>
          <a:xfrm>
            <a:off x="7508869"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실행</a:t>
            </a:r>
          </a:p>
          <a:p>
            <a:pPr algn="ctr" eaLnBrk="0">
              <a:lnSpc>
                <a:spcPct val="110000"/>
              </a:lnSpc>
              <a:spcAft>
                <a:spcPts val="400"/>
              </a:spcAft>
            </a:pPr>
            <a:r>
              <a:rPr sz="1500" b="0">
                <a:solidFill>
                  <a:srgbClr val="1F2A3A"/>
                </a:solidFill>
                <a:latin typeface="맑은 고딕"/>
                <a:ea typeface="맑은 고딕"/>
                <a:cs typeface="맑은 고딕"/>
              </a:rPr>
              <a:t>정기 점검 도래로</a:t>
            </a:r>
          </a:p>
          <a:p>
            <a:pPr algn="ctr" eaLnBrk="0">
              <a:lnSpc>
                <a:spcPct val="110000"/>
              </a:lnSpc>
              <a:spcAft>
                <a:spcPts val="400"/>
              </a:spcAft>
            </a:pPr>
            <a:r>
              <a:rPr sz="1500" b="0">
                <a:solidFill>
                  <a:srgbClr val="1F2A3A"/>
                </a:solidFill>
                <a:latin typeface="맑은 고딕"/>
                <a:ea typeface="맑은 고딕"/>
                <a:cs typeface="맑은 고딕"/>
              </a:rPr>
              <a:t>처리 건이 열리고</a:t>
            </a:r>
          </a:p>
          <a:p>
            <a:pPr algn="ctr" eaLnBrk="0">
              <a:lnSpc>
                <a:spcPct val="110000"/>
              </a:lnSpc>
              <a:spcAft>
                <a:spcPts val="400"/>
              </a:spcAft>
            </a:pPr>
            <a:r>
              <a:rPr sz="1500" b="0">
                <a:solidFill>
                  <a:srgbClr val="1F2A3A"/>
                </a:solidFill>
                <a:latin typeface="맑은 고딕"/>
                <a:ea typeface="맑은 고딕"/>
                <a:cs typeface="맑은 고딕"/>
              </a:rPr>
              <a:t>추천안이 승인을 기다린다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1215"/>
            <a:ext cx="1911644" cy="378028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84095"/>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437714"/>
            <a:ext cx="424281" cy="424281"/>
          </a:xfrm>
          <a:prstGeom prst="rect">
            <a:avLst/>
          </a:prstGeom>
        </p:spPr>
      </p:pic>
      <p:sp>
        <p:nvSpPr>
          <p:cNvPr id="29" name="TextBox 28"/>
          <p:cNvSpPr txBox="1"/>
          <p:nvPr/>
        </p:nvSpPr>
        <p:spPr>
          <a:xfrm>
            <a:off x="980456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성공 기준</a:t>
            </a:r>
          </a:p>
          <a:p>
            <a:pPr algn="ctr" eaLnBrk="0">
              <a:lnSpc>
                <a:spcPct val="110000"/>
              </a:lnSpc>
              <a:spcAft>
                <a:spcPts val="400"/>
              </a:spcAft>
            </a:pPr>
            <a:r>
              <a:rPr sz="1500" b="0">
                <a:solidFill>
                  <a:srgbClr val="1F2A3A"/>
                </a:solidFill>
                <a:latin typeface="맑은 고딕"/>
                <a:ea typeface="맑은 고딕"/>
                <a:cs typeface="맑은 고딕"/>
              </a:rPr>
              <a:t>정비 오더, 생산팀 공지,</a:t>
            </a:r>
          </a:p>
          <a:p>
            <a:pPr algn="ctr" eaLnBrk="0">
              <a:lnSpc>
                <a:spcPct val="110000"/>
              </a:lnSpc>
              <a:spcAft>
                <a:spcPts val="400"/>
              </a:spcAft>
            </a:pPr>
            <a:r>
              <a:rPr sz="1500" b="0">
                <a:solidFill>
                  <a:srgbClr val="1F2A3A"/>
                </a:solidFill>
                <a:latin typeface="맑은 고딕"/>
                <a:ea typeface="맑은 고딕"/>
                <a:cs typeface="맑은 고딕"/>
              </a:rPr>
              <a:t>결과 보고와 종료가</a:t>
            </a:r>
          </a:p>
          <a:p>
            <a:pPr algn="ctr" eaLnBrk="0">
              <a:lnSpc>
                <a:spcPct val="110000"/>
              </a:lnSpc>
              <a:spcAft>
                <a:spcPts val="400"/>
              </a:spcAft>
            </a:pPr>
            <a:r>
              <a:rPr sz="1500" b="0">
                <a:solidFill>
                  <a:srgbClr val="1F2A3A"/>
                </a:solidFill>
                <a:latin typeface="맑은 고딕"/>
                <a:ea typeface="맑은 고딕"/>
                <a:cs typeface="맑은 고딕"/>
              </a:rPr>
              <a:t>처리 건에 남는다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9751"/>
            <a:ext cx="1911644" cy="332320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2631"/>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666250"/>
            <a:ext cx="424281" cy="424281"/>
          </a:xfrm>
          <a:prstGeom prst="rect">
            <a:avLst/>
          </a:prstGeom>
        </p:spPr>
      </p:pic>
      <p:sp>
        <p:nvSpPr>
          <p:cNvPr id="9" name="TextBox 8"/>
          <p:cNvSpPr txBox="1"/>
          <p:nvPr/>
        </p:nvSpPr>
        <p:spPr>
          <a:xfrm>
            <a:off x="62179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연결</a:t>
            </a:r>
          </a:p>
          <a:p>
            <a:pPr algn="ctr" eaLnBrk="0">
              <a:lnSpc>
                <a:spcPct val="110000"/>
              </a:lnSpc>
              <a:spcAft>
                <a:spcPts val="400"/>
              </a:spcAft>
            </a:pPr>
            <a:r>
              <a:rPr sz="1250" b="0">
                <a:solidFill>
                  <a:srgbClr val="1F2A3A"/>
                </a:solidFill>
                <a:latin typeface="맑은 고딕"/>
                <a:ea typeface="맑은 고딕"/>
                <a:cs typeface="맑은 고딕"/>
              </a:rPr>
              <a:t>그린 그림에</a:t>
            </a:r>
          </a:p>
          <a:p>
            <a:pPr algn="ctr" eaLnBrk="0">
              <a:lnSpc>
                <a:spcPct val="110000"/>
              </a:lnSpc>
              <a:spcAft>
                <a:spcPts val="400"/>
              </a:spcAft>
            </a:pPr>
            <a:r>
              <a:rPr sz="1250" b="0">
                <a:solidFill>
                  <a:srgbClr val="1F2A3A"/>
                </a:solidFill>
                <a:latin typeface="맑은 고딕"/>
                <a:ea typeface="맑은 고딕"/>
                <a:cs typeface="맑은 고딕"/>
              </a:rPr>
              <a:t>SPARE_BELOW_MIN,</a:t>
            </a:r>
          </a:p>
          <a:p>
            <a:pPr algn="ctr" eaLnBrk="0">
              <a:lnSpc>
                <a:spcPct val="110000"/>
              </a:lnSpc>
              <a:spcAft>
                <a:spcPts val="400"/>
              </a:spcAft>
            </a:pPr>
            <a:r>
              <a:rPr sz="1250" b="0">
                <a:solidFill>
                  <a:srgbClr val="1F2A3A"/>
                </a:solidFill>
                <a:latin typeface="맑은 고딕"/>
                <a:ea typeface="맑은 고딕"/>
                <a:cs typeface="맑은 고딕"/>
              </a:rPr>
              <a:t>구매 에이전트,</a:t>
            </a:r>
          </a:p>
          <a:p>
            <a:pPr algn="ctr" eaLnBrk="0">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29751"/>
            <a:ext cx="1911644" cy="332320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2631"/>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666250"/>
            <a:ext cx="424281" cy="424281"/>
          </a:xfrm>
          <a:prstGeom prst="rect">
            <a:avLst/>
          </a:prstGeom>
        </p:spPr>
      </p:pic>
      <p:sp>
        <p:nvSpPr>
          <p:cNvPr id="14" name="TextBox 13"/>
          <p:cNvSpPr txBox="1"/>
          <p:nvPr/>
        </p:nvSpPr>
        <p:spPr>
          <a:xfrm>
            <a:off x="2917484"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검사 · 등록 · 배포</a:t>
            </a:r>
          </a:p>
          <a:p>
            <a:pPr algn="ctr" eaLnBrk="0">
              <a:lnSpc>
                <a:spcPct val="110000"/>
              </a:lnSpc>
              <a:spcAft>
                <a:spcPts val="400"/>
              </a:spcAft>
            </a:pPr>
            <a:r>
              <a:rPr sz="1250" b="0">
                <a:solidFill>
                  <a:srgbClr val="1F2A3A"/>
                </a:solidFill>
                <a:latin typeface="맑은 고딕"/>
                <a:ea typeface="맑은 고딕"/>
                <a:cs typeface="맑은 고딕"/>
              </a:rPr>
              <a:t>사전 검사를 거쳐</a:t>
            </a:r>
          </a:p>
          <a:p>
            <a:pPr algn="ctr" eaLnBrk="0">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29751"/>
            <a:ext cx="1911644" cy="332320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2631"/>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666250"/>
            <a:ext cx="424281" cy="424281"/>
          </a:xfrm>
          <a:prstGeom prst="rect">
            <a:avLst/>
          </a:prstGeom>
        </p:spPr>
      </p:pic>
      <p:sp>
        <p:nvSpPr>
          <p:cNvPr id="19" name="TextBox 18"/>
          <p:cNvSpPr txBox="1"/>
          <p:nvPr/>
        </p:nvSpPr>
        <p:spPr>
          <a:xfrm>
            <a:off x="5213177"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재고 부족으로</a:t>
            </a:r>
          </a:p>
          <a:p>
            <a:pPr algn="ctr" eaLnBrk="0">
              <a:lnSpc>
                <a:spcPct val="110000"/>
              </a:lnSpc>
              <a:spcAft>
                <a:spcPts val="400"/>
              </a:spcAft>
            </a:pPr>
            <a:r>
              <a:rPr sz="1250" b="0">
                <a:solidFill>
                  <a:srgbClr val="1F2A3A"/>
                </a:solidFill>
                <a:latin typeface="맑은 고딕"/>
                <a:ea typeface="맑은 고딕"/>
                <a:cs typeface="맑은 고딕"/>
              </a:rPr>
              <a:t>처리 건이 열리고</a:t>
            </a:r>
          </a:p>
          <a:p>
            <a:pPr algn="ctr" eaLnBrk="0">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29751"/>
            <a:ext cx="1911644" cy="332320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2631"/>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666250"/>
            <a:ext cx="424281" cy="424281"/>
          </a:xfrm>
          <a:prstGeom prst="rect">
            <a:avLst/>
          </a:prstGeom>
        </p:spPr>
      </p:pic>
      <p:sp>
        <p:nvSpPr>
          <p:cNvPr id="24" name="TextBox 23"/>
          <p:cNvSpPr txBox="1"/>
          <p:nvPr/>
        </p:nvSpPr>
        <p:spPr>
          <a:xfrm>
            <a:off x="7508869"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 뒤</a:t>
            </a:r>
          </a:p>
          <a:p>
            <a:pPr algn="ctr" eaLnBrk="0">
              <a:lnSpc>
                <a:spcPct val="110000"/>
              </a:lnSpc>
              <a:spcAft>
                <a:spcPts val="400"/>
              </a:spcAft>
            </a:pPr>
            <a:r>
              <a:rPr sz="1250" b="0">
                <a:solidFill>
                  <a:srgbClr val="1F2A3A"/>
                </a:solidFill>
                <a:latin typeface="맑은 고딕"/>
                <a:ea typeface="맑은 고딕"/>
                <a:cs typeface="맑은 고딕"/>
              </a:rPr>
              <a:t>ERP 발주,</a:t>
            </a:r>
          </a:p>
          <a:p>
            <a:pPr algn="ctr" eaLnBrk="0">
              <a:lnSpc>
                <a:spcPct val="110000"/>
              </a:lnSpc>
              <a:spcAft>
                <a:spcPts val="400"/>
              </a:spcAft>
            </a:pPr>
            <a:r>
              <a:rPr sz="1250" b="0">
                <a:solidFill>
                  <a:srgbClr val="1F2A3A"/>
                </a:solidFill>
                <a:latin typeface="맑은 고딕"/>
                <a:ea typeface="맑은 고딕"/>
                <a:cs typeface="맑은 고딕"/>
              </a:rPr>
              <a:t>공급사 통지,</a:t>
            </a:r>
          </a:p>
          <a:p>
            <a:pPr algn="ctr" eaLnBrk="0">
              <a:lnSpc>
                <a:spcPct val="110000"/>
              </a:lnSpc>
              <a:spcAft>
                <a:spcPts val="400"/>
              </a:spcAft>
            </a:pPr>
            <a:r>
              <a:rPr sz="1250" b="0">
                <a:solidFill>
                  <a:srgbClr val="1F2A3A"/>
                </a:solidFill>
                <a:latin typeface="맑은 고딕"/>
                <a:ea typeface="맑은 고딕"/>
                <a:cs typeface="맑은 고딕"/>
              </a:rPr>
              <a:t>입고와 재고 반영</a:t>
            </a:r>
          </a:p>
          <a:p>
            <a:pPr algn="ctr" eaLnBrk="0">
              <a:lnSpc>
                <a:spcPct val="110000"/>
              </a:lnSpc>
              <a:spcAft>
                <a:spcPts val="400"/>
              </a:spcAft>
            </a:pPr>
            <a:r>
              <a:rPr sz="1250" b="0">
                <a:solidFill>
                  <a:srgbClr val="1F2A3A"/>
                </a:solidFill>
                <a:latin typeface="맑은 고딕"/>
                <a:ea typeface="맑은 고딕"/>
                <a:cs typeface="맑은 고딕"/>
              </a:rPr>
              <a:t>수업에서는 입고를 즉시 모의 처리</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29751"/>
            <a:ext cx="1911644" cy="332320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12631"/>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66250"/>
            <a:ext cx="424281" cy="424281"/>
          </a:xfrm>
          <a:prstGeom prst="rect">
            <a:avLst/>
          </a:prstGeom>
        </p:spPr>
      </p:pic>
      <p:sp>
        <p:nvSpPr>
          <p:cNvPr id="29" name="TextBox 28"/>
          <p:cNvSpPr txBox="1"/>
          <p:nvPr/>
        </p:nvSpPr>
        <p:spPr>
          <a:xfrm>
            <a:off x="980456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성공 기준</a:t>
            </a:r>
          </a:p>
          <a:p>
            <a:pPr algn="ctr" eaLnBrk="0">
              <a:lnSpc>
                <a:spcPct val="110000"/>
              </a:lnSpc>
              <a:spcAft>
                <a:spcPts val="400"/>
              </a:spcAft>
            </a:pPr>
            <a:r>
              <a:rPr sz="1250" b="0">
                <a:solidFill>
                  <a:srgbClr val="1F2A3A"/>
                </a:solidFill>
                <a:latin typeface="맑은 고딕"/>
                <a:ea typeface="맑은 고딕"/>
                <a:cs typeface="맑은 고딕"/>
              </a:rPr>
              <a:t>시작 값·승인 수량으로 대조</a:t>
            </a:r>
          </a:p>
          <a:p>
            <a:pPr algn="ctr" eaLnBrk="0">
              <a:lnSpc>
                <a:spcPct val="110000"/>
              </a:lnSpc>
              <a:spcAft>
                <a:spcPts val="400"/>
              </a:spcAft>
            </a:pPr>
            <a:r>
              <a:rPr sz="1250" b="0">
                <a:solidFill>
                  <a:srgbClr val="1F2A3A"/>
                </a:solidFill>
                <a:latin typeface="맑은 고딕"/>
                <a:ea typeface="맑은 고딕"/>
                <a:cs typeface="맑은 고딕"/>
              </a:rPr>
              <a:t>예: 가용 재고 1→7개</a:t>
            </a:r>
          </a:p>
          <a:p>
            <a:pPr algn="ctr" eaLnBrk="0">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340346395817110324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684419544072477365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359085615553022595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11026874538736874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