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경보 뒤의 판단에 왜 지식이 필요한지, 그 지식을 어떻게 적는지를 먼저 정리합니다. 이어지는 네 개의 실습에서 관계도를 그리고, 파일로 적고, 그래프 DB에서 조회하고, 기준 지식과 견주어 보완합니다.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유압 설비 HYD-01에서 쿨러의 냉각 성능이 떨어져 유온 TS1이 오른 사건을 저장된 값으로 보겠습니다. 위가 유온, 아래가 냉각 효율입니다. 경보는 11시 13분 8초에 났는데 조치는 108초 뒤에 승인되었고, 그동안 유온은 61.8 ℃까지 올랐습니다. 경보는 조건을 벗어났다는 사실만 알리기 때문입니다. 체온계의 고열 표시에 견줄 수 있습니다. 열이 난다는 사실은 바로 알지만 어떤 병인지는 진찰해야 안다는 점이 닮았고, 이 사건에서는 응급 조치를 고르는 데에도 원인 판단이 먼저 필요했다는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판단을 네 가지 질문으로 나누어 보겠습니다. 지금 얼마인가와 기준을 벗어났는가는 계측과 경보 기능이 답해 줍니다. 왜 벗어났는가와 무엇을 할 것인가는 값만으로 답할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증상에 대해 설비 매뉴얼은 원인 후보를 셋 듭니다. 쿨러 핀 오염은 핀에 먼지나 유막이 끼어 막히는 것이고, 팬 구동 불량은 팬이 제 속도로 돌지 못하는 것이며, 주변 온도 상승은 설비 둘레의 공기가 더운 것입니다. 유온만 보아서는 셋을 구분할 수 없고, 가르는 값은 다른 센서에서 나옵니다. 이 사건의 값으로 보면 핀 오염은 냉각 효율 46.2 %와 팬 진동 0.575로 조건에 맞고, 팬 구동 불량은 팬 진동 0.575로, 주변 온도 상승은 캐비닛 온도 28 ℃로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가려야 하는 이유는 조치가 달라지기 때문입니다. 핀이 막혔으면 세척하고, 팬이 문제이면 벨트를 점검하며, 주변 공기가 더우면 환기를 보강합니다. 원인이 다른데 조치를 바꿔 쓰면 유온은 내려가지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모자랐던 것을 세 낱말로 나누어 보겠습니다. 수치 그대로가 데이터, 의미가 붙은 것이 정보, 다른 대상과 이어져 판단에 쓸 수 있는 것이 지식입니다. 병원으로 치면 검사 수치, 정상 범위를 벗어났다는 표시, 의사의 진단에 해당합니다. 수치와 진단이 별개의 일이라는 점이 닮았고, 설비에서는 조치를 정할 때 생산 일정까지 함께 따진다는 점은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쓰인 정보가 어디에 있었는지를 보겠습니다. 센서 값은 값을 시간 순서로 쌓는 저장소, 곧 시계열 DB인 TimescaleDB에, 운전 상태는 설비를 제어하는 PLC의 상태 메시지에, 원인 후보와 조치 방법은 설비 매뉴얼에, 생산 일정은 MES에 있습니다. 센서 값과 운전 상태는 매초 바뀌는 값이고, 생산 계획과 실적을 관리하는 MES에는 긴급 오더의 납기가 약 6시간 남았다고 기록되어 있었습니다. 그림의 점선은 이들이 이어져 있지 않다는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정보를 사람이 머릿속에서 잇는 방식에는 한계가 셋 있습니다. 사람마다 다르고, 그 사람이 없으면 판단이 멈추며, 연결이 적혀 있지 않아 컴퓨터가 따라갈 수 없습니다. AI가 판단을 돕게 하려면 이 연결을 먼저 밖으로 꺼내 적어야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그럴듯한 답이 나옵니다. 그러나 AI는 이 설비의 매뉴얼과 지금의 값을 알지 못하므로 답의 근거를 확인할 수 없습니다. 적어 둔 지식을 조회하게 하면 무엇을 근거로 판단했는지가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남는 요구는 세 가지입니다. 사람이 읽고 검토할 수 있어야 하고, 컴퓨터가 따라갈 수 있어야 하며, 지식을 프로그램과 따로 고칠 수 있어야 합니다. 이 요구를 채우도록 대상과 관계를 적어 둔 것에 이름이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이름이 온톨로지입니다. 대상의 종류, 속성, 관계, 제약을 명시적으로 정의한 지식 모델입니다. 머릿속에 있던 것을 정해진 형식으로 적었기 때문에 사람과 컴퓨터가 같은 정의를 씁니다. 노선도 비유는 관계를 따라가면 경로가 나온다는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온톨로지는 관계 그림이나 그래프 DB와 자주 혼동됩니다. 관계 그림은 사람이 보는 표현이고, 그래프 DB는 저장하는 도구입니다. 온톨로지는 무엇을 그리고 저장할 수 있는지를 정한 정의입니다.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그래프를 이루는 것은 노드와 관계입니다. 동그라미가 노드이고 대상 하나를 나타냅니다. 화살표가 관계이며 이름과 방향이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지식 그래프에서 이 사건에 해당하는 부분입니다. 영어 이름이 대상의 종류이고 한글이 실제 대상입니다. 위쪽 두 화살표가 모두 가운데의 고장 유형으로 들어오므로 고장 유형 하나에 원인이 여럿 붙습니다. 조치도 원인이 아니라 고장 유형에 붙어 있어서, 원인이 확인되기 전에도 고장 유형에 맞는 완화 조치를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화살표의 방향은 관계 이름의 뜻에서 나옵니다. 같은 사실을 CAUSES로 적으면 원인에서 고장 유형으로, CAUSED_BY로 적으면 반대로 갑니다. 틀린 것은 이름과 방향이 어긋난 경우입니다.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정의로 돌아가겠습니다. 지금까지 그림에서 본 노드의 종류와 화살표가 네 가지 가운데 종류와 관계입니다. 여기에 속성과 제약이 더해집니다.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관계 그림에는 노드마다 원인 같은 종류와 쿨러 핀 오염 같은 실제 이름이 함께 있었습니다. 먼저 윗줄을 봅니다. 설비, 센서, 증상은 물건 하나가 아니라 종류이고, 설비라는 노드는 HYD-01도 HYD-02도 함께 가리킵니다. 다음으로 아랫줄은 손으로 가리킬 수 있는 대상 하나하나입니다. HYD-01은 설비 가운데 한 대이고 유온 센서 TS1은 센서 가운데 하나이며, 위아래 같은 자리에 놓인 것끼리 짝이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가지가 한 그림에 구분 없이 섞이면 컴퓨터는 센서라는 노드와 TS1이라는 노드의 사이를 알 수 없습니다. 온톨로지는 두 층에 이름을 붙여 나눕니다. 유형이 클래스이고 실제 대상이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설비 쪽의 대상을 클래스로 나누면 다섯입니다. 위의 점선 상자가 클래스이고 아래 동그라미가 그 인스턴스 하나씩입니다. 다섯 클래스의 정의와 인스턴스는 표로 한 행씩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위에서부터 한 행씩 봅니다. 설비 클래스의 인스턴스는 설비 한 대이고, 구성 요소는 설비를 이루는 쿨러, 팬, 펌프 같은 장치입니다. 센서 클래스의 인스턴스에는 태그가 붙으며, 유온 센서의 태그가 TS1입니다. 상태 변수는 온도, 압력, 진동처럼 설비의 상태를 나타내는 물리량이어서 장치가 아니라 양이라는 점이 앞의 세 클래스와 다릅니다. 부품은 정비할 때 갈아 끼우는 교체품이고 쿨러 코어는 오일 쿨러 안에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클래스는 손에 잡히는 물건에만 쓰는 것이 아닙니다. 관계 그림에 나온 증상과 고장 유형과 원인도 클래스이고, 유온 상승이나 쿨러 핀 오염이 그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속성은 대상이 갖는 값의 칸이고, 그 칸을 정하는 것이 클래스입니다. 먼저 왼쪽의 다섯 칸을 봅니다. 센서 클래스의 속성은 식별자, 이름, 태그, 단위, 그리고 계산으로 만든 값인지를 나타내는 virtual입니다. 가운데 카드는 유온 센서이고 칸마다 값이 하나씩 들어가며, TS1이 tag의 값입니다. 오른쪽은 냉각 효율인데 CE는 센서 없이 계산한 값이어서 virtual이 true입니다.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인스턴스에 무엇인가를 붙이는 방법은 둘입니다. 값을 붙이면 속성이고, 다른 인스턴스를 가리키면 관계입니다. 이 수업에서는 앞의 것을 속성, 뒤의 것을 관계라고 줄여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실습의 목적은 노드와 관계와 방향을 손으로 정하는 것입니다. 쿨러 사건의 쿨러, 센서, 부품, 고장 유형, 조치를 노드로 놓고 관계를 이어 이름을 붙입니다. 다 그린 뒤에는 화살표마다 문장으로 읽어 뜻이 통하는지 확인합니다. 온도 값 하나가 조치로 바로 이어지지 않고 고장 유형을 거친다는 것도 그림에서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 그린 관계도를 같은 기준의 파일로 옮기는 실습입니다. 목록의 항목마다 클래스인지 인스턴스인지를 가리고, 인스턴스를 서로 구별할 식별자를 정합니다. 정한 내용을 AI에게 요구사항으로 전달해 바이브 코딩으로 파일을 만들고, 만들어진 파일이 관계도와 같은 뜻인지 견줍니다. 무엇을 클래스로 두고 무엇을 인스턴스로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보내는 요청을 질의라고 하며, MATCH에는 찾을 모양을, WHERE에는 조건을, RETURN에는 돌려받을 것을 적습니다. 질의를 외우는 것이 아니라 묻고 싶은 것을 노드와 관계의 모양으로 바꾸어 적는 연습입니다. 결과가 예상과 다르면 레이블과 관계 유형의 철자, 화살표의 방향을 먼저 확인합니다. HYD 포털의 지식 지도는 기준으로 제공된 지식 그래프이며, 조회한 결과를 이것과 견주어 같은 곳과 다른 곳을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 견준 포털의 지식 지도를 이번에는 내 설계를 고치는 기준으로 씁니다. 내 그래프와 견주어 빠진 관계와 속성, 반대로 적은 방향을 찾습니다. 찾은 차이는 내 파일에서 직접 고칩니다. 고친 schema.json은 남겨 두고 다음 시간에 이어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쓴 용어의 정식 명칭을 한곳에 모았습니다. 뜻은 앞에서 풀었으므로 여기서는 이름과 자리만 확인합니다. 이 가운데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알려 주는 것과 원인 판단을 구분하는 문항입니다. 화면의 값을 판별 기준에 대어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화살표 방향을 외웠는지가 아니라 문장으로 읽어 뜻이 통하는지를 확인하는 문항입니다. 보기를 하나씩 문장으로 읽으면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값에서 끝나는 것과 다른 인스턴스로 이어지는 것을 가리는 문항입니다. 단위와 유온 가운데 어느 쪽이 자기 클래스와 인스턴스를 가진 대상이었는지를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경보의 이름만으로 원인을 단정한 것입니다. 둘째 문항의 2번은 CAUSED_BY라는 이름에 방향을 원인에서 고장 유형으로 두어 뜻이 통하지 않습니다. 셋째 문항의 2번은 유온을 속성으로 넣어 계측 대상이 값에서 끝나 버립니다.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8.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2.png"/><Relationship Id="rId5" Type="http://schemas.openxmlformats.org/officeDocument/2006/relationships/image" Target="../media/image7.png"/><Relationship Id="rId6"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7.pn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6.png"/><Relationship Id="rId5" Type="http://schemas.openxmlformats.org/officeDocument/2006/relationships/image" Target="../media/image42.png"/><Relationship Id="rId6"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12.png"/><Relationship Id="rId5" Type="http://schemas.openxmlformats.org/officeDocument/2006/relationships/image" Target="../media/image45.png"/><Relationship Id="rId6"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7.png"/><Relationship Id="rId5" Type="http://schemas.openxmlformats.org/officeDocument/2006/relationships/image" Target="../media/image8.png"/><Relationship Id="rId6"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1회차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정보를 연결된 지식으로 표현</a:t>
            </a:r>
          </a:p>
          <a:p>
            <a:pPr algn="l">
              <a:lnSpc>
                <a:spcPct val="110000"/>
              </a:lnSpc>
            </a:pPr>
            <a:r>
              <a:rPr sz="4000" b="1">
                <a:solidFill>
                  <a:srgbClr val="FFFFFF"/>
                </a:solidFill>
                <a:latin typeface="맑은 고딕"/>
                <a:ea typeface="맑은 고딕"/>
                <a:cs typeface="맑은 고딕"/>
              </a:rPr>
              <a:t>온톨로지의 필요와 구조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데이터와 지식의 차이, 클래스와 인스턴스, 관계의 방향</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category" descr="category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arrows-right" descr="arrows-righ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뒤의 판단에 필요한 지식을 클래스, 인스턴스, 속성, 관계로 나누어 적고 네 개의 실습에서 직접 표현한다.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지식의 필요</a:t>
            </a:r>
          </a:p>
          <a:p>
            <a:pPr algn="l">
              <a:lnSpc>
                <a:spcPct val="110000"/>
              </a:lnSpc>
              <a:spcAft>
                <a:spcPts val="400"/>
              </a:spcAft>
            </a:pPr>
            <a:r>
              <a:rPr sz="1350" b="0">
                <a:solidFill>
                  <a:srgbClr val="1F2A3A"/>
                </a:solidFill>
                <a:latin typeface="맑은 고딕"/>
                <a:ea typeface="맑은 고딕"/>
                <a:cs typeface="맑은 고딕"/>
              </a:rPr>
              <a:t>경보 뒤의 판단에 값과 정보 말고 지식이 필요한 까닭을 설명한다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필요</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온톨로지의 구성</a:t>
            </a:r>
          </a:p>
          <a:p>
            <a:pPr algn="l">
              <a:lnSpc>
                <a:spcPct val="110000"/>
              </a:lnSpc>
              <a:spcAft>
                <a:spcPts val="400"/>
              </a:spcAft>
            </a:pPr>
            <a:r>
              <a:rPr sz="1350" b="0">
                <a:solidFill>
                  <a:srgbClr val="1F2A3A"/>
                </a:solidFill>
                <a:latin typeface="맑은 고딕"/>
                <a:ea typeface="맑은 고딕"/>
                <a:cs typeface="맑은 고딕"/>
              </a:rPr>
              <a:t>클래스, 인스턴스, 속성, 관계로 설비 정보를 나누어 적는다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개념</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관계의 표현</a:t>
            </a:r>
          </a:p>
          <a:p>
            <a:pPr algn="l">
              <a:lnSpc>
                <a:spcPct val="110000"/>
              </a:lnSpc>
              <a:spcAft>
                <a:spcPts val="400"/>
              </a:spcAft>
            </a:pPr>
            <a:r>
              <a:rPr sz="1350" b="0">
                <a:solidFill>
                  <a:srgbClr val="1F2A3A"/>
                </a:solidFill>
                <a:latin typeface="맑은 고딕"/>
                <a:ea typeface="맑은 고딕"/>
                <a:cs typeface="맑은 고딕"/>
              </a:rPr>
              <a:t>관계의 이름과 방향을 문장으로 읽어 맞는지 가린다</a:t>
            </a:r>
          </a:p>
        </p:txBody>
      </p:sp>
      <p:sp>
        <p:nvSpPr>
          <p:cNvPr id="22" name="Rounded Rectangle 21"/>
          <p:cNvSpPr/>
          <p:nvPr/>
        </p:nvSpPr>
        <p:spPr>
          <a:xfrm>
            <a:off x="6461607" y="523894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직접 표현하기</a:t>
            </a:r>
          </a:p>
          <a:p>
            <a:pPr algn="l">
              <a:lnSpc>
                <a:spcPct val="110000"/>
              </a:lnSpc>
              <a:spcAft>
                <a:spcPts val="400"/>
              </a:spcAft>
            </a:pPr>
            <a:r>
              <a:rPr sz="1350" b="0">
                <a:solidFill>
                  <a:srgbClr val="1F2A3A"/>
                </a:solidFill>
                <a:latin typeface="맑은 고딕"/>
                <a:ea typeface="맑은 고딕"/>
                <a:cs typeface="맑은 고딕"/>
              </a:rPr>
              <a:t>• 관계도를 그리고 파일로 적는다</a:t>
            </a:r>
          </a:p>
          <a:p>
            <a:pPr algn="l">
              <a:lnSpc>
                <a:spcPct val="110000"/>
              </a:lnSpc>
              <a:spcAft>
                <a:spcPts val="400"/>
              </a:spcAft>
            </a:pPr>
            <a:r>
              <a:rPr sz="1350" b="0">
                <a:solidFill>
                  <a:srgbClr val="1F2A3A"/>
                </a:solidFill>
                <a:latin typeface="맑은 고딕"/>
                <a:ea typeface="맑은 고딕"/>
                <a:cs typeface="맑은 고딕"/>
              </a:rPr>
              <a:t>• 그래프 DB에서 조회해 기준 지식과 견주어 보완한다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이상과 원인 · 조치의 관계 그리기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정보를 같은 기준으로 구조화하기</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그래프 DB에서 관계를 따라 조회하기</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기준 지식과 나의 설계 비교하기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설비 데이터의 의미와 관계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이후의 판단에 필요한 지식과 그것을 대상과 관계로 적는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 발생에서 조치 승인까지의 108초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경보는 조건을 벗어났다는 사실만 알리므로, 조치를 정하려면 </a:t>
            </a:r>
            <a:r>
              <a:rPr sz="1600" b="1">
                <a:solidFill>
                  <a:srgbClr val="1A6FC4"/>
                </a:solidFill>
                <a:latin typeface="맑은 고딕"/>
                <a:ea typeface="맑은 고딕"/>
                <a:cs typeface="맑은 고딕"/>
              </a:rPr>
              <a:t>원인</a:t>
            </a:r>
            <a:r>
              <a:rPr sz="1600" b="0">
                <a:solidFill>
                  <a:srgbClr val="556175"/>
                </a:solidFill>
                <a:latin typeface="맑은 고딕"/>
                <a:ea typeface="맑은 고딕"/>
                <a:cs typeface="맑은 고딕"/>
              </a:rPr>
              <a:t>을 먼저 가려야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발생 11:13:08</a:t>
            </a:r>
          </a:p>
          <a:p>
            <a:pPr algn="l">
              <a:lnSpc>
                <a:spcPct val="110000"/>
              </a:lnSpc>
              <a:spcAft>
                <a:spcPts val="400"/>
              </a:spcAft>
            </a:pPr>
            <a:r>
              <a:rPr sz="1400" b="0">
                <a:solidFill>
                  <a:srgbClr val="1F2A3A"/>
                </a:solidFill>
                <a:latin typeface="맑은 고딕"/>
                <a:ea typeface="맑은 고딕"/>
                <a:cs typeface="맑은 고딕"/>
              </a:rPr>
              <a:t>유온 55.71 ℃, 냉각 효율 46.2 %.</a:t>
            </a:r>
          </a:p>
          <a:p>
            <a:pPr algn="l">
              <a:lnSpc>
                <a:spcPct val="110000"/>
              </a:lnSpc>
              <a:spcAft>
                <a:spcPts val="400"/>
              </a:spcAft>
            </a:pPr>
            <a:r>
              <a:rPr sz="1400" b="0">
                <a:solidFill>
                  <a:srgbClr val="1F2A3A"/>
                </a:solidFill>
                <a:latin typeface="맑은 고딕"/>
                <a:ea typeface="맑은 고딕"/>
                <a:cs typeface="맑은 고딕"/>
              </a:rPr>
              <a:t>경보 조건이 성립했다.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108초 동안 한 일</a:t>
            </a:r>
          </a:p>
          <a:p>
            <a:pPr algn="l">
              <a:lnSpc>
                <a:spcPct val="110000"/>
              </a:lnSpc>
              <a:spcAft>
                <a:spcPts val="400"/>
              </a:spcAft>
            </a:pPr>
            <a:r>
              <a:rPr sz="1400" b="0">
                <a:solidFill>
                  <a:srgbClr val="1F2A3A"/>
                </a:solidFill>
                <a:latin typeface="맑은 고딕"/>
                <a:ea typeface="맑은 고딕"/>
                <a:cs typeface="맑은 고딕"/>
              </a:rPr>
              <a:t>원인 후보를 가리고 조치안을 비교한 시간이다. 그동안 유온은 61.8 ℃까지 올랐다.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조치 승인 11:14:56</a:t>
            </a:r>
          </a:p>
          <a:p>
            <a:pPr algn="l">
              <a:lnSpc>
                <a:spcPct val="110000"/>
              </a:lnSpc>
              <a:spcAft>
                <a:spcPts val="400"/>
              </a:spcAft>
            </a:pPr>
            <a:r>
              <a:rPr sz="1400" b="0">
                <a:solidFill>
                  <a:srgbClr val="1F2A3A"/>
                </a:solidFill>
                <a:latin typeface="맑은 고딕"/>
                <a:ea typeface="맑은 고딕"/>
                <a:cs typeface="맑은 고딕"/>
              </a:rPr>
              <a:t>운전원이 「팬 최대 운전」을 승인했고 팬 속도 100 % 명령이 내려갔다.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경보 해제 11:15:52</a:t>
            </a:r>
          </a:p>
          <a:p>
            <a:pPr algn="l">
              <a:lnSpc>
                <a:spcPct val="110000"/>
              </a:lnSpc>
              <a:spcAft>
                <a:spcPts val="400"/>
              </a:spcAft>
            </a:pPr>
            <a:r>
              <a:rPr sz="1400" b="0">
                <a:solidFill>
                  <a:srgbClr val="1F2A3A"/>
                </a:solidFill>
                <a:latin typeface="맑은 고딕"/>
                <a:ea typeface="맑은 고딕"/>
                <a:cs typeface="맑은 고딕"/>
              </a:rPr>
              <a:t>유온은 내려갔으나 냉각 효율은</a:t>
            </a:r>
          </a:p>
          <a:p>
            <a:pPr algn="l">
              <a:lnSpc>
                <a:spcPct val="110000"/>
              </a:lnSpc>
              <a:spcAft>
                <a:spcPts val="400"/>
              </a:spcAft>
            </a:pPr>
            <a:r>
              <a:rPr sz="1400" b="0">
                <a:solidFill>
                  <a:srgbClr val="1F2A3A"/>
                </a:solidFill>
                <a:latin typeface="맑은 고딕"/>
                <a:ea typeface="맑은 고딕"/>
                <a:cs typeface="맑은 고딕"/>
              </a:rPr>
              <a:t>55 %로, 기준 70 %에 못 미친다.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계측값, 이상 감지, 고장 진단, 조치 판단의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재는 일과 이상을 알리는 일은 시스템이 해 주지만, 원인을 가리고 조치를 정하는 일에는 지식이 더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gauge" descr="gauge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계측값</a:t>
            </a:r>
          </a:p>
          <a:p>
            <a:pPr algn="ctr">
              <a:lnSpc>
                <a:spcPct val="110000"/>
              </a:lnSpc>
              <a:spcAft>
                <a:spcPts val="400"/>
              </a:spcAft>
            </a:pPr>
            <a:r>
              <a:rPr sz="1350" b="0">
                <a:solidFill>
                  <a:srgbClr val="1F2A3A"/>
                </a:solidFill>
                <a:latin typeface="맑은 고딕"/>
                <a:ea typeface="맑은 고딕"/>
                <a:cs typeface="맑은 고딕"/>
              </a:rPr>
              <a:t>지금 얼마인가</a:t>
            </a:r>
          </a:p>
          <a:p>
            <a:pPr algn="ctr">
              <a:lnSpc>
                <a:spcPct val="110000"/>
              </a:lnSpc>
              <a:spcAft>
                <a:spcPts val="400"/>
              </a:spcAft>
            </a:pPr>
            <a:r>
              <a:rPr sz="1350" b="0">
                <a:solidFill>
                  <a:srgbClr val="1F2A3A"/>
                </a:solidFill>
                <a:latin typeface="맑은 고딕"/>
                <a:ea typeface="맑은 고딕"/>
                <a:cs typeface="맑은 고딕"/>
              </a:rPr>
              <a:t>TS1 55.71 ℃</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bell-ringing" descr="bell-ringing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이상 감지</a:t>
            </a:r>
          </a:p>
          <a:p>
            <a:pPr algn="ctr">
              <a:lnSpc>
                <a:spcPct val="110000"/>
              </a:lnSpc>
              <a:spcAft>
                <a:spcPts val="400"/>
              </a:spcAft>
            </a:pPr>
            <a:r>
              <a:rPr sz="1350" b="0">
                <a:solidFill>
                  <a:srgbClr val="1F2A3A"/>
                </a:solidFill>
                <a:latin typeface="맑은 고딕"/>
                <a:ea typeface="맑은 고딕"/>
                <a:cs typeface="맑은 고딕"/>
              </a:rPr>
              <a:t>기준을 벗어났는가</a:t>
            </a:r>
          </a:p>
          <a:p>
            <a:pPr algn="ctr">
              <a:lnSpc>
                <a:spcPct val="110000"/>
              </a:lnSpc>
              <a:spcAft>
                <a:spcPts val="400"/>
              </a:spcAft>
            </a:pPr>
            <a:r>
              <a:rPr sz="1350" b="0">
                <a:solidFill>
                  <a:srgbClr val="1F2A3A"/>
                </a:solidFill>
                <a:latin typeface="맑은 고딕"/>
                <a:ea typeface="맑은 고딕"/>
                <a:cs typeface="맑은 고딕"/>
              </a:rPr>
              <a:t>쿨러 성능 저하 경보</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진단</a:t>
            </a:r>
          </a:p>
          <a:p>
            <a:pPr algn="ctr">
              <a:lnSpc>
                <a:spcPct val="110000"/>
              </a:lnSpc>
              <a:spcAft>
                <a:spcPts val="400"/>
              </a:spcAft>
            </a:pPr>
            <a:r>
              <a:rPr sz="1350" b="0">
                <a:solidFill>
                  <a:srgbClr val="1F2A3A"/>
                </a:solidFill>
                <a:latin typeface="맑은 고딕"/>
                <a:ea typeface="맑은 고딕"/>
                <a:cs typeface="맑은 고딕"/>
              </a:rPr>
              <a:t>왜 벗어났는가</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22" name="Oval 21"/>
          <p:cNvSpPr/>
          <p:nvPr/>
        </p:nvSpPr>
        <p:spPr>
          <a:xfrm>
            <a:off x="9821913" y="2730627"/>
            <a:ext cx="868680" cy="868680"/>
          </a:xfrm>
          <a:prstGeom prst="ellipse">
            <a:avLst/>
          </a:prstGeom>
          <a:solidFill>
            <a:srgbClr val="5CB8F2"/>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조치 판단</a:t>
            </a:r>
          </a:p>
          <a:p>
            <a:pPr algn="ctr">
              <a:lnSpc>
                <a:spcPct val="110000"/>
              </a:lnSpc>
              <a:spcAft>
                <a:spcPts val="400"/>
              </a:spcAft>
            </a:pPr>
            <a:r>
              <a:rPr sz="1350" b="0">
                <a:solidFill>
                  <a:srgbClr val="1F2A3A"/>
                </a:solidFill>
                <a:latin typeface="맑은 고딕"/>
                <a:ea typeface="맑은 고딕"/>
                <a:cs typeface="맑은 고딕"/>
              </a:rPr>
              <a:t>무엇을 할 것인가</a:t>
            </a:r>
          </a:p>
          <a:p>
            <a:pPr algn="ctr">
              <a:lnSpc>
                <a:spcPct val="110000"/>
              </a:lnSpc>
              <a:spcAft>
                <a:spcPts val="400"/>
              </a:spcAft>
            </a:pPr>
            <a:r>
              <a:rPr sz="1350" b="0">
                <a:solidFill>
                  <a:srgbClr val="1F2A3A"/>
                </a:solidFill>
                <a:latin typeface="맑은 고딕"/>
                <a:ea typeface="맑은 고딕"/>
                <a:cs typeface="맑은 고딕"/>
              </a:rPr>
              <a:t>팬 최대 운전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경보에 대한 세 가지 원인 후보와 판별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유온 상승 경보에 원인 후보가 셋이며, 후보를 가르는 증거는 유온이 아닌 </a:t>
            </a:r>
            <a:r>
              <a:rPr sz="1600" b="1">
                <a:solidFill>
                  <a:srgbClr val="1A6FC4"/>
                </a:solidFill>
                <a:latin typeface="맑은 고딕"/>
                <a:ea typeface="맑은 고딕"/>
                <a:cs typeface="맑은 고딕"/>
              </a:rPr>
              <a:t>다른 센서 값</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원인후보.svg" descr="illust_3565215839905215536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주는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 46.2 %</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 0.575 mm/s</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 28 ℃</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 · VS1 0.9 미만이면 해당</a:t>
            </a:r>
          </a:p>
          <a:p>
            <a:pPr algn="ctr">
              <a:lnSpc>
                <a:spcPct val="110000"/>
              </a:lnSpc>
              <a:spcAft>
                <a:spcPts val="100"/>
              </a:spcAft>
            </a:pPr>
            <a:r>
              <a:rPr sz="1300" b="0">
                <a:solidFill>
                  <a:srgbClr val="556175"/>
                </a:solidFill>
                <a:latin typeface="맑은 고딕"/>
                <a:ea typeface="맑은 고딕"/>
                <a:cs typeface="맑은 고딕"/>
              </a:rPr>
              <a:t>잰 값이 조건에 맞는다</a:t>
            </a:r>
          </a:p>
        </p:txBody>
      </p:sp>
      <p:sp>
        <p:nvSpPr>
          <p:cNvPr id="12" name="TextBox 11"/>
          <p:cNvSpPr txBox="1"/>
          <p:nvPr/>
        </p:nvSpPr>
        <p:spPr>
          <a:xfrm>
            <a:off x="7394077" y="3627342"/>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이상이면 해당</a:t>
            </a:r>
          </a:p>
          <a:p>
            <a:pPr algn="ctr">
              <a:lnSpc>
                <a:spcPct val="110000"/>
              </a:lnSpc>
              <a:spcAft>
                <a:spcPts val="100"/>
              </a:spcAft>
            </a:pPr>
            <a:r>
              <a:rPr sz="1300" b="0">
                <a:solidFill>
                  <a:srgbClr val="556175"/>
                </a:solidFill>
                <a:latin typeface="맑은 고딕"/>
                <a:ea typeface="맑은 고딕"/>
                <a:cs typeface="맑은 고딕"/>
              </a:rPr>
              <a:t>잰 값 0.575 → 해당하지 않는다</a:t>
            </a:r>
          </a:p>
        </p:txBody>
      </p:sp>
      <p:sp>
        <p:nvSpPr>
          <p:cNvPr id="13" name="TextBox 12"/>
          <p:cNvSpPr txBox="1"/>
          <p:nvPr/>
        </p:nvSpPr>
        <p:spPr>
          <a:xfrm>
            <a:off x="7394077" y="5102306"/>
            <a:ext cx="403651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이상이면 해당</a:t>
            </a:r>
          </a:p>
          <a:p>
            <a:pPr algn="ctr">
              <a:lnSpc>
                <a:spcPct val="110000"/>
              </a:lnSpc>
              <a:spcAft>
                <a:spcPts val="100"/>
              </a:spcAft>
            </a:pPr>
            <a:r>
              <a:rPr sz="1300" b="0">
                <a:solidFill>
                  <a:srgbClr val="556175"/>
                </a:solidFill>
                <a:latin typeface="맑은 고딕"/>
                <a:ea typeface="맑은 고딕"/>
                <a:cs typeface="맑은 고딕"/>
              </a:rPr>
              <a:t>잰 값 28 ℃ → 해당하지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원인에 따라 달라지는 근본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증상이 같아도 원인이 다르면 원인을 없애는 조치가 달라지므로 원인을 가리지 않고는 조치를 정할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오염</a:t>
            </a:r>
          </a:p>
          <a:p>
            <a:pPr algn="l">
              <a:lnSpc>
                <a:spcPct val="110000"/>
              </a:lnSpc>
              <a:spcAft>
                <a:spcPts val="400"/>
              </a:spcAft>
            </a:pPr>
            <a:r>
              <a:rPr sz="1400" b="0">
                <a:solidFill>
                  <a:srgbClr val="1F2A3A"/>
                </a:solidFill>
                <a:latin typeface="맑은 고딕"/>
                <a:ea typeface="맑은 고딕"/>
                <a:cs typeface="맑은 고딕"/>
              </a:rPr>
              <a:t>• 쿨러의 핀을 세척한다</a:t>
            </a:r>
          </a:p>
          <a:p>
            <a:pPr algn="l">
              <a:lnSpc>
                <a:spcPct val="110000"/>
              </a:lnSpc>
              <a:spcAft>
                <a:spcPts val="400"/>
              </a:spcAft>
            </a:pPr>
            <a:r>
              <a:rPr sz="1400" b="0">
                <a:solidFill>
                  <a:srgbClr val="1F2A3A"/>
                </a:solidFill>
                <a:latin typeface="맑은 고딕"/>
                <a:ea typeface="맑은 고딕"/>
                <a:cs typeface="맑은 고딕"/>
              </a:rPr>
              <a:t>• 막힌 핀이 열려 냉각 효율이 돌아온다</a:t>
            </a:r>
          </a:p>
        </p:txBody>
      </p:sp>
      <p:sp>
        <p:nvSpPr>
          <p:cNvPr id="10" name="Rounded Rectangle 9"/>
          <p:cNvSpPr/>
          <p:nvPr/>
        </p:nvSpPr>
        <p:spPr>
          <a:xfrm>
            <a:off x="777240" y="5041392"/>
            <a:ext cx="1450847"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5084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핀이 막힘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구동 불량</a:t>
            </a:r>
          </a:p>
          <a:p>
            <a:pPr algn="l">
              <a:lnSpc>
                <a:spcPct val="110000"/>
              </a:lnSpc>
              <a:spcAft>
                <a:spcPts val="400"/>
              </a:spcAft>
            </a:pPr>
            <a:r>
              <a:rPr sz="1400" b="0">
                <a:solidFill>
                  <a:srgbClr val="1F2A3A"/>
                </a:solidFill>
                <a:latin typeface="맑은 고딕"/>
                <a:ea typeface="맑은 고딕"/>
                <a:cs typeface="맑은 고딕"/>
              </a:rPr>
              <a:t>• 쿨러 팬의 벨트를 점검한다</a:t>
            </a:r>
          </a:p>
          <a:p>
            <a:pPr algn="l">
              <a:lnSpc>
                <a:spcPct val="110000"/>
              </a:lnSpc>
              <a:spcAft>
                <a:spcPts val="400"/>
              </a:spcAft>
            </a:pPr>
            <a:r>
              <a:rPr sz="1400" b="0">
                <a:solidFill>
                  <a:srgbClr val="1F2A3A"/>
                </a:solidFill>
                <a:latin typeface="맑은 고딕"/>
                <a:ea typeface="맑은 고딕"/>
                <a:cs typeface="맑은 고딕"/>
              </a:rPr>
              <a:t>• 팬이 제 속도를 내야 바람이 충분해진다</a:t>
            </a:r>
          </a:p>
        </p:txBody>
      </p:sp>
      <p:sp>
        <p:nvSpPr>
          <p:cNvPr id="16" name="Rounded Rectangle 15"/>
          <p:cNvSpPr/>
          <p:nvPr/>
        </p:nvSpPr>
        <p:spPr>
          <a:xfrm>
            <a:off x="4566818" y="5041392"/>
            <a:ext cx="149656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팬이 덜 돎</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wind" descr="wind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주변 온도 상승</a:t>
            </a:r>
          </a:p>
          <a:p>
            <a:pPr algn="l">
              <a:lnSpc>
                <a:spcPct val="110000"/>
              </a:lnSpc>
              <a:spcAft>
                <a:spcPts val="400"/>
              </a:spcAft>
            </a:pPr>
            <a:r>
              <a:rPr sz="1400" b="0">
                <a:solidFill>
                  <a:srgbClr val="1F2A3A"/>
                </a:solidFill>
                <a:latin typeface="맑은 고딕"/>
                <a:ea typeface="맑은 고딕"/>
                <a:cs typeface="맑은 고딕"/>
              </a:rPr>
              <a:t>• 캐비닛의 환기를 보강한다</a:t>
            </a:r>
          </a:p>
          <a:p>
            <a:pPr algn="l">
              <a:lnSpc>
                <a:spcPct val="110000"/>
              </a:lnSpc>
              <a:spcAft>
                <a:spcPts val="400"/>
              </a:spcAft>
            </a:pPr>
            <a:r>
              <a:rPr sz="1400" b="0">
                <a:solidFill>
                  <a:srgbClr val="1F2A3A"/>
                </a:solidFill>
                <a:latin typeface="맑은 고딕"/>
                <a:ea typeface="맑은 고딕"/>
                <a:cs typeface="맑은 고딕"/>
              </a:rPr>
              <a:t>• 쿨러로 들어가는 공기의 온도를 낮춘다</a:t>
            </a:r>
          </a:p>
        </p:txBody>
      </p:sp>
      <p:sp>
        <p:nvSpPr>
          <p:cNvPr id="22" name="Rounded Rectangle 21"/>
          <p:cNvSpPr/>
          <p:nvPr/>
        </p:nvSpPr>
        <p:spPr>
          <a:xfrm>
            <a:off x="8356396" y="5041392"/>
            <a:ext cx="210616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1061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둘레의 공기가 더움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정보, 지식의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수치에 의미를 붙이면 정보가 되고, 정보가 다른 대상과 이어져 판단에 쓰일 수 있을 때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hash" descr="hash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데이터</a:t>
            </a:r>
          </a:p>
          <a:p>
            <a:pPr algn="ctr">
              <a:lnSpc>
                <a:spcPct val="110000"/>
              </a:lnSpc>
              <a:spcAft>
                <a:spcPts val="400"/>
              </a:spcAft>
            </a:pPr>
            <a:r>
              <a:rPr sz="1350" b="0">
                <a:solidFill>
                  <a:srgbClr val="1F2A3A"/>
                </a:solidFill>
                <a:latin typeface="맑은 고딕"/>
                <a:ea typeface="맑은 고딕"/>
                <a:cs typeface="맑은 고딕"/>
              </a:rPr>
              <a:t>개별 수치이다</a:t>
            </a:r>
          </a:p>
          <a:p>
            <a:pPr algn="ctr">
              <a:lnSpc>
                <a:spcPct val="110000"/>
              </a:lnSpc>
              <a:spcAft>
                <a:spcPts val="400"/>
              </a:spcAft>
            </a:pPr>
            <a:r>
              <a:rPr sz="1350" b="0">
                <a:solidFill>
                  <a:srgbClr val="1F2A3A"/>
                </a:solidFill>
                <a:latin typeface="맑은 고딕"/>
                <a:ea typeface="맑은 고딕"/>
                <a:cs typeface="맑은 고딕"/>
              </a:rPr>
              <a:t>55.71</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info-circle" descr="info-circle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a:t>
            </a:r>
          </a:p>
          <a:p>
            <a:pPr algn="ctr">
              <a:lnSpc>
                <a:spcPct val="110000"/>
              </a:lnSpc>
              <a:spcAft>
                <a:spcPts val="400"/>
              </a:spcAft>
            </a:pPr>
            <a:r>
              <a:rPr sz="1350" b="0">
                <a:solidFill>
                  <a:srgbClr val="1F2A3A"/>
                </a:solidFill>
                <a:latin typeface="맑은 고딕"/>
                <a:ea typeface="맑은 고딕"/>
                <a:cs typeface="맑은 고딕"/>
              </a:rPr>
              <a:t>수치에 의미를 붙인 것이다</a:t>
            </a:r>
          </a:p>
          <a:p>
            <a:pPr algn="ctr">
              <a:lnSpc>
                <a:spcPct val="110000"/>
              </a:lnSpc>
              <a:spcAft>
                <a:spcPts val="400"/>
              </a:spcAft>
            </a:pPr>
            <a:r>
              <a:rPr sz="1350" b="0">
                <a:solidFill>
                  <a:srgbClr val="1F2A3A"/>
                </a:solidFill>
                <a:latin typeface="맑은 고딕"/>
                <a:ea typeface="맑은 고딕"/>
                <a:cs typeface="맑은 고딕"/>
              </a:rPr>
              <a:t>HYD-01의 유온 TS1이 55.71 ℃로</a:t>
            </a:r>
          </a:p>
          <a:p>
            <a:pPr algn="ctr">
              <a:lnSpc>
                <a:spcPct val="110000"/>
              </a:lnSpc>
              <a:spcAft>
                <a:spcPts val="400"/>
              </a:spcAft>
            </a:pPr>
            <a:r>
              <a:rPr sz="1350" b="0">
                <a:solidFill>
                  <a:srgbClr val="1F2A3A"/>
                </a:solidFill>
                <a:latin typeface="맑은 고딕"/>
                <a:ea typeface="맑은 고딕"/>
                <a:cs typeface="맑은 고딕"/>
              </a:rPr>
              <a:t>기준 55 ℃를 넘었다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bulb" descr="bulb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지식</a:t>
            </a:r>
          </a:p>
          <a:p>
            <a:pPr algn="ctr">
              <a:lnSpc>
                <a:spcPct val="110000"/>
              </a:lnSpc>
              <a:spcAft>
                <a:spcPts val="400"/>
              </a:spcAft>
            </a:pPr>
            <a:r>
              <a:rPr sz="1350" b="0">
                <a:solidFill>
                  <a:srgbClr val="1F2A3A"/>
                </a:solidFill>
                <a:latin typeface="맑은 고딕"/>
                <a:ea typeface="맑은 고딕"/>
                <a:cs typeface="맑은 고딕"/>
              </a:rPr>
              <a:t>판단에 쓸 수 있게 이어진 것이다</a:t>
            </a:r>
          </a:p>
          <a:p>
            <a:pPr algn="ctr">
              <a:lnSpc>
                <a:spcPct val="110000"/>
              </a:lnSpc>
              <a:spcAft>
                <a:spcPts val="400"/>
              </a:spcAft>
            </a:pPr>
            <a:r>
              <a:rPr sz="1350" b="0">
                <a:solidFill>
                  <a:srgbClr val="1F2A3A"/>
                </a:solidFill>
                <a:latin typeface="맑은 고딕"/>
                <a:ea typeface="맑은 고딕"/>
                <a:cs typeface="맑은 고딕"/>
              </a:rPr>
              <a:t>유온 상승과 냉각 효율 저하는</a:t>
            </a:r>
          </a:p>
          <a:p>
            <a:pPr algn="ctr">
              <a:lnSpc>
                <a:spcPct val="110000"/>
              </a:lnSpc>
              <a:spcAft>
                <a:spcPts val="400"/>
              </a:spcAft>
            </a:pPr>
            <a:r>
              <a:rPr sz="1350" b="0">
                <a:solidFill>
                  <a:srgbClr val="1F2A3A"/>
                </a:solidFill>
                <a:latin typeface="맑은 고딕"/>
                <a:ea typeface="맑은 고딕"/>
                <a:cs typeface="맑은 고딕"/>
              </a:rPr>
              <a:t>쿨러의 냉각 성능 상실을 가리킨다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판단에 쓰이는 정보가 놓인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가리고 조치를 정하는 데 필요한 정보는 서로 다른 시스템과 문서에 </a:t>
            </a:r>
            <a:r>
              <a:rPr sz="1600" b="1">
                <a:solidFill>
                  <a:srgbClr val="1A6FC4"/>
                </a:solidFill>
                <a:latin typeface="맑은 고딕"/>
                <a:ea typeface="맑은 고딕"/>
                <a:cs typeface="맑은 고딕"/>
              </a:rPr>
              <a:t>흩어져</a:t>
            </a:r>
            <a:r>
              <a:rPr sz="1600" b="0">
                <a:solidFill>
                  <a:srgbClr val="556175"/>
                </a:solidFill>
                <a:latin typeface="맑은 고딕"/>
                <a:ea typeface="맑은 고딕"/>
                <a:cs typeface="맑은 고딕"/>
              </a:rPr>
              <a:t>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흩어진정보.svg" descr="illust_458628223914376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TimescaleDB</a:t>
            </a:r>
          </a:p>
          <a:p>
            <a:pPr algn="ctr">
              <a:lnSpc>
                <a:spcPct val="110000"/>
              </a:lnSpc>
              <a:spcAft>
                <a:spcPts val="100"/>
              </a:spcAft>
            </a:pPr>
            <a:r>
              <a:rPr sz="1300" b="0">
                <a:solidFill>
                  <a:srgbClr val="556175"/>
                </a:solidFill>
                <a:latin typeface="맑은 고딕"/>
                <a:ea typeface="맑은 고딕"/>
                <a:cs typeface="맑은 고딕"/>
              </a:rPr>
              <a:t>시계열 DB · 지금의 센서 값</a:t>
            </a:r>
          </a:p>
          <a:p>
            <a:pPr algn="ctr">
              <a:lnSpc>
                <a:spcPct val="110000"/>
              </a:lnSpc>
              <a:spcAft>
                <a:spcPts val="100"/>
              </a:spcAft>
            </a:pPr>
            <a:r>
              <a:rPr sz="1300" b="0">
                <a:solidFill>
                  <a:srgbClr val="556175"/>
                </a:solidFill>
                <a:latin typeface="맑은 고딕"/>
                <a:ea typeface="맑은 고딕"/>
                <a:cs typeface="맑은 고딕"/>
              </a:rPr>
              <a:t>CE 46.2 % · TS4 28 ℃</a:t>
            </a:r>
          </a:p>
        </p:txBody>
      </p:sp>
      <p:sp>
        <p:nvSpPr>
          <p:cNvPr id="8" name="TextBox 7"/>
          <p:cNvSpPr txBox="1"/>
          <p:nvPr/>
        </p:nvSpPr>
        <p:spPr>
          <a:xfrm>
            <a:off x="728376" y="5244129"/>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PLC의 상태 메시지</a:t>
            </a:r>
          </a:p>
          <a:p>
            <a:pPr algn="ctr">
              <a:lnSpc>
                <a:spcPct val="110000"/>
              </a:lnSpc>
              <a:spcAft>
                <a:spcPts val="100"/>
              </a:spcAft>
            </a:pPr>
            <a:r>
              <a:rPr sz="1300" b="0">
                <a:solidFill>
                  <a:srgbClr val="556175"/>
                </a:solidFill>
                <a:latin typeface="맑은 고딕"/>
                <a:ea typeface="맑은 고딕"/>
                <a:cs typeface="맑은 고딕"/>
              </a:rPr>
              <a:t>Programmable Logic Controller</a:t>
            </a:r>
          </a:p>
          <a:p>
            <a:pPr algn="ctr">
              <a:lnSpc>
                <a:spcPct val="110000"/>
              </a:lnSpc>
              <a:spcAft>
                <a:spcPts val="100"/>
              </a:spcAft>
            </a:pPr>
            <a:r>
              <a:rPr sz="1300" b="0">
                <a:solidFill>
                  <a:srgbClr val="556175"/>
                </a:solidFill>
                <a:latin typeface="맑은 고딕"/>
                <a:ea typeface="맑은 고딕"/>
                <a:cs typeface="맑은 고딕"/>
              </a:rPr>
              <a:t>설비의 운전 상태</a:t>
            </a:r>
          </a:p>
          <a:p>
            <a:pPr algn="ctr">
              <a:lnSpc>
                <a:spcPct val="110000"/>
              </a:lnSpc>
              <a:spcAft>
                <a:spcPts val="100"/>
              </a:spcAft>
            </a:pPr>
            <a:r>
              <a:rPr sz="1300" b="0">
                <a:solidFill>
                  <a:srgbClr val="556175"/>
                </a:solidFill>
                <a:latin typeface="맑은 고딕"/>
                <a:ea typeface="맑은 고딕"/>
                <a:cs typeface="맑은 고딕"/>
              </a:rPr>
              <a:t>원격 자동 · 팬 60 %</a:t>
            </a:r>
          </a:p>
        </p:txBody>
      </p:sp>
      <p:sp>
        <p:nvSpPr>
          <p:cNvPr id="9" name="TextBox 8"/>
          <p:cNvSpPr txBox="1"/>
          <p:nvPr/>
        </p:nvSpPr>
        <p:spPr>
          <a:xfrm>
            <a:off x="8070466" y="3022229"/>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매뉴얼 HM-8</a:t>
            </a:r>
          </a:p>
          <a:p>
            <a:pPr algn="ctr">
              <a:lnSpc>
                <a:spcPct val="110000"/>
              </a:lnSpc>
              <a:spcAft>
                <a:spcPts val="100"/>
              </a:spcAft>
            </a:pPr>
            <a:r>
              <a:rPr sz="1300" b="0">
                <a:solidFill>
                  <a:srgbClr val="556175"/>
                </a:solidFill>
                <a:latin typeface="맑은 고딕"/>
                <a:ea typeface="맑은 고딕"/>
                <a:cs typeface="맑은 고딕"/>
              </a:rPr>
              <a:t>원인 후보와 판별 기준</a:t>
            </a:r>
          </a:p>
          <a:p>
            <a:pPr algn="ctr">
              <a:lnSpc>
                <a:spcPct val="110000"/>
              </a:lnSpc>
              <a:spcAft>
                <a:spcPts val="100"/>
              </a:spcAft>
            </a:pPr>
            <a:r>
              <a:rPr sz="1300" b="0">
                <a:solidFill>
                  <a:srgbClr val="556175"/>
                </a:solidFill>
                <a:latin typeface="맑은 고딕"/>
                <a:ea typeface="맑은 고딕"/>
                <a:cs typeface="맑은 고딕"/>
              </a:rPr>
              <a:t>조치 방법</a:t>
            </a:r>
          </a:p>
        </p:txBody>
      </p:sp>
      <p:sp>
        <p:nvSpPr>
          <p:cNvPr id="10" name="TextBox 9"/>
          <p:cNvSpPr txBox="1"/>
          <p:nvPr/>
        </p:nvSpPr>
        <p:spPr>
          <a:xfrm>
            <a:off x="7743181" y="5244129"/>
            <a:ext cx="370922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MES</a:t>
            </a:r>
          </a:p>
          <a:p>
            <a:pPr algn="ctr">
              <a:lnSpc>
                <a:spcPct val="110000"/>
              </a:lnSpc>
              <a:spcAft>
                <a:spcPts val="100"/>
              </a:spcAft>
            </a:pPr>
            <a:r>
              <a:rPr sz="1300" b="0">
                <a:solidFill>
                  <a:srgbClr val="556175"/>
                </a:solidFill>
                <a:latin typeface="맑은 고딕"/>
                <a:ea typeface="맑은 고딕"/>
                <a:cs typeface="맑은 고딕"/>
              </a:rPr>
              <a:t>Manufacturing Execution System</a:t>
            </a:r>
          </a:p>
          <a:p>
            <a:pPr algn="ctr">
              <a:lnSpc>
                <a:spcPct val="110000"/>
              </a:lnSpc>
              <a:spcAft>
                <a:spcPts val="100"/>
              </a:spcAft>
            </a:pPr>
            <a:r>
              <a:rPr sz="1300" b="0">
                <a:solidFill>
                  <a:srgbClr val="556175"/>
                </a:solidFill>
                <a:latin typeface="맑은 고딕"/>
                <a:ea typeface="맑은 고딕"/>
                <a:cs typeface="맑은 고딕"/>
              </a:rPr>
              <a:t>생산 일정의 제약</a:t>
            </a:r>
          </a:p>
          <a:p>
            <a:pPr algn="ctr">
              <a:lnSpc>
                <a:spcPct val="110000"/>
              </a:lnSpc>
              <a:spcAft>
                <a:spcPts val="100"/>
              </a:spcAft>
            </a:pPr>
            <a:r>
              <a:rPr sz="1300" b="0">
                <a:solidFill>
                  <a:srgbClr val="556175"/>
                </a:solidFill>
                <a:latin typeface="맑은 고딕"/>
                <a:ea typeface="맑은 고딕"/>
                <a:cs typeface="맑은 고딕"/>
              </a:rPr>
              <a:t>긴급 오더 납기까지 5.98시간</a:t>
            </a:r>
          </a:p>
        </p:txBody>
      </p:sp>
      <p:sp>
        <p:nvSpPr>
          <p:cNvPr id="11" name="TextBox 10"/>
          <p:cNvSpPr txBox="1"/>
          <p:nvPr/>
        </p:nvSpPr>
        <p:spPr>
          <a:xfrm>
            <a:off x="4677613" y="429864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머릿속에서 잇는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머릿속에 있는 연결은 사람마다 다르고 그 사람이 없으면 쓸 수 없으며 컴퓨터가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사람마다 다르다</a:t>
            </a:r>
          </a:p>
          <a:p>
            <a:pPr algn="l">
              <a:lnSpc>
                <a:spcPct val="110000"/>
              </a:lnSpc>
              <a:spcAft>
                <a:spcPts val="400"/>
              </a:spcAft>
            </a:pPr>
            <a:r>
              <a:rPr sz="1400" b="0">
                <a:solidFill>
                  <a:srgbClr val="1F2A3A"/>
                </a:solidFill>
                <a:latin typeface="맑은 고딕"/>
                <a:ea typeface="맑은 고딕"/>
                <a:cs typeface="맑은 고딕"/>
              </a:rPr>
              <a:t>• 같은 경보에서 떠올리는 후보와 확인하는 순서가 경험에 따라 달라진다</a:t>
            </a:r>
          </a:p>
          <a:p>
            <a:pPr algn="l">
              <a:lnSpc>
                <a:spcPct val="110000"/>
              </a:lnSpc>
              <a:spcAft>
                <a:spcPts val="400"/>
              </a:spcAft>
            </a:pPr>
            <a:r>
              <a:rPr sz="1400" b="0">
                <a:solidFill>
                  <a:srgbClr val="1F2A3A"/>
                </a:solidFill>
                <a:latin typeface="맑은 고딕"/>
                <a:ea typeface="맑은 고딕"/>
                <a:cs typeface="맑은 고딕"/>
              </a:rPr>
              <a:t>• 판단의 근거가 기록으로 남지 않는다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일관성</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user-off" descr="user-off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자리에 없으면 멈춘다</a:t>
            </a:r>
          </a:p>
          <a:p>
            <a:pPr algn="l">
              <a:lnSpc>
                <a:spcPct val="110000"/>
              </a:lnSpc>
              <a:spcAft>
                <a:spcPts val="400"/>
              </a:spcAft>
            </a:pPr>
            <a:r>
              <a:rPr sz="1400" b="0">
                <a:solidFill>
                  <a:srgbClr val="1F2A3A"/>
                </a:solidFill>
                <a:latin typeface="맑은 고딕"/>
                <a:ea typeface="맑은 고딕"/>
                <a:cs typeface="맑은 고딕"/>
              </a:rPr>
              <a:t>• 숙련자가 없는 시간에는 판단이 늦어진다</a:t>
            </a:r>
          </a:p>
          <a:p>
            <a:pPr algn="l">
              <a:lnSpc>
                <a:spcPct val="110000"/>
              </a:lnSpc>
              <a:spcAft>
                <a:spcPts val="400"/>
              </a:spcAft>
            </a:pPr>
            <a:r>
              <a:rPr sz="1400" b="0">
                <a:solidFill>
                  <a:srgbClr val="1F2A3A"/>
                </a:solidFill>
                <a:latin typeface="맑은 고딕"/>
                <a:ea typeface="맑은 고딕"/>
                <a:cs typeface="맑은 고딕"/>
              </a:rPr>
              <a:t>• 이 사건에서 유온은 경보 뒤 2분이 안 되어 61.8 ℃까지 올랐다</a:t>
            </a:r>
          </a:p>
        </p:txBody>
      </p:sp>
      <p:sp>
        <p:nvSpPr>
          <p:cNvPr id="16" name="Rounded Rectangle 15"/>
          <p:cNvSpPr/>
          <p:nvPr/>
        </p:nvSpPr>
        <p:spPr>
          <a:xfrm>
            <a:off x="4566818" y="5258308"/>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가용성</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따라갈 수 없다</a:t>
            </a:r>
          </a:p>
          <a:p>
            <a:pPr algn="l">
              <a:lnSpc>
                <a:spcPct val="110000"/>
              </a:lnSpc>
              <a:spcAft>
                <a:spcPts val="400"/>
              </a:spcAft>
            </a:pPr>
            <a:r>
              <a:rPr sz="1400" b="0">
                <a:solidFill>
                  <a:srgbClr val="1F2A3A"/>
                </a:solidFill>
                <a:latin typeface="맑은 고딕"/>
                <a:ea typeface="맑은 고딕"/>
                <a:cs typeface="맑은 고딕"/>
              </a:rPr>
              <a:t>• 연결이 어디에도 적혀 있지 않다</a:t>
            </a:r>
          </a:p>
          <a:p>
            <a:pPr algn="l">
              <a:lnSpc>
                <a:spcPct val="110000"/>
              </a:lnSpc>
              <a:spcAft>
                <a:spcPts val="400"/>
              </a:spcAft>
            </a:pPr>
            <a:r>
              <a:rPr sz="1400" b="0">
                <a:solidFill>
                  <a:srgbClr val="1F2A3A"/>
                </a:solidFill>
                <a:latin typeface="맑은 고딕"/>
                <a:ea typeface="맑은 고딕"/>
                <a:cs typeface="맑은 고딕"/>
              </a:rPr>
              <a:t>• 프로그램이나 AI가 같은 길을 밟을 수 없다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자동화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AI에게 그대로 묻는 방식과 지식을 조회하게 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AI는 이 설비의 지식과 지금의 값을 갖고 있지 않으므로, 근거가 되는 지식을 조회하게 해야 답을 믿을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message-chatbot" descr="message-chatbot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AI에게 그대로 묻는다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일반적인 유압 설비 지식으로 그럴듯한 답을 낸다</a:t>
            </a:r>
          </a:p>
          <a:p>
            <a:pPr algn="l">
              <a:lnSpc>
                <a:spcPct val="110000"/>
              </a:lnSpc>
              <a:spcAft>
                <a:spcPts val="600"/>
              </a:spcAft>
            </a:pPr>
            <a:r>
              <a:rPr sz="1450" b="0">
                <a:solidFill>
                  <a:srgbClr val="1F2A3A"/>
                </a:solidFill>
                <a:latin typeface="맑은 고딕"/>
                <a:ea typeface="맑은 고딕"/>
                <a:cs typeface="맑은 고딕"/>
              </a:rPr>
              <a:t>• 이 설비의 매뉴얼과 판별 기준을 알지 못한다</a:t>
            </a:r>
          </a:p>
          <a:p>
            <a:pPr algn="l">
              <a:lnSpc>
                <a:spcPct val="110000"/>
              </a:lnSpc>
              <a:spcAft>
                <a:spcPts val="600"/>
              </a:spcAft>
            </a:pPr>
            <a:r>
              <a:rPr sz="1450" b="0">
                <a:solidFill>
                  <a:srgbClr val="1F2A3A"/>
                </a:solidFill>
                <a:latin typeface="맑은 고딕"/>
                <a:ea typeface="맑은 고딕"/>
                <a:cs typeface="맑은 고딕"/>
              </a:rPr>
              <a:t>• 지금의 센서 값을 보지 못한다</a:t>
            </a:r>
          </a:p>
          <a:p>
            <a:pPr algn="l">
              <a:lnSpc>
                <a:spcPct val="110000"/>
              </a:lnSpc>
              <a:spcAft>
                <a:spcPts val="600"/>
              </a:spcAft>
            </a:pPr>
            <a:r>
              <a:rPr sz="1450" b="0">
                <a:solidFill>
                  <a:srgbClr val="1F2A3A"/>
                </a:solidFill>
                <a:latin typeface="맑은 고딕"/>
                <a:ea typeface="맑은 고딕"/>
                <a:cs typeface="맑은 고딕"/>
              </a:rPr>
              <a:t>• 답의 근거를 확인할 방법이 없다</a:t>
            </a:r>
          </a:p>
        </p:txBody>
      </p:sp>
      <p:sp>
        <p:nvSpPr>
          <p:cNvPr id="11" name="Rounded Rectangle 10"/>
          <p:cNvSpPr/>
          <p:nvPr/>
        </p:nvSpPr>
        <p:spPr>
          <a:xfrm>
            <a:off x="868680" y="5246433"/>
            <a:ext cx="18745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근거를 확인할 수 없다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report-search" descr="report-searc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조회하게 한다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적어 둔 관계를 따라 원인 후보와 판별 기준을 찾는다</a:t>
            </a:r>
          </a:p>
          <a:p>
            <a:pPr algn="l">
              <a:lnSpc>
                <a:spcPct val="110000"/>
              </a:lnSpc>
              <a:spcAft>
                <a:spcPts val="600"/>
              </a:spcAft>
            </a:pPr>
            <a:r>
              <a:rPr sz="1450" b="0">
                <a:solidFill>
                  <a:srgbClr val="1F2A3A"/>
                </a:solidFill>
                <a:latin typeface="맑은 고딕"/>
                <a:ea typeface="맑은 고딕"/>
                <a:cs typeface="맑은 고딕"/>
              </a:rPr>
              <a:t>• 기준에 적힌 값을 저장소에서 읽어 대조한다</a:t>
            </a:r>
          </a:p>
          <a:p>
            <a:pPr algn="l">
              <a:lnSpc>
                <a:spcPct val="110000"/>
              </a:lnSpc>
              <a:spcAft>
                <a:spcPts val="600"/>
              </a:spcAft>
            </a:pPr>
            <a:r>
              <a:rPr sz="1450" b="0">
                <a:solidFill>
                  <a:srgbClr val="1F2A3A"/>
                </a:solidFill>
                <a:latin typeface="맑은 고딕"/>
                <a:ea typeface="맑은 고딕"/>
                <a:cs typeface="맑은 고딕"/>
              </a:rPr>
              <a:t>• 값이 오래되었거나 비어 있으면 판정을 보류한다</a:t>
            </a:r>
          </a:p>
          <a:p>
            <a:pPr algn="l">
              <a:lnSpc>
                <a:spcPct val="110000"/>
              </a:lnSpc>
              <a:spcAft>
                <a:spcPts val="600"/>
              </a:spcAft>
            </a:pPr>
            <a:r>
              <a:rPr sz="1450" b="0">
                <a:solidFill>
                  <a:srgbClr val="1F2A3A"/>
                </a:solidFill>
                <a:latin typeface="맑은 고딕"/>
                <a:ea typeface="맑은 고딕"/>
                <a:cs typeface="맑은 고딕"/>
              </a:rPr>
              <a:t>• 어떤 지식과 값으로 판단했는지가 기록에 남는다</a:t>
            </a:r>
          </a:p>
        </p:txBody>
      </p:sp>
      <p:sp>
        <p:nvSpPr>
          <p:cNvPr id="18" name="Rounded Rectangle 17"/>
          <p:cNvSpPr/>
          <p:nvPr/>
        </p:nvSpPr>
        <p:spPr>
          <a:xfrm>
            <a:off x="6781647" y="5246433"/>
            <a:ext cx="132587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필요한 것: 사람과 컴퓨터가 함께 읽는 관계의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필요한 것은 대상과 그 사이의 관계를 사람도 검토할 수 있고 컴퓨터도 따라갈 수 있게 적어 둔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사람이 검토한다</a:t>
            </a:r>
          </a:p>
          <a:p>
            <a:pPr algn="l">
              <a:lnSpc>
                <a:spcPct val="110000"/>
              </a:lnSpc>
              <a:spcAft>
                <a:spcPts val="400"/>
              </a:spcAft>
            </a:pPr>
            <a:r>
              <a:rPr sz="1400" b="0">
                <a:solidFill>
                  <a:srgbClr val="1F2A3A"/>
                </a:solidFill>
                <a:latin typeface="맑은 고딕"/>
                <a:ea typeface="맑은 고딕"/>
                <a:cs typeface="맑은 고딕"/>
              </a:rPr>
              <a:t>현장 담당자가 읽고 맞는지 확인할 수 있어야 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컴퓨터가 따라간다</a:t>
            </a:r>
          </a:p>
          <a:p>
            <a:pPr algn="l">
              <a:lnSpc>
                <a:spcPct val="110000"/>
              </a:lnSpc>
              <a:spcAft>
                <a:spcPts val="400"/>
              </a:spcAft>
            </a:pPr>
            <a:r>
              <a:rPr sz="1400" b="0">
                <a:solidFill>
                  <a:srgbClr val="1F2A3A"/>
                </a:solidFill>
                <a:latin typeface="맑은 고딕"/>
                <a:ea typeface="맑은 고딕"/>
                <a:cs typeface="맑은 고딕"/>
              </a:rPr>
              <a:t>증상에서 원인 후보와 조치까지를 프로그램이 찾아갈 수 있어야 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프로그램과 분리된다</a:t>
            </a:r>
          </a:p>
          <a:p>
            <a:pPr algn="l">
              <a:lnSpc>
                <a:spcPct val="110000"/>
              </a:lnSpc>
              <a:spcAft>
                <a:spcPts val="400"/>
              </a:spcAft>
            </a:pPr>
            <a:r>
              <a:rPr sz="1400" b="0">
                <a:solidFill>
                  <a:srgbClr val="1F2A3A"/>
                </a:solidFill>
                <a:latin typeface="맑은 고딕"/>
                <a:ea typeface="맑은 고딕"/>
                <a:cs typeface="맑은 고딕"/>
              </a:rPr>
              <a:t>지식이 바뀌면 코드가 아니라 지식을 고칠 수 있어야 한다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대상의 종류, 속성, 관계, 제약을 정의한 지식 모델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대상의 종류, 속성, 관계, 제약을 </a:t>
            </a:r>
            <a:r>
              <a:rPr sz="1600" b="1">
                <a:solidFill>
                  <a:srgbClr val="1A6FC4"/>
                </a:solidFill>
                <a:latin typeface="맑은 고딕"/>
                <a:ea typeface="맑은 고딕"/>
                <a:cs typeface="맑은 고딕"/>
              </a:rPr>
              <a:t>명시적으로 정의</a:t>
            </a:r>
            <a:r>
              <a:rPr sz="1600" b="0">
                <a:solidFill>
                  <a:srgbClr val="556175"/>
                </a:solidFill>
                <a:latin typeface="맑은 고딕"/>
                <a:ea typeface="맑은 고딕"/>
                <a:cs typeface="맑은 고딕"/>
              </a:rPr>
              <a:t>해 사람과 컴퓨터가 같은 뜻으로 쓰게 하는 지식 모델이다.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온톨로지</a:t>
            </a:r>
          </a:p>
          <a:p>
            <a:pPr algn="l">
              <a:lnSpc>
                <a:spcPct val="110000"/>
              </a:lnSpc>
              <a:spcAft>
                <a:spcPts val="200"/>
              </a:spcAft>
            </a:pPr>
            <a:r>
              <a:rPr sz="1150" b="0">
                <a:solidFill>
                  <a:srgbClr val="556175"/>
                </a:solidFill>
                <a:latin typeface="맑은 고딕"/>
                <a:ea typeface="맑은 고딕"/>
                <a:cs typeface="맑은 고딕"/>
              </a:rPr>
              <a:t>Ontology</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분야에 있는 대상의 종류, 속성, 관계, 제약을 명시적으로 정의한 지식 모델이다.</a:t>
            </a:r>
          </a:p>
          <a:p>
            <a:pPr algn="l">
              <a:lnSpc>
                <a:spcPct val="110000"/>
              </a:lnSpc>
              <a:spcAft>
                <a:spcPts val="300"/>
              </a:spcAft>
            </a:pPr>
            <a:r>
              <a:rPr sz="1400" b="0">
                <a:solidFill>
                  <a:srgbClr val="1F2A3A"/>
                </a:solidFill>
                <a:latin typeface="맑은 고딕"/>
                <a:ea typeface="맑은 고딕"/>
                <a:cs typeface="맑은 고딕"/>
              </a:rPr>
              <a:t>정의가 하나이므로 「쿨러 핀 오염」 같은 말이 사람에게도 컴퓨터에게도 같은 뜻이 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온톨로지</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구성 요소, 센서, 증상, 고장 유형, 원인, 조치, 근거 문서를 대상으로 삼고 그 사이의 관계를 정의한다.</a:t>
            </a:r>
          </a:p>
          <a:p>
            <a:pPr algn="l">
              <a:lnSpc>
                <a:spcPct val="110000"/>
              </a:lnSpc>
              <a:spcAft>
                <a:spcPts val="300"/>
              </a:spcAft>
            </a:pPr>
            <a:r>
              <a:rPr sz="1400" b="0">
                <a:solidFill>
                  <a:srgbClr val="1F2A3A"/>
                </a:solidFill>
                <a:latin typeface="맑은 고딕"/>
                <a:ea typeface="맑은 고딕"/>
                <a:cs typeface="맑은 고딕"/>
              </a:rPr>
              <a:t>경보 뒤에 원인 후보와 조치를 찾는 일이 이 정의 위에서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지하철 노선도</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역과 선만 따라가면 처음 가는 사람도 경로를 찾는다.</a:t>
            </a:r>
          </a:p>
          <a:p>
            <a:pPr algn="l">
              <a:lnSpc>
                <a:spcPct val="110000"/>
              </a:lnSpc>
              <a:spcAft>
                <a:spcPts val="300"/>
              </a:spcAft>
            </a:pPr>
            <a:r>
              <a:rPr sz="1400" b="0">
                <a:solidFill>
                  <a:srgbClr val="1F2A3A"/>
                </a:solidFill>
                <a:latin typeface="맑은 고딕"/>
                <a:ea typeface="맑은 고딕"/>
                <a:cs typeface="맑은 고딕"/>
              </a:rPr>
              <a:t>다른 점: 온톨로지의 선에는 「가리킨다」「일으킨다」 같은 뜻과 방향이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관계 그림, 그래프 DB의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그림은 표현이고 그래프 DB는 저장 도구이며, 온톨로지는 무엇을 그리고 저장할 수 있는지를 정한 정의이다.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 그림</a:t>
            </a:r>
          </a:p>
          <a:p>
            <a:pPr algn="l">
              <a:lnSpc>
                <a:spcPct val="110000"/>
              </a:lnSpc>
              <a:spcAft>
                <a:spcPts val="400"/>
              </a:spcAft>
            </a:pPr>
            <a:r>
              <a:rPr sz="1400" b="0">
                <a:solidFill>
                  <a:srgbClr val="1F2A3A"/>
                </a:solidFill>
                <a:latin typeface="맑은 고딕"/>
                <a:ea typeface="맑은 고딕"/>
                <a:cs typeface="맑은 고딕"/>
              </a:rPr>
              <a:t>• 대상과 선을 그려 사람이 보게 한 표현이다</a:t>
            </a:r>
          </a:p>
          <a:p>
            <a:pPr algn="l">
              <a:lnSpc>
                <a:spcPct val="110000"/>
              </a:lnSpc>
              <a:spcAft>
                <a:spcPts val="400"/>
              </a:spcAft>
            </a:pPr>
            <a:r>
              <a:rPr sz="1400" b="0">
                <a:solidFill>
                  <a:srgbClr val="1F2A3A"/>
                </a:solidFill>
                <a:latin typeface="맑은 고딕"/>
                <a:ea typeface="맑은 고딕"/>
                <a:cs typeface="맑은 고딕"/>
              </a:rPr>
              <a:t>• 무엇이든 그릴 수 있어 뜻이 맞는지 검사할 수 없다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표현</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a:t>
            </a:r>
          </a:p>
          <a:p>
            <a:pPr algn="l">
              <a:lnSpc>
                <a:spcPct val="110000"/>
              </a:lnSpc>
              <a:spcAft>
                <a:spcPts val="400"/>
              </a:spcAft>
            </a:pPr>
            <a:r>
              <a:rPr sz="1400" b="0">
                <a:solidFill>
                  <a:srgbClr val="1F2A3A"/>
                </a:solidFill>
                <a:latin typeface="맑은 고딕"/>
                <a:ea typeface="맑은 고딕"/>
                <a:cs typeface="맑은 고딕"/>
              </a:rPr>
              <a:t>• 대상과 관계를 저장하고 조회하는 데이터베이스이다</a:t>
            </a:r>
          </a:p>
          <a:p>
            <a:pPr algn="l">
              <a:lnSpc>
                <a:spcPct val="110000"/>
              </a:lnSpc>
              <a:spcAft>
                <a:spcPts val="400"/>
              </a:spcAft>
            </a:pPr>
            <a:r>
              <a:rPr sz="1400" b="0">
                <a:solidFill>
                  <a:srgbClr val="1F2A3A"/>
                </a:solidFill>
                <a:latin typeface="맑은 고딕"/>
                <a:ea typeface="맑은 고딕"/>
                <a:cs typeface="맑은 고딕"/>
              </a:rPr>
              <a:t>• 무엇을 넣을지는 정해 주지 않는다</a:t>
            </a:r>
          </a:p>
          <a:p>
            <a:pPr algn="l">
              <a:lnSpc>
                <a:spcPct val="110000"/>
              </a:lnSpc>
              <a:spcAft>
                <a:spcPts val="400"/>
              </a:spcAft>
            </a:pPr>
            <a:r>
              <a:rPr sz="1400" b="0">
                <a:solidFill>
                  <a:srgbClr val="1F2A3A"/>
                </a:solidFill>
                <a:latin typeface="맑은 고딕"/>
                <a:ea typeface="맑은 고딕"/>
                <a:cs typeface="맑은 고딕"/>
              </a:rPr>
              <a:t>• HYD는 Neo4j를 쓰고, 질의 언어 Cypher로 조회한다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 도구</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schema" descr="schema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400" b="0">
                <a:solidFill>
                  <a:srgbClr val="1F2A3A"/>
                </a:solidFill>
                <a:latin typeface="맑은 고딕"/>
                <a:ea typeface="맑은 고딕"/>
                <a:cs typeface="맑은 고딕"/>
              </a:rPr>
              <a:t>• 어떤 종류의 대상과 관계가 있을 수 있는지를 정한 정의이다</a:t>
            </a:r>
          </a:p>
          <a:p>
            <a:pPr algn="l">
              <a:lnSpc>
                <a:spcPct val="110000"/>
              </a:lnSpc>
              <a:spcAft>
                <a:spcPts val="400"/>
              </a:spcAft>
            </a:pPr>
            <a:r>
              <a:rPr sz="1400" b="0">
                <a:solidFill>
                  <a:srgbClr val="1F2A3A"/>
                </a:solidFill>
                <a:latin typeface="맑은 고딕"/>
                <a:ea typeface="맑은 고딕"/>
                <a:cs typeface="맑은 고딕"/>
              </a:rPr>
              <a:t>• 이 정의에 맞춰 실제 대상을 채워 Neo4j에 저장한 것이 HYD의 지식 그래프이다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그래프의 구성 요소: 노드, 관계,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그래프는 대상을 나타내는 </a:t>
            </a:r>
            <a:r>
              <a:rPr sz="1600" b="1">
                <a:solidFill>
                  <a:srgbClr val="1A6FC4"/>
                </a:solidFill>
                <a:latin typeface="맑은 고딕"/>
                <a:ea typeface="맑은 고딕"/>
                <a:cs typeface="맑은 고딕"/>
              </a:rPr>
              <a:t>노드</a:t>
            </a:r>
            <a:r>
              <a:rPr sz="1600" b="0">
                <a:solidFill>
                  <a:srgbClr val="556175"/>
                </a:solidFill>
                <a:latin typeface="맑은 고딕"/>
                <a:ea typeface="맑은 고딕"/>
                <a:cs typeface="맑은 고딕"/>
              </a:rPr>
              <a:t>와, 이름과 방향을 가진 </a:t>
            </a:r>
            <a:r>
              <a:rPr sz="1600" b="1">
                <a:solidFill>
                  <a:srgbClr val="1A6FC4"/>
                </a:solidFill>
                <a:latin typeface="맑은 고딕"/>
                <a:ea typeface="맑은 고딕"/>
                <a:cs typeface="맑은 고딕"/>
              </a:rPr>
              <a:t>관계</a:t>
            </a:r>
            <a:r>
              <a:rPr sz="1600" b="0">
                <a:solidFill>
                  <a:srgbClr val="556175"/>
                </a:solidFill>
                <a:latin typeface="맑은 고딕"/>
                <a:ea typeface="맑은 고딕"/>
                <a:cs typeface="맑은 고딕"/>
              </a:rPr>
              <a:t>로 이루어진다.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노드관계.svg" descr="illust_7213179085748974910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92040"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하나를 나타낸다</a:t>
            </a:r>
          </a:p>
        </p:txBody>
      </p:sp>
      <p:sp>
        <p:nvSpPr>
          <p:cNvPr id="8" name="TextBox 7"/>
          <p:cNvSpPr txBox="1"/>
          <p:nvPr/>
        </p:nvSpPr>
        <p:spPr>
          <a:xfrm>
            <a:off x="7863185" y="181672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대상마다 종류가 있다</a:t>
            </a:r>
          </a:p>
        </p:txBody>
      </p:sp>
      <p:sp>
        <p:nvSpPr>
          <p:cNvPr id="9" name="TextBox 8"/>
          <p:cNvSpPr txBox="1"/>
          <p:nvPr/>
        </p:nvSpPr>
        <p:spPr>
          <a:xfrm>
            <a:off x="4459423" y="2856768"/>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관계(Relationship)</a:t>
            </a:r>
          </a:p>
          <a:p>
            <a:pPr algn="ctr">
              <a:lnSpc>
                <a:spcPct val="110000"/>
              </a:lnSpc>
              <a:spcAft>
                <a:spcPts val="100"/>
              </a:spcAft>
            </a:pPr>
            <a:r>
              <a:rPr sz="1300" b="0">
                <a:solidFill>
                  <a:srgbClr val="556175"/>
                </a:solidFill>
                <a:latin typeface="맑은 고딕"/>
                <a:ea typeface="맑은 고딕"/>
                <a:cs typeface="맑은 고딕"/>
              </a:rPr>
              <a:t>이름: CAUSES(일으킨다)</a:t>
            </a:r>
          </a:p>
        </p:txBody>
      </p:sp>
      <p:sp>
        <p:nvSpPr>
          <p:cNvPr id="10" name="TextBox 9"/>
          <p:cNvSpPr txBox="1"/>
          <p:nvPr/>
        </p:nvSpPr>
        <p:spPr>
          <a:xfrm>
            <a:off x="4568518" y="413317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방향</a:t>
            </a:r>
          </a:p>
          <a:p>
            <a:pPr algn="ctr">
              <a:lnSpc>
                <a:spcPct val="110000"/>
              </a:lnSpc>
              <a:spcAft>
                <a:spcPts val="100"/>
              </a:spcAft>
            </a:pPr>
            <a:r>
              <a:rPr sz="1300" b="0">
                <a:solidFill>
                  <a:srgbClr val="556175"/>
                </a:solidFill>
                <a:latin typeface="맑은 고딕"/>
                <a:ea typeface="맑은 고딕"/>
                <a:cs typeface="맑은 고딕"/>
              </a:rPr>
              <a:t>원인에서 고장 유형으로</a:t>
            </a:r>
          </a:p>
        </p:txBody>
      </p:sp>
      <p:sp>
        <p:nvSpPr>
          <p:cNvPr id="11" name="TextBox 10"/>
          <p:cNvSpPr txBox="1"/>
          <p:nvPr/>
        </p:nvSpPr>
        <p:spPr>
          <a:xfrm>
            <a:off x="1492040" y="498412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종류: 원인</a:t>
            </a:r>
          </a:p>
        </p:txBody>
      </p:sp>
      <p:sp>
        <p:nvSpPr>
          <p:cNvPr id="12" name="TextBox 11"/>
          <p:cNvSpPr txBox="1"/>
          <p:nvPr/>
        </p:nvSpPr>
        <p:spPr>
          <a:xfrm>
            <a:off x="7754090" y="4984120"/>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종류: 고장 유형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지식 그래프의 실제 관계: 증상 · 고장 유형 · 원인 · 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증상과 원인은 직접 이어지지 않고 </a:t>
            </a:r>
            <a:r>
              <a:rPr sz="1600" b="1">
                <a:solidFill>
                  <a:srgbClr val="1A6FC4"/>
                </a:solidFill>
                <a:latin typeface="맑은 고딕"/>
                <a:ea typeface="맑은 고딕"/>
                <a:cs typeface="맑은 고딕"/>
              </a:rPr>
              <a:t>고장 유형</a:t>
            </a:r>
            <a:r>
              <a:rPr sz="1600" b="0">
                <a:solidFill>
                  <a:srgbClr val="556175"/>
                </a:solidFill>
                <a:latin typeface="맑은 고딕"/>
                <a:ea typeface="맑은 고딕"/>
                <a:cs typeface="맑은 고딕"/>
              </a:rPr>
              <a:t>에서 만나며, 조치도 고장 유형에 연결된다.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관계.svg" descr="illust_5869298148102865872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085904"/>
            <a:ext cx="272737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Symptom · 증상</a:t>
            </a:r>
          </a:p>
          <a:p>
            <a:pPr algn="ctr">
              <a:lnSpc>
                <a:spcPct val="110000"/>
              </a:lnSpc>
              <a:spcAft>
                <a:spcPts val="100"/>
              </a:spcAft>
            </a:pPr>
            <a:r>
              <a:rPr sz="1300" b="0">
                <a:solidFill>
                  <a:srgbClr val="556175"/>
                </a:solidFill>
                <a:latin typeface="맑은 고딕"/>
                <a:ea typeface="맑은 고딕"/>
                <a:cs typeface="맑은 고딕"/>
              </a:rPr>
              <a:t>유온 상승 · 냉각 효율 저하</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FailureMode · 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 · 원인</a:t>
            </a:r>
          </a:p>
          <a:p>
            <a:pPr algn="ctr">
              <a:lnSpc>
                <a:spcPct val="110000"/>
              </a:lnSpc>
              <a:spcAft>
                <a:spcPts val="100"/>
              </a:spcAft>
            </a:pPr>
            <a:r>
              <a:rPr sz="1300" b="0">
                <a:solidFill>
                  <a:srgbClr val="556175"/>
                </a:solidFill>
                <a:latin typeface="맑은 고딕"/>
                <a:ea typeface="맑은 고딕"/>
                <a:cs typeface="맑은 고딕"/>
              </a:rPr>
              <a:t>쿨러 핀 오염</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 · 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1" name="TextBox 10"/>
          <p:cNvSpPr txBox="1"/>
          <p:nvPr/>
        </p:nvSpPr>
        <p:spPr>
          <a:xfrm>
            <a:off x="3270288"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a:p>
            <a:pPr algn="ctr">
              <a:lnSpc>
                <a:spcPct val="110000"/>
              </a:lnSpc>
              <a:spcAft>
                <a:spcPts val="100"/>
              </a:spcAft>
            </a:pPr>
            <a:r>
              <a:rPr sz="1300" b="0">
                <a:solidFill>
                  <a:srgbClr val="556175"/>
                </a:solidFill>
                <a:latin typeface="맑은 고딕"/>
                <a:ea typeface="맑은 고딕"/>
                <a:cs typeface="맑은 고딕"/>
              </a:rPr>
              <a:t>가리킨다</a:t>
            </a:r>
          </a:p>
        </p:txBody>
      </p:sp>
      <p:sp>
        <p:nvSpPr>
          <p:cNvPr id="12" name="TextBox 11"/>
          <p:cNvSpPr txBox="1"/>
          <p:nvPr/>
        </p:nvSpPr>
        <p:spPr>
          <a:xfrm>
            <a:off x="7175887" y="2809494"/>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a:p>
            <a:pPr algn="ctr">
              <a:lnSpc>
                <a:spcPct val="110000"/>
              </a:lnSpc>
              <a:spcAft>
                <a:spcPts val="100"/>
              </a:spcAft>
            </a:pPr>
            <a:r>
              <a:rPr sz="1300" b="0">
                <a:solidFill>
                  <a:srgbClr val="556175"/>
                </a:solidFill>
                <a:latin typeface="맑은 고딕"/>
                <a:ea typeface="맑은 고딕"/>
                <a:cs typeface="맑은 고딕"/>
              </a:rPr>
              <a:t>일으킨다</a:t>
            </a:r>
          </a:p>
        </p:txBody>
      </p:sp>
      <p:sp>
        <p:nvSpPr>
          <p:cNvPr id="13" name="TextBox 12"/>
          <p:cNvSpPr txBox="1"/>
          <p:nvPr/>
        </p:nvSpPr>
        <p:spPr>
          <a:xfrm>
            <a:off x="3750306" y="422772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a:p>
            <a:pPr algn="ctr">
              <a:lnSpc>
                <a:spcPct val="110000"/>
              </a:lnSpc>
              <a:spcAft>
                <a:spcPts val="100"/>
              </a:spcAft>
            </a:pPr>
            <a:r>
              <a:rPr sz="1300" b="0">
                <a:solidFill>
                  <a:srgbClr val="556175"/>
                </a:solidFill>
                <a:latin typeface="맑은 고딕"/>
                <a:ea typeface="맑은 고딕"/>
                <a:cs typeface="맑은 고딕"/>
              </a:rPr>
              <a:t>~으로 완화된다</a:t>
            </a:r>
          </a:p>
        </p:txBody>
      </p:sp>
      <p:sp>
        <p:nvSpPr>
          <p:cNvPr id="14" name="TextBox 13"/>
          <p:cNvSpPr txBox="1"/>
          <p:nvPr/>
        </p:nvSpPr>
        <p:spPr>
          <a:xfrm>
            <a:off x="750195"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잇는 선은 없다</a:t>
            </a:r>
          </a:p>
          <a:p>
            <a:pPr algn="ctr">
              <a:lnSpc>
                <a:spcPct val="110000"/>
              </a:lnSpc>
              <a:spcAft>
                <a:spcPts val="100"/>
              </a:spcAft>
            </a:pPr>
            <a:r>
              <a:rPr sz="1300" b="0">
                <a:solidFill>
                  <a:srgbClr val="556175"/>
                </a:solidFill>
                <a:latin typeface="맑은 고딕"/>
                <a:ea typeface="맑은 고딕"/>
                <a:cs typeface="맑은 고딕"/>
              </a:rPr>
              <a:t>증상과 원인은 고장 유형에서 만난다</a:t>
            </a:r>
          </a:p>
        </p:txBody>
      </p:sp>
      <p:sp>
        <p:nvSpPr>
          <p:cNvPr id="15" name="TextBox 14"/>
          <p:cNvSpPr txBox="1"/>
          <p:nvPr/>
        </p:nvSpPr>
        <p:spPr>
          <a:xfrm>
            <a:off x="8223199" y="5315041"/>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원인은 여럿 붙는다</a:t>
            </a:r>
          </a:p>
          <a:p>
            <a:pPr algn="ctr">
              <a:lnSpc>
                <a:spcPct val="110000"/>
              </a:lnSpc>
              <a:spcAft>
                <a:spcPts val="100"/>
              </a:spcAft>
            </a:pPr>
            <a:r>
              <a:rPr sz="1300" b="0">
                <a:solidFill>
                  <a:srgbClr val="556175"/>
                </a:solidFill>
                <a:latin typeface="맑은 고딕"/>
                <a:ea typeface="맑은 고딕"/>
                <a:cs typeface="맑은 고딕"/>
              </a:rPr>
              <a:t>핀 오염, 팬 구동 불량, 주변 온도 상승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관계의 이름이 방향을 정한다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사실도 관계 이름에 따라 화살표의 방향이 달라지므로 이름과 방향은 함께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CAUSES로 적는다</a:t>
            </a:r>
          </a:p>
        </p:txBody>
      </p:sp>
      <p:sp>
        <p:nvSpPr>
          <p:cNvPr id="8" name="TextBox 7"/>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핀 오염 → 냉각 성능 상실</a:t>
            </a:r>
          </a:p>
          <a:p>
            <a:pPr algn="l">
              <a:lnSpc>
                <a:spcPct val="110000"/>
              </a:lnSpc>
              <a:spcAft>
                <a:spcPts val="600"/>
              </a:spcAft>
            </a:pPr>
            <a:r>
              <a:rPr sz="1450" b="0">
                <a:solidFill>
                  <a:srgbClr val="1F2A3A"/>
                </a:solidFill>
                <a:latin typeface="맑은 고딕"/>
                <a:ea typeface="맑은 고딕"/>
                <a:cs typeface="맑은 고딕"/>
              </a:rPr>
              <a:t>• 원인이 주어이다</a:t>
            </a:r>
          </a:p>
          <a:p>
            <a:pPr algn="l">
              <a:lnSpc>
                <a:spcPct val="110000"/>
              </a:lnSpc>
              <a:spcAft>
                <a:spcPts val="600"/>
              </a:spcAft>
            </a:pPr>
            <a:r>
              <a:rPr sz="1450" b="0">
                <a:solidFill>
                  <a:srgbClr val="1F2A3A"/>
                </a:solidFill>
                <a:latin typeface="맑은 고딕"/>
                <a:ea typeface="맑은 고딕"/>
                <a:cs typeface="맑은 고딕"/>
              </a:rPr>
              <a:t>• 읽기: 핀 오염은 냉각 성능 상실을 일으킨다</a:t>
            </a:r>
          </a:p>
          <a:p>
            <a:pPr algn="l">
              <a:lnSpc>
                <a:spcPct val="110000"/>
              </a:lnSpc>
              <a:spcAft>
                <a:spcPts val="600"/>
              </a:spcAft>
            </a:pPr>
            <a:r>
              <a:rPr sz="1450" b="0">
                <a:solidFill>
                  <a:srgbClr val="1F2A3A"/>
                </a:solidFill>
                <a:latin typeface="맑은 고딕"/>
                <a:ea typeface="맑은 고딕"/>
                <a:cs typeface="맑은 고딕"/>
              </a:rPr>
              <a:t>• HYD의 지식 그래프가 쓰는 이름이다</a:t>
            </a:r>
          </a:p>
        </p:txBody>
      </p:sp>
      <p:sp>
        <p:nvSpPr>
          <p:cNvPr id="9" name="Rounded Rectangle 8"/>
          <p:cNvSpPr/>
          <p:nvPr/>
        </p:nvSpPr>
        <p:spPr>
          <a:xfrm>
            <a:off x="868680" y="5096002"/>
            <a:ext cx="156972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 고장 유형</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CAUSED_BY로 적는다</a:t>
            </a:r>
          </a:p>
        </p:txBody>
      </p:sp>
      <p:sp>
        <p:nvSpPr>
          <p:cNvPr id="13" name="TextBox 12"/>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성능 상실 → 핀 오염</a:t>
            </a:r>
          </a:p>
          <a:p>
            <a:pPr algn="l">
              <a:lnSpc>
                <a:spcPct val="110000"/>
              </a:lnSpc>
              <a:spcAft>
                <a:spcPts val="600"/>
              </a:spcAft>
            </a:pPr>
            <a:r>
              <a:rPr sz="1450" b="0">
                <a:solidFill>
                  <a:srgbClr val="1F2A3A"/>
                </a:solidFill>
                <a:latin typeface="맑은 고딕"/>
                <a:ea typeface="맑은 고딕"/>
                <a:cs typeface="맑은 고딕"/>
              </a:rPr>
              <a:t>• 고장 유형이 주어이다</a:t>
            </a:r>
          </a:p>
          <a:p>
            <a:pPr algn="l">
              <a:lnSpc>
                <a:spcPct val="110000"/>
              </a:lnSpc>
              <a:spcAft>
                <a:spcPts val="600"/>
              </a:spcAft>
            </a:pPr>
            <a:r>
              <a:rPr sz="1450" b="0">
                <a:solidFill>
                  <a:srgbClr val="1F2A3A"/>
                </a:solidFill>
                <a:latin typeface="맑은 고딕"/>
                <a:ea typeface="맑은 고딕"/>
                <a:cs typeface="맑은 고딕"/>
              </a:rPr>
              <a:t>• 읽기: 냉각 성능 상실은 핀 오염으로 일어난다</a:t>
            </a:r>
          </a:p>
          <a:p>
            <a:pPr algn="l">
              <a:lnSpc>
                <a:spcPct val="110000"/>
              </a:lnSpc>
              <a:spcAft>
                <a:spcPts val="600"/>
              </a:spcAft>
            </a:pPr>
            <a:r>
              <a:rPr sz="1450" b="0">
                <a:solidFill>
                  <a:srgbClr val="1F2A3A"/>
                </a:solidFill>
                <a:latin typeface="맑은 고딕"/>
                <a:ea typeface="맑은 고딕"/>
                <a:cs typeface="맑은 고딕"/>
              </a:rPr>
              <a:t>• 같은 사실이며 방향만 반대이다</a:t>
            </a:r>
          </a:p>
        </p:txBody>
      </p:sp>
      <p:sp>
        <p:nvSpPr>
          <p:cNvPr id="14" name="Rounded Rectangle 13"/>
          <p:cNvSpPr/>
          <p:nvPr/>
        </p:nvSpPr>
        <p:spPr>
          <a:xfrm>
            <a:off x="6781647" y="5096002"/>
            <a:ext cx="15697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고장 유형 → 원인</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온톨로지가 정의하는 네 가지: 종류, 속성, 관계, 제약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지금까지 본 노드와 관계는 온톨로지의 종류와 관계에 해당하며, 여기에 속성과 제약이 더해져 정의가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종류</a:t>
            </a:r>
          </a:p>
          <a:p>
            <a:pPr algn="l">
              <a:lnSpc>
                <a:spcPct val="110000"/>
              </a:lnSpc>
              <a:spcAft>
                <a:spcPts val="400"/>
              </a:spcAft>
            </a:pPr>
            <a:r>
              <a:rPr sz="1350" b="0">
                <a:solidFill>
                  <a:srgbClr val="1F2A3A"/>
                </a:solidFill>
                <a:latin typeface="맑은 고딕"/>
                <a:ea typeface="맑은 고딕"/>
                <a:cs typeface="맑은 고딕"/>
              </a:rPr>
              <a:t>• 어떤 대상이 있는가를 정한다</a:t>
            </a:r>
          </a:p>
          <a:p>
            <a:pPr algn="l">
              <a:lnSpc>
                <a:spcPct val="110000"/>
              </a:lnSpc>
              <a:spcAft>
                <a:spcPts val="400"/>
              </a:spcAft>
            </a:pPr>
            <a:r>
              <a:rPr sz="1350" b="0">
                <a:solidFill>
                  <a:srgbClr val="1F2A3A"/>
                </a:solidFill>
                <a:latin typeface="맑은 고딕"/>
                <a:ea typeface="맑은 고딕"/>
                <a:cs typeface="맑은 고딕"/>
              </a:rPr>
              <a:t>• 설비, 센서, 증상, 고장 유형, 원인, 조치</a:t>
            </a:r>
          </a:p>
        </p:txBody>
      </p:sp>
      <p:sp>
        <p:nvSpPr>
          <p:cNvPr id="10" name="Rounded Rectangle 9"/>
          <p:cNvSpPr/>
          <p:nvPr/>
        </p:nvSpPr>
        <p:spPr>
          <a:xfrm>
            <a:off x="777240" y="5134356"/>
            <a:ext cx="1621536"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62153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핀 오염 = 원인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adjustments-horizontal" descr="adjustments-horizontal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속성</a:t>
            </a:r>
          </a:p>
          <a:p>
            <a:pPr algn="l">
              <a:lnSpc>
                <a:spcPct val="110000"/>
              </a:lnSpc>
              <a:spcAft>
                <a:spcPts val="400"/>
              </a:spcAft>
            </a:pPr>
            <a:r>
              <a:rPr sz="1350" b="0">
                <a:solidFill>
                  <a:srgbClr val="1F2A3A"/>
                </a:solidFill>
                <a:latin typeface="맑은 고딕"/>
                <a:ea typeface="맑은 고딕"/>
                <a:cs typeface="맑은 고딕"/>
              </a:rPr>
              <a:t>• 대상이 갖는 값의 칸을 정한다</a:t>
            </a:r>
          </a:p>
          <a:p>
            <a:pPr algn="l">
              <a:lnSpc>
                <a:spcPct val="110000"/>
              </a:lnSpc>
              <a:spcAft>
                <a:spcPts val="400"/>
              </a:spcAft>
            </a:pPr>
            <a:r>
              <a:rPr sz="1350" b="0">
                <a:solidFill>
                  <a:srgbClr val="1F2A3A"/>
                </a:solidFill>
                <a:latin typeface="맑은 고딕"/>
                <a:ea typeface="맑은 고딕"/>
                <a:cs typeface="맑은 고딕"/>
              </a:rPr>
              <a:t>• 유온이라는 대상의 단위, 정상값, 한계</a:t>
            </a:r>
          </a:p>
        </p:txBody>
      </p:sp>
      <p:sp>
        <p:nvSpPr>
          <p:cNvPr id="16" name="Rounded Rectangle 15"/>
          <p:cNvSpPr/>
          <p:nvPr/>
        </p:nvSpPr>
        <p:spPr>
          <a:xfrm>
            <a:off x="3619423" y="5134356"/>
            <a:ext cx="15880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5880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 · 48 · 65</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arrows-right" descr="arrows-right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a:t>
            </a:r>
          </a:p>
          <a:p>
            <a:pPr algn="l">
              <a:lnSpc>
                <a:spcPct val="110000"/>
              </a:lnSpc>
              <a:spcAft>
                <a:spcPts val="400"/>
              </a:spcAft>
            </a:pPr>
            <a:r>
              <a:rPr sz="1350" b="0">
                <a:solidFill>
                  <a:srgbClr val="1F2A3A"/>
                </a:solidFill>
                <a:latin typeface="맑은 고딕"/>
                <a:ea typeface="맑은 고딕"/>
                <a:cs typeface="맑은 고딕"/>
              </a:rPr>
              <a:t>• 대상 사이의 이름 있는 연결을 정한다</a:t>
            </a:r>
          </a:p>
          <a:p>
            <a:pPr algn="l">
              <a:lnSpc>
                <a:spcPct val="110000"/>
              </a:lnSpc>
              <a:spcAft>
                <a:spcPts val="400"/>
              </a:spcAft>
            </a:pPr>
            <a:r>
              <a:rPr sz="1350" b="0">
                <a:solidFill>
                  <a:srgbClr val="1F2A3A"/>
                </a:solidFill>
                <a:latin typeface="맑은 고딕"/>
                <a:ea typeface="맑은 고딕"/>
                <a:cs typeface="맑은 고딕"/>
              </a:rPr>
              <a:t>• CAUSES, INDICATES, MITIGATED_BY</a:t>
            </a:r>
          </a:p>
        </p:txBody>
      </p:sp>
      <p:sp>
        <p:nvSpPr>
          <p:cNvPr id="22" name="Rounded Rectangle 21"/>
          <p:cNvSpPr/>
          <p:nvPr/>
        </p:nvSpPr>
        <p:spPr>
          <a:xfrm>
            <a:off x="6461607" y="5134356"/>
            <a:ext cx="1252728"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527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일으킨다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제약</a:t>
            </a:r>
          </a:p>
          <a:p>
            <a:pPr algn="l">
              <a:lnSpc>
                <a:spcPct val="110000"/>
              </a:lnSpc>
              <a:spcAft>
                <a:spcPts val="400"/>
              </a:spcAft>
            </a:pPr>
            <a:r>
              <a:rPr sz="1350" b="0">
                <a:solidFill>
                  <a:srgbClr val="1F2A3A"/>
                </a:solidFill>
                <a:latin typeface="맑은 고딕"/>
                <a:ea typeface="맑은 고딕"/>
                <a:cs typeface="맑은 고딕"/>
              </a:rPr>
              <a:t>• 지켜야 하는 조건을 정한다</a:t>
            </a:r>
          </a:p>
          <a:p>
            <a:pPr algn="l">
              <a:lnSpc>
                <a:spcPct val="110000"/>
              </a:lnSpc>
              <a:spcAft>
                <a:spcPts val="400"/>
              </a:spcAft>
            </a:pPr>
            <a:r>
              <a:rPr sz="1350" b="0">
                <a:solidFill>
                  <a:srgbClr val="1F2A3A"/>
                </a:solidFill>
                <a:latin typeface="맑은 고딕"/>
                <a:ea typeface="맑은 고딕"/>
                <a:cs typeface="맑은 고딕"/>
              </a:rPr>
              <a:t>• CAUSES는 원인에서 고장 유형으로만 잇는다</a:t>
            </a:r>
          </a:p>
        </p:txBody>
      </p:sp>
      <p:sp>
        <p:nvSpPr>
          <p:cNvPr id="28" name="Rounded Rectangle 27"/>
          <p:cNvSpPr/>
          <p:nvPr/>
        </p:nvSpPr>
        <p:spPr>
          <a:xfrm>
            <a:off x="9303791" y="5134356"/>
            <a:ext cx="1496568"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49656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 양 끝의 종류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노드에 함께 적혀 있던 종류와 이름은 대상의 유형(윗줄)과 일이 일어난 실제 대상(아랫줄)으로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유형과대상_0.svg" descr="illust_247753660241120540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2431298"/>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유형</a:t>
            </a:r>
          </a:p>
          <a:p>
            <a:pPr algn="ctr">
              <a:lnSpc>
                <a:spcPct val="110000"/>
              </a:lnSpc>
              <a:spcAft>
                <a:spcPts val="100"/>
              </a:spcAft>
            </a:pPr>
            <a:r>
              <a:rPr sz="1300" b="0">
                <a:solidFill>
                  <a:srgbClr val="556175"/>
                </a:solidFill>
                <a:latin typeface="맑은 고딕"/>
                <a:ea typeface="맑은 고딕"/>
                <a:cs typeface="맑은 고딕"/>
              </a:rPr>
              <a:t>어떤 종류의 대상이</a:t>
            </a:r>
          </a:p>
          <a:p>
            <a:pPr algn="ctr">
              <a:lnSpc>
                <a:spcPct val="110000"/>
              </a:lnSpc>
              <a:spcAft>
                <a:spcPts val="100"/>
              </a:spcAft>
            </a:pPr>
            <a:r>
              <a:rPr sz="1300" b="0">
                <a:solidFill>
                  <a:srgbClr val="556175"/>
                </a:solidFill>
                <a:latin typeface="맑은 고딕"/>
                <a:ea typeface="맑은 고딕"/>
                <a:cs typeface="맑은 고딕"/>
              </a:rPr>
              <a:t>있는가</a:t>
            </a:r>
          </a:p>
        </p:txBody>
      </p:sp>
      <p:sp>
        <p:nvSpPr>
          <p:cNvPr id="8" name="TextBox 7"/>
          <p:cNvSpPr txBox="1"/>
          <p:nvPr/>
        </p:nvSpPr>
        <p:spPr>
          <a:xfrm>
            <a:off x="3783034"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a:t>
            </a:r>
          </a:p>
        </p:txBody>
      </p:sp>
      <p:sp>
        <p:nvSpPr>
          <p:cNvPr id="9" name="TextBox 8"/>
          <p:cNvSpPr txBox="1"/>
          <p:nvPr/>
        </p:nvSpPr>
        <p:spPr>
          <a:xfrm>
            <a:off x="6423132"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센서</a:t>
            </a:r>
          </a:p>
        </p:txBody>
      </p:sp>
      <p:sp>
        <p:nvSpPr>
          <p:cNvPr id="10" name="TextBox 9"/>
          <p:cNvSpPr txBox="1"/>
          <p:nvPr/>
        </p:nvSpPr>
        <p:spPr>
          <a:xfrm>
            <a:off x="9063230" y="344769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p:txBody>
      </p:sp>
      <p:sp>
        <p:nvSpPr>
          <p:cNvPr id="11" name="TextBox 10"/>
          <p:cNvSpPr txBox="1"/>
          <p:nvPr/>
        </p:nvSpPr>
        <p:spPr>
          <a:xfrm>
            <a:off x="772014" y="4605924"/>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실제 대상</a:t>
            </a:r>
          </a:p>
          <a:p>
            <a:pPr algn="ctr">
              <a:lnSpc>
                <a:spcPct val="110000"/>
              </a:lnSpc>
              <a:spcAft>
                <a:spcPts val="100"/>
              </a:spcAft>
            </a:pPr>
            <a:r>
              <a:rPr sz="1300" b="0">
                <a:solidFill>
                  <a:srgbClr val="556175"/>
                </a:solidFill>
                <a:latin typeface="맑은 고딕"/>
                <a:ea typeface="맑은 고딕"/>
                <a:cs typeface="맑은 고딕"/>
              </a:rPr>
              <a:t>어느 대상에 무슨 일이</a:t>
            </a:r>
          </a:p>
          <a:p>
            <a:pPr algn="ctr">
              <a:lnSpc>
                <a:spcPct val="110000"/>
              </a:lnSpc>
              <a:spcAft>
                <a:spcPts val="100"/>
              </a:spcAft>
            </a:pPr>
            <a:r>
              <a:rPr sz="1300" b="0">
                <a:solidFill>
                  <a:srgbClr val="556175"/>
                </a:solidFill>
                <a:latin typeface="맑은 고딕"/>
                <a:ea typeface="맑은 고딕"/>
                <a:cs typeface="맑은 고딕"/>
              </a:rPr>
              <a:t>있었는가</a:t>
            </a:r>
          </a:p>
        </p:txBody>
      </p:sp>
      <p:sp>
        <p:nvSpPr>
          <p:cNvPr id="12" name="TextBox 11"/>
          <p:cNvSpPr txBox="1"/>
          <p:nvPr/>
        </p:nvSpPr>
        <p:spPr>
          <a:xfrm>
            <a:off x="3783034"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3" name="TextBox 12"/>
          <p:cNvSpPr txBox="1"/>
          <p:nvPr/>
        </p:nvSpPr>
        <p:spPr>
          <a:xfrm>
            <a:off x="6204942" y="562705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 TS1</a:t>
            </a:r>
          </a:p>
        </p:txBody>
      </p:sp>
      <p:sp>
        <p:nvSpPr>
          <p:cNvPr id="14" name="TextBox 13"/>
          <p:cNvSpPr txBox="1"/>
          <p:nvPr/>
        </p:nvSpPr>
        <p:spPr>
          <a:xfrm>
            <a:off x="9063230" y="562705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유형과 실제 대상을 나누어 적는 온톨로지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온톨로지는 유형을 </a:t>
            </a:r>
            <a:r>
              <a:rPr sz="1600" b="1">
                <a:solidFill>
                  <a:srgbClr val="1A6FC4"/>
                </a:solidFill>
                <a:latin typeface="맑은 고딕"/>
                <a:ea typeface="맑은 고딕"/>
                <a:cs typeface="맑은 고딕"/>
              </a:rPr>
              <a:t>클래스</a:t>
            </a:r>
            <a:r>
              <a:rPr sz="1600" b="0">
                <a:solidFill>
                  <a:srgbClr val="556175"/>
                </a:solidFill>
                <a:latin typeface="맑은 고딕"/>
                <a:ea typeface="맑은 고딕"/>
                <a:cs typeface="맑은 고딕"/>
              </a:rPr>
              <a:t>로, 실제 대상을 </a:t>
            </a:r>
            <a:r>
              <a:rPr sz="1600" b="1">
                <a:solidFill>
                  <a:srgbClr val="1A6FC4"/>
                </a:solidFill>
                <a:latin typeface="맑은 고딕"/>
                <a:ea typeface="맑은 고딕"/>
                <a:cs typeface="맑은 고딕"/>
              </a:rPr>
              <a:t>인스턴스</a:t>
            </a:r>
            <a:r>
              <a:rPr sz="1600" b="0">
                <a:solidFill>
                  <a:srgbClr val="556175"/>
                </a:solidFill>
                <a:latin typeface="맑은 고딕"/>
                <a:ea typeface="맑은 고딕"/>
                <a:cs typeface="맑은 고딕"/>
              </a:rPr>
              <a:t>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클래스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대상의 유형이다</a:t>
            </a:r>
          </a:p>
          <a:p>
            <a:pPr algn="l">
              <a:lnSpc>
                <a:spcPct val="110000"/>
              </a:lnSpc>
              <a:spcAft>
                <a:spcPts val="600"/>
              </a:spcAft>
            </a:pPr>
            <a:r>
              <a:rPr sz="1450" b="0">
                <a:solidFill>
                  <a:srgbClr val="1F2A3A"/>
                </a:solidFill>
                <a:latin typeface="맑은 고딕"/>
                <a:ea typeface="맑은 고딕"/>
                <a:cs typeface="맑은 고딕"/>
              </a:rPr>
              <a:t>• 설비, 센서, 증상</a:t>
            </a:r>
          </a:p>
          <a:p>
            <a:pPr algn="l">
              <a:lnSpc>
                <a:spcPct val="110000"/>
              </a:lnSpc>
              <a:spcAft>
                <a:spcPts val="600"/>
              </a:spcAft>
            </a:pPr>
            <a:r>
              <a:rPr sz="1450" b="0">
                <a:solidFill>
                  <a:srgbClr val="1F2A3A"/>
                </a:solidFill>
                <a:latin typeface="맑은 고딕"/>
                <a:ea typeface="맑은 고딕"/>
                <a:cs typeface="맑은 고딕"/>
              </a:rPr>
              <a:t>• 관계 그림에서 노드마다 붙은 「종류」가 이것이다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rget" descr="targe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인스턴스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실제 대상 하나이다</a:t>
            </a:r>
          </a:p>
          <a:p>
            <a:pPr algn="l">
              <a:lnSpc>
                <a:spcPct val="110000"/>
              </a:lnSpc>
              <a:spcAft>
                <a:spcPts val="600"/>
              </a:spcAft>
            </a:pPr>
            <a:r>
              <a:rPr sz="1450" b="0">
                <a:solidFill>
                  <a:srgbClr val="1F2A3A"/>
                </a:solidFill>
                <a:latin typeface="맑은 고딕"/>
                <a:ea typeface="맑은 고딕"/>
                <a:cs typeface="맑은 고딕"/>
              </a:rPr>
              <a:t>• HYD-01, 유온 센서 TS1, 유온 상승</a:t>
            </a:r>
          </a:p>
          <a:p>
            <a:pPr algn="l">
              <a:lnSpc>
                <a:spcPct val="110000"/>
              </a:lnSpc>
              <a:spcAft>
                <a:spcPts val="600"/>
              </a:spcAft>
            </a:pPr>
            <a:r>
              <a:rPr sz="1450" b="0">
                <a:solidFill>
                  <a:srgbClr val="1F2A3A"/>
                </a:solidFill>
                <a:latin typeface="맑은 고딕"/>
                <a:ea typeface="맑은 고딕"/>
                <a:cs typeface="맑은 고딕"/>
              </a:rPr>
              <a:t>• 지식 그래프의 노드 하나하나이다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 대상</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유압 설비에 관한 대상은 설비, 구성 요소, 센서, 상태 변수, 부품의 다섯 클래스로 나뉜다.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설비클래스_0.svg" descr="illust_7535935464537873851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 · 설비</a:t>
            </a:r>
          </a:p>
        </p:txBody>
      </p:sp>
      <p:sp>
        <p:nvSpPr>
          <p:cNvPr id="8" name="TextBox 7"/>
          <p:cNvSpPr txBox="1"/>
          <p:nvPr/>
        </p:nvSpPr>
        <p:spPr>
          <a:xfrm>
            <a:off x="2822999" y="1816729"/>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 · 구성 요소</a:t>
            </a:r>
          </a:p>
        </p:txBody>
      </p:sp>
      <p:sp>
        <p:nvSpPr>
          <p:cNvPr id="9" name="TextBox 8"/>
          <p:cNvSpPr txBox="1"/>
          <p:nvPr/>
        </p:nvSpPr>
        <p:spPr>
          <a:xfrm>
            <a:off x="5059445"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 센서</a:t>
            </a:r>
          </a:p>
        </p:txBody>
      </p:sp>
      <p:sp>
        <p:nvSpPr>
          <p:cNvPr id="10" name="TextBox 9"/>
          <p:cNvSpPr txBox="1"/>
          <p:nvPr/>
        </p:nvSpPr>
        <p:spPr>
          <a:xfrm>
            <a:off x="7186797" y="1816729"/>
            <a:ext cx="218189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 · 상태 변수</a:t>
            </a:r>
          </a:p>
        </p:txBody>
      </p:sp>
      <p:sp>
        <p:nvSpPr>
          <p:cNvPr id="11" name="TextBox 10"/>
          <p:cNvSpPr txBox="1"/>
          <p:nvPr/>
        </p:nvSpPr>
        <p:spPr>
          <a:xfrm>
            <a:off x="9423243" y="1816729"/>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Part · 부품</a:t>
            </a:r>
          </a:p>
        </p:txBody>
      </p:sp>
      <p:sp>
        <p:nvSpPr>
          <p:cNvPr id="12" name="TextBox 11"/>
          <p:cNvSpPr txBox="1"/>
          <p:nvPr/>
        </p:nvSpPr>
        <p:spPr>
          <a:xfrm>
            <a:off x="750195"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p:txBody>
      </p:sp>
      <p:sp>
        <p:nvSpPr>
          <p:cNvPr id="13" name="TextBox 12"/>
          <p:cNvSpPr txBox="1"/>
          <p:nvPr/>
        </p:nvSpPr>
        <p:spPr>
          <a:xfrm>
            <a:off x="2932094"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p:txBody>
      </p:sp>
      <p:sp>
        <p:nvSpPr>
          <p:cNvPr id="14" name="TextBox 13"/>
          <p:cNvSpPr txBox="1"/>
          <p:nvPr/>
        </p:nvSpPr>
        <p:spPr>
          <a:xfrm>
            <a:off x="5113993"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7295892"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p:txBody>
      </p:sp>
      <p:sp>
        <p:nvSpPr>
          <p:cNvPr id="16" name="TextBox 15"/>
          <p:cNvSpPr txBox="1"/>
          <p:nvPr/>
        </p:nvSpPr>
        <p:spPr>
          <a:xfrm>
            <a:off x="9477791" y="5291404"/>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코어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설비 영역의 다섯 클래스: 정의와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클래스의 정의는 그 클래스가 어떤 대상을 인스턴스로 받는지를 한 줄로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클래스</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한 줄 정의</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인스턴스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Asset · 설비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한 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HYD-01 유압 파워팩</a:t>
            </a:r>
          </a:p>
          <a:p>
            <a:pPr algn="l">
              <a:lnSpc>
                <a:spcPct val="110000"/>
              </a:lnSpc>
            </a:pPr>
            <a:r>
              <a:rPr sz="1250" b="1">
                <a:solidFill>
                  <a:srgbClr val="556175"/>
                </a:solidFill>
                <a:latin typeface="맑은 고딕"/>
                <a:ea typeface="맑은 고딕"/>
                <a:cs typeface="맑은 고딕"/>
              </a:rPr>
              <a:t>asset:hyd-01</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Component · 구성 요소</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설비를 이루는 장치: 쿨러, 팬, 주 펌프, 예비 펌프, 모터, 탱크</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오일 쿨러</a:t>
            </a:r>
          </a:p>
          <a:p>
            <a:pPr algn="l">
              <a:lnSpc>
                <a:spcPct val="110000"/>
              </a:lnSpc>
            </a:pPr>
            <a:r>
              <a:rPr sz="1250" b="1">
                <a:solidFill>
                  <a:srgbClr val="556175"/>
                </a:solidFill>
                <a:latin typeface="맑은 고딕"/>
                <a:ea typeface="맑은 고딕"/>
                <a:cs typeface="맑은 고딕"/>
              </a:rPr>
              <a:t>comp:cooler</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Sensor · 센서</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재어 내놓는 계측 채널. 인스턴스에 태그가 붙는다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센서 · 태그 TS1</a:t>
            </a:r>
          </a:p>
          <a:p>
            <a:pPr algn="l">
              <a:lnSpc>
                <a:spcPct val="110000"/>
              </a:lnSpc>
            </a:pPr>
            <a:r>
              <a:rPr sz="1250" b="1">
                <a:solidFill>
                  <a:srgbClr val="556175"/>
                </a:solidFill>
                <a:latin typeface="맑은 고딕"/>
                <a:ea typeface="맑은 고딕"/>
                <a:cs typeface="맑은 고딕"/>
              </a:rPr>
              <a:t>sen:ts1</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StateVariable · 상태 변수</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설비의 물리량</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sv:ts1</a:t>
            </a:r>
          </a:p>
          <a:p>
            <a:pPr algn="l">
              <a:lnSpc>
                <a:spcPct val="110000"/>
              </a:lnSpc>
            </a:pPr>
            <a:r>
              <a:rPr sz="1250" b="1">
                <a:solidFill>
                  <a:srgbClr val="556175"/>
                </a:solidFill>
                <a:latin typeface="맑은 고딕"/>
                <a:ea typeface="맑은 고딕"/>
                <a:cs typeface="맑은 고딕"/>
              </a:rPr>
              <a:t>냉각 효율 sv:ce</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Part · 부품</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갈아 끼우는 교체 부품</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코어</a:t>
            </a:r>
          </a:p>
          <a:p>
            <a:pPr algn="l">
              <a:lnSpc>
                <a:spcPct val="110000"/>
              </a:lnSpc>
            </a:pPr>
            <a:r>
              <a:rPr sz="1250" b="1">
                <a:solidFill>
                  <a:srgbClr val="556175"/>
                </a:solidFill>
                <a:latin typeface="맑은 고딕"/>
                <a:ea typeface="맑은 고딕"/>
                <a:cs typeface="맑은 고딕"/>
              </a:rPr>
              <a:t>part:cooler-core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구분 사례: 물건이 아닌 대상의 클래스와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증상, 고장 유형, 원인처럼 물건이 아닌 것도 클래스이며, 유온 상승과 쿨러 핀 오염이 그 인스턴스이다.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증상</a:t>
            </a:r>
          </a:p>
          <a:p>
            <a:pPr algn="l">
              <a:lnSpc>
                <a:spcPct val="110000"/>
              </a:lnSpc>
              <a:spcAft>
                <a:spcPts val="200"/>
              </a:spcAft>
            </a:pPr>
            <a:r>
              <a:rPr sz="1150" b="0">
                <a:solidFill>
                  <a:srgbClr val="556175"/>
                </a:solidFill>
                <a:latin typeface="맑은 고딕"/>
                <a:ea typeface="맑은 고딕"/>
                <a:cs typeface="맑은 고딕"/>
              </a:rPr>
              <a:t>Symptom</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Symptom의 인스턴스: 유온 상승, 냉각 효율 저하</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고장 유형</a:t>
            </a:r>
          </a:p>
          <a:p>
            <a:pPr algn="l">
              <a:lnSpc>
                <a:spcPct val="110000"/>
              </a:lnSpc>
              <a:spcAft>
                <a:spcPts val="200"/>
              </a:spcAft>
            </a:pPr>
            <a:r>
              <a:rPr sz="1150" b="0">
                <a:solidFill>
                  <a:srgbClr val="556175"/>
                </a:solidFill>
                <a:latin typeface="맑은 고딕"/>
                <a:ea typeface="맑은 고딕"/>
                <a:cs typeface="맑은 고딕"/>
              </a:rPr>
              <a:t>FailureMode</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FailureMode의 인스턴스: 쿨러 냉각 성능 상실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원인</a:t>
            </a:r>
          </a:p>
          <a:p>
            <a:pPr algn="l">
              <a:lnSpc>
                <a:spcPct val="110000"/>
              </a:lnSpc>
              <a:spcAft>
                <a:spcPts val="200"/>
              </a:spcAft>
            </a:pPr>
            <a:r>
              <a:rPr sz="1150" b="0">
                <a:solidFill>
                  <a:srgbClr val="556175"/>
                </a:solidFill>
                <a:latin typeface="맑은 고딕"/>
                <a:ea typeface="맑은 고딕"/>
                <a:cs typeface="맑은 고딕"/>
              </a:rPr>
              <a:t>Cause</a:t>
            </a:r>
          </a:p>
        </p:txBody>
      </p:sp>
      <p:sp>
        <p:nvSpPr>
          <p:cNvPr id="13" name="TextBox 12"/>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Cause의 인스턴스: 쿨러 핀 오염, 팬 구동 불량, 주변 온도 상승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속성: 클래스가 정한 칸, 인스턴스가 채운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클래스가 </a:t>
            </a:r>
            <a:r>
              <a:rPr sz="1600" b="1">
                <a:solidFill>
                  <a:srgbClr val="1A6FC4"/>
                </a:solidFill>
                <a:latin typeface="맑은 고딕"/>
                <a:ea typeface="맑은 고딕"/>
                <a:cs typeface="맑은 고딕"/>
              </a:rPr>
              <a:t>속성</a:t>
            </a:r>
            <a:r>
              <a:rPr sz="1600" b="0">
                <a:solidFill>
                  <a:srgbClr val="556175"/>
                </a:solidFill>
                <a:latin typeface="맑은 고딕"/>
                <a:ea typeface="맑은 고딕"/>
                <a:cs typeface="맑은 고딕"/>
              </a:rPr>
              <a:t>의 칸을 정하므로 유온 센서와 냉각 효율은 칸이 같고 채운 값만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속성_3.svg" descr="illust_747361926868860258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55660" y="2067284"/>
            <a:ext cx="261827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 클래스의 속성</a:t>
            </a:r>
          </a:p>
          <a:p>
            <a:pPr algn="ctr">
              <a:lnSpc>
                <a:spcPct val="110000"/>
              </a:lnSpc>
              <a:spcAft>
                <a:spcPts val="100"/>
              </a:spcAft>
            </a:pPr>
            <a:r>
              <a:rPr sz="1100" b="0">
                <a:solidFill>
                  <a:srgbClr val="556175"/>
                </a:solidFill>
                <a:latin typeface="맑은 고딕"/>
                <a:ea typeface="맑은 고딕"/>
                <a:cs typeface="맑은 고딕"/>
              </a:rPr>
              <a:t>속성(Property): 클래스가 정한 값의 칸</a:t>
            </a:r>
          </a:p>
        </p:txBody>
      </p:sp>
      <p:sp>
        <p:nvSpPr>
          <p:cNvPr id="8" name="TextBox 7"/>
          <p:cNvSpPr txBox="1"/>
          <p:nvPr/>
        </p:nvSpPr>
        <p:spPr>
          <a:xfrm>
            <a:off x="1273850" y="2866223"/>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id</a:t>
            </a:r>
          </a:p>
        </p:txBody>
      </p:sp>
      <p:sp>
        <p:nvSpPr>
          <p:cNvPr id="9" name="TextBox 8"/>
          <p:cNvSpPr txBox="1"/>
          <p:nvPr/>
        </p:nvSpPr>
        <p:spPr>
          <a:xfrm>
            <a:off x="1273850" y="3575340"/>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name</a:t>
            </a:r>
          </a:p>
        </p:txBody>
      </p:sp>
      <p:sp>
        <p:nvSpPr>
          <p:cNvPr id="10" name="TextBox 9"/>
          <p:cNvSpPr txBox="1"/>
          <p:nvPr/>
        </p:nvSpPr>
        <p:spPr>
          <a:xfrm>
            <a:off x="1273850" y="4284457"/>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tag</a:t>
            </a:r>
          </a:p>
        </p:txBody>
      </p:sp>
      <p:sp>
        <p:nvSpPr>
          <p:cNvPr id="11" name="TextBox 10"/>
          <p:cNvSpPr txBox="1"/>
          <p:nvPr/>
        </p:nvSpPr>
        <p:spPr>
          <a:xfrm>
            <a:off x="1273850" y="4993574"/>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unit</a:t>
            </a:r>
          </a:p>
        </p:txBody>
      </p:sp>
      <p:sp>
        <p:nvSpPr>
          <p:cNvPr id="12" name="TextBox 11"/>
          <p:cNvSpPr txBox="1"/>
          <p:nvPr/>
        </p:nvSpPr>
        <p:spPr>
          <a:xfrm>
            <a:off x="1273850" y="570269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virtual</a:t>
            </a:r>
          </a:p>
        </p:txBody>
      </p:sp>
      <p:sp>
        <p:nvSpPr>
          <p:cNvPr id="13" name="TextBox 12"/>
          <p:cNvSpPr txBox="1"/>
          <p:nvPr/>
        </p:nvSpPr>
        <p:spPr>
          <a:xfrm>
            <a:off x="50812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sen:ts1</a:t>
            </a:r>
          </a:p>
        </p:txBody>
      </p:sp>
      <p:sp>
        <p:nvSpPr>
          <p:cNvPr id="14" name="TextBox 13"/>
          <p:cNvSpPr txBox="1"/>
          <p:nvPr/>
        </p:nvSpPr>
        <p:spPr>
          <a:xfrm>
            <a:off x="50812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p:txBody>
      </p:sp>
      <p:sp>
        <p:nvSpPr>
          <p:cNvPr id="15" name="TextBox 14"/>
          <p:cNvSpPr txBox="1"/>
          <p:nvPr/>
        </p:nvSpPr>
        <p:spPr>
          <a:xfrm>
            <a:off x="50812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TS1</a:t>
            </a:r>
          </a:p>
        </p:txBody>
      </p:sp>
      <p:sp>
        <p:nvSpPr>
          <p:cNvPr id="16" name="TextBox 15"/>
          <p:cNvSpPr txBox="1"/>
          <p:nvPr/>
        </p:nvSpPr>
        <p:spPr>
          <a:xfrm>
            <a:off x="50812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17" name="TextBox 16"/>
          <p:cNvSpPr txBox="1"/>
          <p:nvPr/>
        </p:nvSpPr>
        <p:spPr>
          <a:xfrm>
            <a:off x="50812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false</a:t>
            </a:r>
          </a:p>
        </p:txBody>
      </p:sp>
      <p:sp>
        <p:nvSpPr>
          <p:cNvPr id="18" name="TextBox 17"/>
          <p:cNvSpPr txBox="1"/>
          <p:nvPr/>
        </p:nvSpPr>
        <p:spPr>
          <a:xfrm>
            <a:off x="8528664" y="2866223"/>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sen:ce</a:t>
            </a:r>
          </a:p>
        </p:txBody>
      </p:sp>
      <p:sp>
        <p:nvSpPr>
          <p:cNvPr id="19" name="TextBox 18"/>
          <p:cNvSpPr txBox="1"/>
          <p:nvPr/>
        </p:nvSpPr>
        <p:spPr>
          <a:xfrm>
            <a:off x="8528664" y="3575340"/>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효율</a:t>
            </a:r>
          </a:p>
        </p:txBody>
      </p:sp>
      <p:sp>
        <p:nvSpPr>
          <p:cNvPr id="20" name="TextBox 19"/>
          <p:cNvSpPr txBox="1"/>
          <p:nvPr/>
        </p:nvSpPr>
        <p:spPr>
          <a:xfrm>
            <a:off x="8528664" y="4284457"/>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CE</a:t>
            </a:r>
          </a:p>
        </p:txBody>
      </p:sp>
      <p:sp>
        <p:nvSpPr>
          <p:cNvPr id="21" name="TextBox 20"/>
          <p:cNvSpPr txBox="1"/>
          <p:nvPr/>
        </p:nvSpPr>
        <p:spPr>
          <a:xfrm>
            <a:off x="8528664" y="4993574"/>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t>
            </a:r>
          </a:p>
        </p:txBody>
      </p:sp>
      <p:sp>
        <p:nvSpPr>
          <p:cNvPr id="22" name="TextBox 21"/>
          <p:cNvSpPr txBox="1"/>
          <p:nvPr/>
        </p:nvSpPr>
        <p:spPr>
          <a:xfrm>
            <a:off x="8528664" y="570269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true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속성은 값에서 끝나고, 관계는 다른 인스턴스로 이어져 질의가 다음 대상으로 넘어가는 길이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orms" descr="form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데이터 속성</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인스턴스에 값을 붙인다</a:t>
            </a:r>
          </a:p>
          <a:p>
            <a:pPr algn="l">
              <a:lnSpc>
                <a:spcPct val="110000"/>
              </a:lnSpc>
              <a:spcAft>
                <a:spcPts val="600"/>
              </a:spcAft>
            </a:pPr>
            <a:r>
              <a:rPr sz="1450" b="0">
                <a:solidFill>
                  <a:srgbClr val="1F2A3A"/>
                </a:solidFill>
                <a:latin typeface="맑은 고딕"/>
                <a:ea typeface="맑은 고딕"/>
                <a:cs typeface="맑은 고딕"/>
              </a:rPr>
              <a:t>• 유온 센서의 tag는 「TS1」이다</a:t>
            </a:r>
          </a:p>
          <a:p>
            <a:pPr algn="l">
              <a:lnSpc>
                <a:spcPct val="110000"/>
              </a:lnSpc>
              <a:spcAft>
                <a:spcPts val="600"/>
              </a:spcAft>
            </a:pPr>
            <a:r>
              <a:rPr sz="1450" b="0">
                <a:solidFill>
                  <a:srgbClr val="1F2A3A"/>
                </a:solidFill>
                <a:latin typeface="맑은 고딕"/>
                <a:ea typeface="맑은 고딕"/>
                <a:cs typeface="맑은 고딕"/>
              </a:rPr>
              <a:t>• 값에서 더 따라갈 곳이 없다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값</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arrows-right" descr="arrows-righ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객체 간 관계</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인스턴스를 다른 인스턴스에 잇는다</a:t>
            </a:r>
          </a:p>
          <a:p>
            <a:pPr algn="l">
              <a:lnSpc>
                <a:spcPct val="110000"/>
              </a:lnSpc>
              <a:spcAft>
                <a:spcPts val="600"/>
              </a:spcAft>
            </a:pPr>
            <a:r>
              <a:rPr sz="1450" b="0">
                <a:solidFill>
                  <a:srgbClr val="1F2A3A"/>
                </a:solidFill>
                <a:latin typeface="맑은 고딕"/>
                <a:ea typeface="맑은 고딕"/>
                <a:cs typeface="맑은 고딕"/>
              </a:rPr>
              <a:t>• 유온 센서는 유온을 읽는다</a:t>
            </a:r>
          </a:p>
          <a:p>
            <a:pPr algn="l">
              <a:lnSpc>
                <a:spcPct val="110000"/>
              </a:lnSpc>
              <a:spcAft>
                <a:spcPts val="600"/>
              </a:spcAft>
            </a:pPr>
            <a:r>
              <a:rPr sz="1450" b="0">
                <a:solidFill>
                  <a:srgbClr val="1F2A3A"/>
                </a:solidFill>
                <a:latin typeface="맑은 고딕"/>
                <a:ea typeface="맑은 고딕"/>
                <a:cs typeface="맑은 고딕"/>
              </a:rPr>
              <a:t>• 관계를 따라 다음 대상으로 넘어간다</a:t>
            </a:r>
          </a:p>
        </p:txBody>
      </p:sp>
      <p:sp>
        <p:nvSpPr>
          <p:cNvPr id="18" name="Rounded Rectangle 17"/>
          <p:cNvSpPr/>
          <p:nvPr/>
        </p:nvSpPr>
        <p:spPr>
          <a:xfrm>
            <a:off x="6781647" y="494557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인스턴스 → 인스턴스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이상과 원인 · 조치의 관계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arrows.app에서 노드와 관계를 놓고 이름과 방향을 붙인다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센서, 부품, 고장 유형, 조치를 이름과 방향이 있는 관계로 이은 그림 한 장이 이 실습의 결과물이다.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노드를 놓는다</a:t>
            </a:r>
          </a:p>
          <a:p>
            <a:pPr algn="l">
              <a:lnSpc>
                <a:spcPct val="110000"/>
              </a:lnSpc>
              <a:spcAft>
                <a:spcPts val="400"/>
              </a:spcAft>
            </a:pPr>
            <a:r>
              <a:rPr sz="1400" b="0">
                <a:solidFill>
                  <a:srgbClr val="1F2A3A"/>
                </a:solidFill>
                <a:latin typeface="맑은 고딕"/>
                <a:ea typeface="맑은 고딕"/>
                <a:cs typeface="맑은 고딕"/>
              </a:rPr>
              <a:t>• 쿨러, 센서, 부품, 고장 유형, 조치를 노드로 만든다</a:t>
            </a:r>
          </a:p>
          <a:p>
            <a:pPr algn="l">
              <a:lnSpc>
                <a:spcPct val="110000"/>
              </a:lnSpc>
              <a:spcAft>
                <a:spcPts val="400"/>
              </a:spcAft>
            </a:pPr>
            <a:r>
              <a:rPr sz="1400" b="0">
                <a:solidFill>
                  <a:srgbClr val="1F2A3A"/>
                </a:solidFill>
                <a:latin typeface="맑은 고딕"/>
                <a:ea typeface="맑은 고딕"/>
                <a:cs typeface="맑은 고딕"/>
              </a:rPr>
              <a:t>• 노드마다 실제 대상의 이름을 적는다</a:t>
            </a:r>
          </a:p>
        </p:txBody>
      </p:sp>
      <p:sp>
        <p:nvSpPr>
          <p:cNvPr id="10" name="Rounded Rectangle 9"/>
          <p:cNvSpPr/>
          <p:nvPr/>
        </p:nvSpPr>
        <p:spPr>
          <a:xfrm>
            <a:off x="777240" y="5258308"/>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arrows-right" descr="arrows-right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관계를 잇는다</a:t>
            </a:r>
          </a:p>
          <a:p>
            <a:pPr algn="l">
              <a:lnSpc>
                <a:spcPct val="110000"/>
              </a:lnSpc>
              <a:spcAft>
                <a:spcPts val="400"/>
              </a:spcAft>
            </a:pPr>
            <a:r>
              <a:rPr sz="1400" b="0">
                <a:solidFill>
                  <a:srgbClr val="1F2A3A"/>
                </a:solidFill>
                <a:latin typeface="맑은 고딕"/>
                <a:ea typeface="맑은 고딕"/>
                <a:cs typeface="맑은 고딕"/>
              </a:rPr>
              <a:t>• 노드 사이에 화살표를 긋고 이름을 붙인다</a:t>
            </a:r>
          </a:p>
          <a:p>
            <a:pPr algn="l">
              <a:lnSpc>
                <a:spcPct val="110000"/>
              </a:lnSpc>
              <a:spcAft>
                <a:spcPts val="400"/>
              </a:spcAft>
            </a:pPr>
            <a:r>
              <a:rPr sz="1400" b="0">
                <a:solidFill>
                  <a:srgbClr val="1F2A3A"/>
                </a:solidFill>
                <a:latin typeface="맑은 고딕"/>
                <a:ea typeface="맑은 고딕"/>
                <a:cs typeface="맑은 고딕"/>
              </a:rPr>
              <a:t>• 관계의 이름은 스스로 정한다</a:t>
            </a:r>
          </a:p>
        </p:txBody>
      </p:sp>
      <p:sp>
        <p:nvSpPr>
          <p:cNvPr id="16" name="Rounded Rectangle 15"/>
          <p:cNvSpPr/>
          <p:nvPr/>
        </p:nvSpPr>
        <p:spPr>
          <a:xfrm>
            <a:off x="4566818" y="5258308"/>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이름과 방향</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문장으로 읽는다</a:t>
            </a:r>
          </a:p>
          <a:p>
            <a:pPr algn="l">
              <a:lnSpc>
                <a:spcPct val="110000"/>
              </a:lnSpc>
              <a:spcAft>
                <a:spcPts val="400"/>
              </a:spcAft>
            </a:pPr>
            <a:r>
              <a:rPr sz="1400" b="0">
                <a:solidFill>
                  <a:srgbClr val="1F2A3A"/>
                </a:solidFill>
                <a:latin typeface="맑은 고딕"/>
                <a:ea typeface="맑은 고딕"/>
                <a:cs typeface="맑은 고딕"/>
              </a:rPr>
              <a:t>• 화살표마다 주어, 서술어, 목적어로 읽는다</a:t>
            </a:r>
          </a:p>
          <a:p>
            <a:pPr algn="l">
              <a:lnSpc>
                <a:spcPct val="110000"/>
              </a:lnSpc>
              <a:spcAft>
                <a:spcPts val="400"/>
              </a:spcAft>
            </a:pPr>
            <a:r>
              <a:rPr sz="1400" b="0">
                <a:solidFill>
                  <a:srgbClr val="1F2A3A"/>
                </a:solidFill>
                <a:latin typeface="맑은 고딕"/>
                <a:ea typeface="맑은 고딕"/>
                <a:cs typeface="맑은 고딕"/>
              </a:rPr>
              <a:t>• 어색하면 이름이나 방향을 고친다</a:t>
            </a:r>
          </a:p>
          <a:p>
            <a:pPr algn="l">
              <a:lnSpc>
                <a:spcPct val="110000"/>
              </a:lnSpc>
              <a:spcAft>
                <a:spcPts val="400"/>
              </a:spcAft>
            </a:pPr>
            <a:r>
              <a:rPr sz="1400" b="0">
                <a:solidFill>
                  <a:srgbClr val="1F2A3A"/>
                </a:solidFill>
                <a:latin typeface="맑은 고딕"/>
                <a:ea typeface="맑은 고딕"/>
                <a:cs typeface="맑은 고딕"/>
              </a:rPr>
              <a:t>• 온도 값에서 조치로 곧바로 가는 선이 없음을 확인한다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정보를 같은 기준으로 구조화하기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설비 · 센서 목록을 클래스, 인스턴스, 식별자로 나누어 파일로 적는다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구분하고 적는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 센서 목록을 클래스, 인스턴스, 식별자로 구분해 적으면 schema.json과 노드 · 관계의 예제가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목록을 읽는다</a:t>
            </a:r>
          </a:p>
          <a:p>
            <a:pPr algn="l">
              <a:lnSpc>
                <a:spcPct val="110000"/>
              </a:lnSpc>
              <a:spcAft>
                <a:spcPts val="400"/>
              </a:spcAft>
            </a:pPr>
            <a:r>
              <a:rPr sz="1350" b="0">
                <a:solidFill>
                  <a:srgbClr val="1F2A3A"/>
                </a:solidFill>
                <a:latin typeface="맑은 고딕"/>
                <a:ea typeface="맑은 고딕"/>
                <a:cs typeface="맑은 고딕"/>
              </a:rPr>
              <a:t>제공된 설비와 센서 목록의 항목을 하나씩 읽는다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자료</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ategory" descr="category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구분한다</a:t>
            </a:r>
          </a:p>
          <a:p>
            <a:pPr algn="l">
              <a:lnSpc>
                <a:spcPct val="110000"/>
              </a:lnSpc>
              <a:spcAft>
                <a:spcPts val="400"/>
              </a:spcAft>
            </a:pPr>
            <a:r>
              <a:rPr sz="1350" b="0">
                <a:solidFill>
                  <a:srgbClr val="1F2A3A"/>
                </a:solidFill>
                <a:latin typeface="맑은 고딕"/>
                <a:ea typeface="맑은 고딕"/>
                <a:cs typeface="맑은 고딕"/>
              </a:rPr>
              <a:t>• 항목마다 클래스인지 인스턴스인지 가린다</a:t>
            </a:r>
          </a:p>
          <a:p>
            <a:pPr algn="l">
              <a:lnSpc>
                <a:spcPct val="110000"/>
              </a:lnSpc>
              <a:spcAft>
                <a:spcPts val="400"/>
              </a:spcAft>
            </a:pPr>
            <a:r>
              <a:rPr sz="1350" b="0">
                <a:solidFill>
                  <a:srgbClr val="1F2A3A"/>
                </a:solidFill>
                <a:latin typeface="맑은 고딕"/>
                <a:ea typeface="맑은 고딕"/>
                <a:cs typeface="맑은 고딕"/>
              </a:rPr>
              <a:t>• 인스턴스에는 하나뿐인 값인 식별자를 붙인다</a:t>
            </a:r>
          </a:p>
        </p:txBody>
      </p:sp>
      <p:sp>
        <p:nvSpPr>
          <p:cNvPr id="16" name="Rounded Rectangle 15"/>
          <p:cNvSpPr/>
          <p:nvPr/>
        </p:nvSpPr>
        <p:spPr>
          <a:xfrm>
            <a:off x="3619423" y="5134356"/>
            <a:ext cx="16763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클래스 · 인스턴스</a:t>
            </a:r>
          </a:p>
        </p:txBody>
      </p:sp>
      <p:sp>
        <p:nvSpPr>
          <p:cNvPr id="18" name="Rounded Rectangle 17"/>
          <p:cNvSpPr/>
          <p:nvPr/>
        </p:nvSpPr>
        <p:spPr>
          <a:xfrm>
            <a:off x="6233007"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5CB8F2"/>
          </a:solidFill>
          <a:ln>
            <a:noFill/>
          </a:ln>
        </p:spPr>
        <p:txBody>
          <a:bodyPr rtlCol="0" anchor="ctr"/>
          <a:lstStyle/>
          <a:p>
            <a:pPr algn="ctr"/>
          </a:p>
        </p:txBody>
      </p:sp>
      <p:pic>
        <p:nvPicPr>
          <p:cNvPr id="20" name="아이콘:file-code" descr="file-cod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파일로 적는다</a:t>
            </a:r>
          </a:p>
          <a:p>
            <a:pPr algn="l">
              <a:lnSpc>
                <a:spcPct val="110000"/>
              </a:lnSpc>
              <a:spcAft>
                <a:spcPts val="400"/>
              </a:spcAft>
            </a:pPr>
            <a:r>
              <a:rPr sz="1350" b="0">
                <a:solidFill>
                  <a:srgbClr val="1F2A3A"/>
                </a:solidFill>
                <a:latin typeface="맑은 고딕"/>
                <a:ea typeface="맑은 고딕"/>
                <a:cs typeface="맑은 고딕"/>
              </a:rPr>
              <a:t>구분한 결과를 클래스와 관계의 정의를 적는 파일 schema.json과 노드 · 관계의 예제로 적는다</a:t>
            </a:r>
          </a:p>
        </p:txBody>
      </p:sp>
      <p:sp>
        <p:nvSpPr>
          <p:cNvPr id="22" name="Rounded Rectangle 21"/>
          <p:cNvSpPr/>
          <p:nvPr/>
        </p:nvSpPr>
        <p:spPr>
          <a:xfrm>
            <a:off x="6461607" y="513435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파일</a:t>
            </a:r>
          </a:p>
        </p:txBody>
      </p:sp>
      <p:sp>
        <p:nvSpPr>
          <p:cNvPr id="24" name="Rounded Rectangle 23"/>
          <p:cNvSpPr/>
          <p:nvPr/>
        </p:nvSpPr>
        <p:spPr>
          <a:xfrm>
            <a:off x="9075191"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E7F3FD"/>
          </a:solidFill>
          <a:ln>
            <a:noFill/>
          </a:ln>
        </p:spPr>
        <p:txBody>
          <a:bodyPr rtlCol="0" anchor="ctr"/>
          <a:lstStyle/>
          <a:p>
            <a:pPr algn="ctr"/>
          </a:p>
        </p:txBody>
      </p:sp>
      <p:pic>
        <p:nvPicPr>
          <p:cNvPr id="26" name="아이콘:arrows-diff" descr="arrows-diff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관계도와 대조한다</a:t>
            </a:r>
          </a:p>
          <a:p>
            <a:pPr algn="l">
              <a:lnSpc>
                <a:spcPct val="110000"/>
              </a:lnSpc>
              <a:spcAft>
                <a:spcPts val="400"/>
              </a:spcAft>
            </a:pPr>
            <a:r>
              <a:rPr sz="1350" b="0">
                <a:solidFill>
                  <a:srgbClr val="1F2A3A"/>
                </a:solidFill>
                <a:latin typeface="맑은 고딕"/>
                <a:ea typeface="맑은 고딕"/>
                <a:cs typeface="맑은 고딕"/>
              </a:rPr>
              <a:t>앞에서 그린 관계도와 파일의 내용이 같은 뜻인지 견준다</a:t>
            </a:r>
          </a:p>
        </p:txBody>
      </p:sp>
      <p:sp>
        <p:nvSpPr>
          <p:cNvPr id="28" name="Rounded Rectangle 27"/>
          <p:cNvSpPr/>
          <p:nvPr/>
        </p:nvSpPr>
        <p:spPr>
          <a:xfrm>
            <a:off x="9303791" y="5134356"/>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그래프 DB에서 관계를 따라 조회하기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질의 언어 Cypher로 설비에 이어진 센서와 부품을 찾는다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조회하는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설비에 이어진 센서와 부품을 질의로 조회한 결과를 포털의 지식 지도와 견줄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그래프를 읽는다</a:t>
            </a:r>
          </a:p>
          <a:p>
            <a:pPr algn="l">
              <a:lnSpc>
                <a:spcPct val="110000"/>
              </a:lnSpc>
              <a:spcAft>
                <a:spcPts val="400"/>
              </a:spcAft>
            </a:pPr>
            <a:r>
              <a:rPr sz="1350" b="0">
                <a:solidFill>
                  <a:srgbClr val="1F2A3A"/>
                </a:solidFill>
                <a:latin typeface="맑은 고딕"/>
                <a:ea typeface="맑은 고딕"/>
                <a:cs typeface="맑은 고딕"/>
              </a:rPr>
              <a:t>노드의 종류를 나타내는 레이블과 속성, 관계의 유형과 방향을 확인한다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 확인</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earch" descr="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단계를 조회한다</a:t>
            </a:r>
          </a:p>
          <a:p>
            <a:pPr algn="l">
              <a:lnSpc>
                <a:spcPct val="110000"/>
              </a:lnSpc>
              <a:spcAft>
                <a:spcPts val="400"/>
              </a:spcAft>
            </a:pPr>
            <a:r>
              <a:rPr sz="1350" b="0">
                <a:solidFill>
                  <a:srgbClr val="1F2A3A"/>
                </a:solidFill>
                <a:latin typeface="맑은 고딕"/>
                <a:ea typeface="맑은 고딕"/>
                <a:cs typeface="맑은 고딕"/>
              </a:rPr>
              <a:t>MATCH, WHERE, RETURN으로 설비에 이어진 센서와 부품을 찾는다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조회</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여러 단계를 조회한다</a:t>
            </a:r>
          </a:p>
          <a:p>
            <a:pPr algn="l">
              <a:lnSpc>
                <a:spcPct val="110000"/>
              </a:lnSpc>
              <a:spcAft>
                <a:spcPts val="400"/>
              </a:spcAft>
            </a:pPr>
            <a:r>
              <a:rPr sz="1350" b="0">
                <a:solidFill>
                  <a:srgbClr val="1F2A3A"/>
                </a:solidFill>
                <a:latin typeface="맑은 고딕"/>
                <a:ea typeface="맑은 고딕"/>
                <a:cs typeface="맑은 고딕"/>
              </a:rPr>
              <a:t>관계를 이어 적어 한 번에 여러 단계를 따라간다</a:t>
            </a:r>
          </a:p>
        </p:txBody>
      </p:sp>
      <p:sp>
        <p:nvSpPr>
          <p:cNvPr id="22" name="Rounded Rectangle 21"/>
          <p:cNvSpPr/>
          <p:nvPr/>
        </p:nvSpPr>
        <p:spPr>
          <a:xfrm>
            <a:off x="6461607" y="513435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경로 조회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table" descr="tab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지도와 견준다</a:t>
            </a:r>
          </a:p>
          <a:p>
            <a:pPr algn="l">
              <a:lnSpc>
                <a:spcPct val="110000"/>
              </a:lnSpc>
              <a:spcAft>
                <a:spcPts val="400"/>
              </a:spcAft>
            </a:pPr>
            <a:r>
              <a:rPr sz="1350" b="0">
                <a:solidFill>
                  <a:srgbClr val="1F2A3A"/>
                </a:solidFill>
                <a:latin typeface="맑은 고딕"/>
                <a:ea typeface="맑은 고딕"/>
                <a:cs typeface="맑은 고딕"/>
              </a:rPr>
              <a:t>조회 결과를 포털의 지식 지도와 견주어 같은 곳과 다른 곳을 적는다</a:t>
            </a:r>
          </a:p>
        </p:txBody>
      </p:sp>
      <p:sp>
        <p:nvSpPr>
          <p:cNvPr id="28" name="Rounded Rectangle 27"/>
          <p:cNvSpPr/>
          <p:nvPr/>
        </p:nvSpPr>
        <p:spPr>
          <a:xfrm>
            <a:off x="9303791" y="5134356"/>
            <a:ext cx="15239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그래프의 차이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기준 지식과 나의 설계 비교하기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포털의 지식 지도와 견주어 내가 만든 설계의 빠진 부분을 보완한다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비교하고 보완하는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포털의 지식 지도를 기준으로 삼아 견주면 내 설계에서 빠진 관계와 속성, 반대로 적은 방향이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 확인</a:t>
            </a:r>
          </a:p>
          <a:p>
            <a:pPr algn="ctr">
              <a:lnSpc>
                <a:spcPct val="110000"/>
              </a:lnSpc>
              <a:spcAft>
                <a:spcPts val="400"/>
              </a:spcAft>
            </a:pPr>
            <a:r>
              <a:rPr sz="1350" b="0">
                <a:solidFill>
                  <a:srgbClr val="1F2A3A"/>
                </a:solidFill>
                <a:latin typeface="맑은 고딕"/>
                <a:ea typeface="맑은 고딕"/>
                <a:cs typeface="맑은 고딕"/>
              </a:rPr>
              <a:t>HYD 포털의</a:t>
            </a:r>
          </a:p>
          <a:p>
            <a:pPr algn="ctr">
              <a:lnSpc>
                <a:spcPct val="110000"/>
              </a:lnSpc>
              <a:spcAft>
                <a:spcPts val="400"/>
              </a:spcAft>
            </a:pPr>
            <a:r>
              <a:rPr sz="1350" b="0">
                <a:solidFill>
                  <a:srgbClr val="1F2A3A"/>
                </a:solidFill>
                <a:latin typeface="맑은 고딕"/>
                <a:ea typeface="맑은 고딕"/>
                <a:cs typeface="맑은 고딕"/>
              </a:rPr>
              <a:t>지식 지도에서</a:t>
            </a:r>
          </a:p>
          <a:p>
            <a:pPr algn="ctr">
              <a:lnSpc>
                <a:spcPct val="110000"/>
              </a:lnSpc>
              <a:spcAft>
                <a:spcPts val="400"/>
              </a:spcAft>
            </a:pPr>
            <a:r>
              <a:rPr sz="1350" b="0">
                <a:solidFill>
                  <a:srgbClr val="1F2A3A"/>
                </a:solidFill>
                <a:latin typeface="맑은 고딕"/>
                <a:ea typeface="맑은 고딕"/>
                <a:cs typeface="맑은 고딕"/>
              </a:rPr>
              <a:t>제공된 관계를</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git-compare" descr="git-compare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차이 찾기</a:t>
            </a:r>
          </a:p>
          <a:p>
            <a:pPr algn="ctr">
              <a:lnSpc>
                <a:spcPct val="110000"/>
              </a:lnSpc>
              <a:spcAft>
                <a:spcPts val="400"/>
              </a:spcAft>
            </a:pPr>
            <a:r>
              <a:rPr sz="1350" b="0">
                <a:solidFill>
                  <a:srgbClr val="1F2A3A"/>
                </a:solidFill>
                <a:latin typeface="맑은 고딕"/>
                <a:ea typeface="맑은 고딕"/>
                <a:cs typeface="맑은 고딕"/>
              </a:rPr>
              <a:t>내 그래프에 없는</a:t>
            </a:r>
          </a:p>
          <a:p>
            <a:pPr algn="ctr">
              <a:lnSpc>
                <a:spcPct val="110000"/>
              </a:lnSpc>
              <a:spcAft>
                <a:spcPts val="400"/>
              </a:spcAft>
            </a:pPr>
            <a:r>
              <a:rPr sz="1350" b="0">
                <a:solidFill>
                  <a:srgbClr val="1F2A3A"/>
                </a:solidFill>
                <a:latin typeface="맑은 고딕"/>
                <a:ea typeface="맑은 고딕"/>
                <a:cs typeface="맑은 고딕"/>
              </a:rPr>
              <a:t>관계와 속성,</a:t>
            </a:r>
          </a:p>
          <a:p>
            <a:pPr algn="ctr">
              <a:lnSpc>
                <a:spcPct val="110000"/>
              </a:lnSpc>
              <a:spcAft>
                <a:spcPts val="400"/>
              </a:spcAft>
            </a:pPr>
            <a:r>
              <a:rPr sz="1350" b="0">
                <a:solidFill>
                  <a:srgbClr val="1F2A3A"/>
                </a:solidFill>
                <a:latin typeface="맑은 고딕"/>
                <a:ea typeface="맑은 고딕"/>
                <a:cs typeface="맑은 고딕"/>
              </a:rPr>
              <a:t>반대로 적은 방향을</a:t>
            </a:r>
          </a:p>
          <a:p>
            <a:pPr algn="ctr">
              <a:lnSpc>
                <a:spcPct val="110000"/>
              </a:lnSpc>
              <a:spcAft>
                <a:spcPts val="400"/>
              </a:spcAft>
            </a:pPr>
            <a:r>
              <a:rPr sz="1350" b="0">
                <a:solidFill>
                  <a:srgbClr val="1F2A3A"/>
                </a:solidFill>
                <a:latin typeface="맑은 고딕"/>
                <a:ea typeface="맑은 고딕"/>
                <a:cs typeface="맑은 고딕"/>
              </a:rPr>
              <a:t>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설계 보완</a:t>
            </a:r>
          </a:p>
          <a:p>
            <a:pPr algn="ctr">
              <a:lnSpc>
                <a:spcPct val="110000"/>
              </a:lnSpc>
              <a:spcAft>
                <a:spcPts val="400"/>
              </a:spcAft>
            </a:pPr>
            <a:r>
              <a:rPr sz="1350" b="0">
                <a:solidFill>
                  <a:srgbClr val="1F2A3A"/>
                </a:solidFill>
                <a:latin typeface="맑은 고딕"/>
                <a:ea typeface="맑은 고딕"/>
                <a:cs typeface="맑은 고딕"/>
              </a:rPr>
              <a:t>찾은 차이를</a:t>
            </a:r>
          </a:p>
          <a:p>
            <a:pPr algn="ctr">
              <a:lnSpc>
                <a:spcPct val="110000"/>
              </a:lnSpc>
              <a:spcAft>
                <a:spcPts val="400"/>
              </a:spcAft>
            </a:pPr>
            <a:r>
              <a:rPr sz="1350" b="0">
                <a:solidFill>
                  <a:srgbClr val="1F2A3A"/>
                </a:solidFill>
                <a:latin typeface="맑은 고딕"/>
                <a:ea typeface="맑은 고딕"/>
                <a:cs typeface="맑은 고딕"/>
              </a:rPr>
              <a:t>내 schema.json에</a:t>
            </a:r>
          </a:p>
          <a:p>
            <a:pPr algn="ctr">
              <a:lnSpc>
                <a:spcPct val="110000"/>
              </a:lnSpc>
              <a:spcAft>
                <a:spcPts val="400"/>
              </a:spcAft>
            </a:pPr>
            <a:r>
              <a:rPr sz="1350" b="0">
                <a:solidFill>
                  <a:srgbClr val="1F2A3A"/>
                </a:solidFill>
                <a:latin typeface="맑은 고딕"/>
                <a:ea typeface="맑은 고딕"/>
                <a:cs typeface="맑은 고딕"/>
              </a:rPr>
              <a:t>고쳐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보존</a:t>
            </a:r>
          </a:p>
          <a:p>
            <a:pPr algn="ctr">
              <a:lnSpc>
                <a:spcPct val="110000"/>
              </a:lnSpc>
              <a:spcAft>
                <a:spcPts val="400"/>
              </a:spcAft>
            </a:pPr>
            <a:r>
              <a:rPr sz="1350" b="0">
                <a:solidFill>
                  <a:srgbClr val="1F2A3A"/>
                </a:solidFill>
                <a:latin typeface="맑은 고딕"/>
                <a:ea typeface="맑은 고딕"/>
                <a:cs typeface="맑은 고딕"/>
              </a:rPr>
              <a:t>고친 파일을 남겨</a:t>
            </a:r>
          </a:p>
          <a:p>
            <a:pPr algn="ctr">
              <a:lnSpc>
                <a:spcPct val="110000"/>
              </a:lnSpc>
              <a:spcAft>
                <a:spcPts val="400"/>
              </a:spcAft>
            </a:pPr>
            <a:r>
              <a:rPr sz="1350" b="0">
                <a:solidFill>
                  <a:srgbClr val="1F2A3A"/>
                </a:solidFill>
                <a:latin typeface="맑은 고딕"/>
                <a:ea typeface="맑은 고딕"/>
                <a:cs typeface="맑은 고딕"/>
              </a:rPr>
              <a:t>다음 시간에</a:t>
            </a:r>
          </a:p>
          <a:p>
            <a:pPr algn="ctr">
              <a:lnSpc>
                <a:spcPct val="110000"/>
              </a:lnSpc>
              <a:spcAft>
                <a:spcPts val="400"/>
              </a:spcAft>
            </a:pPr>
            <a:r>
              <a:rPr sz="1350" b="0">
                <a:solidFill>
                  <a:srgbClr val="1F2A3A"/>
                </a:solidFill>
                <a:latin typeface="맑은 고딕"/>
                <a:ea typeface="맑은 고딕"/>
                <a:cs typeface="맑은 고딕"/>
              </a:rPr>
              <a:t>이어 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용어의 정식 명칭과 그 용어가 설비 지식의 표현에서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지식의 표현에서</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온톨로지</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Ontology</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대상과 관계의 정의</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지식 그래프</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Knowledge Graph</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노드와 관계의 지식</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클래스</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Class</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대상의 유형</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인스턴스</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Instance</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실제 대상 하나</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속성</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Property</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값을 적는 칸</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PLC</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Programmable Logic Controller</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 상태의 출처</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MES</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Manufacturing Execution System</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생산 일정의 출처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경보 이후의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HYD-01에서 쿨러 성능 저하 경보가 났고, 그때 팬 진동 VS1의 평균은 1.1 mm/s, 캐비닛 온도 TS4는 28 ℃였다.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값에서 내릴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경보 이름이 쿨러 성능 저하이므로 원인은 쿨러 핀 오염이다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진동이 기준 0.9 이상이므로 팬 구동 불량을 먼저 의심한다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유온이 올랐으므로 원인과 관계없이 팬을 최대로 올린다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캐비닛 온도가 정상이므로 설비에는 이상이 없다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관계의 이름과 방향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핀 오염」이라는 원인 노드와 「쿨러 냉각 성능 상실」이라는 고장 유형 노드를 관계로 이으려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이름과 방향이 서로 맞게 적힌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냉각 성능 상실 — CAUSES → 쿨러 핀 오염</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CAUSED_BY → 쿨러 냉각 성능 상실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 — CAUSES → 쿨러 냉각 성능 상실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선만 이으면 되고 이름과 방향은 필요하지 않다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속성으로 둘 것과 관계로 둘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 센서 TS1에 측정 단위 ℃와 그 센서가 재는 대상인 유온을 덧붙여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두 가지를 적는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단위는 센서의 속성으로 적고, 유온은 센서에서 유온 인스턴스로 가는 관계로 잇는다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단위와 유온을 모두 센서의 속성으로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단위와 유온을 모두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단위는 관계로 잇고, 유온은 센서의 속성으로 적는다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경보와 원인, 관계의 이름과 방향, 속성과 관계를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경보는 조건이 성립했다는 사실만 알린다. 원인은 팬 진동과 캐비닛 온도 같은 다른 값으로 가른다.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문장으로 읽어 뜻이 통해야 한다. 「핀 오염은 냉각 성능 상실을 일으킨다」가 사실과 맞는다.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단위처럼 값에서 끝나는 것은 속성으로 둔다. 유온처럼 다른 인스턴스를 가리키는 것은 관계로 잇는다.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