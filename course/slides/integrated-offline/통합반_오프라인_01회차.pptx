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오늘은 경보 뒤의 판단에 왜 지식이 필요한지, 그 지식을 어떻게 적는지를 먼저 정리합니다. 이어지는 네 개의 실습에서 관계도를 그리고, 파일로 적고, 그래프 DB에서 조회하고, 기준 지식과 견주어 보완합니다.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쿨러의 냉각 성능이 떨어져 유온 TS1이 오른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계측과 경보 기능이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값은 값을 시간 순서로 쌓는 저장소, 곧 시계열 DB에, 운전 상태는 설비를 제어하는 PLC의 상태 메시지에, 원인 후보와 조치 방법은 설비 매뉴얼에, 생산 일정은 MES에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사람이 머릿속에서 잇는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관계 그림에는 노드마다 원인 같은 종류와 쿨러 핀 오염 같은 실제 이름이 함께 있었습니다.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설비 쪽의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관계 그림에 나온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쿨러, 센서, 부품, 고장 유형, 조치를 노드로 놓고 관계를 이어 이름을 붙입니다. 다 그린 뒤에는 화살표마다 문장으로 읽어 뜻이 통하는지 확인합니다. 온도 값 하나가 조치로 바로 이어지지 않고 고장 유형을 거친다는 것도 그림에서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그린 관계도를 같은 기준의 파일로 옮기는 실습입니다. 목록의 항목마다 클래스인지 인스턴스인지를 가리고, 인스턴스를 서로 구별할 식별자를 정합니다. 정한 내용을 AI에게 요구사항으로 전달해 바이브 코딩으로 파일을 만들고, 만들어진 파일이 관계도와 같은 뜻인지 견줍니다. 무엇을 클래스로 두고 무엇을 인스턴스로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보내는 요청을 질의라고 하며, MATCH에는 찾을 모양을, WHERE에는 조건을, RETURN에는 돌려받을 것을 적습니다. 질의를 외우는 것이 아니라 묻고 싶은 것을 노드와 관계의 모양으로 바꾸어 적는 연습입니다. 결과가 예상과 다르면 레이블과 관계 유형의 철자, 화살표의 방향을 먼저 확인합니다. HYD 포털의 지식 지도는 기준으로 제공된 지식 그래프이며, 조회한 결과를 이것과 견주어 같은 곳과 다른 곳을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견준 포털의 지식 지도를 이번에는 내 설계를 고치는 기준으로 씁니다. 내 그래프와 견주어 빠진 관계와 속성, 반대로 적은 방향을 찾습니다. 찾은 차이는 내 파일에서 직접 고칩니다. 고친 schema.json은 남겨 두고 다음 시간에 이어 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쓴 용어의 정식 명칭을 한곳에 모았습니다. 뜻은 앞에서 풀었으므로 여기서는 이름과 자리만 확인합니다.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값에서 끝나는 것과 다른 인스턴스로 이어지는 것을 가리는 문항입니다. 단위와 유온 가운데 어느 쪽이 자기 클래스와 인스턴스를 가진 대상이었는지를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경보의 이름만으로 원인을 단정한 것입니다. 둘째 문항의 2번은 CAUSED_BY라는 이름에 방향을 원인에서 고장 유형으로 두어 뜻이 통하지 않습니다. 셋째 문항의 2번은 유온을 속성으로 넣어 계측 대상이 값에서 끝나 버립니다.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6.png"/><Relationship Id="rId5"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8.png"/><Relationship Id="rId5"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2.png"/><Relationship Id="rId5" Type="http://schemas.openxmlformats.org/officeDocument/2006/relationships/image" Target="../media/image7.png"/><Relationship Id="rId6"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 Id="rId4" Type="http://schemas.openxmlformats.org/officeDocument/2006/relationships/image" Target="../media/image7.png"/><Relationship Id="rId5" Type="http://schemas.openxmlformats.org/officeDocument/2006/relationships/image" Target="../media/image4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42.png"/><Relationship Id="rId6" Type="http://schemas.openxmlformats.org/officeDocument/2006/relationships/image" Target="../media/image4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12.png"/><Relationship Id="rId5" Type="http://schemas.openxmlformats.org/officeDocument/2006/relationships/image" Target="../media/image45.png"/><Relationship Id="rId6"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7.png"/><Relationship Id="rId5" Type="http://schemas.openxmlformats.org/officeDocument/2006/relationships/image" Target="../media/image8.png"/><Relationship Id="rId6"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정보를 연결된 지식으로 표현</a:t>
            </a:r>
          </a:p>
          <a:p>
            <a:pPr algn="l">
              <a:lnSpc>
                <a:spcPct val="110000"/>
              </a:lnSpc>
            </a:pPr>
            <a:r>
              <a:rPr sz="4000" b="1">
                <a:solidFill>
                  <a:srgbClr val="FFFFFF"/>
                </a:solidFill>
                <a:latin typeface="맑은 고딕"/>
                <a:ea typeface="맑은 고딕"/>
                <a:cs typeface="맑은 고딕"/>
              </a:rPr>
              <a:t>온톨로지의 필요와 구조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데이터와 지식의 차이, 클래스와 인스턴스, 관계의 방향</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category" descr="category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arrows-right" descr="arrows-righ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클래스, 인스턴스, 속성, 관계로 나누어 적고 네 개의 실습에서 직접 표현한다.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 뒤의 판단에 값과 정보 말고 지식이 필요한 까닭을 설명한다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필요</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구성</a:t>
            </a:r>
          </a:p>
          <a:p>
            <a:pPr algn="l">
              <a:lnSpc>
                <a:spcPct val="110000"/>
              </a:lnSpc>
              <a:spcAft>
                <a:spcPts val="400"/>
              </a:spcAft>
            </a:pPr>
            <a:r>
              <a:rPr sz="1350" b="0">
                <a:solidFill>
                  <a:srgbClr val="1F2A3A"/>
                </a:solidFill>
                <a:latin typeface="맑은 고딕"/>
                <a:ea typeface="맑은 고딕"/>
                <a:cs typeface="맑은 고딕"/>
              </a:rPr>
              <a:t>클래스, 인스턴스, 속성, 관계로 설비 정보를 나누어 적는다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관계의 이름과 방향을 문장으로 읽어 맞는지 가린다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표현하기</a:t>
            </a:r>
          </a:p>
          <a:p>
            <a:pPr algn="l">
              <a:lnSpc>
                <a:spcPct val="110000"/>
              </a:lnSpc>
              <a:spcAft>
                <a:spcPts val="400"/>
              </a:spcAft>
            </a:pPr>
            <a:r>
              <a:rPr sz="1350" b="0">
                <a:solidFill>
                  <a:srgbClr val="1F2A3A"/>
                </a:solidFill>
                <a:latin typeface="맑은 고딕"/>
                <a:ea typeface="맑은 고딕"/>
                <a:cs typeface="맑은 고딕"/>
              </a:rPr>
              <a:t>• 관계도를 그리고 파일로 적는다</a:t>
            </a:r>
          </a:p>
          <a:p>
            <a:pPr algn="l">
              <a:lnSpc>
                <a:spcPct val="110000"/>
              </a:lnSpc>
              <a:spcAft>
                <a:spcPts val="400"/>
              </a:spcAft>
            </a:pPr>
            <a:r>
              <a:rPr sz="1350" b="0">
                <a:solidFill>
                  <a:srgbClr val="1F2A3A"/>
                </a:solidFill>
                <a:latin typeface="맑은 고딕"/>
                <a:ea typeface="맑은 고딕"/>
                <a:cs typeface="맑은 고딕"/>
              </a:rPr>
              <a:t>• 그래프 DB에서 조회해 기준 지식과 견주어 보완한다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정보를 같은 기준으로 구조화하기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DB에서 관계를 따라 조회하기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기준 지식과 나의 설계 비교하기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시스템이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775646140286496391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흩어진정보.svg" descr="illust_281495049536895951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시계열 DB · 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728376" y="5244129"/>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Programmable Logic Controller</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있고, 질의 언어 Cypher로 조회한다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노드관계.svg" descr="illust_70402760268774625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관계.svg" descr="illust_154298642606655525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노드에 함께 적혀 있던 종류와 이름은 대상의 유형(윗줄)과 일이 일어난 실제 대상(아랫줄)으로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유형과대상_0.svg" descr="illust_286743041721632622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관계 그림에서 노드마다 붙은 「종류」가 이것이다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클래스_0.svg" descr="illust_71379682459612070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속성_3.svg" descr="illust_264881740531786293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센서, 부품, 고장 유형,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쿨러, 센서, 부품, 고장 유형,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a:p>
            <a:pPr algn="l">
              <a:lnSpc>
                <a:spcPct val="110000"/>
              </a:lnSpc>
              <a:spcAft>
                <a:spcPts val="400"/>
              </a:spcAft>
            </a:pPr>
            <a:r>
              <a:rPr sz="1400" b="0">
                <a:solidFill>
                  <a:srgbClr val="1F2A3A"/>
                </a:solidFill>
                <a:latin typeface="맑은 고딕"/>
                <a:ea typeface="맑은 고딕"/>
                <a:cs typeface="맑은 고딕"/>
              </a:rPr>
              <a:t>• 온도 값에서 조치로 곧바로 가는 선이 없음을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정보를 같은 기준으로 구조화하기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센서 목록을 클래스, 인스턴스, 식별자로 나누어 파일로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구분하고 적는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 센서 목록을 클래스, 인스턴스, 식별자로 구분해 적으면 schema.json과 노드 · 관계의 예제가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목록을 읽는다</a:t>
            </a:r>
          </a:p>
          <a:p>
            <a:pPr algn="l">
              <a:lnSpc>
                <a:spcPct val="110000"/>
              </a:lnSpc>
              <a:spcAft>
                <a:spcPts val="400"/>
              </a:spcAft>
            </a:pPr>
            <a:r>
              <a:rPr sz="1350" b="0">
                <a:solidFill>
                  <a:srgbClr val="1F2A3A"/>
                </a:solidFill>
                <a:latin typeface="맑은 고딕"/>
                <a:ea typeface="맑은 고딕"/>
                <a:cs typeface="맑은 고딕"/>
              </a:rPr>
              <a:t>제공된 설비와 센서 목록의 항목을 하나씩 읽는다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구분한다</a:t>
            </a:r>
          </a:p>
          <a:p>
            <a:pPr algn="l">
              <a:lnSpc>
                <a:spcPct val="110000"/>
              </a:lnSpc>
              <a:spcAft>
                <a:spcPts val="400"/>
              </a:spcAft>
            </a:pPr>
            <a:r>
              <a:rPr sz="1350" b="0">
                <a:solidFill>
                  <a:srgbClr val="1F2A3A"/>
                </a:solidFill>
                <a:latin typeface="맑은 고딕"/>
                <a:ea typeface="맑은 고딕"/>
                <a:cs typeface="맑은 고딕"/>
              </a:rPr>
              <a:t>• 항목마다 클래스인지 인스턴스인지 가린다</a:t>
            </a:r>
          </a:p>
          <a:p>
            <a:pPr algn="l">
              <a:lnSpc>
                <a:spcPct val="110000"/>
              </a:lnSpc>
              <a:spcAft>
                <a:spcPts val="400"/>
              </a:spcAft>
            </a:pPr>
            <a:r>
              <a:rPr sz="1350" b="0">
                <a:solidFill>
                  <a:srgbClr val="1F2A3A"/>
                </a:solidFill>
                <a:latin typeface="맑은 고딕"/>
                <a:ea typeface="맑은 고딕"/>
                <a:cs typeface="맑은 고딕"/>
              </a:rPr>
              <a:t>• 인스턴스에는 하나뿐인 값인 식별자를 붙인다</a:t>
            </a:r>
          </a:p>
        </p:txBody>
      </p:sp>
      <p:sp>
        <p:nvSpPr>
          <p:cNvPr id="16" name="Rounded Rectangle 15"/>
          <p:cNvSpPr/>
          <p:nvPr/>
        </p:nvSpPr>
        <p:spPr>
          <a:xfrm>
            <a:off x="3619423" y="5134356"/>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클래스 · 인스턴스</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file-code" descr="file-cod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파일로 적는다</a:t>
            </a:r>
          </a:p>
          <a:p>
            <a:pPr algn="l">
              <a:lnSpc>
                <a:spcPct val="110000"/>
              </a:lnSpc>
              <a:spcAft>
                <a:spcPts val="400"/>
              </a:spcAft>
            </a:pPr>
            <a:r>
              <a:rPr sz="1350" b="0">
                <a:solidFill>
                  <a:srgbClr val="1F2A3A"/>
                </a:solidFill>
                <a:latin typeface="맑은 고딕"/>
                <a:ea typeface="맑은 고딕"/>
                <a:cs typeface="맑은 고딕"/>
              </a:rPr>
              <a:t>구분한 결과를 클래스와 관계의 정의를 적는 파일 schema.json과 노드 · 관계의 예제로 적는다</a:t>
            </a:r>
          </a:p>
        </p:txBody>
      </p:sp>
      <p:sp>
        <p:nvSpPr>
          <p:cNvPr id="22" name="Rounded Rectangle 21"/>
          <p:cNvSpPr/>
          <p:nvPr/>
        </p:nvSpPr>
        <p:spPr>
          <a:xfrm>
            <a:off x="6461607" y="513435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파일</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관계도와 대조한다</a:t>
            </a:r>
          </a:p>
          <a:p>
            <a:pPr algn="l">
              <a:lnSpc>
                <a:spcPct val="110000"/>
              </a:lnSpc>
              <a:spcAft>
                <a:spcPts val="400"/>
              </a:spcAft>
            </a:pPr>
            <a:r>
              <a:rPr sz="1350" b="0">
                <a:solidFill>
                  <a:srgbClr val="1F2A3A"/>
                </a:solidFill>
                <a:latin typeface="맑은 고딕"/>
                <a:ea typeface="맑은 고딕"/>
                <a:cs typeface="맑은 고딕"/>
              </a:rPr>
              <a:t>앞에서 그린 관계도와 파일의 내용이 같은 뜻인지 견준다</a:t>
            </a:r>
          </a:p>
        </p:txBody>
      </p:sp>
      <p:sp>
        <p:nvSpPr>
          <p:cNvPr id="28" name="Rounded Rectangle 27"/>
          <p:cNvSpPr/>
          <p:nvPr/>
        </p:nvSpPr>
        <p:spPr>
          <a:xfrm>
            <a:off x="9303791" y="5134356"/>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질의 언어 Cypher로 설비에 이어진 센서와 부품을 찾는다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 이어진 센서와 부품을 질의로 조회한 결과를 포털의 지식 지도와 견줄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종류를 나타내는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센서와 부품을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지도와 견준다</a:t>
            </a:r>
          </a:p>
          <a:p>
            <a:pPr algn="l">
              <a:lnSpc>
                <a:spcPct val="110000"/>
              </a:lnSpc>
              <a:spcAft>
                <a:spcPts val="400"/>
              </a:spcAft>
            </a:pPr>
            <a:r>
              <a:rPr sz="1350" b="0">
                <a:solidFill>
                  <a:srgbClr val="1F2A3A"/>
                </a:solidFill>
                <a:latin typeface="맑은 고딕"/>
                <a:ea typeface="맑은 고딕"/>
                <a:cs typeface="맑은 고딕"/>
              </a:rPr>
              <a:t>조회 결과를 포털의 지식 지도와 견주어 같은 곳과 다른 곳을 적는다</a:t>
            </a:r>
          </a:p>
        </p:txBody>
      </p:sp>
      <p:sp>
        <p:nvSpPr>
          <p:cNvPr id="28" name="Rounded Rectangle 27"/>
          <p:cNvSpPr/>
          <p:nvPr/>
        </p:nvSpPr>
        <p:spPr>
          <a:xfrm>
            <a:off x="9303791" y="5134356"/>
            <a:ext cx="15239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그래프의 차이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기준 지식과 나의 설계 비교하기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포털의 지식 지도와 견주어 내가 만든 설계의 빠진 부분을 보완한다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비교하고 보완하는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지식 지도를 기준으로 삼아 견주면 내 설계에서 빠진 관계와 속성, 반대로 적은 방향이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확인</a:t>
            </a:r>
          </a:p>
          <a:p>
            <a:pPr algn="ctr">
              <a:lnSpc>
                <a:spcPct val="110000"/>
              </a:lnSpc>
              <a:spcAft>
                <a:spcPts val="400"/>
              </a:spcAft>
            </a:pPr>
            <a:r>
              <a:rPr sz="1350" b="0">
                <a:solidFill>
                  <a:srgbClr val="1F2A3A"/>
                </a:solidFill>
                <a:latin typeface="맑은 고딕"/>
                <a:ea typeface="맑은 고딕"/>
                <a:cs typeface="맑은 고딕"/>
              </a:rPr>
              <a:t>HYD 포털의</a:t>
            </a:r>
          </a:p>
          <a:p>
            <a:pPr algn="ctr">
              <a:lnSpc>
                <a:spcPct val="110000"/>
              </a:lnSpc>
              <a:spcAft>
                <a:spcPts val="400"/>
              </a:spcAft>
            </a:pPr>
            <a:r>
              <a:rPr sz="1350" b="0">
                <a:solidFill>
                  <a:srgbClr val="1F2A3A"/>
                </a:solidFill>
                <a:latin typeface="맑은 고딕"/>
                <a:ea typeface="맑은 고딕"/>
                <a:cs typeface="맑은 고딕"/>
              </a:rPr>
              <a:t>지식 지도에서</a:t>
            </a:r>
          </a:p>
          <a:p>
            <a:pPr algn="ctr">
              <a:lnSpc>
                <a:spcPct val="110000"/>
              </a:lnSpc>
              <a:spcAft>
                <a:spcPts val="400"/>
              </a:spcAft>
            </a:pPr>
            <a:r>
              <a:rPr sz="1350" b="0">
                <a:solidFill>
                  <a:srgbClr val="1F2A3A"/>
                </a:solidFill>
                <a:latin typeface="맑은 고딕"/>
                <a:ea typeface="맑은 고딕"/>
                <a:cs typeface="맑은 고딕"/>
              </a:rPr>
              <a:t>제공된 관계를</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차이 찾기</a:t>
            </a:r>
          </a:p>
          <a:p>
            <a:pPr algn="ctr">
              <a:lnSpc>
                <a:spcPct val="110000"/>
              </a:lnSpc>
              <a:spcAft>
                <a:spcPts val="400"/>
              </a:spcAft>
            </a:pPr>
            <a:r>
              <a:rPr sz="1350" b="0">
                <a:solidFill>
                  <a:srgbClr val="1F2A3A"/>
                </a:solidFill>
                <a:latin typeface="맑은 고딕"/>
                <a:ea typeface="맑은 고딕"/>
                <a:cs typeface="맑은 고딕"/>
              </a:rPr>
              <a:t>내 그래프에 없는</a:t>
            </a:r>
          </a:p>
          <a:p>
            <a:pPr algn="ctr">
              <a:lnSpc>
                <a:spcPct val="110000"/>
              </a:lnSpc>
              <a:spcAft>
                <a:spcPts val="400"/>
              </a:spcAft>
            </a:pPr>
            <a:r>
              <a:rPr sz="1350" b="0">
                <a:solidFill>
                  <a:srgbClr val="1F2A3A"/>
                </a:solidFill>
                <a:latin typeface="맑은 고딕"/>
                <a:ea typeface="맑은 고딕"/>
                <a:cs typeface="맑은 고딕"/>
              </a:rPr>
              <a:t>관계와 속성,</a:t>
            </a:r>
          </a:p>
          <a:p>
            <a:pPr algn="ctr">
              <a:lnSpc>
                <a:spcPct val="110000"/>
              </a:lnSpc>
              <a:spcAft>
                <a:spcPts val="400"/>
              </a:spcAft>
            </a:pPr>
            <a:r>
              <a:rPr sz="1350" b="0">
                <a:solidFill>
                  <a:srgbClr val="1F2A3A"/>
                </a:solidFill>
                <a:latin typeface="맑은 고딕"/>
                <a:ea typeface="맑은 고딕"/>
                <a:cs typeface="맑은 고딕"/>
              </a:rPr>
              <a:t>반대로 적은 방향을</a:t>
            </a:r>
          </a:p>
          <a:p>
            <a:pPr algn="ctr">
              <a:lnSpc>
                <a:spcPct val="110000"/>
              </a:lnSpc>
              <a:spcAft>
                <a:spcPts val="400"/>
              </a:spcAft>
            </a:pPr>
            <a:r>
              <a:rPr sz="1350" b="0">
                <a:solidFill>
                  <a:srgbClr val="1F2A3A"/>
                </a:solidFill>
                <a:latin typeface="맑은 고딕"/>
                <a:ea typeface="맑은 고딕"/>
                <a:cs typeface="맑은 고딕"/>
              </a:rPr>
              <a:t>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설계 보완</a:t>
            </a:r>
          </a:p>
          <a:p>
            <a:pPr algn="ctr">
              <a:lnSpc>
                <a:spcPct val="110000"/>
              </a:lnSpc>
              <a:spcAft>
                <a:spcPts val="400"/>
              </a:spcAft>
            </a:pPr>
            <a:r>
              <a:rPr sz="1350" b="0">
                <a:solidFill>
                  <a:srgbClr val="1F2A3A"/>
                </a:solidFill>
                <a:latin typeface="맑은 고딕"/>
                <a:ea typeface="맑은 고딕"/>
                <a:cs typeface="맑은 고딕"/>
              </a:rPr>
              <a:t>찾은 차이를</a:t>
            </a:r>
          </a:p>
          <a:p>
            <a:pPr algn="ctr">
              <a:lnSpc>
                <a:spcPct val="110000"/>
              </a:lnSpc>
              <a:spcAft>
                <a:spcPts val="400"/>
              </a:spcAft>
            </a:pPr>
            <a:r>
              <a:rPr sz="1350" b="0">
                <a:solidFill>
                  <a:srgbClr val="1F2A3A"/>
                </a:solidFill>
                <a:latin typeface="맑은 고딕"/>
                <a:ea typeface="맑은 고딕"/>
                <a:cs typeface="맑은 고딕"/>
              </a:rPr>
              <a:t>내 schema.json에</a:t>
            </a:r>
          </a:p>
          <a:p>
            <a:pPr algn="ctr">
              <a:lnSpc>
                <a:spcPct val="110000"/>
              </a:lnSpc>
              <a:spcAft>
                <a:spcPts val="400"/>
              </a:spcAft>
            </a:pPr>
            <a:r>
              <a:rPr sz="1350" b="0">
                <a:solidFill>
                  <a:srgbClr val="1F2A3A"/>
                </a:solidFill>
                <a:latin typeface="맑은 고딕"/>
                <a:ea typeface="맑은 고딕"/>
                <a:cs typeface="맑은 고딕"/>
              </a:rPr>
              <a:t>고쳐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보존</a:t>
            </a:r>
          </a:p>
          <a:p>
            <a:pPr algn="ctr">
              <a:lnSpc>
                <a:spcPct val="110000"/>
              </a:lnSpc>
              <a:spcAft>
                <a:spcPts val="400"/>
              </a:spcAft>
            </a:pPr>
            <a:r>
              <a:rPr sz="1350" b="0">
                <a:solidFill>
                  <a:srgbClr val="1F2A3A"/>
                </a:solidFill>
                <a:latin typeface="맑은 고딕"/>
                <a:ea typeface="맑은 고딕"/>
                <a:cs typeface="맑은 고딕"/>
              </a:rPr>
              <a:t>고친 파일을 남겨</a:t>
            </a:r>
          </a:p>
          <a:p>
            <a:pPr algn="ctr">
              <a:lnSpc>
                <a:spcPct val="110000"/>
              </a:lnSpc>
              <a:spcAft>
                <a:spcPts val="400"/>
              </a:spcAft>
            </a:pPr>
            <a:r>
              <a:rPr sz="1350" b="0">
                <a:solidFill>
                  <a:srgbClr val="1F2A3A"/>
                </a:solidFill>
                <a:latin typeface="맑은 고딕"/>
                <a:ea typeface="맑은 고딕"/>
                <a:cs typeface="맑은 고딕"/>
              </a:rPr>
              <a:t>다음 시간에</a:t>
            </a:r>
          </a:p>
          <a:p>
            <a:pPr algn="ctr">
              <a:lnSpc>
                <a:spcPct val="110000"/>
              </a:lnSpc>
              <a:spcAft>
                <a:spcPts val="400"/>
              </a:spcAft>
            </a:pPr>
            <a:r>
              <a:rPr sz="1350" b="0">
                <a:solidFill>
                  <a:srgbClr val="1F2A3A"/>
                </a:solidFill>
                <a:latin typeface="맑은 고딕"/>
                <a:ea typeface="맑은 고딕"/>
                <a:cs typeface="맑은 고딕"/>
              </a:rPr>
              <a:t>이어 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표현에서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표현에서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Ontology</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대상과 관계의 정의</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Knowledge Graph</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노드와 관계의 지식</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Class</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대상의 유형</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Instance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실제 대상 하나</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Property</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적는 칸</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PLC</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상태의 출처</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MES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생산 일정의 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속성으로 둘 것과 관계로 둘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센서 TS1에 측정 단위 ℃와 그 센서가 재는 대상인 유온을 덧붙여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가지를 적는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센서의 속성으로 적고, 유온은 센서에서 유온 인스턴스로 가는 관계로 잇는다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센서의 속성으로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관계로 잇고, 유온은 센서의 속성으로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관계의 이름과 방향, 속성과 관계를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단위처럼 값에서 끝나는 것은 속성으로 둔다. 유온처럼 다른 인스턴스를 가리키는 것은 관계로 잇는다.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