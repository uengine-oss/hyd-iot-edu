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8회차에는 설비 이상 대응 프로세스를 그려 배포했습니다. 오늘은 그 프로세스를 실제 경보로 실행하면서, 처리 건이 어디에서 기다리고 어떻게 끝났는지를 상태와 기록으로 읽습니다. 네 개의 실습에서 승인과 거절과 지연의 경우를 실행하고, 잘못된 설정을 찾아 고친 뒤 다시 배포합니다. 이 네 가지를 자료 없이 자신의 말로 설명할 수 있는지가 오늘의 기준입니다.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8회차에 그린 긴급 대응 프로세스의 그림 하나가 여러 경우를 담고 있습니다. 승인하면 냉각 명령, 재관측, 작업지시 등록, 결과 보고를 거쳐 끝에 닿습니다. 거절하면 냉각 명령으로 가는 선을 지나지 않고 거절 종결에 닿습니다. 운전원이 응답하지 않으면 알림 가지만 알림에 닿아 끝나고, 운전원 승인은 열린 채로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 중인 인스턴스가 어디까지 왔는지는 토큰이라는 개념으로 설명합니다. 토큰은 시작 이벤트에서 하나 생겨, 작업이 끝날 때마다 나가는 선을 따라 다음 요소로 옮겨 갑니다. 게이트웨이에서는 조건이 참인 선으로 가고, 끝 이벤트에 닿으면 사라집니다. 그림은 토큰이 운전원 승인에 있는 순간으로, 에이전트의 작업은 끝났고 냉각 명령에는 아직 닿지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운전원의 승인을 기다리는 처리 건의 기록입니다. 처리 건의 상태는 실행 중을 뜻하는 RUNNING이고, 열려 있는 단계는 운전원 승인인 T_approve입니다. 아래는 단계마다의 상태로, 에이전트의 단계는 DONE, 운전원 승인은 IN_PROGRESS, 아직 닿지 않은 단계는 TODO입니다. 승인 대기는 고장이 아니라 토큰이 사용자 작업에 머문 정상 상태입니다.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운전원이 기한이 지나도록 응답하지 않은 처리 건입니다. 승인 지연 타이머가 발생하면서 토큰이 하나 더 생겨 승인 지연 알림을 지났습니다. 처음의 토큰은 운전원 승인에 그대로 있습니다. 그래서 알림이 나간 뒤에도 처리 건은 닫히지 않고, 운전원은 여전히 승인하거나 거절할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 상태는 두 층으로 읽습니다. 처리 건의 상태는 진행 중인 RUNNING과 끝난 COMPLETED입니다. 단계의 상태는 열려 있는 IN_PROGRESS, 끝난 DONE, 아직 닿지 않은 TODO가 있습니다. CANCELLED는 게이트웨이에서 선택되지 않은 갈래의 단계에 붙으며, 거절된 처리 건에서는 냉각 명령이 이 상태로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정의에서 나온 두 처리 건입니다. 왼쪽은 승인되어 설비 명령이 나갔고, 오른쪽은 거절되어 설비 명령이 없으며 결과 보고의 값은 거절을 뜻하는 반려로 적혔습니다. 그런데 두 건의 상태는 똑같이 COMPLETED입니다. COMPLETED는 실행이 끝났다는 뜻일 뿐이어서, 업무가 어떻게 끝났는지는 닿은 끝 이벤트와 결과 보고로 읽어야 합니다. 승인된 뒤 회복에 미달한 경우도 끝 이벤트는 같으므로 결과 보고가 정상인지 미달인지를 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승인된 처리 건의 실제 기록입니다. 어느 정의의 몇 번째 판본으로 열렸는지가 먼저 적혀 있습니다. start_event_id는 이 처리 건을 연 경보의 식별자이고, end_event는 닿은 끝 이벤트입니다. 처리 건 하나만 보아도 무엇으로 시작해 어디서 끝났는지를 알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작업의 결과가 다음으로 전해지는 방법이 프로세스 변수입니다. 인스턴스는 이름 붙은 값들을 지니고 다니며, 작업이 낸 출력이 여기에 저장됩니다. 8회차에 본 갈림의 조건이 읽던 approval과 recovered가 이 변수입니다. 운전원 승인이 approval을 내고, 재관측이 recovered를 냅니다. 처리 건은 변수마다 그것을 만든 단계를 함께 적어 두므로 값이 어디서 나왔는지를 되짚을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처리 건이 실제로 지나간 순서입니다. 지식 그래프와 SOP와 업무 DB를 읽는 일은 첫 행인 에이전트 단계 안에서 끝났습니다. 프로세스는 그 결과를 운전원 승인에 넘기고, 승인된 조치를 냉각 명령에, 명령의 완료를 재관측에 넘겼습니다. 에이전트가 무엇을 읽을지는 에이전트가 정하지만, 그 결과가 어떤 순서로 누구에게 가는지는 프로세스가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프로세스를 실행하면 기록이 쌓입니다. 승인되어 끝난 긴급 대응 처리 건의 단계 기록입니다. 에이전트의 단계부터 결과 보고까지 여섯 단계에 상태와 담당이 적혀 있고, 단계마다 그 단계가 열린 시각과 끝난 시각이 함께 남습니다. 이런 기록으로 업무가 어디까지 진행되었고 어디서 기다리고 있는지를 지켜보는 일을 모니터링이라고 합니다. 끝난 시각에서 열린 시각을 빼면 그 단계에 걸린 시간이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프로세스가 실행되는 동안 일어난 일은 두 가지 기록으로 남습니다. 처리 기록은 처리 건 한 건 안에서 일어난 일을 차례로 적은 것으로, 승인이 접수되고 다음 단계로 전달될 때와 결과 보고가 나갈 때 한 줄씩 남습니다. 감사 기록, Audit Log는 누가 무엇을 결정했는지를 나중에 확인하려고 처리 건 밖의 일까지 적는 기록입니다. 처리 건이 열린 일과 정의가 배포된 일, 그리고 승인할 역할이 아닌 쪽이 승인을 시도해 거부된 일이 여기에 남습니다. 처리 건 하나를 되짚을 때는 두 기록을 함께 읽습니다.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앞에서 기록을 읽은 긴급 대응 처리 건 한 건을 경보에서 끝까지 한 줄로 놓았습니다. 이 경보가 처리 건을 열었고, 에이전트의 진단과 제안, 운전원의 승인, 냉각 명령, 재관측, 작업지시 등록, 결과 보고를 거쳐 끝났습니다. 아래의 식별자는 자리마다 남은 기록의 이름입니다. 작업지시 WO-1010-1198에서 왼쪽으로 거슬러 가면, 그것이 어느 설비 명령 뒤에 등록되었고, 그 명령을 누가 승인했으며, 승인된 추천안이 어느 판단의 것이고 어느 경보에서 시작되었는지를 차례로 찾을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처리 건 한 건에서 지식과 에이전트와 프로세스가 맡는 것을 한 그림으로 나누어 보겠습니다. 지식은 에이전트에게 관계와 기준이라는 재료를 건넵니다. 에이전트는 그것을 읽어 만든 추천안 한 건을 프로세스에 넘깁니다. 프로세스는 그 추천안을 사람의 승인과 시스템의 실행으로 잇고, 누가 무엇을 결정하고 실행했는지를 기록으로 남깁니다. 영역 사이를 넘어가는 것은 두 가지뿐이어서, 한 영역을 고칠 때 다른 영역은 그대로 둘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역할을 가려 두는 쓸모는 문제가 생겼을 때 드러납니다. 기준값이 틀렸거나 승인자가 맞지 않으면 지식을 봅니다. 읽어야 할 값을 읽지 않았거나 결과 항목의 이름이 다르면 스킬과 도구 연결, 명세를 봅니다. 승인 없이 다음 단계가 열렸거나 끝났는데 결과를 알 수 없으면 프로세스 정의와 끝 이벤트를 봅니다. 증상에서 영역을 먼저 가리면 고치지 않아도 될 곳을 건드리지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실습에서는 8회차에 배포한 프로세스를 실제로 실행합니다. 쿨러 열화를 일으켜 처리 건이 열리는 것을 보고, 에이전트의 추천안이 나온 뒤 운전원 승인에서 기다리는 상태를 확인합니다. 승인한 뒤에는 명령과 재관측을 거쳐 어느 끝 이벤트에 닿았는지를 읽습니다. 단계마다의 담당과 상태를 적어 두고, 승인을 기다리는 상태와 끝난 상태를 처리 건의 기록으로 구분해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실습에서는 승인하지 않은 두 경우를 실행해 견줍니다. 추천안을 거절하면 냉각 명령 단계는 CANCELLED로 남고 처리 건은 거절 종결에 닿아 닫힙니다. 응답하지 않고 기다리면 승인 지연 알림만 나가고 처리 건은 RUNNING인 채로 승인을 계속 기다립니다. 끝으로 두 처리 건의 기록을 나란히 놓고, 설비 명령이 나가지 않았다는 것을 어느 기록으로 알 수 있는지를 짚습니다.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실습은 두 부분입니다. 먼저 끝난 처리 건의 작업과 승인과 실행 기록을 읽어, 에이전트의 추천과 운전원의 승인이 어떤 값으로 다음 단계에 전달되었는지를 따라갑니다. 그런 다음 작업을 맡을 쪽과 갈림의 조건이 잘못된 프로세스 정의를 사전 검사에 넣어 어느 항목이 문제로 잡히는지를 봅니다. 검사가 가리킨 설정을 바로잡으면 고친 정의가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실습에서는 고친 정의를 다시 실행합니다. 사전 검사를 다시 거쳐 새 판본으로 등록하고 배포합니다. 쿨러 성능 저하 경보로 처리 건을 열어 승인한 경우에는 정상으로 끝나는지를, 거절한 경우에는 설비 명령 없이 거절 종결에 닿아 닫히는지를 확인합니다. 수업을 마치기 전에 쿨러 성능 저하 경보를 받는 흐름을 처음부터 배포되어 있던 기준 흐름으로 되돌려, 다음 경보가 기준 흐름에서 열리게 합니다. 끝으로 완성한 BPMN 파일과 처리 건의 결과를 보존합니다.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나온 용어의 정식 명칭을 한곳에 모았습니다. 이 넷과 함께 승인 대기, 처리 건의 상태와 단계의 상태, 처리 건을 잇는 식별자가 오늘의 용어입니다. 하나를 골라 자료를 덮고 자신의 문장으로 써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그림과 기록으로 처리 건의 상태를 읽는 문항입니다. 승인 지연 타이머가 중단형인지 비중단형인지, 그리고 처리 건의 상태가 무엇인지를 떠올려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어떤 기록을 근거로 삼아야 하는지를 구분하는 문항입니다. 처리 건의 상태가 말해 주는 것과 끝 이벤트와 단계의 상태가 말해 주는 것을 나누어 생각해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어떤 기록이 무엇의 근거가 되는지를 구분하는 문항입니다. 처리 건의 상태와 끝 이벤트가 알려 주는 것과, 단계의 시각이 알려 주는 것을 나누어 생각해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정답보다 판단 기준이 중요합니다. 첫 문항의 4번은 알림 가지의 끝과 처리 건의 끝을 혼동한 것입니다. 둘째 문항의 2번은 COMPLETED를 성공으로 읽은 것입니다. 셋째 문항의 1번과 2번은 결말을 알려 주는 기록을 시간의 근거로 삼은 것입니다.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5.png"/><Relationship Id="rId4" Type="http://schemas.openxmlformats.org/officeDocument/2006/relationships/image" Target="../media/image5.png"/><Relationship Id="rId5" Type="http://schemas.openxmlformats.org/officeDocument/2006/relationships/image" Target="../media/image16.png"/><Relationship Id="rId6"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0.png"/><Relationship Id="rId4" Type="http://schemas.openxmlformats.org/officeDocument/2006/relationships/image" Target="../media/image5.png"/><Relationship Id="rId5"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6.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1.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22.png"/><Relationship Id="rId7"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a:lnSpc>
                <a:spcPct val="110000"/>
              </a:lnSpc>
            </a:pPr>
            <a:r>
              <a:rPr sz="1800" b="1">
                <a:solidFill>
                  <a:srgbClr val="8FCFF8"/>
                </a:solidFill>
                <a:latin typeface="맑은 고딕"/>
                <a:ea typeface="맑은 고딕"/>
                <a:cs typeface="맑은 고딕"/>
              </a:rPr>
              <a:t>통합반 오프라인 9회차</a:t>
            </a:r>
          </a:p>
        </p:txBody>
      </p:sp>
      <p:sp>
        <p:nvSpPr>
          <p:cNvPr id="5" name="TextBox 4"/>
          <p:cNvSpPr txBox="1"/>
          <p:nvPr/>
        </p:nvSpPr>
        <p:spPr>
          <a:xfrm>
            <a:off x="457200" y="2395728"/>
            <a:ext cx="8412480" cy="1920240"/>
          </a:xfrm>
          <a:prstGeom prst="rect">
            <a:avLst/>
          </a:prstGeom>
          <a:noFill/>
        </p:spPr>
        <p:txBody>
          <a:bodyPr wrap="square" anchor="t"/>
          <a:lstStyle/>
          <a:p>
            <a:pPr algn="l">
              <a:lnSpc>
                <a:spcPct val="110000"/>
              </a:lnSpc>
            </a:pPr>
            <a:r>
              <a:rPr sz="4000" b="1">
                <a:solidFill>
                  <a:srgbClr val="FFFFFF"/>
                </a:solidFill>
                <a:latin typeface="맑은 고딕"/>
                <a:ea typeface="맑은 고딕"/>
                <a:cs typeface="맑은 고딕"/>
              </a:rPr>
              <a:t>설비 이벤트로 검증하는</a:t>
            </a:r>
          </a:p>
          <a:p>
            <a:pPr algn="l">
              <a:lnSpc>
                <a:spcPct val="110000"/>
              </a:lnSpc>
            </a:pPr>
            <a:r>
              <a:rPr sz="4000" b="1">
                <a:solidFill>
                  <a:srgbClr val="FFFFFF"/>
                </a:solidFill>
                <a:latin typeface="맑은 고딕"/>
                <a:ea typeface="맑은 고딕"/>
                <a:cs typeface="맑은 고딕"/>
              </a:rPr>
              <a:t>프로세스의 실행과 안전성</a:t>
            </a:r>
          </a:p>
        </p:txBody>
      </p:sp>
      <p:sp>
        <p:nvSpPr>
          <p:cNvPr id="6" name="TextBox 5"/>
          <p:cNvSpPr txBox="1"/>
          <p:nvPr/>
        </p:nvSpPr>
        <p:spPr>
          <a:xfrm>
            <a:off x="457200" y="4407408"/>
            <a:ext cx="8412480" cy="731520"/>
          </a:xfrm>
          <a:prstGeom prst="rect">
            <a:avLst/>
          </a:prstGeom>
          <a:noFill/>
        </p:spPr>
        <p:txBody>
          <a:bodyPr wrap="square" anchor="t"/>
          <a:lstStyle/>
          <a:p>
            <a:pPr algn="l">
              <a:lnSpc>
                <a:spcPct val="110000"/>
              </a:lnSpc>
            </a:pPr>
            <a:r>
              <a:rPr sz="1900" b="0">
                <a:solidFill>
                  <a:srgbClr val="C6D0DE"/>
                </a:solidFill>
                <a:latin typeface="맑은 고딕"/>
                <a:ea typeface="맑은 고딕"/>
                <a:cs typeface="맑은 고딕"/>
              </a:rPr>
              <a:t>처리 건의 상태와 실행 기록, 판본, 책임의 구분</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player-play" descr="player-play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hourglass" descr="hourglass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history" descr="history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실행 중인 처리 건의 상태와 기록을 읽어 승인, 거절, 지연을 구분하고, 잘못된 설정을 고친 정의를 다시 배포한다.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209419"/>
            <a:ext cx="2567863" cy="356387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10587"/>
            <a:ext cx="731520" cy="731520"/>
          </a:xfrm>
          <a:prstGeom prst="ellipse">
            <a:avLst/>
          </a:prstGeom>
          <a:solidFill>
            <a:srgbClr val="E7F3FD"/>
          </a:solidFill>
          <a:ln>
            <a:noFill/>
          </a:ln>
        </p:spPr>
        <p:txBody>
          <a:bodyPr rtlCol="0" anchor="ctr"/>
          <a:lstStyle/>
          <a:p>
            <a:pPr algn="ctr"/>
          </a:p>
        </p:txBody>
      </p:sp>
      <p:pic>
        <p:nvPicPr>
          <p:cNvPr id="8" name="아이콘:hourglass" descr="hourglass_13294B_1.6.png"/>
          <p:cNvPicPr>
            <a:picLocks noChangeAspect="1"/>
          </p:cNvPicPr>
          <p:nvPr/>
        </p:nvPicPr>
        <p:blipFill>
          <a:blip r:embed="rId3"/>
          <a:stretch>
            <a:fillRect/>
          </a:stretch>
        </p:blipFill>
        <p:spPr>
          <a:xfrm>
            <a:off x="930859" y="2564206"/>
            <a:ext cx="424281" cy="424281"/>
          </a:xfrm>
          <a:prstGeom prst="rect">
            <a:avLst/>
          </a:prstGeom>
        </p:spPr>
      </p:pic>
      <p:sp>
        <p:nvSpPr>
          <p:cNvPr id="9" name="TextBox 8"/>
          <p:cNvSpPr txBox="1"/>
          <p:nvPr/>
        </p:nvSpPr>
        <p:spPr>
          <a:xfrm>
            <a:off x="713232" y="3233547"/>
            <a:ext cx="2238679" cy="2036826"/>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실행 상태</a:t>
            </a:r>
          </a:p>
          <a:p>
            <a:pPr algn="l">
              <a:lnSpc>
                <a:spcPct val="110000"/>
              </a:lnSpc>
              <a:spcAft>
                <a:spcPts val="400"/>
              </a:spcAft>
            </a:pPr>
            <a:r>
              <a:rPr sz="1350" b="0">
                <a:solidFill>
                  <a:srgbClr val="1F2A3A"/>
                </a:solidFill>
                <a:latin typeface="맑은 고딕"/>
                <a:ea typeface="맑은 고딕"/>
                <a:cs typeface="맑은 고딕"/>
              </a:rPr>
              <a:t>토큰과 단계의 상태로 승인 대기, 거절, 승인 지연을 구분한다</a:t>
            </a:r>
          </a:p>
        </p:txBody>
      </p:sp>
      <p:sp>
        <p:nvSpPr>
          <p:cNvPr id="10" name="Rounded Rectangle 9"/>
          <p:cNvSpPr/>
          <p:nvPr/>
        </p:nvSpPr>
        <p:spPr>
          <a:xfrm>
            <a:off x="777240" y="5343525"/>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43525"/>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상태</a:t>
            </a:r>
          </a:p>
        </p:txBody>
      </p:sp>
      <p:sp>
        <p:nvSpPr>
          <p:cNvPr id="12" name="Rounded Rectangle 11"/>
          <p:cNvSpPr/>
          <p:nvPr/>
        </p:nvSpPr>
        <p:spPr>
          <a:xfrm>
            <a:off x="3390823" y="2209419"/>
            <a:ext cx="2567863" cy="356387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410587"/>
            <a:ext cx="731520" cy="731520"/>
          </a:xfrm>
          <a:prstGeom prst="ellipse">
            <a:avLst/>
          </a:prstGeom>
          <a:solidFill>
            <a:srgbClr val="E7F3FD"/>
          </a:solidFill>
          <a:ln>
            <a:noFill/>
          </a:ln>
        </p:spPr>
        <p:txBody>
          <a:bodyPr rtlCol="0" anchor="ctr"/>
          <a:lstStyle/>
          <a:p>
            <a:pPr algn="ctr"/>
          </a:p>
        </p:txBody>
      </p:sp>
      <p:pic>
        <p:nvPicPr>
          <p:cNvPr id="14" name="아이콘:history" descr="history_13294B_1.6.png"/>
          <p:cNvPicPr>
            <a:picLocks noChangeAspect="1"/>
          </p:cNvPicPr>
          <p:nvPr/>
        </p:nvPicPr>
        <p:blipFill>
          <a:blip r:embed="rId4"/>
          <a:stretch>
            <a:fillRect/>
          </a:stretch>
        </p:blipFill>
        <p:spPr>
          <a:xfrm>
            <a:off x="3773043" y="2564206"/>
            <a:ext cx="424281" cy="424281"/>
          </a:xfrm>
          <a:prstGeom prst="rect">
            <a:avLst/>
          </a:prstGeom>
        </p:spPr>
      </p:pic>
      <p:sp>
        <p:nvSpPr>
          <p:cNvPr id="15" name="TextBox 14"/>
          <p:cNvSpPr txBox="1"/>
          <p:nvPr/>
        </p:nvSpPr>
        <p:spPr>
          <a:xfrm>
            <a:off x="3555415" y="3233547"/>
            <a:ext cx="2238679" cy="2036826"/>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실행 기록</a:t>
            </a:r>
          </a:p>
          <a:p>
            <a:pPr algn="l">
              <a:lnSpc>
                <a:spcPct val="110000"/>
              </a:lnSpc>
              <a:spcAft>
                <a:spcPts val="400"/>
              </a:spcAft>
            </a:pPr>
            <a:r>
              <a:rPr sz="1350" b="0">
                <a:solidFill>
                  <a:srgbClr val="1F2A3A"/>
                </a:solidFill>
                <a:latin typeface="맑은 고딕"/>
                <a:ea typeface="맑은 고딕"/>
                <a:cs typeface="맑은 고딕"/>
              </a:rPr>
              <a:t>프로세스 변수, 단계의 시각, 처리 기록과 감사 기록으로 값과 결정이 지나간 길을 따라간다</a:t>
            </a:r>
          </a:p>
        </p:txBody>
      </p:sp>
      <p:sp>
        <p:nvSpPr>
          <p:cNvPr id="16" name="Rounded Rectangle 15"/>
          <p:cNvSpPr/>
          <p:nvPr/>
        </p:nvSpPr>
        <p:spPr>
          <a:xfrm>
            <a:off x="3619423" y="5343525"/>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343525"/>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기록</a:t>
            </a:r>
          </a:p>
        </p:txBody>
      </p:sp>
      <p:sp>
        <p:nvSpPr>
          <p:cNvPr id="18" name="Rounded Rectangle 17"/>
          <p:cNvSpPr/>
          <p:nvPr/>
        </p:nvSpPr>
        <p:spPr>
          <a:xfrm>
            <a:off x="6233007" y="2209419"/>
            <a:ext cx="2567863" cy="356387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410587"/>
            <a:ext cx="731520" cy="731520"/>
          </a:xfrm>
          <a:prstGeom prst="ellipse">
            <a:avLst/>
          </a:prstGeom>
          <a:solidFill>
            <a:srgbClr val="E7F3FD"/>
          </a:solidFill>
          <a:ln>
            <a:noFill/>
          </a:ln>
        </p:spPr>
        <p:txBody>
          <a:bodyPr rtlCol="0" anchor="ctr"/>
          <a:lstStyle/>
          <a:p>
            <a:pPr algn="ctr"/>
          </a:p>
        </p:txBody>
      </p:sp>
      <p:pic>
        <p:nvPicPr>
          <p:cNvPr id="20" name="아이콘:versions" descr="versions_13294B_1.6.png"/>
          <p:cNvPicPr>
            <a:picLocks noChangeAspect="1"/>
          </p:cNvPicPr>
          <p:nvPr/>
        </p:nvPicPr>
        <p:blipFill>
          <a:blip r:embed="rId5"/>
          <a:stretch>
            <a:fillRect/>
          </a:stretch>
        </p:blipFill>
        <p:spPr>
          <a:xfrm>
            <a:off x="6615226" y="2564206"/>
            <a:ext cx="424281" cy="424281"/>
          </a:xfrm>
          <a:prstGeom prst="rect">
            <a:avLst/>
          </a:prstGeom>
        </p:spPr>
      </p:pic>
      <p:sp>
        <p:nvSpPr>
          <p:cNvPr id="21" name="TextBox 20"/>
          <p:cNvSpPr txBox="1"/>
          <p:nvPr/>
        </p:nvSpPr>
        <p:spPr>
          <a:xfrm>
            <a:off x="6397599" y="3233547"/>
            <a:ext cx="2238679" cy="2036826"/>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판본과 책임</a:t>
            </a:r>
          </a:p>
          <a:p>
            <a:pPr algn="l">
              <a:lnSpc>
                <a:spcPct val="110000"/>
              </a:lnSpc>
              <a:spcAft>
                <a:spcPts val="400"/>
              </a:spcAft>
            </a:pPr>
            <a:r>
              <a:rPr sz="1350" b="0">
                <a:solidFill>
                  <a:srgbClr val="1F2A3A"/>
                </a:solidFill>
                <a:latin typeface="맑은 고딕"/>
                <a:ea typeface="맑은 고딕"/>
                <a:cs typeface="맑은 고딕"/>
              </a:rPr>
              <a:t>• 처리 건이 어느 판본으로 열렸는지를 기록에서 읽는다</a:t>
            </a:r>
          </a:p>
          <a:p>
            <a:pPr algn="l">
              <a:lnSpc>
                <a:spcPct val="110000"/>
              </a:lnSpc>
              <a:spcAft>
                <a:spcPts val="400"/>
              </a:spcAft>
            </a:pPr>
            <a:r>
              <a:rPr sz="1350" b="0">
                <a:solidFill>
                  <a:srgbClr val="1F2A3A"/>
                </a:solidFill>
                <a:latin typeface="맑은 고딕"/>
                <a:ea typeface="맑은 고딕"/>
                <a:cs typeface="맑은 고딕"/>
              </a:rPr>
              <a:t>• 증상이 지식, 에이전트, 프로세스 가운데 어느 쪽의 몫인지 가린다</a:t>
            </a:r>
          </a:p>
        </p:txBody>
      </p:sp>
      <p:sp>
        <p:nvSpPr>
          <p:cNvPr id="22" name="Rounded Rectangle 21"/>
          <p:cNvSpPr/>
          <p:nvPr/>
        </p:nvSpPr>
        <p:spPr>
          <a:xfrm>
            <a:off x="6461607" y="5343525"/>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343525"/>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통제</a:t>
            </a:r>
          </a:p>
        </p:txBody>
      </p:sp>
      <p:sp>
        <p:nvSpPr>
          <p:cNvPr id="24" name="Rounded Rectangle 23"/>
          <p:cNvSpPr/>
          <p:nvPr/>
        </p:nvSpPr>
        <p:spPr>
          <a:xfrm>
            <a:off x="9075191" y="2209419"/>
            <a:ext cx="2567863" cy="3563874"/>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410587"/>
            <a:ext cx="731520" cy="731520"/>
          </a:xfrm>
          <a:prstGeom prst="ellipse">
            <a:avLst/>
          </a:prstGeom>
          <a:solidFill>
            <a:srgbClr val="5CB8F2"/>
          </a:solidFill>
          <a:ln>
            <a:noFill/>
          </a:ln>
        </p:spPr>
        <p:txBody>
          <a:bodyPr rtlCol="0" anchor="ctr"/>
          <a:lstStyle/>
          <a:p>
            <a:pPr algn="ctr"/>
          </a:p>
        </p:txBody>
      </p:sp>
      <p:pic>
        <p:nvPicPr>
          <p:cNvPr id="26" name="아이콘:tool" descr="tool_13294B_1.6.png"/>
          <p:cNvPicPr>
            <a:picLocks noChangeAspect="1"/>
          </p:cNvPicPr>
          <p:nvPr/>
        </p:nvPicPr>
        <p:blipFill>
          <a:blip r:embed="rId6"/>
          <a:stretch>
            <a:fillRect/>
          </a:stretch>
        </p:blipFill>
        <p:spPr>
          <a:xfrm>
            <a:off x="9457410" y="2564206"/>
            <a:ext cx="424281" cy="424281"/>
          </a:xfrm>
          <a:prstGeom prst="rect">
            <a:avLst/>
          </a:prstGeom>
        </p:spPr>
      </p:pic>
      <p:sp>
        <p:nvSpPr>
          <p:cNvPr id="27" name="TextBox 26"/>
          <p:cNvSpPr txBox="1"/>
          <p:nvPr/>
        </p:nvSpPr>
        <p:spPr>
          <a:xfrm>
            <a:off x="9239783" y="3233547"/>
            <a:ext cx="2238679" cy="2036826"/>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실행과 수정</a:t>
            </a:r>
          </a:p>
          <a:p>
            <a:pPr algn="l">
              <a:lnSpc>
                <a:spcPct val="110000"/>
              </a:lnSpc>
              <a:spcAft>
                <a:spcPts val="400"/>
              </a:spcAft>
            </a:pPr>
            <a:r>
              <a:rPr sz="1350" b="0">
                <a:solidFill>
                  <a:srgbClr val="1F2A3A"/>
                </a:solidFill>
                <a:latin typeface="맑은 고딕"/>
                <a:ea typeface="맑은 고딕"/>
                <a:cs typeface="맑은 고딕"/>
              </a:rPr>
              <a:t>직접 배포한 프로세스를 승인, 거절, 지연의 경우로 실행하고 잘못된 설정을 고쳐 다시 배포한다</a:t>
            </a:r>
          </a:p>
        </p:txBody>
      </p:sp>
      <p:sp>
        <p:nvSpPr>
          <p:cNvPr id="28" name="Rounded Rectangle 27"/>
          <p:cNvSpPr/>
          <p:nvPr/>
        </p:nvSpPr>
        <p:spPr>
          <a:xfrm>
            <a:off x="9303791" y="5343525"/>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343525"/>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196596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196596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실행 중인 프로세스의 통제: 상태, 기록, 책임</a:t>
            </a:r>
          </a:p>
        </p:txBody>
      </p:sp>
      <p:sp>
        <p:nvSpPr>
          <p:cNvPr id="6" name="Rounded Rectangle 5"/>
          <p:cNvSpPr/>
          <p:nvPr/>
        </p:nvSpPr>
        <p:spPr>
          <a:xfrm>
            <a:off x="10088575" y="2185415"/>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218541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268833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269748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269748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설비 이벤트로 프로세스 실행하기</a:t>
            </a:r>
          </a:p>
        </p:txBody>
      </p:sp>
      <p:sp>
        <p:nvSpPr>
          <p:cNvPr id="11" name="Rounded Rectangle 10"/>
          <p:cNvSpPr/>
          <p:nvPr/>
        </p:nvSpPr>
        <p:spPr>
          <a:xfrm>
            <a:off x="10088575" y="2916936"/>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291693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13" name="Rectangle 12"/>
          <p:cNvSpPr/>
          <p:nvPr/>
        </p:nvSpPr>
        <p:spPr>
          <a:xfrm>
            <a:off x="548640" y="341985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342900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342900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승인 거절과 승인 지연의 처리</a:t>
            </a:r>
          </a:p>
        </p:txBody>
      </p:sp>
      <p:sp>
        <p:nvSpPr>
          <p:cNvPr id="16" name="Rounded Rectangle 15"/>
          <p:cNvSpPr/>
          <p:nvPr/>
        </p:nvSpPr>
        <p:spPr>
          <a:xfrm>
            <a:off x="10088575" y="364845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364845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18" name="Rectangle 17"/>
          <p:cNvSpPr/>
          <p:nvPr/>
        </p:nvSpPr>
        <p:spPr>
          <a:xfrm>
            <a:off x="548640" y="4151376"/>
            <a:ext cx="11094415" cy="13716"/>
          </a:xfrm>
          <a:prstGeom prst="rect">
            <a:avLst/>
          </a:prstGeom>
          <a:solidFill>
            <a:srgbClr val="D3D9E1"/>
          </a:solidFill>
          <a:ln>
            <a:noFill/>
          </a:ln>
        </p:spPr>
        <p:txBody>
          <a:bodyPr rtlCol="0" anchor="ctr"/>
          <a:lstStyle/>
          <a:p>
            <a:pPr algn="ctr"/>
          </a:p>
        </p:txBody>
      </p:sp>
      <p:sp>
        <p:nvSpPr>
          <p:cNvPr id="19" name="TextBox 18"/>
          <p:cNvSpPr txBox="1"/>
          <p:nvPr/>
        </p:nvSpPr>
        <p:spPr>
          <a:xfrm>
            <a:off x="548640" y="416052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04</a:t>
            </a:r>
          </a:p>
        </p:txBody>
      </p:sp>
      <p:sp>
        <p:nvSpPr>
          <p:cNvPr id="20" name="TextBox 19"/>
          <p:cNvSpPr txBox="1"/>
          <p:nvPr/>
        </p:nvSpPr>
        <p:spPr>
          <a:xfrm>
            <a:off x="1417319" y="416052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실행 기록의 추적과 잘못된 설정의 수정</a:t>
            </a:r>
          </a:p>
        </p:txBody>
      </p:sp>
      <p:sp>
        <p:nvSpPr>
          <p:cNvPr id="21" name="Rounded Rectangle 20"/>
          <p:cNvSpPr/>
          <p:nvPr/>
        </p:nvSpPr>
        <p:spPr>
          <a:xfrm>
            <a:off x="10088575" y="4379976"/>
            <a:ext cx="1371600" cy="292608"/>
          </a:xfrm>
          <a:prstGeom prst="roundRect">
            <a:avLst>
              <a:gd name="adj" fmla="val 50000"/>
            </a:avLst>
          </a:prstGeom>
          <a:solidFill>
            <a:srgbClr val="D3D9E1"/>
          </a:solidFill>
          <a:ln>
            <a:noFill/>
          </a:ln>
        </p:spPr>
        <p:txBody>
          <a:bodyPr rtlCol="0" anchor="ctr"/>
          <a:lstStyle/>
          <a:p>
            <a:pPr algn="ctr"/>
          </a:p>
        </p:txBody>
      </p:sp>
      <p:sp>
        <p:nvSpPr>
          <p:cNvPr id="22" name="TextBox 21"/>
          <p:cNvSpPr txBox="1"/>
          <p:nvPr/>
        </p:nvSpPr>
        <p:spPr>
          <a:xfrm>
            <a:off x="10088575" y="437997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23" name="Rectangle 22"/>
          <p:cNvSpPr/>
          <p:nvPr/>
        </p:nvSpPr>
        <p:spPr>
          <a:xfrm>
            <a:off x="548640" y="4882896"/>
            <a:ext cx="11094415" cy="13716"/>
          </a:xfrm>
          <a:prstGeom prst="rect">
            <a:avLst/>
          </a:prstGeom>
          <a:solidFill>
            <a:srgbClr val="D3D9E1"/>
          </a:solidFill>
          <a:ln>
            <a:noFill/>
          </a:ln>
        </p:spPr>
        <p:txBody>
          <a:bodyPr rtlCol="0" anchor="ctr"/>
          <a:lstStyle/>
          <a:p>
            <a:pPr algn="ctr"/>
          </a:p>
        </p:txBody>
      </p:sp>
      <p:sp>
        <p:nvSpPr>
          <p:cNvPr id="24" name="TextBox 23"/>
          <p:cNvSpPr txBox="1"/>
          <p:nvPr/>
        </p:nvSpPr>
        <p:spPr>
          <a:xfrm>
            <a:off x="548640" y="489204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05</a:t>
            </a:r>
          </a:p>
        </p:txBody>
      </p:sp>
      <p:sp>
        <p:nvSpPr>
          <p:cNvPr id="25" name="TextBox 24"/>
          <p:cNvSpPr txBox="1"/>
          <p:nvPr/>
        </p:nvSpPr>
        <p:spPr>
          <a:xfrm>
            <a:off x="1417319" y="489204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수정한 프로세스의 재배포와 재실행</a:t>
            </a:r>
          </a:p>
        </p:txBody>
      </p:sp>
      <p:sp>
        <p:nvSpPr>
          <p:cNvPr id="26" name="Rounded Rectangle 25"/>
          <p:cNvSpPr/>
          <p:nvPr/>
        </p:nvSpPr>
        <p:spPr>
          <a:xfrm>
            <a:off x="10088575" y="5111496"/>
            <a:ext cx="1371600" cy="292608"/>
          </a:xfrm>
          <a:prstGeom prst="roundRect">
            <a:avLst>
              <a:gd name="adj" fmla="val 50000"/>
            </a:avLst>
          </a:prstGeom>
          <a:solidFill>
            <a:srgbClr val="D3D9E1"/>
          </a:solidFill>
          <a:ln>
            <a:noFill/>
          </a:ln>
        </p:spPr>
        <p:txBody>
          <a:bodyPr rtlCol="0" anchor="ctr"/>
          <a:lstStyle/>
          <a:p>
            <a:pPr algn="ctr"/>
          </a:p>
        </p:txBody>
      </p:sp>
      <p:sp>
        <p:nvSpPr>
          <p:cNvPr id="27" name="TextBox 26"/>
          <p:cNvSpPr txBox="1"/>
          <p:nvPr/>
        </p:nvSpPr>
        <p:spPr>
          <a:xfrm>
            <a:off x="10088575" y="511149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28" name="TextBox 27"/>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실행 중인 프로세스의 통제:</a:t>
            </a:r>
          </a:p>
          <a:p>
            <a:pPr algn="l">
              <a:lnSpc>
                <a:spcPct val="110000"/>
              </a:lnSpc>
            </a:pPr>
            <a:r>
              <a:rPr sz="3400" b="1">
                <a:solidFill>
                  <a:srgbClr val="13294B"/>
                </a:solidFill>
                <a:latin typeface="맑은 고딕"/>
                <a:ea typeface="맑은 고딕"/>
                <a:cs typeface="맑은 고딕"/>
              </a:rPr>
              <a:t>상태, 기록, 책임</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처리 건이 어디에서 기다리고 어떻게 끝났는지를 읽고, 문제가 생긴 곳을 가리는 방법</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긴급 대응 프로세스의 세 가지 경로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긴급 대응 프로세스는 승인하면 끝에, 거절하면 거절 종결에 닿고, 응답이 없으면 알림 가지만 먼저 끝난다.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a:t>
            </a:r>
          </a:p>
        </p:txBody>
      </p:sp>
      <p:sp>
        <p:nvSpPr>
          <p:cNvPr id="6" name="Rounded Rectangle 5"/>
          <p:cNvSpPr/>
          <p:nvPr/>
        </p:nvSpPr>
        <p:spPr>
          <a:xfrm>
            <a:off x="548640" y="2186178"/>
            <a:ext cx="3515258" cy="36103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87346"/>
            <a:ext cx="731520" cy="731520"/>
          </a:xfrm>
          <a:prstGeom prst="ellipse">
            <a:avLst/>
          </a:prstGeom>
          <a:solidFill>
            <a:srgbClr val="E7F3FD"/>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30859" y="2540965"/>
            <a:ext cx="424281" cy="424281"/>
          </a:xfrm>
          <a:prstGeom prst="rect">
            <a:avLst/>
          </a:prstGeom>
        </p:spPr>
      </p:pic>
      <p:sp>
        <p:nvSpPr>
          <p:cNvPr id="9" name="TextBox 8"/>
          <p:cNvSpPr txBox="1"/>
          <p:nvPr/>
        </p:nvSpPr>
        <p:spPr>
          <a:xfrm>
            <a:off x="713232" y="3210306"/>
            <a:ext cx="3186074" cy="208330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a:t>
            </a:r>
          </a:p>
          <a:p>
            <a:pPr algn="l">
              <a:lnSpc>
                <a:spcPct val="110000"/>
              </a:lnSpc>
              <a:spcAft>
                <a:spcPts val="400"/>
              </a:spcAft>
            </a:pPr>
            <a:r>
              <a:rPr sz="1400" b="0">
                <a:solidFill>
                  <a:srgbClr val="1F2A3A"/>
                </a:solidFill>
                <a:latin typeface="맑은 고딕"/>
                <a:ea typeface="맑은 고딕"/>
                <a:cs typeface="맑은 고딕"/>
              </a:rPr>
              <a:t>• 승인? 게이트웨이에서 냉각 명령으로 간다</a:t>
            </a:r>
          </a:p>
          <a:p>
            <a:pPr algn="l">
              <a:lnSpc>
                <a:spcPct val="110000"/>
              </a:lnSpc>
              <a:spcAft>
                <a:spcPts val="400"/>
              </a:spcAft>
            </a:pPr>
            <a:r>
              <a:rPr sz="1400" b="0">
                <a:solidFill>
                  <a:srgbClr val="1F2A3A"/>
                </a:solidFill>
                <a:latin typeface="맑은 고딕"/>
                <a:ea typeface="맑은 고딕"/>
                <a:cs typeface="맑은 고딕"/>
              </a:rPr>
              <a:t>• 재관측과 유온 정상? 게이트웨이를 지난다</a:t>
            </a:r>
          </a:p>
          <a:p>
            <a:pPr algn="l">
              <a:lnSpc>
                <a:spcPct val="110000"/>
              </a:lnSpc>
              <a:spcAft>
                <a:spcPts val="400"/>
              </a:spcAft>
            </a:pPr>
            <a:r>
              <a:rPr sz="1400" b="0">
                <a:solidFill>
                  <a:srgbClr val="1F2A3A"/>
                </a:solidFill>
                <a:latin typeface="맑은 고딕"/>
                <a:ea typeface="맑은 고딕"/>
                <a:cs typeface="맑은 고딕"/>
              </a:rPr>
              <a:t>• 작업지시 등록, 결과 보고: 정상을 거친다</a:t>
            </a:r>
          </a:p>
        </p:txBody>
      </p:sp>
      <p:sp>
        <p:nvSpPr>
          <p:cNvPr id="10" name="Rounded Rectangle 9"/>
          <p:cNvSpPr/>
          <p:nvPr/>
        </p:nvSpPr>
        <p:spPr>
          <a:xfrm>
            <a:off x="777240" y="5366766"/>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6676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끝</a:t>
            </a:r>
          </a:p>
        </p:txBody>
      </p:sp>
      <p:sp>
        <p:nvSpPr>
          <p:cNvPr id="12" name="Rounded Rectangle 11"/>
          <p:cNvSpPr/>
          <p:nvPr/>
        </p:nvSpPr>
        <p:spPr>
          <a:xfrm>
            <a:off x="4338218" y="2186178"/>
            <a:ext cx="3515258" cy="36103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87346"/>
            <a:ext cx="731520" cy="731520"/>
          </a:xfrm>
          <a:prstGeom prst="ellipse">
            <a:avLst/>
          </a:prstGeom>
          <a:solidFill>
            <a:srgbClr val="E7F3FD"/>
          </a:solidFill>
          <a:ln>
            <a:noFill/>
          </a:ln>
        </p:spPr>
        <p:txBody>
          <a:bodyPr rtlCol="0" anchor="ctr"/>
          <a:lstStyle/>
          <a:p>
            <a:pPr algn="ctr"/>
          </a:p>
        </p:txBody>
      </p:sp>
      <p:pic>
        <p:nvPicPr>
          <p:cNvPr id="14" name="아이콘:ban" descr="ban_13294B_1.6.png"/>
          <p:cNvPicPr>
            <a:picLocks noChangeAspect="1"/>
          </p:cNvPicPr>
          <p:nvPr/>
        </p:nvPicPr>
        <p:blipFill>
          <a:blip r:embed="rId4"/>
          <a:stretch>
            <a:fillRect/>
          </a:stretch>
        </p:blipFill>
        <p:spPr>
          <a:xfrm>
            <a:off x="4720437" y="2540965"/>
            <a:ext cx="424281" cy="424281"/>
          </a:xfrm>
          <a:prstGeom prst="rect">
            <a:avLst/>
          </a:prstGeom>
        </p:spPr>
      </p:pic>
      <p:sp>
        <p:nvSpPr>
          <p:cNvPr id="15" name="TextBox 14"/>
          <p:cNvSpPr txBox="1"/>
          <p:nvPr/>
        </p:nvSpPr>
        <p:spPr>
          <a:xfrm>
            <a:off x="4502810" y="3210306"/>
            <a:ext cx="3186074" cy="208330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거절</a:t>
            </a:r>
          </a:p>
          <a:p>
            <a:pPr algn="l">
              <a:lnSpc>
                <a:spcPct val="110000"/>
              </a:lnSpc>
              <a:spcAft>
                <a:spcPts val="400"/>
              </a:spcAft>
            </a:pPr>
            <a:r>
              <a:rPr sz="1400" b="0">
                <a:solidFill>
                  <a:srgbClr val="1F2A3A"/>
                </a:solidFill>
                <a:latin typeface="맑은 고딕"/>
                <a:ea typeface="맑은 고딕"/>
                <a:cs typeface="맑은 고딕"/>
              </a:rPr>
              <a:t>• 승인? 게이트웨이에서 결과 보고: 거절로 간다</a:t>
            </a:r>
          </a:p>
          <a:p>
            <a:pPr algn="l">
              <a:lnSpc>
                <a:spcPct val="110000"/>
              </a:lnSpc>
              <a:spcAft>
                <a:spcPts val="400"/>
              </a:spcAft>
            </a:pPr>
            <a:r>
              <a:rPr sz="1400" b="0">
                <a:solidFill>
                  <a:srgbClr val="1F2A3A"/>
                </a:solidFill>
                <a:latin typeface="맑은 고딕"/>
                <a:ea typeface="맑은 고딕"/>
                <a:cs typeface="맑은 고딕"/>
              </a:rPr>
              <a:t>• 냉각 명령으로 가는 선은 지나지 않는다</a:t>
            </a:r>
          </a:p>
        </p:txBody>
      </p:sp>
      <p:sp>
        <p:nvSpPr>
          <p:cNvPr id="16" name="Rounded Rectangle 15"/>
          <p:cNvSpPr/>
          <p:nvPr/>
        </p:nvSpPr>
        <p:spPr>
          <a:xfrm>
            <a:off x="4566818" y="5366766"/>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36676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거절 종결</a:t>
            </a:r>
          </a:p>
        </p:txBody>
      </p:sp>
      <p:sp>
        <p:nvSpPr>
          <p:cNvPr id="18" name="Rounded Rectangle 17"/>
          <p:cNvSpPr/>
          <p:nvPr/>
        </p:nvSpPr>
        <p:spPr>
          <a:xfrm>
            <a:off x="8127796" y="2186178"/>
            <a:ext cx="3515258" cy="361035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387346"/>
            <a:ext cx="731520" cy="731520"/>
          </a:xfrm>
          <a:prstGeom prst="ellipse">
            <a:avLst/>
          </a:prstGeom>
          <a:solidFill>
            <a:srgbClr val="5CB8F2"/>
          </a:solidFill>
          <a:ln>
            <a:noFill/>
          </a:ln>
        </p:spPr>
        <p:txBody>
          <a:bodyPr rtlCol="0" anchor="ctr"/>
          <a:lstStyle/>
          <a:p>
            <a:pPr algn="ctr"/>
          </a:p>
        </p:txBody>
      </p:sp>
      <p:pic>
        <p:nvPicPr>
          <p:cNvPr id="20" name="아이콘:hourglass" descr="hourglass_13294B_1.6.png"/>
          <p:cNvPicPr>
            <a:picLocks noChangeAspect="1"/>
          </p:cNvPicPr>
          <p:nvPr/>
        </p:nvPicPr>
        <p:blipFill>
          <a:blip r:embed="rId5"/>
          <a:stretch>
            <a:fillRect/>
          </a:stretch>
        </p:blipFill>
        <p:spPr>
          <a:xfrm>
            <a:off x="8510016" y="2540965"/>
            <a:ext cx="424281" cy="424281"/>
          </a:xfrm>
          <a:prstGeom prst="rect">
            <a:avLst/>
          </a:prstGeom>
        </p:spPr>
      </p:pic>
      <p:sp>
        <p:nvSpPr>
          <p:cNvPr id="21" name="TextBox 20"/>
          <p:cNvSpPr txBox="1"/>
          <p:nvPr/>
        </p:nvSpPr>
        <p:spPr>
          <a:xfrm>
            <a:off x="8292388" y="3210306"/>
            <a:ext cx="3186074" cy="208330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응답 없음</a:t>
            </a:r>
          </a:p>
          <a:p>
            <a:pPr algn="l">
              <a:lnSpc>
                <a:spcPct val="110000"/>
              </a:lnSpc>
              <a:spcAft>
                <a:spcPts val="400"/>
              </a:spcAft>
            </a:pPr>
            <a:r>
              <a:rPr sz="1400" b="0">
                <a:solidFill>
                  <a:srgbClr val="1F2A3A"/>
                </a:solidFill>
                <a:latin typeface="맑은 고딕"/>
                <a:ea typeface="맑은 고딕"/>
                <a:cs typeface="맑은 고딕"/>
              </a:rPr>
              <a:t>• 승인 지연 타이머가 승인 지연 알림을 연다</a:t>
            </a:r>
          </a:p>
          <a:p>
            <a:pPr algn="l">
              <a:lnSpc>
                <a:spcPct val="110000"/>
              </a:lnSpc>
              <a:spcAft>
                <a:spcPts val="400"/>
              </a:spcAft>
            </a:pPr>
            <a:r>
              <a:rPr sz="1400" b="0">
                <a:solidFill>
                  <a:srgbClr val="1F2A3A"/>
                </a:solidFill>
                <a:latin typeface="맑은 고딕"/>
                <a:ea typeface="맑은 고딕"/>
                <a:cs typeface="맑은 고딕"/>
              </a:rPr>
              <a:t>• 운전원 승인은 열린 채로 남는다</a:t>
            </a:r>
          </a:p>
        </p:txBody>
      </p:sp>
      <p:sp>
        <p:nvSpPr>
          <p:cNvPr id="22" name="Rounded Rectangle 21"/>
          <p:cNvSpPr/>
          <p:nvPr/>
        </p:nvSpPr>
        <p:spPr>
          <a:xfrm>
            <a:off x="8356396" y="5366766"/>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36676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알림</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토큰: 프로세스의 현재 위치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토큰은 프로세스의 현재 위치를 나타내는 표식으로, 시작 이벤트에서 생겨 끝 이벤트에서 사라진다.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a:t>
            </a:r>
          </a:p>
        </p:txBody>
      </p:sp>
      <p:pic>
        <p:nvPicPr>
          <p:cNvPr id="6" name="삽화:흐름_토큰_승인대기.svg" descr="illust_574138981494361396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641322" y="1769455"/>
            <a:ext cx="4363798"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토큰</a:t>
            </a:r>
          </a:p>
          <a:p>
            <a:pPr algn="ctr">
              <a:lnSpc>
                <a:spcPct val="110000"/>
              </a:lnSpc>
              <a:spcAft>
                <a:spcPts val="100"/>
              </a:spcAft>
            </a:pPr>
            <a:r>
              <a:rPr sz="1100" b="0">
                <a:solidFill>
                  <a:srgbClr val="556175"/>
                </a:solidFill>
                <a:latin typeface="맑은 고딕"/>
                <a:ea typeface="맑은 고딕"/>
                <a:cs typeface="맑은 고딕"/>
              </a:rPr>
              <a:t>Token · 프로세스의 현재 위치를 나타내는 표식</a:t>
            </a:r>
          </a:p>
        </p:txBody>
      </p:sp>
      <p:sp>
        <p:nvSpPr>
          <p:cNvPr id="8" name="TextBox 7"/>
          <p:cNvSpPr txBox="1"/>
          <p:nvPr/>
        </p:nvSpPr>
        <p:spPr>
          <a:xfrm>
            <a:off x="3564844" y="2015282"/>
            <a:ext cx="120004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운전원 승인</a:t>
            </a:r>
          </a:p>
        </p:txBody>
      </p:sp>
      <p:sp>
        <p:nvSpPr>
          <p:cNvPr id="9" name="TextBox 8"/>
          <p:cNvSpPr txBox="1"/>
          <p:nvPr/>
        </p:nvSpPr>
        <p:spPr>
          <a:xfrm>
            <a:off x="2282979" y="2870950"/>
            <a:ext cx="1352777"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원인 진단 · 냉각 조치 제안</a:t>
            </a:r>
          </a:p>
        </p:txBody>
      </p:sp>
      <p:sp>
        <p:nvSpPr>
          <p:cNvPr id="10" name="TextBox 9"/>
          <p:cNvSpPr txBox="1"/>
          <p:nvPr/>
        </p:nvSpPr>
        <p:spPr>
          <a:xfrm>
            <a:off x="1546588" y="3424062"/>
            <a:ext cx="87275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여기서 생긴다</a:t>
            </a:r>
          </a:p>
        </p:txBody>
      </p:sp>
      <p:sp>
        <p:nvSpPr>
          <p:cNvPr id="11" name="TextBox 10"/>
          <p:cNvSpPr txBox="1"/>
          <p:nvPr/>
        </p:nvSpPr>
        <p:spPr>
          <a:xfrm>
            <a:off x="10350550" y="3376787"/>
            <a:ext cx="98185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여기서 사라진다</a:t>
            </a:r>
          </a:p>
        </p:txBody>
      </p:sp>
      <p:sp>
        <p:nvSpPr>
          <p:cNvPr id="12" name="TextBox 11"/>
          <p:cNvSpPr txBox="1"/>
          <p:nvPr/>
        </p:nvSpPr>
        <p:spPr>
          <a:xfrm>
            <a:off x="6532227" y="3045866"/>
            <a:ext cx="3927418"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작업이 끝나면 나가는 선을 따라 다음 요소로 옮겨 간다</a:t>
            </a:r>
          </a:p>
        </p:txBody>
      </p:sp>
      <p:sp>
        <p:nvSpPr>
          <p:cNvPr id="13" name="TextBox 12"/>
          <p:cNvSpPr txBox="1"/>
          <p:nvPr/>
        </p:nvSpPr>
        <p:spPr>
          <a:xfrm>
            <a:off x="4666703" y="4199363"/>
            <a:ext cx="120004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명령</a:t>
            </a:r>
          </a:p>
        </p:txBody>
      </p:sp>
      <p:sp>
        <p:nvSpPr>
          <p:cNvPr id="14" name="TextBox 13"/>
          <p:cNvSpPr txBox="1"/>
          <p:nvPr/>
        </p:nvSpPr>
        <p:spPr>
          <a:xfrm>
            <a:off x="6194033" y="419936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재관측</a:t>
            </a:r>
          </a:p>
        </p:txBody>
      </p:sp>
      <p:sp>
        <p:nvSpPr>
          <p:cNvPr id="15" name="TextBox 14"/>
          <p:cNvSpPr txBox="1"/>
          <p:nvPr/>
        </p:nvSpPr>
        <p:spPr>
          <a:xfrm>
            <a:off x="8397751" y="4081177"/>
            <a:ext cx="98185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작업지시 등록</a:t>
            </a:r>
          </a:p>
        </p:txBody>
      </p:sp>
      <p:sp>
        <p:nvSpPr>
          <p:cNvPr id="16" name="TextBox 15"/>
          <p:cNvSpPr txBox="1"/>
          <p:nvPr/>
        </p:nvSpPr>
        <p:spPr>
          <a:xfrm>
            <a:off x="9717799" y="4081177"/>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정상</a:t>
            </a:r>
          </a:p>
        </p:txBody>
      </p:sp>
      <p:sp>
        <p:nvSpPr>
          <p:cNvPr id="17" name="TextBox 16"/>
          <p:cNvSpPr txBox="1"/>
          <p:nvPr/>
        </p:nvSpPr>
        <p:spPr>
          <a:xfrm>
            <a:off x="7284982" y="4941573"/>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미달</a:t>
            </a:r>
          </a:p>
        </p:txBody>
      </p:sp>
      <p:sp>
        <p:nvSpPr>
          <p:cNvPr id="18" name="TextBox 17"/>
          <p:cNvSpPr txBox="1"/>
          <p:nvPr/>
        </p:nvSpPr>
        <p:spPr>
          <a:xfrm>
            <a:off x="5474006" y="4941573"/>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거절</a:t>
            </a:r>
          </a:p>
        </p:txBody>
      </p:sp>
      <p:sp>
        <p:nvSpPr>
          <p:cNvPr id="19" name="TextBox 18"/>
          <p:cNvSpPr txBox="1"/>
          <p:nvPr/>
        </p:nvSpPr>
        <p:spPr>
          <a:xfrm>
            <a:off x="3968496" y="4941573"/>
            <a:ext cx="98185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 알림</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 대기: 토큰이 사용자 작업에 머문 상태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승인 대기는 멈춤이나 오류가 아니라, 토큰이 사용자 작업에 머물러 사람의 결정을 기다리는 정상적인 실행 상태이다.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"status": "RUNNING",</a:t>
            </a:r>
          </a:p>
          <a:p>
            <a:pPr algn="l">
              <a:lnSpc>
                <a:spcPct val="110000"/>
              </a:lnSpc>
              <a:spcAft>
                <a:spcPts val="200"/>
              </a:spcAft>
            </a:pPr>
            <a:r>
              <a:rPr sz="1300" b="0">
                <a:solidFill>
                  <a:srgbClr val="E8EEF6"/>
                </a:solidFill>
                <a:latin typeface="Consolas"/>
                <a:ea typeface="맑은 고딕"/>
                <a:cs typeface="맑은 고딕"/>
              </a:rPr>
              <a:t>"current_activity_ids": ["T_approve"]</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T_agent     DONE</a:t>
            </a:r>
          </a:p>
          <a:p>
            <a:pPr algn="l">
              <a:lnSpc>
                <a:spcPct val="110000"/>
              </a:lnSpc>
              <a:spcAft>
                <a:spcPts val="200"/>
              </a:spcAft>
            </a:pPr>
            <a:r>
              <a:rPr sz="1300" b="0">
                <a:solidFill>
                  <a:srgbClr val="E8EEF6"/>
                </a:solidFill>
                <a:latin typeface="Consolas"/>
                <a:ea typeface="맑은 고딕"/>
                <a:cs typeface="맑은 고딕"/>
              </a:rPr>
              <a:t>T_approve   IN_PROGRESS</a:t>
            </a:r>
          </a:p>
          <a:p>
            <a:pPr algn="l">
              <a:lnSpc>
                <a:spcPct val="110000"/>
              </a:lnSpc>
              <a:spcAft>
                <a:spcPts val="200"/>
              </a:spcAft>
            </a:pPr>
            <a:r>
              <a:rPr sz="1300" b="0">
                <a:solidFill>
                  <a:srgbClr val="E8EEF6"/>
                </a:solidFill>
                <a:latin typeface="Consolas"/>
                <a:ea typeface="맑은 고딕"/>
                <a:cs typeface="맑은 고딕"/>
              </a:rPr>
              <a:t>T_cmd       TODO</a:t>
            </a:r>
          </a:p>
          <a:p>
            <a:pPr algn="l">
              <a:lnSpc>
                <a:spcPct val="110000"/>
              </a:lnSpc>
              <a:spcAft>
                <a:spcPts val="200"/>
              </a:spcAft>
            </a:pPr>
            <a:r>
              <a:rPr sz="1300" b="0">
                <a:solidFill>
                  <a:srgbClr val="E8EEF6"/>
                </a:solidFill>
                <a:latin typeface="Consolas"/>
                <a:ea typeface="맑은 고딕"/>
                <a:cs typeface="맑은 고딕"/>
              </a:rPr>
              <a:t>T_reobs     TODO</a:t>
            </a:r>
          </a:p>
          <a:p>
            <a:pPr algn="l">
              <a:lnSpc>
                <a:spcPct val="110000"/>
              </a:lnSpc>
              <a:spcAft>
                <a:spcPts val="200"/>
              </a:spcAft>
            </a:pPr>
            <a:r>
              <a:rPr sz="1300" b="0">
                <a:solidFill>
                  <a:srgbClr val="E8EEF6"/>
                </a:solidFill>
                <a:latin typeface="Consolas"/>
                <a:ea typeface="맑은 고딕"/>
                <a:cs typeface="맑은 고딕"/>
              </a:rPr>
              <a:t>T_wo        TODO</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처리 건의 상태</a:t>
            </a:r>
          </a:p>
          <a:p>
            <a:pPr algn="l">
              <a:lnSpc>
                <a:spcPct val="110000"/>
              </a:lnSpc>
              <a:spcAft>
                <a:spcPts val="400"/>
              </a:spcAft>
            </a:pPr>
            <a:r>
              <a:rPr sz="1400" b="0">
                <a:solidFill>
                  <a:srgbClr val="1F2A3A"/>
                </a:solidFill>
                <a:latin typeface="맑은 고딕"/>
                <a:ea typeface="맑은 고딕"/>
                <a:cs typeface="맑은 고딕"/>
              </a:rPr>
              <a:t>끝나지 않았으므로</a:t>
            </a:r>
          </a:p>
          <a:p>
            <a:pPr algn="l">
              <a:lnSpc>
                <a:spcPct val="110000"/>
              </a:lnSpc>
              <a:spcAft>
                <a:spcPts val="400"/>
              </a:spcAft>
            </a:pPr>
            <a:r>
              <a:rPr sz="1400" b="0">
                <a:solidFill>
                  <a:srgbClr val="1F2A3A"/>
                </a:solidFill>
                <a:latin typeface="맑은 고딕"/>
                <a:ea typeface="맑은 고딕"/>
                <a:cs typeface="맑은 고딕"/>
              </a:rPr>
              <a:t>RUNNING이다.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열려 있는 단계</a:t>
            </a:r>
          </a:p>
          <a:p>
            <a:pPr algn="l">
              <a:lnSpc>
                <a:spcPct val="110000"/>
              </a:lnSpc>
              <a:spcAft>
                <a:spcPts val="400"/>
              </a:spcAft>
            </a:pPr>
            <a:r>
              <a:rPr sz="1400" b="0">
                <a:solidFill>
                  <a:srgbClr val="1F2A3A"/>
                </a:solidFill>
                <a:latin typeface="맑은 고딕"/>
                <a:ea typeface="맑은 고딕"/>
                <a:cs typeface="맑은 고딕"/>
              </a:rPr>
              <a:t>토큰이 있는 곳이</a:t>
            </a:r>
          </a:p>
          <a:p>
            <a:pPr algn="l">
              <a:lnSpc>
                <a:spcPct val="110000"/>
              </a:lnSpc>
              <a:spcAft>
                <a:spcPts val="400"/>
              </a:spcAft>
            </a:pPr>
            <a:r>
              <a:rPr sz="1400" b="0">
                <a:solidFill>
                  <a:srgbClr val="1F2A3A"/>
                </a:solidFill>
                <a:latin typeface="맑은 고딕"/>
                <a:ea typeface="맑은 고딕"/>
                <a:cs typeface="맑은 고딕"/>
              </a:rPr>
              <a:t>T_approve, 운전원 승인이다.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단계의 상태</a:t>
            </a:r>
          </a:p>
          <a:p>
            <a:pPr algn="l">
              <a:lnSpc>
                <a:spcPct val="110000"/>
              </a:lnSpc>
              <a:spcAft>
                <a:spcPts val="400"/>
              </a:spcAft>
            </a:pPr>
            <a:r>
              <a:rPr sz="1400" b="0">
                <a:solidFill>
                  <a:srgbClr val="1F2A3A"/>
                </a:solidFill>
                <a:latin typeface="맑은 고딕"/>
                <a:ea typeface="맑은 고딕"/>
                <a:cs typeface="맑은 고딕"/>
              </a:rPr>
              <a:t>끝난 것은 DONE,</a:t>
            </a:r>
          </a:p>
          <a:p>
            <a:pPr algn="l">
              <a:lnSpc>
                <a:spcPct val="110000"/>
              </a:lnSpc>
              <a:spcAft>
                <a:spcPts val="400"/>
              </a:spcAft>
            </a:pPr>
            <a:r>
              <a:rPr sz="1400" b="0">
                <a:solidFill>
                  <a:srgbClr val="1F2A3A"/>
                </a:solidFill>
                <a:latin typeface="맑은 고딕"/>
                <a:ea typeface="맑은 고딕"/>
                <a:cs typeface="맑은 고딕"/>
              </a:rPr>
              <a:t>닿지 않은 것은 TODO이다.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토큰이 둘이 되는 순간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비중단형 타이머가 발생하면 토큰이 하나 더 생겨 알림 가지를 지나고, 처음의 토큰은 승인 작업에 남아 계속 기다린다.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a:t>
            </a:r>
          </a:p>
        </p:txBody>
      </p:sp>
      <p:pic>
        <p:nvPicPr>
          <p:cNvPr id="6" name="삽화:흐름_토큰_둘.svg" descr="illust_8288659037348385648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564844" y="2015282"/>
            <a:ext cx="120004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운전원 승인</a:t>
            </a:r>
          </a:p>
        </p:txBody>
      </p:sp>
      <p:sp>
        <p:nvSpPr>
          <p:cNvPr id="8" name="TextBox 7"/>
          <p:cNvSpPr txBox="1"/>
          <p:nvPr/>
        </p:nvSpPr>
        <p:spPr>
          <a:xfrm>
            <a:off x="3968496" y="4941573"/>
            <a:ext cx="98185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 알림</a:t>
            </a:r>
          </a:p>
        </p:txBody>
      </p:sp>
      <p:sp>
        <p:nvSpPr>
          <p:cNvPr id="9" name="TextBox 8"/>
          <p:cNvSpPr txBox="1"/>
          <p:nvPr/>
        </p:nvSpPr>
        <p:spPr>
          <a:xfrm>
            <a:off x="4513970" y="2785856"/>
            <a:ext cx="54547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a:t>
            </a:r>
          </a:p>
        </p:txBody>
      </p:sp>
      <p:sp>
        <p:nvSpPr>
          <p:cNvPr id="10" name="TextBox 9"/>
          <p:cNvSpPr txBox="1"/>
          <p:nvPr/>
        </p:nvSpPr>
        <p:spPr>
          <a:xfrm>
            <a:off x="6750417" y="1769455"/>
            <a:ext cx="4145608"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처음의 토큰</a:t>
            </a:r>
          </a:p>
          <a:p>
            <a:pPr algn="ctr">
              <a:lnSpc>
                <a:spcPct val="110000"/>
              </a:lnSpc>
              <a:spcAft>
                <a:spcPts val="100"/>
              </a:spcAft>
            </a:pPr>
            <a:r>
              <a:rPr sz="1100" b="0">
                <a:solidFill>
                  <a:srgbClr val="556175"/>
                </a:solidFill>
                <a:latin typeface="맑은 고딕"/>
                <a:ea typeface="맑은 고딕"/>
                <a:cs typeface="맑은 고딕"/>
              </a:rPr>
              <a:t>운전원 승인에 남아 승인을 기다린다</a:t>
            </a:r>
          </a:p>
        </p:txBody>
      </p:sp>
      <p:sp>
        <p:nvSpPr>
          <p:cNvPr id="11" name="TextBox 10"/>
          <p:cNvSpPr txBox="1"/>
          <p:nvPr/>
        </p:nvSpPr>
        <p:spPr>
          <a:xfrm>
            <a:off x="1677502" y="4842296"/>
            <a:ext cx="1854614" cy="678053"/>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둘째 토큰</a:t>
            </a:r>
          </a:p>
          <a:p>
            <a:pPr algn="ctr">
              <a:lnSpc>
                <a:spcPct val="110000"/>
              </a:lnSpc>
              <a:spcAft>
                <a:spcPts val="100"/>
              </a:spcAft>
            </a:pPr>
            <a:r>
              <a:rPr sz="1100" b="0">
                <a:solidFill>
                  <a:srgbClr val="556175"/>
                </a:solidFill>
                <a:latin typeface="맑은 고딕"/>
                <a:ea typeface="맑은 고딕"/>
                <a:cs typeface="맑은 고딕"/>
              </a:rPr>
              <a:t>승인 지연 타이머에서 생겨 알림 가지를 지난다</a:t>
            </a:r>
          </a:p>
        </p:txBody>
      </p:sp>
      <p:sp>
        <p:nvSpPr>
          <p:cNvPr id="12" name="TextBox 11"/>
          <p:cNvSpPr txBox="1"/>
          <p:nvPr/>
        </p:nvSpPr>
        <p:spPr>
          <a:xfrm>
            <a:off x="2282979" y="2870950"/>
            <a:ext cx="1352777"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원인 진단 · 냉각 조치 제안</a:t>
            </a:r>
          </a:p>
        </p:txBody>
      </p:sp>
      <p:sp>
        <p:nvSpPr>
          <p:cNvPr id="13" name="TextBox 12"/>
          <p:cNvSpPr txBox="1"/>
          <p:nvPr/>
        </p:nvSpPr>
        <p:spPr>
          <a:xfrm>
            <a:off x="4666703" y="4199363"/>
            <a:ext cx="120004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명령</a:t>
            </a:r>
          </a:p>
        </p:txBody>
      </p:sp>
      <p:sp>
        <p:nvSpPr>
          <p:cNvPr id="14" name="TextBox 13"/>
          <p:cNvSpPr txBox="1"/>
          <p:nvPr/>
        </p:nvSpPr>
        <p:spPr>
          <a:xfrm>
            <a:off x="6194033" y="419936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재관측</a:t>
            </a:r>
          </a:p>
        </p:txBody>
      </p:sp>
      <p:sp>
        <p:nvSpPr>
          <p:cNvPr id="15" name="TextBox 14"/>
          <p:cNvSpPr txBox="1"/>
          <p:nvPr/>
        </p:nvSpPr>
        <p:spPr>
          <a:xfrm>
            <a:off x="8397751" y="4081177"/>
            <a:ext cx="98185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작업지시 등록</a:t>
            </a:r>
          </a:p>
        </p:txBody>
      </p:sp>
      <p:sp>
        <p:nvSpPr>
          <p:cNvPr id="16" name="TextBox 15"/>
          <p:cNvSpPr txBox="1"/>
          <p:nvPr/>
        </p:nvSpPr>
        <p:spPr>
          <a:xfrm>
            <a:off x="9717799" y="4081177"/>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정상</a:t>
            </a:r>
          </a:p>
        </p:txBody>
      </p:sp>
      <p:sp>
        <p:nvSpPr>
          <p:cNvPr id="17" name="TextBox 16"/>
          <p:cNvSpPr txBox="1"/>
          <p:nvPr/>
        </p:nvSpPr>
        <p:spPr>
          <a:xfrm>
            <a:off x="7284982" y="4941573"/>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미달</a:t>
            </a:r>
          </a:p>
        </p:txBody>
      </p:sp>
      <p:sp>
        <p:nvSpPr>
          <p:cNvPr id="18" name="TextBox 17"/>
          <p:cNvSpPr txBox="1"/>
          <p:nvPr/>
        </p:nvSpPr>
        <p:spPr>
          <a:xfrm>
            <a:off x="5474006" y="4941573"/>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거절</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실행 상태: 처리 건의 상태와 단계의 상태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처리 건의 상태는 진행 중인지 끝났는지만 알려 주고, 어디에서 기다리며 어느 갈래로 갔는지는 단계의 상태가 알려 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a:t>
            </a:r>
          </a:p>
        </p:txBody>
      </p:sp>
      <p:sp>
        <p:nvSpPr>
          <p:cNvPr id="6" name="TextBox 5"/>
          <p:cNvSpPr txBox="1"/>
          <p:nvPr/>
        </p:nvSpPr>
        <p:spPr>
          <a:xfrm>
            <a:off x="640080" y="1627632"/>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RUNNING</a:t>
            </a:r>
          </a:p>
          <a:p>
            <a:pPr algn="l">
              <a:lnSpc>
                <a:spcPct val="110000"/>
              </a:lnSpc>
              <a:spcAft>
                <a:spcPts val="200"/>
              </a:spcAft>
            </a:pPr>
            <a:r>
              <a:rPr sz="1150" b="0">
                <a:solidFill>
                  <a:srgbClr val="556175"/>
                </a:solidFill>
                <a:latin typeface="맑은 고딕"/>
                <a:ea typeface="맑은 고딕"/>
                <a:cs typeface="맑은 고딕"/>
              </a:rPr>
              <a:t>처리 건</a:t>
            </a:r>
          </a:p>
        </p:txBody>
      </p:sp>
      <p:sp>
        <p:nvSpPr>
          <p:cNvPr id="7" name="TextBox 6"/>
          <p:cNvSpPr txBox="1"/>
          <p:nvPr/>
        </p:nvSpPr>
        <p:spPr>
          <a:xfrm>
            <a:off x="4023359" y="1627632"/>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처리 건이 열려 진행 중이다. 승인을 기다리는 동안에도 이 상태이다.</a:t>
            </a:r>
          </a:p>
        </p:txBody>
      </p:sp>
      <p:sp>
        <p:nvSpPr>
          <p:cNvPr id="8" name="Rectangle 7"/>
          <p:cNvSpPr/>
          <p:nvPr/>
        </p:nvSpPr>
        <p:spPr>
          <a:xfrm>
            <a:off x="548640" y="2800350"/>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640080" y="2809494"/>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COMPLETED</a:t>
            </a:r>
          </a:p>
          <a:p>
            <a:pPr algn="l">
              <a:lnSpc>
                <a:spcPct val="110000"/>
              </a:lnSpc>
              <a:spcAft>
                <a:spcPts val="200"/>
              </a:spcAft>
            </a:pPr>
            <a:r>
              <a:rPr sz="1150" b="0">
                <a:solidFill>
                  <a:srgbClr val="556175"/>
                </a:solidFill>
                <a:latin typeface="맑은 고딕"/>
                <a:ea typeface="맑은 고딕"/>
                <a:cs typeface="맑은 고딕"/>
              </a:rPr>
              <a:t>처리 건</a:t>
            </a:r>
          </a:p>
        </p:txBody>
      </p:sp>
      <p:sp>
        <p:nvSpPr>
          <p:cNvPr id="10" name="TextBox 9"/>
          <p:cNvSpPr txBox="1"/>
          <p:nvPr/>
        </p:nvSpPr>
        <p:spPr>
          <a:xfrm>
            <a:off x="4023359" y="2809494"/>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처리 건이 끝 이벤트에 닿아 실행이 끝났다.</a:t>
            </a:r>
          </a:p>
        </p:txBody>
      </p:sp>
      <p:sp>
        <p:nvSpPr>
          <p:cNvPr id="11" name="Rectangle 10"/>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2" name="TextBox 11"/>
          <p:cNvSpPr txBox="1"/>
          <p:nvPr/>
        </p:nvSpPr>
        <p:spPr>
          <a:xfrm>
            <a:off x="640080" y="3991356"/>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IN_PROGRESS · DONE · TODO</a:t>
            </a:r>
          </a:p>
          <a:p>
            <a:pPr algn="l">
              <a:lnSpc>
                <a:spcPct val="110000"/>
              </a:lnSpc>
              <a:spcAft>
                <a:spcPts val="200"/>
              </a:spcAft>
            </a:pPr>
            <a:r>
              <a:rPr sz="1150" b="0">
                <a:solidFill>
                  <a:srgbClr val="556175"/>
                </a:solidFill>
                <a:latin typeface="맑은 고딕"/>
                <a:ea typeface="맑은 고딕"/>
                <a:cs typeface="맑은 고딕"/>
              </a:rPr>
              <a:t>단계</a:t>
            </a:r>
          </a:p>
        </p:txBody>
      </p:sp>
      <p:sp>
        <p:nvSpPr>
          <p:cNvPr id="13" name="TextBox 12"/>
          <p:cNvSpPr txBox="1"/>
          <p:nvPr/>
        </p:nvSpPr>
        <p:spPr>
          <a:xfrm>
            <a:off x="4023359" y="3991356"/>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단계가 열려 있다, 끝났다, 아직 닿지 않았다.</a:t>
            </a:r>
          </a:p>
        </p:txBody>
      </p:sp>
      <p:sp>
        <p:nvSpPr>
          <p:cNvPr id="14" name="Rectangle 13"/>
          <p:cNvSpPr/>
          <p:nvPr/>
        </p:nvSpPr>
        <p:spPr>
          <a:xfrm>
            <a:off x="548640" y="5164074"/>
            <a:ext cx="11094415" cy="13716"/>
          </a:xfrm>
          <a:prstGeom prst="rect">
            <a:avLst/>
          </a:prstGeom>
          <a:solidFill>
            <a:srgbClr val="D3D9E1"/>
          </a:solidFill>
          <a:ln>
            <a:noFill/>
          </a:ln>
        </p:spPr>
        <p:txBody>
          <a:bodyPr rtlCol="0" anchor="ctr"/>
          <a:lstStyle/>
          <a:p>
            <a:pPr algn="ctr"/>
          </a:p>
        </p:txBody>
      </p:sp>
      <p:sp>
        <p:nvSpPr>
          <p:cNvPr id="15" name="Rounded Rectangle 14"/>
          <p:cNvSpPr/>
          <p:nvPr/>
        </p:nvSpPr>
        <p:spPr>
          <a:xfrm>
            <a:off x="548640" y="5200650"/>
            <a:ext cx="11094415" cy="1126998"/>
          </a:xfrm>
          <a:prstGeom prst="roundRect">
            <a:avLst>
              <a:gd name="adj" fmla="val 6000"/>
            </a:avLst>
          </a:prstGeom>
          <a:solidFill>
            <a:srgbClr val="E7F3FD"/>
          </a:solidFill>
          <a:ln>
            <a:noFill/>
          </a:ln>
        </p:spPr>
        <p:txBody>
          <a:bodyPr rtlCol="0" anchor="ctr"/>
          <a:lstStyle/>
          <a:p>
            <a:pPr algn="ctr"/>
          </a:p>
        </p:txBody>
      </p:sp>
      <p:sp>
        <p:nvSpPr>
          <p:cNvPr id="16" name="TextBox 15"/>
          <p:cNvSpPr txBox="1"/>
          <p:nvPr/>
        </p:nvSpPr>
        <p:spPr>
          <a:xfrm>
            <a:off x="640080" y="5173218"/>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CANCELLED</a:t>
            </a:r>
          </a:p>
          <a:p>
            <a:pPr algn="l">
              <a:lnSpc>
                <a:spcPct val="110000"/>
              </a:lnSpc>
              <a:spcAft>
                <a:spcPts val="200"/>
              </a:spcAft>
            </a:pPr>
            <a:r>
              <a:rPr sz="1150" b="0">
                <a:solidFill>
                  <a:srgbClr val="556175"/>
                </a:solidFill>
                <a:latin typeface="맑은 고딕"/>
                <a:ea typeface="맑은 고딕"/>
                <a:cs typeface="맑은 고딕"/>
              </a:rPr>
              <a:t>단계</a:t>
            </a:r>
          </a:p>
        </p:txBody>
      </p:sp>
      <p:sp>
        <p:nvSpPr>
          <p:cNvPr id="17" name="TextBox 16"/>
          <p:cNvSpPr txBox="1"/>
          <p:nvPr/>
        </p:nvSpPr>
        <p:spPr>
          <a:xfrm>
            <a:off x="4023359" y="5173218"/>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단계가 선택되지 않은 갈래에 있었다.</a:t>
            </a:r>
          </a:p>
          <a:p>
            <a:pPr algn="l">
              <a:lnSpc>
                <a:spcPct val="110000"/>
              </a:lnSpc>
              <a:spcAft>
                <a:spcPts val="300"/>
              </a:spcAft>
            </a:pPr>
            <a:r>
              <a:rPr sz="1400" b="0">
                <a:solidFill>
                  <a:srgbClr val="1F2A3A"/>
                </a:solidFill>
                <a:latin typeface="맑은 고딕"/>
                <a:ea typeface="맑은 고딕"/>
                <a:cs typeface="맑은 고딕"/>
              </a:rPr>
              <a:t>거절된 처리 건의 냉각 명령이 이 상태로 남는다.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COMPLETED는 성공을 뜻하지 않는다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거절로 닫힌 처리 건도 상태는 COMPLETED이므로, 업무의 결과는 닿은 끝 이벤트와 결과 보고의 내용으로 판단한다.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a:t>
            </a:r>
          </a:p>
        </p:txBody>
      </p:sp>
      <p:sp>
        <p:nvSpPr>
          <p:cNvPr id="6" name="Rounded Rectangle 5"/>
          <p:cNvSpPr/>
          <p:nvPr/>
        </p:nvSpPr>
        <p:spPr>
          <a:xfrm>
            <a:off x="548640" y="2128647"/>
            <a:ext cx="5181447" cy="372541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29815"/>
            <a:ext cx="731520" cy="731520"/>
          </a:xfrm>
          <a:prstGeom prst="ellipse">
            <a:avLst/>
          </a:prstGeom>
          <a:solidFill>
            <a:srgbClr val="FFFFFF"/>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76579" y="2483434"/>
            <a:ext cx="424281" cy="424281"/>
          </a:xfrm>
          <a:prstGeom prst="rect">
            <a:avLst/>
          </a:prstGeom>
        </p:spPr>
      </p:pic>
      <p:sp>
        <p:nvSpPr>
          <p:cNvPr id="9" name="TextBox 8"/>
          <p:cNvSpPr txBox="1"/>
          <p:nvPr/>
        </p:nvSpPr>
        <p:spPr>
          <a:xfrm>
            <a:off x="1691640"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승인된 처리 건</a:t>
            </a:r>
          </a:p>
        </p:txBody>
      </p:sp>
      <p:sp>
        <p:nvSpPr>
          <p:cNvPr id="10" name="TextBox 9"/>
          <p:cNvSpPr txBox="1"/>
          <p:nvPr/>
        </p:nvSpPr>
        <p:spPr>
          <a:xfrm>
            <a:off x="822959"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status: COMPLETED</a:t>
            </a:r>
          </a:p>
          <a:p>
            <a:pPr algn="l">
              <a:lnSpc>
                <a:spcPct val="110000"/>
              </a:lnSpc>
              <a:spcAft>
                <a:spcPts val="600"/>
              </a:spcAft>
            </a:pPr>
            <a:r>
              <a:rPr sz="1450" b="0">
                <a:solidFill>
                  <a:srgbClr val="1F2A3A"/>
                </a:solidFill>
                <a:latin typeface="맑은 고딕"/>
                <a:ea typeface="맑은 고딕"/>
                <a:cs typeface="맑은 고딕"/>
              </a:rPr>
              <a:t>• end_event: E_end</a:t>
            </a:r>
          </a:p>
          <a:p>
            <a:pPr algn="l">
              <a:lnSpc>
                <a:spcPct val="110000"/>
              </a:lnSpc>
              <a:spcAft>
                <a:spcPts val="600"/>
              </a:spcAft>
            </a:pPr>
            <a:r>
              <a:rPr sz="1450" b="0">
                <a:solidFill>
                  <a:srgbClr val="1F2A3A"/>
                </a:solidFill>
                <a:latin typeface="맑은 고딕"/>
                <a:ea typeface="맑은 고딕"/>
                <a:cs typeface="맑은 고딕"/>
              </a:rPr>
              <a:t>• 결과 보고: 정상</a:t>
            </a:r>
          </a:p>
          <a:p>
            <a:pPr algn="l">
              <a:lnSpc>
                <a:spcPct val="110000"/>
              </a:lnSpc>
              <a:spcAft>
                <a:spcPts val="600"/>
              </a:spcAft>
            </a:pPr>
            <a:r>
              <a:rPr sz="1450" b="0">
                <a:solidFill>
                  <a:srgbClr val="1F2A3A"/>
                </a:solidFill>
                <a:latin typeface="맑은 고딕"/>
                <a:ea typeface="맑은 고딕"/>
                <a:cs typeface="맑은 고딕"/>
              </a:rPr>
              <a:t>• 설비 명령: CMD-1010-0001-01d1</a:t>
            </a:r>
          </a:p>
          <a:p>
            <a:pPr algn="l">
              <a:lnSpc>
                <a:spcPct val="110000"/>
              </a:lnSpc>
              <a:spcAft>
                <a:spcPts val="600"/>
              </a:spcAft>
            </a:pPr>
            <a:r>
              <a:rPr sz="1450" b="0">
                <a:solidFill>
                  <a:srgbClr val="1F2A3A"/>
                </a:solidFill>
                <a:latin typeface="맑은 고딕"/>
                <a:ea typeface="맑은 고딕"/>
                <a:cs typeface="맑은 고딕"/>
              </a:rPr>
              <a:t>• 회복에 미달해도 end_event는 E_end이고 결과 보고가 미달로 달라진다</a:t>
            </a:r>
          </a:p>
        </p:txBody>
      </p:sp>
      <p:sp>
        <p:nvSpPr>
          <p:cNvPr id="11" name="Rounded Rectangle 10"/>
          <p:cNvSpPr/>
          <p:nvPr/>
        </p:nvSpPr>
        <p:spPr>
          <a:xfrm>
            <a:off x="868680" y="5396865"/>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96865"/>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끝</a:t>
            </a:r>
          </a:p>
        </p:txBody>
      </p:sp>
      <p:sp>
        <p:nvSpPr>
          <p:cNvPr id="13" name="Rounded Rectangle 12"/>
          <p:cNvSpPr/>
          <p:nvPr/>
        </p:nvSpPr>
        <p:spPr>
          <a:xfrm>
            <a:off x="6461607" y="2128647"/>
            <a:ext cx="5181447" cy="372541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29815"/>
            <a:ext cx="731520" cy="731520"/>
          </a:xfrm>
          <a:prstGeom prst="ellipse">
            <a:avLst/>
          </a:prstGeom>
          <a:solidFill>
            <a:srgbClr val="5CB8F2"/>
          </a:solidFill>
          <a:ln>
            <a:noFill/>
          </a:ln>
        </p:spPr>
        <p:txBody>
          <a:bodyPr rtlCol="0" anchor="ctr"/>
          <a:lstStyle/>
          <a:p>
            <a:pPr algn="ctr"/>
          </a:p>
        </p:txBody>
      </p:sp>
      <p:pic>
        <p:nvPicPr>
          <p:cNvPr id="15" name="아이콘:ban" descr="ban_13294B_1.6.png"/>
          <p:cNvPicPr>
            <a:picLocks noChangeAspect="1"/>
          </p:cNvPicPr>
          <p:nvPr/>
        </p:nvPicPr>
        <p:blipFill>
          <a:blip r:embed="rId4"/>
          <a:stretch>
            <a:fillRect/>
          </a:stretch>
        </p:blipFill>
        <p:spPr>
          <a:xfrm>
            <a:off x="6889546" y="2483434"/>
            <a:ext cx="424281" cy="424281"/>
          </a:xfrm>
          <a:prstGeom prst="rect">
            <a:avLst/>
          </a:prstGeom>
        </p:spPr>
      </p:pic>
      <p:sp>
        <p:nvSpPr>
          <p:cNvPr id="16" name="TextBox 15"/>
          <p:cNvSpPr txBox="1"/>
          <p:nvPr/>
        </p:nvSpPr>
        <p:spPr>
          <a:xfrm>
            <a:off x="7604607"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거절된 처리 건</a:t>
            </a:r>
          </a:p>
        </p:txBody>
      </p:sp>
      <p:sp>
        <p:nvSpPr>
          <p:cNvPr id="17" name="TextBox 16"/>
          <p:cNvSpPr txBox="1"/>
          <p:nvPr/>
        </p:nvSpPr>
        <p:spPr>
          <a:xfrm>
            <a:off x="6735927"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status: COMPLETED</a:t>
            </a:r>
          </a:p>
          <a:p>
            <a:pPr algn="l">
              <a:lnSpc>
                <a:spcPct val="110000"/>
              </a:lnSpc>
              <a:spcAft>
                <a:spcPts val="600"/>
              </a:spcAft>
            </a:pPr>
            <a:r>
              <a:rPr sz="1450" b="0">
                <a:solidFill>
                  <a:srgbClr val="1F2A3A"/>
                </a:solidFill>
                <a:latin typeface="맑은 고딕"/>
                <a:ea typeface="맑은 고딕"/>
                <a:cs typeface="맑은 고딕"/>
              </a:rPr>
              <a:t>• end_event: E_rejected</a:t>
            </a:r>
          </a:p>
          <a:p>
            <a:pPr algn="l">
              <a:lnSpc>
                <a:spcPct val="110000"/>
              </a:lnSpc>
              <a:spcAft>
                <a:spcPts val="600"/>
              </a:spcAft>
            </a:pPr>
            <a:r>
              <a:rPr sz="1450" b="0">
                <a:solidFill>
                  <a:srgbClr val="1F2A3A"/>
                </a:solidFill>
                <a:latin typeface="맑은 고딕"/>
                <a:ea typeface="맑은 고딕"/>
                <a:cs typeface="맑은 고딕"/>
              </a:rPr>
              <a:t>• 결과 보고: 거절(기록의 값은 반려)</a:t>
            </a:r>
          </a:p>
          <a:p>
            <a:pPr algn="l">
              <a:lnSpc>
                <a:spcPct val="110000"/>
              </a:lnSpc>
              <a:spcAft>
                <a:spcPts val="600"/>
              </a:spcAft>
            </a:pPr>
            <a:r>
              <a:rPr sz="1450" b="0">
                <a:solidFill>
                  <a:srgbClr val="1F2A3A"/>
                </a:solidFill>
                <a:latin typeface="맑은 고딕"/>
                <a:ea typeface="맑은 고딕"/>
                <a:cs typeface="맑은 고딕"/>
              </a:rPr>
              <a:t>• 설비 명령: 없음</a:t>
            </a:r>
          </a:p>
          <a:p>
            <a:pPr algn="l">
              <a:lnSpc>
                <a:spcPct val="110000"/>
              </a:lnSpc>
              <a:spcAft>
                <a:spcPts val="600"/>
              </a:spcAft>
            </a:pPr>
            <a:r>
              <a:rPr sz="1450" b="0">
                <a:solidFill>
                  <a:srgbClr val="1F2A3A"/>
                </a:solidFill>
                <a:latin typeface="맑은 고딕"/>
                <a:ea typeface="맑은 고딕"/>
                <a:cs typeface="맑은 고딕"/>
              </a:rPr>
              <a:t>• 냉각 명령, 재관측, 작업지시 등록은 CANCELLED</a:t>
            </a:r>
          </a:p>
        </p:txBody>
      </p:sp>
      <p:sp>
        <p:nvSpPr>
          <p:cNvPr id="18" name="Rounded Rectangle 17"/>
          <p:cNvSpPr/>
          <p:nvPr/>
        </p:nvSpPr>
        <p:spPr>
          <a:xfrm>
            <a:off x="6781647" y="5396865"/>
            <a:ext cx="10210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96865"/>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거절 종결</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처리 건 한 건에 남는 기록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처리 건에는 어느 정의의 어느 판본으로, 어느 경보에서 열려, 어느 끝 이벤트에 닿았는지가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"proc_inst_name":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대응</a:t>
            </a:r>
            <a:r>
              <a:rPr sz="1300" b="0">
                <a:solidFill>
                  <a:srgbClr val="E8EEF6"/>
                </a:solidFill>
                <a:latin typeface="Consolas"/>
                <a:ea typeface="맑은 고딕"/>
                <a:cs typeface="맑은 고딕"/>
              </a:rPr>
              <a:t> HYD-01",</a:t>
            </a:r>
          </a:p>
          <a:p>
            <a:pPr algn="l">
              <a:lnSpc>
                <a:spcPct val="110000"/>
              </a:lnSpc>
              <a:spcAft>
                <a:spcPts val="200"/>
              </a:spcAft>
            </a:pPr>
            <a:r>
              <a:rPr sz="1300" b="0">
                <a:solidFill>
                  <a:srgbClr val="E8EEF6"/>
                </a:solidFill>
                <a:latin typeface="Consolas"/>
                <a:ea typeface="맑은 고딕"/>
                <a:cs typeface="맑은 고딕"/>
              </a:rPr>
              <a:t>"proc_def_id": "c3_cooling",</a:t>
            </a:r>
          </a:p>
          <a:p>
            <a:pPr algn="l">
              <a:lnSpc>
                <a:spcPct val="110000"/>
              </a:lnSpc>
              <a:spcAft>
                <a:spcPts val="200"/>
              </a:spcAft>
            </a:pPr>
            <a:r>
              <a:rPr sz="1300" b="0">
                <a:solidFill>
                  <a:srgbClr val="E8EEF6"/>
                </a:solidFill>
                <a:latin typeface="Consolas"/>
                <a:ea typeface="맑은 고딕"/>
                <a:cs typeface="맑은 고딕"/>
              </a:rPr>
              <a:t>"proc_def_version": "9",</a:t>
            </a:r>
          </a:p>
          <a:p>
            <a:pPr algn="l">
              <a:lnSpc>
                <a:spcPct val="110000"/>
              </a:lnSpc>
              <a:spcAft>
                <a:spcPts val="200"/>
              </a:spcAft>
            </a:pPr>
            <a:r>
              <a:rPr sz="1300" b="0">
                <a:solidFill>
                  <a:srgbClr val="E8EEF6"/>
                </a:solidFill>
                <a:latin typeface="Consolas"/>
                <a:ea typeface="맑은 고딕"/>
                <a:cs typeface="맑은 고딕"/>
              </a:rPr>
              <a:t>"start_event_id": "ALT-hyd01-0026-767a",</a:t>
            </a:r>
          </a:p>
          <a:p>
            <a:pPr algn="l">
              <a:lnSpc>
                <a:spcPct val="110000"/>
              </a:lnSpc>
              <a:spcAft>
                <a:spcPts val="200"/>
              </a:spcAft>
            </a:pPr>
            <a:r>
              <a:rPr sz="1300" b="0">
                <a:solidFill>
                  <a:srgbClr val="E8EEF6"/>
                </a:solidFill>
                <a:latin typeface="Consolas"/>
                <a:ea typeface="맑은 고딕"/>
                <a:cs typeface="맑은 고딕"/>
              </a:rPr>
              <a:t>"status": "COMPLETED",</a:t>
            </a:r>
          </a:p>
          <a:p>
            <a:pPr algn="l">
              <a:lnSpc>
                <a:spcPct val="110000"/>
              </a:lnSpc>
              <a:spcAft>
                <a:spcPts val="200"/>
              </a:spcAft>
            </a:pPr>
            <a:r>
              <a:rPr sz="1300" b="0">
                <a:solidFill>
                  <a:srgbClr val="E8EEF6"/>
                </a:solidFill>
                <a:latin typeface="Consolas"/>
                <a:ea typeface="맑은 고딕"/>
                <a:cs typeface="맑은 고딕"/>
              </a:rPr>
              <a:t>"end_event": "E_end"</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정의와 판본</a:t>
            </a:r>
          </a:p>
          <a:p>
            <a:pPr algn="l">
              <a:lnSpc>
                <a:spcPct val="110000"/>
              </a:lnSpc>
              <a:spcAft>
                <a:spcPts val="400"/>
              </a:spcAft>
            </a:pPr>
            <a:r>
              <a:rPr sz="1400" b="0">
                <a:solidFill>
                  <a:srgbClr val="1F2A3A"/>
                </a:solidFill>
                <a:latin typeface="맑은 고딕"/>
                <a:ea typeface="맑은 고딕"/>
                <a:cs typeface="맑은 고딕"/>
              </a:rPr>
              <a:t>c3_cooling 정의의</a:t>
            </a:r>
          </a:p>
          <a:p>
            <a:pPr algn="l">
              <a:lnSpc>
                <a:spcPct val="110000"/>
              </a:lnSpc>
              <a:spcAft>
                <a:spcPts val="400"/>
              </a:spcAft>
            </a:pPr>
            <a:r>
              <a:rPr sz="1400" b="0">
                <a:solidFill>
                  <a:srgbClr val="1F2A3A"/>
                </a:solidFill>
                <a:latin typeface="맑은 고딕"/>
                <a:ea typeface="맑은 고딕"/>
                <a:cs typeface="맑은 고딕"/>
              </a:rPr>
              <a:t>판본 9로 열렸다.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여는 사건</a:t>
            </a:r>
          </a:p>
          <a:p>
            <a:pPr algn="l">
              <a:lnSpc>
                <a:spcPct val="110000"/>
              </a:lnSpc>
              <a:spcAft>
                <a:spcPts val="400"/>
              </a:spcAft>
            </a:pPr>
            <a:r>
              <a:rPr sz="1400" b="0">
                <a:solidFill>
                  <a:srgbClr val="1F2A3A"/>
                </a:solidFill>
                <a:latin typeface="맑은 고딕"/>
                <a:ea typeface="맑은 고딕"/>
                <a:cs typeface="맑은 고딕"/>
              </a:rPr>
              <a:t>경보 ALT-hyd01-0026-767a가</a:t>
            </a:r>
          </a:p>
          <a:p>
            <a:pPr algn="l">
              <a:lnSpc>
                <a:spcPct val="110000"/>
              </a:lnSpc>
              <a:spcAft>
                <a:spcPts val="400"/>
              </a:spcAft>
            </a:pPr>
            <a:r>
              <a:rPr sz="1400" b="0">
                <a:solidFill>
                  <a:srgbClr val="1F2A3A"/>
                </a:solidFill>
                <a:latin typeface="맑은 고딕"/>
                <a:ea typeface="맑은 고딕"/>
                <a:cs typeface="맑은 고딕"/>
              </a:rPr>
              <a:t>이 처리 건을 열었다.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닫힌 곳</a:t>
            </a:r>
          </a:p>
          <a:p>
            <a:pPr algn="l">
              <a:lnSpc>
                <a:spcPct val="110000"/>
              </a:lnSpc>
              <a:spcAft>
                <a:spcPts val="400"/>
              </a:spcAft>
            </a:pPr>
            <a:r>
              <a:rPr sz="1400" b="0">
                <a:solidFill>
                  <a:srgbClr val="1F2A3A"/>
                </a:solidFill>
                <a:latin typeface="맑은 고딕"/>
                <a:ea typeface="맑은 고딕"/>
                <a:cs typeface="맑은 고딕"/>
              </a:rPr>
              <a:t>끝 이벤트 E_end에 닿아</a:t>
            </a:r>
          </a:p>
          <a:p>
            <a:pPr algn="l">
              <a:lnSpc>
                <a:spcPct val="110000"/>
              </a:lnSpc>
              <a:spcAft>
                <a:spcPts val="400"/>
              </a:spcAft>
            </a:pPr>
            <a:r>
              <a:rPr sz="1400" b="0">
                <a:solidFill>
                  <a:srgbClr val="1F2A3A"/>
                </a:solidFill>
                <a:latin typeface="맑은 고딕"/>
                <a:ea typeface="맑은 고딕"/>
                <a:cs typeface="맑은 고딕"/>
              </a:rPr>
              <a:t>실행이 끝났다.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프로세스 변수: 인스턴스가 지니는 데이터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프로세스 변수는 인스턴스가 지니는 데이터로, 앞 작업의 출력이 뒤 작업의 입력과 갈림의 조건이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프로세스 변수</a:t>
            </a:r>
          </a:p>
          <a:p>
            <a:pPr algn="l">
              <a:lnSpc>
                <a:spcPct val="110000"/>
              </a:lnSpc>
              <a:spcAft>
                <a:spcPts val="200"/>
              </a:spcAft>
            </a:pPr>
            <a:r>
              <a:rPr sz="1150" b="0">
                <a:solidFill>
                  <a:srgbClr val="556175"/>
                </a:solidFill>
                <a:latin typeface="맑은 고딕"/>
                <a:ea typeface="맑은 고딕"/>
                <a:cs typeface="맑은 고딕"/>
              </a:rPr>
              <a:t>Process Variable</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인스턴스마다 따로 지니는 이름 붙은 값이다.</a:t>
            </a:r>
          </a:p>
          <a:p>
            <a:pPr algn="l">
              <a:lnSpc>
                <a:spcPct val="110000"/>
              </a:lnSpc>
              <a:spcAft>
                <a:spcPts val="300"/>
              </a:spcAft>
            </a:pPr>
            <a:r>
              <a:rPr sz="1400" b="0">
                <a:solidFill>
                  <a:srgbClr val="1F2A3A"/>
                </a:solidFill>
                <a:latin typeface="맑은 고딕"/>
                <a:ea typeface="맑은 고딕"/>
                <a:cs typeface="맑은 고딕"/>
              </a:rPr>
              <a:t>작업이 낸 출력이 변수로 저장되고 뒤의 작업과 게이트웨이가 읽는다.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갈림의 조건으로</a:t>
            </a:r>
          </a:p>
          <a:p>
            <a:pPr algn="l">
              <a:lnSpc>
                <a:spcPct val="110000"/>
              </a:lnSpc>
              <a:spcAft>
                <a:spcPts val="200"/>
              </a:spcAft>
            </a:pPr>
            <a:r>
              <a:rPr sz="1150" b="0">
                <a:solidFill>
                  <a:srgbClr val="556175"/>
                </a:solidFill>
                <a:latin typeface="맑은 고딕"/>
                <a:ea typeface="맑은 고딕"/>
                <a:cs typeface="맑은 고딕"/>
              </a:rPr>
              <a:t>approval · recovered</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게이트웨이 「승인?」은 운전원 승인이 낸 approval을 읽는다.</a:t>
            </a:r>
          </a:p>
          <a:p>
            <a:pPr algn="l">
              <a:lnSpc>
                <a:spcPct val="110000"/>
              </a:lnSpc>
              <a:spcAft>
                <a:spcPts val="300"/>
              </a:spcAft>
            </a:pPr>
            <a:r>
              <a:rPr sz="1400" b="0">
                <a:solidFill>
                  <a:srgbClr val="1F2A3A"/>
                </a:solidFill>
                <a:latin typeface="맑은 고딕"/>
                <a:ea typeface="맑은 고딕"/>
                <a:cs typeface="맑은 고딕"/>
              </a:rPr>
              <a:t>게이트웨이 「유온 정상?」은 재관측이 낸 recovered를 읽는다.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만든 곳의 기록</a:t>
            </a:r>
          </a:p>
          <a:p>
            <a:pPr algn="l">
              <a:lnSpc>
                <a:spcPct val="110000"/>
              </a:lnSpc>
              <a:spcAft>
                <a:spcPts val="200"/>
              </a:spcAft>
            </a:pPr>
            <a:r>
              <a:rPr sz="1150" b="0">
                <a:solidFill>
                  <a:srgbClr val="556175"/>
                </a:solidFill>
                <a:latin typeface="맑은 고딕"/>
                <a:ea typeface="맑은 고딕"/>
                <a:cs typeface="맑은 고딕"/>
              </a:rPr>
              <a:t>값의 출처</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처리 건은 변수마다 그것을 만든 단계를 함께 적어 둔다.</a:t>
            </a:r>
          </a:p>
          <a:p>
            <a:pPr algn="l">
              <a:lnSpc>
                <a:spcPct val="110000"/>
              </a:lnSpc>
              <a:spcAft>
                <a:spcPts val="300"/>
              </a:spcAft>
            </a:pPr>
            <a:r>
              <a:rPr sz="1400" b="0">
                <a:solidFill>
                  <a:srgbClr val="1F2A3A"/>
                </a:solidFill>
                <a:latin typeface="맑은 고딕"/>
                <a:ea typeface="맑은 고딕"/>
                <a:cs typeface="맑은 고딕"/>
              </a:rPr>
              <a:t>cause는 에이전트 단계가, 승인된 조치 방법 chosen_skill은 운전원 승인이, work_order는 작업지시 등록이 만들었다.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프로세스가 에이전트의 결과를 잇는 순서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지식과 값을 읽는 일은 에이전트 단계 안에서 끝나고, 프로세스는 그 결과를 승인, 명령, 재관측으로 잇는다.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작업</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받은 것</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낸 것</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원인 진단 · 냉각 조치 제안</a:t>
            </a:r>
          </a:p>
        </p:txBody>
      </p:sp>
      <p:sp>
        <p:nvSpPr>
          <p:cNvPr id="12" name="TextBox 11"/>
          <p:cNvSpPr txBox="1"/>
          <p:nvPr/>
        </p:nvSpPr>
        <p:spPr>
          <a:xfrm>
            <a:off x="3200400" y="202996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경보 ALT-hyd01-0026-767a</a:t>
            </a:r>
          </a:p>
        </p:txBody>
      </p:sp>
      <p:sp>
        <p:nvSpPr>
          <p:cNvPr id="13" name="TextBox 12"/>
          <p:cNvSpPr txBox="1"/>
          <p:nvPr/>
        </p:nvSpPr>
        <p:spPr>
          <a:xfrm>
            <a:off x="9448495" y="202996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원인 쿨러 핀 오염</a:t>
            </a:r>
          </a:p>
          <a:p>
            <a:pPr algn="l">
              <a:lnSpc>
                <a:spcPct val="110000"/>
              </a:lnSpc>
            </a:pPr>
            <a:r>
              <a:rPr sz="1250" b="1">
                <a:solidFill>
                  <a:srgbClr val="556175"/>
                </a:solidFill>
                <a:latin typeface="맑은 고딕"/>
                <a:ea typeface="맑은 고딕"/>
                <a:cs typeface="맑은 고딕"/>
              </a:rPr>
              <a:t>추천 SOP-COOL-11</a:t>
            </a:r>
          </a:p>
        </p:txBody>
      </p:sp>
      <p:sp>
        <p:nvSpPr>
          <p:cNvPr id="14" name="Rounded Rectangle 13"/>
          <p:cNvSpPr/>
          <p:nvPr/>
        </p:nvSpPr>
        <p:spPr>
          <a:xfrm>
            <a:off x="548640" y="2782824"/>
            <a:ext cx="11094415" cy="656843"/>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운전원 승인</a:t>
            </a:r>
          </a:p>
        </p:txBody>
      </p:sp>
      <p:sp>
        <p:nvSpPr>
          <p:cNvPr id="16" name="TextBox 15"/>
          <p:cNvSpPr txBox="1"/>
          <p:nvPr/>
        </p:nvSpPr>
        <p:spPr>
          <a:xfrm>
            <a:off x="3200400" y="2750820"/>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추천안(추천 조치와 대안)</a:t>
            </a:r>
          </a:p>
        </p:txBody>
      </p:sp>
      <p:sp>
        <p:nvSpPr>
          <p:cNvPr id="17" name="TextBox 16"/>
          <p:cNvSpPr txBox="1"/>
          <p:nvPr/>
        </p:nvSpPr>
        <p:spPr>
          <a:xfrm>
            <a:off x="9448495" y="2750820"/>
            <a:ext cx="2103120" cy="720851"/>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승인</a:t>
            </a:r>
          </a:p>
          <a:p>
            <a:pPr algn="l">
              <a:lnSpc>
                <a:spcPct val="110000"/>
              </a:lnSpc>
            </a:pPr>
            <a:r>
              <a:rPr sz="1250" b="1">
                <a:solidFill>
                  <a:srgbClr val="1A6FC4"/>
                </a:solidFill>
                <a:latin typeface="맑은 고딕"/>
                <a:ea typeface="맑은 고딕"/>
                <a:cs typeface="맑은 고딕"/>
              </a:rPr>
              <a:t>팬 속도 100 %</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냉각 명령</a:t>
            </a:r>
          </a:p>
        </p:txBody>
      </p:sp>
      <p:sp>
        <p:nvSpPr>
          <p:cNvPr id="20" name="TextBox 19"/>
          <p:cNvSpPr txBox="1"/>
          <p:nvPr/>
        </p:nvSpPr>
        <p:spPr>
          <a:xfrm>
            <a:off x="3200400" y="3471672"/>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승인된 조치</a:t>
            </a:r>
          </a:p>
        </p:txBody>
      </p:sp>
      <p:sp>
        <p:nvSpPr>
          <p:cNvPr id="21" name="TextBox 20"/>
          <p:cNvSpPr txBox="1"/>
          <p:nvPr/>
        </p:nvSpPr>
        <p:spPr>
          <a:xfrm>
            <a:off x="9448495" y="3471672"/>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CMD-1010-0001-01d1</a:t>
            </a:r>
          </a:p>
          <a:p>
            <a:pPr algn="l">
              <a:lnSpc>
                <a:spcPct val="110000"/>
              </a:lnSpc>
            </a:pPr>
            <a:r>
              <a:rPr sz="1250" b="1">
                <a:solidFill>
                  <a:srgbClr val="556175"/>
                </a:solidFill>
                <a:latin typeface="맑은 고딕"/>
                <a:ea typeface="맑은 고딕"/>
                <a:cs typeface="맑은 고딕"/>
              </a:rPr>
              <a:t>인터록 PASS</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재관측</a:t>
            </a:r>
          </a:p>
        </p:txBody>
      </p:sp>
      <p:sp>
        <p:nvSpPr>
          <p:cNvPr id="24" name="TextBox 23"/>
          <p:cNvSpPr txBox="1"/>
          <p:nvPr/>
        </p:nvSpPr>
        <p:spPr>
          <a:xfrm>
            <a:off x="3200400" y="4192524"/>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명령의 완료</a:t>
            </a:r>
          </a:p>
        </p:txBody>
      </p:sp>
      <p:sp>
        <p:nvSpPr>
          <p:cNvPr id="25" name="TextBox 24"/>
          <p:cNvSpPr txBox="1"/>
          <p:nvPr/>
        </p:nvSpPr>
        <p:spPr>
          <a:xfrm>
            <a:off x="9448495" y="4192524"/>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유온 51.3 ℃</a:t>
            </a:r>
          </a:p>
          <a:p>
            <a:pPr algn="l">
              <a:lnSpc>
                <a:spcPct val="110000"/>
              </a:lnSpc>
            </a:pPr>
            <a:r>
              <a:rPr sz="1250" b="1">
                <a:solidFill>
                  <a:srgbClr val="556175"/>
                </a:solidFill>
                <a:latin typeface="맑은 고딕"/>
                <a:ea typeface="맑은 고딕"/>
                <a:cs typeface="맑은 고딕"/>
              </a:rPr>
              <a:t>기준 55 ℃ 미만</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작업지시 등록</a:t>
            </a:r>
          </a:p>
        </p:txBody>
      </p:sp>
      <p:sp>
        <p:nvSpPr>
          <p:cNvPr id="28" name="TextBox 27"/>
          <p:cNvSpPr txBox="1"/>
          <p:nvPr/>
        </p:nvSpPr>
        <p:spPr>
          <a:xfrm>
            <a:off x="3200400" y="4913376"/>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회복 판정</a:t>
            </a:r>
          </a:p>
        </p:txBody>
      </p:sp>
      <p:sp>
        <p:nvSpPr>
          <p:cNvPr id="29" name="TextBox 28"/>
          <p:cNvSpPr txBox="1"/>
          <p:nvPr/>
        </p:nvSpPr>
        <p:spPr>
          <a:xfrm>
            <a:off x="9448495" y="4913376"/>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WO-1010-1198</a:t>
            </a:r>
          </a:p>
        </p:txBody>
      </p:sp>
      <p:sp>
        <p:nvSpPr>
          <p:cNvPr id="30" name="Rounded Rectangle 29"/>
          <p:cNvSpPr/>
          <p:nvPr/>
        </p:nvSpPr>
        <p:spPr>
          <a:xfrm>
            <a:off x="548640" y="5666232"/>
            <a:ext cx="11094415" cy="656843"/>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결과 보고: 정상</a:t>
            </a:r>
          </a:p>
        </p:txBody>
      </p:sp>
      <p:sp>
        <p:nvSpPr>
          <p:cNvPr id="32" name="TextBox 31"/>
          <p:cNvSpPr txBox="1"/>
          <p:nvPr/>
        </p:nvSpPr>
        <p:spPr>
          <a:xfrm>
            <a:off x="3200400" y="563422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위의 결과 전부</a:t>
            </a:r>
          </a:p>
        </p:txBody>
      </p:sp>
      <p:sp>
        <p:nvSpPr>
          <p:cNvPr id="33" name="TextBox 32"/>
          <p:cNvSpPr txBox="1"/>
          <p:nvPr/>
        </p:nvSpPr>
        <p:spPr>
          <a:xfrm>
            <a:off x="9448495" y="563422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유온 정상 · 경보 해제</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실행 기록과 모니터링: 단계마다 남는 시작과 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처리 건에는 단계마다 시작과 끝의 시각이 남으며, 이 기록으로 업무의 진행을 지켜보는 일이 모니터링이다.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14</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처리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건</a:t>
            </a:r>
            <a:r>
              <a:rPr sz="1300" b="0">
                <a:solidFill>
                  <a:srgbClr val="E8EEF6"/>
                </a:solidFill>
                <a:latin typeface="Consolas"/>
                <a:ea typeface="맑은 고딕"/>
                <a:cs typeface="맑은 고딕"/>
              </a:rPr>
              <a:t> c3_cooling.32aca7de-</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COMPLETED</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단계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담당</a:t>
            </a:r>
          </a:p>
          <a:p>
            <a:pPr algn="l">
              <a:lnSpc>
                <a:spcPct val="110000"/>
              </a:lnSpc>
              <a:spcAft>
                <a:spcPts val="200"/>
              </a:spcAft>
            </a:pPr>
            <a:r>
              <a:rPr sz="1300" b="0">
                <a:solidFill>
                  <a:srgbClr val="E8EEF6"/>
                </a:solidFill>
                <a:latin typeface="Consolas"/>
                <a:ea typeface="맑은 고딕"/>
                <a:cs typeface="맑은 고딕"/>
              </a:rPr>
              <a:t>T_agent     DONE   </a:t>
            </a:r>
            <a:r>
              <a:rPr sz="1300" b="0">
                <a:solidFill>
                  <a:srgbClr val="E8EEF6"/>
                </a:solidFill>
                <a:latin typeface="맑은 고딕"/>
                <a:ea typeface="맑은 고딕"/>
                <a:cs typeface="맑은 고딕"/>
              </a:rPr>
              <a:t>에이전트</a:t>
            </a:r>
          </a:p>
          <a:p>
            <a:pPr algn="l">
              <a:lnSpc>
                <a:spcPct val="110000"/>
              </a:lnSpc>
              <a:spcAft>
                <a:spcPts val="200"/>
              </a:spcAft>
            </a:pPr>
            <a:r>
              <a:rPr sz="1300" b="0">
                <a:solidFill>
                  <a:srgbClr val="E8EEF6"/>
                </a:solidFill>
                <a:latin typeface="Consolas"/>
                <a:ea typeface="맑은 고딕"/>
                <a:cs typeface="맑은 고딕"/>
              </a:rPr>
              <a:t>T_approve   DONE   </a:t>
            </a:r>
            <a:r>
              <a:rPr sz="1300" b="0">
                <a:solidFill>
                  <a:srgbClr val="E8EEF6"/>
                </a:solidFill>
                <a:latin typeface="맑은 고딕"/>
                <a:ea typeface="맑은 고딕"/>
                <a:cs typeface="맑은 고딕"/>
              </a:rPr>
              <a:t>운전원</a:t>
            </a:r>
          </a:p>
          <a:p>
            <a:pPr algn="l">
              <a:lnSpc>
                <a:spcPct val="110000"/>
              </a:lnSpc>
              <a:spcAft>
                <a:spcPts val="200"/>
              </a:spcAft>
            </a:pPr>
            <a:r>
              <a:rPr sz="1300" b="0">
                <a:solidFill>
                  <a:srgbClr val="E8EEF6"/>
                </a:solidFill>
                <a:latin typeface="Consolas"/>
                <a:ea typeface="맑은 고딕"/>
                <a:cs typeface="맑은 고딕"/>
              </a:rPr>
              <a:t>T_cmd       DONE   </a:t>
            </a:r>
            <a:r>
              <a:rPr sz="1300" b="0">
                <a:solidFill>
                  <a:srgbClr val="E8EEF6"/>
                </a:solidFill>
                <a:latin typeface="맑은 고딕"/>
                <a:ea typeface="맑은 고딕"/>
                <a:cs typeface="맑은 고딕"/>
              </a:rPr>
              <a:t>시스템</a:t>
            </a:r>
          </a:p>
          <a:p>
            <a:pPr algn="l">
              <a:lnSpc>
                <a:spcPct val="110000"/>
              </a:lnSpc>
              <a:spcAft>
                <a:spcPts val="200"/>
              </a:spcAft>
            </a:pPr>
            <a:r>
              <a:rPr sz="1300" b="0">
                <a:solidFill>
                  <a:srgbClr val="E8EEF6"/>
                </a:solidFill>
                <a:latin typeface="Consolas"/>
                <a:ea typeface="맑은 고딕"/>
                <a:cs typeface="맑은 고딕"/>
              </a:rPr>
              <a:t>T_reobs     DONE   </a:t>
            </a:r>
            <a:r>
              <a:rPr sz="1300" b="0">
                <a:solidFill>
                  <a:srgbClr val="E8EEF6"/>
                </a:solidFill>
                <a:latin typeface="맑은 고딕"/>
                <a:ea typeface="맑은 고딕"/>
                <a:cs typeface="맑은 고딕"/>
              </a:rPr>
              <a:t>시스템</a:t>
            </a:r>
          </a:p>
          <a:p>
            <a:pPr algn="l">
              <a:lnSpc>
                <a:spcPct val="110000"/>
              </a:lnSpc>
              <a:spcAft>
                <a:spcPts val="200"/>
              </a:spcAft>
            </a:pPr>
            <a:r>
              <a:rPr sz="1300" b="0">
                <a:solidFill>
                  <a:srgbClr val="E8EEF6"/>
                </a:solidFill>
                <a:latin typeface="Consolas"/>
                <a:ea typeface="맑은 고딕"/>
                <a:cs typeface="맑은 고딕"/>
              </a:rPr>
              <a:t>T_wo        DONE   </a:t>
            </a:r>
            <a:r>
              <a:rPr sz="1300" b="0">
                <a:solidFill>
                  <a:srgbClr val="E8EEF6"/>
                </a:solidFill>
                <a:latin typeface="맑은 고딕"/>
                <a:ea typeface="맑은 고딕"/>
                <a:cs typeface="맑은 고딕"/>
              </a:rPr>
              <a:t>시스템</a:t>
            </a:r>
          </a:p>
          <a:p>
            <a:pPr algn="l">
              <a:lnSpc>
                <a:spcPct val="110000"/>
              </a:lnSpc>
              <a:spcAft>
                <a:spcPts val="200"/>
              </a:spcAft>
            </a:pPr>
            <a:r>
              <a:rPr sz="1300" b="0">
                <a:solidFill>
                  <a:srgbClr val="E8EEF6"/>
                </a:solidFill>
                <a:latin typeface="Consolas"/>
                <a:ea typeface="맑은 고딕"/>
                <a:cs typeface="맑은 고딕"/>
              </a:rPr>
              <a:t>R_ok        DONE   </a:t>
            </a:r>
            <a:r>
              <a:rPr sz="1300" b="0">
                <a:solidFill>
                  <a:srgbClr val="E8EEF6"/>
                </a:solidFill>
                <a:latin typeface="맑은 고딕"/>
                <a:ea typeface="맑은 고딕"/>
                <a:cs typeface="맑은 고딕"/>
              </a:rPr>
              <a:t>시스템</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단계마다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함께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남는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것</a:t>
            </a:r>
          </a:p>
          <a:p>
            <a:pPr algn="l">
              <a:lnSpc>
                <a:spcPct val="110000"/>
              </a:lnSpc>
              <a:spcAft>
                <a:spcPts val="200"/>
              </a:spcAft>
            </a:pPr>
            <a:r>
              <a:rPr sz="1300" b="0">
                <a:solidFill>
                  <a:srgbClr val="E8EEF6"/>
                </a:solidFill>
                <a:latin typeface="Consolas"/>
                <a:ea typeface="맑은 고딕"/>
                <a:cs typeface="맑은 고딕"/>
              </a:rPr>
              <a:t>start       </a:t>
            </a:r>
            <a:r>
              <a:rPr sz="1300" b="0">
                <a:solidFill>
                  <a:srgbClr val="E8EEF6"/>
                </a:solidFill>
                <a:latin typeface="맑은 고딕"/>
                <a:ea typeface="맑은 고딕"/>
                <a:cs typeface="맑은 고딕"/>
              </a:rPr>
              <a:t>단계가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열린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시각</a:t>
            </a:r>
          </a:p>
          <a:p>
            <a:pPr algn="l">
              <a:lnSpc>
                <a:spcPct val="110000"/>
              </a:lnSpc>
              <a:spcAft>
                <a:spcPts val="200"/>
              </a:spcAft>
            </a:pPr>
            <a:r>
              <a:rPr sz="1300" b="0">
                <a:solidFill>
                  <a:srgbClr val="E8EEF6"/>
                </a:solidFill>
                <a:latin typeface="Consolas"/>
                <a:ea typeface="맑은 고딕"/>
                <a:cs typeface="맑은 고딕"/>
              </a:rPr>
              <a:t>end         </a:t>
            </a:r>
            <a:r>
              <a:rPr sz="1300" b="0">
                <a:solidFill>
                  <a:srgbClr val="E8EEF6"/>
                </a:solidFill>
                <a:latin typeface="맑은 고딕"/>
                <a:ea typeface="맑은 고딕"/>
                <a:cs typeface="맑은 고딕"/>
              </a:rPr>
              <a:t>단계가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끝난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시각</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실행 기록</a:t>
            </a:r>
          </a:p>
          <a:p>
            <a:pPr algn="l">
              <a:lnSpc>
                <a:spcPct val="110000"/>
              </a:lnSpc>
              <a:spcAft>
                <a:spcPts val="400"/>
              </a:spcAft>
            </a:pPr>
            <a:r>
              <a:rPr sz="1400" b="0">
                <a:solidFill>
                  <a:srgbClr val="1F2A3A"/>
                </a:solidFill>
                <a:latin typeface="맑은 고딕"/>
                <a:ea typeface="맑은 고딕"/>
                <a:cs typeface="맑은 고딕"/>
              </a:rPr>
              <a:t>단계의 시작과 끝, 담당,</a:t>
            </a:r>
          </a:p>
          <a:p>
            <a:pPr algn="l">
              <a:lnSpc>
                <a:spcPct val="110000"/>
              </a:lnSpc>
              <a:spcAft>
                <a:spcPts val="400"/>
              </a:spcAft>
            </a:pPr>
            <a:r>
              <a:rPr sz="1400" b="0">
                <a:solidFill>
                  <a:srgbClr val="1F2A3A"/>
                </a:solidFill>
                <a:latin typeface="맑은 고딕"/>
                <a:ea typeface="맑은 고딕"/>
                <a:cs typeface="맑은 고딕"/>
              </a:rPr>
              <a:t>결과가 처리 건에 남는다.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모니터링</a:t>
            </a:r>
          </a:p>
          <a:p>
            <a:pPr algn="l">
              <a:lnSpc>
                <a:spcPct val="110000"/>
              </a:lnSpc>
              <a:spcAft>
                <a:spcPts val="400"/>
              </a:spcAft>
            </a:pPr>
            <a:r>
              <a:rPr sz="1400" b="0">
                <a:solidFill>
                  <a:srgbClr val="1F2A3A"/>
                </a:solidFill>
                <a:latin typeface="맑은 고딕"/>
                <a:ea typeface="맑은 고딕"/>
                <a:cs typeface="맑은 고딕"/>
              </a:rPr>
              <a:t>Monitoring · 이 기록으로</a:t>
            </a:r>
          </a:p>
          <a:p>
            <a:pPr algn="l">
              <a:lnSpc>
                <a:spcPct val="110000"/>
              </a:lnSpc>
              <a:spcAft>
                <a:spcPts val="400"/>
              </a:spcAft>
            </a:pPr>
            <a:r>
              <a:rPr sz="1400" b="0">
                <a:solidFill>
                  <a:srgbClr val="1F2A3A"/>
                </a:solidFill>
                <a:latin typeface="맑은 고딕"/>
                <a:ea typeface="맑은 고딕"/>
                <a:cs typeface="맑은 고딕"/>
              </a:rPr>
              <a:t>진행과 대기를 지켜본다.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걸린 시간</a:t>
            </a:r>
          </a:p>
          <a:p>
            <a:pPr algn="l">
              <a:lnSpc>
                <a:spcPct val="110000"/>
              </a:lnSpc>
              <a:spcAft>
                <a:spcPts val="400"/>
              </a:spcAft>
            </a:pPr>
            <a:r>
              <a:rPr sz="1400" b="0">
                <a:solidFill>
                  <a:srgbClr val="1F2A3A"/>
                </a:solidFill>
                <a:latin typeface="맑은 고딕"/>
                <a:ea typeface="맑은 고딕"/>
                <a:cs typeface="맑은 고딕"/>
              </a:rPr>
              <a:t>끝 시각에서 시작 시각을</a:t>
            </a:r>
          </a:p>
          <a:p>
            <a:pPr algn="l">
              <a:lnSpc>
                <a:spcPct val="110000"/>
              </a:lnSpc>
              <a:spcAft>
                <a:spcPts val="400"/>
              </a:spcAft>
            </a:pPr>
            <a:r>
              <a:rPr sz="1400" b="0">
                <a:solidFill>
                  <a:srgbClr val="1F2A3A"/>
                </a:solidFill>
                <a:latin typeface="맑은 고딕"/>
                <a:ea typeface="맑은 고딕"/>
                <a:cs typeface="맑은 고딕"/>
              </a:rPr>
              <a:t>뺀 값이다.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감사 기록(Audit Log): 누가 무엇을 결정했는가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처리 건 안의 진행은 처리 기록에, 처리 건의 시작과 배포와 거부된 승인은 감사 기록에 남아 결정을 뒤에 확인할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15</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기록</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남는 때</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구분</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APPROVAL_ACCEPTED</a:t>
            </a:r>
          </a:p>
        </p:txBody>
      </p:sp>
      <p:sp>
        <p:nvSpPr>
          <p:cNvPr id="12" name="TextBox 11"/>
          <p:cNvSpPr txBox="1"/>
          <p:nvPr/>
        </p:nvSpPr>
        <p:spPr>
          <a:xfrm>
            <a:off x="3200400" y="202996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승인이 접수될 때. 승인한 역할과 판단 id가 담긴다</a:t>
            </a:r>
          </a:p>
        </p:txBody>
      </p:sp>
      <p:sp>
        <p:nvSpPr>
          <p:cNvPr id="13" name="TextBox 12"/>
          <p:cNvSpPr txBox="1"/>
          <p:nvPr/>
        </p:nvSpPr>
        <p:spPr>
          <a:xfrm>
            <a:off x="9448495" y="202996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처리 기록</a:t>
            </a:r>
          </a:p>
        </p:txBody>
      </p:sp>
      <p:sp>
        <p:nvSpPr>
          <p:cNvPr id="14" name="Rounded Rectangle 13"/>
          <p:cNvSpPr/>
          <p:nvPr/>
        </p:nvSpPr>
        <p:spPr>
          <a:xfrm>
            <a:off x="548640" y="2782824"/>
            <a:ext cx="11094415" cy="656843"/>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APPROVAL_DELIVERY</a:t>
            </a:r>
          </a:p>
        </p:txBody>
      </p:sp>
      <p:sp>
        <p:nvSpPr>
          <p:cNvPr id="16" name="TextBox 15"/>
          <p:cNvSpPr txBox="1"/>
          <p:nvPr/>
        </p:nvSpPr>
        <p:spPr>
          <a:xfrm>
            <a:off x="3200400" y="2750820"/>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승인이 다음 단계로 전달될 때</a:t>
            </a:r>
          </a:p>
        </p:txBody>
      </p:sp>
      <p:sp>
        <p:nvSpPr>
          <p:cNvPr id="17" name="TextBox 16"/>
          <p:cNvSpPr txBox="1"/>
          <p:nvPr/>
        </p:nvSpPr>
        <p:spPr>
          <a:xfrm>
            <a:off x="9448495" y="2750820"/>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처리 기록</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RESULT_REPORT</a:t>
            </a:r>
          </a:p>
        </p:txBody>
      </p:sp>
      <p:sp>
        <p:nvSpPr>
          <p:cNvPr id="20" name="TextBox 19"/>
          <p:cNvSpPr txBox="1"/>
          <p:nvPr/>
        </p:nvSpPr>
        <p:spPr>
          <a:xfrm>
            <a:off x="3200400" y="3471672"/>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결과 보고가 나갈 때. 보고의 본문이 담긴다</a:t>
            </a:r>
          </a:p>
        </p:txBody>
      </p:sp>
      <p:sp>
        <p:nvSpPr>
          <p:cNvPr id="21" name="TextBox 20"/>
          <p:cNvSpPr txBox="1"/>
          <p:nvPr/>
        </p:nvSpPr>
        <p:spPr>
          <a:xfrm>
            <a:off x="9448495" y="3471672"/>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처리 기록</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INSTANCE_STARTED</a:t>
            </a:r>
          </a:p>
        </p:txBody>
      </p:sp>
      <p:sp>
        <p:nvSpPr>
          <p:cNvPr id="24" name="TextBox 23"/>
          <p:cNvSpPr txBox="1"/>
          <p:nvPr/>
        </p:nvSpPr>
        <p:spPr>
          <a:xfrm>
            <a:off x="3200400" y="4192524"/>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처리 건이 열릴 때</a:t>
            </a:r>
          </a:p>
        </p:txBody>
      </p:sp>
      <p:sp>
        <p:nvSpPr>
          <p:cNvPr id="25" name="TextBox 24"/>
          <p:cNvSpPr txBox="1"/>
          <p:nvPr/>
        </p:nvSpPr>
        <p:spPr>
          <a:xfrm>
            <a:off x="9448495" y="4192524"/>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감사 기록</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DEFINITION_DEPLOYED</a:t>
            </a:r>
          </a:p>
        </p:txBody>
      </p:sp>
      <p:sp>
        <p:nvSpPr>
          <p:cNvPr id="28" name="TextBox 27"/>
          <p:cNvSpPr txBox="1"/>
          <p:nvPr/>
        </p:nvSpPr>
        <p:spPr>
          <a:xfrm>
            <a:off x="3200400" y="4913376"/>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프로세스 정의의 판본이 배포될 때</a:t>
            </a:r>
          </a:p>
        </p:txBody>
      </p:sp>
      <p:sp>
        <p:nvSpPr>
          <p:cNvPr id="29" name="TextBox 28"/>
          <p:cNvSpPr txBox="1"/>
          <p:nvPr/>
        </p:nvSpPr>
        <p:spPr>
          <a:xfrm>
            <a:off x="9448495" y="4913376"/>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감사 기록</a:t>
            </a:r>
          </a:p>
        </p:txBody>
      </p:sp>
      <p:sp>
        <p:nvSpPr>
          <p:cNvPr id="30" name="Rounded Rectangle 29"/>
          <p:cNvSpPr/>
          <p:nvPr/>
        </p:nvSpPr>
        <p:spPr>
          <a:xfrm>
            <a:off x="548640" y="5666232"/>
            <a:ext cx="11094415" cy="656843"/>
          </a:xfrm>
          <a:prstGeom prst="roundRect">
            <a:avLst>
              <a:gd name="adj" fmla="val 8000"/>
            </a:avLst>
          </a:prstGeom>
          <a:solidFill>
            <a:srgbClr val="E7F3FD"/>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DECISION_DENIED</a:t>
            </a:r>
          </a:p>
        </p:txBody>
      </p:sp>
      <p:sp>
        <p:nvSpPr>
          <p:cNvPr id="32" name="TextBox 31"/>
          <p:cNvSpPr txBox="1"/>
          <p:nvPr/>
        </p:nvSpPr>
        <p:spPr>
          <a:xfrm>
            <a:off x="3200400" y="563422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 역할이 아닌 쪽이 승인을 시도해 거부될 때</a:t>
            </a:r>
          </a:p>
        </p:txBody>
      </p:sp>
      <p:sp>
        <p:nvSpPr>
          <p:cNvPr id="33" name="TextBox 32"/>
          <p:cNvSpPr txBox="1"/>
          <p:nvPr/>
        </p:nvSpPr>
        <p:spPr>
          <a:xfrm>
            <a:off x="9448495" y="5634228"/>
            <a:ext cx="2103120" cy="720851"/>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감사 기록</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처리 건 한 건을 잇는 식별자</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성능 저하 경보 한 건은 경보에서 끝까지의 자리를 차례로 지났고, 자리마다 식별자가 붙은 기록이 남았다.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16</a:t>
            </a:r>
          </a:p>
        </p:txBody>
      </p:sp>
      <p:pic>
        <p:nvPicPr>
          <p:cNvPr id="6" name="삽화:사건선_전체.svg" descr="illust_1219940487120723720_1791770778.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2495714" y="2194925"/>
            <a:ext cx="7200266"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긴급 대응 프로세스의 처리 건 한 건</a:t>
            </a:r>
          </a:p>
          <a:p>
            <a:pPr algn="ctr">
              <a:lnSpc>
                <a:spcPct val="110000"/>
              </a:lnSpc>
              <a:spcAft>
                <a:spcPts val="100"/>
              </a:spcAft>
            </a:pPr>
            <a:r>
              <a:rPr sz="1100" b="0">
                <a:solidFill>
                  <a:srgbClr val="556175"/>
                </a:solidFill>
                <a:latin typeface="맑은 고딕"/>
                <a:ea typeface="맑은 고딕"/>
                <a:cs typeface="맑은 고딕"/>
              </a:rPr>
              <a:t>자리마다 남은 식별자로 끝난 업무를 거슬러 읽는다</a:t>
            </a:r>
          </a:p>
        </p:txBody>
      </p:sp>
      <p:sp>
        <p:nvSpPr>
          <p:cNvPr id="8" name="TextBox 7"/>
          <p:cNvSpPr txBox="1"/>
          <p:nvPr/>
        </p:nvSpPr>
        <p:spPr>
          <a:xfrm>
            <a:off x="646554" y="4275002"/>
            <a:ext cx="1352777"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경보</a:t>
            </a:r>
          </a:p>
          <a:p>
            <a:pPr algn="ctr">
              <a:lnSpc>
                <a:spcPct val="110000"/>
              </a:lnSpc>
              <a:spcAft>
                <a:spcPts val="100"/>
              </a:spcAft>
            </a:pPr>
            <a:r>
              <a:rPr sz="1100" b="0">
                <a:solidFill>
                  <a:srgbClr val="556175"/>
                </a:solidFill>
                <a:latin typeface="맑은 고딕"/>
                <a:ea typeface="맑은 고딕"/>
                <a:cs typeface="맑은 고딕"/>
              </a:rPr>
              <a:t>ALT-hyd01-0026-767a</a:t>
            </a:r>
          </a:p>
        </p:txBody>
      </p:sp>
      <p:sp>
        <p:nvSpPr>
          <p:cNvPr id="9" name="TextBox 8"/>
          <p:cNvSpPr txBox="1"/>
          <p:nvPr/>
        </p:nvSpPr>
        <p:spPr>
          <a:xfrm>
            <a:off x="2010241" y="4275002"/>
            <a:ext cx="1352777"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진단 · 제안</a:t>
            </a:r>
          </a:p>
          <a:p>
            <a:pPr algn="ctr">
              <a:lnSpc>
                <a:spcPct val="110000"/>
              </a:lnSpc>
              <a:spcAft>
                <a:spcPts val="100"/>
              </a:spcAft>
            </a:pPr>
            <a:r>
              <a:rPr sz="1100" b="0">
                <a:solidFill>
                  <a:srgbClr val="556175"/>
                </a:solidFill>
                <a:latin typeface="맑은 고딕"/>
                <a:ea typeface="맑은 고딕"/>
                <a:cs typeface="맑은 고딕"/>
              </a:rPr>
              <a:t>DEC-1010-058-88a6</a:t>
            </a:r>
          </a:p>
        </p:txBody>
      </p:sp>
      <p:sp>
        <p:nvSpPr>
          <p:cNvPr id="10" name="TextBox 9"/>
          <p:cNvSpPr txBox="1"/>
          <p:nvPr/>
        </p:nvSpPr>
        <p:spPr>
          <a:xfrm>
            <a:off x="3395747" y="4275002"/>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a:p>
            <a:pPr algn="ctr">
              <a:lnSpc>
                <a:spcPct val="110000"/>
              </a:lnSpc>
              <a:spcAft>
                <a:spcPts val="100"/>
              </a:spcAft>
            </a:pPr>
            <a:r>
              <a:rPr sz="1100" b="0">
                <a:solidFill>
                  <a:srgbClr val="556175"/>
                </a:solidFill>
                <a:latin typeface="맑은 고딕"/>
                <a:ea typeface="맑은 고딕"/>
                <a:cs typeface="맑은 고딕"/>
              </a:rPr>
              <a:t>운전원</a:t>
            </a:r>
          </a:p>
        </p:txBody>
      </p:sp>
      <p:sp>
        <p:nvSpPr>
          <p:cNvPr id="11" name="TextBox 10"/>
          <p:cNvSpPr txBox="1"/>
          <p:nvPr/>
        </p:nvSpPr>
        <p:spPr>
          <a:xfrm>
            <a:off x="4737615" y="4275002"/>
            <a:ext cx="1352777"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명령</a:t>
            </a:r>
          </a:p>
          <a:p>
            <a:pPr algn="ctr">
              <a:lnSpc>
                <a:spcPct val="110000"/>
              </a:lnSpc>
              <a:spcAft>
                <a:spcPts val="100"/>
              </a:spcAft>
            </a:pPr>
            <a:r>
              <a:rPr sz="1100" b="0">
                <a:solidFill>
                  <a:srgbClr val="556175"/>
                </a:solidFill>
                <a:latin typeface="맑은 고딕"/>
                <a:ea typeface="맑은 고딕"/>
                <a:cs typeface="맑은 고딕"/>
              </a:rPr>
              <a:t>CMD-1010-0001-01d1</a:t>
            </a:r>
          </a:p>
        </p:txBody>
      </p:sp>
      <p:sp>
        <p:nvSpPr>
          <p:cNvPr id="12" name="TextBox 11"/>
          <p:cNvSpPr txBox="1"/>
          <p:nvPr/>
        </p:nvSpPr>
        <p:spPr>
          <a:xfrm>
            <a:off x="6123121" y="4275002"/>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재관측</a:t>
            </a:r>
          </a:p>
          <a:p>
            <a:pPr algn="ctr">
              <a:lnSpc>
                <a:spcPct val="110000"/>
              </a:lnSpc>
              <a:spcAft>
                <a:spcPts val="100"/>
              </a:spcAft>
            </a:pPr>
            <a:r>
              <a:rPr sz="1100" b="0">
                <a:solidFill>
                  <a:srgbClr val="556175"/>
                </a:solidFill>
                <a:latin typeface="맑은 고딕"/>
                <a:ea typeface="맑은 고딕"/>
                <a:cs typeface="맑은 고딕"/>
              </a:rPr>
              <a:t>유온 51.3 ℃</a:t>
            </a:r>
          </a:p>
        </p:txBody>
      </p:sp>
      <p:sp>
        <p:nvSpPr>
          <p:cNvPr id="13" name="TextBox 12"/>
          <p:cNvSpPr txBox="1"/>
          <p:nvPr/>
        </p:nvSpPr>
        <p:spPr>
          <a:xfrm>
            <a:off x="7486808" y="4275002"/>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작업지시 등록</a:t>
            </a:r>
          </a:p>
          <a:p>
            <a:pPr algn="ctr">
              <a:lnSpc>
                <a:spcPct val="110000"/>
              </a:lnSpc>
              <a:spcAft>
                <a:spcPts val="100"/>
              </a:spcAft>
            </a:pPr>
            <a:r>
              <a:rPr sz="1100" b="0">
                <a:solidFill>
                  <a:srgbClr val="556175"/>
                </a:solidFill>
                <a:latin typeface="맑은 고딕"/>
                <a:ea typeface="맑은 고딕"/>
                <a:cs typeface="맑은 고딕"/>
              </a:rPr>
              <a:t>WO-1010-1198</a:t>
            </a:r>
          </a:p>
        </p:txBody>
      </p:sp>
      <p:sp>
        <p:nvSpPr>
          <p:cNvPr id="14" name="TextBox 13"/>
          <p:cNvSpPr txBox="1"/>
          <p:nvPr/>
        </p:nvSpPr>
        <p:spPr>
          <a:xfrm>
            <a:off x="8828676" y="4275002"/>
            <a:ext cx="1352777"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a:t>
            </a:r>
          </a:p>
          <a:p>
            <a:pPr algn="ctr">
              <a:lnSpc>
                <a:spcPct val="110000"/>
              </a:lnSpc>
              <a:spcAft>
                <a:spcPts val="100"/>
              </a:spcAft>
            </a:pPr>
            <a:r>
              <a:rPr sz="1100" b="0">
                <a:solidFill>
                  <a:srgbClr val="556175"/>
                </a:solidFill>
                <a:latin typeface="맑은 고딕"/>
                <a:ea typeface="맑은 고딕"/>
                <a:cs typeface="맑은 고딕"/>
              </a:rPr>
              <a:t>유온 정상 · 경보 해제</a:t>
            </a:r>
          </a:p>
        </p:txBody>
      </p:sp>
      <p:sp>
        <p:nvSpPr>
          <p:cNvPr id="15" name="TextBox 14"/>
          <p:cNvSpPr txBox="1"/>
          <p:nvPr/>
        </p:nvSpPr>
        <p:spPr>
          <a:xfrm>
            <a:off x="10323276" y="4275002"/>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끝</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영역이 주고받는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지식은 에이전트에게 재료를, 에이전트는 프로세스에게 추천안을 넘기고, 프로세스는 승인과 실행을 기록으로 남긴다.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17</a:t>
            </a:r>
          </a:p>
        </p:txBody>
      </p:sp>
      <p:pic>
        <p:nvPicPr>
          <p:cNvPr id="6" name="삽화:세영역.svg" descr="illust_3280420384322995887_1791770778.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13837" y="2053102"/>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지식</a:t>
            </a:r>
          </a:p>
          <a:p>
            <a:pPr algn="ctr">
              <a:lnSpc>
                <a:spcPct val="110000"/>
              </a:lnSpc>
              <a:spcAft>
                <a:spcPts val="100"/>
              </a:spcAft>
            </a:pPr>
            <a:r>
              <a:rPr sz="1300" b="0">
                <a:solidFill>
                  <a:srgbClr val="556175"/>
                </a:solidFill>
                <a:latin typeface="맑은 고딕"/>
                <a:ea typeface="맑은 고딕"/>
                <a:cs typeface="맑은 고딕"/>
              </a:rPr>
              <a:t>1~4회차</a:t>
            </a:r>
          </a:p>
        </p:txBody>
      </p:sp>
      <p:sp>
        <p:nvSpPr>
          <p:cNvPr id="8" name="TextBox 7"/>
          <p:cNvSpPr txBox="1"/>
          <p:nvPr/>
        </p:nvSpPr>
        <p:spPr>
          <a:xfrm>
            <a:off x="5004898" y="2053102"/>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에이전트</a:t>
            </a:r>
          </a:p>
          <a:p>
            <a:pPr algn="ctr">
              <a:lnSpc>
                <a:spcPct val="110000"/>
              </a:lnSpc>
              <a:spcAft>
                <a:spcPts val="100"/>
              </a:spcAft>
            </a:pPr>
            <a:r>
              <a:rPr sz="1300" b="0">
                <a:solidFill>
                  <a:srgbClr val="556175"/>
                </a:solidFill>
                <a:latin typeface="맑은 고딕"/>
                <a:ea typeface="맑은 고딕"/>
                <a:cs typeface="맑은 고딕"/>
              </a:rPr>
              <a:t>5~7회차</a:t>
            </a:r>
          </a:p>
        </p:txBody>
      </p:sp>
      <p:sp>
        <p:nvSpPr>
          <p:cNvPr id="9" name="TextBox 8"/>
          <p:cNvSpPr txBox="1"/>
          <p:nvPr/>
        </p:nvSpPr>
        <p:spPr>
          <a:xfrm>
            <a:off x="9095958" y="2053102"/>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프로세스</a:t>
            </a:r>
          </a:p>
          <a:p>
            <a:pPr algn="ctr">
              <a:lnSpc>
                <a:spcPct val="110000"/>
              </a:lnSpc>
              <a:spcAft>
                <a:spcPts val="100"/>
              </a:spcAft>
            </a:pPr>
            <a:r>
              <a:rPr sz="1300" b="0">
                <a:solidFill>
                  <a:srgbClr val="556175"/>
                </a:solidFill>
                <a:latin typeface="맑은 고딕"/>
                <a:ea typeface="맑은 고딕"/>
                <a:cs typeface="맑은 고딕"/>
              </a:rPr>
              <a:t>8~10회차</a:t>
            </a:r>
          </a:p>
        </p:txBody>
      </p:sp>
      <p:sp>
        <p:nvSpPr>
          <p:cNvPr id="10" name="TextBox 9"/>
          <p:cNvSpPr txBox="1"/>
          <p:nvPr/>
        </p:nvSpPr>
        <p:spPr>
          <a:xfrm>
            <a:off x="859290" y="4275002"/>
            <a:ext cx="2290993"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스키마, SOP, 규칙, 출처</a:t>
            </a:r>
          </a:p>
        </p:txBody>
      </p:sp>
      <p:sp>
        <p:nvSpPr>
          <p:cNvPr id="11" name="TextBox 10"/>
          <p:cNvSpPr txBox="1"/>
          <p:nvPr/>
        </p:nvSpPr>
        <p:spPr>
          <a:xfrm>
            <a:off x="4950350" y="4275002"/>
            <a:ext cx="2290993"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스킬, MCP, 명세, 시나리오</a:t>
            </a:r>
          </a:p>
        </p:txBody>
      </p:sp>
      <p:sp>
        <p:nvSpPr>
          <p:cNvPr id="12" name="TextBox 11"/>
          <p:cNvSpPr txBox="1"/>
          <p:nvPr/>
        </p:nvSpPr>
        <p:spPr>
          <a:xfrm>
            <a:off x="9041411" y="4275002"/>
            <a:ext cx="2290993"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정의, 인스턴스, 승인, 실행</a:t>
            </a:r>
          </a:p>
        </p:txBody>
      </p:sp>
      <p:sp>
        <p:nvSpPr>
          <p:cNvPr id="13" name="TextBox 12"/>
          <p:cNvSpPr txBox="1"/>
          <p:nvPr/>
        </p:nvSpPr>
        <p:spPr>
          <a:xfrm>
            <a:off x="3232105" y="2904042"/>
            <a:ext cx="163642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재료</a:t>
            </a:r>
          </a:p>
          <a:p>
            <a:pPr algn="ctr">
              <a:lnSpc>
                <a:spcPct val="110000"/>
              </a:lnSpc>
              <a:spcAft>
                <a:spcPts val="100"/>
              </a:spcAft>
            </a:pPr>
            <a:r>
              <a:rPr sz="1300" b="0">
                <a:solidFill>
                  <a:srgbClr val="556175"/>
                </a:solidFill>
                <a:latin typeface="맑은 고딕"/>
                <a:ea typeface="맑은 고딕"/>
                <a:cs typeface="맑은 고딕"/>
              </a:rPr>
              <a:t>관계 · 기준</a:t>
            </a:r>
          </a:p>
        </p:txBody>
      </p:sp>
      <p:sp>
        <p:nvSpPr>
          <p:cNvPr id="14" name="TextBox 13"/>
          <p:cNvSpPr txBox="1"/>
          <p:nvPr/>
        </p:nvSpPr>
        <p:spPr>
          <a:xfrm>
            <a:off x="7323165" y="2904042"/>
            <a:ext cx="163642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추천안</a:t>
            </a:r>
          </a:p>
          <a:p>
            <a:pPr algn="ctr">
              <a:lnSpc>
                <a:spcPct val="110000"/>
              </a:lnSpc>
              <a:spcAft>
                <a:spcPts val="100"/>
              </a:spcAft>
            </a:pPr>
            <a:r>
              <a:rPr sz="1300" b="0">
                <a:solidFill>
                  <a:srgbClr val="556175"/>
                </a:solidFill>
                <a:latin typeface="맑은 고딕"/>
                <a:ea typeface="맑은 고딕"/>
                <a:cs typeface="맑은 고딕"/>
              </a:rPr>
              <a:t>추천과 대안</a:t>
            </a:r>
          </a:p>
        </p:txBody>
      </p:sp>
      <p:sp>
        <p:nvSpPr>
          <p:cNvPr id="15" name="TextBox 14"/>
          <p:cNvSpPr txBox="1"/>
          <p:nvPr/>
        </p:nvSpPr>
        <p:spPr>
          <a:xfrm>
            <a:off x="6750417" y="5598688"/>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처리 기록과 감사 기록</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결과가 기대와 다를 때 먼저 살펴볼 영역</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드러난 증상이 어느 영역의 몫인지를 가리면 지식, 에이전트, 프로세스 가운데 고칠 곳이 하나로 좁혀진다.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18</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드러난 증상</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먼저 살펴볼 곳</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영역</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원인 후보나 기준값이 틀리다</a:t>
            </a:r>
          </a:p>
        </p:txBody>
      </p:sp>
      <p:sp>
        <p:nvSpPr>
          <p:cNvPr id="12" name="TextBox 11"/>
          <p:cNvSpPr txBox="1"/>
          <p:nvPr/>
        </p:nvSpPr>
        <p:spPr>
          <a:xfrm>
            <a:off x="3200400" y="202996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인스턴스 데이터와 근거 문서</a:t>
            </a:r>
          </a:p>
        </p:txBody>
      </p:sp>
      <p:sp>
        <p:nvSpPr>
          <p:cNvPr id="13" name="TextBox 12"/>
          <p:cNvSpPr txBox="1"/>
          <p:nvPr/>
        </p:nvSpPr>
        <p:spPr>
          <a:xfrm>
            <a:off x="9448495" y="202996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지식</a:t>
            </a:r>
          </a:p>
        </p:txBody>
      </p:sp>
      <p:sp>
        <p:nvSpPr>
          <p:cNvPr id="14" name="Rounded Rectangle 13"/>
          <p:cNvSpPr/>
          <p:nvPr/>
        </p:nvSpPr>
        <p:spPr>
          <a:xfrm>
            <a:off x="548640" y="2782824"/>
            <a:ext cx="11094415" cy="656843"/>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승인자가 맞지 않는다</a:t>
            </a:r>
          </a:p>
        </p:txBody>
      </p:sp>
      <p:sp>
        <p:nvSpPr>
          <p:cNvPr id="16" name="TextBox 15"/>
          <p:cNvSpPr txBox="1"/>
          <p:nvPr/>
        </p:nvSpPr>
        <p:spPr>
          <a:xfrm>
            <a:off x="3200400" y="2750820"/>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조치에 정해진 승인 역할</a:t>
            </a:r>
          </a:p>
        </p:txBody>
      </p:sp>
      <p:sp>
        <p:nvSpPr>
          <p:cNvPr id="17" name="TextBox 16"/>
          <p:cNvSpPr txBox="1"/>
          <p:nvPr/>
        </p:nvSpPr>
        <p:spPr>
          <a:xfrm>
            <a:off x="9448495" y="2750820"/>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지식</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읽어야 할 값을 읽지 않았다</a:t>
            </a:r>
          </a:p>
        </p:txBody>
      </p:sp>
      <p:sp>
        <p:nvSpPr>
          <p:cNvPr id="20" name="TextBox 19"/>
          <p:cNvSpPr txBox="1"/>
          <p:nvPr/>
        </p:nvSpPr>
        <p:spPr>
          <a:xfrm>
            <a:off x="3200400" y="3471672"/>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스킬의 절차와 도구의 연결</a:t>
            </a:r>
          </a:p>
        </p:txBody>
      </p:sp>
      <p:sp>
        <p:nvSpPr>
          <p:cNvPr id="21" name="TextBox 20"/>
          <p:cNvSpPr txBox="1"/>
          <p:nvPr/>
        </p:nvSpPr>
        <p:spPr>
          <a:xfrm>
            <a:off x="9448495" y="3471672"/>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에이전트</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결과 항목의 이름이 다르다</a:t>
            </a:r>
          </a:p>
        </p:txBody>
      </p:sp>
      <p:sp>
        <p:nvSpPr>
          <p:cNvPr id="24" name="TextBox 23"/>
          <p:cNvSpPr txBox="1"/>
          <p:nvPr/>
        </p:nvSpPr>
        <p:spPr>
          <a:xfrm>
            <a:off x="3200400" y="4192524"/>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명세의 출력 계약</a:t>
            </a:r>
          </a:p>
        </p:txBody>
      </p:sp>
      <p:sp>
        <p:nvSpPr>
          <p:cNvPr id="25" name="TextBox 24"/>
          <p:cNvSpPr txBox="1"/>
          <p:nvPr/>
        </p:nvSpPr>
        <p:spPr>
          <a:xfrm>
            <a:off x="9448495" y="4192524"/>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에이전트</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 없이 다음 단계가 열렸다</a:t>
            </a:r>
          </a:p>
        </p:txBody>
      </p:sp>
      <p:sp>
        <p:nvSpPr>
          <p:cNvPr id="28" name="TextBox 27"/>
          <p:cNvSpPr txBox="1"/>
          <p:nvPr/>
        </p:nvSpPr>
        <p:spPr>
          <a:xfrm>
            <a:off x="3200400" y="4913376"/>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프로세스 정의의 갈림 조건</a:t>
            </a:r>
          </a:p>
        </p:txBody>
      </p:sp>
      <p:sp>
        <p:nvSpPr>
          <p:cNvPr id="29" name="TextBox 28"/>
          <p:cNvSpPr txBox="1"/>
          <p:nvPr/>
        </p:nvSpPr>
        <p:spPr>
          <a:xfrm>
            <a:off x="9448495" y="4913376"/>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프로세스</a:t>
            </a:r>
          </a:p>
        </p:txBody>
      </p:sp>
      <p:sp>
        <p:nvSpPr>
          <p:cNvPr id="30" name="Rounded Rectangle 29"/>
          <p:cNvSpPr/>
          <p:nvPr/>
        </p:nvSpPr>
        <p:spPr>
          <a:xfrm>
            <a:off x="548640" y="5666232"/>
            <a:ext cx="11094415" cy="656843"/>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끝났는데 결과를 알 수 없다</a:t>
            </a:r>
          </a:p>
        </p:txBody>
      </p:sp>
      <p:sp>
        <p:nvSpPr>
          <p:cNvPr id="32" name="TextBox 31"/>
          <p:cNvSpPr txBox="1"/>
          <p:nvPr/>
        </p:nvSpPr>
        <p:spPr>
          <a:xfrm>
            <a:off x="3200400" y="563422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끝 이벤트와 결과 보고</a:t>
            </a:r>
          </a:p>
        </p:txBody>
      </p:sp>
      <p:sp>
        <p:nvSpPr>
          <p:cNvPr id="33" name="TextBox 32"/>
          <p:cNvSpPr txBox="1"/>
          <p:nvPr/>
        </p:nvSpPr>
        <p:spPr>
          <a:xfrm>
            <a:off x="9448495" y="563422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프로세스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설비 이벤트로 프로세스 실행하기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쿨러 열화로 처리 건을 열어 단계별 담당, 대기, 결과를 추적한다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실행하는 것과 확인하는 기록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배포한 프로세스를 쿨러 열화로 실행하면 처리 건 한 건이 열리고, 그 처리 기록에서 대기와 완료를 구분해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20</a:t>
            </a:r>
          </a:p>
        </p:txBody>
      </p:sp>
      <p:sp>
        <p:nvSpPr>
          <p:cNvPr id="6" name="Rounded Rectangle 5"/>
          <p:cNvSpPr/>
          <p:nvPr/>
        </p:nvSpPr>
        <p:spPr>
          <a:xfrm>
            <a:off x="548640"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24340"/>
            <a:ext cx="731520" cy="731520"/>
          </a:xfrm>
          <a:prstGeom prst="ellipse">
            <a:avLst/>
          </a:prstGeom>
          <a:solidFill>
            <a:srgbClr val="E7F3FD"/>
          </a:solidFill>
          <a:ln>
            <a:noFill/>
          </a:ln>
        </p:spPr>
        <p:txBody>
          <a:bodyPr rtlCol="0" anchor="ctr"/>
          <a:lstStyle/>
          <a:p>
            <a:pPr algn="ctr"/>
          </a:p>
        </p:txBody>
      </p:sp>
      <p:pic>
        <p:nvPicPr>
          <p:cNvPr id="8" name="아이콘:player-play" descr="player-play_13294B_1.6.png"/>
          <p:cNvPicPr>
            <a:picLocks noChangeAspect="1"/>
          </p:cNvPicPr>
          <p:nvPr/>
        </p:nvPicPr>
        <p:blipFill>
          <a:blip r:embed="rId3"/>
          <a:stretch>
            <a:fillRect/>
          </a:stretch>
        </p:blipFill>
        <p:spPr>
          <a:xfrm>
            <a:off x="930859" y="2877959"/>
            <a:ext cx="424281" cy="424281"/>
          </a:xfrm>
          <a:prstGeom prst="rect">
            <a:avLst/>
          </a:prstGeom>
        </p:spPr>
      </p:pic>
      <p:sp>
        <p:nvSpPr>
          <p:cNvPr id="9" name="TextBox 8"/>
          <p:cNvSpPr txBox="1"/>
          <p:nvPr/>
        </p:nvSpPr>
        <p:spPr>
          <a:xfrm>
            <a:off x="713232"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처리 건의 생성</a:t>
            </a:r>
          </a:p>
          <a:p>
            <a:pPr algn="l">
              <a:lnSpc>
                <a:spcPct val="110000"/>
              </a:lnSpc>
              <a:spcAft>
                <a:spcPts val="400"/>
              </a:spcAft>
            </a:pPr>
            <a:r>
              <a:rPr sz="1350" b="0">
                <a:solidFill>
                  <a:srgbClr val="1F2A3A"/>
                </a:solidFill>
                <a:latin typeface="맑은 고딕"/>
                <a:ea typeface="맑은 고딕"/>
                <a:cs typeface="맑은 고딕"/>
              </a:rPr>
              <a:t>쿨러 열화가 경보를 내고 경보가 처리 건을 연다</a:t>
            </a:r>
          </a:p>
        </p:txBody>
      </p:sp>
      <p:sp>
        <p:nvSpPr>
          <p:cNvPr id="10" name="Rounded Rectangle 9"/>
          <p:cNvSpPr/>
          <p:nvPr/>
        </p:nvSpPr>
        <p:spPr>
          <a:xfrm>
            <a:off x="777240" y="5029771"/>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시작</a:t>
            </a:r>
          </a:p>
        </p:txBody>
      </p:sp>
      <p:sp>
        <p:nvSpPr>
          <p:cNvPr id="12" name="Rounded Rectangle 11"/>
          <p:cNvSpPr/>
          <p:nvPr/>
        </p:nvSpPr>
        <p:spPr>
          <a:xfrm>
            <a:off x="3390823"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724340"/>
            <a:ext cx="731520" cy="731520"/>
          </a:xfrm>
          <a:prstGeom prst="ellipse">
            <a:avLst/>
          </a:prstGeom>
          <a:solidFill>
            <a:srgbClr val="E7F3FD"/>
          </a:solidFill>
          <a:ln>
            <a:noFill/>
          </a:ln>
        </p:spPr>
        <p:txBody>
          <a:bodyPr rtlCol="0" anchor="ctr"/>
          <a:lstStyle/>
          <a:p>
            <a:pPr algn="ctr"/>
          </a:p>
        </p:txBody>
      </p:sp>
      <p:pic>
        <p:nvPicPr>
          <p:cNvPr id="14" name="아이콘:hourglass" descr="hourglass_13294B_1.6.png"/>
          <p:cNvPicPr>
            <a:picLocks noChangeAspect="1"/>
          </p:cNvPicPr>
          <p:nvPr/>
        </p:nvPicPr>
        <p:blipFill>
          <a:blip r:embed="rId4"/>
          <a:stretch>
            <a:fillRect/>
          </a:stretch>
        </p:blipFill>
        <p:spPr>
          <a:xfrm>
            <a:off x="3773043" y="2877959"/>
            <a:ext cx="424281" cy="424281"/>
          </a:xfrm>
          <a:prstGeom prst="rect">
            <a:avLst/>
          </a:prstGeom>
        </p:spPr>
      </p:pic>
      <p:sp>
        <p:nvSpPr>
          <p:cNvPr id="15" name="TextBox 14"/>
          <p:cNvSpPr txBox="1"/>
          <p:nvPr/>
        </p:nvSpPr>
        <p:spPr>
          <a:xfrm>
            <a:off x="3555415"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 대기의 확인</a:t>
            </a:r>
          </a:p>
          <a:p>
            <a:pPr algn="l">
              <a:lnSpc>
                <a:spcPct val="110000"/>
              </a:lnSpc>
              <a:spcAft>
                <a:spcPts val="400"/>
              </a:spcAft>
            </a:pPr>
            <a:r>
              <a:rPr sz="1350" b="0">
                <a:solidFill>
                  <a:srgbClr val="1F2A3A"/>
                </a:solidFill>
                <a:latin typeface="맑은 고딕"/>
                <a:ea typeface="맑은 고딕"/>
                <a:cs typeface="맑은 고딕"/>
              </a:rPr>
              <a:t>에이전트의 추천안이 나온 뒤 운전원 승인에서 기다리는 상태를 읽는다</a:t>
            </a:r>
          </a:p>
        </p:txBody>
      </p:sp>
      <p:sp>
        <p:nvSpPr>
          <p:cNvPr id="16" name="Rounded Rectangle 15"/>
          <p:cNvSpPr/>
          <p:nvPr/>
        </p:nvSpPr>
        <p:spPr>
          <a:xfrm>
            <a:off x="3619423" y="5029771"/>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대기</a:t>
            </a:r>
          </a:p>
        </p:txBody>
      </p:sp>
      <p:sp>
        <p:nvSpPr>
          <p:cNvPr id="18" name="Rounded Rectangle 17"/>
          <p:cNvSpPr/>
          <p:nvPr/>
        </p:nvSpPr>
        <p:spPr>
          <a:xfrm>
            <a:off x="6233007"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724340"/>
            <a:ext cx="731520" cy="731520"/>
          </a:xfrm>
          <a:prstGeom prst="ellipse">
            <a:avLst/>
          </a:prstGeom>
          <a:solidFill>
            <a:srgbClr val="E7F3FD"/>
          </a:solidFill>
          <a:ln>
            <a:noFill/>
          </a:ln>
        </p:spPr>
        <p:txBody>
          <a:bodyPr rtlCol="0" anchor="ctr"/>
          <a:lstStyle/>
          <a:p>
            <a:pPr algn="ctr"/>
          </a:p>
        </p:txBody>
      </p:sp>
      <p:pic>
        <p:nvPicPr>
          <p:cNvPr id="20" name="아이콘:list-check" descr="list-check_13294B_1.6.png"/>
          <p:cNvPicPr>
            <a:picLocks noChangeAspect="1"/>
          </p:cNvPicPr>
          <p:nvPr/>
        </p:nvPicPr>
        <p:blipFill>
          <a:blip r:embed="rId5"/>
          <a:stretch>
            <a:fillRect/>
          </a:stretch>
        </p:blipFill>
        <p:spPr>
          <a:xfrm>
            <a:off x="6615226" y="2877959"/>
            <a:ext cx="424281" cy="424281"/>
          </a:xfrm>
          <a:prstGeom prst="rect">
            <a:avLst/>
          </a:prstGeom>
        </p:spPr>
      </p:pic>
      <p:sp>
        <p:nvSpPr>
          <p:cNvPr id="21" name="TextBox 20"/>
          <p:cNvSpPr txBox="1"/>
          <p:nvPr/>
        </p:nvSpPr>
        <p:spPr>
          <a:xfrm>
            <a:off x="6397599"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완료의 확인</a:t>
            </a:r>
          </a:p>
          <a:p>
            <a:pPr algn="l">
              <a:lnSpc>
                <a:spcPct val="110000"/>
              </a:lnSpc>
              <a:spcAft>
                <a:spcPts val="400"/>
              </a:spcAft>
            </a:pPr>
            <a:r>
              <a:rPr sz="1350" b="0">
                <a:solidFill>
                  <a:srgbClr val="1F2A3A"/>
                </a:solidFill>
                <a:latin typeface="맑은 고딕"/>
                <a:ea typeface="맑은 고딕"/>
                <a:cs typeface="맑은 고딕"/>
              </a:rPr>
              <a:t>승인 뒤 명령, 재관측을 거쳐 닿은 끝 이벤트와 결과를 읽는다</a:t>
            </a:r>
          </a:p>
        </p:txBody>
      </p:sp>
      <p:sp>
        <p:nvSpPr>
          <p:cNvPr id="22" name="Rounded Rectangle 21"/>
          <p:cNvSpPr/>
          <p:nvPr/>
        </p:nvSpPr>
        <p:spPr>
          <a:xfrm>
            <a:off x="6461607" y="5029771"/>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완료</a:t>
            </a:r>
          </a:p>
        </p:txBody>
      </p:sp>
      <p:sp>
        <p:nvSpPr>
          <p:cNvPr id="24" name="Rounded Rectangle 23"/>
          <p:cNvSpPr/>
          <p:nvPr/>
        </p:nvSpPr>
        <p:spPr>
          <a:xfrm>
            <a:off x="9075191" y="2523172"/>
            <a:ext cx="2567863" cy="293636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724340"/>
            <a:ext cx="731520" cy="731520"/>
          </a:xfrm>
          <a:prstGeom prst="ellipse">
            <a:avLst/>
          </a:prstGeom>
          <a:solidFill>
            <a:srgbClr val="5CB8F2"/>
          </a:solidFill>
          <a:ln>
            <a:noFill/>
          </a:ln>
        </p:spPr>
        <p:txBody>
          <a:bodyPr rtlCol="0" anchor="ctr"/>
          <a:lstStyle/>
          <a:p>
            <a:pPr algn="ctr"/>
          </a:p>
        </p:txBody>
      </p:sp>
      <p:pic>
        <p:nvPicPr>
          <p:cNvPr id="26" name="아이콘:pencil" descr="pencil_13294B_1.6.png"/>
          <p:cNvPicPr>
            <a:picLocks noChangeAspect="1"/>
          </p:cNvPicPr>
          <p:nvPr/>
        </p:nvPicPr>
        <p:blipFill>
          <a:blip r:embed="rId6"/>
          <a:stretch>
            <a:fillRect/>
          </a:stretch>
        </p:blipFill>
        <p:spPr>
          <a:xfrm>
            <a:off x="9457410" y="2877959"/>
            <a:ext cx="424281" cy="424281"/>
          </a:xfrm>
          <a:prstGeom prst="rect">
            <a:avLst/>
          </a:prstGeom>
        </p:spPr>
      </p:pic>
      <p:sp>
        <p:nvSpPr>
          <p:cNvPr id="27" name="TextBox 26"/>
          <p:cNvSpPr txBox="1"/>
          <p:nvPr/>
        </p:nvSpPr>
        <p:spPr>
          <a:xfrm>
            <a:off x="9239783"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단계 상태의 기록</a:t>
            </a:r>
          </a:p>
          <a:p>
            <a:pPr algn="l">
              <a:lnSpc>
                <a:spcPct val="110000"/>
              </a:lnSpc>
              <a:spcAft>
                <a:spcPts val="400"/>
              </a:spcAft>
            </a:pPr>
            <a:r>
              <a:rPr sz="1350" b="0">
                <a:solidFill>
                  <a:srgbClr val="1F2A3A"/>
                </a:solidFill>
                <a:latin typeface="맑은 고딕"/>
                <a:ea typeface="맑은 고딕"/>
                <a:cs typeface="맑은 고딕"/>
              </a:rPr>
              <a:t>단계마다 누가 맡았고 어떤 상태로 끝났는지를 적어 둔다</a:t>
            </a:r>
          </a:p>
        </p:txBody>
      </p:sp>
      <p:sp>
        <p:nvSpPr>
          <p:cNvPr id="28" name="Rounded Rectangle 27"/>
          <p:cNvSpPr/>
          <p:nvPr/>
        </p:nvSpPr>
        <p:spPr>
          <a:xfrm>
            <a:off x="9303791" y="5029771"/>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기록</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승인 거절과 승인 지연의 처리</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거절한 처리 건과 응답하지 않은 처리 건이 각각 어떤 상태로 남는지를 견준다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견주는 두 경우와 확인하는 상태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거절은 설비 명령 없이 처리 건을 닫고, 무응답은 알림만 낸 채 승인 작업을 열어 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22</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ban" descr="ban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거절</a:t>
            </a:r>
          </a:p>
          <a:p>
            <a:pPr algn="l">
              <a:lnSpc>
                <a:spcPct val="110000"/>
              </a:lnSpc>
              <a:spcAft>
                <a:spcPts val="400"/>
              </a:spcAft>
            </a:pPr>
            <a:r>
              <a:rPr sz="1400" b="0">
                <a:solidFill>
                  <a:srgbClr val="1F2A3A"/>
                </a:solidFill>
                <a:latin typeface="맑은 고딕"/>
                <a:ea typeface="맑은 고딕"/>
                <a:cs typeface="맑은 고딕"/>
              </a:rPr>
              <a:t>추천안을 거절해 설비 명령 없이 거절 종결에 닿아 닫히는 것을 확인한다</a:t>
            </a:r>
          </a:p>
        </p:txBody>
      </p:sp>
      <p:sp>
        <p:nvSpPr>
          <p:cNvPr id="10" name="Rounded Rectangle 9"/>
          <p:cNvSpPr/>
          <p:nvPr/>
        </p:nvSpPr>
        <p:spPr>
          <a:xfrm>
            <a:off x="777240" y="5149850"/>
            <a:ext cx="1216152"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1216152"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COMPLETED</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hourglass" descr="hourglass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응답 없음</a:t>
            </a:r>
          </a:p>
          <a:p>
            <a:pPr algn="l">
              <a:lnSpc>
                <a:spcPct val="110000"/>
              </a:lnSpc>
              <a:spcAft>
                <a:spcPts val="400"/>
              </a:spcAft>
            </a:pPr>
            <a:r>
              <a:rPr sz="1400" b="0">
                <a:solidFill>
                  <a:srgbClr val="1F2A3A"/>
                </a:solidFill>
                <a:latin typeface="맑은 고딕"/>
                <a:ea typeface="맑은 고딕"/>
                <a:cs typeface="맑은 고딕"/>
              </a:rPr>
              <a:t>승인하지 않고 기다려 승인 지연 알림만 나가고 승인 작업은 열려 있는 것을 확인한다</a:t>
            </a:r>
          </a:p>
        </p:txBody>
      </p:sp>
      <p:sp>
        <p:nvSpPr>
          <p:cNvPr id="16" name="Rounded Rectangle 15"/>
          <p:cNvSpPr/>
          <p:nvPr/>
        </p:nvSpPr>
        <p:spPr>
          <a:xfrm>
            <a:off x="4566818" y="5149850"/>
            <a:ext cx="1027176"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1027176"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RUNNING</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eye" descr="eye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두 건의 기록</a:t>
            </a:r>
          </a:p>
          <a:p>
            <a:pPr algn="l">
              <a:lnSpc>
                <a:spcPct val="110000"/>
              </a:lnSpc>
              <a:spcAft>
                <a:spcPts val="400"/>
              </a:spcAft>
            </a:pPr>
            <a:r>
              <a:rPr sz="1400" b="0">
                <a:solidFill>
                  <a:srgbClr val="1F2A3A"/>
                </a:solidFill>
                <a:latin typeface="맑은 고딕"/>
                <a:ea typeface="맑은 고딕"/>
                <a:cs typeface="맑은 고딕"/>
              </a:rPr>
              <a:t>거절된 건은 냉각 명령이 CANCELLED이고 설비 명령이 없음을, 응답 없는 건은 승인이 IN_PROGRESS임을 견준다</a:t>
            </a:r>
          </a:p>
        </p:txBody>
      </p:sp>
      <p:sp>
        <p:nvSpPr>
          <p:cNvPr id="22" name="Rounded Rectangle 21"/>
          <p:cNvSpPr/>
          <p:nvPr/>
        </p:nvSpPr>
        <p:spPr>
          <a:xfrm>
            <a:off x="8356396" y="5149850"/>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기록</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실행 기록의 추적과 잘못된 설정의 수정</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처리 건의 기록에서 단계 사이에 전달된 값을 따라가고, 사전 검사로 잘못된 설정을 찾아 고친다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따라가는 값과 바로잡는 설정</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기록은 단계 사이에 전달된 값을 보이고, 사전 검사는 잘못된 설정을 등록하기 전에 가려낸다.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24</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history" descr="history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기록을 읽는다</a:t>
            </a:r>
          </a:p>
          <a:p>
            <a:pPr algn="ctr">
              <a:lnSpc>
                <a:spcPct val="110000"/>
              </a:lnSpc>
              <a:spcAft>
                <a:spcPts val="400"/>
              </a:spcAft>
            </a:pPr>
            <a:r>
              <a:rPr sz="1350" b="0">
                <a:solidFill>
                  <a:srgbClr val="1F2A3A"/>
                </a:solidFill>
                <a:latin typeface="맑은 고딕"/>
                <a:ea typeface="맑은 고딕"/>
                <a:cs typeface="맑은 고딕"/>
              </a:rPr>
              <a:t>처리 건의 작업, 승인,</a:t>
            </a:r>
          </a:p>
          <a:p>
            <a:pPr algn="ctr">
              <a:lnSpc>
                <a:spcPct val="110000"/>
              </a:lnSpc>
              <a:spcAft>
                <a:spcPts val="400"/>
              </a:spcAft>
            </a:pPr>
            <a:r>
              <a:rPr sz="1350" b="0">
                <a:solidFill>
                  <a:srgbClr val="1F2A3A"/>
                </a:solidFill>
                <a:latin typeface="맑은 고딕"/>
                <a:ea typeface="맑은 고딕"/>
                <a:cs typeface="맑은 고딕"/>
              </a:rPr>
              <a:t>실행 기록을</a:t>
            </a:r>
          </a:p>
          <a:p>
            <a:pPr algn="ctr">
              <a:lnSpc>
                <a:spcPct val="110000"/>
              </a:lnSpc>
              <a:spcAft>
                <a:spcPts val="400"/>
              </a:spcAft>
            </a:pPr>
            <a:r>
              <a:rPr sz="1350" b="0">
                <a:solidFill>
                  <a:srgbClr val="1F2A3A"/>
                </a:solidFill>
                <a:latin typeface="맑은 고딕"/>
                <a:ea typeface="맑은 고딕"/>
                <a:cs typeface="맑은 고딕"/>
              </a:rPr>
              <a:t>차례로 읽는다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786062"/>
            <a:ext cx="731520" cy="731520"/>
          </a:xfrm>
          <a:prstGeom prst="ellipse">
            <a:avLst/>
          </a:prstGeom>
          <a:solidFill>
            <a:srgbClr val="FFFFFF"/>
          </a:solidFill>
          <a:ln>
            <a:noFill/>
          </a:ln>
        </p:spPr>
        <p:txBody>
          <a:bodyPr rtlCol="0" anchor="ctr"/>
          <a:lstStyle/>
          <a:p>
            <a:pPr algn="ctr"/>
          </a:p>
        </p:txBody>
      </p:sp>
      <p:pic>
        <p:nvPicPr>
          <p:cNvPr id="13" name="아이콘:arrows-right-left" descr="arrows-right-left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값을 따라간다</a:t>
            </a:r>
          </a:p>
          <a:p>
            <a:pPr algn="ctr">
              <a:lnSpc>
                <a:spcPct val="110000"/>
              </a:lnSpc>
              <a:spcAft>
                <a:spcPts val="400"/>
              </a:spcAft>
            </a:pPr>
            <a:r>
              <a:rPr sz="1350" b="0">
                <a:solidFill>
                  <a:srgbClr val="1F2A3A"/>
                </a:solidFill>
                <a:latin typeface="맑은 고딕"/>
                <a:ea typeface="맑은 고딕"/>
                <a:cs typeface="맑은 고딕"/>
              </a:rPr>
              <a:t>단계가 낸 값이</a:t>
            </a:r>
          </a:p>
          <a:p>
            <a:pPr algn="ctr">
              <a:lnSpc>
                <a:spcPct val="110000"/>
              </a:lnSpc>
              <a:spcAft>
                <a:spcPts val="400"/>
              </a:spcAft>
            </a:pPr>
            <a:r>
              <a:rPr sz="1350" b="0">
                <a:solidFill>
                  <a:srgbClr val="1F2A3A"/>
                </a:solidFill>
                <a:latin typeface="맑은 고딕"/>
                <a:ea typeface="맑은 고딕"/>
                <a:cs typeface="맑은 고딕"/>
              </a:rPr>
              <a:t>다음 단계에</a:t>
            </a:r>
          </a:p>
          <a:p>
            <a:pPr algn="ctr">
              <a:lnSpc>
                <a:spcPct val="110000"/>
              </a:lnSpc>
              <a:spcAft>
                <a:spcPts val="400"/>
              </a:spcAft>
            </a:pPr>
            <a:r>
              <a:rPr sz="1350" b="0">
                <a:solidFill>
                  <a:srgbClr val="1F2A3A"/>
                </a:solidFill>
                <a:latin typeface="맑은 고딕"/>
                <a:ea typeface="맑은 고딕"/>
                <a:cs typeface="맑은 고딕"/>
              </a:rPr>
              <a:t>전달된 것을 찾는다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86062"/>
            <a:ext cx="731520" cy="731520"/>
          </a:xfrm>
          <a:prstGeom prst="ellipse">
            <a:avLst/>
          </a:prstGeom>
          <a:solidFill>
            <a:srgbClr val="FFFFFF"/>
          </a:solidFill>
          <a:ln>
            <a:noFill/>
          </a:ln>
        </p:spPr>
        <p:txBody>
          <a:bodyPr rtlCol="0" anchor="ctr"/>
          <a:lstStyle/>
          <a:p>
            <a:pPr algn="ctr"/>
          </a:p>
        </p:txBody>
      </p:sp>
      <p:pic>
        <p:nvPicPr>
          <p:cNvPr id="18" name="아이콘:zoom-check" descr="zoom-check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사전 검사로 찾는다</a:t>
            </a:r>
          </a:p>
          <a:p>
            <a:pPr algn="ctr">
              <a:lnSpc>
                <a:spcPct val="110000"/>
              </a:lnSpc>
              <a:spcAft>
                <a:spcPts val="400"/>
              </a:spcAft>
            </a:pPr>
            <a:r>
              <a:rPr sz="1350" b="0">
                <a:solidFill>
                  <a:srgbClr val="1F2A3A"/>
                </a:solidFill>
                <a:latin typeface="맑은 고딕"/>
                <a:ea typeface="맑은 고딕"/>
                <a:cs typeface="맑은 고딕"/>
              </a:rPr>
              <a:t>작업을 맡을 쪽과</a:t>
            </a:r>
          </a:p>
          <a:p>
            <a:pPr algn="ctr">
              <a:lnSpc>
                <a:spcPct val="110000"/>
              </a:lnSpc>
              <a:spcAft>
                <a:spcPts val="400"/>
              </a:spcAft>
            </a:pPr>
            <a:r>
              <a:rPr sz="1350" b="0">
                <a:solidFill>
                  <a:srgbClr val="1F2A3A"/>
                </a:solidFill>
                <a:latin typeface="맑은 고딕"/>
                <a:ea typeface="맑은 고딕"/>
                <a:cs typeface="맑은 고딕"/>
              </a:rPr>
              <a:t>갈림의 조건이 잘못된</a:t>
            </a:r>
          </a:p>
          <a:p>
            <a:pPr algn="ctr">
              <a:lnSpc>
                <a:spcPct val="110000"/>
              </a:lnSpc>
              <a:spcAft>
                <a:spcPts val="400"/>
              </a:spcAft>
            </a:pPr>
            <a:r>
              <a:rPr sz="1350" b="0">
                <a:solidFill>
                  <a:srgbClr val="1F2A3A"/>
                </a:solidFill>
                <a:latin typeface="맑은 고딕"/>
                <a:ea typeface="맑은 고딕"/>
                <a:cs typeface="맑은 고딕"/>
              </a:rPr>
              <a:t>정의를 검사한다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786062"/>
            <a:ext cx="731520" cy="731520"/>
          </a:xfrm>
          <a:prstGeom prst="ellipse">
            <a:avLst/>
          </a:prstGeom>
          <a:solidFill>
            <a:srgbClr val="5CB8F2"/>
          </a:solidFill>
          <a:ln>
            <a:noFill/>
          </a:ln>
        </p:spPr>
        <p:txBody>
          <a:bodyPr rtlCol="0" anchor="ctr"/>
          <a:lstStyle/>
          <a:p>
            <a:pPr algn="ctr"/>
          </a:p>
        </p:txBody>
      </p:sp>
      <p:pic>
        <p:nvPicPr>
          <p:cNvPr id="23" name="아이콘:tool" descr="tool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바로잡는다</a:t>
            </a:r>
          </a:p>
          <a:p>
            <a:pPr algn="ctr">
              <a:lnSpc>
                <a:spcPct val="110000"/>
              </a:lnSpc>
              <a:spcAft>
                <a:spcPts val="400"/>
              </a:spcAft>
            </a:pPr>
            <a:r>
              <a:rPr sz="1350" b="0">
                <a:solidFill>
                  <a:srgbClr val="1F2A3A"/>
                </a:solidFill>
                <a:latin typeface="맑은 고딕"/>
                <a:ea typeface="맑은 고딕"/>
                <a:cs typeface="맑은 고딕"/>
              </a:rPr>
              <a:t>검사가 가리킨</a:t>
            </a:r>
          </a:p>
          <a:p>
            <a:pPr algn="ctr">
              <a:lnSpc>
                <a:spcPct val="110000"/>
              </a:lnSpc>
              <a:spcAft>
                <a:spcPts val="400"/>
              </a:spcAft>
            </a:pPr>
            <a:r>
              <a:rPr sz="1350" b="0">
                <a:solidFill>
                  <a:srgbClr val="1F2A3A"/>
                </a:solidFill>
                <a:latin typeface="맑은 고딕"/>
                <a:ea typeface="맑은 고딕"/>
                <a:cs typeface="맑은 고딕"/>
              </a:rPr>
              <a:t>설정을 고친다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수정한 프로세스의 재배포와 재실행</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고친 정의를 다시 배포해 승인의 정상 종료와 거절의 명령 차단을 확인한다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다시 확인하는 두 결말과 남기는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고친 정의는 승인과 거절을 모두 다시 실행해야 정상 종료와 명령 없는 거절 종결을 함께 확인할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26</a:t>
            </a:r>
          </a:p>
        </p:txBody>
      </p:sp>
      <p:sp>
        <p:nvSpPr>
          <p:cNvPr id="6" name="Rounded Rectangle 5"/>
          <p:cNvSpPr/>
          <p:nvPr/>
        </p:nvSpPr>
        <p:spPr>
          <a:xfrm>
            <a:off x="548640" y="2626423"/>
            <a:ext cx="1911644" cy="2729864"/>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809303"/>
            <a:ext cx="731520" cy="731520"/>
          </a:xfrm>
          <a:prstGeom prst="ellipse">
            <a:avLst/>
          </a:prstGeom>
          <a:solidFill>
            <a:srgbClr val="FFFFFF"/>
          </a:solidFill>
          <a:ln>
            <a:noFill/>
          </a:ln>
        </p:spPr>
        <p:txBody>
          <a:bodyPr rtlCol="0" anchor="ctr"/>
          <a:lstStyle/>
          <a:p>
            <a:pPr algn="ctr"/>
          </a:p>
        </p:txBody>
      </p:sp>
      <p:pic>
        <p:nvPicPr>
          <p:cNvPr id="8" name="아이콘:rocket" descr="rocket_13294B_1.6.png"/>
          <p:cNvPicPr>
            <a:picLocks noChangeAspect="1"/>
          </p:cNvPicPr>
          <p:nvPr/>
        </p:nvPicPr>
        <p:blipFill>
          <a:blip r:embed="rId3"/>
          <a:stretch>
            <a:fillRect/>
          </a:stretch>
        </p:blipFill>
        <p:spPr>
          <a:xfrm>
            <a:off x="1292321" y="2962922"/>
            <a:ext cx="424281" cy="424281"/>
          </a:xfrm>
          <a:prstGeom prst="rect">
            <a:avLst/>
          </a:prstGeom>
        </p:spPr>
      </p:pic>
      <p:sp>
        <p:nvSpPr>
          <p:cNvPr id="9" name="TextBox 8"/>
          <p:cNvSpPr txBox="1"/>
          <p:nvPr/>
        </p:nvSpPr>
        <p:spPr>
          <a:xfrm>
            <a:off x="621792"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다시 검사해 배포한다</a:t>
            </a:r>
          </a:p>
          <a:p>
            <a:pPr algn="ctr">
              <a:lnSpc>
                <a:spcPct val="110000"/>
              </a:lnSpc>
              <a:spcAft>
                <a:spcPts val="400"/>
              </a:spcAft>
            </a:pPr>
            <a:r>
              <a:rPr sz="1250" b="0">
                <a:solidFill>
                  <a:srgbClr val="1F2A3A"/>
                </a:solidFill>
                <a:latin typeface="맑은 고딕"/>
                <a:ea typeface="맑은 고딕"/>
                <a:cs typeface="맑은 고딕"/>
              </a:rPr>
              <a:t>고친 정의를</a:t>
            </a:r>
          </a:p>
          <a:p>
            <a:pPr algn="ctr">
              <a:lnSpc>
                <a:spcPct val="110000"/>
              </a:lnSpc>
              <a:spcAft>
                <a:spcPts val="400"/>
              </a:spcAft>
            </a:pPr>
            <a:r>
              <a:rPr sz="1250" b="0">
                <a:solidFill>
                  <a:srgbClr val="1F2A3A"/>
                </a:solidFill>
                <a:latin typeface="맑은 고딕"/>
                <a:ea typeface="맑은 고딕"/>
                <a:cs typeface="맑은 고딕"/>
              </a:rPr>
              <a:t>사전 검사에 넣고</a:t>
            </a:r>
          </a:p>
          <a:p>
            <a:pPr algn="ctr">
              <a:lnSpc>
                <a:spcPct val="110000"/>
              </a:lnSpc>
              <a:spcAft>
                <a:spcPts val="400"/>
              </a:spcAft>
            </a:pPr>
            <a:r>
              <a:rPr sz="1250" b="0">
                <a:solidFill>
                  <a:srgbClr val="1F2A3A"/>
                </a:solidFill>
                <a:latin typeface="맑은 고딕"/>
                <a:ea typeface="맑은 고딕"/>
                <a:cs typeface="맑은 고딕"/>
              </a:rPr>
              <a:t>새 판본으로 배포한다</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626423"/>
            <a:ext cx="1911644" cy="2729864"/>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809303"/>
            <a:ext cx="731520" cy="731520"/>
          </a:xfrm>
          <a:prstGeom prst="ellipse">
            <a:avLst/>
          </a:prstGeom>
          <a:solidFill>
            <a:srgbClr val="FFFFFF"/>
          </a:solidFill>
          <a:ln>
            <a:noFill/>
          </a:ln>
        </p:spPr>
        <p:txBody>
          <a:bodyPr rtlCol="0" anchor="ctr"/>
          <a:lstStyle/>
          <a:p>
            <a:pPr algn="ctr"/>
          </a:p>
        </p:txBody>
      </p:sp>
      <p:pic>
        <p:nvPicPr>
          <p:cNvPr id="13" name="아이콘:circle-check" descr="circle-check_13294B_1.6.png"/>
          <p:cNvPicPr>
            <a:picLocks noChangeAspect="1"/>
          </p:cNvPicPr>
          <p:nvPr/>
        </p:nvPicPr>
        <p:blipFill>
          <a:blip r:embed="rId4"/>
          <a:stretch>
            <a:fillRect/>
          </a:stretch>
        </p:blipFill>
        <p:spPr>
          <a:xfrm>
            <a:off x="3588014" y="2962922"/>
            <a:ext cx="424281" cy="424281"/>
          </a:xfrm>
          <a:prstGeom prst="rect">
            <a:avLst/>
          </a:prstGeom>
        </p:spPr>
      </p:pic>
      <p:sp>
        <p:nvSpPr>
          <p:cNvPr id="14" name="TextBox 13"/>
          <p:cNvSpPr txBox="1"/>
          <p:nvPr/>
        </p:nvSpPr>
        <p:spPr>
          <a:xfrm>
            <a:off x="2917484"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승인으로 실행한다</a:t>
            </a:r>
          </a:p>
          <a:p>
            <a:pPr algn="ctr">
              <a:lnSpc>
                <a:spcPct val="110000"/>
              </a:lnSpc>
              <a:spcAft>
                <a:spcPts val="400"/>
              </a:spcAft>
            </a:pPr>
            <a:r>
              <a:rPr sz="1250" b="0">
                <a:solidFill>
                  <a:srgbClr val="1F2A3A"/>
                </a:solidFill>
                <a:latin typeface="맑은 고딕"/>
                <a:ea typeface="맑은 고딕"/>
                <a:cs typeface="맑은 고딕"/>
              </a:rPr>
              <a:t>명령과 재관측을 거쳐</a:t>
            </a:r>
          </a:p>
          <a:p>
            <a:pPr algn="ctr">
              <a:lnSpc>
                <a:spcPct val="110000"/>
              </a:lnSpc>
              <a:spcAft>
                <a:spcPts val="400"/>
              </a:spcAft>
            </a:pPr>
            <a:r>
              <a:rPr sz="1250" b="0">
                <a:solidFill>
                  <a:srgbClr val="1F2A3A"/>
                </a:solidFill>
                <a:latin typeface="맑은 고딕"/>
                <a:ea typeface="맑은 고딕"/>
                <a:cs typeface="맑은 고딕"/>
              </a:rPr>
              <a:t>정상으로 끝나는지</a:t>
            </a:r>
          </a:p>
          <a:p>
            <a:pPr algn="ctr">
              <a:lnSpc>
                <a:spcPct val="110000"/>
              </a:lnSpc>
              <a:spcAft>
                <a:spcPts val="400"/>
              </a:spcAft>
            </a:pPr>
            <a:r>
              <a:rPr sz="1250" b="0">
                <a:solidFill>
                  <a:srgbClr val="1F2A3A"/>
                </a:solidFill>
                <a:latin typeface="맑은 고딕"/>
                <a:ea typeface="맑은 고딕"/>
                <a:cs typeface="맑은 고딕"/>
              </a:rPr>
              <a:t>확인한다</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626423"/>
            <a:ext cx="1911644" cy="2729864"/>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809303"/>
            <a:ext cx="731520" cy="731520"/>
          </a:xfrm>
          <a:prstGeom prst="ellipse">
            <a:avLst/>
          </a:prstGeom>
          <a:solidFill>
            <a:srgbClr val="FFFFFF"/>
          </a:solidFill>
          <a:ln>
            <a:noFill/>
          </a:ln>
        </p:spPr>
        <p:txBody>
          <a:bodyPr rtlCol="0" anchor="ctr"/>
          <a:lstStyle/>
          <a:p>
            <a:pPr algn="ctr"/>
          </a:p>
        </p:txBody>
      </p:sp>
      <p:pic>
        <p:nvPicPr>
          <p:cNvPr id="18" name="아이콘:ban" descr="ban_13294B_1.6.png"/>
          <p:cNvPicPr>
            <a:picLocks noChangeAspect="1"/>
          </p:cNvPicPr>
          <p:nvPr/>
        </p:nvPicPr>
        <p:blipFill>
          <a:blip r:embed="rId5"/>
          <a:stretch>
            <a:fillRect/>
          </a:stretch>
        </p:blipFill>
        <p:spPr>
          <a:xfrm>
            <a:off x="5883706" y="2962922"/>
            <a:ext cx="424281" cy="424281"/>
          </a:xfrm>
          <a:prstGeom prst="rect">
            <a:avLst/>
          </a:prstGeom>
        </p:spPr>
      </p:pic>
      <p:sp>
        <p:nvSpPr>
          <p:cNvPr id="19" name="TextBox 18"/>
          <p:cNvSpPr txBox="1"/>
          <p:nvPr/>
        </p:nvSpPr>
        <p:spPr>
          <a:xfrm>
            <a:off x="5213177"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거절로 실행한다</a:t>
            </a:r>
          </a:p>
          <a:p>
            <a:pPr algn="ctr">
              <a:lnSpc>
                <a:spcPct val="110000"/>
              </a:lnSpc>
              <a:spcAft>
                <a:spcPts val="400"/>
              </a:spcAft>
            </a:pPr>
            <a:r>
              <a:rPr sz="1250" b="0">
                <a:solidFill>
                  <a:srgbClr val="1F2A3A"/>
                </a:solidFill>
                <a:latin typeface="맑은 고딕"/>
                <a:ea typeface="맑은 고딕"/>
                <a:cs typeface="맑은 고딕"/>
              </a:rPr>
              <a:t>설비 명령 없이</a:t>
            </a:r>
          </a:p>
          <a:p>
            <a:pPr algn="ctr">
              <a:lnSpc>
                <a:spcPct val="110000"/>
              </a:lnSpc>
              <a:spcAft>
                <a:spcPts val="400"/>
              </a:spcAft>
            </a:pPr>
            <a:r>
              <a:rPr sz="1250" b="0">
                <a:solidFill>
                  <a:srgbClr val="1F2A3A"/>
                </a:solidFill>
                <a:latin typeface="맑은 고딕"/>
                <a:ea typeface="맑은 고딕"/>
                <a:cs typeface="맑은 고딕"/>
              </a:rPr>
              <a:t>거절 종결에 닿는지</a:t>
            </a:r>
          </a:p>
          <a:p>
            <a:pPr algn="ctr">
              <a:lnSpc>
                <a:spcPct val="110000"/>
              </a:lnSpc>
              <a:spcAft>
                <a:spcPts val="400"/>
              </a:spcAft>
            </a:pPr>
            <a:r>
              <a:rPr sz="1250" b="0">
                <a:solidFill>
                  <a:srgbClr val="1F2A3A"/>
                </a:solidFill>
                <a:latin typeface="맑은 고딕"/>
                <a:ea typeface="맑은 고딕"/>
                <a:cs typeface="맑은 고딕"/>
              </a:rPr>
              <a:t>확인한다</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626423"/>
            <a:ext cx="1911644" cy="2729864"/>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8025780" y="2809303"/>
            <a:ext cx="731520" cy="731520"/>
          </a:xfrm>
          <a:prstGeom prst="ellipse">
            <a:avLst/>
          </a:prstGeom>
          <a:solidFill>
            <a:srgbClr val="5CB8F2"/>
          </a:solidFill>
          <a:ln>
            <a:noFill/>
          </a:ln>
        </p:spPr>
        <p:txBody>
          <a:bodyPr rtlCol="0" anchor="ctr"/>
          <a:lstStyle/>
          <a:p>
            <a:pPr algn="ctr"/>
          </a:p>
        </p:txBody>
      </p:sp>
      <p:pic>
        <p:nvPicPr>
          <p:cNvPr id="23" name="아이콘:arrow-back-up" descr="arrow-back-up_13294B_1.6.png"/>
          <p:cNvPicPr>
            <a:picLocks noChangeAspect="1"/>
          </p:cNvPicPr>
          <p:nvPr/>
        </p:nvPicPr>
        <p:blipFill>
          <a:blip r:embed="rId6"/>
          <a:stretch>
            <a:fillRect/>
          </a:stretch>
        </p:blipFill>
        <p:spPr>
          <a:xfrm>
            <a:off x="8179399" y="2962922"/>
            <a:ext cx="424281" cy="424281"/>
          </a:xfrm>
          <a:prstGeom prst="rect">
            <a:avLst/>
          </a:prstGeom>
        </p:spPr>
      </p:pic>
      <p:sp>
        <p:nvSpPr>
          <p:cNvPr id="24" name="TextBox 23"/>
          <p:cNvSpPr txBox="1"/>
          <p:nvPr/>
        </p:nvSpPr>
        <p:spPr>
          <a:xfrm>
            <a:off x="7508869"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되돌린다</a:t>
            </a:r>
          </a:p>
          <a:p>
            <a:pPr algn="ctr">
              <a:lnSpc>
                <a:spcPct val="110000"/>
              </a:lnSpc>
              <a:spcAft>
                <a:spcPts val="400"/>
              </a:spcAft>
            </a:pPr>
            <a:r>
              <a:rPr sz="1250" b="0">
                <a:solidFill>
                  <a:srgbClr val="1F2A3A"/>
                </a:solidFill>
                <a:latin typeface="맑은 고딕"/>
                <a:ea typeface="맑은 고딕"/>
                <a:cs typeface="맑은 고딕"/>
              </a:rPr>
              <a:t>경보를 받는 흐름을</a:t>
            </a:r>
          </a:p>
          <a:p>
            <a:pPr algn="ctr">
              <a:lnSpc>
                <a:spcPct val="110000"/>
              </a:lnSpc>
              <a:spcAft>
                <a:spcPts val="400"/>
              </a:spcAft>
            </a:pPr>
            <a:r>
              <a:rPr sz="1250" b="0">
                <a:solidFill>
                  <a:srgbClr val="1F2A3A"/>
                </a:solidFill>
                <a:latin typeface="맑은 고딕"/>
                <a:ea typeface="맑은 고딕"/>
                <a:cs typeface="맑은 고딕"/>
              </a:rPr>
              <a:t>기준 흐름으로</a:t>
            </a:r>
          </a:p>
          <a:p>
            <a:pPr algn="ctr">
              <a:lnSpc>
                <a:spcPct val="110000"/>
              </a:lnSpc>
              <a:spcAft>
                <a:spcPts val="400"/>
              </a:spcAft>
            </a:pPr>
            <a:r>
              <a:rPr sz="1250" b="0">
                <a:solidFill>
                  <a:srgbClr val="1F2A3A"/>
                </a:solidFill>
                <a:latin typeface="맑은 고딕"/>
                <a:ea typeface="맑은 고딕"/>
                <a:cs typeface="맑은 고딕"/>
              </a:rPr>
              <a:t>되돌린다</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626423"/>
            <a:ext cx="1911644" cy="2729864"/>
          </a:xfrm>
          <a:prstGeom prst="roundRect">
            <a:avLst>
              <a:gd name="adj" fmla="val 5000"/>
            </a:avLst>
          </a:prstGeom>
          <a:solidFill>
            <a:srgbClr val="F3F6F9"/>
          </a:solidFill>
          <a:ln>
            <a:noFill/>
          </a:ln>
        </p:spPr>
        <p:txBody>
          <a:bodyPr rtlCol="0" anchor="ctr"/>
          <a:lstStyle/>
          <a:p>
            <a:pPr algn="ctr"/>
          </a:p>
        </p:txBody>
      </p:sp>
      <p:sp>
        <p:nvSpPr>
          <p:cNvPr id="27" name="Oval 26"/>
          <p:cNvSpPr/>
          <p:nvPr/>
        </p:nvSpPr>
        <p:spPr>
          <a:xfrm>
            <a:off x="10321472" y="2809303"/>
            <a:ext cx="731520" cy="731520"/>
          </a:xfrm>
          <a:prstGeom prst="ellipse">
            <a:avLst/>
          </a:prstGeom>
          <a:solidFill>
            <a:srgbClr val="FFFFFF"/>
          </a:solidFill>
          <a:ln>
            <a:noFill/>
          </a:ln>
        </p:spPr>
        <p:txBody>
          <a:bodyPr rtlCol="0" anchor="ctr"/>
          <a:lstStyle/>
          <a:p>
            <a:pPr algn="ctr"/>
          </a:p>
        </p:txBody>
      </p:sp>
      <p:pic>
        <p:nvPicPr>
          <p:cNvPr id="28" name="아이콘:device-floppy" descr="device-floppy_13294B_1.6.png"/>
          <p:cNvPicPr>
            <a:picLocks noChangeAspect="1"/>
          </p:cNvPicPr>
          <p:nvPr/>
        </p:nvPicPr>
        <p:blipFill>
          <a:blip r:embed="rId7"/>
          <a:stretch>
            <a:fillRect/>
          </a:stretch>
        </p:blipFill>
        <p:spPr>
          <a:xfrm>
            <a:off x="10475092" y="2962922"/>
            <a:ext cx="424281" cy="424281"/>
          </a:xfrm>
          <a:prstGeom prst="rect">
            <a:avLst/>
          </a:prstGeom>
        </p:spPr>
      </p:pic>
      <p:sp>
        <p:nvSpPr>
          <p:cNvPr id="29" name="TextBox 28"/>
          <p:cNvSpPr txBox="1"/>
          <p:nvPr/>
        </p:nvSpPr>
        <p:spPr>
          <a:xfrm>
            <a:off x="9804562"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남긴다</a:t>
            </a:r>
          </a:p>
          <a:p>
            <a:pPr algn="ctr">
              <a:lnSpc>
                <a:spcPct val="110000"/>
              </a:lnSpc>
              <a:spcAft>
                <a:spcPts val="400"/>
              </a:spcAft>
            </a:pPr>
            <a:r>
              <a:rPr sz="1250" b="0">
                <a:solidFill>
                  <a:srgbClr val="1F2A3A"/>
                </a:solidFill>
                <a:latin typeface="맑은 고딕"/>
                <a:ea typeface="맑은 고딕"/>
                <a:cs typeface="맑은 고딕"/>
              </a:rPr>
              <a:t>BPMN 파일과</a:t>
            </a:r>
          </a:p>
          <a:p>
            <a:pPr algn="ctr">
              <a:lnSpc>
                <a:spcPct val="110000"/>
              </a:lnSpc>
              <a:spcAft>
                <a:spcPts val="400"/>
              </a:spcAft>
            </a:pPr>
            <a:r>
              <a:rPr sz="1250" b="0">
                <a:solidFill>
                  <a:srgbClr val="1F2A3A"/>
                </a:solidFill>
                <a:latin typeface="맑은 고딕"/>
                <a:ea typeface="맑은 고딕"/>
                <a:cs typeface="맑은 고딕"/>
              </a:rPr>
              <a:t>처리 건의 결과를</a:t>
            </a:r>
          </a:p>
          <a:p>
            <a:pPr algn="ctr">
              <a:lnSpc>
                <a:spcPct val="110000"/>
              </a:lnSpc>
              <a:spcAft>
                <a:spcPts val="400"/>
              </a:spcAft>
            </a:pPr>
            <a:r>
              <a:rPr sz="1250" b="0">
                <a:solidFill>
                  <a:srgbClr val="1F2A3A"/>
                </a:solidFill>
                <a:latin typeface="맑은 고딕"/>
                <a:ea typeface="맑은 고딕"/>
                <a:cs typeface="맑은 고딕"/>
              </a:rPr>
              <a:t>보존한다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오늘 정식 명칭을 붙인 용어와, 그 용어가 프로세스의 실행에서 맡은 자리를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27</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정식 명칭</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프로세스의 실행에서</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토큰</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Token</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처리 건의 현재 위치</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프로세스 변수</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Process Variable</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단계가 낸 값과 갈림의 조건</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모니터링</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Monitoring</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단계의 시각과 상태를 읽는 일</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감사 기록</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Audit Log</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시작, 배포, 거부된 승인의 기록</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배운 내용을 바탕으로 정답을 맞혀 보세요.</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1. 승인 지연 알림이 나간 처리 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긴급 대응 처리 건의 상태가 RUNNING이고 열려 있는 단계가 운전원 승인이며, 승인 지연 알림은 이미 나갔다.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29</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처리 건에 대한 설명으로 옳은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알림이 나갔으므로 처리 건은 거절로 닫혔다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기한이 지났으므로 냉각 명령이 자동으로 나갔다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승인 작업이 열린 채로 남아 운전원의 결정을 기다린다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알림 가지가 끝났으므로 처리 건도 완료되었다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2. 설비 명령이 나갔는지를 판단하는 근거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어느 긴급 대응 처리 건의 기록에 status는 COMPLETED, end_event는 E_rejected로 적혀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30</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처리 건에서 냉각 명령이 설비에 나갔는지를 판단한 것으로 옳은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끝 이벤트가 E_rejected이고 냉각 명령 단계가 CANCELLED이므로 나가지 않았다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status가 COMPLETED이므로 명령이 나가 유온이 회복되었다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에이전트 단계가 DONE이므로 추천대로 명령이 나갔다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기록으로는 알 수 없으므로 에이전트에게 다시 판단을 맡긴다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3. 늦어지는 단계를 판단하는 근거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긴급 대응 프로세스가 느리다는 말이 나와, 끝난 처리 건들의 기록에서 어느 단계가 흐름을 늦추는지 찾으려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31</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늦어지는 단계를 판단하는 근거로 삼을 기록은?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처리 건의 상태가 COMPLETED인지 여부</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처리 건이 닿은 끝 이벤트의 이름</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승인 작업이 사용자 작업이라는 그림의 표식</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단계마다 남은 시작과 끝의 시각</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문항은 처리 건의 상태, 결말의 근거가 되는 기록, 시간의 근거가 되는 기록을 바르게 읽는지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32</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 지연 타이머는 비중단형이다. 알림 가지만 끝나고 승인 작업은 열린 채로 기다린다.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3번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COMPLETED는 실행이 끝났다는 뜻이다. 결과는 끝 이벤트와 단계의 상태로 읽는다.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1번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상태와 끝 이벤트는 결말을 알려 준다. 어디서 시간이 걸렸는지는 단계의 시각이 알려 준다.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4번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