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앞으로 배울 내용을 자신의 지식으로 남기는 방법을 익히고, 개인 학습노트를 만듭니다. 이어서 제조 설비에서 AI의 판단과 조치까지 이어지는 HYD 시스템의 구조를 계층별로 살펴보고, 데이터가 오가는 길을 따라갑니다. 그다음 실행 환경을 갖추고, 설비 이상 한 건이 처리되는 과정을 포털에서 직접 확인합니다. 마지막으로 이 시스템이 제대로 판단하려면 왜 온톨로지가 바탕이 되어야 하는지 알아봅니다.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필기와 강의 자료를 AI에게 넘기면 깔끔한 문서가 금방 나옵니다. 그러나 읽기 쉬운 형태로 바뀌었을 뿐, 그 내용이 머릿속에 들어온 것은 아닙니다. 더 큰 문제는 착각입니다. 잘 정리된 문서를 손에 쥐면 그 내용을 내가 안다고 여기게 됩니다. 자료를 덮고 백지에 직접 써 보면 그제야 무엇을 알고 무엇을 모르는지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자료를 덮고 백지에 이해한 것을 써 봅니다. 타이핑해도 되고, 마이크에 대고 말해 받아 적게 해도 됩니다. 정해진 형식은 없습니다. 처음에는 한 가지를 깊이 파기보다 아는 내용을 넓게 훑으며 쭉 써 봅니다. 그러면 틀린 곳, 횡설수설한 곳, 막혀서 더 쓰지 못하는 곳이 드러납니다. 바로 그 부분이 공부할 범위입니다.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순서가 중요합니다. 넓게 쓴 글에서 틀린 곳과 횡설수설한 곳을 먼저 바로잡아 전체의 줄기를 맞춥니다. 처음부터 한 곳을 깊게 파고들면 전체를 놓치기 쉽습니다. 전체의 줄기를 맞춘 다음에 막힌 곳을 하나씩 골라 깊게 파고듭니다.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깊이 파고들 때는 막힌 곳만 집요하게 팝니다. 모르는 용어가 있으면 그 뜻을 묻고, 설명에 또 모르는 말이 나오면 다시 묻습니다. 초등학생도 알아들을 수 있게 설명해 달라고 해도 괜찮습니다. 더 내려갈 곳이 없으면 거기서부터 하나씩 이어 붙이며 처음의 용어로 올라옵니다.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용어를 이해할 때 정의 문장을 그대로 외울 필요는 없습니다. 원리에서 벗어나지만 않는다면, 같은 뜻의 쉬운 말로 이해하면 됩니다. 내 말로 옮길 수 있어야 다른 말로 물어도 답할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앞으로 배우는 내용은 모두 이 방법으로 정리합니다. 넓게 써 보고 고친 다음, 막힌 곳을 깊이 팝니다. 그렇게 내가 쓰고 이해하고 내 말로 옮긴 기록을 개인 학습노트에 쌓아 갑니다. 이 기록이 이 과정에서 만드는 지식 자산입니다. 이어지는 실습에서 그 학습노트를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노션으로 앞으로의 기록을 담을 틀을 만듭니다. 과정 홈과 세 구획, 학습노트 데이터베이스를 만들고, 앞에서 살펴본 방법대로 개념 하나를 내 말로 써서 첫 기록을 남깁니다. 노션을 다루는 법은 실습에서 직접 해 보며 익힙니다.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현장 쪽을 짧게 짚어 보겠습니다. 센서는 설비에서 생긴 물리량을 재고, PLC는 그 계측값을 읽어 설비를 제어하며, 관제 화면은 계측값을 보여 주고 조작을 받습니다. 이 단원에서는 그다음을 다룹니다. 그 데이터를 모으고 판단해 조치로 잇는 시스템의 구조, 그리고 그 구조를 따라 데이터가 흐르는 길을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설비입니다. 유압 파워팩 HYD-01에는 탱크, 펌프, 부하, 오일 쿨러, 팬이 있고, 계측값마다 태그라는 이름이 붙습니다. 이 단원에서 예로 드는 계측값은 쿨러로 들어가기 직전의 작동유 온도인 유온 TS1과, 쿨러가 열을 내보내는 정도를 나타내는 냉각 효율 CE입니다.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Layer 1, 센서 네트워크와 설비입니다. 센서가 잰 계측값을 가장 먼저 받는 것은 설비 옆의 PLC입니다. PLC는 1초에도 수십 번씩 계측값을 읽고 판단을 끝냅니다. 같은 판단을 서버에 맡기면 오가는 데만 1초 안팎이 걸리고, 그사이 통신이 끊길 수도 있습니다. 그래서 설비를 지키는 판단만큼은 설비 옆의 PLC가 인터록으로 끝냅니다.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2.0은 뒤에서 다시 나옵니다. 세 조건 모두 그대로 두면 설비가 손상되는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제어기가 주고받는 통신에는 암호화와 인증이 없습니다. 사무 통신은 평균적으로 빠르면 되지만, 현장 통신은 어떤 경우에도 정해진 시간 안에 도착해야 합니다. PLC가 1초에도 수십 번씩 판단을 마치려면, 그 사이를 오가는 신호도 매번 정해진 시간 안에 도착해야 합니다. 암호화와 인증은 처리 시간을 들쭉날쭉하게 만들기 때문에 싣지 않습니다. 대신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Layer 2, IoT 미들웨어입니다. 제어기 안의 계측값은 주소에 담긴 숫자라서 그 자체로는 무엇을 잰 것인지 알 수 없습니다. 엣지 게이트웨이는 이 숫자에 이름을 붙여 태그 값과 운전 상태로 올려 보냅니다. 위쪽의 유온 TS1과 냉각 효율 CE는 이 단원에서 계속 예로 들고, 아래쪽의 운전 모드와 인터록 상태는 명령을 내려보낼 때 다시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데이터를 받아야 할 곳은 운전 화면과 수집 서비스 두 군데이며, 앞으로 더 늘어날 수 있습니다. 보내는 쪽이 받는 쪽과 직접 연결하면, 받는 쪽이 늘 때마다 설비 쪽 프로그램을 고쳐야 합니다. 가운데에 중개 서버를 두면 받는 쪽이 늘어도 설비 쪽은 그대로입니다. 이렇게 중개 서버를 사이에 두고 주고받는 통신 방식이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브로커입니다. 보내는 쪽인 발행자는 토픽이라는 주소를 붙여 브로커에 보내고, 받는 쪽인 구독자는 원하는 토픽만 받습니다. 따라서 발행자는 구독자가 누구인지 몰라도 됩니다. 그림에서 흐리게 표시한 부분은 아직 다루지 않은 구간입니다.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나누어 보면 네 칸입니다. 공장, 설비, 종류, 태그 이름입니다. HYD에는 같은 구조의 유압 파워팩이 세 대 있어 설비 자리만 hyd01, hyd02, hyd03으로 바뀝니다. 구독자는 이 주소를 보고 필요한 데이터만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세 단계입니다. 브로커는 데이터를 보관하지 않으므로, 받는 쪽이 먼저 받고 싶은 토픽을 브로커에 등록합니다. 보내는 쪽은 데이터를 토픽에 실어 브로커로 보냅니다. 브로커는 해당 토픽을 등록해 둔 모든 구독자에게 메시지를 전달합니다.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브로커까지 왔지만, 분석하고 저장하는 서버는 브로커에 직접 연결되지 않습니다. IT 쪽은 외부와 연결될 수 있어 침해될 가능성이 있고, OT는 설비를 직접 움직이기 때문에 잘못된 명령이 곧 사고로 이어집니다. 그래서 둘을 직접 잇지 않고 사이에 구역을 하나 둡니다. 앞에서 설비를 지키는 판단을 PLC에 맡긴 것도 IT 쪽 서버를 거치지 않기 위해서였습니다.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사이에 있는 구역이 DMZ입니다. DMZ의 수집 서비스는 브로커를 구독해 받은 메시지를 IT의 이벤트 로그에 옮겨 적습니다. 데이터는 OT에서 IT로만 옮겨지며, 반대 방향으로는 쓰지 않습니다. 현장 통신을 단순하게 둔 대신, 들어오는 길을 좁힌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데이터를 옮겨 적는 곳은 Layer 3, 이벤트 백본의 이벤트 로그입니다. 브로커는 그 순간 구독 중인 쪽에 데이터를 전달한 뒤에는 보관하지 않습니다. 이벤트 로그는 데이터를 받은 순서대로 쌓아 두므로, 여러 서비스가 각자의 속도로 읽고 필요하면 처음부터 다시 읽을 수 있습니다. IT의 모든 서비스는 설비가 아니라 이 기록에서 데이터를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계측값이라도 옮겨 적히면서 모양이 달라집니다. 위쪽 메시지에서는 설비와 태그 이름이 토픽 경로에 있었지만, 아래쪽 레코드에서는 본문 안에 들어 있습니다. 그래서 레코드 한 건만 보아도 유압 설비 HYD-01의 유온이 55.71이라는 것을 알 수 있습니다. 키는 같은 설비의 데이터가 측정된 순서대로 읽히게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첫 번째 계층은 Layer 4, 스트림 처리입니다. 데이터가 저장소에 쌓인 다음에 조회하면 이상이 생긴 시점과 알아차리는 시점 사이에 간격이 생깁니다. 감지 서비스는 데이터가 기록되는 대로 하나씩 받아 조건과 비교합니다. 끊임없이 들어오는 데이터를 그 자리에서 처리하는 방식을 스트림 처리라고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세 가지 조건을 봅니다. 유온이 55 ℃를 넘고, 냉각 효율이 70 % 아래이며, 유온이 오르는 중이어야 쿨러 성능 저하로 봅니다. 유온은 쿨러가 정상이어도 오를 수 있으므로, 유온만 높고 냉각 효율이 정상이면 이 경보는 울리지 않습니다. 다음으로 그래프에서 유온이 55 ℃를 넘은 11시 13분 4초와, 4초 뒤인 11시 13분 8초의 경보를 차례로 짚습니다. 그동안 조건이 계속 유지되는지 지켜본 것으로, 값이 잠깐 튀었다가 돌아오는 경우에는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계측값이 아니라 어떤 일이 일어났는지를 남긴 기록입니다. 식별자는 이 경보 한 건을 가리키고, 패턴은 쿨러 성능 저하 조건이 성립했음을 나타냅니다. 계측값은 계속 바뀌므로, 경보가 발생한 순간의 유온 55.71과 냉각 효율 46.2를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두 번째 계층은 Layer 5, 시계열 저장소입니다. 감지는 흐르는 데이터에서 하지만, 지나간 데이터를 시각으로 찾아보려면 저장해 두어야 합니다. 계측값 하나가 시각, 설비, 태그 이름, 값으로 이루어진 한 행에 들어갑니다. 가운데 행의 55.71이 경보가 발생한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사람에게 보여 주는 자리는 Layer 6, 관제입니다. 화면은 두 가지입니다. 운전 화면은 OT에서 브로커를 직접 구독해 현재 데이터를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유온에 대해 세 곳이 서로 다른 기준으로 반응합니다. 55 ℃에서 감지 서비스의 경보가 가장 먼저 울리고, 60 ℃에서는 운전 화면의 알람이, 65 ℃에서는 PLC의 인터록이 반응합니다. 경보와 알람은 상황을 알리고, 인터록은 설비를 세웁니다. 인터록은 사람이 다시 걸어야 풀리므로, 55 ℃에서 먼저 울리는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발생한 뒤의 일은 Layer 7부터 9까지, 즉 지식과 에이전트와 프로세스가 맡습니다. 에이전트는 지식과 데이터를 조회해 원인을 판단하고 조치안을 추천하지만, 설비에 명령을 보낼 수단은 없습니다. 담당자는 추천과 근거를 보고 승인하거나 거절합니다. 프로세스 엔진은 승인된 조치만 명령으로 만들어 내려보냅니다. 설비를 멈추거나 움직이는 결정에는 책임이 따르기 때문에 사람을 거치게 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명령이 내려가는 경로입니다. 프로세스 엔진은 승인된 조치를 명령으로 만들어 이벤트 로그에 기록합니다. DMZ의 명령 관문은 그 명령을 읽어 검사하고, 검사를 통과한 명령만 OT의 브로커로 내보냅니다. PLC는 받은 명령을 다시 검사한 뒤 설정값을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모습입니다. 할 일은 팬 속도를 100 %로 올리는 것입니다. 승인한 사람이 함께 적혀 있어 누가 책임지는지 기록으로 남습니다. 유효 시간이 지난 명령은 버려지므로, 상황이 달라진 뒤에 뒤늦게 실행되는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확인하는 내용이 달라 검사를 두 번 합니다. 먼저 왼쪽의 명령 관문은 명령의 형식, 유효 시간, 승인 기록, 운전 모드를 봅니다. 다음으로 오른쪽의 PLC는 설정값이 범위 안에 있는지, 현재 인터록에 걸려 있지 않은지를 확인한 뒤 설정값을 바꾸고 결과를 돌려보냅니다. 명령서에 문제가 없어도 현재 설비가 명령을 받을 수 없는 상태이면 PLC가 거부합니다.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명령이 내려가는 데 걸린 시간입니다. 승인은 11시 14분 56초, 명령은 57초, 응답은 58초입니다. 관문과 PLC의 명령 검사도 이 사이에 끝났습니다. 검사를 두 번 거쳐도 명령이 내려가는 과정이 조치를 늦추지는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계층을 지나며 데이터가 어떻게 바뀌어 왔는지를 한 줄로 펼쳐 놓은 것이 데이터 리니지입니다. 센서와 PLC가 만든 원천 데이터는 가공 데이터가 되고, 조건이 성립하면 이상 이벤트가 되며, 이를 바탕으로 판단 결과가 나옵니다. 설비를 움직인 판단이 어떤 계측값에서 나왔는지 거꾸로 되짚을 수 있어야 그 판단을 믿을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예를 하나 보겠습니다. 위쪽은 센서가 잰 유온 계측값이고, 아래쪽은 그 계측값으로 계산한 기울기입니다. 기울기가 0보다 크면 유온이 오르고 있다는 뜻이며, 앞에서 본 경보 조건의 세 번째 항목이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경보에서 나온 것인지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거쳐 온 자리를 한 장에 모았습니다. 아래에서부터 Layer 1의 설비와 제어기, Layer 2의 엣지 게이트웨이와 브로커, Layer 3의 이벤트 로그, Layer 4의 스트림 처리, Layer 5의 시계열 저장소, Layer 6의 두 화면까지 올라왔습니다. 계층은 하는 일에 따라 나눈 것이고, 오른쪽의 세 칸은 놓인 망에 따라 나눈 보안 영역입니다. 파란 점은 각 계층이 놓인 영역을 나타냅니다.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6까지는 데이터를 모으고 이상을 알릴 뿐 원인을 판단하지는 않습니다. 경보 이후의 일은 위의 세 계층이 맡습니다. Layer 7은 증상과 원인, 조치의 관계를 지식으로 보관하고, Layer 8의 에이전트는 그 지식과 데이터를 조회해 조치를 추천하며, Layer 9의 프로세스 엔진은 승인을 받아 실행합니다. 이 수업에서는 앞으로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마무리하겠습니다. 설비 옆의 통신에는 암호화와 인증이 없습니다. 정해진 시간을 지키기 위해 단순하게 둔 것이며, 대신 구조가 설비를 지킵니다. 데이터는 수집 서비스를 거쳐 위로만 올라가고, 명령은 사람의 승인, 명령 관문의 검사, PLC의 검사를 모두 거친 것만 내려옵니다.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 각 단계가 어떻게 만들어지는지는 이어지는 회차에서 하나씩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모자랐던 것을 세 낱말로 나누어, 같은 사건의 문장 다섯 개로 보겠습니다.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같은 증상을 두고 누구는 온도 상승이라고 하고 누구는 과열이라고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시계열 저장소에서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그림에서 본 노드의 종류와 화살표가 온톨로지가 정의하는 네 가지 가운데 종류와 관계입니다. 여기에 속성과 제약이 더해집니다. 먼저 종류와 속성입니다. HYD의 온톨로지는 설비 쪽, 진단 쪽, 조치 쪽으로 종류를 두고, 유온이라는 대상에는 단위와 정상값과 한계가 속성으로 적혀 있습니다. 관계는 이름이 다르면 뜻이 달라서, 같은 고장 유형에서 조치로 가는 선이라도 MITIGATED_BY는 우선 완화하고 REMEDIED_BY는 근본적으로 없앱니다.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풀어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image" Target="../media/image15.png"/><Relationship Id="rId6"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9.png"/><Relationship Id="rId4" Type="http://schemas.openxmlformats.org/officeDocument/2006/relationships/image" Target="../media/image10.png"/><Relationship Id="rId5"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8.png"/><Relationship Id="rId4" Type="http://schemas.openxmlformats.org/officeDocument/2006/relationships/image" Target="../media/image24.png"/><Relationship Id="rId5" Type="http://schemas.openxmlformats.org/officeDocument/2006/relationships/image" Target="../media/image2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1.png"/><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2.png"/><Relationship Id="rId4" Type="http://schemas.openxmlformats.org/officeDocument/2006/relationships/image" Target="../media/image3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0.png"/><Relationship Id="rId4" Type="http://schemas.openxmlformats.org/officeDocument/2006/relationships/image" Target="../media/image4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8.png"/><Relationship Id="rId4" Type="http://schemas.openxmlformats.org/officeDocument/2006/relationships/image" Target="../media/image42.png"/><Relationship Id="rId5" Type="http://schemas.openxmlformats.org/officeDocument/2006/relationships/image" Target="../media/image4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6.png"/><Relationship Id="rId4" Type="http://schemas.openxmlformats.org/officeDocument/2006/relationships/image" Target="../media/image37.png"/><Relationship Id="rId5" Type="http://schemas.openxmlformats.org/officeDocument/2006/relationships/image" Target="../media/image43.png"/><Relationship Id="rId6" Type="http://schemas.openxmlformats.org/officeDocument/2006/relationships/image" Target="../media/image32.png"/><Relationship Id="rId7"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5.png"/><Relationship Id="rId4" Type="http://schemas.openxmlformats.org/officeDocument/2006/relationships/image" Target="../media/image35.png"/><Relationship Id="rId5" Type="http://schemas.openxmlformats.org/officeDocument/2006/relationships/image" Target="../media/image4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4.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4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50.png"/><Relationship Id="rId4" Type="http://schemas.openxmlformats.org/officeDocument/2006/relationships/image" Target="../media/image47.png"/><Relationship Id="rId5" Type="http://schemas.openxmlformats.org/officeDocument/2006/relationships/image" Target="../media/image44.png"/><Relationship Id="rId6" Type="http://schemas.openxmlformats.org/officeDocument/2006/relationships/image" Target="../media/image35.png"/><Relationship Id="rId7" Type="http://schemas.openxmlformats.org/officeDocument/2006/relationships/image" Target="../media/image5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0.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5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4.png"/><Relationship Id="rId4" Type="http://schemas.openxmlformats.org/officeDocument/2006/relationships/image" Target="../media/image50.png"/><Relationship Id="rId5" Type="http://schemas.openxmlformats.org/officeDocument/2006/relationships/image" Target="../media/image60.png"/><Relationship Id="rId6" Type="http://schemas.openxmlformats.org/officeDocument/2006/relationships/image" Target="../media/image4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6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24.png"/><Relationship Id="rId4" Type="http://schemas.openxmlformats.org/officeDocument/2006/relationships/image" Target="../media/image62.png"/><Relationship Id="rId5" Type="http://schemas.openxmlformats.org/officeDocument/2006/relationships/image" Target="../media/image6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5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8.png"/><Relationship Id="rId4" Type="http://schemas.openxmlformats.org/officeDocument/2006/relationships/image" Target="../media/image6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6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69.png"/><Relationship Id="rId4" Type="http://schemas.openxmlformats.org/officeDocument/2006/relationships/image" Target="../media/image67.png"/><Relationship Id="rId5" Type="http://schemas.openxmlformats.org/officeDocument/2006/relationships/image" Target="../media/image34.png"/><Relationship Id="rId6" Type="http://schemas.openxmlformats.org/officeDocument/2006/relationships/image" Target="../media/image58.png"/><Relationship Id="rId7" Type="http://schemas.openxmlformats.org/officeDocument/2006/relationships/image" Target="../media/image4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4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72.png"/><Relationship Id="rId4" Type="http://schemas.openxmlformats.org/officeDocument/2006/relationships/image" Target="../media/image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70.png"/><Relationship Id="rId4" Type="http://schemas.openxmlformats.org/officeDocument/2006/relationships/image" Target="../media/image25.png"/><Relationship Id="rId5" Type="http://schemas.openxmlformats.org/officeDocument/2006/relationships/image" Target="../media/image7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28.png"/><Relationship Id="rId4" Type="http://schemas.openxmlformats.org/officeDocument/2006/relationships/image" Target="../media/image66.png"/><Relationship Id="rId5" Type="http://schemas.openxmlformats.org/officeDocument/2006/relationships/image" Target="../media/image2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10.png"/><Relationship Id="rId4" Type="http://schemas.openxmlformats.org/officeDocument/2006/relationships/image" Target="../media/image22.png"/><Relationship Id="rId5" Type="http://schemas.openxmlformats.org/officeDocument/2006/relationships/image" Target="../media/image7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4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8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8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8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8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8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85.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50.png"/><Relationship Id="rId4" Type="http://schemas.openxmlformats.org/officeDocument/2006/relationships/image" Target="../media/image86.png"/><Relationship Id="rId5" Type="http://schemas.openxmlformats.org/officeDocument/2006/relationships/image" Target="../media/image8.png"/><Relationship Id="rId6" Type="http://schemas.openxmlformats.org/officeDocument/2006/relationships/image" Target="../media/image87.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76.png"/><Relationship Id="rId4" Type="http://schemas.openxmlformats.org/officeDocument/2006/relationships/image" Target="../media/image34.png"/><Relationship Id="rId5" Type="http://schemas.openxmlformats.org/officeDocument/2006/relationships/image" Target="../media/image88.png"/><Relationship Id="rId6" Type="http://schemas.openxmlformats.org/officeDocument/2006/relationships/image" Target="../media/image4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데이터에서 판단과 조치까지,</a:t>
            </a:r>
          </a:p>
          <a:p>
            <a:pPr algn="l">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배운 것을 자산으로 남기는 법을 익히고, HYD 시스템의 구조와 흐름을 살펴보며 온톨로지가 바탕이 되는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66556"/>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20175"/>
            <a:ext cx="424281" cy="424281"/>
          </a:xfrm>
          <a:prstGeom prst="rect">
            <a:avLst/>
          </a:prstGeom>
        </p:spPr>
      </p:pic>
      <p:sp>
        <p:nvSpPr>
          <p:cNvPr id="9" name="TextBox 8"/>
          <p:cNvSpPr txBox="1"/>
          <p:nvPr/>
        </p:nvSpPr>
        <p:spPr>
          <a:xfrm>
            <a:off x="713232"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87555"/>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8755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66556"/>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20175"/>
            <a:ext cx="424281" cy="424281"/>
          </a:xfrm>
          <a:prstGeom prst="rect">
            <a:avLst/>
          </a:prstGeom>
        </p:spPr>
      </p:pic>
      <p:sp>
        <p:nvSpPr>
          <p:cNvPr id="15" name="TextBox 14"/>
          <p:cNvSpPr txBox="1"/>
          <p:nvPr/>
        </p:nvSpPr>
        <p:spPr>
          <a:xfrm>
            <a:off x="3555415"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 아키텍처와 계층</a:t>
            </a:r>
          </a:p>
          <a:p>
            <a:pPr algn="l">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 시스템의 구조를 계층별로 이해한다</a:t>
            </a:r>
          </a:p>
          <a:p>
            <a:pPr algn="l">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87555"/>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87555"/>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66556"/>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20175"/>
            <a:ext cx="424281" cy="424281"/>
          </a:xfrm>
          <a:prstGeom prst="rect">
            <a:avLst/>
          </a:prstGeom>
        </p:spPr>
      </p:pic>
      <p:sp>
        <p:nvSpPr>
          <p:cNvPr id="21" name="TextBox 20"/>
          <p:cNvSpPr txBox="1"/>
          <p:nvPr/>
        </p:nvSpPr>
        <p:spPr>
          <a:xfrm>
            <a:off x="6397599"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실행</a:t>
            </a:r>
          </a:p>
          <a:p>
            <a:pPr algn="l">
              <a:lnSpc>
                <a:spcPct val="110000"/>
              </a:lnSpc>
              <a:spcAft>
                <a:spcPts val="400"/>
              </a:spcAft>
            </a:pPr>
            <a:r>
              <a:rPr sz="1350" b="0">
                <a:solidFill>
                  <a:srgbClr val="1F2A3A"/>
                </a:solidFill>
                <a:latin typeface="맑은 고딕"/>
                <a:ea typeface="맑은 고딕"/>
                <a:cs typeface="맑은 고딕"/>
              </a:rPr>
              <a:t>• 실행 환경을 갖추고 설비 이상 한 건을 실제로 처리해 본다</a:t>
            </a:r>
          </a:p>
          <a:p>
            <a:pPr algn="l">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87555"/>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8755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1965388"/>
            <a:ext cx="2567863" cy="40519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66556"/>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20175"/>
            <a:ext cx="424281" cy="424281"/>
          </a:xfrm>
          <a:prstGeom prst="rect">
            <a:avLst/>
          </a:prstGeom>
        </p:spPr>
      </p:pic>
      <p:sp>
        <p:nvSpPr>
          <p:cNvPr id="27" name="TextBox 26"/>
          <p:cNvSpPr txBox="1"/>
          <p:nvPr/>
        </p:nvSpPr>
        <p:spPr>
          <a:xfrm>
            <a:off x="9239783"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온톨로지의 필요성</a:t>
            </a:r>
          </a:p>
          <a:p>
            <a:pPr algn="l">
              <a:lnSpc>
                <a:spcPct val="110000"/>
              </a:lnSpc>
              <a:spcAft>
                <a:spcPts val="400"/>
              </a:spcAft>
            </a:pPr>
            <a:r>
              <a:rPr sz="1350" b="0">
                <a:solidFill>
                  <a:srgbClr val="1F2A3A"/>
                </a:solidFill>
                <a:latin typeface="맑은 고딕"/>
                <a:ea typeface="맑은 고딕"/>
                <a:cs typeface="맑은 고딕"/>
              </a:rPr>
              <a:t>• 이 시스템이 원인을 가려내고 조치를 고르려면 왜 온톨로지가 바탕이 되어야 하는지 설명한다</a:t>
            </a:r>
          </a:p>
          <a:p>
            <a:pPr algn="l">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87555"/>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8755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자료를 넘겨 만든 문서는 읽기 좋아졌을 뿐인데도, 그 내용을 내가 안다고 착각하게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a:lnSpc>
                <a:spcPct val="110000"/>
              </a:lnSpc>
              <a:spcAft>
                <a:spcPts val="600"/>
              </a:spcAft>
            </a:pPr>
            <a:r>
              <a:rPr sz="1450" b="0">
                <a:solidFill>
                  <a:srgbClr val="1F2A3A"/>
                </a:solidFill>
                <a:latin typeface="맑은 고딕"/>
                <a:ea typeface="맑은 고딕"/>
                <a:cs typeface="맑은 고딕"/>
              </a:rPr>
              <a:t>• 읽기 쉬운 형태로 바뀔 뿐이다</a:t>
            </a:r>
          </a:p>
          <a:p>
            <a:pPr algn="l">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09600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덮고 이해한 만큼 형식에 얽매이지 않고 써 본다</a:t>
            </a:r>
          </a:p>
          <a:p>
            <a:pPr algn="l">
              <a:lnSpc>
                <a:spcPct val="110000"/>
              </a:lnSpc>
              <a:spcAft>
                <a:spcPts val="600"/>
              </a:spcAft>
            </a:pPr>
            <a:r>
              <a:rPr sz="1450" b="0">
                <a:solidFill>
                  <a:srgbClr val="1F2A3A"/>
                </a:solidFill>
                <a:latin typeface="맑은 고딕"/>
                <a:ea typeface="맑은 고딕"/>
                <a:cs typeface="맑은 고딕"/>
              </a:rPr>
              <a:t>• 쓰다가 막히는 곳에서 모르는 부분이 드러난다</a:t>
            </a:r>
          </a:p>
          <a:p>
            <a:pPr algn="l">
              <a:lnSpc>
                <a:spcPct val="110000"/>
              </a:lnSpc>
              <a:spcAft>
                <a:spcPts val="600"/>
              </a:spcAft>
            </a:pPr>
            <a:r>
              <a:rPr sz="14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096002"/>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4173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백지에 넓게 먼저 써 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처음에는 깊이 파고들기보다 아는 내용을 폭넓게 써 보면, 틀리거나 막히는 곳이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틀린 곳</a:t>
            </a:r>
          </a:p>
          <a:p>
            <a:pPr algn="l">
              <a:lnSpc>
                <a:spcPct val="110000"/>
              </a:lnSpc>
              <a:spcAft>
                <a:spcPts val="400"/>
              </a:spcAft>
            </a:pPr>
            <a:r>
              <a:rPr sz="1400" b="0">
                <a:solidFill>
                  <a:srgbClr val="1F2A3A"/>
                </a:solidFill>
                <a:latin typeface="맑은 고딕"/>
                <a:ea typeface="맑은 고딕"/>
                <a:cs typeface="맑은 고딕"/>
              </a:rPr>
              <a:t>사실과 다르게 쓴 문장</a:t>
            </a:r>
          </a:p>
        </p:txBody>
      </p:sp>
      <p:sp>
        <p:nvSpPr>
          <p:cNvPr id="10" name="Rounded Rectangle 9"/>
          <p:cNvSpPr/>
          <p:nvPr/>
        </p:nvSpPr>
        <p:spPr>
          <a:xfrm>
            <a:off x="777240" y="4932934"/>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잘못 알고 있는 것</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횡설수설한 곳</a:t>
            </a:r>
          </a:p>
          <a:p>
            <a:pPr algn="l">
              <a:lnSpc>
                <a:spcPct val="110000"/>
              </a:lnSpc>
              <a:spcAft>
                <a:spcPts val="400"/>
              </a:spcAft>
            </a:pPr>
            <a:r>
              <a:rPr sz="1400" b="0">
                <a:solidFill>
                  <a:srgbClr val="1F2A3A"/>
                </a:solidFill>
                <a:latin typeface="맑은 고딕"/>
                <a:ea typeface="맑은 고딕"/>
                <a:cs typeface="맑은 고딕"/>
              </a:rPr>
              <a:t>말은 이어지지만 뜻이 분명하지 않은 문장</a:t>
            </a:r>
          </a:p>
        </p:txBody>
      </p:sp>
      <p:sp>
        <p:nvSpPr>
          <p:cNvPr id="16" name="Rounded Rectangle 15"/>
          <p:cNvSpPr/>
          <p:nvPr/>
        </p:nvSpPr>
        <p:spPr>
          <a:xfrm>
            <a:off x="4566818" y="493293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곳</a:t>
            </a:r>
          </a:p>
          <a:p>
            <a:pPr algn="l">
              <a:lnSpc>
                <a:spcPct val="110000"/>
              </a:lnSpc>
              <a:spcAft>
                <a:spcPts val="400"/>
              </a:spcAft>
            </a:pPr>
            <a:r>
              <a:rPr sz="1400" b="0">
                <a:solidFill>
                  <a:srgbClr val="1F2A3A"/>
                </a:solidFill>
                <a:latin typeface="맑은 고딕"/>
                <a:ea typeface="맑은 고딕"/>
                <a:cs typeface="맑은 고딕"/>
              </a:rPr>
              <a:t>더 쓰지 못하고 멈춘 자리</a:t>
            </a:r>
          </a:p>
        </p:txBody>
      </p:sp>
      <p:sp>
        <p:nvSpPr>
          <p:cNvPr id="22" name="Rounded Rectangle 21"/>
          <p:cNvSpPr/>
          <p:nvPr/>
        </p:nvSpPr>
        <p:spPr>
          <a:xfrm>
            <a:off x="8356396" y="493293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너비를 먼저 고치고, 깊이는 그다음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넓게 쓴 글에서 틀린 곳과 흐릿한 곳을 먼저 바로잡아 전체의 줄기를 맞춘 뒤, 막힌 곳을 하나씩 깊게 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arrows-horizontal" descr="arrows-horizontal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먼저 너비</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넓게 쓴 글을 다시 읽는다</a:t>
            </a:r>
          </a:p>
          <a:p>
            <a:pPr algn="l">
              <a:lnSpc>
                <a:spcPct val="110000"/>
              </a:lnSpc>
              <a:spcAft>
                <a:spcPts val="600"/>
              </a:spcAft>
            </a:pPr>
            <a:r>
              <a:rPr sz="1450" b="0">
                <a:solidFill>
                  <a:srgbClr val="1F2A3A"/>
                </a:solidFill>
                <a:latin typeface="맑은 고딕"/>
                <a:ea typeface="맑은 고딕"/>
                <a:cs typeface="맑은 고딕"/>
              </a:rPr>
              <a:t>• 틀린 곳과 횡설수설한 곳을 바로잡는다</a:t>
            </a:r>
          </a:p>
          <a:p>
            <a:pPr algn="l">
              <a:lnSpc>
                <a:spcPct val="110000"/>
              </a:lnSpc>
              <a:spcAft>
                <a:spcPts val="600"/>
              </a:spcAft>
            </a:pPr>
            <a:r>
              <a:rPr sz="1450" b="0">
                <a:solidFill>
                  <a:srgbClr val="1F2A3A"/>
                </a:solidFill>
                <a:latin typeface="맑은 고딕"/>
                <a:ea typeface="맑은 고딕"/>
                <a:cs typeface="맑은 고딕"/>
              </a:rPr>
              <a:t>• 전체의 줄기가 맞을 때까지 고쳐 쓴다</a:t>
            </a:r>
          </a:p>
        </p:txBody>
      </p:sp>
      <p:sp>
        <p:nvSpPr>
          <p:cNvPr id="11" name="Rounded Rectangle 10"/>
          <p:cNvSpPr/>
          <p:nvPr/>
        </p:nvSpPr>
        <p:spPr>
          <a:xfrm>
            <a:off x="868680" y="4945570"/>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전체를 맞춘다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rrow-down" descr="arrow-down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그다음 깊이</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곳 가운데 하나를 고른다</a:t>
            </a:r>
          </a:p>
          <a:p>
            <a:pPr algn="l">
              <a:lnSpc>
                <a:spcPct val="110000"/>
              </a:lnSpc>
              <a:spcAft>
                <a:spcPts val="600"/>
              </a:spcAft>
            </a:pPr>
            <a:r>
              <a:rPr sz="1450" b="0">
                <a:solidFill>
                  <a:srgbClr val="1F2A3A"/>
                </a:solidFill>
                <a:latin typeface="맑은 고딕"/>
                <a:ea typeface="맑은 고딕"/>
                <a:cs typeface="맑은 고딕"/>
              </a:rPr>
              <a:t>• 그 용어를 바닥까지 파고든다</a:t>
            </a:r>
          </a:p>
          <a:p>
            <a:pPr algn="l">
              <a:lnSpc>
                <a:spcPct val="110000"/>
              </a:lnSpc>
              <a:spcAft>
                <a:spcPts val="600"/>
              </a:spcAft>
            </a:pPr>
            <a:r>
              <a:rPr sz="1450" b="0">
                <a:solidFill>
                  <a:srgbClr val="1F2A3A"/>
                </a:solidFill>
                <a:latin typeface="맑은 고딕"/>
                <a:ea typeface="맑은 고딕"/>
                <a:cs typeface="맑은 고딕"/>
              </a:rPr>
              <a:t>• 이해한 것을 다시 전체에 이어 붙인다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하나씩 판다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모르는 말은 뜻을 계속 물으며 바닥까지 내려간 뒤, 다시 올라오며 차곡차곡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막힌 용어</a:t>
            </a:r>
          </a:p>
          <a:p>
            <a:pPr algn="ctr">
              <a:lnSpc>
                <a:spcPct val="110000"/>
              </a:lnSpc>
              <a:spcAft>
                <a:spcPts val="400"/>
              </a:spcAft>
            </a:pPr>
            <a:r>
              <a:rPr sz="1350" b="0">
                <a:solidFill>
                  <a:srgbClr val="1F2A3A"/>
                </a:solidFill>
                <a:latin typeface="맑은 고딕"/>
                <a:ea typeface="맑은 고딕"/>
                <a:cs typeface="맑은 고딕"/>
              </a:rPr>
              <a:t>공부할 범위에서</a:t>
            </a:r>
          </a:p>
          <a:p>
            <a:pPr algn="ctr">
              <a:lnSpc>
                <a:spcPct val="110000"/>
              </a:lnSpc>
              <a:spcAft>
                <a:spcPts val="400"/>
              </a:spcAft>
            </a:pPr>
            <a:r>
              <a:rPr sz="1350" b="0">
                <a:solidFill>
                  <a:srgbClr val="1F2A3A"/>
                </a:solidFill>
                <a:latin typeface="맑은 고딕"/>
                <a:ea typeface="맑은 고딕"/>
                <a:cs typeface="맑은 고딕"/>
              </a:rPr>
              <a:t>모르는 용어를</a:t>
            </a:r>
          </a:p>
          <a:p>
            <a:pPr algn="ctr">
              <a:lnSpc>
                <a:spcPct val="110000"/>
              </a:lnSpc>
              <a:spcAft>
                <a:spcPts val="400"/>
              </a:spcAft>
            </a:pPr>
            <a:r>
              <a:rPr sz="135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뜻을 묻는다</a:t>
            </a:r>
          </a:p>
          <a:p>
            <a:pPr algn="ctr">
              <a:lnSpc>
                <a:spcPct val="110000"/>
              </a:lnSpc>
              <a:spcAft>
                <a:spcPts val="400"/>
              </a:spcAft>
            </a:pPr>
            <a:r>
              <a:rPr sz="1350" b="0">
                <a:solidFill>
                  <a:srgbClr val="1F2A3A"/>
                </a:solidFill>
                <a:latin typeface="맑은 고딕"/>
                <a:ea typeface="맑은 고딕"/>
                <a:cs typeface="맑은 고딕"/>
              </a:rPr>
              <a:t>그 용어가</a:t>
            </a:r>
          </a:p>
          <a:p>
            <a:pPr algn="ctr">
              <a:lnSpc>
                <a:spcPct val="110000"/>
              </a:lnSpc>
              <a:spcAft>
                <a:spcPts val="400"/>
              </a:spcAft>
            </a:pPr>
            <a:r>
              <a:rPr sz="1350" b="0">
                <a:solidFill>
                  <a:srgbClr val="1F2A3A"/>
                </a:solidFill>
                <a:latin typeface="맑은 고딕"/>
                <a:ea typeface="맑은 고딕"/>
                <a:cs typeface="맑은 고딕"/>
              </a:rPr>
              <a:t>무엇을 뜻하는지</a:t>
            </a:r>
          </a:p>
          <a:p>
            <a:pPr algn="ctr">
              <a:lnSpc>
                <a:spcPct val="110000"/>
              </a:lnSpc>
              <a:spcAft>
                <a:spcPts val="400"/>
              </a:spcAft>
            </a:pPr>
            <a:r>
              <a:rPr sz="135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계속 내려간다</a:t>
            </a:r>
          </a:p>
          <a:p>
            <a:pPr algn="ctr">
              <a:lnSpc>
                <a:spcPct val="110000"/>
              </a:lnSpc>
              <a:spcAft>
                <a:spcPts val="400"/>
              </a:spcAft>
            </a:pPr>
            <a:r>
              <a:rPr sz="1350" b="0">
                <a:solidFill>
                  <a:srgbClr val="1F2A3A"/>
                </a:solidFill>
                <a:latin typeface="맑은 고딕"/>
                <a:ea typeface="맑은 고딕"/>
                <a:cs typeface="맑은 고딕"/>
              </a:rPr>
              <a:t>설명 속에 또 모르는 말이</a:t>
            </a:r>
          </a:p>
          <a:p>
            <a:pPr algn="ctr">
              <a:lnSpc>
                <a:spcPct val="110000"/>
              </a:lnSpc>
              <a:spcAft>
                <a:spcPts val="400"/>
              </a:spcAft>
            </a:pPr>
            <a:r>
              <a:rPr sz="1350" b="0">
                <a:solidFill>
                  <a:srgbClr val="1F2A3A"/>
                </a:solidFill>
                <a:latin typeface="맑은 고딕"/>
                <a:ea typeface="맑은 고딕"/>
                <a:cs typeface="맑은 고딕"/>
              </a:rPr>
              <a:t>있으면 다시 묻는다</a:t>
            </a:r>
          </a:p>
          <a:p>
            <a:pPr algn="ctr">
              <a:lnSpc>
                <a:spcPct val="110000"/>
              </a:lnSpc>
              <a:spcAft>
                <a:spcPts val="400"/>
              </a:spcAft>
            </a:pPr>
            <a:r>
              <a:rPr sz="1350" b="0">
                <a:solidFill>
                  <a:srgbClr val="1F2A3A"/>
                </a:solidFill>
                <a:latin typeface="맑은 고딕"/>
                <a:ea typeface="맑은 고딕"/>
                <a:cs typeface="맑은 고딕"/>
              </a:rPr>
              <a:t>초등학생에게 설명하듯</a:t>
            </a:r>
          </a:p>
          <a:p>
            <a:pPr algn="ctr">
              <a:lnSpc>
                <a:spcPct val="110000"/>
              </a:lnSpc>
              <a:spcAft>
                <a:spcPts val="400"/>
              </a:spcAft>
            </a:pPr>
            <a:r>
              <a:rPr sz="135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올라온다</a:t>
            </a:r>
          </a:p>
          <a:p>
            <a:pPr algn="ctr">
              <a:lnSpc>
                <a:spcPct val="110000"/>
              </a:lnSpc>
              <a:spcAft>
                <a:spcPts val="400"/>
              </a:spcAft>
            </a:pPr>
            <a:r>
              <a:rPr sz="1350" b="0">
                <a:solidFill>
                  <a:srgbClr val="1F2A3A"/>
                </a:solidFill>
                <a:latin typeface="맑은 고딕"/>
                <a:ea typeface="맑은 고딕"/>
                <a:cs typeface="맑은 고딕"/>
              </a:rPr>
              <a:t>바닥에서부터</a:t>
            </a:r>
          </a:p>
          <a:p>
            <a:pPr algn="ctr">
              <a:lnSpc>
                <a:spcPct val="110000"/>
              </a:lnSpc>
              <a:spcAft>
                <a:spcPts val="400"/>
              </a:spcAft>
            </a:pPr>
            <a:r>
              <a:rPr sz="1350" b="0">
                <a:solidFill>
                  <a:srgbClr val="1F2A3A"/>
                </a:solidFill>
                <a:latin typeface="맑은 고딕"/>
                <a:ea typeface="맑은 고딕"/>
                <a:cs typeface="맑은 고딕"/>
              </a:rPr>
              <a:t>하나씩 이어 붙이며</a:t>
            </a:r>
          </a:p>
          <a:p>
            <a:pPr algn="ctr">
              <a:lnSpc>
                <a:spcPct val="110000"/>
              </a:lnSpc>
              <a:spcAft>
                <a:spcPts val="400"/>
              </a:spcAft>
            </a:pPr>
            <a:r>
              <a:rPr sz="1350" b="0">
                <a:solidFill>
                  <a:srgbClr val="1F2A3A"/>
                </a:solidFill>
                <a:latin typeface="맑은 고딕"/>
                <a:ea typeface="맑은 고딕"/>
                <a:cs typeface="맑은 고딕"/>
              </a:rPr>
              <a:t>처음의 용어로</a:t>
            </a:r>
          </a:p>
          <a:p>
            <a:pPr algn="ctr">
              <a:lnSpc>
                <a:spcPct val="110000"/>
              </a:lnSpc>
              <a:spcAft>
                <a:spcPts val="400"/>
              </a:spcAft>
            </a:pPr>
            <a:r>
              <a:rPr sz="1350" b="0">
                <a:solidFill>
                  <a:srgbClr val="1F2A3A"/>
                </a:solidFill>
                <a:latin typeface="맑은 고딕"/>
                <a:ea typeface="맑은 고딕"/>
                <a:cs typeface="맑은 고딕"/>
              </a:rPr>
              <a:t>돌아온다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정의를 외우지 않고 뜻을 내 말로 옮긴다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원리에서 벗어나지 않는다면 정의를 그대로 외울 필요 없이, 같은 뜻의 쉬운 말로 이해하면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문장은 기억하지만 다른 말로 물으면 답하지 못한다</a:t>
            </a:r>
          </a:p>
          <a:p>
            <a:pPr algn="l">
              <a:lnSpc>
                <a:spcPct val="110000"/>
              </a:lnSpc>
              <a:spcAft>
                <a:spcPts val="600"/>
              </a:spcAft>
            </a:pPr>
            <a:r>
              <a:rPr sz="1450" b="0">
                <a:solidFill>
                  <a:srgbClr val="1F2A3A"/>
                </a:solidFill>
                <a:latin typeface="맑은 고딕"/>
                <a:ea typeface="맑은 고딕"/>
                <a:cs typeface="맑은 고딕"/>
              </a:rPr>
              <a:t>• 외운 문장을 벗어나면 설명하지 못한다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message-dots" descr="message-dots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뜻을 내 말로 옮긴다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원리는 그대로 두고 표현만 쉽게 바꾼다</a:t>
            </a:r>
          </a:p>
          <a:p>
            <a:pPr algn="l">
              <a:lnSpc>
                <a:spcPct val="110000"/>
              </a:lnSpc>
              <a:spcAft>
                <a:spcPts val="600"/>
              </a:spcAft>
            </a:pPr>
            <a:r>
              <a:rPr sz="1450" b="0">
                <a:solidFill>
                  <a:srgbClr val="1F2A3A"/>
                </a:solidFill>
                <a:latin typeface="맑은 고딕"/>
                <a:ea typeface="맑은 고딕"/>
                <a:cs typeface="맑은 고딕"/>
              </a:rPr>
              <a:t>• 다른 말로 물어도 답할 수 있다</a:t>
            </a:r>
          </a:p>
          <a:p>
            <a:pPr algn="l">
              <a:lnSpc>
                <a:spcPct val="110000"/>
              </a:lnSpc>
              <a:spcAft>
                <a:spcPts val="600"/>
              </a:spcAft>
            </a:pPr>
            <a:r>
              <a:rPr sz="1450" b="0">
                <a:solidFill>
                  <a:srgbClr val="1F2A3A"/>
                </a:solidFill>
                <a:latin typeface="맑은 고딕"/>
                <a:ea typeface="맑은 고딕"/>
                <a:cs typeface="맑은 고딕"/>
              </a:rPr>
              <a:t>• 다른 사람에게 설명할 수 있다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이해한 뜻</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배운 것을 이 방법으로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앞으로 배우는 내용을 이 방법으로 써서 개인 학습노트에 쌓아 가면, 그렇게 쌓인 기록이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내가 쓰고, 이해하고, 내 말로 옮긴 것이 자산이 된다</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chool" descr="school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배운다</a:t>
            </a:r>
          </a:p>
          <a:p>
            <a:pPr algn="l">
              <a:lnSpc>
                <a:spcPct val="110000"/>
              </a:lnSpc>
              <a:spcAft>
                <a:spcPts val="400"/>
              </a:spcAft>
            </a:pPr>
            <a:r>
              <a:rPr sz="1400" b="0">
                <a:solidFill>
                  <a:srgbClr val="1F2A3A"/>
                </a:solidFill>
                <a:latin typeface="맑은 고딕"/>
                <a:ea typeface="맑은 고딕"/>
                <a:cs typeface="맑은 고딕"/>
              </a:rPr>
              <a:t>회차마다 새로운 개념을 만난다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pencil" descr="penci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내 말로 쓴다</a:t>
            </a:r>
          </a:p>
          <a:p>
            <a:pPr algn="l">
              <a:lnSpc>
                <a:spcPct val="110000"/>
              </a:lnSpc>
              <a:spcAft>
                <a:spcPts val="400"/>
              </a:spcAft>
            </a:pPr>
            <a:r>
              <a:rPr sz="1400" b="0">
                <a:solidFill>
                  <a:srgbClr val="1F2A3A"/>
                </a:solidFill>
                <a:latin typeface="맑은 고딕"/>
                <a:ea typeface="맑은 고딕"/>
                <a:cs typeface="맑은 고딕"/>
              </a:rPr>
              <a:t>넓게 쓰고 고친 뒤 깊게 판다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notebook" descr="notebook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학습노트에 쌓는다</a:t>
            </a:r>
          </a:p>
          <a:p>
            <a:pPr algn="l">
              <a:lnSpc>
                <a:spcPct val="110000"/>
              </a:lnSpc>
              <a:spcAft>
                <a:spcPts val="400"/>
              </a:spcAft>
            </a:pPr>
            <a:r>
              <a:rPr sz="1400" b="0">
                <a:solidFill>
                  <a:srgbClr val="1F2A3A"/>
                </a:solidFill>
                <a:latin typeface="맑은 고딕"/>
                <a:ea typeface="맑은 고딕"/>
                <a:cs typeface="맑은 고딕"/>
              </a:rPr>
              <a:t>이어지는 실습에서 만드는 개인 학습노트에 모은다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과정 홈과 학습노트 데이터베이스를 만들고, 개념 하나를 내 말로 써서 첫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전체로 들어가는 첫 페이지이다</a:t>
            </a:r>
          </a:p>
          <a:p>
            <a:pPr algn="l">
              <a:lnSpc>
                <a:spcPct val="110000"/>
              </a:lnSpc>
              <a:spcAft>
                <a:spcPts val="400"/>
              </a:spcAft>
            </a:pPr>
            <a:r>
              <a:rPr sz="1400" b="0">
                <a:solidFill>
                  <a:srgbClr val="1F2A3A"/>
                </a:solidFill>
                <a:latin typeface="맑은 고딕"/>
                <a:ea typeface="맑은 고딕"/>
                <a:cs typeface="맑은 고딕"/>
              </a:rPr>
              <a:t>• 노트 작성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각 기록이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자리</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학습노트 데이터베이스</a:t>
            </a:r>
          </a:p>
          <a:p>
            <a:pPr algn="l">
              <a:lnSpc>
                <a:spcPct val="110000"/>
              </a:lnSpc>
              <a:spcAft>
                <a:spcPts val="400"/>
              </a:spcAft>
            </a:pPr>
            <a:r>
              <a:rPr sz="1400" b="0">
                <a:solidFill>
                  <a:srgbClr val="1F2A3A"/>
                </a:solidFill>
                <a:latin typeface="맑은 고딕"/>
                <a:ea typeface="맑은 고딕"/>
                <a:cs typeface="맑은 고딕"/>
              </a:rPr>
              <a:t>• 각 기록에 분야, 이해도, 작성일을 붙인다</a:t>
            </a:r>
          </a:p>
          <a:p>
            <a:pPr algn="l">
              <a:lnSpc>
                <a:spcPct val="110000"/>
              </a:lnSpc>
              <a:spcAft>
                <a:spcPts val="400"/>
              </a:spcAft>
            </a:pPr>
            <a:r>
              <a:rPr sz="1400" b="0">
                <a:solidFill>
                  <a:srgbClr val="1F2A3A"/>
                </a:solidFill>
                <a:latin typeface="맑은 고딕"/>
                <a:ea typeface="맑은 고딕"/>
                <a:cs typeface="맑은 고딕"/>
              </a:rPr>
              <a:t>• 이해도가 낮은 기록만 모아 다시 볼 수 있게 한다</a:t>
            </a:r>
          </a:p>
          <a:p>
            <a:pPr algn="l">
              <a:lnSpc>
                <a:spcPct val="110000"/>
              </a:lnSpc>
              <a:spcAft>
                <a:spcPts val="400"/>
              </a:spcAft>
            </a:pPr>
            <a:r>
              <a:rPr sz="1400" b="0">
                <a:solidFill>
                  <a:srgbClr val="1F2A3A"/>
                </a:solidFill>
                <a:latin typeface="맑은 고딕"/>
                <a:ea typeface="맑은 고딕"/>
                <a:cs typeface="맑은 고딕"/>
              </a:rPr>
              <a:t>• 첫 기록으로 개념 하나를 내 말로 쓴다</a:t>
            </a:r>
          </a:p>
        </p:txBody>
      </p:sp>
      <p:sp>
        <p:nvSpPr>
          <p:cNvPr id="22" name="Rounded Rectangle 21"/>
          <p:cNvSpPr/>
          <p:nvPr/>
        </p:nvSpPr>
        <p:spPr>
          <a:xfrm>
            <a:off x="8356396" y="536676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다시 보기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현장의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물리량은 센서와 PLC를 거쳐 관제 화면에 이르며, 이 단원에서는 그 데이터를 판단과 조치로 잇는 구조를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계측값으로 내놓는다</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계측값과 상태</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계측값을 읽어 설비를 제어한다</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계측값을 보여 주고 조작을 받는다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계측값마다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작동유의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설비_유압파워팩.svg" descr="illust_8618341365365324261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 · 설비 옆의 제어기: PLC와 인터록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서버의 판단을 기다리는 동안 설비가 상할 수 있어, 위험 수준에 이르면 설비 옆의 PLC가 즉시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계측값을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조건에 이르면 다른 명령보다 우선해 설비를 안전한 상태로 전환하는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현장 제어</a:t>
            </a:r>
          </a:p>
          <a:p>
            <a:pPr algn="l">
              <a:lnSpc>
                <a:spcPct val="110000"/>
              </a:lnSpc>
              <a:spcAft>
                <a:spcPts val="200"/>
              </a:spcAft>
            </a:pPr>
            <a:r>
              <a:rPr sz="1150" b="0">
                <a:solidFill>
                  <a:srgbClr val="556175"/>
                </a:solidFill>
                <a:latin typeface="맑은 고딕"/>
                <a:ea typeface="맑은 고딕"/>
                <a:cs typeface="맑은 고딕"/>
              </a:rPr>
              <a:t>실시간성</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PLC는 1초에도 수십 번씩 계측값을 읽고 판단한다.</a:t>
            </a:r>
          </a:p>
          <a:p>
            <a:pPr algn="l">
              <a:lnSpc>
                <a:spcPct val="110000"/>
              </a:lnSpc>
              <a:spcAft>
                <a:spcPts val="300"/>
              </a:spcAft>
            </a:pPr>
            <a:r>
              <a:rPr sz="1400" b="0">
                <a:solidFill>
                  <a:srgbClr val="1F2A3A"/>
                </a:solidFill>
                <a:latin typeface="맑은 고딕"/>
                <a:ea typeface="맑은 고딕"/>
                <a:cs typeface="맑은 고딕"/>
              </a:rPr>
              <a:t>서버를 오가는 데는 1초 안팎이 걸리고, 통신이 끊길 수도 있다.</a:t>
            </a:r>
          </a:p>
          <a:p>
            <a:pPr algn="l">
              <a:lnSpc>
                <a:spcPct val="110000"/>
              </a:lnSpc>
              <a:spcAft>
                <a:spcPts val="300"/>
              </a:spcAft>
            </a:pPr>
            <a:r>
              <a:rPr sz="1400" b="0">
                <a:solidFill>
                  <a:srgbClr val="1F2A3A"/>
                </a:solidFill>
                <a:latin typeface="맑은 고딕"/>
                <a:ea typeface="맑은 고딕"/>
                <a:cs typeface="맑은 고딕"/>
              </a:rPr>
              <a:t>설비를 지키는 판단은 통신과 서버를 거치지 않고 설비 옆에서 끝낸다.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손상되는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정지한다</a:t>
            </a:r>
          </a:p>
          <a:p>
            <a:pPr algn="l">
              <a:lnSpc>
                <a:spcPct val="110000"/>
              </a:lnSpc>
              <a:spcAft>
                <a:spcPts val="400"/>
              </a:spcAft>
            </a:pPr>
            <a:r>
              <a:rPr sz="1400" b="0">
                <a:solidFill>
                  <a:srgbClr val="1F2A3A"/>
                </a:solidFill>
                <a:latin typeface="맑은 고딕"/>
                <a:ea typeface="맑은 고딕"/>
                <a:cs typeface="맑은 고딕"/>
              </a:rPr>
              <a:t>• 작동유가 묽어져 설비가 마모된다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정지한다</a:t>
            </a:r>
          </a:p>
          <a:p>
            <a:pPr algn="l">
              <a:lnSpc>
                <a:spcPct val="110000"/>
              </a:lnSpc>
              <a:spcAft>
                <a:spcPts val="400"/>
              </a:spcAft>
            </a:pPr>
            <a:r>
              <a:rPr sz="1400" b="0">
                <a:solidFill>
                  <a:srgbClr val="1F2A3A"/>
                </a:solidFill>
                <a:latin typeface="맑은 고딕"/>
                <a:ea typeface="맑은 고딕"/>
                <a:cs typeface="맑은 고딕"/>
              </a:rPr>
              <a:t>• 펌프의 마모나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정지한다</a:t>
            </a:r>
          </a:p>
          <a:p>
            <a:pPr algn="l">
              <a:lnSpc>
                <a:spcPct val="110000"/>
              </a:lnSpc>
              <a:spcAft>
                <a:spcPts val="400"/>
              </a:spcAft>
            </a:pPr>
            <a:r>
              <a:rPr sz="1400" b="0">
                <a:solidFill>
                  <a:srgbClr val="1F2A3A"/>
                </a:solidFill>
                <a:latin typeface="맑은 고딕"/>
                <a:ea typeface="맑은 고딕"/>
                <a:cs typeface="맑은 고딕"/>
              </a:rPr>
              <a:t>• 그대로 돌리면 팬이 손상된다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현장 통신이 단순한 까닭: 정해진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정해진 시간 안에 도착해야 하므로 암호화와 인증을 싣지 않으며, 보안은 위 계층이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world" descr="world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사무 통신</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평균적으로 빠르면 된다</a:t>
            </a:r>
          </a:p>
          <a:p>
            <a:pPr algn="l">
              <a:lnSpc>
                <a:spcPct val="110000"/>
              </a:lnSpc>
              <a:spcAft>
                <a:spcPts val="600"/>
              </a:spcAft>
            </a:pPr>
            <a:r>
              <a:rPr sz="1450" b="0">
                <a:solidFill>
                  <a:srgbClr val="1F2A3A"/>
                </a:solidFill>
                <a:latin typeface="맑은 고딕"/>
                <a:ea typeface="맑은 고딕"/>
                <a:cs typeface="맑은 고딕"/>
              </a:rPr>
              <a:t>• 암호화와 인증으로 내용을 지킨다</a:t>
            </a:r>
          </a:p>
          <a:p>
            <a:pPr algn="l">
              <a:lnSpc>
                <a:spcPct val="110000"/>
              </a:lnSpc>
              <a:spcAft>
                <a:spcPts val="600"/>
              </a:spcAft>
            </a:pPr>
            <a:r>
              <a:rPr sz="1450" b="0">
                <a:solidFill>
                  <a:srgbClr val="1F2A3A"/>
                </a:solidFill>
                <a:latin typeface="맑은 고딕"/>
                <a:ea typeface="맑은 고딕"/>
                <a:cs typeface="맑은 고딕"/>
              </a:rPr>
              <a:t>• 처리에 걸리는 시간이 그때그때 달라도 된다</a:t>
            </a:r>
          </a:p>
        </p:txBody>
      </p:sp>
      <p:sp>
        <p:nvSpPr>
          <p:cNvPr id="11" name="Rounded Rectangle 10"/>
          <p:cNvSpPr/>
          <p:nvPr/>
        </p:nvSpPr>
        <p:spPr>
          <a:xfrm>
            <a:off x="868680" y="5246433"/>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평균 속도</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engine" descr="eng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현장 통신</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경우에도 정해진 시간 안에 도착해야 한다</a:t>
            </a:r>
          </a:p>
          <a:p>
            <a:pPr algn="l">
              <a:lnSpc>
                <a:spcPct val="110000"/>
              </a:lnSpc>
              <a:spcAft>
                <a:spcPts val="600"/>
              </a:spcAft>
            </a:pPr>
            <a:r>
              <a:rPr sz="1450" b="0">
                <a:solidFill>
                  <a:srgbClr val="1F2A3A"/>
                </a:solidFill>
                <a:latin typeface="맑은 고딕"/>
                <a:ea typeface="맑은 고딕"/>
                <a:cs typeface="맑은 고딕"/>
              </a:rPr>
              <a:t>• 처리 시간을 들쭉날쭉하게 만드는 암호화와 인증을 싣지 않는다</a:t>
            </a:r>
          </a:p>
          <a:p>
            <a:pPr algn="l">
              <a:lnSpc>
                <a:spcPct val="110000"/>
              </a:lnSpc>
              <a:spcAft>
                <a:spcPts val="600"/>
              </a:spcAft>
            </a:pPr>
            <a:r>
              <a:rPr sz="1450" b="0">
                <a:solidFill>
                  <a:srgbClr val="1F2A3A"/>
                </a:solidFill>
                <a:latin typeface="맑은 고딕"/>
                <a:ea typeface="맑은 고딕"/>
                <a:cs typeface="맑은 고딕"/>
              </a:rPr>
              <a:t>• 이 자리에는 Modbus 같은 단순한 통신 규약이 쓰인다</a:t>
            </a:r>
          </a:p>
        </p:txBody>
      </p:sp>
      <p:sp>
        <p:nvSpPr>
          <p:cNvPr id="18" name="Rounded Rectangle 17"/>
          <p:cNvSpPr/>
          <p:nvPr/>
        </p:nvSpPr>
        <p:spPr>
          <a:xfrm>
            <a:off x="6781647" y="5246433"/>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시간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2 · 엣지 게이트웨이: 숫자에 이름을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제어기의 숫자만으로는 무엇을 잰 것인지 알 수 없어, 엣지 게이트웨이가 이름을 붙여 태그 값과 운전 상태로 올려 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mode · interlock</a:t>
            </a:r>
          </a:p>
          <a:p>
            <a:pPr algn="l">
              <a:lnSpc>
                <a:spcPct val="110000"/>
              </a:lnSpc>
              <a:spcAft>
                <a:spcPts val="400"/>
              </a:spcAft>
            </a:pPr>
            <a:r>
              <a:rPr sz="1400" b="0">
                <a:solidFill>
                  <a:srgbClr val="1F2A3A"/>
                </a:solidFill>
                <a:latin typeface="맑은 고딕"/>
                <a:ea typeface="맑은 고딕"/>
                <a:cs typeface="맑은 고딕"/>
              </a:rPr>
              <a:t>운전 모드와 인터록의 상태이다. 원격 자동(REMOTE_AUTO)으로 돌고 있고 인터록에 걸리지 않아 PASS이다.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항목</a:t>
            </a:r>
          </a:p>
          <a:p>
            <a:pPr algn="l">
              <a:lnSpc>
                <a:spcPct val="110000"/>
              </a:lnSpc>
              <a:spcAft>
                <a:spcPts val="400"/>
              </a:spcAft>
            </a:pPr>
            <a:r>
              <a:rPr sz="1400" b="0">
                <a:solidFill>
                  <a:srgbClr val="1F2A3A"/>
                </a:solidFill>
                <a:latin typeface="맑은 고딕"/>
                <a:ea typeface="맑은 고딕"/>
                <a:cs typeface="맑은 고딕"/>
              </a:rPr>
              <a:t>토출 압력 PS1과 팬 진동 VS1, 운전 중인지와 팬 속도 · 부하의 비율이 함께 올라온다.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엣지 게이트웨이</a:t>
            </a:r>
          </a:p>
          <a:p>
            <a:pPr algn="l">
              <a:lnSpc>
                <a:spcPct val="110000"/>
              </a:lnSpc>
              <a:spcAft>
                <a:spcPts val="400"/>
              </a:spcAft>
            </a:pPr>
            <a:r>
              <a:rPr sz="1400" b="0">
                <a:solidFill>
                  <a:srgbClr val="1F2A3A"/>
                </a:solidFill>
                <a:latin typeface="맑은 고딕"/>
                <a:ea typeface="맑은 고딕"/>
                <a:cs typeface="맑은 고딕"/>
              </a:rPr>
              <a:t>설비 쪽의 계측값을 읽어 이름과 형식을 갖춘 메시지로 바꾸는 자리이다. 이 역할에는 EdgeX Foundry 같은 것이 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리니지_1_MQTT.svg" descr="illust_146458669680016861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데이터를</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문자열이므로,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받을 토픽을 미리 등록해 두지 않으면, 데이터를 보관하지 않는 브로커는 발행된 메시지를 전달할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브로커에 먼저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브로커로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브로커가 해당 토픽을 등록한</a:t>
            </a:r>
          </a:p>
          <a:p>
            <a:pPr algn="ctr">
              <a:lnSpc>
                <a:spcPct val="110000"/>
              </a:lnSpc>
              <a:spcAft>
                <a:spcPts val="400"/>
              </a:spcAft>
            </a:pPr>
            <a:r>
              <a:rPr sz="1350" b="0">
                <a:solidFill>
                  <a:srgbClr val="1F2A3A"/>
                </a:solidFill>
                <a:latin typeface="맑은 고딕"/>
                <a:ea typeface="맑은 고딕"/>
                <a:cs typeface="맑은 고딕"/>
              </a:rPr>
              <a:t>모든 구독자에게 전달한다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연결되는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손상된다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연결될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연결된다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완충 구역 DMZ와 한 방향 수집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통신에 없는 보안은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가 맡고, 수집 서비스는 데이터를 OT에서 IT로 한 방향으로만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리니지_2_DMZ.svg" descr="illust_6526777126843096182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브로커</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수집 서비스</a:t>
            </a:r>
          </a:p>
          <a:p>
            <a:pPr algn="ctr">
              <a:lnSpc>
                <a:spcPct val="110000"/>
              </a:lnSpc>
              <a:spcAft>
                <a:spcPts val="100"/>
              </a:spcAft>
            </a:pPr>
            <a:r>
              <a:rPr sz="1300" b="0">
                <a:solidFill>
                  <a:srgbClr val="556175"/>
                </a:solidFill>
                <a:latin typeface="맑은 고딕"/>
                <a:ea typeface="맑은 고딕"/>
                <a:cs typeface="맑은 고딕"/>
              </a:rPr>
              <a:t>브로커를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3 · 이벤트 로그: 받은 순서대로 남긴다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전달한 데이터를 남기지 않으므로, 이벤트 로그가 받은 순서대로 기록해 여러 서비스가 각자 다시 읽게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브로커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전달한다</a:t>
            </a:r>
          </a:p>
          <a:p>
            <a:pPr algn="l">
              <a:lnSpc>
                <a:spcPct val="110000"/>
              </a:lnSpc>
              <a:spcAft>
                <a:spcPts val="600"/>
              </a:spcAft>
            </a:pPr>
            <a:r>
              <a:rPr sz="1450" b="0">
                <a:solidFill>
                  <a:srgbClr val="1F2A3A"/>
                </a:solidFill>
                <a:latin typeface="맑은 고딕"/>
                <a:ea typeface="맑은 고딕"/>
                <a:cs typeface="맑은 고딕"/>
              </a:rPr>
              <a:t>• 나중에 연결된 서비스는 지나간 데이터를 받지 못한다</a:t>
            </a:r>
          </a:p>
          <a:p>
            <a:pPr algn="l">
              <a:lnSpc>
                <a:spcPct val="110000"/>
              </a:lnSpc>
              <a:spcAft>
                <a:spcPts val="600"/>
              </a:spcAft>
            </a:pPr>
            <a:r>
              <a:rPr sz="1450" b="0">
                <a:solidFill>
                  <a:srgbClr val="1F2A3A"/>
                </a:solidFill>
                <a:latin typeface="맑은 고딕"/>
                <a:ea typeface="맑은 고딕"/>
                <a:cs typeface="맑은 고딕"/>
              </a:rPr>
              <a:t>• 이 역할에는 EMQX 같은 MQTT 브로커가 있다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이벤트 로그</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처음부터 다시 읽는다</a:t>
            </a:r>
          </a:p>
          <a:p>
            <a:pPr algn="l">
              <a:lnSpc>
                <a:spcPct val="110000"/>
              </a:lnSpc>
              <a:spcAft>
                <a:spcPts val="600"/>
              </a:spcAft>
            </a:pPr>
            <a:r>
              <a:rPr sz="1450" b="0">
                <a:solidFill>
                  <a:srgbClr val="1F2A3A"/>
                </a:solidFill>
                <a:latin typeface="맑은 고딕"/>
                <a:ea typeface="맑은 고딕"/>
                <a:cs typeface="맑은 고딕"/>
              </a:rPr>
              <a:t>• 수집과 기록의 자리에는 Kafka Connect와 Kafka 등이 있다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로그에 남은 레코드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수집 서비스는 토픽 경로에 있던 설비와 태그 이름을 본문에 넣어 레코드 한 건만으로 계측값의 출처를 알 수 있게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로그에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name</a:t>
            </a:r>
          </a:p>
          <a:p>
            <a:pPr algn="l">
              <a:lnSpc>
                <a:spcPct val="110000"/>
              </a:lnSpc>
              <a:spcAft>
                <a:spcPts val="400"/>
              </a:spcAft>
            </a:pPr>
            <a:r>
              <a:rPr sz="1400" b="0">
                <a:solidFill>
                  <a:srgbClr val="1F2A3A"/>
                </a:solidFill>
                <a:latin typeface="맑은 고딕"/>
                <a:ea typeface="맑은 고딕"/>
                <a:cs typeface="맑은 고딕"/>
              </a:rPr>
              <a:t>토픽 경로에 있던 설비와 태그 이름이 본문으로 들어왔다.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 55.71</a:t>
            </a:r>
          </a:p>
          <a:p>
            <a:pPr algn="l">
              <a:lnSpc>
                <a:spcPct val="110000"/>
              </a:lnSpc>
              <a:spcAft>
                <a:spcPts val="400"/>
              </a:spcAft>
            </a:pPr>
            <a:r>
              <a:rPr sz="1400" b="0">
                <a:solidFill>
                  <a:srgbClr val="1F2A3A"/>
                </a:solidFill>
                <a:latin typeface="맑은 고딕"/>
                <a:ea typeface="맑은 고딕"/>
                <a:cs typeface="맑은 고딕"/>
              </a:rPr>
              <a:t>그때의 유온이다. 한국 시간 11:13:08에 잰 값이다.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key hyd01</a:t>
            </a:r>
          </a:p>
          <a:p>
            <a:pPr algn="l">
              <a:lnSpc>
                <a:spcPct val="110000"/>
              </a:lnSpc>
              <a:spcAft>
                <a:spcPts val="400"/>
              </a:spcAft>
            </a:pPr>
            <a:r>
              <a:rPr sz="1400" b="0">
                <a:solidFill>
                  <a:srgbClr val="1F2A3A"/>
                </a:solidFill>
                <a:latin typeface="맑은 고딕"/>
                <a:ea typeface="맑은 고딕"/>
                <a:cs typeface="맑은 고딕"/>
              </a:rPr>
              <a:t>같은 설비의 데이터가 잰 순서대로 읽히게 하는 키이다.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잰 시각 t와 값의 품질 q가 함께 실려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데이터가 쌓인 뒤에 살피면 늦으므로, 감지 서비스는 이벤트 로그에 흐르는 데이터를 그 자리에서 읽어 조건과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저장한 뒤에 살핀다</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데이터가 저장소에 쌓인 다음 주기적으로 조회한다</a:t>
            </a:r>
          </a:p>
          <a:p>
            <a:pPr algn="l">
              <a:lnSpc>
                <a:spcPct val="110000"/>
              </a:lnSpc>
              <a:spcAft>
                <a:spcPts val="600"/>
              </a:spcAft>
            </a:pPr>
            <a:r>
              <a:rPr sz="1450" b="0">
                <a:solidFill>
                  <a:srgbClr val="1F2A3A"/>
                </a:solidFill>
                <a:latin typeface="맑은 고딕"/>
                <a:ea typeface="맑은 고딕"/>
                <a:cs typeface="맑은 고딕"/>
              </a:rPr>
              <a:t>• 이상이 생긴 시점과 알아차리는 시점 사이에 간격이 생긴다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흐르는 데이터를 바로 읽는다</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데이터가 기록되는 대로 하나씩 받아 조건과 비교한다</a:t>
            </a:r>
          </a:p>
          <a:p>
            <a:pPr algn="l">
              <a:lnSpc>
                <a:spcPct val="110000"/>
              </a:lnSpc>
              <a:spcAft>
                <a:spcPts val="600"/>
              </a:spcAft>
            </a:pPr>
            <a:r>
              <a:rPr sz="1450" b="0">
                <a:solidFill>
                  <a:srgbClr val="1F2A3A"/>
                </a:solidFill>
                <a:latin typeface="맑은 고딕"/>
                <a:ea typeface="맑은 고딕"/>
                <a:cs typeface="맑은 고딕"/>
              </a:rPr>
              <a:t>• 이렇게 끊임없이 들어오는 데이터를 그 자리에서 처리하는 방식이 스트림 처리(Stream Processing)이다</a:t>
            </a:r>
          </a:p>
          <a:p>
            <a:pPr algn="l">
              <a:lnSpc>
                <a:spcPct val="110000"/>
              </a:lnSpc>
              <a:spcAft>
                <a:spcPts val="600"/>
              </a:spcAft>
            </a:pPr>
            <a:r>
              <a:rPr sz="145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396865"/>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없으므로, 두 값과 추세를 함께 보고 조건이 일정 시간 이어져야 경보가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유지되자 경보가 울렸다.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계측값이 아니라 어떤 일이 일어났는지를 남긴 기록이며, 경보에는 식별자와 당시의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계측값이다. 계측값은 계속 바뀌므로 근거를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설비, 심각도, 경보의 상태와 난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시계열 저장소는 지나간 데이터를 시각으로 찾아보도록 계측값 하나를 시각, 설비, 태그 이름, 값의 한 행으로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111375"/>
            <a:ext cx="6766560" cy="375996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48535"/>
            <a:ext cx="6400800" cy="348564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11137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계측값 하나가 한 줄이다. 시각, 설비, 태그 이름, 값이 들어 있다. 태그가 늘면 행만 늘어난다.</a:t>
            </a:r>
          </a:p>
        </p:txBody>
      </p:sp>
      <p:sp>
        <p:nvSpPr>
          <p:cNvPr id="9" name="TextBox 8"/>
          <p:cNvSpPr txBox="1"/>
          <p:nvPr/>
        </p:nvSpPr>
        <p:spPr>
          <a:xfrm>
            <a:off x="7635240" y="336469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18016"/>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시계열 저장소</a:t>
            </a:r>
          </a:p>
          <a:p>
            <a:pPr algn="l">
              <a:lnSpc>
                <a:spcPct val="110000"/>
              </a:lnSpc>
              <a:spcAft>
                <a:spcPts val="400"/>
              </a:spcAft>
            </a:pPr>
            <a:r>
              <a:rPr sz="1400" b="0">
                <a:solidFill>
                  <a:srgbClr val="1F2A3A"/>
                </a:solidFill>
                <a:latin typeface="맑은 고딕"/>
                <a:ea typeface="맑은 고딕"/>
                <a:cs typeface="맑은 고딕"/>
              </a:rPr>
              <a:t>시각을 기준으로 데이터를 쌓고 조회하는 데이터베이스이다.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화면은 서버가 멈춰도 보이도록 OT에서 현재 상태를, 분석 화면은 IT에서 과거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SCADA · HMI(Human-Machine Interface)의 자리이다</a:t>
            </a:r>
          </a:p>
          <a:p>
            <a:pPr algn="l">
              <a:lnSpc>
                <a:spcPct val="110000"/>
              </a:lnSpc>
              <a:spcAft>
                <a:spcPts val="600"/>
              </a:spcAft>
            </a:pPr>
            <a:r>
              <a:rPr sz="1450" b="0">
                <a:solidFill>
                  <a:srgbClr val="1F2A3A"/>
                </a:solidFill>
                <a:latin typeface="맑은 고딕"/>
                <a:ea typeface="맑은 고딕"/>
                <a:cs typeface="맑은 고딕"/>
              </a:rPr>
              <a:t>• OT에서 브로커를 직접 구독해 현재 데이터를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22504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2250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현재 데이터와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a:p>
            <a:pPr algn="l">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℃에서 경보가 먼저 울리므로,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감지 서비스의 경보</a:t>
            </a:r>
          </a:p>
          <a:p>
            <a:pPr algn="ctr">
              <a:lnSpc>
                <a:spcPct val="110000"/>
              </a:lnSpc>
              <a:spcAft>
                <a:spcPts val="400"/>
              </a:spcAft>
            </a:pPr>
            <a:r>
              <a:rPr sz="1350" b="0">
                <a:solidFill>
                  <a:srgbClr val="1F2A3A"/>
                </a:solidFill>
                <a:latin typeface="맑은 고딕"/>
                <a:ea typeface="맑은 고딕"/>
                <a:cs typeface="맑은 고딕"/>
              </a:rPr>
              <a:t>여러 값과 추세를 함께 본다</a:t>
            </a:r>
          </a:p>
          <a:p>
            <a:pPr algn="ctr">
              <a:lnSpc>
                <a:spcPct val="110000"/>
              </a:lnSpc>
              <a:spcAft>
                <a:spcPts val="400"/>
              </a:spcAft>
            </a:pPr>
            <a:r>
              <a:rPr sz="1350" b="0">
                <a:solidFill>
                  <a:srgbClr val="1F2A3A"/>
                </a:solidFill>
                <a:latin typeface="맑은 고딕"/>
                <a:ea typeface="맑은 고딕"/>
                <a:cs typeface="맑은 고딕"/>
              </a:rPr>
              <a:t>원인 진단과 조치의 흐름을 시작한다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운전 화면의 알람</a:t>
            </a:r>
          </a:p>
          <a:p>
            <a:pPr algn="ctr">
              <a:lnSpc>
                <a:spcPct val="110000"/>
              </a:lnSpc>
              <a:spcAft>
                <a:spcPts val="400"/>
              </a:spcAft>
            </a:pPr>
            <a:r>
              <a:rPr sz="1350" b="0">
                <a:solidFill>
                  <a:srgbClr val="1F2A3A"/>
                </a:solidFill>
                <a:latin typeface="맑은 고딕"/>
                <a:ea typeface="맑은 고딕"/>
                <a:cs typeface="맑은 고딕"/>
              </a:rPr>
              <a:t>유온 하나를 기준으로 삼는다</a:t>
            </a:r>
          </a:p>
          <a:p>
            <a:pPr algn="ctr">
              <a:lnSpc>
                <a:spcPct val="110000"/>
              </a:lnSpc>
              <a:spcAft>
                <a:spcPts val="400"/>
              </a:spcAft>
            </a:pPr>
            <a:r>
              <a:rPr sz="1350" b="0">
                <a:solidFill>
                  <a:srgbClr val="1F2A3A"/>
                </a:solidFill>
                <a:latin typeface="맑은 고딕"/>
                <a:ea typeface="맑은 고딕"/>
                <a:cs typeface="맑은 고딕"/>
              </a:rPr>
              <a:t>운전원에게 현재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알리지 않고 설비를 세운다</a:t>
            </a:r>
          </a:p>
          <a:p>
            <a:pPr algn="ctr">
              <a:lnSpc>
                <a:spcPct val="110000"/>
              </a:lnSpc>
              <a:spcAft>
                <a:spcPts val="400"/>
              </a:spcAft>
            </a:pPr>
            <a:r>
              <a:rPr sz="1350" b="0">
                <a:solidFill>
                  <a:srgbClr val="1F2A3A"/>
                </a:solidFill>
                <a:latin typeface="맑은 고딕"/>
                <a:ea typeface="맑은 고딕"/>
                <a:cs typeface="맑은 고딕"/>
              </a:rPr>
              <a:t>자동으로 풀리지 않으며, 유온이 55 ℃ 아래로</a:t>
            </a:r>
          </a:p>
          <a:p>
            <a:pPr algn="ctr">
              <a:lnSpc>
                <a:spcPct val="110000"/>
              </a:lnSpc>
              <a:spcAft>
                <a:spcPts val="400"/>
              </a:spcAft>
            </a:pPr>
            <a:r>
              <a:rPr sz="1350" b="0">
                <a:solidFill>
                  <a:srgbClr val="1F2A3A"/>
                </a:solidFill>
                <a:latin typeface="맑은 고딕"/>
                <a:ea typeface="맑은 고딕"/>
                <a:cs typeface="맑은 고딕"/>
              </a:rPr>
              <a:t>내려온 뒤 사람이 다시 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 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뒤에만 만들어지므로, 설비를 움직이는 결정은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데이터를 조회해 원인을 판단하고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 엔진</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명령 관문에서 검사를 거친 뒤에만 OT의 브로커를 거쳐 PLC에 도달한다.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프로세스 엔진</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이벤트 로그</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명령 관문</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브로커</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누가 승인했는지,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않으며, 누가 책임지는지가 남는다.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버려져, 달라진 상황에서 늦게 실행되지 않는다.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명령 번호와 설비, 사건 번호, 명령을 만든 시각이 함께 적힌다.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명령 관문과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관문은 명령서를, PLC는 현재 설비 상태를 보고 서로 다른 잘못을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명령 관문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범위 안인가</a:t>
            </a:r>
          </a:p>
          <a:p>
            <a:pPr algn="l">
              <a:lnSpc>
                <a:spcPct val="110000"/>
              </a:lnSpc>
              <a:spcAft>
                <a:spcPts val="600"/>
              </a:spcAft>
            </a:pPr>
            <a:r>
              <a:rPr sz="1450" b="0">
                <a:solidFill>
                  <a:srgbClr val="1F2A3A"/>
                </a:solidFill>
                <a:latin typeface="맑은 고딕"/>
                <a:ea typeface="맑은 고딕"/>
                <a:cs typeface="맑은 고딕"/>
              </a:rPr>
              <a:t>• 인터록: 현재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87452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현재 설비 상태를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승인부터 설비의 응답까지 2초가 걸렸으며, 관문과 PLC의 검사는 그 안에 끝나 조치를 늦추지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응답한다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데이터가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처음의 계측값까지 되짚게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계측값</a:t>
            </a:r>
          </a:p>
          <a:p>
            <a:pPr algn="ctr">
              <a:lnSpc>
                <a:spcPct val="110000"/>
              </a:lnSpc>
              <a:spcAft>
                <a:spcPts val="400"/>
              </a:spcAft>
            </a:pPr>
            <a:r>
              <a:rPr sz="1350" b="0">
                <a:solidFill>
                  <a:srgbClr val="1F2A3A"/>
                </a:solidFill>
                <a:latin typeface="맑은 고딕"/>
                <a:ea typeface="맑은 고딕"/>
                <a:cs typeface="맑은 고딕"/>
              </a:rPr>
              <a:t>브로커가 전달한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수집 서비스와</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이벤트 로그의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바탕으로 계산한 값이며, 감지 서비스는 최근 유온 계측값으로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계측값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계측값들이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감지 서비스이다. 기울기가 0보다 크면 유온이 오르는 중이다.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계측값까지 거슬러 올라갈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거쳐 온 자리를 하는 일에 따라 나누면 아홉 기능 계층이고, 놓인 망에 따라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계층_0_전체.svg" descr="illust_451677127821295778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이후 원인을 판단하고 조치를 정해 실행하는 일은 Layer 7~9가 맡으며, 이 수업은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pic>
        <p:nvPicPr>
          <p:cNvPr id="6" name="삽화:계층_L7-9.svg" descr="illust_5417015121402285015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프로세스 엔진과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데이터를 조회해 원인을 판단하고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a:p>
            <a:pPr algn="ctr">
              <a:lnSpc>
                <a:spcPct val="110000"/>
              </a:lnSpc>
              <a:spcAft>
                <a:spcPts val="100"/>
              </a:spcAft>
            </a:pPr>
            <a:r>
              <a:rPr sz="1300" b="0">
                <a:solidFill>
                  <a:srgbClr val="556175"/>
                </a:solidFill>
                <a:latin typeface="맑은 고딕"/>
                <a:ea typeface="맑은 고딕"/>
                <a:cs typeface="맑은 고딕"/>
              </a:rPr>
              <a:t>이 역할에는 Neo4j 같은 그래프 DB가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데이터가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두고, 데이터가 올라가는 길과 승인된 명령만 내려가는 길을 나누어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브로커</a:t>
            </a:r>
          </a:p>
          <a:p>
            <a:pPr algn="ctr">
              <a:lnSpc>
                <a:spcPct val="110000"/>
              </a:lnSpc>
              <a:spcAft>
                <a:spcPts val="100"/>
              </a:spcAft>
            </a:pPr>
            <a:r>
              <a:rPr sz="1150" b="0">
                <a:solidFill>
                  <a:srgbClr val="556175"/>
                </a:solidFill>
                <a:latin typeface="맑은 고딕"/>
                <a:ea typeface="맑은 고딕"/>
                <a:cs typeface="맑은 고딕"/>
              </a:rPr>
              <a:t>데이터와 명령을 중개</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계측값을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수집 서비스</a:t>
            </a:r>
          </a:p>
          <a:p>
            <a:pPr algn="ctr">
              <a:lnSpc>
                <a:spcPct val="110000"/>
              </a:lnSpc>
              <a:spcAft>
                <a:spcPts val="100"/>
              </a:spcAft>
            </a:pPr>
            <a:r>
              <a:rPr sz="1150" b="0">
                <a:solidFill>
                  <a:srgbClr val="556175"/>
                </a:solidFill>
                <a:latin typeface="맑은 고딕"/>
                <a:ea typeface="맑은 고딕"/>
                <a:cs typeface="맑은 고딕"/>
              </a:rPr>
              <a:t>데이터를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명령 관문</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이벤트 로그</a:t>
            </a:r>
          </a:p>
          <a:p>
            <a:pPr algn="ctr">
              <a:lnSpc>
                <a:spcPct val="110000"/>
              </a:lnSpc>
              <a:spcAft>
                <a:spcPts val="100"/>
              </a:spcAft>
            </a:pPr>
            <a:r>
              <a:rPr sz="1150" b="0">
                <a:solidFill>
                  <a:srgbClr val="556175"/>
                </a:solidFill>
                <a:latin typeface="맑은 고딕"/>
                <a:ea typeface="맑은 고딕"/>
                <a:cs typeface="맑은 고딕"/>
              </a:rPr>
              <a:t>순서대로 보관 · 감지 서비스가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프로세스 엔진</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 대기에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원인후보.svg" descr="illust_8032967142908862969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pic>
        <p:nvPicPr>
          <p:cNvPr id="6" name="삽화:흩어진정보.svg" descr="illust_1239522612082991012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저장소</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노드관계.svg" descr="illust_3876416835765121921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pic>
        <p:nvPicPr>
          <p:cNvPr id="6" name="삽화:관계.svg" descr="illust_8823421971270990200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pic>
        <p:nvPicPr>
          <p:cNvPr id="6" name="삽화:경로_1.svg" descr="illust_3820364562864035751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pic>
        <p:nvPicPr>
          <p:cNvPr id="6" name="삽화:경로_2.svg" descr="illust_1133052871152097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pic>
        <p:nvPicPr>
          <p:cNvPr id="6" name="삽화:경로_3.svg" descr="illust_2588157089466196775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시계열 저장소에서 읽는다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pic>
        <p:nvPicPr>
          <p:cNvPr id="6" name="삽화:연결_설비쪽.svg" descr="illust_4750445232062559861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pic>
        <p:nvPicPr>
          <p:cNvPr id="6" name="삽화:연결_진단쪽.svg" descr="illust_577816513048990419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본문에서 풀어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브로커(예: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