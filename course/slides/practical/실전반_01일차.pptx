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할 일은 네 가지입니다. 먼저 앞으로 배울 내용을 자신의 지식으로 남기는 방법을 익히고, 개인 학습노트를 만듭니다. 이어서 제조 설비에서 AI의 판단과 조치까지 이어지는 HYD 시스템의 구조를 계층별로 살펴보고, 데이터가 오가는 길을 따라갑니다. 그다음 실행 환경을 갖추고, 설비 이상 한 건이 처리되는 과정을 포털에서 직접 확인합니다. 마지막으로 이 시스템이 제대로 판단하려면 왜 온톨로지가 바탕이 되어야 하는지 알아봅니다.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필기와 강의 자료를 AI에게 넘기면 깔끔한 문서가 금방 나옵니다. 그러나 달라진 것은 읽기 쉬운 형태뿐인데도, 술술 읽히면 그 내용을 안다고 여기게 됩니다. 이렇게 처리하기 쉬운 것을 이해한 것으로 착각하는 현상을 유창성 착각(Fluency Illusion)이라고 합니다. 보면 알아보는 재인과 스스로 꺼내는 회상은 다르고, 시험과 실무에서 필요한 것은 회상입니다. 자료를 덮고 기억에서 꺼내 써 보는 인출 연습이 그 차이를 드러냅니다.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자료를 덮고 백지에 이해한 것을 써 봅니다. 타이핑해도 되고, 말로 한 내용을 받아 적게 해도 됩니다. 처음에는 한 가지를 깊이 파기보다 아는 범위를 넓게 훑으며 써 내려갑니다. 이렇게 단서 없이 떠올려 쓰는 것을 자유 회상(Free Recall)이라고 합니다. 그러면 잘못 알고 있는 오개념, 인과가 빠진 모호한 이해, 더 쓰지 못하는 지식의 빈틈이 드러납니다. 그 부분이 공부할 범위입니다.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순서가 중요합니다. 넓게 쓴 글에서 오개념과 모호한 부분을 먼저 바로잡아 개념 사이의 연결을 맞춥니다. 처음부터 한 곳을 깊게 파고들면 전체 구조를 놓치기 쉽습니다. 너비를 먼저 다진 다음, 빈틈을 하나씩 골라 깊게 파고듭니다.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깊이 파고들 때는 빈틈에만 집중합니다. 모르는 용어가 있으면 그것이 무엇인지, 왜 그런지를 묻고, 설명에 또 모르는 말이 나오면 다시 묻습니다. 사실이나 개념에 대해 「왜」를 물어 스스로 설명을 만들어 가는 이 방법을 정교화 질문(Elaborative Interrogation)이라고 합니다. 더 내려갈 곳이 없으면 거기서부터 하나씩 이어 붙이며 처음의 용어로 올라옵니다.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용어를 이해할 때 정의 문장을 그대로 외울 필요는 없습니다. 원리에서 벗어나지만 않는다면 같은 뜻을 내 말로 옮기면 됩니다. 이것을 자기 설명(Self-Explanation)이라고 합니다. 내 말로 옮길 수 있어야 다른 말로 물어도 답할 수 있습니다. 남에게 가르치듯 쉽게 설명해 보며 막히는 곳을 찾는 방법으로는 파인만 기법 등이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앞으로 배우는 내용은 모두 이 방법으로 정리합니다. 먼저 자료 없이 넓게 써 보고, 오개념을 고친 다음 빈틈을 정교화 질문으로 파고들어 내 말로 옮깁니다. 그렇게 다진 기록을 개인 학습노트에 쌓아 갑니다. 이렇게 자신의 지식을 모으고 다시 찾아 쓰는 일을 개인 지식 관리(PKM, Personal Knowledge Management)라고 합니다. 이 기록이 이 과정에서 만드는 지식 자산이며, 이어지는 실습에서는 그 학습노트를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노션으로 앞으로의 기록을 담을 틀을 만듭니다. 과정 홈과 세 구획, 학습노트 데이터베이스를 만들고, 앞에서 살펴본 방법대로 개념 하나를 내 말로 써서 첫 기록을 남깁니다. 노션을 다루는 법은 실습에서 직접 해 보며 익힙니다.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현장 쪽을 짧게 짚어 보겠습니다. 센서는 설비에서 생기는 물리량을 재고, PLC는 그 계측값을 읽어 설비를 제어하며, 관제 화면은 계측값을 보여 주고 조작을 받습니다. 이 단원에서는 그다음을 다룹니다. 그 데이터를 모으고 판단해 조치로 잇는 시스템의 구조, 그리고 그 구조를 따라 데이터가 흐르는 길을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데이터가 처음 생기는 곳은 설비입니다. 유압 파워팩 HYD-01에는 탱크, 펌프, 부하, 오일 쿨러, 팬이 있고, 계측값마다 태그라는 이름이 붙습니다. 이 단원에서 예로 드는 계측값은 쿨러로 들어가기 직전의 작동유 온도인 유온 TS1과, 쿨러가 열을 내보내는 정도를 나타내는 냉각 효율 CE입니다. 냉각 효율은 센서로 직접 재지 않고 다른 계측값으로 계산하는 가상 센서(Virtual Sensor)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데이터가 처음 생기는 곳은 Layer 1, 센서 네트워크와 설비입니다. 센서가 잰 계측값을 가장 먼저 받는 것은 설비 옆의 PLC입니다. PLC는 입력을 읽고 프로그램을 실행해 출력을 쓰는 스캔 주기를 1초에도 수십 번씩 되풀이합니다. 같은 판단을 서버에 맡기면 오가는 데만 1초 안팎이 걸리고, 그사이 통신이 끊길 수도 있습니다. 그래서 설비를 지키는 판단만큼은 설비 옆의 PLC가 인터록으로 끝냅니다.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HYD-01의 인터록은 세 가지입니다. 유온이 65 ℃를 넘거나, 토출 압력이 130 bar 아래로 떨어지거나, 팬 진동이 2.0 mm/s 이상이 되면 PLC가 설비를 세웁니다. 이 가운데 유온 65 ℃와 팬 진동 2.0은 뒤에서 다시 나옵니다. 세 조건 모두 그대로 두면 설비가 손상되는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제어기가 주고받는 통신에는 암호화와 인증이 없습니다. 사무 통신은 평균 지연이 짧으면 되지만, 현장 통신은 최악의 경우에도 정해진 시간 안에 도착해야 합니다. 이것을 결정성(Determinism)이라고 합니다. PLC가 1초에도 수십 번씩 판단을 끝내려면 그사이를 오가는 신호도 매번 제시간에 와야 합니다. 암호화와 인증은 처리 시간의 흔들림, 곧 지터(Jitter)를 키우기 때문에 싣지 않고, 보안은 상위 계층이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여기서부터는 Layer 2, IoT 미들웨어입니다. 제어기 안의 계측값은 레지스터 주소에 담긴 원시 값이라 그 자체로는 무엇을 잰 것인지 알 수 없습니다. 엣지 게이트웨이는 현장 규약으로 이 값을 읽어 태그 이름과 시각을 붙이고, 태그 값과 운전 상태 메시지로 올려 보냅니다. 위쪽의 유온 TS1과 냉각 효율 CE는 이 단원에서 계속 예로 들고, 아래쪽의 운전 모드와 인터록 상태는 명령을 내려보낼 때 다시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데이터를 받아야 할 곳은 운전 화면과 수집 서비스 두 군데이며, 앞으로 더 늘어날 수 있습니다. 송신 측이 수신 측과 하나하나 직접 연결하는 방식을 점대점(Point-to-Point) 연결이라고 합니다. 이 방식에서는 수신 측이 늘 때마다 설비 쪽 프로그램을 고쳐야 합니다. 한쪽을 바꿀 때 다른 쪽도 고쳐야 하는 이 관계를 강한 결합(Tight Coupling)이라고 합니다. 가운데에 메시지 브로커를 두면 서로를 몰라도 되는 느슨한 결합(Loose Coupling)이 되고, 이 방식으로 주고받는 규약이 MQTT입니다.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 있는 메시지 브로커를 줄여서 브로커라고 합니다. MQTT(Message Queuing Telemetry Transport)는 작은 장치와 불안정한 네트워크를 위해 만든 가벼운 발행 · 구독(Publish/Subscribe) 규약입니다. 발행자는 토픽이라는 주소를 붙여 브로커에 보내고, 구독자는 원하는 토픽만 받으므로 발행자는 구독자가 누구인지 몰라도 됩니다. 그림에서 흐리게 표시한 부분은 아직 다루지 않은 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토픽 이름을 나누어 보면 네 칸입니다. 공장, 설비, 종류, 태그 이름입니다. HYD에는 같은 구조의 유압 파워팩이 세 대 있어 설비 자리만 hyd01, hyd02, hyd03으로 바뀝니다. 구독자는 이 주소를 보고 필요한 데이터만 골라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세 단계입니다. 브로커는 메시지를 보관하지 않으므로, 구독자가 먼저 받을 토픽을 브로커에 구독해 둡니다. 발행자는 데이터를 토픽으로 발행하고, 브로커는 그 토픽을 구독한 모든 구독자에게 메시지를 밀어 줍니다. 구독자가 요청하지 않아도 브로커가 보내 주는 이 방식을 푸시(Push)라고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데이터가 브로커까지 왔지만, 분석하고 저장하는 서버는 브로커에 직접 연결되지 않습니다. 설비를 다루는 OT는 멈추지 않는 가용성과 안전이 우선입니다. 업무 데이터를 다루는 IT는 외부와 연결되어 침해될 수 있어 기밀성과 무결성을 먼저 지킵니다. 그래서 두 영역의 망을 나누는 망 분리(Network Segmentation)를 하고, 사이에 구역을 하나 둡니다. 앞에서 설비를 지키는 판단을 PLC에 맡긴 것도 IT 쪽 서버를 거치지 않기 위해서였습니다.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영역 사이의 완충 구역을 DMZ(Demilitarized Zone)라고 합니다. DMZ의 수집 서비스는 브로커를 구독해 받은 메시지를 IT의 이벤트 로그로 옮깁니다. 이렇게 한쪽으로만 복사하는 것을 단방향 복제(One-way Replication)라고 합니다. 수집 서비스는 OT 쪽으로는 아무것도 발행하지 않습니다. 현장 통신을 단순하게 둔 대신, 들어오는 길을 좁힌 이 구조가 설비를 지킵니다.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수집 서비스가 데이터를 옮기는 곳은 Layer 3, 이벤트 백본의 이벤트 로그입니다. 브로커는 그 순간 구독 중인 쪽에 메시지를 밀어 준 뒤에는 보관하지 않습니다. 이벤트 로그는 받은 순서대로 뒤에 덧붙이기만 하는 추가 전용 로그입니다. 기록을 쓰는 쪽을 생산자(Producer), 읽는 쪽을 소비자(Consumer)라고 합니다. 소비자마다 어디까지 읽었는지를 나타내는 오프셋을 따로 가지므로, 각자의 속도로 읽고 필요하면 처음부터 다시 읽을 수 있습니다. IT의 모든 서비스는 설비가 아니라 이 기록에서 데이터를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계측값이라도 옮겨 적히면서 형태가 달라집니다. 위쪽 메시지에서는 설비와 태그 이름이 토픽 경로에 있었지만, 아래쪽 레코드에서는 페이로드, 곧 본문 안에 들어 있습니다. 그래서 레코드 한 건만 보아도 유압 설비 HYD-01의 유온이 55.71이라는 것을 알 수 있습니다. 키는 같은 설비의 레코드를 한 줄로 모아 측정한 순서대로 읽히게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이벤트 로그의 데이터를 읽는 첫 번째 계층은 Layer 4, 스트림 처리입니다. 데이터를 저장소에 모아 두었다가 주기적으로 한꺼번에 처리하는 방식을 배치 처리(Batch Processing)라고 합니다. 이 방식에서는 이상이 생긴 시점과 알아차리는 시점 사이에 지연이 생깁니다. 감지 서비스는 데이터가 기록되는 대로 하나씩 받아 조건과 비교합니다. 끊임없이 도착하는 데이터를 그 자리에서 처리하는 방식을 스트림 처리라고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오른쪽 맨 위의 세 가지 조건을 봅니다. 유온이 55 ℃를 넘고, 냉각 효율이 70 % 아래이며, 유온이 오르는 중이어야 쿨러 성능 저하로 봅니다. 이처럼 값 하나의 임계치가 아니라 여러 값의 조합과 추세, 지속 시간으로 판정하는 방식을 복합 이벤트 처리(CEP, Complex Event Processing)라고 합니다. 그래프에서 유온이 55 ℃를 넘은 11시 13분 4초와, 4초 뒤인 11시 13분 8초의 경보를 차례로 짚어 봅니다. 그동안 조건이 이어지는지 지켜보는 유지 시간이 있어, 값이 잠깐 튀었다가 돌아오는 경우에는 경보가 울리지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조건이 성립하면 감지 서비스가 경보를 냅니다. 경보는 계측값이 아니라 어떤 일이 일어났는지를 남긴 기록입니다. 식별자는 이 경보 한 건을 가리키고, 패턴은 쿨러 성능 저하 조건이 성립했음을 나타냅니다. 계측값은 계속 바뀌므로, 경보가 발생한 순간의 유온 55.71과 냉각 효율 46.2를 근거로 붙여 둡니다.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이벤트 로그의 데이터를 읽는 두 번째 계층은 Layer 5, 시계열 저장소입니다. 이상 감지는 흐르는 데이터에서 하지만, 지나간 데이터를 시각으로 찾아보려면 저장해 두어야 합니다. 계측값 하나가 시각, 설비, 태그 이름, 값으로 이루어진 한 행에 들어갑니다. 가운데 행의 55.71이 경보가 발생한 순간의 유온입니다.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사람에게 보여 주는 계층은 Layer 6, 관제입니다. 화면은 두 가지입니다. 운전 화면은 OT에서 브로커를 직접 구독해 현재 데이터를 보여 주고 조작을 받으며, IT 쪽 서버가 멈춰도 계속 동작합니다. 분석 화면은 IT에서 시계열 저장소를 조회해 이력과 추세를 보여 주며, 설비를 조작하지는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유온에 대해 세 곳이 서로 다른 기준으로 반응합니다. 55 ℃에서 감지 서비스의 경보가 가장 먼저 울리고, 60 ℃에서는 운전 화면의 알람이, 65 ℃에서는 PLC의 인터록이 반응합니다. 경보와 알람은 상황을 알리고, 인터록은 설비를 세웁니다. 인터록은 사람이 리셋해야 풀리므로, 55 ℃에서 먼저 울리는 경보가 조치할 시간을 벌어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발생한 뒤의 일은 Layer 7부터 9까지, 즉 지식, 에이전트, 프로세스가 맡습니다. 에이전트는 지식과 데이터를 조회해 원인을 판단하고 조치안을 추천하지만, 설비에 명령을 보낼 수단은 없습니다. 담당자는 추천과 근거를 보고 승인하거나 거절합니다. 프로세스 엔진은 승인된 조치만 명령으로 만들어 내려보냅니다. 설비를 멈추거나 움직이는 결정에는 책임이 따르기 때문에 사람을 거치도록 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명령이 내려가는 경로입니다. 프로세스 엔진은 승인된 조치를 명령으로 만들어 이벤트 로그에 기록합니다. DMZ의 명령 관문은 그 명령을 읽어 검사하고, 검사를 통과한 명령만 OT의 브로커로 내보냅니다. PLC는 받은 명령을 다시 검사한 뒤 설정값을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내려가는 명령 한 건의 모습입니다. 할 일은 팬 속도를 100 %로 올리는 것입니다. 승인한 사람이 함께 적혀 있어 누가 책임지는지 기록으로 남습니다. 유효 시간이 지난 명령은 버려지므로, 상황이 달라진 뒤에 뒤늦게 실행되는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곳이 확인하는 내용이 다르기 때문에 검사를 두 번 합니다. 먼저 왼쪽의 명령 관문은 명령의 스키마, 허용 목록, 만료, 승인 기록, 운전 모드를 봅니다. 다음으로 오른쪽의 PLC는 설정값이 범위 안에 있는지, 지금 트립 상태가 아닌지를 확인한 뒤 설정값을 바꾸고 결과를 ACK로 돌려보냅니다. 명령서에 문제가 없어도 현재 설비가 명령을 받을 수 없는 상태라면 PLC가 거부합니다. 이렇게 여러 겹으로 막는 구조를 심층 방어(Defense in Depth)라고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명령이 내려가는 데 걸린 시간입니다. 승인은 11시 14분 56초, 명령은 57초, 응답은 58초입니다. 응답은 ACK(Acknowledgement), 곧 명령을 받아 처리했다는 확인 응답입니다. 관문과 PLC의 명령 검사도 이 사이에 끝났으므로, 검사를 두 번 거쳐도 명령이 내려가는 과정이 조치를 늦추지는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계층을 지나며 데이터가 어떻게 바뀌어 왔는지를 한 줄로 펼쳐 놓은 것이 데이터 리니지입니다. 센서와 PLC가 만든 원천 데이터는 가공 데이터가 되고, 조건이 성립하면 이상 이벤트가 되며, 이를 바탕으로 판단 결과가 나옵니다. 설비를 움직인 판단이 어떤 계측값에서 나왔는지 거꾸로 되짚을 수 있어야 그 판단을 믿을 수 있습니다. 결과에서 근거까지 거슬러 올라갈 수 있는 이 성질을 추적성(Traceability)이라고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가공 데이터의 예를 하나 보겠습니다. 위쪽은 센서가 잰 유온 계측값이고, 아래쪽은 그 계측값으로 계산한 기울기입니다. 기울기가 0보다 크면 유온이 오르고 있다는 뜻이며, 앞에서 본 경보 조건의 세 번째 항목이 이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결과도 기록으로 남습니다. 경보, 사건, 판단, 명령, 작업지시에 각각 식별자가 붙습니다. 그래서 작업지시 하나에서 출발해 어떤 판단과 경보에서 나온 것인지 거꾸로 따라갈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거쳐 온 자리를 한 장에 모았습니다. 아래에서부터 Layer 1의 설비와 제어기, Layer 2의 엣지 게이트웨이와 브로커, Layer 3의 이벤트 로그, Layer 4의 스트림 처리, Layer 5의 시계열 저장소, Layer 6의 두 화면까지 올라왔습니다. 계층은 하는 일에 따라 나눈 것이고, 오른쪽의 세 칸은 놓인 망에 따라 나눈 보안 영역입니다. 파란 점은 각 계층이 놓인 영역을 나타냅니다. 같은 계층 안에서도 영역은 다를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6까지는 데이터를 모으고 이상을 알릴 뿐 원인을 판단하지는 않습니다. 경보 이후의 일은 위의 세 계층이 맡습니다. Layer 7은 증상과 원인, 조치의 관계를 지식으로 보관하고, Layer 8의 에이전트는 그 지식과 데이터를 조회해 조치를 추천하며, Layer 9의 프로세스 엔진은 승인을 받아 실행합니다. 이 수업에서는 앞으로 이 세 계층을 차례로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단원을 마무리하겠습니다. 설비 옆의 통신에는 암호화와 인증이 없습니다. 정해진 시간을 지키기 위해 단순하게 둔 것이며, 대신 구조가 설비를 지킵니다. 데이터는 수집 서비스를 거쳐 위로만 올라가고, 명령은 사람의 승인, 명령 관문의 검사, PLC의 검사를 모두 거친 것만 내려옵니다.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앞에서 그림으로 본 시스템을 실행합니다. 쓰는 도구는 VS Code, GitHub Copilot, Python, Docker입니다. GitHub Copilot에 말로 요청하고 AI가 쓴 코드를 실행해 보며 고쳐 가는 방식을 바이브 코딩이라고 하며, 이후 랩의 코드는 이 방식으로 만듭니다. Docker Compose로 서비스를 올리고 포털이 열리는지를 확인하는 데까지 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시연에서는 쿨러의 성능이 떨어지는 사건 한 건을 처음부터 끝까지 진행합니다. 볼 것은 화면의 다섯 단계입니다. 단계마다 어떤 정보가 쓰이고 무엇이 다음 단계로 넘어가는지를 확인합니다. 각 단계가 어떻게 만들어지는지는 이어지는 회차에서 하나씩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시연에서 본 사건을 저장된 값으로 다시 보겠습니다. 위가 유온, 아래가 냉각 효율입니다. 경보는 11시 13분 8초에 났는데 조치는 108초 뒤에 승인되었고, 그동안 유온은 61.8 ℃까지 올랐습니다. 경보는 조건을 벗어났다는 사실만 알리기 때문입니다. 체온계의 고열 표시에 견줄 수 있습니다. 열이 난다는 사실은 바로 알지만 어떤 병인지는 진찰해야 안다는 점이 닮았고, 이 사건에서는 응급 조치를 고르는 데에도 원인 판단이 먼저 필요했다는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판단을 네 가지 질문으로 나누어 보겠습니다. 지금 얼마인가와 기준을 벗어났는가는 앞 단원의 구조가 답해 줍니다. 왜 벗어났는가와 무엇을 할 것인가는 값만으로 답할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증상에 대해 설비 매뉴얼은 원인 후보를 셋 듭니다. 쿨러 핀 오염은 핀에 먼지나 유막이 끼어 막히는 것이고, 팬 구동 불량은 팬이 제 속도로 돌지 못하는 것이며, 주변 온도 상승은 설비 둘레의 공기가 더운 것입니다. 유온만 보아서는 셋을 구분할 수 없고, 가르는 값은 다른 센서에서 나옵니다. 이 사건의 값으로 보면 핀 오염은 냉각 효율 46.2 %와 팬 진동 0.575로 조건에 맞고, 팬 구동 불량은 팬 진동 0.575로, 주변 온도 상승은 캐비닛 온도 28 ℃로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가린다는 것은 대조하는 일입니다. 후보마다 보아야 할 값이 있고, 그 값이 얼마이면 해당하는지의 기준이 있습니다. 잰 값을 그 기준에 대어 보면 됩니다. 이렇게 원인을 확인하는 데 쓰는 값과 기준을 증거라고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가려야 하는 이유는 조치가 달라지기 때문입니다. 핀이 막혔으면 세척하고, 팬이 문제이면 벨트를 점검하며, 주변 공기가 더우면 환기를 보강합니다. 원인이 다른데 조치를 바꿔 쓰면 유온은 내려가지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조치에는 두 가지가 있습니다. 이 사건에서 승인된 팬 최대 운전은 유온을 우선 낮추는 완화 조치입니다. 팬을 올려도 핀은 막힌 그대로여서 냉각 효율은 기준 아래에 남았습니다. 원인을 없애는 근본 조치는 핀 세척이고, 이것은 작업지시로 따로 등록되었습니다.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가리지 않은 조치는 해가 될 수도 있습니다. 이 사건에서는 팬 최대 운전이 맞았지만, 팬 베어링이 닳은 설비에서 같은 조치를 하면 진동이 인터록 기준을 넘어 설비가 섭니다. 유온이 오르면 팬을 올린다는 한 줄의 규칙으로는 부족합니다.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모자랐던 것을 세 낱말로 나누어, 같은 사건의 문장 다섯 개로 보겠습니다. 오른쪽 열은 앞에서 판단을 나눌 때 쓴 네 질문입니다. 46.2만으로는 무엇을 잰 값인지, 단위가 무엇인지, 높은 것인지 알 수 없습니다. 대상과 단위가 붙으면 지금 얼마인가에, 기준이 붙으면 벗어났는가에 답할 수 있으며, 태그 이름과 경보 조건이 이 일을 해 줍니다. 아래 두 줄은 지식입니다. 냉각 효율이 낮고 팬 진동이 정상이면 핀 오염이고 핀 오염이면 세척한다는 것처럼, 원인과 조치로 이어진 지식만이 왜와 무엇을에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쓰인 정보가 어디에 있었는지를 보겠습니다. 센서 값, 운전 상태, 매뉴얼, 생산 일정이 서로 다른 곳에 있습니다. 센서 값과 운전 상태는 매초 바뀌는 값이고, 생산 계획과 실적을 관리하는 MES에는 긴급 오더의 납기가 약 6시간 남았다고 기록되어 있었습니다. 그림의 점선은 이들이 이어져 있지 않다는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매뉴얼 문장을 봅니다. 원인 후보, 확인할 값, 기준이 모두 들어 있지만 사람이 읽고 해석해야 하는 문장입니다. 다음으로 오른쪽의 세 가지입니다. 이 경보가 났을 때 매뉴얼의 어느 대목을 보아야 하는지, 그 대목의 기준을 어느 태그의 값과 비교해야 하는지, 그 원인이면 어떤 조치가 맞는지는 어느 시스템에도 들어 있지 않습니다. 정보는 모두 어딘가에 있고, 없는 것은 연결입니다.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정보를 지금까지 이어 온 것은 사람입니다. 숙련자는 증상을 읽고, 고장 유형을 짐작하고, 원인 후보를 꼽고, 증거를 대조한 다음 조치를 고릅니다. 상자 사이의 화살표 하나하나가 그 사람의 머릿속에 든 지식입니다.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방식에는 한계가 셋 있습니다. 사람마다 다르고, 그 사람이 없으면 판단이 멈추며, 연결이 적혀 있지 않아 컴퓨터가 따라갈 수 없습니다. AI가 판단을 돕게 하려면 이 연결을 먼저 밖으로 꺼내 적어야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연결을 적어 둘 곳으로 먼저 떠오르는 것이 표와 문서입니다. 둘 다 내용은 담지만 대상과 대상 사이의 연결이 형식으로 드러나 있지 않습니다. 고장 유형 하나에 원인이 셋이고 핀 오염에는 확인할 값이 둘이어서, 표에 적으면 같은 고장 유형이 네 줄에 반복됩니다.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컴퓨터가 따라가게 하려면 코드로 짜는 방법이 있습니다. 실행은 되지만 지식이 코드 안에 묻힙니다. 기준이 바뀔 때마다 개발자가 코드를 고쳐야 하고, 왜 그 원인으로 판단했는지의 근거가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그대로 물으면 그럴듯한 답이 나옵니다. 그러나 AI는 이 설비의 매뉴얼과 지금의 값을 알지 못하므로 답의 근거를 확인할 수 없습니다. 적어 둔 지식을 조회하게 하면 무엇을 근거로 판단했는지가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남는 요구는 세 가지입니다. 사람이 읽고 검토할 수 있어야 하고, 컴퓨터가 따라갈 수 있어야 하며, 지식을 프로그램과 따로 고칠 수 있어야 합니다. 이 요구를 채우도록 대상과 관계를 적어 둔 것에 이름이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이름이 온톨로지입니다. 대상의 종류, 속성, 관계, 제약을 명시적으로 정의한 지식 모델입니다. 머릿속에 있던 것을 정해진 형식으로 적었기 때문에 사람과 컴퓨터가 같은 정의를 씁니다. 노선도 비유는 관계를 따라가면 경로가 나온다는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뜻으로 쓴다는 것이 어떤 모습인지 보겠습니다. 같은 증상을 두고 누구는 온도 상승이라고 하고 누구는 과열이라고 합니다. HYD의 온톨로지는 이 말들을 유온 상승이라는 하나의 대상에 묶어 둡니다. 그래서 누가 어떤 말로 부르든 같은 대상을 가리키게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관계 그림이나 그래프 DB와 자주 혼동됩니다. 관계 그림은 사람이 보는 표현이고, 그래프 DB는 저장하는 도구입니다. 온톨로지는 무엇을 그리고 저장할 수 있는지를 정한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그래프를 이루는 것은 노드와 관계입니다. 동그라미가 노드이고 대상 하나를 나타냅니다. 화살표가 관계이며 이름과 방향이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관계는 문장으로 읽습니다. 화살표가 나가는 쪽이 주어, 관계 이름이 서술어, 들어가는 쪽이 목적어입니다. 읽어서 뜻이 통하면 제대로 적힌 관계입니다.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그래프에서 이 사건에 해당하는 부분입니다. 영어 이름이 대상의 종류이고 한글이 실제 대상입니다. 위쪽 두 화살표가 모두 가운데의 고장 유형으로 들어오므로 고장 유형 하나에 원인이 여럿 붙습니다. 조치도 원인이 아니라 고장 유형에 붙어 있어서, 원인이 확인되기 전에도 고장 유형에 맞는 완화 조치를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화살표의 방향은 관계 이름의 뜻에서 나옵니다. 같은 사실을 CAUSES로 적으면 원인에서 고장 유형으로, CAUSED_BY로 적으면 반대로 갑니다. 틀린 것은 이름과 방향이 어긋난 경우입니다.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컴퓨터가 이 그래프로 원인과 조치를 찾는 과정을 세 걸음으로 보겠습니다. 출발점은 경보입니다. 경보에 실린 패턴 이름에서 DETECTS와 INDICATES를 따라가면 고장 유형에 이릅니다.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고장 유형에서는 들어오는 CAUSES를 거슬러 원인 후보를 모읍니다. 원인마다 EVIDENCED_BY로 증거가 붙어 있고, 증거에는 어느 값을 어떤 기준과 비교할지가 적혀 있습니다. 방향은 뜻을 정하는 것이어서 필요하면 거슬러 가기도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증거에 적힌 대로 값을 읽어 기준과 대조하면 원인이 쿨러 핀 오염으로 확인됩니다. 조치는 고장 유형에서 MITIGATED_BY를 따라가 찾습니다. 판별 기준은 지식 그래프에 있고 잰 값은 시계열 저장소에서 읽어 옵니다. 경보에서 조치까지 컴퓨터는 여섯 종류의 대상을 다섯 관계로 건넜고, 숙련자가 머릿속에서 잇던 화살표가 이것입니다. 기준은 기준 정보이고 잰 값은 계속 바뀌는 현황이어서 따로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그림에서 본 노드의 종류와 화살표가 온톨로지가 정의하는 네 가지 가운데 종류와 관계입니다. 여기에 속성과 제약이 더해집니다. 먼저 종류와 속성입니다. HYD의 온톨로지는 설비 쪽, 진단 쪽, 조치 쪽으로 종류를 두고, 유온이라는 대상에는 단위와 정상값과 한계가 속성으로 적혀 있습니다. 관계는 이름이 다르면 뜻이 달라서, 같은 고장 유형에서 조치로 가는 선이라도 MITIGATED_BY는 우선 완화하고 REMEDIED_BY는 근본적으로 없앱니다. 제약은 CAUSES를 원인에서 고장 유형으로만 잇게 하므로 증상에서 조치로 그은 연결은 어긋나며, 관계 그림과 온톨로지를 가르는 것이 이 제약입니다.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지식 그래프는 증상과 원인만으로 끝나지 않습니다. 설비 HYD-01은 오일 쿨러를 구성 요소로 갖고, 오일 쿨러는 유온 센서 TS1로 계측됩니다. 설비가 무엇으로 이루어져 있는지가 대상과 관계로 적혀 있습니다. 이 연결이 있어야 같은 지식을 다른 설비의 값에도 적용할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가운데와 아래 줄이 진단과 조치입니다. 증상, 고장 유형, 원인, 조치 방법이 이어져 있고, 조치 방법은 매뉴얼 HM-8.5를 근거로 가리킵니다. 추천에 근거 문서가 함께 나오는 것은 이 연결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자주 생기는 오해 세 가지입니다. 지식 그래프에는 값을 읽는 방법이 들어 있고 값은 저장소에서 읽습니다. 화살표의 방향은 뜻을 정하는 것이어서 조회할 때는 거슬러 가기도 합니다. 온톨로지는 후보와 근거를 찾게 해 줄 뿐이고 조치는 사람이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단원을 네 걸음으로 줄이겠습니다. 경보는 조건을 벗어났다는 사실만 알리고, 판단에 필요한 정보는 흩어져 있습니다. 그래서 대상과 관계를 명시적으로 정의하고, 컴퓨터가 그 관계를 따라 원인 후보와 조치에 이르게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이후의 과정은 오늘 본 것을 안에서부터 만들어 갑니다. 대상의 종류와 관계의 틀을 설계하고, 조치와 판단 기준을 잇고, 문서에서 지식을 뽑아 넣은 다음, 에이전트와 프로세스가 그 지식을 쓰게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실습의 목적은 노드와 관계와 방향을 손으로 정하는 것입니다. 쿨러 사건의 설비, 센서, 증상, 원인, 조치를 노드로 놓고 관계를 이어 이름을 붙입니다. 다 그린 뒤에는 화살표마다 문장으로 읽어 뜻이 통하는지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본문에서 풀어 쓴 약어의 정식 명칭을 한곳에 모았습니다. 뜻은 앞에서 풀었으므로 여기서는 이름과 자리만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알려 주는 것과 원인 판단을 구분하는 문항입니다. 화면의 값을 판별 기준에 대어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 방향을 외웠는지가 아니라 문장으로 읽어 뜻이 통하는지를 확인하는 문항입니다. 보기를 하나씩 문장으로 읽으면 답이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할 수 있는지를 묻는 문항입니다. 시연에서 에이전트가 한 일과 담당자의 승인 뒤에 일어난 일을 떠올리면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문항의 판단 기준입니다. 첫 문항은 경보와 원인을, 둘째 문항은 이름과 방향을, 셋째 문항은 추천과 실행을 구분하는지를 봅니다. 둘째 문항의 2번은 CAUSED_BY라는 이름에 방향을 원인에서 고장 유형으로 두어 뜻이 통하지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24.png"/><Relationship Id="rId5"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0.png"/><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8.png"/><Relationship Id="rId4" Type="http://schemas.openxmlformats.org/officeDocument/2006/relationships/image" Target="../media/image42.png"/><Relationship Id="rId5"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6.png"/><Relationship Id="rId4" Type="http://schemas.openxmlformats.org/officeDocument/2006/relationships/image" Target="../media/image37.png"/><Relationship Id="rId5" Type="http://schemas.openxmlformats.org/officeDocument/2006/relationships/image" Target="../media/image43.png"/><Relationship Id="rId6" Type="http://schemas.openxmlformats.org/officeDocument/2006/relationships/image" Target="../media/image32.png"/><Relationship Id="rId7"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7.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5.png"/><Relationship Id="rId4" Type="http://schemas.openxmlformats.org/officeDocument/2006/relationships/image" Target="../media/image35.png"/><Relationship Id="rId5" Type="http://schemas.openxmlformats.org/officeDocument/2006/relationships/image" Target="../media/image4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4.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0.png"/><Relationship Id="rId4" Type="http://schemas.openxmlformats.org/officeDocument/2006/relationships/image" Target="../media/image47.png"/><Relationship Id="rId5" Type="http://schemas.openxmlformats.org/officeDocument/2006/relationships/image" Target="../media/image44.png"/><Relationship Id="rId6" Type="http://schemas.openxmlformats.org/officeDocument/2006/relationships/image" Target="../media/image35.png"/><Relationship Id="rId7" Type="http://schemas.openxmlformats.org/officeDocument/2006/relationships/image" Target="../media/image5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0.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5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4.png"/><Relationship Id="rId4" Type="http://schemas.openxmlformats.org/officeDocument/2006/relationships/image" Target="../media/image50.png"/><Relationship Id="rId5" Type="http://schemas.openxmlformats.org/officeDocument/2006/relationships/image" Target="../media/image60.png"/><Relationship Id="rId6" Type="http://schemas.openxmlformats.org/officeDocument/2006/relationships/image" Target="../media/image4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6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4.png"/><Relationship Id="rId4" Type="http://schemas.openxmlformats.org/officeDocument/2006/relationships/image" Target="../media/image62.png"/><Relationship Id="rId5" Type="http://schemas.openxmlformats.org/officeDocument/2006/relationships/image" Target="../media/image6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5.png"/><Relationship Id="rId4" Type="http://schemas.openxmlformats.org/officeDocument/2006/relationships/image" Target="../media/image5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8.png"/><Relationship Id="rId4" Type="http://schemas.openxmlformats.org/officeDocument/2006/relationships/image" Target="../media/image6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6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69.png"/><Relationship Id="rId4" Type="http://schemas.openxmlformats.org/officeDocument/2006/relationships/image" Target="../media/image67.png"/><Relationship Id="rId5" Type="http://schemas.openxmlformats.org/officeDocument/2006/relationships/image" Target="../media/image34.png"/><Relationship Id="rId6" Type="http://schemas.openxmlformats.org/officeDocument/2006/relationships/image" Target="../media/image58.png"/><Relationship Id="rId7" Type="http://schemas.openxmlformats.org/officeDocument/2006/relationships/image" Target="../media/image4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4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72.png"/><Relationship Id="rId4"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73.png"/><Relationship Id="rId4" Type="http://schemas.openxmlformats.org/officeDocument/2006/relationships/image" Target="../media/image7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70.png"/><Relationship Id="rId4" Type="http://schemas.openxmlformats.org/officeDocument/2006/relationships/image" Target="../media/image25.png"/><Relationship Id="rId5" Type="http://schemas.openxmlformats.org/officeDocument/2006/relationships/image" Target="../media/image7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28.png"/><Relationship Id="rId4" Type="http://schemas.openxmlformats.org/officeDocument/2006/relationships/image" Target="../media/image66.png"/><Relationship Id="rId5" Type="http://schemas.openxmlformats.org/officeDocument/2006/relationships/image" Target="../media/image2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10.png"/><Relationship Id="rId4" Type="http://schemas.openxmlformats.org/officeDocument/2006/relationships/image" Target="../media/image22.png"/><Relationship Id="rId5" Type="http://schemas.openxmlformats.org/officeDocument/2006/relationships/image" Target="../media/image7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7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4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8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8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8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8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8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8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50.png"/><Relationship Id="rId4" Type="http://schemas.openxmlformats.org/officeDocument/2006/relationships/image" Target="../media/image86.png"/><Relationship Id="rId5" Type="http://schemas.openxmlformats.org/officeDocument/2006/relationships/image" Target="../media/image8.png"/><Relationship Id="rId6" Type="http://schemas.openxmlformats.org/officeDocument/2006/relationships/image" Target="../media/image8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76.png"/><Relationship Id="rId4" Type="http://schemas.openxmlformats.org/officeDocument/2006/relationships/image" Target="../media/image34.png"/><Relationship Id="rId5" Type="http://schemas.openxmlformats.org/officeDocument/2006/relationships/image" Target="../media/image88.png"/><Relationship Id="rId6" Type="http://schemas.openxmlformats.org/officeDocument/2006/relationships/image" Target="../media/image4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1회차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데이터에서 판단과 조치까지,</a:t>
            </a:r>
          </a:p>
          <a:p>
            <a:pPr algn="l">
              <a:lnSpc>
                <a:spcPct val="110000"/>
              </a:lnSpc>
            </a:pPr>
            <a:r>
              <a:rPr sz="4000" b="1">
                <a:solidFill>
                  <a:srgbClr val="FFFFFF"/>
                </a:solidFill>
                <a:latin typeface="맑은 고딕"/>
                <a:ea typeface="맑은 고딕"/>
                <a:cs typeface="맑은 고딕"/>
              </a:rPr>
              <a:t>그리고 온톨로지가 필요한 이유</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HYD 시스템을 직접 실행하며 설비 이상 한 건이 처리되는 과정을 따라간다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emperature-plus" descr="temperature-plus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pology-star-3" descr="topology-star-3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user-check" descr="user-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배운 내용의 자산화 방법과 HYD 구조·흐름을 익히고, 온톨로지가 바탕인 이유를 이해한다.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1965388"/>
            <a:ext cx="2567863" cy="40519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166556"/>
            <a:ext cx="731520" cy="731520"/>
          </a:xfrm>
          <a:prstGeom prst="ellipse">
            <a:avLst/>
          </a:prstGeom>
          <a:solidFill>
            <a:srgbClr val="E7F3FD"/>
          </a:solidFill>
          <a:ln>
            <a:noFill/>
          </a:ln>
        </p:spPr>
        <p:txBody>
          <a:bodyPr rtlCol="0" anchor="ctr"/>
          <a:lstStyle/>
          <a:p>
            <a:pPr algn="ctr"/>
          </a:p>
        </p:txBody>
      </p:sp>
      <p:pic>
        <p:nvPicPr>
          <p:cNvPr id="8" name="아이콘:notebook" descr="notebook_13294B_1.6.png"/>
          <p:cNvPicPr>
            <a:picLocks noChangeAspect="1"/>
          </p:cNvPicPr>
          <p:nvPr/>
        </p:nvPicPr>
        <p:blipFill>
          <a:blip r:embed="rId3"/>
          <a:stretch>
            <a:fillRect/>
          </a:stretch>
        </p:blipFill>
        <p:spPr>
          <a:xfrm>
            <a:off x="930859" y="2320175"/>
            <a:ext cx="424281" cy="424281"/>
          </a:xfrm>
          <a:prstGeom prst="rect">
            <a:avLst/>
          </a:prstGeom>
        </p:spPr>
      </p:pic>
      <p:sp>
        <p:nvSpPr>
          <p:cNvPr id="9" name="TextBox 8"/>
          <p:cNvSpPr txBox="1"/>
          <p:nvPr/>
        </p:nvSpPr>
        <p:spPr>
          <a:xfrm>
            <a:off x="713232" y="2989516"/>
            <a:ext cx="2238679" cy="25248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 자산화</a:t>
            </a:r>
          </a:p>
          <a:p>
            <a:pPr algn="l">
              <a:lnSpc>
                <a:spcPct val="110000"/>
              </a:lnSpc>
              <a:spcAft>
                <a:spcPts val="400"/>
              </a:spcAft>
            </a:pPr>
            <a:r>
              <a:rPr sz="1350" b="0">
                <a:solidFill>
                  <a:srgbClr val="1F2A3A"/>
                </a:solidFill>
                <a:latin typeface="맑은 고딕"/>
                <a:ea typeface="맑은 고딕"/>
                <a:cs typeface="맑은 고딕"/>
              </a:rPr>
              <a:t>• 배운 내용을 인출 연습과 자기 설명으로 다져 내 문장으로 기록하고, 다시 찾아 쓰는 방법을 익힌다</a:t>
            </a:r>
          </a:p>
          <a:p>
            <a:pPr algn="l">
              <a:lnSpc>
                <a:spcPct val="110000"/>
              </a:lnSpc>
              <a:spcAft>
                <a:spcPts val="400"/>
              </a:spcAft>
            </a:pPr>
            <a:r>
              <a:rPr sz="1350" b="0">
                <a:solidFill>
                  <a:srgbClr val="1F2A3A"/>
                </a:solidFill>
                <a:latin typeface="맑은 고딕"/>
                <a:ea typeface="맑은 고딕"/>
                <a:cs typeface="맑은 고딕"/>
              </a:rPr>
              <a:t>• 개인 학습노트를 만들어 개인 지식 관리의 틀을 갖춘다</a:t>
            </a:r>
          </a:p>
        </p:txBody>
      </p:sp>
      <p:sp>
        <p:nvSpPr>
          <p:cNvPr id="10" name="Rounded Rectangle 9"/>
          <p:cNvSpPr/>
          <p:nvPr/>
        </p:nvSpPr>
        <p:spPr>
          <a:xfrm>
            <a:off x="777240" y="5587555"/>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587555"/>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학습 기록</a:t>
            </a:r>
          </a:p>
        </p:txBody>
      </p:sp>
      <p:sp>
        <p:nvSpPr>
          <p:cNvPr id="12" name="Rounded Rectangle 11"/>
          <p:cNvSpPr/>
          <p:nvPr/>
        </p:nvSpPr>
        <p:spPr>
          <a:xfrm>
            <a:off x="3390823" y="1965388"/>
            <a:ext cx="2567863" cy="40519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166556"/>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320175"/>
            <a:ext cx="424281" cy="424281"/>
          </a:xfrm>
          <a:prstGeom prst="rect">
            <a:avLst/>
          </a:prstGeom>
        </p:spPr>
      </p:pic>
      <p:sp>
        <p:nvSpPr>
          <p:cNvPr id="15" name="TextBox 14"/>
          <p:cNvSpPr txBox="1"/>
          <p:nvPr/>
        </p:nvSpPr>
        <p:spPr>
          <a:xfrm>
            <a:off x="3555415" y="2989516"/>
            <a:ext cx="2238679" cy="25248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시스템 아키텍처와 계층</a:t>
            </a:r>
          </a:p>
          <a:p>
            <a:pPr algn="l">
              <a:lnSpc>
                <a:spcPct val="110000"/>
              </a:lnSpc>
              <a:spcAft>
                <a:spcPts val="400"/>
              </a:spcAft>
            </a:pPr>
            <a:r>
              <a:rPr sz="1350" b="0">
                <a:solidFill>
                  <a:srgbClr val="1F2A3A"/>
                </a:solidFill>
                <a:latin typeface="맑은 고딕"/>
                <a:ea typeface="맑은 고딕"/>
                <a:cs typeface="맑은 고딕"/>
              </a:rPr>
              <a:t>• 설비에서 AI의 판단과 조치까지 이어지는 HYD 시스템을 아홉 기능 계층과 세 보안 영역(OT · DMZ · IT)으로 이해한다</a:t>
            </a:r>
          </a:p>
          <a:p>
            <a:pPr algn="l">
              <a:lnSpc>
                <a:spcPct val="110000"/>
              </a:lnSpc>
              <a:spcAft>
                <a:spcPts val="400"/>
              </a:spcAft>
            </a:pPr>
            <a:r>
              <a:rPr sz="1350" b="0">
                <a:solidFill>
                  <a:srgbClr val="1F2A3A"/>
                </a:solidFill>
                <a:latin typeface="맑은 고딕"/>
                <a:ea typeface="맑은 고딕"/>
                <a:cs typeface="맑은 고딕"/>
              </a:rPr>
              <a:t>• 상향 데이터 흐름과 하향 명령 경로를 구분한다</a:t>
            </a:r>
          </a:p>
        </p:txBody>
      </p:sp>
      <p:sp>
        <p:nvSpPr>
          <p:cNvPr id="16" name="Rounded Rectangle 15"/>
          <p:cNvSpPr/>
          <p:nvPr/>
        </p:nvSpPr>
        <p:spPr>
          <a:xfrm>
            <a:off x="3619423" y="5587555"/>
            <a:ext cx="16763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587555"/>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구조와 데이터 흐름</a:t>
            </a:r>
          </a:p>
        </p:txBody>
      </p:sp>
      <p:sp>
        <p:nvSpPr>
          <p:cNvPr id="18" name="Rounded Rectangle 17"/>
          <p:cNvSpPr/>
          <p:nvPr/>
        </p:nvSpPr>
        <p:spPr>
          <a:xfrm>
            <a:off x="6233007" y="1965388"/>
            <a:ext cx="2567863" cy="40519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166556"/>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320175"/>
            <a:ext cx="424281" cy="424281"/>
          </a:xfrm>
          <a:prstGeom prst="rect">
            <a:avLst/>
          </a:prstGeom>
        </p:spPr>
      </p:pic>
      <p:sp>
        <p:nvSpPr>
          <p:cNvPr id="21" name="TextBox 20"/>
          <p:cNvSpPr txBox="1"/>
          <p:nvPr/>
        </p:nvSpPr>
        <p:spPr>
          <a:xfrm>
            <a:off x="6397599" y="2989516"/>
            <a:ext cx="2238679" cy="25248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흐름의 실행</a:t>
            </a:r>
          </a:p>
          <a:p>
            <a:pPr algn="l">
              <a:lnSpc>
                <a:spcPct val="110000"/>
              </a:lnSpc>
              <a:spcAft>
                <a:spcPts val="400"/>
              </a:spcAft>
            </a:pPr>
            <a:r>
              <a:rPr sz="1350" b="0">
                <a:solidFill>
                  <a:srgbClr val="1F2A3A"/>
                </a:solidFill>
                <a:latin typeface="맑은 고딕"/>
                <a:ea typeface="맑은 고딕"/>
                <a:cs typeface="맑은 고딕"/>
              </a:rPr>
              <a:t>• 컨테이너로 실행 환경을 띄우고 설비 이상 한 건을 실제로 처리해 본다</a:t>
            </a:r>
          </a:p>
          <a:p>
            <a:pPr algn="l">
              <a:lnSpc>
                <a:spcPct val="110000"/>
              </a:lnSpc>
              <a:spcAft>
                <a:spcPts val="400"/>
              </a:spcAft>
            </a:pPr>
            <a:r>
              <a:rPr sz="1350" b="0">
                <a:solidFill>
                  <a:srgbClr val="1F2A3A"/>
                </a:solidFill>
                <a:latin typeface="맑은 고딕"/>
                <a:ea typeface="맑은 고딕"/>
                <a:cs typeface="맑은 고딕"/>
              </a:rPr>
              <a:t>• 경보 → 원인 진단 → 승인 → 실행의 과정을 포털에서 확인한다</a:t>
            </a:r>
          </a:p>
        </p:txBody>
      </p:sp>
      <p:sp>
        <p:nvSpPr>
          <p:cNvPr id="22" name="Rounded Rectangle 21"/>
          <p:cNvSpPr/>
          <p:nvPr/>
        </p:nvSpPr>
        <p:spPr>
          <a:xfrm>
            <a:off x="6461607" y="5587555"/>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587555"/>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실행과 확인</a:t>
            </a:r>
          </a:p>
        </p:txBody>
      </p:sp>
      <p:sp>
        <p:nvSpPr>
          <p:cNvPr id="24" name="Rounded Rectangle 23"/>
          <p:cNvSpPr/>
          <p:nvPr/>
        </p:nvSpPr>
        <p:spPr>
          <a:xfrm>
            <a:off x="9075191" y="1965388"/>
            <a:ext cx="2567863" cy="40519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166556"/>
            <a:ext cx="731520" cy="731520"/>
          </a:xfrm>
          <a:prstGeom prst="ellipse">
            <a:avLst/>
          </a:prstGeom>
          <a:solidFill>
            <a:srgbClr val="5CB8F2"/>
          </a:solidFill>
          <a:ln>
            <a:noFill/>
          </a:ln>
        </p:spPr>
        <p:txBody>
          <a:bodyPr rtlCol="0" anchor="ctr"/>
          <a:lstStyle/>
          <a:p>
            <a:pPr algn="ctr"/>
          </a:p>
        </p:txBody>
      </p:sp>
      <p:pic>
        <p:nvPicPr>
          <p:cNvPr id="26" name="아이콘:topology-star-3" descr="topology-star-3_13294B_1.6.png"/>
          <p:cNvPicPr>
            <a:picLocks noChangeAspect="1"/>
          </p:cNvPicPr>
          <p:nvPr/>
        </p:nvPicPr>
        <p:blipFill>
          <a:blip r:embed="rId6"/>
          <a:stretch>
            <a:fillRect/>
          </a:stretch>
        </p:blipFill>
        <p:spPr>
          <a:xfrm>
            <a:off x="9457410" y="2320175"/>
            <a:ext cx="424281" cy="424281"/>
          </a:xfrm>
          <a:prstGeom prst="rect">
            <a:avLst/>
          </a:prstGeom>
        </p:spPr>
      </p:pic>
      <p:sp>
        <p:nvSpPr>
          <p:cNvPr id="27" name="TextBox 26"/>
          <p:cNvSpPr txBox="1"/>
          <p:nvPr/>
        </p:nvSpPr>
        <p:spPr>
          <a:xfrm>
            <a:off x="9239783" y="2989516"/>
            <a:ext cx="2238679" cy="25248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온톨로지의 필요성</a:t>
            </a:r>
          </a:p>
          <a:p>
            <a:pPr algn="l">
              <a:lnSpc>
                <a:spcPct val="110000"/>
              </a:lnSpc>
              <a:spcAft>
                <a:spcPts val="400"/>
              </a:spcAft>
            </a:pPr>
            <a:r>
              <a:rPr sz="1350" b="0">
                <a:solidFill>
                  <a:srgbClr val="1F2A3A"/>
                </a:solidFill>
                <a:latin typeface="맑은 고딕"/>
                <a:ea typeface="맑은 고딕"/>
                <a:cs typeface="맑은 고딕"/>
              </a:rPr>
              <a:t>• 원인을 가려내고 조치를 고르려면 왜 온톨로지(Ontology)가 바탕이 되어야 하는지 설명한다</a:t>
            </a:r>
          </a:p>
          <a:p>
            <a:pPr algn="l">
              <a:lnSpc>
                <a:spcPct val="110000"/>
              </a:lnSpc>
              <a:spcAft>
                <a:spcPts val="400"/>
              </a:spcAft>
            </a:pPr>
            <a:r>
              <a:rPr sz="1350" b="0">
                <a:solidFill>
                  <a:srgbClr val="1F2A3A"/>
                </a:solidFill>
                <a:latin typeface="맑은 고딕"/>
                <a:ea typeface="맑은 고딕"/>
                <a:cs typeface="맑은 고딕"/>
              </a:rPr>
              <a:t>• 증상, 원인, 조치를 이름과 방향이 있는 관계로 그려 본다</a:t>
            </a:r>
          </a:p>
        </p:txBody>
      </p:sp>
      <p:sp>
        <p:nvSpPr>
          <p:cNvPr id="28" name="Rounded Rectangle 27"/>
          <p:cNvSpPr/>
          <p:nvPr/>
        </p:nvSpPr>
        <p:spPr>
          <a:xfrm>
            <a:off x="9303791" y="5587555"/>
            <a:ext cx="9753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587555"/>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온톨로지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학습 내용의 지식 자산화</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HYD 시스템 구조와 데이터 흐름</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설비 데이터의 의미와 관계</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학습 내용의 지식 자산화</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강의에 앞서, 배운 것을 인출 연습과 자기 설명으로 다져 지식 자산으로 남기는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AI가 정리한 자료와 유창성 착각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AI가 정리한 문서는 읽기 쉬워졌을 뿐이지만, 그 쉬움을 이해로 착각하는 </a:t>
            </a:r>
            <a:r>
              <a:rPr sz="1600" b="1">
                <a:solidFill>
                  <a:srgbClr val="1A6FC4"/>
                </a:solidFill>
                <a:latin typeface="맑은 고딕"/>
                <a:ea typeface="맑은 고딕"/>
                <a:cs typeface="맑은 고딕"/>
              </a:rPr>
              <a:t>유창성 착각</a:t>
            </a:r>
            <a:r>
              <a:rPr sz="1600" b="0">
                <a:solidFill>
                  <a:srgbClr val="556175"/>
                </a:solidFill>
                <a:latin typeface="맑은 고딕"/>
                <a:ea typeface="맑은 고딕"/>
                <a:cs typeface="맑은 고딕"/>
              </a:rPr>
              <a:t>을 일으킨다.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넘겨 만든 자료</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필기와 강의 자료를 넘기면 보기 좋게 정리해 준다</a:t>
            </a:r>
          </a:p>
          <a:p>
            <a:pPr algn="l">
              <a:lnSpc>
                <a:spcPct val="110000"/>
              </a:lnSpc>
              <a:spcAft>
                <a:spcPts val="600"/>
              </a:spcAft>
            </a:pPr>
            <a:r>
              <a:rPr sz="1450" b="0">
                <a:solidFill>
                  <a:srgbClr val="1F2A3A"/>
                </a:solidFill>
                <a:latin typeface="맑은 고딕"/>
                <a:ea typeface="맑은 고딕"/>
                <a:cs typeface="맑은 고딕"/>
              </a:rPr>
              <a:t>• 다시 읽기(Rereading)에 가까워 낯익음만 늘어난다</a:t>
            </a:r>
          </a:p>
          <a:p>
            <a:pPr algn="l">
              <a:lnSpc>
                <a:spcPct val="110000"/>
              </a:lnSpc>
              <a:spcAft>
                <a:spcPts val="600"/>
              </a:spcAft>
            </a:pPr>
            <a:r>
              <a:rPr sz="1450" b="0">
                <a:solidFill>
                  <a:srgbClr val="1F2A3A"/>
                </a:solidFill>
                <a:latin typeface="맑은 고딕"/>
                <a:ea typeface="맑은 고딕"/>
                <a:cs typeface="맑은 고딕"/>
              </a:rPr>
              <a:t>• 보면 알아보는 재인(Recognition)은 되지만</a:t>
            </a:r>
          </a:p>
          <a:p>
            <a:pPr algn="l">
              <a:lnSpc>
                <a:spcPct val="110000"/>
              </a:lnSpc>
              <a:spcAft>
                <a:spcPts val="600"/>
              </a:spcAft>
            </a:pPr>
            <a:r>
              <a:rPr sz="1450" b="0">
                <a:solidFill>
                  <a:srgbClr val="1F2A3A"/>
                </a:solidFill>
                <a:latin typeface="맑은 고딕"/>
                <a:ea typeface="맑은 고딕"/>
                <a:cs typeface="맑은 고딕"/>
              </a:rPr>
              <a:t>• 자료를 덮으면 꺼내지 못한다</a:t>
            </a:r>
          </a:p>
        </p:txBody>
      </p:sp>
      <p:sp>
        <p:nvSpPr>
          <p:cNvPr id="11" name="Rounded Rectangle 10"/>
          <p:cNvSpPr/>
          <p:nvPr/>
        </p:nvSpPr>
        <p:spPr>
          <a:xfrm>
            <a:off x="868680" y="5246433"/>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읽기 좋은 문서</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백지에 내 말로 쓴 기록</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자료 없이 기억에서 꺼내 쓰는 인출 연습(Retrieval Practice)이다</a:t>
            </a:r>
          </a:p>
          <a:p>
            <a:pPr algn="l">
              <a:lnSpc>
                <a:spcPct val="110000"/>
              </a:lnSpc>
              <a:spcAft>
                <a:spcPts val="600"/>
              </a:spcAft>
            </a:pPr>
            <a:r>
              <a:rPr sz="1450" b="0">
                <a:solidFill>
                  <a:srgbClr val="1F2A3A"/>
                </a:solidFill>
                <a:latin typeface="맑은 고딕"/>
                <a:ea typeface="맑은 고딕"/>
                <a:cs typeface="맑은 고딕"/>
              </a:rPr>
              <a:t>• 막히는 곳에서 모르는 부분이 드러난다</a:t>
            </a:r>
          </a:p>
          <a:p>
            <a:pPr algn="l">
              <a:lnSpc>
                <a:spcPct val="110000"/>
              </a:lnSpc>
              <a:spcAft>
                <a:spcPts val="600"/>
              </a:spcAft>
            </a:pPr>
            <a:r>
              <a:rPr sz="1450" b="0">
                <a:solidFill>
                  <a:srgbClr val="1F2A3A"/>
                </a:solidFill>
                <a:latin typeface="맑은 고딕"/>
                <a:ea typeface="맑은 고딕"/>
                <a:cs typeface="맑은 고딕"/>
              </a:rPr>
              <a:t>• 꺼내 쓴 내용은 스스로 떠올리는 회상(Recall)으로 남는다</a:t>
            </a:r>
          </a:p>
        </p:txBody>
      </p:sp>
      <p:sp>
        <p:nvSpPr>
          <p:cNvPr id="18" name="Rounded Rectangle 17"/>
          <p:cNvSpPr/>
          <p:nvPr/>
        </p:nvSpPr>
        <p:spPr>
          <a:xfrm>
            <a:off x="6781647" y="5246433"/>
            <a:ext cx="14173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4173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내 것이 된 지식</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인출 연습: 자료 없이 넓게 먼저 써 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처음에는 깊이보다 범위에 초점을 두고 넓게 떠올려 쓰면, 오개념과 지식의 빈틈이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929636"/>
            <a:ext cx="731520" cy="731520"/>
          </a:xfrm>
          <a:prstGeom prst="ellipse">
            <a:avLst/>
          </a:prstGeom>
          <a:solidFill>
            <a:srgbClr val="E7F3FD"/>
          </a:solidFill>
          <a:ln>
            <a:noFill/>
          </a:ln>
        </p:spPr>
        <p:txBody>
          <a:bodyPr rtlCol="0" anchor="ctr"/>
          <a:lstStyle/>
          <a:p>
            <a:pPr algn="ctr"/>
          </a:p>
        </p:txBody>
      </p:sp>
      <p:pic>
        <p:nvPicPr>
          <p:cNvPr id="8" name="아이콘:x" descr="x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오개념</a:t>
            </a:r>
          </a:p>
          <a:p>
            <a:pPr algn="l">
              <a:lnSpc>
                <a:spcPct val="110000"/>
              </a:lnSpc>
              <a:spcAft>
                <a:spcPts val="400"/>
              </a:spcAft>
            </a:pPr>
            <a:r>
              <a:rPr sz="1400" b="0">
                <a:solidFill>
                  <a:srgbClr val="1F2A3A"/>
                </a:solidFill>
                <a:latin typeface="맑은 고딕"/>
                <a:ea typeface="맑은 고딕"/>
                <a:cs typeface="맑은 고딕"/>
              </a:rPr>
              <a:t>사실과 다르게 쓴 문장</a:t>
            </a:r>
          </a:p>
        </p:txBody>
      </p:sp>
      <p:sp>
        <p:nvSpPr>
          <p:cNvPr id="10" name="Rounded Rectangle 9"/>
          <p:cNvSpPr/>
          <p:nvPr/>
        </p:nvSpPr>
        <p:spPr>
          <a:xfrm>
            <a:off x="777240" y="4824476"/>
            <a:ext cx="141122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824476"/>
            <a:ext cx="141122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Misconception</a:t>
            </a:r>
          </a:p>
        </p:txBody>
      </p:sp>
      <p:sp>
        <p:nvSpPr>
          <p:cNvPr id="12" name="Rounded Rectangle 11"/>
          <p:cNvSpPr/>
          <p:nvPr/>
        </p:nvSpPr>
        <p:spPr>
          <a:xfrm>
            <a:off x="4338218"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929636"/>
            <a:ext cx="731520" cy="731520"/>
          </a:xfrm>
          <a:prstGeom prst="ellipse">
            <a:avLst/>
          </a:prstGeom>
          <a:solidFill>
            <a:srgbClr val="E7F3FD"/>
          </a:solidFill>
          <a:ln>
            <a:noFill/>
          </a:ln>
        </p:spPr>
        <p:txBody>
          <a:bodyPr rtlCol="0" anchor="ctr"/>
          <a:lstStyle/>
          <a:p>
            <a:pPr algn="ctr"/>
          </a:p>
        </p:txBody>
      </p:sp>
      <p:pic>
        <p:nvPicPr>
          <p:cNvPr id="14" name="아이콘:message-dots" descr="message-dots_13294B_1.6.png"/>
          <p:cNvPicPr>
            <a:picLocks noChangeAspect="1"/>
          </p:cNvPicPr>
          <p:nvPr/>
        </p:nvPicPr>
        <p:blipFill>
          <a:blip r:embed="rId4"/>
          <a:stretch>
            <a:fillRect/>
          </a:stretch>
        </p:blipFill>
        <p:spPr>
          <a:xfrm>
            <a:off x="4720437" y="3083255"/>
            <a:ext cx="424281" cy="424281"/>
          </a:xfrm>
          <a:prstGeom prst="rect">
            <a:avLst/>
          </a:prstGeom>
        </p:spPr>
      </p:pic>
      <p:sp>
        <p:nvSpPr>
          <p:cNvPr id="15" name="TextBox 14"/>
          <p:cNvSpPr txBox="1"/>
          <p:nvPr/>
        </p:nvSpPr>
        <p:spPr>
          <a:xfrm>
            <a:off x="4502810"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모호한 이해</a:t>
            </a:r>
          </a:p>
          <a:p>
            <a:pPr algn="l">
              <a:lnSpc>
                <a:spcPct val="110000"/>
              </a:lnSpc>
              <a:spcAft>
                <a:spcPts val="400"/>
              </a:spcAft>
            </a:pPr>
            <a:r>
              <a:rPr sz="1400" b="0">
                <a:solidFill>
                  <a:srgbClr val="1F2A3A"/>
                </a:solidFill>
                <a:latin typeface="맑은 고딕"/>
                <a:ea typeface="맑은 고딕"/>
                <a:cs typeface="맑은 고딕"/>
              </a:rPr>
              <a:t>말은 이어지지만 인과가 빠진 문장</a:t>
            </a:r>
          </a:p>
        </p:txBody>
      </p:sp>
      <p:sp>
        <p:nvSpPr>
          <p:cNvPr id="16" name="Rounded Rectangle 15"/>
          <p:cNvSpPr/>
          <p:nvPr/>
        </p:nvSpPr>
        <p:spPr>
          <a:xfrm>
            <a:off x="4566818" y="4824476"/>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824476"/>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흐릿하게 아는 것</a:t>
            </a:r>
          </a:p>
        </p:txBody>
      </p:sp>
      <p:sp>
        <p:nvSpPr>
          <p:cNvPr id="18" name="Rounded Rectangle 17"/>
          <p:cNvSpPr/>
          <p:nvPr/>
        </p:nvSpPr>
        <p:spPr>
          <a:xfrm>
            <a:off x="8127796" y="2728468"/>
            <a:ext cx="3515258"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929636"/>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3083255"/>
            <a:ext cx="424281" cy="424281"/>
          </a:xfrm>
          <a:prstGeom prst="rect">
            <a:avLst/>
          </a:prstGeom>
        </p:spPr>
      </p:pic>
      <p:sp>
        <p:nvSpPr>
          <p:cNvPr id="21" name="TextBox 20"/>
          <p:cNvSpPr txBox="1"/>
          <p:nvPr/>
        </p:nvSpPr>
        <p:spPr>
          <a:xfrm>
            <a:off x="8292388"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지식의 빈틈</a:t>
            </a:r>
          </a:p>
          <a:p>
            <a:pPr algn="l">
              <a:lnSpc>
                <a:spcPct val="110000"/>
              </a:lnSpc>
              <a:spcAft>
                <a:spcPts val="400"/>
              </a:spcAft>
            </a:pPr>
            <a:r>
              <a:rPr sz="1400" b="0">
                <a:solidFill>
                  <a:srgbClr val="1F2A3A"/>
                </a:solidFill>
                <a:latin typeface="맑은 고딕"/>
                <a:ea typeface="맑은 고딕"/>
                <a:cs typeface="맑은 고딕"/>
              </a:rPr>
              <a:t>더 쓰지 못하고 멈춘 자리</a:t>
            </a:r>
          </a:p>
        </p:txBody>
      </p:sp>
      <p:sp>
        <p:nvSpPr>
          <p:cNvPr id="22" name="Rounded Rectangle 21"/>
          <p:cNvSpPr/>
          <p:nvPr/>
        </p:nvSpPr>
        <p:spPr>
          <a:xfrm>
            <a:off x="8356396" y="4824476"/>
            <a:ext cx="1392936"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824476"/>
            <a:ext cx="139293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Knowledge Gap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너비를 먼저 고치고, 깊이는 그다음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넓게 쓴 글에서 오개념과 모호한 부분을 먼저 바로잡아 개념 사이의 연결을 맞춘 뒤, 빈틈을 하나씩 깊게 파고든다.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arrows-horizontal" descr="arrows-horizontal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먼저 너비</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넓게 쓴 글을 다시 읽는다</a:t>
            </a:r>
          </a:p>
          <a:p>
            <a:pPr algn="l">
              <a:lnSpc>
                <a:spcPct val="110000"/>
              </a:lnSpc>
              <a:spcAft>
                <a:spcPts val="600"/>
              </a:spcAft>
            </a:pPr>
            <a:r>
              <a:rPr sz="1450" b="0">
                <a:solidFill>
                  <a:srgbClr val="1F2A3A"/>
                </a:solidFill>
                <a:latin typeface="맑은 고딕"/>
                <a:ea typeface="맑은 고딕"/>
                <a:cs typeface="맑은 고딕"/>
              </a:rPr>
              <a:t>• 오개념과 모호한 부분을 바로잡는다</a:t>
            </a:r>
          </a:p>
          <a:p>
            <a:pPr algn="l">
              <a:lnSpc>
                <a:spcPct val="110000"/>
              </a:lnSpc>
              <a:spcAft>
                <a:spcPts val="600"/>
              </a:spcAft>
            </a:pPr>
            <a:r>
              <a:rPr sz="1450" b="0">
                <a:solidFill>
                  <a:srgbClr val="1F2A3A"/>
                </a:solidFill>
                <a:latin typeface="맑은 고딕"/>
                <a:ea typeface="맑은 고딕"/>
                <a:cs typeface="맑은 고딕"/>
              </a:rPr>
              <a:t>• 개념 사이의 연결이 맞을 때까지 고쳐 쓴다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전체 구조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rrow-down" descr="arrow-down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그다음 깊이</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빈틈 가운데 하나를 고른다</a:t>
            </a:r>
          </a:p>
          <a:p>
            <a:pPr algn="l">
              <a:lnSpc>
                <a:spcPct val="110000"/>
              </a:lnSpc>
              <a:spcAft>
                <a:spcPts val="600"/>
              </a:spcAft>
            </a:pPr>
            <a:r>
              <a:rPr sz="1450" b="0">
                <a:solidFill>
                  <a:srgbClr val="1F2A3A"/>
                </a:solidFill>
                <a:latin typeface="맑은 고딕"/>
                <a:ea typeface="맑은 고딕"/>
                <a:cs typeface="맑은 고딕"/>
              </a:rPr>
              <a:t>• 그 용어의 하위 개념까지 파고든다</a:t>
            </a:r>
          </a:p>
          <a:p>
            <a:pPr algn="l">
              <a:lnSpc>
                <a:spcPct val="110000"/>
              </a:lnSpc>
              <a:spcAft>
                <a:spcPts val="600"/>
              </a:spcAft>
            </a:pPr>
            <a:r>
              <a:rPr sz="1450" b="0">
                <a:solidFill>
                  <a:srgbClr val="1F2A3A"/>
                </a:solidFill>
                <a:latin typeface="맑은 고딕"/>
                <a:ea typeface="맑은 고딕"/>
                <a:cs typeface="맑은 고딕"/>
              </a:rPr>
              <a:t>• 이해한 것을 다시 전체 구조에 연결한다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빈틈 학습</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정교화 질문: 모르는 말은 하위 개념까지 묻는다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모르는 용어는 정교화 질문으로 하위 개념까지 내려간 뒤, 다시 올라오며 차곡차곡 연결한다.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지식의 빈틈</a:t>
            </a:r>
          </a:p>
          <a:p>
            <a:pPr algn="ctr">
              <a:lnSpc>
                <a:spcPct val="110000"/>
              </a:lnSpc>
              <a:spcAft>
                <a:spcPts val="400"/>
              </a:spcAft>
            </a:pPr>
            <a:r>
              <a:rPr sz="1350" b="0">
                <a:solidFill>
                  <a:srgbClr val="1F2A3A"/>
                </a:solidFill>
                <a:latin typeface="맑은 고딕"/>
                <a:ea typeface="맑은 고딕"/>
                <a:cs typeface="맑은 고딕"/>
              </a:rPr>
              <a:t>공부할 범위에서</a:t>
            </a:r>
          </a:p>
          <a:p>
            <a:pPr algn="ctr">
              <a:lnSpc>
                <a:spcPct val="110000"/>
              </a:lnSpc>
              <a:spcAft>
                <a:spcPts val="400"/>
              </a:spcAft>
            </a:pPr>
            <a:r>
              <a:rPr sz="1350" b="0">
                <a:solidFill>
                  <a:srgbClr val="1F2A3A"/>
                </a:solidFill>
                <a:latin typeface="맑은 고딕"/>
                <a:ea typeface="맑은 고딕"/>
                <a:cs typeface="맑은 고딕"/>
              </a:rPr>
              <a:t>모르는 용어를</a:t>
            </a:r>
          </a:p>
          <a:p>
            <a:pPr algn="ctr">
              <a:lnSpc>
                <a:spcPct val="110000"/>
              </a:lnSpc>
              <a:spcAft>
                <a:spcPts val="400"/>
              </a:spcAft>
            </a:pPr>
            <a:r>
              <a:rPr sz="1350" b="0">
                <a:solidFill>
                  <a:srgbClr val="1F2A3A"/>
                </a:solidFill>
                <a:latin typeface="맑은 고딕"/>
                <a:ea typeface="맑은 고딕"/>
                <a:cs typeface="맑은 고딕"/>
              </a:rPr>
              <a:t>고른다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help" descr="help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정교화 질문</a:t>
            </a:r>
          </a:p>
          <a:p>
            <a:pPr algn="ctr">
              <a:lnSpc>
                <a:spcPct val="110000"/>
              </a:lnSpc>
              <a:spcAft>
                <a:spcPts val="400"/>
              </a:spcAft>
            </a:pPr>
            <a:r>
              <a:rPr sz="1350" b="0">
                <a:solidFill>
                  <a:srgbClr val="1F2A3A"/>
                </a:solidFill>
                <a:latin typeface="맑은 고딕"/>
                <a:ea typeface="맑은 고딕"/>
                <a:cs typeface="맑은 고딕"/>
              </a:rPr>
              <a:t>「무엇인가」 「왜 그런가」를</a:t>
            </a:r>
          </a:p>
          <a:p>
            <a:pPr algn="ctr">
              <a:lnSpc>
                <a:spcPct val="110000"/>
              </a:lnSpc>
              <a:spcAft>
                <a:spcPts val="400"/>
              </a:spcAft>
            </a:pPr>
            <a:r>
              <a:rPr sz="1350" b="0">
                <a:solidFill>
                  <a:srgbClr val="1F2A3A"/>
                </a:solidFill>
                <a:latin typeface="맑은 고딕"/>
                <a:ea typeface="맑은 고딕"/>
                <a:cs typeface="맑은 고딕"/>
              </a:rPr>
              <a:t>AI에게 묻는다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arrow-down" descr="arrow-down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하위 개념으로</a:t>
            </a:r>
          </a:p>
          <a:p>
            <a:pPr algn="ctr">
              <a:lnSpc>
                <a:spcPct val="110000"/>
              </a:lnSpc>
              <a:spcAft>
                <a:spcPts val="400"/>
              </a:spcAft>
            </a:pPr>
            <a:r>
              <a:rPr sz="1350" b="0">
                <a:solidFill>
                  <a:srgbClr val="1F2A3A"/>
                </a:solidFill>
                <a:latin typeface="맑은 고딕"/>
                <a:ea typeface="맑은 고딕"/>
                <a:cs typeface="맑은 고딕"/>
              </a:rPr>
              <a:t>설명에 또 모르는 말이</a:t>
            </a:r>
          </a:p>
          <a:p>
            <a:pPr algn="ctr">
              <a:lnSpc>
                <a:spcPct val="110000"/>
              </a:lnSpc>
              <a:spcAft>
                <a:spcPts val="400"/>
              </a:spcAft>
            </a:pPr>
            <a:r>
              <a:rPr sz="1350" b="0">
                <a:solidFill>
                  <a:srgbClr val="1F2A3A"/>
                </a:solidFill>
                <a:latin typeface="맑은 고딕"/>
                <a:ea typeface="맑은 고딕"/>
                <a:cs typeface="맑은 고딕"/>
              </a:rPr>
              <a:t>있으면 다시 묻는다</a:t>
            </a:r>
          </a:p>
          <a:p>
            <a:pPr algn="ctr">
              <a:lnSpc>
                <a:spcPct val="110000"/>
              </a:lnSpc>
              <a:spcAft>
                <a:spcPts val="400"/>
              </a:spcAft>
            </a:pPr>
            <a:r>
              <a:rPr sz="1350" b="0">
                <a:solidFill>
                  <a:srgbClr val="1F2A3A"/>
                </a:solidFill>
                <a:latin typeface="맑은 고딕"/>
                <a:ea typeface="맑은 고딕"/>
                <a:cs typeface="맑은 고딕"/>
              </a:rPr>
              <a:t>쉬운 말로 풀어</a:t>
            </a:r>
          </a:p>
          <a:p>
            <a:pPr algn="ctr">
              <a:lnSpc>
                <a:spcPct val="110000"/>
              </a:lnSpc>
              <a:spcAft>
                <a:spcPts val="400"/>
              </a:spcAft>
            </a:pPr>
            <a:r>
              <a:rPr sz="1350" b="0">
                <a:solidFill>
                  <a:srgbClr val="1F2A3A"/>
                </a:solidFill>
                <a:latin typeface="맑은 고딕"/>
                <a:ea typeface="맑은 고딕"/>
                <a:cs typeface="맑은 고딕"/>
              </a:rPr>
              <a:t>달라고 해도 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arrow-up" descr="arrow-up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올라온다</a:t>
            </a:r>
          </a:p>
          <a:p>
            <a:pPr algn="ctr">
              <a:lnSpc>
                <a:spcPct val="110000"/>
              </a:lnSpc>
              <a:spcAft>
                <a:spcPts val="400"/>
              </a:spcAft>
            </a:pPr>
            <a:r>
              <a:rPr sz="1350" b="0">
                <a:solidFill>
                  <a:srgbClr val="1F2A3A"/>
                </a:solidFill>
                <a:latin typeface="맑은 고딕"/>
                <a:ea typeface="맑은 고딕"/>
                <a:cs typeface="맑은 고딕"/>
              </a:rPr>
              <a:t>하위 개념부터</a:t>
            </a:r>
          </a:p>
          <a:p>
            <a:pPr algn="ctr">
              <a:lnSpc>
                <a:spcPct val="110000"/>
              </a:lnSpc>
              <a:spcAft>
                <a:spcPts val="400"/>
              </a:spcAft>
            </a:pPr>
            <a:r>
              <a:rPr sz="1350" b="0">
                <a:solidFill>
                  <a:srgbClr val="1F2A3A"/>
                </a:solidFill>
                <a:latin typeface="맑은 고딕"/>
                <a:ea typeface="맑은 고딕"/>
                <a:cs typeface="맑은 고딕"/>
              </a:rPr>
              <a:t>하나씩 이어 붙이며</a:t>
            </a:r>
          </a:p>
          <a:p>
            <a:pPr algn="ctr">
              <a:lnSpc>
                <a:spcPct val="110000"/>
              </a:lnSpc>
              <a:spcAft>
                <a:spcPts val="400"/>
              </a:spcAft>
            </a:pPr>
            <a:r>
              <a:rPr sz="1350" b="0">
                <a:solidFill>
                  <a:srgbClr val="1F2A3A"/>
                </a:solidFill>
                <a:latin typeface="맑은 고딕"/>
                <a:ea typeface="맑은 고딕"/>
                <a:cs typeface="맑은 고딕"/>
              </a:rPr>
              <a:t>처음의 용어로</a:t>
            </a:r>
          </a:p>
          <a:p>
            <a:pPr algn="ctr">
              <a:lnSpc>
                <a:spcPct val="110000"/>
              </a:lnSpc>
              <a:spcAft>
                <a:spcPts val="400"/>
              </a:spcAft>
            </a:pPr>
            <a:r>
              <a:rPr sz="1350" b="0">
                <a:solidFill>
                  <a:srgbClr val="1F2A3A"/>
                </a:solidFill>
                <a:latin typeface="맑은 고딕"/>
                <a:ea typeface="맑은 고딕"/>
                <a:cs typeface="맑은 고딕"/>
              </a:rPr>
              <a:t>돌아온다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자기 설명: 정의를 외우지 않고 내 말로 옮긴다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원리에서 벗어나지 않는다면 정의를 외울 필요 없이, 같은 뜻을 내 말로 옮기는 자기 설명으로 이해하면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book" descr="boo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정의를 그대로 외운다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문장은 재생하지만 다른 말로 물으면 답하지 못한다</a:t>
            </a:r>
          </a:p>
          <a:p>
            <a:pPr algn="l">
              <a:lnSpc>
                <a:spcPct val="110000"/>
              </a:lnSpc>
              <a:spcAft>
                <a:spcPts val="600"/>
              </a:spcAft>
            </a:pPr>
            <a:r>
              <a:rPr sz="1450" b="0">
                <a:solidFill>
                  <a:srgbClr val="1F2A3A"/>
                </a:solidFill>
                <a:latin typeface="맑은 고딕"/>
                <a:ea typeface="맑은 고딕"/>
                <a:cs typeface="맑은 고딕"/>
              </a:rPr>
              <a:t>• 외운 문장을 벗어나면 설명하지 못한다</a:t>
            </a:r>
          </a:p>
        </p:txBody>
      </p:sp>
      <p:sp>
        <p:nvSpPr>
          <p:cNvPr id="11" name="Rounded Rectangle 10"/>
          <p:cNvSpPr/>
          <p:nvPr/>
        </p:nvSpPr>
        <p:spPr>
          <a:xfrm>
            <a:off x="868680" y="494557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기계적 암기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message-dots" descr="message-dots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자기 설명</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원리는 그대로 두고 표현을 내 말로 바꾼다</a:t>
            </a:r>
          </a:p>
          <a:p>
            <a:pPr algn="l">
              <a:lnSpc>
                <a:spcPct val="110000"/>
              </a:lnSpc>
              <a:spcAft>
                <a:spcPts val="600"/>
              </a:spcAft>
            </a:pPr>
            <a:r>
              <a:rPr sz="1450" b="0">
                <a:solidFill>
                  <a:srgbClr val="1F2A3A"/>
                </a:solidFill>
                <a:latin typeface="맑은 고딕"/>
                <a:ea typeface="맑은 고딕"/>
                <a:cs typeface="맑은 고딕"/>
              </a:rPr>
              <a:t>• 다른 말로 물어도 답할 수 있다</a:t>
            </a:r>
          </a:p>
          <a:p>
            <a:pPr algn="l">
              <a:lnSpc>
                <a:spcPct val="110000"/>
              </a:lnSpc>
              <a:spcAft>
                <a:spcPts val="600"/>
              </a:spcAft>
            </a:pPr>
            <a:r>
              <a:rPr sz="1450" b="0">
                <a:solidFill>
                  <a:srgbClr val="1F2A3A"/>
                </a:solidFill>
                <a:latin typeface="맑은 고딕"/>
                <a:ea typeface="맑은 고딕"/>
                <a:cs typeface="맑은 고딕"/>
              </a:rPr>
              <a:t>• 남에게 설명해 보면 빈틈이 드러난다</a:t>
            </a:r>
          </a:p>
        </p:txBody>
      </p:sp>
      <p:sp>
        <p:nvSpPr>
          <p:cNvPr id="18" name="Rounded Rectangle 17"/>
          <p:cNvSpPr/>
          <p:nvPr/>
        </p:nvSpPr>
        <p:spPr>
          <a:xfrm>
            <a:off x="6781647" y="4945570"/>
            <a:ext cx="1664207"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66420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Self-Explanation</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배운 것을 이 방법으로 학습노트에 쌓는다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인출 연습, 정교화 질문, 자기 설명으로 다진 기록을 개인 학습노트에 쌓으면 다시 찾아 쓰는 지식 자산이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내가 쓰고, 이해하고, 내 말로 옮긴 것이 자산이 된다</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school" descr="school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인출한다</a:t>
            </a:r>
          </a:p>
          <a:p>
            <a:pPr algn="l">
              <a:lnSpc>
                <a:spcPct val="110000"/>
              </a:lnSpc>
              <a:spcAft>
                <a:spcPts val="400"/>
              </a:spcAft>
            </a:pPr>
            <a:r>
              <a:rPr sz="1400" b="0">
                <a:solidFill>
                  <a:srgbClr val="1F2A3A"/>
                </a:solidFill>
                <a:latin typeface="맑은 고딕"/>
                <a:ea typeface="맑은 고딕"/>
                <a:cs typeface="맑은 고딕"/>
              </a:rPr>
              <a:t>배운 개념을 자료 없이 넓게 써 본다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pencil" descr="pencil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정교화한다</a:t>
            </a:r>
          </a:p>
          <a:p>
            <a:pPr algn="l">
              <a:lnSpc>
                <a:spcPct val="110000"/>
              </a:lnSpc>
              <a:spcAft>
                <a:spcPts val="400"/>
              </a:spcAft>
            </a:pPr>
            <a:r>
              <a:rPr sz="1400" b="0">
                <a:solidFill>
                  <a:srgbClr val="1F2A3A"/>
                </a:solidFill>
                <a:latin typeface="맑은 고딕"/>
                <a:ea typeface="맑은 고딕"/>
                <a:cs typeface="맑은 고딕"/>
              </a:rPr>
              <a:t>빈틈을 묻고 내 말로 옮긴다</a:t>
            </a:r>
          </a:p>
        </p:txBody>
      </p:sp>
      <p:sp>
        <p:nvSpPr>
          <p:cNvPr id="14" name="Oval 13"/>
          <p:cNvSpPr/>
          <p:nvPr/>
        </p:nvSpPr>
        <p:spPr>
          <a:xfrm>
            <a:off x="8127796" y="4071620"/>
            <a:ext cx="731520" cy="731520"/>
          </a:xfrm>
          <a:prstGeom prst="ellipse">
            <a:avLst/>
          </a:prstGeom>
          <a:solidFill>
            <a:srgbClr val="E7F3FD"/>
          </a:solidFill>
          <a:ln>
            <a:noFill/>
          </a:ln>
        </p:spPr>
        <p:txBody>
          <a:bodyPr rtlCol="0" anchor="ctr"/>
          <a:lstStyle/>
          <a:p>
            <a:pPr algn="ctr"/>
          </a:p>
        </p:txBody>
      </p:sp>
      <p:pic>
        <p:nvPicPr>
          <p:cNvPr id="15" name="아이콘:notebook" descr="notebook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축적한다</a:t>
            </a:r>
          </a:p>
          <a:p>
            <a:pPr algn="l">
              <a:lnSpc>
                <a:spcPct val="110000"/>
              </a:lnSpc>
              <a:spcAft>
                <a:spcPts val="400"/>
              </a:spcAft>
            </a:pPr>
            <a:r>
              <a:rPr sz="1400" b="0">
                <a:solidFill>
                  <a:srgbClr val="1F2A3A"/>
                </a:solidFill>
                <a:latin typeface="맑은 고딕"/>
                <a:ea typeface="맑은 고딕"/>
                <a:cs typeface="맑은 고딕"/>
              </a:rPr>
              <a:t>개인 학습노트에 모아 다시 찾아 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지식 자산화를 위한 개인 학습노트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앞으로 배울 내용을 내 말로 쌓아 갈 학습노트의 틀을 만든다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만드는 학습노트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과정 홈과 학습노트 데이터베이스를 만들고, 개념 하나를 내 말로 써서 첫 기록을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home" descr="home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과정 홈</a:t>
            </a:r>
          </a:p>
          <a:p>
            <a:pPr algn="l">
              <a:lnSpc>
                <a:spcPct val="110000"/>
              </a:lnSpc>
              <a:spcAft>
                <a:spcPts val="400"/>
              </a:spcAft>
            </a:pPr>
            <a:r>
              <a:rPr sz="1400" b="0">
                <a:solidFill>
                  <a:srgbClr val="1F2A3A"/>
                </a:solidFill>
                <a:latin typeface="맑은 고딕"/>
                <a:ea typeface="맑은 고딕"/>
                <a:cs typeface="맑은 고딕"/>
              </a:rPr>
              <a:t>• 과정 전체로 들어가는 첫 페이지이다</a:t>
            </a:r>
          </a:p>
          <a:p>
            <a:pPr algn="l">
              <a:lnSpc>
                <a:spcPct val="110000"/>
              </a:lnSpc>
              <a:spcAft>
                <a:spcPts val="400"/>
              </a:spcAft>
            </a:pPr>
            <a:r>
              <a:rPr sz="1400" b="0">
                <a:solidFill>
                  <a:srgbClr val="1F2A3A"/>
                </a:solidFill>
                <a:latin typeface="맑은 고딕"/>
                <a:ea typeface="맑은 고딕"/>
                <a:cs typeface="맑은 고딕"/>
              </a:rPr>
              <a:t>• 노트 작성 규칙을 몇 줄로 적어 둔다</a:t>
            </a:r>
          </a:p>
        </p:txBody>
      </p:sp>
      <p:sp>
        <p:nvSpPr>
          <p:cNvPr id="10" name="Rounded Rectangle 9"/>
          <p:cNvSpPr/>
          <p:nvPr/>
        </p:nvSpPr>
        <p:spPr>
          <a:xfrm>
            <a:off x="777240" y="536676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기록의 입구</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category" descr="category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구획</a:t>
            </a:r>
          </a:p>
          <a:p>
            <a:pPr algn="l">
              <a:lnSpc>
                <a:spcPct val="110000"/>
              </a:lnSpc>
              <a:spcAft>
                <a:spcPts val="400"/>
              </a:spcAft>
            </a:pPr>
            <a:r>
              <a:rPr sz="1400" b="0">
                <a:solidFill>
                  <a:srgbClr val="1F2A3A"/>
                </a:solidFill>
                <a:latin typeface="맑은 고딕"/>
                <a:ea typeface="맑은 고딕"/>
                <a:cs typeface="맑은 고딕"/>
              </a:rPr>
              <a:t>• 본문을 개념 정리, 참고 자료, 실습 결과로 나눈다</a:t>
            </a:r>
          </a:p>
          <a:p>
            <a:pPr algn="l">
              <a:lnSpc>
                <a:spcPct val="110000"/>
              </a:lnSpc>
              <a:spcAft>
                <a:spcPts val="400"/>
              </a:spcAft>
            </a:pPr>
            <a:r>
              <a:rPr sz="1400" b="0">
                <a:solidFill>
                  <a:srgbClr val="1F2A3A"/>
                </a:solidFill>
                <a:latin typeface="맑은 고딕"/>
                <a:ea typeface="맑은 고딕"/>
                <a:cs typeface="맑은 고딕"/>
              </a:rPr>
              <a:t>• 각 기록이 놓일 자리가 정해진다</a:t>
            </a:r>
          </a:p>
        </p:txBody>
      </p:sp>
      <p:sp>
        <p:nvSpPr>
          <p:cNvPr id="16" name="Rounded Rectangle 15"/>
          <p:cNvSpPr/>
          <p:nvPr/>
        </p:nvSpPr>
        <p:spPr>
          <a:xfrm>
            <a:off x="4566818" y="536676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기록의 자리</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학습노트 데이터베이스</a:t>
            </a:r>
          </a:p>
          <a:p>
            <a:pPr algn="l">
              <a:lnSpc>
                <a:spcPct val="110000"/>
              </a:lnSpc>
              <a:spcAft>
                <a:spcPts val="400"/>
              </a:spcAft>
            </a:pPr>
            <a:r>
              <a:rPr sz="1400" b="0">
                <a:solidFill>
                  <a:srgbClr val="1F2A3A"/>
                </a:solidFill>
                <a:latin typeface="맑은 고딕"/>
                <a:ea typeface="맑은 고딕"/>
                <a:cs typeface="맑은 고딕"/>
              </a:rPr>
              <a:t>• 각 기록에 분야, 이해도, 작성일 같은 메타데이터를 붙인다</a:t>
            </a:r>
          </a:p>
          <a:p>
            <a:pPr algn="l">
              <a:lnSpc>
                <a:spcPct val="110000"/>
              </a:lnSpc>
              <a:spcAft>
                <a:spcPts val="400"/>
              </a:spcAft>
            </a:pPr>
            <a:r>
              <a:rPr sz="1400" b="0">
                <a:solidFill>
                  <a:srgbClr val="1F2A3A"/>
                </a:solidFill>
                <a:latin typeface="맑은 고딕"/>
                <a:ea typeface="맑은 고딕"/>
                <a:cs typeface="맑은 고딕"/>
              </a:rPr>
              <a:t>• 이해도가 낮은 기록만 걸러 다시 인출 연습을 한다</a:t>
            </a:r>
          </a:p>
          <a:p>
            <a:pPr algn="l">
              <a:lnSpc>
                <a:spcPct val="110000"/>
              </a:lnSpc>
              <a:spcAft>
                <a:spcPts val="400"/>
              </a:spcAft>
            </a:pPr>
            <a:r>
              <a:rPr sz="1400" b="0">
                <a:solidFill>
                  <a:srgbClr val="1F2A3A"/>
                </a:solidFill>
                <a:latin typeface="맑은 고딕"/>
                <a:ea typeface="맑은 고딕"/>
                <a:cs typeface="맑은 고딕"/>
              </a:rPr>
              <a:t>• 첫 기록으로 개념 하나를 자기 설명으로 쓴다</a:t>
            </a:r>
          </a:p>
        </p:txBody>
      </p:sp>
      <p:sp>
        <p:nvSpPr>
          <p:cNvPr id="22" name="Rounded Rectangle 21"/>
          <p:cNvSpPr/>
          <p:nvPr/>
        </p:nvSpPr>
        <p:spPr>
          <a:xfrm>
            <a:off x="8356396" y="536676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분류와 복습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HYD 시스템 구조와 데이터 흐름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제조 설비에서 AI의 판단과 조치까지 이어지는 시스템의 구조, 계층, 데이터 흐름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설비에서 관제 화면까지: 현장의 구성요소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설비의 물리량은 센서와 PLC를 거쳐 관제 화면에 이르며, 이 단원에서는 그 데이터를 판단과 조치로 잇는 구조를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ectangle 5"/>
          <p:cNvSpPr/>
          <p:nvPr/>
        </p:nvSpPr>
        <p:spPr>
          <a:xfrm>
            <a:off x="1935441" y="3364674"/>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254946"/>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438361"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물리량</a:t>
            </a:r>
          </a:p>
        </p:txBody>
      </p:sp>
      <p:sp>
        <p:nvSpPr>
          <p:cNvPr id="9" name="Oval 8"/>
          <p:cNvSpPr/>
          <p:nvPr/>
        </p:nvSpPr>
        <p:spPr>
          <a:xfrm>
            <a:off x="1341081"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engine" descr="engine_13294B_1.6.png"/>
          <p:cNvPicPr>
            <a:picLocks noChangeAspect="1"/>
          </p:cNvPicPr>
          <p:nvPr/>
        </p:nvPicPr>
        <p:blipFill>
          <a:blip r:embed="rId3"/>
          <a:stretch>
            <a:fillRect/>
          </a:stretch>
        </p:blipFill>
        <p:spPr>
          <a:xfrm>
            <a:off x="1626374" y="3128759"/>
            <a:ext cx="618134" cy="618134"/>
          </a:xfrm>
          <a:prstGeom prst="rect">
            <a:avLst/>
          </a:prstGeom>
        </p:spPr>
      </p:pic>
      <p:sp>
        <p:nvSpPr>
          <p:cNvPr id="11" name="TextBox 10"/>
          <p:cNvSpPr txBox="1"/>
          <p:nvPr/>
        </p:nvSpPr>
        <p:spPr>
          <a:xfrm>
            <a:off x="640079"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설비</a:t>
            </a:r>
          </a:p>
          <a:p>
            <a:pPr algn="ctr">
              <a:lnSpc>
                <a:spcPct val="110000"/>
              </a:lnSpc>
              <a:spcAft>
                <a:spcPts val="400"/>
              </a:spcAft>
            </a:pPr>
            <a:r>
              <a:rPr sz="1300" b="0">
                <a:solidFill>
                  <a:srgbClr val="1F2A3A"/>
                </a:solidFill>
                <a:latin typeface="맑은 고딕"/>
                <a:ea typeface="맑은 고딕"/>
                <a:cs typeface="맑은 고딕"/>
              </a:rPr>
              <a:t>공정에서 압력, 온도, 진동 같은</a:t>
            </a:r>
          </a:p>
          <a:p>
            <a:pPr algn="ctr">
              <a:lnSpc>
                <a:spcPct val="110000"/>
              </a:lnSpc>
              <a:spcAft>
                <a:spcPts val="400"/>
              </a:spcAft>
            </a:pPr>
            <a:r>
              <a:rPr sz="1300" b="0">
                <a:solidFill>
                  <a:srgbClr val="1F2A3A"/>
                </a:solidFill>
                <a:latin typeface="맑은 고딕"/>
                <a:ea typeface="맑은 고딕"/>
                <a:cs typeface="맑은 고딕"/>
              </a:rPr>
              <a:t>물리량이 생긴다</a:t>
            </a:r>
          </a:p>
        </p:txBody>
      </p:sp>
      <p:sp>
        <p:nvSpPr>
          <p:cNvPr id="12" name="Chevron 11"/>
          <p:cNvSpPr/>
          <p:nvPr/>
        </p:nvSpPr>
        <p:spPr>
          <a:xfrm>
            <a:off x="5976975" y="3254946"/>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5211965"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계측값</a:t>
            </a:r>
          </a:p>
        </p:txBody>
      </p:sp>
      <p:sp>
        <p:nvSpPr>
          <p:cNvPr id="14" name="Oval 13"/>
          <p:cNvSpPr/>
          <p:nvPr/>
        </p:nvSpPr>
        <p:spPr>
          <a:xfrm>
            <a:off x="4114685"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5" name="아이콘:gauge" descr="gauge_13294B_1.6.png"/>
          <p:cNvPicPr>
            <a:picLocks noChangeAspect="1"/>
          </p:cNvPicPr>
          <p:nvPr/>
        </p:nvPicPr>
        <p:blipFill>
          <a:blip r:embed="rId4"/>
          <a:stretch>
            <a:fillRect/>
          </a:stretch>
        </p:blipFill>
        <p:spPr>
          <a:xfrm>
            <a:off x="4399978" y="3128759"/>
            <a:ext cx="618134" cy="618134"/>
          </a:xfrm>
          <a:prstGeom prst="rect">
            <a:avLst/>
          </a:prstGeom>
        </p:spPr>
      </p:pic>
      <p:sp>
        <p:nvSpPr>
          <p:cNvPr id="16" name="TextBox 15"/>
          <p:cNvSpPr txBox="1"/>
          <p:nvPr/>
        </p:nvSpPr>
        <p:spPr>
          <a:xfrm>
            <a:off x="3413683"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센서</a:t>
            </a:r>
          </a:p>
          <a:p>
            <a:pPr algn="ctr">
              <a:lnSpc>
                <a:spcPct val="110000"/>
              </a:lnSpc>
              <a:spcAft>
                <a:spcPts val="400"/>
              </a:spcAft>
            </a:pPr>
            <a:r>
              <a:rPr sz="1300" b="0">
                <a:solidFill>
                  <a:srgbClr val="1F2A3A"/>
                </a:solidFill>
                <a:latin typeface="맑은 고딕"/>
                <a:ea typeface="맑은 고딕"/>
                <a:cs typeface="맑은 고딕"/>
              </a:rPr>
              <a:t>물리량을 전기 신호로 바꿔</a:t>
            </a:r>
          </a:p>
          <a:p>
            <a:pPr algn="ctr">
              <a:lnSpc>
                <a:spcPct val="110000"/>
              </a:lnSpc>
              <a:spcAft>
                <a:spcPts val="400"/>
              </a:spcAft>
            </a:pPr>
            <a:r>
              <a:rPr sz="1300" b="0">
                <a:solidFill>
                  <a:srgbClr val="1F2A3A"/>
                </a:solidFill>
                <a:latin typeface="맑은 고딕"/>
                <a:ea typeface="맑은 고딕"/>
                <a:cs typeface="맑은 고딕"/>
              </a:rPr>
              <a:t>계측값으로 내놓는다</a:t>
            </a:r>
          </a:p>
        </p:txBody>
      </p:sp>
      <p:sp>
        <p:nvSpPr>
          <p:cNvPr id="17" name="Chevron 16"/>
          <p:cNvSpPr/>
          <p:nvPr/>
        </p:nvSpPr>
        <p:spPr>
          <a:xfrm>
            <a:off x="8750579" y="3254946"/>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7985569"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계측값과 상태</a:t>
            </a:r>
          </a:p>
        </p:txBody>
      </p:sp>
      <p:sp>
        <p:nvSpPr>
          <p:cNvPr id="19" name="Oval 18"/>
          <p:cNvSpPr/>
          <p:nvPr/>
        </p:nvSpPr>
        <p:spPr>
          <a:xfrm>
            <a:off x="6888289"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cpu" descr="cpu_13294B_1.6.png"/>
          <p:cNvPicPr>
            <a:picLocks noChangeAspect="1"/>
          </p:cNvPicPr>
          <p:nvPr/>
        </p:nvPicPr>
        <p:blipFill>
          <a:blip r:embed="rId5"/>
          <a:stretch>
            <a:fillRect/>
          </a:stretch>
        </p:blipFill>
        <p:spPr>
          <a:xfrm>
            <a:off x="7173582" y="3128759"/>
            <a:ext cx="618134" cy="618134"/>
          </a:xfrm>
          <a:prstGeom prst="rect">
            <a:avLst/>
          </a:prstGeom>
        </p:spPr>
      </p:pic>
      <p:sp>
        <p:nvSpPr>
          <p:cNvPr id="21" name="TextBox 20"/>
          <p:cNvSpPr txBox="1"/>
          <p:nvPr/>
        </p:nvSpPr>
        <p:spPr>
          <a:xfrm>
            <a:off x="6187287"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PLC</a:t>
            </a:r>
          </a:p>
          <a:p>
            <a:pPr algn="ctr">
              <a:lnSpc>
                <a:spcPct val="110000"/>
              </a:lnSpc>
              <a:spcAft>
                <a:spcPts val="400"/>
              </a:spcAft>
            </a:pPr>
            <a:r>
              <a:rPr sz="1300" b="0">
                <a:solidFill>
                  <a:srgbClr val="1F2A3A"/>
                </a:solidFill>
                <a:latin typeface="맑은 고딕"/>
                <a:ea typeface="맑은 고딕"/>
                <a:cs typeface="맑은 고딕"/>
              </a:rPr>
              <a:t>Programmable Logic Controller</a:t>
            </a:r>
          </a:p>
          <a:p>
            <a:pPr algn="ctr">
              <a:lnSpc>
                <a:spcPct val="110000"/>
              </a:lnSpc>
              <a:spcAft>
                <a:spcPts val="400"/>
              </a:spcAft>
            </a:pPr>
            <a:r>
              <a:rPr sz="1300" b="0">
                <a:solidFill>
                  <a:srgbClr val="1F2A3A"/>
                </a:solidFill>
                <a:latin typeface="맑은 고딕"/>
                <a:ea typeface="맑은 고딕"/>
                <a:cs typeface="맑은 고딕"/>
              </a:rPr>
              <a:t>계측값을 읽어 설비를 제어한다</a:t>
            </a:r>
          </a:p>
        </p:txBody>
      </p:sp>
      <p:sp>
        <p:nvSpPr>
          <p:cNvPr id="22" name="Oval 21"/>
          <p:cNvSpPr/>
          <p:nvPr/>
        </p:nvSpPr>
        <p:spPr>
          <a:xfrm>
            <a:off x="9661893" y="2843466"/>
            <a:ext cx="1188720" cy="1188720"/>
          </a:xfrm>
          <a:prstGeom prst="ellipse">
            <a:avLst/>
          </a:prstGeom>
          <a:solidFill>
            <a:srgbClr val="5CB8F2"/>
          </a:solidFill>
          <a:ln w="28575">
            <a:solidFill>
              <a:srgbClr val="13294B"/>
            </a:solidFill>
          </a:ln>
        </p:spPr>
        <p:txBody>
          <a:bodyPr rtlCol="0" anchor="ctr"/>
          <a:lstStyle/>
          <a:p>
            <a:pPr algn="ctr"/>
          </a:p>
        </p:txBody>
      </p:sp>
      <p:pic>
        <p:nvPicPr>
          <p:cNvPr id="23" name="아이콘:device-desktop-analytics" descr="device-desktop-analytics_13294B_1.6.png"/>
          <p:cNvPicPr>
            <a:picLocks noChangeAspect="1"/>
          </p:cNvPicPr>
          <p:nvPr/>
        </p:nvPicPr>
        <p:blipFill>
          <a:blip r:embed="rId6"/>
          <a:stretch>
            <a:fillRect/>
          </a:stretch>
        </p:blipFill>
        <p:spPr>
          <a:xfrm>
            <a:off x="9947186" y="3128759"/>
            <a:ext cx="618134" cy="618134"/>
          </a:xfrm>
          <a:prstGeom prst="rect">
            <a:avLst/>
          </a:prstGeom>
        </p:spPr>
      </p:pic>
      <p:sp>
        <p:nvSpPr>
          <p:cNvPr id="24" name="TextBox 23"/>
          <p:cNvSpPr txBox="1"/>
          <p:nvPr/>
        </p:nvSpPr>
        <p:spPr>
          <a:xfrm>
            <a:off x="8960891"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관제 화면</a:t>
            </a:r>
          </a:p>
          <a:p>
            <a:pPr algn="ctr">
              <a:lnSpc>
                <a:spcPct val="110000"/>
              </a:lnSpc>
              <a:spcAft>
                <a:spcPts val="400"/>
              </a:spcAft>
            </a:pPr>
            <a:r>
              <a:rPr sz="1300" b="0">
                <a:solidFill>
                  <a:srgbClr val="1F2A3A"/>
                </a:solidFill>
                <a:latin typeface="맑은 고딕"/>
                <a:ea typeface="맑은 고딕"/>
                <a:cs typeface="맑은 고딕"/>
              </a:rPr>
              <a:t>SCADA: Supervisory Control</a:t>
            </a:r>
          </a:p>
          <a:p>
            <a:pPr algn="ctr">
              <a:lnSpc>
                <a:spcPct val="110000"/>
              </a:lnSpc>
              <a:spcAft>
                <a:spcPts val="400"/>
              </a:spcAft>
            </a:pPr>
            <a:r>
              <a:rPr sz="1300" b="0">
                <a:solidFill>
                  <a:srgbClr val="1F2A3A"/>
                </a:solidFill>
                <a:latin typeface="맑은 고딕"/>
                <a:ea typeface="맑은 고딕"/>
                <a:cs typeface="맑은 고딕"/>
              </a:rPr>
              <a:t>and Data Acquisition</a:t>
            </a:r>
          </a:p>
          <a:p>
            <a:pPr algn="ctr">
              <a:lnSpc>
                <a:spcPct val="110000"/>
              </a:lnSpc>
              <a:spcAft>
                <a:spcPts val="400"/>
              </a:spcAft>
            </a:pPr>
            <a:r>
              <a:rPr sz="1300" b="0">
                <a:solidFill>
                  <a:srgbClr val="1F2A3A"/>
                </a:solidFill>
                <a:latin typeface="맑은 고딕"/>
                <a:ea typeface="맑은 고딕"/>
                <a:cs typeface="맑은 고딕"/>
              </a:rPr>
              <a:t>계측값을 보여 주고 조작을 받는다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유압 파워팩 HYD-01의 구성과 유온 TS1의 계측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계측값마다 </a:t>
            </a:r>
            <a:r>
              <a:rPr sz="1600" b="1">
                <a:solidFill>
                  <a:srgbClr val="1A6FC4"/>
                </a:solidFill>
                <a:latin typeface="맑은 고딕"/>
                <a:ea typeface="맑은 고딕"/>
                <a:cs typeface="맑은 고딕"/>
              </a:rPr>
              <a:t>태그</a:t>
            </a:r>
            <a:r>
              <a:rPr sz="1600" b="0">
                <a:solidFill>
                  <a:srgbClr val="556175"/>
                </a:solidFill>
                <a:latin typeface="맑은 고딕"/>
                <a:ea typeface="맑은 고딕"/>
                <a:cs typeface="맑은 고딕"/>
              </a:rPr>
              <a:t>(Tag)라는 이름이 붙으며, 유온 TS1은 오일 쿨러 입구에서 잰 작동유의 온도이다.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설비_유압파워팩.svg" descr="illust_5938720076975900337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41122" y="5315041"/>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작동유 탱크</a:t>
            </a:r>
          </a:p>
          <a:p>
            <a:pPr algn="ctr">
              <a:lnSpc>
                <a:spcPct val="110000"/>
              </a:lnSpc>
              <a:spcAft>
                <a:spcPts val="100"/>
              </a:spcAft>
            </a:pPr>
            <a:r>
              <a:rPr sz="1100" b="0">
                <a:solidFill>
                  <a:srgbClr val="556175"/>
                </a:solidFill>
                <a:latin typeface="맑은 고딕"/>
                <a:ea typeface="맑은 고딕"/>
                <a:cs typeface="맑은 고딕"/>
              </a:rPr>
              <a:t>작동유를 담아 둔다</a:t>
            </a:r>
          </a:p>
        </p:txBody>
      </p:sp>
      <p:sp>
        <p:nvSpPr>
          <p:cNvPr id="8" name="TextBox 7"/>
          <p:cNvSpPr txBox="1"/>
          <p:nvPr/>
        </p:nvSpPr>
        <p:spPr>
          <a:xfrm>
            <a:off x="1415674" y="3116778"/>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모터 · 펌프</a:t>
            </a:r>
          </a:p>
          <a:p>
            <a:pPr algn="ctr">
              <a:lnSpc>
                <a:spcPct val="110000"/>
              </a:lnSpc>
              <a:spcAft>
                <a:spcPts val="100"/>
              </a:spcAft>
            </a:pPr>
            <a:r>
              <a:rPr sz="1100" b="0">
                <a:solidFill>
                  <a:srgbClr val="556175"/>
                </a:solidFill>
                <a:latin typeface="맑은 고딕"/>
                <a:ea typeface="맑은 고딕"/>
                <a:cs typeface="맑은 고딕"/>
              </a:rPr>
              <a:t>작동유를 빨아올려</a:t>
            </a:r>
          </a:p>
          <a:p>
            <a:pPr algn="ctr">
              <a:lnSpc>
                <a:spcPct val="110000"/>
              </a:lnSpc>
              <a:spcAft>
                <a:spcPts val="100"/>
              </a:spcAft>
            </a:pPr>
            <a:r>
              <a:rPr sz="1100" b="0">
                <a:solidFill>
                  <a:srgbClr val="556175"/>
                </a:solidFill>
                <a:latin typeface="맑은 고딕"/>
                <a:ea typeface="맑은 고딕"/>
                <a:cs typeface="맑은 고딕"/>
              </a:rPr>
              <a:t>압력을 걸어 보낸다</a:t>
            </a:r>
          </a:p>
        </p:txBody>
      </p:sp>
      <p:sp>
        <p:nvSpPr>
          <p:cNvPr id="9" name="TextBox 8"/>
          <p:cNvSpPr txBox="1"/>
          <p:nvPr/>
        </p:nvSpPr>
        <p:spPr>
          <a:xfrm>
            <a:off x="5277635" y="190182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PS1</a:t>
            </a:r>
          </a:p>
          <a:p>
            <a:pPr algn="ctr">
              <a:lnSpc>
                <a:spcPct val="110000"/>
              </a:lnSpc>
              <a:spcAft>
                <a:spcPts val="100"/>
              </a:spcAft>
            </a:pPr>
            <a:r>
              <a:rPr sz="1100" b="0">
                <a:solidFill>
                  <a:srgbClr val="556175"/>
                </a:solidFill>
                <a:latin typeface="맑은 고딕"/>
                <a:ea typeface="맑은 고딕"/>
                <a:cs typeface="맑은 고딕"/>
              </a:rPr>
              <a:t>토출 압력 (bar)</a:t>
            </a:r>
          </a:p>
        </p:txBody>
      </p:sp>
      <p:sp>
        <p:nvSpPr>
          <p:cNvPr id="10" name="TextBox 9"/>
          <p:cNvSpPr txBox="1"/>
          <p:nvPr/>
        </p:nvSpPr>
        <p:spPr>
          <a:xfrm>
            <a:off x="7481353" y="1807275"/>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부하</a:t>
            </a:r>
          </a:p>
          <a:p>
            <a:pPr algn="ctr">
              <a:lnSpc>
                <a:spcPct val="110000"/>
              </a:lnSpc>
              <a:spcAft>
                <a:spcPts val="100"/>
              </a:spcAft>
            </a:pPr>
            <a:r>
              <a:rPr sz="1100" b="0">
                <a:solidFill>
                  <a:srgbClr val="556175"/>
                </a:solidFill>
                <a:latin typeface="맑은 고딕"/>
                <a:ea typeface="맑은 고딕"/>
                <a:cs typeface="맑은 고딕"/>
              </a:rPr>
              <a:t>유압으로 움직이는 기계 쪽</a:t>
            </a:r>
          </a:p>
        </p:txBody>
      </p:sp>
      <p:sp>
        <p:nvSpPr>
          <p:cNvPr id="11" name="TextBox 10"/>
          <p:cNvSpPr txBox="1"/>
          <p:nvPr/>
        </p:nvSpPr>
        <p:spPr>
          <a:xfrm>
            <a:off x="5659467" y="2762219"/>
            <a:ext cx="1854614"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TS1 유온</a:t>
            </a:r>
          </a:p>
          <a:p>
            <a:pPr algn="ctr">
              <a:lnSpc>
                <a:spcPct val="110000"/>
              </a:lnSpc>
              <a:spcAft>
                <a:spcPts val="100"/>
              </a:spcAft>
            </a:pPr>
            <a:r>
              <a:rPr sz="1100" b="0">
                <a:solidFill>
                  <a:srgbClr val="556175"/>
                </a:solidFill>
                <a:latin typeface="맑은 고딕"/>
                <a:ea typeface="맑은 고딕"/>
                <a:cs typeface="맑은 고딕"/>
              </a:rPr>
              <a:t>쿨러로 들어가는</a:t>
            </a:r>
          </a:p>
          <a:p>
            <a:pPr algn="ctr">
              <a:lnSpc>
                <a:spcPct val="110000"/>
              </a:lnSpc>
              <a:spcAft>
                <a:spcPts val="100"/>
              </a:spcAft>
            </a:pPr>
            <a:r>
              <a:rPr sz="1100" b="0">
                <a:solidFill>
                  <a:srgbClr val="556175"/>
                </a:solidFill>
                <a:latin typeface="맑은 고딕"/>
                <a:ea typeface="맑은 고딕"/>
                <a:cs typeface="맑은 고딕"/>
              </a:rPr>
              <a:t>작동유의 온도</a:t>
            </a:r>
          </a:p>
          <a:p>
            <a:pPr algn="ctr">
              <a:lnSpc>
                <a:spcPct val="110000"/>
              </a:lnSpc>
              <a:spcAft>
                <a:spcPts val="100"/>
              </a:spcAft>
            </a:pPr>
            <a:r>
              <a:rPr sz="1100" b="0">
                <a:solidFill>
                  <a:srgbClr val="556175"/>
                </a:solidFill>
                <a:latin typeface="맑은 고딕"/>
                <a:ea typeface="맑은 고딕"/>
                <a:cs typeface="맑은 고딕"/>
              </a:rPr>
              <a:t>정상 48 ℃</a:t>
            </a:r>
          </a:p>
        </p:txBody>
      </p:sp>
      <p:sp>
        <p:nvSpPr>
          <p:cNvPr id="12" name="TextBox 11"/>
          <p:cNvSpPr txBox="1"/>
          <p:nvPr/>
        </p:nvSpPr>
        <p:spPr>
          <a:xfrm>
            <a:off x="3892129" y="3636797"/>
            <a:ext cx="196370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CE 냉각 효율</a:t>
            </a:r>
          </a:p>
          <a:p>
            <a:pPr algn="ctr">
              <a:lnSpc>
                <a:spcPct val="110000"/>
              </a:lnSpc>
              <a:spcAft>
                <a:spcPts val="100"/>
              </a:spcAft>
            </a:pPr>
            <a:r>
              <a:rPr sz="1100" b="0">
                <a:solidFill>
                  <a:srgbClr val="556175"/>
                </a:solidFill>
                <a:latin typeface="맑은 고딕"/>
                <a:ea typeface="맑은 고딕"/>
                <a:cs typeface="맑은 고딕"/>
              </a:rPr>
              <a:t>쿨러의 열 배출 정도</a:t>
            </a:r>
          </a:p>
          <a:p>
            <a:pPr algn="ctr">
              <a:lnSpc>
                <a:spcPct val="110000"/>
              </a:lnSpc>
              <a:spcAft>
                <a:spcPts val="100"/>
              </a:spcAft>
            </a:pPr>
            <a:r>
              <a:rPr sz="1100" b="0">
                <a:solidFill>
                  <a:srgbClr val="556175"/>
                </a:solidFill>
                <a:latin typeface="맑은 고딕"/>
                <a:ea typeface="맑은 고딕"/>
                <a:cs typeface="맑은 고딕"/>
              </a:rPr>
              <a:t>다른 값 기반 가상센서값</a:t>
            </a:r>
          </a:p>
          <a:p>
            <a:pPr algn="ctr">
              <a:lnSpc>
                <a:spcPct val="110000"/>
              </a:lnSpc>
              <a:spcAft>
                <a:spcPts val="100"/>
              </a:spcAft>
            </a:pPr>
            <a:r>
              <a:rPr sz="1100" b="0">
                <a:solidFill>
                  <a:srgbClr val="556175"/>
                </a:solidFill>
                <a:latin typeface="맑은 고딕"/>
                <a:ea typeface="맑은 고딕"/>
                <a:cs typeface="맑은 고딕"/>
              </a:rPr>
              <a:t>정상 84 %</a:t>
            </a:r>
          </a:p>
        </p:txBody>
      </p:sp>
      <p:sp>
        <p:nvSpPr>
          <p:cNvPr id="13" name="TextBox 12"/>
          <p:cNvSpPr txBox="1"/>
          <p:nvPr/>
        </p:nvSpPr>
        <p:spPr>
          <a:xfrm>
            <a:off x="6695869" y="5244129"/>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작동유의 열을 공기로 내보낸다</a:t>
            </a:r>
          </a:p>
        </p:txBody>
      </p:sp>
      <p:sp>
        <p:nvSpPr>
          <p:cNvPr id="14" name="TextBox 13"/>
          <p:cNvSpPr txBox="1"/>
          <p:nvPr/>
        </p:nvSpPr>
        <p:spPr>
          <a:xfrm>
            <a:off x="9979627" y="3944081"/>
            <a:ext cx="141823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팬</a:t>
            </a:r>
          </a:p>
          <a:p>
            <a:pPr algn="ctr">
              <a:lnSpc>
                <a:spcPct val="110000"/>
              </a:lnSpc>
              <a:spcAft>
                <a:spcPts val="100"/>
              </a:spcAft>
            </a:pPr>
            <a:r>
              <a:rPr sz="1100" b="0">
                <a:solidFill>
                  <a:srgbClr val="556175"/>
                </a:solidFill>
                <a:latin typeface="맑은 고딕"/>
                <a:ea typeface="맑은 고딕"/>
                <a:cs typeface="맑은 고딕"/>
              </a:rPr>
              <a:t>쿨러에 바람을</a:t>
            </a:r>
          </a:p>
          <a:p>
            <a:pPr algn="ctr">
              <a:lnSpc>
                <a:spcPct val="110000"/>
              </a:lnSpc>
              <a:spcAft>
                <a:spcPts val="100"/>
              </a:spcAft>
            </a:pPr>
            <a:r>
              <a:rPr sz="1100" b="0">
                <a:solidFill>
                  <a:srgbClr val="556175"/>
                </a:solidFill>
                <a:latin typeface="맑은 고딕"/>
                <a:ea typeface="맑은 고딕"/>
                <a:cs typeface="맑은 고딕"/>
              </a:rPr>
              <a:t>보낸다</a:t>
            </a:r>
          </a:p>
        </p:txBody>
      </p:sp>
      <p:sp>
        <p:nvSpPr>
          <p:cNvPr id="15" name="TextBox 14"/>
          <p:cNvSpPr txBox="1"/>
          <p:nvPr/>
        </p:nvSpPr>
        <p:spPr>
          <a:xfrm>
            <a:off x="10165089" y="5315041"/>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VS1</a:t>
            </a:r>
          </a:p>
          <a:p>
            <a:pPr algn="ctr">
              <a:lnSpc>
                <a:spcPct val="110000"/>
              </a:lnSpc>
              <a:spcAft>
                <a:spcPts val="100"/>
              </a:spcAft>
            </a:pPr>
            <a:r>
              <a:rPr sz="1100" b="0">
                <a:solidFill>
                  <a:srgbClr val="556175"/>
                </a:solidFill>
                <a:latin typeface="맑은 고딕"/>
                <a:ea typeface="맑은 고딕"/>
                <a:cs typeface="맑은 고딕"/>
              </a:rPr>
              <a:t>팬 진동 (mm/s)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1 · 설비 옆의 제어기: PLC와 인터록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서버 판단 대기 중 손상 위험이 있어, 위험 수준이면 설비 옆 PLC가 즉시 </a:t>
            </a:r>
            <a:r>
              <a:rPr sz="1600" b="1">
                <a:solidFill>
                  <a:srgbClr val="1A6FC4"/>
                </a:solidFill>
                <a:latin typeface="맑은 고딕"/>
                <a:ea typeface="맑은 고딕"/>
                <a:cs typeface="맑은 고딕"/>
              </a:rPr>
              <a:t>인터록</a:t>
            </a:r>
            <a:r>
              <a:rPr sz="1600" b="0">
                <a:solidFill>
                  <a:srgbClr val="556175"/>
                </a:solidFill>
                <a:latin typeface="맑은 고딕"/>
                <a:ea typeface="맑은 고딕"/>
                <a:cs typeface="맑은 고딕"/>
              </a:rPr>
              <a:t>으로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PLC</a:t>
            </a:r>
          </a:p>
          <a:p>
            <a:pPr algn="l">
              <a:lnSpc>
                <a:spcPct val="110000"/>
              </a:lnSpc>
              <a:spcAft>
                <a:spcPts val="200"/>
              </a:spcAft>
            </a:pPr>
            <a:r>
              <a:rPr sz="1150" b="0">
                <a:solidFill>
                  <a:srgbClr val="556175"/>
                </a:solidFill>
                <a:latin typeface="맑은 고딕"/>
                <a:ea typeface="맑은 고딕"/>
                <a:cs typeface="맑은 고딕"/>
              </a:rPr>
              <a:t>산업용 제어기</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현장에 설치하는 산업용 제어기이다. 입력 읽기 → 프로그램 실행 → 출력 쓰기를 짧은 스캔 주기(Scan Cycle)로 되풀이한다.</a:t>
            </a:r>
          </a:p>
          <a:p>
            <a:pPr algn="l">
              <a:lnSpc>
                <a:spcPct val="110000"/>
              </a:lnSpc>
              <a:spcAft>
                <a:spcPts val="300"/>
              </a:spcAft>
            </a:pPr>
            <a:r>
              <a:rPr sz="1400" b="0">
                <a:solidFill>
                  <a:srgbClr val="1F2A3A"/>
                </a:solidFill>
                <a:latin typeface="맑은 고딕"/>
                <a:ea typeface="맑은 고딕"/>
                <a:cs typeface="맑은 고딕"/>
              </a:rPr>
              <a:t>HYD-01의 PLC는 유온 TS1을 읽고, 팬 속도와 펌프 부하의 설정값(SP)을 받아 설비에 반영한다.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인터록</a:t>
            </a:r>
          </a:p>
          <a:p>
            <a:pPr algn="l">
              <a:lnSpc>
                <a:spcPct val="110000"/>
              </a:lnSpc>
              <a:spcAft>
                <a:spcPts val="200"/>
              </a:spcAft>
            </a:pPr>
            <a:r>
              <a:rPr sz="1150" b="0">
                <a:solidFill>
                  <a:srgbClr val="556175"/>
                </a:solidFill>
                <a:latin typeface="맑은 고딕"/>
                <a:ea typeface="맑은 고딕"/>
                <a:cs typeface="맑은 고딕"/>
              </a:rPr>
              <a:t>Interlock</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위험 조건에 이르면 다른 명령보다 우선해 설비를 안전한 상태로 전환하는 보호 동작이다.</a:t>
            </a:r>
          </a:p>
          <a:p>
            <a:pPr algn="l">
              <a:lnSpc>
                <a:spcPct val="110000"/>
              </a:lnSpc>
              <a:spcAft>
                <a:spcPts val="300"/>
              </a:spcAft>
            </a:pPr>
            <a:r>
              <a:rPr sz="1400" b="0">
                <a:solidFill>
                  <a:srgbClr val="1F2A3A"/>
                </a:solidFill>
                <a:latin typeface="맑은 고딕"/>
                <a:ea typeface="맑은 고딕"/>
                <a:cs typeface="맑은 고딕"/>
              </a:rPr>
              <a:t>예: 유온 TS1이 65 ℃를 넘으면 PLC가 설비를 트립(Trip, 보호 정지)시킨다.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현장 제어</a:t>
            </a:r>
          </a:p>
          <a:p>
            <a:pPr algn="l">
              <a:lnSpc>
                <a:spcPct val="110000"/>
              </a:lnSpc>
              <a:spcAft>
                <a:spcPts val="200"/>
              </a:spcAft>
            </a:pPr>
            <a:r>
              <a:rPr sz="1150" b="0">
                <a:solidFill>
                  <a:srgbClr val="556175"/>
                </a:solidFill>
                <a:latin typeface="맑은 고딕"/>
                <a:ea typeface="맑은 고딕"/>
                <a:cs typeface="맑은 고딕"/>
              </a:rPr>
              <a:t>실시간성</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PLC는 1초에도 수십 번씩 계측값을 읽고 판단한다.</a:t>
            </a:r>
          </a:p>
          <a:p>
            <a:pPr algn="l">
              <a:lnSpc>
                <a:spcPct val="110000"/>
              </a:lnSpc>
              <a:spcAft>
                <a:spcPts val="300"/>
              </a:spcAft>
            </a:pPr>
            <a:r>
              <a:rPr sz="1400" b="0">
                <a:solidFill>
                  <a:srgbClr val="1F2A3A"/>
                </a:solidFill>
                <a:latin typeface="맑은 고딕"/>
                <a:ea typeface="맑은 고딕"/>
                <a:cs typeface="맑은 고딕"/>
              </a:rPr>
              <a:t>서버를 오가는 데는 1초 안팎이 걸리고, 통신이 끊길 수도 있다.</a:t>
            </a:r>
          </a:p>
          <a:p>
            <a:pPr algn="l">
              <a:lnSpc>
                <a:spcPct val="110000"/>
              </a:lnSpc>
              <a:spcAft>
                <a:spcPts val="300"/>
              </a:spcAft>
            </a:pPr>
            <a:r>
              <a:rPr sz="1400" b="0">
                <a:solidFill>
                  <a:srgbClr val="1F2A3A"/>
                </a:solidFill>
                <a:latin typeface="맑은 고딕"/>
                <a:ea typeface="맑은 고딕"/>
                <a:cs typeface="맑은 고딕"/>
              </a:rPr>
              <a:t>설비를 지키는 판단은 통신과 서버를 거치지 않고 설비 옆에서 끝낸다.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HYD-01의 인터록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 토출 압력, 팬 진동 가운데 하나라도 설비가 손상되는 한계에 이르면 HYD-01의 PLC는 설비를 보호 정지시킨다.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712720"/>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유온 TS1</a:t>
            </a:r>
          </a:p>
          <a:p>
            <a:pPr algn="l">
              <a:lnSpc>
                <a:spcPct val="110000"/>
              </a:lnSpc>
              <a:spcAft>
                <a:spcPts val="400"/>
              </a:spcAft>
            </a:pPr>
            <a:r>
              <a:rPr sz="1400" b="0">
                <a:solidFill>
                  <a:srgbClr val="1F2A3A"/>
                </a:solidFill>
                <a:latin typeface="맑은 고딕"/>
                <a:ea typeface="맑은 고딕"/>
                <a:cs typeface="맑은 고딕"/>
              </a:rPr>
              <a:t>• 65 ℃를 넘으면 트립된다</a:t>
            </a:r>
          </a:p>
          <a:p>
            <a:pPr algn="l">
              <a:lnSpc>
                <a:spcPct val="110000"/>
              </a:lnSpc>
              <a:spcAft>
                <a:spcPts val="400"/>
              </a:spcAft>
            </a:pPr>
            <a:r>
              <a:rPr sz="1400" b="0">
                <a:solidFill>
                  <a:srgbClr val="1F2A3A"/>
                </a:solidFill>
                <a:latin typeface="맑은 고딕"/>
                <a:ea typeface="맑은 고딕"/>
                <a:cs typeface="맑은 고딕"/>
              </a:rPr>
              <a:t>• 작동유의 점도가 떨어져 마모가 빨라진다</a:t>
            </a:r>
          </a:p>
        </p:txBody>
      </p:sp>
      <p:sp>
        <p:nvSpPr>
          <p:cNvPr id="10" name="Rounded Rectangle 9"/>
          <p:cNvSpPr/>
          <p:nvPr/>
        </p:nvSpPr>
        <p:spPr>
          <a:xfrm>
            <a:off x="777240" y="5041392"/>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과열</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gauge" descr="gaug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토출 압력 PS1</a:t>
            </a:r>
          </a:p>
          <a:p>
            <a:pPr algn="l">
              <a:lnSpc>
                <a:spcPct val="110000"/>
              </a:lnSpc>
              <a:spcAft>
                <a:spcPts val="400"/>
              </a:spcAft>
            </a:pPr>
            <a:r>
              <a:rPr sz="1400" b="0">
                <a:solidFill>
                  <a:srgbClr val="1F2A3A"/>
                </a:solidFill>
                <a:latin typeface="맑은 고딕"/>
                <a:ea typeface="맑은 고딕"/>
                <a:cs typeface="맑은 고딕"/>
              </a:rPr>
              <a:t>• 130 bar 아래로 내려가면 트립된다</a:t>
            </a:r>
          </a:p>
          <a:p>
            <a:pPr algn="l">
              <a:lnSpc>
                <a:spcPct val="110000"/>
              </a:lnSpc>
              <a:spcAft>
                <a:spcPts val="400"/>
              </a:spcAft>
            </a:pPr>
            <a:r>
              <a:rPr sz="1400" b="0">
                <a:solidFill>
                  <a:srgbClr val="1F2A3A"/>
                </a:solidFill>
                <a:latin typeface="맑은 고딕"/>
                <a:ea typeface="맑은 고딕"/>
                <a:cs typeface="맑은 고딕"/>
              </a:rPr>
              <a:t>• 펌프 마모나 내부 누설을 뜻한다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저압</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진동 VS1</a:t>
            </a:r>
          </a:p>
          <a:p>
            <a:pPr algn="l">
              <a:lnSpc>
                <a:spcPct val="110000"/>
              </a:lnSpc>
              <a:spcAft>
                <a:spcPts val="400"/>
              </a:spcAft>
            </a:pPr>
            <a:r>
              <a:rPr sz="1400" b="0">
                <a:solidFill>
                  <a:srgbClr val="1F2A3A"/>
                </a:solidFill>
                <a:latin typeface="맑은 고딕"/>
                <a:ea typeface="맑은 고딕"/>
                <a:cs typeface="맑은 고딕"/>
              </a:rPr>
              <a:t>• 2.0 mm/s 이상이면 트립된다</a:t>
            </a:r>
          </a:p>
          <a:p>
            <a:pPr algn="l">
              <a:lnSpc>
                <a:spcPct val="110000"/>
              </a:lnSpc>
              <a:spcAft>
                <a:spcPts val="400"/>
              </a:spcAft>
            </a:pPr>
            <a:r>
              <a:rPr sz="1400" b="0">
                <a:solidFill>
                  <a:srgbClr val="1F2A3A"/>
                </a:solidFill>
                <a:latin typeface="맑은 고딕"/>
                <a:ea typeface="맑은 고딕"/>
                <a:cs typeface="맑은 고딕"/>
              </a:rPr>
              <a:t>• 그대로 돌리면 팬 베어링이 손상된다</a:t>
            </a:r>
          </a:p>
        </p:txBody>
      </p:sp>
      <p:sp>
        <p:nvSpPr>
          <p:cNvPr id="22" name="Rounded Rectangle 21"/>
          <p:cNvSpPr/>
          <p:nvPr/>
        </p:nvSpPr>
        <p:spPr>
          <a:xfrm>
            <a:off x="8356396" y="5041392"/>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고진동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현장 통신이 단순한 까닭: 결정성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현장 통신은 지연의 상한을 지켜야 하므로 지터를 키우는 암호화와 인증을 싣지 않고, 보안은 상위 계층이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world" descr="world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사무 통신</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평균 지연(Latency)과 처리량이 중요하다</a:t>
            </a:r>
          </a:p>
          <a:p>
            <a:pPr algn="l">
              <a:lnSpc>
                <a:spcPct val="110000"/>
              </a:lnSpc>
              <a:spcAft>
                <a:spcPts val="600"/>
              </a:spcAft>
            </a:pPr>
            <a:r>
              <a:rPr sz="1450" b="0">
                <a:solidFill>
                  <a:srgbClr val="1F2A3A"/>
                </a:solidFill>
                <a:latin typeface="맑은 고딕"/>
                <a:ea typeface="맑은 고딕"/>
                <a:cs typeface="맑은 고딕"/>
              </a:rPr>
              <a:t>• 암호화와 인증으로 기밀성과 무결성을 지킨다</a:t>
            </a:r>
          </a:p>
          <a:p>
            <a:pPr algn="l">
              <a:lnSpc>
                <a:spcPct val="110000"/>
              </a:lnSpc>
              <a:spcAft>
                <a:spcPts val="600"/>
              </a:spcAft>
            </a:pPr>
            <a:r>
              <a:rPr sz="1450" b="0">
                <a:solidFill>
                  <a:srgbClr val="1F2A3A"/>
                </a:solidFill>
                <a:latin typeface="맑은 고딕"/>
                <a:ea typeface="맑은 고딕"/>
                <a:cs typeface="맑은 고딕"/>
              </a:rPr>
              <a:t>• 지연이 매번 달라져도 된다</a:t>
            </a:r>
          </a:p>
        </p:txBody>
      </p:sp>
      <p:sp>
        <p:nvSpPr>
          <p:cNvPr id="11" name="Rounded Rectangle 10"/>
          <p:cNvSpPr/>
          <p:nvPr/>
        </p:nvSpPr>
        <p:spPr>
          <a:xfrm>
            <a:off x="868680" y="5246433"/>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평균 성능</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engine" descr="engin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현장 통신</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최악의 경우에도 정해진 시간 안에 도착해야 한다</a:t>
            </a:r>
          </a:p>
          <a:p>
            <a:pPr algn="l">
              <a:lnSpc>
                <a:spcPct val="110000"/>
              </a:lnSpc>
              <a:spcAft>
                <a:spcPts val="600"/>
              </a:spcAft>
            </a:pPr>
            <a:r>
              <a:rPr sz="1450" b="0">
                <a:solidFill>
                  <a:srgbClr val="1F2A3A"/>
                </a:solidFill>
                <a:latin typeface="맑은 고딕"/>
                <a:ea typeface="맑은 고딕"/>
                <a:cs typeface="맑은 고딕"/>
              </a:rPr>
              <a:t>• 지연의 흔들림인 지터(Jitter)를 키우는 암호화와 인증을 싣지 않는다</a:t>
            </a:r>
          </a:p>
          <a:p>
            <a:pPr algn="l">
              <a:lnSpc>
                <a:spcPct val="110000"/>
              </a:lnSpc>
              <a:spcAft>
                <a:spcPts val="600"/>
              </a:spcAft>
            </a:pPr>
            <a:r>
              <a:rPr sz="1450" b="0">
                <a:solidFill>
                  <a:srgbClr val="1F2A3A"/>
                </a:solidFill>
                <a:latin typeface="맑은 고딕"/>
                <a:ea typeface="맑은 고딕"/>
                <a:cs typeface="맑은 고딕"/>
              </a:rPr>
              <a:t>• 이 자리에는 Modbus 같은 산업용 통신 규약이 쓰인다</a:t>
            </a:r>
          </a:p>
        </p:txBody>
      </p:sp>
      <p:sp>
        <p:nvSpPr>
          <p:cNvPr id="18" name="Rounded Rectangle 17"/>
          <p:cNvSpPr/>
          <p:nvPr/>
        </p:nvSpPr>
        <p:spPr>
          <a:xfrm>
            <a:off x="6781647" y="5246433"/>
            <a:ext cx="1868424"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86842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결정성(Determinism)</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2 · 엣지 게이트웨이: 원시 값에 맥락을 붙인다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엣지 게이트웨이는 레지스터의 원시 값에 태그 이름과 시각을 붙여, 태그 값과 운전 상태 메시지로 올려 보낸다.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따로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올라온다</a:t>
            </a:r>
          </a:p>
          <a:p>
            <a:pPr algn="l">
              <a:lnSpc>
                <a:spcPct val="110000"/>
              </a:lnSpc>
              <a:spcAft>
                <a:spcPts val="200"/>
              </a:spcAft>
            </a:pPr>
            <a:r>
              <a:rPr sz="1300" b="0">
                <a:solidFill>
                  <a:srgbClr val="E8EEF6"/>
                </a:solidFill>
                <a:latin typeface="Consolas"/>
                <a:ea typeface="맑은 고딕"/>
                <a:cs typeface="맑은 고딕"/>
              </a:rPr>
              <a:t>TS1    48.0</a:t>
            </a:r>
          </a:p>
          <a:p>
            <a:pPr algn="l">
              <a:lnSpc>
                <a:spcPct val="110000"/>
              </a:lnSpc>
              <a:spcAft>
                <a:spcPts val="200"/>
              </a:spcAft>
            </a:pPr>
            <a:r>
              <a:rPr sz="1300" b="0">
                <a:solidFill>
                  <a:srgbClr val="E8EEF6"/>
                </a:solidFill>
                <a:latin typeface="Consolas"/>
                <a:ea typeface="맑은 고딕"/>
                <a:cs typeface="맑은 고딕"/>
              </a:rPr>
              <a:t>CE     84.0</a:t>
            </a:r>
          </a:p>
          <a:p>
            <a:pPr algn="l">
              <a:lnSpc>
                <a:spcPct val="110000"/>
              </a:lnSpc>
              <a:spcAft>
                <a:spcPts val="200"/>
              </a:spcAft>
            </a:pPr>
            <a:r>
              <a:rPr sz="1300" b="0">
                <a:solidFill>
                  <a:srgbClr val="E8EEF6"/>
                </a:solidFill>
                <a:latin typeface="Consolas"/>
                <a:ea typeface="맑은 고딕"/>
                <a:cs typeface="맑은 고딕"/>
              </a:rPr>
              <a:t>PS1    182.0</a:t>
            </a:r>
          </a:p>
          <a:p>
            <a:pPr algn="l">
              <a:lnSpc>
                <a:spcPct val="110000"/>
              </a:lnSpc>
              <a:spcAft>
                <a:spcPts val="200"/>
              </a:spcAft>
            </a:pPr>
            <a:r>
              <a:rPr sz="1300" b="0">
                <a:solidFill>
                  <a:srgbClr val="E8EEF6"/>
                </a:solidFill>
                <a:latin typeface="Consolas"/>
                <a:ea typeface="맑은 고딕"/>
                <a:cs typeface="맑은 고딕"/>
              </a:rPr>
              <a:t>VS1    0.6</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p>
          <a:p>
            <a:pPr algn="l">
              <a:lnSpc>
                <a:spcPct val="110000"/>
              </a:lnSpc>
              <a:spcAft>
                <a:spcPts val="200"/>
              </a:spcAft>
            </a:pPr>
            <a:r>
              <a:rPr sz="1300" b="0">
                <a:solidFill>
                  <a:srgbClr val="E8EEF6"/>
                </a:solidFill>
                <a:latin typeface="Consolas"/>
                <a:ea typeface="맑은 고딕"/>
                <a:cs typeface="맑은 고딕"/>
              </a:rPr>
              <a:t>mode       REMOTE_AUTO</a:t>
            </a:r>
          </a:p>
          <a:p>
            <a:pPr algn="l">
              <a:lnSpc>
                <a:spcPct val="110000"/>
              </a:lnSpc>
              <a:spcAft>
                <a:spcPts val="200"/>
              </a:spcAft>
            </a:pPr>
            <a:r>
              <a:rPr sz="1300" b="0">
                <a:solidFill>
                  <a:srgbClr val="E8EEF6"/>
                </a:solidFill>
                <a:latin typeface="Consolas"/>
                <a:ea typeface="맑은 고딕"/>
                <a:cs typeface="맑은 고딕"/>
              </a:rPr>
              <a:t>state      RUN</a:t>
            </a:r>
          </a:p>
          <a:p>
            <a:pPr algn="l">
              <a:lnSpc>
                <a:spcPct val="110000"/>
              </a:lnSpc>
              <a:spcAft>
                <a:spcPts val="200"/>
              </a:spcAft>
            </a:pPr>
            <a:r>
              <a:rPr sz="1300" b="0">
                <a:solidFill>
                  <a:srgbClr val="E8EEF6"/>
                </a:solidFill>
                <a:latin typeface="Consolas"/>
                <a:ea typeface="맑은 고딕"/>
                <a:cs typeface="맑은 고딕"/>
              </a:rPr>
              <a:t>fan_pct    60</a:t>
            </a:r>
          </a:p>
          <a:p>
            <a:pPr algn="l">
              <a:lnSpc>
                <a:spcPct val="110000"/>
              </a:lnSpc>
              <a:spcAft>
                <a:spcPts val="200"/>
              </a:spcAft>
            </a:pPr>
            <a:r>
              <a:rPr sz="1300" b="0">
                <a:solidFill>
                  <a:srgbClr val="E8EEF6"/>
                </a:solidFill>
                <a:latin typeface="Consolas"/>
                <a:ea typeface="맑은 고딕"/>
                <a:cs typeface="맑은 고딕"/>
              </a:rPr>
              <a:t>load_pct   90</a:t>
            </a:r>
          </a:p>
          <a:p>
            <a:pPr algn="l">
              <a:lnSpc>
                <a:spcPct val="110000"/>
              </a:lnSpc>
              <a:spcAft>
                <a:spcPts val="200"/>
              </a:spcAft>
            </a:pPr>
            <a:r>
              <a:rPr sz="1300" b="0">
                <a:solidFill>
                  <a:srgbClr val="E8EEF6"/>
                </a:solidFill>
                <a:latin typeface="Consolas"/>
                <a:ea typeface="맑은 고딕"/>
                <a:cs typeface="맑은 고딕"/>
              </a:rPr>
              <a:t>interlock  PASS</a:t>
            </a:r>
          </a:p>
        </p:txBody>
      </p:sp>
      <p:sp>
        <p:nvSpPr>
          <p:cNvPr id="8" name="TextBox 7"/>
          <p:cNvSpPr txBox="1"/>
          <p:nvPr/>
        </p:nvSpPr>
        <p:spPr>
          <a:xfrm>
            <a:off x="7635240" y="1627632"/>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TS1 · CE</a:t>
            </a:r>
          </a:p>
          <a:p>
            <a:pPr algn="l">
              <a:lnSpc>
                <a:spcPct val="110000"/>
              </a:lnSpc>
              <a:spcAft>
                <a:spcPts val="400"/>
              </a:spcAft>
            </a:pPr>
            <a:r>
              <a:rPr sz="1400" b="0">
                <a:solidFill>
                  <a:srgbClr val="1F2A3A"/>
                </a:solidFill>
                <a:latin typeface="맑은 고딕"/>
                <a:ea typeface="맑은 고딕"/>
                <a:cs typeface="맑은 고딕"/>
              </a:rPr>
              <a:t>유온(쿨러 입구의 작동유 온도)은 정상 48 ℃, 냉각 효율(쿨러가 열을 내보내는 정도)은 정상 84 %이다.</a:t>
            </a:r>
          </a:p>
        </p:txBody>
      </p:sp>
      <p:sp>
        <p:nvSpPr>
          <p:cNvPr id="9" name="TextBox 8"/>
          <p:cNvSpPr txBox="1"/>
          <p:nvPr/>
        </p:nvSpPr>
        <p:spPr>
          <a:xfrm>
            <a:off x="7635240" y="2809494"/>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mode · interlock</a:t>
            </a:r>
          </a:p>
          <a:p>
            <a:pPr algn="l">
              <a:lnSpc>
                <a:spcPct val="110000"/>
              </a:lnSpc>
              <a:spcAft>
                <a:spcPts val="400"/>
              </a:spcAft>
            </a:pPr>
            <a:r>
              <a:rPr sz="1400" b="0">
                <a:solidFill>
                  <a:srgbClr val="1F2A3A"/>
                </a:solidFill>
                <a:latin typeface="맑은 고딕"/>
                <a:ea typeface="맑은 고딕"/>
                <a:cs typeface="맑은 고딕"/>
              </a:rPr>
              <a:t>운전 모드와 인터록의 상태이다. 원격 자동(REMOTE_AUTO)으로 돌고 있고 인터록에 걸리지 않아 PASS이다.</a:t>
            </a:r>
          </a:p>
        </p:txBody>
      </p:sp>
      <p:sp>
        <p:nvSpPr>
          <p:cNvPr id="10" name="TextBox 9"/>
          <p:cNvSpPr txBox="1"/>
          <p:nvPr/>
        </p:nvSpPr>
        <p:spPr>
          <a:xfrm>
            <a:off x="7635240" y="3991356"/>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그 밖의 항목</a:t>
            </a:r>
          </a:p>
          <a:p>
            <a:pPr algn="l">
              <a:lnSpc>
                <a:spcPct val="110000"/>
              </a:lnSpc>
              <a:spcAft>
                <a:spcPts val="400"/>
              </a:spcAft>
            </a:pPr>
            <a:r>
              <a:rPr sz="1400" b="0">
                <a:solidFill>
                  <a:srgbClr val="1F2A3A"/>
                </a:solidFill>
                <a:latin typeface="맑은 고딕"/>
                <a:ea typeface="맑은 고딕"/>
                <a:cs typeface="맑은 고딕"/>
              </a:rPr>
              <a:t>토출 압력 PS1과 팬 진동 VS1, 운전 중인지와 팬 속도 · 부하의 비율이 함께 올라온다.</a:t>
            </a:r>
          </a:p>
        </p:txBody>
      </p:sp>
      <p:sp>
        <p:nvSpPr>
          <p:cNvPr id="11" name="TextBox 10"/>
          <p:cNvSpPr txBox="1"/>
          <p:nvPr/>
        </p:nvSpPr>
        <p:spPr>
          <a:xfrm>
            <a:off x="7635240" y="5173218"/>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엣지 게이트웨이</a:t>
            </a:r>
          </a:p>
          <a:p>
            <a:pPr algn="l">
              <a:lnSpc>
                <a:spcPct val="110000"/>
              </a:lnSpc>
              <a:spcAft>
                <a:spcPts val="400"/>
              </a:spcAft>
            </a:pPr>
            <a:r>
              <a:rPr sz="1400" b="0">
                <a:solidFill>
                  <a:srgbClr val="1F2A3A"/>
                </a:solidFill>
                <a:latin typeface="맑은 고딕"/>
                <a:ea typeface="맑은 고딕"/>
                <a:cs typeface="맑은 고딕"/>
              </a:rPr>
              <a:t>원시 값을 이름과 시각을 갖춘 메시지로 바꾸는 프로토콜 변환의 자리이다. 이 역할에는 EdgeX Foundry 같은 것이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점대점 연결의 한계: 강한 결합과 중개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점대점은 송신 측이 각 수신 측을 알고 직접 연결해, 수신 측 증가마다 설비 수정이 필요한 강한 결합이다.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점대점 연결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송신 측이 수신 측의 주소를 모두 안다</a:t>
            </a:r>
          </a:p>
          <a:p>
            <a:pPr algn="l">
              <a:lnSpc>
                <a:spcPct val="110000"/>
              </a:lnSpc>
              <a:spcAft>
                <a:spcPts val="600"/>
              </a:spcAft>
            </a:pPr>
            <a:r>
              <a:rPr sz="1450" b="0">
                <a:solidFill>
                  <a:srgbClr val="1F2A3A"/>
                </a:solidFill>
                <a:latin typeface="맑은 고딕"/>
                <a:ea typeface="맑은 고딕"/>
                <a:cs typeface="맑은 고딕"/>
              </a:rPr>
              <a:t>• 수신 측이 하나 늘면 설비 쪽 프로그램을 고친다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강한 결합</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roadcast" descr="broadcas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메시지 브로커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송신 측은 브로커에만 보낸다</a:t>
            </a:r>
          </a:p>
          <a:p>
            <a:pPr algn="l">
              <a:lnSpc>
                <a:spcPct val="110000"/>
              </a:lnSpc>
              <a:spcAft>
                <a:spcPts val="600"/>
              </a:spcAft>
            </a:pPr>
            <a:r>
              <a:rPr sz="1450" b="0">
                <a:solidFill>
                  <a:srgbClr val="1F2A3A"/>
                </a:solidFill>
                <a:latin typeface="맑은 고딕"/>
                <a:ea typeface="맑은 고딕"/>
                <a:cs typeface="맑은 고딕"/>
              </a:rPr>
              <a:t>• 수신 측은 받을 주제를 브로커에 등록한다</a:t>
            </a:r>
          </a:p>
          <a:p>
            <a:pPr algn="l">
              <a:lnSpc>
                <a:spcPct val="110000"/>
              </a:lnSpc>
              <a:spcAft>
                <a:spcPts val="600"/>
              </a:spcAft>
            </a:pPr>
            <a:r>
              <a:rPr sz="1450" b="0">
                <a:solidFill>
                  <a:srgbClr val="1F2A3A"/>
                </a:solidFill>
                <a:latin typeface="맑은 고딕"/>
                <a:ea typeface="맑은 고딕"/>
                <a:cs typeface="맑은 고딕"/>
              </a:rPr>
              <a:t>• 수신 측이 늘어도 설비 쪽은 그대로이다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느슨한 결합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MQTT와 브로커: 발행과 구독</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MQTT는 발행자와 구독자 사이에 </a:t>
            </a:r>
            <a:r>
              <a:rPr sz="1600" b="1">
                <a:solidFill>
                  <a:srgbClr val="1A6FC4"/>
                </a:solidFill>
                <a:latin typeface="맑은 고딕"/>
                <a:ea typeface="맑은 고딕"/>
                <a:cs typeface="맑은 고딕"/>
              </a:rPr>
              <a:t>브로커</a:t>
            </a:r>
            <a:r>
              <a:rPr sz="1600" b="0">
                <a:solidFill>
                  <a:srgbClr val="556175"/>
                </a:solidFill>
                <a:latin typeface="맑은 고딕"/>
                <a:ea typeface="맑은 고딕"/>
                <a:cs typeface="맑은 고딕"/>
              </a:rPr>
              <a:t>를 두고 토픽으로 메시지를 전달하는 발행 · 구독 규약이다.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pic>
        <p:nvPicPr>
          <p:cNvPr id="6" name="삽화:리니지_1_MQTT.svg" descr="illust_8440944078357456149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06557" y="2478572"/>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유온 TS1을 잰다</a:t>
            </a:r>
          </a:p>
        </p:txBody>
      </p:sp>
      <p:sp>
        <p:nvSpPr>
          <p:cNvPr id="8" name="TextBox 7"/>
          <p:cNvSpPr txBox="1"/>
          <p:nvPr/>
        </p:nvSpPr>
        <p:spPr>
          <a:xfrm>
            <a:off x="2102972" y="2124014"/>
            <a:ext cx="1527329" cy="1018920"/>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발행자</a:t>
            </a:r>
          </a:p>
          <a:p>
            <a:pPr algn="ctr">
              <a:lnSpc>
                <a:spcPct val="110000"/>
              </a:lnSpc>
              <a:spcAft>
                <a:spcPts val="100"/>
              </a:spcAft>
            </a:pPr>
            <a:r>
              <a:rPr sz="1100" b="0">
                <a:solidFill>
                  <a:srgbClr val="556175"/>
                </a:solidFill>
                <a:latin typeface="맑은 고딕"/>
                <a:ea typeface="맑은 고딕"/>
                <a:cs typeface="맑은 고딕"/>
              </a:rPr>
              <a:t>Publisher</a:t>
            </a:r>
          </a:p>
          <a:p>
            <a:pPr algn="ctr">
              <a:lnSpc>
                <a:spcPct val="110000"/>
              </a:lnSpc>
              <a:spcAft>
                <a:spcPts val="100"/>
              </a:spcAft>
            </a:pPr>
            <a:r>
              <a:rPr sz="1100" b="0">
                <a:solidFill>
                  <a:srgbClr val="556175"/>
                </a:solidFill>
                <a:latin typeface="맑은 고딕"/>
                <a:ea typeface="맑은 고딕"/>
                <a:cs typeface="맑은 고딕"/>
              </a:rPr>
              <a:t>엣지 게이트웨이가 데이터를</a:t>
            </a:r>
          </a:p>
          <a:p>
            <a:pPr algn="ctr">
              <a:lnSpc>
                <a:spcPct val="110000"/>
              </a:lnSpc>
              <a:spcAft>
                <a:spcPts val="100"/>
              </a:spcAft>
            </a:pPr>
            <a:r>
              <a:rPr sz="1100" b="0">
                <a:solidFill>
                  <a:srgbClr val="556175"/>
                </a:solidFill>
                <a:latin typeface="맑은 고딕"/>
                <a:ea typeface="맑은 고딕"/>
                <a:cs typeface="맑은 고딕"/>
              </a:rPr>
              <a:t>토픽으로 발행한다</a:t>
            </a:r>
          </a:p>
        </p:txBody>
      </p:sp>
      <p:sp>
        <p:nvSpPr>
          <p:cNvPr id="9" name="TextBox 8"/>
          <p:cNvSpPr txBox="1"/>
          <p:nvPr/>
        </p:nvSpPr>
        <p:spPr>
          <a:xfrm>
            <a:off x="3608482" y="2265837"/>
            <a:ext cx="152732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브로커</a:t>
            </a:r>
          </a:p>
          <a:p>
            <a:pPr algn="ctr">
              <a:lnSpc>
                <a:spcPct val="110000"/>
              </a:lnSpc>
              <a:spcAft>
                <a:spcPts val="100"/>
              </a:spcAft>
            </a:pPr>
            <a:r>
              <a:rPr sz="1100" b="0">
                <a:solidFill>
                  <a:srgbClr val="556175"/>
                </a:solidFill>
                <a:latin typeface="맑은 고딕"/>
                <a:ea typeface="맑은 고딕"/>
                <a:cs typeface="맑은 고딕"/>
              </a:rPr>
              <a:t>Broker · 토픽을 보고</a:t>
            </a:r>
          </a:p>
          <a:p>
            <a:pPr algn="ctr">
              <a:lnSpc>
                <a:spcPct val="110000"/>
              </a:lnSpc>
              <a:spcAft>
                <a:spcPts val="100"/>
              </a:spcAft>
            </a:pPr>
            <a:r>
              <a:rPr sz="1100" b="0">
                <a:solidFill>
                  <a:srgbClr val="556175"/>
                </a:solidFill>
                <a:latin typeface="맑은 고딕"/>
                <a:ea typeface="맑은 고딕"/>
                <a:cs typeface="맑은 고딕"/>
              </a:rPr>
              <a:t>구독자에게 전달한다</a:t>
            </a:r>
          </a:p>
        </p:txBody>
      </p:sp>
      <p:sp>
        <p:nvSpPr>
          <p:cNvPr id="10" name="TextBox 9"/>
          <p:cNvSpPr txBox="1"/>
          <p:nvPr/>
        </p:nvSpPr>
        <p:spPr>
          <a:xfrm>
            <a:off x="859290" y="3991356"/>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plant/hyd01/tag/TS1</a:t>
            </a:r>
          </a:p>
          <a:p>
            <a:pPr algn="ctr">
              <a:lnSpc>
                <a:spcPct val="110000"/>
              </a:lnSpc>
              <a:spcAft>
                <a:spcPts val="100"/>
              </a:spcAft>
            </a:pPr>
            <a:r>
              <a:rPr sz="1100" b="0">
                <a:solidFill>
                  <a:srgbClr val="556175"/>
                </a:solidFill>
                <a:latin typeface="맑은 고딕"/>
                <a:ea typeface="맑은 고딕"/>
                <a:cs typeface="맑은 고딕"/>
              </a:rPr>
              <a:t>토픽(Topic): 메시지에 붙는 주소</a:t>
            </a:r>
          </a:p>
          <a:p>
            <a:pPr algn="ctr">
              <a:lnSpc>
                <a:spcPct val="110000"/>
              </a:lnSpc>
              <a:spcAft>
                <a:spcPts val="100"/>
              </a:spcAft>
            </a:pPr>
            <a:r>
              <a:rPr sz="1100" b="0">
                <a:solidFill>
                  <a:srgbClr val="556175"/>
                </a:solidFill>
                <a:latin typeface="맑은 고딕"/>
                <a:ea typeface="맑은 고딕"/>
                <a:cs typeface="맑은 고딕"/>
              </a:rPr>
              <a:t>설비 hyd01 · 태그 TS1의 값</a:t>
            </a:r>
          </a:p>
        </p:txBody>
      </p:sp>
      <p:sp>
        <p:nvSpPr>
          <p:cNvPr id="11" name="TextBox 10"/>
          <p:cNvSpPr txBox="1"/>
          <p:nvPr/>
        </p:nvSpPr>
        <p:spPr>
          <a:xfrm>
            <a:off x="3553935" y="5466319"/>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구독자</a:t>
            </a:r>
          </a:p>
          <a:p>
            <a:pPr algn="ctr">
              <a:lnSpc>
                <a:spcPct val="110000"/>
              </a:lnSpc>
              <a:spcAft>
                <a:spcPts val="100"/>
              </a:spcAft>
            </a:pPr>
            <a:r>
              <a:rPr sz="1100" b="0">
                <a:solidFill>
                  <a:srgbClr val="556175"/>
                </a:solidFill>
                <a:latin typeface="맑은 고딕"/>
                <a:ea typeface="맑은 고딕"/>
                <a:cs typeface="맑은 고딕"/>
              </a:rPr>
              <a:t>Subscriber</a:t>
            </a:r>
          </a:p>
          <a:p>
            <a:pPr algn="ctr">
              <a:lnSpc>
                <a:spcPct val="110000"/>
              </a:lnSpc>
              <a:spcAft>
                <a:spcPts val="100"/>
              </a:spcAft>
            </a:pPr>
            <a:r>
              <a:rPr sz="1100" b="0">
                <a:solidFill>
                  <a:srgbClr val="556175"/>
                </a:solidFill>
                <a:latin typeface="맑은 고딕"/>
                <a:ea typeface="맑은 고딕"/>
                <a:cs typeface="맑은 고딕"/>
              </a:rPr>
              <a:t>운전 화면</a:t>
            </a:r>
          </a:p>
        </p:txBody>
      </p:sp>
      <p:sp>
        <p:nvSpPr>
          <p:cNvPr id="12" name="TextBox 11"/>
          <p:cNvSpPr txBox="1"/>
          <p:nvPr/>
        </p:nvSpPr>
        <p:spPr>
          <a:xfrm>
            <a:off x="5343092" y="3991356"/>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구독자</a:t>
            </a:r>
          </a:p>
          <a:p>
            <a:pPr algn="ctr">
              <a:lnSpc>
                <a:spcPct val="110000"/>
              </a:lnSpc>
              <a:spcAft>
                <a:spcPts val="100"/>
              </a:spcAft>
            </a:pPr>
            <a:r>
              <a:rPr sz="1100" b="0">
                <a:solidFill>
                  <a:srgbClr val="556175"/>
                </a:solidFill>
                <a:latin typeface="맑은 고딕"/>
                <a:ea typeface="맑은 고딕"/>
                <a:cs typeface="맑은 고딕"/>
              </a:rPr>
              <a:t>Subscriber</a:t>
            </a:r>
          </a:p>
          <a:p>
            <a:pPr algn="ctr">
              <a:lnSpc>
                <a:spcPct val="110000"/>
              </a:lnSpc>
              <a:spcAft>
                <a:spcPts val="100"/>
              </a:spcAft>
            </a:pPr>
            <a:r>
              <a:rPr sz="1100" b="0">
                <a:solidFill>
                  <a:srgbClr val="556175"/>
                </a:solidFill>
                <a:latin typeface="맑은 고딕"/>
                <a:ea typeface="맑은 고딕"/>
                <a:cs typeface="맑은 고딕"/>
              </a:rPr>
              <a:t>수집 서비스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토픽의 구조: 빗금으로 나눈 계층형 주소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토픽은 빗금으로 계층을 나눈 문자열이므로, 설비나 태그가 바뀌면 해당 자리만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plant / hyd01 / tag / TS1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plant/hyd01/tag/TS1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a:lnSpc>
                <a:spcPct val="110000"/>
              </a:lnSpc>
              <a:spcAft>
                <a:spcPts val="200"/>
              </a:spcAft>
            </a:pPr>
            <a:r>
              <a:rPr sz="1300" b="0">
                <a:solidFill>
                  <a:srgbClr val="E8EEF6"/>
                </a:solidFill>
                <a:latin typeface="Consolas"/>
                <a:ea typeface="맑은 고딕"/>
                <a:cs typeface="맑은 고딕"/>
              </a:rPr>
              <a:t>plant/hyd01/tag/CE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p>
          <a:p>
            <a:pPr algn="l">
              <a:lnSpc>
                <a:spcPct val="110000"/>
              </a:lnSpc>
              <a:spcAft>
                <a:spcPts val="200"/>
              </a:spcAft>
            </a:pPr>
            <a:r>
              <a:rPr sz="1300" b="0">
                <a:solidFill>
                  <a:srgbClr val="E8EEF6"/>
                </a:solidFill>
                <a:latin typeface="Consolas"/>
                <a:ea typeface="맑은 고딕"/>
                <a:cs typeface="맑은 고딕"/>
              </a:rPr>
              <a:t>plant/hyd02/tag/TS1     HYD-02</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a:lnSpc>
                <a:spcPct val="110000"/>
              </a:lnSpc>
              <a:spcAft>
                <a:spcPts val="200"/>
              </a:spcAft>
            </a:pPr>
            <a:r>
              <a:rPr sz="1300" b="0">
                <a:solidFill>
                  <a:srgbClr val="E8EEF6"/>
                </a:solidFill>
                <a:latin typeface="Consolas"/>
                <a:ea typeface="맑은 고딕"/>
                <a:cs typeface="맑은 고딕"/>
              </a:rPr>
              <a:t>plant/hyd01/status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p>
        </p:txBody>
      </p:sp>
      <p:sp>
        <p:nvSpPr>
          <p:cNvPr id="8" name="TextBox 7"/>
          <p:cNvSpPr txBox="1"/>
          <p:nvPr/>
        </p:nvSpPr>
        <p:spPr>
          <a:xfrm>
            <a:off x="7635240" y="2545207"/>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hyd01</a:t>
            </a:r>
          </a:p>
          <a:p>
            <a:pPr algn="l">
              <a:lnSpc>
                <a:spcPct val="110000"/>
              </a:lnSpc>
              <a:spcAft>
                <a:spcPts val="400"/>
              </a:spcAft>
            </a:pPr>
            <a:r>
              <a:rPr sz="1400" b="0">
                <a:solidFill>
                  <a:srgbClr val="1F2A3A"/>
                </a:solidFill>
                <a:latin typeface="맑은 고딕"/>
                <a:ea typeface="맑은 고딕"/>
                <a:cs typeface="맑은 고딕"/>
              </a:rPr>
              <a:t>설비 자리이다. HYD-01, HYD-02, HYD-03 세 대가 hyd01, hyd02, hyd03으로 들어간다.</a:t>
            </a:r>
          </a:p>
        </p:txBody>
      </p:sp>
      <p:sp>
        <p:nvSpPr>
          <p:cNvPr id="9" name="TextBox 8"/>
          <p:cNvSpPr txBox="1"/>
          <p:nvPr/>
        </p:nvSpPr>
        <p:spPr>
          <a:xfrm>
            <a:off x="7635240" y="3509306"/>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tag · TS1</a:t>
            </a:r>
          </a:p>
          <a:p>
            <a:pPr algn="l">
              <a:lnSpc>
                <a:spcPct val="110000"/>
              </a:lnSpc>
              <a:spcAft>
                <a:spcPts val="400"/>
              </a:spcAft>
            </a:pPr>
            <a:r>
              <a:rPr sz="1400" b="0">
                <a:solidFill>
                  <a:srgbClr val="1F2A3A"/>
                </a:solidFill>
                <a:latin typeface="맑은 고딕"/>
                <a:ea typeface="맑은 고딕"/>
                <a:cs typeface="맑은 고딕"/>
              </a:rPr>
              <a:t>태그 값이라는 표시와 태그 이름이다.</a:t>
            </a:r>
          </a:p>
        </p:txBody>
      </p:sp>
      <p:sp>
        <p:nvSpPr>
          <p:cNvPr id="10" name="TextBox 9"/>
          <p:cNvSpPr txBox="1"/>
          <p:nvPr/>
        </p:nvSpPr>
        <p:spPr>
          <a:xfrm>
            <a:off x="7635240" y="4473405"/>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status</a:t>
            </a:r>
          </a:p>
          <a:p>
            <a:pPr algn="l">
              <a:lnSpc>
                <a:spcPct val="110000"/>
              </a:lnSpc>
              <a:spcAft>
                <a:spcPts val="400"/>
              </a:spcAft>
            </a:pPr>
            <a:r>
              <a:rPr sz="1400" b="0">
                <a:solidFill>
                  <a:srgbClr val="1F2A3A"/>
                </a:solidFill>
                <a:latin typeface="맑은 고딕"/>
                <a:ea typeface="맑은 고딕"/>
                <a:cs typeface="맑은 고딕"/>
              </a:rPr>
              <a:t>앞에서 본 운전 상태가 올라오는 토픽이다.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발행과 구독이 이루어지는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브로커는 메시지를 보관하지 않으므로, 구독자가 토픽을 미리 구독해 두지 않으면 발행된 메시지를 전달할 곳이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ectangle 5"/>
          <p:cNvSpPr/>
          <p:nvPr/>
        </p:nvSpPr>
        <p:spPr>
          <a:xfrm>
            <a:off x="2397709" y="3146679"/>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2180539" y="2947797"/>
            <a:ext cx="434340" cy="434340"/>
          </a:xfrm>
          <a:prstGeom prst="rect">
            <a:avLst/>
          </a:prstGeom>
        </p:spPr>
      </p:pic>
      <p:sp>
        <p:nvSpPr>
          <p:cNvPr id="9" name="Oval 8"/>
          <p:cNvSpPr/>
          <p:nvPr/>
        </p:nvSpPr>
        <p:spPr>
          <a:xfrm>
            <a:off x="2557729"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구독</a:t>
            </a:r>
          </a:p>
          <a:p>
            <a:pPr algn="ctr">
              <a:lnSpc>
                <a:spcPct val="110000"/>
              </a:lnSpc>
              <a:spcAft>
                <a:spcPts val="400"/>
              </a:spcAft>
            </a:pPr>
            <a:r>
              <a:rPr sz="1350" b="0">
                <a:solidFill>
                  <a:srgbClr val="1F2A3A"/>
                </a:solidFill>
                <a:latin typeface="맑은 고딕"/>
                <a:ea typeface="맑은 고딕"/>
                <a:cs typeface="맑은 고딕"/>
              </a:rPr>
              <a:t>운전 화면과 수집 서비스가</a:t>
            </a:r>
          </a:p>
          <a:p>
            <a:pPr algn="ctr">
              <a:lnSpc>
                <a:spcPct val="110000"/>
              </a:lnSpc>
              <a:spcAft>
                <a:spcPts val="400"/>
              </a:spcAft>
            </a:pPr>
            <a:r>
              <a:rPr sz="1350" b="0">
                <a:solidFill>
                  <a:srgbClr val="1F2A3A"/>
                </a:solidFill>
                <a:latin typeface="맑은 고딕"/>
                <a:ea typeface="맑은 고딕"/>
                <a:cs typeface="맑은 고딕"/>
              </a:rPr>
              <a:t>받을 토픽을 브로커에 구독한다</a:t>
            </a:r>
          </a:p>
        </p:txBody>
      </p:sp>
      <p:sp>
        <p:nvSpPr>
          <p:cNvPr id="12" name="Oval 11"/>
          <p:cNvSpPr/>
          <p:nvPr/>
        </p:nvSpPr>
        <p:spPr>
          <a:xfrm>
            <a:off x="5661507"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5878677" y="2947797"/>
            <a:ext cx="434340" cy="434340"/>
          </a:xfrm>
          <a:prstGeom prst="rect">
            <a:avLst/>
          </a:prstGeom>
        </p:spPr>
      </p:pic>
      <p:sp>
        <p:nvSpPr>
          <p:cNvPr id="14" name="Oval 13"/>
          <p:cNvSpPr/>
          <p:nvPr/>
        </p:nvSpPr>
        <p:spPr>
          <a:xfrm>
            <a:off x="6255867"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발행</a:t>
            </a:r>
          </a:p>
          <a:p>
            <a:pPr algn="ctr">
              <a:lnSpc>
                <a:spcPct val="110000"/>
              </a:lnSpc>
              <a:spcAft>
                <a:spcPts val="400"/>
              </a:spcAft>
            </a:pPr>
            <a:r>
              <a:rPr sz="1350" b="0">
                <a:solidFill>
                  <a:srgbClr val="1F2A3A"/>
                </a:solidFill>
                <a:latin typeface="맑은 고딕"/>
                <a:ea typeface="맑은 고딕"/>
                <a:cs typeface="맑은 고딕"/>
              </a:rPr>
              <a:t>엣지 게이트웨이가 TS1 값을</a:t>
            </a:r>
          </a:p>
          <a:p>
            <a:pPr algn="ctr">
              <a:lnSpc>
                <a:spcPct val="110000"/>
              </a:lnSpc>
              <a:spcAft>
                <a:spcPts val="400"/>
              </a:spcAft>
            </a:pPr>
            <a:r>
              <a:rPr sz="1350" b="0">
                <a:solidFill>
                  <a:srgbClr val="1F2A3A"/>
                </a:solidFill>
                <a:latin typeface="맑은 고딕"/>
                <a:ea typeface="맑은 고딕"/>
                <a:cs typeface="맑은 고딕"/>
              </a:rPr>
              <a:t>토픽으로 발행한다</a:t>
            </a:r>
          </a:p>
        </p:txBody>
      </p:sp>
      <p:sp>
        <p:nvSpPr>
          <p:cNvPr id="17" name="Oval 16"/>
          <p:cNvSpPr/>
          <p:nvPr/>
        </p:nvSpPr>
        <p:spPr>
          <a:xfrm>
            <a:off x="9359646" y="2730627"/>
            <a:ext cx="868680" cy="868680"/>
          </a:xfrm>
          <a:prstGeom prst="ellipse">
            <a:avLst/>
          </a:prstGeom>
          <a:solidFill>
            <a:srgbClr val="5CB8F2"/>
          </a:solidFill>
          <a:ln>
            <a:noFill/>
          </a:ln>
        </p:spPr>
        <p:txBody>
          <a:bodyPr rtlCol="0" anchor="ctr"/>
          <a:lstStyle/>
          <a:p>
            <a:pPr algn="ctr"/>
          </a:p>
        </p:txBody>
      </p:sp>
      <p:pic>
        <p:nvPicPr>
          <p:cNvPr id="18" name="아이콘:broadcast" descr="broadcast_13294B_1.6.png"/>
          <p:cNvPicPr>
            <a:picLocks noChangeAspect="1"/>
          </p:cNvPicPr>
          <p:nvPr/>
        </p:nvPicPr>
        <p:blipFill>
          <a:blip r:embed="rId5"/>
          <a:stretch>
            <a:fillRect/>
          </a:stretch>
        </p:blipFill>
        <p:spPr>
          <a:xfrm>
            <a:off x="9576816" y="2947797"/>
            <a:ext cx="434340" cy="434340"/>
          </a:xfrm>
          <a:prstGeom prst="rect">
            <a:avLst/>
          </a:prstGeom>
        </p:spPr>
      </p:pic>
      <p:sp>
        <p:nvSpPr>
          <p:cNvPr id="19" name="Oval 18"/>
          <p:cNvSpPr/>
          <p:nvPr/>
        </p:nvSpPr>
        <p:spPr>
          <a:xfrm>
            <a:off x="9954006"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전달</a:t>
            </a:r>
          </a:p>
          <a:p>
            <a:pPr algn="ctr">
              <a:lnSpc>
                <a:spcPct val="110000"/>
              </a:lnSpc>
              <a:spcAft>
                <a:spcPts val="400"/>
              </a:spcAft>
            </a:pPr>
            <a:r>
              <a:rPr sz="1350" b="0">
                <a:solidFill>
                  <a:srgbClr val="1F2A3A"/>
                </a:solidFill>
                <a:latin typeface="맑은 고딕"/>
                <a:ea typeface="맑은 고딕"/>
                <a:cs typeface="맑은 고딕"/>
              </a:rPr>
              <a:t>브로커가 그 토픽의</a:t>
            </a:r>
          </a:p>
          <a:p>
            <a:pPr algn="ctr">
              <a:lnSpc>
                <a:spcPct val="110000"/>
              </a:lnSpc>
              <a:spcAft>
                <a:spcPts val="400"/>
              </a:spcAft>
            </a:pPr>
            <a:r>
              <a:rPr sz="1350" b="0">
                <a:solidFill>
                  <a:srgbClr val="1F2A3A"/>
                </a:solidFill>
                <a:latin typeface="맑은 고딕"/>
                <a:ea typeface="맑은 고딕"/>
                <a:cs typeface="맑은 고딕"/>
              </a:rPr>
              <a:t>모든 구독자에게 밀어 준다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OT와 IT를 직접 잇지 않는 이유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외부와 연결된 IT가 침해되어도 설비 사고로 번지지 않도록, 망 분리로 두 영역을 직접 연결하지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OT</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Operational Technology</a:t>
            </a:r>
          </a:p>
          <a:p>
            <a:pPr algn="l">
              <a:lnSpc>
                <a:spcPct val="110000"/>
              </a:lnSpc>
              <a:spcAft>
                <a:spcPts val="600"/>
              </a:spcAft>
            </a:pPr>
            <a:r>
              <a:rPr sz="1450" b="0">
                <a:solidFill>
                  <a:srgbClr val="1F2A3A"/>
                </a:solidFill>
                <a:latin typeface="맑은 고딕"/>
                <a:ea typeface="맑은 고딕"/>
                <a:cs typeface="맑은 고딕"/>
              </a:rPr>
              <a:t>• 설비를 직접 감시 · 제어한다</a:t>
            </a:r>
          </a:p>
          <a:p>
            <a:pPr algn="l">
              <a:lnSpc>
                <a:spcPct val="110000"/>
              </a:lnSpc>
              <a:spcAft>
                <a:spcPts val="600"/>
              </a:spcAft>
            </a:pPr>
            <a:r>
              <a:rPr sz="1450" b="0">
                <a:solidFill>
                  <a:srgbClr val="1F2A3A"/>
                </a:solidFill>
                <a:latin typeface="맑은 고딕"/>
                <a:ea typeface="맑은 고딕"/>
                <a:cs typeface="맑은 고딕"/>
              </a:rPr>
              <a:t>• 가용성과 안전이 최우선이다</a:t>
            </a:r>
          </a:p>
          <a:p>
            <a:pPr algn="l">
              <a:lnSpc>
                <a:spcPct val="110000"/>
              </a:lnSpc>
              <a:spcAft>
                <a:spcPts val="600"/>
              </a:spcAft>
            </a:pPr>
            <a:r>
              <a:rPr sz="1450" b="0">
                <a:solidFill>
                  <a:srgbClr val="1F2A3A"/>
                </a:solidFill>
                <a:latin typeface="맑은 고딕"/>
                <a:ea typeface="맑은 고딕"/>
                <a:cs typeface="맑은 고딕"/>
              </a:rPr>
              <a:t>• 잘못된 명령은 곧 설비 사고로 이어진다</a:t>
            </a:r>
          </a:p>
        </p:txBody>
      </p:sp>
      <p:sp>
        <p:nvSpPr>
          <p:cNvPr id="11" name="Rounded Rectangle 10"/>
          <p:cNvSpPr/>
          <p:nvPr/>
        </p:nvSpPr>
        <p:spPr>
          <a:xfrm>
            <a:off x="868680" y="5096002"/>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가용성 · 안전</a:t>
            </a:r>
          </a:p>
        </p:txBody>
      </p:sp>
      <p:sp>
        <p:nvSpPr>
          <p:cNvPr id="13" name="Rounded Rectangle 12"/>
          <p:cNvSpPr/>
          <p:nvPr/>
        </p:nvSpPr>
        <p:spPr>
          <a:xfrm>
            <a:off x="6461607" y="2429509"/>
            <a:ext cx="5181447" cy="3123692"/>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630678"/>
            <a:ext cx="731520" cy="731520"/>
          </a:xfrm>
          <a:prstGeom prst="ellipse">
            <a:avLst/>
          </a:prstGeom>
          <a:solidFill>
            <a:srgbClr val="FFFFFF"/>
          </a:solidFill>
          <a:ln>
            <a:noFill/>
          </a:ln>
        </p:spPr>
        <p:txBody>
          <a:bodyPr rtlCol="0" anchor="ctr"/>
          <a:lstStyle/>
          <a:p>
            <a:pPr algn="ctr"/>
          </a:p>
        </p:txBody>
      </p:sp>
      <p:pic>
        <p:nvPicPr>
          <p:cNvPr id="15" name="아이콘:world" descr="world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IT</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Information Technology</a:t>
            </a:r>
          </a:p>
          <a:p>
            <a:pPr algn="l">
              <a:lnSpc>
                <a:spcPct val="110000"/>
              </a:lnSpc>
              <a:spcAft>
                <a:spcPts val="600"/>
              </a:spcAft>
            </a:pPr>
            <a:r>
              <a:rPr sz="1450" b="0">
                <a:solidFill>
                  <a:srgbClr val="1F2A3A"/>
                </a:solidFill>
                <a:latin typeface="맑은 고딕"/>
                <a:ea typeface="맑은 고딕"/>
                <a:cs typeface="맑은 고딕"/>
              </a:rPr>
              <a:t>• 업무 데이터를 다룬다</a:t>
            </a:r>
          </a:p>
          <a:p>
            <a:pPr algn="l">
              <a:lnSpc>
                <a:spcPct val="110000"/>
              </a:lnSpc>
              <a:spcAft>
                <a:spcPts val="600"/>
              </a:spcAft>
            </a:pPr>
            <a:r>
              <a:rPr sz="1450" b="0">
                <a:solidFill>
                  <a:srgbClr val="1F2A3A"/>
                </a:solidFill>
                <a:latin typeface="맑은 고딕"/>
                <a:ea typeface="맑은 고딕"/>
                <a:cs typeface="맑은 고딕"/>
              </a:rPr>
              <a:t>• 사무망 · 인터넷과 연결되어 침해에 노출된다</a:t>
            </a:r>
          </a:p>
          <a:p>
            <a:pPr algn="l">
              <a:lnSpc>
                <a:spcPct val="110000"/>
              </a:lnSpc>
              <a:spcAft>
                <a:spcPts val="600"/>
              </a:spcAft>
            </a:pPr>
            <a:r>
              <a:rPr sz="1450" b="0">
                <a:solidFill>
                  <a:srgbClr val="1F2A3A"/>
                </a:solidFill>
                <a:latin typeface="맑은 고딕"/>
                <a:ea typeface="맑은 고딕"/>
                <a:cs typeface="맑은 고딕"/>
              </a:rPr>
              <a:t>• 기밀성과 무결성이 최우선이다</a:t>
            </a:r>
          </a:p>
        </p:txBody>
      </p:sp>
      <p:sp>
        <p:nvSpPr>
          <p:cNvPr id="18" name="Rounded Rectangle 17"/>
          <p:cNvSpPr/>
          <p:nvPr/>
        </p:nvSpPr>
        <p:spPr>
          <a:xfrm>
            <a:off x="6781647" y="5096002"/>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096002"/>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기밀성 · 무결성</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완충 구역 DMZ와 한 방향 수집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OT와 IT 사이의 완충 구역 </a:t>
            </a:r>
            <a:r>
              <a:rPr sz="1600" b="1">
                <a:solidFill>
                  <a:srgbClr val="1A6FC4"/>
                </a:solidFill>
                <a:latin typeface="맑은 고딕"/>
                <a:ea typeface="맑은 고딕"/>
                <a:cs typeface="맑은 고딕"/>
              </a:rPr>
              <a:t>DMZ</a:t>
            </a:r>
            <a:r>
              <a:rPr sz="1600" b="0">
                <a:solidFill>
                  <a:srgbClr val="556175"/>
                </a:solidFill>
                <a:latin typeface="맑은 고딕"/>
                <a:ea typeface="맑은 고딕"/>
                <a:cs typeface="맑은 고딕"/>
              </a:rPr>
              <a:t>에서 수집 서비스는 데이터를 OT에서 IT로 단방향 복제만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리니지_2_DMZ.svg" descr="illust_268375494038171221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52009" y="1755273"/>
            <a:ext cx="229099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a:p>
            <a:pPr algn="ctr">
              <a:lnSpc>
                <a:spcPct val="110000"/>
              </a:lnSpc>
              <a:spcAft>
                <a:spcPts val="100"/>
              </a:spcAft>
            </a:pPr>
            <a:r>
              <a:rPr sz="1300" b="0">
                <a:solidFill>
                  <a:srgbClr val="556175"/>
                </a:solidFill>
                <a:latin typeface="맑은 고딕"/>
                <a:ea typeface="맑은 고딕"/>
                <a:cs typeface="맑은 고딕"/>
              </a:rPr>
              <a:t>설비를 감시 · 제어하는 영역</a:t>
            </a:r>
          </a:p>
        </p:txBody>
      </p:sp>
      <p:sp>
        <p:nvSpPr>
          <p:cNvPr id="8" name="TextBox 7"/>
          <p:cNvSpPr txBox="1"/>
          <p:nvPr/>
        </p:nvSpPr>
        <p:spPr>
          <a:xfrm>
            <a:off x="5315818" y="1755273"/>
            <a:ext cx="169097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a:p>
            <a:pPr algn="ctr">
              <a:lnSpc>
                <a:spcPct val="110000"/>
              </a:lnSpc>
              <a:spcAft>
                <a:spcPts val="100"/>
              </a:spcAft>
            </a:pPr>
            <a:r>
              <a:rPr sz="1300" b="0">
                <a:solidFill>
                  <a:srgbClr val="556175"/>
                </a:solidFill>
                <a:latin typeface="맑은 고딕"/>
                <a:ea typeface="맑은 고딕"/>
                <a:cs typeface="맑은 고딕"/>
              </a:rPr>
              <a:t>OT와 IT 사이의 구역</a:t>
            </a:r>
          </a:p>
        </p:txBody>
      </p:sp>
      <p:sp>
        <p:nvSpPr>
          <p:cNvPr id="9" name="TextBox 8"/>
          <p:cNvSpPr txBox="1"/>
          <p:nvPr/>
        </p:nvSpPr>
        <p:spPr>
          <a:xfrm>
            <a:off x="9434153" y="1755273"/>
            <a:ext cx="196370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a:p>
            <a:pPr algn="ctr">
              <a:lnSpc>
                <a:spcPct val="110000"/>
              </a:lnSpc>
              <a:spcAft>
                <a:spcPts val="100"/>
              </a:spcAft>
            </a:pPr>
            <a:r>
              <a:rPr sz="1300" b="0">
                <a:solidFill>
                  <a:srgbClr val="556175"/>
                </a:solidFill>
                <a:latin typeface="맑은 고딕"/>
                <a:ea typeface="맑은 고딕"/>
                <a:cs typeface="맑은 고딕"/>
              </a:rPr>
              <a:t>기록 · 분석 · 판단 영역</a:t>
            </a:r>
          </a:p>
        </p:txBody>
      </p:sp>
      <p:sp>
        <p:nvSpPr>
          <p:cNvPr id="10" name="TextBox 9"/>
          <p:cNvSpPr txBox="1"/>
          <p:nvPr/>
        </p:nvSpPr>
        <p:spPr>
          <a:xfrm>
            <a:off x="3826672" y="264403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브로커</a:t>
            </a:r>
          </a:p>
        </p:txBody>
      </p:sp>
      <p:sp>
        <p:nvSpPr>
          <p:cNvPr id="11" name="TextBox 10"/>
          <p:cNvSpPr txBox="1"/>
          <p:nvPr/>
        </p:nvSpPr>
        <p:spPr>
          <a:xfrm>
            <a:off x="5315818" y="3991356"/>
            <a:ext cx="1690971" cy="1383029"/>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수집 서비스</a:t>
            </a:r>
          </a:p>
          <a:p>
            <a:pPr algn="ctr">
              <a:lnSpc>
                <a:spcPct val="110000"/>
              </a:lnSpc>
              <a:spcAft>
                <a:spcPts val="100"/>
              </a:spcAft>
            </a:pPr>
            <a:r>
              <a:rPr sz="1300" b="0">
                <a:solidFill>
                  <a:srgbClr val="556175"/>
                </a:solidFill>
                <a:latin typeface="맑은 고딕"/>
                <a:ea typeface="맑은 고딕"/>
                <a:cs typeface="맑은 고딕"/>
              </a:rPr>
              <a:t>브로커를 구독해</a:t>
            </a:r>
          </a:p>
          <a:p>
            <a:pPr algn="ctr">
              <a:lnSpc>
                <a:spcPct val="110000"/>
              </a:lnSpc>
              <a:spcAft>
                <a:spcPts val="100"/>
              </a:spcAft>
            </a:pPr>
            <a:r>
              <a:rPr sz="1300" b="0">
                <a:solidFill>
                  <a:srgbClr val="556175"/>
                </a:solidFill>
                <a:latin typeface="맑은 고딕"/>
                <a:ea typeface="맑은 고딕"/>
                <a:cs typeface="맑은 고딕"/>
              </a:rPr>
              <a:t>이벤트 로그로</a:t>
            </a:r>
          </a:p>
          <a:p>
            <a:pPr algn="ctr">
              <a:lnSpc>
                <a:spcPct val="110000"/>
              </a:lnSpc>
              <a:spcAft>
                <a:spcPts val="100"/>
              </a:spcAft>
            </a:pPr>
            <a:r>
              <a:rPr sz="1300" b="0">
                <a:solidFill>
                  <a:srgbClr val="556175"/>
                </a:solidFill>
                <a:latin typeface="맑은 고딕"/>
                <a:ea typeface="맑은 고딕"/>
                <a:cs typeface="맑은 고딕"/>
              </a:rPr>
              <a:t>단방향 복제한다</a:t>
            </a:r>
          </a:p>
          <a:p>
            <a:pPr algn="ctr">
              <a:lnSpc>
                <a:spcPct val="110000"/>
              </a:lnSpc>
              <a:spcAft>
                <a:spcPts val="100"/>
              </a:spcAft>
            </a:pPr>
            <a:r>
              <a:rPr sz="1300" b="0">
                <a:solidFill>
                  <a:srgbClr val="556175"/>
                </a:solidFill>
                <a:latin typeface="맑은 고딕"/>
                <a:ea typeface="맑은 고딕"/>
                <a:cs typeface="맑은 고딕"/>
              </a:rPr>
              <a:t>OT로는 발행하지 않는다</a:t>
            </a:r>
          </a:p>
        </p:txBody>
      </p:sp>
      <p:sp>
        <p:nvSpPr>
          <p:cNvPr id="12" name="TextBox 11"/>
          <p:cNvSpPr txBox="1"/>
          <p:nvPr/>
        </p:nvSpPr>
        <p:spPr>
          <a:xfrm>
            <a:off x="7219525" y="2209108"/>
            <a:ext cx="163642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이벤트 로그</a:t>
            </a:r>
          </a:p>
          <a:p>
            <a:pPr algn="ctr">
              <a:lnSpc>
                <a:spcPct val="110000"/>
              </a:lnSpc>
              <a:spcAft>
                <a:spcPts val="100"/>
              </a:spcAft>
            </a:pPr>
            <a:r>
              <a:rPr sz="1300" b="0">
                <a:solidFill>
                  <a:srgbClr val="556175"/>
                </a:solidFill>
                <a:latin typeface="맑은 고딕"/>
                <a:ea typeface="맑은 고딕"/>
                <a:cs typeface="맑은 고딕"/>
              </a:rPr>
              <a:t>받은 순서대로</a:t>
            </a:r>
          </a:p>
          <a:p>
            <a:pPr algn="ctr">
              <a:lnSpc>
                <a:spcPct val="110000"/>
              </a:lnSpc>
              <a:spcAft>
                <a:spcPts val="100"/>
              </a:spcAft>
            </a:pPr>
            <a:r>
              <a:rPr sz="1300" b="0">
                <a:solidFill>
                  <a:srgbClr val="556175"/>
                </a:solidFill>
                <a:latin typeface="맑은 고딕"/>
                <a:ea typeface="맑은 고딕"/>
                <a:cs typeface="맑은 고딕"/>
              </a:rPr>
              <a:t>쌓아 두는 기록</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3 · 이벤트 로그: 추가 전용 기록과 재처리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브로커는 보관 없이 전달만 하고, 이벤트 로그는 추가 전용으로 기록해 여러 소비자가 각자 다시 읽게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broadcast" descr="broadcast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브로커</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구독 중인 쪽에 그 순간 밀어 주고 보관하지 않는다</a:t>
            </a:r>
          </a:p>
          <a:p>
            <a:pPr algn="l">
              <a:lnSpc>
                <a:spcPct val="110000"/>
              </a:lnSpc>
              <a:spcAft>
                <a:spcPts val="600"/>
              </a:spcAft>
            </a:pPr>
            <a:r>
              <a:rPr sz="1450" b="0">
                <a:solidFill>
                  <a:srgbClr val="1F2A3A"/>
                </a:solidFill>
                <a:latin typeface="맑은 고딕"/>
                <a:ea typeface="맑은 고딕"/>
                <a:cs typeface="맑은 고딕"/>
              </a:rPr>
              <a:t>• 나중에 연결된 구독자는 지나간 메시지를 받지 못한다</a:t>
            </a:r>
          </a:p>
          <a:p>
            <a:pPr algn="l">
              <a:lnSpc>
                <a:spcPct val="110000"/>
              </a:lnSpc>
              <a:spcAft>
                <a:spcPts val="600"/>
              </a:spcAft>
            </a:pPr>
            <a:r>
              <a:rPr sz="1450" b="0">
                <a:solidFill>
                  <a:srgbClr val="1F2A3A"/>
                </a:solidFill>
                <a:latin typeface="맑은 고딕"/>
                <a:ea typeface="맑은 고딕"/>
                <a:cs typeface="맑은 고딕"/>
              </a:rPr>
              <a:t>• 이 역할에는 EMQX 같은 MQTT 브로커가 있다</a:t>
            </a:r>
          </a:p>
        </p:txBody>
      </p:sp>
      <p:sp>
        <p:nvSpPr>
          <p:cNvPr id="11" name="Rounded Rectangle 10"/>
          <p:cNvSpPr/>
          <p:nvPr/>
        </p:nvSpPr>
        <p:spPr>
          <a:xfrm>
            <a:off x="868680" y="5396865"/>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전달</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stack-2" descr="stack-2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이벤트 로그</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받은 순서대로 뒤에 덧붙이기만 하는 추가 전용 로그(Append-only Log)이다</a:t>
            </a:r>
          </a:p>
          <a:p>
            <a:pPr algn="l">
              <a:lnSpc>
                <a:spcPct val="110000"/>
              </a:lnSpc>
              <a:spcAft>
                <a:spcPts val="600"/>
              </a:spcAft>
            </a:pPr>
            <a:r>
              <a:rPr sz="1450" b="0">
                <a:solidFill>
                  <a:srgbClr val="1F2A3A"/>
                </a:solidFill>
                <a:latin typeface="맑은 고딕"/>
                <a:ea typeface="맑은 고딕"/>
                <a:cs typeface="맑은 고딕"/>
              </a:rPr>
              <a:t>• 소비자마다 어디까지 읽었는지를 나타내는 오프셋(Offset)을 따로 가진다</a:t>
            </a:r>
          </a:p>
          <a:p>
            <a:pPr algn="l">
              <a:lnSpc>
                <a:spcPct val="110000"/>
              </a:lnSpc>
              <a:spcAft>
                <a:spcPts val="600"/>
              </a:spcAft>
            </a:pPr>
            <a:r>
              <a:rPr sz="1450" b="0">
                <a:solidFill>
                  <a:srgbClr val="1F2A3A"/>
                </a:solidFill>
                <a:latin typeface="맑은 고딕"/>
                <a:ea typeface="맑은 고딕"/>
                <a:cs typeface="맑은 고딕"/>
              </a:rPr>
              <a:t>• 오프셋을 되돌려 처음부터 다시 읽는다(재처리)</a:t>
            </a:r>
          </a:p>
          <a:p>
            <a:pPr algn="l">
              <a:lnSpc>
                <a:spcPct val="110000"/>
              </a:lnSpc>
              <a:spcAft>
                <a:spcPts val="600"/>
              </a:spcAft>
            </a:pPr>
            <a:r>
              <a:rPr sz="1450" b="0">
                <a:solidFill>
                  <a:srgbClr val="1F2A3A"/>
                </a:solidFill>
                <a:latin typeface="맑은 고딕"/>
                <a:ea typeface="맑은 고딕"/>
                <a:cs typeface="맑은 고딕"/>
              </a:rPr>
              <a:t>• 이 자리에는 Kafka Connect와 Kafka 등이 있다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보관 · 재처리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이벤트 로그에 남은 레코드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수집 서비스는 토픽 경로에 있던 설비와 태그 이름을 페이로드에 넣어, 레코드 한 건만으로도 출처를 알 수 있게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브로커가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전달한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메시지</a:t>
            </a:r>
          </a:p>
          <a:p>
            <a:pPr algn="l">
              <a:lnSpc>
                <a:spcPct val="110000"/>
              </a:lnSpc>
              <a:spcAft>
                <a:spcPts val="200"/>
              </a:spcAft>
            </a:pPr>
            <a:r>
              <a:rPr sz="1300" b="0">
                <a:solidFill>
                  <a:srgbClr val="E8EEF6"/>
                </a:solidFill>
                <a:latin typeface="Consolas"/>
                <a:ea typeface="맑은 고딕"/>
                <a:cs typeface="맑은 고딕"/>
              </a:rPr>
              <a:t>topic    plant/hyd01/tag/TS1</a:t>
            </a:r>
          </a:p>
          <a:p>
            <a:pPr algn="l">
              <a:lnSpc>
                <a:spcPct val="110000"/>
              </a:lnSpc>
              <a:spcAft>
                <a:spcPts val="200"/>
              </a:spcAft>
            </a:pPr>
            <a:r>
              <a:rPr sz="1300" b="0">
                <a:solidFill>
                  <a:srgbClr val="E8EEF6"/>
                </a:solidFill>
                <a:latin typeface="Consolas"/>
                <a:ea typeface="맑은 고딕"/>
                <a:cs typeface="맑은 고딕"/>
              </a:rPr>
              <a:t>payload  {"t": "2026-10-10T02:13:08.508Z",</a:t>
            </a:r>
          </a:p>
          <a:p>
            <a:pPr algn="l">
              <a:lnSpc>
                <a:spcPct val="110000"/>
              </a:lnSpc>
              <a:spcAft>
                <a:spcPts val="200"/>
              </a:spcAft>
            </a:pPr>
            <a:r>
              <a:rPr sz="1300" b="0">
                <a:solidFill>
                  <a:srgbClr val="E8EEF6"/>
                </a:solidFill>
                <a:latin typeface="Consolas"/>
                <a:ea typeface="맑은 고딕"/>
                <a:cs typeface="맑은 고딕"/>
              </a:rPr>
              <a:t>          "v": 55.71, "q": "good"}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로그에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남은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레코드</a:t>
            </a:r>
          </a:p>
          <a:p>
            <a:pPr algn="l">
              <a:lnSpc>
                <a:spcPct val="110000"/>
              </a:lnSpc>
              <a:spcAft>
                <a:spcPts val="200"/>
              </a:spcAft>
            </a:pPr>
            <a:r>
              <a:rPr sz="1300" b="0">
                <a:solidFill>
                  <a:srgbClr val="E8EEF6"/>
                </a:solidFill>
                <a:latin typeface="Consolas"/>
                <a:ea typeface="맑은 고딕"/>
                <a:cs typeface="맑은 고딕"/>
              </a:rPr>
              <a:t>topic    plant.tag</a:t>
            </a:r>
          </a:p>
          <a:p>
            <a:pPr algn="l">
              <a:lnSpc>
                <a:spcPct val="110000"/>
              </a:lnSpc>
              <a:spcAft>
                <a:spcPts val="200"/>
              </a:spcAft>
            </a:pPr>
            <a:r>
              <a:rPr sz="1300" b="0">
                <a:solidFill>
                  <a:srgbClr val="E8EEF6"/>
                </a:solidFill>
                <a:latin typeface="Consolas"/>
                <a:ea typeface="맑은 고딕"/>
                <a:cs typeface="맑은 고딕"/>
              </a:rPr>
              <a:t>key      hyd01</a:t>
            </a:r>
          </a:p>
          <a:p>
            <a:pPr algn="l">
              <a:lnSpc>
                <a:spcPct val="110000"/>
              </a:lnSpc>
              <a:spcAft>
                <a:spcPts val="200"/>
              </a:spcAft>
            </a:pPr>
            <a:r>
              <a:rPr sz="1300" b="0">
                <a:solidFill>
                  <a:srgbClr val="E8EEF6"/>
                </a:solidFill>
                <a:latin typeface="Consolas"/>
                <a:ea typeface="맑은 고딕"/>
                <a:cs typeface="맑은 고딕"/>
              </a:rPr>
              <a:t>value    {"asset": "HYD-01", "name": "TS1",</a:t>
            </a:r>
          </a:p>
          <a:p>
            <a:pPr algn="l">
              <a:lnSpc>
                <a:spcPct val="110000"/>
              </a:lnSpc>
              <a:spcAft>
                <a:spcPts val="200"/>
              </a:spcAft>
            </a:pPr>
            <a:r>
              <a:rPr sz="1300" b="0">
                <a:solidFill>
                  <a:srgbClr val="E8EEF6"/>
                </a:solidFill>
                <a:latin typeface="Consolas"/>
                <a:ea typeface="맑은 고딕"/>
                <a:cs typeface="맑은 고딕"/>
              </a:rPr>
              <a:t>          "t": "2026-10-10T02:13:08.508Z",</a:t>
            </a:r>
          </a:p>
          <a:p>
            <a:pPr algn="l">
              <a:lnSpc>
                <a:spcPct val="110000"/>
              </a:lnSpc>
              <a:spcAft>
                <a:spcPts val="200"/>
              </a:spcAft>
            </a:pPr>
            <a:r>
              <a:rPr sz="1300" b="0">
                <a:solidFill>
                  <a:srgbClr val="E8EEF6"/>
                </a:solidFill>
                <a:latin typeface="Consolas"/>
                <a:ea typeface="맑은 고딕"/>
                <a:cs typeface="맑은 고딕"/>
              </a:rPr>
              <a:t>          "v": 55.71, "q": "good"}</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asset · name</a:t>
            </a:r>
          </a:p>
          <a:p>
            <a:pPr algn="l">
              <a:lnSpc>
                <a:spcPct val="110000"/>
              </a:lnSpc>
              <a:spcAft>
                <a:spcPts val="400"/>
              </a:spcAft>
            </a:pPr>
            <a:r>
              <a:rPr sz="1400" b="0">
                <a:solidFill>
                  <a:srgbClr val="1F2A3A"/>
                </a:solidFill>
                <a:latin typeface="맑은 고딕"/>
                <a:ea typeface="맑은 고딕"/>
                <a:cs typeface="맑은 고딕"/>
              </a:rPr>
              <a:t>토픽 경로에 있던 설비와 태그 이름이 페이로드(본문) 안으로 들어왔다.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v 55.71</a:t>
            </a:r>
          </a:p>
          <a:p>
            <a:pPr algn="l">
              <a:lnSpc>
                <a:spcPct val="110000"/>
              </a:lnSpc>
              <a:spcAft>
                <a:spcPts val="400"/>
              </a:spcAft>
            </a:pPr>
            <a:r>
              <a:rPr sz="1400" b="0">
                <a:solidFill>
                  <a:srgbClr val="1F2A3A"/>
                </a:solidFill>
                <a:latin typeface="맑은 고딕"/>
                <a:ea typeface="맑은 고딕"/>
                <a:cs typeface="맑은 고딕"/>
              </a:rPr>
              <a:t>그때의 유온이다. 한국 시간 11:13:08에 잰 값이다.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key hyd01</a:t>
            </a:r>
          </a:p>
          <a:p>
            <a:pPr algn="l">
              <a:lnSpc>
                <a:spcPct val="110000"/>
              </a:lnSpc>
              <a:spcAft>
                <a:spcPts val="400"/>
              </a:spcAft>
            </a:pPr>
            <a:r>
              <a:rPr sz="1400" b="0">
                <a:solidFill>
                  <a:srgbClr val="1F2A3A"/>
                </a:solidFill>
                <a:latin typeface="맑은 고딕"/>
                <a:ea typeface="맑은 고딕"/>
                <a:cs typeface="맑은 고딕"/>
              </a:rPr>
              <a:t>레코드의 키이다. 같은 설비의 레코드를 한 줄로 모아 잰 순서대로 읽히게 한다.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그 밖의 칸</a:t>
            </a:r>
          </a:p>
          <a:p>
            <a:pPr algn="l">
              <a:lnSpc>
                <a:spcPct val="110000"/>
              </a:lnSpc>
              <a:spcAft>
                <a:spcPts val="400"/>
              </a:spcAft>
            </a:pPr>
            <a:r>
              <a:rPr sz="1400" b="0">
                <a:solidFill>
                  <a:srgbClr val="1F2A3A"/>
                </a:solidFill>
                <a:latin typeface="맑은 고딕"/>
                <a:ea typeface="맑은 고딕"/>
                <a:cs typeface="맑은 고딕"/>
              </a:rPr>
              <a:t>측정 시각 t와 데이터 품질 q가 함께 실려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4 · 스트림 처리: 흐르는 데이터에서 알아챈다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데이터가 쌓인 뒤에 살피면 늦으므로, 감지 서비스는 이벤트 로그에 흐르는 데이터를 그 자리에서 읽어 조건과 비교한다.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배치 처리</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데이터를 저장소에 쌓은 뒤 주기적으로 질의한다</a:t>
            </a:r>
          </a:p>
          <a:p>
            <a:pPr algn="l">
              <a:lnSpc>
                <a:spcPct val="110000"/>
              </a:lnSpc>
              <a:spcAft>
                <a:spcPts val="600"/>
              </a:spcAft>
            </a:pPr>
            <a:r>
              <a:rPr sz="1450" b="0">
                <a:solidFill>
                  <a:srgbClr val="1F2A3A"/>
                </a:solidFill>
                <a:latin typeface="맑은 고딕"/>
                <a:ea typeface="맑은 고딕"/>
                <a:cs typeface="맑은 고딕"/>
              </a:rPr>
              <a:t>• 이상이 생긴 시점과 알아차리는 시점 사이에 지연이 생긴다</a:t>
            </a:r>
          </a:p>
        </p:txBody>
      </p:sp>
      <p:sp>
        <p:nvSpPr>
          <p:cNvPr id="11" name="Rounded Rectangle 10"/>
          <p:cNvSpPr/>
          <p:nvPr/>
        </p:nvSpPr>
        <p:spPr>
          <a:xfrm>
            <a:off x="868680" y="5246433"/>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나중에 조회</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radar" descr="radar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스트림 처리</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데이터가 기록되는 대로 하나씩 받아 조건과 비교한다</a:t>
            </a:r>
          </a:p>
          <a:p>
            <a:pPr algn="l">
              <a:lnSpc>
                <a:spcPct val="110000"/>
              </a:lnSpc>
              <a:spcAft>
                <a:spcPts val="600"/>
              </a:spcAft>
            </a:pPr>
            <a:r>
              <a:rPr sz="1450" b="0">
                <a:solidFill>
                  <a:srgbClr val="1F2A3A"/>
                </a:solidFill>
                <a:latin typeface="맑은 고딕"/>
                <a:ea typeface="맑은 고딕"/>
                <a:cs typeface="맑은 고딕"/>
              </a:rPr>
              <a:t>• 끊임없이 도착하는 데이터를 그 자리에서 처리하는 방식이 스트림 처리(Stream Processing)이다</a:t>
            </a:r>
          </a:p>
          <a:p>
            <a:pPr algn="l">
              <a:lnSpc>
                <a:spcPct val="110000"/>
              </a:lnSpc>
              <a:spcAft>
                <a:spcPts val="600"/>
              </a:spcAft>
            </a:pPr>
            <a:r>
              <a:rPr sz="1450" b="0">
                <a:solidFill>
                  <a:srgbClr val="1F2A3A"/>
                </a:solidFill>
                <a:latin typeface="맑은 고딕"/>
                <a:ea typeface="맑은 고딕"/>
                <a:cs typeface="맑은 고딕"/>
              </a:rPr>
              <a:t>• 이 역할에는 Flink 같은 스트림 처리 엔진이 있다</a:t>
            </a:r>
          </a:p>
        </p:txBody>
      </p:sp>
      <p:sp>
        <p:nvSpPr>
          <p:cNvPr id="18" name="Rounded Rectangle 17"/>
          <p:cNvSpPr/>
          <p:nvPr/>
        </p:nvSpPr>
        <p:spPr>
          <a:xfrm>
            <a:off x="6781647" y="5246433"/>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그 자리에서 판정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복합 이벤트 처리: 경보 조건과 유지 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유온만으로는 쿨러의 문제인지 알 수 없으므로, 두 값과 추세에 대한 조건이 유지 시간 동안 이어져야 경보가 성립한다.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Picture 5" descr="그래프_경보순간_TS1.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세 조건 모두 충족</a:t>
            </a:r>
          </a:p>
          <a:p>
            <a:pPr algn="l">
              <a:lnSpc>
                <a:spcPct val="110000"/>
              </a:lnSpc>
              <a:spcAft>
                <a:spcPts val="400"/>
              </a:spcAft>
            </a:pPr>
            <a:r>
              <a:rPr sz="1400" b="0">
                <a:solidFill>
                  <a:srgbClr val="1F2A3A"/>
                </a:solidFill>
                <a:latin typeface="맑은 고딕"/>
                <a:ea typeface="맑은 고딕"/>
                <a:cs typeface="맑은 고딕"/>
              </a:rPr>
              <a:t>유온 TS1 &gt; 55 ℃</a:t>
            </a:r>
          </a:p>
          <a:p>
            <a:pPr algn="l">
              <a:lnSpc>
                <a:spcPct val="110000"/>
              </a:lnSpc>
              <a:spcAft>
                <a:spcPts val="400"/>
              </a:spcAft>
            </a:pPr>
            <a:r>
              <a:rPr sz="1400" b="0">
                <a:solidFill>
                  <a:srgbClr val="1F2A3A"/>
                </a:solidFill>
                <a:latin typeface="맑은 고딕"/>
                <a:ea typeface="맑은 고딕"/>
                <a:cs typeface="맑은 고딕"/>
              </a:rPr>
              <a:t>냉각 효율 CE &lt; 70 %</a:t>
            </a:r>
          </a:p>
          <a:p>
            <a:pPr algn="l">
              <a:lnSpc>
                <a:spcPct val="110000"/>
              </a:lnSpc>
              <a:spcAft>
                <a:spcPts val="400"/>
              </a:spcAft>
            </a:pPr>
            <a:r>
              <a:rPr sz="1400" b="0">
                <a:solidFill>
                  <a:srgbClr val="1F2A3A"/>
                </a:solidFill>
                <a:latin typeface="맑은 고딕"/>
                <a:ea typeface="맑은 고딕"/>
                <a:cs typeface="맑은 고딕"/>
              </a:rPr>
              <a:t>유온 기울기 &gt; 0 (상승 중)</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기준을 넘음 11:13:04</a:t>
            </a:r>
          </a:p>
          <a:p>
            <a:pPr algn="l">
              <a:lnSpc>
                <a:spcPct val="110000"/>
              </a:lnSpc>
              <a:spcAft>
                <a:spcPts val="400"/>
              </a:spcAft>
            </a:pPr>
            <a:r>
              <a:rPr sz="1400" b="0">
                <a:solidFill>
                  <a:srgbClr val="1F2A3A"/>
                </a:solidFill>
                <a:latin typeface="맑은 고딕"/>
                <a:ea typeface="맑은 고딕"/>
                <a:cs typeface="맑은 고딕"/>
              </a:rPr>
              <a:t>유온이 55 ℃를 넘었다. 아직 경보는 없다.</a:t>
            </a:r>
          </a:p>
        </p:txBody>
      </p:sp>
      <p:sp>
        <p:nvSpPr>
          <p:cNvPr id="13" name="Oval 12"/>
          <p:cNvSpPr/>
          <p:nvPr/>
        </p:nvSpPr>
        <p:spPr>
          <a:xfrm>
            <a:off x="8138160" y="4023359"/>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조건이 약 4초 동안 유지되자 경보가 울렸다. 이때 유온은 55.71 ℃였다.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유지 시간(Hold Time)</a:t>
            </a:r>
          </a:p>
          <a:p>
            <a:pPr algn="l">
              <a:lnSpc>
                <a:spcPct val="110000"/>
              </a:lnSpc>
              <a:spcAft>
                <a:spcPts val="400"/>
              </a:spcAft>
            </a:pPr>
            <a:r>
              <a:rPr sz="1400" b="0">
                <a:solidFill>
                  <a:srgbClr val="1F2A3A"/>
                </a:solidFill>
                <a:latin typeface="맑은 고딕"/>
                <a:ea typeface="맑은 고딕"/>
                <a:cs typeface="맑은 고딕"/>
              </a:rPr>
              <a:t>잠깐 튄 값에 경보가 울리지 않도록, 조건이 이어져야 경보가 성립하게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이상 이벤트: 경보 한 건의 실제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이상 이벤트는 계측값이 아니라 어떤 일이 일어났는지를 남긴 기록이며, 경보에는 식별자와 당시의 근거 값이 함께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ALT-hyd01-0014-e0a1</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a:p>
            <a:pPr algn="l">
              <a:lnSpc>
                <a:spcPct val="110000"/>
              </a:lnSpc>
              <a:spcAft>
                <a:spcPts val="200"/>
              </a:spcAft>
            </a:pPr>
            <a:r>
              <a:rPr sz="1300" b="0">
                <a:solidFill>
                  <a:srgbClr val="E8EEF6"/>
                </a:solidFill>
                <a:latin typeface="Consolas"/>
                <a:ea typeface="맑은 고딕"/>
                <a:cs typeface="맑은 고딕"/>
              </a:rPr>
              <a:t>t          2026-10-10 11:13:08</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values     TS1 55.71, CE 46.2</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alertId</a:t>
            </a:r>
          </a:p>
          <a:p>
            <a:pPr algn="l">
              <a:lnSpc>
                <a:spcPct val="110000"/>
              </a:lnSpc>
              <a:spcAft>
                <a:spcPts val="400"/>
              </a:spcAft>
            </a:pPr>
            <a:r>
              <a:rPr sz="1400" b="0">
                <a:solidFill>
                  <a:srgbClr val="1F2A3A"/>
                </a:solidFill>
                <a:latin typeface="맑은 고딕"/>
                <a:ea typeface="맑은 고딕"/>
                <a:cs typeface="맑은 고딕"/>
              </a:rPr>
              <a:t>이 경보 한 건을 가리키는 식별자이다.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어떤 조건이 성립했는지를 나타낸다. 쿨러 성능 저하이다.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values</a:t>
            </a:r>
          </a:p>
          <a:p>
            <a:pPr algn="l">
              <a:lnSpc>
                <a:spcPct val="110000"/>
              </a:lnSpc>
              <a:spcAft>
                <a:spcPts val="400"/>
              </a:spcAft>
            </a:pPr>
            <a:r>
              <a:rPr sz="1400" b="0">
                <a:solidFill>
                  <a:srgbClr val="1F2A3A"/>
                </a:solidFill>
                <a:latin typeface="맑은 고딕"/>
                <a:ea typeface="맑은 고딕"/>
                <a:cs typeface="맑은 고딕"/>
              </a:rPr>
              <a:t>판정 당시의 근거 값(evidence)이다. 계측값은 계속 바뀌므로 근거를 경보에 붙여 둔다.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그 밖의 칸</a:t>
            </a:r>
          </a:p>
          <a:p>
            <a:pPr algn="l">
              <a:lnSpc>
                <a:spcPct val="110000"/>
              </a:lnSpc>
              <a:spcAft>
                <a:spcPts val="400"/>
              </a:spcAft>
            </a:pPr>
            <a:r>
              <a:rPr sz="1400" b="0">
                <a:solidFill>
                  <a:srgbClr val="1F2A3A"/>
                </a:solidFill>
                <a:latin typeface="맑은 고딕"/>
                <a:ea typeface="맑은 고딕"/>
                <a:cs typeface="맑은 고딕"/>
              </a:rPr>
              <a:t>설비, 심각도(severity), 경보 상태(RAISE)와 발생 시각이 함께 적힌다.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5 · 시계열 저장소: 시각으로 찾는다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시계열 저장소는 과거 데이터를 시각으로 찾을 수 있도록 계측값마다 시각·설비·태그 이름·값을 한 행에 저장한다.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002917"/>
            <a:ext cx="6766560" cy="397687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40077"/>
            <a:ext cx="6400800" cy="370255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tag_1s</a:t>
            </a:r>
          </a:p>
          <a:p>
            <a:pPr algn="l">
              <a:lnSpc>
                <a:spcPct val="110000"/>
              </a:lnSpc>
              <a:spcAft>
                <a:spcPts val="200"/>
              </a:spcAft>
            </a:pPr>
            <a:r>
              <a:rPr sz="1300" b="0">
                <a:solidFill>
                  <a:srgbClr val="E8EEF6"/>
                </a:solidFill>
                <a:latin typeface="Consolas"/>
                <a:ea typeface="맑은 고딕"/>
                <a:cs typeface="맑은 고딕"/>
              </a:rPr>
              <a:t>time       asset    name   value</a:t>
            </a:r>
          </a:p>
          <a:p>
            <a:pPr algn="l">
              <a:lnSpc>
                <a:spcPct val="110000"/>
              </a:lnSpc>
              <a:spcAft>
                <a:spcPts val="200"/>
              </a:spcAft>
            </a:pPr>
            <a:r>
              <a:rPr sz="1300" b="0">
                <a:solidFill>
                  <a:srgbClr val="E8EEF6"/>
                </a:solidFill>
                <a:latin typeface="Consolas"/>
                <a:ea typeface="맑은 고딕"/>
                <a:cs typeface="맑은 고딕"/>
              </a:rPr>
              <a:t>11:13:07   HYD-01   TS1    55.56</a:t>
            </a:r>
          </a:p>
          <a:p>
            <a:pPr algn="l">
              <a:lnSpc>
                <a:spcPct val="110000"/>
              </a:lnSpc>
              <a:spcAft>
                <a:spcPts val="200"/>
              </a:spcAft>
            </a:pPr>
            <a:r>
              <a:rPr sz="1300" b="0">
                <a:solidFill>
                  <a:srgbClr val="E8EEF6"/>
                </a:solidFill>
                <a:latin typeface="Consolas"/>
                <a:ea typeface="맑은 고딕"/>
                <a:cs typeface="맑은 고딕"/>
              </a:rPr>
              <a:t>11:13:07   HYD-01   CE     46.2</a:t>
            </a:r>
          </a:p>
          <a:p>
            <a:pPr algn="l">
              <a:lnSpc>
                <a:spcPct val="110000"/>
              </a:lnSpc>
              <a:spcAft>
                <a:spcPts val="200"/>
              </a:spcAft>
            </a:pPr>
            <a:r>
              <a:rPr sz="1300" b="0">
                <a:solidFill>
                  <a:srgbClr val="E8EEF6"/>
                </a:solidFill>
                <a:latin typeface="Consolas"/>
                <a:ea typeface="맑은 고딕"/>
                <a:cs typeface="맑은 고딕"/>
              </a:rPr>
              <a:t>11:13:08   HYD-01   TS1    55.71</a:t>
            </a:r>
          </a:p>
          <a:p>
            <a:pPr algn="l">
              <a:lnSpc>
                <a:spcPct val="110000"/>
              </a:lnSpc>
              <a:spcAft>
                <a:spcPts val="200"/>
              </a:spcAft>
            </a:pPr>
            <a:r>
              <a:rPr sz="1300" b="0">
                <a:solidFill>
                  <a:srgbClr val="E8EEF6"/>
                </a:solidFill>
                <a:latin typeface="Consolas"/>
                <a:ea typeface="맑은 고딕"/>
                <a:cs typeface="맑은 고딕"/>
              </a:rPr>
              <a:t>11:13:08   HYD-01   CE     46.2</a:t>
            </a:r>
          </a:p>
          <a:p>
            <a:pPr algn="l">
              <a:lnSpc>
                <a:spcPct val="110000"/>
              </a:lnSpc>
              <a:spcAft>
                <a:spcPts val="200"/>
              </a:spcAft>
            </a:pPr>
            <a:r>
              <a:rPr sz="1300" b="0">
                <a:solidFill>
                  <a:srgbClr val="E8EEF6"/>
                </a:solidFill>
                <a:latin typeface="Consolas"/>
                <a:ea typeface="맑은 고딕"/>
                <a:cs typeface="맑은 고딕"/>
              </a:rPr>
              <a:t>11:13:09   HYD-01   TS1    55.86</a:t>
            </a:r>
          </a:p>
        </p:txBody>
      </p:sp>
      <p:sp>
        <p:nvSpPr>
          <p:cNvPr id="8" name="TextBox 7"/>
          <p:cNvSpPr txBox="1"/>
          <p:nvPr/>
        </p:nvSpPr>
        <p:spPr>
          <a:xfrm>
            <a:off x="7635240" y="2002917"/>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한 행</a:t>
            </a:r>
          </a:p>
          <a:p>
            <a:pPr algn="l">
              <a:lnSpc>
                <a:spcPct val="110000"/>
              </a:lnSpc>
              <a:spcAft>
                <a:spcPts val="400"/>
              </a:spcAft>
            </a:pPr>
            <a:r>
              <a:rPr sz="1400" b="0">
                <a:solidFill>
                  <a:srgbClr val="1F2A3A"/>
                </a:solidFill>
                <a:latin typeface="맑은 고딕"/>
                <a:ea typeface="맑은 고딕"/>
                <a:cs typeface="맑은 고딕"/>
              </a:rPr>
              <a:t>계측값 하나가 (시각, 설비, 태그, 값) 한 행이다. 태그가 늘어도 열이 아니라 행만 늘어난다.</a:t>
            </a:r>
          </a:p>
        </p:txBody>
      </p:sp>
      <p:sp>
        <p:nvSpPr>
          <p:cNvPr id="9" name="TextBox 8"/>
          <p:cNvSpPr txBox="1"/>
          <p:nvPr/>
        </p:nvSpPr>
        <p:spPr>
          <a:xfrm>
            <a:off x="7635240" y="3328543"/>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55.71</a:t>
            </a:r>
          </a:p>
          <a:p>
            <a:pPr algn="l">
              <a:lnSpc>
                <a:spcPct val="110000"/>
              </a:lnSpc>
              <a:spcAft>
                <a:spcPts val="400"/>
              </a:spcAft>
            </a:pPr>
            <a:r>
              <a:rPr sz="1400" b="0">
                <a:solidFill>
                  <a:srgbClr val="1F2A3A"/>
                </a:solidFill>
                <a:latin typeface="맑은 고딕"/>
                <a:ea typeface="맑은 고딕"/>
                <a:cs typeface="맑은 고딕"/>
              </a:rPr>
              <a:t>11:13:08의 유온이다. 경보가 난 순간의 값이다.</a:t>
            </a:r>
          </a:p>
        </p:txBody>
      </p:sp>
      <p:sp>
        <p:nvSpPr>
          <p:cNvPr id="10" name="TextBox 9"/>
          <p:cNvSpPr txBox="1"/>
          <p:nvPr/>
        </p:nvSpPr>
        <p:spPr>
          <a:xfrm>
            <a:off x="7635240" y="4654169"/>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시계열 저장소</a:t>
            </a:r>
          </a:p>
          <a:p>
            <a:pPr algn="l">
              <a:lnSpc>
                <a:spcPct val="110000"/>
              </a:lnSpc>
              <a:spcAft>
                <a:spcPts val="400"/>
              </a:spcAft>
            </a:pPr>
            <a:r>
              <a:rPr sz="1400" b="0">
                <a:solidFill>
                  <a:srgbClr val="1F2A3A"/>
                </a:solidFill>
                <a:latin typeface="맑은 고딕"/>
                <a:ea typeface="맑은 고딕"/>
                <a:cs typeface="맑은 고딕"/>
              </a:rPr>
              <a:t>시각을 기준으로 데이터를 쌓고 시간 범위로 조회하는 시계열 데이터베이스(TSDB, Time Series Database)이다. 이 역할에는 TimescaleDB 같은 것이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6 · 운전 화면과 분석 화면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운전 화면은 서버가 멈춰도 OT에서 현재 상태를 보여 주고, 분석 화면은 IT에서 이력을 읽기 전용으로 보여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adjustments-horizontal" descr="adjustments-horizontal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운전 화면</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SCADA에서 사람이 보고 조작하는 HMI(Human-Machine Interface)에 해당한다</a:t>
            </a:r>
          </a:p>
          <a:p>
            <a:pPr algn="l">
              <a:lnSpc>
                <a:spcPct val="110000"/>
              </a:lnSpc>
              <a:spcAft>
                <a:spcPts val="600"/>
              </a:spcAft>
            </a:pPr>
            <a:r>
              <a:rPr sz="1450" b="0">
                <a:solidFill>
                  <a:srgbClr val="1F2A3A"/>
                </a:solidFill>
                <a:latin typeface="맑은 고딕"/>
                <a:ea typeface="맑은 고딕"/>
                <a:cs typeface="맑은 고딕"/>
              </a:rPr>
              <a:t>• OT에서 브로커를 직접 구독해 실시간 값과 알람을 보여 준다</a:t>
            </a:r>
          </a:p>
          <a:p>
            <a:pPr algn="l">
              <a:lnSpc>
                <a:spcPct val="110000"/>
              </a:lnSpc>
              <a:spcAft>
                <a:spcPts val="600"/>
              </a:spcAft>
            </a:pPr>
            <a:r>
              <a:rPr sz="1450" b="0">
                <a:solidFill>
                  <a:srgbClr val="1F2A3A"/>
                </a:solidFill>
                <a:latin typeface="맑은 고딕"/>
                <a:ea typeface="맑은 고딕"/>
                <a:cs typeface="맑은 고딕"/>
              </a:rPr>
              <a:t>• 운전원이 팬 속도와 펌프 부하의 설정값을 바꾼다</a:t>
            </a:r>
          </a:p>
          <a:p>
            <a:pPr algn="l">
              <a:lnSpc>
                <a:spcPct val="110000"/>
              </a:lnSpc>
              <a:spcAft>
                <a:spcPts val="600"/>
              </a:spcAft>
            </a:pPr>
            <a:r>
              <a:rPr sz="1450" b="0">
                <a:solidFill>
                  <a:srgbClr val="1F2A3A"/>
                </a:solidFill>
                <a:latin typeface="맑은 고딕"/>
                <a:ea typeface="맑은 고딕"/>
                <a:cs typeface="맑은 고딕"/>
              </a:rPr>
              <a:t>• IT 쪽 서버가 멈춰도 계속 동작한다</a:t>
            </a:r>
          </a:p>
          <a:p>
            <a:pPr algn="l">
              <a:lnSpc>
                <a:spcPct val="110000"/>
              </a:lnSpc>
              <a:spcAft>
                <a:spcPts val="600"/>
              </a:spcAft>
            </a:pPr>
            <a:r>
              <a:rPr sz="1450" b="0">
                <a:solidFill>
                  <a:srgbClr val="1F2A3A"/>
                </a:solidFill>
                <a:latin typeface="맑은 고딕"/>
                <a:ea typeface="맑은 고딕"/>
                <a:cs typeface="맑은 고딕"/>
              </a:rPr>
              <a:t>• 예: FUXA</a:t>
            </a:r>
          </a:p>
        </p:txBody>
      </p:sp>
      <p:sp>
        <p:nvSpPr>
          <p:cNvPr id="11" name="Rounded Rectangle 10"/>
          <p:cNvSpPr/>
          <p:nvPr/>
        </p:nvSpPr>
        <p:spPr>
          <a:xfrm>
            <a:off x="868680" y="5547296"/>
            <a:ext cx="207263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20726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운전 · 실시간 값과 조작</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chart-line" descr="chart-line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분석 화면</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이력 데이터를 그래프로 보여 주는 대시보드(Dashboard)이다</a:t>
            </a:r>
          </a:p>
          <a:p>
            <a:pPr algn="l">
              <a:lnSpc>
                <a:spcPct val="110000"/>
              </a:lnSpc>
              <a:spcAft>
                <a:spcPts val="600"/>
              </a:spcAft>
            </a:pPr>
            <a:r>
              <a:rPr sz="1450" b="0">
                <a:solidFill>
                  <a:srgbClr val="1F2A3A"/>
                </a:solidFill>
                <a:latin typeface="맑은 고딕"/>
                <a:ea typeface="맑은 고딕"/>
                <a:cs typeface="맑은 고딕"/>
              </a:rPr>
              <a:t>• IT에서 시계열 저장소를 조회해 이력과 추세를 보여 준다</a:t>
            </a:r>
          </a:p>
          <a:p>
            <a:pPr algn="l">
              <a:lnSpc>
                <a:spcPct val="110000"/>
              </a:lnSpc>
              <a:spcAft>
                <a:spcPts val="600"/>
              </a:spcAft>
            </a:pPr>
            <a:r>
              <a:rPr sz="1450" b="0">
                <a:solidFill>
                  <a:srgbClr val="1F2A3A"/>
                </a:solidFill>
                <a:latin typeface="맑은 고딕"/>
                <a:ea typeface="맑은 고딕"/>
                <a:cs typeface="맑은 고딕"/>
              </a:rPr>
              <a:t>• 읽기 전용이며 설비를 조작하지 않는다</a:t>
            </a:r>
          </a:p>
          <a:p>
            <a:pPr algn="l">
              <a:lnSpc>
                <a:spcPct val="110000"/>
              </a:lnSpc>
              <a:spcAft>
                <a:spcPts val="600"/>
              </a:spcAft>
            </a:pPr>
            <a:r>
              <a:rPr sz="1450" b="0">
                <a:solidFill>
                  <a:srgbClr val="1F2A3A"/>
                </a:solidFill>
                <a:latin typeface="맑은 고딕"/>
                <a:ea typeface="맑은 고딕"/>
                <a:cs typeface="맑은 고딕"/>
              </a:rPr>
              <a:t>• 추세선 위에 경보와 조치 시점을 주석으로 표시한다</a:t>
            </a:r>
          </a:p>
          <a:p>
            <a:pPr algn="l">
              <a:lnSpc>
                <a:spcPct val="110000"/>
              </a:lnSpc>
              <a:spcAft>
                <a:spcPts val="600"/>
              </a:spcAft>
            </a:pPr>
            <a:r>
              <a:rPr sz="1450" b="0">
                <a:solidFill>
                  <a:srgbClr val="1F2A3A"/>
                </a:solidFill>
                <a:latin typeface="맑은 고딕"/>
                <a:ea typeface="맑은 고딕"/>
                <a:cs typeface="맑은 고딕"/>
              </a:rPr>
              <a:t>• 예: Grafana</a:t>
            </a:r>
          </a:p>
        </p:txBody>
      </p:sp>
      <p:sp>
        <p:nvSpPr>
          <p:cNvPr id="18" name="Rounded Rectangle 17"/>
          <p:cNvSpPr/>
          <p:nvPr/>
        </p:nvSpPr>
        <p:spPr>
          <a:xfrm>
            <a:off x="6781647" y="5547296"/>
            <a:ext cx="17221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분석 · 이력과 추세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유온에 반응하는 세 기준: 55, 60, 65 ℃</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55 ℃에서 경보가 먼저 울리므로, 사람이 리셋해야 풀리는 65 ℃의 인터록에 이르기 전에 조치할 시간이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394013"/>
            <a:ext cx="3442106" cy="319468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7" name="Oval 6"/>
          <p:cNvSpPr/>
          <p:nvPr/>
        </p:nvSpPr>
        <p:spPr>
          <a:xfrm>
            <a:off x="1903933" y="2576893"/>
            <a:ext cx="731520" cy="731520"/>
          </a:xfrm>
          <a:prstGeom prst="ellipse">
            <a:avLst/>
          </a:prstGeom>
          <a:solidFill>
            <a:srgbClr val="5CB8F2"/>
          </a:solidFill>
          <a:ln>
            <a:noFill/>
          </a:ln>
        </p:spPr>
        <p:txBody>
          <a:bodyPr rtlCol="0" anchor="ctr"/>
          <a:lstStyle/>
          <a:p>
            <a:pPr algn="ctr"/>
          </a:p>
        </p:txBody>
      </p:sp>
      <p:pic>
        <p:nvPicPr>
          <p:cNvPr id="8" name="아이콘:radar" descr="radar_13294B_1.6.png"/>
          <p:cNvPicPr>
            <a:picLocks noChangeAspect="1"/>
          </p:cNvPicPr>
          <p:nvPr/>
        </p:nvPicPr>
        <p:blipFill>
          <a:blip r:embed="rId3"/>
          <a:stretch>
            <a:fillRect/>
          </a:stretch>
        </p:blipFill>
        <p:spPr>
          <a:xfrm>
            <a:off x="2057552" y="2730512"/>
            <a:ext cx="424281" cy="424281"/>
          </a:xfrm>
          <a:prstGeom prst="rect">
            <a:avLst/>
          </a:prstGeom>
        </p:spPr>
      </p:pic>
      <p:sp>
        <p:nvSpPr>
          <p:cNvPr id="9" name="TextBox 8"/>
          <p:cNvSpPr txBox="1"/>
          <p:nvPr/>
        </p:nvSpPr>
        <p:spPr>
          <a:xfrm>
            <a:off x="621792"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55 ℃</a:t>
            </a:r>
          </a:p>
          <a:p>
            <a:pPr algn="ctr">
              <a:lnSpc>
                <a:spcPct val="110000"/>
              </a:lnSpc>
              <a:spcAft>
                <a:spcPts val="400"/>
              </a:spcAft>
            </a:pPr>
            <a:r>
              <a:rPr sz="1350" b="0">
                <a:solidFill>
                  <a:srgbClr val="1F2A3A"/>
                </a:solidFill>
                <a:latin typeface="맑은 고딕"/>
                <a:ea typeface="맑은 고딕"/>
                <a:cs typeface="맑은 고딕"/>
              </a:rPr>
              <a:t>감지 서비스의 경보</a:t>
            </a:r>
          </a:p>
          <a:p>
            <a:pPr algn="ctr">
              <a:lnSpc>
                <a:spcPct val="110000"/>
              </a:lnSpc>
              <a:spcAft>
                <a:spcPts val="400"/>
              </a:spcAft>
            </a:pPr>
            <a:r>
              <a:rPr sz="1350" b="0">
                <a:solidFill>
                  <a:srgbClr val="1F2A3A"/>
                </a:solidFill>
                <a:latin typeface="맑은 고딕"/>
                <a:ea typeface="맑은 고딕"/>
                <a:cs typeface="맑은 고딕"/>
              </a:rPr>
              <a:t>여러 값과 추세를 함께 보는 복합 조건</a:t>
            </a:r>
          </a:p>
          <a:p>
            <a:pPr algn="ctr">
              <a:lnSpc>
                <a:spcPct val="110000"/>
              </a:lnSpc>
              <a:spcAft>
                <a:spcPts val="400"/>
              </a:spcAft>
            </a:pPr>
            <a:r>
              <a:rPr sz="1350" b="0">
                <a:solidFill>
                  <a:srgbClr val="1F2A3A"/>
                </a:solidFill>
                <a:latin typeface="맑은 고딕"/>
                <a:ea typeface="맑은 고딕"/>
                <a:cs typeface="맑은 고딕"/>
              </a:rPr>
              <a:t>원인 진단과 조치의 흐름을 시작한다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394013"/>
            <a:ext cx="3442106" cy="319468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576893"/>
            <a:ext cx="731520" cy="731520"/>
          </a:xfrm>
          <a:prstGeom prst="ellipse">
            <a:avLst/>
          </a:prstGeom>
          <a:solidFill>
            <a:srgbClr val="FFFFFF"/>
          </a:solidFill>
          <a:ln>
            <a:noFill/>
          </a:ln>
        </p:spPr>
        <p:txBody>
          <a:bodyPr rtlCol="0" anchor="ctr"/>
          <a:lstStyle/>
          <a:p>
            <a:pPr algn="ctr"/>
          </a:p>
        </p:txBody>
      </p:sp>
      <p:pic>
        <p:nvPicPr>
          <p:cNvPr id="13" name="아이콘:bell" descr="bell_13294B_1.6.png"/>
          <p:cNvPicPr>
            <a:picLocks noChangeAspect="1"/>
          </p:cNvPicPr>
          <p:nvPr/>
        </p:nvPicPr>
        <p:blipFill>
          <a:blip r:embed="rId4"/>
          <a:stretch>
            <a:fillRect/>
          </a:stretch>
        </p:blipFill>
        <p:spPr>
          <a:xfrm>
            <a:off x="5883706" y="2730512"/>
            <a:ext cx="424281" cy="424281"/>
          </a:xfrm>
          <a:prstGeom prst="rect">
            <a:avLst/>
          </a:prstGeom>
        </p:spPr>
      </p:pic>
      <p:sp>
        <p:nvSpPr>
          <p:cNvPr id="14" name="TextBox 13"/>
          <p:cNvSpPr txBox="1"/>
          <p:nvPr/>
        </p:nvSpPr>
        <p:spPr>
          <a:xfrm>
            <a:off x="4447946"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60 ℃</a:t>
            </a:r>
          </a:p>
          <a:p>
            <a:pPr algn="ctr">
              <a:lnSpc>
                <a:spcPct val="110000"/>
              </a:lnSpc>
              <a:spcAft>
                <a:spcPts val="400"/>
              </a:spcAft>
            </a:pPr>
            <a:r>
              <a:rPr sz="1350" b="0">
                <a:solidFill>
                  <a:srgbClr val="1F2A3A"/>
                </a:solidFill>
                <a:latin typeface="맑은 고딕"/>
                <a:ea typeface="맑은 고딕"/>
                <a:cs typeface="맑은 고딕"/>
              </a:rPr>
              <a:t>운전 화면의 알람</a:t>
            </a:r>
          </a:p>
          <a:p>
            <a:pPr algn="ctr">
              <a:lnSpc>
                <a:spcPct val="110000"/>
              </a:lnSpc>
              <a:spcAft>
                <a:spcPts val="400"/>
              </a:spcAft>
            </a:pPr>
            <a:r>
              <a:rPr sz="1350" b="0">
                <a:solidFill>
                  <a:srgbClr val="1F2A3A"/>
                </a:solidFill>
                <a:latin typeface="맑은 고딕"/>
                <a:ea typeface="맑은 고딕"/>
                <a:cs typeface="맑은 고딕"/>
              </a:rPr>
              <a:t>값 하나의 단일 임계치(Threshold)</a:t>
            </a:r>
          </a:p>
          <a:p>
            <a:pPr algn="ctr">
              <a:lnSpc>
                <a:spcPct val="110000"/>
              </a:lnSpc>
              <a:spcAft>
                <a:spcPts val="400"/>
              </a:spcAft>
            </a:pPr>
            <a:r>
              <a:rPr sz="1350" b="0">
                <a:solidFill>
                  <a:srgbClr val="1F2A3A"/>
                </a:solidFill>
                <a:latin typeface="맑은 고딕"/>
                <a:ea typeface="맑은 고딕"/>
                <a:cs typeface="맑은 고딕"/>
              </a:rPr>
              <a:t>운전원에게 현재 상태를 알린다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394013"/>
            <a:ext cx="3442106" cy="319468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9556242" y="2576893"/>
            <a:ext cx="731520" cy="731520"/>
          </a:xfrm>
          <a:prstGeom prst="ellipse">
            <a:avLst/>
          </a:prstGeom>
          <a:solidFill>
            <a:srgbClr val="FFFFFF"/>
          </a:solidFill>
          <a:ln>
            <a:noFill/>
          </a:ln>
        </p:spPr>
        <p:txBody>
          <a:bodyPr rtlCol="0" anchor="ctr"/>
          <a:lstStyle/>
          <a:p>
            <a:pPr algn="ctr"/>
          </a:p>
        </p:txBody>
      </p:sp>
      <p:pic>
        <p:nvPicPr>
          <p:cNvPr id="18" name="아이콘:shield-check" descr="shield-check_13294B_1.6.png"/>
          <p:cNvPicPr>
            <a:picLocks noChangeAspect="1"/>
          </p:cNvPicPr>
          <p:nvPr/>
        </p:nvPicPr>
        <p:blipFill>
          <a:blip r:embed="rId5"/>
          <a:stretch>
            <a:fillRect/>
          </a:stretch>
        </p:blipFill>
        <p:spPr>
          <a:xfrm>
            <a:off x="9709861" y="2730512"/>
            <a:ext cx="424281" cy="424281"/>
          </a:xfrm>
          <a:prstGeom prst="rect">
            <a:avLst/>
          </a:prstGeom>
        </p:spPr>
      </p:pic>
      <p:sp>
        <p:nvSpPr>
          <p:cNvPr id="19" name="TextBox 18"/>
          <p:cNvSpPr txBox="1"/>
          <p:nvPr/>
        </p:nvSpPr>
        <p:spPr>
          <a:xfrm>
            <a:off x="8274100"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65 ℃</a:t>
            </a:r>
          </a:p>
          <a:p>
            <a:pPr algn="ctr">
              <a:lnSpc>
                <a:spcPct val="110000"/>
              </a:lnSpc>
              <a:spcAft>
                <a:spcPts val="400"/>
              </a:spcAft>
            </a:pPr>
            <a:r>
              <a:rPr sz="1350" b="0">
                <a:solidFill>
                  <a:srgbClr val="1F2A3A"/>
                </a:solidFill>
                <a:latin typeface="맑은 고딕"/>
                <a:ea typeface="맑은 고딕"/>
                <a:cs typeface="맑은 고딕"/>
              </a:rPr>
              <a:t>PLC의 인터록</a:t>
            </a:r>
          </a:p>
          <a:p>
            <a:pPr algn="ctr">
              <a:lnSpc>
                <a:spcPct val="110000"/>
              </a:lnSpc>
              <a:spcAft>
                <a:spcPts val="400"/>
              </a:spcAft>
            </a:pPr>
            <a:r>
              <a:rPr sz="1350" b="0">
                <a:solidFill>
                  <a:srgbClr val="1F2A3A"/>
                </a:solidFill>
                <a:latin typeface="맑은 고딕"/>
                <a:ea typeface="맑은 고딕"/>
                <a:cs typeface="맑은 고딕"/>
              </a:rPr>
              <a:t>알리지 않고 설비를 트립시킨다</a:t>
            </a:r>
          </a:p>
          <a:p>
            <a:pPr algn="ctr">
              <a:lnSpc>
                <a:spcPct val="110000"/>
              </a:lnSpc>
              <a:spcAft>
                <a:spcPts val="400"/>
              </a:spcAft>
            </a:pPr>
            <a:r>
              <a:rPr sz="1350" b="0">
                <a:solidFill>
                  <a:srgbClr val="1F2A3A"/>
                </a:solidFill>
                <a:latin typeface="맑은 고딕"/>
                <a:ea typeface="맑은 고딕"/>
                <a:cs typeface="맑은 고딕"/>
              </a:rPr>
              <a:t>자동 복귀하지 않으며, 유온이 55 ℃ 아래로</a:t>
            </a:r>
          </a:p>
          <a:p>
            <a:pPr algn="ctr">
              <a:lnSpc>
                <a:spcPct val="110000"/>
              </a:lnSpc>
              <a:spcAft>
                <a:spcPts val="400"/>
              </a:spcAft>
            </a:pPr>
            <a:r>
              <a:rPr sz="1350" b="0">
                <a:solidFill>
                  <a:srgbClr val="1F2A3A"/>
                </a:solidFill>
                <a:latin typeface="맑은 고딕"/>
                <a:ea typeface="맑은 고딕"/>
                <a:cs typeface="맑은 고딕"/>
              </a:rPr>
              <a:t>내려온 뒤 사람이 리셋한다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7~9 · 추천, 승인, 실행의 책임 경계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추천까지만 하고 명령은 승인 뒤에만 만들어지므로, 설비를 움직이는 결정은 책임질 사람을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a:t>
            </a:r>
          </a:p>
          <a:p>
            <a:pPr algn="l">
              <a:lnSpc>
                <a:spcPct val="110000"/>
              </a:lnSpc>
              <a:spcAft>
                <a:spcPts val="400"/>
              </a:spcAft>
            </a:pPr>
            <a:r>
              <a:rPr sz="1400" b="0">
                <a:solidFill>
                  <a:srgbClr val="1F2A3A"/>
                </a:solidFill>
                <a:latin typeface="맑은 고딕"/>
                <a:ea typeface="맑은 고딕"/>
                <a:cs typeface="맑은 고딕"/>
              </a:rPr>
              <a:t>• 지식과 데이터를 조회해 원인을 진단하고 조치안을 추천한다</a:t>
            </a:r>
          </a:p>
          <a:p>
            <a:pPr algn="l">
              <a:lnSpc>
                <a:spcPct val="110000"/>
              </a:lnSpc>
              <a:spcAft>
                <a:spcPts val="400"/>
              </a:spcAft>
            </a:pPr>
            <a:r>
              <a:rPr sz="1400" b="0">
                <a:solidFill>
                  <a:srgbClr val="1F2A3A"/>
                </a:solidFill>
                <a:latin typeface="맑은 고딕"/>
                <a:ea typeface="맑은 고딕"/>
                <a:cs typeface="맑은 고딕"/>
              </a:rPr>
              <a:t>• 설비에 명령을 보낼 권한이 없다</a:t>
            </a:r>
          </a:p>
        </p:txBody>
      </p:sp>
      <p:sp>
        <p:nvSpPr>
          <p:cNvPr id="10" name="Rounded Rectangle 9"/>
          <p:cNvSpPr/>
          <p:nvPr/>
        </p:nvSpPr>
        <p:spPr>
          <a:xfrm>
            <a:off x="777240" y="536676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조회와 추천</a:t>
            </a:r>
          </a:p>
        </p:txBody>
      </p:sp>
      <p:sp>
        <p:nvSpPr>
          <p:cNvPr id="12" name="Rounded Rectangle 11"/>
          <p:cNvSpPr/>
          <p:nvPr/>
        </p:nvSpPr>
        <p:spPr>
          <a:xfrm>
            <a:off x="4338218"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5CB8F2"/>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담당자</a:t>
            </a:r>
          </a:p>
          <a:p>
            <a:pPr algn="l">
              <a:lnSpc>
                <a:spcPct val="110000"/>
              </a:lnSpc>
              <a:spcAft>
                <a:spcPts val="400"/>
              </a:spcAft>
            </a:pPr>
            <a:r>
              <a:rPr sz="1400" b="0">
                <a:solidFill>
                  <a:srgbClr val="1F2A3A"/>
                </a:solidFill>
                <a:latin typeface="맑은 고딕"/>
                <a:ea typeface="맑은 고딕"/>
                <a:cs typeface="맑은 고딕"/>
              </a:rPr>
              <a:t>• 추천과 근거를 보고 승인하거나 거절한다</a:t>
            </a:r>
          </a:p>
          <a:p>
            <a:pPr algn="l">
              <a:lnSpc>
                <a:spcPct val="110000"/>
              </a:lnSpc>
              <a:spcAft>
                <a:spcPts val="400"/>
              </a:spcAft>
            </a:pPr>
            <a:r>
              <a:rPr sz="1400" b="0">
                <a:solidFill>
                  <a:srgbClr val="1F2A3A"/>
                </a:solidFill>
                <a:latin typeface="맑은 고딕"/>
                <a:ea typeface="맑은 고딕"/>
                <a:cs typeface="맑은 고딕"/>
              </a:rPr>
              <a:t>• 책임이 따르는 결정은 사람이 내린다</a:t>
            </a:r>
          </a:p>
          <a:p>
            <a:pPr algn="l">
              <a:lnSpc>
                <a:spcPct val="110000"/>
              </a:lnSpc>
              <a:spcAft>
                <a:spcPts val="400"/>
              </a:spcAft>
            </a:pPr>
            <a:r>
              <a:rPr sz="1400" b="0">
                <a:solidFill>
                  <a:srgbClr val="1F2A3A"/>
                </a:solidFill>
                <a:latin typeface="맑은 고딕"/>
                <a:ea typeface="맑은 고딕"/>
                <a:cs typeface="맑은 고딕"/>
              </a:rPr>
              <a:t>• 사람의 판단을 거치는 이 구조를 HITL(Human-in-the-Loop)이라 한다</a:t>
            </a:r>
          </a:p>
        </p:txBody>
      </p:sp>
      <p:sp>
        <p:nvSpPr>
          <p:cNvPr id="16" name="Rounded Rectangle 15"/>
          <p:cNvSpPr/>
          <p:nvPr/>
        </p:nvSpPr>
        <p:spPr>
          <a:xfrm>
            <a:off x="4566818" y="5366766"/>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6676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또는 거절</a:t>
            </a:r>
          </a:p>
        </p:txBody>
      </p:sp>
      <p:sp>
        <p:nvSpPr>
          <p:cNvPr id="18" name="Rounded Rectangle 17"/>
          <p:cNvSpPr/>
          <p:nvPr/>
        </p:nvSpPr>
        <p:spPr>
          <a:xfrm>
            <a:off x="8127796"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E7F3FD"/>
          </a:solidFill>
          <a:ln>
            <a:noFill/>
          </a:ln>
        </p:spPr>
        <p:txBody>
          <a:bodyPr rtlCol="0" anchor="ctr"/>
          <a:lstStyle/>
          <a:p>
            <a:pPr algn="ctr"/>
          </a:p>
        </p:txBody>
      </p:sp>
      <p:pic>
        <p:nvPicPr>
          <p:cNvPr id="20" name="아이콘:settings-automation" descr="settings-automation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 엔진</a:t>
            </a:r>
          </a:p>
          <a:p>
            <a:pPr algn="l">
              <a:lnSpc>
                <a:spcPct val="110000"/>
              </a:lnSpc>
              <a:spcAft>
                <a:spcPts val="400"/>
              </a:spcAft>
            </a:pPr>
            <a:r>
              <a:rPr sz="1400" b="0">
                <a:solidFill>
                  <a:srgbClr val="1F2A3A"/>
                </a:solidFill>
                <a:latin typeface="맑은 고딕"/>
                <a:ea typeface="맑은 고딕"/>
                <a:cs typeface="맑은 고딕"/>
              </a:rPr>
              <a:t>• 승인된 조치만 명령으로 만들어 내려보낸다</a:t>
            </a:r>
          </a:p>
          <a:p>
            <a:pPr algn="l">
              <a:lnSpc>
                <a:spcPct val="110000"/>
              </a:lnSpc>
              <a:spcAft>
                <a:spcPts val="400"/>
              </a:spcAft>
            </a:pPr>
            <a:r>
              <a:rPr sz="1400" b="0">
                <a:solidFill>
                  <a:srgbClr val="1F2A3A"/>
                </a:solidFill>
                <a:latin typeface="맑은 고딕"/>
                <a:ea typeface="맑은 고딕"/>
                <a:cs typeface="맑은 고딕"/>
              </a:rPr>
              <a:t>• 실행 뒤 결과를 확인하고 기록한다</a:t>
            </a:r>
          </a:p>
        </p:txBody>
      </p:sp>
      <p:sp>
        <p:nvSpPr>
          <p:cNvPr id="22" name="Rounded Rectangle 21"/>
          <p:cNvSpPr/>
          <p:nvPr/>
        </p:nvSpPr>
        <p:spPr>
          <a:xfrm>
            <a:off x="8356396" y="536676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실행과 확인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승인된 명령이 설비로 내려가는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설비로 내려가는 명령은 DMZ의 명령 관문에서 검사를 거친 뒤에만 OT의 브로커를 통해 PLC에 도달한다.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612647" y="1927974"/>
            <a:ext cx="4309750" cy="4126762"/>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1982838"/>
            <a:ext cx="4309750"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IT</a:t>
            </a:r>
          </a:p>
        </p:txBody>
      </p:sp>
      <p:sp>
        <p:nvSpPr>
          <p:cNvPr id="8" name="Rounded Rectangle 7"/>
          <p:cNvSpPr/>
          <p:nvPr/>
        </p:nvSpPr>
        <p:spPr>
          <a:xfrm>
            <a:off x="5050414" y="1927974"/>
            <a:ext cx="2090867" cy="4126762"/>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5050414" y="1982838"/>
            <a:ext cx="2090867"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DMZ</a:t>
            </a:r>
          </a:p>
        </p:txBody>
      </p:sp>
      <p:sp>
        <p:nvSpPr>
          <p:cNvPr id="10" name="Rounded Rectangle 9"/>
          <p:cNvSpPr/>
          <p:nvPr/>
        </p:nvSpPr>
        <p:spPr>
          <a:xfrm>
            <a:off x="7269297" y="1927974"/>
            <a:ext cx="4309750" cy="4126762"/>
          </a:xfrm>
          <a:prstGeom prst="roundRect">
            <a:avLst>
              <a:gd name="adj" fmla="val 4000"/>
            </a:avLst>
          </a:prstGeom>
          <a:solidFill>
            <a:srgbClr val="F3F6F9"/>
          </a:solidFill>
          <a:ln>
            <a:noFill/>
          </a:ln>
        </p:spPr>
        <p:txBody>
          <a:bodyPr rtlCol="0" anchor="ctr"/>
          <a:lstStyle/>
          <a:p>
            <a:pPr algn="ctr"/>
          </a:p>
        </p:txBody>
      </p:sp>
      <p:sp>
        <p:nvSpPr>
          <p:cNvPr id="11" name="TextBox 10"/>
          <p:cNvSpPr txBox="1"/>
          <p:nvPr/>
        </p:nvSpPr>
        <p:spPr>
          <a:xfrm>
            <a:off x="7269297" y="1982838"/>
            <a:ext cx="4309750"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OT</a:t>
            </a:r>
          </a:p>
        </p:txBody>
      </p:sp>
      <p:sp>
        <p:nvSpPr>
          <p:cNvPr id="12" name="Rectangle 11"/>
          <p:cNvSpPr/>
          <p:nvPr/>
        </p:nvSpPr>
        <p:spPr>
          <a:xfrm>
            <a:off x="1658081" y="3346132"/>
            <a:ext cx="8875532" cy="146304"/>
          </a:xfrm>
          <a:prstGeom prst="rect">
            <a:avLst/>
          </a:prstGeom>
          <a:solidFill>
            <a:srgbClr val="5CB8F2"/>
          </a:solidFill>
          <a:ln>
            <a:noFill/>
          </a:ln>
        </p:spPr>
        <p:txBody>
          <a:bodyPr rtlCol="0" anchor="ctr"/>
          <a:lstStyle/>
          <a:p>
            <a:pPr algn="ctr"/>
          </a:p>
        </p:txBody>
      </p:sp>
      <p:sp>
        <p:nvSpPr>
          <p:cNvPr id="13" name="Chevron 12"/>
          <p:cNvSpPr/>
          <p:nvPr/>
        </p:nvSpPr>
        <p:spPr>
          <a:xfrm>
            <a:off x="2648651" y="3236404"/>
            <a:ext cx="237744" cy="365760"/>
          </a:xfrm>
          <a:prstGeom prst="chevron">
            <a:avLst/>
          </a:prstGeom>
          <a:solidFill>
            <a:srgbClr val="13294B"/>
          </a:solidFill>
          <a:ln>
            <a:noFill/>
          </a:ln>
        </p:spPr>
        <p:txBody>
          <a:bodyPr rtlCol="0" anchor="ctr"/>
          <a:lstStyle/>
          <a:p>
            <a:pPr algn="ctr"/>
          </a:p>
        </p:txBody>
      </p:sp>
      <p:sp>
        <p:nvSpPr>
          <p:cNvPr id="14" name="TextBox 13"/>
          <p:cNvSpPr txBox="1"/>
          <p:nvPr/>
        </p:nvSpPr>
        <p:spPr>
          <a:xfrm>
            <a:off x="2143551" y="2888932"/>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기록</a:t>
            </a:r>
          </a:p>
        </p:txBody>
      </p:sp>
      <p:sp>
        <p:nvSpPr>
          <p:cNvPr id="15" name="Oval 14"/>
          <p:cNvSpPr/>
          <p:nvPr/>
        </p:nvSpPr>
        <p:spPr>
          <a:xfrm>
            <a:off x="1081171" y="2842374"/>
            <a:ext cx="1153819" cy="1153819"/>
          </a:xfrm>
          <a:prstGeom prst="ellipse">
            <a:avLst/>
          </a:prstGeom>
          <a:solidFill>
            <a:srgbClr val="FFFFFF"/>
          </a:solidFill>
          <a:ln w="28575">
            <a:solidFill>
              <a:srgbClr val="13294B"/>
            </a:solidFill>
          </a:ln>
        </p:spPr>
        <p:txBody>
          <a:bodyPr rtlCol="0" anchor="ctr"/>
          <a:lstStyle/>
          <a:p>
            <a:pPr algn="ctr"/>
          </a:p>
        </p:txBody>
      </p:sp>
      <p:pic>
        <p:nvPicPr>
          <p:cNvPr id="16" name="아이콘:settings-automation" descr="settings-automation_13294B_1.6.png"/>
          <p:cNvPicPr>
            <a:picLocks noChangeAspect="1"/>
          </p:cNvPicPr>
          <p:nvPr/>
        </p:nvPicPr>
        <p:blipFill>
          <a:blip r:embed="rId3"/>
          <a:stretch>
            <a:fillRect/>
          </a:stretch>
        </p:blipFill>
        <p:spPr>
          <a:xfrm>
            <a:off x="1358088" y="3119291"/>
            <a:ext cx="599985" cy="599985"/>
          </a:xfrm>
          <a:prstGeom prst="rect">
            <a:avLst/>
          </a:prstGeom>
        </p:spPr>
      </p:pic>
      <p:sp>
        <p:nvSpPr>
          <p:cNvPr id="17" name="TextBox 16"/>
          <p:cNvSpPr txBox="1"/>
          <p:nvPr/>
        </p:nvSpPr>
        <p:spPr>
          <a:xfrm>
            <a:off x="640079" y="4133354"/>
            <a:ext cx="2036003" cy="1738503"/>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프로세스 엔진</a:t>
            </a:r>
          </a:p>
          <a:p>
            <a:pPr algn="ctr">
              <a:lnSpc>
                <a:spcPct val="110000"/>
              </a:lnSpc>
              <a:spcAft>
                <a:spcPts val="400"/>
              </a:spcAft>
            </a:pPr>
            <a:r>
              <a:rPr sz="1300" b="0">
                <a:solidFill>
                  <a:srgbClr val="1F2A3A"/>
                </a:solidFill>
                <a:latin typeface="맑은 고딕"/>
                <a:ea typeface="맑은 고딕"/>
                <a:cs typeface="맑은 고딕"/>
              </a:rPr>
              <a:t>승인된 조치를</a:t>
            </a:r>
          </a:p>
          <a:p>
            <a:pPr algn="ctr">
              <a:lnSpc>
                <a:spcPct val="110000"/>
              </a:lnSpc>
              <a:spcAft>
                <a:spcPts val="400"/>
              </a:spcAft>
            </a:pPr>
            <a:r>
              <a:rPr sz="1300" b="0">
                <a:solidFill>
                  <a:srgbClr val="1F2A3A"/>
                </a:solidFill>
                <a:latin typeface="맑은 고딕"/>
                <a:ea typeface="맑은 고딕"/>
                <a:cs typeface="맑은 고딕"/>
              </a:rPr>
              <a:t>명령으로 만든다</a:t>
            </a:r>
          </a:p>
        </p:txBody>
      </p:sp>
      <p:sp>
        <p:nvSpPr>
          <p:cNvPr id="18" name="Chevron 17"/>
          <p:cNvSpPr/>
          <p:nvPr/>
        </p:nvSpPr>
        <p:spPr>
          <a:xfrm>
            <a:off x="4867534" y="3236404"/>
            <a:ext cx="237744" cy="365760"/>
          </a:xfrm>
          <a:prstGeom prst="chevron">
            <a:avLst/>
          </a:prstGeom>
          <a:solidFill>
            <a:srgbClr val="13294B"/>
          </a:solidFill>
          <a:ln>
            <a:noFill/>
          </a:ln>
        </p:spPr>
        <p:txBody>
          <a:bodyPr rtlCol="0" anchor="ctr"/>
          <a:lstStyle/>
          <a:p>
            <a:pPr algn="ctr"/>
          </a:p>
        </p:txBody>
      </p:sp>
      <p:sp>
        <p:nvSpPr>
          <p:cNvPr id="19" name="TextBox 18"/>
          <p:cNvSpPr txBox="1"/>
          <p:nvPr/>
        </p:nvSpPr>
        <p:spPr>
          <a:xfrm>
            <a:off x="4362434" y="2888932"/>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읽기</a:t>
            </a:r>
          </a:p>
        </p:txBody>
      </p:sp>
      <p:sp>
        <p:nvSpPr>
          <p:cNvPr id="20" name="Oval 19"/>
          <p:cNvSpPr/>
          <p:nvPr/>
        </p:nvSpPr>
        <p:spPr>
          <a:xfrm>
            <a:off x="3300054" y="2842374"/>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tack-2" descr="stack-2_13294B_1.6.png"/>
          <p:cNvPicPr>
            <a:picLocks noChangeAspect="1"/>
          </p:cNvPicPr>
          <p:nvPr/>
        </p:nvPicPr>
        <p:blipFill>
          <a:blip r:embed="rId4"/>
          <a:stretch>
            <a:fillRect/>
          </a:stretch>
        </p:blipFill>
        <p:spPr>
          <a:xfrm>
            <a:off x="3576971" y="3119291"/>
            <a:ext cx="599985" cy="599985"/>
          </a:xfrm>
          <a:prstGeom prst="rect">
            <a:avLst/>
          </a:prstGeom>
        </p:spPr>
      </p:pic>
      <p:sp>
        <p:nvSpPr>
          <p:cNvPr id="22" name="TextBox 21"/>
          <p:cNvSpPr txBox="1"/>
          <p:nvPr/>
        </p:nvSpPr>
        <p:spPr>
          <a:xfrm>
            <a:off x="2858963" y="4133354"/>
            <a:ext cx="2036003" cy="1738503"/>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이벤트 로그</a:t>
            </a:r>
          </a:p>
          <a:p>
            <a:pPr algn="ctr">
              <a:lnSpc>
                <a:spcPct val="110000"/>
              </a:lnSpc>
              <a:spcAft>
                <a:spcPts val="400"/>
              </a:spcAft>
            </a:pPr>
            <a:r>
              <a:rPr sz="1300" b="0">
                <a:solidFill>
                  <a:srgbClr val="1F2A3A"/>
                </a:solidFill>
                <a:latin typeface="맑은 고딕"/>
                <a:ea typeface="맑은 고딕"/>
                <a:cs typeface="맑은 고딕"/>
              </a:rPr>
              <a:t>토픽 action.cmd에</a:t>
            </a:r>
          </a:p>
          <a:p>
            <a:pPr algn="ctr">
              <a:lnSpc>
                <a:spcPct val="110000"/>
              </a:lnSpc>
              <a:spcAft>
                <a:spcPts val="400"/>
              </a:spcAft>
            </a:pPr>
            <a:r>
              <a:rPr sz="1300" b="0">
                <a:solidFill>
                  <a:srgbClr val="1F2A3A"/>
                </a:solidFill>
                <a:latin typeface="맑은 고딕"/>
                <a:ea typeface="맑은 고딕"/>
                <a:cs typeface="맑은 고딕"/>
              </a:rPr>
              <a:t>명령이 기록으로 남는다</a:t>
            </a:r>
          </a:p>
        </p:txBody>
      </p:sp>
      <p:sp>
        <p:nvSpPr>
          <p:cNvPr id="23" name="Chevron 22"/>
          <p:cNvSpPr/>
          <p:nvPr/>
        </p:nvSpPr>
        <p:spPr>
          <a:xfrm>
            <a:off x="7086417" y="3236404"/>
            <a:ext cx="237744" cy="365760"/>
          </a:xfrm>
          <a:prstGeom prst="chevron">
            <a:avLst/>
          </a:prstGeom>
          <a:solidFill>
            <a:srgbClr val="13294B"/>
          </a:solidFill>
          <a:ln>
            <a:noFill/>
          </a:ln>
        </p:spPr>
        <p:txBody>
          <a:bodyPr rtlCol="0" anchor="ctr"/>
          <a:lstStyle/>
          <a:p>
            <a:pPr algn="ctr"/>
          </a:p>
        </p:txBody>
      </p:sp>
      <p:sp>
        <p:nvSpPr>
          <p:cNvPr id="24" name="TextBox 23"/>
          <p:cNvSpPr txBox="1"/>
          <p:nvPr/>
        </p:nvSpPr>
        <p:spPr>
          <a:xfrm>
            <a:off x="6581317" y="2888932"/>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검사 통과</a:t>
            </a:r>
          </a:p>
        </p:txBody>
      </p:sp>
      <p:sp>
        <p:nvSpPr>
          <p:cNvPr id="25" name="Oval 24"/>
          <p:cNvSpPr/>
          <p:nvPr/>
        </p:nvSpPr>
        <p:spPr>
          <a:xfrm>
            <a:off x="5518938" y="2842374"/>
            <a:ext cx="1153819" cy="1153819"/>
          </a:xfrm>
          <a:prstGeom prst="ellipse">
            <a:avLst/>
          </a:prstGeom>
          <a:solidFill>
            <a:srgbClr val="5CB8F2"/>
          </a:solidFill>
          <a:ln w="28575">
            <a:solidFill>
              <a:srgbClr val="13294B"/>
            </a:solidFill>
          </a:ln>
        </p:spPr>
        <p:txBody>
          <a:bodyPr rtlCol="0" anchor="ctr"/>
          <a:lstStyle/>
          <a:p>
            <a:pPr algn="ctr"/>
          </a:p>
        </p:txBody>
      </p:sp>
      <p:pic>
        <p:nvPicPr>
          <p:cNvPr id="26" name="아이콘:shield-check" descr="shield-check_13294B_1.6.png"/>
          <p:cNvPicPr>
            <a:picLocks noChangeAspect="1"/>
          </p:cNvPicPr>
          <p:nvPr/>
        </p:nvPicPr>
        <p:blipFill>
          <a:blip r:embed="rId5"/>
          <a:stretch>
            <a:fillRect/>
          </a:stretch>
        </p:blipFill>
        <p:spPr>
          <a:xfrm>
            <a:off x="5795854" y="3119291"/>
            <a:ext cx="599985" cy="599985"/>
          </a:xfrm>
          <a:prstGeom prst="rect">
            <a:avLst/>
          </a:prstGeom>
        </p:spPr>
      </p:pic>
      <p:sp>
        <p:nvSpPr>
          <p:cNvPr id="27" name="TextBox 26"/>
          <p:cNvSpPr txBox="1"/>
          <p:nvPr/>
        </p:nvSpPr>
        <p:spPr>
          <a:xfrm>
            <a:off x="5077846" y="4133354"/>
            <a:ext cx="2036003" cy="1738503"/>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명령 관문</a:t>
            </a:r>
          </a:p>
          <a:p>
            <a:pPr algn="ctr">
              <a:lnSpc>
                <a:spcPct val="110000"/>
              </a:lnSpc>
              <a:spcAft>
                <a:spcPts val="400"/>
              </a:spcAft>
            </a:pPr>
            <a:r>
              <a:rPr sz="1300" b="0">
                <a:solidFill>
                  <a:srgbClr val="1F2A3A"/>
                </a:solidFill>
                <a:latin typeface="맑은 고딕"/>
                <a:ea typeface="맑은 고딕"/>
                <a:cs typeface="맑은 고딕"/>
              </a:rPr>
              <a:t>명령 게이트웨이(Command Gateway)</a:t>
            </a:r>
          </a:p>
          <a:p>
            <a:pPr algn="ctr">
              <a:lnSpc>
                <a:spcPct val="110000"/>
              </a:lnSpc>
              <a:spcAft>
                <a:spcPts val="400"/>
              </a:spcAft>
            </a:pPr>
            <a:r>
              <a:rPr sz="1300" b="0">
                <a:solidFill>
                  <a:srgbClr val="1F2A3A"/>
                </a:solidFill>
                <a:latin typeface="맑은 고딕"/>
                <a:ea typeface="맑은 고딕"/>
                <a:cs typeface="맑은 고딕"/>
              </a:rPr>
              <a:t>형식, 허용 목록, 만료, 승인 기록,</a:t>
            </a:r>
          </a:p>
          <a:p>
            <a:pPr algn="ctr">
              <a:lnSpc>
                <a:spcPct val="110000"/>
              </a:lnSpc>
              <a:spcAft>
                <a:spcPts val="400"/>
              </a:spcAft>
            </a:pPr>
            <a:r>
              <a:rPr sz="1300" b="0">
                <a:solidFill>
                  <a:srgbClr val="1F2A3A"/>
                </a:solidFill>
                <a:latin typeface="맑은 고딕"/>
                <a:ea typeface="맑은 고딕"/>
                <a:cs typeface="맑은 고딕"/>
              </a:rPr>
              <a:t>운전 모드를 검사한다</a:t>
            </a:r>
          </a:p>
        </p:txBody>
      </p:sp>
      <p:sp>
        <p:nvSpPr>
          <p:cNvPr id="28" name="Chevron 27"/>
          <p:cNvSpPr/>
          <p:nvPr/>
        </p:nvSpPr>
        <p:spPr>
          <a:xfrm>
            <a:off x="9305300" y="3236404"/>
            <a:ext cx="237744" cy="365760"/>
          </a:xfrm>
          <a:prstGeom prst="chevron">
            <a:avLst/>
          </a:prstGeom>
          <a:solidFill>
            <a:srgbClr val="13294B"/>
          </a:solidFill>
          <a:ln>
            <a:noFill/>
          </a:ln>
        </p:spPr>
        <p:txBody>
          <a:bodyPr rtlCol="0" anchor="ctr"/>
          <a:lstStyle/>
          <a:p>
            <a:pPr algn="ctr"/>
          </a:p>
        </p:txBody>
      </p:sp>
      <p:sp>
        <p:nvSpPr>
          <p:cNvPr id="29" name="TextBox 28"/>
          <p:cNvSpPr txBox="1"/>
          <p:nvPr/>
        </p:nvSpPr>
        <p:spPr>
          <a:xfrm>
            <a:off x="8800200" y="2888932"/>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전달</a:t>
            </a:r>
          </a:p>
        </p:txBody>
      </p:sp>
      <p:sp>
        <p:nvSpPr>
          <p:cNvPr id="30" name="Oval 29"/>
          <p:cNvSpPr/>
          <p:nvPr/>
        </p:nvSpPr>
        <p:spPr>
          <a:xfrm>
            <a:off x="7737821" y="2842374"/>
            <a:ext cx="1153819" cy="1153819"/>
          </a:xfrm>
          <a:prstGeom prst="ellipse">
            <a:avLst/>
          </a:prstGeom>
          <a:solidFill>
            <a:srgbClr val="FFFFFF"/>
          </a:solidFill>
          <a:ln w="28575">
            <a:solidFill>
              <a:srgbClr val="13294B"/>
            </a:solidFill>
          </a:ln>
        </p:spPr>
        <p:txBody>
          <a:bodyPr rtlCol="0" anchor="ctr"/>
          <a:lstStyle/>
          <a:p>
            <a:pPr algn="ctr"/>
          </a:p>
        </p:txBody>
      </p:sp>
      <p:pic>
        <p:nvPicPr>
          <p:cNvPr id="31" name="아이콘:broadcast" descr="broadcast_13294B_1.6.png"/>
          <p:cNvPicPr>
            <a:picLocks noChangeAspect="1"/>
          </p:cNvPicPr>
          <p:nvPr/>
        </p:nvPicPr>
        <p:blipFill>
          <a:blip r:embed="rId6"/>
          <a:stretch>
            <a:fillRect/>
          </a:stretch>
        </p:blipFill>
        <p:spPr>
          <a:xfrm>
            <a:off x="8014737" y="3119291"/>
            <a:ext cx="599985" cy="599985"/>
          </a:xfrm>
          <a:prstGeom prst="rect">
            <a:avLst/>
          </a:prstGeom>
        </p:spPr>
      </p:pic>
      <p:sp>
        <p:nvSpPr>
          <p:cNvPr id="32" name="TextBox 31"/>
          <p:cNvSpPr txBox="1"/>
          <p:nvPr/>
        </p:nvSpPr>
        <p:spPr>
          <a:xfrm>
            <a:off x="7296729" y="4133354"/>
            <a:ext cx="2036003" cy="1738503"/>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브로커</a:t>
            </a:r>
          </a:p>
          <a:p>
            <a:pPr algn="ctr">
              <a:lnSpc>
                <a:spcPct val="110000"/>
              </a:lnSpc>
              <a:spcAft>
                <a:spcPts val="400"/>
              </a:spcAft>
            </a:pPr>
            <a:r>
              <a:rPr sz="1300" b="0">
                <a:solidFill>
                  <a:srgbClr val="1F2A3A"/>
                </a:solidFill>
                <a:latin typeface="맑은 고딕"/>
                <a:ea typeface="맑은 고딕"/>
                <a:cs typeface="맑은 고딕"/>
              </a:rPr>
              <a:t>토픽</a:t>
            </a:r>
          </a:p>
          <a:p>
            <a:pPr algn="ctr">
              <a:lnSpc>
                <a:spcPct val="110000"/>
              </a:lnSpc>
              <a:spcAft>
                <a:spcPts val="400"/>
              </a:spcAft>
            </a:pPr>
            <a:r>
              <a:rPr sz="1300" b="0">
                <a:solidFill>
                  <a:srgbClr val="1F2A3A"/>
                </a:solidFill>
                <a:latin typeface="맑은 고딕"/>
                <a:ea typeface="맑은 고딕"/>
                <a:cs typeface="맑은 고딕"/>
              </a:rPr>
              <a:t>plant/hyd01/cmd/auto</a:t>
            </a:r>
          </a:p>
        </p:txBody>
      </p:sp>
      <p:sp>
        <p:nvSpPr>
          <p:cNvPr id="33" name="Oval 32"/>
          <p:cNvSpPr/>
          <p:nvPr/>
        </p:nvSpPr>
        <p:spPr>
          <a:xfrm>
            <a:off x="9956704" y="2842374"/>
            <a:ext cx="1153819" cy="1153819"/>
          </a:xfrm>
          <a:prstGeom prst="ellipse">
            <a:avLst/>
          </a:prstGeom>
          <a:solidFill>
            <a:srgbClr val="FFFFFF"/>
          </a:solidFill>
          <a:ln w="28575">
            <a:solidFill>
              <a:srgbClr val="13294B"/>
            </a:solidFill>
          </a:ln>
        </p:spPr>
        <p:txBody>
          <a:bodyPr rtlCol="0" anchor="ctr"/>
          <a:lstStyle/>
          <a:p>
            <a:pPr algn="ctr"/>
          </a:p>
        </p:txBody>
      </p:sp>
      <p:pic>
        <p:nvPicPr>
          <p:cNvPr id="34" name="아이콘:cpu" descr="cpu_13294B_1.6.png"/>
          <p:cNvPicPr>
            <a:picLocks noChangeAspect="1"/>
          </p:cNvPicPr>
          <p:nvPr/>
        </p:nvPicPr>
        <p:blipFill>
          <a:blip r:embed="rId7"/>
          <a:stretch>
            <a:fillRect/>
          </a:stretch>
        </p:blipFill>
        <p:spPr>
          <a:xfrm>
            <a:off x="10233620" y="3119291"/>
            <a:ext cx="599985" cy="599985"/>
          </a:xfrm>
          <a:prstGeom prst="rect">
            <a:avLst/>
          </a:prstGeom>
        </p:spPr>
      </p:pic>
      <p:sp>
        <p:nvSpPr>
          <p:cNvPr id="35" name="TextBox 34"/>
          <p:cNvSpPr txBox="1"/>
          <p:nvPr/>
        </p:nvSpPr>
        <p:spPr>
          <a:xfrm>
            <a:off x="9515612" y="4133354"/>
            <a:ext cx="2036003" cy="1738503"/>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PLC</a:t>
            </a:r>
          </a:p>
          <a:p>
            <a:pPr algn="ctr">
              <a:lnSpc>
                <a:spcPct val="110000"/>
              </a:lnSpc>
              <a:spcAft>
                <a:spcPts val="400"/>
              </a:spcAft>
            </a:pPr>
            <a:r>
              <a:rPr sz="1300" b="0">
                <a:solidFill>
                  <a:srgbClr val="1F2A3A"/>
                </a:solidFill>
                <a:latin typeface="맑은 고딕"/>
                <a:ea typeface="맑은 고딕"/>
                <a:cs typeface="맑은 고딕"/>
              </a:rPr>
              <a:t>다시 검사한 뒤</a:t>
            </a:r>
          </a:p>
          <a:p>
            <a:pPr algn="ctr">
              <a:lnSpc>
                <a:spcPct val="110000"/>
              </a:lnSpc>
              <a:spcAft>
                <a:spcPts val="400"/>
              </a:spcAft>
            </a:pPr>
            <a:r>
              <a:rPr sz="1300" b="0">
                <a:solidFill>
                  <a:srgbClr val="1F2A3A"/>
                </a:solidFill>
                <a:latin typeface="맑은 고딕"/>
                <a:ea typeface="맑은 고딕"/>
                <a:cs typeface="맑은 고딕"/>
              </a:rPr>
              <a:t>설정값을 바꾼다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 메시지 한 건에 들어 있는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명령에는 할 일과 함께 누가 승인했는지, 언제까지 유효한지가 들어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cmdId       CMD-1010-0001-b94a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incident    INC-1010-01-d55a</a:t>
            </a:r>
          </a:p>
          <a:p>
            <a:pPr algn="l">
              <a:lnSpc>
                <a:spcPct val="110000"/>
              </a:lnSpc>
              <a:spcAft>
                <a:spcPts val="200"/>
              </a:spcAft>
            </a:pPr>
            <a:r>
              <a:rPr sz="1300" b="0">
                <a:solidFill>
                  <a:srgbClr val="E8EEF6"/>
                </a:solidFill>
                <a:latin typeface="Consolas"/>
                <a:ea typeface="맑은 고딕"/>
                <a:cs typeface="맑은 고딕"/>
              </a:rPr>
              <a:t>actions     FAN_SET  fan_pct 100</a:t>
            </a:r>
          </a:p>
          <a:p>
            <a:pPr algn="l">
              <a:lnSpc>
                <a:spcPct val="110000"/>
              </a:lnSpc>
              <a:spcAft>
                <a:spcPts val="200"/>
              </a:spcAft>
            </a:pPr>
            <a:r>
              <a:rPr sz="1300" b="0">
                <a:solidFill>
                  <a:srgbClr val="E8EEF6"/>
                </a:solidFill>
                <a:latin typeface="Consolas"/>
                <a:ea typeface="맑은 고딕"/>
                <a:cs typeface="맑은 고딕"/>
              </a:rPr>
              <a:t>approvedBy  user:kim-op</a:t>
            </a:r>
          </a:p>
          <a:p>
            <a:pPr algn="l">
              <a:lnSpc>
                <a:spcPct val="110000"/>
              </a:lnSpc>
              <a:spcAft>
                <a:spcPts val="200"/>
              </a:spcAft>
            </a:pPr>
            <a:r>
              <a:rPr sz="1300" b="0">
                <a:solidFill>
                  <a:srgbClr val="E8EEF6"/>
                </a:solidFill>
                <a:latin typeface="Consolas"/>
                <a:ea typeface="맑은 고딕"/>
                <a:cs typeface="맑은 고딕"/>
              </a:rPr>
              <a:t>issuedAt    11:14:57</a:t>
            </a:r>
          </a:p>
          <a:p>
            <a:pPr algn="l">
              <a:lnSpc>
                <a:spcPct val="110000"/>
              </a:lnSpc>
              <a:spcAft>
                <a:spcPts val="200"/>
              </a:spcAft>
            </a:pPr>
            <a:r>
              <a:rPr sz="1300" b="0">
                <a:solidFill>
                  <a:srgbClr val="E8EEF6"/>
                </a:solidFill>
                <a:latin typeface="Consolas"/>
                <a:ea typeface="맑은 고딕"/>
                <a:cs typeface="맑은 고딕"/>
              </a:rPr>
              <a:t>expiresAt   11:16:57</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actions</a:t>
            </a:r>
          </a:p>
          <a:p>
            <a:pPr algn="l">
              <a:lnSpc>
                <a:spcPct val="110000"/>
              </a:lnSpc>
              <a:spcAft>
                <a:spcPts val="400"/>
              </a:spcAft>
            </a:pPr>
            <a:r>
              <a:rPr sz="1400" b="0">
                <a:solidFill>
                  <a:srgbClr val="1F2A3A"/>
                </a:solidFill>
                <a:latin typeface="맑은 고딕"/>
                <a:ea typeface="맑은 고딕"/>
                <a:cs typeface="맑은 고딕"/>
              </a:rPr>
              <a:t>할 일이다. 팬 속도를 100 %로 올린다.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approvedBy</a:t>
            </a:r>
          </a:p>
          <a:p>
            <a:pPr algn="l">
              <a:lnSpc>
                <a:spcPct val="110000"/>
              </a:lnSpc>
              <a:spcAft>
                <a:spcPts val="400"/>
              </a:spcAft>
            </a:pPr>
            <a:r>
              <a:rPr sz="1400" b="0">
                <a:solidFill>
                  <a:srgbClr val="1F2A3A"/>
                </a:solidFill>
                <a:latin typeface="맑은 고딕"/>
                <a:ea typeface="맑은 고딕"/>
                <a:cs typeface="맑은 고딕"/>
              </a:rPr>
              <a:t>승인한 사람이다. 승인 없이는 명령이 만들어지지 않으며, 누가 책임지는지가 남는다.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expiresAt</a:t>
            </a:r>
          </a:p>
          <a:p>
            <a:pPr algn="l">
              <a:lnSpc>
                <a:spcPct val="110000"/>
              </a:lnSpc>
              <a:spcAft>
                <a:spcPts val="400"/>
              </a:spcAft>
            </a:pPr>
            <a:r>
              <a:rPr sz="1400" b="0">
                <a:solidFill>
                  <a:srgbClr val="1F2A3A"/>
                </a:solidFill>
                <a:latin typeface="맑은 고딕"/>
                <a:ea typeface="맑은 고딕"/>
                <a:cs typeface="맑은 고딕"/>
              </a:rPr>
              <a:t>만료 시각이다. 이 시각이 지난 명령은 버려져, 달라진 상황에서 늦게 실행되지 않는다.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cmdId · 그 밖의 칸</a:t>
            </a:r>
          </a:p>
          <a:p>
            <a:pPr algn="l">
              <a:lnSpc>
                <a:spcPct val="110000"/>
              </a:lnSpc>
              <a:spcAft>
                <a:spcPts val="400"/>
              </a:spcAft>
            </a:pPr>
            <a:r>
              <a:rPr sz="1400" b="0">
                <a:solidFill>
                  <a:srgbClr val="1F2A3A"/>
                </a:solidFill>
                <a:latin typeface="맑은 고딕"/>
                <a:ea typeface="맑은 고딕"/>
                <a:cs typeface="맑은 고딕"/>
              </a:rPr>
              <a:t>명령 식별자로 같은 명령의 중복 실행을 막는다</a:t>
            </a:r>
          </a:p>
          <a:p>
            <a:pPr algn="l">
              <a:lnSpc>
                <a:spcPct val="110000"/>
              </a:lnSpc>
              <a:spcAft>
                <a:spcPts val="400"/>
              </a:spcAft>
            </a:pPr>
            <a:r>
              <a:rPr sz="1400" b="0">
                <a:solidFill>
                  <a:srgbClr val="1F2A3A"/>
                </a:solidFill>
                <a:latin typeface="맑은 고딕"/>
                <a:ea typeface="맑은 고딕"/>
                <a:cs typeface="맑은 고딕"/>
              </a:rPr>
              <a:t>설비, 사건 번호, 발행 시각이 함께 적힌다.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명령의 두 단계 검사: 명령 관문과 PLC</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명령 관문은 명령서의 형식 · 권한 · 유효성을, PLC는 현재 설비 상태를 검사해 서로 다른 문제를 걸러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480246"/>
            <a:ext cx="731520" cy="731520"/>
          </a:xfrm>
          <a:prstGeom prst="ellipse">
            <a:avLst/>
          </a:prstGeom>
          <a:solidFill>
            <a:srgbClr val="5CB8F2"/>
          </a:solidFill>
          <a:ln>
            <a:noFill/>
          </a:ln>
        </p:spPr>
        <p:txBody>
          <a:bodyPr rtlCol="0" anchor="ctr"/>
          <a:lstStyle/>
          <a:p>
            <a:pPr algn="ctr"/>
          </a:p>
        </p:txBody>
      </p:sp>
      <p:pic>
        <p:nvPicPr>
          <p:cNvPr id="8" name="아이콘:clipboard-check" descr="clipboard-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명령 관문 · DMZ</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스키마: 필요한 칸이 모두 있는가</a:t>
            </a:r>
          </a:p>
          <a:p>
            <a:pPr algn="l">
              <a:lnSpc>
                <a:spcPct val="110000"/>
              </a:lnSpc>
              <a:spcAft>
                <a:spcPts val="600"/>
              </a:spcAft>
            </a:pPr>
            <a:r>
              <a:rPr sz="1450" b="0">
                <a:solidFill>
                  <a:srgbClr val="1F2A3A"/>
                </a:solidFill>
                <a:latin typeface="맑은 고딕"/>
                <a:ea typeface="맑은 고딕"/>
                <a:cs typeface="맑은 고딕"/>
              </a:rPr>
              <a:t>• 허용 목록(Whitelist): 허용된 조치인가</a:t>
            </a:r>
          </a:p>
          <a:p>
            <a:pPr algn="l">
              <a:lnSpc>
                <a:spcPct val="110000"/>
              </a:lnSpc>
              <a:spcAft>
                <a:spcPts val="600"/>
              </a:spcAft>
            </a:pPr>
            <a:r>
              <a:rPr sz="1450" b="0">
                <a:solidFill>
                  <a:srgbClr val="1F2A3A"/>
                </a:solidFill>
                <a:latin typeface="맑은 고딕"/>
                <a:ea typeface="맑은 고딕"/>
                <a:cs typeface="맑은 고딕"/>
              </a:rPr>
              <a:t>• 만료: 유효 시간이 지나지 않았는가</a:t>
            </a:r>
          </a:p>
          <a:p>
            <a:pPr algn="l">
              <a:lnSpc>
                <a:spcPct val="110000"/>
              </a:lnSpc>
              <a:spcAft>
                <a:spcPts val="600"/>
              </a:spcAft>
            </a:pPr>
            <a:r>
              <a:rPr sz="1450" b="0">
                <a:solidFill>
                  <a:srgbClr val="1F2A3A"/>
                </a:solidFill>
                <a:latin typeface="맑은 고딕"/>
                <a:ea typeface="맑은 고딕"/>
                <a:cs typeface="맑은 고딕"/>
              </a:rPr>
              <a:t>• 승인 기록: 이 명령에 대한 승인이 실제로 있는가</a:t>
            </a:r>
          </a:p>
          <a:p>
            <a:pPr algn="l">
              <a:lnSpc>
                <a:spcPct val="110000"/>
              </a:lnSpc>
              <a:spcAft>
                <a:spcPts val="600"/>
              </a:spcAft>
            </a:pPr>
            <a:r>
              <a:rPr sz="1450" b="0">
                <a:solidFill>
                  <a:srgbClr val="1F2A3A"/>
                </a:solidFill>
                <a:latin typeface="맑은 고딕"/>
                <a:ea typeface="맑은 고딕"/>
                <a:cs typeface="맑은 고딕"/>
              </a:rPr>
              <a:t>• 운전 모드: PLC가 원격 자동 모드인가</a:t>
            </a:r>
          </a:p>
        </p:txBody>
      </p:sp>
      <p:sp>
        <p:nvSpPr>
          <p:cNvPr id="11" name="Rounded Rectangle 10"/>
          <p:cNvSpPr/>
          <p:nvPr/>
        </p:nvSpPr>
        <p:spPr>
          <a:xfrm>
            <a:off x="868680" y="5246433"/>
            <a:ext cx="1325879"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명령서를 본다</a:t>
            </a:r>
          </a:p>
        </p:txBody>
      </p:sp>
      <p:sp>
        <p:nvSpPr>
          <p:cNvPr id="13" name="Rounded Rectangle 12"/>
          <p:cNvSpPr/>
          <p:nvPr/>
        </p:nvSpPr>
        <p:spPr>
          <a:xfrm>
            <a:off x="6461607" y="2279078"/>
            <a:ext cx="5181447" cy="3424555"/>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80246"/>
            <a:ext cx="731520" cy="731520"/>
          </a:xfrm>
          <a:prstGeom prst="ellipse">
            <a:avLst/>
          </a:prstGeom>
          <a:solidFill>
            <a:srgbClr val="FFFFFF"/>
          </a:solidFill>
          <a:ln>
            <a:noFill/>
          </a:ln>
        </p:spPr>
        <p:txBody>
          <a:bodyPr rtlCol="0" anchor="ctr"/>
          <a:lstStyle/>
          <a:p>
            <a:pPr algn="ctr"/>
          </a:p>
        </p:txBody>
      </p:sp>
      <p:pic>
        <p:nvPicPr>
          <p:cNvPr id="15" name="아이콘:shield-check" descr="shield-check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PLC · OT</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범위: 팬 속도 0~100 %, 부하 60~100 % 범위 안인가</a:t>
            </a:r>
          </a:p>
          <a:p>
            <a:pPr algn="l">
              <a:lnSpc>
                <a:spcPct val="110000"/>
              </a:lnSpc>
              <a:spcAft>
                <a:spcPts val="600"/>
              </a:spcAft>
            </a:pPr>
            <a:r>
              <a:rPr sz="1450" b="0">
                <a:solidFill>
                  <a:srgbClr val="1F2A3A"/>
                </a:solidFill>
                <a:latin typeface="맑은 고딕"/>
                <a:ea typeface="맑은 고딕"/>
                <a:cs typeface="맑은 고딕"/>
              </a:rPr>
              <a:t>• 인터록: 지금 트립 상태가 아닌가</a:t>
            </a:r>
          </a:p>
          <a:p>
            <a:pPr algn="l">
              <a:lnSpc>
                <a:spcPct val="110000"/>
              </a:lnSpc>
              <a:spcAft>
                <a:spcPts val="600"/>
              </a:spcAft>
            </a:pPr>
            <a:r>
              <a:rPr sz="1450" b="0">
                <a:solidFill>
                  <a:srgbClr val="1F2A3A"/>
                </a:solidFill>
                <a:latin typeface="맑은 고딕"/>
                <a:ea typeface="맑은 고딕"/>
                <a:cs typeface="맑은 고딕"/>
              </a:rPr>
              <a:t>• 응답: 설정값을 바꾸고 결과를 ACK로 돌려보낸다</a:t>
            </a:r>
          </a:p>
          <a:p>
            <a:pPr algn="l">
              <a:lnSpc>
                <a:spcPct val="110000"/>
              </a:lnSpc>
              <a:spcAft>
                <a:spcPts val="600"/>
              </a:spcAft>
            </a:pPr>
            <a:r>
              <a:rPr sz="1450" b="0">
                <a:solidFill>
                  <a:srgbClr val="1F2A3A"/>
                </a:solidFill>
                <a:latin typeface="맑은 고딕"/>
                <a:ea typeface="맑은 고딕"/>
                <a:cs typeface="맑은 고딕"/>
              </a:rPr>
              <a:t>• result DONE · interlock PASS</a:t>
            </a:r>
          </a:p>
        </p:txBody>
      </p:sp>
      <p:sp>
        <p:nvSpPr>
          <p:cNvPr id="18" name="Rounded Rectangle 17"/>
          <p:cNvSpPr/>
          <p:nvPr/>
        </p:nvSpPr>
        <p:spPr>
          <a:xfrm>
            <a:off x="6781647" y="5246433"/>
            <a:ext cx="187452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46433"/>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현재 설비 상태를 본다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 한 건이 설비에 닿기까지 걸린 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승인부터 설비의 응답까지 2초가 걸렸으며, 관문과 PLC의 검사는 그 안에 끝나 조치를 늦추지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ectangle 5"/>
          <p:cNvSpPr/>
          <p:nvPr/>
        </p:nvSpPr>
        <p:spPr>
          <a:xfrm>
            <a:off x="2397709" y="3146679"/>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2180539" y="2947797"/>
            <a:ext cx="434340" cy="434340"/>
          </a:xfrm>
          <a:prstGeom prst="rect">
            <a:avLst/>
          </a:prstGeom>
        </p:spPr>
      </p:pic>
      <p:sp>
        <p:nvSpPr>
          <p:cNvPr id="9" name="Oval 8"/>
          <p:cNvSpPr/>
          <p:nvPr/>
        </p:nvSpPr>
        <p:spPr>
          <a:xfrm>
            <a:off x="2557729"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11:14:56 승인</a:t>
            </a:r>
          </a:p>
          <a:p>
            <a:pPr algn="ctr">
              <a:lnSpc>
                <a:spcPct val="110000"/>
              </a:lnSpc>
              <a:spcAft>
                <a:spcPts val="400"/>
              </a:spcAft>
            </a:pPr>
            <a:r>
              <a:rPr sz="1350" b="0">
                <a:solidFill>
                  <a:srgbClr val="1F2A3A"/>
                </a:solidFill>
                <a:latin typeface="맑은 고딕"/>
                <a:ea typeface="맑은 고딕"/>
                <a:cs typeface="맑은 고딕"/>
              </a:rPr>
              <a:t>운전원이</a:t>
            </a:r>
          </a:p>
          <a:p>
            <a:pPr algn="ctr">
              <a:lnSpc>
                <a:spcPct val="110000"/>
              </a:lnSpc>
              <a:spcAft>
                <a:spcPts val="400"/>
              </a:spcAft>
            </a:pPr>
            <a:r>
              <a:rPr sz="1350" b="0">
                <a:solidFill>
                  <a:srgbClr val="1F2A3A"/>
                </a:solidFill>
                <a:latin typeface="맑은 고딕"/>
                <a:ea typeface="맑은 고딕"/>
                <a:cs typeface="맑은 고딕"/>
              </a:rPr>
              <a:t>「팬 최대 운전」을 승인한다</a:t>
            </a:r>
          </a:p>
        </p:txBody>
      </p:sp>
      <p:sp>
        <p:nvSpPr>
          <p:cNvPr id="12" name="Oval 11"/>
          <p:cNvSpPr/>
          <p:nvPr/>
        </p:nvSpPr>
        <p:spPr>
          <a:xfrm>
            <a:off x="5661507"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5878677" y="2947797"/>
            <a:ext cx="434340" cy="434340"/>
          </a:xfrm>
          <a:prstGeom prst="rect">
            <a:avLst/>
          </a:prstGeom>
        </p:spPr>
      </p:pic>
      <p:sp>
        <p:nvSpPr>
          <p:cNvPr id="14" name="Oval 13"/>
          <p:cNvSpPr/>
          <p:nvPr/>
        </p:nvSpPr>
        <p:spPr>
          <a:xfrm>
            <a:off x="6255867"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11:14:57 명령</a:t>
            </a:r>
          </a:p>
          <a:p>
            <a:pPr algn="ctr">
              <a:lnSpc>
                <a:spcPct val="110000"/>
              </a:lnSpc>
              <a:spcAft>
                <a:spcPts val="400"/>
              </a:spcAft>
            </a:pPr>
            <a:r>
              <a:rPr sz="1350" b="0">
                <a:solidFill>
                  <a:srgbClr val="1F2A3A"/>
                </a:solidFill>
                <a:latin typeface="맑은 고딕"/>
                <a:ea typeface="맑은 고딕"/>
                <a:cs typeface="맑은 고딕"/>
              </a:rPr>
              <a:t>팬 속도 100 % 명령이</a:t>
            </a:r>
          </a:p>
          <a:p>
            <a:pPr algn="ctr">
              <a:lnSpc>
                <a:spcPct val="110000"/>
              </a:lnSpc>
              <a:spcAft>
                <a:spcPts val="400"/>
              </a:spcAft>
            </a:pPr>
            <a:r>
              <a:rPr sz="1350" b="0">
                <a:solidFill>
                  <a:srgbClr val="1F2A3A"/>
                </a:solidFill>
                <a:latin typeface="맑은 고딕"/>
                <a:ea typeface="맑은 고딕"/>
                <a:cs typeface="맑은 고딕"/>
              </a:rPr>
              <a:t>내려간다</a:t>
            </a:r>
          </a:p>
        </p:txBody>
      </p:sp>
      <p:sp>
        <p:nvSpPr>
          <p:cNvPr id="17" name="Oval 16"/>
          <p:cNvSpPr/>
          <p:nvPr/>
        </p:nvSpPr>
        <p:spPr>
          <a:xfrm>
            <a:off x="9359646" y="2730627"/>
            <a:ext cx="868680" cy="868680"/>
          </a:xfrm>
          <a:prstGeom prst="ellipse">
            <a:avLst/>
          </a:prstGeom>
          <a:solidFill>
            <a:srgbClr val="5CB8F2"/>
          </a:solidFill>
          <a:ln>
            <a:noFill/>
          </a:ln>
        </p:spPr>
        <p:txBody>
          <a:bodyPr rtlCol="0" anchor="ctr"/>
          <a:lstStyle/>
          <a:p>
            <a:pPr algn="ctr"/>
          </a:p>
        </p:txBody>
      </p:sp>
      <p:pic>
        <p:nvPicPr>
          <p:cNvPr id="18" name="아이콘:circle-check" descr="circle-check_13294B_1.6.png"/>
          <p:cNvPicPr>
            <a:picLocks noChangeAspect="1"/>
          </p:cNvPicPr>
          <p:nvPr/>
        </p:nvPicPr>
        <p:blipFill>
          <a:blip r:embed="rId5"/>
          <a:stretch>
            <a:fillRect/>
          </a:stretch>
        </p:blipFill>
        <p:spPr>
          <a:xfrm>
            <a:off x="9576816" y="2947797"/>
            <a:ext cx="434340" cy="434340"/>
          </a:xfrm>
          <a:prstGeom prst="rect">
            <a:avLst/>
          </a:prstGeom>
        </p:spPr>
      </p:pic>
      <p:sp>
        <p:nvSpPr>
          <p:cNvPr id="19" name="Oval 18"/>
          <p:cNvSpPr/>
          <p:nvPr/>
        </p:nvSpPr>
        <p:spPr>
          <a:xfrm>
            <a:off x="9954006"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11:14:58 ACK</a:t>
            </a:r>
          </a:p>
          <a:p>
            <a:pPr algn="ctr">
              <a:lnSpc>
                <a:spcPct val="110000"/>
              </a:lnSpc>
              <a:spcAft>
                <a:spcPts val="400"/>
              </a:spcAft>
            </a:pPr>
            <a:r>
              <a:rPr sz="1350" b="0">
                <a:solidFill>
                  <a:srgbClr val="1F2A3A"/>
                </a:solidFill>
                <a:latin typeface="맑은 고딕"/>
                <a:ea typeface="맑은 고딕"/>
                <a:cs typeface="맑은 고딕"/>
              </a:rPr>
              <a:t>PLC가 실행 완료(DONE)를 응답한다</a:t>
            </a:r>
          </a:p>
          <a:p>
            <a:pPr algn="ctr">
              <a:lnSpc>
                <a:spcPct val="110000"/>
              </a:lnSpc>
              <a:spcAft>
                <a:spcPts val="400"/>
              </a:spcAft>
            </a:pPr>
            <a:r>
              <a:rPr sz="1350" b="0">
                <a:solidFill>
                  <a:srgbClr val="1F2A3A"/>
                </a:solidFill>
                <a:latin typeface="맑은 고딕"/>
                <a:ea typeface="맑은 고딕"/>
                <a:cs typeface="맑은 고딕"/>
              </a:rPr>
              <a:t>팬 속도 60 % → 100 %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리니지: 데이터가 생겨 판단에 이르기까지의 내력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데이터 리니지(Data Lineage)는 설비 제어 판단의 근거를 최초 계측값까지 되짚는 데이터 내력이다.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원천 데이터</a:t>
            </a:r>
          </a:p>
          <a:p>
            <a:pPr algn="ctr">
              <a:lnSpc>
                <a:spcPct val="110000"/>
              </a:lnSpc>
              <a:spcAft>
                <a:spcPts val="400"/>
              </a:spcAft>
            </a:pPr>
            <a:r>
              <a:rPr sz="1350" b="0">
                <a:solidFill>
                  <a:srgbClr val="1F2A3A"/>
                </a:solidFill>
                <a:latin typeface="맑은 고딕"/>
                <a:ea typeface="맑은 고딕"/>
                <a:cs typeface="맑은 고딕"/>
              </a:rPr>
              <a:t>센서와 PLC가 만든다</a:t>
            </a:r>
          </a:p>
          <a:p>
            <a:pPr algn="ctr">
              <a:lnSpc>
                <a:spcPct val="110000"/>
              </a:lnSpc>
              <a:spcAft>
                <a:spcPts val="400"/>
              </a:spcAft>
            </a:pPr>
            <a:r>
              <a:rPr sz="1350" b="0">
                <a:solidFill>
                  <a:srgbClr val="1F2A3A"/>
                </a:solidFill>
                <a:latin typeface="맑은 고딕"/>
                <a:ea typeface="맑은 고딕"/>
                <a:cs typeface="맑은 고딕"/>
              </a:rPr>
              <a:t>유온 TS1의 계측값</a:t>
            </a:r>
          </a:p>
          <a:p>
            <a:pPr algn="ctr">
              <a:lnSpc>
                <a:spcPct val="110000"/>
              </a:lnSpc>
              <a:spcAft>
                <a:spcPts val="400"/>
              </a:spcAft>
            </a:pPr>
            <a:r>
              <a:rPr sz="1350" b="0">
                <a:solidFill>
                  <a:srgbClr val="1F2A3A"/>
                </a:solidFill>
                <a:latin typeface="맑은 고딕"/>
                <a:ea typeface="맑은 고딕"/>
                <a:cs typeface="맑은 고딕"/>
              </a:rPr>
              <a:t>브로커가 전달한 메시지</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transfer" descr="transfer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가공 데이터</a:t>
            </a:r>
          </a:p>
          <a:p>
            <a:pPr algn="ctr">
              <a:lnSpc>
                <a:spcPct val="110000"/>
              </a:lnSpc>
              <a:spcAft>
                <a:spcPts val="400"/>
              </a:spcAft>
            </a:pPr>
            <a:r>
              <a:rPr sz="1350" b="0">
                <a:solidFill>
                  <a:srgbClr val="1F2A3A"/>
                </a:solidFill>
                <a:latin typeface="맑은 고딕"/>
                <a:ea typeface="맑은 고딕"/>
                <a:cs typeface="맑은 고딕"/>
              </a:rPr>
              <a:t>수집 서비스와</a:t>
            </a:r>
          </a:p>
          <a:p>
            <a:pPr algn="ctr">
              <a:lnSpc>
                <a:spcPct val="110000"/>
              </a:lnSpc>
              <a:spcAft>
                <a:spcPts val="400"/>
              </a:spcAft>
            </a:pPr>
            <a:r>
              <a:rPr sz="1350" b="0">
                <a:solidFill>
                  <a:srgbClr val="1F2A3A"/>
                </a:solidFill>
                <a:latin typeface="맑은 고딕"/>
                <a:ea typeface="맑은 고딕"/>
                <a:cs typeface="맑은 고딕"/>
              </a:rPr>
              <a:t>감지 서비스가 만든다</a:t>
            </a:r>
          </a:p>
          <a:p>
            <a:pPr algn="ctr">
              <a:lnSpc>
                <a:spcPct val="110000"/>
              </a:lnSpc>
              <a:spcAft>
                <a:spcPts val="400"/>
              </a:spcAft>
            </a:pPr>
            <a:r>
              <a:rPr sz="1350" b="0">
                <a:solidFill>
                  <a:srgbClr val="1F2A3A"/>
                </a:solidFill>
                <a:latin typeface="맑은 고딕"/>
                <a:ea typeface="맑은 고딕"/>
                <a:cs typeface="맑은 고딕"/>
              </a:rPr>
              <a:t>이벤트 로그의 레코드,</a:t>
            </a:r>
          </a:p>
          <a:p>
            <a:pPr algn="ctr">
              <a:lnSpc>
                <a:spcPct val="110000"/>
              </a:lnSpc>
              <a:spcAft>
                <a:spcPts val="400"/>
              </a:spcAft>
            </a:pPr>
            <a:r>
              <a:rPr sz="1350" b="0">
                <a:solidFill>
                  <a:srgbClr val="1F2A3A"/>
                </a:solidFill>
                <a:latin typeface="맑은 고딕"/>
                <a:ea typeface="맑은 고딕"/>
                <a:cs typeface="맑은 고딕"/>
              </a:rPr>
              <a:t>유온의 기울기</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81478"/>
            <a:ext cx="731520" cy="731520"/>
          </a:xfrm>
          <a:prstGeom prst="ellipse">
            <a:avLst/>
          </a:prstGeom>
          <a:solidFill>
            <a:srgbClr val="5CB8F2"/>
          </a:solidFill>
          <a:ln>
            <a:noFill/>
          </a:ln>
        </p:spPr>
        <p:txBody>
          <a:bodyPr rtlCol="0" anchor="ctr"/>
          <a:lstStyle/>
          <a:p>
            <a:pPr algn="ctr"/>
          </a:p>
        </p:txBody>
      </p:sp>
      <p:pic>
        <p:nvPicPr>
          <p:cNvPr id="18" name="아이콘:bell-ringing" descr="bell-ringing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이벤트</a:t>
            </a:r>
          </a:p>
          <a:p>
            <a:pPr algn="ctr">
              <a:lnSpc>
                <a:spcPct val="110000"/>
              </a:lnSpc>
              <a:spcAft>
                <a:spcPts val="400"/>
              </a:spcAft>
            </a:pPr>
            <a:r>
              <a:rPr sz="1350" b="0">
                <a:solidFill>
                  <a:srgbClr val="1F2A3A"/>
                </a:solidFill>
                <a:latin typeface="맑은 고딕"/>
                <a:ea typeface="맑은 고딕"/>
                <a:cs typeface="맑은 고딕"/>
              </a:rPr>
              <a:t>감지 서비스가 만든다</a:t>
            </a:r>
          </a:p>
          <a:p>
            <a:pPr algn="ctr">
              <a:lnSpc>
                <a:spcPct val="110000"/>
              </a:lnSpc>
              <a:spcAft>
                <a:spcPts val="400"/>
              </a:spcAft>
            </a:pPr>
            <a:r>
              <a:rPr sz="1350" b="0">
                <a:solidFill>
                  <a:srgbClr val="1F2A3A"/>
                </a:solidFill>
                <a:latin typeface="맑은 고딕"/>
                <a:ea typeface="맑은 고딕"/>
                <a:cs typeface="맑은 고딕"/>
              </a:rPr>
              <a:t>쿨러 성능 저하 경보</a:t>
            </a:r>
          </a:p>
          <a:p>
            <a:pPr algn="ctr">
              <a:lnSpc>
                <a:spcPct val="110000"/>
              </a:lnSpc>
              <a:spcAft>
                <a:spcPts val="400"/>
              </a:spcAft>
            </a:pPr>
            <a:r>
              <a:rPr sz="1350" b="0">
                <a:solidFill>
                  <a:srgbClr val="1F2A3A"/>
                </a:solidFill>
                <a:latin typeface="맑은 고딕"/>
                <a:ea typeface="맑은 고딕"/>
                <a:cs typeface="맑은 고딕"/>
              </a:rPr>
              <a:t>ALT-hyd01-0014-e0a1</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판단 결과</a:t>
            </a:r>
          </a:p>
          <a:p>
            <a:pPr algn="ctr">
              <a:lnSpc>
                <a:spcPct val="110000"/>
              </a:lnSpc>
              <a:spcAft>
                <a:spcPts val="400"/>
              </a:spcAft>
            </a:pPr>
            <a:r>
              <a:rPr sz="1350" b="0">
                <a:solidFill>
                  <a:srgbClr val="1F2A3A"/>
                </a:solidFill>
                <a:latin typeface="맑은 고딕"/>
                <a:ea typeface="맑은 고딕"/>
                <a:cs typeface="맑은 고딕"/>
              </a:rPr>
              <a:t>에이전트와</a:t>
            </a:r>
          </a:p>
          <a:p>
            <a:pPr algn="ctr">
              <a:lnSpc>
                <a:spcPct val="110000"/>
              </a:lnSpc>
              <a:spcAft>
                <a:spcPts val="400"/>
              </a:spcAft>
            </a:pPr>
            <a:r>
              <a:rPr sz="1350" b="0">
                <a:solidFill>
                  <a:srgbClr val="1F2A3A"/>
                </a:solidFill>
                <a:latin typeface="맑은 고딕"/>
                <a:ea typeface="맑은 고딕"/>
                <a:cs typeface="맑은 고딕"/>
              </a:rPr>
              <a:t>담당자가 만든다</a:t>
            </a:r>
          </a:p>
          <a:p>
            <a:pPr algn="ctr">
              <a:lnSpc>
                <a:spcPct val="110000"/>
              </a:lnSpc>
              <a:spcAft>
                <a:spcPts val="400"/>
              </a:spcAft>
            </a:pPr>
            <a:r>
              <a:rPr sz="1350" b="0">
                <a:solidFill>
                  <a:srgbClr val="1F2A3A"/>
                </a:solidFill>
                <a:latin typeface="맑은 고딕"/>
                <a:ea typeface="맑은 고딕"/>
                <a:cs typeface="맑은 고딕"/>
              </a:rPr>
              <a:t>원인 판정, 조치 추천,</a:t>
            </a:r>
          </a:p>
          <a:p>
            <a:pPr algn="ctr">
              <a:lnSpc>
                <a:spcPct val="110000"/>
              </a:lnSpc>
              <a:spcAft>
                <a:spcPts val="400"/>
              </a:spcAft>
            </a:pPr>
            <a:r>
              <a:rPr sz="1350" b="0">
                <a:solidFill>
                  <a:srgbClr val="1F2A3A"/>
                </a:solidFill>
                <a:latin typeface="맑은 고딕"/>
                <a:ea typeface="맑은 고딕"/>
                <a:cs typeface="맑은 고딕"/>
              </a:rPr>
              <a:t>승인 기록</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가공 데이터의 예: 유온의 기울기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가공 데이터는 원천 데이터를 바탕으로 계산한 값이며, 감지 서비스는 최근 유온 계측값으로 기울기를 계산한다.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11:13:06   55.41</a:t>
            </a:r>
          </a:p>
          <a:p>
            <a:pPr algn="l">
              <a:lnSpc>
                <a:spcPct val="110000"/>
              </a:lnSpc>
              <a:spcAft>
                <a:spcPts val="200"/>
              </a:spcAft>
            </a:pPr>
            <a:r>
              <a:rPr sz="1300" b="0">
                <a:solidFill>
                  <a:srgbClr val="E8EEF6"/>
                </a:solidFill>
                <a:latin typeface="Consolas"/>
                <a:ea typeface="맑은 고딕"/>
                <a:cs typeface="맑은 고딕"/>
              </a:rPr>
              <a:t>11:13:07   55.56</a:t>
            </a:r>
          </a:p>
          <a:p>
            <a:pPr algn="l">
              <a:lnSpc>
                <a:spcPct val="110000"/>
              </a:lnSpc>
              <a:spcAft>
                <a:spcPts val="200"/>
              </a:spcAft>
            </a:pPr>
            <a:r>
              <a:rPr sz="1300" b="0">
                <a:solidFill>
                  <a:srgbClr val="E8EEF6"/>
                </a:solidFill>
                <a:latin typeface="Consolas"/>
                <a:ea typeface="맑은 고딕"/>
                <a:cs typeface="맑은 고딕"/>
              </a:rPr>
              <a:t>11:13:08   55.71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기울기</a:t>
            </a:r>
          </a:p>
          <a:p>
            <a:pPr algn="l">
              <a:lnSpc>
                <a:spcPct val="110000"/>
              </a:lnSpc>
              <a:spcAft>
                <a:spcPts val="200"/>
              </a:spcAft>
            </a:pPr>
            <a:r>
              <a:rPr sz="1300" b="0">
                <a:solidFill>
                  <a:srgbClr val="E8EEF6"/>
                </a:solidFill>
                <a:latin typeface="Consolas"/>
                <a:ea typeface="맑은 고딕"/>
                <a:cs typeface="맑은 고딕"/>
              </a:rPr>
              <a:t>11:13:08   +0.0075   (0</a:t>
            </a:r>
            <a:r>
              <a:rPr sz="1300" b="0">
                <a:solidFill>
                  <a:srgbClr val="E8EEF6"/>
                </a:solidFill>
                <a:latin typeface="맑은 고딕"/>
                <a:ea typeface="맑은 고딕"/>
                <a:cs typeface="맑은 고딕"/>
              </a:rPr>
              <a:t>보다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크다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중</a:t>
            </a:r>
            <a:r>
              <a:rPr sz="1300" b="0">
                <a:solidFill>
                  <a:srgbClr val="E8EEF6"/>
                </a:solidFill>
                <a:latin typeface="Consolas"/>
                <a:ea typeface="맑은 고딕"/>
                <a:cs typeface="맑은 고딕"/>
              </a:rPr>
              <a:t>)</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재료</a:t>
            </a:r>
          </a:p>
          <a:p>
            <a:pPr algn="l">
              <a:lnSpc>
                <a:spcPct val="110000"/>
              </a:lnSpc>
              <a:spcAft>
                <a:spcPts val="400"/>
              </a:spcAft>
            </a:pPr>
            <a:r>
              <a:rPr sz="1400" b="0">
                <a:solidFill>
                  <a:srgbClr val="1F2A3A"/>
                </a:solidFill>
                <a:latin typeface="맑은 고딕"/>
                <a:ea typeface="맑은 고딕"/>
                <a:cs typeface="맑은 고딕"/>
              </a:rPr>
              <a:t>센서가 잰 유온 계측값 여러 개이다.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만든 것</a:t>
            </a:r>
          </a:p>
          <a:p>
            <a:pPr algn="l">
              <a:lnSpc>
                <a:spcPct val="110000"/>
              </a:lnSpc>
              <a:spcAft>
                <a:spcPts val="400"/>
              </a:spcAft>
            </a:pPr>
            <a:r>
              <a:rPr sz="1400" b="0">
                <a:solidFill>
                  <a:srgbClr val="1F2A3A"/>
                </a:solidFill>
                <a:latin typeface="맑은 고딕"/>
                <a:ea typeface="맑은 고딕"/>
                <a:cs typeface="맑은 고딕"/>
              </a:rPr>
              <a:t>그 계측값들이 오르는지 내리는지를 나타내는 기울기이다.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만든 쪽</a:t>
            </a:r>
          </a:p>
          <a:p>
            <a:pPr algn="l">
              <a:lnSpc>
                <a:spcPct val="110000"/>
              </a:lnSpc>
              <a:spcAft>
                <a:spcPts val="400"/>
              </a:spcAft>
            </a:pPr>
            <a:r>
              <a:rPr sz="1400" b="0">
                <a:solidFill>
                  <a:srgbClr val="1F2A3A"/>
                </a:solidFill>
                <a:latin typeface="맑은 고딕"/>
                <a:ea typeface="맑은 고딕"/>
                <a:cs typeface="맑은 고딕"/>
              </a:rPr>
              <a:t>감지 서비스이다. 기울기가 0보다 크면 유온이 오르는 중이다.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 결과의 예: 식별자로 이어지는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작업지시까지 단계마다 식별자가 이어져 있어, 결과에서 최초 계측값까지 거슬러 올라가는 추적성이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a:t>
            </a:r>
          </a:p>
          <a:p>
            <a:pPr algn="ctr">
              <a:lnSpc>
                <a:spcPct val="110000"/>
              </a:lnSpc>
              <a:spcAft>
                <a:spcPts val="400"/>
              </a:spcAft>
            </a:pPr>
            <a:r>
              <a:rPr sz="1250" b="0">
                <a:solidFill>
                  <a:srgbClr val="1F2A3A"/>
                </a:solidFill>
                <a:latin typeface="맑은 고딕"/>
                <a:ea typeface="맑은 고딕"/>
                <a:cs typeface="맑은 고딕"/>
              </a:rPr>
              <a:t>ALT-</a:t>
            </a:r>
          </a:p>
          <a:p>
            <a:pPr algn="ctr">
              <a:lnSpc>
                <a:spcPct val="110000"/>
              </a:lnSpc>
              <a:spcAft>
                <a:spcPts val="400"/>
              </a:spcAft>
            </a:pPr>
            <a:r>
              <a:rPr sz="1250" b="0">
                <a:solidFill>
                  <a:srgbClr val="1F2A3A"/>
                </a:solidFill>
                <a:latin typeface="맑은 고딕"/>
                <a:ea typeface="맑은 고딕"/>
                <a:cs typeface="맑은 고딕"/>
              </a:rPr>
              <a:t>hyd01-0014</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906141"/>
            <a:ext cx="731520" cy="731520"/>
          </a:xfrm>
          <a:prstGeom prst="ellipse">
            <a:avLst/>
          </a:prstGeom>
          <a:solidFill>
            <a:srgbClr val="FFFFFF"/>
          </a:solidFill>
          <a:ln>
            <a:noFill/>
          </a:ln>
        </p:spPr>
        <p:txBody>
          <a:bodyPr rtlCol="0" anchor="ctr"/>
          <a:lstStyle/>
          <a:p>
            <a:pPr algn="ctr"/>
          </a:p>
        </p:txBody>
      </p:sp>
      <p:pic>
        <p:nvPicPr>
          <p:cNvPr id="13" name="아이콘:clipboard-check" descr="clipboard-check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사건</a:t>
            </a:r>
          </a:p>
          <a:p>
            <a:pPr algn="ctr">
              <a:lnSpc>
                <a:spcPct val="110000"/>
              </a:lnSpc>
              <a:spcAft>
                <a:spcPts val="400"/>
              </a:spcAft>
            </a:pPr>
            <a:r>
              <a:rPr sz="1250" b="0">
                <a:solidFill>
                  <a:srgbClr val="1F2A3A"/>
                </a:solidFill>
                <a:latin typeface="맑은 고딕"/>
                <a:ea typeface="맑은 고딕"/>
                <a:cs typeface="맑은 고딕"/>
              </a:rPr>
              <a:t>INC-</a:t>
            </a:r>
          </a:p>
          <a:p>
            <a:pPr algn="ctr">
              <a:lnSpc>
                <a:spcPct val="110000"/>
              </a:lnSpc>
              <a:spcAft>
                <a:spcPts val="400"/>
              </a:spcAft>
            </a:pPr>
            <a:r>
              <a:rPr sz="1250" b="0">
                <a:solidFill>
                  <a:srgbClr val="1F2A3A"/>
                </a:solidFill>
                <a:latin typeface="맑은 고딕"/>
                <a:ea typeface="맑은 고딕"/>
                <a:cs typeface="맑은 고딕"/>
              </a:rPr>
              <a:t>1010-01</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5730087" y="2906141"/>
            <a:ext cx="731520" cy="731520"/>
          </a:xfrm>
          <a:prstGeom prst="ellipse">
            <a:avLst/>
          </a:prstGeom>
          <a:solidFill>
            <a:srgbClr val="5CB8F2"/>
          </a:solidFill>
          <a:ln>
            <a:noFill/>
          </a:ln>
        </p:spPr>
        <p:txBody>
          <a:bodyPr rtlCol="0" anchor="ctr"/>
          <a:lstStyle/>
          <a:p>
            <a:pPr algn="ctr"/>
          </a:p>
        </p:txBody>
      </p:sp>
      <p:pic>
        <p:nvPicPr>
          <p:cNvPr id="18" name="아이콘:robot" descr="robot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판단</a:t>
            </a:r>
          </a:p>
          <a:p>
            <a:pPr algn="ctr">
              <a:lnSpc>
                <a:spcPct val="110000"/>
              </a:lnSpc>
              <a:spcAft>
                <a:spcPts val="400"/>
              </a:spcAft>
            </a:pPr>
            <a:r>
              <a:rPr sz="1250" b="0">
                <a:solidFill>
                  <a:srgbClr val="1F2A3A"/>
                </a:solidFill>
                <a:latin typeface="맑은 고딕"/>
                <a:ea typeface="맑은 고딕"/>
                <a:cs typeface="맑은 고딕"/>
              </a:rPr>
              <a:t>DEC-</a:t>
            </a:r>
          </a:p>
          <a:p>
            <a:pPr algn="ctr">
              <a:lnSpc>
                <a:spcPct val="110000"/>
              </a:lnSpc>
              <a:spcAft>
                <a:spcPts val="400"/>
              </a:spcAft>
            </a:pPr>
            <a:r>
              <a:rPr sz="1250" b="0">
                <a:solidFill>
                  <a:srgbClr val="1F2A3A"/>
                </a:solidFill>
                <a:latin typeface="맑은 고딕"/>
                <a:ea typeface="맑은 고딕"/>
                <a:cs typeface="맑은 고딕"/>
              </a:rPr>
              <a:t>1010-002</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906141"/>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명령</a:t>
            </a:r>
          </a:p>
          <a:p>
            <a:pPr algn="ctr">
              <a:lnSpc>
                <a:spcPct val="110000"/>
              </a:lnSpc>
              <a:spcAft>
                <a:spcPts val="400"/>
              </a:spcAft>
            </a:pPr>
            <a:r>
              <a:rPr sz="1250" b="0">
                <a:solidFill>
                  <a:srgbClr val="1F2A3A"/>
                </a:solidFill>
                <a:latin typeface="맑은 고딕"/>
                <a:ea typeface="맑은 고딕"/>
                <a:cs typeface="맑은 고딕"/>
              </a:rPr>
              <a:t>CMD-</a:t>
            </a:r>
          </a:p>
          <a:p>
            <a:pPr algn="ctr">
              <a:lnSpc>
                <a:spcPct val="110000"/>
              </a:lnSpc>
              <a:spcAft>
                <a:spcPts val="400"/>
              </a:spcAft>
            </a:pPr>
            <a:r>
              <a:rPr sz="1250" b="0">
                <a:solidFill>
                  <a:srgbClr val="1F2A3A"/>
                </a:solidFill>
                <a:latin typeface="맑은 고딕"/>
                <a:ea typeface="맑은 고딕"/>
                <a:cs typeface="맑은 고딕"/>
              </a:rPr>
              <a:t>1010-0001</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tool" descr="tool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작업지시</a:t>
            </a:r>
          </a:p>
          <a:p>
            <a:pPr algn="ctr">
              <a:lnSpc>
                <a:spcPct val="110000"/>
              </a:lnSpc>
              <a:spcAft>
                <a:spcPts val="400"/>
              </a:spcAft>
            </a:pPr>
            <a:r>
              <a:rPr sz="1250" b="0">
                <a:solidFill>
                  <a:srgbClr val="1F2A3A"/>
                </a:solidFill>
                <a:latin typeface="맑은 고딕"/>
                <a:ea typeface="맑은 고딕"/>
                <a:cs typeface="맑은 고딕"/>
              </a:rPr>
              <a:t>WO-</a:t>
            </a:r>
          </a:p>
          <a:p>
            <a:pPr algn="ctr">
              <a:lnSpc>
                <a:spcPct val="110000"/>
              </a:lnSpc>
              <a:spcAft>
                <a:spcPts val="400"/>
              </a:spcAft>
            </a:pPr>
            <a:r>
              <a:rPr sz="1250" b="0">
                <a:solidFill>
                  <a:srgbClr val="1F2A3A"/>
                </a:solidFill>
                <a:latin typeface="맑은 고딕"/>
                <a:ea typeface="맑은 고딕"/>
                <a:cs typeface="맑은 고딕"/>
              </a:rPr>
              <a:t>1010-C058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지나온 길: 아홉 기능 계층과 세 보안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지금까지 거쳐 온 자리를 하는 일에 따라 나누면 아홉 기능 계층이고, 놓인 망에 따라 나누면 세 보안 영역이다.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pic>
        <p:nvPicPr>
          <p:cNvPr id="6" name="삽화:계층_0_전체.svg" descr="illust_8840356222947212745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641814"/>
            <a:ext cx="894578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 Operational Technology · DMZ: Demilitarized Zone · IT: Information Technology</a:t>
            </a:r>
          </a:p>
        </p:txBody>
      </p:sp>
      <p:sp>
        <p:nvSpPr>
          <p:cNvPr id="8" name="TextBox 7"/>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9" name="TextBox 8"/>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10" name="TextBox 9"/>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1" name="TextBox 10"/>
          <p:cNvSpPr txBox="1"/>
          <p:nvPr/>
        </p:nvSpPr>
        <p:spPr>
          <a:xfrm>
            <a:off x="1841144" y="2020010"/>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9 · 프로세스 · 승인 · 앱</a:t>
            </a:r>
          </a:p>
        </p:txBody>
      </p:sp>
      <p:sp>
        <p:nvSpPr>
          <p:cNvPr id="12" name="TextBox 11"/>
          <p:cNvSpPr txBox="1"/>
          <p:nvPr/>
        </p:nvSpPr>
        <p:spPr>
          <a:xfrm>
            <a:off x="1841144" y="25022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8 · AI 에이전트</a:t>
            </a:r>
          </a:p>
        </p:txBody>
      </p:sp>
      <p:sp>
        <p:nvSpPr>
          <p:cNvPr id="13" name="TextBox 12"/>
          <p:cNvSpPr txBox="1"/>
          <p:nvPr/>
        </p:nvSpPr>
        <p:spPr>
          <a:xfrm>
            <a:off x="1841144" y="29844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7 · 온톨로지 · 원인분석</a:t>
            </a:r>
          </a:p>
        </p:txBody>
      </p:sp>
      <p:sp>
        <p:nvSpPr>
          <p:cNvPr id="14" name="TextBox 13"/>
          <p:cNvSpPr txBox="1"/>
          <p:nvPr/>
        </p:nvSpPr>
        <p:spPr>
          <a:xfrm>
            <a:off x="1841144" y="34666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6 · 관제 · SCADA</a:t>
            </a:r>
          </a:p>
        </p:txBody>
      </p:sp>
      <p:sp>
        <p:nvSpPr>
          <p:cNvPr id="15" name="TextBox 14"/>
          <p:cNvSpPr txBox="1"/>
          <p:nvPr/>
        </p:nvSpPr>
        <p:spPr>
          <a:xfrm>
            <a:off x="1841144" y="39488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5 · 시계열 저장소</a:t>
            </a:r>
          </a:p>
        </p:txBody>
      </p:sp>
      <p:sp>
        <p:nvSpPr>
          <p:cNvPr id="16" name="TextBox 15"/>
          <p:cNvSpPr txBox="1"/>
          <p:nvPr/>
        </p:nvSpPr>
        <p:spPr>
          <a:xfrm>
            <a:off x="1841144" y="44310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4 · 스트림 처리</a:t>
            </a:r>
          </a:p>
        </p:txBody>
      </p:sp>
      <p:sp>
        <p:nvSpPr>
          <p:cNvPr id="17" name="TextBox 16"/>
          <p:cNvSpPr txBox="1"/>
          <p:nvPr/>
        </p:nvSpPr>
        <p:spPr>
          <a:xfrm>
            <a:off x="1841144" y="49132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3 · 이벤트 백본</a:t>
            </a:r>
          </a:p>
        </p:txBody>
      </p:sp>
      <p:sp>
        <p:nvSpPr>
          <p:cNvPr id="18" name="TextBox 17"/>
          <p:cNvSpPr txBox="1"/>
          <p:nvPr/>
        </p:nvSpPr>
        <p:spPr>
          <a:xfrm>
            <a:off x="1841144" y="53954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2 · IoT 미들웨어 · MQTT(Message Queuing Telemetry Transport)</a:t>
            </a:r>
          </a:p>
        </p:txBody>
      </p:sp>
      <p:sp>
        <p:nvSpPr>
          <p:cNvPr id="19" name="TextBox 18"/>
          <p:cNvSpPr txBox="1"/>
          <p:nvPr/>
        </p:nvSpPr>
        <p:spPr>
          <a:xfrm>
            <a:off x="1841144" y="5877607"/>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1 · 센서 네트워크 · 설비</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7~9: 원인과 조치를 판단하고 실행하는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이후 원인을 판단하고 조치를 정해 실행하는 일은 Layer 7~9가 맡으며, 이 수업에서는 이 세 계층을 차례로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pic>
        <p:nvPicPr>
          <p:cNvPr id="6" name="삽화:계층_L7-9.svg" descr="illust_2092493085019170217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8" name="TextBox 7"/>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9" name="TextBox 8"/>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0" name="TextBox 9"/>
          <p:cNvSpPr txBox="1"/>
          <p:nvPr/>
        </p:nvSpPr>
        <p:spPr>
          <a:xfrm>
            <a:off x="2277524" y="2218563"/>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9 · 프로세스 · 승인 · 앱</a:t>
            </a:r>
          </a:p>
          <a:p>
            <a:pPr algn="ctr">
              <a:lnSpc>
                <a:spcPct val="110000"/>
              </a:lnSpc>
              <a:spcAft>
                <a:spcPts val="100"/>
              </a:spcAft>
            </a:pPr>
            <a:r>
              <a:rPr sz="1300" b="0">
                <a:solidFill>
                  <a:srgbClr val="556175"/>
                </a:solidFill>
                <a:latin typeface="맑은 고딕"/>
                <a:ea typeface="맑은 고딕"/>
                <a:cs typeface="맑은 고딕"/>
              </a:rPr>
              <a:t>프로세스 엔진과 포털</a:t>
            </a:r>
          </a:p>
          <a:p>
            <a:pPr algn="ctr">
              <a:lnSpc>
                <a:spcPct val="110000"/>
              </a:lnSpc>
              <a:spcAft>
                <a:spcPts val="100"/>
              </a:spcAft>
            </a:pPr>
            <a:r>
              <a:rPr sz="1300" b="0">
                <a:solidFill>
                  <a:srgbClr val="556175"/>
                </a:solidFill>
                <a:latin typeface="맑은 고딕"/>
                <a:ea typeface="맑은 고딕"/>
                <a:cs typeface="맑은 고딕"/>
              </a:rPr>
              <a:t>담당자의 승인을 받아 조치를 실행하고 결과를 확인한다</a:t>
            </a:r>
          </a:p>
        </p:txBody>
      </p:sp>
      <p:sp>
        <p:nvSpPr>
          <p:cNvPr id="11" name="TextBox 10"/>
          <p:cNvSpPr txBox="1"/>
          <p:nvPr/>
        </p:nvSpPr>
        <p:spPr>
          <a:xfrm>
            <a:off x="2277524" y="3660434"/>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8 · AI 에이전트</a:t>
            </a:r>
          </a:p>
          <a:p>
            <a:pPr algn="ctr">
              <a:lnSpc>
                <a:spcPct val="110000"/>
              </a:lnSpc>
              <a:spcAft>
                <a:spcPts val="100"/>
              </a:spcAft>
            </a:pPr>
            <a:r>
              <a:rPr sz="1300" b="0">
                <a:solidFill>
                  <a:srgbClr val="556175"/>
                </a:solidFill>
                <a:latin typeface="맑은 고딕"/>
                <a:ea typeface="맑은 고딕"/>
                <a:cs typeface="맑은 고딕"/>
              </a:rPr>
              <a:t>지식과 데이터를 조회해 원인을 판단하고 조치를 추천한다</a:t>
            </a:r>
          </a:p>
          <a:p>
            <a:pPr algn="ctr">
              <a:lnSpc>
                <a:spcPct val="110000"/>
              </a:lnSpc>
              <a:spcAft>
                <a:spcPts val="100"/>
              </a:spcAft>
            </a:pPr>
            <a:r>
              <a:rPr sz="1300" b="0">
                <a:solidFill>
                  <a:srgbClr val="556175"/>
                </a:solidFill>
                <a:latin typeface="맑은 고딕"/>
                <a:ea typeface="맑은 고딕"/>
                <a:cs typeface="맑은 고딕"/>
              </a:rPr>
              <a:t>설비에 명령을 보내지는 않는다</a:t>
            </a:r>
          </a:p>
        </p:txBody>
      </p:sp>
      <p:sp>
        <p:nvSpPr>
          <p:cNvPr id="12" name="TextBox 11"/>
          <p:cNvSpPr txBox="1"/>
          <p:nvPr/>
        </p:nvSpPr>
        <p:spPr>
          <a:xfrm>
            <a:off x="2277524" y="5102306"/>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7 · 온톨로지 · 원인분석</a:t>
            </a:r>
          </a:p>
          <a:p>
            <a:pPr algn="ctr">
              <a:lnSpc>
                <a:spcPct val="110000"/>
              </a:lnSpc>
              <a:spcAft>
                <a:spcPts val="100"/>
              </a:spcAft>
            </a:pPr>
            <a:r>
              <a:rPr sz="1300" b="0">
                <a:solidFill>
                  <a:srgbClr val="556175"/>
                </a:solidFill>
                <a:latin typeface="맑은 고딕"/>
                <a:ea typeface="맑은 고딕"/>
                <a:cs typeface="맑은 고딕"/>
              </a:rPr>
              <a:t>증상, 원인, 조치의 관계를 지식으로 보관한다</a:t>
            </a:r>
          </a:p>
          <a:p>
            <a:pPr algn="ctr">
              <a:lnSpc>
                <a:spcPct val="110000"/>
              </a:lnSpc>
              <a:spcAft>
                <a:spcPts val="100"/>
              </a:spcAft>
            </a:pPr>
            <a:r>
              <a:rPr sz="1300" b="0">
                <a:solidFill>
                  <a:srgbClr val="556175"/>
                </a:solidFill>
                <a:latin typeface="맑은 고딕"/>
                <a:ea typeface="맑은 고딕"/>
                <a:cs typeface="맑은 고딕"/>
              </a:rPr>
              <a:t>이 역할에는 Neo4j 같은 그래프 DB가 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데이터가 올라가는 길과 명령이 내려가는 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현장 통신은 단순하게 두고, 데이터가 올라가는 길과 승인된 명령만 내려가는 길을 나누어 설비를 지킨다.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OT</a:t>
            </a:r>
          </a:p>
        </p:txBody>
      </p:sp>
      <p:sp>
        <p:nvSpPr>
          <p:cNvPr id="8" name="Rounded Rectangle 7"/>
          <p:cNvSpPr/>
          <p:nvPr/>
        </p:nvSpPr>
        <p:spPr>
          <a:xfrm>
            <a:off x="731520" y="2802636"/>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브로커</a:t>
            </a:r>
          </a:p>
          <a:p>
            <a:pPr algn="ctr">
              <a:lnSpc>
                <a:spcPct val="110000"/>
              </a:lnSpc>
              <a:spcAft>
                <a:spcPts val="100"/>
              </a:spcAft>
            </a:pPr>
            <a:r>
              <a:rPr sz="1150" b="0">
                <a:solidFill>
                  <a:srgbClr val="556175"/>
                </a:solidFill>
                <a:latin typeface="맑은 고딕"/>
                <a:ea typeface="맑은 고딕"/>
                <a:cs typeface="맑은 고딕"/>
              </a:rPr>
              <a:t>데이터와 명령을 중개</a:t>
            </a:r>
          </a:p>
        </p:txBody>
      </p:sp>
      <p:sp>
        <p:nvSpPr>
          <p:cNvPr id="10" name="Rounded Rectangle 9"/>
          <p:cNvSpPr/>
          <p:nvPr/>
        </p:nvSpPr>
        <p:spPr>
          <a:xfrm>
            <a:off x="731520"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PLC</a:t>
            </a:r>
          </a:p>
          <a:p>
            <a:pPr algn="ctr">
              <a:lnSpc>
                <a:spcPct val="110000"/>
              </a:lnSpc>
              <a:spcAft>
                <a:spcPts val="100"/>
              </a:spcAft>
            </a:pPr>
            <a:r>
              <a:rPr sz="1150" b="0">
                <a:solidFill>
                  <a:srgbClr val="556175"/>
                </a:solidFill>
                <a:latin typeface="맑은 고딕"/>
                <a:ea typeface="맑은 고딕"/>
                <a:cs typeface="맑은 고딕"/>
              </a:rPr>
              <a:t>계측값을 읽고 설비를 보호</a:t>
            </a:r>
          </a:p>
        </p:txBody>
      </p:sp>
      <p:sp>
        <p:nvSpPr>
          <p:cNvPr id="12" name="Rounded Rectangle 11"/>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3" name="TextBox 12"/>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DMZ</a:t>
            </a:r>
          </a:p>
        </p:txBody>
      </p:sp>
      <p:sp>
        <p:nvSpPr>
          <p:cNvPr id="14" name="Rounded Rectangle 13"/>
          <p:cNvSpPr/>
          <p:nvPr/>
        </p:nvSpPr>
        <p:spPr>
          <a:xfrm>
            <a:off x="4810658" y="2802636"/>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4856378"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수집 서비스</a:t>
            </a:r>
          </a:p>
          <a:p>
            <a:pPr algn="ctr">
              <a:lnSpc>
                <a:spcPct val="110000"/>
              </a:lnSpc>
              <a:spcAft>
                <a:spcPts val="100"/>
              </a:spcAft>
            </a:pPr>
            <a:r>
              <a:rPr sz="1150" b="0">
                <a:solidFill>
                  <a:srgbClr val="556175"/>
                </a:solidFill>
                <a:latin typeface="맑은 고딕"/>
                <a:ea typeface="맑은 고딕"/>
                <a:cs typeface="맑은 고딕"/>
              </a:rPr>
              <a:t>데이터를 올린다</a:t>
            </a:r>
          </a:p>
        </p:txBody>
      </p:sp>
      <p:sp>
        <p:nvSpPr>
          <p:cNvPr id="16" name="Rounded Rectangle 15"/>
          <p:cNvSpPr/>
          <p:nvPr/>
        </p:nvSpPr>
        <p:spPr>
          <a:xfrm>
            <a:off x="4810658"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명령 관문</a:t>
            </a:r>
          </a:p>
          <a:p>
            <a:pPr algn="ctr">
              <a:lnSpc>
                <a:spcPct val="110000"/>
              </a:lnSpc>
              <a:spcAft>
                <a:spcPts val="100"/>
              </a:spcAft>
            </a:pPr>
            <a:r>
              <a:rPr sz="1150" b="0">
                <a:solidFill>
                  <a:srgbClr val="556175"/>
                </a:solidFill>
                <a:latin typeface="맑은 고딕"/>
                <a:ea typeface="맑은 고딕"/>
                <a:cs typeface="맑은 고딕"/>
              </a:rPr>
              <a:t>명령을 검사한다</a:t>
            </a:r>
          </a:p>
        </p:txBody>
      </p:sp>
      <p:sp>
        <p:nvSpPr>
          <p:cNvPr id="18" name="Rounded Rectangle 17"/>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19" name="TextBox 18"/>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IT</a:t>
            </a:r>
          </a:p>
        </p:txBody>
      </p:sp>
      <p:sp>
        <p:nvSpPr>
          <p:cNvPr id="20" name="Rounded Rectangle 19"/>
          <p:cNvSpPr/>
          <p:nvPr/>
        </p:nvSpPr>
        <p:spPr>
          <a:xfrm>
            <a:off x="8889796" y="2802636"/>
            <a:ext cx="2570378" cy="1188720"/>
          </a:xfrm>
          <a:prstGeom prst="roundRect">
            <a:avLst>
              <a:gd name="adj" fmla="val 8000"/>
            </a:avLst>
          </a:prstGeom>
          <a:solidFill>
            <a:srgbClr val="E7F3FD"/>
          </a:solidFill>
          <a:ln w="25400">
            <a:solidFill>
              <a:srgbClr val="5CB8F2"/>
            </a:solidFill>
          </a:ln>
        </p:spPr>
        <p:txBody>
          <a:bodyPr rtlCol="0" anchor="ctr"/>
          <a:lstStyle/>
          <a:p>
            <a:pPr algn="ctr"/>
          </a:p>
        </p:txBody>
      </p:sp>
      <p:sp>
        <p:nvSpPr>
          <p:cNvPr id="21" name="TextBox 20"/>
          <p:cNvSpPr txBox="1"/>
          <p:nvPr/>
        </p:nvSpPr>
        <p:spPr>
          <a:xfrm>
            <a:off x="8935516"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이벤트 로그</a:t>
            </a:r>
          </a:p>
          <a:p>
            <a:pPr algn="ctr">
              <a:lnSpc>
                <a:spcPct val="110000"/>
              </a:lnSpc>
              <a:spcAft>
                <a:spcPts val="100"/>
              </a:spcAft>
            </a:pPr>
            <a:r>
              <a:rPr sz="1150" b="0">
                <a:solidFill>
                  <a:srgbClr val="556175"/>
                </a:solidFill>
                <a:latin typeface="맑은 고딕"/>
                <a:ea typeface="맑은 고딕"/>
                <a:cs typeface="맑은 고딕"/>
              </a:rPr>
              <a:t>순서대로 보관 · 감지 서비스가 읽어 이상 감지</a:t>
            </a:r>
          </a:p>
        </p:txBody>
      </p:sp>
      <p:sp>
        <p:nvSpPr>
          <p:cNvPr id="22" name="Rounded Rectangle 21"/>
          <p:cNvSpPr/>
          <p:nvPr/>
        </p:nvSpPr>
        <p:spPr>
          <a:xfrm>
            <a:off x="8889796"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3" name="TextBox 22"/>
          <p:cNvSpPr txBox="1"/>
          <p:nvPr/>
        </p:nvSpPr>
        <p:spPr>
          <a:xfrm>
            <a:off x="8935516"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프로세스 엔진</a:t>
            </a:r>
          </a:p>
          <a:p>
            <a:pPr algn="ctr">
              <a:lnSpc>
                <a:spcPct val="110000"/>
              </a:lnSpc>
              <a:spcAft>
                <a:spcPts val="100"/>
              </a:spcAft>
            </a:pPr>
            <a:r>
              <a:rPr sz="1150" b="0">
                <a:solidFill>
                  <a:srgbClr val="556175"/>
                </a:solidFill>
                <a:latin typeface="맑은 고딕"/>
                <a:ea typeface="맑은 고딕"/>
                <a:cs typeface="맑은 고딕"/>
              </a:rPr>
              <a:t>승인된 조치를 명령으로</a:t>
            </a:r>
          </a:p>
        </p:txBody>
      </p:sp>
      <p:cxnSp>
        <p:nvCxnSpPr>
          <p:cNvPr id="24" name="Connector 23"/>
          <p:cNvCxnSpPr/>
          <p:nvPr/>
        </p:nvCxnSpPr>
        <p:spPr>
          <a:xfrm flipV="1">
            <a:off x="1650949" y="3991356"/>
            <a:ext cx="0" cy="347472"/>
          </a:xfrm>
          <a:prstGeom prst="line">
            <a:avLst/>
          </a:prstGeom>
          <a:ln w="19050">
            <a:solidFill>
              <a:srgbClr val="13294B"/>
            </a:solidFill>
            <a:tailEnd type="triangle" w="med" len="med"/>
          </a:ln>
        </p:spPr>
      </p:cxnSp>
      <p:sp>
        <p:nvSpPr>
          <p:cNvPr id="25" name="TextBox 24"/>
          <p:cNvSpPr txBox="1"/>
          <p:nvPr/>
        </p:nvSpPr>
        <p:spPr>
          <a:xfrm>
            <a:off x="945718" y="4027932"/>
            <a:ext cx="668655"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태그 값</a:t>
            </a:r>
          </a:p>
        </p:txBody>
      </p:sp>
      <p:cxnSp>
        <p:nvCxnSpPr>
          <p:cNvPr id="26" name="Connector 25"/>
          <p:cNvCxnSpPr/>
          <p:nvPr/>
        </p:nvCxnSpPr>
        <p:spPr>
          <a:xfrm>
            <a:off x="3301898" y="3250692"/>
            <a:ext cx="1508760" cy="0"/>
          </a:xfrm>
          <a:prstGeom prst="line">
            <a:avLst/>
          </a:prstGeom>
          <a:ln w="19050">
            <a:solidFill>
              <a:srgbClr val="13294B"/>
            </a:solidFill>
            <a:tailEnd type="triangle" w="med" len="med"/>
          </a:ln>
        </p:spPr>
      </p:cxnSp>
      <p:sp>
        <p:nvSpPr>
          <p:cNvPr id="27" name="TextBox 26"/>
          <p:cNvSpPr txBox="1"/>
          <p:nvPr/>
        </p:nvSpPr>
        <p:spPr>
          <a:xfrm>
            <a:off x="3164738" y="295808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구독</a:t>
            </a:r>
          </a:p>
        </p:txBody>
      </p:sp>
      <p:cxnSp>
        <p:nvCxnSpPr>
          <p:cNvPr id="28" name="Connector 27"/>
          <p:cNvCxnSpPr/>
          <p:nvPr/>
        </p:nvCxnSpPr>
        <p:spPr>
          <a:xfrm>
            <a:off x="7381036" y="3250692"/>
            <a:ext cx="1508760" cy="0"/>
          </a:xfrm>
          <a:prstGeom prst="line">
            <a:avLst/>
          </a:prstGeom>
          <a:ln w="19050">
            <a:solidFill>
              <a:srgbClr val="13294B"/>
            </a:solidFill>
            <a:tailEnd type="triangle" w="med" len="med"/>
          </a:ln>
        </p:spPr>
      </p:cxnSp>
      <p:sp>
        <p:nvSpPr>
          <p:cNvPr id="29" name="TextBox 28"/>
          <p:cNvSpPr txBox="1"/>
          <p:nvPr/>
        </p:nvSpPr>
        <p:spPr>
          <a:xfrm>
            <a:off x="7243876" y="295808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레코드</a:t>
            </a:r>
          </a:p>
        </p:txBody>
      </p:sp>
      <p:cxnSp>
        <p:nvCxnSpPr>
          <p:cNvPr id="30" name="Connector 29"/>
          <p:cNvCxnSpPr/>
          <p:nvPr/>
        </p:nvCxnSpPr>
        <p:spPr>
          <a:xfrm flipH="1">
            <a:off x="7381036" y="5079492"/>
            <a:ext cx="1508760" cy="0"/>
          </a:xfrm>
          <a:prstGeom prst="line">
            <a:avLst/>
          </a:prstGeom>
          <a:ln w="28575">
            <a:solidFill>
              <a:srgbClr val="1A6FC4"/>
            </a:solidFill>
            <a:prstDash val="dash"/>
            <a:tailEnd type="triangle" w="med" len="med"/>
          </a:ln>
        </p:spPr>
      </p:cxnSp>
      <p:sp>
        <p:nvSpPr>
          <p:cNvPr id="31" name="TextBox 30"/>
          <p:cNvSpPr txBox="1"/>
          <p:nvPr/>
        </p:nvSpPr>
        <p:spPr>
          <a:xfrm>
            <a:off x="7243876" y="5097780"/>
            <a:ext cx="1783079" cy="274320"/>
          </a:xfrm>
          <a:prstGeom prst="rect">
            <a:avLst/>
          </a:prstGeom>
          <a:noFill/>
        </p:spPr>
        <p:txBody>
          <a:bodyPr wrap="square" anchor="ctr"/>
          <a:lstStyle/>
          <a:p>
            <a:pPr algn="ctr">
              <a:lnSpc>
                <a:spcPct val="110000"/>
              </a:lnSpc>
            </a:pPr>
            <a:r>
              <a:rPr sz="1050" b="1">
                <a:solidFill>
                  <a:srgbClr val="1A6FC4"/>
                </a:solidFill>
                <a:latin typeface="맑은 고딕"/>
                <a:ea typeface="맑은 고딕"/>
                <a:cs typeface="맑은 고딕"/>
              </a:rPr>
              <a:t>명령</a:t>
            </a:r>
          </a:p>
        </p:txBody>
      </p:sp>
      <p:cxnSp>
        <p:nvCxnSpPr>
          <p:cNvPr id="32" name="Connector 31"/>
          <p:cNvCxnSpPr/>
          <p:nvPr/>
        </p:nvCxnSpPr>
        <p:spPr>
          <a:xfrm flipH="1">
            <a:off x="3301898" y="5079492"/>
            <a:ext cx="1508760" cy="0"/>
          </a:xfrm>
          <a:prstGeom prst="line">
            <a:avLst/>
          </a:prstGeom>
          <a:ln w="28575">
            <a:solidFill>
              <a:srgbClr val="1A6FC4"/>
            </a:solidFill>
            <a:prstDash val="dash"/>
            <a:tailEnd type="triangle" w="med" len="med"/>
          </a:ln>
        </p:spPr>
      </p:cxnSp>
      <p:sp>
        <p:nvSpPr>
          <p:cNvPr id="33" name="TextBox 32"/>
          <p:cNvSpPr txBox="1"/>
          <p:nvPr/>
        </p:nvSpPr>
        <p:spPr>
          <a:xfrm>
            <a:off x="3164738" y="5097780"/>
            <a:ext cx="1783079" cy="274320"/>
          </a:xfrm>
          <a:prstGeom prst="rect">
            <a:avLst/>
          </a:prstGeom>
          <a:noFill/>
        </p:spPr>
        <p:txBody>
          <a:bodyPr wrap="square" anchor="ctr"/>
          <a:lstStyle/>
          <a:p>
            <a:pPr algn="ctr">
              <a:lnSpc>
                <a:spcPct val="110000"/>
              </a:lnSpc>
            </a:pPr>
            <a:r>
              <a:rPr sz="1050" b="1">
                <a:solidFill>
                  <a:srgbClr val="1A6FC4"/>
                </a:solidFill>
                <a:latin typeface="맑은 고딕"/>
                <a:ea typeface="맑은 고딕"/>
                <a:cs typeface="맑은 고딕"/>
              </a:rPr>
              <a:t>검사 통과</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실행 환경 구성과 서비스 동작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준비된 환경에서 HYD 서비스를 실행하고 포털이 열리는 상태를 확인한다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도구와 확인하는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Docker Compose로 올린 HYD 서비스가 실행 중이고 포털에 접속되는 상태가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000250"/>
            <a:ext cx="2567863" cy="398221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201418"/>
            <a:ext cx="731520" cy="731520"/>
          </a:xfrm>
          <a:prstGeom prst="ellipse">
            <a:avLst/>
          </a:prstGeom>
          <a:solidFill>
            <a:srgbClr val="E7F3FD"/>
          </a:solidFill>
          <a:ln>
            <a:noFill/>
          </a:ln>
        </p:spPr>
        <p:txBody>
          <a:bodyPr rtlCol="0" anchor="ctr"/>
          <a:lstStyle/>
          <a:p>
            <a:pPr algn="ctr"/>
          </a:p>
        </p:txBody>
      </p:sp>
      <p:pic>
        <p:nvPicPr>
          <p:cNvPr id="8" name="아이콘:brand-vscode" descr="brand-vscode_13294B_1.6.png"/>
          <p:cNvPicPr>
            <a:picLocks noChangeAspect="1"/>
          </p:cNvPicPr>
          <p:nvPr/>
        </p:nvPicPr>
        <p:blipFill>
          <a:blip r:embed="rId3"/>
          <a:stretch>
            <a:fillRect/>
          </a:stretch>
        </p:blipFill>
        <p:spPr>
          <a:xfrm>
            <a:off x="930859" y="2355037"/>
            <a:ext cx="424281" cy="424281"/>
          </a:xfrm>
          <a:prstGeom prst="rect">
            <a:avLst/>
          </a:prstGeom>
        </p:spPr>
      </p:pic>
      <p:sp>
        <p:nvSpPr>
          <p:cNvPr id="9" name="TextBox 8"/>
          <p:cNvSpPr txBox="1"/>
          <p:nvPr/>
        </p:nvSpPr>
        <p:spPr>
          <a:xfrm>
            <a:off x="713232"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VS Code</a:t>
            </a:r>
          </a:p>
          <a:p>
            <a:pPr algn="l">
              <a:lnSpc>
                <a:spcPct val="110000"/>
              </a:lnSpc>
              <a:spcAft>
                <a:spcPts val="400"/>
              </a:spcAft>
            </a:pPr>
            <a:r>
              <a:rPr sz="1350" b="0">
                <a:solidFill>
                  <a:srgbClr val="1F2A3A"/>
                </a:solidFill>
                <a:latin typeface="맑은 고딕"/>
                <a:ea typeface="맑은 고딕"/>
                <a:cs typeface="맑은 고딕"/>
              </a:rPr>
              <a:t>• 파일 편집기이자 터미널이다</a:t>
            </a:r>
          </a:p>
          <a:p>
            <a:pPr algn="l">
              <a:lnSpc>
                <a:spcPct val="110000"/>
              </a:lnSpc>
              <a:spcAft>
                <a:spcPts val="400"/>
              </a:spcAft>
            </a:pPr>
            <a:r>
              <a:rPr sz="1350" b="0">
                <a:solidFill>
                  <a:srgbClr val="1F2A3A"/>
                </a:solidFill>
                <a:latin typeface="맑은 고딕"/>
                <a:ea typeface="맑은 고딕"/>
                <a:cs typeface="맑은 고딕"/>
              </a:rPr>
              <a:t>• 이후 랩의 작업 공간으로 쓴다</a:t>
            </a:r>
          </a:p>
        </p:txBody>
      </p:sp>
      <p:sp>
        <p:nvSpPr>
          <p:cNvPr id="10" name="Rounded Rectangle 9"/>
          <p:cNvSpPr/>
          <p:nvPr/>
        </p:nvSpPr>
        <p:spPr>
          <a:xfrm>
            <a:off x="777240" y="555269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55269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개발</a:t>
            </a:r>
          </a:p>
        </p:txBody>
      </p:sp>
      <p:sp>
        <p:nvSpPr>
          <p:cNvPr id="12" name="Rounded Rectangle 11"/>
          <p:cNvSpPr/>
          <p:nvPr/>
        </p:nvSpPr>
        <p:spPr>
          <a:xfrm>
            <a:off x="3390823" y="2000250"/>
            <a:ext cx="2567863" cy="398221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201418"/>
            <a:ext cx="731520" cy="731520"/>
          </a:xfrm>
          <a:prstGeom prst="ellipse">
            <a:avLst/>
          </a:prstGeom>
          <a:solidFill>
            <a:srgbClr val="E7F3FD"/>
          </a:solidFill>
          <a:ln>
            <a:noFill/>
          </a:ln>
        </p:spPr>
        <p:txBody>
          <a:bodyPr rtlCol="0" anchor="ctr"/>
          <a:lstStyle/>
          <a:p>
            <a:pPr algn="ctr"/>
          </a:p>
        </p:txBody>
      </p:sp>
      <p:pic>
        <p:nvPicPr>
          <p:cNvPr id="14" name="아이콘:brand-github-copilot" descr="brand-github-copilot_13294B_1.6.png"/>
          <p:cNvPicPr>
            <a:picLocks noChangeAspect="1"/>
          </p:cNvPicPr>
          <p:nvPr/>
        </p:nvPicPr>
        <p:blipFill>
          <a:blip r:embed="rId4"/>
          <a:stretch>
            <a:fillRect/>
          </a:stretch>
        </p:blipFill>
        <p:spPr>
          <a:xfrm>
            <a:off x="3773043" y="2355037"/>
            <a:ext cx="424281" cy="424281"/>
          </a:xfrm>
          <a:prstGeom prst="rect">
            <a:avLst/>
          </a:prstGeom>
        </p:spPr>
      </p:pic>
      <p:sp>
        <p:nvSpPr>
          <p:cNvPr id="15" name="TextBox 14"/>
          <p:cNvSpPr txBox="1"/>
          <p:nvPr/>
        </p:nvSpPr>
        <p:spPr>
          <a:xfrm>
            <a:off x="3555415"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GitHub Copilot</a:t>
            </a:r>
          </a:p>
          <a:p>
            <a:pPr algn="l">
              <a:lnSpc>
                <a:spcPct val="110000"/>
              </a:lnSpc>
              <a:spcAft>
                <a:spcPts val="400"/>
              </a:spcAft>
            </a:pPr>
            <a:r>
              <a:rPr sz="1350" b="0">
                <a:solidFill>
                  <a:srgbClr val="1F2A3A"/>
                </a:solidFill>
                <a:latin typeface="맑은 고딕"/>
                <a:ea typeface="맑은 고딕"/>
                <a:cs typeface="맑은 고딕"/>
              </a:rPr>
              <a:t>• VS Code의 채팅 창에서 말로 요청하면 파일을 읽고 고치는 코딩 에이전트이다</a:t>
            </a:r>
          </a:p>
          <a:p>
            <a:pPr algn="l">
              <a:lnSpc>
                <a:spcPct val="110000"/>
              </a:lnSpc>
              <a:spcAft>
                <a:spcPts val="400"/>
              </a:spcAft>
            </a:pPr>
            <a:r>
              <a:rPr sz="1350" b="0">
                <a:solidFill>
                  <a:srgbClr val="1F2A3A"/>
                </a:solidFill>
                <a:latin typeface="맑은 고딕"/>
                <a:ea typeface="맑은 고딕"/>
                <a:cs typeface="맑은 고딕"/>
              </a:rPr>
              <a:t>• 말로 요청하고 AI가 쓴 코드를 실행해 보며 고쳐 가는 방식을 바이브 코딩(Vibe Coding)이라고 한다</a:t>
            </a:r>
          </a:p>
        </p:txBody>
      </p:sp>
      <p:sp>
        <p:nvSpPr>
          <p:cNvPr id="16" name="Rounded Rectangle 15"/>
          <p:cNvSpPr/>
          <p:nvPr/>
        </p:nvSpPr>
        <p:spPr>
          <a:xfrm>
            <a:off x="3619423" y="5552694"/>
            <a:ext cx="90525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552694"/>
            <a:ext cx="9052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AI 코딩</a:t>
            </a:r>
          </a:p>
        </p:txBody>
      </p:sp>
      <p:sp>
        <p:nvSpPr>
          <p:cNvPr id="18" name="Rounded Rectangle 17"/>
          <p:cNvSpPr/>
          <p:nvPr/>
        </p:nvSpPr>
        <p:spPr>
          <a:xfrm>
            <a:off x="6233007" y="2000250"/>
            <a:ext cx="2567863" cy="398221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201418"/>
            <a:ext cx="731520" cy="731520"/>
          </a:xfrm>
          <a:prstGeom prst="ellipse">
            <a:avLst/>
          </a:prstGeom>
          <a:solidFill>
            <a:srgbClr val="E7F3FD"/>
          </a:solidFill>
          <a:ln>
            <a:noFill/>
          </a:ln>
        </p:spPr>
        <p:txBody>
          <a:bodyPr rtlCol="0" anchor="ctr"/>
          <a:lstStyle/>
          <a:p>
            <a:pPr algn="ctr"/>
          </a:p>
        </p:txBody>
      </p:sp>
      <p:pic>
        <p:nvPicPr>
          <p:cNvPr id="20" name="아이콘:brand-python" descr="brand-python_13294B_1.6.png"/>
          <p:cNvPicPr>
            <a:picLocks noChangeAspect="1"/>
          </p:cNvPicPr>
          <p:nvPr/>
        </p:nvPicPr>
        <p:blipFill>
          <a:blip r:embed="rId5"/>
          <a:stretch>
            <a:fillRect/>
          </a:stretch>
        </p:blipFill>
        <p:spPr>
          <a:xfrm>
            <a:off x="6615226" y="2355037"/>
            <a:ext cx="424281" cy="424281"/>
          </a:xfrm>
          <a:prstGeom prst="rect">
            <a:avLst/>
          </a:prstGeom>
        </p:spPr>
      </p:pic>
      <p:sp>
        <p:nvSpPr>
          <p:cNvPr id="21" name="TextBox 20"/>
          <p:cNvSpPr txBox="1"/>
          <p:nvPr/>
        </p:nvSpPr>
        <p:spPr>
          <a:xfrm>
            <a:off x="6397599"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Python</a:t>
            </a:r>
          </a:p>
          <a:p>
            <a:pPr algn="l">
              <a:lnSpc>
                <a:spcPct val="110000"/>
              </a:lnSpc>
              <a:spcAft>
                <a:spcPts val="400"/>
              </a:spcAft>
            </a:pPr>
            <a:r>
              <a:rPr sz="1350" b="0">
                <a:solidFill>
                  <a:srgbClr val="1F2A3A"/>
                </a:solidFill>
                <a:latin typeface="맑은 고딕"/>
                <a:ea typeface="맑은 고딕"/>
                <a:cs typeface="맑은 고딕"/>
              </a:rPr>
              <a:t>HYD의 서비스와 랩의 코드가 쓰는 프로그래밍 언어이다</a:t>
            </a:r>
          </a:p>
        </p:txBody>
      </p:sp>
      <p:sp>
        <p:nvSpPr>
          <p:cNvPr id="22" name="Rounded Rectangle 21"/>
          <p:cNvSpPr/>
          <p:nvPr/>
        </p:nvSpPr>
        <p:spPr>
          <a:xfrm>
            <a:off x="6461607" y="555269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55269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언어</a:t>
            </a:r>
          </a:p>
        </p:txBody>
      </p:sp>
      <p:sp>
        <p:nvSpPr>
          <p:cNvPr id="24" name="Rounded Rectangle 23"/>
          <p:cNvSpPr/>
          <p:nvPr/>
        </p:nvSpPr>
        <p:spPr>
          <a:xfrm>
            <a:off x="9075191" y="2000250"/>
            <a:ext cx="2567863" cy="3982211"/>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201418"/>
            <a:ext cx="731520" cy="731520"/>
          </a:xfrm>
          <a:prstGeom prst="ellipse">
            <a:avLst/>
          </a:prstGeom>
          <a:solidFill>
            <a:srgbClr val="5CB8F2"/>
          </a:solidFill>
          <a:ln>
            <a:noFill/>
          </a:ln>
        </p:spPr>
        <p:txBody>
          <a:bodyPr rtlCol="0" anchor="ctr"/>
          <a:lstStyle/>
          <a:p>
            <a:pPr algn="ctr"/>
          </a:p>
        </p:txBody>
      </p:sp>
      <p:pic>
        <p:nvPicPr>
          <p:cNvPr id="26" name="아이콘:brand-docker" descr="brand-docker_13294B_1.6.png"/>
          <p:cNvPicPr>
            <a:picLocks noChangeAspect="1"/>
          </p:cNvPicPr>
          <p:nvPr/>
        </p:nvPicPr>
        <p:blipFill>
          <a:blip r:embed="rId6"/>
          <a:stretch>
            <a:fillRect/>
          </a:stretch>
        </p:blipFill>
        <p:spPr>
          <a:xfrm>
            <a:off x="9457410" y="2355037"/>
            <a:ext cx="424281" cy="424281"/>
          </a:xfrm>
          <a:prstGeom prst="rect">
            <a:avLst/>
          </a:prstGeom>
        </p:spPr>
      </p:pic>
      <p:sp>
        <p:nvSpPr>
          <p:cNvPr id="27" name="TextBox 26"/>
          <p:cNvSpPr txBox="1"/>
          <p:nvPr/>
        </p:nvSpPr>
        <p:spPr>
          <a:xfrm>
            <a:off x="9239783"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Docker</a:t>
            </a:r>
          </a:p>
          <a:p>
            <a:pPr algn="l">
              <a:lnSpc>
                <a:spcPct val="110000"/>
              </a:lnSpc>
              <a:spcAft>
                <a:spcPts val="400"/>
              </a:spcAft>
            </a:pPr>
            <a:r>
              <a:rPr sz="1350" b="0">
                <a:solidFill>
                  <a:srgbClr val="1F2A3A"/>
                </a:solidFill>
                <a:latin typeface="맑은 고딕"/>
                <a:ea typeface="맑은 고딕"/>
                <a:cs typeface="맑은 고딕"/>
              </a:rPr>
              <a:t>• Docker Desktop은 컨테이너를 실행하는 프로그램이다</a:t>
            </a:r>
          </a:p>
          <a:p>
            <a:pPr algn="l">
              <a:lnSpc>
                <a:spcPct val="110000"/>
              </a:lnSpc>
              <a:spcAft>
                <a:spcPts val="400"/>
              </a:spcAft>
            </a:pPr>
            <a:r>
              <a:rPr sz="1350" b="0">
                <a:solidFill>
                  <a:srgbClr val="1F2A3A"/>
                </a:solidFill>
                <a:latin typeface="맑은 고딕"/>
                <a:ea typeface="맑은 고딕"/>
                <a:cs typeface="맑은 고딕"/>
              </a:rPr>
              <a:t>• Docker Compose는 HYD의 서비스 전체를 한 파일의 정의로 기동한다</a:t>
            </a:r>
          </a:p>
        </p:txBody>
      </p:sp>
      <p:sp>
        <p:nvSpPr>
          <p:cNvPr id="28" name="Rounded Rectangle 27"/>
          <p:cNvSpPr/>
          <p:nvPr/>
        </p:nvSpPr>
        <p:spPr>
          <a:xfrm>
            <a:off x="9303791" y="5552694"/>
            <a:ext cx="11734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552694"/>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서비스 실행</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이상에서 조치까지 전체 과정 시연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열화 한 건이 경보에서 최종 결과까지 진행되는 과정을 확인한다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시연에서 확인하는 흐름: 경보에서 최종 결과까지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열화 한 건이 경보, 원인 분석, 조치 추천, 승인, 조치, 재관측을 거쳐 닫히는 과정을 처음부터 끝까지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a:t>
            </a:r>
          </a:p>
          <a:p>
            <a:pPr algn="ctr">
              <a:lnSpc>
                <a:spcPct val="110000"/>
              </a:lnSpc>
              <a:spcAft>
                <a:spcPts val="400"/>
              </a:spcAft>
            </a:pPr>
            <a:r>
              <a:rPr sz="1250" b="0">
                <a:solidFill>
                  <a:srgbClr val="1F2A3A"/>
                </a:solidFill>
                <a:latin typeface="맑은 고딕"/>
                <a:ea typeface="맑은 고딕"/>
                <a:cs typeface="맑은 고딕"/>
              </a:rPr>
              <a:t>유온과 냉각 효율이</a:t>
            </a:r>
          </a:p>
          <a:p>
            <a:pPr algn="ctr">
              <a:lnSpc>
                <a:spcPct val="110000"/>
              </a:lnSpc>
              <a:spcAft>
                <a:spcPts val="400"/>
              </a:spcAft>
            </a:pPr>
            <a:r>
              <a:rPr sz="1250" b="0">
                <a:solidFill>
                  <a:srgbClr val="1F2A3A"/>
                </a:solidFill>
                <a:latin typeface="맑은 고딕"/>
                <a:ea typeface="맑은 고딕"/>
                <a:cs typeface="맑은 고딕"/>
              </a:rPr>
              <a:t>조건을 벗어나</a:t>
            </a:r>
          </a:p>
          <a:p>
            <a:pPr algn="ctr">
              <a:lnSpc>
                <a:spcPct val="110000"/>
              </a:lnSpc>
              <a:spcAft>
                <a:spcPts val="400"/>
              </a:spcAft>
            </a:pPr>
            <a:r>
              <a:rPr sz="1250" b="0">
                <a:solidFill>
                  <a:srgbClr val="1F2A3A"/>
                </a:solidFill>
                <a:latin typeface="맑은 고딕"/>
                <a:ea typeface="맑은 고딕"/>
                <a:cs typeface="맑은 고딕"/>
              </a:rPr>
              <a:t>경보가 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분석과 추천</a:t>
            </a:r>
          </a:p>
          <a:p>
            <a:pPr algn="ctr">
              <a:lnSpc>
                <a:spcPct val="110000"/>
              </a:lnSpc>
              <a:spcAft>
                <a:spcPts val="400"/>
              </a:spcAft>
            </a:pPr>
            <a:r>
              <a:rPr sz="1250" b="0">
                <a:solidFill>
                  <a:srgbClr val="1F2A3A"/>
                </a:solidFill>
                <a:latin typeface="맑은 고딕"/>
                <a:ea typeface="맑은 고딕"/>
                <a:cs typeface="맑은 고딕"/>
              </a:rPr>
              <a:t>에이전트가</a:t>
            </a:r>
          </a:p>
          <a:p>
            <a:pPr algn="ctr">
              <a:lnSpc>
                <a:spcPct val="110000"/>
              </a:lnSpc>
              <a:spcAft>
                <a:spcPts val="400"/>
              </a:spcAft>
            </a:pPr>
            <a:r>
              <a:rPr sz="1250" b="0">
                <a:solidFill>
                  <a:srgbClr val="1F2A3A"/>
                </a:solidFill>
                <a:latin typeface="맑은 고딕"/>
                <a:ea typeface="맑은 고딕"/>
                <a:cs typeface="맑은 고딕"/>
              </a:rPr>
              <a:t>지식과 값을 조회해</a:t>
            </a:r>
          </a:p>
          <a:p>
            <a:pPr algn="ctr">
              <a:lnSpc>
                <a:spcPct val="110000"/>
              </a:lnSpc>
              <a:spcAft>
                <a:spcPts val="400"/>
              </a:spcAft>
            </a:pPr>
            <a:r>
              <a:rPr sz="1250" b="0">
                <a:solidFill>
                  <a:srgbClr val="1F2A3A"/>
                </a:solidFill>
                <a:latin typeface="맑은 고딕"/>
                <a:ea typeface="맑은 고딕"/>
                <a:cs typeface="맑은 고딕"/>
              </a:rPr>
              <a:t>원인을 가리고</a:t>
            </a:r>
          </a:p>
          <a:p>
            <a:pPr algn="ctr">
              <a:lnSpc>
                <a:spcPct val="110000"/>
              </a:lnSpc>
              <a:spcAft>
                <a:spcPts val="400"/>
              </a:spcAft>
            </a:pPr>
            <a:r>
              <a:rPr sz="1250" b="0">
                <a:solidFill>
                  <a:srgbClr val="1F2A3A"/>
                </a:solidFill>
                <a:latin typeface="맑은 고딕"/>
                <a:ea typeface="맑은 고딕"/>
                <a:cs typeface="맑은 고딕"/>
              </a:rPr>
              <a:t>조치안을 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5730087" y="2712466"/>
            <a:ext cx="731520" cy="731520"/>
          </a:xfrm>
          <a:prstGeom prst="ellipse">
            <a:avLst/>
          </a:prstGeom>
          <a:solidFill>
            <a:srgbClr val="5CB8F2"/>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 또는 거절</a:t>
            </a:r>
          </a:p>
          <a:p>
            <a:pPr algn="ctr">
              <a:lnSpc>
                <a:spcPct val="110000"/>
              </a:lnSpc>
              <a:spcAft>
                <a:spcPts val="400"/>
              </a:spcAft>
            </a:pPr>
            <a:r>
              <a:rPr sz="1250" b="0">
                <a:solidFill>
                  <a:srgbClr val="1F2A3A"/>
                </a:solidFill>
                <a:latin typeface="맑은 고딕"/>
                <a:ea typeface="맑은 고딕"/>
                <a:cs typeface="맑은 고딕"/>
              </a:rPr>
              <a:t>HITL</a:t>
            </a:r>
          </a:p>
          <a:p>
            <a:pPr algn="ctr">
              <a:lnSpc>
                <a:spcPct val="110000"/>
              </a:lnSpc>
              <a:spcAft>
                <a:spcPts val="400"/>
              </a:spcAft>
            </a:pPr>
            <a:r>
              <a:rPr sz="1250" b="0">
                <a:solidFill>
                  <a:srgbClr val="1F2A3A"/>
                </a:solidFill>
                <a:latin typeface="맑은 고딕"/>
                <a:ea typeface="맑은 고딕"/>
                <a:cs typeface="맑은 고딕"/>
              </a:rPr>
              <a:t>담당자가 판단한다</a:t>
            </a:r>
          </a:p>
          <a:p>
            <a:pPr algn="ctr">
              <a:lnSpc>
                <a:spcPct val="110000"/>
              </a:lnSpc>
              <a:spcAft>
                <a:spcPts val="400"/>
              </a:spcAft>
            </a:pPr>
            <a:r>
              <a:rPr sz="1250" b="0">
                <a:solidFill>
                  <a:srgbClr val="1F2A3A"/>
                </a:solidFill>
                <a:latin typeface="맑은 고딕"/>
                <a:ea typeface="맑은 고딕"/>
                <a:cs typeface="맑은 고딕"/>
              </a:rPr>
              <a:t>승인 전에는</a:t>
            </a:r>
          </a:p>
          <a:p>
            <a:pPr algn="ctr">
              <a:lnSpc>
                <a:spcPct val="110000"/>
              </a:lnSpc>
              <a:spcAft>
                <a:spcPts val="400"/>
              </a:spcAft>
            </a:pPr>
            <a:r>
              <a:rPr sz="1250" b="0">
                <a:solidFill>
                  <a:srgbClr val="1F2A3A"/>
                </a:solidFill>
                <a:latin typeface="맑은 고딕"/>
                <a:ea typeface="맑은 고딕"/>
                <a:cs typeface="맑은 고딕"/>
              </a:rPr>
              <a:t>설비 명령이 없다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settings-automation" descr="settings-automation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a:t>
            </a:r>
          </a:p>
          <a:p>
            <a:pPr algn="ctr">
              <a:lnSpc>
                <a:spcPct val="110000"/>
              </a:lnSpc>
              <a:spcAft>
                <a:spcPts val="400"/>
              </a:spcAft>
            </a:pPr>
            <a:r>
              <a:rPr sz="1250" b="0">
                <a:solidFill>
                  <a:srgbClr val="1F2A3A"/>
                </a:solidFill>
                <a:latin typeface="맑은 고딕"/>
                <a:ea typeface="맑은 고딕"/>
                <a:cs typeface="맑은 고딕"/>
              </a:rPr>
              <a:t>승인된 조치만</a:t>
            </a:r>
          </a:p>
          <a:p>
            <a:pPr algn="ctr">
              <a:lnSpc>
                <a:spcPct val="110000"/>
              </a:lnSpc>
              <a:spcAft>
                <a:spcPts val="400"/>
              </a:spcAft>
            </a:pPr>
            <a:r>
              <a:rPr sz="1250" b="0">
                <a:solidFill>
                  <a:srgbClr val="1F2A3A"/>
                </a:solidFill>
                <a:latin typeface="맑은 고딕"/>
                <a:ea typeface="맑은 고딕"/>
                <a:cs typeface="맑은 고딕"/>
              </a:rPr>
              <a:t>명령이 되어</a:t>
            </a:r>
          </a:p>
          <a:p>
            <a:pPr algn="ctr">
              <a:lnSpc>
                <a:spcPct val="110000"/>
              </a:lnSpc>
              <a:spcAft>
                <a:spcPts val="400"/>
              </a:spcAft>
            </a:pPr>
            <a:r>
              <a:rPr sz="1250" b="0">
                <a:solidFill>
                  <a:srgbClr val="1F2A3A"/>
                </a:solidFill>
                <a:latin typeface="맑은 고딕"/>
                <a:ea typeface="맑은 고딕"/>
                <a:cs typeface="맑은 고딕"/>
              </a:rPr>
              <a:t>설비로 내려간다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712466"/>
            <a:ext cx="731520" cy="731520"/>
          </a:xfrm>
          <a:prstGeom prst="ellipse">
            <a:avLst/>
          </a:prstGeom>
          <a:solidFill>
            <a:srgbClr val="FFFFFF"/>
          </a:solidFill>
          <a:ln>
            <a:noFill/>
          </a:ln>
        </p:spPr>
        <p:txBody>
          <a:bodyPr rtlCol="0" anchor="ctr"/>
          <a:lstStyle/>
          <a:p>
            <a:pPr algn="ctr"/>
          </a:p>
        </p:txBody>
      </p:sp>
      <p:pic>
        <p:nvPicPr>
          <p:cNvPr id="28" name="아이콘:zoom-check" descr="zoom-check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재관측과 결과</a:t>
            </a:r>
          </a:p>
          <a:p>
            <a:pPr algn="ctr">
              <a:lnSpc>
                <a:spcPct val="110000"/>
              </a:lnSpc>
              <a:spcAft>
                <a:spcPts val="400"/>
              </a:spcAft>
            </a:pPr>
            <a:r>
              <a:rPr sz="1250" b="0">
                <a:solidFill>
                  <a:srgbClr val="1F2A3A"/>
                </a:solidFill>
                <a:latin typeface="맑은 고딕"/>
                <a:ea typeface="맑은 고딕"/>
                <a:cs typeface="맑은 고딕"/>
              </a:rPr>
              <a:t>유온을 다시 읽어</a:t>
            </a:r>
          </a:p>
          <a:p>
            <a:pPr algn="ctr">
              <a:lnSpc>
                <a:spcPct val="110000"/>
              </a:lnSpc>
              <a:spcAft>
                <a:spcPts val="400"/>
              </a:spcAft>
            </a:pPr>
            <a:r>
              <a:rPr sz="1250" b="0">
                <a:solidFill>
                  <a:srgbClr val="1F2A3A"/>
                </a:solidFill>
                <a:latin typeface="맑은 고딕"/>
                <a:ea typeface="맑은 고딕"/>
                <a:cs typeface="맑은 고딕"/>
              </a:rPr>
              <a:t>회복을 확인하고</a:t>
            </a:r>
          </a:p>
          <a:p>
            <a:pPr algn="ctr">
              <a:lnSpc>
                <a:spcPct val="110000"/>
              </a:lnSpc>
              <a:spcAft>
                <a:spcPts val="400"/>
              </a:spcAft>
            </a:pPr>
            <a:r>
              <a:rPr sz="1250" b="0">
                <a:solidFill>
                  <a:srgbClr val="1F2A3A"/>
                </a:solidFill>
                <a:latin typeface="맑은 고딕"/>
                <a:ea typeface="맑은 고딕"/>
                <a:cs typeface="맑은 고딕"/>
              </a:rPr>
              <a:t>결과를 보고한다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설비 데이터의 의미와 관계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이후의 판단에 필요한 지식과 그것을 대상과 관계로 적는 방법</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유온 55.71 ℃, 냉각 효율 46.2 %.</a:t>
            </a:r>
          </a:p>
          <a:p>
            <a:pPr algn="l">
              <a:lnSpc>
                <a:spcPct val="110000"/>
              </a:lnSpc>
              <a:spcAft>
                <a:spcPts val="400"/>
              </a:spcAft>
            </a:pPr>
            <a:r>
              <a:rPr sz="1400" b="0">
                <a:solidFill>
                  <a:srgbClr val="1F2A3A"/>
                </a:solidFill>
                <a:latin typeface="맑은 고딕"/>
                <a:ea typeface="맑은 고딕"/>
                <a:cs typeface="맑은 고딕"/>
              </a:rPr>
              <a:t>감지 서비스의 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108초 동안 한 일</a:t>
            </a:r>
          </a:p>
          <a:p>
            <a:pPr algn="l">
              <a:lnSpc>
                <a:spcPct val="110000"/>
              </a:lnSpc>
              <a:spcAft>
                <a:spcPts val="400"/>
              </a:spcAft>
            </a:pPr>
            <a:r>
              <a:rPr sz="1400" b="0">
                <a:solidFill>
                  <a:srgbClr val="1F2A3A"/>
                </a:solidFill>
                <a:latin typeface="맑은 고딕"/>
                <a:ea typeface="맑은 고딕"/>
                <a:cs typeface="맑은 고딕"/>
              </a:rPr>
              <a:t>원인을 가리고 조치안을 비교하는 데 약 94초, 승인 대기에 약 13초.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조치 승인 11:14:56</a:t>
            </a:r>
          </a:p>
          <a:p>
            <a:pPr algn="l">
              <a:lnSpc>
                <a:spcPct val="110000"/>
              </a:lnSpc>
              <a:spcAft>
                <a:spcPts val="400"/>
              </a:spcAft>
            </a:pPr>
            <a:r>
              <a:rPr sz="1400" b="0">
                <a:solidFill>
                  <a:srgbClr val="1F2A3A"/>
                </a:solidFill>
                <a:latin typeface="맑은 고딕"/>
                <a:ea typeface="맑은 고딕"/>
                <a:cs typeface="맑은 고딕"/>
              </a:rPr>
              <a:t>운전원이 「팬 최대 운전」을 승인했고 팬 속도 100 % 명령이 내려갔다.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해제 11:15:52</a:t>
            </a:r>
          </a:p>
          <a:p>
            <a:pPr algn="l">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계측값, 이상 감지, 고장 진단, 조치 판단의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재는 일과 이상을 알리는 일은 구조가 해 주지만, 원인을 가리고 조치를 정하는 일에는 지식이 더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계측값</a:t>
            </a:r>
          </a:p>
          <a:p>
            <a:pPr algn="ctr">
              <a:lnSpc>
                <a:spcPct val="110000"/>
              </a:lnSpc>
              <a:spcAft>
                <a:spcPts val="400"/>
              </a:spcAft>
            </a:pPr>
            <a:r>
              <a:rPr sz="1350" b="0">
                <a:solidFill>
                  <a:srgbClr val="1F2A3A"/>
                </a:solidFill>
                <a:latin typeface="맑은 고딕"/>
                <a:ea typeface="맑은 고딕"/>
                <a:cs typeface="맑은 고딕"/>
              </a:rPr>
              <a:t>지금 얼마인가</a:t>
            </a:r>
          </a:p>
          <a:p>
            <a:pPr algn="ctr">
              <a:lnSpc>
                <a:spcPct val="110000"/>
              </a:lnSpc>
              <a:spcAft>
                <a:spcPts val="400"/>
              </a:spcAft>
            </a:pPr>
            <a:r>
              <a:rPr sz="1350" b="0">
                <a:solidFill>
                  <a:srgbClr val="1F2A3A"/>
                </a:solidFill>
                <a:latin typeface="맑은 고딕"/>
                <a:ea typeface="맑은 고딕"/>
                <a:cs typeface="맑은 고딕"/>
              </a:rPr>
              <a:t>TS1 55.71 ℃</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bell-ringing" descr="bell-ringing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감지</a:t>
            </a:r>
          </a:p>
          <a:p>
            <a:pPr algn="ctr">
              <a:lnSpc>
                <a:spcPct val="110000"/>
              </a:lnSpc>
              <a:spcAft>
                <a:spcPts val="400"/>
              </a:spcAft>
            </a:pPr>
            <a:r>
              <a:rPr sz="1350" b="0">
                <a:solidFill>
                  <a:srgbClr val="1F2A3A"/>
                </a:solidFill>
                <a:latin typeface="맑은 고딕"/>
                <a:ea typeface="맑은 고딕"/>
                <a:cs typeface="맑은 고딕"/>
              </a:rPr>
              <a:t>기준을 벗어났는가</a:t>
            </a:r>
          </a:p>
          <a:p>
            <a:pPr algn="ctr">
              <a:lnSpc>
                <a:spcPct val="110000"/>
              </a:lnSpc>
              <a:spcAft>
                <a:spcPts val="400"/>
              </a:spcAft>
            </a:pPr>
            <a:r>
              <a:rPr sz="1350" b="0">
                <a:solidFill>
                  <a:srgbClr val="1F2A3A"/>
                </a:solidFill>
                <a:latin typeface="맑은 고딕"/>
                <a:ea typeface="맑은 고딕"/>
                <a:cs typeface="맑은 고딕"/>
              </a:rPr>
              <a:t>쿨러 성능 저하 경보</a:t>
            </a:r>
          </a:p>
        </p:txBody>
      </p:sp>
      <p:sp>
        <p:nvSpPr>
          <p:cNvPr id="17" name="Oval 16"/>
          <p:cNvSpPr/>
          <p:nvPr/>
        </p:nvSpPr>
        <p:spPr>
          <a:xfrm>
            <a:off x="7048309" y="2730627"/>
            <a:ext cx="868680" cy="868680"/>
          </a:xfrm>
          <a:prstGeom prst="ellipse">
            <a:avLst/>
          </a:prstGeom>
          <a:solidFill>
            <a:srgbClr val="5CB8F2"/>
          </a:solidFill>
          <a:ln>
            <a:no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고장 진단</a:t>
            </a:r>
          </a:p>
          <a:p>
            <a:pPr algn="ctr">
              <a:lnSpc>
                <a:spcPct val="110000"/>
              </a:lnSpc>
              <a:spcAft>
                <a:spcPts val="400"/>
              </a:spcAft>
            </a:pPr>
            <a:r>
              <a:rPr sz="1350" b="0">
                <a:solidFill>
                  <a:srgbClr val="1F2A3A"/>
                </a:solidFill>
                <a:latin typeface="맑은 고딕"/>
                <a:ea typeface="맑은 고딕"/>
                <a:cs typeface="맑은 고딕"/>
              </a:rPr>
              <a:t>왜 벗어났는가</a:t>
            </a:r>
          </a:p>
          <a:p>
            <a:pPr algn="ctr">
              <a:lnSpc>
                <a:spcPct val="110000"/>
              </a:lnSpc>
              <a:spcAft>
                <a:spcPts val="400"/>
              </a:spcAft>
            </a:pPr>
            <a:r>
              <a:rPr sz="1350" b="0">
                <a:solidFill>
                  <a:srgbClr val="1F2A3A"/>
                </a:solidFill>
                <a:latin typeface="맑은 고딕"/>
                <a:ea typeface="맑은 고딕"/>
                <a:cs typeface="맑은 고딕"/>
              </a:rPr>
              <a:t>쿨러 핀 오염</a:t>
            </a:r>
          </a:p>
        </p:txBody>
      </p:sp>
      <p:sp>
        <p:nvSpPr>
          <p:cNvPr id="22" name="Oval 21"/>
          <p:cNvSpPr/>
          <p:nvPr/>
        </p:nvSpPr>
        <p:spPr>
          <a:xfrm>
            <a:off x="9821913" y="2730627"/>
            <a:ext cx="868680" cy="868680"/>
          </a:xfrm>
          <a:prstGeom prst="ellipse">
            <a:avLst/>
          </a:prstGeom>
          <a:solidFill>
            <a:srgbClr val="5CB8F2"/>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 판단</a:t>
            </a:r>
          </a:p>
          <a:p>
            <a:pPr algn="ctr">
              <a:lnSpc>
                <a:spcPct val="110000"/>
              </a:lnSpc>
              <a:spcAft>
                <a:spcPts val="400"/>
              </a:spcAft>
            </a:pPr>
            <a:r>
              <a:rPr sz="1350" b="0">
                <a:solidFill>
                  <a:srgbClr val="1F2A3A"/>
                </a:solidFill>
                <a:latin typeface="맑은 고딕"/>
                <a:ea typeface="맑은 고딕"/>
                <a:cs typeface="맑은 고딕"/>
              </a:rPr>
              <a:t>무엇을 할 것인가</a:t>
            </a:r>
          </a:p>
          <a:p>
            <a:pPr algn="ctr">
              <a:lnSpc>
                <a:spcPct val="110000"/>
              </a:lnSpc>
              <a:spcAft>
                <a:spcPts val="400"/>
              </a:spcAft>
            </a:pPr>
            <a:r>
              <a:rPr sz="1350" b="0">
                <a:solidFill>
                  <a:srgbClr val="1F2A3A"/>
                </a:solidFill>
                <a:latin typeface="맑은 고딕"/>
                <a:ea typeface="맑은 고딕"/>
                <a:cs typeface="맑은 고딕"/>
              </a:rPr>
              <a:t>팬 최대 운전</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경보에 대한 세 가지 원인 후보와 판별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 상승 경보에 원인 후보가 셋이며, 후보를 가르는 증거는 유온이 아닌 </a:t>
            </a:r>
            <a:r>
              <a:rPr sz="1600" b="1">
                <a:solidFill>
                  <a:srgbClr val="1A6FC4"/>
                </a:solidFill>
                <a:latin typeface="맑은 고딕"/>
                <a:ea typeface="맑은 고딕"/>
                <a:cs typeface="맑은 고딕"/>
              </a:rPr>
              <a:t>다른 센서 값</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pic>
        <p:nvPicPr>
          <p:cNvPr id="6" name="삽화:원인후보.svg" descr="illust_3781772904012101725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 46.2 %</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 0.575 mm/s</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 28 ℃</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미만이면 해당</a:t>
            </a:r>
          </a:p>
          <a:p>
            <a:pPr algn="ctr">
              <a:lnSpc>
                <a:spcPct val="110000"/>
              </a:lnSpc>
              <a:spcAft>
                <a:spcPts val="100"/>
              </a:spcAft>
            </a:pPr>
            <a:r>
              <a:rPr sz="1300" b="0">
                <a:solidFill>
                  <a:srgbClr val="556175"/>
                </a:solidFill>
                <a:latin typeface="맑은 고딕"/>
                <a:ea typeface="맑은 고딕"/>
                <a:cs typeface="맑은 고딕"/>
              </a:rPr>
              <a:t>잰 값이 조건에 맞는다</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이상이면 해당</a:t>
            </a:r>
          </a:p>
          <a:p>
            <a:pPr algn="ctr">
              <a:lnSpc>
                <a:spcPct val="110000"/>
              </a:lnSpc>
              <a:spcAft>
                <a:spcPts val="100"/>
              </a:spcAft>
            </a:pPr>
            <a:r>
              <a:rPr sz="1300" b="0">
                <a:solidFill>
                  <a:srgbClr val="556175"/>
                </a:solidFill>
                <a:latin typeface="맑은 고딕"/>
                <a:ea typeface="맑은 고딕"/>
                <a:cs typeface="맑은 고딕"/>
              </a:rPr>
              <a:t>잰 값 0.575 → 해당하지 않는다</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이상이면 해당</a:t>
            </a:r>
          </a:p>
          <a:p>
            <a:pPr algn="ctr">
              <a:lnSpc>
                <a:spcPct val="110000"/>
              </a:lnSpc>
              <a:spcAft>
                <a:spcPts val="100"/>
              </a:spcAft>
            </a:pPr>
            <a:r>
              <a:rPr sz="1300" b="0">
                <a:solidFill>
                  <a:srgbClr val="556175"/>
                </a:solidFill>
                <a:latin typeface="맑은 고딕"/>
                <a:ea typeface="맑은 고딕"/>
                <a:cs typeface="맑은 고딕"/>
              </a:rPr>
              <a:t>잰 값 28 ℃ → 해당하지 않는다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증거: 원인을 확인하는 데 쓰는 값과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 후보마다 확인할 값과 기준이 정해져 있으며, 잰 값을 그 기준에 대어 보는 것이 판별이다.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확인할 값</a:t>
            </a:r>
          </a:p>
          <a:p>
            <a:pPr algn="l">
              <a:lnSpc>
                <a:spcPct val="110000"/>
              </a:lnSpc>
              <a:spcAft>
                <a:spcPts val="400"/>
              </a:spcAft>
            </a:pPr>
            <a:r>
              <a:rPr sz="1400" b="0">
                <a:solidFill>
                  <a:srgbClr val="1F2A3A"/>
                </a:solidFill>
                <a:latin typeface="맑은 고딕"/>
                <a:ea typeface="맑은 고딕"/>
                <a:cs typeface="맑은 고딕"/>
              </a:rPr>
              <a:t>후보마다 보아야 하는 태그가 다르다</a:t>
            </a:r>
          </a:p>
        </p:txBody>
      </p:sp>
      <p:sp>
        <p:nvSpPr>
          <p:cNvPr id="10" name="Rounded Rectangle 9"/>
          <p:cNvSpPr/>
          <p:nvPr/>
        </p:nvSpPr>
        <p:spPr>
          <a:xfrm>
            <a:off x="777240" y="4932934"/>
            <a:ext cx="1475232"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47523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팬 진동 VS1</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기준</a:t>
            </a:r>
          </a:p>
          <a:p>
            <a:pPr algn="l">
              <a:lnSpc>
                <a:spcPct val="110000"/>
              </a:lnSpc>
              <a:spcAft>
                <a:spcPts val="400"/>
              </a:spcAft>
            </a:pPr>
            <a:r>
              <a:rPr sz="1400" b="0">
                <a:solidFill>
                  <a:srgbClr val="1F2A3A"/>
                </a:solidFill>
                <a:latin typeface="맑은 고딕"/>
                <a:ea typeface="맑은 고딕"/>
                <a:cs typeface="맑은 고딕"/>
              </a:rPr>
              <a:t>그 값이 얼마이면 해당하는지가 정해져 있다</a:t>
            </a:r>
          </a:p>
        </p:txBody>
      </p:sp>
      <p:sp>
        <p:nvSpPr>
          <p:cNvPr id="16" name="Rounded Rectangle 15"/>
          <p:cNvSpPr/>
          <p:nvPr/>
        </p:nvSpPr>
        <p:spPr>
          <a:xfrm>
            <a:off x="4566818" y="4932934"/>
            <a:ext cx="1624584"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6245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0.9 mm/s 이상</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checks" descr="checks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a:t>
            </a:r>
          </a:p>
          <a:p>
            <a:pPr algn="l">
              <a:lnSpc>
                <a:spcPct val="110000"/>
              </a:lnSpc>
              <a:spcAft>
                <a:spcPts val="400"/>
              </a:spcAft>
            </a:pPr>
            <a:r>
              <a:rPr sz="1400" b="0">
                <a:solidFill>
                  <a:srgbClr val="1F2A3A"/>
                </a:solidFill>
                <a:latin typeface="맑은 고딕"/>
                <a:ea typeface="맑은 고딕"/>
                <a:cs typeface="맑은 고딕"/>
              </a:rPr>
              <a:t>잰 값을 기준에 대어 본다</a:t>
            </a:r>
          </a:p>
        </p:txBody>
      </p:sp>
      <p:sp>
        <p:nvSpPr>
          <p:cNvPr id="22" name="Rounded Rectangle 21"/>
          <p:cNvSpPr/>
          <p:nvPr/>
        </p:nvSpPr>
        <p:spPr>
          <a:xfrm>
            <a:off x="8356396" y="4932934"/>
            <a:ext cx="199948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99948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0.575 → 해당 없음</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원인에 따라 달라지는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증상이 같아도 원인이 다르면 원인을 없애는 조치가 달라지므로 원인을 가리지 않고는 조치를 정할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오염</a:t>
            </a:r>
          </a:p>
          <a:p>
            <a:pPr algn="l">
              <a:lnSpc>
                <a:spcPct val="110000"/>
              </a:lnSpc>
              <a:spcAft>
                <a:spcPts val="400"/>
              </a:spcAft>
            </a:pPr>
            <a:r>
              <a:rPr sz="1400" b="0">
                <a:solidFill>
                  <a:srgbClr val="1F2A3A"/>
                </a:solidFill>
                <a:latin typeface="맑은 고딕"/>
                <a:ea typeface="맑은 고딕"/>
                <a:cs typeface="맑은 고딕"/>
              </a:rPr>
              <a:t>• 쿨러의 핀을 세척한다</a:t>
            </a:r>
          </a:p>
          <a:p>
            <a:pPr algn="l">
              <a:lnSpc>
                <a:spcPct val="110000"/>
              </a:lnSpc>
              <a:spcAft>
                <a:spcPts val="400"/>
              </a:spcAft>
            </a:pPr>
            <a:r>
              <a:rPr sz="1400" b="0">
                <a:solidFill>
                  <a:srgbClr val="1F2A3A"/>
                </a:solidFill>
                <a:latin typeface="맑은 고딕"/>
                <a:ea typeface="맑은 고딕"/>
                <a:cs typeface="맑은 고딕"/>
              </a:rPr>
              <a:t>• 막힌 핀이 열려 냉각 효율이 돌아온다</a:t>
            </a:r>
          </a:p>
        </p:txBody>
      </p:sp>
      <p:sp>
        <p:nvSpPr>
          <p:cNvPr id="10" name="Rounded Rectangle 9"/>
          <p:cNvSpPr/>
          <p:nvPr/>
        </p:nvSpPr>
        <p:spPr>
          <a:xfrm>
            <a:off x="777240" y="5041392"/>
            <a:ext cx="1450847"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핀이 막힘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구동 불량</a:t>
            </a:r>
          </a:p>
          <a:p>
            <a:pPr algn="l">
              <a:lnSpc>
                <a:spcPct val="110000"/>
              </a:lnSpc>
              <a:spcAft>
                <a:spcPts val="400"/>
              </a:spcAft>
            </a:pPr>
            <a:r>
              <a:rPr sz="1400" b="0">
                <a:solidFill>
                  <a:srgbClr val="1F2A3A"/>
                </a:solidFill>
                <a:latin typeface="맑은 고딕"/>
                <a:ea typeface="맑은 고딕"/>
                <a:cs typeface="맑은 고딕"/>
              </a:rPr>
              <a:t>• 쿨러 팬의 벨트를 점검한다</a:t>
            </a:r>
          </a:p>
          <a:p>
            <a:pPr algn="l">
              <a:lnSpc>
                <a:spcPct val="110000"/>
              </a:lnSpc>
              <a:spcAft>
                <a:spcPts val="400"/>
              </a:spcAft>
            </a:pPr>
            <a:r>
              <a:rPr sz="1400" b="0">
                <a:solidFill>
                  <a:srgbClr val="1F2A3A"/>
                </a:solidFill>
                <a:latin typeface="맑은 고딕"/>
                <a:ea typeface="맑은 고딕"/>
                <a:cs typeface="맑은 고딕"/>
              </a:rPr>
              <a:t>• 팬이 제 속도를 내야 바람이 충분해진다</a:t>
            </a:r>
          </a:p>
        </p:txBody>
      </p:sp>
      <p:sp>
        <p:nvSpPr>
          <p:cNvPr id="16" name="Rounded Rectangle 15"/>
          <p:cNvSpPr/>
          <p:nvPr/>
        </p:nvSpPr>
        <p:spPr>
          <a:xfrm>
            <a:off x="4566818" y="5041392"/>
            <a:ext cx="149656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팬이 덜 돎</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wind" descr="wind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주변 온도 상승</a:t>
            </a:r>
          </a:p>
          <a:p>
            <a:pPr algn="l">
              <a:lnSpc>
                <a:spcPct val="110000"/>
              </a:lnSpc>
              <a:spcAft>
                <a:spcPts val="400"/>
              </a:spcAft>
            </a:pPr>
            <a:r>
              <a:rPr sz="1400" b="0">
                <a:solidFill>
                  <a:srgbClr val="1F2A3A"/>
                </a:solidFill>
                <a:latin typeface="맑은 고딕"/>
                <a:ea typeface="맑은 고딕"/>
                <a:cs typeface="맑은 고딕"/>
              </a:rPr>
              <a:t>• 캐비닛의 환기를 보강한다</a:t>
            </a:r>
          </a:p>
          <a:p>
            <a:pPr algn="l">
              <a:lnSpc>
                <a:spcPct val="110000"/>
              </a:lnSpc>
              <a:spcAft>
                <a:spcPts val="400"/>
              </a:spcAft>
            </a:pPr>
            <a:r>
              <a:rPr sz="1400" b="0">
                <a:solidFill>
                  <a:srgbClr val="1F2A3A"/>
                </a:solidFill>
                <a:latin typeface="맑은 고딕"/>
                <a:ea typeface="맑은 고딕"/>
                <a:cs typeface="맑은 고딕"/>
              </a:rPr>
              <a:t>• 쿨러로 들어가는 공기의 온도를 낮춘다</a:t>
            </a:r>
          </a:p>
        </p:txBody>
      </p:sp>
      <p:sp>
        <p:nvSpPr>
          <p:cNvPr id="22" name="Rounded Rectangle 21"/>
          <p:cNvSpPr/>
          <p:nvPr/>
        </p:nvSpPr>
        <p:spPr>
          <a:xfrm>
            <a:off x="8356396" y="5041392"/>
            <a:ext cx="210616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1061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둘레의 공기가 더움</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완화 조치와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증상을 우선 누르는 완화 조치와 원인을 없애는 근본 조치는 서로 다른 조치이다.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완화 조치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팬을 최대로 돌려 유온을 우선 낮춘다</a:t>
            </a:r>
          </a:p>
          <a:p>
            <a:pPr algn="l">
              <a:lnSpc>
                <a:spcPct val="110000"/>
              </a:lnSpc>
              <a:spcAft>
                <a:spcPts val="600"/>
              </a:spcAft>
            </a:pPr>
            <a:r>
              <a:rPr sz="1450" b="0">
                <a:solidFill>
                  <a:srgbClr val="1F2A3A"/>
                </a:solidFill>
                <a:latin typeface="맑은 고딕"/>
                <a:ea typeface="맑은 고딕"/>
                <a:cs typeface="맑은 고딕"/>
              </a:rPr>
              <a:t>• 쿨러의 핀은 막힌 그대로이다</a:t>
            </a:r>
          </a:p>
          <a:p>
            <a:pPr algn="l">
              <a:lnSpc>
                <a:spcPct val="110000"/>
              </a:lnSpc>
              <a:spcAft>
                <a:spcPts val="600"/>
              </a:spcAft>
            </a:pPr>
            <a:r>
              <a:rPr sz="1450" b="0">
                <a:solidFill>
                  <a:srgbClr val="1F2A3A"/>
                </a:solidFill>
                <a:latin typeface="맑은 고딕"/>
                <a:ea typeface="맑은 고딕"/>
                <a:cs typeface="맑은 고딕"/>
              </a:rPr>
              <a:t>• 냉각 효율은 55 %로 기준 아래에 남는다</a:t>
            </a:r>
          </a:p>
        </p:txBody>
      </p:sp>
      <p:sp>
        <p:nvSpPr>
          <p:cNvPr id="11" name="Rounded Rectangle 10"/>
          <p:cNvSpPr/>
          <p:nvPr/>
        </p:nvSpPr>
        <p:spPr>
          <a:xfrm>
            <a:off x="868680" y="4945570"/>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팬 최대 운전</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ool" descr="too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근본 조치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막힌 핀을 세척해 원인을 없앤다</a:t>
            </a:r>
          </a:p>
          <a:p>
            <a:pPr algn="l">
              <a:lnSpc>
                <a:spcPct val="110000"/>
              </a:lnSpc>
              <a:spcAft>
                <a:spcPts val="600"/>
              </a:spcAft>
            </a:pPr>
            <a:r>
              <a:rPr sz="1450" b="0">
                <a:solidFill>
                  <a:srgbClr val="1F2A3A"/>
                </a:solidFill>
                <a:latin typeface="맑은 고딕"/>
                <a:ea typeface="맑은 고딕"/>
                <a:cs typeface="맑은 고딕"/>
              </a:rPr>
              <a:t>• 설비를 세우고 해야 하는 작업이다</a:t>
            </a:r>
          </a:p>
          <a:p>
            <a:pPr algn="l">
              <a:lnSpc>
                <a:spcPct val="110000"/>
              </a:lnSpc>
              <a:spcAft>
                <a:spcPts val="600"/>
              </a:spcAft>
            </a:pPr>
            <a:r>
              <a:rPr sz="1450" b="0">
                <a:solidFill>
                  <a:srgbClr val="1F2A3A"/>
                </a:solidFill>
                <a:latin typeface="맑은 고딕"/>
                <a:ea typeface="맑은 고딕"/>
                <a:cs typeface="맑은 고딕"/>
              </a:rPr>
              <a:t>• 작업지시로 따로 등록된다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쿨러 핀 세척</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조치가 원인에 따라 설비를 세우는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유온이 오르면 팬을 최대로 올린다는 한 줄의 규칙은 원인에 따라 설비를 정지시킬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쿨러 핀이 막힌 설비</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 속도를 100 %로 올린다</a:t>
            </a:r>
          </a:p>
          <a:p>
            <a:pPr algn="l">
              <a:lnSpc>
                <a:spcPct val="110000"/>
              </a:lnSpc>
              <a:spcAft>
                <a:spcPts val="600"/>
              </a:spcAft>
            </a:pPr>
            <a:r>
              <a:rPr sz="1450" b="0">
                <a:solidFill>
                  <a:srgbClr val="1F2A3A"/>
                </a:solidFill>
                <a:latin typeface="맑은 고딕"/>
                <a:ea typeface="맑은 고딕"/>
                <a:cs typeface="맑은 고딕"/>
              </a:rPr>
              <a:t>• 바람이 늘어 유온이 61.4 ℃에서 51.5 ℃로 내려간다</a:t>
            </a:r>
          </a:p>
          <a:p>
            <a:pPr algn="l">
              <a:lnSpc>
                <a:spcPct val="110000"/>
              </a:lnSpc>
              <a:spcAft>
                <a:spcPts val="600"/>
              </a:spcAft>
            </a:pPr>
            <a:r>
              <a:rPr sz="1450" b="0">
                <a:solidFill>
                  <a:srgbClr val="1F2A3A"/>
                </a:solidFill>
                <a:latin typeface="맑은 고딕"/>
                <a:ea typeface="맑은 고딕"/>
                <a:cs typeface="맑은 고딕"/>
              </a:rPr>
              <a:t>• 경보가 해제된다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조치가 듣는다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팬 베어링이 닳은 설비</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같은 조치로 팬 속도를 100 %로 올린다</a:t>
            </a:r>
          </a:p>
          <a:p>
            <a:pPr algn="l">
              <a:lnSpc>
                <a:spcPct val="110000"/>
              </a:lnSpc>
              <a:spcAft>
                <a:spcPts val="600"/>
              </a:spcAft>
            </a:pPr>
            <a:r>
              <a:rPr sz="1450" b="0">
                <a:solidFill>
                  <a:srgbClr val="1F2A3A"/>
                </a:solidFill>
                <a:latin typeface="맑은 고딕"/>
                <a:ea typeface="맑은 고딕"/>
                <a:cs typeface="맑은 고딕"/>
              </a:rPr>
              <a:t>• 팬 진동 VS1이 약 2.8 mm/s로 뛴다</a:t>
            </a:r>
          </a:p>
          <a:p>
            <a:pPr algn="l">
              <a:lnSpc>
                <a:spcPct val="110000"/>
              </a:lnSpc>
              <a:spcAft>
                <a:spcPts val="600"/>
              </a:spcAft>
            </a:pPr>
            <a:r>
              <a:rPr sz="1450" b="0">
                <a:solidFill>
                  <a:srgbClr val="1F2A3A"/>
                </a:solidFill>
                <a:latin typeface="맑은 고딕"/>
                <a:ea typeface="맑은 고딕"/>
                <a:cs typeface="맑은 고딕"/>
              </a:rPr>
              <a:t>• 진동 인터록 2.0 mm/s에 걸려 PLC가 설비를 세운다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설비가 선다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정보, 지식의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수치에 대상, 단위, 기준이 붙어야 정보가 되고, 정보가 원인과 조치로 이어져야 왜와 무엇을에 답하는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내용</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답할 수 있는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데이터</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46.2</a:t>
            </a:r>
          </a:p>
          <a:p>
            <a:pPr algn="l">
              <a:lnSpc>
                <a:spcPct val="110000"/>
              </a:lnSpc>
            </a:pPr>
            <a:r>
              <a:rPr sz="1400" b="0">
                <a:solidFill>
                  <a:srgbClr val="1F2A3A"/>
                </a:solidFill>
                <a:latin typeface="맑은 고딕"/>
                <a:ea typeface="맑은 고딕"/>
                <a:cs typeface="맑은 고딕"/>
              </a:rPr>
              <a:t>무엇을 잰 값인지, 단위가 무엇인지, 높은지 정상인지 알 수 없다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정보</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HYD-01의 냉각 효율이 46.2 %이다</a:t>
            </a:r>
          </a:p>
          <a:p>
            <a:pPr algn="l">
              <a:lnSpc>
                <a:spcPct val="110000"/>
              </a:lnSpc>
            </a:pPr>
            <a:r>
              <a:rPr sz="1400" b="0">
                <a:solidFill>
                  <a:srgbClr val="1F2A3A"/>
                </a:solidFill>
                <a:latin typeface="맑은 고딕"/>
                <a:ea typeface="맑은 고딕"/>
                <a:cs typeface="맑은 고딕"/>
              </a:rPr>
              <a:t>수치에 대상과 단위가 붙었다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지금 얼마인가</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정보</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효율이 기준 70 %보다 낮다</a:t>
            </a:r>
          </a:p>
          <a:p>
            <a:pPr algn="l">
              <a:lnSpc>
                <a:spcPct val="110000"/>
              </a:lnSpc>
            </a:pPr>
            <a:r>
              <a:rPr sz="1400" b="0">
                <a:solidFill>
                  <a:srgbClr val="1F2A3A"/>
                </a:solidFill>
                <a:latin typeface="맑은 고딕"/>
                <a:ea typeface="맑은 고딕"/>
                <a:cs typeface="맑은 고딕"/>
              </a:rPr>
              <a:t>수치에 기준이 붙었다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벗어났는가</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효율이 낮고 팬 진동이 정상이면 쿨러 핀 오염이다</a:t>
            </a:r>
          </a:p>
          <a:p>
            <a:pPr algn="l">
              <a:lnSpc>
                <a:spcPct val="110000"/>
              </a:lnSpc>
            </a:pPr>
            <a:r>
              <a:rPr sz="1400" b="0">
                <a:solidFill>
                  <a:srgbClr val="1F2A3A"/>
                </a:solidFill>
                <a:latin typeface="맑은 고딕"/>
                <a:ea typeface="맑은 고딕"/>
                <a:cs typeface="맑은 고딕"/>
              </a:rPr>
              <a:t>정보가 원인으로 이어졌다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왜 벗어났는가</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오염이면 핀을 세척한다</a:t>
            </a:r>
          </a:p>
          <a:p>
            <a:pPr algn="l">
              <a:lnSpc>
                <a:spcPct val="110000"/>
              </a:lnSpc>
            </a:pPr>
            <a:r>
              <a:rPr sz="1400" b="0">
                <a:solidFill>
                  <a:srgbClr val="1F2A3A"/>
                </a:solidFill>
                <a:latin typeface="맑은 고딕"/>
                <a:ea typeface="맑은 고딕"/>
                <a:cs typeface="맑은 고딕"/>
              </a:rPr>
              <a:t>원인이 조치로 이어졌다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무엇을 할 것인가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pic>
        <p:nvPicPr>
          <p:cNvPr id="6" name="삽화:흩어진정보.svg" descr="illust_7922372342621843442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저장소</a:t>
            </a:r>
          </a:p>
          <a:p>
            <a:pPr algn="ctr">
              <a:lnSpc>
                <a:spcPct val="110000"/>
              </a:lnSpc>
              <a:spcAft>
                <a:spcPts val="100"/>
              </a:spcAft>
            </a:pPr>
            <a:r>
              <a:rPr sz="1300" b="0">
                <a:solidFill>
                  <a:srgbClr val="556175"/>
                </a:solidFill>
                <a:latin typeface="맑은 고딕"/>
                <a:ea typeface="맑은 고딕"/>
                <a:cs typeface="맑은 고딕"/>
              </a:rPr>
              <a:t>지금의 센서 값</a:t>
            </a:r>
          </a:p>
          <a:p>
            <a:pPr algn="ctr">
              <a:lnSpc>
                <a:spcPct val="110000"/>
              </a:lnSpc>
              <a:spcAft>
                <a:spcPts val="100"/>
              </a:spcAft>
            </a:pPr>
            <a:r>
              <a:rPr sz="1300" b="0">
                <a:solidFill>
                  <a:srgbClr val="556175"/>
                </a:solidFill>
                <a:latin typeface="맑은 고딕"/>
                <a:ea typeface="맑은 고딕"/>
                <a:cs typeface="맑은 고딕"/>
              </a:rPr>
              <a:t>CE 46.2 % · TS4 28 ℃</a:t>
            </a:r>
          </a:p>
        </p:txBody>
      </p:sp>
      <p:sp>
        <p:nvSpPr>
          <p:cNvPr id="8" name="TextBox 7"/>
          <p:cNvSpPr txBox="1"/>
          <p:nvPr/>
        </p:nvSpPr>
        <p:spPr>
          <a:xfrm>
            <a:off x="837471" y="52441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PLC의 상태 메시지</a:t>
            </a:r>
          </a:p>
          <a:p>
            <a:pPr algn="ctr">
              <a:lnSpc>
                <a:spcPct val="110000"/>
              </a:lnSpc>
              <a:spcAft>
                <a:spcPts val="100"/>
              </a:spcAft>
            </a:pPr>
            <a:r>
              <a:rPr sz="1300" b="0">
                <a:solidFill>
                  <a:srgbClr val="556175"/>
                </a:solidFill>
                <a:latin typeface="맑은 고딕"/>
                <a:ea typeface="맑은 고딕"/>
                <a:cs typeface="맑은 고딕"/>
              </a:rPr>
              <a:t>설비의 운전 상태</a:t>
            </a:r>
          </a:p>
          <a:p>
            <a:pPr algn="ctr">
              <a:lnSpc>
                <a:spcPct val="110000"/>
              </a:lnSpc>
              <a:spcAft>
                <a:spcPts val="100"/>
              </a:spcAft>
            </a:pPr>
            <a:r>
              <a:rPr sz="1300" b="0">
                <a:solidFill>
                  <a:srgbClr val="556175"/>
                </a:solidFill>
                <a:latin typeface="맑은 고딕"/>
                <a:ea typeface="맑은 고딕"/>
                <a:cs typeface="맑은 고딕"/>
              </a:rPr>
              <a:t>원격 자동 · 팬 60 %</a:t>
            </a:r>
          </a:p>
        </p:txBody>
      </p:sp>
      <p:sp>
        <p:nvSpPr>
          <p:cNvPr id="9" name="TextBox 8"/>
          <p:cNvSpPr txBox="1"/>
          <p:nvPr/>
        </p:nvSpPr>
        <p:spPr>
          <a:xfrm>
            <a:off x="8070466"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매뉴얼 HM-8</a:t>
            </a:r>
          </a:p>
          <a:p>
            <a:pPr algn="ctr">
              <a:lnSpc>
                <a:spcPct val="110000"/>
              </a:lnSpc>
              <a:spcAft>
                <a:spcPts val="100"/>
              </a:spcAft>
            </a:pPr>
            <a:r>
              <a:rPr sz="1300" b="0">
                <a:solidFill>
                  <a:srgbClr val="556175"/>
                </a:solidFill>
                <a:latin typeface="맑은 고딕"/>
                <a:ea typeface="맑은 고딕"/>
                <a:cs typeface="맑은 고딕"/>
              </a:rPr>
              <a:t>원인 후보와 판별 기준</a:t>
            </a:r>
          </a:p>
          <a:p>
            <a:pPr algn="ctr">
              <a:lnSpc>
                <a:spcPct val="110000"/>
              </a:lnSpc>
              <a:spcAft>
                <a:spcPts val="100"/>
              </a:spcAft>
            </a:pPr>
            <a:r>
              <a:rPr sz="1300" b="0">
                <a:solidFill>
                  <a:srgbClr val="556175"/>
                </a:solidFill>
                <a:latin typeface="맑은 고딕"/>
                <a:ea typeface="맑은 고딕"/>
                <a:cs typeface="맑은 고딕"/>
              </a:rPr>
              <a:t>조치 방법</a:t>
            </a:r>
          </a:p>
        </p:txBody>
      </p:sp>
      <p:sp>
        <p:nvSpPr>
          <p:cNvPr id="10" name="TextBox 9"/>
          <p:cNvSpPr txBox="1"/>
          <p:nvPr/>
        </p:nvSpPr>
        <p:spPr>
          <a:xfrm>
            <a:off x="7743181" y="5244129"/>
            <a:ext cx="370922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MES</a:t>
            </a:r>
          </a:p>
          <a:p>
            <a:pPr algn="ctr">
              <a:lnSpc>
                <a:spcPct val="110000"/>
              </a:lnSpc>
              <a:spcAft>
                <a:spcPts val="100"/>
              </a:spcAft>
            </a:pPr>
            <a:r>
              <a:rPr sz="1300" b="0">
                <a:solidFill>
                  <a:srgbClr val="556175"/>
                </a:solidFill>
                <a:latin typeface="맑은 고딕"/>
                <a:ea typeface="맑은 고딕"/>
                <a:cs typeface="맑은 고딕"/>
              </a:rPr>
              <a:t>Manufacturing Execution System</a:t>
            </a:r>
          </a:p>
          <a:p>
            <a:pPr algn="ctr">
              <a:lnSpc>
                <a:spcPct val="110000"/>
              </a:lnSpc>
              <a:spcAft>
                <a:spcPts val="100"/>
              </a:spcAft>
            </a:pPr>
            <a:r>
              <a:rPr sz="1300" b="0">
                <a:solidFill>
                  <a:srgbClr val="556175"/>
                </a:solidFill>
                <a:latin typeface="맑은 고딕"/>
                <a:ea typeface="맑은 고딕"/>
                <a:cs typeface="맑은 고딕"/>
              </a:rPr>
              <a:t>생산 일정의 제약</a:t>
            </a:r>
          </a:p>
          <a:p>
            <a:pPr algn="ctr">
              <a:lnSpc>
                <a:spcPct val="110000"/>
              </a:lnSpc>
              <a:spcAft>
                <a:spcPts val="100"/>
              </a:spcAft>
            </a:pPr>
            <a:r>
              <a:rPr sz="1300" b="0">
                <a:solidFill>
                  <a:srgbClr val="556175"/>
                </a:solidFill>
                <a:latin typeface="맑은 고딕"/>
                <a:ea typeface="맑은 고딕"/>
                <a:cs typeface="맑은 고딕"/>
              </a:rPr>
              <a:t>긴급 오더 납기까지 5.98시간</a:t>
            </a:r>
          </a:p>
        </p:txBody>
      </p:sp>
      <p:sp>
        <p:nvSpPr>
          <p:cNvPr id="11" name="TextBox 10"/>
          <p:cNvSpPr txBox="1"/>
          <p:nvPr/>
        </p:nvSpPr>
        <p:spPr>
          <a:xfrm>
            <a:off x="4677613" y="429864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매뉴얼의 문장에 들어 있는 것과 없는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판별 기준은 매뉴얼에 문장으로 있으나, 그것을 경보와 태그의 값과 조치에 잇는 연결은 어느 시스템에도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a:t>
            </a:r>
            <a:r>
              <a:rPr sz="1300" b="0">
                <a:solidFill>
                  <a:srgbClr val="E8EEF6"/>
                </a:solidFill>
                <a:latin typeface="Consolas"/>
                <a:ea typeface="맑은 고딕"/>
                <a:cs typeface="맑은 고딕"/>
              </a:rPr>
              <a:t> HM-8.4</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먼지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유막으로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a:t>
            </a:r>
          </a:p>
          <a:p>
            <a:pPr algn="l">
              <a:lnSpc>
                <a:spcPct val="110000"/>
              </a:lnSpc>
              <a:spcAft>
                <a:spcPts val="200"/>
              </a:spcAft>
            </a:pP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흔하다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평균이</a:t>
            </a:r>
            <a:r>
              <a:rPr sz="1300" b="0">
                <a:solidFill>
                  <a:srgbClr val="E8EEF6"/>
                </a:solidFill>
                <a:latin typeface="Consolas"/>
                <a:ea typeface="맑은 고딕"/>
                <a:cs typeface="맑은 고딕"/>
              </a:rPr>
              <a:t> 70 % </a:t>
            </a:r>
            <a:r>
              <a:rPr sz="1300" b="0">
                <a:solidFill>
                  <a:srgbClr val="E8EEF6"/>
                </a:solidFill>
                <a:latin typeface="맑은 고딕"/>
                <a:ea typeface="맑은 고딕"/>
                <a:cs typeface="맑은 고딕"/>
              </a:rPr>
              <a:t>미만이고</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평균이</a:t>
            </a:r>
          </a:p>
          <a:p>
            <a:pPr algn="l">
              <a:lnSpc>
                <a:spcPct val="110000"/>
              </a:lnSpc>
              <a:spcAft>
                <a:spcPts val="200"/>
              </a:spcAft>
            </a:pPr>
            <a:r>
              <a:rPr sz="1300" b="0">
                <a:solidFill>
                  <a:srgbClr val="E8EEF6"/>
                </a:solidFill>
                <a:latin typeface="Consolas"/>
                <a:ea typeface="맑은 고딕"/>
                <a:cs typeface="맑은 고딕"/>
              </a:rPr>
              <a:t>0.9 mm/s </a:t>
            </a:r>
            <a:r>
              <a:rPr sz="1300" b="0">
                <a:solidFill>
                  <a:srgbClr val="E8EEF6"/>
                </a:solidFill>
                <a:latin typeface="맑은 고딕"/>
                <a:ea typeface="맑은 고딕"/>
                <a:cs typeface="맑은 고딕"/>
              </a:rPr>
              <a:t>미만</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팬은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이면</a:t>
            </a:r>
          </a:p>
          <a:p>
            <a:pPr algn="l">
              <a:lnSpc>
                <a:spcPct val="110000"/>
              </a:lnSpc>
              <a:spcAft>
                <a:spcPts val="200"/>
              </a:spcAft>
            </a:pP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판정한다</a:t>
            </a: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있는 것</a:t>
            </a:r>
          </a:p>
          <a:p>
            <a:pPr algn="l">
              <a:lnSpc>
                <a:spcPct val="110000"/>
              </a:lnSpc>
              <a:spcAft>
                <a:spcPts val="400"/>
              </a:spcAft>
            </a:pPr>
            <a:r>
              <a:rPr sz="1400" b="0">
                <a:solidFill>
                  <a:srgbClr val="1F2A3A"/>
                </a:solidFill>
                <a:latin typeface="맑은 고딕"/>
                <a:ea typeface="맑은 고딕"/>
                <a:cs typeface="맑은 고딕"/>
              </a:rPr>
              <a:t>원인 후보, 확인할 값, 기준이다. 사람이 읽고 해석해야 하는 문장이다. 아래 세 연결은 없다.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경보 → 매뉴얼 대목</a:t>
            </a:r>
          </a:p>
          <a:p>
            <a:pPr algn="l">
              <a:lnSpc>
                <a:spcPct val="110000"/>
              </a:lnSpc>
              <a:spcAft>
                <a:spcPts val="400"/>
              </a:spcAft>
            </a:pPr>
            <a:r>
              <a:rPr sz="1400" b="0">
                <a:solidFill>
                  <a:srgbClr val="1F2A3A"/>
                </a:solidFill>
                <a:latin typeface="맑은 고딕"/>
                <a:ea typeface="맑은 고딕"/>
                <a:cs typeface="맑은 고딕"/>
              </a:rPr>
              <a:t>이 경보에는 매뉴얼의 어느 대목이 해당하는가</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기준 → 태그 값</a:t>
            </a:r>
          </a:p>
          <a:p>
            <a:pPr algn="l">
              <a:lnSpc>
                <a:spcPct val="110000"/>
              </a:lnSpc>
              <a:spcAft>
                <a:spcPts val="400"/>
              </a:spcAft>
            </a:pPr>
            <a:r>
              <a:rPr sz="1400" b="0">
                <a:solidFill>
                  <a:srgbClr val="1F2A3A"/>
                </a:solidFill>
                <a:latin typeface="맑은 고딕"/>
                <a:ea typeface="맑은 고딕"/>
                <a:cs typeface="맑은 고딕"/>
              </a:rPr>
              <a:t>그 대목의 기준은 어느 태그의 값과 비교하는가</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원인 → 조치</a:t>
            </a:r>
          </a:p>
          <a:p>
            <a:pPr algn="l">
              <a:lnSpc>
                <a:spcPct val="110000"/>
              </a:lnSpc>
              <a:spcAft>
                <a:spcPts val="400"/>
              </a:spcAft>
            </a:pPr>
            <a:r>
              <a:rPr sz="1400" b="0">
                <a:solidFill>
                  <a:srgbClr val="1F2A3A"/>
                </a:solidFill>
                <a:latin typeface="맑은 고딕"/>
                <a:ea typeface="맑은 고딕"/>
                <a:cs typeface="맑은 고딕"/>
              </a:rPr>
              <a:t>그 원인이면 어떤 조치가 맞는가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숙련자가 증상에서 조치까지를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지금까지는 숙련자가 흩어진 정보를 머릿속에서 이어 증상에서 조치에 이르렀다.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증상 확인</a:t>
            </a:r>
          </a:p>
          <a:p>
            <a:pPr algn="ctr">
              <a:lnSpc>
                <a:spcPct val="110000"/>
              </a:lnSpc>
              <a:spcAft>
                <a:spcPts val="400"/>
              </a:spcAft>
            </a:pPr>
            <a:r>
              <a:rPr sz="1250" b="0">
                <a:solidFill>
                  <a:srgbClr val="1F2A3A"/>
                </a:solidFill>
                <a:latin typeface="맑은 고딕"/>
                <a:ea typeface="맑은 고딕"/>
                <a:cs typeface="맑은 고딕"/>
              </a:rPr>
              <a:t>경보와 화면에서</a:t>
            </a:r>
          </a:p>
          <a:p>
            <a:pPr algn="ctr">
              <a:lnSpc>
                <a:spcPct val="110000"/>
              </a:lnSpc>
              <a:spcAft>
                <a:spcPts val="400"/>
              </a:spcAft>
            </a:pPr>
            <a:r>
              <a:rPr sz="1250" b="0">
                <a:solidFill>
                  <a:srgbClr val="1F2A3A"/>
                </a:solidFill>
                <a:latin typeface="맑은 고딕"/>
                <a:ea typeface="맑은 고딕"/>
                <a:cs typeface="맑은 고딕"/>
              </a:rPr>
              <a:t>유온이 오르고</a:t>
            </a:r>
          </a:p>
          <a:p>
            <a:pPr algn="ctr">
              <a:lnSpc>
                <a:spcPct val="110000"/>
              </a:lnSpc>
              <a:spcAft>
                <a:spcPts val="400"/>
              </a:spcAft>
            </a:pPr>
            <a:r>
              <a:rPr sz="1250" b="0">
                <a:solidFill>
                  <a:srgbClr val="1F2A3A"/>
                </a:solidFill>
                <a:latin typeface="맑은 고딕"/>
                <a:ea typeface="맑은 고딕"/>
                <a:cs typeface="맑은 고딕"/>
              </a:rPr>
              <a:t>냉각 효율이</a:t>
            </a:r>
          </a:p>
          <a:p>
            <a:pPr algn="ctr">
              <a:lnSpc>
                <a:spcPct val="110000"/>
              </a:lnSpc>
              <a:spcAft>
                <a:spcPts val="400"/>
              </a:spcAft>
            </a:pPr>
            <a:r>
              <a:rPr sz="1250" b="0">
                <a:solidFill>
                  <a:srgbClr val="1F2A3A"/>
                </a:solidFill>
                <a:latin typeface="맑은 고딕"/>
                <a:ea typeface="맑은 고딕"/>
                <a:cs typeface="맑은 고딕"/>
              </a:rPr>
              <a:t>떨어진 것을 본다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alert-triangle" descr="alert-triangle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고장 유형 짐작</a:t>
            </a:r>
          </a:p>
          <a:p>
            <a:pPr algn="ctr">
              <a:lnSpc>
                <a:spcPct val="110000"/>
              </a:lnSpc>
              <a:spcAft>
                <a:spcPts val="400"/>
              </a:spcAft>
            </a:pPr>
            <a:r>
              <a:rPr sz="1250" b="0">
                <a:solidFill>
                  <a:srgbClr val="1F2A3A"/>
                </a:solidFill>
                <a:latin typeface="맑은 고딕"/>
                <a:ea typeface="맑은 고딕"/>
                <a:cs typeface="맑은 고딕"/>
              </a:rPr>
              <a:t>이 증상이면</a:t>
            </a:r>
          </a:p>
          <a:p>
            <a:pPr algn="ctr">
              <a:lnSpc>
                <a:spcPct val="110000"/>
              </a:lnSpc>
              <a:spcAft>
                <a:spcPts val="400"/>
              </a:spcAft>
            </a:pPr>
            <a:r>
              <a:rPr sz="1250" b="0">
                <a:solidFill>
                  <a:srgbClr val="1F2A3A"/>
                </a:solidFill>
                <a:latin typeface="맑은 고딕"/>
                <a:ea typeface="맑은 고딕"/>
                <a:cs typeface="맑은 고딕"/>
              </a:rPr>
              <a:t>쿨러가 식히는</a:t>
            </a:r>
          </a:p>
          <a:p>
            <a:pPr algn="ctr">
              <a:lnSpc>
                <a:spcPct val="110000"/>
              </a:lnSpc>
              <a:spcAft>
                <a:spcPts val="400"/>
              </a:spcAft>
            </a:pPr>
            <a:r>
              <a:rPr sz="1250" b="0">
                <a:solidFill>
                  <a:srgbClr val="1F2A3A"/>
                </a:solidFill>
                <a:latin typeface="맑은 고딕"/>
                <a:ea typeface="맑은 고딕"/>
                <a:cs typeface="맑은 고딕"/>
              </a:rPr>
              <a:t>능력을 잃은</a:t>
            </a:r>
          </a:p>
          <a:p>
            <a:pPr algn="ctr">
              <a:lnSpc>
                <a:spcPct val="110000"/>
              </a:lnSpc>
              <a:spcAft>
                <a:spcPts val="400"/>
              </a:spcAft>
            </a:pPr>
            <a:r>
              <a:rPr sz="1250" b="0">
                <a:solidFill>
                  <a:srgbClr val="1F2A3A"/>
                </a:solidFill>
                <a:latin typeface="맑은 고딕"/>
                <a:ea typeface="맑은 고딕"/>
                <a:cs typeface="맑은 고딕"/>
              </a:rPr>
              <a:t>것이라고 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list-check" descr="list-check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후보</a:t>
            </a:r>
          </a:p>
          <a:p>
            <a:pPr algn="ctr">
              <a:lnSpc>
                <a:spcPct val="110000"/>
              </a:lnSpc>
              <a:spcAft>
                <a:spcPts val="400"/>
              </a:spcAft>
            </a:pPr>
            <a:r>
              <a:rPr sz="1250" b="0">
                <a:solidFill>
                  <a:srgbClr val="1F2A3A"/>
                </a:solidFill>
                <a:latin typeface="맑은 고딕"/>
                <a:ea typeface="맑은 고딕"/>
                <a:cs typeface="맑은 고딕"/>
              </a:rPr>
              <a:t>경험과 매뉴얼에서</a:t>
            </a:r>
          </a:p>
          <a:p>
            <a:pPr algn="ctr">
              <a:lnSpc>
                <a:spcPct val="110000"/>
              </a:lnSpc>
              <a:spcAft>
                <a:spcPts val="400"/>
              </a:spcAft>
            </a:pPr>
            <a:r>
              <a:rPr sz="1250" b="0">
                <a:solidFill>
                  <a:srgbClr val="1F2A3A"/>
                </a:solidFill>
                <a:latin typeface="맑은 고딕"/>
                <a:ea typeface="맑은 고딕"/>
                <a:cs typeface="맑은 고딕"/>
              </a:rPr>
              <a:t>핀 오염,</a:t>
            </a:r>
          </a:p>
          <a:p>
            <a:pPr algn="ctr">
              <a:lnSpc>
                <a:spcPct val="110000"/>
              </a:lnSpc>
              <a:spcAft>
                <a:spcPts val="400"/>
              </a:spcAft>
            </a:pPr>
            <a:r>
              <a:rPr sz="1250" b="0">
                <a:solidFill>
                  <a:srgbClr val="1F2A3A"/>
                </a:solidFill>
                <a:latin typeface="맑은 고딕"/>
                <a:ea typeface="맑은 고딕"/>
                <a:cs typeface="맑은 고딕"/>
              </a:rPr>
              <a:t>팬 구동 불량,</a:t>
            </a:r>
          </a:p>
          <a:p>
            <a:pPr algn="ctr">
              <a:lnSpc>
                <a:spcPct val="110000"/>
              </a:lnSpc>
              <a:spcAft>
                <a:spcPts val="400"/>
              </a:spcAft>
            </a:pPr>
            <a:r>
              <a:rPr sz="1250" b="0">
                <a:solidFill>
                  <a:srgbClr val="1F2A3A"/>
                </a:solidFill>
                <a:latin typeface="맑은 고딕"/>
                <a:ea typeface="맑은 고딕"/>
                <a:cs typeface="맑은 고딕"/>
              </a:rPr>
              <a:t>주변 온도를 꼽는다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증거 대조</a:t>
            </a:r>
          </a:p>
          <a:p>
            <a:pPr algn="ctr">
              <a:lnSpc>
                <a:spcPct val="110000"/>
              </a:lnSpc>
              <a:spcAft>
                <a:spcPts val="400"/>
              </a:spcAft>
            </a:pPr>
            <a:r>
              <a:rPr sz="1250" b="0">
                <a:solidFill>
                  <a:srgbClr val="1F2A3A"/>
                </a:solidFill>
                <a:latin typeface="맑은 고딕"/>
                <a:ea typeface="맑은 고딕"/>
                <a:cs typeface="맑은 고딕"/>
              </a:rPr>
              <a:t>후보마다 어느</a:t>
            </a:r>
          </a:p>
          <a:p>
            <a:pPr algn="ctr">
              <a:lnSpc>
                <a:spcPct val="110000"/>
              </a:lnSpc>
              <a:spcAft>
                <a:spcPts val="400"/>
              </a:spcAft>
            </a:pPr>
            <a:r>
              <a:rPr sz="1250" b="0">
                <a:solidFill>
                  <a:srgbClr val="1F2A3A"/>
                </a:solidFill>
                <a:latin typeface="맑은 고딕"/>
                <a:ea typeface="맑은 고딕"/>
                <a:cs typeface="맑은 고딕"/>
              </a:rPr>
              <a:t>센서를 볼지 알고</a:t>
            </a:r>
          </a:p>
          <a:p>
            <a:pPr algn="ctr">
              <a:lnSpc>
                <a:spcPct val="110000"/>
              </a:lnSpc>
              <a:spcAft>
                <a:spcPts val="400"/>
              </a:spcAft>
            </a:pPr>
            <a:r>
              <a:rPr sz="1250" b="0">
                <a:solidFill>
                  <a:srgbClr val="1F2A3A"/>
                </a:solidFill>
                <a:latin typeface="맑은 고딕"/>
                <a:ea typeface="맑은 고딕"/>
                <a:cs typeface="맑은 고딕"/>
              </a:rPr>
              <a:t>값을 찾아</a:t>
            </a:r>
          </a:p>
          <a:p>
            <a:pPr algn="ctr">
              <a:lnSpc>
                <a:spcPct val="110000"/>
              </a:lnSpc>
              <a:spcAft>
                <a:spcPts val="400"/>
              </a:spcAft>
            </a:pPr>
            <a:r>
              <a:rPr sz="1250" b="0">
                <a:solidFill>
                  <a:srgbClr val="1F2A3A"/>
                </a:solidFill>
                <a:latin typeface="맑은 고딕"/>
                <a:ea typeface="맑은 고딕"/>
                <a:cs typeface="맑은 고딕"/>
              </a:rPr>
              <a:t>기준과 비교한다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user-check" descr="user-check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 선택</a:t>
            </a:r>
          </a:p>
          <a:p>
            <a:pPr algn="ctr">
              <a:lnSpc>
                <a:spcPct val="110000"/>
              </a:lnSpc>
              <a:spcAft>
                <a:spcPts val="400"/>
              </a:spcAft>
            </a:pPr>
            <a:r>
              <a:rPr sz="1250" b="0">
                <a:solidFill>
                  <a:srgbClr val="1F2A3A"/>
                </a:solidFill>
                <a:latin typeface="맑은 고딕"/>
                <a:ea typeface="맑은 고딕"/>
                <a:cs typeface="맑은 고딕"/>
              </a:rPr>
              <a:t>원인에 맞는</a:t>
            </a:r>
          </a:p>
          <a:p>
            <a:pPr algn="ctr">
              <a:lnSpc>
                <a:spcPct val="110000"/>
              </a:lnSpc>
              <a:spcAft>
                <a:spcPts val="400"/>
              </a:spcAft>
            </a:pPr>
            <a:r>
              <a:rPr sz="1250" b="0">
                <a:solidFill>
                  <a:srgbClr val="1F2A3A"/>
                </a:solidFill>
                <a:latin typeface="맑은 고딕"/>
                <a:ea typeface="맑은 고딕"/>
                <a:cs typeface="맑은 고딕"/>
              </a:rPr>
              <a:t>조치를 고르고</a:t>
            </a:r>
          </a:p>
          <a:p>
            <a:pPr algn="ctr">
              <a:lnSpc>
                <a:spcPct val="110000"/>
              </a:lnSpc>
              <a:spcAft>
                <a:spcPts val="400"/>
              </a:spcAft>
            </a:pPr>
            <a:r>
              <a:rPr sz="1250" b="0">
                <a:solidFill>
                  <a:srgbClr val="1F2A3A"/>
                </a:solidFill>
                <a:latin typeface="맑은 고딕"/>
                <a:ea typeface="맑은 고딕"/>
                <a:cs typeface="맑은 고딕"/>
              </a:rPr>
              <a:t>생산 일정과</a:t>
            </a:r>
          </a:p>
          <a:p>
            <a:pPr algn="ctr">
              <a:lnSpc>
                <a:spcPct val="110000"/>
              </a:lnSpc>
              <a:spcAft>
                <a:spcPts val="400"/>
              </a:spcAft>
            </a:pPr>
            <a:r>
              <a:rPr sz="1250" b="0">
                <a:solidFill>
                  <a:srgbClr val="1F2A3A"/>
                </a:solidFill>
                <a:latin typeface="맑은 고딕"/>
                <a:ea typeface="맑은 고딕"/>
                <a:cs typeface="맑은 고딕"/>
              </a:rPr>
              <a:t>함께 따진다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머릿속에서 잇는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사람의 머릿속에 있는 연결은 사람마다 다르고 그 사람이 없으면 쓸 수 없으며 컴퓨터가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사람마다 다르다</a:t>
            </a:r>
          </a:p>
          <a:p>
            <a:pPr algn="l">
              <a:lnSpc>
                <a:spcPct val="110000"/>
              </a:lnSpc>
              <a:spcAft>
                <a:spcPts val="400"/>
              </a:spcAft>
            </a:pPr>
            <a:r>
              <a:rPr sz="1400" b="0">
                <a:solidFill>
                  <a:srgbClr val="1F2A3A"/>
                </a:solidFill>
                <a:latin typeface="맑은 고딕"/>
                <a:ea typeface="맑은 고딕"/>
                <a:cs typeface="맑은 고딕"/>
              </a:rPr>
              <a:t>• 같은 경보에서 떠올리는 후보와 확인하는 순서가 경험에 따라 달라진다</a:t>
            </a:r>
          </a:p>
          <a:p>
            <a:pPr algn="l">
              <a:lnSpc>
                <a:spcPct val="110000"/>
              </a:lnSpc>
              <a:spcAft>
                <a:spcPts val="400"/>
              </a:spcAft>
            </a:pPr>
            <a:r>
              <a:rPr sz="1400" b="0">
                <a:solidFill>
                  <a:srgbClr val="1F2A3A"/>
                </a:solidFill>
                <a:latin typeface="맑은 고딕"/>
                <a:ea typeface="맑은 고딕"/>
                <a:cs typeface="맑은 고딕"/>
              </a:rPr>
              <a:t>• 판단의 근거가 기록으로 남지 않는다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일관성</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user-off" descr="user-off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자리에 없으면 멈춘다</a:t>
            </a:r>
          </a:p>
          <a:p>
            <a:pPr algn="l">
              <a:lnSpc>
                <a:spcPct val="110000"/>
              </a:lnSpc>
              <a:spcAft>
                <a:spcPts val="400"/>
              </a:spcAft>
            </a:pPr>
            <a:r>
              <a:rPr sz="1400" b="0">
                <a:solidFill>
                  <a:srgbClr val="1F2A3A"/>
                </a:solidFill>
                <a:latin typeface="맑은 고딕"/>
                <a:ea typeface="맑은 고딕"/>
                <a:cs typeface="맑은 고딕"/>
              </a:rPr>
              <a:t>• 숙련자가 없는 시간에는 판단이 늦어진다</a:t>
            </a:r>
          </a:p>
          <a:p>
            <a:pPr algn="l">
              <a:lnSpc>
                <a:spcPct val="110000"/>
              </a:lnSpc>
              <a:spcAft>
                <a:spcPts val="400"/>
              </a:spcAft>
            </a:pPr>
            <a:r>
              <a:rPr sz="1400" b="0">
                <a:solidFill>
                  <a:srgbClr val="1F2A3A"/>
                </a:solidFill>
                <a:latin typeface="맑은 고딕"/>
                <a:ea typeface="맑은 고딕"/>
                <a:cs typeface="맑은 고딕"/>
              </a:rPr>
              <a:t>• 이 사건에서 유온은 경보 뒤 2분이 안 되어 61.8 ℃까지 올랐다</a:t>
            </a:r>
          </a:p>
        </p:txBody>
      </p:sp>
      <p:sp>
        <p:nvSpPr>
          <p:cNvPr id="16" name="Rounded Rectangle 15"/>
          <p:cNvSpPr/>
          <p:nvPr/>
        </p:nvSpPr>
        <p:spPr>
          <a:xfrm>
            <a:off x="4566818" y="525830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가용성</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따라갈 수 없다</a:t>
            </a:r>
          </a:p>
          <a:p>
            <a:pPr algn="l">
              <a:lnSpc>
                <a:spcPct val="110000"/>
              </a:lnSpc>
              <a:spcAft>
                <a:spcPts val="400"/>
              </a:spcAft>
            </a:pPr>
            <a:r>
              <a:rPr sz="1400" b="0">
                <a:solidFill>
                  <a:srgbClr val="1F2A3A"/>
                </a:solidFill>
                <a:latin typeface="맑은 고딕"/>
                <a:ea typeface="맑은 고딕"/>
                <a:cs typeface="맑은 고딕"/>
              </a:rPr>
              <a:t>• 연결이 어디에도 적혀 있지 않다</a:t>
            </a:r>
          </a:p>
          <a:p>
            <a:pPr algn="l">
              <a:lnSpc>
                <a:spcPct val="110000"/>
              </a:lnSpc>
              <a:spcAft>
                <a:spcPts val="400"/>
              </a:spcAft>
            </a:pPr>
            <a:r>
              <a:rPr sz="1400" b="0">
                <a:solidFill>
                  <a:srgbClr val="1F2A3A"/>
                </a:solidFill>
                <a:latin typeface="맑은 고딕"/>
                <a:ea typeface="맑은 고딕"/>
                <a:cs typeface="맑은 고딕"/>
              </a:rPr>
              <a:t>• 프로그램이나 AI가 같은 길을 밟을 수 없다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자동화</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표와 문서에 적어 두는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표와 문서는 사람이 읽기에는 충분하지만 대상 사이의 연결을 컴퓨터가 따라가기에는 맞지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table" descr="table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표에 적는다</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증상, 원인, 조치를 칸에 나누어 적는다</a:t>
            </a:r>
          </a:p>
          <a:p>
            <a:pPr algn="l">
              <a:lnSpc>
                <a:spcPct val="110000"/>
              </a:lnSpc>
              <a:spcAft>
                <a:spcPts val="600"/>
              </a:spcAft>
            </a:pPr>
            <a:r>
              <a:rPr sz="1450" b="0">
                <a:solidFill>
                  <a:srgbClr val="1F2A3A"/>
                </a:solidFill>
                <a:latin typeface="맑은 고딕"/>
                <a:ea typeface="맑은 고딕"/>
                <a:cs typeface="맑은 고딕"/>
              </a:rPr>
              <a:t>• 한 고장에 원인이 여럿이고 원인마다 증거가 여럿이면 칸이 반복된다</a:t>
            </a:r>
          </a:p>
          <a:p>
            <a:pPr algn="l">
              <a:lnSpc>
                <a:spcPct val="110000"/>
              </a:lnSpc>
              <a:spcAft>
                <a:spcPts val="600"/>
              </a:spcAft>
            </a:pPr>
            <a:r>
              <a:rPr sz="1450" b="0">
                <a:solidFill>
                  <a:srgbClr val="1F2A3A"/>
                </a:solidFill>
                <a:latin typeface="맑은 고딕"/>
                <a:ea typeface="맑은 고딕"/>
                <a:cs typeface="맑은 고딕"/>
              </a:rPr>
              <a:t>• 예: 「쿨러 냉각 성능 상실」이 원인 셋과 확인할 값 CE · VS1 · VS1 · TS4의 네 줄에 반복된다</a:t>
            </a:r>
          </a:p>
          <a:p>
            <a:pPr algn="l">
              <a:lnSpc>
                <a:spcPct val="110000"/>
              </a:lnSpc>
              <a:spcAft>
                <a:spcPts val="600"/>
              </a:spcAft>
            </a:pPr>
            <a:r>
              <a:rPr sz="1450" b="0">
                <a:solidFill>
                  <a:srgbClr val="1F2A3A"/>
                </a:solidFill>
                <a:latin typeface="맑은 고딕"/>
                <a:ea typeface="맑은 고딕"/>
                <a:cs typeface="맑은 고딕"/>
              </a:rPr>
              <a:t>• 여러 표를 건너가며 이어 붙이는 일은 다시 사람의 몫이 된다</a:t>
            </a:r>
          </a:p>
        </p:txBody>
      </p:sp>
      <p:sp>
        <p:nvSpPr>
          <p:cNvPr id="11" name="Rounded Rectangle 10"/>
          <p:cNvSpPr/>
          <p:nvPr/>
        </p:nvSpPr>
        <p:spPr>
          <a:xfrm>
            <a:off x="868680" y="5547296"/>
            <a:ext cx="17221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연결이 칸 밖에 있다</a:t>
            </a:r>
          </a:p>
        </p:txBody>
      </p:sp>
      <p:sp>
        <p:nvSpPr>
          <p:cNvPr id="13" name="Rounded Rectangle 12"/>
          <p:cNvSpPr/>
          <p:nvPr/>
        </p:nvSpPr>
        <p:spPr>
          <a:xfrm>
            <a:off x="6461607" y="1978215"/>
            <a:ext cx="5181447" cy="4026281"/>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179383"/>
            <a:ext cx="731520" cy="731520"/>
          </a:xfrm>
          <a:prstGeom prst="ellipse">
            <a:avLst/>
          </a:prstGeom>
          <a:solidFill>
            <a:srgbClr val="FFFFFF"/>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문서에 적는다</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매뉴얼 HM-8처럼 문장으로 풀어 적는다</a:t>
            </a:r>
          </a:p>
          <a:p>
            <a:pPr algn="l">
              <a:lnSpc>
                <a:spcPct val="110000"/>
              </a:lnSpc>
              <a:spcAft>
                <a:spcPts val="600"/>
              </a:spcAft>
            </a:pPr>
            <a:r>
              <a:rPr sz="1450" b="0">
                <a:solidFill>
                  <a:srgbClr val="1F2A3A"/>
                </a:solidFill>
                <a:latin typeface="맑은 고딕"/>
                <a:ea typeface="맑은 고딕"/>
                <a:cs typeface="맑은 고딕"/>
              </a:rPr>
              <a:t>• 사람이 읽고 해석해야 판단에 쓸 수 있다</a:t>
            </a:r>
          </a:p>
          <a:p>
            <a:pPr algn="l">
              <a:lnSpc>
                <a:spcPct val="110000"/>
              </a:lnSpc>
              <a:spcAft>
                <a:spcPts val="600"/>
              </a:spcAft>
            </a:pPr>
            <a:r>
              <a:rPr sz="1450" b="0">
                <a:solidFill>
                  <a:srgbClr val="1F2A3A"/>
                </a:solidFill>
                <a:latin typeface="맑은 고딕"/>
                <a:ea typeface="맑은 고딕"/>
                <a:cs typeface="맑은 고딕"/>
              </a:rPr>
              <a:t>• 문서마다 같은 대상을 다른 말로 부르기도 한다</a:t>
            </a:r>
          </a:p>
        </p:txBody>
      </p:sp>
      <p:sp>
        <p:nvSpPr>
          <p:cNvPr id="18" name="Rounded Rectangle 17"/>
          <p:cNvSpPr/>
          <p:nvPr/>
        </p:nvSpPr>
        <p:spPr>
          <a:xfrm>
            <a:off x="6781647" y="5547296"/>
            <a:ext cx="147828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547296"/>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해석이 필요하다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규칙을 프로그램 코드에 넣는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규칙을 코드에 직접 넣으면 컴퓨터는 실행할 수 있지만 지식이 코드 안에 묻혀 고치거나 설명하기 어렵다.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코드로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옮긴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if ts1 &gt; 55 and ce &lt; 70:</a:t>
            </a:r>
          </a:p>
          <a:p>
            <a:pPr algn="l">
              <a:lnSpc>
                <a:spcPct val="110000"/>
              </a:lnSpc>
              <a:spcAft>
                <a:spcPts val="200"/>
              </a:spcAft>
            </a:pPr>
            <a:r>
              <a:rPr sz="1300" b="0">
                <a:solidFill>
                  <a:srgbClr val="E8EEF6"/>
                </a:solidFill>
                <a:latin typeface="Consolas"/>
                <a:ea typeface="맑은 고딕"/>
                <a:cs typeface="맑은 고딕"/>
              </a:rPr>
              <a:t>    if vs1 &gt;= 0.9:</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elif ts4 &gt;= 35:</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else:</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fan_speed = 100</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되는 일</a:t>
            </a:r>
          </a:p>
          <a:p>
            <a:pPr algn="l">
              <a:lnSpc>
                <a:spcPct val="110000"/>
              </a:lnSpc>
              <a:spcAft>
                <a:spcPts val="400"/>
              </a:spcAft>
            </a:pPr>
            <a:r>
              <a:rPr sz="1400" b="0">
                <a:solidFill>
                  <a:srgbClr val="1F2A3A"/>
                </a:solidFill>
                <a:latin typeface="맑은 고딕"/>
                <a:ea typeface="맑은 고딕"/>
                <a:cs typeface="맑은 고딕"/>
              </a:rPr>
              <a:t>조건과 결과를 그대로 옮겼으므로 컴퓨터가 바로 실행한다.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고치기 어렵다</a:t>
            </a:r>
          </a:p>
          <a:p>
            <a:pPr algn="l">
              <a:lnSpc>
                <a:spcPct val="110000"/>
              </a:lnSpc>
              <a:spcAft>
                <a:spcPts val="400"/>
              </a:spcAft>
            </a:pPr>
            <a:r>
              <a:rPr sz="1400" b="0">
                <a:solidFill>
                  <a:srgbClr val="1F2A3A"/>
                </a:solidFill>
                <a:latin typeface="맑은 고딕"/>
                <a:ea typeface="맑은 고딕"/>
                <a:cs typeface="맑은 고딕"/>
              </a:rPr>
              <a:t>매뉴얼의 기준이나 원인 후보가 바뀔 때마다 개발자가 코드를 고쳐야 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설명하기 어렵다</a:t>
            </a:r>
          </a:p>
          <a:p>
            <a:pPr algn="l">
              <a:lnSpc>
                <a:spcPct val="110000"/>
              </a:lnSpc>
              <a:spcAft>
                <a:spcPts val="400"/>
              </a:spcAft>
            </a:pPr>
            <a:r>
              <a:rPr sz="1400" b="0">
                <a:solidFill>
                  <a:srgbClr val="1F2A3A"/>
                </a:solidFill>
                <a:latin typeface="맑은 고딕"/>
                <a:ea typeface="맑은 고딕"/>
                <a:cs typeface="맑은 고딕"/>
              </a:rPr>
              <a:t>왜 그 원인인지, 근거가 매뉴얼의 어디인지가 코드에 남지 않는다.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AI에게 그대로 묻는 방식과 지식을 조회하게 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AI는 이 설비의 지식과 지금의 값을 갖고 있지 않으므로, 근거가 되는 지식을 조회하게 해야 답을 믿을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그대로 묻는다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일반적인 유압 설비 지식으로 그럴듯한 답을 낸다</a:t>
            </a:r>
          </a:p>
          <a:p>
            <a:pPr algn="l">
              <a:lnSpc>
                <a:spcPct val="110000"/>
              </a:lnSpc>
              <a:spcAft>
                <a:spcPts val="600"/>
              </a:spcAft>
            </a:pPr>
            <a:r>
              <a:rPr sz="1450" b="0">
                <a:solidFill>
                  <a:srgbClr val="1F2A3A"/>
                </a:solidFill>
                <a:latin typeface="맑은 고딕"/>
                <a:ea typeface="맑은 고딕"/>
                <a:cs typeface="맑은 고딕"/>
              </a:rPr>
              <a:t>• 이 설비의 매뉴얼과 판별 기준을 알지 못한다</a:t>
            </a:r>
          </a:p>
          <a:p>
            <a:pPr algn="l">
              <a:lnSpc>
                <a:spcPct val="110000"/>
              </a:lnSpc>
              <a:spcAft>
                <a:spcPts val="600"/>
              </a:spcAft>
            </a:pPr>
            <a:r>
              <a:rPr sz="1450" b="0">
                <a:solidFill>
                  <a:srgbClr val="1F2A3A"/>
                </a:solidFill>
                <a:latin typeface="맑은 고딕"/>
                <a:ea typeface="맑은 고딕"/>
                <a:cs typeface="맑은 고딕"/>
              </a:rPr>
              <a:t>• 지금의 센서 값을 보지 못한다</a:t>
            </a:r>
          </a:p>
          <a:p>
            <a:pPr algn="l">
              <a:lnSpc>
                <a:spcPct val="110000"/>
              </a:lnSpc>
              <a:spcAft>
                <a:spcPts val="600"/>
              </a:spcAft>
            </a:pPr>
            <a:r>
              <a:rPr sz="1450" b="0">
                <a:solidFill>
                  <a:srgbClr val="1F2A3A"/>
                </a:solidFill>
                <a:latin typeface="맑은 고딕"/>
                <a:ea typeface="맑은 고딕"/>
                <a:cs typeface="맑은 고딕"/>
              </a:rPr>
              <a:t>• 답의 근거를 확인할 방법이 없다</a:t>
            </a:r>
          </a:p>
        </p:txBody>
      </p:sp>
      <p:sp>
        <p:nvSpPr>
          <p:cNvPr id="11" name="Rounded Rectangle 10"/>
          <p:cNvSpPr/>
          <p:nvPr/>
        </p:nvSpPr>
        <p:spPr>
          <a:xfrm>
            <a:off x="868680" y="5246433"/>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근거를 확인할 수 없다</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report-search" descr="report-searc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조회하게 한다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적어 둔 관계를 따라 원인 후보와 판별 기준을 찾는다</a:t>
            </a:r>
          </a:p>
          <a:p>
            <a:pPr algn="l">
              <a:lnSpc>
                <a:spcPct val="110000"/>
              </a:lnSpc>
              <a:spcAft>
                <a:spcPts val="600"/>
              </a:spcAft>
            </a:pPr>
            <a:r>
              <a:rPr sz="1450" b="0">
                <a:solidFill>
                  <a:srgbClr val="1F2A3A"/>
                </a:solidFill>
                <a:latin typeface="맑은 고딕"/>
                <a:ea typeface="맑은 고딕"/>
                <a:cs typeface="맑은 고딕"/>
              </a:rPr>
              <a:t>• 기준에 적힌 값을 저장소에서 읽어 대조한다</a:t>
            </a:r>
          </a:p>
          <a:p>
            <a:pPr algn="l">
              <a:lnSpc>
                <a:spcPct val="110000"/>
              </a:lnSpc>
              <a:spcAft>
                <a:spcPts val="600"/>
              </a:spcAft>
            </a:pPr>
            <a:r>
              <a:rPr sz="1450" b="0">
                <a:solidFill>
                  <a:srgbClr val="1F2A3A"/>
                </a:solidFill>
                <a:latin typeface="맑은 고딕"/>
                <a:ea typeface="맑은 고딕"/>
                <a:cs typeface="맑은 고딕"/>
              </a:rPr>
              <a:t>• 값이 오래되었거나 비어 있으면 판정을 보류한다</a:t>
            </a:r>
          </a:p>
          <a:p>
            <a:pPr algn="l">
              <a:lnSpc>
                <a:spcPct val="110000"/>
              </a:lnSpc>
              <a:spcAft>
                <a:spcPts val="600"/>
              </a:spcAft>
            </a:pPr>
            <a:r>
              <a:rPr sz="1450" b="0">
                <a:solidFill>
                  <a:srgbClr val="1F2A3A"/>
                </a:solidFill>
                <a:latin typeface="맑은 고딕"/>
                <a:ea typeface="맑은 고딕"/>
                <a:cs typeface="맑은 고딕"/>
              </a:rPr>
              <a:t>• 어떤 지식과 값으로 판단했는지가 기록에 남는다</a:t>
            </a:r>
          </a:p>
        </p:txBody>
      </p:sp>
      <p:sp>
        <p:nvSpPr>
          <p:cNvPr id="18" name="Rounded Rectangle 17"/>
          <p:cNvSpPr/>
          <p:nvPr/>
        </p:nvSpPr>
        <p:spPr>
          <a:xfrm>
            <a:off x="6781647" y="5246433"/>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근거가 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필요한 것: 사람과 컴퓨터가 함께 읽는 관계의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것은 대상과 그 사이의 관계를 사람도 검토할 수 있고 컴퓨터도 따라갈 수 있게 적어 둔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사람이 검토한다</a:t>
            </a:r>
          </a:p>
          <a:p>
            <a:pPr algn="l">
              <a:lnSpc>
                <a:spcPct val="110000"/>
              </a:lnSpc>
              <a:spcAft>
                <a:spcPts val="400"/>
              </a:spcAft>
            </a:pPr>
            <a:r>
              <a:rPr sz="1400" b="0">
                <a:solidFill>
                  <a:srgbClr val="1F2A3A"/>
                </a:solidFill>
                <a:latin typeface="맑은 고딕"/>
                <a:ea typeface="맑은 고딕"/>
                <a:cs typeface="맑은 고딕"/>
              </a:rPr>
              <a:t>현장 담당자가 읽고 맞는지 확인할 수 있어야 한다</a:t>
            </a:r>
          </a:p>
        </p:txBody>
      </p:sp>
      <p:sp>
        <p:nvSpPr>
          <p:cNvPr id="10" name="Rounded Rectangle 9"/>
          <p:cNvSpPr/>
          <p:nvPr/>
        </p:nvSpPr>
        <p:spPr>
          <a:xfrm>
            <a:off x="777240" y="4932934"/>
            <a:ext cx="15239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표와 문서의 장점</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따라간다</a:t>
            </a:r>
          </a:p>
          <a:p>
            <a:pPr algn="l">
              <a:lnSpc>
                <a:spcPct val="110000"/>
              </a:lnSpc>
              <a:spcAft>
                <a:spcPts val="400"/>
              </a:spcAft>
            </a:pPr>
            <a:r>
              <a:rPr sz="1400" b="0">
                <a:solidFill>
                  <a:srgbClr val="1F2A3A"/>
                </a:solidFill>
                <a:latin typeface="맑은 고딕"/>
                <a:ea typeface="맑은 고딕"/>
                <a:cs typeface="맑은 고딕"/>
              </a:rPr>
              <a:t>증상에서 원인 후보와 조치까지를 프로그램이 찾아갈 수 있어야 한다</a:t>
            </a:r>
          </a:p>
        </p:txBody>
      </p:sp>
      <p:sp>
        <p:nvSpPr>
          <p:cNvPr id="16" name="Rounded Rectangle 15"/>
          <p:cNvSpPr/>
          <p:nvPr/>
        </p:nvSpPr>
        <p:spPr>
          <a:xfrm>
            <a:off x="4566818" y="4932934"/>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코드의 장점</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프로그램과 분리된다</a:t>
            </a:r>
          </a:p>
          <a:p>
            <a:pPr algn="l">
              <a:lnSpc>
                <a:spcPct val="110000"/>
              </a:lnSpc>
              <a:spcAft>
                <a:spcPts val="400"/>
              </a:spcAft>
            </a:pPr>
            <a:r>
              <a:rPr sz="1400" b="0">
                <a:solidFill>
                  <a:srgbClr val="1F2A3A"/>
                </a:solidFill>
                <a:latin typeface="맑은 고딕"/>
                <a:ea typeface="맑은 고딕"/>
                <a:cs typeface="맑은 고딕"/>
              </a:rPr>
              <a:t>지식이 바뀌면 코드가 아니라 지식을 고칠 수 있어야 한다</a:t>
            </a:r>
          </a:p>
        </p:txBody>
      </p:sp>
      <p:sp>
        <p:nvSpPr>
          <p:cNvPr id="22" name="Rounded Rectangle 21"/>
          <p:cNvSpPr/>
          <p:nvPr/>
        </p:nvSpPr>
        <p:spPr>
          <a:xfrm>
            <a:off x="8356396" y="4932934"/>
            <a:ext cx="18288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코드의 약점을 피한다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대상의 종류, 속성, 관계, 제약을 정의한 지식 모델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대상의 종류, 속성, 관계, 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같은 뜻으로 쓰게 하는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온톨로지</a:t>
            </a:r>
          </a:p>
          <a:p>
            <a:pPr algn="l">
              <a:lnSpc>
                <a:spcPct val="110000"/>
              </a:lnSpc>
              <a:spcAft>
                <a:spcPts val="200"/>
              </a:spcAft>
            </a:pPr>
            <a:r>
              <a:rPr sz="1150" b="0">
                <a:solidFill>
                  <a:srgbClr val="556175"/>
                </a:solidFill>
                <a:latin typeface="맑은 고딕"/>
                <a:ea typeface="맑은 고딕"/>
                <a:cs typeface="맑은 고딕"/>
              </a:rPr>
              <a:t>Ontology</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분야에 있는 대상의 종류, 속성, 관계, 제약을 명시적으로 정의한 지식 모델이다.</a:t>
            </a:r>
          </a:p>
          <a:p>
            <a:pPr algn="l">
              <a:lnSpc>
                <a:spcPct val="110000"/>
              </a:lnSpc>
              <a:spcAft>
                <a:spcPts val="300"/>
              </a:spcAft>
            </a:pPr>
            <a:r>
              <a:rPr sz="1400" b="0">
                <a:solidFill>
                  <a:srgbClr val="1F2A3A"/>
                </a:solidFill>
                <a:latin typeface="맑은 고딕"/>
                <a:ea typeface="맑은 고딕"/>
                <a:cs typeface="맑은 고딕"/>
              </a:rPr>
              <a:t>정의가 하나이므로 「쿨러 핀 오염」 같은 말이 사람에게도 컴퓨터에게도 같은 뜻이 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온톨로지</a:t>
            </a:r>
          </a:p>
          <a:p>
            <a:pPr algn="l">
              <a:lnSpc>
                <a:spcPct val="110000"/>
              </a:lnSpc>
              <a:spcAft>
                <a:spcPts val="200"/>
              </a:spcAft>
            </a:pPr>
            <a:r>
              <a:rPr sz="1150" b="0">
                <a:solidFill>
                  <a:srgbClr val="556175"/>
                </a:solidFill>
                <a:latin typeface="맑은 고딕"/>
                <a:ea typeface="맑은 고딕"/>
                <a:cs typeface="맑은 고딕"/>
              </a:rPr>
              <a:t>Layer 7</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구성 요소, 센서, 증상, 고장 유형, 원인, 조치, 근거 문서를 대상으로 삼고 그 사이의 관계를 정의한다.</a:t>
            </a:r>
          </a:p>
          <a:p>
            <a:pPr algn="l">
              <a:lnSpc>
                <a:spcPct val="110000"/>
              </a:lnSpc>
              <a:spcAft>
                <a:spcPts val="300"/>
              </a:spcAft>
            </a:pPr>
            <a:r>
              <a:rPr sz="1400" b="0">
                <a:solidFill>
                  <a:srgbClr val="1F2A3A"/>
                </a:solidFill>
                <a:latin typeface="맑은 고딕"/>
                <a:ea typeface="맑은 고딕"/>
                <a:cs typeface="맑은 고딕"/>
              </a:rPr>
              <a:t>경보 뒤에 원인 후보와 조치를 찾는 일이 이 정의 위에서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지하철 노선도</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역과 선만 따라가면 처음 가는 사람도 경로를 찾는다.</a:t>
            </a:r>
          </a:p>
          <a:p>
            <a:pPr algn="l">
              <a:lnSpc>
                <a:spcPct val="110000"/>
              </a:lnSpc>
              <a:spcAft>
                <a:spcPts val="300"/>
              </a:spcAft>
            </a:pPr>
            <a:r>
              <a:rPr sz="1400" b="0">
                <a:solidFill>
                  <a:srgbClr val="1F2A3A"/>
                </a:solidFill>
                <a:latin typeface="맑은 고딕"/>
                <a:ea typeface="맑은 고딕"/>
                <a:cs typeface="맑은 고딕"/>
              </a:rPr>
              <a:t>다른 점: 온톨로지의 선에는 「가리킨다」「일으킨다」 같은 뜻과 방향이 있다.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대상을 가리키는 여러 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사람마다 다르게 부르는 말을 하나의 대상에 묶어 누구에게나 같은 뜻이 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821178"/>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유온 상승</a:t>
            </a:r>
          </a:p>
          <a:p>
            <a:pPr algn="l">
              <a:lnSpc>
                <a:spcPct val="110000"/>
              </a:lnSpc>
              <a:spcAft>
                <a:spcPts val="400"/>
              </a:spcAft>
            </a:pPr>
            <a:r>
              <a:rPr sz="1400" b="0">
                <a:solidFill>
                  <a:srgbClr val="1F2A3A"/>
                </a:solidFill>
                <a:latin typeface="맑은 고딕"/>
                <a:ea typeface="맑은 고딕"/>
                <a:cs typeface="맑은 고딕"/>
              </a:rPr>
              <a:t>「온도 상승」, 「과열」이라고도 부른다</a:t>
            </a:r>
          </a:p>
        </p:txBody>
      </p:sp>
      <p:sp>
        <p:nvSpPr>
          <p:cNvPr id="10" name="Rounded Rectangle 9"/>
          <p:cNvSpPr/>
          <p:nvPr/>
        </p:nvSpPr>
        <p:spPr>
          <a:xfrm>
            <a:off x="777240" y="4932934"/>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wind" descr="wind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냉각 효율 저하</a:t>
            </a:r>
          </a:p>
          <a:p>
            <a:pPr algn="l">
              <a:lnSpc>
                <a:spcPct val="110000"/>
              </a:lnSpc>
              <a:spcAft>
                <a:spcPts val="400"/>
              </a:spcAft>
            </a:pPr>
            <a:r>
              <a:rPr sz="1400" b="0">
                <a:solidFill>
                  <a:srgbClr val="1F2A3A"/>
                </a:solidFill>
                <a:latin typeface="맑은 고딕"/>
                <a:ea typeface="맑은 고딕"/>
                <a:cs typeface="맑은 고딕"/>
              </a:rPr>
              <a:t>「냉각 불량」이라고도 부른다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
        <p:nvSpPr>
          <p:cNvPr id="18" name="Rounded Rectangle 17"/>
          <p:cNvSpPr/>
          <p:nvPr/>
        </p:nvSpPr>
        <p:spPr>
          <a:xfrm>
            <a:off x="8127796"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진동 증가</a:t>
            </a:r>
          </a:p>
          <a:p>
            <a:pPr algn="l">
              <a:lnSpc>
                <a:spcPct val="110000"/>
              </a:lnSpc>
              <a:spcAft>
                <a:spcPts val="400"/>
              </a:spcAft>
            </a:pPr>
            <a:r>
              <a:rPr sz="1400" b="0">
                <a:solidFill>
                  <a:srgbClr val="1F2A3A"/>
                </a:solidFill>
                <a:latin typeface="맑은 고딕"/>
                <a:ea typeface="맑은 고딕"/>
                <a:cs typeface="맑은 고딕"/>
              </a:rPr>
              <a:t>「떨림」, 「소음」이라고도 부른다</a:t>
            </a:r>
          </a:p>
        </p:txBody>
      </p:sp>
      <p:sp>
        <p:nvSpPr>
          <p:cNvPr id="22" name="Rounded Rectangle 21"/>
          <p:cNvSpPr/>
          <p:nvPr/>
        </p:nvSpPr>
        <p:spPr>
          <a:xfrm>
            <a:off x="8356396" y="493293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관계 그림, 그래프 DB의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그림은 표현이고 그래프 DB는 저장 도구이며, 온톨로지는 무엇을 그리고 저장할 수 있는지를 정한 정의이다.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 그림</a:t>
            </a:r>
          </a:p>
          <a:p>
            <a:pPr algn="l">
              <a:lnSpc>
                <a:spcPct val="110000"/>
              </a:lnSpc>
              <a:spcAft>
                <a:spcPts val="400"/>
              </a:spcAft>
            </a:pPr>
            <a:r>
              <a:rPr sz="1400" b="0">
                <a:solidFill>
                  <a:srgbClr val="1F2A3A"/>
                </a:solidFill>
                <a:latin typeface="맑은 고딕"/>
                <a:ea typeface="맑은 고딕"/>
                <a:cs typeface="맑은 고딕"/>
              </a:rPr>
              <a:t>• 대상과 선을 그려 사람이 보게 한 표현이다</a:t>
            </a:r>
          </a:p>
          <a:p>
            <a:pPr algn="l">
              <a:lnSpc>
                <a:spcPct val="110000"/>
              </a:lnSpc>
              <a:spcAft>
                <a:spcPts val="400"/>
              </a:spcAft>
            </a:pPr>
            <a:r>
              <a:rPr sz="1400" b="0">
                <a:solidFill>
                  <a:srgbClr val="1F2A3A"/>
                </a:solidFill>
                <a:latin typeface="맑은 고딕"/>
                <a:ea typeface="맑은 고딕"/>
                <a:cs typeface="맑은 고딕"/>
              </a:rPr>
              <a:t>• 무엇이든 그릴 수 있어 뜻이 맞는지 검사할 수 없다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a:t>
            </a:r>
          </a:p>
          <a:p>
            <a:pPr algn="l">
              <a:lnSpc>
                <a:spcPct val="110000"/>
              </a:lnSpc>
              <a:spcAft>
                <a:spcPts val="400"/>
              </a:spcAft>
            </a:pPr>
            <a:r>
              <a:rPr sz="1400" b="0">
                <a:solidFill>
                  <a:srgbClr val="1F2A3A"/>
                </a:solidFill>
                <a:latin typeface="맑은 고딕"/>
                <a:ea typeface="맑은 고딕"/>
                <a:cs typeface="맑은 고딕"/>
              </a:rPr>
              <a:t>• 대상과 관계를 저장하고 조회하는 데이터베이스이다</a:t>
            </a:r>
          </a:p>
          <a:p>
            <a:pPr algn="l">
              <a:lnSpc>
                <a:spcPct val="110000"/>
              </a:lnSpc>
              <a:spcAft>
                <a:spcPts val="400"/>
              </a:spcAft>
            </a:pPr>
            <a:r>
              <a:rPr sz="1400" b="0">
                <a:solidFill>
                  <a:srgbClr val="1F2A3A"/>
                </a:solidFill>
                <a:latin typeface="맑은 고딕"/>
                <a:ea typeface="맑은 고딕"/>
                <a:cs typeface="맑은 고딕"/>
              </a:rPr>
              <a:t>• 무엇을 넣을지는 정해 주지 않는다</a:t>
            </a:r>
          </a:p>
          <a:p>
            <a:pPr algn="l">
              <a:lnSpc>
                <a:spcPct val="110000"/>
              </a:lnSpc>
              <a:spcAft>
                <a:spcPts val="400"/>
              </a:spcAft>
            </a:pPr>
            <a:r>
              <a:rPr sz="1400" b="0">
                <a:solidFill>
                  <a:srgbClr val="1F2A3A"/>
                </a:solidFill>
                <a:latin typeface="맑은 고딕"/>
                <a:ea typeface="맑은 고딕"/>
                <a:cs typeface="맑은 고딕"/>
              </a:rPr>
              <a:t>• 이 역할에는 Neo4j 같은 것이 있다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 도구</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400" b="0">
                <a:solidFill>
                  <a:srgbClr val="1F2A3A"/>
                </a:solidFill>
                <a:latin typeface="맑은 고딕"/>
                <a:ea typeface="맑은 고딕"/>
                <a:cs typeface="맑은 고딕"/>
              </a:rPr>
              <a:t>• 어떤 종류의 대상과 관계가 있을 수 있는지를 정한 정의이다</a:t>
            </a:r>
          </a:p>
          <a:p>
            <a:pPr algn="l">
              <a:lnSpc>
                <a:spcPct val="110000"/>
              </a:lnSpc>
              <a:spcAft>
                <a:spcPts val="400"/>
              </a:spcAft>
            </a:pPr>
            <a:r>
              <a:rPr sz="1400" b="0">
                <a:solidFill>
                  <a:srgbClr val="1F2A3A"/>
                </a:solidFill>
                <a:latin typeface="맑은 고딕"/>
                <a:ea typeface="맑은 고딕"/>
                <a:cs typeface="맑은 고딕"/>
              </a:rPr>
              <a:t>• 이 정의에 맞춰 실제 대상을 채워 그래프 DB에 저장한 것이 HYD의 지식 그래프이다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구성 요소: 노드, 관계,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대상을 나타내는 </a:t>
            </a:r>
            <a:r>
              <a:rPr sz="1600" b="1">
                <a:solidFill>
                  <a:srgbClr val="1A6FC4"/>
                </a:solidFill>
                <a:latin typeface="맑은 고딕"/>
                <a:ea typeface="맑은 고딕"/>
                <a:cs typeface="맑은 고딕"/>
              </a:rPr>
              <a:t>노드</a:t>
            </a:r>
            <a:r>
              <a:rPr sz="1600" b="0">
                <a:solidFill>
                  <a:srgbClr val="556175"/>
                </a:solidFill>
                <a:latin typeface="맑은 고딕"/>
                <a:ea typeface="맑은 고딕"/>
                <a:cs typeface="맑은 고딕"/>
              </a:rPr>
              <a:t>와, 이름과 방향을 가진 </a:t>
            </a:r>
            <a:r>
              <a:rPr sz="1600" b="1">
                <a:solidFill>
                  <a:srgbClr val="1A6FC4"/>
                </a:solidFill>
                <a:latin typeface="맑은 고딕"/>
                <a:ea typeface="맑은 고딕"/>
                <a:cs typeface="맑은 고딕"/>
              </a:rPr>
              <a:t>관계</a:t>
            </a:r>
            <a:r>
              <a:rPr sz="1600" b="0">
                <a:solidFill>
                  <a:srgbClr val="556175"/>
                </a:solidFill>
                <a:latin typeface="맑은 고딕"/>
                <a:ea typeface="맑은 고딕"/>
                <a:cs typeface="맑은 고딕"/>
              </a:rPr>
              <a:t>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pic>
        <p:nvPicPr>
          <p:cNvPr id="6" name="삽화:노드관계.svg" descr="illust_2069139528608809243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92040"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하나를 나타낸다</a:t>
            </a:r>
          </a:p>
        </p:txBody>
      </p:sp>
      <p:sp>
        <p:nvSpPr>
          <p:cNvPr id="8" name="TextBox 7"/>
          <p:cNvSpPr txBox="1"/>
          <p:nvPr/>
        </p:nvSpPr>
        <p:spPr>
          <a:xfrm>
            <a:off x="7863185"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대상마다 종류가 있다</a:t>
            </a:r>
          </a:p>
        </p:txBody>
      </p:sp>
      <p:sp>
        <p:nvSpPr>
          <p:cNvPr id="9" name="TextBox 8"/>
          <p:cNvSpPr txBox="1"/>
          <p:nvPr/>
        </p:nvSpPr>
        <p:spPr>
          <a:xfrm>
            <a:off x="4459423" y="2856768"/>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관계(Relationship)</a:t>
            </a:r>
          </a:p>
          <a:p>
            <a:pPr algn="ctr">
              <a:lnSpc>
                <a:spcPct val="110000"/>
              </a:lnSpc>
              <a:spcAft>
                <a:spcPts val="100"/>
              </a:spcAft>
            </a:pPr>
            <a:r>
              <a:rPr sz="1300" b="0">
                <a:solidFill>
                  <a:srgbClr val="556175"/>
                </a:solidFill>
                <a:latin typeface="맑은 고딕"/>
                <a:ea typeface="맑은 고딕"/>
                <a:cs typeface="맑은 고딕"/>
              </a:rPr>
              <a:t>이름: CAUSES(일으킨다)</a:t>
            </a:r>
          </a:p>
        </p:txBody>
      </p:sp>
      <p:sp>
        <p:nvSpPr>
          <p:cNvPr id="10" name="TextBox 9"/>
          <p:cNvSpPr txBox="1"/>
          <p:nvPr/>
        </p:nvSpPr>
        <p:spPr>
          <a:xfrm>
            <a:off x="4568518" y="413317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방향</a:t>
            </a:r>
          </a:p>
          <a:p>
            <a:pPr algn="ctr">
              <a:lnSpc>
                <a:spcPct val="110000"/>
              </a:lnSpc>
              <a:spcAft>
                <a:spcPts val="100"/>
              </a:spcAft>
            </a:pPr>
            <a:r>
              <a:rPr sz="1300" b="0">
                <a:solidFill>
                  <a:srgbClr val="556175"/>
                </a:solidFill>
                <a:latin typeface="맑은 고딕"/>
                <a:ea typeface="맑은 고딕"/>
                <a:cs typeface="맑은 고딕"/>
              </a:rPr>
              <a:t>원인에서 고장 유형으로</a:t>
            </a:r>
          </a:p>
        </p:txBody>
      </p:sp>
      <p:sp>
        <p:nvSpPr>
          <p:cNvPr id="11" name="TextBox 10"/>
          <p:cNvSpPr txBox="1"/>
          <p:nvPr/>
        </p:nvSpPr>
        <p:spPr>
          <a:xfrm>
            <a:off x="1492040" y="498412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종류: 원인</a:t>
            </a:r>
          </a:p>
        </p:txBody>
      </p:sp>
      <p:sp>
        <p:nvSpPr>
          <p:cNvPr id="12" name="TextBox 11"/>
          <p:cNvSpPr txBox="1"/>
          <p:nvPr/>
        </p:nvSpPr>
        <p:spPr>
          <a:xfrm>
            <a:off x="7754090" y="4984120"/>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종류: 고장 유형</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문장으로 읽는 법: 주어, 서술어, 목적어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화살표가 나가는 쪽을 주어, 관계 이름을 서술어, 들어가는 쪽을 목적어로 읽으면 관계 하나가 문장 하나가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lame" descr="flame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CAUSES</a:t>
            </a:r>
          </a:p>
          <a:p>
            <a:pPr algn="l">
              <a:lnSpc>
                <a:spcPct val="110000"/>
              </a:lnSpc>
              <a:spcAft>
                <a:spcPts val="400"/>
              </a:spcAft>
            </a:pPr>
            <a:r>
              <a:rPr sz="1400" b="0">
                <a:solidFill>
                  <a:srgbClr val="1F2A3A"/>
                </a:solidFill>
                <a:latin typeface="맑은 고딕"/>
                <a:ea typeface="맑은 고딕"/>
                <a:cs typeface="맑은 고딕"/>
              </a:rPr>
              <a:t>• 핀 오염 → 냉각 성능 상실</a:t>
            </a:r>
          </a:p>
          <a:p>
            <a:pPr algn="l">
              <a:lnSpc>
                <a:spcPct val="110000"/>
              </a:lnSpc>
              <a:spcAft>
                <a:spcPts val="400"/>
              </a:spcAft>
            </a:pPr>
            <a:r>
              <a:rPr sz="1400" b="0">
                <a:solidFill>
                  <a:srgbClr val="1F2A3A"/>
                </a:solidFill>
                <a:latin typeface="맑은 고딕"/>
                <a:ea typeface="맑은 고딕"/>
                <a:cs typeface="맑은 고딕"/>
              </a:rPr>
              <a:t>• 핀 오염은 냉각 성능 상실을 일으킨다</a:t>
            </a:r>
          </a:p>
        </p:txBody>
      </p:sp>
      <p:sp>
        <p:nvSpPr>
          <p:cNvPr id="10" name="Rounded Rectangle 9"/>
          <p:cNvSpPr/>
          <p:nvPr/>
        </p:nvSpPr>
        <p:spPr>
          <a:xfrm>
            <a:off x="777240" y="5041392"/>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일으킨다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arrow-guide" descr="arrow-guid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INDICATES</a:t>
            </a:r>
          </a:p>
          <a:p>
            <a:pPr algn="l">
              <a:lnSpc>
                <a:spcPct val="110000"/>
              </a:lnSpc>
              <a:spcAft>
                <a:spcPts val="400"/>
              </a:spcAft>
            </a:pPr>
            <a:r>
              <a:rPr sz="1400" b="0">
                <a:solidFill>
                  <a:srgbClr val="1F2A3A"/>
                </a:solidFill>
                <a:latin typeface="맑은 고딕"/>
                <a:ea typeface="맑은 고딕"/>
                <a:cs typeface="맑은 고딕"/>
              </a:rPr>
              <a:t>• 유온 상승 → 냉각 성능 상실</a:t>
            </a:r>
          </a:p>
          <a:p>
            <a:pPr algn="l">
              <a:lnSpc>
                <a:spcPct val="110000"/>
              </a:lnSpc>
              <a:spcAft>
                <a:spcPts val="400"/>
              </a:spcAft>
            </a:pPr>
            <a:r>
              <a:rPr sz="1400" b="0">
                <a:solidFill>
                  <a:srgbClr val="1F2A3A"/>
                </a:solidFill>
                <a:latin typeface="맑은 고딕"/>
                <a:ea typeface="맑은 고딕"/>
                <a:cs typeface="맑은 고딕"/>
              </a:rPr>
              <a:t>• 유온 상승은 냉각 성능 상실을 가리킨다</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가리킨다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MITIGATED_BY</a:t>
            </a:r>
          </a:p>
          <a:p>
            <a:pPr algn="l">
              <a:lnSpc>
                <a:spcPct val="110000"/>
              </a:lnSpc>
              <a:spcAft>
                <a:spcPts val="400"/>
              </a:spcAft>
            </a:pPr>
            <a:r>
              <a:rPr sz="1400" b="0">
                <a:solidFill>
                  <a:srgbClr val="1F2A3A"/>
                </a:solidFill>
                <a:latin typeface="맑은 고딕"/>
                <a:ea typeface="맑은 고딕"/>
                <a:cs typeface="맑은 고딕"/>
              </a:rPr>
              <a:t>• 냉각 성능 상실 → 팬 최대 운전</a:t>
            </a:r>
          </a:p>
          <a:p>
            <a:pPr algn="l">
              <a:lnSpc>
                <a:spcPct val="110000"/>
              </a:lnSpc>
              <a:spcAft>
                <a:spcPts val="400"/>
              </a:spcAft>
            </a:pPr>
            <a:r>
              <a:rPr sz="1400" b="0">
                <a:solidFill>
                  <a:srgbClr val="1F2A3A"/>
                </a:solidFill>
                <a:latin typeface="맑은 고딕"/>
                <a:ea typeface="맑은 고딕"/>
                <a:cs typeface="맑은 고딕"/>
              </a:rPr>
              <a:t>• 냉각 성능 상실은 팬 최대 운전으로 완화된다</a:t>
            </a:r>
          </a:p>
        </p:txBody>
      </p:sp>
      <p:sp>
        <p:nvSpPr>
          <p:cNvPr id="22" name="Rounded Rectangle 21"/>
          <p:cNvSpPr/>
          <p:nvPr/>
        </p:nvSpPr>
        <p:spPr>
          <a:xfrm>
            <a:off x="8356396" y="5041392"/>
            <a:ext cx="140512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4051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~으로 완화된다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지식 그래프의 실제 관계: 증상 · 고장 유형 · 원인 ·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증상과 원인은 직접 이어지지 않고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에서 만나며, 조치도 고장 유형에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pic>
        <p:nvPicPr>
          <p:cNvPr id="6" name="삽화:관계.svg" descr="illust_8941476792538139259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085904"/>
            <a:ext cx="272737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Symptom · 증상</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FailureMode · 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 · 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 · 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1" name="TextBox 10"/>
          <p:cNvSpPr txBox="1"/>
          <p:nvPr/>
        </p:nvSpPr>
        <p:spPr>
          <a:xfrm>
            <a:off x="3270288"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7175887"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3" name="TextBox 12"/>
          <p:cNvSpPr txBox="1"/>
          <p:nvPr/>
        </p:nvSpPr>
        <p:spPr>
          <a:xfrm>
            <a:off x="3750306" y="422772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4" name="TextBox 13"/>
          <p:cNvSpPr txBox="1"/>
          <p:nvPr/>
        </p:nvSpPr>
        <p:spPr>
          <a:xfrm>
            <a:off x="750195"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잇는 선은 없다</a:t>
            </a:r>
          </a:p>
          <a:p>
            <a:pPr algn="ctr">
              <a:lnSpc>
                <a:spcPct val="110000"/>
              </a:lnSpc>
              <a:spcAft>
                <a:spcPts val="100"/>
              </a:spcAft>
            </a:pPr>
            <a:r>
              <a:rPr sz="1300" b="0">
                <a:solidFill>
                  <a:srgbClr val="556175"/>
                </a:solidFill>
                <a:latin typeface="맑은 고딕"/>
                <a:ea typeface="맑은 고딕"/>
                <a:cs typeface="맑은 고딕"/>
              </a:rPr>
              <a:t>증상과 원인은 고장 유형에서 만난다</a:t>
            </a:r>
          </a:p>
        </p:txBody>
      </p:sp>
      <p:sp>
        <p:nvSpPr>
          <p:cNvPr id="15" name="TextBox 14"/>
          <p:cNvSpPr txBox="1"/>
          <p:nvPr/>
        </p:nvSpPr>
        <p:spPr>
          <a:xfrm>
            <a:off x="8223199"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원인은 여럿 붙는다</a:t>
            </a:r>
          </a:p>
          <a:p>
            <a:pPr algn="ctr">
              <a:lnSpc>
                <a:spcPct val="110000"/>
              </a:lnSpc>
              <a:spcAft>
                <a:spcPts val="100"/>
              </a:spcAft>
            </a:pPr>
            <a:r>
              <a:rPr sz="1300" b="0">
                <a:solidFill>
                  <a:srgbClr val="556175"/>
                </a:solidFill>
                <a:latin typeface="맑은 고딕"/>
                <a:ea typeface="맑은 고딕"/>
                <a:cs typeface="맑은 고딕"/>
              </a:rPr>
              <a:t>핀 오염, 팬 구동 불량, 주변 온도 상승</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관계의 이름이 방향을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사실도 관계 이름에 따라 화살표의 방향이 달라지므로 이름과 방향은 함께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CAUSES로 적는다</a:t>
            </a:r>
          </a:p>
        </p:txBody>
      </p:sp>
      <p:sp>
        <p:nvSpPr>
          <p:cNvPr id="8" name="TextBox 7"/>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핀 오염 → 냉각 성능 상실</a:t>
            </a:r>
          </a:p>
          <a:p>
            <a:pPr algn="l">
              <a:lnSpc>
                <a:spcPct val="110000"/>
              </a:lnSpc>
              <a:spcAft>
                <a:spcPts val="600"/>
              </a:spcAft>
            </a:pPr>
            <a:r>
              <a:rPr sz="1450" b="0">
                <a:solidFill>
                  <a:srgbClr val="1F2A3A"/>
                </a:solidFill>
                <a:latin typeface="맑은 고딕"/>
                <a:ea typeface="맑은 고딕"/>
                <a:cs typeface="맑은 고딕"/>
              </a:rPr>
              <a:t>• 원인이 주어이다</a:t>
            </a:r>
          </a:p>
          <a:p>
            <a:pPr algn="l">
              <a:lnSpc>
                <a:spcPct val="110000"/>
              </a:lnSpc>
              <a:spcAft>
                <a:spcPts val="600"/>
              </a:spcAft>
            </a:pPr>
            <a:r>
              <a:rPr sz="1450" b="0">
                <a:solidFill>
                  <a:srgbClr val="1F2A3A"/>
                </a:solidFill>
                <a:latin typeface="맑은 고딕"/>
                <a:ea typeface="맑은 고딕"/>
                <a:cs typeface="맑은 고딕"/>
              </a:rPr>
              <a:t>• 읽기: 핀 오염은 냉각 성능 상실을 일으킨다</a:t>
            </a:r>
          </a:p>
          <a:p>
            <a:pPr algn="l">
              <a:lnSpc>
                <a:spcPct val="110000"/>
              </a:lnSpc>
              <a:spcAft>
                <a:spcPts val="600"/>
              </a:spcAft>
            </a:pPr>
            <a:r>
              <a:rPr sz="1450" b="0">
                <a:solidFill>
                  <a:srgbClr val="1F2A3A"/>
                </a:solidFill>
                <a:latin typeface="맑은 고딕"/>
                <a:ea typeface="맑은 고딕"/>
                <a:cs typeface="맑은 고딕"/>
              </a:rPr>
              <a:t>• HYD의 지식 그래프가 쓰는 이름이다</a:t>
            </a:r>
          </a:p>
        </p:txBody>
      </p:sp>
      <p:sp>
        <p:nvSpPr>
          <p:cNvPr id="9" name="Rounded Rectangle 8"/>
          <p:cNvSpPr/>
          <p:nvPr/>
        </p:nvSpPr>
        <p:spPr>
          <a:xfrm>
            <a:off x="868680" y="5096002"/>
            <a:ext cx="156972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 고장 유형</a:t>
            </a:r>
          </a:p>
        </p:txBody>
      </p:sp>
      <p:sp>
        <p:nvSpPr>
          <p:cNvPr id="11" name="Rounded Rectangle 10"/>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CAUSED_BY로 적는다</a:t>
            </a:r>
          </a:p>
        </p:txBody>
      </p:sp>
      <p:sp>
        <p:nvSpPr>
          <p:cNvPr id="13" name="TextBox 12"/>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성능 상실 → 핀 오염</a:t>
            </a:r>
          </a:p>
          <a:p>
            <a:pPr algn="l">
              <a:lnSpc>
                <a:spcPct val="110000"/>
              </a:lnSpc>
              <a:spcAft>
                <a:spcPts val="600"/>
              </a:spcAft>
            </a:pPr>
            <a:r>
              <a:rPr sz="1450" b="0">
                <a:solidFill>
                  <a:srgbClr val="1F2A3A"/>
                </a:solidFill>
                <a:latin typeface="맑은 고딕"/>
                <a:ea typeface="맑은 고딕"/>
                <a:cs typeface="맑은 고딕"/>
              </a:rPr>
              <a:t>• 고장 유형이 주어이다</a:t>
            </a:r>
          </a:p>
          <a:p>
            <a:pPr algn="l">
              <a:lnSpc>
                <a:spcPct val="110000"/>
              </a:lnSpc>
              <a:spcAft>
                <a:spcPts val="600"/>
              </a:spcAft>
            </a:pPr>
            <a:r>
              <a:rPr sz="1450" b="0">
                <a:solidFill>
                  <a:srgbClr val="1F2A3A"/>
                </a:solidFill>
                <a:latin typeface="맑은 고딕"/>
                <a:ea typeface="맑은 고딕"/>
                <a:cs typeface="맑은 고딕"/>
              </a:rPr>
              <a:t>• 읽기: 냉각 성능 상실은 핀 오염으로 일어난다</a:t>
            </a:r>
          </a:p>
          <a:p>
            <a:pPr algn="l">
              <a:lnSpc>
                <a:spcPct val="110000"/>
              </a:lnSpc>
              <a:spcAft>
                <a:spcPts val="600"/>
              </a:spcAft>
            </a:pPr>
            <a:r>
              <a:rPr sz="1450" b="0">
                <a:solidFill>
                  <a:srgbClr val="1F2A3A"/>
                </a:solidFill>
                <a:latin typeface="맑은 고딕"/>
                <a:ea typeface="맑은 고딕"/>
                <a:cs typeface="맑은 고딕"/>
              </a:rPr>
              <a:t>• 같은 사실이며 방향만 반대이다</a:t>
            </a:r>
          </a:p>
        </p:txBody>
      </p:sp>
      <p:sp>
        <p:nvSpPr>
          <p:cNvPr id="14" name="Rounded Rectangle 13"/>
          <p:cNvSpPr/>
          <p:nvPr/>
        </p:nvSpPr>
        <p:spPr>
          <a:xfrm>
            <a:off x="6781647" y="5096002"/>
            <a:ext cx="15697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고장 유형 → 원인</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①: 경보에서 고장 유형까지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컴퓨터는 경보에 실려 온 패턴 이름에서 출발해 DETECTS와 INDICATES를 따라 고장 유형에 이른다.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pic>
        <p:nvPicPr>
          <p:cNvPr id="6" name="삽화:경로_1.svg" descr="illust_2884375178325782289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39285" y="2265837"/>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AnomalyPattern</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375709" y="2265837"/>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Symptom</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9" name="TextBox 8"/>
          <p:cNvSpPr txBox="1"/>
          <p:nvPr/>
        </p:nvSpPr>
        <p:spPr>
          <a:xfrm>
            <a:off x="4104864" y="1982190"/>
            <a:ext cx="1527329"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FailureMode</a:t>
            </a:r>
          </a:p>
          <a:p>
            <a:pPr algn="ctr">
              <a:lnSpc>
                <a:spcPct val="110000"/>
              </a:lnSpc>
              <a:spcAft>
                <a:spcPts val="100"/>
              </a:spcAft>
            </a:pPr>
            <a:r>
              <a:rPr sz="1300" b="0">
                <a:solidFill>
                  <a:srgbClr val="556175"/>
                </a:solidFill>
                <a:latin typeface="맑은 고딕"/>
                <a:ea typeface="맑은 고딕"/>
                <a:cs typeface="맑은 고딕"/>
              </a:rPr>
              <a:t>쿨러 냉각</a:t>
            </a:r>
          </a:p>
          <a:p>
            <a:pPr algn="ctr">
              <a:lnSpc>
                <a:spcPct val="110000"/>
              </a:lnSpc>
              <a:spcAft>
                <a:spcPts val="100"/>
              </a:spcAft>
            </a:pPr>
            <a:r>
              <a:rPr sz="1300" b="0">
                <a:solidFill>
                  <a:srgbClr val="556175"/>
                </a:solidFill>
                <a:latin typeface="맑은 고딕"/>
                <a:ea typeface="맑은 고딕"/>
                <a:cs typeface="맑은 고딕"/>
              </a:rPr>
              <a:t>성능 상실</a:t>
            </a:r>
          </a:p>
        </p:txBody>
      </p:sp>
      <p:sp>
        <p:nvSpPr>
          <p:cNvPr id="10" name="TextBox 9"/>
          <p:cNvSpPr txBox="1"/>
          <p:nvPr/>
        </p:nvSpPr>
        <p:spPr>
          <a:xfrm>
            <a:off x="1721140" y="3944081"/>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DETECTS</a:t>
            </a:r>
          </a:p>
          <a:p>
            <a:pPr algn="ctr">
              <a:lnSpc>
                <a:spcPct val="110000"/>
              </a:lnSpc>
              <a:spcAft>
                <a:spcPts val="100"/>
              </a:spcAft>
            </a:pPr>
            <a:r>
              <a:rPr sz="1300" b="0">
                <a:solidFill>
                  <a:srgbClr val="556175"/>
                </a:solidFill>
                <a:latin typeface="맑은 고딕"/>
                <a:ea typeface="맑은 고딕"/>
                <a:cs typeface="맑은 고딕"/>
              </a:rPr>
              <a:t>감지한다</a:t>
            </a:r>
          </a:p>
        </p:txBody>
      </p:sp>
      <p:sp>
        <p:nvSpPr>
          <p:cNvPr id="11" name="TextBox 10"/>
          <p:cNvSpPr txBox="1"/>
          <p:nvPr/>
        </p:nvSpPr>
        <p:spPr>
          <a:xfrm>
            <a:off x="3292107" y="3944081"/>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913837" y="4747747"/>
            <a:ext cx="316375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출발점은 경보이다</a:t>
            </a:r>
          </a:p>
          <a:p>
            <a:pPr algn="ctr">
              <a:lnSpc>
                <a:spcPct val="110000"/>
              </a:lnSpc>
              <a:spcAft>
                <a:spcPts val="100"/>
              </a:spcAft>
            </a:pPr>
            <a:r>
              <a:rPr sz="1300" b="0">
                <a:solidFill>
                  <a:srgbClr val="556175"/>
                </a:solidFill>
                <a:latin typeface="맑은 고딕"/>
                <a:ea typeface="맑은 고딕"/>
                <a:cs typeface="맑은 고딕"/>
              </a:rPr>
              <a:t>경보에 패턴 이름이 실려 온다</a:t>
            </a:r>
          </a:p>
          <a:p>
            <a:pPr algn="ctr">
              <a:lnSpc>
                <a:spcPct val="110000"/>
              </a:lnSpc>
              <a:spcAft>
                <a:spcPts val="100"/>
              </a:spcAft>
            </a:pPr>
            <a:r>
              <a:rPr sz="1300" b="0">
                <a:solidFill>
                  <a:srgbClr val="556175"/>
                </a:solidFill>
                <a:latin typeface="맑은 고딕"/>
                <a:ea typeface="맑은 고딕"/>
                <a:cs typeface="맑은 고딕"/>
              </a:rPr>
              <a:t>COOLER_DEGRADATION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②: 원인 후보와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고장 유형으로 들어오는 CAUSES를 거슬러 원인 후보를 모으고, 후보마다 EVIDENCED_BY로 확인할 증거를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pic>
        <p:nvPicPr>
          <p:cNvPr id="6" name="삽화:경로_2.svg" descr="illust_7639482324458572035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213959" y="2549484"/>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8" name="TextBox 7"/>
          <p:cNvSpPr txBox="1"/>
          <p:nvPr/>
        </p:nvSpPr>
        <p:spPr>
          <a:xfrm>
            <a:off x="5277635" y="1982190"/>
            <a:ext cx="109094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9" name="TextBox 8"/>
          <p:cNvSpPr txBox="1"/>
          <p:nvPr/>
        </p:nvSpPr>
        <p:spPr>
          <a:xfrm>
            <a:off x="6826783" y="5078669"/>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EVIDENCED_BY</a:t>
            </a:r>
          </a:p>
          <a:p>
            <a:pPr algn="ctr">
              <a:lnSpc>
                <a:spcPct val="110000"/>
              </a:lnSpc>
              <a:spcAft>
                <a:spcPts val="100"/>
              </a:spcAft>
            </a:pPr>
            <a:r>
              <a:rPr sz="1300" b="0">
                <a:solidFill>
                  <a:srgbClr val="556175"/>
                </a:solidFill>
                <a:latin typeface="맑은 고딕"/>
                <a:ea typeface="맑은 고딕"/>
                <a:cs typeface="맑은 고딕"/>
              </a:rPr>
              <a:t>증거로 확인한다</a:t>
            </a:r>
          </a:p>
        </p:txBody>
      </p:sp>
      <p:sp>
        <p:nvSpPr>
          <p:cNvPr id="10" name="TextBox 9"/>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a:t>
            </a:r>
          </a:p>
        </p:txBody>
      </p:sp>
      <p:sp>
        <p:nvSpPr>
          <p:cNvPr id="11" name="TextBox 10"/>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a:t>
            </a:r>
          </a:p>
        </p:txBody>
      </p:sp>
      <p:sp>
        <p:nvSpPr>
          <p:cNvPr id="12" name="TextBox 11"/>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a:t>
            </a:r>
          </a:p>
        </p:txBody>
      </p:sp>
      <p:sp>
        <p:nvSpPr>
          <p:cNvPr id="13" name="TextBox 12"/>
          <p:cNvSpPr txBox="1"/>
          <p:nvPr/>
        </p:nvSpPr>
        <p:spPr>
          <a:xfrm>
            <a:off x="804742" y="4464100"/>
            <a:ext cx="338194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원인(Cause)과 증거(Evidence)</a:t>
            </a:r>
          </a:p>
          <a:p>
            <a:pPr algn="ctr">
              <a:lnSpc>
                <a:spcPct val="110000"/>
              </a:lnSpc>
              <a:spcAft>
                <a:spcPts val="100"/>
              </a:spcAft>
            </a:pPr>
            <a:r>
              <a:rPr sz="1300" b="0">
                <a:solidFill>
                  <a:srgbClr val="556175"/>
                </a:solidFill>
                <a:latin typeface="맑은 고딕"/>
                <a:ea typeface="맑은 고딕"/>
                <a:cs typeface="맑은 고딕"/>
              </a:rPr>
              <a:t>들어오는 CAUSES를 거슬러 원인을 찾고</a:t>
            </a:r>
          </a:p>
          <a:p>
            <a:pPr algn="ctr">
              <a:lnSpc>
                <a:spcPct val="110000"/>
              </a:lnSpc>
              <a:spcAft>
                <a:spcPts val="100"/>
              </a:spcAft>
            </a:pPr>
            <a:r>
              <a:rPr sz="1300" b="0">
                <a:solidFill>
                  <a:srgbClr val="556175"/>
                </a:solidFill>
                <a:latin typeface="맑은 고딕"/>
                <a:ea typeface="맑은 고딕"/>
                <a:cs typeface="맑은 고딕"/>
              </a:rPr>
              <a:t>EVIDENCED_BY로 확인할 증거를 얻는다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③: 확인된 원인과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확인해 MITIGATED_BY로 조치에 이르며, 기준은 그래프에 두고 바뀌는 값은 저장소에서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pic>
        <p:nvPicPr>
          <p:cNvPr id="6" name="삽화:경로_3.svg" descr="illust_1608008701119587535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잰 값 46.2 % · 0.575 → 맞음</a:t>
            </a:r>
          </a:p>
        </p:txBody>
      </p:sp>
      <p:sp>
        <p:nvSpPr>
          <p:cNvPr id="8" name="TextBox 7"/>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잰 값 0.575 → 아님</a:t>
            </a:r>
          </a:p>
        </p:txBody>
      </p:sp>
      <p:sp>
        <p:nvSpPr>
          <p:cNvPr id="9" name="TextBox 8"/>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잰 값 28 ℃ → 아님</a:t>
            </a:r>
          </a:p>
        </p:txBody>
      </p:sp>
      <p:sp>
        <p:nvSpPr>
          <p:cNvPr id="10" name="TextBox 9"/>
          <p:cNvSpPr txBox="1"/>
          <p:nvPr/>
        </p:nvSpPr>
        <p:spPr>
          <a:xfrm>
            <a:off x="2822999" y="4345914"/>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1" name="TextBox 10"/>
          <p:cNvSpPr txBox="1"/>
          <p:nvPr/>
        </p:nvSpPr>
        <p:spPr>
          <a:xfrm>
            <a:off x="5386730" y="5220492"/>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Skill</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2" name="TextBox 11"/>
          <p:cNvSpPr txBox="1"/>
          <p:nvPr/>
        </p:nvSpPr>
        <p:spPr>
          <a:xfrm>
            <a:off x="7732271" y="5267766"/>
            <a:ext cx="370922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값은 그래프 밖에서 읽는다</a:t>
            </a:r>
          </a:p>
          <a:p>
            <a:pPr algn="ctr">
              <a:lnSpc>
                <a:spcPct val="110000"/>
              </a:lnSpc>
              <a:spcAft>
                <a:spcPts val="100"/>
              </a:spcAft>
            </a:pPr>
            <a:r>
              <a:rPr sz="1300" b="0">
                <a:solidFill>
                  <a:srgbClr val="556175"/>
                </a:solidFill>
                <a:latin typeface="맑은 고딕"/>
                <a:ea typeface="맑은 고딕"/>
                <a:cs typeface="맑은 고딕"/>
              </a:rPr>
              <a:t>기준은 지식 그래프에 두고</a:t>
            </a:r>
          </a:p>
          <a:p>
            <a:pPr algn="ctr">
              <a:lnSpc>
                <a:spcPct val="110000"/>
              </a:lnSpc>
              <a:spcAft>
                <a:spcPts val="100"/>
              </a:spcAft>
            </a:pPr>
            <a:r>
              <a:rPr sz="1300" b="0">
                <a:solidFill>
                  <a:srgbClr val="556175"/>
                </a:solidFill>
                <a:latin typeface="맑은 고딕"/>
                <a:ea typeface="맑은 고딕"/>
                <a:cs typeface="맑은 고딕"/>
              </a:rPr>
              <a:t>계속 바뀌는 값은 시계열 저장소에서 읽는다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온톨로지가 정의하는 네 가지: 종류, 속성, 관계, 제약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가지 정의가 함께 있을 때 값의 뜻이 정해지고, 관계의 뜻이 이름으로 갈리며, 정의에 어긋난 연결이 걸러진다.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종류</a:t>
            </a:r>
          </a:p>
          <a:p>
            <a:pPr algn="l">
              <a:lnSpc>
                <a:spcPct val="110000"/>
              </a:lnSpc>
              <a:spcAft>
                <a:spcPts val="200"/>
              </a:spcAft>
            </a:pPr>
            <a:r>
              <a:rPr sz="1150" b="0">
                <a:solidFill>
                  <a:srgbClr val="556175"/>
                </a:solidFill>
                <a:latin typeface="맑은 고딕"/>
                <a:ea typeface="맑은 고딕"/>
                <a:cs typeface="맑은 고딕"/>
              </a:rPr>
              <a:t>대상의 갈래</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온톨로지가 다루는 대상의 갈래이다.</a:t>
            </a:r>
          </a:p>
          <a:p>
            <a:pPr algn="l">
              <a:lnSpc>
                <a:spcPct val="110000"/>
              </a:lnSpc>
              <a:spcAft>
                <a:spcPts val="300"/>
              </a:spcAft>
            </a:pPr>
            <a:r>
              <a:rPr sz="1400" b="0">
                <a:solidFill>
                  <a:srgbClr val="1F2A3A"/>
                </a:solidFill>
                <a:latin typeface="맑은 고딕"/>
                <a:ea typeface="맑은 고딕"/>
                <a:cs typeface="맑은 고딕"/>
              </a:rPr>
              <a:t>설비 쪽: 설비, 구성 요소, 센서 (예: HYD-01, 오일 쿨러, TS1)</a:t>
            </a:r>
          </a:p>
          <a:p>
            <a:pPr algn="l">
              <a:lnSpc>
                <a:spcPct val="110000"/>
              </a:lnSpc>
              <a:spcAft>
                <a:spcPts val="300"/>
              </a:spcAft>
            </a:pPr>
            <a:r>
              <a:rPr sz="1400" b="0">
                <a:solidFill>
                  <a:srgbClr val="1F2A3A"/>
                </a:solidFill>
                <a:latin typeface="맑은 고딕"/>
                <a:ea typeface="맑은 고딕"/>
                <a:cs typeface="맑은 고딕"/>
              </a:rPr>
              <a:t>진단 쪽: 이상 패턴, 증상, 고장 유형, 원인, 증거 (예: 쿨러 핀 오염은 원인)</a:t>
            </a:r>
          </a:p>
          <a:p>
            <a:pPr algn="l">
              <a:lnSpc>
                <a:spcPct val="110000"/>
              </a:lnSpc>
              <a:spcAft>
                <a:spcPts val="300"/>
              </a:spcAft>
            </a:pPr>
            <a:r>
              <a:rPr sz="1400" b="0">
                <a:solidFill>
                  <a:srgbClr val="1F2A3A"/>
                </a:solidFill>
                <a:latin typeface="맑은 고딕"/>
                <a:ea typeface="맑은 고딕"/>
                <a:cs typeface="맑은 고딕"/>
              </a:rPr>
              <a:t>조치 쪽: 조치 방법, 근거 문서 (예: 팬 최대 운전, HM-8.5)</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속성</a:t>
            </a:r>
          </a:p>
          <a:p>
            <a:pPr algn="l">
              <a:lnSpc>
                <a:spcPct val="110000"/>
              </a:lnSpc>
              <a:spcAft>
                <a:spcPts val="200"/>
              </a:spcAft>
            </a:pPr>
            <a:r>
              <a:rPr sz="1150" b="0">
                <a:solidFill>
                  <a:srgbClr val="556175"/>
                </a:solidFill>
                <a:latin typeface="맑은 고딕"/>
                <a:ea typeface="맑은 고딕"/>
                <a:cs typeface="맑은 고딕"/>
              </a:rPr>
              <a:t>℃ · 48 · 65</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대상마다 채워 두는 값의 칸이며, 같은 종류의 대상은 같은 칸을 갖는다.</a:t>
            </a:r>
          </a:p>
          <a:p>
            <a:pPr algn="l">
              <a:lnSpc>
                <a:spcPct val="110000"/>
              </a:lnSpc>
              <a:spcAft>
                <a:spcPts val="300"/>
              </a:spcAft>
            </a:pPr>
            <a:r>
              <a:rPr sz="1400" b="0">
                <a:solidFill>
                  <a:srgbClr val="1F2A3A"/>
                </a:solidFill>
                <a:latin typeface="맑은 고딕"/>
                <a:ea typeface="맑은 고딕"/>
                <a:cs typeface="맑은 고딕"/>
              </a:rPr>
              <a:t>유온: 단위 ℃, 정상값 48 ℃, 한계 65 ℃(인터록의 기준과 같다)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관계</a:t>
            </a:r>
          </a:p>
          <a:p>
            <a:pPr algn="l">
              <a:lnSpc>
                <a:spcPct val="110000"/>
              </a:lnSpc>
              <a:spcAft>
                <a:spcPts val="200"/>
              </a:spcAft>
            </a:pPr>
            <a:r>
              <a:rPr sz="1150" b="0">
                <a:solidFill>
                  <a:srgbClr val="556175"/>
                </a:solidFill>
                <a:latin typeface="맑은 고딕"/>
                <a:ea typeface="맑은 고딕"/>
                <a:cs typeface="맑은 고딕"/>
              </a:rPr>
              <a:t>완화와 근본 조치</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이름이 다르면 뜻이 다르다. 쿨러 냉각 성능 상실에서 조치로 가는 두 관계가 그렇다.</a:t>
            </a:r>
          </a:p>
          <a:p>
            <a:pPr algn="l">
              <a:lnSpc>
                <a:spcPct val="110000"/>
              </a:lnSpc>
              <a:spcAft>
                <a:spcPts val="300"/>
              </a:spcAft>
            </a:pPr>
            <a:r>
              <a:rPr sz="1400" b="0">
                <a:solidFill>
                  <a:srgbClr val="1F2A3A"/>
                </a:solidFill>
                <a:latin typeface="맑은 고딕"/>
                <a:ea typeface="맑은 고딕"/>
                <a:cs typeface="맑은 고딕"/>
              </a:rPr>
              <a:t>MITIGATED_BY → 팬 최대 운전: 우선 완화한다</a:t>
            </a:r>
          </a:p>
          <a:p>
            <a:pPr algn="l">
              <a:lnSpc>
                <a:spcPct val="110000"/>
              </a:lnSpc>
              <a:spcAft>
                <a:spcPts val="300"/>
              </a:spcAft>
            </a:pPr>
            <a:r>
              <a:rPr sz="1400" b="0">
                <a:solidFill>
                  <a:srgbClr val="1F2A3A"/>
                </a:solidFill>
                <a:latin typeface="맑은 고딕"/>
                <a:ea typeface="맑은 고딕"/>
                <a:cs typeface="맑은 고딕"/>
              </a:rPr>
              <a:t>REMEDIED_BY → 쿨러 핀 세척: 근본적으로 없앤다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제약</a:t>
            </a:r>
          </a:p>
          <a:p>
            <a:pPr algn="l">
              <a:lnSpc>
                <a:spcPct val="110000"/>
              </a:lnSpc>
              <a:spcAft>
                <a:spcPts val="200"/>
              </a:spcAft>
            </a:pPr>
            <a:r>
              <a:rPr sz="1150" b="0">
                <a:solidFill>
                  <a:srgbClr val="556175"/>
                </a:solidFill>
                <a:latin typeface="맑은 고딕"/>
                <a:ea typeface="맑은 고딕"/>
                <a:cs typeface="맑은 고딕"/>
              </a:rPr>
              <a:t>양 끝의 종류</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관계가 어느 종류에서 어느 종류로 이어질 수 있는지를 정해 어긋난 연결을 거른다.</a:t>
            </a:r>
          </a:p>
          <a:p>
            <a:pPr algn="l">
              <a:lnSpc>
                <a:spcPct val="110000"/>
              </a:lnSpc>
              <a:spcAft>
                <a:spcPts val="300"/>
              </a:spcAft>
            </a:pPr>
            <a:r>
              <a:rPr sz="1400" b="0">
                <a:solidFill>
                  <a:srgbClr val="1F2A3A"/>
                </a:solidFill>
                <a:latin typeface="맑은 고딕"/>
                <a:ea typeface="맑은 고딕"/>
                <a:cs typeface="맑은 고딕"/>
              </a:rPr>
              <a:t>쿨러 핀 오염 — CAUSES → 쿨러 냉각 성능 상실: 원인 → 고장 유형, 정의에 맞는다</a:t>
            </a:r>
          </a:p>
          <a:p>
            <a:pPr algn="l">
              <a:lnSpc>
                <a:spcPct val="110000"/>
              </a:lnSpc>
              <a:spcAft>
                <a:spcPts val="300"/>
              </a:spcAft>
            </a:pPr>
            <a:r>
              <a:rPr sz="1400" b="0">
                <a:solidFill>
                  <a:srgbClr val="1F2A3A"/>
                </a:solidFill>
                <a:latin typeface="맑은 고딕"/>
                <a:ea typeface="맑은 고딕"/>
                <a:cs typeface="맑은 고딕"/>
              </a:rPr>
              <a:t>유온 상승 — CAUSES → 팬 최대 운전: 증상 → 조치, 정의에 어긋난다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설비 쪽: 설비, 구성 요소, 센서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구성 요소, 센서가 함께 이어져 있어 같은 지식을 어느 설비의 어느 센서 값에 적용할지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pic>
        <p:nvPicPr>
          <p:cNvPr id="6" name="삽화:연결_설비쪽.svg" descr="illust_8461043601444693044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90226" y="164181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a:p>
            <a:pPr algn="ctr">
              <a:lnSpc>
                <a:spcPct val="110000"/>
              </a:lnSpc>
              <a:spcAft>
                <a:spcPts val="100"/>
              </a:spcAft>
            </a:pPr>
            <a:r>
              <a:rPr sz="1300" b="0">
                <a:solidFill>
                  <a:srgbClr val="556175"/>
                </a:solidFill>
                <a:latin typeface="맑은 고딕"/>
                <a:ea typeface="맑은 고딕"/>
                <a:cs typeface="맑은 고딕"/>
              </a:rPr>
              <a:t>유온 센서 TS1</a:t>
            </a:r>
          </a:p>
        </p:txBody>
      </p:sp>
      <p:sp>
        <p:nvSpPr>
          <p:cNvPr id="8" name="TextBox 7"/>
          <p:cNvSpPr txBox="1"/>
          <p:nvPr/>
        </p:nvSpPr>
        <p:spPr>
          <a:xfrm>
            <a:off x="5332182" y="164181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구성 요소</a:t>
            </a:r>
          </a:p>
          <a:p>
            <a:pPr algn="ctr">
              <a:lnSpc>
                <a:spcPct val="110000"/>
              </a:lnSpc>
              <a:spcAft>
                <a:spcPts val="100"/>
              </a:spcAft>
            </a:pPr>
            <a:r>
              <a:rPr sz="1300" b="0">
                <a:solidFill>
                  <a:srgbClr val="556175"/>
                </a:solidFill>
                <a:latin typeface="맑은 고딕"/>
                <a:ea typeface="맑은 고딕"/>
                <a:cs typeface="맑은 고딕"/>
              </a:rPr>
              <a:t>오일 쿨러</a:t>
            </a:r>
          </a:p>
        </p:txBody>
      </p:sp>
      <p:sp>
        <p:nvSpPr>
          <p:cNvPr id="9" name="TextBox 8"/>
          <p:cNvSpPr txBox="1"/>
          <p:nvPr/>
        </p:nvSpPr>
        <p:spPr>
          <a:xfrm>
            <a:off x="8965044" y="164181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a:p>
            <a:pPr algn="ctr">
              <a:lnSpc>
                <a:spcPct val="110000"/>
              </a:lnSpc>
              <a:spcAft>
                <a:spcPts val="100"/>
              </a:spcAft>
            </a:pPr>
            <a:r>
              <a:rPr sz="1300" b="0">
                <a:solidFill>
                  <a:srgbClr val="556175"/>
                </a:solidFill>
                <a:latin typeface="맑은 고딕"/>
                <a:ea typeface="맑은 고딕"/>
                <a:cs typeface="맑은 고딕"/>
              </a:rPr>
              <a:t>HYD-01</a:t>
            </a:r>
          </a:p>
        </p:txBody>
      </p:sp>
      <p:sp>
        <p:nvSpPr>
          <p:cNvPr id="10" name="TextBox 9"/>
          <p:cNvSpPr txBox="1"/>
          <p:nvPr/>
        </p:nvSpPr>
        <p:spPr>
          <a:xfrm>
            <a:off x="3346654" y="2762219"/>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MONITORED_BY</a:t>
            </a:r>
          </a:p>
          <a:p>
            <a:pPr algn="ctr">
              <a:lnSpc>
                <a:spcPct val="110000"/>
              </a:lnSpc>
              <a:spcAft>
                <a:spcPts val="100"/>
              </a:spcAft>
            </a:pPr>
            <a:r>
              <a:rPr sz="1300" b="0">
                <a:solidFill>
                  <a:srgbClr val="556175"/>
                </a:solidFill>
                <a:latin typeface="맑은 고딕"/>
                <a:ea typeface="맑은 고딕"/>
                <a:cs typeface="맑은 고딕"/>
              </a:rPr>
              <a:t>계측된다</a:t>
            </a:r>
          </a:p>
        </p:txBody>
      </p:sp>
      <p:sp>
        <p:nvSpPr>
          <p:cNvPr id="11" name="TextBox 10"/>
          <p:cNvSpPr txBox="1"/>
          <p:nvPr/>
        </p:nvSpPr>
        <p:spPr>
          <a:xfrm>
            <a:off x="6772236" y="2762219"/>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HAS_COMPONENT</a:t>
            </a:r>
          </a:p>
          <a:p>
            <a:pPr algn="ctr">
              <a:lnSpc>
                <a:spcPct val="110000"/>
              </a:lnSpc>
              <a:spcAft>
                <a:spcPts val="100"/>
              </a:spcAft>
            </a:pPr>
            <a:r>
              <a:rPr sz="1300" b="0">
                <a:solidFill>
                  <a:srgbClr val="556175"/>
                </a:solidFill>
                <a:latin typeface="맑은 고딕"/>
                <a:ea typeface="맑은 고딕"/>
                <a:cs typeface="맑은 고딕"/>
              </a:rPr>
              <a:t>구성 요소로 갖는다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진단과 조치 쪽: 증상에서 근거 문서까지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방법이 근거 문서까지 관계로 이어져 있어, 추천안에는 그 조치의 근거가 함께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78</a:t>
            </a:r>
          </a:p>
        </p:txBody>
      </p:sp>
      <p:pic>
        <p:nvPicPr>
          <p:cNvPr id="6" name="삽화:연결_진단쪽.svg" descr="illust_7224415324011046653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2919" y="375498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8" name="TextBox 7"/>
          <p:cNvSpPr txBox="1"/>
          <p:nvPr/>
        </p:nvSpPr>
        <p:spPr>
          <a:xfrm>
            <a:off x="6204942" y="3045866"/>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10077813" y="3754983"/>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3619392" y="4180453"/>
            <a:ext cx="130913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1" name="TextBox 10"/>
          <p:cNvSpPr txBox="1"/>
          <p:nvPr/>
        </p:nvSpPr>
        <p:spPr>
          <a:xfrm>
            <a:off x="7841366" y="4180453"/>
            <a:ext cx="109094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2" name="TextBox 11"/>
          <p:cNvSpPr txBox="1"/>
          <p:nvPr/>
        </p:nvSpPr>
        <p:spPr>
          <a:xfrm>
            <a:off x="6204942" y="4605924"/>
            <a:ext cx="163642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완화된다</a:t>
            </a:r>
          </a:p>
        </p:txBody>
      </p:sp>
      <p:sp>
        <p:nvSpPr>
          <p:cNvPr id="13" name="TextBox 12"/>
          <p:cNvSpPr txBox="1"/>
          <p:nvPr/>
        </p:nvSpPr>
        <p:spPr>
          <a:xfrm>
            <a:off x="4132138" y="526776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4" name="TextBox 13"/>
          <p:cNvSpPr txBox="1"/>
          <p:nvPr/>
        </p:nvSpPr>
        <p:spPr>
          <a:xfrm>
            <a:off x="6390403" y="5693237"/>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HAS_STEP · REFERS_TO</a:t>
            </a:r>
          </a:p>
          <a:p>
            <a:pPr algn="ctr">
              <a:lnSpc>
                <a:spcPct val="110000"/>
              </a:lnSpc>
              <a:spcAft>
                <a:spcPts val="100"/>
              </a:spcAft>
            </a:pPr>
            <a:r>
              <a:rPr sz="1300" b="0">
                <a:solidFill>
                  <a:srgbClr val="556175"/>
                </a:solidFill>
                <a:latin typeface="맑은 고딕"/>
                <a:ea typeface="맑은 고딕"/>
                <a:cs typeface="맑은 고딕"/>
              </a:rPr>
              <a:t>단계를 거쳐 근거를 가리킨다</a:t>
            </a:r>
          </a:p>
        </p:txBody>
      </p:sp>
      <p:sp>
        <p:nvSpPr>
          <p:cNvPr id="15" name="TextBox 14"/>
          <p:cNvSpPr txBox="1"/>
          <p:nvPr/>
        </p:nvSpPr>
        <p:spPr>
          <a:xfrm>
            <a:off x="10077813" y="5267766"/>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근거 문서</a:t>
            </a:r>
          </a:p>
          <a:p>
            <a:pPr algn="ctr">
              <a:lnSpc>
                <a:spcPct val="110000"/>
              </a:lnSpc>
              <a:spcAft>
                <a:spcPts val="100"/>
              </a:spcAft>
            </a:pPr>
            <a:r>
              <a:rPr sz="1300" b="0">
                <a:solidFill>
                  <a:srgbClr val="556175"/>
                </a:solidFill>
                <a:latin typeface="맑은 고딕"/>
                <a:ea typeface="맑은 고딕"/>
                <a:cs typeface="맑은 고딕"/>
              </a:rPr>
              <a:t>매뉴얼 HM-8.5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온톨로지에 대한 흔한 오해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값의 저장소가 아니고 화살표는 통행 방향이 아니며, 온톨로지가 조치를 결정하지도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오해</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실제</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구분할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 그래프에 센서 값이 들어 있다</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읽는 방법이 들어 있고 값은 저장소에서 읽는다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지식과 값</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화살표는 한쪽으로만 따라갈 수 있다</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방향은 뜻을 정하며, 조회할 때는 거슬러 가기도 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뜻과 조회</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온톨로지가 있으면 AI가 알아서 조치한다</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관계를 따라 후보와 근거를 찾는 데까지이고, 조치는 사람이 승인한다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추천과 승인</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경보에서 온톨로지까지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원인을 말하지 않고 판단에 필요한 정보는 흩어져 있으므로, 대상과 관계를 정의해 컴퓨터가 따라가게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경보의 한계</a:t>
            </a:r>
          </a:p>
          <a:p>
            <a:pPr algn="ctr">
              <a:lnSpc>
                <a:spcPct val="110000"/>
              </a:lnSpc>
              <a:spcAft>
                <a:spcPts val="400"/>
              </a:spcAft>
            </a:pPr>
            <a:r>
              <a:rPr sz="1350" b="0">
                <a:solidFill>
                  <a:srgbClr val="1F2A3A"/>
                </a:solidFill>
                <a:latin typeface="맑은 고딕"/>
                <a:ea typeface="맑은 고딕"/>
                <a:cs typeface="맑은 고딕"/>
              </a:rPr>
              <a:t>조건을 벗어났다는</a:t>
            </a:r>
          </a:p>
          <a:p>
            <a:pPr algn="ctr">
              <a:lnSpc>
                <a:spcPct val="110000"/>
              </a:lnSpc>
              <a:spcAft>
                <a:spcPts val="400"/>
              </a:spcAft>
            </a:pPr>
            <a:r>
              <a:rPr sz="1350" b="0">
                <a:solidFill>
                  <a:srgbClr val="1F2A3A"/>
                </a:solidFill>
                <a:latin typeface="맑은 고딕"/>
                <a:ea typeface="맑은 고딕"/>
                <a:cs typeface="맑은 고딕"/>
              </a:rPr>
              <a:t>사실만 알린다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puzzle" descr="puzzle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흩어진 정보</a:t>
            </a:r>
          </a:p>
          <a:p>
            <a:pPr algn="ctr">
              <a:lnSpc>
                <a:spcPct val="110000"/>
              </a:lnSpc>
              <a:spcAft>
                <a:spcPts val="400"/>
              </a:spcAft>
            </a:pPr>
            <a:r>
              <a:rPr sz="1350" b="0">
                <a:solidFill>
                  <a:srgbClr val="1F2A3A"/>
                </a:solidFill>
                <a:latin typeface="맑은 고딕"/>
                <a:ea typeface="맑은 고딕"/>
                <a:cs typeface="맑은 고딕"/>
              </a:rPr>
              <a:t>값, 매뉴얼, 생산 일정이</a:t>
            </a:r>
          </a:p>
          <a:p>
            <a:pPr algn="ctr">
              <a:lnSpc>
                <a:spcPct val="110000"/>
              </a:lnSpc>
              <a:spcAft>
                <a:spcPts val="400"/>
              </a:spcAft>
            </a:pPr>
            <a:r>
              <a:rPr sz="1350" b="0">
                <a:solidFill>
                  <a:srgbClr val="1F2A3A"/>
                </a:solidFill>
                <a:latin typeface="맑은 고딕"/>
                <a:ea typeface="맑은 고딕"/>
                <a:cs typeface="맑은 고딕"/>
              </a:rPr>
              <a:t>서로 이어져 있지 않다</a:t>
            </a:r>
          </a:p>
        </p:txBody>
      </p:sp>
      <p:sp>
        <p:nvSpPr>
          <p:cNvPr id="17" name="Oval 16"/>
          <p:cNvSpPr/>
          <p:nvPr/>
        </p:nvSpPr>
        <p:spPr>
          <a:xfrm>
            <a:off x="7048309" y="2626042"/>
            <a:ext cx="868680" cy="868680"/>
          </a:xfrm>
          <a:prstGeom prst="ellipse">
            <a:avLst/>
          </a:prstGeom>
          <a:solidFill>
            <a:srgbClr val="5CB8F2"/>
          </a:solidFill>
          <a:ln>
            <a:noFill/>
          </a:ln>
        </p:spPr>
        <p:txBody>
          <a:bodyPr rtlCol="0" anchor="ctr"/>
          <a:lstStyle/>
          <a:p>
            <a:pPr algn="ctr"/>
          </a:p>
        </p:txBody>
      </p:sp>
      <p:pic>
        <p:nvPicPr>
          <p:cNvPr id="18" name="아이콘:topology-star-3" descr="topology-star-3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온톨로지</a:t>
            </a:r>
          </a:p>
          <a:p>
            <a:pPr algn="ctr">
              <a:lnSpc>
                <a:spcPct val="110000"/>
              </a:lnSpc>
              <a:spcAft>
                <a:spcPts val="400"/>
              </a:spcAft>
            </a:pPr>
            <a:r>
              <a:rPr sz="1350" b="0">
                <a:solidFill>
                  <a:srgbClr val="1F2A3A"/>
                </a:solidFill>
                <a:latin typeface="맑은 고딕"/>
                <a:ea typeface="맑은 고딕"/>
                <a:cs typeface="맑은 고딕"/>
              </a:rPr>
              <a:t>대상의 종류, 속성, 관계, 제약을</a:t>
            </a:r>
          </a:p>
          <a:p>
            <a:pPr algn="ctr">
              <a:lnSpc>
                <a:spcPct val="110000"/>
              </a:lnSpc>
              <a:spcAft>
                <a:spcPts val="400"/>
              </a:spcAft>
            </a:pPr>
            <a:r>
              <a:rPr sz="1350" b="0">
                <a:solidFill>
                  <a:srgbClr val="1F2A3A"/>
                </a:solidFill>
                <a:latin typeface="맑은 고딕"/>
                <a:ea typeface="맑은 고딕"/>
                <a:cs typeface="맑은 고딕"/>
              </a:rPr>
              <a:t>명시적으로 정의한다</a:t>
            </a:r>
          </a:p>
        </p:txBody>
      </p:sp>
      <p:sp>
        <p:nvSpPr>
          <p:cNvPr id="22" name="Oval 21"/>
          <p:cNvSpPr/>
          <p:nvPr/>
        </p:nvSpPr>
        <p:spPr>
          <a:xfrm>
            <a:off x="9821913" y="2626042"/>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route" descr="route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따라가기</a:t>
            </a:r>
          </a:p>
          <a:p>
            <a:pPr algn="ctr">
              <a:lnSpc>
                <a:spcPct val="110000"/>
              </a:lnSpc>
              <a:spcAft>
                <a:spcPts val="400"/>
              </a:spcAft>
            </a:pPr>
            <a:r>
              <a:rPr sz="1350" b="0">
                <a:solidFill>
                  <a:srgbClr val="1F2A3A"/>
                </a:solidFill>
                <a:latin typeface="맑은 고딕"/>
                <a:ea typeface="맑은 고딕"/>
                <a:cs typeface="맑은 고딕"/>
              </a:rPr>
              <a:t>관계를 따라</a:t>
            </a:r>
          </a:p>
          <a:p>
            <a:pPr algn="ctr">
              <a:lnSpc>
                <a:spcPct val="110000"/>
              </a:lnSpc>
              <a:spcAft>
                <a:spcPts val="400"/>
              </a:spcAft>
            </a:pPr>
            <a:r>
              <a:rPr sz="1350" b="0">
                <a:solidFill>
                  <a:srgbClr val="1F2A3A"/>
                </a:solidFill>
                <a:latin typeface="맑은 고딕"/>
                <a:ea typeface="맑은 고딕"/>
                <a:cs typeface="맑은 고딕"/>
              </a:rPr>
              <a:t>원인 후보와 조치에 이른다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이후 과정에서 온톨로지가 쓰이는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이후 과정은 오늘 본 지식 그래프를 직접 설계하고 채운 뒤 에이전트와 프로세스가 그것을 쓰게 만드는 순서로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구조 설계</a:t>
            </a:r>
          </a:p>
          <a:p>
            <a:pPr algn="ctr">
              <a:lnSpc>
                <a:spcPct val="110000"/>
              </a:lnSpc>
              <a:spcAft>
                <a:spcPts val="400"/>
              </a:spcAft>
            </a:pPr>
            <a:r>
              <a:rPr sz="1350" b="0">
                <a:solidFill>
                  <a:srgbClr val="1F2A3A"/>
                </a:solidFill>
                <a:latin typeface="맑은 고딕"/>
                <a:ea typeface="맑은 고딕"/>
                <a:cs typeface="맑은 고딕"/>
              </a:rPr>
              <a:t>대상의 종류와</a:t>
            </a:r>
          </a:p>
          <a:p>
            <a:pPr algn="ctr">
              <a:lnSpc>
                <a:spcPct val="110000"/>
              </a:lnSpc>
              <a:spcAft>
                <a:spcPts val="400"/>
              </a:spcAft>
            </a:pPr>
            <a:r>
              <a:rPr sz="1350" b="0">
                <a:solidFill>
                  <a:srgbClr val="1F2A3A"/>
                </a:solidFill>
                <a:latin typeface="맑은 고딕"/>
                <a:ea typeface="맑은 고딕"/>
                <a:cs typeface="맑은 고딕"/>
              </a:rPr>
              <a:t>관계의 틀을 정해</a:t>
            </a:r>
          </a:p>
          <a:p>
            <a:pPr algn="ctr">
              <a:lnSpc>
                <a:spcPct val="110000"/>
              </a:lnSpc>
              <a:spcAft>
                <a:spcPts val="400"/>
              </a:spcAft>
            </a:pPr>
            <a:r>
              <a:rPr sz="1350" b="0">
                <a:solidFill>
                  <a:srgbClr val="1F2A3A"/>
                </a:solidFill>
                <a:latin typeface="맑은 고딕"/>
                <a:ea typeface="맑은 고딕"/>
                <a:cs typeface="맑은 고딕"/>
              </a:rPr>
              <a:t>그래프 DB에 넣는다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list-check" descr="list-chec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조치와 판단</a:t>
            </a:r>
          </a:p>
          <a:p>
            <a:pPr algn="ctr">
              <a:lnSpc>
                <a:spcPct val="110000"/>
              </a:lnSpc>
              <a:spcAft>
                <a:spcPts val="400"/>
              </a:spcAft>
            </a:pPr>
            <a:r>
              <a:rPr sz="1350" b="0">
                <a:solidFill>
                  <a:srgbClr val="1F2A3A"/>
                </a:solidFill>
                <a:latin typeface="맑은 고딕"/>
                <a:ea typeface="맑은 고딕"/>
                <a:cs typeface="맑은 고딕"/>
              </a:rPr>
              <a:t>조치 절차,</a:t>
            </a:r>
          </a:p>
          <a:p>
            <a:pPr algn="ctr">
              <a:lnSpc>
                <a:spcPct val="110000"/>
              </a:lnSpc>
              <a:spcAft>
                <a:spcPts val="400"/>
              </a:spcAft>
            </a:pPr>
            <a:r>
              <a:rPr sz="1350" b="0">
                <a:solidFill>
                  <a:srgbClr val="1F2A3A"/>
                </a:solidFill>
                <a:latin typeface="맑은 고딕"/>
                <a:ea typeface="맑은 고딕"/>
                <a:cs typeface="맑은 고딕"/>
              </a:rPr>
              <a:t>판단 규칙, 성과 기준을</a:t>
            </a:r>
          </a:p>
          <a:p>
            <a:pPr algn="ctr">
              <a:lnSpc>
                <a:spcPct val="110000"/>
              </a:lnSpc>
              <a:spcAft>
                <a:spcPts val="400"/>
              </a:spcAft>
            </a:pPr>
            <a:r>
              <a:rPr sz="1350" b="0">
                <a:solidFill>
                  <a:srgbClr val="1F2A3A"/>
                </a:solidFill>
                <a:latin typeface="맑은 고딕"/>
                <a:ea typeface="맑은 고딕"/>
                <a:cs typeface="맑은 고딕"/>
              </a:rPr>
              <a:t>지식에 잇는다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file-search" descr="file-searc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문서에서 지식으로</a:t>
            </a:r>
          </a:p>
          <a:p>
            <a:pPr algn="ctr">
              <a:lnSpc>
                <a:spcPct val="110000"/>
              </a:lnSpc>
              <a:spcAft>
                <a:spcPts val="400"/>
              </a:spcAft>
            </a:pPr>
            <a:r>
              <a:rPr sz="1350" b="0">
                <a:solidFill>
                  <a:srgbClr val="1F2A3A"/>
                </a:solidFill>
                <a:latin typeface="맑은 고딕"/>
                <a:ea typeface="맑은 고딕"/>
                <a:cs typeface="맑은 고딕"/>
              </a:rPr>
              <a:t>매뉴얼에서</a:t>
            </a:r>
          </a:p>
          <a:p>
            <a:pPr algn="ctr">
              <a:lnSpc>
                <a:spcPct val="110000"/>
              </a:lnSpc>
              <a:spcAft>
                <a:spcPts val="400"/>
              </a:spcAft>
            </a:pPr>
            <a:r>
              <a:rPr sz="1350" b="0">
                <a:solidFill>
                  <a:srgbClr val="1F2A3A"/>
                </a:solidFill>
                <a:latin typeface="맑은 고딕"/>
                <a:ea typeface="맑은 고딕"/>
                <a:cs typeface="맑은 고딕"/>
              </a:rPr>
              <a:t>지식을 뽑아 검토하고</a:t>
            </a:r>
          </a:p>
          <a:p>
            <a:pPr algn="ctr">
              <a:lnSpc>
                <a:spcPct val="110000"/>
              </a:lnSpc>
              <a:spcAft>
                <a:spcPts val="400"/>
              </a:spcAft>
            </a:pPr>
            <a:r>
              <a:rPr sz="1350" b="0">
                <a:solidFill>
                  <a:srgbClr val="1F2A3A"/>
                </a:solidFill>
                <a:latin typeface="맑은 고딕"/>
                <a:ea typeface="맑은 고딕"/>
                <a:cs typeface="맑은 고딕"/>
              </a:rPr>
              <a:t>출처와 함께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robot" descr="robo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에이전트와 프로세스</a:t>
            </a:r>
          </a:p>
          <a:p>
            <a:pPr algn="ctr">
              <a:lnSpc>
                <a:spcPct val="110000"/>
              </a:lnSpc>
              <a:spcAft>
                <a:spcPts val="400"/>
              </a:spcAft>
            </a:pPr>
            <a:r>
              <a:rPr sz="1350" b="0">
                <a:solidFill>
                  <a:srgbClr val="1F2A3A"/>
                </a:solidFill>
                <a:latin typeface="맑은 고딕"/>
                <a:ea typeface="맑은 고딕"/>
                <a:cs typeface="맑은 고딕"/>
              </a:rPr>
              <a:t>이 지식을 조회해</a:t>
            </a:r>
          </a:p>
          <a:p>
            <a:pPr algn="ctr">
              <a:lnSpc>
                <a:spcPct val="110000"/>
              </a:lnSpc>
              <a:spcAft>
                <a:spcPts val="400"/>
              </a:spcAft>
            </a:pPr>
            <a:r>
              <a:rPr sz="1350" b="0">
                <a:solidFill>
                  <a:srgbClr val="1F2A3A"/>
                </a:solidFill>
                <a:latin typeface="맑은 고딕"/>
                <a:ea typeface="맑은 고딕"/>
                <a:cs typeface="맑은 고딕"/>
              </a:rPr>
              <a:t>판단하고</a:t>
            </a:r>
          </a:p>
          <a:p>
            <a:pPr algn="ctr">
              <a:lnSpc>
                <a:spcPct val="110000"/>
              </a:lnSpc>
              <a:spcAft>
                <a:spcPts val="400"/>
              </a:spcAft>
            </a:pPr>
            <a:r>
              <a:rPr sz="1350" b="0">
                <a:solidFill>
                  <a:srgbClr val="1F2A3A"/>
                </a:solidFill>
                <a:latin typeface="맑은 고딕"/>
                <a:ea typeface="맑은 고딕"/>
                <a:cs typeface="맑은 고딕"/>
              </a:rPr>
              <a:t>승인과 실행으로 잇는다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arrows.app에서 노드와 관계를 놓고 이름과 방향을 붙인다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센서, 증상, 원인, 조치를 이름과 방향이 있는 관계로 이은 그림 한 장이 이 실습의 결과물이다.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노드를 놓는다</a:t>
            </a:r>
          </a:p>
          <a:p>
            <a:pPr algn="l">
              <a:lnSpc>
                <a:spcPct val="110000"/>
              </a:lnSpc>
              <a:spcAft>
                <a:spcPts val="400"/>
              </a:spcAft>
            </a:pPr>
            <a:r>
              <a:rPr sz="1400" b="0">
                <a:solidFill>
                  <a:srgbClr val="1F2A3A"/>
                </a:solidFill>
                <a:latin typeface="맑은 고딕"/>
                <a:ea typeface="맑은 고딕"/>
                <a:cs typeface="맑은 고딕"/>
              </a:rPr>
              <a:t>• 설비, 센서, 증상, 원인, 조치를 노드로 만든다</a:t>
            </a:r>
          </a:p>
          <a:p>
            <a:pPr algn="l">
              <a:lnSpc>
                <a:spcPct val="110000"/>
              </a:lnSpc>
              <a:spcAft>
                <a:spcPts val="400"/>
              </a:spcAft>
            </a:pPr>
            <a:r>
              <a:rPr sz="1400" b="0">
                <a:solidFill>
                  <a:srgbClr val="1F2A3A"/>
                </a:solidFill>
                <a:latin typeface="맑은 고딕"/>
                <a:ea typeface="맑은 고딕"/>
                <a:cs typeface="맑은 고딕"/>
              </a:rPr>
              <a:t>• 노드마다 실제 대상의 이름을 적는다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arrows-right" descr="arrows-righ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관계를 잇는다</a:t>
            </a:r>
          </a:p>
          <a:p>
            <a:pPr algn="l">
              <a:lnSpc>
                <a:spcPct val="110000"/>
              </a:lnSpc>
              <a:spcAft>
                <a:spcPts val="400"/>
              </a:spcAft>
            </a:pPr>
            <a:r>
              <a:rPr sz="1400" b="0">
                <a:solidFill>
                  <a:srgbClr val="1F2A3A"/>
                </a:solidFill>
                <a:latin typeface="맑은 고딕"/>
                <a:ea typeface="맑은 고딕"/>
                <a:cs typeface="맑은 고딕"/>
              </a:rPr>
              <a:t>• 노드 사이에 화살표를 긋고 이름을 붙인다</a:t>
            </a:r>
          </a:p>
          <a:p>
            <a:pPr algn="l">
              <a:lnSpc>
                <a:spcPct val="110000"/>
              </a:lnSpc>
              <a:spcAft>
                <a:spcPts val="400"/>
              </a:spcAft>
            </a:pPr>
            <a:r>
              <a:rPr sz="1400" b="0">
                <a:solidFill>
                  <a:srgbClr val="1F2A3A"/>
                </a:solidFill>
                <a:latin typeface="맑은 고딕"/>
                <a:ea typeface="맑은 고딕"/>
                <a:cs typeface="맑은 고딕"/>
              </a:rPr>
              <a:t>• 관계의 이름은 스스로 정한다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message-check" descr="message-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문장으로 읽는다</a:t>
            </a:r>
          </a:p>
          <a:p>
            <a:pPr algn="l">
              <a:lnSpc>
                <a:spcPct val="110000"/>
              </a:lnSpc>
              <a:spcAft>
                <a:spcPts val="400"/>
              </a:spcAft>
            </a:pPr>
            <a:r>
              <a:rPr sz="1400" b="0">
                <a:solidFill>
                  <a:srgbClr val="1F2A3A"/>
                </a:solidFill>
                <a:latin typeface="맑은 고딕"/>
                <a:ea typeface="맑은 고딕"/>
                <a:cs typeface="맑은 고딕"/>
              </a:rPr>
              <a:t>• 화살표마다 주어, 서술어, 목적어로 읽는다</a:t>
            </a:r>
          </a:p>
          <a:p>
            <a:pPr algn="l">
              <a:lnSpc>
                <a:spcPct val="110000"/>
              </a:lnSpc>
              <a:spcAft>
                <a:spcPts val="400"/>
              </a:spcAft>
            </a:pPr>
            <a:r>
              <a:rPr sz="1400" b="0">
                <a:solidFill>
                  <a:srgbClr val="1F2A3A"/>
                </a:solidFill>
                <a:latin typeface="맑은 고딕"/>
                <a:ea typeface="맑은 고딕"/>
                <a:cs typeface="맑은 고딕"/>
              </a:rPr>
              <a:t>• 어색하면 이름이나 방향을 고친다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본문에서 풀어 쓴 약어의 정식 명칭과 HYD에서 그 역할을 맡는 구성요소를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약어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HYD에서</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OT · IT</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Operational Technology · Information Technology</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설비 영역 · 분석 영역</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DMZ</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Demilitarized Zone</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수집 · 명령 검사 구역</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PLC</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Programmable Logic Controller</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센서 값 읽기 · 인터록</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MQTT</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Message Queuing Telemetry Transport</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브로커(예: EMQX)</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SCADA</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Supervisory Control and Data Acquisition</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 화면</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HMI</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Human-Machine Interface</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 화면</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HITL</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Human-in-the-Loop</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담당자의 승인 · 거절</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MES</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Manufacturing Execution System</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납기의 출처</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HYD-01에서 쿨러 성능 저하 경보가 났고, 그때 팬 진동 VS1의 평균은 1.1 mm/s, 캐비닛 온도 TS4는 28 ℃였다.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값에서 내릴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유온이 올랐으므로 원인과 관계없이 팬을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관계의 이름과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핀 오염」이라는 원인 노드와 「쿨러 냉각 성능 상실」이라는 고장 유형 노드를 관계로 이으려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이름과 방향이 서로 맞게 적힌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냉각 성능 상실 — CAUSES → 쿨러 핀 오염</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CAUSED_BY → 쿨러 냉각 성능 상실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CAUSES → 쿨러 냉각 성능 상실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선만 이으면 되고 이름과 방향은 필요하지 않다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추천과 실행의 책임 경계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쿨러 핀 오염으로 가리고 「팬 최대 운전」을 추천했으며 담당자는 아직 승인하지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시점의 상태를 바르게 설명한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에이전트가 추천과 동시에 팬 속도 명령을 설비로 보냈다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지식 그래프에 조치가 연결되어 있으므로 승인 없이 실행된다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일정 시간이 지나면 추천안이 자동으로 실행된다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설비 명령은 아직 만들어지지 않았고 승인을 기다린다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모두 값과 원인, 이름과 방향, 추천과 실행을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89</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가른다.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문장으로 읽어 뜻이 통해야 한다. 「핀 오염은 냉각 성능 상실을 일으킨다」가 사실과 맞는다.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추천까지만 한다. 명령은 담당자가 승인한 뒤에만 만들어진다.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