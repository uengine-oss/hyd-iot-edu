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목표는 네 가지입니다. 강의에 들어가기 앞서 배운 것을 자산으로 남기는 방법을 익히고 개인 학습노트를 만듭니다. 그다음 제조 설비에서 AI의 판단과 조치까지 이어지는 HYD 시스템의 구조와 계층, 데이터 흐름을 봅니다. 실행 환경을 올려 설비 이상 한 건이 처리되는 흐름을 포털에서 따라간 뒤, 이 시스템이 돌아가려면 왜 온톨로지가 먼저 필요한지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 필기를 넘겨 정리한 문서는 보기에는 좋아도 읽고 이해하는 일은 그대로 남습니다. 자료를 덮고 자신의 말로 써 보면 문장이 끊기는 자리가 드러나고, 그 자리가 공부할 범위입니다. 이렇게 쓴 기록을 분류해 두고 다시 찾아 쓰는 것이 지식 자산화입니다.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기준은 둘입니다. 자료를 보지 않고 쓸 수 있는지, 말로 설명할 수 있는지입니다. 하나라도 막히면 그 자리가 아직 모르는 자리이고, 그 자리만 다시 공부해 고쳐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AI를 쓰지 말라는 것이 아니라 순서를 바꾸라는 것입니다. 먼저 물으면 답을 읽고 끝나서 자신의 문장이 남지 않습니다. 아는 범위를 먼저 써서 AI에 보여 주면 틀린 곳과 빠진 곳이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내용을 절차로 묶으면 네 단계입니다. 서술하고, 막힌 자리를 표시하고, 그 자리만 보완하고, 다시 확인합니다. 확인을 통과한 개념만 이해한 것으로 기록합니다.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기록할 것은 네 가지입니다. 개념 정의와 동작 원리는 오늘부터 쌓이며, 참고한 자료와 출처를 함께 연결해 두어야 나중에 근거를 다시 확인할 수 있습니다. 실습 결과와 오류 해결 과정은 랩이 시작되면 늘어납니다. 오류의 원인과 해결 과정은 같은 문제를 다시 만났을 때 가장 먼저 찾게 되는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 만드는 것은 내용이 아니라 내용이 들어갈 구조입니다. 과정 홈과 세 구획, 학습 노트 데이터베이스를 만들고 첫 기록 한 건을 넣습니다.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선행 교육에서 배운 내용을 먼저 되짚겠습니다. 설비에서 생긴 물리량을 센서가 재고, PLC가 그 값을 읽어 설비를 제어하며, 관제 화면이 값을 보여 주고 조작을 받습니다. 이 수업은 그다음, 곧 그 값이 어디에 쌓이고 판단과 조치로 어떻게 이어지는지를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단원은 사건 하나를 따라갑니다. 유압 설비 HYD-01의 유온이 정상값인 48 ℃에서 오르기 시작하는 사건입니다. 그 값이 어디서 생기고, 어디에 쌓이고, 누가 알아차리는지 순서대로 살펴보며 각 자리를 왜 그렇게 설계했는지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그림에서 작동유가 도는 길과 열이 빠지는 자리를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탱크와 펌프를 봅니다. 탱크는 작동유를 담아 두고, 펌프가 그 작동유를 빨아올려 압력을 걸어 위쪽의 부하로 보냅니다. 다음으로 부하에서 뜨거워져 돌아오는 작동유가 오일 쿨러의 관을 지나는 동안 팬이 보내는 바람에 열을 내줍니다. 쿨러가 열을 충분히 내보내지 못하면 덜 식은 작동유가 탱크로 돌아가 다시 돌고, 쿨러 입구에서 재는 TS1이 조금씩 오릅니다. 냉각 효율 CE가 떨어지고 유온이 오르는 것이 이 사건의 모습입니다.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처음 생기는 자리는 Layer 1, 센서 네트워크와 설비입니다. 센서가 잰 값을 가장 먼저 받는 것은 설비 옆의 PLC입니다. PLC는 값을 읽어 설비를 제어하고, 값이 위험 수준에 이르면 인터록으로 설비를 세웁니다. 이 판단을 설비 옆에서 하는 까닭은 서버까지 다녀오는 동안 설비가 손상될 수 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2.0이 뒤에서 다시 나옵니다. 세 조건은 모두 그대로 두면 설비가 상하는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제어기가 주고받는 통신에는 암호화와 인증이 없습니다. 사무 통신은 평균적으로 빠르면 되지만, 현장 통신은 어떤 경우에도 정해진 시간 안에 도착해야 합니다. 암호화와 인증은 처리 시간을 들쭉날쭉하게 만들기 때문에 싣지 않습니다. 대신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Layer 2, IoT 미들웨어입니다. 제어기 안의 값은 주소에 담긴 숫자여서 그 자체로는 무슨 값인지 알 수 없습니다. 엣지 게이트웨이는 이 숫자에 이름을 붙여 태그 값과 운전 상태로 올려 보냅니다. 이 단원에서는 위쪽의 유온 TS1과 냉각 효율 CE를 따라가고, 아래쪽의 운전 모드와 인터록 상태는 명령을 내려보낼 때 다시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값을 받아야 할 곳은 운전 화면과 수집 서비스 두 군데이고 앞으로 더 늘 수 있습니다. 보내는 쪽이 받는 쪽을 직접 연결하면 받는 쪽이 늘 때마다 설비 쪽 프로그램을 고쳐야 합니다. 가운데에 중개 서버를 두면 이 문제가 사라집니다. 이렇게 중개 서버를 두고 주고받는 통신 방식이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브로커입니다. 보내는 쪽인 발행자는 토픽이라는 주소를 붙여 브로커에 보내고, 받는 쪽인 구독자는 원하는 토픽을 받습니다. 그림에서 흐린 부분은 아직 다루지 않은 구간입니다. 발행자는 구독자가 누구인지 몰라도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값만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세 단계입니다. 브로커는 값을 보관하지 않으므로, 받는 쪽이 먼저 받고 싶은 토픽을 브로커에 등록합니다. 보내는 쪽은 값을 토픽에 실어 브로커로 보냅니다. 브로커는 해당 토픽을 등록해 둔 모든 구독자에게 메시지를 전달합니다.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사이에 있는 구역이 DMZ입니다. DMZ의 수집 서비스는 브로커를 구독해 받은 메시지를 IT의 이벤트 로그에 옮겨 적습니다. 값은 OT에서 IT로만 옮겨지며, 반대 방향으로는 쓰지 않습니다. 현장 통신을 단순하게 둔 대신, 들어오는 길을 좁혀 놓은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값을 옮겨 적는 곳은 Layer 3, 이벤트 백본의 이벤트 로그입니다. 브로커는 그 순간 구독 중인 쪽에 값을 전달한 뒤에는 보관하지 않습니다. 이벤트 로그는 값을 받은 순서대로 쌓아 두므로, 여러 서비스가 각자의 속도로 읽고 필요하면 처음부터 다시 읽을 수 있습니다. IT의 모든 서비스는 설비가 아니라 이 기록에서 값을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값도 옮겨 적히면서 모양이 달라집니다. 위쪽 메시지에서는 설비와 태그 이름이 토픽 경로에 있었지만, 아래쪽 레코드에서는 본문 안에 들어 있습니다. 그래서 레코드 한 건만 보아도 유압 설비 HYD-01의 유온이 55.71이라는 것을 알 수 있습니다. 키는 같은 설비의 값이 측정된 순서대로 읽히게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값을 읽는 첫 번째 계층은 Layer 4, 스트림 처리입니다. 값이 저장소에 쌓인 다음에 조회하면 이상이 생긴 때와 알아차리는 때 사이가 벌어집니다. 감지 서비스는 값이 기록되는 대로 하나씩 받아 조건에 견줍니다. 끊임없이 들어오는 값을 그 자리에서 처리하는 방식을 스트림 처리라고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유온은 쿨러가 멀쩡해도 오를 수 있으므로,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값이 아니라 어떤 일이 일어났는지를 남긴 기록입니다. 식별자는 이 경보 한 건을 가리키고, 패턴은 쿨러 성능 저하 조건이 성립했음을 나타냅니다. 값은 계속 바뀌므로, 경보가 난 순간의 유온 55.71과 냉각 효율 46.2를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값을 읽는 두 번째 계층은 Layer 5, 시계열 저장소입니다. 감지는 흐르는 값에서 하지만, 지나간 값을 시각으로 찾아보려면 저장해 두어야 합니다. 값 하나가 시각, 설비, 태그 이름, 값의 한 행으로 들어갑니다. 가운데 행의 55.71이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값을 사람에게 보여 주는 자리는 Layer 6, 관제입니다. 화면은 두 가지입니다. 운전 화면은 OT에서 브로커를 직접 구독해 현재 값을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유온에 대해 세 곳이 서로 다른 기준으로 반응합니다. 55 ℃에서 감지 서비스의 경보가 가장 먼저 나고, 60 ℃에서는 운전 화면의 알람이, 65 ℃에서는 PLC의 인터록이 반응합니다. 경보와 알람은 상황을 알리고, 인터록은 설비를 세웁니다. 인터록은 사람이 다시 걸어야 풀리므로, 55 ℃에서 먼저 나는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뒤의 일은 Layer 7부터 9까지, 곧 지식과 에이전트와 프로세스가 맡습니다. 에이전트는 지식과 값을 조회해 원인을 판단하고 조치안을 추천하지만, 설비에 명령을 보낼 수단은 없습니다. 담당자는 추천과 근거를 보고 승인하거나 거절합니다. 프로세스 엔진은 승인된 조치만 명령으로 만들어 내려보냅니다. 설비를 멈추거나 움직이는 결정에는 책임이 따르기 때문에 사람을 거치게 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명령이 내려가는 경로입니다. 프로세스 엔진은 승인된 조치를 명령으로 만들어 이벤트 로그에 기록합니다. DMZ의 명령 관문은 그 명령을 읽어 검사하고, 통과한 명령만 OT의 브로커로 내보냅니다. PLC는 받은 명령을 다시 검사한 뒤 설정값을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모습입니다. 할 일은 팬 속도를 100 %로 올리는 것입니다. 승인한 사람이 함께 적혀 있어 누가 책임지는지가 남습니다. 유효 시간이 지난 명령은 버려지므로, 상황이 달라진 뒤에 늦게 실행되는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곳이 보는 것이 달라 검사를 두 번 합니다. 먼저 왼쪽의 명령 관문은 명령의 형식, 유효 시간, 승인 기록, 운전 모드를 봅니다. 다음으로 오른쪽의 PLC는 값이 범위 안인지와 지금 인터록에 걸려 있지 않은지를 본 뒤 설정값을 바꾸고 결과를 돌려보냅니다. 명령서가 멀쩡해도 지금의 설비가 받을 수 없는 상태이면 PLC가 거부합니다.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1초 안에 끝났습니다. 검사가 조치를 늦추지 않았으며, 시간이 걸린 곳은 그 앞의 판단이었습니다.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따라온 값의 경로를 한 줄로 펼쳐 놓은 것이 데이터 리니지입니다. 센서와 PLC가 만든 원천 데이터는 가공 데이터가 되고, 조건이 성립하면 이상 이벤트가 되며, 이를 바탕으로 판단 결과가 나옵니다. 설비를 움직인 판단이 어떤 값에서 나왔는지 거꾸로 되짚을 수 있어야 그 판단을 믿을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예를 하나 보겠습니다. 위쪽은 센서가 잰 유온 값이고, 아래쪽은 그 값들로 계산한 기울기입니다. 기울기가 0보다 크면 유온이 오르고 있다는 뜻이며, 앞에서 본 경보 조건의 셋째 항목이 바로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거쳐 온 자리를 한 장에 모았습니다. 아래에서부터 Layer 1의 설비와 제어기, Layer 2의 엣지 게이트웨이와 브로커, Layer 3의 이벤트 로그, Layer 4의 스트림 처리, Layer 5의 시계열 저장소, Layer 6의 두 화면까지 올라왔습니다. 계층은 하는 일에 따라 나눈 것이고, 오른쪽의 세 칸은 놓인 망에 따라 나눈 보안 영역입니다. 파란 점은 각 계층이 놓인 영역을 나타냅니다.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6까지는 값을 모으고 이상을 알릴 뿐 원인을 가리지는 않습니다. 경보 뒤의 일은 위의 세 계층이 맡습니다. Layer 7은 증상과 원인, 조치의 관계를 지식으로 보관하고, Layer 8의 에이전트는 그 지식과 값을 조회해 조치를 추천하며, Layer 9의 프로세스 엔진은 승인을 받아 실행합니다. 이 수업은 앞으로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마무리하겠습니다. 설비 옆의 통신에는 암호화와 인증이 없습니다. 정해진 시간을 지키기 위해 단순하게 둔 것이며, 대신 구조가 설비를 지킵니다. 값은 수집 서비스를 거쳐 위로만 올라가고, 명령은 사람의 승인, 명령 관문의 검사, PLC의 검사를 모두 거친 것만 내려옵니다.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 각 단계가 어떻게 만들어지는지는 이어지는 회차에서 하나씩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모자랐던 것을 세 낱말로 나누어, 같은 사건의 문장 다섯 개로 보겠습니다.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같은 증상을 두고 누구는 온도 상승이라고 하고 누구는 과열이라고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시계열 저장소에서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그림에서 본 노드의 종류와 화살표가 온톨로지가 정의하는 네 가지 가운데 종류와 관계입니다. 여기에 속성과 제약이 더해집니다. 먼저 종류와 속성입니다. HYD의 온톨로지는 설비 쪽, 진단 쪽, 조치 쪽으로 종류를 두고, 유온이라는 대상에는 단위와 정상값과 한계가 속성으로 적혀 있습니다. 관계는 이름이 다르면 뜻이 달라서, 같은 고장 유형에서 조치로 가는 선이라도 MITIGATED_BY는 우선 완화하고 REMEDIED_BY는 근본적으로 없앱니다.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풀어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4.png"/><Relationship Id="rId4" Type="http://schemas.openxmlformats.org/officeDocument/2006/relationships/image" Target="../media/image27.png"/><Relationship Id="rId5" Type="http://schemas.openxmlformats.org/officeDocument/2006/relationships/image" Target="../media/image2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24.png"/><Relationship Id="rId5" Type="http://schemas.openxmlformats.org/officeDocument/2006/relationships/image" Target="../media/image3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2.png"/><Relationship Id="rId4"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3.png"/><Relationship Id="rId4" Type="http://schemas.openxmlformats.org/officeDocument/2006/relationships/image" Target="../media/image3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3.png"/><Relationship Id="rId4" Type="http://schemas.openxmlformats.org/officeDocument/2006/relationships/image" Target="../media/image3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4.png"/><Relationship Id="rId4"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2.png"/><Relationship Id="rId4"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4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1.png"/><Relationship Id="rId4" Type="http://schemas.openxmlformats.org/officeDocument/2006/relationships/image" Target="../media/image4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9.png"/><Relationship Id="rId4" Type="http://schemas.openxmlformats.org/officeDocument/2006/relationships/image" Target="../media/image43.png"/><Relationship Id="rId5" Type="http://schemas.openxmlformats.org/officeDocument/2006/relationships/image" Target="../media/image4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7.png"/><Relationship Id="rId4" Type="http://schemas.openxmlformats.org/officeDocument/2006/relationships/image" Target="../media/image27.png"/><Relationship Id="rId5" Type="http://schemas.openxmlformats.org/officeDocument/2006/relationships/image" Target="../media/image44.png"/><Relationship Id="rId6" Type="http://schemas.openxmlformats.org/officeDocument/2006/relationships/image" Target="../media/image34.png"/><Relationship Id="rId7" Type="http://schemas.openxmlformats.org/officeDocument/2006/relationships/image" Target="../media/image2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7.png"/><Relationship Id="rId4" Type="http://schemas.openxmlformats.org/officeDocument/2006/relationships/image" Target="../media/image4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46.png"/><Relationship Id="rId4" Type="http://schemas.openxmlformats.org/officeDocument/2006/relationships/image" Target="../media/image37.png"/><Relationship Id="rId5" Type="http://schemas.openxmlformats.org/officeDocument/2006/relationships/image" Target="../media/image4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4.png"/><Relationship Id="rId4" Type="http://schemas.openxmlformats.org/officeDocument/2006/relationships/image" Target="../media/image49.png"/><Relationship Id="rId5" Type="http://schemas.openxmlformats.org/officeDocument/2006/relationships/image" Target="../media/image28.png"/><Relationship Id="rId6" Type="http://schemas.openxmlformats.org/officeDocument/2006/relationships/image" Target="../media/image4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8.png"/><Relationship Id="rId4" Type="http://schemas.openxmlformats.org/officeDocument/2006/relationships/image" Target="../media/image47.png"/><Relationship Id="rId5" Type="http://schemas.openxmlformats.org/officeDocument/2006/relationships/image" Target="../media/image45.png"/><Relationship Id="rId6" Type="http://schemas.openxmlformats.org/officeDocument/2006/relationships/image" Target="../media/image37.png"/><Relationship Id="rId7" Type="http://schemas.openxmlformats.org/officeDocument/2006/relationships/image" Target="../media/image5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5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28.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17.png"/><Relationship Id="rId7" Type="http://schemas.openxmlformats.org/officeDocument/2006/relationships/image" Target="../media/image5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4.png"/><Relationship Id="rId4" Type="http://schemas.openxmlformats.org/officeDocument/2006/relationships/image" Target="../media/image28.png"/><Relationship Id="rId5" Type="http://schemas.openxmlformats.org/officeDocument/2006/relationships/image" Target="../media/image13.png"/><Relationship Id="rId6" Type="http://schemas.openxmlformats.org/officeDocument/2006/relationships/image" Target="../media/image4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24.png"/><Relationship Id="rId4" Type="http://schemas.openxmlformats.org/officeDocument/2006/relationships/image" Target="../media/image60.png"/><Relationship Id="rId5" Type="http://schemas.openxmlformats.org/officeDocument/2006/relationships/image" Target="../media/image1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6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62.png"/><Relationship Id="rId4" Type="http://schemas.openxmlformats.org/officeDocument/2006/relationships/image" Target="../media/image5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48.png"/><Relationship Id="rId4" Type="http://schemas.openxmlformats.org/officeDocument/2006/relationships/image" Target="../media/image64.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5.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66.png"/><Relationship Id="rId4" Type="http://schemas.openxmlformats.org/officeDocument/2006/relationships/image" Target="../media/image64.png"/><Relationship Id="rId5" Type="http://schemas.openxmlformats.org/officeDocument/2006/relationships/image" Target="../media/image36.png"/><Relationship Id="rId6" Type="http://schemas.openxmlformats.org/officeDocument/2006/relationships/image" Target="../media/image57.png"/><Relationship Id="rId7" Type="http://schemas.openxmlformats.org/officeDocument/2006/relationships/image" Target="../media/image46.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67.png"/><Relationship Id="rId4" Type="http://schemas.openxmlformats.org/officeDocument/2006/relationships/image" Target="../media/image68.png"/><Relationship Id="rId5" Type="http://schemas.openxmlformats.org/officeDocument/2006/relationships/image" Target="../media/image4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69.png"/><Relationship Id="rId4" Type="http://schemas.openxmlformats.org/officeDocument/2006/relationships/image" Target="../media/image9.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70.png"/><Relationship Id="rId4" Type="http://schemas.openxmlformats.org/officeDocument/2006/relationships/image" Target="../media/image7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67.png"/><Relationship Id="rId4" Type="http://schemas.openxmlformats.org/officeDocument/2006/relationships/image" Target="../media/image25.png"/><Relationship Id="rId5" Type="http://schemas.openxmlformats.org/officeDocument/2006/relationships/image" Target="../media/image1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30.png"/><Relationship Id="rId4" Type="http://schemas.openxmlformats.org/officeDocument/2006/relationships/image" Target="../media/image63.png"/><Relationship Id="rId5" Type="http://schemas.openxmlformats.org/officeDocument/2006/relationships/image" Target="../media/image3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10.png"/><Relationship Id="rId4" Type="http://schemas.openxmlformats.org/officeDocument/2006/relationships/image" Target="../media/image22.png"/><Relationship Id="rId5" Type="http://schemas.openxmlformats.org/officeDocument/2006/relationships/image" Target="../media/image7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74.png"/><Relationship Id="rId4" Type="http://schemas.openxmlformats.org/officeDocument/2006/relationships/image" Target="../media/image75.png"/><Relationship Id="rId5" Type="http://schemas.openxmlformats.org/officeDocument/2006/relationships/image" Target="../media/image44.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76.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77.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78.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79.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80.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8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28.png"/><Relationship Id="rId4" Type="http://schemas.openxmlformats.org/officeDocument/2006/relationships/image" Target="../media/image82.png"/><Relationship Id="rId5" Type="http://schemas.openxmlformats.org/officeDocument/2006/relationships/image" Target="../media/image8.png"/><Relationship Id="rId6" Type="http://schemas.openxmlformats.org/officeDocument/2006/relationships/image" Target="../media/image83.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72.png"/><Relationship Id="rId4" Type="http://schemas.openxmlformats.org/officeDocument/2006/relationships/image" Target="../media/image36.png"/><Relationship Id="rId5" Type="http://schemas.openxmlformats.org/officeDocument/2006/relationships/image" Target="../media/image84.png"/><Relationship Id="rId6" Type="http://schemas.openxmlformats.org/officeDocument/2006/relationships/image" Target="../media/image45.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85.png"/><Relationship Id="rId4" Type="http://schemas.openxmlformats.org/officeDocument/2006/relationships/image" Target="../media/image86.png"/><Relationship Id="rId5" Type="http://schemas.openxmlformats.org/officeDocument/2006/relationships/image" Target="../media/image87.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데이터가 판단과 조치로</a:t>
            </a:r>
          </a:p>
          <a:p>
            <a:pPr algn="l">
              <a:lnSpc>
                <a:spcPct val="110000"/>
              </a:lnSpc>
            </a:pPr>
            <a:r>
              <a:rPr sz="4000" b="1">
                <a:solidFill>
                  <a:srgbClr val="FFFFFF"/>
                </a:solidFill>
                <a:latin typeface="맑은 고딕"/>
                <a:ea typeface="맑은 고딕"/>
                <a:cs typeface="맑은 고딕"/>
              </a:rPr>
              <a:t>이어지는 전체 흐름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HYD 시스템의 구조와 데이터 흐름, 온톨로지가 먼저 필요한 까닭</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배운 것을 기록하는 틀을 세우고, HYD 시스템의 구조와 흐름을 따라가 온톨로지가 먼저 필요한 까닭을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66556"/>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20175"/>
            <a:ext cx="424281" cy="424281"/>
          </a:xfrm>
          <a:prstGeom prst="rect">
            <a:avLst/>
          </a:prstGeom>
        </p:spPr>
      </p:pic>
      <p:sp>
        <p:nvSpPr>
          <p:cNvPr id="9" name="TextBox 8"/>
          <p:cNvSpPr txBox="1"/>
          <p:nvPr/>
        </p:nvSpPr>
        <p:spPr>
          <a:xfrm>
            <a:off x="713232"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것을 자신의 문장으로 기록해 자산으로 만드는 방법을 익힌다</a:t>
            </a:r>
          </a:p>
          <a:p>
            <a:pPr algn="l">
              <a:lnSpc>
                <a:spcPct val="110000"/>
              </a:lnSpc>
              <a:spcAft>
                <a:spcPts val="400"/>
              </a:spcAft>
            </a:pPr>
            <a:r>
              <a:rPr sz="1350" b="0">
                <a:solidFill>
                  <a:srgbClr val="1F2A3A"/>
                </a:solidFill>
                <a:latin typeface="맑은 고딕"/>
                <a:ea typeface="맑은 고딕"/>
                <a:cs typeface="맑은 고딕"/>
              </a:rPr>
              <a:t>• 개인 학습노트를 만들어 앞으로 배우는 것을 쌓아 간다</a:t>
            </a:r>
          </a:p>
        </p:txBody>
      </p:sp>
      <p:sp>
        <p:nvSpPr>
          <p:cNvPr id="10" name="Rounded Rectangle 9"/>
          <p:cNvSpPr/>
          <p:nvPr/>
        </p:nvSpPr>
        <p:spPr>
          <a:xfrm>
            <a:off x="777240" y="5587555"/>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8755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66556"/>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20175"/>
            <a:ext cx="424281" cy="424281"/>
          </a:xfrm>
          <a:prstGeom prst="rect">
            <a:avLst/>
          </a:prstGeom>
        </p:spPr>
      </p:pic>
      <p:sp>
        <p:nvSpPr>
          <p:cNvPr id="15" name="TextBox 14"/>
          <p:cNvSpPr txBox="1"/>
          <p:nvPr/>
        </p:nvSpPr>
        <p:spPr>
          <a:xfrm>
            <a:off x="3555415"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 구조와 데이터 흐름</a:t>
            </a:r>
          </a:p>
          <a:p>
            <a:pPr algn="l">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 시스템의 구조와 계층을 이해한다</a:t>
            </a:r>
          </a:p>
          <a:p>
            <a:pPr algn="l">
              <a:lnSpc>
                <a:spcPct val="110000"/>
              </a:lnSpc>
              <a:spcAft>
                <a:spcPts val="400"/>
              </a:spcAft>
            </a:pPr>
            <a:r>
              <a:rPr sz="1350" b="0">
                <a:solidFill>
                  <a:srgbClr val="1F2A3A"/>
                </a:solidFill>
                <a:latin typeface="맑은 고딕"/>
                <a:ea typeface="맑은 고딕"/>
                <a:cs typeface="맑은 고딕"/>
              </a:rPr>
              <a:t>• 값이 올라가는 길과 명령이 내려가는 길을 따라간다</a:t>
            </a:r>
          </a:p>
        </p:txBody>
      </p:sp>
      <p:sp>
        <p:nvSpPr>
          <p:cNvPr id="16" name="Rounded Rectangle 15"/>
          <p:cNvSpPr/>
          <p:nvPr/>
        </p:nvSpPr>
        <p:spPr>
          <a:xfrm>
            <a:off x="3619423" y="5587555"/>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8755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시스템 아키텍처</a:t>
            </a:r>
          </a:p>
        </p:txBody>
      </p:sp>
      <p:sp>
        <p:nvSpPr>
          <p:cNvPr id="18" name="Rounded Rectangle 17"/>
          <p:cNvSpPr/>
          <p:nvPr/>
        </p:nvSpPr>
        <p:spPr>
          <a:xfrm>
            <a:off x="6233007"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66556"/>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20175"/>
            <a:ext cx="424281" cy="424281"/>
          </a:xfrm>
          <a:prstGeom prst="rect">
            <a:avLst/>
          </a:prstGeom>
        </p:spPr>
      </p:pic>
      <p:sp>
        <p:nvSpPr>
          <p:cNvPr id="21" name="TextBox 20"/>
          <p:cNvSpPr txBox="1"/>
          <p:nvPr/>
        </p:nvSpPr>
        <p:spPr>
          <a:xfrm>
            <a:off x="6397599"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실행</a:t>
            </a:r>
          </a:p>
          <a:p>
            <a:pPr algn="l">
              <a:lnSpc>
                <a:spcPct val="110000"/>
              </a:lnSpc>
              <a:spcAft>
                <a:spcPts val="400"/>
              </a:spcAft>
            </a:pPr>
            <a:r>
              <a:rPr sz="1350" b="0">
                <a:solidFill>
                  <a:srgbClr val="1F2A3A"/>
                </a:solidFill>
                <a:latin typeface="맑은 고딕"/>
                <a:ea typeface="맑은 고딕"/>
                <a:cs typeface="맑은 고딕"/>
              </a:rPr>
              <a:t>• 실행 환경을 올리고 설비 이상 한 건을 실제로 처리한다</a:t>
            </a:r>
          </a:p>
          <a:p>
            <a:pPr algn="l">
              <a:lnSpc>
                <a:spcPct val="110000"/>
              </a:lnSpc>
              <a:spcAft>
                <a:spcPts val="400"/>
              </a:spcAft>
            </a:pPr>
            <a:r>
              <a:rPr sz="1350" b="0">
                <a:solidFill>
                  <a:srgbClr val="1F2A3A"/>
                </a:solidFill>
                <a:latin typeface="맑은 고딕"/>
                <a:ea typeface="맑은 고딕"/>
                <a:cs typeface="맑은 고딕"/>
              </a:rPr>
              <a:t>• 경보에서 조치까지의 흐름을 포털에서 눈으로 따라간다</a:t>
            </a:r>
          </a:p>
        </p:txBody>
      </p:sp>
      <p:sp>
        <p:nvSpPr>
          <p:cNvPr id="22" name="Rounded Rectangle 21"/>
          <p:cNvSpPr/>
          <p:nvPr/>
        </p:nvSpPr>
        <p:spPr>
          <a:xfrm>
            <a:off x="6461607" y="5587555"/>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8755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1965388"/>
            <a:ext cx="2567863" cy="40519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66556"/>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20175"/>
            <a:ext cx="424281" cy="424281"/>
          </a:xfrm>
          <a:prstGeom prst="rect">
            <a:avLst/>
          </a:prstGeom>
        </p:spPr>
      </p:pic>
      <p:sp>
        <p:nvSpPr>
          <p:cNvPr id="27" name="TextBox 26"/>
          <p:cNvSpPr txBox="1"/>
          <p:nvPr/>
        </p:nvSpPr>
        <p:spPr>
          <a:xfrm>
            <a:off x="9239783"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온톨로지의 필요성</a:t>
            </a:r>
          </a:p>
          <a:p>
            <a:pPr algn="l">
              <a:lnSpc>
                <a:spcPct val="110000"/>
              </a:lnSpc>
              <a:spcAft>
                <a:spcPts val="400"/>
              </a:spcAft>
            </a:pPr>
            <a:r>
              <a:rPr sz="1350" b="0">
                <a:solidFill>
                  <a:srgbClr val="1F2A3A"/>
                </a:solidFill>
                <a:latin typeface="맑은 고딕"/>
                <a:ea typeface="맑은 고딕"/>
                <a:cs typeface="맑은 고딕"/>
              </a:rPr>
              <a:t>• 이 시스템이 돌아가려면 왜 온톨로지가 먼저 있어야 하는지 설명한다</a:t>
            </a:r>
          </a:p>
          <a:p>
            <a:pPr algn="l">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87555"/>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87555"/>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강의에 앞서, 배운 것을 자신의 문장으로 남겨 다시 쓰는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문서와 자신의 언어로 다시 쓴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AI가 정리해 준 문서는 결과물일 뿐이며, 이해는 학습자가 자신의 언어로 다시 쓸 때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AI가 정리해 준 문서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넘겨 정리를 맡긴 결과물이다</a:t>
            </a:r>
          </a:p>
          <a:p>
            <a:pPr algn="l">
              <a:lnSpc>
                <a:spcPct val="110000"/>
              </a:lnSpc>
              <a:spcAft>
                <a:spcPts val="600"/>
              </a:spcAft>
            </a:pPr>
            <a:r>
              <a:rPr sz="1450" b="0">
                <a:solidFill>
                  <a:srgbClr val="1F2A3A"/>
                </a:solidFill>
                <a:latin typeface="맑은 고딕"/>
                <a:ea typeface="맑은 고딕"/>
                <a:cs typeface="맑은 고딕"/>
              </a:rPr>
              <a:t>• 형식은 정돈되어 있으나 학습자의 판단이 들어 있지 않다</a:t>
            </a:r>
          </a:p>
          <a:p>
            <a:pPr algn="l">
              <a:lnSpc>
                <a:spcPct val="110000"/>
              </a:lnSpc>
              <a:spcAft>
                <a:spcPts val="600"/>
              </a:spcAft>
            </a:pPr>
            <a:r>
              <a:rPr sz="1450" b="0">
                <a:solidFill>
                  <a:srgbClr val="1F2A3A"/>
                </a:solidFill>
                <a:latin typeface="맑은 고딕"/>
                <a:ea typeface="맑은 고딕"/>
                <a:cs typeface="맑은 고딕"/>
              </a:rPr>
              <a:t>• 읽을 때는 아는 것 같지만 자료 없이 설명하면 막힌다</a:t>
            </a:r>
          </a:p>
          <a:p>
            <a:pPr algn="l">
              <a:lnSpc>
                <a:spcPct val="110000"/>
              </a:lnSpc>
              <a:spcAft>
                <a:spcPts val="600"/>
              </a:spcAft>
            </a:pPr>
            <a:r>
              <a:rPr sz="1450" b="0">
                <a:solidFill>
                  <a:srgbClr val="1F2A3A"/>
                </a:solidFill>
                <a:latin typeface="맑은 고딕"/>
                <a:ea typeface="맑은 고딕"/>
                <a:cs typeface="맑은 고딕"/>
              </a:rPr>
              <a:t>• 쌓일수록 다시 열지 않게 된다</a:t>
            </a:r>
          </a:p>
        </p:txBody>
      </p:sp>
      <p:sp>
        <p:nvSpPr>
          <p:cNvPr id="11" name="Rounded Rectangle 10"/>
          <p:cNvSpPr/>
          <p:nvPr/>
        </p:nvSpPr>
        <p:spPr>
          <a:xfrm>
            <a:off x="868680" y="5396865"/>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보관된 문서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자신의 언어로 다시 쓴 기록</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보지 않고 개념을 직접 서술한 기록이다</a:t>
            </a:r>
          </a:p>
          <a:p>
            <a:pPr algn="l">
              <a:lnSpc>
                <a:spcPct val="110000"/>
              </a:lnSpc>
              <a:spcAft>
                <a:spcPts val="600"/>
              </a:spcAft>
            </a:pPr>
            <a:r>
              <a:rPr sz="1450" b="0">
                <a:solidFill>
                  <a:srgbClr val="1F2A3A"/>
                </a:solidFill>
                <a:latin typeface="맑은 고딕"/>
                <a:ea typeface="맑은 고딕"/>
                <a:cs typeface="맑은 고딕"/>
              </a:rPr>
              <a:t>• 서술이 끊기는 자리에서 모르는 부분이 드러난다</a:t>
            </a:r>
          </a:p>
          <a:p>
            <a:pPr algn="l">
              <a:lnSpc>
                <a:spcPct val="110000"/>
              </a:lnSpc>
              <a:spcAft>
                <a:spcPts val="600"/>
              </a:spcAft>
            </a:pPr>
            <a:r>
              <a:rPr sz="1450" b="0">
                <a:solidFill>
                  <a:srgbClr val="1F2A3A"/>
                </a:solidFill>
                <a:latin typeface="맑은 고딕"/>
                <a:ea typeface="맑은 고딕"/>
                <a:cs typeface="맑은 고딕"/>
              </a:rPr>
              <a:t>• 그 부분을 보완해 고쳐 쓴 문장은 다시 설명할 수 있다</a:t>
            </a:r>
          </a:p>
          <a:p>
            <a:pPr algn="l">
              <a:lnSpc>
                <a:spcPct val="110000"/>
              </a:lnSpc>
              <a:spcAft>
                <a:spcPts val="600"/>
              </a:spcAft>
            </a:pPr>
            <a:r>
              <a:rPr sz="1450" b="0">
                <a:solidFill>
                  <a:srgbClr val="1F2A3A"/>
                </a:solidFill>
                <a:latin typeface="맑은 고딕"/>
                <a:ea typeface="맑은 고딕"/>
                <a:cs typeface="맑은 고딕"/>
              </a:rPr>
              <a:t>• 분류와 이해도를 함께 적어 두어 다시 찾아 쓴다</a:t>
            </a:r>
          </a:p>
        </p:txBody>
      </p:sp>
      <p:sp>
        <p:nvSpPr>
          <p:cNvPr id="18" name="Rounded Rectangle 17"/>
          <p:cNvSpPr/>
          <p:nvPr/>
        </p:nvSpPr>
        <p:spPr>
          <a:xfrm>
            <a:off x="6781647" y="5396865"/>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재사용하는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이해의 판정 기준: 설명 가능성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개념을 자료 없이 설명할 수 있는지가 이해 여부를 판정하는 가장 직접적인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writing" descr="writing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써 본다</a:t>
            </a:r>
          </a:p>
          <a:p>
            <a:pPr algn="l">
              <a:lnSpc>
                <a:spcPct val="110000"/>
              </a:lnSpc>
              <a:spcAft>
                <a:spcPts val="400"/>
              </a:spcAft>
            </a:pPr>
            <a:r>
              <a:rPr sz="1400" b="0">
                <a:solidFill>
                  <a:srgbClr val="1F2A3A"/>
                </a:solidFill>
                <a:latin typeface="맑은 고딕"/>
                <a:ea typeface="맑은 고딕"/>
                <a:cs typeface="맑은 고딕"/>
              </a:rPr>
              <a:t>자료를 덮고 정의, 동작 원리, 쓰임을 자신의 문장으로 적는다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microphone" descr="microphon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설명해 본다</a:t>
            </a:r>
          </a:p>
          <a:p>
            <a:pPr algn="l">
              <a:lnSpc>
                <a:spcPct val="110000"/>
              </a:lnSpc>
              <a:spcAft>
                <a:spcPts val="400"/>
              </a:spcAft>
            </a:pPr>
            <a:r>
              <a:rPr sz="1400" b="0">
                <a:solidFill>
                  <a:srgbClr val="1F2A3A"/>
                </a:solidFill>
                <a:latin typeface="맑은 고딕"/>
                <a:ea typeface="맑은 고딕"/>
                <a:cs typeface="맑은 고딕"/>
              </a:rPr>
              <a:t>• 다른 사람에게 말로 설명한다</a:t>
            </a:r>
          </a:p>
          <a:p>
            <a:pPr algn="l">
              <a:lnSpc>
                <a:spcPct val="110000"/>
              </a:lnSpc>
              <a:spcAft>
                <a:spcPts val="400"/>
              </a:spcAft>
            </a:pPr>
            <a:r>
              <a:rPr sz="1400" b="0">
                <a:solidFill>
                  <a:srgbClr val="1F2A3A"/>
                </a:solidFill>
                <a:latin typeface="맑은 고딕"/>
                <a:ea typeface="맑은 고딕"/>
                <a:cs typeface="맑은 고딕"/>
              </a:rPr>
              <a:t>• 표현이 달라도 뜻이 같으면 이해한 것이다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말</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자리</a:t>
            </a:r>
          </a:p>
          <a:p>
            <a:pPr algn="l">
              <a:lnSpc>
                <a:spcPct val="110000"/>
              </a:lnSpc>
              <a:spcAft>
                <a:spcPts val="400"/>
              </a:spcAft>
            </a:pPr>
            <a:r>
              <a:rPr sz="1400" b="0">
                <a:solidFill>
                  <a:srgbClr val="1F2A3A"/>
                </a:solidFill>
                <a:latin typeface="맑은 고딕"/>
                <a:ea typeface="맑은 고딕"/>
                <a:cs typeface="맑은 고딕"/>
              </a:rPr>
              <a:t>• 둘 중 하나라도 막히면 그 자리가 아직 모르는 자리이다</a:t>
            </a:r>
          </a:p>
          <a:p>
            <a:pPr algn="l">
              <a:lnSpc>
                <a:spcPct val="110000"/>
              </a:lnSpc>
              <a:spcAft>
                <a:spcPts val="400"/>
              </a:spcAft>
            </a:pPr>
            <a:r>
              <a:rPr sz="1400" b="0">
                <a:solidFill>
                  <a:srgbClr val="1F2A3A"/>
                </a:solidFill>
                <a:latin typeface="맑은 고딕"/>
                <a:ea typeface="맑은 고딕"/>
                <a:cs typeface="맑은 고딕"/>
              </a:rPr>
              <a:t>• 그 자리만 다시 공부해 고쳐 쓴다</a:t>
            </a:r>
          </a:p>
        </p:txBody>
      </p:sp>
      <p:sp>
        <p:nvSpPr>
          <p:cNvPr id="22" name="Rounded Rectangle 21"/>
          <p:cNvSpPr/>
          <p:nvPr/>
        </p:nvSpPr>
        <p:spPr>
          <a:xfrm>
            <a:off x="8356396" y="5041392"/>
            <a:ext cx="12191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볼 범위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 활용 순서: 질문 먼저와 서술 먼저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먼저 묻지 않고 아는 범위를 먼저 서술하면 보완해야 할 자리가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먼저 묻는다</a:t>
            </a:r>
          </a:p>
        </p:txBody>
      </p:sp>
      <p:sp>
        <p:nvSpPr>
          <p:cNvPr id="8" name="TextBox 7"/>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질문하고 답을 읽는 것으로 끝난다</a:t>
            </a:r>
          </a:p>
          <a:p>
            <a:pPr algn="l">
              <a:lnSpc>
                <a:spcPct val="110000"/>
              </a:lnSpc>
              <a:spcAft>
                <a:spcPts val="600"/>
              </a:spcAft>
            </a:pPr>
            <a:r>
              <a:rPr sz="1450" b="0">
                <a:solidFill>
                  <a:srgbClr val="1F2A3A"/>
                </a:solidFill>
                <a:latin typeface="맑은 고딕"/>
                <a:ea typeface="맑은 고딕"/>
                <a:cs typeface="맑은 고딕"/>
              </a:rPr>
              <a:t>• 자신의 서술이 남지 않는다</a:t>
            </a:r>
          </a:p>
          <a:p>
            <a:pPr algn="l">
              <a:lnSpc>
                <a:spcPct val="110000"/>
              </a:lnSpc>
              <a:spcAft>
                <a:spcPts val="600"/>
              </a:spcAft>
            </a:pPr>
            <a:r>
              <a:rPr sz="1450" b="0">
                <a:solidFill>
                  <a:srgbClr val="1F2A3A"/>
                </a:solidFill>
                <a:latin typeface="맑은 고딕"/>
                <a:ea typeface="맑은 고딕"/>
                <a:cs typeface="맑은 고딕"/>
              </a:rPr>
              <a:t>• 무엇을 모르는지 확인할 기회가 없다</a:t>
            </a:r>
          </a:p>
          <a:p>
            <a:pPr algn="l">
              <a:lnSpc>
                <a:spcPct val="110000"/>
              </a:lnSpc>
              <a:spcAft>
                <a:spcPts val="600"/>
              </a:spcAft>
            </a:pPr>
            <a:r>
              <a:rPr sz="1450" b="0">
                <a:solidFill>
                  <a:srgbClr val="1F2A3A"/>
                </a:solidFill>
                <a:latin typeface="맑은 고딕"/>
                <a:ea typeface="맑은 고딕"/>
                <a:cs typeface="맑은 고딕"/>
              </a:rPr>
              <a:t>• 답에 있던 낯선 용어가 풀리지 않고 남는다</a:t>
            </a:r>
          </a:p>
        </p:txBody>
      </p:sp>
      <p:sp>
        <p:nvSpPr>
          <p:cNvPr id="9" name="Rounded Rectangle 8"/>
          <p:cNvSpPr/>
          <p:nvPr/>
        </p:nvSpPr>
        <p:spPr>
          <a:xfrm>
            <a:off x="868680" y="5246433"/>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읽고 끝나는 학습</a:t>
            </a:r>
          </a:p>
        </p:txBody>
      </p:sp>
      <p:sp>
        <p:nvSpPr>
          <p:cNvPr id="11" name="Rounded Rectangle 10"/>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자신이 먼저 서술한다</a:t>
            </a:r>
          </a:p>
        </p:txBody>
      </p:sp>
      <p:sp>
        <p:nvSpPr>
          <p:cNvPr id="13" name="TextBox 12"/>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 없이 써 본 뒤 AI에 검토를 요청한다</a:t>
            </a:r>
          </a:p>
          <a:p>
            <a:pPr algn="l">
              <a:lnSpc>
                <a:spcPct val="110000"/>
              </a:lnSpc>
              <a:spcAft>
                <a:spcPts val="600"/>
              </a:spcAft>
            </a:pPr>
            <a:r>
              <a:rPr sz="1450" b="0">
                <a:solidFill>
                  <a:srgbClr val="1F2A3A"/>
                </a:solidFill>
                <a:latin typeface="맑은 고딕"/>
                <a:ea typeface="맑은 고딕"/>
                <a:cs typeface="맑은 고딕"/>
              </a:rPr>
              <a:t>• 손으로 써도 되고 말로 설명해 음성 입력으로 남겨도 된다</a:t>
            </a:r>
          </a:p>
          <a:p>
            <a:pPr algn="l">
              <a:lnSpc>
                <a:spcPct val="110000"/>
              </a:lnSpc>
              <a:spcAft>
                <a:spcPts val="600"/>
              </a:spcAft>
            </a:pPr>
            <a:r>
              <a:rPr sz="1450" b="0">
                <a:solidFill>
                  <a:srgbClr val="1F2A3A"/>
                </a:solidFill>
                <a:latin typeface="맑은 고딕"/>
                <a:ea typeface="맑은 고딕"/>
                <a:cs typeface="맑은 고딕"/>
              </a:rPr>
              <a:t>• 서툴러도 되며 목적은 막히는 자리를 찾는 것이다</a:t>
            </a:r>
          </a:p>
          <a:p>
            <a:pPr algn="l">
              <a:lnSpc>
                <a:spcPct val="110000"/>
              </a:lnSpc>
              <a:spcAft>
                <a:spcPts val="600"/>
              </a:spcAft>
            </a:pPr>
            <a:r>
              <a:rPr sz="1450" b="0">
                <a:solidFill>
                  <a:srgbClr val="1F2A3A"/>
                </a:solidFill>
                <a:latin typeface="맑은 고딕"/>
                <a:ea typeface="맑은 고딕"/>
                <a:cs typeface="맑은 고딕"/>
              </a:rPr>
              <a:t>• 지적받은 자리가 그대로 학습 범위가 된다</a:t>
            </a:r>
          </a:p>
        </p:txBody>
      </p:sp>
      <p:sp>
        <p:nvSpPr>
          <p:cNvPr id="14" name="Rounded Rectangle 13"/>
          <p:cNvSpPr/>
          <p:nvPr/>
        </p:nvSpPr>
        <p:spPr>
          <a:xfrm>
            <a:off x="6781647" y="5246433"/>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46433"/>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빈 곳을 찾는 학습</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 절차: 서술 · 식별 · 보완 ·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학습은 먼저 서술하고 막힌 자리를 찾아 그 자리만 보완한 뒤 다시 확인하는 순환으로 진행한다.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서술</a:t>
            </a:r>
          </a:p>
          <a:p>
            <a:pPr algn="ctr">
              <a:lnSpc>
                <a:spcPct val="110000"/>
              </a:lnSpc>
              <a:spcAft>
                <a:spcPts val="400"/>
              </a:spcAft>
            </a:pPr>
            <a:r>
              <a:rPr sz="1350" b="0">
                <a:solidFill>
                  <a:srgbClr val="1F2A3A"/>
                </a:solidFill>
                <a:latin typeface="맑은 고딕"/>
                <a:ea typeface="맑은 고딕"/>
                <a:cs typeface="맑은 고딕"/>
              </a:rPr>
              <a:t>자료를 덮고</a:t>
            </a:r>
          </a:p>
          <a:p>
            <a:pPr algn="ctr">
              <a:lnSpc>
                <a:spcPct val="110000"/>
              </a:lnSpc>
              <a:spcAft>
                <a:spcPts val="400"/>
              </a:spcAft>
            </a:pPr>
            <a:r>
              <a:rPr sz="1350" b="0">
                <a:solidFill>
                  <a:srgbClr val="1F2A3A"/>
                </a:solidFill>
                <a:latin typeface="맑은 고딕"/>
                <a:ea typeface="맑은 고딕"/>
                <a:cs typeface="맑은 고딕"/>
              </a:rPr>
              <a:t>개념을 자신의 문장으로 쓴다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식별</a:t>
            </a:r>
          </a:p>
          <a:p>
            <a:pPr algn="ctr">
              <a:lnSpc>
                <a:spcPct val="110000"/>
              </a:lnSpc>
              <a:spcAft>
                <a:spcPts val="400"/>
              </a:spcAft>
            </a:pPr>
            <a:r>
              <a:rPr sz="1350" b="0">
                <a:solidFill>
                  <a:srgbClr val="1F2A3A"/>
                </a:solidFill>
                <a:latin typeface="맑은 고딕"/>
                <a:ea typeface="맑은 고딕"/>
                <a:cs typeface="맑은 고딕"/>
              </a:rPr>
              <a:t>서술이 끊긴 자리와</a:t>
            </a:r>
          </a:p>
          <a:p>
            <a:pPr algn="ctr">
              <a:lnSpc>
                <a:spcPct val="110000"/>
              </a:lnSpc>
              <a:spcAft>
                <a:spcPts val="400"/>
              </a:spcAft>
            </a:pPr>
            <a:r>
              <a:rPr sz="1350" b="0">
                <a:solidFill>
                  <a:srgbClr val="1F2A3A"/>
                </a:solidFill>
                <a:latin typeface="맑은 고딕"/>
                <a:ea typeface="맑은 고딕"/>
                <a:cs typeface="맑은 고딕"/>
              </a:rPr>
              <a:t>틀렸다고 지적된 자리를 표시한다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보완</a:t>
            </a:r>
          </a:p>
          <a:p>
            <a:pPr algn="ctr">
              <a:lnSpc>
                <a:spcPct val="110000"/>
              </a:lnSpc>
              <a:spcAft>
                <a:spcPts val="400"/>
              </a:spcAft>
            </a:pPr>
            <a:r>
              <a:rPr sz="1350" b="0">
                <a:solidFill>
                  <a:srgbClr val="1F2A3A"/>
                </a:solidFill>
                <a:latin typeface="맑은 고딕"/>
                <a:ea typeface="맑은 고딕"/>
                <a:cs typeface="맑은 고딕"/>
              </a:rPr>
              <a:t>표시한 자리만 다시 학습한다</a:t>
            </a:r>
          </a:p>
          <a:p>
            <a:pPr algn="ctr">
              <a:lnSpc>
                <a:spcPct val="110000"/>
              </a:lnSpc>
              <a:spcAft>
                <a:spcPts val="400"/>
              </a:spcAft>
            </a:pPr>
            <a:r>
              <a:rPr sz="1350" b="0">
                <a:solidFill>
                  <a:srgbClr val="1F2A3A"/>
                </a:solidFill>
                <a:latin typeface="맑은 고딕"/>
                <a:ea typeface="맑은 고딕"/>
                <a:cs typeface="맑은 고딕"/>
              </a:rPr>
              <a:t>모르는 용어가 나오면 그 용어를 다시 묻는다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고쳐 쓴 내용을 자료 없이 다시 쓰고</a:t>
            </a:r>
          </a:p>
          <a:p>
            <a:pPr algn="ctr">
              <a:lnSpc>
                <a:spcPct val="110000"/>
              </a:lnSpc>
              <a:spcAft>
                <a:spcPts val="400"/>
              </a:spcAft>
            </a:pPr>
            <a:r>
              <a:rPr sz="1350" b="0">
                <a:solidFill>
                  <a:srgbClr val="1F2A3A"/>
                </a:solidFill>
                <a:latin typeface="맑은 고딕"/>
                <a:ea typeface="맑은 고딕"/>
                <a:cs typeface="맑은 고딕"/>
              </a:rPr>
              <a:t>다른 사람에게 설명한다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제조 AI 과정에서 축적할 기록의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과정에서는 개념 정의부터 오류의 원인과 해결 과정까지가 모두 기록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vocabulary" descr="vocabulary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 정의</a:t>
            </a:r>
          </a:p>
          <a:p>
            <a:pPr algn="l">
              <a:lnSpc>
                <a:spcPct val="110000"/>
              </a:lnSpc>
              <a:spcAft>
                <a:spcPts val="400"/>
              </a:spcAft>
            </a:pPr>
            <a:r>
              <a:rPr sz="1350" b="0">
                <a:solidFill>
                  <a:srgbClr val="1F2A3A"/>
                </a:solidFill>
                <a:latin typeface="맑은 고딕"/>
                <a:ea typeface="맑은 고딕"/>
                <a:cs typeface="맑은 고딕"/>
              </a:rPr>
              <a:t>• 용어의 정식 명칭과 뜻을 자신의 문장으로 적는다</a:t>
            </a:r>
          </a:p>
          <a:p>
            <a:pPr algn="l">
              <a:lnSpc>
                <a:spcPct val="110000"/>
              </a:lnSpc>
              <a:spcAft>
                <a:spcPts val="400"/>
              </a:spcAft>
            </a:pPr>
            <a:r>
              <a:rPr sz="1350" b="0">
                <a:solidFill>
                  <a:srgbClr val="1F2A3A"/>
                </a:solidFill>
                <a:latin typeface="맑은 고딕"/>
                <a:ea typeface="맑은 고딕"/>
                <a:cs typeface="맑은 고딕"/>
              </a:rPr>
              <a:t>• 헷갈리기 쉬운 용어와의 차이를 함께 적는다</a:t>
            </a:r>
          </a:p>
        </p:txBody>
      </p:sp>
      <p:sp>
        <p:nvSpPr>
          <p:cNvPr id="10" name="Rounded Rectangle 9"/>
          <p:cNvSpPr/>
          <p:nvPr/>
        </p:nvSpPr>
        <p:spPr>
          <a:xfrm>
            <a:off x="777240" y="5238940"/>
            <a:ext cx="1603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603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브로커와 토픽</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ettings-automation" descr="settings-automation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동작 원리</a:t>
            </a:r>
          </a:p>
          <a:p>
            <a:pPr algn="l">
              <a:lnSpc>
                <a:spcPct val="110000"/>
              </a:lnSpc>
              <a:spcAft>
                <a:spcPts val="400"/>
              </a:spcAft>
            </a:pPr>
            <a:r>
              <a:rPr sz="1350" b="0">
                <a:solidFill>
                  <a:srgbClr val="1F2A3A"/>
                </a:solidFill>
                <a:latin typeface="맑은 고딕"/>
                <a:ea typeface="맑은 고딕"/>
                <a:cs typeface="맑은 고딕"/>
              </a:rPr>
              <a:t>• 구성요소가 무엇을 받아 무엇을 넘기는지를 적는다</a:t>
            </a:r>
          </a:p>
          <a:p>
            <a:pPr algn="l">
              <a:lnSpc>
                <a:spcPct val="110000"/>
              </a:lnSpc>
              <a:spcAft>
                <a:spcPts val="400"/>
              </a:spcAft>
            </a:pPr>
            <a:r>
              <a:rPr sz="1350" b="0">
                <a:solidFill>
                  <a:srgbClr val="1F2A3A"/>
                </a:solidFill>
                <a:latin typeface="맑은 고딕"/>
                <a:ea typeface="맑은 고딕"/>
                <a:cs typeface="맑은 고딕"/>
              </a:rPr>
              <a:t>• 근거로 삼은 참고 자료와 출처를 함께 연결해 둔다</a:t>
            </a:r>
          </a:p>
        </p:txBody>
      </p:sp>
      <p:sp>
        <p:nvSpPr>
          <p:cNvPr id="16" name="Rounded Rectangle 15"/>
          <p:cNvSpPr/>
          <p:nvPr/>
        </p:nvSpPr>
        <p:spPr>
          <a:xfrm>
            <a:off x="3619423" y="5238940"/>
            <a:ext cx="129844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경보 조건</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terminal-2" descr="terminal-2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결과</a:t>
            </a:r>
          </a:p>
          <a:p>
            <a:pPr algn="l">
              <a:lnSpc>
                <a:spcPct val="110000"/>
              </a:lnSpc>
              <a:spcAft>
                <a:spcPts val="400"/>
              </a:spcAft>
            </a:pPr>
            <a:r>
              <a:rPr sz="1350" b="0">
                <a:solidFill>
                  <a:srgbClr val="1F2A3A"/>
                </a:solidFill>
                <a:latin typeface="맑은 고딕"/>
                <a:ea typeface="맑은 고딕"/>
                <a:cs typeface="맑은 고딕"/>
              </a:rPr>
              <a:t>무엇을 실행했고 어떤 결과가 나왔는지를 입력 · 출력과 함께 남긴다</a:t>
            </a:r>
          </a:p>
        </p:txBody>
      </p:sp>
      <p:sp>
        <p:nvSpPr>
          <p:cNvPr id="22" name="Rounded Rectangle 21"/>
          <p:cNvSpPr/>
          <p:nvPr/>
        </p:nvSpPr>
        <p:spPr>
          <a:xfrm>
            <a:off x="6461607" y="5238940"/>
            <a:ext cx="129844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관계 그림</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bug" descr="bug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오류와 해결</a:t>
            </a:r>
          </a:p>
          <a:p>
            <a:pPr algn="l">
              <a:lnSpc>
                <a:spcPct val="110000"/>
              </a:lnSpc>
              <a:spcAft>
                <a:spcPts val="400"/>
              </a:spcAft>
            </a:pPr>
            <a:r>
              <a:rPr sz="1350" b="0">
                <a:solidFill>
                  <a:srgbClr val="1F2A3A"/>
                </a:solidFill>
                <a:latin typeface="맑은 고딕"/>
                <a:ea typeface="맑은 고딕"/>
                <a:cs typeface="맑은 고딕"/>
              </a:rPr>
              <a:t>증상, 확인한 원인, 적용한 해결 방법을 순서대로 남긴다</a:t>
            </a:r>
          </a:p>
        </p:txBody>
      </p:sp>
      <p:sp>
        <p:nvSpPr>
          <p:cNvPr id="28" name="Rounded Rectangle 27"/>
          <p:cNvSpPr/>
          <p:nvPr/>
        </p:nvSpPr>
        <p:spPr>
          <a:xfrm>
            <a:off x="9303791" y="5238940"/>
            <a:ext cx="1801367"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80136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서비스 기동 실패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Notion 학습 노트의 구성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과정 홈과 학습 노트 데이터베이스를 만들어 이후 기록의 틀로 삼는다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과정 홈 하나와 학습 노트 데이터베이스 하나가 만들어지고 첫 기록 한 건이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전체의 입구가 되는 페이지이다</a:t>
            </a:r>
          </a:p>
          <a:p>
            <a:pPr algn="l">
              <a:lnSpc>
                <a:spcPct val="110000"/>
              </a:lnSpc>
              <a:spcAft>
                <a:spcPts val="400"/>
              </a:spcAft>
            </a:pPr>
            <a:r>
              <a:rPr sz="1400" b="0">
                <a:solidFill>
                  <a:srgbClr val="1F2A3A"/>
                </a:solidFill>
                <a:latin typeface="맑은 고딕"/>
                <a:ea typeface="맑은 고딕"/>
                <a:cs typeface="맑은 고딕"/>
              </a:rPr>
              <a:t>• 노트의 사용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기록의 종류마다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종류의 구분</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 노트 데이터베이스</a:t>
            </a:r>
          </a:p>
          <a:p>
            <a:pPr algn="l">
              <a:lnSpc>
                <a:spcPct val="110000"/>
              </a:lnSpc>
              <a:spcAft>
                <a:spcPts val="400"/>
              </a:spcAft>
            </a:pPr>
            <a:r>
              <a:rPr sz="1400" b="0">
                <a:solidFill>
                  <a:srgbClr val="1F2A3A"/>
                </a:solidFill>
                <a:latin typeface="맑은 고딕"/>
                <a:ea typeface="맑은 고딕"/>
                <a:cs typeface="맑은 고딕"/>
              </a:rPr>
              <a:t>• 속성은 분야, 이해도, 생성 일시이다</a:t>
            </a:r>
          </a:p>
          <a:p>
            <a:pPr algn="l">
              <a:lnSpc>
                <a:spcPct val="110000"/>
              </a:lnSpc>
              <a:spcAft>
                <a:spcPts val="400"/>
              </a:spcAft>
            </a:pPr>
            <a:r>
              <a:rPr sz="1400" b="0">
                <a:solidFill>
                  <a:srgbClr val="1F2A3A"/>
                </a:solidFill>
                <a:latin typeface="맑은 고딕"/>
                <a:ea typeface="맑은 고딕"/>
                <a:cs typeface="맑은 고딕"/>
              </a:rPr>
              <a:t>• 템플릿과 재학습 필터 보기를 함께 둔다</a:t>
            </a:r>
          </a:p>
          <a:p>
            <a:pPr algn="l">
              <a:lnSpc>
                <a:spcPct val="110000"/>
              </a:lnSpc>
              <a:spcAft>
                <a:spcPts val="400"/>
              </a:spcAft>
            </a:pPr>
            <a:r>
              <a:rPr sz="1400" b="0">
                <a:solidFill>
                  <a:srgbClr val="1F2A3A"/>
                </a:solidFill>
                <a:latin typeface="맑은 고딕"/>
                <a:ea typeface="맑은 고딕"/>
                <a:cs typeface="맑은 고딕"/>
              </a:rPr>
              <a:t>• 첫 기록으로 개념 하나를 자신의 문장으로 적는다</a:t>
            </a:r>
          </a:p>
        </p:txBody>
      </p:sp>
      <p:sp>
        <p:nvSpPr>
          <p:cNvPr id="22" name="Rounded Rectangle 21"/>
          <p:cNvSpPr/>
          <p:nvPr/>
        </p:nvSpPr>
        <p:spPr>
          <a:xfrm>
            <a:off x="8356396" y="5366766"/>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재학습</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제조 설비에서 AI의 판단과 조치까지, 시스템의 구조와 계층과 데이터 흐름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선행 교육의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설비에서 생긴 물리량은 센서와 PLC를 거쳐 관제 화면에 이르며, 이 수업은 그 값이 그 뒤에 어떻게 쓰이는지를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측정값</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값으로 내놓는다</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값과 상태</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값을 읽어 설비를 제어한다</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값을 보여 주고 조작을 받는다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사건: HYD-01의 유온 TS1 상승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단원은 유압 설비 HYD-01의 유온 TS1이 오르는 사건 하나를 따라가며 값이 지나가는 자리를 차례로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899918"/>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899918"/>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HYD-01의 유온 TS1이 48 ℃에서 오르기 시작한다</a:t>
            </a:r>
          </a:p>
        </p:txBody>
      </p:sp>
      <p:sp>
        <p:nvSpPr>
          <p:cNvPr id="8" name="Oval 7"/>
          <p:cNvSpPr/>
          <p:nvPr/>
        </p:nvSpPr>
        <p:spPr>
          <a:xfrm>
            <a:off x="548640" y="4180078"/>
            <a:ext cx="731520" cy="731520"/>
          </a:xfrm>
          <a:prstGeom prst="ellipse">
            <a:avLst/>
          </a:prstGeom>
          <a:solidFill>
            <a:srgbClr val="E7F3FD"/>
          </a:solidFill>
          <a:ln>
            <a:noFill/>
          </a:ln>
        </p:spPr>
        <p:txBody>
          <a:bodyPr rtlCol="0" anchor="ctr"/>
          <a:lstStyle/>
          <a:p>
            <a:pPr algn="ctr"/>
          </a:p>
        </p:txBody>
      </p:sp>
      <p:pic>
        <p:nvPicPr>
          <p:cNvPr id="9" name="아이콘:gauge" descr="gauge_13294B_1.6.png"/>
          <p:cNvPicPr>
            <a:picLocks noChangeAspect="1"/>
          </p:cNvPicPr>
          <p:nvPr/>
        </p:nvPicPr>
        <p:blipFill>
          <a:blip r:embed="rId3"/>
          <a:stretch>
            <a:fillRect/>
          </a:stretch>
        </p:blipFill>
        <p:spPr>
          <a:xfrm>
            <a:off x="702259" y="4333697"/>
            <a:ext cx="424281" cy="424281"/>
          </a:xfrm>
          <a:prstGeom prst="rect">
            <a:avLst/>
          </a:prstGeom>
        </p:spPr>
      </p:pic>
      <p:sp>
        <p:nvSpPr>
          <p:cNvPr id="10" name="TextBox 9"/>
          <p:cNvSpPr txBox="1"/>
          <p:nvPr/>
        </p:nvSpPr>
        <p:spPr>
          <a:xfrm>
            <a:off x="1371600"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생기는 곳</a:t>
            </a:r>
          </a:p>
          <a:p>
            <a:pPr algn="l">
              <a:lnSpc>
                <a:spcPct val="110000"/>
              </a:lnSpc>
              <a:spcAft>
                <a:spcPts val="400"/>
              </a:spcAft>
            </a:pPr>
            <a:r>
              <a:rPr sz="1400" b="0">
                <a:solidFill>
                  <a:srgbClr val="1F2A3A"/>
                </a:solidFill>
                <a:latin typeface="맑은 고딕"/>
                <a:ea typeface="맑은 고딕"/>
                <a:cs typeface="맑은 고딕"/>
              </a:rPr>
              <a:t>설비의 센서와 PLC</a:t>
            </a:r>
          </a:p>
        </p:txBody>
      </p:sp>
      <p:sp>
        <p:nvSpPr>
          <p:cNvPr id="11" name="Oval 10"/>
          <p:cNvSpPr/>
          <p:nvPr/>
        </p:nvSpPr>
        <p:spPr>
          <a:xfrm>
            <a:off x="4338218" y="4180078"/>
            <a:ext cx="731520" cy="731520"/>
          </a:xfrm>
          <a:prstGeom prst="ellipse">
            <a:avLst/>
          </a:prstGeom>
          <a:solidFill>
            <a:srgbClr val="E7F3FD"/>
          </a:solidFill>
          <a:ln>
            <a:noFill/>
          </a:ln>
        </p:spPr>
        <p:txBody>
          <a:bodyPr rtlCol="0" anchor="ctr"/>
          <a:lstStyle/>
          <a:p>
            <a:pPr algn="ctr"/>
          </a:p>
        </p:txBody>
      </p:sp>
      <p:pic>
        <p:nvPicPr>
          <p:cNvPr id="12" name="아이콘:stack-2" descr="stack-2_13294B_1.6.png"/>
          <p:cNvPicPr>
            <a:picLocks noChangeAspect="1"/>
          </p:cNvPicPr>
          <p:nvPr/>
        </p:nvPicPr>
        <p:blipFill>
          <a:blip r:embed="rId4"/>
          <a:stretch>
            <a:fillRect/>
          </a:stretch>
        </p:blipFill>
        <p:spPr>
          <a:xfrm>
            <a:off x="4491837" y="4333697"/>
            <a:ext cx="424281" cy="424281"/>
          </a:xfrm>
          <a:prstGeom prst="rect">
            <a:avLst/>
          </a:prstGeom>
        </p:spPr>
      </p:pic>
      <p:sp>
        <p:nvSpPr>
          <p:cNvPr id="13" name="TextBox 12"/>
          <p:cNvSpPr txBox="1"/>
          <p:nvPr/>
        </p:nvSpPr>
        <p:spPr>
          <a:xfrm>
            <a:off x="5161178"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쌓이는 곳</a:t>
            </a:r>
          </a:p>
          <a:p>
            <a:pPr algn="l">
              <a:lnSpc>
                <a:spcPct val="110000"/>
              </a:lnSpc>
              <a:spcAft>
                <a:spcPts val="400"/>
              </a:spcAft>
            </a:pPr>
            <a:r>
              <a:rPr sz="1400" b="0">
                <a:solidFill>
                  <a:srgbClr val="1F2A3A"/>
                </a:solidFill>
                <a:latin typeface="맑은 고딕"/>
                <a:ea typeface="맑은 고딕"/>
                <a:cs typeface="맑은 고딕"/>
              </a:rPr>
              <a:t>메시지, 기록, 저장소</a:t>
            </a:r>
          </a:p>
        </p:txBody>
      </p:sp>
      <p:sp>
        <p:nvSpPr>
          <p:cNvPr id="14" name="Oval 13"/>
          <p:cNvSpPr/>
          <p:nvPr/>
        </p:nvSpPr>
        <p:spPr>
          <a:xfrm>
            <a:off x="8127796" y="4180078"/>
            <a:ext cx="731520" cy="731520"/>
          </a:xfrm>
          <a:prstGeom prst="ellipse">
            <a:avLst/>
          </a:prstGeom>
          <a:solidFill>
            <a:srgbClr val="E7F3FD"/>
          </a:solidFill>
          <a:ln>
            <a:noFill/>
          </a:ln>
        </p:spPr>
        <p:txBody>
          <a:bodyPr rtlCol="0" anchor="ctr"/>
          <a:lstStyle/>
          <a:p>
            <a:pPr algn="ctr"/>
          </a:p>
        </p:txBody>
      </p:sp>
      <p:pic>
        <p:nvPicPr>
          <p:cNvPr id="15" name="아이콘:bell-ringing" descr="bell-ringing_13294B_1.6.png"/>
          <p:cNvPicPr>
            <a:picLocks noChangeAspect="1"/>
          </p:cNvPicPr>
          <p:nvPr/>
        </p:nvPicPr>
        <p:blipFill>
          <a:blip r:embed="rId5"/>
          <a:stretch>
            <a:fillRect/>
          </a:stretch>
        </p:blipFill>
        <p:spPr>
          <a:xfrm>
            <a:off x="8281416" y="4333697"/>
            <a:ext cx="424281" cy="424281"/>
          </a:xfrm>
          <a:prstGeom prst="rect">
            <a:avLst/>
          </a:prstGeom>
        </p:spPr>
      </p:pic>
      <p:sp>
        <p:nvSpPr>
          <p:cNvPr id="16" name="TextBox 15"/>
          <p:cNvSpPr txBox="1"/>
          <p:nvPr/>
        </p:nvSpPr>
        <p:spPr>
          <a:xfrm>
            <a:off x="8950756"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값을 알아차리는 곳</a:t>
            </a:r>
          </a:p>
          <a:p>
            <a:pPr algn="l">
              <a:lnSpc>
                <a:spcPct val="110000"/>
              </a:lnSpc>
              <a:spcAft>
                <a:spcPts val="400"/>
              </a:spcAft>
            </a:pPr>
            <a:r>
              <a:rPr sz="1400" b="0">
                <a:solidFill>
                  <a:srgbClr val="1F2A3A"/>
                </a:solidFill>
                <a:latin typeface="맑은 고딕"/>
                <a:ea typeface="맑은 고딕"/>
                <a:cs typeface="맑은 고딕"/>
              </a:rPr>
              <a:t>화면과 경보</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설비_유압파워팩.svg" descr="illust_678582264454983294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 TS1이 오르는 까닭: 작동유의 순환과 쿨러의 열 방출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쿨러가 열을 덜 내보내면 덜 식은 작동유가 탱크로 돌아가 다시 돌므로 쿨러 입구의 유온 TS1이 오른다.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설비_유압파워팩.svg" descr="illust_678582264454983294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531504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작동유 탱크</a:t>
            </a:r>
          </a:p>
        </p:txBody>
      </p:sp>
      <p:sp>
        <p:nvSpPr>
          <p:cNvPr id="8" name="TextBox 7"/>
          <p:cNvSpPr txBox="1"/>
          <p:nvPr/>
        </p:nvSpPr>
        <p:spPr>
          <a:xfrm>
            <a:off x="1252031"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모터 · 펌프</a:t>
            </a:r>
          </a:p>
        </p:txBody>
      </p:sp>
      <p:sp>
        <p:nvSpPr>
          <p:cNvPr id="9" name="TextBox 8"/>
          <p:cNvSpPr txBox="1"/>
          <p:nvPr/>
        </p:nvSpPr>
        <p:spPr>
          <a:xfrm>
            <a:off x="7481353" y="1864004"/>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a:t>
            </a:r>
          </a:p>
        </p:txBody>
      </p:sp>
      <p:sp>
        <p:nvSpPr>
          <p:cNvPr id="10" name="TextBox 9"/>
          <p:cNvSpPr txBox="1"/>
          <p:nvPr/>
        </p:nvSpPr>
        <p:spPr>
          <a:xfrm>
            <a:off x="8386841" y="290404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뜨거운 작동유</a:t>
            </a:r>
          </a:p>
          <a:p>
            <a:pPr algn="ctr">
              <a:lnSpc>
                <a:spcPct val="110000"/>
              </a:lnSpc>
              <a:spcAft>
                <a:spcPts val="100"/>
              </a:spcAft>
            </a:pPr>
            <a:r>
              <a:rPr sz="1300" b="0">
                <a:solidFill>
                  <a:srgbClr val="556175"/>
                </a:solidFill>
                <a:latin typeface="맑은 고딕"/>
                <a:ea typeface="맑은 고딕"/>
                <a:cs typeface="맑은 고딕"/>
              </a:rPr>
              <a:t>부하에서 돌아온다</a:t>
            </a:r>
          </a:p>
        </p:txBody>
      </p:sp>
      <p:sp>
        <p:nvSpPr>
          <p:cNvPr id="11" name="TextBox 10"/>
          <p:cNvSpPr txBox="1"/>
          <p:nvPr/>
        </p:nvSpPr>
        <p:spPr>
          <a:xfrm>
            <a:off x="5550372" y="2667670"/>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 유온</a:t>
            </a:r>
          </a:p>
          <a:p>
            <a:pPr algn="ctr">
              <a:lnSpc>
                <a:spcPct val="110000"/>
              </a:lnSpc>
              <a:spcAft>
                <a:spcPts val="100"/>
              </a:spcAft>
            </a:pPr>
            <a:r>
              <a:rPr sz="1300" b="0">
                <a:solidFill>
                  <a:srgbClr val="556175"/>
                </a:solidFill>
                <a:latin typeface="맑은 고딕"/>
                <a:ea typeface="맑은 고딕"/>
                <a:cs typeface="맑은 고딕"/>
              </a:rPr>
              <a:t>쿨러 입구에서 잰다</a:t>
            </a:r>
          </a:p>
          <a:p>
            <a:pPr algn="ctr">
              <a:lnSpc>
                <a:spcPct val="110000"/>
              </a:lnSpc>
              <a:spcAft>
                <a:spcPts val="100"/>
              </a:spcAft>
            </a:pPr>
            <a:r>
              <a:rPr sz="1300" b="0">
                <a:solidFill>
                  <a:srgbClr val="556175"/>
                </a:solidFill>
                <a:latin typeface="맑은 고딕"/>
                <a:ea typeface="맑은 고딕"/>
                <a:cs typeface="맑은 고딕"/>
              </a:rPr>
              <a:t>정상 48 ℃</a:t>
            </a:r>
          </a:p>
        </p:txBody>
      </p:sp>
      <p:sp>
        <p:nvSpPr>
          <p:cNvPr id="12" name="TextBox 11"/>
          <p:cNvSpPr txBox="1"/>
          <p:nvPr/>
        </p:nvSpPr>
        <p:spPr>
          <a:xfrm>
            <a:off x="6314037" y="5244129"/>
            <a:ext cx="436379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작동유의 열을 공기로 내보낸다</a:t>
            </a:r>
          </a:p>
          <a:p>
            <a:pPr algn="ctr">
              <a:lnSpc>
                <a:spcPct val="110000"/>
              </a:lnSpc>
              <a:spcAft>
                <a:spcPts val="100"/>
              </a:spcAft>
            </a:pPr>
            <a:r>
              <a:rPr sz="1300" b="0">
                <a:solidFill>
                  <a:srgbClr val="556175"/>
                </a:solidFill>
                <a:latin typeface="맑은 고딕"/>
                <a:ea typeface="맑은 고딕"/>
                <a:cs typeface="맑은 고딕"/>
              </a:rPr>
              <a:t>열을 덜 내보내면 덜 식은 작동유가 다시 돈다</a:t>
            </a:r>
          </a:p>
        </p:txBody>
      </p:sp>
      <p:sp>
        <p:nvSpPr>
          <p:cNvPr id="13" name="TextBox 12"/>
          <p:cNvSpPr txBox="1"/>
          <p:nvPr/>
        </p:nvSpPr>
        <p:spPr>
          <a:xfrm>
            <a:off x="9870532" y="3991356"/>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팬</a:t>
            </a:r>
          </a:p>
        </p:txBody>
      </p:sp>
      <p:sp>
        <p:nvSpPr>
          <p:cNvPr id="14" name="TextBox 13"/>
          <p:cNvSpPr txBox="1"/>
          <p:nvPr/>
        </p:nvSpPr>
        <p:spPr>
          <a:xfrm>
            <a:off x="4895803" y="564596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돌아오는 길</a:t>
            </a:r>
          </a:p>
          <a:p>
            <a:pPr algn="ctr">
              <a:lnSpc>
                <a:spcPct val="110000"/>
              </a:lnSpc>
              <a:spcAft>
                <a:spcPts val="100"/>
              </a:spcAft>
            </a:pPr>
            <a:r>
              <a:rPr sz="1300" b="0">
                <a:solidFill>
                  <a:srgbClr val="556175"/>
                </a:solidFill>
                <a:latin typeface="맑은 고딕"/>
                <a:ea typeface="맑은 고딕"/>
                <a:cs typeface="맑은 고딕"/>
              </a:rPr>
              <a:t>쿨러를 거쳐 탱크로</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 · 설비 옆의 제어기: PLC와 인터록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서버의 판단을 기다리는 동안 설비가 상할 수 있어, 설비 옆의 PLC가 위험 수준에서 바로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센서 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조건이 되면 다른 명령보다 먼저 설비를 안전한 상태로 보내는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설비 옆에 두는 까닭</a:t>
            </a:r>
          </a:p>
          <a:p>
            <a:pPr algn="l">
              <a:lnSpc>
                <a:spcPct val="110000"/>
              </a:lnSpc>
              <a:spcAft>
                <a:spcPts val="200"/>
              </a:spcAft>
            </a:pPr>
            <a:r>
              <a:rPr sz="1150" b="0">
                <a:solidFill>
                  <a:srgbClr val="556175"/>
                </a:solidFill>
                <a:latin typeface="맑은 고딕"/>
                <a:ea typeface="맑은 고딕"/>
                <a:cs typeface="맑은 고딕"/>
              </a:rPr>
              <a:t>지연</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값을 서버로 보내 판단을 받고 명령이 돌아오기까지는 시간이 걸리며, 그 사이에 설비가 상할 수 있다.</a:t>
            </a:r>
          </a:p>
          <a:p>
            <a:pPr algn="l">
              <a:lnSpc>
                <a:spcPct val="110000"/>
              </a:lnSpc>
              <a:spcAft>
                <a:spcPts val="300"/>
              </a:spcAft>
            </a:pPr>
            <a:r>
              <a:rPr sz="1400" b="0">
                <a:solidFill>
                  <a:srgbClr val="1F2A3A"/>
                </a:solidFill>
                <a:latin typeface="맑은 고딕"/>
                <a:ea typeface="맑은 고딕"/>
                <a:cs typeface="맑은 고딕"/>
              </a:rPr>
              <a:t>설비를 지키는 판단은 통신과 서버를 거치지 않고 설비 옆에서 끝낸다.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토출 압력, 팬 진동 가운데 하나라도 설비가 상하는 한계에 이르면 HYD-01의 PLC는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 65 ℃를 넘으면 정지한다</a:t>
            </a:r>
          </a:p>
          <a:p>
            <a:pPr algn="l">
              <a:lnSpc>
                <a:spcPct val="110000"/>
              </a:lnSpc>
              <a:spcAft>
                <a:spcPts val="400"/>
              </a:spcAft>
            </a:pPr>
            <a:r>
              <a:rPr sz="1400" b="0">
                <a:solidFill>
                  <a:srgbClr val="1F2A3A"/>
                </a:solidFill>
                <a:latin typeface="맑은 고딕"/>
                <a:ea typeface="맑은 고딕"/>
                <a:cs typeface="맑은 고딕"/>
              </a:rPr>
              <a:t>• 작동유가 묽어져 설비가 닳는다</a:t>
            </a:r>
          </a:p>
        </p:txBody>
      </p:sp>
      <p:sp>
        <p:nvSpPr>
          <p:cNvPr id="10" name="Rounded Rectangle 9"/>
          <p:cNvSpPr/>
          <p:nvPr/>
        </p:nvSpPr>
        <p:spPr>
          <a:xfrm>
            <a:off x="777240" y="5041392"/>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 130 bar 아래로 내려가면 정지한다</a:t>
            </a:r>
          </a:p>
          <a:p>
            <a:pPr algn="l">
              <a:lnSpc>
                <a:spcPct val="110000"/>
              </a:lnSpc>
              <a:spcAft>
                <a:spcPts val="400"/>
              </a:spcAft>
            </a:pPr>
            <a:r>
              <a:rPr sz="1400" b="0">
                <a:solidFill>
                  <a:srgbClr val="1F2A3A"/>
                </a:solidFill>
                <a:latin typeface="맑은 고딕"/>
                <a:ea typeface="맑은 고딕"/>
                <a:cs typeface="맑은 고딕"/>
              </a:rPr>
              <a:t>• 펌프의 마모나 누설을 뜻한다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 2.0 mm/s 이상이면 정지한다</a:t>
            </a:r>
          </a:p>
          <a:p>
            <a:pPr algn="l">
              <a:lnSpc>
                <a:spcPct val="110000"/>
              </a:lnSpc>
              <a:spcAft>
                <a:spcPts val="400"/>
              </a:spcAft>
            </a:pPr>
            <a:r>
              <a:rPr sz="1400" b="0">
                <a:solidFill>
                  <a:srgbClr val="1F2A3A"/>
                </a:solidFill>
                <a:latin typeface="맑은 고딕"/>
                <a:ea typeface="맑은 고딕"/>
                <a:cs typeface="맑은 고딕"/>
              </a:rPr>
              <a:t>• 그대로 돌리면 팬이 상한다</a:t>
            </a:r>
          </a:p>
        </p:txBody>
      </p:sp>
      <p:sp>
        <p:nvSpPr>
          <p:cNvPr id="22" name="Rounded Rectangle 21"/>
          <p:cNvSpPr/>
          <p:nvPr/>
        </p:nvSpPr>
        <p:spPr>
          <a:xfrm>
            <a:off x="8356396" y="504139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현장 통신이 단순한 까닭: 정해진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정해진 시간 안의 도착을 지켜야 해서 암호화와 인증을 싣지 않으며, 보안은 위 계층이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world" descr="world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사무 통신</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평균적으로 빠르면 된다</a:t>
            </a:r>
          </a:p>
          <a:p>
            <a:pPr algn="l">
              <a:lnSpc>
                <a:spcPct val="110000"/>
              </a:lnSpc>
              <a:spcAft>
                <a:spcPts val="600"/>
              </a:spcAft>
            </a:pPr>
            <a:r>
              <a:rPr sz="1450" b="0">
                <a:solidFill>
                  <a:srgbClr val="1F2A3A"/>
                </a:solidFill>
                <a:latin typeface="맑은 고딕"/>
                <a:ea typeface="맑은 고딕"/>
                <a:cs typeface="맑은 고딕"/>
              </a:rPr>
              <a:t>• 암호화와 인증으로 내용을 지킨다</a:t>
            </a:r>
          </a:p>
          <a:p>
            <a:pPr algn="l">
              <a:lnSpc>
                <a:spcPct val="110000"/>
              </a:lnSpc>
              <a:spcAft>
                <a:spcPts val="600"/>
              </a:spcAft>
            </a:pPr>
            <a:r>
              <a:rPr sz="1450" b="0">
                <a:solidFill>
                  <a:srgbClr val="1F2A3A"/>
                </a:solidFill>
                <a:latin typeface="맑은 고딕"/>
                <a:ea typeface="맑은 고딕"/>
                <a:cs typeface="맑은 고딕"/>
              </a:rPr>
              <a:t>• 처리에 걸리는 시간이 그때그때 달라도 된다</a:t>
            </a:r>
          </a:p>
        </p:txBody>
      </p:sp>
      <p:sp>
        <p:nvSpPr>
          <p:cNvPr id="11" name="Rounded Rectangle 10"/>
          <p:cNvSpPr/>
          <p:nvPr/>
        </p:nvSpPr>
        <p:spPr>
          <a:xfrm>
            <a:off x="868680" y="5246433"/>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평균 속도</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engine" descr="eng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현장 통신</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어떤 경우에도 정해진 시간 안에 도착해야 한다</a:t>
            </a:r>
          </a:p>
          <a:p>
            <a:pPr algn="l">
              <a:lnSpc>
                <a:spcPct val="110000"/>
              </a:lnSpc>
              <a:spcAft>
                <a:spcPts val="600"/>
              </a:spcAft>
            </a:pPr>
            <a:r>
              <a:rPr sz="1450" b="0">
                <a:solidFill>
                  <a:srgbClr val="1F2A3A"/>
                </a:solidFill>
                <a:latin typeface="맑은 고딕"/>
                <a:ea typeface="맑은 고딕"/>
                <a:cs typeface="맑은 고딕"/>
              </a:rPr>
              <a:t>• 처리 시간을 들쭉날쭉하게 만드는 암호화와 인증을 싣지 않는다</a:t>
            </a:r>
          </a:p>
          <a:p>
            <a:pPr algn="l">
              <a:lnSpc>
                <a:spcPct val="110000"/>
              </a:lnSpc>
              <a:spcAft>
                <a:spcPts val="600"/>
              </a:spcAft>
            </a:pPr>
            <a:r>
              <a:rPr sz="1450" b="0">
                <a:solidFill>
                  <a:srgbClr val="1F2A3A"/>
                </a:solidFill>
                <a:latin typeface="맑은 고딕"/>
                <a:ea typeface="맑은 고딕"/>
                <a:cs typeface="맑은 고딕"/>
              </a:rPr>
              <a:t>• 이 자리에는 Modbus 같은 단순한 통신 규약이 쓰인다</a:t>
            </a:r>
          </a:p>
        </p:txBody>
      </p:sp>
      <p:sp>
        <p:nvSpPr>
          <p:cNvPr id="18" name="Rounded Rectangle 17"/>
          <p:cNvSpPr/>
          <p:nvPr/>
        </p:nvSpPr>
        <p:spPr>
          <a:xfrm>
            <a:off x="6781647" y="5246433"/>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정해진 시간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2 · 엣지 게이트웨이: 숫자에 이름을 붙인다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제어기에 든 숫자는 그대로는 무슨 값인지 알 수 없어, 엣지 게이트웨이가 이름을 붙여 태그 값과 운전 상태로 올려 보낸다.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mode · interlock</a:t>
            </a:r>
          </a:p>
          <a:p>
            <a:pPr algn="l">
              <a:lnSpc>
                <a:spcPct val="110000"/>
              </a:lnSpc>
              <a:spcAft>
                <a:spcPts val="400"/>
              </a:spcAft>
            </a:pPr>
            <a:r>
              <a:rPr sz="1400" b="0">
                <a:solidFill>
                  <a:srgbClr val="1F2A3A"/>
                </a:solidFill>
                <a:latin typeface="맑은 고딕"/>
                <a:ea typeface="맑은 고딕"/>
                <a:cs typeface="맑은 고딕"/>
              </a:rPr>
              <a:t>운전 모드와 인터록의 상태이다. 원격 자동(REMOTE_AUTO)으로 돌고 있고 인터록에 걸리지 않아 PASS이다.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값</a:t>
            </a:r>
          </a:p>
          <a:p>
            <a:pPr algn="l">
              <a:lnSpc>
                <a:spcPct val="110000"/>
              </a:lnSpc>
              <a:spcAft>
                <a:spcPts val="400"/>
              </a:spcAft>
            </a:pPr>
            <a:r>
              <a:rPr sz="1400" b="0">
                <a:solidFill>
                  <a:srgbClr val="1F2A3A"/>
                </a:solidFill>
                <a:latin typeface="맑은 고딕"/>
                <a:ea typeface="맑은 고딕"/>
                <a:cs typeface="맑은 고딕"/>
              </a:rPr>
              <a:t>토출 압력 PS1과 팬 진동 VS1, 운전 중인지와 팬 속도 · 부하의 비율이 함께 올라온다.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엣지 게이트웨이</a:t>
            </a:r>
          </a:p>
          <a:p>
            <a:pPr algn="l">
              <a:lnSpc>
                <a:spcPct val="110000"/>
              </a:lnSpc>
              <a:spcAft>
                <a:spcPts val="400"/>
              </a:spcAft>
            </a:pPr>
            <a:r>
              <a:rPr sz="1400" b="0">
                <a:solidFill>
                  <a:srgbClr val="1F2A3A"/>
                </a:solidFill>
                <a:latin typeface="맑은 고딕"/>
                <a:ea typeface="맑은 고딕"/>
                <a:cs typeface="맑은 고딕"/>
              </a:rPr>
              <a:t>설비 쪽의 값을 읽어 이름과 형식을 갖춘 메시지로 바꾸는 자리이다. 이 역할에는 EdgeX Foundry 같은 것이 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리니지_1_MQTT.svg" descr="illust_1975858485442005422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값을</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받을 토픽을 미리 등록해 두지 않으면, 값을 보관하지 않는 브로커는 발행된 메시지를 전달할 곳이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브로커에 먼저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브로커로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브로커가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완충 구역 DMZ와 한 방향 수집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통신에 없는 보안은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가 맡고, 수집 서비스는 값을 OT에서 IT로 한 방향으로만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pic>
        <p:nvPicPr>
          <p:cNvPr id="6" name="삽화:리니지_2_DMZ.svg" descr="illust_137789822740003916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브로커</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수집 서비스</a:t>
            </a:r>
          </a:p>
          <a:p>
            <a:pPr algn="ctr">
              <a:lnSpc>
                <a:spcPct val="110000"/>
              </a:lnSpc>
              <a:spcAft>
                <a:spcPts val="100"/>
              </a:spcAft>
            </a:pPr>
            <a:r>
              <a:rPr sz="1300" b="0">
                <a:solidFill>
                  <a:srgbClr val="556175"/>
                </a:solidFill>
                <a:latin typeface="맑은 고딕"/>
                <a:ea typeface="맑은 고딕"/>
                <a:cs typeface="맑은 고딕"/>
              </a:rPr>
              <a:t>브로커를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3 · 이벤트 로그: 받은 순서대로 남긴다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전달하고 나면 값을 갖고 있지 않으므로, 이벤트 로그가 받은 순서대로 남겨 여러 서비스가 각자 다시 읽게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브로커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값을 받지 못한다</a:t>
            </a:r>
          </a:p>
          <a:p>
            <a:pPr algn="l">
              <a:lnSpc>
                <a:spcPct val="110000"/>
              </a:lnSpc>
              <a:spcAft>
                <a:spcPts val="600"/>
              </a:spcAft>
            </a:pPr>
            <a:r>
              <a:rPr sz="1450" b="0">
                <a:solidFill>
                  <a:srgbClr val="1F2A3A"/>
                </a:solidFill>
                <a:latin typeface="맑은 고딕"/>
                <a:ea typeface="맑은 고딕"/>
                <a:cs typeface="맑은 고딕"/>
              </a:rPr>
              <a:t>• 이 역할에는 EMQX 같은 MQTT 브로커가 있다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이벤트 로그</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a:p>
            <a:pPr algn="l">
              <a:lnSpc>
                <a:spcPct val="110000"/>
              </a:lnSpc>
              <a:spcAft>
                <a:spcPts val="600"/>
              </a:spcAft>
            </a:pPr>
            <a:r>
              <a:rPr sz="1450" b="0">
                <a:solidFill>
                  <a:srgbClr val="1F2A3A"/>
                </a:solidFill>
                <a:latin typeface="맑은 고딕"/>
                <a:ea typeface="맑은 고딕"/>
                <a:cs typeface="맑은 고딕"/>
              </a:rPr>
              <a:t>• 수집과 기록의 자리에는 Kafka Connect와 Kafka 같은 것들이 있다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로그에 남은 레코드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수집 서비스는 토픽 경로에 있던 설비와 태그 이름을 본문에 넣어 레코드 한 건만으로 값의 주인을 알게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로그에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name</a:t>
            </a:r>
          </a:p>
          <a:p>
            <a:pPr algn="l">
              <a:lnSpc>
                <a:spcPct val="110000"/>
              </a:lnSpc>
              <a:spcAft>
                <a:spcPts val="400"/>
              </a:spcAft>
            </a:pPr>
            <a:r>
              <a:rPr sz="1400" b="0">
                <a:solidFill>
                  <a:srgbClr val="1F2A3A"/>
                </a:solidFill>
                <a:latin typeface="맑은 고딕"/>
                <a:ea typeface="맑은 고딕"/>
                <a:cs typeface="맑은 고딕"/>
              </a:rPr>
              <a:t>토픽 경로에 있던 설비와 태그 이름이 본문으로 들어왔다.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 55.71</a:t>
            </a:r>
          </a:p>
          <a:p>
            <a:pPr algn="l">
              <a:lnSpc>
                <a:spcPct val="110000"/>
              </a:lnSpc>
              <a:spcAft>
                <a:spcPts val="400"/>
              </a:spcAft>
            </a:pPr>
            <a:r>
              <a:rPr sz="1400" b="0">
                <a:solidFill>
                  <a:srgbClr val="1F2A3A"/>
                </a:solidFill>
                <a:latin typeface="맑은 고딕"/>
                <a:ea typeface="맑은 고딕"/>
                <a:cs typeface="맑은 고딕"/>
              </a:rPr>
              <a:t>그때의 유온이다. 한국 시간 11:13:08에 잰 값이다.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key hyd01</a:t>
            </a:r>
          </a:p>
          <a:p>
            <a:pPr algn="l">
              <a:lnSpc>
                <a:spcPct val="110000"/>
              </a:lnSpc>
              <a:spcAft>
                <a:spcPts val="400"/>
              </a:spcAft>
            </a:pPr>
            <a:r>
              <a:rPr sz="1400" b="0">
                <a:solidFill>
                  <a:srgbClr val="1F2A3A"/>
                </a:solidFill>
                <a:latin typeface="맑은 고딕"/>
                <a:ea typeface="맑은 고딕"/>
                <a:cs typeface="맑은 고딕"/>
              </a:rPr>
              <a:t>같은 설비의 값이 잰 순서대로 읽히게 하는 키이다.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잰 시각 t와 값의 품질 q가 함께 실려 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4 · 스트림 처리: 흐르는 값에서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값이 쌓인 뒤에 살피면 늦으므로, 감지 서비스는 이벤트 로그에 흐르는 값을 그 자리에서 읽어 조건에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저장한 뒤에 살핀다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값이 저장소에 쌓인 다음 주기적으로 조회한다</a:t>
            </a:r>
          </a:p>
          <a:p>
            <a:pPr algn="l">
              <a:lnSpc>
                <a:spcPct val="110000"/>
              </a:lnSpc>
              <a:spcAft>
                <a:spcPts val="600"/>
              </a:spcAft>
            </a:pPr>
            <a:r>
              <a:rPr sz="1450" b="0">
                <a:solidFill>
                  <a:srgbClr val="1F2A3A"/>
                </a:solidFill>
                <a:latin typeface="맑은 고딕"/>
                <a:ea typeface="맑은 고딕"/>
                <a:cs typeface="맑은 고딕"/>
              </a:rPr>
              <a:t>• 이상이 생긴 때와 알아차리는 때 사이가 벌어진다</a:t>
            </a:r>
          </a:p>
        </p:txBody>
      </p:sp>
      <p:sp>
        <p:nvSpPr>
          <p:cNvPr id="11" name="Rounded Rectangle 10"/>
          <p:cNvSpPr/>
          <p:nvPr/>
        </p:nvSpPr>
        <p:spPr>
          <a:xfrm>
            <a:off x="868680" y="5246433"/>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흐르는 값을 바로 읽는다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값이 기록되는 대로 하나씩 받아 조건에 견준다</a:t>
            </a:r>
          </a:p>
          <a:p>
            <a:pPr algn="l">
              <a:lnSpc>
                <a:spcPct val="110000"/>
              </a:lnSpc>
              <a:spcAft>
                <a:spcPts val="600"/>
              </a:spcAft>
            </a:pPr>
            <a:r>
              <a:rPr sz="1450" b="0">
                <a:solidFill>
                  <a:srgbClr val="1F2A3A"/>
                </a:solidFill>
                <a:latin typeface="맑은 고딕"/>
                <a:ea typeface="맑은 고딕"/>
                <a:cs typeface="맑은 고딕"/>
              </a:rPr>
              <a:t>• 이렇게 끊임없이 들어오는 값을 그 자리에서 처리하는 방식이 스트림 처리(Stream Processing)이다</a:t>
            </a:r>
          </a:p>
          <a:p>
            <a:pPr algn="l">
              <a:lnSpc>
                <a:spcPct val="110000"/>
              </a:lnSpc>
              <a:spcAft>
                <a:spcPts val="600"/>
              </a:spcAft>
            </a:pPr>
            <a:r>
              <a:rPr sz="145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유온만으로는 쿨러의 문제인지 알 수 없어, 경보 조건은 두 값과 추세를 함께 보고 일정 시간 이어져야 성립한다.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값이 아니라 무슨 일이 일어났다는 기록이며, 경보에는 식별자와 그때의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값이다. 값은 계속 바뀌므로 근거를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설비, 심각도, 경보의 상태와 난 시각이 함께 적힌다.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지나간 값을 시각으로 찾아보려고, 시계열 저장소는 값 하나를 시각, 설비, 태그 이름, 값의 한 행으로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219833"/>
            <a:ext cx="6766560" cy="354304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56992"/>
            <a:ext cx="6400800" cy="326872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219833"/>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값 하나가 한 줄이다. 시각, 설비, 태그 이름, 값이 들어 있다. 태그가 늘면 행만 늘어난다.</a:t>
            </a:r>
          </a:p>
        </p:txBody>
      </p:sp>
      <p:sp>
        <p:nvSpPr>
          <p:cNvPr id="9" name="TextBox 8"/>
          <p:cNvSpPr txBox="1"/>
          <p:nvPr/>
        </p:nvSpPr>
        <p:spPr>
          <a:xfrm>
            <a:off x="7635240" y="3400848"/>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581863"/>
            <a:ext cx="4007815" cy="1181015"/>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시계열 저장소</a:t>
            </a:r>
          </a:p>
          <a:p>
            <a:pPr algn="l">
              <a:lnSpc>
                <a:spcPct val="110000"/>
              </a:lnSpc>
              <a:spcAft>
                <a:spcPts val="400"/>
              </a:spcAft>
            </a:pPr>
            <a:r>
              <a:rPr sz="1400" b="0">
                <a:solidFill>
                  <a:srgbClr val="1F2A3A"/>
                </a:solidFill>
                <a:latin typeface="맑은 고딕"/>
                <a:ea typeface="맑은 고딕"/>
                <a:cs typeface="맑은 고딕"/>
              </a:rPr>
              <a:t>시각을 기준으로 값을 쌓고 조회하는 데이터베이스이다. 이 역할에는 TimescaleDB 같은 것이 있다.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화면은 서버가 멈춰도 보이도록 OT에서 지금의 값을, 분석 화면은 IT에서 지나온 값을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SCADA · HMI(Human-Machine Interface)의 자리이다</a:t>
            </a:r>
          </a:p>
          <a:p>
            <a:pPr algn="l">
              <a:lnSpc>
                <a:spcPct val="110000"/>
              </a:lnSpc>
              <a:spcAft>
                <a:spcPts val="600"/>
              </a:spcAft>
            </a:pPr>
            <a:r>
              <a:rPr sz="1450" b="0">
                <a:solidFill>
                  <a:srgbClr val="1F2A3A"/>
                </a:solidFill>
                <a:latin typeface="맑은 고딕"/>
                <a:ea typeface="맑은 고딕"/>
                <a:cs typeface="맑은 고딕"/>
              </a:rPr>
              <a:t>• OT에서 브로커를 직접 구독해 지금의 값을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a:p>
            <a:pPr algn="l">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유온에 반응하는 세 기준: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℃에서 경보가 먼저 울리므로,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감지 서비스의 경보</a:t>
            </a:r>
          </a:p>
          <a:p>
            <a:pPr algn="ctr">
              <a:lnSpc>
                <a:spcPct val="110000"/>
              </a:lnSpc>
              <a:spcAft>
                <a:spcPts val="400"/>
              </a:spcAft>
            </a:pPr>
            <a:r>
              <a:rPr sz="1350" b="0">
                <a:solidFill>
                  <a:srgbClr val="1F2A3A"/>
                </a:solidFill>
                <a:latin typeface="맑은 고딕"/>
                <a:ea typeface="맑은 고딕"/>
                <a:cs typeface="맑은 고딕"/>
              </a:rPr>
              <a:t>여러 값과 추세를 함께 본다</a:t>
            </a:r>
          </a:p>
          <a:p>
            <a:pPr algn="ctr">
              <a:lnSpc>
                <a:spcPct val="110000"/>
              </a:lnSpc>
              <a:spcAft>
                <a:spcPts val="400"/>
              </a:spcAft>
            </a:pPr>
            <a:r>
              <a:rPr sz="1350" b="0">
                <a:solidFill>
                  <a:srgbClr val="1F2A3A"/>
                </a:solidFill>
                <a:latin typeface="맑은 고딕"/>
                <a:ea typeface="맑은 고딕"/>
                <a:cs typeface="맑은 고딕"/>
              </a:rPr>
              <a:t>원인 진단과 조치의 흐름을 시작시킨다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운전 화면의 알람</a:t>
            </a:r>
          </a:p>
          <a:p>
            <a:pPr algn="ctr">
              <a:lnSpc>
                <a:spcPct val="110000"/>
              </a:lnSpc>
              <a:spcAft>
                <a:spcPts val="400"/>
              </a:spcAft>
            </a:pPr>
            <a:r>
              <a:rPr sz="1350" b="0">
                <a:solidFill>
                  <a:srgbClr val="1F2A3A"/>
                </a:solidFill>
                <a:latin typeface="맑은 고딕"/>
                <a:ea typeface="맑은 고딕"/>
                <a:cs typeface="맑은 고딕"/>
              </a:rPr>
              <a:t>유온 하나의 기준이다</a:t>
            </a:r>
          </a:p>
          <a:p>
            <a:pPr algn="ctr">
              <a:lnSpc>
                <a:spcPct val="110000"/>
              </a:lnSpc>
              <a:spcAft>
                <a:spcPts val="400"/>
              </a:spcAft>
            </a:pPr>
            <a:r>
              <a:rPr sz="1350" b="0">
                <a:solidFill>
                  <a:srgbClr val="1F2A3A"/>
                </a:solidFill>
                <a:latin typeface="맑은 고딕"/>
                <a:ea typeface="맑은 고딕"/>
                <a:cs typeface="맑은 고딕"/>
              </a:rPr>
              <a:t>운전원에게 지금의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알리지 않고 설비를 세운다</a:t>
            </a:r>
          </a:p>
          <a:p>
            <a:pPr algn="ctr">
              <a:lnSpc>
                <a:spcPct val="110000"/>
              </a:lnSpc>
              <a:spcAft>
                <a:spcPts val="400"/>
              </a:spcAft>
            </a:pPr>
            <a:r>
              <a:rPr sz="1350" b="0">
                <a:solidFill>
                  <a:srgbClr val="1F2A3A"/>
                </a:solidFill>
                <a:latin typeface="맑은 고딕"/>
                <a:ea typeface="맑은 고딕"/>
                <a:cs typeface="맑은 고딕"/>
              </a:rPr>
              <a:t>자동으로 풀리지 않으며, 유온이 55 ℃ 아래로</a:t>
            </a:r>
          </a:p>
          <a:p>
            <a:pPr algn="ctr">
              <a:lnSpc>
                <a:spcPct val="110000"/>
              </a:lnSpc>
              <a:spcAft>
                <a:spcPts val="400"/>
              </a:spcAft>
            </a:pPr>
            <a:r>
              <a:rPr sz="1350" b="0">
                <a:solidFill>
                  <a:srgbClr val="1F2A3A"/>
                </a:solidFill>
                <a:latin typeface="맑은 고딕"/>
                <a:ea typeface="맑은 고딕"/>
                <a:cs typeface="맑은 고딕"/>
              </a:rPr>
              <a:t>내려온 뒤 사람이 다시 건다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 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명령은 승인 뒤에만 만들어져, 설비를 움직이는 결정이 책임질 사람을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값을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책임이 따르는 결정은 사람이 내린다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366766"/>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 엔진</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36676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명령 관문이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프로세스 엔진</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이벤트 로그</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기록으로 남는다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명령 관문</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브로커</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함께 누가 승인했는지,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않으며, 누가 책임지는지가 남는다.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버려져, 달라진 상황에서 늦게 실행되지 않는다.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명령 번호와 설비, 사건 번호, 명령을 만든 시각이 함께 적힌다.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명령 관문과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관문은 명령서를, PLC는 지금의 설비를 보아 서로 다른 잘못을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명령 관문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325879"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명령서를 본다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6763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지금의 설비를 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관문과 PLC의 검사는 1초 안에 끝났으며, 경보에서 승인까지 108초가 걸린 곳은 내려가는 길이 아니라 판단이었다.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값이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설비를 움직인 판단의 근거를 처음의 값까지 되짚을 수 있게 하는 데이터의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측정값</a:t>
            </a:r>
          </a:p>
          <a:p>
            <a:pPr algn="ctr">
              <a:lnSpc>
                <a:spcPct val="110000"/>
              </a:lnSpc>
              <a:spcAft>
                <a:spcPts val="400"/>
              </a:spcAft>
            </a:pPr>
            <a:r>
              <a:rPr sz="1350" b="0">
                <a:solidFill>
                  <a:srgbClr val="1F2A3A"/>
                </a:solidFill>
                <a:latin typeface="맑은 고딕"/>
                <a:ea typeface="맑은 고딕"/>
                <a:cs typeface="맑은 고딕"/>
              </a:rPr>
              <a:t>브로커가 전달한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수집 서비스와</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이벤트 로그의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바탕으로 계산한 값이며, 감지 서비스는 최근 유온 값들로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감지 서비스이다. 기울기가 0보다 크면 유온이 오르는 중이다.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지나온 자리를 하는 일로 나누면 아홉 기능 계층이고,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pic>
        <p:nvPicPr>
          <p:cNvPr id="6" name="삽화:계층_0_전체.svg" descr="illust_7507122683071868776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수업은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pic>
        <p:nvPicPr>
          <p:cNvPr id="6" name="삽화:계층_L7-9.svg" descr="illust_6780494909611344684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프로세스 엔진과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값을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a:p>
            <a:pPr algn="ctr">
              <a:lnSpc>
                <a:spcPct val="110000"/>
              </a:lnSpc>
              <a:spcAft>
                <a:spcPts val="100"/>
              </a:spcAft>
            </a:pPr>
            <a:r>
              <a:rPr sz="1300" b="0">
                <a:solidFill>
                  <a:srgbClr val="556175"/>
                </a:solidFill>
                <a:latin typeface="맑은 고딕"/>
                <a:ea typeface="맑은 고딕"/>
                <a:cs typeface="맑은 고딕"/>
              </a:rPr>
              <a:t>이 역할에는 Neo4j 같은 그래프 DB가 있다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값이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단순하게 두고, 값이 올라가는 길과 승인된 명령만 내려가는 길을 나눠 설비를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브로커</a:t>
            </a:r>
          </a:p>
          <a:p>
            <a:pPr algn="ctr">
              <a:lnSpc>
                <a:spcPct val="110000"/>
              </a:lnSpc>
              <a:spcAft>
                <a:spcPts val="100"/>
              </a:spcAft>
            </a:pPr>
            <a:r>
              <a:rPr sz="1150" b="0">
                <a:solidFill>
                  <a:srgbClr val="556175"/>
                </a:solidFill>
                <a:latin typeface="맑은 고딕"/>
                <a:ea typeface="맑은 고딕"/>
                <a:cs typeface="맑은 고딕"/>
              </a:rPr>
              <a:t>값과 명령을 중개</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수집 서비스</a:t>
            </a:r>
          </a:p>
          <a:p>
            <a:pPr algn="ctr">
              <a:lnSpc>
                <a:spcPct val="110000"/>
              </a:lnSpc>
              <a:spcAft>
                <a:spcPts val="100"/>
              </a:spcAft>
            </a:pPr>
            <a:r>
              <a:rPr sz="1150" b="0">
                <a:solidFill>
                  <a:srgbClr val="556175"/>
                </a:solidFill>
                <a:latin typeface="맑은 고딕"/>
                <a:ea typeface="맑은 고딕"/>
                <a:cs typeface="맑은 고딕"/>
              </a:rPr>
              <a:t>값을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명령 관문</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이벤트 로그</a:t>
            </a:r>
          </a:p>
          <a:p>
            <a:pPr algn="ctr">
              <a:lnSpc>
                <a:spcPct val="110000"/>
              </a:lnSpc>
              <a:spcAft>
                <a:spcPts val="100"/>
              </a:spcAft>
            </a:pPr>
            <a:r>
              <a:rPr sz="1150" b="0">
                <a:solidFill>
                  <a:srgbClr val="556175"/>
                </a:solidFill>
                <a:latin typeface="맑은 고딕"/>
                <a:ea typeface="맑은 고딕"/>
                <a:cs typeface="맑은 고딕"/>
              </a:rPr>
              <a:t>순서대로 보관 · 감지 서비스가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프로세스 엔진</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 대기에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pic>
        <p:nvPicPr>
          <p:cNvPr id="6" name="삽화:원인후보.svg" descr="illust_1134847312325599664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삽화:흩어진정보.svg" descr="illust_8498021592604308153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저장소</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pic>
        <p:nvPicPr>
          <p:cNvPr id="6" name="삽화:노드관계.svg" descr="illust_7813934455819435558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pic>
        <p:nvPicPr>
          <p:cNvPr id="6" name="삽화:관계.svg" descr="illust_5398274463746249648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pic>
        <p:nvPicPr>
          <p:cNvPr id="6" name="삽화:경로_1.svg" descr="illust_4176384114171923619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pic>
        <p:nvPicPr>
          <p:cNvPr id="6" name="삽화:경로_2.svg" descr="illust_7049193558945161711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pic>
        <p:nvPicPr>
          <p:cNvPr id="6" name="삽화:경로_3.svg" descr="illust_2901031814227424594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두고</a:t>
            </a:r>
          </a:p>
          <a:p>
            <a:pPr algn="ctr">
              <a:lnSpc>
                <a:spcPct val="110000"/>
              </a:lnSpc>
              <a:spcAft>
                <a:spcPts val="100"/>
              </a:spcAft>
            </a:pPr>
            <a:r>
              <a:rPr sz="1300" b="0">
                <a:solidFill>
                  <a:srgbClr val="556175"/>
                </a:solidFill>
                <a:latin typeface="맑은 고딕"/>
                <a:ea typeface="맑은 고딕"/>
                <a:cs typeface="맑은 고딕"/>
              </a:rPr>
              <a:t>계속 바뀌는 값은 시계열 저장소에서 읽는다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pic>
        <p:nvPicPr>
          <p:cNvPr id="6" name="삽화:연결_설비쪽.svg" descr="illust_4750288591216144407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근거 문서까지 관계로 이어져 있어, 추천안에는 그 조치의 근거가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pic>
        <p:nvPicPr>
          <p:cNvPr id="6" name="삽화:연결_진단쪽.svg" descr="illust_4143931434647787379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본문에서 풀어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브로커(예: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